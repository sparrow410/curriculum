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2" r:id="rId7"/>
    <p:sldId id="263" r:id="rId8"/>
    <p:sldId id="261"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58" d="100"/>
          <a:sy n="58" d="100"/>
        </p:scale>
        <p:origin x="96" y="1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1/20/2024</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129557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1/20/2024</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68184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1/20/2024</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615611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1/20/2024</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034597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1/20/2024</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374744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dirty="0"/>
              <a:t>Click to edit Master title style</a:t>
            </a:r>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1/20/2024</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520373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1/20/2024</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19881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1/20/2024</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01926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1/20/2024</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173534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1/20/2024</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995872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1/20/2024</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221094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1/20/2024</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4075932553"/>
      </p:ext>
    </p:extLst>
  </p:cSld>
  <p:clrMap bg1="dk1" tx1="lt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aphic 38">
            <a:extLst>
              <a:ext uri="{FF2B5EF4-FFF2-40B4-BE49-F238E27FC236}">
                <a16:creationId xmlns:a16="http://schemas.microsoft.com/office/drawing/2014/main" id="{8D5A7C7F-E3B1-44B8-9FDE-52A4B74F34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51257" y="285652"/>
            <a:ext cx="1910252" cy="709660"/>
            <a:chOff x="2267504" y="2540250"/>
            <a:chExt cx="1990951" cy="739640"/>
          </a:xfrm>
          <a:solidFill>
            <a:schemeClr val="tx1"/>
          </a:solidFill>
        </p:grpSpPr>
        <p:sp>
          <p:nvSpPr>
            <p:cNvPr id="13" name="Freeform: Shape 12">
              <a:extLst>
                <a:ext uri="{FF2B5EF4-FFF2-40B4-BE49-F238E27FC236}">
                  <a16:creationId xmlns:a16="http://schemas.microsoft.com/office/drawing/2014/main" id="{6D551F61-E0D5-44DC-BB30-6A62E23A2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F5A4CF26-BA16-4F51-9327-A4077E384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16" name="Graphic 38">
            <a:extLst>
              <a:ext uri="{FF2B5EF4-FFF2-40B4-BE49-F238E27FC236}">
                <a16:creationId xmlns:a16="http://schemas.microsoft.com/office/drawing/2014/main" id="{D405E706-6901-4726-A0FD-F352E08973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51257" y="285652"/>
            <a:ext cx="1910252" cy="709660"/>
            <a:chOff x="2267504" y="2540250"/>
            <a:chExt cx="1990951" cy="739640"/>
          </a:xfrm>
          <a:solidFill>
            <a:schemeClr val="tx1">
              <a:alpha val="20000"/>
            </a:schemeClr>
          </a:solidFill>
        </p:grpSpPr>
        <p:sp>
          <p:nvSpPr>
            <p:cNvPr id="17" name="Freeform: Shape 16">
              <a:extLst>
                <a:ext uri="{FF2B5EF4-FFF2-40B4-BE49-F238E27FC236}">
                  <a16:creationId xmlns:a16="http://schemas.microsoft.com/office/drawing/2014/main" id="{EAE1B075-9F48-41D0-A3D1-82A9BC434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0E15D66E-AA4C-4B80-9271-41A345A78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20" name="Group 19">
            <a:extLst>
              <a:ext uri="{FF2B5EF4-FFF2-40B4-BE49-F238E27FC236}">
                <a16:creationId xmlns:a16="http://schemas.microsoft.com/office/drawing/2014/main" id="{99864689-43D0-436E-B71E-6F61D95EFA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8555" y="1289904"/>
            <a:ext cx="5145145" cy="4483168"/>
            <a:chOff x="1674895" y="1345036"/>
            <a:chExt cx="5428610" cy="4210939"/>
          </a:xfrm>
        </p:grpSpPr>
        <p:sp>
          <p:nvSpPr>
            <p:cNvPr id="21" name="Rectangle 20">
              <a:extLst>
                <a:ext uri="{FF2B5EF4-FFF2-40B4-BE49-F238E27FC236}">
                  <a16:creationId xmlns:a16="http://schemas.microsoft.com/office/drawing/2014/main" id="{9ED12A06-5C25-497A-9033-BA32B5D3E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D52755A-7F46-4B03-B1C9-F0C605CD0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24" name="Rectangle 23">
            <a:extLst>
              <a:ext uri="{FF2B5EF4-FFF2-40B4-BE49-F238E27FC236}">
                <a16:creationId xmlns:a16="http://schemas.microsoft.com/office/drawing/2014/main" id="{9CAF21A9-6F58-4C27-ABB4-F704F8757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699" y="1187311"/>
            <a:ext cx="5089552" cy="4483379"/>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ED0A2D-8A9B-2BCE-2F7F-CE1393A84916}"/>
              </a:ext>
            </a:extLst>
          </p:cNvPr>
          <p:cNvSpPr>
            <a:spLocks noGrp="1"/>
          </p:cNvSpPr>
          <p:nvPr>
            <p:ph type="ctrTitle"/>
          </p:nvPr>
        </p:nvSpPr>
        <p:spPr>
          <a:xfrm>
            <a:off x="1676412" y="1827504"/>
            <a:ext cx="3624471" cy="2577893"/>
          </a:xfrm>
        </p:spPr>
        <p:txBody>
          <a:bodyPr>
            <a:normAutofit/>
          </a:bodyPr>
          <a:lstStyle/>
          <a:p>
            <a:r>
              <a:rPr lang="en-US" sz="2400"/>
              <a:t>Nutrition</a:t>
            </a:r>
          </a:p>
        </p:txBody>
      </p:sp>
      <p:sp>
        <p:nvSpPr>
          <p:cNvPr id="3" name="Subtitle 2">
            <a:extLst>
              <a:ext uri="{FF2B5EF4-FFF2-40B4-BE49-F238E27FC236}">
                <a16:creationId xmlns:a16="http://schemas.microsoft.com/office/drawing/2014/main" id="{2E3EB840-AC2D-BE76-C4CD-ECD05F092053}"/>
              </a:ext>
            </a:extLst>
          </p:cNvPr>
          <p:cNvSpPr>
            <a:spLocks noGrp="1"/>
          </p:cNvSpPr>
          <p:nvPr>
            <p:ph type="subTitle" idx="1"/>
          </p:nvPr>
        </p:nvSpPr>
        <p:spPr>
          <a:xfrm>
            <a:off x="1676412" y="4497473"/>
            <a:ext cx="3624471" cy="811604"/>
          </a:xfrm>
        </p:spPr>
        <p:txBody>
          <a:bodyPr>
            <a:normAutofit/>
          </a:bodyPr>
          <a:lstStyle/>
          <a:p>
            <a:endParaRPr lang="en-US"/>
          </a:p>
        </p:txBody>
      </p:sp>
      <p:pic>
        <p:nvPicPr>
          <p:cNvPr id="15" name="Picture 14" descr="Apple with measuring tape">
            <a:extLst>
              <a:ext uri="{FF2B5EF4-FFF2-40B4-BE49-F238E27FC236}">
                <a16:creationId xmlns:a16="http://schemas.microsoft.com/office/drawing/2014/main" id="{CAFE686F-974F-EBC2-FE43-7F852B5BEC95}"/>
              </a:ext>
            </a:extLst>
          </p:cNvPr>
          <p:cNvPicPr>
            <a:picLocks noChangeAspect="1"/>
          </p:cNvPicPr>
          <p:nvPr/>
        </p:nvPicPr>
        <p:blipFill>
          <a:blip r:embed="rId2"/>
          <a:stretch>
            <a:fillRect/>
          </a:stretch>
        </p:blipFill>
        <p:spPr>
          <a:xfrm>
            <a:off x="6365174" y="1187520"/>
            <a:ext cx="3302459" cy="2179623"/>
          </a:xfrm>
          <a:prstGeom prst="rect">
            <a:avLst/>
          </a:prstGeom>
        </p:spPr>
      </p:pic>
      <p:sp>
        <p:nvSpPr>
          <p:cNvPr id="26" name="Graphic 212">
            <a:extLst>
              <a:ext uri="{FF2B5EF4-FFF2-40B4-BE49-F238E27FC236}">
                <a16:creationId xmlns:a16="http://schemas.microsoft.com/office/drawing/2014/main" id="{FC6B31EB-41A1-4598-9355-9BA3E1702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50647" y="1635889"/>
            <a:ext cx="663342" cy="663342"/>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Graphic 212">
            <a:extLst>
              <a:ext uri="{FF2B5EF4-FFF2-40B4-BE49-F238E27FC236}">
                <a16:creationId xmlns:a16="http://schemas.microsoft.com/office/drawing/2014/main" id="{133B2AAB-4B79-4B0A-8F9F-4D58D0FF6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50647" y="1635889"/>
            <a:ext cx="663342" cy="663342"/>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Oval 29">
            <a:extLst>
              <a:ext uri="{FF2B5EF4-FFF2-40B4-BE49-F238E27FC236}">
                <a16:creationId xmlns:a16="http://schemas.microsoft.com/office/drawing/2014/main" id="{D94D3E2A-B9E7-4003-A145-9FC44168D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307" y="4580404"/>
            <a:ext cx="406409" cy="406409"/>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Oval 31">
            <a:extLst>
              <a:ext uri="{FF2B5EF4-FFF2-40B4-BE49-F238E27FC236}">
                <a16:creationId xmlns:a16="http://schemas.microsoft.com/office/drawing/2014/main" id="{351E04DE-FFB1-44B7-AD73-813D33AC1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307" y="4580404"/>
            <a:ext cx="406409" cy="406409"/>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5" name="Picture 4" descr="Apple with measuring tape">
            <a:extLst>
              <a:ext uri="{FF2B5EF4-FFF2-40B4-BE49-F238E27FC236}">
                <a16:creationId xmlns:a16="http://schemas.microsoft.com/office/drawing/2014/main" id="{B9E54BCD-94B7-64D0-AC71-A57B9B35C9AD}"/>
              </a:ext>
            </a:extLst>
          </p:cNvPr>
          <p:cNvPicPr>
            <a:picLocks noChangeAspect="1"/>
          </p:cNvPicPr>
          <p:nvPr/>
        </p:nvPicPr>
        <p:blipFill>
          <a:blip r:embed="rId3"/>
          <a:stretch>
            <a:fillRect/>
          </a:stretch>
        </p:blipFill>
        <p:spPr>
          <a:xfrm>
            <a:off x="6365174" y="3488804"/>
            <a:ext cx="3302459" cy="2179623"/>
          </a:xfrm>
          <a:prstGeom prst="rect">
            <a:avLst/>
          </a:prstGeom>
        </p:spPr>
      </p:pic>
    </p:spTree>
    <p:extLst>
      <p:ext uri="{BB962C8B-B14F-4D97-AF65-F5344CB8AC3E}">
        <p14:creationId xmlns:p14="http://schemas.microsoft.com/office/powerpoint/2010/main" val="2517796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26272-D1A4-C69F-94F9-E34F531073A7}"/>
              </a:ext>
            </a:extLst>
          </p:cNvPr>
          <p:cNvSpPr>
            <a:spLocks noGrp="1"/>
          </p:cNvSpPr>
          <p:nvPr>
            <p:ph type="title"/>
          </p:nvPr>
        </p:nvSpPr>
        <p:spPr/>
        <p:txBody>
          <a:bodyPr/>
          <a:lstStyle/>
          <a:p>
            <a:r>
              <a:rPr lang="en-US" dirty="0"/>
              <a:t>Problems in public health</a:t>
            </a:r>
          </a:p>
        </p:txBody>
      </p:sp>
      <p:sp>
        <p:nvSpPr>
          <p:cNvPr id="3" name="Content Placeholder 2">
            <a:extLst>
              <a:ext uri="{FF2B5EF4-FFF2-40B4-BE49-F238E27FC236}">
                <a16:creationId xmlns:a16="http://schemas.microsoft.com/office/drawing/2014/main" id="{47963C67-38CD-0A80-4608-852F68CECD62}"/>
              </a:ext>
            </a:extLst>
          </p:cNvPr>
          <p:cNvSpPr>
            <a:spLocks noGrp="1"/>
          </p:cNvSpPr>
          <p:nvPr>
            <p:ph idx="1"/>
          </p:nvPr>
        </p:nvSpPr>
        <p:spPr/>
        <p:txBody>
          <a:bodyPr/>
          <a:lstStyle/>
          <a:p>
            <a:r>
              <a:rPr lang="en-US" dirty="0"/>
              <a:t>Low birth weight</a:t>
            </a:r>
          </a:p>
          <a:p>
            <a:r>
              <a:rPr lang="en-US" dirty="0"/>
              <a:t>Under nutrition</a:t>
            </a:r>
          </a:p>
          <a:p>
            <a:r>
              <a:rPr lang="en-US" dirty="0"/>
              <a:t>Xerophthalmia</a:t>
            </a:r>
          </a:p>
          <a:p>
            <a:r>
              <a:rPr lang="en-US" dirty="0"/>
              <a:t>Iodine deficiency disorders</a:t>
            </a:r>
          </a:p>
          <a:p>
            <a:r>
              <a:rPr lang="en-US" dirty="0"/>
              <a:t>Nutritional anemia</a:t>
            </a:r>
          </a:p>
          <a:p>
            <a:r>
              <a:rPr lang="en-US" dirty="0"/>
              <a:t>Endemic fluorosis</a:t>
            </a:r>
          </a:p>
          <a:p>
            <a:r>
              <a:rPr lang="en-US" dirty="0"/>
              <a:t>Lathyrism</a:t>
            </a:r>
          </a:p>
        </p:txBody>
      </p:sp>
    </p:spTree>
    <p:extLst>
      <p:ext uri="{BB962C8B-B14F-4D97-AF65-F5344CB8AC3E}">
        <p14:creationId xmlns:p14="http://schemas.microsoft.com/office/powerpoint/2010/main" val="2850986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02D0-F1D7-37F2-FF3B-0222BB166B00}"/>
              </a:ext>
            </a:extLst>
          </p:cNvPr>
          <p:cNvSpPr>
            <a:spLocks noGrp="1"/>
          </p:cNvSpPr>
          <p:nvPr>
            <p:ph type="title"/>
          </p:nvPr>
        </p:nvSpPr>
        <p:spPr/>
        <p:txBody>
          <a:bodyPr/>
          <a:lstStyle/>
          <a:p>
            <a:r>
              <a:rPr lang="en-US" dirty="0"/>
              <a:t>Low Birth Weight</a:t>
            </a:r>
          </a:p>
        </p:txBody>
      </p:sp>
      <p:sp>
        <p:nvSpPr>
          <p:cNvPr id="3" name="Content Placeholder 2">
            <a:extLst>
              <a:ext uri="{FF2B5EF4-FFF2-40B4-BE49-F238E27FC236}">
                <a16:creationId xmlns:a16="http://schemas.microsoft.com/office/drawing/2014/main" id="{D244E97D-26E6-AFBB-1B0B-A70204AA46D4}"/>
              </a:ext>
            </a:extLst>
          </p:cNvPr>
          <p:cNvSpPr>
            <a:spLocks noGrp="1"/>
          </p:cNvSpPr>
          <p:nvPr>
            <p:ph idx="1"/>
          </p:nvPr>
        </p:nvSpPr>
        <p:spPr/>
        <p:txBody>
          <a:bodyPr/>
          <a:lstStyle/>
          <a:p>
            <a:r>
              <a:rPr lang="en-US" dirty="0"/>
              <a:t>&lt; 2500 gm; 18.6 % (2014)</a:t>
            </a:r>
          </a:p>
          <a:p>
            <a:r>
              <a:rPr lang="en-US" dirty="0"/>
              <a:t>Maternal malnutrition and anemia – significant risk factors</a:t>
            </a:r>
          </a:p>
          <a:p>
            <a:r>
              <a:rPr lang="en-US" dirty="0"/>
              <a:t>Other causes – hard physical labor, illness (mainly infections)</a:t>
            </a:r>
          </a:p>
          <a:p>
            <a:r>
              <a:rPr lang="en-US" dirty="0" err="1"/>
              <a:t>Assc</a:t>
            </a:r>
            <a:r>
              <a:rPr lang="en-US" dirty="0"/>
              <a:t> factors – Short maternal stature, very young age, high parity, smoking, close birth intervals</a:t>
            </a:r>
          </a:p>
        </p:txBody>
      </p:sp>
    </p:spTree>
    <p:extLst>
      <p:ext uri="{BB962C8B-B14F-4D97-AF65-F5344CB8AC3E}">
        <p14:creationId xmlns:p14="http://schemas.microsoft.com/office/powerpoint/2010/main" val="2211543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6"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57313BF3-A9D0-1D1A-2E0D-1617D754347F}"/>
              </a:ext>
            </a:extLst>
          </p:cNvPr>
          <p:cNvSpPr>
            <a:spLocks noGrp="1"/>
          </p:cNvSpPr>
          <p:nvPr>
            <p:ph type="title"/>
          </p:nvPr>
        </p:nvSpPr>
        <p:spPr>
          <a:xfrm>
            <a:off x="1861854" y="633046"/>
            <a:ext cx="9621246" cy="651415"/>
          </a:xfrm>
        </p:spPr>
        <p:txBody>
          <a:bodyPr anchor="b">
            <a:normAutofit/>
          </a:bodyPr>
          <a:lstStyle/>
          <a:p>
            <a:r>
              <a:rPr lang="en-US" sz="4000" dirty="0"/>
              <a:t>Under – Nutrition </a:t>
            </a:r>
            <a:r>
              <a:rPr lang="en-US" sz="3100" dirty="0"/>
              <a:t>(stunting, wasting &amp; underweight)</a:t>
            </a:r>
          </a:p>
        </p:txBody>
      </p:sp>
      <p:sp>
        <p:nvSpPr>
          <p:cNvPr id="3" name="Content Placeholder 2">
            <a:extLst>
              <a:ext uri="{FF2B5EF4-FFF2-40B4-BE49-F238E27FC236}">
                <a16:creationId xmlns:a16="http://schemas.microsoft.com/office/drawing/2014/main" id="{73A0B77F-D5AA-4448-9CF8-5EF5FA1FDA6C}"/>
              </a:ext>
            </a:extLst>
          </p:cNvPr>
          <p:cNvSpPr>
            <a:spLocks noGrp="1"/>
          </p:cNvSpPr>
          <p:nvPr>
            <p:ph idx="1"/>
          </p:nvPr>
        </p:nvSpPr>
        <p:spPr>
          <a:xfrm>
            <a:off x="0" y="1446417"/>
            <a:ext cx="7410284" cy="5411581"/>
          </a:xfrm>
        </p:spPr>
        <p:txBody>
          <a:bodyPr>
            <a:normAutofit fontScale="85000" lnSpcReduction="10000"/>
          </a:bodyPr>
          <a:lstStyle/>
          <a:p>
            <a:r>
              <a:rPr lang="en-US" sz="2400" dirty="0"/>
              <a:t>It is not only an important cause of childhood morbidity and mortality, but leads also to permanent impairment of physical and possibly of mental growth of those who survive.</a:t>
            </a:r>
          </a:p>
          <a:p>
            <a:r>
              <a:rPr lang="en-US" sz="2400" dirty="0"/>
              <a:t>Particularly among rural poor &amp; urban slums</a:t>
            </a:r>
          </a:p>
          <a:p>
            <a:r>
              <a:rPr lang="en-US" sz="2400" dirty="0"/>
              <a:t>an inadequate intake of food</a:t>
            </a:r>
          </a:p>
          <a:p>
            <a:r>
              <a:rPr lang="en-US" sz="2400" dirty="0"/>
              <a:t>Cause - (food gap) both in quantity and quality, infections  notably </a:t>
            </a:r>
            <a:r>
              <a:rPr lang="en-US" sz="2400" dirty="0" err="1"/>
              <a:t>diarrhoea</a:t>
            </a:r>
            <a:r>
              <a:rPr lang="en-US" sz="2400" dirty="0"/>
              <a:t>, respiratory infections, measles and intestinal worms which increase requirements for calories, protein and other nutrients, while decreasing their absorption and utilization. </a:t>
            </a:r>
          </a:p>
          <a:p>
            <a:r>
              <a:rPr lang="en-US" sz="2400" dirty="0"/>
              <a:t>It is a vicious circle – infection contributing to malnutrition and malnutrition contributing to infection, both acting synergistically.</a:t>
            </a:r>
          </a:p>
          <a:p>
            <a:r>
              <a:rPr lang="en-US" sz="2400" dirty="0"/>
              <a:t>Other contributory factors in the web of causation, viz. poor environmental conditions, large family size, poor maternal health, failure of lactation, premature termination of breast-feeding, and adverse cultural practices relating to child rearing and weaning such as the use of over-diluted cow’s milk and discarding cooking water from cereals and delayed supplementary feeding</a:t>
            </a:r>
          </a:p>
        </p:txBody>
      </p:sp>
      <p:pic>
        <p:nvPicPr>
          <p:cNvPr id="5" name="Picture 4">
            <a:extLst>
              <a:ext uri="{FF2B5EF4-FFF2-40B4-BE49-F238E27FC236}">
                <a16:creationId xmlns:a16="http://schemas.microsoft.com/office/drawing/2014/main" id="{214D3E22-4E5A-2CD4-8932-57247B2BFE3A}"/>
              </a:ext>
            </a:extLst>
          </p:cNvPr>
          <p:cNvPicPr>
            <a:picLocks noChangeAspect="1"/>
          </p:cNvPicPr>
          <p:nvPr/>
        </p:nvPicPr>
        <p:blipFill>
          <a:blip r:embed="rId2"/>
          <a:stretch>
            <a:fillRect/>
          </a:stretch>
        </p:blipFill>
        <p:spPr>
          <a:xfrm>
            <a:off x="7410285" y="2848906"/>
            <a:ext cx="4072815" cy="2606601"/>
          </a:xfrm>
          <a:prstGeom prst="rect">
            <a:avLst/>
          </a:prstGeom>
        </p:spPr>
      </p:pic>
      <p:grpSp>
        <p:nvGrpSpPr>
          <p:cNvPr id="20"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1" name="Freeform: Shape 2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050105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B741A-AFF6-24F6-F0B7-D52EE9628D7B}"/>
              </a:ext>
            </a:extLst>
          </p:cNvPr>
          <p:cNvSpPr>
            <a:spLocks noGrp="1"/>
          </p:cNvSpPr>
          <p:nvPr>
            <p:ph type="title"/>
          </p:nvPr>
        </p:nvSpPr>
        <p:spPr/>
        <p:txBody>
          <a:bodyPr/>
          <a:lstStyle/>
          <a:p>
            <a:r>
              <a:rPr lang="en-US" dirty="0"/>
              <a:t>Under nutrition</a:t>
            </a:r>
          </a:p>
        </p:txBody>
      </p:sp>
      <p:sp>
        <p:nvSpPr>
          <p:cNvPr id="3" name="Content Placeholder 2">
            <a:extLst>
              <a:ext uri="{FF2B5EF4-FFF2-40B4-BE49-F238E27FC236}">
                <a16:creationId xmlns:a16="http://schemas.microsoft.com/office/drawing/2014/main" id="{AEE2FE2D-9DB1-9C3F-1F56-493ACE71B365}"/>
              </a:ext>
            </a:extLst>
          </p:cNvPr>
          <p:cNvSpPr>
            <a:spLocks noGrp="1"/>
          </p:cNvSpPr>
          <p:nvPr>
            <p:ph idx="1"/>
          </p:nvPr>
        </p:nvSpPr>
        <p:spPr/>
        <p:txBody>
          <a:bodyPr>
            <a:normAutofit fontScale="92500" lnSpcReduction="20000"/>
          </a:bodyPr>
          <a:lstStyle/>
          <a:p>
            <a:r>
              <a:rPr lang="en-US" dirty="0"/>
              <a:t>Under weight</a:t>
            </a:r>
          </a:p>
          <a:p>
            <a:pPr lvl="1"/>
            <a:r>
              <a:rPr lang="en-US" dirty="0"/>
              <a:t>Composite measure of stunting and wasting,</a:t>
            </a:r>
          </a:p>
          <a:p>
            <a:pPr lvl="1"/>
            <a:r>
              <a:rPr lang="en-US" dirty="0"/>
              <a:t>Indicator to assess changes in the magnitude of malnutrition over time.</a:t>
            </a:r>
          </a:p>
          <a:p>
            <a:pPr lvl="1"/>
            <a:r>
              <a:rPr lang="en-US" dirty="0"/>
              <a:t>Can result from either chronic or acute malnutrition, or both. Underweight is often used as a basic indicator of the status of a population’s health as weight is easy to measure. </a:t>
            </a:r>
          </a:p>
          <a:p>
            <a:r>
              <a:rPr lang="en-US" dirty="0"/>
              <a:t>Stunting</a:t>
            </a:r>
          </a:p>
          <a:p>
            <a:pPr lvl="1"/>
            <a:r>
              <a:rPr lang="en-US" dirty="0"/>
              <a:t>Indicator of linear growth retardation that results from failure to receive adequate nutrition over a long period or recurrent adequate nutrition over a long period or </a:t>
            </a:r>
            <a:r>
              <a:rPr lang="en-US" dirty="0" err="1"/>
              <a:t>recunent</a:t>
            </a:r>
            <a:r>
              <a:rPr lang="en-US" dirty="0"/>
              <a:t> infections. </a:t>
            </a:r>
          </a:p>
          <a:p>
            <a:pPr lvl="1"/>
            <a:r>
              <a:rPr lang="en-US" dirty="0"/>
              <a:t>It is associated with a number of long-term factors including chronic insufficient nutrient intake, frequent infection, sustained inappropriate feeding practices and poverty. </a:t>
            </a:r>
          </a:p>
          <a:p>
            <a:pPr lvl="1"/>
            <a:r>
              <a:rPr lang="en-US" dirty="0"/>
              <a:t>Stunting often results in delayed psycho-social and cognitive development and poor school performance.</a:t>
            </a:r>
          </a:p>
        </p:txBody>
      </p:sp>
    </p:spTree>
    <p:extLst>
      <p:ext uri="{BB962C8B-B14F-4D97-AF65-F5344CB8AC3E}">
        <p14:creationId xmlns:p14="http://schemas.microsoft.com/office/powerpoint/2010/main" val="2287796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938C18-FD59-13D5-5CE7-3BC739A5B08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3C1D1FA3-6212-4B97-9B1E-C7F81247C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4" name="Freeform: Shape 13">
            <a:extLst>
              <a:ext uri="{FF2B5EF4-FFF2-40B4-BE49-F238E27FC236}">
                <a16:creationId xmlns:a16="http://schemas.microsoft.com/office/drawing/2014/main" id="{11C51958-04D4-4687-95A2-95DCDCF47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6"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80186AB0-91BB-5623-C589-80CC31913EA3}"/>
              </a:ext>
            </a:extLst>
          </p:cNvPr>
          <p:cNvSpPr>
            <a:spLocks noGrp="1"/>
          </p:cNvSpPr>
          <p:nvPr>
            <p:ph type="title"/>
          </p:nvPr>
        </p:nvSpPr>
        <p:spPr>
          <a:xfrm>
            <a:off x="1861854" y="633046"/>
            <a:ext cx="4834021" cy="804891"/>
          </a:xfrm>
        </p:spPr>
        <p:txBody>
          <a:bodyPr anchor="b">
            <a:normAutofit/>
          </a:bodyPr>
          <a:lstStyle/>
          <a:p>
            <a:r>
              <a:rPr lang="en-US" dirty="0"/>
              <a:t>Under nutrition</a:t>
            </a:r>
          </a:p>
        </p:txBody>
      </p:sp>
      <p:sp>
        <p:nvSpPr>
          <p:cNvPr id="3" name="Content Placeholder 2">
            <a:extLst>
              <a:ext uri="{FF2B5EF4-FFF2-40B4-BE49-F238E27FC236}">
                <a16:creationId xmlns:a16="http://schemas.microsoft.com/office/drawing/2014/main" id="{07A16DC1-B5B0-5759-02A2-8EDA306541FB}"/>
              </a:ext>
            </a:extLst>
          </p:cNvPr>
          <p:cNvSpPr>
            <a:spLocks noGrp="1"/>
          </p:cNvSpPr>
          <p:nvPr>
            <p:ph idx="1"/>
          </p:nvPr>
        </p:nvSpPr>
        <p:spPr>
          <a:xfrm>
            <a:off x="116379" y="1203479"/>
            <a:ext cx="11622540" cy="5021475"/>
          </a:xfrm>
        </p:spPr>
        <p:txBody>
          <a:bodyPr>
            <a:normAutofit/>
          </a:bodyPr>
          <a:lstStyle/>
          <a:p>
            <a:r>
              <a:rPr lang="en-US" sz="2400" dirty="0"/>
              <a:t>Wasting</a:t>
            </a:r>
          </a:p>
          <a:p>
            <a:pPr lvl="1"/>
            <a:r>
              <a:rPr lang="en-US" dirty="0"/>
              <a:t>Recent failure to receive adequate nutrition and may be affected by recent episodes of </a:t>
            </a:r>
            <a:r>
              <a:rPr lang="en-US" dirty="0" err="1"/>
              <a:t>diarrhoea</a:t>
            </a:r>
            <a:r>
              <a:rPr lang="en-US" dirty="0"/>
              <a:t> and other acute illnesses. </a:t>
            </a:r>
          </a:p>
          <a:p>
            <a:pPr lvl="1"/>
            <a:r>
              <a:rPr lang="en-US" dirty="0"/>
              <a:t>Causes include inadequate food intake, incorrect feeding practices, disease, and infection or, more frequently, a combination of these factors.</a:t>
            </a:r>
          </a:p>
          <a:p>
            <a:pPr lvl="1"/>
            <a:r>
              <a:rPr lang="en-US" dirty="0"/>
              <a:t>Shows marked seasonal patterns associated with changes in food availability or disease prevalence to which it is very sensitive.</a:t>
            </a:r>
          </a:p>
          <a:p>
            <a:r>
              <a:rPr lang="en-US" sz="2400" dirty="0"/>
              <a:t>Severe acute malnutrition (SAM)</a:t>
            </a:r>
          </a:p>
          <a:p>
            <a:pPr lvl="1"/>
            <a:r>
              <a:rPr lang="en-US" dirty="0"/>
              <a:t>&lt; 3 SD </a:t>
            </a:r>
            <a:r>
              <a:rPr lang="en-US" dirty="0" err="1"/>
              <a:t>Ht</a:t>
            </a:r>
            <a:r>
              <a:rPr lang="en-US" dirty="0"/>
              <a:t> for </a:t>
            </a:r>
            <a:r>
              <a:rPr lang="en-US" dirty="0" err="1"/>
              <a:t>Wt</a:t>
            </a:r>
            <a:endParaRPr lang="en-US" dirty="0"/>
          </a:p>
          <a:p>
            <a:pPr lvl="1"/>
            <a:r>
              <a:rPr lang="en-US" dirty="0"/>
              <a:t>Increases </a:t>
            </a:r>
            <a:r>
              <a:rPr lang="en-US" dirty="0" err="1"/>
              <a:t>signficantly</a:t>
            </a:r>
            <a:r>
              <a:rPr lang="en-US" dirty="0"/>
              <a:t> the risk of death in children under five years of age. </a:t>
            </a:r>
          </a:p>
          <a:p>
            <a:pPr lvl="1"/>
            <a:r>
              <a:rPr lang="en-US" dirty="0"/>
              <a:t>It can be an indirect cause of child death by increasing the case fatality rate in children suffering from common illnesses such as </a:t>
            </a:r>
            <a:r>
              <a:rPr lang="en-US" dirty="0" err="1"/>
              <a:t>diarrhoea</a:t>
            </a:r>
            <a:r>
              <a:rPr lang="en-US" dirty="0"/>
              <a:t> and pneumonia.</a:t>
            </a:r>
          </a:p>
        </p:txBody>
      </p:sp>
      <p:grpSp>
        <p:nvGrpSpPr>
          <p:cNvPr id="20"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1" name="Freeform: Shape 2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0236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aphic 185">
            <a:extLst>
              <a:ext uri="{FF2B5EF4-FFF2-40B4-BE49-F238E27FC236}">
                <a16:creationId xmlns:a16="http://schemas.microsoft.com/office/drawing/2014/main" id="{773CCE17-EE0F-40E0-B7AE-CF7677B647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1" name="Freeform: Shape 10">
              <a:extLst>
                <a:ext uri="{FF2B5EF4-FFF2-40B4-BE49-F238E27FC236}">
                  <a16:creationId xmlns:a16="http://schemas.microsoft.com/office/drawing/2014/main" id="{B0AC6C4E-6EA5-454A-AB84-8B94D8B5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4329338-925B-4677-BA6E-4357D37DB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34C0A08-043F-4818-BA1D-BCC9F811A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CB185DD-ED0D-4633-8098-95C4A6F17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AD50526-B611-40B6-BB45-AE82F0EF5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70CCC791-94D7-4BB8-9EDF-423CEA1F62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19" name="Rectangle 18">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2668" y="1090453"/>
            <a:ext cx="9465232" cy="5238271"/>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2668" y="1090453"/>
            <a:ext cx="9465232" cy="5238271"/>
          </a:xfrm>
          <a:prstGeom prst="rect">
            <a:avLst/>
          </a:prstGeom>
          <a:solidFill>
            <a:schemeClr val="accent3">
              <a:alpha val="20000"/>
            </a:schemeClr>
          </a:solidFill>
          <a:ln w="28575">
            <a:solidFill>
              <a:schemeClr val="tx1">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8632573-E3E1-F7EF-0465-634543F20EDD}"/>
              </a:ext>
            </a:extLst>
          </p:cNvPr>
          <p:cNvPicPr>
            <a:picLocks noGrp="1" noChangeAspect="1"/>
          </p:cNvPicPr>
          <p:nvPr>
            <p:ph idx="1"/>
          </p:nvPr>
        </p:nvPicPr>
        <p:blipFill rotWithShape="1">
          <a:blip r:embed="rId2"/>
          <a:srcRect r="1" b="16975"/>
          <a:stretch/>
        </p:blipFill>
        <p:spPr>
          <a:xfrm>
            <a:off x="1280667" y="677668"/>
            <a:ext cx="9630666" cy="5417250"/>
          </a:xfrm>
          <a:prstGeom prst="rect">
            <a:avLst/>
          </a:prstGeom>
          <a:ln w="28575">
            <a:solidFill>
              <a:schemeClr val="tx1"/>
            </a:solidFill>
          </a:ln>
        </p:spPr>
      </p:pic>
      <p:sp>
        <p:nvSpPr>
          <p:cNvPr id="25" name="Graphic 212">
            <a:extLst>
              <a:ext uri="{FF2B5EF4-FFF2-40B4-BE49-F238E27FC236}">
                <a16:creationId xmlns:a16="http://schemas.microsoft.com/office/drawing/2014/main" id="{7BD8AB83-2763-4392-B4B9-049CDF1F6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73609" y="168141"/>
            <a:ext cx="1009111" cy="100911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7" name="Graphic 212">
            <a:extLst>
              <a:ext uri="{FF2B5EF4-FFF2-40B4-BE49-F238E27FC236}">
                <a16:creationId xmlns:a16="http://schemas.microsoft.com/office/drawing/2014/main" id="{480F071C-C35C-4CE1-8EE5-8ED96E2F4E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73609" y="168141"/>
            <a:ext cx="1009111" cy="100911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Oval 28">
            <a:extLst>
              <a:ext uri="{FF2B5EF4-FFF2-40B4-BE49-F238E27FC236}">
                <a16:creationId xmlns:a16="http://schemas.microsoft.com/office/drawing/2014/main" id="{CD97FAB4-59E0-4E65-B50B-867B14D2A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460" y="4428611"/>
            <a:ext cx="565207" cy="565207"/>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 name="Oval 30">
            <a:extLst>
              <a:ext uri="{FF2B5EF4-FFF2-40B4-BE49-F238E27FC236}">
                <a16:creationId xmlns:a16="http://schemas.microsoft.com/office/drawing/2014/main" id="{0D578F4B-2751-4FC2-8853-FAC5C5913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460" y="4428611"/>
            <a:ext cx="565207" cy="565207"/>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05038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50061-9FCA-E797-A339-6F7AA517274C}"/>
              </a:ext>
            </a:extLst>
          </p:cNvPr>
          <p:cNvSpPr>
            <a:spLocks noGrp="1"/>
          </p:cNvSpPr>
          <p:nvPr>
            <p:ph idx="1"/>
          </p:nvPr>
        </p:nvSpPr>
        <p:spPr>
          <a:xfrm>
            <a:off x="838200" y="448887"/>
            <a:ext cx="10515600" cy="5519651"/>
          </a:xfrm>
        </p:spPr>
        <p:txBody>
          <a:bodyPr numCol="2">
            <a:normAutofit fontScale="92500" lnSpcReduction="10000"/>
          </a:bodyPr>
          <a:lstStyle/>
          <a:p>
            <a:r>
              <a:rPr lang="en-US" sz="3200" dirty="0"/>
              <a:t>Early detection of PEM</a:t>
            </a:r>
          </a:p>
          <a:p>
            <a:pPr lvl="1"/>
            <a:r>
              <a:rPr lang="en-US" sz="2800" dirty="0"/>
              <a:t>Weight for age</a:t>
            </a:r>
          </a:p>
          <a:p>
            <a:pPr lvl="1"/>
            <a:r>
              <a:rPr lang="en-US" sz="2800" dirty="0"/>
              <a:t>Growth Chart</a:t>
            </a:r>
          </a:p>
          <a:p>
            <a:pPr lvl="1"/>
            <a:r>
              <a:rPr lang="en-US" sz="2800" dirty="0"/>
              <a:t>Arm Circumference</a:t>
            </a:r>
          </a:p>
          <a:p>
            <a:r>
              <a:rPr lang="en-US" sz="3200" dirty="0"/>
              <a:t>Preventive Measures</a:t>
            </a:r>
          </a:p>
          <a:p>
            <a:pPr lvl="1"/>
            <a:r>
              <a:rPr lang="en-US" sz="2800" dirty="0"/>
              <a:t>Health promotion</a:t>
            </a:r>
          </a:p>
          <a:p>
            <a:pPr lvl="2"/>
            <a:r>
              <a:rPr lang="en-US" sz="2400" dirty="0"/>
              <a:t>Directed to pregnant &amp; Lactating Women</a:t>
            </a:r>
          </a:p>
          <a:p>
            <a:pPr lvl="2"/>
            <a:r>
              <a:rPr lang="en-US" sz="2400" dirty="0"/>
              <a:t>Promote </a:t>
            </a:r>
            <a:r>
              <a:rPr lang="en-US" sz="2400" dirty="0" err="1"/>
              <a:t>Breaast</a:t>
            </a:r>
            <a:r>
              <a:rPr lang="en-US" sz="2400" dirty="0"/>
              <a:t> feeding</a:t>
            </a:r>
          </a:p>
          <a:p>
            <a:pPr lvl="2"/>
            <a:r>
              <a:rPr lang="en-US" sz="2400" dirty="0"/>
              <a:t>Low cost weening food</a:t>
            </a:r>
          </a:p>
          <a:p>
            <a:pPr lvl="2"/>
            <a:r>
              <a:rPr lang="en-US" sz="2400" dirty="0"/>
              <a:t>Education</a:t>
            </a:r>
          </a:p>
          <a:p>
            <a:pPr lvl="2"/>
            <a:r>
              <a:rPr lang="en-US" sz="2400" dirty="0"/>
              <a:t>Home Economics</a:t>
            </a:r>
          </a:p>
          <a:p>
            <a:pPr lvl="2"/>
            <a:r>
              <a:rPr lang="en-US" sz="2400" dirty="0"/>
              <a:t>Spacing</a:t>
            </a:r>
          </a:p>
          <a:p>
            <a:pPr lvl="1"/>
            <a:r>
              <a:rPr lang="en-US" sz="2800" dirty="0"/>
              <a:t>Specific</a:t>
            </a:r>
          </a:p>
          <a:p>
            <a:pPr lvl="2"/>
            <a:r>
              <a:rPr lang="en-US" sz="2400" dirty="0"/>
              <a:t>Diet must contain protein rich foods</a:t>
            </a:r>
          </a:p>
          <a:p>
            <a:pPr lvl="2"/>
            <a:r>
              <a:rPr lang="en-US" sz="2400" dirty="0"/>
              <a:t>Immunization</a:t>
            </a:r>
          </a:p>
          <a:p>
            <a:pPr lvl="2"/>
            <a:r>
              <a:rPr lang="en-US" sz="2400" dirty="0"/>
              <a:t>Food Fortification</a:t>
            </a:r>
          </a:p>
          <a:p>
            <a:pPr lvl="1"/>
            <a:r>
              <a:rPr lang="en-US" sz="2800" dirty="0"/>
              <a:t>Early Dx &amp; treatment</a:t>
            </a:r>
          </a:p>
          <a:p>
            <a:pPr lvl="2"/>
            <a:r>
              <a:rPr lang="en-US" sz="2400" dirty="0"/>
              <a:t>Surveillance</a:t>
            </a:r>
          </a:p>
          <a:p>
            <a:pPr lvl="2"/>
            <a:r>
              <a:rPr lang="en-US" sz="2400" dirty="0"/>
              <a:t>Identifying any lag in growth</a:t>
            </a:r>
          </a:p>
          <a:p>
            <a:pPr lvl="2"/>
            <a:r>
              <a:rPr lang="en-US" sz="2400" dirty="0"/>
              <a:t>Early dx &amp; treatment of infection &amp; diarrhea</a:t>
            </a:r>
          </a:p>
          <a:p>
            <a:pPr lvl="2"/>
            <a:r>
              <a:rPr lang="en-US" sz="2400" dirty="0"/>
              <a:t>Development of </a:t>
            </a:r>
            <a:r>
              <a:rPr lang="en-US" sz="2400" dirty="0" err="1"/>
              <a:t>programmes</a:t>
            </a:r>
            <a:r>
              <a:rPr lang="en-US" sz="2400" dirty="0"/>
              <a:t> for early rehydration of children with diarrhea</a:t>
            </a:r>
          </a:p>
          <a:p>
            <a:pPr lvl="2"/>
            <a:r>
              <a:rPr lang="en-US" sz="2400" dirty="0"/>
              <a:t>Deworming</a:t>
            </a:r>
          </a:p>
          <a:p>
            <a:pPr lvl="1"/>
            <a:r>
              <a:rPr lang="en-US" sz="2800" dirty="0"/>
              <a:t>Rehabilitation</a:t>
            </a:r>
          </a:p>
          <a:p>
            <a:pPr lvl="2"/>
            <a:r>
              <a:rPr lang="en-US" sz="2400" dirty="0"/>
              <a:t>Nutritional rehabilitation services</a:t>
            </a:r>
          </a:p>
          <a:p>
            <a:pPr lvl="2"/>
            <a:r>
              <a:rPr lang="en-US" sz="2400" dirty="0"/>
              <a:t>Hospital treatment</a:t>
            </a:r>
          </a:p>
          <a:p>
            <a:pPr lvl="2"/>
            <a:r>
              <a:rPr lang="en-US" sz="2400" dirty="0"/>
              <a:t>Follow – up Care</a:t>
            </a:r>
          </a:p>
        </p:txBody>
      </p:sp>
    </p:spTree>
    <p:extLst>
      <p:ext uri="{BB962C8B-B14F-4D97-AF65-F5344CB8AC3E}">
        <p14:creationId xmlns:p14="http://schemas.microsoft.com/office/powerpoint/2010/main" val="3235023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E41AC-949C-04EB-00E7-DFE04E3DB7EE}"/>
              </a:ext>
            </a:extLst>
          </p:cNvPr>
          <p:cNvSpPr>
            <a:spLocks noGrp="1"/>
          </p:cNvSpPr>
          <p:nvPr>
            <p:ph type="title"/>
          </p:nvPr>
        </p:nvSpPr>
        <p:spPr/>
        <p:txBody>
          <a:bodyPr/>
          <a:lstStyle/>
          <a:p>
            <a:r>
              <a:rPr lang="en-US" dirty="0"/>
              <a:t>Xerophthalmia (dry eye)</a:t>
            </a:r>
          </a:p>
        </p:txBody>
      </p:sp>
      <p:sp>
        <p:nvSpPr>
          <p:cNvPr id="3" name="Content Placeholder 2">
            <a:extLst>
              <a:ext uri="{FF2B5EF4-FFF2-40B4-BE49-F238E27FC236}">
                <a16:creationId xmlns:a16="http://schemas.microsoft.com/office/drawing/2014/main" id="{EF03A047-CBF2-2D7A-ADDE-4EAE1DD2DA50}"/>
              </a:ext>
            </a:extLst>
          </p:cNvPr>
          <p:cNvSpPr>
            <a:spLocks noGrp="1"/>
          </p:cNvSpPr>
          <p:nvPr>
            <p:ph idx="1"/>
          </p:nvPr>
        </p:nvSpPr>
        <p:spPr/>
        <p:txBody>
          <a:bodyPr>
            <a:normAutofit fontScale="92500" lnSpcReduction="10000"/>
          </a:bodyPr>
          <a:lstStyle/>
          <a:p>
            <a:r>
              <a:rPr lang="en-US" dirty="0"/>
              <a:t>All the ocular manifestations of vitamin A deficiency in man.</a:t>
            </a:r>
          </a:p>
          <a:p>
            <a:r>
              <a:rPr lang="en-US" dirty="0"/>
              <a:t>Most Common in 1- 3-year-old. Related to weaning.</a:t>
            </a:r>
          </a:p>
          <a:p>
            <a:r>
              <a:rPr lang="en-US" dirty="0" err="1"/>
              <a:t>Assc</a:t>
            </a:r>
            <a:r>
              <a:rPr lang="en-US" dirty="0"/>
              <a:t> with PEM. Associated risk factor – ignorance, faulty feeding practice &amp; infections.</a:t>
            </a:r>
          </a:p>
          <a:p>
            <a:r>
              <a:rPr lang="en-US" dirty="0"/>
              <a:t>Prevention &amp; Control</a:t>
            </a:r>
          </a:p>
          <a:p>
            <a:pPr lvl="1"/>
            <a:r>
              <a:rPr lang="en-US" dirty="0"/>
              <a:t>Short term – large doses of Vit A periodically</a:t>
            </a:r>
          </a:p>
          <a:p>
            <a:pPr lvl="1"/>
            <a:r>
              <a:rPr lang="en-US" dirty="0"/>
              <a:t>Medium term – fortification</a:t>
            </a:r>
          </a:p>
          <a:p>
            <a:pPr lvl="1"/>
            <a:r>
              <a:rPr lang="en-US" dirty="0"/>
              <a:t>Long term - reduction or elimination of factors contributing to ocular disease.</a:t>
            </a:r>
          </a:p>
          <a:p>
            <a:pPr lvl="2"/>
            <a:r>
              <a:rPr lang="en-US" dirty="0"/>
              <a:t>To consume generously dark green leafy vegetables</a:t>
            </a:r>
          </a:p>
          <a:p>
            <a:pPr lvl="2"/>
            <a:r>
              <a:rPr lang="en-US" dirty="0"/>
              <a:t>Promotion of breast feeding</a:t>
            </a:r>
          </a:p>
          <a:p>
            <a:pPr lvl="2"/>
            <a:r>
              <a:rPr lang="en-US" dirty="0"/>
              <a:t>Immunization</a:t>
            </a:r>
          </a:p>
          <a:p>
            <a:pPr lvl="2"/>
            <a:r>
              <a:rPr lang="en-US" dirty="0"/>
              <a:t>Improved health services</a:t>
            </a:r>
          </a:p>
          <a:p>
            <a:endParaRPr lang="en-US" dirty="0"/>
          </a:p>
        </p:txBody>
      </p:sp>
    </p:spTree>
    <p:extLst>
      <p:ext uri="{BB962C8B-B14F-4D97-AF65-F5344CB8AC3E}">
        <p14:creationId xmlns:p14="http://schemas.microsoft.com/office/powerpoint/2010/main" val="200241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67490-7EE7-9F9F-605C-26AF896ACA50}"/>
              </a:ext>
            </a:extLst>
          </p:cNvPr>
          <p:cNvSpPr>
            <a:spLocks noGrp="1"/>
          </p:cNvSpPr>
          <p:nvPr>
            <p:ph type="title"/>
          </p:nvPr>
        </p:nvSpPr>
        <p:spPr/>
        <p:txBody>
          <a:bodyPr/>
          <a:lstStyle/>
          <a:p>
            <a:r>
              <a:rPr lang="en-US" dirty="0" err="1"/>
              <a:t>Programme</a:t>
            </a:r>
            <a:r>
              <a:rPr lang="en-US" dirty="0"/>
              <a:t> </a:t>
            </a:r>
          </a:p>
        </p:txBody>
      </p:sp>
      <p:sp>
        <p:nvSpPr>
          <p:cNvPr id="3" name="Content Placeholder 2">
            <a:extLst>
              <a:ext uri="{FF2B5EF4-FFF2-40B4-BE49-F238E27FC236}">
                <a16:creationId xmlns:a16="http://schemas.microsoft.com/office/drawing/2014/main" id="{0C39AF18-C98A-71CF-0589-824B245E083D}"/>
              </a:ext>
            </a:extLst>
          </p:cNvPr>
          <p:cNvSpPr>
            <a:spLocks noGrp="1"/>
          </p:cNvSpPr>
          <p:nvPr>
            <p:ph idx="1"/>
          </p:nvPr>
        </p:nvSpPr>
        <p:spPr/>
        <p:txBody>
          <a:bodyPr>
            <a:normAutofit fontScale="92500" lnSpcReduction="20000"/>
          </a:bodyPr>
          <a:lstStyle/>
          <a:p>
            <a:r>
              <a:rPr lang="en-US" dirty="0"/>
              <a:t>1970 </a:t>
            </a:r>
            <a:r>
              <a:rPr lang="en-US" dirty="0">
                <a:sym typeface="Wingdings" panose="05000000000000000000" pitchFamily="2" charset="2"/>
              </a:rPr>
              <a:t> 1 – 5 years; 1992  9 months to 3 </a:t>
            </a:r>
            <a:r>
              <a:rPr lang="en-US" dirty="0" err="1">
                <a:sym typeface="Wingdings" panose="05000000000000000000" pitchFamily="2" charset="2"/>
              </a:rPr>
              <a:t>yrs</a:t>
            </a:r>
            <a:endParaRPr lang="en-US" dirty="0">
              <a:sym typeface="Wingdings" panose="05000000000000000000" pitchFamily="2" charset="2"/>
            </a:endParaRPr>
          </a:p>
          <a:p>
            <a:r>
              <a:rPr lang="en-US" dirty="0">
                <a:sym typeface="Wingdings" panose="05000000000000000000" pitchFamily="2" charset="2"/>
              </a:rPr>
              <a:t>10</a:t>
            </a:r>
            <a:r>
              <a:rPr lang="en-US" baseline="30000" dirty="0">
                <a:sym typeface="Wingdings" panose="05000000000000000000" pitchFamily="2" charset="2"/>
              </a:rPr>
              <a:t>th</a:t>
            </a:r>
            <a:r>
              <a:rPr lang="en-US" dirty="0">
                <a:sym typeface="Wingdings" panose="05000000000000000000" pitchFamily="2" charset="2"/>
              </a:rPr>
              <a:t> five year plan – part of RCH</a:t>
            </a:r>
          </a:p>
          <a:p>
            <a:r>
              <a:rPr lang="en-US" dirty="0"/>
              <a:t>Promoting consumption of vitamin A rich foods by pregnant and lactating women and by children under-five years of age and appropriate breast-feeding; </a:t>
            </a:r>
          </a:p>
          <a:p>
            <a:r>
              <a:rPr lang="en-US" dirty="0"/>
              <a:t>Administration of massive dose of vitamin A up to five years. First dose of 100,000 1U with measles vaccination at nine months and subsequent doses of 200,000 IU each, every six months up to the age 5 years; </a:t>
            </a:r>
          </a:p>
          <a:p>
            <a:r>
              <a:rPr lang="en-US" dirty="0"/>
              <a:t>For sick children - all children with xerophthalmia to be treated at health facilities; all children suffering from measles to be given one dose of vitamin A if they have not received it in the previous one month; all cases of severe malnutrition to be given one additional dose of vitamin A</a:t>
            </a:r>
          </a:p>
        </p:txBody>
      </p:sp>
    </p:spTree>
    <p:extLst>
      <p:ext uri="{BB962C8B-B14F-4D97-AF65-F5344CB8AC3E}">
        <p14:creationId xmlns:p14="http://schemas.microsoft.com/office/powerpoint/2010/main" val="2670769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4371C-60AD-D403-9D49-F2F047D2D227}"/>
              </a:ext>
            </a:extLst>
          </p:cNvPr>
          <p:cNvSpPr>
            <a:spLocks noGrp="1"/>
          </p:cNvSpPr>
          <p:nvPr>
            <p:ph type="title"/>
          </p:nvPr>
        </p:nvSpPr>
        <p:spPr/>
        <p:txBody>
          <a:bodyPr/>
          <a:lstStyle/>
          <a:p>
            <a:r>
              <a:rPr lang="en-US" dirty="0"/>
              <a:t>IDD</a:t>
            </a:r>
          </a:p>
        </p:txBody>
      </p:sp>
      <p:sp>
        <p:nvSpPr>
          <p:cNvPr id="3" name="Content Placeholder 2">
            <a:extLst>
              <a:ext uri="{FF2B5EF4-FFF2-40B4-BE49-F238E27FC236}">
                <a16:creationId xmlns:a16="http://schemas.microsoft.com/office/drawing/2014/main" id="{A7B8C159-6540-66B9-15ED-A773D29C4651}"/>
              </a:ext>
            </a:extLst>
          </p:cNvPr>
          <p:cNvSpPr>
            <a:spLocks noGrp="1"/>
          </p:cNvSpPr>
          <p:nvPr>
            <p:ph idx="1"/>
          </p:nvPr>
        </p:nvSpPr>
        <p:spPr/>
        <p:txBody>
          <a:bodyPr>
            <a:normAutofit fontScale="85000" lnSpcReduction="20000"/>
          </a:bodyPr>
          <a:lstStyle/>
          <a:p>
            <a:r>
              <a:rPr lang="en-US" dirty="0"/>
              <a:t>Significant extent in the “Himalaya </a:t>
            </a:r>
            <a:r>
              <a:rPr lang="en-US" dirty="0" err="1"/>
              <a:t>goitre</a:t>
            </a:r>
            <a:r>
              <a:rPr lang="en-US" dirty="0"/>
              <a:t> belt” which is the world’s biggest </a:t>
            </a:r>
            <a:r>
              <a:rPr lang="en-US" dirty="0" err="1"/>
              <a:t>goitre</a:t>
            </a:r>
            <a:r>
              <a:rPr lang="en-US" dirty="0"/>
              <a:t> belt. It stretches from Kashmir to the Naga Hills in the east, extending about 2,400 km and affecting the northern States of Jammu and Kashmir, Himachal Pradesh, Punjab, Haryana, Delhi, Uttar Pradesh, Bihar, West Bengal, Sikkim, Assam, Arunachal Pradesh, Nagaland, Mizoram, Meghalaya, Tripura and Manipur.</a:t>
            </a:r>
          </a:p>
          <a:p>
            <a:r>
              <a:rPr lang="en-US" dirty="0"/>
              <a:t>National Iodine deficiency disorders control </a:t>
            </a:r>
            <a:r>
              <a:rPr lang="en-US" dirty="0" err="1"/>
              <a:t>programme</a:t>
            </a:r>
            <a:endParaRPr lang="en-US" dirty="0"/>
          </a:p>
          <a:p>
            <a:pPr lvl="1"/>
            <a:r>
              <a:rPr lang="en-US" dirty="0"/>
              <a:t>There are four essential components of National Iodine Deficiency Disorder control </a:t>
            </a:r>
            <a:r>
              <a:rPr lang="en-US" dirty="0" err="1"/>
              <a:t>programme</a:t>
            </a:r>
            <a:r>
              <a:rPr lang="en-US" dirty="0"/>
              <a:t>. </a:t>
            </a:r>
          </a:p>
          <a:p>
            <a:pPr lvl="1"/>
            <a:r>
              <a:rPr lang="en-US" dirty="0"/>
              <a:t>These are iodized salt, monitoring and surveillance, manpower training and mass communication</a:t>
            </a:r>
          </a:p>
          <a:p>
            <a:r>
              <a:rPr lang="en-US" dirty="0"/>
              <a:t>Hazards of iodization</a:t>
            </a:r>
          </a:p>
          <a:p>
            <a:pPr lvl="1"/>
            <a:r>
              <a:rPr lang="en-US" dirty="0"/>
              <a:t>A mild increase in incidence of thyrotoxicosis has now been described following iodized salt </a:t>
            </a:r>
            <a:r>
              <a:rPr lang="en-US" dirty="0" err="1"/>
              <a:t>programmes</a:t>
            </a:r>
            <a:r>
              <a:rPr lang="en-US" dirty="0"/>
              <a:t>. </a:t>
            </a:r>
          </a:p>
          <a:p>
            <a:pPr lvl="1"/>
            <a:r>
              <a:rPr lang="en-US" dirty="0"/>
              <a:t>An increase in lymphocytic thyroiditis (Hashimoto’s disease) has also been claimed. </a:t>
            </a:r>
          </a:p>
          <a:p>
            <a:pPr lvl="1"/>
            <a:r>
              <a:rPr lang="en-US" dirty="0"/>
              <a:t>The risk of iodism or iodide </a:t>
            </a:r>
            <a:r>
              <a:rPr lang="en-US" dirty="0" err="1"/>
              <a:t>goitre</a:t>
            </a:r>
            <a:r>
              <a:rPr lang="en-US" dirty="0"/>
              <a:t> however seems to be very small.</a:t>
            </a:r>
          </a:p>
        </p:txBody>
      </p:sp>
    </p:spTree>
    <p:extLst>
      <p:ext uri="{BB962C8B-B14F-4D97-AF65-F5344CB8AC3E}">
        <p14:creationId xmlns:p14="http://schemas.microsoft.com/office/powerpoint/2010/main" val="1809872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892A2-126A-04F8-22B7-222A99537B79}"/>
              </a:ext>
            </a:extLst>
          </p:cNvPr>
          <p:cNvSpPr>
            <a:spLocks noGrp="1"/>
          </p:cNvSpPr>
          <p:nvPr>
            <p:ph type="title"/>
          </p:nvPr>
        </p:nvSpPr>
        <p:spPr/>
        <p:txBody>
          <a:bodyPr/>
          <a:lstStyle/>
          <a:p>
            <a:r>
              <a:rPr lang="en-US" dirty="0"/>
              <a:t>Endemic Fluorosis</a:t>
            </a:r>
          </a:p>
        </p:txBody>
      </p:sp>
      <p:sp>
        <p:nvSpPr>
          <p:cNvPr id="3" name="Content Placeholder 2">
            <a:extLst>
              <a:ext uri="{FF2B5EF4-FFF2-40B4-BE49-F238E27FC236}">
                <a16:creationId xmlns:a16="http://schemas.microsoft.com/office/drawing/2014/main" id="{F855218C-2B4F-1F80-4B4B-AC49A688733E}"/>
              </a:ext>
            </a:extLst>
          </p:cNvPr>
          <p:cNvSpPr>
            <a:spLocks noGrp="1"/>
          </p:cNvSpPr>
          <p:nvPr>
            <p:ph idx="1"/>
          </p:nvPr>
        </p:nvSpPr>
        <p:spPr/>
        <p:txBody>
          <a:bodyPr>
            <a:normAutofit fontScale="77500" lnSpcReduction="20000"/>
          </a:bodyPr>
          <a:lstStyle/>
          <a:p>
            <a:r>
              <a:rPr lang="en-US" dirty="0"/>
              <a:t>Where drinking water contains excessive amounts of fluorine (3-5 mg/L)</a:t>
            </a:r>
          </a:p>
          <a:p>
            <a:r>
              <a:rPr lang="en-US" dirty="0"/>
              <a:t>Dental Fluorosis</a:t>
            </a:r>
          </a:p>
          <a:p>
            <a:pPr lvl="1"/>
            <a:r>
              <a:rPr lang="en-US" dirty="0"/>
              <a:t>Ingested during the years of tooth calcification - essentially during the first 7 years of life.</a:t>
            </a:r>
          </a:p>
          <a:p>
            <a:pPr lvl="1"/>
            <a:r>
              <a:rPr lang="en-US" dirty="0"/>
              <a:t>It is characterized by “mottling” of dental enamel, which has been reported at levels above 1.5 mg/L intake.</a:t>
            </a:r>
          </a:p>
          <a:p>
            <a:pPr lvl="1"/>
            <a:r>
              <a:rPr lang="en-US" dirty="0"/>
              <a:t>Mottling is best seen on the incisors of the upper jaw. It is almost entirely confined to the permanent teeth and develops only during the period of formation</a:t>
            </a:r>
          </a:p>
          <a:p>
            <a:r>
              <a:rPr lang="en-US" dirty="0"/>
              <a:t>Skeletal Fluorosis</a:t>
            </a:r>
          </a:p>
          <a:p>
            <a:pPr lvl="1"/>
            <a:r>
              <a:rPr lang="en-US" dirty="0"/>
              <a:t>Daily intake of 3.0 to 6.0 mg/L or more.  When a concentration of 10 mg/L is exceeded, crippling fluorosis can ensue. It leads to permanent disability.</a:t>
            </a:r>
          </a:p>
          <a:p>
            <a:r>
              <a:rPr lang="en-US" dirty="0"/>
              <a:t>Genu </a:t>
            </a:r>
            <a:r>
              <a:rPr lang="en-US" dirty="0" err="1"/>
              <a:t>valgum</a:t>
            </a:r>
            <a:r>
              <a:rPr lang="en-US" dirty="0"/>
              <a:t> </a:t>
            </a:r>
          </a:p>
          <a:p>
            <a:pPr lvl="1"/>
            <a:r>
              <a:rPr lang="en-US" dirty="0"/>
              <a:t>Osteoporosis of the lower limbs has been reported in some districts of Andhra Pradesh and Tamil Nadu. </a:t>
            </a:r>
          </a:p>
          <a:p>
            <a:pPr lvl="1"/>
            <a:r>
              <a:rPr lang="en-US" dirty="0"/>
              <a:t>The syndrome was observed among people whose staple was sorghum (jowar).</a:t>
            </a:r>
          </a:p>
          <a:p>
            <a:pPr lvl="1"/>
            <a:r>
              <a:rPr lang="en-US" dirty="0"/>
              <a:t>Diets based on sorghum promoted a higher retention of ingested fluoride than do diets based on rice</a:t>
            </a:r>
          </a:p>
        </p:txBody>
      </p:sp>
    </p:spTree>
    <p:extLst>
      <p:ext uri="{BB962C8B-B14F-4D97-AF65-F5344CB8AC3E}">
        <p14:creationId xmlns:p14="http://schemas.microsoft.com/office/powerpoint/2010/main" val="3722743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86A57-3915-66EA-1F5D-87F03645127A}"/>
              </a:ext>
            </a:extLst>
          </p:cNvPr>
          <p:cNvSpPr>
            <a:spLocks noGrp="1"/>
          </p:cNvSpPr>
          <p:nvPr>
            <p:ph type="title"/>
          </p:nvPr>
        </p:nvSpPr>
        <p:spPr/>
        <p:txBody>
          <a:bodyPr/>
          <a:lstStyle/>
          <a:p>
            <a:r>
              <a:rPr lang="en-US" dirty="0"/>
              <a:t>Intervention</a:t>
            </a:r>
          </a:p>
        </p:txBody>
      </p:sp>
      <p:sp>
        <p:nvSpPr>
          <p:cNvPr id="3" name="Content Placeholder 2">
            <a:extLst>
              <a:ext uri="{FF2B5EF4-FFF2-40B4-BE49-F238E27FC236}">
                <a16:creationId xmlns:a16="http://schemas.microsoft.com/office/drawing/2014/main" id="{956BEF64-815D-00C7-8DA8-39E409FC06A7}"/>
              </a:ext>
            </a:extLst>
          </p:cNvPr>
          <p:cNvSpPr>
            <a:spLocks noGrp="1"/>
          </p:cNvSpPr>
          <p:nvPr>
            <p:ph idx="1"/>
          </p:nvPr>
        </p:nvSpPr>
        <p:spPr/>
        <p:txBody>
          <a:bodyPr>
            <a:normAutofit fontScale="85000" lnSpcReduction="10000"/>
          </a:bodyPr>
          <a:lstStyle/>
          <a:p>
            <a:r>
              <a:rPr lang="en-US" dirty="0"/>
              <a:t>Changing the water source : new source of drinking water with a lower fluoride content (0.5 to 0.8 mg/L) if that is possible. Running surface water contains lower quantities of fluorides than ground water sources such as wells</a:t>
            </a:r>
          </a:p>
          <a:p>
            <a:r>
              <a:rPr lang="en-US" dirty="0"/>
              <a:t>Chemical treatment : If the above is not possible, the water can be chemically </a:t>
            </a:r>
            <a:r>
              <a:rPr lang="en-US" dirty="0" err="1"/>
              <a:t>defluoridated</a:t>
            </a:r>
            <a:r>
              <a:rPr lang="en-US" dirty="0"/>
              <a:t> in a water treatment plant, even though such treatment is moderately expensive. </a:t>
            </a:r>
          </a:p>
          <a:p>
            <a:pPr lvl="1"/>
            <a:r>
              <a:rPr lang="en-US" dirty="0"/>
              <a:t>The National Environmental Engineering Research Institute, Nagpur developed a technique for removing fluoride by chemical treatment. It is called Nalgonda technique for </a:t>
            </a:r>
            <a:r>
              <a:rPr lang="en-US" dirty="0" err="1"/>
              <a:t>defluoridation</a:t>
            </a:r>
            <a:r>
              <a:rPr lang="en-US" dirty="0"/>
              <a:t> of water. </a:t>
            </a:r>
          </a:p>
          <a:p>
            <a:pPr lvl="1"/>
            <a:r>
              <a:rPr lang="en-US" dirty="0"/>
              <a:t>It involves the addition of two chemicals (viz. lime and alum) in sequence followed by flocculation, sedimentation and filtration.</a:t>
            </a:r>
          </a:p>
          <a:p>
            <a:r>
              <a:rPr lang="en-US" dirty="0"/>
              <a:t>Other measures : Fluoride supplements should not be prescribed for children who drink fluoridated water. The use of fluoride toothpaste in areas of endemic fluorosis is not recommended for children </a:t>
            </a:r>
            <a:r>
              <a:rPr lang="en-US" dirty="0" err="1"/>
              <a:t>upto</a:t>
            </a:r>
            <a:r>
              <a:rPr lang="en-US" dirty="0"/>
              <a:t> 6 years of age.</a:t>
            </a:r>
          </a:p>
        </p:txBody>
      </p:sp>
    </p:spTree>
    <p:extLst>
      <p:ext uri="{BB962C8B-B14F-4D97-AF65-F5344CB8AC3E}">
        <p14:creationId xmlns:p14="http://schemas.microsoft.com/office/powerpoint/2010/main" val="4230408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18CF3-8086-4C56-0AF3-54117124C061}"/>
              </a:ext>
            </a:extLst>
          </p:cNvPr>
          <p:cNvSpPr>
            <a:spLocks noGrp="1"/>
          </p:cNvSpPr>
          <p:nvPr>
            <p:ph type="title"/>
          </p:nvPr>
        </p:nvSpPr>
        <p:spPr/>
        <p:txBody>
          <a:bodyPr/>
          <a:lstStyle/>
          <a:p>
            <a:r>
              <a:rPr lang="en-US" dirty="0"/>
              <a:t>Lathyrism</a:t>
            </a:r>
          </a:p>
        </p:txBody>
      </p:sp>
      <p:sp>
        <p:nvSpPr>
          <p:cNvPr id="3" name="Content Placeholder 2">
            <a:extLst>
              <a:ext uri="{FF2B5EF4-FFF2-40B4-BE49-F238E27FC236}">
                <a16:creationId xmlns:a16="http://schemas.microsoft.com/office/drawing/2014/main" id="{9A4CBC2F-7971-ACA5-CFA0-4EACBFD1776A}"/>
              </a:ext>
            </a:extLst>
          </p:cNvPr>
          <p:cNvSpPr>
            <a:spLocks noGrp="1"/>
          </p:cNvSpPr>
          <p:nvPr>
            <p:ph idx="1"/>
          </p:nvPr>
        </p:nvSpPr>
        <p:spPr/>
        <p:txBody>
          <a:bodyPr>
            <a:normAutofit fontScale="92500" lnSpcReduction="20000"/>
          </a:bodyPr>
          <a:lstStyle/>
          <a:p>
            <a:r>
              <a:rPr lang="en-US" dirty="0"/>
              <a:t>Paralyzing disease of humans and animals.</a:t>
            </a:r>
          </a:p>
          <a:p>
            <a:r>
              <a:rPr lang="en-US" dirty="0"/>
              <a:t>In the humans it is referred to as </a:t>
            </a:r>
            <a:r>
              <a:rPr lang="en-US" dirty="0" err="1"/>
              <a:t>neurolathyrism</a:t>
            </a:r>
            <a:r>
              <a:rPr lang="en-US" dirty="0"/>
              <a:t> because it affects the nervous system, and in animals as </a:t>
            </a:r>
            <a:r>
              <a:rPr lang="en-US" dirty="0" err="1"/>
              <a:t>osteolathyrism</a:t>
            </a:r>
            <a:r>
              <a:rPr lang="en-US" dirty="0"/>
              <a:t> (</a:t>
            </a:r>
            <a:r>
              <a:rPr lang="en-US" dirty="0" err="1"/>
              <a:t>odoratism</a:t>
            </a:r>
            <a:r>
              <a:rPr lang="en-US" dirty="0"/>
              <a:t>) because the pathological changes occur in the bones resulting in skeletal deformities</a:t>
            </a:r>
          </a:p>
          <a:p>
            <a:r>
              <a:rPr lang="en-US" dirty="0" err="1"/>
              <a:t>Neurolathyrism</a:t>
            </a:r>
            <a:r>
              <a:rPr lang="en-US" dirty="0"/>
              <a:t> is a crippling disease of the nervous system characterized by gradually </a:t>
            </a:r>
            <a:r>
              <a:rPr lang="en-US" u="sng" dirty="0"/>
              <a:t>developing spastic paralysis of lower limbs</a:t>
            </a:r>
            <a:r>
              <a:rPr lang="en-US" dirty="0"/>
              <a:t>, occurring mostly in adults consuming the pulse, Lathyrus sativus (</a:t>
            </a:r>
            <a:r>
              <a:rPr lang="en-US" dirty="0" err="1"/>
              <a:t>Khesari</a:t>
            </a:r>
            <a:r>
              <a:rPr lang="en-US" dirty="0"/>
              <a:t> dal) in large quantities.</a:t>
            </a:r>
          </a:p>
          <a:p>
            <a:r>
              <a:rPr lang="en-US" dirty="0"/>
              <a:t>Diets containing over 30% of this dhal if taken over a period of 2-6 months will result in </a:t>
            </a:r>
            <a:r>
              <a:rPr lang="en-US" dirty="0" err="1"/>
              <a:t>neurolathyrism</a:t>
            </a:r>
            <a:r>
              <a:rPr lang="en-US" dirty="0"/>
              <a:t>.</a:t>
            </a:r>
          </a:p>
          <a:p>
            <a:r>
              <a:rPr lang="en-US" dirty="0"/>
              <a:t>Toxin - Beta oxalyl amino alanine (BOAA). It has been isolated in crystalline form and is water soluble</a:t>
            </a:r>
          </a:p>
        </p:txBody>
      </p:sp>
    </p:spTree>
    <p:extLst>
      <p:ext uri="{BB962C8B-B14F-4D97-AF65-F5344CB8AC3E}">
        <p14:creationId xmlns:p14="http://schemas.microsoft.com/office/powerpoint/2010/main" val="1706646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56E34-1770-F466-2C2A-D7AA0760E1A4}"/>
              </a:ext>
            </a:extLst>
          </p:cNvPr>
          <p:cNvSpPr>
            <a:spLocks noGrp="1"/>
          </p:cNvSpPr>
          <p:nvPr>
            <p:ph type="title"/>
          </p:nvPr>
        </p:nvSpPr>
        <p:spPr/>
        <p:txBody>
          <a:bodyPr/>
          <a:lstStyle/>
          <a:p>
            <a:r>
              <a:rPr lang="en-US" dirty="0"/>
              <a:t>Disease</a:t>
            </a:r>
          </a:p>
        </p:txBody>
      </p:sp>
      <p:sp>
        <p:nvSpPr>
          <p:cNvPr id="3" name="Content Placeholder 2">
            <a:extLst>
              <a:ext uri="{FF2B5EF4-FFF2-40B4-BE49-F238E27FC236}">
                <a16:creationId xmlns:a16="http://schemas.microsoft.com/office/drawing/2014/main" id="{24C9EF28-F315-6016-A286-184E4146E892}"/>
              </a:ext>
            </a:extLst>
          </p:cNvPr>
          <p:cNvSpPr>
            <a:spLocks noGrp="1"/>
          </p:cNvSpPr>
          <p:nvPr>
            <p:ph idx="1"/>
          </p:nvPr>
        </p:nvSpPr>
        <p:spPr>
          <a:xfrm>
            <a:off x="182879" y="1296786"/>
            <a:ext cx="11787447" cy="5561214"/>
          </a:xfrm>
        </p:spPr>
        <p:txBody>
          <a:bodyPr numCol="1">
            <a:normAutofit fontScale="92500" lnSpcReduction="20000"/>
          </a:bodyPr>
          <a:lstStyle/>
          <a:p>
            <a:r>
              <a:rPr lang="en-US" dirty="0"/>
              <a:t>15 – 45 years old</a:t>
            </a:r>
          </a:p>
          <a:p>
            <a:r>
              <a:rPr lang="en-US" dirty="0"/>
              <a:t>Latent stage : The individual is apparently healthy, but when subjected to physical stress exhibits ungainly gait.</a:t>
            </a:r>
          </a:p>
          <a:p>
            <a:pPr lvl="1"/>
            <a:r>
              <a:rPr lang="en-US" dirty="0"/>
              <a:t>At this stage, if the pulse is withdrawn from the diet, it will result in complete remission of the disease.</a:t>
            </a:r>
          </a:p>
          <a:p>
            <a:r>
              <a:rPr lang="en-US" dirty="0"/>
              <a:t>No-stick stage : the patient walks with short jerky steps without the aid of a stick. A large number of patients are found in this stage.</a:t>
            </a:r>
          </a:p>
          <a:p>
            <a:r>
              <a:rPr lang="en-US" dirty="0"/>
              <a:t>One-stick stage : The patient walks with a crossed gait with a tendency to walk on toes.</a:t>
            </a:r>
          </a:p>
          <a:p>
            <a:pPr lvl="1"/>
            <a:r>
              <a:rPr lang="en-US" dirty="0"/>
              <a:t>Muscular stiffness makes it necessary to use a stick to maintain balance, </a:t>
            </a:r>
          </a:p>
          <a:p>
            <a:r>
              <a:rPr lang="en-US" dirty="0"/>
              <a:t>Two-stick stage : the symptoms are more severe. Due to excessive bending of knees and crossed legs, the patient needs two crutches for support. </a:t>
            </a:r>
          </a:p>
          <a:p>
            <a:pPr lvl="1"/>
            <a:r>
              <a:rPr lang="en-US" dirty="0"/>
              <a:t>The gait is slow and clumsy and the patient gets tired easily after walking a short distance, </a:t>
            </a:r>
          </a:p>
          <a:p>
            <a:r>
              <a:rPr lang="en-US" dirty="0"/>
              <a:t>Crawler stage : Finally the erect posture becomes impossible as the knee joints cannot support the weight of the body. </a:t>
            </a:r>
          </a:p>
          <a:p>
            <a:pPr lvl="1"/>
            <a:r>
              <a:rPr lang="en-US" dirty="0"/>
              <a:t>There is atrophy of the thigh and leg muscles. </a:t>
            </a:r>
          </a:p>
          <a:p>
            <a:pPr lvl="1"/>
            <a:r>
              <a:rPr lang="en-US" dirty="0"/>
              <a:t>The patient is reduced to crawling by throwing his weight on his hands</a:t>
            </a:r>
          </a:p>
        </p:txBody>
      </p:sp>
    </p:spTree>
    <p:extLst>
      <p:ext uri="{BB962C8B-B14F-4D97-AF65-F5344CB8AC3E}">
        <p14:creationId xmlns:p14="http://schemas.microsoft.com/office/powerpoint/2010/main" val="2677642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5566F-E3A9-68E5-B141-C4128CE16024}"/>
              </a:ext>
            </a:extLst>
          </p:cNvPr>
          <p:cNvSpPr>
            <a:spLocks noGrp="1"/>
          </p:cNvSpPr>
          <p:nvPr>
            <p:ph type="title"/>
          </p:nvPr>
        </p:nvSpPr>
        <p:spPr/>
        <p:txBody>
          <a:bodyPr/>
          <a:lstStyle/>
          <a:p>
            <a:r>
              <a:rPr lang="en-US" dirty="0"/>
              <a:t>Interventions</a:t>
            </a:r>
          </a:p>
        </p:txBody>
      </p:sp>
      <p:sp>
        <p:nvSpPr>
          <p:cNvPr id="3" name="Content Placeholder 2">
            <a:extLst>
              <a:ext uri="{FF2B5EF4-FFF2-40B4-BE49-F238E27FC236}">
                <a16:creationId xmlns:a16="http://schemas.microsoft.com/office/drawing/2014/main" id="{42B57CA2-77AC-AC07-4A1C-00504B4BD75B}"/>
              </a:ext>
            </a:extLst>
          </p:cNvPr>
          <p:cNvSpPr>
            <a:spLocks noGrp="1"/>
          </p:cNvSpPr>
          <p:nvPr>
            <p:ph idx="1"/>
          </p:nvPr>
        </p:nvSpPr>
        <p:spPr/>
        <p:txBody>
          <a:bodyPr/>
          <a:lstStyle/>
          <a:p>
            <a:r>
              <a:rPr lang="en-US" dirty="0"/>
              <a:t>Vitamin C Prophylaxis - damages could be repaired by the daily administration of 500-1000 mg of ascorbic acid for a week or so. The damage could also be prevented by generous provision of ascorbic acid in the </a:t>
            </a:r>
            <a:r>
              <a:rPr lang="en-US" dirty="0" err="1"/>
              <a:t>lathyrogenic</a:t>
            </a:r>
            <a:r>
              <a:rPr lang="en-US" dirty="0"/>
              <a:t> diet.</a:t>
            </a:r>
          </a:p>
          <a:p>
            <a:r>
              <a:rPr lang="en-US" dirty="0"/>
              <a:t>Banning the crop</a:t>
            </a:r>
          </a:p>
          <a:p>
            <a:r>
              <a:rPr lang="en-US" dirty="0"/>
              <a:t>Removal of toxins</a:t>
            </a:r>
          </a:p>
          <a:p>
            <a:pPr lvl="1"/>
            <a:r>
              <a:rPr lang="en-US" dirty="0"/>
              <a:t>Steeping – soaking for 2 hours, washing then drying</a:t>
            </a:r>
          </a:p>
          <a:p>
            <a:pPr lvl="1"/>
            <a:r>
              <a:rPr lang="en-US" dirty="0"/>
              <a:t>Parboiling</a:t>
            </a:r>
          </a:p>
          <a:p>
            <a:pPr lvl="1"/>
            <a:r>
              <a:rPr lang="en-US" dirty="0"/>
              <a:t>Education</a:t>
            </a:r>
          </a:p>
          <a:p>
            <a:pPr lvl="1"/>
            <a:r>
              <a:rPr lang="en-US" dirty="0"/>
              <a:t>Genetic approach</a:t>
            </a:r>
          </a:p>
        </p:txBody>
      </p:sp>
    </p:spTree>
    <p:extLst>
      <p:ext uri="{BB962C8B-B14F-4D97-AF65-F5344CB8AC3E}">
        <p14:creationId xmlns:p14="http://schemas.microsoft.com/office/powerpoint/2010/main" val="1061236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D2B1F-B8B8-40AE-B118-073D502A3D5F}"/>
              </a:ext>
            </a:extLst>
          </p:cNvPr>
          <p:cNvSpPr>
            <a:spLocks noGrp="1"/>
          </p:cNvSpPr>
          <p:nvPr>
            <p:ph type="title"/>
          </p:nvPr>
        </p:nvSpPr>
        <p:spPr/>
        <p:txBody>
          <a:bodyPr/>
          <a:lstStyle/>
          <a:p>
            <a:r>
              <a:rPr lang="en-US" dirty="0"/>
              <a:t>Food Borne Diseases</a:t>
            </a:r>
          </a:p>
        </p:txBody>
      </p:sp>
      <p:sp>
        <p:nvSpPr>
          <p:cNvPr id="3" name="Content Placeholder 2">
            <a:extLst>
              <a:ext uri="{FF2B5EF4-FFF2-40B4-BE49-F238E27FC236}">
                <a16:creationId xmlns:a16="http://schemas.microsoft.com/office/drawing/2014/main" id="{EF0B9D7C-8169-AAF7-00F2-5CBBD8D08D3F}"/>
              </a:ext>
            </a:extLst>
          </p:cNvPr>
          <p:cNvSpPr>
            <a:spLocks noGrp="1"/>
          </p:cNvSpPr>
          <p:nvPr>
            <p:ph idx="1"/>
          </p:nvPr>
        </p:nvSpPr>
        <p:spPr>
          <a:xfrm>
            <a:off x="149629" y="1313410"/>
            <a:ext cx="11920451" cy="5037513"/>
          </a:xfrm>
        </p:spPr>
        <p:txBody>
          <a:bodyPr numCol="2">
            <a:normAutofit fontScale="92500" lnSpcReduction="20000"/>
          </a:bodyPr>
          <a:lstStyle/>
          <a:p>
            <a:r>
              <a:rPr lang="en-US" dirty="0"/>
              <a:t>Food-borne intoxications</a:t>
            </a:r>
          </a:p>
          <a:p>
            <a:pPr lvl="1"/>
            <a:r>
              <a:rPr lang="en-US" dirty="0"/>
              <a:t>Due to naturally occurring toxins in some foods:</a:t>
            </a:r>
          </a:p>
          <a:p>
            <a:pPr lvl="2"/>
            <a:r>
              <a:rPr lang="en-US" dirty="0"/>
              <a:t>Lathyrism (beta oxalyl amino-alanine)</a:t>
            </a:r>
          </a:p>
          <a:p>
            <a:pPr lvl="2"/>
            <a:r>
              <a:rPr lang="en-US" dirty="0"/>
              <a:t>Endemic </a:t>
            </a:r>
            <a:r>
              <a:rPr lang="en-US" dirty="0" err="1"/>
              <a:t>ascitis</a:t>
            </a:r>
            <a:r>
              <a:rPr lang="en-US" dirty="0"/>
              <a:t> (Pyrrolizidine alkaloids).</a:t>
            </a:r>
          </a:p>
          <a:p>
            <a:pPr lvl="1"/>
            <a:r>
              <a:rPr lang="en-US" dirty="0"/>
              <a:t>Due to toxins produced by certain bacteria:</a:t>
            </a:r>
          </a:p>
          <a:p>
            <a:pPr lvl="2"/>
            <a:r>
              <a:rPr lang="en-US" dirty="0"/>
              <a:t>Botulism</a:t>
            </a:r>
          </a:p>
          <a:p>
            <a:pPr lvl="2"/>
            <a:r>
              <a:rPr lang="en-US" dirty="0" err="1"/>
              <a:t>Staphyloccus</a:t>
            </a:r>
            <a:r>
              <a:rPr lang="en-US" dirty="0"/>
              <a:t> poisons</a:t>
            </a:r>
          </a:p>
          <a:p>
            <a:pPr lvl="1"/>
            <a:r>
              <a:rPr lang="en-US" dirty="0"/>
              <a:t>3. Due to toxins produced by some fungi :</a:t>
            </a:r>
          </a:p>
          <a:p>
            <a:pPr lvl="2"/>
            <a:r>
              <a:rPr lang="en-US" dirty="0"/>
              <a:t>Aflatoxin</a:t>
            </a:r>
          </a:p>
          <a:p>
            <a:pPr lvl="2"/>
            <a:r>
              <a:rPr lang="en-US" dirty="0"/>
              <a:t>Ergot</a:t>
            </a:r>
          </a:p>
          <a:p>
            <a:pPr lvl="2"/>
            <a:r>
              <a:rPr lang="en-US" dirty="0"/>
              <a:t>Fusarium toxins</a:t>
            </a:r>
          </a:p>
          <a:p>
            <a:pPr lvl="1"/>
            <a:r>
              <a:rPr lang="en-US" dirty="0"/>
              <a:t>4. Food-borne chemical poisoning:</a:t>
            </a:r>
          </a:p>
          <a:p>
            <a:pPr lvl="2"/>
            <a:r>
              <a:rPr lang="en-US" dirty="0"/>
              <a:t>Heavy metals, e.g., mercury (usually in fish), cadmium (in certain shellfish) and lead (in canned food)</a:t>
            </a:r>
          </a:p>
          <a:p>
            <a:pPr lvl="2"/>
            <a:r>
              <a:rPr lang="en-US" dirty="0"/>
              <a:t>Oils, petroleum derivatives and solvents (e.g., </a:t>
            </a:r>
            <a:r>
              <a:rPr lang="en-US" dirty="0" err="1"/>
              <a:t>Trycresyn</a:t>
            </a:r>
            <a:r>
              <a:rPr lang="en-US" dirty="0"/>
              <a:t> phosphate or TCP)</a:t>
            </a:r>
          </a:p>
          <a:p>
            <a:pPr lvl="2"/>
            <a:r>
              <a:rPr lang="en-US" dirty="0"/>
              <a:t>Migrant chemicals from package materials</a:t>
            </a:r>
          </a:p>
          <a:p>
            <a:pPr lvl="2"/>
            <a:r>
              <a:rPr lang="en-US" dirty="0"/>
              <a:t>Asbestos</a:t>
            </a:r>
          </a:p>
          <a:p>
            <a:pPr lvl="2"/>
            <a:r>
              <a:rPr lang="en-US" dirty="0"/>
              <a:t>Pesticide residues (DDT, BHC)</a:t>
            </a:r>
          </a:p>
          <a:p>
            <a:r>
              <a:rPr lang="en-US" dirty="0"/>
              <a:t>Food-borne infections</a:t>
            </a:r>
          </a:p>
          <a:p>
            <a:r>
              <a:rPr lang="en-US" dirty="0"/>
              <a:t>Bacterial diseases</a:t>
            </a:r>
          </a:p>
          <a:p>
            <a:pPr lvl="1"/>
            <a:r>
              <a:rPr lang="en-US" dirty="0"/>
              <a:t>Typhoid fever, Paratyphoid fever, Salmonellosis, Staphylococcal intoxication, </a:t>
            </a:r>
            <a:r>
              <a:rPr lang="en-US" dirty="0" err="1"/>
              <a:t>Cl.perfringens</a:t>
            </a:r>
            <a:r>
              <a:rPr lang="en-US" dirty="0"/>
              <a:t> illness, Botulism, </a:t>
            </a:r>
            <a:r>
              <a:rPr lang="en-US" dirty="0" err="1"/>
              <a:t>B.cereus</a:t>
            </a:r>
            <a:r>
              <a:rPr lang="en-US" dirty="0"/>
              <a:t> Food Poisoning, E.coli </a:t>
            </a:r>
            <a:r>
              <a:rPr lang="en-US" dirty="0" err="1"/>
              <a:t>diarrhoea</a:t>
            </a:r>
            <a:r>
              <a:rPr lang="en-US" dirty="0"/>
              <a:t>, Non-cholera vibrio </a:t>
            </a:r>
            <a:r>
              <a:rPr lang="en-US" dirty="0" err="1"/>
              <a:t>illness,V.parahaemolyticus</a:t>
            </a:r>
            <a:r>
              <a:rPr lang="en-US" dirty="0"/>
              <a:t> infection. Streptococcal infection, Shigellosis Brucellosis.</a:t>
            </a:r>
          </a:p>
          <a:p>
            <a:r>
              <a:rPr lang="en-US" dirty="0"/>
              <a:t>Viral diseases</a:t>
            </a:r>
          </a:p>
          <a:p>
            <a:pPr lvl="1"/>
            <a:r>
              <a:rPr lang="pt-BR" dirty="0"/>
              <a:t>Hepatitis A and E, Norovirus Gastroenteritis.</a:t>
            </a:r>
            <a:endParaRPr lang="en-US" dirty="0"/>
          </a:p>
          <a:p>
            <a:r>
              <a:rPr lang="en-US" dirty="0"/>
              <a:t>Parasites</a:t>
            </a:r>
          </a:p>
          <a:p>
            <a:pPr lvl="1"/>
            <a:r>
              <a:rPr lang="en-US" dirty="0"/>
              <a:t>Taeniasis </a:t>
            </a:r>
            <a:r>
              <a:rPr lang="en-US" dirty="0" err="1"/>
              <a:t>Hydatidosis</a:t>
            </a:r>
            <a:r>
              <a:rPr lang="en-US" dirty="0"/>
              <a:t>, Trichinosis, Ascariasis, Amoebiasis, </a:t>
            </a:r>
            <a:r>
              <a:rPr lang="en-US" dirty="0" err="1"/>
              <a:t>Oxyuriasis</a:t>
            </a:r>
            <a:endParaRPr lang="en-US" dirty="0"/>
          </a:p>
        </p:txBody>
      </p:sp>
    </p:spTree>
    <p:extLst>
      <p:ext uri="{BB962C8B-B14F-4D97-AF65-F5344CB8AC3E}">
        <p14:creationId xmlns:p14="http://schemas.microsoft.com/office/powerpoint/2010/main" val="596772193"/>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docProps/app.xml><?xml version="1.0" encoding="utf-8"?>
<Properties xmlns="http://schemas.openxmlformats.org/officeDocument/2006/extended-properties" xmlns:vt="http://schemas.openxmlformats.org/officeDocument/2006/docPropsVTypes">
  <TotalTime>133</TotalTime>
  <Words>1855</Words>
  <Application>Microsoft Office PowerPoint</Application>
  <PresentationFormat>Widescreen</PresentationFormat>
  <Paragraphs>161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Times New Roman</vt:lpstr>
      <vt:lpstr>Wingdings</vt:lpstr>
      <vt:lpstr>FunkyShapesDarkVTI</vt:lpstr>
      <vt:lpstr>Nutrition</vt:lpstr>
      <vt:lpstr>Problems in public health</vt:lpstr>
      <vt:lpstr>Low Birth Weight</vt:lpstr>
      <vt:lpstr>Under – Nutrition (stunting, wasting &amp; underweight)</vt:lpstr>
      <vt:lpstr>Under nutrition</vt:lpstr>
      <vt:lpstr>Under nutrition</vt:lpstr>
      <vt:lpstr>PowerPoint Presentation</vt:lpstr>
      <vt:lpstr>PowerPoint Presentation</vt:lpstr>
      <vt:lpstr>Xerophthalmia (dry eye)</vt:lpstr>
      <vt:lpstr>Programme </vt:lpstr>
      <vt:lpstr>IDD</vt:lpstr>
      <vt:lpstr>Endemic Fluorosis</vt:lpstr>
      <vt:lpstr>Intervention</vt:lpstr>
      <vt:lpstr>Lathyrism</vt:lpstr>
      <vt:lpstr>Disease</vt:lpstr>
      <vt:lpstr>Interventions</vt:lpstr>
      <vt:lpstr>Food Borne Diseases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Nutrition</dc:title>
  <dc:creator>mukul maheshwari</dc:creator>
  <cp:lastModifiedBy>mukul maheshwari</cp:lastModifiedBy>
  <cp:revision>1</cp:revision>
  <dcterms:created xsi:type="dcterms:W3CDTF">2024-01-19T19:14:50Z</dcterms:created>
  <dcterms:modified xsi:type="dcterms:W3CDTF">2024-01-19T21:28:47Z</dcterms:modified>
</cp:coreProperties>
</file>