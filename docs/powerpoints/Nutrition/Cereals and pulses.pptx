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0" r:id="rId11"/>
    <p:sldId id="265" r:id="rId12"/>
    <p:sldId id="282" r:id="rId13"/>
    <p:sldId id="267" r:id="rId14"/>
    <p:sldId id="281" r:id="rId15"/>
    <p:sldId id="266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3" r:id="rId27"/>
    <p:sldId id="27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 /><Relationship Id="rId1" Type="http://schemas.openxmlformats.org/officeDocument/2006/relationships/slideLayout" Target="../slideLayouts/slideLayout7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A93A0-9046-CF73-9948-497B754BE1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CEREALS &amp; PULSES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935BE-617A-EB88-1683-76E8C2D554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7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545FD-451A-B277-281A-953643721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63483"/>
            <a:ext cx="9601200" cy="1736087"/>
          </a:xfrm>
        </p:spPr>
        <p:txBody>
          <a:bodyPr/>
          <a:lstStyle/>
          <a:p>
            <a:r>
              <a:rPr lang="en-IN" b="1" dirty="0"/>
              <a:t>Cereals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37A36-506A-0BA6-DF62-EAD37318E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3040425"/>
            <a:ext cx="9601200" cy="3581400"/>
          </a:xfrm>
        </p:spPr>
        <p:txBody>
          <a:bodyPr>
            <a:normAutofit/>
          </a:bodyPr>
          <a:lstStyle/>
          <a:p>
            <a:r>
              <a:rPr lang="en-IN" sz="2400" dirty="0"/>
              <a:t>They are cultivated for seeds which provide a staple food for humans
Different cereals are better grown in different regions of the globe
Wheat &amp; Barley in temperate regions of Europe &amp; Asia
Rye &amp; oats in Northern &amp; Eastern Europe</a:t>
            </a:r>
          </a:p>
          <a:p>
            <a:r>
              <a:rPr lang="en-IN" sz="2400" dirty="0"/>
              <a:t>Rice in wetter warm temperate &amp; subtropical part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7C6A3D-3F76-EE65-7873-6C07E215E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483" y="0"/>
            <a:ext cx="4666772" cy="293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180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6BF00-8BC7-B805-9207-25C0EE465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Importance of Cereals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8AD0B-E73B-41D6-3637-E6BF2B410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The are pleasant to eat &amp; have no dominant or unpleasant </a:t>
            </a:r>
            <a:r>
              <a:rPr lang="en-IN" sz="2800" dirty="0" err="1"/>
              <a:t>flavor</a:t>
            </a:r>
            <a:r>
              <a:rPr lang="en-IN" sz="2800" dirty="0"/>
              <a:t>. They are best energy food
 It could be easily be prepared into wide variety of products- flour, biscuits, pasta, noodles &amp; breakfast cereals
 They are inexpensive as compared with foods of animal origin
Ripened grains could be easily preserved &amp; transported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D9A367-1560-082B-F1DD-4B95FA35B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9145" y="58704"/>
            <a:ext cx="3598163" cy="215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73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E7AF0-B5E0-566A-E29F-8193722B8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Wheat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EBEA6-494A-1CF3-BB1B-0FABAEB60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/>
              <a:t>It is grown for milling into flour </a:t>
            </a:r>
          </a:p>
          <a:p>
            <a:r>
              <a:rPr lang="en-IN" sz="2400" dirty="0"/>
              <a:t>Characteristic of flour depends upon how wheat is grown &amp; climate</a:t>
            </a:r>
          </a:p>
          <a:p>
            <a:r>
              <a:rPr lang="en-IN" sz="2400" dirty="0"/>
              <a:t>Types of flour</a:t>
            </a:r>
          </a:p>
          <a:p>
            <a:pPr lvl="1"/>
            <a:r>
              <a:rPr lang="en-IN" sz="2400" dirty="0"/>
              <a:t>Soft flour-Cakes, biscuits except puff &amp; flaky pastry
Strong flour – bread, puff and flaky pastry Whole meal flour – whole meal bread &amp; roll</a:t>
            </a:r>
          </a:p>
          <a:p>
            <a:pPr marL="530352" lvl="1" indent="0">
              <a:buNone/>
            </a:pPr>
            <a:r>
              <a:rPr lang="en-IN" sz="2400" dirty="0"/>
              <a:t>Hard wheat contains around 11-18 percent protein </a:t>
            </a:r>
          </a:p>
          <a:p>
            <a:pPr marL="530352" lvl="1" indent="0">
              <a:buNone/>
            </a:pPr>
            <a:r>
              <a:rPr lang="en-IN" sz="2400" dirty="0"/>
              <a:t>Soft wheat contains around 8 to 11 percent protein </a:t>
            </a:r>
          </a:p>
          <a:p>
            <a:pPr marL="530352" lvl="1" indent="0">
              <a:buNone/>
            </a:pPr>
            <a:r>
              <a:rPr lang="en-IN" sz="2400" dirty="0"/>
              <a:t>Durum wheat containing 14-18 percent protein is used for making pastas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7D5124-EBD5-C036-443F-FFAD3DC66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922" y="-53173"/>
            <a:ext cx="4081170" cy="249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617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E216C-A84A-4693-C16F-E70BA29E2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Semolina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E5DB3-18C5-0DB6-1E8B-AC83062E2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199" y="2131063"/>
            <a:ext cx="6119785" cy="3581400"/>
          </a:xfrm>
        </p:spPr>
        <p:txBody>
          <a:bodyPr>
            <a:normAutofit/>
          </a:bodyPr>
          <a:lstStyle/>
          <a:p>
            <a:r>
              <a:rPr lang="en-IN" sz="2400" dirty="0"/>
              <a:t>Crushed (not rolled) endosperm of wheat</a:t>
            </a:r>
          </a:p>
          <a:p>
            <a:r>
              <a:rPr lang="en-IN" sz="2400" dirty="0"/>
              <a:t> Used for preparing Gnocchi, for thickening soups, in preparation of pasta &amp; in milk puddings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F16811-59F9-C7EE-AE4C-804BBBE4F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985" y="1458707"/>
            <a:ext cx="4213118" cy="421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659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EF42-1CDE-C757-8594-035776639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063466"/>
            <a:ext cx="9601200" cy="1108233"/>
          </a:xfrm>
        </p:spPr>
        <p:txBody>
          <a:bodyPr/>
          <a:lstStyle/>
          <a:p>
            <a:r>
              <a:rPr lang="en-IN" b="1" dirty="0"/>
              <a:t>Barley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9238B-26B0-4F7F-B4A3-8037C0D3C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4316" y="2829777"/>
            <a:ext cx="9601200" cy="3581400"/>
          </a:xfrm>
        </p:spPr>
        <p:txBody>
          <a:bodyPr>
            <a:normAutofit/>
          </a:bodyPr>
          <a:lstStyle/>
          <a:p>
            <a:r>
              <a:rPr lang="en-IN" sz="2800" dirty="0"/>
              <a:t>Barley is rich in starch and sugar, and low in fat and protein
The grain has rich nut like flavour &amp; has an appealing chewy pasta consistency
The whole grain of barley is known as pot or Scotch barley &amp; requires soaking overnight
Barley when roasted changes into malt &amp; is used in brewing &amp; distilling of vinegar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7C32EF-3E70-199B-F917-FC019403E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556" y="275248"/>
            <a:ext cx="5335941" cy="255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505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F204A-2188-03D1-A5CE-C68658E4C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447" y="1003931"/>
            <a:ext cx="9601200" cy="1485900"/>
          </a:xfrm>
        </p:spPr>
        <p:txBody>
          <a:bodyPr/>
          <a:lstStyle/>
          <a:p>
            <a:r>
              <a:rPr lang="en-IN" b="1" dirty="0"/>
              <a:t>Maize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9D1C6-2A03-0206-4DD7-4EA692040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808854"/>
            <a:ext cx="9601200" cy="3581400"/>
          </a:xfrm>
        </p:spPr>
        <p:txBody>
          <a:bodyPr>
            <a:normAutofit/>
          </a:bodyPr>
          <a:lstStyle/>
          <a:p>
            <a:r>
              <a:rPr lang="en-IN" sz="2800" dirty="0"/>
              <a:t> It is also known as corn, sweet corn or corn on cob 
Young &amp; tender maize is eaten as a vegetable (sweet corn)
Whole corn is processed as breakfast cereal
Fully ripened maize is ground into flour used as thickening agent (corn flour)</a:t>
            </a:r>
          </a:p>
          <a:p>
            <a:r>
              <a:rPr lang="en-IN" sz="2800" dirty="0"/>
              <a:t>It also yields oil suitable for cooking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4D0D91-6F63-9B09-0476-553439ACD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244" y="48646"/>
            <a:ext cx="3970490" cy="276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824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E40B5-5FD7-5C4E-911B-BAA38449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018020"/>
            <a:ext cx="9601200" cy="1153680"/>
          </a:xfrm>
        </p:spPr>
        <p:txBody>
          <a:bodyPr/>
          <a:lstStyle/>
          <a:p>
            <a:r>
              <a:rPr lang="en-IN" b="1" dirty="0"/>
              <a:t>Rye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2789F-E453-BF71-A77C-1C5F79BA2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290" y="2969495"/>
            <a:ext cx="9601200" cy="3581400"/>
          </a:xfrm>
        </p:spPr>
        <p:txBody>
          <a:bodyPr>
            <a:normAutofit/>
          </a:bodyPr>
          <a:lstStyle/>
          <a:p>
            <a:r>
              <a:rPr lang="en-IN" sz="2800" dirty="0"/>
              <a:t>It is only cereal other than wheat containing gluten
The dough produced from rye flour sticky dense consistency and the baked product has a low volume</a:t>
            </a:r>
          </a:p>
          <a:p>
            <a:r>
              <a:rPr lang="en-IN" sz="2800" dirty="0"/>
              <a:t>The bread is dark in colour &amp; close in texture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A70922-2247-ADD2-3734-1B221E342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514" y="77336"/>
            <a:ext cx="5150420" cy="289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035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6E57B-D01A-0C5D-65A0-2DC9C1A15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952" y="1185720"/>
            <a:ext cx="9601200" cy="1485900"/>
          </a:xfrm>
        </p:spPr>
        <p:txBody>
          <a:bodyPr/>
          <a:lstStyle/>
          <a:p>
            <a:r>
              <a:rPr lang="en-IN" b="1" dirty="0"/>
              <a:t>Oats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922DA-9AF1-4852-8269-84200CAB3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092690"/>
            <a:ext cx="9601200" cy="3581400"/>
          </a:xfrm>
        </p:spPr>
        <p:txBody>
          <a:bodyPr>
            <a:normAutofit/>
          </a:bodyPr>
          <a:lstStyle/>
          <a:p>
            <a:r>
              <a:rPr lang="en-IN" sz="2800" dirty="0"/>
              <a:t>Have a high protein and fat content but no gluten for which it is unsuitable for bread making 
Highest food value of any of the cereals
Used for making biscuits, cakes &amp; porridge
Oat meal is used for preparing ginger bread &amp; oat cakes
Oat flakes are mainly used for making porridge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6BFC33-1579-D2C6-B204-F253BB4AB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570" y="60446"/>
            <a:ext cx="3854419" cy="309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741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DAA895-0C32-8981-98AC-E44E6C8753E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073949" y="452202"/>
            <a:ext cx="8506185" cy="5953595"/>
          </a:xfrm>
        </p:spPr>
      </p:pic>
    </p:spTree>
    <p:extLst>
      <p:ext uri="{BB962C8B-B14F-4D97-AF65-F5344CB8AC3E}">
        <p14:creationId xmlns:p14="http://schemas.microsoft.com/office/powerpoint/2010/main" val="3229785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ED49-0EC4-83B5-7243-81691DB3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Rice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52CF2-27FA-AA45-6CB5-9AFE27BA0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/>
              <a:t>It is least nutritious of all cereals, containing more starch &amp; less protein, fat, and minerals</a:t>
            </a:r>
          </a:p>
          <a:p>
            <a:r>
              <a:rPr lang="en-IN" sz="2400" dirty="0"/>
              <a:t>Rice is eaten white after removal of bran &amp; germ</a:t>
            </a:r>
          </a:p>
          <a:p>
            <a:pPr marL="0" indent="0">
              <a:buNone/>
            </a:pPr>
            <a:r>
              <a:rPr lang="en-IN" sz="2400" dirty="0"/>
              <a:t>Types</a:t>
            </a:r>
          </a:p>
          <a:p>
            <a:pPr lvl="1"/>
            <a:r>
              <a:rPr lang="en-IN" sz="2400" dirty="0"/>
              <a:t>Long grain- narrow pointed grain for plain boiled rice
Medium Grain –all purpose rice suitable for sweet &amp; savoury dishes
Short grain- a short round grain best suited for milk puddings
Brown rice –Whole grain of rice with only the outer husk removed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068E7D-C709-CEB9-1CAE-00ADBB68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827" y="7814"/>
            <a:ext cx="4820734" cy="228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75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07A2AA-770B-2931-43C8-833220AE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232" y="403845"/>
            <a:ext cx="8893535" cy="582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76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E9FA-0E25-FEF6-DFFB-4FF4F45E4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Millet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C0739-FED9-5308-C76A-EBE762BCF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6308996" cy="3581400"/>
          </a:xfrm>
        </p:spPr>
        <p:txBody>
          <a:bodyPr>
            <a:normAutofit/>
          </a:bodyPr>
          <a:lstStyle/>
          <a:p>
            <a:r>
              <a:rPr lang="en-IN" sz="2400" dirty="0"/>
              <a:t>It is highly nutritious, non glutinous
It is mildly sweet, nut like flavour and contains </a:t>
            </a:r>
            <a:r>
              <a:rPr lang="en-IN" sz="2400" dirty="0" err="1"/>
              <a:t>approx</a:t>
            </a:r>
            <a:r>
              <a:rPr lang="en-IN" sz="2400" dirty="0"/>
              <a:t> 15% protein
It contains a high amount of </a:t>
            </a:r>
            <a:r>
              <a:rPr lang="en-IN" sz="2400" dirty="0" err="1"/>
              <a:t>fiber</a:t>
            </a:r>
            <a:r>
              <a:rPr lang="en-IN" sz="2400" dirty="0"/>
              <a:t> &amp; minerals
Used to make flat bread &amp; griddle cakes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B46F8-F087-E366-C24E-6C3EABBD2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087" y="1577896"/>
            <a:ext cx="4193913" cy="419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63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EC4781-F9BB-0DE7-FEB2-28822AFA2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152" y="360382"/>
            <a:ext cx="9529797" cy="613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7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3419C-F47E-FF31-1134-C0E86B030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Products</a:t>
            </a:r>
            <a:endParaRPr lang="en-US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BA5367E-3961-3247-2FB1-53FFBD3FDE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4223" y="1374213"/>
            <a:ext cx="8336177" cy="5273516"/>
          </a:xfrm>
        </p:spPr>
      </p:pic>
    </p:spTree>
    <p:extLst>
      <p:ext uri="{BB962C8B-B14F-4D97-AF65-F5344CB8AC3E}">
        <p14:creationId xmlns:p14="http://schemas.microsoft.com/office/powerpoint/2010/main" val="3831631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0060-32C3-E584-1737-B2DBCFDE1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Pulses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25C6A-B3AA-3BEC-1638-E2048797B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300"/>
            <a:ext cx="9601200" cy="3581400"/>
          </a:xfrm>
        </p:spPr>
        <p:txBody>
          <a:bodyPr>
            <a:normAutofit/>
          </a:bodyPr>
          <a:lstStyle/>
          <a:p>
            <a:r>
              <a:rPr lang="en-IN" sz="2800" dirty="0"/>
              <a:t>An edible seed from plants belonging to the legume family </a:t>
            </a:r>
          </a:p>
          <a:p>
            <a:r>
              <a:rPr lang="en-IN" sz="2800" dirty="0"/>
              <a:t>Pulses are defined as annual leguminous crops yielding from one to twelve grains or seeds of variable size, shape and colour within a pod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123BCB-B116-5BC0-B74E-2510A22DB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353" y="3429000"/>
            <a:ext cx="5070128" cy="338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604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F65D7-490F-8417-D4CC-D5168F66E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Adukhi</a:t>
            </a:r>
            <a:r>
              <a:rPr lang="en-IN" b="1" dirty="0"/>
              <a:t> Beans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640BF-7B99-DFC2-446D-464358EC9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006" y="1854553"/>
            <a:ext cx="6890722" cy="3581400"/>
          </a:xfrm>
        </p:spPr>
        <p:txBody>
          <a:bodyPr>
            <a:normAutofit/>
          </a:bodyPr>
          <a:lstStyle/>
          <a:p>
            <a:r>
              <a:rPr lang="en-IN" sz="2400" dirty="0"/>
              <a:t>Also known as adzuki beans, these tiny, deep red beans have a sweet, nutty flavour &amp; are popular in Oriental dishes</a:t>
            </a:r>
          </a:p>
          <a:p>
            <a:r>
              <a:rPr lang="en-IN" sz="2400" dirty="0"/>
              <a:t>Are cooked quickly &amp; used in casseroles &amp; bakes
Ground into flour &amp; used in </a:t>
            </a:r>
            <a:r>
              <a:rPr lang="en-IN" sz="2400" dirty="0" err="1"/>
              <a:t>cakes,bread</a:t>
            </a:r>
            <a:r>
              <a:rPr lang="en-IN" sz="2400" dirty="0"/>
              <a:t> &amp; pastries
Ex-adzuki bean miso soup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7E8D9E-55DE-3479-A94B-7D4F1FC75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727" y="1781912"/>
            <a:ext cx="4171685" cy="417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973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3ED4C-9D6C-4818-C8C0-011016D6B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Black Beans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6CF5F-02B4-3B97-361F-5D9237801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Shiny black, kidney –shaped, sweetish flavour
Used in Caribbean dishes
Used in soup preparation &amp; bean salads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37BDBE-97FA-45C1-8E9C-2D8F7C32C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392" y="3856457"/>
            <a:ext cx="4502314" cy="300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0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7771-CE03-021C-7CC3-42CC02D6C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Haricot beans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8BC62-E6D8-EEA7-75DA-3274DD4E6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844798" cy="3581400"/>
          </a:xfrm>
        </p:spPr>
        <p:txBody>
          <a:bodyPr>
            <a:normAutofit/>
          </a:bodyPr>
          <a:lstStyle/>
          <a:p>
            <a:r>
              <a:rPr lang="en-IN" sz="2800" dirty="0"/>
              <a:t>The beans are roughly oval shaped and flattened, with a pure white edible skin.</a:t>
            </a:r>
          </a:p>
          <a:p>
            <a:r>
              <a:rPr lang="en-IN" sz="2800" dirty="0"/>
              <a:t>The flavour of haricot beans is relatively bland, although the beans are rich in protein</a:t>
            </a:r>
          </a:p>
          <a:p>
            <a:r>
              <a:rPr lang="en-IN" sz="2800" dirty="0"/>
              <a:t>Commonly used for canned baked dishes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15BE50-D581-3E7E-DC16-0161FD01B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053" y="3926648"/>
            <a:ext cx="4066948" cy="279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038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0B81E-6F37-9B15-05DF-32B9AB9EC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510" y="1103916"/>
            <a:ext cx="9601200" cy="1485900"/>
          </a:xfrm>
        </p:spPr>
        <p:txBody>
          <a:bodyPr/>
          <a:lstStyle/>
          <a:p>
            <a:r>
              <a:rPr lang="en-IN" b="1" dirty="0"/>
              <a:t>Chick peas (Bengal Gram)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13A5B-0318-E580-5FA6-906C17A8C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687157"/>
            <a:ext cx="7400188" cy="3581400"/>
          </a:xfrm>
        </p:spPr>
        <p:txBody>
          <a:bodyPr>
            <a:normAutofit/>
          </a:bodyPr>
          <a:lstStyle/>
          <a:p>
            <a:r>
              <a:rPr lang="en-IN" sz="2400" dirty="0"/>
              <a:t>Also known as garbanzo beans, robust &amp; hearty chick- peas have a delicious nutty flavour &amp; creamy texture</a:t>
            </a:r>
          </a:p>
          <a:p>
            <a:r>
              <a:rPr lang="en-IN" sz="2400" dirty="0"/>
              <a:t>Two varieties are available</a:t>
            </a:r>
          </a:p>
          <a:p>
            <a:pPr lvl="1"/>
            <a:r>
              <a:rPr lang="en-IN" sz="2400" dirty="0"/>
              <a:t>Desi, which has small, darker seeds and a rough coat
Kabuli, which has lighter coloured, larger seeds and a smoother coat</a:t>
            </a:r>
          </a:p>
          <a:p>
            <a:r>
              <a:rPr lang="en-IN" sz="2400" dirty="0"/>
              <a:t>They are ground into flour to make flat bread &amp; fritters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56CC2-DA74-5111-3656-6A653DA29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588" y="1463403"/>
            <a:ext cx="3311594" cy="268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486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633D0-E4A2-E25C-7FDA-A7CA2CAA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Kidney beans (</a:t>
            </a:r>
            <a:r>
              <a:rPr lang="en-IN" b="1" dirty="0" err="1"/>
              <a:t>Rajmah</a:t>
            </a:r>
            <a:r>
              <a:rPr lang="en-IN" b="1" dirty="0"/>
              <a:t>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0EB4D-1AFD-E358-5714-A5BAC8AA1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6510554" cy="3581400"/>
          </a:xfrm>
        </p:spPr>
        <p:txBody>
          <a:bodyPr>
            <a:normAutofit/>
          </a:bodyPr>
          <a:lstStyle/>
          <a:p>
            <a:r>
              <a:rPr lang="en-IN" sz="2800" dirty="0" err="1"/>
              <a:t>Glossy,mahogany</a:t>
            </a:r>
            <a:r>
              <a:rPr lang="en-IN" sz="2800" dirty="0"/>
              <a:t> –red kidney beans retain their colour and shape when cooked. 
Have a soft mealy texture
Used in preparing various types of salad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8478F7-B8A3-B4EC-11A6-D04B5E087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200" y="2286000"/>
            <a:ext cx="4618101" cy="367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537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8A318-DBFB-9CFA-3E38-7370AB610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Green Gram </a:t>
            </a:r>
            <a:r>
              <a:rPr lang="en-IN" b="1" dirty="0" err="1"/>
              <a:t>Gram</a:t>
            </a:r>
            <a:r>
              <a:rPr lang="en-IN" b="1" dirty="0"/>
              <a:t> (Mung Beans)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FDA1B-571A-42A3-24A7-272A990E5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6845275" cy="3581400"/>
          </a:xfrm>
        </p:spPr>
        <p:txBody>
          <a:bodyPr>
            <a:normAutofit/>
          </a:bodyPr>
          <a:lstStyle/>
          <a:p>
            <a:r>
              <a:rPr lang="en-IN" sz="2800" dirty="0"/>
              <a:t>Beans are small, olive – coloured and are native of India
With their skins removed, mung beans are light yellow in </a:t>
            </a:r>
            <a:r>
              <a:rPr lang="en-IN" sz="2800" dirty="0" err="1"/>
              <a:t>color</a:t>
            </a:r>
            <a:r>
              <a:rPr lang="en-IN" sz="2800" dirty="0"/>
              <a:t>.
It is soft &amp; sweet when cooked also used as sprouted beans 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8F934A-E10D-5C55-151C-24F423586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875" y="2926807"/>
            <a:ext cx="3835753" cy="321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25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CC307-33CE-4DD4-2002-688856DBF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Split Black Gram (</a:t>
            </a:r>
            <a:r>
              <a:rPr lang="en-IN" b="1" dirty="0" err="1"/>
              <a:t>Urad</a:t>
            </a:r>
            <a:r>
              <a:rPr lang="en-IN" b="1" dirty="0"/>
              <a:t> Dal)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FCA18-AA08-4330-FE49-3A63DD48E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Boiled or eaten whole or after splitting into dal
It is ground into flour or paste</a:t>
            </a:r>
          </a:p>
          <a:p>
            <a:r>
              <a:rPr lang="en-IN" sz="2400" dirty="0"/>
              <a:t>Used in culinary preparation like </a:t>
            </a:r>
            <a:r>
              <a:rPr lang="en-IN" sz="2400" dirty="0" err="1"/>
              <a:t>dosa,idli</a:t>
            </a:r>
            <a:r>
              <a:rPr lang="en-IN" sz="2400" dirty="0"/>
              <a:t>, </a:t>
            </a:r>
            <a:r>
              <a:rPr lang="en-IN" sz="2400" dirty="0" err="1"/>
              <a:t>vada</a:t>
            </a:r>
            <a:r>
              <a:rPr lang="en-IN" sz="2400" dirty="0"/>
              <a:t> &amp; </a:t>
            </a:r>
            <a:r>
              <a:rPr lang="en-IN" sz="2400" dirty="0" err="1"/>
              <a:t>papad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224DD9-B4E0-7EC7-1D83-55E304DC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417" y="3672142"/>
            <a:ext cx="5366193" cy="30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846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B7A6-378F-676E-2DAD-C3D9905AD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Red Lentil (</a:t>
            </a:r>
            <a:r>
              <a:rPr lang="en-IN" b="1" dirty="0" err="1"/>
              <a:t>Masur</a:t>
            </a:r>
            <a:r>
              <a:rPr lang="en-IN" b="1" dirty="0"/>
              <a:t> Dal)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D9E16-FAAD-B002-7951-6033E293B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5872702" cy="3581400"/>
          </a:xfrm>
        </p:spPr>
        <p:txBody>
          <a:bodyPr>
            <a:normAutofit/>
          </a:bodyPr>
          <a:lstStyle/>
          <a:p>
            <a:r>
              <a:rPr lang="en-IN" sz="2800" dirty="0"/>
              <a:t>Low in fat but high in protein &amp; </a:t>
            </a:r>
            <a:r>
              <a:rPr lang="en-IN" sz="2800" dirty="0" err="1"/>
              <a:t>fiber</a:t>
            </a:r>
            <a:r>
              <a:rPr lang="en-IN" sz="2800" dirty="0"/>
              <a:t> </a:t>
            </a:r>
          </a:p>
          <a:p>
            <a:r>
              <a:rPr lang="en-IN" sz="2800" dirty="0"/>
              <a:t>They have earthy flavour &amp; they cook easily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B1D828-1FD0-A1D9-7FDB-9217C0499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613" y="1904090"/>
            <a:ext cx="4362942" cy="436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4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B37EF-6F06-06D7-2F89-1B3EDE06D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Yellow lentil (</a:t>
            </a:r>
            <a:r>
              <a:rPr lang="en-IN" b="1" dirty="0" err="1"/>
              <a:t>Arhar</a:t>
            </a:r>
            <a:r>
              <a:rPr lang="en-IN" b="1" dirty="0"/>
              <a:t> dal)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3F573-ED53-FC26-6830-2837A3A26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5436919" cy="3503988"/>
          </a:xfrm>
        </p:spPr>
        <p:txBody>
          <a:bodyPr>
            <a:normAutofit/>
          </a:bodyPr>
          <a:lstStyle/>
          <a:p>
            <a:r>
              <a:rPr lang="en-IN" sz="2800" dirty="0"/>
              <a:t>Whole tur lentils are yellow with tan jackets 
Usually sold skinned and split
They have a nutty flavour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FE4737-2AF0-02A6-6D2B-1A325BB27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8519" y="1895822"/>
            <a:ext cx="4871442" cy="397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389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5C4332-93B3-B82B-8EC5-8096F81D6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348" y="866943"/>
            <a:ext cx="9275292" cy="512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367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7C562A-B413-D0F4-627F-58CFF87F7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626"/>
            <a:ext cx="12191999" cy="692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7874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025" id="{F9915BBD-9749-466F-995C-8C8D6A938EC0}" vid="{CF1D1A65-FC75-42D2-B7EF-D2991382DC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Crop</vt:lpstr>
      <vt:lpstr>CEREALS &amp; PULSES</vt:lpstr>
      <vt:lpstr>Cereals</vt:lpstr>
      <vt:lpstr>Importance of Cereals</vt:lpstr>
      <vt:lpstr>Wheat</vt:lpstr>
      <vt:lpstr>Semolina</vt:lpstr>
      <vt:lpstr>Barley </vt:lpstr>
      <vt:lpstr>Maize</vt:lpstr>
      <vt:lpstr>Rye</vt:lpstr>
      <vt:lpstr>Oats</vt:lpstr>
      <vt:lpstr>PowerPoint Presentation</vt:lpstr>
      <vt:lpstr>Rice</vt:lpstr>
      <vt:lpstr>PowerPoint Presentation</vt:lpstr>
      <vt:lpstr>Millet</vt:lpstr>
      <vt:lpstr>PowerPoint Presentation</vt:lpstr>
      <vt:lpstr>Products</vt:lpstr>
      <vt:lpstr>Pulses</vt:lpstr>
      <vt:lpstr>Adukhi Beans</vt:lpstr>
      <vt:lpstr>Black Beans</vt:lpstr>
      <vt:lpstr>Haricot beans</vt:lpstr>
      <vt:lpstr>Chick peas (Bengal Gram)</vt:lpstr>
      <vt:lpstr>Kidney beans (Rajmah)</vt:lpstr>
      <vt:lpstr>Green Gram Gram (Mung Beans)</vt:lpstr>
      <vt:lpstr>Split Black Gram (Urad Dal)</vt:lpstr>
      <vt:lpstr>Red Lentil (Masur Dal)</vt:lpstr>
      <vt:lpstr>Yellow lentil (Arhar dal)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CEREALS &amp; PULSES</dc:title>
  <dc:creator>swati atri</dc:creator>
  <cp:lastModifiedBy>swati atri</cp:lastModifiedBy>
  <cp:revision>9</cp:revision>
  <dcterms:created xsi:type="dcterms:W3CDTF">2023-11-21T15:03:32Z</dcterms:created>
  <dcterms:modified xsi:type="dcterms:W3CDTF">2023-11-21T17:11:41Z</dcterms:modified>
</cp:coreProperties>
</file>