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1" d="100"/>
          <a:sy n="41" d="100"/>
        </p:scale>
        <p:origin x="84" y="16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68851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412944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1528643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2631423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266759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4010417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3078540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821376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1217158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31856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25993006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36214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1162187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5892768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36022492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2411560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00B0A3-7396-4A2E-81A4-9E0B50BDD42F}" type="datetimeFigureOut">
              <a:rPr lang="en-US" smtClean="0"/>
              <a:t>10/4/2023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294AB93-869A-4215-85EB-514859C51B68}" type="slidenum">
              <a:rPr lang="en-US" smtClean="0"/>
              <a:t>‹#›</a:t>
            </a:fld>
            <a:endParaRPr lang="en-US" dirty="0"/>
          </a:p>
        </p:txBody>
      </p:sp>
    </p:spTree>
    <p:extLst>
      <p:ext uri="{BB962C8B-B14F-4D97-AF65-F5344CB8AC3E}">
        <p14:creationId xmlns:p14="http://schemas.microsoft.com/office/powerpoint/2010/main" val="3441866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000B0A3-7396-4A2E-81A4-9E0B50BDD42F}" type="datetimeFigureOut">
              <a:rPr lang="en-US" smtClean="0"/>
              <a:t>10/4/2023</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294AB93-869A-4215-85EB-514859C51B68}" type="slidenum">
              <a:rPr lang="en-US" smtClean="0"/>
              <a:t>‹#›</a:t>
            </a:fld>
            <a:endParaRPr lang="en-US" dirty="0"/>
          </a:p>
        </p:txBody>
      </p:sp>
    </p:spTree>
    <p:extLst>
      <p:ext uri="{BB962C8B-B14F-4D97-AF65-F5344CB8AC3E}">
        <p14:creationId xmlns:p14="http://schemas.microsoft.com/office/powerpoint/2010/main" val="11154351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4354-D990-0A16-FB22-BCA02B22D0BE}"/>
              </a:ext>
            </a:extLst>
          </p:cNvPr>
          <p:cNvSpPr>
            <a:spLocks noGrp="1"/>
          </p:cNvSpPr>
          <p:nvPr>
            <p:ph type="ctrTitle"/>
          </p:nvPr>
        </p:nvSpPr>
        <p:spPr/>
        <p:txBody>
          <a:bodyPr/>
          <a:lstStyle/>
          <a:p>
            <a:r>
              <a:rPr lang="en-US" dirty="0"/>
              <a:t>Nutrition</a:t>
            </a:r>
          </a:p>
        </p:txBody>
      </p:sp>
      <p:sp>
        <p:nvSpPr>
          <p:cNvPr id="3" name="Subtitle 2">
            <a:extLst>
              <a:ext uri="{FF2B5EF4-FFF2-40B4-BE49-F238E27FC236}">
                <a16:creationId xmlns:a16="http://schemas.microsoft.com/office/drawing/2014/main" id="{A10A6D17-1DDD-C99F-1612-6CF6C0A8EC7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6145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0A75F6-9B25-AB24-4F5B-61C1DB53F930}"/>
              </a:ext>
            </a:extLst>
          </p:cNvPr>
          <p:cNvSpPr>
            <a:spLocks noGrp="1"/>
          </p:cNvSpPr>
          <p:nvPr>
            <p:ph type="title"/>
          </p:nvPr>
        </p:nvSpPr>
        <p:spPr>
          <a:xfrm>
            <a:off x="696686" y="1122001"/>
            <a:ext cx="3040685" cy="4613999"/>
          </a:xfrm>
        </p:spPr>
        <p:txBody>
          <a:bodyPr anchor="ctr">
            <a:normAutofit/>
          </a:bodyPr>
          <a:lstStyle/>
          <a:p>
            <a:pPr algn="l"/>
            <a:r>
              <a:rPr lang="en-US" sz="2400" dirty="0">
                <a:solidFill>
                  <a:srgbClr val="FFFFFF"/>
                </a:solidFill>
              </a:rPr>
              <a:t>Fats &amp; disease</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9033EAA-C4DA-869B-0DCB-6A3C25A1B7A2}"/>
              </a:ext>
            </a:extLst>
          </p:cNvPr>
          <p:cNvSpPr>
            <a:spLocks noGrp="1"/>
          </p:cNvSpPr>
          <p:nvPr>
            <p:ph idx="1"/>
          </p:nvPr>
        </p:nvSpPr>
        <p:spPr>
          <a:xfrm>
            <a:off x="4267200" y="187568"/>
            <a:ext cx="7924799" cy="6670431"/>
          </a:xfrm>
        </p:spPr>
        <p:txBody>
          <a:bodyPr anchor="ctr">
            <a:normAutofit fontScale="92500" lnSpcReduction="10000"/>
          </a:bodyPr>
          <a:lstStyle/>
          <a:p>
            <a:r>
              <a:rPr lang="en-US" sz="3200" dirty="0"/>
              <a:t>Obesity - A diet, rich in fat, can pose a threat to human health by encouraging obesity. In fat people, adipose tissue may increase </a:t>
            </a:r>
            <a:r>
              <a:rPr lang="en-US" sz="3200" dirty="0" err="1"/>
              <a:t>upto</a:t>
            </a:r>
            <a:r>
              <a:rPr lang="en-US" sz="3200" dirty="0"/>
              <a:t> 30 %.</a:t>
            </a:r>
          </a:p>
          <a:p>
            <a:r>
              <a:rPr lang="en-US" sz="3200" dirty="0" err="1"/>
              <a:t>Phrenoderma</a:t>
            </a:r>
            <a:r>
              <a:rPr lang="en-US" sz="3200" dirty="0"/>
              <a:t> - Deficiency of essential fatty acids in the diet is associated with rough and dry skin, a condition known as </a:t>
            </a:r>
            <a:r>
              <a:rPr lang="en-US" sz="3200" dirty="0" err="1"/>
              <a:t>phrenoderma</a:t>
            </a:r>
            <a:r>
              <a:rPr lang="en-US" sz="3200" dirty="0"/>
              <a:t> or “toad skin”. </a:t>
            </a:r>
          </a:p>
          <a:p>
            <a:pPr lvl="1"/>
            <a:r>
              <a:rPr lang="en-US" sz="2600" dirty="0"/>
              <a:t>Reported in Kerala, Karnataka and Gujarat. It is characterized by horny </a:t>
            </a:r>
            <a:r>
              <a:rPr lang="en-US" sz="2600" dirty="0" err="1"/>
              <a:t>papu|ar</a:t>
            </a:r>
            <a:r>
              <a:rPr lang="en-US" sz="2600" dirty="0"/>
              <a:t> eruptions on the posterior and lateral aspects of limbs and on the back and buttocks. </a:t>
            </a:r>
          </a:p>
          <a:p>
            <a:pPr lvl="1"/>
            <a:r>
              <a:rPr lang="en-US" sz="2600" dirty="0"/>
              <a:t>Cured rapidly by the administration of linseed or safflower oil which are rich in EFA, along with vitamins of the B-complex group</a:t>
            </a:r>
          </a:p>
        </p:txBody>
      </p:sp>
    </p:spTree>
    <p:extLst>
      <p:ext uri="{BB962C8B-B14F-4D97-AF65-F5344CB8AC3E}">
        <p14:creationId xmlns:p14="http://schemas.microsoft.com/office/powerpoint/2010/main" val="2811674776"/>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A75F6-9B25-AB24-4F5B-61C1DB53F930}"/>
              </a:ext>
            </a:extLst>
          </p:cNvPr>
          <p:cNvSpPr>
            <a:spLocks noGrp="1"/>
          </p:cNvSpPr>
          <p:nvPr>
            <p:ph type="title"/>
          </p:nvPr>
        </p:nvSpPr>
        <p:spPr>
          <a:xfrm>
            <a:off x="696686" y="1122001"/>
            <a:ext cx="3040685" cy="4613999"/>
          </a:xfrm>
        </p:spPr>
        <p:txBody>
          <a:bodyPr anchor="ctr">
            <a:normAutofit/>
          </a:bodyPr>
          <a:lstStyle/>
          <a:p>
            <a:pPr algn="l"/>
            <a:r>
              <a:rPr lang="en-US" sz="2400">
                <a:solidFill>
                  <a:srgbClr val="FFFFFF"/>
                </a:solidFill>
              </a:rPr>
              <a:t>Fats &amp; disease</a:t>
            </a:r>
          </a:p>
        </p:txBody>
      </p:sp>
      <p:sp>
        <p:nvSpPr>
          <p:cNvPr id="3" name="Content Placeholder 2">
            <a:extLst>
              <a:ext uri="{FF2B5EF4-FFF2-40B4-BE49-F238E27FC236}">
                <a16:creationId xmlns:a16="http://schemas.microsoft.com/office/drawing/2014/main" id="{89033EAA-C4DA-869B-0DCB-6A3C25A1B7A2}"/>
              </a:ext>
            </a:extLst>
          </p:cNvPr>
          <p:cNvSpPr>
            <a:spLocks noGrp="1"/>
          </p:cNvSpPr>
          <p:nvPr>
            <p:ph idx="1"/>
          </p:nvPr>
        </p:nvSpPr>
        <p:spPr>
          <a:xfrm>
            <a:off x="4267200" y="187568"/>
            <a:ext cx="7924799" cy="6670431"/>
          </a:xfrm>
        </p:spPr>
        <p:txBody>
          <a:bodyPr anchor="ctr">
            <a:normAutofit fontScale="92500" lnSpcReduction="10000"/>
          </a:bodyPr>
          <a:lstStyle/>
          <a:p>
            <a:r>
              <a:rPr lang="en-US" sz="2600" dirty="0"/>
              <a:t>Coronary Heart disease - High fat intake (</a:t>
            </a:r>
            <a:r>
              <a:rPr lang="en-US" sz="2600" dirty="0" err="1"/>
              <a:t>i.e</a:t>
            </a:r>
            <a:r>
              <a:rPr lang="en-US" sz="2600" dirty="0"/>
              <a:t>, dietary fat representing 40 per cent or over of the energy supply and containing a high proportion of saturated fats) has been identified as a major risk factor for CHD.</a:t>
            </a:r>
          </a:p>
          <a:p>
            <a:pPr lvl="1"/>
            <a:r>
              <a:rPr lang="en-US" sz="2400" dirty="0"/>
              <a:t>Epidemiological studies indicate that LDL and VLDL fractions are atherogenic and HDL exerts a protective effect against the development of </a:t>
            </a:r>
            <a:r>
              <a:rPr lang="en-US" sz="2400" dirty="0" err="1"/>
              <a:t>artherosclerosis</a:t>
            </a:r>
            <a:r>
              <a:rPr lang="en-US" sz="2400" dirty="0"/>
              <a:t>. There is evidence indicating an inverse relationship between EFA intake and CHD mortality</a:t>
            </a:r>
          </a:p>
          <a:p>
            <a:r>
              <a:rPr lang="en-US" sz="2600" dirty="0"/>
              <a:t>Cancer : In recent years, there has been some evidence that diets high in fat increase the risk of colon cancer and breast cancer. </a:t>
            </a:r>
          </a:p>
          <a:p>
            <a:r>
              <a:rPr lang="en-US" sz="2600" dirty="0"/>
              <a:t>OTHERS: The skin lesions of kwashiorkor and those induced by EFA deficiency are similar. The possible association between the skin lesions of kwashiorkor and EFA deficiency has attracted attention.</a:t>
            </a:r>
          </a:p>
        </p:txBody>
      </p:sp>
    </p:spTree>
    <p:extLst>
      <p:ext uri="{BB962C8B-B14F-4D97-AF65-F5344CB8AC3E}">
        <p14:creationId xmlns:p14="http://schemas.microsoft.com/office/powerpoint/2010/main" val="3350005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32D9-9FD8-49D0-E18F-45898199D94A}"/>
              </a:ext>
            </a:extLst>
          </p:cNvPr>
          <p:cNvSpPr>
            <a:spLocks noGrp="1"/>
          </p:cNvSpPr>
          <p:nvPr>
            <p:ph type="title"/>
          </p:nvPr>
        </p:nvSpPr>
        <p:spPr/>
        <p:txBody>
          <a:bodyPr/>
          <a:lstStyle/>
          <a:p>
            <a:r>
              <a:rPr lang="en-US" dirty="0"/>
              <a:t>Recommendations</a:t>
            </a:r>
          </a:p>
        </p:txBody>
      </p:sp>
      <p:sp>
        <p:nvSpPr>
          <p:cNvPr id="3" name="Content Placeholder 2">
            <a:extLst>
              <a:ext uri="{FF2B5EF4-FFF2-40B4-BE49-F238E27FC236}">
                <a16:creationId xmlns:a16="http://schemas.microsoft.com/office/drawing/2014/main" id="{328FF767-5505-6788-85DF-32A526AD2539}"/>
              </a:ext>
            </a:extLst>
          </p:cNvPr>
          <p:cNvSpPr>
            <a:spLocks noGrp="1"/>
          </p:cNvSpPr>
          <p:nvPr>
            <p:ph idx="1"/>
          </p:nvPr>
        </p:nvSpPr>
        <p:spPr/>
        <p:txBody>
          <a:bodyPr>
            <a:normAutofit/>
          </a:bodyPr>
          <a:lstStyle/>
          <a:p>
            <a:r>
              <a:rPr lang="en-US" dirty="0"/>
              <a:t>The WHO/FAO Expert Group on diet, nutrition and prevention of chronic diseases endorse that qualitative composition of fats in the diet has a significant role to play in modifying risk factors of CVD and set the following ranges for population nutrient goals (% of Energy): total fat, 15-30 (at least 20%E (energy) is consistent with good health);</a:t>
            </a:r>
          </a:p>
          <a:p>
            <a:pPr lvl="1"/>
            <a:r>
              <a:rPr lang="en-US" dirty="0"/>
              <a:t>Saturated fatty acids less than 10 per cent; </a:t>
            </a:r>
          </a:p>
          <a:p>
            <a:pPr lvl="1"/>
            <a:r>
              <a:rPr lang="en-US" dirty="0"/>
              <a:t>PUFAs 6-10 percent </a:t>
            </a:r>
          </a:p>
          <a:p>
            <a:pPr lvl="1"/>
            <a:r>
              <a:rPr lang="en-US" dirty="0"/>
              <a:t>n-6 about 5-8 per cent; n-3 about 1-2 per cent; </a:t>
            </a:r>
          </a:p>
          <a:p>
            <a:pPr lvl="1"/>
            <a:r>
              <a:rPr lang="en-US" dirty="0"/>
              <a:t>Trans </a:t>
            </a:r>
            <a:r>
              <a:rPr lang="en-US" dirty="0" err="1"/>
              <a:t>fattyacids</a:t>
            </a:r>
            <a:r>
              <a:rPr lang="en-US" dirty="0"/>
              <a:t> less than 1 per cent</a:t>
            </a:r>
          </a:p>
          <a:p>
            <a:pPr lvl="1"/>
            <a:r>
              <a:rPr lang="en-US" dirty="0"/>
              <a:t>Cholesterol less than 300 mg a day</a:t>
            </a:r>
          </a:p>
          <a:p>
            <a:endParaRPr lang="en-US" dirty="0"/>
          </a:p>
        </p:txBody>
      </p:sp>
    </p:spTree>
    <p:extLst>
      <p:ext uri="{BB962C8B-B14F-4D97-AF65-F5344CB8AC3E}">
        <p14:creationId xmlns:p14="http://schemas.microsoft.com/office/powerpoint/2010/main" val="4171801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8EAB7-9BD2-310C-30EA-0BB695E5E886}"/>
              </a:ext>
            </a:extLst>
          </p:cNvPr>
          <p:cNvSpPr>
            <a:spLocks noGrp="1"/>
          </p:cNvSpPr>
          <p:nvPr>
            <p:ph type="title"/>
          </p:nvPr>
        </p:nvSpPr>
        <p:spPr/>
        <p:txBody>
          <a:bodyPr/>
          <a:lstStyle/>
          <a:p>
            <a:r>
              <a:rPr lang="en-US" dirty="0"/>
              <a:t>Fat requirements</a:t>
            </a:r>
          </a:p>
        </p:txBody>
      </p:sp>
      <p:sp>
        <p:nvSpPr>
          <p:cNvPr id="3" name="Content Placeholder 2">
            <a:extLst>
              <a:ext uri="{FF2B5EF4-FFF2-40B4-BE49-F238E27FC236}">
                <a16:creationId xmlns:a16="http://schemas.microsoft.com/office/drawing/2014/main" id="{3172FE43-905A-11A0-18D6-5B0AF0503516}"/>
              </a:ext>
            </a:extLst>
          </p:cNvPr>
          <p:cNvSpPr>
            <a:spLocks noGrp="1"/>
          </p:cNvSpPr>
          <p:nvPr>
            <p:ph idx="1"/>
          </p:nvPr>
        </p:nvSpPr>
        <p:spPr/>
        <p:txBody>
          <a:bodyPr>
            <a:normAutofit fontScale="70000" lnSpcReduction="20000"/>
          </a:bodyPr>
          <a:lstStyle/>
          <a:p>
            <a:r>
              <a:rPr lang="en-US" dirty="0"/>
              <a:t>Recommendations for dietary fats for Indians have been revised taking into account the recent FAO and WHO recommendations for : </a:t>
            </a:r>
          </a:p>
          <a:p>
            <a:pPr lvl="1"/>
            <a:r>
              <a:rPr lang="en-US" dirty="0"/>
              <a:t>Total fat, individual fatty acids and health promoting non-glyceride components;</a:t>
            </a:r>
          </a:p>
          <a:p>
            <a:pPr lvl="1"/>
            <a:r>
              <a:rPr lang="en-US" dirty="0"/>
              <a:t>Source of dietary fats in Indians: and availability of fat. </a:t>
            </a:r>
          </a:p>
          <a:p>
            <a:r>
              <a:rPr lang="en-US" dirty="0"/>
              <a:t>The recommendations are directed towards meeting the requirements of optimal </a:t>
            </a:r>
            <a:r>
              <a:rPr lang="en-US" dirty="0" err="1"/>
              <a:t>foetal</a:t>
            </a:r>
            <a:r>
              <a:rPr lang="en-US" dirty="0"/>
              <a:t> and infant growth and development, maternal health and for combating chronic energy deficiency in children and adults, and diet related non-communicable diseases in adults. </a:t>
            </a:r>
          </a:p>
          <a:p>
            <a:r>
              <a:rPr lang="en-US" dirty="0"/>
              <a:t>Taking into account the </a:t>
            </a:r>
            <a:r>
              <a:rPr lang="en-US" dirty="0" err="1"/>
              <a:t>unfavourable</a:t>
            </a:r>
            <a:r>
              <a:rPr lang="en-US" dirty="0"/>
              <a:t> effect of low fat – high carbohydrate diets and the energy requirement set on the basis of age, physiological status and physical activity, the minimum intakes of visible fat for Indian adults have been based on the sedentary, moderate and heavy physical activity and set at 25. 30 and 40 g/d for adult man. and 20, 25 and 30 g/d for adult women as against a single level recommendation earlier. </a:t>
            </a:r>
          </a:p>
          <a:p>
            <a:r>
              <a:rPr lang="en-US" dirty="0"/>
              <a:t>The minimum level of total fat should be 20 per cent of energy. To furnish 20 per cent of total energy, diet of pregnant and lactating mothers should contain at least 30 grams of visible fat.</a:t>
            </a:r>
          </a:p>
        </p:txBody>
      </p:sp>
    </p:spTree>
    <p:extLst>
      <p:ext uri="{BB962C8B-B14F-4D97-AF65-F5344CB8AC3E}">
        <p14:creationId xmlns:p14="http://schemas.microsoft.com/office/powerpoint/2010/main" val="3133576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B00A4-7E5A-835D-FE29-43B79B81E05C}"/>
              </a:ext>
            </a:extLst>
          </p:cNvPr>
          <p:cNvSpPr>
            <a:spLocks noGrp="1"/>
          </p:cNvSpPr>
          <p:nvPr>
            <p:ph type="title"/>
          </p:nvPr>
        </p:nvSpPr>
        <p:spPr/>
        <p:txBody>
          <a:bodyPr/>
          <a:lstStyle/>
          <a:p>
            <a:r>
              <a:rPr lang="en-US" dirty="0"/>
              <a:t>Carbohydrates</a:t>
            </a:r>
          </a:p>
        </p:txBody>
      </p:sp>
      <p:sp>
        <p:nvSpPr>
          <p:cNvPr id="3" name="Content Placeholder 2">
            <a:extLst>
              <a:ext uri="{FF2B5EF4-FFF2-40B4-BE49-F238E27FC236}">
                <a16:creationId xmlns:a16="http://schemas.microsoft.com/office/drawing/2014/main" id="{2AD4A15E-327E-A219-1401-41A80099CA06}"/>
              </a:ext>
            </a:extLst>
          </p:cNvPr>
          <p:cNvSpPr>
            <a:spLocks noGrp="1"/>
          </p:cNvSpPr>
          <p:nvPr>
            <p:ph idx="1"/>
          </p:nvPr>
        </p:nvSpPr>
        <p:spPr/>
        <p:txBody>
          <a:bodyPr>
            <a:normAutofit fontScale="85000" lnSpcReduction="20000"/>
          </a:bodyPr>
          <a:lstStyle/>
          <a:p>
            <a:r>
              <a:rPr lang="en-US" dirty="0"/>
              <a:t>Main source of energy, providing 4 kcals per gram. </a:t>
            </a:r>
          </a:p>
          <a:p>
            <a:r>
              <a:rPr lang="en-US" dirty="0"/>
              <a:t>Carbohydrate is also essential for the oxidation of fats and for the synthesis of certain non-essential amino acids.</a:t>
            </a:r>
          </a:p>
          <a:p>
            <a:r>
              <a:rPr lang="en-US" dirty="0"/>
              <a:t>There are three main sources of carbohydrates, viz., starches, sugar and cellulose. </a:t>
            </a:r>
          </a:p>
          <a:p>
            <a:r>
              <a:rPr lang="en-US" dirty="0"/>
              <a:t>Starch is basic to the human diet. It is found in abundance in cereals, roots and tubers. Sugars comprise monosaccharides (glucose, fructose and galactose) and disaccharides (sucrose, lactose and maltose). These free sugars are highly water soluble and easily assimilated. Free sugars along with starches constitute a key source of energy. Cellulose which is the indigestible component of carbohydrate with scarcely any nutritive value, contributes to dietary </a:t>
            </a:r>
            <a:r>
              <a:rPr lang="en-US" dirty="0" err="1"/>
              <a:t>fibre</a:t>
            </a:r>
            <a:r>
              <a:rPr lang="en-US" dirty="0"/>
              <a:t>.</a:t>
            </a:r>
          </a:p>
          <a:p>
            <a:r>
              <a:rPr lang="en-US" dirty="0"/>
              <a:t>The carbohydrate reserve (glycogen) of a human adult is about 500 g. This reserve is rapidly exhausted when a man is fasting. If the dietary carbohydrates do not meet the energy needs of the body, protein and glycerol from dietary and endogenous sources are used by the body to maintain glucose </a:t>
            </a:r>
            <a:r>
              <a:rPr lang="en-US" dirty="0" err="1"/>
              <a:t>haemostasis</a:t>
            </a:r>
            <a:r>
              <a:rPr lang="en-US" dirty="0"/>
              <a:t>.</a:t>
            </a:r>
          </a:p>
        </p:txBody>
      </p:sp>
    </p:spTree>
    <p:extLst>
      <p:ext uri="{BB962C8B-B14F-4D97-AF65-F5344CB8AC3E}">
        <p14:creationId xmlns:p14="http://schemas.microsoft.com/office/powerpoint/2010/main" val="160502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9563-9F4C-C21D-0964-BB6FAE85EDD3}"/>
              </a:ext>
            </a:extLst>
          </p:cNvPr>
          <p:cNvSpPr>
            <a:spLocks noGrp="1"/>
          </p:cNvSpPr>
          <p:nvPr>
            <p:ph type="title"/>
          </p:nvPr>
        </p:nvSpPr>
        <p:spPr>
          <a:xfrm>
            <a:off x="913795" y="609600"/>
            <a:ext cx="10353761" cy="1326321"/>
          </a:xfrm>
        </p:spPr>
        <p:txBody>
          <a:bodyPr>
            <a:normAutofit/>
          </a:bodyPr>
          <a:lstStyle/>
          <a:p>
            <a:r>
              <a:rPr lang="en-US" dirty="0"/>
              <a:t> Glycemic Index</a:t>
            </a:r>
          </a:p>
        </p:txBody>
      </p:sp>
      <p:sp>
        <p:nvSpPr>
          <p:cNvPr id="3" name="Content Placeholder 2">
            <a:extLst>
              <a:ext uri="{FF2B5EF4-FFF2-40B4-BE49-F238E27FC236}">
                <a16:creationId xmlns:a16="http://schemas.microsoft.com/office/drawing/2014/main" id="{6E7F4BD0-BE3F-1E09-BDCD-A079A78CEE47}"/>
              </a:ext>
            </a:extLst>
          </p:cNvPr>
          <p:cNvSpPr>
            <a:spLocks noGrp="1"/>
          </p:cNvSpPr>
          <p:nvPr>
            <p:ph idx="1"/>
          </p:nvPr>
        </p:nvSpPr>
        <p:spPr>
          <a:xfrm>
            <a:off x="913795" y="2096064"/>
            <a:ext cx="6352824" cy="3695136"/>
          </a:xfrm>
        </p:spPr>
        <p:txBody>
          <a:bodyPr>
            <a:normAutofit/>
          </a:bodyPr>
          <a:lstStyle/>
          <a:p>
            <a:pPr>
              <a:lnSpc>
                <a:spcPct val="110000"/>
              </a:lnSpc>
            </a:pPr>
            <a:r>
              <a:rPr lang="en-US" sz="1600"/>
              <a:t>Glycaemic index of a food is defined by the area under the two-hour blood glucose response curve (AUC) following the ingestion of a fixed portion of test carbohydrate (usually 50 g) as a proportion (%) of the AUC of the standard (either glucose or white bread).</a:t>
            </a:r>
          </a:p>
          <a:p>
            <a:pPr>
              <a:lnSpc>
                <a:spcPct val="110000"/>
              </a:lnSpc>
            </a:pPr>
            <a:r>
              <a:rPr lang="en-US" sz="1600"/>
              <a:t>Some foods containing different fractions of soluble and insoluble fibres favour slow release of sugar into small intestine and its absorption into blood (reduced peak and prolonged rate). </a:t>
            </a:r>
          </a:p>
          <a:p>
            <a:pPr>
              <a:lnSpc>
                <a:spcPct val="110000"/>
              </a:lnSpc>
            </a:pPr>
            <a:r>
              <a:rPr lang="en-US" sz="1600"/>
              <a:t>They are therefore termed low glycaemic index foods as compared to high glycaemic foods with readily digestible and absorbable sugar. </a:t>
            </a:r>
          </a:p>
          <a:p>
            <a:pPr>
              <a:lnSpc>
                <a:spcPct val="110000"/>
              </a:lnSpc>
            </a:pPr>
            <a:r>
              <a:rPr lang="en-US" sz="1600"/>
              <a:t>The concept has practical utility in management of diabetes and control of obesity</a:t>
            </a:r>
          </a:p>
        </p:txBody>
      </p:sp>
      <p:pic>
        <p:nvPicPr>
          <p:cNvPr id="5" name="Picture 4" descr="A close-up of a list of food&#10;&#10;Description automatically generated">
            <a:extLst>
              <a:ext uri="{FF2B5EF4-FFF2-40B4-BE49-F238E27FC236}">
                <a16:creationId xmlns:a16="http://schemas.microsoft.com/office/drawing/2014/main" id="{12A8697B-D8D5-3321-ED4A-3048D53E215B}"/>
              </a:ext>
            </a:extLst>
          </p:cNvPr>
          <p:cNvPicPr>
            <a:picLocks noChangeAspect="1"/>
          </p:cNvPicPr>
          <p:nvPr/>
        </p:nvPicPr>
        <p:blipFill rotWithShape="1">
          <a:blip r:embed="rId3"/>
          <a:srcRect l="-3480" t="-7707" r="-1033" b="-6671"/>
          <a:stretch/>
        </p:blipFill>
        <p:spPr>
          <a:xfrm>
            <a:off x="7454900" y="2565400"/>
            <a:ext cx="3670300" cy="172720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2765613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B1932-37E7-3EF3-9918-EE9C3F01C43E}"/>
              </a:ext>
            </a:extLst>
          </p:cNvPr>
          <p:cNvSpPr>
            <a:spLocks noGrp="1"/>
          </p:cNvSpPr>
          <p:nvPr>
            <p:ph type="title"/>
          </p:nvPr>
        </p:nvSpPr>
        <p:spPr/>
        <p:txBody>
          <a:bodyPr/>
          <a:lstStyle/>
          <a:p>
            <a:r>
              <a:rPr lang="en-US" dirty="0"/>
              <a:t>Dietary </a:t>
            </a:r>
            <a:r>
              <a:rPr lang="en-US" dirty="0" err="1"/>
              <a:t>Fibre</a:t>
            </a:r>
            <a:endParaRPr lang="en-US" dirty="0"/>
          </a:p>
        </p:txBody>
      </p:sp>
      <p:sp>
        <p:nvSpPr>
          <p:cNvPr id="3" name="Content Placeholder 2">
            <a:extLst>
              <a:ext uri="{FF2B5EF4-FFF2-40B4-BE49-F238E27FC236}">
                <a16:creationId xmlns:a16="http://schemas.microsoft.com/office/drawing/2014/main" id="{8DE96B3F-3B7E-58FE-D10C-9AF2851286DC}"/>
              </a:ext>
            </a:extLst>
          </p:cNvPr>
          <p:cNvSpPr>
            <a:spLocks noGrp="1"/>
          </p:cNvSpPr>
          <p:nvPr>
            <p:ph idx="1"/>
          </p:nvPr>
        </p:nvSpPr>
        <p:spPr/>
        <p:txBody>
          <a:bodyPr>
            <a:normAutofit/>
          </a:bodyPr>
          <a:lstStyle/>
          <a:p>
            <a:r>
              <a:rPr lang="en-US" dirty="0"/>
              <a:t>Dietary </a:t>
            </a:r>
            <a:r>
              <a:rPr lang="en-US" dirty="0" err="1"/>
              <a:t>fibre</a:t>
            </a:r>
            <a:r>
              <a:rPr lang="en-US" dirty="0"/>
              <a:t> is the remnants of the edible part of plants and analogous carbohydrates that are resistant to digestion and absorption in the human small intestine with complete or partial fermentation in the human large intestine.</a:t>
            </a:r>
          </a:p>
          <a:p>
            <a:r>
              <a:rPr lang="en-US" dirty="0"/>
              <a:t>It includes polysaccharides, oligosaccharides, lignin and associated plant substances. </a:t>
            </a:r>
          </a:p>
          <a:p>
            <a:r>
              <a:rPr lang="en-US" dirty="0"/>
              <a:t>Dietary </a:t>
            </a:r>
            <a:r>
              <a:rPr lang="en-US" dirty="0" err="1"/>
              <a:t>fibre</a:t>
            </a:r>
            <a:r>
              <a:rPr lang="en-US" dirty="0"/>
              <a:t> exhibits one or more of either laxation (</a:t>
            </a:r>
            <a:r>
              <a:rPr lang="en-US" dirty="0" err="1"/>
              <a:t>faecal</a:t>
            </a:r>
            <a:r>
              <a:rPr lang="en-US" dirty="0"/>
              <a:t> bulking and softening; increased frequency; and or regularity), blood cholesterol attenuation, and or blood glucose attenuation. Organic acids (butyric acid) and polyols (sorbitol) are also considered as part of </a:t>
            </a:r>
            <a:r>
              <a:rPr lang="en-US" dirty="0" err="1"/>
              <a:t>fibre</a:t>
            </a:r>
            <a:r>
              <a:rPr lang="en-US" dirty="0"/>
              <a:t>. Animal foods do not contain any </a:t>
            </a:r>
            <a:r>
              <a:rPr lang="en-US" dirty="0" err="1"/>
              <a:t>fibre</a:t>
            </a:r>
            <a:r>
              <a:rPr lang="en-US" dirty="0"/>
              <a:t>.</a:t>
            </a:r>
          </a:p>
        </p:txBody>
      </p:sp>
    </p:spTree>
    <p:extLst>
      <p:ext uri="{BB962C8B-B14F-4D97-AF65-F5344CB8AC3E}">
        <p14:creationId xmlns:p14="http://schemas.microsoft.com/office/powerpoint/2010/main" val="2884021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C942B-2F76-F71A-448A-0CF7E8E129A0}"/>
              </a:ext>
            </a:extLst>
          </p:cNvPr>
          <p:cNvSpPr>
            <a:spLocks noGrp="1"/>
          </p:cNvSpPr>
          <p:nvPr>
            <p:ph type="title"/>
          </p:nvPr>
        </p:nvSpPr>
        <p:spPr/>
        <p:txBody>
          <a:bodyPr/>
          <a:lstStyle/>
          <a:p>
            <a:r>
              <a:rPr lang="en-US" dirty="0"/>
              <a:t>Types &amp; Sources</a:t>
            </a:r>
          </a:p>
        </p:txBody>
      </p:sp>
      <p:sp>
        <p:nvSpPr>
          <p:cNvPr id="3" name="Content Placeholder 2">
            <a:extLst>
              <a:ext uri="{FF2B5EF4-FFF2-40B4-BE49-F238E27FC236}">
                <a16:creationId xmlns:a16="http://schemas.microsoft.com/office/drawing/2014/main" id="{8FEC6953-4A2A-FF5A-49B9-45CCF5F8508A}"/>
              </a:ext>
            </a:extLst>
          </p:cNvPr>
          <p:cNvSpPr>
            <a:spLocks noGrp="1"/>
          </p:cNvSpPr>
          <p:nvPr>
            <p:ph idx="1"/>
          </p:nvPr>
        </p:nvSpPr>
        <p:spPr/>
        <p:txBody>
          <a:bodyPr>
            <a:normAutofit fontScale="92500" lnSpcReduction="10000"/>
          </a:bodyPr>
          <a:lstStyle/>
          <a:p>
            <a:r>
              <a:rPr lang="en-US" dirty="0"/>
              <a:t>Dietary </a:t>
            </a:r>
            <a:r>
              <a:rPr lang="en-US" dirty="0" err="1"/>
              <a:t>fibres</a:t>
            </a:r>
            <a:r>
              <a:rPr lang="en-US" dirty="0"/>
              <a:t> have been characterized by its source, e.g., cereal, vegetable and fruits or its solubility in water – soluble (partly or fully) or insoluble. Both characters of solubility are essential for health promotion. </a:t>
            </a:r>
          </a:p>
          <a:p>
            <a:r>
              <a:rPr lang="en-US" dirty="0"/>
              <a:t>Digestibility of </a:t>
            </a:r>
            <a:r>
              <a:rPr lang="en-US" dirty="0" err="1"/>
              <a:t>fibre</a:t>
            </a:r>
            <a:r>
              <a:rPr lang="en-US" dirty="0"/>
              <a:t> is determined by physiochemical and structural properties of the dietary component and the process used. When exposed to longer duration of degradative conditions in large intestine, more </a:t>
            </a:r>
            <a:r>
              <a:rPr lang="en-US" dirty="0" err="1"/>
              <a:t>fibre</a:t>
            </a:r>
            <a:r>
              <a:rPr lang="en-US" dirty="0"/>
              <a:t> is digested. It forms the substance for fermentation by intestinal microbes. </a:t>
            </a:r>
          </a:p>
          <a:p>
            <a:r>
              <a:rPr lang="en-US" dirty="0"/>
              <a:t>It is through this mechanism that part of energy from resistant starch is rendered available. Apart from the energy yielding reactions during digestion, at different pH, the action of enzymes on dietary </a:t>
            </a:r>
            <a:r>
              <a:rPr lang="en-US" dirty="0" err="1"/>
              <a:t>fibres</a:t>
            </a:r>
            <a:r>
              <a:rPr lang="en-US" dirty="0"/>
              <a:t> promotes interaction between nutrients. It also changes the pattern of microbes colonizing the colon and thus the metabolic products of such fermentation over the time.</a:t>
            </a:r>
          </a:p>
        </p:txBody>
      </p:sp>
    </p:spTree>
    <p:extLst>
      <p:ext uri="{BB962C8B-B14F-4D97-AF65-F5344CB8AC3E}">
        <p14:creationId xmlns:p14="http://schemas.microsoft.com/office/powerpoint/2010/main" val="1154664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C942B-2F76-F71A-448A-0CF7E8E129A0}"/>
              </a:ext>
            </a:extLst>
          </p:cNvPr>
          <p:cNvSpPr>
            <a:spLocks noGrp="1"/>
          </p:cNvSpPr>
          <p:nvPr>
            <p:ph type="title"/>
          </p:nvPr>
        </p:nvSpPr>
        <p:spPr/>
        <p:txBody>
          <a:bodyPr/>
          <a:lstStyle/>
          <a:p>
            <a:r>
              <a:rPr lang="en-US" dirty="0"/>
              <a:t>Types &amp; Sources</a:t>
            </a:r>
          </a:p>
        </p:txBody>
      </p:sp>
      <p:sp>
        <p:nvSpPr>
          <p:cNvPr id="3" name="Content Placeholder 2">
            <a:extLst>
              <a:ext uri="{FF2B5EF4-FFF2-40B4-BE49-F238E27FC236}">
                <a16:creationId xmlns:a16="http://schemas.microsoft.com/office/drawing/2014/main" id="{8FEC6953-4A2A-FF5A-49B9-45CCF5F8508A}"/>
              </a:ext>
            </a:extLst>
          </p:cNvPr>
          <p:cNvSpPr>
            <a:spLocks noGrp="1"/>
          </p:cNvSpPr>
          <p:nvPr>
            <p:ph idx="1"/>
          </p:nvPr>
        </p:nvSpPr>
        <p:spPr>
          <a:xfrm>
            <a:off x="420914" y="1935921"/>
            <a:ext cx="10846643" cy="3855279"/>
          </a:xfrm>
        </p:spPr>
        <p:txBody>
          <a:bodyPr>
            <a:normAutofit/>
          </a:bodyPr>
          <a:lstStyle/>
          <a:p>
            <a:r>
              <a:rPr lang="en-US" dirty="0"/>
              <a:t>Original estimates of </a:t>
            </a:r>
            <a:r>
              <a:rPr lang="en-US" dirty="0" err="1"/>
              <a:t>fibre</a:t>
            </a:r>
            <a:r>
              <a:rPr lang="en-US" dirty="0"/>
              <a:t> covered all that was insoluble in boiling water or in dilute acid and alkali conditions. It was reported as ‘crude </a:t>
            </a:r>
            <a:r>
              <a:rPr lang="en-US" dirty="0" err="1"/>
              <a:t>fibre</a:t>
            </a:r>
            <a:r>
              <a:rPr lang="en-US" dirty="0"/>
              <a:t>’, which may include all structural </a:t>
            </a:r>
            <a:r>
              <a:rPr lang="en-US" dirty="0" err="1"/>
              <a:t>fibre</a:t>
            </a:r>
            <a:r>
              <a:rPr lang="en-US" dirty="0"/>
              <a:t>, cellulose, lignin and </a:t>
            </a:r>
            <a:r>
              <a:rPr lang="en-US" dirty="0" err="1"/>
              <a:t>haemicellulose</a:t>
            </a:r>
            <a:r>
              <a:rPr lang="en-US" dirty="0"/>
              <a:t>.</a:t>
            </a:r>
          </a:p>
          <a:p>
            <a:r>
              <a:rPr lang="en-US" dirty="0"/>
              <a:t>It is related to digestibility and has the property of holding water and swelling properties of the diet. It adds to the bulk of the food, </a:t>
            </a:r>
            <a:r>
              <a:rPr lang="en-US" dirty="0" err="1"/>
              <a:t>favours</a:t>
            </a:r>
            <a:r>
              <a:rPr lang="en-US" dirty="0"/>
              <a:t> satiety, increases transit time of the food in the gut and is an active substrate in the large intestine for release of important functional components like organic acids and nutraceuticals. Mostly complex carbohydrates, such as polysaccharides i.e. cellulose, </a:t>
            </a:r>
            <a:r>
              <a:rPr lang="en-US" dirty="0" err="1"/>
              <a:t>haemicellulose</a:t>
            </a:r>
            <a:r>
              <a:rPr lang="en-US" dirty="0"/>
              <a:t>, pectin and a variety of gums, </a:t>
            </a:r>
            <a:r>
              <a:rPr lang="en-US" dirty="0" err="1"/>
              <a:t>mucilages</a:t>
            </a:r>
            <a:r>
              <a:rPr lang="en-US" dirty="0"/>
              <a:t> form the </a:t>
            </a:r>
            <a:r>
              <a:rPr lang="en-US" dirty="0" err="1"/>
              <a:t>fibre</a:t>
            </a:r>
            <a:r>
              <a:rPr lang="en-US" dirty="0"/>
              <a:t>.</a:t>
            </a:r>
          </a:p>
        </p:txBody>
      </p:sp>
    </p:spTree>
    <p:extLst>
      <p:ext uri="{BB962C8B-B14F-4D97-AF65-F5344CB8AC3E}">
        <p14:creationId xmlns:p14="http://schemas.microsoft.com/office/powerpoint/2010/main" val="1784705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00B6E-4729-5F08-125A-8EC049C8F48E}"/>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B75BF96B-10DB-6517-9D6C-C721051E2572}"/>
              </a:ext>
            </a:extLst>
          </p:cNvPr>
          <p:cNvSpPr>
            <a:spLocks noGrp="1"/>
          </p:cNvSpPr>
          <p:nvPr>
            <p:ph idx="1"/>
          </p:nvPr>
        </p:nvSpPr>
        <p:spPr/>
        <p:txBody>
          <a:bodyPr>
            <a:normAutofit/>
          </a:bodyPr>
          <a:lstStyle/>
          <a:p>
            <a:r>
              <a:rPr lang="en-US" dirty="0"/>
              <a:t>Associated with reduced incidence of coronary heart disease. </a:t>
            </a:r>
          </a:p>
          <a:p>
            <a:r>
              <a:rPr lang="en-US" dirty="0"/>
              <a:t>The mechanism of its action is attributed to its binding to bile salts and preventing its reabsorption and thus reducing cholesterol level in circulation. </a:t>
            </a:r>
          </a:p>
          <a:p>
            <a:r>
              <a:rPr lang="en-US" dirty="0"/>
              <a:t>The </a:t>
            </a:r>
            <a:r>
              <a:rPr lang="en-US" dirty="0" err="1"/>
              <a:t>fibre</a:t>
            </a:r>
            <a:r>
              <a:rPr lang="en-US" dirty="0"/>
              <a:t>, particularly the gum and pectin, when ingested with a diet, are reported to reduce post-prandial glucose level in blood. Recent studies have shown that gum present in fenugreek seeds, which contains 40 per cent gum, is most effective in reducing blood glucose and cholesterol compared to other gums.</a:t>
            </a:r>
          </a:p>
          <a:p>
            <a:endParaRPr lang="en-US" dirty="0"/>
          </a:p>
        </p:txBody>
      </p:sp>
    </p:spTree>
    <p:extLst>
      <p:ext uri="{BB962C8B-B14F-4D97-AF65-F5344CB8AC3E}">
        <p14:creationId xmlns:p14="http://schemas.microsoft.com/office/powerpoint/2010/main" val="3822970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668B-0181-983E-4ED7-27C365DF5C1E}"/>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4F237E17-F598-43E6-C4AC-6321E7CE6C42}"/>
              </a:ext>
            </a:extLst>
          </p:cNvPr>
          <p:cNvSpPr>
            <a:spLocks noGrp="1"/>
          </p:cNvSpPr>
          <p:nvPr>
            <p:ph idx="1"/>
          </p:nvPr>
        </p:nvSpPr>
        <p:spPr/>
        <p:txBody>
          <a:bodyPr/>
          <a:lstStyle/>
          <a:p>
            <a:r>
              <a:rPr lang="en-US" dirty="0" err="1"/>
              <a:t>Fibre</a:t>
            </a:r>
            <a:r>
              <a:rPr lang="en-US" dirty="0"/>
              <a:t> have no metabolic effects. </a:t>
            </a:r>
          </a:p>
          <a:p>
            <a:r>
              <a:rPr lang="en-US" dirty="0"/>
              <a:t>Too much of </a:t>
            </a:r>
            <a:r>
              <a:rPr lang="en-US" dirty="0" err="1"/>
              <a:t>fibre</a:t>
            </a:r>
            <a:r>
              <a:rPr lang="en-US" dirty="0"/>
              <a:t> can decrease the absorption of valuable micronutrients, There is conflicting evidence as to whether </a:t>
            </a:r>
            <a:r>
              <a:rPr lang="en-US" dirty="0" err="1"/>
              <a:t>fibre</a:t>
            </a:r>
            <a:r>
              <a:rPr lang="en-US" dirty="0"/>
              <a:t> tends to bind some vitamins and minerals like calcium, magnesium, iron and zinc, and reduce their bio-availability. </a:t>
            </a:r>
          </a:p>
          <a:p>
            <a:r>
              <a:rPr lang="en-US" dirty="0"/>
              <a:t>People who eat well-balanced diet obtain enough roughage.</a:t>
            </a:r>
          </a:p>
        </p:txBody>
      </p:sp>
    </p:spTree>
    <p:extLst>
      <p:ext uri="{BB962C8B-B14F-4D97-AF65-F5344CB8AC3E}">
        <p14:creationId xmlns:p14="http://schemas.microsoft.com/office/powerpoint/2010/main" val="1477723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274FB-5BC5-2E31-03D4-83F0DD70766D}"/>
              </a:ext>
            </a:extLst>
          </p:cNvPr>
          <p:cNvSpPr>
            <a:spLocks noGrp="1"/>
          </p:cNvSpPr>
          <p:nvPr>
            <p:ph type="title"/>
          </p:nvPr>
        </p:nvSpPr>
        <p:spPr>
          <a:xfrm>
            <a:off x="924443" y="139622"/>
            <a:ext cx="10353761" cy="1326321"/>
          </a:xfrm>
        </p:spPr>
        <p:txBody>
          <a:bodyPr/>
          <a:lstStyle/>
          <a:p>
            <a:r>
              <a:rPr lang="en-US" dirty="0"/>
              <a:t>Recommendations</a:t>
            </a:r>
          </a:p>
        </p:txBody>
      </p:sp>
      <p:sp>
        <p:nvSpPr>
          <p:cNvPr id="3" name="Content Placeholder 2">
            <a:extLst>
              <a:ext uri="{FF2B5EF4-FFF2-40B4-BE49-F238E27FC236}">
                <a16:creationId xmlns:a16="http://schemas.microsoft.com/office/drawing/2014/main" id="{60B0182E-D03E-4FA2-6733-BA207D15C063}"/>
              </a:ext>
            </a:extLst>
          </p:cNvPr>
          <p:cNvSpPr>
            <a:spLocks noGrp="1"/>
          </p:cNvSpPr>
          <p:nvPr>
            <p:ph idx="1"/>
          </p:nvPr>
        </p:nvSpPr>
        <p:spPr>
          <a:xfrm>
            <a:off x="188686" y="1465943"/>
            <a:ext cx="12003314" cy="5252435"/>
          </a:xfrm>
        </p:spPr>
        <p:txBody>
          <a:bodyPr>
            <a:normAutofit/>
          </a:bodyPr>
          <a:lstStyle/>
          <a:p>
            <a:r>
              <a:rPr lang="en-US" sz="2400" dirty="0"/>
              <a:t>Intake in excess of 60 g of </a:t>
            </a:r>
            <a:r>
              <a:rPr lang="en-US" sz="2400" dirty="0" err="1"/>
              <a:t>fibre</a:t>
            </a:r>
            <a:r>
              <a:rPr lang="en-US" sz="2400" dirty="0"/>
              <a:t> over a day can reduce the nutrient absorption and cause bowel irritation. </a:t>
            </a:r>
          </a:p>
          <a:p>
            <a:r>
              <a:rPr lang="en-US" sz="2400" dirty="0"/>
              <a:t>A daily intake of about 30 grams of dietary </a:t>
            </a:r>
            <a:r>
              <a:rPr lang="en-US" sz="2400" dirty="0" err="1"/>
              <a:t>fibre</a:t>
            </a:r>
            <a:r>
              <a:rPr lang="en-US" sz="2400" dirty="0"/>
              <a:t> per 2000 kcal is desirable. </a:t>
            </a:r>
          </a:p>
          <a:p>
            <a:r>
              <a:rPr lang="en-US" sz="2400" dirty="0"/>
              <a:t>The estimates of dietary </a:t>
            </a:r>
            <a:r>
              <a:rPr lang="en-US" sz="2400" dirty="0" err="1"/>
              <a:t>fibre</a:t>
            </a:r>
            <a:r>
              <a:rPr lang="en-US" sz="2400" dirty="0"/>
              <a:t> intake in different income segments reported from western India are : </a:t>
            </a:r>
          </a:p>
          <a:p>
            <a:pPr lvl="1"/>
            <a:r>
              <a:rPr lang="en-US" sz="2000" dirty="0"/>
              <a:t>Rural - 39 grams per day for men and 30 g/day for women; </a:t>
            </a:r>
          </a:p>
          <a:p>
            <a:pPr lvl="1"/>
            <a:r>
              <a:rPr lang="en-US" sz="2000" dirty="0"/>
              <a:t>Tribal - 19 g/day for men and 15 g/day for women; </a:t>
            </a:r>
          </a:p>
          <a:p>
            <a:pPr lvl="1"/>
            <a:r>
              <a:rPr lang="en-US" sz="2000" dirty="0"/>
              <a:t>Industrial - 41 g/day for men and 31 g/day for women; </a:t>
            </a:r>
          </a:p>
          <a:p>
            <a:pPr lvl="1"/>
            <a:r>
              <a:rPr lang="en-US" sz="2000" dirty="0"/>
              <a:t>High income group - 31 g/day for men and 21 g/day for women; </a:t>
            </a:r>
          </a:p>
          <a:p>
            <a:pPr lvl="1"/>
            <a:r>
              <a:rPr lang="en-US" sz="2000" dirty="0"/>
              <a:t>Middle income group - 43 g/day for men and 22 g/day for women</a:t>
            </a:r>
          </a:p>
          <a:p>
            <a:pPr lvl="1"/>
            <a:r>
              <a:rPr lang="en-US" sz="2000" dirty="0"/>
              <a:t>Low income group - 24 g/day for men and 20 g/day for women</a:t>
            </a:r>
          </a:p>
        </p:txBody>
      </p:sp>
    </p:spTree>
    <p:extLst>
      <p:ext uri="{BB962C8B-B14F-4D97-AF65-F5344CB8AC3E}">
        <p14:creationId xmlns:p14="http://schemas.microsoft.com/office/powerpoint/2010/main" val="3852335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07D92-D6E6-237F-C01B-49EC9CB9EEFE}"/>
              </a:ext>
            </a:extLst>
          </p:cNvPr>
          <p:cNvSpPr>
            <a:spLocks noGrp="1"/>
          </p:cNvSpPr>
          <p:nvPr>
            <p:ph type="title"/>
          </p:nvPr>
        </p:nvSpPr>
        <p:spPr>
          <a:xfrm>
            <a:off x="1135781" y="1122363"/>
            <a:ext cx="5896391" cy="2387600"/>
          </a:xfrm>
        </p:spPr>
        <p:txBody>
          <a:bodyPr vert="horz" lIns="91440" tIns="45720" rIns="91440" bIns="45720" rtlCol="0" anchor="b">
            <a:normAutofit/>
          </a:bodyPr>
          <a:lstStyle/>
          <a:p>
            <a:r>
              <a:rPr lang="en-US" sz="4800"/>
              <a:t>Thanks</a:t>
            </a:r>
          </a:p>
        </p:txBody>
      </p:sp>
      <p:pic>
        <p:nvPicPr>
          <p:cNvPr id="7" name="Graphic 6" descr="Smiling Face with No Fill">
            <a:extLst>
              <a:ext uri="{FF2B5EF4-FFF2-40B4-BE49-F238E27FC236}">
                <a16:creationId xmlns:a16="http://schemas.microsoft.com/office/drawing/2014/main" id="{61F18C64-B8D2-31DB-D5BE-EA28A92FEF8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78736" y="1488697"/>
            <a:ext cx="3402767" cy="3402767"/>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41964687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70</TotalTime>
  <Words>1580</Words>
  <Application>Microsoft Office PowerPoint</Application>
  <PresentationFormat>Widescreen</PresentationFormat>
  <Paragraphs>66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Times New Roman</vt:lpstr>
      <vt:lpstr>Damask</vt:lpstr>
      <vt:lpstr>Nutrition</vt:lpstr>
      <vt:lpstr>Fats &amp; disease</vt:lpstr>
      <vt:lpstr>Fats &amp; disease</vt:lpstr>
      <vt:lpstr>Recommendations</vt:lpstr>
      <vt:lpstr>Fat requirements</vt:lpstr>
      <vt:lpstr>Carbohydrates</vt:lpstr>
      <vt:lpstr> Glycemic Index</vt:lpstr>
      <vt:lpstr>Dietary Fibre</vt:lpstr>
      <vt:lpstr>Types &amp; Sources</vt:lpstr>
      <vt:lpstr>Types &amp; Sources</vt:lpstr>
      <vt:lpstr>Advantages</vt:lpstr>
      <vt:lpstr>Disadvantages</vt:lpstr>
      <vt:lpstr>Recommendations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Nutrition</dc:title>
  <dc:creator>mukul maheshwari</dc:creator>
  <cp:lastModifiedBy>mukul maheshwari</cp:lastModifiedBy>
  <cp:revision>1</cp:revision>
  <dcterms:created xsi:type="dcterms:W3CDTF">2023-10-03T20:19:31Z</dcterms:created>
  <dcterms:modified xsi:type="dcterms:W3CDTF">2023-10-03T21:30:16Z</dcterms:modified>
</cp:coreProperties>
</file>