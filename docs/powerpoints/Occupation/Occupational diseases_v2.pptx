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1" d="100"/>
          <a:sy n="41" d="100"/>
        </p:scale>
        <p:origin x="84" y="16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CA2A4-DCB8-6B4F-D1CB-083B17C277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76AEAC-35D4-B4B8-01DB-D328761A3E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A7AA6A-E378-7525-43D8-44AAEED34936}"/>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5" name="Footer Placeholder 4">
            <a:extLst>
              <a:ext uri="{FF2B5EF4-FFF2-40B4-BE49-F238E27FC236}">
                <a16:creationId xmlns:a16="http://schemas.microsoft.com/office/drawing/2014/main" id="{DC54D899-7D87-D376-13F5-98ADFE0B2B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9DA4F4-DEC8-1AB9-487A-D601125D247B}"/>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4066802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BF063-1C3F-95AA-6740-BCB7FFBA7F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449619-818D-0CB2-DB96-43C2631116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4A22DE-B8BF-21E9-D3EC-2A8A61085B0F}"/>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5" name="Footer Placeholder 4">
            <a:extLst>
              <a:ext uri="{FF2B5EF4-FFF2-40B4-BE49-F238E27FC236}">
                <a16:creationId xmlns:a16="http://schemas.microsoft.com/office/drawing/2014/main" id="{B52C897C-5F67-BF8F-B108-58155CA30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6100B-DA4F-0DF3-C358-2B6B10F9DF2B}"/>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3229517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96ED1-25B9-A11A-C22C-721B3E8E16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EC8F9A-4CFA-E1C5-1414-07E7437DD1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D30196-F4A0-689D-8FBE-ABB2089FA371}"/>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5" name="Footer Placeholder 4">
            <a:extLst>
              <a:ext uri="{FF2B5EF4-FFF2-40B4-BE49-F238E27FC236}">
                <a16:creationId xmlns:a16="http://schemas.microsoft.com/office/drawing/2014/main" id="{CD87E3E5-A704-F02F-E065-10FE15F7EF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F860ED-4432-3DCB-D028-18C2F152D131}"/>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225771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D3B5-7A4B-BA88-BBA8-16C45C54D9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1BB858-51D8-39F6-45F5-B041A8EF7B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DF08BA-F9B1-D8F5-61D3-16D03E9FA4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A7D193-F833-53EA-538A-FDD68DCE0649}"/>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6" name="Footer Placeholder 5">
            <a:extLst>
              <a:ext uri="{FF2B5EF4-FFF2-40B4-BE49-F238E27FC236}">
                <a16:creationId xmlns:a16="http://schemas.microsoft.com/office/drawing/2014/main" id="{23AFF167-D38A-5E2C-17E5-73DD36753F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CD689D-951C-53D2-3C54-6C9E982CCBD0}"/>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3804767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F79E0-8DAD-DCD7-DABB-8EE0A49743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1FCD98-2E1E-0CD9-E80A-7B89495290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DE0F53-46F7-3DCC-5FCB-0B6D385739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54CD2E-2C19-E5F8-3565-EB6D39056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AF5CD9-F322-C50F-7324-2C47A8EFA3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3A13C2-A87E-391F-9FE4-4539822E4261}"/>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8" name="Footer Placeholder 7">
            <a:extLst>
              <a:ext uri="{FF2B5EF4-FFF2-40B4-BE49-F238E27FC236}">
                <a16:creationId xmlns:a16="http://schemas.microsoft.com/office/drawing/2014/main" id="{69536566-FD60-DEC2-F92F-1CF3B61CC5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F39E13-D761-26C8-7A9E-FBE7972BF6EC}"/>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2314115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FB590-8C05-D8F3-A841-67032C4346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495B95-ABFD-BAE7-257B-54C0CC3C7838}"/>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4" name="Footer Placeholder 3">
            <a:extLst>
              <a:ext uri="{FF2B5EF4-FFF2-40B4-BE49-F238E27FC236}">
                <a16:creationId xmlns:a16="http://schemas.microsoft.com/office/drawing/2014/main" id="{26421802-16DA-AB30-FA42-6F8B5EDA3E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B39252-7CDD-90D9-A4F3-CBE334F87C43}"/>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3406196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9F0CD0-BE37-4186-A1F3-D2CFE30DD5FC}"/>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3" name="Footer Placeholder 2">
            <a:extLst>
              <a:ext uri="{FF2B5EF4-FFF2-40B4-BE49-F238E27FC236}">
                <a16:creationId xmlns:a16="http://schemas.microsoft.com/office/drawing/2014/main" id="{4B9848E5-3BEF-87B1-F4CD-29BCC671D0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584F83-90CA-8D7E-46EE-00219B212E23}"/>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3377363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C702-ED55-2CEF-AEB8-1BE13F26E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2AD309-558E-B7B1-AC1F-C5FCC913D7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41B00B-D5C0-2C86-AB11-13D9A5155E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A059B5-EC49-C506-FFE9-F15B877AB8DA}"/>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6" name="Footer Placeholder 5">
            <a:extLst>
              <a:ext uri="{FF2B5EF4-FFF2-40B4-BE49-F238E27FC236}">
                <a16:creationId xmlns:a16="http://schemas.microsoft.com/office/drawing/2014/main" id="{4AA1F22A-4F7C-DD84-53B5-23157CFE69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C5C2FC-95D9-4608-CA77-A42A83427B22}"/>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639364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7389-3390-6845-5F59-1E6BCBBB84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44DAC8-CC06-3BA1-472A-6A8A92C2C4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9A2240-7AA1-2BD5-6DF9-3068E3EE8F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CC03CA-3010-8F9D-4CB6-219232F4FA70}"/>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6" name="Footer Placeholder 5">
            <a:extLst>
              <a:ext uri="{FF2B5EF4-FFF2-40B4-BE49-F238E27FC236}">
                <a16:creationId xmlns:a16="http://schemas.microsoft.com/office/drawing/2014/main" id="{82A8FAA8-4870-F5F3-95E4-08F5809A2E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D2F6A1-F935-6110-AE61-C034EB0C50EC}"/>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1440138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B787E-5608-FDA9-C611-9BDA8E88A9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3FF5F7-E416-4F32-838E-8BE9ACDB93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951A7A-692E-ED96-B575-A75E0573C552}"/>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5" name="Footer Placeholder 4">
            <a:extLst>
              <a:ext uri="{FF2B5EF4-FFF2-40B4-BE49-F238E27FC236}">
                <a16:creationId xmlns:a16="http://schemas.microsoft.com/office/drawing/2014/main" id="{3D6D4927-72FE-A444-8210-118601D79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CADFDA-28F7-6C02-3D6E-DD04DF05BE39}"/>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2083718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5BCD76-BEC2-55DC-CE0B-7CC118C5A5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EA42EF-5BCD-B740-1F1B-798BB9E469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08D9B7-4ECE-625C-2BB8-A585B2F63347}"/>
              </a:ext>
            </a:extLst>
          </p:cNvPr>
          <p:cNvSpPr>
            <a:spLocks noGrp="1"/>
          </p:cNvSpPr>
          <p:nvPr>
            <p:ph type="dt" sz="half" idx="10"/>
          </p:nvPr>
        </p:nvSpPr>
        <p:spPr/>
        <p:txBody>
          <a:bodyPr/>
          <a:lstStyle/>
          <a:p>
            <a:fld id="{153C4941-E692-4917-8B79-A375F9E20FF2}" type="datetimeFigureOut">
              <a:rPr lang="en-US" smtClean="0"/>
              <a:t>9/5/2023</a:t>
            </a:fld>
            <a:endParaRPr lang="en-US"/>
          </a:p>
        </p:txBody>
      </p:sp>
      <p:sp>
        <p:nvSpPr>
          <p:cNvPr id="5" name="Footer Placeholder 4">
            <a:extLst>
              <a:ext uri="{FF2B5EF4-FFF2-40B4-BE49-F238E27FC236}">
                <a16:creationId xmlns:a16="http://schemas.microsoft.com/office/drawing/2014/main" id="{45FBF16D-2148-22E0-5146-E0399DA0E2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D2495-1661-253A-C75B-7FE4B224F6C5}"/>
              </a:ext>
            </a:extLst>
          </p:cNvPr>
          <p:cNvSpPr>
            <a:spLocks noGrp="1"/>
          </p:cNvSpPr>
          <p:nvPr>
            <p:ph type="sldNum" sz="quarter" idx="12"/>
          </p:nvPr>
        </p:nvSpPr>
        <p:spPr/>
        <p:txBody>
          <a:bodyPr/>
          <a:lstStyle/>
          <a:p>
            <a:fld id="{5F52387C-DE50-4016-BC4F-403EB0375F68}" type="slidenum">
              <a:rPr lang="en-US" smtClean="0"/>
              <a:t>‹#›</a:t>
            </a:fld>
            <a:endParaRPr lang="en-US"/>
          </a:p>
        </p:txBody>
      </p:sp>
    </p:spTree>
    <p:extLst>
      <p:ext uri="{BB962C8B-B14F-4D97-AF65-F5344CB8AC3E}">
        <p14:creationId xmlns:p14="http://schemas.microsoft.com/office/powerpoint/2010/main" val="584309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A70D5A-07FB-4EAA-C4C0-FC8B1BE982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33A264-FA86-D767-1A79-FA4C6C2440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B1E68D-FB6C-B738-0FDB-307EC7563B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3C4941-E692-4917-8B79-A375F9E20FF2}" type="datetimeFigureOut">
              <a:rPr lang="en-US" smtClean="0"/>
              <a:t>9/5/2023</a:t>
            </a:fld>
            <a:endParaRPr lang="en-US"/>
          </a:p>
        </p:txBody>
      </p:sp>
      <p:sp>
        <p:nvSpPr>
          <p:cNvPr id="5" name="Footer Placeholder 4">
            <a:extLst>
              <a:ext uri="{FF2B5EF4-FFF2-40B4-BE49-F238E27FC236}">
                <a16:creationId xmlns:a16="http://schemas.microsoft.com/office/drawing/2014/main" id="{F310D2B0-4177-3D9B-A060-2E64457203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37E83B9-F6A7-0247-6017-F7F7ECFD8E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52387C-DE50-4016-BC4F-403EB0375F68}" type="slidenum">
              <a:rPr lang="en-US" smtClean="0"/>
              <a:t>‹#›</a:t>
            </a:fld>
            <a:endParaRPr lang="en-US"/>
          </a:p>
        </p:txBody>
      </p:sp>
    </p:spTree>
    <p:extLst>
      <p:ext uri="{BB962C8B-B14F-4D97-AF65-F5344CB8AC3E}">
        <p14:creationId xmlns:p14="http://schemas.microsoft.com/office/powerpoint/2010/main" val="3959430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43A10-C745-2A0F-C23E-0C2464DA04C8}"/>
              </a:ext>
            </a:extLst>
          </p:cNvPr>
          <p:cNvSpPr>
            <a:spLocks noGrp="1"/>
          </p:cNvSpPr>
          <p:nvPr>
            <p:ph type="ctrTitle"/>
          </p:nvPr>
        </p:nvSpPr>
        <p:spPr/>
        <p:txBody>
          <a:bodyPr/>
          <a:lstStyle/>
          <a:p>
            <a:r>
              <a:rPr lang="en-US" dirty="0"/>
              <a:t>Occupational diseases</a:t>
            </a:r>
          </a:p>
        </p:txBody>
      </p:sp>
      <p:sp>
        <p:nvSpPr>
          <p:cNvPr id="3" name="Subtitle 2">
            <a:extLst>
              <a:ext uri="{FF2B5EF4-FFF2-40B4-BE49-F238E27FC236}">
                <a16:creationId xmlns:a16="http://schemas.microsoft.com/office/drawing/2014/main" id="{22C96641-A885-3B8C-2D45-0C97EC3A431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61800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9074C-6A02-18D6-E6F0-67FFFC96F471}"/>
              </a:ext>
            </a:extLst>
          </p:cNvPr>
          <p:cNvSpPr>
            <a:spLocks noGrp="1"/>
          </p:cNvSpPr>
          <p:nvPr>
            <p:ph type="title"/>
          </p:nvPr>
        </p:nvSpPr>
        <p:spPr/>
        <p:txBody>
          <a:bodyPr/>
          <a:lstStyle/>
          <a:p>
            <a:r>
              <a:rPr lang="en-US" dirty="0"/>
              <a:t>Skin Cancer</a:t>
            </a:r>
          </a:p>
        </p:txBody>
      </p:sp>
      <p:sp>
        <p:nvSpPr>
          <p:cNvPr id="3" name="Content Placeholder 2">
            <a:extLst>
              <a:ext uri="{FF2B5EF4-FFF2-40B4-BE49-F238E27FC236}">
                <a16:creationId xmlns:a16="http://schemas.microsoft.com/office/drawing/2014/main" id="{31226AD0-1F38-1D37-02D2-3CB3335CD0C1}"/>
              </a:ext>
            </a:extLst>
          </p:cNvPr>
          <p:cNvSpPr>
            <a:spLocks noGrp="1"/>
          </p:cNvSpPr>
          <p:nvPr>
            <p:ph idx="1"/>
          </p:nvPr>
        </p:nvSpPr>
        <p:spPr/>
        <p:txBody>
          <a:bodyPr>
            <a:normAutofit/>
          </a:bodyPr>
          <a:lstStyle/>
          <a:p>
            <a:r>
              <a:rPr lang="en-US" dirty="0"/>
              <a:t>Percival Pott was first to draw attention to cancer of scrotum in chimney sweeps in 1775. It was subsequently found that cancer of the scrotum and of the skin in other parts of the body was caused by coal tar, X-rays, certain oils and dyes. </a:t>
            </a:r>
          </a:p>
          <a:p>
            <a:r>
              <a:rPr lang="en-US" dirty="0"/>
              <a:t>Statistics now show that nearly 75 per cent of occupational cancers are skin cancer. </a:t>
            </a:r>
          </a:p>
          <a:p>
            <a:r>
              <a:rPr lang="en-US" dirty="0"/>
              <a:t>Skin cancers are an occupational hazard among gas workers, coke oven workers, tar distillers, oil refiners, dye-stuff makers, road makers and in industries associated with the use of mineral oil, pitch, tar and related compounds.</a:t>
            </a:r>
          </a:p>
        </p:txBody>
      </p:sp>
    </p:spTree>
    <p:extLst>
      <p:ext uri="{BB962C8B-B14F-4D97-AF65-F5344CB8AC3E}">
        <p14:creationId xmlns:p14="http://schemas.microsoft.com/office/powerpoint/2010/main" val="3299915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2D0C3-6689-46E7-9D6B-6FBB6D4B9670}"/>
              </a:ext>
            </a:extLst>
          </p:cNvPr>
          <p:cNvSpPr>
            <a:spLocks noGrp="1"/>
          </p:cNvSpPr>
          <p:nvPr>
            <p:ph type="title"/>
          </p:nvPr>
        </p:nvSpPr>
        <p:spPr/>
        <p:txBody>
          <a:bodyPr/>
          <a:lstStyle/>
          <a:p>
            <a:r>
              <a:rPr lang="en-US" dirty="0"/>
              <a:t>Lung Cancer</a:t>
            </a:r>
          </a:p>
        </p:txBody>
      </p:sp>
      <p:sp>
        <p:nvSpPr>
          <p:cNvPr id="3" name="Content Placeholder 2">
            <a:extLst>
              <a:ext uri="{FF2B5EF4-FFF2-40B4-BE49-F238E27FC236}">
                <a16:creationId xmlns:a16="http://schemas.microsoft.com/office/drawing/2014/main" id="{A738C75F-4CCD-D89A-9118-22AFEAF644C9}"/>
              </a:ext>
            </a:extLst>
          </p:cNvPr>
          <p:cNvSpPr>
            <a:spLocks noGrp="1"/>
          </p:cNvSpPr>
          <p:nvPr>
            <p:ph idx="1"/>
          </p:nvPr>
        </p:nvSpPr>
        <p:spPr/>
        <p:txBody>
          <a:bodyPr>
            <a:normAutofit/>
          </a:bodyPr>
          <a:lstStyle/>
          <a:p>
            <a:r>
              <a:rPr lang="en-US" dirty="0"/>
              <a:t>Lung cancer is a hazard in gas industry, asbestos industry, nickel and chromium work, arsenic roasting plants and in the mining of radio-active substances (e.g., uranium).</a:t>
            </a:r>
          </a:p>
          <a:p>
            <a:r>
              <a:rPr lang="en-US" dirty="0"/>
              <a:t>Nickel, chromates, asbestos, coal tar (presumably 3-4 </a:t>
            </a:r>
            <a:r>
              <a:rPr lang="en-US" dirty="0" err="1"/>
              <a:t>benzpyrene</a:t>
            </a:r>
            <a:r>
              <a:rPr lang="en-US" dirty="0"/>
              <a:t>), radio-active substances and cigarette-smoking are proved carcinogens for the lungs. </a:t>
            </a:r>
          </a:p>
          <a:p>
            <a:r>
              <a:rPr lang="en-US" dirty="0"/>
              <a:t>Arsenic, beryllium and isopropyl oil arc suspected carcinogens. </a:t>
            </a:r>
          </a:p>
          <a:p>
            <a:r>
              <a:rPr lang="en-US" dirty="0"/>
              <a:t>More than nine-tenths of lung cancer are attributed to tobacco smoking, air pollution and occupational exposure.</a:t>
            </a:r>
          </a:p>
        </p:txBody>
      </p:sp>
    </p:spTree>
    <p:extLst>
      <p:ext uri="{BB962C8B-B14F-4D97-AF65-F5344CB8AC3E}">
        <p14:creationId xmlns:p14="http://schemas.microsoft.com/office/powerpoint/2010/main" val="3515454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7B8A4-DAA9-73B5-1638-A655E7CA92D9}"/>
              </a:ext>
            </a:extLst>
          </p:cNvPr>
          <p:cNvSpPr>
            <a:spLocks noGrp="1"/>
          </p:cNvSpPr>
          <p:nvPr>
            <p:ph type="title"/>
          </p:nvPr>
        </p:nvSpPr>
        <p:spPr/>
        <p:txBody>
          <a:bodyPr/>
          <a:lstStyle/>
          <a:p>
            <a:r>
              <a:rPr lang="en-US" dirty="0"/>
              <a:t>Cancer bladder</a:t>
            </a:r>
          </a:p>
        </p:txBody>
      </p:sp>
      <p:sp>
        <p:nvSpPr>
          <p:cNvPr id="3" name="Content Placeholder 2">
            <a:extLst>
              <a:ext uri="{FF2B5EF4-FFF2-40B4-BE49-F238E27FC236}">
                <a16:creationId xmlns:a16="http://schemas.microsoft.com/office/drawing/2014/main" id="{A082D043-68DB-7A6D-872D-E6013F660779}"/>
              </a:ext>
            </a:extLst>
          </p:cNvPr>
          <p:cNvSpPr>
            <a:spLocks noGrp="1"/>
          </p:cNvSpPr>
          <p:nvPr>
            <p:ph idx="1"/>
          </p:nvPr>
        </p:nvSpPr>
        <p:spPr/>
        <p:txBody>
          <a:bodyPr>
            <a:normAutofit/>
          </a:bodyPr>
          <a:lstStyle/>
          <a:p>
            <a:r>
              <a:rPr lang="en-US" dirty="0"/>
              <a:t>Cancer bladder was first noted in man in aniline industry in 1895. In more recent years, it was noted in the rubber industry. </a:t>
            </a:r>
          </a:p>
          <a:p>
            <a:r>
              <a:rPr lang="en-US" dirty="0"/>
              <a:t>It is now known that cancer bladder is caused by aromatic amines, which are metabolized in the body and excreted in the urine. </a:t>
            </a:r>
          </a:p>
          <a:p>
            <a:r>
              <a:rPr lang="en-US" dirty="0"/>
              <a:t>The industries associated with cancer bladder are the dye-stuffs and dyeing industry, rubber, gas and the electric cable industries. </a:t>
            </a:r>
          </a:p>
          <a:p>
            <a:r>
              <a:rPr lang="en-US" dirty="0"/>
              <a:t>The following have been mentioned as possible bladder carcinogens. : </a:t>
            </a:r>
            <a:r>
              <a:rPr lang="en-US" dirty="0" err="1"/>
              <a:t>Betanaphthylamines</a:t>
            </a:r>
            <a:r>
              <a:rPr lang="en-US" dirty="0"/>
              <a:t>, benzidine, para-amino-diphenyl, auramine and magenta</a:t>
            </a:r>
          </a:p>
        </p:txBody>
      </p:sp>
    </p:spTree>
    <p:extLst>
      <p:ext uri="{BB962C8B-B14F-4D97-AF65-F5344CB8AC3E}">
        <p14:creationId xmlns:p14="http://schemas.microsoft.com/office/powerpoint/2010/main" val="959777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6D7B6-4979-844F-9001-3CA514821B3C}"/>
              </a:ext>
            </a:extLst>
          </p:cNvPr>
          <p:cNvSpPr>
            <a:spLocks noGrp="1"/>
          </p:cNvSpPr>
          <p:nvPr>
            <p:ph type="title"/>
          </p:nvPr>
        </p:nvSpPr>
        <p:spPr/>
        <p:txBody>
          <a:bodyPr/>
          <a:lstStyle/>
          <a:p>
            <a:r>
              <a:rPr lang="en-US" dirty="0"/>
              <a:t>Leukemia</a:t>
            </a:r>
          </a:p>
        </p:txBody>
      </p:sp>
      <p:sp>
        <p:nvSpPr>
          <p:cNvPr id="3" name="Content Placeholder 2">
            <a:extLst>
              <a:ext uri="{FF2B5EF4-FFF2-40B4-BE49-F238E27FC236}">
                <a16:creationId xmlns:a16="http://schemas.microsoft.com/office/drawing/2014/main" id="{B5E94DFA-B410-09C6-78E2-81B85C9C7C5D}"/>
              </a:ext>
            </a:extLst>
          </p:cNvPr>
          <p:cNvSpPr>
            <a:spLocks noGrp="1"/>
          </p:cNvSpPr>
          <p:nvPr>
            <p:ph idx="1"/>
          </p:nvPr>
        </p:nvSpPr>
        <p:spPr/>
        <p:txBody>
          <a:bodyPr>
            <a:normAutofit fontScale="92500" lnSpcReduction="10000"/>
          </a:bodyPr>
          <a:lstStyle/>
          <a:p>
            <a:r>
              <a:rPr lang="en-US" dirty="0"/>
              <a:t>Exposure to benzol, roentgen rays and radio-active substances give rise to </a:t>
            </a:r>
            <a:r>
              <a:rPr lang="en-US" dirty="0" err="1"/>
              <a:t>leukaemia</a:t>
            </a:r>
            <a:r>
              <a:rPr lang="en-US" dirty="0"/>
              <a:t>. </a:t>
            </a:r>
          </a:p>
          <a:p>
            <a:r>
              <a:rPr lang="en-US" dirty="0"/>
              <a:t>Benzol is a dangerous chemical and is used as a solvent in many industries.</a:t>
            </a:r>
          </a:p>
          <a:p>
            <a:r>
              <a:rPr lang="en-US" dirty="0" err="1"/>
              <a:t>Leukaemia</a:t>
            </a:r>
            <a:r>
              <a:rPr lang="en-US" dirty="0"/>
              <a:t> may appear long after exposure has ceased.</a:t>
            </a:r>
          </a:p>
          <a:p>
            <a:r>
              <a:rPr lang="en-US" dirty="0"/>
              <a:t>The characteristics of occupational cancer are : </a:t>
            </a:r>
          </a:p>
          <a:p>
            <a:pPr lvl="1"/>
            <a:r>
              <a:rPr lang="en-US" dirty="0"/>
              <a:t>They appear after prolonged exposure, </a:t>
            </a:r>
          </a:p>
          <a:p>
            <a:pPr lvl="1"/>
            <a:r>
              <a:rPr lang="en-US" dirty="0"/>
              <a:t>The period between exposure and development of the disease may be as long as 10 to 25 years </a:t>
            </a:r>
          </a:p>
          <a:p>
            <a:pPr lvl="1"/>
            <a:r>
              <a:rPr lang="en-US" dirty="0"/>
              <a:t>The disease may develop even after the cessation of exposure, </a:t>
            </a:r>
          </a:p>
          <a:p>
            <a:pPr lvl="1"/>
            <a:r>
              <a:rPr lang="en-US" dirty="0"/>
              <a:t>The average age incidence is earlier than that for cancer in general, </a:t>
            </a:r>
          </a:p>
          <a:p>
            <a:pPr lvl="1"/>
            <a:r>
              <a:rPr lang="en-US" dirty="0"/>
              <a:t>The localization of the </a:t>
            </a:r>
            <a:r>
              <a:rPr lang="en-US" dirty="0" err="1"/>
              <a:t>tumours</a:t>
            </a:r>
            <a:r>
              <a:rPr lang="en-US" dirty="0"/>
              <a:t> is remarkably constant in any one occupation.</a:t>
            </a:r>
          </a:p>
        </p:txBody>
      </p:sp>
    </p:spTree>
    <p:extLst>
      <p:ext uri="{BB962C8B-B14F-4D97-AF65-F5344CB8AC3E}">
        <p14:creationId xmlns:p14="http://schemas.microsoft.com/office/powerpoint/2010/main" val="3876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75572-D3F1-D6EB-FCB2-BB96F1C4B90E}"/>
              </a:ext>
            </a:extLst>
          </p:cNvPr>
          <p:cNvSpPr>
            <a:spLocks noGrp="1"/>
          </p:cNvSpPr>
          <p:nvPr>
            <p:ph type="title"/>
          </p:nvPr>
        </p:nvSpPr>
        <p:spPr/>
        <p:txBody>
          <a:bodyPr/>
          <a:lstStyle/>
          <a:p>
            <a:r>
              <a:rPr lang="en-US" dirty="0"/>
              <a:t>Control of industrial cancer</a:t>
            </a:r>
          </a:p>
        </p:txBody>
      </p:sp>
      <p:sp>
        <p:nvSpPr>
          <p:cNvPr id="3" name="Content Placeholder 2">
            <a:extLst>
              <a:ext uri="{FF2B5EF4-FFF2-40B4-BE49-F238E27FC236}">
                <a16:creationId xmlns:a16="http://schemas.microsoft.com/office/drawing/2014/main" id="{36329B92-22FB-AC2C-9035-252792DA58FC}"/>
              </a:ext>
            </a:extLst>
          </p:cNvPr>
          <p:cNvSpPr>
            <a:spLocks noGrp="1"/>
          </p:cNvSpPr>
          <p:nvPr>
            <p:ph idx="1"/>
          </p:nvPr>
        </p:nvSpPr>
        <p:spPr/>
        <p:txBody>
          <a:bodyPr>
            <a:normAutofit fontScale="92500" lnSpcReduction="10000"/>
          </a:bodyPr>
          <a:lstStyle/>
          <a:p>
            <a:r>
              <a:rPr lang="en-US" dirty="0"/>
              <a:t>Elimination or control of industrial carcinogens.</a:t>
            </a:r>
          </a:p>
          <a:p>
            <a:pPr lvl="1"/>
            <a:r>
              <a:rPr lang="en-US" dirty="0"/>
              <a:t>Technical measures like exclusion of the carcinogen from the industry, well-designed building or machinery, closed system of production, etc., </a:t>
            </a:r>
          </a:p>
          <a:p>
            <a:r>
              <a:rPr lang="en-US" dirty="0"/>
              <a:t>Medical examinations, </a:t>
            </a:r>
          </a:p>
          <a:p>
            <a:r>
              <a:rPr lang="en-US" dirty="0"/>
              <a:t>Inspection of factories, </a:t>
            </a:r>
          </a:p>
          <a:p>
            <a:r>
              <a:rPr lang="en-US" dirty="0"/>
              <a:t>Notification, </a:t>
            </a:r>
          </a:p>
          <a:p>
            <a:r>
              <a:rPr lang="en-US" dirty="0"/>
              <a:t>Licensing of establishments,</a:t>
            </a:r>
          </a:p>
          <a:p>
            <a:r>
              <a:rPr lang="en-US" dirty="0"/>
              <a:t>Personal hygiene measures, </a:t>
            </a:r>
          </a:p>
          <a:p>
            <a:r>
              <a:rPr lang="en-US" dirty="0"/>
              <a:t>Education of workers and management, </a:t>
            </a:r>
          </a:p>
          <a:p>
            <a:r>
              <a:rPr lang="en-US" dirty="0"/>
              <a:t>Research</a:t>
            </a:r>
          </a:p>
        </p:txBody>
      </p:sp>
    </p:spTree>
    <p:extLst>
      <p:ext uri="{BB962C8B-B14F-4D97-AF65-F5344CB8AC3E}">
        <p14:creationId xmlns:p14="http://schemas.microsoft.com/office/powerpoint/2010/main" val="247920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8D51B-B83D-BCDD-5987-BBAB7B4AA84F}"/>
              </a:ext>
            </a:extLst>
          </p:cNvPr>
          <p:cNvSpPr>
            <a:spLocks noGrp="1"/>
          </p:cNvSpPr>
          <p:nvPr>
            <p:ph type="title"/>
          </p:nvPr>
        </p:nvSpPr>
        <p:spPr/>
        <p:txBody>
          <a:bodyPr/>
          <a:lstStyle/>
          <a:p>
            <a:r>
              <a:rPr lang="en-US" dirty="0"/>
              <a:t>Occupational dermatitis</a:t>
            </a:r>
          </a:p>
        </p:txBody>
      </p:sp>
      <p:sp>
        <p:nvSpPr>
          <p:cNvPr id="3" name="Content Placeholder 2">
            <a:extLst>
              <a:ext uri="{FF2B5EF4-FFF2-40B4-BE49-F238E27FC236}">
                <a16:creationId xmlns:a16="http://schemas.microsoft.com/office/drawing/2014/main" id="{E1E9BC04-F0F6-50E8-7AF3-E99C9818EC30}"/>
              </a:ext>
            </a:extLst>
          </p:cNvPr>
          <p:cNvSpPr>
            <a:spLocks noGrp="1"/>
          </p:cNvSpPr>
          <p:nvPr>
            <p:ph idx="1"/>
          </p:nvPr>
        </p:nvSpPr>
        <p:spPr/>
        <p:txBody>
          <a:bodyPr>
            <a:normAutofit fontScale="85000" lnSpcReduction="20000"/>
          </a:bodyPr>
          <a:lstStyle/>
          <a:p>
            <a:r>
              <a:rPr lang="en-US" dirty="0"/>
              <a:t>The causes may be; </a:t>
            </a:r>
          </a:p>
          <a:p>
            <a:r>
              <a:rPr lang="en-US" dirty="0"/>
              <a:t>Physical - heat, cold, moisture, friction, pressure. X-rays and other rays; </a:t>
            </a:r>
          </a:p>
          <a:p>
            <a:r>
              <a:rPr lang="en-US" dirty="0"/>
              <a:t>Chemical - acids, </a:t>
            </a:r>
            <a:r>
              <a:rPr lang="en-US" dirty="0" err="1"/>
              <a:t>alkalies</a:t>
            </a:r>
            <a:r>
              <a:rPr lang="en-US" dirty="0"/>
              <a:t>, dyes, solvents, grease, tar, pitch, chlorinated phenols etc. </a:t>
            </a:r>
          </a:p>
          <a:p>
            <a:r>
              <a:rPr lang="en-US" dirty="0"/>
              <a:t>Biological - living agents such as viruses, bacteria, fungi and other parasites; </a:t>
            </a:r>
          </a:p>
          <a:p>
            <a:r>
              <a:rPr lang="en-US" dirty="0"/>
              <a:t>Plant products - leaves, vegetables, fruits, flowers, vegetable dust, etc.</a:t>
            </a:r>
          </a:p>
          <a:p>
            <a:r>
              <a:rPr lang="en-US" dirty="0"/>
              <a:t>The dermatitis-producing agents are further classified into : (1) primary irritants, and (2) sensitizing substances.</a:t>
            </a:r>
          </a:p>
          <a:p>
            <a:r>
              <a:rPr lang="en-US" dirty="0"/>
              <a:t>Primary irritants (e.g. acids, </a:t>
            </a:r>
            <a:r>
              <a:rPr lang="en-US" dirty="0" err="1"/>
              <a:t>alkalies</a:t>
            </a:r>
            <a:r>
              <a:rPr lang="en-US" dirty="0"/>
              <a:t>, dyes, solvents, etc.) cause dermatitis in workers exposed in sufficient concentration and for a long enough period of time.</a:t>
            </a:r>
          </a:p>
          <a:p>
            <a:r>
              <a:rPr lang="en-US" dirty="0"/>
              <a:t>Allergic dermatitis occurs only in small percentage of cases, due to sensitization of the skin.</a:t>
            </a:r>
          </a:p>
        </p:txBody>
      </p:sp>
    </p:spTree>
    <p:extLst>
      <p:ext uri="{BB962C8B-B14F-4D97-AF65-F5344CB8AC3E}">
        <p14:creationId xmlns:p14="http://schemas.microsoft.com/office/powerpoint/2010/main" val="774699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C44B2-9A27-B0DF-1FB7-C213F039F44B}"/>
              </a:ext>
            </a:extLst>
          </p:cNvPr>
          <p:cNvSpPr>
            <a:spLocks noGrp="1"/>
          </p:cNvSpPr>
          <p:nvPr>
            <p:ph type="title"/>
          </p:nvPr>
        </p:nvSpPr>
        <p:spPr/>
        <p:txBody>
          <a:bodyPr/>
          <a:lstStyle/>
          <a:p>
            <a:r>
              <a:rPr lang="en-US" dirty="0"/>
              <a:t>Prevention</a:t>
            </a:r>
          </a:p>
        </p:txBody>
      </p:sp>
      <p:sp>
        <p:nvSpPr>
          <p:cNvPr id="3" name="Content Placeholder 2">
            <a:extLst>
              <a:ext uri="{FF2B5EF4-FFF2-40B4-BE49-F238E27FC236}">
                <a16:creationId xmlns:a16="http://schemas.microsoft.com/office/drawing/2014/main" id="{98CEB27C-09E4-CD8F-FD4E-D911610765D5}"/>
              </a:ext>
            </a:extLst>
          </p:cNvPr>
          <p:cNvSpPr>
            <a:spLocks noGrp="1"/>
          </p:cNvSpPr>
          <p:nvPr>
            <p:ph idx="1"/>
          </p:nvPr>
        </p:nvSpPr>
        <p:spPr>
          <a:xfrm>
            <a:off x="493486" y="1393371"/>
            <a:ext cx="10860314" cy="5099504"/>
          </a:xfrm>
        </p:spPr>
        <p:txBody>
          <a:bodyPr>
            <a:normAutofit fontScale="85000" lnSpcReduction="20000"/>
          </a:bodyPr>
          <a:lstStyle/>
          <a:p>
            <a:r>
              <a:rPr lang="en-US" dirty="0"/>
              <a:t>Pre-selection : The workers should be medically examined before employment, and those with an established or suspected dermatitis or who have a known predisposition to skin disease should be kept away from jobs involving a skin hazard. </a:t>
            </a:r>
          </a:p>
          <a:p>
            <a:r>
              <a:rPr lang="en-US" dirty="0"/>
              <a:t>Protection : The worker should be given adequate protection against direct contact by protective clothing, long leather gloves, aprons and boots. </a:t>
            </a:r>
          </a:p>
          <a:p>
            <a:pPr lvl="1"/>
            <a:r>
              <a:rPr lang="en-US" dirty="0"/>
              <a:t>The protective clothing should be frequently washed and kept in good order. There are also, what are known as barrier creams which must be used regularly and correctly. There is no barrier cream so far invented which will prevent dermatitis in all occupations. </a:t>
            </a:r>
          </a:p>
          <a:p>
            <a:r>
              <a:rPr lang="en-US" dirty="0"/>
              <a:t>Personal hygiene : There should be available a plentiful supply of warm water, soap and towels. The worker should be encouraged and educated to make frequent use of these facilities. </a:t>
            </a:r>
          </a:p>
          <a:p>
            <a:pPr lvl="1"/>
            <a:r>
              <a:rPr lang="en-US" dirty="0"/>
              <a:t>Adequate washing facilities in industry are a statutory obligation under the Factories Act.  </a:t>
            </a:r>
          </a:p>
          <a:p>
            <a:r>
              <a:rPr lang="en-US" dirty="0"/>
              <a:t>Periodic inspection : There should be a periodic medical check-up of all workers for early detection and treatment of occupational dermatitis. </a:t>
            </a:r>
          </a:p>
          <a:p>
            <a:r>
              <a:rPr lang="en-US" dirty="0"/>
              <a:t>The worker should be educated to report any skin irritation, no matter how mild or insignificant.</a:t>
            </a:r>
          </a:p>
        </p:txBody>
      </p:sp>
    </p:spTree>
    <p:extLst>
      <p:ext uri="{BB962C8B-B14F-4D97-AF65-F5344CB8AC3E}">
        <p14:creationId xmlns:p14="http://schemas.microsoft.com/office/powerpoint/2010/main" val="3541005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4BA19-9E93-BC9E-9821-BF02E56A5C3F}"/>
              </a:ext>
            </a:extLst>
          </p:cNvPr>
          <p:cNvSpPr>
            <a:spLocks noGrp="1"/>
          </p:cNvSpPr>
          <p:nvPr>
            <p:ph type="title"/>
          </p:nvPr>
        </p:nvSpPr>
        <p:spPr/>
        <p:txBody>
          <a:bodyPr/>
          <a:lstStyle/>
          <a:p>
            <a:r>
              <a:rPr lang="en-US" dirty="0"/>
              <a:t>Radiation hazards</a:t>
            </a:r>
          </a:p>
        </p:txBody>
      </p:sp>
      <p:sp>
        <p:nvSpPr>
          <p:cNvPr id="3" name="Content Placeholder 2">
            <a:extLst>
              <a:ext uri="{FF2B5EF4-FFF2-40B4-BE49-F238E27FC236}">
                <a16:creationId xmlns:a16="http://schemas.microsoft.com/office/drawing/2014/main" id="{AD549FF4-35C7-0C80-3944-7776017BB794}"/>
              </a:ext>
            </a:extLst>
          </p:cNvPr>
          <p:cNvSpPr>
            <a:spLocks noGrp="1"/>
          </p:cNvSpPr>
          <p:nvPr>
            <p:ph idx="1"/>
          </p:nvPr>
        </p:nvSpPr>
        <p:spPr>
          <a:xfrm>
            <a:off x="246743" y="1378857"/>
            <a:ext cx="11107057" cy="4798106"/>
          </a:xfrm>
        </p:spPr>
        <p:txBody>
          <a:bodyPr>
            <a:normAutofit fontScale="85000" lnSpcReduction="10000"/>
          </a:bodyPr>
          <a:lstStyle/>
          <a:p>
            <a:r>
              <a:rPr lang="en-US" dirty="0"/>
              <a:t>Several industries use radium and other radio-active substances, e.g., painting of luminous dials for watches and other instruments, manufacture of radio-active paints.</a:t>
            </a:r>
          </a:p>
          <a:p>
            <a:r>
              <a:rPr lang="en-US" dirty="0"/>
              <a:t>Exposure to radium also occurs in mining of radio-active ores, </a:t>
            </a:r>
            <a:r>
              <a:rPr lang="en-US" dirty="0" err="1"/>
              <a:t>monozite</a:t>
            </a:r>
            <a:r>
              <a:rPr lang="en-US" dirty="0"/>
              <a:t> sand workers and handling of their products.</a:t>
            </a:r>
          </a:p>
          <a:p>
            <a:r>
              <a:rPr lang="en-US" dirty="0"/>
              <a:t>X-rays are used both in medicine and industry. </a:t>
            </a:r>
          </a:p>
          <a:p>
            <a:r>
              <a:rPr lang="en-US" dirty="0"/>
              <a:t>Exposure to ultraviolet rays occurs in arc and other electric welding processes. </a:t>
            </a:r>
          </a:p>
          <a:p>
            <a:r>
              <a:rPr lang="en-US" dirty="0"/>
              <a:t>Infrared rays are produced in welding, glass blowing, foundry work and other processes where metal and glass are heated to the molten state, and in heating and drying of painted and lacquered objects.</a:t>
            </a:r>
          </a:p>
          <a:p>
            <a:r>
              <a:rPr lang="en-US" dirty="0"/>
              <a:t>Effects of radiation</a:t>
            </a:r>
          </a:p>
          <a:p>
            <a:pPr lvl="1"/>
            <a:r>
              <a:rPr lang="en-US" dirty="0"/>
              <a:t>Occupational hazards due to ionizing radiation may be acute burns, dermatitis and blood dyscrasias; </a:t>
            </a:r>
          </a:p>
          <a:p>
            <a:pPr lvl="1"/>
            <a:r>
              <a:rPr lang="en-US" dirty="0"/>
              <a:t>Chronic exposure may cause malignancies and genetic effects. Lung cancer may develop in miners working in uranium mines due to inhalation of radio-active dust.</a:t>
            </a:r>
          </a:p>
        </p:txBody>
      </p:sp>
    </p:spTree>
    <p:extLst>
      <p:ext uri="{BB962C8B-B14F-4D97-AF65-F5344CB8AC3E}">
        <p14:creationId xmlns:p14="http://schemas.microsoft.com/office/powerpoint/2010/main" val="1914673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C148C-26BC-D495-EC17-7E0BEFB33BED}"/>
              </a:ext>
            </a:extLst>
          </p:cNvPr>
          <p:cNvSpPr>
            <a:spLocks noGrp="1"/>
          </p:cNvSpPr>
          <p:nvPr>
            <p:ph type="title"/>
          </p:nvPr>
        </p:nvSpPr>
        <p:spPr/>
        <p:txBody>
          <a:bodyPr/>
          <a:lstStyle/>
          <a:p>
            <a:r>
              <a:rPr lang="en-US" dirty="0"/>
              <a:t>Preventive measures</a:t>
            </a:r>
          </a:p>
        </p:txBody>
      </p:sp>
      <p:sp>
        <p:nvSpPr>
          <p:cNvPr id="3" name="Content Placeholder 2">
            <a:extLst>
              <a:ext uri="{FF2B5EF4-FFF2-40B4-BE49-F238E27FC236}">
                <a16:creationId xmlns:a16="http://schemas.microsoft.com/office/drawing/2014/main" id="{0DF9E87A-2216-827B-3769-25F736F572BD}"/>
              </a:ext>
            </a:extLst>
          </p:cNvPr>
          <p:cNvSpPr>
            <a:spLocks noGrp="1"/>
          </p:cNvSpPr>
          <p:nvPr>
            <p:ph idx="1"/>
          </p:nvPr>
        </p:nvSpPr>
        <p:spPr>
          <a:xfrm>
            <a:off x="261257" y="1553029"/>
            <a:ext cx="11092543" cy="4623934"/>
          </a:xfrm>
        </p:spPr>
        <p:txBody>
          <a:bodyPr>
            <a:normAutofit fontScale="85000" lnSpcReduction="20000"/>
          </a:bodyPr>
          <a:lstStyle/>
          <a:p>
            <a:r>
              <a:rPr lang="en-US" dirty="0"/>
              <a:t>Inhalation, swallowing or direct contact with the skin should be avoided. </a:t>
            </a:r>
          </a:p>
          <a:p>
            <a:r>
              <a:rPr lang="en-US" dirty="0"/>
              <a:t>In case of X-rays, shielding should be used of such thickness and of such material as to reduce the exposure below allowable exposures. </a:t>
            </a:r>
          </a:p>
          <a:p>
            <a:r>
              <a:rPr lang="en-US" dirty="0"/>
              <a:t>The employees should be monitored at intervals not exceeding 6 months by use of the film badge or pocket electrometer devices.</a:t>
            </a:r>
          </a:p>
          <a:p>
            <a:r>
              <a:rPr lang="en-US" dirty="0"/>
              <a:t>Suitable protective clothing to prevent contact with harmful material should be used.</a:t>
            </a:r>
          </a:p>
          <a:p>
            <a:r>
              <a:rPr lang="en-US" dirty="0"/>
              <a:t>Adequate ventilation of work-place is necessary to prevent inhalation of harmful gases and dusts. </a:t>
            </a:r>
          </a:p>
          <a:p>
            <a:r>
              <a:rPr lang="en-US" dirty="0"/>
              <a:t>Replacement and periodic examination of workers should be done every 2 months. If harmful effects are found, the employees should be transferred to work not involving exposure to radiation, </a:t>
            </a:r>
          </a:p>
          <a:p>
            <a:r>
              <a:rPr lang="en-US" dirty="0"/>
              <a:t>Pregnant women should not be allowed to work in places where there is continuous exposure.</a:t>
            </a:r>
          </a:p>
        </p:txBody>
      </p:sp>
    </p:spTree>
    <p:extLst>
      <p:ext uri="{BB962C8B-B14F-4D97-AF65-F5344CB8AC3E}">
        <p14:creationId xmlns:p14="http://schemas.microsoft.com/office/powerpoint/2010/main" val="509860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8C07-7F2D-6B98-7706-9E54D56E58C3}"/>
              </a:ext>
            </a:extLst>
          </p:cNvPr>
          <p:cNvSpPr>
            <a:spLocks noGrp="1"/>
          </p:cNvSpPr>
          <p:nvPr>
            <p:ph type="title"/>
          </p:nvPr>
        </p:nvSpPr>
        <p:spPr/>
        <p:txBody>
          <a:bodyPr/>
          <a:lstStyle/>
          <a:p>
            <a:r>
              <a:rPr lang="en-US" dirty="0"/>
              <a:t>Hazards of agricultural workers</a:t>
            </a:r>
          </a:p>
        </p:txBody>
      </p:sp>
      <p:sp>
        <p:nvSpPr>
          <p:cNvPr id="3" name="Content Placeholder 2">
            <a:extLst>
              <a:ext uri="{FF2B5EF4-FFF2-40B4-BE49-F238E27FC236}">
                <a16:creationId xmlns:a16="http://schemas.microsoft.com/office/drawing/2014/main" id="{34DC565C-6001-E649-4D38-D3EE5A2BAB3E}"/>
              </a:ext>
            </a:extLst>
          </p:cNvPr>
          <p:cNvSpPr>
            <a:spLocks noGrp="1"/>
          </p:cNvSpPr>
          <p:nvPr>
            <p:ph idx="1"/>
          </p:nvPr>
        </p:nvSpPr>
        <p:spPr/>
        <p:txBody>
          <a:bodyPr>
            <a:normAutofit fontScale="92500" lnSpcReduction="10000"/>
          </a:bodyPr>
          <a:lstStyle/>
          <a:p>
            <a:r>
              <a:rPr lang="en-US" dirty="0"/>
              <a:t>From the standpoint of capital investment and number of persons employed, agriculture may be termed as "big industry*. </a:t>
            </a:r>
          </a:p>
          <a:p>
            <a:r>
              <a:rPr lang="en-US" dirty="0"/>
              <a:t>Agricultural workers have a multitude of health problems - a fact which is often forgotten because of the widespread misconception that occupational health is mainly concerned with industry and industrialized countries.</a:t>
            </a:r>
          </a:p>
          <a:p>
            <a:r>
              <a:rPr lang="en-US" dirty="0"/>
              <a:t>ZOONOTIC DISEASES : The close contact of the agricultural worker with animals or their products increases the likelihood of contracting certain zoonotic diseases such as brucellosis, anthrax, leptospirosis, tetanus, tuberculosis(bovine) and Q fever. </a:t>
            </a:r>
          </a:p>
          <a:p>
            <a:r>
              <a:rPr lang="en-US" dirty="0"/>
              <a:t>The extent of the occupational occurrence of these diseases in most parts of the world is not known.</a:t>
            </a:r>
          </a:p>
        </p:txBody>
      </p:sp>
    </p:spTree>
    <p:extLst>
      <p:ext uri="{BB962C8B-B14F-4D97-AF65-F5344CB8AC3E}">
        <p14:creationId xmlns:p14="http://schemas.microsoft.com/office/powerpoint/2010/main" val="1543969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8C07-7F2D-6B98-7706-9E54D56E58C3}"/>
              </a:ext>
            </a:extLst>
          </p:cNvPr>
          <p:cNvSpPr>
            <a:spLocks noGrp="1"/>
          </p:cNvSpPr>
          <p:nvPr>
            <p:ph type="title"/>
          </p:nvPr>
        </p:nvSpPr>
        <p:spPr/>
        <p:txBody>
          <a:bodyPr/>
          <a:lstStyle/>
          <a:p>
            <a:r>
              <a:rPr lang="en-US" dirty="0"/>
              <a:t>Hazards of agricultural workers</a:t>
            </a:r>
          </a:p>
        </p:txBody>
      </p:sp>
      <p:sp>
        <p:nvSpPr>
          <p:cNvPr id="3" name="Content Placeholder 2">
            <a:extLst>
              <a:ext uri="{FF2B5EF4-FFF2-40B4-BE49-F238E27FC236}">
                <a16:creationId xmlns:a16="http://schemas.microsoft.com/office/drawing/2014/main" id="{34DC565C-6001-E649-4D38-D3EE5A2BAB3E}"/>
              </a:ext>
            </a:extLst>
          </p:cNvPr>
          <p:cNvSpPr>
            <a:spLocks noGrp="1"/>
          </p:cNvSpPr>
          <p:nvPr>
            <p:ph idx="1"/>
          </p:nvPr>
        </p:nvSpPr>
        <p:spPr/>
        <p:txBody>
          <a:bodyPr>
            <a:normAutofit/>
          </a:bodyPr>
          <a:lstStyle/>
          <a:p>
            <a:r>
              <a:rPr lang="en-US" dirty="0"/>
              <a:t>ACCIDENTS : Agricultural accidents are becoming more frequent, even in developing countries, as a result of the increasing use of agricultural machinery. </a:t>
            </a:r>
          </a:p>
          <a:p>
            <a:pPr lvl="1"/>
            <a:r>
              <a:rPr lang="en-US" dirty="0"/>
              <a:t>Insect and snake bites are an additional health problem in India.</a:t>
            </a:r>
          </a:p>
          <a:p>
            <a:r>
              <a:rPr lang="en-US" dirty="0"/>
              <a:t>TOXIC HAZARDS : Chemicals are being used increasingly in agriculture either as fertilizers, insecticides or pesticides. </a:t>
            </a:r>
          </a:p>
          <a:p>
            <a:pPr lvl="1"/>
            <a:r>
              <a:rPr lang="en-US" dirty="0"/>
              <a:t>Associated factors such as malnutrition and parasitic infestation may increase susceptibility to poisoning at relatively low levels of  exposure.</a:t>
            </a:r>
          </a:p>
        </p:txBody>
      </p:sp>
    </p:spTree>
    <p:extLst>
      <p:ext uri="{BB962C8B-B14F-4D97-AF65-F5344CB8AC3E}">
        <p14:creationId xmlns:p14="http://schemas.microsoft.com/office/powerpoint/2010/main" val="683843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8C07-7F2D-6B98-7706-9E54D56E58C3}"/>
              </a:ext>
            </a:extLst>
          </p:cNvPr>
          <p:cNvSpPr>
            <a:spLocks noGrp="1"/>
          </p:cNvSpPr>
          <p:nvPr>
            <p:ph type="title"/>
          </p:nvPr>
        </p:nvSpPr>
        <p:spPr/>
        <p:txBody>
          <a:bodyPr/>
          <a:lstStyle/>
          <a:p>
            <a:r>
              <a:rPr lang="en-US" dirty="0"/>
              <a:t>Hazards of agricultural workers</a:t>
            </a:r>
          </a:p>
        </p:txBody>
      </p:sp>
      <p:sp>
        <p:nvSpPr>
          <p:cNvPr id="3" name="Content Placeholder 2">
            <a:extLst>
              <a:ext uri="{FF2B5EF4-FFF2-40B4-BE49-F238E27FC236}">
                <a16:creationId xmlns:a16="http://schemas.microsoft.com/office/drawing/2014/main" id="{34DC565C-6001-E649-4D38-D3EE5A2BAB3E}"/>
              </a:ext>
            </a:extLst>
          </p:cNvPr>
          <p:cNvSpPr>
            <a:spLocks noGrp="1"/>
          </p:cNvSpPr>
          <p:nvPr>
            <p:ph idx="1"/>
          </p:nvPr>
        </p:nvSpPr>
        <p:spPr/>
        <p:txBody>
          <a:bodyPr>
            <a:normAutofit/>
          </a:bodyPr>
          <a:lstStyle/>
          <a:p>
            <a:r>
              <a:rPr lang="en-US" dirty="0"/>
              <a:t>PHYSICAL HAZARDS . The agricultural worker may be exposed to extremes of climatic conditions such as temperature, humidity, solar radiation, which may impose additional stresses upon him. </a:t>
            </a:r>
          </a:p>
          <a:p>
            <a:pPr lvl="1"/>
            <a:r>
              <a:rPr lang="en-US" dirty="0"/>
              <a:t>He may also have to tolerate excessive noise and vibrations, inadequate ventilation and the necessity of working in uncomfortable positions for long periods of time.</a:t>
            </a:r>
          </a:p>
          <a:p>
            <a:r>
              <a:rPr lang="en-US" dirty="0"/>
              <a:t>RESPIRATORY DISEASES : Exposure to dusts of grains, rice husks, coconut </a:t>
            </a:r>
            <a:r>
              <a:rPr lang="en-US" dirty="0" err="1"/>
              <a:t>fibres</a:t>
            </a:r>
            <a:r>
              <a:rPr lang="en-US" dirty="0"/>
              <a:t>, tea, tobacco, cotton, hay and wood are common where these products are grown.</a:t>
            </a:r>
          </a:p>
          <a:p>
            <a:pPr lvl="1"/>
            <a:r>
              <a:rPr lang="en-US" dirty="0"/>
              <a:t>The resulting diseases - e.g., byssinosis, </a:t>
            </a:r>
            <a:r>
              <a:rPr lang="en-US" dirty="0" err="1"/>
              <a:t>bagassosis</a:t>
            </a:r>
            <a:r>
              <a:rPr lang="en-US" dirty="0"/>
              <a:t>, farmer’s lung and occupational asthma, appear to be widespread.</a:t>
            </a:r>
          </a:p>
        </p:txBody>
      </p:sp>
    </p:spTree>
    <p:extLst>
      <p:ext uri="{BB962C8B-B14F-4D97-AF65-F5344CB8AC3E}">
        <p14:creationId xmlns:p14="http://schemas.microsoft.com/office/powerpoint/2010/main" val="53364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A813B-5471-A706-8D7A-B232FCAE3FA7}"/>
              </a:ext>
            </a:extLst>
          </p:cNvPr>
          <p:cNvSpPr>
            <a:spLocks noGrp="1"/>
          </p:cNvSpPr>
          <p:nvPr>
            <p:ph type="title"/>
          </p:nvPr>
        </p:nvSpPr>
        <p:spPr/>
        <p:txBody>
          <a:bodyPr/>
          <a:lstStyle/>
          <a:p>
            <a:r>
              <a:rPr lang="en-US" dirty="0"/>
              <a:t>Accidents in industry</a:t>
            </a:r>
          </a:p>
        </p:txBody>
      </p:sp>
      <p:sp>
        <p:nvSpPr>
          <p:cNvPr id="3" name="Content Placeholder 2">
            <a:extLst>
              <a:ext uri="{FF2B5EF4-FFF2-40B4-BE49-F238E27FC236}">
                <a16:creationId xmlns:a16="http://schemas.microsoft.com/office/drawing/2014/main" id="{38B3CD4E-F121-B9A9-E816-02064D6AD1E8}"/>
              </a:ext>
            </a:extLst>
          </p:cNvPr>
          <p:cNvSpPr>
            <a:spLocks noGrp="1"/>
          </p:cNvSpPr>
          <p:nvPr>
            <p:ph idx="1"/>
          </p:nvPr>
        </p:nvSpPr>
        <p:spPr/>
        <p:txBody>
          <a:bodyPr>
            <a:normAutofit fontScale="92500"/>
          </a:bodyPr>
          <a:lstStyle/>
          <a:p>
            <a:r>
              <a:rPr lang="en-US" dirty="0"/>
              <a:t>Accidents are a common feature in most industries.</a:t>
            </a:r>
          </a:p>
          <a:p>
            <a:r>
              <a:rPr lang="en-US" dirty="0"/>
              <a:t>Some industries are known for accidents, e.g., coal and other mining industries, quarries, construction work. </a:t>
            </a:r>
          </a:p>
          <a:p>
            <a:r>
              <a:rPr lang="en-US" dirty="0"/>
              <a:t>It was estimated that nearly 3 million man-days are lost yearly in India because of accidents. </a:t>
            </a:r>
          </a:p>
          <a:p>
            <a:r>
              <a:rPr lang="en-US" dirty="0"/>
              <a:t>To the worker, the loss is in terms of his wages, apart from human suffering; </a:t>
            </a:r>
          </a:p>
          <a:p>
            <a:r>
              <a:rPr lang="en-US" dirty="0"/>
              <a:t>To the industry, it is in terms of compensation costs, provision of medical care, lowered morale, lowered production and damage to machinery and goods; </a:t>
            </a:r>
          </a:p>
          <a:p>
            <a:r>
              <a:rPr lang="en-US" dirty="0"/>
              <a:t>To the nation in terms of lost production.</a:t>
            </a:r>
          </a:p>
        </p:txBody>
      </p:sp>
    </p:spTree>
    <p:extLst>
      <p:ext uri="{BB962C8B-B14F-4D97-AF65-F5344CB8AC3E}">
        <p14:creationId xmlns:p14="http://schemas.microsoft.com/office/powerpoint/2010/main" val="3828710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171A2-5018-EA83-399D-673EB4937190}"/>
              </a:ext>
            </a:extLst>
          </p:cNvPr>
          <p:cNvSpPr>
            <a:spLocks noGrp="1"/>
          </p:cNvSpPr>
          <p:nvPr>
            <p:ph type="title"/>
          </p:nvPr>
        </p:nvSpPr>
        <p:spPr/>
        <p:txBody>
          <a:bodyPr/>
          <a:lstStyle/>
          <a:p>
            <a:r>
              <a:rPr lang="en-US" dirty="0"/>
              <a:t>Causes – Human (85%)</a:t>
            </a:r>
          </a:p>
        </p:txBody>
      </p:sp>
      <p:sp>
        <p:nvSpPr>
          <p:cNvPr id="3" name="Content Placeholder 2">
            <a:extLst>
              <a:ext uri="{FF2B5EF4-FFF2-40B4-BE49-F238E27FC236}">
                <a16:creationId xmlns:a16="http://schemas.microsoft.com/office/drawing/2014/main" id="{1A11193C-2A6C-A03C-556E-4BDB22570D2F}"/>
              </a:ext>
            </a:extLst>
          </p:cNvPr>
          <p:cNvSpPr>
            <a:spLocks noGrp="1"/>
          </p:cNvSpPr>
          <p:nvPr>
            <p:ph idx="1"/>
          </p:nvPr>
        </p:nvSpPr>
        <p:spPr>
          <a:xfrm>
            <a:off x="128337" y="1475874"/>
            <a:ext cx="11935326" cy="5050840"/>
          </a:xfrm>
        </p:spPr>
        <p:txBody>
          <a:bodyPr>
            <a:normAutofit fontScale="85000" lnSpcReduction="10000"/>
          </a:bodyPr>
          <a:lstStyle/>
          <a:p>
            <a:r>
              <a:rPr lang="en-US" dirty="0"/>
              <a:t>PHYSICAL : The physical capabilities of the worker may not meet the job requirements</a:t>
            </a:r>
          </a:p>
          <a:p>
            <a:r>
              <a:rPr lang="en-US" dirty="0"/>
              <a:t>PHYSIOLOGICAL FACTORS : </a:t>
            </a:r>
          </a:p>
          <a:p>
            <a:pPr lvl="1"/>
            <a:r>
              <a:rPr lang="en-US" dirty="0"/>
              <a:t>(a) Sex : Studies have shown that women are known to have less accidents than men, doing comparative jobs. In a study from the Physiological and Industrial Hygiene Section of the All India Institute of Hygiene and Public Health, Kolkata the ratio was 5:24 reportable accidents in Bengal </a:t>
            </a:r>
          </a:p>
          <a:p>
            <a:pPr lvl="1"/>
            <a:r>
              <a:rPr lang="en-US" dirty="0"/>
              <a:t>(b) Age : Younger ages are known to be involved more in accidents than older age groups. The very old again are more prone to accidents, </a:t>
            </a:r>
          </a:p>
          <a:p>
            <a:pPr lvl="1"/>
            <a:r>
              <a:rPr lang="en-US" dirty="0"/>
              <a:t>(c) Time : Accidents are minimum at the beginning of the day and increase gradually as fatigue sets in. </a:t>
            </a:r>
          </a:p>
          <a:p>
            <a:pPr lvl="1"/>
            <a:r>
              <a:rPr lang="en-US" dirty="0"/>
              <a:t>(d) Experience : Approximately 50 per cent of the employees had accidents in their first 6 </a:t>
            </a:r>
            <a:r>
              <a:rPr lang="en-US" dirty="0" err="1"/>
              <a:t>rnonths</a:t>
            </a:r>
            <a:r>
              <a:rPr lang="en-US" dirty="0"/>
              <a:t> of employment, 23 per cent in the next 6 months and only 3 per cent subsequently in certain industrial undertakings. </a:t>
            </a:r>
          </a:p>
          <a:p>
            <a:pPr lvl="1"/>
            <a:r>
              <a:rPr lang="en-US" dirty="0"/>
              <a:t>(e) Working hours : An increase in accidents is found whenever the daily or weekly working hours </a:t>
            </a:r>
            <a:r>
              <a:rPr lang="en-US" dirty="0" err="1"/>
              <a:t>incrcase</a:t>
            </a:r>
            <a:endParaRPr lang="en-US" dirty="0"/>
          </a:p>
          <a:p>
            <a:r>
              <a:rPr lang="en-US" dirty="0"/>
              <a:t>PSYCHOLOGICAL : Carelessness, inattentiveness, overconfidence, slow cerebration, ignorance, inexperience, emotional stress and accident proneness.</a:t>
            </a:r>
          </a:p>
        </p:txBody>
      </p:sp>
    </p:spTree>
    <p:extLst>
      <p:ext uri="{BB962C8B-B14F-4D97-AF65-F5344CB8AC3E}">
        <p14:creationId xmlns:p14="http://schemas.microsoft.com/office/powerpoint/2010/main" val="4157883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F5F0-0FAD-F274-A817-0BA3181C552B}"/>
              </a:ext>
            </a:extLst>
          </p:cNvPr>
          <p:cNvSpPr>
            <a:spLocks noGrp="1"/>
          </p:cNvSpPr>
          <p:nvPr>
            <p:ph type="title"/>
          </p:nvPr>
        </p:nvSpPr>
        <p:spPr/>
        <p:txBody>
          <a:bodyPr/>
          <a:lstStyle/>
          <a:p>
            <a:r>
              <a:rPr lang="en-US" dirty="0"/>
              <a:t>Environmental</a:t>
            </a:r>
          </a:p>
        </p:txBody>
      </p:sp>
      <p:sp>
        <p:nvSpPr>
          <p:cNvPr id="3" name="Content Placeholder 2">
            <a:extLst>
              <a:ext uri="{FF2B5EF4-FFF2-40B4-BE49-F238E27FC236}">
                <a16:creationId xmlns:a16="http://schemas.microsoft.com/office/drawing/2014/main" id="{21B7CC4E-0B7C-2298-F42D-3536E53AA254}"/>
              </a:ext>
            </a:extLst>
          </p:cNvPr>
          <p:cNvSpPr>
            <a:spLocks noGrp="1"/>
          </p:cNvSpPr>
          <p:nvPr>
            <p:ph idx="1"/>
          </p:nvPr>
        </p:nvSpPr>
        <p:spPr/>
        <p:txBody>
          <a:bodyPr/>
          <a:lstStyle/>
          <a:p>
            <a:r>
              <a:rPr lang="en-US" dirty="0"/>
              <a:t>Temperature</a:t>
            </a:r>
          </a:p>
          <a:p>
            <a:r>
              <a:rPr lang="en-US" dirty="0"/>
              <a:t>Poor illumination</a:t>
            </a:r>
          </a:p>
          <a:p>
            <a:r>
              <a:rPr lang="en-US" dirty="0"/>
              <a:t>Humidity</a:t>
            </a:r>
          </a:p>
          <a:p>
            <a:r>
              <a:rPr lang="en-US" dirty="0"/>
              <a:t>Noise</a:t>
            </a:r>
          </a:p>
          <a:p>
            <a:r>
              <a:rPr lang="en-US" dirty="0"/>
              <a:t>Unsafe machines</a:t>
            </a:r>
          </a:p>
          <a:p>
            <a:pPr lvl="1"/>
            <a:r>
              <a:rPr lang="en-US" dirty="0"/>
              <a:t>Causes directly attributable to unsafe machines account for 10 -20 percent of all accidents</a:t>
            </a:r>
          </a:p>
        </p:txBody>
      </p:sp>
    </p:spTree>
    <p:extLst>
      <p:ext uri="{BB962C8B-B14F-4D97-AF65-F5344CB8AC3E}">
        <p14:creationId xmlns:p14="http://schemas.microsoft.com/office/powerpoint/2010/main" val="2630729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B5EDD-A65A-4C60-3C62-FEBC615D033B}"/>
              </a:ext>
            </a:extLst>
          </p:cNvPr>
          <p:cNvSpPr>
            <a:spLocks noGrp="1"/>
          </p:cNvSpPr>
          <p:nvPr>
            <p:ph type="title"/>
          </p:nvPr>
        </p:nvSpPr>
        <p:spPr/>
        <p:txBody>
          <a:bodyPr/>
          <a:lstStyle/>
          <a:p>
            <a:r>
              <a:rPr lang="en-US" dirty="0"/>
              <a:t>Prevention</a:t>
            </a:r>
          </a:p>
        </p:txBody>
      </p:sp>
      <p:sp>
        <p:nvSpPr>
          <p:cNvPr id="3" name="Content Placeholder 2">
            <a:extLst>
              <a:ext uri="{FF2B5EF4-FFF2-40B4-BE49-F238E27FC236}">
                <a16:creationId xmlns:a16="http://schemas.microsoft.com/office/drawing/2014/main" id="{2FF82E92-A714-7F6B-2908-4DB9971783A6}"/>
              </a:ext>
            </a:extLst>
          </p:cNvPr>
          <p:cNvSpPr>
            <a:spLocks noGrp="1"/>
          </p:cNvSpPr>
          <p:nvPr>
            <p:ph idx="1"/>
          </p:nvPr>
        </p:nvSpPr>
        <p:spPr/>
        <p:txBody>
          <a:bodyPr>
            <a:normAutofit fontScale="92500" lnSpcReduction="10000"/>
          </a:bodyPr>
          <a:lstStyle/>
          <a:p>
            <a:r>
              <a:rPr lang="en-US" dirty="0"/>
              <a:t>Studies have shown that 98 per cent of the accidents are preventable. </a:t>
            </a:r>
          </a:p>
          <a:p>
            <a:r>
              <a:rPr lang="en-US" dirty="0"/>
              <a:t>The principles of accident prevention are :</a:t>
            </a:r>
          </a:p>
          <a:p>
            <a:r>
              <a:rPr lang="en-US" dirty="0"/>
              <a:t>Adequate preplacement examination. </a:t>
            </a:r>
          </a:p>
          <a:p>
            <a:r>
              <a:rPr lang="en-US" dirty="0"/>
              <a:t>Adequate job training. </a:t>
            </a:r>
          </a:p>
          <a:p>
            <a:r>
              <a:rPr lang="en-US" dirty="0"/>
              <a:t>Continuing education. </a:t>
            </a:r>
          </a:p>
          <a:p>
            <a:r>
              <a:rPr lang="en-US" dirty="0"/>
              <a:t>Ensuring safe working environment. </a:t>
            </a:r>
          </a:p>
          <a:p>
            <a:r>
              <a:rPr lang="en-US" dirty="0"/>
              <a:t>Establishing a safety department in the organization under a competent safety engineer. </a:t>
            </a:r>
          </a:p>
          <a:p>
            <a:r>
              <a:rPr lang="en-US" dirty="0"/>
              <a:t>Periodic surveys for finding out hazards. </a:t>
            </a:r>
          </a:p>
          <a:p>
            <a:r>
              <a:rPr lang="en-US" dirty="0"/>
              <a:t>Careful reporting, maintenance of records and publicity.</a:t>
            </a:r>
          </a:p>
        </p:txBody>
      </p:sp>
    </p:spTree>
    <p:extLst>
      <p:ext uri="{BB962C8B-B14F-4D97-AF65-F5344CB8AC3E}">
        <p14:creationId xmlns:p14="http://schemas.microsoft.com/office/powerpoint/2010/main" val="3280197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5A282-B1DE-69E5-D472-3F12F5F4CFAA}"/>
              </a:ext>
            </a:extLst>
          </p:cNvPr>
          <p:cNvSpPr>
            <a:spLocks noGrp="1"/>
          </p:cNvSpPr>
          <p:nvPr>
            <p:ph type="title"/>
          </p:nvPr>
        </p:nvSpPr>
        <p:spPr/>
        <p:txBody>
          <a:bodyPr/>
          <a:lstStyle/>
          <a:p>
            <a:r>
              <a:rPr lang="en-US" dirty="0"/>
              <a:t>Sickness absenteeism</a:t>
            </a:r>
          </a:p>
        </p:txBody>
      </p:sp>
      <p:sp>
        <p:nvSpPr>
          <p:cNvPr id="3" name="Content Placeholder 2">
            <a:extLst>
              <a:ext uri="{FF2B5EF4-FFF2-40B4-BE49-F238E27FC236}">
                <a16:creationId xmlns:a16="http://schemas.microsoft.com/office/drawing/2014/main" id="{53B570E2-3AD5-3ECA-FC7F-65413403BF7D}"/>
              </a:ext>
            </a:extLst>
          </p:cNvPr>
          <p:cNvSpPr>
            <a:spLocks noGrp="1"/>
          </p:cNvSpPr>
          <p:nvPr>
            <p:ph idx="1"/>
          </p:nvPr>
        </p:nvSpPr>
        <p:spPr/>
        <p:txBody>
          <a:bodyPr>
            <a:normAutofit fontScale="92500" lnSpcReduction="20000"/>
          </a:bodyPr>
          <a:lstStyle/>
          <a:p>
            <a:r>
              <a:rPr lang="en-US" dirty="0"/>
              <a:t>Sickness absence is an important health problem in industry. It may seriously impede production with serious cost repercussions, both direct as well as indirect. </a:t>
            </a:r>
          </a:p>
          <a:p>
            <a:r>
              <a:rPr lang="en-US" dirty="0"/>
              <a:t>As the production techniques become more sophisticated, absenteeism tends to increase the adverse repercussions. </a:t>
            </a:r>
          </a:p>
          <a:p>
            <a:r>
              <a:rPr lang="en-US" dirty="0"/>
              <a:t>Absenteeism is a useful index in industry to assess the state of health of workers, and their physical, mental and social well-being.</a:t>
            </a:r>
          </a:p>
          <a:p>
            <a:r>
              <a:rPr lang="en-US" dirty="0"/>
              <a:t>INCIDENCE : India has a working force of about 30 million in registered factories. Research undertaken by the National Productivity Council (N.P.C.) into absenteeism showed a marked increase from around 8 to 13 per cent in the early 1950s to around 15 to 20 per cent or even more in recent years. </a:t>
            </a:r>
          </a:p>
          <a:p>
            <a:r>
              <a:rPr lang="en-US" dirty="0"/>
              <a:t>The rate of absenteeism was reported to be 8 to 10 days per head per year</a:t>
            </a:r>
          </a:p>
        </p:txBody>
      </p:sp>
    </p:spTree>
    <p:extLst>
      <p:ext uri="{BB962C8B-B14F-4D97-AF65-F5344CB8AC3E}">
        <p14:creationId xmlns:p14="http://schemas.microsoft.com/office/powerpoint/2010/main" val="513540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A9139-7347-9DC5-DD4C-0F23720870D7}"/>
              </a:ext>
            </a:extLst>
          </p:cNvPr>
          <p:cNvSpPr>
            <a:spLocks noGrp="1"/>
          </p:cNvSpPr>
          <p:nvPr>
            <p:ph type="title"/>
          </p:nvPr>
        </p:nvSpPr>
        <p:spPr/>
        <p:txBody>
          <a:bodyPr/>
          <a:lstStyle/>
          <a:p>
            <a:r>
              <a:rPr lang="en-US" dirty="0"/>
              <a:t>Causes</a:t>
            </a:r>
          </a:p>
        </p:txBody>
      </p:sp>
      <p:sp>
        <p:nvSpPr>
          <p:cNvPr id="3" name="Content Placeholder 2">
            <a:extLst>
              <a:ext uri="{FF2B5EF4-FFF2-40B4-BE49-F238E27FC236}">
                <a16:creationId xmlns:a16="http://schemas.microsoft.com/office/drawing/2014/main" id="{76156E8E-F762-3173-598E-A6D900AA8252}"/>
              </a:ext>
            </a:extLst>
          </p:cNvPr>
          <p:cNvSpPr>
            <a:spLocks noGrp="1"/>
          </p:cNvSpPr>
          <p:nvPr>
            <p:ph idx="1"/>
          </p:nvPr>
        </p:nvSpPr>
        <p:spPr/>
        <p:txBody>
          <a:bodyPr>
            <a:normAutofit fontScale="85000" lnSpcReduction="20000"/>
          </a:bodyPr>
          <a:lstStyle/>
          <a:p>
            <a:r>
              <a:rPr lang="en-US" dirty="0"/>
              <a:t>Economic causes : Studies have shown that if the worker is entitled to sick leave with pay, he tends to avail of this privilege by reporting sick. It is so well remarked that in industry the workers declare themselves fit or unfit for work, at their choice, </a:t>
            </a:r>
          </a:p>
          <a:p>
            <a:r>
              <a:rPr lang="en-US" dirty="0"/>
              <a:t>Social causes : Certain social factors appear to influence sickness absenteeism in India. These are the social and family obligations such as weddings, festivals, repair and maintenance of ancestral house and similar other causes. Some of the workers who come from rural areas go back to their villages, for short or long periods, during sowing and harvest seasons, </a:t>
            </a:r>
          </a:p>
          <a:p>
            <a:r>
              <a:rPr lang="en-US" dirty="0"/>
              <a:t>Medical causes : About 10 per cent of the days lost were found to be due to occupational accidents. Respiratory and alimentary illnesses have also been found to be important causes</a:t>
            </a:r>
          </a:p>
          <a:p>
            <a:r>
              <a:rPr lang="en-US" dirty="0"/>
              <a:t>Non-occupational causes : Certain non-occupational causes such as nutritional disorders, alcoholism and drug addiction have also been found to be responsible for sickness absenteeism.</a:t>
            </a:r>
          </a:p>
        </p:txBody>
      </p:sp>
    </p:spTree>
    <p:extLst>
      <p:ext uri="{BB962C8B-B14F-4D97-AF65-F5344CB8AC3E}">
        <p14:creationId xmlns:p14="http://schemas.microsoft.com/office/powerpoint/2010/main" val="2530920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A32B-3268-7F84-CA48-BB8279CB6BA0}"/>
              </a:ext>
            </a:extLst>
          </p:cNvPr>
          <p:cNvSpPr>
            <a:spLocks noGrp="1"/>
          </p:cNvSpPr>
          <p:nvPr>
            <p:ph type="title"/>
          </p:nvPr>
        </p:nvSpPr>
        <p:spPr/>
        <p:txBody>
          <a:bodyPr/>
          <a:lstStyle/>
          <a:p>
            <a:r>
              <a:rPr lang="en-US" dirty="0"/>
              <a:t>Prevention</a:t>
            </a:r>
          </a:p>
        </p:txBody>
      </p:sp>
      <p:sp>
        <p:nvSpPr>
          <p:cNvPr id="3" name="Content Placeholder 2">
            <a:extLst>
              <a:ext uri="{FF2B5EF4-FFF2-40B4-BE49-F238E27FC236}">
                <a16:creationId xmlns:a16="http://schemas.microsoft.com/office/drawing/2014/main" id="{670DCFB3-46C9-628D-FD2F-2331358696E5}"/>
              </a:ext>
            </a:extLst>
          </p:cNvPr>
          <p:cNvSpPr>
            <a:spLocks noGrp="1"/>
          </p:cNvSpPr>
          <p:nvPr>
            <p:ph idx="1"/>
          </p:nvPr>
        </p:nvSpPr>
        <p:spPr/>
        <p:txBody>
          <a:bodyPr/>
          <a:lstStyle/>
          <a:p>
            <a:r>
              <a:rPr lang="en-US" dirty="0"/>
              <a:t>Good factory management and practices </a:t>
            </a:r>
          </a:p>
          <a:p>
            <a:r>
              <a:rPr lang="en-US" dirty="0"/>
              <a:t>Adequate preplacement examination</a:t>
            </a:r>
          </a:p>
          <a:p>
            <a:r>
              <a:rPr lang="en-US" dirty="0"/>
              <a:t>Good human relations </a:t>
            </a:r>
          </a:p>
          <a:p>
            <a:r>
              <a:rPr lang="en-US" dirty="0"/>
              <a:t>Application of ergonomics</a:t>
            </a:r>
          </a:p>
        </p:txBody>
      </p:sp>
    </p:spTree>
    <p:extLst>
      <p:ext uri="{BB962C8B-B14F-4D97-AF65-F5344CB8AC3E}">
        <p14:creationId xmlns:p14="http://schemas.microsoft.com/office/powerpoint/2010/main" val="3493918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90B515-B5F8-D15F-33AD-0EF19427086A}"/>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Thanks</a:t>
            </a:r>
          </a:p>
        </p:txBody>
      </p:sp>
      <p:pic>
        <p:nvPicPr>
          <p:cNvPr id="7" name="Graphic 6" descr="Smiling Face with No Fill">
            <a:extLst>
              <a:ext uri="{FF2B5EF4-FFF2-40B4-BE49-F238E27FC236}">
                <a16:creationId xmlns:a16="http://schemas.microsoft.com/office/drawing/2014/main" id="{A9CD3958-D69B-7DF2-DD13-16CF2867D0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24768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2152</Words>
  <Application>Microsoft Office PowerPoint</Application>
  <PresentationFormat>Widescreen</PresentationFormat>
  <Paragraphs>134</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Times New Roman</vt:lpstr>
      <vt:lpstr>Office Theme</vt:lpstr>
      <vt:lpstr>Occupational diseases</vt:lpstr>
      <vt:lpstr>Skin Cancer</vt:lpstr>
      <vt:lpstr>Lung Cancer</vt:lpstr>
      <vt:lpstr>Cancer bladder</vt:lpstr>
      <vt:lpstr>Leukemia</vt:lpstr>
      <vt:lpstr>Control of industrial cancer</vt:lpstr>
      <vt:lpstr>Occupational dermatitis</vt:lpstr>
      <vt:lpstr>Prevention</vt:lpstr>
      <vt:lpstr>Radiation hazards</vt:lpstr>
      <vt:lpstr>Preventive measures</vt:lpstr>
      <vt:lpstr>Hazards of agricultural workers</vt:lpstr>
      <vt:lpstr>Hazards of agricultural workers</vt:lpstr>
      <vt:lpstr>Hazards of agricultural workers</vt:lpstr>
      <vt:lpstr>Accidents in industry</vt:lpstr>
      <vt:lpstr>Causes – Human (85%)</vt:lpstr>
      <vt:lpstr>Environmental</vt:lpstr>
      <vt:lpstr>Prevention</vt:lpstr>
      <vt:lpstr>Sickness absenteeism</vt:lpstr>
      <vt:lpstr>Causes</vt:lpstr>
      <vt:lpstr>Prevention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Occupational diseases</dc:title>
  <dc:creator>mukul maheshwari</dc:creator>
  <cp:lastModifiedBy>mukul maheshwari</cp:lastModifiedBy>
  <cp:revision>1</cp:revision>
  <dcterms:created xsi:type="dcterms:W3CDTF">2023-09-05T07:33:11Z</dcterms:created>
  <dcterms:modified xsi:type="dcterms:W3CDTF">2023-09-05T08:23:04Z</dcterms:modified>
</cp:coreProperties>
</file>