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9" r:id="rId13"/>
    <p:sldId id="261"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p:scale>
          <a:sx n="100" d="100"/>
          <a:sy n="100" d="100"/>
        </p:scale>
        <p:origin x="7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18BB0-1B4E-1464-600F-DDE558329D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265A08-919E-D8BD-00BE-6A107D146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26410E-10BA-57AE-9361-07371B6782FA}"/>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5" name="Footer Placeholder 4">
            <a:extLst>
              <a:ext uri="{FF2B5EF4-FFF2-40B4-BE49-F238E27FC236}">
                <a16:creationId xmlns:a16="http://schemas.microsoft.com/office/drawing/2014/main" id="{F5364997-E37B-9CB3-C720-86001F6118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206D4-91B8-263E-8219-627CDA23D7F0}"/>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2035529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4B1EC-D2E9-70DA-0C6B-04EC1B7EE0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CFD794-22FC-F3D5-4B90-D7AF1C961C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57EBC0-0746-B251-D7D2-866FA8DC3670}"/>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5" name="Footer Placeholder 4">
            <a:extLst>
              <a:ext uri="{FF2B5EF4-FFF2-40B4-BE49-F238E27FC236}">
                <a16:creationId xmlns:a16="http://schemas.microsoft.com/office/drawing/2014/main" id="{9342A883-A9A5-1349-415B-8D73A3AA89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D5780-8BFD-9E0E-9A7E-4FE6404063D3}"/>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758230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6DAED-9792-7056-F422-C83DF2DA27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2EFEC0-57D7-7D7A-35AE-DBDF529669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0831DF-AC4E-2E84-E24A-A8D9F05EB72F}"/>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5" name="Footer Placeholder 4">
            <a:extLst>
              <a:ext uri="{FF2B5EF4-FFF2-40B4-BE49-F238E27FC236}">
                <a16:creationId xmlns:a16="http://schemas.microsoft.com/office/drawing/2014/main" id="{6A16AD18-DB60-5E19-FD8A-D9BB9944F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D01E9-D3BF-FF98-30E4-A77E846F487B}"/>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960246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508FD-D552-C3D5-13C8-03D23ADDDD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23960D-0C9D-589D-DE06-3D983B16B6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0A27F7-6147-8917-624E-9761A7960D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3E5C2B-8CEE-01C0-9683-6CF27F23CDF1}"/>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6" name="Footer Placeholder 5">
            <a:extLst>
              <a:ext uri="{FF2B5EF4-FFF2-40B4-BE49-F238E27FC236}">
                <a16:creationId xmlns:a16="http://schemas.microsoft.com/office/drawing/2014/main" id="{79A402DD-7476-339B-3268-940FA66AC4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8CE8A-597B-BB15-3B96-11B2F0D0DA33}"/>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67721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6660B-5A4B-D714-8B2D-B75706B9B8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641B56-DB91-EEC6-7F9D-66598C12F3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6CFF7-DF53-4D2C-8453-CFE41FA190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E9C145-B750-8719-0A34-2867D8EB36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DB9F53-DE49-C1C7-7363-860A71101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2B2B3A-2802-BCF3-15A8-BC95934E79E1}"/>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8" name="Footer Placeholder 7">
            <a:extLst>
              <a:ext uri="{FF2B5EF4-FFF2-40B4-BE49-F238E27FC236}">
                <a16:creationId xmlns:a16="http://schemas.microsoft.com/office/drawing/2014/main" id="{0CCF78C9-C2B1-5947-E4B3-90545ECEFD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FF35FE-3553-A371-724B-0F7F1B5F65FA}"/>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674484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F1F32-6DF8-B777-EE7A-06A01A15D5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2FB19-DA37-EA10-EF7F-D0F67E3B3A3D}"/>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4" name="Footer Placeholder 3">
            <a:extLst>
              <a:ext uri="{FF2B5EF4-FFF2-40B4-BE49-F238E27FC236}">
                <a16:creationId xmlns:a16="http://schemas.microsoft.com/office/drawing/2014/main" id="{97289CF1-7CA2-9923-79C2-688AE6B232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C845C-B486-3E94-48CE-F7A83962AD2F}"/>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3786174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3D825D-2E6D-D225-D40C-A40242FF688D}"/>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3" name="Footer Placeholder 2">
            <a:extLst>
              <a:ext uri="{FF2B5EF4-FFF2-40B4-BE49-F238E27FC236}">
                <a16:creationId xmlns:a16="http://schemas.microsoft.com/office/drawing/2014/main" id="{FF248501-E63B-0534-8E4C-13CD252981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01C696-6857-966A-E1F3-86828DBDAE2E}"/>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3005162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51C0D-4EE5-5685-5C9D-3DD1344D0B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893AB5-4694-266A-895B-C90C625334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ECD3BE-0410-730D-421F-972D628591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245560-EF7B-ACDC-E4EF-654993CBCB13}"/>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6" name="Footer Placeholder 5">
            <a:extLst>
              <a:ext uri="{FF2B5EF4-FFF2-40B4-BE49-F238E27FC236}">
                <a16:creationId xmlns:a16="http://schemas.microsoft.com/office/drawing/2014/main" id="{20245D71-E1F8-9D80-259F-4D9EF6DF85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BC4AF1-B8A3-49DF-B94B-201D950B1FEB}"/>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372919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81C7-4611-76FA-05D7-B37A68E0D2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EF5AFE-59F4-8C9D-6B6C-6D954C6F9C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E1D7E6-D96E-F31C-8A10-06CA3E24E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78D3A-364B-70F0-A40F-36DFF33BC340}"/>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6" name="Footer Placeholder 5">
            <a:extLst>
              <a:ext uri="{FF2B5EF4-FFF2-40B4-BE49-F238E27FC236}">
                <a16:creationId xmlns:a16="http://schemas.microsoft.com/office/drawing/2014/main" id="{A267BB7E-D458-5739-FD50-D97E2A6D33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866F2-2B53-B11B-ED79-9CA155DF9144}"/>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79845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9B27-CEEF-2781-9640-9511DC5C0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1766AC-8D81-5687-C7C0-4A4610262D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4DC58-F496-D39B-EBD7-1531C72CF72F}"/>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5" name="Footer Placeholder 4">
            <a:extLst>
              <a:ext uri="{FF2B5EF4-FFF2-40B4-BE49-F238E27FC236}">
                <a16:creationId xmlns:a16="http://schemas.microsoft.com/office/drawing/2014/main" id="{FE2321AD-8105-07A2-7D7A-0AC722A14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313D-3656-BF8A-405A-FCB024BAE106}"/>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4127184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54224C-5004-15CC-FC44-D567E5F6B3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5DEA97-1963-D1E8-8F9B-4F60416819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B0AA7C-700F-B59A-EF23-09D91EFB3F2B}"/>
              </a:ext>
            </a:extLst>
          </p:cNvPr>
          <p:cNvSpPr>
            <a:spLocks noGrp="1"/>
          </p:cNvSpPr>
          <p:nvPr>
            <p:ph type="dt" sz="half" idx="10"/>
          </p:nvPr>
        </p:nvSpPr>
        <p:spPr/>
        <p:txBody>
          <a:bodyPr/>
          <a:lstStyle/>
          <a:p>
            <a:fld id="{607AA397-7611-439C-BF35-63EBE789453B}" type="datetimeFigureOut">
              <a:rPr lang="en-US" smtClean="0"/>
              <a:t>9/12/2023</a:t>
            </a:fld>
            <a:endParaRPr lang="en-US"/>
          </a:p>
        </p:txBody>
      </p:sp>
      <p:sp>
        <p:nvSpPr>
          <p:cNvPr id="5" name="Footer Placeholder 4">
            <a:extLst>
              <a:ext uri="{FF2B5EF4-FFF2-40B4-BE49-F238E27FC236}">
                <a16:creationId xmlns:a16="http://schemas.microsoft.com/office/drawing/2014/main" id="{AC36C5AD-BD58-B471-B172-5902FC93A8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2DC3BB-3BA5-0BFB-6E33-9D1220F4F14E}"/>
              </a:ext>
            </a:extLst>
          </p:cNvPr>
          <p:cNvSpPr>
            <a:spLocks noGrp="1"/>
          </p:cNvSpPr>
          <p:nvPr>
            <p:ph type="sldNum" sz="quarter" idx="12"/>
          </p:nvPr>
        </p:nvSpPr>
        <p:spPr/>
        <p:txBody>
          <a:bodyPr/>
          <a:lstStyle/>
          <a:p>
            <a:fld id="{297F0B74-3201-400B-9B1B-74AD6AE4CF2F}" type="slidenum">
              <a:rPr lang="en-US" smtClean="0"/>
              <a:t>‹#›</a:t>
            </a:fld>
            <a:endParaRPr lang="en-US"/>
          </a:p>
        </p:txBody>
      </p:sp>
    </p:spTree>
    <p:extLst>
      <p:ext uri="{BB962C8B-B14F-4D97-AF65-F5344CB8AC3E}">
        <p14:creationId xmlns:p14="http://schemas.microsoft.com/office/powerpoint/2010/main" val="223526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F673E6-6560-12EC-45E2-E9FAF50962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45714C-E963-9B3C-11D2-682F95DC69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1FE2BE-ABA4-924E-2FC4-5D9A8DD27D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7AA397-7611-439C-BF35-63EBE789453B}" type="datetimeFigureOut">
              <a:rPr lang="en-US" smtClean="0"/>
              <a:t>9/12/2023</a:t>
            </a:fld>
            <a:endParaRPr lang="en-US"/>
          </a:p>
        </p:txBody>
      </p:sp>
      <p:sp>
        <p:nvSpPr>
          <p:cNvPr id="5" name="Footer Placeholder 4">
            <a:extLst>
              <a:ext uri="{FF2B5EF4-FFF2-40B4-BE49-F238E27FC236}">
                <a16:creationId xmlns:a16="http://schemas.microsoft.com/office/drawing/2014/main" id="{077172EE-BADB-194D-2943-AB5B836E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D75796-F3A4-5F83-E191-ECBBD4F24C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7F0B74-3201-400B-9B1B-74AD6AE4CF2F}" type="slidenum">
              <a:rPr lang="en-US" smtClean="0"/>
              <a:t>‹#›</a:t>
            </a:fld>
            <a:endParaRPr lang="en-US"/>
          </a:p>
        </p:txBody>
      </p:sp>
    </p:spTree>
    <p:extLst>
      <p:ext uri="{BB962C8B-B14F-4D97-AF65-F5344CB8AC3E}">
        <p14:creationId xmlns:p14="http://schemas.microsoft.com/office/powerpoint/2010/main" val="4222191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E5432-B7CF-5958-639D-459AC3DD8D75}"/>
              </a:ext>
            </a:extLst>
          </p:cNvPr>
          <p:cNvSpPr>
            <a:spLocks noGrp="1"/>
          </p:cNvSpPr>
          <p:nvPr>
            <p:ph type="ctrTitle"/>
          </p:nvPr>
        </p:nvSpPr>
        <p:spPr/>
        <p:txBody>
          <a:bodyPr/>
          <a:lstStyle/>
          <a:p>
            <a:r>
              <a:rPr lang="en-US" dirty="0"/>
              <a:t>Occupational diseases</a:t>
            </a:r>
          </a:p>
        </p:txBody>
      </p:sp>
      <p:sp>
        <p:nvSpPr>
          <p:cNvPr id="3" name="Subtitle 2">
            <a:extLst>
              <a:ext uri="{FF2B5EF4-FFF2-40B4-BE49-F238E27FC236}">
                <a16:creationId xmlns:a16="http://schemas.microsoft.com/office/drawing/2014/main" id="{F6DCC476-2603-2331-027E-B981FB75A3D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25332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AAC2-8FF1-0F26-D2E3-1FE3A586D744}"/>
              </a:ext>
            </a:extLst>
          </p:cNvPr>
          <p:cNvSpPr>
            <a:spLocks noGrp="1"/>
          </p:cNvSpPr>
          <p:nvPr>
            <p:ph type="title"/>
          </p:nvPr>
        </p:nvSpPr>
        <p:spPr/>
        <p:txBody>
          <a:bodyPr/>
          <a:lstStyle/>
          <a:p>
            <a:r>
              <a:rPr lang="en-US" dirty="0"/>
              <a:t>Health problems due to industrialization</a:t>
            </a:r>
          </a:p>
        </p:txBody>
      </p:sp>
      <p:sp>
        <p:nvSpPr>
          <p:cNvPr id="3" name="Content Placeholder 2">
            <a:extLst>
              <a:ext uri="{FF2B5EF4-FFF2-40B4-BE49-F238E27FC236}">
                <a16:creationId xmlns:a16="http://schemas.microsoft.com/office/drawing/2014/main" id="{72956B3A-13DF-02C7-43AF-A8685849BBCE}"/>
              </a:ext>
            </a:extLst>
          </p:cNvPr>
          <p:cNvSpPr>
            <a:spLocks noGrp="1"/>
          </p:cNvSpPr>
          <p:nvPr>
            <p:ph idx="1"/>
          </p:nvPr>
        </p:nvSpPr>
        <p:spPr/>
        <p:txBody>
          <a:bodyPr>
            <a:normAutofit fontScale="92500" lnSpcReduction="10000"/>
          </a:bodyPr>
          <a:lstStyle/>
          <a:p>
            <a:r>
              <a:rPr lang="en-US" dirty="0"/>
              <a:t>Environmental sanitation problems</a:t>
            </a:r>
          </a:p>
          <a:p>
            <a:r>
              <a:rPr lang="en-US" dirty="0"/>
              <a:t>Housing – rise in number of slums and insanitary dwellings</a:t>
            </a:r>
          </a:p>
          <a:p>
            <a:r>
              <a:rPr lang="en-US" dirty="0"/>
              <a:t>Water pollution – discharge of industrial waste without treatment; it require legal, administrative and technical measures. Pollution control measures should be instituted in the planning stage itself in the process of industrialization</a:t>
            </a:r>
          </a:p>
          <a:p>
            <a:r>
              <a:rPr lang="en-US" dirty="0"/>
              <a:t>Air pollution - discharge of toxic fumes, gases, smoke and dusts into the atmosphere. It requires proper town planning and zoning to eliminate this hazard.</a:t>
            </a:r>
          </a:p>
          <a:p>
            <a:r>
              <a:rPr lang="en-US" dirty="0"/>
              <a:t>Sewage disposal - Lack of facilities for the disposal of sewage leads to pollution of water supply, contamination of soil with parasites and their ova.</a:t>
            </a:r>
          </a:p>
        </p:txBody>
      </p:sp>
    </p:spTree>
    <p:extLst>
      <p:ext uri="{BB962C8B-B14F-4D97-AF65-F5344CB8AC3E}">
        <p14:creationId xmlns:p14="http://schemas.microsoft.com/office/powerpoint/2010/main" val="530342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B572-7005-DB2D-5881-1D1D1AC1C316}"/>
              </a:ext>
            </a:extLst>
          </p:cNvPr>
          <p:cNvSpPr>
            <a:spLocks noGrp="1"/>
          </p:cNvSpPr>
          <p:nvPr>
            <p:ph type="title"/>
          </p:nvPr>
        </p:nvSpPr>
        <p:spPr/>
        <p:txBody>
          <a:bodyPr/>
          <a:lstStyle/>
          <a:p>
            <a:r>
              <a:rPr lang="en-US" dirty="0"/>
              <a:t>Health problem - Industrialization</a:t>
            </a:r>
          </a:p>
        </p:txBody>
      </p:sp>
      <p:sp>
        <p:nvSpPr>
          <p:cNvPr id="3" name="Content Placeholder 2">
            <a:extLst>
              <a:ext uri="{FF2B5EF4-FFF2-40B4-BE49-F238E27FC236}">
                <a16:creationId xmlns:a16="http://schemas.microsoft.com/office/drawing/2014/main" id="{0E04E76D-28AE-05A6-4A5E-A00403A5A940}"/>
              </a:ext>
            </a:extLst>
          </p:cNvPr>
          <p:cNvSpPr>
            <a:spLocks noGrp="1"/>
          </p:cNvSpPr>
          <p:nvPr>
            <p:ph idx="1"/>
          </p:nvPr>
        </p:nvSpPr>
        <p:spPr/>
        <p:txBody>
          <a:bodyPr>
            <a:normAutofit/>
          </a:bodyPr>
          <a:lstStyle/>
          <a:p>
            <a:r>
              <a:rPr lang="en-US" dirty="0"/>
              <a:t>Communicable diseases - The main problems in industrial areas are tuberculosis, venereal diseases, and food and water borne infections. Industrial areas without proper sewage disposal have become hot-beds for filariasis owing to the breeding of the mosquito vectors in contaminated water.</a:t>
            </a:r>
          </a:p>
          <a:p>
            <a:r>
              <a:rPr lang="en-US" dirty="0"/>
              <a:t>Food sanitation - Food-borne infections such as typhoid fever and viral hepatitis are all too common in India</a:t>
            </a:r>
          </a:p>
          <a:p>
            <a:r>
              <a:rPr lang="en-US" dirty="0"/>
              <a:t>Mental health - People are removed from the warmth of village community life and are transplanted in an alien environment which calls for certain adjustments</a:t>
            </a:r>
          </a:p>
        </p:txBody>
      </p:sp>
    </p:spTree>
    <p:extLst>
      <p:ext uri="{BB962C8B-B14F-4D97-AF65-F5344CB8AC3E}">
        <p14:creationId xmlns:p14="http://schemas.microsoft.com/office/powerpoint/2010/main" val="128952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B572-7005-DB2D-5881-1D1D1AC1C316}"/>
              </a:ext>
            </a:extLst>
          </p:cNvPr>
          <p:cNvSpPr>
            <a:spLocks noGrp="1"/>
          </p:cNvSpPr>
          <p:nvPr>
            <p:ph type="title"/>
          </p:nvPr>
        </p:nvSpPr>
        <p:spPr/>
        <p:txBody>
          <a:bodyPr/>
          <a:lstStyle/>
          <a:p>
            <a:r>
              <a:rPr lang="en-US" dirty="0"/>
              <a:t>Health problem - Industrialization</a:t>
            </a:r>
          </a:p>
        </p:txBody>
      </p:sp>
      <p:sp>
        <p:nvSpPr>
          <p:cNvPr id="3" name="Content Placeholder 2">
            <a:extLst>
              <a:ext uri="{FF2B5EF4-FFF2-40B4-BE49-F238E27FC236}">
                <a16:creationId xmlns:a16="http://schemas.microsoft.com/office/drawing/2014/main" id="{0E04E76D-28AE-05A6-4A5E-A00403A5A940}"/>
              </a:ext>
            </a:extLst>
          </p:cNvPr>
          <p:cNvSpPr>
            <a:spLocks noGrp="1"/>
          </p:cNvSpPr>
          <p:nvPr>
            <p:ph idx="1"/>
          </p:nvPr>
        </p:nvSpPr>
        <p:spPr/>
        <p:txBody>
          <a:bodyPr>
            <a:normAutofit/>
          </a:bodyPr>
          <a:lstStyle/>
          <a:p>
            <a:r>
              <a:rPr lang="en-US" dirty="0"/>
              <a:t>Accidents - Accidents are a public health problem in industrial areas due to congestion, vehicular traffic and the increased tempo of life. These accidents arc in addition to those that occur in the factories.</a:t>
            </a:r>
          </a:p>
          <a:p>
            <a:r>
              <a:rPr lang="en-US" dirty="0"/>
              <a:t>Social problems - Alcoholism, drug addiction, gambling, prostitution, increased divorces, breaking up of home, juvenile delinquency, higher incidence of crime arc some of the social problems due to industrialization</a:t>
            </a:r>
          </a:p>
        </p:txBody>
      </p:sp>
    </p:spTree>
    <p:extLst>
      <p:ext uri="{BB962C8B-B14F-4D97-AF65-F5344CB8AC3E}">
        <p14:creationId xmlns:p14="http://schemas.microsoft.com/office/powerpoint/2010/main" val="3840023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A436-B67E-296B-ECD4-D83A7474DB4E}"/>
              </a:ext>
            </a:extLst>
          </p:cNvPr>
          <p:cNvSpPr>
            <a:spLocks noGrp="1"/>
          </p:cNvSpPr>
          <p:nvPr>
            <p:ph type="title"/>
          </p:nvPr>
        </p:nvSpPr>
        <p:spPr/>
        <p:txBody>
          <a:bodyPr/>
          <a:lstStyle/>
          <a:p>
            <a:r>
              <a:rPr lang="en-US" dirty="0"/>
              <a:t>Health protection of workers</a:t>
            </a:r>
          </a:p>
        </p:txBody>
      </p:sp>
      <p:sp>
        <p:nvSpPr>
          <p:cNvPr id="3" name="Content Placeholder 2">
            <a:extLst>
              <a:ext uri="{FF2B5EF4-FFF2-40B4-BE49-F238E27FC236}">
                <a16:creationId xmlns:a16="http://schemas.microsoft.com/office/drawing/2014/main" id="{5DD8588A-DB75-D06D-FAE8-8FEE09A77C96}"/>
              </a:ext>
            </a:extLst>
          </p:cNvPr>
          <p:cNvSpPr>
            <a:spLocks noGrp="1"/>
          </p:cNvSpPr>
          <p:nvPr>
            <p:ph idx="1"/>
          </p:nvPr>
        </p:nvSpPr>
        <p:spPr/>
        <p:txBody>
          <a:bodyPr>
            <a:normAutofit/>
          </a:bodyPr>
          <a:lstStyle/>
          <a:p>
            <a:r>
              <a:rPr lang="en-US" dirty="0"/>
              <a:t>Nutrition - Under the Indian Factories Act, it is obligatory on the part of the industrial establishments to provide a canteen when the number of employees exceed 250. The aim is to provide balanced diets or snacks at reasonable cost under sanitary control. It is important to combine this action with the education of the workers on the value of a balanced diet. Provision should be made for a safe and uncontaminated place to store the food before it is eaten to avoid spoilage or contamination. </a:t>
            </a:r>
          </a:p>
        </p:txBody>
      </p:sp>
    </p:spTree>
    <p:extLst>
      <p:ext uri="{BB962C8B-B14F-4D97-AF65-F5344CB8AC3E}">
        <p14:creationId xmlns:p14="http://schemas.microsoft.com/office/powerpoint/2010/main" val="1681209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A436-B67E-296B-ECD4-D83A7474DB4E}"/>
              </a:ext>
            </a:extLst>
          </p:cNvPr>
          <p:cNvSpPr>
            <a:spLocks noGrp="1"/>
          </p:cNvSpPr>
          <p:nvPr>
            <p:ph type="title"/>
          </p:nvPr>
        </p:nvSpPr>
        <p:spPr/>
        <p:txBody>
          <a:bodyPr/>
          <a:lstStyle/>
          <a:p>
            <a:r>
              <a:rPr lang="en-US" dirty="0"/>
              <a:t>Health protection of workers</a:t>
            </a:r>
          </a:p>
        </p:txBody>
      </p:sp>
      <p:sp>
        <p:nvSpPr>
          <p:cNvPr id="3" name="Content Placeholder 2">
            <a:extLst>
              <a:ext uri="{FF2B5EF4-FFF2-40B4-BE49-F238E27FC236}">
                <a16:creationId xmlns:a16="http://schemas.microsoft.com/office/drawing/2014/main" id="{5DD8588A-DB75-D06D-FAE8-8FEE09A77C96}"/>
              </a:ext>
            </a:extLst>
          </p:cNvPr>
          <p:cNvSpPr>
            <a:spLocks noGrp="1"/>
          </p:cNvSpPr>
          <p:nvPr>
            <p:ph idx="1"/>
          </p:nvPr>
        </p:nvSpPr>
        <p:spPr/>
        <p:txBody>
          <a:bodyPr>
            <a:normAutofit fontScale="92500" lnSpcReduction="20000"/>
          </a:bodyPr>
          <a:lstStyle/>
          <a:p>
            <a:r>
              <a:rPr lang="en-US" dirty="0"/>
              <a:t>Communicable disease control</a:t>
            </a:r>
          </a:p>
          <a:p>
            <a:r>
              <a:rPr lang="en-US" dirty="0"/>
              <a:t>The industry provides an excellent opportunity for early diagnosis, treatment, prevention and rehabilitation. It is a general objective everywhere, to detect cases of communicable disease and to render them non-infectious to others by treatment or removal from the working environment, or both. </a:t>
            </a:r>
          </a:p>
          <a:p>
            <a:r>
              <a:rPr lang="en-US" dirty="0"/>
              <a:t>The communicable diseases of special importance in India are tuberculosis, typhoid fever, viral hepatitis, amoebiasis, intestinal parasites, malaria and sexually transmitted diseases. </a:t>
            </a:r>
          </a:p>
          <a:p>
            <a:r>
              <a:rPr lang="en-US" dirty="0"/>
              <a:t>There should be an adequate immunization </a:t>
            </a:r>
            <a:r>
              <a:rPr lang="en-US" dirty="0" err="1"/>
              <a:t>programme</a:t>
            </a:r>
            <a:r>
              <a:rPr lang="en-US" dirty="0"/>
              <a:t> against preventable communicable diseases. </a:t>
            </a:r>
          </a:p>
          <a:p>
            <a:r>
              <a:rPr lang="en-US" dirty="0"/>
              <a:t>Anthrax, undulant fever, and Q fever are examples of communicable diseases which may be of occupational origin. </a:t>
            </a:r>
          </a:p>
        </p:txBody>
      </p:sp>
    </p:spTree>
    <p:extLst>
      <p:ext uri="{BB962C8B-B14F-4D97-AF65-F5344CB8AC3E}">
        <p14:creationId xmlns:p14="http://schemas.microsoft.com/office/powerpoint/2010/main" val="2795247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A436-B67E-296B-ECD4-D83A7474DB4E}"/>
              </a:ext>
            </a:extLst>
          </p:cNvPr>
          <p:cNvSpPr>
            <a:spLocks noGrp="1"/>
          </p:cNvSpPr>
          <p:nvPr>
            <p:ph type="title"/>
          </p:nvPr>
        </p:nvSpPr>
        <p:spPr/>
        <p:txBody>
          <a:bodyPr>
            <a:normAutofit/>
          </a:bodyPr>
          <a:lstStyle/>
          <a:p>
            <a:r>
              <a:rPr lang="en-US" dirty="0"/>
              <a:t>Health protection of workers - Environmental sanitation</a:t>
            </a:r>
          </a:p>
        </p:txBody>
      </p:sp>
      <p:sp>
        <p:nvSpPr>
          <p:cNvPr id="3" name="Content Placeholder 2">
            <a:extLst>
              <a:ext uri="{FF2B5EF4-FFF2-40B4-BE49-F238E27FC236}">
                <a16:creationId xmlns:a16="http://schemas.microsoft.com/office/drawing/2014/main" id="{5DD8588A-DB75-D06D-FAE8-8FEE09A77C96}"/>
              </a:ext>
            </a:extLst>
          </p:cNvPr>
          <p:cNvSpPr>
            <a:spLocks noGrp="1"/>
          </p:cNvSpPr>
          <p:nvPr>
            <p:ph idx="1"/>
          </p:nvPr>
        </p:nvSpPr>
        <p:spPr/>
        <p:txBody>
          <a:bodyPr>
            <a:normAutofit/>
          </a:bodyPr>
          <a:lstStyle/>
          <a:p>
            <a:r>
              <a:rPr lang="en-US" dirty="0"/>
              <a:t>Water - The common glass tumbler for drinking water should be abandoned as it spreads infection. Installation of drinking water fountains, at convenient points should be encouraged.</a:t>
            </a:r>
          </a:p>
          <a:p>
            <a:r>
              <a:rPr lang="en-US" dirty="0"/>
              <a:t>Food – </a:t>
            </a:r>
          </a:p>
          <a:p>
            <a:r>
              <a:rPr lang="en-US" dirty="0"/>
              <a:t>Toilet - There should be sufficient number of latrines and urinals of the sanitary type, separate for males and females, conveniently situated. It is recommended that there should be at least one sanitary convenience for every 25 employees (males and females separate) for the first 100 employees, and thereafter one for every 50. Garbage and waste disposal should be such as to avoid the breeding flies and vermin.</a:t>
            </a:r>
          </a:p>
        </p:txBody>
      </p:sp>
    </p:spTree>
    <p:extLst>
      <p:ext uri="{BB962C8B-B14F-4D97-AF65-F5344CB8AC3E}">
        <p14:creationId xmlns:p14="http://schemas.microsoft.com/office/powerpoint/2010/main" val="1822525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A436-B67E-296B-ECD4-D83A7474DB4E}"/>
              </a:ext>
            </a:extLst>
          </p:cNvPr>
          <p:cNvSpPr>
            <a:spLocks noGrp="1"/>
          </p:cNvSpPr>
          <p:nvPr>
            <p:ph type="title"/>
          </p:nvPr>
        </p:nvSpPr>
        <p:spPr/>
        <p:txBody>
          <a:bodyPr/>
          <a:lstStyle/>
          <a:p>
            <a:r>
              <a:rPr lang="en-US" dirty="0"/>
              <a:t>Health protection of workers - Environmental sanitation </a:t>
            </a:r>
          </a:p>
        </p:txBody>
      </p:sp>
      <p:sp>
        <p:nvSpPr>
          <p:cNvPr id="3" name="Content Placeholder 2">
            <a:extLst>
              <a:ext uri="{FF2B5EF4-FFF2-40B4-BE49-F238E27FC236}">
                <a16:creationId xmlns:a16="http://schemas.microsoft.com/office/drawing/2014/main" id="{5DD8588A-DB75-D06D-FAE8-8FEE09A77C96}"/>
              </a:ext>
            </a:extLst>
          </p:cNvPr>
          <p:cNvSpPr>
            <a:spLocks noGrp="1"/>
          </p:cNvSpPr>
          <p:nvPr>
            <p:ph idx="1"/>
          </p:nvPr>
        </p:nvSpPr>
        <p:spPr/>
        <p:txBody>
          <a:bodyPr>
            <a:normAutofit/>
          </a:bodyPr>
          <a:lstStyle/>
          <a:p>
            <a:r>
              <a:rPr lang="en-US" dirty="0"/>
              <a:t>General plant cleanliness</a:t>
            </a:r>
          </a:p>
          <a:p>
            <a:r>
              <a:rPr lang="en-US" dirty="0"/>
              <a:t>The walls, ceilings and passages should be painted with water washable paint and repainted at least once in 3 years and washed at least once in every 6 months. </a:t>
            </a:r>
          </a:p>
          <a:p>
            <a:r>
              <a:rPr lang="en-US" dirty="0"/>
              <a:t>The dust which settles down on the floor and machinery should be promptly removed by vacuum cleaners or by wetting agents before it is redistributed into the atmosphere by the vibration of the machinery or buildings.</a:t>
            </a:r>
          </a:p>
        </p:txBody>
      </p:sp>
    </p:spTree>
    <p:extLst>
      <p:ext uri="{BB962C8B-B14F-4D97-AF65-F5344CB8AC3E}">
        <p14:creationId xmlns:p14="http://schemas.microsoft.com/office/powerpoint/2010/main" val="1423085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A436-B67E-296B-ECD4-D83A7474DB4E}"/>
              </a:ext>
            </a:extLst>
          </p:cNvPr>
          <p:cNvSpPr>
            <a:spLocks noGrp="1"/>
          </p:cNvSpPr>
          <p:nvPr>
            <p:ph type="title"/>
          </p:nvPr>
        </p:nvSpPr>
        <p:spPr/>
        <p:txBody>
          <a:bodyPr/>
          <a:lstStyle/>
          <a:p>
            <a:r>
              <a:rPr lang="en-US" dirty="0"/>
              <a:t>Health protection of workers - Environmental sanitation</a:t>
            </a:r>
          </a:p>
        </p:txBody>
      </p:sp>
      <p:sp>
        <p:nvSpPr>
          <p:cNvPr id="3" name="Content Placeholder 2">
            <a:extLst>
              <a:ext uri="{FF2B5EF4-FFF2-40B4-BE49-F238E27FC236}">
                <a16:creationId xmlns:a16="http://schemas.microsoft.com/office/drawing/2014/main" id="{5DD8588A-DB75-D06D-FAE8-8FEE09A77C96}"/>
              </a:ext>
            </a:extLst>
          </p:cNvPr>
          <p:cNvSpPr>
            <a:spLocks noGrp="1"/>
          </p:cNvSpPr>
          <p:nvPr>
            <p:ph idx="1"/>
          </p:nvPr>
        </p:nvSpPr>
        <p:spPr/>
        <p:txBody>
          <a:bodyPr>
            <a:normAutofit/>
          </a:bodyPr>
          <a:lstStyle/>
          <a:p>
            <a:r>
              <a:rPr lang="en-US" dirty="0"/>
              <a:t>Sufficient space - The recommended standard is a minimum of 500 Cu. ft. of space for every worker; space more than 14 feet above the floor level is not to be taken into consideration.</a:t>
            </a:r>
          </a:p>
          <a:p>
            <a:r>
              <a:rPr lang="en-US" dirty="0"/>
              <a:t>Lighting - There should be sufficient and suitable lighting, natural or artificial or both, in every part of a factory where workers are working or passing through. The standards of illumination for different kinds of work have been set out - precision work for a high degree of accuracy may require 50-75 foot candles; where people work regularly, 6 to 12 foot candles may be sufficient. Illumination in corridors and passages should be at least 0.5 foot candles.</a:t>
            </a:r>
          </a:p>
        </p:txBody>
      </p:sp>
    </p:spTree>
    <p:extLst>
      <p:ext uri="{BB962C8B-B14F-4D97-AF65-F5344CB8AC3E}">
        <p14:creationId xmlns:p14="http://schemas.microsoft.com/office/powerpoint/2010/main" val="1663960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A436-B67E-296B-ECD4-D83A7474DB4E}"/>
              </a:ext>
            </a:extLst>
          </p:cNvPr>
          <p:cNvSpPr>
            <a:spLocks noGrp="1"/>
          </p:cNvSpPr>
          <p:nvPr>
            <p:ph type="title"/>
          </p:nvPr>
        </p:nvSpPr>
        <p:spPr/>
        <p:txBody>
          <a:bodyPr/>
          <a:lstStyle/>
          <a:p>
            <a:r>
              <a:rPr lang="en-US" dirty="0"/>
              <a:t>Health protection of workers - Environmental sanitation</a:t>
            </a:r>
          </a:p>
        </p:txBody>
      </p:sp>
      <p:sp>
        <p:nvSpPr>
          <p:cNvPr id="3" name="Content Placeholder 2">
            <a:extLst>
              <a:ext uri="{FF2B5EF4-FFF2-40B4-BE49-F238E27FC236}">
                <a16:creationId xmlns:a16="http://schemas.microsoft.com/office/drawing/2014/main" id="{5DD8588A-DB75-D06D-FAE8-8FEE09A77C96}"/>
              </a:ext>
            </a:extLst>
          </p:cNvPr>
          <p:cNvSpPr>
            <a:spLocks noGrp="1"/>
          </p:cNvSpPr>
          <p:nvPr>
            <p:ph idx="1"/>
          </p:nvPr>
        </p:nvSpPr>
        <p:spPr/>
        <p:txBody>
          <a:bodyPr>
            <a:normAutofit fontScale="92500" lnSpcReduction="20000"/>
          </a:bodyPr>
          <a:lstStyle/>
          <a:p>
            <a:r>
              <a:rPr lang="en-US" dirty="0"/>
              <a:t>VENTILATION, TEMPERATURE: Proper ventilation is also needed for the control of noxious </a:t>
            </a:r>
            <a:r>
              <a:rPr lang="en-US" dirty="0" err="1"/>
              <a:t>vapours</a:t>
            </a:r>
            <a:r>
              <a:rPr lang="en-US" dirty="0"/>
              <a:t>, fumes and dusts and prevention of fatigue and industrial accidents. Effective and suitable provision should be made for maintaining adequate ventilation by circulation of fresh air in every work room; and such a temperature which will secure to workers therein, reasonable conditions of comfort and prevent injury to health.</a:t>
            </a:r>
          </a:p>
          <a:p>
            <a:r>
              <a:rPr lang="en-US" dirty="0"/>
              <a:t>PROTECTION AGAINST HAZARDS: There should be adequate environmental controls designed to protect the workers against exposure to dusts, fumes and other toxic hazards. </a:t>
            </a:r>
          </a:p>
          <a:p>
            <a:r>
              <a:rPr lang="en-US" dirty="0"/>
              <a:t>HOUSING: There is usually an acute shortage of housing in industrial areas. Most workers come from rural areas. The housing of workers near a plant must be correlated to essential community amenities and to social and sanitary facilities. Town planning and zoning are highly desirable.</a:t>
            </a:r>
          </a:p>
        </p:txBody>
      </p:sp>
    </p:spTree>
    <p:extLst>
      <p:ext uri="{BB962C8B-B14F-4D97-AF65-F5344CB8AC3E}">
        <p14:creationId xmlns:p14="http://schemas.microsoft.com/office/powerpoint/2010/main" val="125096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A436-B67E-296B-ECD4-D83A7474DB4E}"/>
              </a:ext>
            </a:extLst>
          </p:cNvPr>
          <p:cNvSpPr>
            <a:spLocks noGrp="1"/>
          </p:cNvSpPr>
          <p:nvPr>
            <p:ph type="title"/>
          </p:nvPr>
        </p:nvSpPr>
        <p:spPr/>
        <p:txBody>
          <a:bodyPr/>
          <a:lstStyle/>
          <a:p>
            <a:r>
              <a:rPr lang="en-US" dirty="0"/>
              <a:t>Health protection of workers</a:t>
            </a:r>
          </a:p>
        </p:txBody>
      </p:sp>
      <p:sp>
        <p:nvSpPr>
          <p:cNvPr id="3" name="Content Placeholder 2">
            <a:extLst>
              <a:ext uri="{FF2B5EF4-FFF2-40B4-BE49-F238E27FC236}">
                <a16:creationId xmlns:a16="http://schemas.microsoft.com/office/drawing/2014/main" id="{5DD8588A-DB75-D06D-FAE8-8FEE09A77C96}"/>
              </a:ext>
            </a:extLst>
          </p:cNvPr>
          <p:cNvSpPr>
            <a:spLocks noGrp="1"/>
          </p:cNvSpPr>
          <p:nvPr>
            <p:ph idx="1"/>
          </p:nvPr>
        </p:nvSpPr>
        <p:spPr/>
        <p:txBody>
          <a:bodyPr>
            <a:normAutofit fontScale="92500" lnSpcReduction="10000"/>
          </a:bodyPr>
          <a:lstStyle/>
          <a:p>
            <a:r>
              <a:rPr lang="en-US" dirty="0"/>
              <a:t>Mental health Industrial workers are susceptible to the effects of love, recognition, rejection, job satisfaction, rewards and discipline. The workers, individually and</a:t>
            </a:r>
          </a:p>
          <a:p>
            <a:r>
              <a:rPr lang="en-US" dirty="0"/>
              <a:t>collectively, like to be recognized, like to have a measure of control over their own affairs, like to have the opportunity to develop skills appropriate to their individual capacity.</a:t>
            </a:r>
          </a:p>
          <a:p>
            <a:r>
              <a:rPr lang="en-US" dirty="0"/>
              <a:t>The goals of mental health in industry are : to promote the health and happiness of the workers, </a:t>
            </a:r>
          </a:p>
          <a:p>
            <a:pPr lvl="1"/>
            <a:r>
              <a:rPr lang="en-US" dirty="0"/>
              <a:t>to detect signs of emotional stress and strain and to secure relief of stress and strain where possible, </a:t>
            </a:r>
          </a:p>
          <a:p>
            <a:pPr lvl="1"/>
            <a:r>
              <a:rPr lang="en-US" dirty="0"/>
              <a:t>the treatment of employees suffering from  mental illness, </a:t>
            </a:r>
          </a:p>
          <a:p>
            <a:pPr lvl="1"/>
            <a:r>
              <a:rPr lang="en-US" dirty="0"/>
              <a:t>The rehabilitation those who become ill.</a:t>
            </a:r>
          </a:p>
        </p:txBody>
      </p:sp>
    </p:spTree>
    <p:extLst>
      <p:ext uri="{BB962C8B-B14F-4D97-AF65-F5344CB8AC3E}">
        <p14:creationId xmlns:p14="http://schemas.microsoft.com/office/powerpoint/2010/main" val="4128362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A436-B67E-296B-ECD4-D83A7474DB4E}"/>
              </a:ext>
            </a:extLst>
          </p:cNvPr>
          <p:cNvSpPr>
            <a:spLocks noGrp="1"/>
          </p:cNvSpPr>
          <p:nvPr>
            <p:ph type="title"/>
          </p:nvPr>
        </p:nvSpPr>
        <p:spPr/>
        <p:txBody>
          <a:bodyPr/>
          <a:lstStyle/>
          <a:p>
            <a:r>
              <a:rPr lang="en-US" dirty="0"/>
              <a:t>Health protection of workers</a:t>
            </a:r>
          </a:p>
        </p:txBody>
      </p:sp>
      <p:sp>
        <p:nvSpPr>
          <p:cNvPr id="3" name="Content Placeholder 2">
            <a:extLst>
              <a:ext uri="{FF2B5EF4-FFF2-40B4-BE49-F238E27FC236}">
                <a16:creationId xmlns:a16="http://schemas.microsoft.com/office/drawing/2014/main" id="{5DD8588A-DB75-D06D-FAE8-8FEE09A77C96}"/>
              </a:ext>
            </a:extLst>
          </p:cNvPr>
          <p:cNvSpPr>
            <a:spLocks noGrp="1"/>
          </p:cNvSpPr>
          <p:nvPr>
            <p:ph idx="1"/>
          </p:nvPr>
        </p:nvSpPr>
        <p:spPr/>
        <p:txBody>
          <a:bodyPr>
            <a:normAutofit fontScale="77500" lnSpcReduction="20000"/>
          </a:bodyPr>
          <a:lstStyle/>
          <a:p>
            <a:r>
              <a:rPr lang="en-US" dirty="0"/>
              <a:t>Measures for women and children</a:t>
            </a:r>
          </a:p>
          <a:p>
            <a:pPr lvl="1"/>
            <a:r>
              <a:rPr lang="en-US" dirty="0"/>
              <a:t>The developing embryo may be more susceptible to noxious agents</a:t>
            </a:r>
          </a:p>
          <a:p>
            <a:pPr lvl="1"/>
            <a:r>
              <a:rPr lang="en-US" dirty="0"/>
              <a:t>Females may be less suited for some work tasks</a:t>
            </a:r>
          </a:p>
          <a:p>
            <a:pPr lvl="1"/>
            <a:r>
              <a:rPr lang="en-US" dirty="0"/>
              <a:t>women tend to feed themselves less substantially than men and also restrict their nourishment in difficult economic circumstances,</a:t>
            </a:r>
          </a:p>
          <a:p>
            <a:pPr lvl="1"/>
            <a:r>
              <a:rPr lang="en-US" dirty="0"/>
              <a:t>the infant mortality is higher amongst children of women employed in industrial work. The Government has notified the Maternity Benefit (Amendment) Act, 2017 on 28</a:t>
            </a:r>
            <a:r>
              <a:rPr lang="en-US" baseline="30000" dirty="0"/>
              <a:t>th</a:t>
            </a:r>
            <a:r>
              <a:rPr lang="en-US" dirty="0"/>
              <a:t> March, 2017 and the provisions of the Amendment Act have come into force with effect from 1st April, 2017.</a:t>
            </a:r>
          </a:p>
          <a:p>
            <a:pPr lvl="1"/>
            <a:r>
              <a:rPr lang="en-US" dirty="0"/>
              <a:t>Expectant mothers are given maternity leave for 26 weeks, of which </a:t>
            </a:r>
            <a:r>
              <a:rPr lang="en-US" dirty="0" err="1"/>
              <a:t>upto</a:t>
            </a:r>
            <a:r>
              <a:rPr lang="en-US" dirty="0"/>
              <a:t> 8 weeks precede the expected date of confinement; during this period they are allowed ‘maternity benefit’, which is a cash payment, under the Employees State Insurance Act, 1948. After 2 children, the duration of paid maternity leave shall be 12 weeks (6 weeks pre and 6 weeks post delivery)</a:t>
            </a:r>
          </a:p>
          <a:p>
            <a:pPr lvl="1"/>
            <a:r>
              <a:rPr lang="en-US" dirty="0"/>
              <a:t>Provision of free antenatal, natal and postnatal services.</a:t>
            </a:r>
          </a:p>
          <a:p>
            <a:pPr lvl="1"/>
            <a:r>
              <a:rPr lang="en-US" dirty="0"/>
              <a:t>The Factories Act (Section 66) prohibits night work between 7 p.m. and 6 a.m.; Section 34 prohibits carrying of excessive weights beyond a certain schedule which has been laid down. </a:t>
            </a:r>
          </a:p>
          <a:p>
            <a:pPr lvl="1"/>
            <a:r>
              <a:rPr lang="en-US" dirty="0"/>
              <a:t>The Indian Mines Act (1923) prohibits work underground. </a:t>
            </a:r>
          </a:p>
          <a:p>
            <a:pPr lvl="1"/>
            <a:r>
              <a:rPr lang="en-US" dirty="0"/>
              <a:t>Maternity Benefit Act, 2017 provides for creches in factories where more than 50 women workers </a:t>
            </a:r>
            <a:r>
              <a:rPr lang="en-US"/>
              <a:t>are employed</a:t>
            </a:r>
            <a:endParaRPr lang="en-US" dirty="0"/>
          </a:p>
        </p:txBody>
      </p:sp>
    </p:spTree>
    <p:extLst>
      <p:ext uri="{BB962C8B-B14F-4D97-AF65-F5344CB8AC3E}">
        <p14:creationId xmlns:p14="http://schemas.microsoft.com/office/powerpoint/2010/main" val="470043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57A1E-01CC-69CF-215B-1766A50DFD2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9D327B9-940F-66EE-D159-5973F181A0E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59003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E599-0F59-3F0C-B62E-7299913FA1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5969A0-3B8F-52F4-7784-C85964BC941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764808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1331</Words>
  <Application>Microsoft Office PowerPoint</Application>
  <PresentationFormat>Widescreen</PresentationFormat>
  <Paragraphs>55</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Times New Roman</vt:lpstr>
      <vt:lpstr>Office Theme</vt:lpstr>
      <vt:lpstr>Occupational diseases</vt:lpstr>
      <vt:lpstr>Health problems due to industrialization</vt:lpstr>
      <vt:lpstr>Health problem - Industrialization</vt:lpstr>
      <vt:lpstr>Health problem - Industrialization</vt:lpstr>
      <vt:lpstr>Health protection of workers</vt:lpstr>
      <vt:lpstr>Health protection of workers</vt:lpstr>
      <vt:lpstr>Health protection of workers - Environmental sanitation</vt:lpstr>
      <vt:lpstr>Health protection of workers - Environmental sanitation </vt:lpstr>
      <vt:lpstr>Health protection of workers - Environmental sanitation</vt:lpstr>
      <vt:lpstr>Health protection of workers - Environmental sanitation</vt:lpstr>
      <vt:lpstr>Health protection of workers</vt:lpstr>
      <vt:lpstr>Health protection of workers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Occupational diseases</dc:title>
  <dc:creator>mukul maheshwari</dc:creator>
  <cp:lastModifiedBy>mukul maheshwari</cp:lastModifiedBy>
  <cp:revision>1</cp:revision>
  <dcterms:created xsi:type="dcterms:W3CDTF">2023-09-12T06:12:19Z</dcterms:created>
  <dcterms:modified xsi:type="dcterms:W3CDTF">2023-09-12T08:43:56Z</dcterms:modified>
</cp:coreProperties>
</file>