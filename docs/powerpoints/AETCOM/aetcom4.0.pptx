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7" r:id="rId12"/>
    <p:sldId id="268" r:id="rId13"/>
    <p:sldId id="270" r:id="rId14"/>
    <p:sldId id="271" r:id="rId15"/>
    <p:sldId id="272" r:id="rId16"/>
    <p:sldId id="277" r:id="rId17"/>
    <p:sldId id="274" r:id="rId18"/>
    <p:sldId id="275" r:id="rId19"/>
    <p:sldId id="278" r:id="rId2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p:scale>
          <a:sx n="75" d="100"/>
          <a:sy n="75" d="100"/>
        </p:scale>
        <p:origin x="198" y="76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685800" y="1346947"/>
            <a:ext cx="7772400" cy="80683"/>
          </a:xfrm>
          <a:prstGeom prst="rect">
            <a:avLst/>
          </a:prstGeom>
          <a:blipFill dpi="0" rotWithShape="1">
            <a:blip r:embed="rId2">
              <a:alphaModFix amt="8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685800" y="4282763"/>
            <a:ext cx="7772400" cy="80683"/>
          </a:xfrm>
          <a:prstGeom prst="rect">
            <a:avLst/>
          </a:prstGeom>
          <a:blipFill dpi="0" rotWithShape="1">
            <a:blip r:embed="rId2">
              <a:alphaModFix amt="8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685800" y="1484779"/>
            <a:ext cx="7772400" cy="2743200"/>
          </a:xfrm>
          <a:prstGeom prst="rect">
            <a:avLst/>
          </a:prstGeom>
          <a:blipFill dpi="0" rotWithShape="1">
            <a:blip r:embed="rId2">
              <a:alphaModFix amt="8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a:grpSpLocks noChangeAspect="1"/>
          </p:cNvGrpSpPr>
          <p:nvPr/>
        </p:nvGrpSpPr>
        <p:grpSpPr>
          <a:xfrm>
            <a:off x="7234780" y="4107023"/>
            <a:ext cx="914400" cy="914400"/>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788670" y="1432223"/>
            <a:ext cx="7593330" cy="3035808"/>
          </a:xfrm>
        </p:spPr>
        <p:txBody>
          <a:bodyPr anchor="ctr">
            <a:noAutofit/>
          </a:bodyPr>
          <a:lstStyle>
            <a:lvl1pPr algn="l">
              <a:lnSpc>
                <a:spcPct val="80000"/>
              </a:lnSpc>
              <a:defRPr sz="6400" b="0" cap="all" baseline="0">
                <a:blipFill dpi="0" rotWithShape="1">
                  <a:blip r:embed="rId4"/>
                  <a:srcRect/>
                  <a:tile tx="6350" ty="-127000" sx="65000" sy="64000" flip="none" algn="tl"/>
                </a:blipFill>
              </a:defRPr>
            </a:lvl1pPr>
          </a:lstStyle>
          <a:p>
            <a:r>
              <a:rPr lang="en-US"/>
              <a:t>Click to edit Master title style</a:t>
            </a:r>
            <a:endParaRPr lang="en-US" dirty="0"/>
          </a:p>
        </p:txBody>
      </p:sp>
      <p:sp>
        <p:nvSpPr>
          <p:cNvPr id="3" name="Subtitle 2"/>
          <p:cNvSpPr>
            <a:spLocks noGrp="1"/>
          </p:cNvSpPr>
          <p:nvPr>
            <p:ph type="subTitle" idx="1"/>
          </p:nvPr>
        </p:nvSpPr>
        <p:spPr>
          <a:xfrm>
            <a:off x="802386" y="4389120"/>
            <a:ext cx="5918454" cy="1069848"/>
          </a:xfrm>
        </p:spPr>
        <p:txBody>
          <a:bodyPr>
            <a:normAutofit/>
          </a:bodyPr>
          <a:lstStyle>
            <a:lvl1pPr marL="0" indent="0" algn="l">
              <a:buNone/>
              <a:defRPr sz="1800" b="0">
                <a:solidFill>
                  <a:schemeClr val="tx1"/>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9/6/2025</a:t>
            </a:fld>
            <a:endParaRPr lang="en-US"/>
          </a:p>
        </p:txBody>
      </p:sp>
      <p:sp>
        <p:nvSpPr>
          <p:cNvPr id="5" name="Footer Placeholder 4"/>
          <p:cNvSpPr>
            <a:spLocks noGrp="1"/>
          </p:cNvSpPr>
          <p:nvPr>
            <p:ph type="ftr" sz="quarter" idx="11"/>
          </p:nvPr>
        </p:nvSpPr>
        <p:spPr>
          <a:xfrm>
            <a:off x="812805" y="6272785"/>
            <a:ext cx="4745736" cy="365125"/>
          </a:xfrm>
        </p:spPr>
        <p:txBody>
          <a:bodyPr/>
          <a:lstStyle/>
          <a:p>
            <a:endParaRPr lang="en-US"/>
          </a:p>
        </p:txBody>
      </p:sp>
      <p:sp>
        <p:nvSpPr>
          <p:cNvPr id="6" name="Slide Number Placeholder 5"/>
          <p:cNvSpPr>
            <a:spLocks noGrp="1"/>
          </p:cNvSpPr>
          <p:nvPr>
            <p:ph type="sldNum" sz="quarter" idx="12"/>
          </p:nvPr>
        </p:nvSpPr>
        <p:spPr>
          <a:xfrm>
            <a:off x="7244280" y="4227195"/>
            <a:ext cx="895401" cy="640080"/>
          </a:xfrm>
        </p:spPr>
        <p:txBody>
          <a:bodyPr/>
          <a:lstStyle>
            <a:lvl1pPr>
              <a:defRPr sz="2800" b="1"/>
            </a:lvl1pPr>
          </a:lstStyle>
          <a:p>
            <a:fld id="{C1FF6DA9-008F-8B48-92A6-B652298478BF}" type="slidenum">
              <a:rPr lang="en-US" smtClean="0"/>
              <a:t>‹#›</a:t>
            </a:fld>
            <a:endParaRPr lang="en-US"/>
          </a:p>
        </p:txBody>
      </p:sp>
    </p:spTree>
    <p:extLst>
      <p:ext uri="{BB962C8B-B14F-4D97-AF65-F5344CB8AC3E}">
        <p14:creationId xmlns:p14="http://schemas.microsoft.com/office/powerpoint/2010/main" val="18460017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9/6/2025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4245493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9144000" cy="1940010"/>
          </a:xfrm>
          <a:prstGeom prst="rect">
            <a:avLst/>
          </a:prstGeom>
          <a:blipFill dpi="0" rotWithShape="1">
            <a:blip r:embed="rId2">
              <a:alphaModFix amt="8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625346" y="1225296"/>
            <a:ext cx="6960870" cy="3520440"/>
          </a:xfrm>
        </p:spPr>
        <p:txBody>
          <a:bodyPr anchor="ctr">
            <a:normAutofit/>
          </a:bodyPr>
          <a:lstStyle>
            <a:lvl1pPr>
              <a:lnSpc>
                <a:spcPct val="80000"/>
              </a:lnSpc>
              <a:defRPr sz="6400" b="0"/>
            </a:lvl1pPr>
          </a:lstStyle>
          <a:p>
            <a:r>
              <a:rPr lang="en-US"/>
              <a:t>Click to edit Master title style</a:t>
            </a:r>
            <a:endParaRPr lang="en-US" dirty="0"/>
          </a:p>
        </p:txBody>
      </p:sp>
      <p:sp>
        <p:nvSpPr>
          <p:cNvPr id="3" name="Text Placeholder 2"/>
          <p:cNvSpPr>
            <a:spLocks noGrp="1"/>
          </p:cNvSpPr>
          <p:nvPr>
            <p:ph type="body" idx="1"/>
          </p:nvPr>
        </p:nvSpPr>
        <p:spPr>
          <a:xfrm>
            <a:off x="1624330" y="5020056"/>
            <a:ext cx="6789420" cy="1066800"/>
          </a:xfrm>
        </p:spPr>
        <p:txBody>
          <a:bodyPr anchor="t">
            <a:normAutofit/>
          </a:bodyPr>
          <a:lstStyle>
            <a:lvl1pPr marL="0" indent="0">
              <a:buNone/>
              <a:defRPr sz="1800" b="0">
                <a:solidFill>
                  <a:schemeClr val="accent1">
                    <a:lumMod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6445251" y="6272785"/>
            <a:ext cx="1983232" cy="365125"/>
          </a:xfrm>
        </p:spPr>
        <p:txBody>
          <a:bodyPr/>
          <a:lstStyle>
            <a:lvl1pPr>
              <a:defRPr>
                <a:solidFill>
                  <a:schemeClr val="accent1">
                    <a:lumMod val="50000"/>
                  </a:schemeClr>
                </a:solidFill>
              </a:defRPr>
            </a:lvl1pPr>
          </a:lstStyle>
          <a:p>
            <a:fld id="{5BCAD085-E8A6-8845-BD4E-CB4CCA059FC4}" type="datetimeFigureOut">
              <a:rPr lang="en-US" smtClean="0"/>
              <a:t>9/6/2025</a:t>
            </a:fld>
            <a:endParaRPr lang="en-US"/>
          </a:p>
        </p:txBody>
      </p:sp>
      <p:sp>
        <p:nvSpPr>
          <p:cNvPr id="5" name="Footer Placeholder 4"/>
          <p:cNvSpPr>
            <a:spLocks noGrp="1"/>
          </p:cNvSpPr>
          <p:nvPr>
            <p:ph type="ftr" sz="quarter" idx="11"/>
          </p:nvPr>
        </p:nvSpPr>
        <p:spPr>
          <a:xfrm>
            <a:off x="1636099" y="6272784"/>
            <a:ext cx="4745736" cy="365125"/>
          </a:xfrm>
        </p:spPr>
        <p:txBody>
          <a:bodyPr/>
          <a:lstStyle>
            <a:lvl1pPr>
              <a:defRPr>
                <a:solidFill>
                  <a:schemeClr val="accent1">
                    <a:lumMod val="50000"/>
                  </a:schemeClr>
                </a:solidFill>
              </a:defRPr>
            </a:lvl1pPr>
          </a:lstStyle>
          <a:p>
            <a:endParaRPr lang="en-US"/>
          </a:p>
        </p:txBody>
      </p:sp>
      <p:grpSp>
        <p:nvGrpSpPr>
          <p:cNvPr id="8" name="Group 7"/>
          <p:cNvGrpSpPr>
            <a:grpSpLocks noChangeAspect="1"/>
          </p:cNvGrpSpPr>
          <p:nvPr/>
        </p:nvGrpSpPr>
        <p:grpSpPr>
          <a:xfrm>
            <a:off x="633862" y="2430623"/>
            <a:ext cx="914400" cy="914400"/>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645450" y="2508607"/>
            <a:ext cx="891224" cy="720332"/>
          </a:xfrm>
        </p:spPr>
        <p:txBody>
          <a:bodyPr/>
          <a:lstStyle>
            <a:lvl1pPr>
              <a:defRPr sz="2800"/>
            </a:lvl1pPr>
          </a:lstStyle>
          <a:p>
            <a:fld id="{C1FF6DA9-008F-8B48-92A6-B652298478BF}" type="slidenum">
              <a:rPr lang="en-US" smtClean="0"/>
              <a:t>‹#›</a:t>
            </a:fld>
            <a:endParaRPr lang="en-US"/>
          </a:p>
        </p:txBody>
      </p:sp>
    </p:spTree>
    <p:extLst>
      <p:ext uri="{BB962C8B-B14F-4D97-AF65-F5344CB8AC3E}">
        <p14:creationId xmlns:p14="http://schemas.microsoft.com/office/powerpoint/2010/main" val="9570496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0" y="2194560"/>
            <a:ext cx="365760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792218" y="2194560"/>
            <a:ext cx="365760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9/6/2025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8999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685800" y="2048256"/>
            <a:ext cx="365760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0" y="2743200"/>
            <a:ext cx="365760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820793" y="2048256"/>
            <a:ext cx="365760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820793" y="2743200"/>
            <a:ext cx="365760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9/6/2025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995916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lvl1pPr>
              <a:defRPr>
                <a:solidFill>
                  <a:schemeClr val="accent1">
                    <a:lumMod val="50000"/>
                  </a:schemeClr>
                </a:solidFill>
              </a:defRPr>
            </a:lvl1pPr>
          </a:lstStyle>
          <a:p>
            <a:fld id="{5BCAD085-E8A6-8845-BD4E-CB4CCA059FC4}" type="datetimeFigureOut">
              <a:rPr lang="en-US" smtClean="0"/>
              <a:t>9/6/2025</a:t>
            </a:fld>
            <a:endParaRPr lang="en-US"/>
          </a:p>
        </p:txBody>
      </p:sp>
      <p:sp>
        <p:nvSpPr>
          <p:cNvPr id="4" name="Footer Placeholder 3"/>
          <p:cNvSpPr>
            <a:spLocks noGrp="1"/>
          </p:cNvSpPr>
          <p:nvPr>
            <p:ph type="ftr" sz="quarter" idx="11"/>
          </p:nvPr>
        </p:nvSpPr>
        <p:spPr/>
        <p:txBody>
          <a:bodyPr/>
          <a:lstStyle>
            <a:lvl1pPr>
              <a:defRPr>
                <a:solidFill>
                  <a:schemeClr val="accent1">
                    <a:lumMod val="50000"/>
                  </a:schemeClr>
                </a:solidFill>
              </a:defRPr>
            </a:lvl1p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1399179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20740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6227806" y="1"/>
            <a:ext cx="2916194"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12230" y="685800"/>
            <a:ext cx="2400300" cy="1737360"/>
          </a:xfrm>
        </p:spPr>
        <p:txBody>
          <a:bodyPr anchor="b">
            <a:normAutofit/>
          </a:bodyPr>
          <a:lstStyle>
            <a:lvl1pPr>
              <a:defRPr sz="2800" b="0"/>
            </a:lvl1pPr>
          </a:lstStyle>
          <a:p>
            <a:r>
              <a:rPr lang="en-US"/>
              <a:t>Click to edit Master title style</a:t>
            </a:r>
            <a:endParaRPr lang="en-US" dirty="0"/>
          </a:p>
        </p:txBody>
      </p:sp>
      <p:sp>
        <p:nvSpPr>
          <p:cNvPr id="3" name="Content Placeholder 2"/>
          <p:cNvSpPr>
            <a:spLocks noGrp="1"/>
          </p:cNvSpPr>
          <p:nvPr>
            <p:ph idx="1"/>
          </p:nvPr>
        </p:nvSpPr>
        <p:spPr>
          <a:xfrm>
            <a:off x="628650" y="685800"/>
            <a:ext cx="5033772"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412230" y="2423160"/>
            <a:ext cx="2400300" cy="3291840"/>
          </a:xfrm>
        </p:spPr>
        <p:txBody>
          <a:bodyPr>
            <a:normAutofit/>
          </a:bodyPr>
          <a:lstStyle>
            <a:lvl1pPr marL="0" indent="0">
              <a:lnSpc>
                <a:spcPct val="100000"/>
              </a:lnSpc>
              <a:spcBef>
                <a:spcPts val="1000"/>
              </a:spcBef>
              <a:buNone/>
              <a:defRPr sz="1350">
                <a:solidFill>
                  <a:schemeClr val="accent1">
                    <a:lumMod val="5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grpSp>
        <p:nvGrpSpPr>
          <p:cNvPr id="12" name="Group 11"/>
          <p:cNvGrpSpPr/>
          <p:nvPr/>
        </p:nvGrpSpPr>
        <p:grpSpPr>
          <a:xfrm>
            <a:off x="8522664" y="6255258"/>
            <a:ext cx="393192" cy="393192"/>
            <a:chOff x="8532189" y="5068824"/>
            <a:chExt cx="393192" cy="393192"/>
          </a:xfrm>
        </p:grpSpPr>
        <p:sp>
          <p:nvSpPr>
            <p:cNvPr id="13" name="Oval 12"/>
            <p:cNvSpPr>
              <a:spLocks noChangeAspect="1"/>
            </p:cNvSpPr>
            <p:nvPr/>
          </p:nvSpPr>
          <p:spPr>
            <a:xfrm>
              <a:off x="8532189" y="5068824"/>
              <a:ext cx="393192" cy="39319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4" name="Oval 13"/>
            <p:cNvSpPr>
              <a:spLocks noChangeAspect="1"/>
            </p:cNvSpPr>
            <p:nvPr/>
          </p:nvSpPr>
          <p:spPr>
            <a:xfrm>
              <a:off x="8568766" y="5105400"/>
              <a:ext cx="320039" cy="320040"/>
            </a:xfrm>
            <a:prstGeom prst="ellipse">
              <a:avLst/>
            </a:prstGeom>
            <a:noFill/>
            <a:ln w="12700" cap="flat" cmpd="sng" algn="ctr">
              <a:solidFill>
                <a:srgbClr val="FFFFFF"/>
              </a:solidFill>
              <a:prstDash val="solid"/>
            </a:ln>
            <a:effectLst/>
          </p:spPr>
        </p:sp>
      </p:grpSp>
      <p:sp>
        <p:nvSpPr>
          <p:cNvPr id="9" name="Date Placeholder 8"/>
          <p:cNvSpPr>
            <a:spLocks noGrp="1"/>
          </p:cNvSpPr>
          <p:nvPr>
            <p:ph type="dt" sz="half" idx="10"/>
          </p:nvPr>
        </p:nvSpPr>
        <p:spPr/>
        <p:txBody>
          <a:bodyPr/>
          <a:lstStyle/>
          <a:p>
            <a:fld id="{5BCAD085-E8A6-8845-BD4E-CB4CCA059FC4}" type="datetimeFigureOut">
              <a:rPr lang="en-US" smtClean="0"/>
              <a:t>9/6/2025</a:t>
            </a:fld>
            <a:endParaRPr lang="en-US"/>
          </a:p>
        </p:txBody>
      </p:sp>
      <p:sp>
        <p:nvSpPr>
          <p:cNvPr id="10" name="Footer Placeholder 9"/>
          <p:cNvSpPr>
            <a:spLocks noGrp="1"/>
          </p:cNvSpPr>
          <p:nvPr>
            <p:ph type="ftr" sz="quarter" idx="11"/>
          </p:nvPr>
        </p:nvSpPr>
        <p:spPr/>
        <p:txBody>
          <a:bodyPr/>
          <a:lstStyle/>
          <a:p>
            <a:endParaRPr lang="en-US"/>
          </a:p>
        </p:txBody>
      </p:sp>
      <p:sp>
        <p:nvSpPr>
          <p:cNvPr id="11" name="Slide Number Placeholder 10"/>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931259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6227806" y="1"/>
            <a:ext cx="2916194"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12230" y="685800"/>
            <a:ext cx="2400300" cy="1737360"/>
          </a:xfrm>
        </p:spPr>
        <p:txBody>
          <a:bodyPr anchor="b">
            <a:normAutofit/>
          </a:bodyPr>
          <a:lstStyle>
            <a:lvl1pPr>
              <a:defRPr sz="28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6227805"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412230" y="2423160"/>
            <a:ext cx="2400300" cy="3291840"/>
          </a:xfrm>
        </p:spPr>
        <p:txBody>
          <a:bodyPr>
            <a:normAutofit/>
          </a:bodyPr>
          <a:lstStyle>
            <a:lvl1pPr marL="0" indent="0">
              <a:lnSpc>
                <a:spcPct val="100000"/>
              </a:lnSpc>
              <a:spcBef>
                <a:spcPts val="1000"/>
              </a:spcBef>
              <a:buNone/>
              <a:defRPr sz="1350">
                <a:solidFill>
                  <a:schemeClr val="accent1">
                    <a:lumMod val="5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grpSp>
        <p:nvGrpSpPr>
          <p:cNvPr id="12" name="Group 11"/>
          <p:cNvGrpSpPr/>
          <p:nvPr/>
        </p:nvGrpSpPr>
        <p:grpSpPr>
          <a:xfrm>
            <a:off x="8522664" y="6255258"/>
            <a:ext cx="393192" cy="393192"/>
            <a:chOff x="8532189" y="5068824"/>
            <a:chExt cx="393192" cy="393192"/>
          </a:xfrm>
        </p:grpSpPr>
        <p:sp>
          <p:nvSpPr>
            <p:cNvPr id="13" name="Oval 12"/>
            <p:cNvSpPr>
              <a:spLocks noChangeAspect="1"/>
            </p:cNvSpPr>
            <p:nvPr/>
          </p:nvSpPr>
          <p:spPr>
            <a:xfrm>
              <a:off x="8532189" y="5068824"/>
              <a:ext cx="393192" cy="39319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4" name="Oval 13"/>
            <p:cNvSpPr>
              <a:spLocks noChangeAspect="1"/>
            </p:cNvSpPr>
            <p:nvPr/>
          </p:nvSpPr>
          <p:spPr>
            <a:xfrm>
              <a:off x="8568766" y="5105400"/>
              <a:ext cx="320039" cy="320040"/>
            </a:xfrm>
            <a:prstGeom prst="ellipse">
              <a:avLst/>
            </a:prstGeom>
            <a:noFill/>
            <a:ln w="12700" cap="flat" cmpd="sng" algn="ctr">
              <a:solidFill>
                <a:srgbClr val="FFFFFF"/>
              </a:solidFill>
              <a:prstDash val="solid"/>
            </a:ln>
            <a:effectLst/>
          </p:spPr>
        </p:sp>
      </p:grpSp>
      <p:sp>
        <p:nvSpPr>
          <p:cNvPr id="8" name="Date Placeholder 7"/>
          <p:cNvSpPr>
            <a:spLocks noGrp="1"/>
          </p:cNvSpPr>
          <p:nvPr>
            <p:ph type="dt" sz="half" idx="10"/>
          </p:nvPr>
        </p:nvSpPr>
        <p:spPr/>
        <p:txBody>
          <a:bodyPr/>
          <a:lstStyle/>
          <a:p>
            <a:fld id="{5BCAD085-E8A6-8845-BD4E-CB4CCA059FC4}" type="datetimeFigureOut">
              <a:rPr lang="en-US" smtClean="0"/>
              <a:t>9/6/2025</a:t>
            </a:fld>
            <a:endParaRPr lang="en-US"/>
          </a:p>
        </p:txBody>
      </p:sp>
      <p:sp>
        <p:nvSpPr>
          <p:cNvPr id="10" name="Slide Number Placeholder 9"/>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4490864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9/6/2025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51862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533400"/>
            <a:ext cx="1914525" cy="5638800"/>
          </a:xfrm>
        </p:spPr>
        <p:txBody>
          <a:bodyPr vert="eaVert"/>
          <a:lstStyle>
            <a:lvl1pPr>
              <a:defRPr b="0"/>
            </a:lvl1pPr>
          </a:lstStyle>
          <a:p>
            <a:r>
              <a:rPr lang="en-US"/>
              <a:t>Click to edit Master title style</a:t>
            </a:r>
            <a:endParaRPr lang="en-US" dirty="0"/>
          </a:p>
        </p:txBody>
      </p:sp>
      <p:sp>
        <p:nvSpPr>
          <p:cNvPr id="3" name="Vertical Text Placeholder 2"/>
          <p:cNvSpPr>
            <a:spLocks noGrp="1"/>
          </p:cNvSpPr>
          <p:nvPr>
            <p:ph type="body" orient="vert" idx="1"/>
          </p:nvPr>
        </p:nvSpPr>
        <p:spPr>
          <a:xfrm>
            <a:off x="800100" y="533400"/>
            <a:ext cx="5629275"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9/6/2025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1656308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2" name="Group 11"/>
          <p:cNvGrpSpPr/>
          <p:nvPr/>
        </p:nvGrpSpPr>
        <p:grpSpPr>
          <a:xfrm>
            <a:off x="8522664" y="6255258"/>
            <a:ext cx="393192" cy="393192"/>
            <a:chOff x="8532189" y="5068824"/>
            <a:chExt cx="393192" cy="393192"/>
          </a:xfrm>
        </p:grpSpPr>
        <p:sp>
          <p:nvSpPr>
            <p:cNvPr id="8" name="Oval 7"/>
            <p:cNvSpPr>
              <a:spLocks noChangeAspect="1"/>
            </p:cNvSpPr>
            <p:nvPr/>
          </p:nvSpPr>
          <p:spPr>
            <a:xfrm>
              <a:off x="8532189" y="5068824"/>
              <a:ext cx="393192" cy="393192"/>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a:spLocks noChangeAspect="1"/>
            </p:cNvSpPr>
            <p:nvPr/>
          </p:nvSpPr>
          <p:spPr>
            <a:xfrm>
              <a:off x="8568766" y="5105400"/>
              <a:ext cx="320039" cy="320040"/>
            </a:xfrm>
            <a:prstGeom prst="ellipse">
              <a:avLst/>
            </a:prstGeom>
            <a:noFill/>
            <a:ln w="12700" cap="flat" cmpd="sng" algn="ctr">
              <a:solidFill>
                <a:srgbClr val="FFFFFF"/>
              </a:solidFill>
              <a:prstDash val="solid"/>
            </a:ln>
            <a:effectLst/>
          </p:spPr>
        </p:sp>
      </p:grpSp>
      <p:sp>
        <p:nvSpPr>
          <p:cNvPr id="2" name="Title Placeholder 1"/>
          <p:cNvSpPr>
            <a:spLocks noGrp="1"/>
          </p:cNvSpPr>
          <p:nvPr>
            <p:ph type="title"/>
          </p:nvPr>
        </p:nvSpPr>
        <p:spPr>
          <a:xfrm>
            <a:off x="685800" y="484632"/>
            <a:ext cx="7772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0" y="2121408"/>
            <a:ext cx="7772400" cy="405079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992368" y="6272785"/>
            <a:ext cx="2455164" cy="365125"/>
          </a:xfrm>
          <a:prstGeom prst="rect">
            <a:avLst/>
          </a:prstGeom>
        </p:spPr>
        <p:txBody>
          <a:bodyPr vert="horz" lIns="91440" tIns="45720" rIns="91440" bIns="45720" rtlCol="0" anchor="ctr"/>
          <a:lstStyle>
            <a:lvl1pPr algn="r">
              <a:defRPr sz="1000">
                <a:solidFill>
                  <a:schemeClr val="accent1">
                    <a:lumMod val="50000"/>
                  </a:schemeClr>
                </a:solidFill>
              </a:defRPr>
            </a:lvl1pPr>
          </a:lstStyle>
          <a:p>
            <a:fld id="{5BCAD085-E8A6-8845-BD4E-CB4CCA059FC4}" type="datetimeFigureOut">
              <a:rPr lang="en-US" smtClean="0"/>
              <a:t>9/6/2025</a:t>
            </a:fld>
            <a:endParaRPr lang="en-US"/>
          </a:p>
        </p:txBody>
      </p:sp>
      <p:sp>
        <p:nvSpPr>
          <p:cNvPr id="5" name="Footer Placeholder 4"/>
          <p:cNvSpPr>
            <a:spLocks noGrp="1"/>
          </p:cNvSpPr>
          <p:nvPr>
            <p:ph type="ftr" sz="quarter" idx="3"/>
          </p:nvPr>
        </p:nvSpPr>
        <p:spPr>
          <a:xfrm>
            <a:off x="685800" y="6272785"/>
            <a:ext cx="4745736" cy="365125"/>
          </a:xfrm>
          <a:prstGeom prst="rect">
            <a:avLst/>
          </a:prstGeom>
        </p:spPr>
        <p:txBody>
          <a:bodyPr vert="horz" lIns="91440" tIns="45720" rIns="91440" bIns="45720" rtlCol="0" anchor="ctr"/>
          <a:lstStyle>
            <a:lvl1pPr algn="l">
              <a:defRPr sz="1000">
                <a:solidFill>
                  <a:schemeClr val="accent1">
                    <a:lumMod val="50000"/>
                  </a:schemeClr>
                </a:solidFill>
              </a:defRPr>
            </a:lvl1pPr>
          </a:lstStyle>
          <a:p>
            <a:endParaRPr lang="en-US"/>
          </a:p>
        </p:txBody>
      </p:sp>
      <p:sp>
        <p:nvSpPr>
          <p:cNvPr id="6" name="Slide Number Placeholder 5"/>
          <p:cNvSpPr>
            <a:spLocks noGrp="1"/>
          </p:cNvSpPr>
          <p:nvPr>
            <p:ph type="sldNum" sz="quarter" idx="4"/>
          </p:nvPr>
        </p:nvSpPr>
        <p:spPr>
          <a:xfrm>
            <a:off x="8483346" y="6272785"/>
            <a:ext cx="480060" cy="365125"/>
          </a:xfrm>
          <a:prstGeom prst="rect">
            <a:avLst/>
          </a:prstGeom>
        </p:spPr>
        <p:txBody>
          <a:bodyPr vert="horz" lIns="91440" tIns="45720" rIns="91440" bIns="45720" rtlCol="0" anchor="ctr"/>
          <a:lstStyle>
            <a:lvl1pPr algn="ctr">
              <a:defRPr sz="1100" b="1" spc="-70" baseline="0">
                <a:solidFill>
                  <a:srgbClr val="FFFFFF"/>
                </a:solidFill>
                <a:latin typeface="+mn-lt"/>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3655329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200" b="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8500" y="78232"/>
            <a:ext cx="7772400" cy="1609344"/>
          </a:xfrm>
        </p:spPr>
        <p:txBody>
          <a:bodyPr/>
          <a:lstStyle/>
          <a:p>
            <a:r>
              <a:rPr dirty="0"/>
              <a:t>What Is Public Health Ethics?</a:t>
            </a:r>
          </a:p>
        </p:txBody>
      </p:sp>
      <p:sp>
        <p:nvSpPr>
          <p:cNvPr id="3" name="Content Placeholder 2"/>
          <p:cNvSpPr>
            <a:spLocks noGrp="1"/>
          </p:cNvSpPr>
          <p:nvPr>
            <p:ph idx="1"/>
          </p:nvPr>
        </p:nvSpPr>
        <p:spPr>
          <a:xfrm>
            <a:off x="165100" y="1549908"/>
            <a:ext cx="8813800" cy="4050792"/>
          </a:xfrm>
        </p:spPr>
        <p:txBody>
          <a:bodyPr>
            <a:noAutofit/>
          </a:bodyPr>
          <a:lstStyle/>
          <a:p>
            <a:pPr>
              <a:defRPr sz="1800"/>
            </a:pPr>
            <a:r>
              <a:rPr sz="2400" dirty="0"/>
              <a:t>Definition: A branch of ethics that guides decisions affecting populations rather than individuals.</a:t>
            </a:r>
          </a:p>
          <a:p>
            <a:pPr>
              <a:defRPr sz="1800"/>
            </a:pPr>
            <a:r>
              <a:rPr sz="2400" dirty="0"/>
              <a:t>Key distinction: Clinical ethics = patient-centered; Public health ethics = community-centered.</a:t>
            </a:r>
          </a:p>
          <a:p>
            <a:pPr>
              <a:defRPr sz="1800"/>
            </a:pPr>
            <a:r>
              <a:rPr sz="2400" dirty="0"/>
              <a:t>Example: Should a government mandate masks during an outbreak?</a:t>
            </a:r>
            <a:endParaRPr lang="en-IN" sz="2400" dirty="0"/>
          </a:p>
          <a:p>
            <a:pPr>
              <a:defRPr sz="1600" b="1"/>
            </a:pPr>
            <a:r>
              <a:rPr sz="2400" dirty="0"/>
              <a:t>Is it ethical to prioritize community safety over individual freedom?</a:t>
            </a:r>
            <a:endParaRPr lang="en-US" sz="2400" dirty="0"/>
          </a:p>
          <a:p>
            <a:pPr>
              <a:defRPr sz="1600" b="1"/>
            </a:pPr>
            <a:r>
              <a:rPr lang="en-US" sz="2400" dirty="0"/>
              <a:t>Yes—when public health risks are high, prioritizing community safety is ethically justified under the principle of </a:t>
            </a:r>
            <a:r>
              <a:rPr lang="en-US" sz="2400" b="1" dirty="0"/>
              <a:t>non-maleficence</a:t>
            </a:r>
            <a:r>
              <a:rPr lang="en-US" sz="2400" dirty="0"/>
              <a:t>. However, this must be balanced with </a:t>
            </a:r>
            <a:r>
              <a:rPr lang="en-US" sz="2400" b="1" dirty="0"/>
              <a:t>respect for autonomy</a:t>
            </a:r>
            <a:r>
              <a:rPr lang="en-US" sz="2400" dirty="0"/>
              <a:t> through transparent communication, proportional measures, and safeguards against misuse. Ethical public health protects the many without erasing the rights of the few.</a:t>
            </a:r>
            <a:endParaRPr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Core Ethical Principles</a:t>
            </a:r>
          </a:p>
        </p:txBody>
      </p:sp>
      <p:sp>
        <p:nvSpPr>
          <p:cNvPr id="3" name="Content Placeholder 2"/>
          <p:cNvSpPr>
            <a:spLocks noGrp="1"/>
          </p:cNvSpPr>
          <p:nvPr>
            <p:ph idx="1"/>
          </p:nvPr>
        </p:nvSpPr>
        <p:spPr/>
        <p:txBody>
          <a:bodyPr/>
          <a:lstStyle/>
          <a:p>
            <a:pPr>
              <a:defRPr sz="1800"/>
            </a:pPr>
            <a:r>
              <a:rPr sz="2800" dirty="0"/>
              <a:t>Justice: Fair distribution of resources (e.g., vaccines).</a:t>
            </a:r>
          </a:p>
          <a:p>
            <a:pPr>
              <a:defRPr sz="1800"/>
            </a:pPr>
            <a:r>
              <a:rPr sz="2800" dirty="0"/>
              <a:t>Autonomy: Respecting individual choices.</a:t>
            </a:r>
          </a:p>
          <a:p>
            <a:pPr>
              <a:defRPr sz="1800"/>
            </a:pPr>
            <a:r>
              <a:rPr sz="2800" dirty="0"/>
              <a:t>Beneficence: Acting in the community’s best interest.</a:t>
            </a:r>
          </a:p>
          <a:p>
            <a:pPr>
              <a:defRPr sz="1800"/>
            </a:pPr>
            <a:r>
              <a:rPr sz="2800" dirty="0"/>
              <a:t>Non-maleficence: Avoiding harm through public policy.</a:t>
            </a:r>
          </a:p>
          <a:p>
            <a:pPr>
              <a:defRPr sz="1600" b="1"/>
            </a:pPr>
            <a:endParaRPr lang="en-US" sz="2800" dirty="0"/>
          </a:p>
          <a:p>
            <a:pPr>
              <a:defRPr sz="1600" b="1"/>
            </a:pPr>
            <a:endParaRPr lang="en-IN" dirty="0"/>
          </a:p>
          <a:p>
            <a:pPr>
              <a:defRPr sz="1600" b="1"/>
            </a:pP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Ethical Dilemmas in Practice</a:t>
            </a:r>
          </a:p>
        </p:txBody>
      </p:sp>
      <p:sp>
        <p:nvSpPr>
          <p:cNvPr id="3" name="Content Placeholder 2"/>
          <p:cNvSpPr>
            <a:spLocks noGrp="1"/>
          </p:cNvSpPr>
          <p:nvPr>
            <p:ph idx="1"/>
          </p:nvPr>
        </p:nvSpPr>
        <p:spPr/>
        <p:txBody>
          <a:bodyPr/>
          <a:lstStyle/>
          <a:p>
            <a:pPr>
              <a:defRPr sz="1800"/>
            </a:pPr>
            <a:r>
              <a:rPr dirty="0"/>
              <a:t>Mandatory vaccination vs. personal choice.</a:t>
            </a:r>
          </a:p>
          <a:p>
            <a:pPr>
              <a:defRPr sz="1800"/>
            </a:pPr>
            <a:r>
              <a:rPr dirty="0"/>
              <a:t>Contact tracing vs. privacy.</a:t>
            </a:r>
          </a:p>
          <a:p>
            <a:pPr>
              <a:defRPr sz="1800"/>
            </a:pPr>
            <a:r>
              <a:rPr dirty="0"/>
              <a:t>Lockdowns vs. economic survival.</a:t>
            </a:r>
          </a:p>
          <a:p>
            <a:pPr>
              <a:defRPr sz="1800"/>
            </a:pPr>
            <a:r>
              <a:rPr dirty="0"/>
              <a:t>Case: A TB patient refuses treatment. Should the health system intervene?</a:t>
            </a:r>
            <a:endParaRPr lang="en-US" dirty="0"/>
          </a:p>
          <a:p>
            <a:pPr>
              <a:defRPr sz="1800"/>
            </a:pPr>
            <a:endParaRPr lang="en-IN" dirty="0"/>
          </a:p>
          <a:p>
            <a:pPr>
              <a:defRPr sz="1800"/>
            </a:pPr>
            <a:r>
              <a:rPr lang="en-US" dirty="0"/>
              <a:t>“While autonomy is a cornerstone of medical ethics, it is not unlimited. In the case of a contagious TB patient refusing treatment, the health system must first engage respectfully and offer support. If the refusal endangers others and no alternatives exist, limited intervention—such as isolation—may be ethically justified to protect public health, provided it is humane, proportionate, and legally sound.”</a:t>
            </a: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Case-Based Reflection</a:t>
            </a:r>
          </a:p>
        </p:txBody>
      </p:sp>
      <p:sp>
        <p:nvSpPr>
          <p:cNvPr id="3" name="Content Placeholder 2"/>
          <p:cNvSpPr>
            <a:spLocks noGrp="1"/>
          </p:cNvSpPr>
          <p:nvPr>
            <p:ph idx="1"/>
          </p:nvPr>
        </p:nvSpPr>
        <p:spPr/>
        <p:txBody>
          <a:bodyPr>
            <a:normAutofit/>
          </a:bodyPr>
          <a:lstStyle/>
          <a:p>
            <a:pPr>
              <a:defRPr sz="1800"/>
            </a:pPr>
            <a:r>
              <a:rPr sz="2200" dirty="0"/>
              <a:t>Present a real-world dilemma (e.g., HIV partner notification).</a:t>
            </a:r>
          </a:p>
          <a:p>
            <a:pPr>
              <a:defRPr sz="1800"/>
            </a:pPr>
            <a:r>
              <a:rPr sz="2200" dirty="0"/>
              <a:t>Ask students to analyze using ethical principles.</a:t>
            </a:r>
          </a:p>
          <a:p>
            <a:pPr>
              <a:defRPr sz="1800"/>
            </a:pPr>
            <a:r>
              <a:rPr sz="2200" dirty="0"/>
              <a:t>Encourage group discussion or role-play.</a:t>
            </a:r>
          </a:p>
          <a:p>
            <a:pPr>
              <a:defRPr sz="1600" b="1"/>
            </a:pPr>
            <a:endParaRPr lang="en-US" sz="2200" dirty="0"/>
          </a:p>
          <a:p>
            <a:pPr>
              <a:defRPr sz="1600" b="1"/>
            </a:pPr>
            <a:r>
              <a:rPr sz="2200" dirty="0"/>
              <a:t>Would you breach confidentiality to protect someone’s life?</a:t>
            </a:r>
            <a:endParaRPr lang="en-US" sz="2200" dirty="0"/>
          </a:p>
          <a:p>
            <a:pPr>
              <a:defRPr sz="1600" b="1"/>
            </a:pPr>
            <a:r>
              <a:rPr lang="en-US" sz="2200" dirty="0"/>
              <a:t>“Yes, breach confidentiality—but only if the patient poses a clear, immediate threat to someone’s life, and no other options exist. The breach must be minimal, targeted, and ethically justified by the duty to protect others from serious harm.”</a:t>
            </a:r>
            <a:endParaRPr sz="2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Defining Professionalism</a:t>
            </a:r>
          </a:p>
        </p:txBody>
      </p:sp>
      <p:sp>
        <p:nvSpPr>
          <p:cNvPr id="3" name="Content Placeholder 2"/>
          <p:cNvSpPr>
            <a:spLocks noGrp="1"/>
          </p:cNvSpPr>
          <p:nvPr>
            <p:ph idx="1"/>
          </p:nvPr>
        </p:nvSpPr>
        <p:spPr/>
        <p:txBody>
          <a:bodyPr>
            <a:noAutofit/>
          </a:bodyPr>
          <a:lstStyle/>
          <a:p>
            <a:pPr>
              <a:defRPr sz="1800"/>
            </a:pPr>
            <a:r>
              <a:rPr sz="2200" dirty="0"/>
              <a:t>Core traits: Integrity, accountability, empathy, competence.</a:t>
            </a:r>
          </a:p>
          <a:p>
            <a:pPr>
              <a:defRPr sz="1800"/>
            </a:pPr>
            <a:r>
              <a:rPr sz="2200" dirty="0"/>
              <a:t>Public health lens: Professionalism includes advocacy, transparency, and responsiveness to societal needs.</a:t>
            </a:r>
          </a:p>
          <a:p>
            <a:pPr>
              <a:defRPr sz="1600" b="1"/>
            </a:pPr>
            <a:endParaRPr lang="en-US" sz="2200" dirty="0"/>
          </a:p>
          <a:p>
            <a:pPr>
              <a:defRPr sz="1600" b="1"/>
            </a:pPr>
            <a:r>
              <a:rPr sz="2200" dirty="0"/>
              <a:t>Is it unprofessional to speak out against flawed health policy?</a:t>
            </a:r>
            <a:endParaRPr lang="en-US" sz="2200" dirty="0"/>
          </a:p>
          <a:p>
            <a:pPr>
              <a:defRPr sz="1600" b="1"/>
            </a:pPr>
            <a:endParaRPr lang="en-IN" sz="2200" dirty="0"/>
          </a:p>
          <a:p>
            <a:pPr>
              <a:defRPr sz="1600" b="1"/>
            </a:pPr>
            <a:r>
              <a:rPr lang="en-US" sz="2200" dirty="0"/>
              <a:t>No. In fact, </a:t>
            </a:r>
            <a:r>
              <a:rPr lang="en-US" sz="2200" b="1" dirty="0"/>
              <a:t>advocacy is a core aspect of professionalism</a:t>
            </a:r>
            <a:r>
              <a:rPr lang="en-US" sz="2200" dirty="0"/>
              <a:t> in public health. Speaking out—when done respectfully and evidence-based—reflects integrity, accountability, and a commitment to health equity. Silence in the face of injustice is not neutrality; it’s complicity.</a:t>
            </a:r>
            <a:endParaRPr sz="2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Public Health Roles</a:t>
            </a:r>
          </a:p>
        </p:txBody>
      </p:sp>
      <p:sp>
        <p:nvSpPr>
          <p:cNvPr id="3" name="Content Placeholder 2"/>
          <p:cNvSpPr>
            <a:spLocks noGrp="1"/>
          </p:cNvSpPr>
          <p:nvPr>
            <p:ph idx="1"/>
          </p:nvPr>
        </p:nvSpPr>
        <p:spPr/>
        <p:txBody>
          <a:bodyPr>
            <a:normAutofit/>
          </a:bodyPr>
          <a:lstStyle/>
          <a:p>
            <a:pPr>
              <a:defRPr sz="1800"/>
            </a:pPr>
            <a:r>
              <a:rPr sz="2200" dirty="0"/>
              <a:t>Educator: Promoting health literacy.</a:t>
            </a:r>
          </a:p>
          <a:p>
            <a:pPr>
              <a:defRPr sz="1800"/>
            </a:pPr>
            <a:r>
              <a:rPr sz="2200" dirty="0"/>
              <a:t>Advocate: Addressing social determinants.</a:t>
            </a:r>
          </a:p>
          <a:p>
            <a:pPr>
              <a:defRPr sz="1800"/>
            </a:pPr>
            <a:r>
              <a:rPr sz="2200" dirty="0"/>
              <a:t>Policy influencer: Shaping equitable health systems.</a:t>
            </a:r>
          </a:p>
          <a:p>
            <a:pPr>
              <a:defRPr sz="1600" b="1"/>
            </a:pPr>
            <a:endParaRPr lang="en-US" sz="2200" dirty="0"/>
          </a:p>
          <a:p>
            <a:pPr>
              <a:defRPr sz="1600" b="1"/>
            </a:pPr>
            <a:r>
              <a:rPr sz="2200" dirty="0"/>
              <a:t>Should doctors engage in political debates about health?</a:t>
            </a:r>
            <a:endParaRPr lang="en-US" sz="2200" dirty="0"/>
          </a:p>
          <a:p>
            <a:pPr>
              <a:defRPr sz="1600" b="1"/>
            </a:pPr>
            <a:r>
              <a:rPr lang="en-US" sz="2200" dirty="0"/>
              <a:t>“Yes, doctors should engage in political debates about health—when those debates affect patient care, public health, or ethical practice. Advocacy is not a distraction from medicine; it’s a deeper form of healing.”</a:t>
            </a:r>
            <a:endParaRPr sz="2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Professional Boundaries</a:t>
            </a:r>
          </a:p>
        </p:txBody>
      </p:sp>
      <p:sp>
        <p:nvSpPr>
          <p:cNvPr id="3" name="Content Placeholder 2"/>
          <p:cNvSpPr>
            <a:spLocks noGrp="1"/>
          </p:cNvSpPr>
          <p:nvPr>
            <p:ph idx="1"/>
          </p:nvPr>
        </p:nvSpPr>
        <p:spPr>
          <a:xfrm>
            <a:off x="685800" y="1524000"/>
            <a:ext cx="7772400" cy="4648200"/>
          </a:xfrm>
        </p:spPr>
        <p:txBody>
          <a:bodyPr>
            <a:normAutofit/>
          </a:bodyPr>
          <a:lstStyle/>
          <a:p>
            <a:pPr>
              <a:defRPr sz="1800"/>
            </a:pPr>
            <a:r>
              <a:rPr dirty="0"/>
              <a:t>Respecting cultural norms during fieldwork.</a:t>
            </a:r>
          </a:p>
          <a:p>
            <a:pPr>
              <a:defRPr sz="1800"/>
            </a:pPr>
            <a:r>
              <a:rPr dirty="0"/>
              <a:t>Avoiding paternalism in community engagement.</a:t>
            </a:r>
          </a:p>
          <a:p>
            <a:pPr>
              <a:defRPr sz="1800"/>
            </a:pPr>
            <a:r>
              <a:rPr dirty="0"/>
              <a:t>Ethical conduct in research and data collection.</a:t>
            </a:r>
          </a:p>
          <a:p>
            <a:pPr>
              <a:defRPr sz="1600" b="1"/>
            </a:pPr>
            <a:r>
              <a:rPr sz="1800" dirty="0"/>
              <a:t>You’re offered a gift by a village leader—how do you respond?</a:t>
            </a:r>
            <a:endParaRPr lang="en-IN" sz="1800" dirty="0"/>
          </a:p>
          <a:p>
            <a:pPr>
              <a:defRPr sz="1600" b="1"/>
            </a:pPr>
            <a:r>
              <a:rPr lang="en-US" sz="1800" dirty="0"/>
              <a:t>“Thank you so much for your generosity. I truly appreciate the gesture and the warmth behind it. However, as a public health professional, I follow guidelines that ask us to avoid accepting personal gifts, so I must respectfully decline. I hope you understand—it’s important for us to maintain fairness and transparency in all our work.”..</a:t>
            </a:r>
          </a:p>
          <a:p>
            <a:pPr>
              <a:defRPr sz="1600" b="1"/>
            </a:pPr>
            <a:r>
              <a:rPr lang="en-US" sz="1800" dirty="0"/>
              <a:t>Redirect the gift: “Would it be okay if we shared this with the health workers or the community center?”</a:t>
            </a:r>
          </a:p>
          <a:p>
            <a:pPr>
              <a:defRPr sz="1600" b="1"/>
            </a:pPr>
            <a:r>
              <a:rPr lang="en-US" sz="1800" dirty="0"/>
              <a:t>Symbolic acceptance: If it’s a cultural token (e.g. garland, handmade item), you may accept it symbolically but clarify that it won’t influence decisions.</a:t>
            </a:r>
            <a:endParaRPr sz="1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Understanding Medical Errors</a:t>
            </a:r>
          </a:p>
        </p:txBody>
      </p:sp>
      <p:sp>
        <p:nvSpPr>
          <p:cNvPr id="3" name="Content Placeholder 2"/>
          <p:cNvSpPr>
            <a:spLocks noGrp="1"/>
          </p:cNvSpPr>
          <p:nvPr>
            <p:ph idx="1"/>
          </p:nvPr>
        </p:nvSpPr>
        <p:spPr/>
        <p:txBody>
          <a:bodyPr>
            <a:normAutofit/>
          </a:bodyPr>
          <a:lstStyle/>
          <a:p>
            <a:pPr>
              <a:defRPr sz="1800"/>
            </a:pPr>
            <a:r>
              <a:rPr sz="2800" dirty="0"/>
              <a:t>Types: Diagnostic, procedural, communication, systemic.</a:t>
            </a:r>
          </a:p>
          <a:p>
            <a:pPr>
              <a:defRPr sz="1800"/>
            </a:pPr>
            <a:r>
              <a:rPr sz="2800" dirty="0"/>
              <a:t>Root causes: Fatigue, poor systems, lack of training.</a:t>
            </a:r>
          </a:p>
          <a:p>
            <a:pPr>
              <a:defRPr sz="1800"/>
            </a:pPr>
            <a:r>
              <a:rPr sz="2800" dirty="0"/>
              <a:t>Public health impact: Errors in outbreak reporting or vaccine delivery.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Why Disclosure Matters</a:t>
            </a:r>
          </a:p>
        </p:txBody>
      </p:sp>
      <p:sp>
        <p:nvSpPr>
          <p:cNvPr id="3" name="Content Placeholder 2"/>
          <p:cNvSpPr>
            <a:spLocks noGrp="1"/>
          </p:cNvSpPr>
          <p:nvPr>
            <p:ph idx="1"/>
          </p:nvPr>
        </p:nvSpPr>
        <p:spPr/>
        <p:txBody>
          <a:bodyPr>
            <a:normAutofit/>
          </a:bodyPr>
          <a:lstStyle/>
          <a:p>
            <a:pPr>
              <a:defRPr sz="1800"/>
            </a:pPr>
            <a:r>
              <a:rPr sz="2200" dirty="0"/>
              <a:t>Builds trust and promotes learning.</a:t>
            </a:r>
          </a:p>
          <a:p>
            <a:pPr>
              <a:defRPr sz="1800"/>
            </a:pPr>
            <a:r>
              <a:rPr sz="2200" dirty="0"/>
              <a:t>Upholds ethical principles: honesty, autonomy.</a:t>
            </a:r>
          </a:p>
          <a:p>
            <a:pPr>
              <a:defRPr sz="1800"/>
            </a:pPr>
            <a:r>
              <a:rPr sz="2200" dirty="0"/>
              <a:t>Encourages system improvement.</a:t>
            </a:r>
          </a:p>
          <a:p>
            <a:pPr>
              <a:defRPr sz="1600" b="1"/>
            </a:pPr>
            <a:r>
              <a:rPr sz="2200" dirty="0"/>
              <a:t>Would you disclose an error that didn’t cause harm?</a:t>
            </a:r>
            <a:endParaRPr lang="en-US" sz="2200" dirty="0"/>
          </a:p>
          <a:p>
            <a:pPr>
              <a:defRPr sz="1600" b="1"/>
            </a:pPr>
            <a:r>
              <a:rPr lang="en-US" sz="2200" dirty="0"/>
              <a:t>Yes. Ethical disclosure is not contingent on harm—it’s rooted in </a:t>
            </a:r>
            <a:r>
              <a:rPr lang="en-US" sz="2200" b="1" dirty="0"/>
              <a:t>honesty, transparency, and respect for patient autonomy</a:t>
            </a:r>
            <a:r>
              <a:rPr lang="en-US" sz="2200" dirty="0"/>
              <a:t>. Even harmless errors offer learning opportunities and build trust. Disclosure affirms that the doctor–patient relationship is based on truth, not convenience.</a:t>
            </a:r>
            <a:endParaRPr sz="2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Barriers to Disclosure</a:t>
            </a:r>
          </a:p>
        </p:txBody>
      </p:sp>
      <p:sp>
        <p:nvSpPr>
          <p:cNvPr id="3" name="Content Placeholder 2"/>
          <p:cNvSpPr>
            <a:spLocks noGrp="1"/>
          </p:cNvSpPr>
          <p:nvPr>
            <p:ph idx="1"/>
          </p:nvPr>
        </p:nvSpPr>
        <p:spPr/>
        <p:txBody>
          <a:bodyPr>
            <a:normAutofit/>
          </a:bodyPr>
          <a:lstStyle/>
          <a:p>
            <a:pPr>
              <a:defRPr sz="1800"/>
            </a:pPr>
            <a:r>
              <a:rPr sz="2200" dirty="0"/>
              <a:t>Fear of litigation or blame.</a:t>
            </a:r>
          </a:p>
          <a:p>
            <a:pPr>
              <a:defRPr sz="1800"/>
            </a:pPr>
            <a:r>
              <a:rPr sz="2200" dirty="0"/>
              <a:t>Lack of communication skills.</a:t>
            </a:r>
          </a:p>
          <a:p>
            <a:pPr>
              <a:defRPr sz="1800"/>
            </a:pPr>
            <a:r>
              <a:rPr sz="2200" dirty="0"/>
              <a:t>Institutional culture of silence.</a:t>
            </a:r>
          </a:p>
          <a:p>
            <a:pPr>
              <a:defRPr sz="1600" b="1"/>
            </a:pPr>
            <a:endParaRPr sz="2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Doctors as Social Agents</a:t>
            </a:r>
          </a:p>
        </p:txBody>
      </p:sp>
      <p:sp>
        <p:nvSpPr>
          <p:cNvPr id="3" name="Content Placeholder 2"/>
          <p:cNvSpPr>
            <a:spLocks noGrp="1"/>
          </p:cNvSpPr>
          <p:nvPr>
            <p:ph idx="1"/>
          </p:nvPr>
        </p:nvSpPr>
        <p:spPr/>
        <p:txBody>
          <a:bodyPr>
            <a:normAutofit/>
          </a:bodyPr>
          <a:lstStyle/>
          <a:p>
            <a:pPr>
              <a:defRPr sz="1800"/>
            </a:pPr>
            <a:r>
              <a:rPr sz="2200" dirty="0"/>
              <a:t>Beyond clinical care: advocacy, education, leadership.</a:t>
            </a:r>
          </a:p>
          <a:p>
            <a:pPr>
              <a:defRPr sz="1800"/>
            </a:pPr>
            <a:r>
              <a:rPr sz="2200" dirty="0"/>
              <a:t>Duty to address health inequities and social injustice.</a:t>
            </a:r>
          </a:p>
          <a:p>
            <a:pPr>
              <a:defRPr sz="1600" b="1"/>
            </a:pPr>
            <a:endParaRPr lang="en-US" sz="2200" dirty="0"/>
          </a:p>
          <a:p>
            <a:pPr>
              <a:defRPr sz="1600" b="1"/>
            </a:pPr>
            <a:r>
              <a:rPr sz="2200" dirty="0"/>
              <a:t>Should doctors speak out against caste-based health disparities?</a:t>
            </a:r>
            <a:endParaRPr lang="en-US" sz="2200" dirty="0"/>
          </a:p>
          <a:p>
            <a:pPr>
              <a:defRPr sz="1600" b="1"/>
            </a:pPr>
            <a:r>
              <a:rPr lang="en-US" sz="2200" dirty="0"/>
              <a:t>Absolutely. Doctors are not just healers—they are </a:t>
            </a:r>
            <a:r>
              <a:rPr lang="en-US" sz="2200" b="1" dirty="0"/>
              <a:t>agents of social justice</a:t>
            </a:r>
            <a:r>
              <a:rPr lang="en-US" sz="2200" dirty="0"/>
              <a:t>. Remaining silent on caste-based disparities perpetuates structural violence. Speaking out is not political—it’s ethical, professional, and necessary to uphold the dignity of every patient.</a:t>
            </a:r>
            <a:endParaRPr sz="2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Trust &amp; Accountability</a:t>
            </a:r>
          </a:p>
        </p:txBody>
      </p:sp>
      <p:sp>
        <p:nvSpPr>
          <p:cNvPr id="3" name="Content Placeholder 2"/>
          <p:cNvSpPr>
            <a:spLocks noGrp="1"/>
          </p:cNvSpPr>
          <p:nvPr>
            <p:ph idx="1"/>
          </p:nvPr>
        </p:nvSpPr>
        <p:spPr/>
        <p:txBody>
          <a:bodyPr>
            <a:normAutofit/>
          </a:bodyPr>
          <a:lstStyle/>
          <a:p>
            <a:pPr>
              <a:defRPr sz="1800"/>
            </a:pPr>
            <a:r>
              <a:rPr sz="2200" dirty="0"/>
              <a:t>Public expectations: transparency, compassion, competence.</a:t>
            </a:r>
          </a:p>
          <a:p>
            <a:pPr>
              <a:defRPr sz="1800"/>
            </a:pPr>
            <a:r>
              <a:rPr sz="2200" dirty="0"/>
              <a:t>Navigating misinformation and media scrutiny.</a:t>
            </a:r>
          </a:p>
          <a:p>
            <a:pPr>
              <a:defRPr sz="1800"/>
            </a:pPr>
            <a:r>
              <a:rPr sz="2200" dirty="0"/>
              <a:t>Rebuilding trust after public health failures.</a:t>
            </a:r>
          </a:p>
          <a:p>
            <a:pPr>
              <a:defRPr sz="1600" b="1"/>
            </a:pPr>
            <a:endParaRPr lang="en-US" sz="2200" dirty="0"/>
          </a:p>
          <a:p>
            <a:pPr>
              <a:defRPr sz="1600" b="1"/>
            </a:pPr>
            <a:r>
              <a:rPr sz="2200" dirty="0"/>
              <a:t>A community distrusts vaccines—how do you respond?</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Is End-of-Life Care?</a:t>
            </a:r>
          </a:p>
        </p:txBody>
      </p:sp>
      <p:sp>
        <p:nvSpPr>
          <p:cNvPr id="3" name="Content Placeholder 2"/>
          <p:cNvSpPr>
            <a:spLocks noGrp="1"/>
          </p:cNvSpPr>
          <p:nvPr>
            <p:ph idx="1"/>
          </p:nvPr>
        </p:nvSpPr>
        <p:spPr/>
        <p:txBody>
          <a:bodyPr>
            <a:normAutofit/>
          </a:bodyPr>
          <a:lstStyle/>
          <a:p>
            <a:pPr>
              <a:defRPr sz="1800"/>
            </a:pPr>
            <a:r>
              <a:rPr sz="2200" dirty="0"/>
              <a:t>Focus on comfort, dignity, and emotional support.</a:t>
            </a:r>
          </a:p>
          <a:p>
            <a:pPr>
              <a:defRPr sz="1800"/>
            </a:pPr>
            <a:r>
              <a:rPr sz="2200" dirty="0"/>
              <a:t>Includes palliative care, hospice, and bereavement support.</a:t>
            </a:r>
          </a:p>
          <a:p>
            <a:pPr>
              <a:defRPr sz="1600" b="1"/>
            </a:pPr>
            <a:endParaRPr lang="en-US" sz="2200" dirty="0"/>
          </a:p>
          <a:p>
            <a:pPr>
              <a:defRPr sz="1600" b="1"/>
            </a:pPr>
            <a:endParaRPr lang="en-IN" sz="2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Public Health Perspective</a:t>
            </a:r>
          </a:p>
        </p:txBody>
      </p:sp>
      <p:sp>
        <p:nvSpPr>
          <p:cNvPr id="3" name="Content Placeholder 2"/>
          <p:cNvSpPr>
            <a:spLocks noGrp="1"/>
          </p:cNvSpPr>
          <p:nvPr>
            <p:ph idx="1"/>
          </p:nvPr>
        </p:nvSpPr>
        <p:spPr/>
        <p:txBody>
          <a:bodyPr>
            <a:normAutofit/>
          </a:bodyPr>
          <a:lstStyle/>
          <a:p>
            <a:pPr>
              <a:defRPr sz="1800"/>
            </a:pPr>
            <a:r>
              <a:rPr sz="2200" dirty="0"/>
              <a:t>Ensuring access to palliative services.</a:t>
            </a:r>
          </a:p>
          <a:p>
            <a:pPr>
              <a:defRPr sz="1800"/>
            </a:pPr>
            <a:r>
              <a:rPr sz="2200" dirty="0"/>
              <a:t>Addressing cultural beliefs around death.</a:t>
            </a:r>
          </a:p>
          <a:p>
            <a:pPr>
              <a:defRPr sz="1800"/>
            </a:pPr>
            <a:r>
              <a:rPr sz="2200" dirty="0"/>
              <a:t>Promoting community-based care models.</a:t>
            </a:r>
          </a:p>
          <a:p>
            <a:pPr>
              <a:defRPr sz="1800"/>
            </a:pPr>
            <a:endParaRPr lang="en-US" sz="2200" dirty="0"/>
          </a:p>
          <a:p>
            <a:pPr>
              <a:defRPr sz="1800"/>
            </a:pPr>
            <a:endParaRPr lang="en-IN" sz="2200" dirty="0"/>
          </a:p>
          <a:p>
            <a:pPr>
              <a:defRPr sz="1800"/>
            </a:pPr>
            <a:r>
              <a:rPr sz="2200" dirty="0"/>
              <a:t>A rural patient dies without pain relief—what failed?</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Ethical Challenges</a:t>
            </a:r>
          </a:p>
        </p:txBody>
      </p:sp>
      <p:sp>
        <p:nvSpPr>
          <p:cNvPr id="3" name="Content Placeholder 2"/>
          <p:cNvSpPr>
            <a:spLocks noGrp="1"/>
          </p:cNvSpPr>
          <p:nvPr>
            <p:ph idx="1"/>
          </p:nvPr>
        </p:nvSpPr>
        <p:spPr/>
        <p:txBody>
          <a:bodyPr>
            <a:noAutofit/>
          </a:bodyPr>
          <a:lstStyle/>
          <a:p>
            <a:pPr>
              <a:defRPr sz="1800"/>
            </a:pPr>
            <a:r>
              <a:rPr sz="2200" dirty="0"/>
              <a:t>Advance directives and autonomy.</a:t>
            </a:r>
          </a:p>
          <a:p>
            <a:pPr>
              <a:defRPr sz="1800"/>
            </a:pPr>
            <a:r>
              <a:rPr sz="2200" dirty="0"/>
              <a:t>Assisted dying debates.</a:t>
            </a:r>
          </a:p>
          <a:p>
            <a:pPr>
              <a:defRPr sz="1800"/>
            </a:pPr>
            <a:r>
              <a:rPr sz="2200" dirty="0"/>
              <a:t>Resource allocation in terminal care.</a:t>
            </a:r>
          </a:p>
          <a:p>
            <a:pPr>
              <a:defRPr sz="1600" b="1"/>
            </a:pPr>
            <a:endParaRPr lang="en-US" sz="2200" dirty="0"/>
          </a:p>
          <a:p>
            <a:pPr>
              <a:defRPr sz="1600" b="1"/>
            </a:pPr>
            <a:r>
              <a:rPr sz="2200" dirty="0"/>
              <a:t>Should terminal patients be offered every possible intervention?</a:t>
            </a:r>
            <a:endParaRPr lang="en-US" sz="2200" dirty="0"/>
          </a:p>
          <a:p>
            <a:pPr>
              <a:defRPr sz="1600" b="1"/>
            </a:pPr>
            <a:r>
              <a:rPr lang="en-US" sz="2200" dirty="0"/>
              <a:t>Not necessarily. Ethical care prioritizes </a:t>
            </a:r>
            <a:r>
              <a:rPr lang="en-US" sz="2200" b="1" dirty="0"/>
              <a:t>quality of life, dignity, and patient wishes</a:t>
            </a:r>
            <a:r>
              <a:rPr lang="en-US" sz="2200" dirty="0"/>
              <a:t> over aggressive interventions. Futile treatments may prolong suffering. Respecting advance directives and offering palliative support reflects compassion, not abandonment.</a:t>
            </a:r>
            <a:endParaRPr sz="2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2A313B03-D361-4EC9-AF52-0B3C1C92C26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551293" y="6229681"/>
            <a:ext cx="342900" cy="457200"/>
            <a:chOff x="11361456" y="6195813"/>
            <a:chExt cx="548640" cy="548640"/>
          </a:xfrm>
        </p:grpSpPr>
        <p:sp>
          <p:nvSpPr>
            <p:cNvPr id="11" name="Oval 10">
              <a:extLst>
                <a:ext uri="{FF2B5EF4-FFF2-40B4-BE49-F238E27FC236}">
                  <a16:creationId xmlns:a16="http://schemas.microsoft.com/office/drawing/2014/main" id="{5E79CB85-A08A-4579-86F6-A8AA97551B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1456" y="6195813"/>
              <a:ext cx="548640" cy="548640"/>
            </a:xfrm>
            <a:prstGeom prst="ellipse">
              <a:avLst/>
            </a:prstGeom>
            <a:blipFill dpi="0" rotWithShape="1">
              <a:blip r:embed="rId2">
                <a:duotone>
                  <a:schemeClr val="accent1">
                    <a:shade val="45000"/>
                    <a:satMod val="135000"/>
                  </a:schemeClr>
                  <a:prstClr val="white"/>
                </a:duotone>
                <a:extLst>
                  <a:ext uri="{BEBA8EAE-BF5A-486C-A8C5-ECC9F3942E4B}">
                    <a14:imgProps xmlns:a14="http://schemas.microsoft.com/office/drawing/2010/main">
                      <a14:imgLayer r:embed="rId3">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a:lstStyle/>
            <a:p>
              <a:endParaRPr lang="en-US"/>
            </a:p>
          </p:txBody>
        </p:sp>
        <p:sp>
          <p:nvSpPr>
            <p:cNvPr id="12" name="Oval 11">
              <a:extLst>
                <a:ext uri="{FF2B5EF4-FFF2-40B4-BE49-F238E27FC236}">
                  <a16:creationId xmlns:a16="http://schemas.microsoft.com/office/drawing/2014/main" id="{D6C61C9C-364D-4CB6-B9D1-1A6F50F6AF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96488" y="6230844"/>
              <a:ext cx="478576" cy="478578"/>
            </a:xfrm>
            <a:prstGeom prst="ellipse">
              <a:avLst/>
            </a:prstGeom>
            <a:noFill/>
            <a:ln w="12700" cap="flat" cmpd="sng" algn="ctr">
              <a:solidFill>
                <a:srgbClr val="FFFFFF"/>
              </a:solidFill>
              <a:prstDash val="solid"/>
            </a:ln>
            <a:effectLst/>
          </p:spPr>
          <p:txBody>
            <a:bodyPr/>
            <a:lstStyle/>
            <a:p>
              <a:endParaRPr lang="en-US"/>
            </a:p>
          </p:txBody>
        </p:sp>
      </p:grpSp>
      <p:sp>
        <p:nvSpPr>
          <p:cNvPr id="14" name="Rectangle 13">
            <a:extLst>
              <a:ext uri="{FF2B5EF4-FFF2-40B4-BE49-F238E27FC236}">
                <a16:creationId xmlns:a16="http://schemas.microsoft.com/office/drawing/2014/main" id="{7045633D-7FA7-4D93-8E45-D385B582A1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6" name="Rectangle 15">
            <a:extLst>
              <a:ext uri="{FF2B5EF4-FFF2-40B4-BE49-F238E27FC236}">
                <a16:creationId xmlns:a16="http://schemas.microsoft.com/office/drawing/2014/main" id="{82532B9D-ADFC-4AEF-97D4-9FC87BB61E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7759" y="480060"/>
            <a:ext cx="8428482" cy="5897880"/>
          </a:xfrm>
          <a:prstGeom prst="rect">
            <a:avLst/>
          </a:prstGeom>
          <a:ln w="22225">
            <a:solidFill>
              <a:srgbClr val="DFB45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diagram of the different types of theory&#10;&#10;AI-generated content may be incorrect.">
            <a:extLst>
              <a:ext uri="{FF2B5EF4-FFF2-40B4-BE49-F238E27FC236}">
                <a16:creationId xmlns:a16="http://schemas.microsoft.com/office/drawing/2014/main" id="{9B3383C4-72A3-DF85-7E8C-11113FD18021}"/>
              </a:ext>
            </a:extLst>
          </p:cNvPr>
          <p:cNvPicPr>
            <a:picLocks noChangeAspect="1"/>
          </p:cNvPicPr>
          <p:nvPr/>
        </p:nvPicPr>
        <p:blipFill>
          <a:blip r:embed="rId4"/>
          <a:srcRect t="1572" r="1457" b="1572"/>
          <a:stretch>
            <a:fillRect/>
          </a:stretch>
        </p:blipFill>
        <p:spPr>
          <a:xfrm>
            <a:off x="2026365" y="801792"/>
            <a:ext cx="5087075" cy="5249332"/>
          </a:xfrm>
          <a:prstGeom prst="rect">
            <a:avLst/>
          </a:prstGeom>
        </p:spPr>
      </p:pic>
    </p:spTree>
    <p:extLst>
      <p:ext uri="{BB962C8B-B14F-4D97-AF65-F5344CB8AC3E}">
        <p14:creationId xmlns:p14="http://schemas.microsoft.com/office/powerpoint/2010/main" val="38627345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Socio – ecological model (</a:t>
            </a:r>
            <a:r>
              <a:rPr dirty="0"/>
              <a:t>SEM</a:t>
            </a:r>
            <a:r>
              <a:rPr lang="en-US" dirty="0"/>
              <a:t>)</a:t>
            </a:r>
            <a:endParaRPr dirty="0"/>
          </a:p>
        </p:txBody>
      </p:sp>
      <p:sp>
        <p:nvSpPr>
          <p:cNvPr id="3" name="Content Placeholder 2"/>
          <p:cNvSpPr>
            <a:spLocks noGrp="1"/>
          </p:cNvSpPr>
          <p:nvPr>
            <p:ph idx="1"/>
          </p:nvPr>
        </p:nvSpPr>
        <p:spPr/>
        <p:txBody>
          <a:bodyPr>
            <a:noAutofit/>
          </a:bodyPr>
          <a:lstStyle/>
          <a:p>
            <a:pPr>
              <a:defRPr sz="1800"/>
            </a:pPr>
            <a:r>
              <a:rPr sz="2200" dirty="0"/>
              <a:t>Layers: Individual → Interpersonal → Institutional → Community → Policy.</a:t>
            </a:r>
          </a:p>
          <a:p>
            <a:pPr>
              <a:defRPr sz="1800"/>
            </a:pPr>
            <a:r>
              <a:rPr sz="2200" dirty="0"/>
              <a:t>Behavior is shaped by nested systems.</a:t>
            </a:r>
          </a:p>
          <a:p>
            <a:pPr>
              <a:defRPr sz="1800"/>
            </a:pPr>
            <a:r>
              <a:rPr sz="2200" dirty="0"/>
              <a:t>Developed by Urie Bronfenbrenner.</a:t>
            </a:r>
          </a:p>
          <a:p>
            <a:pPr>
              <a:defRPr sz="1600" b="1"/>
            </a:pPr>
            <a:endParaRPr lang="en-US" sz="2200" dirty="0"/>
          </a:p>
          <a:p>
            <a:pPr>
              <a:defRPr sz="1600" b="1"/>
            </a:pPr>
            <a:r>
              <a:rPr sz="2200" dirty="0"/>
              <a:t>Is vaccine hesitancy just an individual issue?</a:t>
            </a:r>
            <a:endParaRPr lang="en-US" sz="2200" dirty="0"/>
          </a:p>
          <a:p>
            <a:pPr>
              <a:defRPr sz="1600" b="1"/>
            </a:pPr>
            <a:r>
              <a:rPr lang="en-US" sz="2200" dirty="0"/>
              <a:t>No—vaccine hesitancy is shaped by interpersonal trust, institutional credibility, cultural beliefs, and policy environments. The SEM shows us that behavior is nested in systems. Addressing hesitancy requires multi-level interventions, not just individual persuasion.</a:t>
            </a:r>
            <a:endParaRPr sz="2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Application</a:t>
            </a:r>
          </a:p>
        </p:txBody>
      </p:sp>
      <p:sp>
        <p:nvSpPr>
          <p:cNvPr id="3" name="Content Placeholder 2"/>
          <p:cNvSpPr>
            <a:spLocks noGrp="1"/>
          </p:cNvSpPr>
          <p:nvPr>
            <p:ph idx="1"/>
          </p:nvPr>
        </p:nvSpPr>
        <p:spPr/>
        <p:txBody>
          <a:bodyPr>
            <a:normAutofit/>
          </a:bodyPr>
          <a:lstStyle/>
          <a:p>
            <a:pPr>
              <a:defRPr sz="1800"/>
            </a:pPr>
            <a:r>
              <a:rPr sz="2200" dirty="0"/>
              <a:t>Communication styles shaped by culture (macrosystem).</a:t>
            </a:r>
          </a:p>
          <a:p>
            <a:pPr>
              <a:defRPr sz="1800"/>
            </a:pPr>
            <a:r>
              <a:rPr sz="2200" dirty="0"/>
              <a:t>Institutional norms affect professionalism (</a:t>
            </a:r>
            <a:r>
              <a:rPr sz="2200" dirty="0" err="1"/>
              <a:t>exosystem</a:t>
            </a:r>
            <a:r>
              <a:rPr sz="2200" dirty="0"/>
              <a:t>).</a:t>
            </a:r>
          </a:p>
          <a:p>
            <a:pPr>
              <a:defRPr sz="1800"/>
            </a:pPr>
            <a:r>
              <a:rPr sz="2200" dirty="0"/>
              <a:t>Peer influence and family dynamics (microsystem).</a:t>
            </a:r>
          </a:p>
          <a:p>
            <a:pPr>
              <a:defRPr sz="1800"/>
            </a:pPr>
            <a:endParaRPr lang="en-US" sz="2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3BA6CE-0BCA-E88C-DEBD-831B71D26EA3}"/>
              </a:ext>
            </a:extLst>
          </p:cNvPr>
          <p:cNvSpPr>
            <a:spLocks noGrp="1"/>
          </p:cNvSpPr>
          <p:nvPr>
            <p:ph type="title"/>
          </p:nvPr>
        </p:nvSpPr>
        <p:spPr/>
        <p:txBody>
          <a:bodyPr/>
          <a:lstStyle/>
          <a:p>
            <a:r>
              <a:rPr lang="en-US" dirty="0"/>
              <a:t>Thanks</a:t>
            </a:r>
            <a:br>
              <a:rPr lang="en-US" dirty="0"/>
            </a:br>
            <a:endParaRPr lang="en-US" dirty="0"/>
          </a:p>
        </p:txBody>
      </p:sp>
      <p:sp>
        <p:nvSpPr>
          <p:cNvPr id="3" name="Content Placeholder 2">
            <a:extLst>
              <a:ext uri="{FF2B5EF4-FFF2-40B4-BE49-F238E27FC236}">
                <a16:creationId xmlns:a16="http://schemas.microsoft.com/office/drawing/2014/main" id="{BBB0A933-5272-1298-8F3B-D5B59447004B}"/>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76206746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Custom 1">
      <a:majorFont>
        <a:latin typeface="Times New Roman"/>
        <a:ea typeface=""/>
        <a:cs typeface=""/>
      </a:majorFont>
      <a:minorFont>
        <a:latin typeface="Times New Roman"/>
        <a:ea typeface=""/>
        <a:cs typeface=""/>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docProps/app.xml><?xml version="1.0" encoding="utf-8"?>
<Properties xmlns="http://schemas.openxmlformats.org/officeDocument/2006/extended-properties" xmlns:vt="http://schemas.openxmlformats.org/officeDocument/2006/docPropsVTypes">
  <Template>Wood Type</Template>
  <TotalTime>23</TotalTime>
  <Words>1142</Words>
  <Application>Microsoft Office PowerPoint</Application>
  <PresentationFormat>On-screen Show (4:3)</PresentationFormat>
  <Paragraphs>103</Paragraphs>
  <Slides>19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Times New Roman</vt:lpstr>
      <vt:lpstr>Wingdings</vt:lpstr>
      <vt:lpstr>Wood Type</vt:lpstr>
      <vt:lpstr>What Is Public Health Ethics?</vt:lpstr>
      <vt:lpstr>Core Ethical Principles</vt:lpstr>
      <vt:lpstr>Ethical Dilemmas in Practice</vt:lpstr>
      <vt:lpstr>Case-Based Reflection</vt:lpstr>
      <vt:lpstr>Defining Professionalism</vt:lpstr>
      <vt:lpstr>Public Health Roles</vt:lpstr>
      <vt:lpstr>Professional Boundaries</vt:lpstr>
      <vt:lpstr>Understanding Medical Errors</vt:lpstr>
      <vt:lpstr>Why Disclosure Matters</vt:lpstr>
      <vt:lpstr>Barriers to Disclosure</vt:lpstr>
      <vt:lpstr>Doctors as Social Agents</vt:lpstr>
      <vt:lpstr>Trust &amp; Accountability</vt:lpstr>
      <vt:lpstr>What Is End-of-Life Care?</vt:lpstr>
      <vt:lpstr>Public Health Perspective</vt:lpstr>
      <vt:lpstr>Ethical Challenges</vt:lpstr>
      <vt:lpstr>PowerPoint Presentation</vt:lpstr>
      <vt:lpstr>Socio – ecological model (SEM)</vt:lpstr>
      <vt:lpstr>Application</vt:lpstr>
      <vt:lpstr>Thanks </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mukul maheshwari</cp:lastModifiedBy>
  <cp:revision>2</cp:revision>
  <dcterms:created xsi:type="dcterms:W3CDTF">2013-01-27T09:14:16Z</dcterms:created>
  <dcterms:modified xsi:type="dcterms:W3CDTF">2025-09-06T09:23:53Z</dcterms:modified>
  <cp:category/>
</cp:coreProperties>
</file>