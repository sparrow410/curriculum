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313" r:id="rId4"/>
    <p:sldId id="258" r:id="rId5"/>
    <p:sldId id="259" r:id="rId6"/>
    <p:sldId id="314" r:id="rId7"/>
    <p:sldId id="260" r:id="rId8"/>
    <p:sldId id="261" r:id="rId9"/>
    <p:sldId id="262" r:id="rId10"/>
    <p:sldId id="263" r:id="rId11"/>
    <p:sldId id="264" r:id="rId12"/>
    <p:sldId id="265" r:id="rId13"/>
    <p:sldId id="315" r:id="rId14"/>
    <p:sldId id="266" r:id="rId15"/>
    <p:sldId id="267" r:id="rId16"/>
    <p:sldId id="268" r:id="rId17"/>
    <p:sldId id="270" r:id="rId18"/>
    <p:sldId id="271" r:id="rId19"/>
    <p:sldId id="272" r:id="rId20"/>
    <p:sldId id="316"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3F8C08-2F77-4B89-BEDF-AB6816A4701E}">
          <p14:sldIdLst>
            <p14:sldId id="256"/>
            <p14:sldId id="257"/>
            <p14:sldId id="313"/>
            <p14:sldId id="258"/>
            <p14:sldId id="259"/>
            <p14:sldId id="314"/>
            <p14:sldId id="260"/>
            <p14:sldId id="261"/>
            <p14:sldId id="262"/>
            <p14:sldId id="263"/>
            <p14:sldId id="264"/>
            <p14:sldId id="265"/>
            <p14:sldId id="315"/>
            <p14:sldId id="266"/>
            <p14:sldId id="267"/>
            <p14:sldId id="268"/>
            <p14:sldId id="270"/>
            <p14:sldId id="271"/>
            <p14:sldId id="272"/>
            <p14:sldId id="316"/>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20" d="100"/>
          <a:sy n="120" d="100"/>
        </p:scale>
        <p:origin x="2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6E0E91F7-C975-4DEF-BBAD-06FD14D1823F}"/>
    <pc:docChg chg="delSld modSection">
      <pc:chgData name="mukul maheshwari" userId="12cb43e2ca5f0d2c" providerId="LiveId" clId="{6E0E91F7-C975-4DEF-BBAD-06FD14D1823F}" dt="2024-08-28T19:12:11.083" v="0" actId="2696"/>
      <pc:docMkLst>
        <pc:docMk/>
      </pc:docMkLst>
      <pc:sldChg chg="del">
        <pc:chgData name="mukul maheshwari" userId="12cb43e2ca5f0d2c" providerId="LiveId" clId="{6E0E91F7-C975-4DEF-BBAD-06FD14D1823F}" dt="2024-08-28T19:12:11.083" v="0" actId="2696"/>
        <pc:sldMkLst>
          <pc:docMk/>
          <pc:sldMk cId="737317118" sldId="269"/>
        </pc:sldMkLst>
      </pc:sldChg>
      <pc:sldChg chg="del">
        <pc:chgData name="mukul maheshwari" userId="12cb43e2ca5f0d2c" providerId="LiveId" clId="{6E0E91F7-C975-4DEF-BBAD-06FD14D1823F}" dt="2024-08-28T19:12:11.083" v="0" actId="2696"/>
        <pc:sldMkLst>
          <pc:docMk/>
          <pc:sldMk cId="4074527862" sldId="285"/>
        </pc:sldMkLst>
      </pc:sldChg>
      <pc:sldChg chg="del">
        <pc:chgData name="mukul maheshwari" userId="12cb43e2ca5f0d2c" providerId="LiveId" clId="{6E0E91F7-C975-4DEF-BBAD-06FD14D1823F}" dt="2024-08-28T19:12:11.083" v="0" actId="2696"/>
        <pc:sldMkLst>
          <pc:docMk/>
          <pc:sldMk cId="3742056730" sldId="286"/>
        </pc:sldMkLst>
      </pc:sldChg>
      <pc:sldChg chg="del">
        <pc:chgData name="mukul maheshwari" userId="12cb43e2ca5f0d2c" providerId="LiveId" clId="{6E0E91F7-C975-4DEF-BBAD-06FD14D1823F}" dt="2024-08-28T19:12:11.083" v="0" actId="2696"/>
        <pc:sldMkLst>
          <pc:docMk/>
          <pc:sldMk cId="2790387120" sldId="287"/>
        </pc:sldMkLst>
      </pc:sldChg>
      <pc:sldChg chg="del">
        <pc:chgData name="mukul maheshwari" userId="12cb43e2ca5f0d2c" providerId="LiveId" clId="{6E0E91F7-C975-4DEF-BBAD-06FD14D1823F}" dt="2024-08-28T19:12:11.083" v="0" actId="2696"/>
        <pc:sldMkLst>
          <pc:docMk/>
          <pc:sldMk cId="948214011" sldId="288"/>
        </pc:sldMkLst>
      </pc:sldChg>
      <pc:sldChg chg="del">
        <pc:chgData name="mukul maheshwari" userId="12cb43e2ca5f0d2c" providerId="LiveId" clId="{6E0E91F7-C975-4DEF-BBAD-06FD14D1823F}" dt="2024-08-28T19:12:11.083" v="0" actId="2696"/>
        <pc:sldMkLst>
          <pc:docMk/>
          <pc:sldMk cId="941690226" sldId="289"/>
        </pc:sldMkLst>
      </pc:sldChg>
      <pc:sldChg chg="del">
        <pc:chgData name="mukul maheshwari" userId="12cb43e2ca5f0d2c" providerId="LiveId" clId="{6E0E91F7-C975-4DEF-BBAD-06FD14D1823F}" dt="2024-08-28T19:12:11.083" v="0" actId="2696"/>
        <pc:sldMkLst>
          <pc:docMk/>
          <pc:sldMk cId="3569547653" sldId="290"/>
        </pc:sldMkLst>
      </pc:sldChg>
      <pc:sldChg chg="del">
        <pc:chgData name="mukul maheshwari" userId="12cb43e2ca5f0d2c" providerId="LiveId" clId="{6E0E91F7-C975-4DEF-BBAD-06FD14D1823F}" dt="2024-08-28T19:12:11.083" v="0" actId="2696"/>
        <pc:sldMkLst>
          <pc:docMk/>
          <pc:sldMk cId="644697598" sldId="291"/>
        </pc:sldMkLst>
      </pc:sldChg>
      <pc:sldChg chg="del">
        <pc:chgData name="mukul maheshwari" userId="12cb43e2ca5f0d2c" providerId="LiveId" clId="{6E0E91F7-C975-4DEF-BBAD-06FD14D1823F}" dt="2024-08-28T19:12:11.083" v="0" actId="2696"/>
        <pc:sldMkLst>
          <pc:docMk/>
          <pc:sldMk cId="2329341855" sldId="292"/>
        </pc:sldMkLst>
      </pc:sldChg>
      <pc:sldChg chg="del">
        <pc:chgData name="mukul maheshwari" userId="12cb43e2ca5f0d2c" providerId="LiveId" clId="{6E0E91F7-C975-4DEF-BBAD-06FD14D1823F}" dt="2024-08-28T19:12:11.083" v="0" actId="2696"/>
        <pc:sldMkLst>
          <pc:docMk/>
          <pc:sldMk cId="2665510059" sldId="293"/>
        </pc:sldMkLst>
      </pc:sldChg>
      <pc:sldChg chg="del">
        <pc:chgData name="mukul maheshwari" userId="12cb43e2ca5f0d2c" providerId="LiveId" clId="{6E0E91F7-C975-4DEF-BBAD-06FD14D1823F}" dt="2024-08-28T19:12:11.083" v="0" actId="2696"/>
        <pc:sldMkLst>
          <pc:docMk/>
          <pc:sldMk cId="816905264" sldId="294"/>
        </pc:sldMkLst>
      </pc:sldChg>
      <pc:sldChg chg="del">
        <pc:chgData name="mukul maheshwari" userId="12cb43e2ca5f0d2c" providerId="LiveId" clId="{6E0E91F7-C975-4DEF-BBAD-06FD14D1823F}" dt="2024-08-28T19:12:11.083" v="0" actId="2696"/>
        <pc:sldMkLst>
          <pc:docMk/>
          <pc:sldMk cId="1059179603" sldId="295"/>
        </pc:sldMkLst>
      </pc:sldChg>
      <pc:sldChg chg="del">
        <pc:chgData name="mukul maheshwari" userId="12cb43e2ca5f0d2c" providerId="LiveId" clId="{6E0E91F7-C975-4DEF-BBAD-06FD14D1823F}" dt="2024-08-28T19:12:11.083" v="0" actId="2696"/>
        <pc:sldMkLst>
          <pc:docMk/>
          <pc:sldMk cId="3075799353" sldId="296"/>
        </pc:sldMkLst>
      </pc:sldChg>
      <pc:sldChg chg="del">
        <pc:chgData name="mukul maheshwari" userId="12cb43e2ca5f0d2c" providerId="LiveId" clId="{6E0E91F7-C975-4DEF-BBAD-06FD14D1823F}" dt="2024-08-28T19:12:11.083" v="0" actId="2696"/>
        <pc:sldMkLst>
          <pc:docMk/>
          <pc:sldMk cId="756930931" sldId="297"/>
        </pc:sldMkLst>
      </pc:sldChg>
      <pc:sldChg chg="del">
        <pc:chgData name="mukul maheshwari" userId="12cb43e2ca5f0d2c" providerId="LiveId" clId="{6E0E91F7-C975-4DEF-BBAD-06FD14D1823F}" dt="2024-08-28T19:12:11.083" v="0" actId="2696"/>
        <pc:sldMkLst>
          <pc:docMk/>
          <pc:sldMk cId="4234701912" sldId="298"/>
        </pc:sldMkLst>
      </pc:sldChg>
      <pc:sldChg chg="del">
        <pc:chgData name="mukul maheshwari" userId="12cb43e2ca5f0d2c" providerId="LiveId" clId="{6E0E91F7-C975-4DEF-BBAD-06FD14D1823F}" dt="2024-08-28T19:12:11.083" v="0" actId="2696"/>
        <pc:sldMkLst>
          <pc:docMk/>
          <pc:sldMk cId="1108027075" sldId="299"/>
        </pc:sldMkLst>
      </pc:sldChg>
      <pc:sldChg chg="del">
        <pc:chgData name="mukul maheshwari" userId="12cb43e2ca5f0d2c" providerId="LiveId" clId="{6E0E91F7-C975-4DEF-BBAD-06FD14D1823F}" dt="2024-08-28T19:12:11.083" v="0" actId="2696"/>
        <pc:sldMkLst>
          <pc:docMk/>
          <pc:sldMk cId="2040473396" sldId="300"/>
        </pc:sldMkLst>
      </pc:sldChg>
      <pc:sldChg chg="del">
        <pc:chgData name="mukul maheshwari" userId="12cb43e2ca5f0d2c" providerId="LiveId" clId="{6E0E91F7-C975-4DEF-BBAD-06FD14D1823F}" dt="2024-08-28T19:12:11.083" v="0" actId="2696"/>
        <pc:sldMkLst>
          <pc:docMk/>
          <pc:sldMk cId="1264359259" sldId="301"/>
        </pc:sldMkLst>
      </pc:sldChg>
      <pc:sldChg chg="del">
        <pc:chgData name="mukul maheshwari" userId="12cb43e2ca5f0d2c" providerId="LiveId" clId="{6E0E91F7-C975-4DEF-BBAD-06FD14D1823F}" dt="2024-08-28T19:12:11.083" v="0" actId="2696"/>
        <pc:sldMkLst>
          <pc:docMk/>
          <pc:sldMk cId="4264244208" sldId="302"/>
        </pc:sldMkLst>
      </pc:sldChg>
      <pc:sldChg chg="del">
        <pc:chgData name="mukul maheshwari" userId="12cb43e2ca5f0d2c" providerId="LiveId" clId="{6E0E91F7-C975-4DEF-BBAD-06FD14D1823F}" dt="2024-08-28T19:12:11.083" v="0" actId="2696"/>
        <pc:sldMkLst>
          <pc:docMk/>
          <pc:sldMk cId="235658071" sldId="303"/>
        </pc:sldMkLst>
      </pc:sldChg>
      <pc:sldChg chg="del">
        <pc:chgData name="mukul maheshwari" userId="12cb43e2ca5f0d2c" providerId="LiveId" clId="{6E0E91F7-C975-4DEF-BBAD-06FD14D1823F}" dt="2024-08-28T19:12:11.083" v="0" actId="2696"/>
        <pc:sldMkLst>
          <pc:docMk/>
          <pc:sldMk cId="1815614942" sldId="304"/>
        </pc:sldMkLst>
      </pc:sldChg>
      <pc:sldChg chg="del">
        <pc:chgData name="mukul maheshwari" userId="12cb43e2ca5f0d2c" providerId="LiveId" clId="{6E0E91F7-C975-4DEF-BBAD-06FD14D1823F}" dt="2024-08-28T19:12:11.083" v="0" actId="2696"/>
        <pc:sldMkLst>
          <pc:docMk/>
          <pc:sldMk cId="2257523871" sldId="305"/>
        </pc:sldMkLst>
      </pc:sldChg>
      <pc:sldChg chg="del">
        <pc:chgData name="mukul maheshwari" userId="12cb43e2ca5f0d2c" providerId="LiveId" clId="{6E0E91F7-C975-4DEF-BBAD-06FD14D1823F}" dt="2024-08-28T19:12:11.083" v="0" actId="2696"/>
        <pc:sldMkLst>
          <pc:docMk/>
          <pc:sldMk cId="510204288" sldId="306"/>
        </pc:sldMkLst>
      </pc:sldChg>
      <pc:sldChg chg="del">
        <pc:chgData name="mukul maheshwari" userId="12cb43e2ca5f0d2c" providerId="LiveId" clId="{6E0E91F7-C975-4DEF-BBAD-06FD14D1823F}" dt="2024-08-28T19:12:11.083" v="0" actId="2696"/>
        <pc:sldMkLst>
          <pc:docMk/>
          <pc:sldMk cId="2174805022" sldId="307"/>
        </pc:sldMkLst>
      </pc:sldChg>
      <pc:sldChg chg="del">
        <pc:chgData name="mukul maheshwari" userId="12cb43e2ca5f0d2c" providerId="LiveId" clId="{6E0E91F7-C975-4DEF-BBAD-06FD14D1823F}" dt="2024-08-28T19:12:11.083" v="0" actId="2696"/>
        <pc:sldMkLst>
          <pc:docMk/>
          <pc:sldMk cId="3675834012" sldId="308"/>
        </pc:sldMkLst>
      </pc:sldChg>
      <pc:sldChg chg="del">
        <pc:chgData name="mukul maheshwari" userId="12cb43e2ca5f0d2c" providerId="LiveId" clId="{6E0E91F7-C975-4DEF-BBAD-06FD14D1823F}" dt="2024-08-28T19:12:11.083" v="0" actId="2696"/>
        <pc:sldMkLst>
          <pc:docMk/>
          <pc:sldMk cId="715619845" sldId="309"/>
        </pc:sldMkLst>
      </pc:sldChg>
      <pc:sldChg chg="del">
        <pc:chgData name="mukul maheshwari" userId="12cb43e2ca5f0d2c" providerId="LiveId" clId="{6E0E91F7-C975-4DEF-BBAD-06FD14D1823F}" dt="2024-08-28T19:12:11.083" v="0" actId="2696"/>
        <pc:sldMkLst>
          <pc:docMk/>
          <pc:sldMk cId="3946554361" sldId="310"/>
        </pc:sldMkLst>
      </pc:sldChg>
      <pc:sldChg chg="del">
        <pc:chgData name="mukul maheshwari" userId="12cb43e2ca5f0d2c" providerId="LiveId" clId="{6E0E91F7-C975-4DEF-BBAD-06FD14D1823F}" dt="2024-08-28T19:12:11.083" v="0" actId="2696"/>
        <pc:sldMkLst>
          <pc:docMk/>
          <pc:sldMk cId="4164345111" sldId="311"/>
        </pc:sldMkLst>
      </pc:sldChg>
      <pc:sldChg chg="del">
        <pc:chgData name="mukul maheshwari" userId="12cb43e2ca5f0d2c" providerId="LiveId" clId="{6E0E91F7-C975-4DEF-BBAD-06FD14D1823F}" dt="2024-08-28T19:12:11.083" v="0" actId="2696"/>
        <pc:sldMkLst>
          <pc:docMk/>
          <pc:sldMk cId="2782400035" sldId="312"/>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7CE381-4995-4C08-AA16-737EBDEB9A44}"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5F8FA197-ADDD-4DA9-B5DE-618A92275527}">
      <dgm:prSet/>
      <dgm:spPr/>
      <dgm:t>
        <a:bodyPr/>
        <a:lstStyle/>
        <a:p>
          <a:pPr>
            <a:lnSpc>
              <a:spcPct val="100000"/>
            </a:lnSpc>
          </a:pPr>
          <a:r>
            <a:rPr lang="en-US"/>
            <a:t>The air is less dense at higher altitudes, and consequently the partial pressure of oxygen is also less.</a:t>
          </a:r>
        </a:p>
      </dgm:t>
    </dgm:pt>
    <dgm:pt modelId="{7A4E57E7-E004-45E4-ADB6-0DFA4C6CF7E1}" type="parTrans" cxnId="{90EEFC60-AC3F-4F6C-A973-5D966CD7EA01}">
      <dgm:prSet/>
      <dgm:spPr/>
      <dgm:t>
        <a:bodyPr/>
        <a:lstStyle/>
        <a:p>
          <a:endParaRPr lang="en-US"/>
        </a:p>
      </dgm:t>
    </dgm:pt>
    <dgm:pt modelId="{75C010B6-B3D7-4DFF-846D-8542F7E6060D}" type="sibTrans" cxnId="{90EEFC60-AC3F-4F6C-A973-5D966CD7EA01}">
      <dgm:prSet/>
      <dgm:spPr/>
      <dgm:t>
        <a:bodyPr/>
        <a:lstStyle/>
        <a:p>
          <a:endParaRPr lang="en-US"/>
        </a:p>
      </dgm:t>
    </dgm:pt>
    <dgm:pt modelId="{94F75AD5-0C3E-46E5-BAD4-BB88648B3A2F}">
      <dgm:prSet/>
      <dgm:spPr/>
      <dgm:t>
        <a:bodyPr/>
        <a:lstStyle/>
        <a:p>
          <a:pPr>
            <a:lnSpc>
              <a:spcPct val="100000"/>
            </a:lnSpc>
          </a:pPr>
          <a:r>
            <a:rPr lang="en-US"/>
            <a:t>Man cannot survive at an altitude of 25,000 feet without breathing equipment.</a:t>
          </a:r>
        </a:p>
      </dgm:t>
    </dgm:pt>
    <dgm:pt modelId="{FA3D46ED-28C6-4A49-A17B-D3C05CAA4ECF}" type="parTrans" cxnId="{093F8463-86D8-43EB-8A86-7E2EF9124F2D}">
      <dgm:prSet/>
      <dgm:spPr/>
      <dgm:t>
        <a:bodyPr/>
        <a:lstStyle/>
        <a:p>
          <a:endParaRPr lang="en-US"/>
        </a:p>
      </dgm:t>
    </dgm:pt>
    <dgm:pt modelId="{09C9F9A4-9BDA-4F14-A661-62E7C0712833}" type="sibTrans" cxnId="{093F8463-86D8-43EB-8A86-7E2EF9124F2D}">
      <dgm:prSet/>
      <dgm:spPr/>
      <dgm:t>
        <a:bodyPr/>
        <a:lstStyle/>
        <a:p>
          <a:endParaRPr lang="en-US"/>
        </a:p>
      </dgm:t>
    </dgm:pt>
    <dgm:pt modelId="{83CB81EE-9FFA-4F2B-A607-D54B04F8017B}">
      <dgm:prSet/>
      <dgm:spPr/>
      <dgm:t>
        <a:bodyPr/>
        <a:lstStyle/>
        <a:p>
          <a:pPr>
            <a:lnSpc>
              <a:spcPct val="100000"/>
            </a:lnSpc>
          </a:pPr>
          <a:r>
            <a:rPr lang="en-US"/>
            <a:t>When man is exposed to low pressures, the physiological effects are : </a:t>
          </a:r>
        </a:p>
      </dgm:t>
    </dgm:pt>
    <dgm:pt modelId="{6A6CBFBF-A3DD-4FEC-AC2E-7437050F94EB}" type="parTrans" cxnId="{500DF91B-7840-4F6F-ABC4-89D1B1173F60}">
      <dgm:prSet/>
      <dgm:spPr/>
      <dgm:t>
        <a:bodyPr/>
        <a:lstStyle/>
        <a:p>
          <a:endParaRPr lang="en-US"/>
        </a:p>
      </dgm:t>
    </dgm:pt>
    <dgm:pt modelId="{020F111E-377F-49FC-9F55-C07F5330B10A}" type="sibTrans" cxnId="{500DF91B-7840-4F6F-ABC4-89D1B1173F60}">
      <dgm:prSet/>
      <dgm:spPr/>
      <dgm:t>
        <a:bodyPr/>
        <a:lstStyle/>
        <a:p>
          <a:endParaRPr lang="en-US"/>
        </a:p>
      </dgm:t>
    </dgm:pt>
    <dgm:pt modelId="{A8DC0C26-ED1B-46CE-A385-A81A80069E97}">
      <dgm:prSet/>
      <dgm:spPr/>
      <dgm:t>
        <a:bodyPr/>
        <a:lstStyle/>
        <a:p>
          <a:pPr>
            <a:lnSpc>
              <a:spcPct val="100000"/>
            </a:lnSpc>
          </a:pPr>
          <a:r>
            <a:rPr lang="en-US"/>
            <a:t>Increase in respiration </a:t>
          </a:r>
        </a:p>
      </dgm:t>
    </dgm:pt>
    <dgm:pt modelId="{F2DD040F-8EB6-4097-B4DD-79896502BDB9}" type="parTrans" cxnId="{DDD4D1F8-F71F-4510-BD4D-3957DE0375F9}">
      <dgm:prSet/>
      <dgm:spPr/>
      <dgm:t>
        <a:bodyPr/>
        <a:lstStyle/>
        <a:p>
          <a:endParaRPr lang="en-US"/>
        </a:p>
      </dgm:t>
    </dgm:pt>
    <dgm:pt modelId="{F3D17C76-DE4A-48CF-9E8E-6D20F95073C6}" type="sibTrans" cxnId="{DDD4D1F8-F71F-4510-BD4D-3957DE0375F9}">
      <dgm:prSet/>
      <dgm:spPr/>
      <dgm:t>
        <a:bodyPr/>
        <a:lstStyle/>
        <a:p>
          <a:endParaRPr lang="en-US"/>
        </a:p>
      </dgm:t>
    </dgm:pt>
    <dgm:pt modelId="{4D50C4FE-21E5-4E1A-A798-996A3999C942}">
      <dgm:prSet/>
      <dgm:spPr/>
      <dgm:t>
        <a:bodyPr/>
        <a:lstStyle/>
        <a:p>
          <a:pPr>
            <a:lnSpc>
              <a:spcPct val="100000"/>
            </a:lnSpc>
          </a:pPr>
          <a:r>
            <a:rPr lang="en-US" dirty="0"/>
            <a:t>Increase in the concentration of hemoglobin </a:t>
          </a:r>
        </a:p>
      </dgm:t>
    </dgm:pt>
    <dgm:pt modelId="{2DE09EA6-0E93-4A30-AA5E-516BFB5FE5A0}" type="parTrans" cxnId="{89FE9498-3F4A-40C6-941E-7AF2EF71B23F}">
      <dgm:prSet/>
      <dgm:spPr/>
      <dgm:t>
        <a:bodyPr/>
        <a:lstStyle/>
        <a:p>
          <a:endParaRPr lang="en-US"/>
        </a:p>
      </dgm:t>
    </dgm:pt>
    <dgm:pt modelId="{9631E90A-FB21-497D-9BD8-3AF039EA1081}" type="sibTrans" cxnId="{89FE9498-3F4A-40C6-941E-7AF2EF71B23F}">
      <dgm:prSet/>
      <dgm:spPr/>
      <dgm:t>
        <a:bodyPr/>
        <a:lstStyle/>
        <a:p>
          <a:endParaRPr lang="en-US"/>
        </a:p>
      </dgm:t>
    </dgm:pt>
    <dgm:pt modelId="{25C113E9-EF75-448A-8063-3000DCEBCBB3}">
      <dgm:prSet/>
      <dgm:spPr/>
      <dgm:t>
        <a:bodyPr/>
        <a:lstStyle/>
        <a:p>
          <a:pPr>
            <a:lnSpc>
              <a:spcPct val="100000"/>
            </a:lnSpc>
          </a:pPr>
          <a:r>
            <a:rPr lang="en-US"/>
            <a:t>Increase in cardiac output</a:t>
          </a:r>
        </a:p>
      </dgm:t>
    </dgm:pt>
    <dgm:pt modelId="{B1283528-8CC5-4FF9-A053-AF20E8D2A9BF}" type="parTrans" cxnId="{76CD341F-E2F8-4C1E-991C-DEFEA441C706}">
      <dgm:prSet/>
      <dgm:spPr/>
      <dgm:t>
        <a:bodyPr/>
        <a:lstStyle/>
        <a:p>
          <a:endParaRPr lang="en-US"/>
        </a:p>
      </dgm:t>
    </dgm:pt>
    <dgm:pt modelId="{209B158E-D6E5-4C73-BD60-0482AE822FDC}" type="sibTrans" cxnId="{76CD341F-E2F8-4C1E-991C-DEFEA441C706}">
      <dgm:prSet/>
      <dgm:spPr/>
      <dgm:t>
        <a:bodyPr/>
        <a:lstStyle/>
        <a:p>
          <a:endParaRPr lang="en-US"/>
        </a:p>
      </dgm:t>
    </dgm:pt>
    <dgm:pt modelId="{61A20F57-2361-4396-A8FF-77C1E6022FFB}" type="pres">
      <dgm:prSet presAssocID="{A37CE381-4995-4C08-AA16-737EBDEB9A44}" presName="root" presStyleCnt="0">
        <dgm:presLayoutVars>
          <dgm:dir/>
          <dgm:resizeHandles val="exact"/>
        </dgm:presLayoutVars>
      </dgm:prSet>
      <dgm:spPr/>
    </dgm:pt>
    <dgm:pt modelId="{5DC4B041-4753-4544-9BDC-3508D50E470A}" type="pres">
      <dgm:prSet presAssocID="{5F8FA197-ADDD-4DA9-B5DE-618A92275527}" presName="compNode" presStyleCnt="0"/>
      <dgm:spPr/>
    </dgm:pt>
    <dgm:pt modelId="{B47C2616-D638-4A59-8684-CC37C3614580}" type="pres">
      <dgm:prSet presAssocID="{5F8FA197-ADDD-4DA9-B5DE-618A92275527}" presName="bgRect" presStyleLbl="bgShp" presStyleIdx="0" presStyleCnt="3"/>
      <dgm:spPr/>
    </dgm:pt>
    <dgm:pt modelId="{05658EC1-69EF-4EA3-BB2C-E259089DAD96}" type="pres">
      <dgm:prSet presAssocID="{5F8FA197-ADDD-4DA9-B5DE-618A9227552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ungs"/>
        </a:ext>
      </dgm:extLst>
    </dgm:pt>
    <dgm:pt modelId="{99531593-C651-44CD-B23F-BA0B341796EA}" type="pres">
      <dgm:prSet presAssocID="{5F8FA197-ADDD-4DA9-B5DE-618A92275527}" presName="spaceRect" presStyleCnt="0"/>
      <dgm:spPr/>
    </dgm:pt>
    <dgm:pt modelId="{68D35938-D5EE-4C81-8CC3-BE741221FDE1}" type="pres">
      <dgm:prSet presAssocID="{5F8FA197-ADDD-4DA9-B5DE-618A92275527}" presName="parTx" presStyleLbl="revTx" presStyleIdx="0" presStyleCnt="4">
        <dgm:presLayoutVars>
          <dgm:chMax val="0"/>
          <dgm:chPref val="0"/>
        </dgm:presLayoutVars>
      </dgm:prSet>
      <dgm:spPr/>
    </dgm:pt>
    <dgm:pt modelId="{D1D81946-D8C3-496F-B289-E070C6EF60C4}" type="pres">
      <dgm:prSet presAssocID="{75C010B6-B3D7-4DFF-846D-8542F7E6060D}" presName="sibTrans" presStyleCnt="0"/>
      <dgm:spPr/>
    </dgm:pt>
    <dgm:pt modelId="{FCDF8873-6D1B-4ABA-8A85-C5370F65CC26}" type="pres">
      <dgm:prSet presAssocID="{94F75AD5-0C3E-46E5-BAD4-BB88648B3A2F}" presName="compNode" presStyleCnt="0"/>
      <dgm:spPr/>
    </dgm:pt>
    <dgm:pt modelId="{E42B2D0C-D786-44E3-A945-89C0AB100BFD}" type="pres">
      <dgm:prSet presAssocID="{94F75AD5-0C3E-46E5-BAD4-BB88648B3A2F}" presName="bgRect" presStyleLbl="bgShp" presStyleIdx="1" presStyleCnt="3"/>
      <dgm:spPr/>
    </dgm:pt>
    <dgm:pt modelId="{0EA821C9-83B7-4548-9655-1D5507ABF9BB}" type="pres">
      <dgm:prSet presAssocID="{94F75AD5-0C3E-46E5-BAD4-BB88648B3A2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untains"/>
        </a:ext>
      </dgm:extLst>
    </dgm:pt>
    <dgm:pt modelId="{0DEF16A6-E5F0-4D8D-8DF6-206B94F11BE3}" type="pres">
      <dgm:prSet presAssocID="{94F75AD5-0C3E-46E5-BAD4-BB88648B3A2F}" presName="spaceRect" presStyleCnt="0"/>
      <dgm:spPr/>
    </dgm:pt>
    <dgm:pt modelId="{12B3D655-AE10-4DDF-BA51-9EA6A5C862F8}" type="pres">
      <dgm:prSet presAssocID="{94F75AD5-0C3E-46E5-BAD4-BB88648B3A2F}" presName="parTx" presStyleLbl="revTx" presStyleIdx="1" presStyleCnt="4">
        <dgm:presLayoutVars>
          <dgm:chMax val="0"/>
          <dgm:chPref val="0"/>
        </dgm:presLayoutVars>
      </dgm:prSet>
      <dgm:spPr/>
    </dgm:pt>
    <dgm:pt modelId="{CEE825D7-131E-4387-BD59-CD1D37E386A7}" type="pres">
      <dgm:prSet presAssocID="{09C9F9A4-9BDA-4F14-A661-62E7C0712833}" presName="sibTrans" presStyleCnt="0"/>
      <dgm:spPr/>
    </dgm:pt>
    <dgm:pt modelId="{3C54EA6F-8E63-4C97-94CA-B414C582FBC7}" type="pres">
      <dgm:prSet presAssocID="{83CB81EE-9FFA-4F2B-A607-D54B04F8017B}" presName="compNode" presStyleCnt="0"/>
      <dgm:spPr/>
    </dgm:pt>
    <dgm:pt modelId="{FEDF5DCD-C9AC-43EC-AEFA-E6F4352540B0}" type="pres">
      <dgm:prSet presAssocID="{83CB81EE-9FFA-4F2B-A607-D54B04F8017B}" presName="bgRect" presStyleLbl="bgShp" presStyleIdx="2" presStyleCnt="3"/>
      <dgm:spPr/>
    </dgm:pt>
    <dgm:pt modelId="{D8AD98DF-F332-4958-A013-A0D3C90298FB}" type="pres">
      <dgm:prSet presAssocID="{83CB81EE-9FFA-4F2B-A607-D54B04F8017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w Temperature"/>
        </a:ext>
      </dgm:extLst>
    </dgm:pt>
    <dgm:pt modelId="{7FE6EA18-B396-4275-BF19-368CB3948EBF}" type="pres">
      <dgm:prSet presAssocID="{83CB81EE-9FFA-4F2B-A607-D54B04F8017B}" presName="spaceRect" presStyleCnt="0"/>
      <dgm:spPr/>
    </dgm:pt>
    <dgm:pt modelId="{47D516D6-F6D8-49C6-ACD2-86F506C29BEC}" type="pres">
      <dgm:prSet presAssocID="{83CB81EE-9FFA-4F2B-A607-D54B04F8017B}" presName="parTx" presStyleLbl="revTx" presStyleIdx="2" presStyleCnt="4">
        <dgm:presLayoutVars>
          <dgm:chMax val="0"/>
          <dgm:chPref val="0"/>
        </dgm:presLayoutVars>
      </dgm:prSet>
      <dgm:spPr/>
    </dgm:pt>
    <dgm:pt modelId="{E0147F9E-894E-4D81-9EB3-B8BC142BD6F1}" type="pres">
      <dgm:prSet presAssocID="{83CB81EE-9FFA-4F2B-A607-D54B04F8017B}" presName="desTx" presStyleLbl="revTx" presStyleIdx="3" presStyleCnt="4">
        <dgm:presLayoutVars/>
      </dgm:prSet>
      <dgm:spPr/>
    </dgm:pt>
  </dgm:ptLst>
  <dgm:cxnLst>
    <dgm:cxn modelId="{500DF91B-7840-4F6F-ABC4-89D1B1173F60}" srcId="{A37CE381-4995-4C08-AA16-737EBDEB9A44}" destId="{83CB81EE-9FFA-4F2B-A607-D54B04F8017B}" srcOrd="2" destOrd="0" parTransId="{6A6CBFBF-A3DD-4FEC-AC2E-7437050F94EB}" sibTransId="{020F111E-377F-49FC-9F55-C07F5330B10A}"/>
    <dgm:cxn modelId="{76CD341F-E2F8-4C1E-991C-DEFEA441C706}" srcId="{83CB81EE-9FFA-4F2B-A607-D54B04F8017B}" destId="{25C113E9-EF75-448A-8063-3000DCEBCBB3}" srcOrd="2" destOrd="0" parTransId="{B1283528-8CC5-4FF9-A053-AF20E8D2A9BF}" sibTransId="{209B158E-D6E5-4C73-BD60-0482AE822FDC}"/>
    <dgm:cxn modelId="{5448A73D-4CBE-4A30-B331-E9D88FDF932A}" type="presOf" srcId="{83CB81EE-9FFA-4F2B-A607-D54B04F8017B}" destId="{47D516D6-F6D8-49C6-ACD2-86F506C29BEC}" srcOrd="0" destOrd="0" presId="urn:microsoft.com/office/officeart/2018/2/layout/IconVerticalSolidList"/>
    <dgm:cxn modelId="{90EEFC60-AC3F-4F6C-A973-5D966CD7EA01}" srcId="{A37CE381-4995-4C08-AA16-737EBDEB9A44}" destId="{5F8FA197-ADDD-4DA9-B5DE-618A92275527}" srcOrd="0" destOrd="0" parTransId="{7A4E57E7-E004-45E4-ADB6-0DFA4C6CF7E1}" sibTransId="{75C010B6-B3D7-4DFF-846D-8542F7E6060D}"/>
    <dgm:cxn modelId="{093F8463-86D8-43EB-8A86-7E2EF9124F2D}" srcId="{A37CE381-4995-4C08-AA16-737EBDEB9A44}" destId="{94F75AD5-0C3E-46E5-BAD4-BB88648B3A2F}" srcOrd="1" destOrd="0" parTransId="{FA3D46ED-28C6-4A49-A17B-D3C05CAA4ECF}" sibTransId="{09C9F9A4-9BDA-4F14-A661-62E7C0712833}"/>
    <dgm:cxn modelId="{1F3FF57C-D609-4DA3-BC5B-901C18A61327}" type="presOf" srcId="{4D50C4FE-21E5-4E1A-A798-996A3999C942}" destId="{E0147F9E-894E-4D81-9EB3-B8BC142BD6F1}" srcOrd="0" destOrd="1" presId="urn:microsoft.com/office/officeart/2018/2/layout/IconVerticalSolidList"/>
    <dgm:cxn modelId="{20090180-76AD-4075-BBCA-1D3591E94B12}" type="presOf" srcId="{25C113E9-EF75-448A-8063-3000DCEBCBB3}" destId="{E0147F9E-894E-4D81-9EB3-B8BC142BD6F1}" srcOrd="0" destOrd="2" presId="urn:microsoft.com/office/officeart/2018/2/layout/IconVerticalSolidList"/>
    <dgm:cxn modelId="{76D3098D-62C3-41EA-95C5-641815A80968}" type="presOf" srcId="{5F8FA197-ADDD-4DA9-B5DE-618A92275527}" destId="{68D35938-D5EE-4C81-8CC3-BE741221FDE1}" srcOrd="0" destOrd="0" presId="urn:microsoft.com/office/officeart/2018/2/layout/IconVerticalSolidList"/>
    <dgm:cxn modelId="{390A548D-8AD0-43F9-BA5B-7F6FDC1C3AC2}" type="presOf" srcId="{A37CE381-4995-4C08-AA16-737EBDEB9A44}" destId="{61A20F57-2361-4396-A8FF-77C1E6022FFB}" srcOrd="0" destOrd="0" presId="urn:microsoft.com/office/officeart/2018/2/layout/IconVerticalSolidList"/>
    <dgm:cxn modelId="{89FE9498-3F4A-40C6-941E-7AF2EF71B23F}" srcId="{83CB81EE-9FFA-4F2B-A607-D54B04F8017B}" destId="{4D50C4FE-21E5-4E1A-A798-996A3999C942}" srcOrd="1" destOrd="0" parTransId="{2DE09EA6-0E93-4A30-AA5E-516BFB5FE5A0}" sibTransId="{9631E90A-FB21-497D-9BD8-3AF039EA1081}"/>
    <dgm:cxn modelId="{849049F6-FC90-4A7E-9403-2A9D40DF49DA}" type="presOf" srcId="{A8DC0C26-ED1B-46CE-A385-A81A80069E97}" destId="{E0147F9E-894E-4D81-9EB3-B8BC142BD6F1}" srcOrd="0" destOrd="0" presId="urn:microsoft.com/office/officeart/2018/2/layout/IconVerticalSolidList"/>
    <dgm:cxn modelId="{DDD4D1F8-F71F-4510-BD4D-3957DE0375F9}" srcId="{83CB81EE-9FFA-4F2B-A607-D54B04F8017B}" destId="{A8DC0C26-ED1B-46CE-A385-A81A80069E97}" srcOrd="0" destOrd="0" parTransId="{F2DD040F-8EB6-4097-B4DD-79896502BDB9}" sibTransId="{F3D17C76-DE4A-48CF-9E8E-6D20F95073C6}"/>
    <dgm:cxn modelId="{604727FC-C447-44A4-B3F6-5C322C23C304}" type="presOf" srcId="{94F75AD5-0C3E-46E5-BAD4-BB88648B3A2F}" destId="{12B3D655-AE10-4DDF-BA51-9EA6A5C862F8}" srcOrd="0" destOrd="0" presId="urn:microsoft.com/office/officeart/2018/2/layout/IconVerticalSolidList"/>
    <dgm:cxn modelId="{D56666C4-910D-4DFE-AB81-02F1EAC86095}" type="presParOf" srcId="{61A20F57-2361-4396-A8FF-77C1E6022FFB}" destId="{5DC4B041-4753-4544-9BDC-3508D50E470A}" srcOrd="0" destOrd="0" presId="urn:microsoft.com/office/officeart/2018/2/layout/IconVerticalSolidList"/>
    <dgm:cxn modelId="{57D53EA4-293E-4DC1-8F02-19540902CA0E}" type="presParOf" srcId="{5DC4B041-4753-4544-9BDC-3508D50E470A}" destId="{B47C2616-D638-4A59-8684-CC37C3614580}" srcOrd="0" destOrd="0" presId="urn:microsoft.com/office/officeart/2018/2/layout/IconVerticalSolidList"/>
    <dgm:cxn modelId="{EB02DC63-06DF-4B70-B67F-3D68AC8C0289}" type="presParOf" srcId="{5DC4B041-4753-4544-9BDC-3508D50E470A}" destId="{05658EC1-69EF-4EA3-BB2C-E259089DAD96}" srcOrd="1" destOrd="0" presId="urn:microsoft.com/office/officeart/2018/2/layout/IconVerticalSolidList"/>
    <dgm:cxn modelId="{5F2ED3E1-6CB8-474E-B75B-1D0CF3B0578F}" type="presParOf" srcId="{5DC4B041-4753-4544-9BDC-3508D50E470A}" destId="{99531593-C651-44CD-B23F-BA0B341796EA}" srcOrd="2" destOrd="0" presId="urn:microsoft.com/office/officeart/2018/2/layout/IconVerticalSolidList"/>
    <dgm:cxn modelId="{FDA86C9A-AFD8-4BFC-BE07-E758E16816B1}" type="presParOf" srcId="{5DC4B041-4753-4544-9BDC-3508D50E470A}" destId="{68D35938-D5EE-4C81-8CC3-BE741221FDE1}" srcOrd="3" destOrd="0" presId="urn:microsoft.com/office/officeart/2018/2/layout/IconVerticalSolidList"/>
    <dgm:cxn modelId="{729CA13E-7C54-4EEF-99BA-BE3E15C8B891}" type="presParOf" srcId="{61A20F57-2361-4396-A8FF-77C1E6022FFB}" destId="{D1D81946-D8C3-496F-B289-E070C6EF60C4}" srcOrd="1" destOrd="0" presId="urn:microsoft.com/office/officeart/2018/2/layout/IconVerticalSolidList"/>
    <dgm:cxn modelId="{D73AAD00-0903-4F1D-A190-E086827C728E}" type="presParOf" srcId="{61A20F57-2361-4396-A8FF-77C1E6022FFB}" destId="{FCDF8873-6D1B-4ABA-8A85-C5370F65CC26}" srcOrd="2" destOrd="0" presId="urn:microsoft.com/office/officeart/2018/2/layout/IconVerticalSolidList"/>
    <dgm:cxn modelId="{076017F5-B22F-410D-836E-7CCD662D0398}" type="presParOf" srcId="{FCDF8873-6D1B-4ABA-8A85-C5370F65CC26}" destId="{E42B2D0C-D786-44E3-A945-89C0AB100BFD}" srcOrd="0" destOrd="0" presId="urn:microsoft.com/office/officeart/2018/2/layout/IconVerticalSolidList"/>
    <dgm:cxn modelId="{6156CD64-78EF-4F54-8791-33DFA0EFC144}" type="presParOf" srcId="{FCDF8873-6D1B-4ABA-8A85-C5370F65CC26}" destId="{0EA821C9-83B7-4548-9655-1D5507ABF9BB}" srcOrd="1" destOrd="0" presId="urn:microsoft.com/office/officeart/2018/2/layout/IconVerticalSolidList"/>
    <dgm:cxn modelId="{FEF6B4F4-3E10-4A30-9A91-8B02E33ABE34}" type="presParOf" srcId="{FCDF8873-6D1B-4ABA-8A85-C5370F65CC26}" destId="{0DEF16A6-E5F0-4D8D-8DF6-206B94F11BE3}" srcOrd="2" destOrd="0" presId="urn:microsoft.com/office/officeart/2018/2/layout/IconVerticalSolidList"/>
    <dgm:cxn modelId="{AEA85160-3FE4-48C1-85AC-B3223F30EC13}" type="presParOf" srcId="{FCDF8873-6D1B-4ABA-8A85-C5370F65CC26}" destId="{12B3D655-AE10-4DDF-BA51-9EA6A5C862F8}" srcOrd="3" destOrd="0" presId="urn:microsoft.com/office/officeart/2018/2/layout/IconVerticalSolidList"/>
    <dgm:cxn modelId="{A0BF34E6-0D62-48AB-ABE0-31052C9A4B70}" type="presParOf" srcId="{61A20F57-2361-4396-A8FF-77C1E6022FFB}" destId="{CEE825D7-131E-4387-BD59-CD1D37E386A7}" srcOrd="3" destOrd="0" presId="urn:microsoft.com/office/officeart/2018/2/layout/IconVerticalSolidList"/>
    <dgm:cxn modelId="{35C0CF9F-651E-4E9B-AF66-3F4BFE67E298}" type="presParOf" srcId="{61A20F57-2361-4396-A8FF-77C1E6022FFB}" destId="{3C54EA6F-8E63-4C97-94CA-B414C582FBC7}" srcOrd="4" destOrd="0" presId="urn:microsoft.com/office/officeart/2018/2/layout/IconVerticalSolidList"/>
    <dgm:cxn modelId="{B6C34D02-1AA4-49A0-9734-F706DBC00E74}" type="presParOf" srcId="{3C54EA6F-8E63-4C97-94CA-B414C582FBC7}" destId="{FEDF5DCD-C9AC-43EC-AEFA-E6F4352540B0}" srcOrd="0" destOrd="0" presId="urn:microsoft.com/office/officeart/2018/2/layout/IconVerticalSolidList"/>
    <dgm:cxn modelId="{3B8D0D32-B233-49B8-8E73-1E4065F9802D}" type="presParOf" srcId="{3C54EA6F-8E63-4C97-94CA-B414C582FBC7}" destId="{D8AD98DF-F332-4958-A013-A0D3C90298FB}" srcOrd="1" destOrd="0" presId="urn:microsoft.com/office/officeart/2018/2/layout/IconVerticalSolidList"/>
    <dgm:cxn modelId="{544DBF55-2102-4082-AF5F-41EA383AA62C}" type="presParOf" srcId="{3C54EA6F-8E63-4C97-94CA-B414C582FBC7}" destId="{7FE6EA18-B396-4275-BF19-368CB3948EBF}" srcOrd="2" destOrd="0" presId="urn:microsoft.com/office/officeart/2018/2/layout/IconVerticalSolidList"/>
    <dgm:cxn modelId="{82C4ABCA-71CC-4AAE-A77E-E284C656472E}" type="presParOf" srcId="{3C54EA6F-8E63-4C97-94CA-B414C582FBC7}" destId="{47D516D6-F6D8-49C6-ACD2-86F506C29BEC}" srcOrd="3" destOrd="0" presId="urn:microsoft.com/office/officeart/2018/2/layout/IconVerticalSolidList"/>
    <dgm:cxn modelId="{E72DC29F-F279-4AE1-B275-23E8638CE647}" type="presParOf" srcId="{3C54EA6F-8E63-4C97-94CA-B414C582FBC7}" destId="{E0147F9E-894E-4D81-9EB3-B8BC142BD6F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C2616-D638-4A59-8684-CC37C3614580}">
      <dsp:nvSpPr>
        <dsp:cNvPr id="0" name=""/>
        <dsp:cNvSpPr/>
      </dsp:nvSpPr>
      <dsp:spPr>
        <a:xfrm>
          <a:off x="0" y="531"/>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658EC1-69EF-4EA3-BB2C-E259089DAD9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D35938-D5EE-4C81-8CC3-BE741221FDE1}">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The air is less dense at higher altitudes, and consequently the partial pressure of oxygen is also less.</a:t>
          </a:r>
        </a:p>
      </dsp:txBody>
      <dsp:txXfrm>
        <a:off x="1435590" y="531"/>
        <a:ext cx="9080009" cy="1242935"/>
      </dsp:txXfrm>
    </dsp:sp>
    <dsp:sp modelId="{E42B2D0C-D786-44E3-A945-89C0AB100BFD}">
      <dsp:nvSpPr>
        <dsp:cNvPr id="0" name=""/>
        <dsp:cNvSpPr/>
      </dsp:nvSpPr>
      <dsp:spPr>
        <a:xfrm>
          <a:off x="0" y="1554201"/>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A821C9-83B7-4548-9655-1D5507ABF9BB}">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B3D655-AE10-4DDF-BA51-9EA6A5C862F8}">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Man cannot survive at an altitude of 25,000 feet without breathing equipment.</a:t>
          </a:r>
        </a:p>
      </dsp:txBody>
      <dsp:txXfrm>
        <a:off x="1435590" y="1554201"/>
        <a:ext cx="9080009" cy="1242935"/>
      </dsp:txXfrm>
    </dsp:sp>
    <dsp:sp modelId="{FEDF5DCD-C9AC-43EC-AEFA-E6F4352540B0}">
      <dsp:nvSpPr>
        <dsp:cNvPr id="0" name=""/>
        <dsp:cNvSpPr/>
      </dsp:nvSpPr>
      <dsp:spPr>
        <a:xfrm>
          <a:off x="0" y="3107870"/>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AD98DF-F332-4958-A013-A0D3C90298FB}">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D516D6-F6D8-49C6-ACD2-86F506C29BEC}">
      <dsp:nvSpPr>
        <dsp:cNvPr id="0" name=""/>
        <dsp:cNvSpPr/>
      </dsp:nvSpPr>
      <dsp:spPr>
        <a:xfrm>
          <a:off x="1435590" y="3107870"/>
          <a:ext cx="473202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100000"/>
            </a:lnSpc>
            <a:spcBef>
              <a:spcPct val="0"/>
            </a:spcBef>
            <a:spcAft>
              <a:spcPct val="35000"/>
            </a:spcAft>
            <a:buNone/>
          </a:pPr>
          <a:r>
            <a:rPr lang="en-US" sz="2200" kern="1200"/>
            <a:t>When man is exposed to low pressures, the physiological effects are : </a:t>
          </a:r>
        </a:p>
      </dsp:txBody>
      <dsp:txXfrm>
        <a:off x="1435590" y="3107870"/>
        <a:ext cx="4732020" cy="1242935"/>
      </dsp:txXfrm>
    </dsp:sp>
    <dsp:sp modelId="{E0147F9E-894E-4D81-9EB3-B8BC142BD6F1}">
      <dsp:nvSpPr>
        <dsp:cNvPr id="0" name=""/>
        <dsp:cNvSpPr/>
      </dsp:nvSpPr>
      <dsp:spPr>
        <a:xfrm>
          <a:off x="6167610" y="3107870"/>
          <a:ext cx="434798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100000"/>
            </a:lnSpc>
            <a:spcBef>
              <a:spcPct val="0"/>
            </a:spcBef>
            <a:spcAft>
              <a:spcPct val="35000"/>
            </a:spcAft>
            <a:buNone/>
          </a:pPr>
          <a:r>
            <a:rPr lang="en-US" sz="1700" kern="1200"/>
            <a:t>Increase in respiration </a:t>
          </a:r>
        </a:p>
        <a:p>
          <a:pPr marL="0" lvl="0" indent="0" algn="l" defTabSz="755650">
            <a:lnSpc>
              <a:spcPct val="100000"/>
            </a:lnSpc>
            <a:spcBef>
              <a:spcPct val="0"/>
            </a:spcBef>
            <a:spcAft>
              <a:spcPct val="35000"/>
            </a:spcAft>
            <a:buNone/>
          </a:pPr>
          <a:r>
            <a:rPr lang="en-US" sz="1700" kern="1200" dirty="0"/>
            <a:t>Increase in the concentration of hemoglobin </a:t>
          </a:r>
        </a:p>
        <a:p>
          <a:pPr marL="0" lvl="0" indent="0" algn="l" defTabSz="755650">
            <a:lnSpc>
              <a:spcPct val="100000"/>
            </a:lnSpc>
            <a:spcBef>
              <a:spcPct val="0"/>
            </a:spcBef>
            <a:spcAft>
              <a:spcPct val="35000"/>
            </a:spcAft>
            <a:buNone/>
          </a:pPr>
          <a:r>
            <a:rPr lang="en-US" sz="1700" kern="1200"/>
            <a:t>Increase in cardiac output</a:t>
          </a:r>
        </a:p>
      </dsp:txBody>
      <dsp:txXfrm>
        <a:off x="6167610" y="3107870"/>
        <a:ext cx="434798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F872E-5180-492F-8BFD-A07059B94156}" type="datetimeFigureOut">
              <a:rPr lang="en-IN" smtClean="0"/>
              <a:t>29-08-2024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9BBAE-BC7C-4C16-A2DF-EFEC37CE27D7}" type="slidenum">
              <a:rPr lang="en-IN" smtClean="0"/>
              <a:t>‹#›</a:t>
            </a:fld>
            <a:endParaRPr lang="en-IN"/>
          </a:p>
        </p:txBody>
      </p:sp>
    </p:spTree>
    <p:extLst>
      <p:ext uri="{BB962C8B-B14F-4D97-AF65-F5344CB8AC3E}">
        <p14:creationId xmlns:p14="http://schemas.microsoft.com/office/powerpoint/2010/main" val="650671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99BBAE-BC7C-4C16-A2DF-EFEC37CE27D7}" type="slidenum">
              <a:rPr lang="en-IN" smtClean="0"/>
              <a:t>8</a:t>
            </a:fld>
            <a:endParaRPr lang="en-IN"/>
          </a:p>
        </p:txBody>
      </p:sp>
    </p:spTree>
    <p:extLst>
      <p:ext uri="{BB962C8B-B14F-4D97-AF65-F5344CB8AC3E}">
        <p14:creationId xmlns:p14="http://schemas.microsoft.com/office/powerpoint/2010/main" val="2818609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763B-B09D-F6E6-A1AE-DC429E331D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290F81-84AB-EABF-6DCB-9DBF1B44B5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8CCDB7-3083-468A-B651-D2CCBCFAEA74}"/>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0F2022D4-B67F-57A5-1F0F-64EA7D46A8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62EC55-E039-2DA8-88AB-03548F2BF990}"/>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817209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D48B-262E-379C-F6A4-3B2FDD7F8A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055385-9571-1C32-A6AF-7E993C7480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C7ADB1-995F-81EE-4AF3-01DC4D974C73}"/>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3C06C162-C632-32C1-DF49-009E956F43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448C6-3FEC-ECB6-DF3F-BFD54432303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60414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089F-030C-D0DB-A09B-4F1CC9C590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445179-7FC7-B63B-EECC-2E1705BE1A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FC5E3F-CEB0-E144-BE08-DAC70EC58EEF}"/>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D6AC9DB2-64CE-6545-36E6-6FE7142303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4488C6-3B54-3351-5276-B27796A4AE96}"/>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945269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79189-3194-C9B5-3CCA-00BC74A42A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54E66E-8BEA-8E9F-75D1-5BC29E4DB2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97257A-4295-FEC2-5A53-A7575E4EC6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F068CA-C5BC-8B87-A004-F9878FFB42B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75505856-87C5-BBAD-AF45-DDF5DB9168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37687-70FB-D99D-1AAB-6387103F4689}"/>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60951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79A9D-2348-CE18-97F8-52D172B0B3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530AFD-D631-8C96-3CB4-DBCC0FC23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056517-B555-A4FB-CB7B-E173B7D91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A8C938-7FA6-EE57-B3DF-48E14BCD3A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B071B-BC1D-CBC0-5B20-3D9F0B3A5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6A972A-7B1C-0724-24B6-5B1A7B30276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8" name="Footer Placeholder 7">
            <a:extLst>
              <a:ext uri="{FF2B5EF4-FFF2-40B4-BE49-F238E27FC236}">
                <a16:creationId xmlns:a16="http://schemas.microsoft.com/office/drawing/2014/main" id="{0D5441DB-47EA-7576-8C8B-3B7A7BD718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B8F4A-EA4C-CC18-D8EE-29A1AB0AF94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219752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542F6-0E6F-DD17-0955-C660D64D5F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ACF87-5D89-C9A0-803F-F437916205B2}"/>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4" name="Footer Placeholder 3">
            <a:extLst>
              <a:ext uri="{FF2B5EF4-FFF2-40B4-BE49-F238E27FC236}">
                <a16:creationId xmlns:a16="http://schemas.microsoft.com/office/drawing/2014/main" id="{3B1A2E7D-1B02-886A-DD1C-663B4C30E3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B746FB-911A-4A20-BF86-7715C1CAA8E6}"/>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844670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54D389-AD6A-CD91-8CB4-B03DC5E5C2BD}"/>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3" name="Footer Placeholder 2">
            <a:extLst>
              <a:ext uri="{FF2B5EF4-FFF2-40B4-BE49-F238E27FC236}">
                <a16:creationId xmlns:a16="http://schemas.microsoft.com/office/drawing/2014/main" id="{7602A413-6AA5-5D2D-6623-CB19C8CCC8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B5859E-98C1-2A1C-8EFD-9C047079F8E9}"/>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285581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445D-8B99-DDEC-54FD-3E55DBFAD6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3C66C1-7251-AD94-FDB6-BB8ED3BE54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52BD2E-4175-1423-B884-B4CA9483B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4D70CF-24C7-6508-6CAC-96ECFAC76983}"/>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86C2F5EC-EF44-899E-23E5-9390AE28B1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165E1B-9DD9-9C5D-2533-34C906CCEBC8}"/>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269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F0F7-DD53-FCB5-C8C1-8D96C10A8C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72B537-538F-A838-93BC-A5719A2C4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AA3469-9393-973F-1DBD-E046A286E4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5E2E2-3D46-66E1-78EB-AA1A23A8DDAF}"/>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6" name="Footer Placeholder 5">
            <a:extLst>
              <a:ext uri="{FF2B5EF4-FFF2-40B4-BE49-F238E27FC236}">
                <a16:creationId xmlns:a16="http://schemas.microsoft.com/office/drawing/2014/main" id="{8DBA7EDD-9749-7E7A-445C-7586F79AB1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8AFB81-9E55-BAF9-7E00-38B5B3B39ED1}"/>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3202640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8295-5455-8D1D-7640-CDDE1CA447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22EDB5-57F8-C7D5-6BA5-F9896EBB9C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DBF494-AB3A-661C-1879-7B868D7DB450}"/>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F860C9DC-0EBA-5070-AFFC-FE1642426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2D5EC-4E63-1C03-25DC-44D4E79AB6CC}"/>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4289553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720937-C9FF-ED7A-BFF4-1E8049F91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672617-BFF4-BF32-D6CA-1AAE7910A4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1A773-E826-EC1F-88CB-55C3F961E78C}"/>
              </a:ext>
            </a:extLst>
          </p:cNvPr>
          <p:cNvSpPr>
            <a:spLocks noGrp="1"/>
          </p:cNvSpPr>
          <p:nvPr>
            <p:ph type="dt" sz="half" idx="10"/>
          </p:nvPr>
        </p:nvSpPr>
        <p:spPr/>
        <p:txBody>
          <a:body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0218E41F-C1B8-69C1-EE61-DCFAAB5924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66B93E-95FE-4994-DE15-C48E7DACB663}"/>
              </a:ext>
            </a:extLst>
          </p:cNvPr>
          <p:cNvSpPr>
            <a:spLocks noGrp="1"/>
          </p:cNvSpPr>
          <p:nvPr>
            <p:ph type="sldNum" sz="quarter" idx="12"/>
          </p:nvPr>
        </p:nvSpPr>
        <p:spPr/>
        <p:txBody>
          <a:bodyPr/>
          <a:lstStyle/>
          <a:p>
            <a:fld id="{30100AD8-E156-4639-B592-543D0CCF0162}" type="slidenum">
              <a:rPr lang="en-IN" smtClean="0"/>
              <a:t>‹#›</a:t>
            </a:fld>
            <a:endParaRPr lang="en-IN"/>
          </a:p>
        </p:txBody>
      </p:sp>
    </p:spTree>
    <p:extLst>
      <p:ext uri="{BB962C8B-B14F-4D97-AF65-F5344CB8AC3E}">
        <p14:creationId xmlns:p14="http://schemas.microsoft.com/office/powerpoint/2010/main" val="1678326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230E4-5849-EDB6-49A1-208B23457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47FD1E-CA22-E8C2-B3AD-9CA01470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4E6A88-A9BA-AA24-CCC6-85850B3217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D352DD-9A07-4F73-A591-7A7E29110465}" type="datetimeFigureOut">
              <a:rPr lang="en-IN" smtClean="0"/>
              <a:t>29-08-2024</a:t>
            </a:fld>
            <a:endParaRPr lang="en-IN"/>
          </a:p>
        </p:txBody>
      </p:sp>
      <p:sp>
        <p:nvSpPr>
          <p:cNvPr id="5" name="Footer Placeholder 4">
            <a:extLst>
              <a:ext uri="{FF2B5EF4-FFF2-40B4-BE49-F238E27FC236}">
                <a16:creationId xmlns:a16="http://schemas.microsoft.com/office/drawing/2014/main" id="{761B10BA-80B9-457B-2B66-CF0E6EB56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FC4B61-14E7-974D-C0F4-387005033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00AD8-E156-4639-B592-543D0CCF0162}" type="slidenum">
              <a:rPr lang="en-IN" smtClean="0"/>
              <a:t>‹#›</a:t>
            </a:fld>
            <a:endParaRPr lang="en-IN"/>
          </a:p>
        </p:txBody>
      </p:sp>
    </p:spTree>
    <p:extLst>
      <p:ext uri="{BB962C8B-B14F-4D97-AF65-F5344CB8AC3E}">
        <p14:creationId xmlns:p14="http://schemas.microsoft.com/office/powerpoint/2010/main" val="2358328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17567A52-D361-27B1-EC68-DB5006D0DBDE}"/>
              </a:ext>
            </a:extLst>
          </p:cNvPr>
          <p:cNvSpPr>
            <a:spLocks noGrp="1"/>
          </p:cNvSpPr>
          <p:nvPr>
            <p:ph type="ctrTitle"/>
          </p:nvPr>
        </p:nvSpPr>
        <p:spPr>
          <a:xfrm>
            <a:off x="3215729" y="1764407"/>
            <a:ext cx="5760846" cy="2310312"/>
          </a:xfrm>
        </p:spPr>
        <p:txBody>
          <a:bodyPr>
            <a:normAutofit/>
          </a:bodyPr>
          <a:lstStyle/>
          <a:p>
            <a:r>
              <a:rPr lang="en-IN" sz="4400">
                <a:solidFill>
                  <a:schemeClr val="tx2"/>
                </a:solidFill>
              </a:rPr>
              <a:t>METEOROLOGICAL ENVIRONMENT </a:t>
            </a:r>
          </a:p>
        </p:txBody>
      </p:sp>
    </p:spTree>
    <p:extLst>
      <p:ext uri="{BB962C8B-B14F-4D97-AF65-F5344CB8AC3E}">
        <p14:creationId xmlns:p14="http://schemas.microsoft.com/office/powerpoint/2010/main" val="380396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59D6E-9E7A-698E-CB9E-158E57B832A0}"/>
              </a:ext>
            </a:extLst>
          </p:cNvPr>
          <p:cNvSpPr>
            <a:spLocks noGrp="1"/>
          </p:cNvSpPr>
          <p:nvPr>
            <p:ph idx="1"/>
          </p:nvPr>
        </p:nvSpPr>
        <p:spPr>
          <a:xfrm>
            <a:off x="838200" y="1068540"/>
            <a:ext cx="10515600" cy="4791485"/>
          </a:xfrm>
        </p:spPr>
        <p:txBody>
          <a:bodyPr>
            <a:normAutofit/>
          </a:bodyPr>
          <a:lstStyle/>
          <a:p>
            <a:pPr marL="0" indent="0">
              <a:buNone/>
            </a:pPr>
            <a:r>
              <a:rPr lang="en-US" dirty="0"/>
              <a:t>The elements which comprise the meteorological environment are:</a:t>
            </a:r>
          </a:p>
          <a:p>
            <a:r>
              <a:rPr lang="en-US" dirty="0"/>
              <a:t>Atmospheric pressure </a:t>
            </a:r>
          </a:p>
          <a:p>
            <a:r>
              <a:rPr lang="en-US" dirty="0"/>
              <a:t>Air temperature </a:t>
            </a:r>
          </a:p>
          <a:p>
            <a:r>
              <a:rPr lang="en-US" dirty="0"/>
              <a:t>Humidity </a:t>
            </a:r>
          </a:p>
          <a:p>
            <a:r>
              <a:rPr lang="en-US" dirty="0"/>
              <a:t>Rainfall </a:t>
            </a:r>
          </a:p>
          <a:p>
            <a:r>
              <a:rPr lang="en-US" dirty="0"/>
              <a:t>Direction and speed of wind  </a:t>
            </a:r>
          </a:p>
          <a:p>
            <a:r>
              <a:rPr lang="en-US" dirty="0"/>
              <a:t>Movement of clouds and character of weather</a:t>
            </a:r>
          </a:p>
        </p:txBody>
      </p:sp>
    </p:spTree>
    <p:extLst>
      <p:ext uri="{BB962C8B-B14F-4D97-AF65-F5344CB8AC3E}">
        <p14:creationId xmlns:p14="http://schemas.microsoft.com/office/powerpoint/2010/main" val="611092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B5674A2-D673-FB67-5D11-712D0474E355}"/>
              </a:ext>
            </a:extLst>
          </p:cNvPr>
          <p:cNvSpPr>
            <a:spLocks noGrp="1"/>
          </p:cNvSpPr>
          <p:nvPr>
            <p:ph type="title"/>
          </p:nvPr>
        </p:nvSpPr>
        <p:spPr>
          <a:xfrm>
            <a:off x="3033466" y="991261"/>
            <a:ext cx="5754696" cy="1837349"/>
          </a:xfrm>
        </p:spPr>
        <p:txBody>
          <a:bodyPr anchor="ctr">
            <a:normAutofit/>
          </a:bodyPr>
          <a:lstStyle/>
          <a:p>
            <a:pPr algn="ctr"/>
            <a:r>
              <a:rPr lang="en-IN" sz="3600" dirty="0"/>
              <a:t>Climate</a:t>
            </a:r>
          </a:p>
        </p:txBody>
      </p:sp>
      <p:sp>
        <p:nvSpPr>
          <p:cNvPr id="3" name="Content Placeholder 2">
            <a:extLst>
              <a:ext uri="{FF2B5EF4-FFF2-40B4-BE49-F238E27FC236}">
                <a16:creationId xmlns:a16="http://schemas.microsoft.com/office/drawing/2014/main" id="{5E9077F4-4F6B-8242-49C7-931C29C5AD04}"/>
              </a:ext>
            </a:extLst>
          </p:cNvPr>
          <p:cNvSpPr>
            <a:spLocks noGrp="1"/>
          </p:cNvSpPr>
          <p:nvPr>
            <p:ph idx="1"/>
          </p:nvPr>
        </p:nvSpPr>
        <p:spPr>
          <a:xfrm>
            <a:off x="3055954" y="2979336"/>
            <a:ext cx="5709721" cy="2430864"/>
          </a:xfrm>
        </p:spPr>
        <p:txBody>
          <a:bodyPr anchor="t">
            <a:normAutofit/>
          </a:bodyPr>
          <a:lstStyle/>
          <a:p>
            <a:r>
              <a:rPr lang="en-US" dirty="0"/>
              <a:t> The term “climate” is a geographical concept representing a summation of the whole range of meteorological phenomena</a:t>
            </a:r>
            <a:r>
              <a:rPr lang="en-IN" dirty="0"/>
              <a:t>.</a:t>
            </a:r>
          </a:p>
        </p:txBody>
      </p:sp>
    </p:spTree>
    <p:extLst>
      <p:ext uri="{BB962C8B-B14F-4D97-AF65-F5344CB8AC3E}">
        <p14:creationId xmlns:p14="http://schemas.microsoft.com/office/powerpoint/2010/main" val="211326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6917-0D38-928E-9A71-5013DC527613}"/>
              </a:ext>
            </a:extLst>
          </p:cNvPr>
          <p:cNvSpPr>
            <a:spLocks noGrp="1"/>
          </p:cNvSpPr>
          <p:nvPr>
            <p:ph type="title"/>
          </p:nvPr>
        </p:nvSpPr>
        <p:spPr/>
        <p:txBody>
          <a:bodyPr/>
          <a:lstStyle/>
          <a:p>
            <a:r>
              <a:rPr lang="en-US" b="1" dirty="0"/>
              <a:t>Atmospheric pressure</a:t>
            </a:r>
            <a:endParaRPr lang="en-IN" b="1" dirty="0"/>
          </a:p>
        </p:txBody>
      </p:sp>
      <p:sp>
        <p:nvSpPr>
          <p:cNvPr id="3" name="Content Placeholder 2">
            <a:extLst>
              <a:ext uri="{FF2B5EF4-FFF2-40B4-BE49-F238E27FC236}">
                <a16:creationId xmlns:a16="http://schemas.microsoft.com/office/drawing/2014/main" id="{C0470293-C4AB-1CCD-50E3-21AE85B06744}"/>
              </a:ext>
            </a:extLst>
          </p:cNvPr>
          <p:cNvSpPr>
            <a:spLocks noGrp="1"/>
          </p:cNvSpPr>
          <p:nvPr>
            <p:ph idx="1"/>
          </p:nvPr>
        </p:nvSpPr>
        <p:spPr>
          <a:xfrm>
            <a:off x="838200" y="1465006"/>
            <a:ext cx="10515600" cy="4711957"/>
          </a:xfrm>
        </p:spPr>
        <p:txBody>
          <a:bodyPr>
            <a:normAutofit/>
          </a:bodyPr>
          <a:lstStyle/>
          <a:p>
            <a:r>
              <a:rPr lang="en-US" dirty="0"/>
              <a:t>The atmospheric pressure at earth’s surface close to the sea level averages 760 mm of Hg. </a:t>
            </a:r>
          </a:p>
          <a:p>
            <a:r>
              <a:rPr lang="en-US" dirty="0"/>
              <a:t>This is called “one atmosphere of pressure”. </a:t>
            </a:r>
          </a:p>
          <a:p>
            <a:r>
              <a:rPr lang="en-US" dirty="0"/>
              <a:t>Man is physiologically adapted to live at 760 mm of Hg pressure or close to it. </a:t>
            </a:r>
          </a:p>
          <a:p>
            <a:r>
              <a:rPr lang="en-US" dirty="0"/>
              <a:t>The atmospheric pressure falls as altitude increases and rises as altitude decreases. Thus, at an altitude of 100,000 feet above mean sea level, the atmospheric pressure is less than 10 mm. of Hg. </a:t>
            </a:r>
          </a:p>
          <a:p>
            <a:r>
              <a:rPr lang="en-US" dirty="0"/>
              <a:t>The pressure increases at the rate of “one atmosphere” for each 33 feet depth below sea level.</a:t>
            </a:r>
            <a:endParaRPr lang="en-IN" dirty="0"/>
          </a:p>
        </p:txBody>
      </p:sp>
    </p:spTree>
    <p:extLst>
      <p:ext uri="{BB962C8B-B14F-4D97-AF65-F5344CB8AC3E}">
        <p14:creationId xmlns:p14="http://schemas.microsoft.com/office/powerpoint/2010/main" val="4275131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68E3-F730-C4C4-95A7-564B25DC1D77}"/>
              </a:ext>
            </a:extLst>
          </p:cNvPr>
          <p:cNvSpPr>
            <a:spLocks noGrp="1"/>
          </p:cNvSpPr>
          <p:nvPr>
            <p:ph type="title"/>
          </p:nvPr>
        </p:nvSpPr>
        <p:spPr>
          <a:xfrm>
            <a:off x="838200" y="70618"/>
            <a:ext cx="10515600" cy="1325563"/>
          </a:xfrm>
        </p:spPr>
        <p:txBody>
          <a:bodyPr/>
          <a:lstStyle/>
          <a:p>
            <a:r>
              <a:rPr lang="en-US" b="1" dirty="0"/>
              <a:t>Barometer</a:t>
            </a:r>
            <a:endParaRPr lang="en-IN" b="1" dirty="0"/>
          </a:p>
        </p:txBody>
      </p:sp>
      <p:sp>
        <p:nvSpPr>
          <p:cNvPr id="3" name="Content Placeholder 2">
            <a:extLst>
              <a:ext uri="{FF2B5EF4-FFF2-40B4-BE49-F238E27FC236}">
                <a16:creationId xmlns:a16="http://schemas.microsoft.com/office/drawing/2014/main" id="{C679A571-C29B-8BB5-F1FC-3DF12CF03B2C}"/>
              </a:ext>
            </a:extLst>
          </p:cNvPr>
          <p:cNvSpPr>
            <a:spLocks noGrp="1"/>
          </p:cNvSpPr>
          <p:nvPr>
            <p:ph idx="1"/>
          </p:nvPr>
        </p:nvSpPr>
        <p:spPr>
          <a:xfrm>
            <a:off x="838200" y="1396181"/>
            <a:ext cx="10515600" cy="4780782"/>
          </a:xfrm>
        </p:spPr>
        <p:txBody>
          <a:bodyPr>
            <a:normAutofit/>
          </a:bodyPr>
          <a:lstStyle/>
          <a:p>
            <a:pPr marL="0" indent="0">
              <a:buNone/>
            </a:pPr>
            <a:r>
              <a:rPr lang="en-US" dirty="0"/>
              <a:t>The instruments used for measuring atmospheric pressure are known as barometers of which there are three well known kinds : </a:t>
            </a:r>
          </a:p>
          <a:p>
            <a:r>
              <a:rPr lang="en-US" dirty="0"/>
              <a:t>Fortin’s Barometer; </a:t>
            </a:r>
          </a:p>
          <a:p>
            <a:r>
              <a:rPr lang="en-US" dirty="0"/>
              <a:t>Kew Pattern Station Barometer</a:t>
            </a:r>
          </a:p>
          <a:p>
            <a:r>
              <a:rPr lang="en-US" dirty="0"/>
              <a:t>Barograph.</a:t>
            </a:r>
          </a:p>
          <a:p>
            <a:pPr marL="0" indent="0">
              <a:buNone/>
            </a:pPr>
            <a:r>
              <a:rPr lang="en-US" dirty="0"/>
              <a:t>The Kew Pattern Station Barometer is widely used by the Indian Meteorological Department for measuring the atmospheric pressure.</a:t>
            </a:r>
          </a:p>
          <a:p>
            <a:pPr marL="0" indent="0">
              <a:buNone/>
            </a:pPr>
            <a:r>
              <a:rPr lang="en-US" dirty="0"/>
              <a:t>Barograph is an instrument for obtaining a continuous record of atmospheric pressure. It is a circular box, the walls of which collapse or distend when the atmospheric pressure rises or falls.</a:t>
            </a:r>
            <a:endParaRPr lang="en-IN" dirty="0"/>
          </a:p>
        </p:txBody>
      </p:sp>
    </p:spTree>
    <p:extLst>
      <p:ext uri="{BB962C8B-B14F-4D97-AF65-F5344CB8AC3E}">
        <p14:creationId xmlns:p14="http://schemas.microsoft.com/office/powerpoint/2010/main" val="3746386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Victorian Kew Pattern Marine Barometer by Adie with Met Office ...">
            <a:extLst>
              <a:ext uri="{FF2B5EF4-FFF2-40B4-BE49-F238E27FC236}">
                <a16:creationId xmlns:a16="http://schemas.microsoft.com/office/drawing/2014/main" id="{2A295800-EA8A-18B3-9F6D-46B14014EB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481" r="29868"/>
          <a:stretch/>
        </p:blipFill>
        <p:spPr bwMode="auto">
          <a:xfrm>
            <a:off x="2175287" y="321734"/>
            <a:ext cx="1990593" cy="29051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753790F-2B2A-E179-A191-DA8F367F21F5}"/>
              </a:ext>
            </a:extLst>
          </p:cNvPr>
          <p:cNvPicPr>
            <a:picLocks noChangeAspect="1"/>
          </p:cNvPicPr>
          <p:nvPr/>
        </p:nvPicPr>
        <p:blipFill>
          <a:blip r:embed="rId3"/>
          <a:stretch>
            <a:fillRect/>
          </a:stretch>
        </p:blipFill>
        <p:spPr>
          <a:xfrm>
            <a:off x="1155576" y="3631096"/>
            <a:ext cx="4030014" cy="2760560"/>
          </a:xfrm>
          <a:prstGeom prst="rect">
            <a:avLst/>
          </a:prstGeom>
        </p:spPr>
      </p:pic>
      <p:sp>
        <p:nvSpPr>
          <p:cNvPr id="1050" name="Rectangle 1049">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arometer Fortin's — hBARSCI">
            <a:extLst>
              <a:ext uri="{FF2B5EF4-FFF2-40B4-BE49-F238E27FC236}">
                <a16:creationId xmlns:a16="http://schemas.microsoft.com/office/drawing/2014/main" id="{DE52C04B-DD83-C89C-7A2D-1CF7CAD1BF7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558584" y="321734"/>
            <a:ext cx="925663" cy="6069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173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9A42-DBE6-C2CD-EA2E-76A468F14572}"/>
              </a:ext>
            </a:extLst>
          </p:cNvPr>
          <p:cNvSpPr>
            <a:spLocks noGrp="1"/>
          </p:cNvSpPr>
          <p:nvPr>
            <p:ph type="title"/>
          </p:nvPr>
        </p:nvSpPr>
        <p:spPr>
          <a:xfrm>
            <a:off x="1221658" y="2420067"/>
            <a:ext cx="10515600" cy="1325563"/>
          </a:xfrm>
        </p:spPr>
        <p:txBody>
          <a:bodyPr/>
          <a:lstStyle/>
          <a:p>
            <a:r>
              <a:rPr lang="en-US" b="1" dirty="0"/>
              <a:t>Effects of atmospheric pressure on health</a:t>
            </a:r>
            <a:endParaRPr lang="en-IN" b="1" dirty="0"/>
          </a:p>
        </p:txBody>
      </p:sp>
    </p:spTree>
    <p:extLst>
      <p:ext uri="{BB962C8B-B14F-4D97-AF65-F5344CB8AC3E}">
        <p14:creationId xmlns:p14="http://schemas.microsoft.com/office/powerpoint/2010/main" val="3774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B0303-2BBA-8D15-9F6B-6BBB7A7F308B}"/>
              </a:ext>
            </a:extLst>
          </p:cNvPr>
          <p:cNvSpPr>
            <a:spLocks noGrp="1"/>
          </p:cNvSpPr>
          <p:nvPr>
            <p:ph type="title"/>
          </p:nvPr>
        </p:nvSpPr>
        <p:spPr>
          <a:xfrm>
            <a:off x="838200" y="556995"/>
            <a:ext cx="10515600" cy="1133693"/>
          </a:xfrm>
        </p:spPr>
        <p:txBody>
          <a:bodyPr>
            <a:normAutofit/>
          </a:bodyPr>
          <a:lstStyle/>
          <a:p>
            <a:r>
              <a:rPr lang="en-US" sz="5200" b="1"/>
              <a:t>HIGH ALTITUDES</a:t>
            </a:r>
            <a:endParaRPr lang="en-IN" sz="5200" b="1"/>
          </a:p>
        </p:txBody>
      </p:sp>
      <p:graphicFrame>
        <p:nvGraphicFramePr>
          <p:cNvPr id="5" name="Content Placeholder 2">
            <a:extLst>
              <a:ext uri="{FF2B5EF4-FFF2-40B4-BE49-F238E27FC236}">
                <a16:creationId xmlns:a16="http://schemas.microsoft.com/office/drawing/2014/main" id="{9D7BCB2D-E49E-BF32-7C3E-5A6C0AE4C4EF}"/>
              </a:ext>
            </a:extLst>
          </p:cNvPr>
          <p:cNvGraphicFramePr>
            <a:graphicFrameLocks noGrp="1"/>
          </p:cNvGraphicFramePr>
          <p:nvPr>
            <p:ph idx="1"/>
            <p:extLst>
              <p:ext uri="{D42A27DB-BD31-4B8C-83A1-F6EECF244321}">
                <p14:modId xmlns:p14="http://schemas.microsoft.com/office/powerpoint/2010/main" val="14268145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957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B742B5-B302-4724-E22A-5F843259E0B0}"/>
              </a:ext>
            </a:extLst>
          </p:cNvPr>
          <p:cNvSpPr>
            <a:spLocks noGrp="1"/>
          </p:cNvSpPr>
          <p:nvPr>
            <p:ph idx="1"/>
          </p:nvPr>
        </p:nvSpPr>
        <p:spPr>
          <a:xfrm>
            <a:off x="838200" y="560438"/>
            <a:ext cx="10515600" cy="6297561"/>
          </a:xfrm>
        </p:spPr>
        <p:txBody>
          <a:bodyPr>
            <a:normAutofit/>
          </a:bodyPr>
          <a:lstStyle/>
          <a:p>
            <a:pPr marL="0" indent="0">
              <a:buNone/>
            </a:pPr>
            <a:r>
              <a:rPr lang="en-US" dirty="0"/>
              <a:t>Two conditions have been described as a result of sudden exposure to high altitude :</a:t>
            </a:r>
          </a:p>
          <a:p>
            <a:r>
              <a:rPr lang="en-US" b="1" dirty="0"/>
              <a:t>Acute Mountain Sickness :</a:t>
            </a:r>
            <a:r>
              <a:rPr lang="en-US" dirty="0"/>
              <a:t> This is a relatively common, harmless, and transient condition </a:t>
            </a:r>
            <a:r>
              <a:rPr lang="en-US" dirty="0" err="1"/>
              <a:t>characterised</a:t>
            </a:r>
            <a:r>
              <a:rPr lang="en-US" dirty="0"/>
              <a:t> by </a:t>
            </a:r>
            <a:r>
              <a:rPr lang="en-US" dirty="0">
                <a:highlight>
                  <a:srgbClr val="FFFF00"/>
                </a:highlight>
              </a:rPr>
              <a:t>headache, insomnia, breathlessness, nausea, vomiting and impaired vision</a:t>
            </a:r>
            <a:r>
              <a:rPr lang="en-US" dirty="0"/>
              <a:t>. </a:t>
            </a:r>
          </a:p>
          <a:p>
            <a:pPr lvl="1"/>
            <a:r>
              <a:rPr lang="en-US" dirty="0"/>
              <a:t>It has not been conclusively proved whether all these symptoms are due to the effect of hypoxia or due to the various intricate biochemical and hormonal disturbances in the body.</a:t>
            </a:r>
          </a:p>
          <a:p>
            <a:r>
              <a:rPr lang="en-US" b="1" dirty="0"/>
              <a:t>High Altitude Pulmonary Oedema : </a:t>
            </a:r>
            <a:r>
              <a:rPr lang="en-US" dirty="0"/>
              <a:t>The symptoms generally appear on about the third day at high altitude and are indistinguishable from those of ordinary mountain sickness. </a:t>
            </a:r>
          </a:p>
          <a:p>
            <a:pPr lvl="1"/>
            <a:r>
              <a:rPr lang="en-US" dirty="0"/>
              <a:t>But as pulmonary oedema develops, the patient develops a </a:t>
            </a:r>
            <a:r>
              <a:rPr lang="en-US" dirty="0">
                <a:highlight>
                  <a:srgbClr val="FFFF00"/>
                </a:highlight>
              </a:rPr>
              <a:t>cough, and may experience irregular or Cheyne Stokes breathing, </a:t>
            </a:r>
            <a:r>
              <a:rPr lang="en-US" dirty="0" err="1">
                <a:highlight>
                  <a:srgbClr val="FFFF00"/>
                </a:highlight>
              </a:rPr>
              <a:t>oligurea</a:t>
            </a:r>
            <a:r>
              <a:rPr lang="en-US" dirty="0">
                <a:highlight>
                  <a:srgbClr val="FFFF00"/>
                </a:highlight>
              </a:rPr>
              <a:t>, mental confusion and hallucinations, stupor, seizures and coma</a:t>
            </a:r>
            <a:r>
              <a:rPr lang="en-US" dirty="0"/>
              <a:t>. The condition is rare below 12,000 ft. (3,600 m.). </a:t>
            </a:r>
          </a:p>
          <a:p>
            <a:pPr lvl="1"/>
            <a:r>
              <a:rPr lang="en-US" dirty="0"/>
              <a:t>The condition does not respond to antibiotics</a:t>
            </a:r>
            <a:endParaRPr lang="en-IN" dirty="0"/>
          </a:p>
        </p:txBody>
      </p:sp>
    </p:spTree>
    <p:extLst>
      <p:ext uri="{BB962C8B-B14F-4D97-AF65-F5344CB8AC3E}">
        <p14:creationId xmlns:p14="http://schemas.microsoft.com/office/powerpoint/2010/main" val="3378958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692D44-DCD4-0D0F-2A38-B43804AB88B1}"/>
              </a:ext>
            </a:extLst>
          </p:cNvPr>
          <p:cNvPicPr>
            <a:picLocks noChangeAspect="1"/>
          </p:cNvPicPr>
          <p:nvPr/>
        </p:nvPicPr>
        <p:blipFill>
          <a:blip r:embed="rId2">
            <a:alphaModFix amt="20000"/>
          </a:blip>
          <a:stretch>
            <a:fillRect/>
          </a:stretch>
        </p:blipFill>
        <p:spPr>
          <a:xfrm>
            <a:off x="9176658" y="-129893"/>
            <a:ext cx="2851376" cy="2816174"/>
          </a:xfrm>
          <a:prstGeom prst="rect">
            <a:avLst/>
          </a:prstGeom>
        </p:spPr>
      </p:pic>
      <p:sp>
        <p:nvSpPr>
          <p:cNvPr id="2" name="Title 1">
            <a:extLst>
              <a:ext uri="{FF2B5EF4-FFF2-40B4-BE49-F238E27FC236}">
                <a16:creationId xmlns:a16="http://schemas.microsoft.com/office/drawing/2014/main" id="{1131BF61-7B62-23DF-C7CA-7FF8E4F2A105}"/>
              </a:ext>
            </a:extLst>
          </p:cNvPr>
          <p:cNvSpPr>
            <a:spLocks noGrp="1"/>
          </p:cNvSpPr>
          <p:nvPr>
            <p:ph type="title"/>
          </p:nvPr>
        </p:nvSpPr>
        <p:spPr>
          <a:xfrm>
            <a:off x="838200" y="362384"/>
            <a:ext cx="10515600" cy="915810"/>
          </a:xfrm>
        </p:spPr>
        <p:txBody>
          <a:bodyPr/>
          <a:lstStyle/>
          <a:p>
            <a:r>
              <a:rPr lang="en-US" b="1" dirty="0"/>
              <a:t>LOW ALTITUDES</a:t>
            </a:r>
            <a:endParaRPr lang="en-IN" b="1" dirty="0"/>
          </a:p>
        </p:txBody>
      </p:sp>
      <p:sp>
        <p:nvSpPr>
          <p:cNvPr id="3" name="Content Placeholder 2">
            <a:extLst>
              <a:ext uri="{FF2B5EF4-FFF2-40B4-BE49-F238E27FC236}">
                <a16:creationId xmlns:a16="http://schemas.microsoft.com/office/drawing/2014/main" id="{D115D8AA-0079-1019-EF0B-85F539239E58}"/>
              </a:ext>
            </a:extLst>
          </p:cNvPr>
          <p:cNvSpPr>
            <a:spLocks noGrp="1"/>
          </p:cNvSpPr>
          <p:nvPr>
            <p:ph idx="1"/>
          </p:nvPr>
        </p:nvSpPr>
        <p:spPr>
          <a:xfrm>
            <a:off x="838200" y="1278194"/>
            <a:ext cx="10515600" cy="5358580"/>
          </a:xfrm>
        </p:spPr>
        <p:txBody>
          <a:bodyPr>
            <a:normAutofit fontScale="92500" lnSpcReduction="20000"/>
          </a:bodyPr>
          <a:lstStyle/>
          <a:p>
            <a:r>
              <a:rPr lang="en-US" dirty="0"/>
              <a:t>The atmospheric pressure increases by one atmosphere for every 33 feet depth below sea level. </a:t>
            </a:r>
          </a:p>
          <a:p>
            <a:r>
              <a:rPr lang="en-US" dirty="0"/>
              <a:t>The greatest depth so far reached are the equivalent of 10 atmospheres.</a:t>
            </a:r>
          </a:p>
          <a:p>
            <a:r>
              <a:rPr lang="en-US" dirty="0"/>
              <a:t> When man is exposed to high pressure, the gases in the air namely oxygen, carbon dioxide and nitrogen are dissolved in the blood and tissues proportionately to the partial pressure of these gases.</a:t>
            </a:r>
          </a:p>
          <a:p>
            <a:r>
              <a:rPr lang="en-US" dirty="0"/>
              <a:t>Excess concentration of nitrogen </a:t>
            </a:r>
            <a:r>
              <a:rPr lang="en-US" dirty="0" err="1"/>
              <a:t>excerts</a:t>
            </a:r>
            <a:r>
              <a:rPr lang="en-US" dirty="0"/>
              <a:t> a narcotic action leading to loss of mental functions and consciousness; excess of carbon dioxide increases the narcotic action of nitrogen; excess of oxygen can lead to convulsions and death. </a:t>
            </a:r>
          </a:p>
          <a:p>
            <a:r>
              <a:rPr lang="en-US" dirty="0"/>
              <a:t>When the person comes up to the surface, the gases which are dissolved in the blood under pressure are released and cause air embolism, the effects of which are fatal.</a:t>
            </a:r>
          </a:p>
          <a:p>
            <a:r>
              <a:rPr lang="en-US" dirty="0"/>
              <a:t> The effects of increased pressure are best observed in persons working in diving bells and compressed air chambers (Caisson disease).</a:t>
            </a:r>
            <a:endParaRPr lang="en-IN" dirty="0"/>
          </a:p>
        </p:txBody>
      </p:sp>
    </p:spTree>
    <p:extLst>
      <p:ext uri="{BB962C8B-B14F-4D97-AF65-F5344CB8AC3E}">
        <p14:creationId xmlns:p14="http://schemas.microsoft.com/office/powerpoint/2010/main" val="538887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32AA-BBFC-5E03-83EB-51228DE57E8D}"/>
              </a:ext>
            </a:extLst>
          </p:cNvPr>
          <p:cNvSpPr>
            <a:spLocks noGrp="1"/>
          </p:cNvSpPr>
          <p:nvPr>
            <p:ph type="title"/>
          </p:nvPr>
        </p:nvSpPr>
        <p:spPr/>
        <p:txBody>
          <a:bodyPr/>
          <a:lstStyle/>
          <a:p>
            <a:r>
              <a:rPr lang="en-US" b="1" dirty="0"/>
              <a:t>AIR TEMPERATURE</a:t>
            </a:r>
            <a:endParaRPr lang="en-IN" b="1" dirty="0"/>
          </a:p>
        </p:txBody>
      </p:sp>
      <p:sp>
        <p:nvSpPr>
          <p:cNvPr id="3" name="Content Placeholder 2">
            <a:extLst>
              <a:ext uri="{FF2B5EF4-FFF2-40B4-BE49-F238E27FC236}">
                <a16:creationId xmlns:a16="http://schemas.microsoft.com/office/drawing/2014/main" id="{702608F9-AAF0-9556-C889-4C96A72D02FC}"/>
              </a:ext>
            </a:extLst>
          </p:cNvPr>
          <p:cNvSpPr>
            <a:spLocks noGrp="1"/>
          </p:cNvSpPr>
          <p:nvPr>
            <p:ph idx="1"/>
          </p:nvPr>
        </p:nvSpPr>
        <p:spPr/>
        <p:txBody>
          <a:bodyPr/>
          <a:lstStyle/>
          <a:p>
            <a:r>
              <a:rPr lang="en-US" dirty="0"/>
              <a:t>The temperature of air varies in different parts of the day and also in the different seasons.</a:t>
            </a:r>
          </a:p>
          <a:p>
            <a:r>
              <a:rPr lang="en-US" dirty="0"/>
              <a:t> The factors which influence the temperature are :</a:t>
            </a:r>
          </a:p>
          <a:p>
            <a:pPr lvl="1"/>
            <a:r>
              <a:rPr lang="en-US" dirty="0"/>
              <a:t>Latitude of the place</a:t>
            </a:r>
          </a:p>
          <a:p>
            <a:pPr lvl="1"/>
            <a:r>
              <a:rPr lang="en-US" dirty="0"/>
              <a:t>Altitude</a:t>
            </a:r>
          </a:p>
          <a:p>
            <a:pPr lvl="1"/>
            <a:r>
              <a:rPr lang="en-US" dirty="0"/>
              <a:t>Direction of wind </a:t>
            </a:r>
          </a:p>
          <a:p>
            <a:pPr lvl="1"/>
            <a:r>
              <a:rPr lang="en-US" dirty="0"/>
              <a:t>Proximity to sea </a:t>
            </a:r>
          </a:p>
          <a:p>
            <a:r>
              <a:rPr lang="en-US" dirty="0"/>
              <a:t>The temperature of the ground surface is always higher than that of the air.</a:t>
            </a:r>
            <a:endParaRPr lang="en-IN" dirty="0"/>
          </a:p>
        </p:txBody>
      </p:sp>
    </p:spTree>
    <p:extLst>
      <p:ext uri="{BB962C8B-B14F-4D97-AF65-F5344CB8AC3E}">
        <p14:creationId xmlns:p14="http://schemas.microsoft.com/office/powerpoint/2010/main" val="673427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CB439-A887-6912-EA90-EAA041150356}"/>
              </a:ext>
            </a:extLst>
          </p:cNvPr>
          <p:cNvSpPr>
            <a:spLocks noGrp="1"/>
          </p:cNvSpPr>
          <p:nvPr>
            <p:ph type="title"/>
          </p:nvPr>
        </p:nvSpPr>
        <p:spPr>
          <a:xfrm>
            <a:off x="838200" y="70618"/>
            <a:ext cx="10515600" cy="1325563"/>
          </a:xfrm>
        </p:spPr>
        <p:txBody>
          <a:bodyPr/>
          <a:lstStyle/>
          <a:p>
            <a:r>
              <a:rPr lang="en-US" b="1" dirty="0"/>
              <a:t>MEASUREMENT</a:t>
            </a:r>
            <a:endParaRPr lang="en-IN" b="1" dirty="0"/>
          </a:p>
        </p:txBody>
      </p:sp>
      <p:sp>
        <p:nvSpPr>
          <p:cNvPr id="3" name="Content Placeholder 2">
            <a:extLst>
              <a:ext uri="{FF2B5EF4-FFF2-40B4-BE49-F238E27FC236}">
                <a16:creationId xmlns:a16="http://schemas.microsoft.com/office/drawing/2014/main" id="{2F9DD97C-1BB0-9032-3F25-1C1C34A07724}"/>
              </a:ext>
            </a:extLst>
          </p:cNvPr>
          <p:cNvSpPr>
            <a:spLocks noGrp="1"/>
          </p:cNvSpPr>
          <p:nvPr>
            <p:ph idx="1"/>
          </p:nvPr>
        </p:nvSpPr>
        <p:spPr>
          <a:xfrm>
            <a:off x="838200" y="1396181"/>
            <a:ext cx="10515600" cy="4780782"/>
          </a:xfrm>
        </p:spPr>
        <p:txBody>
          <a:bodyPr>
            <a:normAutofit/>
          </a:bodyPr>
          <a:lstStyle/>
          <a:p>
            <a:r>
              <a:rPr lang="en-US" dirty="0"/>
              <a:t>Thermometers are instruments used for measuring temperature.</a:t>
            </a:r>
          </a:p>
          <a:p>
            <a:r>
              <a:rPr lang="en-US" dirty="0"/>
              <a:t> Mercury thermometers are widely used, as mercury boils at a high temperature, has a regular expansion an its level can be easily seen.</a:t>
            </a:r>
          </a:p>
          <a:p>
            <a:r>
              <a:rPr lang="en-US" dirty="0"/>
              <a:t> Alcohol thermometers are a so used, alcohol has the advantage of not solidifying even at the lowest known temperature. </a:t>
            </a:r>
          </a:p>
        </p:txBody>
      </p:sp>
    </p:spTree>
    <p:extLst>
      <p:ext uri="{BB962C8B-B14F-4D97-AF65-F5344CB8AC3E}">
        <p14:creationId xmlns:p14="http://schemas.microsoft.com/office/powerpoint/2010/main" val="114924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7FAB377-90A0-2F79-768B-8AACE2FFA8ED}"/>
              </a:ext>
            </a:extLst>
          </p:cNvPr>
          <p:cNvSpPr>
            <a:spLocks noGrp="1"/>
          </p:cNvSpPr>
          <p:nvPr>
            <p:ph idx="1"/>
          </p:nvPr>
        </p:nvSpPr>
        <p:spPr>
          <a:xfrm>
            <a:off x="304800" y="228600"/>
            <a:ext cx="5791197" cy="6011479"/>
          </a:xfrm>
        </p:spPr>
        <p:txBody>
          <a:bodyPr anchor="ctr">
            <a:normAutofit/>
          </a:bodyPr>
          <a:lstStyle/>
          <a:p>
            <a:r>
              <a:rPr lang="en-US" dirty="0"/>
              <a:t>The essential condition for the use of the thermometers are that:- </a:t>
            </a:r>
          </a:p>
          <a:p>
            <a:r>
              <a:rPr lang="en-US" dirty="0"/>
              <a:t>(1) The air should have free access to the bulbs of the thermometers </a:t>
            </a:r>
          </a:p>
          <a:p>
            <a:r>
              <a:rPr lang="en-US" dirty="0"/>
              <a:t>(2) The thermometer should be protected against radiant heat. </a:t>
            </a:r>
          </a:p>
          <a:p>
            <a:r>
              <a:rPr lang="en-US" dirty="0"/>
              <a:t>These conditions are fulfilled by mounting the thermometers on a special approved screen called the “Stevenson Screen" which is used in all the </a:t>
            </a:r>
            <a:r>
              <a:rPr lang="en-US" dirty="0" err="1"/>
              <a:t>meteorologies</a:t>
            </a:r>
            <a:r>
              <a:rPr lang="en-US" dirty="0"/>
              <a:t> observatories in India.</a:t>
            </a:r>
            <a:endParaRPr lang="en-IN" dirty="0"/>
          </a:p>
          <a:p>
            <a:endParaRPr lang="en-IN" dirty="0"/>
          </a:p>
        </p:txBody>
      </p:sp>
      <p:pic>
        <p:nvPicPr>
          <p:cNvPr id="3074" name="Picture 2" descr="Stevenson Screen, For Laboratory at Rs 10500/piece in New Delhi | ID ...">
            <a:extLst>
              <a:ext uri="{FF2B5EF4-FFF2-40B4-BE49-F238E27FC236}">
                <a16:creationId xmlns:a16="http://schemas.microsoft.com/office/drawing/2014/main" id="{96001DF7-949A-9B31-80D7-7235FFC5F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023" r="13367"/>
          <a:stretch/>
        </p:blipFill>
        <p:spPr bwMode="auto">
          <a:xfrm>
            <a:off x="6857797" y="-10886"/>
            <a:ext cx="5334204" cy="6868886"/>
          </a:xfrm>
          <a:prstGeom prst="rect">
            <a:avLst/>
          </a:prstGeom>
          <a:noFill/>
          <a:effectLst>
            <a:outerShdw blurRad="127000" dist="50800" dir="10800000" sx="99000" sy="99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70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3E18D20E-8818-D8DB-C8E1-6E14FCAAF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023" r="12413"/>
          <a:stretch/>
        </p:blipFill>
        <p:spPr bwMode="auto">
          <a:xfrm>
            <a:off x="-1" y="-2"/>
            <a:ext cx="5410198"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4105" name="Rectangle 410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DF4F49-14FF-0F3F-B6F4-E1CFA1A178F0}"/>
              </a:ext>
            </a:extLst>
          </p:cNvPr>
          <p:cNvSpPr>
            <a:spLocks noGrp="1"/>
          </p:cNvSpPr>
          <p:nvPr>
            <p:ph type="title"/>
          </p:nvPr>
        </p:nvSpPr>
        <p:spPr>
          <a:xfrm>
            <a:off x="6115317" y="405685"/>
            <a:ext cx="5464968" cy="1559301"/>
          </a:xfrm>
        </p:spPr>
        <p:txBody>
          <a:bodyPr>
            <a:normAutofit/>
          </a:bodyPr>
          <a:lstStyle/>
          <a:p>
            <a:r>
              <a:rPr lang="en-US" sz="4000" b="1"/>
              <a:t>Dry bulb thermometer</a:t>
            </a:r>
            <a:endParaRPr lang="en-IN" sz="4000" b="1"/>
          </a:p>
        </p:txBody>
      </p:sp>
      <p:sp>
        <p:nvSpPr>
          <p:cNvPr id="3" name="Content Placeholder 2">
            <a:extLst>
              <a:ext uri="{FF2B5EF4-FFF2-40B4-BE49-F238E27FC236}">
                <a16:creationId xmlns:a16="http://schemas.microsoft.com/office/drawing/2014/main" id="{F6B793A3-FDF2-0859-F953-814CDCCC7BEE}"/>
              </a:ext>
            </a:extLst>
          </p:cNvPr>
          <p:cNvSpPr>
            <a:spLocks noGrp="1"/>
          </p:cNvSpPr>
          <p:nvPr>
            <p:ph idx="1"/>
          </p:nvPr>
        </p:nvSpPr>
        <p:spPr>
          <a:xfrm>
            <a:off x="6115317" y="2743200"/>
            <a:ext cx="5247340" cy="3496878"/>
          </a:xfrm>
        </p:spPr>
        <p:txBody>
          <a:bodyPr anchor="ctr">
            <a:normAutofit/>
          </a:bodyPr>
          <a:lstStyle/>
          <a:p>
            <a:r>
              <a:rPr lang="en-US" sz="2000" dirty="0"/>
              <a:t>This is an ordinary thermometer which measures the air temperature. For accurate readings, it is mounted on the ‘Stevenson Screen , at a height of 1.20 to 1.80 m above the ground level. </a:t>
            </a:r>
          </a:p>
          <a:p>
            <a:r>
              <a:rPr lang="en-US" sz="2000" dirty="0"/>
              <a:t>The screen protects against radiant heat, direct sun and rain.</a:t>
            </a:r>
            <a:endParaRPr lang="en-IN" sz="2000" dirty="0"/>
          </a:p>
        </p:txBody>
      </p:sp>
    </p:spTree>
    <p:extLst>
      <p:ext uri="{BB962C8B-B14F-4D97-AF65-F5344CB8AC3E}">
        <p14:creationId xmlns:p14="http://schemas.microsoft.com/office/powerpoint/2010/main" val="1110359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C4AA4-4256-2B94-EF83-40409ECCC5BB}"/>
              </a:ext>
            </a:extLst>
          </p:cNvPr>
          <p:cNvSpPr>
            <a:spLocks noGrp="1"/>
          </p:cNvSpPr>
          <p:nvPr>
            <p:ph type="title"/>
          </p:nvPr>
        </p:nvSpPr>
        <p:spPr/>
        <p:txBody>
          <a:bodyPr/>
          <a:lstStyle/>
          <a:p>
            <a:r>
              <a:rPr lang="en-US" b="1" dirty="0"/>
              <a:t>Wet bulb thermometer</a:t>
            </a:r>
            <a:endParaRPr lang="en-IN" b="1" dirty="0"/>
          </a:p>
        </p:txBody>
      </p:sp>
      <p:sp>
        <p:nvSpPr>
          <p:cNvPr id="3" name="Content Placeholder 2">
            <a:extLst>
              <a:ext uri="{FF2B5EF4-FFF2-40B4-BE49-F238E27FC236}">
                <a16:creationId xmlns:a16="http://schemas.microsoft.com/office/drawing/2014/main" id="{C218977C-7259-90C3-9716-652A209B3294}"/>
              </a:ext>
            </a:extLst>
          </p:cNvPr>
          <p:cNvSpPr>
            <a:spLocks noGrp="1"/>
          </p:cNvSpPr>
          <p:nvPr>
            <p:ph idx="1"/>
          </p:nvPr>
        </p:nvSpPr>
        <p:spPr>
          <a:xfrm>
            <a:off x="838200" y="1690688"/>
            <a:ext cx="10515600" cy="4802187"/>
          </a:xfrm>
        </p:spPr>
        <p:txBody>
          <a:bodyPr>
            <a:normAutofit/>
          </a:bodyPr>
          <a:lstStyle/>
          <a:p>
            <a:r>
              <a:rPr lang="en-US" dirty="0"/>
              <a:t>The wet bulb thermometer is precisely the same as the dry bulb thermometer excepting that the bulb is kept wet by a muslin cloth fed by water from a bottle through a wick. </a:t>
            </a:r>
          </a:p>
          <a:p>
            <a:r>
              <a:rPr lang="en-US" dirty="0"/>
              <a:t>The evaporation of water from the muslin cloth lowers the temperature of the mercury. </a:t>
            </a:r>
          </a:p>
          <a:p>
            <a:r>
              <a:rPr lang="en-US" dirty="0"/>
              <a:t>The wet bulb thermometer therefore shows a lower temperature reading than the dry bulb thermometer. </a:t>
            </a:r>
          </a:p>
          <a:p>
            <a:r>
              <a:rPr lang="en-US" dirty="0"/>
              <a:t>The drier the air, the lower the wet bulb reading. </a:t>
            </a:r>
          </a:p>
          <a:p>
            <a:r>
              <a:rPr lang="en-US" dirty="0"/>
              <a:t>If the wet and dry bulb thermometers record the same temperature, it means that the air is completely saturated with moisture, which is rare.</a:t>
            </a:r>
            <a:endParaRPr lang="en-IN" dirty="0"/>
          </a:p>
        </p:txBody>
      </p:sp>
    </p:spTree>
    <p:extLst>
      <p:ext uri="{BB962C8B-B14F-4D97-AF65-F5344CB8AC3E}">
        <p14:creationId xmlns:p14="http://schemas.microsoft.com/office/powerpoint/2010/main" val="1843854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a:extLst>
              <a:ext uri="{FF2B5EF4-FFF2-40B4-BE49-F238E27FC236}">
                <a16:creationId xmlns:a16="http://schemas.microsoft.com/office/drawing/2014/main" id="{9FFD4A2C-9338-16F8-6A71-DB2DBC547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691"/>
          <a:stretch/>
        </p:blipFill>
        <p:spPr bwMode="auto">
          <a:xfrm>
            <a:off x="-1" y="-2"/>
            <a:ext cx="5410198"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5131" name="Rectangle 513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462050-FDBD-45DE-A5C6-5B69A092F340}"/>
              </a:ext>
            </a:extLst>
          </p:cNvPr>
          <p:cNvSpPr>
            <a:spLocks noGrp="1"/>
          </p:cNvSpPr>
          <p:nvPr>
            <p:ph idx="1"/>
          </p:nvPr>
        </p:nvSpPr>
        <p:spPr>
          <a:xfrm>
            <a:off x="6115317" y="533400"/>
            <a:ext cx="5247340" cy="5706678"/>
          </a:xfrm>
        </p:spPr>
        <p:txBody>
          <a:bodyPr anchor="ctr">
            <a:normAutofit/>
          </a:bodyPr>
          <a:lstStyle/>
          <a:p>
            <a:r>
              <a:rPr lang="en-US" sz="2000" b="1" dirty="0"/>
              <a:t>Maximum thermometer: </a:t>
            </a:r>
            <a:r>
              <a:rPr lang="en-US" sz="2000" dirty="0"/>
              <a:t>This is a mercury thermometer so designed that there is a very fine constriction near the neck of the bulb. </a:t>
            </a:r>
          </a:p>
          <a:p>
            <a:r>
              <a:rPr lang="en-US" sz="2000" dirty="0"/>
              <a:t>When the temperature rises, mercury expands; when the temperature falls, mercury cannot get back into the bulb. The end of the mercury thread at the distal end gives the maximum temperature reached. </a:t>
            </a:r>
          </a:p>
          <a:p>
            <a:r>
              <a:rPr lang="en-US" sz="2000" b="1" dirty="0"/>
              <a:t>Minimum thermometer: </a:t>
            </a:r>
            <a:r>
              <a:rPr lang="en-US" sz="2000" dirty="0"/>
              <a:t>The liquid inside the minimum thermometer is spirit, in which is immersed a dumb-bell shaped index. </a:t>
            </a:r>
          </a:p>
          <a:p>
            <a:r>
              <a:rPr lang="en-US" sz="2000" dirty="0"/>
              <a:t>When the temperature falls, the spirit drags the index towards the bulb end; when the temperature rises, the spirit expands and runs past the index.</a:t>
            </a:r>
            <a:endParaRPr lang="en-IN" sz="2000" dirty="0"/>
          </a:p>
        </p:txBody>
      </p:sp>
    </p:spTree>
    <p:extLst>
      <p:ext uri="{BB962C8B-B14F-4D97-AF65-F5344CB8AC3E}">
        <p14:creationId xmlns:p14="http://schemas.microsoft.com/office/powerpoint/2010/main" val="276165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Freeform: Shape 6152">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61C136-D041-D158-C5EB-9A6D7A1909A9}"/>
              </a:ext>
            </a:extLst>
          </p:cNvPr>
          <p:cNvSpPr>
            <a:spLocks noGrp="1"/>
          </p:cNvSpPr>
          <p:nvPr>
            <p:ph type="title"/>
          </p:nvPr>
        </p:nvSpPr>
        <p:spPr>
          <a:xfrm>
            <a:off x="1137034" y="609600"/>
            <a:ext cx="6881026" cy="1322887"/>
          </a:xfrm>
        </p:spPr>
        <p:txBody>
          <a:bodyPr>
            <a:normAutofit/>
          </a:bodyPr>
          <a:lstStyle/>
          <a:p>
            <a:r>
              <a:rPr lang="en-US" b="1" dirty="0"/>
              <a:t>Globe thermometer</a:t>
            </a:r>
            <a:endParaRPr lang="en-IN" b="1" dirty="0"/>
          </a:p>
        </p:txBody>
      </p:sp>
      <p:sp>
        <p:nvSpPr>
          <p:cNvPr id="3" name="Content Placeholder 2">
            <a:extLst>
              <a:ext uri="{FF2B5EF4-FFF2-40B4-BE49-F238E27FC236}">
                <a16:creationId xmlns:a16="http://schemas.microsoft.com/office/drawing/2014/main" id="{18D16C28-322A-DEA3-0F18-290791ECFB3A}"/>
              </a:ext>
            </a:extLst>
          </p:cNvPr>
          <p:cNvSpPr>
            <a:spLocks noGrp="1"/>
          </p:cNvSpPr>
          <p:nvPr>
            <p:ph idx="1"/>
          </p:nvPr>
        </p:nvSpPr>
        <p:spPr>
          <a:xfrm>
            <a:off x="108858" y="2194102"/>
            <a:ext cx="7602128" cy="4402641"/>
          </a:xfrm>
        </p:spPr>
        <p:txBody>
          <a:bodyPr>
            <a:normAutofit/>
          </a:bodyPr>
          <a:lstStyle/>
          <a:p>
            <a:r>
              <a:rPr lang="en-US" sz="2000" dirty="0"/>
              <a:t>The globe thermometer is used for the direct measurement of the mean radiant temperature of the surroundings. </a:t>
            </a:r>
          </a:p>
          <a:p>
            <a:r>
              <a:rPr lang="en-US" sz="2000" dirty="0"/>
              <a:t>The instrument consists of a hollow copper bulb 6 inches (15 cm) in diameter and is coated on the outside with matt black paint which absorbs the radiant heat from the surrounding objects. </a:t>
            </a:r>
          </a:p>
          <a:p>
            <a:r>
              <a:rPr lang="en-US" sz="2000" dirty="0"/>
              <a:t>A specially calibrated mercury thermometer is inserted, with its bulb at the center of the globe. </a:t>
            </a:r>
          </a:p>
          <a:p>
            <a:r>
              <a:rPr lang="en-US" sz="2000" dirty="0"/>
              <a:t>The globe thermometer registers a higher temperature than the ordinary air temperature thermometer because it is affected both by the air temperature and radiant heat. </a:t>
            </a:r>
          </a:p>
          <a:p>
            <a:r>
              <a:rPr lang="en-US" sz="2000" dirty="0"/>
              <a:t>The difference between the globe thermometer temperature and that of the ordinary dry bulb is a measure o the radiant heat.</a:t>
            </a:r>
            <a:endParaRPr lang="en-IN" sz="2000" dirty="0"/>
          </a:p>
        </p:txBody>
      </p:sp>
      <p:pic>
        <p:nvPicPr>
          <p:cNvPr id="6146" name="Picture 2">
            <a:extLst>
              <a:ext uri="{FF2B5EF4-FFF2-40B4-BE49-F238E27FC236}">
                <a16:creationId xmlns:a16="http://schemas.microsoft.com/office/drawing/2014/main" id="{F8AC377D-9E91-429D-8DA0-EE00087F63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002641" y="846160"/>
            <a:ext cx="2493653" cy="5195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92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46D8-5894-E82C-23C1-25B918AA7C22}"/>
              </a:ext>
            </a:extLst>
          </p:cNvPr>
          <p:cNvSpPr>
            <a:spLocks noGrp="1"/>
          </p:cNvSpPr>
          <p:nvPr>
            <p:ph type="title"/>
          </p:nvPr>
        </p:nvSpPr>
        <p:spPr/>
        <p:txBody>
          <a:bodyPr/>
          <a:lstStyle/>
          <a:p>
            <a:r>
              <a:rPr lang="en-US" b="1" dirty="0"/>
              <a:t>Wet globe thermometer</a:t>
            </a:r>
            <a:endParaRPr lang="en-IN" b="1" dirty="0"/>
          </a:p>
        </p:txBody>
      </p:sp>
      <p:sp>
        <p:nvSpPr>
          <p:cNvPr id="3" name="Content Placeholder 2">
            <a:extLst>
              <a:ext uri="{FF2B5EF4-FFF2-40B4-BE49-F238E27FC236}">
                <a16:creationId xmlns:a16="http://schemas.microsoft.com/office/drawing/2014/main" id="{5CEA29FC-DE76-6F55-9478-C97895690AA9}"/>
              </a:ext>
            </a:extLst>
          </p:cNvPr>
          <p:cNvSpPr>
            <a:spLocks noGrp="1"/>
          </p:cNvSpPr>
          <p:nvPr>
            <p:ph idx="1"/>
          </p:nvPr>
        </p:nvSpPr>
        <p:spPr/>
        <p:txBody>
          <a:bodyPr/>
          <a:lstStyle/>
          <a:p>
            <a:r>
              <a:rPr lang="en-US" dirty="0"/>
              <a:t>This instrument is designed for environmental heat measurement. </a:t>
            </a:r>
          </a:p>
          <a:p>
            <a:r>
              <a:rPr lang="en-US" dirty="0"/>
              <a:t>It consists of a dial thermometer with the heat sensing portion enclosed by a blackened copper sphere that is completely covered with wet black cloth. </a:t>
            </a:r>
          </a:p>
          <a:p>
            <a:r>
              <a:rPr lang="en-US" dirty="0"/>
              <a:t>The Wet Globe exchanges heat with the surroundings by conduction, convection, evaporation and radiation similar to the way a perspiring man does, so the equilibrium temperature of the globe provides a comprehensive measure of the cooling capacity of the work environment.</a:t>
            </a:r>
            <a:endParaRPr lang="en-IN" dirty="0"/>
          </a:p>
        </p:txBody>
      </p:sp>
    </p:spTree>
    <p:extLst>
      <p:ext uri="{BB962C8B-B14F-4D97-AF65-F5344CB8AC3E}">
        <p14:creationId xmlns:p14="http://schemas.microsoft.com/office/powerpoint/2010/main" val="3694202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Freeform: Shape 7176">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A9FCA7E-111C-E034-1572-80B341F9A9C2}"/>
              </a:ext>
            </a:extLst>
          </p:cNvPr>
          <p:cNvSpPr>
            <a:spLocks noGrp="1"/>
          </p:cNvSpPr>
          <p:nvPr>
            <p:ph type="title"/>
          </p:nvPr>
        </p:nvSpPr>
        <p:spPr>
          <a:xfrm>
            <a:off x="1137034" y="609600"/>
            <a:ext cx="6881026" cy="1322887"/>
          </a:xfrm>
        </p:spPr>
        <p:txBody>
          <a:bodyPr>
            <a:normAutofit/>
          </a:bodyPr>
          <a:lstStyle/>
          <a:p>
            <a:r>
              <a:rPr lang="en-US" dirty="0"/>
              <a:t>Kata thermometer</a:t>
            </a:r>
            <a:endParaRPr lang="en-IN" dirty="0"/>
          </a:p>
        </p:txBody>
      </p:sp>
      <p:sp>
        <p:nvSpPr>
          <p:cNvPr id="3" name="Content Placeholder 2">
            <a:extLst>
              <a:ext uri="{FF2B5EF4-FFF2-40B4-BE49-F238E27FC236}">
                <a16:creationId xmlns:a16="http://schemas.microsoft.com/office/drawing/2014/main" id="{86DCFACA-0D83-FF4B-9918-D05C7E896701}"/>
              </a:ext>
            </a:extLst>
          </p:cNvPr>
          <p:cNvSpPr>
            <a:spLocks noGrp="1"/>
          </p:cNvSpPr>
          <p:nvPr>
            <p:ph idx="1"/>
          </p:nvPr>
        </p:nvSpPr>
        <p:spPr>
          <a:xfrm>
            <a:off x="0" y="1691640"/>
            <a:ext cx="7710985" cy="4411047"/>
          </a:xfrm>
        </p:spPr>
        <p:txBody>
          <a:bodyPr>
            <a:normAutofit/>
          </a:bodyPr>
          <a:lstStyle/>
          <a:p>
            <a:r>
              <a:rPr lang="en-US" dirty="0"/>
              <a:t>The word “kata” is a Greek word meaning “down”. </a:t>
            </a:r>
          </a:p>
          <a:p>
            <a:r>
              <a:rPr lang="en-US" dirty="0"/>
              <a:t>The Kata thermometer is an alcohol thermometer with a glass bulb 4 cm long and 1.8 cm in diameter.</a:t>
            </a:r>
          </a:p>
          <a:p>
            <a:r>
              <a:rPr lang="en-US" dirty="0"/>
              <a:t>The readings on the stem are marked from 100 deg. to 95 </a:t>
            </a:r>
            <a:r>
              <a:rPr lang="en-US" dirty="0" err="1"/>
              <a:t>deg.F</a:t>
            </a:r>
            <a:r>
              <a:rPr lang="en-US" dirty="0"/>
              <a:t>.</a:t>
            </a:r>
          </a:p>
          <a:p>
            <a:r>
              <a:rPr lang="en-US" dirty="0"/>
              <a:t> Two instruments are used, the bulb of one is covered with a wet muslin cloth, the wet kata and the other dry kata. </a:t>
            </a:r>
          </a:p>
        </p:txBody>
      </p:sp>
      <p:pic>
        <p:nvPicPr>
          <p:cNvPr id="7170" name="Picture 2" descr="NMC Analogue Thermometers Kata Thermometer, for Hospital at Rs 1000 ...">
            <a:extLst>
              <a:ext uri="{FF2B5EF4-FFF2-40B4-BE49-F238E27FC236}">
                <a16:creationId xmlns:a16="http://schemas.microsoft.com/office/drawing/2014/main" id="{19F73B99-0A10-243F-4006-38C7F2AA1C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95981" y="1990229"/>
            <a:ext cx="2906973" cy="290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384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CA7E-111C-E034-1572-80B341F9A9C2}"/>
              </a:ext>
            </a:extLst>
          </p:cNvPr>
          <p:cNvSpPr>
            <a:spLocks noGrp="1"/>
          </p:cNvSpPr>
          <p:nvPr>
            <p:ph type="title"/>
          </p:nvPr>
        </p:nvSpPr>
        <p:spPr>
          <a:xfrm>
            <a:off x="1137034" y="609600"/>
            <a:ext cx="6881026" cy="1322887"/>
          </a:xfrm>
        </p:spPr>
        <p:txBody>
          <a:bodyPr>
            <a:normAutofit/>
          </a:bodyPr>
          <a:lstStyle/>
          <a:p>
            <a:r>
              <a:rPr lang="en-US" dirty="0"/>
              <a:t>Kata thermometer</a:t>
            </a:r>
            <a:endParaRPr lang="en-IN" dirty="0"/>
          </a:p>
        </p:txBody>
      </p:sp>
      <p:sp>
        <p:nvSpPr>
          <p:cNvPr id="3" name="Content Placeholder 2">
            <a:extLst>
              <a:ext uri="{FF2B5EF4-FFF2-40B4-BE49-F238E27FC236}">
                <a16:creationId xmlns:a16="http://schemas.microsoft.com/office/drawing/2014/main" id="{86DCFACA-0D83-FF4B-9918-D05C7E896701}"/>
              </a:ext>
            </a:extLst>
          </p:cNvPr>
          <p:cNvSpPr>
            <a:spLocks noGrp="1"/>
          </p:cNvSpPr>
          <p:nvPr>
            <p:ph idx="1"/>
          </p:nvPr>
        </p:nvSpPr>
        <p:spPr>
          <a:xfrm>
            <a:off x="365760" y="1703070"/>
            <a:ext cx="7345225" cy="4399617"/>
          </a:xfrm>
        </p:spPr>
        <p:txBody>
          <a:bodyPr>
            <a:normAutofit/>
          </a:bodyPr>
          <a:lstStyle/>
          <a:p>
            <a:r>
              <a:rPr lang="en-US" sz="2000" dirty="0"/>
              <a:t>Before taking the readings, the bulbs are immersed in hot water to warm them slightly above 130 deg. F, when the alcohol rises into a small reservoir at the top of the instrument. </a:t>
            </a:r>
          </a:p>
          <a:p>
            <a:r>
              <a:rPr lang="en-US" sz="2000" dirty="0"/>
              <a:t>The bulb of the dry Kata is wiped dry. </a:t>
            </a:r>
          </a:p>
          <a:p>
            <a:r>
              <a:rPr lang="en-US" sz="2000" dirty="0"/>
              <a:t>Then both the instruments are suspended in air at the point of observation. The time in seconds required for the spirit to fall from 100 deg. to 95 </a:t>
            </a:r>
            <a:r>
              <a:rPr lang="en-US" sz="2000" dirty="0" err="1"/>
              <a:t>deg.F</a:t>
            </a:r>
            <a:r>
              <a:rPr lang="en-US" sz="2000" dirty="0"/>
              <a:t> is noted with a stop watch. This is repeated at least 4 times. </a:t>
            </a:r>
          </a:p>
          <a:p>
            <a:r>
              <a:rPr lang="en-US" sz="2000" dirty="0"/>
              <a:t>The first reading is discarded and the average of the last three is taken. The length of time depends upon the “cooling power” of the air. Each Kata has a “factor” called the Kata Factor marked on the stem.</a:t>
            </a:r>
            <a:endParaRPr lang="en-IN" sz="2000" dirty="0"/>
          </a:p>
        </p:txBody>
      </p:sp>
      <p:pic>
        <p:nvPicPr>
          <p:cNvPr id="7170" name="Picture 2" descr="NMC Analogue Thermometers Kata Thermometer, for Hospital at Rs 1000 ...">
            <a:extLst>
              <a:ext uri="{FF2B5EF4-FFF2-40B4-BE49-F238E27FC236}">
                <a16:creationId xmlns:a16="http://schemas.microsoft.com/office/drawing/2014/main" id="{19F73B99-0A10-243F-4006-38C7F2AA1C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95981" y="1990229"/>
            <a:ext cx="2906973" cy="290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858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DC8E-6E07-BC3B-7D96-5520FC284C17}"/>
              </a:ext>
            </a:extLst>
          </p:cNvPr>
          <p:cNvSpPr>
            <a:spLocks noGrp="1"/>
          </p:cNvSpPr>
          <p:nvPr>
            <p:ph type="title"/>
          </p:nvPr>
        </p:nvSpPr>
        <p:spPr/>
        <p:txBody>
          <a:bodyPr/>
          <a:lstStyle/>
          <a:p>
            <a:r>
              <a:rPr lang="en-US" b="1" dirty="0"/>
              <a:t>Heat stress indices</a:t>
            </a:r>
            <a:endParaRPr lang="en-IN" b="1" dirty="0"/>
          </a:p>
        </p:txBody>
      </p:sp>
      <p:sp>
        <p:nvSpPr>
          <p:cNvPr id="3" name="Content Placeholder 2">
            <a:extLst>
              <a:ext uri="{FF2B5EF4-FFF2-40B4-BE49-F238E27FC236}">
                <a16:creationId xmlns:a16="http://schemas.microsoft.com/office/drawing/2014/main" id="{429A38A3-FF5F-D803-634C-445C2B733DDB}"/>
              </a:ext>
            </a:extLst>
          </p:cNvPr>
          <p:cNvSpPr>
            <a:spLocks noGrp="1"/>
          </p:cNvSpPr>
          <p:nvPr>
            <p:ph idx="1"/>
          </p:nvPr>
        </p:nvSpPr>
        <p:spPr/>
        <p:txBody>
          <a:bodyPr>
            <a:normAutofit fontScale="92500" lnSpcReduction="20000"/>
          </a:bodyPr>
          <a:lstStyle/>
          <a:p>
            <a:r>
              <a:rPr lang="en-US" dirty="0"/>
              <a:t>Heat stress is the burden or load of heat that must be dissipated if the body is to remain in thermal equilibrium. </a:t>
            </a:r>
          </a:p>
          <a:p>
            <a:r>
              <a:rPr lang="en-US" dirty="0"/>
              <a:t>The factors which influence heat stress are metabolic rate, air temperature, humidity, air movement and radiant temperature.</a:t>
            </a:r>
          </a:p>
          <a:p>
            <a:r>
              <a:rPr lang="en-US" dirty="0"/>
              <a:t> The amount of heat gained by the body must be equaled by the amount of heat lost from it. </a:t>
            </a:r>
          </a:p>
          <a:p>
            <a:r>
              <a:rPr lang="en-US" dirty="0"/>
              <a:t>Many heat stress indices have been devised, but none is adequate to be valid in all possible complexities of work rate, air temperature, air movement, etc. These include : </a:t>
            </a:r>
          </a:p>
          <a:p>
            <a:r>
              <a:rPr lang="en-US" dirty="0"/>
              <a:t>Equatorial Comfort Index</a:t>
            </a:r>
          </a:p>
          <a:p>
            <a:r>
              <a:rPr lang="en-US" dirty="0"/>
              <a:t>Heat Stress Index</a:t>
            </a:r>
          </a:p>
          <a:p>
            <a:r>
              <a:rPr lang="en-US" dirty="0"/>
              <a:t>Predicted Four Hour Sweat Rate (P4SR)</a:t>
            </a:r>
            <a:endParaRPr lang="en-IN" dirty="0"/>
          </a:p>
        </p:txBody>
      </p:sp>
    </p:spTree>
    <p:extLst>
      <p:ext uri="{BB962C8B-B14F-4D97-AF65-F5344CB8AC3E}">
        <p14:creationId xmlns:p14="http://schemas.microsoft.com/office/powerpoint/2010/main" val="3052913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A35DD-D921-E05C-CEB1-43A561970BCA}"/>
              </a:ext>
            </a:extLst>
          </p:cNvPr>
          <p:cNvSpPr>
            <a:spLocks noGrp="1"/>
          </p:cNvSpPr>
          <p:nvPr>
            <p:ph type="title"/>
          </p:nvPr>
        </p:nvSpPr>
        <p:spPr/>
        <p:txBody>
          <a:bodyPr/>
          <a:lstStyle/>
          <a:p>
            <a:r>
              <a:rPr lang="en-US" b="1" dirty="0"/>
              <a:t>Effects of heat stress</a:t>
            </a:r>
            <a:endParaRPr lang="en-IN" b="1" dirty="0"/>
          </a:p>
        </p:txBody>
      </p:sp>
      <p:sp>
        <p:nvSpPr>
          <p:cNvPr id="3" name="Content Placeholder 2">
            <a:extLst>
              <a:ext uri="{FF2B5EF4-FFF2-40B4-BE49-F238E27FC236}">
                <a16:creationId xmlns:a16="http://schemas.microsoft.com/office/drawing/2014/main" id="{858D9ABE-F9CB-ED3A-82E9-8E4A8C4512F8}"/>
              </a:ext>
            </a:extLst>
          </p:cNvPr>
          <p:cNvSpPr>
            <a:spLocks noGrp="1"/>
          </p:cNvSpPr>
          <p:nvPr>
            <p:ph idx="1"/>
          </p:nvPr>
        </p:nvSpPr>
        <p:spPr/>
        <p:txBody>
          <a:bodyPr/>
          <a:lstStyle/>
          <a:p>
            <a:r>
              <a:rPr lang="en-US" dirty="0"/>
              <a:t>As many as 14 disorders resulting from exposure to heat have been recognized and documented. </a:t>
            </a:r>
          </a:p>
          <a:p>
            <a:r>
              <a:rPr lang="en-US" dirty="0"/>
              <a:t>The important ones are:</a:t>
            </a:r>
          </a:p>
          <a:p>
            <a:r>
              <a:rPr lang="en-US" dirty="0"/>
              <a:t>HEAT STROKE</a:t>
            </a:r>
          </a:p>
          <a:p>
            <a:r>
              <a:rPr lang="en-IN" dirty="0"/>
              <a:t>HEAT HYPERPYREXIA </a:t>
            </a:r>
          </a:p>
          <a:p>
            <a:r>
              <a:rPr lang="en-IN" dirty="0"/>
              <a:t>HEAT EXHAUSTION</a:t>
            </a:r>
          </a:p>
          <a:p>
            <a:r>
              <a:rPr lang="en-IN" dirty="0"/>
              <a:t>HEAT CRAMPS </a:t>
            </a:r>
          </a:p>
          <a:p>
            <a:r>
              <a:rPr lang="en-IN" dirty="0"/>
              <a:t>HEAT SYNCOPE</a:t>
            </a:r>
          </a:p>
        </p:txBody>
      </p:sp>
    </p:spTree>
    <p:extLst>
      <p:ext uri="{BB962C8B-B14F-4D97-AF65-F5344CB8AC3E}">
        <p14:creationId xmlns:p14="http://schemas.microsoft.com/office/powerpoint/2010/main" val="2764835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4FDC1F-102B-24EA-F526-1D59D192A407}"/>
              </a:ext>
            </a:extLst>
          </p:cNvPr>
          <p:cNvSpPr>
            <a:spLocks noGrp="1"/>
          </p:cNvSpPr>
          <p:nvPr>
            <p:ph type="title"/>
          </p:nvPr>
        </p:nvSpPr>
        <p:spPr>
          <a:xfrm>
            <a:off x="1137034" y="609600"/>
            <a:ext cx="6881026" cy="1322887"/>
          </a:xfrm>
        </p:spPr>
        <p:txBody>
          <a:bodyPr>
            <a:normAutofit/>
          </a:bodyPr>
          <a:lstStyle/>
          <a:p>
            <a:r>
              <a:rPr lang="en-IN" b="1" dirty="0"/>
              <a:t>PREVENTIVE MEASURES</a:t>
            </a:r>
          </a:p>
        </p:txBody>
      </p:sp>
      <p:sp>
        <p:nvSpPr>
          <p:cNvPr id="3" name="Content Placeholder 2">
            <a:extLst>
              <a:ext uri="{FF2B5EF4-FFF2-40B4-BE49-F238E27FC236}">
                <a16:creationId xmlns:a16="http://schemas.microsoft.com/office/drawing/2014/main" id="{6B80BF92-3324-DC1D-ECD9-2B5D23A4AE8A}"/>
              </a:ext>
            </a:extLst>
          </p:cNvPr>
          <p:cNvSpPr>
            <a:spLocks noGrp="1"/>
          </p:cNvSpPr>
          <p:nvPr>
            <p:ph idx="1"/>
          </p:nvPr>
        </p:nvSpPr>
        <p:spPr>
          <a:xfrm>
            <a:off x="1137034" y="2194102"/>
            <a:ext cx="6573951" cy="3908585"/>
          </a:xfrm>
        </p:spPr>
        <p:txBody>
          <a:bodyPr>
            <a:normAutofit/>
          </a:bodyPr>
          <a:lstStyle/>
          <a:p>
            <a:r>
              <a:rPr lang="en-US" dirty="0"/>
              <a:t>Replacement of water</a:t>
            </a:r>
          </a:p>
          <a:p>
            <a:r>
              <a:rPr lang="en-US" dirty="0"/>
              <a:t>Regulation of work</a:t>
            </a:r>
          </a:p>
          <a:p>
            <a:r>
              <a:rPr lang="en-US" dirty="0"/>
              <a:t>Clothing</a:t>
            </a:r>
          </a:p>
          <a:p>
            <a:r>
              <a:rPr lang="en-US" dirty="0"/>
              <a:t>Protective devices</a:t>
            </a:r>
          </a:p>
          <a:p>
            <a:r>
              <a:rPr lang="en-US" dirty="0"/>
              <a:t>Work Environment</a:t>
            </a:r>
          </a:p>
          <a:p>
            <a:pPr marL="0" indent="0">
              <a:buNone/>
            </a:pPr>
            <a:endParaRPr lang="en-IN" dirty="0"/>
          </a:p>
        </p:txBody>
      </p:sp>
      <p:pic>
        <p:nvPicPr>
          <p:cNvPr id="7" name="Graphic 6" descr="Medical">
            <a:extLst>
              <a:ext uri="{FF2B5EF4-FFF2-40B4-BE49-F238E27FC236}">
                <a16:creationId xmlns:a16="http://schemas.microsoft.com/office/drawing/2014/main" id="{CEA28199-CB36-C367-CBCD-19EE2F7AD0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5981" y="1990229"/>
            <a:ext cx="2906973" cy="2906973"/>
          </a:xfrm>
          <a:prstGeom prst="rect">
            <a:avLst/>
          </a:prstGeom>
        </p:spPr>
      </p:pic>
    </p:spTree>
    <p:extLst>
      <p:ext uri="{BB962C8B-B14F-4D97-AF65-F5344CB8AC3E}">
        <p14:creationId xmlns:p14="http://schemas.microsoft.com/office/powerpoint/2010/main" val="476366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C2E1-25FB-4A19-5A61-CC5DDDBA5D0C}"/>
              </a:ext>
            </a:extLst>
          </p:cNvPr>
          <p:cNvSpPr>
            <a:spLocks noGrp="1"/>
          </p:cNvSpPr>
          <p:nvPr>
            <p:ph type="title"/>
          </p:nvPr>
        </p:nvSpPr>
        <p:spPr>
          <a:xfrm>
            <a:off x="838200" y="56428"/>
            <a:ext cx="10515600" cy="1325563"/>
          </a:xfrm>
        </p:spPr>
        <p:txBody>
          <a:bodyPr/>
          <a:lstStyle/>
          <a:p>
            <a:r>
              <a:rPr lang="en-IN" b="1" dirty="0"/>
              <a:t>Effects of cold stress</a:t>
            </a:r>
          </a:p>
        </p:txBody>
      </p:sp>
      <p:sp>
        <p:nvSpPr>
          <p:cNvPr id="3" name="Content Placeholder 2">
            <a:extLst>
              <a:ext uri="{FF2B5EF4-FFF2-40B4-BE49-F238E27FC236}">
                <a16:creationId xmlns:a16="http://schemas.microsoft.com/office/drawing/2014/main" id="{74840199-C694-D1ED-B406-304FF7C33A14}"/>
              </a:ext>
            </a:extLst>
          </p:cNvPr>
          <p:cNvSpPr>
            <a:spLocks noGrp="1"/>
          </p:cNvSpPr>
          <p:nvPr>
            <p:ph idx="1"/>
          </p:nvPr>
        </p:nvSpPr>
        <p:spPr>
          <a:xfrm>
            <a:off x="838200" y="1381991"/>
            <a:ext cx="10515600" cy="5372100"/>
          </a:xfrm>
        </p:spPr>
        <p:txBody>
          <a:bodyPr>
            <a:normAutofit fontScale="92500" lnSpcReduction="20000"/>
          </a:bodyPr>
          <a:lstStyle/>
          <a:p>
            <a:r>
              <a:rPr lang="en-US" dirty="0"/>
              <a:t>Injury due to cold may be general or local. In general cold injury (hypothermia), the individual is said to be suffering from exposure to cold. </a:t>
            </a:r>
          </a:p>
          <a:p>
            <a:r>
              <a:rPr lang="en-US" dirty="0"/>
              <a:t>This is characterized by numbness, loss of sensation, muscular weakness, desire for sleep, coma and death. </a:t>
            </a:r>
          </a:p>
          <a:p>
            <a:r>
              <a:rPr lang="en-US" dirty="0"/>
              <a:t>Local cold injury may occur at temperatures above freezing (wet-cold conditions) as in immersion or trench foot. </a:t>
            </a:r>
          </a:p>
          <a:p>
            <a:r>
              <a:rPr lang="en-US" dirty="0"/>
              <a:t>At temperatures below freezing (dry-cold conditions) frostbite occurs; the tissues freeze and ice crystals form in between the cells (11). Frostbite is common at high altitudes.</a:t>
            </a:r>
          </a:p>
          <a:p>
            <a:r>
              <a:rPr lang="en-US" dirty="0"/>
              <a:t> It is extremely important to dress for the temperature with which the part will be in contact. </a:t>
            </a:r>
          </a:p>
          <a:p>
            <a:r>
              <a:rPr lang="en-US" dirty="0"/>
              <a:t>The affected part should be warmed using water at 44 deg. C. </a:t>
            </a:r>
          </a:p>
          <a:p>
            <a:r>
              <a:rPr lang="en-US" dirty="0"/>
              <a:t>Warming should last about 20 minutes at a time. </a:t>
            </a:r>
          </a:p>
          <a:p>
            <a:r>
              <a:rPr lang="en-US" dirty="0"/>
              <a:t>Intake of hot fluids promotes general rewarming.</a:t>
            </a:r>
            <a:endParaRPr lang="en-IN" dirty="0"/>
          </a:p>
        </p:txBody>
      </p:sp>
    </p:spTree>
    <p:extLst>
      <p:ext uri="{BB962C8B-B14F-4D97-AF65-F5344CB8AC3E}">
        <p14:creationId xmlns:p14="http://schemas.microsoft.com/office/powerpoint/2010/main" val="3015631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17924-C416-3897-3151-EAB4DF264E11}"/>
              </a:ext>
            </a:extLst>
          </p:cNvPr>
          <p:cNvSpPr>
            <a:spLocks noGrp="1"/>
          </p:cNvSpPr>
          <p:nvPr>
            <p:ph type="title"/>
          </p:nvPr>
        </p:nvSpPr>
        <p:spPr>
          <a:xfrm>
            <a:off x="765464" y="172604"/>
            <a:ext cx="10515600" cy="1016866"/>
          </a:xfrm>
        </p:spPr>
        <p:txBody>
          <a:bodyPr/>
          <a:lstStyle/>
          <a:p>
            <a:r>
              <a:rPr lang="en-US" b="1" dirty="0"/>
              <a:t>Global warming</a:t>
            </a:r>
            <a:endParaRPr lang="en-IN" b="1" dirty="0"/>
          </a:p>
        </p:txBody>
      </p:sp>
      <p:sp>
        <p:nvSpPr>
          <p:cNvPr id="3" name="Content Placeholder 2">
            <a:extLst>
              <a:ext uri="{FF2B5EF4-FFF2-40B4-BE49-F238E27FC236}">
                <a16:creationId xmlns:a16="http://schemas.microsoft.com/office/drawing/2014/main" id="{A86E5EC0-5932-9172-3CC3-A45A2A02BB27}"/>
              </a:ext>
            </a:extLst>
          </p:cNvPr>
          <p:cNvSpPr>
            <a:spLocks noGrp="1"/>
          </p:cNvSpPr>
          <p:nvPr>
            <p:ph idx="1"/>
          </p:nvPr>
        </p:nvSpPr>
        <p:spPr>
          <a:xfrm>
            <a:off x="838200" y="1070264"/>
            <a:ext cx="10515600" cy="5615132"/>
          </a:xfrm>
        </p:spPr>
        <p:txBody>
          <a:bodyPr>
            <a:normAutofit fontScale="92500" lnSpcReduction="20000"/>
          </a:bodyPr>
          <a:lstStyle/>
          <a:p>
            <a:r>
              <a:rPr lang="en-US" dirty="0"/>
              <a:t>Emission of green-house gases into the atmosphere have been increasing ever since the beginning of the industrial revolution. </a:t>
            </a:r>
          </a:p>
          <a:p>
            <a:r>
              <a:rPr lang="en-US" dirty="0"/>
              <a:t>A major component of emission of carbon dioxide is from the combustion of fossil fuels.</a:t>
            </a:r>
          </a:p>
          <a:p>
            <a:r>
              <a:rPr lang="en-US" dirty="0"/>
              <a:t>It is generally conceded that the main effects of this include an increase of about 3°C in the average global surface temperature by the year 2030, a rise in the sea level of 0.1-0.3 meters by 2050, and an increase in the occurrence of extreme climatic events such as cyclones, heatwaves and draughts. </a:t>
            </a:r>
          </a:p>
          <a:p>
            <a:r>
              <a:rPr lang="en-US" dirty="0"/>
              <a:t>The temperature rise could overwhelm the capacity of many species to adapt.</a:t>
            </a:r>
          </a:p>
          <a:p>
            <a:r>
              <a:rPr lang="en-US" dirty="0"/>
              <a:t> A change of this magnitude would affect local, regional and global ecosystem, sea levels and ocean currents, prevailing winds, fresh water supplies, agriculture, forests, fisheries, industry, transport, urban planning, demographics and human health. </a:t>
            </a:r>
          </a:p>
          <a:p>
            <a:r>
              <a:rPr lang="en-US" dirty="0"/>
              <a:t>Some effects are mutually reinforcing, so a small additional change in the existing trend could have massive consequences, in accordance with the mathematics of catastrophe theory (13).</a:t>
            </a:r>
            <a:endParaRPr lang="en-IN" dirty="0"/>
          </a:p>
        </p:txBody>
      </p:sp>
    </p:spTree>
    <p:extLst>
      <p:ext uri="{BB962C8B-B14F-4D97-AF65-F5344CB8AC3E}">
        <p14:creationId xmlns:p14="http://schemas.microsoft.com/office/powerpoint/2010/main" val="894447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BFF9-7E12-0EC1-2218-BB9B0DF54784}"/>
              </a:ext>
            </a:extLst>
          </p:cNvPr>
          <p:cNvSpPr>
            <a:spLocks noGrp="1"/>
          </p:cNvSpPr>
          <p:nvPr>
            <p:ph type="title"/>
          </p:nvPr>
        </p:nvSpPr>
        <p:spPr/>
        <p:txBody>
          <a:bodyPr/>
          <a:lstStyle/>
          <a:p>
            <a:r>
              <a:rPr lang="en-US" b="1" dirty="0"/>
              <a:t>HUMIDITY</a:t>
            </a:r>
            <a:endParaRPr lang="en-IN" b="1" dirty="0"/>
          </a:p>
        </p:txBody>
      </p:sp>
      <p:sp>
        <p:nvSpPr>
          <p:cNvPr id="3" name="Content Placeholder 2">
            <a:extLst>
              <a:ext uri="{FF2B5EF4-FFF2-40B4-BE49-F238E27FC236}">
                <a16:creationId xmlns:a16="http://schemas.microsoft.com/office/drawing/2014/main" id="{D8103F63-FDE4-1953-1CA1-A620525B754E}"/>
              </a:ext>
            </a:extLst>
          </p:cNvPr>
          <p:cNvSpPr>
            <a:spLocks noGrp="1"/>
          </p:cNvSpPr>
          <p:nvPr>
            <p:ph idx="1"/>
          </p:nvPr>
        </p:nvSpPr>
        <p:spPr/>
        <p:txBody>
          <a:bodyPr/>
          <a:lstStyle/>
          <a:p>
            <a:r>
              <a:rPr lang="en-US" dirty="0"/>
              <a:t>Humidity or moisture is always present in the atmosphere. The amount of moisture which air can hold depends upon its temperature. </a:t>
            </a:r>
          </a:p>
          <a:p>
            <a:r>
              <a:rPr lang="en-US" dirty="0"/>
              <a:t>If the air is cooled, t c excessive moisture precipitates for the particular temperature. This is called Dew Point. Humidity may be expressed as absolute humidity or relative humidity.</a:t>
            </a:r>
            <a:endParaRPr lang="en-IN" dirty="0"/>
          </a:p>
        </p:txBody>
      </p:sp>
    </p:spTree>
    <p:extLst>
      <p:ext uri="{BB962C8B-B14F-4D97-AF65-F5344CB8AC3E}">
        <p14:creationId xmlns:p14="http://schemas.microsoft.com/office/powerpoint/2010/main" val="2740700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965BF4-2E89-C993-F7F4-D075B7C8AF7F}"/>
              </a:ext>
            </a:extLst>
          </p:cNvPr>
          <p:cNvSpPr>
            <a:spLocks noGrp="1"/>
          </p:cNvSpPr>
          <p:nvPr>
            <p:ph idx="1"/>
          </p:nvPr>
        </p:nvSpPr>
        <p:spPr>
          <a:xfrm>
            <a:off x="744682" y="1028700"/>
            <a:ext cx="10515600" cy="4883727"/>
          </a:xfrm>
        </p:spPr>
        <p:txBody>
          <a:bodyPr>
            <a:normAutofit/>
          </a:bodyPr>
          <a:lstStyle/>
          <a:p>
            <a:r>
              <a:rPr lang="en-US" dirty="0"/>
              <a:t>(a) </a:t>
            </a:r>
            <a:r>
              <a:rPr lang="en-US" b="1" dirty="0"/>
              <a:t>ABSOLUTE HUMIDITY: </a:t>
            </a:r>
            <a:r>
              <a:rPr lang="en-US" dirty="0"/>
              <a:t>It</a:t>
            </a:r>
            <a:r>
              <a:rPr lang="en-US" b="1" dirty="0"/>
              <a:t> </a:t>
            </a:r>
            <a:r>
              <a:rPr lang="en-US" dirty="0"/>
              <a:t>is the weight of water vapor in a unit volume of air. It is expressed as grammes per kilogram or grammes per cubic meter of air. </a:t>
            </a:r>
          </a:p>
          <a:p>
            <a:r>
              <a:rPr lang="en-US" dirty="0"/>
              <a:t>(b) </a:t>
            </a:r>
            <a:r>
              <a:rPr lang="en-US" b="1" dirty="0"/>
              <a:t>RELATIVE HUMIDITY: </a:t>
            </a:r>
            <a:r>
              <a:rPr lang="en-US" dirty="0"/>
              <a:t>Relative humidity is the most common way of describing atmospheric moisture. It does not indicate the actual amount of water vapor in the air, instead, it tells us how close the air is to being saturated. The relative humidity (RH) is the ratio of the amount of water vapor actually in the air to the maximum amount of water vapor required for saturation at that particular temperature (and pressure).</a:t>
            </a:r>
          </a:p>
          <a:p>
            <a:r>
              <a:rPr lang="en-US" dirty="0"/>
              <a:t>RH= (Actual vapor pressure / saturation vapor pressure) X 100%</a:t>
            </a:r>
            <a:endParaRPr lang="en-IN" dirty="0"/>
          </a:p>
        </p:txBody>
      </p:sp>
    </p:spTree>
    <p:extLst>
      <p:ext uri="{BB962C8B-B14F-4D97-AF65-F5344CB8AC3E}">
        <p14:creationId xmlns:p14="http://schemas.microsoft.com/office/powerpoint/2010/main" val="1887522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7464A-9041-33D1-6977-2D40E95DA842}"/>
              </a:ext>
            </a:extLst>
          </p:cNvPr>
          <p:cNvSpPr>
            <a:spLocks noGrp="1"/>
          </p:cNvSpPr>
          <p:nvPr>
            <p:ph idx="1"/>
          </p:nvPr>
        </p:nvSpPr>
        <p:spPr>
          <a:xfrm>
            <a:off x="838200" y="1132609"/>
            <a:ext cx="10515600" cy="5044354"/>
          </a:xfrm>
        </p:spPr>
        <p:txBody>
          <a:bodyPr/>
          <a:lstStyle/>
          <a:p>
            <a:r>
              <a:rPr lang="en-US" dirty="0"/>
              <a:t>(c) </a:t>
            </a:r>
            <a:r>
              <a:rPr lang="en-US" b="1" dirty="0"/>
              <a:t>DEW POINT: </a:t>
            </a:r>
            <a:r>
              <a:rPr lang="en-US" dirty="0"/>
              <a:t>It represents the temperature to which air would have to be cooled (with no change in air pressure or moisture content) for saturation to occur. </a:t>
            </a:r>
          </a:p>
          <a:p>
            <a:r>
              <a:rPr lang="en-US" dirty="0"/>
              <a:t>The dew point is determined with respect to a flat surface of water. When the dew point is determined with respect to a flat surface of ice, it is called frost point. </a:t>
            </a:r>
          </a:p>
          <a:p>
            <a:r>
              <a:rPr lang="en-US" dirty="0"/>
              <a:t>The dew point is an important measurement used to predict the formation of dew, frost, fog and even minimum temperature. </a:t>
            </a:r>
          </a:p>
          <a:p>
            <a:r>
              <a:rPr lang="en-US" dirty="0"/>
              <a:t>High due point indicate high water vapor content; and low dew point indicate low water vapor content. </a:t>
            </a:r>
            <a:endParaRPr lang="en-IN" dirty="0"/>
          </a:p>
        </p:txBody>
      </p:sp>
    </p:spTree>
    <p:extLst>
      <p:ext uri="{BB962C8B-B14F-4D97-AF65-F5344CB8AC3E}">
        <p14:creationId xmlns:p14="http://schemas.microsoft.com/office/powerpoint/2010/main" val="1906060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6655-E645-F126-A0FB-BAD61BDFB099}"/>
              </a:ext>
            </a:extLst>
          </p:cNvPr>
          <p:cNvSpPr>
            <a:spLocks noGrp="1"/>
          </p:cNvSpPr>
          <p:nvPr>
            <p:ph type="title"/>
          </p:nvPr>
        </p:nvSpPr>
        <p:spPr/>
        <p:txBody>
          <a:bodyPr/>
          <a:lstStyle/>
          <a:p>
            <a:r>
              <a:rPr lang="en-US" b="1" dirty="0"/>
              <a:t>Measurement</a:t>
            </a:r>
            <a:endParaRPr lang="en-IN" b="1" dirty="0"/>
          </a:p>
        </p:txBody>
      </p:sp>
      <p:sp>
        <p:nvSpPr>
          <p:cNvPr id="3" name="Content Placeholder 2">
            <a:extLst>
              <a:ext uri="{FF2B5EF4-FFF2-40B4-BE49-F238E27FC236}">
                <a16:creationId xmlns:a16="http://schemas.microsoft.com/office/drawing/2014/main" id="{AD68AD2B-F8EB-CB5F-CC83-03365A4680CD}"/>
              </a:ext>
            </a:extLst>
          </p:cNvPr>
          <p:cNvSpPr>
            <a:spLocks noGrp="1"/>
          </p:cNvSpPr>
          <p:nvPr>
            <p:ph idx="1"/>
          </p:nvPr>
        </p:nvSpPr>
        <p:spPr>
          <a:xfrm>
            <a:off x="838200" y="1569027"/>
            <a:ext cx="10515600" cy="4923848"/>
          </a:xfrm>
        </p:spPr>
        <p:txBody>
          <a:bodyPr>
            <a:normAutofit lnSpcReduction="10000"/>
          </a:bodyPr>
          <a:lstStyle/>
          <a:p>
            <a:r>
              <a:rPr lang="en-US" dirty="0"/>
              <a:t>There are several instruments which may be used for measuring humidity. The ones commonly used are described below : </a:t>
            </a:r>
          </a:p>
          <a:p>
            <a:r>
              <a:rPr lang="en-US" b="1" dirty="0"/>
              <a:t>DRY AND WET BULB HYGROMETER: </a:t>
            </a:r>
            <a:r>
              <a:rPr lang="en-US" dirty="0"/>
              <a:t>This is the most widely used instrument for measuring humidity. </a:t>
            </a:r>
          </a:p>
          <a:p>
            <a:r>
              <a:rPr lang="en-US" dirty="0"/>
              <a:t>The instrument consists of two similar thermometers - a dry bulb thermometer and a wet bulb thermometer, which are mounted side by side on a stand. </a:t>
            </a:r>
          </a:p>
          <a:p>
            <a:r>
              <a:rPr lang="en-US" dirty="0"/>
              <a:t>The dry bulb measures the air temperature (DBT). The bulb of the second one is covered with a gauze or wick and is kept moist. </a:t>
            </a:r>
          </a:p>
          <a:p>
            <a:r>
              <a:rPr lang="en-US" dirty="0"/>
              <a:t>The wet bulb temperature (WBT) is usually lower than the DBT If both the readings are the same, it indicates that the atmosphere is 100 per cent saturated with moisture, which never occurs in reality. </a:t>
            </a:r>
            <a:endParaRPr lang="en-IN" dirty="0"/>
          </a:p>
        </p:txBody>
      </p:sp>
    </p:spTree>
    <p:extLst>
      <p:ext uri="{BB962C8B-B14F-4D97-AF65-F5344CB8AC3E}">
        <p14:creationId xmlns:p14="http://schemas.microsoft.com/office/powerpoint/2010/main" val="1551846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Freeform: Shape 8200">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F8A6201-964A-E4A4-DF8A-5700658566A1}"/>
              </a:ext>
            </a:extLst>
          </p:cNvPr>
          <p:cNvSpPr>
            <a:spLocks noGrp="1"/>
          </p:cNvSpPr>
          <p:nvPr>
            <p:ph idx="1"/>
          </p:nvPr>
        </p:nvSpPr>
        <p:spPr>
          <a:xfrm>
            <a:off x="119744" y="293914"/>
            <a:ext cx="7591242" cy="5808773"/>
          </a:xfrm>
        </p:spPr>
        <p:txBody>
          <a:bodyPr>
            <a:normAutofit/>
          </a:bodyPr>
          <a:lstStyle/>
          <a:p>
            <a:r>
              <a:rPr lang="en-US" sz="2400" b="1" dirty="0"/>
              <a:t>SLING PSYCHROMETER: </a:t>
            </a:r>
            <a:r>
              <a:rPr lang="en-US" sz="2400" dirty="0"/>
              <a:t>The sling or whirling psychrometer consists of 2 mercury thermometers (wet and dry) mounted side by side, on a suitable wooden frame, and provided with a handle for rotating the instrument. </a:t>
            </a:r>
          </a:p>
          <a:p>
            <a:r>
              <a:rPr lang="en-US" sz="2400" dirty="0"/>
              <a:t>The underlying principle is that by rotating, the bulbs arc exposed to air at a definite velocity. </a:t>
            </a:r>
          </a:p>
          <a:p>
            <a:r>
              <a:rPr lang="en-US" sz="2400" dirty="0"/>
              <a:t>The wet bulb is first moistened with distilled water and the instrument is whirled or rotated standing with the back to the sun, for about 15 seconds at the rate of 4 revolutions per second, so as to obtain the desirable air speed of about 5 </a:t>
            </a:r>
            <a:r>
              <a:rPr lang="en-US" sz="2400" dirty="0" err="1"/>
              <a:t>metres</a:t>
            </a:r>
            <a:r>
              <a:rPr lang="en-US" sz="2400" dirty="0"/>
              <a:t> per second. </a:t>
            </a:r>
          </a:p>
          <a:p>
            <a:r>
              <a:rPr lang="en-US" sz="2400" dirty="0"/>
              <a:t>The reading of the wet bulb is then noted. </a:t>
            </a:r>
          </a:p>
          <a:p>
            <a:r>
              <a:rPr lang="en-US" sz="2400" dirty="0"/>
              <a:t>The instrument is again whirled for about 10 seconds and the wet bulb reading is noted.</a:t>
            </a:r>
            <a:endParaRPr lang="en-IN" sz="2400" dirty="0"/>
          </a:p>
        </p:txBody>
      </p:sp>
      <p:pic>
        <p:nvPicPr>
          <p:cNvPr id="8194" name="Picture 2" descr="Sling Psychrometer Kit - Weather &amp; Climate - Earth &amp; Space Science">
            <a:extLst>
              <a:ext uri="{FF2B5EF4-FFF2-40B4-BE49-F238E27FC236}">
                <a16:creationId xmlns:a16="http://schemas.microsoft.com/office/drawing/2014/main" id="{5B9B9442-8B91-E290-DE09-70F6DA0AFD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95981" y="1990229"/>
            <a:ext cx="2906973" cy="290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833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4" name="Rectangle 10253">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6" name="Freeform: Shape 10255">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8CDD177-EC3C-5758-4AE7-7C48D1135C34}"/>
              </a:ext>
            </a:extLst>
          </p:cNvPr>
          <p:cNvSpPr>
            <a:spLocks noGrp="1"/>
          </p:cNvSpPr>
          <p:nvPr>
            <p:ph idx="1"/>
          </p:nvPr>
        </p:nvSpPr>
        <p:spPr>
          <a:xfrm>
            <a:off x="261258" y="468086"/>
            <a:ext cx="7449728" cy="5634601"/>
          </a:xfrm>
        </p:spPr>
        <p:txBody>
          <a:bodyPr>
            <a:normAutofit/>
          </a:bodyPr>
          <a:lstStyle/>
          <a:p>
            <a:r>
              <a:rPr lang="en-US" sz="3200" b="1" dirty="0"/>
              <a:t>ASSMANN PSYCHROMETER: </a:t>
            </a:r>
            <a:r>
              <a:rPr lang="en-US" sz="3200" dirty="0"/>
              <a:t>This is a portable instrument specially designed to give accurate measurement of the wet and dry bulb temperature of the air. </a:t>
            </a:r>
          </a:p>
          <a:p>
            <a:r>
              <a:rPr lang="en-US" sz="3200" dirty="0"/>
              <a:t>In this instrument, air is drawn at a speed higher than 5 </a:t>
            </a:r>
            <a:r>
              <a:rPr lang="en-US" sz="3200" dirty="0" err="1"/>
              <a:t>metres</a:t>
            </a:r>
            <a:r>
              <a:rPr lang="en-US" sz="3200" dirty="0"/>
              <a:t> per second by a clock-work fan. </a:t>
            </a:r>
          </a:p>
          <a:p>
            <a:r>
              <a:rPr lang="en-US" sz="3200" dirty="0"/>
              <a:t>The bulbs of the thermometer are protected from the effects of solar radiation so that the instrument can be used even in strong sunshine.</a:t>
            </a:r>
            <a:endParaRPr lang="en-IN" sz="3200" dirty="0"/>
          </a:p>
        </p:txBody>
      </p:sp>
      <p:pic>
        <p:nvPicPr>
          <p:cNvPr id="10242" name="Picture 2" descr="Assmann Psychrometer | University of Bergen">
            <a:extLst>
              <a:ext uri="{FF2B5EF4-FFF2-40B4-BE49-F238E27FC236}">
                <a16:creationId xmlns:a16="http://schemas.microsoft.com/office/drawing/2014/main" id="{5471A71F-5CBC-A8E7-D629-F35E1C3984E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95981" y="1626857"/>
            <a:ext cx="2906973" cy="3633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099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BE53-F51E-9756-DAC0-181C3ADEDF6C}"/>
              </a:ext>
            </a:extLst>
          </p:cNvPr>
          <p:cNvSpPr>
            <a:spLocks noGrp="1"/>
          </p:cNvSpPr>
          <p:nvPr>
            <p:ph type="title"/>
          </p:nvPr>
        </p:nvSpPr>
        <p:spPr/>
        <p:txBody>
          <a:bodyPr/>
          <a:lstStyle/>
          <a:p>
            <a:r>
              <a:rPr lang="en-US" b="1" dirty="0"/>
              <a:t>PRECIPITATION</a:t>
            </a:r>
            <a:endParaRPr lang="en-IN" b="1" dirty="0"/>
          </a:p>
        </p:txBody>
      </p:sp>
      <p:sp>
        <p:nvSpPr>
          <p:cNvPr id="3" name="Content Placeholder 2">
            <a:extLst>
              <a:ext uri="{FF2B5EF4-FFF2-40B4-BE49-F238E27FC236}">
                <a16:creationId xmlns:a16="http://schemas.microsoft.com/office/drawing/2014/main" id="{957A586F-089B-6101-B8C1-B63E34DFCB4E}"/>
              </a:ext>
            </a:extLst>
          </p:cNvPr>
          <p:cNvSpPr>
            <a:spLocks noGrp="1"/>
          </p:cNvSpPr>
          <p:nvPr>
            <p:ph idx="1"/>
          </p:nvPr>
        </p:nvSpPr>
        <p:spPr/>
        <p:txBody>
          <a:bodyPr/>
          <a:lstStyle/>
          <a:p>
            <a:r>
              <a:rPr lang="en-US" dirty="0"/>
              <a:t>The term precipitation is the collective term used for rain, snow, hail, dew and frost - that is. all forms of water precipitated from the atmosphere. It is measured by </a:t>
            </a:r>
            <a:r>
              <a:rPr lang="en-US" dirty="0" err="1"/>
              <a:t>raingauges</a:t>
            </a:r>
            <a:r>
              <a:rPr lang="en-US" dirty="0"/>
              <a:t>. </a:t>
            </a:r>
          </a:p>
          <a:p>
            <a:r>
              <a:rPr lang="en-US" dirty="0"/>
              <a:t>The rain-gauge prescribed by the Government of India for use at rainfall measuring stations in India is known as the “Symons Rain-gauge”. </a:t>
            </a:r>
          </a:p>
          <a:p>
            <a:r>
              <a:rPr lang="en-US" dirty="0"/>
              <a:t>The funnel for receiving the rainfall has a diameter of 5 inches. </a:t>
            </a:r>
          </a:p>
          <a:p>
            <a:r>
              <a:rPr lang="en-US" dirty="0"/>
              <a:t>Great care is exercised in selecting a suitable site for the erection of rain-gauge. The Rain-gauge should be set on a level ground, away from trees, buildings, or other obstructions.</a:t>
            </a:r>
            <a:endParaRPr lang="en-IN" dirty="0"/>
          </a:p>
        </p:txBody>
      </p:sp>
    </p:spTree>
    <p:extLst>
      <p:ext uri="{BB962C8B-B14F-4D97-AF65-F5344CB8AC3E}">
        <p14:creationId xmlns:p14="http://schemas.microsoft.com/office/powerpoint/2010/main" val="1224893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TotalTime>
  <Words>2761</Words>
  <Application>Microsoft Office PowerPoint</Application>
  <PresentationFormat>Widescreen</PresentationFormat>
  <Paragraphs>161</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METEOROLOGICAL ENVIRONMENT </vt:lpstr>
      <vt:lpstr>PowerPoint Presentation</vt:lpstr>
      <vt:lpstr>Climate</vt:lpstr>
      <vt:lpstr>Atmospheric pressure</vt:lpstr>
      <vt:lpstr>Barometer</vt:lpstr>
      <vt:lpstr>PowerPoint Presentation</vt:lpstr>
      <vt:lpstr>Effects of atmospheric pressure on health</vt:lpstr>
      <vt:lpstr>HIGH ALTITUDES</vt:lpstr>
      <vt:lpstr>PowerPoint Presentation</vt:lpstr>
      <vt:lpstr>LOW ALTITUDES</vt:lpstr>
      <vt:lpstr>AIR TEMPERATURE</vt:lpstr>
      <vt:lpstr>MEASUREMENT</vt:lpstr>
      <vt:lpstr>PowerPoint Presentation</vt:lpstr>
      <vt:lpstr>Dry bulb thermometer</vt:lpstr>
      <vt:lpstr>Wet bulb thermometer</vt:lpstr>
      <vt:lpstr>PowerPoint Presentation</vt:lpstr>
      <vt:lpstr>Globe thermometer</vt:lpstr>
      <vt:lpstr>Wet globe thermometer</vt:lpstr>
      <vt:lpstr>Kata thermometer</vt:lpstr>
      <vt:lpstr>Kata thermometer</vt:lpstr>
      <vt:lpstr>Heat stress indices</vt:lpstr>
      <vt:lpstr>Effects of heat stress</vt:lpstr>
      <vt:lpstr>PREVENTIVE MEASURES</vt:lpstr>
      <vt:lpstr>Effects of cold stress</vt:lpstr>
      <vt:lpstr>Global warming</vt:lpstr>
      <vt:lpstr>HUMIDITY</vt:lpstr>
      <vt:lpstr>PowerPoint Presentation</vt:lpstr>
      <vt:lpstr>PowerPoint Presentation</vt:lpstr>
      <vt:lpstr>Measurement</vt:lpstr>
      <vt:lpstr>PowerPoint Presentation</vt:lpstr>
      <vt:lpstr>PowerPoint Presentation</vt:lpstr>
      <vt:lpstr>PRECIPITATION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METEOROLOGICAL ENVIRONMENT </dc:title>
  <dc:creator>manviatwork@gmail.com</dc:creator>
  <cp:lastModifiedBy>mukul maheshwari</cp:lastModifiedBy>
  <cp:revision>3</cp:revision>
  <dcterms:created xsi:type="dcterms:W3CDTF">2024-08-21T09:33:26Z</dcterms:created>
  <dcterms:modified xsi:type="dcterms:W3CDTF">2024-08-28T19:12:14Z</dcterms:modified>
</cp:coreProperties>
</file>