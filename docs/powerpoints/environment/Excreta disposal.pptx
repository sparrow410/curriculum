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29" r:id="rId2"/>
    <p:sldId id="335" r:id="rId3"/>
    <p:sldId id="337" r:id="rId4"/>
    <p:sldId id="338" r:id="rId5"/>
    <p:sldId id="339" r:id="rId6"/>
    <p:sldId id="340" r:id="rId7"/>
    <p:sldId id="341" r:id="rId8"/>
    <p:sldId id="342" r:id="rId9"/>
    <p:sldId id="343" r:id="rId10"/>
    <p:sldId id="344" r:id="rId11"/>
    <p:sldId id="345" r:id="rId12"/>
    <p:sldId id="346" r:id="rId13"/>
    <p:sldId id="347" r:id="rId14"/>
    <p:sldId id="348" r:id="rId15"/>
    <p:sldId id="349" r:id="rId16"/>
    <p:sldId id="350" r:id="rId17"/>
    <p:sldId id="351" r:id="rId18"/>
    <p:sldId id="352" r:id="rId19"/>
    <p:sldId id="353" r:id="rId20"/>
    <p:sldId id="354" r:id="rId21"/>
    <p:sldId id="355" r:id="rId22"/>
    <p:sldId id="356" r:id="rId23"/>
    <p:sldId id="357" r:id="rId24"/>
    <p:sldId id="358" r:id="rId25"/>
    <p:sldId id="359" r:id="rId26"/>
    <p:sldId id="360" r:id="rId27"/>
    <p:sldId id="361" r:id="rId28"/>
    <p:sldId id="362" r:id="rId29"/>
    <p:sldId id="363" r:id="rId30"/>
    <p:sldId id="364" r:id="rId31"/>
    <p:sldId id="365" r:id="rId32"/>
    <p:sldId id="366" r:id="rId33"/>
    <p:sldId id="368" r:id="rId34"/>
    <p:sldId id="367" r:id="rId35"/>
    <p:sldId id="369" r:id="rId36"/>
    <p:sldId id="370" r:id="rId37"/>
    <p:sldId id="371" r:id="rId38"/>
    <p:sldId id="372" r:id="rId39"/>
    <p:sldId id="373"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92" autoAdjust="0"/>
    <p:restoredTop sz="94660"/>
  </p:normalViewPr>
  <p:slideViewPr>
    <p:cSldViewPr snapToGrid="0">
      <p:cViewPr>
        <p:scale>
          <a:sx n="75" d="100"/>
          <a:sy n="75" d="100"/>
        </p:scale>
        <p:origin x="54" y="10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ul maheshwari" userId="12cb43e2ca5f0d2c" providerId="LiveId" clId="{54676AD6-643C-41A9-ADC9-767857D3F29E}"/>
    <pc:docChg chg="undo custSel addSld modSld">
      <pc:chgData name="mukul maheshwari" userId="12cb43e2ca5f0d2c" providerId="LiveId" clId="{54676AD6-643C-41A9-ADC9-767857D3F29E}" dt="2024-09-11T20:26:55.599" v="131" actId="26606"/>
      <pc:docMkLst>
        <pc:docMk/>
      </pc:docMkLst>
      <pc:sldChg chg="modSp new mod">
        <pc:chgData name="mukul maheshwari" userId="12cb43e2ca5f0d2c" providerId="LiveId" clId="{54676AD6-643C-41A9-ADC9-767857D3F29E}" dt="2024-09-11T20:21:55.032" v="53" actId="20577"/>
        <pc:sldMkLst>
          <pc:docMk/>
          <pc:sldMk cId="1256127559" sldId="371"/>
        </pc:sldMkLst>
        <pc:spChg chg="mod">
          <ac:chgData name="mukul maheshwari" userId="12cb43e2ca5f0d2c" providerId="LiveId" clId="{54676AD6-643C-41A9-ADC9-767857D3F29E}" dt="2024-09-11T20:06:44.487" v="14" actId="20577"/>
          <ac:spMkLst>
            <pc:docMk/>
            <pc:sldMk cId="1256127559" sldId="371"/>
            <ac:spMk id="2" creationId="{468DFD67-D8BE-5A33-E524-D2637B30235E}"/>
          </ac:spMkLst>
        </pc:spChg>
        <pc:spChg chg="mod">
          <ac:chgData name="mukul maheshwari" userId="12cb43e2ca5f0d2c" providerId="LiveId" clId="{54676AD6-643C-41A9-ADC9-767857D3F29E}" dt="2024-09-11T20:21:55.032" v="53" actId="20577"/>
          <ac:spMkLst>
            <pc:docMk/>
            <pc:sldMk cId="1256127559" sldId="371"/>
            <ac:spMk id="3" creationId="{D4E7BFD5-76E8-8241-4CC8-932B5524055B}"/>
          </ac:spMkLst>
        </pc:spChg>
      </pc:sldChg>
      <pc:sldChg chg="modSp new mod">
        <pc:chgData name="mukul maheshwari" userId="12cb43e2ca5f0d2c" providerId="LiveId" clId="{54676AD6-643C-41A9-ADC9-767857D3F29E}" dt="2024-09-11T20:26:18.863" v="120" actId="20577"/>
        <pc:sldMkLst>
          <pc:docMk/>
          <pc:sldMk cId="939020828" sldId="372"/>
        </pc:sldMkLst>
        <pc:spChg chg="mod">
          <ac:chgData name="mukul maheshwari" userId="12cb43e2ca5f0d2c" providerId="LiveId" clId="{54676AD6-643C-41A9-ADC9-767857D3F29E}" dt="2024-09-11T20:23:31.193" v="75" actId="20577"/>
          <ac:spMkLst>
            <pc:docMk/>
            <pc:sldMk cId="939020828" sldId="372"/>
            <ac:spMk id="2" creationId="{4F294517-F195-07B7-4427-2145E01D1622}"/>
          </ac:spMkLst>
        </pc:spChg>
        <pc:spChg chg="mod">
          <ac:chgData name="mukul maheshwari" userId="12cb43e2ca5f0d2c" providerId="LiveId" clId="{54676AD6-643C-41A9-ADC9-767857D3F29E}" dt="2024-09-11T20:26:18.863" v="120" actId="20577"/>
          <ac:spMkLst>
            <pc:docMk/>
            <pc:sldMk cId="939020828" sldId="372"/>
            <ac:spMk id="3" creationId="{B9F9133C-71A7-4AA1-B52C-2E96E3712DC2}"/>
          </ac:spMkLst>
        </pc:spChg>
      </pc:sldChg>
      <pc:sldChg chg="addSp delSp modSp new mod setBg">
        <pc:chgData name="mukul maheshwari" userId="12cb43e2ca5f0d2c" providerId="LiveId" clId="{54676AD6-643C-41A9-ADC9-767857D3F29E}" dt="2024-09-11T20:26:55.599" v="131" actId="26606"/>
        <pc:sldMkLst>
          <pc:docMk/>
          <pc:sldMk cId="2351487031" sldId="373"/>
        </pc:sldMkLst>
        <pc:spChg chg="mod">
          <ac:chgData name="mukul maheshwari" userId="12cb43e2ca5f0d2c" providerId="LiveId" clId="{54676AD6-643C-41A9-ADC9-767857D3F29E}" dt="2024-09-11T20:26:55.599" v="131" actId="26606"/>
          <ac:spMkLst>
            <pc:docMk/>
            <pc:sldMk cId="2351487031" sldId="373"/>
            <ac:spMk id="2" creationId="{735F0400-1972-20DF-E8C7-215587BA44FB}"/>
          </ac:spMkLst>
        </pc:spChg>
        <pc:spChg chg="del">
          <ac:chgData name="mukul maheshwari" userId="12cb43e2ca5f0d2c" providerId="LiveId" clId="{54676AD6-643C-41A9-ADC9-767857D3F29E}" dt="2024-09-11T20:26:55.599" v="131" actId="26606"/>
          <ac:spMkLst>
            <pc:docMk/>
            <pc:sldMk cId="2351487031" sldId="373"/>
            <ac:spMk id="3" creationId="{2CA01D0E-FA43-855B-EAA1-B5B284C0AB92}"/>
          </ac:spMkLst>
        </pc:spChg>
        <pc:spChg chg="add">
          <ac:chgData name="mukul maheshwari" userId="12cb43e2ca5f0d2c" providerId="LiveId" clId="{54676AD6-643C-41A9-ADC9-767857D3F29E}" dt="2024-09-11T20:26:55.599" v="131" actId="26606"/>
          <ac:spMkLst>
            <pc:docMk/>
            <pc:sldMk cId="2351487031" sldId="373"/>
            <ac:spMk id="12" creationId="{74751229-0244-4FBB-BED1-407467F4C951}"/>
          </ac:spMkLst>
        </pc:spChg>
        <pc:picChg chg="add">
          <ac:chgData name="mukul maheshwari" userId="12cb43e2ca5f0d2c" providerId="LiveId" clId="{54676AD6-643C-41A9-ADC9-767857D3F29E}" dt="2024-09-11T20:26:55.599" v="131" actId="26606"/>
          <ac:picMkLst>
            <pc:docMk/>
            <pc:sldMk cId="2351487031" sldId="373"/>
            <ac:picMk id="7" creationId="{207BF39E-D371-A536-25D5-088A6B26FABC}"/>
          </ac:picMkLst>
        </pc:picChg>
        <pc:picChg chg="add">
          <ac:chgData name="mukul maheshwari" userId="12cb43e2ca5f0d2c" providerId="LiveId" clId="{54676AD6-643C-41A9-ADC9-767857D3F29E}" dt="2024-09-11T20:26:55.599" v="131" actId="26606"/>
          <ac:picMkLst>
            <pc:docMk/>
            <pc:sldMk cId="2351487031" sldId="373"/>
            <ac:picMk id="9" creationId="{42E2DDB4-B2D8-4A93-BE32-DBB16B9BE0D3}"/>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D29FD19-0AD4-4E4C-8B70-54B75639C2BC}"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50178989-0600-4424-8B82-A64314DF9E08}">
      <dgm:prSet/>
      <dgm:spPr/>
      <dgm:t>
        <a:bodyPr/>
        <a:lstStyle/>
        <a:p>
          <a:r>
            <a:rPr lang="en-US" dirty="0"/>
            <a:t>The trap is a </a:t>
          </a:r>
          <a:r>
            <a:rPr lang="en-US" dirty="0">
              <a:highlight>
                <a:srgbClr val="FFFF00"/>
              </a:highlight>
            </a:rPr>
            <a:t>bent pipe, about 7.5 cm (3 in.) in diameter and is connected with the pan</a:t>
          </a:r>
          <a:r>
            <a:rPr lang="en-US" dirty="0"/>
            <a:t>. </a:t>
          </a:r>
        </a:p>
      </dgm:t>
    </dgm:pt>
    <dgm:pt modelId="{8D0193B2-ED59-4780-9BAA-BC8C031CF4AE}" type="parTrans" cxnId="{1C053A3C-7E95-4108-B728-89F610C7A1A8}">
      <dgm:prSet/>
      <dgm:spPr/>
      <dgm:t>
        <a:bodyPr/>
        <a:lstStyle/>
        <a:p>
          <a:endParaRPr lang="en-US"/>
        </a:p>
      </dgm:t>
    </dgm:pt>
    <dgm:pt modelId="{12B59256-3016-4259-9AD4-D7B2575D3CD9}" type="sibTrans" cxnId="{1C053A3C-7E95-4108-B728-89F610C7A1A8}">
      <dgm:prSet/>
      <dgm:spPr/>
      <dgm:t>
        <a:bodyPr/>
        <a:lstStyle/>
        <a:p>
          <a:endParaRPr lang="en-US"/>
        </a:p>
      </dgm:t>
    </dgm:pt>
    <dgm:pt modelId="{099726B8-E8C6-4CD0-8665-5DB734BECB39}">
      <dgm:prSet/>
      <dgm:spPr/>
      <dgm:t>
        <a:bodyPr/>
        <a:lstStyle/>
        <a:p>
          <a:r>
            <a:rPr lang="en-US"/>
            <a:t>It holds water and provides the necessary ‘water seal’. </a:t>
          </a:r>
        </a:p>
      </dgm:t>
    </dgm:pt>
    <dgm:pt modelId="{21861EEF-2941-4DAD-82F3-A241594CB9ED}" type="parTrans" cxnId="{64528540-D2E7-4A59-85EF-633DE61AB1D7}">
      <dgm:prSet/>
      <dgm:spPr/>
      <dgm:t>
        <a:bodyPr/>
        <a:lstStyle/>
        <a:p>
          <a:endParaRPr lang="en-US"/>
        </a:p>
      </dgm:t>
    </dgm:pt>
    <dgm:pt modelId="{EC4EDED3-0BEB-4814-9539-E21443F7B619}" type="sibTrans" cxnId="{64528540-D2E7-4A59-85EF-633DE61AB1D7}">
      <dgm:prSet/>
      <dgm:spPr/>
      <dgm:t>
        <a:bodyPr/>
        <a:lstStyle/>
        <a:p>
          <a:endParaRPr lang="en-US"/>
        </a:p>
      </dgm:t>
    </dgm:pt>
    <dgm:pt modelId="{2F3BC376-2BE3-4476-AE25-1E3378CEDAD2}">
      <dgm:prSet/>
      <dgm:spPr/>
      <dgm:t>
        <a:bodyPr/>
        <a:lstStyle/>
        <a:p>
          <a:r>
            <a:rPr lang="en-US" dirty="0"/>
            <a:t>The water seal is the </a:t>
          </a:r>
          <a:r>
            <a:rPr lang="en-US" dirty="0">
              <a:highlight>
                <a:srgbClr val="FFFF00"/>
              </a:highlight>
            </a:rPr>
            <a:t>distance between the level of water in the trap and the lowest point in the concave upper surface of the trap</a:t>
          </a:r>
          <a:r>
            <a:rPr lang="en-US" dirty="0"/>
            <a:t>. </a:t>
          </a:r>
        </a:p>
      </dgm:t>
    </dgm:pt>
    <dgm:pt modelId="{27999EAE-497D-4A55-A122-AE550C9E4BBA}" type="parTrans" cxnId="{F09729D5-8C73-4839-93CF-09BE735D1491}">
      <dgm:prSet/>
      <dgm:spPr/>
      <dgm:t>
        <a:bodyPr/>
        <a:lstStyle/>
        <a:p>
          <a:endParaRPr lang="en-US"/>
        </a:p>
      </dgm:t>
    </dgm:pt>
    <dgm:pt modelId="{32D71B63-ACEB-4455-9F48-677ADE7683A8}" type="sibTrans" cxnId="{F09729D5-8C73-4839-93CF-09BE735D1491}">
      <dgm:prSet/>
      <dgm:spPr/>
      <dgm:t>
        <a:bodyPr/>
        <a:lstStyle/>
        <a:p>
          <a:endParaRPr lang="en-US"/>
        </a:p>
      </dgm:t>
    </dgm:pt>
    <dgm:pt modelId="{24CCC9B5-D85E-4871-908A-2231C34899EC}">
      <dgm:prSet/>
      <dgm:spPr/>
      <dgm:t>
        <a:bodyPr/>
        <a:lstStyle/>
        <a:p>
          <a:r>
            <a:rPr lang="en-US" dirty="0"/>
            <a:t>The </a:t>
          </a:r>
          <a:r>
            <a:rPr lang="en-US" dirty="0">
              <a:highlight>
                <a:srgbClr val="FFFF00"/>
              </a:highlight>
            </a:rPr>
            <a:t>depth of the water seal (AB) in the RCA latrine is 2 cm</a:t>
          </a:r>
          <a:r>
            <a:rPr lang="en-US" dirty="0"/>
            <a:t>.</a:t>
          </a:r>
        </a:p>
      </dgm:t>
    </dgm:pt>
    <dgm:pt modelId="{1D341B8F-2FCB-482F-A179-79A8034D150A}" type="parTrans" cxnId="{6D34F117-87DE-4534-96E6-E1D8D92BCC10}">
      <dgm:prSet/>
      <dgm:spPr/>
      <dgm:t>
        <a:bodyPr/>
        <a:lstStyle/>
        <a:p>
          <a:endParaRPr lang="en-US"/>
        </a:p>
      </dgm:t>
    </dgm:pt>
    <dgm:pt modelId="{B326C859-C68D-4F4A-A439-1FFC6E19A662}" type="sibTrans" cxnId="{6D34F117-87DE-4534-96E6-E1D8D92BCC10}">
      <dgm:prSet/>
      <dgm:spPr/>
      <dgm:t>
        <a:bodyPr/>
        <a:lstStyle/>
        <a:p>
          <a:endParaRPr lang="en-US"/>
        </a:p>
      </dgm:t>
    </dgm:pt>
    <dgm:pt modelId="{60C9120A-1CDA-4DE5-BDBF-949287073931}" type="pres">
      <dgm:prSet presAssocID="{FD29FD19-0AD4-4E4C-8B70-54B75639C2BC}" presName="vert0" presStyleCnt="0">
        <dgm:presLayoutVars>
          <dgm:dir/>
          <dgm:animOne val="branch"/>
          <dgm:animLvl val="lvl"/>
        </dgm:presLayoutVars>
      </dgm:prSet>
      <dgm:spPr/>
    </dgm:pt>
    <dgm:pt modelId="{875B7377-78C3-4616-A452-F0FEC26780C5}" type="pres">
      <dgm:prSet presAssocID="{50178989-0600-4424-8B82-A64314DF9E08}" presName="thickLine" presStyleLbl="alignNode1" presStyleIdx="0" presStyleCnt="4"/>
      <dgm:spPr/>
    </dgm:pt>
    <dgm:pt modelId="{C89D3806-0680-4F8C-96C3-5FC53AE55EAB}" type="pres">
      <dgm:prSet presAssocID="{50178989-0600-4424-8B82-A64314DF9E08}" presName="horz1" presStyleCnt="0"/>
      <dgm:spPr/>
    </dgm:pt>
    <dgm:pt modelId="{2FF20B01-C43C-4FBB-800B-128FBCD197B5}" type="pres">
      <dgm:prSet presAssocID="{50178989-0600-4424-8B82-A64314DF9E08}" presName="tx1" presStyleLbl="revTx" presStyleIdx="0" presStyleCnt="4"/>
      <dgm:spPr/>
    </dgm:pt>
    <dgm:pt modelId="{4795A8B0-36F8-4C74-A14B-E780CC4D0F58}" type="pres">
      <dgm:prSet presAssocID="{50178989-0600-4424-8B82-A64314DF9E08}" presName="vert1" presStyleCnt="0"/>
      <dgm:spPr/>
    </dgm:pt>
    <dgm:pt modelId="{6F2BC724-1A29-4D0D-AC2E-B59E8526D4EB}" type="pres">
      <dgm:prSet presAssocID="{099726B8-E8C6-4CD0-8665-5DB734BECB39}" presName="thickLine" presStyleLbl="alignNode1" presStyleIdx="1" presStyleCnt="4"/>
      <dgm:spPr/>
    </dgm:pt>
    <dgm:pt modelId="{A9016A91-5717-4AE6-BFFD-4AC743B1C266}" type="pres">
      <dgm:prSet presAssocID="{099726B8-E8C6-4CD0-8665-5DB734BECB39}" presName="horz1" presStyleCnt="0"/>
      <dgm:spPr/>
    </dgm:pt>
    <dgm:pt modelId="{C5DBC706-5848-448F-B523-272FDBDD842D}" type="pres">
      <dgm:prSet presAssocID="{099726B8-E8C6-4CD0-8665-5DB734BECB39}" presName="tx1" presStyleLbl="revTx" presStyleIdx="1" presStyleCnt="4"/>
      <dgm:spPr/>
    </dgm:pt>
    <dgm:pt modelId="{CFDB3175-FBA1-4DAA-9CE9-E65529C10078}" type="pres">
      <dgm:prSet presAssocID="{099726B8-E8C6-4CD0-8665-5DB734BECB39}" presName="vert1" presStyleCnt="0"/>
      <dgm:spPr/>
    </dgm:pt>
    <dgm:pt modelId="{FC14DFC8-99A9-4073-B2EC-244DF2B60C39}" type="pres">
      <dgm:prSet presAssocID="{2F3BC376-2BE3-4476-AE25-1E3378CEDAD2}" presName="thickLine" presStyleLbl="alignNode1" presStyleIdx="2" presStyleCnt="4"/>
      <dgm:spPr/>
    </dgm:pt>
    <dgm:pt modelId="{530E4164-6B8C-4AAD-A433-6DB63513BCB2}" type="pres">
      <dgm:prSet presAssocID="{2F3BC376-2BE3-4476-AE25-1E3378CEDAD2}" presName="horz1" presStyleCnt="0"/>
      <dgm:spPr/>
    </dgm:pt>
    <dgm:pt modelId="{E2C2D606-38DA-41C1-A94F-A6266918F331}" type="pres">
      <dgm:prSet presAssocID="{2F3BC376-2BE3-4476-AE25-1E3378CEDAD2}" presName="tx1" presStyleLbl="revTx" presStyleIdx="2" presStyleCnt="4"/>
      <dgm:spPr/>
    </dgm:pt>
    <dgm:pt modelId="{94E38F83-F494-4CC1-84ED-6AB05AA31D28}" type="pres">
      <dgm:prSet presAssocID="{2F3BC376-2BE3-4476-AE25-1E3378CEDAD2}" presName="vert1" presStyleCnt="0"/>
      <dgm:spPr/>
    </dgm:pt>
    <dgm:pt modelId="{7FE0C5CC-7015-4FA5-9FA4-ACA6E10C225D}" type="pres">
      <dgm:prSet presAssocID="{24CCC9B5-D85E-4871-908A-2231C34899EC}" presName="thickLine" presStyleLbl="alignNode1" presStyleIdx="3" presStyleCnt="4"/>
      <dgm:spPr/>
    </dgm:pt>
    <dgm:pt modelId="{03D4DC39-6BB4-4F17-B8DB-92426DFF1C79}" type="pres">
      <dgm:prSet presAssocID="{24CCC9B5-D85E-4871-908A-2231C34899EC}" presName="horz1" presStyleCnt="0"/>
      <dgm:spPr/>
    </dgm:pt>
    <dgm:pt modelId="{98F99621-1880-488E-A2FC-3F82654B09CE}" type="pres">
      <dgm:prSet presAssocID="{24CCC9B5-D85E-4871-908A-2231C34899EC}" presName="tx1" presStyleLbl="revTx" presStyleIdx="3" presStyleCnt="4"/>
      <dgm:spPr/>
    </dgm:pt>
    <dgm:pt modelId="{285B57A1-2314-4069-8449-C872364462EC}" type="pres">
      <dgm:prSet presAssocID="{24CCC9B5-D85E-4871-908A-2231C34899EC}" presName="vert1" presStyleCnt="0"/>
      <dgm:spPr/>
    </dgm:pt>
  </dgm:ptLst>
  <dgm:cxnLst>
    <dgm:cxn modelId="{6D34F117-87DE-4534-96E6-E1D8D92BCC10}" srcId="{FD29FD19-0AD4-4E4C-8B70-54B75639C2BC}" destId="{24CCC9B5-D85E-4871-908A-2231C34899EC}" srcOrd="3" destOrd="0" parTransId="{1D341B8F-2FCB-482F-A179-79A8034D150A}" sibTransId="{B326C859-C68D-4F4A-A439-1FFC6E19A662}"/>
    <dgm:cxn modelId="{1989CF36-5128-47FF-8C36-A093B3D7783E}" type="presOf" srcId="{099726B8-E8C6-4CD0-8665-5DB734BECB39}" destId="{C5DBC706-5848-448F-B523-272FDBDD842D}" srcOrd="0" destOrd="0" presId="urn:microsoft.com/office/officeart/2008/layout/LinedList"/>
    <dgm:cxn modelId="{1C053A3C-7E95-4108-B728-89F610C7A1A8}" srcId="{FD29FD19-0AD4-4E4C-8B70-54B75639C2BC}" destId="{50178989-0600-4424-8B82-A64314DF9E08}" srcOrd="0" destOrd="0" parTransId="{8D0193B2-ED59-4780-9BAA-BC8C031CF4AE}" sibTransId="{12B59256-3016-4259-9AD4-D7B2575D3CD9}"/>
    <dgm:cxn modelId="{64528540-D2E7-4A59-85EF-633DE61AB1D7}" srcId="{FD29FD19-0AD4-4E4C-8B70-54B75639C2BC}" destId="{099726B8-E8C6-4CD0-8665-5DB734BECB39}" srcOrd="1" destOrd="0" parTransId="{21861EEF-2941-4DAD-82F3-A241594CB9ED}" sibTransId="{EC4EDED3-0BEB-4814-9539-E21443F7B619}"/>
    <dgm:cxn modelId="{46DBB842-CB0A-465D-9354-077F33CD2404}" type="presOf" srcId="{24CCC9B5-D85E-4871-908A-2231C34899EC}" destId="{98F99621-1880-488E-A2FC-3F82654B09CE}" srcOrd="0" destOrd="0" presId="urn:microsoft.com/office/officeart/2008/layout/LinedList"/>
    <dgm:cxn modelId="{8952D446-60DF-46DA-A724-89729C653425}" type="presOf" srcId="{50178989-0600-4424-8B82-A64314DF9E08}" destId="{2FF20B01-C43C-4FBB-800B-128FBCD197B5}" srcOrd="0" destOrd="0" presId="urn:microsoft.com/office/officeart/2008/layout/LinedList"/>
    <dgm:cxn modelId="{E7358B6A-F9BD-401C-A9C5-4BAE535F80F1}" type="presOf" srcId="{FD29FD19-0AD4-4E4C-8B70-54B75639C2BC}" destId="{60C9120A-1CDA-4DE5-BDBF-949287073931}" srcOrd="0" destOrd="0" presId="urn:microsoft.com/office/officeart/2008/layout/LinedList"/>
    <dgm:cxn modelId="{923D736D-2004-433A-BF44-93FE7858F898}" type="presOf" srcId="{2F3BC376-2BE3-4476-AE25-1E3378CEDAD2}" destId="{E2C2D606-38DA-41C1-A94F-A6266918F331}" srcOrd="0" destOrd="0" presId="urn:microsoft.com/office/officeart/2008/layout/LinedList"/>
    <dgm:cxn modelId="{F09729D5-8C73-4839-93CF-09BE735D1491}" srcId="{FD29FD19-0AD4-4E4C-8B70-54B75639C2BC}" destId="{2F3BC376-2BE3-4476-AE25-1E3378CEDAD2}" srcOrd="2" destOrd="0" parTransId="{27999EAE-497D-4A55-A122-AE550C9E4BBA}" sibTransId="{32D71B63-ACEB-4455-9F48-677ADE7683A8}"/>
    <dgm:cxn modelId="{39BA4CBF-3E18-4A7F-A55D-B50BBE7715CB}" type="presParOf" srcId="{60C9120A-1CDA-4DE5-BDBF-949287073931}" destId="{875B7377-78C3-4616-A452-F0FEC26780C5}" srcOrd="0" destOrd="0" presId="urn:microsoft.com/office/officeart/2008/layout/LinedList"/>
    <dgm:cxn modelId="{3A6FEEE8-B8A0-47B9-A1F8-D38003B42278}" type="presParOf" srcId="{60C9120A-1CDA-4DE5-BDBF-949287073931}" destId="{C89D3806-0680-4F8C-96C3-5FC53AE55EAB}" srcOrd="1" destOrd="0" presId="urn:microsoft.com/office/officeart/2008/layout/LinedList"/>
    <dgm:cxn modelId="{F654F83E-4BD7-4F76-86DE-8392D9423E70}" type="presParOf" srcId="{C89D3806-0680-4F8C-96C3-5FC53AE55EAB}" destId="{2FF20B01-C43C-4FBB-800B-128FBCD197B5}" srcOrd="0" destOrd="0" presId="urn:microsoft.com/office/officeart/2008/layout/LinedList"/>
    <dgm:cxn modelId="{03FFB1A7-EBC4-47C6-BD6B-4B3AE9222734}" type="presParOf" srcId="{C89D3806-0680-4F8C-96C3-5FC53AE55EAB}" destId="{4795A8B0-36F8-4C74-A14B-E780CC4D0F58}" srcOrd="1" destOrd="0" presId="urn:microsoft.com/office/officeart/2008/layout/LinedList"/>
    <dgm:cxn modelId="{EF0C989B-3B18-4135-AFDD-8D5080740C8D}" type="presParOf" srcId="{60C9120A-1CDA-4DE5-BDBF-949287073931}" destId="{6F2BC724-1A29-4D0D-AC2E-B59E8526D4EB}" srcOrd="2" destOrd="0" presId="urn:microsoft.com/office/officeart/2008/layout/LinedList"/>
    <dgm:cxn modelId="{F31E490A-1313-4C52-BE77-FDE8A13E0B39}" type="presParOf" srcId="{60C9120A-1CDA-4DE5-BDBF-949287073931}" destId="{A9016A91-5717-4AE6-BFFD-4AC743B1C266}" srcOrd="3" destOrd="0" presId="urn:microsoft.com/office/officeart/2008/layout/LinedList"/>
    <dgm:cxn modelId="{9CCE5C4F-FD8A-45A8-9786-9C3068E89AB0}" type="presParOf" srcId="{A9016A91-5717-4AE6-BFFD-4AC743B1C266}" destId="{C5DBC706-5848-448F-B523-272FDBDD842D}" srcOrd="0" destOrd="0" presId="urn:microsoft.com/office/officeart/2008/layout/LinedList"/>
    <dgm:cxn modelId="{3CD93C85-80EF-473F-81DD-6306890A21B2}" type="presParOf" srcId="{A9016A91-5717-4AE6-BFFD-4AC743B1C266}" destId="{CFDB3175-FBA1-4DAA-9CE9-E65529C10078}" srcOrd="1" destOrd="0" presId="urn:microsoft.com/office/officeart/2008/layout/LinedList"/>
    <dgm:cxn modelId="{CEE5D022-5115-44E1-B149-FF5F36837F31}" type="presParOf" srcId="{60C9120A-1CDA-4DE5-BDBF-949287073931}" destId="{FC14DFC8-99A9-4073-B2EC-244DF2B60C39}" srcOrd="4" destOrd="0" presId="urn:microsoft.com/office/officeart/2008/layout/LinedList"/>
    <dgm:cxn modelId="{88BCF4BC-594E-48B2-805C-155856C2BA9A}" type="presParOf" srcId="{60C9120A-1CDA-4DE5-BDBF-949287073931}" destId="{530E4164-6B8C-4AAD-A433-6DB63513BCB2}" srcOrd="5" destOrd="0" presId="urn:microsoft.com/office/officeart/2008/layout/LinedList"/>
    <dgm:cxn modelId="{7FF6E8AB-D3E8-4130-B2A3-FECECCDA1B9D}" type="presParOf" srcId="{530E4164-6B8C-4AAD-A433-6DB63513BCB2}" destId="{E2C2D606-38DA-41C1-A94F-A6266918F331}" srcOrd="0" destOrd="0" presId="urn:microsoft.com/office/officeart/2008/layout/LinedList"/>
    <dgm:cxn modelId="{9FB51D7E-E8EC-4497-A76A-C67E8618525B}" type="presParOf" srcId="{530E4164-6B8C-4AAD-A433-6DB63513BCB2}" destId="{94E38F83-F494-4CC1-84ED-6AB05AA31D28}" srcOrd="1" destOrd="0" presId="urn:microsoft.com/office/officeart/2008/layout/LinedList"/>
    <dgm:cxn modelId="{98F81346-64AF-46A3-874C-2D1C6086DD1F}" type="presParOf" srcId="{60C9120A-1CDA-4DE5-BDBF-949287073931}" destId="{7FE0C5CC-7015-4FA5-9FA4-ACA6E10C225D}" srcOrd="6" destOrd="0" presId="urn:microsoft.com/office/officeart/2008/layout/LinedList"/>
    <dgm:cxn modelId="{A9909D27-C906-442B-BAB9-9653EBB18E31}" type="presParOf" srcId="{60C9120A-1CDA-4DE5-BDBF-949287073931}" destId="{03D4DC39-6BB4-4F17-B8DB-92426DFF1C79}" srcOrd="7" destOrd="0" presId="urn:microsoft.com/office/officeart/2008/layout/LinedList"/>
    <dgm:cxn modelId="{EF9D6894-C20D-4C07-BBF8-5D1212CA63D7}" type="presParOf" srcId="{03D4DC39-6BB4-4F17-B8DB-92426DFF1C79}" destId="{98F99621-1880-488E-A2FC-3F82654B09CE}" srcOrd="0" destOrd="0" presId="urn:microsoft.com/office/officeart/2008/layout/LinedList"/>
    <dgm:cxn modelId="{F2D087FE-DCD0-4673-8B01-0094DB7FAC8F}" type="presParOf" srcId="{03D4DC39-6BB4-4F17-B8DB-92426DFF1C79}" destId="{285B57A1-2314-4069-8449-C872364462EC}"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5B7377-78C3-4616-A452-F0FEC26780C5}">
      <dsp:nvSpPr>
        <dsp:cNvPr id="0" name=""/>
        <dsp:cNvSpPr/>
      </dsp:nvSpPr>
      <dsp:spPr>
        <a:xfrm>
          <a:off x="0" y="0"/>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FF20B01-C43C-4FBB-800B-128FBCD197B5}">
      <dsp:nvSpPr>
        <dsp:cNvPr id="0" name=""/>
        <dsp:cNvSpPr/>
      </dsp:nvSpPr>
      <dsp:spPr>
        <a:xfrm>
          <a:off x="0" y="0"/>
          <a:ext cx="105156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dirty="0"/>
            <a:t>The trap is a </a:t>
          </a:r>
          <a:r>
            <a:rPr lang="en-US" sz="3000" kern="1200" dirty="0">
              <a:highlight>
                <a:srgbClr val="FFFF00"/>
              </a:highlight>
            </a:rPr>
            <a:t>bent pipe, about 7.5 cm (3 in.) in diameter and is connected with the pan</a:t>
          </a:r>
          <a:r>
            <a:rPr lang="en-US" sz="3000" kern="1200" dirty="0"/>
            <a:t>. </a:t>
          </a:r>
        </a:p>
      </dsp:txBody>
      <dsp:txXfrm>
        <a:off x="0" y="0"/>
        <a:ext cx="10515600" cy="1087834"/>
      </dsp:txXfrm>
    </dsp:sp>
    <dsp:sp modelId="{6F2BC724-1A29-4D0D-AC2E-B59E8526D4EB}">
      <dsp:nvSpPr>
        <dsp:cNvPr id="0" name=""/>
        <dsp:cNvSpPr/>
      </dsp:nvSpPr>
      <dsp:spPr>
        <a:xfrm>
          <a:off x="0" y="1087834"/>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5DBC706-5848-448F-B523-272FDBDD842D}">
      <dsp:nvSpPr>
        <dsp:cNvPr id="0" name=""/>
        <dsp:cNvSpPr/>
      </dsp:nvSpPr>
      <dsp:spPr>
        <a:xfrm>
          <a:off x="0" y="1087834"/>
          <a:ext cx="105156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t>It holds water and provides the necessary ‘water seal’. </a:t>
          </a:r>
        </a:p>
      </dsp:txBody>
      <dsp:txXfrm>
        <a:off x="0" y="1087834"/>
        <a:ext cx="10515600" cy="1087834"/>
      </dsp:txXfrm>
    </dsp:sp>
    <dsp:sp modelId="{FC14DFC8-99A9-4073-B2EC-244DF2B60C39}">
      <dsp:nvSpPr>
        <dsp:cNvPr id="0" name=""/>
        <dsp:cNvSpPr/>
      </dsp:nvSpPr>
      <dsp:spPr>
        <a:xfrm>
          <a:off x="0" y="2175669"/>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2C2D606-38DA-41C1-A94F-A6266918F331}">
      <dsp:nvSpPr>
        <dsp:cNvPr id="0" name=""/>
        <dsp:cNvSpPr/>
      </dsp:nvSpPr>
      <dsp:spPr>
        <a:xfrm>
          <a:off x="0" y="2175669"/>
          <a:ext cx="105156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dirty="0"/>
            <a:t>The water seal is the </a:t>
          </a:r>
          <a:r>
            <a:rPr lang="en-US" sz="3000" kern="1200" dirty="0">
              <a:highlight>
                <a:srgbClr val="FFFF00"/>
              </a:highlight>
            </a:rPr>
            <a:t>distance between the level of water in the trap and the lowest point in the concave upper surface of the trap</a:t>
          </a:r>
          <a:r>
            <a:rPr lang="en-US" sz="3000" kern="1200" dirty="0"/>
            <a:t>. </a:t>
          </a:r>
        </a:p>
      </dsp:txBody>
      <dsp:txXfrm>
        <a:off x="0" y="2175669"/>
        <a:ext cx="10515600" cy="1087834"/>
      </dsp:txXfrm>
    </dsp:sp>
    <dsp:sp modelId="{7FE0C5CC-7015-4FA5-9FA4-ACA6E10C225D}">
      <dsp:nvSpPr>
        <dsp:cNvPr id="0" name=""/>
        <dsp:cNvSpPr/>
      </dsp:nvSpPr>
      <dsp:spPr>
        <a:xfrm>
          <a:off x="0" y="3263503"/>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8F99621-1880-488E-A2FC-3F82654B09CE}">
      <dsp:nvSpPr>
        <dsp:cNvPr id="0" name=""/>
        <dsp:cNvSpPr/>
      </dsp:nvSpPr>
      <dsp:spPr>
        <a:xfrm>
          <a:off x="0" y="3263503"/>
          <a:ext cx="105156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dirty="0"/>
            <a:t>The </a:t>
          </a:r>
          <a:r>
            <a:rPr lang="en-US" sz="3000" kern="1200" dirty="0">
              <a:highlight>
                <a:srgbClr val="FFFF00"/>
              </a:highlight>
            </a:rPr>
            <a:t>depth of the water seal (AB) in the RCA latrine is 2 cm</a:t>
          </a:r>
          <a:r>
            <a:rPr lang="en-US" sz="3000" kern="1200" dirty="0"/>
            <a:t>.</a:t>
          </a:r>
        </a:p>
      </dsp:txBody>
      <dsp:txXfrm>
        <a:off x="0" y="3263503"/>
        <a:ext cx="10515600" cy="1087834"/>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502FD-51E2-9CC5-4337-5D86A011BC6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0C481FB-BD83-7F26-1A61-EAB8A1A9BB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A2CFA77-DFDD-C62E-9B35-6A20D8E13BE3}"/>
              </a:ext>
            </a:extLst>
          </p:cNvPr>
          <p:cNvSpPr>
            <a:spLocks noGrp="1"/>
          </p:cNvSpPr>
          <p:nvPr>
            <p:ph type="dt" sz="half" idx="10"/>
          </p:nvPr>
        </p:nvSpPr>
        <p:spPr/>
        <p:txBody>
          <a:bodyPr/>
          <a:lstStyle/>
          <a:p>
            <a:fld id="{162715B9-3D24-423A-B3CD-E864FE409B95}" type="datetimeFigureOut">
              <a:rPr lang="en-US" smtClean="0"/>
              <a:t>9/11/2024</a:t>
            </a:fld>
            <a:endParaRPr lang="en-US"/>
          </a:p>
        </p:txBody>
      </p:sp>
      <p:sp>
        <p:nvSpPr>
          <p:cNvPr id="5" name="Footer Placeholder 4">
            <a:extLst>
              <a:ext uri="{FF2B5EF4-FFF2-40B4-BE49-F238E27FC236}">
                <a16:creationId xmlns:a16="http://schemas.microsoft.com/office/drawing/2014/main" id="{F17FE957-7DFA-0A21-0A1D-94DC53ADF6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61FE76-22A1-F531-DD3E-722ACA7CAACE}"/>
              </a:ext>
            </a:extLst>
          </p:cNvPr>
          <p:cNvSpPr>
            <a:spLocks noGrp="1"/>
          </p:cNvSpPr>
          <p:nvPr>
            <p:ph type="sldNum" sz="quarter" idx="12"/>
          </p:nvPr>
        </p:nvSpPr>
        <p:spPr/>
        <p:txBody>
          <a:bodyPr/>
          <a:lstStyle/>
          <a:p>
            <a:fld id="{990BE377-6FB8-4E9E-B235-5349A0D58BBE}" type="slidenum">
              <a:rPr lang="en-US" smtClean="0"/>
              <a:t>‹#›</a:t>
            </a:fld>
            <a:endParaRPr lang="en-US"/>
          </a:p>
        </p:txBody>
      </p:sp>
    </p:spTree>
    <p:extLst>
      <p:ext uri="{BB962C8B-B14F-4D97-AF65-F5344CB8AC3E}">
        <p14:creationId xmlns:p14="http://schemas.microsoft.com/office/powerpoint/2010/main" val="10976532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33225-F88F-B9B9-6962-FCE6B103446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580FAE4-C2C0-C9FA-71E4-D1C7CB9C843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FAF34D-6860-C25B-BFA2-98A39F69FB24}"/>
              </a:ext>
            </a:extLst>
          </p:cNvPr>
          <p:cNvSpPr>
            <a:spLocks noGrp="1"/>
          </p:cNvSpPr>
          <p:nvPr>
            <p:ph type="dt" sz="half" idx="10"/>
          </p:nvPr>
        </p:nvSpPr>
        <p:spPr/>
        <p:txBody>
          <a:bodyPr/>
          <a:lstStyle/>
          <a:p>
            <a:fld id="{162715B9-3D24-423A-B3CD-E864FE409B95}" type="datetimeFigureOut">
              <a:rPr lang="en-US" smtClean="0"/>
              <a:t>9/11/2024</a:t>
            </a:fld>
            <a:endParaRPr lang="en-US"/>
          </a:p>
        </p:txBody>
      </p:sp>
      <p:sp>
        <p:nvSpPr>
          <p:cNvPr id="5" name="Footer Placeholder 4">
            <a:extLst>
              <a:ext uri="{FF2B5EF4-FFF2-40B4-BE49-F238E27FC236}">
                <a16:creationId xmlns:a16="http://schemas.microsoft.com/office/drawing/2014/main" id="{76FA4ACE-9C34-7879-DC66-ECEE5FF943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D0BE48-034A-E900-C79B-A0DA8250D6F8}"/>
              </a:ext>
            </a:extLst>
          </p:cNvPr>
          <p:cNvSpPr>
            <a:spLocks noGrp="1"/>
          </p:cNvSpPr>
          <p:nvPr>
            <p:ph type="sldNum" sz="quarter" idx="12"/>
          </p:nvPr>
        </p:nvSpPr>
        <p:spPr/>
        <p:txBody>
          <a:bodyPr/>
          <a:lstStyle/>
          <a:p>
            <a:fld id="{990BE377-6FB8-4E9E-B235-5349A0D58BBE}" type="slidenum">
              <a:rPr lang="en-US" smtClean="0"/>
              <a:t>‹#›</a:t>
            </a:fld>
            <a:endParaRPr lang="en-US"/>
          </a:p>
        </p:txBody>
      </p:sp>
    </p:spTree>
    <p:extLst>
      <p:ext uri="{BB962C8B-B14F-4D97-AF65-F5344CB8AC3E}">
        <p14:creationId xmlns:p14="http://schemas.microsoft.com/office/powerpoint/2010/main" val="50525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BEFC1-FB62-2A48-7D5F-1AE41C83125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3A55200-31F1-B5B9-97CC-963B2080320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BE0BB4-F4B3-39E8-7D48-A5665BAA43AF}"/>
              </a:ext>
            </a:extLst>
          </p:cNvPr>
          <p:cNvSpPr>
            <a:spLocks noGrp="1"/>
          </p:cNvSpPr>
          <p:nvPr>
            <p:ph type="dt" sz="half" idx="10"/>
          </p:nvPr>
        </p:nvSpPr>
        <p:spPr/>
        <p:txBody>
          <a:bodyPr/>
          <a:lstStyle/>
          <a:p>
            <a:fld id="{162715B9-3D24-423A-B3CD-E864FE409B95}" type="datetimeFigureOut">
              <a:rPr lang="en-US" smtClean="0"/>
              <a:t>9/11/2024</a:t>
            </a:fld>
            <a:endParaRPr lang="en-US"/>
          </a:p>
        </p:txBody>
      </p:sp>
      <p:sp>
        <p:nvSpPr>
          <p:cNvPr id="5" name="Footer Placeholder 4">
            <a:extLst>
              <a:ext uri="{FF2B5EF4-FFF2-40B4-BE49-F238E27FC236}">
                <a16:creationId xmlns:a16="http://schemas.microsoft.com/office/drawing/2014/main" id="{83C301AA-EFEE-6405-EE91-0B28692140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BE0DC3-5E08-EEC2-0A27-8EE9F3C135DB}"/>
              </a:ext>
            </a:extLst>
          </p:cNvPr>
          <p:cNvSpPr>
            <a:spLocks noGrp="1"/>
          </p:cNvSpPr>
          <p:nvPr>
            <p:ph type="sldNum" sz="quarter" idx="12"/>
          </p:nvPr>
        </p:nvSpPr>
        <p:spPr/>
        <p:txBody>
          <a:bodyPr/>
          <a:lstStyle/>
          <a:p>
            <a:fld id="{990BE377-6FB8-4E9E-B235-5349A0D58BBE}" type="slidenum">
              <a:rPr lang="en-US" smtClean="0"/>
              <a:t>‹#›</a:t>
            </a:fld>
            <a:endParaRPr lang="en-US"/>
          </a:p>
        </p:txBody>
      </p:sp>
    </p:spTree>
    <p:extLst>
      <p:ext uri="{BB962C8B-B14F-4D97-AF65-F5344CB8AC3E}">
        <p14:creationId xmlns:p14="http://schemas.microsoft.com/office/powerpoint/2010/main" val="27948775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A3239-ED5B-FD99-C41D-1211B3DCEA8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A914F3D-8770-816E-8C42-5AACBEB35EC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8F73E5F-C745-6FC6-B7C6-4B2D5556F85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D75D884-7677-D5AF-28F4-83D3F43F1D75}"/>
              </a:ext>
            </a:extLst>
          </p:cNvPr>
          <p:cNvSpPr>
            <a:spLocks noGrp="1"/>
          </p:cNvSpPr>
          <p:nvPr>
            <p:ph type="dt" sz="half" idx="10"/>
          </p:nvPr>
        </p:nvSpPr>
        <p:spPr/>
        <p:txBody>
          <a:bodyPr/>
          <a:lstStyle/>
          <a:p>
            <a:fld id="{162715B9-3D24-423A-B3CD-E864FE409B95}" type="datetimeFigureOut">
              <a:rPr lang="en-US" smtClean="0"/>
              <a:t>9/11/2024</a:t>
            </a:fld>
            <a:endParaRPr lang="en-US"/>
          </a:p>
        </p:txBody>
      </p:sp>
      <p:sp>
        <p:nvSpPr>
          <p:cNvPr id="6" name="Footer Placeholder 5">
            <a:extLst>
              <a:ext uri="{FF2B5EF4-FFF2-40B4-BE49-F238E27FC236}">
                <a16:creationId xmlns:a16="http://schemas.microsoft.com/office/drawing/2014/main" id="{6964C211-B340-985F-8BF7-3A6E6FEA1F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B4FD26-68B6-605F-7FBB-B697331B362A}"/>
              </a:ext>
            </a:extLst>
          </p:cNvPr>
          <p:cNvSpPr>
            <a:spLocks noGrp="1"/>
          </p:cNvSpPr>
          <p:nvPr>
            <p:ph type="sldNum" sz="quarter" idx="12"/>
          </p:nvPr>
        </p:nvSpPr>
        <p:spPr/>
        <p:txBody>
          <a:bodyPr/>
          <a:lstStyle/>
          <a:p>
            <a:fld id="{990BE377-6FB8-4E9E-B235-5349A0D58BBE}" type="slidenum">
              <a:rPr lang="en-US" smtClean="0"/>
              <a:t>‹#›</a:t>
            </a:fld>
            <a:endParaRPr lang="en-US"/>
          </a:p>
        </p:txBody>
      </p:sp>
    </p:spTree>
    <p:extLst>
      <p:ext uri="{BB962C8B-B14F-4D97-AF65-F5344CB8AC3E}">
        <p14:creationId xmlns:p14="http://schemas.microsoft.com/office/powerpoint/2010/main" val="17201663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660C7-99DF-BFB5-E9B5-524BE6A42C5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AB21B1F-453E-15F1-CEE1-C3A9789934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4CC3AD-C529-0B98-6831-F7FD5C4EA12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E0F559C-AFFB-1618-6771-E5116BF046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F787FDF-BF5B-7E9F-9489-64529CEDB50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1A99285-3301-5890-4379-3E2FCDAEA662}"/>
              </a:ext>
            </a:extLst>
          </p:cNvPr>
          <p:cNvSpPr>
            <a:spLocks noGrp="1"/>
          </p:cNvSpPr>
          <p:nvPr>
            <p:ph type="dt" sz="half" idx="10"/>
          </p:nvPr>
        </p:nvSpPr>
        <p:spPr/>
        <p:txBody>
          <a:bodyPr/>
          <a:lstStyle/>
          <a:p>
            <a:fld id="{162715B9-3D24-423A-B3CD-E864FE409B95}" type="datetimeFigureOut">
              <a:rPr lang="en-US" smtClean="0"/>
              <a:t>9/11/2024</a:t>
            </a:fld>
            <a:endParaRPr lang="en-US"/>
          </a:p>
        </p:txBody>
      </p:sp>
      <p:sp>
        <p:nvSpPr>
          <p:cNvPr id="8" name="Footer Placeholder 7">
            <a:extLst>
              <a:ext uri="{FF2B5EF4-FFF2-40B4-BE49-F238E27FC236}">
                <a16:creationId xmlns:a16="http://schemas.microsoft.com/office/drawing/2014/main" id="{0BDEA3C9-B015-A661-D4AA-CC56A6F6625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B4F2422-89E2-E760-331B-81F1BEC35620}"/>
              </a:ext>
            </a:extLst>
          </p:cNvPr>
          <p:cNvSpPr>
            <a:spLocks noGrp="1"/>
          </p:cNvSpPr>
          <p:nvPr>
            <p:ph type="sldNum" sz="quarter" idx="12"/>
          </p:nvPr>
        </p:nvSpPr>
        <p:spPr/>
        <p:txBody>
          <a:bodyPr/>
          <a:lstStyle/>
          <a:p>
            <a:fld id="{990BE377-6FB8-4E9E-B235-5349A0D58BBE}" type="slidenum">
              <a:rPr lang="en-US" smtClean="0"/>
              <a:t>‹#›</a:t>
            </a:fld>
            <a:endParaRPr lang="en-US"/>
          </a:p>
        </p:txBody>
      </p:sp>
    </p:spTree>
    <p:extLst>
      <p:ext uri="{BB962C8B-B14F-4D97-AF65-F5344CB8AC3E}">
        <p14:creationId xmlns:p14="http://schemas.microsoft.com/office/powerpoint/2010/main" val="15965692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CEF10-E224-B5C8-6D9B-19402FDCAA0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53C1386-1F8E-82D0-5C4C-5B5E8B7182A5}"/>
              </a:ext>
            </a:extLst>
          </p:cNvPr>
          <p:cNvSpPr>
            <a:spLocks noGrp="1"/>
          </p:cNvSpPr>
          <p:nvPr>
            <p:ph type="dt" sz="half" idx="10"/>
          </p:nvPr>
        </p:nvSpPr>
        <p:spPr/>
        <p:txBody>
          <a:bodyPr/>
          <a:lstStyle/>
          <a:p>
            <a:fld id="{162715B9-3D24-423A-B3CD-E864FE409B95}" type="datetimeFigureOut">
              <a:rPr lang="en-US" smtClean="0"/>
              <a:t>9/11/2024</a:t>
            </a:fld>
            <a:endParaRPr lang="en-US"/>
          </a:p>
        </p:txBody>
      </p:sp>
      <p:sp>
        <p:nvSpPr>
          <p:cNvPr id="4" name="Footer Placeholder 3">
            <a:extLst>
              <a:ext uri="{FF2B5EF4-FFF2-40B4-BE49-F238E27FC236}">
                <a16:creationId xmlns:a16="http://schemas.microsoft.com/office/drawing/2014/main" id="{7148E2A8-46F9-EED1-A570-5CA7E6C6C38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22FD45F-D810-58F1-CA90-65791F0714BD}"/>
              </a:ext>
            </a:extLst>
          </p:cNvPr>
          <p:cNvSpPr>
            <a:spLocks noGrp="1"/>
          </p:cNvSpPr>
          <p:nvPr>
            <p:ph type="sldNum" sz="quarter" idx="12"/>
          </p:nvPr>
        </p:nvSpPr>
        <p:spPr/>
        <p:txBody>
          <a:bodyPr/>
          <a:lstStyle/>
          <a:p>
            <a:fld id="{990BE377-6FB8-4E9E-B235-5349A0D58BBE}" type="slidenum">
              <a:rPr lang="en-US" smtClean="0"/>
              <a:t>‹#›</a:t>
            </a:fld>
            <a:endParaRPr lang="en-US"/>
          </a:p>
        </p:txBody>
      </p:sp>
    </p:spTree>
    <p:extLst>
      <p:ext uri="{BB962C8B-B14F-4D97-AF65-F5344CB8AC3E}">
        <p14:creationId xmlns:p14="http://schemas.microsoft.com/office/powerpoint/2010/main" val="2349014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149882-16D7-3928-174B-932617DBC6F7}"/>
              </a:ext>
            </a:extLst>
          </p:cNvPr>
          <p:cNvSpPr>
            <a:spLocks noGrp="1"/>
          </p:cNvSpPr>
          <p:nvPr>
            <p:ph type="dt" sz="half" idx="10"/>
          </p:nvPr>
        </p:nvSpPr>
        <p:spPr/>
        <p:txBody>
          <a:bodyPr/>
          <a:lstStyle/>
          <a:p>
            <a:fld id="{162715B9-3D24-423A-B3CD-E864FE409B95}" type="datetimeFigureOut">
              <a:rPr lang="en-US" smtClean="0"/>
              <a:t>9/11/2024</a:t>
            </a:fld>
            <a:endParaRPr lang="en-US"/>
          </a:p>
        </p:txBody>
      </p:sp>
      <p:sp>
        <p:nvSpPr>
          <p:cNvPr id="3" name="Footer Placeholder 2">
            <a:extLst>
              <a:ext uri="{FF2B5EF4-FFF2-40B4-BE49-F238E27FC236}">
                <a16:creationId xmlns:a16="http://schemas.microsoft.com/office/drawing/2014/main" id="{F0E28DBE-DDCE-527E-FE82-675E1E4E1F2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AB0D1CA-6366-6F3F-126E-591567898C41}"/>
              </a:ext>
            </a:extLst>
          </p:cNvPr>
          <p:cNvSpPr>
            <a:spLocks noGrp="1"/>
          </p:cNvSpPr>
          <p:nvPr>
            <p:ph type="sldNum" sz="quarter" idx="12"/>
          </p:nvPr>
        </p:nvSpPr>
        <p:spPr/>
        <p:txBody>
          <a:bodyPr/>
          <a:lstStyle/>
          <a:p>
            <a:fld id="{990BE377-6FB8-4E9E-B235-5349A0D58BBE}" type="slidenum">
              <a:rPr lang="en-US" smtClean="0"/>
              <a:t>‹#›</a:t>
            </a:fld>
            <a:endParaRPr lang="en-US"/>
          </a:p>
        </p:txBody>
      </p:sp>
    </p:spTree>
    <p:extLst>
      <p:ext uri="{BB962C8B-B14F-4D97-AF65-F5344CB8AC3E}">
        <p14:creationId xmlns:p14="http://schemas.microsoft.com/office/powerpoint/2010/main" val="15300948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B22D5-7B68-ED98-525C-49D5DB3E2E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6456644-34A4-AB29-CE81-57EA2DC2E5C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BC80C9D-7210-1F2A-2CB0-C94AEEA9D2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407D17-8BD7-990E-A499-AD795286F9FE}"/>
              </a:ext>
            </a:extLst>
          </p:cNvPr>
          <p:cNvSpPr>
            <a:spLocks noGrp="1"/>
          </p:cNvSpPr>
          <p:nvPr>
            <p:ph type="dt" sz="half" idx="10"/>
          </p:nvPr>
        </p:nvSpPr>
        <p:spPr/>
        <p:txBody>
          <a:bodyPr/>
          <a:lstStyle/>
          <a:p>
            <a:fld id="{162715B9-3D24-423A-B3CD-E864FE409B95}" type="datetimeFigureOut">
              <a:rPr lang="en-US" smtClean="0"/>
              <a:t>9/11/2024</a:t>
            </a:fld>
            <a:endParaRPr lang="en-US"/>
          </a:p>
        </p:txBody>
      </p:sp>
      <p:sp>
        <p:nvSpPr>
          <p:cNvPr id="6" name="Footer Placeholder 5">
            <a:extLst>
              <a:ext uri="{FF2B5EF4-FFF2-40B4-BE49-F238E27FC236}">
                <a16:creationId xmlns:a16="http://schemas.microsoft.com/office/drawing/2014/main" id="{AA9FA0FB-04F4-17C3-5C9C-8FD1C65233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799E48-DA53-382C-1351-F71AE65CE367}"/>
              </a:ext>
            </a:extLst>
          </p:cNvPr>
          <p:cNvSpPr>
            <a:spLocks noGrp="1"/>
          </p:cNvSpPr>
          <p:nvPr>
            <p:ph type="sldNum" sz="quarter" idx="12"/>
          </p:nvPr>
        </p:nvSpPr>
        <p:spPr/>
        <p:txBody>
          <a:bodyPr/>
          <a:lstStyle/>
          <a:p>
            <a:fld id="{990BE377-6FB8-4E9E-B235-5349A0D58BBE}" type="slidenum">
              <a:rPr lang="en-US" smtClean="0"/>
              <a:t>‹#›</a:t>
            </a:fld>
            <a:endParaRPr lang="en-US"/>
          </a:p>
        </p:txBody>
      </p:sp>
    </p:spTree>
    <p:extLst>
      <p:ext uri="{BB962C8B-B14F-4D97-AF65-F5344CB8AC3E}">
        <p14:creationId xmlns:p14="http://schemas.microsoft.com/office/powerpoint/2010/main" val="33036881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24522-693B-D94F-50D5-56F95F7C1B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7E999F4-5494-8CEB-601E-DA4C0B162A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84E71B2-A872-C5DA-94C3-83EB456DA5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7006CD-01A9-AC87-077D-F736459D4A2F}"/>
              </a:ext>
            </a:extLst>
          </p:cNvPr>
          <p:cNvSpPr>
            <a:spLocks noGrp="1"/>
          </p:cNvSpPr>
          <p:nvPr>
            <p:ph type="dt" sz="half" idx="10"/>
          </p:nvPr>
        </p:nvSpPr>
        <p:spPr/>
        <p:txBody>
          <a:bodyPr/>
          <a:lstStyle/>
          <a:p>
            <a:fld id="{162715B9-3D24-423A-B3CD-E864FE409B95}" type="datetimeFigureOut">
              <a:rPr lang="en-US" smtClean="0"/>
              <a:t>9/11/2024</a:t>
            </a:fld>
            <a:endParaRPr lang="en-US"/>
          </a:p>
        </p:txBody>
      </p:sp>
      <p:sp>
        <p:nvSpPr>
          <p:cNvPr id="6" name="Footer Placeholder 5">
            <a:extLst>
              <a:ext uri="{FF2B5EF4-FFF2-40B4-BE49-F238E27FC236}">
                <a16:creationId xmlns:a16="http://schemas.microsoft.com/office/drawing/2014/main" id="{5DCE5260-13B6-9974-1A1A-5EDA9C5520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FFE5E5-9A28-24A6-5AD5-95A6C20D1D57}"/>
              </a:ext>
            </a:extLst>
          </p:cNvPr>
          <p:cNvSpPr>
            <a:spLocks noGrp="1"/>
          </p:cNvSpPr>
          <p:nvPr>
            <p:ph type="sldNum" sz="quarter" idx="12"/>
          </p:nvPr>
        </p:nvSpPr>
        <p:spPr/>
        <p:txBody>
          <a:bodyPr/>
          <a:lstStyle/>
          <a:p>
            <a:fld id="{990BE377-6FB8-4E9E-B235-5349A0D58BBE}" type="slidenum">
              <a:rPr lang="en-US" smtClean="0"/>
              <a:t>‹#›</a:t>
            </a:fld>
            <a:endParaRPr lang="en-US"/>
          </a:p>
        </p:txBody>
      </p:sp>
    </p:spTree>
    <p:extLst>
      <p:ext uri="{BB962C8B-B14F-4D97-AF65-F5344CB8AC3E}">
        <p14:creationId xmlns:p14="http://schemas.microsoft.com/office/powerpoint/2010/main" val="36443862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1EABF-1226-4BF9-13A1-378ABECB936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F9243D4-D227-0889-E786-4657FAF7298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434DAA-5256-A632-D979-F31C406786A6}"/>
              </a:ext>
            </a:extLst>
          </p:cNvPr>
          <p:cNvSpPr>
            <a:spLocks noGrp="1"/>
          </p:cNvSpPr>
          <p:nvPr>
            <p:ph type="dt" sz="half" idx="10"/>
          </p:nvPr>
        </p:nvSpPr>
        <p:spPr/>
        <p:txBody>
          <a:bodyPr/>
          <a:lstStyle/>
          <a:p>
            <a:fld id="{162715B9-3D24-423A-B3CD-E864FE409B95}" type="datetimeFigureOut">
              <a:rPr lang="en-US" smtClean="0"/>
              <a:t>9/11/2024</a:t>
            </a:fld>
            <a:endParaRPr lang="en-US"/>
          </a:p>
        </p:txBody>
      </p:sp>
      <p:sp>
        <p:nvSpPr>
          <p:cNvPr id="5" name="Footer Placeholder 4">
            <a:extLst>
              <a:ext uri="{FF2B5EF4-FFF2-40B4-BE49-F238E27FC236}">
                <a16:creationId xmlns:a16="http://schemas.microsoft.com/office/drawing/2014/main" id="{BCB7E51D-2E4D-351F-BFE1-8C0FD90A13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2D0CE4-DB1B-695A-49E5-6FFA775B4B8D}"/>
              </a:ext>
            </a:extLst>
          </p:cNvPr>
          <p:cNvSpPr>
            <a:spLocks noGrp="1"/>
          </p:cNvSpPr>
          <p:nvPr>
            <p:ph type="sldNum" sz="quarter" idx="12"/>
          </p:nvPr>
        </p:nvSpPr>
        <p:spPr/>
        <p:txBody>
          <a:bodyPr/>
          <a:lstStyle/>
          <a:p>
            <a:fld id="{990BE377-6FB8-4E9E-B235-5349A0D58BBE}" type="slidenum">
              <a:rPr lang="en-US" smtClean="0"/>
              <a:t>‹#›</a:t>
            </a:fld>
            <a:endParaRPr lang="en-US"/>
          </a:p>
        </p:txBody>
      </p:sp>
    </p:spTree>
    <p:extLst>
      <p:ext uri="{BB962C8B-B14F-4D97-AF65-F5344CB8AC3E}">
        <p14:creationId xmlns:p14="http://schemas.microsoft.com/office/powerpoint/2010/main" val="23518959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1CF3616-1CDE-231B-4836-4BF3951F658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ABA06AC-F3BC-8443-43E8-B44C0A33E42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C6D5B1-92CB-1353-A274-30EEAB591163}"/>
              </a:ext>
            </a:extLst>
          </p:cNvPr>
          <p:cNvSpPr>
            <a:spLocks noGrp="1"/>
          </p:cNvSpPr>
          <p:nvPr>
            <p:ph type="dt" sz="half" idx="10"/>
          </p:nvPr>
        </p:nvSpPr>
        <p:spPr/>
        <p:txBody>
          <a:bodyPr/>
          <a:lstStyle/>
          <a:p>
            <a:fld id="{162715B9-3D24-423A-B3CD-E864FE409B95}" type="datetimeFigureOut">
              <a:rPr lang="en-US" smtClean="0"/>
              <a:t>9/11/2024</a:t>
            </a:fld>
            <a:endParaRPr lang="en-US"/>
          </a:p>
        </p:txBody>
      </p:sp>
      <p:sp>
        <p:nvSpPr>
          <p:cNvPr id="5" name="Footer Placeholder 4">
            <a:extLst>
              <a:ext uri="{FF2B5EF4-FFF2-40B4-BE49-F238E27FC236}">
                <a16:creationId xmlns:a16="http://schemas.microsoft.com/office/drawing/2014/main" id="{2D4AB4A1-F17A-5DCF-1D3B-CC8521E39D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80431A-25F4-563D-3604-A6D9CF1CE8DD}"/>
              </a:ext>
            </a:extLst>
          </p:cNvPr>
          <p:cNvSpPr>
            <a:spLocks noGrp="1"/>
          </p:cNvSpPr>
          <p:nvPr>
            <p:ph type="sldNum" sz="quarter" idx="12"/>
          </p:nvPr>
        </p:nvSpPr>
        <p:spPr/>
        <p:txBody>
          <a:bodyPr/>
          <a:lstStyle/>
          <a:p>
            <a:fld id="{990BE377-6FB8-4E9E-B235-5349A0D58BBE}" type="slidenum">
              <a:rPr lang="en-US" smtClean="0"/>
              <a:t>‹#›</a:t>
            </a:fld>
            <a:endParaRPr lang="en-US"/>
          </a:p>
        </p:txBody>
      </p:sp>
    </p:spTree>
    <p:extLst>
      <p:ext uri="{BB962C8B-B14F-4D97-AF65-F5344CB8AC3E}">
        <p14:creationId xmlns:p14="http://schemas.microsoft.com/office/powerpoint/2010/main" val="40850980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4D2A7B4-DE04-A23D-7421-EE49B23A7C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ADF3654-FC3F-CFD1-7133-FA0198978C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3D9C91-DE48-2FDA-85CD-B1AE77F0CE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62715B9-3D24-423A-B3CD-E864FE409B95}" type="datetimeFigureOut">
              <a:rPr lang="en-US" smtClean="0"/>
              <a:t>9/11/2024</a:t>
            </a:fld>
            <a:endParaRPr lang="en-US"/>
          </a:p>
        </p:txBody>
      </p:sp>
      <p:sp>
        <p:nvSpPr>
          <p:cNvPr id="5" name="Footer Placeholder 4">
            <a:extLst>
              <a:ext uri="{FF2B5EF4-FFF2-40B4-BE49-F238E27FC236}">
                <a16:creationId xmlns:a16="http://schemas.microsoft.com/office/drawing/2014/main" id="{AAA394D6-66AC-A8A4-3067-897E1A7A9F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A49D419-03E2-AB16-360E-E6893BEDC3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90BE377-6FB8-4E9E-B235-5349A0D58BBE}" type="slidenum">
              <a:rPr lang="en-US" smtClean="0"/>
              <a:t>‹#›</a:t>
            </a:fld>
            <a:endParaRPr lang="en-US"/>
          </a:p>
        </p:txBody>
      </p:sp>
    </p:spTree>
    <p:extLst>
      <p:ext uri="{BB962C8B-B14F-4D97-AF65-F5344CB8AC3E}">
        <p14:creationId xmlns:p14="http://schemas.microsoft.com/office/powerpoint/2010/main" val="34152467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diagramLayout" Target="../diagrams/layout1.xml"/><Relationship Id="rId7" Type="http://schemas.openxmlformats.org/officeDocument/2006/relationships/image" Target="../media/image8.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Grietas en el suelo">
            <a:extLst>
              <a:ext uri="{FF2B5EF4-FFF2-40B4-BE49-F238E27FC236}">
                <a16:creationId xmlns:a16="http://schemas.microsoft.com/office/drawing/2014/main" id="{493D7D45-BAAB-7B27-517F-1B6F2E95D459}"/>
              </a:ext>
            </a:extLst>
          </p:cNvPr>
          <p:cNvPicPr>
            <a:picLocks noChangeAspect="1"/>
          </p:cNvPicPr>
          <p:nvPr/>
        </p:nvPicPr>
        <p:blipFill>
          <a:blip r:embed="rId2"/>
          <a:srcRect b="4661"/>
          <a:stretch/>
        </p:blipFill>
        <p:spPr>
          <a:xfrm>
            <a:off x="-3047" y="10"/>
            <a:ext cx="12191999" cy="6857990"/>
          </a:xfrm>
          <a:prstGeom prst="rect">
            <a:avLst/>
          </a:prstGeom>
        </p:spPr>
      </p:pic>
      <p:sp>
        <p:nvSpPr>
          <p:cNvPr id="12" name="Rectangle 11">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1C2ADE-5179-6FFD-CA6A-404759CE5F64}"/>
              </a:ext>
            </a:extLst>
          </p:cNvPr>
          <p:cNvSpPr>
            <a:spLocks noGrp="1"/>
          </p:cNvSpPr>
          <p:nvPr>
            <p:ph type="ctrTitle"/>
          </p:nvPr>
        </p:nvSpPr>
        <p:spPr>
          <a:xfrm>
            <a:off x="1097280" y="325550"/>
            <a:ext cx="10058400" cy="3574778"/>
          </a:xfrm>
          <a:effectLst>
            <a:outerShdw blurRad="50800" dist="38100" dir="2700000" algn="tl" rotWithShape="0">
              <a:prstClr val="black">
                <a:alpha val="40000"/>
              </a:prstClr>
            </a:outerShdw>
          </a:effectLst>
        </p:spPr>
        <p:txBody>
          <a:bodyPr>
            <a:normAutofit/>
          </a:bodyPr>
          <a:lstStyle/>
          <a:p>
            <a:r>
              <a:rPr lang="en-US" sz="5200" dirty="0"/>
              <a:t>Excreta disposal</a:t>
            </a:r>
          </a:p>
        </p:txBody>
      </p:sp>
      <p:sp>
        <p:nvSpPr>
          <p:cNvPr id="4" name="Subtitle 3">
            <a:extLst>
              <a:ext uri="{FF2B5EF4-FFF2-40B4-BE49-F238E27FC236}">
                <a16:creationId xmlns:a16="http://schemas.microsoft.com/office/drawing/2014/main" id="{3F4DAA5D-2B65-0F78-8118-00982B2372AE}"/>
              </a:ext>
            </a:extLst>
          </p:cNvPr>
          <p:cNvSpPr>
            <a:spLocks noGrp="1"/>
          </p:cNvSpPr>
          <p:nvPr>
            <p:ph type="subTitle" idx="1"/>
          </p:nvPr>
        </p:nvSpPr>
        <p:spPr>
          <a:xfrm>
            <a:off x="1100051" y="4072043"/>
            <a:ext cx="10058400" cy="1282707"/>
          </a:xfrm>
          <a:effectLst>
            <a:outerShdw blurRad="50800" dist="38100" dir="2700000" algn="tl" rotWithShape="0">
              <a:prstClr val="black">
                <a:alpha val="40000"/>
              </a:prstClr>
            </a:outerShdw>
          </a:effectLst>
        </p:spPr>
        <p:txBody>
          <a:bodyPr>
            <a:normAutofit/>
          </a:bodyPr>
          <a:lstStyle/>
          <a:p>
            <a:endParaRPr lang="en-US">
              <a:solidFill>
                <a:srgbClr val="FFFFFF"/>
              </a:solidFill>
            </a:endParaRPr>
          </a:p>
        </p:txBody>
      </p:sp>
    </p:spTree>
    <p:extLst>
      <p:ext uri="{BB962C8B-B14F-4D97-AF65-F5344CB8AC3E}">
        <p14:creationId xmlns:p14="http://schemas.microsoft.com/office/powerpoint/2010/main" val="469726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88F1B-09D8-DDA8-ADCA-040B48B15BA6}"/>
              </a:ext>
            </a:extLst>
          </p:cNvPr>
          <p:cNvSpPr>
            <a:spLocks noGrp="1"/>
          </p:cNvSpPr>
          <p:nvPr>
            <p:ph type="title"/>
          </p:nvPr>
        </p:nvSpPr>
        <p:spPr>
          <a:xfrm>
            <a:off x="691079" y="283030"/>
            <a:ext cx="10325000" cy="609363"/>
          </a:xfrm>
        </p:spPr>
        <p:txBody>
          <a:bodyPr>
            <a:normAutofit fontScale="90000"/>
          </a:bodyPr>
          <a:lstStyle/>
          <a:p>
            <a:r>
              <a:rPr lang="en-US" sz="4000" b="1" dirty="0"/>
              <a:t>Methods of excreta disposal (unsewered areas)</a:t>
            </a:r>
          </a:p>
        </p:txBody>
      </p:sp>
      <p:sp>
        <p:nvSpPr>
          <p:cNvPr id="3" name="Content Placeholder 2">
            <a:extLst>
              <a:ext uri="{FF2B5EF4-FFF2-40B4-BE49-F238E27FC236}">
                <a16:creationId xmlns:a16="http://schemas.microsoft.com/office/drawing/2014/main" id="{BFCC1662-47C6-EDD3-1FE6-78C87DEF9529}"/>
              </a:ext>
            </a:extLst>
          </p:cNvPr>
          <p:cNvSpPr>
            <a:spLocks noGrp="1"/>
          </p:cNvSpPr>
          <p:nvPr>
            <p:ph idx="1"/>
          </p:nvPr>
        </p:nvSpPr>
        <p:spPr>
          <a:xfrm>
            <a:off x="691079" y="1335313"/>
            <a:ext cx="10325000" cy="5239657"/>
          </a:xfrm>
        </p:spPr>
        <p:txBody>
          <a:bodyPr numCol="2">
            <a:normAutofit/>
          </a:bodyPr>
          <a:lstStyle/>
          <a:p>
            <a:pPr marL="0" indent="0">
              <a:buNone/>
            </a:pPr>
            <a:r>
              <a:rPr lang="en-US" b="1" dirty="0"/>
              <a:t>SERVICE TYPE LATRINES </a:t>
            </a:r>
            <a:r>
              <a:rPr lang="en-US" dirty="0"/>
              <a:t>(CONSERVANCY SYSTEM)</a:t>
            </a:r>
          </a:p>
          <a:p>
            <a:pPr lvl="1"/>
            <a:r>
              <a:rPr lang="en-US" dirty="0"/>
              <a:t>Nightsoil is collected from pail or bucket type of latrines by human agency, and later disposed of by </a:t>
            </a:r>
            <a:r>
              <a:rPr lang="en-US" dirty="0" err="1"/>
              <a:t>buryinq</a:t>
            </a:r>
            <a:r>
              <a:rPr lang="en-US" dirty="0"/>
              <a:t> or composting</a:t>
            </a:r>
          </a:p>
          <a:p>
            <a:pPr marL="0" indent="0">
              <a:buNone/>
            </a:pPr>
            <a:r>
              <a:rPr lang="en-US" b="1" dirty="0"/>
              <a:t>NON-SERVICE TYPE (SANITARY LATRINES)</a:t>
            </a:r>
          </a:p>
          <a:p>
            <a:r>
              <a:rPr lang="en-US" dirty="0"/>
              <a:t>(a) Bore hole latrine</a:t>
            </a:r>
          </a:p>
          <a:p>
            <a:r>
              <a:rPr lang="en-US" dirty="0"/>
              <a:t>(b) Dug well or pit latrine</a:t>
            </a:r>
          </a:p>
          <a:p>
            <a:r>
              <a:rPr lang="en-US" dirty="0"/>
              <a:t>(c) Water-seal type of latrines</a:t>
            </a:r>
          </a:p>
          <a:p>
            <a:pPr lvl="1"/>
            <a:r>
              <a:rPr lang="en-US" dirty="0"/>
              <a:t>(</a:t>
            </a:r>
            <a:r>
              <a:rPr lang="en-US" dirty="0" err="1"/>
              <a:t>i</a:t>
            </a:r>
            <a:r>
              <a:rPr lang="en-US" dirty="0"/>
              <a:t>) RR.A.I. type</a:t>
            </a:r>
          </a:p>
          <a:p>
            <a:pPr lvl="1"/>
            <a:r>
              <a:rPr lang="en-US" dirty="0"/>
              <a:t>(ii) R.C.A. type</a:t>
            </a:r>
          </a:p>
          <a:p>
            <a:pPr lvl="1"/>
            <a:r>
              <a:rPr lang="en-US" dirty="0"/>
              <a:t>(iii) </a:t>
            </a:r>
            <a:r>
              <a:rPr lang="en-US" dirty="0" err="1"/>
              <a:t>Sulabh</a:t>
            </a:r>
            <a:r>
              <a:rPr lang="en-US" dirty="0"/>
              <a:t> </a:t>
            </a:r>
            <a:r>
              <a:rPr lang="en-US" dirty="0" err="1"/>
              <a:t>Shauchalaya</a:t>
            </a:r>
            <a:r>
              <a:rPr lang="en-US" dirty="0"/>
              <a:t>.</a:t>
            </a:r>
          </a:p>
          <a:p>
            <a:r>
              <a:rPr lang="en-US" dirty="0"/>
              <a:t>(d) Septic tank</a:t>
            </a:r>
          </a:p>
          <a:p>
            <a:r>
              <a:rPr lang="en-US" dirty="0"/>
              <a:t>(e) Aqua privy.</a:t>
            </a:r>
          </a:p>
          <a:p>
            <a:pPr marL="0" indent="0">
              <a:buNone/>
            </a:pPr>
            <a:r>
              <a:rPr lang="en-US" b="1" dirty="0"/>
              <a:t>LATRINES SUITABLE FOR CAMPS AND TEMPORARY USE</a:t>
            </a:r>
          </a:p>
          <a:p>
            <a:r>
              <a:rPr lang="en-US" dirty="0"/>
              <a:t>(a) Shallow trench latrine</a:t>
            </a:r>
          </a:p>
          <a:p>
            <a:r>
              <a:rPr lang="en-US" dirty="0"/>
              <a:t>(b) Deep trench latrine</a:t>
            </a:r>
          </a:p>
          <a:p>
            <a:r>
              <a:rPr lang="en-US" dirty="0"/>
              <a:t>(c) Pit latrine</a:t>
            </a:r>
          </a:p>
          <a:p>
            <a:r>
              <a:rPr lang="en-US" dirty="0"/>
              <a:t>(d) Bore hole latrine</a:t>
            </a:r>
          </a:p>
        </p:txBody>
      </p:sp>
    </p:spTree>
    <p:extLst>
      <p:ext uri="{BB962C8B-B14F-4D97-AF65-F5344CB8AC3E}">
        <p14:creationId xmlns:p14="http://schemas.microsoft.com/office/powerpoint/2010/main" val="6556122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88F1B-09D8-DDA8-ADCA-040B48B15BA6}"/>
              </a:ext>
            </a:extLst>
          </p:cNvPr>
          <p:cNvSpPr>
            <a:spLocks noGrp="1"/>
          </p:cNvSpPr>
          <p:nvPr>
            <p:ph type="title"/>
          </p:nvPr>
        </p:nvSpPr>
        <p:spPr>
          <a:xfrm>
            <a:off x="691079" y="390286"/>
            <a:ext cx="10325000" cy="609363"/>
          </a:xfrm>
        </p:spPr>
        <p:txBody>
          <a:bodyPr>
            <a:normAutofit fontScale="90000"/>
          </a:bodyPr>
          <a:lstStyle/>
          <a:p>
            <a:r>
              <a:rPr lang="en-US" sz="4000" b="1" dirty="0"/>
              <a:t>Methods of excreta disposal (sewered areas)</a:t>
            </a:r>
          </a:p>
        </p:txBody>
      </p:sp>
      <p:sp>
        <p:nvSpPr>
          <p:cNvPr id="5" name="Content Placeholder 4">
            <a:extLst>
              <a:ext uri="{FF2B5EF4-FFF2-40B4-BE49-F238E27FC236}">
                <a16:creationId xmlns:a16="http://schemas.microsoft.com/office/drawing/2014/main" id="{34A56563-C88C-EEAA-D7D9-7EA3976D181B}"/>
              </a:ext>
            </a:extLst>
          </p:cNvPr>
          <p:cNvSpPr>
            <a:spLocks noGrp="1"/>
          </p:cNvSpPr>
          <p:nvPr>
            <p:ph idx="1"/>
          </p:nvPr>
        </p:nvSpPr>
        <p:spPr>
          <a:xfrm>
            <a:off x="691079" y="1640114"/>
            <a:ext cx="10325000" cy="4702629"/>
          </a:xfrm>
        </p:spPr>
        <p:txBody>
          <a:bodyPr numCol="2">
            <a:normAutofit/>
          </a:bodyPr>
          <a:lstStyle/>
          <a:p>
            <a:r>
              <a:rPr lang="en-US" sz="2400" u="sng" dirty="0"/>
              <a:t>WATER-CARRIAGE SYSTEM AND SEWAGE TREATMENT</a:t>
            </a:r>
          </a:p>
          <a:p>
            <a:pPr marL="0" indent="0">
              <a:buNone/>
            </a:pPr>
            <a:r>
              <a:rPr lang="en-US" sz="2400" b="1" dirty="0"/>
              <a:t>Primary treatment</a:t>
            </a:r>
          </a:p>
          <a:p>
            <a:r>
              <a:rPr lang="en-US" sz="2400" dirty="0"/>
              <a:t>Screening</a:t>
            </a:r>
          </a:p>
          <a:p>
            <a:r>
              <a:rPr lang="en-US" sz="2400" dirty="0"/>
              <a:t>Removal of grit</a:t>
            </a:r>
          </a:p>
          <a:p>
            <a:r>
              <a:rPr lang="en-US" sz="2400" dirty="0"/>
              <a:t>Plain sedimentation</a:t>
            </a:r>
          </a:p>
          <a:p>
            <a:pPr marL="0" indent="0">
              <a:buNone/>
            </a:pPr>
            <a:r>
              <a:rPr lang="en-US" sz="2400" b="1" dirty="0"/>
              <a:t>Secondary treatment</a:t>
            </a:r>
          </a:p>
          <a:p>
            <a:r>
              <a:rPr lang="en-US" sz="2400" dirty="0"/>
              <a:t>Trickling filters</a:t>
            </a:r>
          </a:p>
          <a:p>
            <a:r>
              <a:rPr lang="en-US" sz="2400" dirty="0"/>
              <a:t>Activated sludge process</a:t>
            </a:r>
          </a:p>
          <a:p>
            <a:pPr marL="0" indent="0">
              <a:buNone/>
            </a:pPr>
            <a:endParaRPr lang="en-US" sz="2400" b="1" dirty="0"/>
          </a:p>
          <a:p>
            <a:pPr marL="0" indent="0">
              <a:buNone/>
            </a:pPr>
            <a:endParaRPr lang="en-US" sz="2400" b="1" dirty="0"/>
          </a:p>
          <a:p>
            <a:pPr marL="0" indent="0">
              <a:buNone/>
            </a:pPr>
            <a:endParaRPr lang="en-US" sz="2400" b="1" dirty="0"/>
          </a:p>
          <a:p>
            <a:pPr marL="0" indent="0">
              <a:buNone/>
            </a:pPr>
            <a:r>
              <a:rPr lang="en-US" sz="2400" b="1" dirty="0"/>
              <a:t>Other methods</a:t>
            </a:r>
          </a:p>
          <a:p>
            <a:r>
              <a:rPr lang="en-US" sz="2400" dirty="0"/>
              <a:t>Sea outfall</a:t>
            </a:r>
          </a:p>
          <a:p>
            <a:r>
              <a:rPr lang="en-US" sz="2400" dirty="0"/>
              <a:t>River outfall</a:t>
            </a:r>
          </a:p>
          <a:p>
            <a:r>
              <a:rPr lang="en-US" sz="2400" dirty="0"/>
              <a:t>Sewage farming</a:t>
            </a:r>
          </a:p>
          <a:p>
            <a:r>
              <a:rPr lang="en-US" sz="2400" dirty="0"/>
              <a:t>Oxidation ponds.</a:t>
            </a:r>
          </a:p>
        </p:txBody>
      </p:sp>
    </p:spTree>
    <p:extLst>
      <p:ext uri="{BB962C8B-B14F-4D97-AF65-F5344CB8AC3E}">
        <p14:creationId xmlns:p14="http://schemas.microsoft.com/office/powerpoint/2010/main" val="30510751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9A2393A-FAD7-523F-A7C4-2C84CCD72444}"/>
              </a:ext>
            </a:extLst>
          </p:cNvPr>
          <p:cNvSpPr>
            <a:spLocks noGrp="1"/>
          </p:cNvSpPr>
          <p:nvPr>
            <p:ph type="title"/>
          </p:nvPr>
        </p:nvSpPr>
        <p:spPr>
          <a:xfrm>
            <a:off x="1137034" y="609597"/>
            <a:ext cx="9392421" cy="1330841"/>
          </a:xfrm>
        </p:spPr>
        <p:txBody>
          <a:bodyPr>
            <a:normAutofit/>
          </a:bodyPr>
          <a:lstStyle/>
          <a:p>
            <a:r>
              <a:rPr lang="en-US" dirty="0"/>
              <a:t>Service type (conservancy system)</a:t>
            </a:r>
          </a:p>
        </p:txBody>
      </p:sp>
      <p:sp>
        <p:nvSpPr>
          <p:cNvPr id="3" name="Content Placeholder 2">
            <a:extLst>
              <a:ext uri="{FF2B5EF4-FFF2-40B4-BE49-F238E27FC236}">
                <a16:creationId xmlns:a16="http://schemas.microsoft.com/office/drawing/2014/main" id="{042FDA50-54B6-E3E4-8515-C05E6B611758}"/>
              </a:ext>
            </a:extLst>
          </p:cNvPr>
          <p:cNvSpPr>
            <a:spLocks noGrp="1"/>
          </p:cNvSpPr>
          <p:nvPr>
            <p:ph idx="1"/>
          </p:nvPr>
        </p:nvSpPr>
        <p:spPr>
          <a:xfrm>
            <a:off x="174171" y="1654629"/>
            <a:ext cx="6545195" cy="4891313"/>
          </a:xfrm>
        </p:spPr>
        <p:txBody>
          <a:bodyPr>
            <a:normAutofit/>
          </a:bodyPr>
          <a:lstStyle/>
          <a:p>
            <a:r>
              <a:rPr lang="en-US" sz="2400" dirty="0"/>
              <a:t>The collection and removal of nightsoil from </a:t>
            </a:r>
            <a:r>
              <a:rPr lang="en-US" sz="2400" dirty="0">
                <a:highlight>
                  <a:srgbClr val="FFFF00"/>
                </a:highlight>
              </a:rPr>
              <a:t>bucket or pail latrines by human agency </a:t>
            </a:r>
            <a:r>
              <a:rPr lang="en-US" sz="2400" dirty="0"/>
              <a:t>and the latrines are called service latrines. </a:t>
            </a:r>
          </a:p>
          <a:p>
            <a:r>
              <a:rPr lang="en-US" sz="2400" dirty="0"/>
              <a:t>The nightsoil is transported in “nightsoil carts’ to the place of final disposal, where it is disposed off by composting or burial in shallow trenches. </a:t>
            </a:r>
          </a:p>
          <a:p>
            <a:r>
              <a:rPr lang="en-US" sz="2400" dirty="0"/>
              <a:t>The Environmental Hygiene Committee (1949) therefore, recommended that in unsewered areas </a:t>
            </a:r>
            <a:r>
              <a:rPr lang="en-US" sz="2400" dirty="0">
                <a:highlight>
                  <a:srgbClr val="FFFF00"/>
                </a:highlight>
              </a:rPr>
              <a:t>the service latrines should be replaced by sanitary latrines which require no service</a:t>
            </a:r>
            <a:r>
              <a:rPr lang="en-US" sz="2400" dirty="0"/>
              <a:t>, and in which excreta can be disposed off at the site of the latrine in a hygienic manner</a:t>
            </a:r>
          </a:p>
        </p:txBody>
      </p:sp>
      <p:pic>
        <p:nvPicPr>
          <p:cNvPr id="4" name="Picture 3">
            <a:extLst>
              <a:ext uri="{FF2B5EF4-FFF2-40B4-BE49-F238E27FC236}">
                <a16:creationId xmlns:a16="http://schemas.microsoft.com/office/drawing/2014/main" id="{82C1D88A-56AF-2243-10FD-38C37CE2E1E6}"/>
              </a:ext>
            </a:extLst>
          </p:cNvPr>
          <p:cNvPicPr>
            <a:picLocks noChangeAspect="1"/>
          </p:cNvPicPr>
          <p:nvPr/>
        </p:nvPicPr>
        <p:blipFill>
          <a:blip r:embed="rId2"/>
          <a:stretch>
            <a:fillRect/>
          </a:stretch>
        </p:blipFill>
        <p:spPr>
          <a:xfrm>
            <a:off x="6719367" y="2566464"/>
            <a:ext cx="4788505" cy="2992814"/>
          </a:xfrm>
          <a:prstGeom prst="rect">
            <a:avLst/>
          </a:prstGeom>
        </p:spPr>
      </p:pic>
      <p:sp>
        <p:nvSpPr>
          <p:cNvPr id="13" name="Freeform: Shape 12">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2631254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2393A-FAD7-523F-A7C4-2C84CCD72444}"/>
              </a:ext>
            </a:extLst>
          </p:cNvPr>
          <p:cNvSpPr>
            <a:spLocks noGrp="1"/>
          </p:cNvSpPr>
          <p:nvPr>
            <p:ph type="title"/>
          </p:nvPr>
        </p:nvSpPr>
        <p:spPr/>
        <p:txBody>
          <a:bodyPr/>
          <a:lstStyle/>
          <a:p>
            <a:r>
              <a:rPr lang="en-US" dirty="0"/>
              <a:t>Service type (conservancy system) - Pitfalls</a:t>
            </a:r>
          </a:p>
        </p:txBody>
      </p:sp>
      <p:sp>
        <p:nvSpPr>
          <p:cNvPr id="3" name="Content Placeholder 2">
            <a:extLst>
              <a:ext uri="{FF2B5EF4-FFF2-40B4-BE49-F238E27FC236}">
                <a16:creationId xmlns:a16="http://schemas.microsoft.com/office/drawing/2014/main" id="{042FDA50-54B6-E3E4-8515-C05E6B611758}"/>
              </a:ext>
            </a:extLst>
          </p:cNvPr>
          <p:cNvSpPr>
            <a:spLocks noGrp="1"/>
          </p:cNvSpPr>
          <p:nvPr>
            <p:ph idx="1"/>
          </p:nvPr>
        </p:nvSpPr>
        <p:spPr/>
        <p:txBody>
          <a:bodyPr>
            <a:normAutofit fontScale="92500" lnSpcReduction="20000"/>
          </a:bodyPr>
          <a:lstStyle/>
          <a:p>
            <a:r>
              <a:rPr lang="en-US" dirty="0"/>
              <a:t>Service latrines are a </a:t>
            </a:r>
            <a:r>
              <a:rPr lang="en-US" dirty="0">
                <a:highlight>
                  <a:srgbClr val="FFFF00"/>
                </a:highlight>
              </a:rPr>
              <a:t>source of filth and insanitation</a:t>
            </a:r>
            <a:r>
              <a:rPr lang="en-US" dirty="0"/>
              <a:t>. </a:t>
            </a:r>
          </a:p>
          <a:p>
            <a:r>
              <a:rPr lang="en-US" dirty="0"/>
              <a:t>They tend to </a:t>
            </a:r>
            <a:r>
              <a:rPr lang="en-US" dirty="0">
                <a:highlight>
                  <a:srgbClr val="FFFF00"/>
                </a:highlight>
              </a:rPr>
              <a:t>perpetuate the disease cycle </a:t>
            </a:r>
            <a:r>
              <a:rPr lang="en-US" dirty="0"/>
              <a:t>of </a:t>
            </a:r>
            <a:r>
              <a:rPr lang="en-US" dirty="0" err="1"/>
              <a:t>faecal</a:t>
            </a:r>
            <a:r>
              <a:rPr lang="en-US" dirty="0"/>
              <a:t>-borne diseases in the community.</a:t>
            </a:r>
          </a:p>
          <a:p>
            <a:r>
              <a:rPr lang="en-US" dirty="0"/>
              <a:t>The night soil is </a:t>
            </a:r>
            <a:r>
              <a:rPr lang="en-US" dirty="0">
                <a:highlight>
                  <a:srgbClr val="FFFF00"/>
                </a:highlight>
              </a:rPr>
              <a:t>exposed to flies</a:t>
            </a:r>
            <a:r>
              <a:rPr lang="en-US" dirty="0"/>
              <a:t>.</a:t>
            </a:r>
          </a:p>
          <a:p>
            <a:r>
              <a:rPr lang="en-US" dirty="0"/>
              <a:t>Possibility of </a:t>
            </a:r>
            <a:r>
              <a:rPr lang="en-US" dirty="0">
                <a:highlight>
                  <a:srgbClr val="FFFF00"/>
                </a:highlight>
              </a:rPr>
              <a:t>water and soil pollution</a:t>
            </a:r>
            <a:r>
              <a:rPr lang="en-US" dirty="0"/>
              <a:t>. </a:t>
            </a:r>
          </a:p>
          <a:p>
            <a:r>
              <a:rPr lang="en-US" dirty="0"/>
              <a:t>The buckets and pans are </a:t>
            </a:r>
            <a:r>
              <a:rPr lang="en-US" dirty="0">
                <a:highlight>
                  <a:srgbClr val="FFFF00"/>
                </a:highlight>
              </a:rPr>
              <a:t>subject to corrosion </a:t>
            </a:r>
            <a:r>
              <a:rPr lang="en-US" dirty="0"/>
              <a:t>and require frequent replacement.</a:t>
            </a:r>
          </a:p>
          <a:p>
            <a:r>
              <a:rPr lang="en-US" dirty="0"/>
              <a:t>The </a:t>
            </a:r>
            <a:r>
              <a:rPr lang="en-US" dirty="0">
                <a:highlight>
                  <a:srgbClr val="FFFF00"/>
                </a:highlight>
              </a:rPr>
              <a:t>emptying operation of the buckets is not always satisfactory</a:t>
            </a:r>
            <a:r>
              <a:rPr lang="en-US" dirty="0"/>
              <a:t>.</a:t>
            </a:r>
          </a:p>
          <a:p>
            <a:r>
              <a:rPr lang="en-US" dirty="0"/>
              <a:t>It is </a:t>
            </a:r>
            <a:r>
              <a:rPr lang="en-US" dirty="0">
                <a:highlight>
                  <a:srgbClr val="FFFF00"/>
                </a:highlight>
              </a:rPr>
              <a:t>difficult to recruit adequate staff </a:t>
            </a:r>
            <a:r>
              <a:rPr lang="en-US" dirty="0"/>
              <a:t>needed for the collection of nightsoil. </a:t>
            </a:r>
          </a:p>
          <a:p>
            <a:r>
              <a:rPr lang="en-US" dirty="0"/>
              <a:t>The employment of human </a:t>
            </a:r>
            <a:r>
              <a:rPr lang="en-US" dirty="0" err="1"/>
              <a:t>labour</a:t>
            </a:r>
            <a:r>
              <a:rPr lang="en-US" dirty="0"/>
              <a:t> for the collection of nightsoil is </a:t>
            </a:r>
            <a:r>
              <a:rPr lang="en-US" dirty="0">
                <a:highlight>
                  <a:srgbClr val="FFFF00"/>
                </a:highlight>
              </a:rPr>
              <a:t>not consistent with human dignity and is no longer pardonable</a:t>
            </a:r>
            <a:r>
              <a:rPr lang="en-US" dirty="0"/>
              <a:t>.</a:t>
            </a:r>
          </a:p>
        </p:txBody>
      </p:sp>
    </p:spTree>
    <p:extLst>
      <p:ext uri="{BB962C8B-B14F-4D97-AF65-F5344CB8AC3E}">
        <p14:creationId xmlns:p14="http://schemas.microsoft.com/office/powerpoint/2010/main" val="18268438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B1289-B6C5-9E44-3A7A-2E9DE3D86DB4}"/>
              </a:ext>
            </a:extLst>
          </p:cNvPr>
          <p:cNvSpPr>
            <a:spLocks noGrp="1"/>
          </p:cNvSpPr>
          <p:nvPr>
            <p:ph type="title"/>
          </p:nvPr>
        </p:nvSpPr>
        <p:spPr/>
        <p:txBody>
          <a:bodyPr/>
          <a:lstStyle/>
          <a:p>
            <a:r>
              <a:rPr lang="en-US" dirty="0"/>
              <a:t>Sanitary Latrines</a:t>
            </a:r>
          </a:p>
        </p:txBody>
      </p:sp>
      <p:sp>
        <p:nvSpPr>
          <p:cNvPr id="3" name="Content Placeholder 2">
            <a:extLst>
              <a:ext uri="{FF2B5EF4-FFF2-40B4-BE49-F238E27FC236}">
                <a16:creationId xmlns:a16="http://schemas.microsoft.com/office/drawing/2014/main" id="{D51EAFD9-201A-FABF-D2EA-5A86013A1A6E}"/>
              </a:ext>
            </a:extLst>
          </p:cNvPr>
          <p:cNvSpPr>
            <a:spLocks noGrp="1"/>
          </p:cNvSpPr>
          <p:nvPr>
            <p:ph idx="1"/>
          </p:nvPr>
        </p:nvSpPr>
        <p:spPr/>
        <p:txBody>
          <a:bodyPr>
            <a:normAutofit/>
          </a:bodyPr>
          <a:lstStyle/>
          <a:p>
            <a:r>
              <a:rPr lang="en-US" sz="3600" dirty="0"/>
              <a:t>Criteria</a:t>
            </a:r>
          </a:p>
          <a:p>
            <a:pPr lvl="1"/>
            <a:r>
              <a:rPr lang="en-US" sz="3200" dirty="0"/>
              <a:t>Excreta should </a:t>
            </a:r>
            <a:r>
              <a:rPr lang="en-US" sz="3200" dirty="0">
                <a:highlight>
                  <a:srgbClr val="FFFF00"/>
                </a:highlight>
              </a:rPr>
              <a:t>not contaminate the ground or surface water</a:t>
            </a:r>
          </a:p>
          <a:p>
            <a:pPr lvl="1"/>
            <a:r>
              <a:rPr lang="en-US" sz="3200" dirty="0"/>
              <a:t>Excreta should </a:t>
            </a:r>
            <a:r>
              <a:rPr lang="en-US" sz="3200" dirty="0">
                <a:highlight>
                  <a:srgbClr val="FFFF00"/>
                </a:highlight>
              </a:rPr>
              <a:t>not pollute the soil</a:t>
            </a:r>
          </a:p>
          <a:p>
            <a:pPr lvl="1"/>
            <a:r>
              <a:rPr lang="en-US" sz="3200" dirty="0"/>
              <a:t>Excreta should </a:t>
            </a:r>
            <a:r>
              <a:rPr lang="en-US" sz="3200" dirty="0">
                <a:highlight>
                  <a:srgbClr val="FFFF00"/>
                </a:highlight>
              </a:rPr>
              <a:t>not be accessible</a:t>
            </a:r>
            <a:r>
              <a:rPr lang="en-US" sz="3200" dirty="0"/>
              <a:t> to flies, rodents, animals (pigs, dogs, cattle, etc.) and other vehicles of transmission.</a:t>
            </a:r>
          </a:p>
          <a:p>
            <a:pPr lvl="1"/>
            <a:r>
              <a:rPr lang="en-US" sz="3200" dirty="0"/>
              <a:t>Excreta should </a:t>
            </a:r>
            <a:r>
              <a:rPr lang="en-US" sz="3200" dirty="0">
                <a:highlight>
                  <a:srgbClr val="FFFF00"/>
                </a:highlight>
              </a:rPr>
              <a:t>not create a nuisance</a:t>
            </a:r>
            <a:r>
              <a:rPr lang="en-US" sz="3200" dirty="0"/>
              <a:t> due to </a:t>
            </a:r>
            <a:r>
              <a:rPr lang="en-US" sz="3200" dirty="0" err="1"/>
              <a:t>odour</a:t>
            </a:r>
            <a:r>
              <a:rPr lang="en-US" sz="3200" dirty="0"/>
              <a:t> or unsightly appearance.</a:t>
            </a:r>
          </a:p>
        </p:txBody>
      </p:sp>
    </p:spTree>
    <p:extLst>
      <p:ext uri="{BB962C8B-B14F-4D97-AF65-F5344CB8AC3E}">
        <p14:creationId xmlns:p14="http://schemas.microsoft.com/office/powerpoint/2010/main" val="39938545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D4A0E-FB22-769B-2B2E-B5F2520EACA2}"/>
              </a:ext>
            </a:extLst>
          </p:cNvPr>
          <p:cNvSpPr>
            <a:spLocks noGrp="1"/>
          </p:cNvSpPr>
          <p:nvPr>
            <p:ph type="title"/>
          </p:nvPr>
        </p:nvSpPr>
        <p:spPr>
          <a:xfrm>
            <a:off x="838200" y="192996"/>
            <a:ext cx="10515600" cy="823912"/>
          </a:xfrm>
        </p:spPr>
        <p:txBody>
          <a:bodyPr/>
          <a:lstStyle/>
          <a:p>
            <a:r>
              <a:rPr lang="en-US" dirty="0"/>
              <a:t>Sanitary latrines</a:t>
            </a:r>
          </a:p>
        </p:txBody>
      </p:sp>
      <p:sp>
        <p:nvSpPr>
          <p:cNvPr id="4" name="Text Placeholder 3">
            <a:extLst>
              <a:ext uri="{FF2B5EF4-FFF2-40B4-BE49-F238E27FC236}">
                <a16:creationId xmlns:a16="http://schemas.microsoft.com/office/drawing/2014/main" id="{1EB23C79-A39B-8A3D-E2ED-568DFD3F2CCC}"/>
              </a:ext>
            </a:extLst>
          </p:cNvPr>
          <p:cNvSpPr>
            <a:spLocks noGrp="1"/>
          </p:cNvSpPr>
          <p:nvPr>
            <p:ph type="body" idx="1"/>
          </p:nvPr>
        </p:nvSpPr>
        <p:spPr>
          <a:xfrm>
            <a:off x="694645" y="1045029"/>
            <a:ext cx="5157787" cy="459240"/>
          </a:xfrm>
        </p:spPr>
        <p:txBody>
          <a:bodyPr/>
          <a:lstStyle/>
          <a:p>
            <a:r>
              <a:rPr lang="en-US" dirty="0"/>
              <a:t>Bore Hole Latrine</a:t>
            </a:r>
          </a:p>
        </p:txBody>
      </p:sp>
      <p:pic>
        <p:nvPicPr>
          <p:cNvPr id="13" name="Picture 12">
            <a:extLst>
              <a:ext uri="{FF2B5EF4-FFF2-40B4-BE49-F238E27FC236}">
                <a16:creationId xmlns:a16="http://schemas.microsoft.com/office/drawing/2014/main" id="{28437556-945F-7982-D178-4365DF984F70}"/>
              </a:ext>
            </a:extLst>
          </p:cNvPr>
          <p:cNvPicPr>
            <a:picLocks noChangeAspect="1"/>
          </p:cNvPicPr>
          <p:nvPr/>
        </p:nvPicPr>
        <p:blipFill>
          <a:blip r:embed="rId2"/>
          <a:stretch>
            <a:fillRect/>
          </a:stretch>
        </p:blipFill>
        <p:spPr>
          <a:xfrm>
            <a:off x="5126103" y="1096812"/>
            <a:ext cx="6745863" cy="5044010"/>
          </a:xfrm>
          <a:prstGeom prst="rect">
            <a:avLst/>
          </a:prstGeom>
        </p:spPr>
      </p:pic>
      <p:sp>
        <p:nvSpPr>
          <p:cNvPr id="6" name="Text Placeholder 5">
            <a:extLst>
              <a:ext uri="{FF2B5EF4-FFF2-40B4-BE49-F238E27FC236}">
                <a16:creationId xmlns:a16="http://schemas.microsoft.com/office/drawing/2014/main" id="{F1EE00BE-62D7-B086-3B49-7859CD56EAF7}"/>
              </a:ext>
            </a:extLst>
          </p:cNvPr>
          <p:cNvSpPr>
            <a:spLocks noGrp="1"/>
          </p:cNvSpPr>
          <p:nvPr>
            <p:ph type="body" sz="quarter" idx="3"/>
          </p:nvPr>
        </p:nvSpPr>
        <p:spPr>
          <a:xfrm>
            <a:off x="6314167" y="970234"/>
            <a:ext cx="5183188" cy="437923"/>
          </a:xfrm>
        </p:spPr>
        <p:txBody>
          <a:bodyPr/>
          <a:lstStyle/>
          <a:p>
            <a:r>
              <a:rPr lang="en-US" dirty="0"/>
              <a:t>Dug Well Latrine or pit Latrine</a:t>
            </a:r>
          </a:p>
        </p:txBody>
      </p:sp>
      <p:pic>
        <p:nvPicPr>
          <p:cNvPr id="11" name="Content Placeholder 10">
            <a:extLst>
              <a:ext uri="{FF2B5EF4-FFF2-40B4-BE49-F238E27FC236}">
                <a16:creationId xmlns:a16="http://schemas.microsoft.com/office/drawing/2014/main" id="{EB52A320-A86A-FE79-D7AE-98ECA2AAA554}"/>
              </a:ext>
            </a:extLst>
          </p:cNvPr>
          <p:cNvPicPr>
            <a:picLocks noGrp="1" noChangeAspect="1"/>
          </p:cNvPicPr>
          <p:nvPr>
            <p:ph sz="half" idx="2"/>
          </p:nvPr>
        </p:nvPicPr>
        <p:blipFill>
          <a:blip r:embed="rId3"/>
          <a:stretch>
            <a:fillRect/>
          </a:stretch>
        </p:blipFill>
        <p:spPr>
          <a:xfrm>
            <a:off x="694645" y="1408157"/>
            <a:ext cx="4431458" cy="4781506"/>
          </a:xfrm>
        </p:spPr>
      </p:pic>
      <p:sp>
        <p:nvSpPr>
          <p:cNvPr id="14" name="TextBox 13">
            <a:extLst>
              <a:ext uri="{FF2B5EF4-FFF2-40B4-BE49-F238E27FC236}">
                <a16:creationId xmlns:a16="http://schemas.microsoft.com/office/drawing/2014/main" id="{E849D2BF-66A0-C777-7284-8E3A9D76A60F}"/>
              </a:ext>
            </a:extLst>
          </p:cNvPr>
          <p:cNvSpPr txBox="1"/>
          <p:nvPr/>
        </p:nvSpPr>
        <p:spPr>
          <a:xfrm>
            <a:off x="2743800" y="4730033"/>
            <a:ext cx="1561499" cy="276999"/>
          </a:xfrm>
          <a:prstGeom prst="rect">
            <a:avLst/>
          </a:prstGeom>
          <a:solidFill>
            <a:schemeClr val="bg1"/>
          </a:solidFill>
        </p:spPr>
        <p:txBody>
          <a:bodyPr wrap="square" rtlCol="0">
            <a:spAutoFit/>
          </a:bodyPr>
          <a:lstStyle/>
          <a:p>
            <a:r>
              <a:rPr lang="en-US" sz="1200" dirty="0"/>
              <a:t>30 – 40 cm (12 – 16”)</a:t>
            </a:r>
          </a:p>
        </p:txBody>
      </p:sp>
      <p:sp>
        <p:nvSpPr>
          <p:cNvPr id="15" name="TextBox 14">
            <a:extLst>
              <a:ext uri="{FF2B5EF4-FFF2-40B4-BE49-F238E27FC236}">
                <a16:creationId xmlns:a16="http://schemas.microsoft.com/office/drawing/2014/main" id="{3FAC6D11-D6C6-6055-0290-9787AD0C76D8}"/>
              </a:ext>
            </a:extLst>
          </p:cNvPr>
          <p:cNvSpPr txBox="1"/>
          <p:nvPr/>
        </p:nvSpPr>
        <p:spPr>
          <a:xfrm rot="16200000">
            <a:off x="286757" y="5018700"/>
            <a:ext cx="1561499" cy="461665"/>
          </a:xfrm>
          <a:prstGeom prst="rect">
            <a:avLst/>
          </a:prstGeom>
          <a:solidFill>
            <a:schemeClr val="bg1"/>
          </a:solidFill>
        </p:spPr>
        <p:txBody>
          <a:bodyPr wrap="square" rtlCol="0">
            <a:spAutoFit/>
          </a:bodyPr>
          <a:lstStyle/>
          <a:p>
            <a:r>
              <a:rPr lang="en-US" sz="1200" dirty="0"/>
              <a:t>4 – 8 m (13 – 26ft) [6m (20ft)</a:t>
            </a:r>
          </a:p>
        </p:txBody>
      </p:sp>
      <p:sp>
        <p:nvSpPr>
          <p:cNvPr id="16" name="TextBox 15">
            <a:extLst>
              <a:ext uri="{FF2B5EF4-FFF2-40B4-BE49-F238E27FC236}">
                <a16:creationId xmlns:a16="http://schemas.microsoft.com/office/drawing/2014/main" id="{818AD5DD-449B-E397-8818-874C16FC6267}"/>
              </a:ext>
            </a:extLst>
          </p:cNvPr>
          <p:cNvSpPr txBox="1"/>
          <p:nvPr/>
        </p:nvSpPr>
        <p:spPr>
          <a:xfrm>
            <a:off x="243842" y="5986933"/>
            <a:ext cx="2940666" cy="307777"/>
          </a:xfrm>
          <a:prstGeom prst="rect">
            <a:avLst/>
          </a:prstGeom>
          <a:solidFill>
            <a:schemeClr val="bg1"/>
          </a:solidFill>
        </p:spPr>
        <p:txBody>
          <a:bodyPr wrap="square" rtlCol="0">
            <a:spAutoFit/>
          </a:bodyPr>
          <a:lstStyle/>
          <a:p>
            <a:r>
              <a:rPr lang="en-US" sz="1400" kern="1200" dirty="0">
                <a:solidFill>
                  <a:srgbClr val="000000"/>
                </a:solidFill>
                <a:effectLst/>
                <a:latin typeface="Times New Roman" panose="02020603050405020304" pitchFamily="18" charset="0"/>
                <a:ea typeface="+mn-ea"/>
                <a:cs typeface="+mn-cs"/>
              </a:rPr>
              <a:t>Family of 5 or 6 people - </a:t>
            </a:r>
            <a:r>
              <a:rPr lang="en-US" sz="1400" kern="1200" dirty="0">
                <a:solidFill>
                  <a:srgbClr val="000000"/>
                </a:solidFill>
                <a:effectLst/>
                <a:highlight>
                  <a:srgbClr val="FFFF00"/>
                </a:highlight>
                <a:latin typeface="Times New Roman" panose="02020603050405020304" pitchFamily="18" charset="0"/>
                <a:ea typeface="+mn-ea"/>
                <a:cs typeface="+mn-cs"/>
              </a:rPr>
              <a:t>over a year</a:t>
            </a:r>
            <a:r>
              <a:rPr lang="en-US" sz="1400" kern="1200" dirty="0">
                <a:solidFill>
                  <a:srgbClr val="000000"/>
                </a:solidFill>
                <a:effectLst/>
                <a:latin typeface="Times New Roman" panose="02020603050405020304" pitchFamily="18" charset="0"/>
                <a:ea typeface="+mn-ea"/>
                <a:cs typeface="+mn-cs"/>
              </a:rPr>
              <a:t>. </a:t>
            </a:r>
            <a:endParaRPr lang="en-US" sz="1050" dirty="0"/>
          </a:p>
        </p:txBody>
      </p:sp>
      <p:sp>
        <p:nvSpPr>
          <p:cNvPr id="17" name="TextBox 16">
            <a:extLst>
              <a:ext uri="{FF2B5EF4-FFF2-40B4-BE49-F238E27FC236}">
                <a16:creationId xmlns:a16="http://schemas.microsoft.com/office/drawing/2014/main" id="{EEA3F2F0-973F-2428-DA9F-7B33A6078CC4}"/>
              </a:ext>
            </a:extLst>
          </p:cNvPr>
          <p:cNvSpPr txBox="1"/>
          <p:nvPr/>
        </p:nvSpPr>
        <p:spPr>
          <a:xfrm>
            <a:off x="243842" y="6245014"/>
            <a:ext cx="4777738" cy="307777"/>
          </a:xfrm>
          <a:prstGeom prst="rect">
            <a:avLst/>
          </a:prstGeom>
          <a:solidFill>
            <a:schemeClr val="bg1"/>
          </a:solidFill>
        </p:spPr>
        <p:txBody>
          <a:bodyPr wrap="square" rtlCol="0">
            <a:spAutoFit/>
          </a:bodyPr>
          <a:lstStyle/>
          <a:p>
            <a:r>
              <a:rPr lang="en-US" sz="1400" kern="1200" dirty="0">
                <a:solidFill>
                  <a:srgbClr val="000000"/>
                </a:solidFill>
                <a:effectLst/>
                <a:latin typeface="Times New Roman" panose="02020603050405020304" pitchFamily="18" charset="0"/>
                <a:ea typeface="+mn-ea"/>
                <a:cs typeface="+mn-cs"/>
              </a:rPr>
              <a:t>Sludge accumulates ~ 2.1 to 7.3 cubic feet per 1,000 users days </a:t>
            </a:r>
            <a:endParaRPr lang="en-US" sz="1050" dirty="0"/>
          </a:p>
        </p:txBody>
      </p:sp>
      <p:sp>
        <p:nvSpPr>
          <p:cNvPr id="20" name="TextBox 19">
            <a:extLst>
              <a:ext uri="{FF2B5EF4-FFF2-40B4-BE49-F238E27FC236}">
                <a16:creationId xmlns:a16="http://schemas.microsoft.com/office/drawing/2014/main" id="{5305E108-2C29-1E4E-636A-5E8A392B80E3}"/>
              </a:ext>
            </a:extLst>
          </p:cNvPr>
          <p:cNvSpPr txBox="1"/>
          <p:nvPr/>
        </p:nvSpPr>
        <p:spPr>
          <a:xfrm>
            <a:off x="9792301" y="4790992"/>
            <a:ext cx="1927259" cy="283928"/>
          </a:xfrm>
          <a:prstGeom prst="rect">
            <a:avLst/>
          </a:prstGeom>
          <a:solidFill>
            <a:schemeClr val="bg1"/>
          </a:solidFill>
        </p:spPr>
        <p:txBody>
          <a:bodyPr wrap="square" rtlCol="0">
            <a:spAutoFit/>
          </a:bodyPr>
          <a:lstStyle/>
          <a:p>
            <a:r>
              <a:rPr lang="en-US" sz="1200" dirty="0"/>
              <a:t>D = 75cm / 30”</a:t>
            </a:r>
          </a:p>
        </p:txBody>
      </p:sp>
      <p:sp>
        <p:nvSpPr>
          <p:cNvPr id="21" name="TextBox 20">
            <a:extLst>
              <a:ext uri="{FF2B5EF4-FFF2-40B4-BE49-F238E27FC236}">
                <a16:creationId xmlns:a16="http://schemas.microsoft.com/office/drawing/2014/main" id="{CF9026D3-7581-58E3-E91E-B82C7F271418}"/>
              </a:ext>
            </a:extLst>
          </p:cNvPr>
          <p:cNvSpPr txBox="1"/>
          <p:nvPr/>
        </p:nvSpPr>
        <p:spPr>
          <a:xfrm rot="5400000">
            <a:off x="10629921" y="4881834"/>
            <a:ext cx="1734866" cy="276999"/>
          </a:xfrm>
          <a:prstGeom prst="rect">
            <a:avLst/>
          </a:prstGeom>
          <a:solidFill>
            <a:schemeClr val="bg1"/>
          </a:solidFill>
        </p:spPr>
        <p:txBody>
          <a:bodyPr wrap="square" rtlCol="0">
            <a:spAutoFit/>
          </a:bodyPr>
          <a:lstStyle/>
          <a:p>
            <a:r>
              <a:rPr lang="en-US" sz="1200" dirty="0"/>
              <a:t>d= 3 – 3.5 m (10 – 12 ft)</a:t>
            </a:r>
          </a:p>
        </p:txBody>
      </p:sp>
      <p:sp>
        <p:nvSpPr>
          <p:cNvPr id="22" name="TextBox 21">
            <a:extLst>
              <a:ext uri="{FF2B5EF4-FFF2-40B4-BE49-F238E27FC236}">
                <a16:creationId xmlns:a16="http://schemas.microsoft.com/office/drawing/2014/main" id="{ECC847D3-EA2B-84AC-A8CD-4790C0BCFC29}"/>
              </a:ext>
            </a:extLst>
          </p:cNvPr>
          <p:cNvSpPr txBox="1"/>
          <p:nvPr/>
        </p:nvSpPr>
        <p:spPr>
          <a:xfrm>
            <a:off x="5372102" y="5907991"/>
            <a:ext cx="2940666" cy="307777"/>
          </a:xfrm>
          <a:prstGeom prst="rect">
            <a:avLst/>
          </a:prstGeom>
          <a:solidFill>
            <a:schemeClr val="bg1"/>
          </a:solidFill>
        </p:spPr>
        <p:txBody>
          <a:bodyPr wrap="square" rtlCol="0">
            <a:spAutoFit/>
          </a:bodyPr>
          <a:lstStyle/>
          <a:p>
            <a:r>
              <a:rPr lang="en-US" sz="1400" kern="1200" dirty="0">
                <a:solidFill>
                  <a:srgbClr val="000000"/>
                </a:solidFill>
                <a:effectLst/>
                <a:latin typeface="Times New Roman" panose="02020603050405020304" pitchFamily="18" charset="0"/>
                <a:ea typeface="+mn-ea"/>
                <a:cs typeface="+mn-cs"/>
              </a:rPr>
              <a:t>Sandy areas – d = 1.5 – 2 m (6 – 7 ft)</a:t>
            </a:r>
            <a:endParaRPr lang="en-US" sz="1050" dirty="0"/>
          </a:p>
        </p:txBody>
      </p:sp>
      <p:sp>
        <p:nvSpPr>
          <p:cNvPr id="23" name="TextBox 22">
            <a:extLst>
              <a:ext uri="{FF2B5EF4-FFF2-40B4-BE49-F238E27FC236}">
                <a16:creationId xmlns:a16="http://schemas.microsoft.com/office/drawing/2014/main" id="{F68002E5-47C7-BF61-7D31-4517C967FA8D}"/>
              </a:ext>
            </a:extLst>
          </p:cNvPr>
          <p:cNvSpPr txBox="1"/>
          <p:nvPr/>
        </p:nvSpPr>
        <p:spPr>
          <a:xfrm>
            <a:off x="5372102" y="6161559"/>
            <a:ext cx="2940666" cy="307777"/>
          </a:xfrm>
          <a:prstGeom prst="rect">
            <a:avLst/>
          </a:prstGeom>
          <a:solidFill>
            <a:schemeClr val="bg1"/>
          </a:solidFill>
        </p:spPr>
        <p:txBody>
          <a:bodyPr wrap="square" rtlCol="0">
            <a:spAutoFit/>
          </a:bodyPr>
          <a:lstStyle/>
          <a:p>
            <a:r>
              <a:rPr lang="en-US" sz="1400" kern="1200" dirty="0">
                <a:solidFill>
                  <a:srgbClr val="000000"/>
                </a:solidFill>
                <a:effectLst/>
                <a:latin typeface="Times New Roman" panose="02020603050405020304" pitchFamily="18" charset="0"/>
                <a:ea typeface="+mn-ea"/>
                <a:cs typeface="+mn-cs"/>
              </a:rPr>
              <a:t>Family of 4 to 5 </a:t>
            </a:r>
            <a:r>
              <a:rPr lang="en-US" sz="1400" kern="1200" dirty="0">
                <a:solidFill>
                  <a:srgbClr val="000000"/>
                </a:solidFill>
                <a:effectLst/>
                <a:highlight>
                  <a:srgbClr val="FFFF00"/>
                </a:highlight>
                <a:latin typeface="Times New Roman" panose="02020603050405020304" pitchFamily="18" charset="0"/>
                <a:ea typeface="+mn-ea"/>
                <a:cs typeface="+mn-cs"/>
              </a:rPr>
              <a:t>people – 5 years</a:t>
            </a:r>
            <a:r>
              <a:rPr lang="en-US" sz="1400" kern="1200" dirty="0">
                <a:solidFill>
                  <a:srgbClr val="000000"/>
                </a:solidFill>
                <a:effectLst/>
                <a:latin typeface="Times New Roman" panose="02020603050405020304" pitchFamily="18" charset="0"/>
                <a:ea typeface="+mn-ea"/>
                <a:cs typeface="+mn-cs"/>
              </a:rPr>
              <a:t>. </a:t>
            </a:r>
            <a:endParaRPr lang="en-US" sz="1050" dirty="0"/>
          </a:p>
        </p:txBody>
      </p:sp>
    </p:spTree>
    <p:extLst>
      <p:ext uri="{BB962C8B-B14F-4D97-AF65-F5344CB8AC3E}">
        <p14:creationId xmlns:p14="http://schemas.microsoft.com/office/powerpoint/2010/main" val="23633559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D4A0E-FB22-769B-2B2E-B5F2520EACA2}"/>
              </a:ext>
            </a:extLst>
          </p:cNvPr>
          <p:cNvSpPr>
            <a:spLocks noGrp="1"/>
          </p:cNvSpPr>
          <p:nvPr>
            <p:ph type="title"/>
          </p:nvPr>
        </p:nvSpPr>
        <p:spPr>
          <a:xfrm>
            <a:off x="839788" y="365125"/>
            <a:ext cx="10515600" cy="663575"/>
          </a:xfrm>
        </p:spPr>
        <p:txBody>
          <a:bodyPr>
            <a:normAutofit fontScale="90000"/>
          </a:bodyPr>
          <a:lstStyle/>
          <a:p>
            <a:r>
              <a:rPr lang="en-US" dirty="0"/>
              <a:t>Sanitary latrines</a:t>
            </a:r>
          </a:p>
        </p:txBody>
      </p:sp>
      <p:sp>
        <p:nvSpPr>
          <p:cNvPr id="4" name="Text Placeholder 3">
            <a:extLst>
              <a:ext uri="{FF2B5EF4-FFF2-40B4-BE49-F238E27FC236}">
                <a16:creationId xmlns:a16="http://schemas.microsoft.com/office/drawing/2014/main" id="{1EB23C79-A39B-8A3D-E2ED-568DFD3F2CCC}"/>
              </a:ext>
            </a:extLst>
          </p:cNvPr>
          <p:cNvSpPr>
            <a:spLocks noGrp="1"/>
          </p:cNvSpPr>
          <p:nvPr>
            <p:ph type="body" idx="1"/>
          </p:nvPr>
        </p:nvSpPr>
        <p:spPr>
          <a:xfrm>
            <a:off x="836612" y="1216343"/>
            <a:ext cx="5157787" cy="353377"/>
          </a:xfrm>
        </p:spPr>
        <p:txBody>
          <a:bodyPr>
            <a:normAutofit fontScale="92500" lnSpcReduction="20000"/>
          </a:bodyPr>
          <a:lstStyle/>
          <a:p>
            <a:r>
              <a:rPr lang="en-US" dirty="0"/>
              <a:t>Bore Hole Latrine</a:t>
            </a:r>
          </a:p>
        </p:txBody>
      </p:sp>
      <p:sp>
        <p:nvSpPr>
          <p:cNvPr id="6" name="Text Placeholder 5">
            <a:extLst>
              <a:ext uri="{FF2B5EF4-FFF2-40B4-BE49-F238E27FC236}">
                <a16:creationId xmlns:a16="http://schemas.microsoft.com/office/drawing/2014/main" id="{F1EE00BE-62D7-B086-3B49-7859CD56EAF7}"/>
              </a:ext>
            </a:extLst>
          </p:cNvPr>
          <p:cNvSpPr>
            <a:spLocks noGrp="1"/>
          </p:cNvSpPr>
          <p:nvPr>
            <p:ph type="body" sz="quarter" idx="3"/>
          </p:nvPr>
        </p:nvSpPr>
        <p:spPr>
          <a:xfrm>
            <a:off x="7302500" y="1209677"/>
            <a:ext cx="4386580" cy="353377"/>
          </a:xfrm>
        </p:spPr>
        <p:txBody>
          <a:bodyPr>
            <a:normAutofit fontScale="92500" lnSpcReduction="20000"/>
          </a:bodyPr>
          <a:lstStyle/>
          <a:p>
            <a:r>
              <a:rPr lang="en-US" dirty="0"/>
              <a:t>Dug Well Latrine or pit Latrine</a:t>
            </a:r>
          </a:p>
        </p:txBody>
      </p:sp>
      <p:sp>
        <p:nvSpPr>
          <p:cNvPr id="3" name="Content Placeholder 4">
            <a:extLst>
              <a:ext uri="{FF2B5EF4-FFF2-40B4-BE49-F238E27FC236}">
                <a16:creationId xmlns:a16="http://schemas.microsoft.com/office/drawing/2014/main" id="{EE76496A-A5F4-ACD3-0E01-3F07248A4F19}"/>
              </a:ext>
            </a:extLst>
          </p:cNvPr>
          <p:cNvSpPr txBox="1">
            <a:spLocks/>
          </p:cNvSpPr>
          <p:nvPr/>
        </p:nvSpPr>
        <p:spPr>
          <a:xfrm>
            <a:off x="836611" y="1515110"/>
            <a:ext cx="10852469" cy="48221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Commonality</a:t>
            </a:r>
          </a:p>
          <a:p>
            <a:pPr lvl="1"/>
            <a:r>
              <a:rPr lang="en-US" dirty="0"/>
              <a:t>In loose and sandy soils, the hole is </a:t>
            </a:r>
            <a:r>
              <a:rPr lang="en-US" dirty="0">
                <a:highlight>
                  <a:srgbClr val="FFFF00"/>
                </a:highlight>
              </a:rPr>
              <a:t>lined with bamboo matting or earthen-ware rings to prevent caving </a:t>
            </a:r>
            <a:r>
              <a:rPr lang="en-US" dirty="0"/>
              <a:t>in of the soil.</a:t>
            </a:r>
          </a:p>
          <a:p>
            <a:pPr lvl="1"/>
            <a:r>
              <a:rPr lang="en-US" dirty="0"/>
              <a:t>A </a:t>
            </a:r>
            <a:r>
              <a:rPr lang="en-US" dirty="0">
                <a:highlight>
                  <a:srgbClr val="FFFF00"/>
                </a:highlight>
              </a:rPr>
              <a:t>concrete squatting plate with a central opening and foot rests </a:t>
            </a:r>
            <a:r>
              <a:rPr lang="en-US" dirty="0"/>
              <a:t>is placed over the hole &amp;  A suitable enclosure is put up to provide privacy. </a:t>
            </a:r>
          </a:p>
          <a:p>
            <a:pPr lvl="1"/>
            <a:r>
              <a:rPr lang="en-US" dirty="0"/>
              <a:t>The </a:t>
            </a:r>
            <a:r>
              <a:rPr lang="en-US" dirty="0">
                <a:highlight>
                  <a:srgbClr val="FFFF00"/>
                </a:highlight>
              </a:rPr>
              <a:t>nightsoil undergoes purification by anaerobic digestion and is eventually converted into a harmless mass</a:t>
            </a:r>
            <a:r>
              <a:rPr lang="en-US" dirty="0"/>
              <a:t>.</a:t>
            </a:r>
          </a:p>
          <a:p>
            <a:pPr lvl="1"/>
            <a:r>
              <a:rPr lang="en-US" dirty="0"/>
              <a:t>When the contents </a:t>
            </a:r>
            <a:r>
              <a:rPr lang="en-US" dirty="0">
                <a:highlight>
                  <a:srgbClr val="FFFF00"/>
                </a:highlight>
              </a:rPr>
              <a:t>reach within 50 cm (20 in.) of the ground level, the squatting plate is removed and the hole is closed with earth</a:t>
            </a:r>
            <a:r>
              <a:rPr lang="en-US" dirty="0"/>
              <a:t>. And a  new hole is dug and similarly used.</a:t>
            </a:r>
          </a:p>
          <a:p>
            <a:pPr lvl="1"/>
            <a:r>
              <a:rPr lang="en-US" dirty="0"/>
              <a:t>If </a:t>
            </a:r>
            <a:r>
              <a:rPr lang="en-US" dirty="0">
                <a:highlight>
                  <a:srgbClr val="FFFF00"/>
                </a:highlight>
              </a:rPr>
              <a:t>located 15 m (50 ft.) away from a source of water supply</a:t>
            </a:r>
            <a:r>
              <a:rPr lang="en-US" dirty="0"/>
              <a:t>, there should be no danger of water pollution.  </a:t>
            </a:r>
          </a:p>
          <a:p>
            <a:pPr lvl="1"/>
            <a:endParaRPr lang="en-US" dirty="0"/>
          </a:p>
          <a:p>
            <a:pPr lvl="1"/>
            <a:endParaRPr lang="en-US" dirty="0"/>
          </a:p>
        </p:txBody>
      </p:sp>
    </p:spTree>
    <p:extLst>
      <p:ext uri="{BB962C8B-B14F-4D97-AF65-F5344CB8AC3E}">
        <p14:creationId xmlns:p14="http://schemas.microsoft.com/office/powerpoint/2010/main" val="25031371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D4A0E-FB22-769B-2B2E-B5F2520EACA2}"/>
              </a:ext>
            </a:extLst>
          </p:cNvPr>
          <p:cNvSpPr>
            <a:spLocks noGrp="1"/>
          </p:cNvSpPr>
          <p:nvPr>
            <p:ph type="title"/>
          </p:nvPr>
        </p:nvSpPr>
        <p:spPr>
          <a:xfrm>
            <a:off x="839788" y="365125"/>
            <a:ext cx="10515600" cy="663575"/>
          </a:xfrm>
        </p:spPr>
        <p:txBody>
          <a:bodyPr>
            <a:normAutofit fontScale="90000"/>
          </a:bodyPr>
          <a:lstStyle/>
          <a:p>
            <a:r>
              <a:rPr lang="en-US" dirty="0"/>
              <a:t>Sanitary latrines</a:t>
            </a:r>
          </a:p>
        </p:txBody>
      </p:sp>
      <p:sp>
        <p:nvSpPr>
          <p:cNvPr id="4" name="Text Placeholder 3">
            <a:extLst>
              <a:ext uri="{FF2B5EF4-FFF2-40B4-BE49-F238E27FC236}">
                <a16:creationId xmlns:a16="http://schemas.microsoft.com/office/drawing/2014/main" id="{1EB23C79-A39B-8A3D-E2ED-568DFD3F2CCC}"/>
              </a:ext>
            </a:extLst>
          </p:cNvPr>
          <p:cNvSpPr>
            <a:spLocks noGrp="1"/>
          </p:cNvSpPr>
          <p:nvPr>
            <p:ph type="body" idx="1"/>
          </p:nvPr>
        </p:nvSpPr>
        <p:spPr>
          <a:xfrm>
            <a:off x="836612" y="1216343"/>
            <a:ext cx="5157787" cy="353377"/>
          </a:xfrm>
        </p:spPr>
        <p:txBody>
          <a:bodyPr>
            <a:normAutofit fontScale="92500" lnSpcReduction="20000"/>
          </a:bodyPr>
          <a:lstStyle/>
          <a:p>
            <a:r>
              <a:rPr lang="en-US" dirty="0"/>
              <a:t>Bore Hole Latrine</a:t>
            </a:r>
          </a:p>
        </p:txBody>
      </p:sp>
      <p:sp>
        <p:nvSpPr>
          <p:cNvPr id="5" name="Content Placeholder 4">
            <a:extLst>
              <a:ext uri="{FF2B5EF4-FFF2-40B4-BE49-F238E27FC236}">
                <a16:creationId xmlns:a16="http://schemas.microsoft.com/office/drawing/2014/main" id="{CD5DDE9F-BF6F-551D-D47F-C81932992DC3}"/>
              </a:ext>
            </a:extLst>
          </p:cNvPr>
          <p:cNvSpPr>
            <a:spLocks noGrp="1"/>
          </p:cNvSpPr>
          <p:nvPr>
            <p:ph sz="half" idx="2"/>
          </p:nvPr>
        </p:nvSpPr>
        <p:spPr>
          <a:xfrm>
            <a:off x="836612" y="1569720"/>
            <a:ext cx="6465888" cy="4923155"/>
          </a:xfrm>
        </p:spPr>
        <p:txBody>
          <a:bodyPr>
            <a:normAutofit fontScale="70000" lnSpcReduction="20000"/>
          </a:bodyPr>
          <a:lstStyle/>
          <a:p>
            <a:r>
              <a:rPr lang="en-US" dirty="0"/>
              <a:t>First introduced by the Rockefeller foundation during 1930’s in campaigns of hookworm control. </a:t>
            </a:r>
          </a:p>
          <a:p>
            <a:r>
              <a:rPr lang="en-US" dirty="0"/>
              <a:t>Bore hole is essentially a family type of installation and is </a:t>
            </a:r>
            <a:r>
              <a:rPr lang="en-US" dirty="0">
                <a:highlight>
                  <a:srgbClr val="FFFF00"/>
                </a:highlight>
              </a:rPr>
              <a:t>not recommended as a public convenience </a:t>
            </a:r>
            <a:r>
              <a:rPr lang="en-US" dirty="0"/>
              <a:t>because of its small capacity. </a:t>
            </a:r>
          </a:p>
          <a:p>
            <a:r>
              <a:rPr lang="en-US" dirty="0"/>
              <a:t>Merits: </a:t>
            </a:r>
          </a:p>
          <a:p>
            <a:pPr lvl="1"/>
            <a:r>
              <a:rPr lang="en-US" dirty="0"/>
              <a:t>There </a:t>
            </a:r>
            <a:r>
              <a:rPr lang="en-US" dirty="0">
                <a:highlight>
                  <a:srgbClr val="FFFF00"/>
                </a:highlight>
              </a:rPr>
              <a:t>is no need for the services of a sweeper </a:t>
            </a:r>
            <a:r>
              <a:rPr lang="en-US" dirty="0"/>
              <a:t>for daily removal of nightsoil,</a:t>
            </a:r>
          </a:p>
          <a:p>
            <a:pPr lvl="1"/>
            <a:r>
              <a:rPr lang="en-US" dirty="0"/>
              <a:t>The </a:t>
            </a:r>
            <a:r>
              <a:rPr lang="en-US" dirty="0">
                <a:highlight>
                  <a:srgbClr val="FFFF00"/>
                </a:highlight>
              </a:rPr>
              <a:t>pit is dark and unsuitable for fly breeding</a:t>
            </a:r>
          </a:p>
          <a:p>
            <a:r>
              <a:rPr lang="en-US" dirty="0"/>
              <a:t>Demerits</a:t>
            </a:r>
          </a:p>
          <a:p>
            <a:pPr lvl="1"/>
            <a:r>
              <a:rPr lang="en-US" dirty="0"/>
              <a:t>The bore hole fills up rapidly because of its </a:t>
            </a:r>
            <a:r>
              <a:rPr lang="en-US" dirty="0">
                <a:highlight>
                  <a:srgbClr val="FFFF00"/>
                </a:highlight>
              </a:rPr>
              <a:t>small capacity</a:t>
            </a:r>
          </a:p>
          <a:p>
            <a:pPr lvl="1"/>
            <a:r>
              <a:rPr lang="en-US" dirty="0"/>
              <a:t>A special equipment, the </a:t>
            </a:r>
            <a:r>
              <a:rPr lang="en-US" dirty="0">
                <a:highlight>
                  <a:srgbClr val="FFFF00"/>
                </a:highlight>
              </a:rPr>
              <a:t>auger, is required </a:t>
            </a:r>
            <a:r>
              <a:rPr lang="en-US" dirty="0"/>
              <a:t>for its construction which may not be readily available</a:t>
            </a:r>
          </a:p>
          <a:p>
            <a:pPr lvl="1"/>
            <a:r>
              <a:rPr lang="en-US" dirty="0"/>
              <a:t>The </a:t>
            </a:r>
            <a:r>
              <a:rPr lang="en-US" dirty="0">
                <a:highlight>
                  <a:srgbClr val="FFFF00"/>
                </a:highlight>
              </a:rPr>
              <a:t>subsoil water is high and the soil loose</a:t>
            </a:r>
            <a:r>
              <a:rPr lang="en-US" dirty="0"/>
              <a:t>, with the result it may be difficult to dig a hole deeper than 3 m (10 ft.). </a:t>
            </a:r>
          </a:p>
          <a:p>
            <a:r>
              <a:rPr lang="en-US" dirty="0"/>
              <a:t>The bore hole latrine is therefore, not very much in use today. It has been superseded by better innovations.</a:t>
            </a:r>
          </a:p>
        </p:txBody>
      </p:sp>
      <p:sp>
        <p:nvSpPr>
          <p:cNvPr id="6" name="Text Placeholder 5">
            <a:extLst>
              <a:ext uri="{FF2B5EF4-FFF2-40B4-BE49-F238E27FC236}">
                <a16:creationId xmlns:a16="http://schemas.microsoft.com/office/drawing/2014/main" id="{F1EE00BE-62D7-B086-3B49-7859CD56EAF7}"/>
              </a:ext>
            </a:extLst>
          </p:cNvPr>
          <p:cNvSpPr>
            <a:spLocks noGrp="1"/>
          </p:cNvSpPr>
          <p:nvPr>
            <p:ph type="body" sz="quarter" idx="3"/>
          </p:nvPr>
        </p:nvSpPr>
        <p:spPr>
          <a:xfrm>
            <a:off x="7302500" y="1209677"/>
            <a:ext cx="4386580" cy="353377"/>
          </a:xfrm>
        </p:spPr>
        <p:txBody>
          <a:bodyPr>
            <a:normAutofit fontScale="92500" lnSpcReduction="20000"/>
          </a:bodyPr>
          <a:lstStyle/>
          <a:p>
            <a:r>
              <a:rPr lang="en-US" dirty="0"/>
              <a:t>Dug Well Latrine or pit Latrine</a:t>
            </a:r>
          </a:p>
        </p:txBody>
      </p:sp>
      <p:sp>
        <p:nvSpPr>
          <p:cNvPr id="7" name="Content Placeholder 6">
            <a:extLst>
              <a:ext uri="{FF2B5EF4-FFF2-40B4-BE49-F238E27FC236}">
                <a16:creationId xmlns:a16="http://schemas.microsoft.com/office/drawing/2014/main" id="{0323ADA5-D782-4EF5-B495-0A9C569E6E97}"/>
              </a:ext>
            </a:extLst>
          </p:cNvPr>
          <p:cNvSpPr>
            <a:spLocks noGrp="1"/>
          </p:cNvSpPr>
          <p:nvPr>
            <p:ph sz="quarter" idx="4"/>
          </p:nvPr>
        </p:nvSpPr>
        <p:spPr>
          <a:xfrm>
            <a:off x="7302500" y="1569720"/>
            <a:ext cx="4049712" cy="4923155"/>
          </a:xfrm>
        </p:spPr>
        <p:txBody>
          <a:bodyPr>
            <a:normAutofit fontScale="70000" lnSpcReduction="20000"/>
          </a:bodyPr>
          <a:lstStyle/>
          <a:p>
            <a:r>
              <a:rPr lang="en-US" dirty="0"/>
              <a:t>First introduced in Singur, West Bengal in 1949-1950 (1). </a:t>
            </a:r>
          </a:p>
          <a:p>
            <a:r>
              <a:rPr lang="en-US" dirty="0"/>
              <a:t>It is an improvement over the bore hole latrine. </a:t>
            </a:r>
          </a:p>
          <a:p>
            <a:r>
              <a:rPr lang="en-US" dirty="0"/>
              <a:t>Merits</a:t>
            </a:r>
          </a:p>
          <a:p>
            <a:r>
              <a:rPr lang="en-US" dirty="0"/>
              <a:t>It is </a:t>
            </a:r>
            <a:r>
              <a:rPr lang="en-US" dirty="0">
                <a:highlight>
                  <a:srgbClr val="FFFF00"/>
                </a:highlight>
              </a:rPr>
              <a:t>easy to construct </a:t>
            </a:r>
            <a:r>
              <a:rPr lang="en-US" dirty="0"/>
              <a:t>and no special equipment such as an auger is needed to dig the pit</a:t>
            </a:r>
          </a:p>
          <a:p>
            <a:r>
              <a:rPr lang="en-US" dirty="0"/>
              <a:t>The pit has a </a:t>
            </a:r>
            <a:r>
              <a:rPr lang="en-US" dirty="0">
                <a:highlight>
                  <a:srgbClr val="FFFF00"/>
                </a:highlight>
              </a:rPr>
              <a:t>longer life than the bore hole</a:t>
            </a:r>
            <a:r>
              <a:rPr lang="en-US" dirty="0"/>
              <a:t> because of greater cubic capacity. </a:t>
            </a:r>
          </a:p>
        </p:txBody>
      </p:sp>
    </p:spTree>
    <p:extLst>
      <p:ext uri="{BB962C8B-B14F-4D97-AF65-F5344CB8AC3E}">
        <p14:creationId xmlns:p14="http://schemas.microsoft.com/office/powerpoint/2010/main" val="11266057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9C9574A-6CFE-7DD5-97E4-0B5CBC2CE7CC}"/>
              </a:ext>
            </a:extLst>
          </p:cNvPr>
          <p:cNvSpPr>
            <a:spLocks noGrp="1"/>
          </p:cNvSpPr>
          <p:nvPr>
            <p:ph type="title"/>
          </p:nvPr>
        </p:nvSpPr>
        <p:spPr/>
        <p:txBody>
          <a:bodyPr/>
          <a:lstStyle/>
          <a:p>
            <a:r>
              <a:rPr lang="en-US" dirty="0"/>
              <a:t>Water seal Latrine</a:t>
            </a:r>
          </a:p>
        </p:txBody>
      </p:sp>
      <p:pic>
        <p:nvPicPr>
          <p:cNvPr id="1026" name="Picture 2" descr="A12 - Letrinas más modernas, con sifón y descarga de agua manual o ...">
            <a:extLst>
              <a:ext uri="{FF2B5EF4-FFF2-40B4-BE49-F238E27FC236}">
                <a16:creationId xmlns:a16="http://schemas.microsoft.com/office/drawing/2014/main" id="{330435B5-E8E6-BCEE-2063-1D1396F436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32006" y="672263"/>
            <a:ext cx="4514850" cy="3381375"/>
          </a:xfrm>
          <a:prstGeom prst="rect">
            <a:avLst/>
          </a:prstGeom>
          <a:noFill/>
          <a:extLst>
            <a:ext uri="{909E8E84-426E-40DD-AFC4-6F175D3DCCD1}">
              <a14:hiddenFill xmlns:a14="http://schemas.microsoft.com/office/drawing/2010/main">
                <a:solidFill>
                  <a:srgbClr val="FFFFFF"/>
                </a:solidFill>
              </a14:hiddenFill>
            </a:ext>
          </a:extLst>
        </p:spPr>
      </p:pic>
      <p:sp>
        <p:nvSpPr>
          <p:cNvPr id="9" name="Content Placeholder 8">
            <a:extLst>
              <a:ext uri="{FF2B5EF4-FFF2-40B4-BE49-F238E27FC236}">
                <a16:creationId xmlns:a16="http://schemas.microsoft.com/office/drawing/2014/main" id="{4C603A4A-E625-AB16-FD64-A4C402E11454}"/>
              </a:ext>
            </a:extLst>
          </p:cNvPr>
          <p:cNvSpPr>
            <a:spLocks noGrp="1"/>
          </p:cNvSpPr>
          <p:nvPr>
            <p:ph idx="1"/>
          </p:nvPr>
        </p:nvSpPr>
        <p:spPr>
          <a:xfrm>
            <a:off x="838200" y="1491916"/>
            <a:ext cx="10515600" cy="4685047"/>
          </a:xfrm>
        </p:spPr>
        <p:txBody>
          <a:bodyPr>
            <a:normAutofit fontScale="85000" lnSpcReduction="20000"/>
          </a:bodyPr>
          <a:lstStyle/>
          <a:p>
            <a:r>
              <a:rPr lang="en-US" dirty="0"/>
              <a:t>Hand-flushed “water seal” type of latrine.</a:t>
            </a:r>
          </a:p>
          <a:p>
            <a:r>
              <a:rPr lang="en-US" dirty="0"/>
              <a:t>The squatting plate is fitted with a water seal. </a:t>
            </a:r>
          </a:p>
          <a:p>
            <a:r>
              <a:rPr lang="en-US" dirty="0"/>
              <a:t>Small depth of water contained in a bent pipe called the trap.</a:t>
            </a:r>
          </a:p>
          <a:p>
            <a:r>
              <a:rPr lang="en-US" dirty="0"/>
              <a:t>Two important functions :</a:t>
            </a:r>
          </a:p>
          <a:p>
            <a:pPr lvl="1"/>
            <a:r>
              <a:rPr lang="en-US" dirty="0"/>
              <a:t>It </a:t>
            </a:r>
            <a:r>
              <a:rPr lang="en-US" dirty="0">
                <a:highlight>
                  <a:srgbClr val="FFFF00"/>
                </a:highlight>
              </a:rPr>
              <a:t>prevents access by flies</a:t>
            </a:r>
            <a:r>
              <a:rPr lang="en-US" dirty="0"/>
              <a:t>. </a:t>
            </a:r>
          </a:p>
          <a:p>
            <a:pPr lvl="1"/>
            <a:r>
              <a:rPr lang="en-US" dirty="0"/>
              <a:t>It </a:t>
            </a:r>
            <a:r>
              <a:rPr lang="en-US" dirty="0">
                <a:highlight>
                  <a:srgbClr val="FFFF00"/>
                </a:highlight>
              </a:rPr>
              <a:t>prevents escape of </a:t>
            </a:r>
            <a:r>
              <a:rPr lang="en-US" dirty="0" err="1">
                <a:highlight>
                  <a:srgbClr val="FFFF00"/>
                </a:highlight>
              </a:rPr>
              <a:t>odours</a:t>
            </a:r>
            <a:r>
              <a:rPr lang="en-US" dirty="0">
                <a:highlight>
                  <a:srgbClr val="FFFF00"/>
                </a:highlight>
              </a:rPr>
              <a:t> and foul gases </a:t>
            </a:r>
          </a:p>
          <a:p>
            <a:r>
              <a:rPr lang="en-US" dirty="0"/>
              <a:t>Once the latrine is flushed, nightsoil is no longer visible. </a:t>
            </a:r>
          </a:p>
          <a:p>
            <a:r>
              <a:rPr lang="en-US" dirty="0"/>
              <a:t>P.R.A.I. type, evolved by the </a:t>
            </a:r>
            <a:r>
              <a:rPr lang="en-US" dirty="0">
                <a:highlight>
                  <a:srgbClr val="FFFF00"/>
                </a:highlight>
              </a:rPr>
              <a:t>Planning, Research and Action Institute</a:t>
            </a:r>
            <a:r>
              <a:rPr lang="en-US" dirty="0"/>
              <a:t>, Lucknow (Uttar Pradesh)</a:t>
            </a:r>
          </a:p>
          <a:p>
            <a:r>
              <a:rPr lang="en-US" dirty="0"/>
              <a:t>RCA type, designed by the </a:t>
            </a:r>
            <a:r>
              <a:rPr lang="en-US" dirty="0">
                <a:highlight>
                  <a:srgbClr val="FFFF00"/>
                </a:highlight>
              </a:rPr>
              <a:t>Research-cum-Action Projects in Environmental Sanitation of the Ministry of Health</a:t>
            </a:r>
            <a:r>
              <a:rPr lang="en-US" dirty="0"/>
              <a:t>, Government of India. </a:t>
            </a:r>
          </a:p>
          <a:p>
            <a:r>
              <a:rPr lang="en-US" dirty="0"/>
              <a:t>Of these two types, the RCA latrine has been accepted as a suitable design for wide adoption in different parts of the country</a:t>
            </a:r>
          </a:p>
        </p:txBody>
      </p:sp>
    </p:spTree>
    <p:extLst>
      <p:ext uri="{BB962C8B-B14F-4D97-AF65-F5344CB8AC3E}">
        <p14:creationId xmlns:p14="http://schemas.microsoft.com/office/powerpoint/2010/main" val="13539855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F0087D53-9295-4463-AAE4-D5C626046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81A64E-A5AF-AD35-A620-54B2C7104168}"/>
              </a:ext>
            </a:extLst>
          </p:cNvPr>
          <p:cNvSpPr>
            <a:spLocks noGrp="1"/>
          </p:cNvSpPr>
          <p:nvPr>
            <p:ph type="title"/>
          </p:nvPr>
        </p:nvSpPr>
        <p:spPr>
          <a:xfrm>
            <a:off x="638881" y="4501453"/>
            <a:ext cx="10909640" cy="1065836"/>
          </a:xfrm>
        </p:spPr>
        <p:txBody>
          <a:bodyPr vert="horz" lIns="91440" tIns="45720" rIns="91440" bIns="45720" rtlCol="0" anchor="ctr">
            <a:normAutofit/>
          </a:bodyPr>
          <a:lstStyle/>
          <a:p>
            <a:pPr algn="ctr"/>
            <a:r>
              <a:rPr lang="en-US" sz="5600"/>
              <a:t>Direct / Indirect Water seal Latrine</a:t>
            </a:r>
          </a:p>
        </p:txBody>
      </p:sp>
      <p:pic>
        <p:nvPicPr>
          <p:cNvPr id="5" name="Picture 4" descr="Diagram of a pit with a water seal slab&#10;&#10;Description automatically generated">
            <a:extLst>
              <a:ext uri="{FF2B5EF4-FFF2-40B4-BE49-F238E27FC236}">
                <a16:creationId xmlns:a16="http://schemas.microsoft.com/office/drawing/2014/main" id="{F8342DB2-7AA2-B050-A806-B38407F84EAA}"/>
              </a:ext>
            </a:extLst>
          </p:cNvPr>
          <p:cNvPicPr>
            <a:picLocks noChangeAspect="1"/>
          </p:cNvPicPr>
          <p:nvPr/>
        </p:nvPicPr>
        <p:blipFill>
          <a:blip r:embed="rId2">
            <a:grayscl/>
          </a:blip>
          <a:stretch>
            <a:fillRect/>
          </a:stretch>
        </p:blipFill>
        <p:spPr>
          <a:xfrm>
            <a:off x="1189315" y="320040"/>
            <a:ext cx="3875866" cy="3895344"/>
          </a:xfrm>
          <a:prstGeom prst="rect">
            <a:avLst/>
          </a:prstGeom>
        </p:spPr>
      </p:pic>
      <p:pic>
        <p:nvPicPr>
          <p:cNvPr id="9" name="Picture 8" descr="Diagram of a pipe with text&#10;&#10;Description automatically generated">
            <a:extLst>
              <a:ext uri="{FF2B5EF4-FFF2-40B4-BE49-F238E27FC236}">
                <a16:creationId xmlns:a16="http://schemas.microsoft.com/office/drawing/2014/main" id="{51BF76C5-217B-F71B-A50C-2CED3C7AACBA}"/>
              </a:ext>
            </a:extLst>
          </p:cNvPr>
          <p:cNvPicPr>
            <a:picLocks noChangeAspect="1"/>
          </p:cNvPicPr>
          <p:nvPr/>
        </p:nvPicPr>
        <p:blipFill>
          <a:blip r:embed="rId3">
            <a:grayscl/>
          </a:blip>
          <a:stretch>
            <a:fillRect/>
          </a:stretch>
        </p:blipFill>
        <p:spPr>
          <a:xfrm>
            <a:off x="6254496" y="969378"/>
            <a:ext cx="5614416" cy="2596667"/>
          </a:xfrm>
          <a:prstGeom prst="rect">
            <a:avLst/>
          </a:prstGeom>
        </p:spPr>
      </p:pic>
      <p:sp>
        <p:nvSpPr>
          <p:cNvPr id="16"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5594358"/>
            <a:ext cx="3291840" cy="18288"/>
          </a:xfrm>
          <a:custGeom>
            <a:avLst/>
            <a:gdLst>
              <a:gd name="connsiteX0" fmla="*/ 0 w 3291840"/>
              <a:gd name="connsiteY0" fmla="*/ 0 h 18288"/>
              <a:gd name="connsiteX1" fmla="*/ 658368 w 3291840"/>
              <a:gd name="connsiteY1" fmla="*/ 0 h 18288"/>
              <a:gd name="connsiteX2" fmla="*/ 1283818 w 3291840"/>
              <a:gd name="connsiteY2" fmla="*/ 0 h 18288"/>
              <a:gd name="connsiteX3" fmla="*/ 1909267 w 3291840"/>
              <a:gd name="connsiteY3" fmla="*/ 0 h 18288"/>
              <a:gd name="connsiteX4" fmla="*/ 2633472 w 3291840"/>
              <a:gd name="connsiteY4" fmla="*/ 0 h 18288"/>
              <a:gd name="connsiteX5" fmla="*/ 3291840 w 3291840"/>
              <a:gd name="connsiteY5" fmla="*/ 0 h 18288"/>
              <a:gd name="connsiteX6" fmla="*/ 3291840 w 3291840"/>
              <a:gd name="connsiteY6" fmla="*/ 18288 h 18288"/>
              <a:gd name="connsiteX7" fmla="*/ 2633472 w 3291840"/>
              <a:gd name="connsiteY7" fmla="*/ 18288 h 18288"/>
              <a:gd name="connsiteX8" fmla="*/ 2073859 w 3291840"/>
              <a:gd name="connsiteY8" fmla="*/ 18288 h 18288"/>
              <a:gd name="connsiteX9" fmla="*/ 1448410 w 3291840"/>
              <a:gd name="connsiteY9" fmla="*/ 18288 h 18288"/>
              <a:gd name="connsiteX10" fmla="*/ 822960 w 3291840"/>
              <a:gd name="connsiteY10" fmla="*/ 18288 h 18288"/>
              <a:gd name="connsiteX11" fmla="*/ 0 w 3291840"/>
              <a:gd name="connsiteY11" fmla="*/ 18288 h 18288"/>
              <a:gd name="connsiteX12" fmla="*/ 0 w 329184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795169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971F1-3AFB-1470-6BD5-62EF5D189503}"/>
              </a:ext>
            </a:extLst>
          </p:cNvPr>
          <p:cNvSpPr>
            <a:spLocks noGrp="1"/>
          </p:cNvSpPr>
          <p:nvPr>
            <p:ph type="title"/>
          </p:nvPr>
        </p:nvSpPr>
        <p:spPr/>
        <p:txBody>
          <a:bodyPr/>
          <a:lstStyle/>
          <a:p>
            <a:r>
              <a:rPr lang="en-US" dirty="0"/>
              <a:t>Parts of RCA Latrine - Location</a:t>
            </a:r>
          </a:p>
        </p:txBody>
      </p:sp>
      <p:sp>
        <p:nvSpPr>
          <p:cNvPr id="3" name="Content Placeholder 2">
            <a:extLst>
              <a:ext uri="{FF2B5EF4-FFF2-40B4-BE49-F238E27FC236}">
                <a16:creationId xmlns:a16="http://schemas.microsoft.com/office/drawing/2014/main" id="{475C85FE-1B28-2BB5-9ED9-6EBEB54E85FB}"/>
              </a:ext>
            </a:extLst>
          </p:cNvPr>
          <p:cNvSpPr>
            <a:spLocks noGrp="1"/>
          </p:cNvSpPr>
          <p:nvPr>
            <p:ph idx="1"/>
          </p:nvPr>
        </p:nvSpPr>
        <p:spPr/>
        <p:txBody>
          <a:bodyPr>
            <a:normAutofit/>
          </a:bodyPr>
          <a:lstStyle/>
          <a:p>
            <a:r>
              <a:rPr lang="en-US" dirty="0"/>
              <a:t>Depend upon the </a:t>
            </a:r>
            <a:r>
              <a:rPr lang="en-US" dirty="0">
                <a:highlight>
                  <a:srgbClr val="FFFF00"/>
                </a:highlight>
              </a:rPr>
              <a:t>porosity of the soil, level of ground water, its slope and direction of flow</a:t>
            </a:r>
            <a:r>
              <a:rPr lang="en-US" dirty="0"/>
              <a:t>. </a:t>
            </a:r>
          </a:p>
          <a:p>
            <a:r>
              <a:rPr lang="en-US" dirty="0"/>
              <a:t>Latrines of any kind should not be located within 15 m (50 ft) from a source of water supply,</a:t>
            </a:r>
          </a:p>
          <a:p>
            <a:r>
              <a:rPr lang="en-US" dirty="0"/>
              <a:t>Should be </a:t>
            </a:r>
            <a:r>
              <a:rPr lang="en-US" dirty="0">
                <a:highlight>
                  <a:srgbClr val="FFFF00"/>
                </a:highlight>
              </a:rPr>
              <a:t>at a lower elevation</a:t>
            </a:r>
            <a:r>
              <a:rPr lang="en-US" dirty="0"/>
              <a:t> to prevent the possibility of bacterial contamination of the water supply. </a:t>
            </a:r>
          </a:p>
          <a:p>
            <a:r>
              <a:rPr lang="en-US" dirty="0"/>
              <a:t>Latrines should </a:t>
            </a:r>
            <a:r>
              <a:rPr lang="en-US" dirty="0">
                <a:highlight>
                  <a:srgbClr val="FFFF00"/>
                </a:highlight>
              </a:rPr>
              <a:t>not be located in areas usually subject to flooding</a:t>
            </a:r>
            <a:r>
              <a:rPr lang="en-US" dirty="0"/>
              <a:t>.</a:t>
            </a:r>
          </a:p>
        </p:txBody>
      </p:sp>
    </p:spTree>
    <p:extLst>
      <p:ext uri="{BB962C8B-B14F-4D97-AF65-F5344CB8AC3E}">
        <p14:creationId xmlns:p14="http://schemas.microsoft.com/office/powerpoint/2010/main" val="36846904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AA75C-85F6-DDCC-3263-57D8AE5A7A71}"/>
              </a:ext>
            </a:extLst>
          </p:cNvPr>
          <p:cNvSpPr>
            <a:spLocks noGrp="1"/>
          </p:cNvSpPr>
          <p:nvPr>
            <p:ph type="title"/>
          </p:nvPr>
        </p:nvSpPr>
        <p:spPr/>
        <p:txBody>
          <a:bodyPr/>
          <a:lstStyle/>
          <a:p>
            <a:r>
              <a:rPr lang="en-US" dirty="0"/>
              <a:t>Squatting plate</a:t>
            </a:r>
          </a:p>
        </p:txBody>
      </p:sp>
      <p:sp>
        <p:nvSpPr>
          <p:cNvPr id="3" name="Content Placeholder 2">
            <a:extLst>
              <a:ext uri="{FF2B5EF4-FFF2-40B4-BE49-F238E27FC236}">
                <a16:creationId xmlns:a16="http://schemas.microsoft.com/office/drawing/2014/main" id="{7ED2E679-CD67-9A3A-DFD4-EB4C2B140938}"/>
              </a:ext>
            </a:extLst>
          </p:cNvPr>
          <p:cNvSpPr>
            <a:spLocks noGrp="1"/>
          </p:cNvSpPr>
          <p:nvPr>
            <p:ph idx="1"/>
          </p:nvPr>
        </p:nvSpPr>
        <p:spPr/>
        <p:txBody>
          <a:bodyPr>
            <a:normAutofit fontScale="92500" lnSpcReduction="10000"/>
          </a:bodyPr>
          <a:lstStyle/>
          <a:p>
            <a:r>
              <a:rPr lang="en-US" dirty="0"/>
              <a:t>It should be made of an </a:t>
            </a:r>
            <a:r>
              <a:rPr lang="en-US" dirty="0">
                <a:highlight>
                  <a:srgbClr val="FFFF00"/>
                </a:highlight>
              </a:rPr>
              <a:t>impervious material </a:t>
            </a:r>
            <a:r>
              <a:rPr lang="en-US" dirty="0"/>
              <a:t>so that it can be washed and kept clean and dry. </a:t>
            </a:r>
          </a:p>
          <a:p>
            <a:r>
              <a:rPr lang="en-US" dirty="0">
                <a:highlight>
                  <a:srgbClr val="FFFF00"/>
                </a:highlight>
              </a:rPr>
              <a:t>If kept dry, it will not facilitate the survival of hookworm larvae</a:t>
            </a:r>
            <a:r>
              <a:rPr lang="en-US" dirty="0"/>
              <a:t>, </a:t>
            </a:r>
          </a:p>
          <a:p>
            <a:r>
              <a:rPr lang="en-US" dirty="0"/>
              <a:t>In recommending squatting plates, due consideration should be paid to the habits of Indian people </a:t>
            </a:r>
          </a:p>
          <a:p>
            <a:r>
              <a:rPr lang="en-US" dirty="0"/>
              <a:t>It is made of </a:t>
            </a:r>
            <a:r>
              <a:rPr lang="en-US" dirty="0">
                <a:highlight>
                  <a:srgbClr val="FFFF00"/>
                </a:highlight>
              </a:rPr>
              <a:t>cement concrete</a:t>
            </a:r>
            <a:r>
              <a:rPr lang="en-US" dirty="0"/>
              <a:t> with minimum  dimensions of 90 cm (3 ft) square and 5 cm (2 inch) thickness. </a:t>
            </a:r>
          </a:p>
          <a:p>
            <a:r>
              <a:rPr lang="en-US" dirty="0"/>
              <a:t>There is a slope 1/2 inch towards the pan which allows drainage </a:t>
            </a:r>
          </a:p>
          <a:p>
            <a:r>
              <a:rPr lang="en-US" dirty="0"/>
              <a:t>A circular squatting plate of 90 cm (3 ft.) diameter and of 5 cm (2 in ) uniform thickness also been found satisfactory. </a:t>
            </a:r>
          </a:p>
          <a:p>
            <a:r>
              <a:rPr lang="en-US" dirty="0">
                <a:highlight>
                  <a:srgbClr val="FFFF00"/>
                </a:highlight>
              </a:rPr>
              <a:t>Raised footrests are included in the squatting plate</a:t>
            </a:r>
          </a:p>
        </p:txBody>
      </p:sp>
    </p:spTree>
    <p:extLst>
      <p:ext uri="{BB962C8B-B14F-4D97-AF65-F5344CB8AC3E}">
        <p14:creationId xmlns:p14="http://schemas.microsoft.com/office/powerpoint/2010/main" val="6146419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1F8DE-AD69-6575-6FCF-0E7418291274}"/>
              </a:ext>
            </a:extLst>
          </p:cNvPr>
          <p:cNvSpPr>
            <a:spLocks noGrp="1"/>
          </p:cNvSpPr>
          <p:nvPr>
            <p:ph type="title"/>
          </p:nvPr>
        </p:nvSpPr>
        <p:spPr/>
        <p:txBody>
          <a:bodyPr/>
          <a:lstStyle/>
          <a:p>
            <a:r>
              <a:rPr lang="en-US" dirty="0"/>
              <a:t>Pan</a:t>
            </a:r>
          </a:p>
        </p:txBody>
      </p:sp>
      <p:sp>
        <p:nvSpPr>
          <p:cNvPr id="3" name="Content Placeholder 2">
            <a:extLst>
              <a:ext uri="{FF2B5EF4-FFF2-40B4-BE49-F238E27FC236}">
                <a16:creationId xmlns:a16="http://schemas.microsoft.com/office/drawing/2014/main" id="{BE805DDA-A555-4E15-DBE8-BAB8058C5175}"/>
              </a:ext>
            </a:extLst>
          </p:cNvPr>
          <p:cNvSpPr>
            <a:spLocks noGrp="1"/>
          </p:cNvSpPr>
          <p:nvPr>
            <p:ph idx="1"/>
          </p:nvPr>
        </p:nvSpPr>
        <p:spPr/>
        <p:txBody>
          <a:bodyPr/>
          <a:lstStyle/>
          <a:p>
            <a:r>
              <a:rPr lang="en-US" dirty="0"/>
              <a:t>The pan receives the nightsoil, urine and wash water. </a:t>
            </a:r>
          </a:p>
          <a:p>
            <a:r>
              <a:rPr lang="en-US" dirty="0"/>
              <a:t>The length of the pan is 42.5 cm (17 in.). </a:t>
            </a:r>
          </a:p>
          <a:p>
            <a:r>
              <a:rPr lang="en-US" dirty="0"/>
              <a:t>The width of the front portion of the pan has a minimum of 12.5 cm (5 in.) and the width at its widest portion is 20 cm (8 in.).</a:t>
            </a:r>
          </a:p>
          <a:p>
            <a:r>
              <a:rPr lang="en-US" dirty="0"/>
              <a:t>There is a </a:t>
            </a:r>
            <a:r>
              <a:rPr lang="en-US" dirty="0">
                <a:highlight>
                  <a:srgbClr val="FFFF00"/>
                </a:highlight>
              </a:rPr>
              <a:t>uniform slope from front to back of the pan. </a:t>
            </a:r>
          </a:p>
          <a:p>
            <a:r>
              <a:rPr lang="en-US" dirty="0"/>
              <a:t>The pan is given a smooth finish.</a:t>
            </a:r>
          </a:p>
        </p:txBody>
      </p:sp>
    </p:spTree>
    <p:extLst>
      <p:ext uri="{BB962C8B-B14F-4D97-AF65-F5344CB8AC3E}">
        <p14:creationId xmlns:p14="http://schemas.microsoft.com/office/powerpoint/2010/main" val="1866548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FE7D7-25D4-D8BC-3CA0-2BE1AE975738}"/>
              </a:ext>
            </a:extLst>
          </p:cNvPr>
          <p:cNvSpPr>
            <a:spLocks noGrp="1"/>
          </p:cNvSpPr>
          <p:nvPr>
            <p:ph type="title"/>
          </p:nvPr>
        </p:nvSpPr>
        <p:spPr/>
        <p:txBody>
          <a:bodyPr/>
          <a:lstStyle/>
          <a:p>
            <a:r>
              <a:rPr lang="en-US"/>
              <a:t>Trap</a:t>
            </a:r>
            <a:endParaRPr lang="en-US" dirty="0"/>
          </a:p>
        </p:txBody>
      </p:sp>
      <p:graphicFrame>
        <p:nvGraphicFramePr>
          <p:cNvPr id="7" name="Content Placeholder 2">
            <a:extLst>
              <a:ext uri="{FF2B5EF4-FFF2-40B4-BE49-F238E27FC236}">
                <a16:creationId xmlns:a16="http://schemas.microsoft.com/office/drawing/2014/main" id="{631C3780-68E7-C36D-185C-9ADB872083CF}"/>
              </a:ext>
            </a:extLst>
          </p:cNvPr>
          <p:cNvGraphicFramePr>
            <a:graphicFrameLocks noGrp="1"/>
          </p:cNvGraphicFramePr>
          <p:nvPr>
            <p:ph idx="1"/>
            <p:extLst>
              <p:ext uri="{D42A27DB-BD31-4B8C-83A1-F6EECF244321}">
                <p14:modId xmlns:p14="http://schemas.microsoft.com/office/powerpoint/2010/main" val="15260131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a:extLst>
              <a:ext uri="{FF2B5EF4-FFF2-40B4-BE49-F238E27FC236}">
                <a16:creationId xmlns:a16="http://schemas.microsoft.com/office/drawing/2014/main" id="{FAB25A5B-980D-005C-AF91-26B6D635DDEA}"/>
              </a:ext>
            </a:extLst>
          </p:cNvPr>
          <p:cNvPicPr>
            <a:picLocks noChangeAspect="1"/>
          </p:cNvPicPr>
          <p:nvPr/>
        </p:nvPicPr>
        <p:blipFill>
          <a:blip r:embed="rId7">
            <a:extLst>
              <a:ext uri="{BEBA8EAE-BF5A-486C-A8C5-ECC9F3942E4B}">
                <a14:imgProps xmlns:a14="http://schemas.microsoft.com/office/drawing/2010/main">
                  <a14:imgLayer r:embed="rId8">
                    <a14:imgEffect>
                      <a14:saturation sat="33000"/>
                    </a14:imgEffect>
                  </a14:imgLayer>
                </a14:imgProps>
              </a:ext>
            </a:extLst>
          </a:blip>
          <a:stretch>
            <a:fillRect/>
          </a:stretch>
        </p:blipFill>
        <p:spPr>
          <a:xfrm>
            <a:off x="7779134" y="72780"/>
            <a:ext cx="4077269" cy="1752845"/>
          </a:xfrm>
          <a:prstGeom prst="rect">
            <a:avLst/>
          </a:prstGeom>
        </p:spPr>
      </p:pic>
    </p:spTree>
    <p:extLst>
      <p:ext uri="{BB962C8B-B14F-4D97-AF65-F5344CB8AC3E}">
        <p14:creationId xmlns:p14="http://schemas.microsoft.com/office/powerpoint/2010/main" val="37699422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7A93A-1E80-68A7-FE10-F1295649EF66}"/>
              </a:ext>
            </a:extLst>
          </p:cNvPr>
          <p:cNvSpPr>
            <a:spLocks noGrp="1"/>
          </p:cNvSpPr>
          <p:nvPr>
            <p:ph type="title"/>
          </p:nvPr>
        </p:nvSpPr>
        <p:spPr/>
        <p:txBody>
          <a:bodyPr/>
          <a:lstStyle/>
          <a:p>
            <a:r>
              <a:rPr lang="en-US" dirty="0"/>
              <a:t>Connecting pipe</a:t>
            </a:r>
          </a:p>
        </p:txBody>
      </p:sp>
      <p:sp>
        <p:nvSpPr>
          <p:cNvPr id="3" name="Content Placeholder 2">
            <a:extLst>
              <a:ext uri="{FF2B5EF4-FFF2-40B4-BE49-F238E27FC236}">
                <a16:creationId xmlns:a16="http://schemas.microsoft.com/office/drawing/2014/main" id="{14AD76A9-03BA-E744-FFA0-68D3CD99772D}"/>
              </a:ext>
            </a:extLst>
          </p:cNvPr>
          <p:cNvSpPr>
            <a:spLocks noGrp="1"/>
          </p:cNvSpPr>
          <p:nvPr>
            <p:ph idx="1"/>
          </p:nvPr>
        </p:nvSpPr>
        <p:spPr/>
        <p:txBody>
          <a:bodyPr>
            <a:normAutofit fontScale="85000" lnSpcReduction="20000"/>
          </a:bodyPr>
          <a:lstStyle/>
          <a:p>
            <a:r>
              <a:rPr lang="en-US" dirty="0"/>
              <a:t>When the pit is dug, away from the squat plate, the trap is connected to the pit by a short length of connecting pipe 7.5 cm (3 in.) in diameter and at least 1 m (3 ft.) in length with a bend at the end.</a:t>
            </a:r>
          </a:p>
          <a:p>
            <a:r>
              <a:rPr lang="en-US" dirty="0"/>
              <a:t>A latrine of this type is called the Indirect type because the pit is sited away from the squatting plate. </a:t>
            </a:r>
          </a:p>
          <a:p>
            <a:r>
              <a:rPr lang="en-US" dirty="0"/>
              <a:t>In the direct type there is no need for a connecting pipe.</a:t>
            </a:r>
          </a:p>
          <a:p>
            <a:r>
              <a:rPr lang="en-US" dirty="0"/>
              <a:t>The direct type is best suited for areas where the ground is hard and does not easily cave in. </a:t>
            </a:r>
          </a:p>
          <a:p>
            <a:r>
              <a:rPr lang="en-US" dirty="0"/>
              <a:t>The direct type is cheaper and easier to construct and occupies less space.</a:t>
            </a:r>
          </a:p>
          <a:p>
            <a:r>
              <a:rPr lang="en-US" dirty="0"/>
              <a:t>An advantage with the indirect type is that when the pit fills up, a second pit can be put into operation by merely changing the direction of the connecting pipe. </a:t>
            </a:r>
          </a:p>
          <a:p>
            <a:r>
              <a:rPr lang="en-US" dirty="0"/>
              <a:t>The indirect type is usually preferred.</a:t>
            </a:r>
          </a:p>
        </p:txBody>
      </p:sp>
    </p:spTree>
    <p:extLst>
      <p:ext uri="{BB962C8B-B14F-4D97-AF65-F5344CB8AC3E}">
        <p14:creationId xmlns:p14="http://schemas.microsoft.com/office/powerpoint/2010/main" val="5926754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04489-4912-CF26-160C-19A119DAC3A8}"/>
              </a:ext>
            </a:extLst>
          </p:cNvPr>
          <p:cNvSpPr>
            <a:spLocks noGrp="1"/>
          </p:cNvSpPr>
          <p:nvPr>
            <p:ph type="title"/>
          </p:nvPr>
        </p:nvSpPr>
        <p:spPr/>
        <p:txBody>
          <a:bodyPr/>
          <a:lstStyle/>
          <a:p>
            <a:r>
              <a:rPr lang="en-US" dirty="0"/>
              <a:t>Dug well and superstructure</a:t>
            </a:r>
          </a:p>
        </p:txBody>
      </p:sp>
      <p:sp>
        <p:nvSpPr>
          <p:cNvPr id="3" name="Content Placeholder 2">
            <a:extLst>
              <a:ext uri="{FF2B5EF4-FFF2-40B4-BE49-F238E27FC236}">
                <a16:creationId xmlns:a16="http://schemas.microsoft.com/office/drawing/2014/main" id="{0CF66695-4210-EA2F-121F-44E973726CE0}"/>
              </a:ext>
            </a:extLst>
          </p:cNvPr>
          <p:cNvSpPr>
            <a:spLocks noGrp="1"/>
          </p:cNvSpPr>
          <p:nvPr>
            <p:ph idx="1"/>
          </p:nvPr>
        </p:nvSpPr>
        <p:spPr/>
        <p:txBody>
          <a:bodyPr>
            <a:normAutofit/>
          </a:bodyPr>
          <a:lstStyle/>
          <a:p>
            <a:r>
              <a:rPr lang="en-US" dirty="0"/>
              <a:t>The dug well or pit is usually 75 cm (30 in.) in diameter, and 3 to 3.5 m (10-12 ft.) deep and is covered. </a:t>
            </a:r>
          </a:p>
          <a:p>
            <a:r>
              <a:rPr lang="en-US" dirty="0"/>
              <a:t>In loose soil and where the water table is high a lining of earthenware rings or bamboo matting can be used to prevent caving in of the pit </a:t>
            </a:r>
            <a:r>
              <a:rPr lang="en-US" dirty="0" err="1"/>
              <a:t>fl</a:t>
            </a:r>
            <a:r>
              <a:rPr lang="en-US" dirty="0"/>
              <a:t>). </a:t>
            </a:r>
          </a:p>
          <a:p>
            <a:r>
              <a:rPr lang="en-US" dirty="0"/>
              <a:t>SUPERSTRUCTURE</a:t>
            </a:r>
          </a:p>
          <a:p>
            <a:pPr lvl="1"/>
            <a:r>
              <a:rPr lang="en-US" dirty="0"/>
              <a:t>Provided for privacy and shelter. </a:t>
            </a:r>
          </a:p>
          <a:p>
            <a:pPr lvl="1"/>
            <a:r>
              <a:rPr lang="en-US" dirty="0"/>
              <a:t>An attractive superstructure with a neat finish is desirable as this will be generally well maintained.</a:t>
            </a:r>
          </a:p>
        </p:txBody>
      </p:sp>
    </p:spTree>
    <p:extLst>
      <p:ext uri="{BB962C8B-B14F-4D97-AF65-F5344CB8AC3E}">
        <p14:creationId xmlns:p14="http://schemas.microsoft.com/office/powerpoint/2010/main" val="34640011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6A144-284A-C26C-03E3-27AF28D349F4}"/>
              </a:ext>
            </a:extLst>
          </p:cNvPr>
          <p:cNvSpPr>
            <a:spLocks noGrp="1"/>
          </p:cNvSpPr>
          <p:nvPr>
            <p:ph type="title"/>
          </p:nvPr>
        </p:nvSpPr>
        <p:spPr/>
        <p:txBody>
          <a:bodyPr/>
          <a:lstStyle/>
          <a:p>
            <a:r>
              <a:rPr lang="en-US" dirty="0"/>
              <a:t>Maintenance</a:t>
            </a:r>
          </a:p>
        </p:txBody>
      </p:sp>
      <p:sp>
        <p:nvSpPr>
          <p:cNvPr id="3" name="Content Placeholder 2">
            <a:extLst>
              <a:ext uri="{FF2B5EF4-FFF2-40B4-BE49-F238E27FC236}">
                <a16:creationId xmlns:a16="http://schemas.microsoft.com/office/drawing/2014/main" id="{8485AFAF-7773-CD30-DE37-4BF621ABCF1B}"/>
              </a:ext>
            </a:extLst>
          </p:cNvPr>
          <p:cNvSpPr>
            <a:spLocks noGrp="1"/>
          </p:cNvSpPr>
          <p:nvPr>
            <p:ph idx="1"/>
          </p:nvPr>
        </p:nvSpPr>
        <p:spPr/>
        <p:txBody>
          <a:bodyPr>
            <a:normAutofit/>
          </a:bodyPr>
          <a:lstStyle/>
          <a:p>
            <a:r>
              <a:rPr lang="en-US" dirty="0"/>
              <a:t>The latrine should be used only for the purpose intended and </a:t>
            </a:r>
            <a:r>
              <a:rPr lang="en-US" dirty="0">
                <a:highlight>
                  <a:srgbClr val="FFFF00"/>
                </a:highlight>
              </a:rPr>
              <a:t>not for disposal of refuse or other debris. </a:t>
            </a:r>
          </a:p>
          <a:p>
            <a:r>
              <a:rPr lang="en-US" dirty="0"/>
              <a:t>The squatting plate should be washed frequently and kept clean and dry. </a:t>
            </a:r>
          </a:p>
          <a:p>
            <a:r>
              <a:rPr lang="en-US" dirty="0"/>
              <a:t>People should learn to flush the pan after use with adequate quantity of water. </a:t>
            </a:r>
          </a:p>
          <a:p>
            <a:r>
              <a:rPr lang="en-US" dirty="0">
                <a:highlight>
                  <a:srgbClr val="FFFF00"/>
                </a:highlight>
              </a:rPr>
              <a:t>One to two </a:t>
            </a:r>
            <a:r>
              <a:rPr lang="en-US" dirty="0" err="1">
                <a:highlight>
                  <a:srgbClr val="FFFF00"/>
                </a:highlight>
              </a:rPr>
              <a:t>litres</a:t>
            </a:r>
            <a:r>
              <a:rPr lang="en-US" dirty="0">
                <a:highlight>
                  <a:srgbClr val="FFFF00"/>
                </a:highlight>
              </a:rPr>
              <a:t> of water are sufficient to flush the RCA latrine</a:t>
            </a:r>
            <a:r>
              <a:rPr lang="en-US" dirty="0"/>
              <a:t>.</a:t>
            </a:r>
          </a:p>
          <a:p>
            <a:r>
              <a:rPr lang="en-US" dirty="0"/>
              <a:t>Proper maintenance involves health education of the people which is very necessary for the success of any latrine </a:t>
            </a:r>
            <a:r>
              <a:rPr lang="en-US" dirty="0" err="1"/>
              <a:t>programme</a:t>
            </a:r>
            <a:r>
              <a:rPr lang="en-US" dirty="0"/>
              <a:t>.</a:t>
            </a:r>
          </a:p>
        </p:txBody>
      </p:sp>
    </p:spTree>
    <p:extLst>
      <p:ext uri="{BB962C8B-B14F-4D97-AF65-F5344CB8AC3E}">
        <p14:creationId xmlns:p14="http://schemas.microsoft.com/office/powerpoint/2010/main" val="12852630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60D11-718E-2821-952C-04AEA7C7BD4F}"/>
              </a:ext>
            </a:extLst>
          </p:cNvPr>
          <p:cNvSpPr>
            <a:spLocks noGrp="1"/>
          </p:cNvSpPr>
          <p:nvPr>
            <p:ph type="title"/>
          </p:nvPr>
        </p:nvSpPr>
        <p:spPr>
          <a:xfrm>
            <a:off x="876694" y="439344"/>
            <a:ext cx="4806287" cy="633047"/>
          </a:xfrm>
        </p:spPr>
        <p:txBody>
          <a:bodyPr anchor="b">
            <a:normAutofit/>
          </a:bodyPr>
          <a:lstStyle/>
          <a:p>
            <a:r>
              <a:rPr lang="en-US" sz="3200" b="1" dirty="0"/>
              <a:t>Septic tank</a:t>
            </a:r>
          </a:p>
        </p:txBody>
      </p:sp>
      <p:sp>
        <p:nvSpPr>
          <p:cNvPr id="3" name="Content Placeholder 2">
            <a:extLst>
              <a:ext uri="{FF2B5EF4-FFF2-40B4-BE49-F238E27FC236}">
                <a16:creationId xmlns:a16="http://schemas.microsoft.com/office/drawing/2014/main" id="{84F505E5-3641-9EAD-11A4-5814C3C5D700}"/>
              </a:ext>
            </a:extLst>
          </p:cNvPr>
          <p:cNvSpPr>
            <a:spLocks noGrp="1"/>
          </p:cNvSpPr>
          <p:nvPr>
            <p:ph idx="1"/>
          </p:nvPr>
        </p:nvSpPr>
        <p:spPr>
          <a:xfrm>
            <a:off x="304800" y="1195754"/>
            <a:ext cx="4806287" cy="4785554"/>
          </a:xfrm>
        </p:spPr>
        <p:txBody>
          <a:bodyPr anchor="t">
            <a:normAutofit/>
          </a:bodyPr>
          <a:lstStyle/>
          <a:p>
            <a:r>
              <a:rPr lang="en-US" dirty="0"/>
              <a:t>Water-tight masonry tank into which household sewage is admitted for treatment. </a:t>
            </a:r>
          </a:p>
          <a:p>
            <a:r>
              <a:rPr lang="en-US" dirty="0"/>
              <a:t>It is a satisfactory means of disposing </a:t>
            </a:r>
            <a:r>
              <a:rPr lang="en-US" dirty="0">
                <a:highlight>
                  <a:srgbClr val="FFFF00"/>
                </a:highlight>
              </a:rPr>
              <a:t>excreta and liquid wastes from individual dwellings</a:t>
            </a:r>
            <a:r>
              <a:rPr lang="en-US" dirty="0"/>
              <a:t>, small groups of houses and institutions which have </a:t>
            </a:r>
            <a:r>
              <a:rPr lang="en-US" dirty="0">
                <a:highlight>
                  <a:srgbClr val="FFFF00"/>
                </a:highlight>
              </a:rPr>
              <a:t>adequate water supplies but do not have access to a public sewerage system.</a:t>
            </a:r>
          </a:p>
        </p:txBody>
      </p:sp>
      <p:pic>
        <p:nvPicPr>
          <p:cNvPr id="5" name="Picture 4">
            <a:extLst>
              <a:ext uri="{FF2B5EF4-FFF2-40B4-BE49-F238E27FC236}">
                <a16:creationId xmlns:a16="http://schemas.microsoft.com/office/drawing/2014/main" id="{01AD0DA2-1A79-231E-2513-A0B407695EC5}"/>
              </a:ext>
            </a:extLst>
          </p:cNvPr>
          <p:cNvPicPr>
            <a:picLocks noChangeAspect="1"/>
          </p:cNvPicPr>
          <p:nvPr/>
        </p:nvPicPr>
        <p:blipFill>
          <a:blip r:embed="rId2"/>
          <a:srcRect l="1842" r="4891" b="1"/>
          <a:stretch/>
        </p:blipFill>
        <p:spPr>
          <a:xfrm>
            <a:off x="5854890" y="877414"/>
            <a:ext cx="5453545" cy="4984683"/>
          </a:xfrm>
          <a:prstGeom prst="rect">
            <a:avLst/>
          </a:prstGeom>
        </p:spPr>
      </p:pic>
      <p:grpSp>
        <p:nvGrpSpPr>
          <p:cNvPr id="14" name="Group 13">
            <a:extLst>
              <a:ext uri="{FF2B5EF4-FFF2-40B4-BE49-F238E27FC236}">
                <a16:creationId xmlns:a16="http://schemas.microsoft.com/office/drawing/2014/main" id="{434FA563-76F6-CDCF-AEA0-A7B78E44647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1" name="Rectangle 10">
              <a:extLst>
                <a:ext uri="{FF2B5EF4-FFF2-40B4-BE49-F238E27FC236}">
                  <a16:creationId xmlns:a16="http://schemas.microsoft.com/office/drawing/2014/main" id="{1D2E3CAA-F1BA-6695-301D-22564C3828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F3F0F2C-04A5-144D-BDCF-C387072897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271697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0B619-4703-3279-FBB5-9961D2811145}"/>
              </a:ext>
            </a:extLst>
          </p:cNvPr>
          <p:cNvSpPr>
            <a:spLocks noGrp="1"/>
          </p:cNvSpPr>
          <p:nvPr>
            <p:ph type="title"/>
          </p:nvPr>
        </p:nvSpPr>
        <p:spPr/>
        <p:txBody>
          <a:bodyPr/>
          <a:lstStyle/>
          <a:p>
            <a:r>
              <a:rPr lang="en-US" dirty="0"/>
              <a:t>Design</a:t>
            </a:r>
          </a:p>
        </p:txBody>
      </p:sp>
      <p:sp>
        <p:nvSpPr>
          <p:cNvPr id="3" name="Content Placeholder 2">
            <a:extLst>
              <a:ext uri="{FF2B5EF4-FFF2-40B4-BE49-F238E27FC236}">
                <a16:creationId xmlns:a16="http://schemas.microsoft.com/office/drawing/2014/main" id="{01B10641-8AB6-1560-A697-46A4F9825298}"/>
              </a:ext>
            </a:extLst>
          </p:cNvPr>
          <p:cNvSpPr>
            <a:spLocks noGrp="1"/>
          </p:cNvSpPr>
          <p:nvPr>
            <p:ph idx="1"/>
          </p:nvPr>
        </p:nvSpPr>
        <p:spPr>
          <a:xfrm>
            <a:off x="465221" y="1427747"/>
            <a:ext cx="10888579" cy="4749216"/>
          </a:xfrm>
        </p:spPr>
        <p:txBody>
          <a:bodyPr>
            <a:normAutofit/>
          </a:bodyPr>
          <a:lstStyle/>
          <a:p>
            <a:r>
              <a:rPr lang="en-US" dirty="0"/>
              <a:t>Double chambered and some single chambered. </a:t>
            </a:r>
          </a:p>
          <a:p>
            <a:r>
              <a:rPr lang="en-US" dirty="0"/>
              <a:t>A single chambered septic tank has been found satisfactory for small installations. </a:t>
            </a:r>
          </a:p>
          <a:p>
            <a:r>
              <a:rPr lang="en-US" dirty="0"/>
              <a:t>Tanks with more than two compartments are expensive and have shown little advantage over the two or multiple chambered septic tank.</a:t>
            </a:r>
          </a:p>
          <a:p>
            <a:r>
              <a:rPr lang="en-US" b="1" dirty="0"/>
              <a:t>Capacity</a:t>
            </a:r>
          </a:p>
          <a:p>
            <a:pPr lvl="1"/>
            <a:r>
              <a:rPr lang="en-US" dirty="0"/>
              <a:t>Depend upon the number of users. </a:t>
            </a:r>
          </a:p>
          <a:p>
            <a:pPr lvl="1"/>
            <a:r>
              <a:rPr lang="en-US" dirty="0"/>
              <a:t>A capacity of 20-30 gallons or 2.5-5 </a:t>
            </a:r>
            <a:r>
              <a:rPr lang="en-US" dirty="0" err="1"/>
              <a:t>c.ft</a:t>
            </a:r>
            <a:r>
              <a:rPr lang="en-US" dirty="0"/>
              <a:t>. per person is recommended for household septic tanks. </a:t>
            </a:r>
          </a:p>
          <a:p>
            <a:pPr lvl="1"/>
            <a:r>
              <a:rPr lang="en-US" dirty="0"/>
              <a:t>The minimum </a:t>
            </a:r>
            <a:r>
              <a:rPr lang="en-US" dirty="0">
                <a:highlight>
                  <a:srgbClr val="FFFF00"/>
                </a:highlight>
              </a:rPr>
              <a:t>capacity of a septic tank should be at least 500 gallons. </a:t>
            </a:r>
          </a:p>
          <a:p>
            <a:pPr lvl="1"/>
            <a:r>
              <a:rPr lang="en-US" dirty="0"/>
              <a:t>Septic tanks are not recommended for large communities.</a:t>
            </a:r>
          </a:p>
        </p:txBody>
      </p:sp>
    </p:spTree>
    <p:extLst>
      <p:ext uri="{BB962C8B-B14F-4D97-AF65-F5344CB8AC3E}">
        <p14:creationId xmlns:p14="http://schemas.microsoft.com/office/powerpoint/2010/main" val="18881965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50786-CE45-63E3-D9F8-AC78A364C0B5}"/>
              </a:ext>
            </a:extLst>
          </p:cNvPr>
          <p:cNvSpPr>
            <a:spLocks noGrp="1"/>
          </p:cNvSpPr>
          <p:nvPr>
            <p:ph type="title"/>
          </p:nvPr>
        </p:nvSpPr>
        <p:spPr/>
        <p:txBody>
          <a:bodyPr/>
          <a:lstStyle/>
          <a:p>
            <a:r>
              <a:rPr lang="en-US" dirty="0"/>
              <a:t>Design features</a:t>
            </a:r>
          </a:p>
        </p:txBody>
      </p:sp>
      <p:sp>
        <p:nvSpPr>
          <p:cNvPr id="3" name="Content Placeholder 2">
            <a:extLst>
              <a:ext uri="{FF2B5EF4-FFF2-40B4-BE49-F238E27FC236}">
                <a16:creationId xmlns:a16="http://schemas.microsoft.com/office/drawing/2014/main" id="{47792067-C1DD-579B-B4DC-D87FA22C976F}"/>
              </a:ext>
            </a:extLst>
          </p:cNvPr>
          <p:cNvSpPr>
            <a:spLocks noGrp="1"/>
          </p:cNvSpPr>
          <p:nvPr>
            <p:ph idx="1"/>
          </p:nvPr>
        </p:nvSpPr>
        <p:spPr/>
        <p:txBody>
          <a:bodyPr>
            <a:normAutofit/>
          </a:bodyPr>
          <a:lstStyle/>
          <a:p>
            <a:r>
              <a:rPr lang="en-US" b="1" dirty="0"/>
              <a:t>Length</a:t>
            </a:r>
            <a:r>
              <a:rPr lang="en-US" dirty="0"/>
              <a:t> : The length is usually twice the breadth. </a:t>
            </a:r>
          </a:p>
          <a:p>
            <a:r>
              <a:rPr lang="en-US" b="1" dirty="0"/>
              <a:t>Depth</a:t>
            </a:r>
            <a:r>
              <a:rPr lang="en-US" dirty="0"/>
              <a:t> : The depth of a septic tank is from 1.5 to 2 m (5-7 ft.).</a:t>
            </a:r>
          </a:p>
          <a:p>
            <a:r>
              <a:rPr lang="en-US" b="1" dirty="0"/>
              <a:t>Liquid depth </a:t>
            </a:r>
            <a:r>
              <a:rPr lang="en-US" dirty="0"/>
              <a:t>: The recommended liquid depth is only 1.2 m (4 ft.). </a:t>
            </a:r>
          </a:p>
          <a:p>
            <a:r>
              <a:rPr lang="en-US" b="1" dirty="0"/>
              <a:t>Airspace</a:t>
            </a:r>
            <a:r>
              <a:rPr lang="en-US" dirty="0"/>
              <a:t> : There should be a minimum air space of 30 cm (12 in.) between the level of liquid in the tank and the undersurface of the cover. </a:t>
            </a:r>
          </a:p>
          <a:p>
            <a:r>
              <a:rPr lang="en-US" b="1" dirty="0"/>
              <a:t>Bottom</a:t>
            </a:r>
            <a:r>
              <a:rPr lang="en-US" dirty="0"/>
              <a:t> : In some septic tanks, the bottom is sloping towards the inlet end. This facilitates retention of solids.</a:t>
            </a:r>
          </a:p>
        </p:txBody>
      </p:sp>
    </p:spTree>
    <p:extLst>
      <p:ext uri="{BB962C8B-B14F-4D97-AF65-F5344CB8AC3E}">
        <p14:creationId xmlns:p14="http://schemas.microsoft.com/office/powerpoint/2010/main" val="13968278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50786-CE45-63E3-D9F8-AC78A364C0B5}"/>
              </a:ext>
            </a:extLst>
          </p:cNvPr>
          <p:cNvSpPr>
            <a:spLocks noGrp="1"/>
          </p:cNvSpPr>
          <p:nvPr>
            <p:ph type="title"/>
          </p:nvPr>
        </p:nvSpPr>
        <p:spPr/>
        <p:txBody>
          <a:bodyPr/>
          <a:lstStyle/>
          <a:p>
            <a:r>
              <a:rPr lang="en-US" dirty="0"/>
              <a:t>Design features</a:t>
            </a:r>
          </a:p>
        </p:txBody>
      </p:sp>
      <p:sp>
        <p:nvSpPr>
          <p:cNvPr id="3" name="Content Placeholder 2">
            <a:extLst>
              <a:ext uri="{FF2B5EF4-FFF2-40B4-BE49-F238E27FC236}">
                <a16:creationId xmlns:a16="http://schemas.microsoft.com/office/drawing/2014/main" id="{47792067-C1DD-579B-B4DC-D87FA22C976F}"/>
              </a:ext>
            </a:extLst>
          </p:cNvPr>
          <p:cNvSpPr>
            <a:spLocks noGrp="1"/>
          </p:cNvSpPr>
          <p:nvPr>
            <p:ph idx="1"/>
          </p:nvPr>
        </p:nvSpPr>
        <p:spPr/>
        <p:txBody>
          <a:bodyPr>
            <a:normAutofit/>
          </a:bodyPr>
          <a:lstStyle/>
          <a:p>
            <a:r>
              <a:rPr lang="en-US" b="1" dirty="0"/>
              <a:t>Inlet and outlet</a:t>
            </a:r>
            <a:r>
              <a:rPr lang="en-US" dirty="0"/>
              <a:t>: There is an inlet and outlet pipe, which are submerged.</a:t>
            </a:r>
          </a:p>
          <a:p>
            <a:r>
              <a:rPr lang="en-US" b="1" dirty="0"/>
              <a:t>Cover</a:t>
            </a:r>
            <a:r>
              <a:rPr lang="en-US" dirty="0"/>
              <a:t> : The septic tank is covered by a concrete slab of suitable thickness and provided with a manhole.</a:t>
            </a:r>
          </a:p>
          <a:p>
            <a:r>
              <a:rPr lang="en-US" b="1" dirty="0"/>
              <a:t>Retention Period </a:t>
            </a:r>
            <a:r>
              <a:rPr lang="en-US" dirty="0"/>
              <a:t>: Septic tanks are designed in this country to allow a retention period of 24 hours. </a:t>
            </a:r>
          </a:p>
          <a:p>
            <a:pPr lvl="1"/>
            <a:r>
              <a:rPr lang="en-US" dirty="0"/>
              <a:t>Too long a retention period will result in undue septicity of the effluent whereas too short a period gives insufficient treatment.</a:t>
            </a:r>
          </a:p>
        </p:txBody>
      </p:sp>
    </p:spTree>
    <p:extLst>
      <p:ext uri="{BB962C8B-B14F-4D97-AF65-F5344CB8AC3E}">
        <p14:creationId xmlns:p14="http://schemas.microsoft.com/office/powerpoint/2010/main" val="13048833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87D59-7E97-6023-3339-D1EDB0DDDBDE}"/>
              </a:ext>
            </a:extLst>
          </p:cNvPr>
          <p:cNvSpPr>
            <a:spLocks noGrp="1"/>
          </p:cNvSpPr>
          <p:nvPr>
            <p:ph type="title"/>
          </p:nvPr>
        </p:nvSpPr>
        <p:spPr/>
        <p:txBody>
          <a:bodyPr/>
          <a:lstStyle/>
          <a:p>
            <a:r>
              <a:rPr lang="en-US" dirty="0"/>
              <a:t>Working of septic tank</a:t>
            </a:r>
          </a:p>
        </p:txBody>
      </p:sp>
      <p:sp>
        <p:nvSpPr>
          <p:cNvPr id="3" name="Content Placeholder 2">
            <a:extLst>
              <a:ext uri="{FF2B5EF4-FFF2-40B4-BE49-F238E27FC236}">
                <a16:creationId xmlns:a16="http://schemas.microsoft.com/office/drawing/2014/main" id="{FEDCAD66-3CA8-0578-482E-75C052695D60}"/>
              </a:ext>
            </a:extLst>
          </p:cNvPr>
          <p:cNvSpPr>
            <a:spLocks noGrp="1"/>
          </p:cNvSpPr>
          <p:nvPr>
            <p:ph idx="1"/>
          </p:nvPr>
        </p:nvSpPr>
        <p:spPr>
          <a:xfrm>
            <a:off x="352926" y="1395663"/>
            <a:ext cx="11000874" cy="5266394"/>
          </a:xfrm>
        </p:spPr>
        <p:txBody>
          <a:bodyPr>
            <a:normAutofit fontScale="92500" lnSpcReduction="10000"/>
          </a:bodyPr>
          <a:lstStyle/>
          <a:p>
            <a:r>
              <a:rPr lang="en-US" sz="2400" dirty="0"/>
              <a:t>The solids settle down in the tank, to form “sludge”, while the lighter solids including grease and fat rise to the surface to form “scum”. </a:t>
            </a:r>
          </a:p>
          <a:p>
            <a:r>
              <a:rPr lang="en-US" sz="2400" b="1" dirty="0"/>
              <a:t>Anaerobic digestion</a:t>
            </a:r>
          </a:p>
          <a:p>
            <a:pPr lvl="1"/>
            <a:r>
              <a:rPr lang="en-US" sz="1800" dirty="0"/>
              <a:t>The solids are attacked by the anaerobic bacteria and fungi and are broken down into simpler chemical compounds. </a:t>
            </a:r>
          </a:p>
          <a:p>
            <a:pPr lvl="1"/>
            <a:r>
              <a:rPr lang="en-US" sz="1800" dirty="0"/>
              <a:t>The sludge is much reduced in volume as a result of anaerobic digestion, and is rendered stable and inoffensive. </a:t>
            </a:r>
          </a:p>
          <a:p>
            <a:r>
              <a:rPr lang="en-US" sz="2400" dirty="0"/>
              <a:t>A portion of the solids is transferred into liquids and gases (principally methane) which rises to the surface in the form of bubbles. </a:t>
            </a:r>
          </a:p>
          <a:p>
            <a:r>
              <a:rPr lang="en-US" sz="2400" dirty="0"/>
              <a:t>The liquid which passes out of the outlet pipe from time to time is called the “effluent”. It contains numerous </a:t>
            </a:r>
            <a:r>
              <a:rPr lang="en-US" sz="2400" dirty="0" err="1"/>
              <a:t>bacteriae</a:t>
            </a:r>
            <a:r>
              <a:rPr lang="en-US" sz="2400" dirty="0"/>
              <a:t>, cysts, helminthic ova and organic matter in solution or fine suspension. </a:t>
            </a:r>
          </a:p>
          <a:p>
            <a:r>
              <a:rPr lang="en-US" sz="2400" b="1" dirty="0"/>
              <a:t>Aerobic oxidation</a:t>
            </a:r>
          </a:p>
          <a:p>
            <a:pPr lvl="1"/>
            <a:r>
              <a:rPr lang="en-US" sz="1800" dirty="0"/>
              <a:t>The effluent is allowed to percolate into the sub-soil. It is dispersed by means of perforated or open-jointed pipes laid in trenches 90 cm (3 ft.) deep and the trenches are then covered with soil. </a:t>
            </a:r>
          </a:p>
          <a:p>
            <a:pPr lvl="1"/>
            <a:r>
              <a:rPr lang="en-US" sz="1800" dirty="0"/>
              <a:t>The effluent percolates into the surrounding soil. There are millions of aerobic bacteria in the upper layers of the soil, which attack the organic matter present in the effluent. As a result, the organic matter is oxidized into stable end products, i.e., nitrates, carbon dioxide and water. </a:t>
            </a:r>
          </a:p>
          <a:p>
            <a:r>
              <a:rPr lang="en-US" sz="2400" dirty="0"/>
              <a:t>These two stages complete the purification of sewage</a:t>
            </a:r>
          </a:p>
        </p:txBody>
      </p:sp>
    </p:spTree>
    <p:extLst>
      <p:ext uri="{BB962C8B-B14F-4D97-AF65-F5344CB8AC3E}">
        <p14:creationId xmlns:p14="http://schemas.microsoft.com/office/powerpoint/2010/main" val="1428237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D9EE5-4496-E482-89C8-FB8CD8F1CF18}"/>
              </a:ext>
            </a:extLst>
          </p:cNvPr>
          <p:cNvSpPr>
            <a:spLocks noGrp="1"/>
          </p:cNvSpPr>
          <p:nvPr>
            <p:ph type="title"/>
          </p:nvPr>
        </p:nvSpPr>
        <p:spPr/>
        <p:txBody>
          <a:bodyPr/>
          <a:lstStyle/>
          <a:p>
            <a:r>
              <a:rPr lang="en-US" dirty="0"/>
              <a:t>Operation and maintenance</a:t>
            </a:r>
          </a:p>
        </p:txBody>
      </p:sp>
      <p:sp>
        <p:nvSpPr>
          <p:cNvPr id="3" name="Content Placeholder 2">
            <a:extLst>
              <a:ext uri="{FF2B5EF4-FFF2-40B4-BE49-F238E27FC236}">
                <a16:creationId xmlns:a16="http://schemas.microsoft.com/office/drawing/2014/main" id="{3DB6FB0B-9CC4-3588-5042-E93B350A9290}"/>
              </a:ext>
            </a:extLst>
          </p:cNvPr>
          <p:cNvSpPr>
            <a:spLocks noGrp="1"/>
          </p:cNvSpPr>
          <p:nvPr>
            <p:ph idx="1"/>
          </p:nvPr>
        </p:nvSpPr>
        <p:spPr/>
        <p:txBody>
          <a:bodyPr>
            <a:normAutofit lnSpcReduction="10000"/>
          </a:bodyPr>
          <a:lstStyle/>
          <a:p>
            <a:r>
              <a:rPr lang="en-US" dirty="0"/>
              <a:t>The </a:t>
            </a:r>
            <a:r>
              <a:rPr lang="en-US" dirty="0">
                <a:highlight>
                  <a:srgbClr val="FFFF00"/>
                </a:highlight>
              </a:rPr>
              <a:t>use of soap water and disinfectants such as phenol should be avoided as they are injurious to the bacterial flora </a:t>
            </a:r>
            <a:r>
              <a:rPr lang="en-US" dirty="0"/>
              <a:t>in the septic tank.</a:t>
            </a:r>
          </a:p>
          <a:p>
            <a:r>
              <a:rPr lang="en-US" dirty="0"/>
              <a:t>Undue accumulation of sludge reduces the capacity of the septic tank and interferes with proper working. Therefore, the contents of the septic tank should be bailed out at least once a year. This operation is called “desludging”. </a:t>
            </a:r>
          </a:p>
          <a:p>
            <a:r>
              <a:rPr lang="en-US" dirty="0"/>
              <a:t>The bailed out sludge is disposed of by trenching. </a:t>
            </a:r>
          </a:p>
          <a:p>
            <a:r>
              <a:rPr lang="en-US" dirty="0"/>
              <a:t>Newly built septic tanks are first filled with water up to the outlet level and then seeded with ripe sludge drawn from another septic tank, to provide the right type of bacteria to carry out the decomposition process.</a:t>
            </a:r>
          </a:p>
        </p:txBody>
      </p:sp>
    </p:spTree>
    <p:extLst>
      <p:ext uri="{BB962C8B-B14F-4D97-AF65-F5344CB8AC3E}">
        <p14:creationId xmlns:p14="http://schemas.microsoft.com/office/powerpoint/2010/main" val="34865767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9D927-B22D-2D3D-6B17-44C50F6CE0F1}"/>
              </a:ext>
            </a:extLst>
          </p:cNvPr>
          <p:cNvSpPr>
            <a:spLocks noGrp="1"/>
          </p:cNvSpPr>
          <p:nvPr>
            <p:ph type="title"/>
          </p:nvPr>
        </p:nvSpPr>
        <p:spPr/>
        <p:txBody>
          <a:bodyPr/>
          <a:lstStyle/>
          <a:p>
            <a:r>
              <a:rPr lang="en-US" dirty="0"/>
              <a:t>Aqua Privy</a:t>
            </a:r>
          </a:p>
        </p:txBody>
      </p:sp>
      <p:sp>
        <p:nvSpPr>
          <p:cNvPr id="3" name="Content Placeholder 2">
            <a:extLst>
              <a:ext uri="{FF2B5EF4-FFF2-40B4-BE49-F238E27FC236}">
                <a16:creationId xmlns:a16="http://schemas.microsoft.com/office/drawing/2014/main" id="{5D664992-DF64-9D3B-7910-A9B9D496A63A}"/>
              </a:ext>
            </a:extLst>
          </p:cNvPr>
          <p:cNvSpPr>
            <a:spLocks noGrp="1"/>
          </p:cNvSpPr>
          <p:nvPr>
            <p:ph idx="1"/>
          </p:nvPr>
        </p:nvSpPr>
        <p:spPr>
          <a:xfrm>
            <a:off x="188686" y="1538514"/>
            <a:ext cx="11165114" cy="4638449"/>
          </a:xfrm>
        </p:spPr>
        <p:txBody>
          <a:bodyPr>
            <a:normAutofit fontScale="77500" lnSpcReduction="20000"/>
          </a:bodyPr>
          <a:lstStyle/>
          <a:p>
            <a:r>
              <a:rPr lang="en-US" dirty="0"/>
              <a:t>The aqua privy functions like a septic tank and has been used in different regions in the country. </a:t>
            </a:r>
          </a:p>
          <a:p>
            <a:r>
              <a:rPr lang="en-US" dirty="0"/>
              <a:t>The privy consists of a water-tight chamber filled with water. </a:t>
            </a:r>
          </a:p>
          <a:p>
            <a:r>
              <a:rPr lang="en-US" dirty="0"/>
              <a:t>A short length of a drop pipe from the latrine floor dips into the water. </a:t>
            </a:r>
          </a:p>
          <a:p>
            <a:r>
              <a:rPr lang="en-US" dirty="0"/>
              <a:t>The size of the tank depends upon the number of users. </a:t>
            </a:r>
            <a:r>
              <a:rPr lang="en-US" dirty="0">
                <a:highlight>
                  <a:srgbClr val="FFFF00"/>
                </a:highlight>
              </a:rPr>
              <a:t>A capacity of one cubic </a:t>
            </a:r>
            <a:r>
              <a:rPr lang="en-US" dirty="0" err="1">
                <a:highlight>
                  <a:srgbClr val="FFFF00"/>
                </a:highlight>
              </a:rPr>
              <a:t>metre</a:t>
            </a:r>
            <a:r>
              <a:rPr lang="en-US" dirty="0">
                <a:highlight>
                  <a:srgbClr val="FFFF00"/>
                </a:highlight>
              </a:rPr>
              <a:t> (35 </a:t>
            </a:r>
            <a:r>
              <a:rPr lang="en-US" dirty="0" err="1">
                <a:highlight>
                  <a:srgbClr val="FFFF00"/>
                </a:highlight>
              </a:rPr>
              <a:t>cu.ft</a:t>
            </a:r>
            <a:r>
              <a:rPr lang="en-US" dirty="0">
                <a:highlight>
                  <a:srgbClr val="FFFF00"/>
                </a:highlight>
              </a:rPr>
              <a:t>.) is recommended for a small family, allowing 6 years or more for cleansing purposes. Aqua </a:t>
            </a:r>
            <a:r>
              <a:rPr lang="en-US" dirty="0"/>
              <a:t>privies are designed for public use also. </a:t>
            </a:r>
          </a:p>
          <a:p>
            <a:r>
              <a:rPr lang="en-US" dirty="0"/>
              <a:t>Night soil undergoes purification by anaerobic digestion Since there is evolution of gases, a vent should be provided for the escape of gases into the atmosphere, the vent should be open above the roof of dwellings. </a:t>
            </a:r>
          </a:p>
          <a:p>
            <a:r>
              <a:rPr lang="en-US" dirty="0"/>
              <a:t>The effluent is far from innocuous. It contains finely divided </a:t>
            </a:r>
            <a:r>
              <a:rPr lang="en-US" dirty="0" err="1"/>
              <a:t>faecal</a:t>
            </a:r>
            <a:r>
              <a:rPr lang="en-US" dirty="0"/>
              <a:t> matter in suspension and may carry parasitic and infective agents </a:t>
            </a:r>
          </a:p>
          <a:p>
            <a:r>
              <a:rPr lang="en-US" dirty="0"/>
              <a:t>It should be treated in the same manner as the effluent from a septic tank by sub-soil irrigation or absorption. </a:t>
            </a:r>
          </a:p>
          <a:p>
            <a:r>
              <a:rPr lang="en-US" dirty="0"/>
              <a:t>The digested sludge which accumulates in the tank should be removed at intervals.</a:t>
            </a:r>
          </a:p>
        </p:txBody>
      </p:sp>
    </p:spTree>
    <p:extLst>
      <p:ext uri="{BB962C8B-B14F-4D97-AF65-F5344CB8AC3E}">
        <p14:creationId xmlns:p14="http://schemas.microsoft.com/office/powerpoint/2010/main" val="23093672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0E072-AD6F-FAD3-F70B-B89DEC8DD08F}"/>
              </a:ext>
            </a:extLst>
          </p:cNvPr>
          <p:cNvSpPr>
            <a:spLocks noGrp="1"/>
          </p:cNvSpPr>
          <p:nvPr>
            <p:ph type="title"/>
          </p:nvPr>
        </p:nvSpPr>
        <p:spPr/>
        <p:txBody>
          <a:bodyPr/>
          <a:lstStyle/>
          <a:p>
            <a:r>
              <a:rPr lang="en-US" dirty="0" err="1"/>
              <a:t>Sulabh</a:t>
            </a:r>
            <a:r>
              <a:rPr lang="en-US" dirty="0"/>
              <a:t> </a:t>
            </a:r>
            <a:r>
              <a:rPr lang="en-US" dirty="0" err="1"/>
              <a:t>shauchalaya</a:t>
            </a:r>
            <a:endParaRPr lang="en-US" dirty="0"/>
          </a:p>
        </p:txBody>
      </p:sp>
      <p:sp>
        <p:nvSpPr>
          <p:cNvPr id="3" name="Content Placeholder 2">
            <a:extLst>
              <a:ext uri="{FF2B5EF4-FFF2-40B4-BE49-F238E27FC236}">
                <a16:creationId xmlns:a16="http://schemas.microsoft.com/office/drawing/2014/main" id="{AF1484A8-0DB3-623B-E4D5-195B80759577}"/>
              </a:ext>
            </a:extLst>
          </p:cNvPr>
          <p:cNvSpPr>
            <a:spLocks noGrp="1"/>
          </p:cNvSpPr>
          <p:nvPr>
            <p:ph idx="1"/>
          </p:nvPr>
        </p:nvSpPr>
        <p:spPr/>
        <p:txBody>
          <a:bodyPr>
            <a:normAutofit fontScale="70000" lnSpcReduction="20000"/>
          </a:bodyPr>
          <a:lstStyle/>
          <a:p>
            <a:r>
              <a:rPr lang="en-US" dirty="0"/>
              <a:t>Invention of a </a:t>
            </a:r>
            <a:r>
              <a:rPr lang="en-US" dirty="0" err="1"/>
              <a:t>patna</a:t>
            </a:r>
            <a:r>
              <a:rPr lang="en-US" dirty="0"/>
              <a:t>-based firm, is a low cost pour-flush, water-seal type of latrine, which is now being used in many parts of India.</a:t>
            </a:r>
          </a:p>
          <a:p>
            <a:r>
              <a:rPr lang="en-US" dirty="0"/>
              <a:t>It is an improved version of the standard </a:t>
            </a:r>
            <a:r>
              <a:rPr lang="en-US" dirty="0" err="1"/>
              <a:t>handflush</a:t>
            </a:r>
            <a:r>
              <a:rPr lang="en-US" dirty="0"/>
              <a:t> latrine (e.g., RCA type). </a:t>
            </a:r>
          </a:p>
          <a:p>
            <a:r>
              <a:rPr lang="en-US" dirty="0"/>
              <a:t>It consists of a specially designed pan and a water-seal trap. </a:t>
            </a:r>
          </a:p>
          <a:p>
            <a:r>
              <a:rPr lang="en-US" dirty="0"/>
              <a:t>It is connected to a pit 3 feet square and as deep. </a:t>
            </a:r>
          </a:p>
          <a:p>
            <a:r>
              <a:rPr lang="en-US" dirty="0"/>
              <a:t>Excreta undergoes bacterial decomposition and is converted to manure (compost). </a:t>
            </a:r>
          </a:p>
          <a:p>
            <a:r>
              <a:rPr lang="en-US" dirty="0"/>
              <a:t>The method requires very little water.</a:t>
            </a:r>
          </a:p>
          <a:p>
            <a:r>
              <a:rPr lang="en-US" dirty="0" err="1"/>
              <a:t>Sulabh</a:t>
            </a:r>
            <a:r>
              <a:rPr lang="en-US" dirty="0"/>
              <a:t> International, the investors, not only build but also maintain the system of </a:t>
            </a:r>
            <a:r>
              <a:rPr lang="en-US" dirty="0" err="1"/>
              <a:t>Sulabh</a:t>
            </a:r>
            <a:r>
              <a:rPr lang="en-US" dirty="0"/>
              <a:t> Community Latrines.</a:t>
            </a:r>
          </a:p>
          <a:p>
            <a:r>
              <a:rPr lang="en-US" dirty="0"/>
              <a:t>Their usual structure is a lavatory block of several dozen seats, with a bathing block adjoining. </a:t>
            </a:r>
          </a:p>
          <a:p>
            <a:r>
              <a:rPr lang="en-US" dirty="0"/>
              <a:t>The system is to charge Rs. 5 per user. </a:t>
            </a:r>
          </a:p>
          <a:p>
            <a:r>
              <a:rPr lang="en-US" dirty="0"/>
              <a:t>Delhi has opted for this system in all its slums. </a:t>
            </a:r>
          </a:p>
          <a:p>
            <a:r>
              <a:rPr lang="en-US" dirty="0"/>
              <a:t>This system has drawn praise from ecologists and planners.</a:t>
            </a:r>
          </a:p>
        </p:txBody>
      </p:sp>
    </p:spTree>
    <p:extLst>
      <p:ext uri="{BB962C8B-B14F-4D97-AF65-F5344CB8AC3E}">
        <p14:creationId xmlns:p14="http://schemas.microsoft.com/office/powerpoint/2010/main" val="28778161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5C1F8-9E20-4A96-AD4C-4133AEE72D62}"/>
              </a:ext>
            </a:extLst>
          </p:cNvPr>
          <p:cNvSpPr>
            <a:spLocks noGrp="1"/>
          </p:cNvSpPr>
          <p:nvPr>
            <p:ph type="title"/>
          </p:nvPr>
        </p:nvSpPr>
        <p:spPr/>
        <p:txBody>
          <a:bodyPr/>
          <a:lstStyle/>
          <a:p>
            <a:r>
              <a:rPr lang="en-US" dirty="0"/>
              <a:t>Chemical closet</a:t>
            </a:r>
          </a:p>
        </p:txBody>
      </p:sp>
      <p:sp>
        <p:nvSpPr>
          <p:cNvPr id="3" name="Content Placeholder 2">
            <a:extLst>
              <a:ext uri="{FF2B5EF4-FFF2-40B4-BE49-F238E27FC236}">
                <a16:creationId xmlns:a16="http://schemas.microsoft.com/office/drawing/2014/main" id="{455A5C3C-00B3-0DC3-2AA3-8CDC268469C8}"/>
              </a:ext>
            </a:extLst>
          </p:cNvPr>
          <p:cNvSpPr>
            <a:spLocks noGrp="1"/>
          </p:cNvSpPr>
          <p:nvPr>
            <p:ph idx="1"/>
          </p:nvPr>
        </p:nvSpPr>
        <p:spPr/>
        <p:txBody>
          <a:bodyPr>
            <a:normAutofit/>
          </a:bodyPr>
          <a:lstStyle/>
          <a:p>
            <a:r>
              <a:rPr lang="en-US" dirty="0"/>
              <a:t>It has very </a:t>
            </a:r>
            <a:r>
              <a:rPr lang="en-US" dirty="0">
                <a:highlight>
                  <a:srgbClr val="FFFF00"/>
                </a:highlight>
              </a:rPr>
              <a:t>limited use under Indian conditions. </a:t>
            </a:r>
          </a:p>
          <a:p>
            <a:r>
              <a:rPr lang="en-US" dirty="0"/>
              <a:t>The closet consists of a metal tank containing a disinfectant fluid.</a:t>
            </a:r>
          </a:p>
          <a:p>
            <a:r>
              <a:rPr lang="en-US" dirty="0"/>
              <a:t>The </a:t>
            </a:r>
            <a:r>
              <a:rPr lang="en-US" dirty="0">
                <a:highlight>
                  <a:srgbClr val="FFFF00"/>
                </a:highlight>
              </a:rPr>
              <a:t>active ingredients of the fluid are formaldehyde and Quaternary ammonium compounds. </a:t>
            </a:r>
          </a:p>
          <a:p>
            <a:r>
              <a:rPr lang="en-US" dirty="0"/>
              <a:t>In addition, a harmless water dye and a deodorizing substance are usually incorporated. </a:t>
            </a:r>
          </a:p>
          <a:p>
            <a:r>
              <a:rPr lang="en-US" dirty="0"/>
              <a:t>A seat with a cover is placed directly over the tank. </a:t>
            </a:r>
          </a:p>
          <a:p>
            <a:r>
              <a:rPr lang="en-US" dirty="0"/>
              <a:t>Nothing except the toilet paper should be thrown into the chemical closet.</a:t>
            </a:r>
          </a:p>
        </p:txBody>
      </p:sp>
    </p:spTree>
    <p:extLst>
      <p:ext uri="{BB962C8B-B14F-4D97-AF65-F5344CB8AC3E}">
        <p14:creationId xmlns:p14="http://schemas.microsoft.com/office/powerpoint/2010/main" val="10749534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8327A-563D-2FBB-36B1-3F06923C006F}"/>
              </a:ext>
            </a:extLst>
          </p:cNvPr>
          <p:cNvSpPr>
            <a:spLocks noGrp="1"/>
          </p:cNvSpPr>
          <p:nvPr>
            <p:ph type="title"/>
          </p:nvPr>
        </p:nvSpPr>
        <p:spPr/>
        <p:txBody>
          <a:bodyPr/>
          <a:lstStyle/>
          <a:p>
            <a:r>
              <a:rPr lang="en-US" dirty="0"/>
              <a:t>Shallow trench latrine</a:t>
            </a:r>
          </a:p>
        </p:txBody>
      </p:sp>
      <p:sp>
        <p:nvSpPr>
          <p:cNvPr id="3" name="Content Placeholder 2">
            <a:extLst>
              <a:ext uri="{FF2B5EF4-FFF2-40B4-BE49-F238E27FC236}">
                <a16:creationId xmlns:a16="http://schemas.microsoft.com/office/drawing/2014/main" id="{37738DE1-91F3-24F7-591B-6E8B66CC26C2}"/>
              </a:ext>
            </a:extLst>
          </p:cNvPr>
          <p:cNvSpPr>
            <a:spLocks noGrp="1"/>
          </p:cNvSpPr>
          <p:nvPr>
            <p:ph idx="1"/>
          </p:nvPr>
        </p:nvSpPr>
        <p:spPr/>
        <p:txBody>
          <a:bodyPr>
            <a:normAutofit fontScale="77500" lnSpcReduction="20000"/>
          </a:bodyPr>
          <a:lstStyle/>
          <a:p>
            <a:r>
              <a:rPr lang="en-US" dirty="0"/>
              <a:t>This is simply a trench dug with ordinary tools. The</a:t>
            </a:r>
          </a:p>
          <a:p>
            <a:r>
              <a:rPr lang="en-US" dirty="0"/>
              <a:t>trench is 30 cm (1 ft.) wide and 90-150 cm (3-5 ft.) deep.</a:t>
            </a:r>
          </a:p>
          <a:p>
            <a:r>
              <a:rPr lang="en-US" dirty="0"/>
              <a:t>Its length depends on the number of users : 3-3.5 m (10 – 12 ft.) are necessary for 100 people. </a:t>
            </a:r>
          </a:p>
          <a:p>
            <a:r>
              <a:rPr lang="en-US" dirty="0"/>
              <a:t>Separate trenches should be provided for men and women. </a:t>
            </a:r>
          </a:p>
          <a:p>
            <a:r>
              <a:rPr lang="en-US" dirty="0"/>
              <a:t>The earth from trench should be piled up at the side. </a:t>
            </a:r>
          </a:p>
          <a:p>
            <a:r>
              <a:rPr lang="en-US" dirty="0"/>
              <a:t>People should be instructed to cover </a:t>
            </a:r>
            <a:r>
              <a:rPr lang="en-US" dirty="0" err="1"/>
              <a:t>faeces</a:t>
            </a:r>
            <a:r>
              <a:rPr lang="en-US" dirty="0"/>
              <a:t> with earth each time they use the Latrine.</a:t>
            </a:r>
          </a:p>
          <a:p>
            <a:r>
              <a:rPr lang="en-US" dirty="0"/>
              <a:t>Ablution water should be provided. </a:t>
            </a:r>
          </a:p>
          <a:p>
            <a:r>
              <a:rPr lang="en-US" dirty="0"/>
              <a:t>The shallow trench is a rudimentary arrangement for a short period (</a:t>
            </a:r>
            <a:r>
              <a:rPr lang="en-US" dirty="0" err="1"/>
              <a:t>upto</a:t>
            </a:r>
            <a:r>
              <a:rPr lang="en-US" dirty="0"/>
              <a:t> one week). </a:t>
            </a:r>
          </a:p>
          <a:p>
            <a:r>
              <a:rPr lang="en-US" dirty="0"/>
              <a:t>When the trench is filled to 30 cm (12 in.) below ground level, it must be covered with earth, heaped above ground level and compacted; if necessary, a new trench must be dug.</a:t>
            </a:r>
          </a:p>
        </p:txBody>
      </p:sp>
    </p:spTree>
    <p:extLst>
      <p:ext uri="{BB962C8B-B14F-4D97-AF65-F5344CB8AC3E}">
        <p14:creationId xmlns:p14="http://schemas.microsoft.com/office/powerpoint/2010/main" val="14912134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D0CD3-0592-BECC-3E80-335C3204FD56}"/>
              </a:ext>
            </a:extLst>
          </p:cNvPr>
          <p:cNvSpPr>
            <a:spLocks noGrp="1"/>
          </p:cNvSpPr>
          <p:nvPr>
            <p:ph type="title"/>
          </p:nvPr>
        </p:nvSpPr>
        <p:spPr/>
        <p:txBody>
          <a:bodyPr/>
          <a:lstStyle/>
          <a:p>
            <a:r>
              <a:rPr lang="en-US" dirty="0"/>
              <a:t>Deep trench latrine</a:t>
            </a:r>
          </a:p>
        </p:txBody>
      </p:sp>
      <p:sp>
        <p:nvSpPr>
          <p:cNvPr id="3" name="Content Placeholder 2">
            <a:extLst>
              <a:ext uri="{FF2B5EF4-FFF2-40B4-BE49-F238E27FC236}">
                <a16:creationId xmlns:a16="http://schemas.microsoft.com/office/drawing/2014/main" id="{A004AF32-A781-75B5-5849-F5AAC2BD53F2}"/>
              </a:ext>
            </a:extLst>
          </p:cNvPr>
          <p:cNvSpPr>
            <a:spLocks noGrp="1"/>
          </p:cNvSpPr>
          <p:nvPr>
            <p:ph idx="1"/>
          </p:nvPr>
        </p:nvSpPr>
        <p:spPr/>
        <p:txBody>
          <a:bodyPr/>
          <a:lstStyle/>
          <a:p>
            <a:r>
              <a:rPr lang="en-US" dirty="0"/>
              <a:t>This type of latrine is intended for camps of longer duration, from a few weeks to a few months. </a:t>
            </a:r>
          </a:p>
          <a:p>
            <a:r>
              <a:rPr lang="en-US" dirty="0"/>
              <a:t>The trench is 1.8 to 2.5 m (6-8 ft.) deep and 75-90 cm (30-35 in.) wide.</a:t>
            </a:r>
          </a:p>
          <a:p>
            <a:r>
              <a:rPr lang="en-US" dirty="0"/>
              <a:t>Depending upon the local customs, a seat or a squatting plate is provided. A superstructure is built for privacy and protection. </a:t>
            </a:r>
          </a:p>
        </p:txBody>
      </p:sp>
    </p:spTree>
    <p:extLst>
      <p:ext uri="{BB962C8B-B14F-4D97-AF65-F5344CB8AC3E}">
        <p14:creationId xmlns:p14="http://schemas.microsoft.com/office/powerpoint/2010/main" val="23774088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4AA8D-74C1-2322-ECA5-29342780D980}"/>
              </a:ext>
            </a:extLst>
          </p:cNvPr>
          <p:cNvSpPr>
            <a:spLocks noGrp="1"/>
          </p:cNvSpPr>
          <p:nvPr>
            <p:ph type="title"/>
          </p:nvPr>
        </p:nvSpPr>
        <p:spPr/>
        <p:txBody>
          <a:bodyPr/>
          <a:lstStyle/>
          <a:p>
            <a:r>
              <a:rPr lang="en-US" dirty="0"/>
              <a:t>Water carriage system / sewerage system</a:t>
            </a:r>
          </a:p>
        </p:txBody>
      </p:sp>
      <p:sp>
        <p:nvSpPr>
          <p:cNvPr id="3" name="Content Placeholder 2">
            <a:extLst>
              <a:ext uri="{FF2B5EF4-FFF2-40B4-BE49-F238E27FC236}">
                <a16:creationId xmlns:a16="http://schemas.microsoft.com/office/drawing/2014/main" id="{37DCA545-EA22-B130-BAC5-120FF76B7267}"/>
              </a:ext>
            </a:extLst>
          </p:cNvPr>
          <p:cNvSpPr>
            <a:spLocks noGrp="1"/>
          </p:cNvSpPr>
          <p:nvPr>
            <p:ph idx="1"/>
          </p:nvPr>
        </p:nvSpPr>
        <p:spPr>
          <a:xfrm>
            <a:off x="609600" y="1825625"/>
            <a:ext cx="10744200" cy="4667250"/>
          </a:xfrm>
        </p:spPr>
        <p:txBody>
          <a:bodyPr>
            <a:normAutofit fontScale="85000" lnSpcReduction="10000"/>
          </a:bodyPr>
          <a:lstStyle/>
          <a:p>
            <a:r>
              <a:rPr lang="en-US" sz="2400" dirty="0"/>
              <a:t>Collecting and transporting of human excreta and waste water from residential, commercial and industrial areas, by a net-work of underground pipes, called sewers to the place of ultimate disposal. </a:t>
            </a:r>
          </a:p>
          <a:p>
            <a:r>
              <a:rPr lang="en-US" sz="2400" dirty="0"/>
              <a:t>It is the method of choice for collecting and transporting sewage from cities and towns where population density is high. </a:t>
            </a:r>
          </a:p>
          <a:p>
            <a:r>
              <a:rPr lang="en-US" sz="2400" dirty="0"/>
              <a:t>There are two types in water carriage system –</a:t>
            </a:r>
          </a:p>
          <a:p>
            <a:pPr lvl="1"/>
            <a:r>
              <a:rPr lang="en-US" dirty="0"/>
              <a:t>Combined system, the sewers carry both the sewage and surface water. </a:t>
            </a:r>
          </a:p>
          <a:p>
            <a:pPr lvl="1"/>
            <a:r>
              <a:rPr lang="en-US" dirty="0"/>
              <a:t>Separate system, surface water is not admitted into sewers. </a:t>
            </a:r>
          </a:p>
          <a:p>
            <a:pPr lvl="1"/>
            <a:r>
              <a:rPr lang="en-US" dirty="0"/>
              <a:t>It is considered the system of choice today.</a:t>
            </a:r>
          </a:p>
          <a:p>
            <a:r>
              <a:rPr lang="en-US" sz="2400" dirty="0"/>
              <a:t>Although the first sewers were laid in 1867 in Calcutta, the </a:t>
            </a:r>
            <a:r>
              <a:rPr lang="en-US" sz="2400" dirty="0" err="1"/>
              <a:t>Mudaliar</a:t>
            </a:r>
            <a:r>
              <a:rPr lang="en-US" sz="2400" dirty="0"/>
              <a:t> Committee (1962) reported that not more than 15 per cent of the urban population in India had the amenity of a sewerage system. </a:t>
            </a:r>
          </a:p>
          <a:p>
            <a:r>
              <a:rPr lang="en-US" sz="2400" dirty="0"/>
              <a:t>The problem is one of economics - a heavy outlay of capital is needed to install a water-carriage system. </a:t>
            </a:r>
          </a:p>
          <a:p>
            <a:r>
              <a:rPr lang="en-US" sz="2400" dirty="0"/>
              <a:t>Since water is needed for flushing the toilets and for conveying the human wastes, there can be no sewerage system without a piped water supply.</a:t>
            </a:r>
          </a:p>
        </p:txBody>
      </p:sp>
    </p:spTree>
    <p:extLst>
      <p:ext uri="{BB962C8B-B14F-4D97-AF65-F5344CB8AC3E}">
        <p14:creationId xmlns:p14="http://schemas.microsoft.com/office/powerpoint/2010/main" val="28153023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71566-017A-384D-06C5-1C242E08704C}"/>
              </a:ext>
            </a:extLst>
          </p:cNvPr>
          <p:cNvSpPr>
            <a:spLocks noGrp="1"/>
          </p:cNvSpPr>
          <p:nvPr>
            <p:ph type="title"/>
          </p:nvPr>
        </p:nvSpPr>
        <p:spPr/>
        <p:txBody>
          <a:bodyPr/>
          <a:lstStyle/>
          <a:p>
            <a:r>
              <a:rPr lang="en-US" dirty="0"/>
              <a:t>Elements</a:t>
            </a:r>
          </a:p>
        </p:txBody>
      </p:sp>
      <p:sp>
        <p:nvSpPr>
          <p:cNvPr id="3" name="Content Placeholder 2">
            <a:extLst>
              <a:ext uri="{FF2B5EF4-FFF2-40B4-BE49-F238E27FC236}">
                <a16:creationId xmlns:a16="http://schemas.microsoft.com/office/drawing/2014/main" id="{CED88868-8898-4C42-DF62-19DF6FD4099C}"/>
              </a:ext>
            </a:extLst>
          </p:cNvPr>
          <p:cNvSpPr>
            <a:spLocks noGrp="1"/>
          </p:cNvSpPr>
          <p:nvPr>
            <p:ph idx="1"/>
          </p:nvPr>
        </p:nvSpPr>
        <p:spPr/>
        <p:txBody>
          <a:bodyPr/>
          <a:lstStyle/>
          <a:p>
            <a:r>
              <a:rPr lang="en-US" dirty="0"/>
              <a:t>Household sanitary fittings (plumbing system of buildings)</a:t>
            </a:r>
          </a:p>
          <a:p>
            <a:r>
              <a:rPr lang="en-US" dirty="0"/>
              <a:t>House sewers</a:t>
            </a:r>
          </a:p>
          <a:p>
            <a:r>
              <a:rPr lang="en-US" dirty="0"/>
              <a:t>Street sewers or trunk sewers</a:t>
            </a:r>
          </a:p>
          <a:p>
            <a:r>
              <a:rPr lang="en-US" dirty="0"/>
              <a:t>Sewer appurtenances : manholes, traps, etc.</a:t>
            </a:r>
          </a:p>
        </p:txBody>
      </p:sp>
    </p:spTree>
    <p:extLst>
      <p:ext uri="{BB962C8B-B14F-4D97-AF65-F5344CB8AC3E}">
        <p14:creationId xmlns:p14="http://schemas.microsoft.com/office/powerpoint/2010/main" val="26660082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C81CA-636F-705C-55C5-7498CA1CFD0E}"/>
              </a:ext>
            </a:extLst>
          </p:cNvPr>
          <p:cNvSpPr>
            <a:spLocks noGrp="1"/>
          </p:cNvSpPr>
          <p:nvPr>
            <p:ph type="title"/>
          </p:nvPr>
        </p:nvSpPr>
        <p:spPr/>
        <p:txBody>
          <a:bodyPr/>
          <a:lstStyle/>
          <a:p>
            <a:r>
              <a:rPr lang="en-US" dirty="0"/>
              <a:t>Household sanitary fittings</a:t>
            </a:r>
          </a:p>
        </p:txBody>
      </p:sp>
      <p:sp>
        <p:nvSpPr>
          <p:cNvPr id="3" name="Content Placeholder 2">
            <a:extLst>
              <a:ext uri="{FF2B5EF4-FFF2-40B4-BE49-F238E27FC236}">
                <a16:creationId xmlns:a16="http://schemas.microsoft.com/office/drawing/2014/main" id="{D943B2BE-F373-23F6-F730-7D8EF3D815CA}"/>
              </a:ext>
            </a:extLst>
          </p:cNvPr>
          <p:cNvSpPr>
            <a:spLocks noGrp="1"/>
          </p:cNvSpPr>
          <p:nvPr>
            <p:ph idx="1"/>
          </p:nvPr>
        </p:nvSpPr>
        <p:spPr/>
        <p:txBody>
          <a:bodyPr>
            <a:normAutofit fontScale="92500" lnSpcReduction="10000"/>
          </a:bodyPr>
          <a:lstStyle/>
          <a:p>
            <a:r>
              <a:rPr lang="en-US" dirty="0"/>
              <a:t>The usual household sanitary fittings are : (</a:t>
            </a:r>
            <a:r>
              <a:rPr lang="en-US" dirty="0" err="1"/>
              <a:t>i</a:t>
            </a:r>
            <a:r>
              <a:rPr lang="en-US" dirty="0"/>
              <a:t>) water closet, (ii) urinal and (iii) wash basin.</a:t>
            </a:r>
          </a:p>
          <a:p>
            <a:r>
              <a:rPr lang="en-US" dirty="0"/>
              <a:t>WATER CLOSETS may be broadly divided into two types : Indian squatting type and the Western commode type. </a:t>
            </a:r>
          </a:p>
          <a:p>
            <a:r>
              <a:rPr lang="en-US" dirty="0"/>
              <a:t>The water seal area should not be more than 7.5 cm.</a:t>
            </a:r>
          </a:p>
          <a:p>
            <a:r>
              <a:rPr lang="en-US" dirty="0"/>
              <a:t>There should not be any sharp corners in the trap design</a:t>
            </a:r>
          </a:p>
          <a:p>
            <a:r>
              <a:rPr lang="en-US" dirty="0"/>
              <a:t>The volume of water in trap should be as little as possible, preferably not exceeding 1.75 </a:t>
            </a:r>
            <a:r>
              <a:rPr lang="en-US" dirty="0" err="1"/>
              <a:t>litres</a:t>
            </a:r>
            <a:r>
              <a:rPr lang="en-US" dirty="0"/>
              <a:t> to maintain a minimum of 50 mm deep water seal.</a:t>
            </a:r>
          </a:p>
          <a:p>
            <a:r>
              <a:rPr lang="en-US" dirty="0"/>
              <a:t>The interior of the bowl should be vertical at least 50 to 75 mm just above the surface of water seal. </a:t>
            </a:r>
          </a:p>
          <a:p>
            <a:r>
              <a:rPr lang="en-US" dirty="0"/>
              <a:t>The water closets are provided with a ‘flushing rim’. </a:t>
            </a:r>
          </a:p>
        </p:txBody>
      </p:sp>
    </p:spTree>
    <p:extLst>
      <p:ext uri="{BB962C8B-B14F-4D97-AF65-F5344CB8AC3E}">
        <p14:creationId xmlns:p14="http://schemas.microsoft.com/office/powerpoint/2010/main" val="39501215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C81CA-636F-705C-55C5-7498CA1CFD0E}"/>
              </a:ext>
            </a:extLst>
          </p:cNvPr>
          <p:cNvSpPr>
            <a:spLocks noGrp="1"/>
          </p:cNvSpPr>
          <p:nvPr>
            <p:ph type="title"/>
          </p:nvPr>
        </p:nvSpPr>
        <p:spPr/>
        <p:txBody>
          <a:bodyPr/>
          <a:lstStyle/>
          <a:p>
            <a:r>
              <a:rPr lang="en-US" dirty="0"/>
              <a:t>Household sanitary fittings</a:t>
            </a:r>
          </a:p>
        </p:txBody>
      </p:sp>
      <p:sp>
        <p:nvSpPr>
          <p:cNvPr id="3" name="Content Placeholder 2">
            <a:extLst>
              <a:ext uri="{FF2B5EF4-FFF2-40B4-BE49-F238E27FC236}">
                <a16:creationId xmlns:a16="http://schemas.microsoft.com/office/drawing/2014/main" id="{D943B2BE-F373-23F6-F730-7D8EF3D815CA}"/>
              </a:ext>
            </a:extLst>
          </p:cNvPr>
          <p:cNvSpPr>
            <a:spLocks noGrp="1"/>
          </p:cNvSpPr>
          <p:nvPr>
            <p:ph idx="1"/>
          </p:nvPr>
        </p:nvSpPr>
        <p:spPr/>
        <p:txBody>
          <a:bodyPr>
            <a:normAutofit fontScale="92500" lnSpcReduction="20000"/>
          </a:bodyPr>
          <a:lstStyle/>
          <a:p>
            <a:r>
              <a:rPr lang="en-US" dirty="0"/>
              <a:t>Human excreta is directly received into the water in the closet without soiling the sides.</a:t>
            </a:r>
          </a:p>
          <a:p>
            <a:r>
              <a:rPr lang="en-US" dirty="0"/>
              <a:t>The flushing removes all traces of excreta from the sides and keeps the closet clean. </a:t>
            </a:r>
          </a:p>
          <a:p>
            <a:r>
              <a:rPr lang="en-US" dirty="0"/>
              <a:t>The closet is connected to a small cistern by a pipe 2.5 to 3.75 cm (1-1.5 in.) in diameter. </a:t>
            </a:r>
          </a:p>
          <a:p>
            <a:r>
              <a:rPr lang="en-US" dirty="0"/>
              <a:t>The flushing cistern normally holds 15 </a:t>
            </a:r>
            <a:r>
              <a:rPr lang="en-US" dirty="0" err="1"/>
              <a:t>litres</a:t>
            </a:r>
            <a:r>
              <a:rPr lang="en-US" dirty="0"/>
              <a:t> (3 gallons) of water and works by </a:t>
            </a:r>
            <a:r>
              <a:rPr lang="en-US" dirty="0" err="1"/>
              <a:t>syphonic</a:t>
            </a:r>
            <a:r>
              <a:rPr lang="en-US" dirty="0"/>
              <a:t> action. </a:t>
            </a:r>
          </a:p>
          <a:p>
            <a:r>
              <a:rPr lang="en-US" dirty="0"/>
              <a:t>The flushing cisterns can be classified as high level, low level and integrated depending upon the height of location above the water closet bowl or pan. </a:t>
            </a:r>
          </a:p>
          <a:p>
            <a:r>
              <a:rPr lang="en-US" dirty="0"/>
              <a:t>The Indian squatting type W.C. pans are used with a high level flushing cisterns.</a:t>
            </a:r>
          </a:p>
        </p:txBody>
      </p:sp>
    </p:spTree>
    <p:extLst>
      <p:ext uri="{BB962C8B-B14F-4D97-AF65-F5344CB8AC3E}">
        <p14:creationId xmlns:p14="http://schemas.microsoft.com/office/powerpoint/2010/main" val="33426237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D0843F-810F-2239-7008-C752723CA1ED}"/>
              </a:ext>
            </a:extLst>
          </p:cNvPr>
          <p:cNvSpPr>
            <a:spLocks noGrp="1"/>
          </p:cNvSpPr>
          <p:nvPr>
            <p:ph idx="1"/>
          </p:nvPr>
        </p:nvSpPr>
        <p:spPr>
          <a:xfrm>
            <a:off x="838200" y="420914"/>
            <a:ext cx="10515600" cy="5756049"/>
          </a:xfrm>
        </p:spPr>
        <p:txBody>
          <a:bodyPr>
            <a:normAutofit lnSpcReduction="10000"/>
          </a:bodyPr>
          <a:lstStyle/>
          <a:p>
            <a:r>
              <a:rPr lang="en-US" b="1" dirty="0"/>
              <a:t>House drain</a:t>
            </a:r>
          </a:p>
          <a:p>
            <a:r>
              <a:rPr lang="en-US" dirty="0"/>
              <a:t>The house drain is usually 10 cm (4 in.) in diameter and is laid in the courtyard about 15 cm (6 in.) below the ground level on a bed of cement concrete with sufficient gradient towards the main drain. </a:t>
            </a:r>
          </a:p>
          <a:p>
            <a:r>
              <a:rPr lang="en-US" dirty="0"/>
              <a:t>The house drain empties the sewage into the main sewer or public drain.</a:t>
            </a:r>
          </a:p>
          <a:p>
            <a:r>
              <a:rPr lang="en-US" b="1" dirty="0"/>
              <a:t>Public sewer</a:t>
            </a:r>
          </a:p>
          <a:p>
            <a:r>
              <a:rPr lang="en-US" dirty="0"/>
              <a:t>The trunk sewers are not less than 22.5 cm (9 in.) in diameter; bigger ones may be 2 to 3 m (8-10 ft.) in diameter. </a:t>
            </a:r>
          </a:p>
          <a:p>
            <a:r>
              <a:rPr lang="en-US" dirty="0"/>
              <a:t>They are laid on a bed of cement concrete, about 3 m (10 ft.) below the ground level, with sufficient gradient to ensure what is known as “self-cleansing” velocity; this varies from 2 to 3 feet per second. </a:t>
            </a:r>
          </a:p>
          <a:p>
            <a:r>
              <a:rPr lang="en-US" dirty="0"/>
              <a:t>The trunk sewers collect sewage from several houses and transport to the main outfall or place of final disposal.</a:t>
            </a:r>
          </a:p>
        </p:txBody>
      </p:sp>
    </p:spTree>
    <p:extLst>
      <p:ext uri="{BB962C8B-B14F-4D97-AF65-F5344CB8AC3E}">
        <p14:creationId xmlns:p14="http://schemas.microsoft.com/office/powerpoint/2010/main" val="17651540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CB64-33C6-3AE9-DE2D-1F0235298145}"/>
              </a:ext>
            </a:extLst>
          </p:cNvPr>
          <p:cNvSpPr>
            <a:spLocks noGrp="1"/>
          </p:cNvSpPr>
          <p:nvPr>
            <p:ph type="title"/>
          </p:nvPr>
        </p:nvSpPr>
        <p:spPr/>
        <p:txBody>
          <a:bodyPr/>
          <a:lstStyle/>
          <a:p>
            <a:r>
              <a:rPr lang="en-US" dirty="0"/>
              <a:t>Sewer appurtenances</a:t>
            </a:r>
          </a:p>
        </p:txBody>
      </p:sp>
      <p:sp>
        <p:nvSpPr>
          <p:cNvPr id="3" name="Content Placeholder 2">
            <a:extLst>
              <a:ext uri="{FF2B5EF4-FFF2-40B4-BE49-F238E27FC236}">
                <a16:creationId xmlns:a16="http://schemas.microsoft.com/office/drawing/2014/main" id="{B272A64F-626A-EB31-ADA9-2A63C0B0B85E}"/>
              </a:ext>
            </a:extLst>
          </p:cNvPr>
          <p:cNvSpPr>
            <a:spLocks noGrp="1"/>
          </p:cNvSpPr>
          <p:nvPr>
            <p:ph idx="1"/>
          </p:nvPr>
        </p:nvSpPr>
        <p:spPr/>
        <p:txBody>
          <a:bodyPr>
            <a:normAutofit fontScale="77500" lnSpcReduction="20000"/>
          </a:bodyPr>
          <a:lstStyle/>
          <a:p>
            <a:r>
              <a:rPr lang="en-US" dirty="0"/>
              <a:t>These are (a) manholes and (b) traps. </a:t>
            </a:r>
          </a:p>
          <a:p>
            <a:pPr marL="0" indent="0">
              <a:buNone/>
            </a:pPr>
            <a:r>
              <a:rPr lang="en-US" dirty="0"/>
              <a:t>MANHOLES are openings built into the sewerage system. </a:t>
            </a:r>
          </a:p>
          <a:p>
            <a:pPr lvl="1"/>
            <a:r>
              <a:rPr lang="en-US" dirty="0"/>
              <a:t>Whenever there is a change in the direction of sewers</a:t>
            </a:r>
          </a:p>
          <a:p>
            <a:pPr lvl="1"/>
            <a:r>
              <a:rPr lang="en-US" dirty="0"/>
              <a:t>At the meeting point of two or more sewers, </a:t>
            </a:r>
          </a:p>
          <a:p>
            <a:pPr lvl="1"/>
            <a:r>
              <a:rPr lang="en-US" dirty="0"/>
              <a:t>At distances of 100 </a:t>
            </a:r>
            <a:r>
              <a:rPr lang="en-US" dirty="0" err="1"/>
              <a:t>metres</a:t>
            </a:r>
            <a:r>
              <a:rPr lang="en-US" dirty="0"/>
              <a:t> in long straight runs. </a:t>
            </a:r>
          </a:p>
          <a:p>
            <a:r>
              <a:rPr lang="en-US" dirty="0"/>
              <a:t>These openings permit a man to enter the sewer for inspection, repairs and cleaning. </a:t>
            </a:r>
          </a:p>
          <a:p>
            <a:r>
              <a:rPr lang="en-US" dirty="0"/>
              <a:t>Workers entering the manholes are liable to gas poisoning and asphyxiation. </a:t>
            </a:r>
          </a:p>
          <a:p>
            <a:pPr marL="0" indent="0">
              <a:buNone/>
            </a:pPr>
            <a:r>
              <a:rPr lang="en-US" dirty="0"/>
              <a:t>TRAPS are of various kinds, these are devices designed to prevent foul gases entering the houses and to remove sand, grit and grease from sewage. </a:t>
            </a:r>
          </a:p>
          <a:p>
            <a:r>
              <a:rPr lang="en-US" sz="2900" dirty="0"/>
              <a:t>Under the basin of water closets,</a:t>
            </a:r>
          </a:p>
          <a:p>
            <a:r>
              <a:rPr lang="en-US" sz="2900" dirty="0"/>
              <a:t>Where the house drain joins the public drain (intercepting trap), </a:t>
            </a:r>
          </a:p>
          <a:p>
            <a:r>
              <a:rPr lang="en-US" sz="2900" dirty="0"/>
              <a:t>Where surface waste water enters the drains. </a:t>
            </a:r>
          </a:p>
          <a:p>
            <a:pPr marL="0" indent="0">
              <a:buNone/>
            </a:pPr>
            <a:r>
              <a:rPr lang="en-US" sz="2900" dirty="0"/>
              <a:t>Sewer systems are designed, like water supplies, for service for one generation </a:t>
            </a:r>
            <a:r>
              <a:rPr lang="en-US" dirty="0"/>
              <a:t>(30 years).</a:t>
            </a:r>
          </a:p>
        </p:txBody>
      </p:sp>
    </p:spTree>
    <p:extLst>
      <p:ext uri="{BB962C8B-B14F-4D97-AF65-F5344CB8AC3E}">
        <p14:creationId xmlns:p14="http://schemas.microsoft.com/office/powerpoint/2010/main" val="13089581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92D60-5E87-7D26-296D-5EB9CF94133B}"/>
              </a:ext>
            </a:extLst>
          </p:cNvPr>
          <p:cNvSpPr>
            <a:spLocks noGrp="1"/>
          </p:cNvSpPr>
          <p:nvPr>
            <p:ph type="title"/>
          </p:nvPr>
        </p:nvSpPr>
        <p:spPr/>
        <p:txBody>
          <a:bodyPr/>
          <a:lstStyle/>
          <a:p>
            <a:r>
              <a:rPr lang="en-US" dirty="0"/>
              <a:t>Sewage</a:t>
            </a:r>
          </a:p>
        </p:txBody>
      </p:sp>
      <p:sp>
        <p:nvSpPr>
          <p:cNvPr id="3" name="Content Placeholder 2">
            <a:extLst>
              <a:ext uri="{FF2B5EF4-FFF2-40B4-BE49-F238E27FC236}">
                <a16:creationId xmlns:a16="http://schemas.microsoft.com/office/drawing/2014/main" id="{69A0758E-7F54-69F3-7074-0B61C6220DE6}"/>
              </a:ext>
            </a:extLst>
          </p:cNvPr>
          <p:cNvSpPr>
            <a:spLocks noGrp="1"/>
          </p:cNvSpPr>
          <p:nvPr>
            <p:ph idx="1"/>
          </p:nvPr>
        </p:nvSpPr>
        <p:spPr/>
        <p:txBody>
          <a:bodyPr>
            <a:normAutofit fontScale="85000" lnSpcReduction="20000"/>
          </a:bodyPr>
          <a:lstStyle/>
          <a:p>
            <a:r>
              <a:rPr lang="en-US" dirty="0"/>
              <a:t>Sewage is waste water from a community, containing solid and liquid excreta, derived from houses, street and yard washings, factories and industries. </a:t>
            </a:r>
          </a:p>
          <a:p>
            <a:pPr lvl="1"/>
            <a:r>
              <a:rPr lang="en-US" dirty="0"/>
              <a:t>It resembles dirty water with an unpleasant smell. </a:t>
            </a:r>
          </a:p>
          <a:p>
            <a:r>
              <a:rPr lang="en-US" dirty="0"/>
              <a:t>The term “sullage” is applied to waste water which does not contain human excreta, e.g., waste water from kitchens and bathrooms. </a:t>
            </a:r>
          </a:p>
          <a:p>
            <a:r>
              <a:rPr lang="en-US" dirty="0"/>
              <a:t>The amount of sewage that flows in the sewers depends upon : </a:t>
            </a:r>
          </a:p>
          <a:p>
            <a:pPr lvl="1"/>
            <a:r>
              <a:rPr lang="en-US" dirty="0"/>
              <a:t>Habits of the people : If people use more water, there will be more sewage</a:t>
            </a:r>
          </a:p>
          <a:p>
            <a:pPr lvl="1"/>
            <a:r>
              <a:rPr lang="en-US" dirty="0"/>
              <a:t>Time of day : Sewage does not flow uniformly throughout the day. </a:t>
            </a:r>
          </a:p>
          <a:p>
            <a:pPr lvl="1"/>
            <a:r>
              <a:rPr lang="en-US" dirty="0"/>
              <a:t>It is subject to variations depending upon the time of day and during different seasons. </a:t>
            </a:r>
          </a:p>
          <a:p>
            <a:r>
              <a:rPr lang="en-US" dirty="0"/>
              <a:t>In the morning, when people tend to use more water there is greater quantity and flow: in mid-day the flow is less, and again there is a slight increase in the evening. </a:t>
            </a:r>
          </a:p>
          <a:p>
            <a:r>
              <a:rPr lang="en-US" dirty="0"/>
              <a:t>The average amount of sewage which flows through the sewerage system in 24 hours is called the “dry weather flow.”</a:t>
            </a:r>
          </a:p>
        </p:txBody>
      </p:sp>
    </p:spTree>
    <p:extLst>
      <p:ext uri="{BB962C8B-B14F-4D97-AF65-F5344CB8AC3E}">
        <p14:creationId xmlns:p14="http://schemas.microsoft.com/office/powerpoint/2010/main" val="37460275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DFD67-D8BE-5A33-E524-D2637B30235E}"/>
              </a:ext>
            </a:extLst>
          </p:cNvPr>
          <p:cNvSpPr>
            <a:spLocks noGrp="1"/>
          </p:cNvSpPr>
          <p:nvPr>
            <p:ph type="title"/>
          </p:nvPr>
        </p:nvSpPr>
        <p:spPr/>
        <p:txBody>
          <a:bodyPr/>
          <a:lstStyle/>
          <a:p>
            <a:r>
              <a:rPr lang="en-US" dirty="0"/>
              <a:t>Health aspects</a:t>
            </a:r>
          </a:p>
        </p:txBody>
      </p:sp>
      <p:sp>
        <p:nvSpPr>
          <p:cNvPr id="3" name="Content Placeholder 2">
            <a:extLst>
              <a:ext uri="{FF2B5EF4-FFF2-40B4-BE49-F238E27FC236}">
                <a16:creationId xmlns:a16="http://schemas.microsoft.com/office/drawing/2014/main" id="{D4E7BFD5-76E8-8241-4CC8-932B5524055B}"/>
              </a:ext>
            </a:extLst>
          </p:cNvPr>
          <p:cNvSpPr>
            <a:spLocks noGrp="1"/>
          </p:cNvSpPr>
          <p:nvPr>
            <p:ph idx="1"/>
          </p:nvPr>
        </p:nvSpPr>
        <p:spPr/>
        <p:txBody>
          <a:bodyPr>
            <a:normAutofit/>
          </a:bodyPr>
          <a:lstStyle/>
          <a:p>
            <a:r>
              <a:rPr lang="en-US" dirty="0"/>
              <a:t>Creation of nuisance, unsightliness and unpleasant </a:t>
            </a:r>
            <a:r>
              <a:rPr lang="en-US" dirty="0" err="1"/>
              <a:t>odours</a:t>
            </a:r>
            <a:r>
              <a:rPr lang="en-US" dirty="0"/>
              <a:t>.</a:t>
            </a:r>
          </a:p>
          <a:p>
            <a:r>
              <a:rPr lang="en-US" dirty="0"/>
              <a:t>Breeding of flies and mosquitoes</a:t>
            </a:r>
          </a:p>
          <a:p>
            <a:r>
              <a:rPr lang="en-US" dirty="0"/>
              <a:t>Pollution of soil and water supplies</a:t>
            </a:r>
          </a:p>
          <a:p>
            <a:r>
              <a:rPr lang="en-US" dirty="0"/>
              <a:t>Contamination of food, and</a:t>
            </a:r>
          </a:p>
          <a:p>
            <a:r>
              <a:rPr lang="en-US" dirty="0"/>
              <a:t>Increase in the incidence of disease, especially enteric and helminthic diseases.</a:t>
            </a:r>
          </a:p>
        </p:txBody>
      </p:sp>
    </p:spTree>
    <p:extLst>
      <p:ext uri="{BB962C8B-B14F-4D97-AF65-F5344CB8AC3E}">
        <p14:creationId xmlns:p14="http://schemas.microsoft.com/office/powerpoint/2010/main" val="12561275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94517-F195-07B7-4427-2145E01D1622}"/>
              </a:ext>
            </a:extLst>
          </p:cNvPr>
          <p:cNvSpPr>
            <a:spLocks noGrp="1"/>
          </p:cNvSpPr>
          <p:nvPr>
            <p:ph type="title"/>
          </p:nvPr>
        </p:nvSpPr>
        <p:spPr/>
        <p:txBody>
          <a:bodyPr/>
          <a:lstStyle/>
          <a:p>
            <a:r>
              <a:rPr lang="en-US" dirty="0"/>
              <a:t>Composition of sewage</a:t>
            </a:r>
          </a:p>
        </p:txBody>
      </p:sp>
      <p:sp>
        <p:nvSpPr>
          <p:cNvPr id="3" name="Content Placeholder 2">
            <a:extLst>
              <a:ext uri="{FF2B5EF4-FFF2-40B4-BE49-F238E27FC236}">
                <a16:creationId xmlns:a16="http://schemas.microsoft.com/office/drawing/2014/main" id="{B9F9133C-71A7-4AA1-B52C-2E96E3712DC2}"/>
              </a:ext>
            </a:extLst>
          </p:cNvPr>
          <p:cNvSpPr>
            <a:spLocks noGrp="1"/>
          </p:cNvSpPr>
          <p:nvPr>
            <p:ph idx="1"/>
          </p:nvPr>
        </p:nvSpPr>
        <p:spPr/>
        <p:txBody>
          <a:bodyPr>
            <a:normAutofit fontScale="92500" lnSpcReduction="20000"/>
          </a:bodyPr>
          <a:lstStyle/>
          <a:p>
            <a:r>
              <a:rPr lang="en-US" dirty="0"/>
              <a:t>Sewage contains 99.9 per cent of water. </a:t>
            </a:r>
          </a:p>
          <a:p>
            <a:r>
              <a:rPr lang="en-US" dirty="0"/>
              <a:t>The solids which comprise barely 0.1 per cent are partly organic and partly inorganic; they are partly in suspension and partly in solution. </a:t>
            </a:r>
          </a:p>
          <a:p>
            <a:r>
              <a:rPr lang="en-US" dirty="0"/>
              <a:t>The offensive nature of the sewage is mainly due to the organic matter which it contains. </a:t>
            </a:r>
          </a:p>
          <a:p>
            <a:r>
              <a:rPr lang="en-US" dirty="0"/>
              <a:t>The organic matter decomposes according to the laws of nature during which process it gives off offensive </a:t>
            </a:r>
            <a:r>
              <a:rPr lang="en-US" dirty="0" err="1"/>
              <a:t>odours</a:t>
            </a:r>
            <a:r>
              <a:rPr lang="en-US" dirty="0"/>
              <a:t>. </a:t>
            </a:r>
          </a:p>
          <a:p>
            <a:r>
              <a:rPr lang="en-US" dirty="0"/>
              <a:t>In addition, sewage is charged with numerous living organisms derived from </a:t>
            </a:r>
            <a:r>
              <a:rPr lang="en-US" dirty="0" err="1"/>
              <a:t>faeces</a:t>
            </a:r>
            <a:r>
              <a:rPr lang="en-US" dirty="0"/>
              <a:t>, some of which may be agents to disease. It is estimated that one gram of </a:t>
            </a:r>
            <a:r>
              <a:rPr lang="en-US" dirty="0" err="1"/>
              <a:t>faeces</a:t>
            </a:r>
            <a:r>
              <a:rPr lang="en-US" dirty="0"/>
              <a:t> may contain about 1,000 million of E. coli, 10 to 100 million of </a:t>
            </a:r>
            <a:r>
              <a:rPr lang="en-US" dirty="0" err="1"/>
              <a:t>faecal</a:t>
            </a:r>
            <a:r>
              <a:rPr lang="en-US" dirty="0"/>
              <a:t> streptococci, and 1 to 10 million spores of Cl. Perfringens besides several others. </a:t>
            </a:r>
          </a:p>
          <a:p>
            <a:r>
              <a:rPr lang="en-US" dirty="0"/>
              <a:t>The average adult person excretes daily some 100 grams of </a:t>
            </a:r>
            <a:r>
              <a:rPr lang="en-US" dirty="0" err="1"/>
              <a:t>faeces</a:t>
            </a:r>
            <a:r>
              <a:rPr lang="en-US" dirty="0"/>
              <a:t>.</a:t>
            </a:r>
          </a:p>
        </p:txBody>
      </p:sp>
    </p:spTree>
    <p:extLst>
      <p:ext uri="{BB962C8B-B14F-4D97-AF65-F5344CB8AC3E}">
        <p14:creationId xmlns:p14="http://schemas.microsoft.com/office/powerpoint/2010/main" val="9390208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751229-0244-4FBB-BED1-407467F4C9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5F0400-1972-20DF-E8C7-215587BA44FB}"/>
              </a:ext>
            </a:extLst>
          </p:cNvPr>
          <p:cNvSpPr>
            <a:spLocks noGrp="1"/>
          </p:cNvSpPr>
          <p:nvPr>
            <p:ph type="title"/>
          </p:nvPr>
        </p:nvSpPr>
        <p:spPr>
          <a:xfrm>
            <a:off x="2197101" y="735283"/>
            <a:ext cx="4978399" cy="3165045"/>
          </a:xfrm>
        </p:spPr>
        <p:txBody>
          <a:bodyPr vert="horz" lIns="91440" tIns="45720" rIns="91440" bIns="45720" rtlCol="0" anchor="b">
            <a:normAutofit/>
          </a:bodyPr>
          <a:lstStyle/>
          <a:p>
            <a:r>
              <a:rPr lang="en-US" sz="5200" kern="1200">
                <a:solidFill>
                  <a:schemeClr val="tx1"/>
                </a:solidFill>
                <a:latin typeface="+mj-lt"/>
                <a:ea typeface="+mj-ea"/>
                <a:cs typeface="+mj-cs"/>
              </a:rPr>
              <a:t>Thank you</a:t>
            </a:r>
          </a:p>
        </p:txBody>
      </p:sp>
      <p:pic>
        <p:nvPicPr>
          <p:cNvPr id="7" name="Graphic 6" descr="Smiling Face with No Fill">
            <a:extLst>
              <a:ext uri="{FF2B5EF4-FFF2-40B4-BE49-F238E27FC236}">
                <a16:creationId xmlns:a16="http://schemas.microsoft.com/office/drawing/2014/main" id="{207BF39E-D371-A536-25D5-088A6B26FA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7549" y="2776619"/>
            <a:ext cx="1289051" cy="1289051"/>
          </a:xfrm>
          <a:prstGeom prst="rect">
            <a:avLst/>
          </a:prstGeom>
        </p:spPr>
      </p:pic>
      <p:pic>
        <p:nvPicPr>
          <p:cNvPr id="9" name="Graphic 8" descr="Smiling Face with No Fill">
            <a:extLst>
              <a:ext uri="{FF2B5EF4-FFF2-40B4-BE49-F238E27FC236}">
                <a16:creationId xmlns:a16="http://schemas.microsoft.com/office/drawing/2014/main" id="{42E2DDB4-B2D8-4A93-BE32-DBB16B9BE0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07815" y="716407"/>
            <a:ext cx="5411343" cy="5411343"/>
          </a:xfrm>
          <a:prstGeom prst="rect">
            <a:avLst/>
          </a:prstGeom>
        </p:spPr>
      </p:pic>
    </p:spTree>
    <p:extLst>
      <p:ext uri="{BB962C8B-B14F-4D97-AF65-F5344CB8AC3E}">
        <p14:creationId xmlns:p14="http://schemas.microsoft.com/office/powerpoint/2010/main" val="23514870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554</TotalTime>
  <Words>4220</Words>
  <Application>Microsoft Office PowerPoint</Application>
  <PresentationFormat>Widescreen</PresentationFormat>
  <Paragraphs>303</Paragraphs>
  <Slides>39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Times New Roman</vt:lpstr>
      <vt:lpstr>Office Theme</vt:lpstr>
      <vt:lpstr>Excreta disposal</vt:lpstr>
      <vt:lpstr>Methods of excreta disposal (unsewered areas)</vt:lpstr>
      <vt:lpstr>Methods of excreta disposal (sewered areas)</vt:lpstr>
      <vt:lpstr>Service type (conservancy system)</vt:lpstr>
      <vt:lpstr>Service type (conservancy system) - Pitfalls</vt:lpstr>
      <vt:lpstr>Sanitary Latrines</vt:lpstr>
      <vt:lpstr>Sanitary latrines</vt:lpstr>
      <vt:lpstr>Sanitary latrines</vt:lpstr>
      <vt:lpstr>Sanitary latrines</vt:lpstr>
      <vt:lpstr>Water seal Latrine</vt:lpstr>
      <vt:lpstr>Direct / Indirect Water seal Latrine</vt:lpstr>
      <vt:lpstr>Parts of RCA Latrine - Location</vt:lpstr>
      <vt:lpstr>Squatting plate</vt:lpstr>
      <vt:lpstr>Pan</vt:lpstr>
      <vt:lpstr>Trap</vt:lpstr>
      <vt:lpstr>Connecting pipe</vt:lpstr>
      <vt:lpstr>Dug well and superstructure</vt:lpstr>
      <vt:lpstr>Maintenance</vt:lpstr>
      <vt:lpstr>Septic tank</vt:lpstr>
      <vt:lpstr>Design</vt:lpstr>
      <vt:lpstr>Design features</vt:lpstr>
      <vt:lpstr>Design features</vt:lpstr>
      <vt:lpstr>Working of septic tank</vt:lpstr>
      <vt:lpstr>Operation and maintenance</vt:lpstr>
      <vt:lpstr>Aqua Privy</vt:lpstr>
      <vt:lpstr>Sulabh shauchalaya</vt:lpstr>
      <vt:lpstr>Chemical closet</vt:lpstr>
      <vt:lpstr>Shallow trench latrine</vt:lpstr>
      <vt:lpstr>Deep trench latrine</vt:lpstr>
      <vt:lpstr>Water carriage system / sewerage system</vt:lpstr>
      <vt:lpstr>Elements</vt:lpstr>
      <vt:lpstr>Household sanitary fittings</vt:lpstr>
      <vt:lpstr>Household sanitary fittings</vt:lpstr>
      <vt:lpstr>PowerPoint Presentation</vt:lpstr>
      <vt:lpstr>Sewer appurtenances</vt:lpstr>
      <vt:lpstr>Sewage</vt:lpstr>
      <vt:lpstr>Health aspects</vt:lpstr>
      <vt:lpstr>Composition of sewage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mukul maheshwari</dc:creator>
  <cp:lastModifiedBy>mukul maheshwari</cp:lastModifiedBy>
  <cp:revision>1</cp:revision>
  <dcterms:created xsi:type="dcterms:W3CDTF">2024-09-11T11:12:23Z</dcterms:created>
  <dcterms:modified xsi:type="dcterms:W3CDTF">2024-09-11T20:26:58Z</dcterms:modified>
</cp:coreProperties>
</file>