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87" r:id="rId3"/>
    <p:sldId id="288" r:id="rId4"/>
    <p:sldId id="289" r:id="rId5"/>
    <p:sldId id="290" r:id="rId6"/>
    <p:sldId id="291" r:id="rId7"/>
    <p:sldId id="260" r:id="rId8"/>
    <p:sldId id="264" r:id="rId9"/>
    <p:sldId id="268" r:id="rId10"/>
    <p:sldId id="270" r:id="rId11"/>
    <p:sldId id="271" r:id="rId12"/>
    <p:sldId id="272" r:id="rId13"/>
    <p:sldId id="273" r:id="rId14"/>
    <p:sldId id="274" r:id="rId15"/>
    <p:sldId id="263" r:id="rId16"/>
    <p:sldId id="275" r:id="rId17"/>
    <p:sldId id="276" r:id="rId18"/>
    <p:sldId id="277" r:id="rId19"/>
    <p:sldId id="278" r:id="rId20"/>
    <p:sldId id="279" r:id="rId21"/>
    <p:sldId id="280" r:id="rId22"/>
    <p:sldId id="281" r:id="rId23"/>
    <p:sldId id="282" r:id="rId24"/>
    <p:sldId id="283" r:id="rId25"/>
    <p:sldId id="284" r:id="rId26"/>
    <p:sldId id="28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23" d="100"/>
          <a:sy n="123" d="100"/>
        </p:scale>
        <p:origin x="114" y="1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B3A9211-75D8-437B-9557-7A7C20877C6B}"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7078846F-E5F2-4C6D-BF8F-CF12520D5539}">
      <dgm:prSet/>
      <dgm:spPr/>
      <dgm:t>
        <a:bodyPr/>
        <a:lstStyle/>
        <a:p>
          <a:r>
            <a:rPr lang="en-US"/>
            <a:t>Non – Communicable disease</a:t>
          </a:r>
        </a:p>
      </dgm:t>
    </dgm:pt>
    <dgm:pt modelId="{337AA7E7-6309-4DC3-B194-69A725A0F853}" type="parTrans" cxnId="{6FDD8773-C1CF-470B-B5C8-FC2DE633B712}">
      <dgm:prSet/>
      <dgm:spPr/>
      <dgm:t>
        <a:bodyPr/>
        <a:lstStyle/>
        <a:p>
          <a:endParaRPr lang="en-US"/>
        </a:p>
      </dgm:t>
    </dgm:pt>
    <dgm:pt modelId="{913C93AF-C920-4A59-8CF9-5252A43CB955}" type="sibTrans" cxnId="{6FDD8773-C1CF-470B-B5C8-FC2DE633B712}">
      <dgm:prSet/>
      <dgm:spPr/>
      <dgm:t>
        <a:bodyPr/>
        <a:lstStyle/>
        <a:p>
          <a:endParaRPr lang="en-US"/>
        </a:p>
      </dgm:t>
    </dgm:pt>
    <dgm:pt modelId="{079C17AC-144B-4C26-9D6F-264FE228F623}">
      <dgm:prSet/>
      <dgm:spPr/>
      <dgm:t>
        <a:bodyPr/>
        <a:lstStyle/>
        <a:p>
          <a:r>
            <a:rPr lang="en-US"/>
            <a:t>Due to lifestyle changes</a:t>
          </a:r>
        </a:p>
      </dgm:t>
    </dgm:pt>
    <dgm:pt modelId="{EA7D212A-F27C-4D0A-82C4-897F9225DEEC}" type="parTrans" cxnId="{AB91BF09-3E73-4545-B6CE-CAF1DD7761CD}">
      <dgm:prSet/>
      <dgm:spPr/>
      <dgm:t>
        <a:bodyPr/>
        <a:lstStyle/>
        <a:p>
          <a:endParaRPr lang="en-US"/>
        </a:p>
      </dgm:t>
    </dgm:pt>
    <dgm:pt modelId="{A22D80AA-B95F-4778-BF11-686E39E7EA31}" type="sibTrans" cxnId="{AB91BF09-3E73-4545-B6CE-CAF1DD7761CD}">
      <dgm:prSet/>
      <dgm:spPr/>
      <dgm:t>
        <a:bodyPr/>
        <a:lstStyle/>
        <a:p>
          <a:endParaRPr lang="en-US"/>
        </a:p>
      </dgm:t>
    </dgm:pt>
    <dgm:pt modelId="{836EB80E-DE32-427D-9763-9A4EFCA91413}" type="pres">
      <dgm:prSet presAssocID="{9B3A9211-75D8-437B-9557-7A7C20877C6B}" presName="vert0" presStyleCnt="0">
        <dgm:presLayoutVars>
          <dgm:dir/>
          <dgm:animOne val="branch"/>
          <dgm:animLvl val="lvl"/>
        </dgm:presLayoutVars>
      </dgm:prSet>
      <dgm:spPr/>
    </dgm:pt>
    <dgm:pt modelId="{B8A86721-F418-4669-B33D-4E7A49B701D7}" type="pres">
      <dgm:prSet presAssocID="{7078846F-E5F2-4C6D-BF8F-CF12520D5539}" presName="thickLine" presStyleLbl="alignNode1" presStyleIdx="0" presStyleCnt="2"/>
      <dgm:spPr/>
    </dgm:pt>
    <dgm:pt modelId="{DC37C9D1-C41F-47B7-9076-50742E3F0D8F}" type="pres">
      <dgm:prSet presAssocID="{7078846F-E5F2-4C6D-BF8F-CF12520D5539}" presName="horz1" presStyleCnt="0"/>
      <dgm:spPr/>
    </dgm:pt>
    <dgm:pt modelId="{3DA1D58D-B244-4BE4-925E-A06D4A4A5211}" type="pres">
      <dgm:prSet presAssocID="{7078846F-E5F2-4C6D-BF8F-CF12520D5539}" presName="tx1" presStyleLbl="revTx" presStyleIdx="0" presStyleCnt="2"/>
      <dgm:spPr/>
    </dgm:pt>
    <dgm:pt modelId="{2D9F71B8-33CF-41D3-A028-FD4BACE05A11}" type="pres">
      <dgm:prSet presAssocID="{7078846F-E5F2-4C6D-BF8F-CF12520D5539}" presName="vert1" presStyleCnt="0"/>
      <dgm:spPr/>
    </dgm:pt>
    <dgm:pt modelId="{16BB20D5-1522-44E8-A509-1568536FB31A}" type="pres">
      <dgm:prSet presAssocID="{079C17AC-144B-4C26-9D6F-264FE228F623}" presName="thickLine" presStyleLbl="alignNode1" presStyleIdx="1" presStyleCnt="2"/>
      <dgm:spPr/>
    </dgm:pt>
    <dgm:pt modelId="{BC12FBF7-47C1-4FA3-A829-8E13B238236F}" type="pres">
      <dgm:prSet presAssocID="{079C17AC-144B-4C26-9D6F-264FE228F623}" presName="horz1" presStyleCnt="0"/>
      <dgm:spPr/>
    </dgm:pt>
    <dgm:pt modelId="{047BEC80-01D6-448F-A0B4-3714B297CEB4}" type="pres">
      <dgm:prSet presAssocID="{079C17AC-144B-4C26-9D6F-264FE228F623}" presName="tx1" presStyleLbl="revTx" presStyleIdx="1" presStyleCnt="2"/>
      <dgm:spPr/>
    </dgm:pt>
    <dgm:pt modelId="{7C2239F5-E4FF-4134-A3D9-170782F21ED4}" type="pres">
      <dgm:prSet presAssocID="{079C17AC-144B-4C26-9D6F-264FE228F623}" presName="vert1" presStyleCnt="0"/>
      <dgm:spPr/>
    </dgm:pt>
  </dgm:ptLst>
  <dgm:cxnLst>
    <dgm:cxn modelId="{AB91BF09-3E73-4545-B6CE-CAF1DD7761CD}" srcId="{9B3A9211-75D8-437B-9557-7A7C20877C6B}" destId="{079C17AC-144B-4C26-9D6F-264FE228F623}" srcOrd="1" destOrd="0" parTransId="{EA7D212A-F27C-4D0A-82C4-897F9225DEEC}" sibTransId="{A22D80AA-B95F-4778-BF11-686E39E7EA31}"/>
    <dgm:cxn modelId="{6FDD8773-C1CF-470B-B5C8-FC2DE633B712}" srcId="{9B3A9211-75D8-437B-9557-7A7C20877C6B}" destId="{7078846F-E5F2-4C6D-BF8F-CF12520D5539}" srcOrd="0" destOrd="0" parTransId="{337AA7E7-6309-4DC3-B194-69A725A0F853}" sibTransId="{913C93AF-C920-4A59-8CF9-5252A43CB955}"/>
    <dgm:cxn modelId="{58F1E158-9075-44E8-895C-15C4533055E5}" type="presOf" srcId="{7078846F-E5F2-4C6D-BF8F-CF12520D5539}" destId="{3DA1D58D-B244-4BE4-925E-A06D4A4A5211}" srcOrd="0" destOrd="0" presId="urn:microsoft.com/office/officeart/2008/layout/LinedList"/>
    <dgm:cxn modelId="{9D73E0AE-08B9-439E-A5E4-A791AAF7BB38}" type="presOf" srcId="{9B3A9211-75D8-437B-9557-7A7C20877C6B}" destId="{836EB80E-DE32-427D-9763-9A4EFCA91413}" srcOrd="0" destOrd="0" presId="urn:microsoft.com/office/officeart/2008/layout/LinedList"/>
    <dgm:cxn modelId="{41D317FF-6C81-48FD-874E-4F2BF55A0BB6}" type="presOf" srcId="{079C17AC-144B-4C26-9D6F-264FE228F623}" destId="{047BEC80-01D6-448F-A0B4-3714B297CEB4}" srcOrd="0" destOrd="0" presId="urn:microsoft.com/office/officeart/2008/layout/LinedList"/>
    <dgm:cxn modelId="{6EC40341-8902-402E-B86E-7ED60F0B8139}" type="presParOf" srcId="{836EB80E-DE32-427D-9763-9A4EFCA91413}" destId="{B8A86721-F418-4669-B33D-4E7A49B701D7}" srcOrd="0" destOrd="0" presId="urn:microsoft.com/office/officeart/2008/layout/LinedList"/>
    <dgm:cxn modelId="{B0EF8650-C7CE-47A8-8C1C-50BBF5FA0EB5}" type="presParOf" srcId="{836EB80E-DE32-427D-9763-9A4EFCA91413}" destId="{DC37C9D1-C41F-47B7-9076-50742E3F0D8F}" srcOrd="1" destOrd="0" presId="urn:microsoft.com/office/officeart/2008/layout/LinedList"/>
    <dgm:cxn modelId="{5A0C3B60-3145-4EAC-BCBC-C266428546F3}" type="presParOf" srcId="{DC37C9D1-C41F-47B7-9076-50742E3F0D8F}" destId="{3DA1D58D-B244-4BE4-925E-A06D4A4A5211}" srcOrd="0" destOrd="0" presId="urn:microsoft.com/office/officeart/2008/layout/LinedList"/>
    <dgm:cxn modelId="{87690B56-57AC-490E-9514-D598436EF694}" type="presParOf" srcId="{DC37C9D1-C41F-47B7-9076-50742E3F0D8F}" destId="{2D9F71B8-33CF-41D3-A028-FD4BACE05A11}" srcOrd="1" destOrd="0" presId="urn:microsoft.com/office/officeart/2008/layout/LinedList"/>
    <dgm:cxn modelId="{3E515927-2D60-4C57-AF5D-C72D78976262}" type="presParOf" srcId="{836EB80E-DE32-427D-9763-9A4EFCA91413}" destId="{16BB20D5-1522-44E8-A509-1568536FB31A}" srcOrd="2" destOrd="0" presId="urn:microsoft.com/office/officeart/2008/layout/LinedList"/>
    <dgm:cxn modelId="{159D2A93-D8F7-40F4-ACAF-E370BDE56D05}" type="presParOf" srcId="{836EB80E-DE32-427D-9763-9A4EFCA91413}" destId="{BC12FBF7-47C1-4FA3-A829-8E13B238236F}" srcOrd="3" destOrd="0" presId="urn:microsoft.com/office/officeart/2008/layout/LinedList"/>
    <dgm:cxn modelId="{94A63D6A-5F50-44A1-9D81-FA49DB585E44}" type="presParOf" srcId="{BC12FBF7-47C1-4FA3-A829-8E13B238236F}" destId="{047BEC80-01D6-448F-A0B4-3714B297CEB4}" srcOrd="0" destOrd="0" presId="urn:microsoft.com/office/officeart/2008/layout/LinedList"/>
    <dgm:cxn modelId="{6D3B7F46-6EFF-4458-AD48-6FEA236930F8}" type="presParOf" srcId="{BC12FBF7-47C1-4FA3-A829-8E13B238236F}" destId="{7C2239F5-E4FF-4134-A3D9-170782F21ED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858F7B-61CB-4133-BD82-AD60449911B4}" type="doc">
      <dgm:prSet loTypeId="urn:microsoft.com/office/officeart/2005/8/layout/process4" loCatId="process" qsTypeId="urn:microsoft.com/office/officeart/2005/8/quickstyle/simple1" qsCatId="simple" csTypeId="urn:microsoft.com/office/officeart/2005/8/colors/colorful5" csCatId="colorful" phldr="1"/>
      <dgm:spPr/>
      <dgm:t>
        <a:bodyPr/>
        <a:lstStyle/>
        <a:p>
          <a:endParaRPr lang="en-US"/>
        </a:p>
      </dgm:t>
    </dgm:pt>
    <dgm:pt modelId="{350C7450-4F65-45F0-B28A-5784D44D6901}">
      <dgm:prSet custT="1"/>
      <dgm:spPr>
        <a:solidFill>
          <a:schemeClr val="accent6">
            <a:lumMod val="20000"/>
            <a:lumOff val="80000"/>
          </a:schemeClr>
        </a:solidFill>
      </dgm:spPr>
      <dgm:t>
        <a:bodyPr/>
        <a:lstStyle/>
        <a:p>
          <a:r>
            <a:rPr lang="en-US" sz="2400" b="0" i="0" baseline="0" dirty="0">
              <a:solidFill>
                <a:schemeClr val="tx1"/>
              </a:solidFill>
            </a:rPr>
            <a:t>Which diseases are Increasing, which decreasing, and which are the emerging health problems and of the effectiveness of measures to control old ones</a:t>
          </a:r>
          <a:r>
            <a:rPr lang="en-US" sz="2400" b="0" i="1" baseline="0" dirty="0">
              <a:solidFill>
                <a:schemeClr val="tx1"/>
              </a:solidFill>
            </a:rPr>
            <a:t>. </a:t>
          </a:r>
          <a:endParaRPr lang="en-US" sz="2400" dirty="0">
            <a:solidFill>
              <a:schemeClr val="tx1"/>
            </a:solidFill>
          </a:endParaRPr>
        </a:p>
      </dgm:t>
    </dgm:pt>
    <dgm:pt modelId="{D8DF99B4-C694-48ED-AB4C-177DFEA4CDF4}" type="parTrans" cxnId="{2377CA0F-3EC0-4B21-B86A-9D2264834D99}">
      <dgm:prSet/>
      <dgm:spPr/>
      <dgm:t>
        <a:bodyPr/>
        <a:lstStyle/>
        <a:p>
          <a:endParaRPr lang="en-US" sz="2000">
            <a:solidFill>
              <a:schemeClr val="tx1"/>
            </a:solidFill>
          </a:endParaRPr>
        </a:p>
      </dgm:t>
    </dgm:pt>
    <dgm:pt modelId="{B43F723E-F88F-49AE-AFD2-1E35514B15A6}" type="sibTrans" cxnId="{2377CA0F-3EC0-4B21-B86A-9D2264834D99}">
      <dgm:prSet/>
      <dgm:spPr/>
      <dgm:t>
        <a:bodyPr/>
        <a:lstStyle/>
        <a:p>
          <a:endParaRPr lang="en-US" sz="2000">
            <a:solidFill>
              <a:schemeClr val="tx1"/>
            </a:solidFill>
          </a:endParaRPr>
        </a:p>
      </dgm:t>
    </dgm:pt>
    <dgm:pt modelId="{201132DB-4D3B-44B9-90A1-2F5C565E1D56}">
      <dgm:prSet custT="1"/>
      <dgm:spPr>
        <a:solidFill>
          <a:schemeClr val="accent2">
            <a:lumMod val="20000"/>
            <a:lumOff val="80000"/>
          </a:schemeClr>
        </a:solidFill>
      </dgm:spPr>
      <dgm:t>
        <a:bodyPr/>
        <a:lstStyle/>
        <a:p>
          <a:r>
            <a:rPr lang="en-US" sz="2400" b="0" i="0" baseline="0" dirty="0">
              <a:solidFill>
                <a:schemeClr val="tx1"/>
              </a:solidFill>
            </a:rPr>
            <a:t>He tries to formulate </a:t>
          </a:r>
          <a:r>
            <a:rPr lang="en-US" sz="2400" b="0" i="0" baseline="0" dirty="0" err="1">
              <a:solidFill>
                <a:schemeClr val="tx1"/>
              </a:solidFill>
            </a:rPr>
            <a:t>aetiological</a:t>
          </a:r>
          <a:r>
            <a:rPr lang="en-US" sz="2400" b="0" i="0" baseline="0" dirty="0">
              <a:solidFill>
                <a:schemeClr val="tx1"/>
              </a:solidFill>
            </a:rPr>
            <a:t> hypotheses and seeks explanations whether these changes were due to changes in the </a:t>
          </a:r>
          <a:r>
            <a:rPr lang="en-US" sz="2400" b="0" i="0" baseline="0" dirty="0" err="1">
              <a:solidFill>
                <a:schemeClr val="tx1"/>
              </a:solidFill>
            </a:rPr>
            <a:t>aetiological</a:t>
          </a:r>
          <a:r>
            <a:rPr lang="en-US" sz="2400" b="0" i="0" baseline="0" dirty="0">
              <a:solidFill>
                <a:schemeClr val="tx1"/>
              </a:solidFill>
            </a:rPr>
            <a:t> agent or variations in diagnosis, reporting, case fatality or changes in age distribution, or some other determinants, specific and non-specific (e.g., changes in quality of life, socio-economic status and personal habits).</a:t>
          </a:r>
          <a:endParaRPr lang="en-US" sz="2400" dirty="0">
            <a:solidFill>
              <a:schemeClr val="tx1"/>
            </a:solidFill>
          </a:endParaRPr>
        </a:p>
      </dgm:t>
    </dgm:pt>
    <dgm:pt modelId="{B64F34FB-FA46-4FA1-B54B-23E8CFB74628}" type="parTrans" cxnId="{0D1D3DD2-BAAF-4C1A-BA89-70F13F293515}">
      <dgm:prSet/>
      <dgm:spPr/>
      <dgm:t>
        <a:bodyPr/>
        <a:lstStyle/>
        <a:p>
          <a:endParaRPr lang="en-US" sz="2000">
            <a:solidFill>
              <a:schemeClr val="tx1"/>
            </a:solidFill>
          </a:endParaRPr>
        </a:p>
      </dgm:t>
    </dgm:pt>
    <dgm:pt modelId="{1138B5A9-5F86-4DF6-B35A-F493B934A881}" type="sibTrans" cxnId="{0D1D3DD2-BAAF-4C1A-BA89-70F13F293515}">
      <dgm:prSet/>
      <dgm:spPr/>
      <dgm:t>
        <a:bodyPr/>
        <a:lstStyle/>
        <a:p>
          <a:endParaRPr lang="en-US" sz="2000">
            <a:solidFill>
              <a:schemeClr val="tx1"/>
            </a:solidFill>
          </a:endParaRPr>
        </a:p>
      </dgm:t>
    </dgm:pt>
    <dgm:pt modelId="{53660B0A-7639-4646-BDEB-DDAD32398E58}">
      <dgm:prSet custT="1"/>
      <dgm:spPr/>
      <dgm:t>
        <a:bodyPr anchor="t"/>
        <a:lstStyle/>
        <a:p>
          <a:r>
            <a:rPr lang="en-US" sz="1800" b="1" i="0" baseline="0" dirty="0">
              <a:solidFill>
                <a:schemeClr val="tx1"/>
              </a:solidFill>
            </a:rPr>
            <a:t>Example</a:t>
          </a:r>
          <a:r>
            <a:rPr lang="en-US" sz="1800" b="0" i="0" baseline="0" dirty="0">
              <a:solidFill>
                <a:schemeClr val="tx1"/>
              </a:solidFill>
            </a:rPr>
            <a:t> </a:t>
          </a:r>
          <a:endParaRPr lang="en-US" sz="1800" dirty="0">
            <a:solidFill>
              <a:schemeClr val="tx1"/>
            </a:solidFill>
          </a:endParaRPr>
        </a:p>
      </dgm:t>
    </dgm:pt>
    <dgm:pt modelId="{2D1F403A-D4D1-4455-A332-B75E3387C983}" type="parTrans" cxnId="{21DC08F6-848C-49A9-BBAA-E35F607BC441}">
      <dgm:prSet/>
      <dgm:spPr/>
      <dgm:t>
        <a:bodyPr/>
        <a:lstStyle/>
        <a:p>
          <a:endParaRPr lang="en-US" sz="2000">
            <a:solidFill>
              <a:schemeClr val="tx1"/>
            </a:solidFill>
          </a:endParaRPr>
        </a:p>
      </dgm:t>
    </dgm:pt>
    <dgm:pt modelId="{E91A1BC9-CB50-4B41-9641-B330BCCDB934}" type="sibTrans" cxnId="{21DC08F6-848C-49A9-BBAA-E35F607BC441}">
      <dgm:prSet/>
      <dgm:spPr/>
      <dgm:t>
        <a:bodyPr/>
        <a:lstStyle/>
        <a:p>
          <a:endParaRPr lang="en-US" sz="2000">
            <a:solidFill>
              <a:schemeClr val="tx1"/>
            </a:solidFill>
          </a:endParaRPr>
        </a:p>
      </dgm:t>
    </dgm:pt>
    <dgm:pt modelId="{BBE3A54A-7C59-45C1-91DC-B60BF2D16B26}">
      <dgm:prSet custT="1"/>
      <dgm:spPr/>
      <dgm:t>
        <a:bodyPr/>
        <a:lstStyle/>
        <a:p>
          <a:r>
            <a:rPr lang="en-US" sz="2000" b="0" i="0" baseline="0" dirty="0">
              <a:solidFill>
                <a:schemeClr val="tx1"/>
              </a:solidFill>
            </a:rPr>
            <a:t>The “time-clustering” of cases of adenocarcinoma of vagina in young women led to the incrimination of its cause, viz. </a:t>
          </a:r>
          <a:r>
            <a:rPr lang="en-US" sz="2000" b="0" i="1" baseline="0" dirty="0">
              <a:solidFill>
                <a:schemeClr val="tx1"/>
              </a:solidFill>
            </a:rPr>
            <a:t>in utero </a:t>
          </a:r>
          <a:r>
            <a:rPr lang="en-US" sz="2000" b="0" i="0" baseline="0" dirty="0">
              <a:solidFill>
                <a:schemeClr val="tx1"/>
              </a:solidFill>
            </a:rPr>
            <a:t>exposure to diethylstilbestrol.</a:t>
          </a:r>
          <a:endParaRPr lang="en-US" sz="2000" dirty="0">
            <a:solidFill>
              <a:schemeClr val="tx1"/>
            </a:solidFill>
          </a:endParaRPr>
        </a:p>
      </dgm:t>
    </dgm:pt>
    <dgm:pt modelId="{B5406776-F1F1-436E-88FE-48368DC0F896}" type="parTrans" cxnId="{E10AE180-A55E-4909-BFC4-94E7EF524907}">
      <dgm:prSet/>
      <dgm:spPr/>
      <dgm:t>
        <a:bodyPr/>
        <a:lstStyle/>
        <a:p>
          <a:endParaRPr lang="en-US" sz="2000">
            <a:solidFill>
              <a:schemeClr val="tx1"/>
            </a:solidFill>
          </a:endParaRPr>
        </a:p>
      </dgm:t>
    </dgm:pt>
    <dgm:pt modelId="{0DF7E7A5-80AA-48C6-98D8-2B5AEB25E3CB}" type="sibTrans" cxnId="{E10AE180-A55E-4909-BFC4-94E7EF524907}">
      <dgm:prSet/>
      <dgm:spPr/>
      <dgm:t>
        <a:bodyPr/>
        <a:lstStyle/>
        <a:p>
          <a:endParaRPr lang="en-US" sz="2000">
            <a:solidFill>
              <a:schemeClr val="tx1"/>
            </a:solidFill>
          </a:endParaRPr>
        </a:p>
      </dgm:t>
    </dgm:pt>
    <dgm:pt modelId="{28EA1DBF-39AD-4595-8F86-2F7871B241F5}" type="pres">
      <dgm:prSet presAssocID="{CC858F7B-61CB-4133-BD82-AD60449911B4}" presName="Name0" presStyleCnt="0">
        <dgm:presLayoutVars>
          <dgm:dir/>
          <dgm:animLvl val="lvl"/>
          <dgm:resizeHandles val="exact"/>
        </dgm:presLayoutVars>
      </dgm:prSet>
      <dgm:spPr/>
    </dgm:pt>
    <dgm:pt modelId="{B483790B-4637-4995-BF6E-5D57EF8A8CB5}" type="pres">
      <dgm:prSet presAssocID="{53660B0A-7639-4646-BDEB-DDAD32398E58}" presName="boxAndChildren" presStyleCnt="0"/>
      <dgm:spPr/>
    </dgm:pt>
    <dgm:pt modelId="{5DA79D40-D25F-4300-AEB5-9FC5E7EA52D7}" type="pres">
      <dgm:prSet presAssocID="{53660B0A-7639-4646-BDEB-DDAD32398E58}" presName="parentTextBox" presStyleLbl="node1" presStyleIdx="0" presStyleCnt="3"/>
      <dgm:spPr/>
    </dgm:pt>
    <dgm:pt modelId="{D9A02A5C-06C4-4E4A-AAE7-44842780CEC8}" type="pres">
      <dgm:prSet presAssocID="{53660B0A-7639-4646-BDEB-DDAD32398E58}" presName="entireBox" presStyleLbl="node1" presStyleIdx="0" presStyleCnt="3"/>
      <dgm:spPr/>
    </dgm:pt>
    <dgm:pt modelId="{CDD9DA59-318D-4229-B3AB-86974562C9A0}" type="pres">
      <dgm:prSet presAssocID="{53660B0A-7639-4646-BDEB-DDAD32398E58}" presName="descendantBox" presStyleCnt="0"/>
      <dgm:spPr/>
    </dgm:pt>
    <dgm:pt modelId="{1E89B35B-D91B-4B34-883B-79CC0730FAA5}" type="pres">
      <dgm:prSet presAssocID="{BBE3A54A-7C59-45C1-91DC-B60BF2D16B26}" presName="childTextBox" presStyleLbl="fgAccFollowNode1" presStyleIdx="0" presStyleCnt="1" custScaleY="185194">
        <dgm:presLayoutVars>
          <dgm:bulletEnabled val="1"/>
        </dgm:presLayoutVars>
      </dgm:prSet>
      <dgm:spPr/>
    </dgm:pt>
    <dgm:pt modelId="{C6C29754-67C9-4967-9713-8AA54CB1B64F}" type="pres">
      <dgm:prSet presAssocID="{1138B5A9-5F86-4DF6-B35A-F493B934A881}" presName="sp" presStyleCnt="0"/>
      <dgm:spPr/>
    </dgm:pt>
    <dgm:pt modelId="{4A1EB04C-6CA8-4070-A283-9E3A4C20CDE3}" type="pres">
      <dgm:prSet presAssocID="{201132DB-4D3B-44B9-90A1-2F5C565E1D56}" presName="arrowAndChildren" presStyleCnt="0"/>
      <dgm:spPr/>
    </dgm:pt>
    <dgm:pt modelId="{FFCF619D-4AB9-4F5F-A48E-2148C74DB2A2}" type="pres">
      <dgm:prSet presAssocID="{201132DB-4D3B-44B9-90A1-2F5C565E1D56}" presName="parentTextArrow" presStyleLbl="node1" presStyleIdx="1" presStyleCnt="3" custScaleY="164843"/>
      <dgm:spPr/>
    </dgm:pt>
    <dgm:pt modelId="{DFEE990A-108E-4CF1-8FD2-476B2B3F4148}" type="pres">
      <dgm:prSet presAssocID="{B43F723E-F88F-49AE-AFD2-1E35514B15A6}" presName="sp" presStyleCnt="0"/>
      <dgm:spPr/>
    </dgm:pt>
    <dgm:pt modelId="{B30B6014-A3B5-408A-877B-FDF20EE5BE58}" type="pres">
      <dgm:prSet presAssocID="{350C7450-4F65-45F0-B28A-5784D44D6901}" presName="arrowAndChildren" presStyleCnt="0"/>
      <dgm:spPr/>
    </dgm:pt>
    <dgm:pt modelId="{C39AC8BC-A051-46E6-B590-AA8E079684EE}" type="pres">
      <dgm:prSet presAssocID="{350C7450-4F65-45F0-B28A-5784D44D6901}" presName="parentTextArrow" presStyleLbl="node1" presStyleIdx="2" presStyleCnt="3" custLinFactNeighborY="-46"/>
      <dgm:spPr/>
    </dgm:pt>
  </dgm:ptLst>
  <dgm:cxnLst>
    <dgm:cxn modelId="{2377CA0F-3EC0-4B21-B86A-9D2264834D99}" srcId="{CC858F7B-61CB-4133-BD82-AD60449911B4}" destId="{350C7450-4F65-45F0-B28A-5784D44D6901}" srcOrd="0" destOrd="0" parTransId="{D8DF99B4-C694-48ED-AB4C-177DFEA4CDF4}" sibTransId="{B43F723E-F88F-49AE-AFD2-1E35514B15A6}"/>
    <dgm:cxn modelId="{6AA5CC11-6C71-4974-9D93-408C194EAFE9}" type="presOf" srcId="{53660B0A-7639-4646-BDEB-DDAD32398E58}" destId="{D9A02A5C-06C4-4E4A-AAE7-44842780CEC8}" srcOrd="1" destOrd="0" presId="urn:microsoft.com/office/officeart/2005/8/layout/process4"/>
    <dgm:cxn modelId="{1DBE8B7C-B239-4F40-B20B-9A092B8E310F}" type="presOf" srcId="{201132DB-4D3B-44B9-90A1-2F5C565E1D56}" destId="{FFCF619D-4AB9-4F5F-A48E-2148C74DB2A2}" srcOrd="0" destOrd="0" presId="urn:microsoft.com/office/officeart/2005/8/layout/process4"/>
    <dgm:cxn modelId="{E10AE180-A55E-4909-BFC4-94E7EF524907}" srcId="{53660B0A-7639-4646-BDEB-DDAD32398E58}" destId="{BBE3A54A-7C59-45C1-91DC-B60BF2D16B26}" srcOrd="0" destOrd="0" parTransId="{B5406776-F1F1-436E-88FE-48368DC0F896}" sibTransId="{0DF7E7A5-80AA-48C6-98D8-2B5AEB25E3CB}"/>
    <dgm:cxn modelId="{063B1E8A-1D68-4417-8323-D3A2B20B240D}" type="presOf" srcId="{350C7450-4F65-45F0-B28A-5784D44D6901}" destId="{C39AC8BC-A051-46E6-B590-AA8E079684EE}" srcOrd="0" destOrd="0" presId="urn:microsoft.com/office/officeart/2005/8/layout/process4"/>
    <dgm:cxn modelId="{B5F84DBC-E1E3-4E1C-8804-9241BA02AAFC}" type="presOf" srcId="{CC858F7B-61CB-4133-BD82-AD60449911B4}" destId="{28EA1DBF-39AD-4595-8F86-2F7871B241F5}" srcOrd="0" destOrd="0" presId="urn:microsoft.com/office/officeart/2005/8/layout/process4"/>
    <dgm:cxn modelId="{0D1D3DD2-BAAF-4C1A-BA89-70F13F293515}" srcId="{CC858F7B-61CB-4133-BD82-AD60449911B4}" destId="{201132DB-4D3B-44B9-90A1-2F5C565E1D56}" srcOrd="1" destOrd="0" parTransId="{B64F34FB-FA46-4FA1-B54B-23E8CFB74628}" sibTransId="{1138B5A9-5F86-4DF6-B35A-F493B934A881}"/>
    <dgm:cxn modelId="{21DC08F6-848C-49A9-BBAA-E35F607BC441}" srcId="{CC858F7B-61CB-4133-BD82-AD60449911B4}" destId="{53660B0A-7639-4646-BDEB-DDAD32398E58}" srcOrd="2" destOrd="0" parTransId="{2D1F403A-D4D1-4455-A332-B75E3387C983}" sibTransId="{E91A1BC9-CB50-4B41-9641-B330BCCDB934}"/>
    <dgm:cxn modelId="{781229FD-8240-4DDC-981B-085BEB21D55F}" type="presOf" srcId="{53660B0A-7639-4646-BDEB-DDAD32398E58}" destId="{5DA79D40-D25F-4300-AEB5-9FC5E7EA52D7}" srcOrd="0" destOrd="0" presId="urn:microsoft.com/office/officeart/2005/8/layout/process4"/>
    <dgm:cxn modelId="{E393A1FE-98AC-4D15-AB31-D1235BE9E7D8}" type="presOf" srcId="{BBE3A54A-7C59-45C1-91DC-B60BF2D16B26}" destId="{1E89B35B-D91B-4B34-883B-79CC0730FAA5}" srcOrd="0" destOrd="0" presId="urn:microsoft.com/office/officeart/2005/8/layout/process4"/>
    <dgm:cxn modelId="{3468C104-4879-4950-B02B-EAA03768FA94}" type="presParOf" srcId="{28EA1DBF-39AD-4595-8F86-2F7871B241F5}" destId="{B483790B-4637-4995-BF6E-5D57EF8A8CB5}" srcOrd="0" destOrd="0" presId="urn:microsoft.com/office/officeart/2005/8/layout/process4"/>
    <dgm:cxn modelId="{D7D91A61-26C2-4C81-BD87-98D66D6C9024}" type="presParOf" srcId="{B483790B-4637-4995-BF6E-5D57EF8A8CB5}" destId="{5DA79D40-D25F-4300-AEB5-9FC5E7EA52D7}" srcOrd="0" destOrd="0" presId="urn:microsoft.com/office/officeart/2005/8/layout/process4"/>
    <dgm:cxn modelId="{BD482269-27DB-4B5F-98B1-DDE81F86EB41}" type="presParOf" srcId="{B483790B-4637-4995-BF6E-5D57EF8A8CB5}" destId="{D9A02A5C-06C4-4E4A-AAE7-44842780CEC8}" srcOrd="1" destOrd="0" presId="urn:microsoft.com/office/officeart/2005/8/layout/process4"/>
    <dgm:cxn modelId="{3581C696-2A3A-4925-BF39-D3C7A2590736}" type="presParOf" srcId="{B483790B-4637-4995-BF6E-5D57EF8A8CB5}" destId="{CDD9DA59-318D-4229-B3AB-86974562C9A0}" srcOrd="2" destOrd="0" presId="urn:microsoft.com/office/officeart/2005/8/layout/process4"/>
    <dgm:cxn modelId="{C36A8FCF-195A-4239-A12A-04FDF0A492D9}" type="presParOf" srcId="{CDD9DA59-318D-4229-B3AB-86974562C9A0}" destId="{1E89B35B-D91B-4B34-883B-79CC0730FAA5}" srcOrd="0" destOrd="0" presId="urn:microsoft.com/office/officeart/2005/8/layout/process4"/>
    <dgm:cxn modelId="{24EE1C14-C78A-4890-8732-35B0CA747355}" type="presParOf" srcId="{28EA1DBF-39AD-4595-8F86-2F7871B241F5}" destId="{C6C29754-67C9-4967-9713-8AA54CB1B64F}" srcOrd="1" destOrd="0" presId="urn:microsoft.com/office/officeart/2005/8/layout/process4"/>
    <dgm:cxn modelId="{F1328084-3F8C-4D92-B206-A10FFAF6B0D5}" type="presParOf" srcId="{28EA1DBF-39AD-4595-8F86-2F7871B241F5}" destId="{4A1EB04C-6CA8-4070-A283-9E3A4C20CDE3}" srcOrd="2" destOrd="0" presId="urn:microsoft.com/office/officeart/2005/8/layout/process4"/>
    <dgm:cxn modelId="{DD64A5E1-AE36-4CB8-8D88-487E28198AF5}" type="presParOf" srcId="{4A1EB04C-6CA8-4070-A283-9E3A4C20CDE3}" destId="{FFCF619D-4AB9-4F5F-A48E-2148C74DB2A2}" srcOrd="0" destOrd="0" presId="urn:microsoft.com/office/officeart/2005/8/layout/process4"/>
    <dgm:cxn modelId="{059472BF-A277-46E5-B9B6-652900F791EC}" type="presParOf" srcId="{28EA1DBF-39AD-4595-8F86-2F7871B241F5}" destId="{DFEE990A-108E-4CF1-8FD2-476B2B3F4148}" srcOrd="3" destOrd="0" presId="urn:microsoft.com/office/officeart/2005/8/layout/process4"/>
    <dgm:cxn modelId="{24AF41EC-5F50-4DB0-B314-D2C268561E9C}" type="presParOf" srcId="{28EA1DBF-39AD-4595-8F86-2F7871B241F5}" destId="{B30B6014-A3B5-408A-877B-FDF20EE5BE58}" srcOrd="4" destOrd="0" presId="urn:microsoft.com/office/officeart/2005/8/layout/process4"/>
    <dgm:cxn modelId="{6D3697DE-8BAA-429A-BCD0-D4B8FD47BAFB}" type="presParOf" srcId="{B30B6014-A3B5-408A-877B-FDF20EE5BE58}" destId="{C39AC8BC-A051-46E6-B590-AA8E079684EE}"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A86721-F418-4669-B33D-4E7A49B701D7}">
      <dsp:nvSpPr>
        <dsp:cNvPr id="0" name=""/>
        <dsp:cNvSpPr/>
      </dsp:nvSpPr>
      <dsp:spPr>
        <a:xfrm>
          <a:off x="0" y="0"/>
          <a:ext cx="658926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A1D58D-B244-4BE4-925E-A06D4A4A5211}">
      <dsp:nvSpPr>
        <dsp:cNvPr id="0" name=""/>
        <dsp:cNvSpPr/>
      </dsp:nvSpPr>
      <dsp:spPr>
        <a:xfrm>
          <a:off x="0" y="0"/>
          <a:ext cx="6589260" cy="2621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0" tIns="209550" rIns="209550" bIns="209550" numCol="1" spcCol="1270" anchor="t" anchorCtr="0">
          <a:noAutofit/>
        </a:bodyPr>
        <a:lstStyle/>
        <a:p>
          <a:pPr marL="0" lvl="0" indent="0" algn="l" defTabSz="2444750">
            <a:lnSpc>
              <a:spcPct val="90000"/>
            </a:lnSpc>
            <a:spcBef>
              <a:spcPct val="0"/>
            </a:spcBef>
            <a:spcAft>
              <a:spcPct val="35000"/>
            </a:spcAft>
            <a:buNone/>
          </a:pPr>
          <a:r>
            <a:rPr lang="en-US" sz="5500" kern="1200"/>
            <a:t>Non – Communicable disease</a:t>
          </a:r>
        </a:p>
      </dsp:txBody>
      <dsp:txXfrm>
        <a:off x="0" y="0"/>
        <a:ext cx="6589260" cy="2621996"/>
      </dsp:txXfrm>
    </dsp:sp>
    <dsp:sp modelId="{16BB20D5-1522-44E8-A509-1568536FB31A}">
      <dsp:nvSpPr>
        <dsp:cNvPr id="0" name=""/>
        <dsp:cNvSpPr/>
      </dsp:nvSpPr>
      <dsp:spPr>
        <a:xfrm>
          <a:off x="0" y="2621996"/>
          <a:ext cx="6589260"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7BEC80-01D6-448F-A0B4-3714B297CEB4}">
      <dsp:nvSpPr>
        <dsp:cNvPr id="0" name=""/>
        <dsp:cNvSpPr/>
      </dsp:nvSpPr>
      <dsp:spPr>
        <a:xfrm>
          <a:off x="0" y="2621996"/>
          <a:ext cx="6589260" cy="2621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0" tIns="209550" rIns="209550" bIns="209550" numCol="1" spcCol="1270" anchor="t" anchorCtr="0">
          <a:noAutofit/>
        </a:bodyPr>
        <a:lstStyle/>
        <a:p>
          <a:pPr marL="0" lvl="0" indent="0" algn="l" defTabSz="2444750">
            <a:lnSpc>
              <a:spcPct val="90000"/>
            </a:lnSpc>
            <a:spcBef>
              <a:spcPct val="0"/>
            </a:spcBef>
            <a:spcAft>
              <a:spcPct val="35000"/>
            </a:spcAft>
            <a:buNone/>
          </a:pPr>
          <a:r>
            <a:rPr lang="en-US" sz="5500" kern="1200"/>
            <a:t>Due to lifestyle changes</a:t>
          </a:r>
        </a:p>
      </dsp:txBody>
      <dsp:txXfrm>
        <a:off x="0" y="2621996"/>
        <a:ext cx="6589260" cy="26219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A02A5C-06C4-4E4A-AAE7-44842780CEC8}">
      <dsp:nvSpPr>
        <dsp:cNvPr id="0" name=""/>
        <dsp:cNvSpPr/>
      </dsp:nvSpPr>
      <dsp:spPr>
        <a:xfrm>
          <a:off x="0" y="4749842"/>
          <a:ext cx="9166497" cy="11739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b="1" i="0" kern="1200" baseline="0" dirty="0">
              <a:solidFill>
                <a:schemeClr val="tx1"/>
              </a:solidFill>
            </a:rPr>
            <a:t>Example</a:t>
          </a:r>
          <a:r>
            <a:rPr lang="en-US" sz="1800" b="0" i="0" kern="1200" baseline="0" dirty="0">
              <a:solidFill>
                <a:schemeClr val="tx1"/>
              </a:solidFill>
            </a:rPr>
            <a:t> </a:t>
          </a:r>
          <a:endParaRPr lang="en-US" sz="1800" kern="1200" dirty="0">
            <a:solidFill>
              <a:schemeClr val="tx1"/>
            </a:solidFill>
          </a:endParaRPr>
        </a:p>
      </dsp:txBody>
      <dsp:txXfrm>
        <a:off x="0" y="4749842"/>
        <a:ext cx="9166497" cy="633951"/>
      </dsp:txXfrm>
    </dsp:sp>
    <dsp:sp modelId="{1E89B35B-D91B-4B34-883B-79CC0730FAA5}">
      <dsp:nvSpPr>
        <dsp:cNvPr id="0" name=""/>
        <dsp:cNvSpPr/>
      </dsp:nvSpPr>
      <dsp:spPr>
        <a:xfrm>
          <a:off x="0" y="5130276"/>
          <a:ext cx="9166497" cy="1000108"/>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b="0" i="0" kern="1200" baseline="0" dirty="0">
              <a:solidFill>
                <a:schemeClr val="tx1"/>
              </a:solidFill>
            </a:rPr>
            <a:t>The “time-clustering” of cases of adenocarcinoma of vagina in young women led to the incrimination of its cause, viz. </a:t>
          </a:r>
          <a:r>
            <a:rPr lang="en-US" sz="2000" b="0" i="1" kern="1200" baseline="0" dirty="0">
              <a:solidFill>
                <a:schemeClr val="tx1"/>
              </a:solidFill>
            </a:rPr>
            <a:t>in utero </a:t>
          </a:r>
          <a:r>
            <a:rPr lang="en-US" sz="2000" b="0" i="0" kern="1200" baseline="0" dirty="0">
              <a:solidFill>
                <a:schemeClr val="tx1"/>
              </a:solidFill>
            </a:rPr>
            <a:t>exposure to diethylstilbestrol.</a:t>
          </a:r>
          <a:endParaRPr lang="en-US" sz="2000" kern="1200" dirty="0">
            <a:solidFill>
              <a:schemeClr val="tx1"/>
            </a:solidFill>
          </a:endParaRPr>
        </a:p>
      </dsp:txBody>
      <dsp:txXfrm>
        <a:off x="0" y="5130276"/>
        <a:ext cx="9166497" cy="1000108"/>
      </dsp:txXfrm>
    </dsp:sp>
    <dsp:sp modelId="{FFCF619D-4AB9-4F5F-A48E-2148C74DB2A2}">
      <dsp:nvSpPr>
        <dsp:cNvPr id="0" name=""/>
        <dsp:cNvSpPr/>
      </dsp:nvSpPr>
      <dsp:spPr>
        <a:xfrm rot="10800000">
          <a:off x="0" y="1791065"/>
          <a:ext cx="9166497" cy="2976386"/>
        </a:xfrm>
        <a:prstGeom prst="upArrowCallout">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a:solidFill>
                <a:schemeClr val="tx1"/>
              </a:solidFill>
            </a:rPr>
            <a:t>He tries to formulate </a:t>
          </a:r>
          <a:r>
            <a:rPr lang="en-US" sz="2400" b="0" i="0" kern="1200" baseline="0" dirty="0" err="1">
              <a:solidFill>
                <a:schemeClr val="tx1"/>
              </a:solidFill>
            </a:rPr>
            <a:t>aetiological</a:t>
          </a:r>
          <a:r>
            <a:rPr lang="en-US" sz="2400" b="0" i="0" kern="1200" baseline="0" dirty="0">
              <a:solidFill>
                <a:schemeClr val="tx1"/>
              </a:solidFill>
            </a:rPr>
            <a:t> hypotheses and seeks explanations whether these changes were due to changes in the </a:t>
          </a:r>
          <a:r>
            <a:rPr lang="en-US" sz="2400" b="0" i="0" kern="1200" baseline="0" dirty="0" err="1">
              <a:solidFill>
                <a:schemeClr val="tx1"/>
              </a:solidFill>
            </a:rPr>
            <a:t>aetiological</a:t>
          </a:r>
          <a:r>
            <a:rPr lang="en-US" sz="2400" b="0" i="0" kern="1200" baseline="0" dirty="0">
              <a:solidFill>
                <a:schemeClr val="tx1"/>
              </a:solidFill>
            </a:rPr>
            <a:t> agent or variations in diagnosis, reporting, case fatality or changes in age distribution, or some other determinants, specific and non-specific (e.g., changes in quality of life, socio-economic status and personal habits).</a:t>
          </a:r>
          <a:endParaRPr lang="en-US" sz="2400" kern="1200" dirty="0">
            <a:solidFill>
              <a:schemeClr val="tx1"/>
            </a:solidFill>
          </a:endParaRPr>
        </a:p>
      </dsp:txBody>
      <dsp:txXfrm rot="10800000">
        <a:off x="0" y="1791065"/>
        <a:ext cx="9166497" cy="1933966"/>
      </dsp:txXfrm>
    </dsp:sp>
    <dsp:sp modelId="{C39AC8BC-A051-46E6-B590-AA8E079684EE}">
      <dsp:nvSpPr>
        <dsp:cNvPr id="0" name=""/>
        <dsp:cNvSpPr/>
      </dsp:nvSpPr>
      <dsp:spPr>
        <a:xfrm rot="10800000">
          <a:off x="0" y="2255"/>
          <a:ext cx="9166497" cy="1805588"/>
        </a:xfrm>
        <a:prstGeom prst="upArrowCallout">
          <a:avLst/>
        </a:prstGeom>
        <a:solidFill>
          <a:schemeClr val="accent6">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a:solidFill>
                <a:schemeClr val="tx1"/>
              </a:solidFill>
            </a:rPr>
            <a:t>Which diseases are Increasing, which decreasing, and which are the emerging health problems and of the effectiveness of measures to control old ones</a:t>
          </a:r>
          <a:r>
            <a:rPr lang="en-US" sz="2400" b="0" i="1" kern="1200" baseline="0" dirty="0">
              <a:solidFill>
                <a:schemeClr val="tx1"/>
              </a:solidFill>
            </a:rPr>
            <a:t>. </a:t>
          </a:r>
          <a:endParaRPr lang="en-US" sz="2400" kern="1200" dirty="0">
            <a:solidFill>
              <a:schemeClr val="tx1"/>
            </a:solidFill>
          </a:endParaRPr>
        </a:p>
      </dsp:txBody>
      <dsp:txXfrm rot="10800000">
        <a:off x="0" y="2255"/>
        <a:ext cx="9166497" cy="117321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5E21-1B64-3797-5A8F-07D075672A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37BD75-8B7C-C6B3-5715-9CD5E76B96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010F84-AC2F-42BD-D253-FCE3F953B9DF}"/>
              </a:ext>
            </a:extLst>
          </p:cNvPr>
          <p:cNvSpPr>
            <a:spLocks noGrp="1"/>
          </p:cNvSpPr>
          <p:nvPr>
            <p:ph type="dt" sz="half" idx="10"/>
          </p:nvPr>
        </p:nvSpPr>
        <p:spPr/>
        <p:txBody>
          <a:bodyPr/>
          <a:lstStyle/>
          <a:p>
            <a:fld id="{92CE0982-40BB-448B-8F97-981D834DAEB7}" type="datetimeFigureOut">
              <a:rPr lang="en-US" smtClean="0"/>
              <a:t>4/17/2024</a:t>
            </a:fld>
            <a:endParaRPr lang="en-US"/>
          </a:p>
        </p:txBody>
      </p:sp>
      <p:sp>
        <p:nvSpPr>
          <p:cNvPr id="5" name="Footer Placeholder 4">
            <a:extLst>
              <a:ext uri="{FF2B5EF4-FFF2-40B4-BE49-F238E27FC236}">
                <a16:creationId xmlns:a16="http://schemas.microsoft.com/office/drawing/2014/main" id="{C98AA973-D779-DC23-CD78-23BDB8A77B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71123A-9848-0A6C-8EB1-32597B1DB97E}"/>
              </a:ext>
            </a:extLst>
          </p:cNvPr>
          <p:cNvSpPr>
            <a:spLocks noGrp="1"/>
          </p:cNvSpPr>
          <p:nvPr>
            <p:ph type="sldNum" sz="quarter" idx="12"/>
          </p:nvPr>
        </p:nvSpPr>
        <p:spPr/>
        <p:txBody>
          <a:bodyPr/>
          <a:lstStyle/>
          <a:p>
            <a:fld id="{9A6D6E51-3606-43F3-93E3-DF58554E6656}" type="slidenum">
              <a:rPr lang="en-US" smtClean="0"/>
              <a:t>‹#›</a:t>
            </a:fld>
            <a:endParaRPr lang="en-US"/>
          </a:p>
        </p:txBody>
      </p:sp>
    </p:spTree>
    <p:extLst>
      <p:ext uri="{BB962C8B-B14F-4D97-AF65-F5344CB8AC3E}">
        <p14:creationId xmlns:p14="http://schemas.microsoft.com/office/powerpoint/2010/main" val="3330141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3127C-A497-5722-8DDB-0AFF126FE4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13BF8D-1919-1184-CF98-98D4AD4305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3F440B-CDE9-FB3D-D267-C479065D0FF2}"/>
              </a:ext>
            </a:extLst>
          </p:cNvPr>
          <p:cNvSpPr>
            <a:spLocks noGrp="1"/>
          </p:cNvSpPr>
          <p:nvPr>
            <p:ph type="dt" sz="half" idx="10"/>
          </p:nvPr>
        </p:nvSpPr>
        <p:spPr/>
        <p:txBody>
          <a:bodyPr/>
          <a:lstStyle/>
          <a:p>
            <a:fld id="{92CE0982-40BB-448B-8F97-981D834DAEB7}" type="datetimeFigureOut">
              <a:rPr lang="en-US" smtClean="0"/>
              <a:t>4/17/2024</a:t>
            </a:fld>
            <a:endParaRPr lang="en-US"/>
          </a:p>
        </p:txBody>
      </p:sp>
      <p:sp>
        <p:nvSpPr>
          <p:cNvPr id="5" name="Footer Placeholder 4">
            <a:extLst>
              <a:ext uri="{FF2B5EF4-FFF2-40B4-BE49-F238E27FC236}">
                <a16:creationId xmlns:a16="http://schemas.microsoft.com/office/drawing/2014/main" id="{A37D62B1-190B-EB1A-83B6-2E941674CB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BEE1FE-1B30-9A34-24B4-E7C16C025850}"/>
              </a:ext>
            </a:extLst>
          </p:cNvPr>
          <p:cNvSpPr>
            <a:spLocks noGrp="1"/>
          </p:cNvSpPr>
          <p:nvPr>
            <p:ph type="sldNum" sz="quarter" idx="12"/>
          </p:nvPr>
        </p:nvSpPr>
        <p:spPr/>
        <p:txBody>
          <a:bodyPr/>
          <a:lstStyle/>
          <a:p>
            <a:fld id="{9A6D6E51-3606-43F3-93E3-DF58554E6656}" type="slidenum">
              <a:rPr lang="en-US" smtClean="0"/>
              <a:t>‹#›</a:t>
            </a:fld>
            <a:endParaRPr lang="en-US"/>
          </a:p>
        </p:txBody>
      </p:sp>
    </p:spTree>
    <p:extLst>
      <p:ext uri="{BB962C8B-B14F-4D97-AF65-F5344CB8AC3E}">
        <p14:creationId xmlns:p14="http://schemas.microsoft.com/office/powerpoint/2010/main" val="2711261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D7406-1591-7CD2-969D-BDB29D1719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A1852E7-E8C9-645C-AF68-27D2BC739C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C04028-AC58-6AFF-6E5C-DA85863FDCE0}"/>
              </a:ext>
            </a:extLst>
          </p:cNvPr>
          <p:cNvSpPr>
            <a:spLocks noGrp="1"/>
          </p:cNvSpPr>
          <p:nvPr>
            <p:ph type="dt" sz="half" idx="10"/>
          </p:nvPr>
        </p:nvSpPr>
        <p:spPr/>
        <p:txBody>
          <a:bodyPr/>
          <a:lstStyle/>
          <a:p>
            <a:fld id="{92CE0982-40BB-448B-8F97-981D834DAEB7}" type="datetimeFigureOut">
              <a:rPr lang="en-US" smtClean="0"/>
              <a:t>4/17/2024</a:t>
            </a:fld>
            <a:endParaRPr lang="en-US"/>
          </a:p>
        </p:txBody>
      </p:sp>
      <p:sp>
        <p:nvSpPr>
          <p:cNvPr id="5" name="Footer Placeholder 4">
            <a:extLst>
              <a:ext uri="{FF2B5EF4-FFF2-40B4-BE49-F238E27FC236}">
                <a16:creationId xmlns:a16="http://schemas.microsoft.com/office/drawing/2014/main" id="{FC10FF01-0BF1-7E49-006A-FEFB6FEAF7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1AD86C-E871-E8C3-D800-06A4498C99CF}"/>
              </a:ext>
            </a:extLst>
          </p:cNvPr>
          <p:cNvSpPr>
            <a:spLocks noGrp="1"/>
          </p:cNvSpPr>
          <p:nvPr>
            <p:ph type="sldNum" sz="quarter" idx="12"/>
          </p:nvPr>
        </p:nvSpPr>
        <p:spPr/>
        <p:txBody>
          <a:bodyPr/>
          <a:lstStyle/>
          <a:p>
            <a:fld id="{9A6D6E51-3606-43F3-93E3-DF58554E6656}" type="slidenum">
              <a:rPr lang="en-US" smtClean="0"/>
              <a:t>‹#›</a:t>
            </a:fld>
            <a:endParaRPr lang="en-US"/>
          </a:p>
        </p:txBody>
      </p:sp>
    </p:spTree>
    <p:extLst>
      <p:ext uri="{BB962C8B-B14F-4D97-AF65-F5344CB8AC3E}">
        <p14:creationId xmlns:p14="http://schemas.microsoft.com/office/powerpoint/2010/main" val="2123864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623CC-CF5B-F3D1-2868-1FA4E3EE71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CD5AFD-08A5-763F-113D-947C9FF65B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C7A4C40-E4E2-28CA-03C0-67B4660253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DC25D9-738B-CD05-1F36-2AA85B24EB8F}"/>
              </a:ext>
            </a:extLst>
          </p:cNvPr>
          <p:cNvSpPr>
            <a:spLocks noGrp="1"/>
          </p:cNvSpPr>
          <p:nvPr>
            <p:ph type="dt" sz="half" idx="10"/>
          </p:nvPr>
        </p:nvSpPr>
        <p:spPr/>
        <p:txBody>
          <a:bodyPr/>
          <a:lstStyle/>
          <a:p>
            <a:fld id="{92CE0982-40BB-448B-8F97-981D834DAEB7}" type="datetimeFigureOut">
              <a:rPr lang="en-US" smtClean="0"/>
              <a:t>4/17/2024</a:t>
            </a:fld>
            <a:endParaRPr lang="en-US"/>
          </a:p>
        </p:txBody>
      </p:sp>
      <p:sp>
        <p:nvSpPr>
          <p:cNvPr id="6" name="Footer Placeholder 5">
            <a:extLst>
              <a:ext uri="{FF2B5EF4-FFF2-40B4-BE49-F238E27FC236}">
                <a16:creationId xmlns:a16="http://schemas.microsoft.com/office/drawing/2014/main" id="{626A3517-F5B7-270A-3748-EAA77FB438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E75214-5A65-3E53-1E0F-1F4C87373DA9}"/>
              </a:ext>
            </a:extLst>
          </p:cNvPr>
          <p:cNvSpPr>
            <a:spLocks noGrp="1"/>
          </p:cNvSpPr>
          <p:nvPr>
            <p:ph type="sldNum" sz="quarter" idx="12"/>
          </p:nvPr>
        </p:nvSpPr>
        <p:spPr/>
        <p:txBody>
          <a:bodyPr/>
          <a:lstStyle/>
          <a:p>
            <a:fld id="{9A6D6E51-3606-43F3-93E3-DF58554E6656}" type="slidenum">
              <a:rPr lang="en-US" smtClean="0"/>
              <a:t>‹#›</a:t>
            </a:fld>
            <a:endParaRPr lang="en-US"/>
          </a:p>
        </p:txBody>
      </p:sp>
    </p:spTree>
    <p:extLst>
      <p:ext uri="{BB962C8B-B14F-4D97-AF65-F5344CB8AC3E}">
        <p14:creationId xmlns:p14="http://schemas.microsoft.com/office/powerpoint/2010/main" val="2543879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0EBD6-62AC-CE71-8C93-2E210BD0B4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90681B-91B6-0BF0-D847-757B3D77AE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4B8D49-AF8D-DE3F-0EF9-129745C93E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6AA025-5403-C0FD-4616-82F9098BDE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3EA416-CDF9-CAE8-C35A-5DA28985F9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CD15CF-880B-DF85-A46E-864951053A66}"/>
              </a:ext>
            </a:extLst>
          </p:cNvPr>
          <p:cNvSpPr>
            <a:spLocks noGrp="1"/>
          </p:cNvSpPr>
          <p:nvPr>
            <p:ph type="dt" sz="half" idx="10"/>
          </p:nvPr>
        </p:nvSpPr>
        <p:spPr/>
        <p:txBody>
          <a:bodyPr/>
          <a:lstStyle/>
          <a:p>
            <a:fld id="{92CE0982-40BB-448B-8F97-981D834DAEB7}" type="datetimeFigureOut">
              <a:rPr lang="en-US" smtClean="0"/>
              <a:t>4/17/2024</a:t>
            </a:fld>
            <a:endParaRPr lang="en-US"/>
          </a:p>
        </p:txBody>
      </p:sp>
      <p:sp>
        <p:nvSpPr>
          <p:cNvPr id="8" name="Footer Placeholder 7">
            <a:extLst>
              <a:ext uri="{FF2B5EF4-FFF2-40B4-BE49-F238E27FC236}">
                <a16:creationId xmlns:a16="http://schemas.microsoft.com/office/drawing/2014/main" id="{61A34075-FD20-0C0A-20AA-4A14AC9FD63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47AC7A-0170-4444-1E64-AEA8CFB1BBDD}"/>
              </a:ext>
            </a:extLst>
          </p:cNvPr>
          <p:cNvSpPr>
            <a:spLocks noGrp="1"/>
          </p:cNvSpPr>
          <p:nvPr>
            <p:ph type="sldNum" sz="quarter" idx="12"/>
          </p:nvPr>
        </p:nvSpPr>
        <p:spPr/>
        <p:txBody>
          <a:bodyPr/>
          <a:lstStyle/>
          <a:p>
            <a:fld id="{9A6D6E51-3606-43F3-93E3-DF58554E6656}" type="slidenum">
              <a:rPr lang="en-US" smtClean="0"/>
              <a:t>‹#›</a:t>
            </a:fld>
            <a:endParaRPr lang="en-US"/>
          </a:p>
        </p:txBody>
      </p:sp>
    </p:spTree>
    <p:extLst>
      <p:ext uri="{BB962C8B-B14F-4D97-AF65-F5344CB8AC3E}">
        <p14:creationId xmlns:p14="http://schemas.microsoft.com/office/powerpoint/2010/main" val="640862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FB0ED-E026-F164-ECF7-79D38F3381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1DFCF0A-21CA-5B28-56EB-76C9666CADBE}"/>
              </a:ext>
            </a:extLst>
          </p:cNvPr>
          <p:cNvSpPr>
            <a:spLocks noGrp="1"/>
          </p:cNvSpPr>
          <p:nvPr>
            <p:ph type="dt" sz="half" idx="10"/>
          </p:nvPr>
        </p:nvSpPr>
        <p:spPr/>
        <p:txBody>
          <a:bodyPr/>
          <a:lstStyle/>
          <a:p>
            <a:fld id="{92CE0982-40BB-448B-8F97-981D834DAEB7}" type="datetimeFigureOut">
              <a:rPr lang="en-US" smtClean="0"/>
              <a:t>4/17/2024</a:t>
            </a:fld>
            <a:endParaRPr lang="en-US"/>
          </a:p>
        </p:txBody>
      </p:sp>
      <p:sp>
        <p:nvSpPr>
          <p:cNvPr id="4" name="Footer Placeholder 3">
            <a:extLst>
              <a:ext uri="{FF2B5EF4-FFF2-40B4-BE49-F238E27FC236}">
                <a16:creationId xmlns:a16="http://schemas.microsoft.com/office/drawing/2014/main" id="{76807EF9-BF4E-0A1C-5DB2-E5D72B18AD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1D4D083-FCED-E4DB-592B-0BA7F1B5EC83}"/>
              </a:ext>
            </a:extLst>
          </p:cNvPr>
          <p:cNvSpPr>
            <a:spLocks noGrp="1"/>
          </p:cNvSpPr>
          <p:nvPr>
            <p:ph type="sldNum" sz="quarter" idx="12"/>
          </p:nvPr>
        </p:nvSpPr>
        <p:spPr/>
        <p:txBody>
          <a:bodyPr/>
          <a:lstStyle/>
          <a:p>
            <a:fld id="{9A6D6E51-3606-43F3-93E3-DF58554E6656}" type="slidenum">
              <a:rPr lang="en-US" smtClean="0"/>
              <a:t>‹#›</a:t>
            </a:fld>
            <a:endParaRPr lang="en-US"/>
          </a:p>
        </p:txBody>
      </p:sp>
    </p:spTree>
    <p:extLst>
      <p:ext uri="{BB962C8B-B14F-4D97-AF65-F5344CB8AC3E}">
        <p14:creationId xmlns:p14="http://schemas.microsoft.com/office/powerpoint/2010/main" val="541528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7856F4-E663-FF26-38F1-A6BE9C1D235E}"/>
              </a:ext>
            </a:extLst>
          </p:cNvPr>
          <p:cNvSpPr>
            <a:spLocks noGrp="1"/>
          </p:cNvSpPr>
          <p:nvPr>
            <p:ph type="dt" sz="half" idx="10"/>
          </p:nvPr>
        </p:nvSpPr>
        <p:spPr/>
        <p:txBody>
          <a:bodyPr/>
          <a:lstStyle/>
          <a:p>
            <a:fld id="{92CE0982-40BB-448B-8F97-981D834DAEB7}" type="datetimeFigureOut">
              <a:rPr lang="en-US" smtClean="0"/>
              <a:t>4/17/2024</a:t>
            </a:fld>
            <a:endParaRPr lang="en-US"/>
          </a:p>
        </p:txBody>
      </p:sp>
      <p:sp>
        <p:nvSpPr>
          <p:cNvPr id="3" name="Footer Placeholder 2">
            <a:extLst>
              <a:ext uri="{FF2B5EF4-FFF2-40B4-BE49-F238E27FC236}">
                <a16:creationId xmlns:a16="http://schemas.microsoft.com/office/drawing/2014/main" id="{E07E9849-41FF-2EA6-2CCD-B3591F54F2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E9890D-D259-7C0F-63F1-33FFC9B64813}"/>
              </a:ext>
            </a:extLst>
          </p:cNvPr>
          <p:cNvSpPr>
            <a:spLocks noGrp="1"/>
          </p:cNvSpPr>
          <p:nvPr>
            <p:ph type="sldNum" sz="quarter" idx="12"/>
          </p:nvPr>
        </p:nvSpPr>
        <p:spPr/>
        <p:txBody>
          <a:bodyPr/>
          <a:lstStyle/>
          <a:p>
            <a:fld id="{9A6D6E51-3606-43F3-93E3-DF58554E6656}" type="slidenum">
              <a:rPr lang="en-US" smtClean="0"/>
              <a:t>‹#›</a:t>
            </a:fld>
            <a:endParaRPr lang="en-US"/>
          </a:p>
        </p:txBody>
      </p:sp>
    </p:spTree>
    <p:extLst>
      <p:ext uri="{BB962C8B-B14F-4D97-AF65-F5344CB8AC3E}">
        <p14:creationId xmlns:p14="http://schemas.microsoft.com/office/powerpoint/2010/main" val="207330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1E1A1-F8D8-B381-FFBF-86C10AE52F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2A0F04-1BEB-525A-B02B-11D8DDE41B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FF69CE-030B-2B5F-88A1-3C69FFC014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93334D-7F71-6612-7C87-685F38A16C67}"/>
              </a:ext>
            </a:extLst>
          </p:cNvPr>
          <p:cNvSpPr>
            <a:spLocks noGrp="1"/>
          </p:cNvSpPr>
          <p:nvPr>
            <p:ph type="dt" sz="half" idx="10"/>
          </p:nvPr>
        </p:nvSpPr>
        <p:spPr/>
        <p:txBody>
          <a:bodyPr/>
          <a:lstStyle/>
          <a:p>
            <a:fld id="{92CE0982-40BB-448B-8F97-981D834DAEB7}" type="datetimeFigureOut">
              <a:rPr lang="en-US" smtClean="0"/>
              <a:t>4/17/2024</a:t>
            </a:fld>
            <a:endParaRPr lang="en-US"/>
          </a:p>
        </p:txBody>
      </p:sp>
      <p:sp>
        <p:nvSpPr>
          <p:cNvPr id="6" name="Footer Placeholder 5">
            <a:extLst>
              <a:ext uri="{FF2B5EF4-FFF2-40B4-BE49-F238E27FC236}">
                <a16:creationId xmlns:a16="http://schemas.microsoft.com/office/drawing/2014/main" id="{FE7DA3E9-392C-C106-35D6-CBA9FAF37C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3100C2-E7F6-7A4D-13A7-968A8CFCD7B6}"/>
              </a:ext>
            </a:extLst>
          </p:cNvPr>
          <p:cNvSpPr>
            <a:spLocks noGrp="1"/>
          </p:cNvSpPr>
          <p:nvPr>
            <p:ph type="sldNum" sz="quarter" idx="12"/>
          </p:nvPr>
        </p:nvSpPr>
        <p:spPr/>
        <p:txBody>
          <a:bodyPr/>
          <a:lstStyle/>
          <a:p>
            <a:fld id="{9A6D6E51-3606-43F3-93E3-DF58554E6656}" type="slidenum">
              <a:rPr lang="en-US" smtClean="0"/>
              <a:t>‹#›</a:t>
            </a:fld>
            <a:endParaRPr lang="en-US"/>
          </a:p>
        </p:txBody>
      </p:sp>
    </p:spTree>
    <p:extLst>
      <p:ext uri="{BB962C8B-B14F-4D97-AF65-F5344CB8AC3E}">
        <p14:creationId xmlns:p14="http://schemas.microsoft.com/office/powerpoint/2010/main" val="126351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0C166-C0BE-A96A-7132-C6B6F7E097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A98D4E-B5DC-5425-7A52-6C3AF9941F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12D3B6-8152-42A9-4060-C8C48ACDFF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DEFE03-0425-96CA-92C6-78FADE5C378A}"/>
              </a:ext>
            </a:extLst>
          </p:cNvPr>
          <p:cNvSpPr>
            <a:spLocks noGrp="1"/>
          </p:cNvSpPr>
          <p:nvPr>
            <p:ph type="dt" sz="half" idx="10"/>
          </p:nvPr>
        </p:nvSpPr>
        <p:spPr/>
        <p:txBody>
          <a:bodyPr/>
          <a:lstStyle/>
          <a:p>
            <a:fld id="{92CE0982-40BB-448B-8F97-981D834DAEB7}" type="datetimeFigureOut">
              <a:rPr lang="en-US" smtClean="0"/>
              <a:t>4/17/2024</a:t>
            </a:fld>
            <a:endParaRPr lang="en-US"/>
          </a:p>
        </p:txBody>
      </p:sp>
      <p:sp>
        <p:nvSpPr>
          <p:cNvPr id="6" name="Footer Placeholder 5">
            <a:extLst>
              <a:ext uri="{FF2B5EF4-FFF2-40B4-BE49-F238E27FC236}">
                <a16:creationId xmlns:a16="http://schemas.microsoft.com/office/drawing/2014/main" id="{7542551E-C16D-9F05-526E-FC303D04D7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081506-8495-8F12-DD27-F886DE3A8697}"/>
              </a:ext>
            </a:extLst>
          </p:cNvPr>
          <p:cNvSpPr>
            <a:spLocks noGrp="1"/>
          </p:cNvSpPr>
          <p:nvPr>
            <p:ph type="sldNum" sz="quarter" idx="12"/>
          </p:nvPr>
        </p:nvSpPr>
        <p:spPr/>
        <p:txBody>
          <a:bodyPr/>
          <a:lstStyle/>
          <a:p>
            <a:fld id="{9A6D6E51-3606-43F3-93E3-DF58554E6656}" type="slidenum">
              <a:rPr lang="en-US" smtClean="0"/>
              <a:t>‹#›</a:t>
            </a:fld>
            <a:endParaRPr lang="en-US"/>
          </a:p>
        </p:txBody>
      </p:sp>
    </p:spTree>
    <p:extLst>
      <p:ext uri="{BB962C8B-B14F-4D97-AF65-F5344CB8AC3E}">
        <p14:creationId xmlns:p14="http://schemas.microsoft.com/office/powerpoint/2010/main" val="3384718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CD205-7F50-30F6-3E1F-325042101B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83E0F3-B07C-6221-5AE8-37F9D43F7C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287C32-F641-71D5-5815-8474805F8C17}"/>
              </a:ext>
            </a:extLst>
          </p:cNvPr>
          <p:cNvSpPr>
            <a:spLocks noGrp="1"/>
          </p:cNvSpPr>
          <p:nvPr>
            <p:ph type="dt" sz="half" idx="10"/>
          </p:nvPr>
        </p:nvSpPr>
        <p:spPr/>
        <p:txBody>
          <a:bodyPr/>
          <a:lstStyle/>
          <a:p>
            <a:fld id="{92CE0982-40BB-448B-8F97-981D834DAEB7}" type="datetimeFigureOut">
              <a:rPr lang="en-US" smtClean="0"/>
              <a:t>4/17/2024</a:t>
            </a:fld>
            <a:endParaRPr lang="en-US"/>
          </a:p>
        </p:txBody>
      </p:sp>
      <p:sp>
        <p:nvSpPr>
          <p:cNvPr id="5" name="Footer Placeholder 4">
            <a:extLst>
              <a:ext uri="{FF2B5EF4-FFF2-40B4-BE49-F238E27FC236}">
                <a16:creationId xmlns:a16="http://schemas.microsoft.com/office/drawing/2014/main" id="{6B63B801-349F-C132-E17D-074B72748A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4F3067-F89F-210F-F1F2-9F7104DE24C3}"/>
              </a:ext>
            </a:extLst>
          </p:cNvPr>
          <p:cNvSpPr>
            <a:spLocks noGrp="1"/>
          </p:cNvSpPr>
          <p:nvPr>
            <p:ph type="sldNum" sz="quarter" idx="12"/>
          </p:nvPr>
        </p:nvSpPr>
        <p:spPr/>
        <p:txBody>
          <a:bodyPr/>
          <a:lstStyle/>
          <a:p>
            <a:fld id="{9A6D6E51-3606-43F3-93E3-DF58554E6656}" type="slidenum">
              <a:rPr lang="en-US" smtClean="0"/>
              <a:t>‹#›</a:t>
            </a:fld>
            <a:endParaRPr lang="en-US"/>
          </a:p>
        </p:txBody>
      </p:sp>
    </p:spTree>
    <p:extLst>
      <p:ext uri="{BB962C8B-B14F-4D97-AF65-F5344CB8AC3E}">
        <p14:creationId xmlns:p14="http://schemas.microsoft.com/office/powerpoint/2010/main" val="1097957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3EA5B2-01E3-5FFA-D186-A8DE5585F0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1D73DF-79D9-77CD-623C-989FA3E545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73AEBA-EEA7-31B7-F2B9-028D6B449C32}"/>
              </a:ext>
            </a:extLst>
          </p:cNvPr>
          <p:cNvSpPr>
            <a:spLocks noGrp="1"/>
          </p:cNvSpPr>
          <p:nvPr>
            <p:ph type="dt" sz="half" idx="10"/>
          </p:nvPr>
        </p:nvSpPr>
        <p:spPr/>
        <p:txBody>
          <a:bodyPr/>
          <a:lstStyle/>
          <a:p>
            <a:fld id="{92CE0982-40BB-448B-8F97-981D834DAEB7}" type="datetimeFigureOut">
              <a:rPr lang="en-US" smtClean="0"/>
              <a:t>4/17/2024</a:t>
            </a:fld>
            <a:endParaRPr lang="en-US"/>
          </a:p>
        </p:txBody>
      </p:sp>
      <p:sp>
        <p:nvSpPr>
          <p:cNvPr id="5" name="Footer Placeholder 4">
            <a:extLst>
              <a:ext uri="{FF2B5EF4-FFF2-40B4-BE49-F238E27FC236}">
                <a16:creationId xmlns:a16="http://schemas.microsoft.com/office/drawing/2014/main" id="{ECA30318-D90F-432A-2105-5B5C145AD7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2146CF-A34B-2571-35D5-EBCDD1FA99F5}"/>
              </a:ext>
            </a:extLst>
          </p:cNvPr>
          <p:cNvSpPr>
            <a:spLocks noGrp="1"/>
          </p:cNvSpPr>
          <p:nvPr>
            <p:ph type="sldNum" sz="quarter" idx="12"/>
          </p:nvPr>
        </p:nvSpPr>
        <p:spPr/>
        <p:txBody>
          <a:bodyPr/>
          <a:lstStyle/>
          <a:p>
            <a:fld id="{9A6D6E51-3606-43F3-93E3-DF58554E6656}" type="slidenum">
              <a:rPr lang="en-US" smtClean="0"/>
              <a:t>‹#›</a:t>
            </a:fld>
            <a:endParaRPr lang="en-US"/>
          </a:p>
        </p:txBody>
      </p:sp>
    </p:spTree>
    <p:extLst>
      <p:ext uri="{BB962C8B-B14F-4D97-AF65-F5344CB8AC3E}">
        <p14:creationId xmlns:p14="http://schemas.microsoft.com/office/powerpoint/2010/main" val="2686472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66CE71-F87F-4706-EC2A-360CB46B00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9FBB60-1DDC-916D-BBB9-6E8862559D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C4E261-2803-4634-0341-0271594B33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CE0982-40BB-448B-8F97-981D834DAEB7}" type="datetimeFigureOut">
              <a:rPr lang="en-US" smtClean="0"/>
              <a:t>4/17/2024</a:t>
            </a:fld>
            <a:endParaRPr lang="en-US"/>
          </a:p>
        </p:txBody>
      </p:sp>
      <p:sp>
        <p:nvSpPr>
          <p:cNvPr id="5" name="Footer Placeholder 4">
            <a:extLst>
              <a:ext uri="{FF2B5EF4-FFF2-40B4-BE49-F238E27FC236}">
                <a16:creationId xmlns:a16="http://schemas.microsoft.com/office/drawing/2014/main" id="{8076E7B7-7D57-B999-4056-1D19ED9458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9A74AD2-47AA-CA4F-A7F3-A307BF4DE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6D6E51-3606-43F3-93E3-DF58554E6656}" type="slidenum">
              <a:rPr lang="en-US" smtClean="0"/>
              <a:t>‹#›</a:t>
            </a:fld>
            <a:endParaRPr lang="en-US"/>
          </a:p>
        </p:txBody>
      </p:sp>
    </p:spTree>
    <p:extLst>
      <p:ext uri="{BB962C8B-B14F-4D97-AF65-F5344CB8AC3E}">
        <p14:creationId xmlns:p14="http://schemas.microsoft.com/office/powerpoint/2010/main" val="2112577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7845E1-740A-41D3-F746-CD6703460D45}"/>
              </a:ext>
            </a:extLst>
          </p:cNvPr>
          <p:cNvSpPr>
            <a:spLocks noGrp="1"/>
          </p:cNvSpPr>
          <p:nvPr>
            <p:ph type="title"/>
          </p:nvPr>
        </p:nvSpPr>
        <p:spPr>
          <a:xfrm>
            <a:off x="970908" y="1220919"/>
            <a:ext cx="5425781" cy="2387600"/>
          </a:xfrm>
        </p:spPr>
        <p:txBody>
          <a:bodyPr vert="horz" lIns="91440" tIns="45720" rIns="91440" bIns="45720" rtlCol="0" anchor="b">
            <a:normAutofit/>
          </a:bodyPr>
          <a:lstStyle/>
          <a:p>
            <a:r>
              <a:rPr lang="en-US" sz="6000" kern="1200">
                <a:solidFill>
                  <a:schemeClr val="tx1"/>
                </a:solidFill>
                <a:latin typeface="+mj-lt"/>
                <a:ea typeface="+mj-ea"/>
                <a:cs typeface="+mj-cs"/>
              </a:rPr>
              <a:t>Descriptive epidemiology</a:t>
            </a:r>
          </a:p>
        </p:txBody>
      </p:sp>
      <p:sp>
        <p:nvSpPr>
          <p:cNvPr id="20" name="Freeform: Shape 19">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Oval 21">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Block Arc 23">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Freeform: Shape 25">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28" name="Straight Connector 27">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2" name="Arc 31">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9137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F3280565-B52B-8DB4-D8B5-B841C49B25D1}"/>
              </a:ext>
            </a:extLst>
          </p:cNvPr>
          <p:cNvPicPr>
            <a:picLocks noGrp="1" noChangeAspect="1"/>
          </p:cNvPicPr>
          <p:nvPr>
            <p:ph idx="1"/>
          </p:nvPr>
        </p:nvPicPr>
        <p:blipFill rotWithShape="1">
          <a:blip r:embed="rId2">
            <a:alphaModFix/>
          </a:blip>
          <a:srcRect t="4657" r="-1" b="-1"/>
          <a:stretch/>
        </p:blipFill>
        <p:spPr>
          <a:xfrm>
            <a:off x="-2988" y="10"/>
            <a:ext cx="12188952" cy="6856614"/>
          </a:xfrm>
          <a:prstGeom prst="rect">
            <a:avLst/>
          </a:prstGeom>
        </p:spPr>
      </p:pic>
      <p:sp>
        <p:nvSpPr>
          <p:cNvPr id="4" name="Slide Number Placeholder 3">
            <a:extLst>
              <a:ext uri="{FF2B5EF4-FFF2-40B4-BE49-F238E27FC236}">
                <a16:creationId xmlns:a16="http://schemas.microsoft.com/office/drawing/2014/main" id="{3D138630-6275-765C-17C1-A764750F6EC9}"/>
              </a:ext>
            </a:extLst>
          </p:cNvPr>
          <p:cNvSpPr>
            <a:spLocks noGrp="1"/>
          </p:cNvSpPr>
          <p:nvPr>
            <p:ph type="sldNum" sz="quarter" idx="12"/>
          </p:nvPr>
        </p:nvSpPr>
        <p:spPr>
          <a:xfrm>
            <a:off x="8610600" y="6324600"/>
            <a:ext cx="2743200" cy="365125"/>
          </a:xfrm>
        </p:spPr>
        <p:txBody>
          <a:bodyPr vert="horz" lIns="91440" tIns="45720" rIns="91440" bIns="45720" rtlCol="0" anchor="ctr">
            <a:normAutofit/>
          </a:bodyPr>
          <a:lstStyle/>
          <a:p>
            <a:pPr>
              <a:spcAft>
                <a:spcPts val="600"/>
              </a:spcAft>
            </a:pPr>
            <a:fld id="{73B850FF-6169-4056-8077-06FFA93A5366}" type="slidenum">
              <a:rPr lang="en-US">
                <a:solidFill>
                  <a:srgbClr val="FFFFFF"/>
                </a:solidFill>
              </a:rPr>
              <a:pPr>
                <a:spcAft>
                  <a:spcPts val="600"/>
                </a:spcAft>
              </a:pPr>
              <a:t>2</a:t>
            </a:fld>
            <a:endParaRPr lang="en-US">
              <a:solidFill>
                <a:srgbClr val="FFFFFF"/>
              </a:solidFill>
            </a:endParaRPr>
          </a:p>
        </p:txBody>
      </p:sp>
    </p:spTree>
    <p:extLst>
      <p:ext uri="{BB962C8B-B14F-4D97-AF65-F5344CB8AC3E}">
        <p14:creationId xmlns:p14="http://schemas.microsoft.com/office/powerpoint/2010/main" val="698135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686834" y="1153572"/>
            <a:ext cx="3200400" cy="4461163"/>
          </a:xfrm>
        </p:spPr>
        <p:txBody>
          <a:bodyPr>
            <a:normAutofit/>
          </a:bodyPr>
          <a:lstStyle/>
          <a:p>
            <a:r>
              <a:rPr lang="en-US" dirty="0">
                <a:solidFill>
                  <a:srgbClr val="FFFFFF"/>
                </a:solidFill>
                <a:cs typeface="Calibri"/>
              </a:rPr>
              <a:t>MCQ - 1</a:t>
            </a:r>
            <a:endParaRPr lang="en-US" dirty="0">
              <a:solidFill>
                <a:srgbClr val="FFFFFF"/>
              </a:solidFill>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p:cNvSpPr>
            <a:spLocks noGrp="1"/>
          </p:cNvSpPr>
          <p:nvPr>
            <p:ph idx="1"/>
          </p:nvPr>
        </p:nvSpPr>
        <p:spPr>
          <a:xfrm>
            <a:off x="4447308" y="591344"/>
            <a:ext cx="6906491" cy="5585619"/>
          </a:xfrm>
        </p:spPr>
        <p:txBody>
          <a:bodyPr vert="horz" lIns="91440" tIns="45720" rIns="91440" bIns="45720" rtlCol="0" anchor="ctr">
            <a:normAutofit/>
          </a:bodyPr>
          <a:lstStyle/>
          <a:p>
            <a:pPr>
              <a:buNone/>
            </a:pPr>
            <a:endParaRPr lang="en-IN">
              <a:latin typeface="Times New Roman"/>
              <a:cs typeface="Times New Roman"/>
            </a:endParaRPr>
          </a:p>
          <a:p>
            <a:pPr>
              <a:buNone/>
            </a:pPr>
            <a:r>
              <a:rPr lang="en-IN">
                <a:latin typeface="Times New Roman"/>
                <a:cs typeface="Times New Roman"/>
              </a:rPr>
              <a:t>Which is true about DALY?</a:t>
            </a:r>
            <a:endParaRPr lang="en-IN" dirty="0"/>
          </a:p>
          <a:p>
            <a:pPr marL="914400" lvl="1" indent="-514350">
              <a:buAutoNum type="alphaLcPeriod"/>
            </a:pPr>
            <a:r>
              <a:rPr lang="en-IN">
                <a:latin typeface="Times New Roman"/>
                <a:cs typeface="Times New Roman"/>
              </a:rPr>
              <a:t>Life is adjusted for disease</a:t>
            </a:r>
            <a:endParaRPr lang="en-US">
              <a:latin typeface="Times New Roman"/>
              <a:cs typeface="Times New Roman"/>
            </a:endParaRPr>
          </a:p>
          <a:p>
            <a:pPr marL="914400" lvl="1" indent="-514350">
              <a:buAutoNum type="alphaLcPeriod"/>
            </a:pPr>
            <a:r>
              <a:rPr lang="en-IN">
                <a:latin typeface="Times New Roman"/>
                <a:cs typeface="Times New Roman"/>
              </a:rPr>
              <a:t>Premature death is adjusted for disability</a:t>
            </a:r>
            <a:endParaRPr lang="en-US">
              <a:latin typeface="Times New Roman"/>
              <a:cs typeface="Times New Roman"/>
            </a:endParaRPr>
          </a:p>
          <a:p>
            <a:pPr marL="914400" lvl="1" indent="-514350">
              <a:buAutoNum type="alphaLcPeriod"/>
            </a:pPr>
            <a:r>
              <a:rPr lang="en-IN">
                <a:latin typeface="Times New Roman"/>
                <a:cs typeface="Times New Roman"/>
              </a:rPr>
              <a:t>Life expectancy free of disability</a:t>
            </a:r>
            <a:endParaRPr lang="en-US">
              <a:latin typeface="Times New Roman"/>
              <a:cs typeface="Times New Roman"/>
            </a:endParaRPr>
          </a:p>
          <a:p>
            <a:pPr marL="914400" lvl="1" indent="-514350">
              <a:buAutoNum type="alphaLcPeriod"/>
            </a:pPr>
            <a:r>
              <a:rPr lang="en-IN">
                <a:latin typeface="Times New Roman"/>
                <a:cs typeface="Times New Roman"/>
              </a:rPr>
              <a:t>Years lost to premature death and years lived with disability adjusted for severity of disability</a:t>
            </a:r>
            <a:endParaRPr lang="en-US">
              <a:latin typeface="Times New Roman"/>
              <a:cs typeface="Times New Roman"/>
            </a:endParaRPr>
          </a:p>
        </p:txBody>
      </p:sp>
    </p:spTree>
    <p:extLst>
      <p:ext uri="{BB962C8B-B14F-4D97-AF65-F5344CB8AC3E}">
        <p14:creationId xmlns:p14="http://schemas.microsoft.com/office/powerpoint/2010/main" val="2199757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686834" y="1153572"/>
            <a:ext cx="3200400" cy="4461163"/>
          </a:xfrm>
        </p:spPr>
        <p:txBody>
          <a:bodyPr>
            <a:normAutofit/>
          </a:bodyPr>
          <a:lstStyle/>
          <a:p>
            <a:r>
              <a:rPr lang="en-US" dirty="0">
                <a:solidFill>
                  <a:srgbClr val="FFFFFF"/>
                </a:solidFill>
                <a:cs typeface="Calibri"/>
              </a:rPr>
              <a:t>MCQ - 2</a:t>
            </a:r>
            <a:endParaRPr lang="en-US" dirty="0">
              <a:solidFill>
                <a:srgbClr val="FFFFFF"/>
              </a:solidFill>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p:cNvSpPr>
            <a:spLocks noGrp="1"/>
          </p:cNvSpPr>
          <p:nvPr>
            <p:ph idx="1"/>
          </p:nvPr>
        </p:nvSpPr>
        <p:spPr>
          <a:xfrm>
            <a:off x="4447308" y="591344"/>
            <a:ext cx="6906491" cy="5585619"/>
          </a:xfrm>
        </p:spPr>
        <p:txBody>
          <a:bodyPr vert="horz" lIns="91440" tIns="45720" rIns="91440" bIns="45720" rtlCol="0" anchor="ctr">
            <a:normAutofit/>
          </a:bodyPr>
          <a:lstStyle/>
          <a:p>
            <a:pPr>
              <a:buNone/>
            </a:pPr>
            <a:r>
              <a:rPr lang="en-IN" dirty="0">
                <a:latin typeface="Times New Roman"/>
                <a:cs typeface="Times New Roman"/>
              </a:rPr>
              <a:t>Which is the best index for burden of disease?</a:t>
            </a:r>
            <a:endParaRPr lang="en-US" dirty="0"/>
          </a:p>
          <a:p>
            <a:pPr marL="914400" lvl="1" indent="-514350">
              <a:buAutoNum type="alphaLcPeriod"/>
            </a:pPr>
            <a:r>
              <a:rPr lang="en-IN" dirty="0">
                <a:latin typeface="Times New Roman"/>
                <a:cs typeface="Times New Roman"/>
              </a:rPr>
              <a:t>Case Fatality Rate</a:t>
            </a:r>
            <a:endParaRPr lang="en-IN">
              <a:latin typeface="Times New Roman"/>
              <a:cs typeface="Times New Roman"/>
            </a:endParaRPr>
          </a:p>
          <a:p>
            <a:pPr marL="914400" lvl="1" indent="-514350">
              <a:buAutoNum type="alphaLcPeriod"/>
            </a:pPr>
            <a:r>
              <a:rPr lang="en-IN" dirty="0">
                <a:latin typeface="Times New Roman"/>
                <a:cs typeface="Times New Roman"/>
              </a:rPr>
              <a:t>Disability adjusted life years</a:t>
            </a:r>
            <a:endParaRPr lang="en-IN">
              <a:latin typeface="Times New Roman"/>
              <a:cs typeface="Times New Roman"/>
            </a:endParaRPr>
          </a:p>
          <a:p>
            <a:pPr marL="914400" lvl="1" indent="-514350">
              <a:buAutoNum type="alphaLcPeriod"/>
            </a:pPr>
            <a:r>
              <a:rPr lang="en-IN" dirty="0">
                <a:latin typeface="Times New Roman"/>
                <a:cs typeface="Times New Roman"/>
              </a:rPr>
              <a:t>Dependency Ratio</a:t>
            </a:r>
            <a:endParaRPr lang="en-US">
              <a:latin typeface="Times New Roman"/>
              <a:cs typeface="Times New Roman"/>
            </a:endParaRPr>
          </a:p>
          <a:p>
            <a:pPr marL="914400" lvl="1" indent="-514350">
              <a:buAutoNum type="alphaLcPeriod"/>
            </a:pPr>
            <a:r>
              <a:rPr lang="en-IN" dirty="0">
                <a:latin typeface="Times New Roman"/>
                <a:cs typeface="Times New Roman"/>
              </a:rPr>
              <a:t>Morbidity data</a:t>
            </a:r>
            <a:endParaRPr lang="en-US">
              <a:latin typeface="Times New Roman"/>
              <a:cs typeface="Times New Roman"/>
            </a:endParaRPr>
          </a:p>
        </p:txBody>
      </p:sp>
    </p:spTree>
    <p:extLst>
      <p:ext uri="{BB962C8B-B14F-4D97-AF65-F5344CB8AC3E}">
        <p14:creationId xmlns:p14="http://schemas.microsoft.com/office/powerpoint/2010/main" val="2112328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686834" y="1153572"/>
            <a:ext cx="3200400" cy="4461163"/>
          </a:xfrm>
        </p:spPr>
        <p:txBody>
          <a:bodyPr>
            <a:normAutofit/>
          </a:bodyPr>
          <a:lstStyle/>
          <a:p>
            <a:r>
              <a:rPr lang="en-US" dirty="0">
                <a:solidFill>
                  <a:srgbClr val="FFFFFF"/>
                </a:solidFill>
                <a:cs typeface="Calibri"/>
              </a:rPr>
              <a:t>MCQ - 3</a:t>
            </a:r>
            <a:endParaRPr lang="en-US" dirty="0">
              <a:solidFill>
                <a:srgbClr val="FFFFFF"/>
              </a:solidFill>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p:cNvSpPr>
            <a:spLocks noGrp="1"/>
          </p:cNvSpPr>
          <p:nvPr>
            <p:ph idx="1"/>
          </p:nvPr>
        </p:nvSpPr>
        <p:spPr>
          <a:xfrm>
            <a:off x="4447308" y="591344"/>
            <a:ext cx="6906491" cy="5585619"/>
          </a:xfrm>
        </p:spPr>
        <p:txBody>
          <a:bodyPr vert="horz" lIns="91440" tIns="45720" rIns="91440" bIns="45720" rtlCol="0" anchor="ctr">
            <a:normAutofit/>
          </a:bodyPr>
          <a:lstStyle/>
          <a:p>
            <a:pPr>
              <a:buNone/>
            </a:pPr>
            <a:r>
              <a:rPr lang="en-IN" dirty="0">
                <a:latin typeface="Times New Roman"/>
                <a:cs typeface="Times New Roman"/>
              </a:rPr>
              <a:t>A party was attended by 110 people. Out of which 40 did not eat fruit salad. From the rest who ate fruit salad,55 developed food poisoning. What is the Attack Rate?</a:t>
            </a:r>
            <a:endParaRPr lang="en-US">
              <a:latin typeface="Times New Roman"/>
              <a:cs typeface="Times New Roman"/>
            </a:endParaRPr>
          </a:p>
          <a:p>
            <a:pPr marL="914400" lvl="1" indent="-514350">
              <a:buAutoNum type="alphaLcPeriod"/>
            </a:pPr>
            <a:r>
              <a:rPr lang="en-IN" dirty="0">
                <a:latin typeface="Times New Roman"/>
                <a:cs typeface="Times New Roman"/>
              </a:rPr>
              <a:t>50</a:t>
            </a:r>
            <a:endParaRPr lang="en-IN">
              <a:latin typeface="Times New Roman"/>
              <a:cs typeface="Times New Roman"/>
            </a:endParaRPr>
          </a:p>
          <a:p>
            <a:pPr marL="914400" lvl="1" indent="-514350">
              <a:buAutoNum type="alphaLcPeriod"/>
            </a:pPr>
            <a:r>
              <a:rPr lang="en-IN" dirty="0">
                <a:latin typeface="Times New Roman"/>
                <a:cs typeface="Times New Roman"/>
              </a:rPr>
              <a:t>78</a:t>
            </a:r>
            <a:endParaRPr lang="en-IN">
              <a:latin typeface="Times New Roman"/>
              <a:cs typeface="Times New Roman"/>
            </a:endParaRPr>
          </a:p>
          <a:p>
            <a:pPr marL="914400" lvl="1" indent="-514350">
              <a:buAutoNum type="alphaLcPeriod"/>
            </a:pPr>
            <a:r>
              <a:rPr lang="en-IN" dirty="0">
                <a:latin typeface="Times New Roman"/>
                <a:cs typeface="Times New Roman"/>
              </a:rPr>
              <a:t>56</a:t>
            </a:r>
          </a:p>
          <a:p>
            <a:pPr marL="914400" lvl="1" indent="-514350">
              <a:buAutoNum type="alphaLcPeriod"/>
            </a:pPr>
            <a:r>
              <a:rPr lang="en-IN" dirty="0">
                <a:latin typeface="Times New Roman"/>
                <a:cs typeface="Calibri"/>
              </a:rPr>
              <a:t>46</a:t>
            </a:r>
            <a:endParaRPr lang="en-US">
              <a:latin typeface="Times New Roman"/>
              <a:cs typeface="Times New Roman"/>
            </a:endParaRPr>
          </a:p>
        </p:txBody>
      </p:sp>
    </p:spTree>
    <p:extLst>
      <p:ext uri="{BB962C8B-B14F-4D97-AF65-F5344CB8AC3E}">
        <p14:creationId xmlns:p14="http://schemas.microsoft.com/office/powerpoint/2010/main" val="1342294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686834" y="1153572"/>
            <a:ext cx="3200400" cy="4461163"/>
          </a:xfrm>
        </p:spPr>
        <p:txBody>
          <a:bodyPr>
            <a:normAutofit/>
          </a:bodyPr>
          <a:lstStyle/>
          <a:p>
            <a:r>
              <a:rPr lang="en-US" dirty="0">
                <a:solidFill>
                  <a:srgbClr val="FFFFFF"/>
                </a:solidFill>
                <a:cs typeface="Calibri"/>
              </a:rPr>
              <a:t>MCQ - 4</a:t>
            </a:r>
            <a:endParaRPr lang="en-US" dirty="0">
              <a:solidFill>
                <a:srgbClr val="FFFFFF"/>
              </a:solidFill>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p:cNvSpPr>
            <a:spLocks noGrp="1"/>
          </p:cNvSpPr>
          <p:nvPr>
            <p:ph idx="1"/>
          </p:nvPr>
        </p:nvSpPr>
        <p:spPr>
          <a:xfrm>
            <a:off x="4447308" y="591344"/>
            <a:ext cx="6906491" cy="5585619"/>
          </a:xfrm>
        </p:spPr>
        <p:txBody>
          <a:bodyPr vert="horz" lIns="91440" tIns="45720" rIns="91440" bIns="45720" rtlCol="0" anchor="ctr">
            <a:normAutofit/>
          </a:bodyPr>
          <a:lstStyle/>
          <a:p>
            <a:pPr>
              <a:buNone/>
            </a:pPr>
            <a:r>
              <a:rPr lang="en-IN" dirty="0">
                <a:latin typeface="Times New Roman"/>
                <a:cs typeface="Times New Roman"/>
              </a:rPr>
              <a:t>In population of 5000,number of new cases of TB is 500,old cases in same population are 150.What is the prevalence of TB?</a:t>
            </a:r>
            <a:endParaRPr lang="en-US">
              <a:latin typeface="Times New Roman"/>
              <a:cs typeface="Times New Roman"/>
            </a:endParaRPr>
          </a:p>
          <a:p>
            <a:pPr marL="1371600" lvl="1" indent="-514350">
              <a:buAutoNum type="alphaLcPeriod"/>
            </a:pPr>
            <a:r>
              <a:rPr lang="en-IN">
                <a:latin typeface="Times New Roman"/>
                <a:cs typeface="Times New Roman"/>
              </a:rPr>
              <a:t>9%</a:t>
            </a:r>
            <a:endParaRPr lang="en-US">
              <a:latin typeface="Times New Roman"/>
              <a:cs typeface="Times New Roman"/>
            </a:endParaRPr>
          </a:p>
          <a:p>
            <a:pPr marL="1371600" lvl="1" indent="-514350">
              <a:buAutoNum type="alphaLcPeriod"/>
            </a:pPr>
            <a:r>
              <a:rPr lang="en-IN">
                <a:latin typeface="Times New Roman"/>
                <a:cs typeface="Times New Roman"/>
              </a:rPr>
              <a:t>12%</a:t>
            </a:r>
            <a:endParaRPr lang="en-US">
              <a:latin typeface="Times New Roman"/>
              <a:cs typeface="Times New Roman"/>
            </a:endParaRPr>
          </a:p>
          <a:p>
            <a:pPr marL="1371600" lvl="1" indent="-514350">
              <a:buAutoNum type="alphaLcPeriod"/>
            </a:pPr>
            <a:r>
              <a:rPr lang="en-IN">
                <a:latin typeface="Times New Roman"/>
                <a:cs typeface="Times New Roman"/>
              </a:rPr>
              <a:t>13%</a:t>
            </a:r>
            <a:endParaRPr lang="en-US">
              <a:latin typeface="Times New Roman"/>
              <a:cs typeface="Times New Roman"/>
            </a:endParaRPr>
          </a:p>
          <a:p>
            <a:pPr marL="1371600" lvl="1" indent="-514350">
              <a:buAutoNum type="alphaLcPeriod"/>
            </a:pPr>
            <a:r>
              <a:rPr lang="en-IN" dirty="0">
                <a:latin typeface="Times New Roman"/>
                <a:cs typeface="Times New Roman"/>
              </a:rPr>
              <a:t>18%</a:t>
            </a:r>
            <a:endParaRPr lang="en-US" dirty="0">
              <a:latin typeface="Times New Roman"/>
              <a:cs typeface="Times New Roman"/>
            </a:endParaRPr>
          </a:p>
        </p:txBody>
      </p:sp>
    </p:spTree>
    <p:extLst>
      <p:ext uri="{BB962C8B-B14F-4D97-AF65-F5344CB8AC3E}">
        <p14:creationId xmlns:p14="http://schemas.microsoft.com/office/powerpoint/2010/main" val="3850706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a:solidFill>
                  <a:srgbClr val="FFFFFF"/>
                </a:solidFill>
              </a:rPr>
              <a:t>MCQ - 5</a:t>
            </a:r>
          </a:p>
        </p:txBody>
      </p:sp>
      <p:sp>
        <p:nvSpPr>
          <p:cNvPr id="19" name="Arc 1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pPr>
              <a:buNone/>
            </a:pPr>
            <a:r>
              <a:rPr lang="en-IN"/>
              <a:t>5. Which of the following study design has population as unit of study </a:t>
            </a:r>
          </a:p>
          <a:p>
            <a:pPr lvl="1">
              <a:buNone/>
            </a:pPr>
            <a:r>
              <a:rPr lang="en-IN"/>
              <a:t>a. Case - control</a:t>
            </a:r>
          </a:p>
          <a:p>
            <a:pPr lvl="1">
              <a:buNone/>
            </a:pPr>
            <a:r>
              <a:rPr lang="en-IN"/>
              <a:t>b. Cohort </a:t>
            </a:r>
          </a:p>
          <a:p>
            <a:pPr lvl="1">
              <a:buNone/>
            </a:pPr>
            <a:r>
              <a:rPr lang="en-IN"/>
              <a:t>c. Cross - sectional</a:t>
            </a:r>
          </a:p>
          <a:p>
            <a:pPr lvl="1">
              <a:buNone/>
            </a:pPr>
            <a:r>
              <a:rPr lang="en-IN"/>
              <a:t>d. Ecological study</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rPr>
              <a:t>Steps</a:t>
            </a:r>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479987" y="1323597"/>
            <a:ext cx="9705991" cy="4916490"/>
          </a:xfrm>
        </p:spPr>
        <p:txBody>
          <a:bodyPr anchor="ctr">
            <a:normAutofit/>
          </a:bodyPr>
          <a:lstStyle/>
          <a:p>
            <a:r>
              <a:rPr lang="en-US" sz="2400" strike="sngStrike" dirty="0">
                <a:solidFill>
                  <a:schemeClr val="tx2"/>
                </a:solidFill>
                <a:latin typeface="Times New Roman"/>
                <a:cs typeface="Times New Roman"/>
              </a:rPr>
              <a:t>1. Defining the population to be studied </a:t>
            </a:r>
          </a:p>
          <a:p>
            <a:r>
              <a:rPr lang="en-US" sz="2400" strike="sngStrike" dirty="0">
                <a:solidFill>
                  <a:schemeClr val="tx2"/>
                </a:solidFill>
                <a:latin typeface="Times New Roman"/>
                <a:cs typeface="Times New Roman"/>
              </a:rPr>
              <a:t>2. Defining the disease under study </a:t>
            </a:r>
          </a:p>
          <a:p>
            <a:r>
              <a:rPr lang="en-US" sz="2400" strike="sngStrike" dirty="0">
                <a:solidFill>
                  <a:schemeClr val="tx2"/>
                </a:solidFill>
                <a:latin typeface="Times New Roman"/>
                <a:cs typeface="Times New Roman"/>
              </a:rPr>
              <a:t>3. Describing the disease by </a:t>
            </a:r>
          </a:p>
          <a:p>
            <a:pPr lvl="1"/>
            <a:r>
              <a:rPr lang="en-US" dirty="0">
                <a:solidFill>
                  <a:schemeClr val="tx2"/>
                </a:solidFill>
                <a:latin typeface="Times New Roman"/>
                <a:cs typeface="Times New Roman"/>
              </a:rPr>
              <a:t>a. time </a:t>
            </a:r>
          </a:p>
          <a:p>
            <a:pPr lvl="1"/>
            <a:r>
              <a:rPr lang="en-US" dirty="0">
                <a:solidFill>
                  <a:schemeClr val="tx2"/>
                </a:solidFill>
                <a:latin typeface="Times New Roman"/>
                <a:cs typeface="Times New Roman"/>
              </a:rPr>
              <a:t>b. place </a:t>
            </a:r>
          </a:p>
          <a:p>
            <a:pPr lvl="1"/>
            <a:r>
              <a:rPr lang="en-US" dirty="0">
                <a:solidFill>
                  <a:schemeClr val="tx2"/>
                </a:solidFill>
                <a:latin typeface="Times New Roman"/>
                <a:cs typeface="Times New Roman"/>
              </a:rPr>
              <a:t>c. person </a:t>
            </a:r>
          </a:p>
          <a:p>
            <a:r>
              <a:rPr lang="en-US" sz="2400" dirty="0">
                <a:solidFill>
                  <a:schemeClr val="tx2"/>
                </a:solidFill>
                <a:latin typeface="Times New Roman"/>
                <a:cs typeface="Times New Roman"/>
              </a:rPr>
              <a:t>4. Measurement of disease </a:t>
            </a:r>
          </a:p>
          <a:p>
            <a:r>
              <a:rPr lang="en-US" sz="2400" dirty="0">
                <a:solidFill>
                  <a:schemeClr val="tx2"/>
                </a:solidFill>
                <a:latin typeface="Times New Roman"/>
                <a:cs typeface="Times New Roman"/>
              </a:rPr>
              <a:t>5. Comparing with known indices </a:t>
            </a:r>
          </a:p>
          <a:p>
            <a:r>
              <a:rPr lang="en-US" sz="2400" dirty="0">
                <a:solidFill>
                  <a:schemeClr val="tx2"/>
                </a:solidFill>
                <a:latin typeface="Times New Roman"/>
                <a:cs typeface="Times New Roman"/>
              </a:rPr>
              <a:t>6. Formulation of an </a:t>
            </a:r>
            <a:r>
              <a:rPr lang="en-US" sz="2400" dirty="0" err="1">
                <a:solidFill>
                  <a:schemeClr val="tx2"/>
                </a:solidFill>
                <a:latin typeface="Times New Roman"/>
                <a:cs typeface="Times New Roman"/>
              </a:rPr>
              <a:t>aetiological</a:t>
            </a:r>
            <a:r>
              <a:rPr lang="en-US" sz="2400" dirty="0">
                <a:solidFill>
                  <a:schemeClr val="tx2"/>
                </a:solidFill>
                <a:latin typeface="Times New Roman"/>
                <a:cs typeface="Times New Roman"/>
              </a:rPr>
              <a:t> hypothesis</a:t>
            </a: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8</a:t>
            </a:fld>
            <a:endParaRPr lang="en-US">
              <a:solidFill>
                <a:schemeClr val="tx1">
                  <a:alpha val="60000"/>
                </a:schemeClr>
              </a:solidFill>
            </a:endParaRPr>
          </a:p>
        </p:txBody>
      </p:sp>
    </p:spTree>
    <p:extLst>
      <p:ext uri="{BB962C8B-B14F-4D97-AF65-F5344CB8AC3E}">
        <p14:creationId xmlns:p14="http://schemas.microsoft.com/office/powerpoint/2010/main" val="1757916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latin typeface="Avenir Next LT Pro"/>
                <a:cs typeface="Times New Roman"/>
              </a:rPr>
              <a:t>Time Distribution</a:t>
            </a:r>
            <a:endParaRPr lang="en-US" dirty="0">
              <a:solidFill>
                <a:schemeClr val="tx2"/>
              </a:solidFill>
            </a:endParaRPr>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478550" y="1612343"/>
            <a:ext cx="9709105" cy="4500744"/>
          </a:xfrm>
        </p:spPr>
        <p:txBody>
          <a:bodyPr anchor="ctr">
            <a:noAutofit/>
          </a:bodyPr>
          <a:lstStyle/>
          <a:p>
            <a:pPr>
              <a:lnSpc>
                <a:spcPct val="100000"/>
              </a:lnSpc>
            </a:pPr>
            <a:r>
              <a:rPr lang="en-US" sz="2400" dirty="0">
                <a:solidFill>
                  <a:schemeClr val="tx2"/>
                </a:solidFill>
                <a:latin typeface="Times New Roman"/>
                <a:ea typeface="+mn-lt"/>
                <a:cs typeface="Times New Roman"/>
              </a:rPr>
              <a:t>The pattern of disease may be described by the time of its occurrence, i.e., by week, month, year, the day of the week, hour of onset, etc. </a:t>
            </a:r>
          </a:p>
          <a:p>
            <a:pPr>
              <a:lnSpc>
                <a:spcPct val="100000"/>
              </a:lnSpc>
            </a:pPr>
            <a:r>
              <a:rPr lang="en-US" sz="2400" dirty="0">
                <a:solidFill>
                  <a:schemeClr val="tx2"/>
                </a:solidFill>
                <a:latin typeface="Times New Roman"/>
                <a:ea typeface="+mn-lt"/>
                <a:cs typeface="Times New Roman"/>
              </a:rPr>
              <a:t>It raises questions whether the disease is seasonal in occurrence; whether it shows periodic increase or decrease; or whether it follows a consistent time trend.</a:t>
            </a:r>
            <a:endParaRPr lang="en-US" sz="2400" dirty="0">
              <a:solidFill>
                <a:schemeClr val="tx2"/>
              </a:solidFill>
              <a:latin typeface="Times New Roman"/>
              <a:cs typeface="Times New Roman"/>
            </a:endParaRPr>
          </a:p>
          <a:p>
            <a:pPr>
              <a:lnSpc>
                <a:spcPct val="100000"/>
              </a:lnSpc>
            </a:pPr>
            <a:r>
              <a:rPr lang="en-US" sz="2400" dirty="0">
                <a:solidFill>
                  <a:schemeClr val="tx2"/>
                </a:solidFill>
                <a:latin typeface="Times New Roman"/>
                <a:ea typeface="+mn-lt"/>
                <a:cs typeface="Times New Roman"/>
              </a:rPr>
              <a:t>Such studies may yield important clues about the source or </a:t>
            </a:r>
            <a:r>
              <a:rPr lang="en-US" sz="2400" dirty="0" err="1">
                <a:solidFill>
                  <a:schemeClr val="tx2"/>
                </a:solidFill>
                <a:latin typeface="Times New Roman"/>
                <a:ea typeface="+mn-lt"/>
                <a:cs typeface="Times New Roman"/>
              </a:rPr>
              <a:t>aetiology</a:t>
            </a:r>
            <a:r>
              <a:rPr lang="en-US" sz="2400" dirty="0">
                <a:solidFill>
                  <a:schemeClr val="tx2"/>
                </a:solidFill>
                <a:latin typeface="Times New Roman"/>
                <a:ea typeface="+mn-lt"/>
                <a:cs typeface="Times New Roman"/>
              </a:rPr>
              <a:t> of the disease, thereby suggesting potential preventive measures. </a:t>
            </a:r>
          </a:p>
          <a:p>
            <a:pPr>
              <a:lnSpc>
                <a:spcPct val="100000"/>
              </a:lnSpc>
            </a:pPr>
            <a:r>
              <a:rPr lang="en-US" sz="2400" dirty="0">
                <a:solidFill>
                  <a:schemeClr val="tx2"/>
                </a:solidFill>
                <a:latin typeface="Times New Roman"/>
                <a:ea typeface="+mn-lt"/>
                <a:cs typeface="Times New Roman"/>
              </a:rPr>
              <a:t>Epidemiologists have identified three kinds of time trends or fluctuations in disease occurrence.</a:t>
            </a:r>
          </a:p>
          <a:p>
            <a:pPr lvl="1">
              <a:lnSpc>
                <a:spcPct val="100000"/>
              </a:lnSpc>
            </a:pPr>
            <a:r>
              <a:rPr lang="en-US" dirty="0">
                <a:solidFill>
                  <a:schemeClr val="tx2"/>
                </a:solidFill>
                <a:latin typeface="Times New Roman"/>
                <a:cs typeface="Times New Roman"/>
              </a:rPr>
              <a:t>Short – term fluctuations</a:t>
            </a:r>
          </a:p>
          <a:p>
            <a:pPr lvl="1">
              <a:lnSpc>
                <a:spcPct val="100000"/>
              </a:lnSpc>
            </a:pPr>
            <a:r>
              <a:rPr lang="en-US" dirty="0">
                <a:solidFill>
                  <a:schemeClr val="tx2"/>
                </a:solidFill>
                <a:latin typeface="Times New Roman"/>
                <a:cs typeface="Times New Roman"/>
              </a:rPr>
              <a:t>Periodic fluctuations</a:t>
            </a:r>
          </a:p>
          <a:p>
            <a:pPr lvl="1">
              <a:lnSpc>
                <a:spcPct val="100000"/>
              </a:lnSpc>
            </a:pPr>
            <a:r>
              <a:rPr lang="en-US" dirty="0">
                <a:solidFill>
                  <a:schemeClr val="tx2"/>
                </a:solidFill>
                <a:latin typeface="Times New Roman"/>
                <a:cs typeface="Times New Roman"/>
              </a:rPr>
              <a:t>Long term / Secular trend</a:t>
            </a: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9</a:t>
            </a:fld>
            <a:endParaRPr lang="en-US">
              <a:solidFill>
                <a:schemeClr val="tx1">
                  <a:alpha val="60000"/>
                </a:schemeClr>
              </a:solidFill>
            </a:endParaRPr>
          </a:p>
        </p:txBody>
      </p:sp>
    </p:spTree>
    <p:extLst>
      <p:ext uri="{BB962C8B-B14F-4D97-AF65-F5344CB8AC3E}">
        <p14:creationId xmlns:p14="http://schemas.microsoft.com/office/powerpoint/2010/main" val="1273626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latin typeface="Avenir Next LT Pro"/>
                <a:cs typeface="Times New Roman"/>
              </a:rPr>
              <a:t>Short term fluctuations</a:t>
            </a:r>
            <a:endParaRPr lang="en-US" dirty="0">
              <a:solidFill>
                <a:schemeClr val="tx2"/>
              </a:solidFill>
            </a:endParaRPr>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478550" y="1583589"/>
            <a:ext cx="10686765" cy="4529498"/>
          </a:xfrm>
        </p:spPr>
        <p:txBody>
          <a:bodyPr anchor="ctr">
            <a:noAutofit/>
          </a:bodyPr>
          <a:lstStyle/>
          <a:p>
            <a:pPr>
              <a:lnSpc>
                <a:spcPct val="100000"/>
              </a:lnSpc>
            </a:pPr>
            <a:r>
              <a:rPr lang="en-US" sz="2400" dirty="0">
                <a:solidFill>
                  <a:schemeClr val="tx2"/>
                </a:solidFill>
                <a:latin typeface="Times New Roman"/>
                <a:ea typeface="+mn-lt"/>
                <a:cs typeface="Times New Roman"/>
              </a:rPr>
              <a:t>The best known short-term fluctuation in the occurrence of a disease is an epidemic. </a:t>
            </a:r>
            <a:endParaRPr lang="en-US" dirty="0">
              <a:solidFill>
                <a:schemeClr val="tx2"/>
              </a:solidFill>
              <a:latin typeface="Avenir Next LT Pro"/>
              <a:ea typeface="+mn-lt"/>
              <a:cs typeface="Times New Roman"/>
            </a:endParaRPr>
          </a:p>
          <a:p>
            <a:pPr>
              <a:lnSpc>
                <a:spcPct val="100000"/>
              </a:lnSpc>
            </a:pPr>
            <a:r>
              <a:rPr lang="en-US" sz="2400" dirty="0">
                <a:solidFill>
                  <a:schemeClr val="tx2"/>
                </a:solidFill>
                <a:latin typeface="Times New Roman"/>
                <a:ea typeface="+mn-lt"/>
                <a:cs typeface="Times New Roman"/>
              </a:rPr>
              <a:t>Common-source epidemics are frequently, but not always, due to exposure to an infectious agent.  They can result from contamination of the environment (air, water, food, soil) by industrial chemicals or pollutants, </a:t>
            </a:r>
            <a:endParaRPr lang="en-US" dirty="0">
              <a:solidFill>
                <a:schemeClr val="tx2"/>
              </a:solidFill>
              <a:latin typeface="Avenir Next LT Pro"/>
              <a:ea typeface="+mn-lt"/>
              <a:cs typeface="Times New Roman"/>
            </a:endParaRPr>
          </a:p>
          <a:p>
            <a:pPr>
              <a:lnSpc>
                <a:spcPct val="100000"/>
              </a:lnSpc>
            </a:pPr>
            <a:r>
              <a:rPr lang="en-US" sz="2400" dirty="0">
                <a:solidFill>
                  <a:schemeClr val="tx2"/>
                </a:solidFill>
                <a:latin typeface="Times New Roman"/>
                <a:ea typeface="+mn-lt"/>
                <a:cs typeface="Times New Roman"/>
              </a:rPr>
              <a:t>An epidemic is defined as “the occurrence in a community or region of cases of an illness or other health-related events clearly in excess of normal expectancy”. </a:t>
            </a:r>
            <a:endParaRPr lang="en-US">
              <a:solidFill>
                <a:schemeClr val="tx2"/>
              </a:solidFill>
              <a:latin typeface="Avenir Next LT Pro"/>
              <a:ea typeface="+mn-lt"/>
              <a:cs typeface="Times New Roman"/>
            </a:endParaRPr>
          </a:p>
          <a:p>
            <a:pPr>
              <a:lnSpc>
                <a:spcPct val="100000"/>
              </a:lnSpc>
            </a:pPr>
            <a:endParaRPr lang="en-US" sz="2400" dirty="0">
              <a:solidFill>
                <a:schemeClr val="tx2"/>
              </a:solidFill>
              <a:latin typeface="Times New Roman"/>
              <a:ea typeface="+mn-lt"/>
              <a:cs typeface="Times New Roman"/>
            </a:endParaRPr>
          </a:p>
          <a:p>
            <a:pPr>
              <a:lnSpc>
                <a:spcPct val="100000"/>
              </a:lnSpc>
            </a:pPr>
            <a:r>
              <a:rPr lang="en-US" sz="2400" dirty="0" err="1">
                <a:solidFill>
                  <a:schemeClr val="tx2"/>
                </a:solidFill>
                <a:latin typeface="Times New Roman"/>
                <a:ea typeface="+mn-lt"/>
                <a:cs typeface="Times New Roman"/>
              </a:rPr>
              <a:t>Epidemicity</a:t>
            </a:r>
            <a:r>
              <a:rPr lang="en-US" sz="2400" dirty="0">
                <a:solidFill>
                  <a:schemeClr val="tx2"/>
                </a:solidFill>
                <a:latin typeface="Times New Roman"/>
                <a:ea typeface="+mn-lt"/>
                <a:cs typeface="Times New Roman"/>
              </a:rPr>
              <a:t> is thus relative to usual frequency of the disease in the </a:t>
            </a:r>
            <a:r>
              <a:rPr lang="en-US" dirty="0">
                <a:solidFill>
                  <a:schemeClr val="tx2"/>
                </a:solidFill>
                <a:latin typeface="Times New Roman"/>
                <a:ea typeface="+mn-lt"/>
                <a:cs typeface="Times New Roman"/>
              </a:rPr>
              <a:t>same area</a:t>
            </a:r>
            <a:r>
              <a:rPr lang="en-US" sz="2400" dirty="0">
                <a:solidFill>
                  <a:schemeClr val="tx2"/>
                </a:solidFill>
                <a:latin typeface="Times New Roman"/>
                <a:ea typeface="+mn-lt"/>
                <a:cs typeface="Times New Roman"/>
              </a:rPr>
              <a:t>, </a:t>
            </a:r>
            <a:r>
              <a:rPr lang="en-US" dirty="0">
                <a:solidFill>
                  <a:schemeClr val="tx2"/>
                </a:solidFill>
                <a:latin typeface="Times New Roman"/>
                <a:ea typeface="+mn-lt"/>
                <a:cs typeface="Times New Roman"/>
              </a:rPr>
              <a:t>among the specified population, at the same season </a:t>
            </a:r>
            <a:r>
              <a:rPr lang="en-US" sz="2400" dirty="0">
                <a:solidFill>
                  <a:schemeClr val="tx2"/>
                </a:solidFill>
                <a:latin typeface="Times New Roman"/>
                <a:ea typeface="+mn-lt"/>
                <a:cs typeface="Times New Roman"/>
              </a:rPr>
              <a:t>of </a:t>
            </a:r>
            <a:r>
              <a:rPr lang="en-US" dirty="0">
                <a:solidFill>
                  <a:schemeClr val="tx2"/>
                </a:solidFill>
                <a:latin typeface="Times New Roman"/>
                <a:ea typeface="+mn-lt"/>
                <a:cs typeface="Times New Roman"/>
              </a:rPr>
              <a:t>the year</a:t>
            </a:r>
            <a:endParaRPr lang="en-US">
              <a:solidFill>
                <a:schemeClr val="tx2"/>
              </a:solidFill>
            </a:endParaRP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10</a:t>
            </a:fld>
            <a:endParaRPr lang="en-US">
              <a:solidFill>
                <a:schemeClr val="tx1">
                  <a:alpha val="60000"/>
                </a:schemeClr>
              </a:solidFill>
            </a:endParaRPr>
          </a:p>
        </p:txBody>
      </p:sp>
    </p:spTree>
    <p:extLst>
      <p:ext uri="{BB962C8B-B14F-4D97-AF65-F5344CB8AC3E}">
        <p14:creationId xmlns:p14="http://schemas.microsoft.com/office/powerpoint/2010/main" val="1729047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latin typeface="Avenir Next LT Pro"/>
                <a:cs typeface="Times New Roman"/>
              </a:rPr>
              <a:t>Epidemics</a:t>
            </a:r>
            <a:endParaRPr lang="en-US" dirty="0">
              <a:solidFill>
                <a:schemeClr val="tx2"/>
              </a:solidFill>
            </a:endParaRPr>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478550" y="1583589"/>
            <a:ext cx="10686765" cy="4529498"/>
          </a:xfrm>
        </p:spPr>
        <p:txBody>
          <a:bodyPr anchor="ctr">
            <a:noAutofit/>
          </a:bodyPr>
          <a:lstStyle/>
          <a:p>
            <a:pPr>
              <a:lnSpc>
                <a:spcPct val="100000"/>
              </a:lnSpc>
            </a:pPr>
            <a:r>
              <a:rPr lang="en-US" sz="3200" dirty="0">
                <a:solidFill>
                  <a:schemeClr val="tx2"/>
                </a:solidFill>
                <a:latin typeface="Times New Roman"/>
                <a:ea typeface="+mn-lt"/>
                <a:cs typeface="Times New Roman"/>
              </a:rPr>
              <a:t>A. Common-source epidemics</a:t>
            </a:r>
            <a:endParaRPr lang="en-US" sz="3600" dirty="0">
              <a:solidFill>
                <a:schemeClr val="tx2"/>
              </a:solidFill>
            </a:endParaRPr>
          </a:p>
          <a:p>
            <a:pPr lvl="1">
              <a:lnSpc>
                <a:spcPct val="100000"/>
              </a:lnSpc>
            </a:pPr>
            <a:r>
              <a:rPr lang="en-US" sz="2800" dirty="0">
                <a:solidFill>
                  <a:schemeClr val="tx2"/>
                </a:solidFill>
                <a:latin typeface="Times New Roman"/>
                <a:ea typeface="+mn-lt"/>
                <a:cs typeface="Times New Roman"/>
              </a:rPr>
              <a:t>(a) Single exposure or “point-source” epidemics.</a:t>
            </a:r>
            <a:endParaRPr lang="en-US" sz="2800" dirty="0">
              <a:solidFill>
                <a:schemeClr val="tx2"/>
              </a:solidFill>
            </a:endParaRPr>
          </a:p>
          <a:p>
            <a:pPr lvl="1">
              <a:lnSpc>
                <a:spcPct val="100000"/>
              </a:lnSpc>
            </a:pPr>
            <a:r>
              <a:rPr lang="en-US" sz="2800" dirty="0">
                <a:solidFill>
                  <a:schemeClr val="tx2"/>
                </a:solidFill>
                <a:latin typeface="Times New Roman"/>
                <a:ea typeface="+mn-lt"/>
                <a:cs typeface="Times New Roman"/>
              </a:rPr>
              <a:t>(b) Continuous or multiple exposure epidemics</a:t>
            </a:r>
            <a:endParaRPr lang="en-US" sz="2800" dirty="0">
              <a:solidFill>
                <a:schemeClr val="tx2"/>
              </a:solidFill>
            </a:endParaRPr>
          </a:p>
          <a:p>
            <a:pPr>
              <a:lnSpc>
                <a:spcPct val="100000"/>
              </a:lnSpc>
            </a:pPr>
            <a:r>
              <a:rPr lang="en-US" sz="3200" dirty="0">
                <a:solidFill>
                  <a:schemeClr val="tx2"/>
                </a:solidFill>
                <a:latin typeface="Times New Roman"/>
                <a:ea typeface="+mn-lt"/>
                <a:cs typeface="Times New Roman"/>
              </a:rPr>
              <a:t>B. Propagated epidemics</a:t>
            </a:r>
            <a:endParaRPr lang="en-US" sz="3600" dirty="0">
              <a:solidFill>
                <a:schemeClr val="tx2"/>
              </a:solidFill>
            </a:endParaRPr>
          </a:p>
          <a:p>
            <a:pPr lvl="1">
              <a:lnSpc>
                <a:spcPct val="100000"/>
              </a:lnSpc>
            </a:pPr>
            <a:r>
              <a:rPr lang="en-US" sz="2800" dirty="0">
                <a:solidFill>
                  <a:schemeClr val="tx2"/>
                </a:solidFill>
                <a:latin typeface="Times New Roman"/>
                <a:ea typeface="+mn-lt"/>
                <a:cs typeface="Times New Roman"/>
              </a:rPr>
              <a:t>(a) Person-to-person</a:t>
            </a:r>
            <a:endParaRPr lang="en-US" sz="2800" dirty="0">
              <a:solidFill>
                <a:schemeClr val="tx2"/>
              </a:solidFill>
            </a:endParaRPr>
          </a:p>
          <a:p>
            <a:pPr lvl="1">
              <a:lnSpc>
                <a:spcPct val="100000"/>
              </a:lnSpc>
            </a:pPr>
            <a:r>
              <a:rPr lang="en-US" sz="2800" dirty="0">
                <a:solidFill>
                  <a:schemeClr val="tx2"/>
                </a:solidFill>
                <a:latin typeface="Times New Roman"/>
                <a:ea typeface="+mn-lt"/>
                <a:cs typeface="Times New Roman"/>
              </a:rPr>
              <a:t>(b) Arthropod vector</a:t>
            </a:r>
            <a:endParaRPr lang="en-US" sz="3200">
              <a:solidFill>
                <a:schemeClr val="tx2"/>
              </a:solidFill>
            </a:endParaRPr>
          </a:p>
          <a:p>
            <a:pPr lvl="1">
              <a:lnSpc>
                <a:spcPct val="100000"/>
              </a:lnSpc>
            </a:pPr>
            <a:r>
              <a:rPr lang="en-US" sz="2800" dirty="0">
                <a:solidFill>
                  <a:schemeClr val="tx2"/>
                </a:solidFill>
                <a:latin typeface="Times New Roman"/>
                <a:cs typeface="Times New Roman"/>
              </a:rPr>
              <a:t>(c) Animal reservoir</a:t>
            </a:r>
            <a:endParaRPr lang="en-US" sz="3200">
              <a:solidFill>
                <a:schemeClr val="tx2"/>
              </a:solidFill>
            </a:endParaRPr>
          </a:p>
          <a:p>
            <a:pPr>
              <a:lnSpc>
                <a:spcPct val="100000"/>
              </a:lnSpc>
            </a:pPr>
            <a:r>
              <a:rPr lang="en-US" sz="3200" dirty="0">
                <a:solidFill>
                  <a:schemeClr val="tx2"/>
                </a:solidFill>
                <a:latin typeface="Times New Roman"/>
                <a:ea typeface="+mn-lt"/>
                <a:cs typeface="Times New Roman"/>
              </a:rPr>
              <a:t>C. Slow (modern) epidemics.</a:t>
            </a:r>
            <a:endParaRPr lang="en-US" sz="3600" dirty="0">
              <a:solidFill>
                <a:schemeClr val="tx2"/>
              </a:solidFill>
            </a:endParaRP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dirty="0">
                <a:solidFill>
                  <a:schemeClr val="tx1">
                    <a:alpha val="60000"/>
                  </a:schemeClr>
                </a:solidFill>
              </a:rPr>
              <a:pPr>
                <a:spcAft>
                  <a:spcPts val="600"/>
                </a:spcAft>
              </a:pPr>
              <a:t>11</a:t>
            </a:fld>
            <a:endParaRPr lang="en-US" dirty="0">
              <a:solidFill>
                <a:schemeClr val="tx1">
                  <a:alpha val="60000"/>
                </a:schemeClr>
              </a:solidFill>
            </a:endParaRPr>
          </a:p>
        </p:txBody>
      </p:sp>
    </p:spTree>
    <p:extLst>
      <p:ext uri="{BB962C8B-B14F-4D97-AF65-F5344CB8AC3E}">
        <p14:creationId xmlns:p14="http://schemas.microsoft.com/office/powerpoint/2010/main" val="647147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0" y="559813"/>
            <a:ext cx="5638800" cy="1573786"/>
          </a:xfrm>
        </p:spPr>
        <p:txBody>
          <a:bodyPr>
            <a:normAutofit/>
          </a:bodyPr>
          <a:lstStyle/>
          <a:p>
            <a:r>
              <a:rPr lang="en-US">
                <a:solidFill>
                  <a:schemeClr val="tx2"/>
                </a:solidFill>
                <a:latin typeface="Avenir Next LT Pro"/>
                <a:cs typeface="Times New Roman"/>
              </a:rPr>
              <a:t>Single exposure / Point source</a:t>
            </a:r>
            <a:endParaRPr lang="en-US">
              <a:solidFill>
                <a:schemeClr val="tx2"/>
              </a:solidFill>
              <a:cs typeface="Times New Roman"/>
            </a:endParaRPr>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6140821" y="416040"/>
            <a:ext cx="5726164" cy="2076993"/>
          </a:xfrm>
        </p:spPr>
        <p:txBody>
          <a:bodyPr>
            <a:noAutofit/>
          </a:bodyPr>
          <a:lstStyle/>
          <a:p>
            <a:pPr>
              <a:lnSpc>
                <a:spcPct val="100000"/>
              </a:lnSpc>
            </a:pPr>
            <a:r>
              <a:rPr lang="en-US" sz="2000">
                <a:solidFill>
                  <a:schemeClr val="tx2"/>
                </a:solidFill>
                <a:latin typeface="Times New Roman"/>
                <a:ea typeface="+mn-lt"/>
                <a:cs typeface="Times New Roman"/>
              </a:rPr>
              <a:t>The epidemic curve rises and falls rapidly, with no secondary waves </a:t>
            </a:r>
            <a:endParaRPr lang="en-US" sz="2000">
              <a:solidFill>
                <a:schemeClr val="tx2"/>
              </a:solidFill>
              <a:latin typeface="Avenir Next LT Pro"/>
              <a:ea typeface="+mn-lt"/>
              <a:cs typeface="Times New Roman"/>
            </a:endParaRPr>
          </a:p>
          <a:p>
            <a:pPr>
              <a:lnSpc>
                <a:spcPct val="100000"/>
              </a:lnSpc>
            </a:pPr>
            <a:r>
              <a:rPr lang="en-US" sz="2000" dirty="0">
                <a:solidFill>
                  <a:schemeClr val="tx2"/>
                </a:solidFill>
                <a:latin typeface="Times New Roman"/>
                <a:ea typeface="+mn-lt"/>
                <a:cs typeface="Times New Roman"/>
              </a:rPr>
              <a:t>The epidemic tends to be explosive, there is clustering of cases within a narrow interval of time, </a:t>
            </a:r>
            <a:endParaRPr lang="en-US" sz="2000" dirty="0">
              <a:solidFill>
                <a:schemeClr val="tx2"/>
              </a:solidFill>
              <a:latin typeface="Avenir Next LT Pro"/>
              <a:ea typeface="+mn-lt"/>
              <a:cs typeface="Times New Roman"/>
            </a:endParaRPr>
          </a:p>
          <a:p>
            <a:pPr>
              <a:lnSpc>
                <a:spcPct val="100000"/>
              </a:lnSpc>
            </a:pPr>
            <a:r>
              <a:rPr lang="en-US" sz="2000" dirty="0">
                <a:solidFill>
                  <a:schemeClr val="tx2"/>
                </a:solidFill>
                <a:latin typeface="Times New Roman"/>
                <a:ea typeface="+mn-lt"/>
                <a:cs typeface="Times New Roman"/>
              </a:rPr>
              <a:t>All the cases develop within one incubation period of disease.</a:t>
            </a:r>
            <a:endParaRPr lang="en-US" sz="2000" dirty="0">
              <a:solidFill>
                <a:schemeClr val="tx2"/>
              </a:solidFill>
            </a:endParaRPr>
          </a:p>
        </p:txBody>
      </p:sp>
      <p:pic>
        <p:nvPicPr>
          <p:cNvPr id="5" name="Picture 5" descr="Chart, line chart&#10;&#10;Description automatically generated">
            <a:extLst>
              <a:ext uri="{FF2B5EF4-FFF2-40B4-BE49-F238E27FC236}">
                <a16:creationId xmlns:a16="http://schemas.microsoft.com/office/drawing/2014/main" id="{1D701A8A-1D57-A361-C7ED-01E38A754579}"/>
              </a:ext>
            </a:extLst>
          </p:cNvPr>
          <p:cNvPicPr>
            <a:picLocks noChangeAspect="1"/>
          </p:cNvPicPr>
          <p:nvPr/>
        </p:nvPicPr>
        <p:blipFill>
          <a:blip r:embed="rId2"/>
          <a:stretch>
            <a:fillRect/>
          </a:stretch>
        </p:blipFill>
        <p:spPr>
          <a:xfrm>
            <a:off x="838200" y="2636778"/>
            <a:ext cx="10515600" cy="3417570"/>
          </a:xfrm>
          <a:prstGeom prst="rect">
            <a:avLst/>
          </a:prstGeom>
        </p:spPr>
      </p:pic>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12</a:t>
            </a:fld>
            <a:endParaRPr lang="en-US">
              <a:solidFill>
                <a:schemeClr val="tx1">
                  <a:alpha val="60000"/>
                </a:schemeClr>
              </a:solidFill>
            </a:endParaRPr>
          </a:p>
        </p:txBody>
      </p:sp>
    </p:spTree>
    <p:extLst>
      <p:ext uri="{BB962C8B-B14F-4D97-AF65-F5344CB8AC3E}">
        <p14:creationId xmlns:p14="http://schemas.microsoft.com/office/powerpoint/2010/main" val="200299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81332" y="171624"/>
            <a:ext cx="10584611" cy="668013"/>
          </a:xfrm>
        </p:spPr>
        <p:txBody>
          <a:bodyPr>
            <a:normAutofit fontScale="90000"/>
          </a:bodyPr>
          <a:lstStyle/>
          <a:p>
            <a:r>
              <a:rPr lang="en-US" dirty="0">
                <a:solidFill>
                  <a:schemeClr val="tx2"/>
                </a:solidFill>
                <a:latin typeface="Avenir Next LT Pro"/>
                <a:cs typeface="Times New Roman"/>
              </a:rPr>
              <a:t>Continuous/ Repeated exposure</a:t>
            </a:r>
            <a:endParaRPr lang="en-US" dirty="0">
              <a:solidFill>
                <a:schemeClr val="tx2"/>
              </a:solidFill>
              <a:cs typeface="Times New Roman"/>
            </a:endParaRPr>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878709" y="1077399"/>
            <a:ext cx="10815748" cy="2076993"/>
          </a:xfrm>
        </p:spPr>
        <p:txBody>
          <a:bodyPr vert="horz" lIns="91440" tIns="45720" rIns="91440" bIns="45720" rtlCol="0" anchor="t">
            <a:noAutofit/>
          </a:bodyPr>
          <a:lstStyle/>
          <a:p>
            <a:pPr>
              <a:lnSpc>
                <a:spcPct val="100000"/>
              </a:lnSpc>
            </a:pPr>
            <a:r>
              <a:rPr lang="en-US" sz="2400" dirty="0">
                <a:solidFill>
                  <a:schemeClr val="tx2"/>
                </a:solidFill>
                <a:latin typeface="Times New Roman"/>
                <a:ea typeface="+mn-lt"/>
                <a:cs typeface="Times New Roman"/>
              </a:rPr>
              <a:t>Exposure from the same source may be </a:t>
            </a:r>
            <a:r>
              <a:rPr lang="en-US" sz="2400" dirty="0">
                <a:solidFill>
                  <a:srgbClr val="311C23"/>
                </a:solidFill>
                <a:latin typeface="Times New Roman"/>
                <a:ea typeface="+mn-lt"/>
                <a:cs typeface="Times New Roman"/>
              </a:rPr>
              <a:t>prolonged - continuous, repeated or intermittent – not necessarily at the same time or place. </a:t>
            </a:r>
            <a:endParaRPr lang="en-US" sz="2400">
              <a:solidFill>
                <a:srgbClr val="FFFFFF"/>
              </a:solidFill>
              <a:latin typeface="Times New Roman"/>
              <a:ea typeface="+mn-lt"/>
              <a:cs typeface="Times New Roman"/>
            </a:endParaRPr>
          </a:p>
          <a:p>
            <a:pPr>
              <a:lnSpc>
                <a:spcPct val="100000"/>
              </a:lnSpc>
            </a:pPr>
            <a:r>
              <a:rPr lang="en-US" sz="2400" dirty="0">
                <a:solidFill>
                  <a:srgbClr val="311C23"/>
                </a:solidFill>
                <a:latin typeface="Times New Roman"/>
                <a:ea typeface="+mn-lt"/>
                <a:cs typeface="Times New Roman"/>
              </a:rPr>
              <a:t>A FSW may be a common source in a </a:t>
            </a:r>
            <a:r>
              <a:rPr lang="en-US" sz="2400" dirty="0" err="1">
                <a:solidFill>
                  <a:srgbClr val="311C23"/>
                </a:solidFill>
                <a:latin typeface="Times New Roman"/>
                <a:ea typeface="+mn-lt"/>
                <a:cs typeface="Times New Roman"/>
              </a:rPr>
              <a:t>gonorrhoea</a:t>
            </a:r>
            <a:r>
              <a:rPr lang="en-US" sz="2400" dirty="0">
                <a:solidFill>
                  <a:srgbClr val="311C23"/>
                </a:solidFill>
                <a:latin typeface="Times New Roman"/>
                <a:ea typeface="+mn-lt"/>
                <a:cs typeface="Times New Roman"/>
              </a:rPr>
              <a:t> outbreak, but since she will infect her clients over a period of time there may be no explosive rise in the number of cases. </a:t>
            </a:r>
            <a:endParaRPr lang="en-US" sz="2400">
              <a:solidFill>
                <a:srgbClr val="FFFFFF"/>
              </a:solidFill>
              <a:latin typeface="Times New Roman"/>
              <a:ea typeface="+mn-lt"/>
              <a:cs typeface="Times New Roman"/>
            </a:endParaRPr>
          </a:p>
          <a:p>
            <a:pPr>
              <a:lnSpc>
                <a:spcPct val="100000"/>
              </a:lnSpc>
            </a:pPr>
            <a:r>
              <a:rPr lang="en-US" sz="2400" dirty="0">
                <a:solidFill>
                  <a:srgbClr val="311C23"/>
                </a:solidFill>
                <a:latin typeface="Times New Roman"/>
                <a:ea typeface="+mn-lt"/>
                <a:cs typeface="Times New Roman"/>
              </a:rPr>
              <a:t>A well of contaminated water, or a nationally distributed brand of vaccine (e.g. polio vaccine), or food, could result in similar outbreaks. </a:t>
            </a:r>
            <a:endParaRPr lang="en-US" sz="2400">
              <a:solidFill>
                <a:srgbClr val="FFFFFF"/>
              </a:solidFill>
              <a:latin typeface="Times New Roman"/>
              <a:ea typeface="+mn-lt"/>
              <a:cs typeface="Times New Roman"/>
            </a:endParaRPr>
          </a:p>
          <a:p>
            <a:pPr>
              <a:lnSpc>
                <a:spcPct val="100000"/>
              </a:lnSpc>
            </a:pPr>
            <a:r>
              <a:rPr lang="en-US" sz="2400" dirty="0">
                <a:solidFill>
                  <a:srgbClr val="311C23"/>
                </a:solidFill>
                <a:latin typeface="Times New Roman"/>
                <a:ea typeface="+mn-lt"/>
                <a:cs typeface="Times New Roman"/>
              </a:rPr>
              <a:t>In these instances, the resulting epidemics tend to be more extended or irregular.</a:t>
            </a:r>
            <a:endParaRPr lang="en-US" sz="2400">
              <a:solidFill>
                <a:srgbClr val="FFFFFF"/>
              </a:solidFill>
              <a:latin typeface="Times New Roman"/>
              <a:ea typeface="+mn-lt"/>
              <a:cs typeface="Times New Roman"/>
            </a:endParaRPr>
          </a:p>
          <a:p>
            <a:pPr>
              <a:lnSpc>
                <a:spcPct val="100000"/>
              </a:lnSpc>
            </a:pPr>
            <a:r>
              <a:rPr lang="en-US" sz="2400" dirty="0">
                <a:solidFill>
                  <a:srgbClr val="311C23"/>
                </a:solidFill>
                <a:latin typeface="Times New Roman"/>
                <a:ea typeface="+mn-lt"/>
                <a:cs typeface="Times New Roman"/>
              </a:rPr>
              <a:t>A variation to the above model is that an epidemic may be initiated from a common source and then continue as a propagated epidemic. </a:t>
            </a:r>
            <a:endParaRPr lang="en-US">
              <a:solidFill>
                <a:srgbClr val="FFFFFF"/>
              </a:solidFill>
              <a:latin typeface="Avenir Next LT Pro"/>
              <a:ea typeface="+mn-lt"/>
              <a:cs typeface="Times New Roman"/>
            </a:endParaRPr>
          </a:p>
          <a:p>
            <a:pPr lvl="1">
              <a:lnSpc>
                <a:spcPct val="100000"/>
              </a:lnSpc>
            </a:pPr>
            <a:r>
              <a:rPr lang="en-US" sz="2000" dirty="0">
                <a:solidFill>
                  <a:srgbClr val="311C23"/>
                </a:solidFill>
                <a:latin typeface="Times New Roman"/>
                <a:ea typeface="+mn-lt"/>
                <a:cs typeface="Times New Roman"/>
              </a:rPr>
              <a:t>Water-borne cholera is a familiar example, the epidemic reaches a sharp peak, but tails off gradually over a longer period of time.</a:t>
            </a:r>
            <a:endParaRPr lang="en-US" sz="2000"/>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13</a:t>
            </a:fld>
            <a:endParaRPr lang="en-US">
              <a:solidFill>
                <a:schemeClr val="tx1">
                  <a:alpha val="60000"/>
                </a:schemeClr>
              </a:solidFill>
            </a:endParaRPr>
          </a:p>
        </p:txBody>
      </p:sp>
    </p:spTree>
    <p:extLst>
      <p:ext uri="{BB962C8B-B14F-4D97-AF65-F5344CB8AC3E}">
        <p14:creationId xmlns:p14="http://schemas.microsoft.com/office/powerpoint/2010/main" val="1269824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E6E0A7-8210-844F-26D0-71A5600F2C1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Epidemic Curve</a:t>
            </a:r>
          </a:p>
        </p:txBody>
      </p:sp>
      <p:pic>
        <p:nvPicPr>
          <p:cNvPr id="5" name="Picture 5" descr="Chart&#10;&#10;Description automatically generated">
            <a:extLst>
              <a:ext uri="{FF2B5EF4-FFF2-40B4-BE49-F238E27FC236}">
                <a16:creationId xmlns:a16="http://schemas.microsoft.com/office/drawing/2014/main" id="{820CCE14-89B0-7AB2-A566-290C64B0E6B0}"/>
              </a:ext>
            </a:extLst>
          </p:cNvPr>
          <p:cNvPicPr>
            <a:picLocks noGrp="1" noChangeAspect="1"/>
          </p:cNvPicPr>
          <p:nvPr>
            <p:ph idx="1"/>
          </p:nvPr>
        </p:nvPicPr>
        <p:blipFill>
          <a:blip r:embed="rId2"/>
          <a:stretch>
            <a:fillRect/>
          </a:stretch>
        </p:blipFill>
        <p:spPr>
          <a:xfrm>
            <a:off x="1777022" y="1538702"/>
            <a:ext cx="8637955" cy="5182773"/>
          </a:xfrm>
          <a:prstGeom prst="rect">
            <a:avLst/>
          </a:prstGeom>
        </p:spPr>
      </p:pic>
      <p:sp>
        <p:nvSpPr>
          <p:cNvPr id="4" name="Slide Number Placeholder 3">
            <a:extLst>
              <a:ext uri="{FF2B5EF4-FFF2-40B4-BE49-F238E27FC236}">
                <a16:creationId xmlns:a16="http://schemas.microsoft.com/office/drawing/2014/main" id="{90AB3C47-3D1F-8BDA-FC9D-9834B59E9813}"/>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73B850FF-6169-4056-8077-06FFA93A5366}" type="slidenum">
              <a:rPr lang="en-US" smtClean="0"/>
              <a:pPr>
                <a:spcAft>
                  <a:spcPts val="600"/>
                </a:spcAft>
              </a:pPr>
              <a:t>14</a:t>
            </a:fld>
            <a:endParaRPr lang="en-US"/>
          </a:p>
        </p:txBody>
      </p:sp>
    </p:spTree>
    <p:extLst>
      <p:ext uri="{BB962C8B-B14F-4D97-AF65-F5344CB8AC3E}">
        <p14:creationId xmlns:p14="http://schemas.microsoft.com/office/powerpoint/2010/main" val="898813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l="-6000" r="-6000"/>
          </a:stretch>
        </a:blipFill>
        <a:effectLst/>
      </p:bgPr>
    </p:bg>
    <p:spTree>
      <p:nvGrpSpPr>
        <p:cNvPr id="1" name=""/>
        <p:cNvGrpSpPr/>
        <p:nvPr/>
      </p:nvGrpSpPr>
      <p:grpSpPr>
        <a:xfrm>
          <a:off x="0" y="0"/>
          <a:ext cx="0" cy="0"/>
          <a:chOff x="0" y="0"/>
          <a:chExt cx="0" cy="0"/>
        </a:xfrm>
      </p:grpSpPr>
      <p:sp useBgFill="1">
        <p:nvSpPr>
          <p:cNvPr id="15"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8320B2-54CD-DCA6-13BA-54530936E038}"/>
              </a:ext>
            </a:extLst>
          </p:cNvPr>
          <p:cNvSpPr>
            <a:spLocks noGrp="1"/>
          </p:cNvSpPr>
          <p:nvPr>
            <p:ph type="title"/>
          </p:nvPr>
        </p:nvSpPr>
        <p:spPr>
          <a:xfrm>
            <a:off x="1137034" y="609597"/>
            <a:ext cx="9392421" cy="1330841"/>
          </a:xfrm>
        </p:spPr>
        <p:txBody>
          <a:bodyPr>
            <a:normAutofit/>
          </a:bodyPr>
          <a:lstStyle/>
          <a:p>
            <a:r>
              <a:rPr lang="en-US" dirty="0"/>
              <a:t>Propagated epidemic</a:t>
            </a:r>
          </a:p>
        </p:txBody>
      </p:sp>
      <p:sp>
        <p:nvSpPr>
          <p:cNvPr id="3" name="Content Placeholder 2">
            <a:extLst>
              <a:ext uri="{FF2B5EF4-FFF2-40B4-BE49-F238E27FC236}">
                <a16:creationId xmlns:a16="http://schemas.microsoft.com/office/drawing/2014/main" id="{27C7266D-8F65-BA1C-EB4C-2ECB169DD806}"/>
              </a:ext>
            </a:extLst>
          </p:cNvPr>
          <p:cNvSpPr>
            <a:spLocks noGrp="1"/>
          </p:cNvSpPr>
          <p:nvPr>
            <p:ph idx="1"/>
          </p:nvPr>
        </p:nvSpPr>
        <p:spPr>
          <a:xfrm>
            <a:off x="-1" y="2176738"/>
            <a:ext cx="5017477" cy="4411631"/>
          </a:xfrm>
        </p:spPr>
        <p:txBody>
          <a:bodyPr>
            <a:normAutofit/>
          </a:bodyPr>
          <a:lstStyle/>
          <a:p>
            <a:r>
              <a:rPr lang="en-US" sz="2000" b="0" i="0" u="none" strike="noStrike" baseline="0" dirty="0">
                <a:latin typeface="Times New Roman" panose="02020603050405020304" pitchFamily="18" charset="0"/>
              </a:rPr>
              <a:t>Most often infectious origin – person to person; example – Hep A, Polio</a:t>
            </a:r>
          </a:p>
          <a:p>
            <a:r>
              <a:rPr lang="en-US" sz="2000" b="0" i="0" u="none" strike="noStrike" baseline="0" dirty="0">
                <a:latin typeface="Times New Roman" panose="02020603050405020304" pitchFamily="18" charset="0"/>
              </a:rPr>
              <a:t>The epidemic usually shows a gradual rise and tai</a:t>
            </a:r>
            <a:r>
              <a:rPr lang="en-US" sz="2000" dirty="0">
                <a:latin typeface="Times New Roman" panose="02020603050405020304" pitchFamily="18" charset="0"/>
              </a:rPr>
              <a:t>ls off </a:t>
            </a:r>
            <a:r>
              <a:rPr lang="en-US" sz="2000" b="0" i="0" u="none" strike="noStrike" baseline="0" dirty="0">
                <a:latin typeface="Times New Roman" panose="02020603050405020304" pitchFamily="18" charset="0"/>
              </a:rPr>
              <a:t>a much longer period of time. </a:t>
            </a:r>
          </a:p>
          <a:p>
            <a:r>
              <a:rPr lang="en-US" sz="2000" b="0" i="0" u="none" strike="noStrike" baseline="0" dirty="0">
                <a:latin typeface="Times New Roman" panose="02020603050405020304" pitchFamily="18" charset="0"/>
              </a:rPr>
              <a:t>Until number of susceptible is depleted or no longer exposed to infected person / intermediary vector.</a:t>
            </a:r>
          </a:p>
          <a:p>
            <a:r>
              <a:rPr lang="en-US" sz="2000" dirty="0">
                <a:latin typeface="Times New Roman" panose="02020603050405020304" pitchFamily="18" charset="0"/>
              </a:rPr>
              <a:t>Speed of spread depends on herd immunity, opportunities for contact and SAR</a:t>
            </a:r>
          </a:p>
          <a:p>
            <a:r>
              <a:rPr lang="en-US" sz="2000" b="0" i="0" u="none" strike="noStrike" baseline="0" dirty="0">
                <a:latin typeface="Times New Roman" panose="02020603050405020304" pitchFamily="18" charset="0"/>
              </a:rPr>
              <a:t>More likely - regular supply of new susceptible individuals (birth, immigrants)</a:t>
            </a:r>
          </a:p>
          <a:p>
            <a:pPr lvl="1"/>
            <a:r>
              <a:rPr lang="en-US" sz="2000" dirty="0">
                <a:latin typeface="Times New Roman" panose="02020603050405020304" pitchFamily="18" charset="0"/>
              </a:rPr>
              <a:t>Large number of susceptible are aggregated</a:t>
            </a:r>
            <a:endParaRPr lang="en-US" sz="2000" b="0" i="0" u="none" strike="noStrike" baseline="0" dirty="0">
              <a:latin typeface="Times New Roman" panose="02020603050405020304" pitchFamily="18" charset="0"/>
            </a:endParaRPr>
          </a:p>
        </p:txBody>
      </p:sp>
      <p:pic>
        <p:nvPicPr>
          <p:cNvPr id="5" name="Picture 4">
            <a:extLst>
              <a:ext uri="{FF2B5EF4-FFF2-40B4-BE49-F238E27FC236}">
                <a16:creationId xmlns:a16="http://schemas.microsoft.com/office/drawing/2014/main" id="{7F50909E-5178-577D-7926-CC8BA44806BE}"/>
              </a:ext>
            </a:extLst>
          </p:cNvPr>
          <p:cNvPicPr>
            <a:picLocks noChangeAspect="1"/>
          </p:cNvPicPr>
          <p:nvPr/>
        </p:nvPicPr>
        <p:blipFill>
          <a:blip r:embed="rId3"/>
          <a:stretch>
            <a:fillRect/>
          </a:stretch>
        </p:blipFill>
        <p:spPr>
          <a:xfrm>
            <a:off x="5017476" y="1940438"/>
            <a:ext cx="6882164" cy="3871215"/>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20444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04FA61-9D02-0C25-883E-E1545C28AA44}"/>
              </a:ext>
            </a:extLst>
          </p:cNvPr>
          <p:cNvSpPr>
            <a:spLocks noGrp="1"/>
          </p:cNvSpPr>
          <p:nvPr>
            <p:ph type="title"/>
          </p:nvPr>
        </p:nvSpPr>
        <p:spPr>
          <a:xfrm>
            <a:off x="838200" y="365125"/>
            <a:ext cx="10515600" cy="1325563"/>
          </a:xfrm>
        </p:spPr>
        <p:txBody>
          <a:bodyPr>
            <a:normAutofit/>
          </a:bodyPr>
          <a:lstStyle/>
          <a:p>
            <a:r>
              <a:rPr lang="en-US" sz="5400"/>
              <a:t>Herd Immunity</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2E183A-F790-0AF5-4AE0-C5882EF04B5A}"/>
              </a:ext>
            </a:extLst>
          </p:cNvPr>
          <p:cNvSpPr>
            <a:spLocks noGrp="1"/>
          </p:cNvSpPr>
          <p:nvPr>
            <p:ph idx="1"/>
          </p:nvPr>
        </p:nvSpPr>
        <p:spPr>
          <a:xfrm>
            <a:off x="838200" y="1929384"/>
            <a:ext cx="10515600" cy="4251960"/>
          </a:xfrm>
        </p:spPr>
        <p:txBody>
          <a:bodyPr>
            <a:normAutofit/>
          </a:bodyPr>
          <a:lstStyle/>
          <a:p>
            <a:r>
              <a:rPr lang="en-US" sz="2200" dirty="0"/>
              <a:t>Resistance of group of people to an attack by disease to which a large proportion of group is immune.</a:t>
            </a:r>
          </a:p>
          <a:p>
            <a:r>
              <a:rPr lang="en-US" sz="2200" dirty="0"/>
              <a:t>Conditions to be met :- </a:t>
            </a:r>
          </a:p>
          <a:p>
            <a:pPr lvl="1"/>
            <a:r>
              <a:rPr lang="en-US" sz="2200" dirty="0"/>
              <a:t>Restricted to single host species</a:t>
            </a:r>
          </a:p>
          <a:p>
            <a:pPr lvl="1"/>
            <a:r>
              <a:rPr lang="en-US" sz="2200" dirty="0"/>
              <a:t>Relatively direct transmission</a:t>
            </a:r>
          </a:p>
          <a:p>
            <a:pPr lvl="1"/>
            <a:r>
              <a:rPr lang="en-US" sz="2200" dirty="0"/>
              <a:t>Must induce solid immunity</a:t>
            </a:r>
          </a:p>
          <a:p>
            <a:r>
              <a:rPr lang="en-US" sz="2200" dirty="0"/>
              <a:t>Probability of infected person encountering every other individual is same</a:t>
            </a:r>
          </a:p>
          <a:p>
            <a:r>
              <a:rPr lang="en-US" sz="2200" dirty="0"/>
              <a:t>Population are constantly mixing</a:t>
            </a:r>
          </a:p>
          <a:p>
            <a:r>
              <a:rPr lang="en-US" sz="2200" dirty="0"/>
              <a:t>Degree to which herd immunity is achieved depends on extent to which randomly mixing of population occurs</a:t>
            </a:r>
          </a:p>
        </p:txBody>
      </p:sp>
    </p:spTree>
    <p:extLst>
      <p:ext uri="{BB962C8B-B14F-4D97-AF65-F5344CB8AC3E}">
        <p14:creationId xmlns:p14="http://schemas.microsoft.com/office/powerpoint/2010/main" val="3164338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6" name="Rectangle 1045">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 name="Freeform: Shape 1047">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0" name="Rectangle 1049">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Freeform: Shape 1053">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56" name="Isosceles Triangle 1055">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7724F795-30B2-16F1-A67B-F59FB65A25A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1"/>
            <a:ext cx="12192000" cy="6857998"/>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58" name="Isosceles Triangle 1057">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0611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5278130-DFE0-457B-8698-88DF69019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Rectangle 10">
            <a:extLst>
              <a:ext uri="{FF2B5EF4-FFF2-40B4-BE49-F238E27FC236}">
                <a16:creationId xmlns:a16="http://schemas.microsoft.com/office/drawing/2014/main" id="{2F99531B-1681-4D6E-BECB-18325B33A6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20344094-430A-400B-804B-910E696A1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53C67DF-7782-4E57-AB9B-F1B4811AD8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F29CD1-77B3-4E10-ED93-7D95504E1148}"/>
              </a:ext>
            </a:extLst>
          </p:cNvPr>
          <p:cNvSpPr>
            <a:spLocks noGrp="1"/>
          </p:cNvSpPr>
          <p:nvPr>
            <p:ph type="title"/>
          </p:nvPr>
        </p:nvSpPr>
        <p:spPr>
          <a:xfrm>
            <a:off x="504967" y="675564"/>
            <a:ext cx="3609833" cy="5204085"/>
          </a:xfrm>
        </p:spPr>
        <p:txBody>
          <a:bodyPr>
            <a:normAutofit/>
          </a:bodyPr>
          <a:lstStyle/>
          <a:p>
            <a:r>
              <a:rPr lang="en-US" dirty="0"/>
              <a:t>Slow (Modern) epidemics</a:t>
            </a:r>
          </a:p>
        </p:txBody>
      </p:sp>
      <p:cxnSp>
        <p:nvCxnSpPr>
          <p:cNvPr id="17" name="Straight Connector 16">
            <a:extLst>
              <a:ext uri="{FF2B5EF4-FFF2-40B4-BE49-F238E27FC236}">
                <a16:creationId xmlns:a16="http://schemas.microsoft.com/office/drawing/2014/main" id="{B03A5AE3-BD30-455C-842B-7626C8BEF0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DBECAA5-1F2D-470D-875C-8F2C2CA3E5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61C1367E-FDFA-BBAE-2951-38F0F0C91D7F}"/>
              </a:ext>
            </a:extLst>
          </p:cNvPr>
          <p:cNvGraphicFramePr>
            <a:graphicFrameLocks noGrp="1"/>
          </p:cNvGraphicFramePr>
          <p:nvPr>
            <p:ph idx="1"/>
            <p:extLst>
              <p:ext uri="{D42A27DB-BD31-4B8C-83A1-F6EECF244321}">
                <p14:modId xmlns:p14="http://schemas.microsoft.com/office/powerpoint/2010/main" val="3385137443"/>
              </p:ext>
            </p:extLst>
          </p:nvPr>
        </p:nvGraphicFramePr>
        <p:xfrm>
          <a:off x="4776730" y="819369"/>
          <a:ext cx="6589260" cy="5243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1407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6F569-4572-4E1F-0A12-46999BD7B87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Periodic fluctuations</a:t>
            </a:r>
          </a:p>
        </p:txBody>
      </p:sp>
      <p:sp>
        <p:nvSpPr>
          <p:cNvPr id="4" name="Text Placeholder 3">
            <a:extLst>
              <a:ext uri="{FF2B5EF4-FFF2-40B4-BE49-F238E27FC236}">
                <a16:creationId xmlns:a16="http://schemas.microsoft.com/office/drawing/2014/main" id="{EEC5D955-DB4A-B95E-900B-F937D6354725}"/>
              </a:ext>
            </a:extLst>
          </p:cNvPr>
          <p:cNvSpPr>
            <a:spLocks noGrp="1"/>
          </p:cNvSpPr>
          <p:nvPr>
            <p:ph type="body" idx="1"/>
          </p:nvPr>
        </p:nvSpPr>
        <p:spPr/>
        <p:txBody>
          <a:bodyPr>
            <a:normAutofit/>
          </a:bodyPr>
          <a:lstStyle/>
          <a:p>
            <a:r>
              <a:rPr lang="en-US" sz="3200" dirty="0">
                <a:latin typeface="Times New Roman" panose="02020603050405020304" pitchFamily="18" charset="0"/>
                <a:cs typeface="Times New Roman" panose="02020603050405020304" pitchFamily="18" charset="0"/>
              </a:rPr>
              <a:t>Seasonal Trend</a:t>
            </a:r>
          </a:p>
        </p:txBody>
      </p:sp>
      <p:sp>
        <p:nvSpPr>
          <p:cNvPr id="5" name="Content Placeholder 4">
            <a:extLst>
              <a:ext uri="{FF2B5EF4-FFF2-40B4-BE49-F238E27FC236}">
                <a16:creationId xmlns:a16="http://schemas.microsoft.com/office/drawing/2014/main" id="{BE63CCAA-A79B-1A44-B2DE-00C650BF663E}"/>
              </a:ext>
            </a:extLst>
          </p:cNvPr>
          <p:cNvSpPr>
            <a:spLocks noGrp="1"/>
          </p:cNvSpPr>
          <p:nvPr>
            <p:ph sz="half" idx="2"/>
          </p:nvPr>
        </p:nvSpPr>
        <p:spPr/>
        <p:txBody>
          <a:bodyPr/>
          <a:lstStyle/>
          <a:p>
            <a:r>
              <a:rPr lang="en-US" dirty="0">
                <a:latin typeface="Times New Roman" panose="02020603050405020304" pitchFamily="18" charset="0"/>
                <a:cs typeface="Times New Roman" panose="02020603050405020304" pitchFamily="18" charset="0"/>
              </a:rPr>
              <a:t>Measles, Varicella, URTI, Malaria, Dengue</a:t>
            </a:r>
          </a:p>
          <a:p>
            <a:r>
              <a:rPr lang="en-US" dirty="0">
                <a:latin typeface="Times New Roman" panose="02020603050405020304" pitchFamily="18" charset="0"/>
                <a:cs typeface="Times New Roman" panose="02020603050405020304" pitchFamily="18" charset="0"/>
              </a:rPr>
              <a:t>Early spring – Measles, Varicella</a:t>
            </a:r>
          </a:p>
          <a:p>
            <a:r>
              <a:rPr lang="en-US" dirty="0">
                <a:latin typeface="Times New Roman" panose="02020603050405020304" pitchFamily="18" charset="0"/>
                <a:cs typeface="Times New Roman" panose="02020603050405020304" pitchFamily="18" charset="0"/>
              </a:rPr>
              <a:t>Winter – URTI</a:t>
            </a:r>
          </a:p>
          <a:p>
            <a:r>
              <a:rPr lang="en-US" dirty="0">
                <a:latin typeface="Times New Roman" panose="02020603050405020304" pitchFamily="18" charset="0"/>
                <a:cs typeface="Times New Roman" panose="02020603050405020304" pitchFamily="18" charset="0"/>
              </a:rPr>
              <a:t>Summer – GI, sunstroke</a:t>
            </a:r>
          </a:p>
          <a:p>
            <a:r>
              <a:rPr lang="en-US" dirty="0">
                <a:latin typeface="Times New Roman" panose="02020603050405020304" pitchFamily="18" charset="0"/>
                <a:cs typeface="Times New Roman" panose="02020603050405020304" pitchFamily="18" charset="0"/>
              </a:rPr>
              <a:t>Environmental conditions</a:t>
            </a:r>
          </a:p>
        </p:txBody>
      </p:sp>
      <p:sp>
        <p:nvSpPr>
          <p:cNvPr id="6" name="Text Placeholder 5">
            <a:extLst>
              <a:ext uri="{FF2B5EF4-FFF2-40B4-BE49-F238E27FC236}">
                <a16:creationId xmlns:a16="http://schemas.microsoft.com/office/drawing/2014/main" id="{AEDD5FB7-58B1-081A-BEBF-1D29AE202D5C}"/>
              </a:ext>
            </a:extLst>
          </p:cNvPr>
          <p:cNvSpPr>
            <a:spLocks noGrp="1"/>
          </p:cNvSpPr>
          <p:nvPr>
            <p:ph type="body" sz="quarter" idx="3"/>
          </p:nvPr>
        </p:nvSpPr>
        <p:spPr/>
        <p:txBody>
          <a:bodyPr>
            <a:normAutofit/>
          </a:bodyPr>
          <a:lstStyle/>
          <a:p>
            <a:r>
              <a:rPr lang="en-US" sz="3200" dirty="0">
                <a:latin typeface="Times New Roman" panose="02020603050405020304" pitchFamily="18" charset="0"/>
                <a:cs typeface="Times New Roman" panose="02020603050405020304" pitchFamily="18" charset="0"/>
              </a:rPr>
              <a:t>Cyclical Trend</a:t>
            </a:r>
          </a:p>
        </p:txBody>
      </p:sp>
      <p:sp>
        <p:nvSpPr>
          <p:cNvPr id="7" name="Content Placeholder 6">
            <a:extLst>
              <a:ext uri="{FF2B5EF4-FFF2-40B4-BE49-F238E27FC236}">
                <a16:creationId xmlns:a16="http://schemas.microsoft.com/office/drawing/2014/main" id="{BB271CF2-6333-242C-C7FE-8CEDF34EC3EA}"/>
              </a:ext>
            </a:extLst>
          </p:cNvPr>
          <p:cNvSpPr>
            <a:spLocks noGrp="1"/>
          </p:cNvSpPr>
          <p:nvPr>
            <p:ph sz="quarter" idx="4"/>
          </p:nvPr>
        </p:nvSpPr>
        <p:spPr/>
        <p:txBody>
          <a:bodyPr/>
          <a:lstStyle/>
          <a:p>
            <a:r>
              <a:rPr lang="en-US" dirty="0">
                <a:latin typeface="Times New Roman" panose="02020603050405020304" pitchFamily="18" charset="0"/>
                <a:cs typeface="Times New Roman" panose="02020603050405020304" pitchFamily="18" charset="0"/>
              </a:rPr>
              <a:t>Days, Weeks, months or years</a:t>
            </a:r>
          </a:p>
          <a:p>
            <a:r>
              <a:rPr lang="en-US" dirty="0">
                <a:latin typeface="Times New Roman" panose="02020603050405020304" pitchFamily="18" charset="0"/>
                <a:cs typeface="Times New Roman" panose="02020603050405020304" pitchFamily="18" charset="0"/>
              </a:rPr>
              <a:t>Measles – pre vaccination era ( every 2 to 3 years)</a:t>
            </a:r>
          </a:p>
          <a:p>
            <a:r>
              <a:rPr lang="en-US" dirty="0">
                <a:latin typeface="Times New Roman" panose="02020603050405020304" pitchFamily="18" charset="0"/>
                <a:cs typeface="Times New Roman" panose="02020603050405020304" pitchFamily="18" charset="0"/>
              </a:rPr>
              <a:t>Influenza – 7 – 10 years (antigenic variations)</a:t>
            </a:r>
          </a:p>
          <a:p>
            <a:r>
              <a:rPr lang="en-US" dirty="0">
                <a:latin typeface="Times New Roman" panose="02020603050405020304" pitchFamily="18" charset="0"/>
                <a:cs typeface="Times New Roman" panose="02020603050405020304" pitchFamily="18" charset="0"/>
              </a:rPr>
              <a:t>RTA in US weekends </a:t>
            </a:r>
          </a:p>
        </p:txBody>
      </p:sp>
    </p:spTree>
    <p:extLst>
      <p:ext uri="{BB962C8B-B14F-4D97-AF65-F5344CB8AC3E}">
        <p14:creationId xmlns:p14="http://schemas.microsoft.com/office/powerpoint/2010/main" val="508396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component of time series | Basic Statistics and Data Analysis">
            <a:extLst>
              <a:ext uri="{FF2B5EF4-FFF2-40B4-BE49-F238E27FC236}">
                <a16:creationId xmlns:a16="http://schemas.microsoft.com/office/drawing/2014/main" id="{0053EF33-2386-A9A3-C2C4-C7B48EA70FB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05438" y="457200"/>
            <a:ext cx="7581123"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417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0F7B19-4A8C-4009-3326-B126763A3AB6}"/>
              </a:ext>
            </a:extLst>
          </p:cNvPr>
          <p:cNvSpPr>
            <a:spLocks noGrp="1"/>
          </p:cNvSpPr>
          <p:nvPr>
            <p:ph type="title"/>
          </p:nvPr>
        </p:nvSpPr>
        <p:spPr>
          <a:xfrm>
            <a:off x="630936" y="640080"/>
            <a:ext cx="4818888" cy="1481328"/>
          </a:xfrm>
        </p:spPr>
        <p:txBody>
          <a:bodyPr anchor="b">
            <a:normAutofit/>
          </a:bodyPr>
          <a:lstStyle/>
          <a:p>
            <a:r>
              <a:rPr lang="en-US" sz="5000"/>
              <a:t>Long term / secular trends</a:t>
            </a:r>
          </a:p>
        </p:txBody>
      </p:sp>
      <p:sp>
        <p:nvSpPr>
          <p:cNvPr id="3081"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AEFE746-1DD9-3E60-24A1-7CDA7F4942B0}"/>
              </a:ext>
            </a:extLst>
          </p:cNvPr>
          <p:cNvSpPr>
            <a:spLocks noGrp="1"/>
          </p:cNvSpPr>
          <p:nvPr>
            <p:ph idx="1"/>
          </p:nvPr>
        </p:nvSpPr>
        <p:spPr>
          <a:xfrm>
            <a:off x="0" y="2660904"/>
            <a:ext cx="6099048" cy="3833902"/>
          </a:xfrm>
        </p:spPr>
        <p:txBody>
          <a:bodyPr anchor="t">
            <a:normAutofit lnSpcReduction="10000"/>
          </a:bodyPr>
          <a:lstStyle/>
          <a:p>
            <a:r>
              <a:rPr lang="en-US" sz="2000" b="0" i="0" u="none" strike="noStrike" baseline="0" dirty="0">
                <a:latin typeface="Times New Roman" panose="02020603050405020304" pitchFamily="18" charset="0"/>
              </a:rPr>
              <a:t>The term “secular trend’ </a:t>
            </a:r>
            <a:r>
              <a:rPr lang="en-US" sz="2000" dirty="0">
                <a:latin typeface="Times New Roman" panose="02020603050405020304" pitchFamily="18" charset="0"/>
              </a:rPr>
              <a:t>i</a:t>
            </a:r>
            <a:r>
              <a:rPr lang="en-US" sz="2000" b="0" i="0" u="none" strike="noStrike" baseline="0" dirty="0">
                <a:latin typeface="Times New Roman" panose="02020603050405020304" pitchFamily="18" charset="0"/>
              </a:rPr>
              <a:t>mplies changes in the occurrence of disease (</a:t>
            </a:r>
            <a:r>
              <a:rPr lang="en-US" sz="2000" dirty="0">
                <a:latin typeface="Times New Roman" panose="02020603050405020304" pitchFamily="18" charset="0"/>
              </a:rPr>
              <a:t>i</a:t>
            </a:r>
            <a:r>
              <a:rPr lang="en-US" sz="2000" b="0" i="0" u="none" strike="noStrike" baseline="0" dirty="0">
                <a:latin typeface="Times New Roman" panose="02020603050405020304" pitchFamily="18" charset="0"/>
              </a:rPr>
              <a:t>.e. a progressive Increase or decrease) over a long period of lime, generally several years or decades. </a:t>
            </a:r>
          </a:p>
          <a:p>
            <a:r>
              <a:rPr lang="en-US" sz="2000" b="0" i="0" u="none" strike="noStrike" baseline="0" dirty="0">
                <a:latin typeface="Times New Roman" panose="02020603050405020304" pitchFamily="18" charset="0"/>
              </a:rPr>
              <a:t>It may have short-term fluctuations imposed on it, a secular trend Implies a consistent tendency to change in a particular direction or a definite movement in one direction. </a:t>
            </a:r>
          </a:p>
          <a:p>
            <a:r>
              <a:rPr lang="en-US" sz="2000" b="0" i="0" u="none" strike="noStrike" baseline="0" dirty="0">
                <a:latin typeface="Times New Roman" panose="02020603050405020304" pitchFamily="18" charset="0"/>
              </a:rPr>
              <a:t>Examples include coronary heart disease, lung cancer and diabetes which have shown a consistent upward trend in the developed countries during the past 50 years or so, followed by a decline of such diseases as tuberculosis, typhoid fever, diphtheria and polio.</a:t>
            </a:r>
            <a:endParaRPr lang="en-US" sz="2000" dirty="0"/>
          </a:p>
        </p:txBody>
      </p:sp>
      <p:pic>
        <p:nvPicPr>
          <p:cNvPr id="3074" name="Picture 2" descr="90110 pp tx_ch03">
            <a:extLst>
              <a:ext uri="{FF2B5EF4-FFF2-40B4-BE49-F238E27FC236}">
                <a16:creationId xmlns:a16="http://schemas.microsoft.com/office/drawing/2014/main" id="{4174EA44-1E4B-CAFA-4800-6A4C89EA387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145" t="22387" r="14497" b="12694"/>
          <a:stretch/>
        </p:blipFill>
        <p:spPr bwMode="auto">
          <a:xfrm>
            <a:off x="6099048" y="1592348"/>
            <a:ext cx="5458968" cy="3673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07648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68A55F-7B32-44D8-AEE5-1AF405326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0FDE9C-A71C-4332-7A84-37099AF1F89F}"/>
              </a:ext>
            </a:extLst>
          </p:cNvPr>
          <p:cNvSpPr>
            <a:spLocks noGrp="1"/>
          </p:cNvSpPr>
          <p:nvPr>
            <p:ph type="title"/>
          </p:nvPr>
        </p:nvSpPr>
        <p:spPr>
          <a:xfrm>
            <a:off x="190863" y="451660"/>
            <a:ext cx="2834640" cy="5457589"/>
          </a:xfrm>
        </p:spPr>
        <p:txBody>
          <a:bodyPr anchor="ctr">
            <a:normAutofit/>
          </a:bodyPr>
          <a:lstStyle/>
          <a:p>
            <a:r>
              <a:rPr lang="en-US" sz="3700" dirty="0"/>
              <a:t>Interpretation</a:t>
            </a:r>
          </a:p>
        </p:txBody>
      </p:sp>
      <p:sp>
        <p:nvSpPr>
          <p:cNvPr id="11" name="Rectangle 10">
            <a:extLst>
              <a:ext uri="{FF2B5EF4-FFF2-40B4-BE49-F238E27FC236}">
                <a16:creationId xmlns:a16="http://schemas.microsoft.com/office/drawing/2014/main" id="{CD1AAA2C-FBBE-42AA-B869-31D524B76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5320" y="6112341"/>
            <a:ext cx="10835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5F937BBF-9326-4230-AB1B-F1795E350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045208" y="4686084"/>
            <a:ext cx="54864" cy="2834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3" name="Content Placeholder 2">
            <a:extLst>
              <a:ext uri="{FF2B5EF4-FFF2-40B4-BE49-F238E27FC236}">
                <a16:creationId xmlns:a16="http://schemas.microsoft.com/office/drawing/2014/main" id="{69C890B4-71D5-20B8-509F-361B1F062E4A}"/>
              </a:ext>
            </a:extLst>
          </p:cNvPr>
          <p:cNvGraphicFramePr>
            <a:graphicFrameLocks noGrp="1"/>
          </p:cNvGraphicFramePr>
          <p:nvPr>
            <p:ph idx="1"/>
            <p:extLst>
              <p:ext uri="{D42A27DB-BD31-4B8C-83A1-F6EECF244321}">
                <p14:modId xmlns:p14="http://schemas.microsoft.com/office/powerpoint/2010/main" val="3557748691"/>
              </p:ext>
            </p:extLst>
          </p:nvPr>
        </p:nvGraphicFramePr>
        <p:xfrm>
          <a:off x="3025503" y="451659"/>
          <a:ext cx="9166497" cy="61334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55829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09E37F-75C2-3C2C-701C-63B74CB8D655}"/>
              </a:ext>
            </a:extLst>
          </p:cNvPr>
          <p:cNvSpPr>
            <a:spLocks noGrp="1"/>
          </p:cNvSpPr>
          <p:nvPr>
            <p:ph type="title"/>
          </p:nvPr>
        </p:nvSpPr>
        <p:spPr>
          <a:xfrm>
            <a:off x="838200" y="365125"/>
            <a:ext cx="10515600" cy="1325563"/>
          </a:xfrm>
        </p:spPr>
        <p:txBody>
          <a:bodyPr>
            <a:normAutofit/>
          </a:bodyPr>
          <a:lstStyle/>
          <a:p>
            <a:r>
              <a:rPr lang="en-US" sz="5400"/>
              <a:t>Place distribution</a:t>
            </a:r>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5EFF7FB-1A1F-B767-B56B-B0F581EC92A1}"/>
              </a:ext>
            </a:extLst>
          </p:cNvPr>
          <p:cNvSpPr>
            <a:spLocks noGrp="1"/>
          </p:cNvSpPr>
          <p:nvPr>
            <p:ph idx="1"/>
          </p:nvPr>
        </p:nvSpPr>
        <p:spPr>
          <a:xfrm>
            <a:off x="362857" y="1690687"/>
            <a:ext cx="11567886" cy="4802187"/>
          </a:xfrm>
        </p:spPr>
        <p:txBody>
          <a:bodyPr>
            <a:normAutofit lnSpcReduction="10000"/>
          </a:bodyPr>
          <a:lstStyle/>
          <a:p>
            <a:r>
              <a:rPr lang="en-US" sz="2000" b="0" i="0" u="none" strike="noStrike" baseline="0" dirty="0">
                <a:latin typeface="Times New Roman" panose="02020603050405020304" pitchFamily="18" charset="0"/>
              </a:rPr>
              <a:t>Studies of the geography of disease (or geographical pathology) is one of the important dimensions of descriptive epidemiology.</a:t>
            </a:r>
          </a:p>
          <a:p>
            <a:r>
              <a:rPr lang="en-US" sz="2000" b="0" i="0" u="none" strike="noStrike" baseline="0" dirty="0">
                <a:latin typeface="Times New Roman" panose="02020603050405020304" pitchFamily="18" charset="0"/>
              </a:rPr>
              <a:t>Perspective on the fascinating differences (or variations) in disease patterns not only between countries, but also within countries. </a:t>
            </a:r>
          </a:p>
          <a:p>
            <a:pPr lvl="1"/>
            <a:r>
              <a:rPr lang="en-US" sz="2000" b="0" i="0" u="none" strike="noStrike" baseline="0" dirty="0">
                <a:latin typeface="Times New Roman" panose="02020603050405020304" pitchFamily="18" charset="0"/>
              </a:rPr>
              <a:t>The relative importance of genes versus environment; </a:t>
            </a:r>
          </a:p>
          <a:p>
            <a:pPr lvl="1"/>
            <a:r>
              <a:rPr lang="en-US" sz="2000" b="0" i="0" u="none" strike="noStrike" baseline="0" dirty="0">
                <a:latin typeface="Times New Roman" panose="02020603050405020304" pitchFamily="18" charset="0"/>
              </a:rPr>
              <a:t>Changes with migration</a:t>
            </a:r>
          </a:p>
          <a:p>
            <a:pPr lvl="1"/>
            <a:r>
              <a:rPr lang="en-US" sz="2000" b="0" i="0" u="none" strike="noStrike" baseline="0" dirty="0">
                <a:latin typeface="Times New Roman" panose="02020603050405020304" pitchFamily="18" charset="0"/>
              </a:rPr>
              <a:t>Possible roles of diet</a:t>
            </a:r>
          </a:p>
          <a:p>
            <a:r>
              <a:rPr lang="en-US" sz="2000" b="0" i="0" u="none" strike="noStrike" baseline="0" dirty="0">
                <a:latin typeface="Times New Roman" panose="02020603050405020304" pitchFamily="18" charset="0"/>
              </a:rPr>
              <a:t>Geographic patterns provide an important source of clues about the causes of the disease. </a:t>
            </a:r>
          </a:p>
          <a:p>
            <a:r>
              <a:rPr lang="en-US" sz="2000" b="0" i="0" u="none" strike="noStrike" baseline="0" dirty="0">
                <a:latin typeface="Times New Roman" panose="02020603050405020304" pitchFamily="18" charset="0"/>
              </a:rPr>
              <a:t>The range of geographic studies include those concerned with local variations. At a broader level, international comparisons may examine mortality and morbidity in relation to socio-economic factors, dietary differences and the differences in culture and </a:t>
            </a:r>
            <a:r>
              <a:rPr lang="en-US" sz="2000" b="0" i="0" u="none" strike="noStrike" baseline="0" dirty="0" err="1">
                <a:latin typeface="Times New Roman" panose="02020603050405020304" pitchFamily="18" charset="0"/>
              </a:rPr>
              <a:t>behaviour</a:t>
            </a:r>
            <a:r>
              <a:rPr lang="en-US" sz="2000" b="0" i="0" u="none" strike="noStrike" baseline="0" dirty="0">
                <a:latin typeface="Times New Roman" panose="02020603050405020304" pitchFamily="18" charset="0"/>
              </a:rPr>
              <a:t>. These variations may be classified as :</a:t>
            </a:r>
          </a:p>
          <a:p>
            <a:pPr lvl="1"/>
            <a:r>
              <a:rPr lang="en-US" sz="2000" b="0" i="0" u="none" strike="noStrike" baseline="0" dirty="0">
                <a:latin typeface="Times New Roman" panose="02020603050405020304" pitchFamily="18" charset="0"/>
              </a:rPr>
              <a:t>International variations</a:t>
            </a:r>
          </a:p>
          <a:p>
            <a:pPr lvl="1"/>
            <a:r>
              <a:rPr lang="en-US" sz="2000" b="0" i="0" u="none" strike="noStrike" baseline="0" dirty="0">
                <a:latin typeface="Times New Roman" panose="02020603050405020304" pitchFamily="18" charset="0"/>
              </a:rPr>
              <a:t>National variations</a:t>
            </a:r>
          </a:p>
          <a:p>
            <a:pPr lvl="1"/>
            <a:r>
              <a:rPr lang="en-US" sz="2000" dirty="0">
                <a:latin typeface="Times New Roman" panose="02020603050405020304" pitchFamily="18" charset="0"/>
              </a:rPr>
              <a:t>Rural Urban Variation</a:t>
            </a:r>
          </a:p>
          <a:p>
            <a:pPr lvl="1"/>
            <a:r>
              <a:rPr lang="en-US" sz="2000" dirty="0">
                <a:latin typeface="Times New Roman" panose="02020603050405020304" pitchFamily="18" charset="0"/>
              </a:rPr>
              <a:t>Local distributions</a:t>
            </a:r>
            <a:endParaRPr lang="en-US" sz="2000" dirty="0"/>
          </a:p>
        </p:txBody>
      </p:sp>
    </p:spTree>
    <p:extLst>
      <p:ext uri="{BB962C8B-B14F-4D97-AF65-F5344CB8AC3E}">
        <p14:creationId xmlns:p14="http://schemas.microsoft.com/office/powerpoint/2010/main" val="28704800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EFFBC8-40A5-1616-E8EC-6D709811AAD0}"/>
              </a:ext>
            </a:extLst>
          </p:cNvPr>
          <p:cNvSpPr>
            <a:spLocks noGrp="1"/>
          </p:cNvSpPr>
          <p:nvPr>
            <p:ph type="title"/>
          </p:nvPr>
        </p:nvSpPr>
        <p:spPr>
          <a:xfrm>
            <a:off x="838200" y="365125"/>
            <a:ext cx="10515600" cy="1325563"/>
          </a:xfrm>
        </p:spPr>
        <p:txBody>
          <a:bodyPr>
            <a:normAutofit/>
          </a:bodyPr>
          <a:lstStyle/>
          <a:p>
            <a:r>
              <a:rPr lang="en-US" sz="5400"/>
              <a:t>International variations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3ECEF26-DB42-4C3B-F98D-D5396ECDC128}"/>
              </a:ext>
            </a:extLst>
          </p:cNvPr>
          <p:cNvSpPr>
            <a:spLocks noGrp="1"/>
          </p:cNvSpPr>
          <p:nvPr>
            <p:ph idx="1"/>
          </p:nvPr>
        </p:nvSpPr>
        <p:spPr>
          <a:xfrm>
            <a:off x="838200" y="1929384"/>
            <a:ext cx="10515600" cy="4251960"/>
          </a:xfrm>
        </p:spPr>
        <p:txBody>
          <a:bodyPr>
            <a:normAutofit fontScale="92500" lnSpcReduction="10000"/>
          </a:bodyPr>
          <a:lstStyle/>
          <a:p>
            <a:r>
              <a:rPr lang="en-US" sz="2400" b="0" i="0" u="none" strike="noStrike" baseline="0" dirty="0">
                <a:latin typeface="Times New Roman" panose="02020603050405020304" pitchFamily="18" charset="0"/>
              </a:rPr>
              <a:t>Pattern of disease is not the same everywhere. </a:t>
            </a:r>
          </a:p>
          <a:p>
            <a:r>
              <a:rPr lang="en-US" sz="2400" b="0" i="0" u="none" strike="noStrike" baseline="0" dirty="0">
                <a:latin typeface="Times New Roman" panose="02020603050405020304" pitchFamily="18" charset="0"/>
              </a:rPr>
              <a:t>Marked difference between the incidence of each cancer in different parts of the world. </a:t>
            </a:r>
          </a:p>
          <a:p>
            <a:pPr lvl="1"/>
            <a:r>
              <a:rPr lang="en-US" b="0" i="0" u="none" strike="noStrike" baseline="0" dirty="0">
                <a:latin typeface="Times New Roman" panose="02020603050405020304" pitchFamily="18" charset="0"/>
              </a:rPr>
              <a:t>Cancer of the stomach is very common in Japan, but unusual in US.</a:t>
            </a:r>
          </a:p>
          <a:p>
            <a:pPr lvl="1"/>
            <a:r>
              <a:rPr lang="en-US" b="0" i="0" u="none" strike="noStrike" baseline="0" dirty="0">
                <a:latin typeface="Times New Roman" panose="02020603050405020304" pitchFamily="18" charset="0"/>
              </a:rPr>
              <a:t>Cancers of the oral cavity and uterine cervix are exceedingly common in India as compared to industrialized countries.</a:t>
            </a:r>
          </a:p>
          <a:p>
            <a:pPr lvl="1"/>
            <a:r>
              <a:rPr lang="en-US" b="0" i="0" u="none" strike="noStrike" baseline="0" dirty="0">
                <a:latin typeface="Times New Roman" panose="02020603050405020304" pitchFamily="18" charset="0"/>
              </a:rPr>
              <a:t>An International study of breast cancer showed that rates differ widely from country to country with the lowest prevalence </a:t>
            </a:r>
            <a:r>
              <a:rPr lang="en-US" dirty="0">
                <a:latin typeface="Times New Roman" panose="02020603050405020304" pitchFamily="18" charset="0"/>
              </a:rPr>
              <a:t>i</a:t>
            </a:r>
            <a:r>
              <a:rPr lang="en-US" b="0" i="0" u="none" strike="noStrike" baseline="0" dirty="0">
                <a:latin typeface="Times New Roman" panose="02020603050405020304" pitchFamily="18" charset="0"/>
              </a:rPr>
              <a:t>n Japan and the highest in the western countries. </a:t>
            </a:r>
          </a:p>
          <a:p>
            <a:r>
              <a:rPr lang="en-US" sz="2400" b="0" i="0" u="none" strike="noStrike" baseline="0" dirty="0">
                <a:latin typeface="Times New Roman" panose="02020603050405020304" pitchFamily="18" charset="0"/>
              </a:rPr>
              <a:t>Similarly, there are marked international differences in the occurrence of cardiovascular diseases.</a:t>
            </a:r>
          </a:p>
          <a:p>
            <a:r>
              <a:rPr lang="en-US" sz="2400" b="0" i="0" u="none" strike="noStrike" baseline="0" dirty="0">
                <a:latin typeface="Times New Roman" panose="02020603050405020304" pitchFamily="18" charset="0"/>
              </a:rPr>
              <a:t>These variations have stimulated epidemiologists to search for cause-effect relationships between the environmental factors and disease.</a:t>
            </a:r>
            <a:endParaRPr lang="en-US" sz="2400" dirty="0"/>
          </a:p>
        </p:txBody>
      </p:sp>
    </p:spTree>
    <p:extLst>
      <p:ext uri="{BB962C8B-B14F-4D97-AF65-F5344CB8AC3E}">
        <p14:creationId xmlns:p14="http://schemas.microsoft.com/office/powerpoint/2010/main" val="4252900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EBC5CB-F696-4123-8258-D2D7350A4AC0}"/>
              </a:ext>
            </a:extLst>
          </p:cNvPr>
          <p:cNvSpPr>
            <a:spLocks noGrp="1"/>
          </p:cNvSpPr>
          <p:nvPr>
            <p:ph type="title"/>
          </p:nvPr>
        </p:nvSpPr>
        <p:spPr>
          <a:xfrm>
            <a:off x="838200" y="365125"/>
            <a:ext cx="10515600" cy="1325563"/>
          </a:xfrm>
        </p:spPr>
        <p:txBody>
          <a:bodyPr>
            <a:normAutofit/>
          </a:bodyPr>
          <a:lstStyle/>
          <a:p>
            <a:r>
              <a:rPr lang="en-US" sz="5400"/>
              <a:t>National Variations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11E71E2-209B-0639-C669-1E55A9CDF86D}"/>
              </a:ext>
            </a:extLst>
          </p:cNvPr>
          <p:cNvSpPr>
            <a:spLocks noGrp="1"/>
          </p:cNvSpPr>
          <p:nvPr>
            <p:ph idx="1"/>
          </p:nvPr>
        </p:nvSpPr>
        <p:spPr>
          <a:xfrm>
            <a:off x="838200" y="1929384"/>
            <a:ext cx="10515600" cy="4251960"/>
          </a:xfrm>
        </p:spPr>
        <p:txBody>
          <a:bodyPr>
            <a:normAutofit/>
          </a:bodyPr>
          <a:lstStyle/>
          <a:p>
            <a:r>
              <a:rPr lang="en-US" b="0" i="0" u="none" strike="noStrike" baseline="0">
                <a:latin typeface="Times New Roman" panose="02020603050405020304" pitchFamily="18" charset="0"/>
              </a:rPr>
              <a:t>The distribution of endemic goitre, lathyrism, fluorosis, leprosy, malaria, nutritional deficiency diseases have all shown variations in their distribution in India, with some parts of the country more affected and others less affected or not affected at all. </a:t>
            </a:r>
          </a:p>
          <a:p>
            <a:r>
              <a:rPr lang="en-US" b="0" i="0" u="none" strike="noStrike" baseline="0">
                <a:latin typeface="Times New Roman" panose="02020603050405020304" pitchFamily="18" charset="0"/>
              </a:rPr>
              <a:t>Such situations exist in every country. </a:t>
            </a:r>
          </a:p>
          <a:p>
            <a:r>
              <a:rPr lang="en-US" b="0" i="0" u="none" strike="noStrike" baseline="0">
                <a:latin typeface="Times New Roman" panose="02020603050405020304" pitchFamily="18" charset="0"/>
              </a:rPr>
              <a:t>Such information is needed to demarcate the affected areas and for providing appropriate health care services.</a:t>
            </a:r>
            <a:endParaRPr lang="en-US"/>
          </a:p>
        </p:txBody>
      </p:sp>
    </p:spTree>
    <p:extLst>
      <p:ext uri="{BB962C8B-B14F-4D97-AF65-F5344CB8AC3E}">
        <p14:creationId xmlns:p14="http://schemas.microsoft.com/office/powerpoint/2010/main" val="3006531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41A64C-E739-124E-7E69-4F71ABD5FABC}"/>
              </a:ext>
            </a:extLst>
          </p:cNvPr>
          <p:cNvSpPr>
            <a:spLocks noGrp="1"/>
          </p:cNvSpPr>
          <p:nvPr>
            <p:ph type="title"/>
          </p:nvPr>
        </p:nvSpPr>
        <p:spPr>
          <a:xfrm>
            <a:off x="838200" y="365125"/>
            <a:ext cx="10515600" cy="1325563"/>
          </a:xfrm>
        </p:spPr>
        <p:txBody>
          <a:bodyPr>
            <a:normAutofit/>
          </a:bodyPr>
          <a:lstStyle/>
          <a:p>
            <a:r>
              <a:rPr lang="en-US" sz="5400"/>
              <a:t>Rural Urban Variations</a:t>
            </a:r>
          </a:p>
        </p:txBody>
      </p:sp>
      <p:sp>
        <p:nvSpPr>
          <p:cNvPr id="15"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5B3DEA0-29EC-E695-9495-002E64A13E4E}"/>
              </a:ext>
            </a:extLst>
          </p:cNvPr>
          <p:cNvSpPr>
            <a:spLocks noGrp="1"/>
          </p:cNvSpPr>
          <p:nvPr>
            <p:ph idx="1"/>
          </p:nvPr>
        </p:nvSpPr>
        <p:spPr>
          <a:xfrm>
            <a:off x="499872" y="1690688"/>
            <a:ext cx="10853928" cy="4490656"/>
          </a:xfrm>
        </p:spPr>
        <p:txBody>
          <a:bodyPr>
            <a:normAutofit lnSpcReduction="10000"/>
          </a:bodyPr>
          <a:lstStyle/>
          <a:p>
            <a:r>
              <a:rPr lang="en-US" sz="2400" b="0" i="0" u="none" strike="noStrike" baseline="0" dirty="0">
                <a:latin typeface="Times New Roman" panose="02020603050405020304" pitchFamily="18" charset="0"/>
              </a:rPr>
              <a:t>Chronic bronchitis, accidents, lung cancer, cardiovascular diseases, mental illness and drug dependance are usually more frequent in urban than in rural areas. </a:t>
            </a:r>
          </a:p>
          <a:p>
            <a:r>
              <a:rPr lang="en-US" sz="2400" b="0" i="0" u="none" strike="noStrike" baseline="0" dirty="0">
                <a:latin typeface="Times New Roman" panose="02020603050405020304" pitchFamily="18" charset="0"/>
              </a:rPr>
              <a:t>On the other hand, skin and zoonotic diseases and soil-transmitted helminths may be more frequent in rural areas than in urban areas. </a:t>
            </a:r>
          </a:p>
          <a:p>
            <a:r>
              <a:rPr lang="en-US" sz="2400" b="0" i="0" u="none" strike="noStrike" baseline="0" dirty="0">
                <a:latin typeface="Times New Roman" panose="02020603050405020304" pitchFamily="18" charset="0"/>
              </a:rPr>
              <a:t>Death rates, especially infant and maternal mortality rates, are higher for rural than urban areas. </a:t>
            </a:r>
          </a:p>
          <a:p>
            <a:r>
              <a:rPr lang="en-US" sz="2400" b="0" i="0" u="none" strike="noStrike" baseline="0" dirty="0">
                <a:latin typeface="Times New Roman" panose="02020603050405020304" pitchFamily="18" charset="0"/>
              </a:rPr>
              <a:t>These variations may be due to differences in population density, social class, deficiencies in medical care, levels of sanitation, education and environmental factors. </a:t>
            </a:r>
          </a:p>
          <a:p>
            <a:r>
              <a:rPr lang="en-US" sz="2400" b="0" i="0" u="none" strike="noStrike" baseline="0" dirty="0">
                <a:latin typeface="Times New Roman" panose="02020603050405020304" pitchFamily="18" charset="0"/>
              </a:rPr>
              <a:t>The epidemiologist seeks to define groups which are at higher risk for particular diseases and provides guidelines to the health administrator for their prevention and control.</a:t>
            </a:r>
            <a:endParaRPr lang="en-US" sz="2400" dirty="0"/>
          </a:p>
        </p:txBody>
      </p:sp>
    </p:spTree>
    <p:extLst>
      <p:ext uri="{BB962C8B-B14F-4D97-AF65-F5344CB8AC3E}">
        <p14:creationId xmlns:p14="http://schemas.microsoft.com/office/powerpoint/2010/main" val="42300757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TotalTime>
  <Words>1641</Words>
  <Application>Microsoft Office PowerPoint</Application>
  <PresentationFormat>Widescreen</PresentationFormat>
  <Paragraphs>155</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Avenir Next LT Pro</vt:lpstr>
      <vt:lpstr>Calibri</vt:lpstr>
      <vt:lpstr>Times New Roman</vt:lpstr>
      <vt:lpstr>Office Theme</vt:lpstr>
      <vt:lpstr>Descriptive epidemiology</vt:lpstr>
      <vt:lpstr>PowerPoint Presentation</vt:lpstr>
      <vt:lpstr>MCQ - 1</vt:lpstr>
      <vt:lpstr>MCQ - 2</vt:lpstr>
      <vt:lpstr>MCQ - 3</vt:lpstr>
      <vt:lpstr>MCQ - 4</vt:lpstr>
      <vt:lpstr>MCQ - 5</vt:lpstr>
      <vt:lpstr>Steps</vt:lpstr>
      <vt:lpstr>Time Distribution</vt:lpstr>
      <vt:lpstr>Short term fluctuations</vt:lpstr>
      <vt:lpstr>Epidemics</vt:lpstr>
      <vt:lpstr>Single exposure / Point source</vt:lpstr>
      <vt:lpstr>Continuous/ Repeated exposure</vt:lpstr>
      <vt:lpstr>Epidemic Curve</vt:lpstr>
      <vt:lpstr>Propagated epidemic</vt:lpstr>
      <vt:lpstr>Herd Immunity</vt:lpstr>
      <vt:lpstr>PowerPoint Presentation</vt:lpstr>
      <vt:lpstr>Slow (Modern) epidemics</vt:lpstr>
      <vt:lpstr>Periodic fluctuations</vt:lpstr>
      <vt:lpstr>PowerPoint Presentation</vt:lpstr>
      <vt:lpstr>Long term / secular trends</vt:lpstr>
      <vt:lpstr>Interpretation</vt:lpstr>
      <vt:lpstr>Place distribution</vt:lpstr>
      <vt:lpstr>International variations</vt:lpstr>
      <vt:lpstr>National Variations</vt:lpstr>
      <vt:lpstr>Rural Urban Variations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Descriptive epidemiology</dc:title>
  <dc:creator>mukul maheshwari</dc:creator>
  <cp:lastModifiedBy>mukul maheshwari</cp:lastModifiedBy>
  <cp:revision>2</cp:revision>
  <dcterms:created xsi:type="dcterms:W3CDTF">2023-05-08T12:26:04Z</dcterms:created>
  <dcterms:modified xsi:type="dcterms:W3CDTF">2024-04-17T18:17:45Z</dcterms:modified>
</cp:coreProperties>
</file>