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86" r:id="rId3"/>
    <p:sldId id="287" r:id="rId4"/>
    <p:sldId id="288" r:id="rId5"/>
    <p:sldId id="289" r:id="rId6"/>
    <p:sldId id="290" r:id="rId7"/>
    <p:sldId id="291" r:id="rId8"/>
    <p:sldId id="273" r:id="rId9"/>
    <p:sldId id="274" r:id="rId10"/>
    <p:sldId id="275" r:id="rId11"/>
    <p:sldId id="276" r:id="rId12"/>
    <p:sldId id="277" r:id="rId13"/>
    <p:sldId id="282" r:id="rId14"/>
    <p:sldId id="283" r:id="rId15"/>
    <p:sldId id="284" r:id="rId16"/>
    <p:sldId id="285"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92" r:id="rId33"/>
    <p:sldId id="293" r:id="rId34"/>
    <p:sldId id="294" r:id="rId35"/>
    <p:sldId id="295" r:id="rId36"/>
    <p:sldId id="296" r:id="rId37"/>
    <p:sldId id="297" r:id="rId38"/>
    <p:sldId id="298" r:id="rId39"/>
    <p:sldId id="299" r:id="rId40"/>
    <p:sldId id="300" r:id="rId41"/>
    <p:sldId id="301" r:id="rId42"/>
    <p:sldId id="272"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21D77A-5DBB-47FF-B11A-AC89C4C57A41}" v="2" dt="2024-04-24T16:31:13.0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3" d="100"/>
          <a:sy n="123" d="100"/>
        </p:scale>
        <p:origin x="114"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9B21D77A-5DBB-47FF-B11A-AC89C4C57A41}"/>
    <pc:docChg chg="custSel addSld modSld">
      <pc:chgData name="mukul maheshwari" userId="12cb43e2ca5f0d2c" providerId="LiveId" clId="{9B21D77A-5DBB-47FF-B11A-AC89C4C57A41}" dt="2024-04-24T16:32:30.178" v="24" actId="207"/>
      <pc:docMkLst>
        <pc:docMk/>
      </pc:docMkLst>
      <pc:sldChg chg="delSp modSp add mod setBg delDesignElem">
        <pc:chgData name="mukul maheshwari" userId="12cb43e2ca5f0d2c" providerId="LiveId" clId="{9B21D77A-5DBB-47FF-B11A-AC89C4C57A41}" dt="2024-04-24T16:29:07.354" v="5" actId="27636"/>
        <pc:sldMkLst>
          <pc:docMk/>
          <pc:sldMk cId="2870480062" sldId="282"/>
        </pc:sldMkLst>
        <pc:spChg chg="mod">
          <ac:chgData name="mukul maheshwari" userId="12cb43e2ca5f0d2c" providerId="LiveId" clId="{9B21D77A-5DBB-47FF-B11A-AC89C4C57A41}" dt="2024-04-24T16:29:07.354" v="5" actId="27636"/>
          <ac:spMkLst>
            <pc:docMk/>
            <pc:sldMk cId="2870480062" sldId="282"/>
            <ac:spMk id="3" creationId="{35EFF7FB-1A1F-B767-B56B-B0F581EC92A1}"/>
          </ac:spMkLst>
        </pc:spChg>
        <pc:spChg chg="del">
          <ac:chgData name="mukul maheshwari" userId="12cb43e2ca5f0d2c" providerId="LiveId" clId="{9B21D77A-5DBB-47FF-B11A-AC89C4C57A41}" dt="2024-04-24T16:29:07.276" v="4"/>
          <ac:spMkLst>
            <pc:docMk/>
            <pc:sldMk cId="2870480062" sldId="282"/>
            <ac:spMk id="16" creationId="{100EDD19-6802-4EC3-95CE-CFFAB042CFD6}"/>
          </ac:spMkLst>
        </pc:spChg>
        <pc:spChg chg="del">
          <ac:chgData name="mukul maheshwari" userId="12cb43e2ca5f0d2c" providerId="LiveId" clId="{9B21D77A-5DBB-47FF-B11A-AC89C4C57A41}" dt="2024-04-24T16:29:07.276" v="4"/>
          <ac:spMkLst>
            <pc:docMk/>
            <pc:sldMk cId="2870480062" sldId="282"/>
            <ac:spMk id="17" creationId="{DB17E863-922E-4C26-BD64-E8FD41D28661}"/>
          </ac:spMkLst>
        </pc:spChg>
      </pc:sldChg>
      <pc:sldChg chg="delSp modSp add mod setBg delDesignElem">
        <pc:chgData name="mukul maheshwari" userId="12cb43e2ca5f0d2c" providerId="LiveId" clId="{9B21D77A-5DBB-47FF-B11A-AC89C4C57A41}" dt="2024-04-24T16:29:07.417" v="6" actId="27636"/>
        <pc:sldMkLst>
          <pc:docMk/>
          <pc:sldMk cId="4252900023" sldId="283"/>
        </pc:sldMkLst>
        <pc:spChg chg="mod">
          <ac:chgData name="mukul maheshwari" userId="12cb43e2ca5f0d2c" providerId="LiveId" clId="{9B21D77A-5DBB-47FF-B11A-AC89C4C57A41}" dt="2024-04-24T16:29:07.417" v="6" actId="27636"/>
          <ac:spMkLst>
            <pc:docMk/>
            <pc:sldMk cId="4252900023" sldId="283"/>
            <ac:spMk id="3" creationId="{E3ECEF26-DB42-4C3B-F98D-D5396ECDC128}"/>
          </ac:spMkLst>
        </pc:spChg>
        <pc:spChg chg="del">
          <ac:chgData name="mukul maheshwari" userId="12cb43e2ca5f0d2c" providerId="LiveId" clId="{9B21D77A-5DBB-47FF-B11A-AC89C4C57A41}" dt="2024-04-24T16:29:07.276" v="4"/>
          <ac:spMkLst>
            <pc:docMk/>
            <pc:sldMk cId="4252900023" sldId="283"/>
            <ac:spMk id="8" creationId="{100EDD19-6802-4EC3-95CE-CFFAB042CFD6}"/>
          </ac:spMkLst>
        </pc:spChg>
        <pc:spChg chg="del">
          <ac:chgData name="mukul maheshwari" userId="12cb43e2ca5f0d2c" providerId="LiveId" clId="{9B21D77A-5DBB-47FF-B11A-AC89C4C57A41}" dt="2024-04-24T16:29:07.276" v="4"/>
          <ac:spMkLst>
            <pc:docMk/>
            <pc:sldMk cId="4252900023" sldId="283"/>
            <ac:spMk id="10" creationId="{DB17E863-922E-4C26-BD64-E8FD41D28661}"/>
          </ac:spMkLst>
        </pc:spChg>
      </pc:sldChg>
      <pc:sldChg chg="delSp add setBg delDesignElem">
        <pc:chgData name="mukul maheshwari" userId="12cb43e2ca5f0d2c" providerId="LiveId" clId="{9B21D77A-5DBB-47FF-B11A-AC89C4C57A41}" dt="2024-04-24T16:29:07.276" v="4"/>
        <pc:sldMkLst>
          <pc:docMk/>
          <pc:sldMk cId="3006531027" sldId="284"/>
        </pc:sldMkLst>
        <pc:spChg chg="del">
          <ac:chgData name="mukul maheshwari" userId="12cb43e2ca5f0d2c" providerId="LiveId" clId="{9B21D77A-5DBB-47FF-B11A-AC89C4C57A41}" dt="2024-04-24T16:29:07.276" v="4"/>
          <ac:spMkLst>
            <pc:docMk/>
            <pc:sldMk cId="3006531027" sldId="284"/>
            <ac:spMk id="8" creationId="{100EDD19-6802-4EC3-95CE-CFFAB042CFD6}"/>
          </ac:spMkLst>
        </pc:spChg>
        <pc:spChg chg="del">
          <ac:chgData name="mukul maheshwari" userId="12cb43e2ca5f0d2c" providerId="LiveId" clId="{9B21D77A-5DBB-47FF-B11A-AC89C4C57A41}" dt="2024-04-24T16:29:07.276" v="4"/>
          <ac:spMkLst>
            <pc:docMk/>
            <pc:sldMk cId="3006531027" sldId="284"/>
            <ac:spMk id="10" creationId="{DB17E863-922E-4C26-BD64-E8FD41D28661}"/>
          </ac:spMkLst>
        </pc:spChg>
      </pc:sldChg>
      <pc:sldChg chg="delSp modSp add mod setBg delDesignElem">
        <pc:chgData name="mukul maheshwari" userId="12cb43e2ca5f0d2c" providerId="LiveId" clId="{9B21D77A-5DBB-47FF-B11A-AC89C4C57A41}" dt="2024-04-24T16:29:07.432" v="7" actId="27636"/>
        <pc:sldMkLst>
          <pc:docMk/>
          <pc:sldMk cId="4230075721" sldId="285"/>
        </pc:sldMkLst>
        <pc:spChg chg="mod">
          <ac:chgData name="mukul maheshwari" userId="12cb43e2ca5f0d2c" providerId="LiveId" clId="{9B21D77A-5DBB-47FF-B11A-AC89C4C57A41}" dt="2024-04-24T16:29:07.432" v="7" actId="27636"/>
          <ac:spMkLst>
            <pc:docMk/>
            <pc:sldMk cId="4230075721" sldId="285"/>
            <ac:spMk id="3" creationId="{75B3DEA0-29EC-E695-9495-002E64A13E4E}"/>
          </ac:spMkLst>
        </pc:spChg>
        <pc:spChg chg="del">
          <ac:chgData name="mukul maheshwari" userId="12cb43e2ca5f0d2c" providerId="LiveId" clId="{9B21D77A-5DBB-47FF-B11A-AC89C4C57A41}" dt="2024-04-24T16:29:07.276" v="4"/>
          <ac:spMkLst>
            <pc:docMk/>
            <pc:sldMk cId="4230075721" sldId="285"/>
            <ac:spMk id="14" creationId="{100EDD19-6802-4EC3-95CE-CFFAB042CFD6}"/>
          </ac:spMkLst>
        </pc:spChg>
        <pc:spChg chg="del">
          <ac:chgData name="mukul maheshwari" userId="12cb43e2ca5f0d2c" providerId="LiveId" clId="{9B21D77A-5DBB-47FF-B11A-AC89C4C57A41}" dt="2024-04-24T16:29:07.276" v="4"/>
          <ac:spMkLst>
            <pc:docMk/>
            <pc:sldMk cId="4230075721" sldId="285"/>
            <ac:spMk id="15" creationId="{DB17E863-922E-4C26-BD64-E8FD41D28661}"/>
          </ac:spMkLst>
        </pc:spChg>
      </pc:sldChg>
      <pc:sldChg chg="delSp modSp add mod setBg delDesignElem">
        <pc:chgData name="mukul maheshwari" userId="12cb43e2ca5f0d2c" providerId="LiveId" clId="{9B21D77A-5DBB-47FF-B11A-AC89C4C57A41}" dt="2024-04-24T16:32:02.033" v="23" actId="207"/>
        <pc:sldMkLst>
          <pc:docMk/>
          <pc:sldMk cId="4270413765" sldId="292"/>
        </pc:sldMkLst>
        <pc:spChg chg="mod">
          <ac:chgData name="mukul maheshwari" userId="12cb43e2ca5f0d2c" providerId="LiveId" clId="{9B21D77A-5DBB-47FF-B11A-AC89C4C57A41}" dt="2024-04-24T16:32:02.033" v="23" actId="207"/>
          <ac:spMkLst>
            <pc:docMk/>
            <pc:sldMk cId="4270413765" sldId="292"/>
            <ac:spMk id="2" creationId="{A867E7D6-74F7-C649-EA2D-568469D1D49C}"/>
          </ac:spMkLst>
        </pc:spChg>
        <pc:spChg chg="mod">
          <ac:chgData name="mukul maheshwari" userId="12cb43e2ca5f0d2c" providerId="LiveId" clId="{9B21D77A-5DBB-47FF-B11A-AC89C4C57A41}" dt="2024-04-24T16:32:02.033" v="23" actId="207"/>
          <ac:spMkLst>
            <pc:docMk/>
            <pc:sldMk cId="4270413765" sldId="292"/>
            <ac:spMk id="3" creationId="{CCC13244-734B-948C-4F32-9ABE22A7AAD7}"/>
          </ac:spMkLst>
        </pc:spChg>
        <pc:spChg chg="del">
          <ac:chgData name="mukul maheshwari" userId="12cb43e2ca5f0d2c" providerId="LiveId" clId="{9B21D77A-5DBB-47FF-B11A-AC89C4C57A41}" dt="2024-04-24T16:31:13.076" v="15"/>
          <ac:spMkLst>
            <pc:docMk/>
            <pc:sldMk cId="4270413765" sldId="292"/>
            <ac:spMk id="9" creationId="{03AE087C-11E2-4305-9282-D7F122FE726E}"/>
          </ac:spMkLst>
        </pc:spChg>
        <pc:grpChg chg="del">
          <ac:chgData name="mukul maheshwari" userId="12cb43e2ca5f0d2c" providerId="LiveId" clId="{9B21D77A-5DBB-47FF-B11A-AC89C4C57A41}" dt="2024-04-24T16:31:13.076" v="15"/>
          <ac:grpSpMkLst>
            <pc:docMk/>
            <pc:sldMk cId="4270413765" sldId="292"/>
            <ac:grpSpMk id="11" creationId="{7CECCFA5-40A0-4B37-8B7B-D912C28A15C3}"/>
          </ac:grpSpMkLst>
        </pc:grpChg>
      </pc:sldChg>
      <pc:sldChg chg="delSp add setBg delDesignElem">
        <pc:chgData name="mukul maheshwari" userId="12cb43e2ca5f0d2c" providerId="LiveId" clId="{9B21D77A-5DBB-47FF-B11A-AC89C4C57A41}" dt="2024-04-24T16:31:13.076" v="15"/>
        <pc:sldMkLst>
          <pc:docMk/>
          <pc:sldMk cId="4239410958" sldId="293"/>
        </pc:sldMkLst>
        <pc:spChg chg="del">
          <ac:chgData name="mukul maheshwari" userId="12cb43e2ca5f0d2c" providerId="LiveId" clId="{9B21D77A-5DBB-47FF-B11A-AC89C4C57A41}" dt="2024-04-24T16:31:13.076" v="15"/>
          <ac:spMkLst>
            <pc:docMk/>
            <pc:sldMk cId="4239410958" sldId="293"/>
            <ac:spMk id="8" creationId="{471A3572-4543-4883-A749-0458CD8700C2}"/>
          </ac:spMkLst>
        </pc:spChg>
        <pc:spChg chg="del">
          <ac:chgData name="mukul maheshwari" userId="12cb43e2ca5f0d2c" providerId="LiveId" clId="{9B21D77A-5DBB-47FF-B11A-AC89C4C57A41}" dt="2024-04-24T16:31:13.076" v="15"/>
          <ac:spMkLst>
            <pc:docMk/>
            <pc:sldMk cId="4239410958" sldId="293"/>
            <ac:spMk id="10" creationId="{4036AB30-180B-4ED5-A38B-175705419281}"/>
          </ac:spMkLst>
        </pc:spChg>
        <pc:spChg chg="del">
          <ac:chgData name="mukul maheshwari" userId="12cb43e2ca5f0d2c" providerId="LiveId" clId="{9B21D77A-5DBB-47FF-B11A-AC89C4C57A41}" dt="2024-04-24T16:31:13.076" v="15"/>
          <ac:spMkLst>
            <pc:docMk/>
            <pc:sldMk cId="4239410958" sldId="293"/>
            <ac:spMk id="18" creationId="{DC83D935-436B-4F4D-A47B-4FD95E2C1D80}"/>
          </ac:spMkLst>
        </pc:spChg>
        <pc:grpChg chg="del">
          <ac:chgData name="mukul maheshwari" userId="12cb43e2ca5f0d2c" providerId="LiveId" clId="{9B21D77A-5DBB-47FF-B11A-AC89C4C57A41}" dt="2024-04-24T16:31:13.076" v="15"/>
          <ac:grpSpMkLst>
            <pc:docMk/>
            <pc:sldMk cId="4239410958" sldId="293"/>
            <ac:grpSpMk id="12" creationId="{C7DC96D6-0134-4EA3-8B0A-6A255D6BDE31}"/>
          </ac:grpSpMkLst>
        </pc:grpChg>
      </pc:sldChg>
      <pc:sldChg chg="add">
        <pc:chgData name="mukul maheshwari" userId="12cb43e2ca5f0d2c" providerId="LiveId" clId="{9B21D77A-5DBB-47FF-B11A-AC89C4C57A41}" dt="2024-04-24T16:31:13.076" v="15"/>
        <pc:sldMkLst>
          <pc:docMk/>
          <pc:sldMk cId="3790104965" sldId="294"/>
        </pc:sldMkLst>
      </pc:sldChg>
      <pc:sldChg chg="delSp modSp add mod setBg delDesignElem">
        <pc:chgData name="mukul maheshwari" userId="12cb43e2ca5f0d2c" providerId="LiveId" clId="{9B21D77A-5DBB-47FF-B11A-AC89C4C57A41}" dt="2024-04-24T16:31:13.170" v="17" actId="27636"/>
        <pc:sldMkLst>
          <pc:docMk/>
          <pc:sldMk cId="841615053" sldId="295"/>
        </pc:sldMkLst>
        <pc:spChg chg="mod">
          <ac:chgData name="mukul maheshwari" userId="12cb43e2ca5f0d2c" providerId="LiveId" clId="{9B21D77A-5DBB-47FF-B11A-AC89C4C57A41}" dt="2024-04-24T16:31:13.170" v="16" actId="27636"/>
          <ac:spMkLst>
            <pc:docMk/>
            <pc:sldMk cId="841615053" sldId="295"/>
            <ac:spMk id="2" creationId="{023DB25B-D5BB-2061-4F68-94AF3C6670FE}"/>
          </ac:spMkLst>
        </pc:spChg>
        <pc:spChg chg="mod">
          <ac:chgData name="mukul maheshwari" userId="12cb43e2ca5f0d2c" providerId="LiveId" clId="{9B21D77A-5DBB-47FF-B11A-AC89C4C57A41}" dt="2024-04-24T16:31:13.170" v="17" actId="27636"/>
          <ac:spMkLst>
            <pc:docMk/>
            <pc:sldMk cId="841615053" sldId="295"/>
            <ac:spMk id="3" creationId="{219E7CAC-CBB2-50EE-9C03-5994F7B7C799}"/>
          </ac:spMkLst>
        </pc:spChg>
        <pc:spChg chg="del">
          <ac:chgData name="mukul maheshwari" userId="12cb43e2ca5f0d2c" providerId="LiveId" clId="{9B21D77A-5DBB-47FF-B11A-AC89C4C57A41}" dt="2024-04-24T16:31:13.076" v="15"/>
          <ac:spMkLst>
            <pc:docMk/>
            <pc:sldMk cId="841615053" sldId="295"/>
            <ac:spMk id="1039" creationId="{FAFB3478-4AEC-431E-93B2-1593839C16DA}"/>
          </ac:spMkLst>
        </pc:spChg>
        <pc:spChg chg="del">
          <ac:chgData name="mukul maheshwari" userId="12cb43e2ca5f0d2c" providerId="LiveId" clId="{9B21D77A-5DBB-47FF-B11A-AC89C4C57A41}" dt="2024-04-24T16:31:13.076" v="15"/>
          <ac:spMkLst>
            <pc:docMk/>
            <pc:sldMk cId="841615053" sldId="295"/>
            <ac:spMk id="1040" creationId="{A8A68745-355E-4D81-AA5F-942C71082A1E}"/>
          </ac:spMkLst>
        </pc:spChg>
        <pc:spChg chg="del">
          <ac:chgData name="mukul maheshwari" userId="12cb43e2ca5f0d2c" providerId="LiveId" clId="{9B21D77A-5DBB-47FF-B11A-AC89C4C57A41}" dt="2024-04-24T16:31:13.076" v="15"/>
          <ac:spMkLst>
            <pc:docMk/>
            <pc:sldMk cId="841615053" sldId="295"/>
            <ac:spMk id="1041" creationId="{61D32E23-CD34-4C85-8167-14669FD3E0CA}"/>
          </ac:spMkLst>
        </pc:spChg>
        <pc:spChg chg="del">
          <ac:chgData name="mukul maheshwari" userId="12cb43e2ca5f0d2c" providerId="LiveId" clId="{9B21D77A-5DBB-47FF-B11A-AC89C4C57A41}" dt="2024-04-24T16:31:13.076" v="15"/>
          <ac:spMkLst>
            <pc:docMk/>
            <pc:sldMk cId="841615053" sldId="295"/>
            <ac:spMk id="1042" creationId="{2E922E9E-A29B-4164-A634-B718A43369CA}"/>
          </ac:spMkLst>
        </pc:spChg>
      </pc:sldChg>
      <pc:sldChg chg="delSp modSp add mod setBg delDesignElem">
        <pc:chgData name="mukul maheshwari" userId="12cb43e2ca5f0d2c" providerId="LiveId" clId="{9B21D77A-5DBB-47FF-B11A-AC89C4C57A41}" dt="2024-04-24T16:31:13.186" v="18" actId="27636"/>
        <pc:sldMkLst>
          <pc:docMk/>
          <pc:sldMk cId="1348884429" sldId="296"/>
        </pc:sldMkLst>
        <pc:spChg chg="mod">
          <ac:chgData name="mukul maheshwari" userId="12cb43e2ca5f0d2c" providerId="LiveId" clId="{9B21D77A-5DBB-47FF-B11A-AC89C4C57A41}" dt="2024-04-24T16:31:13.186" v="18" actId="27636"/>
          <ac:spMkLst>
            <pc:docMk/>
            <pc:sldMk cId="1348884429" sldId="296"/>
            <ac:spMk id="2" creationId="{8B59815A-987B-2658-8453-83FADCBE205C}"/>
          </ac:spMkLst>
        </pc:spChg>
        <pc:spChg chg="del">
          <ac:chgData name="mukul maheshwari" userId="12cb43e2ca5f0d2c" providerId="LiveId" clId="{9B21D77A-5DBB-47FF-B11A-AC89C4C57A41}" dt="2024-04-24T16:31:13.076" v="15"/>
          <ac:spMkLst>
            <pc:docMk/>
            <pc:sldMk cId="1348884429" sldId="296"/>
            <ac:spMk id="2065" creationId="{FAFB3478-4AEC-431E-93B2-1593839C16DA}"/>
          </ac:spMkLst>
        </pc:spChg>
        <pc:spChg chg="del">
          <ac:chgData name="mukul maheshwari" userId="12cb43e2ca5f0d2c" providerId="LiveId" clId="{9B21D77A-5DBB-47FF-B11A-AC89C4C57A41}" dt="2024-04-24T16:31:13.076" v="15"/>
          <ac:spMkLst>
            <pc:docMk/>
            <pc:sldMk cId="1348884429" sldId="296"/>
            <ac:spMk id="2066" creationId="{2E922E9E-A29B-4164-A634-B718A43369CA}"/>
          </ac:spMkLst>
        </pc:spChg>
        <pc:spChg chg="del">
          <ac:chgData name="mukul maheshwari" userId="12cb43e2ca5f0d2c" providerId="LiveId" clId="{9B21D77A-5DBB-47FF-B11A-AC89C4C57A41}" dt="2024-04-24T16:31:13.076" v="15"/>
          <ac:spMkLst>
            <pc:docMk/>
            <pc:sldMk cId="1348884429" sldId="296"/>
            <ac:spMk id="2067" creationId="{BA44E6CA-03F3-47EA-A9F3-5C0674E28D61}"/>
          </ac:spMkLst>
        </pc:spChg>
        <pc:grpChg chg="del">
          <ac:chgData name="mukul maheshwari" userId="12cb43e2ca5f0d2c" providerId="LiveId" clId="{9B21D77A-5DBB-47FF-B11A-AC89C4C57A41}" dt="2024-04-24T16:31:13.076" v="15"/>
          <ac:grpSpMkLst>
            <pc:docMk/>
            <pc:sldMk cId="1348884429" sldId="296"/>
            <ac:grpSpMk id="2068" creationId="{0F09097D-8483-4B7B-BEC5-0B86BF59F9C1}"/>
          </ac:grpSpMkLst>
        </pc:grpChg>
      </pc:sldChg>
      <pc:sldChg chg="modSp add mod">
        <pc:chgData name="mukul maheshwari" userId="12cb43e2ca5f0d2c" providerId="LiveId" clId="{9B21D77A-5DBB-47FF-B11A-AC89C4C57A41}" dt="2024-04-24T16:31:13.201" v="20" actId="27636"/>
        <pc:sldMkLst>
          <pc:docMk/>
          <pc:sldMk cId="180156922" sldId="297"/>
        </pc:sldMkLst>
        <pc:spChg chg="mod">
          <ac:chgData name="mukul maheshwari" userId="12cb43e2ca5f0d2c" providerId="LiveId" clId="{9B21D77A-5DBB-47FF-B11A-AC89C4C57A41}" dt="2024-04-24T16:31:13.201" v="20" actId="27636"/>
          <ac:spMkLst>
            <pc:docMk/>
            <pc:sldMk cId="180156922" sldId="297"/>
            <ac:spMk id="2" creationId="{8B59815A-987B-2658-8453-83FADCBE205C}"/>
          </ac:spMkLst>
        </pc:spChg>
        <pc:spChg chg="mod">
          <ac:chgData name="mukul maheshwari" userId="12cb43e2ca5f0d2c" providerId="LiveId" clId="{9B21D77A-5DBB-47FF-B11A-AC89C4C57A41}" dt="2024-04-24T16:31:13.201" v="19" actId="27636"/>
          <ac:spMkLst>
            <pc:docMk/>
            <pc:sldMk cId="180156922" sldId="297"/>
            <ac:spMk id="3" creationId="{A8EAC9A8-4C9C-4FF7-C50D-2C6B1B01C381}"/>
          </ac:spMkLst>
        </pc:spChg>
      </pc:sldChg>
      <pc:sldChg chg="delSp modSp add mod setBg delDesignElem">
        <pc:chgData name="mukul maheshwari" userId="12cb43e2ca5f0d2c" providerId="LiveId" clId="{9B21D77A-5DBB-47FF-B11A-AC89C4C57A41}" dt="2024-04-24T16:32:30.178" v="24" actId="207"/>
        <pc:sldMkLst>
          <pc:docMk/>
          <pc:sldMk cId="2468345553" sldId="298"/>
        </pc:sldMkLst>
        <pc:spChg chg="mod">
          <ac:chgData name="mukul maheshwari" userId="12cb43e2ca5f0d2c" providerId="LiveId" clId="{9B21D77A-5DBB-47FF-B11A-AC89C4C57A41}" dt="2024-04-24T16:32:30.178" v="24" actId="207"/>
          <ac:spMkLst>
            <pc:docMk/>
            <pc:sldMk cId="2468345553" sldId="298"/>
            <ac:spMk id="2" creationId="{9FE21AC5-3F58-F17C-8D57-7CEED3EE7529}"/>
          </ac:spMkLst>
        </pc:spChg>
        <pc:spChg chg="mod">
          <ac:chgData name="mukul maheshwari" userId="12cb43e2ca5f0d2c" providerId="LiveId" clId="{9B21D77A-5DBB-47FF-B11A-AC89C4C57A41}" dt="2024-04-24T16:31:13.217" v="21" actId="27636"/>
          <ac:spMkLst>
            <pc:docMk/>
            <pc:sldMk cId="2468345553" sldId="298"/>
            <ac:spMk id="3" creationId="{BF4D1BC9-88D1-776B-B8F4-9DDFBE1AB220}"/>
          </ac:spMkLst>
        </pc:spChg>
        <pc:spChg chg="del">
          <ac:chgData name="mukul maheshwari" userId="12cb43e2ca5f0d2c" providerId="LiveId" clId="{9B21D77A-5DBB-47FF-B11A-AC89C4C57A41}" dt="2024-04-24T16:31:13.076" v="15"/>
          <ac:spMkLst>
            <pc:docMk/>
            <pc:sldMk cId="2468345553" sldId="298"/>
            <ac:spMk id="9" creationId="{03AE087C-11E2-4305-9282-D7F122FE726E}"/>
          </ac:spMkLst>
        </pc:spChg>
        <pc:grpChg chg="del">
          <ac:chgData name="mukul maheshwari" userId="12cb43e2ca5f0d2c" providerId="LiveId" clId="{9B21D77A-5DBB-47FF-B11A-AC89C4C57A41}" dt="2024-04-24T16:31:13.076" v="15"/>
          <ac:grpSpMkLst>
            <pc:docMk/>
            <pc:sldMk cId="2468345553" sldId="298"/>
            <ac:grpSpMk id="11" creationId="{7CECCFA5-40A0-4B37-8B7B-D912C28A15C3}"/>
          </ac:grpSpMkLst>
        </pc:grpChg>
      </pc:sldChg>
      <pc:sldChg chg="add">
        <pc:chgData name="mukul maheshwari" userId="12cb43e2ca5f0d2c" providerId="LiveId" clId="{9B21D77A-5DBB-47FF-B11A-AC89C4C57A41}" dt="2024-04-24T16:31:13.076" v="15"/>
        <pc:sldMkLst>
          <pc:docMk/>
          <pc:sldMk cId="3426617211" sldId="299"/>
        </pc:sldMkLst>
      </pc:sldChg>
      <pc:sldChg chg="delSp add setBg delDesignElem">
        <pc:chgData name="mukul maheshwari" userId="12cb43e2ca5f0d2c" providerId="LiveId" clId="{9B21D77A-5DBB-47FF-B11A-AC89C4C57A41}" dt="2024-04-24T16:31:13.076" v="15"/>
        <pc:sldMkLst>
          <pc:docMk/>
          <pc:sldMk cId="953734324" sldId="300"/>
        </pc:sldMkLst>
        <pc:spChg chg="del">
          <ac:chgData name="mukul maheshwari" userId="12cb43e2ca5f0d2c" providerId="LiveId" clId="{9B21D77A-5DBB-47FF-B11A-AC89C4C57A41}" dt="2024-04-24T16:31:13.076" v="15"/>
          <ac:spMkLst>
            <pc:docMk/>
            <pc:sldMk cId="953734324" sldId="300"/>
            <ac:spMk id="59" creationId="{973CFC7D-374D-4D67-8994-8DA9D4E23B62}"/>
          </ac:spMkLst>
        </pc:spChg>
        <pc:spChg chg="del">
          <ac:chgData name="mukul maheshwari" userId="12cb43e2ca5f0d2c" providerId="LiveId" clId="{9B21D77A-5DBB-47FF-B11A-AC89C4C57A41}" dt="2024-04-24T16:31:13.076" v="15"/>
          <ac:spMkLst>
            <pc:docMk/>
            <pc:sldMk cId="953734324" sldId="300"/>
            <ac:spMk id="60" creationId="{8F7FA731-5B6E-499C-926D-C2D2D4946616}"/>
          </ac:spMkLst>
        </pc:spChg>
        <pc:spChg chg="del">
          <ac:chgData name="mukul maheshwari" userId="12cb43e2ca5f0d2c" providerId="LiveId" clId="{9B21D77A-5DBB-47FF-B11A-AC89C4C57A41}" dt="2024-04-24T16:31:13.076" v="15"/>
          <ac:spMkLst>
            <pc:docMk/>
            <pc:sldMk cId="953734324" sldId="300"/>
            <ac:spMk id="61" creationId="{8592B821-10D5-48C0-8022-A904844B7FF4}"/>
          </ac:spMkLst>
        </pc:spChg>
      </pc:sldChg>
      <pc:sldChg chg="delSp modSp add mod setBg delDesignElem">
        <pc:chgData name="mukul maheshwari" userId="12cb43e2ca5f0d2c" providerId="LiveId" clId="{9B21D77A-5DBB-47FF-B11A-AC89C4C57A41}" dt="2024-04-24T16:31:13.233" v="22" actId="27636"/>
        <pc:sldMkLst>
          <pc:docMk/>
          <pc:sldMk cId="1387945338" sldId="301"/>
        </pc:sldMkLst>
        <pc:spChg chg="mod">
          <ac:chgData name="mukul maheshwari" userId="12cb43e2ca5f0d2c" providerId="LiveId" clId="{9B21D77A-5DBB-47FF-B11A-AC89C4C57A41}" dt="2024-04-24T16:31:13.233" v="22" actId="27636"/>
          <ac:spMkLst>
            <pc:docMk/>
            <pc:sldMk cId="1387945338" sldId="301"/>
            <ac:spMk id="3" creationId="{9122E629-C89F-AC80-4E61-8B7ADF5A30E7}"/>
          </ac:spMkLst>
        </pc:spChg>
        <pc:spChg chg="del">
          <ac:chgData name="mukul maheshwari" userId="12cb43e2ca5f0d2c" providerId="LiveId" clId="{9B21D77A-5DBB-47FF-B11A-AC89C4C57A41}" dt="2024-04-24T16:31:13.076" v="15"/>
          <ac:spMkLst>
            <pc:docMk/>
            <pc:sldMk cId="1387945338" sldId="301"/>
            <ac:spMk id="8" creationId="{973CFC7D-374D-4D67-8994-8DA9D4E23B62}"/>
          </ac:spMkLst>
        </pc:spChg>
        <pc:spChg chg="del">
          <ac:chgData name="mukul maheshwari" userId="12cb43e2ca5f0d2c" providerId="LiveId" clId="{9B21D77A-5DBB-47FF-B11A-AC89C4C57A41}" dt="2024-04-24T16:31:13.076" v="15"/>
          <ac:spMkLst>
            <pc:docMk/>
            <pc:sldMk cId="1387945338" sldId="301"/>
            <ac:spMk id="10" creationId="{8F7FA731-5B6E-499C-926D-C2D2D4946616}"/>
          </ac:spMkLst>
        </pc:spChg>
        <pc:spChg chg="del">
          <ac:chgData name="mukul maheshwari" userId="12cb43e2ca5f0d2c" providerId="LiveId" clId="{9B21D77A-5DBB-47FF-B11A-AC89C4C57A41}" dt="2024-04-24T16:31:13.076" v="15"/>
          <ac:spMkLst>
            <pc:docMk/>
            <pc:sldMk cId="1387945338" sldId="301"/>
            <ac:spMk id="20" creationId="{8592B821-10D5-48C0-8022-A904844B7FF4}"/>
          </ac:spMkLst>
        </pc:spChg>
        <pc:grpChg chg="del">
          <ac:chgData name="mukul maheshwari" userId="12cb43e2ca5f0d2c" providerId="LiveId" clId="{9B21D77A-5DBB-47FF-B11A-AC89C4C57A41}" dt="2024-04-24T16:31:13.076" v="15"/>
          <ac:grpSpMkLst>
            <pc:docMk/>
            <pc:sldMk cId="1387945338" sldId="301"/>
            <ac:grpSpMk id="12" creationId="{3A09DD4A-71B1-4992-961C-FB007CA09D4E}"/>
          </ac:grpSpMkLst>
        </pc:gr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AEC8B7-25B2-46FE-AC30-6A9F0BC0849E}" type="doc">
      <dgm:prSet loTypeId="urn:microsoft.com/office/officeart/2016/7/layout/LinearBlockProcessNumbered" loCatId="process" qsTypeId="urn:microsoft.com/office/officeart/2005/8/quickstyle/simple1" qsCatId="simple" csTypeId="urn:microsoft.com/office/officeart/2005/8/colors/accent3_2" csCatId="accent3" phldr="1"/>
      <dgm:spPr/>
      <dgm:t>
        <a:bodyPr/>
        <a:lstStyle/>
        <a:p>
          <a:endParaRPr lang="en-US"/>
        </a:p>
      </dgm:t>
    </dgm:pt>
    <dgm:pt modelId="{3FF1C4C1-5FEE-4890-A4EF-4F7BA71B0EBF}">
      <dgm:prSet custT="1"/>
      <dgm:spPr/>
      <dgm:t>
        <a:bodyPr/>
        <a:lstStyle/>
        <a:p>
          <a:r>
            <a:rPr lang="en-US" sz="2400">
              <a:latin typeface="Times New Roman" panose="02020603050405020304" pitchFamily="18" charset="0"/>
              <a:cs typeface="Times New Roman" panose="02020603050405020304" pitchFamily="18" charset="0"/>
            </a:rPr>
            <a:t>Population / Patient</a:t>
          </a:r>
        </a:p>
      </dgm:t>
    </dgm:pt>
    <dgm:pt modelId="{671C6CE6-E2F6-46FB-B8CB-FCE7779C18A0}" type="parTrans" cxnId="{0784A501-0832-4C46-B542-EB174F49EBB5}">
      <dgm:prSet/>
      <dgm:spPr/>
      <dgm:t>
        <a:bodyPr/>
        <a:lstStyle/>
        <a:p>
          <a:endParaRPr lang="en-US" sz="2000">
            <a:latin typeface="Times New Roman" panose="02020603050405020304" pitchFamily="18" charset="0"/>
            <a:cs typeface="Times New Roman" panose="02020603050405020304" pitchFamily="18" charset="0"/>
          </a:endParaRPr>
        </a:p>
      </dgm:t>
    </dgm:pt>
    <dgm:pt modelId="{D5C1E8CB-459F-4343-973C-616B74F0A4B1}" type="sibTrans" cxnId="{0784A501-0832-4C46-B542-EB174F49EBB5}">
      <dgm:prSet phldrT="01" custT="1"/>
      <dgm:spPr/>
      <dgm:t>
        <a:bodyPr/>
        <a:lstStyle/>
        <a:p>
          <a:r>
            <a:rPr lang="en-US" sz="4000">
              <a:latin typeface="Times New Roman" panose="02020603050405020304" pitchFamily="18" charset="0"/>
              <a:cs typeface="Times New Roman" panose="02020603050405020304" pitchFamily="18" charset="0"/>
            </a:rPr>
            <a:t>P</a:t>
          </a:r>
          <a:endParaRPr lang="en-US" sz="4000" dirty="0">
            <a:latin typeface="Times New Roman" panose="02020603050405020304" pitchFamily="18" charset="0"/>
            <a:cs typeface="Times New Roman" panose="02020603050405020304" pitchFamily="18" charset="0"/>
          </a:endParaRPr>
        </a:p>
      </dgm:t>
    </dgm:pt>
    <dgm:pt modelId="{AC0ED972-138A-4F11-AAB2-E2236A01F5BE}">
      <dgm:prSet custT="1"/>
      <dgm:spPr/>
      <dgm:t>
        <a:bodyPr/>
        <a:lstStyle/>
        <a:p>
          <a:r>
            <a:rPr lang="en-US" sz="2400">
              <a:latin typeface="Times New Roman" panose="02020603050405020304" pitchFamily="18" charset="0"/>
              <a:cs typeface="Times New Roman" panose="02020603050405020304" pitchFamily="18" charset="0"/>
            </a:rPr>
            <a:t>Intervention / exposure</a:t>
          </a:r>
        </a:p>
      </dgm:t>
    </dgm:pt>
    <dgm:pt modelId="{1711847F-5C24-4D04-A90A-469D89D454AA}" type="parTrans" cxnId="{7B4B40BB-2ADD-4767-9EB6-D11F17720D70}">
      <dgm:prSet/>
      <dgm:spPr/>
      <dgm:t>
        <a:bodyPr/>
        <a:lstStyle/>
        <a:p>
          <a:endParaRPr lang="en-US" sz="2000">
            <a:latin typeface="Times New Roman" panose="02020603050405020304" pitchFamily="18" charset="0"/>
            <a:cs typeface="Times New Roman" panose="02020603050405020304" pitchFamily="18" charset="0"/>
          </a:endParaRPr>
        </a:p>
      </dgm:t>
    </dgm:pt>
    <dgm:pt modelId="{A1F3C84E-CF8F-4074-B359-2A90D8FAFCC1}" type="sibTrans" cxnId="{7B4B40BB-2ADD-4767-9EB6-D11F17720D70}">
      <dgm:prSet phldrT="02" custT="1"/>
      <dgm:spPr/>
      <dgm:t>
        <a:bodyPr/>
        <a:lstStyle/>
        <a:p>
          <a:r>
            <a:rPr lang="en-US" sz="4000">
              <a:latin typeface="Times New Roman" panose="02020603050405020304" pitchFamily="18" charset="0"/>
              <a:cs typeface="Times New Roman" panose="02020603050405020304" pitchFamily="18" charset="0"/>
            </a:rPr>
            <a:t>I</a:t>
          </a:r>
          <a:endParaRPr lang="en-US" sz="4000" dirty="0">
            <a:latin typeface="Times New Roman" panose="02020603050405020304" pitchFamily="18" charset="0"/>
            <a:cs typeface="Times New Roman" panose="02020603050405020304" pitchFamily="18" charset="0"/>
          </a:endParaRPr>
        </a:p>
      </dgm:t>
    </dgm:pt>
    <dgm:pt modelId="{D85009F8-AD27-4CFC-A730-C3234464A185}">
      <dgm:prSet custT="1"/>
      <dgm:spPr/>
      <dgm:t>
        <a:bodyPr/>
        <a:lstStyle/>
        <a:p>
          <a:r>
            <a:rPr lang="en-US" sz="2400">
              <a:latin typeface="Times New Roman" panose="02020603050405020304" pitchFamily="18" charset="0"/>
              <a:cs typeface="Times New Roman" panose="02020603050405020304" pitchFamily="18" charset="0"/>
            </a:rPr>
            <a:t>Comparison</a:t>
          </a:r>
        </a:p>
      </dgm:t>
    </dgm:pt>
    <dgm:pt modelId="{ADA713EC-A52B-41B9-A73D-B59726CB6DA5}" type="parTrans" cxnId="{A388637A-94AE-4F41-AF22-10DBBC878A1C}">
      <dgm:prSet/>
      <dgm:spPr/>
      <dgm:t>
        <a:bodyPr/>
        <a:lstStyle/>
        <a:p>
          <a:endParaRPr lang="en-US" sz="2000">
            <a:latin typeface="Times New Roman" panose="02020603050405020304" pitchFamily="18" charset="0"/>
            <a:cs typeface="Times New Roman" panose="02020603050405020304" pitchFamily="18" charset="0"/>
          </a:endParaRPr>
        </a:p>
      </dgm:t>
    </dgm:pt>
    <dgm:pt modelId="{A8748915-4577-48EC-8E5D-606897153BD7}" type="sibTrans" cxnId="{A388637A-94AE-4F41-AF22-10DBBC878A1C}">
      <dgm:prSet phldrT="03" custT="1"/>
      <dgm:spPr/>
      <dgm:t>
        <a:bodyPr/>
        <a:lstStyle/>
        <a:p>
          <a:r>
            <a:rPr lang="en-US" sz="4000">
              <a:latin typeface="Times New Roman" panose="02020603050405020304" pitchFamily="18" charset="0"/>
              <a:cs typeface="Times New Roman" panose="02020603050405020304" pitchFamily="18" charset="0"/>
            </a:rPr>
            <a:t>C</a:t>
          </a:r>
          <a:endParaRPr lang="en-US" sz="4000" dirty="0">
            <a:latin typeface="Times New Roman" panose="02020603050405020304" pitchFamily="18" charset="0"/>
            <a:cs typeface="Times New Roman" panose="02020603050405020304" pitchFamily="18" charset="0"/>
          </a:endParaRPr>
        </a:p>
      </dgm:t>
    </dgm:pt>
    <dgm:pt modelId="{EBEA9FA0-0099-4130-B2E4-B4B11A671F15}">
      <dgm:prSet custT="1"/>
      <dgm:spPr/>
      <dgm:t>
        <a:bodyPr/>
        <a:lstStyle/>
        <a:p>
          <a:r>
            <a:rPr lang="en-US" sz="2400">
              <a:latin typeface="Times New Roman" panose="02020603050405020304" pitchFamily="18" charset="0"/>
              <a:cs typeface="Times New Roman" panose="02020603050405020304" pitchFamily="18" charset="0"/>
            </a:rPr>
            <a:t>Outcome</a:t>
          </a:r>
        </a:p>
      </dgm:t>
    </dgm:pt>
    <dgm:pt modelId="{0F5E17D9-E065-48FE-954C-D01321C920D7}" type="parTrans" cxnId="{CE805F32-2EDF-47A4-AD98-27A345F82516}">
      <dgm:prSet/>
      <dgm:spPr/>
      <dgm:t>
        <a:bodyPr/>
        <a:lstStyle/>
        <a:p>
          <a:endParaRPr lang="en-US" sz="2000">
            <a:latin typeface="Times New Roman" panose="02020603050405020304" pitchFamily="18" charset="0"/>
            <a:cs typeface="Times New Roman" panose="02020603050405020304" pitchFamily="18" charset="0"/>
          </a:endParaRPr>
        </a:p>
      </dgm:t>
    </dgm:pt>
    <dgm:pt modelId="{62FC06B9-D7D4-45C0-82BD-1B6CFDF559DD}" type="sibTrans" cxnId="{CE805F32-2EDF-47A4-AD98-27A345F82516}">
      <dgm:prSet phldrT="04" custT="1"/>
      <dgm:spPr/>
      <dgm:t>
        <a:bodyPr/>
        <a:lstStyle/>
        <a:p>
          <a:r>
            <a:rPr lang="en-US" sz="4000">
              <a:latin typeface="Times New Roman" panose="02020603050405020304" pitchFamily="18" charset="0"/>
              <a:cs typeface="Times New Roman" panose="02020603050405020304" pitchFamily="18" charset="0"/>
            </a:rPr>
            <a:t>O</a:t>
          </a:r>
          <a:endParaRPr lang="en-US" sz="4000" dirty="0">
            <a:latin typeface="Times New Roman" panose="02020603050405020304" pitchFamily="18" charset="0"/>
            <a:cs typeface="Times New Roman" panose="02020603050405020304" pitchFamily="18" charset="0"/>
          </a:endParaRPr>
        </a:p>
      </dgm:t>
    </dgm:pt>
    <dgm:pt modelId="{121E63DF-0074-4B91-831D-1D17AB841050}">
      <dgm:prSet custT="1"/>
      <dgm:spPr/>
      <dgm:t>
        <a:bodyPr/>
        <a:lstStyle/>
        <a:p>
          <a:r>
            <a:rPr lang="en-US" sz="2400">
              <a:latin typeface="Times New Roman" panose="02020603050405020304" pitchFamily="18" charset="0"/>
              <a:cs typeface="Times New Roman" panose="02020603050405020304" pitchFamily="18" charset="0"/>
            </a:rPr>
            <a:t>Time</a:t>
          </a:r>
        </a:p>
      </dgm:t>
    </dgm:pt>
    <dgm:pt modelId="{3A6DAEE6-9EC2-42AD-B67C-92CFE85BF03B}" type="parTrans" cxnId="{D41DB020-50A2-4ACD-9800-4D7D84267C18}">
      <dgm:prSet/>
      <dgm:spPr/>
      <dgm:t>
        <a:bodyPr/>
        <a:lstStyle/>
        <a:p>
          <a:endParaRPr lang="en-US" sz="2000">
            <a:latin typeface="Times New Roman" panose="02020603050405020304" pitchFamily="18" charset="0"/>
            <a:cs typeface="Times New Roman" panose="02020603050405020304" pitchFamily="18" charset="0"/>
          </a:endParaRPr>
        </a:p>
      </dgm:t>
    </dgm:pt>
    <dgm:pt modelId="{4CE75C1E-23F3-4059-810A-B57FE7EEEFF5}" type="sibTrans" cxnId="{D41DB020-50A2-4ACD-9800-4D7D84267C18}">
      <dgm:prSet phldrT="05" custT="1"/>
      <dgm:spPr/>
      <dgm:t>
        <a:bodyPr/>
        <a:lstStyle/>
        <a:p>
          <a:r>
            <a:rPr lang="en-US" sz="4000">
              <a:latin typeface="Times New Roman" panose="02020603050405020304" pitchFamily="18" charset="0"/>
              <a:cs typeface="Times New Roman" panose="02020603050405020304" pitchFamily="18" charset="0"/>
            </a:rPr>
            <a:t>T</a:t>
          </a:r>
          <a:endParaRPr lang="en-US" sz="4000" dirty="0">
            <a:latin typeface="Times New Roman" panose="02020603050405020304" pitchFamily="18" charset="0"/>
            <a:cs typeface="Times New Roman" panose="02020603050405020304" pitchFamily="18" charset="0"/>
          </a:endParaRPr>
        </a:p>
      </dgm:t>
    </dgm:pt>
    <dgm:pt modelId="{8CE138B0-1317-4A37-BC83-092CE98F2715}">
      <dgm:prSet custT="1"/>
      <dgm:spPr/>
      <dgm:t>
        <a:bodyPr/>
        <a:lstStyle/>
        <a:p>
          <a:r>
            <a:rPr lang="en-US" sz="2400">
              <a:latin typeface="Times New Roman" panose="02020603050405020304" pitchFamily="18" charset="0"/>
              <a:cs typeface="Times New Roman" panose="02020603050405020304" pitchFamily="18" charset="0"/>
            </a:rPr>
            <a:t>Setting</a:t>
          </a:r>
        </a:p>
      </dgm:t>
    </dgm:pt>
    <dgm:pt modelId="{FB3C6782-778E-4FB7-87AF-6A680B6EAB92}" type="parTrans" cxnId="{A17342E4-B597-4E9B-BDB9-7109D803967D}">
      <dgm:prSet/>
      <dgm:spPr/>
      <dgm:t>
        <a:bodyPr/>
        <a:lstStyle/>
        <a:p>
          <a:endParaRPr lang="en-US" sz="2000">
            <a:latin typeface="Times New Roman" panose="02020603050405020304" pitchFamily="18" charset="0"/>
            <a:cs typeface="Times New Roman" panose="02020603050405020304" pitchFamily="18" charset="0"/>
          </a:endParaRPr>
        </a:p>
      </dgm:t>
    </dgm:pt>
    <dgm:pt modelId="{67559F8D-D681-490D-96B9-91510F72B26B}" type="sibTrans" cxnId="{A17342E4-B597-4E9B-BDB9-7109D803967D}">
      <dgm:prSet phldrT="06" custT="1"/>
      <dgm:spPr/>
      <dgm:t>
        <a:bodyPr/>
        <a:lstStyle/>
        <a:p>
          <a:r>
            <a:rPr lang="en-US" sz="4000">
              <a:latin typeface="Times New Roman" panose="02020603050405020304" pitchFamily="18" charset="0"/>
              <a:cs typeface="Times New Roman" panose="02020603050405020304" pitchFamily="18" charset="0"/>
            </a:rPr>
            <a:t>S</a:t>
          </a:r>
          <a:endParaRPr lang="en-US" sz="4000" dirty="0">
            <a:latin typeface="Times New Roman" panose="02020603050405020304" pitchFamily="18" charset="0"/>
            <a:cs typeface="Times New Roman" panose="02020603050405020304" pitchFamily="18" charset="0"/>
          </a:endParaRPr>
        </a:p>
      </dgm:t>
    </dgm:pt>
    <dgm:pt modelId="{9FD24B88-A7F3-4D66-A84E-CDF7916D16AA}" type="pres">
      <dgm:prSet presAssocID="{6CAEC8B7-25B2-46FE-AC30-6A9F0BC0849E}" presName="Name0" presStyleCnt="0">
        <dgm:presLayoutVars>
          <dgm:animLvl val="lvl"/>
          <dgm:resizeHandles val="exact"/>
        </dgm:presLayoutVars>
      </dgm:prSet>
      <dgm:spPr/>
    </dgm:pt>
    <dgm:pt modelId="{B50DAE17-F3AB-403A-A518-986419D27E4E}" type="pres">
      <dgm:prSet presAssocID="{3FF1C4C1-5FEE-4890-A4EF-4F7BA71B0EBF}" presName="compositeNode" presStyleCnt="0">
        <dgm:presLayoutVars>
          <dgm:bulletEnabled val="1"/>
        </dgm:presLayoutVars>
      </dgm:prSet>
      <dgm:spPr/>
    </dgm:pt>
    <dgm:pt modelId="{CBB6A9A7-FA4F-4FC9-9900-C6BEDCCD5657}" type="pres">
      <dgm:prSet presAssocID="{3FF1C4C1-5FEE-4890-A4EF-4F7BA71B0EBF}" presName="bgRect" presStyleLbl="alignNode1" presStyleIdx="0" presStyleCnt="6"/>
      <dgm:spPr/>
    </dgm:pt>
    <dgm:pt modelId="{3BF99635-DD9D-4103-A90B-2069678E965A}" type="pres">
      <dgm:prSet presAssocID="{D5C1E8CB-459F-4343-973C-616B74F0A4B1}" presName="sibTransNodeRect" presStyleLbl="alignNode1" presStyleIdx="0" presStyleCnt="6">
        <dgm:presLayoutVars>
          <dgm:chMax val="0"/>
          <dgm:bulletEnabled val="1"/>
        </dgm:presLayoutVars>
      </dgm:prSet>
      <dgm:spPr/>
    </dgm:pt>
    <dgm:pt modelId="{E32CBF20-8E4F-4184-8FBB-BD83BD7A4968}" type="pres">
      <dgm:prSet presAssocID="{3FF1C4C1-5FEE-4890-A4EF-4F7BA71B0EBF}" presName="nodeRect" presStyleLbl="alignNode1" presStyleIdx="0" presStyleCnt="6">
        <dgm:presLayoutVars>
          <dgm:bulletEnabled val="1"/>
        </dgm:presLayoutVars>
      </dgm:prSet>
      <dgm:spPr/>
    </dgm:pt>
    <dgm:pt modelId="{44283864-6C05-4EB2-A3F6-BE031E6435E9}" type="pres">
      <dgm:prSet presAssocID="{D5C1E8CB-459F-4343-973C-616B74F0A4B1}" presName="sibTrans" presStyleCnt="0"/>
      <dgm:spPr/>
    </dgm:pt>
    <dgm:pt modelId="{601593BB-1787-4E40-A35D-CC557ED9E963}" type="pres">
      <dgm:prSet presAssocID="{AC0ED972-138A-4F11-AAB2-E2236A01F5BE}" presName="compositeNode" presStyleCnt="0">
        <dgm:presLayoutVars>
          <dgm:bulletEnabled val="1"/>
        </dgm:presLayoutVars>
      </dgm:prSet>
      <dgm:spPr/>
    </dgm:pt>
    <dgm:pt modelId="{1CB17003-D7F2-4F18-BC0A-107671932501}" type="pres">
      <dgm:prSet presAssocID="{AC0ED972-138A-4F11-AAB2-E2236A01F5BE}" presName="bgRect" presStyleLbl="alignNode1" presStyleIdx="1" presStyleCnt="6"/>
      <dgm:spPr/>
    </dgm:pt>
    <dgm:pt modelId="{2CEF8F2A-B94A-4459-A678-90A596C976BF}" type="pres">
      <dgm:prSet presAssocID="{A1F3C84E-CF8F-4074-B359-2A90D8FAFCC1}" presName="sibTransNodeRect" presStyleLbl="alignNode1" presStyleIdx="1" presStyleCnt="6">
        <dgm:presLayoutVars>
          <dgm:chMax val="0"/>
          <dgm:bulletEnabled val="1"/>
        </dgm:presLayoutVars>
      </dgm:prSet>
      <dgm:spPr/>
    </dgm:pt>
    <dgm:pt modelId="{DB65849D-E109-4B21-BD30-321686047CD9}" type="pres">
      <dgm:prSet presAssocID="{AC0ED972-138A-4F11-AAB2-E2236A01F5BE}" presName="nodeRect" presStyleLbl="alignNode1" presStyleIdx="1" presStyleCnt="6">
        <dgm:presLayoutVars>
          <dgm:bulletEnabled val="1"/>
        </dgm:presLayoutVars>
      </dgm:prSet>
      <dgm:spPr/>
    </dgm:pt>
    <dgm:pt modelId="{1F987BB9-DFF8-4BE0-8D70-DA9FF9242D3D}" type="pres">
      <dgm:prSet presAssocID="{A1F3C84E-CF8F-4074-B359-2A90D8FAFCC1}" presName="sibTrans" presStyleCnt="0"/>
      <dgm:spPr/>
    </dgm:pt>
    <dgm:pt modelId="{6C3694CA-7F49-404C-AD2B-A105F60316DD}" type="pres">
      <dgm:prSet presAssocID="{D85009F8-AD27-4CFC-A730-C3234464A185}" presName="compositeNode" presStyleCnt="0">
        <dgm:presLayoutVars>
          <dgm:bulletEnabled val="1"/>
        </dgm:presLayoutVars>
      </dgm:prSet>
      <dgm:spPr/>
    </dgm:pt>
    <dgm:pt modelId="{9DD5DA99-AA2A-4E3F-A728-445546DBACEC}" type="pres">
      <dgm:prSet presAssocID="{D85009F8-AD27-4CFC-A730-C3234464A185}" presName="bgRect" presStyleLbl="alignNode1" presStyleIdx="2" presStyleCnt="6"/>
      <dgm:spPr/>
    </dgm:pt>
    <dgm:pt modelId="{5EEA3182-D3F3-4578-8D96-98F4FE1EC80B}" type="pres">
      <dgm:prSet presAssocID="{A8748915-4577-48EC-8E5D-606897153BD7}" presName="sibTransNodeRect" presStyleLbl="alignNode1" presStyleIdx="2" presStyleCnt="6">
        <dgm:presLayoutVars>
          <dgm:chMax val="0"/>
          <dgm:bulletEnabled val="1"/>
        </dgm:presLayoutVars>
      </dgm:prSet>
      <dgm:spPr/>
    </dgm:pt>
    <dgm:pt modelId="{EF01E4B1-48F6-4A06-A8A8-DB3CDA782D9C}" type="pres">
      <dgm:prSet presAssocID="{D85009F8-AD27-4CFC-A730-C3234464A185}" presName="nodeRect" presStyleLbl="alignNode1" presStyleIdx="2" presStyleCnt="6">
        <dgm:presLayoutVars>
          <dgm:bulletEnabled val="1"/>
        </dgm:presLayoutVars>
      </dgm:prSet>
      <dgm:spPr/>
    </dgm:pt>
    <dgm:pt modelId="{F41B45C5-8989-49B1-9E80-A63E7A07B846}" type="pres">
      <dgm:prSet presAssocID="{A8748915-4577-48EC-8E5D-606897153BD7}" presName="sibTrans" presStyleCnt="0"/>
      <dgm:spPr/>
    </dgm:pt>
    <dgm:pt modelId="{4BF2C956-F3D6-49F8-8C83-ABFCE00C9C0C}" type="pres">
      <dgm:prSet presAssocID="{EBEA9FA0-0099-4130-B2E4-B4B11A671F15}" presName="compositeNode" presStyleCnt="0">
        <dgm:presLayoutVars>
          <dgm:bulletEnabled val="1"/>
        </dgm:presLayoutVars>
      </dgm:prSet>
      <dgm:spPr/>
    </dgm:pt>
    <dgm:pt modelId="{75A7830E-85C2-4790-87A5-11FBCA2D4D0A}" type="pres">
      <dgm:prSet presAssocID="{EBEA9FA0-0099-4130-B2E4-B4B11A671F15}" presName="bgRect" presStyleLbl="alignNode1" presStyleIdx="3" presStyleCnt="6"/>
      <dgm:spPr/>
    </dgm:pt>
    <dgm:pt modelId="{7609DE1E-7857-4F82-9E71-94D85DB61798}" type="pres">
      <dgm:prSet presAssocID="{62FC06B9-D7D4-45C0-82BD-1B6CFDF559DD}" presName="sibTransNodeRect" presStyleLbl="alignNode1" presStyleIdx="3" presStyleCnt="6">
        <dgm:presLayoutVars>
          <dgm:chMax val="0"/>
          <dgm:bulletEnabled val="1"/>
        </dgm:presLayoutVars>
      </dgm:prSet>
      <dgm:spPr/>
    </dgm:pt>
    <dgm:pt modelId="{D62CB69A-BCB1-4E21-BE7E-93E4581F9B76}" type="pres">
      <dgm:prSet presAssocID="{EBEA9FA0-0099-4130-B2E4-B4B11A671F15}" presName="nodeRect" presStyleLbl="alignNode1" presStyleIdx="3" presStyleCnt="6">
        <dgm:presLayoutVars>
          <dgm:bulletEnabled val="1"/>
        </dgm:presLayoutVars>
      </dgm:prSet>
      <dgm:spPr/>
    </dgm:pt>
    <dgm:pt modelId="{F471F1FE-9E6C-42DD-AB06-44FA64A43FD4}" type="pres">
      <dgm:prSet presAssocID="{62FC06B9-D7D4-45C0-82BD-1B6CFDF559DD}" presName="sibTrans" presStyleCnt="0"/>
      <dgm:spPr/>
    </dgm:pt>
    <dgm:pt modelId="{513E0D41-7604-4A11-9610-DDED2935B11F}" type="pres">
      <dgm:prSet presAssocID="{121E63DF-0074-4B91-831D-1D17AB841050}" presName="compositeNode" presStyleCnt="0">
        <dgm:presLayoutVars>
          <dgm:bulletEnabled val="1"/>
        </dgm:presLayoutVars>
      </dgm:prSet>
      <dgm:spPr/>
    </dgm:pt>
    <dgm:pt modelId="{561C226B-F058-4C7A-ADEB-A8965D00CE35}" type="pres">
      <dgm:prSet presAssocID="{121E63DF-0074-4B91-831D-1D17AB841050}" presName="bgRect" presStyleLbl="alignNode1" presStyleIdx="4" presStyleCnt="6"/>
      <dgm:spPr/>
    </dgm:pt>
    <dgm:pt modelId="{F7000D3F-E096-455B-9B17-6F55EC008003}" type="pres">
      <dgm:prSet presAssocID="{4CE75C1E-23F3-4059-810A-B57FE7EEEFF5}" presName="sibTransNodeRect" presStyleLbl="alignNode1" presStyleIdx="4" presStyleCnt="6">
        <dgm:presLayoutVars>
          <dgm:chMax val="0"/>
          <dgm:bulletEnabled val="1"/>
        </dgm:presLayoutVars>
      </dgm:prSet>
      <dgm:spPr/>
    </dgm:pt>
    <dgm:pt modelId="{7CD9D759-9FFE-4F57-9F37-0596541AD63B}" type="pres">
      <dgm:prSet presAssocID="{121E63DF-0074-4B91-831D-1D17AB841050}" presName="nodeRect" presStyleLbl="alignNode1" presStyleIdx="4" presStyleCnt="6">
        <dgm:presLayoutVars>
          <dgm:bulletEnabled val="1"/>
        </dgm:presLayoutVars>
      </dgm:prSet>
      <dgm:spPr/>
    </dgm:pt>
    <dgm:pt modelId="{DE5C3B85-F6A5-48B5-9E6F-18F0F09AA4DF}" type="pres">
      <dgm:prSet presAssocID="{4CE75C1E-23F3-4059-810A-B57FE7EEEFF5}" presName="sibTrans" presStyleCnt="0"/>
      <dgm:spPr/>
    </dgm:pt>
    <dgm:pt modelId="{34DA1F9B-8A53-42BD-9A6F-E61785E97821}" type="pres">
      <dgm:prSet presAssocID="{8CE138B0-1317-4A37-BC83-092CE98F2715}" presName="compositeNode" presStyleCnt="0">
        <dgm:presLayoutVars>
          <dgm:bulletEnabled val="1"/>
        </dgm:presLayoutVars>
      </dgm:prSet>
      <dgm:spPr/>
    </dgm:pt>
    <dgm:pt modelId="{3FA3CE07-C867-4868-B845-2FD968EBCBB7}" type="pres">
      <dgm:prSet presAssocID="{8CE138B0-1317-4A37-BC83-092CE98F2715}" presName="bgRect" presStyleLbl="alignNode1" presStyleIdx="5" presStyleCnt="6"/>
      <dgm:spPr/>
    </dgm:pt>
    <dgm:pt modelId="{DB115F26-879C-4272-8FAC-E08B1896A6C2}" type="pres">
      <dgm:prSet presAssocID="{67559F8D-D681-490D-96B9-91510F72B26B}" presName="sibTransNodeRect" presStyleLbl="alignNode1" presStyleIdx="5" presStyleCnt="6">
        <dgm:presLayoutVars>
          <dgm:chMax val="0"/>
          <dgm:bulletEnabled val="1"/>
        </dgm:presLayoutVars>
      </dgm:prSet>
      <dgm:spPr/>
    </dgm:pt>
    <dgm:pt modelId="{8165EA64-6D7B-4CE7-9A07-C8714B6FDE06}" type="pres">
      <dgm:prSet presAssocID="{8CE138B0-1317-4A37-BC83-092CE98F2715}" presName="nodeRect" presStyleLbl="alignNode1" presStyleIdx="5" presStyleCnt="6">
        <dgm:presLayoutVars>
          <dgm:bulletEnabled val="1"/>
        </dgm:presLayoutVars>
      </dgm:prSet>
      <dgm:spPr/>
    </dgm:pt>
  </dgm:ptLst>
  <dgm:cxnLst>
    <dgm:cxn modelId="{0784A501-0832-4C46-B542-EB174F49EBB5}" srcId="{6CAEC8B7-25B2-46FE-AC30-6A9F0BC0849E}" destId="{3FF1C4C1-5FEE-4890-A4EF-4F7BA71B0EBF}" srcOrd="0" destOrd="0" parTransId="{671C6CE6-E2F6-46FB-B8CB-FCE7779C18A0}" sibTransId="{D5C1E8CB-459F-4343-973C-616B74F0A4B1}"/>
    <dgm:cxn modelId="{24008006-DA3E-4577-8EA7-41B69D8E7E5E}" type="presOf" srcId="{62FC06B9-D7D4-45C0-82BD-1B6CFDF559DD}" destId="{7609DE1E-7857-4F82-9E71-94D85DB61798}" srcOrd="0" destOrd="0" presId="urn:microsoft.com/office/officeart/2016/7/layout/LinearBlockProcessNumbered"/>
    <dgm:cxn modelId="{F37EB607-D274-4D80-BECD-8B2DE8B04AAB}" type="presOf" srcId="{121E63DF-0074-4B91-831D-1D17AB841050}" destId="{561C226B-F058-4C7A-ADEB-A8965D00CE35}" srcOrd="0" destOrd="0" presId="urn:microsoft.com/office/officeart/2016/7/layout/LinearBlockProcessNumbered"/>
    <dgm:cxn modelId="{0D14F91F-517A-433C-811F-1B3453F3F869}" type="presOf" srcId="{EBEA9FA0-0099-4130-B2E4-B4B11A671F15}" destId="{75A7830E-85C2-4790-87A5-11FBCA2D4D0A}" srcOrd="0" destOrd="0" presId="urn:microsoft.com/office/officeart/2016/7/layout/LinearBlockProcessNumbered"/>
    <dgm:cxn modelId="{D41DB020-50A2-4ACD-9800-4D7D84267C18}" srcId="{6CAEC8B7-25B2-46FE-AC30-6A9F0BC0849E}" destId="{121E63DF-0074-4B91-831D-1D17AB841050}" srcOrd="4" destOrd="0" parTransId="{3A6DAEE6-9EC2-42AD-B67C-92CFE85BF03B}" sibTransId="{4CE75C1E-23F3-4059-810A-B57FE7EEEFF5}"/>
    <dgm:cxn modelId="{8572ED20-C675-42B6-A767-FE4A9219E563}" type="presOf" srcId="{6CAEC8B7-25B2-46FE-AC30-6A9F0BC0849E}" destId="{9FD24B88-A7F3-4D66-A84E-CDF7916D16AA}" srcOrd="0" destOrd="0" presId="urn:microsoft.com/office/officeart/2016/7/layout/LinearBlockProcessNumbered"/>
    <dgm:cxn modelId="{2994842E-25F5-457B-B3B4-8725F52D5DFD}" type="presOf" srcId="{D85009F8-AD27-4CFC-A730-C3234464A185}" destId="{EF01E4B1-48F6-4A06-A8A8-DB3CDA782D9C}" srcOrd="1" destOrd="0" presId="urn:microsoft.com/office/officeart/2016/7/layout/LinearBlockProcessNumbered"/>
    <dgm:cxn modelId="{CE805F32-2EDF-47A4-AD98-27A345F82516}" srcId="{6CAEC8B7-25B2-46FE-AC30-6A9F0BC0849E}" destId="{EBEA9FA0-0099-4130-B2E4-B4B11A671F15}" srcOrd="3" destOrd="0" parTransId="{0F5E17D9-E065-48FE-954C-D01321C920D7}" sibTransId="{62FC06B9-D7D4-45C0-82BD-1B6CFDF559DD}"/>
    <dgm:cxn modelId="{1A9CED44-FBF0-4FBC-911F-33CE27A60B7C}" type="presOf" srcId="{3FF1C4C1-5FEE-4890-A4EF-4F7BA71B0EBF}" destId="{E32CBF20-8E4F-4184-8FBB-BD83BD7A4968}" srcOrd="1" destOrd="0" presId="urn:microsoft.com/office/officeart/2016/7/layout/LinearBlockProcessNumbered"/>
    <dgm:cxn modelId="{B925A14A-ED88-43D3-B761-17064BD02404}" type="presOf" srcId="{D5C1E8CB-459F-4343-973C-616B74F0A4B1}" destId="{3BF99635-DD9D-4103-A90B-2069678E965A}" srcOrd="0" destOrd="0" presId="urn:microsoft.com/office/officeart/2016/7/layout/LinearBlockProcessNumbered"/>
    <dgm:cxn modelId="{F4076251-F09A-4ED6-B520-EB3776E60BBA}" type="presOf" srcId="{A1F3C84E-CF8F-4074-B359-2A90D8FAFCC1}" destId="{2CEF8F2A-B94A-4459-A678-90A596C976BF}" srcOrd="0" destOrd="0" presId="urn:microsoft.com/office/officeart/2016/7/layout/LinearBlockProcessNumbered"/>
    <dgm:cxn modelId="{EBB14853-3337-42EB-B0BC-DD837CBC82B1}" type="presOf" srcId="{8CE138B0-1317-4A37-BC83-092CE98F2715}" destId="{8165EA64-6D7B-4CE7-9A07-C8714B6FDE06}" srcOrd="1" destOrd="0" presId="urn:microsoft.com/office/officeart/2016/7/layout/LinearBlockProcessNumbered"/>
    <dgm:cxn modelId="{94FC2D55-9A18-48E1-B553-1169AFBB64ED}" type="presOf" srcId="{67559F8D-D681-490D-96B9-91510F72B26B}" destId="{DB115F26-879C-4272-8FAC-E08B1896A6C2}" srcOrd="0" destOrd="0" presId="urn:microsoft.com/office/officeart/2016/7/layout/LinearBlockProcessNumbered"/>
    <dgm:cxn modelId="{A388637A-94AE-4F41-AF22-10DBBC878A1C}" srcId="{6CAEC8B7-25B2-46FE-AC30-6A9F0BC0849E}" destId="{D85009F8-AD27-4CFC-A730-C3234464A185}" srcOrd="2" destOrd="0" parTransId="{ADA713EC-A52B-41B9-A73D-B59726CB6DA5}" sibTransId="{A8748915-4577-48EC-8E5D-606897153BD7}"/>
    <dgm:cxn modelId="{8BBC7984-8554-41E0-8F3A-E4754C6191E2}" type="presOf" srcId="{3FF1C4C1-5FEE-4890-A4EF-4F7BA71B0EBF}" destId="{CBB6A9A7-FA4F-4FC9-9900-C6BEDCCD5657}" srcOrd="0" destOrd="0" presId="urn:microsoft.com/office/officeart/2016/7/layout/LinearBlockProcessNumbered"/>
    <dgm:cxn modelId="{490BC087-6743-4979-AF51-77674A36C8F5}" type="presOf" srcId="{EBEA9FA0-0099-4130-B2E4-B4B11A671F15}" destId="{D62CB69A-BCB1-4E21-BE7E-93E4581F9B76}" srcOrd="1" destOrd="0" presId="urn:microsoft.com/office/officeart/2016/7/layout/LinearBlockProcessNumbered"/>
    <dgm:cxn modelId="{25B7A9A2-1E87-49D0-A0C8-7B506F485052}" type="presOf" srcId="{8CE138B0-1317-4A37-BC83-092CE98F2715}" destId="{3FA3CE07-C867-4868-B845-2FD968EBCBB7}" srcOrd="0" destOrd="0" presId="urn:microsoft.com/office/officeart/2016/7/layout/LinearBlockProcessNumbered"/>
    <dgm:cxn modelId="{7B4B40BB-2ADD-4767-9EB6-D11F17720D70}" srcId="{6CAEC8B7-25B2-46FE-AC30-6A9F0BC0849E}" destId="{AC0ED972-138A-4F11-AAB2-E2236A01F5BE}" srcOrd="1" destOrd="0" parTransId="{1711847F-5C24-4D04-A90A-469D89D454AA}" sibTransId="{A1F3C84E-CF8F-4074-B359-2A90D8FAFCC1}"/>
    <dgm:cxn modelId="{77C99CC5-D31E-4B95-94BF-CADF0E13C95E}" type="presOf" srcId="{A8748915-4577-48EC-8E5D-606897153BD7}" destId="{5EEA3182-D3F3-4578-8D96-98F4FE1EC80B}" srcOrd="0" destOrd="0" presId="urn:microsoft.com/office/officeart/2016/7/layout/LinearBlockProcessNumbered"/>
    <dgm:cxn modelId="{F1235BD5-82B0-4E6A-A82A-4E8874333230}" type="presOf" srcId="{121E63DF-0074-4B91-831D-1D17AB841050}" destId="{7CD9D759-9FFE-4F57-9F37-0596541AD63B}" srcOrd="1" destOrd="0" presId="urn:microsoft.com/office/officeart/2016/7/layout/LinearBlockProcessNumbered"/>
    <dgm:cxn modelId="{E4F0F8DB-B174-47D6-882E-5232A967A060}" type="presOf" srcId="{D85009F8-AD27-4CFC-A730-C3234464A185}" destId="{9DD5DA99-AA2A-4E3F-A728-445546DBACEC}" srcOrd="0" destOrd="0" presId="urn:microsoft.com/office/officeart/2016/7/layout/LinearBlockProcessNumbered"/>
    <dgm:cxn modelId="{A17342E4-B597-4E9B-BDB9-7109D803967D}" srcId="{6CAEC8B7-25B2-46FE-AC30-6A9F0BC0849E}" destId="{8CE138B0-1317-4A37-BC83-092CE98F2715}" srcOrd="5" destOrd="0" parTransId="{FB3C6782-778E-4FB7-87AF-6A680B6EAB92}" sibTransId="{67559F8D-D681-490D-96B9-91510F72B26B}"/>
    <dgm:cxn modelId="{940294E5-D849-42D6-9ED8-5E47D1EB1283}" type="presOf" srcId="{AC0ED972-138A-4F11-AAB2-E2236A01F5BE}" destId="{DB65849D-E109-4B21-BD30-321686047CD9}" srcOrd="1" destOrd="0" presId="urn:microsoft.com/office/officeart/2016/7/layout/LinearBlockProcessNumbered"/>
    <dgm:cxn modelId="{711C17E9-BC43-4731-8BB6-EABFA3A21F79}" type="presOf" srcId="{AC0ED972-138A-4F11-AAB2-E2236A01F5BE}" destId="{1CB17003-D7F2-4F18-BC0A-107671932501}" srcOrd="0" destOrd="0" presId="urn:microsoft.com/office/officeart/2016/7/layout/LinearBlockProcessNumbered"/>
    <dgm:cxn modelId="{75FAF6EA-5768-466F-B1FE-D62260A953EC}" type="presOf" srcId="{4CE75C1E-23F3-4059-810A-B57FE7EEEFF5}" destId="{F7000D3F-E096-455B-9B17-6F55EC008003}" srcOrd="0" destOrd="0" presId="urn:microsoft.com/office/officeart/2016/7/layout/LinearBlockProcessNumbered"/>
    <dgm:cxn modelId="{7BFF41CD-9986-4521-896C-82B5F8F6C3D2}" type="presParOf" srcId="{9FD24B88-A7F3-4D66-A84E-CDF7916D16AA}" destId="{B50DAE17-F3AB-403A-A518-986419D27E4E}" srcOrd="0" destOrd="0" presId="urn:microsoft.com/office/officeart/2016/7/layout/LinearBlockProcessNumbered"/>
    <dgm:cxn modelId="{AE13644C-5BA0-412D-8A80-5FF440CD2384}" type="presParOf" srcId="{B50DAE17-F3AB-403A-A518-986419D27E4E}" destId="{CBB6A9A7-FA4F-4FC9-9900-C6BEDCCD5657}" srcOrd="0" destOrd="0" presId="urn:microsoft.com/office/officeart/2016/7/layout/LinearBlockProcessNumbered"/>
    <dgm:cxn modelId="{969F8CE5-9E99-46CA-98D5-166A69357A87}" type="presParOf" srcId="{B50DAE17-F3AB-403A-A518-986419D27E4E}" destId="{3BF99635-DD9D-4103-A90B-2069678E965A}" srcOrd="1" destOrd="0" presId="urn:microsoft.com/office/officeart/2016/7/layout/LinearBlockProcessNumbered"/>
    <dgm:cxn modelId="{4DBBB045-C4B7-4828-865F-7CE5E46D8A02}" type="presParOf" srcId="{B50DAE17-F3AB-403A-A518-986419D27E4E}" destId="{E32CBF20-8E4F-4184-8FBB-BD83BD7A4968}" srcOrd="2" destOrd="0" presId="urn:microsoft.com/office/officeart/2016/7/layout/LinearBlockProcessNumbered"/>
    <dgm:cxn modelId="{5FE3E0DD-B779-486E-8E59-1E28DD6E0708}" type="presParOf" srcId="{9FD24B88-A7F3-4D66-A84E-CDF7916D16AA}" destId="{44283864-6C05-4EB2-A3F6-BE031E6435E9}" srcOrd="1" destOrd="0" presId="urn:microsoft.com/office/officeart/2016/7/layout/LinearBlockProcessNumbered"/>
    <dgm:cxn modelId="{413795D5-BF52-4F0C-87D8-8EA99A9EDF30}" type="presParOf" srcId="{9FD24B88-A7F3-4D66-A84E-CDF7916D16AA}" destId="{601593BB-1787-4E40-A35D-CC557ED9E963}" srcOrd="2" destOrd="0" presId="urn:microsoft.com/office/officeart/2016/7/layout/LinearBlockProcessNumbered"/>
    <dgm:cxn modelId="{E5ACBD6A-16F7-4DC4-ACE9-CCC95C838D20}" type="presParOf" srcId="{601593BB-1787-4E40-A35D-CC557ED9E963}" destId="{1CB17003-D7F2-4F18-BC0A-107671932501}" srcOrd="0" destOrd="0" presId="urn:microsoft.com/office/officeart/2016/7/layout/LinearBlockProcessNumbered"/>
    <dgm:cxn modelId="{1BF34211-ED62-4CCF-A488-D8BC9248226A}" type="presParOf" srcId="{601593BB-1787-4E40-A35D-CC557ED9E963}" destId="{2CEF8F2A-B94A-4459-A678-90A596C976BF}" srcOrd="1" destOrd="0" presId="urn:microsoft.com/office/officeart/2016/7/layout/LinearBlockProcessNumbered"/>
    <dgm:cxn modelId="{715F2FF3-9925-4CB8-811D-B0D5F0702DB1}" type="presParOf" srcId="{601593BB-1787-4E40-A35D-CC557ED9E963}" destId="{DB65849D-E109-4B21-BD30-321686047CD9}" srcOrd="2" destOrd="0" presId="urn:microsoft.com/office/officeart/2016/7/layout/LinearBlockProcessNumbered"/>
    <dgm:cxn modelId="{556B19F2-0B45-4B6C-B353-F4312406223E}" type="presParOf" srcId="{9FD24B88-A7F3-4D66-A84E-CDF7916D16AA}" destId="{1F987BB9-DFF8-4BE0-8D70-DA9FF9242D3D}" srcOrd="3" destOrd="0" presId="urn:microsoft.com/office/officeart/2016/7/layout/LinearBlockProcessNumbered"/>
    <dgm:cxn modelId="{B8AF5A0A-3248-4B5E-863D-4B964F2FB2D6}" type="presParOf" srcId="{9FD24B88-A7F3-4D66-A84E-CDF7916D16AA}" destId="{6C3694CA-7F49-404C-AD2B-A105F60316DD}" srcOrd="4" destOrd="0" presId="urn:microsoft.com/office/officeart/2016/7/layout/LinearBlockProcessNumbered"/>
    <dgm:cxn modelId="{1A6ADC82-6BA4-459D-89BF-D1A8DA3D3803}" type="presParOf" srcId="{6C3694CA-7F49-404C-AD2B-A105F60316DD}" destId="{9DD5DA99-AA2A-4E3F-A728-445546DBACEC}" srcOrd="0" destOrd="0" presId="urn:microsoft.com/office/officeart/2016/7/layout/LinearBlockProcessNumbered"/>
    <dgm:cxn modelId="{24B48A8E-A3E7-4066-A674-9C3586E7E6CA}" type="presParOf" srcId="{6C3694CA-7F49-404C-AD2B-A105F60316DD}" destId="{5EEA3182-D3F3-4578-8D96-98F4FE1EC80B}" srcOrd="1" destOrd="0" presId="urn:microsoft.com/office/officeart/2016/7/layout/LinearBlockProcessNumbered"/>
    <dgm:cxn modelId="{13681C17-1724-4313-90F6-06D5C2BBE8A7}" type="presParOf" srcId="{6C3694CA-7F49-404C-AD2B-A105F60316DD}" destId="{EF01E4B1-48F6-4A06-A8A8-DB3CDA782D9C}" srcOrd="2" destOrd="0" presId="urn:microsoft.com/office/officeart/2016/7/layout/LinearBlockProcessNumbered"/>
    <dgm:cxn modelId="{09C0D7D4-9420-440F-BC88-9372B550D4EC}" type="presParOf" srcId="{9FD24B88-A7F3-4D66-A84E-CDF7916D16AA}" destId="{F41B45C5-8989-49B1-9E80-A63E7A07B846}" srcOrd="5" destOrd="0" presId="urn:microsoft.com/office/officeart/2016/7/layout/LinearBlockProcessNumbered"/>
    <dgm:cxn modelId="{80708788-D7EE-43EB-B9AE-45A20B5C70DF}" type="presParOf" srcId="{9FD24B88-A7F3-4D66-A84E-CDF7916D16AA}" destId="{4BF2C956-F3D6-49F8-8C83-ABFCE00C9C0C}" srcOrd="6" destOrd="0" presId="urn:microsoft.com/office/officeart/2016/7/layout/LinearBlockProcessNumbered"/>
    <dgm:cxn modelId="{B5E13EA2-B322-4E28-942B-B4D59A3BF963}" type="presParOf" srcId="{4BF2C956-F3D6-49F8-8C83-ABFCE00C9C0C}" destId="{75A7830E-85C2-4790-87A5-11FBCA2D4D0A}" srcOrd="0" destOrd="0" presId="urn:microsoft.com/office/officeart/2016/7/layout/LinearBlockProcessNumbered"/>
    <dgm:cxn modelId="{9661B933-BBF1-40DF-9721-1800F0356B84}" type="presParOf" srcId="{4BF2C956-F3D6-49F8-8C83-ABFCE00C9C0C}" destId="{7609DE1E-7857-4F82-9E71-94D85DB61798}" srcOrd="1" destOrd="0" presId="urn:microsoft.com/office/officeart/2016/7/layout/LinearBlockProcessNumbered"/>
    <dgm:cxn modelId="{54D1FA4A-9B6D-46A9-9563-B104D518EED7}" type="presParOf" srcId="{4BF2C956-F3D6-49F8-8C83-ABFCE00C9C0C}" destId="{D62CB69A-BCB1-4E21-BE7E-93E4581F9B76}" srcOrd="2" destOrd="0" presId="urn:microsoft.com/office/officeart/2016/7/layout/LinearBlockProcessNumbered"/>
    <dgm:cxn modelId="{F339BA11-DAF1-44FC-BFD1-E25C78E207BD}" type="presParOf" srcId="{9FD24B88-A7F3-4D66-A84E-CDF7916D16AA}" destId="{F471F1FE-9E6C-42DD-AB06-44FA64A43FD4}" srcOrd="7" destOrd="0" presId="urn:microsoft.com/office/officeart/2016/7/layout/LinearBlockProcessNumbered"/>
    <dgm:cxn modelId="{93DCB471-BEC5-45B8-9CED-82D29B86244D}" type="presParOf" srcId="{9FD24B88-A7F3-4D66-A84E-CDF7916D16AA}" destId="{513E0D41-7604-4A11-9610-DDED2935B11F}" srcOrd="8" destOrd="0" presId="urn:microsoft.com/office/officeart/2016/7/layout/LinearBlockProcessNumbered"/>
    <dgm:cxn modelId="{1C81C6AE-A8AF-4E30-A542-8989539522E2}" type="presParOf" srcId="{513E0D41-7604-4A11-9610-DDED2935B11F}" destId="{561C226B-F058-4C7A-ADEB-A8965D00CE35}" srcOrd="0" destOrd="0" presId="urn:microsoft.com/office/officeart/2016/7/layout/LinearBlockProcessNumbered"/>
    <dgm:cxn modelId="{D1388D69-8B73-445B-BCE9-385F72CB3859}" type="presParOf" srcId="{513E0D41-7604-4A11-9610-DDED2935B11F}" destId="{F7000D3F-E096-455B-9B17-6F55EC008003}" srcOrd="1" destOrd="0" presId="urn:microsoft.com/office/officeart/2016/7/layout/LinearBlockProcessNumbered"/>
    <dgm:cxn modelId="{50E23F30-EDDB-4873-9F71-7CBA3F9C0CFB}" type="presParOf" srcId="{513E0D41-7604-4A11-9610-DDED2935B11F}" destId="{7CD9D759-9FFE-4F57-9F37-0596541AD63B}" srcOrd="2" destOrd="0" presId="urn:microsoft.com/office/officeart/2016/7/layout/LinearBlockProcessNumbered"/>
    <dgm:cxn modelId="{DD6F90FF-FF81-4CD4-83F2-92E3438776E8}" type="presParOf" srcId="{9FD24B88-A7F3-4D66-A84E-CDF7916D16AA}" destId="{DE5C3B85-F6A5-48B5-9E6F-18F0F09AA4DF}" srcOrd="9" destOrd="0" presId="urn:microsoft.com/office/officeart/2016/7/layout/LinearBlockProcessNumbered"/>
    <dgm:cxn modelId="{23C26277-67B5-4E27-8794-283890B1466F}" type="presParOf" srcId="{9FD24B88-A7F3-4D66-A84E-CDF7916D16AA}" destId="{34DA1F9B-8A53-42BD-9A6F-E61785E97821}" srcOrd="10" destOrd="0" presId="urn:microsoft.com/office/officeart/2016/7/layout/LinearBlockProcessNumbered"/>
    <dgm:cxn modelId="{4D7E21CD-2C4B-4929-AC01-A3D46B948C9A}" type="presParOf" srcId="{34DA1F9B-8A53-42BD-9A6F-E61785E97821}" destId="{3FA3CE07-C867-4868-B845-2FD968EBCBB7}" srcOrd="0" destOrd="0" presId="urn:microsoft.com/office/officeart/2016/7/layout/LinearBlockProcessNumbered"/>
    <dgm:cxn modelId="{8E686040-5FF9-4C85-9163-97CBFCC92DDC}" type="presParOf" srcId="{34DA1F9B-8A53-42BD-9A6F-E61785E97821}" destId="{DB115F26-879C-4272-8FAC-E08B1896A6C2}" srcOrd="1" destOrd="0" presId="urn:microsoft.com/office/officeart/2016/7/layout/LinearBlockProcessNumbered"/>
    <dgm:cxn modelId="{20AD7C9C-13C7-49DB-ACB8-EC24A2E82E32}" type="presParOf" srcId="{34DA1F9B-8A53-42BD-9A6F-E61785E97821}" destId="{8165EA64-6D7B-4CE7-9A07-C8714B6FDE06}"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6A9A7-FA4F-4FC9-9900-C6BEDCCD5657}">
      <dsp:nvSpPr>
        <dsp:cNvPr id="0" name=""/>
        <dsp:cNvSpPr/>
      </dsp:nvSpPr>
      <dsp:spPr>
        <a:xfrm>
          <a:off x="0" y="929580"/>
          <a:ext cx="1867792" cy="2241351"/>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latin typeface="Times New Roman" panose="02020603050405020304" pitchFamily="18" charset="0"/>
              <a:cs typeface="Times New Roman" panose="02020603050405020304" pitchFamily="18" charset="0"/>
            </a:rPr>
            <a:t>Population / Patient</a:t>
          </a:r>
        </a:p>
      </dsp:txBody>
      <dsp:txXfrm>
        <a:off x="0" y="1826121"/>
        <a:ext cx="1867792" cy="1344810"/>
      </dsp:txXfrm>
    </dsp:sp>
    <dsp:sp modelId="{3BF99635-DD9D-4103-A90B-2069678E965A}">
      <dsp:nvSpPr>
        <dsp:cNvPr id="0" name=""/>
        <dsp:cNvSpPr/>
      </dsp:nvSpPr>
      <dsp:spPr>
        <a:xfrm>
          <a:off x="0" y="929580"/>
          <a:ext cx="1867792" cy="89654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latin typeface="Times New Roman" panose="02020603050405020304" pitchFamily="18" charset="0"/>
              <a:cs typeface="Times New Roman" panose="02020603050405020304" pitchFamily="18" charset="0"/>
            </a:rPr>
            <a:t>P</a:t>
          </a:r>
          <a:endParaRPr lang="en-US" sz="4000" kern="1200" dirty="0">
            <a:latin typeface="Times New Roman" panose="02020603050405020304" pitchFamily="18" charset="0"/>
            <a:cs typeface="Times New Roman" panose="02020603050405020304" pitchFamily="18" charset="0"/>
          </a:endParaRPr>
        </a:p>
      </dsp:txBody>
      <dsp:txXfrm>
        <a:off x="0" y="929580"/>
        <a:ext cx="1867792" cy="896540"/>
      </dsp:txXfrm>
    </dsp:sp>
    <dsp:sp modelId="{1CB17003-D7F2-4F18-BC0A-107671932501}">
      <dsp:nvSpPr>
        <dsp:cNvPr id="0" name=""/>
        <dsp:cNvSpPr/>
      </dsp:nvSpPr>
      <dsp:spPr>
        <a:xfrm>
          <a:off x="2017216" y="929580"/>
          <a:ext cx="1867792" cy="2241351"/>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latin typeface="Times New Roman" panose="02020603050405020304" pitchFamily="18" charset="0"/>
              <a:cs typeface="Times New Roman" panose="02020603050405020304" pitchFamily="18" charset="0"/>
            </a:rPr>
            <a:t>Intervention / exposure</a:t>
          </a:r>
        </a:p>
      </dsp:txBody>
      <dsp:txXfrm>
        <a:off x="2017216" y="1826121"/>
        <a:ext cx="1867792" cy="1344810"/>
      </dsp:txXfrm>
    </dsp:sp>
    <dsp:sp modelId="{2CEF8F2A-B94A-4459-A678-90A596C976BF}">
      <dsp:nvSpPr>
        <dsp:cNvPr id="0" name=""/>
        <dsp:cNvSpPr/>
      </dsp:nvSpPr>
      <dsp:spPr>
        <a:xfrm>
          <a:off x="2017216" y="929580"/>
          <a:ext cx="1867792" cy="89654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latin typeface="Times New Roman" panose="02020603050405020304" pitchFamily="18" charset="0"/>
              <a:cs typeface="Times New Roman" panose="02020603050405020304" pitchFamily="18" charset="0"/>
            </a:rPr>
            <a:t>I</a:t>
          </a:r>
          <a:endParaRPr lang="en-US" sz="4000" kern="1200" dirty="0">
            <a:latin typeface="Times New Roman" panose="02020603050405020304" pitchFamily="18" charset="0"/>
            <a:cs typeface="Times New Roman" panose="02020603050405020304" pitchFamily="18" charset="0"/>
          </a:endParaRPr>
        </a:p>
      </dsp:txBody>
      <dsp:txXfrm>
        <a:off x="2017216" y="929580"/>
        <a:ext cx="1867792" cy="896540"/>
      </dsp:txXfrm>
    </dsp:sp>
    <dsp:sp modelId="{9DD5DA99-AA2A-4E3F-A728-445546DBACEC}">
      <dsp:nvSpPr>
        <dsp:cNvPr id="0" name=""/>
        <dsp:cNvSpPr/>
      </dsp:nvSpPr>
      <dsp:spPr>
        <a:xfrm>
          <a:off x="4034432" y="929580"/>
          <a:ext cx="1867792" cy="2241351"/>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latin typeface="Times New Roman" panose="02020603050405020304" pitchFamily="18" charset="0"/>
              <a:cs typeface="Times New Roman" panose="02020603050405020304" pitchFamily="18" charset="0"/>
            </a:rPr>
            <a:t>Comparison</a:t>
          </a:r>
        </a:p>
      </dsp:txBody>
      <dsp:txXfrm>
        <a:off x="4034432" y="1826121"/>
        <a:ext cx="1867792" cy="1344810"/>
      </dsp:txXfrm>
    </dsp:sp>
    <dsp:sp modelId="{5EEA3182-D3F3-4578-8D96-98F4FE1EC80B}">
      <dsp:nvSpPr>
        <dsp:cNvPr id="0" name=""/>
        <dsp:cNvSpPr/>
      </dsp:nvSpPr>
      <dsp:spPr>
        <a:xfrm>
          <a:off x="4034432" y="929580"/>
          <a:ext cx="1867792" cy="89654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latin typeface="Times New Roman" panose="02020603050405020304" pitchFamily="18" charset="0"/>
              <a:cs typeface="Times New Roman" panose="02020603050405020304" pitchFamily="18" charset="0"/>
            </a:rPr>
            <a:t>C</a:t>
          </a:r>
          <a:endParaRPr lang="en-US" sz="4000" kern="1200" dirty="0">
            <a:latin typeface="Times New Roman" panose="02020603050405020304" pitchFamily="18" charset="0"/>
            <a:cs typeface="Times New Roman" panose="02020603050405020304" pitchFamily="18" charset="0"/>
          </a:endParaRPr>
        </a:p>
      </dsp:txBody>
      <dsp:txXfrm>
        <a:off x="4034432" y="929580"/>
        <a:ext cx="1867792" cy="896540"/>
      </dsp:txXfrm>
    </dsp:sp>
    <dsp:sp modelId="{75A7830E-85C2-4790-87A5-11FBCA2D4D0A}">
      <dsp:nvSpPr>
        <dsp:cNvPr id="0" name=""/>
        <dsp:cNvSpPr/>
      </dsp:nvSpPr>
      <dsp:spPr>
        <a:xfrm>
          <a:off x="6051648" y="929580"/>
          <a:ext cx="1867792" cy="2241351"/>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latin typeface="Times New Roman" panose="02020603050405020304" pitchFamily="18" charset="0"/>
              <a:cs typeface="Times New Roman" panose="02020603050405020304" pitchFamily="18" charset="0"/>
            </a:rPr>
            <a:t>Outcome</a:t>
          </a:r>
        </a:p>
      </dsp:txBody>
      <dsp:txXfrm>
        <a:off x="6051648" y="1826121"/>
        <a:ext cx="1867792" cy="1344810"/>
      </dsp:txXfrm>
    </dsp:sp>
    <dsp:sp modelId="{7609DE1E-7857-4F82-9E71-94D85DB61798}">
      <dsp:nvSpPr>
        <dsp:cNvPr id="0" name=""/>
        <dsp:cNvSpPr/>
      </dsp:nvSpPr>
      <dsp:spPr>
        <a:xfrm>
          <a:off x="6051648" y="929580"/>
          <a:ext cx="1867792" cy="89654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latin typeface="Times New Roman" panose="02020603050405020304" pitchFamily="18" charset="0"/>
              <a:cs typeface="Times New Roman" panose="02020603050405020304" pitchFamily="18" charset="0"/>
            </a:rPr>
            <a:t>O</a:t>
          </a:r>
          <a:endParaRPr lang="en-US" sz="4000" kern="1200" dirty="0">
            <a:latin typeface="Times New Roman" panose="02020603050405020304" pitchFamily="18" charset="0"/>
            <a:cs typeface="Times New Roman" panose="02020603050405020304" pitchFamily="18" charset="0"/>
          </a:endParaRPr>
        </a:p>
      </dsp:txBody>
      <dsp:txXfrm>
        <a:off x="6051648" y="929580"/>
        <a:ext cx="1867792" cy="896540"/>
      </dsp:txXfrm>
    </dsp:sp>
    <dsp:sp modelId="{561C226B-F058-4C7A-ADEB-A8965D00CE35}">
      <dsp:nvSpPr>
        <dsp:cNvPr id="0" name=""/>
        <dsp:cNvSpPr/>
      </dsp:nvSpPr>
      <dsp:spPr>
        <a:xfrm>
          <a:off x="8068864" y="929580"/>
          <a:ext cx="1867792" cy="2241351"/>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latin typeface="Times New Roman" panose="02020603050405020304" pitchFamily="18" charset="0"/>
              <a:cs typeface="Times New Roman" panose="02020603050405020304" pitchFamily="18" charset="0"/>
            </a:rPr>
            <a:t>Time</a:t>
          </a:r>
        </a:p>
      </dsp:txBody>
      <dsp:txXfrm>
        <a:off x="8068864" y="1826121"/>
        <a:ext cx="1867792" cy="1344810"/>
      </dsp:txXfrm>
    </dsp:sp>
    <dsp:sp modelId="{F7000D3F-E096-455B-9B17-6F55EC008003}">
      <dsp:nvSpPr>
        <dsp:cNvPr id="0" name=""/>
        <dsp:cNvSpPr/>
      </dsp:nvSpPr>
      <dsp:spPr>
        <a:xfrm>
          <a:off x="8068864" y="929580"/>
          <a:ext cx="1867792" cy="89654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latin typeface="Times New Roman" panose="02020603050405020304" pitchFamily="18" charset="0"/>
              <a:cs typeface="Times New Roman" panose="02020603050405020304" pitchFamily="18" charset="0"/>
            </a:rPr>
            <a:t>T</a:t>
          </a:r>
          <a:endParaRPr lang="en-US" sz="4000" kern="1200" dirty="0">
            <a:latin typeface="Times New Roman" panose="02020603050405020304" pitchFamily="18" charset="0"/>
            <a:cs typeface="Times New Roman" panose="02020603050405020304" pitchFamily="18" charset="0"/>
          </a:endParaRPr>
        </a:p>
      </dsp:txBody>
      <dsp:txXfrm>
        <a:off x="8068864" y="929580"/>
        <a:ext cx="1867792" cy="896540"/>
      </dsp:txXfrm>
    </dsp:sp>
    <dsp:sp modelId="{3FA3CE07-C867-4868-B845-2FD968EBCBB7}">
      <dsp:nvSpPr>
        <dsp:cNvPr id="0" name=""/>
        <dsp:cNvSpPr/>
      </dsp:nvSpPr>
      <dsp:spPr>
        <a:xfrm>
          <a:off x="10086081" y="929580"/>
          <a:ext cx="1867792" cy="2241351"/>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latin typeface="Times New Roman" panose="02020603050405020304" pitchFamily="18" charset="0"/>
              <a:cs typeface="Times New Roman" panose="02020603050405020304" pitchFamily="18" charset="0"/>
            </a:rPr>
            <a:t>Setting</a:t>
          </a:r>
        </a:p>
      </dsp:txBody>
      <dsp:txXfrm>
        <a:off x="10086081" y="1826121"/>
        <a:ext cx="1867792" cy="1344810"/>
      </dsp:txXfrm>
    </dsp:sp>
    <dsp:sp modelId="{DB115F26-879C-4272-8FAC-E08B1896A6C2}">
      <dsp:nvSpPr>
        <dsp:cNvPr id="0" name=""/>
        <dsp:cNvSpPr/>
      </dsp:nvSpPr>
      <dsp:spPr>
        <a:xfrm>
          <a:off x="10086081" y="929580"/>
          <a:ext cx="1867792" cy="89654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latin typeface="Times New Roman" panose="02020603050405020304" pitchFamily="18" charset="0"/>
              <a:cs typeface="Times New Roman" panose="02020603050405020304" pitchFamily="18" charset="0"/>
            </a:rPr>
            <a:t>S</a:t>
          </a:r>
          <a:endParaRPr lang="en-US" sz="4000" kern="1200" dirty="0">
            <a:latin typeface="Times New Roman" panose="02020603050405020304" pitchFamily="18" charset="0"/>
            <a:cs typeface="Times New Roman" panose="02020603050405020304" pitchFamily="18" charset="0"/>
          </a:endParaRPr>
        </a:p>
      </dsp:txBody>
      <dsp:txXfrm>
        <a:off x="10086081" y="929580"/>
        <a:ext cx="1867792" cy="896540"/>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5" name="Footer Placeholder 4"/>
          <p:cNvSpPr>
            <a:spLocks noGrp="1"/>
          </p:cNvSpPr>
          <p:nvPr>
            <p:ph type="ftr" sz="quarter" idx="11"/>
          </p:nvPr>
        </p:nvSpPr>
        <p:spPr/>
        <p:txBody>
          <a:bodyPr/>
          <a:lstStyle/>
          <a:p>
            <a:endParaRPr lang="en-US" dirty="0">
              <a:solidFill>
                <a:schemeClr val="bg1"/>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28132178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984733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592493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6" name="Footer Placeholder 5"/>
          <p:cNvSpPr>
            <a:spLocks noGrp="1"/>
          </p:cNvSpPr>
          <p:nvPr>
            <p:ph type="ftr" sz="quarter" idx="11"/>
          </p:nvPr>
        </p:nvSpPr>
        <p:spPr/>
        <p:txBody>
          <a:bodyPr/>
          <a:lstStyle/>
          <a:p>
            <a:endParaRPr lang="en-US" dirty="0">
              <a:solidFill>
                <a:schemeClr val="tx1"/>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229210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8" name="Footer Placeholder 7"/>
          <p:cNvSpPr>
            <a:spLocks noGrp="1"/>
          </p:cNvSpPr>
          <p:nvPr>
            <p:ph type="ftr" sz="quarter" idx="11"/>
          </p:nvPr>
        </p:nvSpPr>
        <p:spPr/>
        <p:txBody>
          <a:bodyPr/>
          <a:lstStyle/>
          <a:p>
            <a:endParaRPr lang="en-US" dirty="0">
              <a:solidFill>
                <a:schemeClr val="tx1"/>
              </a:solidFill>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025906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4" name="Footer Placeholder 3"/>
          <p:cNvSpPr>
            <a:spLocks noGrp="1"/>
          </p:cNvSpPr>
          <p:nvPr>
            <p:ph type="ftr" sz="quarter" idx="11"/>
          </p:nvPr>
        </p:nvSpPr>
        <p:spPr/>
        <p:txBody>
          <a:bodyPr/>
          <a:lstStyle/>
          <a:p>
            <a:endParaRPr lang="en-US" dirty="0">
              <a:solidFill>
                <a:schemeClr val="tx1"/>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02145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3" name="Footer Placeholder 2"/>
          <p:cNvSpPr>
            <a:spLocks noGrp="1"/>
          </p:cNvSpPr>
          <p:nvPr>
            <p:ph type="ftr" sz="quarter" idx="11"/>
          </p:nvPr>
        </p:nvSpPr>
        <p:spPr/>
        <p:txBody>
          <a:bodyPr/>
          <a:lstStyle/>
          <a:p>
            <a:endParaRPr lang="en-US" dirty="0">
              <a:solidFill>
                <a:schemeClr val="tx1"/>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62082221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6" name="Footer Placeholder 5"/>
          <p:cNvSpPr>
            <a:spLocks noGrp="1"/>
          </p:cNvSpPr>
          <p:nvPr>
            <p:ph type="ftr" sz="quarter" idx="11"/>
          </p:nvPr>
        </p:nvSpPr>
        <p:spPr/>
        <p:txBody>
          <a:bodyPr/>
          <a:lstStyle/>
          <a:p>
            <a:endParaRPr lang="en-US" dirty="0">
              <a:solidFill>
                <a:schemeClr val="tx1"/>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3817975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6" name="Footer Placeholder 5"/>
          <p:cNvSpPr>
            <a:spLocks noGrp="1"/>
          </p:cNvSpPr>
          <p:nvPr>
            <p:ph type="ftr" sz="quarter" idx="11"/>
          </p:nvPr>
        </p:nvSpPr>
        <p:spPr/>
        <p:txBody>
          <a:bodyPr/>
          <a:lstStyle/>
          <a:p>
            <a:endParaRPr lang="en-US" dirty="0">
              <a:effectLst>
                <a:outerShdw blurRad="50800" dist="38100" dir="2700000" algn="tl" rotWithShape="0">
                  <a:prstClr val="black">
                    <a:alpha val="43000"/>
                  </a:prstClr>
                </a:outerShdw>
              </a:effectLst>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304981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4/24/2024</a:t>
            </a:fld>
            <a:endParaRPr lang="en-US" spc="50" dirty="0"/>
          </a:p>
        </p:txBody>
      </p:sp>
      <p:sp>
        <p:nvSpPr>
          <p:cNvPr id="5" name="Footer Placeholder 4"/>
          <p:cNvSpPr>
            <a:spLocks noGrp="1"/>
          </p:cNvSpPr>
          <p:nvPr>
            <p:ph type="ftr" sz="quarter" idx="11"/>
          </p:nvPr>
        </p:nvSpPr>
        <p:spPr/>
        <p:txBody>
          <a:bodyPr/>
          <a:lstStyle/>
          <a:p>
            <a:endParaRPr lang="en-US" spc="50"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16233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4/24/2024</a:t>
            </a:fld>
            <a:endParaRPr lang="en-US" spc="50" dirty="0"/>
          </a:p>
        </p:txBody>
      </p:sp>
      <p:sp>
        <p:nvSpPr>
          <p:cNvPr id="5" name="Footer Placeholder 4"/>
          <p:cNvSpPr>
            <a:spLocks noGrp="1"/>
          </p:cNvSpPr>
          <p:nvPr>
            <p:ph type="ftr" sz="quarter" idx="11"/>
          </p:nvPr>
        </p:nvSpPr>
        <p:spPr/>
        <p:txBody>
          <a:bodyPr/>
          <a:lstStyle/>
          <a:p>
            <a:endParaRPr lang="en-US" spc="50"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algn="l"/>
            <a:fld id="{F97E8200-1950-409B-82E7-99938E7AE355}" type="slidenum">
              <a:rPr lang="en-US" smtClean="0"/>
              <a:pPr algn="l"/>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6368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4/24/2024</a:t>
            </a:fld>
            <a:endParaRPr lang="en-US" spc="50" dirty="0"/>
          </a:p>
        </p:txBody>
      </p:sp>
      <p:sp>
        <p:nvSpPr>
          <p:cNvPr id="6" name="Footer Placeholder 5"/>
          <p:cNvSpPr>
            <a:spLocks noGrp="1"/>
          </p:cNvSpPr>
          <p:nvPr>
            <p:ph type="ftr" sz="quarter" idx="11"/>
          </p:nvPr>
        </p:nvSpPr>
        <p:spPr/>
        <p:txBody>
          <a:bodyPr/>
          <a:lstStyle/>
          <a:p>
            <a:endParaRPr lang="en-US" spc="50"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764712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4/24/2024</a:t>
            </a:fld>
            <a:endParaRPr lang="en-US" spc="50" dirty="0"/>
          </a:p>
        </p:txBody>
      </p:sp>
      <p:sp>
        <p:nvSpPr>
          <p:cNvPr id="6" name="Footer Placeholder 5"/>
          <p:cNvSpPr>
            <a:spLocks noGrp="1"/>
          </p:cNvSpPr>
          <p:nvPr>
            <p:ph type="ftr" sz="quarter" idx="11"/>
          </p:nvPr>
        </p:nvSpPr>
        <p:spPr/>
        <p:txBody>
          <a:bodyPr/>
          <a:lstStyle/>
          <a:p>
            <a:endParaRPr lang="en-US" spc="50"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algn="l"/>
            <a:fld id="{F97E8200-1950-409B-82E7-99938E7AE355}" type="slidenum">
              <a:rPr lang="en-US" smtClean="0"/>
              <a:pPr algn="l"/>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41471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4/24/2024</a:t>
            </a:fld>
            <a:endParaRPr lang="en-US" spc="50" dirty="0"/>
          </a:p>
        </p:txBody>
      </p:sp>
      <p:sp>
        <p:nvSpPr>
          <p:cNvPr id="6" name="Footer Placeholder 5"/>
          <p:cNvSpPr>
            <a:spLocks noGrp="1"/>
          </p:cNvSpPr>
          <p:nvPr>
            <p:ph type="ftr" sz="quarter" idx="11"/>
          </p:nvPr>
        </p:nvSpPr>
        <p:spPr/>
        <p:txBody>
          <a:bodyPr/>
          <a:lstStyle/>
          <a:p>
            <a:endParaRPr lang="en-US" spc="50"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798813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083346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4/24/2024</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931536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pPr algn="r"/>
            <a:fld id="{A37D6D71-8B28-4ED6-B932-04B197003D23}" type="datetimeFigureOut">
              <a:rPr lang="en-US" smtClean="0"/>
              <a:pPr algn="r"/>
              <a:t>4/24/2024</a:t>
            </a:fld>
            <a:endParaRPr lang="en-US" spc="50"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spc="50"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2938398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 name="Picture 3" descr="Colored pencils inside a pencil holder which is on top of a wood table">
            <a:extLst>
              <a:ext uri="{FF2B5EF4-FFF2-40B4-BE49-F238E27FC236}">
                <a16:creationId xmlns:a16="http://schemas.microsoft.com/office/drawing/2014/main" id="{2AAB0E9F-12CC-3397-63DD-F1055D4108F7}"/>
              </a:ext>
            </a:extLst>
          </p:cNvPr>
          <p:cNvPicPr>
            <a:picLocks noChangeAspect="1"/>
          </p:cNvPicPr>
          <p:nvPr/>
        </p:nvPicPr>
        <p:blipFill rotWithShape="1">
          <a:blip r:embed="rId2"/>
          <a:srcRect l="12554" r="12551" b="-2"/>
          <a:stretch/>
        </p:blipFill>
        <p:spPr>
          <a:xfrm>
            <a:off x="5337548" y="670965"/>
            <a:ext cx="6189620" cy="5516602"/>
          </a:xfrm>
          <a:prstGeom prst="rect">
            <a:avLst/>
          </a:prstGeom>
        </p:spPr>
      </p:pic>
      <p:sp>
        <p:nvSpPr>
          <p:cNvPr id="2" name="Title 1">
            <a:extLst>
              <a:ext uri="{FF2B5EF4-FFF2-40B4-BE49-F238E27FC236}">
                <a16:creationId xmlns:a16="http://schemas.microsoft.com/office/drawing/2014/main" id="{902CB622-90CD-B508-E209-B00D45672A02}"/>
              </a:ext>
            </a:extLst>
          </p:cNvPr>
          <p:cNvSpPr>
            <a:spLocks noGrp="1"/>
          </p:cNvSpPr>
          <p:nvPr>
            <p:ph type="ctrTitle"/>
          </p:nvPr>
        </p:nvSpPr>
        <p:spPr>
          <a:xfrm>
            <a:off x="385011" y="1023868"/>
            <a:ext cx="4952537" cy="1943922"/>
          </a:xfrm>
        </p:spPr>
        <p:txBody>
          <a:bodyPr>
            <a:normAutofit/>
          </a:bodyPr>
          <a:lstStyle/>
          <a:p>
            <a:r>
              <a:rPr lang="en-US" dirty="0"/>
              <a:t>Descriptive Epidemiology</a:t>
            </a:r>
          </a:p>
        </p:txBody>
      </p:sp>
      <p:sp>
        <p:nvSpPr>
          <p:cNvPr id="3" name="Subtitle 2">
            <a:extLst>
              <a:ext uri="{FF2B5EF4-FFF2-40B4-BE49-F238E27FC236}">
                <a16:creationId xmlns:a16="http://schemas.microsoft.com/office/drawing/2014/main" id="{1EC340A1-CD8B-CFDD-CDD2-96F83C0C4201}"/>
              </a:ext>
            </a:extLst>
          </p:cNvPr>
          <p:cNvSpPr>
            <a:spLocks noGrp="1"/>
          </p:cNvSpPr>
          <p:nvPr>
            <p:ph type="subTitle" idx="1"/>
          </p:nvPr>
        </p:nvSpPr>
        <p:spPr>
          <a:xfrm>
            <a:off x="1068236" y="4945377"/>
            <a:ext cx="3793678" cy="1037760"/>
          </a:xfrm>
        </p:spPr>
        <p:txBody>
          <a:bodyPr>
            <a:normAutofit/>
          </a:bodyPr>
          <a:lstStyle/>
          <a:p>
            <a:endParaRPr lang="en-US"/>
          </a:p>
        </p:txBody>
      </p:sp>
    </p:spTree>
    <p:extLst>
      <p:ext uri="{BB962C8B-B14F-4D97-AF65-F5344CB8AC3E}">
        <p14:creationId xmlns:p14="http://schemas.microsoft.com/office/powerpoint/2010/main" val="1808176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003EDF-E834-20BD-F978-4E69241562E3}"/>
              </a:ext>
            </a:extLst>
          </p:cNvPr>
          <p:cNvSpPr>
            <a:spLocks noGrp="1"/>
          </p:cNvSpPr>
          <p:nvPr>
            <p:ph idx="1"/>
          </p:nvPr>
        </p:nvSpPr>
        <p:spPr>
          <a:xfrm>
            <a:off x="754743" y="667657"/>
            <a:ext cx="10599057" cy="5509306"/>
          </a:xfrm>
        </p:spPr>
        <p:txBody>
          <a:bodyPr>
            <a:normAutofit/>
          </a:bodyPr>
          <a:lstStyle/>
          <a:p>
            <a:r>
              <a:rPr lang="en-US" dirty="0">
                <a:latin typeface="Times New Roman" panose="02020603050405020304" pitchFamily="18" charset="0"/>
                <a:cs typeface="Times New Roman" panose="02020603050405020304" pitchFamily="18" charset="0"/>
              </a:rPr>
              <a:t>Propagated is person to person transmission. Gonorrhea is sexually transmitted infection, and it can continue to spread if the common source is not treated or protected in case of multiple sexual partners or FSW. It becomes intermittent common source epidemic . </a:t>
            </a:r>
          </a:p>
          <a:p>
            <a:r>
              <a:rPr lang="en-US" dirty="0">
                <a:latin typeface="Times New Roman" panose="02020603050405020304" pitchFamily="18" charset="0"/>
                <a:cs typeface="Times New Roman" panose="02020603050405020304" pitchFamily="18" charset="0"/>
              </a:rPr>
              <a:t>Also, at times a person who contracts syphilis can spread to their partner in the absence of safe practices and becomes </a:t>
            </a:r>
            <a:r>
              <a:rPr lang="en-US" dirty="0" err="1">
                <a:latin typeface="Times New Roman" panose="02020603050405020304" pitchFamily="18" charset="0"/>
                <a:cs typeface="Times New Roman" panose="02020603050405020304" pitchFamily="18" charset="0"/>
              </a:rPr>
              <a:t>propogated</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If restricted to only one partner, it becomes the end source. If they have multiple then the propagation continues.</a:t>
            </a:r>
          </a:p>
          <a:p>
            <a:r>
              <a:rPr lang="en-US" dirty="0">
                <a:latin typeface="Times New Roman" panose="02020603050405020304" pitchFamily="18" charset="0"/>
                <a:cs typeface="Times New Roman" panose="02020603050405020304" pitchFamily="18" charset="0"/>
              </a:rPr>
              <a:t>It can be considered as a mixed epidemic</a:t>
            </a:r>
          </a:p>
          <a:p>
            <a:r>
              <a:rPr lang="en-US" dirty="0">
                <a:latin typeface="Times New Roman" panose="02020603050405020304" pitchFamily="18" charset="0"/>
                <a:cs typeface="Times New Roman" panose="02020603050405020304" pitchFamily="18" charset="0"/>
              </a:rPr>
              <a:t>https://www.cdc.gov/csels/dsepd/ss1978/lesson1/section11.html</a:t>
            </a:r>
          </a:p>
        </p:txBody>
      </p:sp>
    </p:spTree>
    <p:extLst>
      <p:ext uri="{BB962C8B-B14F-4D97-AF65-F5344CB8AC3E}">
        <p14:creationId xmlns:p14="http://schemas.microsoft.com/office/powerpoint/2010/main" val="3759656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EE79-4A61-F9F1-C4FC-0EC71C3CDBD7}"/>
              </a:ext>
            </a:extLst>
          </p:cNvPr>
          <p:cNvSpPr>
            <a:spLocks noGrp="1"/>
          </p:cNvSpPr>
          <p:nvPr>
            <p:ph type="title"/>
          </p:nvPr>
        </p:nvSpPr>
        <p:spPr>
          <a:xfrm>
            <a:off x="838200" y="365125"/>
            <a:ext cx="10515600" cy="1325563"/>
          </a:xfrm>
        </p:spPr>
        <p:txBody>
          <a:bodyPr>
            <a:normAutofit/>
          </a:bodyPr>
          <a:lstStyle/>
          <a:p>
            <a:r>
              <a:rPr lang="en-US" sz="5400"/>
              <a:t>MCQ - 1</a:t>
            </a:r>
          </a:p>
        </p:txBody>
      </p:sp>
      <p:sp>
        <p:nvSpPr>
          <p:cNvPr id="5" name="Content Placeholder 4"/>
          <p:cNvSpPr>
            <a:spLocks noGrp="1"/>
          </p:cNvSpPr>
          <p:nvPr>
            <p:ph idx="1"/>
          </p:nvPr>
        </p:nvSpPr>
        <p:spPr>
          <a:xfrm>
            <a:off x="838200" y="1929384"/>
            <a:ext cx="10515600" cy="4251960"/>
          </a:xfrm>
        </p:spPr>
        <p:txBody>
          <a:bodyPr>
            <a:normAutofit/>
          </a:bodyPr>
          <a:lstStyle/>
          <a:p>
            <a:pPr>
              <a:buNone/>
            </a:pPr>
            <a:r>
              <a:rPr lang="en-IN" sz="3200" dirty="0"/>
              <a:t>1. Which of the following is characteristic of a single exposure common vehicle outbreak?</a:t>
            </a:r>
          </a:p>
          <a:p>
            <a:pPr lvl="1">
              <a:buNone/>
            </a:pPr>
            <a:r>
              <a:rPr lang="en-IN" sz="3200" dirty="0"/>
              <a:t>a. Frequent secondary cases</a:t>
            </a:r>
          </a:p>
          <a:p>
            <a:pPr lvl="1">
              <a:buNone/>
            </a:pPr>
            <a:r>
              <a:rPr lang="en-IN" sz="3200" dirty="0"/>
              <a:t>b. Severity increases with age</a:t>
            </a:r>
          </a:p>
          <a:p>
            <a:pPr lvl="1">
              <a:buNone/>
            </a:pPr>
            <a:r>
              <a:rPr lang="en-IN" sz="3200" dirty="0"/>
              <a:t>c. Explosive</a:t>
            </a:r>
          </a:p>
          <a:p>
            <a:pPr lvl="1">
              <a:buNone/>
            </a:pPr>
            <a:r>
              <a:rPr lang="en-IN" sz="3200" dirty="0"/>
              <a:t>d. Cases occur continuously beyond the longest Incubation period</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sz="5400"/>
              <a:t>MCQ - 2</a:t>
            </a:r>
          </a:p>
        </p:txBody>
      </p:sp>
      <p:sp>
        <p:nvSpPr>
          <p:cNvPr id="3" name="Content Placeholder 2"/>
          <p:cNvSpPr>
            <a:spLocks noGrp="1"/>
          </p:cNvSpPr>
          <p:nvPr>
            <p:ph idx="1"/>
          </p:nvPr>
        </p:nvSpPr>
        <p:spPr>
          <a:xfrm>
            <a:off x="838200" y="1929384"/>
            <a:ext cx="10515600" cy="4251960"/>
          </a:xfrm>
        </p:spPr>
        <p:txBody>
          <a:bodyPr>
            <a:normAutofit/>
          </a:bodyPr>
          <a:lstStyle/>
          <a:p>
            <a:pPr>
              <a:buNone/>
            </a:pPr>
            <a:r>
              <a:rPr lang="en-IN" sz="3200" dirty="0"/>
              <a:t>2. True about Point source Epidemic is</a:t>
            </a:r>
          </a:p>
          <a:p>
            <a:pPr lvl="1">
              <a:buNone/>
            </a:pPr>
            <a:r>
              <a:rPr lang="en-IN" sz="3200" dirty="0"/>
              <a:t>a. Occurs in more than one incubation period</a:t>
            </a:r>
          </a:p>
          <a:p>
            <a:pPr lvl="1">
              <a:buNone/>
            </a:pPr>
            <a:r>
              <a:rPr lang="en-IN" sz="3200" dirty="0"/>
              <a:t>b. Occurs in one incubation period</a:t>
            </a:r>
          </a:p>
          <a:p>
            <a:pPr lvl="1">
              <a:buNone/>
            </a:pPr>
            <a:r>
              <a:rPr lang="en-IN" sz="3200" dirty="0"/>
              <a:t>c. The exposure is continuous</a:t>
            </a:r>
          </a:p>
          <a:p>
            <a:pPr lvl="1">
              <a:buNone/>
            </a:pPr>
            <a:r>
              <a:rPr lang="en-IN" sz="3200" dirty="0"/>
              <a:t>d. Epidemic curve falls very slowly.</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sz="5400"/>
              <a:t>MCQ - 3</a:t>
            </a:r>
          </a:p>
        </p:txBody>
      </p:sp>
      <p:sp>
        <p:nvSpPr>
          <p:cNvPr id="3" name="Content Placeholder 2"/>
          <p:cNvSpPr>
            <a:spLocks noGrp="1"/>
          </p:cNvSpPr>
          <p:nvPr>
            <p:ph idx="1"/>
          </p:nvPr>
        </p:nvSpPr>
        <p:spPr>
          <a:xfrm>
            <a:off x="838200" y="1929384"/>
            <a:ext cx="10515600" cy="4251960"/>
          </a:xfrm>
        </p:spPr>
        <p:txBody>
          <a:bodyPr>
            <a:normAutofit/>
          </a:bodyPr>
          <a:lstStyle/>
          <a:p>
            <a:pPr>
              <a:buNone/>
            </a:pPr>
            <a:r>
              <a:rPr lang="en-IN" sz="3600" dirty="0"/>
              <a:t>3.Which of the following study design has population as unit of study </a:t>
            </a:r>
          </a:p>
          <a:p>
            <a:pPr lvl="1">
              <a:buNone/>
            </a:pPr>
            <a:r>
              <a:rPr lang="en-IN" sz="3600" dirty="0"/>
              <a:t>a. Case - control</a:t>
            </a:r>
          </a:p>
          <a:p>
            <a:pPr lvl="1">
              <a:buNone/>
            </a:pPr>
            <a:r>
              <a:rPr lang="en-IN" sz="3600" dirty="0"/>
              <a:t>b. Cohort </a:t>
            </a:r>
          </a:p>
          <a:p>
            <a:pPr lvl="1">
              <a:buNone/>
            </a:pPr>
            <a:r>
              <a:rPr lang="en-IN" sz="3600" dirty="0"/>
              <a:t>c. Cross - sectional</a:t>
            </a:r>
          </a:p>
          <a:p>
            <a:pPr lvl="1">
              <a:buNone/>
            </a:pPr>
            <a:r>
              <a:rPr lang="en-IN" sz="3600" dirty="0"/>
              <a:t>d. Ecological study</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sz="5400"/>
              <a:t>MCQ - 4</a:t>
            </a:r>
          </a:p>
        </p:txBody>
      </p:sp>
      <p:sp>
        <p:nvSpPr>
          <p:cNvPr id="3" name="Content Placeholder 2"/>
          <p:cNvSpPr>
            <a:spLocks noGrp="1"/>
          </p:cNvSpPr>
          <p:nvPr>
            <p:ph idx="1"/>
          </p:nvPr>
        </p:nvSpPr>
        <p:spPr>
          <a:xfrm>
            <a:off x="838200" y="1929384"/>
            <a:ext cx="10515600" cy="4251960"/>
          </a:xfrm>
        </p:spPr>
        <p:txBody>
          <a:bodyPr>
            <a:normAutofit/>
          </a:bodyPr>
          <a:lstStyle/>
          <a:p>
            <a:pPr>
              <a:buNone/>
            </a:pPr>
            <a:r>
              <a:rPr lang="en-IN" sz="3200" dirty="0"/>
              <a:t> 4. True about continuous common source Epidemics.</a:t>
            </a:r>
          </a:p>
          <a:p>
            <a:pPr lvl="1">
              <a:buNone/>
            </a:pPr>
            <a:r>
              <a:rPr lang="en-IN" sz="3200" dirty="0"/>
              <a:t>    a. High SAR</a:t>
            </a:r>
          </a:p>
          <a:p>
            <a:pPr lvl="1">
              <a:buNone/>
            </a:pPr>
            <a:r>
              <a:rPr lang="en-IN" sz="3200" dirty="0"/>
              <a:t>    b. Duration more than One Incubation period</a:t>
            </a:r>
          </a:p>
          <a:p>
            <a:pPr lvl="1">
              <a:buNone/>
            </a:pPr>
            <a:r>
              <a:rPr lang="en-IN" sz="3200" dirty="0"/>
              <a:t>    c. Rapid rise and fall of Epidemic curve</a:t>
            </a:r>
          </a:p>
          <a:p>
            <a:pPr lvl="1">
              <a:buNone/>
            </a:pPr>
            <a:r>
              <a:rPr lang="en-IN" sz="3200" dirty="0"/>
              <a:t>    d. Brief and simultaneous exposure</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sz="5400"/>
              <a:t>MCQ - 5</a:t>
            </a:r>
          </a:p>
        </p:txBody>
      </p:sp>
      <p:sp>
        <p:nvSpPr>
          <p:cNvPr id="3" name="Content Placeholder 2"/>
          <p:cNvSpPr>
            <a:spLocks noGrp="1"/>
          </p:cNvSpPr>
          <p:nvPr>
            <p:ph idx="1"/>
          </p:nvPr>
        </p:nvSpPr>
        <p:spPr>
          <a:xfrm>
            <a:off x="838200" y="1929384"/>
            <a:ext cx="10515600" cy="4251960"/>
          </a:xfrm>
        </p:spPr>
        <p:txBody>
          <a:bodyPr>
            <a:normAutofit fontScale="92500"/>
          </a:bodyPr>
          <a:lstStyle/>
          <a:p>
            <a:pPr>
              <a:buNone/>
            </a:pPr>
            <a:r>
              <a:rPr lang="en-IN" sz="3600" dirty="0"/>
              <a:t>  5. An Epidemic of Hepatitis A is an example of</a:t>
            </a:r>
          </a:p>
          <a:p>
            <a:pPr lvl="1">
              <a:buNone/>
            </a:pPr>
            <a:r>
              <a:rPr lang="en-IN" sz="3600" dirty="0"/>
              <a:t>   a. Common source, Single exposure epidemic</a:t>
            </a:r>
          </a:p>
          <a:p>
            <a:pPr lvl="1">
              <a:buNone/>
            </a:pPr>
            <a:r>
              <a:rPr lang="en-IN" sz="3600" dirty="0"/>
              <a:t>   b. Common source, </a:t>
            </a:r>
            <a:r>
              <a:rPr lang="en-IN" sz="3600" dirty="0" err="1"/>
              <a:t>Continuos</a:t>
            </a:r>
            <a:r>
              <a:rPr lang="en-IN" sz="3600" dirty="0"/>
              <a:t> exposure    epidemic</a:t>
            </a:r>
          </a:p>
          <a:p>
            <a:pPr lvl="1">
              <a:buNone/>
            </a:pPr>
            <a:r>
              <a:rPr lang="en-IN" sz="3600" dirty="0"/>
              <a:t>   c. Propagated Epidemic</a:t>
            </a:r>
          </a:p>
          <a:p>
            <a:pPr lvl="1">
              <a:buNone/>
            </a:pPr>
            <a:r>
              <a:rPr lang="en-IN" sz="3600" dirty="0"/>
              <a:t>   d. Slow Epidemic</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5C22F-FBAC-8408-9D29-2DAD179DD361}"/>
              </a:ext>
            </a:extLst>
          </p:cNvPr>
          <p:cNvSpPr>
            <a:spLocks noGrp="1"/>
          </p:cNvSpPr>
          <p:nvPr>
            <p:ph type="title"/>
          </p:nvPr>
        </p:nvSpPr>
        <p:spPr/>
        <p:txBody>
          <a:bodyPr/>
          <a:lstStyle/>
          <a:p>
            <a:r>
              <a:rPr lang="en-US" dirty="0"/>
              <a:t>MCQ - 1</a:t>
            </a:r>
          </a:p>
        </p:txBody>
      </p:sp>
      <p:sp>
        <p:nvSpPr>
          <p:cNvPr id="3" name="Content Placeholder 2">
            <a:extLst>
              <a:ext uri="{FF2B5EF4-FFF2-40B4-BE49-F238E27FC236}">
                <a16:creationId xmlns:a16="http://schemas.microsoft.com/office/drawing/2014/main" id="{8599CF85-F3C3-6757-4E23-7572D74B2044}"/>
              </a:ext>
            </a:extLst>
          </p:cNvPr>
          <p:cNvSpPr>
            <a:spLocks noGrp="1"/>
          </p:cNvSpPr>
          <p:nvPr>
            <p:ph idx="1"/>
          </p:nvPr>
        </p:nvSpPr>
        <p:spPr/>
        <p:txBody>
          <a:bodyPr>
            <a:normAutofit fontScale="92500"/>
          </a:bodyPr>
          <a:lstStyle/>
          <a:p>
            <a:r>
              <a:rPr lang="en-US" sz="2800" dirty="0">
                <a:latin typeface="Times New Roman" panose="02020603050405020304" pitchFamily="18" charset="0"/>
                <a:cs typeface="Times New Roman" panose="02020603050405020304" pitchFamily="18" charset="0"/>
              </a:rPr>
              <a:t>What does the term "secular trend" in epidemiology refer to?</a:t>
            </a:r>
          </a:p>
          <a:p>
            <a:pPr lvl="1"/>
            <a:r>
              <a:rPr lang="en-US" sz="2400" dirty="0">
                <a:latin typeface="Times New Roman" panose="02020603050405020304" pitchFamily="18" charset="0"/>
                <a:cs typeface="Times New Roman" panose="02020603050405020304" pitchFamily="18" charset="0"/>
              </a:rPr>
              <a:t>A) Short-term fluctuations in disease occurrence over a specific period of time.</a:t>
            </a:r>
          </a:p>
          <a:p>
            <a:pPr lvl="1"/>
            <a:r>
              <a:rPr lang="en-US" sz="2400" dirty="0">
                <a:latin typeface="Times New Roman" panose="02020603050405020304" pitchFamily="18" charset="0"/>
                <a:cs typeface="Times New Roman" panose="02020603050405020304" pitchFamily="18" charset="0"/>
              </a:rPr>
              <a:t>B) Progressive increase or decrease in disease occurrence over a long period of time.</a:t>
            </a:r>
          </a:p>
          <a:p>
            <a:pPr lvl="1"/>
            <a:r>
              <a:rPr lang="en-US" sz="2400" dirty="0">
                <a:latin typeface="Times New Roman" panose="02020603050405020304" pitchFamily="18" charset="0"/>
                <a:cs typeface="Times New Roman" panose="02020603050405020304" pitchFamily="18" charset="0"/>
              </a:rPr>
              <a:t>C) Random variations in disease patterns without any consistent direction.</a:t>
            </a:r>
          </a:p>
          <a:p>
            <a:pPr lvl="1"/>
            <a:r>
              <a:rPr lang="en-US" sz="2400" dirty="0">
                <a:latin typeface="Times New Roman" panose="02020603050405020304" pitchFamily="18" charset="0"/>
                <a:cs typeface="Times New Roman" panose="02020603050405020304" pitchFamily="18" charset="0"/>
              </a:rPr>
              <a:t>D) Changes in the age distribution of diseases over a specific timeframe.</a:t>
            </a:r>
          </a:p>
        </p:txBody>
      </p:sp>
    </p:spTree>
    <p:extLst>
      <p:ext uri="{BB962C8B-B14F-4D97-AF65-F5344CB8AC3E}">
        <p14:creationId xmlns:p14="http://schemas.microsoft.com/office/powerpoint/2010/main" val="2786216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C6D8F-BE7C-805B-BFAA-CD0B62F164D6}"/>
              </a:ext>
            </a:extLst>
          </p:cNvPr>
          <p:cNvSpPr>
            <a:spLocks noGrp="1"/>
          </p:cNvSpPr>
          <p:nvPr>
            <p:ph type="title"/>
          </p:nvPr>
        </p:nvSpPr>
        <p:spPr/>
        <p:txBody>
          <a:bodyPr/>
          <a:lstStyle/>
          <a:p>
            <a:r>
              <a:rPr lang="en-US" dirty="0"/>
              <a:t>MCQ - 2</a:t>
            </a:r>
          </a:p>
        </p:txBody>
      </p:sp>
      <p:sp>
        <p:nvSpPr>
          <p:cNvPr id="3" name="Content Placeholder 2">
            <a:extLst>
              <a:ext uri="{FF2B5EF4-FFF2-40B4-BE49-F238E27FC236}">
                <a16:creationId xmlns:a16="http://schemas.microsoft.com/office/drawing/2014/main" id="{5B0FEEEF-547C-409A-3983-BD7BE011EC09}"/>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Which of the following diseases is likely to shows a seasonal trend?</a:t>
            </a:r>
          </a:p>
          <a:p>
            <a:pPr lvl="1"/>
            <a:r>
              <a:rPr lang="en-US" sz="2400" dirty="0">
                <a:latin typeface="Times New Roman" panose="02020603050405020304" pitchFamily="18" charset="0"/>
                <a:cs typeface="Times New Roman" panose="02020603050405020304" pitchFamily="18" charset="0"/>
              </a:rPr>
              <a:t>A) Dengue fever</a:t>
            </a:r>
          </a:p>
          <a:p>
            <a:pPr lvl="1"/>
            <a:r>
              <a:rPr lang="en-US" sz="2400" dirty="0">
                <a:latin typeface="Times New Roman" panose="02020603050405020304" pitchFamily="18" charset="0"/>
                <a:cs typeface="Times New Roman" panose="02020603050405020304" pitchFamily="18" charset="0"/>
              </a:rPr>
              <a:t>B) Hypertension</a:t>
            </a:r>
          </a:p>
          <a:p>
            <a:pPr lvl="1"/>
            <a:r>
              <a:rPr lang="en-US" sz="2400" dirty="0">
                <a:latin typeface="Times New Roman" panose="02020603050405020304" pitchFamily="18" charset="0"/>
                <a:cs typeface="Times New Roman" panose="02020603050405020304" pitchFamily="18" charset="0"/>
              </a:rPr>
              <a:t>C) Diabetes mellitus</a:t>
            </a:r>
          </a:p>
          <a:p>
            <a:pPr lvl="1"/>
            <a:r>
              <a:rPr lang="en-US" sz="2400" dirty="0">
                <a:latin typeface="Times New Roman" panose="02020603050405020304" pitchFamily="18" charset="0"/>
                <a:cs typeface="Times New Roman" panose="02020603050405020304" pitchFamily="18" charset="0"/>
              </a:rPr>
              <a:t>D) Osteoarthritis</a:t>
            </a:r>
          </a:p>
        </p:txBody>
      </p:sp>
    </p:spTree>
    <p:extLst>
      <p:ext uri="{BB962C8B-B14F-4D97-AF65-F5344CB8AC3E}">
        <p14:creationId xmlns:p14="http://schemas.microsoft.com/office/powerpoint/2010/main" val="575845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299F-E7E0-644C-2CED-B6E285EFBA72}"/>
              </a:ext>
            </a:extLst>
          </p:cNvPr>
          <p:cNvSpPr>
            <a:spLocks noGrp="1"/>
          </p:cNvSpPr>
          <p:nvPr>
            <p:ph type="title"/>
          </p:nvPr>
        </p:nvSpPr>
        <p:spPr/>
        <p:txBody>
          <a:bodyPr/>
          <a:lstStyle/>
          <a:p>
            <a:r>
              <a:rPr lang="en-US" dirty="0"/>
              <a:t>MCQ - 3</a:t>
            </a:r>
          </a:p>
        </p:txBody>
      </p:sp>
      <p:sp>
        <p:nvSpPr>
          <p:cNvPr id="3" name="Content Placeholder 2">
            <a:extLst>
              <a:ext uri="{FF2B5EF4-FFF2-40B4-BE49-F238E27FC236}">
                <a16:creationId xmlns:a16="http://schemas.microsoft.com/office/drawing/2014/main" id="{962A36CC-D3CE-97DD-8440-78A51771F2DE}"/>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Among the following diseases, which one demonstrates a combination of both a cyclic trend and a seasonal trend?</a:t>
            </a:r>
          </a:p>
          <a:p>
            <a:pPr lvl="1"/>
            <a:r>
              <a:rPr lang="en-US" sz="2400" dirty="0">
                <a:latin typeface="Times New Roman" panose="02020603050405020304" pitchFamily="18" charset="0"/>
                <a:cs typeface="Times New Roman" panose="02020603050405020304" pitchFamily="18" charset="0"/>
              </a:rPr>
              <a:t>A) Measles</a:t>
            </a:r>
          </a:p>
          <a:p>
            <a:pPr lvl="1"/>
            <a:r>
              <a:rPr lang="en-US" sz="2400" dirty="0">
                <a:latin typeface="Times New Roman" panose="02020603050405020304" pitchFamily="18" charset="0"/>
                <a:cs typeface="Times New Roman" panose="02020603050405020304" pitchFamily="18" charset="0"/>
              </a:rPr>
              <a:t>B) Tuberculosis</a:t>
            </a:r>
          </a:p>
          <a:p>
            <a:pPr lvl="1"/>
            <a:r>
              <a:rPr lang="en-US" sz="2400" dirty="0">
                <a:latin typeface="Times New Roman" panose="02020603050405020304" pitchFamily="18" charset="0"/>
                <a:cs typeface="Times New Roman" panose="02020603050405020304" pitchFamily="18" charset="0"/>
              </a:rPr>
              <a:t>C) Malaria</a:t>
            </a:r>
          </a:p>
          <a:p>
            <a:pPr lvl="1"/>
            <a:r>
              <a:rPr lang="en-US" sz="2400" dirty="0">
                <a:latin typeface="Times New Roman" panose="02020603050405020304" pitchFamily="18" charset="0"/>
                <a:cs typeface="Times New Roman" panose="02020603050405020304" pitchFamily="18" charset="0"/>
              </a:rPr>
              <a:t>D) None of the above</a:t>
            </a:r>
          </a:p>
        </p:txBody>
      </p:sp>
    </p:spTree>
    <p:extLst>
      <p:ext uri="{BB962C8B-B14F-4D97-AF65-F5344CB8AC3E}">
        <p14:creationId xmlns:p14="http://schemas.microsoft.com/office/powerpoint/2010/main" val="507236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70373-C27D-8B78-407F-820B35D7DEA1}"/>
              </a:ext>
            </a:extLst>
          </p:cNvPr>
          <p:cNvSpPr>
            <a:spLocks noGrp="1"/>
          </p:cNvSpPr>
          <p:nvPr>
            <p:ph type="title"/>
          </p:nvPr>
        </p:nvSpPr>
        <p:spPr/>
        <p:txBody>
          <a:bodyPr/>
          <a:lstStyle/>
          <a:p>
            <a:r>
              <a:rPr lang="en-US" dirty="0"/>
              <a:t>MCQ -4 </a:t>
            </a:r>
          </a:p>
        </p:txBody>
      </p:sp>
      <p:sp>
        <p:nvSpPr>
          <p:cNvPr id="3" name="Content Placeholder 2">
            <a:extLst>
              <a:ext uri="{FF2B5EF4-FFF2-40B4-BE49-F238E27FC236}">
                <a16:creationId xmlns:a16="http://schemas.microsoft.com/office/drawing/2014/main" id="{2E1D8D28-F488-D665-9C80-12A7DFD071D3}"/>
              </a:ext>
            </a:extLst>
          </p:cNvPr>
          <p:cNvSpPr>
            <a:spLocks noGrp="1"/>
          </p:cNvSpPr>
          <p:nvPr>
            <p:ph idx="1"/>
          </p:nvPr>
        </p:nvSpPr>
        <p:spPr>
          <a:xfrm>
            <a:off x="2589212" y="1540189"/>
            <a:ext cx="8915400" cy="3777622"/>
          </a:xfrm>
        </p:spPr>
        <p:txBody>
          <a:bodyPr>
            <a:normAutofit/>
          </a:bodyPr>
          <a:lstStyle/>
          <a:p>
            <a:r>
              <a:rPr lang="en-US" sz="2800" dirty="0">
                <a:latin typeface="Times New Roman" panose="02020603050405020304" pitchFamily="18" charset="0"/>
                <a:cs typeface="Times New Roman" panose="02020603050405020304" pitchFamily="18" charset="0"/>
              </a:rPr>
              <a:t>The study of the geography of disease in descriptive epidemiology helps us understand:</a:t>
            </a:r>
          </a:p>
          <a:p>
            <a:pPr lvl="1"/>
            <a:r>
              <a:rPr lang="en-US" sz="2400" dirty="0">
                <a:latin typeface="Times New Roman" panose="02020603050405020304" pitchFamily="18" charset="0"/>
                <a:cs typeface="Times New Roman" panose="02020603050405020304" pitchFamily="18" charset="0"/>
              </a:rPr>
              <a:t>A) The uniformity of disease patterns between countries.</a:t>
            </a:r>
          </a:p>
          <a:p>
            <a:pPr lvl="1"/>
            <a:r>
              <a:rPr lang="en-US" sz="2400" dirty="0">
                <a:latin typeface="Times New Roman" panose="02020603050405020304" pitchFamily="18" charset="0"/>
                <a:cs typeface="Times New Roman" panose="02020603050405020304" pitchFamily="18" charset="0"/>
              </a:rPr>
              <a:t>B) The impact of genetics on disease occurrence.</a:t>
            </a:r>
          </a:p>
          <a:p>
            <a:pPr lvl="1"/>
            <a:r>
              <a:rPr lang="en-US" sz="2400" dirty="0">
                <a:latin typeface="Times New Roman" panose="02020603050405020304" pitchFamily="18" charset="0"/>
                <a:cs typeface="Times New Roman" panose="02020603050405020304" pitchFamily="18" charset="0"/>
              </a:rPr>
              <a:t>C) The variations in disease patterns within and between countries.</a:t>
            </a:r>
          </a:p>
          <a:p>
            <a:pPr lvl="1"/>
            <a:r>
              <a:rPr lang="en-US" sz="2400" dirty="0">
                <a:latin typeface="Times New Roman" panose="02020603050405020304" pitchFamily="18" charset="0"/>
                <a:cs typeface="Times New Roman" panose="02020603050405020304" pitchFamily="18" charset="0"/>
              </a:rPr>
              <a:t>D) The effectiveness of migration in reducing disease incidence.</a:t>
            </a:r>
          </a:p>
        </p:txBody>
      </p:sp>
    </p:spTree>
    <p:extLst>
      <p:ext uri="{BB962C8B-B14F-4D97-AF65-F5344CB8AC3E}">
        <p14:creationId xmlns:p14="http://schemas.microsoft.com/office/powerpoint/2010/main" val="3565966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0817A-886B-EC02-FA33-5FBACC40E596}"/>
              </a:ext>
            </a:extLst>
          </p:cNvPr>
          <p:cNvSpPr>
            <a:spLocks noGrp="1"/>
          </p:cNvSpPr>
          <p:nvPr>
            <p:ph type="title"/>
          </p:nvPr>
        </p:nvSpPr>
        <p:spPr/>
        <p:txBody>
          <a:bodyPr/>
          <a:lstStyle/>
          <a:p>
            <a:r>
              <a:rPr lang="en-US" dirty="0"/>
              <a:t>MCQ - 5</a:t>
            </a:r>
          </a:p>
        </p:txBody>
      </p:sp>
      <p:sp>
        <p:nvSpPr>
          <p:cNvPr id="3" name="Content Placeholder 2">
            <a:extLst>
              <a:ext uri="{FF2B5EF4-FFF2-40B4-BE49-F238E27FC236}">
                <a16:creationId xmlns:a16="http://schemas.microsoft.com/office/drawing/2014/main" id="{3B630BD3-FA3C-95F5-6BB1-C602F6D6DF9C}"/>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The study of the geography of disease in descriptive epidemiology helps us understand:</a:t>
            </a:r>
          </a:p>
          <a:p>
            <a:pPr lvl="1"/>
            <a:r>
              <a:rPr lang="en-US" sz="2400" dirty="0">
                <a:latin typeface="Times New Roman" panose="02020603050405020304" pitchFamily="18" charset="0"/>
                <a:cs typeface="Times New Roman" panose="02020603050405020304" pitchFamily="18" charset="0"/>
              </a:rPr>
              <a:t>A) The uniformity of disease patterns between countries.</a:t>
            </a:r>
          </a:p>
          <a:p>
            <a:pPr lvl="1"/>
            <a:r>
              <a:rPr lang="en-US" sz="2400" dirty="0">
                <a:latin typeface="Times New Roman" panose="02020603050405020304" pitchFamily="18" charset="0"/>
                <a:cs typeface="Times New Roman" panose="02020603050405020304" pitchFamily="18" charset="0"/>
              </a:rPr>
              <a:t>B) The impact of genetics on disease occurrence.</a:t>
            </a:r>
          </a:p>
          <a:p>
            <a:pPr lvl="1"/>
            <a:r>
              <a:rPr lang="en-US" sz="2400" dirty="0">
                <a:latin typeface="Times New Roman" panose="02020603050405020304" pitchFamily="18" charset="0"/>
                <a:cs typeface="Times New Roman" panose="02020603050405020304" pitchFamily="18" charset="0"/>
              </a:rPr>
              <a:t>C) The variations in disease patterns within and between countries.</a:t>
            </a:r>
          </a:p>
          <a:p>
            <a:pPr lvl="1"/>
            <a:r>
              <a:rPr lang="en-US" sz="2400" dirty="0">
                <a:latin typeface="Times New Roman" panose="02020603050405020304" pitchFamily="18" charset="0"/>
                <a:cs typeface="Times New Roman" panose="02020603050405020304" pitchFamily="18" charset="0"/>
              </a:rPr>
              <a:t>D) The effectiveness of migration in reducing disease incidence.</a:t>
            </a:r>
          </a:p>
        </p:txBody>
      </p:sp>
    </p:spTree>
    <p:extLst>
      <p:ext uri="{BB962C8B-B14F-4D97-AF65-F5344CB8AC3E}">
        <p14:creationId xmlns:p14="http://schemas.microsoft.com/office/powerpoint/2010/main" val="1855716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9E37F-75C2-3C2C-701C-63B74CB8D655}"/>
              </a:ext>
            </a:extLst>
          </p:cNvPr>
          <p:cNvSpPr>
            <a:spLocks noGrp="1"/>
          </p:cNvSpPr>
          <p:nvPr>
            <p:ph type="title"/>
          </p:nvPr>
        </p:nvSpPr>
        <p:spPr>
          <a:xfrm>
            <a:off x="838200" y="365125"/>
            <a:ext cx="10515600" cy="1325563"/>
          </a:xfrm>
        </p:spPr>
        <p:txBody>
          <a:bodyPr>
            <a:normAutofit/>
          </a:bodyPr>
          <a:lstStyle/>
          <a:p>
            <a:r>
              <a:rPr lang="en-US" sz="5400"/>
              <a:t>Place distribution</a:t>
            </a:r>
          </a:p>
        </p:txBody>
      </p:sp>
      <p:sp>
        <p:nvSpPr>
          <p:cNvPr id="3" name="Content Placeholder 2">
            <a:extLst>
              <a:ext uri="{FF2B5EF4-FFF2-40B4-BE49-F238E27FC236}">
                <a16:creationId xmlns:a16="http://schemas.microsoft.com/office/drawing/2014/main" id="{35EFF7FB-1A1F-B767-B56B-B0F581EC92A1}"/>
              </a:ext>
            </a:extLst>
          </p:cNvPr>
          <p:cNvSpPr>
            <a:spLocks noGrp="1"/>
          </p:cNvSpPr>
          <p:nvPr>
            <p:ph idx="1"/>
          </p:nvPr>
        </p:nvSpPr>
        <p:spPr>
          <a:xfrm>
            <a:off x="362857" y="1690687"/>
            <a:ext cx="11567886" cy="4802187"/>
          </a:xfrm>
        </p:spPr>
        <p:txBody>
          <a:bodyPr>
            <a:normAutofit fontScale="85000" lnSpcReduction="20000"/>
          </a:bodyPr>
          <a:lstStyle/>
          <a:p>
            <a:r>
              <a:rPr lang="en-US" sz="2000" b="0" i="0" u="none" strike="noStrike" baseline="0" dirty="0">
                <a:latin typeface="Times New Roman" panose="02020603050405020304" pitchFamily="18" charset="0"/>
              </a:rPr>
              <a:t>Studies of the geography of disease (or geographical pathology) is one of the important dimensions of descriptive epidemiology.</a:t>
            </a:r>
          </a:p>
          <a:p>
            <a:r>
              <a:rPr lang="en-US" sz="2000" b="0" i="0" u="none" strike="noStrike" baseline="0" dirty="0">
                <a:latin typeface="Times New Roman" panose="02020603050405020304" pitchFamily="18" charset="0"/>
              </a:rPr>
              <a:t>Perspective on the fascinating differences (or variations) in disease patterns not only between countries, but also within countries. </a:t>
            </a:r>
          </a:p>
          <a:p>
            <a:pPr lvl="1"/>
            <a:r>
              <a:rPr lang="en-US" sz="2000" b="0" i="0" u="none" strike="noStrike" baseline="0" dirty="0">
                <a:latin typeface="Times New Roman" panose="02020603050405020304" pitchFamily="18" charset="0"/>
              </a:rPr>
              <a:t>The relative importance of genes versus environment; </a:t>
            </a:r>
          </a:p>
          <a:p>
            <a:pPr lvl="1"/>
            <a:r>
              <a:rPr lang="en-US" sz="2000" b="0" i="0" u="none" strike="noStrike" baseline="0" dirty="0">
                <a:latin typeface="Times New Roman" panose="02020603050405020304" pitchFamily="18" charset="0"/>
              </a:rPr>
              <a:t>Changes with migration</a:t>
            </a:r>
          </a:p>
          <a:p>
            <a:pPr lvl="1"/>
            <a:r>
              <a:rPr lang="en-US" sz="2000" b="0" i="0" u="none" strike="noStrike" baseline="0" dirty="0">
                <a:latin typeface="Times New Roman" panose="02020603050405020304" pitchFamily="18" charset="0"/>
              </a:rPr>
              <a:t>Possible roles of diet</a:t>
            </a:r>
          </a:p>
          <a:p>
            <a:r>
              <a:rPr lang="en-US" sz="2000" b="0" i="0" u="none" strike="noStrike" baseline="0" dirty="0">
                <a:latin typeface="Times New Roman" panose="02020603050405020304" pitchFamily="18" charset="0"/>
              </a:rPr>
              <a:t>Geographic patterns provide an important source of clues about the causes of the disease. </a:t>
            </a:r>
          </a:p>
          <a:p>
            <a:r>
              <a:rPr lang="en-US" sz="2000" b="0" i="0" u="none" strike="noStrike" baseline="0" dirty="0">
                <a:latin typeface="Times New Roman" panose="02020603050405020304" pitchFamily="18" charset="0"/>
              </a:rPr>
              <a:t>The range of geographic studies include those concerned with local variations. At a broader level, international comparisons may examine mortality and morbidity in relation to socio-economic factors, dietary differences and the differences in culture and </a:t>
            </a:r>
            <a:r>
              <a:rPr lang="en-US" sz="2000" b="0" i="0" u="none" strike="noStrike" baseline="0" dirty="0" err="1">
                <a:latin typeface="Times New Roman" panose="02020603050405020304" pitchFamily="18" charset="0"/>
              </a:rPr>
              <a:t>behaviour</a:t>
            </a:r>
            <a:r>
              <a:rPr lang="en-US" sz="2000" b="0" i="0" u="none" strike="noStrike" baseline="0" dirty="0">
                <a:latin typeface="Times New Roman" panose="02020603050405020304" pitchFamily="18" charset="0"/>
              </a:rPr>
              <a:t>. These variations may be classified as :</a:t>
            </a:r>
          </a:p>
          <a:p>
            <a:pPr lvl="1"/>
            <a:r>
              <a:rPr lang="en-US" sz="2000" b="0" i="0" u="none" strike="noStrike" baseline="0" dirty="0">
                <a:latin typeface="Times New Roman" panose="02020603050405020304" pitchFamily="18" charset="0"/>
              </a:rPr>
              <a:t>International variations</a:t>
            </a:r>
          </a:p>
          <a:p>
            <a:pPr lvl="1"/>
            <a:r>
              <a:rPr lang="en-US" sz="2000" b="0" i="0" u="none" strike="noStrike" baseline="0" dirty="0">
                <a:latin typeface="Times New Roman" panose="02020603050405020304" pitchFamily="18" charset="0"/>
              </a:rPr>
              <a:t>National variations</a:t>
            </a:r>
          </a:p>
          <a:p>
            <a:pPr lvl="1"/>
            <a:r>
              <a:rPr lang="en-US" sz="2000" dirty="0">
                <a:latin typeface="Times New Roman" panose="02020603050405020304" pitchFamily="18" charset="0"/>
              </a:rPr>
              <a:t>Rural Urban Variation</a:t>
            </a:r>
          </a:p>
          <a:p>
            <a:pPr lvl="1"/>
            <a:r>
              <a:rPr lang="en-US" sz="2000" dirty="0">
                <a:latin typeface="Times New Roman" panose="02020603050405020304" pitchFamily="18" charset="0"/>
              </a:rPr>
              <a:t>Local distributions</a:t>
            </a:r>
            <a:endParaRPr lang="en-US" sz="2000" dirty="0"/>
          </a:p>
        </p:txBody>
      </p:sp>
    </p:spTree>
    <p:extLst>
      <p:ext uri="{BB962C8B-B14F-4D97-AF65-F5344CB8AC3E}">
        <p14:creationId xmlns:p14="http://schemas.microsoft.com/office/powerpoint/2010/main" val="2870480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FBC8-40A5-1616-E8EC-6D709811AAD0}"/>
              </a:ext>
            </a:extLst>
          </p:cNvPr>
          <p:cNvSpPr>
            <a:spLocks noGrp="1"/>
          </p:cNvSpPr>
          <p:nvPr>
            <p:ph type="title"/>
          </p:nvPr>
        </p:nvSpPr>
        <p:spPr>
          <a:xfrm>
            <a:off x="838200" y="365125"/>
            <a:ext cx="10515600" cy="1325563"/>
          </a:xfrm>
        </p:spPr>
        <p:txBody>
          <a:bodyPr>
            <a:normAutofit/>
          </a:bodyPr>
          <a:lstStyle/>
          <a:p>
            <a:r>
              <a:rPr lang="en-US" sz="5400"/>
              <a:t>International variations</a:t>
            </a:r>
          </a:p>
        </p:txBody>
      </p:sp>
      <p:sp>
        <p:nvSpPr>
          <p:cNvPr id="3" name="Content Placeholder 2">
            <a:extLst>
              <a:ext uri="{FF2B5EF4-FFF2-40B4-BE49-F238E27FC236}">
                <a16:creationId xmlns:a16="http://schemas.microsoft.com/office/drawing/2014/main" id="{E3ECEF26-DB42-4C3B-F98D-D5396ECDC128}"/>
              </a:ext>
            </a:extLst>
          </p:cNvPr>
          <p:cNvSpPr>
            <a:spLocks noGrp="1"/>
          </p:cNvSpPr>
          <p:nvPr>
            <p:ph idx="1"/>
          </p:nvPr>
        </p:nvSpPr>
        <p:spPr>
          <a:xfrm>
            <a:off x="838200" y="1929384"/>
            <a:ext cx="10515600" cy="4251960"/>
          </a:xfrm>
        </p:spPr>
        <p:txBody>
          <a:bodyPr>
            <a:normAutofit fontScale="92500"/>
          </a:bodyPr>
          <a:lstStyle/>
          <a:p>
            <a:r>
              <a:rPr lang="en-US" sz="2400" b="0" i="0" u="none" strike="noStrike" baseline="0" dirty="0">
                <a:latin typeface="Times New Roman" panose="02020603050405020304" pitchFamily="18" charset="0"/>
              </a:rPr>
              <a:t>Pattern of disease is not the same everywhere. </a:t>
            </a:r>
          </a:p>
          <a:p>
            <a:r>
              <a:rPr lang="en-US" sz="2400" b="0" i="0" u="none" strike="noStrike" baseline="0" dirty="0">
                <a:latin typeface="Times New Roman" panose="02020603050405020304" pitchFamily="18" charset="0"/>
              </a:rPr>
              <a:t>Marked difference between the incidence of each cancer in different parts of the world. </a:t>
            </a:r>
          </a:p>
          <a:p>
            <a:pPr lvl="1"/>
            <a:r>
              <a:rPr lang="en-US" b="0" i="0" u="none" strike="noStrike" baseline="0" dirty="0">
                <a:latin typeface="Times New Roman" panose="02020603050405020304" pitchFamily="18" charset="0"/>
              </a:rPr>
              <a:t>Cancer of the stomach is very common in Japan, but unusual in US.</a:t>
            </a:r>
          </a:p>
          <a:p>
            <a:pPr lvl="1"/>
            <a:r>
              <a:rPr lang="en-US" b="0" i="0" u="none" strike="noStrike" baseline="0" dirty="0">
                <a:latin typeface="Times New Roman" panose="02020603050405020304" pitchFamily="18" charset="0"/>
              </a:rPr>
              <a:t>Cancers of the oral cavity and uterine cervix are exceedingly common in India as compared to industrialized countries.</a:t>
            </a:r>
          </a:p>
          <a:p>
            <a:pPr lvl="1"/>
            <a:r>
              <a:rPr lang="en-US" b="0" i="0" u="none" strike="noStrike" baseline="0" dirty="0">
                <a:latin typeface="Times New Roman" panose="02020603050405020304" pitchFamily="18" charset="0"/>
              </a:rPr>
              <a:t>An International study of breast cancer showed that rates differ widely from country to country with the lowest prevalence </a:t>
            </a:r>
            <a:r>
              <a:rPr lang="en-US" dirty="0">
                <a:latin typeface="Times New Roman" panose="02020603050405020304" pitchFamily="18" charset="0"/>
              </a:rPr>
              <a:t>i</a:t>
            </a:r>
            <a:r>
              <a:rPr lang="en-US" b="0" i="0" u="none" strike="noStrike" baseline="0" dirty="0">
                <a:latin typeface="Times New Roman" panose="02020603050405020304" pitchFamily="18" charset="0"/>
              </a:rPr>
              <a:t>n Japan and the highest in the western countries. </a:t>
            </a:r>
          </a:p>
          <a:p>
            <a:r>
              <a:rPr lang="en-US" sz="2400" b="0" i="0" u="none" strike="noStrike" baseline="0" dirty="0">
                <a:latin typeface="Times New Roman" panose="02020603050405020304" pitchFamily="18" charset="0"/>
              </a:rPr>
              <a:t>Similarly, there are marked international differences in the occurrence of cardiovascular diseases.</a:t>
            </a:r>
          </a:p>
          <a:p>
            <a:r>
              <a:rPr lang="en-US" sz="2400" b="0" i="0" u="none" strike="noStrike" baseline="0" dirty="0">
                <a:latin typeface="Times New Roman" panose="02020603050405020304" pitchFamily="18" charset="0"/>
              </a:rPr>
              <a:t>These variations have stimulated epidemiologists to search for cause-effect relationships between the environmental factors and disease.</a:t>
            </a:r>
            <a:endParaRPr lang="en-US" sz="2400" dirty="0"/>
          </a:p>
        </p:txBody>
      </p:sp>
    </p:spTree>
    <p:extLst>
      <p:ext uri="{BB962C8B-B14F-4D97-AF65-F5344CB8AC3E}">
        <p14:creationId xmlns:p14="http://schemas.microsoft.com/office/powerpoint/2010/main" val="4252900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BC5CB-F696-4123-8258-D2D7350A4AC0}"/>
              </a:ext>
            </a:extLst>
          </p:cNvPr>
          <p:cNvSpPr>
            <a:spLocks noGrp="1"/>
          </p:cNvSpPr>
          <p:nvPr>
            <p:ph type="title"/>
          </p:nvPr>
        </p:nvSpPr>
        <p:spPr>
          <a:xfrm>
            <a:off x="838200" y="365125"/>
            <a:ext cx="10515600" cy="1325563"/>
          </a:xfrm>
        </p:spPr>
        <p:txBody>
          <a:bodyPr>
            <a:normAutofit/>
          </a:bodyPr>
          <a:lstStyle/>
          <a:p>
            <a:r>
              <a:rPr lang="en-US" sz="5400"/>
              <a:t>National Variations</a:t>
            </a:r>
          </a:p>
        </p:txBody>
      </p:sp>
      <p:sp>
        <p:nvSpPr>
          <p:cNvPr id="3" name="Content Placeholder 2">
            <a:extLst>
              <a:ext uri="{FF2B5EF4-FFF2-40B4-BE49-F238E27FC236}">
                <a16:creationId xmlns:a16="http://schemas.microsoft.com/office/drawing/2014/main" id="{D11E71E2-209B-0639-C669-1E55A9CDF86D}"/>
              </a:ext>
            </a:extLst>
          </p:cNvPr>
          <p:cNvSpPr>
            <a:spLocks noGrp="1"/>
          </p:cNvSpPr>
          <p:nvPr>
            <p:ph idx="1"/>
          </p:nvPr>
        </p:nvSpPr>
        <p:spPr>
          <a:xfrm>
            <a:off x="838200" y="1929384"/>
            <a:ext cx="10515600" cy="4251960"/>
          </a:xfrm>
        </p:spPr>
        <p:txBody>
          <a:bodyPr>
            <a:normAutofit/>
          </a:bodyPr>
          <a:lstStyle/>
          <a:p>
            <a:r>
              <a:rPr lang="en-US" b="0" i="0" u="none" strike="noStrike" baseline="0">
                <a:latin typeface="Times New Roman" panose="02020603050405020304" pitchFamily="18" charset="0"/>
              </a:rPr>
              <a:t>The distribution of endemic goitre, lathyrism, fluorosis, leprosy, malaria, nutritional deficiency diseases have all shown variations in their distribution in India, with some parts of the country more affected and others less affected or not affected at all. </a:t>
            </a:r>
          </a:p>
          <a:p>
            <a:r>
              <a:rPr lang="en-US" b="0" i="0" u="none" strike="noStrike" baseline="0">
                <a:latin typeface="Times New Roman" panose="02020603050405020304" pitchFamily="18" charset="0"/>
              </a:rPr>
              <a:t>Such situations exist in every country. </a:t>
            </a:r>
          </a:p>
          <a:p>
            <a:r>
              <a:rPr lang="en-US" b="0" i="0" u="none" strike="noStrike" baseline="0">
                <a:latin typeface="Times New Roman" panose="02020603050405020304" pitchFamily="18" charset="0"/>
              </a:rPr>
              <a:t>Such information is needed to demarcate the affected areas and for providing appropriate health care services.</a:t>
            </a:r>
            <a:endParaRPr lang="en-US"/>
          </a:p>
        </p:txBody>
      </p:sp>
    </p:spTree>
    <p:extLst>
      <p:ext uri="{BB962C8B-B14F-4D97-AF65-F5344CB8AC3E}">
        <p14:creationId xmlns:p14="http://schemas.microsoft.com/office/powerpoint/2010/main" val="3006531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1A64C-E739-124E-7E69-4F71ABD5FABC}"/>
              </a:ext>
            </a:extLst>
          </p:cNvPr>
          <p:cNvSpPr>
            <a:spLocks noGrp="1"/>
          </p:cNvSpPr>
          <p:nvPr>
            <p:ph type="title"/>
          </p:nvPr>
        </p:nvSpPr>
        <p:spPr>
          <a:xfrm>
            <a:off x="838200" y="365125"/>
            <a:ext cx="10515600" cy="1325563"/>
          </a:xfrm>
        </p:spPr>
        <p:txBody>
          <a:bodyPr>
            <a:normAutofit/>
          </a:bodyPr>
          <a:lstStyle/>
          <a:p>
            <a:r>
              <a:rPr lang="en-US" sz="5400"/>
              <a:t>Rural Urban Variations</a:t>
            </a:r>
          </a:p>
        </p:txBody>
      </p:sp>
      <p:sp>
        <p:nvSpPr>
          <p:cNvPr id="3" name="Content Placeholder 2">
            <a:extLst>
              <a:ext uri="{FF2B5EF4-FFF2-40B4-BE49-F238E27FC236}">
                <a16:creationId xmlns:a16="http://schemas.microsoft.com/office/drawing/2014/main" id="{75B3DEA0-29EC-E695-9495-002E64A13E4E}"/>
              </a:ext>
            </a:extLst>
          </p:cNvPr>
          <p:cNvSpPr>
            <a:spLocks noGrp="1"/>
          </p:cNvSpPr>
          <p:nvPr>
            <p:ph idx="1"/>
          </p:nvPr>
        </p:nvSpPr>
        <p:spPr>
          <a:xfrm>
            <a:off x="499872" y="1690688"/>
            <a:ext cx="10853928" cy="4490656"/>
          </a:xfrm>
        </p:spPr>
        <p:txBody>
          <a:bodyPr>
            <a:normAutofit fontScale="92500"/>
          </a:bodyPr>
          <a:lstStyle/>
          <a:p>
            <a:r>
              <a:rPr lang="en-US" sz="2400" b="0" i="0" u="none" strike="noStrike" baseline="0" dirty="0">
                <a:latin typeface="Times New Roman" panose="02020603050405020304" pitchFamily="18" charset="0"/>
              </a:rPr>
              <a:t>Chronic bronchitis, accidents, lung cancer, cardiovascular diseases, mental illness and drug dependance are usually more frequent in urban than in rural areas. </a:t>
            </a:r>
          </a:p>
          <a:p>
            <a:r>
              <a:rPr lang="en-US" sz="2400" b="0" i="0" u="none" strike="noStrike" baseline="0" dirty="0">
                <a:latin typeface="Times New Roman" panose="02020603050405020304" pitchFamily="18" charset="0"/>
              </a:rPr>
              <a:t>On the other hand, skin and zoonotic diseases and soil-transmitted helminths may be more frequent in rural areas than in urban areas. </a:t>
            </a:r>
          </a:p>
          <a:p>
            <a:r>
              <a:rPr lang="en-US" sz="2400" b="0" i="0" u="none" strike="noStrike" baseline="0" dirty="0">
                <a:latin typeface="Times New Roman" panose="02020603050405020304" pitchFamily="18" charset="0"/>
              </a:rPr>
              <a:t>Death rates, especially infant and maternal mortality rates, are higher for rural than urban areas. </a:t>
            </a:r>
          </a:p>
          <a:p>
            <a:r>
              <a:rPr lang="en-US" sz="2400" b="0" i="0" u="none" strike="noStrike" baseline="0" dirty="0">
                <a:latin typeface="Times New Roman" panose="02020603050405020304" pitchFamily="18" charset="0"/>
              </a:rPr>
              <a:t>These variations may be due to differences in population density, social class, deficiencies in medical care, levels of sanitation, education and environmental factors. </a:t>
            </a:r>
          </a:p>
          <a:p>
            <a:r>
              <a:rPr lang="en-US" sz="2400" b="0" i="0" u="none" strike="noStrike" baseline="0" dirty="0">
                <a:latin typeface="Times New Roman" panose="02020603050405020304" pitchFamily="18" charset="0"/>
              </a:rPr>
              <a:t>The epidemiologist seeks to define groups which are at higher risk for particular diseases and provides guidelines to the health administrator for their prevention and control.</a:t>
            </a:r>
            <a:endParaRPr lang="en-US" sz="2400" dirty="0"/>
          </a:p>
        </p:txBody>
      </p:sp>
    </p:spTree>
    <p:extLst>
      <p:ext uri="{BB962C8B-B14F-4D97-AF65-F5344CB8AC3E}">
        <p14:creationId xmlns:p14="http://schemas.microsoft.com/office/powerpoint/2010/main" val="4230075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3921D-1B57-D587-5AB7-3C0B113EDE9D}"/>
              </a:ext>
            </a:extLst>
          </p:cNvPr>
          <p:cNvSpPr>
            <a:spLocks noGrp="1"/>
          </p:cNvSpPr>
          <p:nvPr>
            <p:ph type="title"/>
          </p:nvPr>
        </p:nvSpPr>
        <p:spPr/>
        <p:txBody>
          <a:bodyPr/>
          <a:lstStyle/>
          <a:p>
            <a:r>
              <a:rPr lang="en-US" dirty="0"/>
              <a:t>Local Distributions</a:t>
            </a:r>
          </a:p>
        </p:txBody>
      </p:sp>
      <p:sp>
        <p:nvSpPr>
          <p:cNvPr id="3" name="Content Placeholder 2">
            <a:extLst>
              <a:ext uri="{FF2B5EF4-FFF2-40B4-BE49-F238E27FC236}">
                <a16:creationId xmlns:a16="http://schemas.microsoft.com/office/drawing/2014/main" id="{22DC4CB6-A33F-46E2-B484-5696FA314B3F}"/>
              </a:ext>
            </a:extLst>
          </p:cNvPr>
          <p:cNvSpPr>
            <a:spLocks noGrp="1"/>
          </p:cNvSpPr>
          <p:nvPr>
            <p:ph idx="1"/>
          </p:nvPr>
        </p:nvSpPr>
        <p:spPr/>
        <p:txBody>
          <a:bodyPr>
            <a:normAutofit/>
          </a:bodyPr>
          <a:lstStyle/>
          <a:p>
            <a:pPr algn="l"/>
            <a:r>
              <a:rPr lang="en-US" sz="2200" b="0" i="0" u="none" strike="noStrike" baseline="0" dirty="0">
                <a:latin typeface="Times New Roman" panose="02020603050405020304" pitchFamily="18" charset="0"/>
              </a:rPr>
              <a:t>These variations are studied with the aid of ‘spot maps’ or ‘shaded maps’. </a:t>
            </a:r>
          </a:p>
          <a:p>
            <a:pPr algn="l"/>
            <a:r>
              <a:rPr lang="en-US" sz="2200" b="0" i="0" u="none" strike="noStrike" baseline="0" dirty="0">
                <a:latin typeface="Times New Roman" panose="02020603050405020304" pitchFamily="18" charset="0"/>
              </a:rPr>
              <a:t>These maps show at a glance areas of high or low frequency, the boundaries and patterns of disease distribution. </a:t>
            </a:r>
          </a:p>
          <a:p>
            <a:pPr algn="l"/>
            <a:r>
              <a:rPr lang="en-US" sz="2200" b="0" i="0" u="none" strike="noStrike" baseline="0" dirty="0">
                <a:latin typeface="Times New Roman" panose="02020603050405020304" pitchFamily="18" charset="0"/>
              </a:rPr>
              <a:t>If the map shows “clustering” of cases, it may suggest a common source of infection or a common risk factor shared by all the cases</a:t>
            </a:r>
            <a:endParaRPr lang="en-US" sz="2200" dirty="0"/>
          </a:p>
        </p:txBody>
      </p:sp>
    </p:spTree>
    <p:extLst>
      <p:ext uri="{BB962C8B-B14F-4D97-AF65-F5344CB8AC3E}">
        <p14:creationId xmlns:p14="http://schemas.microsoft.com/office/powerpoint/2010/main" val="3804180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139F3-F2B0-777A-65B6-9066B4411A02}"/>
              </a:ext>
            </a:extLst>
          </p:cNvPr>
          <p:cNvSpPr>
            <a:spLocks noGrp="1"/>
          </p:cNvSpPr>
          <p:nvPr>
            <p:ph type="title"/>
          </p:nvPr>
        </p:nvSpPr>
        <p:spPr>
          <a:xfrm>
            <a:off x="6400800" y="611538"/>
            <a:ext cx="5303471" cy="1560716"/>
          </a:xfrm>
        </p:spPr>
        <p:txBody>
          <a:bodyPr>
            <a:normAutofit/>
          </a:bodyPr>
          <a:lstStyle/>
          <a:p>
            <a:r>
              <a:rPr lang="en-US" sz="4000"/>
              <a:t>John snow spot Map</a:t>
            </a:r>
          </a:p>
        </p:txBody>
      </p:sp>
      <p:sp>
        <p:nvSpPr>
          <p:cNvPr id="3" name="Content Placeholder 2">
            <a:extLst>
              <a:ext uri="{FF2B5EF4-FFF2-40B4-BE49-F238E27FC236}">
                <a16:creationId xmlns:a16="http://schemas.microsoft.com/office/drawing/2014/main" id="{E938BE61-6D5A-CC90-6A2C-CBA4FDB9D88A}"/>
              </a:ext>
            </a:extLst>
          </p:cNvPr>
          <p:cNvSpPr>
            <a:spLocks noGrp="1"/>
          </p:cNvSpPr>
          <p:nvPr>
            <p:ph idx="1"/>
          </p:nvPr>
        </p:nvSpPr>
        <p:spPr>
          <a:xfrm>
            <a:off x="5791202" y="1553029"/>
            <a:ext cx="5913070" cy="4536875"/>
          </a:xfrm>
        </p:spPr>
        <p:txBody>
          <a:bodyPr>
            <a:noAutofit/>
          </a:bodyPr>
          <a:lstStyle/>
          <a:p>
            <a:pPr>
              <a:lnSpc>
                <a:spcPct val="101000"/>
              </a:lnSpc>
            </a:pPr>
            <a:r>
              <a:rPr lang="en-US" sz="2200" b="0" i="0" u="none" strike="noStrike" baseline="0" dirty="0">
                <a:latin typeface="Times New Roman" panose="02020603050405020304" pitchFamily="18" charset="0"/>
              </a:rPr>
              <a:t>John Snow of England in his classic investigation of cholera epidemic in 1854 in the Golden Square district of London was able to focus attention on the common water pump in Broad street as the source of infection.</a:t>
            </a:r>
          </a:p>
          <a:p>
            <a:pPr>
              <a:lnSpc>
                <a:spcPct val="101000"/>
              </a:lnSpc>
            </a:pPr>
            <a:endParaRPr lang="en-US" sz="2200" dirty="0">
              <a:latin typeface="Times New Roman" panose="02020603050405020304" pitchFamily="18" charset="0"/>
            </a:endParaRPr>
          </a:p>
          <a:p>
            <a:pPr algn="l"/>
            <a:r>
              <a:rPr lang="en-US" sz="2200" b="0" i="0" u="none" strike="noStrike" baseline="0" dirty="0">
                <a:latin typeface="Times New Roman" panose="02020603050405020304" pitchFamily="18" charset="0"/>
              </a:rPr>
              <a:t>Snow was able to hypothesize that cholera was a water-borne disease, long before the birth of bacteriology</a:t>
            </a:r>
            <a:endParaRPr lang="en-US" sz="2200" dirty="0"/>
          </a:p>
        </p:txBody>
      </p:sp>
      <p:pic>
        <p:nvPicPr>
          <p:cNvPr id="1026" name="Picture 2" descr="John Snow Cholera High Resolution Stock Photography and Images - Alamy">
            <a:extLst>
              <a:ext uri="{FF2B5EF4-FFF2-40B4-BE49-F238E27FC236}">
                <a16:creationId xmlns:a16="http://schemas.microsoft.com/office/drawing/2014/main" id="{F27AE83E-A0B9-06ED-DE98-B1369CA20F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 b="8147"/>
          <a:stretch/>
        </p:blipFill>
        <p:spPr bwMode="auto">
          <a:xfrm>
            <a:off x="643192" y="645106"/>
            <a:ext cx="5455949" cy="5247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185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050" name="Picture 2" descr="Geo-mapping of COVID-19 Risk Correlates Across Districts and ...">
            <a:extLst>
              <a:ext uri="{FF2B5EF4-FFF2-40B4-BE49-F238E27FC236}">
                <a16:creationId xmlns:a16="http://schemas.microsoft.com/office/drawing/2014/main" id="{E2E90D1E-BD82-6ACF-F6AD-53AE81507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9011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383AD-3D79-6E9C-9896-D1AC28649870}"/>
              </a:ext>
            </a:extLst>
          </p:cNvPr>
          <p:cNvSpPr>
            <a:spLocks noGrp="1"/>
          </p:cNvSpPr>
          <p:nvPr>
            <p:ph type="title"/>
          </p:nvPr>
        </p:nvSpPr>
        <p:spPr/>
        <p:txBody>
          <a:bodyPr/>
          <a:lstStyle/>
          <a:p>
            <a:r>
              <a:rPr lang="en-US" dirty="0"/>
              <a:t>Another examples</a:t>
            </a:r>
          </a:p>
        </p:txBody>
      </p:sp>
      <p:sp>
        <p:nvSpPr>
          <p:cNvPr id="3" name="Content Placeholder 2">
            <a:extLst>
              <a:ext uri="{FF2B5EF4-FFF2-40B4-BE49-F238E27FC236}">
                <a16:creationId xmlns:a16="http://schemas.microsoft.com/office/drawing/2014/main" id="{9347AED6-DB0C-DEAD-6A96-931967D3392A}"/>
              </a:ext>
            </a:extLst>
          </p:cNvPr>
          <p:cNvSpPr>
            <a:spLocks noGrp="1"/>
          </p:cNvSpPr>
          <p:nvPr>
            <p:ph idx="1"/>
          </p:nvPr>
        </p:nvSpPr>
        <p:spPr>
          <a:xfrm>
            <a:off x="2090057" y="1712686"/>
            <a:ext cx="9414555" cy="4198536"/>
          </a:xfrm>
        </p:spPr>
        <p:txBody>
          <a:bodyPr>
            <a:normAutofit/>
          </a:bodyPr>
          <a:lstStyle/>
          <a:p>
            <a:pPr algn="l"/>
            <a:r>
              <a:rPr lang="en-US" sz="2400" b="0" i="0" u="none" strike="noStrike" baseline="0" dirty="0">
                <a:latin typeface="Times New Roman" panose="02020603050405020304" pitchFamily="18" charset="0"/>
              </a:rPr>
              <a:t>Spot map by “place of employment” Maxey hypothesized a rodent reservoir for typhus fever in 1920s which led to the discovery that typhus fever was not a single disease entity, as it was earlier thought. </a:t>
            </a:r>
          </a:p>
          <a:p>
            <a:pPr algn="l"/>
            <a:r>
              <a:rPr lang="en-US" sz="2400" dirty="0">
                <a:latin typeface="Times New Roman" panose="02020603050405020304" pitchFamily="18" charset="0"/>
              </a:rPr>
              <a:t>Evidence </a:t>
            </a:r>
            <a:r>
              <a:rPr lang="en-US" sz="2400" b="0" i="0" u="none" strike="noStrike" baseline="0" dirty="0">
                <a:latin typeface="Times New Roman" panose="02020603050405020304" pitchFamily="18" charset="0"/>
              </a:rPr>
              <a:t>of case clustering based on sexual contact or blood product use provided the clue that AIDS (Acquired Immune Deficiency Syndrome) was an infectious disease.</a:t>
            </a:r>
            <a:endParaRPr lang="en-US" sz="2400" dirty="0"/>
          </a:p>
        </p:txBody>
      </p:sp>
    </p:spTree>
    <p:extLst>
      <p:ext uri="{BB962C8B-B14F-4D97-AF65-F5344CB8AC3E}">
        <p14:creationId xmlns:p14="http://schemas.microsoft.com/office/powerpoint/2010/main" val="856274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9E3CD-658C-0932-E1BA-B70110ACC92D}"/>
              </a:ext>
            </a:extLst>
          </p:cNvPr>
          <p:cNvSpPr>
            <a:spLocks noGrp="1"/>
          </p:cNvSpPr>
          <p:nvPr>
            <p:ph type="title"/>
          </p:nvPr>
        </p:nvSpPr>
        <p:spPr/>
        <p:txBody>
          <a:bodyPr/>
          <a:lstStyle/>
          <a:p>
            <a:r>
              <a:rPr lang="en-US" dirty="0"/>
              <a:t>Importance</a:t>
            </a:r>
          </a:p>
        </p:txBody>
      </p:sp>
      <p:sp>
        <p:nvSpPr>
          <p:cNvPr id="3" name="Content Placeholder 2">
            <a:extLst>
              <a:ext uri="{FF2B5EF4-FFF2-40B4-BE49-F238E27FC236}">
                <a16:creationId xmlns:a16="http://schemas.microsoft.com/office/drawing/2014/main" id="{EB0069E2-725E-16AD-8AC7-25FA8DCE50F1}"/>
              </a:ext>
            </a:extLst>
          </p:cNvPr>
          <p:cNvSpPr>
            <a:spLocks noGrp="1"/>
          </p:cNvSpPr>
          <p:nvPr>
            <p:ph idx="1"/>
          </p:nvPr>
        </p:nvSpPr>
        <p:spPr>
          <a:xfrm>
            <a:off x="1395662" y="1427747"/>
            <a:ext cx="10308609" cy="4662157"/>
          </a:xfrm>
        </p:spPr>
        <p:txBody>
          <a:bodyPr>
            <a:normAutofit/>
          </a:bodyPr>
          <a:lstStyle/>
          <a:p>
            <a:pPr algn="l"/>
            <a:r>
              <a:rPr lang="en-US" sz="2200" b="0" i="0" u="none" strike="noStrike" baseline="0" dirty="0">
                <a:latin typeface="Times New Roman" panose="02020603050405020304" pitchFamily="18" charset="0"/>
              </a:rPr>
              <a:t>These differences are determined by the agent, host and environmental factors. </a:t>
            </a:r>
          </a:p>
          <a:p>
            <a:pPr algn="l"/>
            <a:r>
              <a:rPr lang="en-US" sz="2200" b="0" i="0" u="none" strike="noStrike" baseline="0" dirty="0">
                <a:latin typeface="Times New Roman" panose="02020603050405020304" pitchFamily="18" charset="0"/>
              </a:rPr>
              <a:t>The classic example of place-related diseases include yellow fever, schistosomiasis, sleeping sickness and endemic </a:t>
            </a:r>
            <a:r>
              <a:rPr lang="en-US" sz="2200" b="0" i="0" u="none" strike="noStrike" baseline="0" dirty="0" err="1">
                <a:latin typeface="Times New Roman" panose="02020603050405020304" pitchFamily="18" charset="0"/>
              </a:rPr>
              <a:t>goitre</a:t>
            </a:r>
            <a:r>
              <a:rPr lang="en-US" sz="2200" b="0" i="0" u="none" strike="noStrike" baseline="0" dirty="0">
                <a:latin typeface="Times New Roman" panose="02020603050405020304" pitchFamily="18" charset="0"/>
              </a:rPr>
              <a:t>. </a:t>
            </a:r>
          </a:p>
          <a:p>
            <a:pPr algn="l"/>
            <a:r>
              <a:rPr lang="en-US" sz="2200" b="0" i="0" u="none" strike="noStrike" baseline="0" dirty="0">
                <a:latin typeface="Times New Roman" panose="02020603050405020304" pitchFamily="18" charset="0"/>
              </a:rPr>
              <a:t>There have also been studies on asthma, cancer, cardiovascular diseases, blood groups and abnormal </a:t>
            </a:r>
            <a:r>
              <a:rPr lang="en-US" sz="2200" b="0" i="0" u="none" strike="noStrike" baseline="0" dirty="0" err="1">
                <a:latin typeface="Times New Roman" panose="02020603050405020304" pitchFamily="18" charset="0"/>
              </a:rPr>
              <a:t>haemoglobins</a:t>
            </a:r>
            <a:r>
              <a:rPr lang="en-US" sz="2200" b="0" i="0" u="none" strike="noStrike" baseline="0" dirty="0">
                <a:latin typeface="Times New Roman" panose="02020603050405020304" pitchFamily="18" charset="0"/>
              </a:rPr>
              <a:t> by geographic location.</a:t>
            </a:r>
          </a:p>
          <a:p>
            <a:pPr algn="l"/>
            <a:r>
              <a:rPr lang="en-US" sz="2200" b="0" i="0" u="none" strike="noStrike" baseline="0" dirty="0">
                <a:latin typeface="Times New Roman" panose="02020603050405020304" pitchFamily="18" charset="0"/>
              </a:rPr>
              <a:t>All diseases whether acute or chronic, communicable or non-communicable, show definite patterns of geographic distribution.</a:t>
            </a:r>
          </a:p>
          <a:p>
            <a:pPr algn="l"/>
            <a:r>
              <a:rPr lang="en-US" sz="2200" b="0" i="0" u="none" strike="noStrike" baseline="0" dirty="0">
                <a:latin typeface="Times New Roman" panose="02020603050405020304" pitchFamily="18" charset="0"/>
              </a:rPr>
              <a:t>The clinician is also benefited from knowledge that a patient comes to him from a certain geographic area which is endemic for certain infrequent diseases such as yaws or leishmaniasis, as it helps him to focus attention on these diseases to which the patient may have been exposed.</a:t>
            </a:r>
            <a:endParaRPr lang="en-US" sz="2200" dirty="0"/>
          </a:p>
        </p:txBody>
      </p:sp>
    </p:spTree>
    <p:extLst>
      <p:ext uri="{BB962C8B-B14F-4D97-AF65-F5344CB8AC3E}">
        <p14:creationId xmlns:p14="http://schemas.microsoft.com/office/powerpoint/2010/main" val="1328075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E0FE6-9EB1-570A-B3B8-A5C90E77D216}"/>
              </a:ext>
            </a:extLst>
          </p:cNvPr>
          <p:cNvSpPr>
            <a:spLocks noGrp="1"/>
          </p:cNvSpPr>
          <p:nvPr>
            <p:ph type="title"/>
          </p:nvPr>
        </p:nvSpPr>
        <p:spPr/>
        <p:txBody>
          <a:bodyPr/>
          <a:lstStyle/>
          <a:p>
            <a:r>
              <a:rPr lang="en-US" dirty="0"/>
              <a:t>Migration studies</a:t>
            </a:r>
          </a:p>
        </p:txBody>
      </p:sp>
      <p:sp>
        <p:nvSpPr>
          <p:cNvPr id="16" name="Content Placeholder 15">
            <a:extLst>
              <a:ext uri="{FF2B5EF4-FFF2-40B4-BE49-F238E27FC236}">
                <a16:creationId xmlns:a16="http://schemas.microsoft.com/office/drawing/2014/main" id="{92E2A97A-8116-EDDE-DC14-F72963C81E70}"/>
              </a:ext>
            </a:extLst>
          </p:cNvPr>
          <p:cNvSpPr>
            <a:spLocks noGrp="1"/>
          </p:cNvSpPr>
          <p:nvPr>
            <p:ph idx="1"/>
          </p:nvPr>
        </p:nvSpPr>
        <p:spPr>
          <a:xfrm>
            <a:off x="1741714" y="1509486"/>
            <a:ext cx="9762898" cy="4401736"/>
          </a:xfrm>
        </p:spPr>
        <p:txBody>
          <a:bodyPr>
            <a:normAutofit/>
          </a:bodyPr>
          <a:lstStyle/>
          <a:p>
            <a:pPr algn="l"/>
            <a:r>
              <a:rPr lang="en-US" sz="2200" b="0" i="0" u="none" strike="noStrike" baseline="0" dirty="0">
                <a:latin typeface="Times New Roman" panose="02020603050405020304" pitchFamily="18" charset="0"/>
              </a:rPr>
              <a:t>Evaluate the role of the possible genetic and environmental factors in the occurrence of disease in a population.</a:t>
            </a:r>
          </a:p>
          <a:p>
            <a:pPr algn="l"/>
            <a:r>
              <a:rPr lang="en-US" sz="2200" b="0" i="0" u="none" strike="noStrike" baseline="0" dirty="0">
                <a:latin typeface="Times New Roman" panose="02020603050405020304" pitchFamily="18" charset="0"/>
              </a:rPr>
              <a:t>There are marked geographic differences in the occurrence of a disease in two areas, area “A” and area “B”.</a:t>
            </a:r>
          </a:p>
          <a:p>
            <a:pPr algn="l"/>
            <a:r>
              <a:rPr lang="en-US" sz="2200" b="0" i="0" u="none" strike="noStrike" baseline="0" dirty="0">
                <a:latin typeface="Times New Roman" panose="02020603050405020304" pitchFamily="18" charset="0"/>
              </a:rPr>
              <a:t>Let us assume that the environments in these two places are very different. </a:t>
            </a:r>
          </a:p>
          <a:p>
            <a:pPr lvl="1"/>
            <a:r>
              <a:rPr lang="en-US" sz="2200" b="0" i="0" u="none" strike="noStrike" baseline="0" dirty="0">
                <a:latin typeface="Times New Roman" panose="02020603050405020304" pitchFamily="18" charset="0"/>
              </a:rPr>
              <a:t>Does environmental differences in the two areas account for the variations in the occurrence of the disease.</a:t>
            </a:r>
            <a:endParaRPr lang="en-US" sz="2200" dirty="0"/>
          </a:p>
        </p:txBody>
      </p:sp>
    </p:spTree>
    <p:extLst>
      <p:ext uri="{BB962C8B-B14F-4D97-AF65-F5344CB8AC3E}">
        <p14:creationId xmlns:p14="http://schemas.microsoft.com/office/powerpoint/2010/main" val="649830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BE566-2CA7-414E-7323-4ABEC4E32DCF}"/>
              </a:ext>
            </a:extLst>
          </p:cNvPr>
          <p:cNvSpPr>
            <a:spLocks noGrp="1"/>
          </p:cNvSpPr>
          <p:nvPr>
            <p:ph type="title"/>
          </p:nvPr>
        </p:nvSpPr>
        <p:spPr/>
        <p:txBody>
          <a:bodyPr/>
          <a:lstStyle/>
          <a:p>
            <a:r>
              <a:rPr lang="en-US" dirty="0"/>
              <a:t>Migration studies</a:t>
            </a:r>
          </a:p>
        </p:txBody>
      </p:sp>
      <p:sp>
        <p:nvSpPr>
          <p:cNvPr id="3" name="Content Placeholder 2">
            <a:extLst>
              <a:ext uri="{FF2B5EF4-FFF2-40B4-BE49-F238E27FC236}">
                <a16:creationId xmlns:a16="http://schemas.microsoft.com/office/drawing/2014/main" id="{4BEFFE31-459B-0AA2-8AA8-7330CBA19FF8}"/>
              </a:ext>
            </a:extLst>
          </p:cNvPr>
          <p:cNvSpPr>
            <a:spLocks noGrp="1"/>
          </p:cNvSpPr>
          <p:nvPr>
            <p:ph idx="1"/>
          </p:nvPr>
        </p:nvSpPr>
        <p:spPr>
          <a:xfrm>
            <a:off x="914400" y="1411705"/>
            <a:ext cx="10769600" cy="4611724"/>
          </a:xfrm>
        </p:spPr>
        <p:txBody>
          <a:bodyPr>
            <a:normAutofit/>
          </a:bodyPr>
          <a:lstStyle/>
          <a:p>
            <a:pPr algn="l"/>
            <a:r>
              <a:rPr lang="en-US" sz="2200" b="0" i="0" u="none" strike="noStrike" baseline="0" dirty="0">
                <a:latin typeface="Times New Roman" panose="02020603050405020304" pitchFamily="18" charset="0"/>
              </a:rPr>
              <a:t>Comparison of disease and death rates for migrants with those of their kin who have stayed at home. </a:t>
            </a:r>
          </a:p>
          <a:p>
            <a:pPr lvl="1"/>
            <a:r>
              <a:rPr lang="en-US" sz="2200" b="0" i="0" u="none" strike="noStrike" baseline="0" dirty="0">
                <a:latin typeface="Times New Roman" panose="02020603050405020304" pitchFamily="18" charset="0"/>
              </a:rPr>
              <a:t>This permits study of genetically similar groups but living under different environmental conditions or exposures. If the disease and death rates in migrants are like country of adoption over a period of time, the likely explanation would be change in the environment. A special case is the use of twins who have been exposed to different environments of migration.</a:t>
            </a:r>
          </a:p>
          <a:p>
            <a:pPr algn="l"/>
            <a:r>
              <a:rPr lang="en-US" sz="2200" b="0" i="0" u="none" strike="noStrike" baseline="0" dirty="0">
                <a:latin typeface="Times New Roman" panose="02020603050405020304" pitchFamily="18" charset="0"/>
              </a:rPr>
              <a:t>Comparison of migrants with local population of the host country provides information on genetically different groups living in a similar environment. </a:t>
            </a:r>
          </a:p>
          <a:p>
            <a:pPr lvl="1"/>
            <a:r>
              <a:rPr lang="en-US" sz="2200" b="0" i="0" u="none" strike="noStrike" baseline="0" dirty="0">
                <a:latin typeface="Times New Roman" panose="02020603050405020304" pitchFamily="18" charset="0"/>
              </a:rPr>
              <a:t>If the migration rates of disease and death are similar to the country of origin, the likely explanation would be the genetic factors.</a:t>
            </a:r>
            <a:endParaRPr lang="en-US" sz="2200" dirty="0"/>
          </a:p>
        </p:txBody>
      </p:sp>
    </p:spTree>
    <p:extLst>
      <p:ext uri="{BB962C8B-B14F-4D97-AF65-F5344CB8AC3E}">
        <p14:creationId xmlns:p14="http://schemas.microsoft.com/office/powerpoint/2010/main" val="2127926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7905-E2A0-7B99-F8DD-9B5571EB3A10}"/>
              </a:ext>
            </a:extLst>
          </p:cNvPr>
          <p:cNvSpPr>
            <a:spLocks noGrp="1"/>
          </p:cNvSpPr>
          <p:nvPr>
            <p:ph type="title"/>
          </p:nvPr>
        </p:nvSpPr>
        <p:spPr/>
        <p:txBody>
          <a:bodyPr/>
          <a:lstStyle/>
          <a:p>
            <a:r>
              <a:rPr lang="en-US" dirty="0"/>
              <a:t>Migration studies</a:t>
            </a:r>
          </a:p>
        </p:txBody>
      </p:sp>
      <p:sp>
        <p:nvSpPr>
          <p:cNvPr id="3" name="Content Placeholder 2">
            <a:extLst>
              <a:ext uri="{FF2B5EF4-FFF2-40B4-BE49-F238E27FC236}">
                <a16:creationId xmlns:a16="http://schemas.microsoft.com/office/drawing/2014/main" id="{F38803CD-6640-B813-0949-809A36E6C6C5}"/>
              </a:ext>
            </a:extLst>
          </p:cNvPr>
          <p:cNvSpPr>
            <a:spLocks noGrp="1"/>
          </p:cNvSpPr>
          <p:nvPr>
            <p:ph idx="1"/>
          </p:nvPr>
        </p:nvSpPr>
        <p:spPr>
          <a:xfrm>
            <a:off x="1058779" y="1395663"/>
            <a:ext cx="10445833" cy="4515559"/>
          </a:xfrm>
        </p:spPr>
        <p:txBody>
          <a:bodyPr>
            <a:noAutofit/>
          </a:bodyPr>
          <a:lstStyle/>
          <a:p>
            <a:pPr algn="l"/>
            <a:r>
              <a:rPr lang="en-US" sz="2200" b="0" i="0" u="none" strike="noStrike" baseline="0" dirty="0">
                <a:latin typeface="Times New Roman" panose="02020603050405020304" pitchFamily="18" charset="0"/>
              </a:rPr>
              <a:t>Men of Japanese ancestry living in USA experience a higher rate of coronary heart disease than do the Japanese in Japan</a:t>
            </a:r>
            <a:r>
              <a:rPr lang="en-US" sz="2200" b="0" i="1" u="none" strike="noStrike" baseline="0" dirty="0">
                <a:latin typeface="Times New Roman" panose="02020603050405020304" pitchFamily="18" charset="0"/>
              </a:rPr>
              <a:t>. </a:t>
            </a:r>
            <a:r>
              <a:rPr lang="en-US" sz="2200" b="0" i="0" u="none" strike="noStrike" baseline="0" dirty="0">
                <a:latin typeface="Times New Roman" panose="02020603050405020304" pitchFamily="18" charset="0"/>
              </a:rPr>
              <a:t>Japan has a higher rate for stomach cancer and a lower rate for colon cancer than the United States has. However, third-generation descendants of Japanese immigrants to USA have rates of stomach and colon cancer like those of the total US population. </a:t>
            </a:r>
          </a:p>
          <a:p>
            <a:pPr algn="l"/>
            <a:r>
              <a:rPr lang="en-US" sz="2200" b="0" i="0" u="none" strike="noStrike" baseline="0" dirty="0">
                <a:latin typeface="Times New Roman" panose="02020603050405020304" pitchFamily="18" charset="0"/>
              </a:rPr>
              <a:t>These studies suggest that as the Japanese were probably adopting the American way of life, their susceptibility to coronary heart disease, gastric and colonic cancer was moving in the direction of that found in the Americans.</a:t>
            </a:r>
          </a:p>
          <a:p>
            <a:pPr algn="l"/>
            <a:r>
              <a:rPr lang="en-US" sz="2200" b="0" i="0" u="none" strike="noStrike" baseline="0" dirty="0">
                <a:latin typeface="Times New Roman" panose="02020603050405020304" pitchFamily="18" charset="0"/>
              </a:rPr>
              <a:t>Migrant studies may also indicate the duration of residence necessary to acquire susceptibility to the disease in question by comparing groups that left home at different ages.</a:t>
            </a:r>
          </a:p>
          <a:p>
            <a:pPr algn="l"/>
            <a:r>
              <a:rPr lang="en-US" sz="2200" b="0" i="0" u="none" strike="noStrike" baseline="0" dirty="0">
                <a:latin typeface="Times New Roman" panose="02020603050405020304" pitchFamily="18" charset="0"/>
              </a:rPr>
              <a:t>Studies of this kind provide a basis for further studies of specific environmental factors to which the migrants may have been exposed or of changes in their habits of life that may be of </a:t>
            </a:r>
            <a:r>
              <a:rPr lang="en-US" sz="2200" b="0" i="0" u="none" strike="noStrike" baseline="0" dirty="0" err="1">
                <a:latin typeface="Times New Roman" panose="02020603050405020304" pitchFamily="18" charset="0"/>
              </a:rPr>
              <a:t>aetiological</a:t>
            </a:r>
            <a:r>
              <a:rPr lang="en-US" sz="2200" b="0" i="0" u="none" strike="noStrike" baseline="0" dirty="0">
                <a:latin typeface="Times New Roman" panose="02020603050405020304" pitchFamily="18" charset="0"/>
              </a:rPr>
              <a:t> importance.</a:t>
            </a:r>
            <a:endParaRPr lang="en-US" sz="2200" dirty="0"/>
          </a:p>
        </p:txBody>
      </p:sp>
    </p:spTree>
    <p:extLst>
      <p:ext uri="{BB962C8B-B14F-4D97-AF65-F5344CB8AC3E}">
        <p14:creationId xmlns:p14="http://schemas.microsoft.com/office/powerpoint/2010/main" val="474971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588F5-953B-CB02-FBDB-EC782B6D5AC5}"/>
              </a:ext>
            </a:extLst>
          </p:cNvPr>
          <p:cNvSpPr>
            <a:spLocks noGrp="1"/>
          </p:cNvSpPr>
          <p:nvPr>
            <p:ph type="title"/>
          </p:nvPr>
        </p:nvSpPr>
        <p:spPr/>
        <p:txBody>
          <a:bodyPr/>
          <a:lstStyle/>
          <a:p>
            <a:r>
              <a:rPr lang="en-US" dirty="0"/>
              <a:t>Migration study - defect</a:t>
            </a:r>
          </a:p>
        </p:txBody>
      </p:sp>
      <p:sp>
        <p:nvSpPr>
          <p:cNvPr id="3" name="Content Placeholder 2">
            <a:extLst>
              <a:ext uri="{FF2B5EF4-FFF2-40B4-BE49-F238E27FC236}">
                <a16:creationId xmlns:a16="http://schemas.microsoft.com/office/drawing/2014/main" id="{AD0EF35F-8BE1-8E9E-0DFD-92F9F28093A2}"/>
              </a:ext>
            </a:extLst>
          </p:cNvPr>
          <p:cNvSpPr>
            <a:spLocks noGrp="1"/>
          </p:cNvSpPr>
          <p:nvPr>
            <p:ph idx="1"/>
          </p:nvPr>
        </p:nvSpPr>
        <p:spPr/>
        <p:txBody>
          <a:bodyPr>
            <a:normAutofit/>
          </a:bodyPr>
          <a:lstStyle/>
          <a:p>
            <a:pPr algn="l"/>
            <a:r>
              <a:rPr lang="en-US" sz="2200" b="0" i="0" u="none" strike="noStrike" baseline="0" dirty="0">
                <a:latin typeface="Times New Roman" panose="02020603050405020304" pitchFamily="18" charset="0"/>
              </a:rPr>
              <a:t>Migrant studies suffer from the usual defects of observational studies</a:t>
            </a:r>
          </a:p>
          <a:p>
            <a:pPr algn="l"/>
            <a:r>
              <a:rPr lang="en-US" sz="2200" b="0" i="0" u="none" strike="noStrike" baseline="0" dirty="0">
                <a:latin typeface="Times New Roman" panose="02020603050405020304" pitchFamily="18" charset="0"/>
              </a:rPr>
              <a:t>Lack of random assignment to the groups under observation. </a:t>
            </a:r>
          </a:p>
          <a:p>
            <a:pPr algn="l"/>
            <a:r>
              <a:rPr lang="en-US" sz="2200" b="0" i="0" u="none" strike="noStrike" baseline="0" dirty="0">
                <a:latin typeface="Times New Roman" panose="02020603050405020304" pitchFamily="18" charset="0"/>
              </a:rPr>
              <a:t>Migrants may be self-selected in that fit, vigorous and perhaps the temperamentally unstable are more likely to migrate</a:t>
            </a:r>
            <a:r>
              <a:rPr lang="en-US" sz="2200" b="0" i="1" u="none" strike="noStrike" baseline="0" dirty="0">
                <a:latin typeface="Times New Roman" panose="02020603050405020304" pitchFamily="18" charset="0"/>
              </a:rPr>
              <a:t>.</a:t>
            </a:r>
          </a:p>
          <a:p>
            <a:pPr algn="l"/>
            <a:r>
              <a:rPr lang="en-US" sz="2200" b="0" i="0" u="none" strike="noStrike" baseline="0" dirty="0">
                <a:latin typeface="Times New Roman" panose="02020603050405020304" pitchFamily="18" charset="0"/>
              </a:rPr>
              <a:t>The environmental factors may only act at a certain critical point or at a certain specific age. </a:t>
            </a:r>
          </a:p>
          <a:p>
            <a:pPr algn="l"/>
            <a:r>
              <a:rPr lang="en-US" sz="2200" b="0" i="0" u="none" strike="noStrike" baseline="0" dirty="0">
                <a:latin typeface="Times New Roman" panose="02020603050405020304" pitchFamily="18" charset="0"/>
              </a:rPr>
              <a:t>If the incubation period of the disease is very long, migrants may not show any increased incidence or mortality from the disease for many years.</a:t>
            </a:r>
            <a:endParaRPr lang="en-US" sz="2200" dirty="0"/>
          </a:p>
        </p:txBody>
      </p:sp>
    </p:spTree>
    <p:extLst>
      <p:ext uri="{BB962C8B-B14F-4D97-AF65-F5344CB8AC3E}">
        <p14:creationId xmlns:p14="http://schemas.microsoft.com/office/powerpoint/2010/main" val="3736049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C07DC-FBA2-8E63-88D3-F84FADDE7A8D}"/>
              </a:ext>
            </a:extLst>
          </p:cNvPr>
          <p:cNvSpPr>
            <a:spLocks noGrp="1"/>
          </p:cNvSpPr>
          <p:nvPr>
            <p:ph type="title"/>
          </p:nvPr>
        </p:nvSpPr>
        <p:spPr/>
        <p:txBody>
          <a:bodyPr/>
          <a:lstStyle/>
          <a:p>
            <a:r>
              <a:rPr lang="en-US" dirty="0"/>
              <a:t>Person distribution - age</a:t>
            </a:r>
          </a:p>
        </p:txBody>
      </p:sp>
      <p:sp>
        <p:nvSpPr>
          <p:cNvPr id="3" name="Content Placeholder 2">
            <a:extLst>
              <a:ext uri="{FF2B5EF4-FFF2-40B4-BE49-F238E27FC236}">
                <a16:creationId xmlns:a16="http://schemas.microsoft.com/office/drawing/2014/main" id="{1533CCD6-461A-E4A3-CAC5-999DB0D0CB89}"/>
              </a:ext>
            </a:extLst>
          </p:cNvPr>
          <p:cNvSpPr>
            <a:spLocks noGrp="1"/>
          </p:cNvSpPr>
          <p:nvPr>
            <p:ph idx="1"/>
          </p:nvPr>
        </p:nvSpPr>
        <p:spPr>
          <a:xfrm>
            <a:off x="1262743" y="1306286"/>
            <a:ext cx="10241869" cy="4604936"/>
          </a:xfrm>
        </p:spPr>
        <p:txBody>
          <a:bodyPr>
            <a:normAutofit fontScale="92500" lnSpcReduction="10000"/>
          </a:bodyPr>
          <a:lstStyle/>
          <a:p>
            <a:r>
              <a:rPr lang="en-US" sz="2000" dirty="0">
                <a:latin typeface="Times New Roman" panose="02020603050405020304" pitchFamily="18" charset="0"/>
                <a:cs typeface="Times New Roman" panose="02020603050405020304" pitchFamily="18" charset="0"/>
              </a:rPr>
              <a:t>Age</a:t>
            </a:r>
          </a:p>
          <a:p>
            <a:pPr lvl="1"/>
            <a:r>
              <a:rPr lang="en-US" sz="1800" dirty="0">
                <a:latin typeface="Times New Roman" panose="02020603050405020304" pitchFamily="18" charset="0"/>
                <a:cs typeface="Times New Roman" panose="02020603050405020304" pitchFamily="18" charset="0"/>
              </a:rPr>
              <a:t>Younger population</a:t>
            </a:r>
          </a:p>
          <a:p>
            <a:pPr lvl="1"/>
            <a:r>
              <a:rPr lang="en-US" sz="1800" dirty="0">
                <a:latin typeface="Times New Roman" panose="02020603050405020304" pitchFamily="18" charset="0"/>
                <a:cs typeface="Times New Roman" panose="02020603050405020304" pitchFamily="18" charset="0"/>
              </a:rPr>
              <a:t>Middle age</a:t>
            </a:r>
          </a:p>
          <a:p>
            <a:pPr lvl="1"/>
            <a:r>
              <a:rPr lang="en-US" sz="1800" dirty="0">
                <a:latin typeface="Times New Roman" panose="02020603050405020304" pitchFamily="18" charset="0"/>
                <a:cs typeface="Times New Roman" panose="02020603050405020304" pitchFamily="18" charset="0"/>
              </a:rPr>
              <a:t>Old age</a:t>
            </a:r>
          </a:p>
          <a:p>
            <a:pPr lvl="1"/>
            <a:r>
              <a:rPr lang="en-US" sz="1800" dirty="0">
                <a:latin typeface="Times New Roman" panose="02020603050405020304" pitchFamily="18" charset="0"/>
                <a:cs typeface="Times New Roman" panose="02020603050405020304" pitchFamily="18" charset="0"/>
              </a:rPr>
              <a:t>All age groups</a:t>
            </a:r>
          </a:p>
          <a:p>
            <a:pPr lvl="1"/>
            <a:r>
              <a:rPr lang="en-US" sz="1800" dirty="0">
                <a:latin typeface="Times New Roman" panose="02020603050405020304" pitchFamily="18" charset="0"/>
                <a:cs typeface="Times New Roman" panose="02020603050405020304" pitchFamily="18" charset="0"/>
              </a:rPr>
              <a:t>Bimodality </a:t>
            </a:r>
          </a:p>
          <a:p>
            <a:pPr algn="l"/>
            <a:r>
              <a:rPr lang="en-US" sz="2000" b="0" i="0" u="none" strike="noStrike" baseline="0" dirty="0">
                <a:latin typeface="Times New Roman" panose="02020603050405020304" pitchFamily="18" charset="0"/>
                <a:cs typeface="Times New Roman" panose="02020603050405020304" pitchFamily="18" charset="0"/>
              </a:rPr>
              <a:t>Bimodality is of special interest to epidemiologists. It indicates that the study material is not homogeneous, and that two distinct sets of causal factors might be operative, even though the clinical and pathological manifestations of the disease are the same at all ages.</a:t>
            </a:r>
          </a:p>
          <a:p>
            <a:pPr algn="l"/>
            <a:r>
              <a:rPr lang="en-US" sz="2000" b="0" i="0" u="none" strike="noStrike" baseline="0" dirty="0">
                <a:latin typeface="Times New Roman" panose="02020603050405020304" pitchFamily="18" charset="0"/>
                <a:cs typeface="Times New Roman" panose="02020603050405020304" pitchFamily="18" charset="0"/>
              </a:rPr>
              <a:t>(a) small numbers of observations are a frequent source of bimodality; </a:t>
            </a:r>
          </a:p>
          <a:p>
            <a:pPr algn="l"/>
            <a:r>
              <a:rPr lang="en-US" sz="2000" b="0" i="0" u="none" strike="noStrike" baseline="0" dirty="0">
                <a:latin typeface="Times New Roman" panose="02020603050405020304" pitchFamily="18" charset="0"/>
                <a:cs typeface="Times New Roman" panose="02020603050405020304" pitchFamily="18" charset="0"/>
              </a:rPr>
              <a:t>(b) the absence of bimodality does not signify that data have come from a homogeneous source.</a:t>
            </a:r>
          </a:p>
          <a:p>
            <a:pPr algn="l"/>
            <a:r>
              <a:rPr lang="en-US" sz="2000" b="0" i="0" u="none" strike="noStrike" baseline="0" dirty="0">
                <a:latin typeface="Times New Roman" panose="02020603050405020304" pitchFamily="18" charset="0"/>
                <a:cs typeface="Times New Roman" panose="02020603050405020304" pitchFamily="18" charset="0"/>
              </a:rPr>
              <a:t>Progressive increase in prevalence with advancing age may reflect a persistent and cumulative exposure to a causal agent or risk factor</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376CFB9-2DBA-F15C-55D8-8B04B7809ED2}"/>
              </a:ext>
            </a:extLst>
          </p:cNvPr>
          <p:cNvPicPr>
            <a:picLocks noChangeAspect="1"/>
          </p:cNvPicPr>
          <p:nvPr/>
        </p:nvPicPr>
        <p:blipFill>
          <a:blip r:embed="rId2"/>
          <a:stretch>
            <a:fillRect/>
          </a:stretch>
        </p:blipFill>
        <p:spPr>
          <a:xfrm>
            <a:off x="8897256" y="386983"/>
            <a:ext cx="2881157" cy="2049062"/>
          </a:xfrm>
          <a:prstGeom prst="rect">
            <a:avLst/>
          </a:prstGeom>
        </p:spPr>
      </p:pic>
    </p:spTree>
    <p:extLst>
      <p:ext uri="{BB962C8B-B14F-4D97-AF65-F5344CB8AC3E}">
        <p14:creationId xmlns:p14="http://schemas.microsoft.com/office/powerpoint/2010/main" val="3952638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5CFF8-D370-8485-9C59-CA95FA982FBC}"/>
              </a:ext>
            </a:extLst>
          </p:cNvPr>
          <p:cNvSpPr>
            <a:spLocks noGrp="1"/>
          </p:cNvSpPr>
          <p:nvPr>
            <p:ph type="title"/>
          </p:nvPr>
        </p:nvSpPr>
        <p:spPr/>
        <p:txBody>
          <a:bodyPr/>
          <a:lstStyle/>
          <a:p>
            <a:r>
              <a:rPr lang="en-US" dirty="0"/>
              <a:t>Sex &amp; Ethnicity</a:t>
            </a:r>
          </a:p>
        </p:txBody>
      </p:sp>
      <p:sp>
        <p:nvSpPr>
          <p:cNvPr id="3" name="Content Placeholder 2">
            <a:extLst>
              <a:ext uri="{FF2B5EF4-FFF2-40B4-BE49-F238E27FC236}">
                <a16:creationId xmlns:a16="http://schemas.microsoft.com/office/drawing/2014/main" id="{E93674DC-6ADE-1967-9329-32688A432973}"/>
              </a:ext>
            </a:extLst>
          </p:cNvPr>
          <p:cNvSpPr>
            <a:spLocks noGrp="1"/>
          </p:cNvSpPr>
          <p:nvPr>
            <p:ph idx="1"/>
          </p:nvPr>
        </p:nvSpPr>
        <p:spPr>
          <a:xfrm>
            <a:off x="1524000" y="1524000"/>
            <a:ext cx="9980612" cy="4387222"/>
          </a:xfrm>
        </p:spPr>
        <p:txBody>
          <a:bodyPr>
            <a:normAutofit lnSpcReduction="10000"/>
          </a:bodyPr>
          <a:lstStyle/>
          <a:p>
            <a:pPr algn="l"/>
            <a:r>
              <a:rPr lang="en-US" sz="2400" b="0" i="0" u="none" strike="noStrike" baseline="0" dirty="0">
                <a:latin typeface="Times New Roman" panose="02020603050405020304" pitchFamily="18" charset="0"/>
              </a:rPr>
              <a:t>Basic biological differences between the sexes, including sex-linked genetic inheritance, and </a:t>
            </a:r>
          </a:p>
          <a:p>
            <a:pPr algn="l"/>
            <a:r>
              <a:rPr lang="en-US" sz="2400" b="0" i="0" u="none" strike="noStrike" baseline="0" dirty="0">
                <a:latin typeface="Times New Roman" panose="02020603050405020304" pitchFamily="18" charset="0"/>
              </a:rPr>
              <a:t>Cultural and </a:t>
            </a:r>
            <a:r>
              <a:rPr lang="en-US" sz="2400" b="0" i="0" u="none" strike="noStrike" baseline="0" dirty="0" err="1">
                <a:latin typeface="Times New Roman" panose="02020603050405020304" pitchFamily="18" charset="0"/>
              </a:rPr>
              <a:t>behavioural</a:t>
            </a:r>
            <a:r>
              <a:rPr lang="en-US" sz="2400" b="0" i="0" u="none" strike="noStrike" baseline="0" dirty="0">
                <a:latin typeface="Times New Roman" panose="02020603050405020304" pitchFamily="18" charset="0"/>
              </a:rPr>
              <a:t> differences between the sexes </a:t>
            </a:r>
          </a:p>
          <a:p>
            <a:pPr lvl="1"/>
            <a:r>
              <a:rPr lang="en-US" sz="2000" b="0" i="0" u="none" strike="noStrike" baseline="0" dirty="0">
                <a:latin typeface="Times New Roman" panose="02020603050405020304" pitchFamily="18" charset="0"/>
              </a:rPr>
              <a:t>(e.g., smoking, automobile use, alcoholism) due to different roles in social setting. </a:t>
            </a:r>
          </a:p>
          <a:p>
            <a:pPr lvl="1"/>
            <a:r>
              <a:rPr lang="en-US" sz="2000" dirty="0">
                <a:latin typeface="Times New Roman" panose="02020603050405020304" pitchFamily="18" charset="0"/>
              </a:rPr>
              <a:t>I</a:t>
            </a:r>
            <a:r>
              <a:rPr lang="en-US" sz="2000" b="0" i="0" u="none" strike="noStrike" baseline="0" dirty="0">
                <a:latin typeface="Times New Roman" panose="02020603050405020304" pitchFamily="18" charset="0"/>
              </a:rPr>
              <a:t>t is the 4:1 male to female ratio in lung cancer that has helped to identify cigarette smoking as a causal factor. </a:t>
            </a:r>
          </a:p>
          <a:p>
            <a:pPr algn="l"/>
            <a:r>
              <a:rPr lang="en-US" sz="2400" b="0" i="0" u="none" strike="noStrike" baseline="0" dirty="0">
                <a:latin typeface="Times New Roman" panose="02020603050405020304" pitchFamily="18" charset="0"/>
              </a:rPr>
              <a:t>Differences in disease occurrence have been noted between population subgroups of different racial and ethnic origin. These include tuberculosis, essential hypertension, coronary heart disease, cancer, and sickle cell </a:t>
            </a:r>
            <a:r>
              <a:rPr lang="en-US" sz="2400" b="0" i="0" u="none" strike="noStrike" baseline="0" dirty="0" err="1">
                <a:latin typeface="Times New Roman" panose="02020603050405020304" pitchFamily="18" charset="0"/>
              </a:rPr>
              <a:t>anaemia</a:t>
            </a:r>
            <a:r>
              <a:rPr lang="en-US" sz="2400" b="0" i="0" u="none" strike="noStrike" baseline="0" dirty="0">
                <a:latin typeface="Times New Roman" panose="02020603050405020304" pitchFamily="18" charset="0"/>
              </a:rPr>
              <a:t>. These differences, whether they are related to genetic or environmental factors, have been a stimulus to further studies.</a:t>
            </a:r>
            <a:endParaRPr lang="en-US" sz="2400" dirty="0"/>
          </a:p>
        </p:txBody>
      </p:sp>
    </p:spTree>
    <p:extLst>
      <p:ext uri="{BB962C8B-B14F-4D97-AF65-F5344CB8AC3E}">
        <p14:creationId xmlns:p14="http://schemas.microsoft.com/office/powerpoint/2010/main" val="460060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026A1-48FF-7624-7693-61038F82FE64}"/>
              </a:ext>
            </a:extLst>
          </p:cNvPr>
          <p:cNvSpPr>
            <a:spLocks noGrp="1"/>
          </p:cNvSpPr>
          <p:nvPr>
            <p:ph type="title"/>
          </p:nvPr>
        </p:nvSpPr>
        <p:spPr/>
        <p:txBody>
          <a:bodyPr/>
          <a:lstStyle/>
          <a:p>
            <a:r>
              <a:rPr lang="en-US" dirty="0"/>
              <a:t>Marital status</a:t>
            </a:r>
          </a:p>
        </p:txBody>
      </p:sp>
      <p:sp>
        <p:nvSpPr>
          <p:cNvPr id="3" name="Content Placeholder 2">
            <a:extLst>
              <a:ext uri="{FF2B5EF4-FFF2-40B4-BE49-F238E27FC236}">
                <a16:creationId xmlns:a16="http://schemas.microsoft.com/office/drawing/2014/main" id="{4C063B46-BC00-2172-7A1D-63AB58091EFF}"/>
              </a:ext>
            </a:extLst>
          </p:cNvPr>
          <p:cNvSpPr>
            <a:spLocks noGrp="1"/>
          </p:cNvSpPr>
          <p:nvPr>
            <p:ph idx="1"/>
          </p:nvPr>
        </p:nvSpPr>
        <p:spPr>
          <a:xfrm>
            <a:off x="1988457" y="1683657"/>
            <a:ext cx="9516155" cy="4227565"/>
          </a:xfrm>
        </p:spPr>
        <p:txBody>
          <a:bodyPr>
            <a:normAutofit/>
          </a:bodyPr>
          <a:lstStyle/>
          <a:p>
            <a:pPr algn="l"/>
            <a:r>
              <a:rPr lang="en-US" sz="2200" b="0" i="0" u="none" strike="noStrike" baseline="0" dirty="0">
                <a:latin typeface="Times New Roman" panose="02020603050405020304" pitchFamily="18" charset="0"/>
              </a:rPr>
              <a:t>Mortality rates were always lower for married males and females than for the unmarried, of the same age and sex. </a:t>
            </a:r>
          </a:p>
          <a:p>
            <a:pPr algn="l"/>
            <a:r>
              <a:rPr lang="en-US" sz="2200" b="0" i="0" u="none" strike="noStrike" baseline="0" dirty="0">
                <a:latin typeface="Times New Roman" panose="02020603050405020304" pitchFamily="18" charset="0"/>
              </a:rPr>
              <a:t>Marriages are selective with respect to the health status of persons, for those who are healthy are more likely to </a:t>
            </a:r>
            <a:r>
              <a:rPr lang="en-US" sz="2200" dirty="0">
                <a:latin typeface="Times New Roman" panose="02020603050405020304" pitchFamily="18" charset="0"/>
              </a:rPr>
              <a:t>g</a:t>
            </a:r>
            <a:r>
              <a:rPr lang="en-US" sz="2200" b="0" i="0" u="none" strike="noStrike" baseline="0" dirty="0">
                <a:latin typeface="Times New Roman" panose="02020603050405020304" pitchFamily="18" charset="0"/>
              </a:rPr>
              <a:t>et married, with the result that the risk of dying is also less.</a:t>
            </a:r>
          </a:p>
          <a:p>
            <a:pPr algn="l"/>
            <a:r>
              <a:rPr lang="en-US" sz="2200" b="0" i="0" u="none" strike="noStrike" baseline="0" dirty="0">
                <a:latin typeface="Times New Roman" panose="02020603050405020304" pitchFamily="18" charset="0"/>
              </a:rPr>
              <a:t>Besides, married persons are generally more secure and protected and they usually lead a more sober life than those who are unmarried.</a:t>
            </a:r>
          </a:p>
          <a:p>
            <a:pPr algn="l"/>
            <a:r>
              <a:rPr lang="en-US" sz="2200" b="0" i="0" u="none" strike="noStrike" baseline="0" dirty="0">
                <a:latin typeface="Times New Roman" panose="02020603050405020304" pitchFamily="18" charset="0"/>
              </a:rPr>
              <a:t>The observation that cancer cervix is rare in nuns led to the hypothesis regarding marital status and cancer cervix. Further studies led to the suggestion that cancer cervix may be associated with multiple sexual contacts and promiscuity.</a:t>
            </a:r>
            <a:endParaRPr lang="en-US" sz="2200" dirty="0"/>
          </a:p>
        </p:txBody>
      </p:sp>
    </p:spTree>
    <p:extLst>
      <p:ext uri="{BB962C8B-B14F-4D97-AF65-F5344CB8AC3E}">
        <p14:creationId xmlns:p14="http://schemas.microsoft.com/office/powerpoint/2010/main" val="4261676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B14A1-7FA6-67B8-66DB-D812C886C1CF}"/>
              </a:ext>
            </a:extLst>
          </p:cNvPr>
          <p:cNvSpPr>
            <a:spLocks noGrp="1"/>
          </p:cNvSpPr>
          <p:nvPr>
            <p:ph type="title"/>
          </p:nvPr>
        </p:nvSpPr>
        <p:spPr/>
        <p:txBody>
          <a:bodyPr/>
          <a:lstStyle/>
          <a:p>
            <a:r>
              <a:rPr lang="en-US" dirty="0"/>
              <a:t>Occupation &amp; Social class</a:t>
            </a:r>
          </a:p>
        </p:txBody>
      </p:sp>
      <p:sp>
        <p:nvSpPr>
          <p:cNvPr id="3" name="Content Placeholder 2">
            <a:extLst>
              <a:ext uri="{FF2B5EF4-FFF2-40B4-BE49-F238E27FC236}">
                <a16:creationId xmlns:a16="http://schemas.microsoft.com/office/drawing/2014/main" id="{BF2E968E-606B-9CFF-D7BE-8DEA239E8F92}"/>
              </a:ext>
            </a:extLst>
          </p:cNvPr>
          <p:cNvSpPr>
            <a:spLocks noGrp="1"/>
          </p:cNvSpPr>
          <p:nvPr>
            <p:ph idx="1"/>
          </p:nvPr>
        </p:nvSpPr>
        <p:spPr/>
        <p:txBody>
          <a:bodyPr>
            <a:normAutofit fontScale="92500" lnSpcReduction="10000"/>
          </a:bodyPr>
          <a:lstStyle/>
          <a:p>
            <a:pPr algn="l"/>
            <a:r>
              <a:rPr lang="en-US" sz="1800" b="0" i="0" u="none" strike="noStrike" baseline="0" dirty="0">
                <a:latin typeface="Times New Roman" panose="02020603050405020304" pitchFamily="18" charset="0"/>
              </a:rPr>
              <a:t>Occupation may alter the habit pattern of employees e.g., sleep, alcohol, smoking, drug addiction, night shifts etc. It is obvious that persons working in particular occupations are exposed to particular types of risks.</a:t>
            </a:r>
          </a:p>
          <a:p>
            <a:pPr algn="l"/>
            <a:r>
              <a:rPr lang="en-US" sz="1800" b="0" i="0" u="none" strike="noStrike" baseline="0" dirty="0">
                <a:latin typeface="Times New Roman" panose="02020603050405020304" pitchFamily="18" charset="0"/>
              </a:rPr>
              <a:t>Individuals in the upper social classes have a longer life expectancy and better health and nutritional status than those in the lower social classes. </a:t>
            </a:r>
          </a:p>
          <a:p>
            <a:pPr algn="l"/>
            <a:r>
              <a:rPr lang="en-US" sz="1800" b="0" i="0" u="none" strike="noStrike" baseline="0" dirty="0">
                <a:latin typeface="Times New Roman" panose="02020603050405020304" pitchFamily="18" charset="0"/>
              </a:rPr>
              <a:t>Certain diseases (e.g., coronary heart disease, hypertension, diabetes) have shown a higher prevalence in upper classes than in the lower classes. Social class differences have also been observed in mental illness and utilization of medical and health care services.</a:t>
            </a:r>
          </a:p>
          <a:p>
            <a:pPr algn="l"/>
            <a:r>
              <a:rPr lang="en-US" sz="1800" b="0" i="0" u="none" strike="noStrike" baseline="0" dirty="0">
                <a:latin typeface="Times New Roman" panose="02020603050405020304" pitchFamily="18" charset="0"/>
              </a:rPr>
              <a:t>Social classification varies from country to country. It has different meanings for different persons. Therefore associations of disease with social class vary according to one’s concept of social class.</a:t>
            </a:r>
          </a:p>
          <a:p>
            <a:pPr algn="l"/>
            <a:r>
              <a:rPr lang="en-US" sz="1800" b="0" i="0" u="none" strike="noStrike" baseline="0" dirty="0">
                <a:latin typeface="Times New Roman" panose="02020603050405020304" pitchFamily="18" charset="0"/>
              </a:rPr>
              <a:t>Consequently, it is difficult to compare the results of studies in which social class has been used differently by different investigators.</a:t>
            </a:r>
            <a:endParaRPr lang="en-US" dirty="0"/>
          </a:p>
        </p:txBody>
      </p:sp>
    </p:spTree>
    <p:extLst>
      <p:ext uri="{BB962C8B-B14F-4D97-AF65-F5344CB8AC3E}">
        <p14:creationId xmlns:p14="http://schemas.microsoft.com/office/powerpoint/2010/main" val="3461292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66F2-6685-90E8-D16C-963E01081358}"/>
              </a:ext>
            </a:extLst>
          </p:cNvPr>
          <p:cNvSpPr>
            <a:spLocks noGrp="1"/>
          </p:cNvSpPr>
          <p:nvPr>
            <p:ph type="title"/>
          </p:nvPr>
        </p:nvSpPr>
        <p:spPr/>
        <p:txBody>
          <a:bodyPr/>
          <a:lstStyle/>
          <a:p>
            <a:r>
              <a:rPr lang="en-US" dirty="0"/>
              <a:t>Behavior &amp; stress</a:t>
            </a:r>
          </a:p>
        </p:txBody>
      </p:sp>
      <p:sp>
        <p:nvSpPr>
          <p:cNvPr id="3" name="Content Placeholder 2">
            <a:extLst>
              <a:ext uri="{FF2B5EF4-FFF2-40B4-BE49-F238E27FC236}">
                <a16:creationId xmlns:a16="http://schemas.microsoft.com/office/drawing/2014/main" id="{11E212FE-118E-D91B-918C-59CD2DE5D33E}"/>
              </a:ext>
            </a:extLst>
          </p:cNvPr>
          <p:cNvSpPr>
            <a:spLocks noGrp="1"/>
          </p:cNvSpPr>
          <p:nvPr>
            <p:ph idx="1"/>
          </p:nvPr>
        </p:nvSpPr>
        <p:spPr/>
        <p:txBody>
          <a:bodyPr/>
          <a:lstStyle/>
          <a:p>
            <a:pPr algn="l"/>
            <a:r>
              <a:rPr lang="en-US" sz="1800" b="0" i="0" u="none" strike="noStrike" baseline="0" dirty="0">
                <a:latin typeface="Times New Roman" panose="02020603050405020304" pitchFamily="18" charset="0"/>
              </a:rPr>
              <a:t>The </a:t>
            </a:r>
            <a:r>
              <a:rPr lang="en-US" sz="1800" b="0" i="0" u="none" strike="noStrike" baseline="0" dirty="0" err="1">
                <a:latin typeface="Times New Roman" panose="02020603050405020304" pitchFamily="18" charset="0"/>
              </a:rPr>
              <a:t>behavioural</a:t>
            </a:r>
            <a:r>
              <a:rPr lang="en-US" sz="1800" b="0" i="0" u="none" strike="noStrike" baseline="0" dirty="0">
                <a:latin typeface="Times New Roman" panose="02020603050405020304" pitchFamily="18" charset="0"/>
              </a:rPr>
              <a:t> factors which have attracted the greatest attention are cigarette smoking, sedentary life, over-eating and drug abuse. </a:t>
            </a:r>
          </a:p>
          <a:p>
            <a:pPr algn="l"/>
            <a:r>
              <a:rPr lang="en-US" dirty="0">
                <a:latin typeface="Times New Roman" panose="02020603050405020304" pitchFamily="18" charset="0"/>
              </a:rPr>
              <a:t>Mass </a:t>
            </a:r>
            <a:r>
              <a:rPr lang="en-US" sz="1800" b="0" i="0" u="none" strike="noStrike" baseline="0" dirty="0">
                <a:latin typeface="Times New Roman" panose="02020603050405020304" pitchFamily="18" charset="0"/>
              </a:rPr>
              <a:t>movement of people, such as occurs in pilgrimages, which lends themselves to the transmission of infectious diseases such as cholera and </a:t>
            </a:r>
            <a:r>
              <a:rPr lang="en-US" sz="1800" b="0" i="0" u="none" strike="noStrike" baseline="0" dirty="0" err="1">
                <a:latin typeface="Times New Roman" panose="02020603050405020304" pitchFamily="18" charset="0"/>
              </a:rPr>
              <a:t>diarrhoeal</a:t>
            </a:r>
            <a:r>
              <a:rPr lang="en-US" sz="1800" b="0" i="0" u="none" strike="noStrike" baseline="0" dirty="0">
                <a:latin typeface="Times New Roman" panose="02020603050405020304" pitchFamily="18" charset="0"/>
              </a:rPr>
              <a:t> diseases, insect—borne and sexually transmitted diseases.</a:t>
            </a:r>
          </a:p>
          <a:p>
            <a:pPr algn="l"/>
            <a:endParaRPr lang="en-US" dirty="0">
              <a:latin typeface="Times New Roman" panose="02020603050405020304" pitchFamily="18" charset="0"/>
            </a:endParaRPr>
          </a:p>
          <a:p>
            <a:pPr algn="l"/>
            <a:r>
              <a:rPr lang="en-US" sz="1800" b="0" i="0" u="none" strike="noStrike" baseline="0" dirty="0">
                <a:latin typeface="Times New Roman" panose="02020603050405020304" pitchFamily="18" charset="0"/>
              </a:rPr>
              <a:t>Stress has been shown to affect a variety of variables related to patients response, e.g., susceptibility to disease, exacerbation of symptoms, compliance with medical regimen, etc.</a:t>
            </a:r>
            <a:endParaRPr lang="en-US" dirty="0"/>
          </a:p>
        </p:txBody>
      </p:sp>
    </p:spTree>
    <p:extLst>
      <p:ext uri="{BB962C8B-B14F-4D97-AF65-F5344CB8AC3E}">
        <p14:creationId xmlns:p14="http://schemas.microsoft.com/office/powerpoint/2010/main" val="1418165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B45E-5F68-7B69-7B88-8A4CB6138F1D}"/>
              </a:ext>
            </a:extLst>
          </p:cNvPr>
          <p:cNvSpPr>
            <a:spLocks noGrp="1"/>
          </p:cNvSpPr>
          <p:nvPr>
            <p:ph type="title"/>
          </p:nvPr>
        </p:nvSpPr>
        <p:spPr/>
        <p:txBody>
          <a:bodyPr/>
          <a:lstStyle/>
          <a:p>
            <a:r>
              <a:rPr lang="en-US" dirty="0"/>
              <a:t>Migration</a:t>
            </a:r>
          </a:p>
        </p:txBody>
      </p:sp>
      <p:sp>
        <p:nvSpPr>
          <p:cNvPr id="3" name="Content Placeholder 2">
            <a:extLst>
              <a:ext uri="{FF2B5EF4-FFF2-40B4-BE49-F238E27FC236}">
                <a16:creationId xmlns:a16="http://schemas.microsoft.com/office/drawing/2014/main" id="{E7123650-0A3A-F0E8-43D7-8569322DAB5E}"/>
              </a:ext>
            </a:extLst>
          </p:cNvPr>
          <p:cNvSpPr>
            <a:spLocks noGrp="1"/>
          </p:cNvSpPr>
          <p:nvPr>
            <p:ph idx="1"/>
          </p:nvPr>
        </p:nvSpPr>
        <p:spPr/>
        <p:txBody>
          <a:bodyPr/>
          <a:lstStyle/>
          <a:p>
            <a:pPr algn="l"/>
            <a:r>
              <a:rPr lang="en-US" sz="1800" b="0" i="0" u="none" strike="noStrike" baseline="0" dirty="0">
                <a:latin typeface="Times New Roman" panose="02020603050405020304" pitchFamily="18" charset="0"/>
              </a:rPr>
              <a:t>Human movement may be classified </a:t>
            </a:r>
          </a:p>
          <a:p>
            <a:pPr algn="l"/>
            <a:r>
              <a:rPr lang="en-US" sz="1800" b="0" i="0" u="none" strike="noStrike" baseline="0" dirty="0">
                <a:latin typeface="Times New Roman" panose="02020603050405020304" pitchFamily="18" charset="0"/>
              </a:rPr>
              <a:t>(</a:t>
            </a:r>
            <a:r>
              <a:rPr lang="en-US" sz="1800" b="0" i="0" u="none" strike="noStrike" baseline="0" dirty="0" err="1">
                <a:latin typeface="Times New Roman" panose="02020603050405020304" pitchFamily="18" charset="0"/>
              </a:rPr>
              <a:t>i</a:t>
            </a:r>
            <a:r>
              <a:rPr lang="en-US" sz="1800" b="0" i="0" u="none" strike="noStrike" baseline="0" dirty="0">
                <a:latin typeface="Times New Roman" panose="02020603050405020304" pitchFamily="18" charset="0"/>
              </a:rPr>
              <a:t>) as short-term, long-term, and permanent </a:t>
            </a:r>
          </a:p>
          <a:p>
            <a:pPr algn="l"/>
            <a:r>
              <a:rPr lang="en-US" sz="1800" b="0" i="0" u="none" strike="noStrike" baseline="0" dirty="0">
                <a:latin typeface="Times New Roman" panose="02020603050405020304" pitchFamily="18" charset="0"/>
              </a:rPr>
              <a:t>(ii) according to age, sex, education, occupation, </a:t>
            </a:r>
          </a:p>
          <a:p>
            <a:pPr algn="l"/>
            <a:r>
              <a:rPr lang="en-US" sz="1800" b="0" i="0" u="none" strike="noStrike" baseline="0" dirty="0">
                <a:latin typeface="Times New Roman" panose="02020603050405020304" pitchFamily="18" charset="0"/>
              </a:rPr>
              <a:t>(iii) internal or external </a:t>
            </a:r>
          </a:p>
          <a:p>
            <a:pPr algn="l"/>
            <a:r>
              <a:rPr lang="en-US" sz="1800" b="0" i="0" u="none" strike="noStrike" baseline="0" dirty="0">
                <a:latin typeface="Times New Roman" panose="02020603050405020304" pitchFamily="18" charset="0"/>
              </a:rPr>
              <a:t>(iv) urban versus rural, etc. </a:t>
            </a:r>
          </a:p>
          <a:p>
            <a:pPr algn="l"/>
            <a:r>
              <a:rPr lang="en-US" sz="1800" b="0" i="0" u="none" strike="noStrike" baseline="0" dirty="0">
                <a:latin typeface="Times New Roman" panose="02020603050405020304" pitchFamily="18" charset="0"/>
              </a:rPr>
              <a:t>Migration has presented challenge to control/prevention of disease.</a:t>
            </a:r>
            <a:endParaRPr lang="en-US" dirty="0"/>
          </a:p>
        </p:txBody>
      </p:sp>
    </p:spTree>
    <p:extLst>
      <p:ext uri="{BB962C8B-B14F-4D97-AF65-F5344CB8AC3E}">
        <p14:creationId xmlns:p14="http://schemas.microsoft.com/office/powerpoint/2010/main" val="2800487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st tubes with one test tube in orange with drops">
            <a:extLst>
              <a:ext uri="{FF2B5EF4-FFF2-40B4-BE49-F238E27FC236}">
                <a16:creationId xmlns:a16="http://schemas.microsoft.com/office/drawing/2014/main" id="{7EFCAE87-ED28-B17E-1BF4-5CDBA691CCBD}"/>
              </a:ext>
            </a:extLst>
          </p:cNvPr>
          <p:cNvPicPr>
            <a:picLocks noChangeAspect="1"/>
          </p:cNvPicPr>
          <p:nvPr/>
        </p:nvPicPr>
        <p:blipFill rotWithShape="1">
          <a:blip r:embed="rId2">
            <a:alphaModFix amt="60000"/>
          </a:blip>
          <a:srcRect t="9098" r="-1" b="8463"/>
          <a:stretch/>
        </p:blipFill>
        <p:spPr>
          <a:xfrm>
            <a:off x="20" y="10"/>
            <a:ext cx="12188932" cy="6857990"/>
          </a:xfrm>
          <a:prstGeom prst="rect">
            <a:avLst/>
          </a:prstGeom>
        </p:spPr>
      </p:pic>
      <p:sp>
        <p:nvSpPr>
          <p:cNvPr id="2" name="Title 1">
            <a:extLst>
              <a:ext uri="{FF2B5EF4-FFF2-40B4-BE49-F238E27FC236}">
                <a16:creationId xmlns:a16="http://schemas.microsoft.com/office/drawing/2014/main" id="{A867E7D6-74F7-C649-EA2D-568469D1D49C}"/>
              </a:ext>
            </a:extLst>
          </p:cNvPr>
          <p:cNvSpPr>
            <a:spLocks noGrp="1"/>
          </p:cNvSpPr>
          <p:nvPr>
            <p:ph type="title"/>
          </p:nvPr>
        </p:nvSpPr>
        <p:spPr>
          <a:xfrm>
            <a:off x="2251967" y="77022"/>
            <a:ext cx="7685037" cy="1325563"/>
          </a:xfrm>
        </p:spPr>
        <p:txBody>
          <a:bodyPr>
            <a:normAutofit/>
          </a:bodyPr>
          <a:lstStyle/>
          <a:p>
            <a:r>
              <a:rPr lang="en-US" dirty="0">
                <a:solidFill>
                  <a:schemeClr val="tx1"/>
                </a:solidFill>
              </a:rPr>
              <a:t>Measurement of disease</a:t>
            </a:r>
          </a:p>
        </p:txBody>
      </p:sp>
      <p:sp>
        <p:nvSpPr>
          <p:cNvPr id="3" name="Content Placeholder 2">
            <a:extLst>
              <a:ext uri="{FF2B5EF4-FFF2-40B4-BE49-F238E27FC236}">
                <a16:creationId xmlns:a16="http://schemas.microsoft.com/office/drawing/2014/main" id="{CCC13244-734B-948C-4F32-9ABE22A7AAD7}"/>
              </a:ext>
            </a:extLst>
          </p:cNvPr>
          <p:cNvSpPr>
            <a:spLocks noGrp="1"/>
          </p:cNvSpPr>
          <p:nvPr>
            <p:ph idx="1"/>
          </p:nvPr>
        </p:nvSpPr>
        <p:spPr>
          <a:xfrm>
            <a:off x="457200" y="2096713"/>
            <a:ext cx="11178244" cy="4080250"/>
          </a:xfrm>
        </p:spPr>
        <p:txBody>
          <a:bodyPr>
            <a:normAutofit/>
          </a:bodyPr>
          <a:lstStyle/>
          <a:p>
            <a:r>
              <a:rPr lang="en-US" sz="3600" b="0" i="0" u="none" strike="noStrike" baseline="0" dirty="0">
                <a:solidFill>
                  <a:schemeClr val="tx1"/>
                </a:solidFill>
                <a:latin typeface="Times New Roman" panose="02020603050405020304" pitchFamily="18" charset="0"/>
              </a:rPr>
              <a:t>Available in terms of mortality, morbidity, disability, </a:t>
            </a:r>
            <a:r>
              <a:rPr lang="en-US" sz="3600" b="0" i="0" u="none" strike="noStrike" baseline="0" dirty="0" err="1">
                <a:solidFill>
                  <a:schemeClr val="tx1"/>
                </a:solidFill>
                <a:latin typeface="Times New Roman" panose="02020603050405020304" pitchFamily="18" charset="0"/>
              </a:rPr>
              <a:t>etc</a:t>
            </a:r>
            <a:endParaRPr lang="en-US" sz="3600" b="0" i="0" u="none" strike="noStrike" baseline="0" dirty="0">
              <a:solidFill>
                <a:schemeClr val="tx1"/>
              </a:solidFill>
              <a:latin typeface="Times New Roman" panose="02020603050405020304" pitchFamily="18" charset="0"/>
            </a:endParaRPr>
          </a:p>
          <a:p>
            <a:r>
              <a:rPr lang="en-US" sz="3600" b="0" i="0" u="none" strike="noStrike" baseline="0" dirty="0">
                <a:solidFill>
                  <a:schemeClr val="tx1"/>
                </a:solidFill>
                <a:latin typeface="Times New Roman" panose="02020603050405020304" pitchFamily="18" charset="0"/>
              </a:rPr>
              <a:t>Should be available for different subgroups</a:t>
            </a:r>
          </a:p>
          <a:p>
            <a:r>
              <a:rPr lang="en-US" sz="3600" b="0" i="0" u="none" strike="noStrike" baseline="0" dirty="0">
                <a:solidFill>
                  <a:schemeClr val="tx1"/>
                </a:solidFill>
                <a:latin typeface="Times New Roman" panose="02020603050405020304" pitchFamily="18" charset="0"/>
              </a:rPr>
              <a:t>Morbidity has two aspects - incidence and prevalence </a:t>
            </a:r>
          </a:p>
          <a:p>
            <a:r>
              <a:rPr lang="en-US" sz="3600" b="0" i="0" u="none" strike="noStrike" baseline="0" dirty="0">
                <a:solidFill>
                  <a:schemeClr val="tx1"/>
                </a:solidFill>
                <a:latin typeface="Times New Roman" panose="02020603050405020304" pitchFamily="18" charset="0"/>
              </a:rPr>
              <a:t>Incidence  - “longitudinal” studies</a:t>
            </a:r>
          </a:p>
          <a:p>
            <a:r>
              <a:rPr lang="en-US" sz="3600" b="0" i="0" u="none" strike="noStrike" baseline="0" dirty="0">
                <a:solidFill>
                  <a:schemeClr val="tx1"/>
                </a:solidFill>
                <a:latin typeface="Times New Roman" panose="02020603050405020304" pitchFamily="18" charset="0"/>
              </a:rPr>
              <a:t>Prevalence - “cross-sectional” studies. </a:t>
            </a:r>
          </a:p>
        </p:txBody>
      </p:sp>
    </p:spTree>
    <p:extLst>
      <p:ext uri="{BB962C8B-B14F-4D97-AF65-F5344CB8AC3E}">
        <p14:creationId xmlns:p14="http://schemas.microsoft.com/office/powerpoint/2010/main" val="4270413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185B6-D440-6F89-FB58-0C2B515A7B58}"/>
              </a:ext>
            </a:extLst>
          </p:cNvPr>
          <p:cNvSpPr>
            <a:spLocks noGrp="1"/>
          </p:cNvSpPr>
          <p:nvPr>
            <p:ph type="title"/>
          </p:nvPr>
        </p:nvSpPr>
        <p:spPr>
          <a:xfrm>
            <a:off x="2251957" y="317751"/>
            <a:ext cx="7685037" cy="747627"/>
          </a:xfrm>
        </p:spPr>
        <p:txBody>
          <a:bodyPr>
            <a:normAutofit/>
          </a:bodyPr>
          <a:lstStyle/>
          <a:p>
            <a:r>
              <a:rPr lang="en-US" dirty="0"/>
              <a:t>Cross-sectional studies</a:t>
            </a:r>
          </a:p>
        </p:txBody>
      </p:sp>
      <p:sp>
        <p:nvSpPr>
          <p:cNvPr id="3" name="Content Placeholder 2">
            <a:extLst>
              <a:ext uri="{FF2B5EF4-FFF2-40B4-BE49-F238E27FC236}">
                <a16:creationId xmlns:a16="http://schemas.microsoft.com/office/drawing/2014/main" id="{AECDE949-BC73-180E-D135-D766E90E83CC}"/>
              </a:ext>
            </a:extLst>
          </p:cNvPr>
          <p:cNvSpPr>
            <a:spLocks noGrp="1"/>
          </p:cNvSpPr>
          <p:nvPr>
            <p:ph idx="1"/>
          </p:nvPr>
        </p:nvSpPr>
        <p:spPr>
          <a:xfrm>
            <a:off x="162062" y="2018631"/>
            <a:ext cx="8753904" cy="2800112"/>
          </a:xfrm>
        </p:spPr>
        <p:txBody>
          <a:bodyPr>
            <a:normAutofit/>
          </a:bodyPr>
          <a:lstStyle/>
          <a:p>
            <a:r>
              <a:rPr lang="en-US" sz="2400" b="0" i="0" u="none" strike="noStrike" baseline="0" dirty="0">
                <a:latin typeface="Times New Roman" panose="02020603050405020304" pitchFamily="18" charset="0"/>
              </a:rPr>
              <a:t>Simplest form of an observational study. </a:t>
            </a:r>
          </a:p>
          <a:p>
            <a:r>
              <a:rPr lang="en-US" sz="2400" b="0" i="0" u="none" strike="noStrike" baseline="0" dirty="0">
                <a:latin typeface="Times New Roman" panose="02020603050405020304" pitchFamily="18" charset="0"/>
              </a:rPr>
              <a:t>It is based on a single examination of a cross-section of population at one point in time </a:t>
            </a:r>
          </a:p>
          <a:p>
            <a:r>
              <a:rPr lang="en-US" sz="2400" b="0" i="0" u="none" strike="noStrike" baseline="0" dirty="0">
                <a:latin typeface="Times New Roman" panose="02020603050405020304" pitchFamily="18" charset="0"/>
              </a:rPr>
              <a:t>Results of which can be projected on the whole population provided the sampling has been done correctly. </a:t>
            </a:r>
          </a:p>
          <a:p>
            <a:r>
              <a:rPr lang="en-US" sz="2400" b="0" i="0" u="none" strike="noStrike" baseline="0" dirty="0">
                <a:latin typeface="Times New Roman" panose="02020603050405020304" pitchFamily="18" charset="0"/>
              </a:rPr>
              <a:t>Cross-sectional study is also known as “prevalence study”.</a:t>
            </a:r>
          </a:p>
        </p:txBody>
      </p:sp>
    </p:spTree>
    <p:extLst>
      <p:ext uri="{BB962C8B-B14F-4D97-AF65-F5344CB8AC3E}">
        <p14:creationId xmlns:p14="http://schemas.microsoft.com/office/powerpoint/2010/main" val="4239410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185B6-D440-6F89-FB58-0C2B515A7B58}"/>
              </a:ext>
            </a:extLst>
          </p:cNvPr>
          <p:cNvSpPr>
            <a:spLocks noGrp="1"/>
          </p:cNvSpPr>
          <p:nvPr>
            <p:ph type="title"/>
          </p:nvPr>
        </p:nvSpPr>
        <p:spPr>
          <a:xfrm>
            <a:off x="2251957" y="317751"/>
            <a:ext cx="7685037" cy="747627"/>
          </a:xfrm>
        </p:spPr>
        <p:txBody>
          <a:bodyPr>
            <a:normAutofit/>
          </a:bodyPr>
          <a:lstStyle/>
          <a:p>
            <a:r>
              <a:rPr lang="en-US" dirty="0"/>
              <a:t>Cross-sectional studies</a:t>
            </a:r>
          </a:p>
        </p:txBody>
      </p:sp>
      <p:sp>
        <p:nvSpPr>
          <p:cNvPr id="3" name="Content Placeholder 2">
            <a:extLst>
              <a:ext uri="{FF2B5EF4-FFF2-40B4-BE49-F238E27FC236}">
                <a16:creationId xmlns:a16="http://schemas.microsoft.com/office/drawing/2014/main" id="{AECDE949-BC73-180E-D135-D766E90E83CC}"/>
              </a:ext>
            </a:extLst>
          </p:cNvPr>
          <p:cNvSpPr>
            <a:spLocks noGrp="1"/>
          </p:cNvSpPr>
          <p:nvPr>
            <p:ph idx="1"/>
          </p:nvPr>
        </p:nvSpPr>
        <p:spPr>
          <a:xfrm>
            <a:off x="162062" y="1383129"/>
            <a:ext cx="8753904" cy="5157120"/>
          </a:xfrm>
        </p:spPr>
        <p:txBody>
          <a:bodyPr>
            <a:normAutofit/>
          </a:bodyPr>
          <a:lstStyle/>
          <a:p>
            <a:r>
              <a:rPr lang="en-US" sz="2400" b="0" i="0" u="none" strike="noStrike" baseline="0" dirty="0">
                <a:highlight>
                  <a:srgbClr val="800000"/>
                </a:highlight>
                <a:latin typeface="Times New Roman" panose="02020603050405020304" pitchFamily="18" charset="0"/>
              </a:rPr>
              <a:t>More useful for chronic </a:t>
            </a:r>
            <a:r>
              <a:rPr lang="en-US" sz="2400" b="0" i="0" u="none" strike="noStrike" baseline="0" dirty="0">
                <a:latin typeface="Times New Roman" panose="02020603050405020304" pitchFamily="18" charset="0"/>
              </a:rPr>
              <a:t>than short-lived diseases.</a:t>
            </a:r>
          </a:p>
          <a:p>
            <a:r>
              <a:rPr lang="en-US" sz="2400" b="0" i="0" u="none" strike="noStrike" baseline="0" dirty="0">
                <a:latin typeface="Times New Roman" panose="02020603050405020304" pitchFamily="18" charset="0"/>
              </a:rPr>
              <a:t>In a study of hypertension, we can also collect data during the survey about age, sex, physical exercise, body weight, salt intake and other variables of interest. </a:t>
            </a:r>
          </a:p>
          <a:p>
            <a:r>
              <a:rPr lang="en-US" sz="2400" b="0" i="0" u="none" strike="noStrike" baseline="0" dirty="0">
                <a:latin typeface="Times New Roman" panose="02020603050405020304" pitchFamily="18" charset="0"/>
              </a:rPr>
              <a:t>We can determine how prevention of hypertension is related to certain variables simultaneously measured. </a:t>
            </a:r>
          </a:p>
          <a:p>
            <a:r>
              <a:rPr lang="en-US" sz="2400" b="0" i="0" u="none" strike="noStrike" baseline="0" dirty="0">
                <a:latin typeface="Times New Roman" panose="02020603050405020304" pitchFamily="18" charset="0"/>
              </a:rPr>
              <a:t>Study tells us about the </a:t>
            </a:r>
            <a:r>
              <a:rPr lang="en-US" sz="2400" b="0" i="0" u="none" strike="noStrike" baseline="0" dirty="0">
                <a:highlight>
                  <a:srgbClr val="800000"/>
                </a:highlight>
                <a:latin typeface="Times New Roman" panose="02020603050405020304" pitchFamily="18" charset="0"/>
              </a:rPr>
              <a:t>distribution of a disease in population</a:t>
            </a:r>
            <a:r>
              <a:rPr lang="en-US" sz="2400" b="0" i="0" u="none" strike="noStrike" baseline="0" dirty="0">
                <a:latin typeface="Times New Roman" panose="02020603050405020304" pitchFamily="18" charset="0"/>
              </a:rPr>
              <a:t> rather than its </a:t>
            </a:r>
            <a:r>
              <a:rPr lang="en-US" sz="2400" b="0" i="0" u="none" strike="noStrike" baseline="0" dirty="0" err="1">
                <a:latin typeface="Times New Roman" panose="02020603050405020304" pitchFamily="18" charset="0"/>
              </a:rPr>
              <a:t>aetiology</a:t>
            </a:r>
            <a:r>
              <a:rPr lang="en-US" sz="2400" b="0" i="0" u="none" strike="noStrike" baseline="0" dirty="0">
                <a:latin typeface="Times New Roman" panose="02020603050405020304" pitchFamily="18" charset="0"/>
              </a:rPr>
              <a:t>.</a:t>
            </a:r>
            <a:endParaRPr lang="en-US" sz="2400" dirty="0"/>
          </a:p>
        </p:txBody>
      </p:sp>
    </p:spTree>
    <p:extLst>
      <p:ext uri="{BB962C8B-B14F-4D97-AF65-F5344CB8AC3E}">
        <p14:creationId xmlns:p14="http://schemas.microsoft.com/office/powerpoint/2010/main" val="3790104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DB25B-D5BB-2061-4F68-94AF3C6670FE}"/>
              </a:ext>
            </a:extLst>
          </p:cNvPr>
          <p:cNvSpPr>
            <a:spLocks noGrp="1"/>
          </p:cNvSpPr>
          <p:nvPr>
            <p:ph type="title"/>
          </p:nvPr>
        </p:nvSpPr>
        <p:spPr>
          <a:xfrm>
            <a:off x="651089" y="213521"/>
            <a:ext cx="4640729" cy="647817"/>
          </a:xfrm>
        </p:spPr>
        <p:txBody>
          <a:bodyPr anchor="b">
            <a:normAutofit/>
          </a:bodyPr>
          <a:lstStyle/>
          <a:p>
            <a:r>
              <a:rPr lang="en-US" dirty="0"/>
              <a:t>Limitations</a:t>
            </a:r>
          </a:p>
        </p:txBody>
      </p:sp>
      <p:sp>
        <p:nvSpPr>
          <p:cNvPr id="3" name="Content Placeholder 2">
            <a:extLst>
              <a:ext uri="{FF2B5EF4-FFF2-40B4-BE49-F238E27FC236}">
                <a16:creationId xmlns:a16="http://schemas.microsoft.com/office/drawing/2014/main" id="{219E7CAC-CBB2-50EE-9C03-5994F7B7C799}"/>
              </a:ext>
            </a:extLst>
          </p:cNvPr>
          <p:cNvSpPr>
            <a:spLocks noGrp="1"/>
          </p:cNvSpPr>
          <p:nvPr>
            <p:ph idx="1"/>
          </p:nvPr>
        </p:nvSpPr>
        <p:spPr>
          <a:xfrm>
            <a:off x="-3048" y="1406770"/>
            <a:ext cx="5536550" cy="4766816"/>
          </a:xfrm>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Cannot establish causality</a:t>
            </a:r>
          </a:p>
          <a:p>
            <a:r>
              <a:rPr lang="en-US" sz="2400" dirty="0">
                <a:latin typeface="Times New Roman" panose="02020603050405020304" pitchFamily="18" charset="0"/>
                <a:cs typeface="Times New Roman" panose="02020603050405020304" pitchFamily="18" charset="0"/>
              </a:rPr>
              <a:t>Selection bias</a:t>
            </a:r>
          </a:p>
          <a:p>
            <a:r>
              <a:rPr lang="en-US" sz="2400" dirty="0">
                <a:latin typeface="Times New Roman" panose="02020603050405020304" pitchFamily="18" charset="0"/>
                <a:cs typeface="Times New Roman" panose="02020603050405020304" pitchFamily="18" charset="0"/>
              </a:rPr>
              <a:t>Information Bias</a:t>
            </a:r>
          </a:p>
          <a:p>
            <a:r>
              <a:rPr lang="en-US" sz="2400" dirty="0">
                <a:latin typeface="Times New Roman" panose="02020603050405020304" pitchFamily="18" charset="0"/>
                <a:cs typeface="Times New Roman" panose="02020603050405020304" pitchFamily="18" charset="0"/>
              </a:rPr>
              <a:t>Measurement bias</a:t>
            </a:r>
          </a:p>
          <a:p>
            <a:r>
              <a:rPr lang="en-US" sz="2400" dirty="0">
                <a:latin typeface="Times New Roman" panose="02020603050405020304" pitchFamily="18" charset="0"/>
                <a:cs typeface="Times New Roman" panose="02020603050405020304" pitchFamily="18" charset="0"/>
              </a:rPr>
              <a:t>Length biased sampling</a:t>
            </a:r>
          </a:p>
          <a:p>
            <a:pPr lvl="1"/>
            <a:r>
              <a:rPr lang="en-US" sz="2400" dirty="0">
                <a:latin typeface="Times New Roman" panose="02020603050405020304" pitchFamily="18" charset="0"/>
                <a:cs typeface="Times New Roman" panose="02020603050405020304" pitchFamily="18" charset="0"/>
              </a:rPr>
              <a:t>Cases over-represented if illness has long duration,</a:t>
            </a:r>
          </a:p>
          <a:p>
            <a:pPr lvl="1"/>
            <a:r>
              <a:rPr lang="en-US" sz="2400" dirty="0">
                <a:latin typeface="Times New Roman" panose="02020603050405020304" pitchFamily="18" charset="0"/>
                <a:cs typeface="Times New Roman" panose="02020603050405020304" pitchFamily="18" charset="0"/>
              </a:rPr>
              <a:t>Underrepresented if illness had short duration</a:t>
            </a:r>
          </a:p>
          <a:p>
            <a:r>
              <a:rPr lang="en-US" sz="2400" dirty="0">
                <a:latin typeface="Times New Roman" panose="02020603050405020304" pitchFamily="18" charset="0"/>
                <a:cs typeface="Times New Roman" panose="02020603050405020304" pitchFamily="18" charset="0"/>
              </a:rPr>
              <a:t>Recall Bias</a:t>
            </a:r>
          </a:p>
          <a:p>
            <a:pPr algn="l"/>
            <a:r>
              <a:rPr lang="en-US" sz="2400" b="0" i="0" u="none" strike="noStrike" baseline="0" dirty="0">
                <a:latin typeface="Times New Roman" panose="02020603050405020304" pitchFamily="18" charset="0"/>
              </a:rPr>
              <a:t>Information about the natural history of disease or about the rate of occurrence of new cases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1026" name="Picture 2" descr="Study design">
            <a:extLst>
              <a:ext uri="{FF2B5EF4-FFF2-40B4-BE49-F238E27FC236}">
                <a16:creationId xmlns:a16="http://schemas.microsoft.com/office/drawing/2014/main" id="{E5B4BB8A-F033-E70B-19E3-F188F5CD96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39326" y="1244130"/>
            <a:ext cx="6079958" cy="4529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615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9815A-987B-2658-8453-83FADCBE205C}"/>
              </a:ext>
            </a:extLst>
          </p:cNvPr>
          <p:cNvSpPr>
            <a:spLocks noGrp="1"/>
          </p:cNvSpPr>
          <p:nvPr>
            <p:ph type="title"/>
          </p:nvPr>
        </p:nvSpPr>
        <p:spPr>
          <a:xfrm>
            <a:off x="2233042" y="628215"/>
            <a:ext cx="5351843" cy="677962"/>
          </a:xfrm>
        </p:spPr>
        <p:txBody>
          <a:bodyPr anchor="b">
            <a:normAutofit/>
          </a:bodyPr>
          <a:lstStyle/>
          <a:p>
            <a:r>
              <a:rPr lang="en-US" dirty="0"/>
              <a:t>Longitudinal studies</a:t>
            </a:r>
          </a:p>
        </p:txBody>
      </p:sp>
      <p:sp>
        <p:nvSpPr>
          <p:cNvPr id="3" name="Content Placeholder 2">
            <a:extLst>
              <a:ext uri="{FF2B5EF4-FFF2-40B4-BE49-F238E27FC236}">
                <a16:creationId xmlns:a16="http://schemas.microsoft.com/office/drawing/2014/main" id="{A8EAC9A8-4C9C-4FF7-C50D-2C6B1B01C381}"/>
              </a:ext>
            </a:extLst>
          </p:cNvPr>
          <p:cNvSpPr>
            <a:spLocks noGrp="1"/>
          </p:cNvSpPr>
          <p:nvPr>
            <p:ph idx="1"/>
          </p:nvPr>
        </p:nvSpPr>
        <p:spPr>
          <a:xfrm>
            <a:off x="130629" y="2271378"/>
            <a:ext cx="6543814" cy="3154860"/>
          </a:xfrm>
        </p:spPr>
        <p:txBody>
          <a:bodyPr>
            <a:normAutofit/>
          </a:bodyPr>
          <a:lstStyle/>
          <a:p>
            <a:r>
              <a:rPr lang="en-US" sz="2400" dirty="0">
                <a:latin typeface="Times New Roman" panose="02020603050405020304" pitchFamily="18" charset="0"/>
                <a:cs typeface="Times New Roman" panose="02020603050405020304" pitchFamily="18" charset="0"/>
              </a:rPr>
              <a:t>Observations are repeated in the same population over a prolonged period of time by means of follow-up examinations. </a:t>
            </a:r>
          </a:p>
          <a:p>
            <a:r>
              <a:rPr lang="en-US" sz="2400" dirty="0">
                <a:latin typeface="Times New Roman" panose="02020603050405020304" pitchFamily="18" charset="0"/>
                <a:cs typeface="Times New Roman" panose="02020603050405020304" pitchFamily="18" charset="0"/>
              </a:rPr>
              <a:t>Cross-sectional studies - photograph, longitudinal studies - cine film. </a:t>
            </a:r>
          </a:p>
          <a:p>
            <a:r>
              <a:rPr lang="en-US" sz="2400" dirty="0">
                <a:latin typeface="Times New Roman" panose="02020603050405020304" pitchFamily="18" charset="0"/>
                <a:cs typeface="Times New Roman" panose="02020603050405020304" pitchFamily="18" charset="0"/>
              </a:rPr>
              <a:t>Study the natural history of disease and its future outcome</a:t>
            </a:r>
          </a:p>
        </p:txBody>
      </p:sp>
      <p:pic>
        <p:nvPicPr>
          <p:cNvPr id="2050" name="Picture 2" descr="Cross-sectional vs longitudinal studies">
            <a:extLst>
              <a:ext uri="{FF2B5EF4-FFF2-40B4-BE49-F238E27FC236}">
                <a16:creationId xmlns:a16="http://schemas.microsoft.com/office/drawing/2014/main" id="{3DA63F63-66B4-96A8-232F-4501746487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731" t="11408" r="4444" b="13050"/>
          <a:stretch/>
        </p:blipFill>
        <p:spPr bwMode="auto">
          <a:xfrm>
            <a:off x="7831005" y="1886747"/>
            <a:ext cx="3161338" cy="321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8884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9815A-987B-2658-8453-83FADCBE205C}"/>
              </a:ext>
            </a:extLst>
          </p:cNvPr>
          <p:cNvSpPr>
            <a:spLocks noGrp="1"/>
          </p:cNvSpPr>
          <p:nvPr>
            <p:ph type="title"/>
          </p:nvPr>
        </p:nvSpPr>
        <p:spPr>
          <a:xfrm>
            <a:off x="2479162" y="542660"/>
            <a:ext cx="5351843" cy="677962"/>
          </a:xfrm>
        </p:spPr>
        <p:txBody>
          <a:bodyPr anchor="b">
            <a:normAutofit/>
          </a:bodyPr>
          <a:lstStyle/>
          <a:p>
            <a:r>
              <a:rPr lang="en-US" dirty="0"/>
              <a:t>Longitudinal studies</a:t>
            </a:r>
          </a:p>
        </p:txBody>
      </p:sp>
      <p:sp>
        <p:nvSpPr>
          <p:cNvPr id="3" name="Content Placeholder 2">
            <a:extLst>
              <a:ext uri="{FF2B5EF4-FFF2-40B4-BE49-F238E27FC236}">
                <a16:creationId xmlns:a16="http://schemas.microsoft.com/office/drawing/2014/main" id="{A8EAC9A8-4C9C-4FF7-C50D-2C6B1B01C381}"/>
              </a:ext>
            </a:extLst>
          </p:cNvPr>
          <p:cNvSpPr>
            <a:spLocks noGrp="1"/>
          </p:cNvSpPr>
          <p:nvPr>
            <p:ph idx="1"/>
          </p:nvPr>
        </p:nvSpPr>
        <p:spPr>
          <a:xfrm>
            <a:off x="90274" y="1820333"/>
            <a:ext cx="6610947" cy="3217333"/>
          </a:xfrm>
        </p:spPr>
        <p:txBody>
          <a:bodyPr>
            <a:normAutofit fontScale="92500"/>
          </a:bodyPr>
          <a:lstStyle/>
          <a:p>
            <a:r>
              <a:rPr lang="en-US" sz="2400" dirty="0">
                <a:latin typeface="Times New Roman" panose="02020603050405020304" pitchFamily="18" charset="0"/>
                <a:cs typeface="Times New Roman" panose="02020603050405020304" pitchFamily="18" charset="0"/>
              </a:rPr>
              <a:t>For identifying risk factors of disease, </a:t>
            </a:r>
          </a:p>
          <a:p>
            <a:r>
              <a:rPr lang="en-US" sz="2400" dirty="0">
                <a:latin typeface="Times New Roman" panose="02020603050405020304" pitchFamily="18" charset="0"/>
                <a:cs typeface="Times New Roman" panose="02020603050405020304" pitchFamily="18" charset="0"/>
              </a:rPr>
              <a:t>For finding out incidence rale or rate of occurrence of new cases of disease in the community. </a:t>
            </a:r>
          </a:p>
          <a:p>
            <a:r>
              <a:rPr lang="en-US" sz="2400" dirty="0">
                <a:latin typeface="Times New Roman" panose="02020603050405020304" pitchFamily="18" charset="0"/>
                <a:cs typeface="Times New Roman" panose="02020603050405020304" pitchFamily="18" charset="0"/>
              </a:rPr>
              <a:t>Longitudinal studies are difficult to organize and more time-consuming than cross-sectional studies.</a:t>
            </a:r>
          </a:p>
          <a:p>
            <a:r>
              <a:rPr lang="en-US" sz="2400" dirty="0">
                <a:latin typeface="Times New Roman" panose="02020603050405020304" pitchFamily="18" charset="0"/>
                <a:cs typeface="Times New Roman" panose="02020603050405020304" pitchFamily="18" charset="0"/>
              </a:rPr>
              <a:t>Measurement can also be extended to health states and events. </a:t>
            </a:r>
          </a:p>
        </p:txBody>
      </p:sp>
      <p:pic>
        <p:nvPicPr>
          <p:cNvPr id="2050" name="Picture 2" descr="Cross-sectional vs longitudinal studies">
            <a:extLst>
              <a:ext uri="{FF2B5EF4-FFF2-40B4-BE49-F238E27FC236}">
                <a16:creationId xmlns:a16="http://schemas.microsoft.com/office/drawing/2014/main" id="{3DA63F63-66B4-96A8-232F-4501746487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731" t="11408" r="4444" b="13050"/>
          <a:stretch/>
        </p:blipFill>
        <p:spPr bwMode="auto">
          <a:xfrm>
            <a:off x="7831005" y="1886747"/>
            <a:ext cx="3161338" cy="321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56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lourful pills stacked to make a bar graph">
            <a:extLst>
              <a:ext uri="{FF2B5EF4-FFF2-40B4-BE49-F238E27FC236}">
                <a16:creationId xmlns:a16="http://schemas.microsoft.com/office/drawing/2014/main" id="{7D6319E1-761D-3C20-2E2D-CF11BD31B0ED}"/>
              </a:ext>
            </a:extLst>
          </p:cNvPr>
          <p:cNvPicPr>
            <a:picLocks noChangeAspect="1"/>
          </p:cNvPicPr>
          <p:nvPr/>
        </p:nvPicPr>
        <p:blipFill rotWithShape="1">
          <a:blip r:embed="rId2">
            <a:alphaModFix amt="60000"/>
          </a:blip>
          <a:srcRect t="17987" r="-1" b="174"/>
          <a:stretch/>
        </p:blipFill>
        <p:spPr>
          <a:xfrm>
            <a:off x="0" y="10"/>
            <a:ext cx="12188932" cy="6857990"/>
          </a:xfrm>
          <a:prstGeom prst="rect">
            <a:avLst/>
          </a:prstGeom>
        </p:spPr>
      </p:pic>
      <p:sp>
        <p:nvSpPr>
          <p:cNvPr id="2" name="Title 1">
            <a:extLst>
              <a:ext uri="{FF2B5EF4-FFF2-40B4-BE49-F238E27FC236}">
                <a16:creationId xmlns:a16="http://schemas.microsoft.com/office/drawing/2014/main" id="{9FE21AC5-3F58-F17C-8D57-7CEED3EE7529}"/>
              </a:ext>
            </a:extLst>
          </p:cNvPr>
          <p:cNvSpPr>
            <a:spLocks noGrp="1"/>
          </p:cNvSpPr>
          <p:nvPr>
            <p:ph type="title"/>
          </p:nvPr>
        </p:nvSpPr>
        <p:spPr>
          <a:xfrm>
            <a:off x="457200" y="205436"/>
            <a:ext cx="7685037" cy="951201"/>
          </a:xfrm>
        </p:spPr>
        <p:txBody>
          <a:bodyPr>
            <a:normAutofit/>
          </a:bodyPr>
          <a:lstStyle/>
          <a:p>
            <a:r>
              <a:rPr lang="en-US" dirty="0">
                <a:solidFill>
                  <a:schemeClr val="tx1"/>
                </a:solidFill>
              </a:rPr>
              <a:t>Comparing known indices</a:t>
            </a:r>
          </a:p>
        </p:txBody>
      </p:sp>
      <p:sp>
        <p:nvSpPr>
          <p:cNvPr id="3" name="Content Placeholder 2">
            <a:extLst>
              <a:ext uri="{FF2B5EF4-FFF2-40B4-BE49-F238E27FC236}">
                <a16:creationId xmlns:a16="http://schemas.microsoft.com/office/drawing/2014/main" id="{BF4D1BC9-88D1-776B-B8F4-9DDFBE1AB220}"/>
              </a:ext>
            </a:extLst>
          </p:cNvPr>
          <p:cNvSpPr>
            <a:spLocks noGrp="1"/>
          </p:cNvSpPr>
          <p:nvPr>
            <p:ph idx="1"/>
          </p:nvPr>
        </p:nvSpPr>
        <p:spPr>
          <a:xfrm>
            <a:off x="162279" y="1362063"/>
            <a:ext cx="9979344" cy="4782063"/>
          </a:xfrm>
        </p:spPr>
        <p:txBody>
          <a:bodyPr>
            <a:normAutofit lnSpcReduction="10000"/>
          </a:bodyPr>
          <a:lstStyle/>
          <a:p>
            <a:r>
              <a:rPr lang="en-US" sz="4000" b="0" i="0" u="none" strike="noStrike" baseline="0" dirty="0">
                <a:latin typeface="Times New Roman" panose="02020603050405020304" pitchFamily="18" charset="0"/>
              </a:rPr>
              <a:t>The essence of epidemiology is to make comparisons and ask questions. </a:t>
            </a:r>
          </a:p>
          <a:p>
            <a:r>
              <a:rPr lang="en-US" sz="4000" b="0" i="0" u="none" strike="noStrike" baseline="0" dirty="0">
                <a:latin typeface="Times New Roman" panose="02020603050405020304" pitchFamily="18" charset="0"/>
              </a:rPr>
              <a:t>By making comparisons between different populations, and subgroups of the same population, it is possible to arrive at clues to disease </a:t>
            </a:r>
            <a:r>
              <a:rPr lang="en-US" sz="4000" b="0" i="0" u="none" strike="noStrike" baseline="0" dirty="0" err="1">
                <a:latin typeface="Times New Roman" panose="02020603050405020304" pitchFamily="18" charset="0"/>
              </a:rPr>
              <a:t>aetiology</a:t>
            </a:r>
            <a:r>
              <a:rPr lang="en-US" sz="4000" b="0" i="0" u="none" strike="noStrike" baseline="0" dirty="0">
                <a:latin typeface="Times New Roman" panose="02020603050405020304" pitchFamily="18" charset="0"/>
              </a:rPr>
              <a:t>. </a:t>
            </a:r>
          </a:p>
          <a:p>
            <a:r>
              <a:rPr lang="en-US" sz="4000" b="0" i="0" u="none" strike="noStrike" baseline="0" dirty="0">
                <a:latin typeface="Times New Roman" panose="02020603050405020304" pitchFamily="18" charset="0"/>
              </a:rPr>
              <a:t>We can also identify or define groups which are at increased risk for certain diseases.</a:t>
            </a:r>
            <a:endParaRPr lang="en-US" sz="4000" dirty="0"/>
          </a:p>
        </p:txBody>
      </p:sp>
    </p:spTree>
    <p:extLst>
      <p:ext uri="{BB962C8B-B14F-4D97-AF65-F5344CB8AC3E}">
        <p14:creationId xmlns:p14="http://schemas.microsoft.com/office/powerpoint/2010/main" val="24683455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3CC93-9C88-D9CC-04B8-10615A899237}"/>
              </a:ext>
            </a:extLst>
          </p:cNvPr>
          <p:cNvSpPr>
            <a:spLocks noGrp="1"/>
          </p:cNvSpPr>
          <p:nvPr>
            <p:ph type="title"/>
          </p:nvPr>
        </p:nvSpPr>
        <p:spPr/>
        <p:txBody>
          <a:bodyPr/>
          <a:lstStyle/>
          <a:p>
            <a:r>
              <a:rPr lang="en-US" dirty="0"/>
              <a:t>Formulation of a hypothesis</a:t>
            </a:r>
          </a:p>
        </p:txBody>
      </p:sp>
      <p:sp>
        <p:nvSpPr>
          <p:cNvPr id="3" name="Content Placeholder 2">
            <a:extLst>
              <a:ext uri="{FF2B5EF4-FFF2-40B4-BE49-F238E27FC236}">
                <a16:creationId xmlns:a16="http://schemas.microsoft.com/office/drawing/2014/main" id="{6C464CCE-681F-54C1-AB1C-0BDFF6FB4D21}"/>
              </a:ext>
            </a:extLst>
          </p:cNvPr>
          <p:cNvSpPr>
            <a:spLocks noGrp="1"/>
          </p:cNvSpPr>
          <p:nvPr>
            <p:ph idx="1"/>
          </p:nvPr>
        </p:nvSpPr>
        <p:spPr/>
        <p:txBody>
          <a:bodyPr>
            <a:normAutofit/>
          </a:bodyPr>
          <a:lstStyle/>
          <a:p>
            <a:pPr algn="l"/>
            <a:r>
              <a:rPr lang="en-US" sz="1800" b="0" i="0" u="none" strike="noStrike" baseline="0" dirty="0">
                <a:latin typeface="Times New Roman" panose="02020603050405020304" pitchFamily="18" charset="0"/>
              </a:rPr>
              <a:t>A hypothesis is a supposition, arrived at from observation or reflection. </a:t>
            </a:r>
          </a:p>
          <a:p>
            <a:pPr algn="l"/>
            <a:r>
              <a:rPr lang="en-US" sz="1800" b="0" i="0" u="none" strike="noStrike" baseline="0" dirty="0">
                <a:latin typeface="Times New Roman" panose="02020603050405020304" pitchFamily="18" charset="0"/>
              </a:rPr>
              <a:t>It can be accepted or rejected, using the techniques of analytical epidemiology. </a:t>
            </a:r>
          </a:p>
          <a:p>
            <a:pPr algn="l"/>
            <a:r>
              <a:rPr lang="en-US" sz="1800" b="0" i="0" u="none" strike="noStrike" baseline="0" dirty="0">
                <a:latin typeface="Times New Roman" panose="02020603050405020304" pitchFamily="18" charset="0"/>
              </a:rPr>
              <a:t>An epidemiological hypothesis should specify the following</a:t>
            </a:r>
            <a:r>
              <a:rPr lang="en-US" sz="1800" b="0" i="1" u="none" strike="noStrike" baseline="0" dirty="0">
                <a:latin typeface="Times New Roman" panose="02020603050405020304" pitchFamily="18" charset="0"/>
              </a:rPr>
              <a:t>:</a:t>
            </a:r>
          </a:p>
          <a:p>
            <a:pPr algn="l"/>
            <a:r>
              <a:rPr lang="en-US" sz="1800" b="0" i="0" u="none" strike="noStrike" baseline="0" dirty="0">
                <a:latin typeface="Times New Roman" panose="02020603050405020304" pitchFamily="18" charset="0"/>
              </a:rPr>
              <a:t>The population - the characteristics of the persons to whom the hypothesis applies</a:t>
            </a:r>
          </a:p>
          <a:p>
            <a:pPr algn="l"/>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specific cause being considered</a:t>
            </a:r>
          </a:p>
          <a:p>
            <a:pPr algn="l"/>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expected outcome - the disease</a:t>
            </a:r>
          </a:p>
          <a:p>
            <a:pPr algn="l"/>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dose-response relationship - the amount of the cause needed to lead to a stated incidence of the effect</a:t>
            </a:r>
          </a:p>
          <a:p>
            <a:pPr algn="l"/>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time-response relationship - the time period that will elapse between exposure to the cause and observation of the effect.</a:t>
            </a:r>
            <a:endParaRPr lang="en-US" dirty="0"/>
          </a:p>
        </p:txBody>
      </p:sp>
    </p:spTree>
    <p:extLst>
      <p:ext uri="{BB962C8B-B14F-4D97-AF65-F5344CB8AC3E}">
        <p14:creationId xmlns:p14="http://schemas.microsoft.com/office/powerpoint/2010/main" val="34266172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28D95-F1AD-199B-DE66-BD3B5F97C2C2}"/>
              </a:ext>
            </a:extLst>
          </p:cNvPr>
          <p:cNvSpPr>
            <a:spLocks noGrp="1"/>
          </p:cNvSpPr>
          <p:nvPr>
            <p:ph type="title"/>
          </p:nvPr>
        </p:nvSpPr>
        <p:spPr>
          <a:xfrm>
            <a:off x="457200" y="668049"/>
            <a:ext cx="11187316" cy="1325563"/>
          </a:xfrm>
        </p:spPr>
        <p:txBody>
          <a:bodyPr>
            <a:normAutofit/>
          </a:bodyPr>
          <a:lstStyle/>
          <a:p>
            <a:r>
              <a:rPr lang="en-US" dirty="0"/>
              <a:t>Research question</a:t>
            </a:r>
          </a:p>
        </p:txBody>
      </p:sp>
      <p:graphicFrame>
        <p:nvGraphicFramePr>
          <p:cNvPr id="5" name="Content Placeholder 2">
            <a:extLst>
              <a:ext uri="{FF2B5EF4-FFF2-40B4-BE49-F238E27FC236}">
                <a16:creationId xmlns:a16="http://schemas.microsoft.com/office/drawing/2014/main" id="{2457DDF4-0A9F-C498-E31C-0745F1C2D091}"/>
              </a:ext>
            </a:extLst>
          </p:cNvPr>
          <p:cNvGraphicFramePr>
            <a:graphicFrameLocks noGrp="1"/>
          </p:cNvGraphicFramePr>
          <p:nvPr>
            <p:ph idx="1"/>
          </p:nvPr>
        </p:nvGraphicFramePr>
        <p:xfrm>
          <a:off x="114301" y="2076450"/>
          <a:ext cx="11953874" cy="4100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37343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814DD-3A55-65CE-4B64-CD114E36D4D9}"/>
              </a:ext>
            </a:extLst>
          </p:cNvPr>
          <p:cNvSpPr>
            <a:spLocks noGrp="1"/>
          </p:cNvSpPr>
          <p:nvPr>
            <p:ph type="title"/>
          </p:nvPr>
        </p:nvSpPr>
        <p:spPr>
          <a:xfrm>
            <a:off x="457200" y="668049"/>
            <a:ext cx="7685037" cy="747627"/>
          </a:xfrm>
        </p:spPr>
        <p:txBody>
          <a:bodyPr>
            <a:normAutofit/>
          </a:bodyPr>
          <a:lstStyle/>
          <a:p>
            <a:r>
              <a:rPr lang="en-US" dirty="0"/>
              <a:t>Uses of descriptive epidemiology</a:t>
            </a:r>
          </a:p>
        </p:txBody>
      </p:sp>
      <p:sp>
        <p:nvSpPr>
          <p:cNvPr id="3" name="Content Placeholder 2">
            <a:extLst>
              <a:ext uri="{FF2B5EF4-FFF2-40B4-BE49-F238E27FC236}">
                <a16:creationId xmlns:a16="http://schemas.microsoft.com/office/drawing/2014/main" id="{9122E629-C89F-AC80-4E61-8B7ADF5A30E7}"/>
              </a:ext>
            </a:extLst>
          </p:cNvPr>
          <p:cNvSpPr>
            <a:spLocks noGrp="1"/>
          </p:cNvSpPr>
          <p:nvPr>
            <p:ph idx="1"/>
          </p:nvPr>
        </p:nvSpPr>
        <p:spPr>
          <a:xfrm>
            <a:off x="197595" y="1711569"/>
            <a:ext cx="9914991" cy="4979352"/>
          </a:xfrm>
        </p:spPr>
        <p:txBody>
          <a:bodyPr>
            <a:normAutofit fontScale="85000" lnSpcReduction="10000"/>
          </a:bodyPr>
          <a:lstStyle/>
          <a:p>
            <a:r>
              <a:rPr lang="en-US" sz="2800" b="0" i="0" u="none" strike="noStrike" baseline="0" dirty="0">
                <a:latin typeface="Times New Roman" panose="02020603050405020304" pitchFamily="18" charset="0"/>
              </a:rPr>
              <a:t>Provide data regarding the magnitude of the disease load and types of disease problems in the community in terms of morbidity and mortality rates and ratios </a:t>
            </a:r>
          </a:p>
          <a:p>
            <a:r>
              <a:rPr lang="en-US" sz="2800" b="0" i="0" u="none" strike="noStrike" baseline="0" dirty="0">
                <a:latin typeface="Times New Roman" panose="02020603050405020304" pitchFamily="18" charset="0"/>
              </a:rPr>
              <a:t>Provide clues to disease </a:t>
            </a:r>
            <a:r>
              <a:rPr lang="en-US" sz="2800" b="0" i="0" u="none" strike="noStrike" baseline="0" dirty="0" err="1">
                <a:latin typeface="Times New Roman" panose="02020603050405020304" pitchFamily="18" charset="0"/>
              </a:rPr>
              <a:t>aetiology</a:t>
            </a:r>
            <a:r>
              <a:rPr lang="en-US" sz="2800" b="0" i="0" u="none" strike="noStrike" baseline="0" dirty="0">
                <a:latin typeface="Times New Roman" panose="02020603050405020304" pitchFamily="18" charset="0"/>
              </a:rPr>
              <a:t>, and help in the formulation of an </a:t>
            </a:r>
            <a:r>
              <a:rPr lang="en-US" sz="2800" b="0" i="0" u="none" strike="noStrike" baseline="0" dirty="0" err="1">
                <a:latin typeface="Times New Roman" panose="02020603050405020304" pitchFamily="18" charset="0"/>
              </a:rPr>
              <a:t>aetiological</a:t>
            </a:r>
            <a:r>
              <a:rPr lang="en-US" sz="2800" b="0" i="0" u="none" strike="noStrike" baseline="0" dirty="0">
                <a:latin typeface="Times New Roman" panose="02020603050405020304" pitchFamily="18" charset="0"/>
              </a:rPr>
              <a:t> hypothesis. </a:t>
            </a:r>
          </a:p>
          <a:p>
            <a:pPr lvl="1"/>
            <a:r>
              <a:rPr lang="en-US" sz="2800" b="0" i="0" u="none" strike="noStrike" baseline="0" dirty="0">
                <a:latin typeface="Times New Roman" panose="02020603050405020304" pitchFamily="18" charset="0"/>
              </a:rPr>
              <a:t>Existence of a possible causal association between a factor and a disease is usually recognized in descriptive studies.  Thus, if the disease is observed to be more frequent in a particular group than in others, hypotheses are formulated to explain the increased frequency. </a:t>
            </a:r>
          </a:p>
          <a:p>
            <a:r>
              <a:rPr lang="en-US" sz="2800" b="0" i="0" u="none" strike="noStrike" baseline="0" dirty="0">
                <a:latin typeface="Times New Roman" panose="02020603050405020304" pitchFamily="18" charset="0"/>
              </a:rPr>
              <a:t>Provide background data for planning, organizing and evaluating preventive and curative services, </a:t>
            </a:r>
          </a:p>
          <a:p>
            <a:r>
              <a:rPr lang="en-US" sz="2800" b="0" i="0" u="none" strike="noStrike" baseline="0" dirty="0">
                <a:latin typeface="Times New Roman" panose="02020603050405020304" pitchFamily="18" charset="0"/>
              </a:rPr>
              <a:t>They contribute to research by describing variations in disease occurrence by time, place and person,</a:t>
            </a:r>
            <a:endParaRPr lang="en-US" sz="2800" dirty="0"/>
          </a:p>
        </p:txBody>
      </p:sp>
    </p:spTree>
    <p:extLst>
      <p:ext uri="{BB962C8B-B14F-4D97-AF65-F5344CB8AC3E}">
        <p14:creationId xmlns:p14="http://schemas.microsoft.com/office/powerpoint/2010/main" val="1387945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0"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1"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2"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3"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4"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5"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6"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7"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8"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9"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0"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1"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3" name="Group 22">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4"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5"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6"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7"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8"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9"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0"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1"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2"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3"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4"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5"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7" name="Rectangle 36">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41" name="Rectangle 40">
            <a:extLst>
              <a:ext uri="{FF2B5EF4-FFF2-40B4-BE49-F238E27FC236}">
                <a16:creationId xmlns:a16="http://schemas.microsoft.com/office/drawing/2014/main" id="{CADF4631-3C8F-45EE-8D19-4D3E8426B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F291099C-17EE-4E0E-B096-C799750500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44" name="Freeform 11">
              <a:extLst>
                <a:ext uri="{FF2B5EF4-FFF2-40B4-BE49-F238E27FC236}">
                  <a16:creationId xmlns:a16="http://schemas.microsoft.com/office/drawing/2014/main" id="{E21C6221-3E1B-4ABD-8172-FAE995E65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45" name="Freeform 12">
              <a:extLst>
                <a:ext uri="{FF2B5EF4-FFF2-40B4-BE49-F238E27FC236}">
                  <a16:creationId xmlns:a16="http://schemas.microsoft.com/office/drawing/2014/main" id="{D3EF5991-93EA-451F-BB82-1ABC4AC0D2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46" name="Freeform 13">
              <a:extLst>
                <a:ext uri="{FF2B5EF4-FFF2-40B4-BE49-F238E27FC236}">
                  <a16:creationId xmlns:a16="http://schemas.microsoft.com/office/drawing/2014/main" id="{136F96F7-16E6-48A1-A211-0B4A4D0C8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47" name="Freeform 14">
              <a:extLst>
                <a:ext uri="{FF2B5EF4-FFF2-40B4-BE49-F238E27FC236}">
                  <a16:creationId xmlns:a16="http://schemas.microsoft.com/office/drawing/2014/main" id="{5C00D000-7FA5-40C4-AB6A-DE3A61AB8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48" name="Freeform 15">
              <a:extLst>
                <a:ext uri="{FF2B5EF4-FFF2-40B4-BE49-F238E27FC236}">
                  <a16:creationId xmlns:a16="http://schemas.microsoft.com/office/drawing/2014/main" id="{5AAEB880-A03D-4743-9060-D7A846FA6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49" name="Freeform 16">
              <a:extLst>
                <a:ext uri="{FF2B5EF4-FFF2-40B4-BE49-F238E27FC236}">
                  <a16:creationId xmlns:a16="http://schemas.microsoft.com/office/drawing/2014/main" id="{CC64DD68-0B96-4DE9-8FD5-3175E4A3F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50" name="Freeform 17">
              <a:extLst>
                <a:ext uri="{FF2B5EF4-FFF2-40B4-BE49-F238E27FC236}">
                  <a16:creationId xmlns:a16="http://schemas.microsoft.com/office/drawing/2014/main" id="{69118400-C17B-4068-86D3-93CAE7702C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51" name="Freeform 18">
              <a:extLst>
                <a:ext uri="{FF2B5EF4-FFF2-40B4-BE49-F238E27FC236}">
                  <a16:creationId xmlns:a16="http://schemas.microsoft.com/office/drawing/2014/main" id="{117FA22F-CBA8-4CF5-B8CC-2D169B67E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52" name="Freeform 19">
              <a:extLst>
                <a:ext uri="{FF2B5EF4-FFF2-40B4-BE49-F238E27FC236}">
                  <a16:creationId xmlns:a16="http://schemas.microsoft.com/office/drawing/2014/main" id="{8FB2D443-8598-4CEE-AED2-BEF49AA95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53" name="Freeform 20">
              <a:extLst>
                <a:ext uri="{FF2B5EF4-FFF2-40B4-BE49-F238E27FC236}">
                  <a16:creationId xmlns:a16="http://schemas.microsoft.com/office/drawing/2014/main" id="{92593E33-68AF-485D-99D0-080CEA197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54" name="Freeform 21">
              <a:extLst>
                <a:ext uri="{FF2B5EF4-FFF2-40B4-BE49-F238E27FC236}">
                  <a16:creationId xmlns:a16="http://schemas.microsoft.com/office/drawing/2014/main" id="{96A28427-575C-4904-AC4B-3DD62801D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55" name="Freeform 22">
              <a:extLst>
                <a:ext uri="{FF2B5EF4-FFF2-40B4-BE49-F238E27FC236}">
                  <a16:creationId xmlns:a16="http://schemas.microsoft.com/office/drawing/2014/main" id="{782FA736-DE89-4D13-B0A7-3906B32CE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sp>
        <p:nvSpPr>
          <p:cNvPr id="2" name="Title 1">
            <a:extLst>
              <a:ext uri="{FF2B5EF4-FFF2-40B4-BE49-F238E27FC236}">
                <a16:creationId xmlns:a16="http://schemas.microsoft.com/office/drawing/2014/main" id="{9A6499FD-F280-54B5-2C80-7957D64680A9}"/>
              </a:ext>
            </a:extLst>
          </p:cNvPr>
          <p:cNvSpPr>
            <a:spLocks noGrp="1"/>
          </p:cNvSpPr>
          <p:nvPr>
            <p:ph type="title"/>
          </p:nvPr>
        </p:nvSpPr>
        <p:spPr>
          <a:xfrm>
            <a:off x="2589213" y="4529540"/>
            <a:ext cx="8915399" cy="1162423"/>
          </a:xfrm>
        </p:spPr>
        <p:txBody>
          <a:bodyPr vert="horz" lIns="91440" tIns="45720" rIns="91440" bIns="45720" rtlCol="0" anchor="b">
            <a:normAutofit/>
          </a:bodyPr>
          <a:lstStyle/>
          <a:p>
            <a:r>
              <a:rPr lang="en-US" sz="5400"/>
              <a:t>Thanks</a:t>
            </a:r>
          </a:p>
        </p:txBody>
      </p:sp>
      <p:grpSp>
        <p:nvGrpSpPr>
          <p:cNvPr id="57" name="Group 56">
            <a:extLst>
              <a:ext uri="{FF2B5EF4-FFF2-40B4-BE49-F238E27FC236}">
                <a16:creationId xmlns:a16="http://schemas.microsoft.com/office/drawing/2014/main" id="{6A54B62D-FC5C-4E1A-8D8B-279576FE53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58" name="Freeform 27">
              <a:extLst>
                <a:ext uri="{FF2B5EF4-FFF2-40B4-BE49-F238E27FC236}">
                  <a16:creationId xmlns:a16="http://schemas.microsoft.com/office/drawing/2014/main" id="{4706D2CB-CE4C-4F40-B189-FD7BB4466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59" name="Freeform 28">
              <a:extLst>
                <a:ext uri="{FF2B5EF4-FFF2-40B4-BE49-F238E27FC236}">
                  <a16:creationId xmlns:a16="http://schemas.microsoft.com/office/drawing/2014/main" id="{2714CF7E-2DF6-4F91-8BB2-D62E8B549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60" name="Freeform 29">
              <a:extLst>
                <a:ext uri="{FF2B5EF4-FFF2-40B4-BE49-F238E27FC236}">
                  <a16:creationId xmlns:a16="http://schemas.microsoft.com/office/drawing/2014/main" id="{F30DCFE1-624D-4D3C-AC61-757C2FF35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61" name="Freeform 30">
              <a:extLst>
                <a:ext uri="{FF2B5EF4-FFF2-40B4-BE49-F238E27FC236}">
                  <a16:creationId xmlns:a16="http://schemas.microsoft.com/office/drawing/2014/main" id="{BF08ABFE-DD31-4F1F-9520-93CC613CD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62" name="Freeform 31">
              <a:extLst>
                <a:ext uri="{FF2B5EF4-FFF2-40B4-BE49-F238E27FC236}">
                  <a16:creationId xmlns:a16="http://schemas.microsoft.com/office/drawing/2014/main" id="{ADFB2DBD-F00A-4820-876F-4E75F216B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63" name="Freeform 32">
              <a:extLst>
                <a:ext uri="{FF2B5EF4-FFF2-40B4-BE49-F238E27FC236}">
                  <a16:creationId xmlns:a16="http://schemas.microsoft.com/office/drawing/2014/main" id="{3F85387B-5668-4570-BC5C-AA89417C7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64" name="Freeform 33">
              <a:extLst>
                <a:ext uri="{FF2B5EF4-FFF2-40B4-BE49-F238E27FC236}">
                  <a16:creationId xmlns:a16="http://schemas.microsoft.com/office/drawing/2014/main" id="{FEA70EF6-623D-453D-8360-1B0C142A29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65" name="Freeform 34">
              <a:extLst>
                <a:ext uri="{FF2B5EF4-FFF2-40B4-BE49-F238E27FC236}">
                  <a16:creationId xmlns:a16="http://schemas.microsoft.com/office/drawing/2014/main" id="{FE3B449C-A5FE-44B9-A01C-A115C37D3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66" name="Freeform 35">
              <a:extLst>
                <a:ext uri="{FF2B5EF4-FFF2-40B4-BE49-F238E27FC236}">
                  <a16:creationId xmlns:a16="http://schemas.microsoft.com/office/drawing/2014/main" id="{BD672E89-DAB4-41AE-891D-6B6A52B0E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67" name="Freeform 36">
              <a:extLst>
                <a:ext uri="{FF2B5EF4-FFF2-40B4-BE49-F238E27FC236}">
                  <a16:creationId xmlns:a16="http://schemas.microsoft.com/office/drawing/2014/main" id="{C69123C3-F0F9-4AA7-BA7B-9E5E0AF27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68" name="Freeform 37">
              <a:extLst>
                <a:ext uri="{FF2B5EF4-FFF2-40B4-BE49-F238E27FC236}">
                  <a16:creationId xmlns:a16="http://schemas.microsoft.com/office/drawing/2014/main" id="{E10779C5-3DD9-489D-9A2D-EF45B7BE3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69" name="Freeform 38">
              <a:extLst>
                <a:ext uri="{FF2B5EF4-FFF2-40B4-BE49-F238E27FC236}">
                  <a16:creationId xmlns:a16="http://schemas.microsoft.com/office/drawing/2014/main" id="{1D3B4B35-2090-4DA8-ADBE-DD888B4E1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1" name="Rectangle 70">
            <a:extLst>
              <a:ext uri="{FF2B5EF4-FFF2-40B4-BE49-F238E27FC236}">
                <a16:creationId xmlns:a16="http://schemas.microsoft.com/office/drawing/2014/main" id="{46FA917F-43A3-4FA3-A085-59D0DC397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Graphic 5" descr="Smiling Face with No Fill">
            <a:extLst>
              <a:ext uri="{FF2B5EF4-FFF2-40B4-BE49-F238E27FC236}">
                <a16:creationId xmlns:a16="http://schemas.microsoft.com/office/drawing/2014/main" id="{5B08128D-32D7-743A-5C88-AE97C92797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89212" y="640080"/>
            <a:ext cx="3602736" cy="3602736"/>
          </a:xfrm>
          <a:prstGeom prst="rect">
            <a:avLst/>
          </a:prstGeom>
        </p:spPr>
      </p:pic>
      <p:sp>
        <p:nvSpPr>
          <p:cNvPr id="73" name="Freeform 33">
            <a:extLst>
              <a:ext uri="{FF2B5EF4-FFF2-40B4-BE49-F238E27FC236}">
                <a16:creationId xmlns:a16="http://schemas.microsoft.com/office/drawing/2014/main" id="{9CBF007B-8C8C-4F79-B037-9F4C61F9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753578"/>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Tree>
    <p:extLst>
      <p:ext uri="{BB962C8B-B14F-4D97-AF65-F5344CB8AC3E}">
        <p14:creationId xmlns:p14="http://schemas.microsoft.com/office/powerpoint/2010/main" val="372866713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265</TotalTime>
  <Words>3110</Words>
  <Application>Microsoft Office PowerPoint</Application>
  <PresentationFormat>Widescreen</PresentationFormat>
  <Paragraphs>237</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Century Gothic</vt:lpstr>
      <vt:lpstr>Times New Roman</vt:lpstr>
      <vt:lpstr>Wingdings 3</vt:lpstr>
      <vt:lpstr>Wisp</vt:lpstr>
      <vt:lpstr>Descriptive Epidemiology</vt:lpstr>
      <vt:lpstr>PowerPoint Presentation</vt:lpstr>
      <vt:lpstr>MCQ - 1</vt:lpstr>
      <vt:lpstr>MCQ - 2</vt:lpstr>
      <vt:lpstr>MCQ - 3</vt:lpstr>
      <vt:lpstr>MCQ - 4</vt:lpstr>
      <vt:lpstr>MCQ - 5</vt:lpstr>
      <vt:lpstr>MCQ - 1</vt:lpstr>
      <vt:lpstr>MCQ - 2</vt:lpstr>
      <vt:lpstr>MCQ - 3</vt:lpstr>
      <vt:lpstr>MCQ -4 </vt:lpstr>
      <vt:lpstr>MCQ - 5</vt:lpstr>
      <vt:lpstr>Place distribution</vt:lpstr>
      <vt:lpstr>International variations</vt:lpstr>
      <vt:lpstr>National Variations</vt:lpstr>
      <vt:lpstr>Rural Urban Variations</vt:lpstr>
      <vt:lpstr>Local Distributions</vt:lpstr>
      <vt:lpstr>John snow spot Map</vt:lpstr>
      <vt:lpstr>PowerPoint Presentation</vt:lpstr>
      <vt:lpstr>Another examples</vt:lpstr>
      <vt:lpstr>Importance</vt:lpstr>
      <vt:lpstr>Migration studies</vt:lpstr>
      <vt:lpstr>Migration studies</vt:lpstr>
      <vt:lpstr>Migration studies</vt:lpstr>
      <vt:lpstr>Migration study - defect</vt:lpstr>
      <vt:lpstr>Person distribution - age</vt:lpstr>
      <vt:lpstr>Sex &amp; Ethnicity</vt:lpstr>
      <vt:lpstr>Marital status</vt:lpstr>
      <vt:lpstr>Occupation &amp; Social class</vt:lpstr>
      <vt:lpstr>Behavior &amp; stress</vt:lpstr>
      <vt:lpstr>Migration</vt:lpstr>
      <vt:lpstr>Measurement of disease</vt:lpstr>
      <vt:lpstr>Cross-sectional studies</vt:lpstr>
      <vt:lpstr>Cross-sectional studies</vt:lpstr>
      <vt:lpstr>Limitations</vt:lpstr>
      <vt:lpstr>Longitudinal studies</vt:lpstr>
      <vt:lpstr>Longitudinal studies</vt:lpstr>
      <vt:lpstr>Comparing known indices</vt:lpstr>
      <vt:lpstr>Formulation of a hypothesis</vt:lpstr>
      <vt:lpstr>Research question</vt:lpstr>
      <vt:lpstr>Uses of descriptive epidemiology</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Epidemiology</dc:title>
  <dc:creator>mukul maheshwari</dc:creator>
  <cp:lastModifiedBy>mukul maheshwari</cp:lastModifiedBy>
  <cp:revision>2</cp:revision>
  <dcterms:created xsi:type="dcterms:W3CDTF">2023-05-29T13:58:04Z</dcterms:created>
  <dcterms:modified xsi:type="dcterms:W3CDTF">2024-04-24T16:32:39Z</dcterms:modified>
</cp:coreProperties>
</file>