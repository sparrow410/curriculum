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660" r:id="rId2"/>
  </p:sldMasterIdLst>
  <p:sldIdLst>
    <p:sldId id="256" r:id="rId3"/>
    <p:sldId id="258" r:id="rId4"/>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p:scale>
          <a:sx n="50" d="100"/>
          <a:sy n="50" d="100"/>
        </p:scale>
        <p:origin x="36" y="1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17152-06BC-4DB0-9E48-2043E2A7929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E72C1C3-B238-49C6-B81A-45B4DB502E4B}">
      <dgm:prSet/>
      <dgm:spPr/>
      <dgm:t>
        <a:bodyPr/>
        <a:lstStyle/>
        <a:p>
          <a:r>
            <a:rPr lang="en-US" b="0" i="0" baseline="0"/>
            <a:t>Selection of study subjects</a:t>
          </a:r>
          <a:endParaRPr lang="en-US"/>
        </a:p>
      </dgm:t>
    </dgm:pt>
    <dgm:pt modelId="{E911D42A-6C4B-44FB-BCE3-F7472454292D}" type="parTrans" cxnId="{E7B4CB2C-B45E-424B-8614-671805B89300}">
      <dgm:prSet/>
      <dgm:spPr/>
      <dgm:t>
        <a:bodyPr/>
        <a:lstStyle/>
        <a:p>
          <a:endParaRPr lang="en-US"/>
        </a:p>
      </dgm:t>
    </dgm:pt>
    <dgm:pt modelId="{70538DBD-EC09-4C00-BCC2-5877E638BE2C}" type="sibTrans" cxnId="{E7B4CB2C-B45E-424B-8614-671805B89300}">
      <dgm:prSet/>
      <dgm:spPr/>
      <dgm:t>
        <a:bodyPr/>
        <a:lstStyle/>
        <a:p>
          <a:endParaRPr lang="en-US"/>
        </a:p>
      </dgm:t>
    </dgm:pt>
    <dgm:pt modelId="{E29C0F4D-22D0-46CA-A20D-6AA165269240}">
      <dgm:prSet/>
      <dgm:spPr/>
      <dgm:t>
        <a:bodyPr/>
        <a:lstStyle/>
        <a:p>
          <a:r>
            <a:rPr lang="en-US" b="0" i="0" baseline="0"/>
            <a:t>Obtaining data on exposure</a:t>
          </a:r>
          <a:endParaRPr lang="en-US"/>
        </a:p>
      </dgm:t>
    </dgm:pt>
    <dgm:pt modelId="{2D8E6480-20C0-414E-9409-D8DEEE67FE5F}" type="parTrans" cxnId="{2A952A89-7B01-43E0-A860-899FFB510FE7}">
      <dgm:prSet/>
      <dgm:spPr/>
      <dgm:t>
        <a:bodyPr/>
        <a:lstStyle/>
        <a:p>
          <a:endParaRPr lang="en-US"/>
        </a:p>
      </dgm:t>
    </dgm:pt>
    <dgm:pt modelId="{CCE3EF6A-415B-47DE-A55C-E9CE54EA8CF1}" type="sibTrans" cxnId="{2A952A89-7B01-43E0-A860-899FFB510FE7}">
      <dgm:prSet/>
      <dgm:spPr/>
      <dgm:t>
        <a:bodyPr/>
        <a:lstStyle/>
        <a:p>
          <a:endParaRPr lang="en-US"/>
        </a:p>
      </dgm:t>
    </dgm:pt>
    <dgm:pt modelId="{0403078A-B543-4754-A7C3-2C427D88F825}">
      <dgm:prSet/>
      <dgm:spPr/>
      <dgm:t>
        <a:bodyPr/>
        <a:lstStyle/>
        <a:p>
          <a:r>
            <a:rPr lang="en-US" b="0" i="0" baseline="0"/>
            <a:t>Selection of comparison groups</a:t>
          </a:r>
          <a:endParaRPr lang="en-US"/>
        </a:p>
      </dgm:t>
    </dgm:pt>
    <dgm:pt modelId="{7EB4D27C-FA5D-4397-B91A-059996154620}" type="parTrans" cxnId="{6DE43A59-5AD6-49E9-8799-17930BA5E3F5}">
      <dgm:prSet/>
      <dgm:spPr/>
      <dgm:t>
        <a:bodyPr/>
        <a:lstStyle/>
        <a:p>
          <a:endParaRPr lang="en-US"/>
        </a:p>
      </dgm:t>
    </dgm:pt>
    <dgm:pt modelId="{B5784C82-3C78-46EA-A6E4-A808E25F830A}" type="sibTrans" cxnId="{6DE43A59-5AD6-49E9-8799-17930BA5E3F5}">
      <dgm:prSet/>
      <dgm:spPr/>
      <dgm:t>
        <a:bodyPr/>
        <a:lstStyle/>
        <a:p>
          <a:endParaRPr lang="en-US"/>
        </a:p>
      </dgm:t>
    </dgm:pt>
    <dgm:pt modelId="{BFC2B0A5-D41C-4441-8F7C-1B297C0B23D1}">
      <dgm:prSet/>
      <dgm:spPr/>
      <dgm:t>
        <a:bodyPr/>
        <a:lstStyle/>
        <a:p>
          <a:r>
            <a:rPr lang="en-US" b="0" i="0" baseline="0"/>
            <a:t>Follow-up</a:t>
          </a:r>
          <a:endParaRPr lang="en-US"/>
        </a:p>
      </dgm:t>
    </dgm:pt>
    <dgm:pt modelId="{9C106EE0-54A4-4643-AE18-6432A43170A3}" type="parTrans" cxnId="{BD716759-92BC-4AD6-9904-3372172C9556}">
      <dgm:prSet/>
      <dgm:spPr/>
      <dgm:t>
        <a:bodyPr/>
        <a:lstStyle/>
        <a:p>
          <a:endParaRPr lang="en-US"/>
        </a:p>
      </dgm:t>
    </dgm:pt>
    <dgm:pt modelId="{281616C1-3B3C-4DFE-8390-2434E4EFC339}" type="sibTrans" cxnId="{BD716759-92BC-4AD6-9904-3372172C9556}">
      <dgm:prSet/>
      <dgm:spPr/>
      <dgm:t>
        <a:bodyPr/>
        <a:lstStyle/>
        <a:p>
          <a:endParaRPr lang="en-US"/>
        </a:p>
      </dgm:t>
    </dgm:pt>
    <dgm:pt modelId="{BB7A5DCD-2ED0-430C-9401-DFEB61B6D4DC}">
      <dgm:prSet/>
      <dgm:spPr/>
      <dgm:t>
        <a:bodyPr/>
        <a:lstStyle/>
        <a:p>
          <a:r>
            <a:rPr lang="en-US" b="0" i="0" baseline="0"/>
            <a:t>Analysis.</a:t>
          </a:r>
          <a:endParaRPr lang="en-US"/>
        </a:p>
      </dgm:t>
    </dgm:pt>
    <dgm:pt modelId="{2F54A3E2-D4FA-4A45-89A8-399198EC3A47}" type="parTrans" cxnId="{AB10F1FC-539F-4514-9757-A7239A27A681}">
      <dgm:prSet/>
      <dgm:spPr/>
      <dgm:t>
        <a:bodyPr/>
        <a:lstStyle/>
        <a:p>
          <a:endParaRPr lang="en-US"/>
        </a:p>
      </dgm:t>
    </dgm:pt>
    <dgm:pt modelId="{BBC455DF-3633-4229-A1AB-9C71B36133A6}" type="sibTrans" cxnId="{AB10F1FC-539F-4514-9757-A7239A27A681}">
      <dgm:prSet/>
      <dgm:spPr/>
      <dgm:t>
        <a:bodyPr/>
        <a:lstStyle/>
        <a:p>
          <a:endParaRPr lang="en-US"/>
        </a:p>
      </dgm:t>
    </dgm:pt>
    <dgm:pt modelId="{B7A94C84-30A2-4B93-AD2D-4A9AEE57B88A}" type="pres">
      <dgm:prSet presAssocID="{EB517152-06BC-4DB0-9E48-2043E2A79294}" presName="vert0" presStyleCnt="0">
        <dgm:presLayoutVars>
          <dgm:dir/>
          <dgm:animOne val="branch"/>
          <dgm:animLvl val="lvl"/>
        </dgm:presLayoutVars>
      </dgm:prSet>
      <dgm:spPr/>
    </dgm:pt>
    <dgm:pt modelId="{1A3CC0DC-CB24-4B29-9AF7-C6E411D97227}" type="pres">
      <dgm:prSet presAssocID="{2E72C1C3-B238-49C6-B81A-45B4DB502E4B}" presName="thickLine" presStyleLbl="alignNode1" presStyleIdx="0" presStyleCnt="5"/>
      <dgm:spPr/>
    </dgm:pt>
    <dgm:pt modelId="{0CBAC9C3-837A-49F2-8FDA-96E902A23153}" type="pres">
      <dgm:prSet presAssocID="{2E72C1C3-B238-49C6-B81A-45B4DB502E4B}" presName="horz1" presStyleCnt="0"/>
      <dgm:spPr/>
    </dgm:pt>
    <dgm:pt modelId="{6ACF89F2-F6EA-4CCE-8F4B-D06E7EF6C86E}" type="pres">
      <dgm:prSet presAssocID="{2E72C1C3-B238-49C6-B81A-45B4DB502E4B}" presName="tx1" presStyleLbl="revTx" presStyleIdx="0" presStyleCnt="5"/>
      <dgm:spPr/>
    </dgm:pt>
    <dgm:pt modelId="{95082ECB-289E-47B0-AC5C-0E17FAB2F8DD}" type="pres">
      <dgm:prSet presAssocID="{2E72C1C3-B238-49C6-B81A-45B4DB502E4B}" presName="vert1" presStyleCnt="0"/>
      <dgm:spPr/>
    </dgm:pt>
    <dgm:pt modelId="{B3E2F5BE-B38E-4886-9E7E-B11B87B81F76}" type="pres">
      <dgm:prSet presAssocID="{E29C0F4D-22D0-46CA-A20D-6AA165269240}" presName="thickLine" presStyleLbl="alignNode1" presStyleIdx="1" presStyleCnt="5"/>
      <dgm:spPr/>
    </dgm:pt>
    <dgm:pt modelId="{DFB864E3-15FB-4EF7-A015-73EA7781D4FC}" type="pres">
      <dgm:prSet presAssocID="{E29C0F4D-22D0-46CA-A20D-6AA165269240}" presName="horz1" presStyleCnt="0"/>
      <dgm:spPr/>
    </dgm:pt>
    <dgm:pt modelId="{AF6BB485-251F-4719-96A5-F458CF9886B5}" type="pres">
      <dgm:prSet presAssocID="{E29C0F4D-22D0-46CA-A20D-6AA165269240}" presName="tx1" presStyleLbl="revTx" presStyleIdx="1" presStyleCnt="5"/>
      <dgm:spPr/>
    </dgm:pt>
    <dgm:pt modelId="{A5600B0D-32F1-477C-AFCD-8917342C2F1D}" type="pres">
      <dgm:prSet presAssocID="{E29C0F4D-22D0-46CA-A20D-6AA165269240}" presName="vert1" presStyleCnt="0"/>
      <dgm:spPr/>
    </dgm:pt>
    <dgm:pt modelId="{2BE85E77-1536-470A-A2C8-A8D4F4C518FB}" type="pres">
      <dgm:prSet presAssocID="{0403078A-B543-4754-A7C3-2C427D88F825}" presName="thickLine" presStyleLbl="alignNode1" presStyleIdx="2" presStyleCnt="5"/>
      <dgm:spPr/>
    </dgm:pt>
    <dgm:pt modelId="{EDD3F696-7A94-4793-8912-887A3D927E26}" type="pres">
      <dgm:prSet presAssocID="{0403078A-B543-4754-A7C3-2C427D88F825}" presName="horz1" presStyleCnt="0"/>
      <dgm:spPr/>
    </dgm:pt>
    <dgm:pt modelId="{64FE94C7-312F-434A-B1E6-EC86E6F02F6F}" type="pres">
      <dgm:prSet presAssocID="{0403078A-B543-4754-A7C3-2C427D88F825}" presName="tx1" presStyleLbl="revTx" presStyleIdx="2" presStyleCnt="5"/>
      <dgm:spPr/>
    </dgm:pt>
    <dgm:pt modelId="{F44CDF05-400E-477E-A3C3-6B5B5897032B}" type="pres">
      <dgm:prSet presAssocID="{0403078A-B543-4754-A7C3-2C427D88F825}" presName="vert1" presStyleCnt="0"/>
      <dgm:spPr/>
    </dgm:pt>
    <dgm:pt modelId="{733BC186-382F-4153-B456-C3BC2B289539}" type="pres">
      <dgm:prSet presAssocID="{BFC2B0A5-D41C-4441-8F7C-1B297C0B23D1}" presName="thickLine" presStyleLbl="alignNode1" presStyleIdx="3" presStyleCnt="5"/>
      <dgm:spPr/>
    </dgm:pt>
    <dgm:pt modelId="{7E4FEA78-59F4-403A-ADB3-7C0DF07676D3}" type="pres">
      <dgm:prSet presAssocID="{BFC2B0A5-D41C-4441-8F7C-1B297C0B23D1}" presName="horz1" presStyleCnt="0"/>
      <dgm:spPr/>
    </dgm:pt>
    <dgm:pt modelId="{D147C2EB-321A-4627-B2F2-6DC2AE01E4A5}" type="pres">
      <dgm:prSet presAssocID="{BFC2B0A5-D41C-4441-8F7C-1B297C0B23D1}" presName="tx1" presStyleLbl="revTx" presStyleIdx="3" presStyleCnt="5"/>
      <dgm:spPr/>
    </dgm:pt>
    <dgm:pt modelId="{691DCD84-F073-4A12-9937-72A50FDBDBC7}" type="pres">
      <dgm:prSet presAssocID="{BFC2B0A5-D41C-4441-8F7C-1B297C0B23D1}" presName="vert1" presStyleCnt="0"/>
      <dgm:spPr/>
    </dgm:pt>
    <dgm:pt modelId="{DBA87043-B7A9-4F77-958C-EFBFFA808490}" type="pres">
      <dgm:prSet presAssocID="{BB7A5DCD-2ED0-430C-9401-DFEB61B6D4DC}" presName="thickLine" presStyleLbl="alignNode1" presStyleIdx="4" presStyleCnt="5"/>
      <dgm:spPr/>
    </dgm:pt>
    <dgm:pt modelId="{47FDE331-0CC4-4215-B9E7-CEF2EA9DFFED}" type="pres">
      <dgm:prSet presAssocID="{BB7A5DCD-2ED0-430C-9401-DFEB61B6D4DC}" presName="horz1" presStyleCnt="0"/>
      <dgm:spPr/>
    </dgm:pt>
    <dgm:pt modelId="{6CF7E3DB-287E-4A9C-84D5-0D9A91B2EAEA}" type="pres">
      <dgm:prSet presAssocID="{BB7A5DCD-2ED0-430C-9401-DFEB61B6D4DC}" presName="tx1" presStyleLbl="revTx" presStyleIdx="4" presStyleCnt="5"/>
      <dgm:spPr/>
    </dgm:pt>
    <dgm:pt modelId="{3AA070BC-9510-440C-A55B-6E963DED554E}" type="pres">
      <dgm:prSet presAssocID="{BB7A5DCD-2ED0-430C-9401-DFEB61B6D4DC}" presName="vert1" presStyleCnt="0"/>
      <dgm:spPr/>
    </dgm:pt>
  </dgm:ptLst>
  <dgm:cxnLst>
    <dgm:cxn modelId="{E7B4CB2C-B45E-424B-8614-671805B89300}" srcId="{EB517152-06BC-4DB0-9E48-2043E2A79294}" destId="{2E72C1C3-B238-49C6-B81A-45B4DB502E4B}" srcOrd="0" destOrd="0" parTransId="{E911D42A-6C4B-44FB-BCE3-F7472454292D}" sibTransId="{70538DBD-EC09-4C00-BCC2-5877E638BE2C}"/>
    <dgm:cxn modelId="{41D6E65B-E106-4282-92C0-800CD90A513D}" type="presOf" srcId="{EB517152-06BC-4DB0-9E48-2043E2A79294}" destId="{B7A94C84-30A2-4B93-AD2D-4A9AEE57B88A}" srcOrd="0" destOrd="0" presId="urn:microsoft.com/office/officeart/2008/layout/LinedList"/>
    <dgm:cxn modelId="{8F3F916F-C9BE-4D2D-8C5F-55472CE5C9C8}" type="presOf" srcId="{BB7A5DCD-2ED0-430C-9401-DFEB61B6D4DC}" destId="{6CF7E3DB-287E-4A9C-84D5-0D9A91B2EAEA}" srcOrd="0" destOrd="0" presId="urn:microsoft.com/office/officeart/2008/layout/LinedList"/>
    <dgm:cxn modelId="{C61B7771-91B3-406D-8653-BB7C359ED6DE}" type="presOf" srcId="{2E72C1C3-B238-49C6-B81A-45B4DB502E4B}" destId="{6ACF89F2-F6EA-4CCE-8F4B-D06E7EF6C86E}" srcOrd="0" destOrd="0" presId="urn:microsoft.com/office/officeart/2008/layout/LinedList"/>
    <dgm:cxn modelId="{32142C77-6ACF-4383-A68B-DB94DDEE26E6}" type="presOf" srcId="{0403078A-B543-4754-A7C3-2C427D88F825}" destId="{64FE94C7-312F-434A-B1E6-EC86E6F02F6F}" srcOrd="0" destOrd="0" presId="urn:microsoft.com/office/officeart/2008/layout/LinedList"/>
    <dgm:cxn modelId="{6DE43A59-5AD6-49E9-8799-17930BA5E3F5}" srcId="{EB517152-06BC-4DB0-9E48-2043E2A79294}" destId="{0403078A-B543-4754-A7C3-2C427D88F825}" srcOrd="2" destOrd="0" parTransId="{7EB4D27C-FA5D-4397-B91A-059996154620}" sibTransId="{B5784C82-3C78-46EA-A6E4-A808E25F830A}"/>
    <dgm:cxn modelId="{BD716759-92BC-4AD6-9904-3372172C9556}" srcId="{EB517152-06BC-4DB0-9E48-2043E2A79294}" destId="{BFC2B0A5-D41C-4441-8F7C-1B297C0B23D1}" srcOrd="3" destOrd="0" parTransId="{9C106EE0-54A4-4643-AE18-6432A43170A3}" sibTransId="{281616C1-3B3C-4DFE-8390-2434E4EFC339}"/>
    <dgm:cxn modelId="{2A952A89-7B01-43E0-A860-899FFB510FE7}" srcId="{EB517152-06BC-4DB0-9E48-2043E2A79294}" destId="{E29C0F4D-22D0-46CA-A20D-6AA165269240}" srcOrd="1" destOrd="0" parTransId="{2D8E6480-20C0-414E-9409-D8DEEE67FE5F}" sibTransId="{CCE3EF6A-415B-47DE-A55C-E9CE54EA8CF1}"/>
    <dgm:cxn modelId="{1EFB00D1-EC08-4BEB-8B46-826C8BEAD088}" type="presOf" srcId="{BFC2B0A5-D41C-4441-8F7C-1B297C0B23D1}" destId="{D147C2EB-321A-4627-B2F2-6DC2AE01E4A5}" srcOrd="0" destOrd="0" presId="urn:microsoft.com/office/officeart/2008/layout/LinedList"/>
    <dgm:cxn modelId="{0DE35CE1-654C-4E13-AA47-89C82D470536}" type="presOf" srcId="{E29C0F4D-22D0-46CA-A20D-6AA165269240}" destId="{AF6BB485-251F-4719-96A5-F458CF9886B5}" srcOrd="0" destOrd="0" presId="urn:microsoft.com/office/officeart/2008/layout/LinedList"/>
    <dgm:cxn modelId="{AB10F1FC-539F-4514-9757-A7239A27A681}" srcId="{EB517152-06BC-4DB0-9E48-2043E2A79294}" destId="{BB7A5DCD-2ED0-430C-9401-DFEB61B6D4DC}" srcOrd="4" destOrd="0" parTransId="{2F54A3E2-D4FA-4A45-89A8-399198EC3A47}" sibTransId="{BBC455DF-3633-4229-A1AB-9C71B36133A6}"/>
    <dgm:cxn modelId="{F2DABB67-CF68-4A28-A31C-C5E19DB5158C}" type="presParOf" srcId="{B7A94C84-30A2-4B93-AD2D-4A9AEE57B88A}" destId="{1A3CC0DC-CB24-4B29-9AF7-C6E411D97227}" srcOrd="0" destOrd="0" presId="urn:microsoft.com/office/officeart/2008/layout/LinedList"/>
    <dgm:cxn modelId="{084C6B46-5854-492B-9A30-46B6573D5032}" type="presParOf" srcId="{B7A94C84-30A2-4B93-AD2D-4A9AEE57B88A}" destId="{0CBAC9C3-837A-49F2-8FDA-96E902A23153}" srcOrd="1" destOrd="0" presId="urn:microsoft.com/office/officeart/2008/layout/LinedList"/>
    <dgm:cxn modelId="{C3CC5B01-43B3-4578-BEF2-C0BB5CA5AB4E}" type="presParOf" srcId="{0CBAC9C3-837A-49F2-8FDA-96E902A23153}" destId="{6ACF89F2-F6EA-4CCE-8F4B-D06E7EF6C86E}" srcOrd="0" destOrd="0" presId="urn:microsoft.com/office/officeart/2008/layout/LinedList"/>
    <dgm:cxn modelId="{19F998D4-C9C7-4067-B103-0AEA4E23699B}" type="presParOf" srcId="{0CBAC9C3-837A-49F2-8FDA-96E902A23153}" destId="{95082ECB-289E-47B0-AC5C-0E17FAB2F8DD}" srcOrd="1" destOrd="0" presId="urn:microsoft.com/office/officeart/2008/layout/LinedList"/>
    <dgm:cxn modelId="{0248823B-A816-431D-A775-D6F1ECBA430A}" type="presParOf" srcId="{B7A94C84-30A2-4B93-AD2D-4A9AEE57B88A}" destId="{B3E2F5BE-B38E-4886-9E7E-B11B87B81F76}" srcOrd="2" destOrd="0" presId="urn:microsoft.com/office/officeart/2008/layout/LinedList"/>
    <dgm:cxn modelId="{AF2638C5-2DA0-4C65-B55B-7DB9A34E10E3}" type="presParOf" srcId="{B7A94C84-30A2-4B93-AD2D-4A9AEE57B88A}" destId="{DFB864E3-15FB-4EF7-A015-73EA7781D4FC}" srcOrd="3" destOrd="0" presId="urn:microsoft.com/office/officeart/2008/layout/LinedList"/>
    <dgm:cxn modelId="{B6C3A468-4AC4-40F7-9979-2AD7C3EC0EA5}" type="presParOf" srcId="{DFB864E3-15FB-4EF7-A015-73EA7781D4FC}" destId="{AF6BB485-251F-4719-96A5-F458CF9886B5}" srcOrd="0" destOrd="0" presId="urn:microsoft.com/office/officeart/2008/layout/LinedList"/>
    <dgm:cxn modelId="{7AFA7971-FA37-4DDA-9C80-4905940862BE}" type="presParOf" srcId="{DFB864E3-15FB-4EF7-A015-73EA7781D4FC}" destId="{A5600B0D-32F1-477C-AFCD-8917342C2F1D}" srcOrd="1" destOrd="0" presId="urn:microsoft.com/office/officeart/2008/layout/LinedList"/>
    <dgm:cxn modelId="{61099A23-32CD-4BD8-A67D-3A41EFD5F333}" type="presParOf" srcId="{B7A94C84-30A2-4B93-AD2D-4A9AEE57B88A}" destId="{2BE85E77-1536-470A-A2C8-A8D4F4C518FB}" srcOrd="4" destOrd="0" presId="urn:microsoft.com/office/officeart/2008/layout/LinedList"/>
    <dgm:cxn modelId="{FF4CFE48-F049-462A-992A-363C84B71638}" type="presParOf" srcId="{B7A94C84-30A2-4B93-AD2D-4A9AEE57B88A}" destId="{EDD3F696-7A94-4793-8912-887A3D927E26}" srcOrd="5" destOrd="0" presId="urn:microsoft.com/office/officeart/2008/layout/LinedList"/>
    <dgm:cxn modelId="{D269EC5A-16E0-498E-8E4B-1EA3957C1BFF}" type="presParOf" srcId="{EDD3F696-7A94-4793-8912-887A3D927E26}" destId="{64FE94C7-312F-434A-B1E6-EC86E6F02F6F}" srcOrd="0" destOrd="0" presId="urn:microsoft.com/office/officeart/2008/layout/LinedList"/>
    <dgm:cxn modelId="{331F8898-2553-406E-A09A-2C736A22E441}" type="presParOf" srcId="{EDD3F696-7A94-4793-8912-887A3D927E26}" destId="{F44CDF05-400E-477E-A3C3-6B5B5897032B}" srcOrd="1" destOrd="0" presId="urn:microsoft.com/office/officeart/2008/layout/LinedList"/>
    <dgm:cxn modelId="{8DB1B4ED-25AF-4D0B-95AF-640454137E6A}" type="presParOf" srcId="{B7A94C84-30A2-4B93-AD2D-4A9AEE57B88A}" destId="{733BC186-382F-4153-B456-C3BC2B289539}" srcOrd="6" destOrd="0" presId="urn:microsoft.com/office/officeart/2008/layout/LinedList"/>
    <dgm:cxn modelId="{7B744C44-CB51-4735-9BCB-CE46C27326B7}" type="presParOf" srcId="{B7A94C84-30A2-4B93-AD2D-4A9AEE57B88A}" destId="{7E4FEA78-59F4-403A-ADB3-7C0DF07676D3}" srcOrd="7" destOrd="0" presId="urn:microsoft.com/office/officeart/2008/layout/LinedList"/>
    <dgm:cxn modelId="{5E4A5F48-6044-472E-AB41-61DC3B8D9714}" type="presParOf" srcId="{7E4FEA78-59F4-403A-ADB3-7C0DF07676D3}" destId="{D147C2EB-321A-4627-B2F2-6DC2AE01E4A5}" srcOrd="0" destOrd="0" presId="urn:microsoft.com/office/officeart/2008/layout/LinedList"/>
    <dgm:cxn modelId="{3A8596CC-ED72-4B2F-85D6-92731FB95F64}" type="presParOf" srcId="{7E4FEA78-59F4-403A-ADB3-7C0DF07676D3}" destId="{691DCD84-F073-4A12-9937-72A50FDBDBC7}" srcOrd="1" destOrd="0" presId="urn:microsoft.com/office/officeart/2008/layout/LinedList"/>
    <dgm:cxn modelId="{9465E0D9-8874-4C31-93A7-6003D424C2D9}" type="presParOf" srcId="{B7A94C84-30A2-4B93-AD2D-4A9AEE57B88A}" destId="{DBA87043-B7A9-4F77-958C-EFBFFA808490}" srcOrd="8" destOrd="0" presId="urn:microsoft.com/office/officeart/2008/layout/LinedList"/>
    <dgm:cxn modelId="{54D9DFD4-6AAD-4C59-83E6-BE304D5CED6B}" type="presParOf" srcId="{B7A94C84-30A2-4B93-AD2D-4A9AEE57B88A}" destId="{47FDE331-0CC4-4215-B9E7-CEF2EA9DFFED}" srcOrd="9" destOrd="0" presId="urn:microsoft.com/office/officeart/2008/layout/LinedList"/>
    <dgm:cxn modelId="{4C6A2630-74BC-462C-8DB6-4AD21068B349}" type="presParOf" srcId="{47FDE331-0CC4-4215-B9E7-CEF2EA9DFFED}" destId="{6CF7E3DB-287E-4A9C-84D5-0D9A91B2EAEA}" srcOrd="0" destOrd="0" presId="urn:microsoft.com/office/officeart/2008/layout/LinedList"/>
    <dgm:cxn modelId="{CC075D2F-ADB8-4FA1-B916-F7B82C9B9785}" type="presParOf" srcId="{47FDE331-0CC4-4215-B9E7-CEF2EA9DFFED}" destId="{3AA070BC-9510-440C-A55B-6E963DED554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CC0DC-CB24-4B29-9AF7-C6E411D97227}">
      <dsp:nvSpPr>
        <dsp:cNvPr id="0" name=""/>
        <dsp:cNvSpPr/>
      </dsp:nvSpPr>
      <dsp:spPr>
        <a:xfrm>
          <a:off x="0" y="729"/>
          <a:ext cx="687951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F89F2-F6EA-4CCE-8F4B-D06E7EF6C86E}">
      <dsp:nvSpPr>
        <dsp:cNvPr id="0" name=""/>
        <dsp:cNvSpPr/>
      </dsp:nvSpPr>
      <dsp:spPr>
        <a:xfrm>
          <a:off x="0" y="729"/>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Selection of study subjects</a:t>
          </a:r>
          <a:endParaRPr lang="en-US" sz="3600" kern="1200"/>
        </a:p>
      </dsp:txBody>
      <dsp:txXfrm>
        <a:off x="0" y="729"/>
        <a:ext cx="6879517" cy="1194354"/>
      </dsp:txXfrm>
    </dsp:sp>
    <dsp:sp modelId="{B3E2F5BE-B38E-4886-9E7E-B11B87B81F76}">
      <dsp:nvSpPr>
        <dsp:cNvPr id="0" name=""/>
        <dsp:cNvSpPr/>
      </dsp:nvSpPr>
      <dsp:spPr>
        <a:xfrm>
          <a:off x="0" y="1195083"/>
          <a:ext cx="6879517" cy="0"/>
        </a:xfrm>
        <a:prstGeom prst="line">
          <a:avLst/>
        </a:prstGeom>
        <a:solidFill>
          <a:schemeClr val="accent2">
            <a:hueOff val="-378161"/>
            <a:satOff val="-2641"/>
            <a:lumOff val="735"/>
            <a:alphaOff val="0"/>
          </a:schemeClr>
        </a:solidFill>
        <a:ln w="12700" cap="flat" cmpd="sng" algn="ctr">
          <a:solidFill>
            <a:schemeClr val="accent2">
              <a:hueOff val="-378161"/>
              <a:satOff val="-2641"/>
              <a:lumOff val="7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6BB485-251F-4719-96A5-F458CF9886B5}">
      <dsp:nvSpPr>
        <dsp:cNvPr id="0" name=""/>
        <dsp:cNvSpPr/>
      </dsp:nvSpPr>
      <dsp:spPr>
        <a:xfrm>
          <a:off x="0" y="1195083"/>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Obtaining data on exposure</a:t>
          </a:r>
          <a:endParaRPr lang="en-US" sz="3600" kern="1200"/>
        </a:p>
      </dsp:txBody>
      <dsp:txXfrm>
        <a:off x="0" y="1195083"/>
        <a:ext cx="6879517" cy="1194354"/>
      </dsp:txXfrm>
    </dsp:sp>
    <dsp:sp modelId="{2BE85E77-1536-470A-A2C8-A8D4F4C518FB}">
      <dsp:nvSpPr>
        <dsp:cNvPr id="0" name=""/>
        <dsp:cNvSpPr/>
      </dsp:nvSpPr>
      <dsp:spPr>
        <a:xfrm>
          <a:off x="0" y="2389437"/>
          <a:ext cx="6879517" cy="0"/>
        </a:xfrm>
        <a:prstGeom prst="line">
          <a:avLst/>
        </a:prstGeom>
        <a:solidFill>
          <a:schemeClr val="accent2">
            <a:hueOff val="-756322"/>
            <a:satOff val="-5282"/>
            <a:lumOff val="1470"/>
            <a:alphaOff val="0"/>
          </a:schemeClr>
        </a:solidFill>
        <a:ln w="12700" cap="flat" cmpd="sng" algn="ctr">
          <a:solidFill>
            <a:schemeClr val="accent2">
              <a:hueOff val="-756322"/>
              <a:satOff val="-5282"/>
              <a:lumOff val="14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FE94C7-312F-434A-B1E6-EC86E6F02F6F}">
      <dsp:nvSpPr>
        <dsp:cNvPr id="0" name=""/>
        <dsp:cNvSpPr/>
      </dsp:nvSpPr>
      <dsp:spPr>
        <a:xfrm>
          <a:off x="0" y="2389437"/>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Selection of comparison groups</a:t>
          </a:r>
          <a:endParaRPr lang="en-US" sz="3600" kern="1200"/>
        </a:p>
      </dsp:txBody>
      <dsp:txXfrm>
        <a:off x="0" y="2389437"/>
        <a:ext cx="6879517" cy="1194354"/>
      </dsp:txXfrm>
    </dsp:sp>
    <dsp:sp modelId="{733BC186-382F-4153-B456-C3BC2B289539}">
      <dsp:nvSpPr>
        <dsp:cNvPr id="0" name=""/>
        <dsp:cNvSpPr/>
      </dsp:nvSpPr>
      <dsp:spPr>
        <a:xfrm>
          <a:off x="0" y="3583792"/>
          <a:ext cx="6879517" cy="0"/>
        </a:xfrm>
        <a:prstGeom prst="line">
          <a:avLst/>
        </a:prstGeom>
        <a:solidFill>
          <a:schemeClr val="accent2">
            <a:hueOff val="-1134483"/>
            <a:satOff val="-7923"/>
            <a:lumOff val="2204"/>
            <a:alphaOff val="0"/>
          </a:schemeClr>
        </a:solidFill>
        <a:ln w="12700" cap="flat" cmpd="sng" algn="ctr">
          <a:solidFill>
            <a:schemeClr val="accent2">
              <a:hueOff val="-1134483"/>
              <a:satOff val="-7923"/>
              <a:lumOff val="22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47C2EB-321A-4627-B2F2-6DC2AE01E4A5}">
      <dsp:nvSpPr>
        <dsp:cNvPr id="0" name=""/>
        <dsp:cNvSpPr/>
      </dsp:nvSpPr>
      <dsp:spPr>
        <a:xfrm>
          <a:off x="0" y="3583792"/>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Follow-up</a:t>
          </a:r>
          <a:endParaRPr lang="en-US" sz="3600" kern="1200"/>
        </a:p>
      </dsp:txBody>
      <dsp:txXfrm>
        <a:off x="0" y="3583792"/>
        <a:ext cx="6879517" cy="1194354"/>
      </dsp:txXfrm>
    </dsp:sp>
    <dsp:sp modelId="{DBA87043-B7A9-4F77-958C-EFBFFA808490}">
      <dsp:nvSpPr>
        <dsp:cNvPr id="0" name=""/>
        <dsp:cNvSpPr/>
      </dsp:nvSpPr>
      <dsp:spPr>
        <a:xfrm>
          <a:off x="0" y="4778146"/>
          <a:ext cx="6879517" cy="0"/>
        </a:xfrm>
        <a:prstGeom prst="line">
          <a:avLst/>
        </a:prstGeom>
        <a:solidFill>
          <a:schemeClr val="accent2">
            <a:hueOff val="-1512643"/>
            <a:satOff val="-10564"/>
            <a:lumOff val="2939"/>
            <a:alphaOff val="0"/>
          </a:schemeClr>
        </a:solidFill>
        <a:ln w="12700" cap="flat" cmpd="sng" algn="ctr">
          <a:solidFill>
            <a:schemeClr val="accent2">
              <a:hueOff val="-1512643"/>
              <a:satOff val="-10564"/>
              <a:lumOff val="29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F7E3DB-287E-4A9C-84D5-0D9A91B2EAEA}">
      <dsp:nvSpPr>
        <dsp:cNvPr id="0" name=""/>
        <dsp:cNvSpPr/>
      </dsp:nvSpPr>
      <dsp:spPr>
        <a:xfrm>
          <a:off x="0" y="4778146"/>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Analysis.</a:t>
          </a:r>
          <a:endParaRPr lang="en-US" sz="3600" kern="1200"/>
        </a:p>
      </dsp:txBody>
      <dsp:txXfrm>
        <a:off x="0" y="4778146"/>
        <a:ext cx="6879517" cy="11943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6/26/2023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4375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6/26/2023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09619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6/26/2023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54208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6/26/2023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80810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6/26/2023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2702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6/26/2023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3677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6/26/2023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41677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6/26/2023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92948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6/26/2023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3540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6/26/2023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2086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6/26/2023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49941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6/26/2023</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7396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6/26/2023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6495545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6/26/2023</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51374745"/>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3">
            <a:extLst>
              <a:ext uri="{FF2B5EF4-FFF2-40B4-BE49-F238E27FC236}">
                <a16:creationId xmlns:a16="http://schemas.microsoft.com/office/drawing/2014/main" id="{0FFA8FED-7032-D7DA-8104-6E0D3F2E9BA8}"/>
              </a:ext>
            </a:extLst>
          </p:cNvPr>
          <p:cNvPicPr>
            <a:picLocks noChangeAspect="1"/>
          </p:cNvPicPr>
          <p:nvPr/>
        </p:nvPicPr>
        <p:blipFill rotWithShape="1">
          <a:blip r:embed="rId2"/>
          <a:srcRect t="10958" r="-1" b="1136"/>
          <a:stretch/>
        </p:blipFill>
        <p:spPr>
          <a:xfrm>
            <a:off x="3523488" y="10"/>
            <a:ext cx="8668512" cy="6857990"/>
          </a:xfrm>
          <a:prstGeom prst="rect">
            <a:avLst/>
          </a:prstGeom>
        </p:spPr>
      </p:pic>
      <p:sp>
        <p:nvSpPr>
          <p:cNvPr id="55" name="Rectangle 54">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9B43FF-80EA-E1A8-5723-54B10E6C7517}"/>
              </a:ext>
            </a:extLst>
          </p:cNvPr>
          <p:cNvSpPr>
            <a:spLocks noGrp="1"/>
          </p:cNvSpPr>
          <p:nvPr>
            <p:ph type="ctrTitle"/>
          </p:nvPr>
        </p:nvSpPr>
        <p:spPr>
          <a:xfrm>
            <a:off x="477981" y="1122363"/>
            <a:ext cx="4023360" cy="3204134"/>
          </a:xfrm>
        </p:spPr>
        <p:txBody>
          <a:bodyPr anchor="b">
            <a:normAutofit/>
          </a:bodyPr>
          <a:lstStyle/>
          <a:p>
            <a:r>
              <a:rPr lang="en-US" sz="4800"/>
              <a:t>Cohort study</a:t>
            </a:r>
          </a:p>
        </p:txBody>
      </p:sp>
      <p:sp>
        <p:nvSpPr>
          <p:cNvPr id="57" name="Rectangle 5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8666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4D45BF-E397-40C0-AFE3-A4149E60E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35F4CD44-7930-4EB8-9A74-8D2F9E636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6F1268F0-44F7-4AC9-A3E6-9527C22F30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880B23C-29A4-4D11-8671-EE46FECE7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2CF28E-44F6-4983-9729-A705B8709B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11666B-80E2-4F7D-9613-17A65CBC1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BFAC7C-C1E8-4988-864D-3B05D3006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2EE5A4C-9245-46EB-B145-8FDFBE6E1A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FEDEDB-B657-4E62-9962-28BF541220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5EFAA5-5243-4FE8-819B-80D4995BB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92E633-809E-4E07-965A-F2F9EDCF7F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DE1690-3F94-4C79-9357-6653BEEF1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9D5DF-1A9E-4690-B016-03FB1E72DC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F8E2D2-E88C-4F73-A660-D2B76298C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37BF3BB-FE7A-410E-AA57-73485A775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EC5EB5-F6E1-441C-AB44-799A5DF1B7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6F199F-9E76-4C7E-9DF6-20EE550DFE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1704E7-976B-4FE0-9381-8EB7818E7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5603A9-61D4-4172-AF77-7A7CE408A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3C1AA7-2357-41A1-A057-FA2D44DAD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0024205-8F58-4C8D-BE50-35E40091B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737BEEA-3398-4C1B-AB48-E7173325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5EE29AB-4E85-418B-A6D3-3E7B401855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DE2BEB-6A23-4DFC-9A4E-E44F3CA9F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ECE8D73-51C6-4818-8BD9-9202BBA083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A7AA7F-CD9D-4820-B463-7B9CFEC8E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618CA6-513B-458C-89C1-1FE15F1F43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BACA43-902B-4444-95CB-5165D5483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A07376-1103-43DD-A6D6-D7BAF6F00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CEA8A1-BC0E-4221-B9E5-3D3C7BA261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5D27E5-DFE1-4EE8-B982-0A3922359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FD07B27-85E5-4F3B-B432-CDBDC0F6E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78179E-DE7D-4A30-9BDC-05D7AE217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07E3C0EF-2D2A-42BA-B4E2-76E2B1FC5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4143" y="31539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D27E94F-4076-2EB5-1061-1E9B1E74ABD9}"/>
              </a:ext>
            </a:extLst>
          </p:cNvPr>
          <p:cNvSpPr>
            <a:spLocks noGrp="1"/>
          </p:cNvSpPr>
          <p:nvPr>
            <p:ph type="title"/>
          </p:nvPr>
        </p:nvSpPr>
        <p:spPr>
          <a:xfrm>
            <a:off x="691079" y="725950"/>
            <a:ext cx="3428812" cy="5436630"/>
          </a:xfrm>
        </p:spPr>
        <p:txBody>
          <a:bodyPr anchor="ctr">
            <a:normAutofit/>
          </a:bodyPr>
          <a:lstStyle/>
          <a:p>
            <a:r>
              <a:rPr lang="en-US" dirty="0"/>
              <a:t>Elements</a:t>
            </a:r>
          </a:p>
        </p:txBody>
      </p:sp>
      <p:graphicFrame>
        <p:nvGraphicFramePr>
          <p:cNvPr id="5" name="Content Placeholder 2">
            <a:extLst>
              <a:ext uri="{FF2B5EF4-FFF2-40B4-BE49-F238E27FC236}">
                <a16:creationId xmlns:a16="http://schemas.microsoft.com/office/drawing/2014/main" id="{38065143-3114-97D6-CE7B-E138E133F088}"/>
              </a:ext>
            </a:extLst>
          </p:cNvPr>
          <p:cNvGraphicFramePr>
            <a:graphicFrameLocks noGrp="1"/>
          </p:cNvGraphicFramePr>
          <p:nvPr>
            <p:ph idx="1"/>
            <p:extLst>
              <p:ext uri="{D42A27DB-BD31-4B8C-83A1-F6EECF244321}">
                <p14:modId xmlns:p14="http://schemas.microsoft.com/office/powerpoint/2010/main" val="399361943"/>
              </p:ext>
            </p:extLst>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443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lstStyle/>
          <a:p>
            <a:r>
              <a:rPr lang="en-US" dirty="0"/>
              <a:t>Selection of study subjects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a:bodyPr>
          <a:lstStyle/>
          <a:p>
            <a:r>
              <a:rPr lang="en-US" sz="4400" dirty="0"/>
              <a:t>General population</a:t>
            </a:r>
          </a:p>
          <a:p>
            <a:pPr lvl="1"/>
            <a:r>
              <a:rPr lang="en-US" b="0" i="0" u="none" strike="noStrike" baseline="0" dirty="0">
                <a:latin typeface="Times New Roman" panose="02020603050405020304" pitchFamily="18" charset="0"/>
              </a:rPr>
              <a:t>Exposure or cause of death is fairly frequent in the population</a:t>
            </a:r>
          </a:p>
          <a:p>
            <a:pPr lvl="1"/>
            <a:r>
              <a:rPr lang="en-US" b="0" i="0" u="none" strike="noStrike" baseline="0" dirty="0">
                <a:latin typeface="Times New Roman" panose="02020603050405020304" pitchFamily="18" charset="0"/>
              </a:rPr>
              <a:t>Residing in well defined geographical, political and administrative areas</a:t>
            </a:r>
          </a:p>
          <a:p>
            <a:pPr lvl="1"/>
            <a:r>
              <a:rPr lang="en-US" b="0" i="0" u="none" strike="noStrike" baseline="0" dirty="0">
                <a:latin typeface="Times New Roman" panose="02020603050405020304" pitchFamily="18" charset="0"/>
              </a:rPr>
              <a:t>If the population is very large, an appropriate sample is taken.</a:t>
            </a:r>
          </a:p>
          <a:p>
            <a:pPr lvl="1"/>
            <a:r>
              <a:rPr lang="en-US" b="0" i="0" u="none" strike="noStrike" baseline="0" dirty="0">
                <a:latin typeface="Times New Roman" panose="02020603050405020304" pitchFamily="18" charset="0"/>
              </a:rPr>
              <a:t>The exposed and unexposed segments of the population to be studied should be representative of the corresponding segments of the general population.</a:t>
            </a:r>
            <a:endParaRPr lang="en-US" sz="4000" dirty="0"/>
          </a:p>
        </p:txBody>
      </p:sp>
    </p:spTree>
    <p:extLst>
      <p:ext uri="{BB962C8B-B14F-4D97-AF65-F5344CB8AC3E}">
        <p14:creationId xmlns:p14="http://schemas.microsoft.com/office/powerpoint/2010/main" val="2320779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normAutofit fontScale="90000"/>
          </a:bodyPr>
          <a:lstStyle/>
          <a:p>
            <a:r>
              <a:rPr lang="en-US" dirty="0"/>
              <a:t>Selection of study subjects (Special groups)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fontScale="85000" lnSpcReduction="20000"/>
          </a:bodyPr>
          <a:lstStyle/>
          <a:p>
            <a:r>
              <a:rPr lang="en-US" sz="2400" dirty="0"/>
              <a:t>Select group</a:t>
            </a:r>
          </a:p>
          <a:p>
            <a:pPr lvl="1"/>
            <a:r>
              <a:rPr lang="en-US" sz="2000" b="0" i="0" u="none" strike="noStrike" baseline="0" dirty="0">
                <a:latin typeface="Times New Roman" panose="02020603050405020304" pitchFamily="18" charset="0"/>
              </a:rPr>
              <a:t>These may be professional groups (e.g., doctors, nurses, lawyers, teachers, civil servants), insured persons, obstetric population, college alumni, government employees, volunteers, etc. </a:t>
            </a:r>
          </a:p>
          <a:p>
            <a:pPr lvl="1"/>
            <a:r>
              <a:rPr lang="en-US" sz="2000" b="0" i="0" u="none" strike="noStrike" baseline="0" dirty="0">
                <a:latin typeface="Times New Roman" panose="02020603050405020304" pitchFamily="18" charset="0"/>
              </a:rPr>
              <a:t>Doll’s prospective study on smoking and lung cancer was carried out on British doctors listed in the Medical Register of the UK in 1951</a:t>
            </a:r>
            <a:r>
              <a:rPr lang="en-US" sz="2000" b="0" i="1" u="none" strike="noStrike" baseline="0" dirty="0">
                <a:latin typeface="Times New Roman" panose="02020603050405020304" pitchFamily="18" charset="0"/>
              </a:rPr>
              <a:t>. </a:t>
            </a:r>
          </a:p>
          <a:p>
            <a:pPr lvl="1"/>
            <a:r>
              <a:rPr lang="en-US" sz="2000" b="0" i="0" u="none" strike="noStrike" baseline="0" dirty="0">
                <a:latin typeface="Times New Roman" panose="02020603050405020304" pitchFamily="18" charset="0"/>
              </a:rPr>
              <a:t>These groups are not only homogeneous, but they also offer advantages of accessibility and easy follow-up for a protracted period</a:t>
            </a:r>
          </a:p>
          <a:p>
            <a:pPr algn="l"/>
            <a:r>
              <a:rPr lang="en-US" sz="2400" dirty="0"/>
              <a:t>Exposure groups </a:t>
            </a:r>
            <a:r>
              <a:rPr lang="en-US" sz="1800" b="0" i="1" u="none" strike="noStrike" baseline="0" dirty="0">
                <a:latin typeface="Times New Roman" panose="02020603050405020304" pitchFamily="18" charset="0"/>
              </a:rPr>
              <a:t>: </a:t>
            </a:r>
          </a:p>
          <a:p>
            <a:pPr lvl="1"/>
            <a:r>
              <a:rPr lang="en-US" sz="2100" dirty="0">
                <a:latin typeface="Times New Roman" panose="02020603050405020304" pitchFamily="18" charset="0"/>
              </a:rPr>
              <a:t>If the exposure is rare, a more economical  procedure is to select a cohort of persons known to have experienced the exposure. </a:t>
            </a:r>
          </a:p>
          <a:p>
            <a:pPr lvl="1"/>
            <a:r>
              <a:rPr lang="en-US" sz="2100" dirty="0">
                <a:latin typeface="Times New Roman" panose="02020603050405020304" pitchFamily="18" charset="0"/>
              </a:rPr>
              <a:t>A readily accessible source of these groups is workers in industries and those employed in high-risk situations (e.g., radiologists exposed to X-rays).</a:t>
            </a:r>
          </a:p>
          <a:p>
            <a:pPr lvl="1"/>
            <a:r>
              <a:rPr lang="en-US" sz="2100" dirty="0">
                <a:latin typeface="Times New Roman" panose="02020603050405020304" pitchFamily="18" charset="0"/>
              </a:rPr>
              <a:t>When cohorts have been selected because of special exposure, it facilitates classification of cohort members according to the degree or duration of exposure to the suspected factor for subsequent analytical study.</a:t>
            </a:r>
          </a:p>
        </p:txBody>
      </p:sp>
    </p:spTree>
    <p:extLst>
      <p:ext uri="{BB962C8B-B14F-4D97-AF65-F5344CB8AC3E}">
        <p14:creationId xmlns:p14="http://schemas.microsoft.com/office/powerpoint/2010/main" val="1686294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7566-AE9C-F17D-1406-FF64B3C4B799}"/>
              </a:ext>
            </a:extLst>
          </p:cNvPr>
          <p:cNvSpPr>
            <a:spLocks noGrp="1"/>
          </p:cNvSpPr>
          <p:nvPr>
            <p:ph type="title"/>
          </p:nvPr>
        </p:nvSpPr>
        <p:spPr/>
        <p:txBody>
          <a:bodyPr/>
          <a:lstStyle/>
          <a:p>
            <a:r>
              <a:rPr lang="en-US" dirty="0"/>
              <a:t>Data on exposure</a:t>
            </a:r>
          </a:p>
        </p:txBody>
      </p:sp>
      <p:sp>
        <p:nvSpPr>
          <p:cNvPr id="3" name="Content Placeholder 2">
            <a:extLst>
              <a:ext uri="{FF2B5EF4-FFF2-40B4-BE49-F238E27FC236}">
                <a16:creationId xmlns:a16="http://schemas.microsoft.com/office/drawing/2014/main" id="{C283CB73-A5E6-8BE3-9891-273A3B34DDEA}"/>
              </a:ext>
            </a:extLst>
          </p:cNvPr>
          <p:cNvSpPr>
            <a:spLocks noGrp="1"/>
          </p:cNvSpPr>
          <p:nvPr>
            <p:ph idx="1"/>
          </p:nvPr>
        </p:nvSpPr>
        <p:spPr>
          <a:xfrm>
            <a:off x="1115568" y="1728216"/>
            <a:ext cx="10168128" cy="4443984"/>
          </a:xfrm>
        </p:spPr>
        <p:txBody>
          <a:bodyPr>
            <a:normAutofit fontScale="92500" lnSpcReduction="20000"/>
          </a:bodyPr>
          <a:lstStyle/>
          <a:p>
            <a:pPr algn="l"/>
            <a:r>
              <a:rPr lang="en-US" sz="2200" b="0" i="1" u="none" strike="noStrike" baseline="0" dirty="0">
                <a:latin typeface="Times New Roman" panose="02020603050405020304" pitchFamily="18" charset="0"/>
              </a:rPr>
              <a:t>Cohort members : </a:t>
            </a:r>
            <a:r>
              <a:rPr lang="en-US" sz="2200" b="0" i="0" u="none" strike="noStrike" baseline="0" dirty="0">
                <a:latin typeface="Times New Roman" panose="02020603050405020304" pitchFamily="18" charset="0"/>
              </a:rPr>
              <a:t>through personal interviews or mailed questionnaires. </a:t>
            </a:r>
          </a:p>
          <a:p>
            <a:pPr algn="l"/>
            <a:r>
              <a:rPr lang="en-US" sz="2200" b="0" i="1" u="none" strike="noStrike" baseline="0" dirty="0">
                <a:latin typeface="Times New Roman" panose="02020603050405020304" pitchFamily="18" charset="0"/>
              </a:rPr>
              <a:t>Review of records: </a:t>
            </a:r>
            <a:r>
              <a:rPr lang="en-US" sz="2200" b="0" i="0" u="none" strike="noStrike" baseline="0" dirty="0">
                <a:latin typeface="Times New Roman" panose="02020603050405020304" pitchFamily="18" charset="0"/>
              </a:rPr>
              <a:t>Certain kinds of information (e.g., dose of radiation, kinds of surgery, or details of medical treatment) can be obtained only from medical records, </a:t>
            </a:r>
          </a:p>
          <a:p>
            <a:pPr algn="l"/>
            <a:r>
              <a:rPr lang="en-US" sz="2200" b="0" i="1" u="none" strike="noStrike" baseline="0" dirty="0">
                <a:latin typeface="Times New Roman" panose="02020603050405020304" pitchFamily="18" charset="0"/>
              </a:rPr>
              <a:t>Medical examination or special tests : </a:t>
            </a:r>
            <a:r>
              <a:rPr lang="en-US" sz="2200" b="0" i="0" u="none" strike="noStrike" baseline="0" dirty="0">
                <a:latin typeface="Times New Roman" panose="02020603050405020304" pitchFamily="18" charset="0"/>
              </a:rPr>
              <a:t>Some types of information can be obtained only by medical examination or special tests, e.g., blood pressure, serum cholesterol, ECG. </a:t>
            </a:r>
          </a:p>
          <a:p>
            <a:pPr algn="l"/>
            <a:r>
              <a:rPr lang="en-US" sz="2200" b="0" i="1" u="none" strike="noStrike" baseline="0" dirty="0">
                <a:latin typeface="Times New Roman" panose="02020603050405020304" pitchFamily="18" charset="0"/>
              </a:rPr>
              <a:t>Environmental surveys : </a:t>
            </a:r>
            <a:r>
              <a:rPr lang="en-US" sz="2200" b="0" i="0" u="none" strike="noStrike" baseline="0" dirty="0">
                <a:latin typeface="Times New Roman" panose="02020603050405020304" pitchFamily="18" charset="0"/>
              </a:rPr>
              <a:t>This is the best source for obtaining information on exposure levels of the suspected factor in the environment where the cohort lived or worked.</a:t>
            </a:r>
          </a:p>
          <a:p>
            <a:pPr algn="l"/>
            <a:r>
              <a:rPr lang="en-US" sz="1800" b="0" i="0" u="none" strike="noStrike" baseline="0" dirty="0">
                <a:latin typeface="Times New Roman" panose="02020603050405020304" pitchFamily="18" charset="0"/>
              </a:rPr>
              <a:t>Classification of cohort members :</a:t>
            </a:r>
          </a:p>
          <a:p>
            <a:pPr lvl="1"/>
            <a:r>
              <a:rPr lang="en-US" sz="1900" b="0" i="0" u="none" strike="noStrike" baseline="0" dirty="0">
                <a:latin typeface="Times New Roman" panose="02020603050405020304" pitchFamily="18" charset="0"/>
              </a:rPr>
              <a:t>According to whether or not they have been exposed to the suspected factor, and</a:t>
            </a:r>
          </a:p>
          <a:p>
            <a:pPr lvl="1"/>
            <a:r>
              <a:rPr lang="en-US" sz="1900" b="0" i="0" u="none" strike="noStrike" baseline="0" dirty="0">
                <a:latin typeface="Times New Roman" panose="02020603050405020304" pitchFamily="18" charset="0"/>
              </a:rPr>
              <a:t>According to the level or degree of exposure, at least in broad classes, in the case of special exposure groups</a:t>
            </a:r>
          </a:p>
          <a:p>
            <a:pPr algn="l"/>
            <a:r>
              <a:rPr lang="en-US" sz="1800" b="0" i="0" u="none" strike="noStrike" baseline="0" dirty="0">
                <a:latin typeface="Times New Roman" panose="02020603050405020304" pitchFamily="18" charset="0"/>
              </a:rPr>
              <a:t>Basic information about demographic variables which might affect the frequency of disease under investigation, should also be collected. Such information will be required for subsequent analysis.</a:t>
            </a:r>
            <a:endParaRPr lang="en-US" dirty="0"/>
          </a:p>
        </p:txBody>
      </p:sp>
    </p:spTree>
    <p:extLst>
      <p:ext uri="{BB962C8B-B14F-4D97-AF65-F5344CB8AC3E}">
        <p14:creationId xmlns:p14="http://schemas.microsoft.com/office/powerpoint/2010/main" val="1661137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p:txBody>
          <a:bodyPr>
            <a:normAutofit/>
          </a:bodyPr>
          <a:lstStyle/>
          <a:p>
            <a:r>
              <a:rPr lang="en-US" dirty="0"/>
              <a:t>Internal comparison</a:t>
            </a:r>
          </a:p>
          <a:p>
            <a:r>
              <a:rPr lang="en-US" dirty="0"/>
              <a:t>External comparison</a:t>
            </a:r>
          </a:p>
          <a:p>
            <a:pPr lvl="1"/>
            <a:r>
              <a:rPr lang="en-US" sz="2000" b="0" i="0" u="none" strike="noStrike" baseline="0" dirty="0">
                <a:latin typeface="Times New Roman" panose="02020603050405020304" pitchFamily="18" charset="0"/>
              </a:rPr>
              <a:t>When information on degree of exposure is not available, it is necessary to put up an external control, to evaluate the experience of the exposed group, e.g., a cohort of radiologists compared with a cohort of ophthalmologists, etc. </a:t>
            </a:r>
          </a:p>
          <a:p>
            <a:pPr lvl="1"/>
            <a:r>
              <a:rPr lang="en-US" sz="2000" b="0" i="0" u="none" strike="noStrike" baseline="0" dirty="0">
                <a:latin typeface="Times New Roman" panose="02020603050405020304" pitchFamily="18" charset="0"/>
              </a:rPr>
              <a:t>The study and control cohorts should be similar in demographic and possibly important variables other than those under study.</a:t>
            </a:r>
            <a:endParaRPr lang="en-US" sz="2000" dirty="0"/>
          </a:p>
        </p:txBody>
      </p:sp>
    </p:spTree>
    <p:extLst>
      <p:ext uri="{BB962C8B-B14F-4D97-AF65-F5344CB8AC3E}">
        <p14:creationId xmlns:p14="http://schemas.microsoft.com/office/powerpoint/2010/main" val="302771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a:xfrm>
            <a:off x="464457" y="1728216"/>
            <a:ext cx="10819239" cy="4443984"/>
          </a:xfrm>
        </p:spPr>
        <p:txBody>
          <a:bodyPr>
            <a:normAutofit lnSpcReduction="10000"/>
          </a:bodyPr>
          <a:lstStyle/>
          <a:p>
            <a:pPr algn="l"/>
            <a:r>
              <a:rPr lang="en-US" b="0" i="1" u="none" strike="noStrike" baseline="0" dirty="0">
                <a:latin typeface="Times New Roman" panose="02020603050405020304" pitchFamily="18" charset="0"/>
              </a:rPr>
              <a:t>Comparison with general population rates</a:t>
            </a:r>
          </a:p>
          <a:p>
            <a:pPr lvl="1"/>
            <a:r>
              <a:rPr lang="en-US" sz="2000" b="0" i="0" u="none" strike="noStrike" baseline="0" dirty="0">
                <a:latin typeface="Times New Roman" panose="02020603050405020304" pitchFamily="18" charset="0"/>
              </a:rPr>
              <a:t>If none is available, the mortality experience of the exposed group is compared with the mortality experience of the general population in the same geographic area as the exposed people</a:t>
            </a:r>
          </a:p>
          <a:p>
            <a:pPr lvl="1"/>
            <a:r>
              <a:rPr lang="en-US" sz="2000" b="0" i="0" u="none" strike="noStrike" baseline="0" dirty="0">
                <a:latin typeface="Times New Roman" panose="02020603050405020304" pitchFamily="18" charset="0"/>
              </a:rPr>
              <a:t>Rates for disease occurrence in sub-groups of the control cohort by age, sex, and other variables considered important may be applied to the corresponding sub-groups of the study cohort (exposed cohort) to determine the “expected” values in the absence of exposure. </a:t>
            </a:r>
          </a:p>
          <a:p>
            <a:pPr lvl="1"/>
            <a:r>
              <a:rPr lang="en-US" sz="2000" b="0" i="0" u="none" strike="noStrike" baseline="0" dirty="0">
                <a:latin typeface="Times New Roman" panose="02020603050405020304" pitchFamily="18" charset="0"/>
              </a:rPr>
              <a:t>The ratio of “observed” and “expected” values provides a measure of the effect of the factor under study.</a:t>
            </a:r>
          </a:p>
          <a:p>
            <a:pPr lvl="1"/>
            <a:r>
              <a:rPr lang="en-US" sz="2000" b="0" i="0" u="none" strike="noStrike" baseline="0" dirty="0">
                <a:latin typeface="Times New Roman" panose="02020603050405020304" pitchFamily="18" charset="0"/>
              </a:rPr>
              <a:t>The limiting factors in using general population rates for comparison are : </a:t>
            </a:r>
          </a:p>
          <a:p>
            <a:pPr lvl="2"/>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i</a:t>
            </a:r>
            <a:r>
              <a:rPr lang="en-US" sz="1800" b="0" i="0" u="none" strike="noStrike" baseline="0" dirty="0">
                <a:latin typeface="Times New Roman" panose="02020603050405020304" pitchFamily="18" charset="0"/>
              </a:rPr>
              <a:t>) non-availability of population rates for the outcome required; </a:t>
            </a:r>
          </a:p>
          <a:p>
            <a:pPr lvl="2"/>
            <a:r>
              <a:rPr lang="en-US" sz="1800" b="0" i="0" u="none" strike="noStrike" baseline="0" dirty="0">
                <a:latin typeface="Times New Roman" panose="02020603050405020304" pitchFamily="18" charset="0"/>
              </a:rPr>
              <a:t>(ii) the difficulties of selecting the study and comparison groups which are representative of the exposed and non-exposed segments of the general population.</a:t>
            </a:r>
            <a:endParaRPr lang="en-US" sz="1800" dirty="0"/>
          </a:p>
        </p:txBody>
      </p:sp>
    </p:spTree>
    <p:extLst>
      <p:ext uri="{BB962C8B-B14F-4D97-AF65-F5344CB8AC3E}">
        <p14:creationId xmlns:p14="http://schemas.microsoft.com/office/powerpoint/2010/main" val="2282336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7AFD-A487-EBA9-1628-B40095A165DC}"/>
              </a:ext>
            </a:extLst>
          </p:cNvPr>
          <p:cNvSpPr>
            <a:spLocks noGrp="1"/>
          </p:cNvSpPr>
          <p:nvPr>
            <p:ph type="title"/>
          </p:nvPr>
        </p:nvSpPr>
        <p:spPr/>
        <p:txBody>
          <a:bodyPr/>
          <a:lstStyle/>
          <a:p>
            <a:r>
              <a:rPr lang="en-US" dirty="0"/>
              <a:t>Follow up</a:t>
            </a:r>
          </a:p>
        </p:txBody>
      </p:sp>
      <p:sp>
        <p:nvSpPr>
          <p:cNvPr id="3" name="Content Placeholder 2">
            <a:extLst>
              <a:ext uri="{FF2B5EF4-FFF2-40B4-BE49-F238E27FC236}">
                <a16:creationId xmlns:a16="http://schemas.microsoft.com/office/drawing/2014/main" id="{4D53A6E3-B9F4-152D-871A-675AB7737DB9}"/>
              </a:ext>
            </a:extLst>
          </p:cNvPr>
          <p:cNvSpPr>
            <a:spLocks noGrp="1"/>
          </p:cNvSpPr>
          <p:nvPr>
            <p:ph idx="1"/>
          </p:nvPr>
        </p:nvSpPr>
        <p:spPr>
          <a:xfrm>
            <a:off x="507999" y="1728216"/>
            <a:ext cx="11219543" cy="4443984"/>
          </a:xfrm>
        </p:spPr>
        <p:txBody>
          <a:bodyPr>
            <a:normAutofit lnSpcReduction="10000"/>
          </a:bodyPr>
          <a:lstStyle/>
          <a:p>
            <a:pPr algn="l"/>
            <a:r>
              <a:rPr lang="en-US" sz="2000" b="0" i="0" u="none" strike="noStrike" baseline="0" dirty="0">
                <a:latin typeface="Times New Roman" panose="02020603050405020304" pitchFamily="18" charset="0"/>
              </a:rPr>
              <a:t>The procedures required comprise :</a:t>
            </a:r>
          </a:p>
          <a:p>
            <a:pPr lvl="1"/>
            <a:r>
              <a:rPr lang="en-US" sz="1600" b="0" i="0" u="none" strike="noStrike" baseline="0" dirty="0">
                <a:latin typeface="Times New Roman" panose="02020603050405020304" pitchFamily="18" charset="0"/>
              </a:rPr>
              <a:t>Periodic medical examination of each member of the Cohort </a:t>
            </a:r>
          </a:p>
          <a:p>
            <a:pPr lvl="1"/>
            <a:r>
              <a:rPr lang="en-US" sz="1600" b="0" i="0" u="none" strike="noStrike" baseline="0" dirty="0">
                <a:latin typeface="Times New Roman" panose="02020603050405020304" pitchFamily="18" charset="0"/>
              </a:rPr>
              <a:t>Reviewing physician and hospital records</a:t>
            </a:r>
          </a:p>
          <a:p>
            <a:pPr lvl="1"/>
            <a:r>
              <a:rPr lang="en-US" sz="1600" b="0" i="0" u="none" strike="noStrike" baseline="0" dirty="0">
                <a:latin typeface="Times New Roman" panose="02020603050405020304" pitchFamily="18" charset="0"/>
              </a:rPr>
              <a:t>Routine surveillance of death records</a:t>
            </a:r>
          </a:p>
          <a:p>
            <a:pPr lvl="1"/>
            <a:r>
              <a:rPr lang="en-US" sz="1600" b="0" i="0" u="none" strike="noStrike" baseline="0" dirty="0">
                <a:latin typeface="Times New Roman" panose="02020603050405020304" pitchFamily="18" charset="0"/>
              </a:rPr>
              <a:t>Mailed questionnaires, telephone calls, periodic home visits - preferably all three on an annual basis. </a:t>
            </a:r>
          </a:p>
          <a:p>
            <a:pPr algn="l"/>
            <a:r>
              <a:rPr lang="en-US" sz="2000" b="0" i="0" u="none" strike="noStrike" baseline="0" dirty="0">
                <a:latin typeface="Times New Roman" panose="02020603050405020304" pitchFamily="18" charset="0"/>
              </a:rPr>
              <a:t>Of the above, periodic examination of each member of the cohort, yields greater amount of information on the individuals examined, than would the use of any other procedure.</a:t>
            </a:r>
          </a:p>
          <a:p>
            <a:pPr algn="l"/>
            <a:r>
              <a:rPr lang="en-US" sz="2000" b="0" i="0" u="none" strike="noStrike" baseline="0" dirty="0">
                <a:latin typeface="Times New Roman" panose="02020603050405020304" pitchFamily="18" charset="0"/>
              </a:rPr>
              <a:t>Certain percentage of losses to follow-up are inevitable due to death, change of residence, migration or withdrawal of occupation. These losses may bias the results. It is, therefore, necessary to build into the study design a system for obtaining basic information on outcome for those who cannot be followed up in detail for the full duration of the study</a:t>
            </a:r>
            <a:r>
              <a:rPr lang="en-US" sz="2000" b="0" i="1" u="none" strike="noStrike" baseline="0" dirty="0">
                <a:latin typeface="Times New Roman" panose="02020603050405020304" pitchFamily="18" charset="0"/>
              </a:rPr>
              <a:t>. </a:t>
            </a:r>
          </a:p>
          <a:p>
            <a:pPr algn="l"/>
            <a:r>
              <a:rPr lang="en-US" sz="2000" b="0" i="0" u="none" strike="noStrike" baseline="0" dirty="0">
                <a:latin typeface="Times New Roman" panose="02020603050405020304" pitchFamily="18" charset="0"/>
              </a:rPr>
              <a:t>The safest course recommended is to achieve as close to a 95 per cent follow-up as possible</a:t>
            </a:r>
            <a:endParaRPr lang="en-US" sz="3200" dirty="0"/>
          </a:p>
        </p:txBody>
      </p:sp>
    </p:spTree>
    <p:extLst>
      <p:ext uri="{BB962C8B-B14F-4D97-AF65-F5344CB8AC3E}">
        <p14:creationId xmlns:p14="http://schemas.microsoft.com/office/powerpoint/2010/main" val="4166920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6B9E1D-2940-10E3-B392-C2A6C1ECE415}"/>
              </a:ext>
            </a:extLst>
          </p:cNvPr>
          <p:cNvSpPr>
            <a:spLocks noGrp="1"/>
          </p:cNvSpPr>
          <p:nvPr>
            <p:ph type="title"/>
          </p:nvPr>
        </p:nvSpPr>
        <p:spPr>
          <a:xfrm>
            <a:off x="1046746" y="586822"/>
            <a:ext cx="3537285" cy="1645920"/>
          </a:xfrm>
        </p:spPr>
        <p:txBody>
          <a:bodyPr>
            <a:normAutofit/>
          </a:bodyPr>
          <a:lstStyle/>
          <a:p>
            <a:r>
              <a:rPr lang="en-US" sz="3200"/>
              <a:t>Analysis</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8113" y="1405210"/>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D3F3F9B-4267-2DD1-44D8-B14EDA55D298}"/>
              </a:ext>
            </a:extLst>
          </p:cNvPr>
          <p:cNvSpPr>
            <a:spLocks noGrp="1"/>
          </p:cNvSpPr>
          <p:nvPr>
            <p:ph idx="1"/>
          </p:nvPr>
        </p:nvSpPr>
        <p:spPr>
          <a:xfrm>
            <a:off x="5351164" y="586822"/>
            <a:ext cx="6002636" cy="1645920"/>
          </a:xfrm>
        </p:spPr>
        <p:txBody>
          <a:bodyPr anchor="ctr">
            <a:normAutofit/>
          </a:bodyPr>
          <a:lstStyle/>
          <a:p>
            <a:r>
              <a:rPr lang="en-US" sz="1800" b="0" i="0" u="none" strike="noStrike" baseline="0">
                <a:latin typeface="Times New Roman" panose="02020603050405020304" pitchFamily="18" charset="0"/>
              </a:rPr>
              <a:t>Incidence rates of outcome among exposed and non exposed,</a:t>
            </a:r>
          </a:p>
          <a:p>
            <a:r>
              <a:rPr lang="en-US" sz="1800" b="0" i="0" u="none" strike="noStrike" baseline="0">
                <a:latin typeface="Times New Roman" panose="02020603050405020304" pitchFamily="18" charset="0"/>
              </a:rPr>
              <a:t>Estimation of risk.</a:t>
            </a:r>
            <a:endParaRPr lang="en-US" sz="1800"/>
          </a:p>
        </p:txBody>
      </p:sp>
      <p:pic>
        <p:nvPicPr>
          <p:cNvPr id="5" name="Picture 4">
            <a:extLst>
              <a:ext uri="{FF2B5EF4-FFF2-40B4-BE49-F238E27FC236}">
                <a16:creationId xmlns:a16="http://schemas.microsoft.com/office/drawing/2014/main" id="{E801FBF2-C6BB-93D0-BC44-9B989DAF4773}"/>
              </a:ext>
            </a:extLst>
          </p:cNvPr>
          <p:cNvPicPr>
            <a:picLocks noChangeAspect="1"/>
          </p:cNvPicPr>
          <p:nvPr/>
        </p:nvPicPr>
        <p:blipFill>
          <a:blip r:embed="rId2"/>
          <a:stretch>
            <a:fillRect/>
          </a:stretch>
        </p:blipFill>
        <p:spPr>
          <a:xfrm>
            <a:off x="711848" y="2734056"/>
            <a:ext cx="10856695" cy="3483864"/>
          </a:xfrm>
          <a:prstGeom prst="rect">
            <a:avLst/>
          </a:prstGeom>
        </p:spPr>
      </p:pic>
    </p:spTree>
    <p:extLst>
      <p:ext uri="{BB962C8B-B14F-4D97-AF65-F5344CB8AC3E}">
        <p14:creationId xmlns:p14="http://schemas.microsoft.com/office/powerpoint/2010/main" val="1488068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FC0F64-30CE-6EE1-934C-CB8C03426B32}"/>
              </a:ext>
            </a:extLst>
          </p:cNvPr>
          <p:cNvSpPr>
            <a:spLocks noGrp="1"/>
          </p:cNvSpPr>
          <p:nvPr>
            <p:ph type="title"/>
          </p:nvPr>
        </p:nvSpPr>
        <p:spPr>
          <a:xfrm>
            <a:off x="841248" y="256032"/>
            <a:ext cx="10506456" cy="1014984"/>
          </a:xfrm>
        </p:spPr>
        <p:txBody>
          <a:bodyPr anchor="b">
            <a:normAutofit/>
          </a:bodyPr>
          <a:lstStyle/>
          <a:p>
            <a:r>
              <a:rPr lang="en-US" dirty="0"/>
              <a:t>Estimation of risk</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FABC7CE-DB04-97A5-FAFB-1F55F9435712}"/>
              </a:ext>
            </a:extLst>
          </p:cNvPr>
          <p:cNvSpPr>
            <a:spLocks noGrp="1"/>
          </p:cNvSpPr>
          <p:nvPr>
            <p:ph idx="1"/>
          </p:nvPr>
        </p:nvSpPr>
        <p:spPr>
          <a:xfrm>
            <a:off x="838200" y="2248750"/>
            <a:ext cx="10515600" cy="3820416"/>
          </a:xfrm>
        </p:spPr>
        <p:txBody>
          <a:bodyPr>
            <a:normAutofit/>
          </a:bodyPr>
          <a:lstStyle/>
          <a:p>
            <a:pPr marL="235458" indent="-235458" defTabSz="941832">
              <a:spcBef>
                <a:spcPts val="1030"/>
              </a:spcBef>
            </a:pPr>
            <a:r>
              <a:rPr lang="en-US" sz="2884" kern="1200" dirty="0">
                <a:solidFill>
                  <a:schemeClr val="tx1"/>
                </a:solidFill>
                <a:latin typeface="+mn-lt"/>
                <a:ea typeface="+mn-ea"/>
                <a:cs typeface="+mn-cs"/>
              </a:rPr>
              <a:t>Relative risk</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It is a direct measure (or index) of the “strength” of the association between suspected cause and effect. </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It is often useful to consider the 95 per cent confidence interval of a relative risk since it provides an indication of the likely and maximum levels of risk.</a:t>
            </a:r>
          </a:p>
          <a:p>
            <a:pPr marL="235458" indent="-235458" defTabSz="941832">
              <a:spcBef>
                <a:spcPts val="1030"/>
              </a:spcBef>
            </a:pPr>
            <a:r>
              <a:rPr lang="en-US" sz="2884" kern="1200" dirty="0">
                <a:solidFill>
                  <a:schemeClr val="tx1"/>
                </a:solidFill>
                <a:latin typeface="+mn-lt"/>
                <a:ea typeface="+mn-ea"/>
                <a:cs typeface="+mn-cs"/>
              </a:rPr>
              <a:t>Attributable risk aka risk difference</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what extent the disease under study can be attributed to the exposure.</a:t>
            </a:r>
            <a:endParaRPr lang="en-US" dirty="0"/>
          </a:p>
        </p:txBody>
      </p:sp>
      <p:pic>
        <p:nvPicPr>
          <p:cNvPr id="5" name="Picture 4">
            <a:extLst>
              <a:ext uri="{FF2B5EF4-FFF2-40B4-BE49-F238E27FC236}">
                <a16:creationId xmlns:a16="http://schemas.microsoft.com/office/drawing/2014/main" id="{5C77C3BD-D18E-ACED-1D6D-62AE41A1E9A9}"/>
              </a:ext>
            </a:extLst>
          </p:cNvPr>
          <p:cNvPicPr>
            <a:picLocks noChangeAspect="1"/>
          </p:cNvPicPr>
          <p:nvPr/>
        </p:nvPicPr>
        <p:blipFill>
          <a:blip r:embed="rId2"/>
          <a:stretch>
            <a:fillRect/>
          </a:stretch>
        </p:blipFill>
        <p:spPr>
          <a:xfrm>
            <a:off x="3358274" y="1962699"/>
            <a:ext cx="5475452" cy="819163"/>
          </a:xfrm>
          <a:prstGeom prst="rect">
            <a:avLst/>
          </a:prstGeom>
        </p:spPr>
      </p:pic>
      <p:pic>
        <p:nvPicPr>
          <p:cNvPr id="7" name="Picture 6">
            <a:extLst>
              <a:ext uri="{FF2B5EF4-FFF2-40B4-BE49-F238E27FC236}">
                <a16:creationId xmlns:a16="http://schemas.microsoft.com/office/drawing/2014/main" id="{0CFC4223-8540-01B3-38A9-F4A8B1E33D2D}"/>
              </a:ext>
            </a:extLst>
          </p:cNvPr>
          <p:cNvPicPr>
            <a:picLocks noChangeAspect="1"/>
          </p:cNvPicPr>
          <p:nvPr/>
        </p:nvPicPr>
        <p:blipFill>
          <a:blip r:embed="rId3"/>
          <a:stretch>
            <a:fillRect/>
          </a:stretch>
        </p:blipFill>
        <p:spPr>
          <a:xfrm>
            <a:off x="1488047" y="5130149"/>
            <a:ext cx="6377561" cy="1225068"/>
          </a:xfrm>
          <a:prstGeom prst="rect">
            <a:avLst/>
          </a:prstGeom>
        </p:spPr>
      </p:pic>
    </p:spTree>
    <p:extLst>
      <p:ext uri="{BB962C8B-B14F-4D97-AF65-F5344CB8AC3E}">
        <p14:creationId xmlns:p14="http://schemas.microsoft.com/office/powerpoint/2010/main" val="1748949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EF2F-3E93-B531-3F57-82A96CB2C97B}"/>
              </a:ext>
            </a:extLst>
          </p:cNvPr>
          <p:cNvSpPr>
            <a:spLocks noGrp="1"/>
          </p:cNvSpPr>
          <p:nvPr>
            <p:ph type="title"/>
          </p:nvPr>
        </p:nvSpPr>
        <p:spPr/>
        <p:txBody>
          <a:bodyPr/>
          <a:lstStyle/>
          <a:p>
            <a:r>
              <a:rPr lang="en-US" dirty="0"/>
              <a:t>Population attributable risk</a:t>
            </a:r>
          </a:p>
        </p:txBody>
      </p:sp>
      <p:sp>
        <p:nvSpPr>
          <p:cNvPr id="3" name="Content Placeholder 2">
            <a:extLst>
              <a:ext uri="{FF2B5EF4-FFF2-40B4-BE49-F238E27FC236}">
                <a16:creationId xmlns:a16="http://schemas.microsoft.com/office/drawing/2014/main" id="{EF918CF0-C516-0C9A-E837-C25E25382A3E}"/>
              </a:ext>
            </a:extLst>
          </p:cNvPr>
          <p:cNvSpPr>
            <a:spLocks noGrp="1"/>
          </p:cNvSpPr>
          <p:nvPr>
            <p:ph idx="1"/>
          </p:nvPr>
        </p:nvSpPr>
        <p:spPr/>
        <p:txBody>
          <a:bodyPr/>
          <a:lstStyle/>
          <a:p>
            <a:pPr algn="l"/>
            <a:r>
              <a:rPr lang="en-US" sz="1800" b="0" i="0" u="none" strike="noStrike" baseline="0" dirty="0">
                <a:latin typeface="Times New Roman" panose="02020603050405020304" pitchFamily="18" charset="0"/>
              </a:rPr>
              <a:t>Incidence of the disease (or death) in the total population minus the incidence of disease (or death) among those who were not exposed to the suspected causal factor</a:t>
            </a:r>
          </a:p>
          <a:p>
            <a:pPr algn="l"/>
            <a:r>
              <a:rPr lang="en-US" sz="1800" b="0" i="0" u="none" strike="noStrike" baseline="0" dirty="0">
                <a:latin typeface="Times New Roman" panose="02020603050405020304" pitchFamily="18" charset="0"/>
              </a:rPr>
              <a:t>The concept of population attributable risk is useful in that it provides an estimate of the amount by which the disease could be reduced in that population if the suspected factor was eliminated or modified</a:t>
            </a:r>
          </a:p>
          <a:p>
            <a:pPr algn="l"/>
            <a:endParaRPr lang="en-US" sz="1800" dirty="0">
              <a:latin typeface="Times New Roman" panose="02020603050405020304" pitchFamily="18" charset="0"/>
            </a:endParaRPr>
          </a:p>
          <a:p>
            <a:pPr algn="l"/>
            <a:r>
              <a:rPr lang="en-US" sz="1800" dirty="0">
                <a:latin typeface="Times New Roman" panose="02020603050405020304" pitchFamily="18" charset="0"/>
              </a:rPr>
              <a:t>Relative risk vs attributable risk</a:t>
            </a:r>
            <a:endParaRPr lang="en-US" dirty="0"/>
          </a:p>
        </p:txBody>
      </p:sp>
      <p:pic>
        <p:nvPicPr>
          <p:cNvPr id="7" name="Picture 6">
            <a:extLst>
              <a:ext uri="{FF2B5EF4-FFF2-40B4-BE49-F238E27FC236}">
                <a16:creationId xmlns:a16="http://schemas.microsoft.com/office/drawing/2014/main" id="{2269497E-7E8F-EBFD-8B72-03D6DD5A2CD8}"/>
              </a:ext>
            </a:extLst>
          </p:cNvPr>
          <p:cNvPicPr>
            <a:picLocks noChangeAspect="1"/>
          </p:cNvPicPr>
          <p:nvPr/>
        </p:nvPicPr>
        <p:blipFill>
          <a:blip r:embed="rId2"/>
          <a:stretch>
            <a:fillRect/>
          </a:stretch>
        </p:blipFill>
        <p:spPr>
          <a:xfrm>
            <a:off x="1405563" y="4769709"/>
            <a:ext cx="7318307" cy="1873770"/>
          </a:xfrm>
          <a:prstGeom prst="rect">
            <a:avLst/>
          </a:prstGeom>
        </p:spPr>
      </p:pic>
    </p:spTree>
    <p:extLst>
      <p:ext uri="{BB962C8B-B14F-4D97-AF65-F5344CB8AC3E}">
        <p14:creationId xmlns:p14="http://schemas.microsoft.com/office/powerpoint/2010/main" val="3010462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2CCF-837B-5DE4-A91F-7D8043612624}"/>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35AE217C-A709-E0FF-2D34-E371EF41A55F}"/>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Incidence can be calculated, </a:t>
            </a:r>
          </a:p>
          <a:p>
            <a:pPr algn="l"/>
            <a:r>
              <a:rPr lang="en-US" sz="1800" b="0" i="0" u="none" strike="noStrike" baseline="0" dirty="0">
                <a:latin typeface="Times New Roman" panose="02020603050405020304" pitchFamily="18" charset="0"/>
              </a:rPr>
              <a:t>Several possible outcomes related to exposure can be studied simultaneously</a:t>
            </a:r>
          </a:p>
          <a:p>
            <a:pPr algn="l"/>
            <a:r>
              <a:rPr lang="en-US" sz="1800" b="0" i="0" u="none" strike="noStrike" baseline="0" dirty="0">
                <a:latin typeface="Times New Roman" panose="02020603050405020304" pitchFamily="18" charset="0"/>
              </a:rPr>
              <a:t>Cohort studies provide a direct estimate of relative risk</a:t>
            </a:r>
          </a:p>
          <a:p>
            <a:pPr algn="l"/>
            <a:r>
              <a:rPr lang="en-US" sz="1800" b="0" i="0" u="none" strike="noStrike" baseline="0" dirty="0">
                <a:latin typeface="Times New Roman" panose="02020603050405020304" pitchFamily="18" charset="0"/>
              </a:rPr>
              <a:t>Dose response ratios can also be calculated, </a:t>
            </a:r>
            <a:endParaRPr lang="en-US" sz="1800" dirty="0">
              <a:latin typeface="Times New Roman" panose="02020603050405020304" pitchFamily="18" charset="0"/>
            </a:endParaRPr>
          </a:p>
          <a:p>
            <a:pPr algn="l"/>
            <a:r>
              <a:rPr lang="en-US" sz="1800" b="0" i="0" u="none" strike="noStrike" baseline="0" dirty="0">
                <a:latin typeface="Times New Roman" panose="02020603050405020304" pitchFamily="18" charset="0"/>
              </a:rPr>
              <a:t>Since comparison groups are formed before disease develops, certain forms of bias can be minimized like mis-classification of individuals into exposed and unexposed groups.</a:t>
            </a:r>
            <a:endParaRPr lang="en-US" dirty="0"/>
          </a:p>
        </p:txBody>
      </p:sp>
    </p:spTree>
    <p:extLst>
      <p:ext uri="{BB962C8B-B14F-4D97-AF65-F5344CB8AC3E}">
        <p14:creationId xmlns:p14="http://schemas.microsoft.com/office/powerpoint/2010/main" val="445074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1DC9-900D-50B5-81FE-2FF3D31C711F}"/>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6D9D017E-7438-0A3E-830E-D45C79E9FC2A}"/>
              </a:ext>
            </a:extLst>
          </p:cNvPr>
          <p:cNvSpPr>
            <a:spLocks noGrp="1"/>
          </p:cNvSpPr>
          <p:nvPr>
            <p:ph idx="1"/>
          </p:nvPr>
        </p:nvSpPr>
        <p:spPr>
          <a:xfrm>
            <a:off x="571500" y="2047875"/>
            <a:ext cx="11256264" cy="4554474"/>
          </a:xfrm>
        </p:spPr>
        <p:txBody>
          <a:bodyPr>
            <a:normAutofit fontScale="85000" lnSpcReduction="10000"/>
          </a:bodyPr>
          <a:lstStyle/>
          <a:p>
            <a:pPr algn="l"/>
            <a:r>
              <a:rPr lang="en-US" sz="1800" b="0" i="0" u="none" strike="noStrike" baseline="0" dirty="0">
                <a:latin typeface="Times New Roman" panose="02020603050405020304" pitchFamily="18" charset="0"/>
              </a:rPr>
              <a:t>Cohort studies involve a large number of people. They are generally unsuitable for investigating uncommon diseases or diseases with low incidence in the population.</a:t>
            </a:r>
          </a:p>
          <a:p>
            <a:pPr algn="l"/>
            <a:r>
              <a:rPr lang="en-US" sz="1800" b="0" i="0" u="none" strike="noStrike" baseline="0" dirty="0">
                <a:latin typeface="Times New Roman" panose="02020603050405020304" pitchFamily="18" charset="0"/>
              </a:rPr>
              <a:t>It takes a long time to complete the study and obtain results. It is difficult to keep a large number of individuals under medical surveillance indefinitely.</a:t>
            </a:r>
          </a:p>
          <a:p>
            <a:pPr algn="l"/>
            <a:r>
              <a:rPr lang="en-US" sz="1800" b="0" i="0" u="none" strike="noStrike" baseline="0" dirty="0">
                <a:latin typeface="Times New Roman" panose="02020603050405020304" pitchFamily="18" charset="0"/>
              </a:rPr>
              <a:t>Certain administrative problems such as loss of experienced staff, loss of funding and extensive record keeping are inevitable</a:t>
            </a:r>
          </a:p>
          <a:p>
            <a:pPr algn="l"/>
            <a:r>
              <a:rPr lang="en-US" sz="1800" b="0" i="0" u="none" strike="noStrike" baseline="0" dirty="0">
                <a:latin typeface="Times New Roman" panose="02020603050405020304" pitchFamily="18" charset="0"/>
              </a:rPr>
              <a:t>It is not unusual to lose a substantial proportion of the original cohort - they may migrate, lose interest in the study or simply refuse to provide any required information,</a:t>
            </a:r>
          </a:p>
          <a:p>
            <a:pPr algn="l"/>
            <a:r>
              <a:rPr lang="en-US" sz="1800" b="0" i="0" u="none" strike="noStrike" baseline="0" dirty="0">
                <a:latin typeface="Times New Roman" panose="02020603050405020304" pitchFamily="18" charset="0"/>
              </a:rPr>
              <a:t>Selection of comparison groups which are representative of the exposed and unexposed segments of the population is a limiting factor.</a:t>
            </a:r>
          </a:p>
          <a:p>
            <a:pPr algn="l"/>
            <a:r>
              <a:rPr lang="en-US" sz="1800" b="0" i="0" u="none" strike="noStrike" baseline="0" dirty="0">
                <a:latin typeface="Times New Roman" panose="02020603050405020304" pitchFamily="18" charset="0"/>
              </a:rPr>
              <a:t>There may be changes in the standard methods or diagnostic criteria of the disease over prolonged follow-up.</a:t>
            </a:r>
          </a:p>
          <a:p>
            <a:pPr algn="l"/>
            <a:r>
              <a:rPr lang="en-US" sz="1800" b="0" i="0" u="none" strike="noStrike" baseline="0" dirty="0">
                <a:latin typeface="Times New Roman" panose="02020603050405020304" pitchFamily="18" charset="0"/>
              </a:rPr>
              <a:t>Cohort studies are expensive,</a:t>
            </a:r>
          </a:p>
          <a:p>
            <a:pPr algn="l"/>
            <a:r>
              <a:rPr lang="en-US" sz="1800" b="0" i="0" u="none" strike="noStrike" baseline="0" dirty="0">
                <a:latin typeface="Times New Roman" panose="02020603050405020304" pitchFamily="18" charset="0"/>
              </a:rPr>
              <a:t>The study itself may alter people’s </a:t>
            </a:r>
            <a:r>
              <a:rPr lang="en-US" sz="1800" b="0" i="0" u="none" strike="noStrike" baseline="0" dirty="0" err="1">
                <a:latin typeface="Times New Roman" panose="02020603050405020304" pitchFamily="18" charset="0"/>
              </a:rPr>
              <a:t>behaviour</a:t>
            </a:r>
            <a:r>
              <a:rPr lang="en-US" sz="1800" b="0" i="0" u="none" strike="noStrike" baseline="0" dirty="0">
                <a:latin typeface="Times New Roman" panose="02020603050405020304" pitchFamily="18" charset="0"/>
              </a:rPr>
              <a:t>.</a:t>
            </a:r>
          </a:p>
          <a:p>
            <a:pPr algn="l"/>
            <a:r>
              <a:rPr lang="en-US" sz="1800" b="0" i="0" u="none" strike="noStrike" baseline="0" dirty="0">
                <a:latin typeface="Times New Roman" panose="02020603050405020304" pitchFamily="18" charset="0"/>
              </a:rPr>
              <a:t>We are faced with ethical problems of varying importance. As evidence accumulates about the implicating factor in the </a:t>
            </a:r>
            <a:r>
              <a:rPr lang="en-US" sz="1800" b="0" i="0" u="none" strike="noStrike" baseline="0" dirty="0" err="1">
                <a:latin typeface="Times New Roman" panose="02020603050405020304" pitchFamily="18" charset="0"/>
              </a:rPr>
              <a:t>aetiology</a:t>
            </a:r>
            <a:r>
              <a:rPr lang="en-US" sz="1800" b="0" i="0" u="none" strike="noStrike" baseline="0" dirty="0">
                <a:latin typeface="Times New Roman" panose="02020603050405020304" pitchFamily="18" charset="0"/>
              </a:rPr>
              <a:t> of disease, we are obliged to intervene and if possible reduce or eliminate this factor</a:t>
            </a:r>
          </a:p>
          <a:p>
            <a:pPr algn="l"/>
            <a:r>
              <a:rPr lang="en-US" sz="1800" b="0" i="0" u="none" strike="noStrike" baseline="0" dirty="0">
                <a:latin typeface="Times New Roman" panose="02020603050405020304" pitchFamily="18" charset="0"/>
              </a:rPr>
              <a:t>Practical considerations dictate that we must concentrate on a limited number or factors possibly related to disease outcome.</a:t>
            </a:r>
            <a:endParaRPr lang="en-US" dirty="0"/>
          </a:p>
        </p:txBody>
      </p:sp>
    </p:spTree>
    <p:extLst>
      <p:ext uri="{BB962C8B-B14F-4D97-AF65-F5344CB8AC3E}">
        <p14:creationId xmlns:p14="http://schemas.microsoft.com/office/powerpoint/2010/main" val="1455127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8A04-3BA9-600C-4BB4-41AACA123C84}"/>
              </a:ext>
            </a:extLst>
          </p:cNvPr>
          <p:cNvSpPr>
            <a:spLocks noGrp="1"/>
          </p:cNvSpPr>
          <p:nvPr>
            <p:ph type="title"/>
          </p:nvPr>
        </p:nvSpPr>
        <p:spPr/>
        <p:txBody>
          <a:bodyPr/>
          <a:lstStyle/>
          <a:p>
            <a:r>
              <a:rPr lang="en-US" dirty="0"/>
              <a:t>Bias</a:t>
            </a:r>
          </a:p>
        </p:txBody>
      </p:sp>
      <p:sp>
        <p:nvSpPr>
          <p:cNvPr id="3" name="Content Placeholder 2">
            <a:extLst>
              <a:ext uri="{FF2B5EF4-FFF2-40B4-BE49-F238E27FC236}">
                <a16:creationId xmlns:a16="http://schemas.microsoft.com/office/drawing/2014/main" id="{305073B8-D502-9A6A-5AD3-79AED2473952}"/>
              </a:ext>
            </a:extLst>
          </p:cNvPr>
          <p:cNvSpPr>
            <a:spLocks noGrp="1"/>
          </p:cNvSpPr>
          <p:nvPr>
            <p:ph idx="1"/>
          </p:nvPr>
        </p:nvSpPr>
        <p:spPr/>
        <p:txBody>
          <a:bodyPr/>
          <a:lstStyle/>
          <a:p>
            <a:r>
              <a:rPr lang="en-US" dirty="0"/>
              <a:t>Selection bias</a:t>
            </a:r>
          </a:p>
          <a:p>
            <a:r>
              <a:rPr lang="en-US" dirty="0"/>
              <a:t>Information bias</a:t>
            </a:r>
          </a:p>
          <a:p>
            <a:r>
              <a:rPr lang="en-US" dirty="0"/>
              <a:t>Confusion bias</a:t>
            </a:r>
          </a:p>
          <a:p>
            <a:endParaRPr lang="en-US" dirty="0"/>
          </a:p>
        </p:txBody>
      </p:sp>
    </p:spTree>
    <p:extLst>
      <p:ext uri="{BB962C8B-B14F-4D97-AF65-F5344CB8AC3E}">
        <p14:creationId xmlns:p14="http://schemas.microsoft.com/office/powerpoint/2010/main" val="166855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EF0B55-679D-DCA5-9DEE-F2B0CB80DFC7}"/>
              </a:ext>
            </a:extLst>
          </p:cNvPr>
          <p:cNvPicPr>
            <a:picLocks noChangeAspect="1"/>
          </p:cNvPicPr>
          <p:nvPr/>
        </p:nvPicPr>
        <p:blipFill>
          <a:blip r:embed="rId2"/>
          <a:stretch>
            <a:fillRect/>
          </a:stretch>
        </p:blipFill>
        <p:spPr>
          <a:xfrm>
            <a:off x="3521110" y="0"/>
            <a:ext cx="5149780" cy="6858000"/>
          </a:xfrm>
          <a:prstGeom prst="rect">
            <a:avLst/>
          </a:prstGeom>
        </p:spPr>
      </p:pic>
    </p:spTree>
    <p:extLst>
      <p:ext uri="{BB962C8B-B14F-4D97-AF65-F5344CB8AC3E}">
        <p14:creationId xmlns:p14="http://schemas.microsoft.com/office/powerpoint/2010/main" val="3574946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548216-7CCD-1E41-CDC6-5AB36D7D13A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Thanks</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Smiling Face with No Fill">
            <a:extLst>
              <a:ext uri="{FF2B5EF4-FFF2-40B4-BE49-F238E27FC236}">
                <a16:creationId xmlns:a16="http://schemas.microsoft.com/office/drawing/2014/main" id="{13470EF4-3075-4D02-E454-F6737B93A8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0099" y="625683"/>
            <a:ext cx="5455380" cy="5455380"/>
          </a:xfrm>
          <a:prstGeom prst="rect">
            <a:avLst/>
          </a:prstGeom>
        </p:spPr>
      </p:pic>
    </p:spTree>
    <p:extLst>
      <p:ext uri="{BB962C8B-B14F-4D97-AF65-F5344CB8AC3E}">
        <p14:creationId xmlns:p14="http://schemas.microsoft.com/office/powerpoint/2010/main" val="4161505959"/>
      </p:ext>
    </p:extLst>
  </p:cSld>
  <p:clrMapOvr>
    <a:masterClrMapping/>
  </p:clrMapOvr>
</p:sld>
</file>

<file path=ppt/theme/theme1.xml><?xml version="1.0" encoding="utf-8"?>
<a:theme xmlns:a="http://schemas.openxmlformats.org/drawingml/2006/main" name="AccentBoxVTI">
  <a:themeElements>
    <a:clrScheme name="AnalogousFromLightSeedRightStep">
      <a:dk1>
        <a:srgbClr val="000000"/>
      </a:dk1>
      <a:lt1>
        <a:srgbClr val="FFFFFF"/>
      </a:lt1>
      <a:dk2>
        <a:srgbClr val="412824"/>
      </a:dk2>
      <a:lt2>
        <a:srgbClr val="E2E8E6"/>
      </a:lt2>
      <a:accent1>
        <a:srgbClr val="C696A4"/>
      </a:accent1>
      <a:accent2>
        <a:srgbClr val="BA877F"/>
      </a:accent2>
      <a:accent3>
        <a:srgbClr val="BA9F7F"/>
      </a:accent3>
      <a:accent4>
        <a:srgbClr val="A8A673"/>
      </a:accent4>
      <a:accent5>
        <a:srgbClr val="99A980"/>
      </a:accent5>
      <a:accent6>
        <a:srgbClr val="82AD76"/>
      </a:accent6>
      <a:hlink>
        <a:srgbClr val="568F7F"/>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CosineVTI">
  <a:themeElements>
    <a:clrScheme name="AnalogousFromDarkSeedLeftStep">
      <a:dk1>
        <a:srgbClr val="000000"/>
      </a:dk1>
      <a:lt1>
        <a:srgbClr val="FFFFFF"/>
      </a:lt1>
      <a:dk2>
        <a:srgbClr val="333820"/>
      </a:dk2>
      <a:lt2>
        <a:srgbClr val="E8E2E3"/>
      </a:lt2>
      <a:accent1>
        <a:srgbClr val="20B4A2"/>
      </a:accent1>
      <a:accent2>
        <a:srgbClr val="14B760"/>
      </a:accent2>
      <a:accent3>
        <a:srgbClr val="21B928"/>
      </a:accent3>
      <a:accent4>
        <a:srgbClr val="51B814"/>
      </a:accent4>
      <a:accent5>
        <a:srgbClr val="8EAC1E"/>
      </a:accent5>
      <a:accent6>
        <a:srgbClr val="C19D15"/>
      </a:accent6>
      <a:hlink>
        <a:srgbClr val="678B2E"/>
      </a:hlink>
      <a:folHlink>
        <a:srgbClr val="7F7F7F"/>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150</TotalTime>
  <Words>1277</Words>
  <Application>Microsoft Office PowerPoint</Application>
  <PresentationFormat>Widescreen</PresentationFormat>
  <Paragraphs>89</Paragraphs>
  <Slides>16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Avenir Next LT Pro</vt:lpstr>
      <vt:lpstr>Calibri</vt:lpstr>
      <vt:lpstr>Grandview</vt:lpstr>
      <vt:lpstr>Times New Roman</vt:lpstr>
      <vt:lpstr>Wingdings</vt:lpstr>
      <vt:lpstr>AccentBoxVTI</vt:lpstr>
      <vt:lpstr>CosineVTI</vt:lpstr>
      <vt:lpstr>Cohort study</vt:lpstr>
      <vt:lpstr>Elements</vt:lpstr>
      <vt:lpstr>Selection of study subjects</vt:lpstr>
      <vt:lpstr>Selection of study subjects (Special groups)</vt:lpstr>
      <vt:lpstr>Data on exposure</vt:lpstr>
      <vt:lpstr>Comparison groups</vt:lpstr>
      <vt:lpstr>Comparison groups</vt:lpstr>
      <vt:lpstr>Follow up</vt:lpstr>
      <vt:lpstr>Analysis</vt:lpstr>
      <vt:lpstr>Estimation of risk</vt:lpstr>
      <vt:lpstr>Population attributable risk</vt:lpstr>
      <vt:lpstr>Advantages</vt:lpstr>
      <vt:lpstr>Disadvantages</vt:lpstr>
      <vt:lpstr>Bias</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Cohort study</dc:title>
  <dc:creator>mukul maheshwari</dc:creator>
  <cp:lastModifiedBy>mukul maheshwari</cp:lastModifiedBy>
  <cp:revision>1</cp:revision>
  <dcterms:created xsi:type="dcterms:W3CDTF">2023-06-26T18:17:42Z</dcterms:created>
  <dcterms:modified xsi:type="dcterms:W3CDTF">2023-06-26T20:47:48Z</dcterms:modified>
</cp:coreProperties>
</file>