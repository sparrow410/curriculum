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 id="2147483763" r:id="rId2"/>
  </p:sldMasterIdLst>
  <p:sldIdLst>
    <p:sldId id="256" r:id="rId3"/>
    <p:sldId id="257" r:id="rId4"/>
    <p:sldId id="258" r:id="rId5"/>
    <p:sldId id="260" r:id="rId6"/>
    <p:sldId id="261" r:id="rId7"/>
    <p:sldId id="262" r:id="rId8"/>
    <p:sldId id="292" r:id="rId9"/>
    <p:sldId id="293" r:id="rId10"/>
    <p:sldId id="294" r:id="rId11"/>
    <p:sldId id="295" r:id="rId12"/>
    <p:sldId id="296" r:id="rId13"/>
    <p:sldId id="263" r:id="rId14"/>
    <p:sldId id="265" r:id="rId15"/>
    <p:sldId id="266" r:id="rId16"/>
    <p:sldId id="267" r:id="rId17"/>
    <p:sldId id="268" r:id="rId18"/>
    <p:sldId id="264"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78E4E9-323F-4D86-9C5B-14CC22E6FE0E}" v="4" dt="2024-04-05T19:36:43.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3" d="100"/>
          <a:sy n="123" d="100"/>
        </p:scale>
        <p:origin x="114"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F478E4E9-323F-4D86-9C5B-14CC22E6FE0E}"/>
    <pc:docChg chg="addSld delSld modSld">
      <pc:chgData name="mukul maheshwari" userId="12cb43e2ca5f0d2c" providerId="LiveId" clId="{F478E4E9-323F-4D86-9C5B-14CC22E6FE0E}" dt="2024-04-05T19:37:36.141" v="22" actId="1076"/>
      <pc:docMkLst>
        <pc:docMk/>
      </pc:docMkLst>
      <pc:sldChg chg="del">
        <pc:chgData name="mukul maheshwari" userId="12cb43e2ca5f0d2c" providerId="LiveId" clId="{F478E4E9-323F-4D86-9C5B-14CC22E6FE0E}" dt="2024-04-05T19:29:45.650" v="3" actId="47"/>
        <pc:sldMkLst>
          <pc:docMk/>
          <pc:sldMk cId="2912137362" sldId="259"/>
        </pc:sldMkLst>
      </pc:sldChg>
      <pc:sldChg chg="addSp modSp mod">
        <pc:chgData name="mukul maheshwari" userId="12cb43e2ca5f0d2c" providerId="LiveId" clId="{F478E4E9-323F-4D86-9C5B-14CC22E6FE0E}" dt="2024-04-05T19:37:36.141" v="22" actId="1076"/>
        <pc:sldMkLst>
          <pc:docMk/>
          <pc:sldMk cId="2385132466" sldId="273"/>
        </pc:sldMkLst>
        <pc:spChg chg="add mod">
          <ac:chgData name="mukul maheshwari" userId="12cb43e2ca5f0d2c" providerId="LiveId" clId="{F478E4E9-323F-4D86-9C5B-14CC22E6FE0E}" dt="2024-04-05T19:37:36.141" v="22" actId="1076"/>
          <ac:spMkLst>
            <pc:docMk/>
            <pc:sldMk cId="2385132466" sldId="273"/>
            <ac:spMk id="2" creationId="{38CB79BE-19B2-ECC3-C0BF-B912ACC22F37}"/>
          </ac:spMkLst>
        </pc:spChg>
      </pc:sldChg>
      <pc:sldChg chg="mod modShow">
        <pc:chgData name="mukul maheshwari" userId="12cb43e2ca5f0d2c" providerId="LiveId" clId="{F478E4E9-323F-4D86-9C5B-14CC22E6FE0E}" dt="2024-04-05T19:33:27.429" v="14" actId="729"/>
        <pc:sldMkLst>
          <pc:docMk/>
          <pc:sldMk cId="255533370" sldId="275"/>
        </pc:sldMkLst>
      </pc:sldChg>
      <pc:sldChg chg="mod modShow">
        <pc:chgData name="mukul maheshwari" userId="12cb43e2ca5f0d2c" providerId="LiveId" clId="{F478E4E9-323F-4D86-9C5B-14CC22E6FE0E}" dt="2024-04-05T19:34:53.564" v="15" actId="729"/>
        <pc:sldMkLst>
          <pc:docMk/>
          <pc:sldMk cId="2849125555" sldId="285"/>
        </pc:sldMkLst>
      </pc:sldChg>
      <pc:sldChg chg="modSp add del mod">
        <pc:chgData name="mukul maheshwari" userId="12cb43e2ca5f0d2c" providerId="LiveId" clId="{F478E4E9-323F-4D86-9C5B-14CC22E6FE0E}" dt="2024-04-05T19:29:57.545" v="5" actId="20577"/>
        <pc:sldMkLst>
          <pc:docMk/>
          <pc:sldMk cId="3046351536" sldId="292"/>
        </pc:sldMkLst>
        <pc:spChg chg="mod">
          <ac:chgData name="mukul maheshwari" userId="12cb43e2ca5f0d2c" providerId="LiveId" clId="{F478E4E9-323F-4D86-9C5B-14CC22E6FE0E}" dt="2024-04-05T19:29:57.545" v="5" actId="20577"/>
          <ac:spMkLst>
            <pc:docMk/>
            <pc:sldMk cId="3046351536" sldId="292"/>
            <ac:spMk id="2" creationId="{02FA8EBF-0387-DDED-482D-493229F035C2}"/>
          </ac:spMkLst>
        </pc:spChg>
      </pc:sldChg>
      <pc:sldChg chg="modSp add del mod">
        <pc:chgData name="mukul maheshwari" userId="12cb43e2ca5f0d2c" providerId="LiveId" clId="{F478E4E9-323F-4D86-9C5B-14CC22E6FE0E}" dt="2024-04-05T19:30:04.067" v="7" actId="20577"/>
        <pc:sldMkLst>
          <pc:docMk/>
          <pc:sldMk cId="1870091668" sldId="293"/>
        </pc:sldMkLst>
        <pc:spChg chg="mod">
          <ac:chgData name="mukul maheshwari" userId="12cb43e2ca5f0d2c" providerId="LiveId" clId="{F478E4E9-323F-4D86-9C5B-14CC22E6FE0E}" dt="2024-04-05T19:30:04.067" v="7" actId="20577"/>
          <ac:spMkLst>
            <pc:docMk/>
            <pc:sldMk cId="1870091668" sldId="293"/>
            <ac:spMk id="2" creationId="{02FA8EBF-0387-DDED-482D-493229F035C2}"/>
          </ac:spMkLst>
        </pc:spChg>
      </pc:sldChg>
      <pc:sldChg chg="modSp add del mod">
        <pc:chgData name="mukul maheshwari" userId="12cb43e2ca5f0d2c" providerId="LiveId" clId="{F478E4E9-323F-4D86-9C5B-14CC22E6FE0E}" dt="2024-04-05T19:30:10.408" v="9" actId="20577"/>
        <pc:sldMkLst>
          <pc:docMk/>
          <pc:sldMk cId="459215264" sldId="294"/>
        </pc:sldMkLst>
        <pc:spChg chg="mod">
          <ac:chgData name="mukul maheshwari" userId="12cb43e2ca5f0d2c" providerId="LiveId" clId="{F478E4E9-323F-4D86-9C5B-14CC22E6FE0E}" dt="2024-04-05T19:30:10.408" v="9" actId="20577"/>
          <ac:spMkLst>
            <pc:docMk/>
            <pc:sldMk cId="459215264" sldId="294"/>
            <ac:spMk id="2" creationId="{02FA8EBF-0387-DDED-482D-493229F035C2}"/>
          </ac:spMkLst>
        </pc:spChg>
      </pc:sldChg>
      <pc:sldChg chg="modSp add del mod">
        <pc:chgData name="mukul maheshwari" userId="12cb43e2ca5f0d2c" providerId="LiveId" clId="{F478E4E9-323F-4D86-9C5B-14CC22E6FE0E}" dt="2024-04-05T19:30:27.499" v="11" actId="20577"/>
        <pc:sldMkLst>
          <pc:docMk/>
          <pc:sldMk cId="739477159" sldId="295"/>
        </pc:sldMkLst>
        <pc:spChg chg="mod">
          <ac:chgData name="mukul maheshwari" userId="12cb43e2ca5f0d2c" providerId="LiveId" clId="{F478E4E9-323F-4D86-9C5B-14CC22E6FE0E}" dt="2024-04-05T19:30:27.499" v="11" actId="20577"/>
          <ac:spMkLst>
            <pc:docMk/>
            <pc:sldMk cId="739477159" sldId="295"/>
            <ac:spMk id="2" creationId="{02FA8EBF-0387-DDED-482D-493229F035C2}"/>
          </ac:spMkLst>
        </pc:spChg>
      </pc:sldChg>
      <pc:sldChg chg="modSp add del mod">
        <pc:chgData name="mukul maheshwari" userId="12cb43e2ca5f0d2c" providerId="LiveId" clId="{F478E4E9-323F-4D86-9C5B-14CC22E6FE0E}" dt="2024-04-05T19:30:33.686" v="13" actId="20577"/>
        <pc:sldMkLst>
          <pc:docMk/>
          <pc:sldMk cId="1890069833" sldId="296"/>
        </pc:sldMkLst>
        <pc:spChg chg="mod">
          <ac:chgData name="mukul maheshwari" userId="12cb43e2ca5f0d2c" providerId="LiveId" clId="{F478E4E9-323F-4D86-9C5B-14CC22E6FE0E}" dt="2024-04-05T19:30:33.686" v="13" actId="20577"/>
          <ac:spMkLst>
            <pc:docMk/>
            <pc:sldMk cId="1890069833" sldId="296"/>
            <ac:spMk id="2" creationId="{02FA8EBF-0387-DDED-482D-493229F035C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4/6/2024</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a:t>
            </a:fld>
            <a:endParaRPr lang="en-US" dirty="0"/>
          </a:p>
        </p:txBody>
      </p:sp>
    </p:spTree>
    <p:extLst>
      <p:ext uri="{BB962C8B-B14F-4D97-AF65-F5344CB8AC3E}">
        <p14:creationId xmlns:p14="http://schemas.microsoft.com/office/powerpoint/2010/main" val="3475996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181229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564287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5057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247749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611919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1854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856508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56565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235205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4/6/2024</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807951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4/6/2024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2978174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4197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4/6/2024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9819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647900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4/6/2024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366051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37636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0022275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4/6/2024</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21887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4/6/2024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574024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58271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4/6/2024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61699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solidFill>
              </a:defRPr>
            </a:lvl1pPr>
          </a:lstStyle>
          <a:p>
            <a:fld id="{F4D57BDD-E64A-4D27-8978-82FFCA18A12C}" type="datetimeFigureOut">
              <a:rPr lang="en-US" smtClean="0"/>
              <a:pPr/>
              <a:t>4/6/2024</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1785371499"/>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51" r:id="rId6"/>
    <p:sldLayoutId id="2147483756"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4/6/2024</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1253609699"/>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hf sldNum="0" hdr="0" ftr="0" dt="0"/>
  <p:txStyles>
    <p:titleStyle>
      <a:lvl1pPr algn="l" defTabSz="914400" rtl="0" eaLnBrk="1" latinLnBrk="0" hangingPunct="1">
        <a:lnSpc>
          <a:spcPct val="90000"/>
        </a:lnSpc>
        <a:spcBef>
          <a:spcPct val="0"/>
        </a:spcBef>
        <a:buNone/>
        <a:defRPr lang="en-US" sz="4000" b="1"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D235C79-7228-DCFE-6AA6-91A9BE4972CC}"/>
              </a:ext>
            </a:extLst>
          </p:cNvPr>
          <p:cNvPicPr>
            <a:picLocks noChangeAspect="1"/>
          </p:cNvPicPr>
          <p:nvPr/>
        </p:nvPicPr>
        <p:blipFill rotWithShape="1">
          <a:blip r:embed="rId2"/>
          <a:srcRect r="1" b="14770"/>
          <a:stretch/>
        </p:blipFill>
        <p:spPr>
          <a:xfrm>
            <a:off x="20" y="10"/>
            <a:ext cx="12191435" cy="6857989"/>
          </a:xfrm>
          <a:prstGeom prst="rect">
            <a:avLst/>
          </a:prstGeom>
        </p:spPr>
      </p:pic>
      <p:sp>
        <p:nvSpPr>
          <p:cNvPr id="33" name="Rectangle 32">
            <a:extLst>
              <a:ext uri="{FF2B5EF4-FFF2-40B4-BE49-F238E27FC236}">
                <a16:creationId xmlns:a16="http://schemas.microsoft.com/office/drawing/2014/main" id="{0A3D475D-F146-44DA-80FB-3306B95B8D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23925" y="-923925"/>
            <a:ext cx="6858000" cy="8705850"/>
          </a:xfrm>
          <a:prstGeom prst="rect">
            <a:avLst/>
          </a:prstGeom>
          <a:gradFill>
            <a:gsLst>
              <a:gs pos="100000">
                <a:srgbClr val="000000">
                  <a:alpha val="0"/>
                </a:srgbClr>
              </a:gs>
              <a:gs pos="31000">
                <a:srgbClr val="000000">
                  <a:alpha val="70000"/>
                </a:srgbClr>
              </a:gs>
              <a:gs pos="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FECC11-6B46-2F63-024B-6F9CC6758F8B}"/>
              </a:ext>
            </a:extLst>
          </p:cNvPr>
          <p:cNvSpPr>
            <a:spLocks noGrp="1"/>
          </p:cNvSpPr>
          <p:nvPr>
            <p:ph type="ctrTitle"/>
          </p:nvPr>
        </p:nvSpPr>
        <p:spPr>
          <a:xfrm>
            <a:off x="762000" y="1523999"/>
            <a:ext cx="5334000" cy="3535018"/>
          </a:xfrm>
        </p:spPr>
        <p:txBody>
          <a:bodyPr anchor="ctr">
            <a:normAutofit/>
          </a:bodyPr>
          <a:lstStyle/>
          <a:p>
            <a:pPr algn="l"/>
            <a:r>
              <a:rPr lang="en-US" sz="8000">
                <a:solidFill>
                  <a:srgbClr val="FFFFFF"/>
                </a:solidFill>
              </a:rPr>
              <a:t>Mortality Indicators</a:t>
            </a:r>
          </a:p>
        </p:txBody>
      </p:sp>
      <p:sp>
        <p:nvSpPr>
          <p:cNvPr id="3" name="Subtitle 2">
            <a:extLst>
              <a:ext uri="{FF2B5EF4-FFF2-40B4-BE49-F238E27FC236}">
                <a16:creationId xmlns:a16="http://schemas.microsoft.com/office/drawing/2014/main" id="{FA16BDA9-F5E6-E3C4-D429-0050CAAEBAE3}"/>
              </a:ext>
            </a:extLst>
          </p:cNvPr>
          <p:cNvSpPr>
            <a:spLocks noGrp="1"/>
          </p:cNvSpPr>
          <p:nvPr>
            <p:ph type="subTitle" idx="1"/>
          </p:nvPr>
        </p:nvSpPr>
        <p:spPr>
          <a:xfrm>
            <a:off x="762000" y="5333998"/>
            <a:ext cx="5334000" cy="762000"/>
          </a:xfrm>
        </p:spPr>
        <p:txBody>
          <a:bodyPr anchor="t">
            <a:normAutofit/>
          </a:bodyPr>
          <a:lstStyle/>
          <a:p>
            <a:pPr algn="l"/>
            <a:endParaRPr lang="en-US">
              <a:solidFill>
                <a:srgbClr val="FFFFFF"/>
              </a:solidFill>
            </a:endParaRPr>
          </a:p>
        </p:txBody>
      </p:sp>
    </p:spTree>
    <p:extLst>
      <p:ext uri="{BB962C8B-B14F-4D97-AF65-F5344CB8AC3E}">
        <p14:creationId xmlns:p14="http://schemas.microsoft.com/office/powerpoint/2010/main" val="607843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62B1D-FAAF-4B1B-AB3B-BDDC73C51657}"/>
              </a:ext>
            </a:extLst>
          </p:cNvPr>
          <p:cNvSpPr>
            <a:spLocks noGrp="1"/>
          </p:cNvSpPr>
          <p:nvPr>
            <p:ph type="title"/>
          </p:nvPr>
        </p:nvSpPr>
        <p:spPr>
          <a:xfrm>
            <a:off x="762000" y="528109"/>
            <a:ext cx="9144000" cy="1263649"/>
          </a:xfrm>
        </p:spPr>
        <p:txBody>
          <a:bodyPr/>
          <a:lstStyle/>
          <a:p>
            <a:r>
              <a:rPr lang="en-US" dirty="0">
                <a:solidFill>
                  <a:schemeClr val="bg1"/>
                </a:solidFill>
              </a:rPr>
              <a:t>Quiz</a:t>
            </a:r>
          </a:p>
        </p:txBody>
      </p:sp>
      <p:sp>
        <p:nvSpPr>
          <p:cNvPr id="3" name="Content Placeholder 2">
            <a:extLst>
              <a:ext uri="{FF2B5EF4-FFF2-40B4-BE49-F238E27FC236}">
                <a16:creationId xmlns:a16="http://schemas.microsoft.com/office/drawing/2014/main" id="{34508247-E036-CE7D-F70F-D7C16B989E5E}"/>
              </a:ext>
            </a:extLst>
          </p:cNvPr>
          <p:cNvSpPr>
            <a:spLocks noGrp="1"/>
          </p:cNvSpPr>
          <p:nvPr>
            <p:ph idx="1"/>
          </p:nvPr>
        </p:nvSpPr>
        <p:spPr>
          <a:xfrm>
            <a:off x="762000" y="1532465"/>
            <a:ext cx="10668000" cy="4797426"/>
          </a:xfrm>
        </p:spPr>
        <p:txBody>
          <a:bodyPr>
            <a:normAutofit fontScale="92500"/>
          </a:bodyPr>
          <a:lstStyle/>
          <a:p>
            <a:pPr marL="0" indent="0">
              <a:buNone/>
            </a:pPr>
            <a:r>
              <a:rPr lang="en-US" dirty="0">
                <a:solidFill>
                  <a:schemeClr val="bg1"/>
                </a:solidFill>
              </a:rPr>
              <a:t>A 54-year-old male with past history of type 2 diabetes mellitus developed acute STEMI on May 22, 2016. He was admitted to ICU. On May 24, he developed atrial fibrillation followed by embolism of right MCA. He was placed on ventilator and vasopressor support but expired on May 27, 2016 at 4 p.m. Prepare his death certificate.</a:t>
            </a:r>
          </a:p>
          <a:p>
            <a:pPr marL="0" indent="0">
              <a:buNone/>
            </a:pPr>
            <a:endParaRPr lang="en-US" dirty="0">
              <a:solidFill>
                <a:schemeClr val="bg1"/>
              </a:solidFill>
            </a:endParaRPr>
          </a:p>
          <a:p>
            <a:r>
              <a:rPr lang="en-US" dirty="0">
                <a:solidFill>
                  <a:schemeClr val="bg1"/>
                </a:solidFill>
              </a:rPr>
              <a:t>Part – I</a:t>
            </a:r>
          </a:p>
          <a:p>
            <a:pPr lvl="1"/>
            <a:r>
              <a:rPr lang="en-US" dirty="0">
                <a:solidFill>
                  <a:schemeClr val="bg1"/>
                </a:solidFill>
              </a:rPr>
              <a:t>Disease condition leading to death</a:t>
            </a:r>
          </a:p>
          <a:p>
            <a:pPr lvl="1"/>
            <a:r>
              <a:rPr lang="en-US" dirty="0">
                <a:solidFill>
                  <a:schemeClr val="bg1"/>
                </a:solidFill>
              </a:rPr>
              <a:t>Due to / as consequence of</a:t>
            </a:r>
          </a:p>
          <a:p>
            <a:pPr lvl="1"/>
            <a:r>
              <a:rPr lang="en-US" dirty="0">
                <a:solidFill>
                  <a:schemeClr val="bg1"/>
                </a:solidFill>
              </a:rPr>
              <a:t>Due to / as consequence of</a:t>
            </a:r>
          </a:p>
          <a:p>
            <a:r>
              <a:rPr lang="en-US" dirty="0">
                <a:solidFill>
                  <a:schemeClr val="bg1"/>
                </a:solidFill>
              </a:rPr>
              <a:t> Part II</a:t>
            </a:r>
          </a:p>
          <a:p>
            <a:pPr lvl="1"/>
            <a:r>
              <a:rPr lang="en-US" dirty="0">
                <a:solidFill>
                  <a:schemeClr val="bg1"/>
                </a:solidFill>
              </a:rPr>
              <a:t>Other significant condition contributing to death but not related to disease causing it.</a:t>
            </a:r>
          </a:p>
        </p:txBody>
      </p:sp>
    </p:spTree>
    <p:extLst>
      <p:ext uri="{BB962C8B-B14F-4D97-AF65-F5344CB8AC3E}">
        <p14:creationId xmlns:p14="http://schemas.microsoft.com/office/powerpoint/2010/main" val="327844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48219-0CF8-7E21-2DE2-B11B6679BDF6}"/>
              </a:ext>
            </a:extLst>
          </p:cNvPr>
          <p:cNvSpPr>
            <a:spLocks noGrp="1"/>
          </p:cNvSpPr>
          <p:nvPr>
            <p:ph type="title"/>
          </p:nvPr>
        </p:nvSpPr>
        <p:spPr/>
        <p:txBody>
          <a:bodyPr/>
          <a:lstStyle/>
          <a:p>
            <a:r>
              <a:rPr lang="en-US" dirty="0">
                <a:solidFill>
                  <a:schemeClr val="bg1"/>
                </a:solidFill>
              </a:rPr>
              <a:t>Answer</a:t>
            </a:r>
          </a:p>
        </p:txBody>
      </p:sp>
      <p:sp>
        <p:nvSpPr>
          <p:cNvPr id="3" name="Content Placeholder 2">
            <a:extLst>
              <a:ext uri="{FF2B5EF4-FFF2-40B4-BE49-F238E27FC236}">
                <a16:creationId xmlns:a16="http://schemas.microsoft.com/office/drawing/2014/main" id="{CF474B7B-28BB-2AF5-8665-F69BEDB5AFA8}"/>
              </a:ext>
            </a:extLst>
          </p:cNvPr>
          <p:cNvSpPr>
            <a:spLocks noGrp="1"/>
          </p:cNvSpPr>
          <p:nvPr>
            <p:ph idx="1"/>
          </p:nvPr>
        </p:nvSpPr>
        <p:spPr/>
        <p:txBody>
          <a:bodyPr/>
          <a:lstStyle/>
          <a:p>
            <a:pPr marL="514350" indent="-514350">
              <a:buFont typeface="+mj-lt"/>
              <a:buAutoNum type="arabicPeriod"/>
            </a:pPr>
            <a:r>
              <a:rPr lang="en-US" dirty="0">
                <a:solidFill>
                  <a:schemeClr val="bg1"/>
                </a:solidFill>
              </a:rPr>
              <a:t>Cerebral embolism (rt MCA)</a:t>
            </a:r>
          </a:p>
          <a:p>
            <a:pPr marL="514350" indent="-514350">
              <a:buFont typeface="+mj-lt"/>
              <a:buAutoNum type="arabicPeriod"/>
            </a:pPr>
            <a:r>
              <a:rPr lang="en-US" dirty="0">
                <a:solidFill>
                  <a:schemeClr val="bg1"/>
                </a:solidFill>
              </a:rPr>
              <a:t>AF</a:t>
            </a:r>
          </a:p>
          <a:p>
            <a:pPr marL="514350" indent="-514350">
              <a:buFont typeface="+mj-lt"/>
              <a:buAutoNum type="arabicPeriod"/>
            </a:pPr>
            <a:r>
              <a:rPr lang="en-US" dirty="0">
                <a:solidFill>
                  <a:schemeClr val="bg1"/>
                </a:solidFill>
              </a:rPr>
              <a:t>Acute STEMI</a:t>
            </a:r>
          </a:p>
          <a:p>
            <a:pPr marL="514350" indent="-514350">
              <a:buFont typeface="+mj-lt"/>
              <a:buAutoNum type="arabicPeriod"/>
            </a:pPr>
            <a:endParaRPr lang="en-US" dirty="0">
              <a:solidFill>
                <a:schemeClr val="bg1"/>
              </a:solidFill>
            </a:endParaRPr>
          </a:p>
          <a:p>
            <a:pPr marL="514350" indent="-514350">
              <a:buFont typeface="+mj-lt"/>
              <a:buAutoNum type="arabicPeriod"/>
            </a:pPr>
            <a:r>
              <a:rPr lang="en-US" dirty="0">
                <a:solidFill>
                  <a:schemeClr val="bg1"/>
                </a:solidFill>
              </a:rPr>
              <a:t>NIDDM</a:t>
            </a:r>
          </a:p>
        </p:txBody>
      </p:sp>
    </p:spTree>
    <p:extLst>
      <p:ext uri="{BB962C8B-B14F-4D97-AF65-F5344CB8AC3E}">
        <p14:creationId xmlns:p14="http://schemas.microsoft.com/office/powerpoint/2010/main" val="298074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551-CFE3-5EA0-6D88-965BFE15B0BB}"/>
              </a:ext>
            </a:extLst>
          </p:cNvPr>
          <p:cNvSpPr>
            <a:spLocks noGrp="1"/>
          </p:cNvSpPr>
          <p:nvPr>
            <p:ph type="title"/>
          </p:nvPr>
        </p:nvSpPr>
        <p:spPr>
          <a:xfrm>
            <a:off x="838200" y="355600"/>
            <a:ext cx="9144000" cy="1263649"/>
          </a:xfrm>
        </p:spPr>
        <p:txBody>
          <a:bodyPr/>
          <a:lstStyle/>
          <a:p>
            <a:r>
              <a:rPr lang="en-US" dirty="0">
                <a:solidFill>
                  <a:schemeClr val="bg1"/>
                </a:solidFill>
              </a:rPr>
              <a:t>MCQ - 2</a:t>
            </a:r>
          </a:p>
        </p:txBody>
      </p:sp>
      <p:sp>
        <p:nvSpPr>
          <p:cNvPr id="3" name="Content Placeholder 2">
            <a:extLst>
              <a:ext uri="{FF2B5EF4-FFF2-40B4-BE49-F238E27FC236}">
                <a16:creationId xmlns:a16="http://schemas.microsoft.com/office/drawing/2014/main" id="{B0746DBB-EBC1-E0C0-C16B-61043D4373B3}"/>
              </a:ext>
            </a:extLst>
          </p:cNvPr>
          <p:cNvSpPr>
            <a:spLocks noGrp="1"/>
          </p:cNvSpPr>
          <p:nvPr>
            <p:ph idx="1"/>
          </p:nvPr>
        </p:nvSpPr>
        <p:spPr>
          <a:xfrm>
            <a:off x="533400" y="2235201"/>
            <a:ext cx="10896600" cy="3860800"/>
          </a:xfrm>
        </p:spPr>
        <p:txBody>
          <a:bodyPr/>
          <a:lstStyle/>
          <a:p>
            <a:r>
              <a:rPr lang="en-US" dirty="0">
                <a:solidFill>
                  <a:schemeClr val="bg1"/>
                </a:solidFill>
              </a:rPr>
              <a:t>Which of the following enumeration methods has separate units for enumeration in rural and urban areas?</a:t>
            </a:r>
          </a:p>
          <a:p>
            <a:pPr lvl="1"/>
            <a:r>
              <a:rPr lang="en-US" dirty="0">
                <a:solidFill>
                  <a:schemeClr val="bg1"/>
                </a:solidFill>
              </a:rPr>
              <a:t>(a) Census</a:t>
            </a:r>
          </a:p>
          <a:p>
            <a:pPr lvl="1"/>
            <a:r>
              <a:rPr lang="en-US" dirty="0">
                <a:solidFill>
                  <a:schemeClr val="bg1"/>
                </a:solidFill>
              </a:rPr>
              <a:t>(b) SRS</a:t>
            </a:r>
          </a:p>
          <a:p>
            <a:pPr lvl="1"/>
            <a:r>
              <a:rPr lang="en-US" dirty="0">
                <a:solidFill>
                  <a:schemeClr val="bg1"/>
                </a:solidFill>
              </a:rPr>
              <a:t>(c) MRS</a:t>
            </a:r>
          </a:p>
          <a:p>
            <a:pPr lvl="1"/>
            <a:r>
              <a:rPr lang="en-US" dirty="0">
                <a:solidFill>
                  <a:schemeClr val="bg1"/>
                </a:solidFill>
              </a:rPr>
              <a:t>(d) NFHS</a:t>
            </a:r>
          </a:p>
        </p:txBody>
      </p:sp>
    </p:spTree>
    <p:extLst>
      <p:ext uri="{BB962C8B-B14F-4D97-AF65-F5344CB8AC3E}">
        <p14:creationId xmlns:p14="http://schemas.microsoft.com/office/powerpoint/2010/main" val="243432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551-CFE3-5EA0-6D88-965BFE15B0BB}"/>
              </a:ext>
            </a:extLst>
          </p:cNvPr>
          <p:cNvSpPr>
            <a:spLocks noGrp="1"/>
          </p:cNvSpPr>
          <p:nvPr>
            <p:ph type="title"/>
          </p:nvPr>
        </p:nvSpPr>
        <p:spPr>
          <a:xfrm>
            <a:off x="838200" y="355600"/>
            <a:ext cx="9144000" cy="1263649"/>
          </a:xfrm>
        </p:spPr>
        <p:txBody>
          <a:bodyPr/>
          <a:lstStyle/>
          <a:p>
            <a:r>
              <a:rPr lang="en-US" dirty="0">
                <a:solidFill>
                  <a:schemeClr val="bg1"/>
                </a:solidFill>
              </a:rPr>
              <a:t>MCQ - 3</a:t>
            </a:r>
          </a:p>
        </p:txBody>
      </p:sp>
      <p:sp>
        <p:nvSpPr>
          <p:cNvPr id="3" name="Content Placeholder 2">
            <a:extLst>
              <a:ext uri="{FF2B5EF4-FFF2-40B4-BE49-F238E27FC236}">
                <a16:creationId xmlns:a16="http://schemas.microsoft.com/office/drawing/2014/main" id="{B0746DBB-EBC1-E0C0-C16B-61043D4373B3}"/>
              </a:ext>
            </a:extLst>
          </p:cNvPr>
          <p:cNvSpPr>
            <a:spLocks noGrp="1"/>
          </p:cNvSpPr>
          <p:nvPr>
            <p:ph idx="1"/>
          </p:nvPr>
        </p:nvSpPr>
        <p:spPr>
          <a:xfrm>
            <a:off x="533400" y="2235201"/>
            <a:ext cx="10896600" cy="3860800"/>
          </a:xfrm>
        </p:spPr>
        <p:txBody>
          <a:bodyPr/>
          <a:lstStyle/>
          <a:p>
            <a:r>
              <a:rPr lang="en-US" dirty="0">
                <a:solidFill>
                  <a:schemeClr val="bg1"/>
                </a:solidFill>
              </a:rPr>
              <a:t>Which of the following serves as a good method of obtaining data on morbidity due to a number of common and important diseases in our country?</a:t>
            </a:r>
          </a:p>
          <a:p>
            <a:pPr lvl="1"/>
            <a:r>
              <a:rPr lang="en-US" dirty="0">
                <a:solidFill>
                  <a:schemeClr val="bg1"/>
                </a:solidFill>
              </a:rPr>
              <a:t>(a) Death certificates</a:t>
            </a:r>
          </a:p>
          <a:p>
            <a:pPr lvl="1"/>
            <a:r>
              <a:rPr lang="en-US" dirty="0">
                <a:solidFill>
                  <a:schemeClr val="bg1"/>
                </a:solidFill>
              </a:rPr>
              <a:t>(b) IDSP</a:t>
            </a:r>
          </a:p>
          <a:p>
            <a:pPr lvl="1"/>
            <a:r>
              <a:rPr lang="en-US" dirty="0">
                <a:solidFill>
                  <a:schemeClr val="bg1"/>
                </a:solidFill>
              </a:rPr>
              <a:t>(c) SRS</a:t>
            </a:r>
          </a:p>
          <a:p>
            <a:pPr lvl="1"/>
            <a:r>
              <a:rPr lang="en-US" dirty="0">
                <a:solidFill>
                  <a:schemeClr val="bg1"/>
                </a:solidFill>
              </a:rPr>
              <a:t>(d) Census</a:t>
            </a:r>
          </a:p>
        </p:txBody>
      </p:sp>
    </p:spTree>
    <p:extLst>
      <p:ext uri="{BB962C8B-B14F-4D97-AF65-F5344CB8AC3E}">
        <p14:creationId xmlns:p14="http://schemas.microsoft.com/office/powerpoint/2010/main" val="4064953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551-CFE3-5EA0-6D88-965BFE15B0BB}"/>
              </a:ext>
            </a:extLst>
          </p:cNvPr>
          <p:cNvSpPr>
            <a:spLocks noGrp="1"/>
          </p:cNvSpPr>
          <p:nvPr>
            <p:ph type="title"/>
          </p:nvPr>
        </p:nvSpPr>
        <p:spPr>
          <a:xfrm>
            <a:off x="838200" y="355600"/>
            <a:ext cx="9144000" cy="1263649"/>
          </a:xfrm>
        </p:spPr>
        <p:txBody>
          <a:bodyPr/>
          <a:lstStyle/>
          <a:p>
            <a:r>
              <a:rPr lang="en-US" dirty="0">
                <a:solidFill>
                  <a:schemeClr val="bg1"/>
                </a:solidFill>
              </a:rPr>
              <a:t>MCQ - 4</a:t>
            </a:r>
          </a:p>
        </p:txBody>
      </p:sp>
      <p:sp>
        <p:nvSpPr>
          <p:cNvPr id="3" name="Content Placeholder 2">
            <a:extLst>
              <a:ext uri="{FF2B5EF4-FFF2-40B4-BE49-F238E27FC236}">
                <a16:creationId xmlns:a16="http://schemas.microsoft.com/office/drawing/2014/main" id="{B0746DBB-EBC1-E0C0-C16B-61043D4373B3}"/>
              </a:ext>
            </a:extLst>
          </p:cNvPr>
          <p:cNvSpPr>
            <a:spLocks noGrp="1"/>
          </p:cNvSpPr>
          <p:nvPr>
            <p:ph idx="1"/>
          </p:nvPr>
        </p:nvSpPr>
        <p:spPr>
          <a:xfrm>
            <a:off x="533400" y="2235201"/>
            <a:ext cx="10896600" cy="3860800"/>
          </a:xfrm>
        </p:spPr>
        <p:txBody>
          <a:bodyPr/>
          <a:lstStyle/>
          <a:p>
            <a:r>
              <a:rPr lang="en-US" dirty="0">
                <a:solidFill>
                  <a:schemeClr val="bg1"/>
                </a:solidFill>
              </a:rPr>
              <a:t>Which of the following enumeration methods has legal backing through an “act” passed by the parliament</a:t>
            </a:r>
          </a:p>
          <a:p>
            <a:pPr lvl="1"/>
            <a:r>
              <a:rPr lang="en-US" dirty="0">
                <a:solidFill>
                  <a:schemeClr val="bg1"/>
                </a:solidFill>
              </a:rPr>
              <a:t>(a) Census</a:t>
            </a:r>
          </a:p>
          <a:p>
            <a:pPr lvl="1"/>
            <a:r>
              <a:rPr lang="en-US" dirty="0">
                <a:solidFill>
                  <a:schemeClr val="bg1"/>
                </a:solidFill>
              </a:rPr>
              <a:t>(b) SRS</a:t>
            </a:r>
          </a:p>
          <a:p>
            <a:pPr lvl="1"/>
            <a:r>
              <a:rPr lang="en-US" dirty="0">
                <a:solidFill>
                  <a:schemeClr val="bg1"/>
                </a:solidFill>
              </a:rPr>
              <a:t>(c) MRS</a:t>
            </a:r>
          </a:p>
          <a:p>
            <a:pPr lvl="1"/>
            <a:r>
              <a:rPr lang="en-US" dirty="0">
                <a:solidFill>
                  <a:schemeClr val="bg1"/>
                </a:solidFill>
              </a:rPr>
              <a:t>(d) Family Health Survey</a:t>
            </a:r>
          </a:p>
        </p:txBody>
      </p:sp>
    </p:spTree>
    <p:extLst>
      <p:ext uri="{BB962C8B-B14F-4D97-AF65-F5344CB8AC3E}">
        <p14:creationId xmlns:p14="http://schemas.microsoft.com/office/powerpoint/2010/main" val="4095581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8EBF-0387-DDED-482D-493229F035C2}"/>
              </a:ext>
            </a:extLst>
          </p:cNvPr>
          <p:cNvSpPr>
            <a:spLocks noGrp="1"/>
          </p:cNvSpPr>
          <p:nvPr>
            <p:ph type="title"/>
          </p:nvPr>
        </p:nvSpPr>
        <p:spPr/>
        <p:txBody>
          <a:bodyPr/>
          <a:lstStyle/>
          <a:p>
            <a:r>
              <a:rPr lang="en-US" dirty="0"/>
              <a:t>MCQ - 5</a:t>
            </a:r>
          </a:p>
        </p:txBody>
      </p:sp>
      <p:sp>
        <p:nvSpPr>
          <p:cNvPr id="3" name="Content Placeholder 2">
            <a:extLst>
              <a:ext uri="{FF2B5EF4-FFF2-40B4-BE49-F238E27FC236}">
                <a16:creationId xmlns:a16="http://schemas.microsoft.com/office/drawing/2014/main" id="{D104AEF8-EC15-1465-1980-99AFF2AA2463}"/>
              </a:ext>
            </a:extLst>
          </p:cNvPr>
          <p:cNvSpPr>
            <a:spLocks noGrp="1"/>
          </p:cNvSpPr>
          <p:nvPr>
            <p:ph idx="1"/>
          </p:nvPr>
        </p:nvSpPr>
        <p:spPr/>
        <p:txBody>
          <a:bodyPr>
            <a:normAutofit/>
          </a:bodyPr>
          <a:lstStyle/>
          <a:p>
            <a:r>
              <a:rPr lang="en-US" sz="2800" dirty="0"/>
              <a:t>Numerator not a part of denominator in :</a:t>
            </a:r>
          </a:p>
          <a:p>
            <a:pPr lvl="1"/>
            <a:r>
              <a:rPr lang="en-US" sz="2800" dirty="0"/>
              <a:t>Rate</a:t>
            </a:r>
          </a:p>
          <a:p>
            <a:pPr lvl="1"/>
            <a:r>
              <a:rPr lang="en-US" sz="2800" dirty="0"/>
              <a:t>Ratio</a:t>
            </a:r>
          </a:p>
          <a:p>
            <a:pPr lvl="1"/>
            <a:r>
              <a:rPr lang="en-US" sz="2800" dirty="0"/>
              <a:t>Proportion</a:t>
            </a:r>
          </a:p>
          <a:p>
            <a:pPr lvl="1"/>
            <a:r>
              <a:rPr lang="en-US" sz="2800" dirty="0"/>
              <a:t>All of the above</a:t>
            </a:r>
          </a:p>
          <a:p>
            <a:pPr lvl="1"/>
            <a:endParaRPr lang="en-US" sz="2800" dirty="0"/>
          </a:p>
          <a:p>
            <a:pPr lvl="1"/>
            <a:endParaRPr lang="en-US" sz="2800" dirty="0"/>
          </a:p>
        </p:txBody>
      </p:sp>
    </p:spTree>
    <p:extLst>
      <p:ext uri="{BB962C8B-B14F-4D97-AF65-F5344CB8AC3E}">
        <p14:creationId xmlns:p14="http://schemas.microsoft.com/office/powerpoint/2010/main" val="3046351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8EBF-0387-DDED-482D-493229F035C2}"/>
              </a:ext>
            </a:extLst>
          </p:cNvPr>
          <p:cNvSpPr>
            <a:spLocks noGrp="1"/>
          </p:cNvSpPr>
          <p:nvPr>
            <p:ph type="title"/>
          </p:nvPr>
        </p:nvSpPr>
        <p:spPr/>
        <p:txBody>
          <a:bodyPr/>
          <a:lstStyle/>
          <a:p>
            <a:r>
              <a:rPr lang="en-US" dirty="0"/>
              <a:t>MCQ - 6</a:t>
            </a:r>
          </a:p>
        </p:txBody>
      </p:sp>
      <p:sp>
        <p:nvSpPr>
          <p:cNvPr id="3" name="Content Placeholder 2">
            <a:extLst>
              <a:ext uri="{FF2B5EF4-FFF2-40B4-BE49-F238E27FC236}">
                <a16:creationId xmlns:a16="http://schemas.microsoft.com/office/drawing/2014/main" id="{D104AEF8-EC15-1465-1980-99AFF2AA2463}"/>
              </a:ext>
            </a:extLst>
          </p:cNvPr>
          <p:cNvSpPr>
            <a:spLocks noGrp="1"/>
          </p:cNvSpPr>
          <p:nvPr>
            <p:ph idx="1"/>
          </p:nvPr>
        </p:nvSpPr>
        <p:spPr/>
        <p:txBody>
          <a:bodyPr>
            <a:normAutofit/>
          </a:bodyPr>
          <a:lstStyle/>
          <a:p>
            <a:r>
              <a:rPr lang="en-US" sz="2800" dirty="0"/>
              <a:t>Discovery of penicillin by Sir Alexander Fleming was based on:</a:t>
            </a:r>
          </a:p>
          <a:p>
            <a:pPr lvl="1"/>
            <a:r>
              <a:rPr lang="en-US" sz="2800" dirty="0"/>
              <a:t>Epidemiological studies</a:t>
            </a:r>
          </a:p>
          <a:p>
            <a:pPr lvl="1"/>
            <a:r>
              <a:rPr lang="en-US" sz="2800" dirty="0"/>
              <a:t>Clinical studies</a:t>
            </a:r>
          </a:p>
          <a:p>
            <a:pPr lvl="1"/>
            <a:r>
              <a:rPr lang="en-US" sz="2800" dirty="0"/>
              <a:t>Laboratory studies</a:t>
            </a:r>
          </a:p>
          <a:p>
            <a:pPr lvl="1"/>
            <a:r>
              <a:rPr lang="en-US" sz="2800" dirty="0"/>
              <a:t>None of the above</a:t>
            </a:r>
          </a:p>
          <a:p>
            <a:pPr lvl="1"/>
            <a:endParaRPr lang="en-US" sz="2800" dirty="0"/>
          </a:p>
          <a:p>
            <a:pPr lvl="1"/>
            <a:endParaRPr lang="en-US" sz="2800" dirty="0"/>
          </a:p>
        </p:txBody>
      </p:sp>
    </p:spTree>
    <p:extLst>
      <p:ext uri="{BB962C8B-B14F-4D97-AF65-F5344CB8AC3E}">
        <p14:creationId xmlns:p14="http://schemas.microsoft.com/office/powerpoint/2010/main" val="187009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8EBF-0387-DDED-482D-493229F035C2}"/>
              </a:ext>
            </a:extLst>
          </p:cNvPr>
          <p:cNvSpPr>
            <a:spLocks noGrp="1"/>
          </p:cNvSpPr>
          <p:nvPr>
            <p:ph type="title"/>
          </p:nvPr>
        </p:nvSpPr>
        <p:spPr/>
        <p:txBody>
          <a:bodyPr/>
          <a:lstStyle/>
          <a:p>
            <a:r>
              <a:rPr lang="en-US" dirty="0"/>
              <a:t>MCQ - 7</a:t>
            </a:r>
          </a:p>
        </p:txBody>
      </p:sp>
      <p:sp>
        <p:nvSpPr>
          <p:cNvPr id="3" name="Content Placeholder 2">
            <a:extLst>
              <a:ext uri="{FF2B5EF4-FFF2-40B4-BE49-F238E27FC236}">
                <a16:creationId xmlns:a16="http://schemas.microsoft.com/office/drawing/2014/main" id="{D104AEF8-EC15-1465-1980-99AFF2AA2463}"/>
              </a:ext>
            </a:extLst>
          </p:cNvPr>
          <p:cNvSpPr>
            <a:spLocks noGrp="1"/>
          </p:cNvSpPr>
          <p:nvPr>
            <p:ph idx="1"/>
          </p:nvPr>
        </p:nvSpPr>
        <p:spPr/>
        <p:txBody>
          <a:bodyPr vert="horz" lIns="91440" tIns="45720" rIns="91440" bIns="45720" rtlCol="0" anchor="t">
            <a:normAutofit/>
          </a:bodyPr>
          <a:lstStyle/>
          <a:p>
            <a:pPr>
              <a:buClr>
                <a:srgbClr val="262626"/>
              </a:buClr>
            </a:pPr>
            <a:r>
              <a:rPr lang="en-US" sz="2800" dirty="0">
                <a:cs typeface="Times New Roman"/>
              </a:rPr>
              <a:t>In the statement “Tobacco smoking increases the risk of IHD by three times”  the epidemiological aspect which is covered pertains to :</a:t>
            </a:r>
            <a:endParaRPr lang="en-US" dirty="0">
              <a:cs typeface="Times New Roman"/>
            </a:endParaRPr>
          </a:p>
          <a:p>
            <a:pPr lvl="1">
              <a:buClr>
                <a:srgbClr val="262626"/>
              </a:buClr>
            </a:pPr>
            <a:r>
              <a:rPr lang="en-US" sz="2800" dirty="0">
                <a:cs typeface="Times New Roman"/>
              </a:rPr>
              <a:t>Person related distribution</a:t>
            </a:r>
            <a:endParaRPr lang="en-US"/>
          </a:p>
          <a:p>
            <a:pPr lvl="1">
              <a:buClr>
                <a:srgbClr val="262626"/>
              </a:buClr>
            </a:pPr>
            <a:r>
              <a:rPr lang="en-US" sz="2800" dirty="0">
                <a:cs typeface="Times New Roman"/>
              </a:rPr>
              <a:t>Time related distribution</a:t>
            </a:r>
            <a:endParaRPr lang="en-US"/>
          </a:p>
          <a:p>
            <a:pPr lvl="1">
              <a:buClr>
                <a:srgbClr val="262626"/>
              </a:buClr>
            </a:pPr>
            <a:r>
              <a:rPr lang="en-US" sz="2800" dirty="0">
                <a:cs typeface="Times New Roman"/>
              </a:rPr>
              <a:t>Place related distribution</a:t>
            </a:r>
            <a:endParaRPr lang="en-US"/>
          </a:p>
          <a:p>
            <a:pPr lvl="1">
              <a:buClr>
                <a:srgbClr val="262626"/>
              </a:buClr>
            </a:pPr>
            <a:r>
              <a:rPr lang="en-US" sz="2800" dirty="0">
                <a:cs typeface="Times New Roman"/>
              </a:rPr>
              <a:t>Determinants</a:t>
            </a:r>
            <a:endParaRPr lang="en-US"/>
          </a:p>
          <a:p>
            <a:pPr lvl="1"/>
            <a:endParaRPr lang="en-US" sz="2800" dirty="0"/>
          </a:p>
          <a:p>
            <a:pPr lvl="1"/>
            <a:endParaRPr lang="en-US" sz="2800" dirty="0"/>
          </a:p>
        </p:txBody>
      </p:sp>
    </p:spTree>
    <p:extLst>
      <p:ext uri="{BB962C8B-B14F-4D97-AF65-F5344CB8AC3E}">
        <p14:creationId xmlns:p14="http://schemas.microsoft.com/office/powerpoint/2010/main" val="45921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8EBF-0387-DDED-482D-493229F035C2}"/>
              </a:ext>
            </a:extLst>
          </p:cNvPr>
          <p:cNvSpPr>
            <a:spLocks noGrp="1"/>
          </p:cNvSpPr>
          <p:nvPr>
            <p:ph type="title"/>
          </p:nvPr>
        </p:nvSpPr>
        <p:spPr/>
        <p:txBody>
          <a:bodyPr/>
          <a:lstStyle/>
          <a:p>
            <a:r>
              <a:rPr lang="en-US" dirty="0"/>
              <a:t>MCQ - 8</a:t>
            </a:r>
          </a:p>
        </p:txBody>
      </p:sp>
      <p:sp>
        <p:nvSpPr>
          <p:cNvPr id="3" name="Content Placeholder 2">
            <a:extLst>
              <a:ext uri="{FF2B5EF4-FFF2-40B4-BE49-F238E27FC236}">
                <a16:creationId xmlns:a16="http://schemas.microsoft.com/office/drawing/2014/main" id="{D104AEF8-EC15-1465-1980-99AFF2AA2463}"/>
              </a:ext>
            </a:extLst>
          </p:cNvPr>
          <p:cNvSpPr>
            <a:spLocks noGrp="1"/>
          </p:cNvSpPr>
          <p:nvPr>
            <p:ph idx="1"/>
          </p:nvPr>
        </p:nvSpPr>
        <p:spPr/>
        <p:txBody>
          <a:bodyPr>
            <a:normAutofit/>
          </a:bodyPr>
          <a:lstStyle/>
          <a:p>
            <a:r>
              <a:rPr lang="en-US" sz="2800" dirty="0"/>
              <a:t>“The incidence of malaria is very high among migrant laborers in Odisha, Jharkhand and Chhattisgarh”  the above statement includes which of the following components of epidemiology:</a:t>
            </a:r>
          </a:p>
          <a:p>
            <a:pPr lvl="1"/>
            <a:r>
              <a:rPr lang="en-US" sz="2800" dirty="0"/>
              <a:t>Person related distribution</a:t>
            </a:r>
          </a:p>
          <a:p>
            <a:pPr lvl="1"/>
            <a:r>
              <a:rPr lang="en-US" sz="2800" dirty="0"/>
              <a:t>Place related distribution</a:t>
            </a:r>
          </a:p>
          <a:p>
            <a:pPr lvl="1"/>
            <a:r>
              <a:rPr lang="en-US" sz="2800" dirty="0"/>
              <a:t>Frequency</a:t>
            </a:r>
          </a:p>
          <a:p>
            <a:pPr lvl="1"/>
            <a:r>
              <a:rPr lang="en-US" sz="2800" dirty="0"/>
              <a:t>All of the above</a:t>
            </a:r>
          </a:p>
          <a:p>
            <a:pPr lvl="1"/>
            <a:endParaRPr lang="en-US" sz="2800" dirty="0"/>
          </a:p>
          <a:p>
            <a:pPr lvl="1"/>
            <a:endParaRPr lang="en-US" sz="2800" dirty="0"/>
          </a:p>
        </p:txBody>
      </p:sp>
    </p:spTree>
    <p:extLst>
      <p:ext uri="{BB962C8B-B14F-4D97-AF65-F5344CB8AC3E}">
        <p14:creationId xmlns:p14="http://schemas.microsoft.com/office/powerpoint/2010/main" val="739477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8EBF-0387-DDED-482D-493229F035C2}"/>
              </a:ext>
            </a:extLst>
          </p:cNvPr>
          <p:cNvSpPr>
            <a:spLocks noGrp="1"/>
          </p:cNvSpPr>
          <p:nvPr>
            <p:ph type="title"/>
          </p:nvPr>
        </p:nvSpPr>
        <p:spPr/>
        <p:txBody>
          <a:bodyPr/>
          <a:lstStyle/>
          <a:p>
            <a:r>
              <a:rPr lang="en-US" dirty="0"/>
              <a:t>MCQ - 9</a:t>
            </a:r>
          </a:p>
        </p:txBody>
      </p:sp>
      <p:sp>
        <p:nvSpPr>
          <p:cNvPr id="3" name="Content Placeholder 2">
            <a:extLst>
              <a:ext uri="{FF2B5EF4-FFF2-40B4-BE49-F238E27FC236}">
                <a16:creationId xmlns:a16="http://schemas.microsoft.com/office/drawing/2014/main" id="{D104AEF8-EC15-1465-1980-99AFF2AA2463}"/>
              </a:ext>
            </a:extLst>
          </p:cNvPr>
          <p:cNvSpPr>
            <a:spLocks noGrp="1"/>
          </p:cNvSpPr>
          <p:nvPr>
            <p:ph idx="1"/>
          </p:nvPr>
        </p:nvSpPr>
        <p:spPr/>
        <p:txBody>
          <a:bodyPr>
            <a:normAutofit/>
          </a:bodyPr>
          <a:lstStyle/>
          <a:p>
            <a:r>
              <a:rPr lang="en-US" sz="2800" dirty="0"/>
              <a:t>In the statement “55% of pregnant women in India are likely to have anemia” which of the following component of epidemiology is not included :</a:t>
            </a:r>
          </a:p>
          <a:p>
            <a:pPr lvl="1"/>
            <a:r>
              <a:rPr lang="en-US" sz="2800" dirty="0"/>
              <a:t>Person related distribution</a:t>
            </a:r>
          </a:p>
          <a:p>
            <a:pPr lvl="1"/>
            <a:r>
              <a:rPr lang="en-US" sz="2800" dirty="0"/>
              <a:t>Time related distribution</a:t>
            </a:r>
          </a:p>
          <a:p>
            <a:pPr lvl="1"/>
            <a:r>
              <a:rPr lang="en-US" sz="2800" dirty="0"/>
              <a:t>Place related distribution</a:t>
            </a:r>
          </a:p>
          <a:p>
            <a:pPr lvl="1"/>
            <a:r>
              <a:rPr lang="en-US" sz="2800" dirty="0"/>
              <a:t>Frequency</a:t>
            </a:r>
          </a:p>
          <a:p>
            <a:pPr lvl="1"/>
            <a:endParaRPr lang="en-US" sz="2800" dirty="0"/>
          </a:p>
          <a:p>
            <a:pPr lvl="1"/>
            <a:endParaRPr lang="en-US" sz="2800" dirty="0"/>
          </a:p>
        </p:txBody>
      </p:sp>
    </p:spTree>
    <p:extLst>
      <p:ext uri="{BB962C8B-B14F-4D97-AF65-F5344CB8AC3E}">
        <p14:creationId xmlns:p14="http://schemas.microsoft.com/office/powerpoint/2010/main" val="189006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551-CFE3-5EA0-6D88-965BFE15B0BB}"/>
              </a:ext>
            </a:extLst>
          </p:cNvPr>
          <p:cNvSpPr>
            <a:spLocks noGrp="1"/>
          </p:cNvSpPr>
          <p:nvPr>
            <p:ph type="title"/>
          </p:nvPr>
        </p:nvSpPr>
        <p:spPr>
          <a:xfrm>
            <a:off x="838200" y="355600"/>
            <a:ext cx="9144000" cy="1263649"/>
          </a:xfrm>
        </p:spPr>
        <p:txBody>
          <a:bodyPr/>
          <a:lstStyle/>
          <a:p>
            <a:r>
              <a:rPr lang="en-US" dirty="0">
                <a:solidFill>
                  <a:schemeClr val="bg1"/>
                </a:solidFill>
              </a:rPr>
              <a:t>Mortality Indicator</a:t>
            </a:r>
          </a:p>
        </p:txBody>
      </p:sp>
      <p:sp>
        <p:nvSpPr>
          <p:cNvPr id="3" name="Content Placeholder 2">
            <a:extLst>
              <a:ext uri="{FF2B5EF4-FFF2-40B4-BE49-F238E27FC236}">
                <a16:creationId xmlns:a16="http://schemas.microsoft.com/office/drawing/2014/main" id="{B0746DBB-EBC1-E0C0-C16B-61043D4373B3}"/>
              </a:ext>
            </a:extLst>
          </p:cNvPr>
          <p:cNvSpPr>
            <a:spLocks noGrp="1"/>
          </p:cNvSpPr>
          <p:nvPr>
            <p:ph idx="1"/>
          </p:nvPr>
        </p:nvSpPr>
        <p:spPr>
          <a:xfrm>
            <a:off x="533400" y="2235201"/>
            <a:ext cx="10896600" cy="3860800"/>
          </a:xfrm>
        </p:spPr>
        <p:txBody>
          <a:bodyPr>
            <a:normAutofit/>
          </a:bodyPr>
          <a:lstStyle/>
          <a:p>
            <a:r>
              <a:rPr lang="en-US" dirty="0">
                <a:solidFill>
                  <a:schemeClr val="bg1"/>
                </a:solidFill>
              </a:rPr>
              <a:t>Crude death rate</a:t>
            </a:r>
          </a:p>
          <a:p>
            <a:pPr lvl="1"/>
            <a:r>
              <a:rPr lang="en-US" dirty="0">
                <a:solidFill>
                  <a:schemeClr val="bg1"/>
                </a:solidFill>
              </a:rPr>
              <a:t>Simplest measure of mortality</a:t>
            </a:r>
          </a:p>
          <a:p>
            <a:pPr lvl="1"/>
            <a:r>
              <a:rPr lang="en-US" dirty="0">
                <a:solidFill>
                  <a:schemeClr val="bg1"/>
                </a:solidFill>
              </a:rPr>
              <a:t>“The number of deaths (from all causes) per </a:t>
            </a:r>
            <a:r>
              <a:rPr lang="en-US" sz="2400" dirty="0">
                <a:solidFill>
                  <a:schemeClr val="bg1"/>
                </a:solidFill>
              </a:rPr>
              <a:t>1000 estimated mid-year population in one year, in a given place”.</a:t>
            </a:r>
          </a:p>
          <a:p>
            <a:pPr lvl="1"/>
            <a:r>
              <a:rPr lang="en-US" dirty="0">
                <a:solidFill>
                  <a:schemeClr val="bg1"/>
                </a:solidFill>
              </a:rPr>
              <a:t>Summarizes – population composition &amp; age specific death rates</a:t>
            </a:r>
          </a:p>
          <a:p>
            <a:pPr lvl="1"/>
            <a:r>
              <a:rPr lang="en-US" sz="2400" dirty="0">
                <a:solidFill>
                  <a:schemeClr val="bg1"/>
                </a:solidFill>
              </a:rPr>
              <a:t>They lack comparability for communities with populations that differ by age. sex, race, etc. However, they should always be examined first, and later the age-specific death rates which are the most useful single measures of mortality.</a:t>
            </a:r>
          </a:p>
        </p:txBody>
      </p:sp>
      <p:pic>
        <p:nvPicPr>
          <p:cNvPr id="5" name="Picture 4">
            <a:extLst>
              <a:ext uri="{FF2B5EF4-FFF2-40B4-BE49-F238E27FC236}">
                <a16:creationId xmlns:a16="http://schemas.microsoft.com/office/drawing/2014/main" id="{10AFE089-2383-31D8-C73B-011C551A55CA}"/>
              </a:ext>
            </a:extLst>
          </p:cNvPr>
          <p:cNvPicPr>
            <a:picLocks noChangeAspect="1"/>
          </p:cNvPicPr>
          <p:nvPr/>
        </p:nvPicPr>
        <p:blipFill>
          <a:blip r:embed="rId2"/>
          <a:stretch>
            <a:fillRect/>
          </a:stretch>
        </p:blipFill>
        <p:spPr>
          <a:xfrm>
            <a:off x="6096000" y="285682"/>
            <a:ext cx="4601217" cy="952633"/>
          </a:xfrm>
          <a:prstGeom prst="rect">
            <a:avLst/>
          </a:prstGeom>
        </p:spPr>
      </p:pic>
    </p:spTree>
    <p:extLst>
      <p:ext uri="{BB962C8B-B14F-4D97-AF65-F5344CB8AC3E}">
        <p14:creationId xmlns:p14="http://schemas.microsoft.com/office/powerpoint/2010/main" val="39100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551-CFE3-5EA0-6D88-965BFE15B0BB}"/>
              </a:ext>
            </a:extLst>
          </p:cNvPr>
          <p:cNvSpPr>
            <a:spLocks noGrp="1"/>
          </p:cNvSpPr>
          <p:nvPr>
            <p:ph type="title"/>
          </p:nvPr>
        </p:nvSpPr>
        <p:spPr>
          <a:xfrm>
            <a:off x="838200" y="355600"/>
            <a:ext cx="9144000" cy="1263649"/>
          </a:xfrm>
        </p:spPr>
        <p:txBody>
          <a:bodyPr/>
          <a:lstStyle/>
          <a:p>
            <a:r>
              <a:rPr lang="en-US" dirty="0">
                <a:solidFill>
                  <a:schemeClr val="bg1"/>
                </a:solidFill>
              </a:rPr>
              <a:t>Specific Death rates</a:t>
            </a:r>
          </a:p>
        </p:txBody>
      </p:sp>
      <p:sp>
        <p:nvSpPr>
          <p:cNvPr id="3" name="Content Placeholder 2">
            <a:extLst>
              <a:ext uri="{FF2B5EF4-FFF2-40B4-BE49-F238E27FC236}">
                <a16:creationId xmlns:a16="http://schemas.microsoft.com/office/drawing/2014/main" id="{B0746DBB-EBC1-E0C0-C16B-61043D4373B3}"/>
              </a:ext>
            </a:extLst>
          </p:cNvPr>
          <p:cNvSpPr>
            <a:spLocks noGrp="1"/>
          </p:cNvSpPr>
          <p:nvPr>
            <p:ph idx="1"/>
          </p:nvPr>
        </p:nvSpPr>
        <p:spPr>
          <a:xfrm>
            <a:off x="647700" y="2518764"/>
            <a:ext cx="10896600" cy="3860800"/>
          </a:xfrm>
        </p:spPr>
        <p:txBody>
          <a:bodyPr>
            <a:normAutofit/>
          </a:bodyPr>
          <a:lstStyle/>
          <a:p>
            <a:r>
              <a:rPr lang="en-US" sz="2400" dirty="0">
                <a:solidFill>
                  <a:schemeClr val="bg1"/>
                </a:solidFill>
              </a:rPr>
              <a:t>Help us to identify particular groups or groups “at-risk", for preventive action. </a:t>
            </a:r>
          </a:p>
          <a:p>
            <a:r>
              <a:rPr lang="en-US" sz="2400" dirty="0">
                <a:solidFill>
                  <a:schemeClr val="bg1"/>
                </a:solidFill>
              </a:rPr>
              <a:t>They permit comparisons between different causes within the same population. </a:t>
            </a:r>
          </a:p>
          <a:p>
            <a:r>
              <a:rPr lang="en-US" sz="2400" dirty="0">
                <a:solidFill>
                  <a:schemeClr val="bg1"/>
                </a:solidFill>
              </a:rPr>
              <a:t>Obtained mainly in countries in which a satisfactory civil registration system operates and in which a high proportion of deaths is certified medically</a:t>
            </a:r>
          </a:p>
        </p:txBody>
      </p:sp>
      <p:pic>
        <p:nvPicPr>
          <p:cNvPr id="6" name="Picture 5">
            <a:extLst>
              <a:ext uri="{FF2B5EF4-FFF2-40B4-BE49-F238E27FC236}">
                <a16:creationId xmlns:a16="http://schemas.microsoft.com/office/drawing/2014/main" id="{2193D6A2-0B11-EBCF-9E08-C21D1E4A934E}"/>
              </a:ext>
            </a:extLst>
          </p:cNvPr>
          <p:cNvPicPr>
            <a:picLocks noChangeAspect="1"/>
          </p:cNvPicPr>
          <p:nvPr/>
        </p:nvPicPr>
        <p:blipFill>
          <a:blip r:embed="rId2"/>
          <a:stretch>
            <a:fillRect/>
          </a:stretch>
        </p:blipFill>
        <p:spPr>
          <a:xfrm>
            <a:off x="0" y="1255115"/>
            <a:ext cx="12192000" cy="4347770"/>
          </a:xfrm>
          <a:prstGeom prst="rect">
            <a:avLst/>
          </a:prstGeom>
        </p:spPr>
      </p:pic>
    </p:spTree>
    <p:extLst>
      <p:ext uri="{BB962C8B-B14F-4D97-AF65-F5344CB8AC3E}">
        <p14:creationId xmlns:p14="http://schemas.microsoft.com/office/powerpoint/2010/main" val="33751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F551-CFE3-5EA0-6D88-965BFE15B0BB}"/>
              </a:ext>
            </a:extLst>
          </p:cNvPr>
          <p:cNvSpPr>
            <a:spLocks noGrp="1"/>
          </p:cNvSpPr>
          <p:nvPr>
            <p:ph type="title"/>
          </p:nvPr>
        </p:nvSpPr>
        <p:spPr>
          <a:xfrm>
            <a:off x="800100" y="178212"/>
            <a:ext cx="9144000" cy="1263649"/>
          </a:xfrm>
        </p:spPr>
        <p:txBody>
          <a:bodyPr/>
          <a:lstStyle/>
          <a:p>
            <a:r>
              <a:rPr lang="en-US" dirty="0">
                <a:solidFill>
                  <a:schemeClr val="bg1"/>
                </a:solidFill>
              </a:rPr>
              <a:t>Case fatality rate (ratio)</a:t>
            </a:r>
          </a:p>
        </p:txBody>
      </p:sp>
      <p:sp>
        <p:nvSpPr>
          <p:cNvPr id="3" name="Content Placeholder 2">
            <a:extLst>
              <a:ext uri="{FF2B5EF4-FFF2-40B4-BE49-F238E27FC236}">
                <a16:creationId xmlns:a16="http://schemas.microsoft.com/office/drawing/2014/main" id="{B0746DBB-EBC1-E0C0-C16B-61043D4373B3}"/>
              </a:ext>
            </a:extLst>
          </p:cNvPr>
          <p:cNvSpPr>
            <a:spLocks noGrp="1"/>
          </p:cNvSpPr>
          <p:nvPr>
            <p:ph idx="1"/>
          </p:nvPr>
        </p:nvSpPr>
        <p:spPr>
          <a:xfrm>
            <a:off x="647700" y="3429000"/>
            <a:ext cx="10896600" cy="2489654"/>
          </a:xfrm>
        </p:spPr>
        <p:txBody>
          <a:bodyPr>
            <a:normAutofit/>
          </a:bodyPr>
          <a:lstStyle/>
          <a:p>
            <a:r>
              <a:rPr lang="en-US" sz="2400" dirty="0">
                <a:solidFill>
                  <a:schemeClr val="bg1"/>
                </a:solidFill>
              </a:rPr>
              <a:t>Killing power of a disease</a:t>
            </a:r>
          </a:p>
          <a:p>
            <a:r>
              <a:rPr lang="en-US" sz="2400" dirty="0">
                <a:solidFill>
                  <a:schemeClr val="bg1"/>
                </a:solidFill>
              </a:rPr>
              <a:t>Typically used in acute infectious diseases (e.g., food poisoning, cholera, measles).</a:t>
            </a:r>
          </a:p>
          <a:p>
            <a:r>
              <a:rPr lang="en-US" sz="2400" dirty="0">
                <a:solidFill>
                  <a:schemeClr val="bg1"/>
                </a:solidFill>
              </a:rPr>
              <a:t>Its usefulness for chronic diseases is limited, because the period from onset to death is long and variable. </a:t>
            </a:r>
          </a:p>
          <a:p>
            <a:r>
              <a:rPr lang="en-US" sz="2400" dirty="0">
                <a:solidFill>
                  <a:schemeClr val="bg1"/>
                </a:solidFill>
              </a:rPr>
              <a:t>May vary in different epidemics because of changes in the agent, host and environmental factors. Its closely related to virulence.</a:t>
            </a:r>
          </a:p>
        </p:txBody>
      </p:sp>
      <p:pic>
        <p:nvPicPr>
          <p:cNvPr id="8" name="Picture 7">
            <a:extLst>
              <a:ext uri="{FF2B5EF4-FFF2-40B4-BE49-F238E27FC236}">
                <a16:creationId xmlns:a16="http://schemas.microsoft.com/office/drawing/2014/main" id="{A051C1CB-A6A6-E544-A476-63B498BAE82C}"/>
              </a:ext>
            </a:extLst>
          </p:cNvPr>
          <p:cNvPicPr>
            <a:picLocks noChangeAspect="1"/>
          </p:cNvPicPr>
          <p:nvPr/>
        </p:nvPicPr>
        <p:blipFill>
          <a:blip r:embed="rId2"/>
          <a:stretch>
            <a:fillRect/>
          </a:stretch>
        </p:blipFill>
        <p:spPr>
          <a:xfrm>
            <a:off x="1633768" y="810036"/>
            <a:ext cx="10375193" cy="2489654"/>
          </a:xfrm>
          <a:prstGeom prst="rect">
            <a:avLst/>
          </a:prstGeom>
        </p:spPr>
      </p:pic>
    </p:spTree>
    <p:extLst>
      <p:ext uri="{BB962C8B-B14F-4D97-AF65-F5344CB8AC3E}">
        <p14:creationId xmlns:p14="http://schemas.microsoft.com/office/powerpoint/2010/main" val="2414683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3FD177D-2AFB-6821-672E-9D8BD8CE7C7C}"/>
              </a:ext>
            </a:extLst>
          </p:cNvPr>
          <p:cNvSpPr txBox="1">
            <a:spLocks/>
          </p:cNvSpPr>
          <p:nvPr/>
        </p:nvSpPr>
        <p:spPr>
          <a:xfrm>
            <a:off x="777446" y="386383"/>
            <a:ext cx="9144000" cy="1263649"/>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Survival rate</a:t>
            </a:r>
          </a:p>
        </p:txBody>
      </p:sp>
      <p:sp>
        <p:nvSpPr>
          <p:cNvPr id="10" name="Content Placeholder 2">
            <a:extLst>
              <a:ext uri="{FF2B5EF4-FFF2-40B4-BE49-F238E27FC236}">
                <a16:creationId xmlns:a16="http://schemas.microsoft.com/office/drawing/2014/main" id="{94E74EFF-4095-6FBD-4381-14D98395F564}"/>
              </a:ext>
            </a:extLst>
          </p:cNvPr>
          <p:cNvSpPr txBox="1">
            <a:spLocks/>
          </p:cNvSpPr>
          <p:nvPr/>
        </p:nvSpPr>
        <p:spPr>
          <a:xfrm>
            <a:off x="647700" y="3134544"/>
            <a:ext cx="10896600" cy="24896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chemeClr val="bg1"/>
                </a:solidFill>
              </a:rPr>
              <a:t>Describing prognosis in certain disease conditions. </a:t>
            </a:r>
          </a:p>
          <a:p>
            <a:r>
              <a:rPr lang="en-US" sz="2400" dirty="0">
                <a:solidFill>
                  <a:schemeClr val="bg1"/>
                </a:solidFill>
              </a:rPr>
              <a:t>Survival experience can be used as a yardstick for the assessment of standards of therapy. </a:t>
            </a:r>
          </a:p>
          <a:p>
            <a:r>
              <a:rPr lang="en-US" sz="2400" dirty="0">
                <a:solidFill>
                  <a:schemeClr val="bg1"/>
                </a:solidFill>
              </a:rPr>
              <a:t>The survival period is usually reckoned from the date of diagnosis or start of the treatment. </a:t>
            </a:r>
          </a:p>
          <a:p>
            <a:r>
              <a:rPr lang="en-US" sz="2400" dirty="0">
                <a:solidFill>
                  <a:schemeClr val="bg1"/>
                </a:solidFill>
              </a:rPr>
              <a:t>Survival rates have received special attention in cancer studies.</a:t>
            </a:r>
          </a:p>
        </p:txBody>
      </p:sp>
      <p:pic>
        <p:nvPicPr>
          <p:cNvPr id="11" name="Picture 10">
            <a:extLst>
              <a:ext uri="{FF2B5EF4-FFF2-40B4-BE49-F238E27FC236}">
                <a16:creationId xmlns:a16="http://schemas.microsoft.com/office/drawing/2014/main" id="{78DB3D09-3890-6605-502F-385A6DC44239}"/>
              </a:ext>
            </a:extLst>
          </p:cNvPr>
          <p:cNvPicPr>
            <a:picLocks noChangeAspect="1"/>
          </p:cNvPicPr>
          <p:nvPr/>
        </p:nvPicPr>
        <p:blipFill>
          <a:blip r:embed="rId2"/>
          <a:stretch>
            <a:fillRect/>
          </a:stretch>
        </p:blipFill>
        <p:spPr>
          <a:xfrm>
            <a:off x="4162947" y="361617"/>
            <a:ext cx="8078480" cy="1862599"/>
          </a:xfrm>
          <a:prstGeom prst="rect">
            <a:avLst/>
          </a:prstGeom>
        </p:spPr>
      </p:pic>
    </p:spTree>
    <p:extLst>
      <p:ext uri="{BB962C8B-B14F-4D97-AF65-F5344CB8AC3E}">
        <p14:creationId xmlns:p14="http://schemas.microsoft.com/office/powerpoint/2010/main" val="2855603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3FD177D-2AFB-6821-672E-9D8BD8CE7C7C}"/>
              </a:ext>
            </a:extLst>
          </p:cNvPr>
          <p:cNvSpPr txBox="1">
            <a:spLocks/>
          </p:cNvSpPr>
          <p:nvPr/>
        </p:nvSpPr>
        <p:spPr>
          <a:xfrm>
            <a:off x="777446" y="386383"/>
            <a:ext cx="9144000" cy="847419"/>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bg1"/>
                </a:solidFill>
              </a:rPr>
              <a:t>Proportional mortality rate (ratio) </a:t>
            </a:r>
          </a:p>
        </p:txBody>
      </p:sp>
      <p:sp>
        <p:nvSpPr>
          <p:cNvPr id="10" name="Content Placeholder 2">
            <a:extLst>
              <a:ext uri="{FF2B5EF4-FFF2-40B4-BE49-F238E27FC236}">
                <a16:creationId xmlns:a16="http://schemas.microsoft.com/office/drawing/2014/main" id="{94E74EFF-4095-6FBD-4381-14D98395F564}"/>
              </a:ext>
            </a:extLst>
          </p:cNvPr>
          <p:cNvSpPr txBox="1">
            <a:spLocks/>
          </p:cNvSpPr>
          <p:nvPr/>
        </p:nvSpPr>
        <p:spPr>
          <a:xfrm>
            <a:off x="647700" y="1233802"/>
            <a:ext cx="10896600" cy="43903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chemeClr val="bg1"/>
                </a:solidFill>
              </a:rPr>
              <a:t>Computed usually for a broad disease group (such as communicable diseases as a whole) and for a specific disease of major public health importance, such as cancer or coronary heart disease in industrialized countries</a:t>
            </a:r>
          </a:p>
          <a:p>
            <a:r>
              <a:rPr lang="en-US" sz="2400" dirty="0">
                <a:solidFill>
                  <a:schemeClr val="bg1"/>
                </a:solidFill>
              </a:rPr>
              <a:t>Proportional rates are used when population data are not available.</a:t>
            </a:r>
          </a:p>
          <a:p>
            <a:r>
              <a:rPr lang="en-US" sz="2400" dirty="0">
                <a:solidFill>
                  <a:schemeClr val="bg1"/>
                </a:solidFill>
              </a:rPr>
              <a:t>It is of limited value in making comparison between population groups or different time periods. </a:t>
            </a:r>
          </a:p>
          <a:p>
            <a:r>
              <a:rPr lang="en-US" sz="2400" dirty="0">
                <a:solidFill>
                  <a:schemeClr val="bg1"/>
                </a:solidFill>
              </a:rPr>
              <a:t>Proportional mortality rate does not indicate the risk of members of the population contracting or dying from the disease.</a:t>
            </a:r>
          </a:p>
        </p:txBody>
      </p:sp>
      <p:pic>
        <p:nvPicPr>
          <p:cNvPr id="3" name="Picture 2">
            <a:extLst>
              <a:ext uri="{FF2B5EF4-FFF2-40B4-BE49-F238E27FC236}">
                <a16:creationId xmlns:a16="http://schemas.microsoft.com/office/drawing/2014/main" id="{35B4CDDC-3F23-0C0C-4973-A137CFE421E5}"/>
              </a:ext>
            </a:extLst>
          </p:cNvPr>
          <p:cNvPicPr>
            <a:picLocks noChangeAspect="1"/>
          </p:cNvPicPr>
          <p:nvPr/>
        </p:nvPicPr>
        <p:blipFill>
          <a:blip r:embed="rId2"/>
          <a:stretch>
            <a:fillRect/>
          </a:stretch>
        </p:blipFill>
        <p:spPr>
          <a:xfrm>
            <a:off x="2023494" y="251969"/>
            <a:ext cx="8145012" cy="6354062"/>
          </a:xfrm>
          <a:prstGeom prst="rect">
            <a:avLst/>
          </a:prstGeom>
        </p:spPr>
      </p:pic>
    </p:spTree>
    <p:extLst>
      <p:ext uri="{BB962C8B-B14F-4D97-AF65-F5344CB8AC3E}">
        <p14:creationId xmlns:p14="http://schemas.microsoft.com/office/powerpoint/2010/main" val="149835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7BCB4-CC16-4AF4-5774-68F041EF5A23}"/>
              </a:ext>
            </a:extLst>
          </p:cNvPr>
          <p:cNvSpPr>
            <a:spLocks noGrp="1"/>
          </p:cNvSpPr>
          <p:nvPr>
            <p:ph type="title"/>
          </p:nvPr>
        </p:nvSpPr>
        <p:spPr>
          <a:xfrm>
            <a:off x="762000" y="568036"/>
            <a:ext cx="9144000" cy="1263649"/>
          </a:xfrm>
        </p:spPr>
        <p:txBody>
          <a:bodyPr/>
          <a:lstStyle/>
          <a:p>
            <a:r>
              <a:rPr lang="en-US" dirty="0">
                <a:solidFill>
                  <a:schemeClr val="bg1"/>
                </a:solidFill>
              </a:rPr>
              <a:t>Limitations of mortality data</a:t>
            </a:r>
          </a:p>
        </p:txBody>
      </p:sp>
      <p:sp>
        <p:nvSpPr>
          <p:cNvPr id="3" name="Content Placeholder 2">
            <a:extLst>
              <a:ext uri="{FF2B5EF4-FFF2-40B4-BE49-F238E27FC236}">
                <a16:creationId xmlns:a16="http://schemas.microsoft.com/office/drawing/2014/main" id="{3AF3D484-12D2-07E3-8E59-ACA5746B1341}"/>
              </a:ext>
            </a:extLst>
          </p:cNvPr>
          <p:cNvSpPr>
            <a:spLocks noGrp="1"/>
          </p:cNvSpPr>
          <p:nvPr>
            <p:ph idx="1"/>
          </p:nvPr>
        </p:nvSpPr>
        <p:spPr>
          <a:xfrm>
            <a:off x="762000" y="1831685"/>
            <a:ext cx="10668000" cy="4264315"/>
          </a:xfrm>
        </p:spPr>
        <p:txBody>
          <a:bodyPr/>
          <a:lstStyle/>
          <a:p>
            <a:r>
              <a:rPr lang="en-US" dirty="0">
                <a:solidFill>
                  <a:schemeClr val="bg1"/>
                </a:solidFill>
              </a:rPr>
              <a:t>Incomplete reporting of death</a:t>
            </a:r>
          </a:p>
          <a:p>
            <a:r>
              <a:rPr lang="en-US" dirty="0">
                <a:solidFill>
                  <a:schemeClr val="bg1"/>
                </a:solidFill>
              </a:rPr>
              <a:t>Lack of accuracy – age&amp; </a:t>
            </a:r>
            <a:r>
              <a:rPr lang="en-US" dirty="0" err="1">
                <a:solidFill>
                  <a:schemeClr val="bg1"/>
                </a:solidFill>
              </a:rPr>
              <a:t>caue</a:t>
            </a:r>
            <a:endParaRPr lang="en-US" dirty="0">
              <a:solidFill>
                <a:schemeClr val="bg1"/>
              </a:solidFill>
            </a:endParaRPr>
          </a:p>
          <a:p>
            <a:r>
              <a:rPr lang="en-US" dirty="0">
                <a:solidFill>
                  <a:schemeClr val="bg1"/>
                </a:solidFill>
              </a:rPr>
              <a:t>Lack of uniformity</a:t>
            </a:r>
          </a:p>
          <a:p>
            <a:r>
              <a:rPr lang="en-US" dirty="0">
                <a:solidFill>
                  <a:schemeClr val="bg1"/>
                </a:solidFill>
              </a:rPr>
              <a:t>Choosing a single cause of death</a:t>
            </a:r>
          </a:p>
          <a:p>
            <a:r>
              <a:rPr lang="en-US" dirty="0">
                <a:solidFill>
                  <a:schemeClr val="bg1"/>
                </a:solidFill>
              </a:rPr>
              <a:t>Diseases with low </a:t>
            </a:r>
            <a:r>
              <a:rPr lang="en-US" dirty="0" err="1">
                <a:solidFill>
                  <a:schemeClr val="bg1"/>
                </a:solidFill>
              </a:rPr>
              <a:t>ffatality</a:t>
            </a:r>
            <a:endParaRPr lang="en-US" dirty="0">
              <a:solidFill>
                <a:schemeClr val="bg1"/>
              </a:solidFill>
            </a:endParaRPr>
          </a:p>
        </p:txBody>
      </p:sp>
    </p:spTree>
    <p:extLst>
      <p:ext uri="{BB962C8B-B14F-4D97-AF65-F5344CB8AC3E}">
        <p14:creationId xmlns:p14="http://schemas.microsoft.com/office/powerpoint/2010/main" val="1156540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CF41A-C1C1-EF1C-585A-636183432158}"/>
              </a:ext>
            </a:extLst>
          </p:cNvPr>
          <p:cNvSpPr>
            <a:spLocks noGrp="1"/>
          </p:cNvSpPr>
          <p:nvPr>
            <p:ph type="title"/>
          </p:nvPr>
        </p:nvSpPr>
        <p:spPr>
          <a:xfrm>
            <a:off x="762000" y="381000"/>
            <a:ext cx="9144000" cy="762000"/>
          </a:xfrm>
        </p:spPr>
        <p:txBody>
          <a:bodyPr/>
          <a:lstStyle/>
          <a:p>
            <a:r>
              <a:rPr lang="en-US" dirty="0">
                <a:solidFill>
                  <a:schemeClr val="bg1"/>
                </a:solidFill>
              </a:rPr>
              <a:t>Mortality indices used in MCH</a:t>
            </a:r>
          </a:p>
        </p:txBody>
      </p:sp>
      <p:sp>
        <p:nvSpPr>
          <p:cNvPr id="3" name="Content Placeholder 2">
            <a:extLst>
              <a:ext uri="{FF2B5EF4-FFF2-40B4-BE49-F238E27FC236}">
                <a16:creationId xmlns:a16="http://schemas.microsoft.com/office/drawing/2014/main" id="{289A6A46-4065-7A5D-476B-F03A0D4CC647}"/>
              </a:ext>
            </a:extLst>
          </p:cNvPr>
          <p:cNvSpPr>
            <a:spLocks noGrp="1"/>
          </p:cNvSpPr>
          <p:nvPr>
            <p:ph idx="1"/>
          </p:nvPr>
        </p:nvSpPr>
        <p:spPr>
          <a:xfrm>
            <a:off x="762000" y="1288473"/>
            <a:ext cx="10668000" cy="4807527"/>
          </a:xfrm>
        </p:spPr>
        <p:txBody>
          <a:bodyPr>
            <a:normAutofit lnSpcReduction="10000"/>
          </a:bodyPr>
          <a:lstStyle/>
          <a:p>
            <a:r>
              <a:rPr lang="en-US" dirty="0">
                <a:solidFill>
                  <a:schemeClr val="bg1"/>
                </a:solidFill>
              </a:rPr>
              <a:t>IMR – number of death among children of less than 1 year of age in a  year for every 1000 live births in same year and same area</a:t>
            </a:r>
          </a:p>
          <a:p>
            <a:pPr lvl="1"/>
            <a:r>
              <a:rPr lang="en-US" dirty="0">
                <a:solidFill>
                  <a:schemeClr val="bg1"/>
                </a:solidFill>
              </a:rPr>
              <a:t>One of the most sensitive indicators of health and socio-economic condition</a:t>
            </a:r>
          </a:p>
          <a:p>
            <a:r>
              <a:rPr lang="en-US" dirty="0">
                <a:solidFill>
                  <a:schemeClr val="bg1"/>
                </a:solidFill>
              </a:rPr>
              <a:t>Maternal mortality ratio (MMR) – number of deaths due to maternal causes in year per 1000 live births in same area and same time</a:t>
            </a:r>
          </a:p>
          <a:p>
            <a:pPr lvl="1"/>
            <a:r>
              <a:rPr lang="en-US" dirty="0">
                <a:solidFill>
                  <a:schemeClr val="bg1"/>
                </a:solidFill>
              </a:rPr>
              <a:t>Maternal death – while pregnant / within 42 days of termination of pregnancy, irrespective of the duration, and site of the pregnancy, any cause related or aggravated by pregnancy; not by accidental / incidental causes</a:t>
            </a:r>
          </a:p>
          <a:p>
            <a:r>
              <a:rPr lang="en-US" dirty="0">
                <a:solidFill>
                  <a:schemeClr val="bg1"/>
                </a:solidFill>
              </a:rPr>
              <a:t>NMR – </a:t>
            </a:r>
            <a:r>
              <a:rPr lang="en-US" dirty="0" err="1">
                <a:solidFill>
                  <a:schemeClr val="bg1"/>
                </a:solidFill>
              </a:rPr>
              <a:t>upto</a:t>
            </a:r>
            <a:r>
              <a:rPr lang="en-US" dirty="0">
                <a:solidFill>
                  <a:schemeClr val="bg1"/>
                </a:solidFill>
              </a:rPr>
              <a:t> 28 days of age</a:t>
            </a:r>
          </a:p>
          <a:p>
            <a:r>
              <a:rPr lang="en-US" dirty="0">
                <a:solidFill>
                  <a:schemeClr val="bg1"/>
                </a:solidFill>
              </a:rPr>
              <a:t>Early neonatal MR – first 7 day</a:t>
            </a:r>
          </a:p>
          <a:p>
            <a:r>
              <a:rPr lang="en-US" dirty="0">
                <a:solidFill>
                  <a:schemeClr val="bg1"/>
                </a:solidFill>
              </a:rPr>
              <a:t>Perinatal mortality rate – fetal death (&gt;28 weeks gestation) + infant (&lt; 7 days); </a:t>
            </a:r>
            <a:r>
              <a:rPr lang="en-US" dirty="0" err="1">
                <a:solidFill>
                  <a:schemeClr val="bg1"/>
                </a:solidFill>
              </a:rPr>
              <a:t>deno</a:t>
            </a:r>
            <a:r>
              <a:rPr lang="en-US" dirty="0">
                <a:solidFill>
                  <a:schemeClr val="bg1"/>
                </a:solidFill>
              </a:rPr>
              <a:t> – total live + still birth (&gt; 28 week gestation)</a:t>
            </a:r>
          </a:p>
        </p:txBody>
      </p:sp>
    </p:spTree>
    <p:extLst>
      <p:ext uri="{BB962C8B-B14F-4D97-AF65-F5344CB8AC3E}">
        <p14:creationId xmlns:p14="http://schemas.microsoft.com/office/powerpoint/2010/main" val="870897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F08A3-CF4E-C969-6DE1-E39CF8A2EFC6}"/>
              </a:ext>
            </a:extLst>
          </p:cNvPr>
          <p:cNvSpPr>
            <a:spLocks noGrp="1"/>
          </p:cNvSpPr>
          <p:nvPr>
            <p:ph type="title"/>
          </p:nvPr>
        </p:nvSpPr>
        <p:spPr/>
        <p:txBody>
          <a:bodyPr/>
          <a:lstStyle/>
          <a:p>
            <a:r>
              <a:rPr lang="en-US" dirty="0">
                <a:solidFill>
                  <a:schemeClr val="bg1"/>
                </a:solidFill>
              </a:rPr>
              <a:t>Standardization</a:t>
            </a:r>
          </a:p>
        </p:txBody>
      </p:sp>
      <p:sp>
        <p:nvSpPr>
          <p:cNvPr id="3" name="Content Placeholder 2">
            <a:extLst>
              <a:ext uri="{FF2B5EF4-FFF2-40B4-BE49-F238E27FC236}">
                <a16:creationId xmlns:a16="http://schemas.microsoft.com/office/drawing/2014/main" id="{EC37A3B2-7AB7-2683-EE04-7F192A1B45BD}"/>
              </a:ext>
            </a:extLst>
          </p:cNvPr>
          <p:cNvSpPr>
            <a:spLocks noGrp="1"/>
          </p:cNvSpPr>
          <p:nvPr>
            <p:ph idx="1"/>
          </p:nvPr>
        </p:nvSpPr>
        <p:spPr/>
        <p:txBody>
          <a:bodyPr/>
          <a:lstStyle/>
          <a:p>
            <a:r>
              <a:rPr lang="en-US" dirty="0">
                <a:solidFill>
                  <a:schemeClr val="bg1"/>
                </a:solidFill>
              </a:rPr>
              <a:t>Direct &amp; Indirect Standardization</a:t>
            </a:r>
          </a:p>
          <a:p>
            <a:r>
              <a:rPr lang="en-US" dirty="0">
                <a:solidFill>
                  <a:schemeClr val="bg1"/>
                </a:solidFill>
              </a:rPr>
              <a:t>Set of techniques used to remove as far as possible the effect of differences in age or other variables when comparing</a:t>
            </a:r>
          </a:p>
          <a:p>
            <a:r>
              <a:rPr lang="en-US" dirty="0">
                <a:solidFill>
                  <a:schemeClr val="bg1"/>
                </a:solidFill>
              </a:rPr>
              <a:t>Age and sex are two of most common variable used for standardization</a:t>
            </a:r>
          </a:p>
        </p:txBody>
      </p:sp>
    </p:spTree>
    <p:extLst>
      <p:ext uri="{BB962C8B-B14F-4D97-AF65-F5344CB8AC3E}">
        <p14:creationId xmlns:p14="http://schemas.microsoft.com/office/powerpoint/2010/main" val="3738984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39EDD-2317-C5EC-42A1-DD5F3C582438}"/>
              </a:ext>
            </a:extLst>
          </p:cNvPr>
          <p:cNvSpPr>
            <a:spLocks noGrp="1"/>
          </p:cNvSpPr>
          <p:nvPr>
            <p:ph type="title"/>
          </p:nvPr>
        </p:nvSpPr>
        <p:spPr/>
        <p:txBody>
          <a:bodyPr/>
          <a:lstStyle/>
          <a:p>
            <a:r>
              <a:rPr lang="en-US" dirty="0">
                <a:solidFill>
                  <a:schemeClr val="bg1"/>
                </a:solidFill>
              </a:rPr>
              <a:t>Direct</a:t>
            </a:r>
          </a:p>
        </p:txBody>
      </p:sp>
      <p:sp>
        <p:nvSpPr>
          <p:cNvPr id="3" name="Content Placeholder 2">
            <a:extLst>
              <a:ext uri="{FF2B5EF4-FFF2-40B4-BE49-F238E27FC236}">
                <a16:creationId xmlns:a16="http://schemas.microsoft.com/office/drawing/2014/main" id="{E8A9CC0C-D47E-039D-4330-8FE546776FE2}"/>
              </a:ext>
            </a:extLst>
          </p:cNvPr>
          <p:cNvSpPr>
            <a:spLocks noGrp="1"/>
          </p:cNvSpPr>
          <p:nvPr>
            <p:ph idx="1"/>
          </p:nvPr>
        </p:nvSpPr>
        <p:spPr>
          <a:xfrm>
            <a:off x="762000" y="2348345"/>
            <a:ext cx="10668000" cy="3747655"/>
          </a:xfrm>
        </p:spPr>
        <p:txBody>
          <a:bodyPr/>
          <a:lstStyle/>
          <a:p>
            <a:r>
              <a:rPr lang="en-US" dirty="0">
                <a:solidFill>
                  <a:schemeClr val="bg1"/>
                </a:solidFill>
              </a:rPr>
              <a:t>To compare health outcomes among population that may have different age distribution</a:t>
            </a:r>
          </a:p>
          <a:p>
            <a:r>
              <a:rPr lang="en-US" dirty="0">
                <a:solidFill>
                  <a:schemeClr val="bg1"/>
                </a:solidFill>
              </a:rPr>
              <a:t>When ASR are known for the population being compared</a:t>
            </a:r>
          </a:p>
          <a:p>
            <a:r>
              <a:rPr lang="en-US" dirty="0">
                <a:solidFill>
                  <a:schemeClr val="bg1"/>
                </a:solidFill>
              </a:rPr>
              <a:t>Standard population is used in order to eliminate effect of any difference </a:t>
            </a:r>
          </a:p>
        </p:txBody>
      </p:sp>
    </p:spTree>
    <p:extLst>
      <p:ext uri="{BB962C8B-B14F-4D97-AF65-F5344CB8AC3E}">
        <p14:creationId xmlns:p14="http://schemas.microsoft.com/office/powerpoint/2010/main" val="4053141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ABA10-7C70-5C32-65C5-47D45B07C81E}"/>
              </a:ext>
            </a:extLst>
          </p:cNvPr>
          <p:cNvSpPr>
            <a:spLocks noGrp="1"/>
          </p:cNvSpPr>
          <p:nvPr>
            <p:ph type="title"/>
          </p:nvPr>
        </p:nvSpPr>
        <p:spPr>
          <a:xfrm>
            <a:off x="762000" y="505691"/>
            <a:ext cx="9144000" cy="1263649"/>
          </a:xfrm>
        </p:spPr>
        <p:txBody>
          <a:bodyPr/>
          <a:lstStyle/>
          <a:p>
            <a:r>
              <a:rPr lang="en-US" dirty="0">
                <a:solidFill>
                  <a:schemeClr val="bg1"/>
                </a:solidFill>
              </a:rPr>
              <a:t>Steps</a:t>
            </a:r>
          </a:p>
        </p:txBody>
      </p:sp>
      <p:sp>
        <p:nvSpPr>
          <p:cNvPr id="3" name="Content Placeholder 2">
            <a:extLst>
              <a:ext uri="{FF2B5EF4-FFF2-40B4-BE49-F238E27FC236}">
                <a16:creationId xmlns:a16="http://schemas.microsoft.com/office/drawing/2014/main" id="{9CF8EAB4-B311-DECA-AD2C-D465D5A4FD72}"/>
              </a:ext>
            </a:extLst>
          </p:cNvPr>
          <p:cNvSpPr>
            <a:spLocks noGrp="1"/>
          </p:cNvSpPr>
          <p:nvPr>
            <p:ph idx="1"/>
          </p:nvPr>
        </p:nvSpPr>
        <p:spPr>
          <a:xfrm>
            <a:off x="762000" y="1769341"/>
            <a:ext cx="10668000" cy="5088660"/>
          </a:xfrm>
        </p:spPr>
        <p:txBody>
          <a:bodyPr>
            <a:normAutofit/>
          </a:bodyPr>
          <a:lstStyle/>
          <a:p>
            <a:r>
              <a:rPr lang="en-US" dirty="0">
                <a:solidFill>
                  <a:schemeClr val="bg1"/>
                </a:solidFill>
              </a:rPr>
              <a:t>A hypothetical “standard population” is created</a:t>
            </a:r>
          </a:p>
          <a:p>
            <a:r>
              <a:rPr lang="en-US" dirty="0">
                <a:solidFill>
                  <a:schemeClr val="bg1"/>
                </a:solidFill>
              </a:rPr>
              <a:t>The ASR, whose crude rate has to be standardized is applied to standard population</a:t>
            </a:r>
          </a:p>
          <a:p>
            <a:r>
              <a:rPr lang="en-US" dirty="0">
                <a:solidFill>
                  <a:schemeClr val="bg1"/>
                </a:solidFill>
              </a:rPr>
              <a:t>For each group an expected number of death in standard population is obtained</a:t>
            </a:r>
          </a:p>
          <a:p>
            <a:r>
              <a:rPr lang="en-US" dirty="0">
                <a:solidFill>
                  <a:schemeClr val="bg1"/>
                </a:solidFill>
              </a:rPr>
              <a:t>Expected number of death are added together for all age group to get the total expected</a:t>
            </a:r>
          </a:p>
          <a:p>
            <a:r>
              <a:rPr lang="en-US" dirty="0">
                <a:solidFill>
                  <a:schemeClr val="bg1"/>
                </a:solidFill>
              </a:rPr>
              <a:t>Divide total expected by total standard population, which yield standardized rate</a:t>
            </a:r>
          </a:p>
        </p:txBody>
      </p:sp>
    </p:spTree>
    <p:extLst>
      <p:ext uri="{BB962C8B-B14F-4D97-AF65-F5344CB8AC3E}">
        <p14:creationId xmlns:p14="http://schemas.microsoft.com/office/powerpoint/2010/main" val="740181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D74917-6863-52FD-1E2A-D84DDB464746}"/>
              </a:ext>
            </a:extLst>
          </p:cNvPr>
          <p:cNvPicPr>
            <a:picLocks noChangeAspect="1"/>
          </p:cNvPicPr>
          <p:nvPr/>
        </p:nvPicPr>
        <p:blipFill>
          <a:blip r:embed="rId2"/>
          <a:stretch>
            <a:fillRect/>
          </a:stretch>
        </p:blipFill>
        <p:spPr>
          <a:xfrm>
            <a:off x="989887" y="118600"/>
            <a:ext cx="10212225" cy="6620799"/>
          </a:xfrm>
          <a:prstGeom prst="rect">
            <a:avLst/>
          </a:prstGeom>
        </p:spPr>
      </p:pic>
      <p:sp>
        <p:nvSpPr>
          <p:cNvPr id="2" name="TextBox 1">
            <a:extLst>
              <a:ext uri="{FF2B5EF4-FFF2-40B4-BE49-F238E27FC236}">
                <a16:creationId xmlns:a16="http://schemas.microsoft.com/office/drawing/2014/main" id="{38CB79BE-19B2-ECC3-C0BF-B912ACC22F37}"/>
              </a:ext>
            </a:extLst>
          </p:cNvPr>
          <p:cNvSpPr txBox="1"/>
          <p:nvPr/>
        </p:nvSpPr>
        <p:spPr>
          <a:xfrm>
            <a:off x="5238427" y="4920712"/>
            <a:ext cx="4765729" cy="369332"/>
          </a:xfrm>
          <a:prstGeom prst="rect">
            <a:avLst/>
          </a:prstGeom>
          <a:solidFill>
            <a:srgbClr val="CBCBCB"/>
          </a:solidFill>
        </p:spPr>
        <p:txBody>
          <a:bodyPr wrap="square" rtlCol="0">
            <a:spAutoFit/>
          </a:bodyPr>
          <a:lstStyle/>
          <a:p>
            <a:endParaRPr lang="en-US" dirty="0">
              <a:solidFill>
                <a:srgbClr val="CBCBCB"/>
              </a:solidFill>
              <a:highlight>
                <a:srgbClr val="000000"/>
              </a:highlight>
            </a:endParaRPr>
          </a:p>
        </p:txBody>
      </p:sp>
    </p:spTree>
    <p:extLst>
      <p:ext uri="{BB962C8B-B14F-4D97-AF65-F5344CB8AC3E}">
        <p14:creationId xmlns:p14="http://schemas.microsoft.com/office/powerpoint/2010/main" val="2385132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5AEB1C-6A0F-D03C-84FD-30E263BAD26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003954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5AEB1C-6A0F-D03C-84FD-30E263BAD26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5533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7E05CA-47C8-A0A7-CBBD-E604049F7938}"/>
              </a:ext>
            </a:extLst>
          </p:cNvPr>
          <p:cNvPicPr>
            <a:picLocks noChangeAspect="1"/>
          </p:cNvPicPr>
          <p:nvPr/>
        </p:nvPicPr>
        <p:blipFill>
          <a:blip r:embed="rId2"/>
          <a:stretch>
            <a:fillRect/>
          </a:stretch>
        </p:blipFill>
        <p:spPr>
          <a:xfrm>
            <a:off x="1485256" y="66205"/>
            <a:ext cx="9221487" cy="6725589"/>
          </a:xfrm>
          <a:prstGeom prst="rect">
            <a:avLst/>
          </a:prstGeom>
        </p:spPr>
      </p:pic>
    </p:spTree>
    <p:extLst>
      <p:ext uri="{BB962C8B-B14F-4D97-AF65-F5344CB8AC3E}">
        <p14:creationId xmlns:p14="http://schemas.microsoft.com/office/powerpoint/2010/main" val="819167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4411C9-13CD-91A5-7F90-A883C91A0861}"/>
              </a:ext>
            </a:extLst>
          </p:cNvPr>
          <p:cNvPicPr>
            <a:picLocks noChangeAspect="1"/>
          </p:cNvPicPr>
          <p:nvPr/>
        </p:nvPicPr>
        <p:blipFill>
          <a:blip r:embed="rId2"/>
          <a:stretch>
            <a:fillRect/>
          </a:stretch>
        </p:blipFill>
        <p:spPr>
          <a:xfrm>
            <a:off x="1275155" y="0"/>
            <a:ext cx="9641690" cy="6858000"/>
          </a:xfrm>
          <a:prstGeom prst="rect">
            <a:avLst/>
          </a:prstGeom>
        </p:spPr>
      </p:pic>
    </p:spTree>
    <p:extLst>
      <p:ext uri="{BB962C8B-B14F-4D97-AF65-F5344CB8AC3E}">
        <p14:creationId xmlns:p14="http://schemas.microsoft.com/office/powerpoint/2010/main" val="1038914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F71D98-CC86-EB75-DD3F-8325F09EE468}"/>
              </a:ext>
            </a:extLst>
          </p:cNvPr>
          <p:cNvPicPr>
            <a:picLocks noChangeAspect="1"/>
          </p:cNvPicPr>
          <p:nvPr/>
        </p:nvPicPr>
        <p:blipFill>
          <a:blip r:embed="rId2"/>
          <a:stretch>
            <a:fillRect/>
          </a:stretch>
        </p:blipFill>
        <p:spPr>
          <a:xfrm>
            <a:off x="766018" y="442495"/>
            <a:ext cx="10659963" cy="5973009"/>
          </a:xfrm>
          <a:prstGeom prst="rect">
            <a:avLst/>
          </a:prstGeom>
        </p:spPr>
      </p:pic>
    </p:spTree>
    <p:extLst>
      <p:ext uri="{BB962C8B-B14F-4D97-AF65-F5344CB8AC3E}">
        <p14:creationId xmlns:p14="http://schemas.microsoft.com/office/powerpoint/2010/main" val="249721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2EAB8F-1451-CE5C-377B-2A0B2A99FE28}"/>
              </a:ext>
            </a:extLst>
          </p:cNvPr>
          <p:cNvPicPr>
            <a:picLocks noChangeAspect="1"/>
          </p:cNvPicPr>
          <p:nvPr/>
        </p:nvPicPr>
        <p:blipFill>
          <a:blip r:embed="rId2"/>
          <a:stretch>
            <a:fillRect/>
          </a:stretch>
        </p:blipFill>
        <p:spPr>
          <a:xfrm>
            <a:off x="1510912" y="0"/>
            <a:ext cx="9170175" cy="6858000"/>
          </a:xfrm>
          <a:prstGeom prst="rect">
            <a:avLst/>
          </a:prstGeom>
        </p:spPr>
      </p:pic>
    </p:spTree>
    <p:extLst>
      <p:ext uri="{BB962C8B-B14F-4D97-AF65-F5344CB8AC3E}">
        <p14:creationId xmlns:p14="http://schemas.microsoft.com/office/powerpoint/2010/main" val="367027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D8DBD-9BA0-A92E-8F61-026A1E516D81}"/>
              </a:ext>
            </a:extLst>
          </p:cNvPr>
          <p:cNvSpPr>
            <a:spLocks noGrp="1"/>
          </p:cNvSpPr>
          <p:nvPr>
            <p:ph type="title"/>
          </p:nvPr>
        </p:nvSpPr>
        <p:spPr/>
        <p:txBody>
          <a:bodyPr/>
          <a:lstStyle/>
          <a:p>
            <a:r>
              <a:rPr lang="en-US" dirty="0">
                <a:solidFill>
                  <a:schemeClr val="bg1"/>
                </a:solidFill>
              </a:rPr>
              <a:t>Indirect method of standardization</a:t>
            </a:r>
          </a:p>
        </p:txBody>
      </p:sp>
      <p:sp>
        <p:nvSpPr>
          <p:cNvPr id="3" name="Content Placeholder 2">
            <a:extLst>
              <a:ext uri="{FF2B5EF4-FFF2-40B4-BE49-F238E27FC236}">
                <a16:creationId xmlns:a16="http://schemas.microsoft.com/office/drawing/2014/main" id="{03982033-E6B5-A956-9761-1FEB39A9E486}"/>
              </a:ext>
            </a:extLst>
          </p:cNvPr>
          <p:cNvSpPr>
            <a:spLocks noGrp="1"/>
          </p:cNvSpPr>
          <p:nvPr>
            <p:ph idx="1"/>
          </p:nvPr>
        </p:nvSpPr>
        <p:spPr/>
        <p:txBody>
          <a:bodyPr/>
          <a:lstStyle/>
          <a:p>
            <a:r>
              <a:rPr lang="en-US" dirty="0">
                <a:solidFill>
                  <a:schemeClr val="bg1"/>
                </a:solidFill>
              </a:rPr>
              <a:t>Requires the knowledge of the age and sex structure of the population as well as the age and sex specific rates of events under consideration for the standard population</a:t>
            </a:r>
          </a:p>
          <a:p>
            <a:r>
              <a:rPr lang="en-US" dirty="0">
                <a:solidFill>
                  <a:schemeClr val="bg1"/>
                </a:solidFill>
              </a:rPr>
              <a:t>Used when the number of deaths for each age specific stratum is not available</a:t>
            </a:r>
          </a:p>
        </p:txBody>
      </p:sp>
    </p:spTree>
    <p:extLst>
      <p:ext uri="{BB962C8B-B14F-4D97-AF65-F5344CB8AC3E}">
        <p14:creationId xmlns:p14="http://schemas.microsoft.com/office/powerpoint/2010/main" val="3598454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776F5-9358-379A-E447-54688FEE66B9}"/>
              </a:ext>
            </a:extLst>
          </p:cNvPr>
          <p:cNvSpPr>
            <a:spLocks noGrp="1"/>
          </p:cNvSpPr>
          <p:nvPr>
            <p:ph type="title"/>
          </p:nvPr>
        </p:nvSpPr>
        <p:spPr>
          <a:xfrm>
            <a:off x="762000" y="401782"/>
            <a:ext cx="9144000" cy="720436"/>
          </a:xfrm>
        </p:spPr>
        <p:txBody>
          <a:bodyPr/>
          <a:lstStyle/>
          <a:p>
            <a:r>
              <a:rPr lang="en-US" dirty="0">
                <a:solidFill>
                  <a:schemeClr val="bg1"/>
                </a:solidFill>
              </a:rPr>
              <a:t>Steps</a:t>
            </a:r>
          </a:p>
        </p:txBody>
      </p:sp>
      <p:sp>
        <p:nvSpPr>
          <p:cNvPr id="3" name="Content Placeholder 2">
            <a:extLst>
              <a:ext uri="{FF2B5EF4-FFF2-40B4-BE49-F238E27FC236}">
                <a16:creationId xmlns:a16="http://schemas.microsoft.com/office/drawing/2014/main" id="{AED3EC04-4580-8DBD-6AFD-1C41AB8B2B64}"/>
              </a:ext>
            </a:extLst>
          </p:cNvPr>
          <p:cNvSpPr>
            <a:spLocks noGrp="1"/>
          </p:cNvSpPr>
          <p:nvPr>
            <p:ph idx="1"/>
          </p:nvPr>
        </p:nvSpPr>
        <p:spPr>
          <a:xfrm>
            <a:off x="762000" y="1433945"/>
            <a:ext cx="10668000" cy="4662055"/>
          </a:xfrm>
        </p:spPr>
        <p:txBody>
          <a:bodyPr>
            <a:normAutofit fontScale="92500" lnSpcReduction="10000"/>
          </a:bodyPr>
          <a:lstStyle/>
          <a:p>
            <a:r>
              <a:rPr lang="en-US" dirty="0">
                <a:solidFill>
                  <a:schemeClr val="bg1"/>
                </a:solidFill>
              </a:rPr>
              <a:t>Step 1: Choose a reference or standard population.</a:t>
            </a:r>
          </a:p>
          <a:p>
            <a:r>
              <a:rPr lang="en-US" dirty="0">
                <a:solidFill>
                  <a:schemeClr val="bg1"/>
                </a:solidFill>
              </a:rPr>
              <a:t>Step 2: Calculate the observed number of deaths in the population (s) of interest</a:t>
            </a:r>
          </a:p>
          <a:p>
            <a:r>
              <a:rPr lang="en-US" dirty="0">
                <a:solidFill>
                  <a:schemeClr val="bg1"/>
                </a:solidFill>
              </a:rPr>
              <a:t>Step 3: Apply the age-specific mortality rates from the chosen reference population to the population(s) of interest.</a:t>
            </a:r>
          </a:p>
          <a:p>
            <a:r>
              <a:rPr lang="en-US" dirty="0">
                <a:solidFill>
                  <a:schemeClr val="bg1"/>
                </a:solidFill>
              </a:rPr>
              <a:t>Step 4: Multiply the number of people in each age group of the population(s) of interest by the age-specific mortality rate in the comparable age group of the reference population.</a:t>
            </a:r>
          </a:p>
          <a:p>
            <a:r>
              <a:rPr lang="en-US" dirty="0">
                <a:solidFill>
                  <a:schemeClr val="bg1"/>
                </a:solidFill>
              </a:rPr>
              <a:t>Step 5: Sum the total number of expected deaths for each population of interest.</a:t>
            </a:r>
          </a:p>
          <a:p>
            <a:r>
              <a:rPr lang="en-US" dirty="0">
                <a:solidFill>
                  <a:schemeClr val="bg1"/>
                </a:solidFill>
              </a:rPr>
              <a:t>Step 6: Divide the total number of observed deaths of the population(s) of interest by the expected deaths</a:t>
            </a:r>
          </a:p>
        </p:txBody>
      </p:sp>
    </p:spTree>
    <p:extLst>
      <p:ext uri="{BB962C8B-B14F-4D97-AF65-F5344CB8AC3E}">
        <p14:creationId xmlns:p14="http://schemas.microsoft.com/office/powerpoint/2010/main" val="4254710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53572-D40E-7BC6-775B-718B890FE193}"/>
              </a:ext>
            </a:extLst>
          </p:cNvPr>
          <p:cNvSpPr>
            <a:spLocks noGrp="1"/>
          </p:cNvSpPr>
          <p:nvPr>
            <p:ph type="title"/>
          </p:nvPr>
        </p:nvSpPr>
        <p:spPr/>
        <p:txBody>
          <a:bodyPr/>
          <a:lstStyle/>
          <a:p>
            <a:r>
              <a:rPr lang="en-US" dirty="0">
                <a:solidFill>
                  <a:schemeClr val="bg1"/>
                </a:solidFill>
              </a:rPr>
              <a:t>Standardized mortality ratio</a:t>
            </a:r>
          </a:p>
        </p:txBody>
      </p:sp>
      <p:sp>
        <p:nvSpPr>
          <p:cNvPr id="3" name="Content Placeholder 2">
            <a:extLst>
              <a:ext uri="{FF2B5EF4-FFF2-40B4-BE49-F238E27FC236}">
                <a16:creationId xmlns:a16="http://schemas.microsoft.com/office/drawing/2014/main" id="{F17BB992-04F1-8E56-6CF5-4F92EDEE0AE6}"/>
              </a:ext>
            </a:extLst>
          </p:cNvPr>
          <p:cNvSpPr>
            <a:spLocks noGrp="1"/>
          </p:cNvSpPr>
          <p:nvPr>
            <p:ph idx="1"/>
          </p:nvPr>
        </p:nvSpPr>
        <p:spPr/>
        <p:txBody>
          <a:bodyPr/>
          <a:lstStyle/>
          <a:p>
            <a:r>
              <a:rPr lang="en-US" dirty="0">
                <a:solidFill>
                  <a:schemeClr val="bg1"/>
                </a:solidFill>
              </a:rPr>
              <a:t>Ratio of the total number of deaths that occur in the study group to the number of deaths that would have been expected to occur if that study group had experienced the death rates of the standard population</a:t>
            </a:r>
          </a:p>
        </p:txBody>
      </p:sp>
      <p:pic>
        <p:nvPicPr>
          <p:cNvPr id="5" name="Picture 4">
            <a:extLst>
              <a:ext uri="{FF2B5EF4-FFF2-40B4-BE49-F238E27FC236}">
                <a16:creationId xmlns:a16="http://schemas.microsoft.com/office/drawing/2014/main" id="{C9B3C2B8-CE9D-6494-4FA1-03EADE4FE39F}"/>
              </a:ext>
            </a:extLst>
          </p:cNvPr>
          <p:cNvPicPr>
            <a:picLocks noChangeAspect="1"/>
          </p:cNvPicPr>
          <p:nvPr/>
        </p:nvPicPr>
        <p:blipFill>
          <a:blip r:embed="rId2"/>
          <a:stretch>
            <a:fillRect/>
          </a:stretch>
        </p:blipFill>
        <p:spPr>
          <a:xfrm>
            <a:off x="2789447" y="4526637"/>
            <a:ext cx="6613105" cy="1829713"/>
          </a:xfrm>
          <a:prstGeom prst="rect">
            <a:avLst/>
          </a:prstGeom>
        </p:spPr>
      </p:pic>
    </p:spTree>
    <p:extLst>
      <p:ext uri="{BB962C8B-B14F-4D97-AF65-F5344CB8AC3E}">
        <p14:creationId xmlns:p14="http://schemas.microsoft.com/office/powerpoint/2010/main" val="3862343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A108A2-8884-CB35-B201-5332BFB35442}"/>
              </a:ext>
            </a:extLst>
          </p:cNvPr>
          <p:cNvSpPr>
            <a:spLocks noGrp="1"/>
          </p:cNvSpPr>
          <p:nvPr>
            <p:ph idx="1"/>
          </p:nvPr>
        </p:nvSpPr>
        <p:spPr>
          <a:xfrm>
            <a:off x="762000" y="0"/>
            <a:ext cx="10668000" cy="2306781"/>
          </a:xfrm>
        </p:spPr>
        <p:txBody>
          <a:bodyPr/>
          <a:lstStyle/>
          <a:p>
            <a:r>
              <a:rPr lang="en-US" dirty="0">
                <a:solidFill>
                  <a:schemeClr val="bg1"/>
                </a:solidFill>
              </a:rPr>
              <a:t>In a population of 5,34,533 miners in a country, 436 deaths from tuberculosis occurred in 2000.</a:t>
            </a:r>
          </a:p>
          <a:p>
            <a:r>
              <a:rPr lang="en-US" dirty="0">
                <a:solidFill>
                  <a:schemeClr val="bg1"/>
                </a:solidFill>
              </a:rPr>
              <a:t>The question of interest is whether this mortality experience from TB is greater than, less than or about the same as that expected from the general population</a:t>
            </a:r>
          </a:p>
        </p:txBody>
      </p:sp>
      <p:pic>
        <p:nvPicPr>
          <p:cNvPr id="7" name="Picture 6">
            <a:extLst>
              <a:ext uri="{FF2B5EF4-FFF2-40B4-BE49-F238E27FC236}">
                <a16:creationId xmlns:a16="http://schemas.microsoft.com/office/drawing/2014/main" id="{254F41E7-DC8F-F0DF-4EA5-4C9CF4832A9F}"/>
              </a:ext>
            </a:extLst>
          </p:cNvPr>
          <p:cNvPicPr>
            <a:picLocks noChangeAspect="1"/>
          </p:cNvPicPr>
          <p:nvPr/>
        </p:nvPicPr>
        <p:blipFill>
          <a:blip r:embed="rId2"/>
          <a:stretch>
            <a:fillRect/>
          </a:stretch>
        </p:blipFill>
        <p:spPr>
          <a:xfrm>
            <a:off x="1100077" y="2306781"/>
            <a:ext cx="9991846" cy="4551219"/>
          </a:xfrm>
          <a:prstGeom prst="rect">
            <a:avLst/>
          </a:prstGeom>
        </p:spPr>
      </p:pic>
    </p:spTree>
    <p:extLst>
      <p:ext uri="{BB962C8B-B14F-4D97-AF65-F5344CB8AC3E}">
        <p14:creationId xmlns:p14="http://schemas.microsoft.com/office/powerpoint/2010/main" val="3634205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DF1353-5C3C-9FEF-3EBE-9DE742359BC0}"/>
              </a:ext>
            </a:extLst>
          </p:cNvPr>
          <p:cNvPicPr>
            <a:picLocks noChangeAspect="1"/>
          </p:cNvPicPr>
          <p:nvPr/>
        </p:nvPicPr>
        <p:blipFill>
          <a:blip r:embed="rId2"/>
          <a:stretch>
            <a:fillRect/>
          </a:stretch>
        </p:blipFill>
        <p:spPr>
          <a:xfrm>
            <a:off x="1321232" y="0"/>
            <a:ext cx="9549536" cy="6858000"/>
          </a:xfrm>
          <a:prstGeom prst="rect">
            <a:avLst/>
          </a:prstGeom>
        </p:spPr>
      </p:pic>
    </p:spTree>
    <p:extLst>
      <p:ext uri="{BB962C8B-B14F-4D97-AF65-F5344CB8AC3E}">
        <p14:creationId xmlns:p14="http://schemas.microsoft.com/office/powerpoint/2010/main" val="37128848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CA1E8-A4B8-14E0-08F3-17C1C55FFBD8}"/>
              </a:ext>
            </a:extLst>
          </p:cNvPr>
          <p:cNvSpPr>
            <a:spLocks noGrp="1"/>
          </p:cNvSpPr>
          <p:nvPr>
            <p:ph type="title"/>
          </p:nvPr>
        </p:nvSpPr>
        <p:spPr/>
        <p:txBody>
          <a:bodyPr/>
          <a:lstStyle/>
          <a:p>
            <a:r>
              <a:rPr lang="en-US" dirty="0">
                <a:solidFill>
                  <a:schemeClr val="bg1"/>
                </a:solidFill>
              </a:rPr>
              <a:t>SMR -- ??</a:t>
            </a:r>
          </a:p>
        </p:txBody>
      </p:sp>
      <p:sp>
        <p:nvSpPr>
          <p:cNvPr id="3" name="Content Placeholder 2">
            <a:extLst>
              <a:ext uri="{FF2B5EF4-FFF2-40B4-BE49-F238E27FC236}">
                <a16:creationId xmlns:a16="http://schemas.microsoft.com/office/drawing/2014/main" id="{A7D60733-F8F1-CCC4-DFA4-4BE8C8B1B15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49125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988710-9952-6D8F-66BB-59841082F2D9}"/>
              </a:ext>
            </a:extLst>
          </p:cNvPr>
          <p:cNvPicPr>
            <a:picLocks noChangeAspect="1"/>
          </p:cNvPicPr>
          <p:nvPr/>
        </p:nvPicPr>
        <p:blipFill>
          <a:blip r:embed="rId2"/>
          <a:stretch>
            <a:fillRect/>
          </a:stretch>
        </p:blipFill>
        <p:spPr>
          <a:xfrm>
            <a:off x="1695450" y="0"/>
            <a:ext cx="8801100" cy="6858000"/>
          </a:xfrm>
          <a:prstGeom prst="rect">
            <a:avLst/>
          </a:prstGeom>
        </p:spPr>
      </p:pic>
    </p:spTree>
    <p:extLst>
      <p:ext uri="{BB962C8B-B14F-4D97-AF65-F5344CB8AC3E}">
        <p14:creationId xmlns:p14="http://schemas.microsoft.com/office/powerpoint/2010/main" val="68656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1D7E22-8491-7810-85F8-EBD4109EA7B2}"/>
              </a:ext>
            </a:extLst>
          </p:cNvPr>
          <p:cNvPicPr>
            <a:picLocks noChangeAspect="1"/>
          </p:cNvPicPr>
          <p:nvPr/>
        </p:nvPicPr>
        <p:blipFill>
          <a:blip r:embed="rId2"/>
          <a:stretch>
            <a:fillRect/>
          </a:stretch>
        </p:blipFill>
        <p:spPr>
          <a:xfrm>
            <a:off x="1009650" y="0"/>
            <a:ext cx="10172700" cy="6858000"/>
          </a:xfrm>
          <a:prstGeom prst="rect">
            <a:avLst/>
          </a:prstGeom>
        </p:spPr>
      </p:pic>
    </p:spTree>
    <p:extLst>
      <p:ext uri="{BB962C8B-B14F-4D97-AF65-F5344CB8AC3E}">
        <p14:creationId xmlns:p14="http://schemas.microsoft.com/office/powerpoint/2010/main" val="2886215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C63114-3B20-8127-BB12-8C1A55EC330A}"/>
              </a:ext>
            </a:extLst>
          </p:cNvPr>
          <p:cNvPicPr>
            <a:picLocks noChangeAspect="1"/>
          </p:cNvPicPr>
          <p:nvPr/>
        </p:nvPicPr>
        <p:blipFill>
          <a:blip r:embed="rId2"/>
          <a:stretch>
            <a:fillRect/>
          </a:stretch>
        </p:blipFill>
        <p:spPr>
          <a:xfrm>
            <a:off x="585018" y="575864"/>
            <a:ext cx="11021963" cy="5706271"/>
          </a:xfrm>
          <a:prstGeom prst="rect">
            <a:avLst/>
          </a:prstGeom>
        </p:spPr>
      </p:pic>
    </p:spTree>
    <p:extLst>
      <p:ext uri="{BB962C8B-B14F-4D97-AF65-F5344CB8AC3E}">
        <p14:creationId xmlns:p14="http://schemas.microsoft.com/office/powerpoint/2010/main" val="14722703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CDDF3-CF93-44C4-E11B-B68C42F16A34}"/>
              </a:ext>
            </a:extLst>
          </p:cNvPr>
          <p:cNvSpPr>
            <a:spLocks noGrp="1"/>
          </p:cNvSpPr>
          <p:nvPr>
            <p:ph type="title"/>
          </p:nvPr>
        </p:nvSpPr>
        <p:spPr/>
        <p:txBody>
          <a:bodyPr/>
          <a:lstStyle/>
          <a:p>
            <a:r>
              <a:rPr lang="en-US" dirty="0">
                <a:solidFill>
                  <a:schemeClr val="bg1"/>
                </a:solidFill>
              </a:rPr>
              <a:t>Advantages of standardization</a:t>
            </a:r>
          </a:p>
        </p:txBody>
      </p:sp>
      <p:sp>
        <p:nvSpPr>
          <p:cNvPr id="3" name="Content Placeholder 2">
            <a:extLst>
              <a:ext uri="{FF2B5EF4-FFF2-40B4-BE49-F238E27FC236}">
                <a16:creationId xmlns:a16="http://schemas.microsoft.com/office/drawing/2014/main" id="{EC846C0C-B6A3-6531-449A-D2CC1B60F158}"/>
              </a:ext>
            </a:extLst>
          </p:cNvPr>
          <p:cNvSpPr>
            <a:spLocks noGrp="1"/>
          </p:cNvSpPr>
          <p:nvPr>
            <p:ph idx="1"/>
          </p:nvPr>
        </p:nvSpPr>
        <p:spPr/>
        <p:txBody>
          <a:bodyPr/>
          <a:lstStyle/>
          <a:p>
            <a:r>
              <a:rPr lang="en-US" dirty="0">
                <a:solidFill>
                  <a:schemeClr val="bg1"/>
                </a:solidFill>
              </a:rPr>
              <a:t>Summarizes stratum specific rates</a:t>
            </a:r>
          </a:p>
          <a:p>
            <a:r>
              <a:rPr lang="en-US" dirty="0">
                <a:solidFill>
                  <a:schemeClr val="bg1"/>
                </a:solidFill>
              </a:rPr>
              <a:t>Unconfounded comparison of population</a:t>
            </a:r>
          </a:p>
        </p:txBody>
      </p:sp>
    </p:spTree>
    <p:extLst>
      <p:ext uri="{BB962C8B-B14F-4D97-AF65-F5344CB8AC3E}">
        <p14:creationId xmlns:p14="http://schemas.microsoft.com/office/powerpoint/2010/main" val="1995586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359-357E-C0C1-F97C-C7352087F712}"/>
              </a:ext>
            </a:extLst>
          </p:cNvPr>
          <p:cNvSpPr>
            <a:spLocks noGrp="1"/>
          </p:cNvSpPr>
          <p:nvPr>
            <p:ph type="title"/>
          </p:nvPr>
        </p:nvSpPr>
        <p:spPr>
          <a:xfrm>
            <a:off x="762000" y="535459"/>
            <a:ext cx="9144000" cy="873211"/>
          </a:xfrm>
        </p:spPr>
        <p:txBody>
          <a:bodyPr/>
          <a:lstStyle/>
          <a:p>
            <a:r>
              <a:rPr lang="en-US" dirty="0">
                <a:solidFill>
                  <a:schemeClr val="bg1"/>
                </a:solidFill>
              </a:rPr>
              <a:t>Limitations / Issues</a:t>
            </a:r>
          </a:p>
        </p:txBody>
      </p:sp>
      <p:sp>
        <p:nvSpPr>
          <p:cNvPr id="3" name="Content Placeholder 2">
            <a:extLst>
              <a:ext uri="{FF2B5EF4-FFF2-40B4-BE49-F238E27FC236}">
                <a16:creationId xmlns:a16="http://schemas.microsoft.com/office/drawing/2014/main" id="{89F9CA67-0ED8-BF2C-3EA8-17CC8BC7328C}"/>
              </a:ext>
            </a:extLst>
          </p:cNvPr>
          <p:cNvSpPr>
            <a:spLocks noGrp="1"/>
          </p:cNvSpPr>
          <p:nvPr>
            <p:ph idx="1"/>
          </p:nvPr>
        </p:nvSpPr>
        <p:spPr>
          <a:xfrm>
            <a:off x="762000" y="1408671"/>
            <a:ext cx="10668000" cy="4687330"/>
          </a:xfrm>
        </p:spPr>
        <p:txBody>
          <a:bodyPr>
            <a:normAutofit lnSpcReduction="10000"/>
          </a:bodyPr>
          <a:lstStyle/>
          <a:p>
            <a:r>
              <a:rPr lang="en-US" dirty="0" err="1">
                <a:solidFill>
                  <a:schemeClr val="bg1"/>
                </a:solidFill>
              </a:rPr>
              <a:t>Standardised</a:t>
            </a:r>
            <a:r>
              <a:rPr lang="en-US" dirty="0">
                <a:solidFill>
                  <a:schemeClr val="bg1"/>
                </a:solidFill>
              </a:rPr>
              <a:t> rates are used for the comparison of two or more populations; they represent a weighted average of the age specific rates taken from a 'standard population' and are not actual rates.</a:t>
            </a:r>
          </a:p>
          <a:p>
            <a:r>
              <a:rPr lang="en-US" dirty="0">
                <a:solidFill>
                  <a:schemeClr val="bg1"/>
                </a:solidFill>
              </a:rPr>
              <a:t>The direct method of </a:t>
            </a:r>
            <a:r>
              <a:rPr lang="en-US" dirty="0" err="1">
                <a:solidFill>
                  <a:schemeClr val="bg1"/>
                </a:solidFill>
              </a:rPr>
              <a:t>standardisation</a:t>
            </a:r>
            <a:r>
              <a:rPr lang="en-US" dirty="0">
                <a:solidFill>
                  <a:schemeClr val="bg1"/>
                </a:solidFill>
              </a:rPr>
              <a:t> requires that the age-specific rates for all populations being studied are available and that a standard population is defined.</a:t>
            </a:r>
          </a:p>
          <a:p>
            <a:r>
              <a:rPr lang="en-US" dirty="0">
                <a:solidFill>
                  <a:schemeClr val="bg1"/>
                </a:solidFill>
              </a:rPr>
              <a:t> The indirect method of </a:t>
            </a:r>
            <a:r>
              <a:rPr lang="en-US" dirty="0" err="1">
                <a:solidFill>
                  <a:schemeClr val="bg1"/>
                </a:solidFill>
              </a:rPr>
              <a:t>standardisation</a:t>
            </a:r>
            <a:r>
              <a:rPr lang="en-US" dirty="0">
                <a:solidFill>
                  <a:schemeClr val="bg1"/>
                </a:solidFill>
              </a:rPr>
              <a:t> requires the total number of cases.</a:t>
            </a:r>
          </a:p>
          <a:p>
            <a:r>
              <a:rPr lang="en-US" dirty="0">
                <a:solidFill>
                  <a:schemeClr val="bg1"/>
                </a:solidFill>
              </a:rPr>
              <a:t>As the choice of a standard population will affect the comparison between populations, it should always be stated clearly which standard population has been applied.</a:t>
            </a:r>
          </a:p>
        </p:txBody>
      </p:sp>
    </p:spTree>
    <p:extLst>
      <p:ext uri="{BB962C8B-B14F-4D97-AF65-F5344CB8AC3E}">
        <p14:creationId xmlns:p14="http://schemas.microsoft.com/office/powerpoint/2010/main" val="27490815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06684A80-25C3-4A3F-282E-CE96E4132F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51717" y="782595"/>
            <a:ext cx="2727366" cy="2727366"/>
          </a:xfrm>
          <a:prstGeom prst="rect">
            <a:avLst/>
          </a:prstGeom>
        </p:spPr>
      </p:pic>
      <p:grpSp>
        <p:nvGrpSpPr>
          <p:cNvPr id="12" name="Group 11">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3" name="Freeform: Shape 12">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2CB96B0-C3AD-2DCB-DE09-319D5E721164}"/>
              </a:ext>
            </a:extLst>
          </p:cNvPr>
          <p:cNvSpPr>
            <a:spLocks noGrp="1"/>
          </p:cNvSpPr>
          <p:nvPr>
            <p:ph type="title"/>
          </p:nvPr>
        </p:nvSpPr>
        <p:spPr>
          <a:xfrm>
            <a:off x="762000" y="782595"/>
            <a:ext cx="5334000" cy="2727367"/>
          </a:xfrm>
        </p:spPr>
        <p:txBody>
          <a:bodyPr vert="horz" lIns="91440" tIns="45720" rIns="91440" bIns="45720" rtlCol="0" anchor="b" anchorCtr="0">
            <a:normAutofit/>
          </a:bodyPr>
          <a:lstStyle/>
          <a:p>
            <a:r>
              <a:rPr lang="en-US" sz="8000" dirty="0"/>
              <a:t>Thank you</a:t>
            </a:r>
          </a:p>
        </p:txBody>
      </p:sp>
    </p:spTree>
    <p:extLst>
      <p:ext uri="{BB962C8B-B14F-4D97-AF65-F5344CB8AC3E}">
        <p14:creationId xmlns:p14="http://schemas.microsoft.com/office/powerpoint/2010/main" val="47024646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ornVTI">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ppt/theme/theme2.xml><?xml version="1.0" encoding="utf-8"?>
<a:theme xmlns:a="http://schemas.openxmlformats.org/drawingml/2006/main" name="SavonVTI">
  <a:themeElements>
    <a:clrScheme name="AnalogousFromLightSeedRightStep">
      <a:dk1>
        <a:srgbClr val="000000"/>
      </a:dk1>
      <a:lt1>
        <a:srgbClr val="FFFFFF"/>
      </a:lt1>
      <a:dk2>
        <a:srgbClr val="243841"/>
      </a:dk2>
      <a:lt2>
        <a:srgbClr val="E8E5E2"/>
      </a:lt2>
      <a:accent1>
        <a:srgbClr val="8DA6C2"/>
      </a:accent1>
      <a:accent2>
        <a:srgbClr val="7F82BA"/>
      </a:accent2>
      <a:accent3>
        <a:srgbClr val="A896C6"/>
      </a:accent3>
      <a:accent4>
        <a:srgbClr val="AD7FBA"/>
      </a:accent4>
      <a:accent5>
        <a:srgbClr val="C493BB"/>
      </a:accent5>
      <a:accent6>
        <a:srgbClr val="BA7F96"/>
      </a:accent6>
      <a:hlink>
        <a:srgbClr val="9A7E5D"/>
      </a:hlink>
      <a:folHlink>
        <a:srgbClr val="7F7F7F"/>
      </a:folHlink>
    </a:clrScheme>
    <a:fontScheme name="Custom 1">
      <a:majorFont>
        <a:latin typeface="Times New Roman"/>
        <a:ea typeface=""/>
        <a:cs typeface=""/>
      </a:majorFont>
      <a:minorFont>
        <a:latin typeface="Times New Roman"/>
        <a:ea typeface=""/>
        <a:cs typeface=""/>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706</TotalTime>
  <Words>1448</Words>
  <Application>Microsoft Office PowerPoint</Application>
  <PresentationFormat>Widescreen</PresentationFormat>
  <Paragraphs>141</Paragraphs>
  <Slides>40</Slides>
  <Notes>0</Notes>
  <HiddenSlides>5</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40</vt:i4>
      </vt:variant>
    </vt:vector>
  </HeadingPairs>
  <TitlesOfParts>
    <vt:vector size="45" baseType="lpstr">
      <vt:lpstr>Arial</vt:lpstr>
      <vt:lpstr>Garamond</vt:lpstr>
      <vt:lpstr>Times New Roman</vt:lpstr>
      <vt:lpstr>TornVTI</vt:lpstr>
      <vt:lpstr>SavonVTI</vt:lpstr>
      <vt:lpstr>Mortality Indicators</vt:lpstr>
      <vt:lpstr>Quiz</vt:lpstr>
      <vt:lpstr>Answer</vt:lpstr>
      <vt:lpstr>MCQ - 2</vt:lpstr>
      <vt:lpstr>MCQ - 3</vt:lpstr>
      <vt:lpstr>MCQ - 4</vt:lpstr>
      <vt:lpstr>MCQ - 5</vt:lpstr>
      <vt:lpstr>MCQ - 6</vt:lpstr>
      <vt:lpstr>MCQ - 7</vt:lpstr>
      <vt:lpstr>MCQ - 8</vt:lpstr>
      <vt:lpstr>MCQ - 9</vt:lpstr>
      <vt:lpstr>Mortality Indicator</vt:lpstr>
      <vt:lpstr>Specific Death rates</vt:lpstr>
      <vt:lpstr>Case fatality rate (ratio)</vt:lpstr>
      <vt:lpstr>PowerPoint Presentation</vt:lpstr>
      <vt:lpstr>PowerPoint Presentation</vt:lpstr>
      <vt:lpstr>Limitations of mortality data</vt:lpstr>
      <vt:lpstr>Mortality indices used in MCH</vt:lpstr>
      <vt:lpstr>Standardization</vt:lpstr>
      <vt:lpstr>Direct</vt:lpstr>
      <vt:lpstr>Steps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Indirect method of standardization</vt:lpstr>
      <vt:lpstr>Steps</vt:lpstr>
      <vt:lpstr>Standardized mortality ratio</vt:lpstr>
      <vt:lpstr>PowerPoint Presentation</vt:lpstr>
      <vt:lpstr>PowerPoint Presentation</vt:lpstr>
      <vt:lpstr>SMR -- ??</vt:lpstr>
      <vt:lpstr>PowerPoint Presentation</vt:lpstr>
      <vt:lpstr>PowerPoint Presentation</vt:lpstr>
      <vt:lpstr>PowerPoint Presentation</vt:lpstr>
      <vt:lpstr>Advantages of standardization</vt:lpstr>
      <vt:lpstr>Limitations / Issues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Mortality Indicators</dc:title>
  <dc:creator>mukul maheshwari</dc:creator>
  <cp:lastModifiedBy>mukul maheshwari</cp:lastModifiedBy>
  <cp:revision>1</cp:revision>
  <dcterms:created xsi:type="dcterms:W3CDTF">2023-04-20T20:06:05Z</dcterms:created>
  <dcterms:modified xsi:type="dcterms:W3CDTF">2024-04-05T19:37:46Z</dcterms:modified>
</cp:coreProperties>
</file>