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4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BFAE1A-3012-48D1-AB21-4414178125BD}"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501E7481-FE4A-47C2-8C10-5538600217FB}">
      <dgm:prSet custT="1"/>
      <dgm:spPr/>
      <dgm:t>
        <a:bodyPr/>
        <a:lstStyle/>
        <a:p>
          <a:r>
            <a:rPr lang="en-US" sz="2400" b="1" i="0" baseline="0" dirty="0"/>
            <a:t>Primary case </a:t>
          </a:r>
          <a:r>
            <a:rPr lang="en-US" sz="2400" b="0" i="0" baseline="0" dirty="0"/>
            <a:t>refers to the first case of a communicable disease introduced into the population unit being studied. </a:t>
          </a:r>
          <a:endParaRPr lang="en-US" sz="2400" dirty="0"/>
        </a:p>
      </dgm:t>
    </dgm:pt>
    <dgm:pt modelId="{1CAB98C3-13A3-4137-B3E1-A86CB15480B3}" type="parTrans" cxnId="{0482FE36-3B28-48E6-83A9-247AA20BDE2C}">
      <dgm:prSet/>
      <dgm:spPr/>
      <dgm:t>
        <a:bodyPr/>
        <a:lstStyle/>
        <a:p>
          <a:endParaRPr lang="en-US" sz="2000"/>
        </a:p>
      </dgm:t>
    </dgm:pt>
    <dgm:pt modelId="{C98A0146-5BD8-450B-A34D-B57BCF2B5F61}" type="sibTrans" cxnId="{0482FE36-3B28-48E6-83A9-247AA20BDE2C}">
      <dgm:prSet/>
      <dgm:spPr/>
      <dgm:t>
        <a:bodyPr/>
        <a:lstStyle/>
        <a:p>
          <a:endParaRPr lang="en-US" sz="2000"/>
        </a:p>
      </dgm:t>
    </dgm:pt>
    <dgm:pt modelId="{B99FD9EA-1BA7-4147-A9AB-CC673E2739C7}">
      <dgm:prSet custT="1"/>
      <dgm:spPr/>
      <dgm:t>
        <a:bodyPr/>
        <a:lstStyle/>
        <a:p>
          <a:r>
            <a:rPr lang="en-US" sz="2400" b="1" i="0" baseline="0" dirty="0"/>
            <a:t>Index case </a:t>
          </a:r>
          <a:r>
            <a:rPr lang="en-US" sz="2400" b="0" i="0" baseline="0" dirty="0"/>
            <a:t>refers to the first case to come to the attention of the investigator. </a:t>
          </a:r>
          <a:endParaRPr lang="en-US" sz="2400" dirty="0"/>
        </a:p>
      </dgm:t>
    </dgm:pt>
    <dgm:pt modelId="{7FE40801-A83B-4398-9F9F-04292F9F92AD}" type="parTrans" cxnId="{DA2477FB-C0B9-4A58-9B4B-68A695917311}">
      <dgm:prSet/>
      <dgm:spPr/>
      <dgm:t>
        <a:bodyPr/>
        <a:lstStyle/>
        <a:p>
          <a:endParaRPr lang="en-US" sz="2000"/>
        </a:p>
      </dgm:t>
    </dgm:pt>
    <dgm:pt modelId="{B9221406-FF85-488D-909F-3F470D26761E}" type="sibTrans" cxnId="{DA2477FB-C0B9-4A58-9B4B-68A695917311}">
      <dgm:prSet/>
      <dgm:spPr/>
      <dgm:t>
        <a:bodyPr/>
        <a:lstStyle/>
        <a:p>
          <a:endParaRPr lang="en-US" sz="2000"/>
        </a:p>
      </dgm:t>
    </dgm:pt>
    <dgm:pt modelId="{9141749C-F468-41BC-91CB-522F537D692F}">
      <dgm:prSet custT="1"/>
      <dgm:spPr/>
      <dgm:t>
        <a:bodyPr/>
        <a:lstStyle/>
        <a:p>
          <a:r>
            <a:rPr lang="en-US" sz="2400" b="1" i="0" baseline="0"/>
            <a:t>Secondary cases </a:t>
          </a:r>
          <a:r>
            <a:rPr lang="en-US" sz="2400" b="0" i="0" baseline="0"/>
            <a:t>are those developing from contact with primary case.</a:t>
          </a:r>
          <a:endParaRPr lang="en-US" sz="2400"/>
        </a:p>
      </dgm:t>
    </dgm:pt>
    <dgm:pt modelId="{04A3A690-A8E8-4948-9780-0211952263B3}" type="parTrans" cxnId="{03579C2C-ABAF-4A1B-B599-6AA7B82BB585}">
      <dgm:prSet/>
      <dgm:spPr/>
      <dgm:t>
        <a:bodyPr/>
        <a:lstStyle/>
        <a:p>
          <a:endParaRPr lang="en-US" sz="2000"/>
        </a:p>
      </dgm:t>
    </dgm:pt>
    <dgm:pt modelId="{1A42C601-7A5C-428F-A653-4111AEF752F1}" type="sibTrans" cxnId="{03579C2C-ABAF-4A1B-B599-6AA7B82BB585}">
      <dgm:prSet/>
      <dgm:spPr/>
      <dgm:t>
        <a:bodyPr/>
        <a:lstStyle/>
        <a:p>
          <a:endParaRPr lang="en-US" sz="2000"/>
        </a:p>
      </dgm:t>
    </dgm:pt>
    <dgm:pt modelId="{F42D52F2-E79A-42C3-8CBB-932579D63771}">
      <dgm:prSet custT="1"/>
      <dgm:spPr/>
      <dgm:t>
        <a:bodyPr/>
        <a:lstStyle/>
        <a:p>
          <a:r>
            <a:rPr lang="en-US" sz="2400" b="0" i="0" baseline="0"/>
            <a:t>A </a:t>
          </a:r>
          <a:r>
            <a:rPr lang="en-US" sz="2400" b="1" i="0" baseline="0"/>
            <a:t>suspect </a:t>
          </a:r>
          <a:r>
            <a:rPr lang="en-US" sz="2400" b="0" i="0" baseline="0"/>
            <a:t>case is an individual (or a group of individuals) who has all of the signs and symptoms of a disease or condition, yet has not been diagnosed as having the disease or had the cause of the symptoms connected to the suspected pathogen.</a:t>
          </a:r>
          <a:endParaRPr lang="en-US" sz="2400"/>
        </a:p>
      </dgm:t>
    </dgm:pt>
    <dgm:pt modelId="{2031AAB3-E7A7-4AED-A85C-9C0AD6508FD5}" type="parTrans" cxnId="{314F8145-DE77-4A66-BCF7-7A0833723FC8}">
      <dgm:prSet/>
      <dgm:spPr/>
      <dgm:t>
        <a:bodyPr/>
        <a:lstStyle/>
        <a:p>
          <a:endParaRPr lang="en-US" sz="2000"/>
        </a:p>
      </dgm:t>
    </dgm:pt>
    <dgm:pt modelId="{28A4493B-38D9-4AC6-BF61-149439B70089}" type="sibTrans" cxnId="{314F8145-DE77-4A66-BCF7-7A0833723FC8}">
      <dgm:prSet/>
      <dgm:spPr/>
      <dgm:t>
        <a:bodyPr/>
        <a:lstStyle/>
        <a:p>
          <a:endParaRPr lang="en-US" sz="2000"/>
        </a:p>
      </dgm:t>
    </dgm:pt>
    <dgm:pt modelId="{C18F0D93-F843-4198-9796-B143D2D2D4D7}" type="pres">
      <dgm:prSet presAssocID="{4DBFAE1A-3012-48D1-AB21-4414178125BD}" presName="vert0" presStyleCnt="0">
        <dgm:presLayoutVars>
          <dgm:dir/>
          <dgm:animOne val="branch"/>
          <dgm:animLvl val="lvl"/>
        </dgm:presLayoutVars>
      </dgm:prSet>
      <dgm:spPr/>
    </dgm:pt>
    <dgm:pt modelId="{D2E0F444-6C05-4AD0-8DD1-F2FA30807FD5}" type="pres">
      <dgm:prSet presAssocID="{501E7481-FE4A-47C2-8C10-5538600217FB}" presName="thickLine" presStyleLbl="alignNode1" presStyleIdx="0" presStyleCnt="4"/>
      <dgm:spPr/>
    </dgm:pt>
    <dgm:pt modelId="{5E2DEFAD-4D98-411C-B09F-14085DF2E172}" type="pres">
      <dgm:prSet presAssocID="{501E7481-FE4A-47C2-8C10-5538600217FB}" presName="horz1" presStyleCnt="0"/>
      <dgm:spPr/>
    </dgm:pt>
    <dgm:pt modelId="{CE7AFE69-3A6D-45EB-B547-A1E4D9478B93}" type="pres">
      <dgm:prSet presAssocID="{501E7481-FE4A-47C2-8C10-5538600217FB}" presName="tx1" presStyleLbl="revTx" presStyleIdx="0" presStyleCnt="4" custLinFactNeighborX="123" custLinFactNeighborY="0"/>
      <dgm:spPr/>
    </dgm:pt>
    <dgm:pt modelId="{969B8684-4375-468E-8763-880FAF2F2EC8}" type="pres">
      <dgm:prSet presAssocID="{501E7481-FE4A-47C2-8C10-5538600217FB}" presName="vert1" presStyleCnt="0"/>
      <dgm:spPr/>
    </dgm:pt>
    <dgm:pt modelId="{1722EDDD-40FB-4CE4-8989-B0875BBD2D45}" type="pres">
      <dgm:prSet presAssocID="{B99FD9EA-1BA7-4147-A9AB-CC673E2739C7}" presName="thickLine" presStyleLbl="alignNode1" presStyleIdx="1" presStyleCnt="4"/>
      <dgm:spPr/>
    </dgm:pt>
    <dgm:pt modelId="{FC03CB5E-7D56-4733-86C6-84861F12D0E4}" type="pres">
      <dgm:prSet presAssocID="{B99FD9EA-1BA7-4147-A9AB-CC673E2739C7}" presName="horz1" presStyleCnt="0"/>
      <dgm:spPr/>
    </dgm:pt>
    <dgm:pt modelId="{93D0942E-E942-4AE3-80AB-C25205451FA7}" type="pres">
      <dgm:prSet presAssocID="{B99FD9EA-1BA7-4147-A9AB-CC673E2739C7}" presName="tx1" presStyleLbl="revTx" presStyleIdx="1" presStyleCnt="4"/>
      <dgm:spPr/>
    </dgm:pt>
    <dgm:pt modelId="{B68081C6-84D6-44DF-A95C-C8103EA80291}" type="pres">
      <dgm:prSet presAssocID="{B99FD9EA-1BA7-4147-A9AB-CC673E2739C7}" presName="vert1" presStyleCnt="0"/>
      <dgm:spPr/>
    </dgm:pt>
    <dgm:pt modelId="{C01004B0-A323-42E0-80C2-5AFD85326464}" type="pres">
      <dgm:prSet presAssocID="{9141749C-F468-41BC-91CB-522F537D692F}" presName="thickLine" presStyleLbl="alignNode1" presStyleIdx="2" presStyleCnt="4"/>
      <dgm:spPr/>
    </dgm:pt>
    <dgm:pt modelId="{C6B9D6FA-D67E-49B5-B856-EF9BBA5E1289}" type="pres">
      <dgm:prSet presAssocID="{9141749C-F468-41BC-91CB-522F537D692F}" presName="horz1" presStyleCnt="0"/>
      <dgm:spPr/>
    </dgm:pt>
    <dgm:pt modelId="{668657A5-B939-45E8-9456-98DCD1532CCC}" type="pres">
      <dgm:prSet presAssocID="{9141749C-F468-41BC-91CB-522F537D692F}" presName="tx1" presStyleLbl="revTx" presStyleIdx="2" presStyleCnt="4"/>
      <dgm:spPr/>
    </dgm:pt>
    <dgm:pt modelId="{11BFD2D4-37A1-4583-9E40-74ABB413ABE5}" type="pres">
      <dgm:prSet presAssocID="{9141749C-F468-41BC-91CB-522F537D692F}" presName="vert1" presStyleCnt="0"/>
      <dgm:spPr/>
    </dgm:pt>
    <dgm:pt modelId="{B117381E-6A12-4635-AA4B-D276AB09A4F7}" type="pres">
      <dgm:prSet presAssocID="{F42D52F2-E79A-42C3-8CBB-932579D63771}" presName="thickLine" presStyleLbl="alignNode1" presStyleIdx="3" presStyleCnt="4"/>
      <dgm:spPr/>
    </dgm:pt>
    <dgm:pt modelId="{52BC8B69-6EB0-4217-953E-DD13287B4F02}" type="pres">
      <dgm:prSet presAssocID="{F42D52F2-E79A-42C3-8CBB-932579D63771}" presName="horz1" presStyleCnt="0"/>
      <dgm:spPr/>
    </dgm:pt>
    <dgm:pt modelId="{FEA1B7C5-EF79-4B94-9CA3-00E4C333D608}" type="pres">
      <dgm:prSet presAssocID="{F42D52F2-E79A-42C3-8CBB-932579D63771}" presName="tx1" presStyleLbl="revTx" presStyleIdx="3" presStyleCnt="4"/>
      <dgm:spPr/>
    </dgm:pt>
    <dgm:pt modelId="{78293DCF-05CB-41C3-A932-A3B4BCD5ABD7}" type="pres">
      <dgm:prSet presAssocID="{F42D52F2-E79A-42C3-8CBB-932579D63771}" presName="vert1" presStyleCnt="0"/>
      <dgm:spPr/>
    </dgm:pt>
  </dgm:ptLst>
  <dgm:cxnLst>
    <dgm:cxn modelId="{9F7AF811-ACF5-4428-A4DE-E72E51E088C1}" type="presOf" srcId="{9141749C-F468-41BC-91CB-522F537D692F}" destId="{668657A5-B939-45E8-9456-98DCD1532CCC}" srcOrd="0" destOrd="0" presId="urn:microsoft.com/office/officeart/2008/layout/LinedList"/>
    <dgm:cxn modelId="{03579C2C-ABAF-4A1B-B599-6AA7B82BB585}" srcId="{4DBFAE1A-3012-48D1-AB21-4414178125BD}" destId="{9141749C-F468-41BC-91CB-522F537D692F}" srcOrd="2" destOrd="0" parTransId="{04A3A690-A8E8-4948-9780-0211952263B3}" sibTransId="{1A42C601-7A5C-428F-A653-4111AEF752F1}"/>
    <dgm:cxn modelId="{0482FE36-3B28-48E6-83A9-247AA20BDE2C}" srcId="{4DBFAE1A-3012-48D1-AB21-4414178125BD}" destId="{501E7481-FE4A-47C2-8C10-5538600217FB}" srcOrd="0" destOrd="0" parTransId="{1CAB98C3-13A3-4137-B3E1-A86CB15480B3}" sibTransId="{C98A0146-5BD8-450B-A34D-B57BCF2B5F61}"/>
    <dgm:cxn modelId="{314F8145-DE77-4A66-BCF7-7A0833723FC8}" srcId="{4DBFAE1A-3012-48D1-AB21-4414178125BD}" destId="{F42D52F2-E79A-42C3-8CBB-932579D63771}" srcOrd="3" destOrd="0" parTransId="{2031AAB3-E7A7-4AED-A85C-9C0AD6508FD5}" sibTransId="{28A4493B-38D9-4AC6-BF61-149439B70089}"/>
    <dgm:cxn modelId="{2BEAFC4F-1D7D-4F33-9F2D-09683E10BEEB}" type="presOf" srcId="{4DBFAE1A-3012-48D1-AB21-4414178125BD}" destId="{C18F0D93-F843-4198-9796-B143D2D2D4D7}" srcOrd="0" destOrd="0" presId="urn:microsoft.com/office/officeart/2008/layout/LinedList"/>
    <dgm:cxn modelId="{912AAA89-92B3-4845-9A40-4CCACE972AE6}" type="presOf" srcId="{B99FD9EA-1BA7-4147-A9AB-CC673E2739C7}" destId="{93D0942E-E942-4AE3-80AB-C25205451FA7}" srcOrd="0" destOrd="0" presId="urn:microsoft.com/office/officeart/2008/layout/LinedList"/>
    <dgm:cxn modelId="{2DF958C0-05CC-4AD1-977E-30BBB1B0F397}" type="presOf" srcId="{501E7481-FE4A-47C2-8C10-5538600217FB}" destId="{CE7AFE69-3A6D-45EB-B547-A1E4D9478B93}" srcOrd="0" destOrd="0" presId="urn:microsoft.com/office/officeart/2008/layout/LinedList"/>
    <dgm:cxn modelId="{CC3B1ED9-3126-4DDA-87F1-D1A1D5312C70}" type="presOf" srcId="{F42D52F2-E79A-42C3-8CBB-932579D63771}" destId="{FEA1B7C5-EF79-4B94-9CA3-00E4C333D608}" srcOrd="0" destOrd="0" presId="urn:microsoft.com/office/officeart/2008/layout/LinedList"/>
    <dgm:cxn modelId="{DA2477FB-C0B9-4A58-9B4B-68A695917311}" srcId="{4DBFAE1A-3012-48D1-AB21-4414178125BD}" destId="{B99FD9EA-1BA7-4147-A9AB-CC673E2739C7}" srcOrd="1" destOrd="0" parTransId="{7FE40801-A83B-4398-9F9F-04292F9F92AD}" sibTransId="{B9221406-FF85-488D-909F-3F470D26761E}"/>
    <dgm:cxn modelId="{E25891FE-8EFC-40B9-B055-5000FC7FF800}" type="presParOf" srcId="{C18F0D93-F843-4198-9796-B143D2D2D4D7}" destId="{D2E0F444-6C05-4AD0-8DD1-F2FA30807FD5}" srcOrd="0" destOrd="0" presId="urn:microsoft.com/office/officeart/2008/layout/LinedList"/>
    <dgm:cxn modelId="{1BB1320F-6DDD-43F2-BACB-7DE6F6ED2004}" type="presParOf" srcId="{C18F0D93-F843-4198-9796-B143D2D2D4D7}" destId="{5E2DEFAD-4D98-411C-B09F-14085DF2E172}" srcOrd="1" destOrd="0" presId="urn:microsoft.com/office/officeart/2008/layout/LinedList"/>
    <dgm:cxn modelId="{083E1AE0-EF41-4B8D-B995-BAD6A425CD85}" type="presParOf" srcId="{5E2DEFAD-4D98-411C-B09F-14085DF2E172}" destId="{CE7AFE69-3A6D-45EB-B547-A1E4D9478B93}" srcOrd="0" destOrd="0" presId="urn:microsoft.com/office/officeart/2008/layout/LinedList"/>
    <dgm:cxn modelId="{4C07980C-B953-430C-BE16-1D0B7514FA74}" type="presParOf" srcId="{5E2DEFAD-4D98-411C-B09F-14085DF2E172}" destId="{969B8684-4375-468E-8763-880FAF2F2EC8}" srcOrd="1" destOrd="0" presId="urn:microsoft.com/office/officeart/2008/layout/LinedList"/>
    <dgm:cxn modelId="{A07F1D61-0CDD-4A9C-9E9B-691F537547AA}" type="presParOf" srcId="{C18F0D93-F843-4198-9796-B143D2D2D4D7}" destId="{1722EDDD-40FB-4CE4-8989-B0875BBD2D45}" srcOrd="2" destOrd="0" presId="urn:microsoft.com/office/officeart/2008/layout/LinedList"/>
    <dgm:cxn modelId="{BAF2C7FD-2F34-4C68-BCEE-5F428649D8FD}" type="presParOf" srcId="{C18F0D93-F843-4198-9796-B143D2D2D4D7}" destId="{FC03CB5E-7D56-4733-86C6-84861F12D0E4}" srcOrd="3" destOrd="0" presId="urn:microsoft.com/office/officeart/2008/layout/LinedList"/>
    <dgm:cxn modelId="{EA0EF118-2824-4886-BABF-EF3FD32F26D1}" type="presParOf" srcId="{FC03CB5E-7D56-4733-86C6-84861F12D0E4}" destId="{93D0942E-E942-4AE3-80AB-C25205451FA7}" srcOrd="0" destOrd="0" presId="urn:microsoft.com/office/officeart/2008/layout/LinedList"/>
    <dgm:cxn modelId="{1FE62765-6B60-4862-A86D-B08FC66ECFB4}" type="presParOf" srcId="{FC03CB5E-7D56-4733-86C6-84861F12D0E4}" destId="{B68081C6-84D6-44DF-A95C-C8103EA80291}" srcOrd="1" destOrd="0" presId="urn:microsoft.com/office/officeart/2008/layout/LinedList"/>
    <dgm:cxn modelId="{4AD90F8C-8748-49FB-9D81-1074A69C3D75}" type="presParOf" srcId="{C18F0D93-F843-4198-9796-B143D2D2D4D7}" destId="{C01004B0-A323-42E0-80C2-5AFD85326464}" srcOrd="4" destOrd="0" presId="urn:microsoft.com/office/officeart/2008/layout/LinedList"/>
    <dgm:cxn modelId="{592DAB2C-C232-44C7-AB2B-8D19F3B1B31D}" type="presParOf" srcId="{C18F0D93-F843-4198-9796-B143D2D2D4D7}" destId="{C6B9D6FA-D67E-49B5-B856-EF9BBA5E1289}" srcOrd="5" destOrd="0" presId="urn:microsoft.com/office/officeart/2008/layout/LinedList"/>
    <dgm:cxn modelId="{AF8E82DA-4062-43A7-B6F7-FFA393613C5E}" type="presParOf" srcId="{C6B9D6FA-D67E-49B5-B856-EF9BBA5E1289}" destId="{668657A5-B939-45E8-9456-98DCD1532CCC}" srcOrd="0" destOrd="0" presId="urn:microsoft.com/office/officeart/2008/layout/LinedList"/>
    <dgm:cxn modelId="{524A722D-A0EC-4EA2-9B8E-30CAA81DA3EF}" type="presParOf" srcId="{C6B9D6FA-D67E-49B5-B856-EF9BBA5E1289}" destId="{11BFD2D4-37A1-4583-9E40-74ABB413ABE5}" srcOrd="1" destOrd="0" presId="urn:microsoft.com/office/officeart/2008/layout/LinedList"/>
    <dgm:cxn modelId="{9208EE93-B9B7-4442-A9C7-8250C994C8CD}" type="presParOf" srcId="{C18F0D93-F843-4198-9796-B143D2D2D4D7}" destId="{B117381E-6A12-4635-AA4B-D276AB09A4F7}" srcOrd="6" destOrd="0" presId="urn:microsoft.com/office/officeart/2008/layout/LinedList"/>
    <dgm:cxn modelId="{68E67AB7-9E20-4886-9D14-AB0E470F1B51}" type="presParOf" srcId="{C18F0D93-F843-4198-9796-B143D2D2D4D7}" destId="{52BC8B69-6EB0-4217-953E-DD13287B4F02}" srcOrd="7" destOrd="0" presId="urn:microsoft.com/office/officeart/2008/layout/LinedList"/>
    <dgm:cxn modelId="{67E76343-D759-418B-9E3B-2C99584D8239}" type="presParOf" srcId="{52BC8B69-6EB0-4217-953E-DD13287B4F02}" destId="{FEA1B7C5-EF79-4B94-9CA3-00E4C333D608}" srcOrd="0" destOrd="0" presId="urn:microsoft.com/office/officeart/2008/layout/LinedList"/>
    <dgm:cxn modelId="{57802E7D-A279-44FF-9F38-9626EA506016}" type="presParOf" srcId="{52BC8B69-6EB0-4217-953E-DD13287B4F02}" destId="{78293DCF-05CB-41C3-A932-A3B4BCD5ABD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E0F444-6C05-4AD0-8DD1-F2FA30807FD5}">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7AFE69-3A6D-45EB-B547-A1E4D9478B93}">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t>Primary case </a:t>
          </a:r>
          <a:r>
            <a:rPr lang="en-US" sz="2400" b="0" i="0" kern="1200" baseline="0" dirty="0"/>
            <a:t>refers to the first case of a communicable disease introduced into the population unit being studied. </a:t>
          </a:r>
          <a:endParaRPr lang="en-US" sz="2400" kern="1200" dirty="0"/>
        </a:p>
      </dsp:txBody>
      <dsp:txXfrm>
        <a:off x="0" y="0"/>
        <a:ext cx="6900512" cy="1384035"/>
      </dsp:txXfrm>
    </dsp:sp>
    <dsp:sp modelId="{1722EDDD-40FB-4CE4-8989-B0875BBD2D45}">
      <dsp:nvSpPr>
        <dsp:cNvPr id="0" name=""/>
        <dsp:cNvSpPr/>
      </dsp:nvSpPr>
      <dsp:spPr>
        <a:xfrm>
          <a:off x="0" y="1384035"/>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D0942E-E942-4AE3-80AB-C25205451FA7}">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dirty="0"/>
            <a:t>Index case </a:t>
          </a:r>
          <a:r>
            <a:rPr lang="en-US" sz="2400" b="0" i="0" kern="1200" baseline="0" dirty="0"/>
            <a:t>refers to the first case to come to the attention of the investigator. </a:t>
          </a:r>
          <a:endParaRPr lang="en-US" sz="2400" kern="1200" dirty="0"/>
        </a:p>
      </dsp:txBody>
      <dsp:txXfrm>
        <a:off x="0" y="1384035"/>
        <a:ext cx="6900512" cy="1384035"/>
      </dsp:txXfrm>
    </dsp:sp>
    <dsp:sp modelId="{C01004B0-A323-42E0-80C2-5AFD85326464}">
      <dsp:nvSpPr>
        <dsp:cNvPr id="0" name=""/>
        <dsp:cNvSpPr/>
      </dsp:nvSpPr>
      <dsp:spPr>
        <a:xfrm>
          <a:off x="0" y="276807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8657A5-B939-45E8-9456-98DCD1532CCC}">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i="0" kern="1200" baseline="0"/>
            <a:t>Secondary cases </a:t>
          </a:r>
          <a:r>
            <a:rPr lang="en-US" sz="2400" b="0" i="0" kern="1200" baseline="0"/>
            <a:t>are those developing from contact with primary case.</a:t>
          </a:r>
          <a:endParaRPr lang="en-US" sz="2400" kern="1200"/>
        </a:p>
      </dsp:txBody>
      <dsp:txXfrm>
        <a:off x="0" y="2768070"/>
        <a:ext cx="6900512" cy="1384035"/>
      </dsp:txXfrm>
    </dsp:sp>
    <dsp:sp modelId="{B117381E-6A12-4635-AA4B-D276AB09A4F7}">
      <dsp:nvSpPr>
        <dsp:cNvPr id="0" name=""/>
        <dsp:cNvSpPr/>
      </dsp:nvSpPr>
      <dsp:spPr>
        <a:xfrm>
          <a:off x="0" y="4152105"/>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A1B7C5-EF79-4B94-9CA3-00E4C333D608}">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i="0" kern="1200" baseline="0"/>
            <a:t>A </a:t>
          </a:r>
          <a:r>
            <a:rPr lang="en-US" sz="2400" b="1" i="0" kern="1200" baseline="0"/>
            <a:t>suspect </a:t>
          </a:r>
          <a:r>
            <a:rPr lang="en-US" sz="2400" b="0" i="0" kern="1200" baseline="0"/>
            <a:t>case is an individual (or a group of individuals) who has all of the signs and symptoms of a disease or condition, yet has not been diagnosed as having the disease or had the cause of the symptoms connected to the suspected pathogen.</a:t>
          </a:r>
          <a:endParaRPr lang="en-US" sz="2400" kern="1200"/>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67E3-6BCB-036B-1175-67630A693E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E194B1-E06D-5BA3-583F-13564FE95B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F8BB8C-9AD8-3A3E-EFDB-80D962F51562}"/>
              </a:ext>
            </a:extLst>
          </p:cNvPr>
          <p:cNvSpPr>
            <a:spLocks noGrp="1"/>
          </p:cNvSpPr>
          <p:nvPr>
            <p:ph type="dt" sz="half" idx="10"/>
          </p:nvPr>
        </p:nvSpPr>
        <p:spPr/>
        <p:txBody>
          <a:bodyPr/>
          <a:lstStyle/>
          <a:p>
            <a:fld id="{53BEF823-48A5-43FC-BE03-E79964288B41}" type="datetimeFigureOut">
              <a:rPr lang="en-US" smtClean="0"/>
              <a:t>8/7/2023</a:t>
            </a:fld>
            <a:endParaRPr lang="en-US" dirty="0"/>
          </a:p>
        </p:txBody>
      </p:sp>
      <p:sp>
        <p:nvSpPr>
          <p:cNvPr id="5" name="Footer Placeholder 4">
            <a:extLst>
              <a:ext uri="{FF2B5EF4-FFF2-40B4-BE49-F238E27FC236}">
                <a16:creationId xmlns:a16="http://schemas.microsoft.com/office/drawing/2014/main" id="{AA95CC48-C6FC-0514-7738-BD2475A6B3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9737853-2C5D-F8FB-485E-7EE36A600F0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409342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2B787-527E-7366-C1D2-10F6939E20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2CE75F-04ED-BDF3-9B7A-B84B876578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0A5A6A-F4BD-D4DA-E7E0-B346809BF9E0}"/>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5" name="Footer Placeholder 4">
            <a:extLst>
              <a:ext uri="{FF2B5EF4-FFF2-40B4-BE49-F238E27FC236}">
                <a16:creationId xmlns:a16="http://schemas.microsoft.com/office/drawing/2014/main" id="{5CB0C5F2-084D-A4C9-4482-4F3883FC9B93}"/>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C1610382-DE82-1145-59BD-FD91DE7BAD8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0828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DD351-492C-6A3D-84B3-A654BFBDE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0A97594-0F0D-3374-A202-41ACC53F8A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C56C8-B69D-3C97-4C9C-2BABDAF0CF52}"/>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5" name="Footer Placeholder 4">
            <a:extLst>
              <a:ext uri="{FF2B5EF4-FFF2-40B4-BE49-F238E27FC236}">
                <a16:creationId xmlns:a16="http://schemas.microsoft.com/office/drawing/2014/main" id="{C15366D4-336A-4B6E-FC4F-06BB74BFC943}"/>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718D9230-A81B-669A-5C9B-EE1F284F4B7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440309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92FD-9477-BCA5-6112-BD7E5A0883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71891F-6BF0-AFC6-982C-41B23460F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D162E1-78D8-217A-EDAC-514AD113C9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BDAF57-5023-5176-5F6F-4A0F9092A4BB}"/>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6" name="Footer Placeholder 5">
            <a:extLst>
              <a:ext uri="{FF2B5EF4-FFF2-40B4-BE49-F238E27FC236}">
                <a16:creationId xmlns:a16="http://schemas.microsoft.com/office/drawing/2014/main" id="{94EE3B6F-44CD-5EE0-8D26-761B5206D425}"/>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09A5392D-9224-3209-6EEE-087BD135E780}"/>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92553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81DA-707A-0B12-8AAC-9D593E117F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0BE4BA-D452-046E-072F-8426EBAE23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60C99-BECF-8DB8-BC65-DBE5027ED9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FE7097-E623-84AB-96D4-A54FBF760B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D49E33-AF7A-3517-2526-5E8F454EB5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13C04B-F6DE-508C-A6C7-05875CDAF526}"/>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8" name="Footer Placeholder 7">
            <a:extLst>
              <a:ext uri="{FF2B5EF4-FFF2-40B4-BE49-F238E27FC236}">
                <a16:creationId xmlns:a16="http://schemas.microsoft.com/office/drawing/2014/main" id="{CE3F082C-DD7B-E6E0-5C5A-984FF49DECB8}"/>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AE18ABD4-CB4E-B4E9-638A-66F8E02A244A}"/>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45015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55BAE-D13B-B184-7D74-BB3AD21A93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D19E20-3403-38A0-4821-635DAE4F5945}"/>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4" name="Footer Placeholder 3">
            <a:extLst>
              <a:ext uri="{FF2B5EF4-FFF2-40B4-BE49-F238E27FC236}">
                <a16:creationId xmlns:a16="http://schemas.microsoft.com/office/drawing/2014/main" id="{66B55EEC-F310-2398-920F-A85E01F653A6}"/>
              </a:ext>
            </a:extLst>
          </p:cNvPr>
          <p:cNvSpPr>
            <a:spLocks noGrp="1"/>
          </p:cNvSpPr>
          <p:nvPr>
            <p:ph type="ftr" sz="quarter" idx="11"/>
          </p:nvPr>
        </p:nvSpPr>
        <p:spPr/>
        <p:txBody>
          <a:bodyPr/>
          <a:lstStyle/>
          <a:p>
            <a:pPr algn="l"/>
            <a:endParaRPr lang="en-US" dirty="0"/>
          </a:p>
        </p:txBody>
      </p:sp>
      <p:sp>
        <p:nvSpPr>
          <p:cNvPr id="5" name="Slide Number Placeholder 4">
            <a:extLst>
              <a:ext uri="{FF2B5EF4-FFF2-40B4-BE49-F238E27FC236}">
                <a16:creationId xmlns:a16="http://schemas.microsoft.com/office/drawing/2014/main" id="{249608D7-D87E-387B-9796-9BA2709A2102}"/>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1082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4839A-B306-B665-9044-061D6E33A18C}"/>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3" name="Footer Placeholder 2">
            <a:extLst>
              <a:ext uri="{FF2B5EF4-FFF2-40B4-BE49-F238E27FC236}">
                <a16:creationId xmlns:a16="http://schemas.microsoft.com/office/drawing/2014/main" id="{B7DB8161-B4F8-7238-75C9-C671FEC837ED}"/>
              </a:ext>
            </a:extLst>
          </p:cNvPr>
          <p:cNvSpPr>
            <a:spLocks noGrp="1"/>
          </p:cNvSpPr>
          <p:nvPr>
            <p:ph type="ftr" sz="quarter" idx="11"/>
          </p:nvPr>
        </p:nvSpPr>
        <p:spPr/>
        <p:txBody>
          <a:bodyPr/>
          <a:lstStyle/>
          <a:p>
            <a:pPr algn="l"/>
            <a:endParaRPr lang="en-US" dirty="0"/>
          </a:p>
        </p:txBody>
      </p:sp>
      <p:sp>
        <p:nvSpPr>
          <p:cNvPr id="4" name="Slide Number Placeholder 3">
            <a:extLst>
              <a:ext uri="{FF2B5EF4-FFF2-40B4-BE49-F238E27FC236}">
                <a16:creationId xmlns:a16="http://schemas.microsoft.com/office/drawing/2014/main" id="{7177F3CC-C436-B89D-DB43-44C588DFB09A}"/>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11451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578E-64D6-3913-64C0-47CC5F11CF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B1EE89-D99E-6EC0-D34C-5A91DCF1C3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AC9FAD-C90B-BF80-6EEA-4B9A7E779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62B35-8198-F51D-DCBB-48441CFC963E}"/>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6" name="Footer Placeholder 5">
            <a:extLst>
              <a:ext uri="{FF2B5EF4-FFF2-40B4-BE49-F238E27FC236}">
                <a16:creationId xmlns:a16="http://schemas.microsoft.com/office/drawing/2014/main" id="{9A03300A-8FFC-6725-75DD-DB57A7799CF5}"/>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C1C668B9-2A94-1290-9FC6-4CBA2DDFF0E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09117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6CB7B-A71F-1AAA-8531-B7A5977A55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81AE29-7E8F-4FA4-D31D-48CF9F786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DAE73D-73B5-D27B-7859-51CE279586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C28A0C-CF4D-FD55-9D07-1C02E57285C9}"/>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6" name="Footer Placeholder 5">
            <a:extLst>
              <a:ext uri="{FF2B5EF4-FFF2-40B4-BE49-F238E27FC236}">
                <a16:creationId xmlns:a16="http://schemas.microsoft.com/office/drawing/2014/main" id="{A6CFF202-84BB-7428-10CB-B450696F21C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A8AB87E0-F56E-6ECA-FB89-1FD3E018FC5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0166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46DB2-F44D-521D-D826-CD7FE5199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23AE75-D5F4-3C08-8116-161E8F741E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7B0B8A-0E08-BF7C-1670-8B8A816D2193}"/>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5" name="Footer Placeholder 4">
            <a:extLst>
              <a:ext uri="{FF2B5EF4-FFF2-40B4-BE49-F238E27FC236}">
                <a16:creationId xmlns:a16="http://schemas.microsoft.com/office/drawing/2014/main" id="{DDBDD537-6A18-1CDE-9078-C5D143124892}"/>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EAF8DFF2-3838-4E9C-1FAE-B3787B455BD0}"/>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76326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830DC-91D6-F006-CDB1-B137823EF1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74761D-3758-1EBF-3273-7293F4602A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AA295B-777F-87EF-AE2E-6EBA4BBF8DB7}"/>
              </a:ext>
            </a:extLst>
          </p:cNvPr>
          <p:cNvSpPr>
            <a:spLocks noGrp="1"/>
          </p:cNvSpPr>
          <p:nvPr>
            <p:ph type="dt" sz="half" idx="10"/>
          </p:nvPr>
        </p:nvSpPr>
        <p:spPr/>
        <p:txBody>
          <a:bodyPr/>
          <a:lstStyle/>
          <a:p>
            <a:pPr algn="r"/>
            <a:fld id="{53BEF823-48A5-43FC-BE03-E79964288B41}" type="datetimeFigureOut">
              <a:rPr lang="en-US" smtClean="0"/>
              <a:pPr algn="r"/>
              <a:t>8/7/2023</a:t>
            </a:fld>
            <a:endParaRPr lang="en-US" dirty="0"/>
          </a:p>
        </p:txBody>
      </p:sp>
      <p:sp>
        <p:nvSpPr>
          <p:cNvPr id="5" name="Footer Placeholder 4">
            <a:extLst>
              <a:ext uri="{FF2B5EF4-FFF2-40B4-BE49-F238E27FC236}">
                <a16:creationId xmlns:a16="http://schemas.microsoft.com/office/drawing/2014/main" id="{3AA1BB19-45FF-354A-44EB-DE3CD9A144E8}"/>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A3CC7300-99FA-CB1E-D273-7AA9E561CE24}"/>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266527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62954-4D08-9820-2248-9CF73CE071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9A456F-2CB8-96D4-6C7E-A3D68240A9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E1862-7B54-A678-D093-E4EDEEECC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fld id="{53BEF823-48A5-43FC-BE03-E79964288B41}" type="datetimeFigureOut">
              <a:rPr lang="en-US" smtClean="0"/>
              <a:pPr algn="r"/>
              <a:t>8/7/2023</a:t>
            </a:fld>
            <a:endParaRPr lang="en-US" dirty="0"/>
          </a:p>
        </p:txBody>
      </p:sp>
      <p:sp>
        <p:nvSpPr>
          <p:cNvPr id="5" name="Footer Placeholder 4">
            <a:extLst>
              <a:ext uri="{FF2B5EF4-FFF2-40B4-BE49-F238E27FC236}">
                <a16:creationId xmlns:a16="http://schemas.microsoft.com/office/drawing/2014/main" id="{E6D69F4A-E868-5FA1-AAF1-B69E4F5A4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B3F5EDA5-03F2-2E14-171F-01AAB4615B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64351174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7766EE-4192-4B2D-A5A0-F60F9A5F7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Viruses suspended on mid-air">
            <a:extLst>
              <a:ext uri="{FF2B5EF4-FFF2-40B4-BE49-F238E27FC236}">
                <a16:creationId xmlns:a16="http://schemas.microsoft.com/office/drawing/2014/main" id="{C2A259F6-06FB-0965-A5AE-2625E9960777}"/>
              </a:ext>
            </a:extLst>
          </p:cNvPr>
          <p:cNvPicPr>
            <a:picLocks noChangeAspect="1"/>
          </p:cNvPicPr>
          <p:nvPr/>
        </p:nvPicPr>
        <p:blipFill rotWithShape="1">
          <a:blip r:embed="rId2"/>
          <a:srcRect t="12638" b="12362"/>
          <a:stretch/>
        </p:blipFill>
        <p:spPr>
          <a:xfrm>
            <a:off x="1" y="10"/>
            <a:ext cx="12191999" cy="6857990"/>
          </a:xfrm>
          <a:prstGeom prst="rect">
            <a:avLst/>
          </a:prstGeom>
        </p:spPr>
      </p:pic>
      <p:sp>
        <p:nvSpPr>
          <p:cNvPr id="11"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969639" y="158592"/>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 name="Title 1">
            <a:extLst>
              <a:ext uri="{FF2B5EF4-FFF2-40B4-BE49-F238E27FC236}">
                <a16:creationId xmlns:a16="http://schemas.microsoft.com/office/drawing/2014/main" id="{1437E5E0-8740-DF26-128A-69F06FDA2A4D}"/>
              </a:ext>
            </a:extLst>
          </p:cNvPr>
          <p:cNvSpPr>
            <a:spLocks noGrp="1"/>
          </p:cNvSpPr>
          <p:nvPr>
            <p:ph type="ctrTitle"/>
          </p:nvPr>
        </p:nvSpPr>
        <p:spPr>
          <a:xfrm>
            <a:off x="3325473" y="1524000"/>
            <a:ext cx="5541054" cy="2688545"/>
          </a:xfrm>
        </p:spPr>
        <p:txBody>
          <a:bodyPr>
            <a:normAutofit/>
          </a:bodyPr>
          <a:lstStyle/>
          <a:p>
            <a:r>
              <a:rPr lang="en-US" sz="4400" b="1"/>
              <a:t>Infectious disease epidemiology</a:t>
            </a:r>
          </a:p>
        </p:txBody>
      </p:sp>
      <p:sp>
        <p:nvSpPr>
          <p:cNvPr id="3" name="Subtitle 2">
            <a:extLst>
              <a:ext uri="{FF2B5EF4-FFF2-40B4-BE49-F238E27FC236}">
                <a16:creationId xmlns:a16="http://schemas.microsoft.com/office/drawing/2014/main" id="{2FBF3F82-95EA-FCF1-F920-4F36EC572993}"/>
              </a:ext>
            </a:extLst>
          </p:cNvPr>
          <p:cNvSpPr>
            <a:spLocks noGrp="1"/>
          </p:cNvSpPr>
          <p:nvPr>
            <p:ph type="subTitle" idx="1"/>
          </p:nvPr>
        </p:nvSpPr>
        <p:spPr>
          <a:xfrm>
            <a:off x="3880419" y="4300833"/>
            <a:ext cx="4431162" cy="1337967"/>
          </a:xfrm>
        </p:spPr>
        <p:txBody>
          <a:bodyPr>
            <a:normAutofit/>
          </a:bodyPr>
          <a:lstStyle/>
          <a:p>
            <a:endParaRPr lang="en-US"/>
          </a:p>
        </p:txBody>
      </p:sp>
    </p:spTree>
    <p:extLst>
      <p:ext uri="{BB962C8B-B14F-4D97-AF65-F5344CB8AC3E}">
        <p14:creationId xmlns:p14="http://schemas.microsoft.com/office/powerpoint/2010/main" val="256837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6756-74EB-8D79-47E8-4E3BAE0FD08F}"/>
              </a:ext>
            </a:extLst>
          </p:cNvPr>
          <p:cNvSpPr>
            <a:spLocks noGrp="1"/>
          </p:cNvSpPr>
          <p:nvPr>
            <p:ph type="title"/>
          </p:nvPr>
        </p:nvSpPr>
        <p:spPr/>
        <p:txBody>
          <a:bodyPr/>
          <a:lstStyle/>
          <a:p>
            <a:r>
              <a:rPr lang="en-US" dirty="0"/>
              <a:t>Operational definitions</a:t>
            </a:r>
          </a:p>
        </p:txBody>
      </p:sp>
      <p:sp>
        <p:nvSpPr>
          <p:cNvPr id="3" name="Content Placeholder 2">
            <a:extLst>
              <a:ext uri="{FF2B5EF4-FFF2-40B4-BE49-F238E27FC236}">
                <a16:creationId xmlns:a16="http://schemas.microsoft.com/office/drawing/2014/main" id="{8DC6678E-96B3-4CC9-4EC3-85577D465CC4}"/>
              </a:ext>
            </a:extLst>
          </p:cNvPr>
          <p:cNvSpPr>
            <a:spLocks noGrp="1"/>
          </p:cNvSpPr>
          <p:nvPr>
            <p:ph idx="1"/>
          </p:nvPr>
        </p:nvSpPr>
        <p:spPr/>
        <p:txBody>
          <a:bodyPr>
            <a:normAutofit fontScale="85000" lnSpcReduction="20000"/>
          </a:bodyPr>
          <a:lstStyle/>
          <a:p>
            <a:pPr>
              <a:lnSpc>
                <a:spcPct val="100000"/>
              </a:lnSpc>
            </a:pPr>
            <a:r>
              <a:rPr lang="en-US" sz="2800" dirty="0"/>
              <a:t>Infection - </a:t>
            </a:r>
            <a:r>
              <a:rPr lang="en-US" sz="2600" dirty="0">
                <a:latin typeface="Times New Roman" panose="02020603050405020304" pitchFamily="18" charset="0"/>
              </a:rPr>
              <a:t>The entry and development or multiplication of an infectious agent in an organism, including the body of man or animals. It also implies that the body responds in some way to defend itself against the invader, either in the form of an immune response or disease. </a:t>
            </a:r>
          </a:p>
          <a:p>
            <a:pPr lvl="1">
              <a:lnSpc>
                <a:spcPct val="100000"/>
              </a:lnSpc>
            </a:pPr>
            <a:r>
              <a:rPr lang="en-US" i="1" dirty="0">
                <a:latin typeface="Times New Roman" panose="02020603050405020304" pitchFamily="18" charset="0"/>
              </a:rPr>
              <a:t>Colonization </a:t>
            </a:r>
          </a:p>
          <a:p>
            <a:pPr lvl="1">
              <a:lnSpc>
                <a:spcPct val="100000"/>
              </a:lnSpc>
            </a:pPr>
            <a:r>
              <a:rPr lang="en-US" i="1" dirty="0">
                <a:latin typeface="Times New Roman" panose="02020603050405020304" pitchFamily="18" charset="0"/>
              </a:rPr>
              <a:t>Subclinical</a:t>
            </a:r>
          </a:p>
          <a:p>
            <a:pPr lvl="1">
              <a:lnSpc>
                <a:spcPct val="100000"/>
              </a:lnSpc>
            </a:pPr>
            <a:r>
              <a:rPr lang="pt-BR" i="1" dirty="0">
                <a:latin typeface="Times New Roman" panose="02020603050405020304" pitchFamily="18" charset="0"/>
              </a:rPr>
              <a:t>Latent infection </a:t>
            </a:r>
          </a:p>
          <a:p>
            <a:pPr lvl="1">
              <a:lnSpc>
                <a:spcPct val="100000"/>
              </a:lnSpc>
            </a:pPr>
            <a:r>
              <a:rPr lang="en-US" i="1" dirty="0">
                <a:latin typeface="Times New Roman" panose="02020603050405020304" pitchFamily="18" charset="0"/>
              </a:rPr>
              <a:t>Clinical infection</a:t>
            </a:r>
          </a:p>
          <a:p>
            <a:pPr>
              <a:lnSpc>
                <a:spcPct val="100000"/>
              </a:lnSpc>
            </a:pPr>
            <a:r>
              <a:rPr lang="en-US" dirty="0">
                <a:latin typeface="Times New Roman" panose="02020603050405020304" pitchFamily="18" charset="0"/>
              </a:rPr>
              <a:t>Contamination - </a:t>
            </a:r>
            <a:r>
              <a:rPr lang="en-US" sz="2600" dirty="0">
                <a:latin typeface="Times New Roman" panose="02020603050405020304" pitchFamily="18" charset="0"/>
              </a:rPr>
              <a:t>The presence of an infectious agent on a body surface also on or in clothes, beddings, toys, surgical instruments or dressings, or other inanimate articles or substances including water, milk and food. </a:t>
            </a:r>
          </a:p>
          <a:p>
            <a:pPr>
              <a:lnSpc>
                <a:spcPct val="100000"/>
              </a:lnSpc>
            </a:pPr>
            <a:r>
              <a:rPr lang="en-US" dirty="0">
                <a:latin typeface="Times New Roman" panose="02020603050405020304" pitchFamily="18" charset="0"/>
              </a:rPr>
              <a:t>Infestation - </a:t>
            </a:r>
            <a:r>
              <a:rPr lang="en-US" sz="2600" dirty="0">
                <a:latin typeface="Times New Roman" panose="02020603050405020304" pitchFamily="18" charset="0"/>
              </a:rPr>
              <a:t>For persons or animals the lodgment, development and reproduction of arthropods on the surface of the body or in the clothing</a:t>
            </a:r>
          </a:p>
        </p:txBody>
      </p:sp>
    </p:spTree>
    <p:extLst>
      <p:ext uri="{BB962C8B-B14F-4D97-AF65-F5344CB8AC3E}">
        <p14:creationId xmlns:p14="http://schemas.microsoft.com/office/powerpoint/2010/main" val="1499788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3DDE7-8DAC-2C4F-1E9D-7DB3D9F853E0}"/>
              </a:ext>
            </a:extLst>
          </p:cNvPr>
          <p:cNvSpPr>
            <a:spLocks noGrp="1"/>
          </p:cNvSpPr>
          <p:nvPr>
            <p:ph idx="1"/>
          </p:nvPr>
        </p:nvSpPr>
        <p:spPr>
          <a:xfrm>
            <a:off x="838200" y="304800"/>
            <a:ext cx="10515600" cy="5872163"/>
          </a:xfrm>
        </p:spPr>
        <p:txBody>
          <a:bodyPr>
            <a:normAutofit lnSpcReduction="10000"/>
          </a:bodyPr>
          <a:lstStyle/>
          <a:p>
            <a:pPr algn="l"/>
            <a:r>
              <a:rPr lang="en-US" dirty="0"/>
              <a:t>Host</a:t>
            </a:r>
            <a:r>
              <a:rPr lang="en-US" sz="3600" dirty="0"/>
              <a:t> - </a:t>
            </a:r>
            <a:r>
              <a:rPr lang="en-US" sz="2400" b="0" i="0" u="none" strike="noStrike" baseline="0" dirty="0">
                <a:latin typeface="Times New Roman" panose="02020603050405020304" pitchFamily="18" charset="0"/>
              </a:rPr>
              <a:t>A person or other living animal, including birds and arthropods, that affords subsistence or </a:t>
            </a:r>
            <a:r>
              <a:rPr lang="en-US" sz="2400" b="0" i="0" u="none" strike="noStrike" baseline="0" dirty="0" err="1">
                <a:latin typeface="Times New Roman" panose="02020603050405020304" pitchFamily="18" charset="0"/>
              </a:rPr>
              <a:t>lodgement</a:t>
            </a:r>
            <a:r>
              <a:rPr lang="en-US" sz="2400" b="0" i="0" u="none" strike="noStrike" baseline="0" dirty="0">
                <a:latin typeface="Times New Roman" panose="02020603050405020304" pitchFamily="18" charset="0"/>
              </a:rPr>
              <a:t> to an infectious agent under natural (as opposed to experimental) conditions.</a:t>
            </a:r>
          </a:p>
          <a:p>
            <a:pPr lvl="1"/>
            <a:r>
              <a:rPr lang="en-US" sz="1800" b="0" i="1" u="none" strike="noStrike" baseline="0" dirty="0">
                <a:latin typeface="Times New Roman" panose="02020603050405020304" pitchFamily="18" charset="0"/>
              </a:rPr>
              <a:t>Obligate host</a:t>
            </a:r>
          </a:p>
          <a:p>
            <a:pPr lvl="1"/>
            <a:r>
              <a:rPr lang="en-US" sz="1800" b="0" i="1" u="none" strike="noStrike" baseline="0" dirty="0">
                <a:latin typeface="Times New Roman" panose="02020603050405020304" pitchFamily="18" charset="0"/>
              </a:rPr>
              <a:t>Definitive </a:t>
            </a:r>
            <a:r>
              <a:rPr lang="en-US" sz="1800" b="0" i="0" u="none" strike="noStrike" baseline="0" dirty="0">
                <a:latin typeface="Times New Roman" panose="02020603050405020304" pitchFamily="18" charset="0"/>
              </a:rPr>
              <a:t>hosts</a:t>
            </a:r>
          </a:p>
          <a:p>
            <a:pPr lvl="1"/>
            <a:r>
              <a:rPr lang="en-US" sz="1800" b="0" i="1" u="none" strike="noStrike" baseline="0" dirty="0">
                <a:latin typeface="Times New Roman" panose="02020603050405020304" pitchFamily="18" charset="0"/>
              </a:rPr>
              <a:t>Intermediate </a:t>
            </a:r>
            <a:r>
              <a:rPr lang="en-US" sz="1800" b="0" i="0" u="none" strike="noStrike" baseline="0" dirty="0">
                <a:latin typeface="Times New Roman" panose="02020603050405020304" pitchFamily="18" charset="0"/>
              </a:rPr>
              <a:t>hosts</a:t>
            </a:r>
          </a:p>
          <a:p>
            <a:pPr lvl="1"/>
            <a:r>
              <a:rPr lang="en-US" sz="1800" b="0" i="1" u="none" strike="noStrike" baseline="0" dirty="0">
                <a:latin typeface="Times New Roman" panose="02020603050405020304" pitchFamily="18" charset="0"/>
              </a:rPr>
              <a:t>Transport </a:t>
            </a:r>
            <a:r>
              <a:rPr lang="en-US" sz="1800" b="0" i="0" u="none" strike="noStrike" baseline="0" dirty="0">
                <a:latin typeface="Times New Roman" panose="02020603050405020304" pitchFamily="18" charset="0"/>
              </a:rPr>
              <a:t>host</a:t>
            </a:r>
          </a:p>
          <a:p>
            <a:pPr algn="l"/>
            <a:r>
              <a:rPr lang="en-US" dirty="0"/>
              <a:t>Infectious disease </a:t>
            </a:r>
            <a:r>
              <a:rPr lang="en-US" sz="3600" dirty="0"/>
              <a:t>- </a:t>
            </a:r>
            <a:r>
              <a:rPr lang="en-US" sz="2400" b="0" i="1" u="none" strike="noStrike" baseline="0" dirty="0">
                <a:latin typeface="Times New Roman" panose="02020603050405020304" pitchFamily="18" charset="0"/>
              </a:rPr>
              <a:t>A </a:t>
            </a:r>
            <a:r>
              <a:rPr lang="en-US" sz="2400" b="0" i="0" u="none" strike="noStrike" baseline="0" dirty="0">
                <a:latin typeface="Times New Roman" panose="02020603050405020304" pitchFamily="18" charset="0"/>
              </a:rPr>
              <a:t>disease due to an infectious agent. While some infectious diseases are contagious, others are noncontagious. All infectious diseases and infestations are communicable diseases</a:t>
            </a:r>
            <a:endParaRPr lang="en-US" sz="3600" dirty="0"/>
          </a:p>
          <a:p>
            <a:pPr algn="l"/>
            <a:r>
              <a:rPr lang="en-US" dirty="0"/>
              <a:t>Contagious disease</a:t>
            </a:r>
          </a:p>
          <a:p>
            <a:pPr algn="l"/>
            <a:r>
              <a:rPr lang="en-US" dirty="0"/>
              <a:t>Communicable disease </a:t>
            </a:r>
            <a:r>
              <a:rPr lang="en-US" sz="3600" dirty="0"/>
              <a:t>- </a:t>
            </a:r>
            <a:r>
              <a:rPr lang="en-US" sz="2400" b="0" i="0" u="none" strike="noStrike" baseline="0" dirty="0">
                <a:latin typeface="Times New Roman" panose="02020603050405020304" pitchFamily="18" charset="0"/>
              </a:rPr>
              <a:t>An illness due to a specific infectious agent or its toxic products that arises through transmission of that agent or its products from an infected person, animal, or reservoir to a susceptible host, either directly or indirectly through an intermediate plant or animal host, vector, or the inanimate environment</a:t>
            </a:r>
            <a:endParaRPr lang="en-US" sz="3600" dirty="0"/>
          </a:p>
        </p:txBody>
      </p:sp>
    </p:spTree>
    <p:extLst>
      <p:ext uri="{BB962C8B-B14F-4D97-AF65-F5344CB8AC3E}">
        <p14:creationId xmlns:p14="http://schemas.microsoft.com/office/powerpoint/2010/main" val="83300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8F7913-DFCF-4CA1-FCD1-04ED88A5C74E}"/>
              </a:ext>
            </a:extLst>
          </p:cNvPr>
          <p:cNvSpPr>
            <a:spLocks noGrp="1"/>
          </p:cNvSpPr>
          <p:nvPr>
            <p:ph idx="1"/>
          </p:nvPr>
        </p:nvSpPr>
        <p:spPr>
          <a:xfrm>
            <a:off x="838200" y="246743"/>
            <a:ext cx="10515600" cy="5930220"/>
          </a:xfrm>
        </p:spPr>
        <p:txBody>
          <a:bodyPr>
            <a:normAutofit fontScale="92500" lnSpcReduction="10000"/>
          </a:bodyPr>
          <a:lstStyle/>
          <a:p>
            <a:pPr algn="l"/>
            <a:r>
              <a:rPr lang="en-US" sz="3200" b="0" i="1" u="none" strike="noStrike" baseline="0" dirty="0">
                <a:latin typeface="Times New Roman" panose="02020603050405020304" pitchFamily="18" charset="0"/>
              </a:rPr>
              <a:t>EPIDEMIC - [Epi </a:t>
            </a:r>
            <a:r>
              <a:rPr lang="en-US" sz="3200" b="0" i="0" u="none" strike="noStrike" baseline="0" dirty="0">
                <a:latin typeface="Times New Roman" panose="02020603050405020304" pitchFamily="18" charset="0"/>
              </a:rPr>
              <a:t>(upon), </a:t>
            </a:r>
            <a:r>
              <a:rPr lang="en-US" sz="3200" b="0" i="1" u="none" strike="noStrike" baseline="0" dirty="0">
                <a:latin typeface="Times New Roman" panose="02020603050405020304" pitchFamily="18" charset="0"/>
              </a:rPr>
              <a:t>demos </a:t>
            </a:r>
            <a:r>
              <a:rPr lang="en-US" sz="3200" b="0" i="0" u="none" strike="noStrike" baseline="0" dirty="0">
                <a:latin typeface="Times New Roman" panose="02020603050405020304" pitchFamily="18" charset="0"/>
              </a:rPr>
              <a:t>(people)]. The occurrence in a community or region of cases of an illness, specific health related </a:t>
            </a:r>
            <a:r>
              <a:rPr lang="en-US" sz="3200" b="0" i="0" u="none" strike="noStrike" baseline="0" dirty="0" err="1">
                <a:latin typeface="Times New Roman" panose="02020603050405020304" pitchFamily="18" charset="0"/>
              </a:rPr>
              <a:t>behaviour</a:t>
            </a:r>
            <a:r>
              <a:rPr lang="en-US" sz="3200" b="0" i="0" u="none" strike="noStrike" baseline="0" dirty="0">
                <a:latin typeface="Times New Roman" panose="02020603050405020304" pitchFamily="18" charset="0"/>
              </a:rPr>
              <a:t>, or other health-related events clearly in excess of normal expectancy. </a:t>
            </a:r>
          </a:p>
          <a:p>
            <a:pPr lvl="1"/>
            <a:r>
              <a:rPr lang="en-US" b="0" i="0" u="none" strike="noStrike" baseline="0" dirty="0" err="1">
                <a:latin typeface="Times New Roman" panose="02020603050405020304" pitchFamily="18" charset="0"/>
              </a:rPr>
              <a:t>Epidemicity</a:t>
            </a:r>
            <a:r>
              <a:rPr lang="en-US" b="0" i="0" u="none" strike="noStrike" baseline="0" dirty="0">
                <a:latin typeface="Times New Roman" panose="02020603050405020304" pitchFamily="18" charset="0"/>
              </a:rPr>
              <a:t> is thus relative to usual frequency of the disease in the same area, among the specified population, at the same season of the year.</a:t>
            </a:r>
          </a:p>
          <a:p>
            <a:pPr lvl="1"/>
            <a:endParaRPr lang="en-US" dirty="0">
              <a:latin typeface="Times New Roman" panose="02020603050405020304" pitchFamily="18" charset="0"/>
            </a:endParaRPr>
          </a:p>
          <a:p>
            <a:pPr lvl="1"/>
            <a:endParaRPr lang="en-US" sz="3200" dirty="0">
              <a:latin typeface="Times New Roman" panose="02020603050405020304" pitchFamily="18" charset="0"/>
            </a:endParaRPr>
          </a:p>
          <a:p>
            <a:pPr algn="l"/>
            <a:r>
              <a:rPr lang="en-US" sz="3200" dirty="0">
                <a:latin typeface="Times New Roman" panose="02020603050405020304" pitchFamily="18" charset="0"/>
              </a:rPr>
              <a:t>ENDEMIC - </a:t>
            </a:r>
            <a:r>
              <a:rPr lang="en-US" sz="3200" b="0" i="0" u="none" strike="noStrike" baseline="0" dirty="0">
                <a:latin typeface="Times New Roman" panose="02020603050405020304" pitchFamily="18" charset="0"/>
              </a:rPr>
              <a:t>(En = in; demos=people). It refers to the constant presence of a disease or infectious agent within a given geographic area or population group, without importation from outside; may also refer to the “usual” or expected frequency of the disease within such area or population group.</a:t>
            </a:r>
          </a:p>
          <a:p>
            <a:pPr lvl="1"/>
            <a:r>
              <a:rPr lang="en-US" dirty="0">
                <a:latin typeface="Times New Roman" panose="02020603050405020304" pitchFamily="18" charset="0"/>
              </a:rPr>
              <a:t>Hyper-endemic</a:t>
            </a:r>
          </a:p>
          <a:p>
            <a:pPr lvl="1"/>
            <a:r>
              <a:rPr lang="en-US" dirty="0" err="1">
                <a:latin typeface="Times New Roman" panose="02020603050405020304" pitchFamily="18" charset="0"/>
              </a:rPr>
              <a:t>Holo</a:t>
            </a:r>
            <a:r>
              <a:rPr lang="en-US" dirty="0">
                <a:latin typeface="Times New Roman" panose="02020603050405020304" pitchFamily="18" charset="0"/>
              </a:rPr>
              <a:t> – endemic</a:t>
            </a:r>
          </a:p>
        </p:txBody>
      </p:sp>
    </p:spTree>
    <p:extLst>
      <p:ext uri="{BB962C8B-B14F-4D97-AF65-F5344CB8AC3E}">
        <p14:creationId xmlns:p14="http://schemas.microsoft.com/office/powerpoint/2010/main" val="2515300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C7C35-AC75-220F-1E09-549411C90537}"/>
              </a:ext>
            </a:extLst>
          </p:cNvPr>
          <p:cNvSpPr>
            <a:spLocks noGrp="1"/>
          </p:cNvSpPr>
          <p:nvPr>
            <p:ph idx="1"/>
          </p:nvPr>
        </p:nvSpPr>
        <p:spPr>
          <a:xfrm>
            <a:off x="838200" y="290286"/>
            <a:ext cx="10515600" cy="5886677"/>
          </a:xfrm>
        </p:spPr>
        <p:txBody>
          <a:bodyPr>
            <a:normAutofit/>
          </a:bodyPr>
          <a:lstStyle/>
          <a:p>
            <a:pPr algn="l"/>
            <a:r>
              <a:rPr lang="en-US" sz="3200" dirty="0">
                <a:latin typeface="Times New Roman" panose="02020603050405020304" pitchFamily="18" charset="0"/>
              </a:rPr>
              <a:t>SPORADIC – scattered; </a:t>
            </a:r>
            <a:r>
              <a:rPr lang="en-US" sz="3200" b="0" i="0" u="none" strike="noStrike" baseline="0" dirty="0">
                <a:latin typeface="Times New Roman" panose="02020603050405020304" pitchFamily="18" charset="0"/>
              </a:rPr>
              <a:t>The cases occur irregularly, haphazardly from time to time, and generally infrequently</a:t>
            </a:r>
          </a:p>
          <a:p>
            <a:pPr algn="l"/>
            <a:endParaRPr lang="en-US" sz="3200" b="0" i="0" u="none" strike="noStrike" baseline="0" dirty="0">
              <a:latin typeface="Times New Roman" panose="02020603050405020304" pitchFamily="18" charset="0"/>
            </a:endParaRPr>
          </a:p>
          <a:p>
            <a:pPr algn="l"/>
            <a:r>
              <a:rPr lang="en-US" sz="3200" b="0" i="1" u="none" strike="noStrike" baseline="0" dirty="0">
                <a:latin typeface="Times New Roman" panose="02020603050405020304" pitchFamily="18" charset="0"/>
              </a:rPr>
              <a:t>PANDEMIC -  </a:t>
            </a:r>
            <a:r>
              <a:rPr lang="en-US" sz="3200" b="0" i="0" u="none" strike="noStrike" baseline="0" dirty="0">
                <a:latin typeface="Times New Roman" panose="02020603050405020304" pitchFamily="18" charset="0"/>
              </a:rPr>
              <a:t>An epidemic occurring over a very wide area, crossing international boundaries, and usually affecting many people. Only some pandemics cause severe disease in some individuals or at a population level.</a:t>
            </a:r>
          </a:p>
          <a:p>
            <a:pPr lvl="1"/>
            <a:r>
              <a:rPr lang="en-US" b="0" i="0" u="none" strike="noStrike" baseline="0" dirty="0">
                <a:latin typeface="Times New Roman" panose="02020603050405020304" pitchFamily="18" charset="0"/>
              </a:rPr>
              <a:t>Characteristics of an infectious agent influencing the causation of a pandemic include : the agent must be able to infect humans, to cause disease in humans and to spread easily from human to human.</a:t>
            </a:r>
          </a:p>
          <a:p>
            <a:pPr lvl="1"/>
            <a:endParaRPr lang="en-US" dirty="0">
              <a:latin typeface="Times New Roman" panose="02020603050405020304" pitchFamily="18" charset="0"/>
            </a:endParaRPr>
          </a:p>
          <a:p>
            <a:pPr algn="l"/>
            <a:r>
              <a:rPr lang="en-US" dirty="0">
                <a:latin typeface="Times New Roman" panose="02020603050405020304" pitchFamily="18" charset="0"/>
              </a:rPr>
              <a:t>EXOTIC - </a:t>
            </a:r>
            <a:r>
              <a:rPr lang="en-US" sz="2400" b="0" i="0" u="none" strike="noStrike" baseline="0" dirty="0">
                <a:latin typeface="Times New Roman" panose="02020603050405020304" pitchFamily="18" charset="0"/>
              </a:rPr>
              <a:t>Diseases which are imported into a country in which they do not otherwise occur.</a:t>
            </a:r>
          </a:p>
          <a:p>
            <a:endParaRPr lang="en-US" sz="3600" dirty="0"/>
          </a:p>
          <a:p>
            <a:endParaRPr lang="en-US" sz="3600" dirty="0"/>
          </a:p>
        </p:txBody>
      </p:sp>
    </p:spTree>
    <p:extLst>
      <p:ext uri="{BB962C8B-B14F-4D97-AF65-F5344CB8AC3E}">
        <p14:creationId xmlns:p14="http://schemas.microsoft.com/office/powerpoint/2010/main" val="1913124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3D1DF-5B22-8934-770F-F683710679CA}"/>
              </a:ext>
            </a:extLst>
          </p:cNvPr>
          <p:cNvSpPr>
            <a:spLocks noGrp="1"/>
          </p:cNvSpPr>
          <p:nvPr>
            <p:ph idx="1"/>
          </p:nvPr>
        </p:nvSpPr>
        <p:spPr>
          <a:xfrm>
            <a:off x="838200" y="333829"/>
            <a:ext cx="10515600" cy="5843134"/>
          </a:xfrm>
        </p:spPr>
        <p:txBody>
          <a:bodyPr>
            <a:normAutofit/>
          </a:bodyPr>
          <a:lstStyle/>
          <a:p>
            <a:pPr algn="l"/>
            <a:r>
              <a:rPr lang="en-US" dirty="0"/>
              <a:t>ZOONOSES - </a:t>
            </a:r>
            <a:r>
              <a:rPr lang="en-US" sz="1800" b="0" i="0" u="none" strike="noStrike" baseline="0" dirty="0">
                <a:solidFill>
                  <a:srgbClr val="000000"/>
                </a:solidFill>
                <a:latin typeface="Times New Roman" panose="02020603050405020304" pitchFamily="18" charset="0"/>
              </a:rPr>
              <a:t>An infection or infectious disease transmissible under natural conditions from vertebrate animals to man. May be enzootic or epizootic </a:t>
            </a:r>
          </a:p>
          <a:p>
            <a:pPr algn="l"/>
            <a:r>
              <a:rPr lang="en-US" sz="1800" b="0" i="0" u="none" strike="noStrike" baseline="0" dirty="0">
                <a:solidFill>
                  <a:srgbClr val="000000"/>
                </a:solidFill>
                <a:latin typeface="Times New Roman" panose="02020603050405020304" pitchFamily="18" charset="0"/>
              </a:rPr>
              <a:t>(a) </a:t>
            </a:r>
            <a:r>
              <a:rPr lang="en-US" sz="1800" b="0" i="1" u="none" strike="noStrike" baseline="0" dirty="0" err="1">
                <a:solidFill>
                  <a:srgbClr val="000000"/>
                </a:solidFill>
                <a:latin typeface="Times New Roman" panose="02020603050405020304" pitchFamily="18" charset="0"/>
              </a:rPr>
              <a:t>anthropozoonoses</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 infections transmitted to man from vertebrate animals, e.g., rabies, plague, hydatid disease, anthrax and trichinosis; </a:t>
            </a:r>
          </a:p>
          <a:p>
            <a:pPr algn="l"/>
            <a:r>
              <a:rPr lang="en-US" sz="1800" b="0" i="0" u="none" strike="noStrike" baseline="0" dirty="0">
                <a:solidFill>
                  <a:srgbClr val="000000"/>
                </a:solidFill>
                <a:latin typeface="Times New Roman" panose="02020603050405020304" pitchFamily="18" charset="0"/>
              </a:rPr>
              <a:t>(b) </a:t>
            </a:r>
            <a:r>
              <a:rPr lang="en-US" sz="1800" b="0" i="1" u="none" strike="noStrike" baseline="0" dirty="0" err="1">
                <a:solidFill>
                  <a:srgbClr val="000000"/>
                </a:solidFill>
                <a:latin typeface="Times New Roman" panose="02020603050405020304" pitchFamily="18" charset="0"/>
              </a:rPr>
              <a:t>zooanthroponoses</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 that is, infections transmitted from man to vertebrate animals, e.g., human tuberculosis in cattle</a:t>
            </a:r>
          </a:p>
          <a:p>
            <a:pPr algn="l"/>
            <a:r>
              <a:rPr lang="en-US" sz="1800" b="0" i="0" u="none" strike="noStrike" baseline="0" dirty="0">
                <a:solidFill>
                  <a:srgbClr val="000000"/>
                </a:solidFill>
                <a:latin typeface="Times New Roman" panose="02020603050405020304" pitchFamily="18" charset="0"/>
              </a:rPr>
              <a:t>(c) </a:t>
            </a:r>
            <a:r>
              <a:rPr lang="en-US" sz="1800" b="0" i="1" u="none" strike="noStrike" baseline="0" dirty="0" err="1">
                <a:solidFill>
                  <a:srgbClr val="000000"/>
                </a:solidFill>
                <a:latin typeface="Times New Roman" panose="02020603050405020304" pitchFamily="18" charset="0"/>
              </a:rPr>
              <a:t>amphixenoses</a:t>
            </a:r>
            <a:r>
              <a:rPr lang="en-US" sz="1800" b="0" i="1" u="none" strike="noStrike" baseline="0" dirty="0">
                <a:solidFill>
                  <a:srgbClr val="000000"/>
                </a:solidFill>
                <a:latin typeface="Times New Roman" panose="02020603050405020304" pitchFamily="18" charset="0"/>
              </a:rPr>
              <a:t> - </a:t>
            </a:r>
            <a:r>
              <a:rPr lang="en-US" sz="1800" b="0" i="0" u="none" strike="noStrike" baseline="0" dirty="0">
                <a:solidFill>
                  <a:srgbClr val="000000"/>
                </a:solidFill>
                <a:latin typeface="Times New Roman" panose="02020603050405020304" pitchFamily="18" charset="0"/>
              </a:rPr>
              <a:t>that is infections maintained in both man and lower vertebrate animals that may be transmitted in either direction, e.g., </a:t>
            </a:r>
            <a:r>
              <a:rPr lang="en-US" sz="1800" b="0" i="1" u="none" strike="noStrike" baseline="0" dirty="0" err="1">
                <a:solidFill>
                  <a:srgbClr val="000000"/>
                </a:solidFill>
                <a:latin typeface="Times New Roman" panose="02020603050405020304" pitchFamily="18" charset="0"/>
              </a:rPr>
              <a:t>T.cruzi</a:t>
            </a:r>
            <a:r>
              <a:rPr lang="en-US" sz="1800" b="0" i="1"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and </a:t>
            </a:r>
            <a:r>
              <a:rPr lang="en-US" sz="1800" b="0" i="1" u="none" strike="noStrike" baseline="0" dirty="0" err="1">
                <a:solidFill>
                  <a:srgbClr val="000000"/>
                </a:solidFill>
                <a:latin typeface="Times New Roman" panose="02020603050405020304" pitchFamily="18" charset="0"/>
              </a:rPr>
              <a:t>S.japonicum</a:t>
            </a:r>
            <a:r>
              <a:rPr lang="en-US" sz="1800" b="0" i="1" u="none" strike="noStrike" baseline="0" dirty="0">
                <a:solidFill>
                  <a:srgbClr val="000000"/>
                </a:solidFill>
                <a:latin typeface="Times New Roman" panose="02020603050405020304" pitchFamily="18" charset="0"/>
              </a:rPr>
              <a:t> </a:t>
            </a:r>
          </a:p>
          <a:p>
            <a:pPr algn="l"/>
            <a:endParaRPr lang="en-US" sz="1800" i="1" dirty="0">
              <a:solidFill>
                <a:srgbClr val="000000"/>
              </a:solidFill>
              <a:latin typeface="Times New Roman" panose="02020603050405020304" pitchFamily="18" charset="0"/>
            </a:endParaRPr>
          </a:p>
          <a:p>
            <a:pPr algn="l"/>
            <a:r>
              <a:rPr lang="en-US" sz="1800" i="1" dirty="0">
                <a:solidFill>
                  <a:srgbClr val="000000"/>
                </a:solidFill>
                <a:latin typeface="Times New Roman" panose="02020603050405020304" pitchFamily="18" charset="0"/>
              </a:rPr>
              <a:t>NOSOCOMIAL INFECTION </a:t>
            </a:r>
          </a:p>
          <a:p>
            <a:pPr algn="l"/>
            <a:r>
              <a:rPr lang="en-US" sz="1800" i="1" dirty="0">
                <a:solidFill>
                  <a:srgbClr val="000000"/>
                </a:solidFill>
                <a:latin typeface="Times New Roman" panose="02020603050405020304" pitchFamily="18" charset="0"/>
              </a:rPr>
              <a:t>OPPORTUNISTIC INFECTION</a:t>
            </a:r>
          </a:p>
          <a:p>
            <a:pPr algn="l"/>
            <a:r>
              <a:rPr lang="en-US" sz="1800" i="1" dirty="0">
                <a:solidFill>
                  <a:srgbClr val="000000"/>
                </a:solidFill>
                <a:latin typeface="Times New Roman" panose="02020603050405020304" pitchFamily="18" charset="0"/>
              </a:rPr>
              <a:t>IATROGENIC INFECTION</a:t>
            </a:r>
            <a:endParaRPr lang="en-US" dirty="0"/>
          </a:p>
        </p:txBody>
      </p:sp>
    </p:spTree>
    <p:extLst>
      <p:ext uri="{BB962C8B-B14F-4D97-AF65-F5344CB8AC3E}">
        <p14:creationId xmlns:p14="http://schemas.microsoft.com/office/powerpoint/2010/main" val="3271432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1B78A-E570-74D1-6CB2-2E74A76427CA}"/>
              </a:ext>
            </a:extLst>
          </p:cNvPr>
          <p:cNvSpPr>
            <a:spLocks noGrp="1"/>
          </p:cNvSpPr>
          <p:nvPr>
            <p:ph type="title"/>
          </p:nvPr>
        </p:nvSpPr>
        <p:spPr/>
        <p:txBody>
          <a:bodyPr/>
          <a:lstStyle/>
          <a:p>
            <a:r>
              <a:rPr lang="en-US" dirty="0"/>
              <a:t>DYNAMICS</a:t>
            </a:r>
          </a:p>
        </p:txBody>
      </p:sp>
      <p:sp>
        <p:nvSpPr>
          <p:cNvPr id="3" name="Content Placeholder 2">
            <a:extLst>
              <a:ext uri="{FF2B5EF4-FFF2-40B4-BE49-F238E27FC236}">
                <a16:creationId xmlns:a16="http://schemas.microsoft.com/office/drawing/2014/main" id="{0038C858-2CB6-A1D7-082A-946DF0471B7F}"/>
              </a:ext>
            </a:extLst>
          </p:cNvPr>
          <p:cNvSpPr>
            <a:spLocks noGrp="1"/>
          </p:cNvSpPr>
          <p:nvPr>
            <p:ph idx="1"/>
          </p:nvPr>
        </p:nvSpPr>
        <p:spPr/>
        <p:txBody>
          <a:bodyPr/>
          <a:lstStyle/>
          <a:p>
            <a:r>
              <a:rPr lang="en-US" dirty="0"/>
              <a:t>SOURCES and RESERVOIR</a:t>
            </a:r>
          </a:p>
          <a:p>
            <a:pPr algn="l"/>
            <a:r>
              <a:rPr lang="en-US" sz="2400" b="0" i="0" u="none" strike="noStrike" baseline="0" dirty="0">
                <a:latin typeface="Times New Roman" panose="02020603050405020304" pitchFamily="18" charset="0"/>
              </a:rPr>
              <a:t>The </a:t>
            </a:r>
            <a:r>
              <a:rPr lang="en-US" sz="2400" b="1" i="0" u="none" strike="noStrike" baseline="0" dirty="0">
                <a:latin typeface="Times New Roman" panose="02020603050405020304" pitchFamily="18" charset="0"/>
              </a:rPr>
              <a:t>source </a:t>
            </a:r>
            <a:r>
              <a:rPr lang="en-US" sz="2400" b="0" i="0" u="none" strike="noStrike" baseline="0" dirty="0">
                <a:latin typeface="Times New Roman" panose="02020603050405020304" pitchFamily="18" charset="0"/>
              </a:rPr>
              <a:t>of infection is defined as “the person, animal, object or substance from which an infectious agent passes or is disseminated to the host”</a:t>
            </a:r>
            <a:r>
              <a:rPr lang="en-US" sz="2400" b="0" i="1" u="none" strike="noStrike" baseline="0" dirty="0">
                <a:latin typeface="Times New Roman" panose="02020603050405020304" pitchFamily="18" charset="0"/>
              </a:rPr>
              <a:t>. </a:t>
            </a:r>
          </a:p>
          <a:p>
            <a:pPr algn="l"/>
            <a:r>
              <a:rPr lang="en-US" sz="2400" b="0" i="0" u="none" strike="noStrike" baseline="0" dirty="0">
                <a:latin typeface="Times New Roman" panose="02020603050405020304" pitchFamily="18" charset="0"/>
              </a:rPr>
              <a:t>A </a:t>
            </a:r>
            <a:r>
              <a:rPr lang="en-US" sz="2400" b="1" i="0" u="none" strike="noStrike" baseline="0" dirty="0">
                <a:latin typeface="Times New Roman" panose="02020603050405020304" pitchFamily="18" charset="0"/>
              </a:rPr>
              <a:t>reservoir </a:t>
            </a:r>
            <a:r>
              <a:rPr lang="en-US" sz="2400" b="0" i="0" u="none" strike="noStrike" baseline="0" dirty="0">
                <a:latin typeface="Times New Roman" panose="02020603050405020304" pitchFamily="18" charset="0"/>
              </a:rPr>
              <a:t>is defined as any person, animal, arthropod, plant, soil or substance (or combination of these) in which an infectious agent lives and multiplies, on which it depends primarily for survival, and where it reproduces itself in such manner that it can be  transmitted to a susceptible host”</a:t>
            </a:r>
          </a:p>
          <a:p>
            <a:pPr algn="l"/>
            <a:r>
              <a:rPr lang="en-US" sz="2400" dirty="0">
                <a:latin typeface="Times New Roman" panose="02020603050405020304" pitchFamily="18" charset="0"/>
              </a:rPr>
              <a:t>Human reservoir – Cases, Carrier </a:t>
            </a:r>
          </a:p>
          <a:p>
            <a:pPr algn="l"/>
            <a:r>
              <a:rPr lang="en-US" sz="2400" dirty="0">
                <a:latin typeface="Times New Roman" panose="02020603050405020304" pitchFamily="18" charset="0"/>
              </a:rPr>
              <a:t>Animal Reservoir</a:t>
            </a:r>
          </a:p>
          <a:p>
            <a:pPr algn="l"/>
            <a:r>
              <a:rPr lang="en-US" sz="2400" dirty="0">
                <a:latin typeface="Times New Roman" panose="02020603050405020304" pitchFamily="18" charset="0"/>
              </a:rPr>
              <a:t>Non – living reservoir</a:t>
            </a:r>
            <a:endParaRPr lang="en-US" sz="3600" dirty="0"/>
          </a:p>
        </p:txBody>
      </p:sp>
    </p:spTree>
    <p:extLst>
      <p:ext uri="{BB962C8B-B14F-4D97-AF65-F5344CB8AC3E}">
        <p14:creationId xmlns:p14="http://schemas.microsoft.com/office/powerpoint/2010/main" val="678394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30F84B-0582-7C07-9191-48A69DDAC910}"/>
              </a:ext>
            </a:extLst>
          </p:cNvPr>
          <p:cNvSpPr>
            <a:spLocks noGrp="1"/>
          </p:cNvSpPr>
          <p:nvPr>
            <p:ph type="title"/>
          </p:nvPr>
        </p:nvSpPr>
        <p:spPr>
          <a:xfrm>
            <a:off x="635000" y="640823"/>
            <a:ext cx="3418659" cy="5583148"/>
          </a:xfrm>
        </p:spPr>
        <p:txBody>
          <a:bodyPr anchor="ctr">
            <a:normAutofit/>
          </a:bodyPr>
          <a:lstStyle/>
          <a:p>
            <a:r>
              <a:rPr lang="en-US" sz="5400"/>
              <a:t>Cases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65B3F82-F3FA-6F99-30B9-4235C7A654C8}"/>
              </a:ext>
            </a:extLst>
          </p:cNvPr>
          <p:cNvGraphicFramePr>
            <a:graphicFrameLocks noGrp="1"/>
          </p:cNvGraphicFramePr>
          <p:nvPr>
            <p:ph idx="1"/>
            <p:extLst>
              <p:ext uri="{D42A27DB-BD31-4B8C-83A1-F6EECF244321}">
                <p14:modId xmlns:p14="http://schemas.microsoft.com/office/powerpoint/2010/main" val="156200612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8459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type</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lstStyle/>
          <a:p>
            <a:pPr algn="l"/>
            <a:r>
              <a:rPr lang="en-US" sz="2600" dirty="0"/>
              <a:t>Incubatory</a:t>
            </a:r>
            <a:r>
              <a:rPr lang="en-US" dirty="0"/>
              <a:t> -  </a:t>
            </a:r>
            <a:r>
              <a:rPr lang="en-US" sz="2400" dirty="0">
                <a:latin typeface="Times New Roman" panose="02020603050405020304" pitchFamily="18" charset="0"/>
              </a:rPr>
              <a:t>T</a:t>
            </a:r>
            <a:r>
              <a:rPr lang="en-US" sz="2400" b="0" i="0" u="none" strike="noStrike" baseline="0" dirty="0">
                <a:latin typeface="Times New Roman" panose="02020603050405020304" pitchFamily="18" charset="0"/>
              </a:rPr>
              <a:t>hose who shed the infectious agent during the incubation period of disease</a:t>
            </a:r>
            <a:endParaRPr lang="en-US" sz="2400" dirty="0"/>
          </a:p>
          <a:p>
            <a:pPr algn="l"/>
            <a:r>
              <a:rPr lang="en-US" sz="2600" dirty="0"/>
              <a:t>Convalescent</a:t>
            </a:r>
            <a:r>
              <a:rPr lang="en-US" dirty="0"/>
              <a:t> - </a:t>
            </a:r>
            <a:r>
              <a:rPr lang="en-US" sz="2400" dirty="0">
                <a:latin typeface="Times New Roman" panose="02020603050405020304" pitchFamily="18" charset="0"/>
              </a:rPr>
              <a:t>Those who continue to shed the disease agent during the period of convalescence, e.g., typhoid fever, dysentery (bacillary and amoebic), cholera, diphtheria and whooping cough. In these diseases, clinical recovery does not coincide with bacteriological recovery. A convalescent carrier can pose a serious threat to the unprotected</a:t>
            </a:r>
          </a:p>
          <a:p>
            <a:pPr algn="l"/>
            <a:r>
              <a:rPr lang="en-US" sz="2600" dirty="0"/>
              <a:t>Healthy</a:t>
            </a:r>
            <a:r>
              <a:rPr lang="en-US" dirty="0"/>
              <a:t> - </a:t>
            </a:r>
            <a:r>
              <a:rPr lang="en-US" sz="2400" dirty="0">
                <a:latin typeface="Times New Roman" panose="02020603050405020304" pitchFamily="18" charset="0"/>
              </a:rPr>
              <a:t>Healthy carriers emerge from subclinical cases. They are victims of subclinical infection who have developed carrier state without suffering from overt disease, but are nevertheless shedding the disease agent, e.g., poliomyelitis, cholera, meningococcal meningitis, salmonellosis, and diphtheria</a:t>
            </a:r>
          </a:p>
          <a:p>
            <a:endParaRPr lang="en-US" dirty="0"/>
          </a:p>
        </p:txBody>
      </p:sp>
    </p:spTree>
    <p:extLst>
      <p:ext uri="{BB962C8B-B14F-4D97-AF65-F5344CB8AC3E}">
        <p14:creationId xmlns:p14="http://schemas.microsoft.com/office/powerpoint/2010/main" val="1146151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duration</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normAutofit/>
          </a:bodyPr>
          <a:lstStyle/>
          <a:p>
            <a:pPr algn="l"/>
            <a:r>
              <a:rPr lang="en-US" sz="2600" dirty="0"/>
              <a:t>Temporary</a:t>
            </a:r>
            <a:r>
              <a:rPr lang="en-US" dirty="0"/>
              <a:t> -  </a:t>
            </a:r>
            <a:r>
              <a:rPr lang="en-US" sz="2400" dirty="0">
                <a:latin typeface="Times New Roman" panose="02020603050405020304" pitchFamily="18" charset="0"/>
              </a:rPr>
              <a:t>Temporary carriers are those who shed the infectious agent for short periods of time. </a:t>
            </a:r>
          </a:p>
          <a:p>
            <a:pPr algn="l"/>
            <a:r>
              <a:rPr lang="en-US" sz="2600" dirty="0"/>
              <a:t>Chronic</a:t>
            </a:r>
            <a:r>
              <a:rPr lang="en-US" dirty="0"/>
              <a:t> - </a:t>
            </a:r>
            <a:r>
              <a:rPr lang="en-US" sz="2400" dirty="0">
                <a:latin typeface="Times New Roman" panose="02020603050405020304" pitchFamily="18" charset="0"/>
              </a:rPr>
              <a:t>A chronic carrier is one who excretes the infectious agent for indefinite periods. Chronic carriers are far more important sources of infection than cases. The longer the carrier state, the greater the risk to the community. </a:t>
            </a:r>
            <a:endParaRPr lang="en-US" dirty="0"/>
          </a:p>
        </p:txBody>
      </p:sp>
    </p:spTree>
    <p:extLst>
      <p:ext uri="{BB962C8B-B14F-4D97-AF65-F5344CB8AC3E}">
        <p14:creationId xmlns:p14="http://schemas.microsoft.com/office/powerpoint/2010/main" val="45267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F233C-05FC-4977-2C98-6D7E45D23505}"/>
              </a:ext>
            </a:extLst>
          </p:cNvPr>
          <p:cNvSpPr>
            <a:spLocks noGrp="1"/>
          </p:cNvSpPr>
          <p:nvPr>
            <p:ph type="title"/>
          </p:nvPr>
        </p:nvSpPr>
        <p:spPr/>
        <p:txBody>
          <a:bodyPr/>
          <a:lstStyle/>
          <a:p>
            <a:r>
              <a:rPr lang="en-US" dirty="0"/>
              <a:t>Carrier – By portal of exit</a:t>
            </a:r>
          </a:p>
        </p:txBody>
      </p:sp>
      <p:sp>
        <p:nvSpPr>
          <p:cNvPr id="3" name="Content Placeholder 2">
            <a:extLst>
              <a:ext uri="{FF2B5EF4-FFF2-40B4-BE49-F238E27FC236}">
                <a16:creationId xmlns:a16="http://schemas.microsoft.com/office/drawing/2014/main" id="{C8AC7122-8D6E-0DB9-AA86-627C643402FF}"/>
              </a:ext>
            </a:extLst>
          </p:cNvPr>
          <p:cNvSpPr>
            <a:spLocks noGrp="1"/>
          </p:cNvSpPr>
          <p:nvPr>
            <p:ph idx="1"/>
          </p:nvPr>
        </p:nvSpPr>
        <p:spPr/>
        <p:txBody>
          <a:bodyPr>
            <a:normAutofit/>
          </a:bodyPr>
          <a:lstStyle/>
          <a:p>
            <a:pPr algn="l"/>
            <a:r>
              <a:rPr lang="en-US" sz="2600" dirty="0"/>
              <a:t>Urinary</a:t>
            </a:r>
          </a:p>
          <a:p>
            <a:pPr algn="l"/>
            <a:r>
              <a:rPr lang="en-US" sz="2600" dirty="0"/>
              <a:t>Intestinal</a:t>
            </a:r>
          </a:p>
          <a:p>
            <a:pPr algn="l"/>
            <a:r>
              <a:rPr lang="en-US" sz="2600" dirty="0"/>
              <a:t>Respiratory</a:t>
            </a:r>
          </a:p>
          <a:p>
            <a:pPr algn="l"/>
            <a:r>
              <a:rPr lang="en-US" sz="2600" dirty="0"/>
              <a:t>Nasal</a:t>
            </a:r>
          </a:p>
          <a:p>
            <a:pPr algn="l"/>
            <a:r>
              <a:rPr lang="en-US" sz="2600" dirty="0"/>
              <a:t>Skin eruptions</a:t>
            </a:r>
          </a:p>
          <a:p>
            <a:pPr algn="l"/>
            <a:endParaRPr lang="en-US" dirty="0"/>
          </a:p>
        </p:txBody>
      </p:sp>
    </p:spTree>
    <p:extLst>
      <p:ext uri="{BB962C8B-B14F-4D97-AF65-F5344CB8AC3E}">
        <p14:creationId xmlns:p14="http://schemas.microsoft.com/office/powerpoint/2010/main" val="381291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B93EB3-7403-FCA8-CC72-BDDFE79A5B4F}"/>
              </a:ext>
            </a:extLst>
          </p:cNvPr>
          <p:cNvSpPr>
            <a:spLocks noGrp="1"/>
          </p:cNvSpPr>
          <p:nvPr>
            <p:ph type="title"/>
          </p:nvPr>
        </p:nvSpPr>
        <p:spPr>
          <a:xfrm>
            <a:off x="4725036" y="170603"/>
            <a:ext cx="6741249" cy="1034084"/>
          </a:xfrm>
        </p:spPr>
        <p:txBody>
          <a:bodyPr>
            <a:normAutofit/>
          </a:bodyPr>
          <a:lstStyle/>
          <a:p>
            <a:r>
              <a:rPr lang="en-US" sz="3600" dirty="0">
                <a:solidFill>
                  <a:schemeClr val="tx2"/>
                </a:solidFill>
              </a:rPr>
              <a:t>Modes of transmission</a:t>
            </a:r>
          </a:p>
        </p:txBody>
      </p:sp>
      <p:pic>
        <p:nvPicPr>
          <p:cNvPr id="7" name="Graphic 6" descr="Grasshopper">
            <a:extLst>
              <a:ext uri="{FF2B5EF4-FFF2-40B4-BE49-F238E27FC236}">
                <a16:creationId xmlns:a16="http://schemas.microsoft.com/office/drawing/2014/main" id="{F85E732C-FD5D-0FA4-DD03-44C2D547B6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53C1F91D-E1D7-73E2-70D1-ACD5AE183B81}"/>
              </a:ext>
            </a:extLst>
          </p:cNvPr>
          <p:cNvSpPr>
            <a:spLocks noGrp="1"/>
          </p:cNvSpPr>
          <p:nvPr>
            <p:ph idx="1"/>
          </p:nvPr>
        </p:nvSpPr>
        <p:spPr>
          <a:xfrm>
            <a:off x="5931240" y="1257684"/>
            <a:ext cx="5535045" cy="5225141"/>
          </a:xfrm>
        </p:spPr>
        <p:txBody>
          <a:bodyPr numCol="1" anchor="ctr">
            <a:normAutofit/>
          </a:bodyPr>
          <a:lstStyle/>
          <a:p>
            <a:r>
              <a:rPr lang="en-US" sz="2400" dirty="0">
                <a:solidFill>
                  <a:schemeClr val="tx2"/>
                </a:solidFill>
              </a:rPr>
              <a:t>Direct </a:t>
            </a:r>
          </a:p>
          <a:p>
            <a:pPr lvl="1"/>
            <a:r>
              <a:rPr lang="en-US" dirty="0">
                <a:solidFill>
                  <a:schemeClr val="tx2"/>
                </a:solidFill>
              </a:rPr>
              <a:t>Direct contact</a:t>
            </a:r>
          </a:p>
          <a:p>
            <a:pPr lvl="1"/>
            <a:r>
              <a:rPr lang="en-US" dirty="0">
                <a:solidFill>
                  <a:schemeClr val="tx2"/>
                </a:solidFill>
              </a:rPr>
              <a:t>Droplet (30 – 60cm)</a:t>
            </a:r>
          </a:p>
          <a:p>
            <a:pPr lvl="1"/>
            <a:r>
              <a:rPr lang="en-US" dirty="0">
                <a:solidFill>
                  <a:schemeClr val="tx2"/>
                </a:solidFill>
              </a:rPr>
              <a:t>Contact with soil</a:t>
            </a:r>
          </a:p>
          <a:p>
            <a:pPr lvl="1"/>
            <a:r>
              <a:rPr lang="en-US" dirty="0">
                <a:solidFill>
                  <a:schemeClr val="tx2"/>
                </a:solidFill>
              </a:rPr>
              <a:t>Inoculation with skin or mucosa</a:t>
            </a:r>
          </a:p>
          <a:p>
            <a:pPr lvl="1"/>
            <a:r>
              <a:rPr lang="en-US" dirty="0">
                <a:solidFill>
                  <a:schemeClr val="tx2"/>
                </a:solidFill>
              </a:rPr>
              <a:t>Transplacental</a:t>
            </a:r>
          </a:p>
          <a:p>
            <a:r>
              <a:rPr lang="en-US" sz="2400" dirty="0">
                <a:solidFill>
                  <a:schemeClr val="tx2"/>
                </a:solidFill>
              </a:rPr>
              <a:t>Indirect </a:t>
            </a:r>
          </a:p>
          <a:p>
            <a:pPr lvl="1"/>
            <a:r>
              <a:rPr lang="en-US" dirty="0">
                <a:solidFill>
                  <a:schemeClr val="tx2"/>
                </a:solidFill>
              </a:rPr>
              <a:t>Vehicle borne</a:t>
            </a:r>
          </a:p>
          <a:p>
            <a:pPr lvl="1"/>
            <a:r>
              <a:rPr lang="en-US" dirty="0">
                <a:solidFill>
                  <a:schemeClr val="tx2"/>
                </a:solidFill>
              </a:rPr>
              <a:t>Vector borne – mechanical / biological</a:t>
            </a:r>
          </a:p>
          <a:p>
            <a:pPr lvl="1"/>
            <a:r>
              <a:rPr lang="en-US" dirty="0">
                <a:solidFill>
                  <a:schemeClr val="tx2"/>
                </a:solidFill>
              </a:rPr>
              <a:t>Air borne – droplet nuclei / dust</a:t>
            </a:r>
          </a:p>
          <a:p>
            <a:pPr lvl="1"/>
            <a:r>
              <a:rPr lang="en-US" dirty="0">
                <a:solidFill>
                  <a:schemeClr val="tx2"/>
                </a:solidFill>
              </a:rPr>
              <a:t>Fomite borne</a:t>
            </a:r>
          </a:p>
          <a:p>
            <a:pPr lvl="1"/>
            <a:r>
              <a:rPr lang="en-US" dirty="0">
                <a:solidFill>
                  <a:schemeClr val="tx2"/>
                </a:solidFill>
              </a:rPr>
              <a:t>Unclean hands and fingers</a:t>
            </a:r>
          </a:p>
          <a:p>
            <a:endParaRPr lang="en-US" sz="24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5523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6BF6-BDAB-0DE2-792F-52A8CD539EE7}"/>
              </a:ext>
            </a:extLst>
          </p:cNvPr>
          <p:cNvSpPr>
            <a:spLocks noGrp="1"/>
          </p:cNvSpPr>
          <p:nvPr>
            <p:ph type="title"/>
          </p:nvPr>
        </p:nvSpPr>
        <p:spPr/>
        <p:txBody>
          <a:bodyPr/>
          <a:lstStyle/>
          <a:p>
            <a:r>
              <a:rPr lang="en-US" dirty="0"/>
              <a:t>Vector borne disease</a:t>
            </a:r>
          </a:p>
        </p:txBody>
      </p:sp>
      <p:sp>
        <p:nvSpPr>
          <p:cNvPr id="3" name="Content Placeholder 2">
            <a:extLst>
              <a:ext uri="{FF2B5EF4-FFF2-40B4-BE49-F238E27FC236}">
                <a16:creationId xmlns:a16="http://schemas.microsoft.com/office/drawing/2014/main" id="{A96C6B3B-6689-1319-B1D9-816354321402}"/>
              </a:ext>
            </a:extLst>
          </p:cNvPr>
          <p:cNvSpPr>
            <a:spLocks noGrp="1"/>
          </p:cNvSpPr>
          <p:nvPr>
            <p:ph idx="1"/>
          </p:nvPr>
        </p:nvSpPr>
        <p:spPr/>
        <p:txBody>
          <a:bodyPr numCol="2">
            <a:normAutofit/>
          </a:bodyPr>
          <a:lstStyle/>
          <a:p>
            <a:r>
              <a:rPr lang="en-US" dirty="0"/>
              <a:t>By vector – invertebrate or vertebrate</a:t>
            </a:r>
          </a:p>
          <a:p>
            <a:r>
              <a:rPr lang="en-US" dirty="0"/>
              <a:t>Transmission chain</a:t>
            </a:r>
          </a:p>
          <a:p>
            <a:pPr algn="l"/>
            <a:r>
              <a:rPr lang="en-US" sz="2000" b="0" i="0" u="none" strike="noStrike" baseline="0" dirty="0">
                <a:latin typeface="Times New Roman" panose="02020603050405020304" pitchFamily="18" charset="0"/>
              </a:rPr>
              <a:t>Man and a non-vertebrate host</a:t>
            </a:r>
          </a:p>
          <a:p>
            <a:pPr algn="l"/>
            <a:r>
              <a:rPr lang="en-US" sz="2000" b="0" i="0" u="none" strike="noStrike" baseline="0" dirty="0">
                <a:latin typeface="Times New Roman" panose="02020603050405020304" pitchFamily="18" charset="0"/>
              </a:rPr>
              <a:t>1) Man-arthropod-man (malaria)</a:t>
            </a:r>
          </a:p>
          <a:p>
            <a:pPr algn="l"/>
            <a:r>
              <a:rPr lang="en-US" sz="2000" b="0" i="0" u="none" strike="noStrike" baseline="0" dirty="0">
                <a:latin typeface="Times New Roman" panose="02020603050405020304" pitchFamily="18" charset="0"/>
              </a:rPr>
              <a:t>2) Man-snail-man (schistosomiasis).</a:t>
            </a:r>
          </a:p>
          <a:p>
            <a:pPr algn="l"/>
            <a:r>
              <a:rPr lang="en-US" sz="2000" b="0" i="0" u="none" strike="noStrike" baseline="0" dirty="0">
                <a:latin typeface="Times New Roman" panose="02020603050405020304" pitchFamily="18" charset="0"/>
              </a:rPr>
              <a:t>Man, another vertebrate host, and a non-vertebrate host</a:t>
            </a:r>
          </a:p>
          <a:p>
            <a:pPr algn="l"/>
            <a:r>
              <a:rPr lang="en-US" sz="2000" b="0" i="0" u="none" strike="noStrike" baseline="0" dirty="0">
                <a:latin typeface="Times New Roman" panose="02020603050405020304" pitchFamily="18" charset="0"/>
              </a:rPr>
              <a:t>1) Mammal-arthropod-man (plague)</a:t>
            </a:r>
          </a:p>
          <a:p>
            <a:pPr algn="l"/>
            <a:r>
              <a:rPr lang="en-US" sz="2000" b="0" i="0" u="none" strike="noStrike" baseline="0" dirty="0">
                <a:latin typeface="Times New Roman" panose="02020603050405020304" pitchFamily="18" charset="0"/>
              </a:rPr>
              <a:t>2) Bird-arthropod-man (encephalitis).</a:t>
            </a:r>
          </a:p>
          <a:p>
            <a:pPr algn="l"/>
            <a:r>
              <a:rPr lang="en-US" sz="2000" b="0" i="0" u="none" strike="noStrike" baseline="0" dirty="0">
                <a:latin typeface="Times New Roman" panose="02020603050405020304" pitchFamily="18" charset="0"/>
              </a:rPr>
              <a:t>Man and 2 intermediate hosts</a:t>
            </a:r>
          </a:p>
          <a:p>
            <a:pPr algn="l"/>
            <a:r>
              <a:rPr lang="en-US" sz="2000" b="0" i="0" u="none" strike="noStrike" baseline="0" dirty="0">
                <a:latin typeface="Times New Roman" panose="02020603050405020304" pitchFamily="18" charset="0"/>
              </a:rPr>
              <a:t>1) Man-cyclops-fish-man (fish tape worm)</a:t>
            </a:r>
          </a:p>
          <a:p>
            <a:pPr algn="l"/>
            <a:r>
              <a:rPr lang="en-US" sz="2000" b="0" i="0" u="none" strike="noStrike" baseline="0" dirty="0">
                <a:latin typeface="Times New Roman" panose="02020603050405020304" pitchFamily="18" charset="0"/>
              </a:rPr>
              <a:t>2) Man-snail-fish-man (Clonorchis sinensis)</a:t>
            </a:r>
          </a:p>
          <a:p>
            <a:pPr algn="l"/>
            <a:r>
              <a:rPr lang="en-US" sz="2000" b="0" i="0" u="none" strike="noStrike" baseline="0" dirty="0">
                <a:latin typeface="Times New Roman" panose="02020603050405020304" pitchFamily="18" charset="0"/>
              </a:rPr>
              <a:t>3) Man-snail-crab-man (Paragonimiasis).</a:t>
            </a:r>
          </a:p>
          <a:p>
            <a:pPr algn="l"/>
            <a:r>
              <a:rPr lang="en-US" dirty="0"/>
              <a:t>Method of transmission</a:t>
            </a:r>
          </a:p>
          <a:p>
            <a:pPr lvl="1"/>
            <a:r>
              <a:rPr lang="en-US" sz="2000" dirty="0">
                <a:latin typeface="Times New Roman" panose="02020603050405020304" pitchFamily="18" charset="0"/>
              </a:rPr>
              <a:t>Biting</a:t>
            </a:r>
          </a:p>
          <a:p>
            <a:pPr lvl="1"/>
            <a:r>
              <a:rPr lang="en-US" sz="2000" dirty="0">
                <a:latin typeface="Times New Roman" panose="02020603050405020304" pitchFamily="18" charset="0"/>
              </a:rPr>
              <a:t>Regurgitation</a:t>
            </a:r>
          </a:p>
          <a:p>
            <a:pPr lvl="1"/>
            <a:r>
              <a:rPr lang="en-US" sz="2000" dirty="0">
                <a:latin typeface="Times New Roman" panose="02020603050405020304" pitchFamily="18" charset="0"/>
              </a:rPr>
              <a:t>Scratching </a:t>
            </a:r>
          </a:p>
          <a:p>
            <a:pPr lvl="1"/>
            <a:r>
              <a:rPr lang="en-US" sz="2000" dirty="0">
                <a:latin typeface="Times New Roman" panose="02020603050405020304" pitchFamily="18" charset="0"/>
              </a:rPr>
              <a:t>Contamination with body fluid of vector</a:t>
            </a:r>
            <a:endParaRPr lang="en-US" sz="2000" dirty="0"/>
          </a:p>
        </p:txBody>
      </p:sp>
    </p:spTree>
    <p:extLst>
      <p:ext uri="{BB962C8B-B14F-4D97-AF65-F5344CB8AC3E}">
        <p14:creationId xmlns:p14="http://schemas.microsoft.com/office/powerpoint/2010/main" val="3016745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BB24-A0E0-E25D-D09C-53C4C779AA5C}"/>
              </a:ext>
            </a:extLst>
          </p:cNvPr>
          <p:cNvSpPr>
            <a:spLocks noGrp="1"/>
          </p:cNvSpPr>
          <p:nvPr>
            <p:ph type="title"/>
          </p:nvPr>
        </p:nvSpPr>
        <p:spPr/>
        <p:txBody>
          <a:bodyPr/>
          <a:lstStyle/>
          <a:p>
            <a:r>
              <a:rPr lang="en-US" dirty="0"/>
              <a:t>Susceptible host</a:t>
            </a:r>
          </a:p>
        </p:txBody>
      </p:sp>
      <p:sp>
        <p:nvSpPr>
          <p:cNvPr id="3" name="Content Placeholder 2">
            <a:extLst>
              <a:ext uri="{FF2B5EF4-FFF2-40B4-BE49-F238E27FC236}">
                <a16:creationId xmlns:a16="http://schemas.microsoft.com/office/drawing/2014/main" id="{95818654-0DB5-432B-6242-561094BF9FE9}"/>
              </a:ext>
            </a:extLst>
          </p:cNvPr>
          <p:cNvSpPr>
            <a:spLocks noGrp="1"/>
          </p:cNvSpPr>
          <p:nvPr>
            <p:ph idx="1"/>
          </p:nvPr>
        </p:nvSpPr>
        <p:spPr/>
        <p:txBody>
          <a:bodyPr/>
          <a:lstStyle/>
          <a:p>
            <a:r>
              <a:rPr lang="en-US" dirty="0"/>
              <a:t>Successful parasitism</a:t>
            </a:r>
          </a:p>
          <a:p>
            <a:pPr lvl="1"/>
            <a:r>
              <a:rPr lang="en-US" dirty="0"/>
              <a:t>Portal of entry</a:t>
            </a:r>
          </a:p>
          <a:p>
            <a:pPr lvl="1"/>
            <a:r>
              <a:rPr lang="en-US" dirty="0"/>
              <a:t>Site of election</a:t>
            </a:r>
          </a:p>
          <a:p>
            <a:pPr lvl="1"/>
            <a:r>
              <a:rPr lang="en-US" dirty="0"/>
              <a:t>Portal of exit</a:t>
            </a:r>
          </a:p>
          <a:p>
            <a:pPr lvl="1"/>
            <a:r>
              <a:rPr lang="en-US" dirty="0"/>
              <a:t>Survival in external environment</a:t>
            </a:r>
          </a:p>
        </p:txBody>
      </p:sp>
    </p:spTree>
    <p:extLst>
      <p:ext uri="{BB962C8B-B14F-4D97-AF65-F5344CB8AC3E}">
        <p14:creationId xmlns:p14="http://schemas.microsoft.com/office/powerpoint/2010/main" val="4081950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5B363-42C5-F6FF-D8F5-F243E9C686FF}"/>
              </a:ext>
            </a:extLst>
          </p:cNvPr>
          <p:cNvSpPr>
            <a:spLocks noGrp="1"/>
          </p:cNvSpPr>
          <p:nvPr>
            <p:ph type="title"/>
          </p:nvPr>
        </p:nvSpPr>
        <p:spPr/>
        <p:txBody>
          <a:bodyPr/>
          <a:lstStyle/>
          <a:p>
            <a:r>
              <a:rPr lang="en-US" dirty="0"/>
              <a:t>Incubation period</a:t>
            </a:r>
          </a:p>
        </p:txBody>
      </p:sp>
      <p:sp>
        <p:nvSpPr>
          <p:cNvPr id="3" name="Content Placeholder 2">
            <a:extLst>
              <a:ext uri="{FF2B5EF4-FFF2-40B4-BE49-F238E27FC236}">
                <a16:creationId xmlns:a16="http://schemas.microsoft.com/office/drawing/2014/main" id="{DCF45A68-FD16-33B5-185A-927610DC3EF8}"/>
              </a:ext>
            </a:extLst>
          </p:cNvPr>
          <p:cNvSpPr>
            <a:spLocks noGrp="1"/>
          </p:cNvSpPr>
          <p:nvPr>
            <p:ph idx="1"/>
          </p:nvPr>
        </p:nvSpPr>
        <p:spPr/>
        <p:txBody>
          <a:bodyPr>
            <a:normAutofit lnSpcReduction="10000"/>
          </a:bodyPr>
          <a:lstStyle/>
          <a:p>
            <a:pPr algn="l"/>
            <a:r>
              <a:rPr lang="en-US" b="0" i="0" u="none" strike="noStrike" baseline="0" dirty="0">
                <a:latin typeface="Times New Roman" panose="02020603050405020304" pitchFamily="18" charset="0"/>
              </a:rPr>
              <a:t>“The time interval between invasion by an infectious agent and appearance of the first sign or symptom of the disease in question”.</a:t>
            </a:r>
          </a:p>
          <a:p>
            <a:pPr algn="l"/>
            <a:r>
              <a:rPr lang="en-US" dirty="0">
                <a:latin typeface="Times New Roman" panose="02020603050405020304" pitchFamily="18" charset="0"/>
              </a:rPr>
              <a:t>Median incubation period - </a:t>
            </a:r>
            <a:r>
              <a:rPr lang="en-US" b="0" i="0" u="none" strike="noStrike" baseline="0" dirty="0">
                <a:latin typeface="Times New Roman" panose="02020603050405020304" pitchFamily="18" charset="0"/>
              </a:rPr>
              <a:t>time required for 50 per cent of the cases to occur following exposure</a:t>
            </a:r>
          </a:p>
          <a:p>
            <a:pPr algn="l"/>
            <a:r>
              <a:rPr lang="en-US" dirty="0">
                <a:latin typeface="Times New Roman" panose="02020603050405020304" pitchFamily="18" charset="0"/>
              </a:rPr>
              <a:t>Depend on – generation time, infective dose, portal of entry, individual susceptibility</a:t>
            </a:r>
          </a:p>
          <a:p>
            <a:pPr algn="l"/>
            <a:r>
              <a:rPr lang="en-US" dirty="0">
                <a:latin typeface="Times New Roman" panose="02020603050405020304" pitchFamily="18" charset="0"/>
              </a:rPr>
              <a:t>Importance – tracing the source of infection</a:t>
            </a:r>
          </a:p>
          <a:p>
            <a:pPr lvl="1"/>
            <a:r>
              <a:rPr lang="en-US" sz="2000" dirty="0">
                <a:latin typeface="Times New Roman" panose="02020603050405020304" pitchFamily="18" charset="0"/>
              </a:rPr>
              <a:t>Period of surveillance</a:t>
            </a:r>
          </a:p>
          <a:p>
            <a:pPr lvl="1"/>
            <a:r>
              <a:rPr lang="en-US" sz="2000" dirty="0">
                <a:latin typeface="Times New Roman" panose="02020603050405020304" pitchFamily="18" charset="0"/>
              </a:rPr>
              <a:t>Immunization</a:t>
            </a:r>
          </a:p>
          <a:p>
            <a:pPr lvl="1"/>
            <a:r>
              <a:rPr lang="en-US" sz="2000" dirty="0">
                <a:latin typeface="Times New Roman" panose="02020603050405020304" pitchFamily="18" charset="0"/>
              </a:rPr>
              <a:t>Identification of point source / propagated epidemic</a:t>
            </a:r>
          </a:p>
          <a:p>
            <a:pPr lvl="1"/>
            <a:r>
              <a:rPr lang="en-US" sz="2000" dirty="0">
                <a:latin typeface="Times New Roman" panose="02020603050405020304" pitchFamily="18" charset="0"/>
              </a:rPr>
              <a:t>Prognosis </a:t>
            </a:r>
            <a:endParaRPr lang="en-US" sz="2000" dirty="0"/>
          </a:p>
        </p:txBody>
      </p:sp>
    </p:spTree>
    <p:extLst>
      <p:ext uri="{BB962C8B-B14F-4D97-AF65-F5344CB8AC3E}">
        <p14:creationId xmlns:p14="http://schemas.microsoft.com/office/powerpoint/2010/main" val="3059318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E1011-566A-8259-D519-F808B97C2680}"/>
              </a:ext>
            </a:extLst>
          </p:cNvPr>
          <p:cNvSpPr>
            <a:spLocks noGrp="1"/>
          </p:cNvSpPr>
          <p:nvPr>
            <p:ph idx="1"/>
          </p:nvPr>
        </p:nvSpPr>
        <p:spPr>
          <a:xfrm>
            <a:off x="838200" y="508000"/>
            <a:ext cx="10515600" cy="5668963"/>
          </a:xfrm>
        </p:spPr>
        <p:txBody>
          <a:bodyPr>
            <a:normAutofit/>
          </a:bodyPr>
          <a:lstStyle/>
          <a:p>
            <a:pPr algn="l"/>
            <a:r>
              <a:rPr lang="en-US" sz="4000" dirty="0"/>
              <a:t>Serial interval – </a:t>
            </a:r>
            <a:r>
              <a:rPr lang="en-US" b="0" i="0" u="none" strike="noStrike" baseline="0" dirty="0">
                <a:latin typeface="Times New Roman" panose="02020603050405020304" pitchFamily="18" charset="0"/>
              </a:rPr>
              <a:t>The gap in time between the onset of the primary case and the secondary case is called the “serial interval”</a:t>
            </a:r>
            <a:endParaRPr lang="en-US" sz="4000" dirty="0"/>
          </a:p>
          <a:p>
            <a:endParaRPr lang="en-US" sz="4000" dirty="0"/>
          </a:p>
          <a:p>
            <a:pPr algn="l"/>
            <a:r>
              <a:rPr lang="en-US" sz="4000" dirty="0"/>
              <a:t>Generation time - </a:t>
            </a:r>
            <a:r>
              <a:rPr lang="en-US" b="0" i="0" u="none" strike="noStrike" baseline="0" dirty="0">
                <a:latin typeface="Times New Roman" panose="02020603050405020304" pitchFamily="18" charset="0"/>
              </a:rPr>
              <a:t>the interval of time between receipt of infection by a host and maximal infectivity of that host</a:t>
            </a:r>
            <a:endParaRPr lang="en-US" sz="4000" dirty="0"/>
          </a:p>
          <a:p>
            <a:endParaRPr lang="en-US" sz="4000" dirty="0"/>
          </a:p>
          <a:p>
            <a:pPr algn="l"/>
            <a:r>
              <a:rPr lang="en-US" sz="4000" dirty="0"/>
              <a:t> Communicable period - </a:t>
            </a:r>
            <a:r>
              <a:rPr lang="en-US" b="0" i="0" u="none" strike="noStrike" baseline="0" dirty="0">
                <a:latin typeface="Times New Roman" panose="02020603050405020304" pitchFamily="18" charset="0"/>
              </a:rPr>
              <a:t>“the time during which an infectious agent may be transferred directly or indirectly from an infected person to another person, from an infected animal to man, or from an infected person to an animal, including arthropods”</a:t>
            </a:r>
            <a:endParaRPr lang="en-US" sz="4000" dirty="0"/>
          </a:p>
        </p:txBody>
      </p:sp>
    </p:spTree>
    <p:extLst>
      <p:ext uri="{BB962C8B-B14F-4D97-AF65-F5344CB8AC3E}">
        <p14:creationId xmlns:p14="http://schemas.microsoft.com/office/powerpoint/2010/main" val="1857433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A65D-6B43-30C0-DB51-602D77D47F92}"/>
              </a:ext>
            </a:extLst>
          </p:cNvPr>
          <p:cNvSpPr>
            <a:spLocks noGrp="1"/>
          </p:cNvSpPr>
          <p:nvPr>
            <p:ph type="title"/>
          </p:nvPr>
        </p:nvSpPr>
        <p:spPr/>
        <p:txBody>
          <a:bodyPr/>
          <a:lstStyle/>
          <a:p>
            <a:r>
              <a:rPr lang="en-US" dirty="0"/>
              <a:t>Specific defenses</a:t>
            </a:r>
          </a:p>
        </p:txBody>
      </p:sp>
      <p:sp>
        <p:nvSpPr>
          <p:cNvPr id="3" name="Content Placeholder 2">
            <a:extLst>
              <a:ext uri="{FF2B5EF4-FFF2-40B4-BE49-F238E27FC236}">
                <a16:creationId xmlns:a16="http://schemas.microsoft.com/office/drawing/2014/main" id="{C4026448-9226-0081-FD1C-17613FB593A2}"/>
              </a:ext>
            </a:extLst>
          </p:cNvPr>
          <p:cNvSpPr>
            <a:spLocks noGrp="1"/>
          </p:cNvSpPr>
          <p:nvPr>
            <p:ph idx="1"/>
          </p:nvPr>
        </p:nvSpPr>
        <p:spPr/>
        <p:txBody>
          <a:bodyPr/>
          <a:lstStyle/>
          <a:p>
            <a:r>
              <a:rPr lang="en-US" dirty="0"/>
              <a:t>Active – clinical infection, subclinical / inapparent infection, immunization</a:t>
            </a:r>
          </a:p>
          <a:p>
            <a:endParaRPr lang="en-US" dirty="0"/>
          </a:p>
          <a:p>
            <a:r>
              <a:rPr lang="en-US" dirty="0"/>
              <a:t>Passive immunity - immunoglobulin, maternal Ab</a:t>
            </a:r>
          </a:p>
          <a:p>
            <a:endParaRPr lang="en-US" dirty="0"/>
          </a:p>
          <a:p>
            <a:r>
              <a:rPr lang="en-US" dirty="0"/>
              <a:t>Herd immunity</a:t>
            </a:r>
          </a:p>
          <a:p>
            <a:endParaRPr lang="en-US" dirty="0"/>
          </a:p>
        </p:txBody>
      </p:sp>
    </p:spTree>
    <p:extLst>
      <p:ext uri="{BB962C8B-B14F-4D97-AF65-F5344CB8AC3E}">
        <p14:creationId xmlns:p14="http://schemas.microsoft.com/office/powerpoint/2010/main" val="1095613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593FC2-124D-9877-3CFF-E2C2577BEAE5}"/>
              </a:ext>
            </a:extLst>
          </p:cNvPr>
          <p:cNvSpPr>
            <a:spLocks noGrp="1"/>
          </p:cNvSpPr>
          <p:nvPr>
            <p:ph type="title"/>
          </p:nvPr>
        </p:nvSpPr>
        <p:spPr>
          <a:xfrm>
            <a:off x="841248" y="256032"/>
            <a:ext cx="10506456" cy="1014984"/>
          </a:xfrm>
        </p:spPr>
        <p:txBody>
          <a:bodyPr anchor="b">
            <a:normAutofit/>
          </a:bodyPr>
          <a:lstStyle/>
          <a:p>
            <a:r>
              <a:rPr lang="en-US" dirty="0"/>
              <a:t>Prevention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Table 4">
            <a:extLst>
              <a:ext uri="{FF2B5EF4-FFF2-40B4-BE49-F238E27FC236}">
                <a16:creationId xmlns:a16="http://schemas.microsoft.com/office/drawing/2014/main" id="{5E1CAD31-7C57-D0E9-09A3-466B2866EFA9}"/>
              </a:ext>
            </a:extLst>
          </p:cNvPr>
          <p:cNvGraphicFramePr>
            <a:graphicFrameLocks noGrp="1"/>
          </p:cNvGraphicFramePr>
          <p:nvPr>
            <p:ph idx="1"/>
            <p:extLst>
              <p:ext uri="{D42A27DB-BD31-4B8C-83A1-F6EECF244321}">
                <p14:modId xmlns:p14="http://schemas.microsoft.com/office/powerpoint/2010/main" val="2721576127"/>
              </p:ext>
            </p:extLst>
          </p:nvPr>
        </p:nvGraphicFramePr>
        <p:xfrm>
          <a:off x="1378797" y="2629796"/>
          <a:ext cx="9434408" cy="2950464"/>
        </p:xfrm>
        <a:graphic>
          <a:graphicData uri="http://schemas.openxmlformats.org/drawingml/2006/table">
            <a:tbl>
              <a:tblPr firstRow="1" bandRow="1">
                <a:tableStyleId>{5C22544A-7EE6-4342-B048-85BDC9FD1C3A}</a:tableStyleId>
              </a:tblPr>
              <a:tblGrid>
                <a:gridCol w="2579794">
                  <a:extLst>
                    <a:ext uri="{9D8B030D-6E8A-4147-A177-3AD203B41FA5}">
                      <a16:colId xmlns:a16="http://schemas.microsoft.com/office/drawing/2014/main" val="4265693791"/>
                    </a:ext>
                  </a:extLst>
                </a:gridCol>
                <a:gridCol w="2346960">
                  <a:extLst>
                    <a:ext uri="{9D8B030D-6E8A-4147-A177-3AD203B41FA5}">
                      <a16:colId xmlns:a16="http://schemas.microsoft.com/office/drawing/2014/main" val="2936266437"/>
                    </a:ext>
                  </a:extLst>
                </a:gridCol>
                <a:gridCol w="1811444">
                  <a:extLst>
                    <a:ext uri="{9D8B030D-6E8A-4147-A177-3AD203B41FA5}">
                      <a16:colId xmlns:a16="http://schemas.microsoft.com/office/drawing/2014/main" val="525133370"/>
                    </a:ext>
                  </a:extLst>
                </a:gridCol>
                <a:gridCol w="2696210">
                  <a:extLst>
                    <a:ext uri="{9D8B030D-6E8A-4147-A177-3AD203B41FA5}">
                      <a16:colId xmlns:a16="http://schemas.microsoft.com/office/drawing/2014/main" val="1164453349"/>
                    </a:ext>
                  </a:extLst>
                </a:gridCol>
              </a:tblGrid>
              <a:tr h="737616">
                <a:tc>
                  <a:txBody>
                    <a:bodyPr/>
                    <a:lstStyle/>
                    <a:p>
                      <a:endParaRPr lang="en-US" sz="3300"/>
                    </a:p>
                  </a:txBody>
                  <a:tcPr marL="167640" marR="167640" marT="83820" marB="83820"/>
                </a:tc>
                <a:tc>
                  <a:txBody>
                    <a:bodyPr/>
                    <a:lstStyle/>
                    <a:p>
                      <a:r>
                        <a:rPr lang="en-US" sz="3300"/>
                        <a:t>Individual</a:t>
                      </a:r>
                    </a:p>
                  </a:txBody>
                  <a:tcPr marL="167640" marR="167640" marT="83820" marB="83820"/>
                </a:tc>
                <a:tc>
                  <a:txBody>
                    <a:bodyPr/>
                    <a:lstStyle/>
                    <a:p>
                      <a:r>
                        <a:rPr lang="en-US" sz="3300"/>
                        <a:t>Family</a:t>
                      </a:r>
                    </a:p>
                  </a:txBody>
                  <a:tcPr marL="167640" marR="167640" marT="83820" marB="83820"/>
                </a:tc>
                <a:tc>
                  <a:txBody>
                    <a:bodyPr/>
                    <a:lstStyle/>
                    <a:p>
                      <a:r>
                        <a:rPr lang="en-US" sz="3300"/>
                        <a:t>Community</a:t>
                      </a:r>
                    </a:p>
                  </a:txBody>
                  <a:tcPr marL="167640" marR="167640" marT="83820" marB="83820"/>
                </a:tc>
                <a:extLst>
                  <a:ext uri="{0D108BD9-81ED-4DB2-BD59-A6C34878D82A}">
                    <a16:rowId xmlns:a16="http://schemas.microsoft.com/office/drawing/2014/main" val="2609088080"/>
                  </a:ext>
                </a:extLst>
              </a:tr>
              <a:tr h="737616">
                <a:tc>
                  <a:txBody>
                    <a:bodyPr/>
                    <a:lstStyle/>
                    <a:p>
                      <a:r>
                        <a:rPr lang="en-US" sz="3300"/>
                        <a:t>Primary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72181570"/>
                  </a:ext>
                </a:extLst>
              </a:tr>
              <a:tr h="737616">
                <a:tc>
                  <a:txBody>
                    <a:bodyPr/>
                    <a:lstStyle/>
                    <a:p>
                      <a:r>
                        <a:rPr lang="en-US" sz="3300"/>
                        <a:t>Secondary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1300113763"/>
                  </a:ext>
                </a:extLst>
              </a:tr>
              <a:tr h="737616">
                <a:tc>
                  <a:txBody>
                    <a:bodyPr/>
                    <a:lstStyle/>
                    <a:p>
                      <a:r>
                        <a:rPr lang="en-US" sz="3300"/>
                        <a:t>Tertary</a:t>
                      </a:r>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2768490606"/>
                  </a:ext>
                </a:extLst>
              </a:tr>
            </a:tbl>
          </a:graphicData>
        </a:graphic>
      </p:graphicFrame>
    </p:spTree>
    <p:extLst>
      <p:ext uri="{BB962C8B-B14F-4D97-AF65-F5344CB8AC3E}">
        <p14:creationId xmlns:p14="http://schemas.microsoft.com/office/powerpoint/2010/main" val="3687529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TotalTime>
  <Words>1355</Words>
  <Application>Microsoft Office PowerPoint</Application>
  <PresentationFormat>Widescreen</PresentationFormat>
  <Paragraphs>127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Infectious disease epidemiology</vt:lpstr>
      <vt:lpstr>Operational definitions</vt:lpstr>
      <vt:lpstr>PowerPoint Presentation</vt:lpstr>
      <vt:lpstr>PowerPoint Presentation</vt:lpstr>
      <vt:lpstr>PowerPoint Presentation</vt:lpstr>
      <vt:lpstr>PowerPoint Presentation</vt:lpstr>
      <vt:lpstr>DYNAMICS</vt:lpstr>
      <vt:lpstr>Cases</vt:lpstr>
      <vt:lpstr>Carrier – By type</vt:lpstr>
      <vt:lpstr>Carrier – By duration</vt:lpstr>
      <vt:lpstr>Carrier – By portal of exit</vt:lpstr>
      <vt:lpstr>Modes of transmission</vt:lpstr>
      <vt:lpstr>Vector borne disease</vt:lpstr>
      <vt:lpstr>Susceptible host</vt:lpstr>
      <vt:lpstr>Incubation period</vt:lpstr>
      <vt:lpstr>PowerPoint Presentation</vt:lpstr>
      <vt:lpstr>Specific defenses</vt:lpstr>
      <vt:lpstr>Prevention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Infectious disease epidemiology</dc:title>
  <dc:creator>mukul maheshwari</dc:creator>
  <cp:lastModifiedBy>mukul maheshwari</cp:lastModifiedBy>
  <cp:revision>1</cp:revision>
  <dcterms:created xsi:type="dcterms:W3CDTF">2023-08-07T17:25:49Z</dcterms:created>
  <dcterms:modified xsi:type="dcterms:W3CDTF">2023-08-07T19:56:56Z</dcterms:modified>
</cp:coreProperties>
</file>