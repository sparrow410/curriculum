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3" r:id="rId11"/>
    <p:sldId id="267" r:id="rId12"/>
    <p:sldId id="266" r:id="rId13"/>
    <p:sldId id="268" r:id="rId14"/>
    <p:sldId id="269" r:id="rId15"/>
    <p:sldId id="270" r:id="rId16"/>
    <p:sldId id="271" r:id="rId17"/>
    <p:sldId id="272" r:id="rId18"/>
    <p:sldId id="273" r:id="rId19"/>
    <p:sldId id="274" r:id="rId20"/>
    <p:sldId id="275" r:id="rId21"/>
    <p:sldId id="276" r:id="rId22"/>
    <p:sldId id="277" r:id="rId23"/>
    <p:sldId id="280" r:id="rId24"/>
    <p:sldId id="279" r:id="rId25"/>
    <p:sldId id="281" r:id="rId26"/>
    <p:sldId id="282" r:id="rId27"/>
    <p:sldId id="278"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3/25/2025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79651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3/25/2025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5291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3/25/2025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0722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3/25/2025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70712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3/25/2025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95927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3/25/2025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1705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3/25/2025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44856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3/25/2025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4651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3/25/2025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28499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3/25/2025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04970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3/25/2025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907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3/25/2025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092527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descr="A close-up of a blue and purple circle&#10;&#10;AI-generated content may be incorrect.">
            <a:extLst>
              <a:ext uri="{FF2B5EF4-FFF2-40B4-BE49-F238E27FC236}">
                <a16:creationId xmlns:a16="http://schemas.microsoft.com/office/drawing/2014/main" id="{B38D03B6-EF5C-3C0C-EE95-F82CB26E12FA}"/>
              </a:ext>
            </a:extLst>
          </p:cNvPr>
          <p:cNvPicPr>
            <a:picLocks noChangeAspect="1"/>
          </p:cNvPicPr>
          <p:nvPr/>
        </p:nvPicPr>
        <p:blipFill>
          <a:blip r:embed="rId2"/>
          <a:srcRect b="15730"/>
          <a:stretch/>
        </p:blipFill>
        <p:spPr>
          <a:xfrm>
            <a:off x="1" y="10"/>
            <a:ext cx="12192000" cy="6857990"/>
          </a:xfrm>
          <a:prstGeom prst="rect">
            <a:avLst/>
          </a:prstGeom>
        </p:spPr>
      </p:pic>
      <p:sp>
        <p:nvSpPr>
          <p:cNvPr id="11" name="Rectangle 10">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6600" y="1066800"/>
            <a:ext cx="4681728" cy="4724400"/>
          </a:xfrm>
          <a:prstGeom prst="rect">
            <a:avLst/>
          </a:prstGeom>
          <a:solidFill>
            <a:schemeClr val="bg1">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0184FAEF-90C0-3E0C-2F02-BBE5F60CBDE4}"/>
              </a:ext>
            </a:extLst>
          </p:cNvPr>
          <p:cNvSpPr>
            <a:spLocks noGrp="1"/>
          </p:cNvSpPr>
          <p:nvPr>
            <p:ph type="ctrTitle"/>
          </p:nvPr>
        </p:nvSpPr>
        <p:spPr>
          <a:xfrm>
            <a:off x="7769722" y="1562101"/>
            <a:ext cx="3884568" cy="2738530"/>
          </a:xfrm>
        </p:spPr>
        <p:txBody>
          <a:bodyPr anchor="t">
            <a:normAutofit/>
          </a:bodyPr>
          <a:lstStyle/>
          <a:p>
            <a:r>
              <a:rPr lang="en-US" sz="4800"/>
              <a:t>Immunizing Agents</a:t>
            </a:r>
          </a:p>
        </p:txBody>
      </p:sp>
      <p:sp>
        <p:nvSpPr>
          <p:cNvPr id="3" name="Subtitle 2">
            <a:extLst>
              <a:ext uri="{FF2B5EF4-FFF2-40B4-BE49-F238E27FC236}">
                <a16:creationId xmlns:a16="http://schemas.microsoft.com/office/drawing/2014/main" id="{9922C32D-43E2-A46B-B923-DD4EB3029F81}"/>
              </a:ext>
            </a:extLst>
          </p:cNvPr>
          <p:cNvSpPr>
            <a:spLocks noGrp="1"/>
          </p:cNvSpPr>
          <p:nvPr>
            <p:ph type="subTitle" idx="1"/>
          </p:nvPr>
        </p:nvSpPr>
        <p:spPr>
          <a:xfrm>
            <a:off x="7769722" y="4321622"/>
            <a:ext cx="3813048" cy="941832"/>
          </a:xfrm>
        </p:spPr>
        <p:txBody>
          <a:bodyPr>
            <a:normAutofit/>
          </a:bodyPr>
          <a:lstStyle/>
          <a:p>
            <a:endParaRPr lang="en-US" sz="2000"/>
          </a:p>
        </p:txBody>
      </p:sp>
      <p:cxnSp>
        <p:nvCxnSpPr>
          <p:cNvPr id="13" name="Straight Connector 12">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619035" y="3435440"/>
            <a:ext cx="0" cy="469087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869283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854A-E074-43A0-6909-371DDC8D2B4B}"/>
              </a:ext>
            </a:extLst>
          </p:cNvPr>
          <p:cNvSpPr>
            <a:spLocks noGrp="1"/>
          </p:cNvSpPr>
          <p:nvPr>
            <p:ph type="title"/>
          </p:nvPr>
        </p:nvSpPr>
        <p:spPr/>
        <p:txBody>
          <a:bodyPr/>
          <a:lstStyle/>
          <a:p>
            <a:r>
              <a:rPr lang="en-US" dirty="0"/>
              <a:t>Types</a:t>
            </a:r>
          </a:p>
        </p:txBody>
      </p:sp>
      <p:sp>
        <p:nvSpPr>
          <p:cNvPr id="3" name="Content Placeholder 2">
            <a:extLst>
              <a:ext uri="{FF2B5EF4-FFF2-40B4-BE49-F238E27FC236}">
                <a16:creationId xmlns:a16="http://schemas.microsoft.com/office/drawing/2014/main" id="{3B1ADCAF-2A33-7551-B607-48B0AE9A26A9}"/>
              </a:ext>
            </a:extLst>
          </p:cNvPr>
          <p:cNvSpPr>
            <a:spLocks noGrp="1"/>
          </p:cNvSpPr>
          <p:nvPr>
            <p:ph idx="1"/>
          </p:nvPr>
        </p:nvSpPr>
        <p:spPr/>
        <p:txBody>
          <a:bodyPr>
            <a:normAutofit/>
          </a:bodyPr>
          <a:lstStyle/>
          <a:p>
            <a:r>
              <a:rPr lang="en-US" sz="3200" dirty="0"/>
              <a:t>Vaccines</a:t>
            </a:r>
          </a:p>
          <a:p>
            <a:r>
              <a:rPr lang="en-US" sz="3200" dirty="0"/>
              <a:t>Immunoglobulins</a:t>
            </a:r>
          </a:p>
          <a:p>
            <a:r>
              <a:rPr lang="en-US" sz="3200" dirty="0"/>
              <a:t>Antisera</a:t>
            </a:r>
          </a:p>
        </p:txBody>
      </p:sp>
    </p:spTree>
    <p:extLst>
      <p:ext uri="{BB962C8B-B14F-4D97-AF65-F5344CB8AC3E}">
        <p14:creationId xmlns:p14="http://schemas.microsoft.com/office/powerpoint/2010/main" val="881888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5D74-81A4-3C14-0E3F-B276D6DCB07D}"/>
              </a:ext>
            </a:extLst>
          </p:cNvPr>
          <p:cNvSpPr>
            <a:spLocks noGrp="1"/>
          </p:cNvSpPr>
          <p:nvPr>
            <p:ph type="title"/>
          </p:nvPr>
        </p:nvSpPr>
        <p:spPr/>
        <p:txBody>
          <a:bodyPr/>
          <a:lstStyle/>
          <a:p>
            <a:r>
              <a:rPr lang="en-US" dirty="0"/>
              <a:t>Vaccines</a:t>
            </a:r>
          </a:p>
        </p:txBody>
      </p:sp>
      <p:sp>
        <p:nvSpPr>
          <p:cNvPr id="3" name="Content Placeholder 2">
            <a:extLst>
              <a:ext uri="{FF2B5EF4-FFF2-40B4-BE49-F238E27FC236}">
                <a16:creationId xmlns:a16="http://schemas.microsoft.com/office/drawing/2014/main" id="{1058D88B-B769-2705-8493-3C7AEA6A4406}"/>
              </a:ext>
            </a:extLst>
          </p:cNvPr>
          <p:cNvSpPr>
            <a:spLocks noGrp="1"/>
          </p:cNvSpPr>
          <p:nvPr>
            <p:ph idx="1"/>
          </p:nvPr>
        </p:nvSpPr>
        <p:spPr/>
        <p:txBody>
          <a:bodyPr/>
          <a:lstStyle/>
          <a:p>
            <a:r>
              <a:rPr lang="en-US" dirty="0"/>
              <a:t>Vaccine is an immuno-biological substance designed to produce specific protection against a given disease, it stimulates the production of protective antibody and other immune mechanisms.</a:t>
            </a:r>
          </a:p>
          <a:p>
            <a:pPr marL="0" indent="0">
              <a:buNone/>
            </a:pPr>
            <a:r>
              <a:rPr lang="en-US" b="1" dirty="0"/>
              <a:t>Types</a:t>
            </a:r>
          </a:p>
          <a:p>
            <a:r>
              <a:rPr lang="en-US" dirty="0"/>
              <a:t>Live Vaccines</a:t>
            </a:r>
          </a:p>
          <a:p>
            <a:r>
              <a:rPr lang="en-US" dirty="0"/>
              <a:t>Killed whole organism / </a:t>
            </a:r>
            <a:r>
              <a:rPr lang="en-US" dirty="0" err="1"/>
              <a:t>Inacivated</a:t>
            </a:r>
            <a:endParaRPr lang="en-US" dirty="0"/>
          </a:p>
          <a:p>
            <a:r>
              <a:rPr lang="en-US" dirty="0"/>
              <a:t>Sub-unit</a:t>
            </a:r>
          </a:p>
          <a:p>
            <a:endParaRPr lang="en-US" dirty="0"/>
          </a:p>
        </p:txBody>
      </p:sp>
    </p:spTree>
    <p:extLst>
      <p:ext uri="{BB962C8B-B14F-4D97-AF65-F5344CB8AC3E}">
        <p14:creationId xmlns:p14="http://schemas.microsoft.com/office/powerpoint/2010/main" val="3119560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9851-1B9A-C78C-1CC0-6899540F98A5}"/>
              </a:ext>
            </a:extLst>
          </p:cNvPr>
          <p:cNvSpPr>
            <a:spLocks noGrp="1"/>
          </p:cNvSpPr>
          <p:nvPr>
            <p:ph type="title"/>
          </p:nvPr>
        </p:nvSpPr>
        <p:spPr>
          <a:xfrm>
            <a:off x="640079" y="334518"/>
            <a:ext cx="10890929" cy="647699"/>
          </a:xfrm>
        </p:spPr>
        <p:txBody>
          <a:bodyPr>
            <a:normAutofit fontScale="90000"/>
          </a:bodyPr>
          <a:lstStyle/>
          <a:p>
            <a:r>
              <a:rPr lang="en-US" dirty="0"/>
              <a:t>Live vaccines</a:t>
            </a:r>
          </a:p>
        </p:txBody>
      </p:sp>
      <p:sp>
        <p:nvSpPr>
          <p:cNvPr id="3" name="Content Placeholder 2">
            <a:extLst>
              <a:ext uri="{FF2B5EF4-FFF2-40B4-BE49-F238E27FC236}">
                <a16:creationId xmlns:a16="http://schemas.microsoft.com/office/drawing/2014/main" id="{FFB0C2CA-D99D-2003-BDC4-9503E9E0C384}"/>
              </a:ext>
            </a:extLst>
          </p:cNvPr>
          <p:cNvSpPr>
            <a:spLocks noGrp="1"/>
          </p:cNvSpPr>
          <p:nvPr>
            <p:ph idx="1"/>
          </p:nvPr>
        </p:nvSpPr>
        <p:spPr>
          <a:xfrm>
            <a:off x="640080" y="1146629"/>
            <a:ext cx="10890928" cy="5053003"/>
          </a:xfrm>
        </p:spPr>
        <p:txBody>
          <a:bodyPr>
            <a:normAutofit fontScale="77500" lnSpcReduction="20000"/>
          </a:bodyPr>
          <a:lstStyle/>
          <a:p>
            <a:r>
              <a:rPr lang="en-US" dirty="0"/>
              <a:t>Live vaccines are more potent immunizing agents than killed vaccines</a:t>
            </a:r>
          </a:p>
          <a:p>
            <a:pPr lvl="1"/>
            <a:r>
              <a:rPr lang="en-US" dirty="0"/>
              <a:t>Live organisms multiply in the host and the resulting antigenic dose is larger than what is injected.</a:t>
            </a:r>
          </a:p>
          <a:p>
            <a:pPr lvl="1"/>
            <a:r>
              <a:rPr lang="en-US" dirty="0"/>
              <a:t>Live vaccines have all the major and minor antigenic components</a:t>
            </a:r>
          </a:p>
          <a:p>
            <a:pPr lvl="1"/>
            <a:r>
              <a:rPr lang="en-US" dirty="0"/>
              <a:t>Live vaccines engage certain tissues of the body</a:t>
            </a:r>
          </a:p>
          <a:p>
            <a:pPr lvl="1"/>
            <a:r>
              <a:rPr lang="en-US" dirty="0"/>
              <a:t>The persistence of latent virus.</a:t>
            </a:r>
          </a:p>
          <a:p>
            <a:r>
              <a:rPr lang="en-US" dirty="0"/>
              <a:t>Live vaccines should not be administered to persons with immune deficiency diseases or to persons whose immune response may be suppressed because of </a:t>
            </a:r>
            <a:r>
              <a:rPr lang="en-US" dirty="0" err="1"/>
              <a:t>leukaemia</a:t>
            </a:r>
            <a:r>
              <a:rPr lang="en-US" dirty="0"/>
              <a:t>, lymphoma or malignancy or because of therapy with corticosteroids, alkylating agents, antimetabolic agents, or radiation. </a:t>
            </a:r>
          </a:p>
          <a:p>
            <a:r>
              <a:rPr lang="en-US" dirty="0"/>
              <a:t>Pregnancy is another contraindication unless the risk of infection exceeds the risk of harm to the </a:t>
            </a:r>
            <a:r>
              <a:rPr lang="en-US" dirty="0" err="1"/>
              <a:t>foetus</a:t>
            </a:r>
            <a:r>
              <a:rPr lang="en-US" dirty="0"/>
              <a:t> of some live vaccines.</a:t>
            </a:r>
          </a:p>
          <a:p>
            <a:r>
              <a:rPr lang="en-US" dirty="0"/>
              <a:t>When two live vaccines are required they should be given either simultaneously at different sites or with an interval of </a:t>
            </a:r>
            <a:r>
              <a:rPr lang="en-US" dirty="0" err="1"/>
              <a:t>atleast</a:t>
            </a:r>
            <a:r>
              <a:rPr lang="en-US" dirty="0"/>
              <a:t> 3 weeks. </a:t>
            </a:r>
          </a:p>
          <a:p>
            <a:r>
              <a:rPr lang="en-US" dirty="0"/>
              <a:t>In the case of live vaccines, protection is generally achieved with a single dose of vaccine. </a:t>
            </a:r>
          </a:p>
          <a:p>
            <a:r>
              <a:rPr lang="en-US" dirty="0"/>
              <a:t>An additional dose is given to ensure seroconversion, e.g., 95 to 98 per cent of recipient will respond to single dose of measles vaccine. The second dose is given to ensure that 100 per cent of persons are immune. The other exception is polio vaccine which needs three or more doses to be given at spaced intervals to produce effective immunity. </a:t>
            </a:r>
          </a:p>
          <a:p>
            <a:r>
              <a:rPr lang="en-US" dirty="0"/>
              <a:t>Live vaccines usually produce a durable immunity, but not always as long as that of the natural infection.</a:t>
            </a:r>
          </a:p>
        </p:txBody>
      </p:sp>
    </p:spTree>
    <p:extLst>
      <p:ext uri="{BB962C8B-B14F-4D97-AF65-F5344CB8AC3E}">
        <p14:creationId xmlns:p14="http://schemas.microsoft.com/office/powerpoint/2010/main" val="1996075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BF62-16BA-152C-68D6-01B1186E8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A7630-B2B2-94A8-C0CF-E3DF017B75AA}"/>
              </a:ext>
            </a:extLst>
          </p:cNvPr>
          <p:cNvSpPr>
            <a:spLocks noGrp="1"/>
          </p:cNvSpPr>
          <p:nvPr>
            <p:ph type="title"/>
          </p:nvPr>
        </p:nvSpPr>
        <p:spPr>
          <a:xfrm>
            <a:off x="640079" y="334518"/>
            <a:ext cx="10890929" cy="647699"/>
          </a:xfrm>
        </p:spPr>
        <p:txBody>
          <a:bodyPr>
            <a:normAutofit fontScale="90000"/>
          </a:bodyPr>
          <a:lstStyle/>
          <a:p>
            <a:r>
              <a:rPr lang="en-US" dirty="0"/>
              <a:t>Live vaccines</a:t>
            </a:r>
          </a:p>
        </p:txBody>
      </p:sp>
      <p:sp>
        <p:nvSpPr>
          <p:cNvPr id="3" name="Content Placeholder 2">
            <a:extLst>
              <a:ext uri="{FF2B5EF4-FFF2-40B4-BE49-F238E27FC236}">
                <a16:creationId xmlns:a16="http://schemas.microsoft.com/office/drawing/2014/main" id="{560CBD0B-C00A-5555-A7D3-23C693A10F01}"/>
              </a:ext>
            </a:extLst>
          </p:cNvPr>
          <p:cNvSpPr>
            <a:spLocks noGrp="1"/>
          </p:cNvSpPr>
          <p:nvPr>
            <p:ph idx="1"/>
          </p:nvPr>
        </p:nvSpPr>
        <p:spPr>
          <a:xfrm>
            <a:off x="640080" y="1146629"/>
            <a:ext cx="10890928" cy="5053003"/>
          </a:xfrm>
        </p:spPr>
        <p:txBody>
          <a:bodyPr>
            <a:normAutofit/>
          </a:bodyPr>
          <a:lstStyle/>
          <a:p>
            <a:r>
              <a:rPr lang="en-US" dirty="0"/>
              <a:t>When two live vaccines are required they should be given either simultaneously at different sites or with an interval of </a:t>
            </a:r>
            <a:r>
              <a:rPr lang="en-US" dirty="0" err="1"/>
              <a:t>atleast</a:t>
            </a:r>
            <a:r>
              <a:rPr lang="en-US" dirty="0"/>
              <a:t> 3 weeks. </a:t>
            </a:r>
          </a:p>
          <a:p>
            <a:r>
              <a:rPr lang="en-US" dirty="0"/>
              <a:t>In the case of live vaccines, protection is generally achieved with a single dose of vaccine. </a:t>
            </a:r>
          </a:p>
          <a:p>
            <a:r>
              <a:rPr lang="en-US" dirty="0"/>
              <a:t>An additional dose is given to ensure seroconversion, e.g., 95 to 98 per cent of recipient will respond to single dose of measles vaccine. The second dose is given to ensure that 100 per cent of persons are immune. The other exception is polio vaccine which needs three or more doses to be given at spaced intervals to produce effective immunity. </a:t>
            </a:r>
          </a:p>
          <a:p>
            <a:r>
              <a:rPr lang="en-US" dirty="0"/>
              <a:t>Live vaccines usually produce a durable immunity, but not always as long as that of the natural infection.</a:t>
            </a:r>
          </a:p>
        </p:txBody>
      </p:sp>
    </p:spTree>
    <p:extLst>
      <p:ext uri="{BB962C8B-B14F-4D97-AF65-F5344CB8AC3E}">
        <p14:creationId xmlns:p14="http://schemas.microsoft.com/office/powerpoint/2010/main" val="4120882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BF62-16BA-152C-68D6-01B1186E8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A7630-B2B2-94A8-C0CF-E3DF017B75AA}"/>
              </a:ext>
            </a:extLst>
          </p:cNvPr>
          <p:cNvSpPr>
            <a:spLocks noGrp="1"/>
          </p:cNvSpPr>
          <p:nvPr>
            <p:ph type="title"/>
          </p:nvPr>
        </p:nvSpPr>
        <p:spPr>
          <a:xfrm>
            <a:off x="640079" y="334518"/>
            <a:ext cx="10890929" cy="647699"/>
          </a:xfrm>
        </p:spPr>
        <p:txBody>
          <a:bodyPr>
            <a:normAutofit fontScale="90000"/>
          </a:bodyPr>
          <a:lstStyle/>
          <a:p>
            <a:r>
              <a:rPr lang="en-US" dirty="0"/>
              <a:t>Live vaccines</a:t>
            </a:r>
          </a:p>
        </p:txBody>
      </p:sp>
      <p:sp>
        <p:nvSpPr>
          <p:cNvPr id="3" name="Content Placeholder 2">
            <a:extLst>
              <a:ext uri="{FF2B5EF4-FFF2-40B4-BE49-F238E27FC236}">
                <a16:creationId xmlns:a16="http://schemas.microsoft.com/office/drawing/2014/main" id="{560CBD0B-C00A-5555-A7D3-23C693A10F01}"/>
              </a:ext>
            </a:extLst>
          </p:cNvPr>
          <p:cNvSpPr>
            <a:spLocks noGrp="1"/>
          </p:cNvSpPr>
          <p:nvPr>
            <p:ph idx="1"/>
          </p:nvPr>
        </p:nvSpPr>
        <p:spPr>
          <a:xfrm>
            <a:off x="640080" y="1146629"/>
            <a:ext cx="10890928" cy="5053003"/>
          </a:xfrm>
        </p:spPr>
        <p:txBody>
          <a:bodyPr numCol="2">
            <a:normAutofit/>
          </a:bodyPr>
          <a:lstStyle/>
          <a:p>
            <a:pPr algn="l"/>
            <a:r>
              <a:rPr lang="en-US" sz="3200" b="0" i="0" u="none" strike="noStrike" baseline="0" dirty="0">
                <a:latin typeface="Times New Roman" panose="02020603050405020304" pitchFamily="18" charset="0"/>
              </a:rPr>
              <a:t>Tuberculosis (BCG)</a:t>
            </a:r>
          </a:p>
          <a:p>
            <a:pPr algn="l"/>
            <a:r>
              <a:rPr lang="en-US" sz="3200" b="0" i="0" u="none" strike="noStrike" baseline="0" dirty="0">
                <a:latin typeface="Times New Roman" panose="02020603050405020304" pitchFamily="18" charset="0"/>
              </a:rPr>
              <a:t>Yellow fever</a:t>
            </a:r>
          </a:p>
          <a:p>
            <a:pPr algn="l"/>
            <a:r>
              <a:rPr lang="en-US" sz="3200" b="0" i="0" u="none" strike="noStrike" baseline="0" dirty="0">
                <a:latin typeface="Times New Roman" panose="02020603050405020304" pitchFamily="18" charset="0"/>
              </a:rPr>
              <a:t>Polio (OPV)</a:t>
            </a:r>
          </a:p>
          <a:p>
            <a:pPr algn="l"/>
            <a:r>
              <a:rPr lang="en-US" sz="3200" b="0" i="0" u="none" strike="noStrike" baseline="0" dirty="0">
                <a:latin typeface="Times New Roman" panose="02020603050405020304" pitchFamily="18" charset="0"/>
              </a:rPr>
              <a:t>Measles</a:t>
            </a:r>
          </a:p>
          <a:p>
            <a:pPr algn="l"/>
            <a:r>
              <a:rPr lang="en-US" sz="3200" b="0" i="0" u="none" strike="noStrike" baseline="0" dirty="0">
                <a:latin typeface="Times New Roman" panose="02020603050405020304" pitchFamily="18" charset="0"/>
              </a:rPr>
              <a:t>Mumps</a:t>
            </a:r>
          </a:p>
          <a:p>
            <a:pPr algn="l"/>
            <a:r>
              <a:rPr lang="en-US" sz="3200" b="0" i="0" u="none" strike="noStrike" baseline="0" dirty="0">
                <a:latin typeface="Times New Roman" panose="02020603050405020304" pitchFamily="18" charset="0"/>
              </a:rPr>
              <a:t>Rubella</a:t>
            </a:r>
          </a:p>
          <a:p>
            <a:pPr algn="l"/>
            <a:r>
              <a:rPr lang="en-US" sz="3200" b="0" i="0" u="none" strike="noStrike" baseline="0" dirty="0">
                <a:latin typeface="Times New Roman" panose="02020603050405020304" pitchFamily="18" charset="0"/>
              </a:rPr>
              <a:t>Typhoid</a:t>
            </a:r>
          </a:p>
          <a:p>
            <a:pPr algn="l"/>
            <a:r>
              <a:rPr lang="en-US" sz="3200" b="0" i="0" u="none" strike="noStrike" baseline="0" dirty="0">
                <a:latin typeface="Times New Roman" panose="02020603050405020304" pitchFamily="18" charset="0"/>
              </a:rPr>
              <a:t>Varicella</a:t>
            </a:r>
          </a:p>
          <a:p>
            <a:pPr algn="l"/>
            <a:r>
              <a:rPr lang="en-US" sz="3200" b="0" i="0" u="none" strike="noStrike" baseline="0" dirty="0">
                <a:latin typeface="Times New Roman" panose="02020603050405020304" pitchFamily="18" charset="0"/>
              </a:rPr>
              <a:t>Rotavirus</a:t>
            </a:r>
          </a:p>
          <a:p>
            <a:pPr algn="l"/>
            <a:r>
              <a:rPr lang="en-US" sz="3200" b="0" i="0" u="none" strike="noStrike" baseline="0" dirty="0">
                <a:latin typeface="Times New Roman" panose="02020603050405020304" pitchFamily="18" charset="0"/>
              </a:rPr>
              <a:t>Cholera</a:t>
            </a:r>
          </a:p>
          <a:p>
            <a:pPr algn="l"/>
            <a:r>
              <a:rPr lang="en-US" sz="3200" b="0" i="0" u="none" strike="noStrike" baseline="0" dirty="0">
                <a:latin typeface="Times New Roman" panose="02020603050405020304" pitchFamily="18" charset="0"/>
              </a:rPr>
              <a:t>Cold-adapted influenza</a:t>
            </a:r>
          </a:p>
          <a:p>
            <a:pPr algn="l"/>
            <a:r>
              <a:rPr lang="en-US" sz="3200" b="0" i="0" u="none" strike="noStrike" baseline="0" dirty="0">
                <a:latin typeface="Times New Roman" panose="02020603050405020304" pitchFamily="18" charset="0"/>
              </a:rPr>
              <a:t>Rotavirus </a:t>
            </a:r>
            <a:r>
              <a:rPr lang="en-US" sz="3200" b="0" i="0" u="none" strike="noStrike" baseline="0" dirty="0" err="1">
                <a:latin typeface="Times New Roman" panose="02020603050405020304" pitchFamily="18" charset="0"/>
              </a:rPr>
              <a:t>reassortants</a:t>
            </a:r>
            <a:endParaRPr lang="en-US" sz="3200" b="0" i="0" u="none" strike="noStrike" baseline="0" dirty="0">
              <a:latin typeface="Times New Roman" panose="02020603050405020304" pitchFamily="18" charset="0"/>
            </a:endParaRPr>
          </a:p>
          <a:p>
            <a:pPr algn="l"/>
            <a:r>
              <a:rPr lang="en-US" sz="3200" b="0" i="0" u="none" strike="noStrike" baseline="0" dirty="0">
                <a:latin typeface="Times New Roman" panose="02020603050405020304" pitchFamily="18" charset="0"/>
              </a:rPr>
              <a:t>Zoster</a:t>
            </a:r>
            <a:endParaRPr lang="en-US" sz="3600" dirty="0"/>
          </a:p>
        </p:txBody>
      </p:sp>
    </p:spTree>
    <p:extLst>
      <p:ext uri="{BB962C8B-B14F-4D97-AF65-F5344CB8AC3E}">
        <p14:creationId xmlns:p14="http://schemas.microsoft.com/office/powerpoint/2010/main" val="2616828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0BB33-7B49-7C8E-B973-71C316DD367E}"/>
              </a:ext>
            </a:extLst>
          </p:cNvPr>
          <p:cNvSpPr>
            <a:spLocks noGrp="1"/>
          </p:cNvSpPr>
          <p:nvPr>
            <p:ph type="title"/>
          </p:nvPr>
        </p:nvSpPr>
        <p:spPr/>
        <p:txBody>
          <a:bodyPr/>
          <a:lstStyle/>
          <a:p>
            <a:r>
              <a:rPr lang="en-US" dirty="0"/>
              <a:t>Inactivated / killed vaccines</a:t>
            </a:r>
          </a:p>
        </p:txBody>
      </p:sp>
      <p:sp>
        <p:nvSpPr>
          <p:cNvPr id="3" name="Content Placeholder 2">
            <a:extLst>
              <a:ext uri="{FF2B5EF4-FFF2-40B4-BE49-F238E27FC236}">
                <a16:creationId xmlns:a16="http://schemas.microsoft.com/office/drawing/2014/main" id="{9FBA52A7-D763-7153-204F-45D26B48E89E}"/>
              </a:ext>
            </a:extLst>
          </p:cNvPr>
          <p:cNvSpPr>
            <a:spLocks noGrp="1"/>
          </p:cNvSpPr>
          <p:nvPr>
            <p:ph idx="1"/>
          </p:nvPr>
        </p:nvSpPr>
        <p:spPr/>
        <p:txBody>
          <a:bodyPr>
            <a:normAutofit fontScale="85000" lnSpcReduction="10000"/>
          </a:bodyPr>
          <a:lstStyle/>
          <a:p>
            <a:r>
              <a:rPr lang="en-US" dirty="0"/>
              <a:t>Inactivated vaccines are produced by growing virus or bacteria in culture media and then inactivating them with heat or chemicals (usually formalin). </a:t>
            </a:r>
          </a:p>
          <a:p>
            <a:r>
              <a:rPr lang="en-US" dirty="0"/>
              <a:t>They are usually safe but generally, less efficacious than live vaccines. For example,</a:t>
            </a:r>
          </a:p>
          <a:p>
            <a:pPr lvl="1"/>
            <a:r>
              <a:rPr lang="en-US" dirty="0"/>
              <a:t>Cholera vaccine offers only 50 per cent protection. </a:t>
            </a:r>
          </a:p>
          <a:p>
            <a:pPr lvl="1"/>
            <a:r>
              <a:rPr lang="en-US" dirty="0"/>
              <a:t>The efficacy of 3 doses of pertussis vaccine is about 80 per cent in the first three years, and almost “nil” 12 years after immunization. </a:t>
            </a:r>
          </a:p>
          <a:p>
            <a:r>
              <a:rPr lang="en-US" dirty="0"/>
              <a:t>Killed vaccines usually require a primary series of 2 or 3 doses of vaccine to produce an adequate antibody response, and in most cases “booster” injections are required.</a:t>
            </a:r>
          </a:p>
          <a:p>
            <a:r>
              <a:rPr lang="en-US" dirty="0"/>
              <a:t>Killed vaccines are usually administered by subcutaneous or intramuscular route.</a:t>
            </a:r>
          </a:p>
          <a:p>
            <a:r>
              <a:rPr lang="en-US" dirty="0"/>
              <a:t>The only absolute contraindication to their administration is a severe local or general reaction to a previous dose.</a:t>
            </a:r>
          </a:p>
        </p:txBody>
      </p:sp>
    </p:spTree>
    <p:extLst>
      <p:ext uri="{BB962C8B-B14F-4D97-AF65-F5344CB8AC3E}">
        <p14:creationId xmlns:p14="http://schemas.microsoft.com/office/powerpoint/2010/main" val="1179602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20BB33-7B49-7C8E-B973-71C316DD367E}"/>
              </a:ext>
            </a:extLst>
          </p:cNvPr>
          <p:cNvSpPr>
            <a:spLocks noGrp="1"/>
          </p:cNvSpPr>
          <p:nvPr>
            <p:ph type="title"/>
          </p:nvPr>
        </p:nvSpPr>
        <p:spPr>
          <a:xfrm>
            <a:off x="573619" y="100938"/>
            <a:ext cx="7335941" cy="798222"/>
          </a:xfrm>
        </p:spPr>
        <p:txBody>
          <a:bodyPr vert="horz" lIns="91440" tIns="45720" rIns="91440" bIns="45720" rtlCol="0" anchor="t">
            <a:normAutofit/>
          </a:bodyPr>
          <a:lstStyle/>
          <a:p>
            <a:r>
              <a:rPr lang="en-US" sz="4400" dirty="0"/>
              <a:t>Inactivated / killed vaccines</a:t>
            </a:r>
          </a:p>
        </p:txBody>
      </p:sp>
      <p:pic>
        <p:nvPicPr>
          <p:cNvPr id="5" name="Picture 4">
            <a:extLst>
              <a:ext uri="{FF2B5EF4-FFF2-40B4-BE49-F238E27FC236}">
                <a16:creationId xmlns:a16="http://schemas.microsoft.com/office/drawing/2014/main" id="{51D1EBA0-538D-6613-89A9-5204528706A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2080485" y="899160"/>
            <a:ext cx="6402694" cy="4818027"/>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8985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0BB33-7B49-7C8E-B973-71C316DD367E}"/>
              </a:ext>
            </a:extLst>
          </p:cNvPr>
          <p:cNvSpPr>
            <a:spLocks noGrp="1"/>
          </p:cNvSpPr>
          <p:nvPr>
            <p:ph type="title"/>
          </p:nvPr>
        </p:nvSpPr>
        <p:spPr/>
        <p:txBody>
          <a:bodyPr/>
          <a:lstStyle/>
          <a:p>
            <a:r>
              <a:rPr lang="en-US" dirty="0"/>
              <a:t>Inactivated / killed vaccines</a:t>
            </a:r>
          </a:p>
        </p:txBody>
      </p:sp>
      <p:sp>
        <p:nvSpPr>
          <p:cNvPr id="3" name="Content Placeholder 2">
            <a:extLst>
              <a:ext uri="{FF2B5EF4-FFF2-40B4-BE49-F238E27FC236}">
                <a16:creationId xmlns:a16="http://schemas.microsoft.com/office/drawing/2014/main" id="{9FBA52A7-D763-7153-204F-45D26B48E89E}"/>
              </a:ext>
            </a:extLst>
          </p:cNvPr>
          <p:cNvSpPr>
            <a:spLocks noGrp="1"/>
          </p:cNvSpPr>
          <p:nvPr>
            <p:ph idx="1"/>
          </p:nvPr>
        </p:nvSpPr>
        <p:spPr>
          <a:xfrm>
            <a:off x="640080" y="2026920"/>
            <a:ext cx="10890928" cy="4617720"/>
          </a:xfrm>
        </p:spPr>
        <p:txBody>
          <a:bodyPr numCol="2">
            <a:normAutofit/>
          </a:bodyPr>
          <a:lstStyle/>
          <a:p>
            <a:pPr algn="l"/>
            <a:r>
              <a:rPr lang="en-US" sz="3200" b="0" i="0" u="none" strike="noStrike" baseline="0" dirty="0">
                <a:latin typeface="Times New Roman" panose="02020603050405020304" pitchFamily="18" charset="0"/>
              </a:rPr>
              <a:t>Typhoid</a:t>
            </a:r>
          </a:p>
          <a:p>
            <a:pPr algn="l"/>
            <a:r>
              <a:rPr lang="en-US" sz="3200" b="0" i="0" u="none" strike="noStrike" baseline="0" dirty="0">
                <a:latin typeface="Times New Roman" panose="02020603050405020304" pitchFamily="18" charset="0"/>
              </a:rPr>
              <a:t>Cholera</a:t>
            </a:r>
          </a:p>
          <a:p>
            <a:pPr algn="l"/>
            <a:r>
              <a:rPr lang="en-US" sz="3200" b="0" i="0" u="none" strike="noStrike" baseline="0" dirty="0">
                <a:latin typeface="Times New Roman" panose="02020603050405020304" pitchFamily="18" charset="0"/>
              </a:rPr>
              <a:t>Plague</a:t>
            </a:r>
          </a:p>
          <a:p>
            <a:pPr algn="l"/>
            <a:r>
              <a:rPr lang="en-US" sz="3200" b="0" i="0" u="none" strike="noStrike" baseline="0" dirty="0">
                <a:latin typeface="Times New Roman" panose="02020603050405020304" pitchFamily="18" charset="0"/>
              </a:rPr>
              <a:t>Pertussis</a:t>
            </a:r>
          </a:p>
          <a:p>
            <a:pPr algn="l"/>
            <a:r>
              <a:rPr lang="en-US" sz="3200" b="0" i="0" u="none" strike="noStrike" baseline="0" dirty="0">
                <a:latin typeface="Times New Roman" panose="02020603050405020304" pitchFamily="18" charset="0"/>
              </a:rPr>
              <a:t>Influenza</a:t>
            </a:r>
          </a:p>
          <a:p>
            <a:pPr algn="l"/>
            <a:r>
              <a:rPr lang="en-US" sz="3200" b="0" i="0" u="none" strike="noStrike" baseline="0" dirty="0">
                <a:latin typeface="Times New Roman" panose="02020603050405020304" pitchFamily="18" charset="0"/>
              </a:rPr>
              <a:t>Typhus</a:t>
            </a:r>
          </a:p>
          <a:p>
            <a:pPr algn="l"/>
            <a:r>
              <a:rPr lang="en-US" sz="3200" b="0" i="0" u="none" strike="noStrike" baseline="0" dirty="0">
                <a:latin typeface="Times New Roman" panose="02020603050405020304" pitchFamily="18" charset="0"/>
              </a:rPr>
              <a:t>Polio (IPV)</a:t>
            </a:r>
          </a:p>
          <a:p>
            <a:pPr algn="l"/>
            <a:r>
              <a:rPr lang="en-US" sz="3200" b="0" i="0" u="none" strike="noStrike" baseline="0" dirty="0">
                <a:latin typeface="Times New Roman" panose="02020603050405020304" pitchFamily="18" charset="0"/>
              </a:rPr>
              <a:t>Rabies</a:t>
            </a:r>
          </a:p>
          <a:p>
            <a:pPr algn="l"/>
            <a:r>
              <a:rPr lang="en-US" sz="3200" b="0" i="0" u="none" strike="noStrike" baseline="0" dirty="0">
                <a:latin typeface="Times New Roman" panose="02020603050405020304" pitchFamily="18" charset="0"/>
              </a:rPr>
              <a:t>JE</a:t>
            </a:r>
          </a:p>
          <a:p>
            <a:pPr algn="l"/>
            <a:r>
              <a:rPr lang="en-US" sz="3200" b="0" i="0" u="none" strike="noStrike" baseline="0" dirty="0">
                <a:latin typeface="Times New Roman" panose="02020603050405020304" pitchFamily="18" charset="0"/>
              </a:rPr>
              <a:t>TBE</a:t>
            </a:r>
          </a:p>
          <a:p>
            <a:pPr algn="l"/>
            <a:r>
              <a:rPr lang="en-US" sz="3200" b="0" i="0" u="none" strike="noStrike" baseline="0" dirty="0">
                <a:latin typeface="Times New Roman" panose="02020603050405020304" pitchFamily="18" charset="0"/>
              </a:rPr>
              <a:t>HAV</a:t>
            </a:r>
          </a:p>
          <a:p>
            <a:pPr algn="l"/>
            <a:r>
              <a:rPr lang="en-US" sz="3200" b="0" i="0" u="none" strike="noStrike" baseline="0" dirty="0">
                <a:latin typeface="Times New Roman" panose="02020603050405020304" pitchFamily="18" charset="0"/>
              </a:rPr>
              <a:t>COVID-19</a:t>
            </a:r>
            <a:endParaRPr lang="en-US" sz="4000" dirty="0"/>
          </a:p>
        </p:txBody>
      </p:sp>
    </p:spTree>
    <p:extLst>
      <p:ext uri="{BB962C8B-B14F-4D97-AF65-F5344CB8AC3E}">
        <p14:creationId xmlns:p14="http://schemas.microsoft.com/office/powerpoint/2010/main" val="109889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1CAF6-224E-9111-C5CD-28C9D88B46D9}"/>
              </a:ext>
            </a:extLst>
          </p:cNvPr>
          <p:cNvSpPr>
            <a:spLocks noGrp="1"/>
          </p:cNvSpPr>
          <p:nvPr>
            <p:ph type="title"/>
          </p:nvPr>
        </p:nvSpPr>
        <p:spPr/>
        <p:txBody>
          <a:bodyPr/>
          <a:lstStyle/>
          <a:p>
            <a:r>
              <a:rPr lang="en-US" dirty="0"/>
              <a:t>Subunit</a:t>
            </a:r>
          </a:p>
        </p:txBody>
      </p:sp>
      <p:sp>
        <p:nvSpPr>
          <p:cNvPr id="3" name="Content Placeholder 2">
            <a:extLst>
              <a:ext uri="{FF2B5EF4-FFF2-40B4-BE49-F238E27FC236}">
                <a16:creationId xmlns:a16="http://schemas.microsoft.com/office/drawing/2014/main" id="{412B1A68-5D86-AA5C-4888-06FBBF04B36B}"/>
              </a:ext>
            </a:extLst>
          </p:cNvPr>
          <p:cNvSpPr>
            <a:spLocks noGrp="1"/>
          </p:cNvSpPr>
          <p:nvPr>
            <p:ph idx="1"/>
          </p:nvPr>
        </p:nvSpPr>
        <p:spPr>
          <a:xfrm>
            <a:off x="640080" y="2133600"/>
            <a:ext cx="10890928" cy="4066032"/>
          </a:xfrm>
        </p:spPr>
        <p:txBody>
          <a:bodyPr numCol="2">
            <a:normAutofit/>
          </a:bodyPr>
          <a:lstStyle/>
          <a:p>
            <a:r>
              <a:rPr lang="en-US" sz="2800" dirty="0"/>
              <a:t>Toxoid</a:t>
            </a:r>
          </a:p>
          <a:p>
            <a:pPr lvl="1"/>
            <a:r>
              <a:rPr lang="en-US" sz="2400" dirty="0"/>
              <a:t>Exotoxins</a:t>
            </a:r>
          </a:p>
          <a:p>
            <a:pPr lvl="1"/>
            <a:r>
              <a:rPr lang="en-US" sz="2400" dirty="0"/>
              <a:t>Diphtheria, Tetanus</a:t>
            </a:r>
          </a:p>
          <a:p>
            <a:r>
              <a:rPr lang="en-US" sz="2800" dirty="0"/>
              <a:t>Protein</a:t>
            </a:r>
          </a:p>
          <a:p>
            <a:pPr lvl="1"/>
            <a:r>
              <a:rPr lang="en-US" sz="2400" dirty="0"/>
              <a:t>Single / combination of protein</a:t>
            </a:r>
          </a:p>
          <a:p>
            <a:pPr lvl="1"/>
            <a:r>
              <a:rPr lang="en-US" sz="2400" dirty="0"/>
              <a:t>Acellular pertussis, influenza vaccine (hemagglutinin and neuraminidase</a:t>
            </a:r>
          </a:p>
          <a:p>
            <a:r>
              <a:rPr lang="en-US" sz="2800" dirty="0"/>
              <a:t>Recombinant protein</a:t>
            </a:r>
          </a:p>
          <a:p>
            <a:pPr lvl="1"/>
            <a:r>
              <a:rPr lang="en-US" sz="2400" dirty="0"/>
              <a:t>HBV</a:t>
            </a:r>
          </a:p>
          <a:p>
            <a:pPr lvl="1"/>
            <a:r>
              <a:rPr lang="en-US" sz="2400" dirty="0"/>
              <a:t>Lyme disease</a:t>
            </a:r>
          </a:p>
          <a:p>
            <a:pPr lvl="1"/>
            <a:r>
              <a:rPr lang="en-US" sz="2400" dirty="0"/>
              <a:t>Cholera toxin B</a:t>
            </a:r>
          </a:p>
          <a:p>
            <a:pPr lvl="1"/>
            <a:r>
              <a:rPr lang="en-US" sz="2400" dirty="0"/>
              <a:t>HPV</a:t>
            </a:r>
          </a:p>
          <a:p>
            <a:pPr lvl="1"/>
            <a:r>
              <a:rPr lang="en-US" sz="2400" dirty="0"/>
              <a:t>COV1D-19</a:t>
            </a:r>
          </a:p>
          <a:p>
            <a:pPr lvl="1"/>
            <a:endParaRPr lang="en-US" sz="2400" dirty="0"/>
          </a:p>
        </p:txBody>
      </p:sp>
    </p:spTree>
    <p:extLst>
      <p:ext uri="{BB962C8B-B14F-4D97-AF65-F5344CB8AC3E}">
        <p14:creationId xmlns:p14="http://schemas.microsoft.com/office/powerpoint/2010/main" val="3344659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1CAF6-224E-9111-C5CD-28C9D88B46D9}"/>
              </a:ext>
            </a:extLst>
          </p:cNvPr>
          <p:cNvSpPr>
            <a:spLocks noGrp="1"/>
          </p:cNvSpPr>
          <p:nvPr>
            <p:ph type="title"/>
          </p:nvPr>
        </p:nvSpPr>
        <p:spPr/>
        <p:txBody>
          <a:bodyPr/>
          <a:lstStyle/>
          <a:p>
            <a:r>
              <a:rPr lang="en-US" dirty="0"/>
              <a:t>Subunit</a:t>
            </a:r>
          </a:p>
        </p:txBody>
      </p:sp>
      <p:sp>
        <p:nvSpPr>
          <p:cNvPr id="3" name="Content Placeholder 2">
            <a:extLst>
              <a:ext uri="{FF2B5EF4-FFF2-40B4-BE49-F238E27FC236}">
                <a16:creationId xmlns:a16="http://schemas.microsoft.com/office/drawing/2014/main" id="{412B1A68-5D86-AA5C-4888-06FBBF04B36B}"/>
              </a:ext>
            </a:extLst>
          </p:cNvPr>
          <p:cNvSpPr>
            <a:spLocks noGrp="1"/>
          </p:cNvSpPr>
          <p:nvPr>
            <p:ph idx="1"/>
          </p:nvPr>
        </p:nvSpPr>
        <p:spPr>
          <a:xfrm>
            <a:off x="640080" y="2133600"/>
            <a:ext cx="10890928" cy="4066032"/>
          </a:xfrm>
        </p:spPr>
        <p:txBody>
          <a:bodyPr numCol="2">
            <a:normAutofit/>
          </a:bodyPr>
          <a:lstStyle/>
          <a:p>
            <a:r>
              <a:rPr lang="en-US" sz="3600" dirty="0"/>
              <a:t>Polysaccharide</a:t>
            </a:r>
          </a:p>
          <a:p>
            <a:pPr lvl="1"/>
            <a:r>
              <a:rPr lang="en-US" sz="2800" dirty="0"/>
              <a:t>Capsular shell</a:t>
            </a:r>
          </a:p>
          <a:p>
            <a:pPr lvl="1"/>
            <a:r>
              <a:rPr lang="en-US" sz="2800" dirty="0"/>
              <a:t>Complement-mediated killing and opsonophagocytic</a:t>
            </a:r>
          </a:p>
          <a:p>
            <a:pPr lvl="1"/>
            <a:r>
              <a:rPr lang="en-US" sz="2800" dirty="0"/>
              <a:t>Pneumococcus, Meningococcus, Hib, Typhoid (Vi)</a:t>
            </a:r>
          </a:p>
          <a:p>
            <a:r>
              <a:rPr lang="en-US" sz="3600" dirty="0"/>
              <a:t>Conjugated</a:t>
            </a:r>
          </a:p>
          <a:p>
            <a:pPr lvl="2"/>
            <a:r>
              <a:rPr lang="en-US" sz="2800" dirty="0"/>
              <a:t>Children under two years of age do not respond well to antigens, such as polysaccharides.</a:t>
            </a:r>
          </a:p>
          <a:p>
            <a:pPr lvl="2"/>
            <a:r>
              <a:rPr lang="en-US" sz="2800" dirty="0"/>
              <a:t>Hib, Pneumococcus, </a:t>
            </a:r>
            <a:r>
              <a:rPr lang="en-US" sz="2800" dirty="0" err="1"/>
              <a:t>MenACWY</a:t>
            </a:r>
            <a:endParaRPr lang="en-US" sz="2800" dirty="0"/>
          </a:p>
          <a:p>
            <a:pPr lvl="1"/>
            <a:endParaRPr lang="en-US" sz="3200" dirty="0"/>
          </a:p>
        </p:txBody>
      </p:sp>
    </p:spTree>
    <p:extLst>
      <p:ext uri="{BB962C8B-B14F-4D97-AF65-F5344CB8AC3E}">
        <p14:creationId xmlns:p14="http://schemas.microsoft.com/office/powerpoint/2010/main" val="1132042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A70777-9F74-A9B6-8AA3-A9CF479167BF}"/>
              </a:ext>
            </a:extLst>
          </p:cNvPr>
          <p:cNvSpPr>
            <a:spLocks noGrp="1"/>
          </p:cNvSpPr>
          <p:nvPr>
            <p:ph type="title"/>
          </p:nvPr>
        </p:nvSpPr>
        <p:spPr>
          <a:xfrm>
            <a:off x="640080" y="1371600"/>
            <a:ext cx="5737859" cy="1097280"/>
          </a:xfrm>
        </p:spPr>
        <p:txBody>
          <a:bodyPr>
            <a:normAutofit/>
          </a:bodyPr>
          <a:lstStyle/>
          <a:p>
            <a:pPr>
              <a:lnSpc>
                <a:spcPct val="90000"/>
              </a:lnSpc>
            </a:pPr>
            <a:r>
              <a:rPr lang="en-US" sz="3400" dirty="0"/>
              <a:t>Other components - adjuvants</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3FD27D3-1915-9B70-6520-9E13F7A103F7}"/>
              </a:ext>
            </a:extLst>
          </p:cNvPr>
          <p:cNvSpPr>
            <a:spLocks noGrp="1"/>
          </p:cNvSpPr>
          <p:nvPr>
            <p:ph idx="1"/>
          </p:nvPr>
        </p:nvSpPr>
        <p:spPr>
          <a:xfrm>
            <a:off x="4676503" y="635390"/>
            <a:ext cx="7157357" cy="2604199"/>
          </a:xfrm>
        </p:spPr>
        <p:txBody>
          <a:bodyPr>
            <a:normAutofit/>
          </a:bodyPr>
          <a:lstStyle/>
          <a:p>
            <a:pPr lvl="1"/>
            <a:r>
              <a:rPr lang="en-US" sz="1700" dirty="0"/>
              <a:t>To enhance the immune response by degree and/or duration, making it possible to reduce the amount of immunogen per dose or the total number of doses needed to achieve immunity. </a:t>
            </a:r>
          </a:p>
          <a:p>
            <a:pPr lvl="1"/>
            <a:r>
              <a:rPr lang="en-US" sz="1700" dirty="0"/>
              <a:t>Rarely, they may cause injection site reactions, including subcutaneous nodules, sterile abscess, granulomatous inflammation or contact hypersensitivity</a:t>
            </a:r>
          </a:p>
        </p:txBody>
      </p:sp>
      <p:pic>
        <p:nvPicPr>
          <p:cNvPr id="5" name="Picture 4">
            <a:extLst>
              <a:ext uri="{FF2B5EF4-FFF2-40B4-BE49-F238E27FC236}">
                <a16:creationId xmlns:a16="http://schemas.microsoft.com/office/drawing/2014/main" id="{664CE03C-3D86-6B2F-5BF0-5FD8D7CE311F}"/>
              </a:ext>
            </a:extLst>
          </p:cNvPr>
          <p:cNvPicPr>
            <a:picLocks noChangeAspect="1"/>
          </p:cNvPicPr>
          <p:nvPr/>
        </p:nvPicPr>
        <p:blipFill>
          <a:blip r:embed="rId2"/>
          <a:stretch>
            <a:fillRect/>
          </a:stretch>
        </p:blipFill>
        <p:spPr>
          <a:xfrm>
            <a:off x="640081" y="3250756"/>
            <a:ext cx="11343464" cy="3176170"/>
          </a:xfrm>
          <a:prstGeom prst="rect">
            <a:avLst/>
          </a:prstGeom>
        </p:spPr>
      </p:pic>
    </p:spTree>
    <p:extLst>
      <p:ext uri="{BB962C8B-B14F-4D97-AF65-F5344CB8AC3E}">
        <p14:creationId xmlns:p14="http://schemas.microsoft.com/office/powerpoint/2010/main" val="3867428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A70777-9F74-A9B6-8AA3-A9CF479167BF}"/>
              </a:ext>
            </a:extLst>
          </p:cNvPr>
          <p:cNvSpPr>
            <a:spLocks noGrp="1"/>
          </p:cNvSpPr>
          <p:nvPr>
            <p:ph type="title"/>
          </p:nvPr>
        </p:nvSpPr>
        <p:spPr>
          <a:xfrm>
            <a:off x="634546" y="200526"/>
            <a:ext cx="5737859" cy="1097280"/>
          </a:xfrm>
        </p:spPr>
        <p:txBody>
          <a:bodyPr>
            <a:normAutofit/>
          </a:bodyPr>
          <a:lstStyle/>
          <a:p>
            <a:pPr>
              <a:lnSpc>
                <a:spcPct val="90000"/>
              </a:lnSpc>
            </a:pPr>
            <a:r>
              <a:rPr lang="en-US" sz="3400" dirty="0"/>
              <a:t>Other components</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3FD27D3-1915-9B70-6520-9E13F7A103F7}"/>
              </a:ext>
            </a:extLst>
          </p:cNvPr>
          <p:cNvSpPr>
            <a:spLocks noGrp="1"/>
          </p:cNvSpPr>
          <p:nvPr>
            <p:ph idx="1"/>
          </p:nvPr>
        </p:nvSpPr>
        <p:spPr>
          <a:xfrm>
            <a:off x="713232" y="1297806"/>
            <a:ext cx="11318347" cy="5199247"/>
          </a:xfrm>
        </p:spPr>
        <p:txBody>
          <a:bodyPr>
            <a:normAutofit/>
          </a:bodyPr>
          <a:lstStyle/>
          <a:p>
            <a:pPr lvl="1"/>
            <a:r>
              <a:rPr lang="en-US" sz="2000" dirty="0"/>
              <a:t>Antibiotics</a:t>
            </a:r>
          </a:p>
          <a:p>
            <a:pPr lvl="2"/>
            <a:r>
              <a:rPr lang="en-US" sz="1800" dirty="0"/>
              <a:t>Antibiotics are used during the manufacturing phase to prevent bacterial contamination of the tissue culture cells in which the viruses are grown. For example, </a:t>
            </a:r>
            <a:r>
              <a:rPr lang="en-US" sz="1800" dirty="0">
                <a:highlight>
                  <a:srgbClr val="FFFF00"/>
                </a:highlight>
              </a:rPr>
              <a:t>MMR vaccine and IPV </a:t>
            </a:r>
            <a:r>
              <a:rPr lang="en-US" sz="1800" dirty="0"/>
              <a:t>each contains less than 25 micrograms of </a:t>
            </a:r>
            <a:r>
              <a:rPr lang="en-US" sz="1800" dirty="0">
                <a:highlight>
                  <a:srgbClr val="FFFF00"/>
                </a:highlight>
              </a:rPr>
              <a:t>neomycin per dose </a:t>
            </a:r>
            <a:r>
              <a:rPr lang="en-US" sz="1800" dirty="0"/>
              <a:t>(less than 0.000025g).</a:t>
            </a:r>
          </a:p>
          <a:p>
            <a:pPr lvl="1"/>
            <a:r>
              <a:rPr lang="en-US" sz="2000" dirty="0"/>
              <a:t>Preservatives</a:t>
            </a:r>
          </a:p>
          <a:p>
            <a:pPr lvl="2"/>
            <a:r>
              <a:rPr lang="en-US" sz="1800" dirty="0"/>
              <a:t>These are chemicals (e.g</a:t>
            </a:r>
            <a:r>
              <a:rPr lang="en-US" sz="1800" dirty="0">
                <a:highlight>
                  <a:srgbClr val="FFFF00"/>
                </a:highlight>
              </a:rPr>
              <a:t>. thiomersal, formaldehyde</a:t>
            </a:r>
            <a:r>
              <a:rPr lang="en-US" sz="1800" dirty="0"/>
              <a:t>) added to killed or subunit vaccines in order to inactivate viruses, detoxify bacterial toxins, and to prevent serious secondary infections as a result of bacterial or fungal contamination</a:t>
            </a:r>
          </a:p>
          <a:p>
            <a:pPr lvl="1"/>
            <a:r>
              <a:rPr lang="en-US" sz="2000" dirty="0"/>
              <a:t>Stabilizers</a:t>
            </a:r>
          </a:p>
          <a:p>
            <a:pPr lvl="2"/>
            <a:r>
              <a:rPr lang="en-US" sz="1800" dirty="0"/>
              <a:t>To </a:t>
            </a:r>
            <a:r>
              <a:rPr lang="en-US" sz="1800" dirty="0">
                <a:highlight>
                  <a:srgbClr val="FFFF00"/>
                </a:highlight>
              </a:rPr>
              <a:t>confirm product quality or stability, </a:t>
            </a:r>
            <a:r>
              <a:rPr lang="en-US" sz="1800" dirty="0"/>
              <a:t>compounds may be added to vaccines for a variety of manufacture-related issues: controlling acidity (pH); stabilizing antigens through necessary steps in the manufacturing process, such as freeze drying; and preventing antigens from adhering to the sides of glass vials with a resultant loss in immunogenicity. Examples of such additives </a:t>
            </a:r>
            <a:r>
              <a:rPr lang="en-US" sz="1800" dirty="0">
                <a:highlight>
                  <a:srgbClr val="FFFF00"/>
                </a:highlight>
              </a:rPr>
              <a:t>include potassium or sodium salts, lactose, human serum albumin and a variety of animal proteins, such as gelatine and bovine serum albumin</a:t>
            </a:r>
          </a:p>
        </p:txBody>
      </p:sp>
    </p:spTree>
    <p:extLst>
      <p:ext uri="{BB962C8B-B14F-4D97-AF65-F5344CB8AC3E}">
        <p14:creationId xmlns:p14="http://schemas.microsoft.com/office/powerpoint/2010/main" val="2987724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D341-B239-38CE-3502-FCE7EB0143F6}"/>
              </a:ext>
            </a:extLst>
          </p:cNvPr>
          <p:cNvSpPr>
            <a:spLocks noGrp="1"/>
          </p:cNvSpPr>
          <p:nvPr>
            <p:ph type="title"/>
          </p:nvPr>
        </p:nvSpPr>
        <p:spPr/>
        <p:txBody>
          <a:bodyPr/>
          <a:lstStyle/>
          <a:p>
            <a:r>
              <a:rPr lang="en-US" dirty="0"/>
              <a:t>Immunoglobulins</a:t>
            </a:r>
          </a:p>
        </p:txBody>
      </p:sp>
      <p:sp>
        <p:nvSpPr>
          <p:cNvPr id="3" name="Content Placeholder 2">
            <a:extLst>
              <a:ext uri="{FF2B5EF4-FFF2-40B4-BE49-F238E27FC236}">
                <a16:creationId xmlns:a16="http://schemas.microsoft.com/office/drawing/2014/main" id="{B7B414BF-AA4E-0454-7BCB-E12121898B9A}"/>
              </a:ext>
            </a:extLst>
          </p:cNvPr>
          <p:cNvSpPr>
            <a:spLocks noGrp="1"/>
          </p:cNvSpPr>
          <p:nvPr>
            <p:ph idx="1"/>
          </p:nvPr>
        </p:nvSpPr>
        <p:spPr/>
        <p:txBody>
          <a:bodyPr>
            <a:normAutofit fontScale="92500" lnSpcReduction="10000"/>
          </a:bodyPr>
          <a:lstStyle/>
          <a:p>
            <a:r>
              <a:rPr lang="en-US" sz="2400" dirty="0"/>
              <a:t>Hepatitis A, C and B</a:t>
            </a:r>
          </a:p>
          <a:p>
            <a:r>
              <a:rPr lang="en-US" sz="2400" dirty="0"/>
              <a:t>Rubella</a:t>
            </a:r>
          </a:p>
          <a:p>
            <a:r>
              <a:rPr lang="en-US" sz="2400" dirty="0"/>
              <a:t>Varicella zoster</a:t>
            </a:r>
          </a:p>
          <a:p>
            <a:r>
              <a:rPr lang="en-US" sz="2400" dirty="0"/>
              <a:t>Measles</a:t>
            </a:r>
          </a:p>
          <a:p>
            <a:r>
              <a:rPr lang="en-US" sz="2400" dirty="0"/>
              <a:t>Rabies</a:t>
            </a:r>
          </a:p>
          <a:p>
            <a:r>
              <a:rPr lang="en-US" sz="2400" dirty="0"/>
              <a:t>Tetanus</a:t>
            </a:r>
          </a:p>
          <a:p>
            <a:r>
              <a:rPr lang="en-US" sz="2400" dirty="0"/>
              <a:t>Rh Isoimmunization</a:t>
            </a:r>
          </a:p>
          <a:p>
            <a:endParaRPr lang="en-US" sz="2400" dirty="0"/>
          </a:p>
        </p:txBody>
      </p:sp>
    </p:spTree>
    <p:extLst>
      <p:ext uri="{BB962C8B-B14F-4D97-AF65-F5344CB8AC3E}">
        <p14:creationId xmlns:p14="http://schemas.microsoft.com/office/powerpoint/2010/main" val="1439004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8015C-F2A0-C0E1-98D4-B1D572949BB9}"/>
              </a:ext>
            </a:extLst>
          </p:cNvPr>
          <p:cNvSpPr>
            <a:spLocks noGrp="1"/>
          </p:cNvSpPr>
          <p:nvPr>
            <p:ph type="title"/>
          </p:nvPr>
        </p:nvSpPr>
        <p:spPr/>
        <p:txBody>
          <a:bodyPr/>
          <a:lstStyle/>
          <a:p>
            <a:r>
              <a:rPr lang="en-US" dirty="0"/>
              <a:t>Antisera</a:t>
            </a:r>
          </a:p>
        </p:txBody>
      </p:sp>
      <p:sp>
        <p:nvSpPr>
          <p:cNvPr id="3" name="Content Placeholder 2">
            <a:extLst>
              <a:ext uri="{FF2B5EF4-FFF2-40B4-BE49-F238E27FC236}">
                <a16:creationId xmlns:a16="http://schemas.microsoft.com/office/drawing/2014/main" id="{94A430C8-00AB-D6C0-2F29-3BA5C4BA124E}"/>
              </a:ext>
            </a:extLst>
          </p:cNvPr>
          <p:cNvSpPr>
            <a:spLocks noGrp="1"/>
          </p:cNvSpPr>
          <p:nvPr>
            <p:ph idx="1"/>
          </p:nvPr>
        </p:nvSpPr>
        <p:spPr/>
        <p:txBody>
          <a:bodyPr/>
          <a:lstStyle/>
          <a:p>
            <a:r>
              <a:rPr lang="en-US" dirty="0" err="1"/>
              <a:t>Diptheria</a:t>
            </a:r>
            <a:endParaRPr lang="en-US" dirty="0"/>
          </a:p>
          <a:p>
            <a:r>
              <a:rPr lang="en-US" dirty="0"/>
              <a:t>Tetanus</a:t>
            </a:r>
          </a:p>
          <a:p>
            <a:r>
              <a:rPr lang="en-US" dirty="0"/>
              <a:t>Gas gangrene – </a:t>
            </a:r>
            <a:r>
              <a:rPr lang="en-US" i="1" dirty="0"/>
              <a:t>Cl. </a:t>
            </a:r>
            <a:r>
              <a:rPr lang="en-US" i="1" dirty="0" err="1"/>
              <a:t>Perfringes</a:t>
            </a:r>
            <a:endParaRPr lang="en-US" i="1" dirty="0"/>
          </a:p>
          <a:p>
            <a:r>
              <a:rPr lang="en-US" dirty="0"/>
              <a:t>Rabies</a:t>
            </a:r>
          </a:p>
          <a:p>
            <a:r>
              <a:rPr lang="en-US" dirty="0"/>
              <a:t>Botulism</a:t>
            </a:r>
          </a:p>
          <a:p>
            <a:endParaRPr lang="en-US" dirty="0"/>
          </a:p>
        </p:txBody>
      </p:sp>
    </p:spTree>
    <p:extLst>
      <p:ext uri="{BB962C8B-B14F-4D97-AF65-F5344CB8AC3E}">
        <p14:creationId xmlns:p14="http://schemas.microsoft.com/office/powerpoint/2010/main" val="36149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D385C-42E0-9CE1-4A24-43AA0F50403A}"/>
              </a:ext>
            </a:extLst>
          </p:cNvPr>
          <p:cNvSpPr>
            <a:spLocks noGrp="1"/>
          </p:cNvSpPr>
          <p:nvPr>
            <p:ph type="title"/>
          </p:nvPr>
        </p:nvSpPr>
        <p:spPr/>
        <p:txBody>
          <a:bodyPr/>
          <a:lstStyle/>
          <a:p>
            <a:r>
              <a:rPr lang="en-US" dirty="0"/>
              <a:t>Cold chain</a:t>
            </a:r>
          </a:p>
        </p:txBody>
      </p:sp>
      <p:sp>
        <p:nvSpPr>
          <p:cNvPr id="3" name="Content Placeholder 2">
            <a:extLst>
              <a:ext uri="{FF2B5EF4-FFF2-40B4-BE49-F238E27FC236}">
                <a16:creationId xmlns:a16="http://schemas.microsoft.com/office/drawing/2014/main" id="{7B567A13-DEDF-5EC8-9238-BDC635D951FF}"/>
              </a:ext>
            </a:extLst>
          </p:cNvPr>
          <p:cNvSpPr>
            <a:spLocks noGrp="1"/>
          </p:cNvSpPr>
          <p:nvPr>
            <p:ph idx="1"/>
          </p:nvPr>
        </p:nvSpPr>
        <p:spPr/>
        <p:txBody>
          <a:bodyPr>
            <a:normAutofit/>
          </a:bodyPr>
          <a:lstStyle/>
          <a:p>
            <a:r>
              <a:rPr lang="en-US" dirty="0"/>
              <a:t>System of storage and transport of vaccines at low temperature from the manufacturer to the actual vaccination site. </a:t>
            </a:r>
          </a:p>
          <a:p>
            <a:r>
              <a:rPr lang="en-US" dirty="0"/>
              <a:t>The success of national immunization </a:t>
            </a:r>
            <a:r>
              <a:rPr lang="en-US" dirty="0" err="1"/>
              <a:t>programme</a:t>
            </a:r>
            <a:r>
              <a:rPr lang="en-US" dirty="0"/>
              <a:t> is highly dependent on supply chain system for delivery of vaccines and equipment, with a functional system that meets 6 rights of supply chain</a:t>
            </a:r>
          </a:p>
          <a:p>
            <a:r>
              <a:rPr lang="en-US" dirty="0"/>
              <a:t>-The </a:t>
            </a:r>
            <a:r>
              <a:rPr lang="en-US" dirty="0">
                <a:highlight>
                  <a:srgbClr val="FFFF00"/>
                </a:highlight>
              </a:rPr>
              <a:t>right vaccine </a:t>
            </a:r>
            <a:r>
              <a:rPr lang="en-US" dirty="0"/>
              <a:t>in the </a:t>
            </a:r>
            <a:r>
              <a:rPr lang="en-US" dirty="0">
                <a:highlight>
                  <a:srgbClr val="FFFF00"/>
                </a:highlight>
              </a:rPr>
              <a:t>right quantity </a:t>
            </a:r>
            <a:r>
              <a:rPr lang="en-US" dirty="0"/>
              <a:t>at the </a:t>
            </a:r>
            <a:r>
              <a:rPr lang="en-US" dirty="0">
                <a:highlight>
                  <a:srgbClr val="FFFF00"/>
                </a:highlight>
              </a:rPr>
              <a:t>right place </a:t>
            </a:r>
            <a:r>
              <a:rPr lang="en-US" dirty="0"/>
              <a:t>at the </a:t>
            </a:r>
            <a:r>
              <a:rPr lang="en-US" dirty="0">
                <a:highlight>
                  <a:srgbClr val="FFFF00"/>
                </a:highlight>
              </a:rPr>
              <a:t>right time </a:t>
            </a:r>
            <a:r>
              <a:rPr lang="en-US" dirty="0"/>
              <a:t>in the </a:t>
            </a:r>
            <a:r>
              <a:rPr lang="en-US" dirty="0">
                <a:highlight>
                  <a:srgbClr val="FFFF00"/>
                </a:highlight>
              </a:rPr>
              <a:t>right condition </a:t>
            </a:r>
            <a:r>
              <a:rPr lang="en-US" dirty="0"/>
              <a:t>(no temperature breaks in cold chain) and at </a:t>
            </a:r>
            <a:r>
              <a:rPr lang="en-US" dirty="0">
                <a:highlight>
                  <a:srgbClr val="FFFF00"/>
                </a:highlight>
              </a:rPr>
              <a:t>the right cost</a:t>
            </a:r>
          </a:p>
        </p:txBody>
      </p:sp>
    </p:spTree>
    <p:extLst>
      <p:ext uri="{BB962C8B-B14F-4D97-AF65-F5344CB8AC3E}">
        <p14:creationId xmlns:p14="http://schemas.microsoft.com/office/powerpoint/2010/main" val="624595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0653F-262F-44D0-D61A-4649AE0370AA}"/>
              </a:ext>
            </a:extLst>
          </p:cNvPr>
          <p:cNvSpPr>
            <a:spLocks noGrp="1"/>
          </p:cNvSpPr>
          <p:nvPr>
            <p:ph type="title"/>
          </p:nvPr>
        </p:nvSpPr>
        <p:spPr>
          <a:xfrm>
            <a:off x="466089" y="109728"/>
            <a:ext cx="10890929" cy="1097280"/>
          </a:xfrm>
        </p:spPr>
        <p:txBody>
          <a:bodyPr/>
          <a:lstStyle/>
          <a:p>
            <a:r>
              <a:rPr lang="en-US" dirty="0"/>
              <a:t>Sensitivity to heat</a:t>
            </a:r>
          </a:p>
        </p:txBody>
      </p:sp>
      <p:sp>
        <p:nvSpPr>
          <p:cNvPr id="3" name="Content Placeholder 2">
            <a:extLst>
              <a:ext uri="{FF2B5EF4-FFF2-40B4-BE49-F238E27FC236}">
                <a16:creationId xmlns:a16="http://schemas.microsoft.com/office/drawing/2014/main" id="{E12E5E7E-58A3-CA97-2AC6-AE6C13686105}"/>
              </a:ext>
            </a:extLst>
          </p:cNvPr>
          <p:cNvSpPr>
            <a:spLocks noGrp="1"/>
          </p:cNvSpPr>
          <p:nvPr>
            <p:ph idx="1"/>
          </p:nvPr>
        </p:nvSpPr>
        <p:spPr>
          <a:xfrm>
            <a:off x="292100" y="1207008"/>
            <a:ext cx="11238908" cy="4992624"/>
          </a:xfrm>
        </p:spPr>
        <p:txBody>
          <a:bodyPr numCol="2">
            <a:normAutofit/>
          </a:bodyPr>
          <a:lstStyle/>
          <a:p>
            <a:r>
              <a:rPr lang="en-US" sz="2400" dirty="0"/>
              <a:t>Group A to Group F </a:t>
            </a:r>
            <a:r>
              <a:rPr lang="en-US" sz="2400" dirty="0">
                <a:sym typeface="Wingdings" panose="05000000000000000000" pitchFamily="2" charset="2"/>
              </a:rPr>
              <a:t> most sensitive to least sensitive to heat</a:t>
            </a:r>
          </a:p>
          <a:p>
            <a:r>
              <a:rPr lang="en-US" sz="2400" dirty="0">
                <a:sym typeface="Wingdings" panose="05000000000000000000" pitchFamily="2" charset="2"/>
              </a:rPr>
              <a:t>Group A – OPV</a:t>
            </a:r>
          </a:p>
          <a:p>
            <a:r>
              <a:rPr lang="en-US" sz="2400" dirty="0">
                <a:sym typeface="Wingdings" panose="05000000000000000000" pitchFamily="2" charset="2"/>
              </a:rPr>
              <a:t>Group B – Influenza</a:t>
            </a:r>
          </a:p>
          <a:p>
            <a:r>
              <a:rPr lang="en-US" sz="2400" dirty="0">
                <a:sym typeface="Wingdings" panose="05000000000000000000" pitchFamily="2" charset="2"/>
              </a:rPr>
              <a:t>Group C - Inactivated poliovirus (IPV),  Japanese encephalitis (freeze-dried),  Measles or measles-rubella or measles-mumps-rubella (freeze-dried)</a:t>
            </a:r>
          </a:p>
          <a:p>
            <a:r>
              <a:rPr lang="en-US" sz="2400" dirty="0">
                <a:sym typeface="Wingdings" panose="05000000000000000000" pitchFamily="2" charset="2"/>
              </a:rPr>
              <a:t>Group D – Cholera,  DTaP-hepatitis B-Hib-IPV(hexavalent),  </a:t>
            </a:r>
            <a:r>
              <a:rPr lang="en-US" sz="2400" dirty="0" err="1">
                <a:sym typeface="Wingdings" panose="05000000000000000000" pitchFamily="2" charset="2"/>
              </a:rPr>
              <a:t>DTwP</a:t>
            </a:r>
            <a:r>
              <a:rPr lang="en-US" sz="2400" dirty="0">
                <a:sym typeface="Wingdings" panose="05000000000000000000" pitchFamily="2" charset="2"/>
              </a:rPr>
              <a:t> or </a:t>
            </a:r>
            <a:r>
              <a:rPr lang="en-US" sz="2400" dirty="0" err="1">
                <a:sym typeface="Wingdings" panose="05000000000000000000" pitchFamily="2" charset="2"/>
              </a:rPr>
              <a:t>DTwP</a:t>
            </a:r>
            <a:r>
              <a:rPr lang="en-US" sz="2400" dirty="0">
                <a:sym typeface="Wingdings" panose="05000000000000000000" pitchFamily="2" charset="2"/>
              </a:rPr>
              <a:t>-hepatitis B-Hib (pentavalent),  Hib (liquid), Rotavirus (liquid and freeze-dried), Rubella (freeze-dried), Yellow fever (freeze-dried)</a:t>
            </a:r>
          </a:p>
          <a:p>
            <a:r>
              <a:rPr lang="en-US" sz="2400" dirty="0">
                <a:sym typeface="Wingdings" panose="05000000000000000000" pitchFamily="2" charset="2"/>
              </a:rPr>
              <a:t>Group E - Bacillus Calmette Guerin (BCG), Human papillomavirus (HPV),  Japanese encephalitis (JE), Tetanus, TD, Td</a:t>
            </a:r>
          </a:p>
          <a:p>
            <a:r>
              <a:rPr lang="en-US" sz="2400" dirty="0">
                <a:sym typeface="Wingdings" panose="05000000000000000000" pitchFamily="2" charset="2"/>
              </a:rPr>
              <a:t>Group F - Hepatitis B, Hib (freeze-dried), Meningococcal A, Pneumococcal</a:t>
            </a:r>
            <a:endParaRPr lang="en-US" sz="2400" dirty="0"/>
          </a:p>
        </p:txBody>
      </p:sp>
    </p:spTree>
    <p:extLst>
      <p:ext uri="{BB962C8B-B14F-4D97-AF65-F5344CB8AC3E}">
        <p14:creationId xmlns:p14="http://schemas.microsoft.com/office/powerpoint/2010/main" val="3457278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0653F-262F-44D0-D61A-4649AE0370AA}"/>
              </a:ext>
            </a:extLst>
          </p:cNvPr>
          <p:cNvSpPr>
            <a:spLocks noGrp="1"/>
          </p:cNvSpPr>
          <p:nvPr>
            <p:ph type="title"/>
          </p:nvPr>
        </p:nvSpPr>
        <p:spPr>
          <a:xfrm>
            <a:off x="466089" y="109728"/>
            <a:ext cx="10890929" cy="1097280"/>
          </a:xfrm>
        </p:spPr>
        <p:txBody>
          <a:bodyPr/>
          <a:lstStyle/>
          <a:p>
            <a:r>
              <a:rPr lang="en-US" dirty="0"/>
              <a:t>Sensitivity to freezing</a:t>
            </a:r>
          </a:p>
        </p:txBody>
      </p:sp>
      <p:sp>
        <p:nvSpPr>
          <p:cNvPr id="3" name="Content Placeholder 2">
            <a:extLst>
              <a:ext uri="{FF2B5EF4-FFF2-40B4-BE49-F238E27FC236}">
                <a16:creationId xmlns:a16="http://schemas.microsoft.com/office/drawing/2014/main" id="{E12E5E7E-58A3-CA97-2AC6-AE6C13686105}"/>
              </a:ext>
            </a:extLst>
          </p:cNvPr>
          <p:cNvSpPr>
            <a:spLocks noGrp="1"/>
          </p:cNvSpPr>
          <p:nvPr>
            <p:ph idx="1"/>
          </p:nvPr>
        </p:nvSpPr>
        <p:spPr>
          <a:xfrm>
            <a:off x="292100" y="1207008"/>
            <a:ext cx="11238908" cy="4992624"/>
          </a:xfrm>
        </p:spPr>
        <p:txBody>
          <a:bodyPr numCol="2">
            <a:normAutofit lnSpcReduction="10000"/>
          </a:bodyPr>
          <a:lstStyle/>
          <a:p>
            <a:r>
              <a:rPr lang="en-US" sz="3200" dirty="0"/>
              <a:t>Vaccines that are sensitive to freezing and should be protected from sub-zero temperature are :</a:t>
            </a:r>
          </a:p>
          <a:p>
            <a:pPr lvl="1"/>
            <a:r>
              <a:rPr lang="en-US" sz="2800" dirty="0"/>
              <a:t>Cholera</a:t>
            </a:r>
          </a:p>
          <a:p>
            <a:pPr lvl="1"/>
            <a:r>
              <a:rPr lang="en-US" sz="2800" dirty="0"/>
              <a:t>DTaP-hepatitis B-Hib-IPV (hexavalent)</a:t>
            </a:r>
          </a:p>
          <a:p>
            <a:pPr lvl="1"/>
            <a:r>
              <a:rPr lang="en-US" sz="2800" dirty="0" err="1"/>
              <a:t>DTwP</a:t>
            </a:r>
            <a:r>
              <a:rPr lang="en-US" sz="2800" dirty="0"/>
              <a:t> or </a:t>
            </a:r>
            <a:r>
              <a:rPr lang="en-US" sz="2800" dirty="0" err="1"/>
              <a:t>DTwP</a:t>
            </a:r>
            <a:r>
              <a:rPr lang="en-US" sz="2800" dirty="0"/>
              <a:t>-hepatitis B-Hib (pentavalent)</a:t>
            </a:r>
          </a:p>
          <a:p>
            <a:pPr lvl="1"/>
            <a:r>
              <a:rPr lang="en-US" sz="2800" dirty="0"/>
              <a:t>Hepatitis B (Hep B)</a:t>
            </a:r>
          </a:p>
          <a:p>
            <a:pPr lvl="1"/>
            <a:r>
              <a:rPr lang="en-US" sz="2800" dirty="0"/>
              <a:t>Hib (liquid)</a:t>
            </a:r>
          </a:p>
          <a:p>
            <a:pPr lvl="1"/>
            <a:r>
              <a:rPr lang="en-US" sz="2800" dirty="0"/>
              <a:t>Human papillomavirus (HPV)</a:t>
            </a:r>
          </a:p>
          <a:p>
            <a:pPr lvl="1"/>
            <a:r>
              <a:rPr lang="en-US" sz="2800" dirty="0"/>
              <a:t>Inactivated poliovirus (IPV)</a:t>
            </a:r>
          </a:p>
          <a:p>
            <a:pPr lvl="1"/>
            <a:r>
              <a:rPr lang="en-US" sz="2800" dirty="0"/>
              <a:t>Influenza</a:t>
            </a:r>
          </a:p>
          <a:p>
            <a:pPr lvl="1"/>
            <a:r>
              <a:rPr lang="en-US" sz="2800" dirty="0"/>
              <a:t>Pneumococcal</a:t>
            </a:r>
          </a:p>
          <a:p>
            <a:pPr lvl="1"/>
            <a:r>
              <a:rPr lang="en-US" sz="2800" dirty="0"/>
              <a:t>Tetanus, DT, Td</a:t>
            </a:r>
          </a:p>
          <a:p>
            <a:pPr lvl="1"/>
            <a:r>
              <a:rPr lang="en-US" sz="2800" dirty="0"/>
              <a:t>Rotavirus (liquid and freeze-dried)</a:t>
            </a:r>
          </a:p>
        </p:txBody>
      </p:sp>
    </p:spTree>
    <p:extLst>
      <p:ext uri="{BB962C8B-B14F-4D97-AF65-F5344CB8AC3E}">
        <p14:creationId xmlns:p14="http://schemas.microsoft.com/office/powerpoint/2010/main" val="836860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0653F-262F-44D0-D61A-4649AE0370AA}"/>
              </a:ext>
            </a:extLst>
          </p:cNvPr>
          <p:cNvSpPr>
            <a:spLocks noGrp="1"/>
          </p:cNvSpPr>
          <p:nvPr>
            <p:ph type="title"/>
          </p:nvPr>
        </p:nvSpPr>
        <p:spPr>
          <a:xfrm>
            <a:off x="466089" y="109728"/>
            <a:ext cx="10890929" cy="1097280"/>
          </a:xfrm>
        </p:spPr>
        <p:txBody>
          <a:bodyPr/>
          <a:lstStyle/>
          <a:p>
            <a:r>
              <a:rPr lang="en-US" dirty="0"/>
              <a:t>Sensitivity to light</a:t>
            </a:r>
          </a:p>
        </p:txBody>
      </p:sp>
      <p:sp>
        <p:nvSpPr>
          <p:cNvPr id="3" name="Content Placeholder 2">
            <a:extLst>
              <a:ext uri="{FF2B5EF4-FFF2-40B4-BE49-F238E27FC236}">
                <a16:creationId xmlns:a16="http://schemas.microsoft.com/office/drawing/2014/main" id="{E12E5E7E-58A3-CA97-2AC6-AE6C13686105}"/>
              </a:ext>
            </a:extLst>
          </p:cNvPr>
          <p:cNvSpPr>
            <a:spLocks noGrp="1"/>
          </p:cNvSpPr>
          <p:nvPr>
            <p:ph idx="1"/>
          </p:nvPr>
        </p:nvSpPr>
        <p:spPr>
          <a:xfrm>
            <a:off x="292100" y="1207008"/>
            <a:ext cx="11238908" cy="4992624"/>
          </a:xfrm>
        </p:spPr>
        <p:txBody>
          <a:bodyPr numCol="1">
            <a:normAutofit/>
          </a:bodyPr>
          <a:lstStyle/>
          <a:p>
            <a:r>
              <a:rPr lang="en-US" sz="3200" dirty="0"/>
              <a:t>BCG, measles, measles-rubella, measles-mumps-rubella and rubella. </a:t>
            </a:r>
          </a:p>
          <a:p>
            <a:r>
              <a:rPr lang="en-US" sz="3200" dirty="0"/>
              <a:t>These vaccine are supplied in dark glass vials that give them some protection; but they should be kept in their secondary packaging for as long as possible during storage and transportation.</a:t>
            </a:r>
            <a:endParaRPr lang="en-US" sz="2800" dirty="0"/>
          </a:p>
        </p:txBody>
      </p:sp>
    </p:spTree>
    <p:extLst>
      <p:ext uri="{BB962C8B-B14F-4D97-AF65-F5344CB8AC3E}">
        <p14:creationId xmlns:p14="http://schemas.microsoft.com/office/powerpoint/2010/main" val="885643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71CB4-779F-D02C-496D-631AEED94BBC}"/>
              </a:ext>
            </a:extLst>
          </p:cNvPr>
          <p:cNvSpPr>
            <a:spLocks noGrp="1"/>
          </p:cNvSpPr>
          <p:nvPr>
            <p:ph type="title"/>
          </p:nvPr>
        </p:nvSpPr>
        <p:spPr>
          <a:xfrm>
            <a:off x="640079" y="109728"/>
            <a:ext cx="10890929" cy="1097280"/>
          </a:xfrm>
        </p:spPr>
        <p:txBody>
          <a:bodyPr/>
          <a:lstStyle/>
          <a:p>
            <a:r>
              <a:rPr lang="en-US" dirty="0"/>
              <a:t>Health facility</a:t>
            </a:r>
          </a:p>
        </p:txBody>
      </p:sp>
      <p:sp>
        <p:nvSpPr>
          <p:cNvPr id="3" name="Content Placeholder 2">
            <a:extLst>
              <a:ext uri="{FF2B5EF4-FFF2-40B4-BE49-F238E27FC236}">
                <a16:creationId xmlns:a16="http://schemas.microsoft.com/office/drawing/2014/main" id="{B1134B85-C2E5-796B-524B-61ED4FC84386}"/>
              </a:ext>
            </a:extLst>
          </p:cNvPr>
          <p:cNvSpPr>
            <a:spLocks noGrp="1"/>
          </p:cNvSpPr>
          <p:nvPr>
            <p:ph idx="1"/>
          </p:nvPr>
        </p:nvSpPr>
        <p:spPr>
          <a:xfrm>
            <a:off x="640080" y="1207008"/>
            <a:ext cx="10890928" cy="4992624"/>
          </a:xfrm>
        </p:spPr>
        <p:txBody>
          <a:bodyPr numCol="1">
            <a:normAutofit/>
          </a:bodyPr>
          <a:lstStyle/>
          <a:p>
            <a:r>
              <a:rPr lang="en-US" sz="3200" dirty="0"/>
              <a:t>Adequately protect vaccines by doing the following : </a:t>
            </a:r>
          </a:p>
          <a:p>
            <a:pPr lvl="1"/>
            <a:r>
              <a:rPr lang="en-US" sz="2800" dirty="0"/>
              <a:t>Keep vaccines in appropriate vaccine refrigeration equipment;</a:t>
            </a:r>
          </a:p>
          <a:p>
            <a:pPr lvl="1"/>
            <a:r>
              <a:rPr lang="en-US" sz="2800" dirty="0"/>
              <a:t>Use a temperature monitoring device to ensure temperatures remain between + 2°C and +8°C; </a:t>
            </a:r>
          </a:p>
          <a:p>
            <a:pPr lvl="1"/>
            <a:r>
              <a:rPr lang="en-US" sz="2800" dirty="0"/>
              <a:t>Transport vaccines to immunization sessions in a vaccine carrier, correctly packed, using coolant packs that have been properly prepared</a:t>
            </a:r>
          </a:p>
          <a:p>
            <a:pPr lvl="1"/>
            <a:r>
              <a:rPr lang="en-US" sz="2800" dirty="0"/>
              <a:t>During immunization sessions, fit a foam pad (if available) at the top of the vaccine carrier.</a:t>
            </a:r>
          </a:p>
        </p:txBody>
      </p:sp>
    </p:spTree>
    <p:extLst>
      <p:ext uri="{BB962C8B-B14F-4D97-AF65-F5344CB8AC3E}">
        <p14:creationId xmlns:p14="http://schemas.microsoft.com/office/powerpoint/2010/main" val="3082814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71CB4-779F-D02C-496D-631AEED94BBC}"/>
              </a:ext>
            </a:extLst>
          </p:cNvPr>
          <p:cNvSpPr>
            <a:spLocks noGrp="1"/>
          </p:cNvSpPr>
          <p:nvPr>
            <p:ph type="title"/>
          </p:nvPr>
        </p:nvSpPr>
        <p:spPr>
          <a:xfrm>
            <a:off x="640079" y="109728"/>
            <a:ext cx="10890929" cy="1097280"/>
          </a:xfrm>
        </p:spPr>
        <p:txBody>
          <a:bodyPr/>
          <a:lstStyle/>
          <a:p>
            <a:r>
              <a:rPr lang="en-US" dirty="0"/>
              <a:t>Health facility</a:t>
            </a:r>
          </a:p>
        </p:txBody>
      </p:sp>
      <p:sp>
        <p:nvSpPr>
          <p:cNvPr id="3" name="Content Placeholder 2">
            <a:extLst>
              <a:ext uri="{FF2B5EF4-FFF2-40B4-BE49-F238E27FC236}">
                <a16:creationId xmlns:a16="http://schemas.microsoft.com/office/drawing/2014/main" id="{B1134B85-C2E5-796B-524B-61ED4FC84386}"/>
              </a:ext>
            </a:extLst>
          </p:cNvPr>
          <p:cNvSpPr>
            <a:spLocks noGrp="1"/>
          </p:cNvSpPr>
          <p:nvPr>
            <p:ph idx="1"/>
          </p:nvPr>
        </p:nvSpPr>
        <p:spPr>
          <a:xfrm>
            <a:off x="640080" y="1207008"/>
            <a:ext cx="10890928" cy="4992624"/>
          </a:xfrm>
        </p:spPr>
        <p:txBody>
          <a:bodyPr numCol="1">
            <a:normAutofit lnSpcReduction="10000"/>
          </a:bodyPr>
          <a:lstStyle/>
          <a:p>
            <a:r>
              <a:rPr lang="en-US" sz="2800" dirty="0"/>
              <a:t>At the health facility, one person must have overall responsibility for managing the vaccine cold chain. A second person can fill in when the primary person is absent. </a:t>
            </a:r>
          </a:p>
          <a:p>
            <a:r>
              <a:rPr lang="en-US" sz="2800" dirty="0"/>
              <a:t>Their responsibilities should include : </a:t>
            </a:r>
          </a:p>
          <a:p>
            <a:pPr lvl="1"/>
            <a:r>
              <a:rPr lang="en-US" sz="2400" dirty="0"/>
              <a:t>Checking and recording vaccine temperatures twice daily; typically in the morning and at the end of the session or day; </a:t>
            </a:r>
          </a:p>
          <a:p>
            <a:pPr lvl="1"/>
            <a:r>
              <a:rPr lang="en-US" sz="2400" dirty="0"/>
              <a:t>Properly storing vaccines, diluents and water packs; </a:t>
            </a:r>
          </a:p>
          <a:p>
            <a:pPr lvl="1"/>
            <a:r>
              <a:rPr lang="en-US" sz="2400" dirty="0"/>
              <a:t>Handling preventive maintenance of the cold chain equipment.</a:t>
            </a:r>
          </a:p>
          <a:p>
            <a:r>
              <a:rPr lang="en-US" sz="2800" dirty="0"/>
              <a:t>All health workers in a facility should know how to monitor the cold chain and what to do if temperature is out of range.</a:t>
            </a:r>
          </a:p>
        </p:txBody>
      </p:sp>
    </p:spTree>
    <p:extLst>
      <p:ext uri="{BB962C8B-B14F-4D97-AF65-F5344CB8AC3E}">
        <p14:creationId xmlns:p14="http://schemas.microsoft.com/office/powerpoint/2010/main" val="3058308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CCCB7-83BF-3E4D-0761-73D5996A0DBA}"/>
              </a:ext>
            </a:extLst>
          </p:cNvPr>
          <p:cNvSpPr>
            <a:spLocks noGrp="1"/>
          </p:cNvSpPr>
          <p:nvPr>
            <p:ph type="title"/>
          </p:nvPr>
        </p:nvSpPr>
        <p:spPr>
          <a:xfrm>
            <a:off x="573404" y="295276"/>
            <a:ext cx="10890929" cy="1097280"/>
          </a:xfrm>
        </p:spPr>
        <p:txBody>
          <a:bodyPr>
            <a:normAutofit fontScale="90000"/>
          </a:bodyPr>
          <a:lstStyle/>
          <a:p>
            <a:r>
              <a:rPr lang="en-US" dirty="0"/>
              <a:t>Cold chain equipment - Storage </a:t>
            </a:r>
            <a:r>
              <a:rPr lang="en-US" dirty="0">
                <a:sym typeface="Wingdings" panose="05000000000000000000" pitchFamily="2" charset="2"/>
              </a:rPr>
              <a:t> </a:t>
            </a:r>
            <a:r>
              <a:rPr lang="en-US" dirty="0"/>
              <a:t>Electrical</a:t>
            </a:r>
            <a:br>
              <a:rPr lang="en-US" dirty="0"/>
            </a:br>
            <a:endParaRPr lang="en-US" dirty="0"/>
          </a:p>
        </p:txBody>
      </p:sp>
      <p:sp>
        <p:nvSpPr>
          <p:cNvPr id="3" name="Content Placeholder 2">
            <a:extLst>
              <a:ext uri="{FF2B5EF4-FFF2-40B4-BE49-F238E27FC236}">
                <a16:creationId xmlns:a16="http://schemas.microsoft.com/office/drawing/2014/main" id="{164240F5-FB14-CDAE-632C-73CD660BA4E6}"/>
              </a:ext>
            </a:extLst>
          </p:cNvPr>
          <p:cNvSpPr>
            <a:spLocks noGrp="1"/>
          </p:cNvSpPr>
          <p:nvPr>
            <p:ph idx="1"/>
          </p:nvPr>
        </p:nvSpPr>
        <p:spPr>
          <a:xfrm>
            <a:off x="640080" y="1276350"/>
            <a:ext cx="10890928" cy="4923282"/>
          </a:xfrm>
        </p:spPr>
        <p:txBody>
          <a:bodyPr>
            <a:normAutofit/>
          </a:bodyPr>
          <a:lstStyle/>
          <a:p>
            <a:r>
              <a:rPr lang="en-US" dirty="0"/>
              <a:t>Walk in freezers - -15</a:t>
            </a:r>
            <a:r>
              <a:rPr lang="en-US" baseline="30000" dirty="0"/>
              <a:t>°</a:t>
            </a:r>
            <a:r>
              <a:rPr lang="en-US" dirty="0"/>
              <a:t>C to -25</a:t>
            </a:r>
            <a:r>
              <a:rPr lang="en-US" baseline="30000" dirty="0"/>
              <a:t>°</a:t>
            </a:r>
            <a:r>
              <a:rPr lang="en-US" dirty="0"/>
              <a:t>C, national, state and regional vaccine stores</a:t>
            </a:r>
          </a:p>
          <a:p>
            <a:r>
              <a:rPr lang="en-US" dirty="0"/>
              <a:t>Walk in Coolers - +2</a:t>
            </a:r>
            <a:r>
              <a:rPr lang="en-US" baseline="30000" dirty="0"/>
              <a:t>°</a:t>
            </a:r>
            <a:r>
              <a:rPr lang="en-US" dirty="0"/>
              <a:t>C to +8</a:t>
            </a:r>
            <a:r>
              <a:rPr lang="en-US" baseline="30000" dirty="0"/>
              <a:t>°</a:t>
            </a:r>
            <a:r>
              <a:rPr lang="en-US" dirty="0"/>
              <a:t>C; large quantities of all UIP vaccines like BCG, hepatitis B, DPT, pentavalent, 1PV, measles and TT. </a:t>
            </a:r>
          </a:p>
          <a:p>
            <a:pPr lvl="1"/>
            <a:r>
              <a:rPr lang="en-US" dirty="0"/>
              <a:t>They have two identical cooling units and a standby generator with automatic start and stop function.</a:t>
            </a:r>
          </a:p>
          <a:p>
            <a:pPr lvl="1"/>
            <a:r>
              <a:rPr lang="en-US" dirty="0"/>
              <a:t>Government medical store depots, state and regional vaccine stores.</a:t>
            </a:r>
          </a:p>
          <a:p>
            <a:pPr lvl="1"/>
            <a:r>
              <a:rPr lang="en-US" dirty="0"/>
              <a:t>WICs have been installed in some district vaccine stores based on the target beneficiary and requirement.</a:t>
            </a:r>
          </a:p>
          <a:p>
            <a:r>
              <a:rPr lang="en-US" dirty="0"/>
              <a:t>Deep freezer - -15</a:t>
            </a:r>
            <a:r>
              <a:rPr lang="en-US" baseline="30000" dirty="0"/>
              <a:t>°</a:t>
            </a:r>
            <a:r>
              <a:rPr lang="en-US" dirty="0"/>
              <a:t>C to -25</a:t>
            </a:r>
            <a:r>
              <a:rPr lang="en-US" baseline="30000" dirty="0"/>
              <a:t>°</a:t>
            </a:r>
            <a:r>
              <a:rPr lang="en-US" dirty="0"/>
              <a:t>C, District level and above level only (storing OPV for 3 months), </a:t>
            </a:r>
          </a:p>
          <a:p>
            <a:pPr lvl="1"/>
            <a:r>
              <a:rPr lang="en-US" dirty="0"/>
              <a:t>At subdistrict level (freezing icepacks)</a:t>
            </a:r>
          </a:p>
          <a:p>
            <a:pPr lvl="1"/>
            <a:r>
              <a:rPr lang="en-US" dirty="0"/>
              <a:t>The DF which is used for storing vaccines should not be used for preparation of icepacks, as it may increase the cabinet temperature and can be potentially harmful to the vaccines (OPV). </a:t>
            </a:r>
          </a:p>
          <a:p>
            <a:pPr lvl="1"/>
            <a:r>
              <a:rPr lang="en-US" dirty="0"/>
              <a:t>However adequate frozen icepacks can be kept permanently inside the vaccine storing DF for increasing the hold-over time.</a:t>
            </a:r>
          </a:p>
          <a:p>
            <a:endParaRPr lang="en-US" dirty="0"/>
          </a:p>
          <a:p>
            <a:pPr lvl="2"/>
            <a:endParaRPr lang="en-US" dirty="0"/>
          </a:p>
        </p:txBody>
      </p:sp>
    </p:spTree>
    <p:extLst>
      <p:ext uri="{BB962C8B-B14F-4D97-AF65-F5344CB8AC3E}">
        <p14:creationId xmlns:p14="http://schemas.microsoft.com/office/powerpoint/2010/main" val="3934862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AD304-A13D-38D4-211E-7F8C9B8C1EFF}"/>
              </a:ext>
            </a:extLst>
          </p:cNvPr>
          <p:cNvSpPr>
            <a:spLocks noGrp="1"/>
          </p:cNvSpPr>
          <p:nvPr>
            <p:ph type="title"/>
          </p:nvPr>
        </p:nvSpPr>
        <p:spPr>
          <a:xfrm>
            <a:off x="640079" y="190142"/>
            <a:ext cx="10890929" cy="939753"/>
          </a:xfrm>
        </p:spPr>
        <p:txBody>
          <a:bodyPr/>
          <a:lstStyle/>
          <a:p>
            <a:r>
              <a:rPr lang="en-US" dirty="0"/>
              <a:t>ILR / Freezer – DOs and DONTs </a:t>
            </a:r>
          </a:p>
        </p:txBody>
      </p:sp>
      <p:sp>
        <p:nvSpPr>
          <p:cNvPr id="4" name="Text Placeholder 3">
            <a:extLst>
              <a:ext uri="{FF2B5EF4-FFF2-40B4-BE49-F238E27FC236}">
                <a16:creationId xmlns:a16="http://schemas.microsoft.com/office/drawing/2014/main" id="{7C6C6CCF-D550-657C-52D2-2CE56E6F2F80}"/>
              </a:ext>
            </a:extLst>
          </p:cNvPr>
          <p:cNvSpPr>
            <a:spLocks noGrp="1"/>
          </p:cNvSpPr>
          <p:nvPr>
            <p:ph type="body" idx="1"/>
          </p:nvPr>
        </p:nvSpPr>
        <p:spPr>
          <a:xfrm>
            <a:off x="640079" y="1129895"/>
            <a:ext cx="5212080" cy="336955"/>
          </a:xfrm>
        </p:spPr>
        <p:txBody>
          <a:bodyPr>
            <a:normAutofit fontScale="85000" lnSpcReduction="10000"/>
          </a:bodyPr>
          <a:lstStyle/>
          <a:p>
            <a:r>
              <a:rPr lang="en-US" dirty="0"/>
              <a:t>Do</a:t>
            </a:r>
          </a:p>
        </p:txBody>
      </p:sp>
      <p:sp>
        <p:nvSpPr>
          <p:cNvPr id="5" name="Content Placeholder 4">
            <a:extLst>
              <a:ext uri="{FF2B5EF4-FFF2-40B4-BE49-F238E27FC236}">
                <a16:creationId xmlns:a16="http://schemas.microsoft.com/office/drawing/2014/main" id="{46CF287B-AF2E-C76D-7BBA-CF02817FF38F}"/>
              </a:ext>
            </a:extLst>
          </p:cNvPr>
          <p:cNvSpPr>
            <a:spLocks noGrp="1"/>
          </p:cNvSpPr>
          <p:nvPr>
            <p:ph sz="half" idx="2"/>
          </p:nvPr>
        </p:nvSpPr>
        <p:spPr>
          <a:xfrm>
            <a:off x="190501" y="1466850"/>
            <a:ext cx="4305299" cy="5201008"/>
          </a:xfrm>
        </p:spPr>
        <p:txBody>
          <a:bodyPr>
            <a:normAutofit fontScale="92500"/>
          </a:bodyPr>
          <a:lstStyle/>
          <a:p>
            <a:r>
              <a:rPr lang="en-US" sz="1800" dirty="0"/>
              <a:t>Keep the equipment in cool room away from direct sunlight and at least 10 </a:t>
            </a:r>
            <a:r>
              <a:rPr lang="en-US" sz="1800" dirty="0" err="1"/>
              <a:t>ems</a:t>
            </a:r>
            <a:r>
              <a:rPr lang="en-US" sz="1800" dirty="0"/>
              <a:t> away From the wall; </a:t>
            </a:r>
          </a:p>
          <a:p>
            <a:r>
              <a:rPr lang="en-US" sz="1800" dirty="0"/>
              <a:t>Keep the equipment levelled; </a:t>
            </a:r>
          </a:p>
          <a:p>
            <a:r>
              <a:rPr lang="en-US" sz="1800" dirty="0"/>
              <a:t>Fix the equipment through voltage stabilizer; </a:t>
            </a:r>
          </a:p>
          <a:p>
            <a:r>
              <a:rPr lang="en-US" sz="1800" dirty="0"/>
              <a:t>Keep vaccines neatly with space between the stacks for circulation of air; </a:t>
            </a:r>
          </a:p>
          <a:p>
            <a:r>
              <a:rPr lang="en-US" sz="1800" dirty="0"/>
              <a:t>Keep the equipment locked and open only when necessary; </a:t>
            </a:r>
          </a:p>
          <a:p>
            <a:r>
              <a:rPr lang="en-US" sz="1800" dirty="0"/>
              <a:t>Defrost periodically, supervise the temperature record; </a:t>
            </a:r>
          </a:p>
          <a:p>
            <a:r>
              <a:rPr lang="en-US" sz="1800" dirty="0"/>
              <a:t>If vaccines are kept in cartons, make holes on the sides of the cartons for cold air circulation.</a:t>
            </a:r>
          </a:p>
        </p:txBody>
      </p:sp>
      <p:sp>
        <p:nvSpPr>
          <p:cNvPr id="6" name="Text Placeholder 5">
            <a:extLst>
              <a:ext uri="{FF2B5EF4-FFF2-40B4-BE49-F238E27FC236}">
                <a16:creationId xmlns:a16="http://schemas.microsoft.com/office/drawing/2014/main" id="{D99740C3-C811-358D-57C6-D1448DA54727}"/>
              </a:ext>
            </a:extLst>
          </p:cNvPr>
          <p:cNvSpPr>
            <a:spLocks noGrp="1"/>
          </p:cNvSpPr>
          <p:nvPr>
            <p:ph type="body" sz="quarter" idx="3"/>
          </p:nvPr>
        </p:nvSpPr>
        <p:spPr>
          <a:xfrm>
            <a:off x="6318928" y="1129895"/>
            <a:ext cx="5212080" cy="336955"/>
          </a:xfrm>
        </p:spPr>
        <p:txBody>
          <a:bodyPr>
            <a:normAutofit fontScale="85000" lnSpcReduction="10000"/>
          </a:bodyPr>
          <a:lstStyle/>
          <a:p>
            <a:r>
              <a:rPr lang="en-US" dirty="0"/>
              <a:t>DONT</a:t>
            </a:r>
          </a:p>
        </p:txBody>
      </p:sp>
      <p:sp>
        <p:nvSpPr>
          <p:cNvPr id="7" name="Content Placeholder 6">
            <a:extLst>
              <a:ext uri="{FF2B5EF4-FFF2-40B4-BE49-F238E27FC236}">
                <a16:creationId xmlns:a16="http://schemas.microsoft.com/office/drawing/2014/main" id="{2217D914-0280-FA30-D0B1-E1675569E4F7}"/>
              </a:ext>
            </a:extLst>
          </p:cNvPr>
          <p:cNvSpPr>
            <a:spLocks noGrp="1"/>
          </p:cNvSpPr>
          <p:nvPr>
            <p:ph sz="quarter" idx="4"/>
          </p:nvPr>
        </p:nvSpPr>
        <p:spPr>
          <a:xfrm>
            <a:off x="4640578" y="1466850"/>
            <a:ext cx="7360922" cy="5201008"/>
          </a:xfrm>
        </p:spPr>
        <p:txBody>
          <a:bodyPr>
            <a:noAutofit/>
          </a:bodyPr>
          <a:lstStyle/>
          <a:p>
            <a:r>
              <a:rPr lang="en-US" sz="1800" dirty="0"/>
              <a:t>Do not keep any object on these equipment; </a:t>
            </a:r>
          </a:p>
          <a:p>
            <a:r>
              <a:rPr lang="en-US" sz="1800" dirty="0"/>
              <a:t>Do not store any other drug; </a:t>
            </a:r>
          </a:p>
          <a:p>
            <a:r>
              <a:rPr lang="en-US" sz="1800" dirty="0"/>
              <a:t>Do not keep drinking water or food in them; </a:t>
            </a:r>
          </a:p>
          <a:p>
            <a:r>
              <a:rPr lang="en-US" sz="1800" dirty="0"/>
              <a:t>Do not keep more than one months requirements at PHC level; </a:t>
            </a:r>
          </a:p>
          <a:p>
            <a:r>
              <a:rPr lang="en-US" sz="1800" dirty="0"/>
              <a:t>Do not keep date expired vaccines. </a:t>
            </a:r>
          </a:p>
          <a:p>
            <a:r>
              <a:rPr lang="en-US" sz="1800" dirty="0"/>
              <a:t>Reconstituted </a:t>
            </a:r>
            <a:r>
              <a:rPr lang="en-US" sz="1800" dirty="0" err="1"/>
              <a:t>bcg</a:t>
            </a:r>
            <a:r>
              <a:rPr lang="en-US" sz="1800" dirty="0"/>
              <a:t>, rotavirus vaccine and measles vaccines can be kept at +2°c to +8°c for maximum of 4 hours and je vaccine for 2 hours. </a:t>
            </a:r>
          </a:p>
          <a:p>
            <a:r>
              <a:rPr lang="en-US" sz="1800" dirty="0"/>
              <a:t>Do not keep any used vials in the cold chain</a:t>
            </a:r>
          </a:p>
          <a:p>
            <a:r>
              <a:rPr lang="en-US" sz="1800" dirty="0"/>
              <a:t>Return the unused vaccine vials from session site to the PHC on the same day in the cold chain through alternative vaccine delivery. </a:t>
            </a:r>
          </a:p>
          <a:p>
            <a:r>
              <a:rPr lang="en-US" sz="1800" dirty="0"/>
              <a:t>Keep the box labeled “returned unused” in the </a:t>
            </a:r>
            <a:r>
              <a:rPr lang="en-US" sz="1800" dirty="0" err="1"/>
              <a:t>ilr</a:t>
            </a:r>
            <a:r>
              <a:rPr lang="en-US" sz="1800" dirty="0"/>
              <a:t> for all unused vaccines that can be used in the subsequent session, but discard vaccines that have been returned unopened more than three times</a:t>
            </a:r>
          </a:p>
        </p:txBody>
      </p:sp>
    </p:spTree>
    <p:extLst>
      <p:ext uri="{BB962C8B-B14F-4D97-AF65-F5344CB8AC3E}">
        <p14:creationId xmlns:p14="http://schemas.microsoft.com/office/powerpoint/2010/main" val="2572929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CCCB7-83BF-3E4D-0761-73D5996A0DBA}"/>
              </a:ext>
            </a:extLst>
          </p:cNvPr>
          <p:cNvSpPr>
            <a:spLocks noGrp="1"/>
          </p:cNvSpPr>
          <p:nvPr>
            <p:ph type="title"/>
          </p:nvPr>
        </p:nvSpPr>
        <p:spPr>
          <a:xfrm>
            <a:off x="573404" y="295276"/>
            <a:ext cx="10890929" cy="1097280"/>
          </a:xfrm>
        </p:spPr>
        <p:txBody>
          <a:bodyPr>
            <a:normAutofit fontScale="90000"/>
          </a:bodyPr>
          <a:lstStyle/>
          <a:p>
            <a:r>
              <a:rPr lang="en-US" dirty="0"/>
              <a:t>Cold chain equipment - Storage </a:t>
            </a:r>
            <a:r>
              <a:rPr lang="en-US" dirty="0">
                <a:sym typeface="Wingdings" panose="05000000000000000000" pitchFamily="2" charset="2"/>
              </a:rPr>
              <a:t> </a:t>
            </a:r>
            <a:r>
              <a:rPr lang="en-US" dirty="0"/>
              <a:t>Solar</a:t>
            </a:r>
            <a:br>
              <a:rPr lang="en-US" dirty="0"/>
            </a:br>
            <a:endParaRPr lang="en-US" dirty="0"/>
          </a:p>
        </p:txBody>
      </p:sp>
      <p:sp>
        <p:nvSpPr>
          <p:cNvPr id="3" name="Content Placeholder 2">
            <a:extLst>
              <a:ext uri="{FF2B5EF4-FFF2-40B4-BE49-F238E27FC236}">
                <a16:creationId xmlns:a16="http://schemas.microsoft.com/office/drawing/2014/main" id="{164240F5-FB14-CDAE-632C-73CD660BA4E6}"/>
              </a:ext>
            </a:extLst>
          </p:cNvPr>
          <p:cNvSpPr>
            <a:spLocks noGrp="1"/>
          </p:cNvSpPr>
          <p:nvPr>
            <p:ph idx="1"/>
          </p:nvPr>
        </p:nvSpPr>
        <p:spPr>
          <a:xfrm>
            <a:off x="640080" y="1276350"/>
            <a:ext cx="10890928" cy="4923282"/>
          </a:xfrm>
        </p:spPr>
        <p:txBody>
          <a:bodyPr>
            <a:normAutofit/>
          </a:bodyPr>
          <a:lstStyle/>
          <a:p>
            <a:r>
              <a:rPr lang="en-US" dirty="0"/>
              <a:t>Solar Refrigerator Battery Drive</a:t>
            </a:r>
          </a:p>
          <a:p>
            <a:pPr lvl="1"/>
            <a:r>
              <a:rPr lang="en-US" dirty="0"/>
              <a:t>It is a refrigerator cum freezer having basket for storing of vaccine and freezing of ice-packs. It has two separate compartments :</a:t>
            </a:r>
          </a:p>
          <a:p>
            <a:pPr lvl="1"/>
            <a:r>
              <a:rPr lang="en-US" dirty="0"/>
              <a:t>1. Vaccine storage compartment maintains temperature range of +2°C to + 8°C.</a:t>
            </a:r>
          </a:p>
          <a:p>
            <a:pPr lvl="1"/>
            <a:r>
              <a:rPr lang="en-US" dirty="0"/>
              <a:t>2. Freezer compartment is for storing frozen ice-pack maintaining temperature </a:t>
            </a:r>
            <a:r>
              <a:rPr lang="en-US" dirty="0" err="1"/>
              <a:t>upto</a:t>
            </a:r>
            <a:r>
              <a:rPr lang="en-US" dirty="0"/>
              <a:t> -7°C.</a:t>
            </a:r>
          </a:p>
          <a:p>
            <a:r>
              <a:rPr lang="en-US" dirty="0"/>
              <a:t>Solar Refrigerator direct drive</a:t>
            </a:r>
          </a:p>
          <a:p>
            <a:pPr lvl="1"/>
            <a:r>
              <a:rPr lang="en-US" dirty="0"/>
              <a:t>The “direct drive” technology uses the sun’s energy to freeze water or other phase change material and then uses the cooling from that “ice bank” to keep the refrigerator cold during night and cloudy days. These refrigerators are wired directly to the </a:t>
            </a:r>
            <a:r>
              <a:rPr lang="en-US" dirty="0" err="1"/>
              <a:t>photovolatic</a:t>
            </a:r>
            <a:r>
              <a:rPr lang="en-US" dirty="0"/>
              <a:t> generators.</a:t>
            </a:r>
          </a:p>
        </p:txBody>
      </p:sp>
    </p:spTree>
    <p:extLst>
      <p:ext uri="{BB962C8B-B14F-4D97-AF65-F5344CB8AC3E}">
        <p14:creationId xmlns:p14="http://schemas.microsoft.com/office/powerpoint/2010/main" val="2432351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CCCB7-83BF-3E4D-0761-73D5996A0DBA}"/>
              </a:ext>
            </a:extLst>
          </p:cNvPr>
          <p:cNvSpPr>
            <a:spLocks noGrp="1"/>
          </p:cNvSpPr>
          <p:nvPr>
            <p:ph type="title"/>
          </p:nvPr>
        </p:nvSpPr>
        <p:spPr>
          <a:xfrm>
            <a:off x="573404" y="295276"/>
            <a:ext cx="10890929" cy="1097280"/>
          </a:xfrm>
        </p:spPr>
        <p:txBody>
          <a:bodyPr>
            <a:normAutofit fontScale="90000"/>
          </a:bodyPr>
          <a:lstStyle/>
          <a:p>
            <a:r>
              <a:rPr lang="en-US" dirty="0"/>
              <a:t>Cold chain equipment - Storage </a:t>
            </a:r>
            <a:r>
              <a:rPr lang="en-US" dirty="0">
                <a:sym typeface="Wingdings" panose="05000000000000000000" pitchFamily="2" charset="2"/>
              </a:rPr>
              <a:t> </a:t>
            </a:r>
            <a:r>
              <a:rPr lang="en-US" dirty="0"/>
              <a:t>Non - Electric</a:t>
            </a:r>
            <a:br>
              <a:rPr lang="en-US" dirty="0"/>
            </a:br>
            <a:endParaRPr lang="en-US" dirty="0"/>
          </a:p>
        </p:txBody>
      </p:sp>
      <p:sp>
        <p:nvSpPr>
          <p:cNvPr id="3" name="Content Placeholder 2">
            <a:extLst>
              <a:ext uri="{FF2B5EF4-FFF2-40B4-BE49-F238E27FC236}">
                <a16:creationId xmlns:a16="http://schemas.microsoft.com/office/drawing/2014/main" id="{164240F5-FB14-CDAE-632C-73CD660BA4E6}"/>
              </a:ext>
            </a:extLst>
          </p:cNvPr>
          <p:cNvSpPr>
            <a:spLocks noGrp="1"/>
          </p:cNvSpPr>
          <p:nvPr>
            <p:ph idx="1"/>
          </p:nvPr>
        </p:nvSpPr>
        <p:spPr>
          <a:xfrm>
            <a:off x="640080" y="1276350"/>
            <a:ext cx="10890928" cy="4923282"/>
          </a:xfrm>
        </p:spPr>
        <p:txBody>
          <a:bodyPr numCol="1">
            <a:normAutofit/>
          </a:bodyPr>
          <a:lstStyle/>
          <a:p>
            <a:r>
              <a:rPr lang="en-US" dirty="0"/>
              <a:t>Cold boxes</a:t>
            </a:r>
          </a:p>
          <a:p>
            <a:pPr lvl="1"/>
            <a:r>
              <a:rPr lang="en-US" dirty="0"/>
              <a:t>Cold boxes are supplied to all peripheral </a:t>
            </a:r>
            <a:r>
              <a:rPr lang="en-US" dirty="0" err="1"/>
              <a:t>centres</a:t>
            </a:r>
            <a:r>
              <a:rPr lang="en-US" dirty="0"/>
              <a:t>. </a:t>
            </a:r>
          </a:p>
          <a:p>
            <a:pPr lvl="1"/>
            <a:r>
              <a:rPr lang="en-US" dirty="0"/>
              <a:t>These are used mainly for transportation of the vaccines. </a:t>
            </a:r>
          </a:p>
          <a:p>
            <a:pPr lvl="1"/>
            <a:r>
              <a:rPr lang="en-US" dirty="0"/>
              <a:t>Before the vaccines are placed in the cold boxes, fully frozen ice packs are placed at the bottom and sides. </a:t>
            </a:r>
          </a:p>
          <a:p>
            <a:pPr lvl="1"/>
            <a:r>
              <a:rPr lang="en-US" dirty="0"/>
              <a:t>The vaccines are first kept in cartons or polythene bags. </a:t>
            </a:r>
          </a:p>
          <a:p>
            <a:pPr lvl="1"/>
            <a:r>
              <a:rPr lang="en-US" dirty="0"/>
              <a:t>The vials of DPT, DT, TT, vaccines and diluents should not be placed in direct contact with the frozen ice packs.</a:t>
            </a:r>
          </a:p>
          <a:p>
            <a:r>
              <a:rPr lang="en-US" dirty="0"/>
              <a:t>Vaccine carriers</a:t>
            </a:r>
          </a:p>
          <a:p>
            <a:pPr lvl="1"/>
            <a:r>
              <a:rPr lang="en-US" dirty="0"/>
              <a:t>Vaccine carriers are used to carry small quantities of vaccines (16-20 vials) for the out of reach sessions. </a:t>
            </a:r>
          </a:p>
          <a:p>
            <a:pPr lvl="1"/>
            <a:r>
              <a:rPr lang="en-US" dirty="0"/>
              <a:t>4 fully frozen ice-packs are used for lining the sides, and vials of DPT, DT, TT and diluents should not be placed in direct contact with frozen ice-packs. </a:t>
            </a:r>
          </a:p>
          <a:p>
            <a:pPr lvl="1"/>
            <a:r>
              <a:rPr lang="en-US" dirty="0"/>
              <a:t>The carriers should be closed tightly.</a:t>
            </a:r>
          </a:p>
        </p:txBody>
      </p:sp>
    </p:spTree>
    <p:extLst>
      <p:ext uri="{BB962C8B-B14F-4D97-AF65-F5344CB8AC3E}">
        <p14:creationId xmlns:p14="http://schemas.microsoft.com/office/powerpoint/2010/main" val="292952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CCCB7-83BF-3E4D-0761-73D5996A0DBA}"/>
              </a:ext>
            </a:extLst>
          </p:cNvPr>
          <p:cNvSpPr>
            <a:spLocks noGrp="1"/>
          </p:cNvSpPr>
          <p:nvPr>
            <p:ph type="title"/>
          </p:nvPr>
        </p:nvSpPr>
        <p:spPr>
          <a:xfrm>
            <a:off x="573404" y="295276"/>
            <a:ext cx="10890929" cy="1097280"/>
          </a:xfrm>
        </p:spPr>
        <p:txBody>
          <a:bodyPr>
            <a:normAutofit fontScale="90000"/>
          </a:bodyPr>
          <a:lstStyle/>
          <a:p>
            <a:r>
              <a:rPr lang="en-US" dirty="0"/>
              <a:t>Cold chain equipment - Storage </a:t>
            </a:r>
            <a:r>
              <a:rPr lang="en-US" dirty="0">
                <a:sym typeface="Wingdings" panose="05000000000000000000" pitchFamily="2" charset="2"/>
              </a:rPr>
              <a:t> </a:t>
            </a:r>
            <a:r>
              <a:rPr lang="en-US" dirty="0"/>
              <a:t>Non - Electric</a:t>
            </a:r>
            <a:br>
              <a:rPr lang="en-US" dirty="0"/>
            </a:br>
            <a:endParaRPr lang="en-US" dirty="0"/>
          </a:p>
        </p:txBody>
      </p:sp>
      <p:sp>
        <p:nvSpPr>
          <p:cNvPr id="3" name="Content Placeholder 2">
            <a:extLst>
              <a:ext uri="{FF2B5EF4-FFF2-40B4-BE49-F238E27FC236}">
                <a16:creationId xmlns:a16="http://schemas.microsoft.com/office/drawing/2014/main" id="{164240F5-FB14-CDAE-632C-73CD660BA4E6}"/>
              </a:ext>
            </a:extLst>
          </p:cNvPr>
          <p:cNvSpPr>
            <a:spLocks noGrp="1"/>
          </p:cNvSpPr>
          <p:nvPr>
            <p:ph idx="1"/>
          </p:nvPr>
        </p:nvSpPr>
        <p:spPr>
          <a:xfrm>
            <a:off x="640080" y="1276350"/>
            <a:ext cx="10890928" cy="4923282"/>
          </a:xfrm>
        </p:spPr>
        <p:txBody>
          <a:bodyPr numCol="1">
            <a:normAutofit/>
          </a:bodyPr>
          <a:lstStyle/>
          <a:p>
            <a:r>
              <a:rPr lang="en-US" dirty="0"/>
              <a:t>Day carriers</a:t>
            </a:r>
          </a:p>
          <a:p>
            <a:pPr lvl="1"/>
            <a:r>
              <a:rPr lang="en-US" dirty="0"/>
              <a:t>Day carriers are used to carry small quantities of vaccines (6-8 vials) to a nearby session. </a:t>
            </a:r>
          </a:p>
          <a:p>
            <a:pPr lvl="1"/>
            <a:r>
              <a:rPr lang="en-US" dirty="0"/>
              <a:t>Two fully frozen packs are to be used. It is used only for few hours period.</a:t>
            </a:r>
          </a:p>
          <a:p>
            <a:r>
              <a:rPr lang="en-US" dirty="0"/>
              <a:t>Ice packs</a:t>
            </a:r>
          </a:p>
          <a:p>
            <a:pPr lvl="1"/>
            <a:r>
              <a:rPr lang="en-US" dirty="0"/>
              <a:t>The ice packs contain water and no salt should be added to it. The water should be filled </a:t>
            </a:r>
            <a:r>
              <a:rPr lang="en-US" dirty="0" err="1"/>
              <a:t>upto</a:t>
            </a:r>
            <a:r>
              <a:rPr lang="en-US" dirty="0"/>
              <a:t> the level marked on the side. If there is any leakage such ice-packs should be discarded.</a:t>
            </a:r>
          </a:p>
          <a:p>
            <a:r>
              <a:rPr lang="en-US" dirty="0"/>
              <a:t>The risk of cold chain failure is greatest at sub-</a:t>
            </a:r>
            <a:r>
              <a:rPr lang="en-US" dirty="0" err="1"/>
              <a:t>centre</a:t>
            </a:r>
            <a:r>
              <a:rPr lang="en-US" dirty="0"/>
              <a:t> and village level. </a:t>
            </a:r>
          </a:p>
          <a:p>
            <a:r>
              <a:rPr lang="en-US" dirty="0"/>
              <a:t>For this reason, vaccines are not stored at the sub-</a:t>
            </a:r>
            <a:r>
              <a:rPr lang="en-US" dirty="0" err="1"/>
              <a:t>centre</a:t>
            </a:r>
            <a:r>
              <a:rPr lang="en-US" dirty="0"/>
              <a:t> level and must be supplied on the day of use.</a:t>
            </a:r>
          </a:p>
        </p:txBody>
      </p:sp>
    </p:spTree>
    <p:extLst>
      <p:ext uri="{BB962C8B-B14F-4D97-AF65-F5344CB8AC3E}">
        <p14:creationId xmlns:p14="http://schemas.microsoft.com/office/powerpoint/2010/main" val="1580145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descr="Test tubes with samples on a test tube rack">
            <a:extLst>
              <a:ext uri="{FF2B5EF4-FFF2-40B4-BE49-F238E27FC236}">
                <a16:creationId xmlns:a16="http://schemas.microsoft.com/office/drawing/2014/main" id="{E62FB9BC-EB9E-9D79-36BE-ADF2EC14F38E}"/>
              </a:ext>
            </a:extLst>
          </p:cNvPr>
          <p:cNvPicPr>
            <a:picLocks noChangeAspect="1"/>
          </p:cNvPicPr>
          <p:nvPr/>
        </p:nvPicPr>
        <p:blipFill>
          <a:blip r:embed="rId2"/>
          <a:srcRect t="14118" b="1612"/>
          <a:stretch/>
        </p:blipFill>
        <p:spPr>
          <a:xfrm>
            <a:off x="1" y="10"/>
            <a:ext cx="12192000" cy="6857990"/>
          </a:xfrm>
          <a:prstGeom prst="rect">
            <a:avLst/>
          </a:prstGeom>
        </p:spPr>
      </p:pic>
      <p:sp>
        <p:nvSpPr>
          <p:cNvPr id="13" name="Rectangle 12">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6600" y="1066800"/>
            <a:ext cx="4681728" cy="4724400"/>
          </a:xfrm>
          <a:prstGeom prst="rect">
            <a:avLst/>
          </a:prstGeom>
          <a:solidFill>
            <a:schemeClr val="bg1">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F7077361-191C-B533-4E8F-3D960B506F47}"/>
              </a:ext>
            </a:extLst>
          </p:cNvPr>
          <p:cNvSpPr>
            <a:spLocks noGrp="1"/>
          </p:cNvSpPr>
          <p:nvPr>
            <p:ph type="title"/>
          </p:nvPr>
        </p:nvSpPr>
        <p:spPr>
          <a:xfrm>
            <a:off x="7769722" y="1562101"/>
            <a:ext cx="3884568" cy="2738530"/>
          </a:xfrm>
        </p:spPr>
        <p:txBody>
          <a:bodyPr vert="horz" lIns="91440" tIns="45720" rIns="91440" bIns="45720" rtlCol="0" anchor="t">
            <a:normAutofit/>
          </a:bodyPr>
          <a:lstStyle/>
          <a:p>
            <a:r>
              <a:rPr lang="en-US" sz="4800" b="1" kern="1200">
                <a:solidFill>
                  <a:schemeClr val="tx1"/>
                </a:solidFill>
                <a:latin typeface="+mj-lt"/>
                <a:ea typeface="+mj-ea"/>
                <a:cs typeface="+mj-cs"/>
              </a:rPr>
              <a:t>Open vial policy, VVM and shake test</a:t>
            </a:r>
          </a:p>
        </p:txBody>
      </p:sp>
      <p:cxnSp>
        <p:nvCxnSpPr>
          <p:cNvPr id="15" name="Straight Connector 14">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619035" y="3435440"/>
            <a:ext cx="0" cy="469087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2662180"/>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highway near the ocean">
            <a:extLst>
              <a:ext uri="{FF2B5EF4-FFF2-40B4-BE49-F238E27FC236}">
                <a16:creationId xmlns:a16="http://schemas.microsoft.com/office/drawing/2014/main" id="{9AA2EA32-5614-044D-F237-C1F91BEA95DD}"/>
              </a:ext>
            </a:extLst>
          </p:cNvPr>
          <p:cNvPicPr>
            <a:picLocks noChangeAspect="1"/>
          </p:cNvPicPr>
          <p:nvPr/>
        </p:nvPicPr>
        <p:blipFill>
          <a:blip r:embed="rId2"/>
          <a:srcRect t="11833" b="13167"/>
          <a:stretch/>
        </p:blipFill>
        <p:spPr>
          <a:xfrm>
            <a:off x="20" y="10"/>
            <a:ext cx="12191979" cy="6857989"/>
          </a:xfrm>
          <a:prstGeom prst="rect">
            <a:avLst/>
          </a:prstGeom>
        </p:spPr>
      </p:pic>
      <p:sp>
        <p:nvSpPr>
          <p:cNvPr id="13" name="Rectangle 12">
            <a:extLst>
              <a:ext uri="{FF2B5EF4-FFF2-40B4-BE49-F238E27FC236}">
                <a16:creationId xmlns:a16="http://schemas.microsoft.com/office/drawing/2014/main" id="{9E9D00D9-C4F5-471E-BE2C-126CB112A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2F00D0-F67C-E6F3-8B53-6EDF685B0E99}"/>
              </a:ext>
            </a:extLst>
          </p:cNvPr>
          <p:cNvSpPr>
            <a:spLocks noGrp="1"/>
          </p:cNvSpPr>
          <p:nvPr>
            <p:ph type="title"/>
          </p:nvPr>
        </p:nvSpPr>
        <p:spPr>
          <a:xfrm>
            <a:off x="640080" y="914400"/>
            <a:ext cx="4892948" cy="3427867"/>
          </a:xfrm>
        </p:spPr>
        <p:txBody>
          <a:bodyPr vert="horz" lIns="91440" tIns="45720" rIns="91440" bIns="45720" rtlCol="0" anchor="t">
            <a:normAutofit/>
          </a:bodyPr>
          <a:lstStyle/>
          <a:p>
            <a:r>
              <a:rPr lang="en-US" sz="5400" b="1" kern="1200">
                <a:solidFill>
                  <a:srgbClr val="FFFFFF"/>
                </a:solidFill>
                <a:latin typeface="+mj-lt"/>
                <a:ea typeface="+mj-ea"/>
                <a:cs typeface="+mj-cs"/>
              </a:rPr>
              <a:t>Thank you</a:t>
            </a:r>
          </a:p>
        </p:txBody>
      </p:sp>
      <p:cxnSp>
        <p:nvCxnSpPr>
          <p:cNvPr id="15" name="Straight Connector 14">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20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55628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2">
    <wetp:webextensionref xmlns:r="http://schemas.openxmlformats.org/officeDocument/2006/relationships" r:id="rId1"/>
  </wetp:taskpane>
  <wetp:taskpane dockstate="right" visibility="0" width="350"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4AFB409-5429-4184-A62C-75B009881F70}">
  <we:reference id="wa104038830" version="1.0.0.3" store="en-US" storeType="OMEX"/>
  <we:alternateReferences>
    <we:reference id="WA104038830" version="1.0.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489B808-C0FE-4FDD-8981-E5550D1F28B8}">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158</TotalTime>
  <Words>2296</Words>
  <Application>Microsoft Office PowerPoint</Application>
  <PresentationFormat>Widescreen</PresentationFormat>
  <Paragraphs>207</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Grandview Display</vt:lpstr>
      <vt:lpstr>Times New Roman</vt:lpstr>
      <vt:lpstr>Wingdings</vt:lpstr>
      <vt:lpstr>DashVTI</vt:lpstr>
      <vt:lpstr>Immunizing Agents</vt:lpstr>
      <vt:lpstr>Types</vt:lpstr>
      <vt:lpstr>Vaccines</vt:lpstr>
      <vt:lpstr>Live vaccines</vt:lpstr>
      <vt:lpstr>Live vaccines</vt:lpstr>
      <vt:lpstr>Live vaccines</vt:lpstr>
      <vt:lpstr>Inactivated / killed vaccines</vt:lpstr>
      <vt:lpstr>Inactivated / killed vaccines</vt:lpstr>
      <vt:lpstr>Inactivated / killed vaccines</vt:lpstr>
      <vt:lpstr>Subunit</vt:lpstr>
      <vt:lpstr>Subunit</vt:lpstr>
      <vt:lpstr>Other components - adjuvants</vt:lpstr>
      <vt:lpstr>Other components</vt:lpstr>
      <vt:lpstr>Immunoglobulins</vt:lpstr>
      <vt:lpstr>Antisera</vt:lpstr>
      <vt:lpstr>Cold chain</vt:lpstr>
      <vt:lpstr>Sensitivity to heat</vt:lpstr>
      <vt:lpstr>Sensitivity to freezing</vt:lpstr>
      <vt:lpstr>Sensitivity to light</vt:lpstr>
      <vt:lpstr>Health facility</vt:lpstr>
      <vt:lpstr>Health facility</vt:lpstr>
      <vt:lpstr>Cold chain equipment - Storage  Electrical </vt:lpstr>
      <vt:lpstr>ILR / Freezer – DOs and DONTs </vt:lpstr>
      <vt:lpstr>Cold chain equipment - Storage  Solar </vt:lpstr>
      <vt:lpstr>Cold chain equipment - Storage  Non - Electric </vt:lpstr>
      <vt:lpstr>Cold chain equipment - Storage  Non - Electric </vt:lpstr>
      <vt:lpstr>Open vial policy, VVM and shake test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2025-03-25T14:42:28Z</dcterms:created>
  <dcterms:modified xsi:type="dcterms:W3CDTF">2025-03-25T17:20:41Z</dcterms:modified>
</cp:coreProperties>
</file>