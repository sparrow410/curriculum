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56" r:id="rId3"/>
    <p:sldId id="257" r:id="rId4"/>
    <p:sldId id="258" r:id="rId5"/>
    <p:sldId id="259" r:id="rId6"/>
    <p:sldId id="260" r:id="rId7"/>
    <p:sldId id="261" r:id="rId8"/>
    <p:sldId id="262" r:id="rId9"/>
    <p:sldId id="263" r:id="rId10"/>
    <p:sldId id="264" r:id="rId11"/>
    <p:sldId id="265" r:id="rId12"/>
    <p:sldId id="268" r:id="rId13"/>
    <p:sldId id="269" r:id="rId14"/>
    <p:sldId id="270" r:id="rId15"/>
    <p:sldId id="271" r:id="rId16"/>
    <p:sldId id="272" r:id="rId17"/>
    <p:sldId id="273" r:id="rId18"/>
    <p:sldId id="274" r:id="rId19"/>
    <p:sldId id="275" r:id="rId20"/>
    <p:sldId id="276" r:id="rId21"/>
    <p:sldId id="279" r:id="rId22"/>
    <p:sldId id="277" r:id="rId23"/>
    <p:sldId id="282" r:id="rId24"/>
    <p:sldId id="283" r:id="rId25"/>
    <p:sldId id="284" r:id="rId26"/>
    <p:sldId id="285" r:id="rId27"/>
    <p:sldId id="286" r:id="rId28"/>
    <p:sldId id="287" r:id="rId29"/>
    <p:sldId id="288" r:id="rId30"/>
    <p:sldId id="289" r:id="rId31"/>
    <p:sldId id="290" r:id="rId32"/>
    <p:sldId id="291" r:id="rId33"/>
    <p:sldId id="292" r:id="rId34"/>
    <p:sldId id="27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3A74D6-79C8-45E7-BE15-588461A6588B}" v="10" dt="2024-05-16T00:17:26.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5F3A74D6-79C8-45E7-BE15-588461A6588B}"/>
    <pc:docChg chg="addSld delSld modSld">
      <pc:chgData name="mukul maheshwari" userId="12cb43e2ca5f0d2c" providerId="LiveId" clId="{5F3A74D6-79C8-45E7-BE15-588461A6588B}" dt="2024-05-16T00:17:26.967" v="10" actId="47"/>
      <pc:docMkLst>
        <pc:docMk/>
      </pc:docMkLst>
      <pc:sldChg chg="del">
        <pc:chgData name="mukul maheshwari" userId="12cb43e2ca5f0d2c" providerId="LiveId" clId="{5F3A74D6-79C8-45E7-BE15-588461A6588B}" dt="2023-07-17T21:52:01.007" v="0" actId="47"/>
        <pc:sldMkLst>
          <pc:docMk/>
          <pc:sldMk cId="2754356211" sldId="266"/>
        </pc:sldMkLst>
      </pc:sldChg>
      <pc:sldChg chg="del">
        <pc:chgData name="mukul maheshwari" userId="12cb43e2ca5f0d2c" providerId="LiveId" clId="{5F3A74D6-79C8-45E7-BE15-588461A6588B}" dt="2024-05-16T00:17:24.973" v="9" actId="47"/>
        <pc:sldMkLst>
          <pc:docMk/>
          <pc:sldMk cId="534499811" sldId="280"/>
        </pc:sldMkLst>
      </pc:sldChg>
      <pc:sldChg chg="del">
        <pc:chgData name="mukul maheshwari" userId="12cb43e2ca5f0d2c" providerId="LiveId" clId="{5F3A74D6-79C8-45E7-BE15-588461A6588B}" dt="2024-05-16T00:17:26.967" v="10" actId="47"/>
        <pc:sldMkLst>
          <pc:docMk/>
          <pc:sldMk cId="1090666638" sldId="281"/>
        </pc:sldMkLst>
      </pc:sldChg>
      <pc:sldChg chg="delSp add setBg delDesignElem">
        <pc:chgData name="mukul maheshwari" userId="12cb43e2ca5f0d2c" providerId="LiveId" clId="{5F3A74D6-79C8-45E7-BE15-588461A6588B}" dt="2024-05-16T00:17:21.025" v="8"/>
        <pc:sldMkLst>
          <pc:docMk/>
          <pc:sldMk cId="3749832046" sldId="282"/>
        </pc:sldMkLst>
        <pc:spChg chg="del">
          <ac:chgData name="mukul maheshwari" userId="12cb43e2ca5f0d2c" providerId="LiveId" clId="{5F3A74D6-79C8-45E7-BE15-588461A6588B}" dt="2024-05-16T00:17:21.025" v="8"/>
          <ac:spMkLst>
            <pc:docMk/>
            <pc:sldMk cId="3749832046" sldId="282"/>
            <ac:spMk id="10" creationId="{EDDBB197-D710-4A4F-A9CA-FD2177498BE8}"/>
          </ac:spMkLst>
        </pc:spChg>
        <pc:spChg chg="del">
          <ac:chgData name="mukul maheshwari" userId="12cb43e2ca5f0d2c" providerId="LiveId" clId="{5F3A74D6-79C8-45E7-BE15-588461A6588B}" dt="2024-05-16T00:17:21.025" v="8"/>
          <ac:spMkLst>
            <pc:docMk/>
            <pc:sldMk cId="3749832046" sldId="282"/>
            <ac:spMk id="12" creationId="{975D1CFA-2CDB-4B64-BD9F-85744E8DA12F}"/>
          </ac:spMkLst>
        </pc:spChg>
        <pc:grpChg chg="del">
          <ac:chgData name="mukul maheshwari" userId="12cb43e2ca5f0d2c" providerId="LiveId" clId="{5F3A74D6-79C8-45E7-BE15-588461A6588B}" dt="2024-05-16T00:17:21.025" v="8"/>
          <ac:grpSpMkLst>
            <pc:docMk/>
            <pc:sldMk cId="3749832046" sldId="282"/>
            <ac:grpSpMk id="14" creationId="{25EE5136-01F1-466C-962D-BA9B4C6757AA}"/>
          </ac:grpSpMkLst>
        </pc:grpChg>
      </pc:sldChg>
      <pc:sldChg chg="delSp add setBg delDesignElem">
        <pc:chgData name="mukul maheshwari" userId="12cb43e2ca5f0d2c" providerId="LiveId" clId="{5F3A74D6-79C8-45E7-BE15-588461A6588B}" dt="2024-05-16T00:17:21.025" v="8"/>
        <pc:sldMkLst>
          <pc:docMk/>
          <pc:sldMk cId="3840909516" sldId="283"/>
        </pc:sldMkLst>
        <pc:spChg chg="del">
          <ac:chgData name="mukul maheshwari" userId="12cb43e2ca5f0d2c" providerId="LiveId" clId="{5F3A74D6-79C8-45E7-BE15-588461A6588B}" dt="2024-05-16T00:17:21.025" v="8"/>
          <ac:spMkLst>
            <pc:docMk/>
            <pc:sldMk cId="3840909516" sldId="283"/>
            <ac:spMk id="32" creationId="{5D13CC36-B950-4F02-9BAF-9A7EB267398C}"/>
          </ac:spMkLst>
        </pc:spChg>
        <pc:spChg chg="del">
          <ac:chgData name="mukul maheshwari" userId="12cb43e2ca5f0d2c" providerId="LiveId" clId="{5F3A74D6-79C8-45E7-BE15-588461A6588B}" dt="2024-05-16T00:17:21.025" v="8"/>
          <ac:spMkLst>
            <pc:docMk/>
            <pc:sldMk cId="3840909516" sldId="283"/>
            <ac:spMk id="34" creationId="{4F2E2428-58BA-458D-AA54-05502E63F32F}"/>
          </ac:spMkLst>
        </pc:spChg>
      </pc:sldChg>
      <pc:sldChg chg="delSp add setBg delDesignElem">
        <pc:chgData name="mukul maheshwari" userId="12cb43e2ca5f0d2c" providerId="LiveId" clId="{5F3A74D6-79C8-45E7-BE15-588461A6588B}" dt="2024-05-16T00:17:21.025" v="8"/>
        <pc:sldMkLst>
          <pc:docMk/>
          <pc:sldMk cId="2304194097" sldId="284"/>
        </pc:sldMkLst>
        <pc:spChg chg="del">
          <ac:chgData name="mukul maheshwari" userId="12cb43e2ca5f0d2c" providerId="LiveId" clId="{5F3A74D6-79C8-45E7-BE15-588461A6588B}" dt="2024-05-16T00:17:21.025" v="8"/>
          <ac:spMkLst>
            <pc:docMk/>
            <pc:sldMk cId="2304194097" sldId="284"/>
            <ac:spMk id="10" creationId="{5D13CC36-B950-4F02-9BAF-9A7EB267398C}"/>
          </ac:spMkLst>
        </pc:spChg>
        <pc:spChg chg="del">
          <ac:chgData name="mukul maheshwari" userId="12cb43e2ca5f0d2c" providerId="LiveId" clId="{5F3A74D6-79C8-45E7-BE15-588461A6588B}" dt="2024-05-16T00:17:21.025" v="8"/>
          <ac:spMkLst>
            <pc:docMk/>
            <pc:sldMk cId="2304194097" sldId="284"/>
            <ac:spMk id="12" creationId="{4F2E2428-58BA-458D-AA54-05502E63F32F}"/>
          </ac:spMkLst>
        </pc:spChg>
      </pc:sldChg>
      <pc:sldChg chg="delSp add setBg delDesignElem">
        <pc:chgData name="mukul maheshwari" userId="12cb43e2ca5f0d2c" providerId="LiveId" clId="{5F3A74D6-79C8-45E7-BE15-588461A6588B}" dt="2024-05-16T00:17:21.025" v="8"/>
        <pc:sldMkLst>
          <pc:docMk/>
          <pc:sldMk cId="3497115728" sldId="285"/>
        </pc:sldMkLst>
        <pc:spChg chg="del">
          <ac:chgData name="mukul maheshwari" userId="12cb43e2ca5f0d2c" providerId="LiveId" clId="{5F3A74D6-79C8-45E7-BE15-588461A6588B}" dt="2024-05-16T00:17:21.025" v="8"/>
          <ac:spMkLst>
            <pc:docMk/>
            <pc:sldMk cId="3497115728" sldId="285"/>
            <ac:spMk id="8" creationId="{100EDD19-6802-4EC3-95CE-CFFAB042CFD6}"/>
          </ac:spMkLst>
        </pc:spChg>
        <pc:spChg chg="del">
          <ac:chgData name="mukul maheshwari" userId="12cb43e2ca5f0d2c" providerId="LiveId" clId="{5F3A74D6-79C8-45E7-BE15-588461A6588B}" dt="2024-05-16T00:17:21.025" v="8"/>
          <ac:spMkLst>
            <pc:docMk/>
            <pc:sldMk cId="3497115728" sldId="285"/>
            <ac:spMk id="10" creationId="{DB17E863-922E-4C26-BD64-E8FD41D28661}"/>
          </ac:spMkLst>
        </pc:spChg>
      </pc:sldChg>
      <pc:sldChg chg="delSp add setBg delDesignElem">
        <pc:chgData name="mukul maheshwari" userId="12cb43e2ca5f0d2c" providerId="LiveId" clId="{5F3A74D6-79C8-45E7-BE15-588461A6588B}" dt="2024-05-16T00:17:21.025" v="8"/>
        <pc:sldMkLst>
          <pc:docMk/>
          <pc:sldMk cId="3317384451" sldId="286"/>
        </pc:sldMkLst>
        <pc:spChg chg="del">
          <ac:chgData name="mukul maheshwari" userId="12cb43e2ca5f0d2c" providerId="LiveId" clId="{5F3A74D6-79C8-45E7-BE15-588461A6588B}" dt="2024-05-16T00:17:21.025" v="8"/>
          <ac:spMkLst>
            <pc:docMk/>
            <pc:sldMk cId="3317384451" sldId="286"/>
            <ac:spMk id="23" creationId="{1E020063-2385-44AC-BD67-258E1F0B9FCE}"/>
          </ac:spMkLst>
        </pc:spChg>
        <pc:spChg chg="del">
          <ac:chgData name="mukul maheshwari" userId="12cb43e2ca5f0d2c" providerId="LiveId" clId="{5F3A74D6-79C8-45E7-BE15-588461A6588B}" dt="2024-05-16T00:17:21.025" v="8"/>
          <ac:spMkLst>
            <pc:docMk/>
            <pc:sldMk cId="3317384451" sldId="286"/>
            <ac:spMk id="25" creationId="{7E014A0B-5338-4077-AFE9-A90D04D4492B}"/>
          </ac:spMkLst>
        </pc:spChg>
        <pc:grpChg chg="del">
          <ac:chgData name="mukul maheshwari" userId="12cb43e2ca5f0d2c" providerId="LiveId" clId="{5F3A74D6-79C8-45E7-BE15-588461A6588B}" dt="2024-05-16T00:17:21.025" v="8"/>
          <ac:grpSpMkLst>
            <pc:docMk/>
            <pc:sldMk cId="3317384451" sldId="286"/>
            <ac:grpSpMk id="27" creationId="{78127680-150F-4A90-9950-F66392578116}"/>
          </ac:grpSpMkLst>
        </pc:grpChg>
        <pc:grpChg chg="del">
          <ac:chgData name="mukul maheshwari" userId="12cb43e2ca5f0d2c" providerId="LiveId" clId="{5F3A74D6-79C8-45E7-BE15-588461A6588B}" dt="2024-05-16T00:17:21.025" v="8"/>
          <ac:grpSpMkLst>
            <pc:docMk/>
            <pc:sldMk cId="3317384451" sldId="286"/>
            <ac:grpSpMk id="33" creationId="{466920E5-8640-4C24-A775-8647637094A7}"/>
          </ac:grpSpMkLst>
        </pc:grpChg>
      </pc:sldChg>
      <pc:sldChg chg="add setBg">
        <pc:chgData name="mukul maheshwari" userId="12cb43e2ca5f0d2c" providerId="LiveId" clId="{5F3A74D6-79C8-45E7-BE15-588461A6588B}" dt="2024-05-16T00:17:21.025" v="8"/>
        <pc:sldMkLst>
          <pc:docMk/>
          <pc:sldMk cId="2987524936" sldId="287"/>
        </pc:sldMkLst>
      </pc:sldChg>
      <pc:sldChg chg="delSp add setBg delDesignElem">
        <pc:chgData name="mukul maheshwari" userId="12cb43e2ca5f0d2c" providerId="LiveId" clId="{5F3A74D6-79C8-45E7-BE15-588461A6588B}" dt="2024-05-16T00:17:21.025" v="8"/>
        <pc:sldMkLst>
          <pc:docMk/>
          <pc:sldMk cId="2734352250" sldId="288"/>
        </pc:sldMkLst>
        <pc:spChg chg="del">
          <ac:chgData name="mukul maheshwari" userId="12cb43e2ca5f0d2c" providerId="LiveId" clId="{5F3A74D6-79C8-45E7-BE15-588461A6588B}" dt="2024-05-16T00:17:21.025" v="8"/>
          <ac:spMkLst>
            <pc:docMk/>
            <pc:sldMk cId="2734352250" sldId="288"/>
            <ac:spMk id="8" creationId="{100EDD19-6802-4EC3-95CE-CFFAB042CFD6}"/>
          </ac:spMkLst>
        </pc:spChg>
        <pc:spChg chg="del">
          <ac:chgData name="mukul maheshwari" userId="12cb43e2ca5f0d2c" providerId="LiveId" clId="{5F3A74D6-79C8-45E7-BE15-588461A6588B}" dt="2024-05-16T00:17:21.025" v="8"/>
          <ac:spMkLst>
            <pc:docMk/>
            <pc:sldMk cId="2734352250" sldId="288"/>
            <ac:spMk id="10" creationId="{DB17E863-922E-4C26-BD64-E8FD41D28661}"/>
          </ac:spMkLst>
        </pc:spChg>
      </pc:sldChg>
      <pc:sldChg chg="delSp add setBg delDesignElem">
        <pc:chgData name="mukul maheshwari" userId="12cb43e2ca5f0d2c" providerId="LiveId" clId="{5F3A74D6-79C8-45E7-BE15-588461A6588B}" dt="2024-05-16T00:17:21.025" v="8"/>
        <pc:sldMkLst>
          <pc:docMk/>
          <pc:sldMk cId="2647900322" sldId="289"/>
        </pc:sldMkLst>
        <pc:spChg chg="del">
          <ac:chgData name="mukul maheshwari" userId="12cb43e2ca5f0d2c" providerId="LiveId" clId="{5F3A74D6-79C8-45E7-BE15-588461A6588B}" dt="2024-05-16T00:17:21.025" v="8"/>
          <ac:spMkLst>
            <pc:docMk/>
            <pc:sldMk cId="2647900322" sldId="289"/>
            <ac:spMk id="15" creationId="{100EDD19-6802-4EC3-95CE-CFFAB042CFD6}"/>
          </ac:spMkLst>
        </pc:spChg>
        <pc:spChg chg="del">
          <ac:chgData name="mukul maheshwari" userId="12cb43e2ca5f0d2c" providerId="LiveId" clId="{5F3A74D6-79C8-45E7-BE15-588461A6588B}" dt="2024-05-16T00:17:21.025" v="8"/>
          <ac:spMkLst>
            <pc:docMk/>
            <pc:sldMk cId="2647900322" sldId="289"/>
            <ac:spMk id="17" creationId="{DB17E863-922E-4C26-BD64-E8FD41D28661}"/>
          </ac:spMkLst>
        </pc:spChg>
      </pc:sldChg>
      <pc:sldChg chg="add">
        <pc:chgData name="mukul maheshwari" userId="12cb43e2ca5f0d2c" providerId="LiveId" clId="{5F3A74D6-79C8-45E7-BE15-588461A6588B}" dt="2024-05-16T00:17:21.025" v="8"/>
        <pc:sldMkLst>
          <pc:docMk/>
          <pc:sldMk cId="2081821382" sldId="290"/>
        </pc:sldMkLst>
      </pc:sldChg>
      <pc:sldChg chg="add">
        <pc:chgData name="mukul maheshwari" userId="12cb43e2ca5f0d2c" providerId="LiveId" clId="{5F3A74D6-79C8-45E7-BE15-588461A6588B}" dt="2024-05-16T00:17:21.025" v="8"/>
        <pc:sldMkLst>
          <pc:docMk/>
          <pc:sldMk cId="2224989604" sldId="291"/>
        </pc:sldMkLst>
      </pc:sldChg>
      <pc:sldChg chg="add">
        <pc:chgData name="mukul maheshwari" userId="12cb43e2ca5f0d2c" providerId="LiveId" clId="{5F3A74D6-79C8-45E7-BE15-588461A6588B}" dt="2024-05-16T00:17:21.025" v="8"/>
        <pc:sldMkLst>
          <pc:docMk/>
          <pc:sldMk cId="2530934759" sldId="292"/>
        </pc:sldMkLst>
      </pc:sldChg>
    </pc:docChg>
  </pc:docChgLst>
  <pc:docChgLst>
    <pc:chgData name="mukul maheshwari" userId="12cb43e2ca5f0d2c" providerId="LiveId" clId="{92640179-14D1-F748-96AC-7B46B9166F62}"/>
    <pc:docChg chg="custSel addSld modSld">
      <pc:chgData name="mukul maheshwari" userId="12cb43e2ca5f0d2c" providerId="LiveId" clId="{92640179-14D1-F748-96AC-7B46B9166F62}" dt="2024-05-15T23:54:57.969" v="3" actId="478"/>
      <pc:docMkLst>
        <pc:docMk/>
      </pc:docMkLst>
      <pc:sldChg chg="addSp delSp modSp new">
        <pc:chgData name="mukul maheshwari" userId="12cb43e2ca5f0d2c" providerId="LiveId" clId="{92640179-14D1-F748-96AC-7B46B9166F62}" dt="2024-05-15T23:54:57.969" v="3" actId="478"/>
        <pc:sldMkLst>
          <pc:docMk/>
          <pc:sldMk cId="534499811" sldId="280"/>
        </pc:sldMkLst>
        <pc:picChg chg="add del mod">
          <ac:chgData name="mukul maheshwari" userId="12cb43e2ca5f0d2c" providerId="LiveId" clId="{92640179-14D1-F748-96AC-7B46B9166F62}" dt="2024-05-15T23:54:57.969" v="3" actId="478"/>
          <ac:picMkLst>
            <pc:docMk/>
            <pc:sldMk cId="534499811" sldId="280"/>
            <ac:picMk id="4" creationId="{A540DABB-85C3-91A8-F400-8A5C13828856}"/>
          </ac:picMkLst>
        </pc:picChg>
      </pc:sldChg>
      <pc:sldChg chg="add">
        <pc:chgData name="mukul maheshwari" userId="12cb43e2ca5f0d2c" providerId="LiveId" clId="{92640179-14D1-F748-96AC-7B46B9166F62}" dt="2024-05-15T23:54:19.935" v="1" actId="571"/>
        <pc:sldMkLst>
          <pc:docMk/>
          <pc:sldMk cId="1090666638" sldId="281"/>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32EEF1-2CE8-4D47-A154-6D6E76C7AEA2}"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567686B-86B2-4A69-B50A-FF2C7F74BB1C}">
      <dgm:prSet/>
      <dgm:spPr/>
      <dgm:t>
        <a:bodyPr/>
        <a:lstStyle/>
        <a:p>
          <a:pPr>
            <a:lnSpc>
              <a:spcPct val="100000"/>
            </a:lnSpc>
            <a:defRPr b="1"/>
          </a:pPr>
          <a:r>
            <a:rPr lang="en-US" b="1"/>
            <a:t>Advantages</a:t>
          </a:r>
        </a:p>
      </dgm:t>
    </dgm:pt>
    <dgm:pt modelId="{0405C2DC-1AA6-45C8-AE33-BDC17197F7A1}" type="parTrans" cxnId="{B43BC2E5-9630-41F4-9BA6-AC9A3181BBEE}">
      <dgm:prSet/>
      <dgm:spPr/>
      <dgm:t>
        <a:bodyPr/>
        <a:lstStyle/>
        <a:p>
          <a:endParaRPr lang="en-US"/>
        </a:p>
      </dgm:t>
    </dgm:pt>
    <dgm:pt modelId="{91F183EA-0947-4899-ACDA-001A25823B26}" type="sibTrans" cxnId="{B43BC2E5-9630-41F4-9BA6-AC9A3181BBEE}">
      <dgm:prSet/>
      <dgm:spPr/>
      <dgm:t>
        <a:bodyPr/>
        <a:lstStyle/>
        <a:p>
          <a:endParaRPr lang="en-US"/>
        </a:p>
      </dgm:t>
    </dgm:pt>
    <dgm:pt modelId="{209496BA-9393-4552-B42F-76180FE09B11}">
      <dgm:prSet custT="1"/>
      <dgm:spPr/>
      <dgm:t>
        <a:bodyPr/>
        <a:lstStyle/>
        <a:p>
          <a:pPr>
            <a:lnSpc>
              <a:spcPct val="100000"/>
            </a:lnSpc>
          </a:pPr>
          <a:r>
            <a:rPr lang="en-US" sz="2800" b="0" i="0" baseline="0"/>
            <a:t>Experimental animals can be bred in laboratories and manipulated easily</a:t>
          </a:r>
          <a:endParaRPr lang="en-US" sz="2800"/>
        </a:p>
      </dgm:t>
    </dgm:pt>
    <dgm:pt modelId="{DD9EB3EC-85FE-42FF-AAEA-A206B420956A}" type="parTrans" cxnId="{3BB43B6C-6A21-4029-A7CB-775BD004C8B2}">
      <dgm:prSet/>
      <dgm:spPr/>
      <dgm:t>
        <a:bodyPr/>
        <a:lstStyle/>
        <a:p>
          <a:endParaRPr lang="en-US"/>
        </a:p>
      </dgm:t>
    </dgm:pt>
    <dgm:pt modelId="{8D6CD548-C865-40E6-9A31-7E03058F8BDB}" type="sibTrans" cxnId="{3BB43B6C-6A21-4029-A7CB-775BD004C8B2}">
      <dgm:prSet/>
      <dgm:spPr/>
      <dgm:t>
        <a:bodyPr/>
        <a:lstStyle/>
        <a:p>
          <a:endParaRPr lang="en-US"/>
        </a:p>
      </dgm:t>
    </dgm:pt>
    <dgm:pt modelId="{C0552BFB-433F-418D-854D-22D5EC175811}">
      <dgm:prSet custT="1"/>
      <dgm:spPr/>
      <dgm:t>
        <a:bodyPr/>
        <a:lstStyle/>
        <a:p>
          <a:pPr>
            <a:lnSpc>
              <a:spcPct val="100000"/>
            </a:lnSpc>
          </a:pPr>
          <a:r>
            <a:rPr lang="en-US" sz="2800" b="0" i="0" baseline="0"/>
            <a:t>Multiply rapidly and enable the investigators to carry out certain experiments (e.g., genetic experiments)</a:t>
          </a:r>
          <a:endParaRPr lang="en-US" sz="2800"/>
        </a:p>
      </dgm:t>
    </dgm:pt>
    <dgm:pt modelId="{AE995DE6-2DEA-4733-8642-6860264125E7}" type="parTrans" cxnId="{FE9FDB12-CEDA-4E7D-BEAA-5B35AD2CFAAD}">
      <dgm:prSet/>
      <dgm:spPr/>
      <dgm:t>
        <a:bodyPr/>
        <a:lstStyle/>
        <a:p>
          <a:endParaRPr lang="en-US"/>
        </a:p>
      </dgm:t>
    </dgm:pt>
    <dgm:pt modelId="{E8267858-A4E2-49F7-8732-96E657FD03AA}" type="sibTrans" cxnId="{FE9FDB12-CEDA-4E7D-BEAA-5B35AD2CFAAD}">
      <dgm:prSet/>
      <dgm:spPr/>
      <dgm:t>
        <a:bodyPr/>
        <a:lstStyle/>
        <a:p>
          <a:endParaRPr lang="en-US"/>
        </a:p>
      </dgm:t>
    </dgm:pt>
    <dgm:pt modelId="{3734A09A-2CEC-4DC2-8CE0-B61AA32BA200}">
      <dgm:prSet/>
      <dgm:spPr/>
      <dgm:t>
        <a:bodyPr/>
        <a:lstStyle/>
        <a:p>
          <a:pPr>
            <a:lnSpc>
              <a:spcPct val="100000"/>
            </a:lnSpc>
            <a:defRPr b="1"/>
          </a:pPr>
          <a:r>
            <a:rPr lang="en-US" b="1"/>
            <a:t>Limitations</a:t>
          </a:r>
        </a:p>
      </dgm:t>
    </dgm:pt>
    <dgm:pt modelId="{BA67349C-F3F3-4F0B-B9A3-56D16FF545FB}" type="parTrans" cxnId="{CC2CB834-062A-462B-AC3C-ABEE2641FFC9}">
      <dgm:prSet/>
      <dgm:spPr/>
      <dgm:t>
        <a:bodyPr/>
        <a:lstStyle/>
        <a:p>
          <a:endParaRPr lang="en-US"/>
        </a:p>
      </dgm:t>
    </dgm:pt>
    <dgm:pt modelId="{9FE1B391-3255-4DCF-B977-5C38B513B164}" type="sibTrans" cxnId="{CC2CB834-062A-462B-AC3C-ABEE2641FFC9}">
      <dgm:prSet/>
      <dgm:spPr/>
      <dgm:t>
        <a:bodyPr/>
        <a:lstStyle/>
        <a:p>
          <a:endParaRPr lang="en-US"/>
        </a:p>
      </dgm:t>
    </dgm:pt>
    <dgm:pt modelId="{AE24515D-89DA-4A11-B99A-BC31F0B45FAD}">
      <dgm:prSet custT="1"/>
      <dgm:spPr/>
      <dgm:t>
        <a:bodyPr/>
        <a:lstStyle/>
        <a:p>
          <a:pPr>
            <a:lnSpc>
              <a:spcPct val="100000"/>
            </a:lnSpc>
          </a:pPr>
          <a:r>
            <a:rPr lang="en-US" sz="2800" b="0" i="0" baseline="0"/>
            <a:t>Not all human diseases can be reproduced in animals. </a:t>
          </a:r>
          <a:endParaRPr lang="en-US" sz="2800"/>
        </a:p>
      </dgm:t>
    </dgm:pt>
    <dgm:pt modelId="{969C21C7-BC60-43B5-A36D-2C27F44224D9}" type="parTrans" cxnId="{FADCEA1E-1AE0-4D49-9E4C-179059ABAEA6}">
      <dgm:prSet/>
      <dgm:spPr/>
      <dgm:t>
        <a:bodyPr/>
        <a:lstStyle/>
        <a:p>
          <a:endParaRPr lang="en-US"/>
        </a:p>
      </dgm:t>
    </dgm:pt>
    <dgm:pt modelId="{E81585C4-B5EB-4BEC-84E1-3F25C6A96FD8}" type="sibTrans" cxnId="{FADCEA1E-1AE0-4D49-9E4C-179059ABAEA6}">
      <dgm:prSet/>
      <dgm:spPr/>
      <dgm:t>
        <a:bodyPr/>
        <a:lstStyle/>
        <a:p>
          <a:endParaRPr lang="en-US"/>
        </a:p>
      </dgm:t>
    </dgm:pt>
    <dgm:pt modelId="{9DF1856F-3C99-4210-9E86-A038768A8455}">
      <dgm:prSet custT="1"/>
      <dgm:spPr/>
      <dgm:t>
        <a:bodyPr/>
        <a:lstStyle/>
        <a:p>
          <a:pPr>
            <a:lnSpc>
              <a:spcPct val="100000"/>
            </a:lnSpc>
          </a:pPr>
          <a:r>
            <a:rPr lang="en-US" sz="2800"/>
            <a:t>A</a:t>
          </a:r>
          <a:r>
            <a:rPr lang="en-US" sz="2800" b="0" i="0" baseline="0"/>
            <a:t>ll the conclusions derived from animal experiments may not be strictly applicable to human beings.</a:t>
          </a:r>
          <a:endParaRPr lang="en-US" sz="2800"/>
        </a:p>
      </dgm:t>
    </dgm:pt>
    <dgm:pt modelId="{734533AD-185E-44C5-B057-73586D608D74}" type="parTrans" cxnId="{FF3B5040-CBBB-4EF9-A515-C009BCE6C53F}">
      <dgm:prSet/>
      <dgm:spPr/>
      <dgm:t>
        <a:bodyPr/>
        <a:lstStyle/>
        <a:p>
          <a:endParaRPr lang="en-US"/>
        </a:p>
      </dgm:t>
    </dgm:pt>
    <dgm:pt modelId="{07FEAEEF-41D8-4C54-98AF-5E86EF4CC784}" type="sibTrans" cxnId="{FF3B5040-CBBB-4EF9-A515-C009BCE6C53F}">
      <dgm:prSet/>
      <dgm:spPr/>
      <dgm:t>
        <a:bodyPr/>
        <a:lstStyle/>
        <a:p>
          <a:endParaRPr lang="en-US"/>
        </a:p>
      </dgm:t>
    </dgm:pt>
    <dgm:pt modelId="{37455DF3-0153-4185-A6DC-B1950FC4B9E9}" type="pres">
      <dgm:prSet presAssocID="{A532EEF1-2CE8-4D47-A154-6D6E76C7AEA2}" presName="root" presStyleCnt="0">
        <dgm:presLayoutVars>
          <dgm:dir/>
          <dgm:resizeHandles val="exact"/>
        </dgm:presLayoutVars>
      </dgm:prSet>
      <dgm:spPr/>
    </dgm:pt>
    <dgm:pt modelId="{47FBA5D5-7BF5-4774-B431-A5C2AFE2CDCF}" type="pres">
      <dgm:prSet presAssocID="{E567686B-86B2-4A69-B50A-FF2C7F74BB1C}" presName="compNode" presStyleCnt="0"/>
      <dgm:spPr/>
    </dgm:pt>
    <dgm:pt modelId="{CF682535-0643-4BFB-B2E8-366C8FF6F546}" type="pres">
      <dgm:prSet presAssocID="{E567686B-86B2-4A69-B50A-FF2C7F74BB1C}" presName="iconRect" presStyleLbl="node1" presStyleIdx="0" presStyleCnt="2" custLinFactNeighborY="-6564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at"/>
        </a:ext>
      </dgm:extLst>
    </dgm:pt>
    <dgm:pt modelId="{E98620FF-D167-410C-979B-D59BD16554D6}" type="pres">
      <dgm:prSet presAssocID="{E567686B-86B2-4A69-B50A-FF2C7F74BB1C}" presName="iconSpace" presStyleCnt="0"/>
      <dgm:spPr/>
    </dgm:pt>
    <dgm:pt modelId="{95559497-36DD-42AB-B1D6-AECFA83A80CC}" type="pres">
      <dgm:prSet presAssocID="{E567686B-86B2-4A69-B50A-FF2C7F74BB1C}" presName="parTx" presStyleLbl="revTx" presStyleIdx="0" presStyleCnt="4" custLinFactY="-93563" custLinFactNeighborY="-100000">
        <dgm:presLayoutVars>
          <dgm:chMax val="0"/>
          <dgm:chPref val="0"/>
        </dgm:presLayoutVars>
      </dgm:prSet>
      <dgm:spPr/>
    </dgm:pt>
    <dgm:pt modelId="{B865D8F6-A0A7-42DF-9E5B-E31043D2212E}" type="pres">
      <dgm:prSet presAssocID="{E567686B-86B2-4A69-B50A-FF2C7F74BB1C}" presName="txSpace" presStyleCnt="0"/>
      <dgm:spPr/>
    </dgm:pt>
    <dgm:pt modelId="{C1E7A075-A106-4B3C-9C0A-4363755FA7AE}" type="pres">
      <dgm:prSet presAssocID="{E567686B-86B2-4A69-B50A-FF2C7F74BB1C}" presName="desTx" presStyleLbl="revTx" presStyleIdx="1" presStyleCnt="4" custScaleY="1136669">
        <dgm:presLayoutVars/>
      </dgm:prSet>
      <dgm:spPr/>
    </dgm:pt>
    <dgm:pt modelId="{ECC1AC42-9CAC-418B-8378-D7D00C67D0A3}" type="pres">
      <dgm:prSet presAssocID="{91F183EA-0947-4899-ACDA-001A25823B26}" presName="sibTrans" presStyleCnt="0"/>
      <dgm:spPr/>
    </dgm:pt>
    <dgm:pt modelId="{96A2E091-1651-46CF-BE57-53C183634D29}" type="pres">
      <dgm:prSet presAssocID="{3734A09A-2CEC-4DC2-8CE0-B61AA32BA200}" presName="compNode" presStyleCnt="0"/>
      <dgm:spPr/>
    </dgm:pt>
    <dgm:pt modelId="{D13B7BD1-9377-41D3-9AEE-976DB9E48F17}" type="pres">
      <dgm:prSet presAssocID="{3734A09A-2CEC-4DC2-8CE0-B61AA32BA200}" presName="iconRect" presStyleLbl="node1" presStyleIdx="1" presStyleCnt="2" custLinFactNeighborY="-6564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g"/>
        </a:ext>
      </dgm:extLst>
    </dgm:pt>
    <dgm:pt modelId="{6C8FED48-F6B8-4DB3-A674-036B1669617C}" type="pres">
      <dgm:prSet presAssocID="{3734A09A-2CEC-4DC2-8CE0-B61AA32BA200}" presName="iconSpace" presStyleCnt="0"/>
      <dgm:spPr/>
    </dgm:pt>
    <dgm:pt modelId="{51E14A3D-451C-49F4-9546-231BB326BFE8}" type="pres">
      <dgm:prSet presAssocID="{3734A09A-2CEC-4DC2-8CE0-B61AA32BA200}" presName="parTx" presStyleLbl="revTx" presStyleIdx="2" presStyleCnt="4" custLinFactY="-93563" custLinFactNeighborY="-100000">
        <dgm:presLayoutVars>
          <dgm:chMax val="0"/>
          <dgm:chPref val="0"/>
        </dgm:presLayoutVars>
      </dgm:prSet>
      <dgm:spPr/>
    </dgm:pt>
    <dgm:pt modelId="{1717A1CA-8E35-4279-97E0-308E4EB2D780}" type="pres">
      <dgm:prSet presAssocID="{3734A09A-2CEC-4DC2-8CE0-B61AA32BA200}" presName="txSpace" presStyleCnt="0"/>
      <dgm:spPr/>
    </dgm:pt>
    <dgm:pt modelId="{7155EE90-A093-4E00-9CAA-C481BF922724}" type="pres">
      <dgm:prSet presAssocID="{3734A09A-2CEC-4DC2-8CE0-B61AA32BA200}" presName="desTx" presStyleLbl="revTx" presStyleIdx="3" presStyleCnt="4" custScaleY="1136669">
        <dgm:presLayoutVars/>
      </dgm:prSet>
      <dgm:spPr/>
    </dgm:pt>
  </dgm:ptLst>
  <dgm:cxnLst>
    <dgm:cxn modelId="{FE9FDB12-CEDA-4E7D-BEAA-5B35AD2CFAAD}" srcId="{E567686B-86B2-4A69-B50A-FF2C7F74BB1C}" destId="{C0552BFB-433F-418D-854D-22D5EC175811}" srcOrd="1" destOrd="0" parTransId="{AE995DE6-2DEA-4733-8642-6860264125E7}" sibTransId="{E8267858-A4E2-49F7-8732-96E657FD03AA}"/>
    <dgm:cxn modelId="{FADCEA1E-1AE0-4D49-9E4C-179059ABAEA6}" srcId="{3734A09A-2CEC-4DC2-8CE0-B61AA32BA200}" destId="{AE24515D-89DA-4A11-B99A-BC31F0B45FAD}" srcOrd="0" destOrd="0" parTransId="{969C21C7-BC60-43B5-A36D-2C27F44224D9}" sibTransId="{E81585C4-B5EB-4BEC-84E1-3F25C6A96FD8}"/>
    <dgm:cxn modelId="{5D56B923-7B7F-4EB3-AF82-5574966A1D44}" type="presOf" srcId="{A532EEF1-2CE8-4D47-A154-6D6E76C7AEA2}" destId="{37455DF3-0153-4185-A6DC-B1950FC4B9E9}" srcOrd="0" destOrd="0" presId="urn:microsoft.com/office/officeart/2018/2/layout/IconLabelDescriptionList"/>
    <dgm:cxn modelId="{CC2CB834-062A-462B-AC3C-ABEE2641FFC9}" srcId="{A532EEF1-2CE8-4D47-A154-6D6E76C7AEA2}" destId="{3734A09A-2CEC-4DC2-8CE0-B61AA32BA200}" srcOrd="1" destOrd="0" parTransId="{BA67349C-F3F3-4F0B-B9A3-56D16FF545FB}" sibTransId="{9FE1B391-3255-4DCF-B977-5C38B513B164}"/>
    <dgm:cxn modelId="{8A520C37-92DB-4167-B6C4-2726AC94A08D}" type="presOf" srcId="{AE24515D-89DA-4A11-B99A-BC31F0B45FAD}" destId="{7155EE90-A093-4E00-9CAA-C481BF922724}" srcOrd="0" destOrd="0" presId="urn:microsoft.com/office/officeart/2018/2/layout/IconLabelDescriptionList"/>
    <dgm:cxn modelId="{FF3B5040-CBBB-4EF9-A515-C009BCE6C53F}" srcId="{3734A09A-2CEC-4DC2-8CE0-B61AA32BA200}" destId="{9DF1856F-3C99-4210-9E86-A038768A8455}" srcOrd="1" destOrd="0" parTransId="{734533AD-185E-44C5-B057-73586D608D74}" sibTransId="{07FEAEEF-41D8-4C54-98AF-5E86EF4CC784}"/>
    <dgm:cxn modelId="{01EA1964-0BDE-4569-B1EB-56F3BED579F1}" type="presOf" srcId="{3734A09A-2CEC-4DC2-8CE0-B61AA32BA200}" destId="{51E14A3D-451C-49F4-9546-231BB326BFE8}" srcOrd="0" destOrd="0" presId="urn:microsoft.com/office/officeart/2018/2/layout/IconLabelDescriptionList"/>
    <dgm:cxn modelId="{3BB43B6C-6A21-4029-A7CB-775BD004C8B2}" srcId="{E567686B-86B2-4A69-B50A-FF2C7F74BB1C}" destId="{209496BA-9393-4552-B42F-76180FE09B11}" srcOrd="0" destOrd="0" parTransId="{DD9EB3EC-85FE-42FF-AAEA-A206B420956A}" sibTransId="{8D6CD548-C865-40E6-9A31-7E03058F8BDB}"/>
    <dgm:cxn modelId="{3AD6CD70-6E72-481D-B9B6-C1BF899D5E3B}" type="presOf" srcId="{209496BA-9393-4552-B42F-76180FE09B11}" destId="{C1E7A075-A106-4B3C-9C0A-4363755FA7AE}" srcOrd="0" destOrd="0" presId="urn:microsoft.com/office/officeart/2018/2/layout/IconLabelDescriptionList"/>
    <dgm:cxn modelId="{7FEDD585-4667-48FD-89E6-EF848F448162}" type="presOf" srcId="{E567686B-86B2-4A69-B50A-FF2C7F74BB1C}" destId="{95559497-36DD-42AB-B1D6-AECFA83A80CC}" srcOrd="0" destOrd="0" presId="urn:microsoft.com/office/officeart/2018/2/layout/IconLabelDescriptionList"/>
    <dgm:cxn modelId="{1965C4A0-964B-4EC7-83E8-C959A60EBDD7}" type="presOf" srcId="{9DF1856F-3C99-4210-9E86-A038768A8455}" destId="{7155EE90-A093-4E00-9CAA-C481BF922724}" srcOrd="0" destOrd="1" presId="urn:microsoft.com/office/officeart/2018/2/layout/IconLabelDescriptionList"/>
    <dgm:cxn modelId="{56B024D3-9998-41B0-B9CB-0F24F8AFE6A9}" type="presOf" srcId="{C0552BFB-433F-418D-854D-22D5EC175811}" destId="{C1E7A075-A106-4B3C-9C0A-4363755FA7AE}" srcOrd="0" destOrd="1" presId="urn:microsoft.com/office/officeart/2018/2/layout/IconLabelDescriptionList"/>
    <dgm:cxn modelId="{B43BC2E5-9630-41F4-9BA6-AC9A3181BBEE}" srcId="{A532EEF1-2CE8-4D47-A154-6D6E76C7AEA2}" destId="{E567686B-86B2-4A69-B50A-FF2C7F74BB1C}" srcOrd="0" destOrd="0" parTransId="{0405C2DC-1AA6-45C8-AE33-BDC17197F7A1}" sibTransId="{91F183EA-0947-4899-ACDA-001A25823B26}"/>
    <dgm:cxn modelId="{C6C472CD-CED3-4323-88A7-69B604379757}" type="presParOf" srcId="{37455DF3-0153-4185-A6DC-B1950FC4B9E9}" destId="{47FBA5D5-7BF5-4774-B431-A5C2AFE2CDCF}" srcOrd="0" destOrd="0" presId="urn:microsoft.com/office/officeart/2018/2/layout/IconLabelDescriptionList"/>
    <dgm:cxn modelId="{F81CD933-CFD5-44EE-AD47-02A891007578}" type="presParOf" srcId="{47FBA5D5-7BF5-4774-B431-A5C2AFE2CDCF}" destId="{CF682535-0643-4BFB-B2E8-366C8FF6F546}" srcOrd="0" destOrd="0" presId="urn:microsoft.com/office/officeart/2018/2/layout/IconLabelDescriptionList"/>
    <dgm:cxn modelId="{DC92AD61-F7AF-4357-AFFD-80BB61C3029E}" type="presParOf" srcId="{47FBA5D5-7BF5-4774-B431-A5C2AFE2CDCF}" destId="{E98620FF-D167-410C-979B-D59BD16554D6}" srcOrd="1" destOrd="0" presId="urn:microsoft.com/office/officeart/2018/2/layout/IconLabelDescriptionList"/>
    <dgm:cxn modelId="{27AB6AC7-B0CA-4ED5-A23A-4CC6AD70D39F}" type="presParOf" srcId="{47FBA5D5-7BF5-4774-B431-A5C2AFE2CDCF}" destId="{95559497-36DD-42AB-B1D6-AECFA83A80CC}" srcOrd="2" destOrd="0" presId="urn:microsoft.com/office/officeart/2018/2/layout/IconLabelDescriptionList"/>
    <dgm:cxn modelId="{107F582E-FBB1-4ACB-8F20-75458A3A7FDF}" type="presParOf" srcId="{47FBA5D5-7BF5-4774-B431-A5C2AFE2CDCF}" destId="{B865D8F6-A0A7-42DF-9E5B-E31043D2212E}" srcOrd="3" destOrd="0" presId="urn:microsoft.com/office/officeart/2018/2/layout/IconLabelDescriptionList"/>
    <dgm:cxn modelId="{A471AAB5-6C2A-4D93-9A58-3B38B99B140A}" type="presParOf" srcId="{47FBA5D5-7BF5-4774-B431-A5C2AFE2CDCF}" destId="{C1E7A075-A106-4B3C-9C0A-4363755FA7AE}" srcOrd="4" destOrd="0" presId="urn:microsoft.com/office/officeart/2018/2/layout/IconLabelDescriptionList"/>
    <dgm:cxn modelId="{7FC3FAEB-4B6F-4649-9D5F-8435DFAEB06B}" type="presParOf" srcId="{37455DF3-0153-4185-A6DC-B1950FC4B9E9}" destId="{ECC1AC42-9CAC-418B-8378-D7D00C67D0A3}" srcOrd="1" destOrd="0" presId="urn:microsoft.com/office/officeart/2018/2/layout/IconLabelDescriptionList"/>
    <dgm:cxn modelId="{CFC0D54B-CD59-49EB-9F5E-9D507734B22D}" type="presParOf" srcId="{37455DF3-0153-4185-A6DC-B1950FC4B9E9}" destId="{96A2E091-1651-46CF-BE57-53C183634D29}" srcOrd="2" destOrd="0" presId="urn:microsoft.com/office/officeart/2018/2/layout/IconLabelDescriptionList"/>
    <dgm:cxn modelId="{A86DDC35-EFE7-4E1B-99D6-BD60FDB5BC3D}" type="presParOf" srcId="{96A2E091-1651-46CF-BE57-53C183634D29}" destId="{D13B7BD1-9377-41D3-9AEE-976DB9E48F17}" srcOrd="0" destOrd="0" presId="urn:microsoft.com/office/officeart/2018/2/layout/IconLabelDescriptionList"/>
    <dgm:cxn modelId="{A5C4E706-2896-4BBF-A18C-69650F2EFB5C}" type="presParOf" srcId="{96A2E091-1651-46CF-BE57-53C183634D29}" destId="{6C8FED48-F6B8-4DB3-A674-036B1669617C}" srcOrd="1" destOrd="0" presId="urn:microsoft.com/office/officeart/2018/2/layout/IconLabelDescriptionList"/>
    <dgm:cxn modelId="{282E04D2-D148-453A-AC9B-4ABC3CC45918}" type="presParOf" srcId="{96A2E091-1651-46CF-BE57-53C183634D29}" destId="{51E14A3D-451C-49F4-9546-231BB326BFE8}" srcOrd="2" destOrd="0" presId="urn:microsoft.com/office/officeart/2018/2/layout/IconLabelDescriptionList"/>
    <dgm:cxn modelId="{74838E19-5CD9-4CE1-B488-754AF385880E}" type="presParOf" srcId="{96A2E091-1651-46CF-BE57-53C183634D29}" destId="{1717A1CA-8E35-4279-97E0-308E4EB2D780}" srcOrd="3" destOrd="0" presId="urn:microsoft.com/office/officeart/2018/2/layout/IconLabelDescriptionList"/>
    <dgm:cxn modelId="{7C59C2FB-4822-473C-8873-DF96BBD360D1}" type="presParOf" srcId="{96A2E091-1651-46CF-BE57-53C183634D29}" destId="{7155EE90-A093-4E00-9CAA-C481BF92272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AB3849-AC37-4C07-88BB-14E2286AA42D}"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ADF2D434-4B34-49E0-9319-C7DCAFAE64BD}">
      <dgm:prSet/>
      <dgm:spPr/>
      <dgm:t>
        <a:bodyPr/>
        <a:lstStyle/>
        <a:p>
          <a:r>
            <a:rPr lang="en-US"/>
            <a:t>James Lind – Scurvy</a:t>
          </a:r>
        </a:p>
      </dgm:t>
    </dgm:pt>
    <dgm:pt modelId="{CF6B005E-4235-47C6-8090-0371CEF973BD}" type="parTrans" cxnId="{B5FAC200-E1EC-4332-8CFA-28CBE6390124}">
      <dgm:prSet/>
      <dgm:spPr/>
      <dgm:t>
        <a:bodyPr/>
        <a:lstStyle/>
        <a:p>
          <a:endParaRPr lang="en-US"/>
        </a:p>
      </dgm:t>
    </dgm:pt>
    <dgm:pt modelId="{2C7CFD34-71BB-45CE-A330-08862B9A44D4}" type="sibTrans" cxnId="{B5FAC200-E1EC-4332-8CFA-28CBE6390124}">
      <dgm:prSet/>
      <dgm:spPr/>
      <dgm:t>
        <a:bodyPr/>
        <a:lstStyle/>
        <a:p>
          <a:endParaRPr lang="en-US"/>
        </a:p>
      </dgm:t>
    </dgm:pt>
    <dgm:pt modelId="{913D59B4-513A-49C1-B736-05120E074D4A}">
      <dgm:prSet/>
      <dgm:spPr/>
      <dgm:t>
        <a:bodyPr/>
        <a:lstStyle/>
        <a:p>
          <a:r>
            <a:rPr lang="en-US"/>
            <a:t>Edward Jenner – Small pox</a:t>
          </a:r>
        </a:p>
      </dgm:t>
    </dgm:pt>
    <dgm:pt modelId="{F9461197-EC31-4B28-A00F-D9E131814394}" type="parTrans" cxnId="{6DB00055-9861-48BE-B84D-A9C46BF005E3}">
      <dgm:prSet/>
      <dgm:spPr/>
      <dgm:t>
        <a:bodyPr/>
        <a:lstStyle/>
        <a:p>
          <a:endParaRPr lang="en-US"/>
        </a:p>
      </dgm:t>
    </dgm:pt>
    <dgm:pt modelId="{F8EC39B9-CAB5-43D0-BBD9-8791A716C185}" type="sibTrans" cxnId="{6DB00055-9861-48BE-B84D-A9C46BF005E3}">
      <dgm:prSet/>
      <dgm:spPr/>
      <dgm:t>
        <a:bodyPr/>
        <a:lstStyle/>
        <a:p>
          <a:endParaRPr lang="en-US"/>
        </a:p>
      </dgm:t>
    </dgm:pt>
    <dgm:pt modelId="{8F48E04C-66D0-41F1-88AF-CEDA464A7D64}">
      <dgm:prSet/>
      <dgm:spPr/>
      <dgm:t>
        <a:bodyPr/>
        <a:lstStyle/>
        <a:p>
          <a:r>
            <a:rPr lang="en-US"/>
            <a:t>Finlay and Reed – yellow fever</a:t>
          </a:r>
        </a:p>
      </dgm:t>
    </dgm:pt>
    <dgm:pt modelId="{5222224E-E202-47FD-9C29-00BAC25E5469}" type="parTrans" cxnId="{4C44CBD2-F1D1-430F-8337-77EBD5470B63}">
      <dgm:prSet/>
      <dgm:spPr/>
      <dgm:t>
        <a:bodyPr/>
        <a:lstStyle/>
        <a:p>
          <a:endParaRPr lang="en-US"/>
        </a:p>
      </dgm:t>
    </dgm:pt>
    <dgm:pt modelId="{9A244499-2B39-4C56-AD76-692859C29936}" type="sibTrans" cxnId="{4C44CBD2-F1D1-430F-8337-77EBD5470B63}">
      <dgm:prSet/>
      <dgm:spPr/>
      <dgm:t>
        <a:bodyPr/>
        <a:lstStyle/>
        <a:p>
          <a:endParaRPr lang="en-US"/>
        </a:p>
      </dgm:t>
    </dgm:pt>
    <dgm:pt modelId="{1BFA819D-5F84-484B-988B-CEBE01734340}">
      <dgm:prSet/>
      <dgm:spPr/>
      <dgm:t>
        <a:bodyPr/>
        <a:lstStyle/>
        <a:p>
          <a:r>
            <a:rPr lang="en-US"/>
            <a:t>Goldberger - pllagra</a:t>
          </a:r>
        </a:p>
      </dgm:t>
    </dgm:pt>
    <dgm:pt modelId="{4597FA78-FE58-43D8-BB0F-2817EA0DB9F3}" type="parTrans" cxnId="{B0E55BC1-88DF-4F6E-9524-20FD653E8F0C}">
      <dgm:prSet/>
      <dgm:spPr/>
      <dgm:t>
        <a:bodyPr/>
        <a:lstStyle/>
        <a:p>
          <a:endParaRPr lang="en-US"/>
        </a:p>
      </dgm:t>
    </dgm:pt>
    <dgm:pt modelId="{6BD278B9-C468-45EF-8493-96E5340EFFDC}" type="sibTrans" cxnId="{B0E55BC1-88DF-4F6E-9524-20FD653E8F0C}">
      <dgm:prSet/>
      <dgm:spPr/>
      <dgm:t>
        <a:bodyPr/>
        <a:lstStyle/>
        <a:p>
          <a:endParaRPr lang="en-US"/>
        </a:p>
      </dgm:t>
    </dgm:pt>
    <dgm:pt modelId="{5EA50B23-7C12-42FE-BE5D-FFBAAB953EF4}" type="pres">
      <dgm:prSet presAssocID="{6BAB3849-AC37-4C07-88BB-14E2286AA42D}" presName="vert0" presStyleCnt="0">
        <dgm:presLayoutVars>
          <dgm:dir/>
          <dgm:animOne val="branch"/>
          <dgm:animLvl val="lvl"/>
        </dgm:presLayoutVars>
      </dgm:prSet>
      <dgm:spPr/>
    </dgm:pt>
    <dgm:pt modelId="{976E3D69-C220-4CAC-95E9-4608A8D96D5B}" type="pres">
      <dgm:prSet presAssocID="{ADF2D434-4B34-49E0-9319-C7DCAFAE64BD}" presName="thickLine" presStyleLbl="alignNode1" presStyleIdx="0" presStyleCnt="4"/>
      <dgm:spPr/>
    </dgm:pt>
    <dgm:pt modelId="{CB0F2875-7D96-4445-8EA8-800914FC8C27}" type="pres">
      <dgm:prSet presAssocID="{ADF2D434-4B34-49E0-9319-C7DCAFAE64BD}" presName="horz1" presStyleCnt="0"/>
      <dgm:spPr/>
    </dgm:pt>
    <dgm:pt modelId="{9B62F883-3145-4D8A-AB37-EF9169492644}" type="pres">
      <dgm:prSet presAssocID="{ADF2D434-4B34-49E0-9319-C7DCAFAE64BD}" presName="tx1" presStyleLbl="revTx" presStyleIdx="0" presStyleCnt="4"/>
      <dgm:spPr/>
    </dgm:pt>
    <dgm:pt modelId="{85C4D9BC-75D4-4E3C-9DE1-66B7D1D92D25}" type="pres">
      <dgm:prSet presAssocID="{ADF2D434-4B34-49E0-9319-C7DCAFAE64BD}" presName="vert1" presStyleCnt="0"/>
      <dgm:spPr/>
    </dgm:pt>
    <dgm:pt modelId="{93A0507F-C2FA-40A3-85FA-2C2354532582}" type="pres">
      <dgm:prSet presAssocID="{913D59B4-513A-49C1-B736-05120E074D4A}" presName="thickLine" presStyleLbl="alignNode1" presStyleIdx="1" presStyleCnt="4"/>
      <dgm:spPr/>
    </dgm:pt>
    <dgm:pt modelId="{1C1A6EFC-76DD-4370-86D0-83365F024972}" type="pres">
      <dgm:prSet presAssocID="{913D59B4-513A-49C1-B736-05120E074D4A}" presName="horz1" presStyleCnt="0"/>
      <dgm:spPr/>
    </dgm:pt>
    <dgm:pt modelId="{4285D917-7614-4BCC-BD92-077350F601E5}" type="pres">
      <dgm:prSet presAssocID="{913D59B4-513A-49C1-B736-05120E074D4A}" presName="tx1" presStyleLbl="revTx" presStyleIdx="1" presStyleCnt="4"/>
      <dgm:spPr/>
    </dgm:pt>
    <dgm:pt modelId="{D61E4391-F0AB-45E3-BD9D-156F9CA55790}" type="pres">
      <dgm:prSet presAssocID="{913D59B4-513A-49C1-B736-05120E074D4A}" presName="vert1" presStyleCnt="0"/>
      <dgm:spPr/>
    </dgm:pt>
    <dgm:pt modelId="{08978A98-FA38-47D3-89A6-4A8479A556FE}" type="pres">
      <dgm:prSet presAssocID="{8F48E04C-66D0-41F1-88AF-CEDA464A7D64}" presName="thickLine" presStyleLbl="alignNode1" presStyleIdx="2" presStyleCnt="4"/>
      <dgm:spPr/>
    </dgm:pt>
    <dgm:pt modelId="{81281743-8BAD-495C-8653-C4CB88C351CB}" type="pres">
      <dgm:prSet presAssocID="{8F48E04C-66D0-41F1-88AF-CEDA464A7D64}" presName="horz1" presStyleCnt="0"/>
      <dgm:spPr/>
    </dgm:pt>
    <dgm:pt modelId="{6712BA08-3F28-420D-BDD8-132BA831F912}" type="pres">
      <dgm:prSet presAssocID="{8F48E04C-66D0-41F1-88AF-CEDA464A7D64}" presName="tx1" presStyleLbl="revTx" presStyleIdx="2" presStyleCnt="4"/>
      <dgm:spPr/>
    </dgm:pt>
    <dgm:pt modelId="{5CE32922-7FD1-4294-95D0-1C6A9CBBAAAD}" type="pres">
      <dgm:prSet presAssocID="{8F48E04C-66D0-41F1-88AF-CEDA464A7D64}" presName="vert1" presStyleCnt="0"/>
      <dgm:spPr/>
    </dgm:pt>
    <dgm:pt modelId="{AB8AF9A0-F7B2-43C0-B142-1F84EA034E0D}" type="pres">
      <dgm:prSet presAssocID="{1BFA819D-5F84-484B-988B-CEBE01734340}" presName="thickLine" presStyleLbl="alignNode1" presStyleIdx="3" presStyleCnt="4"/>
      <dgm:spPr/>
    </dgm:pt>
    <dgm:pt modelId="{A132F3F7-D9CB-40B9-9AD7-94BB91921866}" type="pres">
      <dgm:prSet presAssocID="{1BFA819D-5F84-484B-988B-CEBE01734340}" presName="horz1" presStyleCnt="0"/>
      <dgm:spPr/>
    </dgm:pt>
    <dgm:pt modelId="{071E52F3-ED70-4C54-AEB9-889748B98402}" type="pres">
      <dgm:prSet presAssocID="{1BFA819D-5F84-484B-988B-CEBE01734340}" presName="tx1" presStyleLbl="revTx" presStyleIdx="3" presStyleCnt="4"/>
      <dgm:spPr/>
    </dgm:pt>
    <dgm:pt modelId="{892FB8F9-0ADE-4734-B0C9-E127AA123356}" type="pres">
      <dgm:prSet presAssocID="{1BFA819D-5F84-484B-988B-CEBE01734340}" presName="vert1" presStyleCnt="0"/>
      <dgm:spPr/>
    </dgm:pt>
  </dgm:ptLst>
  <dgm:cxnLst>
    <dgm:cxn modelId="{B5FAC200-E1EC-4332-8CFA-28CBE6390124}" srcId="{6BAB3849-AC37-4C07-88BB-14E2286AA42D}" destId="{ADF2D434-4B34-49E0-9319-C7DCAFAE64BD}" srcOrd="0" destOrd="0" parTransId="{CF6B005E-4235-47C6-8090-0371CEF973BD}" sibTransId="{2C7CFD34-71BB-45CE-A330-08862B9A44D4}"/>
    <dgm:cxn modelId="{BCC3CA13-B7F3-4216-817D-9F6562A76A32}" type="presOf" srcId="{6BAB3849-AC37-4C07-88BB-14E2286AA42D}" destId="{5EA50B23-7C12-42FE-BE5D-FFBAAB953EF4}" srcOrd="0" destOrd="0" presId="urn:microsoft.com/office/officeart/2008/layout/LinedList"/>
    <dgm:cxn modelId="{54810F33-CA40-4DBB-8F55-99DD4245A511}" type="presOf" srcId="{1BFA819D-5F84-484B-988B-CEBE01734340}" destId="{071E52F3-ED70-4C54-AEB9-889748B98402}" srcOrd="0" destOrd="0" presId="urn:microsoft.com/office/officeart/2008/layout/LinedList"/>
    <dgm:cxn modelId="{4C89DF4D-D08F-4E5B-8D09-44E533B28854}" type="presOf" srcId="{ADF2D434-4B34-49E0-9319-C7DCAFAE64BD}" destId="{9B62F883-3145-4D8A-AB37-EF9169492644}" srcOrd="0" destOrd="0" presId="urn:microsoft.com/office/officeart/2008/layout/LinedList"/>
    <dgm:cxn modelId="{6DB00055-9861-48BE-B84D-A9C46BF005E3}" srcId="{6BAB3849-AC37-4C07-88BB-14E2286AA42D}" destId="{913D59B4-513A-49C1-B736-05120E074D4A}" srcOrd="1" destOrd="0" parTransId="{F9461197-EC31-4B28-A00F-D9E131814394}" sibTransId="{F8EC39B9-CAB5-43D0-BBD9-8791A716C185}"/>
    <dgm:cxn modelId="{49D210AD-ABBF-47F1-9CBF-081587B46BFD}" type="presOf" srcId="{913D59B4-513A-49C1-B736-05120E074D4A}" destId="{4285D917-7614-4BCC-BD92-077350F601E5}" srcOrd="0" destOrd="0" presId="urn:microsoft.com/office/officeart/2008/layout/LinedList"/>
    <dgm:cxn modelId="{B0E55BC1-88DF-4F6E-9524-20FD653E8F0C}" srcId="{6BAB3849-AC37-4C07-88BB-14E2286AA42D}" destId="{1BFA819D-5F84-484B-988B-CEBE01734340}" srcOrd="3" destOrd="0" parTransId="{4597FA78-FE58-43D8-BB0F-2817EA0DB9F3}" sibTransId="{6BD278B9-C468-45EF-8493-96E5340EFFDC}"/>
    <dgm:cxn modelId="{A0ACFCD1-74BB-42AE-9B11-58CD384D9A44}" type="presOf" srcId="{8F48E04C-66D0-41F1-88AF-CEDA464A7D64}" destId="{6712BA08-3F28-420D-BDD8-132BA831F912}" srcOrd="0" destOrd="0" presId="urn:microsoft.com/office/officeart/2008/layout/LinedList"/>
    <dgm:cxn modelId="{4C44CBD2-F1D1-430F-8337-77EBD5470B63}" srcId="{6BAB3849-AC37-4C07-88BB-14E2286AA42D}" destId="{8F48E04C-66D0-41F1-88AF-CEDA464A7D64}" srcOrd="2" destOrd="0" parTransId="{5222224E-E202-47FD-9C29-00BAC25E5469}" sibTransId="{9A244499-2B39-4C56-AD76-692859C29936}"/>
    <dgm:cxn modelId="{8885A078-280D-457E-A6A2-137BE28F1140}" type="presParOf" srcId="{5EA50B23-7C12-42FE-BE5D-FFBAAB953EF4}" destId="{976E3D69-C220-4CAC-95E9-4608A8D96D5B}" srcOrd="0" destOrd="0" presId="urn:microsoft.com/office/officeart/2008/layout/LinedList"/>
    <dgm:cxn modelId="{78AA82F2-BBD2-4CEF-A74A-23CB3CBC8B2A}" type="presParOf" srcId="{5EA50B23-7C12-42FE-BE5D-FFBAAB953EF4}" destId="{CB0F2875-7D96-4445-8EA8-800914FC8C27}" srcOrd="1" destOrd="0" presId="urn:microsoft.com/office/officeart/2008/layout/LinedList"/>
    <dgm:cxn modelId="{11010A95-7F10-4F40-8E9B-DDAE1DE36383}" type="presParOf" srcId="{CB0F2875-7D96-4445-8EA8-800914FC8C27}" destId="{9B62F883-3145-4D8A-AB37-EF9169492644}" srcOrd="0" destOrd="0" presId="urn:microsoft.com/office/officeart/2008/layout/LinedList"/>
    <dgm:cxn modelId="{34833732-2A53-430D-A450-722465C0178D}" type="presParOf" srcId="{CB0F2875-7D96-4445-8EA8-800914FC8C27}" destId="{85C4D9BC-75D4-4E3C-9DE1-66B7D1D92D25}" srcOrd="1" destOrd="0" presId="urn:microsoft.com/office/officeart/2008/layout/LinedList"/>
    <dgm:cxn modelId="{D1F23217-9FBB-4C76-BA15-2359AF9E96DE}" type="presParOf" srcId="{5EA50B23-7C12-42FE-BE5D-FFBAAB953EF4}" destId="{93A0507F-C2FA-40A3-85FA-2C2354532582}" srcOrd="2" destOrd="0" presId="urn:microsoft.com/office/officeart/2008/layout/LinedList"/>
    <dgm:cxn modelId="{EDAC9B77-A31C-40D0-B8A0-D7E82F113A4B}" type="presParOf" srcId="{5EA50B23-7C12-42FE-BE5D-FFBAAB953EF4}" destId="{1C1A6EFC-76DD-4370-86D0-83365F024972}" srcOrd="3" destOrd="0" presId="urn:microsoft.com/office/officeart/2008/layout/LinedList"/>
    <dgm:cxn modelId="{0283B947-4A2A-428F-9295-6FFEB05C825C}" type="presParOf" srcId="{1C1A6EFC-76DD-4370-86D0-83365F024972}" destId="{4285D917-7614-4BCC-BD92-077350F601E5}" srcOrd="0" destOrd="0" presId="urn:microsoft.com/office/officeart/2008/layout/LinedList"/>
    <dgm:cxn modelId="{538A2DCF-5AAE-4708-8239-C4F9E2628E33}" type="presParOf" srcId="{1C1A6EFC-76DD-4370-86D0-83365F024972}" destId="{D61E4391-F0AB-45E3-BD9D-156F9CA55790}" srcOrd="1" destOrd="0" presId="urn:microsoft.com/office/officeart/2008/layout/LinedList"/>
    <dgm:cxn modelId="{20B4D7A3-0F27-4838-97BD-58233D148AFA}" type="presParOf" srcId="{5EA50B23-7C12-42FE-BE5D-FFBAAB953EF4}" destId="{08978A98-FA38-47D3-89A6-4A8479A556FE}" srcOrd="4" destOrd="0" presId="urn:microsoft.com/office/officeart/2008/layout/LinedList"/>
    <dgm:cxn modelId="{B8E1B824-8253-43EA-8679-3B1191334B0A}" type="presParOf" srcId="{5EA50B23-7C12-42FE-BE5D-FFBAAB953EF4}" destId="{81281743-8BAD-495C-8653-C4CB88C351CB}" srcOrd="5" destOrd="0" presId="urn:microsoft.com/office/officeart/2008/layout/LinedList"/>
    <dgm:cxn modelId="{F4155A7E-30FF-4456-9B47-DA6595CD39A7}" type="presParOf" srcId="{81281743-8BAD-495C-8653-C4CB88C351CB}" destId="{6712BA08-3F28-420D-BDD8-132BA831F912}" srcOrd="0" destOrd="0" presId="urn:microsoft.com/office/officeart/2008/layout/LinedList"/>
    <dgm:cxn modelId="{2DEB5C1E-CE30-4073-AEA9-A6192446DF4C}" type="presParOf" srcId="{81281743-8BAD-495C-8653-C4CB88C351CB}" destId="{5CE32922-7FD1-4294-95D0-1C6A9CBBAAAD}" srcOrd="1" destOrd="0" presId="urn:microsoft.com/office/officeart/2008/layout/LinedList"/>
    <dgm:cxn modelId="{6E35F4B3-80C7-4B31-ACD5-958FA3C04F9E}" type="presParOf" srcId="{5EA50B23-7C12-42FE-BE5D-FFBAAB953EF4}" destId="{AB8AF9A0-F7B2-43C0-B142-1F84EA034E0D}" srcOrd="6" destOrd="0" presId="urn:microsoft.com/office/officeart/2008/layout/LinedList"/>
    <dgm:cxn modelId="{2EDB38F9-8814-4233-8A60-74CFBF3B35EE}" type="presParOf" srcId="{5EA50B23-7C12-42FE-BE5D-FFBAAB953EF4}" destId="{A132F3F7-D9CB-40B9-9AD7-94BB91921866}" srcOrd="7" destOrd="0" presId="urn:microsoft.com/office/officeart/2008/layout/LinedList"/>
    <dgm:cxn modelId="{9858D4F5-517B-485C-B978-B1FAB418F6AE}" type="presParOf" srcId="{A132F3F7-D9CB-40B9-9AD7-94BB91921866}" destId="{071E52F3-ED70-4C54-AEB9-889748B98402}" srcOrd="0" destOrd="0" presId="urn:microsoft.com/office/officeart/2008/layout/LinedList"/>
    <dgm:cxn modelId="{98175982-525E-4D0B-93FC-3CFD4D148134}" type="presParOf" srcId="{A132F3F7-D9CB-40B9-9AD7-94BB91921866}" destId="{892FB8F9-0ADE-4734-B0C9-E127AA12335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37D877-540A-4628-99E8-A5433545977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70C3154-3B8B-4998-A7BB-CB027863A4A5}">
      <dgm:prSet custT="1"/>
      <dgm:spPr/>
      <dgm:t>
        <a:bodyPr/>
        <a:lstStyle/>
        <a:p>
          <a:pPr>
            <a:lnSpc>
              <a:spcPct val="100000"/>
            </a:lnSpc>
          </a:pPr>
          <a:r>
            <a:rPr lang="en-US" sz="2800" b="1" i="0" u="sng" baseline="0">
              <a:solidFill>
                <a:schemeClr val="tx1"/>
              </a:solidFill>
            </a:rPr>
            <a:t>Randomized controlled trials </a:t>
          </a:r>
          <a:r>
            <a:rPr lang="en-US" sz="2800" b="0" i="0" baseline="0">
              <a:solidFill>
                <a:schemeClr val="tx1"/>
              </a:solidFill>
            </a:rPr>
            <a:t>(i.e., those involving a process of random allocation)</a:t>
          </a:r>
          <a:endParaRPr lang="en-US" sz="2800">
            <a:solidFill>
              <a:schemeClr val="tx1"/>
            </a:solidFill>
          </a:endParaRPr>
        </a:p>
      </dgm:t>
    </dgm:pt>
    <dgm:pt modelId="{AA2A3026-4C99-4E97-9C86-3BE109136E20}" type="parTrans" cxnId="{C102D3D4-4E77-40AF-94AC-BADAE07C3F2A}">
      <dgm:prSet/>
      <dgm:spPr/>
      <dgm:t>
        <a:bodyPr/>
        <a:lstStyle/>
        <a:p>
          <a:endParaRPr lang="en-US" sz="2000">
            <a:solidFill>
              <a:schemeClr val="tx1"/>
            </a:solidFill>
          </a:endParaRPr>
        </a:p>
      </dgm:t>
    </dgm:pt>
    <dgm:pt modelId="{73C6651D-377E-413E-8554-D69EC835CD4C}" type="sibTrans" cxnId="{C102D3D4-4E77-40AF-94AC-BADAE07C3F2A}">
      <dgm:prSet/>
      <dgm:spPr/>
      <dgm:t>
        <a:bodyPr/>
        <a:lstStyle/>
        <a:p>
          <a:endParaRPr lang="en-US" sz="2000">
            <a:solidFill>
              <a:schemeClr val="tx1"/>
            </a:solidFill>
          </a:endParaRPr>
        </a:p>
      </dgm:t>
    </dgm:pt>
    <dgm:pt modelId="{B60C8E99-93A0-4C74-922F-1BD71AE44C0A}">
      <dgm:prSet custT="1"/>
      <dgm:spPr/>
      <dgm:t>
        <a:bodyPr/>
        <a:lstStyle/>
        <a:p>
          <a:pPr>
            <a:lnSpc>
              <a:spcPct val="100000"/>
            </a:lnSpc>
          </a:pPr>
          <a:r>
            <a:rPr lang="en-US" sz="2400" b="1" i="0" u="sng" baseline="0">
              <a:solidFill>
                <a:schemeClr val="tx1"/>
              </a:solidFill>
            </a:rPr>
            <a:t>Non-randomized or ‘non-experimental’ trials </a:t>
          </a:r>
          <a:r>
            <a:rPr lang="en-US" sz="2400" b="0" i="0" baseline="0">
              <a:solidFill>
                <a:schemeClr val="tx1"/>
              </a:solidFill>
            </a:rPr>
            <a:t>(i.e., those departing from strict randomization for practical purposes, but in such a manner that nonrandomization does not seriously affect the theoretical basis of conclusions).</a:t>
          </a:r>
          <a:endParaRPr lang="en-US" sz="2400">
            <a:solidFill>
              <a:schemeClr val="tx1"/>
            </a:solidFill>
          </a:endParaRPr>
        </a:p>
      </dgm:t>
    </dgm:pt>
    <dgm:pt modelId="{EC44AD8B-E649-4CB4-9F70-1B72008A89DE}" type="parTrans" cxnId="{FBB2BF4B-2534-48DF-A199-43C3D57336B4}">
      <dgm:prSet/>
      <dgm:spPr/>
      <dgm:t>
        <a:bodyPr/>
        <a:lstStyle/>
        <a:p>
          <a:endParaRPr lang="en-US" sz="2000">
            <a:solidFill>
              <a:schemeClr val="tx1"/>
            </a:solidFill>
          </a:endParaRPr>
        </a:p>
      </dgm:t>
    </dgm:pt>
    <dgm:pt modelId="{2E07677E-35EA-434B-BE4D-500B1983ECDB}" type="sibTrans" cxnId="{FBB2BF4B-2534-48DF-A199-43C3D57336B4}">
      <dgm:prSet/>
      <dgm:spPr/>
      <dgm:t>
        <a:bodyPr/>
        <a:lstStyle/>
        <a:p>
          <a:endParaRPr lang="en-US" sz="2000">
            <a:solidFill>
              <a:schemeClr val="tx1"/>
            </a:solidFill>
          </a:endParaRPr>
        </a:p>
      </dgm:t>
    </dgm:pt>
    <dgm:pt modelId="{79EF1110-EC43-4DD3-B583-CBC95DD03160}" type="pres">
      <dgm:prSet presAssocID="{9437D877-540A-4628-99E8-A54335459776}" presName="root" presStyleCnt="0">
        <dgm:presLayoutVars>
          <dgm:dir/>
          <dgm:resizeHandles val="exact"/>
        </dgm:presLayoutVars>
      </dgm:prSet>
      <dgm:spPr/>
    </dgm:pt>
    <dgm:pt modelId="{C453D519-4A87-4B44-94A1-73E3CEA6D898}" type="pres">
      <dgm:prSet presAssocID="{E70C3154-3B8B-4998-A7BB-CB027863A4A5}" presName="compNode" presStyleCnt="0"/>
      <dgm:spPr/>
    </dgm:pt>
    <dgm:pt modelId="{55EBCED7-DF9F-46CF-A319-E63F4F163F69}" type="pres">
      <dgm:prSet presAssocID="{E70C3154-3B8B-4998-A7BB-CB027863A4A5}" presName="bgRect" presStyleLbl="bgShp" presStyleIdx="0" presStyleCnt="2" custScaleY="193115"/>
      <dgm:spPr/>
    </dgm:pt>
    <dgm:pt modelId="{752D8BD3-EF82-43A9-84FC-9E701ACF5702}" type="pres">
      <dgm:prSet presAssocID="{E70C3154-3B8B-4998-A7BB-CB027863A4A5}" presName="iconRect" presStyleLbl="node1" presStyleIdx="0" presStyleCnt="2" custScaleX="191630" custScaleY="235329"/>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rget Audience"/>
        </a:ext>
      </dgm:extLst>
    </dgm:pt>
    <dgm:pt modelId="{3B61E34B-A66C-4906-9BE5-B22D699A49FD}" type="pres">
      <dgm:prSet presAssocID="{E70C3154-3B8B-4998-A7BB-CB027863A4A5}" presName="spaceRect" presStyleCnt="0"/>
      <dgm:spPr/>
    </dgm:pt>
    <dgm:pt modelId="{4EC0A5BD-CDDE-4E6B-9D2D-54403FDA09DC}" type="pres">
      <dgm:prSet presAssocID="{E70C3154-3B8B-4998-A7BB-CB027863A4A5}" presName="parTx" presStyleLbl="revTx" presStyleIdx="0" presStyleCnt="2">
        <dgm:presLayoutVars>
          <dgm:chMax val="0"/>
          <dgm:chPref val="0"/>
        </dgm:presLayoutVars>
      </dgm:prSet>
      <dgm:spPr/>
    </dgm:pt>
    <dgm:pt modelId="{7F930F0A-9394-43F0-8603-939EC7D47A3F}" type="pres">
      <dgm:prSet presAssocID="{73C6651D-377E-413E-8554-D69EC835CD4C}" presName="sibTrans" presStyleCnt="0"/>
      <dgm:spPr/>
    </dgm:pt>
    <dgm:pt modelId="{1C3F5E86-1575-4960-A4BB-CE4C32DD1347}" type="pres">
      <dgm:prSet presAssocID="{B60C8E99-93A0-4C74-922F-1BD71AE44C0A}" presName="compNode" presStyleCnt="0"/>
      <dgm:spPr/>
    </dgm:pt>
    <dgm:pt modelId="{F1844557-D14A-4B03-BDD2-EDF957D18607}" type="pres">
      <dgm:prSet presAssocID="{B60C8E99-93A0-4C74-922F-1BD71AE44C0A}" presName="bgRect" presStyleLbl="bgShp" presStyleIdx="1" presStyleCnt="2" custScaleY="193115" custLinFactNeighborY="-23297"/>
      <dgm:spPr/>
    </dgm:pt>
    <dgm:pt modelId="{940FDE1A-AE95-4CC8-9793-9FC327A08EEF}" type="pres">
      <dgm:prSet presAssocID="{B60C8E99-93A0-4C74-922F-1BD71AE44C0A}" presName="iconRect" presStyleLbl="node1" presStyleIdx="1" presStyleCnt="2" custScaleX="212758" custScaleY="230532" custLinFactNeighborY="-6910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ospital"/>
        </a:ext>
      </dgm:extLst>
    </dgm:pt>
    <dgm:pt modelId="{8A0A2977-B569-417B-9111-2CFEA8414E79}" type="pres">
      <dgm:prSet presAssocID="{B60C8E99-93A0-4C74-922F-1BD71AE44C0A}" presName="spaceRect" presStyleCnt="0"/>
      <dgm:spPr/>
    </dgm:pt>
    <dgm:pt modelId="{2A57DA2D-72EF-47C9-98FC-C46251A72B42}" type="pres">
      <dgm:prSet presAssocID="{B60C8E99-93A0-4C74-922F-1BD71AE44C0A}" presName="parTx" presStyleLbl="revTx" presStyleIdx="1" presStyleCnt="2" custLinFactNeighborX="774">
        <dgm:presLayoutVars>
          <dgm:chMax val="0"/>
          <dgm:chPref val="0"/>
        </dgm:presLayoutVars>
      </dgm:prSet>
      <dgm:spPr/>
    </dgm:pt>
  </dgm:ptLst>
  <dgm:cxnLst>
    <dgm:cxn modelId="{6D4C730F-1434-4512-827E-9B8C32383782}" type="presOf" srcId="{E70C3154-3B8B-4998-A7BB-CB027863A4A5}" destId="{4EC0A5BD-CDDE-4E6B-9D2D-54403FDA09DC}" srcOrd="0" destOrd="0" presId="urn:microsoft.com/office/officeart/2018/2/layout/IconVerticalSolidList"/>
    <dgm:cxn modelId="{CD550F26-D69B-41D8-9FAE-3270D29FB5E2}" type="presOf" srcId="{9437D877-540A-4628-99E8-A54335459776}" destId="{79EF1110-EC43-4DD3-B583-CBC95DD03160}" srcOrd="0" destOrd="0" presId="urn:microsoft.com/office/officeart/2018/2/layout/IconVerticalSolidList"/>
    <dgm:cxn modelId="{FBB2BF4B-2534-48DF-A199-43C3D57336B4}" srcId="{9437D877-540A-4628-99E8-A54335459776}" destId="{B60C8E99-93A0-4C74-922F-1BD71AE44C0A}" srcOrd="1" destOrd="0" parTransId="{EC44AD8B-E649-4CB4-9F70-1B72008A89DE}" sibTransId="{2E07677E-35EA-434B-BE4D-500B1983ECDB}"/>
    <dgm:cxn modelId="{9C2DF6BB-F25E-4203-81D8-A3C40CCEC675}" type="presOf" srcId="{B60C8E99-93A0-4C74-922F-1BD71AE44C0A}" destId="{2A57DA2D-72EF-47C9-98FC-C46251A72B42}" srcOrd="0" destOrd="0" presId="urn:microsoft.com/office/officeart/2018/2/layout/IconVerticalSolidList"/>
    <dgm:cxn modelId="{C102D3D4-4E77-40AF-94AC-BADAE07C3F2A}" srcId="{9437D877-540A-4628-99E8-A54335459776}" destId="{E70C3154-3B8B-4998-A7BB-CB027863A4A5}" srcOrd="0" destOrd="0" parTransId="{AA2A3026-4C99-4E97-9C86-3BE109136E20}" sibTransId="{73C6651D-377E-413E-8554-D69EC835CD4C}"/>
    <dgm:cxn modelId="{C542E292-259E-4B1D-AB8E-D23CEA7833CF}" type="presParOf" srcId="{79EF1110-EC43-4DD3-B583-CBC95DD03160}" destId="{C453D519-4A87-4B44-94A1-73E3CEA6D898}" srcOrd="0" destOrd="0" presId="urn:microsoft.com/office/officeart/2018/2/layout/IconVerticalSolidList"/>
    <dgm:cxn modelId="{2679896F-DE26-46C4-95E3-355F504FD7A9}" type="presParOf" srcId="{C453D519-4A87-4B44-94A1-73E3CEA6D898}" destId="{55EBCED7-DF9F-46CF-A319-E63F4F163F69}" srcOrd="0" destOrd="0" presId="urn:microsoft.com/office/officeart/2018/2/layout/IconVerticalSolidList"/>
    <dgm:cxn modelId="{58AA0E47-3E8B-466E-8889-F3579C874E82}" type="presParOf" srcId="{C453D519-4A87-4B44-94A1-73E3CEA6D898}" destId="{752D8BD3-EF82-43A9-84FC-9E701ACF5702}" srcOrd="1" destOrd="0" presId="urn:microsoft.com/office/officeart/2018/2/layout/IconVerticalSolidList"/>
    <dgm:cxn modelId="{8EBBFD16-B2FD-4BB0-8A73-21BDBC5D1D48}" type="presParOf" srcId="{C453D519-4A87-4B44-94A1-73E3CEA6D898}" destId="{3B61E34B-A66C-4906-9BE5-B22D699A49FD}" srcOrd="2" destOrd="0" presId="urn:microsoft.com/office/officeart/2018/2/layout/IconVerticalSolidList"/>
    <dgm:cxn modelId="{63897718-BC85-4192-BDCA-677395974115}" type="presParOf" srcId="{C453D519-4A87-4B44-94A1-73E3CEA6D898}" destId="{4EC0A5BD-CDDE-4E6B-9D2D-54403FDA09DC}" srcOrd="3" destOrd="0" presId="urn:microsoft.com/office/officeart/2018/2/layout/IconVerticalSolidList"/>
    <dgm:cxn modelId="{B2C5EAA1-9141-4808-8311-E06F393F3EC7}" type="presParOf" srcId="{79EF1110-EC43-4DD3-B583-CBC95DD03160}" destId="{7F930F0A-9394-43F0-8603-939EC7D47A3F}" srcOrd="1" destOrd="0" presId="urn:microsoft.com/office/officeart/2018/2/layout/IconVerticalSolidList"/>
    <dgm:cxn modelId="{6361BB48-D4BB-4D90-81D0-D764727C26B7}" type="presParOf" srcId="{79EF1110-EC43-4DD3-B583-CBC95DD03160}" destId="{1C3F5E86-1575-4960-A4BB-CE4C32DD1347}" srcOrd="2" destOrd="0" presId="urn:microsoft.com/office/officeart/2018/2/layout/IconVerticalSolidList"/>
    <dgm:cxn modelId="{5F7F2DFA-33B3-4889-8E9A-DF9F604A9DB3}" type="presParOf" srcId="{1C3F5E86-1575-4960-A4BB-CE4C32DD1347}" destId="{F1844557-D14A-4B03-BDD2-EDF957D18607}" srcOrd="0" destOrd="0" presId="urn:microsoft.com/office/officeart/2018/2/layout/IconVerticalSolidList"/>
    <dgm:cxn modelId="{97C048E9-A26B-4882-89F8-C0568F850512}" type="presParOf" srcId="{1C3F5E86-1575-4960-A4BB-CE4C32DD1347}" destId="{940FDE1A-AE95-4CC8-9793-9FC327A08EEF}" srcOrd="1" destOrd="0" presId="urn:microsoft.com/office/officeart/2018/2/layout/IconVerticalSolidList"/>
    <dgm:cxn modelId="{D1F4F083-8AD5-4F23-9E13-706656B55E59}" type="presParOf" srcId="{1C3F5E86-1575-4960-A4BB-CE4C32DD1347}" destId="{8A0A2977-B569-417B-9111-2CFEA8414E79}" srcOrd="2" destOrd="0" presId="urn:microsoft.com/office/officeart/2018/2/layout/IconVerticalSolidList"/>
    <dgm:cxn modelId="{F2949DBD-8866-4C93-9A6A-E4EC7B857E7D}" type="presParOf" srcId="{1C3F5E86-1575-4960-A4BB-CE4C32DD1347}" destId="{2A57DA2D-72EF-47C9-98FC-C46251A72B4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7384B6-E6F9-4D8D-ACE4-09923A232E0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A429D8A-C46D-4307-8B5D-9A43D4919858}">
      <dgm:prSet/>
      <dgm:spPr/>
      <dgm:t>
        <a:bodyPr/>
        <a:lstStyle/>
        <a:p>
          <a:r>
            <a:rPr lang="en-US" b="1">
              <a:solidFill>
                <a:schemeClr val="tx1"/>
              </a:solidFill>
            </a:rPr>
            <a:t>Reference / Targeted</a:t>
          </a:r>
        </a:p>
      </dgm:t>
    </dgm:pt>
    <dgm:pt modelId="{D30A998B-33F9-47C9-B773-355C87A20B7F}" type="parTrans" cxnId="{46F74DF8-0B8C-4197-8797-D80B3B5F516F}">
      <dgm:prSet/>
      <dgm:spPr/>
      <dgm:t>
        <a:bodyPr/>
        <a:lstStyle/>
        <a:p>
          <a:endParaRPr lang="en-US">
            <a:solidFill>
              <a:schemeClr val="tx1"/>
            </a:solidFill>
          </a:endParaRPr>
        </a:p>
      </dgm:t>
    </dgm:pt>
    <dgm:pt modelId="{7A7BE80E-F80F-4345-B262-AF0FE1C35280}" type="sibTrans" cxnId="{46F74DF8-0B8C-4197-8797-D80B3B5F516F}">
      <dgm:prSet/>
      <dgm:spPr/>
      <dgm:t>
        <a:bodyPr/>
        <a:lstStyle/>
        <a:p>
          <a:endParaRPr lang="en-US">
            <a:solidFill>
              <a:schemeClr val="tx1"/>
            </a:solidFill>
          </a:endParaRPr>
        </a:p>
      </dgm:t>
    </dgm:pt>
    <dgm:pt modelId="{2608F47F-A4DE-47B4-AC4F-1EA31D2687A3}">
      <dgm:prSet/>
      <dgm:spPr/>
      <dgm:t>
        <a:bodyPr/>
        <a:lstStyle/>
        <a:p>
          <a:r>
            <a:rPr lang="en-US" b="0" i="0" baseline="0">
              <a:solidFill>
                <a:schemeClr val="tx1"/>
              </a:solidFill>
            </a:rPr>
            <a:t>Population to which the findings of the trial, if found successful, are expected to be applicable</a:t>
          </a:r>
          <a:endParaRPr lang="en-US">
            <a:solidFill>
              <a:schemeClr val="tx1"/>
            </a:solidFill>
          </a:endParaRPr>
        </a:p>
      </dgm:t>
    </dgm:pt>
    <dgm:pt modelId="{5F98FE3A-50FD-42AC-BEFC-63376D075D9E}" type="parTrans" cxnId="{B279D29D-39EB-478D-BEF9-083644902531}">
      <dgm:prSet/>
      <dgm:spPr/>
      <dgm:t>
        <a:bodyPr/>
        <a:lstStyle/>
        <a:p>
          <a:endParaRPr lang="en-US">
            <a:solidFill>
              <a:schemeClr val="tx1"/>
            </a:solidFill>
          </a:endParaRPr>
        </a:p>
      </dgm:t>
    </dgm:pt>
    <dgm:pt modelId="{64D05D2B-0EC8-474E-A4BC-9DF5C274B11A}" type="sibTrans" cxnId="{B279D29D-39EB-478D-BEF9-083644902531}">
      <dgm:prSet/>
      <dgm:spPr/>
      <dgm:t>
        <a:bodyPr/>
        <a:lstStyle/>
        <a:p>
          <a:endParaRPr lang="en-US">
            <a:solidFill>
              <a:schemeClr val="tx1"/>
            </a:solidFill>
          </a:endParaRPr>
        </a:p>
      </dgm:t>
    </dgm:pt>
    <dgm:pt modelId="{0482AB46-6B34-482A-8E58-DBDE5CF6E40E}">
      <dgm:prSet/>
      <dgm:spPr/>
      <dgm:t>
        <a:bodyPr/>
        <a:lstStyle/>
        <a:p>
          <a:r>
            <a:rPr lang="en-US" b="0" i="0" baseline="0">
              <a:solidFill>
                <a:schemeClr val="tx1"/>
              </a:solidFill>
            </a:rPr>
            <a:t>As broad as mankind or it may be geographically limited or limited to persons in specific age, sex, occupational or social groups.</a:t>
          </a:r>
          <a:endParaRPr lang="en-US">
            <a:solidFill>
              <a:schemeClr val="tx1"/>
            </a:solidFill>
          </a:endParaRPr>
        </a:p>
      </dgm:t>
    </dgm:pt>
    <dgm:pt modelId="{F40A9828-8473-4274-B358-0D24A8E19A40}" type="parTrans" cxnId="{C97D044B-7630-49DF-B27A-D6095B6DCB00}">
      <dgm:prSet/>
      <dgm:spPr/>
      <dgm:t>
        <a:bodyPr/>
        <a:lstStyle/>
        <a:p>
          <a:endParaRPr lang="en-US">
            <a:solidFill>
              <a:schemeClr val="tx1"/>
            </a:solidFill>
          </a:endParaRPr>
        </a:p>
      </dgm:t>
    </dgm:pt>
    <dgm:pt modelId="{DECB4BBC-FC64-4453-B45C-7C46F81489D2}" type="sibTrans" cxnId="{C97D044B-7630-49DF-B27A-D6095B6DCB00}">
      <dgm:prSet/>
      <dgm:spPr/>
      <dgm:t>
        <a:bodyPr/>
        <a:lstStyle/>
        <a:p>
          <a:endParaRPr lang="en-US">
            <a:solidFill>
              <a:schemeClr val="tx1"/>
            </a:solidFill>
          </a:endParaRPr>
        </a:p>
      </dgm:t>
    </dgm:pt>
    <dgm:pt modelId="{2F3B8E1E-7DE8-43C1-9A72-CCE3086512F9}">
      <dgm:prSet custT="1"/>
      <dgm:spPr/>
      <dgm:t>
        <a:bodyPr/>
        <a:lstStyle/>
        <a:p>
          <a:r>
            <a:rPr lang="en-US" sz="2500" b="1" kern="1200">
              <a:solidFill>
                <a:prstClr val="black"/>
              </a:solidFill>
              <a:latin typeface="Times New Roman"/>
              <a:ea typeface="+mn-ea"/>
              <a:cs typeface="+mn-cs"/>
            </a:rPr>
            <a:t>Experimental</a:t>
          </a:r>
          <a:r>
            <a:rPr lang="en-US" sz="2500" kern="1200">
              <a:solidFill>
                <a:schemeClr val="tx1"/>
              </a:solidFill>
            </a:rPr>
            <a:t> </a:t>
          </a:r>
          <a:r>
            <a:rPr lang="en-US" sz="2500" b="1" kern="1200">
              <a:solidFill>
                <a:prstClr val="black"/>
              </a:solidFill>
              <a:latin typeface="Times New Roman"/>
              <a:ea typeface="+mn-ea"/>
              <a:cs typeface="+mn-cs"/>
            </a:rPr>
            <a:t>/ Study</a:t>
          </a:r>
        </a:p>
      </dgm:t>
    </dgm:pt>
    <dgm:pt modelId="{1B7240AB-DE1A-4149-8E0F-A11BBEA9DAD9}" type="parTrans" cxnId="{7A48D124-2F08-4616-90D6-A1DA13DD518B}">
      <dgm:prSet/>
      <dgm:spPr/>
      <dgm:t>
        <a:bodyPr/>
        <a:lstStyle/>
        <a:p>
          <a:endParaRPr lang="en-US">
            <a:solidFill>
              <a:schemeClr val="tx1"/>
            </a:solidFill>
          </a:endParaRPr>
        </a:p>
      </dgm:t>
    </dgm:pt>
    <dgm:pt modelId="{B65BD87F-8509-4BA0-A296-7919899225B6}" type="sibTrans" cxnId="{7A48D124-2F08-4616-90D6-A1DA13DD518B}">
      <dgm:prSet/>
      <dgm:spPr/>
      <dgm:t>
        <a:bodyPr/>
        <a:lstStyle/>
        <a:p>
          <a:endParaRPr lang="en-US">
            <a:solidFill>
              <a:schemeClr val="tx1"/>
            </a:solidFill>
          </a:endParaRPr>
        </a:p>
      </dgm:t>
    </dgm:pt>
    <dgm:pt modelId="{E28D5094-859D-4B78-93E7-F38375D2A9D4}">
      <dgm:prSet/>
      <dgm:spPr/>
      <dgm:t>
        <a:bodyPr/>
        <a:lstStyle/>
        <a:p>
          <a:r>
            <a:rPr lang="en-US" b="0" i="0" baseline="0">
              <a:solidFill>
                <a:schemeClr val="tx1"/>
              </a:solidFill>
            </a:rPr>
            <a:t>Derived from the reference population</a:t>
          </a:r>
          <a:endParaRPr lang="en-US">
            <a:solidFill>
              <a:schemeClr val="tx1"/>
            </a:solidFill>
          </a:endParaRPr>
        </a:p>
      </dgm:t>
    </dgm:pt>
    <dgm:pt modelId="{2BFC7BFD-A9AF-4E08-8434-DAEC90C3319A}" type="parTrans" cxnId="{0ADAF52C-787C-4CCF-BB20-565ED741B6ED}">
      <dgm:prSet/>
      <dgm:spPr/>
      <dgm:t>
        <a:bodyPr/>
        <a:lstStyle/>
        <a:p>
          <a:endParaRPr lang="en-US">
            <a:solidFill>
              <a:schemeClr val="tx1"/>
            </a:solidFill>
          </a:endParaRPr>
        </a:p>
      </dgm:t>
    </dgm:pt>
    <dgm:pt modelId="{A640645E-3B10-4EC9-A265-0B126413E87D}" type="sibTrans" cxnId="{0ADAF52C-787C-4CCF-BB20-565ED741B6ED}">
      <dgm:prSet/>
      <dgm:spPr/>
      <dgm:t>
        <a:bodyPr/>
        <a:lstStyle/>
        <a:p>
          <a:endParaRPr lang="en-US">
            <a:solidFill>
              <a:schemeClr val="tx1"/>
            </a:solidFill>
          </a:endParaRPr>
        </a:p>
      </dgm:t>
    </dgm:pt>
    <dgm:pt modelId="{E6A6E313-089E-4055-80EC-C69D777E00D9}">
      <dgm:prSet custT="1"/>
      <dgm:spPr/>
      <dgm:t>
        <a:bodyPr/>
        <a:lstStyle/>
        <a:p>
          <a:pPr marL="0" lvl="0" indent="0" algn="l" defTabSz="1111250">
            <a:lnSpc>
              <a:spcPct val="90000"/>
            </a:lnSpc>
            <a:spcBef>
              <a:spcPct val="0"/>
            </a:spcBef>
            <a:spcAft>
              <a:spcPct val="35000"/>
            </a:spcAft>
            <a:buNone/>
          </a:pPr>
          <a:r>
            <a:rPr lang="en-US" sz="2500" b="1" kern="1200">
              <a:solidFill>
                <a:prstClr val="black"/>
              </a:solidFill>
              <a:latin typeface="Times New Roman"/>
              <a:ea typeface="+mn-ea"/>
              <a:cs typeface="+mn-cs"/>
            </a:rPr>
            <a:t>The participants or volunteers must fulfil the following three criteria :</a:t>
          </a:r>
        </a:p>
      </dgm:t>
    </dgm:pt>
    <dgm:pt modelId="{0010521F-8DCA-40E5-B221-30413F71F190}" type="parTrans" cxnId="{71159F8E-3A5F-4429-AAB8-A7AFBF36AE09}">
      <dgm:prSet/>
      <dgm:spPr/>
      <dgm:t>
        <a:bodyPr/>
        <a:lstStyle/>
        <a:p>
          <a:endParaRPr lang="en-US">
            <a:solidFill>
              <a:schemeClr val="tx1"/>
            </a:solidFill>
          </a:endParaRPr>
        </a:p>
      </dgm:t>
    </dgm:pt>
    <dgm:pt modelId="{7205FE1C-AF9F-4856-A288-AD5D78A600A4}" type="sibTrans" cxnId="{71159F8E-3A5F-4429-AAB8-A7AFBF36AE09}">
      <dgm:prSet/>
      <dgm:spPr/>
      <dgm:t>
        <a:bodyPr/>
        <a:lstStyle/>
        <a:p>
          <a:endParaRPr lang="en-US">
            <a:solidFill>
              <a:schemeClr val="tx1"/>
            </a:solidFill>
          </a:endParaRPr>
        </a:p>
      </dgm:t>
    </dgm:pt>
    <dgm:pt modelId="{9D6BE4A5-2FDF-43EF-93BB-BD82AACD3547}">
      <dgm:prSet/>
      <dgm:spPr/>
      <dgm:t>
        <a:bodyPr/>
        <a:lstStyle/>
        <a:p>
          <a:r>
            <a:rPr lang="en-US" b="0" i="0" baseline="0">
              <a:solidFill>
                <a:schemeClr val="tx1"/>
              </a:solidFill>
            </a:rPr>
            <a:t>They must give “informed consent”</a:t>
          </a:r>
          <a:endParaRPr lang="en-US">
            <a:solidFill>
              <a:schemeClr val="tx1"/>
            </a:solidFill>
          </a:endParaRPr>
        </a:p>
      </dgm:t>
    </dgm:pt>
    <dgm:pt modelId="{D094A09F-4851-42CD-AF62-02A303611B7C}" type="parTrans" cxnId="{FFC1BBBF-987F-4D5F-AC30-9BD8066576B9}">
      <dgm:prSet/>
      <dgm:spPr/>
      <dgm:t>
        <a:bodyPr/>
        <a:lstStyle/>
        <a:p>
          <a:endParaRPr lang="en-US">
            <a:solidFill>
              <a:schemeClr val="tx1"/>
            </a:solidFill>
          </a:endParaRPr>
        </a:p>
      </dgm:t>
    </dgm:pt>
    <dgm:pt modelId="{4E0E7B6B-825A-404A-9153-836753FFD6E1}" type="sibTrans" cxnId="{FFC1BBBF-987F-4D5F-AC30-9BD8066576B9}">
      <dgm:prSet/>
      <dgm:spPr/>
      <dgm:t>
        <a:bodyPr/>
        <a:lstStyle/>
        <a:p>
          <a:endParaRPr lang="en-US">
            <a:solidFill>
              <a:schemeClr val="tx1"/>
            </a:solidFill>
          </a:endParaRPr>
        </a:p>
      </dgm:t>
    </dgm:pt>
    <dgm:pt modelId="{2AEE8790-CC48-43F3-82B0-F6F789291BF7}">
      <dgm:prSet/>
      <dgm:spPr/>
      <dgm:t>
        <a:bodyPr/>
        <a:lstStyle/>
        <a:p>
          <a:r>
            <a:rPr lang="en-US" b="0" i="0" baseline="0">
              <a:solidFill>
                <a:schemeClr val="tx1"/>
              </a:solidFill>
            </a:rPr>
            <a:t>They should be representative of the population to which they belong (i.e., reference population) </a:t>
          </a:r>
          <a:endParaRPr lang="en-US">
            <a:solidFill>
              <a:schemeClr val="tx1"/>
            </a:solidFill>
          </a:endParaRPr>
        </a:p>
      </dgm:t>
    </dgm:pt>
    <dgm:pt modelId="{CB807A46-72F3-434D-84E1-03D0510D8FA2}" type="parTrans" cxnId="{A8307103-B200-4B7F-983A-F09AF02ECFEC}">
      <dgm:prSet/>
      <dgm:spPr/>
      <dgm:t>
        <a:bodyPr/>
        <a:lstStyle/>
        <a:p>
          <a:endParaRPr lang="en-US">
            <a:solidFill>
              <a:schemeClr val="tx1"/>
            </a:solidFill>
          </a:endParaRPr>
        </a:p>
      </dgm:t>
    </dgm:pt>
    <dgm:pt modelId="{B6AFD32B-82E6-4161-A3FC-765AADEA2635}" type="sibTrans" cxnId="{A8307103-B200-4B7F-983A-F09AF02ECFEC}">
      <dgm:prSet/>
      <dgm:spPr/>
      <dgm:t>
        <a:bodyPr/>
        <a:lstStyle/>
        <a:p>
          <a:endParaRPr lang="en-US">
            <a:solidFill>
              <a:schemeClr val="tx1"/>
            </a:solidFill>
          </a:endParaRPr>
        </a:p>
      </dgm:t>
    </dgm:pt>
    <dgm:pt modelId="{B2E672FA-6E98-4883-BA59-259984472BD6}">
      <dgm:prSet/>
      <dgm:spPr/>
      <dgm:t>
        <a:bodyPr/>
        <a:lstStyle/>
        <a:p>
          <a:r>
            <a:rPr lang="en-US" b="0" i="0" baseline="0">
              <a:solidFill>
                <a:schemeClr val="tx1"/>
              </a:solidFill>
            </a:rPr>
            <a:t>They should be qualified or eligible for the trial.</a:t>
          </a:r>
          <a:endParaRPr lang="en-US">
            <a:solidFill>
              <a:schemeClr val="tx1"/>
            </a:solidFill>
          </a:endParaRPr>
        </a:p>
      </dgm:t>
    </dgm:pt>
    <dgm:pt modelId="{549713ED-AD1C-452F-B14D-8E5C072701FC}" type="parTrans" cxnId="{49E55429-344C-46B9-B460-20B311443CB9}">
      <dgm:prSet/>
      <dgm:spPr/>
      <dgm:t>
        <a:bodyPr/>
        <a:lstStyle/>
        <a:p>
          <a:endParaRPr lang="en-US">
            <a:solidFill>
              <a:schemeClr val="tx1"/>
            </a:solidFill>
          </a:endParaRPr>
        </a:p>
      </dgm:t>
    </dgm:pt>
    <dgm:pt modelId="{B2EF88BB-E4F6-41CD-8F73-141225BB7AAC}" type="sibTrans" cxnId="{49E55429-344C-46B9-B460-20B311443CB9}">
      <dgm:prSet/>
      <dgm:spPr/>
      <dgm:t>
        <a:bodyPr/>
        <a:lstStyle/>
        <a:p>
          <a:endParaRPr lang="en-US">
            <a:solidFill>
              <a:schemeClr val="tx1"/>
            </a:solidFill>
          </a:endParaRPr>
        </a:p>
      </dgm:t>
    </dgm:pt>
    <dgm:pt modelId="{0B7F882E-ED2E-4E10-A431-51DC324217E0}">
      <dgm:prSet/>
      <dgm:spPr/>
      <dgm:t>
        <a:bodyPr/>
        <a:lstStyle/>
        <a:p>
          <a:endParaRPr lang="en-US">
            <a:solidFill>
              <a:schemeClr val="tx1"/>
            </a:solidFill>
          </a:endParaRPr>
        </a:p>
      </dgm:t>
    </dgm:pt>
    <dgm:pt modelId="{2F9A1FD3-4D1B-4302-A7E0-F87DF8605FB6}" type="parTrans" cxnId="{1A1A3983-27EE-46EA-92DA-41D8516A7D01}">
      <dgm:prSet/>
      <dgm:spPr/>
      <dgm:t>
        <a:bodyPr/>
        <a:lstStyle/>
        <a:p>
          <a:endParaRPr lang="en-US"/>
        </a:p>
      </dgm:t>
    </dgm:pt>
    <dgm:pt modelId="{DCBF9FE1-3929-4A82-8C8D-FEED8DED80B9}" type="sibTrans" cxnId="{1A1A3983-27EE-46EA-92DA-41D8516A7D01}">
      <dgm:prSet/>
      <dgm:spPr/>
      <dgm:t>
        <a:bodyPr/>
        <a:lstStyle/>
        <a:p>
          <a:endParaRPr lang="en-US"/>
        </a:p>
      </dgm:t>
    </dgm:pt>
    <dgm:pt modelId="{223880FC-F153-473F-9570-E56D65F76E37}" type="pres">
      <dgm:prSet presAssocID="{157384B6-E6F9-4D8D-ACE4-09923A232E0A}" presName="linear" presStyleCnt="0">
        <dgm:presLayoutVars>
          <dgm:animLvl val="lvl"/>
          <dgm:resizeHandles val="exact"/>
        </dgm:presLayoutVars>
      </dgm:prSet>
      <dgm:spPr/>
    </dgm:pt>
    <dgm:pt modelId="{6410115B-1FD0-4C91-AF81-31DF3BDBAEEE}" type="pres">
      <dgm:prSet presAssocID="{BA429D8A-C46D-4307-8B5D-9A43D4919858}" presName="parentText" presStyleLbl="node1" presStyleIdx="0" presStyleCnt="3">
        <dgm:presLayoutVars>
          <dgm:chMax val="0"/>
          <dgm:bulletEnabled val="1"/>
        </dgm:presLayoutVars>
      </dgm:prSet>
      <dgm:spPr/>
    </dgm:pt>
    <dgm:pt modelId="{707B997A-B325-4201-973E-771290D16F91}" type="pres">
      <dgm:prSet presAssocID="{BA429D8A-C46D-4307-8B5D-9A43D4919858}" presName="childText" presStyleLbl="revTx" presStyleIdx="0" presStyleCnt="3">
        <dgm:presLayoutVars>
          <dgm:bulletEnabled val="1"/>
        </dgm:presLayoutVars>
      </dgm:prSet>
      <dgm:spPr/>
    </dgm:pt>
    <dgm:pt modelId="{8854DB89-C620-4449-9B9C-D5AB7F12D765}" type="pres">
      <dgm:prSet presAssocID="{2F3B8E1E-7DE8-43C1-9A72-CCE3086512F9}" presName="parentText" presStyleLbl="node1" presStyleIdx="1" presStyleCnt="3" custScaleY="57548" custLinFactNeighborX="4003" custLinFactNeighborY="19917">
        <dgm:presLayoutVars>
          <dgm:chMax val="0"/>
          <dgm:bulletEnabled val="1"/>
        </dgm:presLayoutVars>
      </dgm:prSet>
      <dgm:spPr/>
    </dgm:pt>
    <dgm:pt modelId="{8A514C19-5CE0-48E3-BC44-E82513B70729}" type="pres">
      <dgm:prSet presAssocID="{2F3B8E1E-7DE8-43C1-9A72-CCE3086512F9}" presName="childText" presStyleLbl="revTx" presStyleIdx="1" presStyleCnt="3">
        <dgm:presLayoutVars>
          <dgm:bulletEnabled val="1"/>
        </dgm:presLayoutVars>
      </dgm:prSet>
      <dgm:spPr/>
    </dgm:pt>
    <dgm:pt modelId="{B5F34E3E-9C84-4888-9EF9-971B55FAF649}" type="pres">
      <dgm:prSet presAssocID="{E6A6E313-089E-4055-80EC-C69D777E00D9}" presName="parentText" presStyleLbl="node1" presStyleIdx="2" presStyleCnt="3" custLinFactNeighborX="-10628" custLinFactNeighborY="-1169">
        <dgm:presLayoutVars>
          <dgm:chMax val="0"/>
          <dgm:bulletEnabled val="1"/>
        </dgm:presLayoutVars>
      </dgm:prSet>
      <dgm:spPr/>
    </dgm:pt>
    <dgm:pt modelId="{DB6F84A0-0313-4E8B-9555-29FF6740D955}" type="pres">
      <dgm:prSet presAssocID="{E6A6E313-089E-4055-80EC-C69D777E00D9}" presName="childText" presStyleLbl="revTx" presStyleIdx="2" presStyleCnt="3">
        <dgm:presLayoutVars>
          <dgm:bulletEnabled val="1"/>
        </dgm:presLayoutVars>
      </dgm:prSet>
      <dgm:spPr/>
    </dgm:pt>
  </dgm:ptLst>
  <dgm:cxnLst>
    <dgm:cxn modelId="{A8307103-B200-4B7F-983A-F09AF02ECFEC}" srcId="{E6A6E313-089E-4055-80EC-C69D777E00D9}" destId="{2AEE8790-CC48-43F3-82B0-F6F789291BF7}" srcOrd="1" destOrd="0" parTransId="{CB807A46-72F3-434D-84E1-03D0510D8FA2}" sibTransId="{B6AFD32B-82E6-4161-A3FC-765AADEA2635}"/>
    <dgm:cxn modelId="{D0B65D04-97E6-4A07-973A-F87773AADE6F}" type="presOf" srcId="{2608F47F-A4DE-47B4-AC4F-1EA31D2687A3}" destId="{707B997A-B325-4201-973E-771290D16F91}" srcOrd="0" destOrd="0" presId="urn:microsoft.com/office/officeart/2005/8/layout/vList2"/>
    <dgm:cxn modelId="{7A48D124-2F08-4616-90D6-A1DA13DD518B}" srcId="{157384B6-E6F9-4D8D-ACE4-09923A232E0A}" destId="{2F3B8E1E-7DE8-43C1-9A72-CCE3086512F9}" srcOrd="1" destOrd="0" parTransId="{1B7240AB-DE1A-4149-8E0F-A11BBEA9DAD9}" sibTransId="{B65BD87F-8509-4BA0-A296-7919899225B6}"/>
    <dgm:cxn modelId="{49E55429-344C-46B9-B460-20B311443CB9}" srcId="{E6A6E313-089E-4055-80EC-C69D777E00D9}" destId="{B2E672FA-6E98-4883-BA59-259984472BD6}" srcOrd="2" destOrd="0" parTransId="{549713ED-AD1C-452F-B14D-8E5C072701FC}" sibTransId="{B2EF88BB-E4F6-41CD-8F73-141225BB7AAC}"/>
    <dgm:cxn modelId="{C1DC852C-860A-4FE8-8972-370C4CCB22C2}" type="presOf" srcId="{157384B6-E6F9-4D8D-ACE4-09923A232E0A}" destId="{223880FC-F153-473F-9570-E56D65F76E37}" srcOrd="0" destOrd="0" presId="urn:microsoft.com/office/officeart/2005/8/layout/vList2"/>
    <dgm:cxn modelId="{0ADAF52C-787C-4CCF-BB20-565ED741B6ED}" srcId="{2F3B8E1E-7DE8-43C1-9A72-CCE3086512F9}" destId="{E28D5094-859D-4B78-93E7-F38375D2A9D4}" srcOrd="1" destOrd="0" parTransId="{2BFC7BFD-A9AF-4E08-8434-DAEC90C3319A}" sibTransId="{A640645E-3B10-4EC9-A265-0B126413E87D}"/>
    <dgm:cxn modelId="{6FC64F32-E5F5-43A5-A43E-98AED831D33B}" type="presOf" srcId="{9D6BE4A5-2FDF-43EF-93BB-BD82AACD3547}" destId="{DB6F84A0-0313-4E8B-9555-29FF6740D955}" srcOrd="0" destOrd="0" presId="urn:microsoft.com/office/officeart/2005/8/layout/vList2"/>
    <dgm:cxn modelId="{85067F3B-F54C-4D97-8BD9-2F12C6FAF9F4}" type="presOf" srcId="{2AEE8790-CC48-43F3-82B0-F6F789291BF7}" destId="{DB6F84A0-0313-4E8B-9555-29FF6740D955}" srcOrd="0" destOrd="1" presId="urn:microsoft.com/office/officeart/2005/8/layout/vList2"/>
    <dgm:cxn modelId="{D1F2365B-FDCB-41C4-85B0-D3F56C88E285}" type="presOf" srcId="{0B7F882E-ED2E-4E10-A431-51DC324217E0}" destId="{8A514C19-5CE0-48E3-BC44-E82513B70729}" srcOrd="0" destOrd="0" presId="urn:microsoft.com/office/officeart/2005/8/layout/vList2"/>
    <dgm:cxn modelId="{C97D044B-7630-49DF-B27A-D6095B6DCB00}" srcId="{BA429D8A-C46D-4307-8B5D-9A43D4919858}" destId="{0482AB46-6B34-482A-8E58-DBDE5CF6E40E}" srcOrd="1" destOrd="0" parTransId="{F40A9828-8473-4274-B358-0D24A8E19A40}" sibTransId="{DECB4BBC-FC64-4453-B45C-7C46F81489D2}"/>
    <dgm:cxn modelId="{55F96353-79B1-4295-8BE9-EF20F01BA3A0}" type="presOf" srcId="{0482AB46-6B34-482A-8E58-DBDE5CF6E40E}" destId="{707B997A-B325-4201-973E-771290D16F91}" srcOrd="0" destOrd="1" presId="urn:microsoft.com/office/officeart/2005/8/layout/vList2"/>
    <dgm:cxn modelId="{854FB97C-353C-4973-85BD-82A1D680A8AE}" type="presOf" srcId="{E28D5094-859D-4B78-93E7-F38375D2A9D4}" destId="{8A514C19-5CE0-48E3-BC44-E82513B70729}" srcOrd="0" destOrd="1" presId="urn:microsoft.com/office/officeart/2005/8/layout/vList2"/>
    <dgm:cxn modelId="{1A1A3983-27EE-46EA-92DA-41D8516A7D01}" srcId="{2F3B8E1E-7DE8-43C1-9A72-CCE3086512F9}" destId="{0B7F882E-ED2E-4E10-A431-51DC324217E0}" srcOrd="0" destOrd="0" parTransId="{2F9A1FD3-4D1B-4302-A7E0-F87DF8605FB6}" sibTransId="{DCBF9FE1-3929-4A82-8C8D-FEED8DED80B9}"/>
    <dgm:cxn modelId="{E4E3548A-AC7D-42A5-9F2C-083887CF995A}" type="presOf" srcId="{E6A6E313-089E-4055-80EC-C69D777E00D9}" destId="{B5F34E3E-9C84-4888-9EF9-971B55FAF649}" srcOrd="0" destOrd="0" presId="urn:microsoft.com/office/officeart/2005/8/layout/vList2"/>
    <dgm:cxn modelId="{71159F8E-3A5F-4429-AAB8-A7AFBF36AE09}" srcId="{157384B6-E6F9-4D8D-ACE4-09923A232E0A}" destId="{E6A6E313-089E-4055-80EC-C69D777E00D9}" srcOrd="2" destOrd="0" parTransId="{0010521F-8DCA-40E5-B221-30413F71F190}" sibTransId="{7205FE1C-AF9F-4856-A288-AD5D78A600A4}"/>
    <dgm:cxn modelId="{B279D29D-39EB-478D-BEF9-083644902531}" srcId="{BA429D8A-C46D-4307-8B5D-9A43D4919858}" destId="{2608F47F-A4DE-47B4-AC4F-1EA31D2687A3}" srcOrd="0" destOrd="0" parTransId="{5F98FE3A-50FD-42AC-BEFC-63376D075D9E}" sibTransId="{64D05D2B-0EC8-474E-A4BC-9DF5C274B11A}"/>
    <dgm:cxn modelId="{5399A0A6-15AF-4A9C-8208-ECB060F36D65}" type="presOf" srcId="{BA429D8A-C46D-4307-8B5D-9A43D4919858}" destId="{6410115B-1FD0-4C91-AF81-31DF3BDBAEEE}" srcOrd="0" destOrd="0" presId="urn:microsoft.com/office/officeart/2005/8/layout/vList2"/>
    <dgm:cxn modelId="{D50046BE-58DB-4E85-B92B-3897369C9174}" type="presOf" srcId="{B2E672FA-6E98-4883-BA59-259984472BD6}" destId="{DB6F84A0-0313-4E8B-9555-29FF6740D955}" srcOrd="0" destOrd="2" presId="urn:microsoft.com/office/officeart/2005/8/layout/vList2"/>
    <dgm:cxn modelId="{FFC1BBBF-987F-4D5F-AC30-9BD8066576B9}" srcId="{E6A6E313-089E-4055-80EC-C69D777E00D9}" destId="{9D6BE4A5-2FDF-43EF-93BB-BD82AACD3547}" srcOrd="0" destOrd="0" parTransId="{D094A09F-4851-42CD-AF62-02A303611B7C}" sibTransId="{4E0E7B6B-825A-404A-9153-836753FFD6E1}"/>
    <dgm:cxn modelId="{EB7277DD-64CA-46CD-9451-31ECD6F2526E}" type="presOf" srcId="{2F3B8E1E-7DE8-43C1-9A72-CCE3086512F9}" destId="{8854DB89-C620-4449-9B9C-D5AB7F12D765}" srcOrd="0" destOrd="0" presId="urn:microsoft.com/office/officeart/2005/8/layout/vList2"/>
    <dgm:cxn modelId="{46F74DF8-0B8C-4197-8797-D80B3B5F516F}" srcId="{157384B6-E6F9-4D8D-ACE4-09923A232E0A}" destId="{BA429D8A-C46D-4307-8B5D-9A43D4919858}" srcOrd="0" destOrd="0" parTransId="{D30A998B-33F9-47C9-B773-355C87A20B7F}" sibTransId="{7A7BE80E-F80F-4345-B262-AF0FE1C35280}"/>
    <dgm:cxn modelId="{6468B9E0-FA51-4578-928B-309F0553F40C}" type="presParOf" srcId="{223880FC-F153-473F-9570-E56D65F76E37}" destId="{6410115B-1FD0-4C91-AF81-31DF3BDBAEEE}" srcOrd="0" destOrd="0" presId="urn:microsoft.com/office/officeart/2005/8/layout/vList2"/>
    <dgm:cxn modelId="{24DA64FF-0D66-458D-B81A-9DAF38A399F1}" type="presParOf" srcId="{223880FC-F153-473F-9570-E56D65F76E37}" destId="{707B997A-B325-4201-973E-771290D16F91}" srcOrd="1" destOrd="0" presId="urn:microsoft.com/office/officeart/2005/8/layout/vList2"/>
    <dgm:cxn modelId="{5E36189B-5553-4329-AACF-DF474E2089F2}" type="presParOf" srcId="{223880FC-F153-473F-9570-E56D65F76E37}" destId="{8854DB89-C620-4449-9B9C-D5AB7F12D765}" srcOrd="2" destOrd="0" presId="urn:microsoft.com/office/officeart/2005/8/layout/vList2"/>
    <dgm:cxn modelId="{07F80FEA-64C8-44DC-ABE5-625AD0D06426}" type="presParOf" srcId="{223880FC-F153-473F-9570-E56D65F76E37}" destId="{8A514C19-5CE0-48E3-BC44-E82513B70729}" srcOrd="3" destOrd="0" presId="urn:microsoft.com/office/officeart/2005/8/layout/vList2"/>
    <dgm:cxn modelId="{19FEBED0-E79A-4F5D-8E11-E6D02A7ADB06}" type="presParOf" srcId="{223880FC-F153-473F-9570-E56D65F76E37}" destId="{B5F34E3E-9C84-4888-9EF9-971B55FAF649}" srcOrd="4" destOrd="0" presId="urn:microsoft.com/office/officeart/2005/8/layout/vList2"/>
    <dgm:cxn modelId="{D9AE49EA-C31F-4EEA-99E5-585BC2F1B90F}" type="presParOf" srcId="{223880FC-F153-473F-9570-E56D65F76E37}" destId="{DB6F84A0-0313-4E8B-9555-29FF6740D955}"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82535-0643-4BFB-B2E8-366C8FF6F546}">
      <dsp:nvSpPr>
        <dsp:cNvPr id="0" name=""/>
        <dsp:cNvSpPr/>
      </dsp:nvSpPr>
      <dsp:spPr>
        <a:xfrm>
          <a:off x="568971" y="0"/>
          <a:ext cx="1509048" cy="15090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559497-36DD-42AB-B1D6-AECFA83A80CC}">
      <dsp:nvSpPr>
        <dsp:cNvPr id="0" name=""/>
        <dsp:cNvSpPr/>
      </dsp:nvSpPr>
      <dsp:spPr>
        <a:xfrm>
          <a:off x="568971" y="1293345"/>
          <a:ext cx="4311566" cy="646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Advantages</a:t>
          </a:r>
        </a:p>
      </dsp:txBody>
      <dsp:txXfrm>
        <a:off x="568971" y="1293345"/>
        <a:ext cx="4311566" cy="646734"/>
      </dsp:txXfrm>
    </dsp:sp>
    <dsp:sp modelId="{C1E7A075-A106-4B3C-9C0A-4363755FA7AE}">
      <dsp:nvSpPr>
        <dsp:cNvPr id="0" name=""/>
        <dsp:cNvSpPr/>
      </dsp:nvSpPr>
      <dsp:spPr>
        <a:xfrm>
          <a:off x="568971" y="1953134"/>
          <a:ext cx="4311566" cy="28292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pPr>
          <a:r>
            <a:rPr lang="en-US" sz="2800" b="0" i="0" kern="1200" baseline="0"/>
            <a:t>Experimental animals can be bred in laboratories and manipulated easily</a:t>
          </a:r>
          <a:endParaRPr lang="en-US" sz="2800" kern="1200"/>
        </a:p>
        <a:p>
          <a:pPr marL="0" lvl="0" indent="0" algn="l" defTabSz="1244600">
            <a:lnSpc>
              <a:spcPct val="100000"/>
            </a:lnSpc>
            <a:spcBef>
              <a:spcPct val="0"/>
            </a:spcBef>
            <a:spcAft>
              <a:spcPct val="35000"/>
            </a:spcAft>
            <a:buNone/>
          </a:pPr>
          <a:r>
            <a:rPr lang="en-US" sz="2800" b="0" i="0" kern="1200" baseline="0"/>
            <a:t>Multiply rapidly and enable the investigators to carry out certain experiments (e.g., genetic experiments)</a:t>
          </a:r>
          <a:endParaRPr lang="en-US" sz="2800" kern="1200"/>
        </a:p>
      </dsp:txBody>
      <dsp:txXfrm>
        <a:off x="568971" y="1953134"/>
        <a:ext cx="4311566" cy="2829219"/>
      </dsp:txXfrm>
    </dsp:sp>
    <dsp:sp modelId="{D13B7BD1-9377-41D3-9AEE-976DB9E48F17}">
      <dsp:nvSpPr>
        <dsp:cNvPr id="0" name=""/>
        <dsp:cNvSpPr/>
      </dsp:nvSpPr>
      <dsp:spPr>
        <a:xfrm>
          <a:off x="5635062" y="0"/>
          <a:ext cx="1509048" cy="15090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E14A3D-451C-49F4-9546-231BB326BFE8}">
      <dsp:nvSpPr>
        <dsp:cNvPr id="0" name=""/>
        <dsp:cNvSpPr/>
      </dsp:nvSpPr>
      <dsp:spPr>
        <a:xfrm>
          <a:off x="5635062" y="1293345"/>
          <a:ext cx="4311566" cy="646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Limitations</a:t>
          </a:r>
        </a:p>
      </dsp:txBody>
      <dsp:txXfrm>
        <a:off x="5635062" y="1293345"/>
        <a:ext cx="4311566" cy="646734"/>
      </dsp:txXfrm>
    </dsp:sp>
    <dsp:sp modelId="{7155EE90-A093-4E00-9CAA-C481BF922724}">
      <dsp:nvSpPr>
        <dsp:cNvPr id="0" name=""/>
        <dsp:cNvSpPr/>
      </dsp:nvSpPr>
      <dsp:spPr>
        <a:xfrm>
          <a:off x="5635062" y="1953134"/>
          <a:ext cx="4311566" cy="28292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pPr>
          <a:r>
            <a:rPr lang="en-US" sz="2800" b="0" i="0" kern="1200" baseline="0"/>
            <a:t>Not all human diseases can be reproduced in animals. </a:t>
          </a:r>
          <a:endParaRPr lang="en-US" sz="2800" kern="1200"/>
        </a:p>
        <a:p>
          <a:pPr marL="0" lvl="0" indent="0" algn="l" defTabSz="1244600">
            <a:lnSpc>
              <a:spcPct val="100000"/>
            </a:lnSpc>
            <a:spcBef>
              <a:spcPct val="0"/>
            </a:spcBef>
            <a:spcAft>
              <a:spcPct val="35000"/>
            </a:spcAft>
            <a:buNone/>
          </a:pPr>
          <a:r>
            <a:rPr lang="en-US" sz="2800" kern="1200"/>
            <a:t>A</a:t>
          </a:r>
          <a:r>
            <a:rPr lang="en-US" sz="2800" b="0" i="0" kern="1200" baseline="0"/>
            <a:t>ll the conclusions derived from animal experiments may not be strictly applicable to human beings.</a:t>
          </a:r>
          <a:endParaRPr lang="en-US" sz="2800" kern="1200"/>
        </a:p>
      </dsp:txBody>
      <dsp:txXfrm>
        <a:off x="5635062" y="1953134"/>
        <a:ext cx="4311566" cy="28292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6E3D69-C220-4CAC-95E9-4608A8D96D5B}">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62F883-3145-4D8A-AB37-EF9169492644}">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kern="1200"/>
            <a:t>James Lind – Scurvy</a:t>
          </a:r>
        </a:p>
      </dsp:txBody>
      <dsp:txXfrm>
        <a:off x="0" y="0"/>
        <a:ext cx="6900512" cy="1384035"/>
      </dsp:txXfrm>
    </dsp:sp>
    <dsp:sp modelId="{93A0507F-C2FA-40A3-85FA-2C2354532582}">
      <dsp:nvSpPr>
        <dsp:cNvPr id="0" name=""/>
        <dsp:cNvSpPr/>
      </dsp:nvSpPr>
      <dsp:spPr>
        <a:xfrm>
          <a:off x="0" y="1384035"/>
          <a:ext cx="6900512"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85D917-7614-4BCC-BD92-077350F601E5}">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kern="1200"/>
            <a:t>Edward Jenner – Small pox</a:t>
          </a:r>
        </a:p>
      </dsp:txBody>
      <dsp:txXfrm>
        <a:off x="0" y="1384035"/>
        <a:ext cx="6900512" cy="1384035"/>
      </dsp:txXfrm>
    </dsp:sp>
    <dsp:sp modelId="{08978A98-FA38-47D3-89A6-4A8479A556FE}">
      <dsp:nvSpPr>
        <dsp:cNvPr id="0" name=""/>
        <dsp:cNvSpPr/>
      </dsp:nvSpPr>
      <dsp:spPr>
        <a:xfrm>
          <a:off x="0" y="2768070"/>
          <a:ext cx="6900512"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12BA08-3F28-420D-BDD8-132BA831F912}">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kern="1200"/>
            <a:t>Finlay and Reed – yellow fever</a:t>
          </a:r>
        </a:p>
      </dsp:txBody>
      <dsp:txXfrm>
        <a:off x="0" y="2768070"/>
        <a:ext cx="6900512" cy="1384035"/>
      </dsp:txXfrm>
    </dsp:sp>
    <dsp:sp modelId="{AB8AF9A0-F7B2-43C0-B142-1F84EA034E0D}">
      <dsp:nvSpPr>
        <dsp:cNvPr id="0" name=""/>
        <dsp:cNvSpPr/>
      </dsp:nvSpPr>
      <dsp:spPr>
        <a:xfrm>
          <a:off x="0" y="4152105"/>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1E52F3-ED70-4C54-AEB9-889748B98402}">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lang="en-US" sz="4100" kern="1200"/>
            <a:t>Goldberger - pllagra</a:t>
          </a:r>
        </a:p>
      </dsp:txBody>
      <dsp:txXfrm>
        <a:off x="0" y="4152105"/>
        <a:ext cx="6900512" cy="13840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EBCED7-DF9F-46CF-A319-E63F4F163F69}">
      <dsp:nvSpPr>
        <dsp:cNvPr id="0" name=""/>
        <dsp:cNvSpPr/>
      </dsp:nvSpPr>
      <dsp:spPr>
        <a:xfrm>
          <a:off x="-4627" y="212115"/>
          <a:ext cx="12192000" cy="218201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2D8BD3-EF82-43A9-84FC-9E701ACF5702}">
      <dsp:nvSpPr>
        <dsp:cNvPr id="0" name=""/>
        <dsp:cNvSpPr/>
      </dsp:nvSpPr>
      <dsp:spPr>
        <a:xfrm>
          <a:off x="51895" y="571899"/>
          <a:ext cx="1193207" cy="14624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C0A5BD-CDDE-4E6B-9D2D-54403FDA09DC}">
      <dsp:nvSpPr>
        <dsp:cNvPr id="0" name=""/>
        <dsp:cNvSpPr/>
      </dsp:nvSpPr>
      <dsp:spPr>
        <a:xfrm>
          <a:off x="1301625" y="738169"/>
          <a:ext cx="10825369" cy="1235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792" tIns="130792" rIns="130792" bIns="130792" numCol="1" spcCol="1270" anchor="ctr" anchorCtr="0">
          <a:noAutofit/>
        </a:bodyPr>
        <a:lstStyle/>
        <a:p>
          <a:pPr marL="0" lvl="0" indent="0" algn="l" defTabSz="1244600">
            <a:lnSpc>
              <a:spcPct val="100000"/>
            </a:lnSpc>
            <a:spcBef>
              <a:spcPct val="0"/>
            </a:spcBef>
            <a:spcAft>
              <a:spcPct val="35000"/>
            </a:spcAft>
            <a:buNone/>
          </a:pPr>
          <a:r>
            <a:rPr lang="en-US" sz="2800" b="1" i="0" u="sng" kern="1200" baseline="0">
              <a:solidFill>
                <a:schemeClr val="tx1"/>
              </a:solidFill>
            </a:rPr>
            <a:t>Randomized controlled trials </a:t>
          </a:r>
          <a:r>
            <a:rPr lang="en-US" sz="2800" b="0" i="0" kern="1200" baseline="0">
              <a:solidFill>
                <a:schemeClr val="tx1"/>
              </a:solidFill>
            </a:rPr>
            <a:t>(i.e., those involving a process of random allocation)</a:t>
          </a:r>
          <a:endParaRPr lang="en-US" sz="2800" kern="1200">
            <a:solidFill>
              <a:schemeClr val="tx1"/>
            </a:solidFill>
          </a:endParaRPr>
        </a:p>
      </dsp:txBody>
      <dsp:txXfrm>
        <a:off x="1301625" y="738169"/>
        <a:ext cx="10825369" cy="1235831"/>
      </dsp:txXfrm>
    </dsp:sp>
    <dsp:sp modelId="{F1844557-D14A-4B03-BDD2-EDF957D18607}">
      <dsp:nvSpPr>
        <dsp:cNvPr id="0" name=""/>
        <dsp:cNvSpPr/>
      </dsp:nvSpPr>
      <dsp:spPr>
        <a:xfrm>
          <a:off x="4627" y="2439851"/>
          <a:ext cx="12192000" cy="218201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0FDE1A-AE95-4CC8-9793-9FC327A08EEF}">
      <dsp:nvSpPr>
        <dsp:cNvPr id="0" name=""/>
        <dsp:cNvSpPr/>
      </dsp:nvSpPr>
      <dsp:spPr>
        <a:xfrm>
          <a:off x="-4627" y="2648336"/>
          <a:ext cx="1324763" cy="14326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57DA2D-72EF-47C9-98FC-C46251A72B42}">
      <dsp:nvSpPr>
        <dsp:cNvPr id="0" name=""/>
        <dsp:cNvSpPr/>
      </dsp:nvSpPr>
      <dsp:spPr>
        <a:xfrm>
          <a:off x="1366630" y="3229139"/>
          <a:ext cx="10825369" cy="12358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792" tIns="130792" rIns="130792" bIns="130792" numCol="1" spcCol="1270" anchor="ctr" anchorCtr="0">
          <a:noAutofit/>
        </a:bodyPr>
        <a:lstStyle/>
        <a:p>
          <a:pPr marL="0" lvl="0" indent="0" algn="l" defTabSz="1066800">
            <a:lnSpc>
              <a:spcPct val="100000"/>
            </a:lnSpc>
            <a:spcBef>
              <a:spcPct val="0"/>
            </a:spcBef>
            <a:spcAft>
              <a:spcPct val="35000"/>
            </a:spcAft>
            <a:buNone/>
          </a:pPr>
          <a:r>
            <a:rPr lang="en-US" sz="2400" b="1" i="0" u="sng" kern="1200" baseline="0">
              <a:solidFill>
                <a:schemeClr val="tx1"/>
              </a:solidFill>
            </a:rPr>
            <a:t>Non-randomized or ‘non-experimental’ trials </a:t>
          </a:r>
          <a:r>
            <a:rPr lang="en-US" sz="2400" b="0" i="0" kern="1200" baseline="0">
              <a:solidFill>
                <a:schemeClr val="tx1"/>
              </a:solidFill>
            </a:rPr>
            <a:t>(i.e., those departing from strict randomization for practical purposes, but in such a manner that nonrandomization does not seriously affect the theoretical basis of conclusions).</a:t>
          </a:r>
          <a:endParaRPr lang="en-US" sz="2400" kern="1200">
            <a:solidFill>
              <a:schemeClr val="tx1"/>
            </a:solidFill>
          </a:endParaRPr>
        </a:p>
      </dsp:txBody>
      <dsp:txXfrm>
        <a:off x="1366630" y="3229139"/>
        <a:ext cx="10825369" cy="12358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10115B-1FD0-4C91-AF81-31DF3BDBAEEE}">
      <dsp:nvSpPr>
        <dsp:cNvPr id="0" name=""/>
        <dsp:cNvSpPr/>
      </dsp:nvSpPr>
      <dsp:spPr>
        <a:xfrm>
          <a:off x="0" y="144116"/>
          <a:ext cx="10515600" cy="608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solidFill>
                <a:schemeClr val="tx1"/>
              </a:solidFill>
            </a:rPr>
            <a:t>Reference / Targeted</a:t>
          </a:r>
        </a:p>
      </dsp:txBody>
      <dsp:txXfrm>
        <a:off x="29700" y="173816"/>
        <a:ext cx="10456200" cy="549000"/>
      </dsp:txXfrm>
    </dsp:sp>
    <dsp:sp modelId="{707B997A-B325-4201-973E-771290D16F91}">
      <dsp:nvSpPr>
        <dsp:cNvPr id="0" name=""/>
        <dsp:cNvSpPr/>
      </dsp:nvSpPr>
      <dsp:spPr>
        <a:xfrm>
          <a:off x="0" y="752516"/>
          <a:ext cx="10515600" cy="914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b="0" i="0" kern="1200" baseline="0">
              <a:solidFill>
                <a:schemeClr val="tx1"/>
              </a:solidFill>
            </a:rPr>
            <a:t>Population to which the findings of the trial, if found successful, are expected to be applicable</a:t>
          </a:r>
          <a:endParaRPr lang="en-US" sz="2000" kern="1200">
            <a:solidFill>
              <a:schemeClr val="tx1"/>
            </a:solidFill>
          </a:endParaRPr>
        </a:p>
        <a:p>
          <a:pPr marL="228600" lvl="1" indent="-228600" algn="l" defTabSz="889000">
            <a:lnSpc>
              <a:spcPct val="90000"/>
            </a:lnSpc>
            <a:spcBef>
              <a:spcPct val="0"/>
            </a:spcBef>
            <a:spcAft>
              <a:spcPct val="20000"/>
            </a:spcAft>
            <a:buChar char="•"/>
          </a:pPr>
          <a:r>
            <a:rPr lang="en-US" sz="2000" b="0" i="0" kern="1200" baseline="0">
              <a:solidFill>
                <a:schemeClr val="tx1"/>
              </a:solidFill>
            </a:rPr>
            <a:t>As broad as mankind or it may be geographically limited or limited to persons in specific age, sex, occupational or social groups.</a:t>
          </a:r>
          <a:endParaRPr lang="en-US" sz="2000" kern="1200">
            <a:solidFill>
              <a:schemeClr val="tx1"/>
            </a:solidFill>
          </a:endParaRPr>
        </a:p>
      </dsp:txBody>
      <dsp:txXfrm>
        <a:off x="0" y="752516"/>
        <a:ext cx="10515600" cy="914940"/>
      </dsp:txXfrm>
    </dsp:sp>
    <dsp:sp modelId="{8854DB89-C620-4449-9B9C-D5AB7F12D765}">
      <dsp:nvSpPr>
        <dsp:cNvPr id="0" name=""/>
        <dsp:cNvSpPr/>
      </dsp:nvSpPr>
      <dsp:spPr>
        <a:xfrm>
          <a:off x="0" y="1798768"/>
          <a:ext cx="10515600" cy="3501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solidFill>
                <a:prstClr val="black"/>
              </a:solidFill>
              <a:latin typeface="Times New Roman"/>
              <a:ea typeface="+mn-ea"/>
              <a:cs typeface="+mn-cs"/>
            </a:rPr>
            <a:t>Experimental</a:t>
          </a:r>
          <a:r>
            <a:rPr lang="en-US" sz="2500" kern="1200">
              <a:solidFill>
                <a:schemeClr val="tx1"/>
              </a:solidFill>
            </a:rPr>
            <a:t> </a:t>
          </a:r>
          <a:r>
            <a:rPr lang="en-US" sz="2500" b="1" kern="1200">
              <a:solidFill>
                <a:prstClr val="black"/>
              </a:solidFill>
              <a:latin typeface="Times New Roman"/>
              <a:ea typeface="+mn-ea"/>
              <a:cs typeface="+mn-cs"/>
            </a:rPr>
            <a:t>/ Study</a:t>
          </a:r>
        </a:p>
      </dsp:txBody>
      <dsp:txXfrm>
        <a:off x="17092" y="1815860"/>
        <a:ext cx="10481416" cy="315938"/>
      </dsp:txXfrm>
    </dsp:sp>
    <dsp:sp modelId="{8A514C19-5CE0-48E3-BC44-E82513B70729}">
      <dsp:nvSpPr>
        <dsp:cNvPr id="0" name=""/>
        <dsp:cNvSpPr/>
      </dsp:nvSpPr>
      <dsp:spPr>
        <a:xfrm>
          <a:off x="0" y="2017578"/>
          <a:ext cx="10515600" cy="659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1750" rIns="177800" bIns="31750" numCol="1" spcCol="1270" anchor="t" anchorCtr="0">
          <a:noAutofit/>
        </a:bodyPr>
        <a:lstStyle/>
        <a:p>
          <a:pPr marL="228600" lvl="1" indent="-228600" algn="l" defTabSz="889000">
            <a:lnSpc>
              <a:spcPct val="90000"/>
            </a:lnSpc>
            <a:spcBef>
              <a:spcPct val="0"/>
            </a:spcBef>
            <a:spcAft>
              <a:spcPct val="20000"/>
            </a:spcAft>
            <a:buChar char="•"/>
          </a:pPr>
          <a:endParaRPr lang="en-US" sz="2000" kern="1200">
            <a:solidFill>
              <a:schemeClr val="tx1"/>
            </a:solidFill>
          </a:endParaRPr>
        </a:p>
        <a:p>
          <a:pPr marL="228600" lvl="1" indent="-228600" algn="l" defTabSz="889000">
            <a:lnSpc>
              <a:spcPct val="90000"/>
            </a:lnSpc>
            <a:spcBef>
              <a:spcPct val="0"/>
            </a:spcBef>
            <a:spcAft>
              <a:spcPct val="20000"/>
            </a:spcAft>
            <a:buChar char="•"/>
          </a:pPr>
          <a:r>
            <a:rPr lang="en-US" sz="2000" b="0" i="0" kern="1200" baseline="0">
              <a:solidFill>
                <a:schemeClr val="tx1"/>
              </a:solidFill>
            </a:rPr>
            <a:t>Derived from the reference population</a:t>
          </a:r>
          <a:endParaRPr lang="en-US" sz="2000" kern="1200">
            <a:solidFill>
              <a:schemeClr val="tx1"/>
            </a:solidFill>
          </a:endParaRPr>
        </a:p>
      </dsp:txBody>
      <dsp:txXfrm>
        <a:off x="0" y="2017578"/>
        <a:ext cx="10515600" cy="659295"/>
      </dsp:txXfrm>
    </dsp:sp>
    <dsp:sp modelId="{B5F34E3E-9C84-4888-9EF9-971B55FAF649}">
      <dsp:nvSpPr>
        <dsp:cNvPr id="0" name=""/>
        <dsp:cNvSpPr/>
      </dsp:nvSpPr>
      <dsp:spPr>
        <a:xfrm>
          <a:off x="0" y="2662402"/>
          <a:ext cx="10515600" cy="608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solidFill>
                <a:prstClr val="black"/>
              </a:solidFill>
              <a:latin typeface="Times New Roman"/>
              <a:ea typeface="+mn-ea"/>
              <a:cs typeface="+mn-cs"/>
            </a:rPr>
            <a:t>The participants or volunteers must fulfil the following three criteria :</a:t>
          </a:r>
        </a:p>
      </dsp:txBody>
      <dsp:txXfrm>
        <a:off x="29700" y="2692102"/>
        <a:ext cx="10456200" cy="549000"/>
      </dsp:txXfrm>
    </dsp:sp>
    <dsp:sp modelId="{DB6F84A0-0313-4E8B-9555-29FF6740D955}">
      <dsp:nvSpPr>
        <dsp:cNvPr id="0" name=""/>
        <dsp:cNvSpPr/>
      </dsp:nvSpPr>
      <dsp:spPr>
        <a:xfrm>
          <a:off x="0" y="3285273"/>
          <a:ext cx="10515600" cy="1237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b="0" i="0" kern="1200" baseline="0">
              <a:solidFill>
                <a:schemeClr val="tx1"/>
              </a:solidFill>
            </a:rPr>
            <a:t>They must give “informed consent”</a:t>
          </a:r>
          <a:endParaRPr lang="en-US" sz="2000" kern="1200">
            <a:solidFill>
              <a:schemeClr val="tx1"/>
            </a:solidFill>
          </a:endParaRPr>
        </a:p>
        <a:p>
          <a:pPr marL="228600" lvl="1" indent="-228600" algn="l" defTabSz="889000">
            <a:lnSpc>
              <a:spcPct val="90000"/>
            </a:lnSpc>
            <a:spcBef>
              <a:spcPct val="0"/>
            </a:spcBef>
            <a:spcAft>
              <a:spcPct val="20000"/>
            </a:spcAft>
            <a:buChar char="•"/>
          </a:pPr>
          <a:r>
            <a:rPr lang="en-US" sz="2000" b="0" i="0" kern="1200" baseline="0">
              <a:solidFill>
                <a:schemeClr val="tx1"/>
              </a:solidFill>
            </a:rPr>
            <a:t>They should be representative of the population to which they belong (i.e., reference population) </a:t>
          </a:r>
          <a:endParaRPr lang="en-US" sz="2000" kern="1200">
            <a:solidFill>
              <a:schemeClr val="tx1"/>
            </a:solidFill>
          </a:endParaRPr>
        </a:p>
        <a:p>
          <a:pPr marL="228600" lvl="1" indent="-228600" algn="l" defTabSz="889000">
            <a:lnSpc>
              <a:spcPct val="90000"/>
            </a:lnSpc>
            <a:spcBef>
              <a:spcPct val="0"/>
            </a:spcBef>
            <a:spcAft>
              <a:spcPct val="20000"/>
            </a:spcAft>
            <a:buChar char="•"/>
          </a:pPr>
          <a:r>
            <a:rPr lang="en-US" sz="2000" b="0" i="0" kern="1200" baseline="0">
              <a:solidFill>
                <a:schemeClr val="tx1"/>
              </a:solidFill>
            </a:rPr>
            <a:t>They should be qualified or eligible for the trial.</a:t>
          </a:r>
          <a:endParaRPr lang="en-US" sz="2000" kern="1200">
            <a:solidFill>
              <a:schemeClr val="tx1"/>
            </a:solidFill>
          </a:endParaRPr>
        </a:p>
      </dsp:txBody>
      <dsp:txXfrm>
        <a:off x="0" y="3285273"/>
        <a:ext cx="10515600" cy="123786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D0DC797-1464-4CD5-AB1C-6AF443DEAA85}" type="datetimeFigureOut">
              <a:rPr lang="en-IN" smtClean="0"/>
              <a:t>15-05-2024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112710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D0DC797-1464-4CD5-AB1C-6AF443DEAA85}" type="datetimeFigureOut">
              <a:rPr lang="en-IN" smtClean="0"/>
              <a:t>15-05-2024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867626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0DC797-1464-4CD5-AB1C-6AF443DEAA85}" type="datetimeFigureOut">
              <a:rPr lang="en-IN" smtClean="0"/>
              <a:t>15-05-2024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3381054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D0DC797-1464-4CD5-AB1C-6AF443DEAA85}" type="datetimeFigureOut">
              <a:rPr lang="en-IN" smtClean="0"/>
              <a:t>15-05-2024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2329203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D0DC797-1464-4CD5-AB1C-6AF443DEAA85}" type="datetimeFigureOut">
              <a:rPr lang="en-IN" smtClean="0"/>
              <a:t>15-05-2024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3623574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D0DC797-1464-4CD5-AB1C-6AF443DEAA85}" type="datetimeFigureOut">
              <a:rPr lang="en-IN" smtClean="0"/>
              <a:t>15-05-2024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878064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0DC797-1464-4CD5-AB1C-6AF443DEAA85}" type="datetimeFigureOut">
              <a:rPr lang="en-IN" smtClean="0"/>
              <a:t>15-05-2024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4252046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0DC797-1464-4CD5-AB1C-6AF443DEAA85}" type="datetimeFigureOut">
              <a:rPr lang="en-IN" smtClean="0"/>
              <a:t>15-05-2024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2857464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0DC797-1464-4CD5-AB1C-6AF443DEAA85}" type="datetimeFigureOut">
              <a:rPr lang="en-IN" smtClean="0"/>
              <a:t>15-05-2024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4241433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D0DC797-1464-4CD5-AB1C-6AF443DEAA85}" type="datetimeFigureOut">
              <a:rPr lang="en-IN" smtClean="0"/>
              <a:t>15-05-2024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1398392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D0DC797-1464-4CD5-AB1C-6AF443DEAA85}" type="datetimeFigureOut">
              <a:rPr lang="en-IN" smtClean="0"/>
              <a:t>15-05-2024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BA9B9-F2DE-463A-A186-D2EA12B1C584}" type="slidenum">
              <a:rPr lang="en-IN" smtClean="0"/>
              <a:t>‹#›</a:t>
            </a:fld>
            <a:endParaRPr lang="en-IN"/>
          </a:p>
        </p:txBody>
      </p:sp>
    </p:spTree>
    <p:extLst>
      <p:ext uri="{BB962C8B-B14F-4D97-AF65-F5344CB8AC3E}">
        <p14:creationId xmlns:p14="http://schemas.microsoft.com/office/powerpoint/2010/main" val="3057011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0DC797-1464-4CD5-AB1C-6AF443DEAA85}" type="datetimeFigureOut">
              <a:rPr lang="en-IN" smtClean="0"/>
              <a:t>15-05-2024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EBA9B9-F2DE-463A-A186-D2EA12B1C584}" type="slidenum">
              <a:rPr lang="en-IN" smtClean="0"/>
              <a:t>‹#›</a:t>
            </a:fld>
            <a:endParaRPr lang="en-IN"/>
          </a:p>
        </p:txBody>
      </p:sp>
    </p:spTree>
    <p:extLst>
      <p:ext uri="{BB962C8B-B14F-4D97-AF65-F5344CB8AC3E}">
        <p14:creationId xmlns:p14="http://schemas.microsoft.com/office/powerpoint/2010/main" val="3087259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Video 5" descr="Person In A Lab">
            <a:extLst>
              <a:ext uri="{FF2B5EF4-FFF2-40B4-BE49-F238E27FC236}">
                <a16:creationId xmlns:a16="http://schemas.microsoft.com/office/drawing/2014/main" id="{8CA8A1E8-1FFD-525F-F170-B37550AF3DBA}"/>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5"/>
          <a:stretch/>
        </p:blipFill>
        <p:spPr>
          <a:xfrm>
            <a:off x="-3047" y="10"/>
            <a:ext cx="12191999" cy="6857990"/>
          </a:xfrm>
          <a:prstGeom prst="rect">
            <a:avLst/>
          </a:prstGeom>
        </p:spPr>
      </p:pic>
      <p:sp>
        <p:nvSpPr>
          <p:cNvPr id="12" name="Rectangle 1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CBDA6D8-1AFD-4644-4985-7F9BDA175E6E}"/>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Experimental study</a:t>
            </a:r>
          </a:p>
        </p:txBody>
      </p:sp>
    </p:spTree>
    <p:extLst>
      <p:ext uri="{BB962C8B-B14F-4D97-AF65-F5344CB8AC3E}">
        <p14:creationId xmlns:p14="http://schemas.microsoft.com/office/powerpoint/2010/main" val="3817343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9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mute="1">
                <p:cTn id="12" repeatCount="indefinite" fill="hold" display="0">
                  <p:stCondLst>
                    <p:cond delay="indefinite"/>
                  </p:stCondLst>
                </p:cTn>
                <p:tgtEl>
                  <p:spTgt spid="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p:cNvSpPr>
            <a:spLocks noGrp="1"/>
          </p:cNvSpPr>
          <p:nvPr>
            <p:ph type="title"/>
          </p:nvPr>
        </p:nvSpPr>
        <p:spPr>
          <a:xfrm>
            <a:off x="838200" y="365125"/>
            <a:ext cx="10515600" cy="1325563"/>
          </a:xfrm>
        </p:spPr>
        <p:txBody>
          <a:bodyPr>
            <a:normAutofit/>
          </a:bodyPr>
          <a:lstStyle/>
          <a:p>
            <a:r>
              <a:rPr lang="en-IN"/>
              <a:t>MCQ -1</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Content Placeholder 4"/>
          <p:cNvSpPr>
            <a:spLocks noGrp="1"/>
          </p:cNvSpPr>
          <p:nvPr>
            <p:ph idx="1"/>
          </p:nvPr>
        </p:nvSpPr>
        <p:spPr>
          <a:xfrm>
            <a:off x="838200" y="1825625"/>
            <a:ext cx="10515600" cy="4351338"/>
          </a:xfrm>
        </p:spPr>
        <p:txBody>
          <a:bodyPr>
            <a:normAutofit/>
          </a:bodyPr>
          <a:lstStyle/>
          <a:p>
            <a:pPr marL="0" indent="0">
              <a:buNone/>
            </a:pPr>
            <a:r>
              <a:rPr lang="en-US"/>
              <a:t>20 pregnant women were asked about the history of smoking when they came for regular antenatal visits and then followed up to see how many of them had low birth weight babies. What is the type of study?</a:t>
            </a:r>
          </a:p>
          <a:p>
            <a:pPr marL="0" indent="0">
              <a:buNone/>
            </a:pPr>
            <a:r>
              <a:rPr lang="en-US"/>
              <a:t>a. Case Control</a:t>
            </a:r>
          </a:p>
          <a:p>
            <a:pPr marL="0" indent="0">
              <a:buNone/>
            </a:pPr>
            <a:r>
              <a:rPr lang="en-US"/>
              <a:t>b. Prospective cohort</a:t>
            </a:r>
          </a:p>
          <a:p>
            <a:pPr marL="0" indent="0">
              <a:buNone/>
            </a:pPr>
            <a:r>
              <a:rPr lang="en-US"/>
              <a:t>c. Cross-sectional</a:t>
            </a:r>
          </a:p>
          <a:p>
            <a:pPr marL="0" indent="0">
              <a:buNone/>
            </a:pPr>
            <a:r>
              <a:rPr lang="en-US"/>
              <a:t>d. Ecological</a:t>
            </a:r>
            <a:endParaRPr lang="en-IN"/>
          </a:p>
        </p:txBody>
      </p:sp>
    </p:spTree>
    <p:extLst>
      <p:ext uri="{BB962C8B-B14F-4D97-AF65-F5344CB8AC3E}">
        <p14:creationId xmlns:p14="http://schemas.microsoft.com/office/powerpoint/2010/main" val="164286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MCQ - 2</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marL="0" indent="0">
              <a:buNone/>
            </a:pPr>
            <a:r>
              <a:rPr lang="en-US"/>
              <a:t>The ratio between the incidence of disease among exposed and non-exposed is called:</a:t>
            </a:r>
          </a:p>
          <a:p>
            <a:pPr marL="0" indent="0">
              <a:buNone/>
            </a:pPr>
            <a:r>
              <a:rPr lang="en-US"/>
              <a:t>a. Causal risk</a:t>
            </a:r>
          </a:p>
          <a:p>
            <a:pPr marL="0" indent="0">
              <a:buNone/>
            </a:pPr>
            <a:r>
              <a:rPr lang="en-US"/>
              <a:t>b. Relative risk</a:t>
            </a:r>
          </a:p>
          <a:p>
            <a:pPr marL="0" indent="0">
              <a:buNone/>
            </a:pPr>
            <a:r>
              <a:rPr lang="en-US"/>
              <a:t>c. Attributable risk</a:t>
            </a:r>
          </a:p>
          <a:p>
            <a:pPr marL="0" indent="0">
              <a:buNone/>
            </a:pPr>
            <a:r>
              <a:rPr lang="en-US"/>
              <a:t>d. Odds ratio</a:t>
            </a:r>
            <a:endParaRPr lang="en-IN"/>
          </a:p>
        </p:txBody>
      </p:sp>
    </p:spTree>
    <p:extLst>
      <p:ext uri="{BB962C8B-B14F-4D97-AF65-F5344CB8AC3E}">
        <p14:creationId xmlns:p14="http://schemas.microsoft.com/office/powerpoint/2010/main" val="3963666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MCQ - 3</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marL="0" indent="0">
              <a:buNone/>
            </a:pPr>
            <a:r>
              <a:rPr lang="en-US"/>
              <a:t>Hawthorne effect is seen in:</a:t>
            </a:r>
          </a:p>
          <a:p>
            <a:pPr marL="0" indent="0">
              <a:buNone/>
            </a:pPr>
            <a:r>
              <a:rPr lang="en-US"/>
              <a:t>a. Case control study</a:t>
            </a:r>
          </a:p>
          <a:p>
            <a:pPr marL="0" indent="0">
              <a:buNone/>
            </a:pPr>
            <a:r>
              <a:rPr lang="en-US"/>
              <a:t>b. Cohort study</a:t>
            </a:r>
          </a:p>
          <a:p>
            <a:pPr marL="0" indent="0">
              <a:buNone/>
            </a:pPr>
            <a:r>
              <a:rPr lang="en-US"/>
              <a:t>c. Cross-sectional study</a:t>
            </a:r>
          </a:p>
          <a:p>
            <a:pPr marL="0" indent="0">
              <a:buNone/>
            </a:pPr>
            <a:r>
              <a:rPr lang="en-US"/>
              <a:t>d. Retrospective cohort study</a:t>
            </a:r>
            <a:endParaRPr lang="en-IN"/>
          </a:p>
        </p:txBody>
      </p:sp>
    </p:spTree>
    <p:extLst>
      <p:ext uri="{BB962C8B-B14F-4D97-AF65-F5344CB8AC3E}">
        <p14:creationId xmlns:p14="http://schemas.microsoft.com/office/powerpoint/2010/main" val="2361408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MCQ - 4</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marL="0" indent="0">
              <a:buNone/>
            </a:pPr>
            <a:r>
              <a:rPr lang="en-US"/>
              <a:t>Case control study is used for study of:</a:t>
            </a:r>
          </a:p>
          <a:p>
            <a:pPr marL="0" indent="0">
              <a:buNone/>
            </a:pPr>
            <a:r>
              <a:rPr lang="en-US"/>
              <a:t>a. Common diseases</a:t>
            </a:r>
          </a:p>
          <a:p>
            <a:pPr marL="0" indent="0">
              <a:buNone/>
            </a:pPr>
            <a:r>
              <a:rPr lang="en-US"/>
              <a:t>b. Uncommon diseases</a:t>
            </a:r>
          </a:p>
          <a:p>
            <a:pPr marL="0" indent="0">
              <a:buNone/>
            </a:pPr>
            <a:r>
              <a:rPr lang="en-US"/>
              <a:t>c. Rare diseases</a:t>
            </a:r>
          </a:p>
          <a:p>
            <a:pPr marL="0" indent="0">
              <a:buNone/>
            </a:pPr>
            <a:r>
              <a:rPr lang="en-US"/>
              <a:t>d. Unknown diseases</a:t>
            </a:r>
            <a:endParaRPr lang="en-IN"/>
          </a:p>
        </p:txBody>
      </p:sp>
    </p:spTree>
    <p:extLst>
      <p:ext uri="{BB962C8B-B14F-4D97-AF65-F5344CB8AC3E}">
        <p14:creationId xmlns:p14="http://schemas.microsoft.com/office/powerpoint/2010/main" val="1037392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MCQ - 5</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marL="0" indent="0">
              <a:buNone/>
            </a:pPr>
            <a:r>
              <a:rPr lang="en-US"/>
              <a:t>Confounding can be removed by:</a:t>
            </a:r>
          </a:p>
          <a:p>
            <a:pPr marL="0" indent="0">
              <a:buNone/>
            </a:pPr>
            <a:r>
              <a:rPr lang="en-US"/>
              <a:t>a. Assign confounders equally to both cases and controls</a:t>
            </a:r>
          </a:p>
          <a:p>
            <a:pPr marL="0" indent="0">
              <a:buNone/>
            </a:pPr>
            <a:r>
              <a:rPr lang="en-US"/>
              <a:t>b. Stratification</a:t>
            </a:r>
          </a:p>
          <a:p>
            <a:pPr marL="0" indent="0">
              <a:buNone/>
            </a:pPr>
            <a:r>
              <a:rPr lang="en-US"/>
              <a:t>c. Matching</a:t>
            </a:r>
          </a:p>
          <a:p>
            <a:pPr marL="0" indent="0">
              <a:buNone/>
            </a:pPr>
            <a:r>
              <a:rPr lang="en-US"/>
              <a:t>d. All of the above</a:t>
            </a:r>
            <a:endParaRPr lang="en-IN"/>
          </a:p>
        </p:txBody>
      </p:sp>
    </p:spTree>
    <p:extLst>
      <p:ext uri="{BB962C8B-B14F-4D97-AF65-F5344CB8AC3E}">
        <p14:creationId xmlns:p14="http://schemas.microsoft.com/office/powerpoint/2010/main" val="1869567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MCQ - 6</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marL="0" indent="0">
              <a:buNone/>
            </a:pPr>
            <a:r>
              <a:rPr lang="en-US"/>
              <a:t>The analytical study where population is the unit of study is:</a:t>
            </a:r>
          </a:p>
          <a:p>
            <a:pPr marL="0" indent="0">
              <a:buNone/>
            </a:pPr>
            <a:r>
              <a:rPr lang="en-US"/>
              <a:t>a. Cross sectional</a:t>
            </a:r>
          </a:p>
          <a:p>
            <a:pPr marL="0" indent="0">
              <a:buNone/>
            </a:pPr>
            <a:r>
              <a:rPr lang="en-US"/>
              <a:t>b. Ecological</a:t>
            </a:r>
          </a:p>
          <a:p>
            <a:pPr marL="0" indent="0">
              <a:buNone/>
            </a:pPr>
            <a:r>
              <a:rPr lang="en-US"/>
              <a:t>c. Case control</a:t>
            </a:r>
          </a:p>
          <a:p>
            <a:pPr marL="0" indent="0">
              <a:buNone/>
            </a:pPr>
            <a:r>
              <a:rPr lang="en-US"/>
              <a:t>d. Cohort</a:t>
            </a:r>
            <a:endParaRPr lang="en-IN"/>
          </a:p>
        </p:txBody>
      </p:sp>
    </p:spTree>
    <p:extLst>
      <p:ext uri="{BB962C8B-B14F-4D97-AF65-F5344CB8AC3E}">
        <p14:creationId xmlns:p14="http://schemas.microsoft.com/office/powerpoint/2010/main" val="1412762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MCQ - 7</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marL="0" indent="0">
              <a:buNone/>
            </a:pPr>
            <a:r>
              <a:rPr lang="en-US"/>
              <a:t>Case control study is a type of ?</a:t>
            </a:r>
          </a:p>
          <a:p>
            <a:pPr marL="0" indent="0">
              <a:buNone/>
            </a:pPr>
            <a:r>
              <a:rPr lang="en-US"/>
              <a:t>a. Descriptive epidemiological study</a:t>
            </a:r>
          </a:p>
          <a:p>
            <a:pPr marL="0" indent="0">
              <a:buNone/>
            </a:pPr>
            <a:r>
              <a:rPr lang="en-US"/>
              <a:t>b. Analytical study</a:t>
            </a:r>
          </a:p>
          <a:p>
            <a:pPr marL="0" indent="0">
              <a:buNone/>
            </a:pPr>
            <a:r>
              <a:rPr lang="en-US"/>
              <a:t>c. Longitudinal study</a:t>
            </a:r>
          </a:p>
          <a:p>
            <a:pPr marL="0" indent="0">
              <a:buNone/>
            </a:pPr>
            <a:r>
              <a:rPr lang="en-US"/>
              <a:t>d. Experimental epidemiological study</a:t>
            </a:r>
            <a:endParaRPr lang="en-IN"/>
          </a:p>
        </p:txBody>
      </p:sp>
    </p:spTree>
    <p:extLst>
      <p:ext uri="{BB962C8B-B14F-4D97-AF65-F5344CB8AC3E}">
        <p14:creationId xmlns:p14="http://schemas.microsoft.com/office/powerpoint/2010/main" val="3196687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MCQ - 8</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marL="0" indent="0">
              <a:buNone/>
            </a:pPr>
            <a:r>
              <a:rPr lang="en-US"/>
              <a:t>Cohort study does not include:</a:t>
            </a:r>
          </a:p>
          <a:p>
            <a:pPr marL="0" indent="0">
              <a:buNone/>
            </a:pPr>
            <a:r>
              <a:rPr lang="en-US"/>
              <a:t>a. Expensive</a:t>
            </a:r>
          </a:p>
          <a:p>
            <a:pPr marL="0" indent="0">
              <a:buNone/>
            </a:pPr>
            <a:r>
              <a:rPr lang="en-US"/>
              <a:t>b. Study of chronic diseases</a:t>
            </a:r>
          </a:p>
          <a:p>
            <a:pPr marL="0" indent="0">
              <a:buNone/>
            </a:pPr>
            <a:r>
              <a:rPr lang="en-US"/>
              <a:t>c. Incidence rate calculated</a:t>
            </a:r>
          </a:p>
          <a:p>
            <a:pPr marL="0" indent="0">
              <a:buNone/>
            </a:pPr>
            <a:r>
              <a:rPr lang="en-US"/>
              <a:t>d. Starts with the disease</a:t>
            </a:r>
            <a:endParaRPr lang="en-IN"/>
          </a:p>
        </p:txBody>
      </p:sp>
    </p:spTree>
    <p:extLst>
      <p:ext uri="{BB962C8B-B14F-4D97-AF65-F5344CB8AC3E}">
        <p14:creationId xmlns:p14="http://schemas.microsoft.com/office/powerpoint/2010/main" val="807085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MCQ - 9</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marL="0" indent="0">
              <a:buNone/>
            </a:pPr>
            <a:r>
              <a:rPr lang="en-US"/>
              <a:t>Which is not an analytical study?</a:t>
            </a:r>
          </a:p>
          <a:p>
            <a:pPr marL="0" indent="0">
              <a:buNone/>
            </a:pPr>
            <a:r>
              <a:rPr lang="en-US"/>
              <a:t>a. Case-control</a:t>
            </a:r>
          </a:p>
          <a:p>
            <a:pPr marL="0" indent="0">
              <a:buNone/>
            </a:pPr>
            <a:r>
              <a:rPr lang="en-US"/>
              <a:t>b. Cohort</a:t>
            </a:r>
          </a:p>
          <a:p>
            <a:pPr marL="0" indent="0">
              <a:buNone/>
            </a:pPr>
            <a:r>
              <a:rPr lang="en-US"/>
              <a:t>c. RCT</a:t>
            </a:r>
          </a:p>
          <a:p>
            <a:pPr marL="0" indent="0">
              <a:buNone/>
            </a:pPr>
            <a:r>
              <a:rPr lang="en-US"/>
              <a:t>d. Cross-sectional</a:t>
            </a:r>
            <a:endParaRPr lang="en-IN"/>
          </a:p>
        </p:txBody>
      </p:sp>
    </p:spTree>
    <p:extLst>
      <p:ext uri="{BB962C8B-B14F-4D97-AF65-F5344CB8AC3E}">
        <p14:creationId xmlns:p14="http://schemas.microsoft.com/office/powerpoint/2010/main" val="2155995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a:t>MCQ - 10</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838200" y="1825625"/>
            <a:ext cx="10515600" cy="4351338"/>
          </a:xfrm>
        </p:spPr>
        <p:txBody>
          <a:bodyPr>
            <a:normAutofit/>
          </a:bodyPr>
          <a:lstStyle/>
          <a:p>
            <a:pPr marL="0" indent="0">
              <a:buNone/>
            </a:pPr>
            <a:r>
              <a:rPr lang="en-US"/>
              <a:t>All can be used as controls in a study of genetic condition except:</a:t>
            </a:r>
          </a:p>
          <a:p>
            <a:pPr marL="0" indent="0">
              <a:buNone/>
            </a:pPr>
            <a:r>
              <a:rPr lang="en-US"/>
              <a:t>a. Hospital controls</a:t>
            </a:r>
          </a:p>
          <a:p>
            <a:pPr marL="0" indent="0">
              <a:buNone/>
            </a:pPr>
            <a:r>
              <a:rPr lang="en-US"/>
              <a:t>b. Sibling controls</a:t>
            </a:r>
          </a:p>
          <a:p>
            <a:pPr marL="0" indent="0">
              <a:buNone/>
            </a:pPr>
            <a:r>
              <a:rPr lang="en-US"/>
              <a:t>c. </a:t>
            </a:r>
            <a:r>
              <a:rPr lang="en-US" err="1"/>
              <a:t>Neighbourhood</a:t>
            </a:r>
            <a:r>
              <a:rPr lang="en-US"/>
              <a:t> controls</a:t>
            </a:r>
          </a:p>
          <a:p>
            <a:pPr marL="0" indent="0">
              <a:buNone/>
            </a:pPr>
            <a:r>
              <a:rPr lang="en-US"/>
              <a:t>d. General population</a:t>
            </a:r>
            <a:endParaRPr lang="en-IN"/>
          </a:p>
        </p:txBody>
      </p:sp>
    </p:spTree>
    <p:extLst>
      <p:ext uri="{BB962C8B-B14F-4D97-AF65-F5344CB8AC3E}">
        <p14:creationId xmlns:p14="http://schemas.microsoft.com/office/powerpoint/2010/main" val="2819687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D9C319-51C4-4B3F-AEB3-47BB3616F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A98DF7-2622-942D-1905-65E85E79A25F}"/>
              </a:ext>
            </a:extLst>
          </p:cNvPr>
          <p:cNvSpPr>
            <a:spLocks noGrp="1"/>
          </p:cNvSpPr>
          <p:nvPr>
            <p:ph type="title"/>
          </p:nvPr>
        </p:nvSpPr>
        <p:spPr>
          <a:xfrm>
            <a:off x="7631933" y="365125"/>
            <a:ext cx="3952071" cy="5530319"/>
          </a:xfrm>
        </p:spPr>
        <p:txBody>
          <a:bodyPr>
            <a:normAutofit/>
          </a:bodyPr>
          <a:lstStyle/>
          <a:p>
            <a:r>
              <a:rPr lang="en-US" sz="5200"/>
              <a:t>Animal studies</a:t>
            </a:r>
          </a:p>
        </p:txBody>
      </p:sp>
      <p:pic>
        <p:nvPicPr>
          <p:cNvPr id="4" name="Picture 3" descr="Meerkat family on lookout">
            <a:extLst>
              <a:ext uri="{FF2B5EF4-FFF2-40B4-BE49-F238E27FC236}">
                <a16:creationId xmlns:a16="http://schemas.microsoft.com/office/drawing/2014/main" id="{C3A4C3F9-06A1-DD51-C789-57B33C77C408}"/>
              </a:ext>
            </a:extLst>
          </p:cNvPr>
          <p:cNvPicPr>
            <a:picLocks noChangeAspect="1"/>
          </p:cNvPicPr>
          <p:nvPr/>
        </p:nvPicPr>
        <p:blipFill rotWithShape="1">
          <a:blip r:embed="rId2"/>
          <a:srcRect l="19811" r="6028" b="-1"/>
          <a:stretch/>
        </p:blipFill>
        <p:spPr>
          <a:xfrm>
            <a:off x="20" y="10"/>
            <a:ext cx="7188573" cy="6857990"/>
          </a:xfrm>
          <a:prstGeom prst="rect">
            <a:avLst/>
          </a:prstGeom>
        </p:spPr>
      </p:pic>
    </p:spTree>
    <p:extLst>
      <p:ext uri="{BB962C8B-B14F-4D97-AF65-F5344CB8AC3E}">
        <p14:creationId xmlns:p14="http://schemas.microsoft.com/office/powerpoint/2010/main" val="1046355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05984-66E3-302C-45EC-D1AFA8358929}"/>
              </a:ext>
            </a:extLst>
          </p:cNvPr>
          <p:cNvSpPr>
            <a:spLocks noGrp="1"/>
          </p:cNvSpPr>
          <p:nvPr>
            <p:ph type="title"/>
          </p:nvPr>
        </p:nvSpPr>
        <p:spPr>
          <a:xfrm>
            <a:off x="5868557" y="332546"/>
            <a:ext cx="5444382" cy="1402470"/>
          </a:xfrm>
        </p:spPr>
        <p:txBody>
          <a:bodyPr anchor="t">
            <a:normAutofit/>
          </a:bodyPr>
          <a:lstStyle/>
          <a:p>
            <a:r>
              <a:rPr lang="en-US" sz="3200"/>
              <a:t>Applications</a:t>
            </a:r>
          </a:p>
        </p:txBody>
      </p:sp>
      <p:pic>
        <p:nvPicPr>
          <p:cNvPr id="6" name="Picture 4" descr="Microscopic view of cells">
            <a:extLst>
              <a:ext uri="{FF2B5EF4-FFF2-40B4-BE49-F238E27FC236}">
                <a16:creationId xmlns:a16="http://schemas.microsoft.com/office/drawing/2014/main" id="{2990BB26-5B96-F932-4494-F5CE7286B09B}"/>
              </a:ext>
            </a:extLst>
          </p:cNvPr>
          <p:cNvPicPr>
            <a:picLocks noChangeAspect="1"/>
          </p:cNvPicPr>
          <p:nvPr/>
        </p:nvPicPr>
        <p:blipFill rotWithShape="1">
          <a:blip r:embed="rId2"/>
          <a:srcRect l="18484" r="31567"/>
          <a:stretch/>
        </p:blipFill>
        <p:spPr>
          <a:xfrm>
            <a:off x="-1" y="10"/>
            <a:ext cx="5151179" cy="6857990"/>
          </a:xfrm>
          <a:prstGeom prst="rect">
            <a:avLst/>
          </a:prstGeom>
        </p:spPr>
      </p:pic>
      <p:cxnSp>
        <p:nvCxnSpPr>
          <p:cNvPr id="7"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41258E2-5DFD-BBEF-2457-B10AE3ADCF3C}"/>
              </a:ext>
            </a:extLst>
          </p:cNvPr>
          <p:cNvSpPr>
            <a:spLocks noGrp="1"/>
          </p:cNvSpPr>
          <p:nvPr>
            <p:ph idx="1"/>
          </p:nvPr>
        </p:nvSpPr>
        <p:spPr>
          <a:xfrm>
            <a:off x="5627077" y="1735016"/>
            <a:ext cx="5685862" cy="4407368"/>
          </a:xfrm>
        </p:spPr>
        <p:txBody>
          <a:bodyPr>
            <a:normAutofit lnSpcReduction="10000"/>
          </a:bodyPr>
          <a:lstStyle/>
          <a:p>
            <a:r>
              <a:rPr lang="en-US" b="0" i="0" u="none" strike="noStrike" baseline="0">
                <a:latin typeface="Times New Roman" panose="02020603050405020304" pitchFamily="18" charset="0"/>
              </a:rPr>
              <a:t>Experimental reproduction of human disease </a:t>
            </a:r>
          </a:p>
          <a:p>
            <a:pPr lvl="1"/>
            <a:r>
              <a:rPr lang="en-US" sz="2800">
                <a:latin typeface="Times New Roman" panose="02020603050405020304" pitchFamily="18" charset="0"/>
              </a:rPr>
              <a:t>C</a:t>
            </a:r>
            <a:r>
              <a:rPr lang="en-US" sz="2800" b="0" i="0" u="none" strike="noStrike" baseline="0">
                <a:latin typeface="Times New Roman" panose="02020603050405020304" pitchFamily="18" charset="0"/>
              </a:rPr>
              <a:t>onfirm </a:t>
            </a:r>
            <a:r>
              <a:rPr lang="en-US" sz="2800" b="0" i="0" u="none" strike="noStrike" baseline="0" err="1">
                <a:latin typeface="Times New Roman" panose="02020603050405020304" pitchFamily="18" charset="0"/>
              </a:rPr>
              <a:t>aetiological</a:t>
            </a:r>
            <a:r>
              <a:rPr lang="en-US" sz="2800" b="0" i="0" u="none" strike="noStrike" baseline="0">
                <a:latin typeface="Times New Roman" panose="02020603050405020304" pitchFamily="18" charset="0"/>
              </a:rPr>
              <a:t> hypothesis </a:t>
            </a:r>
            <a:endParaRPr lang="en-US" sz="2800">
              <a:latin typeface="Times New Roman" panose="02020603050405020304" pitchFamily="18" charset="0"/>
            </a:endParaRPr>
          </a:p>
          <a:p>
            <a:pPr lvl="1"/>
            <a:r>
              <a:rPr lang="en-US" sz="2800" b="0" i="0" u="none" strike="noStrike" baseline="0">
                <a:latin typeface="Times New Roman" panose="02020603050405020304" pitchFamily="18" charset="0"/>
              </a:rPr>
              <a:t>Study the pathogenetic phenomena </a:t>
            </a:r>
          </a:p>
          <a:p>
            <a:r>
              <a:rPr lang="en-US" b="0" i="0" u="none" strike="noStrike" baseline="0">
                <a:latin typeface="Times New Roman" panose="02020603050405020304" pitchFamily="18" charset="0"/>
              </a:rPr>
              <a:t>Testing the efficacy of preventive and therapeutic measures </a:t>
            </a:r>
          </a:p>
          <a:p>
            <a:r>
              <a:rPr lang="en-US" b="0" i="0" u="none" strike="noStrike" baseline="0">
                <a:latin typeface="Times New Roman" panose="02020603050405020304" pitchFamily="18" charset="0"/>
              </a:rPr>
              <a:t>Completing the natural history of disease. </a:t>
            </a:r>
          </a:p>
          <a:p>
            <a:pPr lvl="1"/>
            <a:r>
              <a:rPr lang="en-US" sz="2800" b="0" i="0" u="none" strike="noStrike" baseline="0">
                <a:latin typeface="Times New Roman" panose="02020603050405020304" pitchFamily="18" charset="0"/>
              </a:rPr>
              <a:t>Naturally occurring leprosy has been found in armadillos. </a:t>
            </a:r>
            <a:endParaRPr lang="en-US" sz="2800"/>
          </a:p>
        </p:txBody>
      </p:sp>
    </p:spTree>
    <p:extLst>
      <p:ext uri="{BB962C8B-B14F-4D97-AF65-F5344CB8AC3E}">
        <p14:creationId xmlns:p14="http://schemas.microsoft.com/office/powerpoint/2010/main" val="782941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E9E8D9E-DDB0-4D49-6DDD-C7D4CB32DD4A}"/>
              </a:ext>
            </a:extLst>
          </p:cNvPr>
          <p:cNvGraphicFramePr>
            <a:graphicFrameLocks noGrp="1"/>
          </p:cNvGraphicFramePr>
          <p:nvPr>
            <p:ph idx="1"/>
            <p:extLst>
              <p:ext uri="{D42A27DB-BD31-4B8C-83A1-F6EECF244321}">
                <p14:modId xmlns:p14="http://schemas.microsoft.com/office/powerpoint/2010/main" val="879350947"/>
              </p:ext>
            </p:extLst>
          </p:nvPr>
        </p:nvGraphicFramePr>
        <p:xfrm>
          <a:off x="838200" y="468923"/>
          <a:ext cx="10515600" cy="5708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4884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654130-7B47-8FDC-0030-402D0A397BC6}"/>
              </a:ext>
            </a:extLst>
          </p:cNvPr>
          <p:cNvSpPr>
            <a:spLocks noGrp="1"/>
          </p:cNvSpPr>
          <p:nvPr>
            <p:ph type="title"/>
          </p:nvPr>
        </p:nvSpPr>
        <p:spPr>
          <a:xfrm>
            <a:off x="635000" y="640823"/>
            <a:ext cx="3418659" cy="5583148"/>
          </a:xfrm>
        </p:spPr>
        <p:txBody>
          <a:bodyPr anchor="ctr">
            <a:normAutofit/>
          </a:bodyPr>
          <a:lstStyle/>
          <a:p>
            <a:r>
              <a:rPr lang="en-US" sz="5000"/>
              <a:t>Human Experiments - History</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6A6E602-2BE3-304F-1F80-7CC63BAC48A1}"/>
              </a:ext>
            </a:extLst>
          </p:cNvPr>
          <p:cNvGraphicFramePr>
            <a:graphicFrameLocks noGrp="1"/>
          </p:cNvGraphicFramePr>
          <p:nvPr>
            <p:ph idx="1"/>
            <p:extLst>
              <p:ext uri="{D42A27DB-BD31-4B8C-83A1-F6EECF244321}">
                <p14:modId xmlns:p14="http://schemas.microsoft.com/office/powerpoint/2010/main" val="12159742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0077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6F4E56-F901-8C99-9939-4899DA866440}"/>
              </a:ext>
            </a:extLst>
          </p:cNvPr>
          <p:cNvSpPr>
            <a:spLocks noGrp="1"/>
          </p:cNvSpPr>
          <p:nvPr>
            <p:ph type="title"/>
          </p:nvPr>
        </p:nvSpPr>
        <p:spPr>
          <a:xfrm>
            <a:off x="838200" y="365125"/>
            <a:ext cx="10515600" cy="1325563"/>
          </a:xfrm>
        </p:spPr>
        <p:txBody>
          <a:bodyPr>
            <a:normAutofit/>
          </a:bodyPr>
          <a:lstStyle/>
          <a:p>
            <a:r>
              <a:rPr lang="en-US" sz="5400"/>
              <a:t>Considerations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CB17FA9-17E4-C2A8-2714-49565723FBDF}"/>
              </a:ext>
            </a:extLst>
          </p:cNvPr>
          <p:cNvSpPr>
            <a:spLocks noGrp="1"/>
          </p:cNvSpPr>
          <p:nvPr>
            <p:ph idx="1"/>
          </p:nvPr>
        </p:nvSpPr>
        <p:spPr>
          <a:xfrm>
            <a:off x="838200" y="1929384"/>
            <a:ext cx="10515600" cy="4251960"/>
          </a:xfrm>
        </p:spPr>
        <p:txBody>
          <a:bodyPr>
            <a:normAutofit/>
          </a:bodyPr>
          <a:lstStyle/>
          <a:p>
            <a:r>
              <a:rPr lang="en-US" sz="2200" b="0" i="0" u="none" strike="noStrike" baseline="0">
                <a:latin typeface="Times New Roman" panose="02020603050405020304" pitchFamily="18" charset="0"/>
              </a:rPr>
              <a:t>Most incisive approach to scientific problem, ethical and logistic considerations </a:t>
            </a:r>
          </a:p>
          <a:p>
            <a:r>
              <a:rPr lang="en-US" sz="2200" b="0" i="0" u="none" strike="noStrike" baseline="0">
                <a:latin typeface="Times New Roman" panose="02020603050405020304" pitchFamily="18" charset="0"/>
              </a:rPr>
              <a:t>The benefits of the experiment have to be weighed against risks involved. </a:t>
            </a:r>
          </a:p>
          <a:p>
            <a:r>
              <a:rPr lang="en-US" sz="2200" b="0" i="0" u="none" strike="noStrike" baseline="0">
                <a:latin typeface="Times New Roman" panose="02020603050405020304" pitchFamily="18" charset="0"/>
              </a:rPr>
              <a:t>The volunteers should be made fully aware of all possible consequences.</a:t>
            </a:r>
          </a:p>
          <a:p>
            <a:r>
              <a:rPr lang="en-US" sz="2200" b="0" i="0" u="none" strike="noStrike" baseline="0">
                <a:latin typeface="Times New Roman" panose="02020603050405020304" pitchFamily="18" charset="0"/>
              </a:rPr>
              <a:t>When an illness is fatal (e.g., excessive </a:t>
            </a:r>
            <a:r>
              <a:rPr lang="en-US" sz="2200" b="0" i="0" u="none" strike="noStrike" baseline="0" err="1">
                <a:latin typeface="Times New Roman" panose="02020603050405020304" pitchFamily="18" charset="0"/>
              </a:rPr>
              <a:t>haemorrhage</a:t>
            </a:r>
            <a:r>
              <a:rPr lang="en-US" sz="2200" b="0" i="0" u="none" strike="noStrike" baseline="0">
                <a:latin typeface="Times New Roman" panose="02020603050405020304" pitchFamily="18" charset="0"/>
              </a:rPr>
              <a:t>) and the benefit of treatment (e.g., blood transfusion) is self-evident, it would be ethically unacceptable to prove or disprove the therapeutic value of blood transfusion</a:t>
            </a:r>
          </a:p>
          <a:p>
            <a:r>
              <a:rPr lang="en-US" sz="2200" b="0" i="0" u="none" strike="noStrike" baseline="0">
                <a:latin typeface="Times New Roman" panose="02020603050405020304" pitchFamily="18" charset="0"/>
              </a:rPr>
              <a:t>It is equally unethical if a drug or procedure is brought into general use without establishing its effectiveness by controlled trials. </a:t>
            </a:r>
          </a:p>
          <a:p>
            <a:pPr lvl="1"/>
            <a:r>
              <a:rPr lang="en-US" sz="2200" b="0" i="0" u="none" strike="noStrike" baseline="0">
                <a:latin typeface="Times New Roman" panose="02020603050405020304" pitchFamily="18" charset="0"/>
              </a:rPr>
              <a:t>The thalidomide disaster and the occurrence of carcinoma of the vagina in the offspring of pregnant women treated with diethylstilbestrol</a:t>
            </a:r>
            <a:endParaRPr lang="en-US" sz="2200"/>
          </a:p>
        </p:txBody>
      </p:sp>
    </p:spTree>
    <p:extLst>
      <p:ext uri="{BB962C8B-B14F-4D97-AF65-F5344CB8AC3E}">
        <p14:creationId xmlns:p14="http://schemas.microsoft.com/office/powerpoint/2010/main" val="1313651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4A039-0918-EE3E-CBDD-CEED78531B66}"/>
              </a:ext>
            </a:extLst>
          </p:cNvPr>
          <p:cNvSpPr>
            <a:spLocks noGrp="1"/>
          </p:cNvSpPr>
          <p:nvPr>
            <p:ph type="title"/>
          </p:nvPr>
        </p:nvSpPr>
        <p:spPr/>
        <p:txBody>
          <a:bodyPr/>
          <a:lstStyle/>
          <a:p>
            <a:r>
              <a:rPr lang="en-US"/>
              <a:t>Types</a:t>
            </a:r>
          </a:p>
        </p:txBody>
      </p:sp>
      <p:graphicFrame>
        <p:nvGraphicFramePr>
          <p:cNvPr id="5" name="Content Placeholder 2">
            <a:extLst>
              <a:ext uri="{FF2B5EF4-FFF2-40B4-BE49-F238E27FC236}">
                <a16:creationId xmlns:a16="http://schemas.microsoft.com/office/drawing/2014/main" id="{9CFA8AF9-EE2C-900F-5A6F-94207B51B722}"/>
              </a:ext>
            </a:extLst>
          </p:cNvPr>
          <p:cNvGraphicFramePr>
            <a:graphicFrameLocks noGrp="1"/>
          </p:cNvGraphicFramePr>
          <p:nvPr>
            <p:ph idx="1"/>
            <p:extLst>
              <p:ext uri="{D42A27DB-BD31-4B8C-83A1-F6EECF244321}">
                <p14:modId xmlns:p14="http://schemas.microsoft.com/office/powerpoint/2010/main" val="953842663"/>
              </p:ext>
            </p:extLst>
          </p:nvPr>
        </p:nvGraphicFramePr>
        <p:xfrm>
          <a:off x="0" y="1395663"/>
          <a:ext cx="12192000" cy="5097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3826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0">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7" name="Freeform: Shape 1032">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a:extLst>
              <a:ext uri="{FF2B5EF4-FFF2-40B4-BE49-F238E27FC236}">
                <a16:creationId xmlns:a16="http://schemas.microsoft.com/office/drawing/2014/main" id="{EAD6DE25-E6AC-EADA-4978-7630E547900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67292" y="533169"/>
            <a:ext cx="3724902" cy="564379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1035" name="Arc 1034">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6BA18D-0D73-497F-DE11-18D656A5B0B5}"/>
              </a:ext>
            </a:extLst>
          </p:cNvPr>
          <p:cNvSpPr>
            <a:spLocks noGrp="1"/>
          </p:cNvSpPr>
          <p:nvPr>
            <p:ph type="title"/>
          </p:nvPr>
        </p:nvSpPr>
        <p:spPr>
          <a:xfrm>
            <a:off x="838201" y="479493"/>
            <a:ext cx="5257800" cy="1325563"/>
          </a:xfrm>
        </p:spPr>
        <p:txBody>
          <a:bodyPr>
            <a:normAutofit/>
          </a:bodyPr>
          <a:lstStyle/>
          <a:p>
            <a:r>
              <a:rPr lang="en-US"/>
              <a:t>RCT</a:t>
            </a:r>
          </a:p>
        </p:txBody>
      </p:sp>
      <p:sp>
        <p:nvSpPr>
          <p:cNvPr id="3" name="Content Placeholder 2">
            <a:extLst>
              <a:ext uri="{FF2B5EF4-FFF2-40B4-BE49-F238E27FC236}">
                <a16:creationId xmlns:a16="http://schemas.microsoft.com/office/drawing/2014/main" id="{9365A942-1CD9-4BFB-E329-F4EADC192865}"/>
              </a:ext>
            </a:extLst>
          </p:cNvPr>
          <p:cNvSpPr>
            <a:spLocks noGrp="1"/>
          </p:cNvSpPr>
          <p:nvPr>
            <p:ph idx="1"/>
          </p:nvPr>
        </p:nvSpPr>
        <p:spPr>
          <a:xfrm>
            <a:off x="838201" y="1984443"/>
            <a:ext cx="5257800" cy="4192520"/>
          </a:xfrm>
        </p:spPr>
        <p:txBody>
          <a:bodyPr>
            <a:normAutofit/>
          </a:bodyPr>
          <a:lstStyle/>
          <a:p>
            <a:r>
              <a:rPr lang="en-US" sz="2200" b="0" i="0" u="none" strike="noStrike" baseline="0">
                <a:latin typeface="Times New Roman" panose="02020603050405020304" pitchFamily="18" charset="0"/>
              </a:rPr>
              <a:t>For new </a:t>
            </a:r>
            <a:r>
              <a:rPr lang="en-US" sz="2200" b="0" i="0" u="none" strike="noStrike" baseline="0" err="1">
                <a:latin typeface="Times New Roman" panose="02020603050405020304" pitchFamily="18" charset="0"/>
              </a:rPr>
              <a:t>programmes</a:t>
            </a:r>
            <a:r>
              <a:rPr lang="en-US" sz="2200" b="0" i="0" u="none" strike="noStrike" baseline="0">
                <a:latin typeface="Times New Roman" panose="02020603050405020304" pitchFamily="18" charset="0"/>
              </a:rPr>
              <a:t> or new therapies, the RCT is the </a:t>
            </a:r>
            <a:r>
              <a:rPr lang="en-US" sz="2200" b="0" i="0" u="none" strike="noStrike" baseline="0" err="1">
                <a:latin typeface="Times New Roman" panose="02020603050405020304" pitchFamily="18" charset="0"/>
              </a:rPr>
              <a:t>No.l</a:t>
            </a:r>
            <a:r>
              <a:rPr lang="en-US" sz="2200" b="0" i="0" u="none" strike="noStrike" baseline="0">
                <a:latin typeface="Times New Roman" panose="02020603050405020304" pitchFamily="18" charset="0"/>
              </a:rPr>
              <a:t> method of evaluation. The basic steps in conducting a RCT include the following :</a:t>
            </a:r>
          </a:p>
          <a:p>
            <a:r>
              <a:rPr lang="en-US" sz="2200" b="0" i="0" u="none" strike="noStrike" baseline="0">
                <a:latin typeface="Times New Roman" panose="02020603050405020304" pitchFamily="18" charset="0"/>
              </a:rPr>
              <a:t>1. Drawing up a protocol.</a:t>
            </a:r>
          </a:p>
          <a:p>
            <a:r>
              <a:rPr lang="en-US" sz="2200" b="0" i="0" u="none" strike="noStrike" baseline="0">
                <a:latin typeface="Times New Roman" panose="02020603050405020304" pitchFamily="18" charset="0"/>
              </a:rPr>
              <a:t>2. Selecting reference and experimental populations.</a:t>
            </a:r>
          </a:p>
          <a:p>
            <a:r>
              <a:rPr lang="en-US" sz="2200" b="0" i="0" u="none" strike="noStrike" baseline="0">
                <a:latin typeface="Times New Roman" panose="02020603050405020304" pitchFamily="18" charset="0"/>
              </a:rPr>
              <a:t>3. Randomization.</a:t>
            </a:r>
          </a:p>
          <a:p>
            <a:r>
              <a:rPr lang="en-US" sz="2200" b="0" i="0" u="none" strike="noStrike" baseline="0">
                <a:latin typeface="Times New Roman" panose="02020603050405020304" pitchFamily="18" charset="0"/>
              </a:rPr>
              <a:t>4. Manipulation or intervention.</a:t>
            </a:r>
          </a:p>
          <a:p>
            <a:r>
              <a:rPr lang="en-US" sz="2200" b="0" i="0" u="none" strike="noStrike" baseline="0">
                <a:latin typeface="Times New Roman" panose="02020603050405020304" pitchFamily="18" charset="0"/>
              </a:rPr>
              <a:t>5. Follow-up.</a:t>
            </a:r>
          </a:p>
          <a:p>
            <a:r>
              <a:rPr lang="en-US" sz="2200" b="0" i="0" u="none" strike="noStrike" baseline="0">
                <a:latin typeface="Times New Roman" panose="02020603050405020304" pitchFamily="18" charset="0"/>
              </a:rPr>
              <a:t>6. Assessment of outcome.</a:t>
            </a:r>
            <a:endParaRPr lang="en-US" sz="2200"/>
          </a:p>
        </p:txBody>
      </p:sp>
    </p:spTree>
    <p:extLst>
      <p:ext uri="{BB962C8B-B14F-4D97-AF65-F5344CB8AC3E}">
        <p14:creationId xmlns:p14="http://schemas.microsoft.com/office/powerpoint/2010/main" val="1783937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2B9988-23DD-C87D-D829-4B73D0F95B96}"/>
              </a:ext>
            </a:extLst>
          </p:cNvPr>
          <p:cNvSpPr>
            <a:spLocks noGrp="1"/>
          </p:cNvSpPr>
          <p:nvPr>
            <p:ph type="title"/>
          </p:nvPr>
        </p:nvSpPr>
        <p:spPr>
          <a:xfrm>
            <a:off x="2019300" y="538956"/>
            <a:ext cx="8985250" cy="1118394"/>
          </a:xfrm>
        </p:spPr>
        <p:txBody>
          <a:bodyPr anchor="t">
            <a:normAutofit/>
          </a:bodyPr>
          <a:lstStyle/>
          <a:p>
            <a:r>
              <a:rPr lang="en-US" sz="4000"/>
              <a:t>Protocol</a:t>
            </a:r>
          </a:p>
        </p:txBody>
      </p:sp>
      <p:pic>
        <p:nvPicPr>
          <p:cNvPr id="7" name="Graphic 6" descr="Target">
            <a:extLst>
              <a:ext uri="{FF2B5EF4-FFF2-40B4-BE49-F238E27FC236}">
                <a16:creationId xmlns:a16="http://schemas.microsoft.com/office/drawing/2014/main" id="{EF06AF14-15EA-AF27-F6C3-7386027BDA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B6A28DCF-4BA2-9B1A-38BA-8AD96FE99FE1}"/>
              </a:ext>
            </a:extLst>
          </p:cNvPr>
          <p:cNvSpPr>
            <a:spLocks noGrp="1"/>
          </p:cNvSpPr>
          <p:nvPr>
            <p:ph idx="1"/>
          </p:nvPr>
        </p:nvSpPr>
        <p:spPr>
          <a:xfrm>
            <a:off x="0" y="1288257"/>
            <a:ext cx="12014200" cy="5199629"/>
          </a:xfrm>
        </p:spPr>
        <p:txBody>
          <a:bodyPr numCol="2">
            <a:normAutofit fontScale="92500" lnSpcReduction="10000"/>
          </a:bodyPr>
          <a:lstStyle/>
          <a:p>
            <a:r>
              <a:rPr lang="en-US" sz="2400" b="0" i="0" u="none" strike="noStrike" baseline="0">
                <a:latin typeface="Times New Roman" panose="02020603050405020304" pitchFamily="18" charset="0"/>
              </a:rPr>
              <a:t>Study is conducted under a strict protocol.</a:t>
            </a:r>
          </a:p>
          <a:p>
            <a:r>
              <a:rPr lang="en-US" sz="2400" b="0" i="0" u="none" strike="noStrike" baseline="0">
                <a:latin typeface="Times New Roman" panose="02020603050405020304" pitchFamily="18" charset="0"/>
              </a:rPr>
              <a:t>Specifies </a:t>
            </a:r>
          </a:p>
          <a:p>
            <a:pPr lvl="1"/>
            <a:r>
              <a:rPr lang="en-US" b="0" i="0" u="none" strike="noStrike" baseline="0">
                <a:latin typeface="Times New Roman" panose="02020603050405020304" pitchFamily="18" charset="0"/>
              </a:rPr>
              <a:t>Aims and objectives of the study </a:t>
            </a:r>
          </a:p>
          <a:p>
            <a:pPr lvl="1"/>
            <a:r>
              <a:rPr lang="en-US" b="0" i="0" u="none" strike="noStrike" baseline="0">
                <a:latin typeface="Times New Roman" panose="02020603050405020304" pitchFamily="18" charset="0"/>
              </a:rPr>
              <a:t>Questions to be answered, </a:t>
            </a:r>
          </a:p>
          <a:p>
            <a:pPr lvl="1"/>
            <a:r>
              <a:rPr lang="en-US" b="0" i="0" u="none" strike="noStrike" baseline="0">
                <a:latin typeface="Times New Roman" panose="02020603050405020304" pitchFamily="18" charset="0"/>
              </a:rPr>
              <a:t>Criteria for the selection of study and control groups, </a:t>
            </a:r>
          </a:p>
          <a:p>
            <a:pPr lvl="1"/>
            <a:r>
              <a:rPr lang="en-US" b="0" i="0" u="none" strike="noStrike" baseline="0">
                <a:latin typeface="Times New Roman" panose="02020603050405020304" pitchFamily="18" charset="0"/>
              </a:rPr>
              <a:t>Size of the sample, </a:t>
            </a:r>
          </a:p>
          <a:p>
            <a:pPr lvl="1"/>
            <a:r>
              <a:rPr lang="en-US" b="0" i="0" u="none" strike="noStrike" baseline="0">
                <a:latin typeface="Times New Roman" panose="02020603050405020304" pitchFamily="18" charset="0"/>
              </a:rPr>
              <a:t>The procedures for allocation of subjects into study and control groups, </a:t>
            </a:r>
          </a:p>
          <a:p>
            <a:pPr lvl="1"/>
            <a:r>
              <a:rPr lang="en-US" b="0" i="0" u="none" strike="noStrike" baseline="0">
                <a:latin typeface="Times New Roman" panose="02020603050405020304" pitchFamily="18" charset="0"/>
              </a:rPr>
              <a:t>Treatments to be applied - when and where and how to what kind of patients, </a:t>
            </a:r>
          </a:p>
          <a:p>
            <a:pPr lvl="1"/>
            <a:r>
              <a:rPr lang="en-US" b="0" i="0" u="none" strike="noStrike" baseline="0">
                <a:latin typeface="Times New Roman" panose="02020603050405020304" pitchFamily="18" charset="0"/>
              </a:rPr>
              <a:t>Standardization of working procedures </a:t>
            </a:r>
            <a:endParaRPr lang="en-US">
              <a:latin typeface="Times New Roman" panose="02020603050405020304" pitchFamily="18" charset="0"/>
            </a:endParaRPr>
          </a:p>
          <a:p>
            <a:pPr lvl="1"/>
            <a:r>
              <a:rPr lang="en-US" b="0" i="0" u="none" strike="noStrike" baseline="0">
                <a:latin typeface="Times New Roman" panose="02020603050405020304" pitchFamily="18" charset="0"/>
              </a:rPr>
              <a:t>Schedules as well as responsibilities of the parties involved in the trial, </a:t>
            </a:r>
          </a:p>
          <a:p>
            <a:r>
              <a:rPr lang="en-US" sz="2400" b="0" i="0" u="none" strike="noStrike" baseline="0">
                <a:latin typeface="Times New Roman" panose="02020603050405020304" pitchFamily="18" charset="0"/>
              </a:rPr>
              <a:t>Essential especially when a number of centres are participating in the trial. </a:t>
            </a:r>
          </a:p>
          <a:p>
            <a:r>
              <a:rPr lang="en-US" sz="2400" b="0" i="0" u="none" strike="noStrike" baseline="0">
                <a:latin typeface="Times New Roman" panose="02020603050405020304" pitchFamily="18" charset="0"/>
              </a:rPr>
              <a:t>Once a protocol has been evolved, it should be strictly adhered to throughout the study. </a:t>
            </a:r>
          </a:p>
          <a:p>
            <a:r>
              <a:rPr lang="en-US" sz="2400" b="0" i="0" u="none" strike="noStrike" baseline="0">
                <a:latin typeface="Times New Roman" panose="02020603050405020304" pitchFamily="18" charset="0"/>
              </a:rPr>
              <a:t>The protocol aims at preventing bias and to reduce the sources of error in the study.</a:t>
            </a:r>
          </a:p>
          <a:p>
            <a:r>
              <a:rPr lang="en-US" sz="2400" b="0" i="0" u="none" strike="noStrike" baseline="0">
                <a:latin typeface="Times New Roman" panose="02020603050405020304" pitchFamily="18" charset="0"/>
              </a:rPr>
              <a:t>Preliminary test runs (Pilot test) or short test runs : To find out the </a:t>
            </a:r>
          </a:p>
          <a:p>
            <a:pPr lvl="1"/>
            <a:r>
              <a:rPr lang="en-US" b="0" i="0" u="none" strike="noStrike" baseline="0">
                <a:latin typeface="Times New Roman" panose="02020603050405020304" pitchFamily="18" charset="0"/>
              </a:rPr>
              <a:t>Feasibility or operational efficiency of certain procedures, </a:t>
            </a:r>
            <a:endParaRPr lang="en-US">
              <a:latin typeface="Times New Roman" panose="02020603050405020304" pitchFamily="18" charset="0"/>
            </a:endParaRPr>
          </a:p>
          <a:p>
            <a:pPr lvl="1"/>
            <a:r>
              <a:rPr lang="en-US" b="0" i="0" u="none" strike="noStrike" baseline="0">
                <a:latin typeface="Times New Roman" panose="02020603050405020304" pitchFamily="18" charset="0"/>
              </a:rPr>
              <a:t>Unknown effects, </a:t>
            </a:r>
          </a:p>
          <a:p>
            <a:pPr lvl="1"/>
            <a:r>
              <a:rPr lang="en-US">
                <a:latin typeface="Times New Roman" panose="02020603050405020304" pitchFamily="18" charset="0"/>
              </a:rPr>
              <a:t>T</a:t>
            </a:r>
            <a:r>
              <a:rPr lang="en-US" b="0" i="0" u="none" strike="noStrike" baseline="0">
                <a:latin typeface="Times New Roman" panose="02020603050405020304" pitchFamily="18" charset="0"/>
              </a:rPr>
              <a:t>he acceptability of certain policies. </a:t>
            </a:r>
          </a:p>
          <a:p>
            <a:r>
              <a:rPr lang="en-US" sz="2400" b="0" i="0" u="none" strike="noStrike" baseline="0">
                <a:latin typeface="Times New Roman" panose="02020603050405020304" pitchFamily="18" charset="0"/>
              </a:rPr>
              <a:t>It is important that the final version of the protocol should be agreed upon by all concerned before the trial begins.</a:t>
            </a:r>
            <a:endParaRPr lang="en-US" sz="2400"/>
          </a:p>
        </p:txBody>
      </p:sp>
    </p:spTree>
    <p:extLst>
      <p:ext uri="{BB962C8B-B14F-4D97-AF65-F5344CB8AC3E}">
        <p14:creationId xmlns:p14="http://schemas.microsoft.com/office/powerpoint/2010/main" val="2432513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6B89-1661-B1BA-346B-D9412222D20B}"/>
              </a:ext>
            </a:extLst>
          </p:cNvPr>
          <p:cNvSpPr>
            <a:spLocks noGrp="1"/>
          </p:cNvSpPr>
          <p:nvPr>
            <p:ph type="title"/>
          </p:nvPr>
        </p:nvSpPr>
        <p:spPr/>
        <p:txBody>
          <a:bodyPr/>
          <a:lstStyle/>
          <a:p>
            <a:r>
              <a:rPr lang="en-US"/>
              <a:t>Reference and experimental population</a:t>
            </a:r>
          </a:p>
        </p:txBody>
      </p:sp>
      <p:graphicFrame>
        <p:nvGraphicFramePr>
          <p:cNvPr id="5" name="Content Placeholder 2">
            <a:extLst>
              <a:ext uri="{FF2B5EF4-FFF2-40B4-BE49-F238E27FC236}">
                <a16:creationId xmlns:a16="http://schemas.microsoft.com/office/drawing/2014/main" id="{D3AF18CC-9673-92CD-D9E7-006A82757489}"/>
              </a:ext>
            </a:extLst>
          </p:cNvPr>
          <p:cNvGraphicFramePr>
            <a:graphicFrameLocks noGrp="1"/>
          </p:cNvGraphicFramePr>
          <p:nvPr>
            <p:ph idx="1"/>
            <p:extLst>
              <p:ext uri="{D42A27DB-BD31-4B8C-83A1-F6EECF244321}">
                <p14:modId xmlns:p14="http://schemas.microsoft.com/office/powerpoint/2010/main" val="3949330333"/>
              </p:ext>
            </p:extLst>
          </p:nvPr>
        </p:nvGraphicFramePr>
        <p:xfrm>
          <a:off x="838200" y="1825625"/>
          <a:ext cx="10515600" cy="4667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2286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21ED5FCA-9564-42B4-9F52-2CCED8ED6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stethoscope formed in a heart">
            <a:extLst>
              <a:ext uri="{FF2B5EF4-FFF2-40B4-BE49-F238E27FC236}">
                <a16:creationId xmlns:a16="http://schemas.microsoft.com/office/drawing/2014/main" id="{E2754D1B-7E44-15FC-0613-35BD973360A3}"/>
              </a:ext>
            </a:extLst>
          </p:cNvPr>
          <p:cNvPicPr>
            <a:picLocks noChangeAspect="1"/>
          </p:cNvPicPr>
          <p:nvPr/>
        </p:nvPicPr>
        <p:blipFill rotWithShape="1">
          <a:blip r:embed="rId2">
            <a:alphaModFix/>
            <a:duotone>
              <a:schemeClr val="bg2">
                <a:shade val="45000"/>
                <a:satMod val="135000"/>
              </a:schemeClr>
              <a:prstClr val="white"/>
            </a:duotone>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rcRect t="197" b="12594"/>
          <a:stretch/>
        </p:blipFill>
        <p:spPr>
          <a:xfrm>
            <a:off x="20" y="-9107"/>
            <a:ext cx="12191980" cy="6858000"/>
          </a:xfrm>
          <a:prstGeom prst="rect">
            <a:avLst/>
          </a:prstGeom>
        </p:spPr>
      </p:pic>
      <p:sp>
        <p:nvSpPr>
          <p:cNvPr id="2" name="Title 1">
            <a:extLst>
              <a:ext uri="{FF2B5EF4-FFF2-40B4-BE49-F238E27FC236}">
                <a16:creationId xmlns:a16="http://schemas.microsoft.com/office/drawing/2014/main" id="{0FB2BA9E-5FE3-6831-56B6-7736CC65990A}"/>
              </a:ext>
            </a:extLst>
          </p:cNvPr>
          <p:cNvSpPr>
            <a:spLocks noGrp="1"/>
          </p:cNvSpPr>
          <p:nvPr>
            <p:ph type="title"/>
          </p:nvPr>
        </p:nvSpPr>
        <p:spPr>
          <a:xfrm>
            <a:off x="838199" y="34314"/>
            <a:ext cx="10515600" cy="1325563"/>
          </a:xfrm>
        </p:spPr>
        <p:txBody>
          <a:bodyPr>
            <a:normAutofit/>
          </a:bodyPr>
          <a:lstStyle/>
          <a:p>
            <a:r>
              <a:rPr lang="en-US"/>
              <a:t>Randomization</a:t>
            </a:r>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0E249B8-213D-8A2B-F8B3-DDB318F0C086}"/>
              </a:ext>
            </a:extLst>
          </p:cNvPr>
          <p:cNvSpPr>
            <a:spLocks noGrp="1"/>
          </p:cNvSpPr>
          <p:nvPr>
            <p:ph idx="1"/>
          </p:nvPr>
        </p:nvSpPr>
        <p:spPr>
          <a:xfrm>
            <a:off x="-1" y="1359877"/>
            <a:ext cx="12192001" cy="5489016"/>
          </a:xfrm>
        </p:spPr>
        <p:txBody>
          <a:bodyPr>
            <a:noAutofit/>
          </a:bodyPr>
          <a:lstStyle/>
          <a:p>
            <a:r>
              <a:rPr lang="en-US" sz="2200"/>
              <a:t>Heart of controlled trial - </a:t>
            </a:r>
            <a:r>
              <a:rPr lang="en-US" sz="2200" b="0" i="0" u="none" strike="noStrike" baseline="0">
                <a:latin typeface="Times New Roman" panose="02020603050405020304" pitchFamily="18" charset="0"/>
              </a:rPr>
              <a:t>It will give the greatest confidence that the groups are comparable</a:t>
            </a:r>
            <a:endParaRPr lang="en-US" sz="2200"/>
          </a:p>
          <a:p>
            <a:r>
              <a:rPr lang="en-US" sz="2200" b="0" i="0" u="none" strike="noStrike" baseline="0">
                <a:latin typeface="Times New Roman" panose="02020603050405020304" pitchFamily="18" charset="0"/>
              </a:rPr>
              <a:t>Randomization is an attempt to eliminate “bias” and allow for </a:t>
            </a:r>
            <a:r>
              <a:rPr lang="en-US" sz="2200" b="0" i="1" u="none" strike="noStrike" baseline="0">
                <a:latin typeface="Times New Roman" panose="02020603050405020304" pitchFamily="18" charset="0"/>
              </a:rPr>
              <a:t>comparability.</a:t>
            </a:r>
          </a:p>
          <a:p>
            <a:r>
              <a:rPr lang="en-US" sz="2200" b="0" i="0" u="none" strike="noStrike" baseline="0">
                <a:latin typeface="Times New Roman" panose="02020603050405020304" pitchFamily="18" charset="0"/>
              </a:rPr>
              <a:t>Entire study population can be stratified into sub-groups according to the variable, and individuals within each sub-group can then be randomly allocated into study and control groups </a:t>
            </a:r>
          </a:p>
          <a:p>
            <a:pPr lvl="1"/>
            <a:r>
              <a:rPr lang="en-US" sz="2200" b="0" i="0" u="none" strike="noStrike" baseline="0">
                <a:latin typeface="Times New Roman" panose="02020603050405020304" pitchFamily="18" charset="0"/>
              </a:rPr>
              <a:t>It is always desirable to check that the groups formed initially are basically similar in composition. </a:t>
            </a:r>
          </a:p>
          <a:p>
            <a:r>
              <a:rPr lang="en-US" sz="2200" b="0" i="0" u="none" strike="noStrike" baseline="0">
                <a:latin typeface="Times New Roman" panose="02020603050405020304" pitchFamily="18" charset="0"/>
              </a:rPr>
              <a:t>Randomization is done only after the participant has entered the study</a:t>
            </a:r>
          </a:p>
          <a:p>
            <a:r>
              <a:rPr lang="en-US" sz="2200" b="0" i="0" u="none" strike="noStrike" baseline="0">
                <a:latin typeface="Times New Roman" panose="02020603050405020304" pitchFamily="18" charset="0"/>
              </a:rPr>
              <a:t>Randomization is best done by using a table of random numbers.</a:t>
            </a:r>
          </a:p>
          <a:p>
            <a:r>
              <a:rPr lang="en-US" sz="2200" b="0" i="0" u="none" strike="noStrike" baseline="0">
                <a:latin typeface="Times New Roman" panose="02020603050405020304" pitchFamily="18" charset="0"/>
              </a:rPr>
              <a:t>The essential difference between a randomized controlled trial and an analytical study is that in the latter there is no randomization.</a:t>
            </a:r>
          </a:p>
          <a:p>
            <a:r>
              <a:rPr lang="en-US" sz="2200" b="0" i="0" u="none" strike="noStrike" baseline="0">
                <a:latin typeface="Times New Roman" panose="02020603050405020304" pitchFamily="18" charset="0"/>
              </a:rPr>
              <a:t>The only option left to ensure comparability in analytical studies is by matching.</a:t>
            </a:r>
          </a:p>
          <a:p>
            <a:r>
              <a:rPr lang="en-US" sz="2200" b="0" i="0" u="none" strike="noStrike" baseline="0">
                <a:latin typeface="Times New Roman" panose="02020603050405020304" pitchFamily="18" charset="0"/>
              </a:rPr>
              <a:t>One can only match those factors which are known to be important. There may be other factors which are important but whose effect is not recognized or cannot be determined.</a:t>
            </a:r>
            <a:endParaRPr lang="en-US" sz="2200" b="0" i="1" u="none" strike="noStrike" baseline="0">
              <a:latin typeface="Times New Roman" panose="02020603050405020304" pitchFamily="18" charset="0"/>
            </a:endParaRPr>
          </a:p>
          <a:p>
            <a:endParaRPr lang="en-US" sz="2200"/>
          </a:p>
        </p:txBody>
      </p:sp>
    </p:spTree>
    <p:extLst>
      <p:ext uri="{BB962C8B-B14F-4D97-AF65-F5344CB8AC3E}">
        <p14:creationId xmlns:p14="http://schemas.microsoft.com/office/powerpoint/2010/main" val="1276359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99CB74-7DB0-40E5-92E5-DC3712FEF833}"/>
              </a:ext>
            </a:extLst>
          </p:cNvPr>
          <p:cNvSpPr>
            <a:spLocks noGrp="1"/>
          </p:cNvSpPr>
          <p:nvPr>
            <p:ph type="title"/>
          </p:nvPr>
        </p:nvSpPr>
        <p:spPr>
          <a:xfrm>
            <a:off x="6090375" y="339795"/>
            <a:ext cx="4977976" cy="1454051"/>
          </a:xfrm>
        </p:spPr>
        <p:txBody>
          <a:bodyPr>
            <a:normAutofit/>
          </a:bodyPr>
          <a:lstStyle/>
          <a:p>
            <a:r>
              <a:rPr lang="en-US" sz="3600">
                <a:solidFill>
                  <a:schemeClr val="tx2"/>
                </a:solidFill>
              </a:rPr>
              <a:t>Allocation Concealment</a:t>
            </a:r>
          </a:p>
        </p:txBody>
      </p:sp>
      <p:pic>
        <p:nvPicPr>
          <p:cNvPr id="7" name="Graphic 6" descr="Users">
            <a:extLst>
              <a:ext uri="{FF2B5EF4-FFF2-40B4-BE49-F238E27FC236}">
                <a16:creationId xmlns:a16="http://schemas.microsoft.com/office/drawing/2014/main" id="{F6026F6B-6752-40AA-3830-35107F73F6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1122FAFF-10EE-952F-6429-1EC28E76A64C}"/>
              </a:ext>
            </a:extLst>
          </p:cNvPr>
          <p:cNvSpPr>
            <a:spLocks noGrp="1"/>
          </p:cNvSpPr>
          <p:nvPr>
            <p:ph idx="1"/>
          </p:nvPr>
        </p:nvSpPr>
        <p:spPr>
          <a:xfrm>
            <a:off x="5931240" y="1793847"/>
            <a:ext cx="5296246" cy="4894960"/>
          </a:xfrm>
        </p:spPr>
        <p:txBody>
          <a:bodyPr anchor="ctr">
            <a:normAutofit lnSpcReduction="10000"/>
          </a:bodyPr>
          <a:lstStyle/>
          <a:p>
            <a:r>
              <a:rPr lang="en-US" sz="2400"/>
              <a:t>Allocation concealment is a when the person (or system) responsible for allocating people to different treatment groups and control groups:</a:t>
            </a:r>
          </a:p>
          <a:p>
            <a:pPr lvl="1"/>
            <a:r>
              <a:rPr lang="en-US"/>
              <a:t>Doesn’t know what the next treatment allocation will be and</a:t>
            </a:r>
          </a:p>
          <a:p>
            <a:pPr lvl="1"/>
            <a:r>
              <a:rPr lang="en-US"/>
              <a:t>Conceals the results of the allocation from others.</a:t>
            </a:r>
          </a:p>
          <a:p>
            <a:r>
              <a:rPr lang="en-US" sz="2400"/>
              <a:t>A Centralized telephone randomization center (like this one) uses randomization to allocate patients to groups. The database is independent and thus is not accessible to study personnel except to receive a treatment assignment for a specific patient.</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20682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CFC21-C1DB-6BED-1B7C-CC3D2EE683FF}"/>
              </a:ext>
            </a:extLst>
          </p:cNvPr>
          <p:cNvSpPr>
            <a:spLocks noGrp="1"/>
          </p:cNvSpPr>
          <p:nvPr>
            <p:ph type="title"/>
          </p:nvPr>
        </p:nvSpPr>
        <p:spPr>
          <a:xfrm>
            <a:off x="804274" y="184406"/>
            <a:ext cx="4977976" cy="1454051"/>
          </a:xfrm>
        </p:spPr>
        <p:txBody>
          <a:bodyPr>
            <a:normAutofit/>
          </a:bodyPr>
          <a:lstStyle/>
          <a:p>
            <a:r>
              <a:rPr lang="en-US" sz="3600">
                <a:solidFill>
                  <a:schemeClr val="tx2"/>
                </a:solidFill>
              </a:rPr>
              <a:t>Manipulation</a:t>
            </a:r>
          </a:p>
        </p:txBody>
      </p:sp>
      <p:sp>
        <p:nvSpPr>
          <p:cNvPr id="3" name="Content Placeholder 2">
            <a:extLst>
              <a:ext uri="{FF2B5EF4-FFF2-40B4-BE49-F238E27FC236}">
                <a16:creationId xmlns:a16="http://schemas.microsoft.com/office/drawing/2014/main" id="{190B27D3-529D-151F-4A42-73AC911AFBE6}"/>
              </a:ext>
            </a:extLst>
          </p:cNvPr>
          <p:cNvSpPr>
            <a:spLocks noGrp="1"/>
          </p:cNvSpPr>
          <p:nvPr>
            <p:ph idx="1"/>
          </p:nvPr>
        </p:nvSpPr>
        <p:spPr>
          <a:xfrm>
            <a:off x="217423" y="1629089"/>
            <a:ext cx="6370946" cy="4425956"/>
          </a:xfrm>
        </p:spPr>
        <p:txBody>
          <a:bodyPr anchor="ctr">
            <a:normAutofit/>
          </a:bodyPr>
          <a:lstStyle/>
          <a:p>
            <a:r>
              <a:rPr lang="en-US" b="0" i="0" u="none" strike="noStrike" baseline="0">
                <a:solidFill>
                  <a:schemeClr val="tx2"/>
                </a:solidFill>
                <a:latin typeface="Times New Roman" panose="02020603050405020304" pitchFamily="18" charset="0"/>
              </a:rPr>
              <a:t>Intervene or manipulate the study (experimental) group </a:t>
            </a:r>
            <a:endParaRPr lang="en-US">
              <a:solidFill>
                <a:schemeClr val="tx2"/>
              </a:solidFill>
              <a:latin typeface="Times New Roman" panose="02020603050405020304" pitchFamily="18" charset="0"/>
            </a:endParaRPr>
          </a:p>
          <a:p>
            <a:pPr lvl="1"/>
            <a:r>
              <a:rPr lang="en-US" sz="2800" b="0" i="0" u="none" strike="noStrike" baseline="0">
                <a:solidFill>
                  <a:schemeClr val="tx2"/>
                </a:solidFill>
                <a:latin typeface="Times New Roman" panose="02020603050405020304" pitchFamily="18" charset="0"/>
              </a:rPr>
              <a:t>Deliberate application </a:t>
            </a:r>
            <a:endParaRPr lang="en-US" sz="2800">
              <a:solidFill>
                <a:schemeClr val="tx2"/>
              </a:solidFill>
              <a:latin typeface="Times New Roman" panose="02020603050405020304" pitchFamily="18" charset="0"/>
            </a:endParaRPr>
          </a:p>
          <a:p>
            <a:pPr lvl="1"/>
            <a:r>
              <a:rPr lang="en-US" sz="2800" b="0" i="0" u="none" strike="noStrike" baseline="0">
                <a:solidFill>
                  <a:schemeClr val="tx2"/>
                </a:solidFill>
                <a:latin typeface="Times New Roman" panose="02020603050405020304" pitchFamily="18" charset="0"/>
              </a:rPr>
              <a:t>Withdrawal</a:t>
            </a:r>
          </a:p>
          <a:p>
            <a:pPr lvl="1"/>
            <a:r>
              <a:rPr lang="en-US" sz="2800" b="0" i="0" u="none" strike="noStrike" baseline="0">
                <a:solidFill>
                  <a:schemeClr val="tx2"/>
                </a:solidFill>
                <a:latin typeface="Times New Roman" panose="02020603050405020304" pitchFamily="18" charset="0"/>
              </a:rPr>
              <a:t>Reduction of the suspected causal factor</a:t>
            </a:r>
          </a:p>
          <a:p>
            <a:r>
              <a:rPr lang="en-US" b="0" i="0" u="none" strike="noStrike" baseline="0">
                <a:solidFill>
                  <a:schemeClr val="tx2"/>
                </a:solidFill>
                <a:latin typeface="Times New Roman" panose="02020603050405020304" pitchFamily="18" charset="0"/>
              </a:rPr>
              <a:t>This manipulation creates an </a:t>
            </a:r>
            <a:r>
              <a:rPr lang="en-US" b="0" i="1" u="none" strike="noStrike" baseline="0">
                <a:solidFill>
                  <a:schemeClr val="tx2"/>
                </a:solidFill>
                <a:latin typeface="Times New Roman" panose="02020603050405020304" pitchFamily="18" charset="0"/>
              </a:rPr>
              <a:t>independent </a:t>
            </a:r>
            <a:r>
              <a:rPr lang="en-US" b="0" i="0" u="none" strike="noStrike" baseline="0">
                <a:solidFill>
                  <a:schemeClr val="tx2"/>
                </a:solidFill>
                <a:latin typeface="Times New Roman" panose="02020603050405020304" pitchFamily="18" charset="0"/>
              </a:rPr>
              <a:t>variable </a:t>
            </a:r>
          </a:p>
          <a:p>
            <a:r>
              <a:rPr lang="en-US" b="0" i="0" u="none" strike="noStrike" baseline="0">
                <a:solidFill>
                  <a:schemeClr val="tx2"/>
                </a:solidFill>
                <a:latin typeface="Times New Roman" panose="02020603050405020304" pitchFamily="18" charset="0"/>
              </a:rPr>
              <a:t>Final outcome, which constitutes the </a:t>
            </a:r>
            <a:r>
              <a:rPr lang="en-US" b="0" i="1" u="none" strike="noStrike" baseline="0">
                <a:solidFill>
                  <a:schemeClr val="tx2"/>
                </a:solidFill>
                <a:latin typeface="Times New Roman" panose="02020603050405020304" pitchFamily="18" charset="0"/>
              </a:rPr>
              <a:t>dependent variable</a:t>
            </a:r>
            <a:endParaRPr lang="en-US">
              <a:solidFill>
                <a:schemeClr val="tx2"/>
              </a:solidFill>
            </a:endParaRPr>
          </a:p>
        </p:txBody>
      </p:sp>
      <p:pic>
        <p:nvPicPr>
          <p:cNvPr id="7" name="Graphic 6" descr="Rat">
            <a:extLst>
              <a:ext uri="{FF2B5EF4-FFF2-40B4-BE49-F238E27FC236}">
                <a16:creationId xmlns:a16="http://schemas.microsoft.com/office/drawing/2014/main" id="{4C92B3AC-E7E4-2B57-65A0-BF6F7B0114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749832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3990-0CD9-C7DF-8F61-F34CBAC55754}"/>
              </a:ext>
            </a:extLst>
          </p:cNvPr>
          <p:cNvSpPr>
            <a:spLocks noGrp="1"/>
          </p:cNvSpPr>
          <p:nvPr>
            <p:ph type="title"/>
          </p:nvPr>
        </p:nvSpPr>
        <p:spPr>
          <a:xfrm>
            <a:off x="1137034" y="298113"/>
            <a:ext cx="6881026" cy="914399"/>
          </a:xfrm>
        </p:spPr>
        <p:txBody>
          <a:bodyPr>
            <a:normAutofit/>
          </a:bodyPr>
          <a:lstStyle/>
          <a:p>
            <a:r>
              <a:rPr lang="en-US"/>
              <a:t>Follow up</a:t>
            </a:r>
          </a:p>
        </p:txBody>
      </p:sp>
      <p:sp>
        <p:nvSpPr>
          <p:cNvPr id="3" name="Content Placeholder 2">
            <a:extLst>
              <a:ext uri="{FF2B5EF4-FFF2-40B4-BE49-F238E27FC236}">
                <a16:creationId xmlns:a16="http://schemas.microsoft.com/office/drawing/2014/main" id="{C6A9D905-7ACD-1BC8-355A-FAB9FD58CCAC}"/>
              </a:ext>
            </a:extLst>
          </p:cNvPr>
          <p:cNvSpPr>
            <a:spLocks noGrp="1"/>
          </p:cNvSpPr>
          <p:nvPr>
            <p:ph idx="1"/>
          </p:nvPr>
        </p:nvSpPr>
        <p:spPr>
          <a:xfrm>
            <a:off x="244523" y="1524000"/>
            <a:ext cx="8748215" cy="5035887"/>
          </a:xfrm>
        </p:spPr>
        <p:txBody>
          <a:bodyPr>
            <a:normAutofit lnSpcReduction="10000"/>
          </a:bodyPr>
          <a:lstStyle/>
          <a:p>
            <a:r>
              <a:rPr lang="en-US" b="0" i="0" u="none" strike="noStrike" baseline="0">
                <a:latin typeface="Times New Roman" panose="02020603050405020304" pitchFamily="18" charset="0"/>
              </a:rPr>
              <a:t>Examination of the experimental and control group subjects</a:t>
            </a:r>
          </a:p>
          <a:p>
            <a:pPr lvl="1"/>
            <a:r>
              <a:rPr lang="en-US" sz="2800" b="0" i="0" u="none" strike="noStrike" baseline="0">
                <a:latin typeface="Times New Roman" panose="02020603050405020304" pitchFamily="18" charset="0"/>
              </a:rPr>
              <a:t>Defined intervals of time, </a:t>
            </a:r>
            <a:endParaRPr lang="en-US" sz="2800">
              <a:latin typeface="Times New Roman" panose="02020603050405020304" pitchFamily="18" charset="0"/>
            </a:endParaRPr>
          </a:p>
          <a:p>
            <a:pPr lvl="1"/>
            <a:r>
              <a:rPr lang="en-US" sz="2800" b="0" i="0" u="none" strike="noStrike" baseline="0">
                <a:latin typeface="Times New Roman" panose="02020603050405020304" pitchFamily="18" charset="0"/>
              </a:rPr>
              <a:t>Standard manner, with equal intensity, under the same given circumstances</a:t>
            </a:r>
          </a:p>
          <a:p>
            <a:pPr lvl="1"/>
            <a:r>
              <a:rPr lang="en-US" sz="2800" b="0" i="0" u="none" strike="noStrike" baseline="0">
                <a:latin typeface="Times New Roman" panose="02020603050405020304" pitchFamily="18" charset="0"/>
              </a:rPr>
              <a:t>Same time frame till final assessment of outcome. </a:t>
            </a:r>
          </a:p>
          <a:p>
            <a:r>
              <a:rPr lang="en-US" b="0" i="0" u="none" strike="noStrike" baseline="0">
                <a:latin typeface="Times New Roman" panose="02020603050405020304" pitchFamily="18" charset="0"/>
              </a:rPr>
              <a:t>The duration of the trial is usually based on the expectation that a significant difference (e.g., mortality) will be demonstrable at a given point in time after the start of the trial.</a:t>
            </a:r>
          </a:p>
          <a:p>
            <a:r>
              <a:rPr lang="en-US" b="0" i="0" u="none" strike="noStrike" baseline="0">
                <a:latin typeface="Times New Roman" panose="02020603050405020304" pitchFamily="18" charset="0"/>
              </a:rPr>
              <a:t>It may be mentioned that some losses to follow-up are inevitable due to factors, such as death, migration and loss of interest. This is known as attrition</a:t>
            </a:r>
            <a:endParaRPr lang="en-US"/>
          </a:p>
        </p:txBody>
      </p:sp>
      <p:pic>
        <p:nvPicPr>
          <p:cNvPr id="27" name="Graphic 6" descr="Statistics">
            <a:extLst>
              <a:ext uri="{FF2B5EF4-FFF2-40B4-BE49-F238E27FC236}">
                <a16:creationId xmlns:a16="http://schemas.microsoft.com/office/drawing/2014/main" id="{F830F337-0E46-F9BC-6DD2-84ADE565AF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95981" y="1990229"/>
            <a:ext cx="2906973" cy="2906973"/>
          </a:xfrm>
          <a:prstGeom prst="rect">
            <a:avLst/>
          </a:prstGeom>
        </p:spPr>
      </p:pic>
    </p:spTree>
    <p:extLst>
      <p:ext uri="{BB962C8B-B14F-4D97-AF65-F5344CB8AC3E}">
        <p14:creationId xmlns:p14="http://schemas.microsoft.com/office/powerpoint/2010/main" val="3840909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02BF1-36BA-DA53-0CA0-EB46765CE715}"/>
              </a:ext>
            </a:extLst>
          </p:cNvPr>
          <p:cNvSpPr>
            <a:spLocks noGrp="1"/>
          </p:cNvSpPr>
          <p:nvPr>
            <p:ph type="title"/>
          </p:nvPr>
        </p:nvSpPr>
        <p:spPr>
          <a:xfrm>
            <a:off x="1137034" y="609600"/>
            <a:ext cx="6881026" cy="1322887"/>
          </a:xfrm>
        </p:spPr>
        <p:txBody>
          <a:bodyPr>
            <a:normAutofit/>
          </a:bodyPr>
          <a:lstStyle/>
          <a:p>
            <a:r>
              <a:rPr lang="en-US"/>
              <a:t>Assessment</a:t>
            </a:r>
          </a:p>
        </p:txBody>
      </p:sp>
      <p:sp>
        <p:nvSpPr>
          <p:cNvPr id="3" name="Content Placeholder 2">
            <a:extLst>
              <a:ext uri="{FF2B5EF4-FFF2-40B4-BE49-F238E27FC236}">
                <a16:creationId xmlns:a16="http://schemas.microsoft.com/office/drawing/2014/main" id="{6E7725B4-B821-5D3F-91D6-31DCE1CC1BCA}"/>
              </a:ext>
            </a:extLst>
          </p:cNvPr>
          <p:cNvSpPr>
            <a:spLocks noGrp="1"/>
          </p:cNvSpPr>
          <p:nvPr>
            <p:ph idx="1"/>
          </p:nvPr>
        </p:nvSpPr>
        <p:spPr>
          <a:xfrm>
            <a:off x="406879" y="1758462"/>
            <a:ext cx="7900055" cy="4344225"/>
          </a:xfrm>
        </p:spPr>
        <p:txBody>
          <a:bodyPr>
            <a:noAutofit/>
          </a:bodyPr>
          <a:lstStyle/>
          <a:p>
            <a:r>
              <a:rPr lang="en-US" b="0" i="1" u="none" strike="noStrike" baseline="0">
                <a:latin typeface="Times New Roman" panose="02020603050405020304" pitchFamily="18" charset="0"/>
              </a:rPr>
              <a:t>Positiue results : </a:t>
            </a:r>
            <a:r>
              <a:rPr lang="en-US" b="0" i="0" u="none" strike="noStrike" baseline="0">
                <a:latin typeface="Times New Roman" panose="02020603050405020304" pitchFamily="18" charset="0"/>
              </a:rPr>
              <a:t>benefits of the experimental measure such as </a:t>
            </a:r>
          </a:p>
          <a:p>
            <a:pPr lvl="1"/>
            <a:r>
              <a:rPr lang="en-US" sz="2800" b="0" i="0" u="none" strike="noStrike" baseline="0">
                <a:latin typeface="Times New Roman" panose="02020603050405020304" pitchFamily="18" charset="0"/>
              </a:rPr>
              <a:t>Reduced incidence or severity of the disease, </a:t>
            </a:r>
          </a:p>
          <a:p>
            <a:pPr lvl="1"/>
            <a:r>
              <a:rPr lang="en-US" sz="2800" b="0" i="0" u="none" strike="noStrike" baseline="0">
                <a:latin typeface="Times New Roman" panose="02020603050405020304" pitchFamily="18" charset="0"/>
              </a:rPr>
              <a:t>Cost to the health service </a:t>
            </a:r>
          </a:p>
          <a:p>
            <a:r>
              <a:rPr lang="en-US" b="0" i="1" u="none" strike="noStrike" baseline="0">
                <a:latin typeface="Times New Roman" panose="02020603050405020304" pitchFamily="18" charset="0"/>
              </a:rPr>
              <a:t>Negatiue results : </a:t>
            </a:r>
            <a:r>
              <a:rPr lang="en-US" b="0" i="0" u="none" strike="noStrike" baseline="0">
                <a:latin typeface="Times New Roman" panose="02020603050405020304" pitchFamily="18" charset="0"/>
              </a:rPr>
              <a:t>severity and frequency of side-effects and complications, if any, including death.</a:t>
            </a:r>
          </a:p>
          <a:p>
            <a:endParaRPr lang="en-US">
              <a:latin typeface="Times New Roman" panose="02020603050405020304" pitchFamily="18" charset="0"/>
            </a:endParaRPr>
          </a:p>
          <a:p>
            <a:r>
              <a:rPr lang="en-US" b="0" i="0" u="none" strike="noStrike" baseline="0">
                <a:latin typeface="Times New Roman" panose="02020603050405020304" pitchFamily="18" charset="0"/>
              </a:rPr>
              <a:t>The incidence of positive/negative results is rigorously compared in both the groups, and the differences, if any, are tested for statistical significance.</a:t>
            </a:r>
            <a:endParaRPr lang="en-US"/>
          </a:p>
        </p:txBody>
      </p:sp>
      <p:pic>
        <p:nvPicPr>
          <p:cNvPr id="7" name="Graphic 6" descr="Bar chart">
            <a:extLst>
              <a:ext uri="{FF2B5EF4-FFF2-40B4-BE49-F238E27FC236}">
                <a16:creationId xmlns:a16="http://schemas.microsoft.com/office/drawing/2014/main" id="{BF1D4D75-73D1-2EF0-65B1-A1E585C44A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95981" y="1990229"/>
            <a:ext cx="2906973" cy="2906973"/>
          </a:xfrm>
          <a:prstGeom prst="rect">
            <a:avLst/>
          </a:prstGeom>
        </p:spPr>
      </p:pic>
    </p:spTree>
    <p:extLst>
      <p:ext uri="{BB962C8B-B14F-4D97-AF65-F5344CB8AC3E}">
        <p14:creationId xmlns:p14="http://schemas.microsoft.com/office/powerpoint/2010/main" val="2304194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6C3F7-5BBE-138F-D560-DFCCF4445F7B}"/>
              </a:ext>
            </a:extLst>
          </p:cNvPr>
          <p:cNvSpPr>
            <a:spLocks noGrp="1"/>
          </p:cNvSpPr>
          <p:nvPr>
            <p:ph type="title"/>
          </p:nvPr>
        </p:nvSpPr>
        <p:spPr>
          <a:xfrm>
            <a:off x="838200" y="365125"/>
            <a:ext cx="10515600" cy="1325563"/>
          </a:xfrm>
        </p:spPr>
        <p:txBody>
          <a:bodyPr>
            <a:normAutofit/>
          </a:bodyPr>
          <a:lstStyle/>
          <a:p>
            <a:r>
              <a:rPr lang="en-US" sz="5400"/>
              <a:t>Bias &amp; Blinding</a:t>
            </a:r>
          </a:p>
        </p:txBody>
      </p:sp>
      <p:sp>
        <p:nvSpPr>
          <p:cNvPr id="3" name="Content Placeholder 2">
            <a:extLst>
              <a:ext uri="{FF2B5EF4-FFF2-40B4-BE49-F238E27FC236}">
                <a16:creationId xmlns:a16="http://schemas.microsoft.com/office/drawing/2014/main" id="{25A48759-4B76-5806-9B25-69F00B246DBF}"/>
              </a:ext>
            </a:extLst>
          </p:cNvPr>
          <p:cNvSpPr>
            <a:spLocks noGrp="1"/>
          </p:cNvSpPr>
          <p:nvPr>
            <p:ph idx="1"/>
          </p:nvPr>
        </p:nvSpPr>
        <p:spPr>
          <a:xfrm>
            <a:off x="838200" y="1929384"/>
            <a:ext cx="10515600" cy="4251960"/>
          </a:xfrm>
        </p:spPr>
        <p:txBody>
          <a:bodyPr>
            <a:normAutofit fontScale="92500" lnSpcReduction="10000"/>
          </a:bodyPr>
          <a:lstStyle/>
          <a:p>
            <a:r>
              <a:rPr lang="en-US" sz="2400"/>
              <a:t>Subject variation (Participant) – Single Blind</a:t>
            </a:r>
          </a:p>
          <a:p>
            <a:pPr lvl="1"/>
            <a:r>
              <a:rPr lang="en-US" b="0" i="0" u="none" strike="noStrike" baseline="0">
                <a:latin typeface="Times New Roman" panose="02020603050405020304" pitchFamily="18" charset="0"/>
              </a:rPr>
              <a:t>Subjectively feel better or report improvement if they knew they were receiving a new form of treatment.</a:t>
            </a:r>
          </a:p>
          <a:p>
            <a:r>
              <a:rPr lang="en-US" sz="2400"/>
              <a:t>Observer Bias (Investigator) – Double Blind</a:t>
            </a:r>
          </a:p>
          <a:p>
            <a:pPr lvl="1"/>
            <a:r>
              <a:rPr lang="en-US">
                <a:latin typeface="Times New Roman" panose="02020603050405020304" pitchFamily="18" charset="0"/>
              </a:rPr>
              <a:t>Investigator measuring the outcome of a therapeutic trial may be influenced if he knows beforehand the particular procedure or therapy to which the patient has been subjected.</a:t>
            </a:r>
          </a:p>
          <a:p>
            <a:r>
              <a:rPr lang="en-US" sz="2400">
                <a:latin typeface="Times New Roman" panose="02020603050405020304" pitchFamily="18" charset="0"/>
              </a:rPr>
              <a:t>Bias in evaluation (Person reporting)</a:t>
            </a:r>
          </a:p>
          <a:p>
            <a:pPr lvl="1"/>
            <a:endParaRPr lang="en-US">
              <a:latin typeface="Times New Roman" panose="02020603050405020304" pitchFamily="18" charset="0"/>
            </a:endParaRPr>
          </a:p>
          <a:p>
            <a:r>
              <a:rPr lang="en-US" sz="2400">
                <a:latin typeface="Times New Roman" panose="02020603050405020304" pitchFamily="18" charset="0"/>
              </a:rPr>
              <a:t>Triple Blind</a:t>
            </a:r>
          </a:p>
          <a:p>
            <a:pPr lvl="1"/>
            <a:r>
              <a:rPr lang="en-US" b="0" i="0" u="none" strike="noStrike" baseline="0">
                <a:latin typeface="Times New Roman" panose="02020603050405020304" pitchFamily="18" charset="0"/>
              </a:rPr>
              <a:t>The participant, the investigator and the person analyzing the data are all “blind”. </a:t>
            </a:r>
          </a:p>
          <a:p>
            <a:pPr lvl="1"/>
            <a:r>
              <a:rPr lang="en-US" b="0" i="0" u="none" strike="noStrike" baseline="0">
                <a:latin typeface="Times New Roman" panose="02020603050405020304" pitchFamily="18" charset="0"/>
              </a:rPr>
              <a:t>Double blinding is the most frequently used method when a blind trial is conducted</a:t>
            </a:r>
            <a:endParaRPr lang="en-US">
              <a:latin typeface="Times New Roman" panose="02020603050405020304" pitchFamily="18" charset="0"/>
            </a:endParaRPr>
          </a:p>
          <a:p>
            <a:pPr lvl="1"/>
            <a:endParaRPr lang="en-US">
              <a:latin typeface="Times New Roman" panose="02020603050405020304" pitchFamily="18" charset="0"/>
            </a:endParaRPr>
          </a:p>
        </p:txBody>
      </p:sp>
    </p:spTree>
    <p:extLst>
      <p:ext uri="{BB962C8B-B14F-4D97-AF65-F5344CB8AC3E}">
        <p14:creationId xmlns:p14="http://schemas.microsoft.com/office/powerpoint/2010/main" val="3497115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A5F8-5047-0D70-0918-0ECABCD2720B}"/>
              </a:ext>
            </a:extLst>
          </p:cNvPr>
          <p:cNvSpPr>
            <a:spLocks noGrp="1"/>
          </p:cNvSpPr>
          <p:nvPr>
            <p:ph type="title"/>
          </p:nvPr>
        </p:nvSpPr>
        <p:spPr>
          <a:xfrm>
            <a:off x="1180947" y="248562"/>
            <a:ext cx="9829800" cy="773334"/>
          </a:xfrm>
        </p:spPr>
        <p:txBody>
          <a:bodyPr anchor="b">
            <a:normAutofit/>
          </a:bodyPr>
          <a:lstStyle/>
          <a:p>
            <a:pPr algn="ctr"/>
            <a:r>
              <a:rPr lang="en-US" sz="3600">
                <a:solidFill>
                  <a:schemeClr val="tx2"/>
                </a:solidFill>
              </a:rPr>
              <a:t>Study design</a:t>
            </a:r>
          </a:p>
        </p:txBody>
      </p:sp>
      <p:sp>
        <p:nvSpPr>
          <p:cNvPr id="3" name="Content Placeholder 2">
            <a:extLst>
              <a:ext uri="{FF2B5EF4-FFF2-40B4-BE49-F238E27FC236}">
                <a16:creationId xmlns:a16="http://schemas.microsoft.com/office/drawing/2014/main" id="{78499B5B-ACED-3968-8581-39B4BB91C140}"/>
              </a:ext>
            </a:extLst>
          </p:cNvPr>
          <p:cNvSpPr>
            <a:spLocks noGrp="1"/>
          </p:cNvSpPr>
          <p:nvPr>
            <p:ph idx="1"/>
          </p:nvPr>
        </p:nvSpPr>
        <p:spPr>
          <a:xfrm>
            <a:off x="257908" y="1270456"/>
            <a:ext cx="7315200" cy="5338981"/>
          </a:xfrm>
        </p:spPr>
        <p:txBody>
          <a:bodyPr anchor="ctr">
            <a:normAutofit fontScale="92500" lnSpcReduction="10000"/>
          </a:bodyPr>
          <a:lstStyle/>
          <a:p>
            <a:r>
              <a:rPr lang="en-US">
                <a:solidFill>
                  <a:schemeClr val="tx2"/>
                </a:solidFill>
              </a:rPr>
              <a:t>Concurrent parallel study design</a:t>
            </a:r>
          </a:p>
          <a:p>
            <a:r>
              <a:rPr lang="en-US">
                <a:solidFill>
                  <a:schemeClr val="tx2"/>
                </a:solidFill>
              </a:rPr>
              <a:t>Cross over</a:t>
            </a:r>
          </a:p>
          <a:p>
            <a:r>
              <a:rPr lang="en-US" b="0" i="0" u="none" strike="noStrike" baseline="0">
                <a:solidFill>
                  <a:schemeClr val="tx2"/>
                </a:solidFill>
                <a:latin typeface="Times New Roman" panose="02020603050405020304" pitchFamily="18" charset="0"/>
              </a:rPr>
              <a:t>All patients can be assured that sometime during the course of investigation, they will receive the new therapy. </a:t>
            </a:r>
          </a:p>
          <a:p>
            <a:r>
              <a:rPr lang="en-US" b="0" i="0" u="none" strike="noStrike" baseline="0">
                <a:solidFill>
                  <a:schemeClr val="tx2"/>
                </a:solidFill>
                <a:latin typeface="Times New Roman" panose="02020603050405020304" pitchFamily="18" charset="0"/>
              </a:rPr>
              <a:t>Economize on the total number of patients required at the expense of the time necessary to complete the study. </a:t>
            </a:r>
          </a:p>
          <a:p>
            <a:r>
              <a:rPr lang="en-US" b="0" i="0" u="none" strike="noStrike" baseline="0">
                <a:solidFill>
                  <a:schemeClr val="tx2"/>
                </a:solidFill>
                <a:latin typeface="Times New Roman" panose="02020603050405020304" pitchFamily="18" charset="0"/>
              </a:rPr>
              <a:t>Not suitable </a:t>
            </a:r>
            <a:endParaRPr lang="en-US">
              <a:solidFill>
                <a:schemeClr val="tx2"/>
              </a:solidFill>
              <a:latin typeface="Times New Roman" panose="02020603050405020304" pitchFamily="18" charset="0"/>
            </a:endParaRPr>
          </a:p>
          <a:p>
            <a:pPr lvl="1"/>
            <a:r>
              <a:rPr lang="en-US" sz="2800" b="0" i="0" u="none" strike="noStrike" baseline="0">
                <a:solidFill>
                  <a:schemeClr val="tx2"/>
                </a:solidFill>
                <a:latin typeface="Times New Roman" panose="02020603050405020304" pitchFamily="18" charset="0"/>
              </a:rPr>
              <a:t>The drug of interest cures the disease, </a:t>
            </a:r>
            <a:endParaRPr lang="en-US" sz="2800">
              <a:solidFill>
                <a:schemeClr val="tx2"/>
              </a:solidFill>
              <a:latin typeface="Times New Roman" panose="02020603050405020304" pitchFamily="18" charset="0"/>
            </a:endParaRPr>
          </a:p>
          <a:p>
            <a:pPr lvl="1"/>
            <a:r>
              <a:rPr lang="en-US" sz="2800" b="0" i="0" u="none" strike="noStrike" baseline="0">
                <a:solidFill>
                  <a:schemeClr val="tx2"/>
                </a:solidFill>
                <a:latin typeface="Times New Roman" panose="02020603050405020304" pitchFamily="18" charset="0"/>
              </a:rPr>
              <a:t>The drug is effective only during a certain stage of the disease </a:t>
            </a:r>
            <a:endParaRPr lang="en-US" sz="2800">
              <a:solidFill>
                <a:schemeClr val="tx2"/>
              </a:solidFill>
              <a:latin typeface="Times New Roman" panose="02020603050405020304" pitchFamily="18" charset="0"/>
            </a:endParaRPr>
          </a:p>
          <a:p>
            <a:pPr lvl="1"/>
            <a:r>
              <a:rPr lang="en-US" sz="2800" b="0" i="0" u="none" strike="noStrike" baseline="0">
                <a:solidFill>
                  <a:schemeClr val="tx2"/>
                </a:solidFill>
                <a:latin typeface="Times New Roman" panose="02020603050405020304" pitchFamily="18" charset="0"/>
              </a:rPr>
              <a:t>The disease changes radically during the period of time required for the study.</a:t>
            </a:r>
            <a:endParaRPr lang="en-US" sz="2800">
              <a:solidFill>
                <a:schemeClr val="tx2"/>
              </a:solidFill>
            </a:endParaRPr>
          </a:p>
        </p:txBody>
      </p:sp>
      <p:pic>
        <p:nvPicPr>
          <p:cNvPr id="7" name="Graphic 6" descr="Circles with Lines">
            <a:extLst>
              <a:ext uri="{FF2B5EF4-FFF2-40B4-BE49-F238E27FC236}">
                <a16:creationId xmlns:a16="http://schemas.microsoft.com/office/drawing/2014/main" id="{8D9D0779-B7EE-AB30-8D88-D6602D6FA5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98058" y="2837712"/>
            <a:ext cx="3217333" cy="3217333"/>
          </a:xfrm>
          <a:prstGeom prst="rect">
            <a:avLst/>
          </a:prstGeom>
        </p:spPr>
      </p:pic>
    </p:spTree>
    <p:extLst>
      <p:ext uri="{BB962C8B-B14F-4D97-AF65-F5344CB8AC3E}">
        <p14:creationId xmlns:p14="http://schemas.microsoft.com/office/powerpoint/2010/main" val="3317384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different type of flowchart&#10;&#10;Description automatically generated">
            <a:extLst>
              <a:ext uri="{FF2B5EF4-FFF2-40B4-BE49-F238E27FC236}">
                <a16:creationId xmlns:a16="http://schemas.microsoft.com/office/drawing/2014/main" id="{E95902C5-0311-9D60-E47E-935C0D736435}"/>
              </a:ext>
            </a:extLst>
          </p:cNvPr>
          <p:cNvPicPr>
            <a:picLocks noChangeAspect="1"/>
          </p:cNvPicPr>
          <p:nvPr/>
        </p:nvPicPr>
        <p:blipFill>
          <a:blip r:embed="rId2"/>
          <a:stretch>
            <a:fillRect/>
          </a:stretch>
        </p:blipFill>
        <p:spPr>
          <a:xfrm>
            <a:off x="484632" y="2220072"/>
            <a:ext cx="6716272" cy="2417857"/>
          </a:xfrm>
          <a:prstGeom prst="rect">
            <a:avLst/>
          </a:prstGeom>
        </p:spPr>
      </p:pic>
      <p:pic>
        <p:nvPicPr>
          <p:cNvPr id="1026" name="Picture 2" descr="Diagram of the randomized double-blind, placebo-controlled cross-over ...">
            <a:extLst>
              <a:ext uri="{FF2B5EF4-FFF2-40B4-BE49-F238E27FC236}">
                <a16:creationId xmlns:a16="http://schemas.microsoft.com/office/drawing/2014/main" id="{B525DD77-1CD6-5EDC-76BF-88A2435811C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34655" y="484632"/>
            <a:ext cx="4092672" cy="5888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524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6B92C-E5BD-C6C3-3A49-2700163C7120}"/>
              </a:ext>
            </a:extLst>
          </p:cNvPr>
          <p:cNvSpPr>
            <a:spLocks noGrp="1"/>
          </p:cNvSpPr>
          <p:nvPr>
            <p:ph type="title"/>
          </p:nvPr>
        </p:nvSpPr>
        <p:spPr>
          <a:xfrm>
            <a:off x="838200" y="365125"/>
            <a:ext cx="10515600" cy="1325563"/>
          </a:xfrm>
        </p:spPr>
        <p:txBody>
          <a:bodyPr>
            <a:normAutofit/>
          </a:bodyPr>
          <a:lstStyle/>
          <a:p>
            <a:r>
              <a:rPr lang="en-US" sz="5400"/>
              <a:t>Types of RCT</a:t>
            </a:r>
          </a:p>
        </p:txBody>
      </p:sp>
      <p:sp>
        <p:nvSpPr>
          <p:cNvPr id="3" name="Content Placeholder 2">
            <a:extLst>
              <a:ext uri="{FF2B5EF4-FFF2-40B4-BE49-F238E27FC236}">
                <a16:creationId xmlns:a16="http://schemas.microsoft.com/office/drawing/2014/main" id="{77600E8B-6F8E-33C8-31A5-B583DD6B8F20}"/>
              </a:ext>
            </a:extLst>
          </p:cNvPr>
          <p:cNvSpPr>
            <a:spLocks noGrp="1"/>
          </p:cNvSpPr>
          <p:nvPr>
            <p:ph idx="1"/>
          </p:nvPr>
        </p:nvSpPr>
        <p:spPr>
          <a:xfrm>
            <a:off x="257908" y="1782128"/>
            <a:ext cx="11582400" cy="4601018"/>
          </a:xfrm>
        </p:spPr>
        <p:txBody>
          <a:bodyPr>
            <a:normAutofit fontScale="92500"/>
          </a:bodyPr>
          <a:lstStyle/>
          <a:p>
            <a:r>
              <a:rPr lang="en-US" sz="2400" u="sng"/>
              <a:t>Clinical Trial </a:t>
            </a:r>
            <a:r>
              <a:rPr lang="en-US" sz="2400"/>
              <a:t>- </a:t>
            </a:r>
            <a:r>
              <a:rPr lang="en-US" sz="2400" b="0" i="0" u="none" strike="noStrike" baseline="0">
                <a:latin typeface="Times New Roman" panose="02020603050405020304" pitchFamily="18" charset="0"/>
              </a:rPr>
              <a:t>should be carried out before any new therapy, procedure or service is introduced.</a:t>
            </a:r>
          </a:p>
          <a:p>
            <a:r>
              <a:rPr lang="en-US" sz="2400" u="sng"/>
              <a:t>Preventive trial </a:t>
            </a:r>
            <a:r>
              <a:rPr lang="en-US" sz="2400"/>
              <a:t>(primary prevention)</a:t>
            </a:r>
            <a:r>
              <a:rPr lang="en-US" sz="2400">
                <a:latin typeface="Times New Roman" panose="02020603050405020304" pitchFamily="18" charset="0"/>
              </a:rPr>
              <a:t> – vaccine or chemoprophylactic trial</a:t>
            </a:r>
          </a:p>
          <a:p>
            <a:r>
              <a:rPr lang="en-US" sz="2400" b="0" i="0" u="none" strike="noStrike" baseline="0">
                <a:latin typeface="Times New Roman" panose="02020603050405020304" pitchFamily="18" charset="0"/>
              </a:rPr>
              <a:t>Analysis of a preventive trial must result in a clear statement about </a:t>
            </a:r>
          </a:p>
          <a:p>
            <a:pPr lvl="1"/>
            <a:r>
              <a:rPr lang="en-US" b="0" i="0" u="none" strike="noStrike" baseline="0">
                <a:latin typeface="Times New Roman" panose="02020603050405020304" pitchFamily="18" charset="0"/>
              </a:rPr>
              <a:t>The benefit the community will derive from the measure </a:t>
            </a:r>
          </a:p>
          <a:p>
            <a:pPr lvl="1"/>
            <a:r>
              <a:rPr lang="en-US" b="0" i="0" u="none" strike="noStrike" baseline="0">
                <a:latin typeface="Times New Roman" panose="02020603050405020304" pitchFamily="18" charset="0"/>
              </a:rPr>
              <a:t>The risks involved</a:t>
            </a:r>
          </a:p>
          <a:p>
            <a:pPr lvl="1"/>
            <a:r>
              <a:rPr lang="en-US" b="0" i="0" u="none" strike="noStrike" baseline="0">
                <a:latin typeface="Times New Roman" panose="02020603050405020304" pitchFamily="18" charset="0"/>
              </a:rPr>
              <a:t>The costs to the health service in terms of money, men and material resources</a:t>
            </a:r>
            <a:r>
              <a:rPr lang="en-US" b="0" i="1" u="none" strike="noStrike" baseline="0">
                <a:latin typeface="Times New Roman" panose="02020603050405020304" pitchFamily="18" charset="0"/>
              </a:rPr>
              <a:t>. </a:t>
            </a:r>
          </a:p>
          <a:p>
            <a:r>
              <a:rPr lang="en-US" sz="2400" b="0" i="0" u="none" strike="noStrike" baseline="0">
                <a:latin typeface="Times New Roman" panose="02020603050405020304" pitchFamily="18" charset="0"/>
              </a:rPr>
              <a:t>Involve larger number of subjects and sometimes a longer time span to obtain results, there may be greater number of practical problems in their </a:t>
            </a:r>
            <a:r>
              <a:rPr lang="en-US" sz="2400" b="0" i="0" u="none" strike="noStrike" baseline="0" err="1">
                <a:latin typeface="Times New Roman" panose="02020603050405020304" pitchFamily="18" charset="0"/>
              </a:rPr>
              <a:t>organisation</a:t>
            </a:r>
            <a:r>
              <a:rPr lang="en-US" sz="2400" b="0" i="0" u="none" strike="noStrike" baseline="0">
                <a:latin typeface="Times New Roman" panose="02020603050405020304" pitchFamily="18" charset="0"/>
              </a:rPr>
              <a:t> and execution.</a:t>
            </a:r>
          </a:p>
          <a:p>
            <a:r>
              <a:rPr lang="en-US" sz="2400" u="sng"/>
              <a:t>Risk Factor trial </a:t>
            </a:r>
            <a:r>
              <a:rPr lang="en-US" sz="2400"/>
              <a:t>(subtype of preventive trial)</a:t>
            </a:r>
          </a:p>
          <a:p>
            <a:pPr lvl="1"/>
            <a:r>
              <a:rPr lang="en-US" b="0" i="0" u="none" strike="noStrike" baseline="0">
                <a:latin typeface="Times New Roman" panose="02020603050405020304" pitchFamily="18" charset="0"/>
              </a:rPr>
              <a:t>Intervenes to interrupt the usual sequence in the development of disease for those individuals who have “risk factor” for developing the disease; often this involves risk factor modification.</a:t>
            </a:r>
            <a:endParaRPr lang="en-US"/>
          </a:p>
        </p:txBody>
      </p:sp>
    </p:spTree>
    <p:extLst>
      <p:ext uri="{BB962C8B-B14F-4D97-AF65-F5344CB8AC3E}">
        <p14:creationId xmlns:p14="http://schemas.microsoft.com/office/powerpoint/2010/main" val="2734352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6B92C-E5BD-C6C3-3A49-2700163C7120}"/>
              </a:ext>
            </a:extLst>
          </p:cNvPr>
          <p:cNvSpPr>
            <a:spLocks noGrp="1"/>
          </p:cNvSpPr>
          <p:nvPr>
            <p:ph type="title"/>
          </p:nvPr>
        </p:nvSpPr>
        <p:spPr>
          <a:xfrm>
            <a:off x="838200" y="365125"/>
            <a:ext cx="10515600" cy="1325563"/>
          </a:xfrm>
        </p:spPr>
        <p:txBody>
          <a:bodyPr>
            <a:normAutofit/>
          </a:bodyPr>
          <a:lstStyle/>
          <a:p>
            <a:r>
              <a:rPr lang="en-US" sz="5400"/>
              <a:t>Types of RCT</a:t>
            </a:r>
          </a:p>
        </p:txBody>
      </p:sp>
      <p:sp>
        <p:nvSpPr>
          <p:cNvPr id="3" name="Content Placeholder 2">
            <a:extLst>
              <a:ext uri="{FF2B5EF4-FFF2-40B4-BE49-F238E27FC236}">
                <a16:creationId xmlns:a16="http://schemas.microsoft.com/office/drawing/2014/main" id="{77600E8B-6F8E-33C8-31A5-B583DD6B8F20}"/>
              </a:ext>
            </a:extLst>
          </p:cNvPr>
          <p:cNvSpPr>
            <a:spLocks noGrp="1"/>
          </p:cNvSpPr>
          <p:nvPr>
            <p:ph idx="1"/>
          </p:nvPr>
        </p:nvSpPr>
        <p:spPr>
          <a:xfrm>
            <a:off x="838200" y="1929384"/>
            <a:ext cx="10515600" cy="4251960"/>
          </a:xfrm>
        </p:spPr>
        <p:txBody>
          <a:bodyPr>
            <a:normAutofit/>
          </a:bodyPr>
          <a:lstStyle/>
          <a:p>
            <a:r>
              <a:rPr lang="en-US" sz="2400" u="sng"/>
              <a:t>Cessation experiments - </a:t>
            </a:r>
            <a:r>
              <a:rPr lang="en-US" sz="2400" b="0" i="0" u="none" strike="noStrike" baseline="0">
                <a:latin typeface="Times New Roman" panose="02020603050405020304" pitchFamily="18" charset="0"/>
              </a:rPr>
              <a:t>an attempt is made to evaluate the termination of a habit (or removal of suspected agent) which is considered to be causally related to a disease. If such action is followed by a significant reduction in the disease, the hypothesis of cause is greatly strengthened.</a:t>
            </a:r>
          </a:p>
          <a:p>
            <a:r>
              <a:rPr lang="en-US" sz="2400" u="sng"/>
              <a:t>Trial of aetiological agents</a:t>
            </a:r>
            <a:r>
              <a:rPr lang="en-US" sz="2400"/>
              <a:t> – </a:t>
            </a:r>
            <a:r>
              <a:rPr lang="en-US" sz="2400">
                <a:latin typeface="Times New Roman" panose="02020603050405020304" pitchFamily="18" charset="0"/>
              </a:rPr>
              <a:t>Retrolental fibroplasia</a:t>
            </a:r>
          </a:p>
          <a:p>
            <a:r>
              <a:rPr lang="en-US" sz="2400" u="sng"/>
              <a:t>Evaluation of health services </a:t>
            </a:r>
            <a:r>
              <a:rPr lang="en-US" sz="2400"/>
              <a:t>- </a:t>
            </a:r>
            <a:r>
              <a:rPr lang="en-US" sz="2400" b="0" i="0" u="none" strike="noStrike" baseline="0">
                <a:latin typeface="Times New Roman" panose="02020603050405020304" pitchFamily="18" charset="0"/>
              </a:rPr>
              <a:t>assess the effectiveness and efficiency of health services</a:t>
            </a:r>
            <a:r>
              <a:rPr lang="en-US" sz="2400" b="0" i="0" strike="noStrike" baseline="0">
                <a:latin typeface="Times New Roman" panose="02020603050405020304" pitchFamily="18" charset="0"/>
              </a:rPr>
              <a:t>. </a:t>
            </a:r>
          </a:p>
          <a:p>
            <a:pPr lvl="1"/>
            <a:r>
              <a:rPr lang="en-US" b="0" i="0" u="none" strike="noStrike" baseline="0">
                <a:latin typeface="Times New Roman" panose="02020603050405020304" pitchFamily="18" charset="0"/>
              </a:rPr>
              <a:t>Necessity of choice arises from the fact that resources are limited, and priorities must be set for the implementation of a large number of activities which could contribute to the welfare of the society.</a:t>
            </a:r>
          </a:p>
          <a:p>
            <a:pPr lvl="1"/>
            <a:r>
              <a:rPr lang="en-US" b="0" i="0" u="none" strike="noStrike" baseline="0">
                <a:latin typeface="Times New Roman" panose="02020603050405020304" pitchFamily="18" charset="0"/>
              </a:rPr>
              <a:t>These studies are also labelled as “health services research” studies.</a:t>
            </a:r>
          </a:p>
          <a:p>
            <a:endParaRPr lang="en-US" sz="2400" u="sng"/>
          </a:p>
        </p:txBody>
      </p:sp>
    </p:spTree>
    <p:extLst>
      <p:ext uri="{BB962C8B-B14F-4D97-AF65-F5344CB8AC3E}">
        <p14:creationId xmlns:p14="http://schemas.microsoft.com/office/powerpoint/2010/main" val="2647900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34941-CD30-D998-6A0B-3BCD3FED3E74}"/>
              </a:ext>
            </a:extLst>
          </p:cNvPr>
          <p:cNvSpPr>
            <a:spLocks noGrp="1"/>
          </p:cNvSpPr>
          <p:nvPr>
            <p:ph type="title"/>
          </p:nvPr>
        </p:nvSpPr>
        <p:spPr/>
        <p:txBody>
          <a:bodyPr/>
          <a:lstStyle/>
          <a:p>
            <a:r>
              <a:rPr lang="en-US"/>
              <a:t>Non – Randomized Trials</a:t>
            </a:r>
          </a:p>
        </p:txBody>
      </p:sp>
      <p:sp>
        <p:nvSpPr>
          <p:cNvPr id="3" name="Content Placeholder 2">
            <a:extLst>
              <a:ext uri="{FF2B5EF4-FFF2-40B4-BE49-F238E27FC236}">
                <a16:creationId xmlns:a16="http://schemas.microsoft.com/office/drawing/2014/main" id="{D67CDC45-FCDC-C93A-82F4-1C332E5EF918}"/>
              </a:ext>
            </a:extLst>
          </p:cNvPr>
          <p:cNvSpPr>
            <a:spLocks noGrp="1"/>
          </p:cNvSpPr>
          <p:nvPr>
            <p:ph idx="1"/>
          </p:nvPr>
        </p:nvSpPr>
        <p:spPr/>
        <p:txBody>
          <a:bodyPr>
            <a:normAutofit/>
          </a:bodyPr>
          <a:lstStyle/>
          <a:p>
            <a:pPr algn="l"/>
            <a:r>
              <a:rPr lang="en-US" sz="1800" b="0" i="0" u="none" strike="noStrike" baseline="0">
                <a:solidFill>
                  <a:srgbClr val="000000"/>
                </a:solidFill>
                <a:latin typeface="Times New Roman" panose="02020603050405020304" pitchFamily="18" charset="0"/>
              </a:rPr>
              <a:t>It is not always possible for ethical, administrative and other reasons to resort to a randomized controlled trial in human beings. </a:t>
            </a:r>
          </a:p>
          <a:p>
            <a:pPr algn="l"/>
            <a:r>
              <a:rPr lang="en-US" sz="1800" b="0" i="0" u="none" strike="noStrike" baseline="0">
                <a:solidFill>
                  <a:srgbClr val="000000"/>
                </a:solidFill>
                <a:latin typeface="Times New Roman" panose="02020603050405020304" pitchFamily="18" charset="0"/>
              </a:rPr>
              <a:t>Smoking and lung cancer and induction of cancer by viruses have not lent themselves to direct experimentation in human beings. </a:t>
            </a:r>
          </a:p>
          <a:p>
            <a:pPr algn="l"/>
            <a:r>
              <a:rPr lang="en-US" sz="1800" b="0" i="0" u="none" strike="noStrike" baseline="0">
                <a:solidFill>
                  <a:srgbClr val="000000"/>
                </a:solidFill>
                <a:latin typeface="Times New Roman" panose="02020603050405020304" pitchFamily="18" charset="0"/>
              </a:rPr>
              <a:t>Some preventive measures can be applied only to groups or on a community-wide basis (e.g., community trials of water fluoridation). </a:t>
            </a:r>
          </a:p>
          <a:p>
            <a:pPr algn="l"/>
            <a:r>
              <a:rPr lang="en-US" sz="1800" b="0" i="0" u="none" strike="noStrike" baseline="0">
                <a:solidFill>
                  <a:srgbClr val="000000"/>
                </a:solidFill>
                <a:latin typeface="Times New Roman" panose="02020603050405020304" pitchFamily="18" charset="0"/>
              </a:rPr>
              <a:t>When disease frequency is low and the natural history long (e.g., cancer cervix) randomized controlled trials require follow-up of thousands of people for a decade or more. The cost and logistics are often prohibitive. These trials are rare. </a:t>
            </a:r>
          </a:p>
          <a:p>
            <a:pPr algn="l"/>
            <a:r>
              <a:rPr lang="en-US" sz="1800" b="0" i="0" u="none" strike="noStrike" baseline="0">
                <a:solidFill>
                  <a:srgbClr val="000000"/>
                </a:solidFill>
                <a:latin typeface="Times New Roman" panose="02020603050405020304" pitchFamily="18" charset="0"/>
              </a:rPr>
              <a:t>Approach is sophisticated in randomized controlled trials, it is rather crude in non-randomized trials.</a:t>
            </a:r>
          </a:p>
          <a:p>
            <a:pPr algn="l"/>
            <a:r>
              <a:rPr lang="en-US" sz="1800" b="0" i="0" u="none" strike="noStrike" baseline="0">
                <a:solidFill>
                  <a:srgbClr val="000000"/>
                </a:solidFill>
                <a:latin typeface="Times New Roman" panose="02020603050405020304" pitchFamily="18" charset="0"/>
              </a:rPr>
              <a:t>As there is no randomization in non-experimental trials, the degree of comparability will be low and the chances of a spurious result higher than where randomization had taken place. </a:t>
            </a:r>
          </a:p>
          <a:p>
            <a:pPr algn="l"/>
            <a:r>
              <a:rPr lang="en-US" sz="1800" b="0" i="0" u="none" strike="noStrike" baseline="0">
                <a:solidFill>
                  <a:srgbClr val="000000"/>
                </a:solidFill>
                <a:latin typeface="Times New Roman" panose="02020603050405020304" pitchFamily="18" charset="0"/>
              </a:rPr>
              <a:t>The validity of causal inference remains largely a matter of extra-statistical judgement.</a:t>
            </a:r>
          </a:p>
        </p:txBody>
      </p:sp>
    </p:spTree>
    <p:extLst>
      <p:ext uri="{BB962C8B-B14F-4D97-AF65-F5344CB8AC3E}">
        <p14:creationId xmlns:p14="http://schemas.microsoft.com/office/powerpoint/2010/main" val="2081821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B3F14-980C-FAC2-7B3B-40736B30D6F7}"/>
              </a:ext>
            </a:extLst>
          </p:cNvPr>
          <p:cNvSpPr>
            <a:spLocks noGrp="1"/>
          </p:cNvSpPr>
          <p:nvPr>
            <p:ph type="title"/>
          </p:nvPr>
        </p:nvSpPr>
        <p:spPr/>
        <p:txBody>
          <a:bodyPr/>
          <a:lstStyle/>
          <a:p>
            <a:r>
              <a:rPr lang="en-US"/>
              <a:t>Types – Non Randomized trial</a:t>
            </a:r>
          </a:p>
        </p:txBody>
      </p:sp>
      <p:sp>
        <p:nvSpPr>
          <p:cNvPr id="3" name="Content Placeholder 2">
            <a:extLst>
              <a:ext uri="{FF2B5EF4-FFF2-40B4-BE49-F238E27FC236}">
                <a16:creationId xmlns:a16="http://schemas.microsoft.com/office/drawing/2014/main" id="{C568D284-6E93-807B-11B9-A2A67410907B}"/>
              </a:ext>
            </a:extLst>
          </p:cNvPr>
          <p:cNvSpPr>
            <a:spLocks noGrp="1"/>
          </p:cNvSpPr>
          <p:nvPr>
            <p:ph idx="1"/>
          </p:nvPr>
        </p:nvSpPr>
        <p:spPr/>
        <p:txBody>
          <a:bodyPr/>
          <a:lstStyle/>
          <a:p>
            <a:r>
              <a:rPr lang="en-US"/>
              <a:t>Uncontrolled trials</a:t>
            </a:r>
          </a:p>
          <a:p>
            <a:r>
              <a:rPr lang="en-US" sz="1800">
                <a:latin typeface="Times New Roman" panose="02020603050405020304" pitchFamily="18" charset="0"/>
              </a:rPr>
              <a:t>Trial with no comparison groups</a:t>
            </a:r>
          </a:p>
          <a:p>
            <a:pPr algn="l"/>
            <a:r>
              <a:rPr lang="en-US" sz="1800" b="0" i="0" u="none" strike="noStrike" baseline="0">
                <a:latin typeface="Times New Roman" panose="02020603050405020304" pitchFamily="18" charset="0"/>
              </a:rPr>
              <a:t>Even in these uncontrolled trials, one is using implied “historical controls”, i.e., the experience of earlier untreated patients affected by the same disease.</a:t>
            </a:r>
          </a:p>
          <a:p>
            <a:pPr algn="l"/>
            <a:r>
              <a:rPr lang="en-US" sz="1800" b="0" i="0" u="none" strike="noStrike" baseline="0">
                <a:latin typeface="Times New Roman" panose="02020603050405020304" pitchFamily="18" charset="0"/>
              </a:rPr>
              <a:t>Initially uncontrolled trials may be useful in evaluating whether a specific therapy appears to have any value in a particular disease, to determine an appropriate dose, to investigate adverse reactions, etc.</a:t>
            </a:r>
          </a:p>
          <a:p>
            <a:r>
              <a:rPr lang="en-US"/>
              <a:t>Natural experiments</a:t>
            </a:r>
          </a:p>
          <a:p>
            <a:pPr algn="l"/>
            <a:r>
              <a:rPr lang="en-US" sz="1800" b="0" i="0" u="none" strike="noStrike" baseline="0">
                <a:latin typeface="Times New Roman" panose="02020603050405020304" pitchFamily="18" charset="0"/>
              </a:rPr>
              <a:t>Where experimental studies are not possible in human populations, the epidemiologist seeks to identify “natural circumstances” that mimic an experiment</a:t>
            </a:r>
            <a:endParaRPr lang="en-US"/>
          </a:p>
          <a:p>
            <a:pPr algn="l"/>
            <a:endParaRPr lang="en-US"/>
          </a:p>
        </p:txBody>
      </p:sp>
    </p:spTree>
    <p:extLst>
      <p:ext uri="{BB962C8B-B14F-4D97-AF65-F5344CB8AC3E}">
        <p14:creationId xmlns:p14="http://schemas.microsoft.com/office/powerpoint/2010/main" val="2224989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B3F14-980C-FAC2-7B3B-40736B30D6F7}"/>
              </a:ext>
            </a:extLst>
          </p:cNvPr>
          <p:cNvSpPr>
            <a:spLocks noGrp="1"/>
          </p:cNvSpPr>
          <p:nvPr>
            <p:ph type="title"/>
          </p:nvPr>
        </p:nvSpPr>
        <p:spPr/>
        <p:txBody>
          <a:bodyPr/>
          <a:lstStyle/>
          <a:p>
            <a:r>
              <a:rPr lang="en-US"/>
              <a:t>Types – Non Randomized trial</a:t>
            </a:r>
          </a:p>
        </p:txBody>
      </p:sp>
      <p:sp>
        <p:nvSpPr>
          <p:cNvPr id="3" name="Content Placeholder 2">
            <a:extLst>
              <a:ext uri="{FF2B5EF4-FFF2-40B4-BE49-F238E27FC236}">
                <a16:creationId xmlns:a16="http://schemas.microsoft.com/office/drawing/2014/main" id="{C568D284-6E93-807B-11B9-A2A67410907B}"/>
              </a:ext>
            </a:extLst>
          </p:cNvPr>
          <p:cNvSpPr>
            <a:spLocks noGrp="1"/>
          </p:cNvSpPr>
          <p:nvPr>
            <p:ph idx="1"/>
          </p:nvPr>
        </p:nvSpPr>
        <p:spPr>
          <a:xfrm>
            <a:off x="174171" y="1451429"/>
            <a:ext cx="11179629" cy="5041446"/>
          </a:xfrm>
        </p:spPr>
        <p:txBody>
          <a:bodyPr>
            <a:normAutofit lnSpcReduction="10000"/>
          </a:bodyPr>
          <a:lstStyle/>
          <a:p>
            <a:r>
              <a:rPr lang="en-US" sz="3200"/>
              <a:t>Before and after comparison Studies</a:t>
            </a:r>
          </a:p>
          <a:p>
            <a:r>
              <a:rPr lang="en-US" sz="3200"/>
              <a:t>Without control - </a:t>
            </a:r>
            <a:r>
              <a:rPr lang="en-US" sz="2000" b="0" i="0" u="none" strike="noStrike" baseline="0">
                <a:latin typeface="Times New Roman" panose="02020603050405020304" pitchFamily="18" charset="0"/>
              </a:rPr>
              <a:t>In order to establish evidence in before and after comparison studies, the following are needed; </a:t>
            </a:r>
          </a:p>
          <a:p>
            <a:pPr algn="l"/>
            <a:r>
              <a:rPr lang="en-US" sz="2000" b="0" i="0" u="none" strike="noStrike" baseline="0">
                <a:latin typeface="Times New Roman" panose="02020603050405020304" pitchFamily="18" charset="0"/>
              </a:rPr>
              <a:t>Data regarding the incidence of disease, before and after introduction of a preventive measure must be available</a:t>
            </a:r>
          </a:p>
          <a:p>
            <a:pPr algn="l"/>
            <a:r>
              <a:rPr lang="en-US" sz="2000" b="0" i="0" u="none" strike="noStrike" baseline="0">
                <a:latin typeface="Times New Roman" panose="02020603050405020304" pitchFamily="18" charset="0"/>
              </a:rPr>
              <a:t>There should be introduction or manipulation of only one factor or change relevant to the situation, other factors remaining the same, as for example, addition of fluorine to drinking water to prevent dental caries </a:t>
            </a:r>
          </a:p>
          <a:p>
            <a:pPr algn="l"/>
            <a:r>
              <a:rPr lang="en-US" sz="2000" b="0" i="0" u="none" strike="noStrike" baseline="0">
                <a:latin typeface="Times New Roman" panose="02020603050405020304" pitchFamily="18" charset="0"/>
              </a:rPr>
              <a:t>Diagnostic criteria of the disease should remain the same </a:t>
            </a:r>
          </a:p>
          <a:p>
            <a:pPr algn="l"/>
            <a:r>
              <a:rPr lang="en-US" sz="2000" b="0" i="0" u="none" strike="noStrike" baseline="0">
                <a:latin typeface="Times New Roman" panose="02020603050405020304" pitchFamily="18" charset="0"/>
              </a:rPr>
              <a:t>Adoption of preventive measures should be over a wide area</a:t>
            </a:r>
          </a:p>
          <a:p>
            <a:pPr algn="l"/>
            <a:r>
              <a:rPr lang="en-US" sz="2000" b="0" i="0" u="none" strike="noStrike" baseline="0">
                <a:latin typeface="Times New Roman" panose="02020603050405020304" pitchFamily="18" charset="0"/>
              </a:rPr>
              <a:t>Reduction in the incidence must be large following the introduction of the preventive measure, because there is no control, </a:t>
            </a:r>
            <a:endParaRPr lang="en-US" sz="2000">
              <a:latin typeface="Times New Roman" panose="02020603050405020304" pitchFamily="18" charset="0"/>
            </a:endParaRPr>
          </a:p>
          <a:p>
            <a:pPr algn="l"/>
            <a:r>
              <a:rPr lang="en-US" sz="2000" b="0" i="0" u="none" strike="noStrike" baseline="0">
                <a:latin typeface="Times New Roman" panose="02020603050405020304" pitchFamily="18" charset="0"/>
              </a:rPr>
              <a:t>Several trials may be needed before the evaluation is considered conclusive.</a:t>
            </a:r>
          </a:p>
          <a:p>
            <a:pPr algn="l"/>
            <a:r>
              <a:rPr lang="en-US" sz="3200"/>
              <a:t>With Control </a:t>
            </a:r>
            <a:r>
              <a:rPr lang="en-US" sz="2000">
                <a:latin typeface="Times New Roman" panose="02020603050405020304" pitchFamily="18" charset="0"/>
              </a:rPr>
              <a:t>- </a:t>
            </a:r>
            <a:r>
              <a:rPr lang="en-US" sz="2000" b="0" i="0" u="none" strike="noStrike" baseline="0">
                <a:latin typeface="Times New Roman" panose="02020603050405020304" pitchFamily="18" charset="0"/>
              </a:rPr>
              <a:t>epidemiologist tries to utilize a “natural” control group</a:t>
            </a:r>
            <a:endParaRPr lang="en-US" sz="3200"/>
          </a:p>
        </p:txBody>
      </p:sp>
    </p:spTree>
    <p:extLst>
      <p:ext uri="{BB962C8B-B14F-4D97-AF65-F5344CB8AC3E}">
        <p14:creationId xmlns:p14="http://schemas.microsoft.com/office/powerpoint/2010/main" val="2530934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0E9670-A712-B4D2-3B10-CDCD8B88AF19}"/>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Thanks</a:t>
            </a:r>
          </a:p>
        </p:txBody>
      </p:sp>
      <p:pic>
        <p:nvPicPr>
          <p:cNvPr id="6" name="Graphic 5" descr="Smiling Face with No Fill">
            <a:extLst>
              <a:ext uri="{FF2B5EF4-FFF2-40B4-BE49-F238E27FC236}">
                <a16:creationId xmlns:a16="http://schemas.microsoft.com/office/drawing/2014/main" id="{9D8AA783-E23B-249A-3563-4A62B572F0F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53448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34</Slides>
  <Notes>0</Notes>
  <HiddenSlides>0</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Experimental study</vt:lpstr>
      <vt:lpstr>MCQ -1</vt:lpstr>
      <vt:lpstr>MCQ - 2</vt:lpstr>
      <vt:lpstr>MCQ - 3</vt:lpstr>
      <vt:lpstr>MCQ - 4</vt:lpstr>
      <vt:lpstr>MCQ - 5</vt:lpstr>
      <vt:lpstr>MCQ - 6</vt:lpstr>
      <vt:lpstr>MCQ - 7</vt:lpstr>
      <vt:lpstr>MCQ - 8</vt:lpstr>
      <vt:lpstr>MCQ - 9</vt:lpstr>
      <vt:lpstr>MCQ - 10</vt:lpstr>
      <vt:lpstr>Animal studies</vt:lpstr>
      <vt:lpstr>Applications</vt:lpstr>
      <vt:lpstr>PowerPoint Presentation</vt:lpstr>
      <vt:lpstr>Human Experiments - History</vt:lpstr>
      <vt:lpstr>Considerations</vt:lpstr>
      <vt:lpstr>Types</vt:lpstr>
      <vt:lpstr>RCT</vt:lpstr>
      <vt:lpstr>Protocol</vt:lpstr>
      <vt:lpstr>Reference and experimental population</vt:lpstr>
      <vt:lpstr>Randomization</vt:lpstr>
      <vt:lpstr>Allocation Concealment</vt:lpstr>
      <vt:lpstr>Manipulation</vt:lpstr>
      <vt:lpstr>Follow up</vt:lpstr>
      <vt:lpstr>Assessment</vt:lpstr>
      <vt:lpstr>Bias &amp; Blinding</vt:lpstr>
      <vt:lpstr>Study design</vt:lpstr>
      <vt:lpstr>PowerPoint Presentation</vt:lpstr>
      <vt:lpstr>Types of RCT</vt:lpstr>
      <vt:lpstr>Types of RCT</vt:lpstr>
      <vt:lpstr>Non – Randomized Trials</vt:lpstr>
      <vt:lpstr>Types – Non Randomized trial</vt:lpstr>
      <vt:lpstr>Types – Non Randomized trial</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revision>1</cp:revision>
  <dcterms:created xsi:type="dcterms:W3CDTF">2023-07-17T04:47:05Z</dcterms:created>
  <dcterms:modified xsi:type="dcterms:W3CDTF">2024-05-16T00:17:49Z</dcterms:modified>
</cp:coreProperties>
</file>