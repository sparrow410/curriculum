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278" r:id="rId3"/>
    <p:sldId id="279" r:id="rId4"/>
    <p:sldId id="280" r:id="rId5"/>
    <p:sldId id="281" r:id="rId6"/>
    <p:sldId id="282" r:id="rId7"/>
    <p:sldId id="283" r:id="rId8"/>
    <p:sldId id="284" r:id="rId9"/>
    <p:sldId id="285" r:id="rId10"/>
    <p:sldId id="286" r:id="rId11"/>
    <p:sldId id="28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92" autoAdjust="0"/>
    <p:restoredTop sz="94660"/>
  </p:normalViewPr>
  <p:slideViewPr>
    <p:cSldViewPr snapToGrid="0">
      <p:cViewPr varScale="1">
        <p:scale>
          <a:sx n="72" d="100"/>
          <a:sy n="72" d="100"/>
        </p:scale>
        <p:origin x="72"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A6F5A-0BDC-9EFC-03B5-8D1B99F1C8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FDD3B7E-71E8-0226-0D28-C4D4BA634D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16E62B-0E2A-6338-046F-8D5D6AF8E9B1}"/>
              </a:ext>
            </a:extLst>
          </p:cNvPr>
          <p:cNvSpPr>
            <a:spLocks noGrp="1"/>
          </p:cNvSpPr>
          <p:nvPr>
            <p:ph type="dt" sz="half" idx="10"/>
          </p:nvPr>
        </p:nvSpPr>
        <p:spPr/>
        <p:txBody>
          <a:bodyPr/>
          <a:lstStyle/>
          <a:p>
            <a:fld id="{ABD23A7A-CC3D-4572-99A3-11A8743EA9AD}" type="datetimeFigureOut">
              <a:rPr lang="en-US" smtClean="0"/>
              <a:t>10/10/2024</a:t>
            </a:fld>
            <a:endParaRPr lang="en-US"/>
          </a:p>
        </p:txBody>
      </p:sp>
      <p:sp>
        <p:nvSpPr>
          <p:cNvPr id="5" name="Footer Placeholder 4">
            <a:extLst>
              <a:ext uri="{FF2B5EF4-FFF2-40B4-BE49-F238E27FC236}">
                <a16:creationId xmlns:a16="http://schemas.microsoft.com/office/drawing/2014/main" id="{D17884C6-8AC0-B2E6-8784-A9114FB674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52C622-6EAB-DFB8-CD96-2CFCC65388BC}"/>
              </a:ext>
            </a:extLst>
          </p:cNvPr>
          <p:cNvSpPr>
            <a:spLocks noGrp="1"/>
          </p:cNvSpPr>
          <p:nvPr>
            <p:ph type="sldNum" sz="quarter" idx="12"/>
          </p:nvPr>
        </p:nvSpPr>
        <p:spPr/>
        <p:txBody>
          <a:bodyPr/>
          <a:lstStyle/>
          <a:p>
            <a:fld id="{87AD3E17-6167-4456-827F-A95C2A7014D1}" type="slidenum">
              <a:rPr lang="en-US" smtClean="0"/>
              <a:t>‹#›</a:t>
            </a:fld>
            <a:endParaRPr lang="en-US"/>
          </a:p>
        </p:txBody>
      </p:sp>
    </p:spTree>
    <p:extLst>
      <p:ext uri="{BB962C8B-B14F-4D97-AF65-F5344CB8AC3E}">
        <p14:creationId xmlns:p14="http://schemas.microsoft.com/office/powerpoint/2010/main" val="1548506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B2835-C7DB-66EE-D5D3-BB7CDF1EB6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995AA8-5C95-64F6-1A2B-88FA5AD854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8C28A1-80F9-62BC-69F0-7EFD841AF6FF}"/>
              </a:ext>
            </a:extLst>
          </p:cNvPr>
          <p:cNvSpPr>
            <a:spLocks noGrp="1"/>
          </p:cNvSpPr>
          <p:nvPr>
            <p:ph type="dt" sz="half" idx="10"/>
          </p:nvPr>
        </p:nvSpPr>
        <p:spPr/>
        <p:txBody>
          <a:bodyPr/>
          <a:lstStyle/>
          <a:p>
            <a:fld id="{ABD23A7A-CC3D-4572-99A3-11A8743EA9AD}" type="datetimeFigureOut">
              <a:rPr lang="en-US" smtClean="0"/>
              <a:t>10/10/2024</a:t>
            </a:fld>
            <a:endParaRPr lang="en-US"/>
          </a:p>
        </p:txBody>
      </p:sp>
      <p:sp>
        <p:nvSpPr>
          <p:cNvPr id="5" name="Footer Placeholder 4">
            <a:extLst>
              <a:ext uri="{FF2B5EF4-FFF2-40B4-BE49-F238E27FC236}">
                <a16:creationId xmlns:a16="http://schemas.microsoft.com/office/drawing/2014/main" id="{9F7C5D28-C186-AE00-AC88-474C592656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391324-670C-A27C-6C50-64B36EC5D087}"/>
              </a:ext>
            </a:extLst>
          </p:cNvPr>
          <p:cNvSpPr>
            <a:spLocks noGrp="1"/>
          </p:cNvSpPr>
          <p:nvPr>
            <p:ph type="sldNum" sz="quarter" idx="12"/>
          </p:nvPr>
        </p:nvSpPr>
        <p:spPr/>
        <p:txBody>
          <a:bodyPr/>
          <a:lstStyle/>
          <a:p>
            <a:fld id="{87AD3E17-6167-4456-827F-A95C2A7014D1}" type="slidenum">
              <a:rPr lang="en-US" smtClean="0"/>
              <a:t>‹#›</a:t>
            </a:fld>
            <a:endParaRPr lang="en-US"/>
          </a:p>
        </p:txBody>
      </p:sp>
    </p:spTree>
    <p:extLst>
      <p:ext uri="{BB962C8B-B14F-4D97-AF65-F5344CB8AC3E}">
        <p14:creationId xmlns:p14="http://schemas.microsoft.com/office/powerpoint/2010/main" val="538299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7C123-360C-E46E-262C-D2A1465E94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2C0BDB4-99A6-79F6-38B6-EC190A2C60B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AF2634-5ED0-AA36-FA5F-AFC1EB134E0E}"/>
              </a:ext>
            </a:extLst>
          </p:cNvPr>
          <p:cNvSpPr>
            <a:spLocks noGrp="1"/>
          </p:cNvSpPr>
          <p:nvPr>
            <p:ph type="dt" sz="half" idx="10"/>
          </p:nvPr>
        </p:nvSpPr>
        <p:spPr/>
        <p:txBody>
          <a:bodyPr/>
          <a:lstStyle/>
          <a:p>
            <a:fld id="{ABD23A7A-CC3D-4572-99A3-11A8743EA9AD}" type="datetimeFigureOut">
              <a:rPr lang="en-US" smtClean="0"/>
              <a:t>10/10/2024</a:t>
            </a:fld>
            <a:endParaRPr lang="en-US"/>
          </a:p>
        </p:txBody>
      </p:sp>
      <p:sp>
        <p:nvSpPr>
          <p:cNvPr id="5" name="Footer Placeholder 4">
            <a:extLst>
              <a:ext uri="{FF2B5EF4-FFF2-40B4-BE49-F238E27FC236}">
                <a16:creationId xmlns:a16="http://schemas.microsoft.com/office/drawing/2014/main" id="{748914B4-1DD2-3CC4-0236-64AA4214DD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B253F9-84C0-FEA1-E011-744533F595D1}"/>
              </a:ext>
            </a:extLst>
          </p:cNvPr>
          <p:cNvSpPr>
            <a:spLocks noGrp="1"/>
          </p:cNvSpPr>
          <p:nvPr>
            <p:ph type="sldNum" sz="quarter" idx="12"/>
          </p:nvPr>
        </p:nvSpPr>
        <p:spPr/>
        <p:txBody>
          <a:bodyPr/>
          <a:lstStyle/>
          <a:p>
            <a:fld id="{87AD3E17-6167-4456-827F-A95C2A7014D1}" type="slidenum">
              <a:rPr lang="en-US" smtClean="0"/>
              <a:t>‹#›</a:t>
            </a:fld>
            <a:endParaRPr lang="en-US"/>
          </a:p>
        </p:txBody>
      </p:sp>
    </p:spTree>
    <p:extLst>
      <p:ext uri="{BB962C8B-B14F-4D97-AF65-F5344CB8AC3E}">
        <p14:creationId xmlns:p14="http://schemas.microsoft.com/office/powerpoint/2010/main" val="2755521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C64B9-C29A-FDBD-B1D1-511FF96442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75A2B8-BF5C-DF1F-1AF2-4E1A139E40E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F22605-40A2-2093-2394-CCB1B12F62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333A0A2-CE76-AEE2-5577-5B2492701163}"/>
              </a:ext>
            </a:extLst>
          </p:cNvPr>
          <p:cNvSpPr>
            <a:spLocks noGrp="1"/>
          </p:cNvSpPr>
          <p:nvPr>
            <p:ph type="dt" sz="half" idx="10"/>
          </p:nvPr>
        </p:nvSpPr>
        <p:spPr/>
        <p:txBody>
          <a:bodyPr/>
          <a:lstStyle/>
          <a:p>
            <a:fld id="{ABD23A7A-CC3D-4572-99A3-11A8743EA9AD}" type="datetimeFigureOut">
              <a:rPr lang="en-US" smtClean="0"/>
              <a:t>10/10/2024</a:t>
            </a:fld>
            <a:endParaRPr lang="en-US"/>
          </a:p>
        </p:txBody>
      </p:sp>
      <p:sp>
        <p:nvSpPr>
          <p:cNvPr id="6" name="Footer Placeholder 5">
            <a:extLst>
              <a:ext uri="{FF2B5EF4-FFF2-40B4-BE49-F238E27FC236}">
                <a16:creationId xmlns:a16="http://schemas.microsoft.com/office/drawing/2014/main" id="{37BF75C3-090D-9156-9E29-07F9083B02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077FF2-3A5C-1CBF-32D7-D8C355711619}"/>
              </a:ext>
            </a:extLst>
          </p:cNvPr>
          <p:cNvSpPr>
            <a:spLocks noGrp="1"/>
          </p:cNvSpPr>
          <p:nvPr>
            <p:ph type="sldNum" sz="quarter" idx="12"/>
          </p:nvPr>
        </p:nvSpPr>
        <p:spPr/>
        <p:txBody>
          <a:bodyPr/>
          <a:lstStyle/>
          <a:p>
            <a:fld id="{87AD3E17-6167-4456-827F-A95C2A7014D1}" type="slidenum">
              <a:rPr lang="en-US" smtClean="0"/>
              <a:t>‹#›</a:t>
            </a:fld>
            <a:endParaRPr lang="en-US"/>
          </a:p>
        </p:txBody>
      </p:sp>
    </p:spTree>
    <p:extLst>
      <p:ext uri="{BB962C8B-B14F-4D97-AF65-F5344CB8AC3E}">
        <p14:creationId xmlns:p14="http://schemas.microsoft.com/office/powerpoint/2010/main" val="3046333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DEDB6-D34A-20CF-BE0E-8CA3A98FD1B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AC965D-42BF-B2AB-7C47-10C4F4F15D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35F3A4-2364-FD47-CA26-B3AE49178A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5939C1-586A-DAD5-8A3B-657A30C5F2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24F640-6C33-717A-B415-91074E79B3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5834808-76AB-0316-DB20-1090F851A0FB}"/>
              </a:ext>
            </a:extLst>
          </p:cNvPr>
          <p:cNvSpPr>
            <a:spLocks noGrp="1"/>
          </p:cNvSpPr>
          <p:nvPr>
            <p:ph type="dt" sz="half" idx="10"/>
          </p:nvPr>
        </p:nvSpPr>
        <p:spPr/>
        <p:txBody>
          <a:bodyPr/>
          <a:lstStyle/>
          <a:p>
            <a:fld id="{ABD23A7A-CC3D-4572-99A3-11A8743EA9AD}" type="datetimeFigureOut">
              <a:rPr lang="en-US" smtClean="0"/>
              <a:t>10/10/2024</a:t>
            </a:fld>
            <a:endParaRPr lang="en-US"/>
          </a:p>
        </p:txBody>
      </p:sp>
      <p:sp>
        <p:nvSpPr>
          <p:cNvPr id="8" name="Footer Placeholder 7">
            <a:extLst>
              <a:ext uri="{FF2B5EF4-FFF2-40B4-BE49-F238E27FC236}">
                <a16:creationId xmlns:a16="http://schemas.microsoft.com/office/drawing/2014/main" id="{15ED68F1-0B88-76A1-5BC8-E608371822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FEFE28-3E3A-F3CC-5191-2346FE119A80}"/>
              </a:ext>
            </a:extLst>
          </p:cNvPr>
          <p:cNvSpPr>
            <a:spLocks noGrp="1"/>
          </p:cNvSpPr>
          <p:nvPr>
            <p:ph type="sldNum" sz="quarter" idx="12"/>
          </p:nvPr>
        </p:nvSpPr>
        <p:spPr/>
        <p:txBody>
          <a:bodyPr/>
          <a:lstStyle/>
          <a:p>
            <a:fld id="{87AD3E17-6167-4456-827F-A95C2A7014D1}" type="slidenum">
              <a:rPr lang="en-US" smtClean="0"/>
              <a:t>‹#›</a:t>
            </a:fld>
            <a:endParaRPr lang="en-US"/>
          </a:p>
        </p:txBody>
      </p:sp>
    </p:spTree>
    <p:extLst>
      <p:ext uri="{BB962C8B-B14F-4D97-AF65-F5344CB8AC3E}">
        <p14:creationId xmlns:p14="http://schemas.microsoft.com/office/powerpoint/2010/main" val="4146331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F8814-14C4-036F-6E18-0812EC8A0AE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C8016F7-8C24-89CF-24CE-E5D7A1FC5C9E}"/>
              </a:ext>
            </a:extLst>
          </p:cNvPr>
          <p:cNvSpPr>
            <a:spLocks noGrp="1"/>
          </p:cNvSpPr>
          <p:nvPr>
            <p:ph type="dt" sz="half" idx="10"/>
          </p:nvPr>
        </p:nvSpPr>
        <p:spPr/>
        <p:txBody>
          <a:bodyPr/>
          <a:lstStyle/>
          <a:p>
            <a:fld id="{ABD23A7A-CC3D-4572-99A3-11A8743EA9AD}" type="datetimeFigureOut">
              <a:rPr lang="en-US" smtClean="0"/>
              <a:t>10/10/2024</a:t>
            </a:fld>
            <a:endParaRPr lang="en-US"/>
          </a:p>
        </p:txBody>
      </p:sp>
      <p:sp>
        <p:nvSpPr>
          <p:cNvPr id="4" name="Footer Placeholder 3">
            <a:extLst>
              <a:ext uri="{FF2B5EF4-FFF2-40B4-BE49-F238E27FC236}">
                <a16:creationId xmlns:a16="http://schemas.microsoft.com/office/drawing/2014/main" id="{08049914-D819-BE73-E266-54635840C91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998A03-A902-0F3C-5492-56A7262E5D27}"/>
              </a:ext>
            </a:extLst>
          </p:cNvPr>
          <p:cNvSpPr>
            <a:spLocks noGrp="1"/>
          </p:cNvSpPr>
          <p:nvPr>
            <p:ph type="sldNum" sz="quarter" idx="12"/>
          </p:nvPr>
        </p:nvSpPr>
        <p:spPr/>
        <p:txBody>
          <a:bodyPr/>
          <a:lstStyle/>
          <a:p>
            <a:fld id="{87AD3E17-6167-4456-827F-A95C2A7014D1}" type="slidenum">
              <a:rPr lang="en-US" smtClean="0"/>
              <a:t>‹#›</a:t>
            </a:fld>
            <a:endParaRPr lang="en-US"/>
          </a:p>
        </p:txBody>
      </p:sp>
    </p:spTree>
    <p:extLst>
      <p:ext uri="{BB962C8B-B14F-4D97-AF65-F5344CB8AC3E}">
        <p14:creationId xmlns:p14="http://schemas.microsoft.com/office/powerpoint/2010/main" val="4222024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825BBC-B004-0725-5A55-00FCF2AFD2CE}"/>
              </a:ext>
            </a:extLst>
          </p:cNvPr>
          <p:cNvSpPr>
            <a:spLocks noGrp="1"/>
          </p:cNvSpPr>
          <p:nvPr>
            <p:ph type="dt" sz="half" idx="10"/>
          </p:nvPr>
        </p:nvSpPr>
        <p:spPr/>
        <p:txBody>
          <a:bodyPr/>
          <a:lstStyle/>
          <a:p>
            <a:fld id="{ABD23A7A-CC3D-4572-99A3-11A8743EA9AD}" type="datetimeFigureOut">
              <a:rPr lang="en-US" smtClean="0"/>
              <a:t>10/10/2024</a:t>
            </a:fld>
            <a:endParaRPr lang="en-US"/>
          </a:p>
        </p:txBody>
      </p:sp>
      <p:sp>
        <p:nvSpPr>
          <p:cNvPr id="3" name="Footer Placeholder 2">
            <a:extLst>
              <a:ext uri="{FF2B5EF4-FFF2-40B4-BE49-F238E27FC236}">
                <a16:creationId xmlns:a16="http://schemas.microsoft.com/office/drawing/2014/main" id="{4E5D5D2B-1650-96B9-5E9C-B61F6F33BB4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AA98ECD-C2EB-AAEF-B1C8-DE8A24FDF309}"/>
              </a:ext>
            </a:extLst>
          </p:cNvPr>
          <p:cNvSpPr>
            <a:spLocks noGrp="1"/>
          </p:cNvSpPr>
          <p:nvPr>
            <p:ph type="sldNum" sz="quarter" idx="12"/>
          </p:nvPr>
        </p:nvSpPr>
        <p:spPr/>
        <p:txBody>
          <a:bodyPr/>
          <a:lstStyle/>
          <a:p>
            <a:fld id="{87AD3E17-6167-4456-827F-A95C2A7014D1}" type="slidenum">
              <a:rPr lang="en-US" smtClean="0"/>
              <a:t>‹#›</a:t>
            </a:fld>
            <a:endParaRPr lang="en-US"/>
          </a:p>
        </p:txBody>
      </p:sp>
    </p:spTree>
    <p:extLst>
      <p:ext uri="{BB962C8B-B14F-4D97-AF65-F5344CB8AC3E}">
        <p14:creationId xmlns:p14="http://schemas.microsoft.com/office/powerpoint/2010/main" val="814646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B6B19-DFF4-2DB6-878E-3F5601A724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BA5077-01F5-2AC4-59A0-72E3FAEE18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75B079-566E-8A8B-A429-A5B600EDEE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92C32C-4B0A-B9DE-3937-9569588D3426}"/>
              </a:ext>
            </a:extLst>
          </p:cNvPr>
          <p:cNvSpPr>
            <a:spLocks noGrp="1"/>
          </p:cNvSpPr>
          <p:nvPr>
            <p:ph type="dt" sz="half" idx="10"/>
          </p:nvPr>
        </p:nvSpPr>
        <p:spPr/>
        <p:txBody>
          <a:bodyPr/>
          <a:lstStyle/>
          <a:p>
            <a:fld id="{ABD23A7A-CC3D-4572-99A3-11A8743EA9AD}" type="datetimeFigureOut">
              <a:rPr lang="en-US" smtClean="0"/>
              <a:t>10/10/2024</a:t>
            </a:fld>
            <a:endParaRPr lang="en-US"/>
          </a:p>
        </p:txBody>
      </p:sp>
      <p:sp>
        <p:nvSpPr>
          <p:cNvPr id="6" name="Footer Placeholder 5">
            <a:extLst>
              <a:ext uri="{FF2B5EF4-FFF2-40B4-BE49-F238E27FC236}">
                <a16:creationId xmlns:a16="http://schemas.microsoft.com/office/drawing/2014/main" id="{D1D36D96-C3F1-5D87-C7C2-CD8DFD374C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64F163-E5C0-5004-AED7-FE77F3A62625}"/>
              </a:ext>
            </a:extLst>
          </p:cNvPr>
          <p:cNvSpPr>
            <a:spLocks noGrp="1"/>
          </p:cNvSpPr>
          <p:nvPr>
            <p:ph type="sldNum" sz="quarter" idx="12"/>
          </p:nvPr>
        </p:nvSpPr>
        <p:spPr/>
        <p:txBody>
          <a:bodyPr/>
          <a:lstStyle/>
          <a:p>
            <a:fld id="{87AD3E17-6167-4456-827F-A95C2A7014D1}" type="slidenum">
              <a:rPr lang="en-US" smtClean="0"/>
              <a:t>‹#›</a:t>
            </a:fld>
            <a:endParaRPr lang="en-US"/>
          </a:p>
        </p:txBody>
      </p:sp>
    </p:spTree>
    <p:extLst>
      <p:ext uri="{BB962C8B-B14F-4D97-AF65-F5344CB8AC3E}">
        <p14:creationId xmlns:p14="http://schemas.microsoft.com/office/powerpoint/2010/main" val="4008758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D56B6-61CE-D466-F80B-50D486A0C7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D9092F5-A8A9-0F5A-01A1-5A04FB3427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7F4CF6-4A60-A8EC-B737-4F5F4542A6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04DC63-03B2-1516-A918-10731326DE68}"/>
              </a:ext>
            </a:extLst>
          </p:cNvPr>
          <p:cNvSpPr>
            <a:spLocks noGrp="1"/>
          </p:cNvSpPr>
          <p:nvPr>
            <p:ph type="dt" sz="half" idx="10"/>
          </p:nvPr>
        </p:nvSpPr>
        <p:spPr/>
        <p:txBody>
          <a:bodyPr/>
          <a:lstStyle/>
          <a:p>
            <a:fld id="{ABD23A7A-CC3D-4572-99A3-11A8743EA9AD}" type="datetimeFigureOut">
              <a:rPr lang="en-US" smtClean="0"/>
              <a:t>10/10/2024</a:t>
            </a:fld>
            <a:endParaRPr lang="en-US"/>
          </a:p>
        </p:txBody>
      </p:sp>
      <p:sp>
        <p:nvSpPr>
          <p:cNvPr id="6" name="Footer Placeholder 5">
            <a:extLst>
              <a:ext uri="{FF2B5EF4-FFF2-40B4-BE49-F238E27FC236}">
                <a16:creationId xmlns:a16="http://schemas.microsoft.com/office/drawing/2014/main" id="{54E3C292-A8F0-7456-01F2-355041ACB8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5348B0-4169-8C13-F9C8-3BC8D38A0E50}"/>
              </a:ext>
            </a:extLst>
          </p:cNvPr>
          <p:cNvSpPr>
            <a:spLocks noGrp="1"/>
          </p:cNvSpPr>
          <p:nvPr>
            <p:ph type="sldNum" sz="quarter" idx="12"/>
          </p:nvPr>
        </p:nvSpPr>
        <p:spPr/>
        <p:txBody>
          <a:bodyPr/>
          <a:lstStyle/>
          <a:p>
            <a:fld id="{87AD3E17-6167-4456-827F-A95C2A7014D1}" type="slidenum">
              <a:rPr lang="en-US" smtClean="0"/>
              <a:t>‹#›</a:t>
            </a:fld>
            <a:endParaRPr lang="en-US"/>
          </a:p>
        </p:txBody>
      </p:sp>
    </p:spTree>
    <p:extLst>
      <p:ext uri="{BB962C8B-B14F-4D97-AF65-F5344CB8AC3E}">
        <p14:creationId xmlns:p14="http://schemas.microsoft.com/office/powerpoint/2010/main" val="2983385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BE1E4-F45E-948D-A198-EDCE85189B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0073A2A-1F13-80A5-6145-47DA0E7CDC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F6AD63-88D2-3068-D4CF-CF044A1D261E}"/>
              </a:ext>
            </a:extLst>
          </p:cNvPr>
          <p:cNvSpPr>
            <a:spLocks noGrp="1"/>
          </p:cNvSpPr>
          <p:nvPr>
            <p:ph type="dt" sz="half" idx="10"/>
          </p:nvPr>
        </p:nvSpPr>
        <p:spPr/>
        <p:txBody>
          <a:bodyPr/>
          <a:lstStyle/>
          <a:p>
            <a:fld id="{ABD23A7A-CC3D-4572-99A3-11A8743EA9AD}" type="datetimeFigureOut">
              <a:rPr lang="en-US" smtClean="0"/>
              <a:t>10/10/2024</a:t>
            </a:fld>
            <a:endParaRPr lang="en-US"/>
          </a:p>
        </p:txBody>
      </p:sp>
      <p:sp>
        <p:nvSpPr>
          <p:cNvPr id="5" name="Footer Placeholder 4">
            <a:extLst>
              <a:ext uri="{FF2B5EF4-FFF2-40B4-BE49-F238E27FC236}">
                <a16:creationId xmlns:a16="http://schemas.microsoft.com/office/drawing/2014/main" id="{97913D53-A4BB-C1F8-B390-142FF3A366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6C0E6B-8D1D-2B30-9375-602AEBAE4A79}"/>
              </a:ext>
            </a:extLst>
          </p:cNvPr>
          <p:cNvSpPr>
            <a:spLocks noGrp="1"/>
          </p:cNvSpPr>
          <p:nvPr>
            <p:ph type="sldNum" sz="quarter" idx="12"/>
          </p:nvPr>
        </p:nvSpPr>
        <p:spPr/>
        <p:txBody>
          <a:bodyPr/>
          <a:lstStyle/>
          <a:p>
            <a:fld id="{87AD3E17-6167-4456-827F-A95C2A7014D1}" type="slidenum">
              <a:rPr lang="en-US" smtClean="0"/>
              <a:t>‹#›</a:t>
            </a:fld>
            <a:endParaRPr lang="en-US"/>
          </a:p>
        </p:txBody>
      </p:sp>
    </p:spTree>
    <p:extLst>
      <p:ext uri="{BB962C8B-B14F-4D97-AF65-F5344CB8AC3E}">
        <p14:creationId xmlns:p14="http://schemas.microsoft.com/office/powerpoint/2010/main" val="306026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E2E919-7203-AFBA-8799-342F3F5EC04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7AF626F-EDF6-9D2C-CBC6-B217F3DDF4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A81E9A-4B54-CFFE-793A-90142169C813}"/>
              </a:ext>
            </a:extLst>
          </p:cNvPr>
          <p:cNvSpPr>
            <a:spLocks noGrp="1"/>
          </p:cNvSpPr>
          <p:nvPr>
            <p:ph type="dt" sz="half" idx="10"/>
          </p:nvPr>
        </p:nvSpPr>
        <p:spPr/>
        <p:txBody>
          <a:bodyPr/>
          <a:lstStyle/>
          <a:p>
            <a:fld id="{ABD23A7A-CC3D-4572-99A3-11A8743EA9AD}" type="datetimeFigureOut">
              <a:rPr lang="en-US" smtClean="0"/>
              <a:t>10/10/2024</a:t>
            </a:fld>
            <a:endParaRPr lang="en-US"/>
          </a:p>
        </p:txBody>
      </p:sp>
      <p:sp>
        <p:nvSpPr>
          <p:cNvPr id="5" name="Footer Placeholder 4">
            <a:extLst>
              <a:ext uri="{FF2B5EF4-FFF2-40B4-BE49-F238E27FC236}">
                <a16:creationId xmlns:a16="http://schemas.microsoft.com/office/drawing/2014/main" id="{957C82F0-A4FE-4E3B-5388-D38CC14476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C387A6-27CD-8662-94EE-506B0F870D2E}"/>
              </a:ext>
            </a:extLst>
          </p:cNvPr>
          <p:cNvSpPr>
            <a:spLocks noGrp="1"/>
          </p:cNvSpPr>
          <p:nvPr>
            <p:ph type="sldNum" sz="quarter" idx="12"/>
          </p:nvPr>
        </p:nvSpPr>
        <p:spPr/>
        <p:txBody>
          <a:bodyPr/>
          <a:lstStyle/>
          <a:p>
            <a:fld id="{87AD3E17-6167-4456-827F-A95C2A7014D1}" type="slidenum">
              <a:rPr lang="en-US" smtClean="0"/>
              <a:t>‹#›</a:t>
            </a:fld>
            <a:endParaRPr lang="en-US"/>
          </a:p>
        </p:txBody>
      </p:sp>
    </p:spTree>
    <p:extLst>
      <p:ext uri="{BB962C8B-B14F-4D97-AF65-F5344CB8AC3E}">
        <p14:creationId xmlns:p14="http://schemas.microsoft.com/office/powerpoint/2010/main" val="36088925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1FA23A-F859-48E1-4802-0BC83CA3D1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DFDAB2F-AD2B-501C-9740-C8364675D7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3A299C-940D-D8DC-7A47-77FA803C2F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D23A7A-CC3D-4572-99A3-11A8743EA9AD}" type="datetimeFigureOut">
              <a:rPr lang="en-US" smtClean="0"/>
              <a:t>10/10/2024</a:t>
            </a:fld>
            <a:endParaRPr lang="en-US"/>
          </a:p>
        </p:txBody>
      </p:sp>
      <p:sp>
        <p:nvSpPr>
          <p:cNvPr id="5" name="Footer Placeholder 4">
            <a:extLst>
              <a:ext uri="{FF2B5EF4-FFF2-40B4-BE49-F238E27FC236}">
                <a16:creationId xmlns:a16="http://schemas.microsoft.com/office/drawing/2014/main" id="{57CF43CE-E99D-D7B4-FDB8-65546A4691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EE5E7BE-7712-7959-11F8-F921134542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AD3E17-6167-4456-827F-A95C2A7014D1}" type="slidenum">
              <a:rPr lang="en-US" smtClean="0"/>
              <a:t>‹#›</a:t>
            </a:fld>
            <a:endParaRPr lang="en-US"/>
          </a:p>
        </p:txBody>
      </p:sp>
    </p:spTree>
    <p:extLst>
      <p:ext uri="{BB962C8B-B14F-4D97-AF65-F5344CB8AC3E}">
        <p14:creationId xmlns:p14="http://schemas.microsoft.com/office/powerpoint/2010/main" val="13472844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81B2A-DCA4-20B4-D560-3F6BB7792AB2}"/>
              </a:ext>
            </a:extLst>
          </p:cNvPr>
          <p:cNvSpPr>
            <a:spLocks noGrp="1"/>
          </p:cNvSpPr>
          <p:nvPr>
            <p:ph type="ctrTitle"/>
          </p:nvPr>
        </p:nvSpPr>
        <p:spPr/>
        <p:txBody>
          <a:bodyPr/>
          <a:lstStyle/>
          <a:p>
            <a:pPr algn="ctr"/>
            <a:r>
              <a:rPr lang="en-US" dirty="0"/>
              <a:t>HEPATITIS-B</a:t>
            </a:r>
            <a:endParaRPr lang="en-IN" dirty="0"/>
          </a:p>
        </p:txBody>
      </p:sp>
    </p:spTree>
    <p:extLst>
      <p:ext uri="{BB962C8B-B14F-4D97-AF65-F5344CB8AC3E}">
        <p14:creationId xmlns:p14="http://schemas.microsoft.com/office/powerpoint/2010/main" val="3543140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910AE4-54AB-04B0-E8D6-8BCC993A6743}"/>
              </a:ext>
            </a:extLst>
          </p:cNvPr>
          <p:cNvSpPr>
            <a:spLocks noGrp="1"/>
          </p:cNvSpPr>
          <p:nvPr>
            <p:ph idx="1"/>
          </p:nvPr>
        </p:nvSpPr>
        <p:spPr>
          <a:xfrm>
            <a:off x="838200" y="1307692"/>
            <a:ext cx="10515600" cy="4060721"/>
          </a:xfrm>
        </p:spPr>
        <p:txBody>
          <a:bodyPr>
            <a:normAutofit/>
          </a:bodyPr>
          <a:lstStyle/>
          <a:p>
            <a:r>
              <a:rPr lang="en-US" sz="2400" dirty="0"/>
              <a:t>Hepatitis B (formerly known as “serum” hepatitis) is an acute systemic infection with major pathology in the liver, caused by hepatitis B virus (HBV).</a:t>
            </a:r>
          </a:p>
          <a:p>
            <a:r>
              <a:rPr lang="en-US" sz="2400" dirty="0"/>
              <a:t> HBV infection can be either acute or chronic, and may range from asymptomatic infection or mild disease, to severe, or rarely fulminant hepatitis. </a:t>
            </a:r>
          </a:p>
          <a:p>
            <a:r>
              <a:rPr lang="en-US" sz="2400" dirty="0"/>
              <a:t>Acute hepatitis B is usually a self-limiting disease marked by acute inflammation and hepatocellular necrosis with case fatality rate of 0.5 to 1 per cent. </a:t>
            </a:r>
          </a:p>
        </p:txBody>
      </p:sp>
    </p:spTree>
    <p:extLst>
      <p:ext uri="{BB962C8B-B14F-4D97-AF65-F5344CB8AC3E}">
        <p14:creationId xmlns:p14="http://schemas.microsoft.com/office/powerpoint/2010/main" val="3661307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BA64F6-BC63-D784-1F4A-F970FAB97561}"/>
              </a:ext>
            </a:extLst>
          </p:cNvPr>
          <p:cNvSpPr>
            <a:spLocks noGrp="1"/>
          </p:cNvSpPr>
          <p:nvPr>
            <p:ph idx="1"/>
          </p:nvPr>
        </p:nvSpPr>
        <p:spPr>
          <a:xfrm>
            <a:off x="838200" y="1098038"/>
            <a:ext cx="10515600" cy="4351338"/>
          </a:xfrm>
        </p:spPr>
        <p:txBody>
          <a:bodyPr/>
          <a:lstStyle/>
          <a:p>
            <a:r>
              <a:rPr lang="en-US" sz="2400" dirty="0"/>
              <a:t>Chronic hepatitis B infection encompasses a spectrum of disease and is defined as persistent HBV infection with or without associated active viral replication and evidence of hepatocellular injury and inflammation. </a:t>
            </a:r>
          </a:p>
          <a:p>
            <a:r>
              <a:rPr lang="en-US" sz="2400" dirty="0"/>
              <a:t>Age is a key factor in determining the risk of chronic infection. </a:t>
            </a:r>
          </a:p>
          <a:p>
            <a:r>
              <a:rPr lang="en-US" sz="2400" dirty="0"/>
              <a:t>Worldwide, the majority of persons with CHB were infected at birth or in early childhood (13). </a:t>
            </a:r>
          </a:p>
          <a:p>
            <a:r>
              <a:rPr lang="en-US" sz="2400" dirty="0"/>
              <a:t>Hepatitis B virus can form a dangerous alliance with delta virus and produce a new form of virulent hepatitis which is considered to be widespread threat for much of the world.</a:t>
            </a:r>
            <a:endParaRPr lang="en-IN" sz="2400" dirty="0"/>
          </a:p>
          <a:p>
            <a:endParaRPr lang="en-IN" dirty="0"/>
          </a:p>
        </p:txBody>
      </p:sp>
    </p:spTree>
    <p:extLst>
      <p:ext uri="{BB962C8B-B14F-4D97-AF65-F5344CB8AC3E}">
        <p14:creationId xmlns:p14="http://schemas.microsoft.com/office/powerpoint/2010/main" val="868753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9E23E-5003-35EE-35CD-82D366976FBF}"/>
              </a:ext>
            </a:extLst>
          </p:cNvPr>
          <p:cNvSpPr>
            <a:spLocks noGrp="1"/>
          </p:cNvSpPr>
          <p:nvPr>
            <p:ph type="title"/>
          </p:nvPr>
        </p:nvSpPr>
        <p:spPr>
          <a:xfrm>
            <a:off x="609600" y="0"/>
            <a:ext cx="10515600" cy="1609344"/>
          </a:xfrm>
        </p:spPr>
        <p:txBody>
          <a:bodyPr/>
          <a:lstStyle/>
          <a:p>
            <a:r>
              <a:rPr lang="en-US" dirty="0">
                <a:latin typeface="Times New Roman" panose="02020603050405020304" pitchFamily="18" charset="0"/>
                <a:cs typeface="Times New Roman" panose="02020603050405020304" pitchFamily="18" charset="0"/>
              </a:rPr>
              <a:t>Agent factors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3FEA1B8-42AF-6A7C-FACC-A6243FBC85CF}"/>
              </a:ext>
            </a:extLst>
          </p:cNvPr>
          <p:cNvSpPr>
            <a:spLocks noGrp="1"/>
          </p:cNvSpPr>
          <p:nvPr>
            <p:ph idx="1"/>
          </p:nvPr>
        </p:nvSpPr>
        <p:spPr>
          <a:xfrm>
            <a:off x="769374" y="1317523"/>
            <a:ext cx="10515600" cy="4643131"/>
          </a:xfrm>
        </p:spPr>
        <p:txBody>
          <a:bodyPr>
            <a:noAutofit/>
          </a:bodyPr>
          <a:lstStyle/>
          <a:p>
            <a:pPr marL="0" indent="0">
              <a:buNone/>
            </a:pPr>
            <a:r>
              <a:rPr lang="en-US" sz="2400" dirty="0"/>
              <a:t>AGENT:</a:t>
            </a:r>
          </a:p>
          <a:p>
            <a:r>
              <a:rPr lang="en-US" sz="2400" dirty="0"/>
              <a:t>Hepatitis B virus was discovered by Blumberg in 1963. Efforts to grow this virus have been so far unsuccessful.</a:t>
            </a:r>
          </a:p>
          <a:p>
            <a:r>
              <a:rPr lang="en-US" sz="2400" dirty="0"/>
              <a:t>HBV is a complex, 42-nm. double shelled DNA virus, originally known as the Dane particle.</a:t>
            </a:r>
          </a:p>
          <a:p>
            <a:r>
              <a:rPr lang="en-US" sz="2400" dirty="0"/>
              <a:t>It replicates in the liver cells, it occurs in three morphological forms in the serum of the patient,</a:t>
            </a:r>
          </a:p>
          <a:p>
            <a:pPr marL="514350" indent="-514350">
              <a:buFont typeface="+mj-lt"/>
              <a:buAutoNum type="arabicPeriod"/>
            </a:pPr>
            <a:r>
              <a:rPr lang="en-IN" sz="2400" dirty="0"/>
              <a:t>small spherical particles with an average diameter of 22-nm. These are antigenic and stimulate production of surface antigens.</a:t>
            </a:r>
          </a:p>
          <a:p>
            <a:pPr marL="514350" indent="-514350">
              <a:buFont typeface="+mj-lt"/>
              <a:buAutoNum type="arabicPeriod"/>
            </a:pPr>
            <a:r>
              <a:rPr lang="en-IN" sz="2400" dirty="0"/>
              <a:t>tubules of varying length and diameter.</a:t>
            </a:r>
          </a:p>
          <a:p>
            <a:pPr marL="514350" indent="-514350">
              <a:buFont typeface="+mj-lt"/>
              <a:buAutoNum type="arabicPeriod"/>
            </a:pPr>
            <a:r>
              <a:rPr lang="en-IN" sz="2400" dirty="0"/>
              <a:t>The Dane particle that morphologically corresponds to Hepatitis-B virus.</a:t>
            </a:r>
          </a:p>
        </p:txBody>
      </p:sp>
    </p:spTree>
    <p:extLst>
      <p:ext uri="{BB962C8B-B14F-4D97-AF65-F5344CB8AC3E}">
        <p14:creationId xmlns:p14="http://schemas.microsoft.com/office/powerpoint/2010/main" val="2621752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11D02-9743-C5F2-5B94-5FCFD7464E6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RESERVOIR OF INFECTION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01E152C-2038-9F07-1B8F-040BF3A6ADA1}"/>
              </a:ext>
            </a:extLst>
          </p:cNvPr>
          <p:cNvSpPr>
            <a:spLocks noGrp="1"/>
          </p:cNvSpPr>
          <p:nvPr>
            <p:ph idx="1"/>
          </p:nvPr>
        </p:nvSpPr>
        <p:spPr/>
        <p:txBody>
          <a:bodyPr>
            <a:normAutofit/>
          </a:bodyPr>
          <a:lstStyle/>
          <a:p>
            <a:r>
              <a:rPr lang="en-US" sz="2400" dirty="0"/>
              <a:t>Man is the only reservoir of infection which can be spread either from carriers or from cases. The continued survival of infection is due to the large number of individuals who carriers of the virus. </a:t>
            </a:r>
          </a:p>
          <a:p>
            <a:r>
              <a:rPr lang="en-US" sz="2400" dirty="0"/>
              <a:t>The persistent carrier state has been defined as the Presence of HBsAg (with or without concurrent </a:t>
            </a:r>
            <a:r>
              <a:rPr lang="en-US" sz="2400" dirty="0" err="1"/>
              <a:t>HBeAg</a:t>
            </a:r>
            <a:r>
              <a:rPr lang="en-US" sz="2400" dirty="0"/>
              <a:t>) for more than 6 months. Cases may range from inapparent to symptomatic cases.</a:t>
            </a:r>
            <a:endParaRPr lang="en-IN" sz="2400" dirty="0"/>
          </a:p>
        </p:txBody>
      </p:sp>
    </p:spTree>
    <p:extLst>
      <p:ext uri="{BB962C8B-B14F-4D97-AF65-F5344CB8AC3E}">
        <p14:creationId xmlns:p14="http://schemas.microsoft.com/office/powerpoint/2010/main" val="1745293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863697-A0DF-AFB5-7A72-A94AE40ECA81}"/>
              </a:ext>
            </a:extLst>
          </p:cNvPr>
          <p:cNvSpPr>
            <a:spLocks noGrp="1"/>
          </p:cNvSpPr>
          <p:nvPr>
            <p:ph idx="1"/>
          </p:nvPr>
        </p:nvSpPr>
        <p:spPr>
          <a:xfrm>
            <a:off x="936522" y="1402839"/>
            <a:ext cx="10515600" cy="4351338"/>
          </a:xfrm>
        </p:spPr>
        <p:txBody>
          <a:bodyPr>
            <a:normAutofit/>
          </a:bodyPr>
          <a:lstStyle/>
          <a:p>
            <a:pPr marL="0" indent="0">
              <a:buNone/>
            </a:pPr>
            <a:r>
              <a:rPr lang="en-US" sz="2400" dirty="0"/>
              <a:t>INFECTIVE MATERIAL : </a:t>
            </a:r>
          </a:p>
          <a:p>
            <a:r>
              <a:rPr lang="en-US" sz="2400" dirty="0"/>
              <a:t>Contaminated blood is the main source of infection, although the virus has been found in body secretions such as saliva, vaginal secretions and semen of infected persons. </a:t>
            </a:r>
          </a:p>
          <a:p>
            <a:pPr marL="0" indent="0">
              <a:buNone/>
            </a:pPr>
            <a:r>
              <a:rPr lang="en-US" sz="2400" dirty="0"/>
              <a:t>RESISTANCE :</a:t>
            </a:r>
          </a:p>
          <a:p>
            <a:r>
              <a:rPr lang="en-US" sz="2400" dirty="0"/>
              <a:t>The virus is quite stable and capable of surviving for at least 7 days on environmental surfaces. It can be readily destroyed by sodium </a:t>
            </a:r>
            <a:r>
              <a:rPr lang="en-US" sz="2400" dirty="0" err="1"/>
              <a:t>hypoclorite</a:t>
            </a:r>
            <a:r>
              <a:rPr lang="en-US" sz="2400" dirty="0"/>
              <a:t>, as is by heat sterilization in an autoclave for 30 to 60 minutes.</a:t>
            </a:r>
            <a:endParaRPr lang="en-IN" sz="2400" dirty="0"/>
          </a:p>
        </p:txBody>
      </p:sp>
    </p:spTree>
    <p:extLst>
      <p:ext uri="{BB962C8B-B14F-4D97-AF65-F5344CB8AC3E}">
        <p14:creationId xmlns:p14="http://schemas.microsoft.com/office/powerpoint/2010/main" val="3146731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A308E-207F-180E-97A1-926961FF39C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PERIOD OF COMMUNICABILITY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1BAAE35-E0D1-7229-6AB7-C83D04727E36}"/>
              </a:ext>
            </a:extLst>
          </p:cNvPr>
          <p:cNvSpPr>
            <a:spLocks noGrp="1"/>
          </p:cNvSpPr>
          <p:nvPr>
            <p:ph idx="1"/>
          </p:nvPr>
        </p:nvSpPr>
        <p:spPr>
          <a:xfrm>
            <a:off x="951861" y="2613021"/>
            <a:ext cx="10058400" cy="4050792"/>
          </a:xfrm>
        </p:spPr>
        <p:txBody>
          <a:bodyPr>
            <a:normAutofit/>
          </a:bodyPr>
          <a:lstStyle/>
          <a:p>
            <a:r>
              <a:rPr lang="en-US" sz="2400" dirty="0"/>
              <a:t>The virus is present in the blood during the incubation period (for a month before jaundice) and acute phase of the disease. </a:t>
            </a:r>
          </a:p>
          <a:p>
            <a:r>
              <a:rPr lang="en-US" sz="2400" dirty="0"/>
              <a:t>Period of communicability is usually several months (occasionally years in chronic carriers) or until disappearance of HBsAg and appearance of surface antibody.</a:t>
            </a:r>
            <a:endParaRPr lang="en-IN" sz="2400" dirty="0"/>
          </a:p>
        </p:txBody>
      </p:sp>
    </p:spTree>
    <p:extLst>
      <p:ext uri="{BB962C8B-B14F-4D97-AF65-F5344CB8AC3E}">
        <p14:creationId xmlns:p14="http://schemas.microsoft.com/office/powerpoint/2010/main" val="310138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E5C73-8AD0-16E3-5E6B-5683074E8E56}"/>
              </a:ext>
            </a:extLst>
          </p:cNvPr>
          <p:cNvSpPr>
            <a:spLocks noGrp="1"/>
          </p:cNvSpPr>
          <p:nvPr>
            <p:ph type="title"/>
          </p:nvPr>
        </p:nvSpPr>
        <p:spPr>
          <a:xfrm>
            <a:off x="838200" y="484632"/>
            <a:ext cx="10290048" cy="1609344"/>
          </a:xfrm>
        </p:spPr>
        <p:txBody>
          <a:bodyPr/>
          <a:lstStyle/>
          <a:p>
            <a:r>
              <a:rPr lang="en-US" dirty="0">
                <a:latin typeface="Times New Roman" panose="02020603050405020304" pitchFamily="18" charset="0"/>
                <a:cs typeface="Times New Roman" panose="02020603050405020304" pitchFamily="18" charset="0"/>
              </a:rPr>
              <a:t>HOST FACTORS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91C1F23-D143-E203-BD11-5CB836C43D0E}"/>
              </a:ext>
            </a:extLst>
          </p:cNvPr>
          <p:cNvSpPr>
            <a:spLocks noGrp="1"/>
          </p:cNvSpPr>
          <p:nvPr>
            <p:ph idx="1"/>
          </p:nvPr>
        </p:nvSpPr>
        <p:spPr>
          <a:xfrm>
            <a:off x="838200" y="1995948"/>
            <a:ext cx="10515600" cy="4761118"/>
          </a:xfrm>
        </p:spPr>
        <p:txBody>
          <a:bodyPr>
            <a:normAutofit/>
          </a:bodyPr>
          <a:lstStyle/>
          <a:p>
            <a:pPr marL="0" indent="0">
              <a:buNone/>
            </a:pPr>
            <a:r>
              <a:rPr lang="en-US" sz="2400" dirty="0"/>
              <a:t>AGE : </a:t>
            </a:r>
          </a:p>
          <a:p>
            <a:r>
              <a:rPr lang="en-US" sz="2400" dirty="0"/>
              <a:t>The outcomes of HBV infection are age-dependent. </a:t>
            </a:r>
          </a:p>
          <a:p>
            <a:r>
              <a:rPr lang="en-US" sz="2400" dirty="0"/>
              <a:t>Acute </a:t>
            </a:r>
            <a:r>
              <a:rPr lang="en-US" sz="2400" dirty="0" err="1"/>
              <a:t>Hepatits</a:t>
            </a:r>
            <a:r>
              <a:rPr lang="en-US" sz="2400" dirty="0"/>
              <a:t>-B occurs in approximately 1 per cent of perinatal, 10 per cent of early childhood (1-5 years of age), and 30 per cent of late (&gt;5 years age) HBV infections. </a:t>
            </a:r>
          </a:p>
          <a:p>
            <a:r>
              <a:rPr lang="en-US" sz="2400" dirty="0"/>
              <a:t>Mortality from fulminant hepatitis B is approximately 70 per cent. </a:t>
            </a:r>
          </a:p>
          <a:p>
            <a:r>
              <a:rPr lang="en-US" sz="2400" dirty="0"/>
              <a:t>The development of chronic HBV infection is inversely related to age and occurs in approximately 80-90 per cent of persons infected perinatally in 30-50 per cent infected in early childhood (less than 6 years of age).</a:t>
            </a:r>
            <a:endParaRPr lang="en-IN" sz="2400" dirty="0"/>
          </a:p>
        </p:txBody>
      </p:sp>
    </p:spTree>
    <p:extLst>
      <p:ext uri="{BB962C8B-B14F-4D97-AF65-F5344CB8AC3E}">
        <p14:creationId xmlns:p14="http://schemas.microsoft.com/office/powerpoint/2010/main" val="1508061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B8123-20BA-64F9-655E-4DB7F0E52AE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HIGH-RISK GROUPS: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32766D7-69F5-8743-9F5D-E80E8ABB4DB9}"/>
              </a:ext>
            </a:extLst>
          </p:cNvPr>
          <p:cNvSpPr>
            <a:spLocks noGrp="1"/>
          </p:cNvSpPr>
          <p:nvPr>
            <p:ph idx="1"/>
          </p:nvPr>
        </p:nvSpPr>
        <p:spPr>
          <a:xfrm>
            <a:off x="848031" y="2093976"/>
            <a:ext cx="10704871" cy="4593969"/>
          </a:xfrm>
        </p:spPr>
        <p:txBody>
          <a:bodyPr>
            <a:normAutofit/>
          </a:bodyPr>
          <a:lstStyle/>
          <a:p>
            <a:r>
              <a:rPr lang="en-US" sz="2400" dirty="0"/>
              <a:t>Certain groups carry higher risks. </a:t>
            </a:r>
          </a:p>
          <a:p>
            <a:r>
              <a:rPr lang="en-US" sz="2400" dirty="0"/>
              <a:t>The annual incidence of HBV infection in surgeons is estimated to be 50 times greater than that in the general population, and is more than twice that of other physicians. </a:t>
            </a:r>
          </a:p>
          <a:p>
            <a:r>
              <a:rPr lang="en-US" sz="2400" dirty="0"/>
              <a:t>Other high risk groups comprise recipients of blood transfusions, health care and laboratory personnel, homosexuals, prostitutes, percutaneous drug abusers, infants of HBV carrier mothers, recipients of solid organ transplants and patients who are immunocompromised. </a:t>
            </a:r>
          </a:p>
          <a:p>
            <a:r>
              <a:rPr lang="en-US" sz="2400" dirty="0"/>
              <a:t>Serological screening and vaccination of high-risk groups is highly recommended.</a:t>
            </a:r>
            <a:endParaRPr lang="en-IN" sz="2400" dirty="0"/>
          </a:p>
        </p:txBody>
      </p:sp>
    </p:spTree>
    <p:extLst>
      <p:ext uri="{BB962C8B-B14F-4D97-AF65-F5344CB8AC3E}">
        <p14:creationId xmlns:p14="http://schemas.microsoft.com/office/powerpoint/2010/main" val="1733013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1D415-41FB-0F49-63A0-88EA1675868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HEPATITIS B AND HIV INFECTION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3DD42D3-5C9A-B800-1EF8-B859CE49E8EF}"/>
              </a:ext>
            </a:extLst>
          </p:cNvPr>
          <p:cNvSpPr>
            <a:spLocks noGrp="1"/>
          </p:cNvSpPr>
          <p:nvPr>
            <p:ph idx="1"/>
          </p:nvPr>
        </p:nvSpPr>
        <p:spPr/>
        <p:txBody>
          <a:bodyPr>
            <a:normAutofit/>
          </a:bodyPr>
          <a:lstStyle/>
          <a:p>
            <a:r>
              <a:rPr lang="en-US" sz="2400" dirty="0"/>
              <a:t>It is estimated that 10 per cent of the 40 million people infected with HIV worldwide are coinfected with HBV. </a:t>
            </a:r>
          </a:p>
          <a:p>
            <a:r>
              <a:rPr lang="en-US" sz="2400" dirty="0"/>
              <a:t>Although HBV infection appears to have a minimal effect on the progression of HIV, the presence of HIV markedly increases the risk of developing HBV-associated liver cirrhosis and hepatocellular carcinoma. </a:t>
            </a:r>
          </a:p>
          <a:p>
            <a:r>
              <a:rPr lang="en-US" sz="2400" dirty="0"/>
              <a:t>The mortality rate increases among HIV-positive people due to HBV coinfection both before and after commencement of highly active anti-retroviral therapy.</a:t>
            </a:r>
            <a:endParaRPr lang="en-IN" sz="2400" dirty="0"/>
          </a:p>
        </p:txBody>
      </p:sp>
    </p:spTree>
    <p:extLst>
      <p:ext uri="{BB962C8B-B14F-4D97-AF65-F5344CB8AC3E}">
        <p14:creationId xmlns:p14="http://schemas.microsoft.com/office/powerpoint/2010/main" val="2398444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50E60-FBD6-5FFB-E1A9-D1A44D17CB4C}"/>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HUMORAL AND CELLULAR RESPONSES</a:t>
            </a:r>
          </a:p>
        </p:txBody>
      </p:sp>
      <p:sp>
        <p:nvSpPr>
          <p:cNvPr id="3" name="Content Placeholder 2">
            <a:extLst>
              <a:ext uri="{FF2B5EF4-FFF2-40B4-BE49-F238E27FC236}">
                <a16:creationId xmlns:a16="http://schemas.microsoft.com/office/drawing/2014/main" id="{65D9F83C-0601-8728-A9AF-CB88725D9BA7}"/>
              </a:ext>
            </a:extLst>
          </p:cNvPr>
          <p:cNvSpPr>
            <a:spLocks noGrp="1"/>
          </p:cNvSpPr>
          <p:nvPr>
            <p:ph idx="1"/>
          </p:nvPr>
        </p:nvSpPr>
        <p:spPr/>
        <p:txBody>
          <a:bodyPr>
            <a:normAutofit/>
          </a:bodyPr>
          <a:lstStyle/>
          <a:p>
            <a:r>
              <a:rPr lang="en-IN" sz="2400" dirty="0"/>
              <a:t>Hepatitis B virus has three distinct antigens - a surface antigen, also known as ‘’Australia antigen” (HBsAg), a core antigen (</a:t>
            </a:r>
            <a:r>
              <a:rPr lang="en-IN" sz="2400" dirty="0" err="1"/>
              <a:t>HBeAg</a:t>
            </a:r>
            <a:r>
              <a:rPr lang="en-IN" sz="2400" dirty="0"/>
              <a:t>), and an “e” antigen (</a:t>
            </a:r>
            <a:r>
              <a:rPr lang="en-IN" sz="2400" dirty="0" err="1"/>
              <a:t>HBeAg</a:t>
            </a:r>
            <a:r>
              <a:rPr lang="en-IN" sz="2400" dirty="0"/>
              <a:t>). </a:t>
            </a:r>
          </a:p>
          <a:p>
            <a:r>
              <a:rPr lang="en-IN" sz="2400" dirty="0"/>
              <a:t>They stimulate the production of corresponding antibodies e.g., surface antibody (anti-HBs), core antibody (anti-HBc) and “e” antibody (anti- </a:t>
            </a:r>
            <a:r>
              <a:rPr lang="en-IN" sz="2400" dirty="0" err="1"/>
              <a:t>HBe</a:t>
            </a:r>
            <a:r>
              <a:rPr lang="en-IN" sz="2400" dirty="0"/>
              <a:t>). </a:t>
            </a:r>
          </a:p>
          <a:p>
            <a:r>
              <a:rPr lang="en-IN" sz="2400" dirty="0"/>
              <a:t>These antibodies and their antigens constitute very useful markers of HBV infection. Patients with HBV infection are expected to have one or more HBV markers.</a:t>
            </a:r>
          </a:p>
        </p:txBody>
      </p:sp>
    </p:spTree>
    <p:extLst>
      <p:ext uri="{BB962C8B-B14F-4D97-AF65-F5344CB8AC3E}">
        <p14:creationId xmlns:p14="http://schemas.microsoft.com/office/powerpoint/2010/main" val="10966357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857</Words>
  <Application>Microsoft Office PowerPoint</Application>
  <PresentationFormat>Widescreen</PresentationFormat>
  <Paragraphs>45</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Times New Roman</vt:lpstr>
      <vt:lpstr>Office Theme</vt:lpstr>
      <vt:lpstr>HEPATITIS-B</vt:lpstr>
      <vt:lpstr>PowerPoint Presentation</vt:lpstr>
      <vt:lpstr>PowerPoint Presentation</vt:lpstr>
      <vt:lpstr>Agent factors</vt:lpstr>
      <vt:lpstr>RESERVOIR OF INFECTION :</vt:lpstr>
      <vt:lpstr>PowerPoint Presentation</vt:lpstr>
      <vt:lpstr>PERIOD OF COMMUNICABILITY :</vt:lpstr>
      <vt:lpstr>HOST FACTORS</vt:lpstr>
      <vt:lpstr>HIGH-RISK GROUPS:</vt:lpstr>
      <vt:lpstr>HEPATITIS B AND HIV INFECTION :</vt:lpstr>
      <vt:lpstr>HUMORAL AND CELLULAR RESPONSES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mukul maheshwari</dc:creator>
  <cp:lastModifiedBy>mukul maheshwari</cp:lastModifiedBy>
  <cp:revision>1</cp:revision>
  <dcterms:created xsi:type="dcterms:W3CDTF">2024-10-09T20:06:41Z</dcterms:created>
  <dcterms:modified xsi:type="dcterms:W3CDTF">2024-10-09T20:07:16Z</dcterms:modified>
</cp:coreProperties>
</file>