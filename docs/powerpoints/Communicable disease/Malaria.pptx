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6" r:id="rId8"/>
    <p:sldId id="268" r:id="rId9"/>
    <p:sldId id="270" r:id="rId10"/>
    <p:sldId id="273" r:id="rId11"/>
    <p:sldId id="275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6" r:id="rId21"/>
    <p:sldId id="288" r:id="rId22"/>
    <p:sldId id="290" r:id="rId23"/>
    <p:sldId id="291" r:id="rId24"/>
    <p:sldId id="292" r:id="rId25"/>
    <p:sldId id="294" r:id="rId26"/>
    <p:sldId id="296" r:id="rId27"/>
    <p:sldId id="29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94239"/>
  </p:normalViewPr>
  <p:slideViewPr>
    <p:cSldViewPr snapToGrid="0">
      <p:cViewPr>
        <p:scale>
          <a:sx n="121" d="100"/>
          <a:sy n="121" d="100"/>
        </p:scale>
        <p:origin x="760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3D596-BFB8-E4A6-345C-B9ED470DC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5248C4-DA7E-B010-00D4-C8AD7C27A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BB67F-41E9-B89F-5FC8-663E82A8A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C45DB-C855-8447-B8F6-81EE177E0F6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AC8AF-D399-24E5-61E1-28C1C0A08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B2BC7-E2AF-89DA-1CC6-EFB5559D4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F7F6-B1AF-BD48-8F3B-0A8F1AC55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0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27444-2D82-09F9-08D9-520DC0217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AE130-715F-D52E-A7BA-B5F40D725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E00B7-0BC5-7098-1582-EC936DB71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C45DB-C855-8447-B8F6-81EE177E0F6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D96D2-9F1D-F9F9-525A-A808D55D6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D3717-53BC-D95B-227B-C98334198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F7F6-B1AF-BD48-8F3B-0A8F1AC55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61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0055C-2E96-633B-1196-47BF597E2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1135F-9B78-A82D-603B-930F5F059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3E52D-B564-EE70-2A5C-44CC62DFF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C45DB-C855-8447-B8F6-81EE177E0F6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AF93D-2BC9-9593-DE47-C361B0D6B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D5608-07C6-3881-6CFA-4720520CF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F7F6-B1AF-BD48-8F3B-0A8F1AC55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0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F1FB4-3CE6-DC47-E629-E0EF30FB4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F3CF9-16F9-F268-BD67-5A5425E99B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1D6CC-233B-D5C8-99D7-B6DD651D8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093D92-3C49-13A4-B59F-B059AE114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C45DB-C855-8447-B8F6-81EE177E0F6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C21A1-90E3-E88C-15DB-AED58313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81EAFD-BA83-A153-816C-656C3BADA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F7F6-B1AF-BD48-8F3B-0A8F1AC55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10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40123-BABC-A36C-DE7A-72D3F9FC4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D8BF3-145D-3391-C7D4-DD47C424B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93613-E01D-F12A-15DB-41821E224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413D68-36FE-555A-CA39-42EFFEC55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966E99-0687-4B10-EA12-A4E3DC3915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140682-BE3F-2E37-9169-8222AFBD7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C45DB-C855-8447-B8F6-81EE177E0F6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2606CE-7517-DB4A-4A58-BDBCCC7F8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85F7FD-0CC2-824C-DE8F-84CAE29BD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F7F6-B1AF-BD48-8F3B-0A8F1AC55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503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9386A-9957-AA17-7E6D-0E9B6224C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2F9AA7-264E-7577-11C9-14A27170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C45DB-C855-8447-B8F6-81EE177E0F6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3B7541-9638-E404-5DA6-CD1B23E3E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ABC492-0FBF-D048-3196-A5539970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F7F6-B1AF-BD48-8F3B-0A8F1AC55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424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035BCA-003A-C5AD-BE08-1EDFD81C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C45DB-C855-8447-B8F6-81EE177E0F6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2AFBB-4B8D-95AD-3D3C-DD36B8D14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EF68C-AE17-9304-D5A5-B302101F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F7F6-B1AF-BD48-8F3B-0A8F1AC55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7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EA7F7-0880-8DE1-0BF6-DCA1D6F37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386BE-1EC7-EB64-5360-BBAEB852F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3B07CF-A11A-856F-CBB0-8B1E9E879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52B5C-38C1-6501-E61C-DD4A1C143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C45DB-C855-8447-B8F6-81EE177E0F6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B5922-DAB9-D279-D3D2-4F86E6BBA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E1784E-FC54-B59A-3DCD-206B1B02F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F7F6-B1AF-BD48-8F3B-0A8F1AC55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60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8AD9-6877-3C61-1E6B-8F7EE891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07950D-2175-77A2-DF89-4DDD775354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41867-45D5-52F0-1BD0-44D5027C1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F87C7-1B3A-CDC5-BF35-6D8950384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C45DB-C855-8447-B8F6-81EE177E0F6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8CE6F-D2A5-2E73-5CA6-DA67DB288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6DCD1-4470-4D0A-0104-70594C8E1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F7F6-B1AF-BD48-8F3B-0A8F1AC55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35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23D41-FE9A-5900-B507-7CEB03F9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BEDA7-C6AF-EDD1-A610-48C5EEC6FB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BF053-34E4-8394-8001-D848616DF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C45DB-C855-8447-B8F6-81EE177E0F6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D1C0C-CF86-4EAF-6E67-2A0690C77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54C97-9401-BED4-A0E1-92A607F57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F7F6-B1AF-BD48-8F3B-0A8F1AC55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26E2F1-7C5F-EE32-157D-B4FD5ECFD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253D41-D27A-9A5A-85B4-B1813F48F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30119-BF0E-1939-F9B0-CAA204952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C45DB-C855-8447-B8F6-81EE177E0F6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BA787-07D5-8DCC-4B58-0E9F54682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1678A-D0C3-7BA1-4DD0-F9C1A7E3F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F7F6-B1AF-BD48-8F3B-0A8F1AC55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37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7E2412-D93F-D0D0-F26D-9203594D3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30F3D-C1DE-CE17-A815-60EC87785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A1BCE-CBCD-D26C-A583-094BBF93D8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C45DB-C855-8447-B8F6-81EE177E0F6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4EBEE-33DE-143F-211D-39C0486BF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26335-4D48-A548-3326-01CD8E408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5F7F6-B1AF-BD48-8F3B-0A8F1AC55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3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1E7AD2-59C3-445B-0B95-AF90C99CA24D}"/>
              </a:ext>
            </a:extLst>
          </p:cNvPr>
          <p:cNvSpPr txBox="1"/>
          <p:nvPr/>
        </p:nvSpPr>
        <p:spPr>
          <a:xfrm>
            <a:off x="3659275" y="2921168"/>
            <a:ext cx="48734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Engravers MT" panose="02090707080505020304" pitchFamily="18" charset="77"/>
              </a:rPr>
              <a:t>Malaria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B4DEA8-3B11-7F8C-B829-9243CD955F97}"/>
              </a:ext>
            </a:extLst>
          </p:cNvPr>
          <p:cNvSpPr txBox="1"/>
          <p:nvPr/>
        </p:nvSpPr>
        <p:spPr>
          <a:xfrm>
            <a:off x="10120664" y="6457890"/>
            <a:ext cx="20713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Dr. </a:t>
            </a:r>
            <a:r>
              <a:rPr lang="en-US" sz="2000" dirty="0" err="1"/>
              <a:t>Yatendra</a:t>
            </a:r>
            <a:r>
              <a:rPr lang="en-US" sz="2000" dirty="0"/>
              <a:t> Singh</a:t>
            </a:r>
          </a:p>
        </p:txBody>
      </p:sp>
    </p:spTree>
    <p:extLst>
      <p:ext uri="{BB962C8B-B14F-4D97-AF65-F5344CB8AC3E}">
        <p14:creationId xmlns:p14="http://schemas.microsoft.com/office/powerpoint/2010/main" val="16695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5676FA-3F83-B3D5-D02A-A66B4C07209A}"/>
              </a:ext>
            </a:extLst>
          </p:cNvPr>
          <p:cNvSpPr txBox="1"/>
          <p:nvPr/>
        </p:nvSpPr>
        <p:spPr>
          <a:xfrm>
            <a:off x="186267" y="612844"/>
            <a:ext cx="1181946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IN" sz="2000" b="1" dirty="0"/>
              <a:t>Introduction:</a:t>
            </a:r>
          </a:p>
          <a:p>
            <a:pPr marL="342900" indent="-342900">
              <a:buFont typeface="Wingdings" pitchFamily="2" charset="2"/>
              <a:buChar char="v"/>
            </a:pPr>
            <a:endParaRPr lang="en-IN" sz="2000" b="1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Malaria is a communicable disease caused by protozoal parasites of the genus </a:t>
            </a:r>
            <a:r>
              <a:rPr lang="en-IN" sz="2000" i="1" dirty="0"/>
              <a:t>Plasmodium</a:t>
            </a:r>
            <a:r>
              <a:rPr lang="en-IN" sz="2000" dirty="0"/>
              <a:t>. 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It is transmitted from person to person through the bite of an infected female </a:t>
            </a:r>
            <a:r>
              <a:rPr lang="en-IN" sz="2000" i="1" dirty="0"/>
              <a:t>Anopheles</a:t>
            </a:r>
            <a:r>
              <a:rPr lang="en-IN" sz="2000" dirty="0"/>
              <a:t> mosquito. 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The name malaria is derived from the Italian words </a:t>
            </a:r>
            <a:r>
              <a:rPr lang="en-IN" sz="2000" i="1" dirty="0"/>
              <a:t>“Mala Aria”</a:t>
            </a:r>
            <a:r>
              <a:rPr lang="en-IN" sz="2000" dirty="0"/>
              <a:t>, meaning bad air, as people in ancient Italy believed the disease was caused by polluted air.</a:t>
            </a:r>
          </a:p>
          <a:p>
            <a:endParaRPr lang="en-IN" sz="2000" b="1" dirty="0"/>
          </a:p>
          <a:p>
            <a:pPr marL="342900" indent="-342900">
              <a:buFont typeface="Wingdings" pitchFamily="2" charset="2"/>
              <a:buChar char="v"/>
            </a:pPr>
            <a:r>
              <a:rPr lang="en-IN" sz="2000" b="1" dirty="0" err="1"/>
              <a:t>Etiology</a:t>
            </a:r>
            <a:r>
              <a:rPr lang="en-IN" sz="2000" b="1" dirty="0"/>
              <a:t>:</a:t>
            </a:r>
          </a:p>
          <a:p>
            <a:pPr marL="342900" indent="-342900">
              <a:buFont typeface="Wingdings" pitchFamily="2" charset="2"/>
              <a:buChar char="v"/>
            </a:pPr>
            <a:endParaRPr lang="en-IN" sz="2000" b="1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Malaria is caused by </a:t>
            </a:r>
            <a:r>
              <a:rPr lang="en-IN" sz="2000" i="1" dirty="0"/>
              <a:t>Plasmodium</a:t>
            </a:r>
            <a:r>
              <a:rPr lang="en-IN" sz="2000" dirty="0"/>
              <a:t> parasites. The infection spreads when an infected female </a:t>
            </a:r>
            <a:r>
              <a:rPr lang="en-IN" sz="2000" i="1" dirty="0"/>
              <a:t>Anopheles</a:t>
            </a:r>
            <a:r>
              <a:rPr lang="en-IN" sz="2000" dirty="0"/>
              <a:t> mosquito bites a human and injects the parasite into the bloodstream.</a:t>
            </a:r>
          </a:p>
          <a:p>
            <a:endParaRPr lang="en-IN" sz="2000" b="1" dirty="0"/>
          </a:p>
          <a:p>
            <a:pPr marL="342900" indent="-342900">
              <a:buFont typeface="Wingdings" pitchFamily="2" charset="2"/>
              <a:buChar char="v"/>
            </a:pPr>
            <a:r>
              <a:rPr lang="en-IN" sz="2000" b="1" dirty="0"/>
              <a:t>Clinical Features: </a:t>
            </a:r>
            <a:r>
              <a:rPr lang="en-IN" sz="2000" dirty="0"/>
              <a:t>Clinically, malaria is characterized by:</a:t>
            </a:r>
          </a:p>
          <a:p>
            <a:pPr marL="342900" indent="-342900">
              <a:buFont typeface="Wingdings" pitchFamily="2" charset="2"/>
              <a:buChar char="v"/>
            </a:pPr>
            <a:endParaRPr lang="en-IN" sz="2000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Episodes of fever with chills and rigors, Profuse sweating, Headache and body aches.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The fever occurs at definite intervals depending on the species of </a:t>
            </a:r>
            <a:r>
              <a:rPr lang="en-IN" sz="2000" i="1" dirty="0"/>
              <a:t>Plasmodium</a:t>
            </a:r>
            <a:r>
              <a:rPr lang="en-IN" sz="2000" dirty="0"/>
              <a:t>. 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Repeated attacks can lead to: Enlargement of spleen, Anaemia, Reduced working capacity.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Malaria significantly affects the health, economy, and social development of a country.</a:t>
            </a:r>
          </a:p>
        </p:txBody>
      </p:sp>
    </p:spTree>
    <p:extLst>
      <p:ext uri="{BB962C8B-B14F-4D97-AF65-F5344CB8AC3E}">
        <p14:creationId xmlns:p14="http://schemas.microsoft.com/office/powerpoint/2010/main" val="2670737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524A09-CFC3-F967-CE4E-49FB3D86D5F9}"/>
              </a:ext>
            </a:extLst>
          </p:cNvPr>
          <p:cNvSpPr txBox="1"/>
          <p:nvPr/>
        </p:nvSpPr>
        <p:spPr>
          <a:xfrm>
            <a:off x="126707" y="151179"/>
            <a:ext cx="11938585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IN" sz="2000" b="1" dirty="0"/>
              <a:t>History of Malaria: </a:t>
            </a:r>
            <a:r>
              <a:rPr lang="en-IN" sz="2000" dirty="0"/>
              <a:t>Malaria has been known since ancient times.</a:t>
            </a:r>
          </a:p>
          <a:p>
            <a:pPr marL="342900" indent="-342900">
              <a:buFont typeface="Wingdings" pitchFamily="2" charset="2"/>
              <a:buChar char="v"/>
            </a:pPr>
            <a:endParaRPr lang="en-IN" sz="2000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Hippocrates (5th century BC) was the first to describe the clinical features of malaria.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 err="1"/>
              <a:t>Charaka</a:t>
            </a:r>
            <a:r>
              <a:rPr lang="en-IN" sz="2000" dirty="0"/>
              <a:t> and </a:t>
            </a:r>
            <a:r>
              <a:rPr lang="en-IN" sz="2000" dirty="0" err="1"/>
              <a:t>Sushruta</a:t>
            </a:r>
            <a:r>
              <a:rPr lang="en-IN" sz="2000" dirty="0"/>
              <a:t> also described the disease and linked it with mosquito bites.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In 1880, Laveran discovered the malarial parasite in human blood.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In 1891, Romanowsky introduced a staining method to study malaria parasites.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In 1894, Manson suggested that mosquitoes transmit malaria.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In 1897, Ronald Ross proved that malaria is transmitted by the female </a:t>
            </a:r>
            <a:r>
              <a:rPr lang="en-IN" sz="2000" i="1" dirty="0"/>
              <a:t>Anopheles</a:t>
            </a:r>
            <a:r>
              <a:rPr lang="en-IN" sz="2000" dirty="0"/>
              <a:t> mosquito.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Later, Italian scientists demonstrated the presence of parasites in the salivary glands of mosquitoes.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Wingdings" pitchFamily="2" charset="2"/>
              <a:buChar char="v"/>
            </a:pPr>
            <a:r>
              <a:rPr lang="en-IN" sz="2000" b="1" dirty="0"/>
              <a:t>Malaria Control Programmes in India:</a:t>
            </a:r>
          </a:p>
          <a:p>
            <a:pPr marL="342900" indent="-342900">
              <a:buFont typeface="Wingdings" pitchFamily="2" charset="2"/>
              <a:buChar char="v"/>
            </a:pPr>
            <a:endParaRPr lang="en-IN" sz="2000" b="1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1939:</a:t>
            </a:r>
            <a:r>
              <a:rPr lang="en-IN" sz="2000" dirty="0"/>
              <a:t> Paul Muller discovered the insecticidal property of DDT.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1953:</a:t>
            </a:r>
            <a:r>
              <a:rPr lang="en-IN" sz="2000" dirty="0"/>
              <a:t> Government of India launched the National Malaria Control Programme (NMCP).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1958:</a:t>
            </a:r>
            <a:r>
              <a:rPr lang="en-IN" sz="2000" dirty="0"/>
              <a:t> NMCP was converted into the National Malaria Eradication Programme (NMEP).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1977:</a:t>
            </a:r>
            <a:r>
              <a:rPr lang="en-IN" sz="2000" dirty="0"/>
              <a:t> NMEP was modified and renamed as Modified Plan of Operation (MPO).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1995:</a:t>
            </a:r>
            <a:r>
              <a:rPr lang="en-IN" sz="2000" dirty="0"/>
              <a:t> Accelerated Malaria Control Project was introduced in high-risk areas.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1999:</a:t>
            </a:r>
            <a:r>
              <a:rPr lang="en-IN" sz="2000" dirty="0"/>
              <a:t> Programme renamed as National Anti-Malaria Programme.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2003–04:</a:t>
            </a:r>
            <a:r>
              <a:rPr lang="en-IN" sz="2000" dirty="0"/>
              <a:t> Malaria control included under National Vector Borne Disease Control Programme (NVBDCP).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2016:</a:t>
            </a:r>
            <a:r>
              <a:rPr lang="en-IN" sz="2000" dirty="0"/>
              <a:t> National Framework for Malaria Elimination (2016–2030) was launched.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2017:</a:t>
            </a:r>
            <a:r>
              <a:rPr lang="en-IN" sz="2000" dirty="0"/>
              <a:t> National Strategic Plan for Malaria Elimination (2017–2022) was developed.</a:t>
            </a:r>
          </a:p>
        </p:txBody>
      </p:sp>
    </p:spTree>
    <p:extLst>
      <p:ext uri="{BB962C8B-B14F-4D97-AF65-F5344CB8AC3E}">
        <p14:creationId xmlns:p14="http://schemas.microsoft.com/office/powerpoint/2010/main" val="873369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F75535-D10E-CD47-7D54-8AC09AECBCB9}"/>
              </a:ext>
            </a:extLst>
          </p:cNvPr>
          <p:cNvSpPr txBox="1"/>
          <p:nvPr/>
        </p:nvSpPr>
        <p:spPr>
          <a:xfrm>
            <a:off x="270933" y="920621"/>
            <a:ext cx="1165013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IN" sz="2000" b="1" dirty="0"/>
              <a:t>Agent Factors: </a:t>
            </a:r>
            <a:r>
              <a:rPr lang="en-IN" sz="2000" dirty="0"/>
              <a:t>Malaria is caused by four species of </a:t>
            </a:r>
            <a:r>
              <a:rPr lang="en-IN" sz="2000" i="1" dirty="0"/>
              <a:t>Plasmodium</a:t>
            </a:r>
            <a:r>
              <a:rPr lang="en-IN" sz="2000" dirty="0"/>
              <a:t>: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i="1" dirty="0"/>
              <a:t>Plasmodium vivax</a:t>
            </a:r>
            <a:endParaRPr lang="en-IN" sz="2000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i="1" dirty="0"/>
              <a:t>Plasmodium falciparum</a:t>
            </a:r>
            <a:endParaRPr lang="en-IN" sz="2000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i="1" dirty="0"/>
              <a:t>Plasmodium </a:t>
            </a:r>
            <a:r>
              <a:rPr lang="en-IN" sz="2000" i="1" dirty="0" err="1"/>
              <a:t>malariae</a:t>
            </a:r>
            <a:endParaRPr lang="en-IN" sz="2000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i="1" dirty="0"/>
              <a:t>Plasmodium </a:t>
            </a:r>
            <a:r>
              <a:rPr lang="en-IN" sz="2000" i="1" dirty="0" err="1"/>
              <a:t>ovale</a:t>
            </a:r>
            <a:endParaRPr lang="en-IN" sz="2000" dirty="0"/>
          </a:p>
          <a:p>
            <a:pPr lvl="1"/>
            <a:endParaRPr lang="en-IN" sz="2000" dirty="0"/>
          </a:p>
          <a:p>
            <a:pPr lvl="1"/>
            <a:r>
              <a:rPr lang="en-IN" sz="2000" b="1" dirty="0"/>
              <a:t>Among these: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i="1" dirty="0"/>
              <a:t>P. vivax</a:t>
            </a:r>
            <a:r>
              <a:rPr lang="en-IN" sz="2000" dirty="0"/>
              <a:t> causes about 70% of cases.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i="1" dirty="0"/>
              <a:t>P. falciparum</a:t>
            </a:r>
            <a:r>
              <a:rPr lang="en-IN" sz="2000" dirty="0"/>
              <a:t> causes about 25–30% of cases and is responsible for severe malaria.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Mixed infections account for a small percentage.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i="1" dirty="0"/>
              <a:t>P. </a:t>
            </a:r>
            <a:r>
              <a:rPr lang="en-IN" sz="2000" i="1" dirty="0" err="1"/>
              <a:t>malariae</a:t>
            </a:r>
            <a:r>
              <a:rPr lang="en-IN" sz="2000" dirty="0"/>
              <a:t> and </a:t>
            </a:r>
            <a:r>
              <a:rPr lang="en-IN" sz="2000" i="1" dirty="0"/>
              <a:t>P. </a:t>
            </a:r>
            <a:r>
              <a:rPr lang="en-IN" sz="2000" i="1" dirty="0" err="1"/>
              <a:t>ovale</a:t>
            </a:r>
            <a:r>
              <a:rPr lang="en-IN" sz="2000" dirty="0"/>
              <a:t> are less common.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Wingdings" pitchFamily="2" charset="2"/>
              <a:buChar char="v"/>
            </a:pPr>
            <a:r>
              <a:rPr lang="en-IN" sz="2000" b="1" dirty="0"/>
              <a:t>Reservoir of Infection: </a:t>
            </a:r>
            <a:r>
              <a:rPr lang="en-IN" sz="2000" dirty="0"/>
              <a:t>There is </a:t>
            </a:r>
            <a:r>
              <a:rPr lang="en-IN" sz="2000" b="1" dirty="0"/>
              <a:t>only one human reservoir</a:t>
            </a:r>
            <a:r>
              <a:rPr lang="en-IN" sz="2000" dirty="0"/>
              <a:t> of malaria. A reservoir can be: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Case</a:t>
            </a:r>
            <a:r>
              <a:rPr lang="en-IN" sz="2000" dirty="0"/>
              <a:t> - a person having clinical malaria.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Carrier - </a:t>
            </a:r>
            <a:r>
              <a:rPr lang="en-IN" sz="2000" dirty="0"/>
              <a:t>a person who has </a:t>
            </a:r>
            <a:r>
              <a:rPr lang="en-IN" sz="2000" b="1" dirty="0"/>
              <a:t>gametocytes circulating in the blood.</a:t>
            </a:r>
            <a:endParaRPr lang="en-IN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Children are more likely to be </a:t>
            </a:r>
            <a:r>
              <a:rPr lang="en-IN" sz="2000" b="1" dirty="0"/>
              <a:t>gametocyte carriers</a:t>
            </a:r>
            <a:r>
              <a:rPr lang="en-IN" sz="2000" dirty="0"/>
              <a:t> than adults.</a:t>
            </a:r>
          </a:p>
        </p:txBody>
      </p:sp>
    </p:spTree>
    <p:extLst>
      <p:ext uri="{BB962C8B-B14F-4D97-AF65-F5344CB8AC3E}">
        <p14:creationId xmlns:p14="http://schemas.microsoft.com/office/powerpoint/2010/main" val="3741765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659274-DD03-587E-200C-C65DEE1C760B}"/>
              </a:ext>
            </a:extLst>
          </p:cNvPr>
          <p:cNvSpPr txBox="1"/>
          <p:nvPr/>
        </p:nvSpPr>
        <p:spPr>
          <a:xfrm>
            <a:off x="0" y="151179"/>
            <a:ext cx="12192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IN" sz="2000" b="1" dirty="0"/>
              <a:t>Host Factors: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Age Incidence: </a:t>
            </a:r>
            <a:r>
              <a:rPr lang="en-IN" sz="2000" dirty="0"/>
              <a:t>Malaria can occur at </a:t>
            </a:r>
            <a:r>
              <a:rPr lang="en-IN" sz="2000" b="1" dirty="0"/>
              <a:t>any age</a:t>
            </a:r>
            <a:r>
              <a:rPr lang="en-IN" sz="2000" dirty="0"/>
              <a:t>. </a:t>
            </a:r>
            <a:r>
              <a:rPr lang="en-IN" sz="2000" b="1" dirty="0"/>
              <a:t>Young children</a:t>
            </a:r>
            <a:r>
              <a:rPr lang="en-IN" sz="2000" dirty="0"/>
              <a:t> are more susceptible.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Sex Incidence: </a:t>
            </a:r>
            <a:r>
              <a:rPr lang="en-IN" sz="2000" dirty="0"/>
              <a:t>Malaria is </a:t>
            </a:r>
            <a:r>
              <a:rPr lang="en-IN" sz="2000" b="1" dirty="0"/>
              <a:t>more common in males</a:t>
            </a:r>
            <a:r>
              <a:rPr lang="en-IN" sz="2000" dirty="0"/>
              <a:t> than females because men are more involved in outdoor activities and have less protective clothing.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Pregnancy: </a:t>
            </a:r>
            <a:r>
              <a:rPr lang="en-IN" sz="2000" dirty="0"/>
              <a:t>Pregnancy increases the </a:t>
            </a:r>
            <a:r>
              <a:rPr lang="en-IN" sz="2000" b="1" dirty="0"/>
              <a:t>risk and severity of malaria</a:t>
            </a:r>
            <a:r>
              <a:rPr lang="en-IN" sz="2000" dirty="0"/>
              <a:t>. It may lead to: Abortion, Stillbirth, Premature delivery.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Occupation: </a:t>
            </a:r>
            <a:r>
              <a:rPr lang="en-IN" sz="2000" dirty="0"/>
              <a:t>Malaria is considered an </a:t>
            </a:r>
            <a:r>
              <a:rPr lang="en-IN" sz="2000" b="1" dirty="0"/>
              <a:t>occupational disease</a:t>
            </a:r>
            <a:r>
              <a:rPr lang="en-IN" sz="2000" dirty="0"/>
              <a:t>. It is more common in </a:t>
            </a:r>
            <a:r>
              <a:rPr lang="en-IN" sz="2000" b="1" dirty="0"/>
              <a:t>rural populations</a:t>
            </a:r>
            <a:r>
              <a:rPr lang="en-IN" sz="2000" dirty="0"/>
              <a:t>, especially among agricultural workers.</a:t>
            </a:r>
          </a:p>
          <a:p>
            <a:endParaRPr lang="en-IN" sz="2000" dirty="0"/>
          </a:p>
          <a:p>
            <a:pPr marL="342900" indent="-342900">
              <a:buFont typeface="Wingdings" pitchFamily="2" charset="2"/>
              <a:buChar char="v"/>
            </a:pPr>
            <a:r>
              <a:rPr lang="en-IN" sz="2000" b="1" dirty="0"/>
              <a:t>Predisposing Factors: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Poor housing with </a:t>
            </a:r>
            <a:r>
              <a:rPr lang="en-IN" sz="2000" b="1" dirty="0"/>
              <a:t>poor lighting and ventilation</a:t>
            </a:r>
            <a:r>
              <a:rPr lang="en-IN" sz="2000" dirty="0"/>
              <a:t>, which Favors mosquito resting.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Human activities such as </a:t>
            </a:r>
            <a:r>
              <a:rPr lang="en-IN" sz="2000" b="1" dirty="0"/>
              <a:t>urbanization, industrialization, irrigation, deforestation</a:t>
            </a:r>
            <a:r>
              <a:rPr lang="en-IN" sz="2000" dirty="0"/>
              <a:t>, and agricultural practices.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Water collections like </a:t>
            </a:r>
            <a:r>
              <a:rPr lang="en-IN" sz="2000" b="1" dirty="0"/>
              <a:t>pits, garden pools, irrigation channels</a:t>
            </a:r>
            <a:r>
              <a:rPr lang="en-IN" sz="2000" dirty="0"/>
              <a:t>, which act as mosquito breeding sites.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Sleeping outdoors, leading to increased mosquito bites.</a:t>
            </a:r>
          </a:p>
          <a:p>
            <a:pPr marL="800100" lvl="1" indent="-342900">
              <a:buFont typeface="Wingdings" pitchFamily="2" charset="2"/>
              <a:buChar char="Ø"/>
            </a:pPr>
            <a:endParaRPr lang="en-IN" sz="2000" dirty="0"/>
          </a:p>
          <a:p>
            <a:pPr marL="342900" indent="-342900">
              <a:buFont typeface="Wingdings" pitchFamily="2" charset="2"/>
              <a:buChar char="v"/>
            </a:pPr>
            <a:r>
              <a:rPr lang="en-IN" sz="2000" b="1" dirty="0"/>
              <a:t>Environmental Factors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Season: Incidence high between July and November</a:t>
            </a:r>
            <a:r>
              <a:rPr lang="en-IN" sz="2000" dirty="0"/>
              <a:t> due to high temperature and humidity.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Atmospheric Temperature: </a:t>
            </a:r>
            <a:r>
              <a:rPr lang="en-IN" sz="2000" dirty="0"/>
              <a:t>Optimal temperature for parasite development is </a:t>
            </a:r>
            <a:r>
              <a:rPr lang="en-IN" sz="2000" b="1" dirty="0"/>
              <a:t>20°C–30°C.</a:t>
            </a:r>
            <a:endParaRPr lang="en-IN" sz="2000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Humidity: </a:t>
            </a:r>
            <a:r>
              <a:rPr lang="en-IN" sz="2000" dirty="0"/>
              <a:t>Relative humidity of </a:t>
            </a:r>
            <a:r>
              <a:rPr lang="en-IN" sz="2000" b="1" dirty="0"/>
              <a:t>60% or more</a:t>
            </a:r>
            <a:r>
              <a:rPr lang="en-IN" sz="2000" dirty="0"/>
              <a:t> </a:t>
            </a:r>
            <a:r>
              <a:rPr lang="en-IN" sz="2000" dirty="0" err="1"/>
              <a:t>favors</a:t>
            </a:r>
            <a:r>
              <a:rPr lang="en-IN" sz="2000" dirty="0"/>
              <a:t> longer survival of mosquitoes.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Rainfall: </a:t>
            </a:r>
            <a:r>
              <a:rPr lang="en-IN" sz="2000" dirty="0"/>
              <a:t>Increases mosquito breeding by raising humidity.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Altitude: </a:t>
            </a:r>
            <a:r>
              <a:rPr lang="en-IN" sz="2000" dirty="0"/>
              <a:t>Above </a:t>
            </a:r>
            <a:r>
              <a:rPr lang="en-IN" sz="2000" b="1" dirty="0"/>
              <a:t>2,500 meters</a:t>
            </a:r>
            <a:r>
              <a:rPr lang="en-IN" sz="2000" dirty="0"/>
              <a:t>, malaria transmission is rare due to poor mosquito survival.</a:t>
            </a:r>
          </a:p>
        </p:txBody>
      </p:sp>
    </p:spTree>
    <p:extLst>
      <p:ext uri="{BB962C8B-B14F-4D97-AF65-F5344CB8AC3E}">
        <p14:creationId xmlns:p14="http://schemas.microsoft.com/office/powerpoint/2010/main" val="3539440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054B46-52BD-5A9C-CA92-D4419FAA9FBB}"/>
              </a:ext>
            </a:extLst>
          </p:cNvPr>
          <p:cNvSpPr txBox="1"/>
          <p:nvPr/>
        </p:nvSpPr>
        <p:spPr>
          <a:xfrm>
            <a:off x="158239" y="58846"/>
            <a:ext cx="1187552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IN" b="1" dirty="0"/>
              <a:t>Vectors of Malaria: </a:t>
            </a:r>
            <a:r>
              <a:rPr lang="en-IN" dirty="0"/>
              <a:t>Malaria is transmitted by </a:t>
            </a:r>
            <a:r>
              <a:rPr lang="en-IN" b="1" dirty="0"/>
              <a:t>female Anopheles mosquitoes</a:t>
            </a:r>
            <a:r>
              <a:rPr lang="en-IN" dirty="0"/>
              <a:t>.</a:t>
            </a:r>
          </a:p>
          <a:p>
            <a:pPr marL="285750" indent="-285750">
              <a:buFont typeface="Wingdings" pitchFamily="2" charset="2"/>
              <a:buChar char="v"/>
            </a:pPr>
            <a:endParaRPr lang="en-IN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en-IN" b="1" dirty="0"/>
              <a:t>Breeding Habits: </a:t>
            </a:r>
            <a:r>
              <a:rPr lang="en-IN" dirty="0"/>
              <a:t>Female </a:t>
            </a:r>
            <a:r>
              <a:rPr lang="en-IN" i="1" dirty="0"/>
              <a:t>Anopheles</a:t>
            </a:r>
            <a:r>
              <a:rPr lang="en-IN" dirty="0"/>
              <a:t> mosquitoes breed in </a:t>
            </a:r>
            <a:r>
              <a:rPr lang="en-IN" b="1" dirty="0"/>
              <a:t>clean water</a:t>
            </a:r>
            <a:r>
              <a:rPr lang="en-IN" dirty="0"/>
              <a:t>, such as: Ponds, Cisterns, Wells, Overhead tanks, Pools.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b="1" dirty="0"/>
              <a:t>Feeding Habits: </a:t>
            </a:r>
            <a:r>
              <a:rPr lang="en-IN" dirty="0"/>
              <a:t>Female mosquitoes feed on </a:t>
            </a:r>
            <a:r>
              <a:rPr lang="en-IN" b="1" dirty="0"/>
              <a:t>human blood (anthropophilic) </a:t>
            </a:r>
            <a:r>
              <a:rPr lang="en-IN" dirty="0"/>
              <a:t>needed for </a:t>
            </a:r>
            <a:r>
              <a:rPr lang="en-IN" b="1" dirty="0"/>
              <a:t>egg laying, </a:t>
            </a:r>
            <a:r>
              <a:rPr lang="en-IN" dirty="0"/>
              <a:t>Feeding usually occurs during </a:t>
            </a:r>
            <a:r>
              <a:rPr lang="en-IN" b="1" dirty="0"/>
              <a:t>night time.</a:t>
            </a:r>
            <a:endParaRPr lang="en-IN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en-IN" b="1" dirty="0"/>
              <a:t>Resting Habits: R</a:t>
            </a:r>
            <a:r>
              <a:rPr lang="en-IN" dirty="0"/>
              <a:t>est </a:t>
            </a:r>
            <a:r>
              <a:rPr lang="en-IN" b="1" dirty="0"/>
              <a:t>indoors after blood meals (endophilic).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-IN" b="1" dirty="0"/>
          </a:p>
          <a:p>
            <a:pPr marL="285750" indent="-285750">
              <a:buFont typeface="Wingdings" pitchFamily="2" charset="2"/>
              <a:buChar char="v"/>
            </a:pPr>
            <a:r>
              <a:rPr lang="en-IN" sz="1800" b="1" dirty="0"/>
              <a:t>Life Cycle of Malaria Parasite: </a:t>
            </a:r>
            <a:r>
              <a:rPr lang="en-IN" sz="1800" dirty="0"/>
              <a:t>The parasite completes its life cycle in </a:t>
            </a:r>
            <a:r>
              <a:rPr lang="en-IN" sz="1800" b="1" dirty="0"/>
              <a:t>two hosts</a:t>
            </a:r>
            <a:r>
              <a:rPr lang="en-IN" sz="1800" dirty="0"/>
              <a:t>: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b="1" dirty="0"/>
              <a:t>Man</a:t>
            </a:r>
            <a:r>
              <a:rPr lang="en-IN" dirty="0"/>
              <a:t> intermediate host (asexual cycle).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b="1" dirty="0"/>
              <a:t>Female Anopheles mosquito</a:t>
            </a:r>
            <a:r>
              <a:rPr lang="en-IN" dirty="0"/>
              <a:t> definitive host (sexual cycle).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-IN" dirty="0"/>
          </a:p>
          <a:p>
            <a:pPr lvl="1"/>
            <a:r>
              <a:rPr lang="en-IN" b="1" dirty="0"/>
              <a:t>1. Cycle in Man (Asexual Cycle)</a:t>
            </a:r>
          </a:p>
          <a:p>
            <a:pPr marL="1200150" lvl="2" indent="-285750">
              <a:buFont typeface="Wingdings" pitchFamily="2" charset="2"/>
              <a:buChar char="Ø"/>
            </a:pPr>
            <a:r>
              <a:rPr lang="en-IN" dirty="0"/>
              <a:t>Infection begins when an infected mosquito injects </a:t>
            </a:r>
            <a:r>
              <a:rPr lang="en-IN" b="1" dirty="0"/>
              <a:t>sporozoites.</a:t>
            </a:r>
            <a:endParaRPr lang="en-IN" dirty="0"/>
          </a:p>
          <a:p>
            <a:pPr marL="1200150" lvl="2" indent="-285750">
              <a:buFont typeface="Wingdings" pitchFamily="2" charset="2"/>
              <a:buChar char="Ø"/>
            </a:pPr>
            <a:r>
              <a:rPr lang="en-IN" dirty="0"/>
              <a:t>Sporozoites reach the liver within </a:t>
            </a:r>
            <a:r>
              <a:rPr lang="en-IN" b="1" dirty="0"/>
              <a:t>1 hour.</a:t>
            </a:r>
            <a:endParaRPr lang="en-IN" dirty="0"/>
          </a:p>
          <a:p>
            <a:pPr marL="1200150" lvl="2" indent="-285750">
              <a:buFont typeface="Wingdings" pitchFamily="2" charset="2"/>
              <a:buChar char="Ø"/>
            </a:pPr>
            <a:r>
              <a:rPr lang="en-IN" dirty="0"/>
              <a:t>They multiply and form </a:t>
            </a:r>
            <a:r>
              <a:rPr lang="en-IN" b="1" dirty="0"/>
              <a:t>schizonts</a:t>
            </a:r>
            <a:r>
              <a:rPr lang="en-IN" dirty="0"/>
              <a:t>, which rupture after ~2 weeks.</a:t>
            </a:r>
          </a:p>
          <a:p>
            <a:pPr marL="1200150" lvl="2" indent="-285750">
              <a:buFont typeface="Wingdings" pitchFamily="2" charset="2"/>
              <a:buChar char="Ø"/>
            </a:pPr>
            <a:r>
              <a:rPr lang="en-IN" dirty="0"/>
              <a:t>Merozoites are released into blood.</a:t>
            </a:r>
          </a:p>
          <a:p>
            <a:pPr marL="1200150" lvl="2" indent="-285750">
              <a:buFont typeface="Wingdings" pitchFamily="2" charset="2"/>
              <a:buChar char="Ø"/>
            </a:pPr>
            <a:r>
              <a:rPr lang="en-IN" dirty="0"/>
              <a:t>In </a:t>
            </a:r>
            <a:r>
              <a:rPr lang="en-IN" i="1" dirty="0"/>
              <a:t>P. falciparum</a:t>
            </a:r>
            <a:r>
              <a:rPr lang="en-IN" dirty="0"/>
              <a:t>, each schizont releases </a:t>
            </a:r>
            <a:r>
              <a:rPr lang="en-IN" b="1" dirty="0"/>
              <a:t>about 40,000 merozoites</a:t>
            </a:r>
            <a:r>
              <a:rPr lang="en-IN" dirty="0"/>
              <a:t>, causing severe infection.</a:t>
            </a:r>
            <a:endParaRPr lang="en-IN" sz="1800" dirty="0"/>
          </a:p>
          <a:p>
            <a:pPr marL="1200150" lvl="2" indent="-285750">
              <a:buFont typeface="Wingdings" pitchFamily="2" charset="2"/>
              <a:buChar char="Ø"/>
            </a:pPr>
            <a:r>
              <a:rPr lang="en-IN" b="1" dirty="0"/>
              <a:t>Erythrocytic Phase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dirty="0"/>
              <a:t>Merozoites enter RBCs and develop into </a:t>
            </a:r>
            <a:r>
              <a:rPr lang="en-IN" b="1" dirty="0"/>
              <a:t>trophozoites and schizonts</a:t>
            </a:r>
            <a:endParaRPr lang="en-IN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dirty="0"/>
              <a:t>Rupture of RBCs releases merozoites, causing </a:t>
            </a:r>
            <a:r>
              <a:rPr lang="en-IN" b="1" dirty="0"/>
              <a:t>fever paroxysms</a:t>
            </a:r>
            <a:endParaRPr lang="en-IN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dirty="0"/>
              <a:t>Some merozoites develop into </a:t>
            </a:r>
            <a:r>
              <a:rPr lang="en-IN" b="1" dirty="0"/>
              <a:t>gametocytes</a:t>
            </a:r>
            <a:endParaRPr lang="en-IN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i="1" dirty="0"/>
              <a:t>P. falciparum</a:t>
            </a:r>
            <a:r>
              <a:rPr lang="en-IN" dirty="0"/>
              <a:t> → No relapse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i="1" dirty="0"/>
              <a:t>P. vivax</a:t>
            </a:r>
            <a:r>
              <a:rPr lang="en-IN" dirty="0"/>
              <a:t> and </a:t>
            </a:r>
            <a:r>
              <a:rPr lang="en-IN" i="1" dirty="0"/>
              <a:t>P. </a:t>
            </a:r>
            <a:r>
              <a:rPr lang="en-IN" i="1" dirty="0" err="1"/>
              <a:t>ovale</a:t>
            </a:r>
            <a:r>
              <a:rPr lang="en-IN" dirty="0"/>
              <a:t> → Relapse occurs due to hypnozoite</a:t>
            </a:r>
          </a:p>
        </p:txBody>
      </p:sp>
    </p:spTree>
    <p:extLst>
      <p:ext uri="{BB962C8B-B14F-4D97-AF65-F5344CB8AC3E}">
        <p14:creationId xmlns:p14="http://schemas.microsoft.com/office/powerpoint/2010/main" val="3755117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372DA8-BF76-8F8A-60E6-342E93E9043B}"/>
              </a:ext>
            </a:extLst>
          </p:cNvPr>
          <p:cNvSpPr txBox="1"/>
          <p:nvPr/>
        </p:nvSpPr>
        <p:spPr>
          <a:xfrm>
            <a:off x="160867" y="139878"/>
            <a:ext cx="11870266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2. Cycle in Mosquito (Sexual Phase / Sporogony): </a:t>
            </a:r>
            <a:r>
              <a:rPr lang="en-IN" sz="2000" dirty="0"/>
              <a:t>The sexual cycle occurs in the </a:t>
            </a:r>
            <a:r>
              <a:rPr lang="en-IN" sz="2000" b="1" dirty="0"/>
              <a:t>female Anopheles mosquito</a:t>
            </a:r>
            <a:r>
              <a:rPr lang="en-IN" sz="2000" dirty="0"/>
              <a:t>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When the mosquito bites an infected person, it ingests male and female gametocytes.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In the stomach of the mosquito, male gametocytes form </a:t>
            </a:r>
            <a:r>
              <a:rPr lang="en-IN" sz="2000" b="1" dirty="0"/>
              <a:t>microgametes</a:t>
            </a:r>
            <a:r>
              <a:rPr lang="en-IN" sz="2000" dirty="0"/>
              <a:t> and female gametocytes form </a:t>
            </a:r>
            <a:r>
              <a:rPr lang="en-IN" sz="2000" b="1" dirty="0"/>
              <a:t>macrogametes</a:t>
            </a:r>
            <a:r>
              <a:rPr lang="en-IN" sz="2000" dirty="0"/>
              <a:t>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Fertilization occurs forming a </a:t>
            </a:r>
            <a:r>
              <a:rPr lang="en-IN" sz="2000" b="1" dirty="0"/>
              <a:t>zygote</a:t>
            </a:r>
            <a:r>
              <a:rPr lang="en-IN" sz="2000" dirty="0"/>
              <a:t>, which becomes motile and is called an </a:t>
            </a:r>
            <a:r>
              <a:rPr lang="en-IN" sz="2000" b="1" dirty="0"/>
              <a:t>ookinete</a:t>
            </a:r>
            <a:r>
              <a:rPr lang="en-IN" sz="2000" dirty="0"/>
              <a:t>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The ookinete penetrates the stomach wall and develops into an </a:t>
            </a:r>
            <a:r>
              <a:rPr lang="en-IN" sz="2000" b="1" dirty="0"/>
              <a:t>oocyst</a:t>
            </a:r>
            <a:r>
              <a:rPr lang="en-IN" sz="2000" dirty="0"/>
              <a:t>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Inside the oocyst, numerous </a:t>
            </a:r>
            <a:r>
              <a:rPr lang="en-IN" sz="2000" b="1" dirty="0"/>
              <a:t>sporozoites</a:t>
            </a:r>
            <a:r>
              <a:rPr lang="en-IN" sz="2000" dirty="0"/>
              <a:t> develop.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When the oocyst ruptures, sporozoites migrate to the </a:t>
            </a:r>
            <a:r>
              <a:rPr lang="en-IN" sz="2000" b="1" dirty="0"/>
              <a:t>salivary glands</a:t>
            </a:r>
            <a:r>
              <a:rPr lang="en-IN" sz="2000" dirty="0"/>
              <a:t>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The mosquito now becomes </a:t>
            </a:r>
            <a:r>
              <a:rPr lang="en-IN" sz="2000" b="1" dirty="0"/>
              <a:t>infective</a:t>
            </a:r>
            <a:r>
              <a:rPr lang="en-IN" sz="2000" dirty="0"/>
              <a:t> and can transmit malaria to humans. The duration of this cycle is about </a:t>
            </a:r>
            <a:r>
              <a:rPr lang="en-IN" sz="2000" b="1" dirty="0"/>
              <a:t>10–20 days</a:t>
            </a:r>
            <a:r>
              <a:rPr lang="en-IN" sz="2000" dirty="0"/>
              <a:t>, depending on temperature and humidity.</a:t>
            </a:r>
          </a:p>
          <a:p>
            <a:endParaRPr lang="en-IN" sz="2000" dirty="0"/>
          </a:p>
          <a:p>
            <a:pPr marL="342900" indent="-342900">
              <a:buFont typeface="Wingdings" pitchFamily="2" charset="2"/>
              <a:buChar char="v"/>
            </a:pPr>
            <a:r>
              <a:rPr lang="en-IN" sz="2000" b="1" dirty="0"/>
              <a:t>Mode of Transmission: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Mosquito Bite: T</a:t>
            </a:r>
            <a:r>
              <a:rPr lang="en-IN" sz="2000" dirty="0"/>
              <a:t>ransmitted from person to person by the bite of an </a:t>
            </a:r>
            <a:r>
              <a:rPr lang="en-IN" sz="2000" b="1" dirty="0"/>
              <a:t>infected female Anopheles.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Accidental Transmission: </a:t>
            </a:r>
            <a:r>
              <a:rPr lang="en-IN" sz="2000" dirty="0"/>
              <a:t>Through contaminated syringes and needles among drug addicts.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Vertical Transmission: Infected pregnant mother to </a:t>
            </a:r>
            <a:r>
              <a:rPr lang="en-IN" sz="2000" b="1" dirty="0" err="1"/>
              <a:t>fetus</a:t>
            </a:r>
            <a:r>
              <a:rPr lang="en-IN" sz="2000" dirty="0"/>
              <a:t> can occur, causing </a:t>
            </a:r>
            <a:r>
              <a:rPr lang="en-IN" sz="2000" b="1" dirty="0"/>
              <a:t>congenital malaria</a:t>
            </a:r>
            <a:r>
              <a:rPr lang="en-IN" sz="2000" dirty="0"/>
              <a:t>, rare.</a:t>
            </a:r>
          </a:p>
          <a:p>
            <a:endParaRPr lang="en-IN" sz="2000" dirty="0"/>
          </a:p>
          <a:p>
            <a:pPr marL="342900" indent="-342900">
              <a:buFont typeface="Wingdings" pitchFamily="2" charset="2"/>
              <a:buChar char="v"/>
            </a:pPr>
            <a:r>
              <a:rPr lang="en-IN" sz="2000" b="1" dirty="0"/>
              <a:t>Incubation Period: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i="1" dirty="0"/>
              <a:t>Plasmodium vivax</a:t>
            </a:r>
            <a:r>
              <a:rPr lang="en-IN" sz="2000" dirty="0"/>
              <a:t> → </a:t>
            </a:r>
            <a:r>
              <a:rPr lang="en-IN" sz="2000" b="1" dirty="0"/>
              <a:t>14 days.</a:t>
            </a:r>
            <a:endParaRPr lang="en-IN" sz="2000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i="1" dirty="0"/>
              <a:t>Plasmodium falciparum</a:t>
            </a:r>
            <a:r>
              <a:rPr lang="en-IN" sz="2000" dirty="0"/>
              <a:t> → </a:t>
            </a:r>
            <a:r>
              <a:rPr lang="en-IN" sz="2000" b="1" dirty="0"/>
              <a:t>12 days.</a:t>
            </a:r>
            <a:endParaRPr lang="en-IN" sz="2000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i="1" dirty="0"/>
              <a:t>Plasmodium </a:t>
            </a:r>
            <a:r>
              <a:rPr lang="en-IN" sz="2000" i="1" dirty="0" err="1"/>
              <a:t>malariae</a:t>
            </a:r>
            <a:r>
              <a:rPr lang="en-IN" sz="2000" dirty="0"/>
              <a:t> → </a:t>
            </a:r>
            <a:r>
              <a:rPr lang="en-IN" sz="2000" b="1" dirty="0"/>
              <a:t>28 days.</a:t>
            </a:r>
            <a:endParaRPr lang="en-IN" sz="2000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i="1" dirty="0"/>
              <a:t>Plasmodium </a:t>
            </a:r>
            <a:r>
              <a:rPr lang="en-IN" sz="2000" i="1" dirty="0" err="1"/>
              <a:t>ovale</a:t>
            </a:r>
            <a:r>
              <a:rPr lang="en-IN" sz="2000" dirty="0"/>
              <a:t> → </a:t>
            </a:r>
            <a:r>
              <a:rPr lang="en-IN" sz="2000" b="1" dirty="0"/>
              <a:t>17 days.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05969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805089-3526-9210-867C-BE1538FBA3A0}"/>
              </a:ext>
            </a:extLst>
          </p:cNvPr>
          <p:cNvSpPr txBox="1"/>
          <p:nvPr/>
        </p:nvSpPr>
        <p:spPr>
          <a:xfrm>
            <a:off x="0" y="0"/>
            <a:ext cx="1219200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IN" sz="2000" b="1" dirty="0"/>
              <a:t>Clinical Features: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b="1" dirty="0"/>
              <a:t>Benign Tertian Malaria (</a:t>
            </a:r>
            <a:r>
              <a:rPr lang="en-IN" sz="2000" b="1" i="1" dirty="0"/>
              <a:t>Plasmodium vivax</a:t>
            </a:r>
            <a:r>
              <a:rPr lang="en-IN" sz="2000" b="1" dirty="0"/>
              <a:t>): Most common type</a:t>
            </a:r>
            <a:r>
              <a:rPr lang="en-IN" sz="2000" dirty="0"/>
              <a:t> of malaria, occurs in </a:t>
            </a:r>
            <a:r>
              <a:rPr lang="en-IN" sz="2000" b="1" dirty="0"/>
              <a:t>three stages</a:t>
            </a:r>
            <a:r>
              <a:rPr lang="en-IN" sz="2000" dirty="0"/>
              <a:t>:</a:t>
            </a:r>
          </a:p>
          <a:p>
            <a:pPr marL="1371600" lvl="2" indent="-457200">
              <a:buFont typeface="+mj-lt"/>
              <a:buAutoNum type="alphaLcParenR"/>
            </a:pPr>
            <a:r>
              <a:rPr lang="en-IN" sz="2000" b="1" dirty="0"/>
              <a:t>Cold Stage: </a:t>
            </a:r>
            <a:r>
              <a:rPr lang="en-IN" sz="2000" dirty="0"/>
              <a:t>Sudden onset of fever with </a:t>
            </a:r>
            <a:r>
              <a:rPr lang="en-IN" sz="2000" b="1" dirty="0"/>
              <a:t>chills and rigors, </a:t>
            </a:r>
            <a:r>
              <a:rPr lang="en-IN" sz="2000" dirty="0"/>
              <a:t>Sensation of extreme cold, Severe headache and vomiting may occur &amp; Lasts for </a:t>
            </a:r>
            <a:r>
              <a:rPr lang="en-IN" sz="2000" b="1" dirty="0"/>
              <a:t>15–30 minutes.</a:t>
            </a:r>
            <a:endParaRPr lang="en-IN" sz="2000" dirty="0"/>
          </a:p>
          <a:p>
            <a:pPr marL="1371600" lvl="2" indent="-457200">
              <a:buFont typeface="+mj-lt"/>
              <a:buAutoNum type="alphaLcParenR"/>
            </a:pPr>
            <a:r>
              <a:rPr lang="en-IN" sz="2000" b="1" dirty="0"/>
              <a:t>Hot Stage: </a:t>
            </a:r>
            <a:r>
              <a:rPr lang="en-IN" sz="2000" dirty="0"/>
              <a:t>High fever (</a:t>
            </a:r>
            <a:r>
              <a:rPr lang="en-IN" sz="2000" b="1" dirty="0"/>
              <a:t>103–104°F</a:t>
            </a:r>
            <a:r>
              <a:rPr lang="en-IN" sz="2000" dirty="0"/>
              <a:t>), Patient feels hot and restless, Burning sensation, headache, vomiting &amp; Lasts for </a:t>
            </a:r>
            <a:r>
              <a:rPr lang="en-IN" sz="2000" b="1" dirty="0"/>
              <a:t>2–6 hours.</a:t>
            </a:r>
            <a:endParaRPr lang="en-IN" sz="2000" dirty="0"/>
          </a:p>
          <a:p>
            <a:pPr marL="1371600" lvl="2" indent="-457200">
              <a:buFont typeface="+mj-lt"/>
              <a:buAutoNum type="alphaLcParenR"/>
            </a:pPr>
            <a:r>
              <a:rPr lang="en-IN" sz="2000" b="1" dirty="0"/>
              <a:t>Sweating Stage: </a:t>
            </a:r>
            <a:r>
              <a:rPr lang="en-IN" sz="2000" dirty="0"/>
              <a:t>Profuse sweating, Fever subsides, Patient feels relaxed and may fall asleep &amp; Lasts for </a:t>
            </a:r>
            <a:r>
              <a:rPr lang="en-IN" sz="2000" b="1" dirty="0"/>
              <a:t>2–4 hours.</a:t>
            </a:r>
            <a:endParaRPr lang="en-IN" sz="2000" dirty="0"/>
          </a:p>
          <a:p>
            <a:pPr marL="1257300" lvl="2" indent="-342900">
              <a:buFont typeface="Wingdings" pitchFamily="2" charset="2"/>
              <a:buChar char="Ø"/>
            </a:pPr>
            <a:r>
              <a:rPr lang="en-IN" sz="2000" dirty="0"/>
              <a:t>In </a:t>
            </a:r>
            <a:r>
              <a:rPr lang="en-IN" sz="2000" i="1" dirty="0"/>
              <a:t>P. vivax</a:t>
            </a:r>
            <a:r>
              <a:rPr lang="en-IN" sz="2000" dirty="0"/>
              <a:t> malaria, fever occurs on </a:t>
            </a:r>
            <a:r>
              <a:rPr lang="en-IN" sz="2000" b="1" dirty="0"/>
              <a:t>alternate days</a:t>
            </a:r>
            <a:r>
              <a:rPr lang="en-IN" sz="2000" dirty="0"/>
              <a:t>. Repeated attacks may lead to </a:t>
            </a:r>
            <a:r>
              <a:rPr lang="en-IN" sz="2000" b="1" dirty="0"/>
              <a:t>splenomegaly and </a:t>
            </a:r>
            <a:r>
              <a:rPr lang="en-IN" sz="2000" b="1" dirty="0" err="1"/>
              <a:t>anemia</a:t>
            </a:r>
            <a:r>
              <a:rPr lang="en-IN" sz="2000" dirty="0"/>
              <a:t>.</a:t>
            </a:r>
          </a:p>
          <a:p>
            <a:pPr marL="1257300" lvl="2" indent="-342900">
              <a:buFont typeface="Wingdings" pitchFamily="2" charset="2"/>
              <a:buChar char="Ø"/>
            </a:pPr>
            <a:endParaRPr lang="en-IN" sz="2000" dirty="0"/>
          </a:p>
          <a:p>
            <a:pPr marL="914400" lvl="1" indent="-457200">
              <a:buFont typeface="+mj-lt"/>
              <a:buAutoNum type="arabicPeriod"/>
            </a:pPr>
            <a:r>
              <a:rPr lang="en-IN" sz="2000" b="1" dirty="0"/>
              <a:t>Malignant Tertian Malaria (</a:t>
            </a:r>
            <a:r>
              <a:rPr lang="en-IN" sz="2000" b="1" i="1" dirty="0"/>
              <a:t>Plasmodium falciparum</a:t>
            </a:r>
            <a:r>
              <a:rPr lang="en-IN" sz="2000" b="1" dirty="0"/>
              <a:t>): </a:t>
            </a:r>
            <a:r>
              <a:rPr lang="en-IN" sz="2000" dirty="0"/>
              <a:t>Caused by </a:t>
            </a:r>
            <a:r>
              <a:rPr lang="en-IN" sz="2000" i="1" dirty="0"/>
              <a:t>P. falciparum, </a:t>
            </a:r>
            <a:r>
              <a:rPr lang="en-IN" sz="2000" dirty="0"/>
              <a:t>Gradual rise in temperature, Fever becomes </a:t>
            </a:r>
            <a:r>
              <a:rPr lang="en-IN" sz="2000" b="1" dirty="0"/>
              <a:t>continuous, </a:t>
            </a:r>
            <a:r>
              <a:rPr lang="en-IN" sz="2000" dirty="0"/>
              <a:t>Cold, hot, and sweating stages are usually absent, Vomiting and headache are common. This type is </a:t>
            </a:r>
            <a:r>
              <a:rPr lang="en-IN" sz="2000" b="1" dirty="0"/>
              <a:t>severe and life-threatening</a:t>
            </a:r>
            <a:r>
              <a:rPr lang="en-IN" sz="2000" dirty="0"/>
              <a:t> due to complications:</a:t>
            </a:r>
          </a:p>
          <a:p>
            <a:pPr marL="1371600" lvl="2" indent="-457200">
              <a:buFont typeface="+mj-lt"/>
              <a:buAutoNum type="alphaLcParenR"/>
            </a:pPr>
            <a:r>
              <a:rPr lang="en-IN" sz="2000" b="1" dirty="0"/>
              <a:t>Cerebral Malaria: </a:t>
            </a:r>
            <a:r>
              <a:rPr lang="en-IN" sz="2000" dirty="0"/>
              <a:t>High fever, Convulsions, Delirium, stupor, coma, May lead to death.</a:t>
            </a:r>
          </a:p>
          <a:p>
            <a:pPr marL="1371600" lvl="2" indent="-457200">
              <a:buFont typeface="+mj-lt"/>
              <a:buAutoNum type="alphaLcParenR"/>
            </a:pPr>
            <a:r>
              <a:rPr lang="en-IN" sz="2000" b="1" dirty="0"/>
              <a:t>Blackwater Fever: </a:t>
            </a:r>
            <a:r>
              <a:rPr lang="en-IN" sz="2000" dirty="0"/>
              <a:t>Fever with </a:t>
            </a:r>
            <a:r>
              <a:rPr lang="en-IN" sz="2000" b="1" dirty="0"/>
              <a:t>dark-</a:t>
            </a:r>
            <a:r>
              <a:rPr lang="en-IN" sz="2000" b="1" dirty="0" err="1"/>
              <a:t>colored</a:t>
            </a:r>
            <a:r>
              <a:rPr lang="en-IN" sz="2000" b="1" dirty="0"/>
              <a:t> urine, </a:t>
            </a:r>
            <a:r>
              <a:rPr lang="en-IN" sz="2000" dirty="0"/>
              <a:t>Due to </a:t>
            </a:r>
            <a:r>
              <a:rPr lang="en-IN" sz="2000" dirty="0" err="1"/>
              <a:t>hemolysis</a:t>
            </a:r>
            <a:r>
              <a:rPr lang="en-IN" sz="2000" dirty="0"/>
              <a:t> of RBCs and </a:t>
            </a:r>
            <a:r>
              <a:rPr lang="en-IN" sz="2000" dirty="0" err="1"/>
              <a:t>hemoglobinuria</a:t>
            </a:r>
            <a:r>
              <a:rPr lang="en-IN" sz="2000" dirty="0"/>
              <a:t>.</a:t>
            </a:r>
          </a:p>
          <a:p>
            <a:pPr marL="1371600" lvl="2" indent="-457200">
              <a:buFont typeface="+mj-lt"/>
              <a:buAutoNum type="alphaLcParenR"/>
            </a:pPr>
            <a:r>
              <a:rPr lang="en-IN" sz="2000" b="1" dirty="0"/>
              <a:t>Algid Malaria: </a:t>
            </a:r>
            <a:r>
              <a:rPr lang="en-IN" sz="2000" dirty="0"/>
              <a:t>Features of </a:t>
            </a:r>
            <a:r>
              <a:rPr lang="en-IN" sz="2000" b="1" dirty="0"/>
              <a:t>shock</a:t>
            </a:r>
            <a:r>
              <a:rPr lang="en-IN" sz="2000" dirty="0"/>
              <a:t>.</a:t>
            </a:r>
          </a:p>
          <a:p>
            <a:pPr marL="1371600" lvl="2" indent="-457200">
              <a:buFont typeface="+mj-lt"/>
              <a:buAutoNum type="alphaLcParenR"/>
            </a:pPr>
            <a:r>
              <a:rPr lang="en-IN" sz="2000" b="1" dirty="0" err="1"/>
              <a:t>Septicemic</a:t>
            </a:r>
            <a:r>
              <a:rPr lang="en-IN" sz="2000" b="1" dirty="0"/>
              <a:t> Malaria: </a:t>
            </a:r>
            <a:r>
              <a:rPr lang="en-IN" sz="2000" dirty="0"/>
              <a:t>Features of </a:t>
            </a:r>
            <a:r>
              <a:rPr lang="en-IN" sz="2000" b="1" dirty="0" err="1"/>
              <a:t>septicemia</a:t>
            </a:r>
            <a:r>
              <a:rPr lang="en-IN" sz="2000" b="1" dirty="0"/>
              <a:t> and circulatory failure.</a:t>
            </a:r>
          </a:p>
          <a:p>
            <a:pPr marL="1371600" lvl="2" indent="-457200">
              <a:buFont typeface="+mj-lt"/>
              <a:buAutoNum type="alphaLcParenR"/>
            </a:pPr>
            <a:endParaRPr lang="en-IN" sz="2000" b="1" dirty="0"/>
          </a:p>
          <a:p>
            <a:pPr marL="914400" lvl="1" indent="-457200">
              <a:buFont typeface="+mj-lt"/>
              <a:buAutoNum type="arabicPeriod"/>
            </a:pPr>
            <a:r>
              <a:rPr lang="en-IN" sz="2000" b="1" dirty="0"/>
              <a:t>Quartan Malaria: C</a:t>
            </a:r>
            <a:r>
              <a:rPr lang="en-IN" sz="2000" dirty="0"/>
              <a:t>aused by </a:t>
            </a:r>
            <a:r>
              <a:rPr lang="en-IN" sz="2000" b="1" dirty="0"/>
              <a:t>Plasmodium </a:t>
            </a:r>
            <a:r>
              <a:rPr lang="en-IN" sz="2000" b="1" dirty="0" err="1"/>
              <a:t>malariae</a:t>
            </a:r>
            <a:r>
              <a:rPr lang="en-IN" sz="2000" b="1" dirty="0"/>
              <a:t>, fever occurs once every 4 days</a:t>
            </a:r>
            <a:r>
              <a:rPr lang="en-IN" sz="20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endParaRPr lang="en-IN" sz="2000" dirty="0"/>
          </a:p>
          <a:p>
            <a:pPr marL="914400" lvl="1" indent="-457200">
              <a:buFont typeface="+mj-lt"/>
              <a:buAutoNum type="arabicPeriod"/>
            </a:pPr>
            <a:r>
              <a:rPr lang="en-IN" sz="2000" b="1" dirty="0" err="1"/>
              <a:t>Ovale</a:t>
            </a:r>
            <a:r>
              <a:rPr lang="en-IN" sz="2000" b="1" dirty="0"/>
              <a:t> Malaria: C</a:t>
            </a:r>
            <a:r>
              <a:rPr lang="en-IN" sz="2000" dirty="0"/>
              <a:t>aused by </a:t>
            </a:r>
            <a:r>
              <a:rPr lang="en-IN" sz="2000" b="1" dirty="0"/>
              <a:t>Plasmodium </a:t>
            </a:r>
            <a:r>
              <a:rPr lang="en-IN" sz="2000" b="1" dirty="0" err="1"/>
              <a:t>ovale</a:t>
            </a:r>
            <a:r>
              <a:rPr lang="en-IN" sz="2000" dirty="0"/>
              <a:t>. It is found </a:t>
            </a:r>
            <a:r>
              <a:rPr lang="en-IN" sz="2000" b="1" dirty="0"/>
              <a:t>mainly in Africa</a:t>
            </a:r>
            <a:r>
              <a:rPr lang="en-IN" sz="2000" dirty="0"/>
              <a:t> and is relatively uncommon.</a:t>
            </a:r>
          </a:p>
        </p:txBody>
      </p:sp>
    </p:spTree>
    <p:extLst>
      <p:ext uri="{BB962C8B-B14F-4D97-AF65-F5344CB8AC3E}">
        <p14:creationId xmlns:p14="http://schemas.microsoft.com/office/powerpoint/2010/main" val="132169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607DFC-0E6B-EEFF-0857-39351DDA00E4}"/>
              </a:ext>
            </a:extLst>
          </p:cNvPr>
          <p:cNvSpPr txBox="1"/>
          <p:nvPr/>
        </p:nvSpPr>
        <p:spPr>
          <a:xfrm>
            <a:off x="131379" y="58846"/>
            <a:ext cx="11929241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IN" b="1" dirty="0"/>
              <a:t>Investigations: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b="1" dirty="0"/>
              <a:t>Blood Smear for Malarial Parasites (MP): </a:t>
            </a:r>
            <a:r>
              <a:rPr lang="en-IN" dirty="0"/>
              <a:t>Two types of blood smears are used: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b="1" dirty="0"/>
              <a:t>Thick Blood Smear: </a:t>
            </a:r>
            <a:r>
              <a:rPr lang="en-IN" dirty="0"/>
              <a:t>Shows whether the slide is positive or negative for malaria parasite.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b="1" dirty="0"/>
              <a:t>Thin Blood Smear: </a:t>
            </a:r>
            <a:r>
              <a:rPr lang="en-IN" dirty="0"/>
              <a:t>Helps to identify the species of Plasmodium, Shows the stage of parasite development inside red blood cells.</a:t>
            </a:r>
          </a:p>
          <a:p>
            <a:pPr lvl="2"/>
            <a:endParaRPr lang="en-IN" dirty="0"/>
          </a:p>
          <a:p>
            <a:pPr marL="342900" indent="-342900">
              <a:buFont typeface="Wingdings" pitchFamily="2" charset="2"/>
              <a:buChar char="v"/>
            </a:pPr>
            <a:r>
              <a:rPr lang="en-IN" b="1" dirty="0"/>
              <a:t>Measurement of Malaria (</a:t>
            </a:r>
            <a:r>
              <a:rPr lang="en-IN" b="1" dirty="0" err="1"/>
              <a:t>Malariometry</a:t>
            </a:r>
            <a:r>
              <a:rPr lang="en-IN" b="1" dirty="0"/>
              <a:t> indicators): </a:t>
            </a:r>
            <a:r>
              <a:rPr lang="en-IN" dirty="0"/>
              <a:t>Measures the magnitude of malaria in a community for planning and evaluating control measures by: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Epidemiological parameters</a:t>
            </a:r>
            <a:r>
              <a:rPr lang="en-IN" dirty="0"/>
              <a:t> (prevalence and incidence rates).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Entomological parameters</a:t>
            </a:r>
            <a:r>
              <a:rPr lang="en-IN" dirty="0"/>
              <a:t> (vector indices).</a:t>
            </a:r>
          </a:p>
          <a:p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Epidemiological Parameters: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IN" b="1" dirty="0"/>
              <a:t>Prevalence Rates of Malaria: </a:t>
            </a:r>
            <a:r>
              <a:rPr lang="en-IN" dirty="0"/>
              <a:t>Used mainly during the </a:t>
            </a:r>
            <a:r>
              <a:rPr lang="en-IN" b="1" dirty="0"/>
              <a:t>pre-eradication era</a:t>
            </a:r>
            <a:r>
              <a:rPr lang="en-IN" dirty="0"/>
              <a:t>.</a:t>
            </a:r>
          </a:p>
          <a:p>
            <a:pPr marL="1371600" lvl="2" indent="-457200">
              <a:buFont typeface="+mj-lt"/>
              <a:buAutoNum type="romanLcPeriod"/>
            </a:pPr>
            <a:r>
              <a:rPr lang="en-IN" b="1" dirty="0"/>
              <a:t>Child Spleen Rate: </a:t>
            </a:r>
            <a:r>
              <a:rPr lang="en-IN" dirty="0"/>
              <a:t>Percentage of children aged </a:t>
            </a:r>
            <a:r>
              <a:rPr lang="en-IN" b="1" dirty="0"/>
              <a:t>2–10 years</a:t>
            </a:r>
            <a:r>
              <a:rPr lang="en-IN" dirty="0"/>
              <a:t> with enlarged spleen due to malaria.</a:t>
            </a:r>
          </a:p>
          <a:p>
            <a:pPr marL="1371600" lvl="2" indent="-457200">
              <a:buFont typeface="+mj-lt"/>
              <a:buAutoNum type="romanLcPeriod"/>
            </a:pPr>
            <a:r>
              <a:rPr lang="en-IN" b="1" dirty="0"/>
              <a:t>Average Enlarged Spleen: R</a:t>
            </a:r>
            <a:r>
              <a:rPr lang="en-IN" dirty="0"/>
              <a:t>efined indicator showing the </a:t>
            </a:r>
            <a:r>
              <a:rPr lang="en-IN" b="1" dirty="0"/>
              <a:t>average size of enlarged spleen</a:t>
            </a:r>
            <a:r>
              <a:rPr lang="en-IN" dirty="0"/>
              <a:t>.</a:t>
            </a:r>
          </a:p>
          <a:p>
            <a:pPr marL="1371600" lvl="2" indent="-457200">
              <a:buFont typeface="+mj-lt"/>
              <a:buAutoNum type="romanLcPeriod"/>
            </a:pPr>
            <a:r>
              <a:rPr lang="en-IN" b="1" dirty="0"/>
              <a:t>Child Parasite Rate: </a:t>
            </a:r>
            <a:r>
              <a:rPr lang="en-IN" dirty="0"/>
              <a:t>Percentage of children aged </a:t>
            </a:r>
            <a:r>
              <a:rPr lang="en-IN" b="1" dirty="0"/>
              <a:t>2 - 10 years</a:t>
            </a:r>
            <a:r>
              <a:rPr lang="en-IN" dirty="0"/>
              <a:t> who are positive for malaria parasite in blood smear.</a:t>
            </a:r>
          </a:p>
          <a:p>
            <a:pPr marL="1371600" lvl="2" indent="-457200">
              <a:buFont typeface="+mj-lt"/>
              <a:buAutoNum type="romanLcPeriod"/>
            </a:pPr>
            <a:r>
              <a:rPr lang="en-IN" b="1" dirty="0"/>
              <a:t>Parasite Density Index: </a:t>
            </a:r>
            <a:r>
              <a:rPr lang="en-IN" dirty="0"/>
              <a:t>Average number of malaria parasites per </a:t>
            </a:r>
            <a:r>
              <a:rPr lang="en-IN" b="1" dirty="0"/>
              <a:t>cubic millimetre of blood, </a:t>
            </a:r>
            <a:r>
              <a:rPr lang="en-IN" dirty="0"/>
              <a:t>Calculated from all positive blood slides.</a:t>
            </a:r>
          </a:p>
          <a:p>
            <a:pPr marL="1371600" lvl="2" indent="-457200">
              <a:buFont typeface="+mj-lt"/>
              <a:buAutoNum type="romanLcPeriod"/>
            </a:pPr>
            <a:r>
              <a:rPr lang="en-IN" b="1" dirty="0"/>
              <a:t>Infant Parasite Rate: </a:t>
            </a:r>
            <a:r>
              <a:rPr lang="en-IN" dirty="0"/>
              <a:t>Percentage of </a:t>
            </a:r>
            <a:r>
              <a:rPr lang="en-IN" b="1" dirty="0"/>
              <a:t>infants</a:t>
            </a:r>
            <a:r>
              <a:rPr lang="en-IN" dirty="0"/>
              <a:t> positive for malaria parasite (</a:t>
            </a:r>
            <a:r>
              <a:rPr lang="en-IN" b="1" dirty="0"/>
              <a:t>most sensitive indicator), </a:t>
            </a:r>
            <a:r>
              <a:rPr lang="en-IN" dirty="0"/>
              <a:t>Indicates </a:t>
            </a:r>
            <a:r>
              <a:rPr lang="en-IN" b="1" dirty="0"/>
              <a:t>active transmission. </a:t>
            </a:r>
            <a:r>
              <a:rPr lang="en-IN" dirty="0"/>
              <a:t>If infant parasite rate is zero for </a:t>
            </a:r>
            <a:r>
              <a:rPr lang="en-IN" b="1" dirty="0"/>
              <a:t>3 consecutive years</a:t>
            </a:r>
            <a:r>
              <a:rPr lang="en-IN" dirty="0"/>
              <a:t>, malaria transmission is considered absent, though mosquitoes may still be present.</a:t>
            </a:r>
          </a:p>
          <a:p>
            <a:pPr marL="1371600" lvl="2" indent="-457200">
              <a:buFont typeface="+mj-lt"/>
              <a:buAutoNum type="romanLcPeriod"/>
            </a:pPr>
            <a:r>
              <a:rPr lang="en-IN" b="1" dirty="0"/>
              <a:t>Proportional Case Rate: </a:t>
            </a:r>
            <a:r>
              <a:rPr lang="en-IN" dirty="0"/>
              <a:t>Percentage of </a:t>
            </a:r>
            <a:r>
              <a:rPr lang="en-IN" b="1" dirty="0"/>
              <a:t>outpatients attending hospitals</a:t>
            </a:r>
            <a:r>
              <a:rPr lang="en-IN" dirty="0"/>
              <a:t> who are clinically diagnosed with malaria </a:t>
            </a:r>
            <a:r>
              <a:rPr lang="en-IN" b="1" dirty="0"/>
              <a:t>(Crude indicator).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6039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F02B1C-031E-D1DA-35C8-8DE7C2F03D5E}"/>
              </a:ext>
            </a:extLst>
          </p:cNvPr>
          <p:cNvSpPr txBox="1"/>
          <p:nvPr/>
        </p:nvSpPr>
        <p:spPr>
          <a:xfrm>
            <a:off x="186266" y="458956"/>
            <a:ext cx="11819467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IN" sz="2000" b="1" dirty="0"/>
              <a:t>b). Incidence Rates of Malaria:</a:t>
            </a:r>
          </a:p>
          <a:p>
            <a:pPr lvl="1"/>
            <a:endParaRPr lang="en-IN" sz="2000" b="1" dirty="0"/>
          </a:p>
          <a:p>
            <a:pPr marL="1314450" lvl="2" indent="-400050">
              <a:buFont typeface="+mj-lt"/>
              <a:buAutoNum type="romanLcPeriod"/>
            </a:pPr>
            <a:r>
              <a:rPr lang="en-IN" sz="2000" b="1" dirty="0"/>
              <a:t>Annual Blood Examination Rate (ABER):  </a:t>
            </a:r>
            <a:r>
              <a:rPr lang="en-IN" sz="2000" dirty="0"/>
              <a:t>ABER is the </a:t>
            </a:r>
            <a:r>
              <a:rPr lang="en-IN" sz="2000" b="1" dirty="0"/>
              <a:t>percentage of population examined</a:t>
            </a:r>
            <a:r>
              <a:rPr lang="en-IN" sz="2000" dirty="0"/>
              <a:t> for malaria by peripheral blood smear in one year.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IN" sz="2000" b="1" dirty="0"/>
              <a:t>Annual Parasite Incidence (API): </a:t>
            </a:r>
            <a:r>
              <a:rPr lang="en-IN" sz="2000" dirty="0"/>
              <a:t>API is the number of </a:t>
            </a:r>
            <a:r>
              <a:rPr lang="en-IN" sz="2000" b="1" dirty="0"/>
              <a:t>confirmed malaria cases per 1,000 population</a:t>
            </a:r>
            <a:r>
              <a:rPr lang="en-IN" sz="2000" dirty="0"/>
              <a:t> in a year.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IN" sz="2000" b="1" dirty="0"/>
              <a:t>Annual Falciparum Incidence (AFI): </a:t>
            </a:r>
            <a:r>
              <a:rPr lang="en-IN" sz="2000" dirty="0"/>
              <a:t>AFI is the number of </a:t>
            </a:r>
            <a:r>
              <a:rPr lang="en-IN" sz="2000" b="1" dirty="0"/>
              <a:t>confirmed falciparum malaria cases per 1,000 population</a:t>
            </a:r>
            <a:r>
              <a:rPr lang="en-IN" sz="2000" dirty="0"/>
              <a:t> in a year.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IN" sz="2000" b="1" dirty="0"/>
              <a:t>Plasmodium Falciparum Percentage (PF%): </a:t>
            </a:r>
            <a:r>
              <a:rPr lang="en-IN" sz="2000" dirty="0"/>
              <a:t>PF % is the percentage of blood smears positive for </a:t>
            </a:r>
            <a:r>
              <a:rPr lang="en-IN" sz="2000" i="1" dirty="0"/>
              <a:t>P. falciparum</a:t>
            </a:r>
            <a:r>
              <a:rPr lang="en-IN" sz="2000" dirty="0"/>
              <a:t>.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IN" sz="2000" b="1" dirty="0"/>
              <a:t>Slide Positivity Rate (SPR): </a:t>
            </a:r>
            <a:r>
              <a:rPr lang="en-IN" sz="2000" dirty="0"/>
              <a:t>SPR is the percentage of blood smears positive for malaria parasites.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IN" sz="2000" b="1" dirty="0"/>
              <a:t>Slide Falciparum Rate (SFR): </a:t>
            </a:r>
            <a:r>
              <a:rPr lang="en-IN" sz="2000" dirty="0"/>
              <a:t>SFR is the percentage of blood smears positive for </a:t>
            </a:r>
            <a:r>
              <a:rPr lang="en-IN" sz="2000" i="1" dirty="0"/>
              <a:t>P. falciparum</a:t>
            </a:r>
            <a:r>
              <a:rPr lang="en-IN" sz="2000" dirty="0"/>
              <a:t>.</a:t>
            </a:r>
          </a:p>
          <a:p>
            <a:pPr lvl="2"/>
            <a:endParaRPr lang="en-IN" sz="2000" dirty="0"/>
          </a:p>
          <a:p>
            <a:pPr marL="285750" indent="-285750">
              <a:buFont typeface="Wingdings" pitchFamily="2" charset="2"/>
              <a:buChar char="v"/>
            </a:pPr>
            <a:r>
              <a:rPr lang="en-IN" sz="2000" b="1" dirty="0"/>
              <a:t>Importance of Slide Positivity Rate (SPR) and Slide Falciparum Rate (SFR):</a:t>
            </a:r>
          </a:p>
          <a:p>
            <a:pPr marL="285750" indent="-285750">
              <a:buFont typeface="Wingdings" pitchFamily="2" charset="2"/>
              <a:buChar char="v"/>
            </a:pPr>
            <a:endParaRPr lang="en-IN" sz="2000" b="1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2000" dirty="0"/>
              <a:t>Slide falciparum rate helps in identifying areas where </a:t>
            </a:r>
            <a:r>
              <a:rPr lang="en-IN" sz="2000" i="1" dirty="0"/>
              <a:t>Plasmodium falciparum</a:t>
            </a:r>
            <a:r>
              <a:rPr lang="en-IN" sz="2000" dirty="0"/>
              <a:t> is predominant.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2000" dirty="0"/>
              <a:t>It indicates the need for intensification of control measures because falciparum malaria is more dangerous.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2000" dirty="0"/>
              <a:t>SPR and SFR also help in studying trends of malaria transmission by comparing data over previous years.</a:t>
            </a:r>
          </a:p>
        </p:txBody>
      </p:sp>
    </p:spTree>
    <p:extLst>
      <p:ext uri="{BB962C8B-B14F-4D97-AF65-F5344CB8AC3E}">
        <p14:creationId xmlns:p14="http://schemas.microsoft.com/office/powerpoint/2010/main" val="3620540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0BF37D-60F0-5995-4289-8CBFFC2AF836}"/>
              </a:ext>
            </a:extLst>
          </p:cNvPr>
          <p:cNvSpPr txBox="1"/>
          <p:nvPr/>
        </p:nvSpPr>
        <p:spPr>
          <a:xfrm>
            <a:off x="127000" y="151179"/>
            <a:ext cx="11937999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2. Entomological Parameters (Vector Indices):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000" b="1" dirty="0"/>
              <a:t>Adult Vector Density (Mosquito Density): </a:t>
            </a:r>
            <a:r>
              <a:rPr lang="en-IN" sz="2000" dirty="0"/>
              <a:t>It is the number of mosquitoes per man per hour.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000" b="1" dirty="0"/>
              <a:t>Human Blood Index: </a:t>
            </a:r>
            <a:r>
              <a:rPr lang="en-IN" sz="2000" dirty="0"/>
              <a:t>Percentage of female Anopheles mosquitoes containing human blood in the stomach. Indicates the degree of anthropophilic </a:t>
            </a:r>
            <a:r>
              <a:rPr lang="en-IN" sz="2000" dirty="0" err="1"/>
              <a:t>behavior</a:t>
            </a:r>
            <a:r>
              <a:rPr lang="en-IN" sz="2000" dirty="0"/>
              <a:t> of the vector.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000" b="1" dirty="0"/>
              <a:t>Sporozoite Rate: </a:t>
            </a:r>
            <a:r>
              <a:rPr lang="en-IN" sz="2000" dirty="0"/>
              <a:t>Percentage of female Anopheles mosquitoes having sporozoites in their salivary glands.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000" b="1" dirty="0"/>
              <a:t>Biting Density (Man-Biting Rate): </a:t>
            </a:r>
            <a:r>
              <a:rPr lang="en-IN" sz="2000" dirty="0"/>
              <a:t>Average number of Anopheles bites per person per day. Determined by catching mosquitoes using human bait.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000" b="1" dirty="0"/>
              <a:t>Inoculation Rate: </a:t>
            </a:r>
            <a:r>
              <a:rPr lang="en-IN" sz="2000" dirty="0"/>
              <a:t>Product of biting density and sporozoite rate, Indicates the risk of transmission.</a:t>
            </a:r>
          </a:p>
          <a:p>
            <a:pPr marL="971550" lvl="1" indent="-514350">
              <a:buFont typeface="+mj-lt"/>
              <a:buAutoNum type="romanLcPeriod"/>
            </a:pPr>
            <a:endParaRPr lang="en-IN" sz="2000" dirty="0"/>
          </a:p>
          <a:p>
            <a:pPr marL="342900" indent="-342900">
              <a:buFont typeface="Wingdings" pitchFamily="2" charset="2"/>
              <a:buChar char="v"/>
            </a:pPr>
            <a:r>
              <a:rPr lang="en-IN" sz="2000" b="1" dirty="0"/>
              <a:t>Diagnosis of Malaria: </a:t>
            </a:r>
            <a:r>
              <a:rPr lang="en-IN" sz="2000" dirty="0"/>
              <a:t>All suspected malaria cases must be </a:t>
            </a:r>
            <a:r>
              <a:rPr lang="en-IN" sz="2000" b="1" dirty="0"/>
              <a:t>confirmed by parasitological diagnosis</a:t>
            </a:r>
            <a:r>
              <a:rPr lang="en-IN" sz="20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b="1" dirty="0"/>
              <a:t>Methods of Diagnosis: </a:t>
            </a:r>
          </a:p>
          <a:p>
            <a:pPr marL="914400" lvl="1" indent="-457200">
              <a:buFont typeface="+mj-lt"/>
              <a:buAutoNum type="arabicPeriod"/>
            </a:pPr>
            <a:endParaRPr lang="en-IN" sz="2000" b="1" dirty="0"/>
          </a:p>
          <a:p>
            <a:pPr marL="1371600" lvl="2" indent="-457200">
              <a:buFont typeface="+mj-lt"/>
              <a:buAutoNum type="alphaLcParenR"/>
            </a:pPr>
            <a:r>
              <a:rPr lang="en-IN" sz="2000" b="1" dirty="0"/>
              <a:t>Light Microscopy Examination: </a:t>
            </a:r>
            <a:r>
              <a:rPr lang="en-IN" sz="2000" dirty="0"/>
              <a:t>Examination of thick and thin blood films</a:t>
            </a:r>
          </a:p>
          <a:p>
            <a:pPr marL="1885950" lvl="3" indent="-514350">
              <a:buFont typeface="+mj-lt"/>
              <a:buAutoNum type="romanLcPeriod"/>
            </a:pPr>
            <a:r>
              <a:rPr lang="en-IN" sz="2000" b="1" dirty="0"/>
              <a:t>Thick smear</a:t>
            </a:r>
            <a:r>
              <a:rPr lang="en-IN" sz="2000" dirty="0"/>
              <a:t>: Detects presence or absence of parasites.</a:t>
            </a:r>
          </a:p>
          <a:p>
            <a:pPr marL="1885950" lvl="3" indent="-514350">
              <a:buFont typeface="+mj-lt"/>
              <a:buAutoNum type="romanLcPeriod"/>
            </a:pPr>
            <a:r>
              <a:rPr lang="en-IN" sz="2000" b="1" dirty="0"/>
              <a:t>Thin smear</a:t>
            </a:r>
            <a:r>
              <a:rPr lang="en-IN" sz="2000" dirty="0"/>
              <a:t>: Identifies species and stage of parasites.</a:t>
            </a:r>
          </a:p>
          <a:p>
            <a:pPr marL="1428750" lvl="2" indent="-514350">
              <a:buFont typeface="+mj-lt"/>
              <a:buAutoNum type="alphaLcParenR"/>
            </a:pPr>
            <a:endParaRPr lang="en-IN" sz="2000" b="1" dirty="0"/>
          </a:p>
          <a:p>
            <a:pPr marL="1428750" lvl="2" indent="-514350">
              <a:buFont typeface="+mj-lt"/>
              <a:buAutoNum type="alphaLcParenR"/>
            </a:pPr>
            <a:r>
              <a:rPr lang="en-IN" sz="2000" b="1" dirty="0"/>
              <a:t>Rapid Diagnostic Tests (RDTs): </a:t>
            </a:r>
            <a:r>
              <a:rPr lang="en-IN" sz="2000" dirty="0"/>
              <a:t>Based on immunochromatographic technique, Detect malarial antigens in blood &amp; Available as: </a:t>
            </a:r>
          </a:p>
          <a:p>
            <a:pPr marL="1885950" lvl="3" indent="-514350">
              <a:buFont typeface="+mj-lt"/>
              <a:buAutoNum type="romanLcPeriod"/>
            </a:pPr>
            <a:r>
              <a:rPr lang="en-IN" sz="2000" b="1" dirty="0"/>
              <a:t>Dipstick type test.</a:t>
            </a:r>
          </a:p>
          <a:p>
            <a:pPr marL="1885950" lvl="3" indent="-514350">
              <a:buFont typeface="+mj-lt"/>
              <a:buAutoNum type="romanLcPeriod"/>
            </a:pPr>
            <a:r>
              <a:rPr lang="en-IN" sz="2000" b="1" dirty="0"/>
              <a:t>Card test. </a:t>
            </a:r>
          </a:p>
          <a:p>
            <a:pPr lvl="3"/>
            <a:r>
              <a:rPr lang="en-IN" sz="2000" dirty="0"/>
              <a:t>Can detect: </a:t>
            </a:r>
            <a:r>
              <a:rPr lang="en-IN" sz="2000" i="1" dirty="0"/>
              <a:t>P. falciparum</a:t>
            </a:r>
            <a:r>
              <a:rPr lang="en-IN" sz="2000" dirty="0"/>
              <a:t>, or </a:t>
            </a:r>
            <a:r>
              <a:rPr lang="en-IN" sz="2000" i="1" dirty="0"/>
              <a:t>P. falciparum</a:t>
            </a:r>
            <a:r>
              <a:rPr lang="en-IN" sz="2000" dirty="0"/>
              <a:t> and </a:t>
            </a:r>
            <a:r>
              <a:rPr lang="en-IN" sz="2000" i="1" dirty="0"/>
              <a:t>P. vivax. </a:t>
            </a:r>
            <a:r>
              <a:rPr lang="en-IN" sz="2000" dirty="0"/>
              <a:t>Results available within </a:t>
            </a:r>
            <a:r>
              <a:rPr lang="en-IN" sz="2000" b="1" dirty="0"/>
              <a:t>15 minutes.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69866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FD4715-3F68-FE36-437E-D2C7BBDA5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6" y="931333"/>
            <a:ext cx="8331201" cy="59266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7A8C88-24AB-4310-0504-808D04B9BFB3}"/>
              </a:ext>
            </a:extLst>
          </p:cNvPr>
          <p:cNvSpPr txBox="1"/>
          <p:nvPr/>
        </p:nvSpPr>
        <p:spPr>
          <a:xfrm>
            <a:off x="8974667" y="2764571"/>
            <a:ext cx="308186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1. ACT-AL - </a:t>
            </a:r>
            <a:r>
              <a:rPr lang="en-IN" sz="2000" dirty="0">
                <a:solidFill>
                  <a:srgbClr val="FF0000"/>
                </a:solidFill>
              </a:rPr>
              <a:t>Artemisinin-based Combination Therapy- Artemether - Lumefantrine.</a:t>
            </a:r>
          </a:p>
          <a:p>
            <a:endParaRPr lang="en-IN" sz="2000" dirty="0">
              <a:solidFill>
                <a:srgbClr val="FF0000"/>
              </a:solidFill>
            </a:endParaRPr>
          </a:p>
          <a:p>
            <a:r>
              <a:rPr lang="en-IN" sz="2000" b="1" dirty="0"/>
              <a:t>2. ACT-SP- </a:t>
            </a:r>
            <a:r>
              <a:rPr lang="en-IN" sz="2000" dirty="0">
                <a:solidFill>
                  <a:srgbClr val="FF0000"/>
                </a:solidFill>
              </a:rPr>
              <a:t>Artemisinin-based Combination Therapy (Artesunate + </a:t>
            </a:r>
            <a:r>
              <a:rPr lang="en-IN" sz="2000" dirty="0" err="1">
                <a:solidFill>
                  <a:srgbClr val="FF0000"/>
                </a:solidFill>
              </a:rPr>
              <a:t>Sulfadoxine</a:t>
            </a:r>
            <a:r>
              <a:rPr lang="en-IN" sz="2000" dirty="0">
                <a:solidFill>
                  <a:srgbClr val="FF0000"/>
                </a:solidFill>
              </a:rPr>
              <a:t> Pyrimethamine).</a:t>
            </a:r>
          </a:p>
          <a:p>
            <a:endParaRPr lang="en-IN" sz="2000" dirty="0">
              <a:solidFill>
                <a:srgbClr val="FF0000"/>
              </a:solidFill>
            </a:endParaRPr>
          </a:p>
          <a:p>
            <a:r>
              <a:rPr lang="en-IN" sz="2000" b="1" dirty="0"/>
              <a:t>3. CQ </a:t>
            </a:r>
            <a:r>
              <a:rPr lang="en-IN" sz="2000" dirty="0">
                <a:solidFill>
                  <a:srgbClr val="FF0000"/>
                </a:solidFill>
              </a:rPr>
              <a:t>– Chloroquine. </a:t>
            </a:r>
          </a:p>
          <a:p>
            <a:endParaRPr lang="en-IN" sz="2000" dirty="0">
              <a:solidFill>
                <a:srgbClr val="FF0000"/>
              </a:solidFill>
            </a:endParaRPr>
          </a:p>
          <a:p>
            <a:r>
              <a:rPr lang="en-IN" sz="2000" b="1" dirty="0"/>
              <a:t>4. PQ – </a:t>
            </a:r>
            <a:r>
              <a:rPr lang="en-IN" sz="2000" dirty="0">
                <a:solidFill>
                  <a:srgbClr val="FF0000"/>
                </a:solidFill>
              </a:rPr>
              <a:t>Primaquine.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25DF3A-EBBD-343F-B778-48F829754F34}"/>
              </a:ext>
            </a:extLst>
          </p:cNvPr>
          <p:cNvSpPr txBox="1"/>
          <p:nvPr/>
        </p:nvSpPr>
        <p:spPr>
          <a:xfrm>
            <a:off x="135466" y="186265"/>
            <a:ext cx="11463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Malaria Treatment, Where microscopy result is available within 24 hours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13587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8788FC-B491-55AF-2865-516C8805B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199" y="829733"/>
            <a:ext cx="10583333" cy="5902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44426D-6AFA-995E-36B0-4E11E4EB9659}"/>
              </a:ext>
            </a:extLst>
          </p:cNvPr>
          <p:cNvSpPr txBox="1"/>
          <p:nvPr/>
        </p:nvSpPr>
        <p:spPr>
          <a:xfrm>
            <a:off x="3005667" y="267773"/>
            <a:ext cx="6180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Where microscopy result is not available within 24 hours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2305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0124A5D-F44B-93BF-9844-EFC86810B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323668"/>
              </p:ext>
            </p:extLst>
          </p:nvPr>
        </p:nvGraphicFramePr>
        <p:xfrm>
          <a:off x="0" y="0"/>
          <a:ext cx="12192001" cy="3198056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486229">
                  <a:extLst>
                    <a:ext uri="{9D8B030D-6E8A-4147-A177-3AD203B41FA5}">
                      <a16:colId xmlns:a16="http://schemas.microsoft.com/office/drawing/2014/main" val="810247198"/>
                    </a:ext>
                  </a:extLst>
                </a:gridCol>
                <a:gridCol w="3266843">
                  <a:extLst>
                    <a:ext uri="{9D8B030D-6E8A-4147-A177-3AD203B41FA5}">
                      <a16:colId xmlns:a16="http://schemas.microsoft.com/office/drawing/2014/main" val="1957849106"/>
                    </a:ext>
                  </a:extLst>
                </a:gridCol>
                <a:gridCol w="3390928">
                  <a:extLst>
                    <a:ext uri="{9D8B030D-6E8A-4147-A177-3AD203B41FA5}">
                      <a16:colId xmlns:a16="http://schemas.microsoft.com/office/drawing/2014/main" val="3402863370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15131237"/>
                    </a:ext>
                  </a:extLst>
                </a:gridCol>
              </a:tblGrid>
              <a:tr h="411631">
                <a:tc gridSpan="4"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Chloroquine Dosage schedule for P. Vivax Cases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1606181"/>
                  </a:ext>
                </a:extLst>
              </a:tr>
              <a:tr h="411631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Age (years)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Day 1 (10mg/kg) or Tablet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Day 2 (10mg/kg) or Tablet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Day 3 (5mg/kg) or Tablet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8222693"/>
                  </a:ext>
                </a:extLst>
              </a:tr>
              <a:tr h="411631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&lt;1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½ tablet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½ tablet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¼ tablet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264741"/>
                  </a:ext>
                </a:extLst>
              </a:tr>
              <a:tr h="411631"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1–4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 tablet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1 tablet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½ tablet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497050"/>
                  </a:ext>
                </a:extLst>
              </a:tr>
              <a:tr h="411631"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5–8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2 tablets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2 tablets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 tablet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251406"/>
                  </a:ext>
                </a:extLst>
              </a:tr>
              <a:tr h="411631"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9–14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3 tablets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3 tablets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1½ tablets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688019"/>
                  </a:ext>
                </a:extLst>
              </a:tr>
              <a:tr h="72827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≥15 years (including pregnant women)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4 tablets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4 tablets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2 tablets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02190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58249EF-5618-F3D0-7262-EE7632238193}"/>
              </a:ext>
            </a:extLst>
          </p:cNvPr>
          <p:cNvSpPr txBox="1"/>
          <p:nvPr/>
        </p:nvSpPr>
        <p:spPr>
          <a:xfrm>
            <a:off x="143934" y="3337467"/>
            <a:ext cx="11904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One chloroquine tablet = </a:t>
            </a:r>
            <a:r>
              <a:rPr lang="en-IN" b="1" dirty="0"/>
              <a:t>250 mg (150 mg base), </a:t>
            </a:r>
            <a:r>
              <a:rPr lang="en-IN" dirty="0"/>
              <a:t>Adults receive </a:t>
            </a:r>
            <a:r>
              <a:rPr lang="en-IN" b="1" dirty="0"/>
              <a:t>600 mg on Day 1 &amp; Day 2</a:t>
            </a:r>
            <a:r>
              <a:rPr lang="en-IN" dirty="0"/>
              <a:t>, and </a:t>
            </a:r>
            <a:r>
              <a:rPr lang="en-IN" b="1" dirty="0"/>
              <a:t>300 mg on Day 3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86E304-BBBE-6DE7-5DD8-8F94EE834E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183086"/>
              </p:ext>
            </p:extLst>
          </p:nvPr>
        </p:nvGraphicFramePr>
        <p:xfrm>
          <a:off x="0" y="3846210"/>
          <a:ext cx="12192000" cy="3011792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33927766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646196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8624195"/>
                    </a:ext>
                  </a:extLst>
                </a:gridCol>
              </a:tblGrid>
              <a:tr h="43025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/>
                        <a:t>Primaquine Dosage schedule for P. Vivax Cases (for 14 days)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589804"/>
                  </a:ext>
                </a:extLst>
              </a:tr>
              <a:tr h="430256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Age (years)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Daily dose (mg base)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No. of tablets (2.5 mg)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6371957"/>
                  </a:ext>
                </a:extLst>
              </a:tr>
              <a:tr h="430256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&lt;1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Nil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Nil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918167"/>
                  </a:ext>
                </a:extLst>
              </a:tr>
              <a:tr h="430256"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1–4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2.5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0015112"/>
                  </a:ext>
                </a:extLst>
              </a:tr>
              <a:tr h="430256"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5–8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5.0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23322"/>
                  </a:ext>
                </a:extLst>
              </a:tr>
              <a:tr h="430256"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9–14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4259950"/>
                  </a:ext>
                </a:extLst>
              </a:tr>
              <a:tr h="430256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≥15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15.0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940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812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11DB3A-BBB6-6160-CA72-A2BC550ADCAF}"/>
              </a:ext>
            </a:extLst>
          </p:cNvPr>
          <p:cNvSpPr txBox="1"/>
          <p:nvPr/>
        </p:nvSpPr>
        <p:spPr>
          <a:xfrm>
            <a:off x="147145" y="151179"/>
            <a:ext cx="1189771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IN" sz="2000" b="1" dirty="0"/>
              <a:t>Treatment of </a:t>
            </a:r>
            <a:r>
              <a:rPr lang="en-IN" sz="2000" b="1" i="1" dirty="0"/>
              <a:t>Plasmodium vivax</a:t>
            </a:r>
            <a:r>
              <a:rPr lang="en-IN" sz="2000" b="1" dirty="0"/>
              <a:t> Malaria: </a:t>
            </a:r>
            <a:r>
              <a:rPr lang="en-IN" sz="2000" dirty="0"/>
              <a:t>Confirmed cases should be treated with: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Chloroquine 25 mg/kg body weight</a:t>
            </a:r>
            <a:r>
              <a:rPr lang="en-IN" sz="2000" dirty="0"/>
              <a:t> divided over </a:t>
            </a:r>
            <a:r>
              <a:rPr lang="en-IN" sz="2000" b="1" dirty="0"/>
              <a:t>3 days.</a:t>
            </a:r>
            <a:endParaRPr lang="en-IN" sz="2000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Primaquine 0.25 mg/kg body weight daily for 14 days.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Treatment should be given </a:t>
            </a:r>
            <a:r>
              <a:rPr lang="en-IN" sz="2000" b="1" dirty="0"/>
              <a:t>under supervision, </a:t>
            </a:r>
            <a:r>
              <a:rPr lang="en-IN" sz="2000" dirty="0"/>
              <a:t>Chloroquine acts on blood stages, while </a:t>
            </a:r>
            <a:r>
              <a:rPr lang="en-IN" sz="2000" b="1" dirty="0"/>
              <a:t>primaquine eliminates liver forms</a:t>
            </a:r>
            <a:r>
              <a:rPr lang="en-IN" sz="2000" dirty="0"/>
              <a:t> and prevents relapse.</a:t>
            </a:r>
          </a:p>
          <a:p>
            <a:endParaRPr lang="en-IN" sz="2000" dirty="0"/>
          </a:p>
          <a:p>
            <a:pPr marL="342900" indent="-342900">
              <a:buFont typeface="Wingdings" pitchFamily="2" charset="2"/>
              <a:buChar char="v"/>
            </a:pPr>
            <a:r>
              <a:rPr lang="en-IN" sz="2000" b="1" dirty="0"/>
              <a:t>Treatment of </a:t>
            </a:r>
            <a:r>
              <a:rPr lang="en-IN" sz="2000" b="1" i="1" dirty="0"/>
              <a:t>Plasmodium falciparum</a:t>
            </a:r>
            <a:r>
              <a:rPr lang="en-IN" sz="2000" b="1" dirty="0"/>
              <a:t> Malaria: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All confirmed cases must receive </a:t>
            </a:r>
            <a:r>
              <a:rPr lang="en-IN" sz="2000" b="1" dirty="0"/>
              <a:t>Artemisinin-based Combination Therapy (ACT).</a:t>
            </a:r>
            <a:endParaRPr lang="en-IN" sz="2000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ACT should be combined with </a:t>
            </a:r>
            <a:r>
              <a:rPr lang="en-IN" sz="2000" b="1" dirty="0"/>
              <a:t>single-dose primaquine (0.75 mg/kg)</a:t>
            </a:r>
            <a:r>
              <a:rPr lang="en-IN" sz="2000" dirty="0"/>
              <a:t> on day 2.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Primaquine helps in </a:t>
            </a:r>
            <a:r>
              <a:rPr lang="en-IN" sz="2000" b="1" dirty="0"/>
              <a:t>gametocyte clearance and interruption of transmission.</a:t>
            </a:r>
            <a:endParaRPr lang="en-IN" sz="2000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Primaquine should NOT be used in: </a:t>
            </a:r>
            <a:r>
              <a:rPr lang="en-IN" sz="2000" dirty="0"/>
              <a:t>Pregnancy, Infants, G6PD-deficient individuals.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Wingdings" pitchFamily="2" charset="2"/>
              <a:buChar char="v"/>
            </a:pPr>
            <a:r>
              <a:rPr lang="en-IN" sz="2000" b="1" dirty="0"/>
              <a:t>Treatment of Mixed Infections: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dirty="0"/>
              <a:t>Mixed infections involving </a:t>
            </a:r>
            <a:r>
              <a:rPr lang="en-IN" sz="2000" i="1" dirty="0"/>
              <a:t>P. falciparum</a:t>
            </a:r>
            <a:r>
              <a:rPr lang="en-IN" sz="2000" dirty="0"/>
              <a:t> should be treated </a:t>
            </a:r>
            <a:r>
              <a:rPr lang="en-IN" sz="2000" b="1" dirty="0"/>
              <a:t>as falciparum malaria</a:t>
            </a:r>
            <a:r>
              <a:rPr lang="en-IN" sz="2000" dirty="0"/>
              <a:t>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Primaquine</a:t>
            </a:r>
            <a:r>
              <a:rPr lang="en-IN" sz="2000" dirty="0"/>
              <a:t> can be given for </a:t>
            </a:r>
            <a:r>
              <a:rPr lang="en-IN" sz="2000" b="1" dirty="0"/>
              <a:t>14 days</a:t>
            </a:r>
            <a:r>
              <a:rPr lang="en-IN" sz="2000" dirty="0"/>
              <a:t>, when indicated.</a:t>
            </a:r>
          </a:p>
          <a:p>
            <a:pPr marL="800100" lvl="1" indent="-342900">
              <a:buFont typeface="Wingdings" pitchFamily="2" charset="2"/>
              <a:buChar char="Ø"/>
            </a:pPr>
            <a:endParaRPr lang="en-IN" sz="2000" dirty="0"/>
          </a:p>
          <a:p>
            <a:pPr marL="285750" indent="-285750">
              <a:buFont typeface="Wingdings" pitchFamily="2" charset="2"/>
              <a:buChar char="v"/>
            </a:pPr>
            <a:r>
              <a:rPr lang="en-IN" sz="2000" b="1" dirty="0"/>
              <a:t>Treatment of Malaria in Pregnancy: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2000" dirty="0"/>
              <a:t>For </a:t>
            </a:r>
            <a:r>
              <a:rPr lang="en-IN" sz="2000" i="1" dirty="0"/>
              <a:t>Plasmodium falciparum</a:t>
            </a:r>
            <a:r>
              <a:rPr lang="en-IN" sz="2000" dirty="0"/>
              <a:t> malaria: </a:t>
            </a:r>
            <a:r>
              <a:rPr lang="en-IN" sz="2000" b="1" dirty="0"/>
              <a:t>Artemisinin-based combination therapy (ACT)</a:t>
            </a:r>
            <a:r>
              <a:rPr lang="en-IN" sz="2000" dirty="0"/>
              <a:t> is recommended in the </a:t>
            </a:r>
            <a:r>
              <a:rPr lang="en-IN" sz="2000" b="1" dirty="0"/>
              <a:t>second and third trimester. Quinine</a:t>
            </a:r>
            <a:r>
              <a:rPr lang="en-IN" sz="2000" dirty="0"/>
              <a:t> is recommended in the </a:t>
            </a:r>
            <a:r>
              <a:rPr lang="en-IN" sz="2000" b="1" dirty="0"/>
              <a:t>first trimester</a:t>
            </a:r>
            <a:r>
              <a:rPr lang="en-IN" sz="2000" dirty="0"/>
              <a:t>, </a:t>
            </a:r>
            <a:r>
              <a:rPr lang="en-IN" sz="2000" b="1" dirty="0"/>
              <a:t>Dose </a:t>
            </a:r>
            <a:r>
              <a:rPr lang="en-IN" sz="2000" dirty="0"/>
              <a:t>600 mg tablet </a:t>
            </a:r>
            <a:r>
              <a:rPr lang="en-IN" sz="2000" b="1" dirty="0"/>
              <a:t>three times daily for 7 days.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2000" i="1" dirty="0"/>
              <a:t>Plasmodium vivax</a:t>
            </a:r>
            <a:r>
              <a:rPr lang="en-IN" sz="2000" dirty="0"/>
              <a:t> malaria during pregnancy can be treated with </a:t>
            </a:r>
            <a:r>
              <a:rPr lang="en-IN" sz="2000" b="1" dirty="0"/>
              <a:t>chloroquine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7483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82DA61-B825-1217-F7E1-21D1ADA4F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508944"/>
              </p:ext>
            </p:extLst>
          </p:nvPr>
        </p:nvGraphicFramePr>
        <p:xfrm>
          <a:off x="0" y="0"/>
          <a:ext cx="12192000" cy="645788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320551519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08298679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85684048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06760878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779285069"/>
                    </a:ext>
                  </a:extLst>
                </a:gridCol>
              </a:tblGrid>
              <a:tr h="505738">
                <a:tc gridSpan="5"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Dosage Schedule of ACT for Plasmodium falciparum Cases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22900"/>
                  </a:ext>
                </a:extLst>
              </a:tr>
              <a:tr h="89476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Drug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Day 1 (No. of tablets)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Day 2 (No. of tablets)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Day 3 (No. of tablets)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0240048"/>
                  </a:ext>
                </a:extLst>
              </a:tr>
              <a:tr h="505738"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&lt; 1 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0385139"/>
                  </a:ext>
                </a:extLst>
              </a:tr>
              <a:tr h="505738">
                <a:tc>
                  <a:txBody>
                    <a:bodyPr/>
                    <a:lstStyle/>
                    <a:p>
                      <a:pPr algn="ctr"/>
                      <a:endParaRPr lang="en-IN" sz="20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SP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Nil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Nil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339490"/>
                  </a:ext>
                </a:extLst>
              </a:tr>
              <a:tr h="505738"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1–4 years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703031"/>
                  </a:ext>
                </a:extLst>
              </a:tr>
              <a:tr h="505738">
                <a:tc>
                  <a:txBody>
                    <a:bodyPr/>
                    <a:lstStyle/>
                    <a:p>
                      <a:pPr algn="ctr"/>
                      <a:endParaRPr lang="en-IN" sz="20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SP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Nil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Nil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806313"/>
                  </a:ext>
                </a:extLst>
              </a:tr>
              <a:tr h="505738"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5–8 years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9709791"/>
                  </a:ext>
                </a:extLst>
              </a:tr>
              <a:tr h="505738">
                <a:tc>
                  <a:txBody>
                    <a:bodyPr/>
                    <a:lstStyle/>
                    <a:p>
                      <a:pPr algn="ctr"/>
                      <a:endParaRPr lang="en-IN" sz="20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SP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Nil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Nil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959940"/>
                  </a:ext>
                </a:extLst>
              </a:tr>
              <a:tr h="505738"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9–14 years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340456"/>
                  </a:ext>
                </a:extLst>
              </a:tr>
              <a:tr h="505738">
                <a:tc>
                  <a:txBody>
                    <a:bodyPr/>
                    <a:lstStyle/>
                    <a:p>
                      <a:pPr algn="ctr"/>
                      <a:endParaRPr lang="en-IN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SP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Nil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Nil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59755"/>
                  </a:ext>
                </a:extLst>
              </a:tr>
              <a:tr h="505738"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15 years &amp; above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312917"/>
                  </a:ext>
                </a:extLst>
              </a:tr>
              <a:tr h="505738">
                <a:tc>
                  <a:txBody>
                    <a:bodyPr/>
                    <a:lstStyle/>
                    <a:p>
                      <a:pPr algn="ctr"/>
                      <a:endParaRPr lang="en-IN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SP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Nil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Nil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52270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8A72E2C-5A35-511A-57E7-4B5AF6F6F099}"/>
              </a:ext>
            </a:extLst>
          </p:cNvPr>
          <p:cNvSpPr txBox="1"/>
          <p:nvPr/>
        </p:nvSpPr>
        <p:spPr>
          <a:xfrm>
            <a:off x="-1" y="6457890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ACT = Artesunate (AS) + </a:t>
            </a:r>
            <a:r>
              <a:rPr lang="en-IN" sz="2000" b="1" dirty="0" err="1"/>
              <a:t>Sulfadoxine</a:t>
            </a:r>
            <a:r>
              <a:rPr lang="en-IN" sz="2000" b="1" dirty="0"/>
              <a:t> - Pyrimethamine (SP)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452057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90BE56-F78C-7ACE-6133-6F471CBB0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546963"/>
              </p:ext>
            </p:extLst>
          </p:nvPr>
        </p:nvGraphicFramePr>
        <p:xfrm>
          <a:off x="0" y="0"/>
          <a:ext cx="12192000" cy="648867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7046966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53237351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26621668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238835532"/>
                    </a:ext>
                  </a:extLst>
                </a:gridCol>
              </a:tblGrid>
              <a:tr h="905642">
                <a:tc gridSpan="4"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Dosage Schedule of Primaquine for P. falciparum </a:t>
                      </a:r>
                      <a:r>
                        <a:rPr lang="en-IN" sz="2000" b="1" dirty="0">
                          <a:solidFill>
                            <a:srgbClr val="FF0000"/>
                          </a:solidFill>
                        </a:rPr>
                        <a:t>(Single-Day Dose on 2nd day)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66497"/>
                  </a:ext>
                </a:extLst>
              </a:tr>
              <a:tr h="93050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Age (years)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Dose (mg of base)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No. of tablets (2.5 mg)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No. of tablets (7.5 mg)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9083438"/>
                  </a:ext>
                </a:extLst>
              </a:tr>
              <a:tr h="930505"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&lt;1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Nil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8333207"/>
                  </a:ext>
                </a:extLst>
              </a:tr>
              <a:tr h="930505"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1–4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7.5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064812"/>
                  </a:ext>
                </a:extLst>
              </a:tr>
              <a:tr h="930505"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5–8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2342181"/>
                  </a:ext>
                </a:extLst>
              </a:tr>
              <a:tr h="930505"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9–14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30.0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8866685"/>
                  </a:ext>
                </a:extLst>
              </a:tr>
              <a:tr h="930505"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15 and above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45.0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083599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B7EED07-DE1A-F5C3-B20D-D27093C76845}"/>
              </a:ext>
            </a:extLst>
          </p:cNvPr>
          <p:cNvSpPr txBox="1"/>
          <p:nvPr/>
        </p:nvSpPr>
        <p:spPr>
          <a:xfrm>
            <a:off x="0" y="6488668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A single dose of Primaquine 0.75 mg/kg body weight should be given on the first day.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76237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596209-E539-0D55-D845-DD195A5B8D93}"/>
              </a:ext>
            </a:extLst>
          </p:cNvPr>
          <p:cNvSpPr txBox="1"/>
          <p:nvPr/>
        </p:nvSpPr>
        <p:spPr>
          <a:xfrm>
            <a:off x="194733" y="474345"/>
            <a:ext cx="1180253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IN" b="1" dirty="0"/>
              <a:t>Treatment Failure / Drug Resistance: 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dirty="0"/>
              <a:t>After completion of treatment, a patient is considered cured if there is no fever and no </a:t>
            </a:r>
            <a:r>
              <a:rPr lang="en-IN" dirty="0" err="1"/>
              <a:t>parasitemia</a:t>
            </a:r>
            <a:r>
              <a:rPr lang="en-IN" dirty="0"/>
              <a:t> up to day 28.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dirty="0"/>
              <a:t>Treatment is considered a failure or there is drug resistance if the patient develops danger signs, severe malaria, or persistent </a:t>
            </a:r>
            <a:r>
              <a:rPr lang="en-IN" dirty="0" err="1"/>
              <a:t>parasitemia</a:t>
            </a:r>
            <a:r>
              <a:rPr lang="en-IN" dirty="0"/>
              <a:t>.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-IN" dirty="0"/>
          </a:p>
          <a:p>
            <a:pPr marL="800100" lvl="1" indent="-342900">
              <a:buFont typeface="+mj-lt"/>
              <a:buAutoNum type="arabicPeriod"/>
            </a:pPr>
            <a:r>
              <a:rPr lang="en-IN" b="1" dirty="0"/>
              <a:t>Early Treatment Failure (ETF): </a:t>
            </a:r>
            <a:r>
              <a:rPr lang="en-IN" dirty="0"/>
              <a:t>It is considered early treatment failure when:</a:t>
            </a:r>
          </a:p>
          <a:p>
            <a:pPr marL="1200150" lvl="2" indent="-285750">
              <a:buFont typeface="Wingdings" pitchFamily="2" charset="2"/>
              <a:buChar char="Ø"/>
            </a:pPr>
            <a:r>
              <a:rPr lang="en-IN" dirty="0"/>
              <a:t>The patient develops danger signs or severe malaria, and </a:t>
            </a:r>
            <a:r>
              <a:rPr lang="en-IN" dirty="0" err="1"/>
              <a:t>Parasitemia</a:t>
            </a:r>
            <a:r>
              <a:rPr lang="en-IN" dirty="0"/>
              <a:t> is present on day 1, day 2, or day 3, Irrespective of axillary temperature.</a:t>
            </a:r>
          </a:p>
          <a:p>
            <a:pPr marL="800100" lvl="1" indent="-342900">
              <a:buFont typeface="+mj-lt"/>
              <a:buAutoNum type="arabicPeriod"/>
            </a:pPr>
            <a:endParaRPr lang="en-IN" b="1" dirty="0"/>
          </a:p>
          <a:p>
            <a:pPr marL="800100" lvl="1" indent="-342900">
              <a:buFont typeface="+mj-lt"/>
              <a:buAutoNum type="arabicPeriod"/>
            </a:pPr>
            <a:r>
              <a:rPr lang="en-IN" b="1" dirty="0"/>
              <a:t>Late Clinical Failure (LCF): </a:t>
            </a:r>
            <a:r>
              <a:rPr lang="en-IN" dirty="0"/>
              <a:t>It is considered late clinical failure when:</a:t>
            </a:r>
          </a:p>
          <a:p>
            <a:pPr marL="1200150" lvl="2" indent="-285750">
              <a:buFont typeface="Wingdings" pitchFamily="2" charset="2"/>
              <a:buChar char="Ø"/>
            </a:pPr>
            <a:r>
              <a:rPr lang="en-IN" dirty="0"/>
              <a:t>Danger signs or severe malaria develop after day 3 and before day 28, and </a:t>
            </a:r>
            <a:r>
              <a:rPr lang="en-IN" dirty="0" err="1"/>
              <a:t>Parasitemia</a:t>
            </a:r>
            <a:r>
              <a:rPr lang="en-IN" dirty="0"/>
              <a:t> is present with axillary temperature ≥ 37.5°C.</a:t>
            </a:r>
          </a:p>
          <a:p>
            <a:pPr marL="800100" lvl="1" indent="-342900">
              <a:buFont typeface="+mj-lt"/>
              <a:buAutoNum type="arabicPeriod"/>
            </a:pPr>
            <a:endParaRPr lang="en-IN" b="1" dirty="0"/>
          </a:p>
          <a:p>
            <a:pPr marL="800100" lvl="1" indent="-342900">
              <a:buFont typeface="+mj-lt"/>
              <a:buAutoNum type="arabicPeriod"/>
            </a:pPr>
            <a:r>
              <a:rPr lang="en-IN" b="1" dirty="0"/>
              <a:t>Late Parasitological Failure (LPF): </a:t>
            </a:r>
            <a:r>
              <a:rPr lang="en-IN" dirty="0"/>
              <a:t>It is considered late parasitological failure when:</a:t>
            </a:r>
          </a:p>
          <a:p>
            <a:pPr marL="1200150" lvl="2" indent="-285750">
              <a:buFont typeface="Wingdings" pitchFamily="2" charset="2"/>
              <a:buChar char="Ø"/>
            </a:pPr>
            <a:r>
              <a:rPr lang="en-IN" dirty="0" err="1"/>
              <a:t>Parasitemia</a:t>
            </a:r>
            <a:r>
              <a:rPr lang="en-IN" dirty="0"/>
              <a:t> is present between day 7 and day 28, Axillary temperature is below 37.5°C, and The patient does not meet the criteria of ETF or LCF.</a:t>
            </a:r>
          </a:p>
          <a:p>
            <a:endParaRPr lang="en-US" dirty="0"/>
          </a:p>
          <a:p>
            <a:pPr marL="285750" indent="-285750">
              <a:buFont typeface="Wingdings" pitchFamily="2" charset="2"/>
              <a:buChar char="v"/>
            </a:pPr>
            <a:r>
              <a:rPr lang="en-IN" b="1" dirty="0"/>
              <a:t>Management of Treatment Failure: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dirty="0"/>
              <a:t>Treatment should be given with Artemisinin Combination Therapy (ACT) or Quinine with doxycycline.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dirty="0"/>
              <a:t>Doxycycline is contraindicated in: Pregnancy, Lactation, Children below 8 years of age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dirty="0"/>
              <a:t>Treatment failure with chloroquine in </a:t>
            </a:r>
            <a:r>
              <a:rPr lang="en-IN" i="1" dirty="0"/>
              <a:t>P. vivax</a:t>
            </a:r>
            <a:r>
              <a:rPr lang="en-IN" dirty="0"/>
              <a:t> malaria is rare in India.</a:t>
            </a:r>
          </a:p>
        </p:txBody>
      </p:sp>
    </p:spTree>
    <p:extLst>
      <p:ext uri="{BB962C8B-B14F-4D97-AF65-F5344CB8AC3E}">
        <p14:creationId xmlns:p14="http://schemas.microsoft.com/office/powerpoint/2010/main" val="288704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1EAB84-65D6-FD6D-BBFC-D08475FD9C8E}"/>
              </a:ext>
            </a:extLst>
          </p:cNvPr>
          <p:cNvSpPr txBox="1"/>
          <p:nvPr/>
        </p:nvSpPr>
        <p:spPr>
          <a:xfrm>
            <a:off x="152400" y="1028343"/>
            <a:ext cx="118872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IN" b="1" dirty="0"/>
              <a:t>Chemoprophylaxis: 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dirty="0"/>
              <a:t>Chemoprophylaxis should be given only to selected groups in areas with high </a:t>
            </a:r>
            <a:r>
              <a:rPr lang="en-IN" i="1" dirty="0"/>
              <a:t>P. falciparum</a:t>
            </a:r>
            <a:r>
              <a:rPr lang="en-IN" dirty="0"/>
              <a:t> transmission.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dirty="0"/>
              <a:t>Use of insecticide-treated bed nets is encouraged for: Pregnant women &amp; Other vulnerable populations including </a:t>
            </a:r>
            <a:r>
              <a:rPr lang="en-IN" dirty="0" err="1"/>
              <a:t>travelers</a:t>
            </a:r>
            <a:r>
              <a:rPr lang="en-IN" dirty="0"/>
              <a:t> and forest workers. 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dirty="0"/>
              <a:t>However, chemoprophylaxis should be followed wherever appropriate, especially for troops on night patrol duty.</a:t>
            </a:r>
          </a:p>
          <a:p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IN" b="1" dirty="0"/>
              <a:t>Short-Term Chemoprophylaxis (Less than 6 weeks):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1" dirty="0"/>
              <a:t>Drug of choice:</a:t>
            </a:r>
            <a:r>
              <a:rPr lang="en-IN" dirty="0"/>
              <a:t> Doxycycline (if not contraindicated).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1" dirty="0"/>
              <a:t>Dose: </a:t>
            </a:r>
            <a:r>
              <a:rPr lang="en-IN" dirty="0"/>
              <a:t>Adults: 100 mg daily &amp; Children: 1.5 mg/kg body weight, Start 2 days before travel &amp; Continue for 4 weeks after leaving the malarious area.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It is </a:t>
            </a:r>
            <a:r>
              <a:rPr lang="en-IN" b="1" dirty="0"/>
              <a:t>contraindicated</a:t>
            </a:r>
            <a:r>
              <a:rPr lang="en-IN" dirty="0"/>
              <a:t> in: Pregnant women &amp; Children below 8 years.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800100" lvl="1" indent="-342900">
              <a:buFont typeface="+mj-lt"/>
              <a:buAutoNum type="arabicPeriod"/>
            </a:pPr>
            <a:r>
              <a:rPr lang="en-IN" b="1" dirty="0"/>
              <a:t>Long-Term Chemoprophylaxis (More than 6 weeks):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1" dirty="0"/>
              <a:t>Drug of choice:</a:t>
            </a:r>
            <a:r>
              <a:rPr lang="en-IN" dirty="0"/>
              <a:t> Mefloquine.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1" dirty="0"/>
              <a:t>Dose:</a:t>
            </a:r>
            <a:r>
              <a:rPr lang="en-IN" dirty="0"/>
              <a:t> 200 mg weekly, Start 2 weeks before exposure &amp; Continue during stay and 4 weeks after exposure.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It is contraindicated in individuals with: Convulsions, Neuropsychiatric disorders, Cardiac diseases.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430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982E9B-1AF4-0E00-3E08-1FB0B583EB24}"/>
              </a:ext>
            </a:extLst>
          </p:cNvPr>
          <p:cNvSpPr txBox="1"/>
          <p:nvPr/>
        </p:nvSpPr>
        <p:spPr>
          <a:xfrm>
            <a:off x="147145" y="305068"/>
            <a:ext cx="1189771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IN" sz="2000" b="1" dirty="0"/>
              <a:t>Malaria Control Strategies: </a:t>
            </a:r>
            <a:r>
              <a:rPr lang="en-IN" sz="2000" dirty="0"/>
              <a:t>Control of malaria includes </a:t>
            </a:r>
            <a:r>
              <a:rPr lang="en-IN" sz="2000" b="1" dirty="0"/>
              <a:t>three-pronged strategies</a:t>
            </a:r>
            <a:r>
              <a:rPr lang="en-IN" sz="2000" dirty="0"/>
              <a:t>:</a:t>
            </a:r>
          </a:p>
          <a:p>
            <a:pPr marL="285750" indent="-285750">
              <a:buFont typeface="Wingdings" pitchFamily="2" charset="2"/>
              <a:buChar char="v"/>
            </a:pPr>
            <a:endParaRPr lang="en-IN" sz="2000" dirty="0"/>
          </a:p>
          <a:p>
            <a:pPr marL="800100" lvl="1" indent="-342900">
              <a:buFont typeface="+mj-lt"/>
              <a:buAutoNum type="arabicPeriod"/>
            </a:pPr>
            <a:r>
              <a:rPr lang="en-IN" sz="2000" b="1" dirty="0"/>
              <a:t>Early Diagnosis and Complete Treatment: </a:t>
            </a:r>
            <a:r>
              <a:rPr lang="en-IN" sz="2000" dirty="0"/>
              <a:t>Case detection and management, Disease surveillance &amp; Epidemic preparedness.</a:t>
            </a:r>
            <a:endParaRPr lang="en-IN" sz="2000" b="1" dirty="0"/>
          </a:p>
          <a:p>
            <a:pPr marL="800100" lvl="1" indent="-342900">
              <a:buFont typeface="+mj-lt"/>
              <a:buAutoNum type="arabicPeriod"/>
            </a:pPr>
            <a:r>
              <a:rPr lang="en-IN" sz="2000" b="1" dirty="0"/>
              <a:t>Integrated Vector Control: </a:t>
            </a:r>
            <a:r>
              <a:rPr lang="en-IN" sz="2000" dirty="0"/>
              <a:t>Indoor residual spraying, Insecticide-treated nets (ITNs), Long-lasting insecticidal nets (LLINs)</a:t>
            </a:r>
            <a:r>
              <a:rPr lang="en-US" sz="2000" dirty="0"/>
              <a:t>, Biological control &amp; Source reduction</a:t>
            </a:r>
            <a:r>
              <a:rPr lang="en-IN" sz="2000" dirty="0"/>
              <a:t>.</a:t>
            </a:r>
            <a:endParaRPr lang="en-IN" sz="2000" b="1" dirty="0"/>
          </a:p>
          <a:p>
            <a:pPr marL="800100" lvl="1" indent="-342900">
              <a:buFont typeface="+mj-lt"/>
              <a:buAutoNum type="arabicPeriod"/>
            </a:pPr>
            <a:r>
              <a:rPr lang="en-IN" sz="2000" b="1" dirty="0"/>
              <a:t>Training and Capacity Building: </a:t>
            </a:r>
            <a:r>
              <a:rPr lang="en-IN" sz="2000" dirty="0"/>
              <a:t>Health workers and field staff are trained regularly to improve skills in diagnosis, treatment, surveillance, and vector control activities.</a:t>
            </a:r>
            <a:endParaRPr lang="en-IN" sz="2000" b="1" dirty="0"/>
          </a:p>
          <a:p>
            <a:pPr marL="800100" lvl="1" indent="-342900">
              <a:buFont typeface="+mj-lt"/>
              <a:buAutoNum type="arabicPeriod"/>
            </a:pPr>
            <a:r>
              <a:rPr lang="en-IN" sz="2000" b="1" dirty="0"/>
              <a:t>Behaviour Change Communication (BCC): </a:t>
            </a:r>
            <a:r>
              <a:rPr lang="en-IN" sz="2000" dirty="0"/>
              <a:t>Health education is provided to the community to promote: Use of bed nets, Early reporting of fever &amp; Compliance with treatment.</a:t>
            </a:r>
            <a:endParaRPr lang="en-IN" sz="2000" b="1" dirty="0"/>
          </a:p>
          <a:p>
            <a:pPr marL="800100" lvl="1" indent="-342900">
              <a:buFont typeface="+mj-lt"/>
              <a:buAutoNum type="arabicPeriod"/>
            </a:pPr>
            <a:r>
              <a:rPr lang="en-IN" sz="2000" b="1" dirty="0"/>
              <a:t>Intersectoral Collaboration: </a:t>
            </a:r>
            <a:r>
              <a:rPr lang="en-IN" sz="2000" dirty="0"/>
              <a:t>Different sectors such as health, urban development, irrigation, forestry, and education work together to control malaria.</a:t>
            </a:r>
            <a:endParaRPr lang="en-IN" sz="2000" b="1" dirty="0"/>
          </a:p>
          <a:p>
            <a:pPr marL="800100" lvl="1" indent="-342900">
              <a:buFont typeface="+mj-lt"/>
              <a:buAutoNum type="arabicPeriod"/>
            </a:pPr>
            <a:r>
              <a:rPr lang="en-IN" sz="2000" b="1" dirty="0"/>
              <a:t>Community Participation: </a:t>
            </a:r>
            <a:r>
              <a:rPr lang="en-IN" sz="2000" dirty="0"/>
              <a:t>Active involvement of the community is encouraged in: Source reduction, Use of preventive measures &amp; Reporting of fever cases.</a:t>
            </a:r>
            <a:endParaRPr lang="en-IN" sz="2000" b="1" dirty="0"/>
          </a:p>
          <a:p>
            <a:pPr marL="800100" lvl="1" indent="-342900">
              <a:buFont typeface="+mj-lt"/>
              <a:buAutoNum type="arabicPeriod"/>
            </a:pPr>
            <a:r>
              <a:rPr lang="en-IN" sz="2000" b="1" dirty="0"/>
              <a:t>Public Private Partnership: </a:t>
            </a:r>
            <a:r>
              <a:rPr lang="en-IN" sz="2000" dirty="0"/>
              <a:t>Involvement of: NGOs, Indian Medical Association, Community-based organizations (CBOs), This helps in improving coverage and effectiveness of malaria control.</a:t>
            </a:r>
            <a:endParaRPr lang="en-IN" sz="2000" b="1" dirty="0"/>
          </a:p>
          <a:p>
            <a:pPr marL="800100" lvl="1" indent="-342900">
              <a:buFont typeface="+mj-lt"/>
              <a:buAutoNum type="arabicPeriod"/>
            </a:pPr>
            <a:r>
              <a:rPr lang="en-IN" sz="2000" b="1" dirty="0"/>
              <a:t>Monitoring, Evaluation, and Supportive Supervision: </a:t>
            </a:r>
            <a:r>
              <a:rPr lang="en-IN" sz="2000" dirty="0"/>
              <a:t>Regular monitoring and evaluation ensure proper implementation of malaria control activities and identify gaps for improvement.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2000" b="1" dirty="0"/>
              <a:t>Legislation: </a:t>
            </a:r>
            <a:r>
              <a:rPr lang="en-IN" sz="2000" dirty="0"/>
              <a:t>Legal provisions help enforce measures such as mosquito control, sanitation, and environmental management.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51401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E6C809-AEFC-554A-64ED-BBBCC4A16EB1}"/>
              </a:ext>
            </a:extLst>
          </p:cNvPr>
          <p:cNvSpPr txBox="1"/>
          <p:nvPr/>
        </p:nvSpPr>
        <p:spPr>
          <a:xfrm>
            <a:off x="194734" y="0"/>
            <a:ext cx="1180253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IN" b="1" dirty="0">
                <a:solidFill>
                  <a:srgbClr val="FF0000"/>
                </a:solidFill>
              </a:rPr>
              <a:t>Early Diagnosis and Complete Treatment: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b="1" dirty="0">
                <a:solidFill>
                  <a:srgbClr val="FF0000"/>
                </a:solidFill>
              </a:rPr>
              <a:t>Case Detection and Management: </a:t>
            </a:r>
            <a:r>
              <a:rPr lang="en-IN" dirty="0">
                <a:solidFill>
                  <a:srgbClr val="FF0000"/>
                </a:solidFill>
              </a:rPr>
              <a:t>Early detection and prompt treatment of malaria cases is essential to Reduce morbidity and mortality &amp; Prevent transmission.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b="1" dirty="0">
                <a:solidFill>
                  <a:srgbClr val="FF0000"/>
                </a:solidFill>
              </a:rPr>
              <a:t>Disease Surveillance: </a:t>
            </a:r>
            <a:r>
              <a:rPr lang="en-IN" dirty="0">
                <a:solidFill>
                  <a:srgbClr val="FF0000"/>
                </a:solidFill>
              </a:rPr>
              <a:t>Disease surveillance is defined as the </a:t>
            </a:r>
            <a:r>
              <a:rPr lang="en-IN" b="1" dirty="0">
                <a:solidFill>
                  <a:srgbClr val="FF0000"/>
                </a:solidFill>
              </a:rPr>
              <a:t>ongoing, systematic collection, analysis, interpretation, and dissemination of health data</a:t>
            </a:r>
            <a:r>
              <a:rPr lang="en-IN" dirty="0">
                <a:solidFill>
                  <a:srgbClr val="FF0000"/>
                </a:solidFill>
              </a:rPr>
              <a:t>. It is used for: Planning, Implementation, Evaluation of disease prevention and control activities, Surveillance is of </a:t>
            </a:r>
            <a:r>
              <a:rPr lang="en-IN" b="1" dirty="0">
                <a:solidFill>
                  <a:srgbClr val="FF0000"/>
                </a:solidFill>
              </a:rPr>
              <a:t>two types</a:t>
            </a:r>
            <a:r>
              <a:rPr lang="en-IN" dirty="0">
                <a:solidFill>
                  <a:srgbClr val="FF0000"/>
                </a:solidFill>
              </a:rPr>
              <a:t>:</a:t>
            </a:r>
          </a:p>
          <a:p>
            <a:pPr marL="1257300" lvl="2" indent="-342900">
              <a:buFont typeface="+mj-lt"/>
              <a:buAutoNum type="alphaLcParenR"/>
            </a:pPr>
            <a:r>
              <a:rPr lang="en-IN" b="1" dirty="0">
                <a:solidFill>
                  <a:srgbClr val="FF0000"/>
                </a:solidFill>
              </a:rPr>
              <a:t>Passive Surveillance: </a:t>
            </a:r>
            <a:r>
              <a:rPr lang="en-IN" dirty="0">
                <a:solidFill>
                  <a:srgbClr val="FF0000"/>
                </a:solidFill>
              </a:rPr>
              <a:t>Malaria cases are detected when patients with fever </a:t>
            </a:r>
            <a:r>
              <a:rPr lang="en-IN" b="1" dirty="0">
                <a:solidFill>
                  <a:srgbClr val="FF0000"/>
                </a:solidFill>
              </a:rPr>
              <a:t>visit health facilities</a:t>
            </a:r>
            <a:r>
              <a:rPr lang="en-IN" dirty="0">
                <a:solidFill>
                  <a:srgbClr val="FF0000"/>
                </a:solidFill>
              </a:rPr>
              <a:t> such as: Primary Health </a:t>
            </a:r>
            <a:r>
              <a:rPr lang="en-IN" dirty="0" err="1">
                <a:solidFill>
                  <a:srgbClr val="FF0000"/>
                </a:solidFill>
              </a:rPr>
              <a:t>Centers</a:t>
            </a:r>
            <a:r>
              <a:rPr lang="en-IN" dirty="0">
                <a:solidFill>
                  <a:srgbClr val="FF0000"/>
                </a:solidFill>
              </a:rPr>
              <a:t> (PHCs), Community Health </a:t>
            </a:r>
            <a:r>
              <a:rPr lang="en-IN" dirty="0" err="1">
                <a:solidFill>
                  <a:srgbClr val="FF0000"/>
                </a:solidFill>
              </a:rPr>
              <a:t>Centers</a:t>
            </a:r>
            <a:r>
              <a:rPr lang="en-IN" dirty="0">
                <a:solidFill>
                  <a:srgbClr val="FF0000"/>
                </a:solidFill>
              </a:rPr>
              <a:t> (CHCs), District Hospital. Blood smears are collected and examined by microscopy.</a:t>
            </a:r>
          </a:p>
          <a:p>
            <a:pPr marL="1257300" lvl="2" indent="-342900">
              <a:buFont typeface="+mj-lt"/>
              <a:buAutoNum type="alphaLcParenR"/>
            </a:pPr>
            <a:r>
              <a:rPr lang="en-IN" b="1" dirty="0">
                <a:solidFill>
                  <a:srgbClr val="FF0000"/>
                </a:solidFill>
              </a:rPr>
              <a:t>Active Surveillance: </a:t>
            </a:r>
            <a:r>
              <a:rPr lang="en-IN" dirty="0">
                <a:solidFill>
                  <a:srgbClr val="FF0000"/>
                </a:solidFill>
              </a:rPr>
              <a:t>Conducted by health workers or </a:t>
            </a:r>
            <a:r>
              <a:rPr lang="en-IN" b="1" dirty="0">
                <a:solidFill>
                  <a:srgbClr val="FF0000"/>
                </a:solidFill>
              </a:rPr>
              <a:t>Multipurpose Workers (MPWs), </a:t>
            </a:r>
            <a:r>
              <a:rPr lang="en-IN" dirty="0">
                <a:solidFill>
                  <a:srgbClr val="FF0000"/>
                </a:solidFill>
              </a:rPr>
              <a:t>MPWs visit villages regularly and </a:t>
            </a:r>
            <a:r>
              <a:rPr lang="en-IN" b="1" dirty="0">
                <a:solidFill>
                  <a:srgbClr val="FF0000"/>
                </a:solidFill>
              </a:rPr>
              <a:t>conduct house-to-house visits.</a:t>
            </a:r>
          </a:p>
          <a:p>
            <a:pPr lvl="3"/>
            <a:r>
              <a:rPr lang="en-IN" dirty="0">
                <a:solidFill>
                  <a:srgbClr val="FF0000"/>
                </a:solidFill>
              </a:rPr>
              <a:t>They look for: </a:t>
            </a:r>
          </a:p>
          <a:p>
            <a:pPr lvl="3"/>
            <a:r>
              <a:rPr lang="en-IN" dirty="0">
                <a:solidFill>
                  <a:srgbClr val="FF0000"/>
                </a:solidFill>
              </a:rPr>
              <a:t>New fever cases, Fever cases that developed since last visit, Blood smears (thick and thin) are collected or </a:t>
            </a:r>
            <a:r>
              <a:rPr lang="en-IN" b="1" dirty="0">
                <a:solidFill>
                  <a:srgbClr val="FF0000"/>
                </a:solidFill>
              </a:rPr>
              <a:t>RDTs</a:t>
            </a:r>
            <a:r>
              <a:rPr lang="en-IN" dirty="0">
                <a:solidFill>
                  <a:srgbClr val="FF0000"/>
                </a:solidFill>
              </a:rPr>
              <a:t> are performed, Slides are sent to PHC laboratory for examination</a:t>
            </a:r>
          </a:p>
          <a:p>
            <a:pPr lvl="3"/>
            <a:r>
              <a:rPr lang="en-IN" dirty="0">
                <a:solidFill>
                  <a:srgbClr val="FF0000"/>
                </a:solidFill>
              </a:rPr>
              <a:t>Traditionally:</a:t>
            </a:r>
          </a:p>
          <a:p>
            <a:pPr lvl="3"/>
            <a:r>
              <a:rPr lang="en-IN" dirty="0">
                <a:solidFill>
                  <a:srgbClr val="FF0000"/>
                </a:solidFill>
              </a:rPr>
              <a:t>Health workers give a </a:t>
            </a:r>
            <a:r>
              <a:rPr lang="en-IN" b="1" dirty="0">
                <a:solidFill>
                  <a:srgbClr val="FF0000"/>
                </a:solidFill>
              </a:rPr>
              <a:t>single dose of chloroquine</a:t>
            </a:r>
            <a:r>
              <a:rPr lang="en-IN" dirty="0">
                <a:solidFill>
                  <a:srgbClr val="FF0000"/>
                </a:solidFill>
              </a:rPr>
              <a:t> while collecting blood smear (presumptive treatment).</a:t>
            </a:r>
          </a:p>
          <a:p>
            <a:pPr lvl="3"/>
            <a:r>
              <a:rPr lang="en-IN" dirty="0">
                <a:solidFill>
                  <a:srgbClr val="FF0000"/>
                </a:solidFill>
              </a:rPr>
              <a:t>Confirmed cases are treated with </a:t>
            </a:r>
            <a:r>
              <a:rPr lang="en-IN" b="1" dirty="0">
                <a:solidFill>
                  <a:srgbClr val="FF0000"/>
                </a:solidFill>
              </a:rPr>
              <a:t>chloroquine for 3 days.</a:t>
            </a:r>
          </a:p>
          <a:p>
            <a:pPr lvl="3"/>
            <a:r>
              <a:rPr lang="en-IN" dirty="0">
                <a:solidFill>
                  <a:srgbClr val="FF0000"/>
                </a:solidFill>
              </a:rPr>
              <a:t>RDTs are used mainly for </a:t>
            </a:r>
            <a:r>
              <a:rPr lang="en-IN" i="1" dirty="0">
                <a:solidFill>
                  <a:srgbClr val="FF0000"/>
                </a:solidFill>
              </a:rPr>
              <a:t>P. falciparum</a:t>
            </a:r>
            <a:r>
              <a:rPr lang="en-IN" dirty="0">
                <a:solidFill>
                  <a:srgbClr val="FF0000"/>
                </a:solidFill>
              </a:rPr>
              <a:t> cases.</a:t>
            </a:r>
          </a:p>
        </p:txBody>
      </p:sp>
    </p:spTree>
    <p:extLst>
      <p:ext uri="{BB962C8B-B14F-4D97-AF65-F5344CB8AC3E}">
        <p14:creationId xmlns:p14="http://schemas.microsoft.com/office/powerpoint/2010/main" val="1546302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C5A9CF-3A58-AAC7-1E14-2183A55EF31C}"/>
              </a:ext>
            </a:extLst>
          </p:cNvPr>
          <p:cNvSpPr txBox="1"/>
          <p:nvPr/>
        </p:nvSpPr>
        <p:spPr>
          <a:xfrm>
            <a:off x="457199" y="167270"/>
            <a:ext cx="11396133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Radical Treatment</a:t>
            </a:r>
          </a:p>
          <a:p>
            <a:r>
              <a:rPr lang="en-IN" dirty="0">
                <a:solidFill>
                  <a:srgbClr val="FF0000"/>
                </a:solidFill>
              </a:rPr>
              <a:t>After confirmation by blood smear: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FF0000"/>
                </a:solidFill>
              </a:rPr>
              <a:t>Positive cases are given radical treatment</a:t>
            </a:r>
            <a:endParaRPr lang="en-IN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Treatment aims to completely eliminate parasites and prevent relapse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solidFill>
                <a:srgbClr val="FF0000"/>
              </a:solidFill>
            </a:endParaRPr>
          </a:p>
          <a:p>
            <a:r>
              <a:rPr lang="en-IN" b="1" dirty="0">
                <a:solidFill>
                  <a:srgbClr val="FF0000"/>
                </a:solidFill>
              </a:rPr>
              <a:t>Follow-up of Malaria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All positive cases, especially </a:t>
            </a:r>
            <a:r>
              <a:rPr lang="en-IN" i="1" dirty="0">
                <a:solidFill>
                  <a:srgbClr val="FF0000"/>
                </a:solidFill>
              </a:rPr>
              <a:t>P. falciparum</a:t>
            </a:r>
            <a:r>
              <a:rPr lang="en-IN" dirty="0">
                <a:solidFill>
                  <a:srgbClr val="FF0000"/>
                </a:solidFill>
              </a:rPr>
              <a:t>, should be </a:t>
            </a:r>
            <a:r>
              <a:rPr lang="en-IN" b="1" dirty="0">
                <a:solidFill>
                  <a:srgbClr val="FF0000"/>
                </a:solidFill>
              </a:rPr>
              <a:t>followed up</a:t>
            </a:r>
            <a:endParaRPr lang="en-IN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Follow-up blood smears are taken: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Between </a:t>
            </a:r>
            <a:r>
              <a:rPr lang="en-IN" b="1" dirty="0">
                <a:solidFill>
                  <a:srgbClr val="FF0000"/>
                </a:solidFill>
              </a:rPr>
              <a:t>3rd and 7th day</a:t>
            </a:r>
            <a:r>
              <a:rPr lang="en-IN" dirty="0">
                <a:solidFill>
                  <a:srgbClr val="FF0000"/>
                </a:solidFill>
              </a:rPr>
              <a:t> after starting treatment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Preferably on </a:t>
            </a:r>
            <a:r>
              <a:rPr lang="en-IN" b="1" dirty="0">
                <a:solidFill>
                  <a:srgbClr val="FF0000"/>
                </a:solidFill>
              </a:rPr>
              <a:t>6th day</a:t>
            </a:r>
            <a:r>
              <a:rPr lang="en-IN" dirty="0">
                <a:solidFill>
                  <a:srgbClr val="FF0000"/>
                </a:solidFill>
              </a:rPr>
              <a:t> after first dose of treatment or RDT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If parasites persist, </a:t>
            </a:r>
            <a:r>
              <a:rPr lang="en-IN" b="1" dirty="0">
                <a:solidFill>
                  <a:srgbClr val="FF0000"/>
                </a:solidFill>
              </a:rPr>
              <a:t>repeat treatment</a:t>
            </a:r>
            <a:r>
              <a:rPr lang="en-IN" dirty="0">
                <a:solidFill>
                  <a:srgbClr val="FF0000"/>
                </a:solidFill>
              </a:rPr>
              <a:t> is given.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solidFill>
                <a:srgbClr val="FF0000"/>
              </a:solidFill>
            </a:endParaRPr>
          </a:p>
          <a:p>
            <a:r>
              <a:rPr lang="en-IN" b="1" dirty="0">
                <a:solidFill>
                  <a:srgbClr val="FF0000"/>
                </a:solidFill>
              </a:rPr>
              <a:t>Suspected Case of Malaria (Case Definition)</a:t>
            </a:r>
          </a:p>
          <a:p>
            <a:r>
              <a:rPr lang="en-IN" dirty="0">
                <a:solidFill>
                  <a:srgbClr val="FF0000"/>
                </a:solidFill>
              </a:rPr>
              <a:t>A suspected malaria case is defined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A patient with fever living in an </a:t>
            </a:r>
            <a:r>
              <a:rPr lang="en-IN" b="1" dirty="0">
                <a:solidFill>
                  <a:srgbClr val="FF0000"/>
                </a:solidFill>
              </a:rPr>
              <a:t>endemic area during transmission season</a:t>
            </a:r>
            <a:r>
              <a:rPr lang="en-IN" dirty="0">
                <a:solidFill>
                  <a:srgbClr val="FF0000"/>
                </a:solidFill>
              </a:rPr>
              <a:t>, 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A person who has </a:t>
            </a:r>
            <a:r>
              <a:rPr lang="en-IN" b="1" dirty="0">
                <a:solidFill>
                  <a:srgbClr val="FF0000"/>
                </a:solidFill>
              </a:rPr>
              <a:t>recently visited an endemic area</a:t>
            </a:r>
            <a:r>
              <a:rPr lang="en-IN" dirty="0">
                <a:solidFill>
                  <a:srgbClr val="FF0000"/>
                </a:solidFill>
              </a:rPr>
              <a:t>, 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No other confirmed diagnosis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solidFill>
                <a:srgbClr val="FF0000"/>
              </a:solidFill>
            </a:endParaRPr>
          </a:p>
          <a:p>
            <a:r>
              <a:rPr lang="en-IN" b="1" dirty="0">
                <a:solidFill>
                  <a:srgbClr val="FF0000"/>
                </a:solidFill>
              </a:rPr>
              <a:t>Rapid Fever Surveillance (RFS)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When a malaria outbreak is suspected, a </a:t>
            </a:r>
            <a:r>
              <a:rPr lang="en-IN" b="1" dirty="0">
                <a:solidFill>
                  <a:srgbClr val="FF0000"/>
                </a:solidFill>
              </a:rPr>
              <a:t>rapid survey</a:t>
            </a:r>
            <a:r>
              <a:rPr lang="en-IN" dirty="0">
                <a:solidFill>
                  <a:srgbClr val="FF0000"/>
                </a:solidFill>
              </a:rPr>
              <a:t> is conducted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Fever cases are detected and blood smears are examined </a:t>
            </a:r>
            <a:r>
              <a:rPr lang="en-IN" b="1" dirty="0">
                <a:solidFill>
                  <a:srgbClr val="FF0000"/>
                </a:solidFill>
              </a:rPr>
              <a:t>on the same day</a:t>
            </a:r>
            <a:endParaRPr lang="en-IN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Radical treatment is given </a:t>
            </a:r>
            <a:r>
              <a:rPr lang="en-IN" b="1" dirty="0">
                <a:solidFill>
                  <a:srgbClr val="FF0000"/>
                </a:solidFill>
              </a:rPr>
              <a:t>as early as possible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FF0000"/>
                </a:solidFill>
              </a:rPr>
              <a:t>RFS is also done in villages 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A case is detected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MPWs are not visiting regularly</a:t>
            </a:r>
          </a:p>
          <a:p>
            <a:r>
              <a:rPr lang="en-IN" dirty="0">
                <a:solidFill>
                  <a:srgbClr val="FF0000"/>
                </a:solidFill>
              </a:rPr>
              <a:t>The objective is to </a:t>
            </a:r>
            <a:r>
              <a:rPr lang="en-IN" b="1" dirty="0">
                <a:solidFill>
                  <a:srgbClr val="FF0000"/>
                </a:solidFill>
              </a:rPr>
              <a:t>control outbreaks quickly</a:t>
            </a:r>
            <a:r>
              <a:rPr lang="en-IN" dirty="0">
                <a:solidFill>
                  <a:srgbClr val="FF0000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8705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5AD213-069A-375E-D972-A7ED25E33588}"/>
              </a:ext>
            </a:extLst>
          </p:cNvPr>
          <p:cNvSpPr txBox="1"/>
          <p:nvPr/>
        </p:nvSpPr>
        <p:spPr>
          <a:xfrm>
            <a:off x="237066" y="198104"/>
            <a:ext cx="1175173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Mass Survey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Blood smears are collected from </a:t>
            </a:r>
            <a:r>
              <a:rPr lang="en-IN" b="1" dirty="0">
                <a:solidFill>
                  <a:srgbClr val="FF0000"/>
                </a:solidFill>
              </a:rPr>
              <a:t>every individual in the village</a:t>
            </a:r>
            <a:r>
              <a:rPr lang="en-IN" dirty="0">
                <a:solidFill>
                  <a:srgbClr val="FF0000"/>
                </a:solidFill>
              </a:rPr>
              <a:t>, irrespective of fever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The objective is to assess: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Magnitude of malaria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Parasite prevalence among asymptomatic individuals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FF0000"/>
              </a:solidFill>
            </a:endParaRPr>
          </a:p>
          <a:p>
            <a:r>
              <a:rPr lang="en-IN" b="1" dirty="0">
                <a:solidFill>
                  <a:srgbClr val="FF0000"/>
                </a:solidFill>
              </a:rPr>
              <a:t>Contact Survey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Blood smears are taken from </a:t>
            </a:r>
            <a:r>
              <a:rPr lang="en-IN" b="1" dirty="0">
                <a:solidFill>
                  <a:srgbClr val="FF0000"/>
                </a:solidFill>
              </a:rPr>
              <a:t>contacts of a confirmed </a:t>
            </a:r>
            <a:r>
              <a:rPr lang="en-IN" b="1" i="1" dirty="0">
                <a:solidFill>
                  <a:srgbClr val="FF0000"/>
                </a:solidFill>
              </a:rPr>
              <a:t>P. falciparum</a:t>
            </a:r>
            <a:r>
              <a:rPr lang="en-IN" b="1" dirty="0">
                <a:solidFill>
                  <a:srgbClr val="FF0000"/>
                </a:solidFill>
              </a:rPr>
              <a:t> case</a:t>
            </a:r>
            <a:endParaRPr lang="en-IN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The objective is to detect </a:t>
            </a:r>
            <a:r>
              <a:rPr lang="en-IN" b="1" dirty="0">
                <a:solidFill>
                  <a:srgbClr val="FF0000"/>
                </a:solidFill>
              </a:rPr>
              <a:t>spread of infection among contacts</a:t>
            </a:r>
            <a:endParaRPr lang="en-IN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FF0000"/>
              </a:solidFill>
            </a:endParaRPr>
          </a:p>
          <a:p>
            <a:r>
              <a:rPr lang="en-IN" b="1" dirty="0">
                <a:solidFill>
                  <a:srgbClr val="FF0000"/>
                </a:solidFill>
              </a:rPr>
              <a:t>Fever Treatment Depot (FTD)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Any person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Accredited Social Health Activist (ASHA)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Identified social health activist</a:t>
            </a:r>
          </a:p>
          <a:p>
            <a:r>
              <a:rPr lang="en-IN" dirty="0">
                <a:solidFill>
                  <a:srgbClr val="FF0000"/>
                </a:solidFill>
              </a:rPr>
              <a:t>Who is trained to collect blood smears from fever cases constitutes an </a:t>
            </a:r>
            <a:r>
              <a:rPr lang="en-IN" b="1" dirty="0">
                <a:solidFill>
                  <a:srgbClr val="FF0000"/>
                </a:solidFill>
              </a:rPr>
              <a:t>FTD</a:t>
            </a:r>
            <a:r>
              <a:rPr lang="en-IN" dirty="0">
                <a:solidFill>
                  <a:srgbClr val="FF0000"/>
                </a:solidFill>
              </a:rPr>
              <a:t>.</a:t>
            </a:r>
            <a:br>
              <a:rPr lang="en-IN" dirty="0">
                <a:solidFill>
                  <a:srgbClr val="FF0000"/>
                </a:solidFill>
              </a:rPr>
            </a:br>
            <a:r>
              <a:rPr lang="en-IN" dirty="0">
                <a:solidFill>
                  <a:srgbClr val="FF0000"/>
                </a:solidFill>
              </a:rPr>
              <a:t>This ensures </a:t>
            </a:r>
            <a:r>
              <a:rPr lang="en-IN" b="1" dirty="0">
                <a:solidFill>
                  <a:srgbClr val="FF0000"/>
                </a:solidFill>
              </a:rPr>
              <a:t>round-the-clock availability</a:t>
            </a:r>
            <a:r>
              <a:rPr lang="en-IN" dirty="0">
                <a:solidFill>
                  <a:srgbClr val="FF0000"/>
                </a:solidFill>
              </a:rPr>
              <a:t> of malaria surveillance.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FF0000"/>
              </a:solidFill>
            </a:endParaRPr>
          </a:p>
          <a:p>
            <a:r>
              <a:rPr lang="en-IN" b="1" dirty="0">
                <a:solidFill>
                  <a:srgbClr val="FF0000"/>
                </a:solidFill>
              </a:rPr>
              <a:t>Drug Distribution Centre (DDC)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rgbClr val="FF0000"/>
                </a:solidFill>
              </a:rPr>
              <a:t>Centers</a:t>
            </a:r>
            <a:r>
              <a:rPr lang="en-IN" dirty="0">
                <a:solidFill>
                  <a:srgbClr val="FF0000"/>
                </a:solidFill>
              </a:rPr>
              <a:t> where: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Blood smears are collected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Presumptive treatment is given</a:t>
            </a:r>
          </a:p>
          <a:p>
            <a:r>
              <a:rPr lang="en-IN" dirty="0">
                <a:solidFill>
                  <a:srgbClr val="FF0000"/>
                </a:solidFill>
              </a:rPr>
              <a:t>These </a:t>
            </a:r>
            <a:r>
              <a:rPr lang="en-IN" dirty="0" err="1">
                <a:solidFill>
                  <a:srgbClr val="FF0000"/>
                </a:solidFill>
              </a:rPr>
              <a:t>centers</a:t>
            </a:r>
            <a:r>
              <a:rPr lang="en-IN" dirty="0">
                <a:solidFill>
                  <a:srgbClr val="FF0000"/>
                </a:solidFill>
              </a:rPr>
              <a:t> are supervised by FTDs.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12245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CC1524-0CF3-292E-B54A-D902A8A49042}"/>
              </a:ext>
            </a:extLst>
          </p:cNvPr>
          <p:cNvSpPr txBox="1"/>
          <p:nvPr/>
        </p:nvSpPr>
        <p:spPr>
          <a:xfrm>
            <a:off x="325821" y="335846"/>
            <a:ext cx="1167699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Investigations During Outbreak</a:t>
            </a:r>
          </a:p>
          <a:p>
            <a:r>
              <a:rPr lang="en-IN" dirty="0">
                <a:solidFill>
                  <a:srgbClr val="FF0000"/>
                </a:solidFill>
              </a:rPr>
              <a:t>A fever outbreak is an </a:t>
            </a:r>
            <a:r>
              <a:rPr lang="en-IN" b="1" dirty="0">
                <a:solidFill>
                  <a:srgbClr val="FF0000"/>
                </a:solidFill>
              </a:rPr>
              <a:t>emergency</a:t>
            </a:r>
            <a:r>
              <a:rPr lang="en-IN" dirty="0">
                <a:solidFill>
                  <a:srgbClr val="FF0000"/>
                </a:solidFill>
              </a:rPr>
              <a:t>, and investigations must begin </a:t>
            </a:r>
            <a:r>
              <a:rPr lang="en-IN" b="1" dirty="0">
                <a:solidFill>
                  <a:srgbClr val="FF0000"/>
                </a:solidFill>
              </a:rPr>
              <a:t>immediately</a:t>
            </a:r>
            <a:r>
              <a:rPr lang="en-IN" dirty="0">
                <a:solidFill>
                  <a:srgbClr val="FF0000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FF0000"/>
                </a:solidFill>
              </a:rPr>
              <a:t>DMO / DHO / DSO</a:t>
            </a:r>
            <a:r>
              <a:rPr lang="en-IN" dirty="0">
                <a:solidFill>
                  <a:srgbClr val="FF0000"/>
                </a:solidFill>
              </a:rPr>
              <a:t> should be informed at once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They should be members of the </a:t>
            </a:r>
            <a:r>
              <a:rPr lang="en-IN" b="1" dirty="0">
                <a:solidFill>
                  <a:srgbClr val="FF0000"/>
                </a:solidFill>
              </a:rPr>
              <a:t>rapid response team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b="1" dirty="0">
                <a:solidFill>
                  <a:srgbClr val="FF0000"/>
                </a:solidFill>
              </a:rPr>
              <a:t>Field Investigations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Rapid fever survey is conducted in affected villages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All households are visited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A </a:t>
            </a:r>
            <a:r>
              <a:rPr lang="en-IN" b="1" dirty="0">
                <a:solidFill>
                  <a:srgbClr val="FF0000"/>
                </a:solidFill>
              </a:rPr>
              <a:t>temporary laboratory</a:t>
            </a:r>
            <a:r>
              <a:rPr lang="en-IN" dirty="0">
                <a:solidFill>
                  <a:srgbClr val="FF0000"/>
                </a:solidFill>
              </a:rPr>
              <a:t> may be set 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Blood smears are examined immediately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Positive cases are treated </a:t>
            </a:r>
            <a:r>
              <a:rPr lang="en-IN" b="1" dirty="0">
                <a:solidFill>
                  <a:srgbClr val="FF0000"/>
                </a:solidFill>
              </a:rPr>
              <a:t>without delay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b="1" dirty="0">
                <a:solidFill>
                  <a:srgbClr val="FF0000"/>
                </a:solidFill>
              </a:rPr>
              <a:t>Treatment During Outbreak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Chloroquine is given if appropriate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If blood smear results are delayed, treatment should not be postponed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All high-risk groups must be covered, especially: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Children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Pregnant women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Migrants</a:t>
            </a:r>
          </a:p>
          <a:p>
            <a:r>
              <a:rPr lang="en-IN" dirty="0">
                <a:solidFill>
                  <a:srgbClr val="FF0000"/>
                </a:solidFill>
              </a:rPr>
              <a:t>The rapid fever survey should be conducted </a:t>
            </a:r>
            <a:r>
              <a:rPr lang="en-IN" b="1" dirty="0">
                <a:solidFill>
                  <a:srgbClr val="FF0000"/>
                </a:solidFill>
              </a:rPr>
              <a:t>daily</a:t>
            </a:r>
            <a:r>
              <a:rPr lang="en-IN" dirty="0">
                <a:solidFill>
                  <a:srgbClr val="FF0000"/>
                </a:solidFill>
              </a:rPr>
              <a:t> and continued until </a:t>
            </a:r>
            <a:r>
              <a:rPr lang="en-IN" b="1" dirty="0">
                <a:solidFill>
                  <a:srgbClr val="FF0000"/>
                </a:solidFill>
              </a:rPr>
              <a:t>no fever cases are seen for at least 10 days</a:t>
            </a:r>
            <a:r>
              <a:rPr lang="en-IN" dirty="0">
                <a:solidFill>
                  <a:srgbClr val="FF0000"/>
                </a:solidFill>
              </a:rPr>
              <a:t>, to rule out further outbreaks.</a:t>
            </a:r>
          </a:p>
        </p:txBody>
      </p:sp>
    </p:spTree>
    <p:extLst>
      <p:ext uri="{BB962C8B-B14F-4D97-AF65-F5344CB8AC3E}">
        <p14:creationId xmlns:p14="http://schemas.microsoft.com/office/powerpoint/2010/main" val="42453961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170FD9-6DB7-7D0A-41B3-E3ED5ABE1074}"/>
              </a:ext>
            </a:extLst>
          </p:cNvPr>
          <p:cNvSpPr txBox="1"/>
          <p:nvPr/>
        </p:nvSpPr>
        <p:spPr>
          <a:xfrm>
            <a:off x="189186" y="150843"/>
            <a:ext cx="1181362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IN" sz="2000" b="1" dirty="0"/>
              <a:t>Integrated Vector Control:</a:t>
            </a:r>
          </a:p>
          <a:p>
            <a:pPr marL="342900" indent="-342900">
              <a:buFont typeface="Wingdings" pitchFamily="2" charset="2"/>
              <a:buChar char="v"/>
            </a:pPr>
            <a:endParaRPr lang="en-IN" sz="2000" b="1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Indoor Residual Spray (IRS):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Synthetic Chemical Insecticides Used for IRS: </a:t>
            </a:r>
            <a:r>
              <a:rPr lang="en-IN" sz="2000" dirty="0"/>
              <a:t>DDT 50%, Malathion 25%, Synthetic pyrethroids.</a:t>
            </a:r>
          </a:p>
          <a:p>
            <a:pPr marL="1714500" lvl="3" indent="-342900">
              <a:buFont typeface="Wingdings" pitchFamily="2" charset="2"/>
              <a:buChar char="ü"/>
            </a:pPr>
            <a:endParaRPr lang="en-IN" sz="2000" b="1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Insecticide-Treated Bed Nets (ITNs) and Long-Lasting Insecticidal Nets (LLINs):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Nets treated with: Organophosphorus compounds &amp; Synthetic pyrethroids.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LLINs remain effective for up to 20 washes.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Biological Control: </a:t>
            </a:r>
            <a:r>
              <a:rPr lang="en-IN" sz="2000" dirty="0"/>
              <a:t>Biological methods are used to reduce vector breeding and density.</a:t>
            </a:r>
            <a:endParaRPr lang="en-US" sz="2000" dirty="0"/>
          </a:p>
          <a:p>
            <a:pPr marL="800100" lvl="1" indent="-342900">
              <a:buFont typeface="Wingdings" pitchFamily="2" charset="2"/>
              <a:buChar char="Ø"/>
            </a:pPr>
            <a:endParaRPr lang="en-US" sz="2000" b="1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IN" sz="2000" b="1" dirty="0"/>
              <a:t>Source Reduction: </a:t>
            </a:r>
            <a:r>
              <a:rPr lang="en-IN" sz="2000" dirty="0"/>
              <a:t>Eliminate mosquito breeding sites such as: Drainage of stagnant water, Filling pits and pools, Proper water storage practices.</a:t>
            </a:r>
          </a:p>
        </p:txBody>
      </p:sp>
    </p:spTree>
    <p:extLst>
      <p:ext uri="{BB962C8B-B14F-4D97-AF65-F5344CB8AC3E}">
        <p14:creationId xmlns:p14="http://schemas.microsoft.com/office/powerpoint/2010/main" val="3267775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9F31D2-75B1-38F9-6AB0-E38A68212BAF}"/>
              </a:ext>
            </a:extLst>
          </p:cNvPr>
          <p:cNvSpPr txBox="1"/>
          <p:nvPr/>
        </p:nvSpPr>
        <p:spPr>
          <a:xfrm>
            <a:off x="162910" y="305068"/>
            <a:ext cx="1186618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IN" sz="2000" b="1" dirty="0"/>
              <a:t>Malaria Vaccine:</a:t>
            </a:r>
          </a:p>
          <a:p>
            <a:pPr marL="285750" indent="-285750">
              <a:buFont typeface="Wingdings" pitchFamily="2" charset="2"/>
              <a:buChar char="v"/>
            </a:pPr>
            <a:endParaRPr lang="en-IN" sz="2000" b="1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2000" dirty="0"/>
              <a:t>In </a:t>
            </a:r>
            <a:r>
              <a:rPr lang="en-IN" sz="2000" b="1" dirty="0"/>
              <a:t>October 2021</a:t>
            </a:r>
            <a:r>
              <a:rPr lang="en-IN" sz="2000" dirty="0"/>
              <a:t>, WHO recommended the </a:t>
            </a:r>
            <a:r>
              <a:rPr lang="en-IN" sz="2000" b="1" dirty="0"/>
              <a:t>large-scale use of the malaria vaccine RTS,S/AS01 (</a:t>
            </a:r>
            <a:r>
              <a:rPr lang="en-IN" sz="2000" b="1" dirty="0" err="1"/>
              <a:t>Mosquirix</a:t>
            </a:r>
            <a:r>
              <a:rPr lang="en-IN" sz="2000" b="1" dirty="0"/>
              <a:t>®)</a:t>
            </a:r>
            <a:r>
              <a:rPr lang="en-IN" sz="2000" dirty="0"/>
              <a:t> for the first time.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-IN" sz="2000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2000" dirty="0"/>
              <a:t>Recombinant vaccine, It is the </a:t>
            </a:r>
            <a:r>
              <a:rPr lang="en-IN" sz="2000" b="1" dirty="0"/>
              <a:t>world’s first human anti-parasite vaccine, </a:t>
            </a:r>
            <a:r>
              <a:rPr lang="en-IN" sz="2000" dirty="0"/>
              <a:t>Developed by </a:t>
            </a:r>
            <a:r>
              <a:rPr lang="en-IN" sz="2000" b="1" dirty="0"/>
              <a:t>GlaxoSmithKline (GSK).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-IN" sz="2000" b="1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2000" dirty="0"/>
              <a:t>Effective against </a:t>
            </a:r>
            <a:r>
              <a:rPr lang="en-IN" sz="2000" b="1" i="1" dirty="0"/>
              <a:t>P. falciparum</a:t>
            </a:r>
            <a:r>
              <a:rPr lang="en-IN" sz="2000" dirty="0"/>
              <a:t> only.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-IN" sz="2000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2000" dirty="0"/>
              <a:t>Recommended in </a:t>
            </a:r>
            <a:r>
              <a:rPr lang="en-IN" sz="2000" b="1" dirty="0"/>
              <a:t>children living in moderate to high transmission areas.</a:t>
            </a:r>
            <a:endParaRPr lang="en-IN" sz="2000" dirty="0"/>
          </a:p>
          <a:p>
            <a:endParaRPr lang="en-IN" sz="2000" b="1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2000" b="1" dirty="0"/>
              <a:t>Vaccination Schedule: </a:t>
            </a:r>
            <a:r>
              <a:rPr lang="en-IN" sz="2000" dirty="0"/>
              <a:t>WHO recommends a </a:t>
            </a:r>
            <a:r>
              <a:rPr lang="en-IN" sz="2000" b="1" dirty="0"/>
              <a:t>4-dose schedule</a:t>
            </a:r>
            <a:r>
              <a:rPr lang="en-IN" sz="2000" dirty="0"/>
              <a:t>:</a:t>
            </a:r>
          </a:p>
          <a:p>
            <a:pPr marL="1200150" lvl="2" indent="-285750">
              <a:buFont typeface="Wingdings" pitchFamily="2" charset="2"/>
              <a:buChar char="ü"/>
            </a:pPr>
            <a:r>
              <a:rPr lang="en-IN" sz="2000" dirty="0"/>
              <a:t>First dose at </a:t>
            </a:r>
            <a:r>
              <a:rPr lang="en-IN" sz="2000" b="1" dirty="0"/>
              <a:t>5 months of age.</a:t>
            </a:r>
            <a:endParaRPr lang="en-IN" sz="2000" dirty="0"/>
          </a:p>
          <a:p>
            <a:pPr marL="1200150" lvl="2" indent="-285750">
              <a:buFont typeface="Wingdings" pitchFamily="2" charset="2"/>
              <a:buChar char="ü"/>
            </a:pPr>
            <a:r>
              <a:rPr lang="en-IN" sz="2000" dirty="0"/>
              <a:t>Second and third doses at </a:t>
            </a:r>
            <a:r>
              <a:rPr lang="en-IN" sz="2000" b="1" dirty="0"/>
              <a:t>monthly intervals.</a:t>
            </a:r>
            <a:endParaRPr lang="en-IN" sz="2000" dirty="0"/>
          </a:p>
          <a:p>
            <a:pPr marL="1200150" lvl="2" indent="-285750">
              <a:buFont typeface="Wingdings" pitchFamily="2" charset="2"/>
              <a:buChar char="ü"/>
            </a:pPr>
            <a:r>
              <a:rPr lang="en-IN" sz="2000" dirty="0"/>
              <a:t>Fourth dose at </a:t>
            </a:r>
            <a:r>
              <a:rPr lang="en-IN" sz="2000" b="1" dirty="0"/>
              <a:t>15 - 18 months of age.</a:t>
            </a:r>
            <a:endParaRPr lang="en-IN" sz="2000" dirty="0"/>
          </a:p>
          <a:p>
            <a:pPr marL="1200150" lvl="2" indent="-285750">
              <a:buFont typeface="Wingdings" pitchFamily="2" charset="2"/>
              <a:buChar char="ü"/>
            </a:pPr>
            <a:r>
              <a:rPr lang="en-IN" sz="2000" dirty="0"/>
              <a:t>Reduces malaria morbidity and mortality in children.</a:t>
            </a:r>
          </a:p>
          <a:p>
            <a:pPr marL="1200150" lvl="2" indent="-285750">
              <a:buFont typeface="Wingdings" pitchFamily="2" charset="2"/>
              <a:buChar char="ü"/>
            </a:pPr>
            <a:r>
              <a:rPr lang="en-IN" sz="2000" dirty="0"/>
              <a:t>Safe with no adverse effect on routine immunization.</a:t>
            </a:r>
          </a:p>
          <a:p>
            <a:pPr marL="1200150" lvl="2" indent="-285750">
              <a:buFont typeface="Wingdings" pitchFamily="2" charset="2"/>
              <a:buChar char="ü"/>
            </a:pPr>
            <a:r>
              <a:rPr lang="en-IN" sz="2000" dirty="0"/>
              <a:t>Effectiveness about </a:t>
            </a:r>
            <a:r>
              <a:rPr lang="en-IN" sz="2000" b="1" dirty="0"/>
              <a:t>40%.</a:t>
            </a:r>
            <a:endParaRPr lang="en-IN" sz="2000" dirty="0"/>
          </a:p>
          <a:p>
            <a:pPr marL="1200150" lvl="2" indent="-285750">
              <a:buFont typeface="Wingdings" pitchFamily="2" charset="2"/>
              <a:buChar char="ü"/>
            </a:pPr>
            <a:r>
              <a:rPr lang="en-IN" sz="2000" dirty="0"/>
              <a:t>Cost-effective.</a:t>
            </a:r>
          </a:p>
        </p:txBody>
      </p:sp>
    </p:spTree>
    <p:extLst>
      <p:ext uri="{BB962C8B-B14F-4D97-AF65-F5344CB8AC3E}">
        <p14:creationId xmlns:p14="http://schemas.microsoft.com/office/powerpoint/2010/main" val="26398633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823DAA-FB5C-E549-E317-C56CD16442D6}"/>
              </a:ext>
            </a:extLst>
          </p:cNvPr>
          <p:cNvSpPr txBox="1"/>
          <p:nvPr/>
        </p:nvSpPr>
        <p:spPr>
          <a:xfrm>
            <a:off x="4306888" y="2767280"/>
            <a:ext cx="35782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3549429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914</TotalTime>
  <Words>4162</Words>
  <Application>Microsoft Macintosh PowerPoint</Application>
  <PresentationFormat>Widescreen</PresentationFormat>
  <Paragraphs>479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APPLE CHANCERY</vt:lpstr>
      <vt:lpstr>Arial</vt:lpstr>
      <vt:lpstr>Calibri</vt:lpstr>
      <vt:lpstr>Calibri Light</vt:lpstr>
      <vt:lpstr>Engravers 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Yetndera Singh</dc:creator>
  <cp:lastModifiedBy>Yetndera Singh</cp:lastModifiedBy>
  <cp:revision>28</cp:revision>
  <dcterms:created xsi:type="dcterms:W3CDTF">2026-01-27T15:20:32Z</dcterms:created>
  <dcterms:modified xsi:type="dcterms:W3CDTF">2026-01-28T06:34:46Z</dcterms:modified>
</cp:coreProperties>
</file>