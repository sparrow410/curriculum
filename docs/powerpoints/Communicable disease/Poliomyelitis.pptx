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sldIdLst>
    <p:sldId id="256" r:id="rId2"/>
    <p:sldId id="258" r:id="rId3"/>
    <p:sldId id="257"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87" r:id="rId19"/>
    <p:sldId id="274" r:id="rId20"/>
    <p:sldId id="282" r:id="rId21"/>
    <p:sldId id="283" r:id="rId22"/>
    <p:sldId id="273" r:id="rId23"/>
    <p:sldId id="275" r:id="rId24"/>
    <p:sldId id="280" r:id="rId25"/>
    <p:sldId id="276" r:id="rId26"/>
    <p:sldId id="277" r:id="rId27"/>
    <p:sldId id="278" r:id="rId28"/>
    <p:sldId id="281" r:id="rId29"/>
    <p:sldId id="279" r:id="rId30"/>
    <p:sldId id="284" r:id="rId31"/>
    <p:sldId id="285" r:id="rId32"/>
    <p:sldId id="28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57" d="100"/>
          <a:sy n="57" d="100"/>
        </p:scale>
        <p:origin x="78" y="14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solidFill>
                  <a:schemeClr val="tx1">
                    <a:alpha val="60000"/>
                  </a:schemeClr>
                </a:solidFill>
                <a:latin typeface="+mn-lt"/>
              </a:defRPr>
            </a:lvl1pPr>
          </a:lstStyle>
          <a:p>
            <a:fld id="{11A6662E-FAF4-44BC-88B5-85A7CBFB6D30}" type="datetime1">
              <a:rPr lang="en-US" smtClean="0"/>
              <a:pPr/>
              <a:t>9/25/2024</a:t>
            </a:fld>
            <a:endParaRPr lang="en-US" dirty="0"/>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solidFill>
                  <a:schemeClr val="tx1">
                    <a:alpha val="60000"/>
                  </a:schemeClr>
                </a:solidFill>
                <a:latin typeface="+mn-lt"/>
              </a:defRPr>
            </a:lvl1pPr>
          </a:lstStyle>
          <a:p>
            <a:endParaRPr lang="en-US">
              <a:solidFill>
                <a:schemeClr val="tx1">
                  <a:alpha val="60000"/>
                </a:schemeClr>
              </a:solidFill>
            </a:endParaRPr>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solidFill>
                  <a:schemeClr val="tx1">
                    <a:alpha val="60000"/>
                  </a:schemeClr>
                </a:solidFill>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652867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9/25/2024</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187467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9/25/2024</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00666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9/25/2024</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343391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5532319"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5532319"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561106"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561106"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9/25/2024</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37543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458694" y="365760"/>
            <a:ext cx="11274612"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a:xfrm>
            <a:off x="458693" y="6416675"/>
            <a:ext cx="2921715" cy="365125"/>
          </a:xfrm>
        </p:spPr>
        <p:txBody>
          <a:bodyPr/>
          <a:lstStyle/>
          <a:p>
            <a:fld id="{3AB41CFF-90C9-47B3-9DA1-F2BF8D839F7E}" type="datetime1">
              <a:rPr lang="en-US" smtClean="0"/>
              <a:t>9/25/2024</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245097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9/25/2024</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80063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9/25/2024</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070772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9/25/2024</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98831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9/25/2024</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453163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9/25/2024</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86452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fld id="{57E0CF6C-748E-4B7A-BC8B-3011EF78ED13}" type="datetime1">
              <a:rPr lang="en-US" smtClean="0"/>
              <a:pPr/>
              <a:t>9/25/2024</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pPr/>
              <a:t>‹#›</a:t>
            </a:fld>
            <a:endParaRPr lang="en-US" dirty="0"/>
          </a:p>
        </p:txBody>
      </p:sp>
      <p:pic>
        <p:nvPicPr>
          <p:cNvPr id="14" name="Picture 13" descr="A picture containing sitting&#10;&#10;Description automatically generated">
            <a:extLst>
              <a:ext uri="{FF2B5EF4-FFF2-40B4-BE49-F238E27FC236}">
                <a16:creationId xmlns:a16="http://schemas.microsoft.com/office/drawing/2014/main" id="{BC526B7A-4801-4FD1-95C8-03AF22629E87}"/>
              </a:ext>
            </a:extLst>
          </p:cNvPr>
          <p:cNvPicPr>
            <a:picLocks noChangeAspect="1"/>
          </p:cNvPicPr>
          <p:nvPr/>
        </p:nvPicPr>
        <p:blipFill>
          <a:blip r:embed="rId13">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extLst>
      <p:ext uri="{BB962C8B-B14F-4D97-AF65-F5344CB8AC3E}">
        <p14:creationId xmlns:p14="http://schemas.microsoft.com/office/powerpoint/2010/main" val="267840958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81" r:id="rId3"/>
    <p:sldLayoutId id="2147483682" r:id="rId4"/>
    <p:sldLayoutId id="2147483683" r:id="rId5"/>
    <p:sldLayoutId id="2147483684" r:id="rId6"/>
    <p:sldLayoutId id="2147483685" r:id="rId7"/>
    <p:sldLayoutId id="2147483689" r:id="rId8"/>
    <p:sldLayoutId id="2147483686" r:id="rId9"/>
    <p:sldLayoutId id="2147483687" r:id="rId10"/>
    <p:sldLayoutId id="2147483688" r:id="rId11"/>
  </p:sldLayoutIdLst>
  <p:hf sldNum="0" hdr="0" ftr="0" dt="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FDDF72-DE39-4F99-A3C1-DD9D7815D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5E4ECE80-3AD1-450C-B62A-98788F193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descr="A close-up of a network&#10;&#10;Description automatically generated">
            <a:extLst>
              <a:ext uri="{FF2B5EF4-FFF2-40B4-BE49-F238E27FC236}">
                <a16:creationId xmlns:a16="http://schemas.microsoft.com/office/drawing/2014/main" id="{EFCD6B10-7F0D-2A33-A7EA-CAF61C9222B9}"/>
              </a:ext>
            </a:extLst>
          </p:cNvPr>
          <p:cNvPicPr>
            <a:picLocks noChangeAspect="1"/>
          </p:cNvPicPr>
          <p:nvPr/>
        </p:nvPicPr>
        <p:blipFill>
          <a:blip r:embed="rId2">
            <a:alphaModFix amt="60000"/>
          </a:blip>
          <a:srcRect t="14876" r="-1" b="1475"/>
          <a:stretch/>
        </p:blipFill>
        <p:spPr>
          <a:xfrm>
            <a:off x="3048" y="10"/>
            <a:ext cx="12188952" cy="6856614"/>
          </a:xfrm>
          <a:prstGeom prst="rect">
            <a:avLst/>
          </a:prstGeom>
        </p:spPr>
      </p:pic>
      <p:grpSp>
        <p:nvGrpSpPr>
          <p:cNvPr id="13" name="Group 12">
            <a:extLst>
              <a:ext uri="{FF2B5EF4-FFF2-40B4-BE49-F238E27FC236}">
                <a16:creationId xmlns:a16="http://schemas.microsoft.com/office/drawing/2014/main" id="{B9632603-447F-4389-863D-9820DB9915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6951981" y="0"/>
            <a:ext cx="5236971" cy="6858001"/>
            <a:chOff x="6951981" y="0"/>
            <a:chExt cx="5236971" cy="6858001"/>
          </a:xfrm>
        </p:grpSpPr>
        <p:pic>
          <p:nvPicPr>
            <p:cNvPr id="14" name="Picture 13">
              <a:extLst>
                <a:ext uri="{FF2B5EF4-FFF2-40B4-BE49-F238E27FC236}">
                  <a16:creationId xmlns:a16="http://schemas.microsoft.com/office/drawing/2014/main" id="{354F4BB5-9639-4525-A748-2B2D8FDB107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0000"/>
              <a:extLst>
                <a:ext uri="{28A0092B-C50C-407E-A947-70E740481C1C}">
                  <a14:useLocalDpi xmlns:a14="http://schemas.microsoft.com/office/drawing/2010/main" val="0"/>
                </a:ext>
              </a:extLst>
            </a:blip>
            <a:stretch>
              <a:fillRect/>
            </a:stretch>
          </p:blipFill>
          <p:spPr>
            <a:xfrm flipH="1">
              <a:off x="6951981" y="692703"/>
              <a:ext cx="5236971" cy="6165298"/>
            </a:xfrm>
            <a:prstGeom prst="rect">
              <a:avLst/>
            </a:prstGeom>
          </p:spPr>
        </p:pic>
        <p:pic>
          <p:nvPicPr>
            <p:cNvPr id="15" name="Picture 14">
              <a:extLst>
                <a:ext uri="{FF2B5EF4-FFF2-40B4-BE49-F238E27FC236}">
                  <a16:creationId xmlns:a16="http://schemas.microsoft.com/office/drawing/2014/main" id="{4D9AF55E-83EF-4A42-A236-590299A7B9C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5000"/>
              <a:extLst>
                <a:ext uri="{28A0092B-C50C-407E-A947-70E740481C1C}">
                  <a14:useLocalDpi xmlns:a14="http://schemas.microsoft.com/office/drawing/2010/main" val="0"/>
                </a:ext>
              </a:extLst>
            </a:blip>
            <a:srcRect l="19154" b="19117"/>
            <a:stretch/>
          </p:blipFill>
          <p:spPr>
            <a:xfrm rot="16200000" flipH="1">
              <a:off x="7618603" y="-373126"/>
              <a:ext cx="4197223" cy="4943475"/>
            </a:xfrm>
            <a:prstGeom prst="rect">
              <a:avLst/>
            </a:prstGeom>
          </p:spPr>
        </p:pic>
      </p:grpSp>
      <p:sp>
        <p:nvSpPr>
          <p:cNvPr id="2" name="Title 1">
            <a:extLst>
              <a:ext uri="{FF2B5EF4-FFF2-40B4-BE49-F238E27FC236}">
                <a16:creationId xmlns:a16="http://schemas.microsoft.com/office/drawing/2014/main" id="{92A3827F-52E9-8F5E-6982-943F50ED88DE}"/>
              </a:ext>
            </a:extLst>
          </p:cNvPr>
          <p:cNvSpPr>
            <a:spLocks noGrp="1"/>
          </p:cNvSpPr>
          <p:nvPr>
            <p:ph type="ctrTitle"/>
          </p:nvPr>
        </p:nvSpPr>
        <p:spPr>
          <a:xfrm>
            <a:off x="996275" y="744909"/>
            <a:ext cx="10190071" cy="3145855"/>
          </a:xfrm>
        </p:spPr>
        <p:txBody>
          <a:bodyPr anchor="b">
            <a:normAutofit/>
          </a:bodyPr>
          <a:lstStyle/>
          <a:p>
            <a:r>
              <a:rPr lang="en-US" sz="5200" dirty="0">
                <a:solidFill>
                  <a:srgbClr val="FFFFFF"/>
                </a:solidFill>
              </a:rPr>
              <a:t>Poliomyelitis</a:t>
            </a:r>
          </a:p>
        </p:txBody>
      </p:sp>
      <p:sp>
        <p:nvSpPr>
          <p:cNvPr id="3" name="Subtitle 2">
            <a:extLst>
              <a:ext uri="{FF2B5EF4-FFF2-40B4-BE49-F238E27FC236}">
                <a16:creationId xmlns:a16="http://schemas.microsoft.com/office/drawing/2014/main" id="{F0761A03-927F-1C3D-1532-688561D7A3E6}"/>
              </a:ext>
            </a:extLst>
          </p:cNvPr>
          <p:cNvSpPr>
            <a:spLocks noGrp="1"/>
          </p:cNvSpPr>
          <p:nvPr>
            <p:ph type="subTitle" idx="1"/>
          </p:nvPr>
        </p:nvSpPr>
        <p:spPr>
          <a:xfrm>
            <a:off x="1218708" y="4069780"/>
            <a:ext cx="9781327" cy="2056617"/>
          </a:xfrm>
        </p:spPr>
        <p:txBody>
          <a:bodyPr anchor="t">
            <a:normAutofit/>
          </a:bodyPr>
          <a:lstStyle/>
          <a:p>
            <a:endParaRPr lang="en-US" sz="2200">
              <a:solidFill>
                <a:srgbClr val="FFFFFF"/>
              </a:solidFill>
            </a:endParaRPr>
          </a:p>
        </p:txBody>
      </p:sp>
    </p:spTree>
    <p:extLst>
      <p:ext uri="{BB962C8B-B14F-4D97-AF65-F5344CB8AC3E}">
        <p14:creationId xmlns:p14="http://schemas.microsoft.com/office/powerpoint/2010/main" val="840160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1DA57B7B-30D9-4515-9542-FFA699A3C8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DB2F975E-DA49-4702-8C47-1C492A7A84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3" name="Picture 12">
              <a:extLst>
                <a:ext uri="{FF2B5EF4-FFF2-40B4-BE49-F238E27FC236}">
                  <a16:creationId xmlns:a16="http://schemas.microsoft.com/office/drawing/2014/main" id="{9BB1C3C0-F046-4A8E-B762-5D60202A6BB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4" name="Picture 13">
              <a:extLst>
                <a:ext uri="{FF2B5EF4-FFF2-40B4-BE49-F238E27FC236}">
                  <a16:creationId xmlns:a16="http://schemas.microsoft.com/office/drawing/2014/main" id="{CC2C50DE-161C-4D3A-8A43-4DFCF8C6415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3" name="Content Placeholder 2">
            <a:extLst>
              <a:ext uri="{FF2B5EF4-FFF2-40B4-BE49-F238E27FC236}">
                <a16:creationId xmlns:a16="http://schemas.microsoft.com/office/drawing/2014/main" id="{DEA399B9-C4B7-494A-40E0-AB855AADACF2}"/>
              </a:ext>
            </a:extLst>
          </p:cNvPr>
          <p:cNvSpPr>
            <a:spLocks noGrp="1"/>
          </p:cNvSpPr>
          <p:nvPr>
            <p:ph idx="1"/>
          </p:nvPr>
        </p:nvSpPr>
        <p:spPr>
          <a:xfrm>
            <a:off x="270013" y="345990"/>
            <a:ext cx="11651974" cy="6054810"/>
          </a:xfrm>
        </p:spPr>
        <p:txBody>
          <a:bodyPr>
            <a:normAutofit/>
          </a:bodyPr>
          <a:lstStyle/>
          <a:p>
            <a:pPr algn="ctr"/>
            <a:r>
              <a:rPr lang="en-US" sz="4000" dirty="0">
                <a:solidFill>
                  <a:srgbClr val="FFFFFF"/>
                </a:solidFill>
              </a:rPr>
              <a:t>Primarily an </a:t>
            </a:r>
            <a:r>
              <a:rPr lang="en-US" sz="4000" dirty="0">
                <a:solidFill>
                  <a:srgbClr val="FFFFFF"/>
                </a:solidFill>
                <a:highlight>
                  <a:srgbClr val="000000"/>
                </a:highlight>
              </a:rPr>
              <a:t>infection of the human alimentary tract </a:t>
            </a:r>
          </a:p>
          <a:p>
            <a:pPr algn="ctr"/>
            <a:r>
              <a:rPr lang="en-US" sz="4000" dirty="0">
                <a:solidFill>
                  <a:srgbClr val="FFFFFF"/>
                </a:solidFill>
              </a:rPr>
              <a:t>Virus may </a:t>
            </a:r>
            <a:r>
              <a:rPr lang="en-US" sz="4000" dirty="0">
                <a:solidFill>
                  <a:srgbClr val="FFFFFF"/>
                </a:solidFill>
                <a:highlight>
                  <a:srgbClr val="000000"/>
                </a:highlight>
              </a:rPr>
              <a:t>infect the central nervous system</a:t>
            </a:r>
            <a:r>
              <a:rPr lang="en-US" sz="4000" dirty="0">
                <a:solidFill>
                  <a:srgbClr val="FFFFFF"/>
                </a:solidFill>
              </a:rPr>
              <a:t> in a very small percentage (</a:t>
            </a:r>
            <a:r>
              <a:rPr lang="en-US" sz="4000" dirty="0">
                <a:solidFill>
                  <a:srgbClr val="FFFFFF"/>
                </a:solidFill>
                <a:highlight>
                  <a:srgbClr val="000000"/>
                </a:highlight>
              </a:rPr>
              <a:t>about 1 per cent</a:t>
            </a:r>
            <a:r>
              <a:rPr lang="en-US" sz="4000" dirty="0">
                <a:solidFill>
                  <a:srgbClr val="FFFFFF"/>
                </a:solidFill>
              </a:rPr>
              <a:t>) of cases resulting in varying degrees of paralysis, and possibly death.</a:t>
            </a:r>
          </a:p>
          <a:p>
            <a:pPr algn="ctr"/>
            <a:endParaRPr lang="en-US" sz="4000" dirty="0">
              <a:solidFill>
                <a:srgbClr val="FFFFFF"/>
              </a:solidFill>
            </a:endParaRPr>
          </a:p>
          <a:p>
            <a:pPr algn="ctr"/>
            <a:r>
              <a:rPr lang="en-US" sz="4000" dirty="0">
                <a:solidFill>
                  <a:srgbClr val="FFFFFF"/>
                </a:solidFill>
                <a:highlight>
                  <a:srgbClr val="000000"/>
                </a:highlight>
              </a:rPr>
              <a:t>Incubation period - Usually 7 to 14 days (range 3 to 35 days)</a:t>
            </a:r>
          </a:p>
        </p:txBody>
      </p:sp>
    </p:spTree>
    <p:extLst>
      <p:ext uri="{BB962C8B-B14F-4D97-AF65-F5344CB8AC3E}">
        <p14:creationId xmlns:p14="http://schemas.microsoft.com/office/powerpoint/2010/main" val="3372105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8461-472A-6716-D016-AE81C7539405}"/>
              </a:ext>
            </a:extLst>
          </p:cNvPr>
          <p:cNvSpPr>
            <a:spLocks noGrp="1"/>
          </p:cNvSpPr>
          <p:nvPr>
            <p:ph type="title"/>
          </p:nvPr>
        </p:nvSpPr>
        <p:spPr/>
        <p:txBody>
          <a:bodyPr/>
          <a:lstStyle/>
          <a:p>
            <a:r>
              <a:rPr lang="en-US" dirty="0"/>
              <a:t>Epidemiology: Agent</a:t>
            </a:r>
          </a:p>
        </p:txBody>
      </p:sp>
      <p:sp>
        <p:nvSpPr>
          <p:cNvPr id="3" name="Content Placeholder 2">
            <a:extLst>
              <a:ext uri="{FF2B5EF4-FFF2-40B4-BE49-F238E27FC236}">
                <a16:creationId xmlns:a16="http://schemas.microsoft.com/office/drawing/2014/main" id="{C26F1961-9CFA-56D2-D784-446A4AEAFB9D}"/>
              </a:ext>
            </a:extLst>
          </p:cNvPr>
          <p:cNvSpPr>
            <a:spLocks noGrp="1"/>
          </p:cNvSpPr>
          <p:nvPr>
            <p:ph idx="1"/>
          </p:nvPr>
        </p:nvSpPr>
        <p:spPr>
          <a:xfrm>
            <a:off x="458694" y="1540934"/>
            <a:ext cx="11274612" cy="4604280"/>
          </a:xfrm>
        </p:spPr>
        <p:txBody>
          <a:bodyPr>
            <a:normAutofit fontScale="92500" lnSpcReduction="10000"/>
          </a:bodyPr>
          <a:lstStyle/>
          <a:p>
            <a:r>
              <a:rPr lang="en-US" b="1" dirty="0"/>
              <a:t>Poliovirus (RNA virus) </a:t>
            </a:r>
            <a:r>
              <a:rPr lang="en-US" dirty="0"/>
              <a:t>- three serotypes 1,2 and 3. Most </a:t>
            </a:r>
            <a:r>
              <a:rPr lang="en-US" dirty="0">
                <a:highlight>
                  <a:srgbClr val="FFFF00"/>
                </a:highlight>
              </a:rPr>
              <a:t>outbreaks of paralytic polio are due to type-1 virus</a:t>
            </a:r>
            <a:r>
              <a:rPr lang="en-US" dirty="0"/>
              <a:t>. </a:t>
            </a:r>
          </a:p>
          <a:p>
            <a:pPr lvl="1"/>
            <a:r>
              <a:rPr lang="en-US" dirty="0"/>
              <a:t>Poliovirus can survive for long periods in the external environment. In a </a:t>
            </a:r>
            <a:r>
              <a:rPr lang="en-US" dirty="0">
                <a:highlight>
                  <a:srgbClr val="FFFF00"/>
                </a:highlight>
              </a:rPr>
              <a:t>cold environment, it can live in water for 4 months and in </a:t>
            </a:r>
            <a:r>
              <a:rPr lang="en-US" dirty="0" err="1">
                <a:highlight>
                  <a:srgbClr val="FFFF00"/>
                </a:highlight>
              </a:rPr>
              <a:t>faeces</a:t>
            </a:r>
            <a:r>
              <a:rPr lang="en-US" dirty="0">
                <a:highlight>
                  <a:srgbClr val="FFFF00"/>
                </a:highlight>
              </a:rPr>
              <a:t> for 6 months.</a:t>
            </a:r>
            <a:r>
              <a:rPr lang="en-US" dirty="0"/>
              <a:t> </a:t>
            </a:r>
          </a:p>
          <a:p>
            <a:pPr lvl="1"/>
            <a:r>
              <a:rPr lang="en-US" dirty="0"/>
              <a:t>Well-adapted for the </a:t>
            </a:r>
            <a:r>
              <a:rPr lang="en-US" dirty="0" err="1"/>
              <a:t>faecal</a:t>
            </a:r>
            <a:r>
              <a:rPr lang="en-US" dirty="0"/>
              <a:t>-oral route of transmission.</a:t>
            </a:r>
          </a:p>
          <a:p>
            <a:r>
              <a:rPr lang="en-US" b="1" dirty="0"/>
              <a:t>RESERVOIR OF INFECTION </a:t>
            </a:r>
            <a:r>
              <a:rPr lang="en-US" dirty="0"/>
              <a:t>: </a:t>
            </a:r>
            <a:r>
              <a:rPr lang="en-US" dirty="0">
                <a:highlight>
                  <a:srgbClr val="FFFF00"/>
                </a:highlight>
              </a:rPr>
              <a:t>Man is the only known reservoir </a:t>
            </a:r>
            <a:r>
              <a:rPr lang="en-US" dirty="0"/>
              <a:t>of infection.</a:t>
            </a:r>
          </a:p>
          <a:p>
            <a:pPr lvl="1"/>
            <a:r>
              <a:rPr lang="en-US" dirty="0">
                <a:highlight>
                  <a:srgbClr val="FFFF00"/>
                </a:highlight>
              </a:rPr>
              <a:t>Most infections are subclinical</a:t>
            </a:r>
            <a:r>
              <a:rPr lang="en-US" dirty="0"/>
              <a:t>. It is the mild and subclinical infections that play a dominant role in the spread of Infection. </a:t>
            </a:r>
          </a:p>
          <a:p>
            <a:pPr lvl="1"/>
            <a:r>
              <a:rPr lang="en-US" dirty="0"/>
              <a:t>It is estimated that for every clinical case, there may be 1000 subclinical cases in children and 75 in adults.</a:t>
            </a:r>
          </a:p>
          <a:p>
            <a:pPr lvl="1"/>
            <a:r>
              <a:rPr lang="en-US" dirty="0"/>
              <a:t>There are </a:t>
            </a:r>
            <a:r>
              <a:rPr lang="en-US" dirty="0">
                <a:highlight>
                  <a:srgbClr val="FFFF00"/>
                </a:highlight>
              </a:rPr>
              <a:t>no chronic carriers. No animal source </a:t>
            </a:r>
            <a:r>
              <a:rPr lang="en-US" dirty="0"/>
              <a:t>has yet been demonstrated.</a:t>
            </a:r>
          </a:p>
        </p:txBody>
      </p:sp>
    </p:spTree>
    <p:extLst>
      <p:ext uri="{BB962C8B-B14F-4D97-AF65-F5344CB8AC3E}">
        <p14:creationId xmlns:p14="http://schemas.microsoft.com/office/powerpoint/2010/main" val="1721614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8461-472A-6716-D016-AE81C7539405}"/>
              </a:ext>
            </a:extLst>
          </p:cNvPr>
          <p:cNvSpPr>
            <a:spLocks noGrp="1"/>
          </p:cNvSpPr>
          <p:nvPr>
            <p:ph type="title"/>
          </p:nvPr>
        </p:nvSpPr>
        <p:spPr/>
        <p:txBody>
          <a:bodyPr/>
          <a:lstStyle/>
          <a:p>
            <a:r>
              <a:rPr lang="en-US" dirty="0"/>
              <a:t>Epidemiology: Agent</a:t>
            </a:r>
          </a:p>
        </p:txBody>
      </p:sp>
      <p:sp>
        <p:nvSpPr>
          <p:cNvPr id="3" name="Content Placeholder 2">
            <a:extLst>
              <a:ext uri="{FF2B5EF4-FFF2-40B4-BE49-F238E27FC236}">
                <a16:creationId xmlns:a16="http://schemas.microsoft.com/office/drawing/2014/main" id="{C26F1961-9CFA-56D2-D784-446A4AEAFB9D}"/>
              </a:ext>
            </a:extLst>
          </p:cNvPr>
          <p:cNvSpPr>
            <a:spLocks noGrp="1"/>
          </p:cNvSpPr>
          <p:nvPr>
            <p:ph idx="1"/>
          </p:nvPr>
        </p:nvSpPr>
        <p:spPr/>
        <p:txBody>
          <a:bodyPr>
            <a:normAutofit/>
          </a:bodyPr>
          <a:lstStyle/>
          <a:p>
            <a:r>
              <a:rPr lang="en-US" dirty="0"/>
              <a:t>INFECTIOUS MATERIAL : The virus is found in the </a:t>
            </a:r>
            <a:r>
              <a:rPr lang="en-US" dirty="0" err="1">
                <a:highlight>
                  <a:srgbClr val="FFFF00"/>
                </a:highlight>
              </a:rPr>
              <a:t>faeces</a:t>
            </a:r>
            <a:r>
              <a:rPr lang="en-US" dirty="0">
                <a:highlight>
                  <a:srgbClr val="FFFF00"/>
                </a:highlight>
              </a:rPr>
              <a:t> and oropharyngeal secretions</a:t>
            </a:r>
            <a:r>
              <a:rPr lang="en-US" dirty="0"/>
              <a:t> of an infected person.</a:t>
            </a:r>
          </a:p>
          <a:p>
            <a:r>
              <a:rPr lang="en-US" dirty="0"/>
              <a:t>PERIOD OF COMMUNICABILITY : </a:t>
            </a:r>
          </a:p>
          <a:p>
            <a:pPr lvl="1"/>
            <a:r>
              <a:rPr lang="en-US" dirty="0"/>
              <a:t>The cases are </a:t>
            </a:r>
            <a:r>
              <a:rPr lang="en-US" dirty="0">
                <a:highlight>
                  <a:srgbClr val="FFFF00"/>
                </a:highlight>
              </a:rPr>
              <a:t>most infectious 7 to 10 days before and after onset of symptoms. </a:t>
            </a:r>
          </a:p>
          <a:p>
            <a:pPr lvl="1"/>
            <a:r>
              <a:rPr lang="en-US" dirty="0"/>
              <a:t>In the </a:t>
            </a:r>
            <a:r>
              <a:rPr lang="en-US" dirty="0" err="1"/>
              <a:t>faeces</a:t>
            </a:r>
            <a:r>
              <a:rPr lang="en-US" dirty="0"/>
              <a:t>, the virus is </a:t>
            </a:r>
            <a:r>
              <a:rPr lang="en-US" dirty="0">
                <a:highlight>
                  <a:srgbClr val="FFFF00"/>
                </a:highlight>
              </a:rPr>
              <a:t>excreted commonly for 2 to 3 weeks, sometimes as long as 3 to 4 months.</a:t>
            </a:r>
          </a:p>
        </p:txBody>
      </p:sp>
    </p:spTree>
    <p:extLst>
      <p:ext uri="{BB962C8B-B14F-4D97-AF65-F5344CB8AC3E}">
        <p14:creationId xmlns:p14="http://schemas.microsoft.com/office/powerpoint/2010/main" val="2041013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8461-472A-6716-D016-AE81C7539405}"/>
              </a:ext>
            </a:extLst>
          </p:cNvPr>
          <p:cNvSpPr>
            <a:spLocks noGrp="1"/>
          </p:cNvSpPr>
          <p:nvPr>
            <p:ph type="title"/>
          </p:nvPr>
        </p:nvSpPr>
        <p:spPr/>
        <p:txBody>
          <a:bodyPr/>
          <a:lstStyle/>
          <a:p>
            <a:r>
              <a:rPr lang="en-US" dirty="0"/>
              <a:t>Epidemiology: Host</a:t>
            </a:r>
          </a:p>
        </p:txBody>
      </p:sp>
      <p:sp>
        <p:nvSpPr>
          <p:cNvPr id="3" name="Content Placeholder 2">
            <a:extLst>
              <a:ext uri="{FF2B5EF4-FFF2-40B4-BE49-F238E27FC236}">
                <a16:creationId xmlns:a16="http://schemas.microsoft.com/office/drawing/2014/main" id="{C26F1961-9CFA-56D2-D784-446A4AEAFB9D}"/>
              </a:ext>
            </a:extLst>
          </p:cNvPr>
          <p:cNvSpPr>
            <a:spLocks noGrp="1"/>
          </p:cNvSpPr>
          <p:nvPr>
            <p:ph idx="1"/>
          </p:nvPr>
        </p:nvSpPr>
        <p:spPr/>
        <p:txBody>
          <a:bodyPr>
            <a:normAutofit fontScale="92500" lnSpcReduction="20000"/>
          </a:bodyPr>
          <a:lstStyle/>
          <a:p>
            <a:r>
              <a:rPr lang="en-US" b="1" dirty="0"/>
              <a:t>AGE</a:t>
            </a:r>
            <a:r>
              <a:rPr lang="en-US" dirty="0"/>
              <a:t> : The disease occurs in </a:t>
            </a:r>
            <a:r>
              <a:rPr lang="en-US" dirty="0">
                <a:highlight>
                  <a:srgbClr val="FFFF00"/>
                </a:highlight>
              </a:rPr>
              <a:t>all age groups</a:t>
            </a:r>
            <a:r>
              <a:rPr lang="en-US" dirty="0"/>
              <a:t>.</a:t>
            </a:r>
          </a:p>
          <a:p>
            <a:r>
              <a:rPr lang="en-US" dirty="0">
                <a:highlight>
                  <a:srgbClr val="FFFF00"/>
                </a:highlight>
              </a:rPr>
              <a:t>Children are usually more susceptible</a:t>
            </a:r>
            <a:r>
              <a:rPr lang="en-US" dirty="0"/>
              <a:t> than adults because of the acquired immunity of the adult population. </a:t>
            </a:r>
          </a:p>
          <a:p>
            <a:r>
              <a:rPr lang="en-US" dirty="0"/>
              <a:t>In developed countries, before the advent of vaccination, the age distribution shifted so that most patients were over the age of 5 years, and 25 per cent were over age 15 years. </a:t>
            </a:r>
          </a:p>
          <a:p>
            <a:r>
              <a:rPr lang="en-US" dirty="0"/>
              <a:t>In India, </a:t>
            </a:r>
            <a:r>
              <a:rPr lang="en-US" dirty="0">
                <a:highlight>
                  <a:srgbClr val="FFFF00"/>
                </a:highlight>
              </a:rPr>
              <a:t>polio is essentially a disease of infancy and childhood</a:t>
            </a:r>
            <a:r>
              <a:rPr lang="en-US" dirty="0"/>
              <a:t>.</a:t>
            </a:r>
          </a:p>
          <a:p>
            <a:pPr lvl="1"/>
            <a:r>
              <a:rPr lang="en-US" dirty="0"/>
              <a:t>About 50 per cent of cases are reported in infancy. </a:t>
            </a:r>
          </a:p>
          <a:p>
            <a:pPr lvl="1"/>
            <a:r>
              <a:rPr lang="en-US" dirty="0"/>
              <a:t>The most vulnerable age is between 6 months and 3 years, </a:t>
            </a:r>
          </a:p>
          <a:p>
            <a:r>
              <a:rPr lang="en-US" b="1" dirty="0"/>
              <a:t>SEX</a:t>
            </a:r>
            <a:r>
              <a:rPr lang="en-US" dirty="0"/>
              <a:t> : Sex differences have been noted in the ratio of </a:t>
            </a:r>
            <a:r>
              <a:rPr lang="en-US" dirty="0">
                <a:highlight>
                  <a:srgbClr val="FFFF00"/>
                </a:highlight>
              </a:rPr>
              <a:t>3 males to one female</a:t>
            </a:r>
          </a:p>
        </p:txBody>
      </p:sp>
    </p:spTree>
    <p:extLst>
      <p:ext uri="{BB962C8B-B14F-4D97-AF65-F5344CB8AC3E}">
        <p14:creationId xmlns:p14="http://schemas.microsoft.com/office/powerpoint/2010/main" val="2140977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8461-472A-6716-D016-AE81C7539405}"/>
              </a:ext>
            </a:extLst>
          </p:cNvPr>
          <p:cNvSpPr>
            <a:spLocks noGrp="1"/>
          </p:cNvSpPr>
          <p:nvPr>
            <p:ph type="title"/>
          </p:nvPr>
        </p:nvSpPr>
        <p:spPr/>
        <p:txBody>
          <a:bodyPr/>
          <a:lstStyle/>
          <a:p>
            <a:r>
              <a:rPr lang="en-US" dirty="0"/>
              <a:t>Epidemiology: Host</a:t>
            </a:r>
          </a:p>
        </p:txBody>
      </p:sp>
      <p:sp>
        <p:nvSpPr>
          <p:cNvPr id="3" name="Content Placeholder 2">
            <a:extLst>
              <a:ext uri="{FF2B5EF4-FFF2-40B4-BE49-F238E27FC236}">
                <a16:creationId xmlns:a16="http://schemas.microsoft.com/office/drawing/2014/main" id="{C26F1961-9CFA-56D2-D784-446A4AEAFB9D}"/>
              </a:ext>
            </a:extLst>
          </p:cNvPr>
          <p:cNvSpPr>
            <a:spLocks noGrp="1"/>
          </p:cNvSpPr>
          <p:nvPr>
            <p:ph idx="1"/>
          </p:nvPr>
        </p:nvSpPr>
        <p:spPr/>
        <p:txBody>
          <a:bodyPr>
            <a:normAutofit fontScale="92500" lnSpcReduction="20000"/>
          </a:bodyPr>
          <a:lstStyle/>
          <a:p>
            <a:r>
              <a:rPr lang="en-US" b="1" dirty="0"/>
              <a:t>RISK FACTORS </a:t>
            </a:r>
            <a:r>
              <a:rPr lang="en-US" dirty="0"/>
              <a:t>: They include </a:t>
            </a:r>
            <a:r>
              <a:rPr lang="en-US" dirty="0">
                <a:highlight>
                  <a:srgbClr val="FFFF00"/>
                </a:highlight>
              </a:rPr>
              <a:t>fatigue, trauma, intramuscular injections, operative procedures</a:t>
            </a:r>
            <a:r>
              <a:rPr lang="en-US" dirty="0"/>
              <a:t> such as tonsillectomy undertaken especially during epidemics of polio and administration of immunizing agents particularly alum-containing DPT. </a:t>
            </a:r>
          </a:p>
          <a:p>
            <a:r>
              <a:rPr lang="en-US" b="1" dirty="0"/>
              <a:t>IMMUNITY</a:t>
            </a:r>
            <a:r>
              <a:rPr lang="en-US" dirty="0"/>
              <a:t> :</a:t>
            </a:r>
          </a:p>
          <a:p>
            <a:pPr lvl="1"/>
            <a:r>
              <a:rPr lang="en-US" dirty="0"/>
              <a:t>The maternal antibodies gradually disappear during the first 6 months of life. </a:t>
            </a:r>
          </a:p>
          <a:p>
            <a:pPr lvl="1"/>
            <a:r>
              <a:rPr lang="en-US" dirty="0"/>
              <a:t>Immunity following infection is </a:t>
            </a:r>
            <a:r>
              <a:rPr lang="en-US" dirty="0">
                <a:highlight>
                  <a:srgbClr val="FFFF00"/>
                </a:highlight>
              </a:rPr>
              <a:t>fairly solid although reinfection can occur since infection with one type does not protect completely against the other two types of viruses</a:t>
            </a:r>
            <a:r>
              <a:rPr lang="en-US" dirty="0"/>
              <a:t>. </a:t>
            </a:r>
          </a:p>
          <a:p>
            <a:pPr lvl="1"/>
            <a:r>
              <a:rPr lang="en-US" dirty="0"/>
              <a:t>Type-2 virus appears to be the most effective antigen. </a:t>
            </a:r>
          </a:p>
          <a:p>
            <a:pPr lvl="1"/>
            <a:r>
              <a:rPr lang="en-US" dirty="0"/>
              <a:t>Neutralizing antibody is widely recognized as an important index of immunity to polio after infection</a:t>
            </a:r>
          </a:p>
        </p:txBody>
      </p:sp>
    </p:spTree>
    <p:extLst>
      <p:ext uri="{BB962C8B-B14F-4D97-AF65-F5344CB8AC3E}">
        <p14:creationId xmlns:p14="http://schemas.microsoft.com/office/powerpoint/2010/main" val="3246664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8461-472A-6716-D016-AE81C7539405}"/>
              </a:ext>
            </a:extLst>
          </p:cNvPr>
          <p:cNvSpPr>
            <a:spLocks noGrp="1"/>
          </p:cNvSpPr>
          <p:nvPr>
            <p:ph type="title"/>
          </p:nvPr>
        </p:nvSpPr>
        <p:spPr/>
        <p:txBody>
          <a:bodyPr/>
          <a:lstStyle/>
          <a:p>
            <a:r>
              <a:rPr lang="en-US" dirty="0"/>
              <a:t>Epidemiology: Environment</a:t>
            </a:r>
          </a:p>
        </p:txBody>
      </p:sp>
      <p:sp>
        <p:nvSpPr>
          <p:cNvPr id="3" name="Content Placeholder 2">
            <a:extLst>
              <a:ext uri="{FF2B5EF4-FFF2-40B4-BE49-F238E27FC236}">
                <a16:creationId xmlns:a16="http://schemas.microsoft.com/office/drawing/2014/main" id="{C26F1961-9CFA-56D2-D784-446A4AEAFB9D}"/>
              </a:ext>
            </a:extLst>
          </p:cNvPr>
          <p:cNvSpPr>
            <a:spLocks noGrp="1"/>
          </p:cNvSpPr>
          <p:nvPr>
            <p:ph idx="1"/>
          </p:nvPr>
        </p:nvSpPr>
        <p:spPr/>
        <p:txBody>
          <a:bodyPr>
            <a:normAutofit lnSpcReduction="10000"/>
          </a:bodyPr>
          <a:lstStyle/>
          <a:p>
            <a:r>
              <a:rPr lang="en-US" dirty="0"/>
              <a:t>Polio is more likely to </a:t>
            </a:r>
            <a:r>
              <a:rPr lang="en-US" dirty="0">
                <a:highlight>
                  <a:srgbClr val="FFFF00"/>
                </a:highlight>
              </a:rPr>
              <a:t>occur during the rainy season</a:t>
            </a:r>
            <a:r>
              <a:rPr lang="en-US" dirty="0"/>
              <a:t>.</a:t>
            </a:r>
          </a:p>
          <a:p>
            <a:r>
              <a:rPr lang="en-US" dirty="0"/>
              <a:t>Approximately 60 per cent of cases recorded in India were during June to September. </a:t>
            </a:r>
          </a:p>
          <a:p>
            <a:r>
              <a:rPr lang="en-US" dirty="0"/>
              <a:t>The environmental </a:t>
            </a:r>
            <a:r>
              <a:rPr lang="en-US" dirty="0">
                <a:highlight>
                  <a:srgbClr val="FFFF00"/>
                </a:highlight>
              </a:rPr>
              <a:t>sources of infection are contaminated water, food and flies.</a:t>
            </a:r>
            <a:r>
              <a:rPr lang="en-US" dirty="0"/>
              <a:t> </a:t>
            </a:r>
          </a:p>
          <a:p>
            <a:r>
              <a:rPr lang="en-US" dirty="0"/>
              <a:t>Polio virus survives for a long time in a cold environment.</a:t>
            </a:r>
          </a:p>
          <a:p>
            <a:r>
              <a:rPr lang="en-US" dirty="0">
                <a:highlight>
                  <a:srgbClr val="FFFF00"/>
                </a:highlight>
              </a:rPr>
              <a:t>Overcrowding and poor sanitation </a:t>
            </a:r>
            <a:r>
              <a:rPr lang="en-US" dirty="0"/>
              <a:t>provide opportunities for exposure to infection.</a:t>
            </a:r>
          </a:p>
        </p:txBody>
      </p:sp>
    </p:spTree>
    <p:extLst>
      <p:ext uri="{BB962C8B-B14F-4D97-AF65-F5344CB8AC3E}">
        <p14:creationId xmlns:p14="http://schemas.microsoft.com/office/powerpoint/2010/main" val="4114229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E5541-29A7-7437-D22F-D52BB42B0F91}"/>
              </a:ext>
            </a:extLst>
          </p:cNvPr>
          <p:cNvSpPr>
            <a:spLocks noGrp="1"/>
          </p:cNvSpPr>
          <p:nvPr>
            <p:ph type="title"/>
          </p:nvPr>
        </p:nvSpPr>
        <p:spPr/>
        <p:txBody>
          <a:bodyPr/>
          <a:lstStyle/>
          <a:p>
            <a:r>
              <a:rPr lang="en-US" dirty="0"/>
              <a:t>Mode of transmission</a:t>
            </a:r>
          </a:p>
        </p:txBody>
      </p:sp>
      <p:sp>
        <p:nvSpPr>
          <p:cNvPr id="3" name="Content Placeholder 2">
            <a:extLst>
              <a:ext uri="{FF2B5EF4-FFF2-40B4-BE49-F238E27FC236}">
                <a16:creationId xmlns:a16="http://schemas.microsoft.com/office/drawing/2014/main" id="{0C949046-8C7A-B92E-C258-0A28CFE0CDC3}"/>
              </a:ext>
            </a:extLst>
          </p:cNvPr>
          <p:cNvSpPr>
            <a:spLocks noGrp="1"/>
          </p:cNvSpPr>
          <p:nvPr>
            <p:ph idx="1"/>
          </p:nvPr>
        </p:nvSpPr>
        <p:spPr/>
        <p:txBody>
          <a:bodyPr>
            <a:normAutofit fontScale="92500"/>
          </a:bodyPr>
          <a:lstStyle/>
          <a:p>
            <a:r>
              <a:rPr lang="en-US" dirty="0"/>
              <a:t>FAECAL-ORAL ROUTE : This is the main route of spread in developing countries. </a:t>
            </a:r>
          </a:p>
          <a:p>
            <a:pPr lvl="1"/>
            <a:r>
              <a:rPr lang="en-US" dirty="0"/>
              <a:t>The infection may spread directly through </a:t>
            </a:r>
            <a:r>
              <a:rPr lang="en-US" dirty="0">
                <a:highlight>
                  <a:srgbClr val="FFFF00"/>
                </a:highlight>
              </a:rPr>
              <a:t>contaminated fingers </a:t>
            </a:r>
            <a:r>
              <a:rPr lang="en-US" dirty="0"/>
              <a:t>where hygiene is poor, or </a:t>
            </a:r>
            <a:r>
              <a:rPr lang="en-US" dirty="0">
                <a:highlight>
                  <a:srgbClr val="FFFF00"/>
                </a:highlight>
              </a:rPr>
              <a:t>indirectly through contaminated water, milk, foods, flies and articles of daily use</a:t>
            </a:r>
            <a:r>
              <a:rPr lang="en-US" dirty="0"/>
              <a:t>. </a:t>
            </a:r>
          </a:p>
          <a:p>
            <a:r>
              <a:rPr lang="en-US" dirty="0"/>
              <a:t>DROPLET INFECTION : This may occur in the acute phase of disease when the virus occurs in the throat. Close personal contact with an infected person facilitates droplet spread. </a:t>
            </a:r>
          </a:p>
          <a:p>
            <a:pPr lvl="1"/>
            <a:r>
              <a:rPr lang="en-US" dirty="0"/>
              <a:t>This mode of transmission may be relatively </a:t>
            </a:r>
            <a:r>
              <a:rPr lang="en-US" dirty="0">
                <a:highlight>
                  <a:srgbClr val="FFFF00"/>
                </a:highlight>
              </a:rPr>
              <a:t>more important in developed countries where </a:t>
            </a:r>
            <a:r>
              <a:rPr lang="en-US" dirty="0" err="1">
                <a:highlight>
                  <a:srgbClr val="FFFF00"/>
                </a:highlight>
              </a:rPr>
              <a:t>faecal</a:t>
            </a:r>
            <a:r>
              <a:rPr lang="en-US" dirty="0">
                <a:highlight>
                  <a:srgbClr val="FFFF00"/>
                </a:highlight>
              </a:rPr>
              <a:t> transmission is remote.</a:t>
            </a:r>
          </a:p>
        </p:txBody>
      </p:sp>
    </p:spTree>
    <p:extLst>
      <p:ext uri="{BB962C8B-B14F-4D97-AF65-F5344CB8AC3E}">
        <p14:creationId xmlns:p14="http://schemas.microsoft.com/office/powerpoint/2010/main" val="2313166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2" name="Picture 11">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14" name="Rectangle 13">
            <a:extLst>
              <a:ext uri="{FF2B5EF4-FFF2-40B4-BE49-F238E27FC236}">
                <a16:creationId xmlns:a16="http://schemas.microsoft.com/office/drawing/2014/main" id="{297F7562-DBE2-4729-835D-1486BBB43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2627"/>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DCE0245F-7D4D-413E-940B-1D9D9A171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27"/>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8" name="Group 17">
            <a:extLst>
              <a:ext uri="{FF2B5EF4-FFF2-40B4-BE49-F238E27FC236}">
                <a16:creationId xmlns:a16="http://schemas.microsoft.com/office/drawing/2014/main" id="{5BB11B77-16CE-4796-9677-F0ED67FCEC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7724071" cy="6858000"/>
            <a:chOff x="4464881" y="0"/>
            <a:chExt cx="7724071" cy="6858000"/>
          </a:xfrm>
        </p:grpSpPr>
        <p:pic>
          <p:nvPicPr>
            <p:cNvPr id="19" name="Picture 18">
              <a:extLst>
                <a:ext uri="{FF2B5EF4-FFF2-40B4-BE49-F238E27FC236}">
                  <a16:creationId xmlns:a16="http://schemas.microsoft.com/office/drawing/2014/main" id="{EF26510D-AF6F-45BA-9996-9EA0F149D09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20" name="Picture 19">
              <a:extLst>
                <a:ext uri="{FF2B5EF4-FFF2-40B4-BE49-F238E27FC236}">
                  <a16:creationId xmlns:a16="http://schemas.microsoft.com/office/drawing/2014/main" id="{5E04EA3F-927A-42F5-96EF-44DCE97863D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2" name="Title 1">
            <a:extLst>
              <a:ext uri="{FF2B5EF4-FFF2-40B4-BE49-F238E27FC236}">
                <a16:creationId xmlns:a16="http://schemas.microsoft.com/office/drawing/2014/main" id="{BE552481-A2A9-F6C4-EBD6-BB6C8642DE07}"/>
              </a:ext>
            </a:extLst>
          </p:cNvPr>
          <p:cNvSpPr>
            <a:spLocks noGrp="1"/>
          </p:cNvSpPr>
          <p:nvPr>
            <p:ph type="title"/>
          </p:nvPr>
        </p:nvSpPr>
        <p:spPr>
          <a:xfrm>
            <a:off x="7409930" y="744909"/>
            <a:ext cx="4323376" cy="2912691"/>
          </a:xfrm>
        </p:spPr>
        <p:txBody>
          <a:bodyPr vert="horz" lIns="91440" tIns="45720" rIns="91440" bIns="45720" rtlCol="0" anchor="b">
            <a:normAutofit/>
          </a:bodyPr>
          <a:lstStyle/>
          <a:p>
            <a:r>
              <a:rPr lang="en-US" dirty="0"/>
              <a:t>Clinical spectrum</a:t>
            </a:r>
          </a:p>
        </p:txBody>
      </p:sp>
      <p:pic>
        <p:nvPicPr>
          <p:cNvPr id="5" name="Picture 4" descr="A chart of a disease&#10;&#10;Description automatically generated with medium confidence">
            <a:extLst>
              <a:ext uri="{FF2B5EF4-FFF2-40B4-BE49-F238E27FC236}">
                <a16:creationId xmlns:a16="http://schemas.microsoft.com/office/drawing/2014/main" id="{C0E3A5A3-3E41-07DD-8B1A-C7A57592B84C}"/>
              </a:ext>
            </a:extLst>
          </p:cNvPr>
          <p:cNvPicPr>
            <a:picLocks noChangeAspect="1"/>
          </p:cNvPicPr>
          <p:nvPr/>
        </p:nvPicPr>
        <p:blipFill>
          <a:blip r:embed="rId5"/>
          <a:stretch>
            <a:fillRect/>
          </a:stretch>
        </p:blipFill>
        <p:spPr>
          <a:xfrm>
            <a:off x="645848" y="567942"/>
            <a:ext cx="6316975" cy="5716862"/>
          </a:xfrm>
          <a:prstGeom prst="rect">
            <a:avLst/>
          </a:prstGeom>
        </p:spPr>
      </p:pic>
    </p:spTree>
    <p:extLst>
      <p:ext uri="{BB962C8B-B14F-4D97-AF65-F5344CB8AC3E}">
        <p14:creationId xmlns:p14="http://schemas.microsoft.com/office/powerpoint/2010/main" val="4225556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3F2D0-CEB3-5B7C-1085-E7643F674217}"/>
              </a:ext>
            </a:extLst>
          </p:cNvPr>
          <p:cNvSpPr>
            <a:spLocks noGrp="1"/>
          </p:cNvSpPr>
          <p:nvPr>
            <p:ph type="title"/>
          </p:nvPr>
        </p:nvSpPr>
        <p:spPr/>
        <p:txBody>
          <a:bodyPr/>
          <a:lstStyle/>
          <a:p>
            <a:r>
              <a:rPr lang="en-US" dirty="0"/>
              <a:t>Clinical spectrum</a:t>
            </a:r>
          </a:p>
        </p:txBody>
      </p:sp>
      <p:sp>
        <p:nvSpPr>
          <p:cNvPr id="3" name="Content Placeholder 2">
            <a:extLst>
              <a:ext uri="{FF2B5EF4-FFF2-40B4-BE49-F238E27FC236}">
                <a16:creationId xmlns:a16="http://schemas.microsoft.com/office/drawing/2014/main" id="{B92553DE-CF3A-341A-0207-6F806EE11A48}"/>
              </a:ext>
            </a:extLst>
          </p:cNvPr>
          <p:cNvSpPr>
            <a:spLocks noGrp="1"/>
          </p:cNvSpPr>
          <p:nvPr>
            <p:ph idx="1"/>
          </p:nvPr>
        </p:nvSpPr>
        <p:spPr/>
        <p:txBody>
          <a:bodyPr>
            <a:normAutofit fontScale="85000" lnSpcReduction="20000"/>
          </a:bodyPr>
          <a:lstStyle/>
          <a:p>
            <a:r>
              <a:rPr lang="en-US" b="1" dirty="0"/>
              <a:t>INAPPARENT (SUBCLINICAL) INFECTION : </a:t>
            </a:r>
          </a:p>
          <a:p>
            <a:pPr lvl="1"/>
            <a:r>
              <a:rPr lang="en-US" dirty="0"/>
              <a:t>There are </a:t>
            </a:r>
            <a:r>
              <a:rPr lang="en-US" dirty="0">
                <a:highlight>
                  <a:srgbClr val="FFFF00"/>
                </a:highlight>
              </a:rPr>
              <a:t>no presenting symptoms</a:t>
            </a:r>
            <a:r>
              <a:rPr lang="en-US" dirty="0"/>
              <a:t>.</a:t>
            </a:r>
          </a:p>
          <a:p>
            <a:pPr lvl="1"/>
            <a:r>
              <a:rPr lang="en-US" dirty="0"/>
              <a:t>Recognition only by virus isolation or rising antibody </a:t>
            </a:r>
            <a:r>
              <a:rPr lang="en-US" dirty="0" err="1"/>
              <a:t>titres</a:t>
            </a:r>
            <a:r>
              <a:rPr lang="en-US" dirty="0"/>
              <a:t>.</a:t>
            </a:r>
          </a:p>
          <a:p>
            <a:r>
              <a:rPr lang="en-US" b="1" dirty="0"/>
              <a:t>ABORTIVE POLIO OR MINOR ILLNESS : </a:t>
            </a:r>
          </a:p>
          <a:p>
            <a:pPr lvl="1"/>
            <a:r>
              <a:rPr lang="en-US" dirty="0"/>
              <a:t>It causes only a </a:t>
            </a:r>
            <a:r>
              <a:rPr lang="en-US" dirty="0">
                <a:highlight>
                  <a:srgbClr val="FFFF00"/>
                </a:highlight>
              </a:rPr>
              <a:t>mild or self-limiting illness due to viraemia</a:t>
            </a:r>
            <a:r>
              <a:rPr lang="en-US" dirty="0"/>
              <a:t>. </a:t>
            </a:r>
          </a:p>
          <a:p>
            <a:pPr lvl="1"/>
            <a:r>
              <a:rPr lang="en-US" dirty="0"/>
              <a:t>The </a:t>
            </a:r>
            <a:r>
              <a:rPr lang="en-US" dirty="0">
                <a:highlight>
                  <a:srgbClr val="FFFF00"/>
                </a:highlight>
              </a:rPr>
              <a:t>patient recovers quickly. </a:t>
            </a:r>
          </a:p>
          <a:p>
            <a:pPr lvl="1"/>
            <a:r>
              <a:rPr lang="en-US" dirty="0"/>
              <a:t>The diagnosis cannot be made clinically. Recognition only by virus isolation or rising antibody </a:t>
            </a:r>
            <a:r>
              <a:rPr lang="en-US" dirty="0" err="1"/>
              <a:t>titre</a:t>
            </a:r>
            <a:r>
              <a:rPr lang="en-US" dirty="0"/>
              <a:t>, </a:t>
            </a:r>
          </a:p>
          <a:p>
            <a:r>
              <a:rPr lang="en-US" b="1" dirty="0"/>
              <a:t>NON-PARALYTIC POLIO : </a:t>
            </a:r>
          </a:p>
          <a:p>
            <a:pPr lvl="1"/>
            <a:r>
              <a:rPr lang="en-US" dirty="0"/>
              <a:t>The presenting features are </a:t>
            </a:r>
            <a:r>
              <a:rPr lang="en-US" dirty="0">
                <a:highlight>
                  <a:srgbClr val="FFFF00"/>
                </a:highlight>
              </a:rPr>
              <a:t>stiffness and pain in the neck and back</a:t>
            </a:r>
            <a:r>
              <a:rPr lang="en-US" dirty="0"/>
              <a:t>. </a:t>
            </a:r>
          </a:p>
          <a:p>
            <a:pPr lvl="1"/>
            <a:r>
              <a:rPr lang="en-US" dirty="0"/>
              <a:t>The disease </a:t>
            </a:r>
            <a:r>
              <a:rPr lang="en-US" dirty="0">
                <a:highlight>
                  <a:srgbClr val="FFFF00"/>
                </a:highlight>
              </a:rPr>
              <a:t>lasts 2 to 10 days</a:t>
            </a:r>
            <a:r>
              <a:rPr lang="en-US" dirty="0"/>
              <a:t>. Recovery is rapid. </a:t>
            </a:r>
          </a:p>
          <a:p>
            <a:pPr lvl="1"/>
            <a:r>
              <a:rPr lang="en-US" dirty="0"/>
              <a:t>The disease is </a:t>
            </a:r>
            <a:r>
              <a:rPr lang="en-US" dirty="0">
                <a:highlight>
                  <a:srgbClr val="FFFF00"/>
                </a:highlight>
              </a:rPr>
              <a:t>synonymous with aseptic meningitis</a:t>
            </a:r>
            <a:r>
              <a:rPr lang="en-US" dirty="0"/>
              <a:t>.</a:t>
            </a:r>
          </a:p>
        </p:txBody>
      </p:sp>
    </p:spTree>
    <p:extLst>
      <p:ext uri="{BB962C8B-B14F-4D97-AF65-F5344CB8AC3E}">
        <p14:creationId xmlns:p14="http://schemas.microsoft.com/office/powerpoint/2010/main" val="2056499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B0FC0-F9D9-20FF-12C3-89A9823963E4}"/>
              </a:ext>
            </a:extLst>
          </p:cNvPr>
          <p:cNvSpPr>
            <a:spLocks noGrp="1"/>
          </p:cNvSpPr>
          <p:nvPr>
            <p:ph type="title"/>
          </p:nvPr>
        </p:nvSpPr>
        <p:spPr/>
        <p:txBody>
          <a:bodyPr/>
          <a:lstStyle/>
          <a:p>
            <a:r>
              <a:rPr lang="en-US" dirty="0"/>
              <a:t>Paralytic polio</a:t>
            </a:r>
          </a:p>
        </p:txBody>
      </p:sp>
      <p:sp>
        <p:nvSpPr>
          <p:cNvPr id="3" name="Content Placeholder 2">
            <a:extLst>
              <a:ext uri="{FF2B5EF4-FFF2-40B4-BE49-F238E27FC236}">
                <a16:creationId xmlns:a16="http://schemas.microsoft.com/office/drawing/2014/main" id="{2E58244C-290A-009E-5772-048F7AF1F223}"/>
              </a:ext>
            </a:extLst>
          </p:cNvPr>
          <p:cNvSpPr>
            <a:spLocks noGrp="1"/>
          </p:cNvSpPr>
          <p:nvPr>
            <p:ph idx="1"/>
          </p:nvPr>
        </p:nvSpPr>
        <p:spPr>
          <a:xfrm>
            <a:off x="458694" y="1473200"/>
            <a:ext cx="9955306" cy="5019040"/>
          </a:xfrm>
        </p:spPr>
        <p:txBody>
          <a:bodyPr numCol="2">
            <a:normAutofit fontScale="70000" lnSpcReduction="20000"/>
          </a:bodyPr>
          <a:lstStyle/>
          <a:p>
            <a:r>
              <a:rPr lang="en-US" dirty="0"/>
              <a:t>The virus invades CNS and causes varying degrees of paralysis. </a:t>
            </a:r>
          </a:p>
          <a:p>
            <a:r>
              <a:rPr lang="en-US" dirty="0"/>
              <a:t>The predominant sign is </a:t>
            </a:r>
            <a:r>
              <a:rPr lang="en-US" dirty="0">
                <a:highlight>
                  <a:srgbClr val="FFFF00"/>
                </a:highlight>
              </a:rPr>
              <a:t>asymmetrical flaccid paralysis. </a:t>
            </a:r>
          </a:p>
          <a:p>
            <a:r>
              <a:rPr lang="en-US" dirty="0"/>
              <a:t>A history of </a:t>
            </a:r>
            <a:r>
              <a:rPr lang="en-US" dirty="0">
                <a:highlight>
                  <a:srgbClr val="FFFF00"/>
                </a:highlight>
              </a:rPr>
              <a:t>fever at the time of onset of paralysis</a:t>
            </a:r>
            <a:r>
              <a:rPr lang="en-US" dirty="0"/>
              <a:t> is suggestive of polio. </a:t>
            </a:r>
          </a:p>
          <a:p>
            <a:r>
              <a:rPr lang="en-US" dirty="0"/>
              <a:t>The other associated symptoms are </a:t>
            </a:r>
            <a:r>
              <a:rPr lang="en-US" dirty="0">
                <a:highlight>
                  <a:srgbClr val="FFFF00"/>
                </a:highlight>
              </a:rPr>
              <a:t>malaise, anorexia, nausea, vomiting, headache, sore throat, constipation and abdominal pain.</a:t>
            </a:r>
          </a:p>
          <a:p>
            <a:r>
              <a:rPr lang="en-US" dirty="0"/>
              <a:t>There might be </a:t>
            </a:r>
            <a:r>
              <a:rPr lang="en-US" dirty="0">
                <a:highlight>
                  <a:srgbClr val="FFFF00"/>
                </a:highlight>
              </a:rPr>
              <a:t>signs of meningeal irritation</a:t>
            </a:r>
            <a:r>
              <a:rPr lang="en-US" dirty="0"/>
              <a:t>, i.e., stiffness of neck and back muscles. </a:t>
            </a:r>
          </a:p>
          <a:p>
            <a:r>
              <a:rPr lang="en-US" dirty="0">
                <a:highlight>
                  <a:srgbClr val="FFFF00"/>
                </a:highlight>
              </a:rPr>
              <a:t>Tripod sign may be present</a:t>
            </a:r>
            <a:r>
              <a:rPr lang="en-US" dirty="0"/>
              <a:t>, i.e. the child finds difficulty in sitting and sits by supporting hands at the back and by partially flexing the hips and knees.</a:t>
            </a:r>
          </a:p>
          <a:p>
            <a:endParaRPr lang="en-US" dirty="0"/>
          </a:p>
          <a:p>
            <a:r>
              <a:rPr lang="en-US" dirty="0"/>
              <a:t>Progression of the paralysis to reach its </a:t>
            </a:r>
            <a:r>
              <a:rPr lang="en-US" dirty="0">
                <a:highlight>
                  <a:srgbClr val="FFFF00"/>
                </a:highlight>
              </a:rPr>
              <a:t>maximum in the majority of cases occurs in less than 4 days </a:t>
            </a:r>
            <a:r>
              <a:rPr lang="en-US" dirty="0"/>
              <a:t>(may take 4-7 days). </a:t>
            </a:r>
          </a:p>
          <a:p>
            <a:r>
              <a:rPr lang="en-US" dirty="0"/>
              <a:t>The paralysis is characterized as </a:t>
            </a:r>
            <a:r>
              <a:rPr lang="en-US" dirty="0">
                <a:highlight>
                  <a:srgbClr val="FFFF00"/>
                </a:highlight>
              </a:rPr>
              <a:t>descending,</a:t>
            </a:r>
            <a:r>
              <a:rPr lang="en-US" dirty="0"/>
              <a:t> i.e. starting at the hip and then moving down to the distal parts of the extremity. </a:t>
            </a:r>
          </a:p>
          <a:p>
            <a:r>
              <a:rPr lang="en-US" dirty="0">
                <a:highlight>
                  <a:srgbClr val="FFFF00"/>
                </a:highlight>
              </a:rPr>
              <a:t>Asymmetrical patchy paralysis</a:t>
            </a:r>
            <a:r>
              <a:rPr lang="en-US" dirty="0"/>
              <a:t>, muscle strength varies in different muscle groups of different limbs. </a:t>
            </a:r>
          </a:p>
          <a:p>
            <a:r>
              <a:rPr lang="en-US" dirty="0">
                <a:highlight>
                  <a:srgbClr val="FFFF00"/>
                </a:highlight>
              </a:rPr>
              <a:t>Proximal muscle groups are more involved as compared to distal ones. </a:t>
            </a:r>
          </a:p>
        </p:txBody>
      </p:sp>
      <p:pic>
        <p:nvPicPr>
          <p:cNvPr id="5" name="Picture 4">
            <a:extLst>
              <a:ext uri="{FF2B5EF4-FFF2-40B4-BE49-F238E27FC236}">
                <a16:creationId xmlns:a16="http://schemas.microsoft.com/office/drawing/2014/main" id="{D8BA2268-9B6B-8A45-7316-45BC4F87D8C0}"/>
              </a:ext>
            </a:extLst>
          </p:cNvPr>
          <p:cNvPicPr>
            <a:picLocks noChangeAspect="1"/>
          </p:cNvPicPr>
          <p:nvPr/>
        </p:nvPicPr>
        <p:blipFill>
          <a:blip r:embed="rId2"/>
          <a:srcRect l="4161" b="3682"/>
          <a:stretch/>
        </p:blipFill>
        <p:spPr>
          <a:xfrm>
            <a:off x="10017024" y="365760"/>
            <a:ext cx="1932320" cy="1841817"/>
          </a:xfrm>
          <a:prstGeom prst="rect">
            <a:avLst/>
          </a:prstGeom>
        </p:spPr>
      </p:pic>
    </p:spTree>
    <p:extLst>
      <p:ext uri="{BB962C8B-B14F-4D97-AF65-F5344CB8AC3E}">
        <p14:creationId xmlns:p14="http://schemas.microsoft.com/office/powerpoint/2010/main" val="2775741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B0FC0-F9D9-20FF-12C3-89A9823963E4}"/>
              </a:ext>
            </a:extLst>
          </p:cNvPr>
          <p:cNvSpPr>
            <a:spLocks noGrp="1"/>
          </p:cNvSpPr>
          <p:nvPr>
            <p:ph type="title"/>
          </p:nvPr>
        </p:nvSpPr>
        <p:spPr/>
        <p:txBody>
          <a:bodyPr/>
          <a:lstStyle/>
          <a:p>
            <a:r>
              <a:rPr lang="en-US" dirty="0"/>
              <a:t>Paralytic polio</a:t>
            </a:r>
          </a:p>
        </p:txBody>
      </p:sp>
      <p:sp>
        <p:nvSpPr>
          <p:cNvPr id="3" name="Content Placeholder 2">
            <a:extLst>
              <a:ext uri="{FF2B5EF4-FFF2-40B4-BE49-F238E27FC236}">
                <a16:creationId xmlns:a16="http://schemas.microsoft.com/office/drawing/2014/main" id="{2E58244C-290A-009E-5772-048F7AF1F223}"/>
              </a:ext>
            </a:extLst>
          </p:cNvPr>
          <p:cNvSpPr>
            <a:spLocks noGrp="1"/>
          </p:cNvSpPr>
          <p:nvPr>
            <p:ph idx="1"/>
          </p:nvPr>
        </p:nvSpPr>
        <p:spPr>
          <a:xfrm>
            <a:off x="458694" y="1691324"/>
            <a:ext cx="11274612" cy="4453890"/>
          </a:xfrm>
        </p:spPr>
        <p:txBody>
          <a:bodyPr numCol="2">
            <a:normAutofit fontScale="77500" lnSpcReduction="20000"/>
          </a:bodyPr>
          <a:lstStyle/>
          <a:p>
            <a:r>
              <a:rPr lang="en-US" dirty="0">
                <a:highlight>
                  <a:srgbClr val="FFFF00"/>
                </a:highlight>
              </a:rPr>
              <a:t>Deep tendon reflexes (DTRs) are diminished </a:t>
            </a:r>
            <a:r>
              <a:rPr lang="en-US" dirty="0"/>
              <a:t>before the onset of paralysis. </a:t>
            </a:r>
          </a:p>
          <a:p>
            <a:r>
              <a:rPr lang="en-US" dirty="0"/>
              <a:t>There is </a:t>
            </a:r>
            <a:r>
              <a:rPr lang="en-US" dirty="0">
                <a:highlight>
                  <a:srgbClr val="FFFF00"/>
                </a:highlight>
              </a:rPr>
              <a:t>no sensory loss. </a:t>
            </a:r>
          </a:p>
          <a:p>
            <a:r>
              <a:rPr lang="en-US" dirty="0">
                <a:highlight>
                  <a:srgbClr val="FFFF00"/>
                </a:highlight>
              </a:rPr>
              <a:t>Cranial nerve involvement is seen in bulbar and bulbospinal forms </a:t>
            </a:r>
            <a:r>
              <a:rPr lang="en-US" dirty="0"/>
              <a:t>of paralytic poliomyelitis. </a:t>
            </a:r>
          </a:p>
          <a:p>
            <a:r>
              <a:rPr lang="en-US" dirty="0"/>
              <a:t>There might be </a:t>
            </a:r>
            <a:r>
              <a:rPr lang="en-US" dirty="0">
                <a:highlight>
                  <a:srgbClr val="FFFF00"/>
                </a:highlight>
              </a:rPr>
              <a:t>facial asymmetry</a:t>
            </a:r>
            <a:r>
              <a:rPr lang="en-US" dirty="0"/>
              <a:t>, difficulty in swallowing, weakness or loss of voice. </a:t>
            </a:r>
          </a:p>
          <a:p>
            <a:r>
              <a:rPr lang="en-US" dirty="0">
                <a:highlight>
                  <a:srgbClr val="FFFF00"/>
                </a:highlight>
              </a:rPr>
              <a:t>Respiratory insufficiency can be life-threatening and is usually the cause of death</a:t>
            </a:r>
            <a:r>
              <a:rPr lang="en-US" dirty="0"/>
              <a:t>. </a:t>
            </a:r>
          </a:p>
          <a:p>
            <a:r>
              <a:rPr lang="en-US" dirty="0"/>
              <a:t>After the acute phase, </a:t>
            </a:r>
            <a:r>
              <a:rPr lang="en-US" dirty="0">
                <a:highlight>
                  <a:srgbClr val="FFFF00"/>
                </a:highlight>
              </a:rPr>
              <a:t>atrophy of the affected muscles lead to a life with residual paralysis </a:t>
            </a:r>
            <a:r>
              <a:rPr lang="en-US" dirty="0"/>
              <a:t>which is typical and relatively easy to identify as poliomyelitis.</a:t>
            </a:r>
          </a:p>
          <a:p>
            <a:r>
              <a:rPr lang="en-US" dirty="0">
                <a:highlight>
                  <a:srgbClr val="FFFF00"/>
                </a:highlight>
              </a:rPr>
              <a:t>Progressive paralysis, coma or convulsions usually indicate a cause other than polio, as does a very high case fatality rate.</a:t>
            </a:r>
          </a:p>
          <a:p>
            <a:r>
              <a:rPr lang="en-US" dirty="0"/>
              <a:t>There is no specific treatment for polio. </a:t>
            </a:r>
          </a:p>
          <a:p>
            <a:r>
              <a:rPr lang="en-US" dirty="0">
                <a:highlight>
                  <a:srgbClr val="FFFF00"/>
                </a:highlight>
              </a:rPr>
              <a:t>Good nursing care from the beginning of illness </a:t>
            </a:r>
            <a:r>
              <a:rPr lang="en-US" dirty="0"/>
              <a:t>can minimize or even prevent crippling. </a:t>
            </a:r>
          </a:p>
          <a:p>
            <a:r>
              <a:rPr lang="en-US" dirty="0">
                <a:highlight>
                  <a:srgbClr val="FFFF00"/>
                </a:highlight>
              </a:rPr>
              <a:t>Physiotherapy is of vital importance</a:t>
            </a:r>
            <a:r>
              <a:rPr lang="en-US" dirty="0"/>
              <a:t>. It can be initiated in the affected limb immediately. </a:t>
            </a:r>
          </a:p>
          <a:p>
            <a:r>
              <a:rPr lang="en-US" dirty="0"/>
              <a:t>It helps the weakened muscles to regain strength.</a:t>
            </a:r>
          </a:p>
        </p:txBody>
      </p:sp>
    </p:spTree>
    <p:extLst>
      <p:ext uri="{BB962C8B-B14F-4D97-AF65-F5344CB8AC3E}">
        <p14:creationId xmlns:p14="http://schemas.microsoft.com/office/powerpoint/2010/main" val="111855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E665A-45AE-1B7F-AD5C-3867E7652096}"/>
              </a:ext>
            </a:extLst>
          </p:cNvPr>
          <p:cNvSpPr>
            <a:spLocks noGrp="1"/>
          </p:cNvSpPr>
          <p:nvPr>
            <p:ph type="title"/>
          </p:nvPr>
        </p:nvSpPr>
        <p:spPr>
          <a:xfrm>
            <a:off x="458694" y="365761"/>
            <a:ext cx="10895106" cy="1027612"/>
          </a:xfrm>
        </p:spPr>
        <p:txBody>
          <a:bodyPr/>
          <a:lstStyle/>
          <a:p>
            <a:r>
              <a:rPr lang="en-US" dirty="0"/>
              <a:t>Problem statement</a:t>
            </a:r>
          </a:p>
        </p:txBody>
      </p:sp>
      <p:sp>
        <p:nvSpPr>
          <p:cNvPr id="3" name="Content Placeholder 2">
            <a:extLst>
              <a:ext uri="{FF2B5EF4-FFF2-40B4-BE49-F238E27FC236}">
                <a16:creationId xmlns:a16="http://schemas.microsoft.com/office/drawing/2014/main" id="{30045522-29E7-FE1B-BEAC-1BD4C99D3566}"/>
              </a:ext>
            </a:extLst>
          </p:cNvPr>
          <p:cNvSpPr>
            <a:spLocks noGrp="1"/>
          </p:cNvSpPr>
          <p:nvPr>
            <p:ph idx="1"/>
          </p:nvPr>
        </p:nvSpPr>
        <p:spPr>
          <a:xfrm>
            <a:off x="203200" y="1393372"/>
            <a:ext cx="11530106" cy="4751842"/>
          </a:xfrm>
        </p:spPr>
        <p:txBody>
          <a:bodyPr>
            <a:normAutofit lnSpcReduction="10000"/>
          </a:bodyPr>
          <a:lstStyle/>
          <a:p>
            <a:r>
              <a:rPr lang="en-US" dirty="0"/>
              <a:t>Pre-vaccination era – found in all countries</a:t>
            </a:r>
          </a:p>
          <a:p>
            <a:r>
              <a:rPr lang="en-US" dirty="0"/>
              <a:t>Extensive use of polio vaccines since 1954 eliminated the disease in developed countries.</a:t>
            </a:r>
          </a:p>
          <a:p>
            <a:r>
              <a:rPr lang="en-US" dirty="0"/>
              <a:t>In 1988, the World Health Assembly resolved to eradicate poliomyelitis globally. Since then, implementation of the eradication strategies has reduced the number of </a:t>
            </a:r>
            <a:r>
              <a:rPr lang="en-US" dirty="0">
                <a:highlight>
                  <a:srgbClr val="FFFF00"/>
                </a:highlight>
              </a:rPr>
              <a:t>polio endemic countries from more than 125 in 1988 to 2 in 2024. </a:t>
            </a:r>
          </a:p>
          <a:p>
            <a:r>
              <a:rPr lang="en-US" dirty="0">
                <a:highlight>
                  <a:srgbClr val="FFFF00"/>
                </a:highlight>
              </a:rPr>
              <a:t>All the reported cases are of type l wild poliovirus</a:t>
            </a:r>
            <a:r>
              <a:rPr lang="en-US" dirty="0"/>
              <a:t>. </a:t>
            </a:r>
          </a:p>
          <a:p>
            <a:r>
              <a:rPr lang="en-US" dirty="0">
                <a:highlight>
                  <a:srgbClr val="FFFF00"/>
                </a:highlight>
              </a:rPr>
              <a:t>India was certified as polio free since 27th March 2014. </a:t>
            </a:r>
          </a:p>
          <a:p>
            <a:endParaRPr lang="en-US" dirty="0"/>
          </a:p>
        </p:txBody>
      </p:sp>
    </p:spTree>
    <p:extLst>
      <p:ext uri="{BB962C8B-B14F-4D97-AF65-F5344CB8AC3E}">
        <p14:creationId xmlns:p14="http://schemas.microsoft.com/office/powerpoint/2010/main" val="3316224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E665A-45AE-1B7F-AD5C-3867E7652096}"/>
              </a:ext>
            </a:extLst>
          </p:cNvPr>
          <p:cNvSpPr>
            <a:spLocks noGrp="1"/>
          </p:cNvSpPr>
          <p:nvPr>
            <p:ph type="title"/>
          </p:nvPr>
        </p:nvSpPr>
        <p:spPr>
          <a:xfrm>
            <a:off x="458694" y="365761"/>
            <a:ext cx="10895106" cy="1027612"/>
          </a:xfrm>
        </p:spPr>
        <p:txBody>
          <a:bodyPr/>
          <a:lstStyle/>
          <a:p>
            <a:r>
              <a:rPr lang="en-US" dirty="0"/>
              <a:t>Problem statement</a:t>
            </a:r>
          </a:p>
        </p:txBody>
      </p:sp>
      <p:sp>
        <p:nvSpPr>
          <p:cNvPr id="3" name="Content Placeholder 2">
            <a:extLst>
              <a:ext uri="{FF2B5EF4-FFF2-40B4-BE49-F238E27FC236}">
                <a16:creationId xmlns:a16="http://schemas.microsoft.com/office/drawing/2014/main" id="{30045522-29E7-FE1B-BEAC-1BD4C99D3566}"/>
              </a:ext>
            </a:extLst>
          </p:cNvPr>
          <p:cNvSpPr>
            <a:spLocks noGrp="1"/>
          </p:cNvSpPr>
          <p:nvPr>
            <p:ph idx="1"/>
          </p:nvPr>
        </p:nvSpPr>
        <p:spPr>
          <a:xfrm>
            <a:off x="203200" y="1393372"/>
            <a:ext cx="11530106" cy="4751842"/>
          </a:xfrm>
        </p:spPr>
        <p:txBody>
          <a:bodyPr>
            <a:normAutofit fontScale="92500" lnSpcReduction="20000"/>
          </a:bodyPr>
          <a:lstStyle/>
          <a:p>
            <a:r>
              <a:rPr lang="en-US" dirty="0">
                <a:highlight>
                  <a:srgbClr val="FFFF00"/>
                </a:highlight>
              </a:rPr>
              <a:t>WPV type 2</a:t>
            </a:r>
            <a:r>
              <a:rPr lang="en-US" dirty="0"/>
              <a:t> has not been detected since 1999 and was declared </a:t>
            </a:r>
            <a:r>
              <a:rPr lang="en-US" dirty="0">
                <a:highlight>
                  <a:srgbClr val="FFFF00"/>
                </a:highlight>
              </a:rPr>
              <a:t>eradicated in September 2015.</a:t>
            </a:r>
          </a:p>
          <a:p>
            <a:r>
              <a:rPr lang="en-US" dirty="0">
                <a:highlight>
                  <a:srgbClr val="FFFF00"/>
                </a:highlight>
              </a:rPr>
              <a:t>WPV type 3 </a:t>
            </a:r>
            <a:r>
              <a:rPr lang="en-US" dirty="0"/>
              <a:t>has not been detected since November 2012 and declared </a:t>
            </a:r>
            <a:r>
              <a:rPr lang="en-US" dirty="0">
                <a:highlight>
                  <a:srgbClr val="FFFF00"/>
                </a:highlight>
              </a:rPr>
              <a:t>eradicated in 2019</a:t>
            </a:r>
          </a:p>
          <a:p>
            <a:r>
              <a:rPr lang="en-US" dirty="0"/>
              <a:t>WPV type 1 is likely to be the sole WPV remaining in circulation. </a:t>
            </a:r>
          </a:p>
          <a:p>
            <a:r>
              <a:rPr lang="en-US" dirty="0"/>
              <a:t>The attenuated polioviruses in OPV can undergo genetic changes during replication, and in communities with low vaccination coverage, rarely, </a:t>
            </a:r>
            <a:r>
              <a:rPr lang="en-US" dirty="0">
                <a:highlight>
                  <a:srgbClr val="FFFF00"/>
                </a:highlight>
              </a:rPr>
              <a:t>results in vaccine derived polioviruses (VDPV) that can cause paralytic polio indistinguishable from the disease caused by WPV. </a:t>
            </a:r>
          </a:p>
          <a:p>
            <a:r>
              <a:rPr lang="en-US" dirty="0"/>
              <a:t>Plan 2013-2018 was developed. The plan was to eradicate all types of polio disease simultaneously - both due to WPV and VDPV.</a:t>
            </a:r>
          </a:p>
          <a:p>
            <a:endParaRPr lang="en-US" dirty="0"/>
          </a:p>
        </p:txBody>
      </p:sp>
    </p:spTree>
    <p:extLst>
      <p:ext uri="{BB962C8B-B14F-4D97-AF65-F5344CB8AC3E}">
        <p14:creationId xmlns:p14="http://schemas.microsoft.com/office/powerpoint/2010/main" val="4022599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D49C5-9D19-B55B-EFE8-1053FBF7AB12}"/>
              </a:ext>
            </a:extLst>
          </p:cNvPr>
          <p:cNvSpPr>
            <a:spLocks noGrp="1"/>
          </p:cNvSpPr>
          <p:nvPr>
            <p:ph type="title"/>
          </p:nvPr>
        </p:nvSpPr>
        <p:spPr/>
        <p:txBody>
          <a:bodyPr/>
          <a:lstStyle/>
          <a:p>
            <a:r>
              <a:rPr lang="en-US" dirty="0"/>
              <a:t>Prevention</a:t>
            </a:r>
          </a:p>
        </p:txBody>
      </p:sp>
      <p:sp>
        <p:nvSpPr>
          <p:cNvPr id="3" name="Content Placeholder 2">
            <a:extLst>
              <a:ext uri="{FF2B5EF4-FFF2-40B4-BE49-F238E27FC236}">
                <a16:creationId xmlns:a16="http://schemas.microsoft.com/office/drawing/2014/main" id="{8A0CDE52-A6DE-1370-2CE4-59F96E64286F}"/>
              </a:ext>
            </a:extLst>
          </p:cNvPr>
          <p:cNvSpPr>
            <a:spLocks noGrp="1"/>
          </p:cNvSpPr>
          <p:nvPr>
            <p:ph idx="1"/>
          </p:nvPr>
        </p:nvSpPr>
        <p:spPr/>
        <p:txBody>
          <a:bodyPr/>
          <a:lstStyle/>
          <a:p>
            <a:r>
              <a:rPr lang="en-US" dirty="0">
                <a:highlight>
                  <a:srgbClr val="FFFF00"/>
                </a:highlight>
              </a:rPr>
              <a:t>Immunization is the sole effective means of preventing poliomyelitis</a:t>
            </a:r>
            <a:r>
              <a:rPr lang="en-US" dirty="0"/>
              <a:t>. </a:t>
            </a:r>
          </a:p>
          <a:p>
            <a:r>
              <a:rPr lang="en-US" dirty="0"/>
              <a:t>Both killed and live attenuated vaccines are available and both are safe and effective when used correctly. </a:t>
            </a:r>
          </a:p>
          <a:p>
            <a:r>
              <a:rPr lang="en-US" dirty="0"/>
              <a:t>It is </a:t>
            </a:r>
            <a:r>
              <a:rPr lang="en-US" dirty="0">
                <a:highlight>
                  <a:srgbClr val="FFFF00"/>
                </a:highlight>
              </a:rPr>
              <a:t>essential to immunize all infants by 6 months of age </a:t>
            </a:r>
            <a:r>
              <a:rPr lang="en-US" dirty="0"/>
              <a:t>to protect them against polio.</a:t>
            </a:r>
          </a:p>
        </p:txBody>
      </p:sp>
    </p:spTree>
    <p:extLst>
      <p:ext uri="{BB962C8B-B14F-4D97-AF65-F5344CB8AC3E}">
        <p14:creationId xmlns:p14="http://schemas.microsoft.com/office/powerpoint/2010/main" val="705708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DD6C9-32D3-7009-CD12-95F89FFBBA74}"/>
              </a:ext>
            </a:extLst>
          </p:cNvPr>
          <p:cNvSpPr>
            <a:spLocks noGrp="1"/>
          </p:cNvSpPr>
          <p:nvPr>
            <p:ph type="title"/>
          </p:nvPr>
        </p:nvSpPr>
        <p:spPr/>
        <p:txBody>
          <a:bodyPr/>
          <a:lstStyle/>
          <a:p>
            <a:r>
              <a:rPr lang="en-US" dirty="0"/>
              <a:t>IPV (Salk)</a:t>
            </a:r>
          </a:p>
        </p:txBody>
      </p:sp>
      <p:sp>
        <p:nvSpPr>
          <p:cNvPr id="3" name="Content Placeholder 2">
            <a:extLst>
              <a:ext uri="{FF2B5EF4-FFF2-40B4-BE49-F238E27FC236}">
                <a16:creationId xmlns:a16="http://schemas.microsoft.com/office/drawing/2014/main" id="{271DC577-C4A3-EDB4-EB81-8A3FC5487C6F}"/>
              </a:ext>
            </a:extLst>
          </p:cNvPr>
          <p:cNvSpPr>
            <a:spLocks noGrp="1"/>
          </p:cNvSpPr>
          <p:nvPr>
            <p:ph idx="1"/>
          </p:nvPr>
        </p:nvSpPr>
        <p:spPr/>
        <p:txBody>
          <a:bodyPr>
            <a:normAutofit fontScale="77500" lnSpcReduction="20000"/>
          </a:bodyPr>
          <a:lstStyle/>
          <a:p>
            <a:r>
              <a:rPr lang="en-US" dirty="0">
                <a:highlight>
                  <a:srgbClr val="FFFF00"/>
                </a:highlight>
              </a:rPr>
              <a:t>40 units of type-1</a:t>
            </a:r>
            <a:r>
              <a:rPr lang="en-US" dirty="0"/>
              <a:t>, </a:t>
            </a:r>
            <a:r>
              <a:rPr lang="en-US" dirty="0">
                <a:highlight>
                  <a:srgbClr val="FFFF00"/>
                </a:highlight>
              </a:rPr>
              <a:t>8 units of type-2 </a:t>
            </a:r>
            <a:r>
              <a:rPr lang="en-US" dirty="0"/>
              <a:t>and </a:t>
            </a:r>
            <a:r>
              <a:rPr lang="en-US" dirty="0">
                <a:highlight>
                  <a:srgbClr val="FFFF00"/>
                </a:highlight>
              </a:rPr>
              <a:t>32 units of type-3 </a:t>
            </a:r>
            <a:r>
              <a:rPr lang="en-US" dirty="0"/>
              <a:t>D-antigen </a:t>
            </a:r>
          </a:p>
          <a:p>
            <a:r>
              <a:rPr lang="en-US" dirty="0"/>
              <a:t>IPV may contain </a:t>
            </a:r>
            <a:r>
              <a:rPr lang="en-US" dirty="0">
                <a:highlight>
                  <a:srgbClr val="FFFF00"/>
                </a:highlight>
              </a:rPr>
              <a:t>trace amounts of formaldehyde, streptomycin, neomycin or polymyxin B</a:t>
            </a:r>
            <a:r>
              <a:rPr lang="en-US" dirty="0"/>
              <a:t>; some versions of IPV contain the preservative phenoxyethanol (0.5%), but neither thiomersal (incompatible with IPV antigenicity) nor adjuvants are used.</a:t>
            </a:r>
          </a:p>
          <a:p>
            <a:r>
              <a:rPr lang="en-US" dirty="0"/>
              <a:t>IPV is administered by </a:t>
            </a:r>
            <a:r>
              <a:rPr lang="en-US" dirty="0">
                <a:highlight>
                  <a:srgbClr val="FFFF00"/>
                </a:highlight>
              </a:rPr>
              <a:t>intramuscular injection or fractional dose by intradermal injection</a:t>
            </a:r>
            <a:r>
              <a:rPr lang="en-US" dirty="0"/>
              <a:t>. </a:t>
            </a:r>
          </a:p>
          <a:p>
            <a:r>
              <a:rPr lang="en-US" dirty="0"/>
              <a:t>The vaccine is </a:t>
            </a:r>
            <a:r>
              <a:rPr lang="en-US" dirty="0">
                <a:highlight>
                  <a:srgbClr val="FFFF00"/>
                </a:highlight>
              </a:rPr>
              <a:t>stable at ambient temperature but should be refrigerated</a:t>
            </a:r>
            <a:r>
              <a:rPr lang="en-US" dirty="0"/>
              <a:t> to ensure no loss of potency. </a:t>
            </a:r>
            <a:r>
              <a:rPr lang="en-US" dirty="0">
                <a:highlight>
                  <a:srgbClr val="FFFF00"/>
                </a:highlight>
              </a:rPr>
              <a:t>Freezing should be avoided</a:t>
            </a:r>
            <a:r>
              <a:rPr lang="en-US" dirty="0"/>
              <a:t> as it could diminish potency. </a:t>
            </a:r>
          </a:p>
          <a:p>
            <a:r>
              <a:rPr lang="en-US" dirty="0"/>
              <a:t>IPV is available either as a standalone product or </a:t>
            </a:r>
            <a:r>
              <a:rPr lang="en-US" dirty="0">
                <a:highlight>
                  <a:srgbClr val="FFFF00"/>
                </a:highlight>
              </a:rPr>
              <a:t>in combination with &gt;1 other vaccine antigens including diphtheria, tetanus, whole-cell or acellular pertussis, hepatitis B, or </a:t>
            </a:r>
            <a:r>
              <a:rPr lang="en-US" dirty="0" err="1">
                <a:highlight>
                  <a:srgbClr val="FFFF00"/>
                </a:highlight>
              </a:rPr>
              <a:t>Haemophilus</a:t>
            </a:r>
            <a:r>
              <a:rPr lang="en-US" dirty="0">
                <a:highlight>
                  <a:srgbClr val="FFFF00"/>
                </a:highlight>
              </a:rPr>
              <a:t> </a:t>
            </a:r>
            <a:r>
              <a:rPr lang="en-US" dirty="0"/>
              <a:t>influenzae type b. In the combination vaccines, the alum or the pertussis vaccine, or both, have an adjuvant effect.</a:t>
            </a:r>
          </a:p>
        </p:txBody>
      </p:sp>
    </p:spTree>
    <p:extLst>
      <p:ext uri="{BB962C8B-B14F-4D97-AF65-F5344CB8AC3E}">
        <p14:creationId xmlns:p14="http://schemas.microsoft.com/office/powerpoint/2010/main" val="154697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DD6C9-32D3-7009-CD12-95F89FFBBA74}"/>
              </a:ext>
            </a:extLst>
          </p:cNvPr>
          <p:cNvSpPr>
            <a:spLocks noGrp="1"/>
          </p:cNvSpPr>
          <p:nvPr>
            <p:ph type="title"/>
          </p:nvPr>
        </p:nvSpPr>
        <p:spPr/>
        <p:txBody>
          <a:bodyPr/>
          <a:lstStyle/>
          <a:p>
            <a:r>
              <a:rPr lang="en-US" dirty="0"/>
              <a:t>IPV (Salk)</a:t>
            </a:r>
          </a:p>
        </p:txBody>
      </p:sp>
      <p:sp>
        <p:nvSpPr>
          <p:cNvPr id="3" name="Content Placeholder 2">
            <a:extLst>
              <a:ext uri="{FF2B5EF4-FFF2-40B4-BE49-F238E27FC236}">
                <a16:creationId xmlns:a16="http://schemas.microsoft.com/office/drawing/2014/main" id="{271DC577-C4A3-EDB4-EB81-8A3FC5487C6F}"/>
              </a:ext>
            </a:extLst>
          </p:cNvPr>
          <p:cNvSpPr>
            <a:spLocks noGrp="1"/>
          </p:cNvSpPr>
          <p:nvPr>
            <p:ph idx="1"/>
          </p:nvPr>
        </p:nvSpPr>
        <p:spPr>
          <a:xfrm>
            <a:off x="190500" y="1498600"/>
            <a:ext cx="11542806" cy="4646613"/>
          </a:xfrm>
        </p:spPr>
        <p:txBody>
          <a:bodyPr>
            <a:normAutofit/>
          </a:bodyPr>
          <a:lstStyle/>
          <a:p>
            <a:r>
              <a:rPr lang="en-US" dirty="0"/>
              <a:t>The primary or initial course of immunization consists of </a:t>
            </a:r>
            <a:r>
              <a:rPr lang="en-US" dirty="0">
                <a:highlight>
                  <a:srgbClr val="FFFF00"/>
                </a:highlight>
              </a:rPr>
              <a:t>4 inoculations. </a:t>
            </a:r>
          </a:p>
          <a:p>
            <a:r>
              <a:rPr lang="en-US" dirty="0"/>
              <a:t>The first </a:t>
            </a:r>
            <a:r>
              <a:rPr lang="en-US" dirty="0">
                <a:highlight>
                  <a:srgbClr val="FFFF00"/>
                </a:highlight>
              </a:rPr>
              <a:t>3 doses are given at intervals of 1-2 months </a:t>
            </a:r>
            <a:r>
              <a:rPr lang="en-US" dirty="0"/>
              <a:t>and </a:t>
            </a:r>
            <a:r>
              <a:rPr lang="en-US" dirty="0">
                <a:highlight>
                  <a:srgbClr val="FFFF00"/>
                </a:highlight>
              </a:rPr>
              <a:t>4</a:t>
            </a:r>
            <a:r>
              <a:rPr lang="en-US" baseline="30000" dirty="0">
                <a:highlight>
                  <a:srgbClr val="FFFF00"/>
                </a:highlight>
              </a:rPr>
              <a:t>th</a:t>
            </a:r>
            <a:r>
              <a:rPr lang="en-US" dirty="0">
                <a:highlight>
                  <a:srgbClr val="FFFF00"/>
                </a:highlight>
              </a:rPr>
              <a:t> dose 6-12</a:t>
            </a:r>
            <a:r>
              <a:rPr lang="en-US" dirty="0"/>
              <a:t> months after the third dose.</a:t>
            </a:r>
          </a:p>
          <a:p>
            <a:r>
              <a:rPr lang="en-US" dirty="0">
                <a:highlight>
                  <a:srgbClr val="FFFF00"/>
                </a:highlight>
              </a:rPr>
              <a:t>First dose </a:t>
            </a:r>
            <a:r>
              <a:rPr lang="en-US" dirty="0"/>
              <a:t>is usually given when the infant is </a:t>
            </a:r>
            <a:r>
              <a:rPr lang="en-US" dirty="0">
                <a:highlight>
                  <a:srgbClr val="FFFF00"/>
                </a:highlight>
              </a:rPr>
              <a:t>6 weeks old.</a:t>
            </a:r>
          </a:p>
          <a:p>
            <a:r>
              <a:rPr lang="en-US" dirty="0"/>
              <a:t>Additional doses are recommended </a:t>
            </a:r>
            <a:r>
              <a:rPr lang="en-US" dirty="0">
                <a:highlight>
                  <a:srgbClr val="FFFF00"/>
                </a:highlight>
              </a:rPr>
              <a:t>prior to school entry and then every 5 years until the age of 18. </a:t>
            </a:r>
          </a:p>
          <a:p>
            <a:r>
              <a:rPr lang="en-US" dirty="0"/>
              <a:t>Alternatively, </a:t>
            </a:r>
            <a:r>
              <a:rPr lang="en-US" dirty="0">
                <a:highlight>
                  <a:srgbClr val="FFFF00"/>
                </a:highlight>
              </a:rPr>
              <a:t>one or two doses of live vaccine (OPV) can be given safely as boosters after an initial course of immunization with inactivated vaccine.</a:t>
            </a:r>
          </a:p>
        </p:txBody>
      </p:sp>
    </p:spTree>
    <p:extLst>
      <p:ext uri="{BB962C8B-B14F-4D97-AF65-F5344CB8AC3E}">
        <p14:creationId xmlns:p14="http://schemas.microsoft.com/office/powerpoint/2010/main" val="2509562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DD6C9-32D3-7009-CD12-95F89FFBBA74}"/>
              </a:ext>
            </a:extLst>
          </p:cNvPr>
          <p:cNvSpPr>
            <a:spLocks noGrp="1"/>
          </p:cNvSpPr>
          <p:nvPr>
            <p:ph type="title"/>
          </p:nvPr>
        </p:nvSpPr>
        <p:spPr/>
        <p:txBody>
          <a:bodyPr/>
          <a:lstStyle/>
          <a:p>
            <a:r>
              <a:rPr lang="en-US" dirty="0"/>
              <a:t>IPV (Salk)</a:t>
            </a:r>
          </a:p>
        </p:txBody>
      </p:sp>
      <p:sp>
        <p:nvSpPr>
          <p:cNvPr id="3" name="Content Placeholder 2">
            <a:extLst>
              <a:ext uri="{FF2B5EF4-FFF2-40B4-BE49-F238E27FC236}">
                <a16:creationId xmlns:a16="http://schemas.microsoft.com/office/drawing/2014/main" id="{271DC577-C4A3-EDB4-EB81-8A3FC5487C6F}"/>
              </a:ext>
            </a:extLst>
          </p:cNvPr>
          <p:cNvSpPr>
            <a:spLocks noGrp="1"/>
          </p:cNvSpPr>
          <p:nvPr>
            <p:ph idx="1"/>
          </p:nvPr>
        </p:nvSpPr>
        <p:spPr>
          <a:xfrm>
            <a:off x="190500" y="1498600"/>
            <a:ext cx="11542806" cy="4646613"/>
          </a:xfrm>
        </p:spPr>
        <p:txBody>
          <a:bodyPr>
            <a:normAutofit/>
          </a:bodyPr>
          <a:lstStyle/>
          <a:p>
            <a:r>
              <a:rPr lang="en-US" dirty="0"/>
              <a:t>IPV induces, </a:t>
            </a:r>
            <a:r>
              <a:rPr lang="en-US" dirty="0">
                <a:highlight>
                  <a:srgbClr val="FFFF00"/>
                </a:highlight>
              </a:rPr>
              <a:t>humoral antibodies (IgM, IgG and IgA serum antibodies) </a:t>
            </a:r>
            <a:r>
              <a:rPr lang="en-US" dirty="0"/>
              <a:t>but does </a:t>
            </a:r>
            <a:r>
              <a:rPr lang="en-US" dirty="0">
                <a:highlight>
                  <a:srgbClr val="FFFF00"/>
                </a:highlight>
              </a:rPr>
              <a:t>not induce intestinal or local immunity</a:t>
            </a:r>
            <a:r>
              <a:rPr lang="en-US" dirty="0"/>
              <a:t>. </a:t>
            </a:r>
          </a:p>
          <a:p>
            <a:r>
              <a:rPr lang="en-US" dirty="0"/>
              <a:t>The circulating </a:t>
            </a:r>
            <a:r>
              <a:rPr lang="en-US" dirty="0">
                <a:highlight>
                  <a:srgbClr val="FFFF00"/>
                </a:highlight>
              </a:rPr>
              <a:t>antibodies protect the individual against paralytic polio</a:t>
            </a:r>
            <a:r>
              <a:rPr lang="en-US" dirty="0"/>
              <a:t>, but </a:t>
            </a:r>
            <a:r>
              <a:rPr lang="en-US" dirty="0">
                <a:highlight>
                  <a:srgbClr val="FFFF00"/>
                </a:highlight>
              </a:rPr>
              <a:t>do not prevent reinfection </a:t>
            </a:r>
            <a:r>
              <a:rPr lang="en-US" dirty="0"/>
              <a:t>of the gut by wild viruses. </a:t>
            </a:r>
          </a:p>
          <a:p>
            <a:r>
              <a:rPr lang="en-US" dirty="0"/>
              <a:t>In the case of an epidemic, IPV is unsuitable because :</a:t>
            </a:r>
          </a:p>
          <a:p>
            <a:pPr lvl="1"/>
            <a:r>
              <a:rPr lang="en-US" dirty="0"/>
              <a:t>Immunity is </a:t>
            </a:r>
            <a:r>
              <a:rPr lang="en-US" dirty="0">
                <a:highlight>
                  <a:srgbClr val="FFFF00"/>
                </a:highlight>
              </a:rPr>
              <a:t>not rapidly achieved, as more than one dose is required</a:t>
            </a:r>
            <a:r>
              <a:rPr lang="en-US" dirty="0"/>
              <a:t> to induce immunity</a:t>
            </a:r>
          </a:p>
          <a:p>
            <a:pPr lvl="1"/>
            <a:r>
              <a:rPr lang="en-US" dirty="0">
                <a:highlight>
                  <a:srgbClr val="FFFF00"/>
                </a:highlight>
              </a:rPr>
              <a:t>Injections arc to be avoided during epidemic </a:t>
            </a:r>
            <a:r>
              <a:rPr lang="en-US" dirty="0"/>
              <a:t>times as they are likely to precipitate paralysis</a:t>
            </a:r>
          </a:p>
        </p:txBody>
      </p:sp>
    </p:spTree>
    <p:extLst>
      <p:ext uri="{BB962C8B-B14F-4D97-AF65-F5344CB8AC3E}">
        <p14:creationId xmlns:p14="http://schemas.microsoft.com/office/powerpoint/2010/main" val="2454707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DD6C9-32D3-7009-CD12-95F89FFBBA74}"/>
              </a:ext>
            </a:extLst>
          </p:cNvPr>
          <p:cNvSpPr>
            <a:spLocks noGrp="1"/>
          </p:cNvSpPr>
          <p:nvPr>
            <p:ph type="title"/>
          </p:nvPr>
        </p:nvSpPr>
        <p:spPr/>
        <p:txBody>
          <a:bodyPr/>
          <a:lstStyle/>
          <a:p>
            <a:r>
              <a:rPr lang="en-US" dirty="0"/>
              <a:t>IPV (Salk)</a:t>
            </a:r>
          </a:p>
        </p:txBody>
      </p:sp>
      <p:sp>
        <p:nvSpPr>
          <p:cNvPr id="3" name="Content Placeholder 2">
            <a:extLst>
              <a:ext uri="{FF2B5EF4-FFF2-40B4-BE49-F238E27FC236}">
                <a16:creationId xmlns:a16="http://schemas.microsoft.com/office/drawing/2014/main" id="{271DC577-C4A3-EDB4-EB81-8A3FC5487C6F}"/>
              </a:ext>
            </a:extLst>
          </p:cNvPr>
          <p:cNvSpPr>
            <a:spLocks noGrp="1"/>
          </p:cNvSpPr>
          <p:nvPr>
            <p:ph idx="1"/>
          </p:nvPr>
        </p:nvSpPr>
        <p:spPr>
          <a:xfrm>
            <a:off x="190500" y="1498600"/>
            <a:ext cx="11542806" cy="4646613"/>
          </a:xfrm>
        </p:spPr>
        <p:txBody>
          <a:bodyPr>
            <a:normAutofit lnSpcReduction="10000"/>
          </a:bodyPr>
          <a:lstStyle/>
          <a:p>
            <a:r>
              <a:rPr lang="en-US" b="1" dirty="0"/>
              <a:t>Advantages</a:t>
            </a:r>
            <a:r>
              <a:rPr lang="en-US" dirty="0"/>
              <a:t> : </a:t>
            </a:r>
          </a:p>
          <a:p>
            <a:pPr lvl="1"/>
            <a:r>
              <a:rPr lang="en-US" dirty="0"/>
              <a:t>To persons with immune deficiency diseases </a:t>
            </a:r>
          </a:p>
          <a:p>
            <a:pPr lvl="1"/>
            <a:r>
              <a:rPr lang="en-US" dirty="0"/>
              <a:t>To persons undergoing corticosteroid and radiation therapy  </a:t>
            </a:r>
          </a:p>
          <a:p>
            <a:pPr lvl="1"/>
            <a:r>
              <a:rPr lang="en-US" dirty="0"/>
              <a:t>To those over 50 years who are receiving vaccine for the first time, </a:t>
            </a:r>
          </a:p>
          <a:p>
            <a:pPr lvl="1"/>
            <a:r>
              <a:rPr lang="en-US" dirty="0"/>
              <a:t>During pregnancy.</a:t>
            </a:r>
          </a:p>
          <a:p>
            <a:r>
              <a:rPr lang="en-US" b="1" dirty="0"/>
              <a:t>Associated risks </a:t>
            </a:r>
            <a:r>
              <a:rPr lang="en-US" dirty="0"/>
              <a:t>: No serious adverse reactions to IPV vaccines currently in use have been reported except minor</a:t>
            </a:r>
          </a:p>
          <a:p>
            <a:pPr lvl="1"/>
            <a:r>
              <a:rPr lang="en-US" dirty="0"/>
              <a:t>Local erythema (0.5-1 per cent), </a:t>
            </a:r>
          </a:p>
          <a:p>
            <a:pPr lvl="1"/>
            <a:r>
              <a:rPr lang="en-US" dirty="0"/>
              <a:t>Induration (3-11 per cent)</a:t>
            </a:r>
          </a:p>
          <a:p>
            <a:pPr lvl="1"/>
            <a:r>
              <a:rPr lang="en-US" dirty="0"/>
              <a:t>Tenderness (14-29 per cent).</a:t>
            </a:r>
          </a:p>
        </p:txBody>
      </p:sp>
    </p:spTree>
    <p:extLst>
      <p:ext uri="{BB962C8B-B14F-4D97-AF65-F5344CB8AC3E}">
        <p14:creationId xmlns:p14="http://schemas.microsoft.com/office/powerpoint/2010/main" val="684946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CDEE6-67FA-58D9-EBBB-9C8C73EA8E7B}"/>
              </a:ext>
            </a:extLst>
          </p:cNvPr>
          <p:cNvSpPr>
            <a:spLocks noGrp="1"/>
          </p:cNvSpPr>
          <p:nvPr>
            <p:ph type="title"/>
          </p:nvPr>
        </p:nvSpPr>
        <p:spPr/>
        <p:txBody>
          <a:bodyPr/>
          <a:lstStyle/>
          <a:p>
            <a:r>
              <a:rPr lang="en-US" dirty="0"/>
              <a:t>Fractional dose IPV</a:t>
            </a:r>
          </a:p>
        </p:txBody>
      </p:sp>
      <p:sp>
        <p:nvSpPr>
          <p:cNvPr id="3" name="Content Placeholder 2">
            <a:extLst>
              <a:ext uri="{FF2B5EF4-FFF2-40B4-BE49-F238E27FC236}">
                <a16:creationId xmlns:a16="http://schemas.microsoft.com/office/drawing/2014/main" id="{62D3E743-B50C-CC22-3ECA-B112B9C881EA}"/>
              </a:ext>
            </a:extLst>
          </p:cNvPr>
          <p:cNvSpPr>
            <a:spLocks noGrp="1"/>
          </p:cNvSpPr>
          <p:nvPr>
            <p:ph idx="1"/>
          </p:nvPr>
        </p:nvSpPr>
        <p:spPr/>
        <p:txBody>
          <a:bodyPr>
            <a:normAutofit fontScale="77500" lnSpcReduction="20000"/>
          </a:bodyPr>
          <a:lstStyle/>
          <a:p>
            <a:r>
              <a:rPr lang="en-US" dirty="0"/>
              <a:t>Alternative to the full dose IM injection of IPV, countries may consider using fractional dose of IPV (FIPV) via ID route. </a:t>
            </a:r>
          </a:p>
          <a:p>
            <a:r>
              <a:rPr lang="en-US" dirty="0">
                <a:highlight>
                  <a:srgbClr val="FFFF00"/>
                </a:highlight>
              </a:rPr>
              <a:t>2 FIPV doses intradermally at 6th and 14th weeks </a:t>
            </a:r>
            <a:r>
              <a:rPr lang="en-US" dirty="0"/>
              <a:t>provide higher seroconversion rates than a </a:t>
            </a:r>
            <a:r>
              <a:rPr lang="en-US" dirty="0">
                <a:highlight>
                  <a:srgbClr val="FFFF00"/>
                </a:highlight>
              </a:rPr>
              <a:t>single full dose of IPV given intramuscularly at 14 weeks</a:t>
            </a:r>
            <a:r>
              <a:rPr lang="en-US" dirty="0"/>
              <a:t>.</a:t>
            </a:r>
          </a:p>
          <a:p>
            <a:r>
              <a:rPr lang="en-US" dirty="0"/>
              <a:t>In response to an isolation of VDPV2 from a sewage sample taken in Telangana state, India conducted a </a:t>
            </a:r>
            <a:r>
              <a:rPr lang="en-US" dirty="0">
                <a:highlight>
                  <a:srgbClr val="FFFF00"/>
                </a:highlight>
              </a:rPr>
              <a:t>massive </a:t>
            </a:r>
            <a:r>
              <a:rPr lang="en-US" dirty="0" err="1">
                <a:highlight>
                  <a:srgbClr val="FFFF00"/>
                </a:highlight>
              </a:rPr>
              <a:t>compaign</a:t>
            </a:r>
            <a:r>
              <a:rPr lang="en-US" dirty="0">
                <a:highlight>
                  <a:srgbClr val="FFFF00"/>
                </a:highlight>
              </a:rPr>
              <a:t> in June 2016, using an intradermal fractional dose (0.1 ml) of IPV over a period of 6 days. </a:t>
            </a:r>
          </a:p>
          <a:p>
            <a:pPr lvl="1"/>
            <a:r>
              <a:rPr lang="en-US" dirty="0"/>
              <a:t>The campaign vaccinated 311,064 children aged from 6 weeks to 3 years, reaching an estimated coverage of 94 per cent. </a:t>
            </a:r>
          </a:p>
          <a:p>
            <a:r>
              <a:rPr lang="en-US" dirty="0"/>
              <a:t>In April 2016, India introduced FIPV into routine immunization </a:t>
            </a:r>
            <a:r>
              <a:rPr lang="en-US" dirty="0" err="1"/>
              <a:t>programme</a:t>
            </a:r>
            <a:r>
              <a:rPr lang="en-US" dirty="0"/>
              <a:t> in 8 states. In August 2016, the use of FIVP was expanded to another 8 states. </a:t>
            </a:r>
            <a:r>
              <a:rPr lang="en-US" dirty="0">
                <a:highlight>
                  <a:srgbClr val="FFFF00"/>
                </a:highlight>
              </a:rPr>
              <a:t>Presently it covers the whole country.</a:t>
            </a:r>
          </a:p>
        </p:txBody>
      </p:sp>
    </p:spTree>
    <p:extLst>
      <p:ext uri="{BB962C8B-B14F-4D97-AF65-F5344CB8AC3E}">
        <p14:creationId xmlns:p14="http://schemas.microsoft.com/office/powerpoint/2010/main" val="110714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0" name="Rectangle 1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22" name="Group 21">
            <a:extLst>
              <a:ext uri="{FF2B5EF4-FFF2-40B4-BE49-F238E27FC236}">
                <a16:creationId xmlns:a16="http://schemas.microsoft.com/office/drawing/2014/main" id="{BBDA1F5A-F3A8-40DA-ADE6-E0B4D99C853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95800" y="0"/>
            <a:ext cx="7693152" cy="6858000"/>
            <a:chOff x="4495800" y="0"/>
            <a:chExt cx="7693152" cy="6858000"/>
          </a:xfrm>
        </p:grpSpPr>
        <p:pic>
          <p:nvPicPr>
            <p:cNvPr id="23" name="Picture 22">
              <a:extLst>
                <a:ext uri="{FF2B5EF4-FFF2-40B4-BE49-F238E27FC236}">
                  <a16:creationId xmlns:a16="http://schemas.microsoft.com/office/drawing/2014/main" id="{9DDD0C04-CED1-41AA-B09D-56D69AC9624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24" name="Picture 23">
              <a:extLst>
                <a:ext uri="{FF2B5EF4-FFF2-40B4-BE49-F238E27FC236}">
                  <a16:creationId xmlns:a16="http://schemas.microsoft.com/office/drawing/2014/main" id="{7526FC46-8960-4F28-92D0-94C9F69A1B3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43054" y="-947254"/>
              <a:ext cx="5562598" cy="7457106"/>
            </a:xfrm>
            <a:prstGeom prst="rect">
              <a:avLst/>
            </a:prstGeom>
            <a:effectLst>
              <a:softEdge rad="0"/>
            </a:effectLst>
          </p:spPr>
        </p:pic>
      </p:grpSp>
      <p:sp>
        <p:nvSpPr>
          <p:cNvPr id="2" name="Title 1">
            <a:extLst>
              <a:ext uri="{FF2B5EF4-FFF2-40B4-BE49-F238E27FC236}">
                <a16:creationId xmlns:a16="http://schemas.microsoft.com/office/drawing/2014/main" id="{58876D1D-E668-B9DF-C87F-082C8B3007BB}"/>
              </a:ext>
            </a:extLst>
          </p:cNvPr>
          <p:cNvSpPr>
            <a:spLocks noGrp="1"/>
          </p:cNvSpPr>
          <p:nvPr>
            <p:ph type="title"/>
          </p:nvPr>
        </p:nvSpPr>
        <p:spPr>
          <a:xfrm>
            <a:off x="1198182" y="381000"/>
            <a:ext cx="10003218" cy="1600124"/>
          </a:xfrm>
        </p:spPr>
        <p:txBody>
          <a:bodyPr>
            <a:normAutofit/>
          </a:bodyPr>
          <a:lstStyle/>
          <a:p>
            <a:r>
              <a:rPr lang="en-US"/>
              <a:t>Comparison between IPV and fIPV</a:t>
            </a:r>
          </a:p>
        </p:txBody>
      </p:sp>
      <p:graphicFrame>
        <p:nvGraphicFramePr>
          <p:cNvPr id="4" name="Content Placeholder 3">
            <a:extLst>
              <a:ext uri="{FF2B5EF4-FFF2-40B4-BE49-F238E27FC236}">
                <a16:creationId xmlns:a16="http://schemas.microsoft.com/office/drawing/2014/main" id="{D7F5D2A6-C3EE-920F-FC59-772E0A13457E}"/>
              </a:ext>
            </a:extLst>
          </p:cNvPr>
          <p:cNvGraphicFramePr>
            <a:graphicFrameLocks noGrp="1"/>
          </p:cNvGraphicFramePr>
          <p:nvPr>
            <p:ph idx="1"/>
            <p:extLst>
              <p:ext uri="{D42A27DB-BD31-4B8C-83A1-F6EECF244321}">
                <p14:modId xmlns:p14="http://schemas.microsoft.com/office/powerpoint/2010/main" val="850514482"/>
              </p:ext>
            </p:extLst>
          </p:nvPr>
        </p:nvGraphicFramePr>
        <p:xfrm>
          <a:off x="239094" y="1507525"/>
          <a:ext cx="11713812" cy="4499968"/>
        </p:xfrm>
        <a:graphic>
          <a:graphicData uri="http://schemas.openxmlformats.org/drawingml/2006/table">
            <a:tbl>
              <a:tblPr firstRow="1" firstCol="1">
                <a:tableStyleId>{5C22544A-7EE6-4342-B048-85BDC9FD1C3A}</a:tableStyleId>
              </a:tblPr>
              <a:tblGrid>
                <a:gridCol w="1754982">
                  <a:extLst>
                    <a:ext uri="{9D8B030D-6E8A-4147-A177-3AD203B41FA5}">
                      <a16:colId xmlns:a16="http://schemas.microsoft.com/office/drawing/2014/main" val="3916240342"/>
                    </a:ext>
                  </a:extLst>
                </a:gridCol>
                <a:gridCol w="4385336">
                  <a:extLst>
                    <a:ext uri="{9D8B030D-6E8A-4147-A177-3AD203B41FA5}">
                      <a16:colId xmlns:a16="http://schemas.microsoft.com/office/drawing/2014/main" val="366770402"/>
                    </a:ext>
                  </a:extLst>
                </a:gridCol>
                <a:gridCol w="5573494">
                  <a:extLst>
                    <a:ext uri="{9D8B030D-6E8A-4147-A177-3AD203B41FA5}">
                      <a16:colId xmlns:a16="http://schemas.microsoft.com/office/drawing/2014/main" val="198066327"/>
                    </a:ext>
                  </a:extLst>
                </a:gridCol>
              </a:tblGrid>
              <a:tr h="447050">
                <a:tc>
                  <a:txBody>
                    <a:bodyPr/>
                    <a:lstStyle/>
                    <a:p>
                      <a:pPr algn="l" fontAlgn="b"/>
                      <a:r>
                        <a:rPr lang="en-US" sz="1800" b="1" u="none" strike="noStrike" dirty="0">
                          <a:solidFill>
                            <a:srgbClr val="000000"/>
                          </a:solidFill>
                          <a:effectLst/>
                        </a:rPr>
                        <a:t>Feature</a:t>
                      </a:r>
                      <a:endParaRPr lang="en-US" sz="2800" b="1" i="0" u="none" strike="noStrike" dirty="0">
                        <a:effectLst/>
                        <a:latin typeface="Arial" panose="020B0604020202020204" pitchFamily="34" charset="0"/>
                      </a:endParaRPr>
                    </a:p>
                  </a:txBody>
                  <a:tcPr marL="11844" marR="11844" marT="11844" marB="56852" anchor="b"/>
                </a:tc>
                <a:tc>
                  <a:txBody>
                    <a:bodyPr/>
                    <a:lstStyle/>
                    <a:p>
                      <a:pPr algn="l" fontAlgn="b"/>
                      <a:r>
                        <a:rPr lang="en-US" sz="1800" b="1" u="none" strike="noStrike" dirty="0">
                          <a:solidFill>
                            <a:srgbClr val="000000"/>
                          </a:solidFill>
                          <a:effectLst/>
                        </a:rPr>
                        <a:t>IPV</a:t>
                      </a:r>
                      <a:endParaRPr lang="en-US" sz="2800" b="1" i="0" u="none" strike="noStrike" dirty="0">
                        <a:effectLst/>
                        <a:latin typeface="Arial" panose="020B0604020202020204" pitchFamily="34" charset="0"/>
                      </a:endParaRPr>
                    </a:p>
                  </a:txBody>
                  <a:tcPr marL="11844" marR="11844" marT="11844" marB="56852" anchor="b"/>
                </a:tc>
                <a:tc>
                  <a:txBody>
                    <a:bodyPr/>
                    <a:lstStyle/>
                    <a:p>
                      <a:pPr algn="l" fontAlgn="b"/>
                      <a:r>
                        <a:rPr lang="en-US" sz="1800" b="1" u="none" strike="noStrike" dirty="0">
                          <a:solidFill>
                            <a:srgbClr val="000000"/>
                          </a:solidFill>
                          <a:effectLst/>
                        </a:rPr>
                        <a:t>Fractional IPV (</a:t>
                      </a:r>
                      <a:r>
                        <a:rPr lang="en-US" sz="1800" b="1" u="none" strike="noStrike" dirty="0" err="1">
                          <a:solidFill>
                            <a:srgbClr val="000000"/>
                          </a:solidFill>
                          <a:effectLst/>
                        </a:rPr>
                        <a:t>fIPV</a:t>
                      </a:r>
                      <a:r>
                        <a:rPr lang="en-US" sz="1800" b="1" u="none" strike="noStrike" dirty="0">
                          <a:solidFill>
                            <a:srgbClr val="000000"/>
                          </a:solidFill>
                          <a:effectLst/>
                        </a:rPr>
                        <a:t>)</a:t>
                      </a:r>
                      <a:endParaRPr lang="en-US" sz="2800" b="1" i="0" u="none" strike="noStrike" dirty="0">
                        <a:effectLst/>
                        <a:latin typeface="Arial" panose="020B0604020202020204" pitchFamily="34" charset="0"/>
                      </a:endParaRPr>
                    </a:p>
                  </a:txBody>
                  <a:tcPr marL="11844" marR="11844" marT="11844" marB="56852" anchor="b"/>
                </a:tc>
                <a:extLst>
                  <a:ext uri="{0D108BD9-81ED-4DB2-BD59-A6C34878D82A}">
                    <a16:rowId xmlns:a16="http://schemas.microsoft.com/office/drawing/2014/main" val="321216019"/>
                  </a:ext>
                </a:extLst>
              </a:tr>
              <a:tr h="447050">
                <a:tc>
                  <a:txBody>
                    <a:bodyPr/>
                    <a:lstStyle/>
                    <a:p>
                      <a:pPr algn="l" fontAlgn="b"/>
                      <a:r>
                        <a:rPr lang="en-US" sz="1800" b="1" u="none" strike="noStrike" dirty="0">
                          <a:solidFill>
                            <a:srgbClr val="000000"/>
                          </a:solidFill>
                          <a:effectLst/>
                        </a:rPr>
                        <a:t>Dosage</a:t>
                      </a:r>
                      <a:endParaRPr lang="en-US" sz="2800" b="1" i="0" u="none" strike="noStrike" dirty="0">
                        <a:effectLst/>
                        <a:latin typeface="Arial" panose="020B0604020202020204" pitchFamily="34" charset="0"/>
                      </a:endParaRPr>
                    </a:p>
                  </a:txBody>
                  <a:tcPr marL="11844" marR="11844" marT="11844" marB="56852" anchor="b"/>
                </a:tc>
                <a:tc>
                  <a:txBody>
                    <a:bodyPr/>
                    <a:lstStyle/>
                    <a:p>
                      <a:pPr algn="l" fontAlgn="b"/>
                      <a:r>
                        <a:rPr lang="en-US" sz="1800" b="0" u="none" strike="noStrike" dirty="0">
                          <a:solidFill>
                            <a:srgbClr val="000000"/>
                          </a:solidFill>
                          <a:effectLst/>
                        </a:rPr>
                        <a:t>Full dose</a:t>
                      </a:r>
                      <a:endParaRPr lang="en-US" sz="2800" b="0" i="0" u="none" strike="noStrike" dirty="0">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1/5 of the full dose</a:t>
                      </a:r>
                      <a:endParaRPr lang="en-US" sz="2800" b="0" i="0" u="none" strike="noStrike">
                        <a:effectLst/>
                        <a:latin typeface="Arial" panose="020B0604020202020204" pitchFamily="34" charset="0"/>
                      </a:endParaRPr>
                    </a:p>
                  </a:txBody>
                  <a:tcPr marL="11844" marR="11844" marT="11844" marB="56852" anchor="b"/>
                </a:tc>
                <a:extLst>
                  <a:ext uri="{0D108BD9-81ED-4DB2-BD59-A6C34878D82A}">
                    <a16:rowId xmlns:a16="http://schemas.microsoft.com/office/drawing/2014/main" val="1160644879"/>
                  </a:ext>
                </a:extLst>
              </a:tr>
              <a:tr h="447050">
                <a:tc>
                  <a:txBody>
                    <a:bodyPr/>
                    <a:lstStyle/>
                    <a:p>
                      <a:pPr algn="l" fontAlgn="b"/>
                      <a:r>
                        <a:rPr lang="en-US" sz="1800" b="1" u="none" strike="noStrike" dirty="0">
                          <a:solidFill>
                            <a:srgbClr val="000000"/>
                          </a:solidFill>
                          <a:effectLst/>
                        </a:rPr>
                        <a:t>Administration</a:t>
                      </a:r>
                      <a:endParaRPr lang="en-US" sz="2800" b="1" i="0" u="none" strike="noStrike" dirty="0">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Intramuscular or subcutaneous injection</a:t>
                      </a:r>
                      <a:endParaRPr lang="en-US" sz="2800" b="0" i="0" u="none" strike="noStrike">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Intradermal injection</a:t>
                      </a:r>
                      <a:endParaRPr lang="en-US" sz="2800" b="0" i="0" u="none" strike="noStrike">
                        <a:effectLst/>
                        <a:latin typeface="Arial" panose="020B0604020202020204" pitchFamily="34" charset="0"/>
                      </a:endParaRPr>
                    </a:p>
                  </a:txBody>
                  <a:tcPr marL="11844" marR="11844" marT="11844" marB="56852" anchor="b"/>
                </a:tc>
                <a:extLst>
                  <a:ext uri="{0D108BD9-81ED-4DB2-BD59-A6C34878D82A}">
                    <a16:rowId xmlns:a16="http://schemas.microsoft.com/office/drawing/2014/main" val="476754363"/>
                  </a:ext>
                </a:extLst>
              </a:tr>
              <a:tr h="754906">
                <a:tc>
                  <a:txBody>
                    <a:bodyPr/>
                    <a:lstStyle/>
                    <a:p>
                      <a:pPr algn="l" fontAlgn="b"/>
                      <a:r>
                        <a:rPr lang="en-US" sz="1800" b="1" u="none" strike="noStrike" dirty="0">
                          <a:solidFill>
                            <a:srgbClr val="000000"/>
                          </a:solidFill>
                          <a:effectLst/>
                        </a:rPr>
                        <a:t>Efficacy</a:t>
                      </a:r>
                      <a:endParaRPr lang="en-US" sz="2800" b="1" i="0" u="none" strike="noStrike" dirty="0">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High seroconversion rates after 2 doses</a:t>
                      </a:r>
                      <a:endParaRPr lang="en-US" sz="2800" b="0" i="0" u="none" strike="noStrike">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Lower seroconversion rates after 1 dose, but similar after 2 doses1</a:t>
                      </a:r>
                      <a:endParaRPr lang="en-US" sz="2800" b="0" i="0" u="none" strike="noStrike">
                        <a:effectLst/>
                        <a:latin typeface="Arial" panose="020B0604020202020204" pitchFamily="34" charset="0"/>
                      </a:endParaRPr>
                    </a:p>
                  </a:txBody>
                  <a:tcPr marL="11844" marR="11844" marT="11844" marB="56852" anchor="b"/>
                </a:tc>
                <a:extLst>
                  <a:ext uri="{0D108BD9-81ED-4DB2-BD59-A6C34878D82A}">
                    <a16:rowId xmlns:a16="http://schemas.microsoft.com/office/drawing/2014/main" val="4091322251"/>
                  </a:ext>
                </a:extLst>
              </a:tr>
              <a:tr h="447050">
                <a:tc>
                  <a:txBody>
                    <a:bodyPr/>
                    <a:lstStyle/>
                    <a:p>
                      <a:pPr algn="l" fontAlgn="b"/>
                      <a:r>
                        <a:rPr lang="en-US" sz="1800" b="1" u="none" strike="noStrike" dirty="0">
                          <a:solidFill>
                            <a:srgbClr val="000000"/>
                          </a:solidFill>
                          <a:effectLst/>
                        </a:rPr>
                        <a:t>Usage</a:t>
                      </a:r>
                      <a:endParaRPr lang="en-US" sz="2800" b="1" i="0" u="none" strike="noStrike" dirty="0">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Standard in routine immunization</a:t>
                      </a:r>
                      <a:endParaRPr lang="en-US" sz="2800" b="0" i="0" u="none" strike="noStrike">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Used to stretch limited IPV supplies2</a:t>
                      </a:r>
                      <a:endParaRPr lang="en-US" sz="2800" b="0" i="0" u="none" strike="noStrike">
                        <a:effectLst/>
                        <a:latin typeface="Arial" panose="020B0604020202020204" pitchFamily="34" charset="0"/>
                      </a:endParaRPr>
                    </a:p>
                  </a:txBody>
                  <a:tcPr marL="11844" marR="11844" marT="11844" marB="56852" anchor="b"/>
                </a:tc>
                <a:extLst>
                  <a:ext uri="{0D108BD9-81ED-4DB2-BD59-A6C34878D82A}">
                    <a16:rowId xmlns:a16="http://schemas.microsoft.com/office/drawing/2014/main" val="3794395987"/>
                  </a:ext>
                </a:extLst>
              </a:tr>
              <a:tr h="447050">
                <a:tc>
                  <a:txBody>
                    <a:bodyPr/>
                    <a:lstStyle/>
                    <a:p>
                      <a:pPr algn="l" fontAlgn="b"/>
                      <a:r>
                        <a:rPr lang="en-US" sz="1800" b="1" u="none" strike="noStrike" dirty="0">
                          <a:solidFill>
                            <a:srgbClr val="000000"/>
                          </a:solidFill>
                          <a:effectLst/>
                        </a:rPr>
                        <a:t>Cost</a:t>
                      </a:r>
                      <a:endParaRPr lang="en-US" sz="2800" b="1" i="0" u="none" strike="noStrike" dirty="0">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Higher due to full dosage</a:t>
                      </a:r>
                      <a:endParaRPr lang="en-US" sz="2800" b="0" i="0" u="none" strike="noStrike">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Lower due to reduced dosage</a:t>
                      </a:r>
                      <a:endParaRPr lang="en-US" sz="2800" b="0" i="0" u="none" strike="noStrike">
                        <a:effectLst/>
                        <a:latin typeface="Arial" panose="020B0604020202020204" pitchFamily="34" charset="0"/>
                      </a:endParaRPr>
                    </a:p>
                  </a:txBody>
                  <a:tcPr marL="11844" marR="11844" marT="11844" marB="56852" anchor="b"/>
                </a:tc>
                <a:extLst>
                  <a:ext uri="{0D108BD9-81ED-4DB2-BD59-A6C34878D82A}">
                    <a16:rowId xmlns:a16="http://schemas.microsoft.com/office/drawing/2014/main" val="614893485"/>
                  </a:ext>
                </a:extLst>
              </a:tr>
              <a:tr h="754906">
                <a:tc>
                  <a:txBody>
                    <a:bodyPr/>
                    <a:lstStyle/>
                    <a:p>
                      <a:pPr algn="l" fontAlgn="b"/>
                      <a:r>
                        <a:rPr lang="en-US" sz="1800" b="1" u="none" strike="noStrike" dirty="0">
                          <a:solidFill>
                            <a:srgbClr val="000000"/>
                          </a:solidFill>
                          <a:effectLst/>
                        </a:rPr>
                        <a:t>Supply Management</a:t>
                      </a:r>
                      <a:endParaRPr lang="en-US" sz="2800" b="1" i="0" u="none" strike="noStrike" dirty="0">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Requires more vaccine per person</a:t>
                      </a:r>
                      <a:endParaRPr lang="en-US" sz="2800" b="0" i="0" u="none" strike="noStrike">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More efficient use of limited vaccine supply2</a:t>
                      </a:r>
                      <a:endParaRPr lang="en-US" sz="2800" b="0" i="0" u="none" strike="noStrike">
                        <a:effectLst/>
                        <a:latin typeface="Arial" panose="020B0604020202020204" pitchFamily="34" charset="0"/>
                      </a:endParaRPr>
                    </a:p>
                  </a:txBody>
                  <a:tcPr marL="11844" marR="11844" marT="11844" marB="56852" anchor="b"/>
                </a:tc>
                <a:extLst>
                  <a:ext uri="{0D108BD9-81ED-4DB2-BD59-A6C34878D82A}">
                    <a16:rowId xmlns:a16="http://schemas.microsoft.com/office/drawing/2014/main" val="1041881654"/>
                  </a:ext>
                </a:extLst>
              </a:tr>
              <a:tr h="754906">
                <a:tc>
                  <a:txBody>
                    <a:bodyPr/>
                    <a:lstStyle/>
                    <a:p>
                      <a:pPr algn="l" fontAlgn="b"/>
                      <a:r>
                        <a:rPr lang="en-US" sz="1800" b="1" u="none" strike="noStrike" dirty="0">
                          <a:solidFill>
                            <a:srgbClr val="000000"/>
                          </a:solidFill>
                          <a:effectLst/>
                        </a:rPr>
                        <a:t>Protection</a:t>
                      </a:r>
                      <a:endParaRPr lang="en-US" sz="2800" b="1" i="0" u="none" strike="noStrike" dirty="0">
                        <a:effectLst/>
                        <a:latin typeface="Arial" panose="020B0604020202020204" pitchFamily="34" charset="0"/>
                      </a:endParaRPr>
                    </a:p>
                  </a:txBody>
                  <a:tcPr marL="11844" marR="11844" marT="11844" marB="56852" anchor="b"/>
                </a:tc>
                <a:tc>
                  <a:txBody>
                    <a:bodyPr/>
                    <a:lstStyle/>
                    <a:p>
                      <a:pPr algn="l" fontAlgn="b"/>
                      <a:r>
                        <a:rPr lang="en-US" sz="1800" b="0" u="none" strike="noStrike">
                          <a:solidFill>
                            <a:srgbClr val="000000"/>
                          </a:solidFill>
                          <a:effectLst/>
                        </a:rPr>
                        <a:t>Provides strong humoral and mucosal protection</a:t>
                      </a:r>
                      <a:endParaRPr lang="en-US" sz="2800" b="0" i="0" u="none" strike="noStrike">
                        <a:effectLst/>
                        <a:latin typeface="Arial" panose="020B0604020202020204" pitchFamily="34" charset="0"/>
                      </a:endParaRPr>
                    </a:p>
                  </a:txBody>
                  <a:tcPr marL="11844" marR="11844" marT="11844" marB="56852" anchor="b"/>
                </a:tc>
                <a:tc>
                  <a:txBody>
                    <a:bodyPr/>
                    <a:lstStyle/>
                    <a:p>
                      <a:pPr algn="l" fontAlgn="b"/>
                      <a:r>
                        <a:rPr lang="en-US" sz="1800" b="0" u="none" strike="noStrike" dirty="0">
                          <a:solidFill>
                            <a:srgbClr val="000000"/>
                          </a:solidFill>
                          <a:effectLst/>
                        </a:rPr>
                        <a:t>Provides similar protection after 2 doses3</a:t>
                      </a:r>
                      <a:endParaRPr lang="en-US" sz="2800" b="0" i="0" u="none" strike="noStrike" dirty="0">
                        <a:effectLst/>
                        <a:latin typeface="Arial" panose="020B0604020202020204" pitchFamily="34" charset="0"/>
                      </a:endParaRPr>
                    </a:p>
                  </a:txBody>
                  <a:tcPr marL="11844" marR="11844" marT="11844" marB="56852" anchor="b"/>
                </a:tc>
                <a:extLst>
                  <a:ext uri="{0D108BD9-81ED-4DB2-BD59-A6C34878D82A}">
                    <a16:rowId xmlns:a16="http://schemas.microsoft.com/office/drawing/2014/main" val="1565220626"/>
                  </a:ext>
                </a:extLst>
              </a:tr>
            </a:tbl>
          </a:graphicData>
        </a:graphic>
      </p:graphicFrame>
    </p:spTree>
    <p:extLst>
      <p:ext uri="{BB962C8B-B14F-4D97-AF65-F5344CB8AC3E}">
        <p14:creationId xmlns:p14="http://schemas.microsoft.com/office/powerpoint/2010/main" val="3176759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52306-5F01-4A63-E9E4-0FEDA0E2DF96}"/>
              </a:ext>
            </a:extLst>
          </p:cNvPr>
          <p:cNvSpPr>
            <a:spLocks noGrp="1"/>
          </p:cNvSpPr>
          <p:nvPr>
            <p:ph type="title"/>
          </p:nvPr>
        </p:nvSpPr>
        <p:spPr/>
        <p:txBody>
          <a:bodyPr/>
          <a:lstStyle/>
          <a:p>
            <a:r>
              <a:rPr lang="en-US" dirty="0"/>
              <a:t>OPV (Sabin)</a:t>
            </a:r>
          </a:p>
        </p:txBody>
      </p:sp>
      <p:sp>
        <p:nvSpPr>
          <p:cNvPr id="3" name="Content Placeholder 2">
            <a:extLst>
              <a:ext uri="{FF2B5EF4-FFF2-40B4-BE49-F238E27FC236}">
                <a16:creationId xmlns:a16="http://schemas.microsoft.com/office/drawing/2014/main" id="{37DD4037-5A5A-402E-0DED-14BFC3EE8038}"/>
              </a:ext>
            </a:extLst>
          </p:cNvPr>
          <p:cNvSpPr>
            <a:spLocks noGrp="1"/>
          </p:cNvSpPr>
          <p:nvPr>
            <p:ph idx="1"/>
          </p:nvPr>
        </p:nvSpPr>
        <p:spPr/>
        <p:txBody>
          <a:bodyPr/>
          <a:lstStyle/>
          <a:p>
            <a:r>
              <a:rPr lang="en-US" dirty="0"/>
              <a:t>Oral polio vaccine (OPV) was described by </a:t>
            </a:r>
            <a:r>
              <a:rPr lang="en-US" dirty="0">
                <a:highlight>
                  <a:srgbClr val="FFFF00"/>
                </a:highlight>
              </a:rPr>
              <a:t>Sabin in 1957. </a:t>
            </a:r>
          </a:p>
          <a:p>
            <a:r>
              <a:rPr lang="en-US" dirty="0"/>
              <a:t>It contains </a:t>
            </a:r>
            <a:r>
              <a:rPr lang="en-US" dirty="0">
                <a:highlight>
                  <a:srgbClr val="FFFF00"/>
                </a:highlight>
              </a:rPr>
              <a:t>live attenuated virus (types 1,2 and 3) </a:t>
            </a:r>
            <a:r>
              <a:rPr lang="en-US" dirty="0"/>
              <a:t>grown in </a:t>
            </a:r>
            <a:r>
              <a:rPr lang="en-US" dirty="0">
                <a:highlight>
                  <a:srgbClr val="FFFF00"/>
                </a:highlight>
              </a:rPr>
              <a:t>primary monkey kidney or human diploid cell cultures. </a:t>
            </a:r>
          </a:p>
          <a:p>
            <a:r>
              <a:rPr lang="en-US" dirty="0"/>
              <a:t>Ideally each virus type should be given separately as monovalent vaccine, but for </a:t>
            </a:r>
            <a:r>
              <a:rPr lang="en-US" dirty="0">
                <a:highlight>
                  <a:srgbClr val="FFFF00"/>
                </a:highlight>
              </a:rPr>
              <a:t>administrative convenience, rather than efficacy</a:t>
            </a:r>
            <a:r>
              <a:rPr lang="en-US" dirty="0"/>
              <a:t>, it is given as bivalent (</a:t>
            </a:r>
            <a:r>
              <a:rPr lang="en-US" dirty="0" err="1"/>
              <a:t>bOPV</a:t>
            </a:r>
            <a:r>
              <a:rPr lang="en-US" dirty="0"/>
              <a:t>) vaccine.</a:t>
            </a:r>
          </a:p>
        </p:txBody>
      </p:sp>
    </p:spTree>
    <p:extLst>
      <p:ext uri="{BB962C8B-B14F-4D97-AF65-F5344CB8AC3E}">
        <p14:creationId xmlns:p14="http://schemas.microsoft.com/office/powerpoint/2010/main" val="2663316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386D4-132C-A17F-5C88-A90ADFAA82B3}"/>
              </a:ext>
            </a:extLst>
          </p:cNvPr>
          <p:cNvSpPr>
            <a:spLocks noGrp="1"/>
          </p:cNvSpPr>
          <p:nvPr>
            <p:ph type="title"/>
          </p:nvPr>
        </p:nvSpPr>
        <p:spPr/>
        <p:txBody>
          <a:bodyPr/>
          <a:lstStyle/>
          <a:p>
            <a:r>
              <a:rPr lang="en-US" dirty="0"/>
              <a:t>OPV - NIS</a:t>
            </a:r>
          </a:p>
        </p:txBody>
      </p:sp>
      <p:sp>
        <p:nvSpPr>
          <p:cNvPr id="3" name="Content Placeholder 2">
            <a:extLst>
              <a:ext uri="{FF2B5EF4-FFF2-40B4-BE49-F238E27FC236}">
                <a16:creationId xmlns:a16="http://schemas.microsoft.com/office/drawing/2014/main" id="{AA937350-B5FB-AEE3-AE6F-668A572E2BC7}"/>
              </a:ext>
            </a:extLst>
          </p:cNvPr>
          <p:cNvSpPr>
            <a:spLocks noGrp="1"/>
          </p:cNvSpPr>
          <p:nvPr>
            <p:ph idx="1"/>
          </p:nvPr>
        </p:nvSpPr>
        <p:spPr>
          <a:xfrm>
            <a:off x="458694" y="1509486"/>
            <a:ext cx="11274612" cy="4982754"/>
          </a:xfrm>
        </p:spPr>
        <p:txBody>
          <a:bodyPr>
            <a:normAutofit fontScale="92500"/>
          </a:bodyPr>
          <a:lstStyle/>
          <a:p>
            <a:r>
              <a:rPr lang="en-US" dirty="0"/>
              <a:t>Recommends a primary course of </a:t>
            </a:r>
            <a:r>
              <a:rPr lang="en-US" dirty="0">
                <a:highlight>
                  <a:srgbClr val="FFFF00"/>
                </a:highlight>
              </a:rPr>
              <a:t>3 doses of OPV at one-month intervals,</a:t>
            </a:r>
            <a:r>
              <a:rPr lang="en-US" dirty="0"/>
              <a:t> commencing the </a:t>
            </a:r>
            <a:r>
              <a:rPr lang="en-US" dirty="0">
                <a:highlight>
                  <a:srgbClr val="FFFF00"/>
                </a:highlight>
              </a:rPr>
              <a:t>first dose when infant is 6 weeks old.</a:t>
            </a:r>
          </a:p>
          <a:p>
            <a:r>
              <a:rPr lang="en-US" dirty="0"/>
              <a:t>It is recommended that a dose of OPV (</a:t>
            </a:r>
            <a:r>
              <a:rPr lang="en-US" dirty="0">
                <a:highlight>
                  <a:srgbClr val="FFFF00"/>
                </a:highlight>
              </a:rPr>
              <a:t>zero dose) </a:t>
            </a:r>
            <a:r>
              <a:rPr lang="en-US" dirty="0"/>
              <a:t>is required to be given to all </a:t>
            </a:r>
            <a:r>
              <a:rPr lang="en-US" dirty="0">
                <a:highlight>
                  <a:srgbClr val="FFFF00"/>
                </a:highlight>
              </a:rPr>
              <a:t>children delivered </a:t>
            </a:r>
            <a:r>
              <a:rPr lang="en-US" dirty="0"/>
              <a:t>in health institutions before their discharge from the hospital.</a:t>
            </a:r>
          </a:p>
          <a:p>
            <a:pPr lvl="1"/>
            <a:r>
              <a:rPr lang="en-US" dirty="0"/>
              <a:t>The vaccine should </a:t>
            </a:r>
            <a:r>
              <a:rPr lang="en-US" dirty="0">
                <a:highlight>
                  <a:srgbClr val="FFFF00"/>
                </a:highlight>
              </a:rPr>
              <a:t>be given in maternity wards, </a:t>
            </a:r>
            <a:r>
              <a:rPr lang="en-US" dirty="0"/>
              <a:t>the newborn should not be taken to regular immunization sessions to avoid infection. </a:t>
            </a:r>
          </a:p>
          <a:p>
            <a:r>
              <a:rPr lang="en-US" dirty="0"/>
              <a:t>OPV is given concurrently with DPT or pentavalent vaccine. BCG can be given simultaneously with the first dose of OPV. </a:t>
            </a:r>
          </a:p>
          <a:p>
            <a:r>
              <a:rPr lang="en-US" dirty="0"/>
              <a:t>It is very important to complete vaccination of all infants before 6 months of age. </a:t>
            </a:r>
          </a:p>
          <a:p>
            <a:r>
              <a:rPr lang="en-US" dirty="0">
                <a:highlight>
                  <a:srgbClr val="FFFF00"/>
                </a:highlight>
              </a:rPr>
              <a:t>One booster dose of OPV is recommended 12 to 18 months later</a:t>
            </a:r>
            <a:r>
              <a:rPr lang="en-US" dirty="0"/>
              <a:t>.</a:t>
            </a:r>
          </a:p>
        </p:txBody>
      </p:sp>
    </p:spTree>
    <p:extLst>
      <p:ext uri="{BB962C8B-B14F-4D97-AF65-F5344CB8AC3E}">
        <p14:creationId xmlns:p14="http://schemas.microsoft.com/office/powerpoint/2010/main" val="161541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386D4-132C-A17F-5C88-A90ADFAA82B3}"/>
              </a:ext>
            </a:extLst>
          </p:cNvPr>
          <p:cNvSpPr>
            <a:spLocks noGrp="1"/>
          </p:cNvSpPr>
          <p:nvPr>
            <p:ph type="title"/>
          </p:nvPr>
        </p:nvSpPr>
        <p:spPr/>
        <p:txBody>
          <a:bodyPr>
            <a:normAutofit/>
          </a:bodyPr>
          <a:lstStyle/>
          <a:p>
            <a:r>
              <a:rPr lang="en-US" dirty="0"/>
              <a:t>OPV - Dose and mode of administration</a:t>
            </a:r>
          </a:p>
        </p:txBody>
      </p:sp>
      <p:sp>
        <p:nvSpPr>
          <p:cNvPr id="3" name="Content Placeholder 2">
            <a:extLst>
              <a:ext uri="{FF2B5EF4-FFF2-40B4-BE49-F238E27FC236}">
                <a16:creationId xmlns:a16="http://schemas.microsoft.com/office/drawing/2014/main" id="{AA937350-B5FB-AEE3-AE6F-668A572E2BC7}"/>
              </a:ext>
            </a:extLst>
          </p:cNvPr>
          <p:cNvSpPr>
            <a:spLocks noGrp="1"/>
          </p:cNvSpPr>
          <p:nvPr>
            <p:ph idx="1"/>
          </p:nvPr>
        </p:nvSpPr>
        <p:spPr>
          <a:xfrm>
            <a:off x="458694" y="1509486"/>
            <a:ext cx="11274612" cy="4982754"/>
          </a:xfrm>
        </p:spPr>
        <p:txBody>
          <a:bodyPr>
            <a:normAutofit fontScale="85000" lnSpcReduction="10000"/>
          </a:bodyPr>
          <a:lstStyle/>
          <a:p>
            <a:r>
              <a:rPr lang="en-US" dirty="0"/>
              <a:t>The dose is </a:t>
            </a:r>
            <a:r>
              <a:rPr lang="en-US" dirty="0">
                <a:highlight>
                  <a:srgbClr val="FFFF00"/>
                </a:highlight>
              </a:rPr>
              <a:t>2 drops or as stated on the label</a:t>
            </a:r>
            <a:r>
              <a:rPr lang="en-US" dirty="0"/>
              <a:t>. </a:t>
            </a:r>
          </a:p>
          <a:p>
            <a:r>
              <a:rPr lang="en-US" dirty="0"/>
              <a:t>Tilt the child’s back, and gently squeeze the cheeks or pinch the nose to make the mouth open. Let the drops fall from the dropper onto the child’s tongue. Repeat the process if the child spits out the vaccine. </a:t>
            </a:r>
          </a:p>
          <a:p>
            <a:r>
              <a:rPr lang="en-US" dirty="0"/>
              <a:t>If the vaccine is spoon-fed there is a chance that it will not alt be licked up by the child</a:t>
            </a:r>
          </a:p>
          <a:p>
            <a:r>
              <a:rPr lang="en-US" dirty="0">
                <a:highlight>
                  <a:srgbClr val="FFFF00"/>
                </a:highlight>
              </a:rPr>
              <a:t>Breast-feeding does not impede the effectiveness of oral poliovirus vaccine. </a:t>
            </a:r>
          </a:p>
          <a:p>
            <a:r>
              <a:rPr lang="en-US" dirty="0"/>
              <a:t>Breast milk can be given whenever the child is hungry. However</a:t>
            </a:r>
            <a:r>
              <a:rPr lang="en-US" dirty="0">
                <a:highlight>
                  <a:srgbClr val="FFFF00"/>
                </a:highlight>
              </a:rPr>
              <a:t>, hot water, hot milk or hot fluids should be withheld for about half an hour after the administration of the vaccine. </a:t>
            </a:r>
          </a:p>
          <a:p>
            <a:r>
              <a:rPr lang="en-US" dirty="0"/>
              <a:t>The vaccine should be administered </a:t>
            </a:r>
            <a:r>
              <a:rPr lang="en-US" dirty="0">
                <a:highlight>
                  <a:srgbClr val="FFFF00"/>
                </a:highlight>
              </a:rPr>
              <a:t>preferably in a cool room, rather than in a hot, humid and crowded room.</a:t>
            </a:r>
          </a:p>
        </p:txBody>
      </p:sp>
    </p:spTree>
    <p:extLst>
      <p:ext uri="{BB962C8B-B14F-4D97-AF65-F5344CB8AC3E}">
        <p14:creationId xmlns:p14="http://schemas.microsoft.com/office/powerpoint/2010/main" val="3882859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0C780-2A2F-A658-881C-982EEDC94271}"/>
              </a:ext>
            </a:extLst>
          </p:cNvPr>
          <p:cNvSpPr>
            <a:spLocks noGrp="1"/>
          </p:cNvSpPr>
          <p:nvPr>
            <p:ph type="title"/>
          </p:nvPr>
        </p:nvSpPr>
        <p:spPr/>
        <p:txBody>
          <a:bodyPr/>
          <a:lstStyle/>
          <a:p>
            <a:r>
              <a:rPr lang="en-US" dirty="0"/>
              <a:t>OPV – Development of immunity</a:t>
            </a:r>
          </a:p>
        </p:txBody>
      </p:sp>
      <p:sp>
        <p:nvSpPr>
          <p:cNvPr id="3" name="Content Placeholder 2">
            <a:extLst>
              <a:ext uri="{FF2B5EF4-FFF2-40B4-BE49-F238E27FC236}">
                <a16:creationId xmlns:a16="http://schemas.microsoft.com/office/drawing/2014/main" id="{BED98F75-0DD4-B0D8-797E-7DBB386EB3D0}"/>
              </a:ext>
            </a:extLst>
          </p:cNvPr>
          <p:cNvSpPr>
            <a:spLocks noGrp="1"/>
          </p:cNvSpPr>
          <p:nvPr>
            <p:ph idx="1"/>
          </p:nvPr>
        </p:nvSpPr>
        <p:spPr>
          <a:xfrm>
            <a:off x="198120" y="1508760"/>
            <a:ext cx="11535186" cy="4636453"/>
          </a:xfrm>
        </p:spPr>
        <p:txBody>
          <a:bodyPr>
            <a:normAutofit fontScale="62500" lnSpcReduction="20000"/>
          </a:bodyPr>
          <a:lstStyle/>
          <a:p>
            <a:r>
              <a:rPr lang="en-US" dirty="0"/>
              <a:t>Live vaccine strains infect intestinal epithelial cells. </a:t>
            </a:r>
          </a:p>
          <a:p>
            <a:r>
              <a:rPr lang="en-US" dirty="0"/>
              <a:t>After replication, the </a:t>
            </a:r>
            <a:r>
              <a:rPr lang="en-US" dirty="0">
                <a:highlight>
                  <a:srgbClr val="FFFF00"/>
                </a:highlight>
              </a:rPr>
              <a:t>virus is transported to the Peyer’s patche</a:t>
            </a:r>
            <a:r>
              <a:rPr lang="en-US" dirty="0"/>
              <a:t>s where a secondary multiplication with subsequent viraemia occurs. </a:t>
            </a:r>
          </a:p>
          <a:p>
            <a:r>
              <a:rPr lang="en-US" dirty="0"/>
              <a:t>The virus spreads to other areas of the body, resulting in the </a:t>
            </a:r>
            <a:r>
              <a:rPr lang="en-US" dirty="0">
                <a:highlight>
                  <a:srgbClr val="FFFF00"/>
                </a:highlight>
              </a:rPr>
              <a:t>production of circulating antibodies </a:t>
            </a:r>
            <a:r>
              <a:rPr lang="en-US" dirty="0"/>
              <a:t>which prevent dissemination of the virus to the nervous system and prevent paralytic polio. </a:t>
            </a:r>
          </a:p>
          <a:p>
            <a:r>
              <a:rPr lang="en-US" dirty="0"/>
              <a:t>Intestinal infection stimulates the </a:t>
            </a:r>
            <a:r>
              <a:rPr lang="en-US" dirty="0">
                <a:highlight>
                  <a:srgbClr val="FFFF00"/>
                </a:highlight>
              </a:rPr>
              <a:t>production of IgA secretory antibodies </a:t>
            </a:r>
            <a:r>
              <a:rPr lang="en-US" dirty="0"/>
              <a:t>which prevent subsequent infection of the alimentary tract with wild strains of poliovirus, and thus is effective in limiting virus transmission in the community.</a:t>
            </a:r>
          </a:p>
          <a:p>
            <a:r>
              <a:rPr lang="en-US" dirty="0"/>
              <a:t>The vaccine progeny is excreted in the </a:t>
            </a:r>
            <a:r>
              <a:rPr lang="en-US" dirty="0" err="1"/>
              <a:t>faeces</a:t>
            </a:r>
            <a:r>
              <a:rPr lang="en-US" dirty="0"/>
              <a:t> and secondary spread occurs to household contacts and susceptible contacts in the community. </a:t>
            </a:r>
          </a:p>
          <a:p>
            <a:r>
              <a:rPr lang="en-US" dirty="0"/>
              <a:t>Non-immunized persons may therefore, be immunized. </a:t>
            </a:r>
          </a:p>
          <a:p>
            <a:r>
              <a:rPr lang="en-US" dirty="0"/>
              <a:t>Thus </a:t>
            </a:r>
            <a:r>
              <a:rPr lang="en-US" dirty="0">
                <a:highlight>
                  <a:srgbClr val="FFFF00"/>
                </a:highlight>
              </a:rPr>
              <a:t>widespread “herd immunity” results, even if only approximately 66 per cent </a:t>
            </a:r>
            <a:r>
              <a:rPr lang="en-US" dirty="0"/>
              <a:t>of the community is immunized</a:t>
            </a:r>
          </a:p>
          <a:p>
            <a:r>
              <a:rPr lang="en-US" dirty="0"/>
              <a:t>This property of OPV has been exploited in controlling epidemics of polio by administering the vaccine simultaneously in a short period to all susceptible in a community. </a:t>
            </a:r>
          </a:p>
          <a:p>
            <a:r>
              <a:rPr lang="en-US" dirty="0"/>
              <a:t>This procedure virtually eliminates the wild polio strains in the community and replaces them by attenuated strains. </a:t>
            </a:r>
          </a:p>
        </p:txBody>
      </p:sp>
    </p:spTree>
    <p:extLst>
      <p:ext uri="{BB962C8B-B14F-4D97-AF65-F5344CB8AC3E}">
        <p14:creationId xmlns:p14="http://schemas.microsoft.com/office/powerpoint/2010/main" val="3307647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6E3B-14D8-5458-F1AE-359A924F1C1E}"/>
              </a:ext>
            </a:extLst>
          </p:cNvPr>
          <p:cNvSpPr>
            <a:spLocks noGrp="1"/>
          </p:cNvSpPr>
          <p:nvPr>
            <p:ph type="title"/>
          </p:nvPr>
        </p:nvSpPr>
        <p:spPr/>
        <p:txBody>
          <a:bodyPr/>
          <a:lstStyle/>
          <a:p>
            <a:r>
              <a:rPr lang="en-US" dirty="0"/>
              <a:t>OPV – Advantages and complications</a:t>
            </a:r>
          </a:p>
        </p:txBody>
      </p:sp>
      <p:sp>
        <p:nvSpPr>
          <p:cNvPr id="4" name="Text Placeholder 3">
            <a:extLst>
              <a:ext uri="{FF2B5EF4-FFF2-40B4-BE49-F238E27FC236}">
                <a16:creationId xmlns:a16="http://schemas.microsoft.com/office/drawing/2014/main" id="{073556A2-13EF-D619-43B9-F8FC456F6A4E}"/>
              </a:ext>
            </a:extLst>
          </p:cNvPr>
          <p:cNvSpPr>
            <a:spLocks noGrp="1"/>
          </p:cNvSpPr>
          <p:nvPr>
            <p:ph type="body" idx="1"/>
          </p:nvPr>
        </p:nvSpPr>
        <p:spPr/>
        <p:txBody>
          <a:bodyPr/>
          <a:lstStyle/>
          <a:p>
            <a:r>
              <a:rPr lang="en-US" b="1" dirty="0"/>
              <a:t>Advantages</a:t>
            </a:r>
          </a:p>
        </p:txBody>
      </p:sp>
      <p:sp>
        <p:nvSpPr>
          <p:cNvPr id="5" name="Content Placeholder 4">
            <a:extLst>
              <a:ext uri="{FF2B5EF4-FFF2-40B4-BE49-F238E27FC236}">
                <a16:creationId xmlns:a16="http://schemas.microsoft.com/office/drawing/2014/main" id="{80DD2CE0-42B1-9DC1-A74C-EEAAA9712EA5}"/>
              </a:ext>
            </a:extLst>
          </p:cNvPr>
          <p:cNvSpPr>
            <a:spLocks noGrp="1"/>
          </p:cNvSpPr>
          <p:nvPr>
            <p:ph sz="half" idx="2"/>
          </p:nvPr>
        </p:nvSpPr>
        <p:spPr/>
        <p:txBody>
          <a:bodyPr>
            <a:normAutofit fontScale="70000" lnSpcReduction="20000"/>
          </a:bodyPr>
          <a:lstStyle/>
          <a:p>
            <a:r>
              <a:rPr lang="en-US" dirty="0">
                <a:highlight>
                  <a:srgbClr val="FFFF00"/>
                </a:highlight>
              </a:rPr>
              <a:t>Easy to administer </a:t>
            </a:r>
            <a:r>
              <a:rPr lang="en-US" dirty="0"/>
              <a:t>and does not require the use of highly trained personnel </a:t>
            </a:r>
          </a:p>
          <a:p>
            <a:r>
              <a:rPr lang="en-US" dirty="0"/>
              <a:t>Induces both </a:t>
            </a:r>
            <a:r>
              <a:rPr lang="en-US" dirty="0">
                <a:highlight>
                  <a:srgbClr val="FFFF00"/>
                </a:highlight>
              </a:rPr>
              <a:t>humoral and intestinal immunity</a:t>
            </a:r>
            <a:r>
              <a:rPr lang="en-US" dirty="0"/>
              <a:t>, </a:t>
            </a:r>
          </a:p>
          <a:p>
            <a:r>
              <a:rPr lang="en-US" dirty="0"/>
              <a:t>Antibody is quickly produced in </a:t>
            </a:r>
            <a:r>
              <a:rPr lang="en-US" dirty="0">
                <a:highlight>
                  <a:srgbClr val="FFFF00"/>
                </a:highlight>
              </a:rPr>
              <a:t>a large proportion of vaccinees, even a single dose elicits (except in tropical countries) substantial immunity </a:t>
            </a:r>
          </a:p>
          <a:p>
            <a:r>
              <a:rPr lang="en-US" dirty="0"/>
              <a:t>The vaccinee excretes the virus and so infects others who are also immunized </a:t>
            </a:r>
          </a:p>
          <a:p>
            <a:r>
              <a:rPr lang="en-US" dirty="0">
                <a:highlight>
                  <a:srgbClr val="FFFF00"/>
                </a:highlight>
              </a:rPr>
              <a:t>Useful in controlling epidemics</a:t>
            </a:r>
            <a:r>
              <a:rPr lang="en-US" dirty="0"/>
              <a:t>,</a:t>
            </a:r>
          </a:p>
          <a:p>
            <a:r>
              <a:rPr lang="en-US" dirty="0"/>
              <a:t>Relatively </a:t>
            </a:r>
            <a:r>
              <a:rPr lang="en-US" dirty="0">
                <a:highlight>
                  <a:srgbClr val="FFFF00"/>
                </a:highlight>
              </a:rPr>
              <a:t>inexpensive.</a:t>
            </a:r>
          </a:p>
        </p:txBody>
      </p:sp>
      <p:sp>
        <p:nvSpPr>
          <p:cNvPr id="6" name="Text Placeholder 5">
            <a:extLst>
              <a:ext uri="{FF2B5EF4-FFF2-40B4-BE49-F238E27FC236}">
                <a16:creationId xmlns:a16="http://schemas.microsoft.com/office/drawing/2014/main" id="{888DC8E8-88D5-67C3-4ED8-60D9D272138A}"/>
              </a:ext>
            </a:extLst>
          </p:cNvPr>
          <p:cNvSpPr>
            <a:spLocks noGrp="1"/>
          </p:cNvSpPr>
          <p:nvPr>
            <p:ph type="body" sz="quarter" idx="3"/>
          </p:nvPr>
        </p:nvSpPr>
        <p:spPr/>
        <p:txBody>
          <a:bodyPr/>
          <a:lstStyle/>
          <a:p>
            <a:r>
              <a:rPr lang="en-US" b="1" dirty="0"/>
              <a:t>Complications</a:t>
            </a:r>
          </a:p>
        </p:txBody>
      </p:sp>
      <p:sp>
        <p:nvSpPr>
          <p:cNvPr id="7" name="Content Placeholder 6">
            <a:extLst>
              <a:ext uri="{FF2B5EF4-FFF2-40B4-BE49-F238E27FC236}">
                <a16:creationId xmlns:a16="http://schemas.microsoft.com/office/drawing/2014/main" id="{44E24E7C-C032-7C9F-650D-B1F2D5C5E878}"/>
              </a:ext>
            </a:extLst>
          </p:cNvPr>
          <p:cNvSpPr>
            <a:spLocks noGrp="1"/>
          </p:cNvSpPr>
          <p:nvPr>
            <p:ph sz="quarter" idx="4"/>
          </p:nvPr>
        </p:nvSpPr>
        <p:spPr/>
        <p:txBody>
          <a:bodyPr>
            <a:normAutofit fontScale="70000" lnSpcReduction="20000"/>
          </a:bodyPr>
          <a:lstStyle/>
          <a:p>
            <a:r>
              <a:rPr lang="en-US" dirty="0"/>
              <a:t>The vaccine viruses, particularly type 3 do mutate in the course of their multiplication in vaccinated children, </a:t>
            </a:r>
          </a:p>
          <a:p>
            <a:r>
              <a:rPr lang="en-US" dirty="0">
                <a:highlight>
                  <a:srgbClr val="FFFF00"/>
                </a:highlight>
              </a:rPr>
              <a:t>Rare cases of vaccine-associated paralytic polio </a:t>
            </a:r>
            <a:r>
              <a:rPr lang="en-US" dirty="0"/>
              <a:t>have occurred in </a:t>
            </a:r>
          </a:p>
          <a:p>
            <a:pPr lvl="1"/>
            <a:r>
              <a:rPr lang="en-US" dirty="0"/>
              <a:t>Recipients of the vaccine</a:t>
            </a:r>
          </a:p>
          <a:p>
            <a:pPr lvl="1"/>
            <a:r>
              <a:rPr lang="en-US" dirty="0"/>
              <a:t>Their contacts.</a:t>
            </a:r>
          </a:p>
        </p:txBody>
      </p:sp>
    </p:spTree>
    <p:extLst>
      <p:ext uri="{BB962C8B-B14F-4D97-AF65-F5344CB8AC3E}">
        <p14:creationId xmlns:p14="http://schemas.microsoft.com/office/powerpoint/2010/main" val="3754093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0C780-2A2F-A658-881C-982EEDC94271}"/>
              </a:ext>
            </a:extLst>
          </p:cNvPr>
          <p:cNvSpPr>
            <a:spLocks noGrp="1"/>
          </p:cNvSpPr>
          <p:nvPr>
            <p:ph type="title"/>
          </p:nvPr>
        </p:nvSpPr>
        <p:spPr/>
        <p:txBody>
          <a:bodyPr/>
          <a:lstStyle/>
          <a:p>
            <a:r>
              <a:rPr lang="en-US" dirty="0"/>
              <a:t>OPV – Contraindications</a:t>
            </a:r>
          </a:p>
        </p:txBody>
      </p:sp>
      <p:sp>
        <p:nvSpPr>
          <p:cNvPr id="3" name="Content Placeholder 2">
            <a:extLst>
              <a:ext uri="{FF2B5EF4-FFF2-40B4-BE49-F238E27FC236}">
                <a16:creationId xmlns:a16="http://schemas.microsoft.com/office/drawing/2014/main" id="{BED98F75-0DD4-B0D8-797E-7DBB386EB3D0}"/>
              </a:ext>
            </a:extLst>
          </p:cNvPr>
          <p:cNvSpPr>
            <a:spLocks noGrp="1"/>
          </p:cNvSpPr>
          <p:nvPr>
            <p:ph idx="1"/>
          </p:nvPr>
        </p:nvSpPr>
        <p:spPr>
          <a:xfrm>
            <a:off x="198120" y="1508760"/>
            <a:ext cx="11535186" cy="4636453"/>
          </a:xfrm>
        </p:spPr>
        <p:txBody>
          <a:bodyPr>
            <a:normAutofit fontScale="92500" lnSpcReduction="20000"/>
          </a:bodyPr>
          <a:lstStyle/>
          <a:p>
            <a:r>
              <a:rPr lang="en-US" dirty="0" err="1">
                <a:highlight>
                  <a:srgbClr val="FFFF00"/>
                </a:highlight>
              </a:rPr>
              <a:t>Diarrhoea</a:t>
            </a:r>
            <a:r>
              <a:rPr lang="en-US" dirty="0">
                <a:highlight>
                  <a:srgbClr val="FFFF00"/>
                </a:highlight>
              </a:rPr>
              <a:t> should not be considered a contraindication</a:t>
            </a:r>
            <a:r>
              <a:rPr lang="en-US" dirty="0"/>
              <a:t> to OPV. However, to ensure full protection, a </a:t>
            </a:r>
            <a:r>
              <a:rPr lang="en-US" dirty="0">
                <a:highlight>
                  <a:srgbClr val="FFFF00"/>
                </a:highlight>
              </a:rPr>
              <a:t>dose of OPV given to a child with </a:t>
            </a:r>
            <a:r>
              <a:rPr lang="en-US" dirty="0" err="1">
                <a:highlight>
                  <a:srgbClr val="FFFF00"/>
                </a:highlight>
              </a:rPr>
              <a:t>diarrhoea</a:t>
            </a:r>
            <a:r>
              <a:rPr lang="en-US" dirty="0">
                <a:highlight>
                  <a:srgbClr val="FFFF00"/>
                </a:highlight>
              </a:rPr>
              <a:t> should not be counted </a:t>
            </a:r>
            <a:r>
              <a:rPr lang="en-US" dirty="0"/>
              <a:t>as part of the series and the child should receive another dose at the first available opportunity. </a:t>
            </a:r>
          </a:p>
          <a:p>
            <a:r>
              <a:rPr lang="en-US" dirty="0"/>
              <a:t>Live vaccines are </a:t>
            </a:r>
            <a:r>
              <a:rPr lang="en-US" dirty="0">
                <a:highlight>
                  <a:srgbClr val="FFFF00"/>
                </a:highlight>
              </a:rPr>
              <a:t>not usually given to immunocompromised individuals</a:t>
            </a:r>
            <a:r>
              <a:rPr lang="en-US" dirty="0"/>
              <a:t>, Patients suffering from </a:t>
            </a:r>
            <a:r>
              <a:rPr lang="en-US" dirty="0" err="1"/>
              <a:t>leukaemias</a:t>
            </a:r>
            <a:r>
              <a:rPr lang="en-US" dirty="0"/>
              <a:t> and malignancy and those receiving corticosteroids may not be given OPV. </a:t>
            </a:r>
          </a:p>
          <a:p>
            <a:r>
              <a:rPr lang="en-US" dirty="0">
                <a:highlight>
                  <a:srgbClr val="FFFF00"/>
                </a:highlight>
              </a:rPr>
              <a:t>I</a:t>
            </a:r>
            <a:r>
              <a:rPr lang="en-US" dirty="0"/>
              <a:t>PV is an alternative to OPV for immunization of children with HIV infection. </a:t>
            </a:r>
          </a:p>
          <a:p>
            <a:r>
              <a:rPr lang="en-US" dirty="0"/>
              <a:t>There is as yet no indication that polio immunization may pose any danger to a pregnant mother or developing </a:t>
            </a:r>
            <a:r>
              <a:rPr lang="en-US" dirty="0" err="1"/>
              <a:t>foetus</a:t>
            </a:r>
            <a:r>
              <a:rPr lang="en-US" dirty="0"/>
              <a:t>. However, </a:t>
            </a:r>
            <a:r>
              <a:rPr lang="en-US" dirty="0">
                <a:highlight>
                  <a:srgbClr val="FFFF00"/>
                </a:highlight>
              </a:rPr>
              <a:t>OPV should be delayed until after pregnancy.</a:t>
            </a:r>
          </a:p>
        </p:txBody>
      </p:sp>
    </p:spTree>
    <p:extLst>
      <p:ext uri="{BB962C8B-B14F-4D97-AF65-F5344CB8AC3E}">
        <p14:creationId xmlns:p14="http://schemas.microsoft.com/office/powerpoint/2010/main" val="1465488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B4862-BD78-7F36-7DA5-2F80D652E17D}"/>
              </a:ext>
            </a:extLst>
          </p:cNvPr>
          <p:cNvSpPr>
            <a:spLocks noGrp="1"/>
          </p:cNvSpPr>
          <p:nvPr>
            <p:ph type="title"/>
          </p:nvPr>
        </p:nvSpPr>
        <p:spPr/>
        <p:txBody>
          <a:bodyPr/>
          <a:lstStyle/>
          <a:p>
            <a:r>
              <a:rPr lang="en-US" dirty="0"/>
              <a:t>OPV - Storage </a:t>
            </a:r>
          </a:p>
        </p:txBody>
      </p:sp>
      <p:sp>
        <p:nvSpPr>
          <p:cNvPr id="3" name="Content Placeholder 2">
            <a:extLst>
              <a:ext uri="{FF2B5EF4-FFF2-40B4-BE49-F238E27FC236}">
                <a16:creationId xmlns:a16="http://schemas.microsoft.com/office/drawing/2014/main" id="{3BE09D9C-2A49-4A47-78C8-211F2E1F2488}"/>
              </a:ext>
            </a:extLst>
          </p:cNvPr>
          <p:cNvSpPr>
            <a:spLocks noGrp="1"/>
          </p:cNvSpPr>
          <p:nvPr>
            <p:ph idx="1"/>
          </p:nvPr>
        </p:nvSpPr>
        <p:spPr/>
        <p:txBody>
          <a:bodyPr>
            <a:normAutofit fontScale="77500" lnSpcReduction="20000"/>
          </a:bodyPr>
          <a:lstStyle/>
          <a:p>
            <a:r>
              <a:rPr lang="en-US" b="1" dirty="0"/>
              <a:t>Stabilized vaccine </a:t>
            </a:r>
            <a:r>
              <a:rPr lang="en-US" dirty="0"/>
              <a:t>: Recent oral polio vaccines are heat stabilized by adding magnesium chloride. They can be kept </a:t>
            </a:r>
            <a:r>
              <a:rPr lang="en-US" dirty="0">
                <a:highlight>
                  <a:srgbClr val="FFFF00"/>
                </a:highlight>
              </a:rPr>
              <a:t>without losing potency for a year at 4 deg. C, and for a month at 25 deg. C temperature. </a:t>
            </a:r>
          </a:p>
          <a:p>
            <a:r>
              <a:rPr lang="en-US" b="1" dirty="0"/>
              <a:t>Non-stabilized vaccine </a:t>
            </a:r>
            <a:r>
              <a:rPr lang="en-US" dirty="0"/>
              <a:t>: The vaccine should </a:t>
            </a:r>
            <a:r>
              <a:rPr lang="en-US" dirty="0">
                <a:highlight>
                  <a:srgbClr val="FFFF00"/>
                </a:highlight>
              </a:rPr>
              <a:t>be stored at -20 deg C </a:t>
            </a:r>
            <a:r>
              <a:rPr lang="en-US" dirty="0"/>
              <a:t>in a deep freeze until used. In case a deep freeze is not available, might be </a:t>
            </a:r>
            <a:r>
              <a:rPr lang="en-US" dirty="0">
                <a:highlight>
                  <a:srgbClr val="FFFF00"/>
                </a:highlight>
              </a:rPr>
              <a:t>stored temporarily in the freezing chamber of the refrigerator. </a:t>
            </a:r>
            <a:r>
              <a:rPr lang="en-US" dirty="0"/>
              <a:t>During transport, the </a:t>
            </a:r>
            <a:r>
              <a:rPr lang="en-US" dirty="0">
                <a:highlight>
                  <a:srgbClr val="FFFF00"/>
                </a:highlight>
              </a:rPr>
              <a:t>vaccine must be kept either on dry ice </a:t>
            </a:r>
            <a:r>
              <a:rPr lang="en-US" dirty="0"/>
              <a:t>(solid carbon dioxide) or a freezing mixture (equal quantities of wet ice and ammonium chloride).</a:t>
            </a:r>
          </a:p>
          <a:p>
            <a:r>
              <a:rPr lang="en-US" dirty="0"/>
              <a:t>At the vaccination clinic, the </a:t>
            </a:r>
            <a:r>
              <a:rPr lang="en-US" dirty="0">
                <a:highlight>
                  <a:srgbClr val="FFFF00"/>
                </a:highlight>
              </a:rPr>
              <a:t>bottle containing the OPV should not be frozen and thawed repeatedly, </a:t>
            </a:r>
            <a:r>
              <a:rPr lang="en-US" dirty="0"/>
              <a:t>since repeated freezing and thawing has a deleterious effect on the potency of live polio vaccine. It would be </a:t>
            </a:r>
            <a:r>
              <a:rPr lang="en-US" dirty="0">
                <a:highlight>
                  <a:srgbClr val="FFFF00"/>
                </a:highlight>
              </a:rPr>
              <a:t>preferable to keep the vials of the vaccine in ice during its administration to children .</a:t>
            </a:r>
          </a:p>
        </p:txBody>
      </p:sp>
    </p:spTree>
    <p:extLst>
      <p:ext uri="{BB962C8B-B14F-4D97-AF65-F5344CB8AC3E}">
        <p14:creationId xmlns:p14="http://schemas.microsoft.com/office/powerpoint/2010/main" val="1400270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B4862-BD78-7F36-7DA5-2F80D652E17D}"/>
              </a:ext>
            </a:extLst>
          </p:cNvPr>
          <p:cNvSpPr>
            <a:spLocks noGrp="1"/>
          </p:cNvSpPr>
          <p:nvPr>
            <p:ph type="title"/>
          </p:nvPr>
        </p:nvSpPr>
        <p:spPr/>
        <p:txBody>
          <a:bodyPr/>
          <a:lstStyle/>
          <a:p>
            <a:r>
              <a:rPr lang="en-US" dirty="0"/>
              <a:t>OPV </a:t>
            </a:r>
          </a:p>
        </p:txBody>
      </p:sp>
      <p:sp>
        <p:nvSpPr>
          <p:cNvPr id="3" name="Content Placeholder 2">
            <a:extLst>
              <a:ext uri="{FF2B5EF4-FFF2-40B4-BE49-F238E27FC236}">
                <a16:creationId xmlns:a16="http://schemas.microsoft.com/office/drawing/2014/main" id="{3BE09D9C-2A49-4A47-78C8-211F2E1F2488}"/>
              </a:ext>
            </a:extLst>
          </p:cNvPr>
          <p:cNvSpPr>
            <a:spLocks noGrp="1"/>
          </p:cNvSpPr>
          <p:nvPr>
            <p:ph idx="1"/>
          </p:nvPr>
        </p:nvSpPr>
        <p:spPr/>
        <p:txBody>
          <a:bodyPr>
            <a:normAutofit/>
          </a:bodyPr>
          <a:lstStyle/>
          <a:p>
            <a:r>
              <a:rPr lang="en-US" dirty="0"/>
              <a:t>The problems with OPV storage and derived immunity</a:t>
            </a:r>
          </a:p>
          <a:p>
            <a:r>
              <a:rPr lang="en-US" dirty="0">
                <a:highlight>
                  <a:srgbClr val="FFFF00"/>
                </a:highlight>
              </a:rPr>
              <a:t>Instability of the vaccine at high ambient temperatures. </a:t>
            </a:r>
            <a:r>
              <a:rPr lang="en-US" dirty="0"/>
              <a:t>The vaccine has to be kept frozen during storage, and kept cold during transportation, right up to the point of administration</a:t>
            </a:r>
          </a:p>
          <a:p>
            <a:r>
              <a:rPr lang="en-US" dirty="0">
                <a:highlight>
                  <a:srgbClr val="FFFF00"/>
                </a:highlight>
              </a:rPr>
              <a:t>Frequent vaccine failures </a:t>
            </a:r>
            <a:r>
              <a:rPr lang="en-US" dirty="0"/>
              <a:t>even with fully potent vaccines</a:t>
            </a:r>
          </a:p>
          <a:p>
            <a:r>
              <a:rPr lang="en-US" dirty="0"/>
              <a:t>Very </a:t>
            </a:r>
            <a:r>
              <a:rPr lang="en-US" dirty="0">
                <a:highlight>
                  <a:srgbClr val="FFFF00"/>
                </a:highlight>
              </a:rPr>
              <a:t>small residual neurovirulence</a:t>
            </a:r>
            <a:r>
              <a:rPr lang="en-US" dirty="0"/>
              <a:t>.</a:t>
            </a:r>
          </a:p>
        </p:txBody>
      </p:sp>
    </p:spTree>
    <p:extLst>
      <p:ext uri="{BB962C8B-B14F-4D97-AF65-F5344CB8AC3E}">
        <p14:creationId xmlns:p14="http://schemas.microsoft.com/office/powerpoint/2010/main" val="1859745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44F94-6589-3487-25AD-E5123C84E89C}"/>
              </a:ext>
            </a:extLst>
          </p:cNvPr>
          <p:cNvSpPr>
            <a:spLocks noGrp="1"/>
          </p:cNvSpPr>
          <p:nvPr>
            <p:ph type="title"/>
          </p:nvPr>
        </p:nvSpPr>
        <p:spPr/>
        <p:txBody>
          <a:bodyPr/>
          <a:lstStyle/>
          <a:p>
            <a:r>
              <a:rPr lang="en-US" dirty="0"/>
              <a:t>Sequential administration of IPV and OPV</a:t>
            </a:r>
          </a:p>
        </p:txBody>
      </p:sp>
      <p:sp>
        <p:nvSpPr>
          <p:cNvPr id="3" name="Content Placeholder 2">
            <a:extLst>
              <a:ext uri="{FF2B5EF4-FFF2-40B4-BE49-F238E27FC236}">
                <a16:creationId xmlns:a16="http://schemas.microsoft.com/office/drawing/2014/main" id="{480EEA77-6F54-D7D0-D429-773F29D95A11}"/>
              </a:ext>
            </a:extLst>
          </p:cNvPr>
          <p:cNvSpPr>
            <a:spLocks noGrp="1"/>
          </p:cNvSpPr>
          <p:nvPr>
            <p:ph idx="1"/>
          </p:nvPr>
        </p:nvSpPr>
        <p:spPr/>
        <p:txBody>
          <a:bodyPr>
            <a:normAutofit fontScale="92500" lnSpcReduction="20000"/>
          </a:bodyPr>
          <a:lstStyle/>
          <a:p>
            <a:r>
              <a:rPr lang="en-US" dirty="0"/>
              <a:t>Over the past decade, a number of countries in central and eastern Europe, the Middle East, the Far East, and southern Africa have </a:t>
            </a:r>
            <a:r>
              <a:rPr lang="en-US" dirty="0">
                <a:highlight>
                  <a:srgbClr val="FFFF00"/>
                </a:highlight>
              </a:rPr>
              <a:t>adopted sequential schedules of 1-2 doses of IPV followed by &gt; 2 doses of OPV. </a:t>
            </a:r>
          </a:p>
          <a:p>
            <a:r>
              <a:rPr lang="en-US" dirty="0"/>
              <a:t>Combined schedules of IPV and OPV appear to </a:t>
            </a:r>
            <a:r>
              <a:rPr lang="en-US" dirty="0">
                <a:highlight>
                  <a:srgbClr val="FFFF00"/>
                </a:highlight>
              </a:rPr>
              <a:t>reduce or prevent VAPP while maintaining the high levels of intestinal mucosal immunity conferred by OPV.</a:t>
            </a:r>
          </a:p>
          <a:p>
            <a:r>
              <a:rPr lang="en-US" dirty="0"/>
              <a:t>In addition, such schedules </a:t>
            </a:r>
            <a:r>
              <a:rPr lang="en-US" dirty="0">
                <a:highlight>
                  <a:srgbClr val="FFFF00"/>
                </a:highlight>
              </a:rPr>
              <a:t>economize on limited resources </a:t>
            </a:r>
            <a:r>
              <a:rPr lang="en-US" dirty="0"/>
              <a:t>by reducing the number of doses of IPV, and may optimize both the humoral and mucosal immunogenicity of polio vaccination. </a:t>
            </a:r>
          </a:p>
          <a:p>
            <a:r>
              <a:rPr lang="en-US" dirty="0"/>
              <a:t>The effectiveness of this approach in preventing polio caused by WPV as well as VAPP has been documented</a:t>
            </a:r>
          </a:p>
        </p:txBody>
      </p:sp>
    </p:spTree>
    <p:extLst>
      <p:ext uri="{BB962C8B-B14F-4D97-AF65-F5344CB8AC3E}">
        <p14:creationId xmlns:p14="http://schemas.microsoft.com/office/powerpoint/2010/main" val="11415498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8A267-7FF6-2DA6-6128-778673376AC6}"/>
              </a:ext>
            </a:extLst>
          </p:cNvPr>
          <p:cNvSpPr>
            <a:spLocks noGrp="1"/>
          </p:cNvSpPr>
          <p:nvPr>
            <p:ph type="title"/>
          </p:nvPr>
        </p:nvSpPr>
        <p:spPr/>
        <p:txBody>
          <a:bodyPr/>
          <a:lstStyle/>
          <a:p>
            <a:r>
              <a:rPr lang="en-US" dirty="0"/>
              <a:t>Human Normal Ig</a:t>
            </a:r>
          </a:p>
        </p:txBody>
      </p:sp>
      <p:sp>
        <p:nvSpPr>
          <p:cNvPr id="3" name="Content Placeholder 2">
            <a:extLst>
              <a:ext uri="{FF2B5EF4-FFF2-40B4-BE49-F238E27FC236}">
                <a16:creationId xmlns:a16="http://schemas.microsoft.com/office/drawing/2014/main" id="{E0A6A1D3-3358-EB63-BAAE-A2BAC5BBA7E9}"/>
              </a:ext>
            </a:extLst>
          </p:cNvPr>
          <p:cNvSpPr>
            <a:spLocks noGrp="1"/>
          </p:cNvSpPr>
          <p:nvPr>
            <p:ph idx="1"/>
          </p:nvPr>
        </p:nvSpPr>
        <p:spPr/>
        <p:txBody>
          <a:bodyPr>
            <a:normAutofit/>
          </a:bodyPr>
          <a:lstStyle/>
          <a:p>
            <a:r>
              <a:rPr lang="en-US" dirty="0"/>
              <a:t>The current widespread practice of immunization has </a:t>
            </a:r>
            <a:r>
              <a:rPr lang="en-US" dirty="0">
                <a:highlight>
                  <a:srgbClr val="FFFF00"/>
                </a:highlight>
              </a:rPr>
              <a:t>virtually eliminated the need for passive immunization.</a:t>
            </a:r>
          </a:p>
          <a:p>
            <a:r>
              <a:rPr lang="en-US" dirty="0"/>
              <a:t>Normal human lg in a </a:t>
            </a:r>
            <a:r>
              <a:rPr lang="en-US" dirty="0">
                <a:highlight>
                  <a:srgbClr val="FFFF00"/>
                </a:highlight>
              </a:rPr>
              <a:t>dose of 0.25-0.3 ml per kg of body weight </a:t>
            </a:r>
            <a:r>
              <a:rPr lang="en-US" dirty="0"/>
              <a:t>has been found to be protective </a:t>
            </a:r>
            <a:r>
              <a:rPr lang="en-US" dirty="0">
                <a:highlight>
                  <a:srgbClr val="FFFF00"/>
                </a:highlight>
              </a:rPr>
              <a:t>for a few weeks against paralytic disease</a:t>
            </a:r>
            <a:r>
              <a:rPr lang="en-US" dirty="0"/>
              <a:t> but does not prevent sub-clinical infections. </a:t>
            </a:r>
          </a:p>
          <a:p>
            <a:r>
              <a:rPr lang="en-US" dirty="0"/>
              <a:t>Immunoglobulin is effective only if </a:t>
            </a:r>
            <a:r>
              <a:rPr lang="en-US" dirty="0">
                <a:highlight>
                  <a:srgbClr val="FFFF00"/>
                </a:highlight>
              </a:rPr>
              <a:t>given shortly before infection, </a:t>
            </a:r>
            <a:r>
              <a:rPr lang="en-US" dirty="0"/>
              <a:t>it is of no value after clinical </a:t>
            </a:r>
            <a:r>
              <a:rPr lang="en-US"/>
              <a:t>symptoms develops.</a:t>
            </a:r>
            <a:endParaRPr lang="en-US" dirty="0"/>
          </a:p>
          <a:p>
            <a:r>
              <a:rPr lang="en-US" dirty="0"/>
              <a:t>The subject shall be actively immunized against polio after a few weeks.</a:t>
            </a:r>
          </a:p>
        </p:txBody>
      </p:sp>
    </p:spTree>
    <p:extLst>
      <p:ext uri="{BB962C8B-B14F-4D97-AF65-F5344CB8AC3E}">
        <p14:creationId xmlns:p14="http://schemas.microsoft.com/office/powerpoint/2010/main" val="3029166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6" name="Picture 45">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47" name="Rectangle 46">
            <a:extLst>
              <a:ext uri="{FF2B5EF4-FFF2-40B4-BE49-F238E27FC236}">
                <a16:creationId xmlns:a16="http://schemas.microsoft.com/office/drawing/2014/main" id="{DE61FBD7-E37C-4B38-BE44-A6D4978D7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8" name="Rectangle 47">
            <a:extLst>
              <a:ext uri="{FF2B5EF4-FFF2-40B4-BE49-F238E27FC236}">
                <a16:creationId xmlns:a16="http://schemas.microsoft.com/office/drawing/2014/main" id="{823772C2-0911-45A0-B7B6-D811380C75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9" name="Group 48">
            <a:extLst>
              <a:ext uri="{FF2B5EF4-FFF2-40B4-BE49-F238E27FC236}">
                <a16:creationId xmlns:a16="http://schemas.microsoft.com/office/drawing/2014/main" id="{53A6A32E-D196-4536-A9E8-56D5BB884F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57587" y="5080"/>
            <a:ext cx="4531366" cy="6014720"/>
            <a:chOff x="7657587" y="5080"/>
            <a:chExt cx="4531366" cy="6014720"/>
          </a:xfrm>
        </p:grpSpPr>
        <p:pic>
          <p:nvPicPr>
            <p:cNvPr id="42" name="Picture 41">
              <a:extLst>
                <a:ext uri="{FF2B5EF4-FFF2-40B4-BE49-F238E27FC236}">
                  <a16:creationId xmlns:a16="http://schemas.microsoft.com/office/drawing/2014/main" id="{B88E3398-5BD2-49D6-A547-80FBD0FECCE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10000"/>
              <a:extLst>
                <a:ext uri="{28A0092B-C50C-407E-A947-70E740481C1C}">
                  <a14:useLocalDpi xmlns:a14="http://schemas.microsoft.com/office/drawing/2010/main" val="0"/>
                </a:ext>
              </a:extLst>
            </a:blip>
            <a:srcRect l="22818" b="17291"/>
            <a:stretch/>
          </p:blipFill>
          <p:spPr>
            <a:xfrm flipH="1" flipV="1">
              <a:off x="7657587" y="5080"/>
              <a:ext cx="4531366" cy="4864019"/>
            </a:xfrm>
            <a:prstGeom prst="rect">
              <a:avLst/>
            </a:prstGeom>
          </p:spPr>
        </p:pic>
        <p:pic>
          <p:nvPicPr>
            <p:cNvPr id="43" name="Picture 42">
              <a:extLst>
                <a:ext uri="{FF2B5EF4-FFF2-40B4-BE49-F238E27FC236}">
                  <a16:creationId xmlns:a16="http://schemas.microsoft.com/office/drawing/2014/main" id="{80E4B511-9D99-4EAC-908E-9B474A52331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16000"/>
              <a:extLst>
                <a:ext uri="{28A0092B-C50C-407E-A947-70E740481C1C}">
                  <a14:useLocalDpi xmlns:a14="http://schemas.microsoft.com/office/drawing/2010/main" val="0"/>
                </a:ext>
              </a:extLst>
            </a:blip>
            <a:srcRect r="40690"/>
            <a:stretch/>
          </p:blipFill>
          <p:spPr>
            <a:xfrm flipV="1">
              <a:off x="8627628" y="5080"/>
              <a:ext cx="3561325" cy="6014720"/>
            </a:xfrm>
            <a:prstGeom prst="rect">
              <a:avLst/>
            </a:prstGeom>
          </p:spPr>
        </p:pic>
      </p:grpSp>
      <p:sp>
        <p:nvSpPr>
          <p:cNvPr id="2" name="Title 1">
            <a:extLst>
              <a:ext uri="{FF2B5EF4-FFF2-40B4-BE49-F238E27FC236}">
                <a16:creationId xmlns:a16="http://schemas.microsoft.com/office/drawing/2014/main" id="{941F11E8-A4CF-60F0-CEBC-A5B3A247E599}"/>
              </a:ext>
            </a:extLst>
          </p:cNvPr>
          <p:cNvSpPr>
            <a:spLocks noGrp="1"/>
          </p:cNvSpPr>
          <p:nvPr>
            <p:ph type="title"/>
          </p:nvPr>
        </p:nvSpPr>
        <p:spPr>
          <a:xfrm>
            <a:off x="798576" y="744909"/>
            <a:ext cx="10591800" cy="3155419"/>
          </a:xfrm>
        </p:spPr>
        <p:txBody>
          <a:bodyPr vert="horz" lIns="91440" tIns="45720" rIns="91440" bIns="45720" rtlCol="0" anchor="b">
            <a:normAutofit/>
          </a:bodyPr>
          <a:lstStyle/>
          <a:p>
            <a:pPr algn="ctr"/>
            <a:r>
              <a:rPr lang="en-US" sz="5200">
                <a:solidFill>
                  <a:srgbClr val="FFFFFF"/>
                </a:solidFill>
              </a:rPr>
              <a:t>Thank You</a:t>
            </a:r>
          </a:p>
        </p:txBody>
      </p:sp>
    </p:spTree>
    <p:extLst>
      <p:ext uri="{BB962C8B-B14F-4D97-AF65-F5344CB8AC3E}">
        <p14:creationId xmlns:p14="http://schemas.microsoft.com/office/powerpoint/2010/main" val="2951758566"/>
      </p:ext>
    </p:extLst>
  </p:cSld>
  <p:clrMapOvr>
    <a:masterClrMapping/>
  </p:clrMapOvr>
</p:sld>
</file>

<file path=ppt/theme/theme1.xml><?xml version="1.0" encoding="utf-8"?>
<a:theme xmlns:a="http://schemas.openxmlformats.org/drawingml/2006/main" name="DappledVTI">
  <a:themeElements>
    <a:clrScheme name="AnalogousFromLightSeedLeftStep">
      <a:dk1>
        <a:srgbClr val="000000"/>
      </a:dk1>
      <a:lt1>
        <a:srgbClr val="FFFFFF"/>
      </a:lt1>
      <a:dk2>
        <a:srgbClr val="292441"/>
      </a:dk2>
      <a:lt2>
        <a:srgbClr val="E5E8E2"/>
      </a:lt2>
      <a:accent1>
        <a:srgbClr val="B296C6"/>
      </a:accent1>
      <a:accent2>
        <a:srgbClr val="887FBA"/>
      </a:accent2>
      <a:accent3>
        <a:srgbClr val="96A2C6"/>
      </a:accent3>
      <a:accent4>
        <a:srgbClr val="7FA6BA"/>
      </a:accent4>
      <a:accent5>
        <a:srgbClr val="82ACA8"/>
      </a:accent5>
      <a:accent6>
        <a:srgbClr val="77AE92"/>
      </a:accent6>
      <a:hlink>
        <a:srgbClr val="6C8C55"/>
      </a:hlink>
      <a:folHlink>
        <a:srgbClr val="7F7F7F"/>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ppledVTI" id="{204FEFAB-F02B-4FE8-B509-C50A618B972D}" vid="{7EAEADA8-5A8E-45B2-B0E4-448EC7E7A94F}"/>
    </a:ext>
  </a:extLst>
</a:theme>
</file>

<file path=docProps/app.xml><?xml version="1.0" encoding="utf-8"?>
<Properties xmlns="http://schemas.openxmlformats.org/officeDocument/2006/extended-properties" xmlns:vt="http://schemas.openxmlformats.org/officeDocument/2006/docPropsVTypes">
  <TotalTime>197</TotalTime>
  <Words>3225</Words>
  <Application>Microsoft Office PowerPoint</Application>
  <PresentationFormat>Widescreen</PresentationFormat>
  <Paragraphs>222</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AvenirNext LT Pro Medium</vt:lpstr>
      <vt:lpstr>Times New Roman</vt:lpstr>
      <vt:lpstr>DappledVTI</vt:lpstr>
      <vt:lpstr>Poliomyelitis</vt:lpstr>
      <vt:lpstr>PowerPoint Presentation</vt:lpstr>
      <vt:lpstr>Epidemiology: Agent</vt:lpstr>
      <vt:lpstr>Epidemiology: Agent</vt:lpstr>
      <vt:lpstr>Epidemiology: Host</vt:lpstr>
      <vt:lpstr>Epidemiology: Host</vt:lpstr>
      <vt:lpstr>Epidemiology: Environment</vt:lpstr>
      <vt:lpstr>Mode of transmission</vt:lpstr>
      <vt:lpstr>Clinical spectrum</vt:lpstr>
      <vt:lpstr>Clinical spectrum</vt:lpstr>
      <vt:lpstr>Paralytic polio</vt:lpstr>
      <vt:lpstr>Paralytic polio</vt:lpstr>
      <vt:lpstr>Problem statement</vt:lpstr>
      <vt:lpstr>Problem statement</vt:lpstr>
      <vt:lpstr>Prevention</vt:lpstr>
      <vt:lpstr>IPV (Salk)</vt:lpstr>
      <vt:lpstr>IPV (Salk)</vt:lpstr>
      <vt:lpstr>IPV (Salk)</vt:lpstr>
      <vt:lpstr>IPV (Salk)</vt:lpstr>
      <vt:lpstr>Fractional dose IPV</vt:lpstr>
      <vt:lpstr>Comparison between IPV and fIPV</vt:lpstr>
      <vt:lpstr>OPV (Sabin)</vt:lpstr>
      <vt:lpstr>OPV - NIS</vt:lpstr>
      <vt:lpstr>OPV - Dose and mode of administration</vt:lpstr>
      <vt:lpstr>OPV – Development of immunity</vt:lpstr>
      <vt:lpstr>OPV – Advantages and complications</vt:lpstr>
      <vt:lpstr>OPV – Contraindications</vt:lpstr>
      <vt:lpstr>OPV - Storage </vt:lpstr>
      <vt:lpstr>OPV </vt:lpstr>
      <vt:lpstr>Sequential administration of IPV and OPV</vt:lpstr>
      <vt:lpstr>Human Normal Ig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2024-09-25T14:32:50Z</dcterms:created>
  <dcterms:modified xsi:type="dcterms:W3CDTF">2024-09-25T17:50:04Z</dcterms:modified>
</cp:coreProperties>
</file>