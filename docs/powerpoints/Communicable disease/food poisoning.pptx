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43" r:id="rId2"/>
    <p:sldId id="344" r:id="rId3"/>
    <p:sldId id="345" r:id="rId4"/>
    <p:sldId id="347" r:id="rId5"/>
    <p:sldId id="346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66" d="100"/>
          <a:sy n="66" d="100"/>
        </p:scale>
        <p:origin x="-9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6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9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4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5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0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6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6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4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9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3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6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7D5AF4-14EF-4518-BC5D-78952D2E1309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6D4BF-209A-49A9-B3D8-2190798EC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1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23A72-54A2-FFE9-2916-48B65AD02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0487"/>
            <a:ext cx="10515600" cy="1325563"/>
          </a:xfrm>
        </p:spPr>
        <p:txBody>
          <a:bodyPr/>
          <a:lstStyle/>
          <a:p>
            <a:r>
              <a:rPr lang="en-US" dirty="0"/>
              <a:t>Food Poisoning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FF6625-225C-44C9-95A6-772997904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011680"/>
              </p:ext>
            </p:extLst>
          </p:nvPr>
        </p:nvGraphicFramePr>
        <p:xfrm>
          <a:off x="240632" y="1122947"/>
          <a:ext cx="11710735" cy="550645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21280">
                  <a:extLst>
                    <a:ext uri="{9D8B030D-6E8A-4147-A177-3AD203B41FA5}">
                      <a16:colId xmlns:a16="http://schemas.microsoft.com/office/drawing/2014/main" val="380854733"/>
                    </a:ext>
                  </a:extLst>
                </a:gridCol>
                <a:gridCol w="2164658">
                  <a:extLst>
                    <a:ext uri="{9D8B030D-6E8A-4147-A177-3AD203B41FA5}">
                      <a16:colId xmlns:a16="http://schemas.microsoft.com/office/drawing/2014/main" val="2932924698"/>
                    </a:ext>
                  </a:extLst>
                </a:gridCol>
                <a:gridCol w="3304672">
                  <a:extLst>
                    <a:ext uri="{9D8B030D-6E8A-4147-A177-3AD203B41FA5}">
                      <a16:colId xmlns:a16="http://schemas.microsoft.com/office/drawing/2014/main" val="3269275689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1155103209"/>
                    </a:ext>
                  </a:extLst>
                </a:gridCol>
                <a:gridCol w="2165683">
                  <a:extLst>
                    <a:ext uri="{9D8B030D-6E8A-4147-A177-3AD203B41FA5}">
                      <a16:colId xmlns:a16="http://schemas.microsoft.com/office/drawing/2014/main" val="3173024022"/>
                    </a:ext>
                  </a:extLst>
                </a:gridCol>
              </a:tblGrid>
              <a:tr h="8216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Staph food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Salmonella food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Bacillus cereus (Emetic 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Bacillus cereus (diarrheal form)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572765"/>
                  </a:ext>
                </a:extLst>
              </a:tr>
              <a:tr h="965809">
                <a:tc>
                  <a:txBody>
                    <a:bodyPr/>
                    <a:lstStyle/>
                    <a:p>
                      <a:r>
                        <a:rPr lang="en-US" b="1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Staphylococcus aureus – enterotoxin (preformed)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 typhimurium</a:t>
                      </a:r>
                    </a:p>
                    <a:p>
                      <a:r>
                        <a:rPr lang="en-US" dirty="0"/>
                        <a:t>S. </a:t>
                      </a:r>
                      <a:r>
                        <a:rPr lang="en-US" dirty="0" err="1"/>
                        <a:t>cholerasuis</a:t>
                      </a:r>
                      <a:endParaRPr lang="en-US" dirty="0"/>
                    </a:p>
                    <a:p>
                      <a:r>
                        <a:rPr lang="en-US" dirty="0"/>
                        <a:t>S. enteritidis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Bacillus cereus – enterotoxin (preformed)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Bacillus cereus</a:t>
                      </a:r>
                      <a:endParaRPr lang="en-US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835508"/>
                  </a:ext>
                </a:extLst>
              </a:tr>
              <a:tr h="965809">
                <a:tc>
                  <a:txBody>
                    <a:bodyPr/>
                    <a:lstStyle/>
                    <a:p>
                      <a:r>
                        <a:rPr lang="en-US" b="1" dirty="0"/>
                        <a:t>Source of 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Milk and its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Meat, milk, eggs, and its products, urine and feces of rat, mice, human carrier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Raw foods, processed food, fried rice, mashed potato, pasta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Soup, sauce, meat, gravy, custard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399030"/>
                  </a:ext>
                </a:extLst>
              </a:tr>
              <a:tr h="821608">
                <a:tc>
                  <a:txBody>
                    <a:bodyPr/>
                    <a:lstStyle/>
                    <a:p>
                      <a:r>
                        <a:rPr lang="en-US" b="1" dirty="0"/>
                        <a:t>Incubation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– 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– 34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– 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 – 24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764291"/>
                  </a:ext>
                </a:extLst>
              </a:tr>
              <a:tr h="965809">
                <a:tc>
                  <a:txBody>
                    <a:bodyPr/>
                    <a:lstStyle/>
                    <a:p>
                      <a:r>
                        <a:rPr lang="en-US" b="1" dirty="0"/>
                        <a:t>Clinical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Vomiting, nausea, stomach cramps, diarrhea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Nausea, low grade fever, headache, vomiting, diarrhea, reactive arthritis (some cases)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Upper GI tract 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Lower GI tract symptom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37314"/>
                  </a:ext>
                </a:extLst>
              </a:tr>
              <a:tr h="965809">
                <a:tc>
                  <a:txBody>
                    <a:bodyPr/>
                    <a:lstStyle/>
                    <a:p>
                      <a:r>
                        <a:rPr lang="en-US" b="1" dirty="0"/>
                        <a:t>Prevention and treatment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dirty="0"/>
                        <a:t>Symptomatic treatment like fluid therapy, anti-emetic</a:t>
                      </a:r>
                    </a:p>
                    <a:p>
                      <a:r>
                        <a:rPr lang="en-US" dirty="0"/>
                        <a:t>Food Safety measure: Prevent contamination of food with specific health education to food handlers</a:t>
                      </a:r>
                    </a:p>
                    <a:p>
                      <a:r>
                        <a:rPr lang="en-US" dirty="0"/>
                        <a:t>Personal hygiene and sanitary improvement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348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856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7EB92-98FE-63C4-BDF2-A13049C2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353154-07B5-EA43-D10C-2D36D2C9E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313672"/>
              </p:ext>
            </p:extLst>
          </p:nvPr>
        </p:nvGraphicFramePr>
        <p:xfrm>
          <a:off x="529390" y="101185"/>
          <a:ext cx="11373852" cy="665563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98450">
                  <a:extLst>
                    <a:ext uri="{9D8B030D-6E8A-4147-A177-3AD203B41FA5}">
                      <a16:colId xmlns:a16="http://schemas.microsoft.com/office/drawing/2014/main" val="3461983808"/>
                    </a:ext>
                  </a:extLst>
                </a:gridCol>
                <a:gridCol w="5084118">
                  <a:extLst>
                    <a:ext uri="{9D8B030D-6E8A-4147-A177-3AD203B41FA5}">
                      <a16:colId xmlns:a16="http://schemas.microsoft.com/office/drawing/2014/main" val="1927656157"/>
                    </a:ext>
                  </a:extLst>
                </a:gridCol>
                <a:gridCol w="3791284">
                  <a:extLst>
                    <a:ext uri="{9D8B030D-6E8A-4147-A177-3AD203B41FA5}">
                      <a16:colId xmlns:a16="http://schemas.microsoft.com/office/drawing/2014/main" val="1118932329"/>
                    </a:ext>
                  </a:extLst>
                </a:gridCol>
              </a:tblGrid>
              <a:tr h="873926"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Botulism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C. </a:t>
                      </a:r>
                      <a:r>
                        <a:rPr lang="en-US" sz="2300" dirty="0" err="1"/>
                        <a:t>perfringes</a:t>
                      </a:r>
                      <a:endParaRPr lang="en-US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84649"/>
                  </a:ext>
                </a:extLst>
              </a:tr>
              <a:tr h="873926">
                <a:tc>
                  <a:txBody>
                    <a:bodyPr/>
                    <a:lstStyle/>
                    <a:p>
                      <a:r>
                        <a:rPr lang="en-US" sz="2300" b="1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Clostridium botulinum – type A, B or E: exotoxin (preformed)</a:t>
                      </a:r>
                      <a:endParaRPr lang="en-US" sz="23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Clostridium </a:t>
                      </a:r>
                      <a:r>
                        <a:rPr lang="en-US" sz="2300" dirty="0" err="1"/>
                        <a:t>perfringes</a:t>
                      </a:r>
                      <a:r>
                        <a:rPr lang="en-US" sz="2300" dirty="0"/>
                        <a:t> (C. </a:t>
                      </a:r>
                      <a:r>
                        <a:rPr lang="en-US" sz="2300" dirty="0" err="1"/>
                        <a:t>welchii</a:t>
                      </a:r>
                      <a:r>
                        <a:rPr lang="en-US" sz="23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205480"/>
                  </a:ext>
                </a:extLst>
              </a:tr>
              <a:tr h="873926">
                <a:tc>
                  <a:txBody>
                    <a:bodyPr/>
                    <a:lstStyle/>
                    <a:p>
                      <a:r>
                        <a:rPr lang="en-US" sz="2300" b="1" dirty="0"/>
                        <a:t>Source of 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Home preserved foods such as canned vegetables, smoked 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Ingestion of poultry, meat ( reheated)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22944"/>
                  </a:ext>
                </a:extLst>
              </a:tr>
              <a:tr h="873926">
                <a:tc>
                  <a:txBody>
                    <a:bodyPr/>
                    <a:lstStyle/>
                    <a:p>
                      <a:r>
                        <a:rPr lang="en-US" sz="2300" b="1" dirty="0"/>
                        <a:t>Incubation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18 – 36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6 – 24 hours (peak 10 – 14 hours)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0107"/>
                  </a:ext>
                </a:extLst>
              </a:tr>
              <a:tr h="1120489">
                <a:tc>
                  <a:txBody>
                    <a:bodyPr/>
                    <a:lstStyle/>
                    <a:p>
                      <a:r>
                        <a:rPr lang="en-US" sz="2300" b="1" dirty="0"/>
                        <a:t>Clinical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Dysphagia, diplopia, ptosis, dysarthria, blurring of vision, muscle weakness, quadriplegia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Diarrhea, abdominal cramp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59462"/>
                  </a:ext>
                </a:extLst>
              </a:tr>
              <a:tr h="873926">
                <a:tc>
                  <a:txBody>
                    <a:bodyPr/>
                    <a:lstStyle/>
                    <a:p>
                      <a:r>
                        <a:rPr lang="en-US" sz="2300" b="1" dirty="0"/>
                        <a:t>Complications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Death due to respiratory / cardiac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Dehydration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0021618"/>
                  </a:ext>
                </a:extLst>
              </a:tr>
              <a:tr h="1120489">
                <a:tc>
                  <a:txBody>
                    <a:bodyPr/>
                    <a:lstStyle/>
                    <a:p>
                      <a:r>
                        <a:rPr lang="en-US" sz="2300" b="1" dirty="0"/>
                        <a:t>Prevention and 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Antitoxin useful in prophylaxis and to reverse neuro-</a:t>
                      </a:r>
                      <a:r>
                        <a:rPr lang="en-US" sz="2300" dirty="0" err="1"/>
                        <a:t>mascular</a:t>
                      </a:r>
                      <a:r>
                        <a:rPr lang="en-US" sz="2300" dirty="0"/>
                        <a:t> block, Guanidine hydrochloride is useful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Symptomatic treatment</a:t>
                      </a:r>
                    </a:p>
                    <a:p>
                      <a:r>
                        <a:rPr lang="en-US" sz="2300" dirty="0"/>
                        <a:t>Food safety measure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08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209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865D-7ACF-1D7C-9CCF-C4A4A9D6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 of food poisoning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7F68-CFAE-9A23-0911-6A6D1CEFB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Secure complete list of people involved and their history : All the people who have shared part of the food should be interviewed. </a:t>
            </a:r>
          </a:p>
          <a:p>
            <a:r>
              <a:rPr lang="en-US" dirty="0"/>
              <a:t>They may be supplied questionnaires concerning the </a:t>
            </a:r>
          </a:p>
          <a:p>
            <a:pPr lvl="1"/>
            <a:r>
              <a:rPr lang="en-US" dirty="0"/>
              <a:t>Foods eaten during the previous 2 days</a:t>
            </a:r>
          </a:p>
          <a:p>
            <a:pPr lvl="1"/>
            <a:r>
              <a:rPr lang="en-US" dirty="0"/>
              <a:t>Place of consumption; </a:t>
            </a:r>
          </a:p>
          <a:p>
            <a:pPr lvl="1"/>
            <a:r>
              <a:rPr lang="en-US" dirty="0"/>
              <a:t>Time of onset of symptoms; </a:t>
            </a:r>
          </a:p>
          <a:p>
            <a:pPr lvl="1"/>
            <a:r>
              <a:rPr lang="en-US" dirty="0"/>
              <a:t>Symptoms of illness (</a:t>
            </a:r>
            <a:r>
              <a:rPr lang="en-US" dirty="0" err="1"/>
              <a:t>e.G.</a:t>
            </a:r>
            <a:r>
              <a:rPr lang="en-US" dirty="0"/>
              <a:t>, Nausea, vomiting, </a:t>
            </a:r>
            <a:r>
              <a:rPr lang="en-US" dirty="0" err="1"/>
              <a:t>diarrhoea</a:t>
            </a:r>
            <a:r>
              <a:rPr lang="en-US" dirty="0"/>
              <a:t>, abdominal pain, headache, fever, prostration, etc.) In order of occurrence; </a:t>
            </a:r>
          </a:p>
          <a:p>
            <a:pPr lvl="1"/>
            <a:r>
              <a:rPr lang="en-US" dirty="0"/>
              <a:t>Personal data such as age, sex, residence, occupation, and any other helpful information. </a:t>
            </a:r>
          </a:p>
          <a:p>
            <a:r>
              <a:rPr lang="en-US" dirty="0"/>
              <a:t>Questionnaires may be administered to kitchen employees and those working in the dining halls.</a:t>
            </a:r>
          </a:p>
        </p:txBody>
      </p:sp>
    </p:spTree>
    <p:extLst>
      <p:ext uri="{BB962C8B-B14F-4D97-AF65-F5344CB8AC3E}">
        <p14:creationId xmlns:p14="http://schemas.microsoft.com/office/powerpoint/2010/main" val="32682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322B6-6205-A868-63D6-FB742E95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BCA9-CA18-A04A-089C-E9E848DB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 of food poisoning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A6E9B-E559-1C3F-FCF5-4A9063B7A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Laboratory investigations</a:t>
            </a:r>
          </a:p>
          <a:p>
            <a:pPr lvl="1"/>
            <a:r>
              <a:rPr lang="en-US" dirty="0"/>
              <a:t>The object is not only to incriminate the causative agent from stool, vomit or remnants of food by inoculating into appropriate media</a:t>
            </a:r>
          </a:p>
          <a:p>
            <a:pPr lvl="1"/>
            <a:r>
              <a:rPr lang="en-US" dirty="0"/>
              <a:t>Determine the total number of bacteria and the relative numbers of each kind involved. </a:t>
            </a:r>
          </a:p>
          <a:p>
            <a:pPr lvl="1"/>
            <a:r>
              <a:rPr lang="en-US" dirty="0"/>
              <a:t>Stool samples of the kitchen employees and food handlers should also be investigated. </a:t>
            </a:r>
          </a:p>
          <a:p>
            <a:pPr lvl="1"/>
            <a:r>
              <a:rPr lang="en-US" dirty="0"/>
              <a:t>The samples should be examined aerobically and anaerobically. </a:t>
            </a:r>
          </a:p>
          <a:p>
            <a:pPr lvl="1"/>
            <a:r>
              <a:rPr lang="en-US" dirty="0"/>
              <a:t>Phage typing of the organisms should be done to complete the laboratory investigation, </a:t>
            </a:r>
          </a:p>
          <a:p>
            <a:r>
              <a:rPr lang="en-US" dirty="0"/>
              <a:t>Animal experiments : </a:t>
            </a:r>
          </a:p>
          <a:p>
            <a:pPr lvl="1"/>
            <a:r>
              <a:rPr lang="en-US" dirty="0"/>
              <a:t>It may be necessary to feed rhesus monkeys with the remnants of food.</a:t>
            </a:r>
          </a:p>
          <a:p>
            <a:pPr lvl="1"/>
            <a:r>
              <a:rPr lang="en-US" dirty="0"/>
              <a:t>Protection tests are useful in the case of botulism; in this, a saline filtrate of food-stuff is injected subcutaneously into mice protected with antitoxic sera, keeping suitable controls.</a:t>
            </a:r>
          </a:p>
        </p:txBody>
      </p:sp>
    </p:spTree>
    <p:extLst>
      <p:ext uri="{BB962C8B-B14F-4D97-AF65-F5344CB8AC3E}">
        <p14:creationId xmlns:p14="http://schemas.microsoft.com/office/powerpoint/2010/main" val="187290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00F6-0A88-B712-8A1E-88A95C09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3D8C-6B87-8C22-06C0-57720C15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 of food poisoning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37D78-7792-B9E0-C86B-C05943A86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Blood for antibodies : This is useful for retrospective diagnosis, </a:t>
            </a:r>
          </a:p>
          <a:p>
            <a:r>
              <a:rPr lang="en-US" dirty="0"/>
              <a:t>Environmental study : This includes inspection of the eating place(s), kitchen(s), and questioning of food handlers regarding food preparation, </a:t>
            </a:r>
          </a:p>
          <a:p>
            <a:r>
              <a:rPr lang="en-US" dirty="0"/>
              <a:t>Data analysis : The data should be analyzed according to the descriptive methods of time, place and person distribution. </a:t>
            </a:r>
          </a:p>
          <a:p>
            <a:pPr lvl="1"/>
            <a:r>
              <a:rPr lang="en-US" dirty="0"/>
              <a:t>Food-specific attack rates should be calculated. </a:t>
            </a:r>
          </a:p>
          <a:p>
            <a:pPr lvl="1"/>
            <a:r>
              <a:rPr lang="en-US" dirty="0"/>
              <a:t>A case control study may be undertaken to establish the epidemiologic association between, illness and the intake of a particular food.</a:t>
            </a:r>
          </a:p>
        </p:txBody>
      </p:sp>
    </p:spTree>
    <p:extLst>
      <p:ext uri="{BB962C8B-B14F-4D97-AF65-F5344CB8AC3E}">
        <p14:creationId xmlns:p14="http://schemas.microsoft.com/office/powerpoint/2010/main" val="1704163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7F8A-C7DC-DB64-3042-AB8DE99D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and control – food sanitation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1F5C5-6D8C-29C1-92DF-786822FEF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Meat inspection : The food animals must be free from infection. This can be ensured by their examination by veterinary staff, both before and after slaughter, </a:t>
            </a:r>
          </a:p>
          <a:p>
            <a:r>
              <a:rPr lang="en-US" dirty="0"/>
              <a:t>Personal hygiene : A high standard of personal hygiene among individuals engaged in the handling, preparation and cooking of food is needed. </a:t>
            </a:r>
          </a:p>
          <a:p>
            <a:r>
              <a:rPr lang="en-US" dirty="0"/>
              <a:t>Food handlers : Those suffering from infected wounds, boils, </a:t>
            </a:r>
            <a:r>
              <a:rPr lang="en-US" dirty="0" err="1"/>
              <a:t>diarrhoea</a:t>
            </a:r>
            <a:r>
              <a:rPr lang="en-US" dirty="0"/>
              <a:t>, dysentery, throat infection, </a:t>
            </a:r>
            <a:r>
              <a:rPr lang="en-US" dirty="0" err="1"/>
              <a:t>etc</a:t>
            </a:r>
            <a:r>
              <a:rPr lang="en-US" dirty="0"/>
              <a:t> should be excluded from food handling. </a:t>
            </a:r>
          </a:p>
          <a:p>
            <a:pPr lvl="1"/>
            <a:r>
              <a:rPr lang="en-US" dirty="0"/>
              <a:t>The medical inspection of food handlers is required in many countries; this is of limited value in the detection of carriers, although it will remove some sources of infection</a:t>
            </a:r>
          </a:p>
        </p:txBody>
      </p:sp>
    </p:spTree>
    <p:extLst>
      <p:ext uri="{BB962C8B-B14F-4D97-AF65-F5344CB8AC3E}">
        <p14:creationId xmlns:p14="http://schemas.microsoft.com/office/powerpoint/2010/main" val="300770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42350-688A-7B99-0D18-3E2EB9AB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6E3C-DC05-AA18-16F4-42888901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and control – food sanitation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04F4B-4204-BCE6-C156-FC92A5A4E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Food handling techniques : The handling of ready-to-eat foods with bare hands should be reduced to a minimum. </a:t>
            </a:r>
          </a:p>
          <a:p>
            <a:pPr lvl="1"/>
            <a:r>
              <a:rPr lang="en-US" dirty="0"/>
              <a:t>Time between preparation and consumption of food should be kept short. </a:t>
            </a:r>
          </a:p>
          <a:p>
            <a:pPr lvl="1"/>
            <a:r>
              <a:rPr lang="en-US" dirty="0"/>
              <a:t>The importance of rapid cooling and cold storage must be stressed. </a:t>
            </a:r>
          </a:p>
          <a:p>
            <a:pPr lvl="1"/>
            <a:r>
              <a:rPr lang="en-US" dirty="0"/>
              <a:t>Milk, milk products and egg products should be pasteurized. </a:t>
            </a:r>
          </a:p>
          <a:p>
            <a:pPr lvl="1"/>
            <a:r>
              <a:rPr lang="en-US" dirty="0"/>
              <a:t>Food must be thoroughly cooked. </a:t>
            </a:r>
          </a:p>
          <a:p>
            <a:pPr lvl="1"/>
            <a:r>
              <a:rPr lang="en-US" dirty="0"/>
              <a:t>The heal must penetrate the </a:t>
            </a:r>
            <a:r>
              <a:rPr lang="en-US" dirty="0" err="1"/>
              <a:t>centre</a:t>
            </a:r>
            <a:r>
              <a:rPr lang="en-US" dirty="0"/>
              <a:t> of the food leaving thereby no cool spots. </a:t>
            </a:r>
          </a:p>
          <a:p>
            <a:pPr lvl="1"/>
            <a:r>
              <a:rPr lang="en-US" dirty="0"/>
              <a:t>Most food poisoning organisms are killed at temperatures over 60 deg. C.</a:t>
            </a:r>
          </a:p>
          <a:p>
            <a:r>
              <a:rPr lang="en-US" dirty="0"/>
              <a:t>Sanitary improvements : Sanitization of all work surfaces, utensils and </a:t>
            </a:r>
            <a:r>
              <a:rPr lang="en-US" dirty="0" err="1"/>
              <a:t>equipments</a:t>
            </a:r>
            <a:r>
              <a:rPr lang="en-US" dirty="0"/>
              <a:t> must be ensured. </a:t>
            </a:r>
          </a:p>
          <a:p>
            <a:pPr lvl="1"/>
            <a:r>
              <a:rPr lang="en-US" dirty="0"/>
              <a:t>Food premises should be kept free from rats, mice, flies and dust, </a:t>
            </a:r>
          </a:p>
          <a:p>
            <a:r>
              <a:rPr lang="en-US" dirty="0"/>
              <a:t>Health education : Food handlers should be educated in matters of clean habits and personal hygiene, such as frequent and thorough hand washing.</a:t>
            </a:r>
          </a:p>
        </p:txBody>
      </p:sp>
    </p:spTree>
    <p:extLst>
      <p:ext uri="{BB962C8B-B14F-4D97-AF65-F5344CB8AC3E}">
        <p14:creationId xmlns:p14="http://schemas.microsoft.com/office/powerpoint/2010/main" val="111679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6E74-E94E-38AF-3B8D-F8643A9D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5C41-F8EB-1271-0D39-769AB674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and control – refrigeration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23D3E-8301-6B89-D906-5EF754429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prevention of bacterial food poisoning, emphasis must be placed on proper temperature control. </a:t>
            </a:r>
          </a:p>
          <a:p>
            <a:pPr lvl="1"/>
            <a:r>
              <a:rPr lang="en-US" dirty="0"/>
              <a:t>Food should not be left in warm pantries; a few germs can multiply to millions by the next morning. </a:t>
            </a:r>
          </a:p>
          <a:p>
            <a:pPr lvl="1"/>
            <a:r>
              <a:rPr lang="en-US" dirty="0"/>
              <a:t>Foods not eaten immediately should be kept in cold storage to prevent bacterial multiplication and toxin production.</a:t>
            </a:r>
          </a:p>
          <a:p>
            <a:pPr lvl="1"/>
            <a:r>
              <a:rPr lang="en-US" dirty="0"/>
              <a:t> “Cook and eat the same day” is a golden rule. </a:t>
            </a:r>
          </a:p>
          <a:p>
            <a:pPr lvl="1"/>
            <a:r>
              <a:rPr lang="en-US" dirty="0"/>
              <a:t>When foods are held between 10 deg. C (50 deg. F) and 49 deg. C (120 </a:t>
            </a:r>
            <a:r>
              <a:rPr lang="en-US" dirty="0" err="1"/>
              <a:t>deg.F</a:t>
            </a:r>
            <a:r>
              <a:rPr lang="en-US" dirty="0"/>
              <a:t>) they are in the danger zone for bacterial growth. </a:t>
            </a:r>
          </a:p>
          <a:p>
            <a:pPr lvl="1"/>
            <a:r>
              <a:rPr lang="en-US" dirty="0"/>
              <a:t>Cold is bacteriostatic at temperature below 4 deg. C (40 </a:t>
            </a:r>
            <a:r>
              <a:rPr lang="en-US" dirty="0" err="1"/>
              <a:t>deg.F</a:t>
            </a:r>
            <a:r>
              <a:rPr lang="en-US" dirty="0"/>
              <a:t>), and refrigeration temperature should not exceed this level.</a:t>
            </a:r>
          </a:p>
          <a:p>
            <a:r>
              <a:rPr lang="en-US" dirty="0"/>
              <a:t>SURVEILLANCE; Food samples must be obtained from the food establishments periodically and subjected to laboratory analysis if they were unsatisfactory. Continuing surveillance is necessary to avoid outbreaks of food-borne diseases.</a:t>
            </a:r>
          </a:p>
        </p:txBody>
      </p:sp>
    </p:spTree>
    <p:extLst>
      <p:ext uri="{BB962C8B-B14F-4D97-AF65-F5344CB8AC3E}">
        <p14:creationId xmlns:p14="http://schemas.microsoft.com/office/powerpoint/2010/main" val="30878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024C-14FA-1959-3244-5B01EFCA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Amoebiasis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97D7-0114-F3BA-2994-7A090DFE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74" y="1690688"/>
            <a:ext cx="10792326" cy="44862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Condition of </a:t>
            </a:r>
            <a:r>
              <a:rPr lang="en-US" dirty="0" err="1"/>
              <a:t>harbouring</a:t>
            </a:r>
            <a:r>
              <a:rPr lang="en-US" dirty="0"/>
              <a:t> the protozoan parasite Entamoeba histolytica with or without clinical manifestations. </a:t>
            </a:r>
          </a:p>
          <a:p>
            <a:r>
              <a:rPr lang="en-US" dirty="0"/>
              <a:t>The symptomatic disease occurs in less than 10 per cent of infected individuals. </a:t>
            </a:r>
          </a:p>
          <a:p>
            <a:r>
              <a:rPr lang="en-US" dirty="0"/>
              <a:t>The symptomatic group has been further subdivided into intestinal and extraintestinal amoebiasis. </a:t>
            </a:r>
          </a:p>
          <a:p>
            <a:r>
              <a:rPr lang="en-US" dirty="0"/>
              <a:t>The intestinal disease varies from mild abdominal discomfort and </a:t>
            </a:r>
            <a:r>
              <a:rPr lang="en-US" dirty="0" err="1"/>
              <a:t>diarrhoea</a:t>
            </a:r>
            <a:r>
              <a:rPr lang="en-US" dirty="0"/>
              <a:t> to acute fulminating dysentery. </a:t>
            </a:r>
          </a:p>
          <a:p>
            <a:r>
              <a:rPr lang="en-US" dirty="0"/>
              <a:t>Extraintestinal amoebiasis includes involvement of liver (liver abscess), lungs, brain, spleen, skin, etc. </a:t>
            </a:r>
          </a:p>
          <a:p>
            <a:r>
              <a:rPr lang="en-US" dirty="0"/>
              <a:t>Amoebiasis is a potentially lethal disease. It carries substantial morbidity and mortality.</a:t>
            </a:r>
          </a:p>
        </p:txBody>
      </p:sp>
    </p:spTree>
    <p:extLst>
      <p:ext uri="{BB962C8B-B14F-4D97-AF65-F5344CB8AC3E}">
        <p14:creationId xmlns:p14="http://schemas.microsoft.com/office/powerpoint/2010/main" val="71395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543BF-2D0A-F762-6B72-63D48FFD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09BC-CB54-4506-F45A-8BE1E68E1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World: It is a major health problem in the whole of China, South East and West Asia and Latin America, especially Mexico. </a:t>
            </a:r>
          </a:p>
          <a:p>
            <a:r>
              <a:rPr lang="en-US" dirty="0"/>
              <a:t>Globally it is estimated that 50 million people carry E. histolytica in their intestinal tract and approximately one-tenth of infected people suffer from invasive amoebiasis. </a:t>
            </a:r>
          </a:p>
          <a:p>
            <a:r>
              <a:rPr lang="en-US" dirty="0"/>
              <a:t>Prevalence rates vary from as low as 2 per cent to 60 per cent or more in areas devoid of sanitation. </a:t>
            </a:r>
          </a:p>
          <a:p>
            <a:r>
              <a:rPr lang="en-US" dirty="0"/>
              <a:t>In areas of high prevalence, amoebiasis occurs in endemic forms as a result of high levels of transmission and constant reinfection.</a:t>
            </a:r>
          </a:p>
        </p:txBody>
      </p:sp>
    </p:spTree>
    <p:extLst>
      <p:ext uri="{BB962C8B-B14F-4D97-AF65-F5344CB8AC3E}">
        <p14:creationId xmlns:p14="http://schemas.microsoft.com/office/powerpoint/2010/main" val="1157439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689F-E7F8-E2C8-A5C6-65A2E0D2D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C288-0EDC-40B0-840C-C223FFC1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C5A0-33EF-7E55-C3BE-549842DE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INDIA : It is generally agreed that amoebiasis affects about 15 per cent of the Indian population</a:t>
            </a:r>
            <a:r>
              <a:rPr lang="en-US" i="1" dirty="0"/>
              <a:t>. </a:t>
            </a:r>
            <a:endParaRPr lang="en-US" dirty="0"/>
          </a:p>
          <a:p>
            <a:r>
              <a:rPr lang="en-US" dirty="0"/>
              <a:t>The prevalence rate is about 15% ranging from 3.6 to 47.4 per cent in different areas</a:t>
            </a:r>
            <a:r>
              <a:rPr lang="en-US" i="1" dirty="0"/>
              <a:t>. </a:t>
            </a:r>
          </a:p>
          <a:p>
            <a:r>
              <a:rPr lang="en-US" dirty="0"/>
              <a:t>The reported variations in prevalence are</a:t>
            </a:r>
          </a:p>
          <a:p>
            <a:pPr lvl="1"/>
            <a:r>
              <a:rPr lang="en-US" dirty="0"/>
              <a:t>Attributed to variations in clinical diagnostic criteria </a:t>
            </a:r>
          </a:p>
          <a:p>
            <a:pPr lvl="1"/>
            <a:r>
              <a:rPr lang="en-US" dirty="0"/>
              <a:t>To technical difficulties in establishing a correct diagnosis</a:t>
            </a:r>
          </a:p>
          <a:p>
            <a:pPr lvl="1"/>
            <a:r>
              <a:rPr lang="en-US" dirty="0"/>
              <a:t>Lack of sampling criteria</a:t>
            </a:r>
          </a:p>
        </p:txBody>
      </p:sp>
    </p:spTree>
    <p:extLst>
      <p:ext uri="{BB962C8B-B14F-4D97-AF65-F5344CB8AC3E}">
        <p14:creationId xmlns:p14="http://schemas.microsoft.com/office/powerpoint/2010/main" val="116470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52BE-E964-E544-905E-FB9ECB5B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249D-D7A3-ECB5-A8B9-135CB52E4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Pathogenic strains of E. histolytica: at least 18 zymodemes </a:t>
            </a:r>
          </a:p>
          <a:p>
            <a:r>
              <a:rPr lang="en-US" dirty="0"/>
              <a:t>Invasive strains can give rise to </a:t>
            </a:r>
            <a:r>
              <a:rPr lang="en-US" dirty="0" err="1"/>
              <a:t>faecal</a:t>
            </a:r>
            <a:r>
              <a:rPr lang="en-US" dirty="0"/>
              <a:t> cysts, and the organisms breed true. </a:t>
            </a:r>
          </a:p>
          <a:p>
            <a:r>
              <a:rPr lang="en-US" dirty="0"/>
              <a:t>Isoenzyme electrophoretic mobility analysis have so far identified 7 potentially pathogenic and 11 non-pathogenic </a:t>
            </a:r>
            <a:r>
              <a:rPr lang="en-US" dirty="0" err="1"/>
              <a:t>zymodems</a:t>
            </a:r>
            <a:r>
              <a:rPr lang="en-US" dirty="0"/>
              <a:t>.</a:t>
            </a:r>
          </a:p>
          <a:p>
            <a:r>
              <a:rPr lang="en-US" dirty="0"/>
              <a:t>E. histolytica exists in two forms – vegetative (trophozoite) and cystic forms. </a:t>
            </a:r>
          </a:p>
          <a:p>
            <a:r>
              <a:rPr lang="en-US" dirty="0"/>
              <a:t>Trophozoites dwell in the colon where they multiply and encyst. </a:t>
            </a:r>
          </a:p>
          <a:p>
            <a:r>
              <a:rPr lang="en-US" dirty="0"/>
              <a:t>The cysts are excreted in stool. </a:t>
            </a:r>
          </a:p>
          <a:p>
            <a:r>
              <a:rPr lang="en-US" dirty="0"/>
              <a:t>Ingested cysts release trophozoites which colonize the large intestine. </a:t>
            </a:r>
          </a:p>
          <a:p>
            <a:r>
              <a:rPr lang="en-US" dirty="0"/>
              <a:t>Some trophozoites invade the bowel and cause ulceration, mainly in the caecum and ascending colon; then in the rectum and sigmoid. </a:t>
            </a:r>
          </a:p>
          <a:p>
            <a:r>
              <a:rPr lang="en-US" dirty="0"/>
              <a:t>Some may enter a vein and reach the liver and other organs.</a:t>
            </a:r>
          </a:p>
          <a:p>
            <a:r>
              <a:rPr lang="en-US" dirty="0"/>
              <a:t>The trophozoites are short-lived outside the human body.</a:t>
            </a:r>
          </a:p>
          <a:p>
            <a:r>
              <a:rPr lang="en-US" dirty="0"/>
              <a:t>The cysts are infective to man and remain viable and infective for several days in </a:t>
            </a:r>
            <a:r>
              <a:rPr lang="en-US" dirty="0" err="1"/>
              <a:t>faeces</a:t>
            </a:r>
            <a:r>
              <a:rPr lang="en-US" dirty="0"/>
              <a:t>, water, sewage and soil in the presence of moisture and low temperature. </a:t>
            </a:r>
          </a:p>
          <a:p>
            <a:r>
              <a:rPr lang="en-US" dirty="0"/>
              <a:t>The cysts are not affected by chlorine in the amounts normally used in water purification, but they are readily killed if dried, heated (to about 55 deg C) or frozen.</a:t>
            </a:r>
          </a:p>
        </p:txBody>
      </p:sp>
    </p:spTree>
    <p:extLst>
      <p:ext uri="{BB962C8B-B14F-4D97-AF65-F5344CB8AC3E}">
        <p14:creationId xmlns:p14="http://schemas.microsoft.com/office/powerpoint/2010/main" val="299344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BC39-1BF8-97D3-D485-545BB42B5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5300"/>
            <a:ext cx="10515600" cy="5681663"/>
          </a:xfrm>
        </p:spPr>
        <p:txBody>
          <a:bodyPr>
            <a:normAutofit/>
          </a:bodyPr>
          <a:lstStyle/>
          <a:p>
            <a:r>
              <a:rPr lang="en-US" b="1" dirty="0"/>
              <a:t>RESERVOIR OF INFECTION </a:t>
            </a:r>
            <a:r>
              <a:rPr lang="en-US" dirty="0"/>
              <a:t>: Man is the only reservoir of infection. </a:t>
            </a:r>
          </a:p>
          <a:p>
            <a:r>
              <a:rPr lang="en-US" dirty="0"/>
              <a:t>The immediate source of infection is the </a:t>
            </a:r>
            <a:r>
              <a:rPr lang="en-US" dirty="0" err="1"/>
              <a:t>faeces</a:t>
            </a:r>
            <a:r>
              <a:rPr lang="en-US" dirty="0"/>
              <a:t> containing the cysts. </a:t>
            </a:r>
          </a:p>
          <a:p>
            <a:r>
              <a:rPr lang="en-US" dirty="0"/>
              <a:t>Most individuals infected with E. Histolytica remain symptom free and are healthy carriers of the parasite.</a:t>
            </a:r>
          </a:p>
          <a:p>
            <a:r>
              <a:rPr lang="en-US" dirty="0"/>
              <a:t>The carriers can discharge </a:t>
            </a:r>
            <a:r>
              <a:rPr lang="en-US" dirty="0" err="1"/>
              <a:t>upto</a:t>
            </a:r>
            <a:r>
              <a:rPr lang="en-US" dirty="0"/>
              <a:t> 1.5 x 10^7 cysts daily. </a:t>
            </a:r>
          </a:p>
          <a:p>
            <a:r>
              <a:rPr lang="en-US" dirty="0"/>
              <a:t>The greatest risk is associated with carriers engaged in the preparation and handling of food.</a:t>
            </a:r>
          </a:p>
          <a:p>
            <a:r>
              <a:rPr lang="en-US" b="1" dirty="0"/>
              <a:t>PERIOD OF COMMUNICABILITY </a:t>
            </a:r>
            <a:r>
              <a:rPr lang="en-US" dirty="0"/>
              <a:t>: As long as cysts are excreted; the period may be several years, if cases are unrecognized and untreated.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0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7B24-C915-E633-14C1-0A2B5CDB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5951-6DB5-25A5-266A-0244A5B74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Occur at any age. </a:t>
            </a:r>
          </a:p>
          <a:p>
            <a:r>
              <a:rPr lang="en-US" dirty="0"/>
              <a:t>There is no sex or racial difference in the occurrence of the disease. </a:t>
            </a:r>
          </a:p>
          <a:p>
            <a:r>
              <a:rPr lang="en-US" dirty="0"/>
              <a:t>Amoebiasis is frequently a household infection. </a:t>
            </a:r>
          </a:p>
          <a:p>
            <a:r>
              <a:rPr lang="en-US" dirty="0"/>
              <a:t>Specific </a:t>
            </a:r>
            <a:r>
              <a:rPr lang="en-US" dirty="0" err="1"/>
              <a:t>antiamoebic</a:t>
            </a:r>
            <a:r>
              <a:rPr lang="en-US" dirty="0"/>
              <a:t> antibodies are produced when tissue invasion takes place. </a:t>
            </a:r>
          </a:p>
          <a:p>
            <a:r>
              <a:rPr lang="en-US" dirty="0"/>
              <a:t>Cell-mediated immunity plays an important part in controlling the recurrence of invasive amoebiasis</a:t>
            </a:r>
          </a:p>
        </p:txBody>
      </p:sp>
    </p:spTree>
    <p:extLst>
      <p:ext uri="{BB962C8B-B14F-4D97-AF65-F5344CB8AC3E}">
        <p14:creationId xmlns:p14="http://schemas.microsoft.com/office/powerpoint/2010/main" val="322802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C7A16-E91C-D798-8441-8A5D0A1F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73DA-7A7C-605C-030E-8AE4E7C9D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Closely related to poor sanitation and socio-economic status than to climate. </a:t>
            </a:r>
          </a:p>
          <a:p>
            <a:r>
              <a:rPr lang="en-US" dirty="0"/>
              <a:t>The use of nightsoil for agricultural purposes </a:t>
            </a:r>
            <a:r>
              <a:rPr lang="en-US" dirty="0" err="1"/>
              <a:t>favours</a:t>
            </a:r>
            <a:r>
              <a:rPr lang="en-US" dirty="0"/>
              <a:t> the spread of the disease.</a:t>
            </a:r>
          </a:p>
          <a:p>
            <a:r>
              <a:rPr lang="en-US" dirty="0"/>
              <a:t>In countries with marked wet-dry seasons, infection rates are higher during rains, presumably since cysts may survive longer and the potential for transmission is thereby increased. </a:t>
            </a:r>
          </a:p>
          <a:p>
            <a:r>
              <a:rPr lang="en-US" dirty="0"/>
              <a:t>Epidemic outbreaks are usually associated with sewage seepage into the water supply.</a:t>
            </a:r>
          </a:p>
        </p:txBody>
      </p:sp>
    </p:spTree>
    <p:extLst>
      <p:ext uri="{BB962C8B-B14F-4D97-AF65-F5344CB8AC3E}">
        <p14:creationId xmlns:p14="http://schemas.microsoft.com/office/powerpoint/2010/main" val="1761217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BB4D-E6D8-92D1-55FF-995B38BE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of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83EE0-8734-D268-6D3C-187EA63B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Faecal</a:t>
            </a:r>
            <a:r>
              <a:rPr lang="en-US" dirty="0"/>
              <a:t>-oral route : Contaminated water or food. </a:t>
            </a:r>
          </a:p>
          <a:p>
            <a:pPr lvl="1"/>
            <a:r>
              <a:rPr lang="en-US" dirty="0"/>
              <a:t>Heavy contamination of drinking water supply. </a:t>
            </a:r>
          </a:p>
          <a:p>
            <a:pPr lvl="1"/>
            <a:r>
              <a:rPr lang="en-US" dirty="0"/>
              <a:t>Vegetables, especially those eaten raw, from fields irrigated with sewage polluted water can readily convey infection. </a:t>
            </a:r>
          </a:p>
          <a:p>
            <a:pPr lvl="1"/>
            <a:r>
              <a:rPr lang="en-US" dirty="0"/>
              <a:t>Viable cysts have been found on the hands and under finger nails : direct hand to mouth transmission. </a:t>
            </a:r>
          </a:p>
          <a:p>
            <a:r>
              <a:rPr lang="en-US" dirty="0"/>
              <a:t>Sexual contact: oral-rectal contact, especially among male homosexuals</a:t>
            </a:r>
          </a:p>
          <a:p>
            <a:r>
              <a:rPr lang="en-US" dirty="0"/>
              <a:t>Vectors : Flies, cockroaches and rodents are capable of carrying cysts</a:t>
            </a:r>
          </a:p>
          <a:p>
            <a:r>
              <a:rPr lang="en-US" dirty="0"/>
              <a:t>and contaminating food and drink.</a:t>
            </a:r>
          </a:p>
        </p:txBody>
      </p:sp>
    </p:spTree>
    <p:extLst>
      <p:ext uri="{BB962C8B-B14F-4D97-AF65-F5344CB8AC3E}">
        <p14:creationId xmlns:p14="http://schemas.microsoft.com/office/powerpoint/2010/main" val="3852736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84F04-4FAD-AC1D-3FB7-3626B61A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Incubation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1E73B-775B-3FED-C297-A312A7E7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2 to 4 weeks or longer.</a:t>
            </a:r>
          </a:p>
        </p:txBody>
      </p:sp>
    </p:spTree>
    <p:extLst>
      <p:ext uri="{BB962C8B-B14F-4D97-AF65-F5344CB8AC3E}">
        <p14:creationId xmlns:p14="http://schemas.microsoft.com/office/powerpoint/2010/main" val="118595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EEB6-3CDA-373F-0C53-0E5508B7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8E3F0-5F36-F6B3-335B-97922DF88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Sanitation: Safe disposal of feces; handwashing post-defecation and before meals</a:t>
            </a:r>
          </a:p>
          <a:p>
            <a:r>
              <a:rPr lang="en-US" dirty="0"/>
              <a:t>Water Safety: Use boiled or sand-filtered water; chlorine ineffective against cysts</a:t>
            </a:r>
          </a:p>
          <a:p>
            <a:r>
              <a:rPr lang="en-US" dirty="0"/>
              <a:t>Food Hygiene: Wash produce with detergent in running water or disinfect with vinegar/acetic acid (5 – 10 percent)</a:t>
            </a:r>
          </a:p>
          <a:p>
            <a:r>
              <a:rPr lang="en-US" dirty="0"/>
              <a:t>Health Education: Promote hygiene and sanitation practices</a:t>
            </a:r>
          </a:p>
        </p:txBody>
      </p:sp>
    </p:spTree>
    <p:extLst>
      <p:ext uri="{BB962C8B-B14F-4D97-AF65-F5344CB8AC3E}">
        <p14:creationId xmlns:p14="http://schemas.microsoft.com/office/powerpoint/2010/main" val="372319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4D02-A941-26DA-A626-AEFA267E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53834-3870-4CEC-3808-57F0584B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</a:t>
            </a:r>
            <a:r>
              <a:rPr lang="en-US" dirty="0" err="1"/>
              <a:t>Diagnosis:Microscopy</a:t>
            </a:r>
            <a:r>
              <a:rPr lang="en-US" dirty="0"/>
              <a:t> of fresh stool for trophozoites</a:t>
            </a:r>
          </a:p>
          <a:p>
            <a:r>
              <a:rPr lang="en-US" dirty="0"/>
              <a:t>Serological tests (IHA, CIE, ELISA) for extraintestinal cases</a:t>
            </a:r>
          </a:p>
          <a:p>
            <a:r>
              <a:rPr lang="en-US" dirty="0"/>
              <a:t>Treatment:</a:t>
            </a:r>
          </a:p>
          <a:p>
            <a:r>
              <a:rPr lang="en-US" dirty="0"/>
              <a:t>Symptomatic: Metronidazole or Tinidazole</a:t>
            </a:r>
          </a:p>
          <a:p>
            <a:pPr lvl="1"/>
            <a:r>
              <a:rPr lang="en-US" dirty="0"/>
              <a:t>Metronidazole – 30 mg/kg in three divided doses for 8 to 10 days</a:t>
            </a:r>
          </a:p>
          <a:p>
            <a:r>
              <a:rPr lang="en-US" dirty="0"/>
              <a:t>Asymptomatic: Treat only food handlers in endemic areas; use </a:t>
            </a:r>
            <a:r>
              <a:rPr lang="en-US" dirty="0" err="1"/>
              <a:t>diiodohydroxyquin</a:t>
            </a:r>
            <a:r>
              <a:rPr lang="en-US" dirty="0"/>
              <a:t> (650 mg TDS or 30 – 40 mg / kg for 20 days) or diloxanide furoate (500 mg TDS for 10 days</a:t>
            </a:r>
          </a:p>
          <a:p>
            <a:r>
              <a:rPr lang="en-US" dirty="0"/>
              <a:t>No effective chemoprophylaxis or mass treatment strategy</a:t>
            </a:r>
          </a:p>
        </p:txBody>
      </p:sp>
    </p:spTree>
    <p:extLst>
      <p:ext uri="{BB962C8B-B14F-4D97-AF65-F5344CB8AC3E}">
        <p14:creationId xmlns:p14="http://schemas.microsoft.com/office/powerpoint/2010/main" val="2822168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8CC3-F3DB-EB3A-3C26-E80F0A39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Transmitted Helminths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AFDB-75C1-7D99-42D0-05FD6A2D9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STHs are a group of parasitic infections caused by intestinal worms:</a:t>
            </a:r>
          </a:p>
          <a:p>
            <a:pPr lvl="1"/>
            <a:r>
              <a:rPr lang="en-US" dirty="0"/>
              <a:t>Ascaris lumbricoides (roundworm)</a:t>
            </a:r>
          </a:p>
          <a:p>
            <a:pPr lvl="1"/>
            <a:r>
              <a:rPr lang="en-US" dirty="0"/>
              <a:t>Trichuris </a:t>
            </a:r>
            <a:r>
              <a:rPr lang="en-US" dirty="0" err="1"/>
              <a:t>trichiura</a:t>
            </a:r>
            <a:r>
              <a:rPr lang="en-US" dirty="0"/>
              <a:t> (whipworm)</a:t>
            </a:r>
          </a:p>
          <a:p>
            <a:pPr lvl="1"/>
            <a:r>
              <a:rPr lang="en-US" dirty="0"/>
              <a:t>Ancylostoma duodenale and </a:t>
            </a:r>
            <a:r>
              <a:rPr lang="en-US" dirty="0" err="1"/>
              <a:t>Necator</a:t>
            </a:r>
            <a:r>
              <a:rPr lang="en-US" dirty="0"/>
              <a:t> americanus (hookworms)</a:t>
            </a:r>
          </a:p>
          <a:p>
            <a:r>
              <a:rPr lang="en-US" dirty="0"/>
              <a:t>Global Burden: Over 1.5 billion people (~24% of global population) infected</a:t>
            </a:r>
          </a:p>
          <a:p>
            <a:pPr lvl="1"/>
            <a:r>
              <a:rPr lang="en-US" dirty="0"/>
              <a:t>High prevalence in tropical and subtropical regions</a:t>
            </a:r>
          </a:p>
        </p:txBody>
      </p:sp>
    </p:spTree>
    <p:extLst>
      <p:ext uri="{BB962C8B-B14F-4D97-AF65-F5344CB8AC3E}">
        <p14:creationId xmlns:p14="http://schemas.microsoft.com/office/powerpoint/2010/main" val="3992715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E0EE-BFFA-A4F1-3B5B-291466E1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F9389-5B88-F81A-D528-60BD11CDF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Soil Transmitted Helminths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A0C7-7197-5956-B607-ED788DE9E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affected: sub-Saharan Africa, the Americas, China, and East Asia</a:t>
            </a:r>
          </a:p>
          <a:p>
            <a:r>
              <a:rPr lang="en-US" dirty="0"/>
              <a:t>At-risk Groups: </a:t>
            </a:r>
          </a:p>
          <a:p>
            <a:pPr lvl="1"/>
            <a:r>
              <a:rPr lang="en-US" dirty="0"/>
              <a:t>Preschool and school-aged children </a:t>
            </a:r>
          </a:p>
          <a:p>
            <a:pPr lvl="1"/>
            <a:r>
              <a:rPr lang="en-US" dirty="0"/>
              <a:t>Women of childbearing age</a:t>
            </a:r>
          </a:p>
          <a:p>
            <a:pPr lvl="1"/>
            <a:r>
              <a:rPr lang="en-US" dirty="0"/>
              <a:t>Agricultural and labor-intensive workers</a:t>
            </a:r>
          </a:p>
        </p:txBody>
      </p:sp>
    </p:spTree>
    <p:extLst>
      <p:ext uri="{BB962C8B-B14F-4D97-AF65-F5344CB8AC3E}">
        <p14:creationId xmlns:p14="http://schemas.microsoft.com/office/powerpoint/2010/main" val="3059353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EAF17-73EC-84E1-F73F-E48E716F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of transmission &amp;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2A517-C5F4-D241-E0D0-E66209D59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Transmission Routes: </a:t>
            </a:r>
          </a:p>
          <a:p>
            <a:pPr lvl="1"/>
            <a:r>
              <a:rPr lang="en-US" dirty="0"/>
              <a:t>Ingestion of eggs (Ascaris, Whipworm): via contaminated hands, food, water, or unwashed vegetables</a:t>
            </a:r>
          </a:p>
          <a:p>
            <a:pPr lvl="1"/>
            <a:r>
              <a:rPr lang="en-US" dirty="0"/>
              <a:t>Skin penetration by larvae (Hookworm): typically through bare feet in contaminated soil</a:t>
            </a:r>
          </a:p>
          <a:p>
            <a:r>
              <a:rPr lang="en-US" dirty="0"/>
              <a:t>Environmental Reservoir:</a:t>
            </a:r>
          </a:p>
          <a:p>
            <a:pPr lvl="1"/>
            <a:r>
              <a:rPr lang="en-US" dirty="0"/>
              <a:t>Eggs and larvae contaminate soil via human feces</a:t>
            </a:r>
          </a:p>
          <a:p>
            <a:pPr lvl="1"/>
            <a:r>
              <a:rPr lang="en-US" dirty="0"/>
              <a:t>Eggs require 2–3 weeks in soil to become infective</a:t>
            </a:r>
          </a:p>
          <a:p>
            <a:r>
              <a:rPr lang="en-US" dirty="0"/>
              <a:t>No Direct Person-to-Person Spread</a:t>
            </a:r>
          </a:p>
          <a:p>
            <a:r>
              <a:rPr lang="en-US" dirty="0"/>
              <a:t>Reinfection is common due to constant exposure in endemic settings</a:t>
            </a:r>
          </a:p>
        </p:txBody>
      </p:sp>
    </p:spTree>
    <p:extLst>
      <p:ext uri="{BB962C8B-B14F-4D97-AF65-F5344CB8AC3E}">
        <p14:creationId xmlns:p14="http://schemas.microsoft.com/office/powerpoint/2010/main" val="1166814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0A84-19EA-68FD-90C1-61A2D9F50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health impact &amp; control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A975A-8201-47D0-4CBA-2B1216CB3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 </a:t>
            </a:r>
            <a:r>
              <a:rPr lang="en-US" dirty="0" err="1"/>
              <a:t>Effects:Asymptomatic</a:t>
            </a:r>
            <a:r>
              <a:rPr lang="en-US" dirty="0"/>
              <a:t> to severe symptoms depending on worm load</a:t>
            </a:r>
          </a:p>
          <a:p>
            <a:r>
              <a:rPr lang="en-US" dirty="0"/>
              <a:t>Common effects include:</a:t>
            </a:r>
          </a:p>
          <a:p>
            <a:pPr lvl="1"/>
            <a:r>
              <a:rPr lang="en-US" dirty="0"/>
              <a:t>Anemia, malnutrition, stunted growth</a:t>
            </a:r>
          </a:p>
          <a:p>
            <a:pPr lvl="1"/>
            <a:r>
              <a:rPr lang="en-US" dirty="0"/>
              <a:t>Impaired physical and cognitive development in children</a:t>
            </a:r>
          </a:p>
          <a:p>
            <a:pPr lvl="1"/>
            <a:r>
              <a:rPr lang="en-US" dirty="0"/>
              <a:t>Pregnancy complications (especially from hookworm)</a:t>
            </a:r>
          </a:p>
          <a:p>
            <a:r>
              <a:rPr lang="en-US" dirty="0"/>
              <a:t>Prevention &amp; Control:</a:t>
            </a:r>
          </a:p>
          <a:p>
            <a:pPr lvl="1"/>
            <a:r>
              <a:rPr lang="en-US" dirty="0"/>
              <a:t>Primary Prevention: Sanitation, hygiene, safe water, health education</a:t>
            </a:r>
          </a:p>
          <a:p>
            <a:pPr lvl="1"/>
            <a:r>
              <a:rPr lang="en-US" dirty="0"/>
              <a:t>Secondary Prevention: Periodic deworming with albendazole or mebendazole</a:t>
            </a:r>
          </a:p>
          <a:p>
            <a:pPr lvl="1"/>
            <a:r>
              <a:rPr lang="en-US" dirty="0"/>
              <a:t>Global Strategy: WHO recommends mass deworming in endemic areas</a:t>
            </a:r>
          </a:p>
        </p:txBody>
      </p:sp>
    </p:spTree>
    <p:extLst>
      <p:ext uri="{BB962C8B-B14F-4D97-AF65-F5344CB8AC3E}">
        <p14:creationId xmlns:p14="http://schemas.microsoft.com/office/powerpoint/2010/main" val="4235021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794E2E-3688-2B26-980D-BBDE4850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596716"/>
              </p:ext>
            </p:extLst>
          </p:nvPr>
        </p:nvGraphicFramePr>
        <p:xfrm>
          <a:off x="246743" y="84934"/>
          <a:ext cx="10798628" cy="6688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657">
                  <a:extLst>
                    <a:ext uri="{9D8B030D-6E8A-4147-A177-3AD203B41FA5}">
                      <a16:colId xmlns:a16="http://schemas.microsoft.com/office/drawing/2014/main" val="2128149577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761001536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92725264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3210187733"/>
                    </a:ext>
                  </a:extLst>
                </a:gridCol>
              </a:tblGrid>
              <a:tr h="1016713"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Ascaris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Hookworm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Whipworm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05432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Primary habitat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Small Intestine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Small Intestine (jejunum)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Large intestine (cecum and colon)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94479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Ingestion of embryonated eggs via contaminated food/water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Skin penetration by larvae from contaminated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Ingestion of embryonated eggs via contaminated food/water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35231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Infective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Embryonated egg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Filariform larva (L3 stage)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Embryonated egg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02122"/>
                  </a:ext>
                </a:extLst>
              </a:tr>
              <a:tr h="1244623">
                <a:tc>
                  <a:txBody>
                    <a:bodyPr/>
                    <a:lstStyle/>
                    <a:p>
                      <a:r>
                        <a:rPr lang="en-US" sz="2000" b="1" dirty="0"/>
                        <a:t>Egg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~ 240,000 eggs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A. duodenale – 10 to 30,000 / day</a:t>
                      </a:r>
                    </a:p>
                    <a:p>
                      <a:r>
                        <a:rPr lang="en-US" sz="2000" dirty="0"/>
                        <a:t>N. americanus – 5 to 10,000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200 – 10,000 per 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622028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Incubation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 days to several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 – 9 weeks (</a:t>
                      </a:r>
                      <a:r>
                        <a:rPr lang="en-US" sz="2000" dirty="0" err="1"/>
                        <a:t>upto</a:t>
                      </a:r>
                      <a:r>
                        <a:rPr lang="en-US" sz="2000" dirty="0"/>
                        <a:t> 9 months for A. duodenale)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 – 90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0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446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A7DF6-C730-0547-8604-C61DE3D7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593782-276E-497D-3FE2-96A0BF506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953752"/>
              </p:ext>
            </p:extLst>
          </p:nvPr>
        </p:nvGraphicFramePr>
        <p:xfrm>
          <a:off x="246743" y="84934"/>
          <a:ext cx="10798628" cy="6394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657">
                  <a:extLst>
                    <a:ext uri="{9D8B030D-6E8A-4147-A177-3AD203B41FA5}">
                      <a16:colId xmlns:a16="http://schemas.microsoft.com/office/drawing/2014/main" val="2128149577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761001536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92725264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3210187733"/>
                    </a:ext>
                  </a:extLst>
                </a:gridCol>
              </a:tblGrid>
              <a:tr h="1016713"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Ascaris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Hookworm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Whipworm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05432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Symptoms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Nausea, abdominal pain, cough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Iron – def anemia, 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Epigastric pain, diarrhea, anemia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94479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Complications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Intestinal obstruction, biliary blockage, volvulus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Chronic blood loss, </a:t>
                      </a:r>
                      <a:r>
                        <a:rPr lang="en-US" sz="2000" dirty="0" err="1"/>
                        <a:t>hypoalbunemia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Rectal prolapse, colonic obstruction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35231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Common 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 – 8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 – 25 </a:t>
                      </a:r>
                      <a:r>
                        <a:rPr lang="en-US" sz="2000" dirty="0" err="1"/>
                        <a:t>yers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 – 10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02122"/>
                  </a:ext>
                </a:extLst>
              </a:tr>
              <a:tr h="1244623">
                <a:tc>
                  <a:txBody>
                    <a:bodyPr/>
                    <a:lstStyle/>
                    <a:p>
                      <a:r>
                        <a:rPr lang="en-US" sz="2000" b="1" dirty="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Moist, shaded, clay soil, sensitive to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Damp, sandy, 24 – 32 deg Cel, shade, high moisture, o2, 40 inch rainfall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Moist shaded soil, tolerate cold, not dryness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622028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Incubation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 days to several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 – 9 weeks (</a:t>
                      </a:r>
                      <a:r>
                        <a:rPr lang="en-US" sz="2000" dirty="0" err="1"/>
                        <a:t>upto</a:t>
                      </a:r>
                      <a:r>
                        <a:rPr lang="en-US" sz="2000" dirty="0"/>
                        <a:t> 9 months for A. duodenale)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 – 90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0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72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6F0D-E48D-5617-9F43-18CC8E94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301E3E-EB6C-7E0C-6C9A-6A3B9F243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39302"/>
              </p:ext>
            </p:extLst>
          </p:nvPr>
        </p:nvGraphicFramePr>
        <p:xfrm>
          <a:off x="246743" y="84934"/>
          <a:ext cx="10798628" cy="632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657">
                  <a:extLst>
                    <a:ext uri="{9D8B030D-6E8A-4147-A177-3AD203B41FA5}">
                      <a16:colId xmlns:a16="http://schemas.microsoft.com/office/drawing/2014/main" val="2128149577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761001536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292725264"/>
                    </a:ext>
                  </a:extLst>
                </a:gridCol>
                <a:gridCol w="2699657">
                  <a:extLst>
                    <a:ext uri="{9D8B030D-6E8A-4147-A177-3AD203B41FA5}">
                      <a16:colId xmlns:a16="http://schemas.microsoft.com/office/drawing/2014/main" val="3210187733"/>
                    </a:ext>
                  </a:extLst>
                </a:gridCol>
              </a:tblGrid>
              <a:tr h="1016713"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Ascaris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Hookworm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Whipworm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705432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Reservoir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Human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+mn-cs"/>
                        </a:rPr>
                        <a:t>Human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94479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Sanitation, hygiene, safe food,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Footwear, sanitation, hygiene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Sanitaation</a:t>
                      </a:r>
                      <a:r>
                        <a:rPr lang="en-US" sz="2000" dirty="0"/>
                        <a:t>, hygiene and food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835231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802122"/>
                  </a:ext>
                </a:extLst>
              </a:tr>
              <a:tr h="1244623">
                <a:tc>
                  <a:txBody>
                    <a:bodyPr/>
                    <a:lstStyle/>
                    <a:p>
                      <a:r>
                        <a:rPr lang="en-US" sz="2000" b="1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Vit A def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Damp, sandy, 24 – 32 deg Cel, shade, high moisture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Moist shaded soil, tolerate cold, not dryness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622028"/>
                  </a:ext>
                </a:extLst>
              </a:tr>
              <a:tr h="1016713">
                <a:tc>
                  <a:txBody>
                    <a:bodyPr/>
                    <a:lstStyle/>
                    <a:p>
                      <a:r>
                        <a:rPr lang="en-US" sz="2000" b="1" dirty="0"/>
                        <a:t>Heavy infection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&gt; 50,000 eggs per gram of </a:t>
                      </a:r>
                      <a:r>
                        <a:rPr lang="en-US" sz="2000" dirty="0" err="1"/>
                        <a:t>faeces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 – 9 weeks (</a:t>
                      </a:r>
                      <a:r>
                        <a:rPr lang="en-US" sz="2000" dirty="0" err="1"/>
                        <a:t>upto</a:t>
                      </a:r>
                      <a:r>
                        <a:rPr lang="en-US" sz="2000" dirty="0"/>
                        <a:t> 9 months for A. duodenale)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 – 90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02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004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Flowchart: Document 103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F6B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98DED-69D5-EC24-6C8C-E1900D4D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Life cycle of ascaris</a:t>
            </a:r>
          </a:p>
        </p:txBody>
      </p:sp>
      <p:pic>
        <p:nvPicPr>
          <p:cNvPr id="1026" name="Picture 2" descr="Life cycle of ascaris lumbricoides - MEDizzy">
            <a:extLst>
              <a:ext uri="{FF2B5EF4-FFF2-40B4-BE49-F238E27FC236}">
                <a16:creationId xmlns:a16="http://schemas.microsoft.com/office/drawing/2014/main" id="{D5B67334-ADA3-F76F-4D51-E49A8BEDE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84672" y="640080"/>
            <a:ext cx="6394058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82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A7978-B923-F9EC-1223-C6872062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Parasite balance (hookworm)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F4CAE-44DB-E7F5-635F-5C097B16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endemic areas, the inhabitants develop a host-parasite balance in which the worm load is limited. </a:t>
            </a:r>
          </a:p>
          <a:p>
            <a:r>
              <a:rPr lang="en-US" dirty="0"/>
              <a:t>They </a:t>
            </a:r>
            <a:r>
              <a:rPr lang="en-US" dirty="0" err="1"/>
              <a:t>harbour</a:t>
            </a:r>
            <a:r>
              <a:rPr lang="en-US" dirty="0"/>
              <a:t> the parasite without manifesting clinical signs and symptoms. </a:t>
            </a:r>
          </a:p>
          <a:p>
            <a:r>
              <a:rPr lang="en-US" dirty="0"/>
              <a:t>In some areas, the infection rate may be 100 per cent, but most infections are light and only a small proportion of the people are heavily infected.</a:t>
            </a:r>
          </a:p>
          <a:p>
            <a:r>
              <a:rPr lang="en-US" dirty="0"/>
              <a:t>This delicate balance may be upset by malnutrition and intercurrent infections.</a:t>
            </a:r>
          </a:p>
        </p:txBody>
      </p:sp>
    </p:spTree>
    <p:extLst>
      <p:ext uri="{BB962C8B-B14F-4D97-AF65-F5344CB8AC3E}">
        <p14:creationId xmlns:p14="http://schemas.microsoft.com/office/powerpoint/2010/main" val="2888634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6E0AF-BB20-8C00-EB93-88434E64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C35BA-2C66-8305-410B-57238F99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Sanitation: Prevent soil contamination with feces</a:t>
            </a:r>
          </a:p>
          <a:p>
            <a:r>
              <a:rPr lang="en-US" dirty="0"/>
              <a:t>Safe Water: Ensure protected drinking sources</a:t>
            </a:r>
          </a:p>
          <a:p>
            <a:r>
              <a:rPr lang="en-US" dirty="0"/>
              <a:t>Hygiene: Promote handwashing, safe produce handling</a:t>
            </a:r>
          </a:p>
          <a:p>
            <a:r>
              <a:rPr lang="en-US" dirty="0"/>
              <a:t>Protective Behavior: Wear footwear to avoid soil contact</a:t>
            </a:r>
          </a:p>
          <a:p>
            <a:r>
              <a:rPr lang="en-US" dirty="0"/>
              <a:t>Health Education: Context-specific behavioral change programs</a:t>
            </a:r>
          </a:p>
        </p:txBody>
      </p:sp>
    </p:spTree>
    <p:extLst>
      <p:ext uri="{BB962C8B-B14F-4D97-AF65-F5344CB8AC3E}">
        <p14:creationId xmlns:p14="http://schemas.microsoft.com/office/powerpoint/2010/main" val="6901907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09E2-12A0-C8EA-2FFA-2B245C55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CC111-88BE-1822-C91E-C10CFBFD6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Anthelmintic Drugs:</a:t>
            </a:r>
          </a:p>
          <a:p>
            <a:pPr lvl="1"/>
            <a:r>
              <a:rPr lang="en-US" dirty="0"/>
              <a:t>Albendazole: 400 mg single dose (≥2 years)</a:t>
            </a:r>
          </a:p>
          <a:p>
            <a:pPr lvl="1"/>
            <a:r>
              <a:rPr lang="en-US" dirty="0"/>
              <a:t>Mebendazole: 100 mg twice daily for 3 days</a:t>
            </a:r>
          </a:p>
          <a:p>
            <a:pPr lvl="1"/>
            <a:r>
              <a:rPr lang="en-US" dirty="0"/>
              <a:t>Levamisole: 2.5 mg/kg single dose (max 150 mg)</a:t>
            </a:r>
          </a:p>
          <a:p>
            <a:pPr lvl="1"/>
            <a:r>
              <a:rPr lang="en-US" dirty="0"/>
              <a:t>Pyrantel: 10 mg/kg (max 1 g)</a:t>
            </a:r>
          </a:p>
          <a:p>
            <a:r>
              <a:rPr lang="en-US" dirty="0"/>
              <a:t>Treat </a:t>
            </a:r>
            <a:r>
              <a:rPr lang="en-US" dirty="0" err="1"/>
              <a:t>Anaemia</a:t>
            </a:r>
            <a:r>
              <a:rPr lang="en-US" dirty="0"/>
              <a:t>: Iron, folic acid, nutritional support</a:t>
            </a:r>
          </a:p>
          <a:p>
            <a:r>
              <a:rPr lang="en-US" dirty="0"/>
              <a:t>WHO Preventive Chemotherapy:</a:t>
            </a:r>
          </a:p>
          <a:p>
            <a:pPr lvl="1"/>
            <a:r>
              <a:rPr lang="en-US" dirty="0"/>
              <a:t>Annual or biannual deworming based on prevalence</a:t>
            </a:r>
          </a:p>
          <a:p>
            <a:pPr lvl="1"/>
            <a:r>
              <a:rPr lang="en-US" dirty="0"/>
              <a:t>Target Groups: Children, women of childbearing age, high-risk occupations</a:t>
            </a:r>
          </a:p>
        </p:txBody>
      </p:sp>
    </p:spTree>
    <p:extLst>
      <p:ext uri="{BB962C8B-B14F-4D97-AF65-F5344CB8AC3E}">
        <p14:creationId xmlns:p14="http://schemas.microsoft.com/office/powerpoint/2010/main" val="1016021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2506-4CA8-0889-C989-65C1F0AB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Dracunculiasis (Guinea worm)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0C0A9-C808-5933-0388-A8A8A961E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parasitic disease caused by the nematode </a:t>
            </a:r>
            <a:r>
              <a:rPr lang="en-US" i="1" dirty="0"/>
              <a:t>Dracunculus medinensis</a:t>
            </a:r>
          </a:p>
          <a:p>
            <a:r>
              <a:rPr lang="en-US" i="1" dirty="0"/>
              <a:t>Affects </a:t>
            </a:r>
            <a:r>
              <a:rPr lang="en-US" dirty="0"/>
              <a:t>subcutaneous tissues, mostly in legs and feet</a:t>
            </a:r>
          </a:p>
          <a:p>
            <a:r>
              <a:rPr lang="en-US" dirty="0"/>
              <a:t>Not fatal but causes temporary disability</a:t>
            </a:r>
          </a:p>
          <a:p>
            <a:r>
              <a:rPr lang="en-US" dirty="0"/>
              <a:t>Epidemiological Highlights:</a:t>
            </a:r>
          </a:p>
          <a:p>
            <a:pPr lvl="1"/>
            <a:r>
              <a:rPr lang="en-US" dirty="0"/>
              <a:t>1989: ~892,000 cases</a:t>
            </a:r>
          </a:p>
          <a:p>
            <a:pPr lvl="1"/>
            <a:r>
              <a:rPr lang="en-US" dirty="0"/>
              <a:t>2012: 542 cases</a:t>
            </a:r>
          </a:p>
          <a:p>
            <a:pPr lvl="1"/>
            <a:r>
              <a:rPr lang="en-US" dirty="0"/>
              <a:t>2017: Only 30 cases (15 each in Ethiopia and Chad)</a:t>
            </a:r>
          </a:p>
          <a:p>
            <a:pPr lvl="1"/>
            <a:r>
              <a:rPr lang="en-US" dirty="0"/>
              <a:t>India declared free of the disease in 2000 (last case: 1996)</a:t>
            </a:r>
          </a:p>
        </p:txBody>
      </p:sp>
    </p:spTree>
    <p:extLst>
      <p:ext uri="{BB962C8B-B14F-4D97-AF65-F5344CB8AC3E}">
        <p14:creationId xmlns:p14="http://schemas.microsoft.com/office/powerpoint/2010/main" val="2589921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EF46-9A71-7626-FBDE-77E83B70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cycle and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9684-96CF-94C5-8501-9AC86BD79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Agent: Female worm grows up to 120 cm; male is 2–3 cm</a:t>
            </a:r>
          </a:p>
          <a:p>
            <a:pPr lvl="1"/>
            <a:r>
              <a:rPr lang="en-US" dirty="0"/>
              <a:t>Female migrates to skin (usually legs) causing a blister</a:t>
            </a:r>
          </a:p>
          <a:p>
            <a:r>
              <a:rPr lang="en-US" dirty="0"/>
              <a:t>Transmission Cycle:</a:t>
            </a:r>
          </a:p>
          <a:p>
            <a:pPr lvl="1"/>
            <a:r>
              <a:rPr lang="en-US" dirty="0"/>
              <a:t>Blister ruptures in water, releasing larvae</a:t>
            </a:r>
          </a:p>
          <a:p>
            <a:pPr lvl="1"/>
            <a:r>
              <a:rPr lang="en-US" dirty="0"/>
              <a:t>Larvae ingested by cyclops (a freshwater crustacean)</a:t>
            </a:r>
          </a:p>
          <a:p>
            <a:pPr lvl="1"/>
            <a:r>
              <a:rPr lang="en-US" dirty="0"/>
              <a:t>Humans infected by drinking water containing infected cyclops</a:t>
            </a:r>
          </a:p>
          <a:p>
            <a:pPr lvl="1"/>
            <a:r>
              <a:rPr lang="en-US" dirty="0"/>
              <a:t>Larvae migrate and mature in subcutaneous tissues over 10–14 months</a:t>
            </a:r>
          </a:p>
          <a:p>
            <a:r>
              <a:rPr lang="en-US" dirty="0"/>
              <a:t>Entirely water-borne disease</a:t>
            </a:r>
          </a:p>
          <a:p>
            <a:r>
              <a:rPr lang="en-US" dirty="0"/>
              <a:t>No person-to-person or alternative transmission route</a:t>
            </a:r>
          </a:p>
        </p:txBody>
      </p:sp>
    </p:spTree>
    <p:extLst>
      <p:ext uri="{BB962C8B-B14F-4D97-AF65-F5344CB8AC3E}">
        <p14:creationId xmlns:p14="http://schemas.microsoft.com/office/powerpoint/2010/main" val="3377078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B5E4-2D99-1DF8-74E6-3FEA6FC4E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07CF4-0E57-79B5-69D8-92732DB4E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curative drug</a:t>
            </a:r>
          </a:p>
          <a:p>
            <a:r>
              <a:rPr lang="en-US" dirty="0"/>
              <a:t>Supportive care: Metronidazole/mebendazole, wet compresses, occlusive dressing</a:t>
            </a:r>
          </a:p>
          <a:p>
            <a:r>
              <a:rPr lang="en-US" dirty="0"/>
              <a:t>Worm removal by rolling it out on a stick over days or minor surgery</a:t>
            </a:r>
          </a:p>
          <a:p>
            <a:r>
              <a:rPr lang="en-US" dirty="0"/>
              <a:t>Antibiotics to prevent secondary infections</a:t>
            </a:r>
          </a:p>
        </p:txBody>
      </p:sp>
    </p:spTree>
    <p:extLst>
      <p:ext uri="{BB962C8B-B14F-4D97-AF65-F5344CB8AC3E}">
        <p14:creationId xmlns:p14="http://schemas.microsoft.com/office/powerpoint/2010/main" val="2373843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0845-F35F-C1D9-46D4-40F1FA70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Eradication Strategies: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67918-C5FD-7EA1-8272-B8AEABF3D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 Drinking Water: Piped supply, hand pumps</a:t>
            </a:r>
          </a:p>
          <a:p>
            <a:r>
              <a:rPr lang="en-US" dirty="0"/>
              <a:t>Cyclops Control</a:t>
            </a:r>
          </a:p>
          <a:p>
            <a:r>
              <a:rPr lang="en-US" dirty="0"/>
              <a:t>Health Education: Boiling/sieving water, prevent infected people from entering water sources</a:t>
            </a:r>
          </a:p>
          <a:p>
            <a:r>
              <a:rPr lang="en-US" dirty="0"/>
              <a:t>Active Surveillance: Search and report new cases</a:t>
            </a:r>
          </a:p>
        </p:txBody>
      </p:sp>
    </p:spTree>
    <p:extLst>
      <p:ext uri="{BB962C8B-B14F-4D97-AF65-F5344CB8AC3E}">
        <p14:creationId xmlns:p14="http://schemas.microsoft.com/office/powerpoint/2010/main" val="4043171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46EF8-EC43-D66B-9345-5D0F9D32F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B92402DF-80C5-A5A9-F4AC-29DA2995E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664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</TotalTime>
  <Words>2943</Words>
  <Application>Microsoft Office PowerPoint</Application>
  <PresentationFormat>Widescreen</PresentationFormat>
  <Paragraphs>323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Times New Roman</vt:lpstr>
      <vt:lpstr>Office Theme</vt:lpstr>
      <vt:lpstr>Food Poisoning</vt:lpstr>
      <vt:lpstr>PowerPoint Presentation</vt:lpstr>
      <vt:lpstr>Investigation of food poisoning</vt:lpstr>
      <vt:lpstr>Investigation of food poisoning</vt:lpstr>
      <vt:lpstr>Investigation of food poisoning</vt:lpstr>
      <vt:lpstr>Prevention and control – food sanitation</vt:lpstr>
      <vt:lpstr>Prevention and control – food sanitation</vt:lpstr>
      <vt:lpstr>Prevention and control – refrigeration</vt:lpstr>
      <vt:lpstr>Amoebiasis</vt:lpstr>
      <vt:lpstr>Problem statement</vt:lpstr>
      <vt:lpstr>Problem statement</vt:lpstr>
      <vt:lpstr>Agent</vt:lpstr>
      <vt:lpstr>PowerPoint Presentation</vt:lpstr>
      <vt:lpstr>Host</vt:lpstr>
      <vt:lpstr>Environment</vt:lpstr>
      <vt:lpstr>Mode of transmission</vt:lpstr>
      <vt:lpstr>Incubation period</vt:lpstr>
      <vt:lpstr>Primary Prevention</vt:lpstr>
      <vt:lpstr>Secondary Prevention</vt:lpstr>
      <vt:lpstr>Soil Transmitted Helminths</vt:lpstr>
      <vt:lpstr>Soil Transmitted Helminths</vt:lpstr>
      <vt:lpstr>Mode of transmission &amp; lifecycle</vt:lpstr>
      <vt:lpstr>Public health impact &amp; control strategies</vt:lpstr>
      <vt:lpstr>PowerPoint Presentation</vt:lpstr>
      <vt:lpstr>PowerPoint Presentation</vt:lpstr>
      <vt:lpstr>PowerPoint Presentation</vt:lpstr>
      <vt:lpstr>Life cycle of ascaris</vt:lpstr>
      <vt:lpstr>Host Parasite balance (hookworm)</vt:lpstr>
      <vt:lpstr>Primary Prevention</vt:lpstr>
      <vt:lpstr>Secondary</vt:lpstr>
      <vt:lpstr>Dracunculiasis (Guinea worm)</vt:lpstr>
      <vt:lpstr>Life cycle and transmission</vt:lpstr>
      <vt:lpstr>Treatment</vt:lpstr>
      <vt:lpstr>Eradication Strategies: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maheshwari</dc:creator>
  <cp:lastModifiedBy>mukul maheshwari</cp:lastModifiedBy>
  <cp:revision>2</cp:revision>
  <dcterms:created xsi:type="dcterms:W3CDTF">2024-12-04T12:55:21Z</dcterms:created>
  <dcterms:modified xsi:type="dcterms:W3CDTF">2025-05-29T01:47:52Z</dcterms:modified>
</cp:coreProperties>
</file>