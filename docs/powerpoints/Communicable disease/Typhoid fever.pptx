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320" r:id="rId2"/>
    <p:sldId id="321" r:id="rId3"/>
    <p:sldId id="322" r:id="rId4"/>
    <p:sldId id="323" r:id="rId5"/>
    <p:sldId id="324" r:id="rId6"/>
    <p:sldId id="325"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7" r:id="rId28"/>
    <p:sldId id="346" r:id="rId29"/>
    <p:sldId id="348" r:id="rId30"/>
    <p:sldId id="349" r:id="rId31"/>
    <p:sldId id="35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p:scale>
          <a:sx n="66" d="100"/>
          <a:sy n="66" d="100"/>
        </p:scale>
        <p:origin x="48" y="9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F7D6F8-06FE-4E82-8784-05544487E14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B3E7AB1-BA96-4ECA-8A25-501FF0B5E32B}">
      <dgm:prSet/>
      <dgm:spPr/>
      <dgm:t>
        <a:bodyPr/>
        <a:lstStyle/>
        <a:p>
          <a:pPr>
            <a:lnSpc>
              <a:spcPct val="100000"/>
            </a:lnSpc>
          </a:pPr>
          <a:r>
            <a:rPr lang="en-US"/>
            <a:t>Typhoid fever is the result of systemic infection mainly by S. typhi found only in man. </a:t>
          </a:r>
        </a:p>
      </dgm:t>
    </dgm:pt>
    <dgm:pt modelId="{6C323A45-842F-43D1-9379-33BD1DA67FA9}" type="parTrans" cxnId="{B1404B35-161F-4CC7-8DF6-52719F05B97C}">
      <dgm:prSet/>
      <dgm:spPr/>
      <dgm:t>
        <a:bodyPr/>
        <a:lstStyle/>
        <a:p>
          <a:endParaRPr lang="en-US"/>
        </a:p>
      </dgm:t>
    </dgm:pt>
    <dgm:pt modelId="{94B639F2-6502-455B-8B85-970A7C672257}" type="sibTrans" cxnId="{B1404B35-161F-4CC7-8DF6-52719F05B97C}">
      <dgm:prSet/>
      <dgm:spPr/>
      <dgm:t>
        <a:bodyPr/>
        <a:lstStyle/>
        <a:p>
          <a:endParaRPr lang="en-US"/>
        </a:p>
      </dgm:t>
    </dgm:pt>
    <dgm:pt modelId="{52C90743-B6EC-4234-B116-6B20B6084528}">
      <dgm:prSet/>
      <dgm:spPr/>
      <dgm:t>
        <a:bodyPr/>
        <a:lstStyle/>
        <a:p>
          <a:pPr>
            <a:lnSpc>
              <a:spcPct val="100000"/>
            </a:lnSpc>
          </a:pPr>
          <a:r>
            <a:rPr lang="en-US" dirty="0"/>
            <a:t>The disease is clinically characterized</a:t>
          </a:r>
        </a:p>
      </dgm:t>
    </dgm:pt>
    <dgm:pt modelId="{24A38924-6BA2-4D9A-AEE1-2AAF1CA8874F}" type="parTrans" cxnId="{0DB90BB1-D354-43F1-9EFC-517DAB41D336}">
      <dgm:prSet/>
      <dgm:spPr/>
      <dgm:t>
        <a:bodyPr/>
        <a:lstStyle/>
        <a:p>
          <a:endParaRPr lang="en-US"/>
        </a:p>
      </dgm:t>
    </dgm:pt>
    <dgm:pt modelId="{ED37ACB0-8FBB-4950-A135-EA338C313E1F}" type="sibTrans" cxnId="{0DB90BB1-D354-43F1-9EFC-517DAB41D336}">
      <dgm:prSet/>
      <dgm:spPr/>
      <dgm:t>
        <a:bodyPr/>
        <a:lstStyle/>
        <a:p>
          <a:endParaRPr lang="en-US"/>
        </a:p>
      </dgm:t>
    </dgm:pt>
    <dgm:pt modelId="{D4FA907F-590F-4088-96FF-4803F966F3DE}">
      <dgm:prSet custT="1"/>
      <dgm:spPr/>
      <dgm:t>
        <a:bodyPr/>
        <a:lstStyle/>
        <a:p>
          <a:pPr>
            <a:lnSpc>
              <a:spcPct val="100000"/>
            </a:lnSpc>
          </a:pPr>
          <a:r>
            <a:rPr lang="en-US" sz="1800" dirty="0"/>
            <a:t>Typical continuous fever for 3 to 4 weeks,</a:t>
          </a:r>
        </a:p>
      </dgm:t>
    </dgm:pt>
    <dgm:pt modelId="{7FE7E999-7FA9-4EFE-943C-37A5E63D25A3}" type="parTrans" cxnId="{22C5BB24-8E20-477D-8EF9-C1DCAE2FD61F}">
      <dgm:prSet/>
      <dgm:spPr/>
      <dgm:t>
        <a:bodyPr/>
        <a:lstStyle/>
        <a:p>
          <a:endParaRPr lang="en-US"/>
        </a:p>
      </dgm:t>
    </dgm:pt>
    <dgm:pt modelId="{39C7037D-B3C7-4050-82C2-CE5CAAC4E398}" type="sibTrans" cxnId="{22C5BB24-8E20-477D-8EF9-C1DCAE2FD61F}">
      <dgm:prSet/>
      <dgm:spPr/>
      <dgm:t>
        <a:bodyPr/>
        <a:lstStyle/>
        <a:p>
          <a:endParaRPr lang="en-US"/>
        </a:p>
      </dgm:t>
    </dgm:pt>
    <dgm:pt modelId="{BBA90758-B1ED-442F-917C-DA7A9D4D1DC0}">
      <dgm:prSet custT="1"/>
      <dgm:spPr/>
      <dgm:t>
        <a:bodyPr/>
        <a:lstStyle/>
        <a:p>
          <a:pPr>
            <a:lnSpc>
              <a:spcPct val="100000"/>
            </a:lnSpc>
          </a:pPr>
          <a:r>
            <a:rPr lang="en-US" sz="1800" dirty="0"/>
            <a:t>Relative bradycardia with involvement of lymphoid tissues</a:t>
          </a:r>
        </a:p>
      </dgm:t>
    </dgm:pt>
    <dgm:pt modelId="{D2984113-7435-41AD-B73F-6B0EBD7BD3F5}" type="parTrans" cxnId="{2CD46461-B869-4168-9EF4-0443139365E1}">
      <dgm:prSet/>
      <dgm:spPr/>
      <dgm:t>
        <a:bodyPr/>
        <a:lstStyle/>
        <a:p>
          <a:endParaRPr lang="en-US"/>
        </a:p>
      </dgm:t>
    </dgm:pt>
    <dgm:pt modelId="{AB3C064C-FAA8-4FBF-A69B-0E275557B4E8}" type="sibTrans" cxnId="{2CD46461-B869-4168-9EF4-0443139365E1}">
      <dgm:prSet/>
      <dgm:spPr/>
      <dgm:t>
        <a:bodyPr/>
        <a:lstStyle/>
        <a:p>
          <a:endParaRPr lang="en-US"/>
        </a:p>
      </dgm:t>
    </dgm:pt>
    <dgm:pt modelId="{FDBEE460-3214-43B2-B9FD-AA60174A9A74}">
      <dgm:prSet custT="1"/>
      <dgm:spPr/>
      <dgm:t>
        <a:bodyPr/>
        <a:lstStyle/>
        <a:p>
          <a:pPr>
            <a:lnSpc>
              <a:spcPct val="100000"/>
            </a:lnSpc>
          </a:pPr>
          <a:r>
            <a:rPr lang="en-US" sz="1800"/>
            <a:t>Considerable constitutional symptoms. </a:t>
          </a:r>
        </a:p>
      </dgm:t>
    </dgm:pt>
    <dgm:pt modelId="{63886EA6-AD54-405B-9BCB-E9104236E2CB}" type="parTrans" cxnId="{11138E1B-B4BA-40D2-8FC0-9DBF944BABE1}">
      <dgm:prSet/>
      <dgm:spPr/>
      <dgm:t>
        <a:bodyPr/>
        <a:lstStyle/>
        <a:p>
          <a:endParaRPr lang="en-US"/>
        </a:p>
      </dgm:t>
    </dgm:pt>
    <dgm:pt modelId="{7EF557E3-A277-4306-AB3B-90E53E93C610}" type="sibTrans" cxnId="{11138E1B-B4BA-40D2-8FC0-9DBF944BABE1}">
      <dgm:prSet/>
      <dgm:spPr/>
      <dgm:t>
        <a:bodyPr/>
        <a:lstStyle/>
        <a:p>
          <a:endParaRPr lang="en-US"/>
        </a:p>
      </dgm:t>
    </dgm:pt>
    <dgm:pt modelId="{7790B47A-A206-4923-A58D-A13C178088FB}">
      <dgm:prSet/>
      <dgm:spPr/>
      <dgm:t>
        <a:bodyPr/>
        <a:lstStyle/>
        <a:p>
          <a:pPr>
            <a:lnSpc>
              <a:spcPct val="100000"/>
            </a:lnSpc>
          </a:pPr>
          <a:r>
            <a:rPr lang="en-US"/>
            <a:t>The term “enteric fever” includes both typhoid and paratyphoid fevers. </a:t>
          </a:r>
        </a:p>
      </dgm:t>
    </dgm:pt>
    <dgm:pt modelId="{A23BD72D-CD3E-4DC8-B996-0252A74A8D7D}" type="parTrans" cxnId="{EADA3D66-F300-4C81-AE9B-F8278E9CF306}">
      <dgm:prSet/>
      <dgm:spPr/>
      <dgm:t>
        <a:bodyPr/>
        <a:lstStyle/>
        <a:p>
          <a:endParaRPr lang="en-US"/>
        </a:p>
      </dgm:t>
    </dgm:pt>
    <dgm:pt modelId="{5BDA3EDB-998B-4380-B328-DB72DE99DE89}" type="sibTrans" cxnId="{EADA3D66-F300-4C81-AE9B-F8278E9CF306}">
      <dgm:prSet/>
      <dgm:spPr/>
      <dgm:t>
        <a:bodyPr/>
        <a:lstStyle/>
        <a:p>
          <a:endParaRPr lang="en-US"/>
        </a:p>
      </dgm:t>
    </dgm:pt>
    <dgm:pt modelId="{35EA034D-C51D-413B-B29A-83B5DAFC0B88}">
      <dgm:prSet/>
      <dgm:spPr/>
      <dgm:t>
        <a:bodyPr/>
        <a:lstStyle/>
        <a:p>
          <a:pPr>
            <a:lnSpc>
              <a:spcPct val="100000"/>
            </a:lnSpc>
          </a:pPr>
          <a:r>
            <a:rPr lang="en-US"/>
            <a:t>The disease may occur sporadically, epidemically or endemically.</a:t>
          </a:r>
        </a:p>
      </dgm:t>
    </dgm:pt>
    <dgm:pt modelId="{5C52E5F6-36BC-4EFC-8228-3B6E3B4A3F89}" type="parTrans" cxnId="{D783B5EF-5146-493E-8A1B-E771D8184E22}">
      <dgm:prSet/>
      <dgm:spPr/>
      <dgm:t>
        <a:bodyPr/>
        <a:lstStyle/>
        <a:p>
          <a:endParaRPr lang="en-US"/>
        </a:p>
      </dgm:t>
    </dgm:pt>
    <dgm:pt modelId="{5C71D6C4-6634-412F-A64D-1C00139090AA}" type="sibTrans" cxnId="{D783B5EF-5146-493E-8A1B-E771D8184E22}">
      <dgm:prSet/>
      <dgm:spPr/>
      <dgm:t>
        <a:bodyPr/>
        <a:lstStyle/>
        <a:p>
          <a:endParaRPr lang="en-US"/>
        </a:p>
      </dgm:t>
    </dgm:pt>
    <dgm:pt modelId="{D944EF5D-6ADC-430F-BDD2-5EDEA7420471}" type="pres">
      <dgm:prSet presAssocID="{E5F7D6F8-06FE-4E82-8784-05544487E14A}" presName="root" presStyleCnt="0">
        <dgm:presLayoutVars>
          <dgm:dir/>
          <dgm:resizeHandles val="exact"/>
        </dgm:presLayoutVars>
      </dgm:prSet>
      <dgm:spPr/>
    </dgm:pt>
    <dgm:pt modelId="{4F9F1B4C-29B9-4B9F-8596-54D872CFCE17}" type="pres">
      <dgm:prSet presAssocID="{4B3E7AB1-BA96-4ECA-8A25-501FF0B5E32B}" presName="compNode" presStyleCnt="0"/>
      <dgm:spPr/>
    </dgm:pt>
    <dgm:pt modelId="{AD8705AB-EC82-44E4-A36E-8EF08155F8DD}" type="pres">
      <dgm:prSet presAssocID="{4B3E7AB1-BA96-4ECA-8A25-501FF0B5E32B}" presName="bgRect" presStyleLbl="bgShp" presStyleIdx="0" presStyleCnt="4"/>
      <dgm:spPr/>
    </dgm:pt>
    <dgm:pt modelId="{C145479E-95A7-4ADC-982B-9155E5BDB226}" type="pres">
      <dgm:prSet presAssocID="{4B3E7AB1-BA96-4ECA-8A25-501FF0B5E32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idney"/>
        </a:ext>
      </dgm:extLst>
    </dgm:pt>
    <dgm:pt modelId="{39D262CE-2867-4065-A34F-3E263E3CED92}" type="pres">
      <dgm:prSet presAssocID="{4B3E7AB1-BA96-4ECA-8A25-501FF0B5E32B}" presName="spaceRect" presStyleCnt="0"/>
      <dgm:spPr/>
    </dgm:pt>
    <dgm:pt modelId="{0BF1EAB1-6865-4271-83EE-1BFF2A6A0F9A}" type="pres">
      <dgm:prSet presAssocID="{4B3E7AB1-BA96-4ECA-8A25-501FF0B5E32B}" presName="parTx" presStyleLbl="revTx" presStyleIdx="0" presStyleCnt="5">
        <dgm:presLayoutVars>
          <dgm:chMax val="0"/>
          <dgm:chPref val="0"/>
        </dgm:presLayoutVars>
      </dgm:prSet>
      <dgm:spPr/>
    </dgm:pt>
    <dgm:pt modelId="{76D9B174-9AD2-4308-BDAC-F431EEF60717}" type="pres">
      <dgm:prSet presAssocID="{94B639F2-6502-455B-8B85-970A7C672257}" presName="sibTrans" presStyleCnt="0"/>
      <dgm:spPr/>
    </dgm:pt>
    <dgm:pt modelId="{C7001002-D40A-41C9-B388-F0796B60B46F}" type="pres">
      <dgm:prSet presAssocID="{52C90743-B6EC-4234-B116-6B20B6084528}" presName="compNode" presStyleCnt="0"/>
      <dgm:spPr/>
    </dgm:pt>
    <dgm:pt modelId="{F4975343-3CD3-4FBF-A0A2-1CFCBEEAD1AD}" type="pres">
      <dgm:prSet presAssocID="{52C90743-B6EC-4234-B116-6B20B6084528}" presName="bgRect" presStyleLbl="bgShp" presStyleIdx="1" presStyleCnt="4" custLinFactNeighborX="-4737" custLinFactNeighborY="1430"/>
      <dgm:spPr/>
    </dgm:pt>
    <dgm:pt modelId="{9585A349-28D6-4C19-A5A4-D5E53F5EA74B}" type="pres">
      <dgm:prSet presAssocID="{52C90743-B6EC-4234-B116-6B20B608452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edle"/>
        </a:ext>
      </dgm:extLst>
    </dgm:pt>
    <dgm:pt modelId="{45B420AD-937B-4DB0-802D-D75CEB560264}" type="pres">
      <dgm:prSet presAssocID="{52C90743-B6EC-4234-B116-6B20B6084528}" presName="spaceRect" presStyleCnt="0"/>
      <dgm:spPr/>
    </dgm:pt>
    <dgm:pt modelId="{77C7F140-0032-442D-93B0-6A9993E43EEF}" type="pres">
      <dgm:prSet presAssocID="{52C90743-B6EC-4234-B116-6B20B6084528}" presName="parTx" presStyleLbl="revTx" presStyleIdx="1" presStyleCnt="5" custScaleX="65656" custLinFactNeighborX="-21109" custLinFactNeighborY="2146">
        <dgm:presLayoutVars>
          <dgm:chMax val="0"/>
          <dgm:chPref val="0"/>
        </dgm:presLayoutVars>
      </dgm:prSet>
      <dgm:spPr/>
    </dgm:pt>
    <dgm:pt modelId="{4D431F85-A40D-4A06-99A7-140D1E89D4DB}" type="pres">
      <dgm:prSet presAssocID="{52C90743-B6EC-4234-B116-6B20B6084528}" presName="desTx" presStyleLbl="revTx" presStyleIdx="2" presStyleCnt="5" custScaleX="110633" custLinFactNeighborX="11775" custLinFactNeighborY="-712">
        <dgm:presLayoutVars/>
      </dgm:prSet>
      <dgm:spPr/>
    </dgm:pt>
    <dgm:pt modelId="{6D228A5B-F427-44F1-9CCB-AD9A8C561429}" type="pres">
      <dgm:prSet presAssocID="{ED37ACB0-8FBB-4950-A135-EA338C313E1F}" presName="sibTrans" presStyleCnt="0"/>
      <dgm:spPr/>
    </dgm:pt>
    <dgm:pt modelId="{F8B69B41-D08A-4D31-BF56-574F1EE1ACC7}" type="pres">
      <dgm:prSet presAssocID="{7790B47A-A206-4923-A58D-A13C178088FB}" presName="compNode" presStyleCnt="0"/>
      <dgm:spPr/>
    </dgm:pt>
    <dgm:pt modelId="{1BF96456-58FD-4D67-8367-766DA102D496}" type="pres">
      <dgm:prSet presAssocID="{7790B47A-A206-4923-A58D-A13C178088FB}" presName="bgRect" presStyleLbl="bgShp" presStyleIdx="2" presStyleCnt="4"/>
      <dgm:spPr/>
    </dgm:pt>
    <dgm:pt modelId="{F4C35B7B-52A4-40BD-A6E6-CFC3305770EF}" type="pres">
      <dgm:prSet presAssocID="{7790B47A-A206-4923-A58D-A13C178088F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tor"/>
        </a:ext>
      </dgm:extLst>
    </dgm:pt>
    <dgm:pt modelId="{EEBDADB5-B1B6-4B7F-9555-CBBEF1E7FD3F}" type="pres">
      <dgm:prSet presAssocID="{7790B47A-A206-4923-A58D-A13C178088FB}" presName="spaceRect" presStyleCnt="0"/>
      <dgm:spPr/>
    </dgm:pt>
    <dgm:pt modelId="{D4CDCAD9-3077-46EF-A5E3-69E2340C9E54}" type="pres">
      <dgm:prSet presAssocID="{7790B47A-A206-4923-A58D-A13C178088FB}" presName="parTx" presStyleLbl="revTx" presStyleIdx="3" presStyleCnt="5">
        <dgm:presLayoutVars>
          <dgm:chMax val="0"/>
          <dgm:chPref val="0"/>
        </dgm:presLayoutVars>
      </dgm:prSet>
      <dgm:spPr/>
    </dgm:pt>
    <dgm:pt modelId="{7D40D914-C333-4C80-AACF-8F853737D320}" type="pres">
      <dgm:prSet presAssocID="{5BDA3EDB-998B-4380-B328-DB72DE99DE89}" presName="sibTrans" presStyleCnt="0"/>
      <dgm:spPr/>
    </dgm:pt>
    <dgm:pt modelId="{F08091CD-79BD-4339-B859-BD15AF793A1B}" type="pres">
      <dgm:prSet presAssocID="{35EA034D-C51D-413B-B29A-83B5DAFC0B88}" presName="compNode" presStyleCnt="0"/>
      <dgm:spPr/>
    </dgm:pt>
    <dgm:pt modelId="{BEEF2F1C-1CE0-4D78-B3C6-A4FE0CA8B553}" type="pres">
      <dgm:prSet presAssocID="{35EA034D-C51D-413B-B29A-83B5DAFC0B88}" presName="bgRect" presStyleLbl="bgShp" presStyleIdx="3" presStyleCnt="4"/>
      <dgm:spPr/>
    </dgm:pt>
    <dgm:pt modelId="{4C9B80E6-7FBA-448B-83F7-57871D989E3D}" type="pres">
      <dgm:prSet presAssocID="{35EA034D-C51D-413B-B29A-83B5DAFC0B8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kull"/>
        </a:ext>
      </dgm:extLst>
    </dgm:pt>
    <dgm:pt modelId="{E0AFDC89-8AF6-473D-91E0-5252ED12EAF8}" type="pres">
      <dgm:prSet presAssocID="{35EA034D-C51D-413B-B29A-83B5DAFC0B88}" presName="spaceRect" presStyleCnt="0"/>
      <dgm:spPr/>
    </dgm:pt>
    <dgm:pt modelId="{6E6742E5-6B01-44B2-8D99-7F285114492F}" type="pres">
      <dgm:prSet presAssocID="{35EA034D-C51D-413B-B29A-83B5DAFC0B88}" presName="parTx" presStyleLbl="revTx" presStyleIdx="4" presStyleCnt="5">
        <dgm:presLayoutVars>
          <dgm:chMax val="0"/>
          <dgm:chPref val="0"/>
        </dgm:presLayoutVars>
      </dgm:prSet>
      <dgm:spPr/>
    </dgm:pt>
  </dgm:ptLst>
  <dgm:cxnLst>
    <dgm:cxn modelId="{11138E1B-B4BA-40D2-8FC0-9DBF944BABE1}" srcId="{52C90743-B6EC-4234-B116-6B20B6084528}" destId="{FDBEE460-3214-43B2-B9FD-AA60174A9A74}" srcOrd="2" destOrd="0" parTransId="{63886EA6-AD54-405B-9BCB-E9104236E2CB}" sibTransId="{7EF557E3-A277-4306-AB3B-90E53E93C610}"/>
    <dgm:cxn modelId="{22C5BB24-8E20-477D-8EF9-C1DCAE2FD61F}" srcId="{52C90743-B6EC-4234-B116-6B20B6084528}" destId="{D4FA907F-590F-4088-96FF-4803F966F3DE}" srcOrd="0" destOrd="0" parTransId="{7FE7E999-7FA9-4EFE-943C-37A5E63D25A3}" sibTransId="{39C7037D-B3C7-4050-82C2-CE5CAAC4E398}"/>
    <dgm:cxn modelId="{B1404B35-161F-4CC7-8DF6-52719F05B97C}" srcId="{E5F7D6F8-06FE-4E82-8784-05544487E14A}" destId="{4B3E7AB1-BA96-4ECA-8A25-501FF0B5E32B}" srcOrd="0" destOrd="0" parTransId="{6C323A45-842F-43D1-9379-33BD1DA67FA9}" sibTransId="{94B639F2-6502-455B-8B85-970A7C672257}"/>
    <dgm:cxn modelId="{1846C035-33BD-408D-9ADA-8CD809071CF9}" type="presOf" srcId="{4B3E7AB1-BA96-4ECA-8A25-501FF0B5E32B}" destId="{0BF1EAB1-6865-4271-83EE-1BFF2A6A0F9A}" srcOrd="0" destOrd="0" presId="urn:microsoft.com/office/officeart/2018/2/layout/IconVerticalSolidList"/>
    <dgm:cxn modelId="{C36D383C-07BF-41DA-99F1-324F2FF75D6C}" type="presOf" srcId="{52C90743-B6EC-4234-B116-6B20B6084528}" destId="{77C7F140-0032-442D-93B0-6A9993E43EEF}" srcOrd="0" destOrd="0" presId="urn:microsoft.com/office/officeart/2018/2/layout/IconVerticalSolidList"/>
    <dgm:cxn modelId="{2CD46461-B869-4168-9EF4-0443139365E1}" srcId="{52C90743-B6EC-4234-B116-6B20B6084528}" destId="{BBA90758-B1ED-442F-917C-DA7A9D4D1DC0}" srcOrd="1" destOrd="0" parTransId="{D2984113-7435-41AD-B73F-6B0EBD7BD3F5}" sibTransId="{AB3C064C-FAA8-4FBF-A69B-0E275557B4E8}"/>
    <dgm:cxn modelId="{C1F1DA41-9BB4-4AEE-86D1-F5DE93F0DD3F}" type="presOf" srcId="{7790B47A-A206-4923-A58D-A13C178088FB}" destId="{D4CDCAD9-3077-46EF-A5E3-69E2340C9E54}" srcOrd="0" destOrd="0" presId="urn:microsoft.com/office/officeart/2018/2/layout/IconVerticalSolidList"/>
    <dgm:cxn modelId="{EADA3D66-F300-4C81-AE9B-F8278E9CF306}" srcId="{E5F7D6F8-06FE-4E82-8784-05544487E14A}" destId="{7790B47A-A206-4923-A58D-A13C178088FB}" srcOrd="2" destOrd="0" parTransId="{A23BD72D-CD3E-4DC8-B996-0252A74A8D7D}" sibTransId="{5BDA3EDB-998B-4380-B328-DB72DE99DE89}"/>
    <dgm:cxn modelId="{66849D57-11BE-4144-81DF-593E5B71BF5E}" type="presOf" srcId="{BBA90758-B1ED-442F-917C-DA7A9D4D1DC0}" destId="{4D431F85-A40D-4A06-99A7-140D1E89D4DB}" srcOrd="0" destOrd="1" presId="urn:microsoft.com/office/officeart/2018/2/layout/IconVerticalSolidList"/>
    <dgm:cxn modelId="{C1477279-6F8F-403D-B6A6-29DE2423794D}" type="presOf" srcId="{E5F7D6F8-06FE-4E82-8784-05544487E14A}" destId="{D944EF5D-6ADC-430F-BDD2-5EDEA7420471}" srcOrd="0" destOrd="0" presId="urn:microsoft.com/office/officeart/2018/2/layout/IconVerticalSolidList"/>
    <dgm:cxn modelId="{DE6C575A-88F1-4841-9827-5BF110765AAE}" type="presOf" srcId="{D4FA907F-590F-4088-96FF-4803F966F3DE}" destId="{4D431F85-A40D-4A06-99A7-140D1E89D4DB}" srcOrd="0" destOrd="0" presId="urn:microsoft.com/office/officeart/2018/2/layout/IconVerticalSolidList"/>
    <dgm:cxn modelId="{AB51F19C-3B0E-43D2-8242-79154DC3812B}" type="presOf" srcId="{35EA034D-C51D-413B-B29A-83B5DAFC0B88}" destId="{6E6742E5-6B01-44B2-8D99-7F285114492F}" srcOrd="0" destOrd="0" presId="urn:microsoft.com/office/officeart/2018/2/layout/IconVerticalSolidList"/>
    <dgm:cxn modelId="{0DB90BB1-D354-43F1-9EFC-517DAB41D336}" srcId="{E5F7D6F8-06FE-4E82-8784-05544487E14A}" destId="{52C90743-B6EC-4234-B116-6B20B6084528}" srcOrd="1" destOrd="0" parTransId="{24A38924-6BA2-4D9A-AEE1-2AAF1CA8874F}" sibTransId="{ED37ACB0-8FBB-4950-A135-EA338C313E1F}"/>
    <dgm:cxn modelId="{1732D0DD-4C21-4808-BBAA-38A3CFB119FE}" type="presOf" srcId="{FDBEE460-3214-43B2-B9FD-AA60174A9A74}" destId="{4D431F85-A40D-4A06-99A7-140D1E89D4DB}" srcOrd="0" destOrd="2" presId="urn:microsoft.com/office/officeart/2018/2/layout/IconVerticalSolidList"/>
    <dgm:cxn modelId="{D783B5EF-5146-493E-8A1B-E771D8184E22}" srcId="{E5F7D6F8-06FE-4E82-8784-05544487E14A}" destId="{35EA034D-C51D-413B-B29A-83B5DAFC0B88}" srcOrd="3" destOrd="0" parTransId="{5C52E5F6-36BC-4EFC-8228-3B6E3B4A3F89}" sibTransId="{5C71D6C4-6634-412F-A64D-1C00139090AA}"/>
    <dgm:cxn modelId="{452B8D7C-E8C4-4A76-965F-490EF2A73E77}" type="presParOf" srcId="{D944EF5D-6ADC-430F-BDD2-5EDEA7420471}" destId="{4F9F1B4C-29B9-4B9F-8596-54D872CFCE17}" srcOrd="0" destOrd="0" presId="urn:microsoft.com/office/officeart/2018/2/layout/IconVerticalSolidList"/>
    <dgm:cxn modelId="{112D1019-F72C-49B0-8C75-529723A3AD14}" type="presParOf" srcId="{4F9F1B4C-29B9-4B9F-8596-54D872CFCE17}" destId="{AD8705AB-EC82-44E4-A36E-8EF08155F8DD}" srcOrd="0" destOrd="0" presId="urn:microsoft.com/office/officeart/2018/2/layout/IconVerticalSolidList"/>
    <dgm:cxn modelId="{0AAFAD40-CF1E-41C5-A86A-E7ABE98B96F1}" type="presParOf" srcId="{4F9F1B4C-29B9-4B9F-8596-54D872CFCE17}" destId="{C145479E-95A7-4ADC-982B-9155E5BDB226}" srcOrd="1" destOrd="0" presId="urn:microsoft.com/office/officeart/2018/2/layout/IconVerticalSolidList"/>
    <dgm:cxn modelId="{51F5A308-8D47-475D-B66D-A8F8842AB3CF}" type="presParOf" srcId="{4F9F1B4C-29B9-4B9F-8596-54D872CFCE17}" destId="{39D262CE-2867-4065-A34F-3E263E3CED92}" srcOrd="2" destOrd="0" presId="urn:microsoft.com/office/officeart/2018/2/layout/IconVerticalSolidList"/>
    <dgm:cxn modelId="{DCAE8E2D-30B1-4E9D-868E-57140A89B5B7}" type="presParOf" srcId="{4F9F1B4C-29B9-4B9F-8596-54D872CFCE17}" destId="{0BF1EAB1-6865-4271-83EE-1BFF2A6A0F9A}" srcOrd="3" destOrd="0" presId="urn:microsoft.com/office/officeart/2018/2/layout/IconVerticalSolidList"/>
    <dgm:cxn modelId="{4AEE1014-7084-4260-9A03-BEF15D8EAB67}" type="presParOf" srcId="{D944EF5D-6ADC-430F-BDD2-5EDEA7420471}" destId="{76D9B174-9AD2-4308-BDAC-F431EEF60717}" srcOrd="1" destOrd="0" presId="urn:microsoft.com/office/officeart/2018/2/layout/IconVerticalSolidList"/>
    <dgm:cxn modelId="{9BC2765C-683A-408F-8C51-87917E9A118E}" type="presParOf" srcId="{D944EF5D-6ADC-430F-BDD2-5EDEA7420471}" destId="{C7001002-D40A-41C9-B388-F0796B60B46F}" srcOrd="2" destOrd="0" presId="urn:microsoft.com/office/officeart/2018/2/layout/IconVerticalSolidList"/>
    <dgm:cxn modelId="{868DF385-DD7A-47F6-B995-9DF7B0F921B4}" type="presParOf" srcId="{C7001002-D40A-41C9-B388-F0796B60B46F}" destId="{F4975343-3CD3-4FBF-A0A2-1CFCBEEAD1AD}" srcOrd="0" destOrd="0" presId="urn:microsoft.com/office/officeart/2018/2/layout/IconVerticalSolidList"/>
    <dgm:cxn modelId="{14DBD8CB-E274-4FBB-B6E5-52B5987A6BF4}" type="presParOf" srcId="{C7001002-D40A-41C9-B388-F0796B60B46F}" destId="{9585A349-28D6-4C19-A5A4-D5E53F5EA74B}" srcOrd="1" destOrd="0" presId="urn:microsoft.com/office/officeart/2018/2/layout/IconVerticalSolidList"/>
    <dgm:cxn modelId="{A6CF24F2-5F5B-4E78-9A13-B79303EA2FCB}" type="presParOf" srcId="{C7001002-D40A-41C9-B388-F0796B60B46F}" destId="{45B420AD-937B-4DB0-802D-D75CEB560264}" srcOrd="2" destOrd="0" presId="urn:microsoft.com/office/officeart/2018/2/layout/IconVerticalSolidList"/>
    <dgm:cxn modelId="{D90EEC30-1284-4D72-B2CA-3621DAAAFE46}" type="presParOf" srcId="{C7001002-D40A-41C9-B388-F0796B60B46F}" destId="{77C7F140-0032-442D-93B0-6A9993E43EEF}" srcOrd="3" destOrd="0" presId="urn:microsoft.com/office/officeart/2018/2/layout/IconVerticalSolidList"/>
    <dgm:cxn modelId="{38994A50-3BDA-4466-82F5-70C2B4A76706}" type="presParOf" srcId="{C7001002-D40A-41C9-B388-F0796B60B46F}" destId="{4D431F85-A40D-4A06-99A7-140D1E89D4DB}" srcOrd="4" destOrd="0" presId="urn:microsoft.com/office/officeart/2018/2/layout/IconVerticalSolidList"/>
    <dgm:cxn modelId="{AAAE6BEE-56C2-4444-82DD-3B0276F9DB24}" type="presParOf" srcId="{D944EF5D-6ADC-430F-BDD2-5EDEA7420471}" destId="{6D228A5B-F427-44F1-9CCB-AD9A8C561429}" srcOrd="3" destOrd="0" presId="urn:microsoft.com/office/officeart/2018/2/layout/IconVerticalSolidList"/>
    <dgm:cxn modelId="{88B0BF79-2585-41F3-8CA7-21B3087BE1AB}" type="presParOf" srcId="{D944EF5D-6ADC-430F-BDD2-5EDEA7420471}" destId="{F8B69B41-D08A-4D31-BF56-574F1EE1ACC7}" srcOrd="4" destOrd="0" presId="urn:microsoft.com/office/officeart/2018/2/layout/IconVerticalSolidList"/>
    <dgm:cxn modelId="{4DE0DD89-C9D5-4024-8333-540F7AF69A35}" type="presParOf" srcId="{F8B69B41-D08A-4D31-BF56-574F1EE1ACC7}" destId="{1BF96456-58FD-4D67-8367-766DA102D496}" srcOrd="0" destOrd="0" presId="urn:microsoft.com/office/officeart/2018/2/layout/IconVerticalSolidList"/>
    <dgm:cxn modelId="{5F485AA0-8D22-4FA1-8853-EF4C8D3D10CC}" type="presParOf" srcId="{F8B69B41-D08A-4D31-BF56-574F1EE1ACC7}" destId="{F4C35B7B-52A4-40BD-A6E6-CFC3305770EF}" srcOrd="1" destOrd="0" presId="urn:microsoft.com/office/officeart/2018/2/layout/IconVerticalSolidList"/>
    <dgm:cxn modelId="{D3983A3A-4112-4EBC-9A96-3F6D5F93A3D8}" type="presParOf" srcId="{F8B69B41-D08A-4D31-BF56-574F1EE1ACC7}" destId="{EEBDADB5-B1B6-4B7F-9555-CBBEF1E7FD3F}" srcOrd="2" destOrd="0" presId="urn:microsoft.com/office/officeart/2018/2/layout/IconVerticalSolidList"/>
    <dgm:cxn modelId="{55132217-2756-4851-AA3C-9ACAEFC21B4D}" type="presParOf" srcId="{F8B69B41-D08A-4D31-BF56-574F1EE1ACC7}" destId="{D4CDCAD9-3077-46EF-A5E3-69E2340C9E54}" srcOrd="3" destOrd="0" presId="urn:microsoft.com/office/officeart/2018/2/layout/IconVerticalSolidList"/>
    <dgm:cxn modelId="{84A847AC-26F5-4D29-BD77-CCA208046CC6}" type="presParOf" srcId="{D944EF5D-6ADC-430F-BDD2-5EDEA7420471}" destId="{7D40D914-C333-4C80-AACF-8F853737D320}" srcOrd="5" destOrd="0" presId="urn:microsoft.com/office/officeart/2018/2/layout/IconVerticalSolidList"/>
    <dgm:cxn modelId="{D6D8CB67-8DC6-40D8-B3E4-60DE05DC56B0}" type="presParOf" srcId="{D944EF5D-6ADC-430F-BDD2-5EDEA7420471}" destId="{F08091CD-79BD-4339-B859-BD15AF793A1B}" srcOrd="6" destOrd="0" presId="urn:microsoft.com/office/officeart/2018/2/layout/IconVerticalSolidList"/>
    <dgm:cxn modelId="{7068B263-CFFE-4893-89C2-2236D452667B}" type="presParOf" srcId="{F08091CD-79BD-4339-B859-BD15AF793A1B}" destId="{BEEF2F1C-1CE0-4D78-B3C6-A4FE0CA8B553}" srcOrd="0" destOrd="0" presId="urn:microsoft.com/office/officeart/2018/2/layout/IconVerticalSolidList"/>
    <dgm:cxn modelId="{4F557AE2-59FC-4082-9D6C-2F97069BB45C}" type="presParOf" srcId="{F08091CD-79BD-4339-B859-BD15AF793A1B}" destId="{4C9B80E6-7FBA-448B-83F7-57871D989E3D}" srcOrd="1" destOrd="0" presId="urn:microsoft.com/office/officeart/2018/2/layout/IconVerticalSolidList"/>
    <dgm:cxn modelId="{AE3EE858-07C6-451C-A5BD-ACCFE6D6DF2A}" type="presParOf" srcId="{F08091CD-79BD-4339-B859-BD15AF793A1B}" destId="{E0AFDC89-8AF6-473D-91E0-5252ED12EAF8}" srcOrd="2" destOrd="0" presId="urn:microsoft.com/office/officeart/2018/2/layout/IconVerticalSolidList"/>
    <dgm:cxn modelId="{7810A363-13BC-4D52-A873-5D760D5922D3}" type="presParOf" srcId="{F08091CD-79BD-4339-B859-BD15AF793A1B}" destId="{6E6742E5-6B01-44B2-8D99-7F285114492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705AB-EC82-44E4-A36E-8EF08155F8DD}">
      <dsp:nvSpPr>
        <dsp:cNvPr id="0" name=""/>
        <dsp:cNvSpPr/>
      </dsp:nvSpPr>
      <dsp:spPr>
        <a:xfrm>
          <a:off x="0" y="11318"/>
          <a:ext cx="11468100" cy="12645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5479E-95A7-4ADC-982B-9155E5BDB226}">
      <dsp:nvSpPr>
        <dsp:cNvPr id="0" name=""/>
        <dsp:cNvSpPr/>
      </dsp:nvSpPr>
      <dsp:spPr>
        <a:xfrm>
          <a:off x="382531" y="295845"/>
          <a:ext cx="695511" cy="6955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F1EAB1-6865-4271-83EE-1BFF2A6A0F9A}">
      <dsp:nvSpPr>
        <dsp:cNvPr id="0" name=""/>
        <dsp:cNvSpPr/>
      </dsp:nvSpPr>
      <dsp:spPr>
        <a:xfrm>
          <a:off x="1460573" y="11318"/>
          <a:ext cx="10004669" cy="126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33" tIns="133833" rIns="133833" bIns="133833" numCol="1" spcCol="1270" anchor="ctr" anchorCtr="0">
          <a:noAutofit/>
        </a:bodyPr>
        <a:lstStyle/>
        <a:p>
          <a:pPr marL="0" lvl="0" indent="0" algn="l" defTabSz="977900">
            <a:lnSpc>
              <a:spcPct val="100000"/>
            </a:lnSpc>
            <a:spcBef>
              <a:spcPct val="0"/>
            </a:spcBef>
            <a:spcAft>
              <a:spcPct val="35000"/>
            </a:spcAft>
            <a:buNone/>
          </a:pPr>
          <a:r>
            <a:rPr lang="en-US" sz="2200" kern="1200"/>
            <a:t>Typhoid fever is the result of systemic infection mainly by S. typhi found only in man. </a:t>
          </a:r>
        </a:p>
      </dsp:txBody>
      <dsp:txXfrm>
        <a:off x="1460573" y="11318"/>
        <a:ext cx="10004669" cy="1264565"/>
      </dsp:txXfrm>
    </dsp:sp>
    <dsp:sp modelId="{F4975343-3CD3-4FBF-A0A2-1CFCBEEAD1AD}">
      <dsp:nvSpPr>
        <dsp:cNvPr id="0" name=""/>
        <dsp:cNvSpPr/>
      </dsp:nvSpPr>
      <dsp:spPr>
        <a:xfrm>
          <a:off x="0" y="1610108"/>
          <a:ext cx="11468100" cy="12645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85A349-28D6-4C19-A5A4-D5E53F5EA74B}">
      <dsp:nvSpPr>
        <dsp:cNvPr id="0" name=""/>
        <dsp:cNvSpPr/>
      </dsp:nvSpPr>
      <dsp:spPr>
        <a:xfrm>
          <a:off x="382531" y="1876552"/>
          <a:ext cx="695511" cy="6955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C7F140-0032-442D-93B0-6A9993E43EEF}">
      <dsp:nvSpPr>
        <dsp:cNvPr id="0" name=""/>
        <dsp:cNvSpPr/>
      </dsp:nvSpPr>
      <dsp:spPr>
        <a:xfrm>
          <a:off x="1327177" y="1619163"/>
          <a:ext cx="2224604" cy="126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33" tIns="133833" rIns="133833" bIns="133833" numCol="1" spcCol="1270" anchor="ctr" anchorCtr="0">
          <a:noAutofit/>
        </a:bodyPr>
        <a:lstStyle/>
        <a:p>
          <a:pPr marL="0" lvl="0" indent="0" algn="l" defTabSz="977900">
            <a:lnSpc>
              <a:spcPct val="100000"/>
            </a:lnSpc>
            <a:spcBef>
              <a:spcPct val="0"/>
            </a:spcBef>
            <a:spcAft>
              <a:spcPct val="35000"/>
            </a:spcAft>
            <a:buNone/>
          </a:pPr>
          <a:r>
            <a:rPr lang="en-US" sz="2200" kern="1200" dirty="0"/>
            <a:t>The disease is clinically characterized</a:t>
          </a:r>
        </a:p>
      </dsp:txBody>
      <dsp:txXfrm>
        <a:off x="1327177" y="1619163"/>
        <a:ext cx="2224604" cy="1264565"/>
      </dsp:txXfrm>
    </dsp:sp>
    <dsp:sp modelId="{4D431F85-A40D-4A06-99A7-140D1E89D4DB}">
      <dsp:nvSpPr>
        <dsp:cNvPr id="0" name=""/>
        <dsp:cNvSpPr/>
      </dsp:nvSpPr>
      <dsp:spPr>
        <a:xfrm>
          <a:off x="5161697" y="1583021"/>
          <a:ext cx="5359089" cy="126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33" tIns="133833" rIns="133833" bIns="133833" numCol="1" spcCol="1270" anchor="ctr" anchorCtr="0">
          <a:noAutofit/>
        </a:bodyPr>
        <a:lstStyle/>
        <a:p>
          <a:pPr marL="0" lvl="0" indent="0" algn="l" defTabSz="800100">
            <a:lnSpc>
              <a:spcPct val="100000"/>
            </a:lnSpc>
            <a:spcBef>
              <a:spcPct val="0"/>
            </a:spcBef>
            <a:spcAft>
              <a:spcPct val="35000"/>
            </a:spcAft>
            <a:buNone/>
          </a:pPr>
          <a:r>
            <a:rPr lang="en-US" sz="1800" kern="1200" dirty="0"/>
            <a:t>Typical continuous fever for 3 to 4 weeks,</a:t>
          </a:r>
        </a:p>
        <a:p>
          <a:pPr marL="0" lvl="0" indent="0" algn="l" defTabSz="800100">
            <a:lnSpc>
              <a:spcPct val="100000"/>
            </a:lnSpc>
            <a:spcBef>
              <a:spcPct val="0"/>
            </a:spcBef>
            <a:spcAft>
              <a:spcPct val="35000"/>
            </a:spcAft>
            <a:buNone/>
          </a:pPr>
          <a:r>
            <a:rPr lang="en-US" sz="1800" kern="1200" dirty="0"/>
            <a:t>Relative bradycardia with involvement of lymphoid tissues</a:t>
          </a:r>
        </a:p>
        <a:p>
          <a:pPr marL="0" lvl="0" indent="0" algn="l" defTabSz="800100">
            <a:lnSpc>
              <a:spcPct val="100000"/>
            </a:lnSpc>
            <a:spcBef>
              <a:spcPct val="0"/>
            </a:spcBef>
            <a:spcAft>
              <a:spcPct val="35000"/>
            </a:spcAft>
            <a:buNone/>
          </a:pPr>
          <a:r>
            <a:rPr lang="en-US" sz="1800" kern="1200"/>
            <a:t>Considerable constitutional symptoms. </a:t>
          </a:r>
        </a:p>
      </dsp:txBody>
      <dsp:txXfrm>
        <a:off x="5161697" y="1583021"/>
        <a:ext cx="5359089" cy="1264565"/>
      </dsp:txXfrm>
    </dsp:sp>
    <dsp:sp modelId="{1BF96456-58FD-4D67-8367-766DA102D496}">
      <dsp:nvSpPr>
        <dsp:cNvPr id="0" name=""/>
        <dsp:cNvSpPr/>
      </dsp:nvSpPr>
      <dsp:spPr>
        <a:xfrm>
          <a:off x="0" y="3172732"/>
          <a:ext cx="11468100" cy="12645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35B7B-52A4-40BD-A6E6-CFC3305770EF}">
      <dsp:nvSpPr>
        <dsp:cNvPr id="0" name=""/>
        <dsp:cNvSpPr/>
      </dsp:nvSpPr>
      <dsp:spPr>
        <a:xfrm>
          <a:off x="382531" y="3457259"/>
          <a:ext cx="695511" cy="6955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DCAD9-3077-46EF-A5E3-69E2340C9E54}">
      <dsp:nvSpPr>
        <dsp:cNvPr id="0" name=""/>
        <dsp:cNvSpPr/>
      </dsp:nvSpPr>
      <dsp:spPr>
        <a:xfrm>
          <a:off x="1460573" y="3172732"/>
          <a:ext cx="10004669" cy="126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33" tIns="133833" rIns="133833" bIns="133833" numCol="1" spcCol="1270" anchor="ctr" anchorCtr="0">
          <a:noAutofit/>
        </a:bodyPr>
        <a:lstStyle/>
        <a:p>
          <a:pPr marL="0" lvl="0" indent="0" algn="l" defTabSz="977900">
            <a:lnSpc>
              <a:spcPct val="100000"/>
            </a:lnSpc>
            <a:spcBef>
              <a:spcPct val="0"/>
            </a:spcBef>
            <a:spcAft>
              <a:spcPct val="35000"/>
            </a:spcAft>
            <a:buNone/>
          </a:pPr>
          <a:r>
            <a:rPr lang="en-US" sz="2200" kern="1200"/>
            <a:t>The term “enteric fever” includes both typhoid and paratyphoid fevers. </a:t>
          </a:r>
        </a:p>
      </dsp:txBody>
      <dsp:txXfrm>
        <a:off x="1460573" y="3172732"/>
        <a:ext cx="10004669" cy="1264565"/>
      </dsp:txXfrm>
    </dsp:sp>
    <dsp:sp modelId="{BEEF2F1C-1CE0-4D78-B3C6-A4FE0CA8B553}">
      <dsp:nvSpPr>
        <dsp:cNvPr id="0" name=""/>
        <dsp:cNvSpPr/>
      </dsp:nvSpPr>
      <dsp:spPr>
        <a:xfrm>
          <a:off x="0" y="4753439"/>
          <a:ext cx="11468100" cy="12645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9B80E6-7FBA-448B-83F7-57871D989E3D}">
      <dsp:nvSpPr>
        <dsp:cNvPr id="0" name=""/>
        <dsp:cNvSpPr/>
      </dsp:nvSpPr>
      <dsp:spPr>
        <a:xfrm>
          <a:off x="382531" y="5037967"/>
          <a:ext cx="695511" cy="6955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6742E5-6B01-44B2-8D99-7F285114492F}">
      <dsp:nvSpPr>
        <dsp:cNvPr id="0" name=""/>
        <dsp:cNvSpPr/>
      </dsp:nvSpPr>
      <dsp:spPr>
        <a:xfrm>
          <a:off x="1460573" y="4753439"/>
          <a:ext cx="10004669" cy="126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33" tIns="133833" rIns="133833" bIns="133833" numCol="1" spcCol="1270" anchor="ctr" anchorCtr="0">
          <a:noAutofit/>
        </a:bodyPr>
        <a:lstStyle/>
        <a:p>
          <a:pPr marL="0" lvl="0" indent="0" algn="l" defTabSz="977900">
            <a:lnSpc>
              <a:spcPct val="100000"/>
            </a:lnSpc>
            <a:spcBef>
              <a:spcPct val="0"/>
            </a:spcBef>
            <a:spcAft>
              <a:spcPct val="35000"/>
            </a:spcAft>
            <a:buNone/>
          </a:pPr>
          <a:r>
            <a:rPr lang="en-US" sz="2200" kern="1200"/>
            <a:t>The disease may occur sporadically, epidemically or endemically.</a:t>
          </a:r>
        </a:p>
      </dsp:txBody>
      <dsp:txXfrm>
        <a:off x="1460573" y="4753439"/>
        <a:ext cx="10004669" cy="126456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7D5AF4-14EF-4518-BC5D-78952D2E1309}"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114336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7D5AF4-14EF-4518-BC5D-78952D2E1309}"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2116098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7D5AF4-14EF-4518-BC5D-78952D2E1309}"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3993748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7D5AF4-14EF-4518-BC5D-78952D2E1309}"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30701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7D5AF4-14EF-4518-BC5D-78952D2E1309}" type="datetimeFigureOut">
              <a:rPr lang="en-US" smtClean="0"/>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2076801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7D5AF4-14EF-4518-BC5D-78952D2E1309}" type="datetimeFigureOut">
              <a:rPr lang="en-US" smtClean="0"/>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2242463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7D5AF4-14EF-4518-BC5D-78952D2E1309}" type="datetimeFigureOut">
              <a:rPr lang="en-US" smtClean="0"/>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340816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7D5AF4-14EF-4518-BC5D-78952D2E1309}"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2979945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7D5AF4-14EF-4518-BC5D-78952D2E1309}"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369189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7D5AF4-14EF-4518-BC5D-78952D2E1309}"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2197333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7D5AF4-14EF-4518-BC5D-78952D2E1309}"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6D4BF-209A-49A9-B3D8-2190798EC1C5}" type="slidenum">
              <a:rPr lang="en-US" smtClean="0"/>
              <a:t>‹#›</a:t>
            </a:fld>
            <a:endParaRPr lang="en-US"/>
          </a:p>
        </p:txBody>
      </p:sp>
    </p:spTree>
    <p:extLst>
      <p:ext uri="{BB962C8B-B14F-4D97-AF65-F5344CB8AC3E}">
        <p14:creationId xmlns:p14="http://schemas.microsoft.com/office/powerpoint/2010/main" val="659065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7D5AF4-14EF-4518-BC5D-78952D2E1309}" type="datetimeFigureOut">
              <a:rPr lang="en-US" smtClean="0"/>
              <a:t>12/4/2024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46D4BF-209A-49A9-B3D8-2190798EC1C5}" type="slidenum">
              <a:rPr lang="en-US" smtClean="0"/>
              <a:t>‹#›</a:t>
            </a:fld>
            <a:endParaRPr lang="en-US"/>
          </a:p>
        </p:txBody>
      </p:sp>
    </p:spTree>
    <p:extLst>
      <p:ext uri="{BB962C8B-B14F-4D97-AF65-F5344CB8AC3E}">
        <p14:creationId xmlns:p14="http://schemas.microsoft.com/office/powerpoint/2010/main" val="13563109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D87AB0-1266-4DC8-5992-ADB45915F9F8}"/>
              </a:ext>
            </a:extLst>
          </p:cNvPr>
          <p:cNvSpPr>
            <a:spLocks noGrp="1"/>
          </p:cNvSpPr>
          <p:nvPr>
            <p:ph type="ctrTitle"/>
          </p:nvPr>
        </p:nvSpPr>
        <p:spPr>
          <a:xfrm>
            <a:off x="965200" y="1383528"/>
            <a:ext cx="5925989" cy="3167510"/>
          </a:xfrm>
        </p:spPr>
        <p:txBody>
          <a:bodyPr anchor="b">
            <a:normAutofit/>
          </a:bodyPr>
          <a:lstStyle/>
          <a:p>
            <a:pPr algn="r"/>
            <a:r>
              <a:rPr lang="en-US" sz="9600"/>
              <a:t>Typhoid fever</a:t>
            </a:r>
          </a:p>
        </p:txBody>
      </p:sp>
      <p:sp>
        <p:nvSpPr>
          <p:cNvPr id="4" name="Subtitle 3">
            <a:extLst>
              <a:ext uri="{FF2B5EF4-FFF2-40B4-BE49-F238E27FC236}">
                <a16:creationId xmlns:a16="http://schemas.microsoft.com/office/drawing/2014/main" id="{542493E2-B584-322E-A937-82EF6E63E9D1}"/>
              </a:ext>
            </a:extLst>
          </p:cNvPr>
          <p:cNvSpPr>
            <a:spLocks noGrp="1"/>
          </p:cNvSpPr>
          <p:nvPr>
            <p:ph type="subTitle" idx="1"/>
          </p:nvPr>
        </p:nvSpPr>
        <p:spPr>
          <a:xfrm>
            <a:off x="965201" y="4582814"/>
            <a:ext cx="5925987" cy="1312657"/>
          </a:xfrm>
        </p:spPr>
        <p:txBody>
          <a:bodyPr anchor="t">
            <a:normAutofit/>
          </a:bodyPr>
          <a:lstStyle/>
          <a:p>
            <a:pPr algn="r"/>
            <a:endParaRPr lang="en-US"/>
          </a:p>
        </p:txBody>
      </p:sp>
      <p:pic>
        <p:nvPicPr>
          <p:cNvPr id="8" name="Graphic 7" descr="Stethoscope">
            <a:extLst>
              <a:ext uri="{FF2B5EF4-FFF2-40B4-BE49-F238E27FC236}">
                <a16:creationId xmlns:a16="http://schemas.microsoft.com/office/drawing/2014/main" id="{3507F85D-28AD-B13F-6C9D-EB467E358F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99140" y="2209474"/>
            <a:ext cx="2489416" cy="2489416"/>
          </a:xfrm>
          <a:prstGeom prst="rect">
            <a:avLst/>
          </a:prstGeom>
        </p:spPr>
      </p:pic>
    </p:spTree>
    <p:extLst>
      <p:ext uri="{BB962C8B-B14F-4D97-AF65-F5344CB8AC3E}">
        <p14:creationId xmlns:p14="http://schemas.microsoft.com/office/powerpoint/2010/main" val="115456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66265971-899C-3BA7-FFC1-E8FEE6F98ED5}"/>
              </a:ext>
            </a:extLst>
          </p:cNvPr>
          <p:cNvGraphicFramePr>
            <a:graphicFrameLocks noGrp="1"/>
          </p:cNvGraphicFramePr>
          <p:nvPr>
            <p:ph idx="1"/>
            <p:extLst>
              <p:ext uri="{D42A27DB-BD31-4B8C-83A1-F6EECF244321}">
                <p14:modId xmlns:p14="http://schemas.microsoft.com/office/powerpoint/2010/main" val="2470230671"/>
              </p:ext>
            </p:extLst>
          </p:nvPr>
        </p:nvGraphicFramePr>
        <p:xfrm>
          <a:off x="238125" y="247651"/>
          <a:ext cx="11468100" cy="602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5095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B963-8D2B-514D-EB40-01DCACF97D5B}"/>
              </a:ext>
            </a:extLst>
          </p:cNvPr>
          <p:cNvSpPr>
            <a:spLocks noGrp="1"/>
          </p:cNvSpPr>
          <p:nvPr>
            <p:ph type="title"/>
          </p:nvPr>
        </p:nvSpPr>
        <p:spPr/>
        <p:txBody>
          <a:bodyPr/>
          <a:lstStyle/>
          <a:p>
            <a:r>
              <a:rPr lang="en-US" dirty="0"/>
              <a:t>Agent</a:t>
            </a:r>
          </a:p>
        </p:txBody>
      </p:sp>
      <p:sp>
        <p:nvSpPr>
          <p:cNvPr id="3" name="Content Placeholder 2">
            <a:extLst>
              <a:ext uri="{FF2B5EF4-FFF2-40B4-BE49-F238E27FC236}">
                <a16:creationId xmlns:a16="http://schemas.microsoft.com/office/drawing/2014/main" id="{85EA781E-F662-9DD6-6C97-0C64F5D49B6A}"/>
              </a:ext>
            </a:extLst>
          </p:cNvPr>
          <p:cNvSpPr>
            <a:spLocks noGrp="1"/>
          </p:cNvSpPr>
          <p:nvPr>
            <p:ph idx="1"/>
          </p:nvPr>
        </p:nvSpPr>
        <p:spPr>
          <a:xfrm>
            <a:off x="2589212" y="1422400"/>
            <a:ext cx="8915400" cy="4488822"/>
          </a:xfrm>
        </p:spPr>
        <p:txBody>
          <a:bodyPr>
            <a:normAutofit/>
          </a:bodyPr>
          <a:lstStyle/>
          <a:p>
            <a:r>
              <a:rPr lang="en-US" sz="2400" dirty="0"/>
              <a:t>S. typhi is the major cause of enteric fever.</a:t>
            </a:r>
          </a:p>
          <a:p>
            <a:r>
              <a:rPr lang="en-US" sz="2400" dirty="0"/>
              <a:t>S. para A and S. para B are relatively infrequent. </a:t>
            </a:r>
          </a:p>
          <a:p>
            <a:r>
              <a:rPr lang="en-US" sz="2400" dirty="0"/>
              <a:t>S. typhi has three main antigens - O, H and Vi and a number of phage types (at least 80). </a:t>
            </a:r>
          </a:p>
          <a:p>
            <a:r>
              <a:rPr lang="en-US" sz="2400" dirty="0"/>
              <a:t>Phage typing has proved a useful epidemiological tool in tracing the source of epidemics.</a:t>
            </a:r>
          </a:p>
          <a:p>
            <a:r>
              <a:rPr lang="en-US" sz="2400" dirty="0"/>
              <a:t>S. typhi survives intracellularly in the tissues of various organs. </a:t>
            </a:r>
          </a:p>
          <a:p>
            <a:r>
              <a:rPr lang="en-US" sz="2400" dirty="0"/>
              <a:t>It is readily killed by drying, pasteurization, and common disinfectants. </a:t>
            </a:r>
          </a:p>
          <a:p>
            <a:r>
              <a:rPr lang="en-US" sz="2400" dirty="0"/>
              <a:t>The factors which influence the onset of typhoid fever in man are the infecting dose and virulence of the organism.</a:t>
            </a:r>
          </a:p>
        </p:txBody>
      </p:sp>
    </p:spTree>
    <p:extLst>
      <p:ext uri="{BB962C8B-B14F-4D97-AF65-F5344CB8AC3E}">
        <p14:creationId xmlns:p14="http://schemas.microsoft.com/office/powerpoint/2010/main" val="33024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3193-C3D3-DAB6-1536-1C55A40CD051}"/>
              </a:ext>
            </a:extLst>
          </p:cNvPr>
          <p:cNvSpPr>
            <a:spLocks noGrp="1"/>
          </p:cNvSpPr>
          <p:nvPr>
            <p:ph type="title"/>
          </p:nvPr>
        </p:nvSpPr>
        <p:spPr>
          <a:xfrm>
            <a:off x="2592925" y="624110"/>
            <a:ext cx="8911687" cy="682176"/>
          </a:xfrm>
        </p:spPr>
        <p:txBody>
          <a:bodyPr>
            <a:normAutofit fontScale="90000"/>
          </a:bodyPr>
          <a:lstStyle/>
          <a:p>
            <a:r>
              <a:rPr lang="en-US" dirty="0"/>
              <a:t>Reservoir </a:t>
            </a:r>
          </a:p>
        </p:txBody>
      </p:sp>
      <p:sp>
        <p:nvSpPr>
          <p:cNvPr id="3" name="Content Placeholder 2">
            <a:extLst>
              <a:ext uri="{FF2B5EF4-FFF2-40B4-BE49-F238E27FC236}">
                <a16:creationId xmlns:a16="http://schemas.microsoft.com/office/drawing/2014/main" id="{B1552D98-8230-DD44-DD67-48B611F7A74E}"/>
              </a:ext>
            </a:extLst>
          </p:cNvPr>
          <p:cNvSpPr>
            <a:spLocks noGrp="1"/>
          </p:cNvSpPr>
          <p:nvPr>
            <p:ph idx="1"/>
          </p:nvPr>
        </p:nvSpPr>
        <p:spPr>
          <a:xfrm>
            <a:off x="361950" y="1422400"/>
            <a:ext cx="11142662" cy="4488822"/>
          </a:xfrm>
        </p:spPr>
        <p:txBody>
          <a:bodyPr>
            <a:normAutofit fontScale="70000" lnSpcReduction="20000"/>
          </a:bodyPr>
          <a:lstStyle/>
          <a:p>
            <a:r>
              <a:rPr lang="en-US" dirty="0"/>
              <a:t>(</a:t>
            </a:r>
            <a:r>
              <a:rPr lang="en-US" dirty="0" err="1"/>
              <a:t>i</a:t>
            </a:r>
            <a:r>
              <a:rPr lang="en-US" dirty="0"/>
              <a:t>) CASES : The case may be mild, missed or severe. A case (or carrier) is infectious as long as bacilli appear in stools or urine,</a:t>
            </a:r>
          </a:p>
          <a:p>
            <a:r>
              <a:rPr lang="en-US" dirty="0"/>
              <a:t>(ii) CARRIERS : The carriers may be temporary (incubatory, convalescent) or chronic. </a:t>
            </a:r>
          </a:p>
          <a:p>
            <a:r>
              <a:rPr lang="en-US" dirty="0"/>
              <a:t>Convalescent carriers excrete the bacilli for 6 to 8 weeks, after which their numbers diminish rapidly. </a:t>
            </a:r>
          </a:p>
          <a:p>
            <a:r>
              <a:rPr lang="en-US" dirty="0"/>
              <a:t>By the end of three months, not more than 4 per cent of cases are still excreting the organisms; and by the end of one year, the average carrier rate is around 3 per cent, </a:t>
            </a:r>
          </a:p>
          <a:p>
            <a:r>
              <a:rPr lang="en-US" dirty="0"/>
              <a:t>Persons who excrete the bacilli for more than a year after a clinical attack are called chronic carriers. In most chronic carriers, the organisms persist in the gall bladder and in the biliary tract. </a:t>
            </a:r>
          </a:p>
          <a:p>
            <a:r>
              <a:rPr lang="en-US" dirty="0"/>
              <a:t>A chronic carrier state may be expected to develop in 2 to 5 per cent of cases. </a:t>
            </a:r>
          </a:p>
          <a:p>
            <a:r>
              <a:rPr lang="en-US" dirty="0"/>
              <a:t>A chronic carrier may excrete the bacilli for several years (may be as long as 50 years) either continuously or intermittently. The famous case of “Typhoid Mary” who gave rise to more than 1300 cases in her life time is a good example of a chronic carrier. </a:t>
            </a:r>
          </a:p>
          <a:p>
            <a:r>
              <a:rPr lang="en-US" dirty="0" err="1"/>
              <a:t>Faecal</a:t>
            </a:r>
            <a:r>
              <a:rPr lang="en-US" dirty="0"/>
              <a:t> carriers are more frequent than urinary carriers. Chronic urinary carrier state is often associated with some abnormality of the urinary tract.</a:t>
            </a:r>
          </a:p>
        </p:txBody>
      </p:sp>
    </p:spTree>
    <p:extLst>
      <p:ext uri="{BB962C8B-B14F-4D97-AF65-F5344CB8AC3E}">
        <p14:creationId xmlns:p14="http://schemas.microsoft.com/office/powerpoint/2010/main" val="151546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C168-FA30-48B1-85AC-356A7FE03CDD}"/>
              </a:ext>
            </a:extLst>
          </p:cNvPr>
          <p:cNvSpPr>
            <a:spLocks noGrp="1"/>
          </p:cNvSpPr>
          <p:nvPr>
            <p:ph type="title"/>
          </p:nvPr>
        </p:nvSpPr>
        <p:spPr/>
        <p:txBody>
          <a:bodyPr/>
          <a:lstStyle/>
          <a:p>
            <a:r>
              <a:rPr lang="en-US" dirty="0"/>
              <a:t>Source of infection</a:t>
            </a:r>
          </a:p>
        </p:txBody>
      </p:sp>
      <p:sp>
        <p:nvSpPr>
          <p:cNvPr id="3" name="Content Placeholder 2">
            <a:extLst>
              <a:ext uri="{FF2B5EF4-FFF2-40B4-BE49-F238E27FC236}">
                <a16:creationId xmlns:a16="http://schemas.microsoft.com/office/drawing/2014/main" id="{90CDD70B-A7B9-D38D-AF9B-B0C97542E0BB}"/>
              </a:ext>
            </a:extLst>
          </p:cNvPr>
          <p:cNvSpPr>
            <a:spLocks noGrp="1"/>
          </p:cNvSpPr>
          <p:nvPr>
            <p:ph idx="1"/>
          </p:nvPr>
        </p:nvSpPr>
        <p:spPr>
          <a:xfrm>
            <a:off x="2589212" y="1701800"/>
            <a:ext cx="8915400" cy="4209422"/>
          </a:xfrm>
        </p:spPr>
        <p:txBody>
          <a:bodyPr>
            <a:normAutofit/>
          </a:bodyPr>
          <a:lstStyle/>
          <a:p>
            <a:r>
              <a:rPr lang="en-US" sz="2800" dirty="0"/>
              <a:t>The primary sources of infection are </a:t>
            </a:r>
            <a:r>
              <a:rPr lang="en-US" sz="2800" dirty="0" err="1"/>
              <a:t>faeces</a:t>
            </a:r>
            <a:r>
              <a:rPr lang="en-US" sz="2800" dirty="0"/>
              <a:t> and urine of cases or carriers; </a:t>
            </a:r>
          </a:p>
          <a:p>
            <a:r>
              <a:rPr lang="en-US" sz="2800" dirty="0"/>
              <a:t>The secondary sources contaminated water, food, fingers and flies. </a:t>
            </a:r>
          </a:p>
          <a:p>
            <a:r>
              <a:rPr lang="en-US" sz="2800" dirty="0"/>
              <a:t>There is no evidence that typhoid bacilli are excreted in sputum or milk.</a:t>
            </a:r>
          </a:p>
        </p:txBody>
      </p:sp>
    </p:spTree>
    <p:extLst>
      <p:ext uri="{BB962C8B-B14F-4D97-AF65-F5344CB8AC3E}">
        <p14:creationId xmlns:p14="http://schemas.microsoft.com/office/powerpoint/2010/main" val="3456896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966E-8ECA-2403-4627-B501F94E57E0}"/>
              </a:ext>
            </a:extLst>
          </p:cNvPr>
          <p:cNvSpPr>
            <a:spLocks noGrp="1"/>
          </p:cNvSpPr>
          <p:nvPr>
            <p:ph type="title"/>
          </p:nvPr>
        </p:nvSpPr>
        <p:spPr/>
        <p:txBody>
          <a:bodyPr/>
          <a:lstStyle/>
          <a:p>
            <a:r>
              <a:rPr lang="en-US" dirty="0"/>
              <a:t>Host factors</a:t>
            </a:r>
          </a:p>
        </p:txBody>
      </p:sp>
      <p:sp>
        <p:nvSpPr>
          <p:cNvPr id="3" name="Content Placeholder 2">
            <a:extLst>
              <a:ext uri="{FF2B5EF4-FFF2-40B4-BE49-F238E27FC236}">
                <a16:creationId xmlns:a16="http://schemas.microsoft.com/office/drawing/2014/main" id="{16417829-4537-615B-DF81-94D88265F153}"/>
              </a:ext>
            </a:extLst>
          </p:cNvPr>
          <p:cNvSpPr>
            <a:spLocks noGrp="1"/>
          </p:cNvSpPr>
          <p:nvPr>
            <p:ph idx="1"/>
          </p:nvPr>
        </p:nvSpPr>
        <p:spPr>
          <a:xfrm>
            <a:off x="838200" y="1549400"/>
            <a:ext cx="10515600" cy="4627563"/>
          </a:xfrm>
        </p:spPr>
        <p:txBody>
          <a:bodyPr>
            <a:normAutofit fontScale="70000" lnSpcReduction="20000"/>
          </a:bodyPr>
          <a:lstStyle/>
          <a:p>
            <a:r>
              <a:rPr lang="en-US" dirty="0"/>
              <a:t>Age : Typhoid fever-may occur at any age. </a:t>
            </a:r>
          </a:p>
          <a:p>
            <a:pPr lvl="1"/>
            <a:r>
              <a:rPr lang="en-US" dirty="0"/>
              <a:t>Highest incidence of this disease occurs in the 5-19 years of age group. </a:t>
            </a:r>
          </a:p>
          <a:p>
            <a:pPr lvl="1"/>
            <a:r>
              <a:rPr lang="en-US" dirty="0"/>
              <a:t>In some of these areas, pre-school-age children less than 5 years show incidence rates similar to those of school-age children.</a:t>
            </a:r>
          </a:p>
          <a:p>
            <a:pPr lvl="1"/>
            <a:r>
              <a:rPr lang="en-US" dirty="0"/>
              <a:t>After the age of 20 years the incidence falls probably due to acquisition of immunity from clinical or subclinical infection</a:t>
            </a:r>
          </a:p>
          <a:p>
            <a:r>
              <a:rPr lang="en-US" dirty="0"/>
              <a:t>Sex : </a:t>
            </a:r>
          </a:p>
          <a:p>
            <a:pPr lvl="1"/>
            <a:r>
              <a:rPr lang="en-US" dirty="0"/>
              <a:t>More cases are reported among males than females, probably as a result of increased exposure to infection. </a:t>
            </a:r>
          </a:p>
          <a:p>
            <a:pPr lvl="1"/>
            <a:r>
              <a:rPr lang="en-US" dirty="0"/>
              <a:t>But carrier rate is more in females, </a:t>
            </a:r>
          </a:p>
          <a:p>
            <a:r>
              <a:rPr lang="en-US" dirty="0"/>
              <a:t>Immunity-</a:t>
            </a:r>
          </a:p>
          <a:p>
            <a:pPr lvl="1"/>
            <a:r>
              <a:rPr lang="en-US" dirty="0"/>
              <a:t>Antibody to the somatic antigen (O) is usually higher in the patient with the disease, and the antibody to the flagellar antigen(H) is usually higher in immunized individuals.</a:t>
            </a:r>
          </a:p>
          <a:p>
            <a:pPr lvl="1"/>
            <a:r>
              <a:rPr lang="en-US" dirty="0"/>
              <a:t>Serum antibodies are not the primary </a:t>
            </a:r>
            <a:r>
              <a:rPr lang="en-US" dirty="0" err="1"/>
              <a:t>defences</a:t>
            </a:r>
            <a:r>
              <a:rPr lang="en-US" dirty="0"/>
              <a:t> against infection; S. typhi being an intracellular organism, cell-mediated immunity plays a major role in combating the infection. </a:t>
            </a:r>
          </a:p>
          <a:p>
            <a:pPr lvl="1"/>
            <a:r>
              <a:rPr lang="en-US" dirty="0"/>
              <a:t>Natural typhoid fever does not always confer solid Immunity.</a:t>
            </a:r>
          </a:p>
          <a:p>
            <a:pPr lvl="1"/>
            <a:r>
              <a:rPr lang="en-US" dirty="0"/>
              <a:t>Among the host factors that contribute to resistance to S. typhi are gastric acidity and local intestinal immunity.</a:t>
            </a:r>
          </a:p>
        </p:txBody>
      </p:sp>
    </p:spTree>
    <p:extLst>
      <p:ext uri="{BB962C8B-B14F-4D97-AF65-F5344CB8AC3E}">
        <p14:creationId xmlns:p14="http://schemas.microsoft.com/office/powerpoint/2010/main" val="363016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D3A8D-B1B7-CC3D-9175-24EC9F3248E3}"/>
              </a:ext>
            </a:extLst>
          </p:cNvPr>
          <p:cNvSpPr>
            <a:spLocks noGrp="1"/>
          </p:cNvSpPr>
          <p:nvPr>
            <p:ph type="title"/>
          </p:nvPr>
        </p:nvSpPr>
        <p:spPr/>
        <p:txBody>
          <a:bodyPr/>
          <a:lstStyle/>
          <a:p>
            <a:r>
              <a:rPr lang="en-US" dirty="0"/>
              <a:t>Environmental factors</a:t>
            </a:r>
          </a:p>
        </p:txBody>
      </p:sp>
      <p:sp>
        <p:nvSpPr>
          <p:cNvPr id="3" name="Content Placeholder 2">
            <a:extLst>
              <a:ext uri="{FF2B5EF4-FFF2-40B4-BE49-F238E27FC236}">
                <a16:creationId xmlns:a16="http://schemas.microsoft.com/office/drawing/2014/main" id="{4A8EDB0E-7502-B63F-D9D2-58BB3C3D0CCB}"/>
              </a:ext>
            </a:extLst>
          </p:cNvPr>
          <p:cNvSpPr>
            <a:spLocks noGrp="1"/>
          </p:cNvSpPr>
          <p:nvPr>
            <p:ph idx="1"/>
          </p:nvPr>
        </p:nvSpPr>
        <p:spPr/>
        <p:txBody>
          <a:bodyPr>
            <a:normAutofit fontScale="85000" lnSpcReduction="20000"/>
          </a:bodyPr>
          <a:lstStyle/>
          <a:p>
            <a:r>
              <a:rPr lang="en-US" dirty="0"/>
              <a:t>Peaks in rainy season (July to September)</a:t>
            </a:r>
          </a:p>
          <a:p>
            <a:r>
              <a:rPr lang="en-US" dirty="0"/>
              <a:t>Typhoid bacilli do not multiply in water; many of them perish within 48 hours, but some may survive for about 7 days. </a:t>
            </a:r>
          </a:p>
          <a:p>
            <a:r>
              <a:rPr lang="en-US" dirty="0"/>
              <a:t>They may survive for over a month in ice and ice-cream. </a:t>
            </a:r>
          </a:p>
          <a:p>
            <a:r>
              <a:rPr lang="en-US" dirty="0"/>
              <a:t>They may survive for up to 70 days in soil irrigated with sewage under moist winter conditions, and for half that period under drier summer conditions</a:t>
            </a:r>
          </a:p>
          <a:p>
            <a:r>
              <a:rPr lang="en-US" dirty="0"/>
              <a:t>Typhoid bacilli grow rapidly in milk without altering its taste or appearance in anyway.</a:t>
            </a:r>
          </a:p>
          <a:p>
            <a:r>
              <a:rPr lang="en-US" dirty="0"/>
              <a:t>Compounded by such social factors as pollution of drinking water supplies, open air defecation and urination, low standards of food and personal hygiene and health ignorance. </a:t>
            </a:r>
          </a:p>
          <a:p>
            <a:r>
              <a:rPr lang="en-US" dirty="0"/>
              <a:t>Typhoid fever may therefore be regarded as an index of general sanitation in any country.</a:t>
            </a:r>
          </a:p>
        </p:txBody>
      </p:sp>
    </p:spTree>
    <p:extLst>
      <p:ext uri="{BB962C8B-B14F-4D97-AF65-F5344CB8AC3E}">
        <p14:creationId xmlns:p14="http://schemas.microsoft.com/office/powerpoint/2010/main" val="3582842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0AEF4-ABB8-4D2E-D6A1-B17F15A9EA9F}"/>
              </a:ext>
            </a:extLst>
          </p:cNvPr>
          <p:cNvSpPr>
            <a:spLocks noGrp="1"/>
          </p:cNvSpPr>
          <p:nvPr>
            <p:ph type="title"/>
          </p:nvPr>
        </p:nvSpPr>
        <p:spPr>
          <a:xfrm>
            <a:off x="630936" y="639520"/>
            <a:ext cx="3429000" cy="1719072"/>
          </a:xfrm>
        </p:spPr>
        <p:txBody>
          <a:bodyPr anchor="b">
            <a:normAutofit/>
          </a:bodyPr>
          <a:lstStyle/>
          <a:p>
            <a:r>
              <a:rPr lang="en-US" sz="5000"/>
              <a:t>Modes of transmission</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39F28A-1549-7236-F63C-DBF6981B89AF}"/>
              </a:ext>
            </a:extLst>
          </p:cNvPr>
          <p:cNvSpPr>
            <a:spLocks noGrp="1"/>
          </p:cNvSpPr>
          <p:nvPr>
            <p:ph idx="1"/>
          </p:nvPr>
        </p:nvSpPr>
        <p:spPr>
          <a:xfrm>
            <a:off x="630936" y="2807208"/>
            <a:ext cx="3429000" cy="3410712"/>
          </a:xfrm>
        </p:spPr>
        <p:txBody>
          <a:bodyPr anchor="t">
            <a:normAutofit/>
          </a:bodyPr>
          <a:lstStyle/>
          <a:p>
            <a:r>
              <a:rPr lang="en-US" sz="2200"/>
              <a:t>Faeco-oral and Urine-oral route</a:t>
            </a:r>
          </a:p>
          <a:p>
            <a:r>
              <a:rPr lang="en-US" sz="2200"/>
              <a:t>Direct transmission – contaminated hands</a:t>
            </a:r>
          </a:p>
          <a:p>
            <a:r>
              <a:rPr lang="en-US" sz="2200"/>
              <a:t>Indirect transmission – contaminated foods and water, flies</a:t>
            </a:r>
          </a:p>
        </p:txBody>
      </p:sp>
      <p:pic>
        <p:nvPicPr>
          <p:cNvPr id="5" name="Picture 4" descr="A diagram of food and water&#10;&#10;Description automatically generated">
            <a:extLst>
              <a:ext uri="{FF2B5EF4-FFF2-40B4-BE49-F238E27FC236}">
                <a16:creationId xmlns:a16="http://schemas.microsoft.com/office/drawing/2014/main" id="{83B1C28D-B481-3036-CCA1-153FD11752D9}"/>
              </a:ext>
            </a:extLst>
          </p:cNvPr>
          <p:cNvPicPr>
            <a:picLocks noChangeAspect="1"/>
          </p:cNvPicPr>
          <p:nvPr/>
        </p:nvPicPr>
        <p:blipFill>
          <a:blip r:embed="rId2">
            <a:grayscl/>
          </a:blip>
          <a:stretch>
            <a:fillRect/>
          </a:stretch>
        </p:blipFill>
        <p:spPr>
          <a:xfrm>
            <a:off x="4654296" y="1642663"/>
            <a:ext cx="6903720" cy="3572674"/>
          </a:xfrm>
          <a:prstGeom prst="rect">
            <a:avLst/>
          </a:prstGeom>
        </p:spPr>
      </p:pic>
    </p:spTree>
    <p:extLst>
      <p:ext uri="{BB962C8B-B14F-4D97-AF65-F5344CB8AC3E}">
        <p14:creationId xmlns:p14="http://schemas.microsoft.com/office/powerpoint/2010/main" val="396341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A3B9-DA46-77FF-14B3-1B1E03A19565}"/>
              </a:ext>
            </a:extLst>
          </p:cNvPr>
          <p:cNvSpPr>
            <a:spLocks noGrp="1"/>
          </p:cNvSpPr>
          <p:nvPr>
            <p:ph type="title"/>
          </p:nvPr>
        </p:nvSpPr>
        <p:spPr/>
        <p:txBody>
          <a:bodyPr/>
          <a:lstStyle/>
          <a:p>
            <a:r>
              <a:rPr lang="en-US" dirty="0"/>
              <a:t>Incubation period</a:t>
            </a:r>
          </a:p>
        </p:txBody>
      </p:sp>
      <p:sp>
        <p:nvSpPr>
          <p:cNvPr id="3" name="Content Placeholder 2">
            <a:extLst>
              <a:ext uri="{FF2B5EF4-FFF2-40B4-BE49-F238E27FC236}">
                <a16:creationId xmlns:a16="http://schemas.microsoft.com/office/drawing/2014/main" id="{0F68A0EE-7533-B78D-9265-6C0F5C39E72D}"/>
              </a:ext>
            </a:extLst>
          </p:cNvPr>
          <p:cNvSpPr>
            <a:spLocks noGrp="1"/>
          </p:cNvSpPr>
          <p:nvPr>
            <p:ph idx="1"/>
          </p:nvPr>
        </p:nvSpPr>
        <p:spPr/>
        <p:txBody>
          <a:bodyPr/>
          <a:lstStyle/>
          <a:p>
            <a:r>
              <a:rPr lang="en-US" dirty="0"/>
              <a:t>10 – 14 days</a:t>
            </a:r>
          </a:p>
          <a:p>
            <a:r>
              <a:rPr lang="en-US" dirty="0"/>
              <a:t>May be as short as 3 days or as long as 3 weeks</a:t>
            </a:r>
          </a:p>
        </p:txBody>
      </p:sp>
    </p:spTree>
    <p:extLst>
      <p:ext uri="{BB962C8B-B14F-4D97-AF65-F5344CB8AC3E}">
        <p14:creationId xmlns:p14="http://schemas.microsoft.com/office/powerpoint/2010/main" val="2103516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06B64-0613-CE14-D87A-161BA021E392}"/>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AE349F30-572C-30C1-05B2-3AC571E35B84}"/>
              </a:ext>
            </a:extLst>
          </p:cNvPr>
          <p:cNvSpPr>
            <a:spLocks noGrp="1"/>
          </p:cNvSpPr>
          <p:nvPr>
            <p:ph idx="1"/>
          </p:nvPr>
        </p:nvSpPr>
        <p:spPr/>
        <p:txBody>
          <a:bodyPr>
            <a:normAutofit fontScale="85000" lnSpcReduction="10000"/>
          </a:bodyPr>
          <a:lstStyle/>
          <a:p>
            <a:r>
              <a:rPr lang="en-US" dirty="0"/>
              <a:t>Insidious onset (may be abrupt in children with chills and high fever)</a:t>
            </a:r>
          </a:p>
          <a:p>
            <a:r>
              <a:rPr lang="en-US" dirty="0"/>
              <a:t>Prodromal stage – malaise, headache, cough and sore throat associated with abdominal pain and constipation</a:t>
            </a:r>
          </a:p>
          <a:p>
            <a:r>
              <a:rPr lang="en-US" dirty="0"/>
              <a:t>Fever – step ladder pattern</a:t>
            </a:r>
          </a:p>
          <a:p>
            <a:pPr lvl="1"/>
            <a:r>
              <a:rPr lang="en-US" dirty="0"/>
              <a:t>After 7 – 10 days, fever reaches plateau and patient looks toxic, (exhausted and often prostrated)</a:t>
            </a:r>
          </a:p>
          <a:p>
            <a:r>
              <a:rPr lang="en-US" dirty="0"/>
              <a:t>Marked constipation or pea soup diarrhea (khaki green slimy stools)</a:t>
            </a:r>
          </a:p>
          <a:p>
            <a:r>
              <a:rPr lang="en-US" dirty="0"/>
              <a:t>Marked abdominal distension</a:t>
            </a:r>
          </a:p>
          <a:p>
            <a:r>
              <a:rPr lang="en-US" dirty="0"/>
              <a:t>There is leukopenia and blood, urine and stool culture is positive for salmonella. </a:t>
            </a:r>
          </a:p>
          <a:p>
            <a:r>
              <a:rPr lang="en-US" dirty="0"/>
              <a:t>If there are no complications the patients condition improves over 7-10 days. </a:t>
            </a:r>
          </a:p>
          <a:p>
            <a:r>
              <a:rPr lang="en-US" dirty="0"/>
              <a:t>However, relapse may occur for </a:t>
            </a:r>
            <a:r>
              <a:rPr lang="en-US" dirty="0" err="1"/>
              <a:t>upto</a:t>
            </a:r>
            <a:r>
              <a:rPr lang="en-US" dirty="0"/>
              <a:t> 2 weeks after termination of therapy.</a:t>
            </a:r>
          </a:p>
        </p:txBody>
      </p:sp>
    </p:spTree>
    <p:extLst>
      <p:ext uri="{BB962C8B-B14F-4D97-AF65-F5344CB8AC3E}">
        <p14:creationId xmlns:p14="http://schemas.microsoft.com/office/powerpoint/2010/main" val="3053514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735F1-888E-251C-D31F-3FE55978C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D7304-B6BE-2E99-AF98-A10F4394E117}"/>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914C1D43-C8AF-4693-9686-03AFD57CF3F1}"/>
              </a:ext>
            </a:extLst>
          </p:cNvPr>
          <p:cNvSpPr>
            <a:spLocks noGrp="1"/>
          </p:cNvSpPr>
          <p:nvPr>
            <p:ph idx="1"/>
          </p:nvPr>
        </p:nvSpPr>
        <p:spPr/>
        <p:txBody>
          <a:bodyPr>
            <a:normAutofit/>
          </a:bodyPr>
          <a:lstStyle/>
          <a:p>
            <a:r>
              <a:rPr lang="en-US" dirty="0"/>
              <a:t>Later</a:t>
            </a:r>
          </a:p>
          <a:p>
            <a:r>
              <a:rPr lang="en-US" dirty="0"/>
              <a:t>Splenomegaly, abdominal distension and tenderness, relative bradycardia, dicrotic pulse, and occasionally </a:t>
            </a:r>
            <a:r>
              <a:rPr lang="en-US" dirty="0" err="1"/>
              <a:t>meningismus</a:t>
            </a:r>
            <a:r>
              <a:rPr lang="en-US" dirty="0"/>
              <a:t> appear. </a:t>
            </a:r>
          </a:p>
          <a:p>
            <a:r>
              <a:rPr lang="en-US" dirty="0"/>
              <a:t>The rash (rose spots) commonly appears during the second week of disease. </a:t>
            </a:r>
          </a:p>
          <a:p>
            <a:r>
              <a:rPr lang="en-US" dirty="0"/>
              <a:t>The individual spot, found principally on the trunk, is a pink papule 2-3 mm in diameter that fades on pressure. It disappears in 3-4 days.</a:t>
            </a:r>
          </a:p>
        </p:txBody>
      </p:sp>
    </p:spTree>
    <p:extLst>
      <p:ext uri="{BB962C8B-B14F-4D97-AF65-F5344CB8AC3E}">
        <p14:creationId xmlns:p14="http://schemas.microsoft.com/office/powerpoint/2010/main" val="126238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E2E48-7D8E-ABD5-54F5-F141794EE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463B8-5B4D-92BD-0DD6-A8413AFA517A}"/>
              </a:ext>
            </a:extLst>
          </p:cNvPr>
          <p:cNvSpPr>
            <a:spLocks noGrp="1"/>
          </p:cNvSpPr>
          <p:nvPr>
            <p:ph type="title"/>
          </p:nvPr>
        </p:nvSpPr>
        <p:spPr/>
        <p:txBody>
          <a:bodyPr/>
          <a:lstStyle/>
          <a:p>
            <a:r>
              <a:rPr lang="en-US" dirty="0"/>
              <a:t>Clinical features - complications</a:t>
            </a:r>
          </a:p>
        </p:txBody>
      </p:sp>
      <p:sp>
        <p:nvSpPr>
          <p:cNvPr id="3" name="Content Placeholder 2">
            <a:extLst>
              <a:ext uri="{FF2B5EF4-FFF2-40B4-BE49-F238E27FC236}">
                <a16:creationId xmlns:a16="http://schemas.microsoft.com/office/drawing/2014/main" id="{14DFD3C4-DD45-A4CB-B6E2-EA67480A1618}"/>
              </a:ext>
            </a:extLst>
          </p:cNvPr>
          <p:cNvSpPr>
            <a:spLocks noGrp="1"/>
          </p:cNvSpPr>
          <p:nvPr>
            <p:ph idx="1"/>
          </p:nvPr>
        </p:nvSpPr>
        <p:spPr/>
        <p:txBody>
          <a:bodyPr>
            <a:normAutofit/>
          </a:bodyPr>
          <a:lstStyle/>
          <a:p>
            <a:r>
              <a:rPr lang="en-US" dirty="0"/>
              <a:t>Serious complications occur in up to 10 per cent especially in those who have been ill longer than 2 weeks, and who have not received proper treatment. </a:t>
            </a:r>
          </a:p>
          <a:p>
            <a:r>
              <a:rPr lang="en-US" dirty="0"/>
              <a:t>Intestinal </a:t>
            </a:r>
            <a:r>
              <a:rPr lang="en-US" dirty="0" err="1"/>
              <a:t>haemorrhage</a:t>
            </a:r>
            <a:r>
              <a:rPr lang="en-US" dirty="0"/>
              <a:t> is manifested by a sudden drop in temperature and signs of shock, followed by dark or fresh blood in the stool. </a:t>
            </a:r>
          </a:p>
          <a:p>
            <a:r>
              <a:rPr lang="en-US" dirty="0"/>
              <a:t>Intestinal perforation is most likely to occur during the third week. </a:t>
            </a:r>
          </a:p>
          <a:p>
            <a:r>
              <a:rPr lang="en-US" dirty="0"/>
              <a:t>Less frequent complications are urinary retention, pneumonia, thrombophlebitis, myocarditis, psychosis, cholecystitis, nephritis and osteomyelitis</a:t>
            </a:r>
          </a:p>
        </p:txBody>
      </p:sp>
    </p:spTree>
    <p:extLst>
      <p:ext uri="{BB962C8B-B14F-4D97-AF65-F5344CB8AC3E}">
        <p14:creationId xmlns:p14="http://schemas.microsoft.com/office/powerpoint/2010/main" val="1091509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F6E09-88F0-E6D0-1FBA-6303007326E7}"/>
              </a:ext>
            </a:extLst>
          </p:cNvPr>
          <p:cNvSpPr>
            <a:spLocks noGrp="1"/>
          </p:cNvSpPr>
          <p:nvPr>
            <p:ph type="title"/>
          </p:nvPr>
        </p:nvSpPr>
        <p:spPr/>
        <p:txBody>
          <a:bodyPr/>
          <a:lstStyle/>
          <a:p>
            <a:r>
              <a:rPr lang="en-US" dirty="0"/>
              <a:t>Fatality rates</a:t>
            </a:r>
          </a:p>
        </p:txBody>
      </p:sp>
      <p:sp>
        <p:nvSpPr>
          <p:cNvPr id="3" name="Content Placeholder 2">
            <a:extLst>
              <a:ext uri="{FF2B5EF4-FFF2-40B4-BE49-F238E27FC236}">
                <a16:creationId xmlns:a16="http://schemas.microsoft.com/office/drawing/2014/main" id="{7F1E1A62-4A39-09CB-74EA-2497E2F3DF3C}"/>
              </a:ext>
            </a:extLst>
          </p:cNvPr>
          <p:cNvSpPr>
            <a:spLocks noGrp="1"/>
          </p:cNvSpPr>
          <p:nvPr>
            <p:ph idx="1"/>
          </p:nvPr>
        </p:nvSpPr>
        <p:spPr/>
        <p:txBody>
          <a:bodyPr>
            <a:normAutofit/>
          </a:bodyPr>
          <a:lstStyle/>
          <a:p>
            <a:r>
              <a:rPr lang="en-US" dirty="0"/>
              <a:t>Estimates of case-fatality rates of typhoid fever range from 1 per cent to 4 per cent; </a:t>
            </a:r>
          </a:p>
          <a:p>
            <a:r>
              <a:rPr lang="en-US" dirty="0"/>
              <a:t>Fatality rates in children aged less than 4 years being 10 times higher (4.0%) than in older children (0.4%). </a:t>
            </a:r>
          </a:p>
          <a:p>
            <a:r>
              <a:rPr lang="en-US" dirty="0"/>
              <a:t>In untreated cases, the fatality rates may rise to 10-20 per cent</a:t>
            </a:r>
          </a:p>
          <a:p>
            <a:endParaRPr lang="en-US" dirty="0"/>
          </a:p>
          <a:p>
            <a:r>
              <a:rPr lang="en-US" dirty="0"/>
              <a:t>With early diagnosis and appropriate treatment, mortality has been reduced to about 1 per cent as compared to about 30 per cent in untreated cases.</a:t>
            </a:r>
          </a:p>
          <a:p>
            <a:endParaRPr lang="en-US" dirty="0"/>
          </a:p>
        </p:txBody>
      </p:sp>
    </p:spTree>
    <p:extLst>
      <p:ext uri="{BB962C8B-B14F-4D97-AF65-F5344CB8AC3E}">
        <p14:creationId xmlns:p14="http://schemas.microsoft.com/office/powerpoint/2010/main" val="87852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C30C-1E24-2F3C-4782-585436A81578}"/>
              </a:ext>
            </a:extLst>
          </p:cNvPr>
          <p:cNvSpPr>
            <a:spLocks noGrp="1"/>
          </p:cNvSpPr>
          <p:nvPr>
            <p:ph type="title"/>
          </p:nvPr>
        </p:nvSpPr>
        <p:spPr/>
        <p:txBody>
          <a:bodyPr/>
          <a:lstStyle/>
          <a:p>
            <a:r>
              <a:rPr lang="en-US" dirty="0"/>
              <a:t>Laboratory diagnosis</a:t>
            </a:r>
          </a:p>
        </p:txBody>
      </p:sp>
      <p:sp>
        <p:nvSpPr>
          <p:cNvPr id="3" name="Content Placeholder 2">
            <a:extLst>
              <a:ext uri="{FF2B5EF4-FFF2-40B4-BE49-F238E27FC236}">
                <a16:creationId xmlns:a16="http://schemas.microsoft.com/office/drawing/2014/main" id="{53FCA6C3-D2EF-3BC9-CB61-A4E294798056}"/>
              </a:ext>
            </a:extLst>
          </p:cNvPr>
          <p:cNvSpPr>
            <a:spLocks noGrp="1"/>
          </p:cNvSpPr>
          <p:nvPr>
            <p:ph idx="1"/>
          </p:nvPr>
        </p:nvSpPr>
        <p:spPr/>
        <p:txBody>
          <a:bodyPr>
            <a:normAutofit fontScale="77500" lnSpcReduction="20000"/>
          </a:bodyPr>
          <a:lstStyle/>
          <a:p>
            <a:r>
              <a:rPr lang="en-US" dirty="0"/>
              <a:t>MICROBIOLOGICAL PROCEDURES : The definitive diagnosis of typhoid fever depends on the isolation of S. typhi from blood, bone marrow and stools. </a:t>
            </a:r>
          </a:p>
          <a:p>
            <a:pPr lvl="1"/>
            <a:r>
              <a:rPr lang="en-US" dirty="0"/>
              <a:t>Blood culture is the mainstay of diagnosis of this disease.</a:t>
            </a:r>
          </a:p>
          <a:p>
            <a:r>
              <a:rPr lang="en-US" dirty="0"/>
              <a:t>SEROLOGICAL PROCEDURE : Felix-</a:t>
            </a:r>
            <a:r>
              <a:rPr lang="en-US" dirty="0" err="1"/>
              <a:t>Widal</a:t>
            </a:r>
            <a:r>
              <a:rPr lang="en-US" dirty="0"/>
              <a:t> test measures agglutinating antibody levels against O and H antigens. </a:t>
            </a:r>
          </a:p>
          <a:p>
            <a:r>
              <a:rPr lang="en-US" dirty="0"/>
              <a:t>O antibodies appear on day 6-8 and H antibodies on day 10-12 after the onset of disease. </a:t>
            </a:r>
          </a:p>
          <a:p>
            <a:r>
              <a:rPr lang="en-US" dirty="0"/>
              <a:t>The test has only moderate sensitivity and specificity. It can be negative in </a:t>
            </a:r>
            <a:r>
              <a:rPr lang="en-US" dirty="0" err="1"/>
              <a:t>upto</a:t>
            </a:r>
            <a:r>
              <a:rPr lang="en-US" dirty="0"/>
              <a:t> 30 per cent of culture -proven cases of typhoid fever. </a:t>
            </a:r>
          </a:p>
          <a:p>
            <a:pPr lvl="1"/>
            <a:r>
              <a:rPr lang="en-US" dirty="0"/>
              <a:t>This may be because of prior antibiotic therapy that has blunted the antibody response.</a:t>
            </a:r>
          </a:p>
          <a:p>
            <a:r>
              <a:rPr lang="en-US" dirty="0"/>
              <a:t>S. typhi shares 0 and H antigens with other salmonella serotypes and has cross-reacting epitopes with other </a:t>
            </a:r>
            <a:r>
              <a:rPr lang="en-US" dirty="0" err="1"/>
              <a:t>Enterobacteriacae</a:t>
            </a:r>
            <a:r>
              <a:rPr lang="en-US" dirty="0"/>
              <a:t>, and this can lead to false positive results. </a:t>
            </a:r>
          </a:p>
          <a:p>
            <a:pPr lvl="1"/>
            <a:r>
              <a:rPr lang="en-US" dirty="0"/>
              <a:t>Such results may also occur in other clinical conditions, e.g. malaria, typhus, </a:t>
            </a:r>
            <a:r>
              <a:rPr lang="en-US" dirty="0" err="1"/>
              <a:t>bacteraemia</a:t>
            </a:r>
            <a:r>
              <a:rPr lang="en-US" dirty="0"/>
              <a:t> caused by other organisms, and cirrhosis.</a:t>
            </a:r>
          </a:p>
        </p:txBody>
      </p:sp>
    </p:spTree>
    <p:extLst>
      <p:ext uri="{BB962C8B-B14F-4D97-AF65-F5344CB8AC3E}">
        <p14:creationId xmlns:p14="http://schemas.microsoft.com/office/powerpoint/2010/main" val="349367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09E19-D59D-1852-911A-34FF35EF0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737C2-B39B-DAE0-6B0C-E32E1DC54390}"/>
              </a:ext>
            </a:extLst>
          </p:cNvPr>
          <p:cNvSpPr>
            <a:spLocks noGrp="1"/>
          </p:cNvSpPr>
          <p:nvPr>
            <p:ph type="title"/>
          </p:nvPr>
        </p:nvSpPr>
        <p:spPr/>
        <p:txBody>
          <a:bodyPr/>
          <a:lstStyle/>
          <a:p>
            <a:r>
              <a:rPr lang="en-US" dirty="0"/>
              <a:t>Laboratory diagnosis</a:t>
            </a:r>
          </a:p>
        </p:txBody>
      </p:sp>
      <p:sp>
        <p:nvSpPr>
          <p:cNvPr id="3" name="Content Placeholder 2">
            <a:extLst>
              <a:ext uri="{FF2B5EF4-FFF2-40B4-BE49-F238E27FC236}">
                <a16:creationId xmlns:a16="http://schemas.microsoft.com/office/drawing/2014/main" id="{19A57053-74CF-A305-C83A-0B77C3267117}"/>
              </a:ext>
            </a:extLst>
          </p:cNvPr>
          <p:cNvSpPr>
            <a:spLocks noGrp="1"/>
          </p:cNvSpPr>
          <p:nvPr>
            <p:ph idx="1"/>
          </p:nvPr>
        </p:nvSpPr>
        <p:spPr/>
        <p:txBody>
          <a:bodyPr>
            <a:normAutofit/>
          </a:bodyPr>
          <a:lstStyle/>
          <a:p>
            <a:r>
              <a:rPr lang="en-US" dirty="0"/>
              <a:t>New Diagnostic test</a:t>
            </a:r>
          </a:p>
          <a:p>
            <a:r>
              <a:rPr lang="en-US" dirty="0"/>
              <a:t>Typhi Dot – Specific IgM and IgG within 3 hours</a:t>
            </a:r>
          </a:p>
          <a:p>
            <a:r>
              <a:rPr lang="en-US" dirty="0"/>
              <a:t>Typhi dot-M</a:t>
            </a:r>
          </a:p>
          <a:p>
            <a:r>
              <a:rPr lang="en-US" dirty="0"/>
              <a:t>IDL </a:t>
            </a:r>
            <a:r>
              <a:rPr lang="en-US" dirty="0" err="1"/>
              <a:t>Tubex</a:t>
            </a:r>
            <a:r>
              <a:rPr lang="en-US" dirty="0"/>
              <a:t> test – IgM09 within few minutes</a:t>
            </a:r>
          </a:p>
        </p:txBody>
      </p:sp>
    </p:spTree>
    <p:extLst>
      <p:ext uri="{BB962C8B-B14F-4D97-AF65-F5344CB8AC3E}">
        <p14:creationId xmlns:p14="http://schemas.microsoft.com/office/powerpoint/2010/main" val="4160506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4155-2CB8-0293-5EC1-669D42A12419}"/>
              </a:ext>
            </a:extLst>
          </p:cNvPr>
          <p:cNvSpPr>
            <a:spLocks noGrp="1"/>
          </p:cNvSpPr>
          <p:nvPr>
            <p:ph type="title"/>
          </p:nvPr>
        </p:nvSpPr>
        <p:spPr/>
        <p:txBody>
          <a:bodyPr/>
          <a:lstStyle/>
          <a:p>
            <a:r>
              <a:rPr lang="en-US" dirty="0"/>
              <a:t>Control</a:t>
            </a:r>
          </a:p>
        </p:txBody>
      </p:sp>
      <p:sp>
        <p:nvSpPr>
          <p:cNvPr id="3" name="Content Placeholder 2">
            <a:extLst>
              <a:ext uri="{FF2B5EF4-FFF2-40B4-BE49-F238E27FC236}">
                <a16:creationId xmlns:a16="http://schemas.microsoft.com/office/drawing/2014/main" id="{1B75F7DA-7400-3A27-E62D-3D566E020B64}"/>
              </a:ext>
            </a:extLst>
          </p:cNvPr>
          <p:cNvSpPr>
            <a:spLocks noGrp="1"/>
          </p:cNvSpPr>
          <p:nvPr>
            <p:ph idx="1"/>
          </p:nvPr>
        </p:nvSpPr>
        <p:spPr/>
        <p:txBody>
          <a:bodyPr/>
          <a:lstStyle/>
          <a:p>
            <a:r>
              <a:rPr lang="en-US" dirty="0"/>
              <a:t>Control of Reservoir</a:t>
            </a:r>
          </a:p>
          <a:p>
            <a:r>
              <a:rPr lang="en-US" dirty="0"/>
              <a:t>Control of sanitation</a:t>
            </a:r>
          </a:p>
          <a:p>
            <a:r>
              <a:rPr lang="en-US" dirty="0"/>
              <a:t>Immunization</a:t>
            </a:r>
          </a:p>
        </p:txBody>
      </p:sp>
    </p:spTree>
    <p:extLst>
      <p:ext uri="{BB962C8B-B14F-4D97-AF65-F5344CB8AC3E}">
        <p14:creationId xmlns:p14="http://schemas.microsoft.com/office/powerpoint/2010/main" val="3036425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95E05-7B98-1AF6-2B0E-DD3E0EABD351}"/>
              </a:ext>
            </a:extLst>
          </p:cNvPr>
          <p:cNvSpPr>
            <a:spLocks noGrp="1"/>
          </p:cNvSpPr>
          <p:nvPr>
            <p:ph type="title"/>
          </p:nvPr>
        </p:nvSpPr>
        <p:spPr/>
        <p:txBody>
          <a:bodyPr/>
          <a:lstStyle/>
          <a:p>
            <a:r>
              <a:rPr lang="en-US" dirty="0"/>
              <a:t>Control of reservoir - Cases</a:t>
            </a:r>
          </a:p>
        </p:txBody>
      </p:sp>
      <p:sp>
        <p:nvSpPr>
          <p:cNvPr id="3" name="Content Placeholder 2">
            <a:extLst>
              <a:ext uri="{FF2B5EF4-FFF2-40B4-BE49-F238E27FC236}">
                <a16:creationId xmlns:a16="http://schemas.microsoft.com/office/drawing/2014/main" id="{B5EA9BA6-C46C-8667-848C-CC9A2E89144B}"/>
              </a:ext>
            </a:extLst>
          </p:cNvPr>
          <p:cNvSpPr>
            <a:spLocks noGrp="1"/>
          </p:cNvSpPr>
          <p:nvPr>
            <p:ph idx="1"/>
          </p:nvPr>
        </p:nvSpPr>
        <p:spPr>
          <a:xfrm>
            <a:off x="838200" y="1657079"/>
            <a:ext cx="10515600" cy="4351338"/>
          </a:xfrm>
        </p:spPr>
        <p:txBody>
          <a:bodyPr/>
          <a:lstStyle/>
          <a:p>
            <a:r>
              <a:rPr lang="en-US" dirty="0"/>
              <a:t>Early diagnosis</a:t>
            </a:r>
          </a:p>
          <a:p>
            <a:r>
              <a:rPr lang="en-US" dirty="0"/>
              <a:t>Notification</a:t>
            </a:r>
          </a:p>
          <a:p>
            <a:r>
              <a:rPr lang="en-US" dirty="0"/>
              <a:t>Isolation – till bacteriologically negative stools and urine reports</a:t>
            </a:r>
          </a:p>
          <a:p>
            <a:endParaRPr lang="en-US" dirty="0"/>
          </a:p>
          <a:p>
            <a:endParaRPr lang="en-US" dirty="0"/>
          </a:p>
        </p:txBody>
      </p:sp>
      <p:pic>
        <p:nvPicPr>
          <p:cNvPr id="5" name="Picture 4">
            <a:extLst>
              <a:ext uri="{FF2B5EF4-FFF2-40B4-BE49-F238E27FC236}">
                <a16:creationId xmlns:a16="http://schemas.microsoft.com/office/drawing/2014/main" id="{89BD1167-1EF1-48EF-85DF-356F05E01652}"/>
              </a:ext>
            </a:extLst>
          </p:cNvPr>
          <p:cNvPicPr>
            <a:picLocks noChangeAspect="1"/>
          </p:cNvPicPr>
          <p:nvPr/>
        </p:nvPicPr>
        <p:blipFill>
          <a:blip r:embed="rId2">
            <a:grayscl/>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3139033"/>
            <a:ext cx="12192000" cy="3718967"/>
          </a:xfrm>
          <a:prstGeom prst="rect">
            <a:avLst/>
          </a:prstGeom>
        </p:spPr>
      </p:pic>
    </p:spTree>
    <p:extLst>
      <p:ext uri="{BB962C8B-B14F-4D97-AF65-F5344CB8AC3E}">
        <p14:creationId xmlns:p14="http://schemas.microsoft.com/office/powerpoint/2010/main" val="2125598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4ED4D-3A81-C500-B19A-8C558A472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998AF-8BF3-AD2C-54B9-74AE0E18187C}"/>
              </a:ext>
            </a:extLst>
          </p:cNvPr>
          <p:cNvSpPr>
            <a:spLocks noGrp="1"/>
          </p:cNvSpPr>
          <p:nvPr>
            <p:ph type="title"/>
          </p:nvPr>
        </p:nvSpPr>
        <p:spPr/>
        <p:txBody>
          <a:bodyPr/>
          <a:lstStyle/>
          <a:p>
            <a:r>
              <a:rPr lang="en-US" dirty="0"/>
              <a:t>Control of reservoir - Cases</a:t>
            </a:r>
          </a:p>
        </p:txBody>
      </p:sp>
      <p:sp>
        <p:nvSpPr>
          <p:cNvPr id="3" name="Content Placeholder 2">
            <a:extLst>
              <a:ext uri="{FF2B5EF4-FFF2-40B4-BE49-F238E27FC236}">
                <a16:creationId xmlns:a16="http://schemas.microsoft.com/office/drawing/2014/main" id="{106F85DA-2147-7CE1-BA51-FB3208AC1AF9}"/>
              </a:ext>
            </a:extLst>
          </p:cNvPr>
          <p:cNvSpPr>
            <a:spLocks noGrp="1"/>
          </p:cNvSpPr>
          <p:nvPr>
            <p:ph idx="1"/>
          </p:nvPr>
        </p:nvSpPr>
        <p:spPr>
          <a:xfrm>
            <a:off x="838200" y="1657079"/>
            <a:ext cx="10515600" cy="4351338"/>
          </a:xfrm>
        </p:spPr>
        <p:txBody>
          <a:bodyPr>
            <a:normAutofit fontScale="92500" lnSpcReduction="10000"/>
          </a:bodyPr>
          <a:lstStyle/>
          <a:p>
            <a:r>
              <a:rPr lang="en-US" dirty="0"/>
              <a:t>Complicated  cases - injection of hydrocortisone 100 mg daily for 3 to 4 days,</a:t>
            </a:r>
          </a:p>
          <a:p>
            <a:endParaRPr lang="en-US" dirty="0"/>
          </a:p>
          <a:p>
            <a:r>
              <a:rPr lang="en-US" dirty="0"/>
              <a:t>Disinfection - received in closed containers and disinfected with 5 per cent cresol for at least 2 hours. </a:t>
            </a:r>
          </a:p>
          <a:p>
            <a:pPr lvl="1"/>
            <a:r>
              <a:rPr lang="en-US" dirty="0"/>
              <a:t>All soiled clothes and linen should be soaked in a solution of 2 per cent chlorine and steam-sterilized. </a:t>
            </a:r>
          </a:p>
          <a:p>
            <a:pPr lvl="1"/>
            <a:r>
              <a:rPr lang="en-US" dirty="0"/>
              <a:t>Nurses and doctors should not forget to disinfect their hands,</a:t>
            </a:r>
          </a:p>
          <a:p>
            <a:r>
              <a:rPr lang="en-US" dirty="0"/>
              <a:t>Follow-up examination of stools and urine should be done for S. typhi 3 to 4 months after discharge of the patient, and again after 12 months to prevent the development of the carrier state. </a:t>
            </a:r>
          </a:p>
          <a:p>
            <a:endParaRPr lang="en-US" dirty="0"/>
          </a:p>
        </p:txBody>
      </p:sp>
    </p:spTree>
    <p:extLst>
      <p:ext uri="{BB962C8B-B14F-4D97-AF65-F5344CB8AC3E}">
        <p14:creationId xmlns:p14="http://schemas.microsoft.com/office/powerpoint/2010/main" val="442133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44C7-CB82-7943-E095-F898AD65B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4E7AB-4BFE-6E09-0D90-8CBE3B11C57D}"/>
              </a:ext>
            </a:extLst>
          </p:cNvPr>
          <p:cNvSpPr>
            <a:spLocks noGrp="1"/>
          </p:cNvSpPr>
          <p:nvPr>
            <p:ph type="title"/>
          </p:nvPr>
        </p:nvSpPr>
        <p:spPr/>
        <p:txBody>
          <a:bodyPr/>
          <a:lstStyle/>
          <a:p>
            <a:r>
              <a:rPr lang="en-US" dirty="0"/>
              <a:t>Control of reservoir - Carriers</a:t>
            </a:r>
          </a:p>
        </p:txBody>
      </p:sp>
      <p:sp>
        <p:nvSpPr>
          <p:cNvPr id="3" name="Content Placeholder 2">
            <a:extLst>
              <a:ext uri="{FF2B5EF4-FFF2-40B4-BE49-F238E27FC236}">
                <a16:creationId xmlns:a16="http://schemas.microsoft.com/office/drawing/2014/main" id="{5CF0E189-5893-1AD5-4FC4-15F9FE0B6A2F}"/>
              </a:ext>
            </a:extLst>
          </p:cNvPr>
          <p:cNvSpPr>
            <a:spLocks noGrp="1"/>
          </p:cNvSpPr>
          <p:nvPr>
            <p:ph idx="1"/>
          </p:nvPr>
        </p:nvSpPr>
        <p:spPr>
          <a:xfrm>
            <a:off x="838200" y="1657079"/>
            <a:ext cx="10515600" cy="4351338"/>
          </a:xfrm>
        </p:spPr>
        <p:txBody>
          <a:bodyPr>
            <a:normAutofit fontScale="92500" lnSpcReduction="20000"/>
          </a:bodyPr>
          <a:lstStyle/>
          <a:p>
            <a:r>
              <a:rPr lang="en-US" dirty="0"/>
              <a:t>Identification : Carriers are identified by cultural and serological examinations. </a:t>
            </a:r>
          </a:p>
          <a:p>
            <a:pPr lvl="1"/>
            <a:r>
              <a:rPr lang="en-US" dirty="0"/>
              <a:t>Duodenal drainage establishes the presence of salmonella in the biliary tract in carriers. </a:t>
            </a:r>
          </a:p>
          <a:p>
            <a:pPr lvl="1"/>
            <a:r>
              <a:rPr lang="en-US" dirty="0"/>
              <a:t>The Vi antibodies are present in about 80 per cent of chronic carriers,  </a:t>
            </a:r>
          </a:p>
          <a:p>
            <a:r>
              <a:rPr lang="en-US" dirty="0"/>
              <a:t>Treatment : The carrier should be given an intensive course of ampicillin or amoxycillin (4-6 g a day) together with Probenecid (2 g/day) for 6 weeks. These drugs are concentrated in the bile and may achieve eradication of the carrier state in about 70 per cent of carriers.</a:t>
            </a:r>
          </a:p>
          <a:p>
            <a:r>
              <a:rPr lang="en-US" dirty="0"/>
              <a:t>(Surgery :</a:t>
            </a:r>
          </a:p>
          <a:p>
            <a:pPr lvl="1"/>
            <a:r>
              <a:rPr lang="en-US" dirty="0"/>
              <a:t>Cholecystectomy with concomitant ampicillin therapy – cure rate may be as high as 80%</a:t>
            </a:r>
          </a:p>
          <a:p>
            <a:pPr lvl="1"/>
            <a:r>
              <a:rPr lang="en-US" dirty="0"/>
              <a:t>Urinary carriers are easy to treat, but refractory cases may need nephrectomy when one kidney is damaged and the other healthy,</a:t>
            </a:r>
          </a:p>
          <a:p>
            <a:endParaRPr lang="en-US" dirty="0"/>
          </a:p>
        </p:txBody>
      </p:sp>
    </p:spTree>
    <p:extLst>
      <p:ext uri="{BB962C8B-B14F-4D97-AF65-F5344CB8AC3E}">
        <p14:creationId xmlns:p14="http://schemas.microsoft.com/office/powerpoint/2010/main" val="4002879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CCDE0-65B1-7D0D-D918-F02EEADE8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39734-F79C-E9B5-705A-A232B0D5BF7E}"/>
              </a:ext>
            </a:extLst>
          </p:cNvPr>
          <p:cNvSpPr>
            <a:spLocks noGrp="1"/>
          </p:cNvSpPr>
          <p:nvPr>
            <p:ph type="title"/>
          </p:nvPr>
        </p:nvSpPr>
        <p:spPr/>
        <p:txBody>
          <a:bodyPr/>
          <a:lstStyle/>
          <a:p>
            <a:r>
              <a:rPr lang="en-US" dirty="0"/>
              <a:t>Control of reservoir - Carriers</a:t>
            </a:r>
          </a:p>
        </p:txBody>
      </p:sp>
      <p:sp>
        <p:nvSpPr>
          <p:cNvPr id="3" name="Content Placeholder 2">
            <a:extLst>
              <a:ext uri="{FF2B5EF4-FFF2-40B4-BE49-F238E27FC236}">
                <a16:creationId xmlns:a16="http://schemas.microsoft.com/office/drawing/2014/main" id="{1E452A89-E244-C519-4E82-DA8FF6901547}"/>
              </a:ext>
            </a:extLst>
          </p:cNvPr>
          <p:cNvSpPr>
            <a:spLocks noGrp="1"/>
          </p:cNvSpPr>
          <p:nvPr>
            <p:ph idx="1"/>
          </p:nvPr>
        </p:nvSpPr>
        <p:spPr>
          <a:xfrm>
            <a:off x="838200" y="1657079"/>
            <a:ext cx="10515600" cy="4351338"/>
          </a:xfrm>
        </p:spPr>
        <p:txBody>
          <a:bodyPr>
            <a:normAutofit/>
          </a:bodyPr>
          <a:lstStyle/>
          <a:p>
            <a:r>
              <a:rPr lang="en-US" dirty="0"/>
              <a:t>Surveillance – should be prevented from handling foods, milk or water for others</a:t>
            </a:r>
          </a:p>
          <a:p>
            <a:r>
              <a:rPr lang="en-US" dirty="0"/>
              <a:t>Health education</a:t>
            </a:r>
          </a:p>
          <a:p>
            <a:pPr lvl="1"/>
            <a:r>
              <a:rPr lang="en-US" dirty="0"/>
              <a:t>Washing of hands after defecation or urination and before preparing food is an essential element </a:t>
            </a:r>
          </a:p>
          <a:p>
            <a:endParaRPr lang="en-US" dirty="0"/>
          </a:p>
        </p:txBody>
      </p:sp>
    </p:spTree>
    <p:extLst>
      <p:ext uri="{BB962C8B-B14F-4D97-AF65-F5344CB8AC3E}">
        <p14:creationId xmlns:p14="http://schemas.microsoft.com/office/powerpoint/2010/main" val="336168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8F11-DAF7-64AD-2C78-7E695D7948F0}"/>
              </a:ext>
            </a:extLst>
          </p:cNvPr>
          <p:cNvSpPr>
            <a:spLocks noGrp="1"/>
          </p:cNvSpPr>
          <p:nvPr>
            <p:ph type="title"/>
          </p:nvPr>
        </p:nvSpPr>
        <p:spPr/>
        <p:txBody>
          <a:bodyPr/>
          <a:lstStyle/>
          <a:p>
            <a:r>
              <a:rPr lang="en-US" dirty="0"/>
              <a:t>Control of Sanitation</a:t>
            </a:r>
          </a:p>
        </p:txBody>
      </p:sp>
      <p:sp>
        <p:nvSpPr>
          <p:cNvPr id="3" name="Content Placeholder 2">
            <a:extLst>
              <a:ext uri="{FF2B5EF4-FFF2-40B4-BE49-F238E27FC236}">
                <a16:creationId xmlns:a16="http://schemas.microsoft.com/office/drawing/2014/main" id="{3CFF675E-54BB-BB1C-0546-3FD13E53209A}"/>
              </a:ext>
            </a:extLst>
          </p:cNvPr>
          <p:cNvSpPr>
            <a:spLocks noGrp="1"/>
          </p:cNvSpPr>
          <p:nvPr>
            <p:ph idx="1"/>
          </p:nvPr>
        </p:nvSpPr>
        <p:spPr/>
        <p:txBody>
          <a:bodyPr>
            <a:normAutofit/>
          </a:bodyPr>
          <a:lstStyle/>
          <a:p>
            <a:r>
              <a:rPr lang="en-US" dirty="0"/>
              <a:t>Protection and purification of drinking water supplies</a:t>
            </a:r>
          </a:p>
          <a:p>
            <a:r>
              <a:rPr lang="en-US" dirty="0"/>
              <a:t>Improvement of basic sanitation, </a:t>
            </a:r>
          </a:p>
          <a:p>
            <a:r>
              <a:rPr lang="en-US" dirty="0"/>
              <a:t>Promotion of food hygiene </a:t>
            </a:r>
          </a:p>
          <a:p>
            <a:endParaRPr lang="en-US" dirty="0"/>
          </a:p>
          <a:p>
            <a:r>
              <a:rPr lang="en-US" dirty="0"/>
              <a:t>Sanitary measures, not followed by health education may produce only temporary results. </a:t>
            </a:r>
          </a:p>
        </p:txBody>
      </p:sp>
    </p:spTree>
    <p:extLst>
      <p:ext uri="{BB962C8B-B14F-4D97-AF65-F5344CB8AC3E}">
        <p14:creationId xmlns:p14="http://schemas.microsoft.com/office/powerpoint/2010/main" val="3082295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92A1A-9B8D-0F46-2F55-6CD8E0B18213}"/>
              </a:ext>
            </a:extLst>
          </p:cNvPr>
          <p:cNvSpPr>
            <a:spLocks noGrp="1"/>
          </p:cNvSpPr>
          <p:nvPr>
            <p:ph type="title"/>
          </p:nvPr>
        </p:nvSpPr>
        <p:spPr/>
        <p:txBody>
          <a:bodyPr/>
          <a:lstStyle/>
          <a:p>
            <a:r>
              <a:rPr lang="en-US" dirty="0"/>
              <a:t>Immunization</a:t>
            </a:r>
          </a:p>
        </p:txBody>
      </p:sp>
      <p:sp>
        <p:nvSpPr>
          <p:cNvPr id="3" name="Content Placeholder 2">
            <a:extLst>
              <a:ext uri="{FF2B5EF4-FFF2-40B4-BE49-F238E27FC236}">
                <a16:creationId xmlns:a16="http://schemas.microsoft.com/office/drawing/2014/main" id="{28BA102D-12E9-9A9E-6DEE-3C05FE97F691}"/>
              </a:ext>
            </a:extLst>
          </p:cNvPr>
          <p:cNvSpPr>
            <a:spLocks noGrp="1"/>
          </p:cNvSpPr>
          <p:nvPr>
            <p:ph idx="1"/>
          </p:nvPr>
        </p:nvSpPr>
        <p:spPr/>
        <p:txBody>
          <a:bodyPr>
            <a:normAutofit fontScale="92500"/>
          </a:bodyPr>
          <a:lstStyle/>
          <a:p>
            <a:r>
              <a:rPr lang="en-US" dirty="0"/>
              <a:t>Immunization against typhoid does not give 100 per cent protection, but it definitely lowers both the incidence and seriousness of the infection. </a:t>
            </a:r>
          </a:p>
          <a:p>
            <a:r>
              <a:rPr lang="en-US" dirty="0"/>
              <a:t>It can be given at any age upwards of two years (injectable vaccine) and upward of 5 years (oral vaccine).</a:t>
            </a:r>
          </a:p>
          <a:p>
            <a:r>
              <a:rPr lang="en-US" dirty="0"/>
              <a:t>It is recommended to : (</a:t>
            </a:r>
            <a:r>
              <a:rPr lang="en-US" dirty="0" err="1"/>
              <a:t>i</a:t>
            </a:r>
            <a:r>
              <a:rPr lang="en-US" dirty="0"/>
              <a:t>) those living in endemic areas </a:t>
            </a:r>
          </a:p>
          <a:p>
            <a:r>
              <a:rPr lang="en-US" dirty="0"/>
              <a:t>(ii) Household contacts </a:t>
            </a:r>
          </a:p>
          <a:p>
            <a:r>
              <a:rPr lang="en-US" dirty="0"/>
              <a:t>(iii) Groups at risk of infection such as school children and hospital staff</a:t>
            </a:r>
          </a:p>
          <a:p>
            <a:r>
              <a:rPr lang="en-US" dirty="0"/>
              <a:t>(iv) Travelers proceeding to endemic areas</a:t>
            </a:r>
          </a:p>
          <a:p>
            <a:r>
              <a:rPr lang="en-US" dirty="0"/>
              <a:t>(v) Attending melas and yatras.</a:t>
            </a:r>
          </a:p>
        </p:txBody>
      </p:sp>
    </p:spTree>
    <p:extLst>
      <p:ext uri="{BB962C8B-B14F-4D97-AF65-F5344CB8AC3E}">
        <p14:creationId xmlns:p14="http://schemas.microsoft.com/office/powerpoint/2010/main" val="2941325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75328-4E59-397C-3D4D-AE5FD3DE8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B3DAC-7DC4-8474-8D73-4AC9B1EFDFD9}"/>
              </a:ext>
            </a:extLst>
          </p:cNvPr>
          <p:cNvSpPr>
            <a:spLocks noGrp="1"/>
          </p:cNvSpPr>
          <p:nvPr>
            <p:ph type="title"/>
          </p:nvPr>
        </p:nvSpPr>
        <p:spPr/>
        <p:txBody>
          <a:bodyPr/>
          <a:lstStyle/>
          <a:p>
            <a:r>
              <a:rPr lang="en-US" dirty="0"/>
              <a:t>Immunization</a:t>
            </a:r>
          </a:p>
        </p:txBody>
      </p:sp>
      <p:sp>
        <p:nvSpPr>
          <p:cNvPr id="3" name="Content Placeholder 2">
            <a:extLst>
              <a:ext uri="{FF2B5EF4-FFF2-40B4-BE49-F238E27FC236}">
                <a16:creationId xmlns:a16="http://schemas.microsoft.com/office/drawing/2014/main" id="{45EBD774-8F56-9FE6-C3C7-688722D1A743}"/>
              </a:ext>
            </a:extLst>
          </p:cNvPr>
          <p:cNvSpPr>
            <a:spLocks noGrp="1"/>
          </p:cNvSpPr>
          <p:nvPr>
            <p:ph idx="1"/>
          </p:nvPr>
        </p:nvSpPr>
        <p:spPr/>
        <p:txBody>
          <a:bodyPr>
            <a:normAutofit fontScale="85000" lnSpcReduction="20000"/>
          </a:bodyPr>
          <a:lstStyle/>
          <a:p>
            <a:r>
              <a:rPr lang="en-US" dirty="0"/>
              <a:t>Vi polysaccharide</a:t>
            </a:r>
          </a:p>
          <a:p>
            <a:pPr lvl="1"/>
            <a:r>
              <a:rPr lang="en-US" dirty="0"/>
              <a:t>T cell independent IgG response  Not boosted by additional doses</a:t>
            </a:r>
          </a:p>
          <a:p>
            <a:pPr lvl="1"/>
            <a:r>
              <a:rPr lang="en-US" dirty="0"/>
              <a:t>IM / SC injection</a:t>
            </a:r>
          </a:p>
          <a:p>
            <a:pPr lvl="1"/>
            <a:r>
              <a:rPr lang="en-US" dirty="0"/>
              <a:t>Recommended storage – 2 – 8 degree Celsius</a:t>
            </a:r>
          </a:p>
          <a:p>
            <a:pPr lvl="1"/>
            <a:r>
              <a:rPr lang="en-US" dirty="0"/>
              <a:t>Protection after 7 days, revaccination every 3 years</a:t>
            </a:r>
          </a:p>
          <a:p>
            <a:r>
              <a:rPr lang="en-US" dirty="0"/>
              <a:t>Ty21a vaccine</a:t>
            </a:r>
          </a:p>
          <a:p>
            <a:pPr lvl="1"/>
            <a:r>
              <a:rPr lang="en-US" dirty="0"/>
              <a:t>Oral administration</a:t>
            </a:r>
          </a:p>
          <a:p>
            <a:pPr lvl="1"/>
            <a:r>
              <a:rPr lang="en-US" dirty="0"/>
              <a:t>The vaccine is administered every other day; on 1, 3, and 5th day; a 3-dose regimen is recommended. With the 3-dose regimen, protective immunity is achieved 7 days after the last dose. </a:t>
            </a:r>
          </a:p>
          <a:p>
            <a:pPr lvl="1"/>
            <a:r>
              <a:rPr lang="en-US" dirty="0"/>
              <a:t>The recommendation is to repeat this series every 3 years for people living in endemic areas, and every year for individuals travelling; from non-endemic to endemic countries.</a:t>
            </a:r>
          </a:p>
          <a:p>
            <a:pPr lvl="1"/>
            <a:r>
              <a:rPr lang="en-US" dirty="0"/>
              <a:t>Proguanil and antibacterial drugs should be stopped from 3 days before until 3 days after giving Ty21a, as such drugs may harm live bacterial vaccines. </a:t>
            </a:r>
          </a:p>
          <a:p>
            <a:pPr lvl="1"/>
            <a:r>
              <a:rPr lang="en-US" dirty="0"/>
              <a:t>The vaccine is unlikely to be efficacious if administrated at the time of ongoing </a:t>
            </a:r>
            <a:r>
              <a:rPr lang="en-US" dirty="0" err="1"/>
              <a:t>diarrhoea</a:t>
            </a:r>
            <a:r>
              <a:rPr lang="en-US" dirty="0"/>
              <a:t>.</a:t>
            </a:r>
          </a:p>
        </p:txBody>
      </p:sp>
    </p:spTree>
    <p:extLst>
      <p:ext uri="{BB962C8B-B14F-4D97-AF65-F5344CB8AC3E}">
        <p14:creationId xmlns:p14="http://schemas.microsoft.com/office/powerpoint/2010/main" val="177098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23A72-54A2-FFE9-2916-48B65AD02BD5}"/>
              </a:ext>
            </a:extLst>
          </p:cNvPr>
          <p:cNvSpPr>
            <a:spLocks noGrp="1"/>
          </p:cNvSpPr>
          <p:nvPr>
            <p:ph type="title"/>
          </p:nvPr>
        </p:nvSpPr>
        <p:spPr>
          <a:xfrm>
            <a:off x="838199" y="90487"/>
            <a:ext cx="10515600" cy="1325563"/>
          </a:xfrm>
        </p:spPr>
        <p:txBody>
          <a:bodyPr/>
          <a:lstStyle/>
          <a:p>
            <a:r>
              <a:rPr lang="en-US" dirty="0"/>
              <a:t>Food Poisoning</a:t>
            </a:r>
          </a:p>
        </p:txBody>
      </p:sp>
      <p:graphicFrame>
        <p:nvGraphicFramePr>
          <p:cNvPr id="4" name="Content Placeholder 3">
            <a:extLst>
              <a:ext uri="{FF2B5EF4-FFF2-40B4-BE49-F238E27FC236}">
                <a16:creationId xmlns:a16="http://schemas.microsoft.com/office/drawing/2014/main" id="{D0FF6625-225C-44C9-95A6-77299790480B}"/>
              </a:ext>
            </a:extLst>
          </p:cNvPr>
          <p:cNvGraphicFramePr>
            <a:graphicFrameLocks noGrp="1"/>
          </p:cNvGraphicFramePr>
          <p:nvPr>
            <p:ph idx="1"/>
            <p:extLst>
              <p:ext uri="{D42A27DB-BD31-4B8C-83A1-F6EECF244321}">
                <p14:modId xmlns:p14="http://schemas.microsoft.com/office/powerpoint/2010/main" val="2600011680"/>
              </p:ext>
            </p:extLst>
          </p:nvPr>
        </p:nvGraphicFramePr>
        <p:xfrm>
          <a:off x="240632" y="1122947"/>
          <a:ext cx="11710735" cy="5506452"/>
        </p:xfrm>
        <a:graphic>
          <a:graphicData uri="http://schemas.openxmlformats.org/drawingml/2006/table">
            <a:tbl>
              <a:tblPr firstRow="1" bandRow="1">
                <a:tableStyleId>{793D81CF-94F2-401A-BA57-92F5A7B2D0C5}</a:tableStyleId>
              </a:tblPr>
              <a:tblGrid>
                <a:gridCol w="1621280">
                  <a:extLst>
                    <a:ext uri="{9D8B030D-6E8A-4147-A177-3AD203B41FA5}">
                      <a16:colId xmlns:a16="http://schemas.microsoft.com/office/drawing/2014/main" val="380854733"/>
                    </a:ext>
                  </a:extLst>
                </a:gridCol>
                <a:gridCol w="2164658">
                  <a:extLst>
                    <a:ext uri="{9D8B030D-6E8A-4147-A177-3AD203B41FA5}">
                      <a16:colId xmlns:a16="http://schemas.microsoft.com/office/drawing/2014/main" val="2932924698"/>
                    </a:ext>
                  </a:extLst>
                </a:gridCol>
                <a:gridCol w="3304672">
                  <a:extLst>
                    <a:ext uri="{9D8B030D-6E8A-4147-A177-3AD203B41FA5}">
                      <a16:colId xmlns:a16="http://schemas.microsoft.com/office/drawing/2014/main" val="3269275689"/>
                    </a:ext>
                  </a:extLst>
                </a:gridCol>
                <a:gridCol w="2454442">
                  <a:extLst>
                    <a:ext uri="{9D8B030D-6E8A-4147-A177-3AD203B41FA5}">
                      <a16:colId xmlns:a16="http://schemas.microsoft.com/office/drawing/2014/main" val="1155103209"/>
                    </a:ext>
                  </a:extLst>
                </a:gridCol>
                <a:gridCol w="2165683">
                  <a:extLst>
                    <a:ext uri="{9D8B030D-6E8A-4147-A177-3AD203B41FA5}">
                      <a16:colId xmlns:a16="http://schemas.microsoft.com/office/drawing/2014/main" val="3173024022"/>
                    </a:ext>
                  </a:extLst>
                </a:gridCol>
              </a:tblGrid>
              <a:tr h="821608">
                <a:tc>
                  <a:txBody>
                    <a:bodyPr/>
                    <a:lstStyle/>
                    <a:p>
                      <a:endParaRPr lang="en-US"/>
                    </a:p>
                  </a:txBody>
                  <a:tcPr/>
                </a:tc>
                <a:tc>
                  <a:txBody>
                    <a:bodyPr/>
                    <a:lstStyle/>
                    <a:p>
                      <a:r>
                        <a:rPr lang="en-US" dirty="0"/>
                        <a:t>Staph food poisoning</a:t>
                      </a:r>
                    </a:p>
                  </a:txBody>
                  <a:tcPr/>
                </a:tc>
                <a:tc>
                  <a:txBody>
                    <a:bodyPr/>
                    <a:lstStyle/>
                    <a:p>
                      <a:r>
                        <a:rPr lang="en-US" dirty="0"/>
                        <a:t>Salmonella food poisoning</a:t>
                      </a:r>
                    </a:p>
                  </a:txBody>
                  <a:tcPr/>
                </a:tc>
                <a:tc>
                  <a:txBody>
                    <a:bodyPr/>
                    <a:lstStyle/>
                    <a:p>
                      <a:r>
                        <a:rPr lang="en-US" dirty="0"/>
                        <a:t>Bacillus cereus (Emetic form)</a:t>
                      </a:r>
                    </a:p>
                  </a:txBody>
                  <a:tcPr/>
                </a:tc>
                <a:tc>
                  <a:txBody>
                    <a:bodyPr/>
                    <a:lstStyle/>
                    <a:p>
                      <a:r>
                        <a:rPr lang="en-US" dirty="0"/>
                        <a:t>Bacillus cereus (diarrheal form)</a:t>
                      </a:r>
                    </a:p>
                  </a:txBody>
                  <a:tcPr/>
                </a:tc>
                <a:extLst>
                  <a:ext uri="{0D108BD9-81ED-4DB2-BD59-A6C34878D82A}">
                    <a16:rowId xmlns:a16="http://schemas.microsoft.com/office/drawing/2014/main" val="3443572765"/>
                  </a:ext>
                </a:extLst>
              </a:tr>
              <a:tr h="965809">
                <a:tc>
                  <a:txBody>
                    <a:bodyPr/>
                    <a:lstStyle/>
                    <a:p>
                      <a:r>
                        <a:rPr lang="en-US" b="1" dirty="0"/>
                        <a:t>Agent</a:t>
                      </a:r>
                    </a:p>
                  </a:txBody>
                  <a:tcPr/>
                </a:tc>
                <a:tc>
                  <a:txBody>
                    <a:bodyPr/>
                    <a:lstStyle/>
                    <a:p>
                      <a:r>
                        <a:rPr lang="en-US" dirty="0"/>
                        <a:t>Staphylococcus aureus – enterotoxin (preformed)</a:t>
                      </a:r>
                    </a:p>
                  </a:txBody>
                  <a:tcPr/>
                </a:tc>
                <a:tc>
                  <a:txBody>
                    <a:bodyPr/>
                    <a:lstStyle/>
                    <a:p>
                      <a:r>
                        <a:rPr lang="en-US" dirty="0"/>
                        <a:t>S. typhimurium</a:t>
                      </a:r>
                    </a:p>
                    <a:p>
                      <a:r>
                        <a:rPr lang="en-US" dirty="0"/>
                        <a:t>S. </a:t>
                      </a:r>
                      <a:r>
                        <a:rPr lang="en-US" dirty="0" err="1"/>
                        <a:t>cholerasuis</a:t>
                      </a:r>
                      <a:endParaRPr lang="en-US" dirty="0"/>
                    </a:p>
                    <a:p>
                      <a:r>
                        <a:rPr lang="en-US" dirty="0"/>
                        <a:t>S. enteritidis</a:t>
                      </a:r>
                      <a:endParaRPr lang="en-US" i="1" dirty="0"/>
                    </a:p>
                  </a:txBody>
                  <a:tcPr/>
                </a:tc>
                <a:tc>
                  <a:txBody>
                    <a:bodyPr/>
                    <a:lstStyle/>
                    <a:p>
                      <a:r>
                        <a:rPr lang="en-US" dirty="0"/>
                        <a:t>Bacillus cereus – enterotoxin (preformed)</a:t>
                      </a:r>
                    </a:p>
                  </a:txBody>
                  <a:tcPr/>
                </a:tc>
                <a:tc>
                  <a:txBody>
                    <a:bodyPr/>
                    <a:lstStyle/>
                    <a:p>
                      <a:r>
                        <a:rPr lang="en-US" dirty="0"/>
                        <a:t>Bacillus cereus</a:t>
                      </a:r>
                      <a:endParaRPr lang="en-US" i="1" dirty="0"/>
                    </a:p>
                  </a:txBody>
                  <a:tcPr/>
                </a:tc>
                <a:extLst>
                  <a:ext uri="{0D108BD9-81ED-4DB2-BD59-A6C34878D82A}">
                    <a16:rowId xmlns:a16="http://schemas.microsoft.com/office/drawing/2014/main" val="2308835508"/>
                  </a:ext>
                </a:extLst>
              </a:tr>
              <a:tr h="965809">
                <a:tc>
                  <a:txBody>
                    <a:bodyPr/>
                    <a:lstStyle/>
                    <a:p>
                      <a:r>
                        <a:rPr lang="en-US" b="1" dirty="0"/>
                        <a:t>Source of infection</a:t>
                      </a:r>
                    </a:p>
                  </a:txBody>
                  <a:tcPr/>
                </a:tc>
                <a:tc>
                  <a:txBody>
                    <a:bodyPr/>
                    <a:lstStyle/>
                    <a:p>
                      <a:r>
                        <a:rPr lang="en-US" dirty="0"/>
                        <a:t>Milk and its products</a:t>
                      </a:r>
                    </a:p>
                  </a:txBody>
                  <a:tcPr/>
                </a:tc>
                <a:tc>
                  <a:txBody>
                    <a:bodyPr/>
                    <a:lstStyle/>
                    <a:p>
                      <a:r>
                        <a:rPr lang="en-US" dirty="0"/>
                        <a:t>Meat, milk, eggs, and its products, urine and feces of rat, mice, human carrier</a:t>
                      </a:r>
                    </a:p>
                  </a:txBody>
                  <a:tcPr/>
                </a:tc>
                <a:tc>
                  <a:txBody>
                    <a:bodyPr/>
                    <a:lstStyle/>
                    <a:p>
                      <a:r>
                        <a:rPr lang="en-US" dirty="0"/>
                        <a:t>Raw foods, processed food, fried rice, mashed potato, pasta</a:t>
                      </a:r>
                    </a:p>
                  </a:txBody>
                  <a:tcPr/>
                </a:tc>
                <a:tc>
                  <a:txBody>
                    <a:bodyPr/>
                    <a:lstStyle/>
                    <a:p>
                      <a:r>
                        <a:rPr lang="en-US" dirty="0"/>
                        <a:t>Soup, sauce, meat, gravy, custard</a:t>
                      </a:r>
                    </a:p>
                  </a:txBody>
                  <a:tcPr/>
                </a:tc>
                <a:extLst>
                  <a:ext uri="{0D108BD9-81ED-4DB2-BD59-A6C34878D82A}">
                    <a16:rowId xmlns:a16="http://schemas.microsoft.com/office/drawing/2014/main" val="1329399030"/>
                  </a:ext>
                </a:extLst>
              </a:tr>
              <a:tr h="821608">
                <a:tc>
                  <a:txBody>
                    <a:bodyPr/>
                    <a:lstStyle/>
                    <a:p>
                      <a:r>
                        <a:rPr lang="en-US" b="1" dirty="0"/>
                        <a:t>Incubation period</a:t>
                      </a:r>
                    </a:p>
                  </a:txBody>
                  <a:tcPr/>
                </a:tc>
                <a:tc>
                  <a:txBody>
                    <a:bodyPr/>
                    <a:lstStyle/>
                    <a:p>
                      <a:r>
                        <a:rPr lang="en-US" dirty="0"/>
                        <a:t>1 – 6 hours</a:t>
                      </a:r>
                    </a:p>
                  </a:txBody>
                  <a:tcPr/>
                </a:tc>
                <a:tc>
                  <a:txBody>
                    <a:bodyPr/>
                    <a:lstStyle/>
                    <a:p>
                      <a:r>
                        <a:rPr lang="en-US" dirty="0"/>
                        <a:t>12 – 34 hours</a:t>
                      </a:r>
                    </a:p>
                  </a:txBody>
                  <a:tcPr/>
                </a:tc>
                <a:tc>
                  <a:txBody>
                    <a:bodyPr/>
                    <a:lstStyle/>
                    <a:p>
                      <a:r>
                        <a:rPr lang="en-US" dirty="0"/>
                        <a:t>1 – 6 hours</a:t>
                      </a:r>
                    </a:p>
                  </a:txBody>
                  <a:tcPr/>
                </a:tc>
                <a:tc>
                  <a:txBody>
                    <a:bodyPr/>
                    <a:lstStyle/>
                    <a:p>
                      <a:r>
                        <a:rPr lang="en-US" dirty="0"/>
                        <a:t>12 – 24 hours</a:t>
                      </a:r>
                    </a:p>
                  </a:txBody>
                  <a:tcPr/>
                </a:tc>
                <a:extLst>
                  <a:ext uri="{0D108BD9-81ED-4DB2-BD59-A6C34878D82A}">
                    <a16:rowId xmlns:a16="http://schemas.microsoft.com/office/drawing/2014/main" val="2012764291"/>
                  </a:ext>
                </a:extLst>
              </a:tr>
              <a:tr h="965809">
                <a:tc>
                  <a:txBody>
                    <a:bodyPr/>
                    <a:lstStyle/>
                    <a:p>
                      <a:r>
                        <a:rPr lang="en-US" b="1" dirty="0"/>
                        <a:t>Clinical features</a:t>
                      </a:r>
                    </a:p>
                  </a:txBody>
                  <a:tcPr/>
                </a:tc>
                <a:tc>
                  <a:txBody>
                    <a:bodyPr/>
                    <a:lstStyle/>
                    <a:p>
                      <a:r>
                        <a:rPr lang="en-US" dirty="0"/>
                        <a:t>Vomiting, nausea, stomach cramps, diarrhea</a:t>
                      </a:r>
                    </a:p>
                  </a:txBody>
                  <a:tcPr/>
                </a:tc>
                <a:tc>
                  <a:txBody>
                    <a:bodyPr/>
                    <a:lstStyle/>
                    <a:p>
                      <a:r>
                        <a:rPr lang="en-US" dirty="0"/>
                        <a:t>Nausea, low grade fever, headache, vomiting, diarrhea, reactive arthritis (some cases)</a:t>
                      </a:r>
                    </a:p>
                  </a:txBody>
                  <a:tcPr/>
                </a:tc>
                <a:tc>
                  <a:txBody>
                    <a:bodyPr/>
                    <a:lstStyle/>
                    <a:p>
                      <a:r>
                        <a:rPr lang="en-US" dirty="0"/>
                        <a:t>Upper GI tract symptom</a:t>
                      </a:r>
                    </a:p>
                  </a:txBody>
                  <a:tcPr/>
                </a:tc>
                <a:tc>
                  <a:txBody>
                    <a:bodyPr/>
                    <a:lstStyle/>
                    <a:p>
                      <a:r>
                        <a:rPr lang="en-US" dirty="0"/>
                        <a:t>Lower GI tract symptom</a:t>
                      </a:r>
                    </a:p>
                  </a:txBody>
                  <a:tcPr/>
                </a:tc>
                <a:extLst>
                  <a:ext uri="{0D108BD9-81ED-4DB2-BD59-A6C34878D82A}">
                    <a16:rowId xmlns:a16="http://schemas.microsoft.com/office/drawing/2014/main" val="1431537314"/>
                  </a:ext>
                </a:extLst>
              </a:tr>
              <a:tr h="965809">
                <a:tc>
                  <a:txBody>
                    <a:bodyPr/>
                    <a:lstStyle/>
                    <a:p>
                      <a:r>
                        <a:rPr lang="en-US" b="1" dirty="0"/>
                        <a:t>Prevention and treatment</a:t>
                      </a:r>
                    </a:p>
                  </a:txBody>
                  <a:tcPr/>
                </a:tc>
                <a:tc gridSpan="4">
                  <a:txBody>
                    <a:bodyPr/>
                    <a:lstStyle/>
                    <a:p>
                      <a:r>
                        <a:rPr lang="en-US" dirty="0"/>
                        <a:t>Symptomatic treatment like fluid therapy, anti-emetic</a:t>
                      </a:r>
                    </a:p>
                    <a:p>
                      <a:r>
                        <a:rPr lang="en-US" dirty="0"/>
                        <a:t>Food Safety measure: Prevent contamination of food with specific health education to food handlers</a:t>
                      </a:r>
                    </a:p>
                    <a:p>
                      <a:r>
                        <a:rPr lang="en-US" dirty="0"/>
                        <a:t>Personal hygiene and sanitary improvement</a:t>
                      </a: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2611348188"/>
                  </a:ext>
                </a:extLst>
              </a:tr>
            </a:tbl>
          </a:graphicData>
        </a:graphic>
      </p:graphicFrame>
    </p:spTree>
    <p:extLst>
      <p:ext uri="{BB962C8B-B14F-4D97-AF65-F5344CB8AC3E}">
        <p14:creationId xmlns:p14="http://schemas.microsoft.com/office/powerpoint/2010/main" val="4242856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EB92-98FE-63C4-BDF2-A13049C224EC}"/>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3C353154-07B5-EA43-D10C-2D36D2C9E214}"/>
              </a:ext>
            </a:extLst>
          </p:cNvPr>
          <p:cNvGraphicFramePr>
            <a:graphicFrameLocks noGrp="1"/>
          </p:cNvGraphicFramePr>
          <p:nvPr>
            <p:ph idx="1"/>
            <p:extLst>
              <p:ext uri="{D42A27DB-BD31-4B8C-83A1-F6EECF244321}">
                <p14:modId xmlns:p14="http://schemas.microsoft.com/office/powerpoint/2010/main" val="744313672"/>
              </p:ext>
            </p:extLst>
          </p:nvPr>
        </p:nvGraphicFramePr>
        <p:xfrm>
          <a:off x="529390" y="101185"/>
          <a:ext cx="11373852" cy="6655630"/>
        </p:xfrm>
        <a:graphic>
          <a:graphicData uri="http://schemas.openxmlformats.org/drawingml/2006/table">
            <a:tbl>
              <a:tblPr firstRow="1" bandRow="1">
                <a:tableStyleId>{7E9639D4-E3E2-4D34-9284-5A2195B3D0D7}</a:tableStyleId>
              </a:tblPr>
              <a:tblGrid>
                <a:gridCol w="2498450">
                  <a:extLst>
                    <a:ext uri="{9D8B030D-6E8A-4147-A177-3AD203B41FA5}">
                      <a16:colId xmlns:a16="http://schemas.microsoft.com/office/drawing/2014/main" val="3461983808"/>
                    </a:ext>
                  </a:extLst>
                </a:gridCol>
                <a:gridCol w="5084118">
                  <a:extLst>
                    <a:ext uri="{9D8B030D-6E8A-4147-A177-3AD203B41FA5}">
                      <a16:colId xmlns:a16="http://schemas.microsoft.com/office/drawing/2014/main" val="1927656157"/>
                    </a:ext>
                  </a:extLst>
                </a:gridCol>
                <a:gridCol w="3791284">
                  <a:extLst>
                    <a:ext uri="{9D8B030D-6E8A-4147-A177-3AD203B41FA5}">
                      <a16:colId xmlns:a16="http://schemas.microsoft.com/office/drawing/2014/main" val="1118932329"/>
                    </a:ext>
                  </a:extLst>
                </a:gridCol>
              </a:tblGrid>
              <a:tr h="873926">
                <a:tc>
                  <a:txBody>
                    <a:bodyPr/>
                    <a:lstStyle/>
                    <a:p>
                      <a:endParaRPr lang="en-US" sz="2300"/>
                    </a:p>
                  </a:txBody>
                  <a:tcPr/>
                </a:tc>
                <a:tc>
                  <a:txBody>
                    <a:bodyPr/>
                    <a:lstStyle/>
                    <a:p>
                      <a:r>
                        <a:rPr lang="en-US" sz="2300" dirty="0"/>
                        <a:t>Botulism</a:t>
                      </a:r>
                    </a:p>
                  </a:txBody>
                  <a:tcPr/>
                </a:tc>
                <a:tc>
                  <a:txBody>
                    <a:bodyPr/>
                    <a:lstStyle/>
                    <a:p>
                      <a:r>
                        <a:rPr lang="en-US" sz="2300" dirty="0"/>
                        <a:t>C. </a:t>
                      </a:r>
                      <a:r>
                        <a:rPr lang="en-US" sz="2300" dirty="0" err="1"/>
                        <a:t>perfringes</a:t>
                      </a:r>
                      <a:endParaRPr lang="en-US" sz="2300" dirty="0"/>
                    </a:p>
                  </a:txBody>
                  <a:tcPr/>
                </a:tc>
                <a:extLst>
                  <a:ext uri="{0D108BD9-81ED-4DB2-BD59-A6C34878D82A}">
                    <a16:rowId xmlns:a16="http://schemas.microsoft.com/office/drawing/2014/main" val="1370884649"/>
                  </a:ext>
                </a:extLst>
              </a:tr>
              <a:tr h="873926">
                <a:tc>
                  <a:txBody>
                    <a:bodyPr/>
                    <a:lstStyle/>
                    <a:p>
                      <a:r>
                        <a:rPr lang="en-US" sz="2300" b="1" dirty="0"/>
                        <a:t>Agent</a:t>
                      </a:r>
                    </a:p>
                  </a:txBody>
                  <a:tcPr/>
                </a:tc>
                <a:tc>
                  <a:txBody>
                    <a:bodyPr/>
                    <a:lstStyle/>
                    <a:p>
                      <a:r>
                        <a:rPr lang="en-US" sz="2300" dirty="0"/>
                        <a:t>Clostridium botulinum – type A, B or E: exotoxin (preformed)</a:t>
                      </a:r>
                      <a:endParaRPr lang="en-US" sz="2300" i="1" dirty="0"/>
                    </a:p>
                  </a:txBody>
                  <a:tcPr/>
                </a:tc>
                <a:tc>
                  <a:txBody>
                    <a:bodyPr/>
                    <a:lstStyle/>
                    <a:p>
                      <a:r>
                        <a:rPr lang="en-US" sz="2300" dirty="0"/>
                        <a:t>Clostridium </a:t>
                      </a:r>
                      <a:r>
                        <a:rPr lang="en-US" sz="2300" dirty="0" err="1"/>
                        <a:t>perfringes</a:t>
                      </a:r>
                      <a:r>
                        <a:rPr lang="en-US" sz="2300" dirty="0"/>
                        <a:t> (C. </a:t>
                      </a:r>
                      <a:r>
                        <a:rPr lang="en-US" sz="2300" dirty="0" err="1"/>
                        <a:t>welchii</a:t>
                      </a:r>
                      <a:r>
                        <a:rPr lang="en-US" sz="2300" dirty="0"/>
                        <a:t>)</a:t>
                      </a:r>
                    </a:p>
                  </a:txBody>
                  <a:tcPr/>
                </a:tc>
                <a:extLst>
                  <a:ext uri="{0D108BD9-81ED-4DB2-BD59-A6C34878D82A}">
                    <a16:rowId xmlns:a16="http://schemas.microsoft.com/office/drawing/2014/main" val="3848205480"/>
                  </a:ext>
                </a:extLst>
              </a:tr>
              <a:tr h="873926">
                <a:tc>
                  <a:txBody>
                    <a:bodyPr/>
                    <a:lstStyle/>
                    <a:p>
                      <a:r>
                        <a:rPr lang="en-US" sz="2300" b="1" dirty="0"/>
                        <a:t>Source of infection</a:t>
                      </a:r>
                    </a:p>
                  </a:txBody>
                  <a:tcPr/>
                </a:tc>
                <a:tc>
                  <a:txBody>
                    <a:bodyPr/>
                    <a:lstStyle/>
                    <a:p>
                      <a:r>
                        <a:rPr lang="en-US" sz="2300" dirty="0"/>
                        <a:t>Home preserved foods such as canned vegetables, smoked fish</a:t>
                      </a:r>
                    </a:p>
                  </a:txBody>
                  <a:tcPr/>
                </a:tc>
                <a:tc>
                  <a:txBody>
                    <a:bodyPr/>
                    <a:lstStyle/>
                    <a:p>
                      <a:r>
                        <a:rPr lang="en-US" sz="2300" dirty="0"/>
                        <a:t>Ingestion of poultry, meat ( reheated)</a:t>
                      </a:r>
                    </a:p>
                  </a:txBody>
                  <a:tcPr/>
                </a:tc>
                <a:extLst>
                  <a:ext uri="{0D108BD9-81ED-4DB2-BD59-A6C34878D82A}">
                    <a16:rowId xmlns:a16="http://schemas.microsoft.com/office/drawing/2014/main" val="1119622944"/>
                  </a:ext>
                </a:extLst>
              </a:tr>
              <a:tr h="873926">
                <a:tc>
                  <a:txBody>
                    <a:bodyPr/>
                    <a:lstStyle/>
                    <a:p>
                      <a:r>
                        <a:rPr lang="en-US" sz="2300" b="1" dirty="0"/>
                        <a:t>Incubation period</a:t>
                      </a:r>
                    </a:p>
                  </a:txBody>
                  <a:tcPr/>
                </a:tc>
                <a:tc>
                  <a:txBody>
                    <a:bodyPr/>
                    <a:lstStyle/>
                    <a:p>
                      <a:r>
                        <a:rPr lang="en-US" sz="2300" dirty="0"/>
                        <a:t>18 – 36 hours</a:t>
                      </a:r>
                    </a:p>
                  </a:txBody>
                  <a:tcPr/>
                </a:tc>
                <a:tc>
                  <a:txBody>
                    <a:bodyPr/>
                    <a:lstStyle/>
                    <a:p>
                      <a:r>
                        <a:rPr lang="en-US" sz="2300" dirty="0"/>
                        <a:t>6 – 24 hours (peak 10 – 14 hours)</a:t>
                      </a:r>
                    </a:p>
                  </a:txBody>
                  <a:tcPr/>
                </a:tc>
                <a:extLst>
                  <a:ext uri="{0D108BD9-81ED-4DB2-BD59-A6C34878D82A}">
                    <a16:rowId xmlns:a16="http://schemas.microsoft.com/office/drawing/2014/main" val="35830107"/>
                  </a:ext>
                </a:extLst>
              </a:tr>
              <a:tr h="1120489">
                <a:tc>
                  <a:txBody>
                    <a:bodyPr/>
                    <a:lstStyle/>
                    <a:p>
                      <a:r>
                        <a:rPr lang="en-US" sz="2300" b="1" dirty="0"/>
                        <a:t>Clinical features</a:t>
                      </a:r>
                    </a:p>
                  </a:txBody>
                  <a:tcPr/>
                </a:tc>
                <a:tc>
                  <a:txBody>
                    <a:bodyPr/>
                    <a:lstStyle/>
                    <a:p>
                      <a:r>
                        <a:rPr lang="en-US" sz="2300" dirty="0"/>
                        <a:t>Dysphagia, diplopia, ptosis, dysarthria, blurring of vision, muscle weakness, quadriplegia</a:t>
                      </a:r>
                    </a:p>
                  </a:txBody>
                  <a:tcPr/>
                </a:tc>
                <a:tc>
                  <a:txBody>
                    <a:bodyPr/>
                    <a:lstStyle/>
                    <a:p>
                      <a:r>
                        <a:rPr lang="en-US" sz="2300" dirty="0"/>
                        <a:t>Diarrhea, abdominal cramp</a:t>
                      </a:r>
                    </a:p>
                  </a:txBody>
                  <a:tcPr/>
                </a:tc>
                <a:extLst>
                  <a:ext uri="{0D108BD9-81ED-4DB2-BD59-A6C34878D82A}">
                    <a16:rowId xmlns:a16="http://schemas.microsoft.com/office/drawing/2014/main" val="2559359462"/>
                  </a:ext>
                </a:extLst>
              </a:tr>
              <a:tr h="873926">
                <a:tc>
                  <a:txBody>
                    <a:bodyPr/>
                    <a:lstStyle/>
                    <a:p>
                      <a:r>
                        <a:rPr lang="en-US" sz="2300" b="1" dirty="0"/>
                        <a:t>Complications</a:t>
                      </a:r>
                    </a:p>
                  </a:txBody>
                  <a:tcPr/>
                </a:tc>
                <a:tc>
                  <a:txBody>
                    <a:bodyPr/>
                    <a:lstStyle/>
                    <a:p>
                      <a:r>
                        <a:rPr lang="en-US" sz="2300" dirty="0"/>
                        <a:t>Death due to respiratory / cardiac failure</a:t>
                      </a:r>
                    </a:p>
                  </a:txBody>
                  <a:tcPr/>
                </a:tc>
                <a:tc>
                  <a:txBody>
                    <a:bodyPr/>
                    <a:lstStyle/>
                    <a:p>
                      <a:r>
                        <a:rPr lang="en-US" sz="2300" dirty="0"/>
                        <a:t>Dehydration</a:t>
                      </a:r>
                    </a:p>
                  </a:txBody>
                  <a:tcPr/>
                </a:tc>
                <a:extLst>
                  <a:ext uri="{0D108BD9-81ED-4DB2-BD59-A6C34878D82A}">
                    <a16:rowId xmlns:a16="http://schemas.microsoft.com/office/drawing/2014/main" val="1540021618"/>
                  </a:ext>
                </a:extLst>
              </a:tr>
              <a:tr h="1120489">
                <a:tc>
                  <a:txBody>
                    <a:bodyPr/>
                    <a:lstStyle/>
                    <a:p>
                      <a:r>
                        <a:rPr lang="en-US" sz="2300" b="1" dirty="0"/>
                        <a:t>Prevention and treatment</a:t>
                      </a:r>
                    </a:p>
                  </a:txBody>
                  <a:tcPr/>
                </a:tc>
                <a:tc>
                  <a:txBody>
                    <a:bodyPr/>
                    <a:lstStyle/>
                    <a:p>
                      <a:r>
                        <a:rPr lang="en-US" sz="2300" dirty="0"/>
                        <a:t>Antitoxin useful in prophylaxis and to reverse neuro-</a:t>
                      </a:r>
                      <a:r>
                        <a:rPr lang="en-US" sz="2300" dirty="0" err="1"/>
                        <a:t>mascular</a:t>
                      </a:r>
                      <a:r>
                        <a:rPr lang="en-US" sz="2300" dirty="0"/>
                        <a:t> block, Guanidine hydrochloride is useful</a:t>
                      </a:r>
                    </a:p>
                  </a:txBody>
                  <a:tcPr/>
                </a:tc>
                <a:tc>
                  <a:txBody>
                    <a:bodyPr/>
                    <a:lstStyle/>
                    <a:p>
                      <a:r>
                        <a:rPr lang="en-US" sz="2300" dirty="0"/>
                        <a:t>Symptomatic treatment</a:t>
                      </a:r>
                    </a:p>
                    <a:p>
                      <a:r>
                        <a:rPr lang="en-US" sz="2300" dirty="0"/>
                        <a:t>Food safety measure</a:t>
                      </a:r>
                    </a:p>
                  </a:txBody>
                  <a:tcPr/>
                </a:tc>
                <a:extLst>
                  <a:ext uri="{0D108BD9-81ED-4DB2-BD59-A6C34878D82A}">
                    <a16:rowId xmlns:a16="http://schemas.microsoft.com/office/drawing/2014/main" val="3535808900"/>
                  </a:ext>
                </a:extLst>
              </a:tr>
            </a:tbl>
          </a:graphicData>
        </a:graphic>
      </p:graphicFrame>
    </p:spTree>
    <p:extLst>
      <p:ext uri="{BB962C8B-B14F-4D97-AF65-F5344CB8AC3E}">
        <p14:creationId xmlns:p14="http://schemas.microsoft.com/office/powerpoint/2010/main" val="3182090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865D-7ACF-1D7C-9CCF-C4A4A9D63A0C}"/>
              </a:ext>
            </a:extLst>
          </p:cNvPr>
          <p:cNvSpPr>
            <a:spLocks noGrp="1"/>
          </p:cNvSpPr>
          <p:nvPr>
            <p:ph type="title"/>
          </p:nvPr>
        </p:nvSpPr>
        <p:spPr/>
        <p:txBody>
          <a:bodyPr/>
          <a:lstStyle/>
          <a:p>
            <a:r>
              <a:rPr lang="en-US" dirty="0"/>
              <a:t>Investigation of food poisoning</a:t>
            </a:r>
          </a:p>
        </p:txBody>
      </p:sp>
      <p:sp>
        <p:nvSpPr>
          <p:cNvPr id="3" name="Content Placeholder 2">
            <a:extLst>
              <a:ext uri="{FF2B5EF4-FFF2-40B4-BE49-F238E27FC236}">
                <a16:creationId xmlns:a16="http://schemas.microsoft.com/office/drawing/2014/main" id="{E2627F68-CFAE-9A23-0911-6A6D1CEFBB86}"/>
              </a:ext>
            </a:extLst>
          </p:cNvPr>
          <p:cNvSpPr>
            <a:spLocks noGrp="1"/>
          </p:cNvSpPr>
          <p:nvPr>
            <p:ph idx="1"/>
          </p:nvPr>
        </p:nvSpPr>
        <p:spPr/>
        <p:txBody>
          <a:bodyPr>
            <a:normAutofit fontScale="92500" lnSpcReduction="10000"/>
          </a:bodyPr>
          <a:lstStyle/>
          <a:p>
            <a:r>
              <a:rPr lang="en-US" dirty="0"/>
              <a:t>Secure complete list of people involved and their history : All the people who have shared part of the food should be interviewed. </a:t>
            </a:r>
          </a:p>
          <a:p>
            <a:r>
              <a:rPr lang="en-US" dirty="0"/>
              <a:t>They may be supplied questionnaires concerning the </a:t>
            </a:r>
          </a:p>
          <a:p>
            <a:pPr lvl="1"/>
            <a:r>
              <a:rPr lang="en-US" dirty="0"/>
              <a:t>Foods eaten during the previous 2 days</a:t>
            </a:r>
          </a:p>
          <a:p>
            <a:pPr lvl="1"/>
            <a:r>
              <a:rPr lang="en-US" dirty="0"/>
              <a:t>Place of consumption; </a:t>
            </a:r>
          </a:p>
          <a:p>
            <a:pPr lvl="1"/>
            <a:r>
              <a:rPr lang="en-US" dirty="0"/>
              <a:t>Time of onset of symptoms; </a:t>
            </a:r>
          </a:p>
          <a:p>
            <a:pPr lvl="1"/>
            <a:r>
              <a:rPr lang="en-US" dirty="0"/>
              <a:t>Symptoms of illness (</a:t>
            </a:r>
            <a:r>
              <a:rPr lang="en-US" dirty="0" err="1"/>
              <a:t>e.G.</a:t>
            </a:r>
            <a:r>
              <a:rPr lang="en-US" dirty="0"/>
              <a:t>, Nausea, vomiting, </a:t>
            </a:r>
            <a:r>
              <a:rPr lang="en-US" dirty="0" err="1"/>
              <a:t>diarrhoea</a:t>
            </a:r>
            <a:r>
              <a:rPr lang="en-US" dirty="0"/>
              <a:t>, abdominal pain, headache, fever, prostration, etc.) In order of occurrence; </a:t>
            </a:r>
          </a:p>
          <a:p>
            <a:pPr lvl="1"/>
            <a:r>
              <a:rPr lang="en-US" dirty="0"/>
              <a:t>Personal data such as age, sex, residence, occupation, and any other helpful information. </a:t>
            </a:r>
          </a:p>
          <a:p>
            <a:r>
              <a:rPr lang="en-US" dirty="0"/>
              <a:t>Questionnaires may be administered to kitchen employees and those working in the dining halls.</a:t>
            </a:r>
          </a:p>
        </p:txBody>
      </p:sp>
    </p:spTree>
    <p:extLst>
      <p:ext uri="{BB962C8B-B14F-4D97-AF65-F5344CB8AC3E}">
        <p14:creationId xmlns:p14="http://schemas.microsoft.com/office/powerpoint/2010/main" val="326828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322B6-6205-A868-63D6-FB742E958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4BCA9-CA18-A04A-089C-E9E848DB309D}"/>
              </a:ext>
            </a:extLst>
          </p:cNvPr>
          <p:cNvSpPr>
            <a:spLocks noGrp="1"/>
          </p:cNvSpPr>
          <p:nvPr>
            <p:ph type="title"/>
          </p:nvPr>
        </p:nvSpPr>
        <p:spPr/>
        <p:txBody>
          <a:bodyPr/>
          <a:lstStyle/>
          <a:p>
            <a:r>
              <a:rPr lang="en-US" dirty="0"/>
              <a:t>Investigation of food poisoning</a:t>
            </a:r>
          </a:p>
        </p:txBody>
      </p:sp>
      <p:sp>
        <p:nvSpPr>
          <p:cNvPr id="3" name="Content Placeholder 2">
            <a:extLst>
              <a:ext uri="{FF2B5EF4-FFF2-40B4-BE49-F238E27FC236}">
                <a16:creationId xmlns:a16="http://schemas.microsoft.com/office/drawing/2014/main" id="{75CA6E9B-E559-1C3F-FCF5-4A9063B7A385}"/>
              </a:ext>
            </a:extLst>
          </p:cNvPr>
          <p:cNvSpPr>
            <a:spLocks noGrp="1"/>
          </p:cNvSpPr>
          <p:nvPr>
            <p:ph idx="1"/>
          </p:nvPr>
        </p:nvSpPr>
        <p:spPr/>
        <p:txBody>
          <a:bodyPr>
            <a:normAutofit fontScale="92500" lnSpcReduction="20000"/>
          </a:bodyPr>
          <a:lstStyle/>
          <a:p>
            <a:r>
              <a:rPr lang="en-US" dirty="0"/>
              <a:t>Laboratory investigations</a:t>
            </a:r>
          </a:p>
          <a:p>
            <a:pPr lvl="1"/>
            <a:r>
              <a:rPr lang="en-US" dirty="0"/>
              <a:t>The object is not only to incriminate the causative agent from stool, vomit or remnants of food by inoculating into appropriate media</a:t>
            </a:r>
          </a:p>
          <a:p>
            <a:pPr lvl="1"/>
            <a:r>
              <a:rPr lang="en-US" dirty="0"/>
              <a:t>Determine the total number of bacteria and the relative numbers of each kind involved. </a:t>
            </a:r>
          </a:p>
          <a:p>
            <a:pPr lvl="1"/>
            <a:r>
              <a:rPr lang="en-US" dirty="0"/>
              <a:t>Stool samples of the kitchen employees and food handlers should also be investigated. </a:t>
            </a:r>
          </a:p>
          <a:p>
            <a:pPr lvl="1"/>
            <a:r>
              <a:rPr lang="en-US" dirty="0"/>
              <a:t>The samples should be examined aerobically and anaerobically. </a:t>
            </a:r>
          </a:p>
          <a:p>
            <a:pPr lvl="1"/>
            <a:r>
              <a:rPr lang="en-US" dirty="0"/>
              <a:t>Phage typing of the organisms should be done to complete the laboratory investigation, </a:t>
            </a:r>
          </a:p>
          <a:p>
            <a:r>
              <a:rPr lang="en-US" dirty="0"/>
              <a:t>Animal experiments : </a:t>
            </a:r>
          </a:p>
          <a:p>
            <a:pPr lvl="1"/>
            <a:r>
              <a:rPr lang="en-US" dirty="0"/>
              <a:t>It may be necessary to feed rhesus monkeys with the remnants of food.</a:t>
            </a:r>
          </a:p>
          <a:p>
            <a:pPr lvl="1"/>
            <a:r>
              <a:rPr lang="en-US" dirty="0"/>
              <a:t>Protection tests are useful in the case of botulism; in this, a saline filtrate of food-stuff is injected subcutaneously into mice protected with antitoxic sera, keeping suitable controls.</a:t>
            </a:r>
          </a:p>
        </p:txBody>
      </p:sp>
    </p:spTree>
    <p:extLst>
      <p:ext uri="{BB962C8B-B14F-4D97-AF65-F5344CB8AC3E}">
        <p14:creationId xmlns:p14="http://schemas.microsoft.com/office/powerpoint/2010/main" val="1872905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B00F6-0A88-B712-8A1E-88A95C093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33D8C-6B87-8C22-06C0-57720C151A85}"/>
              </a:ext>
            </a:extLst>
          </p:cNvPr>
          <p:cNvSpPr>
            <a:spLocks noGrp="1"/>
          </p:cNvSpPr>
          <p:nvPr>
            <p:ph type="title"/>
          </p:nvPr>
        </p:nvSpPr>
        <p:spPr/>
        <p:txBody>
          <a:bodyPr/>
          <a:lstStyle/>
          <a:p>
            <a:r>
              <a:rPr lang="en-US" dirty="0"/>
              <a:t>Investigation of food poisoning</a:t>
            </a:r>
          </a:p>
        </p:txBody>
      </p:sp>
      <p:sp>
        <p:nvSpPr>
          <p:cNvPr id="3" name="Content Placeholder 2">
            <a:extLst>
              <a:ext uri="{FF2B5EF4-FFF2-40B4-BE49-F238E27FC236}">
                <a16:creationId xmlns:a16="http://schemas.microsoft.com/office/drawing/2014/main" id="{47D37D78-7792-B9E0-C86B-C05943A86D50}"/>
              </a:ext>
            </a:extLst>
          </p:cNvPr>
          <p:cNvSpPr>
            <a:spLocks noGrp="1"/>
          </p:cNvSpPr>
          <p:nvPr>
            <p:ph idx="1"/>
          </p:nvPr>
        </p:nvSpPr>
        <p:spPr/>
        <p:txBody>
          <a:bodyPr>
            <a:normAutofit/>
          </a:bodyPr>
          <a:lstStyle/>
          <a:p>
            <a:r>
              <a:rPr lang="en-US" dirty="0"/>
              <a:t>Blood for antibodies : This is useful for retrospective diagnosis, </a:t>
            </a:r>
          </a:p>
          <a:p>
            <a:r>
              <a:rPr lang="en-US" dirty="0"/>
              <a:t>Environmental study : This includes inspection of the eating place(s), kitchen(s), and questioning of food handlers regarding food preparation, </a:t>
            </a:r>
          </a:p>
          <a:p>
            <a:r>
              <a:rPr lang="en-US" dirty="0"/>
              <a:t>Data analysis : The data should be analyzed according to the descriptive methods of time, place and person distribution. </a:t>
            </a:r>
          </a:p>
          <a:p>
            <a:pPr lvl="1"/>
            <a:r>
              <a:rPr lang="en-US" dirty="0"/>
              <a:t>Food-specific attack rates should be calculated. </a:t>
            </a:r>
          </a:p>
          <a:p>
            <a:pPr lvl="1"/>
            <a:r>
              <a:rPr lang="en-US" dirty="0"/>
              <a:t>A case control study may be undertaken to establish the epidemiologic association between, illness and the intake of a particular food.</a:t>
            </a:r>
          </a:p>
        </p:txBody>
      </p:sp>
    </p:spTree>
    <p:extLst>
      <p:ext uri="{BB962C8B-B14F-4D97-AF65-F5344CB8AC3E}">
        <p14:creationId xmlns:p14="http://schemas.microsoft.com/office/powerpoint/2010/main" val="1704163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7F8A-C7DC-DB64-3042-AB8DE99D486E}"/>
              </a:ext>
            </a:extLst>
          </p:cNvPr>
          <p:cNvSpPr>
            <a:spLocks noGrp="1"/>
          </p:cNvSpPr>
          <p:nvPr>
            <p:ph type="title"/>
          </p:nvPr>
        </p:nvSpPr>
        <p:spPr/>
        <p:txBody>
          <a:bodyPr/>
          <a:lstStyle/>
          <a:p>
            <a:r>
              <a:rPr lang="en-US" dirty="0"/>
              <a:t>Prevention and control – food sanitation</a:t>
            </a:r>
          </a:p>
        </p:txBody>
      </p:sp>
      <p:sp>
        <p:nvSpPr>
          <p:cNvPr id="3" name="Content Placeholder 2">
            <a:extLst>
              <a:ext uri="{FF2B5EF4-FFF2-40B4-BE49-F238E27FC236}">
                <a16:creationId xmlns:a16="http://schemas.microsoft.com/office/drawing/2014/main" id="{6B21F5C5-6D8C-29C1-92DF-786822FEF009}"/>
              </a:ext>
            </a:extLst>
          </p:cNvPr>
          <p:cNvSpPr>
            <a:spLocks noGrp="1"/>
          </p:cNvSpPr>
          <p:nvPr>
            <p:ph idx="1"/>
          </p:nvPr>
        </p:nvSpPr>
        <p:spPr/>
        <p:txBody>
          <a:bodyPr>
            <a:normAutofit fontScale="92500"/>
          </a:bodyPr>
          <a:lstStyle/>
          <a:p>
            <a:r>
              <a:rPr lang="en-US" dirty="0"/>
              <a:t>Meat inspection : The food animals must be free from infection. This can be ensured by their examination by veterinary staff, both before and after slaughter, </a:t>
            </a:r>
          </a:p>
          <a:p>
            <a:r>
              <a:rPr lang="en-US" dirty="0"/>
              <a:t>Personal hygiene : A high standard of personal hygiene among individuals engaged in the handling, preparation and cooking of food is needed. </a:t>
            </a:r>
          </a:p>
          <a:p>
            <a:r>
              <a:rPr lang="en-US" dirty="0"/>
              <a:t>Food handlers : Those suffering from infected wounds, boils, </a:t>
            </a:r>
            <a:r>
              <a:rPr lang="en-US" dirty="0" err="1"/>
              <a:t>diarrhoea</a:t>
            </a:r>
            <a:r>
              <a:rPr lang="en-US" dirty="0"/>
              <a:t>, dysentery, throat infection, </a:t>
            </a:r>
            <a:r>
              <a:rPr lang="en-US" dirty="0" err="1"/>
              <a:t>etc</a:t>
            </a:r>
            <a:r>
              <a:rPr lang="en-US" dirty="0"/>
              <a:t> should be excluded from food handling. </a:t>
            </a:r>
          </a:p>
          <a:p>
            <a:pPr lvl="1"/>
            <a:r>
              <a:rPr lang="en-US" dirty="0"/>
              <a:t>The medical inspection of food handlers is required in many countries; this is of limited value in the detection of carriers, although it will remove some sources of infection</a:t>
            </a:r>
          </a:p>
        </p:txBody>
      </p:sp>
    </p:spTree>
    <p:extLst>
      <p:ext uri="{BB962C8B-B14F-4D97-AF65-F5344CB8AC3E}">
        <p14:creationId xmlns:p14="http://schemas.microsoft.com/office/powerpoint/2010/main" val="3007700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42350-688A-7B99-0D18-3E2EB9AB4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36E3C-DC05-AA18-16F4-428889018F87}"/>
              </a:ext>
            </a:extLst>
          </p:cNvPr>
          <p:cNvSpPr>
            <a:spLocks noGrp="1"/>
          </p:cNvSpPr>
          <p:nvPr>
            <p:ph type="title"/>
          </p:nvPr>
        </p:nvSpPr>
        <p:spPr/>
        <p:txBody>
          <a:bodyPr/>
          <a:lstStyle/>
          <a:p>
            <a:r>
              <a:rPr lang="en-US" dirty="0"/>
              <a:t>Prevention and control – food sanitation</a:t>
            </a:r>
          </a:p>
        </p:txBody>
      </p:sp>
      <p:sp>
        <p:nvSpPr>
          <p:cNvPr id="3" name="Content Placeholder 2">
            <a:extLst>
              <a:ext uri="{FF2B5EF4-FFF2-40B4-BE49-F238E27FC236}">
                <a16:creationId xmlns:a16="http://schemas.microsoft.com/office/drawing/2014/main" id="{06F04F4B-4204-BCE6-C156-FC92A5A4EABB}"/>
              </a:ext>
            </a:extLst>
          </p:cNvPr>
          <p:cNvSpPr>
            <a:spLocks noGrp="1"/>
          </p:cNvSpPr>
          <p:nvPr>
            <p:ph idx="1"/>
          </p:nvPr>
        </p:nvSpPr>
        <p:spPr/>
        <p:txBody>
          <a:bodyPr>
            <a:normAutofit fontScale="92500" lnSpcReduction="20000"/>
          </a:bodyPr>
          <a:lstStyle/>
          <a:p>
            <a:r>
              <a:rPr lang="en-US" dirty="0"/>
              <a:t>Food handling techniques : The handling of ready-to-eat foods with bare hands should be reduced to a minimum. </a:t>
            </a:r>
          </a:p>
          <a:p>
            <a:pPr lvl="1"/>
            <a:r>
              <a:rPr lang="en-US" dirty="0"/>
              <a:t>Time between preparation and consumption of food should be kept short. </a:t>
            </a:r>
          </a:p>
          <a:p>
            <a:pPr lvl="1"/>
            <a:r>
              <a:rPr lang="en-US" dirty="0"/>
              <a:t>The importance of rapid cooling and cold storage must be stressed. </a:t>
            </a:r>
          </a:p>
          <a:p>
            <a:pPr lvl="1"/>
            <a:r>
              <a:rPr lang="en-US" dirty="0"/>
              <a:t>Milk, milk products and egg products should be pasteurized. </a:t>
            </a:r>
          </a:p>
          <a:p>
            <a:pPr lvl="1"/>
            <a:r>
              <a:rPr lang="en-US" dirty="0"/>
              <a:t>Food must be thoroughly cooked. </a:t>
            </a:r>
          </a:p>
          <a:p>
            <a:pPr lvl="1"/>
            <a:r>
              <a:rPr lang="en-US" dirty="0"/>
              <a:t>The heal must penetrate the </a:t>
            </a:r>
            <a:r>
              <a:rPr lang="en-US" dirty="0" err="1"/>
              <a:t>centre</a:t>
            </a:r>
            <a:r>
              <a:rPr lang="en-US" dirty="0"/>
              <a:t> of the food leaving thereby no cool spots. </a:t>
            </a:r>
          </a:p>
          <a:p>
            <a:pPr lvl="1"/>
            <a:r>
              <a:rPr lang="en-US" dirty="0"/>
              <a:t>Most food poisoning organisms are killed at temperatures over 60 deg. C.</a:t>
            </a:r>
          </a:p>
          <a:p>
            <a:r>
              <a:rPr lang="en-US" dirty="0"/>
              <a:t>Sanitary improvements : Sanitization of all work surfaces, utensils and </a:t>
            </a:r>
            <a:r>
              <a:rPr lang="en-US" dirty="0" err="1"/>
              <a:t>equipments</a:t>
            </a:r>
            <a:r>
              <a:rPr lang="en-US" dirty="0"/>
              <a:t> must be ensured. </a:t>
            </a:r>
          </a:p>
          <a:p>
            <a:pPr lvl="1"/>
            <a:r>
              <a:rPr lang="en-US" dirty="0"/>
              <a:t>Food premises should be kept free from rats, mice, flies and dust, </a:t>
            </a:r>
          </a:p>
          <a:p>
            <a:r>
              <a:rPr lang="en-US" dirty="0"/>
              <a:t>Health education : Food handlers should be educated in matters of clean habits and personal hygiene, such as frequent and thorough hand washing.</a:t>
            </a:r>
          </a:p>
        </p:txBody>
      </p:sp>
    </p:spTree>
    <p:extLst>
      <p:ext uri="{BB962C8B-B14F-4D97-AF65-F5344CB8AC3E}">
        <p14:creationId xmlns:p14="http://schemas.microsoft.com/office/powerpoint/2010/main" val="1116796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06E74-E94E-38AF-3B8D-F8643A9DA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75C41-F8EB-1271-0D39-769AB674F88D}"/>
              </a:ext>
            </a:extLst>
          </p:cNvPr>
          <p:cNvSpPr>
            <a:spLocks noGrp="1"/>
          </p:cNvSpPr>
          <p:nvPr>
            <p:ph type="title"/>
          </p:nvPr>
        </p:nvSpPr>
        <p:spPr/>
        <p:txBody>
          <a:bodyPr/>
          <a:lstStyle/>
          <a:p>
            <a:r>
              <a:rPr lang="en-US" dirty="0"/>
              <a:t>Prevention and control – refrigeration</a:t>
            </a:r>
          </a:p>
        </p:txBody>
      </p:sp>
      <p:sp>
        <p:nvSpPr>
          <p:cNvPr id="3" name="Content Placeholder 2">
            <a:extLst>
              <a:ext uri="{FF2B5EF4-FFF2-40B4-BE49-F238E27FC236}">
                <a16:creationId xmlns:a16="http://schemas.microsoft.com/office/drawing/2014/main" id="{A3D23D3E-8301-6B89-D906-5EF754429F94}"/>
              </a:ext>
            </a:extLst>
          </p:cNvPr>
          <p:cNvSpPr>
            <a:spLocks noGrp="1"/>
          </p:cNvSpPr>
          <p:nvPr>
            <p:ph idx="1"/>
          </p:nvPr>
        </p:nvSpPr>
        <p:spPr/>
        <p:txBody>
          <a:bodyPr>
            <a:normAutofit fontScale="92500" lnSpcReduction="20000"/>
          </a:bodyPr>
          <a:lstStyle/>
          <a:p>
            <a:r>
              <a:rPr lang="en-US" dirty="0"/>
              <a:t>In the prevention of bacterial food poisoning, emphasis must be placed on proper temperature control. </a:t>
            </a:r>
          </a:p>
          <a:p>
            <a:pPr lvl="1"/>
            <a:r>
              <a:rPr lang="en-US" dirty="0"/>
              <a:t>Food should not be left in warm pantries; a few germs can multiply to millions by the next morning. </a:t>
            </a:r>
          </a:p>
          <a:p>
            <a:pPr lvl="1"/>
            <a:r>
              <a:rPr lang="en-US" dirty="0"/>
              <a:t>Foods not eaten immediately should be kept in cold storage to prevent bacterial multiplication and toxin production.</a:t>
            </a:r>
          </a:p>
          <a:p>
            <a:pPr lvl="1"/>
            <a:r>
              <a:rPr lang="en-US" dirty="0"/>
              <a:t> “Cook and eat the same day” is a golden rule. </a:t>
            </a:r>
          </a:p>
          <a:p>
            <a:pPr lvl="1"/>
            <a:r>
              <a:rPr lang="en-US" dirty="0"/>
              <a:t>When foods are held between 10 deg. C (50 deg. F) and 49 deg. C (120 </a:t>
            </a:r>
            <a:r>
              <a:rPr lang="en-US" dirty="0" err="1"/>
              <a:t>deg.F</a:t>
            </a:r>
            <a:r>
              <a:rPr lang="en-US" dirty="0"/>
              <a:t>) they are in the danger zone for bacterial growth. </a:t>
            </a:r>
          </a:p>
          <a:p>
            <a:pPr lvl="1"/>
            <a:r>
              <a:rPr lang="en-US" dirty="0"/>
              <a:t>Cold is bacteriostatic at temperature below 4 deg. C (40 </a:t>
            </a:r>
            <a:r>
              <a:rPr lang="en-US" dirty="0" err="1"/>
              <a:t>deg.F</a:t>
            </a:r>
            <a:r>
              <a:rPr lang="en-US" dirty="0"/>
              <a:t>), and refrigeration temperature should not exceed this level.</a:t>
            </a:r>
          </a:p>
          <a:p>
            <a:r>
              <a:rPr lang="en-US" dirty="0"/>
              <a:t>SURVEILLANCE; Food samples must be obtained from the food establishments periodically and subjected to laboratory analysis if they were unsatisfactory. Continuing surveillance is necessary to avoid outbreaks of food-borne diseases.</a:t>
            </a:r>
          </a:p>
        </p:txBody>
      </p:sp>
    </p:spTree>
    <p:extLst>
      <p:ext uri="{BB962C8B-B14F-4D97-AF65-F5344CB8AC3E}">
        <p14:creationId xmlns:p14="http://schemas.microsoft.com/office/powerpoint/2010/main" val="3087845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389</TotalTime>
  <Words>3032</Words>
  <Application>Microsoft Office PowerPoint</Application>
  <PresentationFormat>Widescreen</PresentationFormat>
  <Paragraphs>251</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Times New Roman</vt:lpstr>
      <vt:lpstr>Office Theme</vt:lpstr>
      <vt:lpstr>Typhoid fever</vt:lpstr>
      <vt:lpstr>PowerPoint Presentation</vt:lpstr>
      <vt:lpstr>Agent</vt:lpstr>
      <vt:lpstr>Reservoir </vt:lpstr>
      <vt:lpstr>Source of infection</vt:lpstr>
      <vt:lpstr>Host factors</vt:lpstr>
      <vt:lpstr>Environmental factors</vt:lpstr>
      <vt:lpstr>Modes of transmission</vt:lpstr>
      <vt:lpstr>Incubation period</vt:lpstr>
      <vt:lpstr>Clinical features</vt:lpstr>
      <vt:lpstr>Clinical features</vt:lpstr>
      <vt:lpstr>Clinical features - complications</vt:lpstr>
      <vt:lpstr>Fatality rates</vt:lpstr>
      <vt:lpstr>Laboratory diagnosis</vt:lpstr>
      <vt:lpstr>Laboratory diagnosis</vt:lpstr>
      <vt:lpstr>Control</vt:lpstr>
      <vt:lpstr>Control of reservoir - Cases</vt:lpstr>
      <vt:lpstr>Control of reservoir - Cases</vt:lpstr>
      <vt:lpstr>Control of reservoir - Carriers</vt:lpstr>
      <vt:lpstr>Control of reservoir - Carriers</vt:lpstr>
      <vt:lpstr>Control of Sanitation</vt:lpstr>
      <vt:lpstr>Immunization</vt:lpstr>
      <vt:lpstr>Immunization</vt:lpstr>
      <vt:lpstr>Food Poisoning</vt:lpstr>
      <vt:lpstr>PowerPoint Presentation</vt:lpstr>
      <vt:lpstr>Investigation of food poisoning</vt:lpstr>
      <vt:lpstr>Investigation of food poisoning</vt:lpstr>
      <vt:lpstr>Investigation of food poisoning</vt:lpstr>
      <vt:lpstr>Prevention and control – food sanitation</vt:lpstr>
      <vt:lpstr>Prevention and control – food sanitation</vt:lpstr>
      <vt:lpstr>Prevention and control – refrigeration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2024-12-04T12:55:21Z</dcterms:created>
  <dcterms:modified xsi:type="dcterms:W3CDTF">2024-12-04T19:24:33Z</dcterms:modified>
</cp:coreProperties>
</file>