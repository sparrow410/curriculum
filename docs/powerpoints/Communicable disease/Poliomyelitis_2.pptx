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7"/>
  </p:notesMasterIdLst>
  <p:sldIdLst>
    <p:sldId id="256" r:id="rId2"/>
    <p:sldId id="273" r:id="rId3"/>
    <p:sldId id="275" r:id="rId4"/>
    <p:sldId id="280" r:id="rId5"/>
    <p:sldId id="276" r:id="rId6"/>
    <p:sldId id="277" r:id="rId7"/>
    <p:sldId id="278" r:id="rId8"/>
    <p:sldId id="281" r:id="rId9"/>
    <p:sldId id="279" r:id="rId10"/>
    <p:sldId id="284" r:id="rId11"/>
    <p:sldId id="285" r:id="rId12"/>
    <p:sldId id="286" r:id="rId13"/>
    <p:sldId id="287" r:id="rId14"/>
    <p:sldId id="288" r:id="rId15"/>
    <p:sldId id="289" r:id="rId16"/>
    <p:sldId id="290" r:id="rId17"/>
    <p:sldId id="291" r:id="rId18"/>
    <p:sldId id="292" r:id="rId19"/>
    <p:sldId id="293" r:id="rId20"/>
    <p:sldId id="295" r:id="rId21"/>
    <p:sldId id="294"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CDA396-9CFE-463E-AEC3-D85092EC2DE4}" v="4" dt="2024-10-01T05:07:08.3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94660"/>
  </p:normalViewPr>
  <p:slideViewPr>
    <p:cSldViewPr snapToGrid="0">
      <p:cViewPr>
        <p:scale>
          <a:sx n="66" d="100"/>
          <a:sy n="66" d="100"/>
        </p:scale>
        <p:origin x="2196" y="12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ukul maheshwari" userId="12cb43e2ca5f0d2c" providerId="LiveId" clId="{2ECDA396-9CFE-463E-AEC3-D85092EC2DE4}"/>
    <pc:docChg chg="undo custSel addSld modSld">
      <pc:chgData name="mukul maheshwari" userId="12cb43e2ca5f0d2c" providerId="LiveId" clId="{2ECDA396-9CFE-463E-AEC3-D85092EC2DE4}" dt="2024-10-01T05:17:45.620" v="545" actId="13926"/>
      <pc:docMkLst>
        <pc:docMk/>
      </pc:docMkLst>
      <pc:sldChg chg="addSp delSp modSp mod setBg">
        <pc:chgData name="mukul maheshwari" userId="12cb43e2ca5f0d2c" providerId="LiveId" clId="{2ECDA396-9CFE-463E-AEC3-D85092EC2DE4}" dt="2024-10-01T05:07:08.390" v="490" actId="13926"/>
        <pc:sldMkLst>
          <pc:docMk/>
          <pc:sldMk cId="2663316064" sldId="273"/>
        </pc:sldMkLst>
        <pc:spChg chg="mod">
          <ac:chgData name="mukul maheshwari" userId="12cb43e2ca5f0d2c" providerId="LiveId" clId="{2ECDA396-9CFE-463E-AEC3-D85092EC2DE4}" dt="2024-10-01T05:06:27.739" v="486" actId="26606"/>
          <ac:spMkLst>
            <pc:docMk/>
            <pc:sldMk cId="2663316064" sldId="273"/>
            <ac:spMk id="2" creationId="{0D452306-5F01-4A63-E9E4-0FEDA0E2DF96}"/>
          </ac:spMkLst>
        </pc:spChg>
        <pc:spChg chg="del">
          <ac:chgData name="mukul maheshwari" userId="12cb43e2ca5f0d2c" providerId="LiveId" clId="{2ECDA396-9CFE-463E-AEC3-D85092EC2DE4}" dt="2024-10-01T05:06:27.739" v="486" actId="26606"/>
          <ac:spMkLst>
            <pc:docMk/>
            <pc:sldMk cId="2663316064" sldId="273"/>
            <ac:spMk id="3" creationId="{37DD4037-5A5A-402E-0DED-14BFC3EE8038}"/>
          </ac:spMkLst>
        </pc:spChg>
        <pc:spChg chg="add">
          <ac:chgData name="mukul maheshwari" userId="12cb43e2ca5f0d2c" providerId="LiveId" clId="{2ECDA396-9CFE-463E-AEC3-D85092EC2DE4}" dt="2024-10-01T05:06:27.739" v="486" actId="26606"/>
          <ac:spMkLst>
            <pc:docMk/>
            <pc:sldMk cId="2663316064" sldId="273"/>
            <ac:spMk id="9" creationId="{25AD4A59-91FA-4E30-8F32-A8AB51F768C6}"/>
          </ac:spMkLst>
        </pc:spChg>
        <pc:spChg chg="add">
          <ac:chgData name="mukul maheshwari" userId="12cb43e2ca5f0d2c" providerId="LiveId" clId="{2ECDA396-9CFE-463E-AEC3-D85092EC2DE4}" dt="2024-10-01T05:06:27.739" v="486" actId="26606"/>
          <ac:spMkLst>
            <pc:docMk/>
            <pc:sldMk cId="2663316064" sldId="273"/>
            <ac:spMk id="11" creationId="{CDFF45EF-8068-49B8-AFAE-404F6EB18882}"/>
          </ac:spMkLst>
        </pc:spChg>
        <pc:grpChg chg="add">
          <ac:chgData name="mukul maheshwari" userId="12cb43e2ca5f0d2c" providerId="LiveId" clId="{2ECDA396-9CFE-463E-AEC3-D85092EC2DE4}" dt="2024-10-01T05:06:27.739" v="486" actId="26606"/>
          <ac:grpSpMkLst>
            <pc:docMk/>
            <pc:sldMk cId="2663316064" sldId="273"/>
            <ac:grpSpMk id="13" creationId="{C80F1402-11C5-4156-920F-A1D996B47D22}"/>
          </ac:grpSpMkLst>
        </pc:grpChg>
        <pc:graphicFrameChg chg="add mod">
          <ac:chgData name="mukul maheshwari" userId="12cb43e2ca5f0d2c" providerId="LiveId" clId="{2ECDA396-9CFE-463E-AEC3-D85092EC2DE4}" dt="2024-10-01T05:07:08.390" v="490" actId="13926"/>
          <ac:graphicFrameMkLst>
            <pc:docMk/>
            <pc:sldMk cId="2663316064" sldId="273"/>
            <ac:graphicFrameMk id="5" creationId="{C0E13B54-7F83-D375-BC5F-B1BA60C2E6B6}"/>
          </ac:graphicFrameMkLst>
        </pc:graphicFrameChg>
      </pc:sldChg>
      <pc:sldChg chg="addSp delSp modSp mod setBg">
        <pc:chgData name="mukul maheshwari" userId="12cb43e2ca5f0d2c" providerId="LiveId" clId="{2ECDA396-9CFE-463E-AEC3-D85092EC2DE4}" dt="2024-10-01T05:07:30.327" v="492" actId="26606"/>
        <pc:sldMkLst>
          <pc:docMk/>
          <pc:sldMk cId="161541531" sldId="275"/>
        </pc:sldMkLst>
        <pc:spChg chg="mod">
          <ac:chgData name="mukul maheshwari" userId="12cb43e2ca5f0d2c" providerId="LiveId" clId="{2ECDA396-9CFE-463E-AEC3-D85092EC2DE4}" dt="2024-10-01T05:07:30.327" v="492" actId="26606"/>
          <ac:spMkLst>
            <pc:docMk/>
            <pc:sldMk cId="161541531" sldId="275"/>
            <ac:spMk id="2" creationId="{0E5386D4-132C-A17F-5C88-A90ADFAA82B3}"/>
          </ac:spMkLst>
        </pc:spChg>
        <pc:spChg chg="mod">
          <ac:chgData name="mukul maheshwari" userId="12cb43e2ca5f0d2c" providerId="LiveId" clId="{2ECDA396-9CFE-463E-AEC3-D85092EC2DE4}" dt="2024-10-01T05:07:30.327" v="492" actId="26606"/>
          <ac:spMkLst>
            <pc:docMk/>
            <pc:sldMk cId="161541531" sldId="275"/>
            <ac:spMk id="3" creationId="{AA937350-B5FB-AEE3-AE6F-668A572E2BC7}"/>
          </ac:spMkLst>
        </pc:spChg>
        <pc:spChg chg="add del">
          <ac:chgData name="mukul maheshwari" userId="12cb43e2ca5f0d2c" providerId="LiveId" clId="{2ECDA396-9CFE-463E-AEC3-D85092EC2DE4}" dt="2024-10-01T05:07:30.327" v="492" actId="26606"/>
          <ac:spMkLst>
            <pc:docMk/>
            <pc:sldMk cId="161541531" sldId="275"/>
            <ac:spMk id="9" creationId="{25AD4A59-91FA-4E30-8F32-A8AB51F768C6}"/>
          </ac:spMkLst>
        </pc:spChg>
        <pc:spChg chg="add del">
          <ac:chgData name="mukul maheshwari" userId="12cb43e2ca5f0d2c" providerId="LiveId" clId="{2ECDA396-9CFE-463E-AEC3-D85092EC2DE4}" dt="2024-10-01T05:07:30.327" v="492" actId="26606"/>
          <ac:spMkLst>
            <pc:docMk/>
            <pc:sldMk cId="161541531" sldId="275"/>
            <ac:spMk id="11" creationId="{01AF26B4-1569-483F-8223-4C515A87A527}"/>
          </ac:spMkLst>
        </pc:spChg>
        <pc:spChg chg="add del">
          <ac:chgData name="mukul maheshwari" userId="12cb43e2ca5f0d2c" providerId="LiveId" clId="{2ECDA396-9CFE-463E-AEC3-D85092EC2DE4}" dt="2024-10-01T05:07:30.327" v="492" actId="26606"/>
          <ac:spMkLst>
            <pc:docMk/>
            <pc:sldMk cId="161541531" sldId="275"/>
            <ac:spMk id="19" creationId="{EA80DA9C-57E0-4991-B11A-51E132563976}"/>
          </ac:spMkLst>
        </pc:spChg>
        <pc:grpChg chg="add del">
          <ac:chgData name="mukul maheshwari" userId="12cb43e2ca5f0d2c" providerId="LiveId" clId="{2ECDA396-9CFE-463E-AEC3-D85092EC2DE4}" dt="2024-10-01T05:07:30.327" v="492" actId="26606"/>
          <ac:grpSpMkLst>
            <pc:docMk/>
            <pc:sldMk cId="161541531" sldId="275"/>
            <ac:grpSpMk id="13" creationId="{1AC8529D-DF13-4349-856C-DA81451848A7}"/>
          </ac:grpSpMkLst>
        </pc:grpChg>
        <pc:picChg chg="add del">
          <ac:chgData name="mukul maheshwari" userId="12cb43e2ca5f0d2c" providerId="LiveId" clId="{2ECDA396-9CFE-463E-AEC3-D85092EC2DE4}" dt="2024-10-01T05:07:30.327" v="492" actId="26606"/>
          <ac:picMkLst>
            <pc:docMk/>
            <pc:sldMk cId="161541531" sldId="275"/>
            <ac:picMk id="5" creationId="{E73C9F00-B82F-8BB9-678A-7E764C65DA87}"/>
          </ac:picMkLst>
        </pc:picChg>
      </pc:sldChg>
      <pc:sldChg chg="modSp mod">
        <pc:chgData name="mukul maheshwari" userId="12cb43e2ca5f0d2c" providerId="LiveId" clId="{2ECDA396-9CFE-463E-AEC3-D85092EC2DE4}" dt="2024-10-01T05:08:34.429" v="503" actId="13926"/>
        <pc:sldMkLst>
          <pc:docMk/>
          <pc:sldMk cId="3581682948" sldId="287"/>
        </pc:sldMkLst>
        <pc:spChg chg="mod">
          <ac:chgData name="mukul maheshwari" userId="12cb43e2ca5f0d2c" providerId="LiveId" clId="{2ECDA396-9CFE-463E-AEC3-D85092EC2DE4}" dt="2024-10-01T05:08:34.429" v="503" actId="13926"/>
          <ac:spMkLst>
            <pc:docMk/>
            <pc:sldMk cId="3581682948" sldId="287"/>
            <ac:spMk id="3" creationId="{B9235676-4E00-162B-DC52-D4897FC1EB14}"/>
          </ac:spMkLst>
        </pc:spChg>
      </pc:sldChg>
      <pc:sldChg chg="modSp mod">
        <pc:chgData name="mukul maheshwari" userId="12cb43e2ca5f0d2c" providerId="LiveId" clId="{2ECDA396-9CFE-463E-AEC3-D85092EC2DE4}" dt="2024-10-01T05:09:03.359" v="505" actId="13926"/>
        <pc:sldMkLst>
          <pc:docMk/>
          <pc:sldMk cId="4237629177" sldId="291"/>
        </pc:sldMkLst>
        <pc:spChg chg="mod">
          <ac:chgData name="mukul maheshwari" userId="12cb43e2ca5f0d2c" providerId="LiveId" clId="{2ECDA396-9CFE-463E-AEC3-D85092EC2DE4}" dt="2024-10-01T05:09:03.359" v="505" actId="13926"/>
          <ac:spMkLst>
            <pc:docMk/>
            <pc:sldMk cId="4237629177" sldId="291"/>
            <ac:spMk id="3" creationId="{9B8B5A6F-C53D-F968-EF76-1E31090D5274}"/>
          </ac:spMkLst>
        </pc:spChg>
      </pc:sldChg>
      <pc:sldChg chg="modSp mod">
        <pc:chgData name="mukul maheshwari" userId="12cb43e2ca5f0d2c" providerId="LiveId" clId="{2ECDA396-9CFE-463E-AEC3-D85092EC2DE4}" dt="2024-10-01T05:09:20.269" v="507" actId="13926"/>
        <pc:sldMkLst>
          <pc:docMk/>
          <pc:sldMk cId="2534633887" sldId="292"/>
        </pc:sldMkLst>
        <pc:spChg chg="mod">
          <ac:chgData name="mukul maheshwari" userId="12cb43e2ca5f0d2c" providerId="LiveId" clId="{2ECDA396-9CFE-463E-AEC3-D85092EC2DE4}" dt="2024-10-01T05:09:20.269" v="507" actId="13926"/>
          <ac:spMkLst>
            <pc:docMk/>
            <pc:sldMk cId="2534633887" sldId="292"/>
            <ac:spMk id="3" creationId="{0DE34B57-BCE2-0322-F926-536CB03D4BAB}"/>
          </ac:spMkLst>
        </pc:spChg>
      </pc:sldChg>
      <pc:sldChg chg="modSp mod">
        <pc:chgData name="mukul maheshwari" userId="12cb43e2ca5f0d2c" providerId="LiveId" clId="{2ECDA396-9CFE-463E-AEC3-D85092EC2DE4}" dt="2024-10-01T05:10:07.568" v="511" actId="13926"/>
        <pc:sldMkLst>
          <pc:docMk/>
          <pc:sldMk cId="40604544" sldId="294"/>
        </pc:sldMkLst>
        <pc:spChg chg="mod">
          <ac:chgData name="mukul maheshwari" userId="12cb43e2ca5f0d2c" providerId="LiveId" clId="{2ECDA396-9CFE-463E-AEC3-D85092EC2DE4}" dt="2024-10-01T05:10:07.568" v="511" actId="13926"/>
          <ac:spMkLst>
            <pc:docMk/>
            <pc:sldMk cId="40604544" sldId="294"/>
            <ac:spMk id="3" creationId="{2B50B3BD-CDC8-A835-81E9-37D4B7B87A62}"/>
          </ac:spMkLst>
        </pc:spChg>
      </pc:sldChg>
      <pc:sldChg chg="modSp mod">
        <pc:chgData name="mukul maheshwari" userId="12cb43e2ca5f0d2c" providerId="LiveId" clId="{2ECDA396-9CFE-463E-AEC3-D85092EC2DE4}" dt="2024-10-01T05:09:44.949" v="509" actId="13926"/>
        <pc:sldMkLst>
          <pc:docMk/>
          <pc:sldMk cId="348122098" sldId="295"/>
        </pc:sldMkLst>
        <pc:spChg chg="mod">
          <ac:chgData name="mukul maheshwari" userId="12cb43e2ca5f0d2c" providerId="LiveId" clId="{2ECDA396-9CFE-463E-AEC3-D85092EC2DE4}" dt="2024-10-01T05:09:44.949" v="509" actId="13926"/>
          <ac:spMkLst>
            <pc:docMk/>
            <pc:sldMk cId="348122098" sldId="295"/>
            <ac:spMk id="3" creationId="{7A9D41B1-73E3-4C52-D3BB-45182903F87A}"/>
          </ac:spMkLst>
        </pc:spChg>
      </pc:sldChg>
      <pc:sldChg chg="modSp mod">
        <pc:chgData name="mukul maheshwari" userId="12cb43e2ca5f0d2c" providerId="LiveId" clId="{2ECDA396-9CFE-463E-AEC3-D85092EC2DE4}" dt="2024-10-01T05:10:52.537" v="515" actId="13926"/>
        <pc:sldMkLst>
          <pc:docMk/>
          <pc:sldMk cId="645557435" sldId="297"/>
        </pc:sldMkLst>
        <pc:spChg chg="mod">
          <ac:chgData name="mukul maheshwari" userId="12cb43e2ca5f0d2c" providerId="LiveId" clId="{2ECDA396-9CFE-463E-AEC3-D85092EC2DE4}" dt="2024-10-01T05:10:52.537" v="515" actId="13926"/>
          <ac:spMkLst>
            <pc:docMk/>
            <pc:sldMk cId="645557435" sldId="297"/>
            <ac:spMk id="3" creationId="{7852DFCE-462F-4F0F-B371-3661F51B59F4}"/>
          </ac:spMkLst>
        </pc:spChg>
      </pc:sldChg>
      <pc:sldChg chg="modSp mod">
        <pc:chgData name="mukul maheshwari" userId="12cb43e2ca5f0d2c" providerId="LiveId" clId="{2ECDA396-9CFE-463E-AEC3-D85092EC2DE4}" dt="2024-10-01T05:11:07.581" v="517" actId="13926"/>
        <pc:sldMkLst>
          <pc:docMk/>
          <pc:sldMk cId="3214603591" sldId="298"/>
        </pc:sldMkLst>
        <pc:spChg chg="mod">
          <ac:chgData name="mukul maheshwari" userId="12cb43e2ca5f0d2c" providerId="LiveId" clId="{2ECDA396-9CFE-463E-AEC3-D85092EC2DE4}" dt="2024-10-01T05:11:07.581" v="517" actId="13926"/>
          <ac:spMkLst>
            <pc:docMk/>
            <pc:sldMk cId="3214603591" sldId="298"/>
            <ac:spMk id="3" creationId="{F0DA552F-B7F8-A482-07DA-5026EF77D398}"/>
          </ac:spMkLst>
        </pc:spChg>
      </pc:sldChg>
      <pc:sldChg chg="modSp mod">
        <pc:chgData name="mukul maheshwari" userId="12cb43e2ca5f0d2c" providerId="LiveId" clId="{2ECDA396-9CFE-463E-AEC3-D85092EC2DE4}" dt="2024-10-01T05:11:49.044" v="518" actId="13926"/>
        <pc:sldMkLst>
          <pc:docMk/>
          <pc:sldMk cId="697893151" sldId="299"/>
        </pc:sldMkLst>
        <pc:spChg chg="mod">
          <ac:chgData name="mukul maheshwari" userId="12cb43e2ca5f0d2c" providerId="LiveId" clId="{2ECDA396-9CFE-463E-AEC3-D85092EC2DE4}" dt="2024-10-01T05:11:49.044" v="518" actId="13926"/>
          <ac:spMkLst>
            <pc:docMk/>
            <pc:sldMk cId="697893151" sldId="299"/>
            <ac:spMk id="3" creationId="{2206FAAA-E4C7-5871-6BC7-A0803A0EA8B8}"/>
          </ac:spMkLst>
        </pc:spChg>
      </pc:sldChg>
      <pc:sldChg chg="modSp mod">
        <pc:chgData name="mukul maheshwari" userId="12cb43e2ca5f0d2c" providerId="LiveId" clId="{2ECDA396-9CFE-463E-AEC3-D85092EC2DE4}" dt="2024-10-01T05:12:30.666" v="524" actId="13926"/>
        <pc:sldMkLst>
          <pc:docMk/>
          <pc:sldMk cId="3146905257" sldId="300"/>
        </pc:sldMkLst>
        <pc:spChg chg="mod">
          <ac:chgData name="mukul maheshwari" userId="12cb43e2ca5f0d2c" providerId="LiveId" clId="{2ECDA396-9CFE-463E-AEC3-D85092EC2DE4}" dt="2024-10-01T05:12:30.666" v="524" actId="13926"/>
          <ac:spMkLst>
            <pc:docMk/>
            <pc:sldMk cId="3146905257" sldId="300"/>
            <ac:spMk id="3" creationId="{7EE65D51-47B7-4121-0A5E-41C4787B393E}"/>
          </ac:spMkLst>
        </pc:spChg>
      </pc:sldChg>
      <pc:sldChg chg="modSp mod">
        <pc:chgData name="mukul maheshwari" userId="12cb43e2ca5f0d2c" providerId="LiveId" clId="{2ECDA396-9CFE-463E-AEC3-D85092EC2DE4}" dt="2024-10-01T05:12:44.479" v="525" actId="13926"/>
        <pc:sldMkLst>
          <pc:docMk/>
          <pc:sldMk cId="3222142154" sldId="301"/>
        </pc:sldMkLst>
        <pc:spChg chg="mod">
          <ac:chgData name="mukul maheshwari" userId="12cb43e2ca5f0d2c" providerId="LiveId" clId="{2ECDA396-9CFE-463E-AEC3-D85092EC2DE4}" dt="2024-10-01T05:12:44.479" v="525" actId="13926"/>
          <ac:spMkLst>
            <pc:docMk/>
            <pc:sldMk cId="3222142154" sldId="301"/>
            <ac:spMk id="3" creationId="{08061CA1-4C2B-18E3-9BFA-2B51EC6F9431}"/>
          </ac:spMkLst>
        </pc:spChg>
      </pc:sldChg>
      <pc:sldChg chg="modSp mod">
        <pc:chgData name="mukul maheshwari" userId="12cb43e2ca5f0d2c" providerId="LiveId" clId="{2ECDA396-9CFE-463E-AEC3-D85092EC2DE4}" dt="2024-10-01T05:12:57.956" v="526" actId="13926"/>
        <pc:sldMkLst>
          <pc:docMk/>
          <pc:sldMk cId="1649257881" sldId="302"/>
        </pc:sldMkLst>
        <pc:spChg chg="mod">
          <ac:chgData name="mukul maheshwari" userId="12cb43e2ca5f0d2c" providerId="LiveId" clId="{2ECDA396-9CFE-463E-AEC3-D85092EC2DE4}" dt="2024-10-01T05:12:57.956" v="526" actId="13926"/>
          <ac:spMkLst>
            <pc:docMk/>
            <pc:sldMk cId="1649257881" sldId="302"/>
            <ac:spMk id="3" creationId="{CB8AFB20-DBA6-C7AE-A90A-C973F5D6E3FA}"/>
          </ac:spMkLst>
        </pc:spChg>
      </pc:sldChg>
      <pc:sldChg chg="modSp mod">
        <pc:chgData name="mukul maheshwari" userId="12cb43e2ca5f0d2c" providerId="LiveId" clId="{2ECDA396-9CFE-463E-AEC3-D85092EC2DE4}" dt="2024-10-01T05:13:31.302" v="529" actId="13926"/>
        <pc:sldMkLst>
          <pc:docMk/>
          <pc:sldMk cId="341175573" sldId="303"/>
        </pc:sldMkLst>
        <pc:spChg chg="mod">
          <ac:chgData name="mukul maheshwari" userId="12cb43e2ca5f0d2c" providerId="LiveId" clId="{2ECDA396-9CFE-463E-AEC3-D85092EC2DE4}" dt="2024-10-01T05:13:31.302" v="529" actId="13926"/>
          <ac:spMkLst>
            <pc:docMk/>
            <pc:sldMk cId="341175573" sldId="303"/>
            <ac:spMk id="3" creationId="{D0E04D9B-29E0-5DBA-BD83-D8113EEEF5DB}"/>
          </ac:spMkLst>
        </pc:spChg>
      </pc:sldChg>
      <pc:sldChg chg="modSp new mod">
        <pc:chgData name="mukul maheshwari" userId="12cb43e2ca5f0d2c" providerId="LiveId" clId="{2ECDA396-9CFE-463E-AEC3-D85092EC2DE4}" dt="2024-10-01T05:15:52.944" v="534" actId="13926"/>
        <pc:sldMkLst>
          <pc:docMk/>
          <pc:sldMk cId="3930060141" sldId="304"/>
        </pc:sldMkLst>
        <pc:spChg chg="mod">
          <ac:chgData name="mukul maheshwari" userId="12cb43e2ca5f0d2c" providerId="LiveId" clId="{2ECDA396-9CFE-463E-AEC3-D85092EC2DE4}" dt="2024-10-01T04:49:57.641" v="120" actId="20577"/>
          <ac:spMkLst>
            <pc:docMk/>
            <pc:sldMk cId="3930060141" sldId="304"/>
            <ac:spMk id="2" creationId="{C4B29657-2FE3-8A1B-EEE7-BFEA11060044}"/>
          </ac:spMkLst>
        </pc:spChg>
        <pc:spChg chg="mod">
          <ac:chgData name="mukul maheshwari" userId="12cb43e2ca5f0d2c" providerId="LiveId" clId="{2ECDA396-9CFE-463E-AEC3-D85092EC2DE4}" dt="2024-10-01T05:15:52.944" v="534" actId="13926"/>
          <ac:spMkLst>
            <pc:docMk/>
            <pc:sldMk cId="3930060141" sldId="304"/>
            <ac:spMk id="3" creationId="{F622E6CE-6F56-D4CA-3CFF-4F0046085EF8}"/>
          </ac:spMkLst>
        </pc:spChg>
      </pc:sldChg>
      <pc:sldChg chg="modSp new mod">
        <pc:chgData name="mukul maheshwari" userId="12cb43e2ca5f0d2c" providerId="LiveId" clId="{2ECDA396-9CFE-463E-AEC3-D85092EC2DE4}" dt="2024-10-01T05:16:43.015" v="539" actId="13926"/>
        <pc:sldMkLst>
          <pc:docMk/>
          <pc:sldMk cId="2336966063" sldId="305"/>
        </pc:sldMkLst>
        <pc:spChg chg="mod">
          <ac:chgData name="mukul maheshwari" userId="12cb43e2ca5f0d2c" providerId="LiveId" clId="{2ECDA396-9CFE-463E-AEC3-D85092EC2DE4}" dt="2024-10-01T04:52:36.249" v="219" actId="20577"/>
          <ac:spMkLst>
            <pc:docMk/>
            <pc:sldMk cId="2336966063" sldId="305"/>
            <ac:spMk id="2" creationId="{56B12299-C347-78A0-022E-75BD173780F9}"/>
          </ac:spMkLst>
        </pc:spChg>
        <pc:spChg chg="mod">
          <ac:chgData name="mukul maheshwari" userId="12cb43e2ca5f0d2c" providerId="LiveId" clId="{2ECDA396-9CFE-463E-AEC3-D85092EC2DE4}" dt="2024-10-01T05:16:43.015" v="539" actId="13926"/>
          <ac:spMkLst>
            <pc:docMk/>
            <pc:sldMk cId="2336966063" sldId="305"/>
            <ac:spMk id="3" creationId="{CD52BAC0-9685-041F-64CF-FBAA6284CFB2}"/>
          </ac:spMkLst>
        </pc:spChg>
      </pc:sldChg>
      <pc:sldChg chg="modSp add mod">
        <pc:chgData name="mukul maheshwari" userId="12cb43e2ca5f0d2c" providerId="LiveId" clId="{2ECDA396-9CFE-463E-AEC3-D85092EC2DE4}" dt="2024-10-01T05:17:21.807" v="542" actId="13926"/>
        <pc:sldMkLst>
          <pc:docMk/>
          <pc:sldMk cId="188541278" sldId="306"/>
        </pc:sldMkLst>
        <pc:spChg chg="mod">
          <ac:chgData name="mukul maheshwari" userId="12cb43e2ca5f0d2c" providerId="LiveId" clId="{2ECDA396-9CFE-463E-AEC3-D85092EC2DE4}" dt="2024-10-01T05:17:21.807" v="542" actId="13926"/>
          <ac:spMkLst>
            <pc:docMk/>
            <pc:sldMk cId="188541278" sldId="306"/>
            <ac:spMk id="3" creationId="{3CC5B137-6896-EF4F-AA79-BA71C901A6F9}"/>
          </ac:spMkLst>
        </pc:spChg>
      </pc:sldChg>
      <pc:sldChg chg="modSp new mod">
        <pc:chgData name="mukul maheshwari" userId="12cb43e2ca5f0d2c" providerId="LiveId" clId="{2ECDA396-9CFE-463E-AEC3-D85092EC2DE4}" dt="2024-10-01T05:17:33.065" v="543" actId="13926"/>
        <pc:sldMkLst>
          <pc:docMk/>
          <pc:sldMk cId="304250146" sldId="307"/>
        </pc:sldMkLst>
        <pc:spChg chg="mod">
          <ac:chgData name="mukul maheshwari" userId="12cb43e2ca5f0d2c" providerId="LiveId" clId="{2ECDA396-9CFE-463E-AEC3-D85092EC2DE4}" dt="2024-10-01T04:59:08.960" v="393" actId="20577"/>
          <ac:spMkLst>
            <pc:docMk/>
            <pc:sldMk cId="304250146" sldId="307"/>
            <ac:spMk id="2" creationId="{974DB04E-B161-FBD1-A97A-5B6D88D119D0}"/>
          </ac:spMkLst>
        </pc:spChg>
        <pc:spChg chg="mod">
          <ac:chgData name="mukul maheshwari" userId="12cb43e2ca5f0d2c" providerId="LiveId" clId="{2ECDA396-9CFE-463E-AEC3-D85092EC2DE4}" dt="2024-10-01T05:17:33.065" v="543" actId="13926"/>
          <ac:spMkLst>
            <pc:docMk/>
            <pc:sldMk cId="304250146" sldId="307"/>
            <ac:spMk id="3" creationId="{DA8D39E6-B942-7821-9CE3-10188CF154B1}"/>
          </ac:spMkLst>
        </pc:spChg>
      </pc:sldChg>
      <pc:sldChg chg="modSp new mod">
        <pc:chgData name="mukul maheshwari" userId="12cb43e2ca5f0d2c" providerId="LiveId" clId="{2ECDA396-9CFE-463E-AEC3-D85092EC2DE4}" dt="2024-10-01T05:17:45.620" v="545" actId="13926"/>
        <pc:sldMkLst>
          <pc:docMk/>
          <pc:sldMk cId="1835824650" sldId="308"/>
        </pc:sldMkLst>
        <pc:spChg chg="mod">
          <ac:chgData name="mukul maheshwari" userId="12cb43e2ca5f0d2c" providerId="LiveId" clId="{2ECDA396-9CFE-463E-AEC3-D85092EC2DE4}" dt="2024-10-01T05:17:45.620" v="545" actId="13926"/>
          <ac:spMkLst>
            <pc:docMk/>
            <pc:sldMk cId="1835824650" sldId="308"/>
            <ac:spMk id="3" creationId="{500A9424-E7B7-C191-12B3-88562A5B3983}"/>
          </ac:spMkLst>
        </pc:spChg>
      </pc:sldChg>
      <pc:sldChg chg="addSp delSp modSp new mod setBg">
        <pc:chgData name="mukul maheshwari" userId="12cb43e2ca5f0d2c" providerId="LiveId" clId="{2ECDA396-9CFE-463E-AEC3-D85092EC2DE4}" dt="2024-10-01T05:02:36.248" v="485" actId="403"/>
        <pc:sldMkLst>
          <pc:docMk/>
          <pc:sldMk cId="3692639793" sldId="309"/>
        </pc:sldMkLst>
        <pc:spChg chg="del">
          <ac:chgData name="mukul maheshwari" userId="12cb43e2ca5f0d2c" providerId="LiveId" clId="{2ECDA396-9CFE-463E-AEC3-D85092EC2DE4}" dt="2024-10-01T05:01:47.676" v="461" actId="478"/>
          <ac:spMkLst>
            <pc:docMk/>
            <pc:sldMk cId="3692639793" sldId="309"/>
            <ac:spMk id="2" creationId="{AFDE46BB-594D-9E3B-29B3-0E2EFFAC44D3}"/>
          </ac:spMkLst>
        </pc:spChg>
        <pc:spChg chg="mod">
          <ac:chgData name="mukul maheshwari" userId="12cb43e2ca5f0d2c" providerId="LiveId" clId="{2ECDA396-9CFE-463E-AEC3-D85092EC2DE4}" dt="2024-10-01T05:02:36.248" v="485" actId="403"/>
          <ac:spMkLst>
            <pc:docMk/>
            <pc:sldMk cId="3692639793" sldId="309"/>
            <ac:spMk id="3" creationId="{FB0CEC5E-69D0-71EE-3989-5A8D2429AAFD}"/>
          </ac:spMkLst>
        </pc:spChg>
        <pc:spChg chg="add">
          <ac:chgData name="mukul maheshwari" userId="12cb43e2ca5f0d2c" providerId="LiveId" clId="{2ECDA396-9CFE-463E-AEC3-D85092EC2DE4}" dt="2024-10-01T05:02:23.035" v="474" actId="26606"/>
          <ac:spMkLst>
            <pc:docMk/>
            <pc:sldMk cId="3692639793" sldId="309"/>
            <ac:spMk id="10" creationId="{25AD4A59-91FA-4E30-8F32-A8AB51F768C6}"/>
          </ac:spMkLst>
        </pc:spChg>
        <pc:spChg chg="add">
          <ac:chgData name="mukul maheshwari" userId="12cb43e2ca5f0d2c" providerId="LiveId" clId="{2ECDA396-9CFE-463E-AEC3-D85092EC2DE4}" dt="2024-10-01T05:02:23.035" v="474" actId="26606"/>
          <ac:spMkLst>
            <pc:docMk/>
            <pc:sldMk cId="3692639793" sldId="309"/>
            <ac:spMk id="12" creationId="{CBF27B2E-4DE7-47FD-8277-1C6703DB207C}"/>
          </ac:spMkLst>
        </pc:spChg>
        <pc:grpChg chg="add">
          <ac:chgData name="mukul maheshwari" userId="12cb43e2ca5f0d2c" providerId="LiveId" clId="{2ECDA396-9CFE-463E-AEC3-D85092EC2DE4}" dt="2024-10-01T05:02:23.035" v="474" actId="26606"/>
          <ac:grpSpMkLst>
            <pc:docMk/>
            <pc:sldMk cId="3692639793" sldId="309"/>
            <ac:grpSpMk id="14" creationId="{30E84C15-9243-4CCA-86B8-7A13EE2808AE}"/>
          </ac:grpSpMkLst>
        </pc:grpChg>
        <pc:picChg chg="add">
          <ac:chgData name="mukul maheshwari" userId="12cb43e2ca5f0d2c" providerId="LiveId" clId="{2ECDA396-9CFE-463E-AEC3-D85092EC2DE4}" dt="2024-10-01T05:02:23.035" v="474" actId="26606"/>
          <ac:picMkLst>
            <pc:docMk/>
            <pc:sldMk cId="3692639793" sldId="309"/>
            <ac:picMk id="7" creationId="{5FDA3253-1891-304D-75AA-3BADAAF55B7F}"/>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A90D72-39A8-4CE7-B975-F93A83BFC2A8}"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B8CFFDD-96B1-49B3-9275-A46D7EDA7537}">
      <dgm:prSet/>
      <dgm:spPr/>
      <dgm:t>
        <a:bodyPr/>
        <a:lstStyle/>
        <a:p>
          <a:r>
            <a:rPr lang="en-US" dirty="0"/>
            <a:t>Oral polio vaccine (OPV) was described by </a:t>
          </a:r>
          <a:r>
            <a:rPr lang="en-US" dirty="0">
              <a:highlight>
                <a:srgbClr val="FFFF00"/>
              </a:highlight>
            </a:rPr>
            <a:t>Sabin in 1957</a:t>
          </a:r>
          <a:r>
            <a:rPr lang="en-US" dirty="0"/>
            <a:t>. </a:t>
          </a:r>
        </a:p>
      </dgm:t>
    </dgm:pt>
    <dgm:pt modelId="{44E3DDAC-7100-482E-9ADF-D1E91461F715}" type="parTrans" cxnId="{4C51870C-E592-4173-A39D-D36DAC33EEF4}">
      <dgm:prSet/>
      <dgm:spPr/>
      <dgm:t>
        <a:bodyPr/>
        <a:lstStyle/>
        <a:p>
          <a:endParaRPr lang="en-US"/>
        </a:p>
      </dgm:t>
    </dgm:pt>
    <dgm:pt modelId="{462E91D7-8C39-4E50-A8FF-192ABB4B2127}" type="sibTrans" cxnId="{4C51870C-E592-4173-A39D-D36DAC33EEF4}">
      <dgm:prSet/>
      <dgm:spPr/>
      <dgm:t>
        <a:bodyPr/>
        <a:lstStyle/>
        <a:p>
          <a:endParaRPr lang="en-US"/>
        </a:p>
      </dgm:t>
    </dgm:pt>
    <dgm:pt modelId="{E14CE373-00CA-4AF0-9723-BDECB7A79A61}">
      <dgm:prSet/>
      <dgm:spPr/>
      <dgm:t>
        <a:bodyPr/>
        <a:lstStyle/>
        <a:p>
          <a:r>
            <a:rPr lang="en-US" dirty="0"/>
            <a:t>It contains live attenuated virus (types 1,2 and 3) grown in </a:t>
          </a:r>
          <a:r>
            <a:rPr lang="en-US" dirty="0">
              <a:highlight>
                <a:srgbClr val="FFFF00"/>
              </a:highlight>
            </a:rPr>
            <a:t>primary monkey kidney or human diploid cell cultures</a:t>
          </a:r>
          <a:r>
            <a:rPr lang="en-US" dirty="0"/>
            <a:t>. </a:t>
          </a:r>
        </a:p>
      </dgm:t>
    </dgm:pt>
    <dgm:pt modelId="{7F15159A-26CD-46E6-B680-B9C7ACED1B60}" type="parTrans" cxnId="{55F69228-208A-4CC0-9D13-A54222CDE8AF}">
      <dgm:prSet/>
      <dgm:spPr/>
      <dgm:t>
        <a:bodyPr/>
        <a:lstStyle/>
        <a:p>
          <a:endParaRPr lang="en-US"/>
        </a:p>
      </dgm:t>
    </dgm:pt>
    <dgm:pt modelId="{B9570D41-43BC-4D78-B2A1-D0640FD8EDF7}" type="sibTrans" cxnId="{55F69228-208A-4CC0-9D13-A54222CDE8AF}">
      <dgm:prSet/>
      <dgm:spPr/>
      <dgm:t>
        <a:bodyPr/>
        <a:lstStyle/>
        <a:p>
          <a:endParaRPr lang="en-US"/>
        </a:p>
      </dgm:t>
    </dgm:pt>
    <dgm:pt modelId="{0E4D13B5-DD8C-4866-8E25-884A72F16BF3}">
      <dgm:prSet/>
      <dgm:spPr/>
      <dgm:t>
        <a:bodyPr/>
        <a:lstStyle/>
        <a:p>
          <a:r>
            <a:rPr lang="en-US" dirty="0"/>
            <a:t>Ideally each virus type should be given separately as monovalent vaccine, but for </a:t>
          </a:r>
          <a:r>
            <a:rPr lang="en-US" dirty="0">
              <a:highlight>
                <a:srgbClr val="FFFF00"/>
              </a:highlight>
            </a:rPr>
            <a:t>administrative convenience, rather than efficacy</a:t>
          </a:r>
          <a:r>
            <a:rPr lang="en-US" dirty="0"/>
            <a:t>, it is given as bivalent (</a:t>
          </a:r>
          <a:r>
            <a:rPr lang="en-US" dirty="0" err="1"/>
            <a:t>bOPV</a:t>
          </a:r>
          <a:r>
            <a:rPr lang="en-US" dirty="0"/>
            <a:t>) vaccine.</a:t>
          </a:r>
        </a:p>
      </dgm:t>
    </dgm:pt>
    <dgm:pt modelId="{B60D704D-9670-4888-9268-E84560EB0A60}" type="parTrans" cxnId="{409270D3-09BF-4F8D-8405-3226E67A1E15}">
      <dgm:prSet/>
      <dgm:spPr/>
      <dgm:t>
        <a:bodyPr/>
        <a:lstStyle/>
        <a:p>
          <a:endParaRPr lang="en-US"/>
        </a:p>
      </dgm:t>
    </dgm:pt>
    <dgm:pt modelId="{281AFFD2-5563-4BE3-94B5-93FC67F30D48}" type="sibTrans" cxnId="{409270D3-09BF-4F8D-8405-3226E67A1E15}">
      <dgm:prSet/>
      <dgm:spPr/>
      <dgm:t>
        <a:bodyPr/>
        <a:lstStyle/>
        <a:p>
          <a:endParaRPr lang="en-US"/>
        </a:p>
      </dgm:t>
    </dgm:pt>
    <dgm:pt modelId="{308C9B35-7FF1-4BC5-AC7F-F76C7897268D}" type="pres">
      <dgm:prSet presAssocID="{14A90D72-39A8-4CE7-B975-F93A83BFC2A8}" presName="vert0" presStyleCnt="0">
        <dgm:presLayoutVars>
          <dgm:dir/>
          <dgm:animOne val="branch"/>
          <dgm:animLvl val="lvl"/>
        </dgm:presLayoutVars>
      </dgm:prSet>
      <dgm:spPr/>
    </dgm:pt>
    <dgm:pt modelId="{9AED8F6B-3CB9-45C1-BF20-18B0E0879EAA}" type="pres">
      <dgm:prSet presAssocID="{9B8CFFDD-96B1-49B3-9275-A46D7EDA7537}" presName="thickLine" presStyleLbl="alignNode1" presStyleIdx="0" presStyleCnt="3"/>
      <dgm:spPr/>
    </dgm:pt>
    <dgm:pt modelId="{885FB068-9152-4A28-BE30-F0C89623A158}" type="pres">
      <dgm:prSet presAssocID="{9B8CFFDD-96B1-49B3-9275-A46D7EDA7537}" presName="horz1" presStyleCnt="0"/>
      <dgm:spPr/>
    </dgm:pt>
    <dgm:pt modelId="{02FEF64A-C5D8-49F9-9600-263CAE304279}" type="pres">
      <dgm:prSet presAssocID="{9B8CFFDD-96B1-49B3-9275-A46D7EDA7537}" presName="tx1" presStyleLbl="revTx" presStyleIdx="0" presStyleCnt="3"/>
      <dgm:spPr/>
    </dgm:pt>
    <dgm:pt modelId="{0F9D0301-5CB8-4C83-835E-3220834E9CDF}" type="pres">
      <dgm:prSet presAssocID="{9B8CFFDD-96B1-49B3-9275-A46D7EDA7537}" presName="vert1" presStyleCnt="0"/>
      <dgm:spPr/>
    </dgm:pt>
    <dgm:pt modelId="{DE3129E7-6C51-4859-BE45-C225BCB60C83}" type="pres">
      <dgm:prSet presAssocID="{E14CE373-00CA-4AF0-9723-BDECB7A79A61}" presName="thickLine" presStyleLbl="alignNode1" presStyleIdx="1" presStyleCnt="3"/>
      <dgm:spPr/>
    </dgm:pt>
    <dgm:pt modelId="{BF53921C-5F11-407C-80BD-2CB9CEEBFFB9}" type="pres">
      <dgm:prSet presAssocID="{E14CE373-00CA-4AF0-9723-BDECB7A79A61}" presName="horz1" presStyleCnt="0"/>
      <dgm:spPr/>
    </dgm:pt>
    <dgm:pt modelId="{C62FF79A-6B9A-449F-88F5-9FEF51EFA12E}" type="pres">
      <dgm:prSet presAssocID="{E14CE373-00CA-4AF0-9723-BDECB7A79A61}" presName="tx1" presStyleLbl="revTx" presStyleIdx="1" presStyleCnt="3"/>
      <dgm:spPr/>
    </dgm:pt>
    <dgm:pt modelId="{66BED62E-F807-40B6-A34F-C0F8FBCF2704}" type="pres">
      <dgm:prSet presAssocID="{E14CE373-00CA-4AF0-9723-BDECB7A79A61}" presName="vert1" presStyleCnt="0"/>
      <dgm:spPr/>
    </dgm:pt>
    <dgm:pt modelId="{8BE171B8-596A-401A-9483-630368F4D452}" type="pres">
      <dgm:prSet presAssocID="{0E4D13B5-DD8C-4866-8E25-884A72F16BF3}" presName="thickLine" presStyleLbl="alignNode1" presStyleIdx="2" presStyleCnt="3"/>
      <dgm:spPr/>
    </dgm:pt>
    <dgm:pt modelId="{68965657-F5F4-4E19-BA05-03DBC6C67C74}" type="pres">
      <dgm:prSet presAssocID="{0E4D13B5-DD8C-4866-8E25-884A72F16BF3}" presName="horz1" presStyleCnt="0"/>
      <dgm:spPr/>
    </dgm:pt>
    <dgm:pt modelId="{F73AE50D-673B-4241-B7FD-A7B9BC8BC605}" type="pres">
      <dgm:prSet presAssocID="{0E4D13B5-DD8C-4866-8E25-884A72F16BF3}" presName="tx1" presStyleLbl="revTx" presStyleIdx="2" presStyleCnt="3"/>
      <dgm:spPr/>
    </dgm:pt>
    <dgm:pt modelId="{3A858708-EA2D-4374-815D-DEA642AA24C8}" type="pres">
      <dgm:prSet presAssocID="{0E4D13B5-DD8C-4866-8E25-884A72F16BF3}" presName="vert1" presStyleCnt="0"/>
      <dgm:spPr/>
    </dgm:pt>
  </dgm:ptLst>
  <dgm:cxnLst>
    <dgm:cxn modelId="{5837D604-3EBE-483B-AB3A-71B870203249}" type="presOf" srcId="{9B8CFFDD-96B1-49B3-9275-A46D7EDA7537}" destId="{02FEF64A-C5D8-49F9-9600-263CAE304279}" srcOrd="0" destOrd="0" presId="urn:microsoft.com/office/officeart/2008/layout/LinedList"/>
    <dgm:cxn modelId="{39F5690B-DCA7-4E94-9701-36FF00F9855B}" type="presOf" srcId="{E14CE373-00CA-4AF0-9723-BDECB7A79A61}" destId="{C62FF79A-6B9A-449F-88F5-9FEF51EFA12E}" srcOrd="0" destOrd="0" presId="urn:microsoft.com/office/officeart/2008/layout/LinedList"/>
    <dgm:cxn modelId="{4C51870C-E592-4173-A39D-D36DAC33EEF4}" srcId="{14A90D72-39A8-4CE7-B975-F93A83BFC2A8}" destId="{9B8CFFDD-96B1-49B3-9275-A46D7EDA7537}" srcOrd="0" destOrd="0" parTransId="{44E3DDAC-7100-482E-9ADF-D1E91461F715}" sibTransId="{462E91D7-8C39-4E50-A8FF-192ABB4B2127}"/>
    <dgm:cxn modelId="{A3648711-6A4D-4B34-BC5B-F59243DF4C5B}" type="presOf" srcId="{14A90D72-39A8-4CE7-B975-F93A83BFC2A8}" destId="{308C9B35-7FF1-4BC5-AC7F-F76C7897268D}" srcOrd="0" destOrd="0" presId="urn:microsoft.com/office/officeart/2008/layout/LinedList"/>
    <dgm:cxn modelId="{55F69228-208A-4CC0-9D13-A54222CDE8AF}" srcId="{14A90D72-39A8-4CE7-B975-F93A83BFC2A8}" destId="{E14CE373-00CA-4AF0-9723-BDECB7A79A61}" srcOrd="1" destOrd="0" parTransId="{7F15159A-26CD-46E6-B680-B9C7ACED1B60}" sibTransId="{B9570D41-43BC-4D78-B2A1-D0640FD8EDF7}"/>
    <dgm:cxn modelId="{F30C9E71-743D-4987-BD05-F36B7456523D}" type="presOf" srcId="{0E4D13B5-DD8C-4866-8E25-884A72F16BF3}" destId="{F73AE50D-673B-4241-B7FD-A7B9BC8BC605}" srcOrd="0" destOrd="0" presId="urn:microsoft.com/office/officeart/2008/layout/LinedList"/>
    <dgm:cxn modelId="{409270D3-09BF-4F8D-8405-3226E67A1E15}" srcId="{14A90D72-39A8-4CE7-B975-F93A83BFC2A8}" destId="{0E4D13B5-DD8C-4866-8E25-884A72F16BF3}" srcOrd="2" destOrd="0" parTransId="{B60D704D-9670-4888-9268-E84560EB0A60}" sibTransId="{281AFFD2-5563-4BE3-94B5-93FC67F30D48}"/>
    <dgm:cxn modelId="{C8643696-ABEE-4EED-AED5-CF42D4E8B16C}" type="presParOf" srcId="{308C9B35-7FF1-4BC5-AC7F-F76C7897268D}" destId="{9AED8F6B-3CB9-45C1-BF20-18B0E0879EAA}" srcOrd="0" destOrd="0" presId="urn:microsoft.com/office/officeart/2008/layout/LinedList"/>
    <dgm:cxn modelId="{E9110CBA-D3E8-4121-8B17-682B02E9C013}" type="presParOf" srcId="{308C9B35-7FF1-4BC5-AC7F-F76C7897268D}" destId="{885FB068-9152-4A28-BE30-F0C89623A158}" srcOrd="1" destOrd="0" presId="urn:microsoft.com/office/officeart/2008/layout/LinedList"/>
    <dgm:cxn modelId="{179AB543-08AD-4357-9098-488174D9B173}" type="presParOf" srcId="{885FB068-9152-4A28-BE30-F0C89623A158}" destId="{02FEF64A-C5D8-49F9-9600-263CAE304279}" srcOrd="0" destOrd="0" presId="urn:microsoft.com/office/officeart/2008/layout/LinedList"/>
    <dgm:cxn modelId="{418196CB-4EC6-4345-8026-444451B08391}" type="presParOf" srcId="{885FB068-9152-4A28-BE30-F0C89623A158}" destId="{0F9D0301-5CB8-4C83-835E-3220834E9CDF}" srcOrd="1" destOrd="0" presId="urn:microsoft.com/office/officeart/2008/layout/LinedList"/>
    <dgm:cxn modelId="{CFF0C973-F100-463D-9A8E-3E2C06BE12FA}" type="presParOf" srcId="{308C9B35-7FF1-4BC5-AC7F-F76C7897268D}" destId="{DE3129E7-6C51-4859-BE45-C225BCB60C83}" srcOrd="2" destOrd="0" presId="urn:microsoft.com/office/officeart/2008/layout/LinedList"/>
    <dgm:cxn modelId="{B4164A19-16BF-42D4-9BC7-E325F40F950E}" type="presParOf" srcId="{308C9B35-7FF1-4BC5-AC7F-F76C7897268D}" destId="{BF53921C-5F11-407C-80BD-2CB9CEEBFFB9}" srcOrd="3" destOrd="0" presId="urn:microsoft.com/office/officeart/2008/layout/LinedList"/>
    <dgm:cxn modelId="{643B8679-C549-4AE9-8DFA-64EC6ED63D76}" type="presParOf" srcId="{BF53921C-5F11-407C-80BD-2CB9CEEBFFB9}" destId="{C62FF79A-6B9A-449F-88F5-9FEF51EFA12E}" srcOrd="0" destOrd="0" presId="urn:microsoft.com/office/officeart/2008/layout/LinedList"/>
    <dgm:cxn modelId="{2BAAC114-3D2A-4D1F-95CA-9B20268CB5BB}" type="presParOf" srcId="{BF53921C-5F11-407C-80BD-2CB9CEEBFFB9}" destId="{66BED62E-F807-40B6-A34F-C0F8FBCF2704}" srcOrd="1" destOrd="0" presId="urn:microsoft.com/office/officeart/2008/layout/LinedList"/>
    <dgm:cxn modelId="{B47F3EEC-0FEE-4778-9CF1-F62D70F07BB4}" type="presParOf" srcId="{308C9B35-7FF1-4BC5-AC7F-F76C7897268D}" destId="{8BE171B8-596A-401A-9483-630368F4D452}" srcOrd="4" destOrd="0" presId="urn:microsoft.com/office/officeart/2008/layout/LinedList"/>
    <dgm:cxn modelId="{818AFACB-8DDB-4596-8919-BECC6F38AC30}" type="presParOf" srcId="{308C9B35-7FF1-4BC5-AC7F-F76C7897268D}" destId="{68965657-F5F4-4E19-BA05-03DBC6C67C74}" srcOrd="5" destOrd="0" presId="urn:microsoft.com/office/officeart/2008/layout/LinedList"/>
    <dgm:cxn modelId="{D4BF7756-22F5-4957-848A-E36AF1A00479}" type="presParOf" srcId="{68965657-F5F4-4E19-BA05-03DBC6C67C74}" destId="{F73AE50D-673B-4241-B7FD-A7B9BC8BC605}" srcOrd="0" destOrd="0" presId="urn:microsoft.com/office/officeart/2008/layout/LinedList"/>
    <dgm:cxn modelId="{66FBDF72-9677-48CA-9331-57C4B355354C}" type="presParOf" srcId="{68965657-F5F4-4E19-BA05-03DBC6C67C74}" destId="{3A858708-EA2D-4374-815D-DEA642AA24C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ED8F6B-3CB9-45C1-BF20-18B0E0879EAA}">
      <dsp:nvSpPr>
        <dsp:cNvPr id="0" name=""/>
        <dsp:cNvSpPr/>
      </dsp:nvSpPr>
      <dsp:spPr>
        <a:xfrm>
          <a:off x="0" y="2970"/>
          <a:ext cx="848237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FEF64A-C5D8-49F9-9600-263CAE304279}">
      <dsp:nvSpPr>
        <dsp:cNvPr id="0" name=""/>
        <dsp:cNvSpPr/>
      </dsp:nvSpPr>
      <dsp:spPr>
        <a:xfrm>
          <a:off x="0" y="2970"/>
          <a:ext cx="8482371" cy="2026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t>Oral polio vaccine (OPV) was described by </a:t>
          </a:r>
          <a:r>
            <a:rPr lang="en-US" sz="3300" kern="1200" dirty="0">
              <a:highlight>
                <a:srgbClr val="FFFF00"/>
              </a:highlight>
            </a:rPr>
            <a:t>Sabin in 1957</a:t>
          </a:r>
          <a:r>
            <a:rPr lang="en-US" sz="3300" kern="1200" dirty="0"/>
            <a:t>. </a:t>
          </a:r>
        </a:p>
      </dsp:txBody>
      <dsp:txXfrm>
        <a:off x="0" y="2970"/>
        <a:ext cx="8482371" cy="2026016"/>
      </dsp:txXfrm>
    </dsp:sp>
    <dsp:sp modelId="{DE3129E7-6C51-4859-BE45-C225BCB60C83}">
      <dsp:nvSpPr>
        <dsp:cNvPr id="0" name=""/>
        <dsp:cNvSpPr/>
      </dsp:nvSpPr>
      <dsp:spPr>
        <a:xfrm>
          <a:off x="0" y="2028986"/>
          <a:ext cx="8482371" cy="0"/>
        </a:xfrm>
        <a:prstGeom prst="line">
          <a:avLst/>
        </a:prstGeom>
        <a:solidFill>
          <a:schemeClr val="accent2">
            <a:hueOff val="1509444"/>
            <a:satOff val="5150"/>
            <a:lumOff val="2549"/>
            <a:alphaOff val="0"/>
          </a:schemeClr>
        </a:solidFill>
        <a:ln w="12700" cap="flat" cmpd="sng" algn="ctr">
          <a:solidFill>
            <a:schemeClr val="accent2">
              <a:hueOff val="1509444"/>
              <a:satOff val="5150"/>
              <a:lumOff val="254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2FF79A-6B9A-449F-88F5-9FEF51EFA12E}">
      <dsp:nvSpPr>
        <dsp:cNvPr id="0" name=""/>
        <dsp:cNvSpPr/>
      </dsp:nvSpPr>
      <dsp:spPr>
        <a:xfrm>
          <a:off x="0" y="2028986"/>
          <a:ext cx="8482371" cy="2026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t>It contains live attenuated virus (types 1,2 and 3) grown in </a:t>
          </a:r>
          <a:r>
            <a:rPr lang="en-US" sz="3300" kern="1200" dirty="0">
              <a:highlight>
                <a:srgbClr val="FFFF00"/>
              </a:highlight>
            </a:rPr>
            <a:t>primary monkey kidney or human diploid cell cultures</a:t>
          </a:r>
          <a:r>
            <a:rPr lang="en-US" sz="3300" kern="1200" dirty="0"/>
            <a:t>. </a:t>
          </a:r>
        </a:p>
      </dsp:txBody>
      <dsp:txXfrm>
        <a:off x="0" y="2028986"/>
        <a:ext cx="8482371" cy="2026016"/>
      </dsp:txXfrm>
    </dsp:sp>
    <dsp:sp modelId="{8BE171B8-596A-401A-9483-630368F4D452}">
      <dsp:nvSpPr>
        <dsp:cNvPr id="0" name=""/>
        <dsp:cNvSpPr/>
      </dsp:nvSpPr>
      <dsp:spPr>
        <a:xfrm>
          <a:off x="0" y="4055003"/>
          <a:ext cx="8482371" cy="0"/>
        </a:xfrm>
        <a:prstGeom prst="line">
          <a:avLst/>
        </a:prstGeom>
        <a:solidFill>
          <a:schemeClr val="accent2">
            <a:hueOff val="3018887"/>
            <a:satOff val="10299"/>
            <a:lumOff val="5098"/>
            <a:alphaOff val="0"/>
          </a:schemeClr>
        </a:solidFill>
        <a:ln w="12700" cap="flat" cmpd="sng" algn="ctr">
          <a:solidFill>
            <a:schemeClr val="accent2">
              <a:hueOff val="3018887"/>
              <a:satOff val="10299"/>
              <a:lumOff val="509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3AE50D-673B-4241-B7FD-A7B9BC8BC605}">
      <dsp:nvSpPr>
        <dsp:cNvPr id="0" name=""/>
        <dsp:cNvSpPr/>
      </dsp:nvSpPr>
      <dsp:spPr>
        <a:xfrm>
          <a:off x="0" y="4055003"/>
          <a:ext cx="8482371" cy="202601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t>Ideally each virus type should be given separately as monovalent vaccine, but for </a:t>
          </a:r>
          <a:r>
            <a:rPr lang="en-US" sz="3300" kern="1200" dirty="0">
              <a:highlight>
                <a:srgbClr val="FFFF00"/>
              </a:highlight>
            </a:rPr>
            <a:t>administrative convenience, rather than efficacy</a:t>
          </a:r>
          <a:r>
            <a:rPr lang="en-US" sz="3300" kern="1200" dirty="0"/>
            <a:t>, it is given as bivalent (</a:t>
          </a:r>
          <a:r>
            <a:rPr lang="en-US" sz="3300" kern="1200" dirty="0" err="1"/>
            <a:t>bOPV</a:t>
          </a:r>
          <a:r>
            <a:rPr lang="en-US" sz="3300" kern="1200" dirty="0"/>
            <a:t>) vaccine.</a:t>
          </a:r>
        </a:p>
      </dsp:txBody>
      <dsp:txXfrm>
        <a:off x="0" y="4055003"/>
        <a:ext cx="8482371" cy="202601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B7718B-4E88-4760-9E52-EC3C99F8C6D2}" type="datetimeFigureOut">
              <a:rPr lang="en-US" smtClean="0"/>
              <a:t>9/30/2024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58D099-FE9A-4832-BF52-E5D563131ACB}" type="slidenum">
              <a:rPr lang="en-US" smtClean="0"/>
              <a:t>‹#›</a:t>
            </a:fld>
            <a:endParaRPr lang="en-US"/>
          </a:p>
        </p:txBody>
      </p:sp>
    </p:spTree>
    <p:extLst>
      <p:ext uri="{BB962C8B-B14F-4D97-AF65-F5344CB8AC3E}">
        <p14:creationId xmlns:p14="http://schemas.microsoft.com/office/powerpoint/2010/main" val="1098908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558D099-FE9A-4832-BF52-E5D563131ACB}" type="slidenum">
              <a:rPr lang="en-US" smtClean="0"/>
              <a:t>16</a:t>
            </a:fld>
            <a:endParaRPr lang="en-US"/>
          </a:p>
        </p:txBody>
      </p:sp>
    </p:spTree>
    <p:extLst>
      <p:ext uri="{BB962C8B-B14F-4D97-AF65-F5344CB8AC3E}">
        <p14:creationId xmlns:p14="http://schemas.microsoft.com/office/powerpoint/2010/main" val="4145359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3B052-A59B-4AE3-A89A-E7748630C1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BDA9EC4-FEA9-41D2-BE8D-F709F01D375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E155CF-52F5-4879-B7F3-D05812AC4A6D}"/>
              </a:ext>
            </a:extLst>
          </p:cNvPr>
          <p:cNvSpPr>
            <a:spLocks noGrp="1"/>
          </p:cNvSpPr>
          <p:nvPr>
            <p:ph type="dt" sz="half" idx="10"/>
          </p:nvPr>
        </p:nvSpPr>
        <p:spPr/>
        <p:txBody>
          <a:bodyPr/>
          <a:lstStyle/>
          <a:p>
            <a:fld id="{65B910DF-B555-4D30-B35E-2297D59E32D0}" type="datetime1">
              <a:rPr lang="en-US" smtClean="0"/>
              <a:t>9/30/2024</a:t>
            </a:fld>
            <a:endParaRPr lang="en-US" dirty="0"/>
          </a:p>
        </p:txBody>
      </p:sp>
      <p:sp>
        <p:nvSpPr>
          <p:cNvPr id="5" name="Footer Placeholder 4">
            <a:extLst>
              <a:ext uri="{FF2B5EF4-FFF2-40B4-BE49-F238E27FC236}">
                <a16:creationId xmlns:a16="http://schemas.microsoft.com/office/drawing/2014/main" id="{80D053AC-61ED-4C2F-90BF-D4A916545107}"/>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138B2ED7-A198-4613-B8C9-EE02BAE24FA4}"/>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716601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98991-AEF1-4F19-AAB8-436EAD58C28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25B44F-E7DA-40C6-8B44-71EAB6BDFC98}"/>
              </a:ext>
            </a:extLst>
          </p:cNvPr>
          <p:cNvSpPr>
            <a:spLocks noGrp="1"/>
          </p:cNvSpPr>
          <p:nvPr>
            <p:ph idx="1"/>
          </p:nvPr>
        </p:nvSpPr>
        <p:spPr/>
        <p:txBody>
          <a:bodyPr/>
          <a:lstStyle>
            <a:lvl2pPr marL="685800" indent="-228600">
              <a:buFont typeface="Courier New" panose="02070309020205020404" pitchFamily="49" charset="0"/>
              <a:buChar char="o"/>
              <a:defRPr/>
            </a:lvl2pPr>
            <a:lvl4pPr marL="1600200" indent="-228600">
              <a:buFont typeface="Courier New" panose="02070309020205020404" pitchFamily="49" charset="0"/>
              <a:buChar char="o"/>
              <a:defRPr/>
            </a:lvl4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F71817-A045-48C0-975B-CBEF88E9561E}"/>
              </a:ext>
            </a:extLst>
          </p:cNvPr>
          <p:cNvSpPr>
            <a:spLocks noGrp="1"/>
          </p:cNvSpPr>
          <p:nvPr>
            <p:ph type="dt" sz="half" idx="10"/>
          </p:nvPr>
        </p:nvSpPr>
        <p:spPr/>
        <p:txBody>
          <a:bodyPr/>
          <a:lstStyle/>
          <a:p>
            <a:fld id="{0DF2F1F9-9322-493A-A9EE-BB75692CE5F5}" type="datetime1">
              <a:rPr lang="en-US" smtClean="0"/>
              <a:t>9/30/2024</a:t>
            </a:fld>
            <a:endParaRPr lang="en-US" dirty="0"/>
          </a:p>
        </p:txBody>
      </p:sp>
      <p:sp>
        <p:nvSpPr>
          <p:cNvPr id="5" name="Footer Placeholder 4">
            <a:extLst>
              <a:ext uri="{FF2B5EF4-FFF2-40B4-BE49-F238E27FC236}">
                <a16:creationId xmlns:a16="http://schemas.microsoft.com/office/drawing/2014/main" id="{B61C39F0-32D4-407C-8BCA-97F2D9E500C9}"/>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99CF4459-37B2-4F87-B508-DB04D4332067}"/>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704097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BBD03-9D57-48E9-8B43-688B729972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83F376C-8A2F-4BE5-9669-4A6DA21B77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2654893-212E-4450-8F7A-27256B31F9FB}"/>
              </a:ext>
            </a:extLst>
          </p:cNvPr>
          <p:cNvSpPr>
            <a:spLocks noGrp="1"/>
          </p:cNvSpPr>
          <p:nvPr>
            <p:ph type="dt" sz="half" idx="10"/>
          </p:nvPr>
        </p:nvSpPr>
        <p:spPr/>
        <p:txBody>
          <a:bodyPr/>
          <a:lstStyle/>
          <a:p>
            <a:fld id="{7858DE51-4D5E-4D23-8181-86A5B05D5351}" type="datetime1">
              <a:rPr lang="en-US" smtClean="0"/>
              <a:t>9/30/2024</a:t>
            </a:fld>
            <a:endParaRPr lang="en-US" dirty="0"/>
          </a:p>
        </p:txBody>
      </p:sp>
      <p:sp>
        <p:nvSpPr>
          <p:cNvPr id="5" name="Footer Placeholder 4">
            <a:extLst>
              <a:ext uri="{FF2B5EF4-FFF2-40B4-BE49-F238E27FC236}">
                <a16:creationId xmlns:a16="http://schemas.microsoft.com/office/drawing/2014/main" id="{600E881A-3958-44A9-9EDB-D86F4E4144C0}"/>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CFEDBC4F-D9B8-4BFA-BE4F-D4B9B739D1BA}"/>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4396716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C8777-C460-4649-8822-CA943386D0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DF69E6-1094-437B-AA7E-0E21B7136CC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20BC963-4591-4BE3-AE63-4999A13C50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504D5BB-DB84-4266-9B4F-E65CCFE5B310}"/>
              </a:ext>
            </a:extLst>
          </p:cNvPr>
          <p:cNvSpPr>
            <a:spLocks noGrp="1"/>
          </p:cNvSpPr>
          <p:nvPr>
            <p:ph type="dt" sz="half" idx="10"/>
          </p:nvPr>
        </p:nvSpPr>
        <p:spPr/>
        <p:txBody>
          <a:bodyPr/>
          <a:lstStyle/>
          <a:p>
            <a:fld id="{9C399FCA-87F3-427A-B1A2-15346103C68A}" type="datetime1">
              <a:rPr lang="en-US" smtClean="0"/>
              <a:t>9/30/2024</a:t>
            </a:fld>
            <a:endParaRPr lang="en-US" dirty="0"/>
          </a:p>
        </p:txBody>
      </p:sp>
      <p:sp>
        <p:nvSpPr>
          <p:cNvPr id="6" name="Footer Placeholder 5">
            <a:extLst>
              <a:ext uri="{FF2B5EF4-FFF2-40B4-BE49-F238E27FC236}">
                <a16:creationId xmlns:a16="http://schemas.microsoft.com/office/drawing/2014/main" id="{891A99B5-D493-4AB1-AF24-6660540D56AD}"/>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FE178D0-5F1E-43FA-B447-53501EDD17C0}"/>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052249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85CC-8D2B-4219-A2A4-1625A02DFEC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143C8-1CF7-440E-99A3-0527314598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EFF5CA-4662-4430-80C7-99CD7D66C9C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6CB5B7-DC23-41CE-872B-E25BD64F84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F7633C-C24D-4947-979C-132B3AC405A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E8A46E1-3934-4807-900F-CA7A4D8D66B3}"/>
              </a:ext>
            </a:extLst>
          </p:cNvPr>
          <p:cNvSpPr>
            <a:spLocks noGrp="1"/>
          </p:cNvSpPr>
          <p:nvPr>
            <p:ph type="dt" sz="half" idx="10"/>
          </p:nvPr>
        </p:nvSpPr>
        <p:spPr/>
        <p:txBody>
          <a:bodyPr/>
          <a:lstStyle/>
          <a:p>
            <a:fld id="{693DF709-7E2D-49E6-A629-D8E3363D194F}" type="datetime1">
              <a:rPr lang="en-US" smtClean="0"/>
              <a:t>9/30/2024</a:t>
            </a:fld>
            <a:endParaRPr lang="en-US" dirty="0"/>
          </a:p>
        </p:txBody>
      </p:sp>
      <p:sp>
        <p:nvSpPr>
          <p:cNvPr id="8" name="Footer Placeholder 7">
            <a:extLst>
              <a:ext uri="{FF2B5EF4-FFF2-40B4-BE49-F238E27FC236}">
                <a16:creationId xmlns:a16="http://schemas.microsoft.com/office/drawing/2014/main" id="{4BC9C6EA-1549-4601-8226-E5C43469CAFE}"/>
              </a:ext>
            </a:extLst>
          </p:cNvPr>
          <p:cNvSpPr>
            <a:spLocks noGrp="1"/>
          </p:cNvSpPr>
          <p:nvPr>
            <p:ph type="ftr" sz="quarter" idx="11"/>
          </p:nvPr>
        </p:nvSpPr>
        <p:spPr/>
        <p:txBody>
          <a:bodyPr/>
          <a:lstStyle/>
          <a:p>
            <a:r>
              <a:rPr lang="en-US"/>
              <a:t>Sample Footer Text</a:t>
            </a:r>
            <a:endParaRPr lang="en-US" dirty="0"/>
          </a:p>
        </p:txBody>
      </p:sp>
      <p:sp>
        <p:nvSpPr>
          <p:cNvPr id="9" name="Slide Number Placeholder 8">
            <a:extLst>
              <a:ext uri="{FF2B5EF4-FFF2-40B4-BE49-F238E27FC236}">
                <a16:creationId xmlns:a16="http://schemas.microsoft.com/office/drawing/2014/main" id="{F3658246-003D-4024-9F4B-BA3BD3FBFFBC}"/>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51769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B2DD4C-BFBC-4087-B94C-4DD0690E838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9D434-8228-4C7F-B520-14121EBC903B}"/>
              </a:ext>
            </a:extLst>
          </p:cNvPr>
          <p:cNvSpPr>
            <a:spLocks noGrp="1"/>
          </p:cNvSpPr>
          <p:nvPr>
            <p:ph type="dt" sz="half" idx="10"/>
          </p:nvPr>
        </p:nvSpPr>
        <p:spPr/>
        <p:txBody>
          <a:bodyPr/>
          <a:lstStyle/>
          <a:p>
            <a:fld id="{85D0A921-9375-4BAA-A7C2-7975528669FA}" type="datetime1">
              <a:rPr lang="en-US" smtClean="0"/>
              <a:t>9/30/2024</a:t>
            </a:fld>
            <a:endParaRPr lang="en-US" dirty="0"/>
          </a:p>
        </p:txBody>
      </p:sp>
      <p:sp>
        <p:nvSpPr>
          <p:cNvPr id="4" name="Footer Placeholder 3">
            <a:extLst>
              <a:ext uri="{FF2B5EF4-FFF2-40B4-BE49-F238E27FC236}">
                <a16:creationId xmlns:a16="http://schemas.microsoft.com/office/drawing/2014/main" id="{997B89BD-A70A-48D2-A3D9-DB2C0DB123B4}"/>
              </a:ext>
            </a:extLst>
          </p:cNvPr>
          <p:cNvSpPr>
            <a:spLocks noGrp="1"/>
          </p:cNvSpPr>
          <p:nvPr>
            <p:ph type="ftr" sz="quarter" idx="11"/>
          </p:nvPr>
        </p:nvSpPr>
        <p:spPr/>
        <p:txBody>
          <a:bodyPr/>
          <a:lstStyle/>
          <a:p>
            <a:r>
              <a:rPr lang="en-US"/>
              <a:t>Sample Footer Text</a:t>
            </a:r>
            <a:endParaRPr lang="en-US" dirty="0"/>
          </a:p>
        </p:txBody>
      </p:sp>
      <p:sp>
        <p:nvSpPr>
          <p:cNvPr id="5" name="Slide Number Placeholder 4">
            <a:extLst>
              <a:ext uri="{FF2B5EF4-FFF2-40B4-BE49-F238E27FC236}">
                <a16:creationId xmlns:a16="http://schemas.microsoft.com/office/drawing/2014/main" id="{B4ACF4EF-5A2A-4A47-81DF-80CB513060F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480640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18B9F00-8450-475B-B155-993BAF212AF6}"/>
              </a:ext>
            </a:extLst>
          </p:cNvPr>
          <p:cNvSpPr>
            <a:spLocks noGrp="1"/>
          </p:cNvSpPr>
          <p:nvPr>
            <p:ph type="dt" sz="half" idx="10"/>
          </p:nvPr>
        </p:nvSpPr>
        <p:spPr/>
        <p:txBody>
          <a:bodyPr/>
          <a:lstStyle/>
          <a:p>
            <a:fld id="{A5D25425-F285-48AE-A409-A618E3EEA628}" type="datetime1">
              <a:rPr lang="en-US" smtClean="0"/>
              <a:t>9/30/2024</a:t>
            </a:fld>
            <a:endParaRPr lang="en-US" dirty="0"/>
          </a:p>
        </p:txBody>
      </p:sp>
      <p:sp>
        <p:nvSpPr>
          <p:cNvPr id="3" name="Footer Placeholder 2">
            <a:extLst>
              <a:ext uri="{FF2B5EF4-FFF2-40B4-BE49-F238E27FC236}">
                <a16:creationId xmlns:a16="http://schemas.microsoft.com/office/drawing/2014/main" id="{5C0FDDA3-8E6F-42F7-BFBE-7FA9C647CA4E}"/>
              </a:ext>
            </a:extLst>
          </p:cNvPr>
          <p:cNvSpPr>
            <a:spLocks noGrp="1"/>
          </p:cNvSpPr>
          <p:nvPr>
            <p:ph type="ftr" sz="quarter" idx="11"/>
          </p:nvPr>
        </p:nvSpPr>
        <p:spPr/>
        <p:txBody>
          <a:bodyPr/>
          <a:lstStyle/>
          <a:p>
            <a:r>
              <a:rPr lang="en-US"/>
              <a:t>Sample Footer Text</a:t>
            </a:r>
            <a:endParaRPr lang="en-US" dirty="0"/>
          </a:p>
        </p:txBody>
      </p:sp>
      <p:sp>
        <p:nvSpPr>
          <p:cNvPr id="4" name="Slide Number Placeholder 3">
            <a:extLst>
              <a:ext uri="{FF2B5EF4-FFF2-40B4-BE49-F238E27FC236}">
                <a16:creationId xmlns:a16="http://schemas.microsoft.com/office/drawing/2014/main" id="{B6C8E678-81B8-4356-9624-A0B999536312}"/>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4342742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10DAA-DDE3-4C9C-8171-385A3DAC81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AF73DB2-BD72-4F5E-9CA2-197343A090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F01536-2B0A-42A2-827E-2EB2C324A5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22CD09-61EF-4733-831C-5B133DAE1F4C}"/>
              </a:ext>
            </a:extLst>
          </p:cNvPr>
          <p:cNvSpPr>
            <a:spLocks noGrp="1"/>
          </p:cNvSpPr>
          <p:nvPr>
            <p:ph type="dt" sz="half" idx="10"/>
          </p:nvPr>
        </p:nvSpPr>
        <p:spPr/>
        <p:txBody>
          <a:bodyPr/>
          <a:lstStyle/>
          <a:p>
            <a:fld id="{EB56A94D-7D6A-4378-93F6-A3A33186E34B}" type="datetime1">
              <a:rPr lang="en-US" smtClean="0"/>
              <a:t>9/30/2024</a:t>
            </a:fld>
            <a:endParaRPr lang="en-US" dirty="0"/>
          </a:p>
        </p:txBody>
      </p:sp>
      <p:sp>
        <p:nvSpPr>
          <p:cNvPr id="6" name="Footer Placeholder 5">
            <a:extLst>
              <a:ext uri="{FF2B5EF4-FFF2-40B4-BE49-F238E27FC236}">
                <a16:creationId xmlns:a16="http://schemas.microsoft.com/office/drawing/2014/main" id="{5B109FCF-96E4-4EBF-AAFB-5E9AD22A68AE}"/>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79E381A6-E580-49A4-989C-EF4A54F83B45}"/>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256797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CFA6E-F719-4613-8815-591471E722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54384F3-CDE0-4329-B76D-45AAC94B04A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79A9D7EB-40DA-460F-A48A-3E6D5E5612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56944C-E229-457E-868E-C48FF47DA37A}"/>
              </a:ext>
            </a:extLst>
          </p:cNvPr>
          <p:cNvSpPr>
            <a:spLocks noGrp="1"/>
          </p:cNvSpPr>
          <p:nvPr>
            <p:ph type="dt" sz="half" idx="10"/>
          </p:nvPr>
        </p:nvSpPr>
        <p:spPr/>
        <p:txBody>
          <a:bodyPr/>
          <a:lstStyle/>
          <a:p>
            <a:fld id="{285FC0F9-687B-4417-9D77-CE2D7AD8C321}" type="datetime1">
              <a:rPr lang="en-US" smtClean="0"/>
              <a:t>9/30/2024</a:t>
            </a:fld>
            <a:endParaRPr lang="en-US" dirty="0"/>
          </a:p>
        </p:txBody>
      </p:sp>
      <p:sp>
        <p:nvSpPr>
          <p:cNvPr id="6" name="Footer Placeholder 5">
            <a:extLst>
              <a:ext uri="{FF2B5EF4-FFF2-40B4-BE49-F238E27FC236}">
                <a16:creationId xmlns:a16="http://schemas.microsoft.com/office/drawing/2014/main" id="{CC7115FE-359F-46EA-A3C8-0D18544E34AD}"/>
              </a:ext>
            </a:extLst>
          </p:cNvPr>
          <p:cNvSpPr>
            <a:spLocks noGrp="1"/>
          </p:cNvSpPr>
          <p:nvPr>
            <p:ph type="ftr" sz="quarter" idx="11"/>
          </p:nvPr>
        </p:nvSpPr>
        <p:spPr/>
        <p:txBody>
          <a:bodyPr/>
          <a:lstStyle/>
          <a:p>
            <a:r>
              <a:rPr lang="en-US"/>
              <a:t>Sample Footer Text</a:t>
            </a:r>
            <a:endParaRPr lang="en-US" dirty="0"/>
          </a:p>
        </p:txBody>
      </p:sp>
      <p:sp>
        <p:nvSpPr>
          <p:cNvPr id="7" name="Slide Number Placeholder 6">
            <a:extLst>
              <a:ext uri="{FF2B5EF4-FFF2-40B4-BE49-F238E27FC236}">
                <a16:creationId xmlns:a16="http://schemas.microsoft.com/office/drawing/2014/main" id="{B5165D17-3010-4FF5-9071-5CCD3E6995D6}"/>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2053178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B47DD-81F8-4128-9E50-04A9F2D3DCD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6564D1-2B83-4C0F-ACBA-E91472C50A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FA1D7D-D2EC-4ADB-9C65-191DEC82DDF4}"/>
              </a:ext>
            </a:extLst>
          </p:cNvPr>
          <p:cNvSpPr>
            <a:spLocks noGrp="1"/>
          </p:cNvSpPr>
          <p:nvPr>
            <p:ph type="dt" sz="half" idx="10"/>
          </p:nvPr>
        </p:nvSpPr>
        <p:spPr/>
        <p:txBody>
          <a:bodyPr/>
          <a:lstStyle/>
          <a:p>
            <a:fld id="{29D1D79F-E600-4AC1-A639-0B9FB8286C38}" type="datetime1">
              <a:rPr lang="en-US" smtClean="0"/>
              <a:t>9/30/2024</a:t>
            </a:fld>
            <a:endParaRPr lang="en-US" dirty="0"/>
          </a:p>
        </p:txBody>
      </p:sp>
      <p:sp>
        <p:nvSpPr>
          <p:cNvPr id="5" name="Footer Placeholder 4">
            <a:extLst>
              <a:ext uri="{FF2B5EF4-FFF2-40B4-BE49-F238E27FC236}">
                <a16:creationId xmlns:a16="http://schemas.microsoft.com/office/drawing/2014/main" id="{534CB571-86F9-474A-826A-75CC21C8832B}"/>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A1384F5F-50E6-4BB9-B848-EE2302C02ABE}"/>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207474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3F08DF-1C0D-4F53-A3AB-95D7B55FA06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0D3BBD-C494-4E94-B189-319802A93E3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C0BD9-4BED-43D3-852F-B74B949A2287}"/>
              </a:ext>
            </a:extLst>
          </p:cNvPr>
          <p:cNvSpPr>
            <a:spLocks noGrp="1"/>
          </p:cNvSpPr>
          <p:nvPr>
            <p:ph type="dt" sz="half" idx="10"/>
          </p:nvPr>
        </p:nvSpPr>
        <p:spPr/>
        <p:txBody>
          <a:bodyPr/>
          <a:lstStyle/>
          <a:p>
            <a:fld id="{390F5D60-A842-4D08-9D7D-A7A57AB501A2}" type="datetime1">
              <a:rPr lang="en-US" smtClean="0"/>
              <a:t>9/30/2024</a:t>
            </a:fld>
            <a:endParaRPr lang="en-US" dirty="0"/>
          </a:p>
        </p:txBody>
      </p:sp>
      <p:sp>
        <p:nvSpPr>
          <p:cNvPr id="5" name="Footer Placeholder 4">
            <a:extLst>
              <a:ext uri="{FF2B5EF4-FFF2-40B4-BE49-F238E27FC236}">
                <a16:creationId xmlns:a16="http://schemas.microsoft.com/office/drawing/2014/main" id="{BB7811DC-C725-4462-B622-DB96A8987673}"/>
              </a:ext>
            </a:extLst>
          </p:cNvPr>
          <p:cNvSpPr>
            <a:spLocks noGrp="1"/>
          </p:cNvSpPr>
          <p:nvPr>
            <p:ph type="ftr" sz="quarter" idx="11"/>
          </p:nvPr>
        </p:nvSpPr>
        <p:spPr/>
        <p:txBody>
          <a:bodyPr/>
          <a:lstStyle/>
          <a:p>
            <a:r>
              <a:rPr lang="en-US"/>
              <a:t>Sample Footer Text</a:t>
            </a:r>
            <a:endParaRPr lang="en-US" dirty="0"/>
          </a:p>
        </p:txBody>
      </p:sp>
      <p:sp>
        <p:nvSpPr>
          <p:cNvPr id="6" name="Slide Number Placeholder 5">
            <a:extLst>
              <a:ext uri="{FF2B5EF4-FFF2-40B4-BE49-F238E27FC236}">
                <a16:creationId xmlns:a16="http://schemas.microsoft.com/office/drawing/2014/main" id="{67C42D06-438F-4150-9238-E2FAEE5E28D9}"/>
              </a:ext>
            </a:extLst>
          </p:cNvPr>
          <p:cNvSpPr>
            <a:spLocks noGrp="1"/>
          </p:cNvSpPr>
          <p:nvPr>
            <p:ph type="sldNum" sz="quarter" idx="12"/>
          </p:nvPr>
        </p:nvSpPr>
        <p:spPr/>
        <p:txBody>
          <a:body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3368347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D91916A1-FEE7-41E7-BEE3-2B4941A6F305}"/>
              </a:ext>
              <a:ext uri="{C183D7F6-B498-43B3-948B-1728B52AA6E4}">
                <adec:decorative xmlns:adec="http://schemas.microsoft.com/office/drawing/2017/decorative" val="1"/>
              </a:ext>
            </a:extLst>
          </p:cNvPr>
          <p:cNvGrpSpPr/>
          <p:nvPr/>
        </p:nvGrpSpPr>
        <p:grpSpPr>
          <a:xfrm>
            <a:off x="175990" y="62886"/>
            <a:ext cx="11708355" cy="6301715"/>
            <a:chOff x="175990" y="62886"/>
            <a:chExt cx="11708355" cy="6301715"/>
          </a:xfrm>
        </p:grpSpPr>
        <p:sp useBgFill="1">
          <p:nvSpPr>
            <p:cNvPr id="18" name="Graphic 10">
              <a:extLst>
                <a:ext uri="{FF2B5EF4-FFF2-40B4-BE49-F238E27FC236}">
                  <a16:creationId xmlns:a16="http://schemas.microsoft.com/office/drawing/2014/main" id="{EAFF5F08-677C-4873-9274-02B6FE751044}"/>
                </a:ext>
              </a:extLst>
            </p:cNvPr>
            <p:cNvSpPr/>
            <p:nvPr/>
          </p:nvSpPr>
          <p:spPr>
            <a:xfrm rot="2700000">
              <a:off x="175990" y="525742"/>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19" name="Graphic 10">
              <a:extLst>
                <a:ext uri="{FF2B5EF4-FFF2-40B4-BE49-F238E27FC236}">
                  <a16:creationId xmlns:a16="http://schemas.microsoft.com/office/drawing/2014/main" id="{16514C65-F179-4953-B660-5FC657697957}"/>
                </a:ext>
              </a:extLst>
            </p:cNvPr>
            <p:cNvSpPr/>
            <p:nvPr/>
          </p:nvSpPr>
          <p:spPr>
            <a:xfrm rot="2700000">
              <a:off x="8482021" y="62886"/>
              <a:ext cx="2322574" cy="2322574"/>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20" name="Graphic 10">
              <a:extLst>
                <a:ext uri="{FF2B5EF4-FFF2-40B4-BE49-F238E27FC236}">
                  <a16:creationId xmlns:a16="http://schemas.microsoft.com/office/drawing/2014/main" id="{DF5DA89C-9FED-4AE0-8C36-20612E77FAC0}"/>
                </a:ext>
              </a:extLst>
            </p:cNvPr>
            <p:cNvSpPr/>
            <p:nvPr/>
          </p:nvSpPr>
          <p:spPr>
            <a:xfrm rot="2700000">
              <a:off x="10578627" y="5015941"/>
              <a:ext cx="925287" cy="9252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21" name="Oval 20">
              <a:extLst>
                <a:ext uri="{FF2B5EF4-FFF2-40B4-BE49-F238E27FC236}">
                  <a16:creationId xmlns:a16="http://schemas.microsoft.com/office/drawing/2014/main" id="{FB98224C-F1DB-4F10-9B7F-93B86BA13F40}"/>
                </a:ext>
              </a:extLst>
            </p:cNvPr>
            <p:cNvSpPr/>
            <p:nvPr/>
          </p:nvSpPr>
          <p:spPr>
            <a:xfrm rot="10800000">
              <a:off x="11622685" y="6102941"/>
              <a:ext cx="261660" cy="26166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2" name="Oval 21">
              <a:extLst>
                <a:ext uri="{FF2B5EF4-FFF2-40B4-BE49-F238E27FC236}">
                  <a16:creationId xmlns:a16="http://schemas.microsoft.com/office/drawing/2014/main" id="{9AE1FC9E-06C9-4A12-8BE7-766C3DA8B9AC}"/>
                </a:ext>
              </a:extLst>
            </p:cNvPr>
            <p:cNvSpPr/>
            <p:nvPr/>
          </p:nvSpPr>
          <p:spPr>
            <a:xfrm rot="10800000">
              <a:off x="11352354" y="406586"/>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23" name="Oval 22">
              <a:extLst>
                <a:ext uri="{FF2B5EF4-FFF2-40B4-BE49-F238E27FC236}">
                  <a16:creationId xmlns:a16="http://schemas.microsoft.com/office/drawing/2014/main" id="{29954B75-D8C7-439C-A014-E644E3E2C0A5}"/>
                </a:ext>
              </a:extLst>
            </p:cNvPr>
            <p:cNvSpPr/>
            <p:nvPr/>
          </p:nvSpPr>
          <p:spPr>
            <a:xfrm rot="10800000">
              <a:off x="1678231" y="427615"/>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grpSp>
      <p:sp>
        <p:nvSpPr>
          <p:cNvPr id="2" name="Title Placeholder 1">
            <a:extLst>
              <a:ext uri="{FF2B5EF4-FFF2-40B4-BE49-F238E27FC236}">
                <a16:creationId xmlns:a16="http://schemas.microsoft.com/office/drawing/2014/main" id="{41447F1F-BFA8-4A56-894B-40120132E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58FB99-0FA3-49F4-99A1-61919F94279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CDCCAE5-4EB0-4174-BD15-4943899B0A29}"/>
              </a:ext>
            </a:extLst>
          </p:cNvPr>
          <p:cNvSpPr>
            <a:spLocks noGrp="1"/>
          </p:cNvSpPr>
          <p:nvPr>
            <p:ph type="dt" sz="half" idx="2"/>
          </p:nvPr>
        </p:nvSpPr>
        <p:spPr>
          <a:xfrm>
            <a:off x="838200" y="6400800"/>
            <a:ext cx="2743200" cy="365125"/>
          </a:xfrm>
          <a:prstGeom prst="rect">
            <a:avLst/>
          </a:prstGeom>
        </p:spPr>
        <p:txBody>
          <a:bodyPr vert="horz" lIns="91440" tIns="45720" rIns="91440" bIns="45720" rtlCol="0" anchor="ctr"/>
          <a:lstStyle>
            <a:lvl1pPr algn="l">
              <a:defRPr sz="900" cap="all" spc="150" baseline="0">
                <a:solidFill>
                  <a:schemeClr val="tx1">
                    <a:tint val="75000"/>
                  </a:schemeClr>
                </a:solidFill>
              </a:defRPr>
            </a:lvl1pPr>
          </a:lstStyle>
          <a:p>
            <a:fld id="{B32DFD30-2122-4F4A-97B4-D0A849E36C5F}" type="datetime1">
              <a:rPr lang="en-US" smtClean="0"/>
              <a:t>9/30/2024</a:t>
            </a:fld>
            <a:endParaRPr lang="en-US" dirty="0"/>
          </a:p>
        </p:txBody>
      </p:sp>
      <p:sp>
        <p:nvSpPr>
          <p:cNvPr id="5" name="Footer Placeholder 4">
            <a:extLst>
              <a:ext uri="{FF2B5EF4-FFF2-40B4-BE49-F238E27FC236}">
                <a16:creationId xmlns:a16="http://schemas.microsoft.com/office/drawing/2014/main" id="{26A4189E-43B2-4CEE-B13E-61A1FBBBD25D}"/>
              </a:ext>
            </a:extLst>
          </p:cNvPr>
          <p:cNvSpPr>
            <a:spLocks noGrp="1"/>
          </p:cNvSpPr>
          <p:nvPr>
            <p:ph type="ftr" sz="quarter" idx="3"/>
          </p:nvPr>
        </p:nvSpPr>
        <p:spPr>
          <a:xfrm>
            <a:off x="4038600" y="6400800"/>
            <a:ext cx="4114800" cy="365125"/>
          </a:xfrm>
          <a:prstGeom prst="rect">
            <a:avLst/>
          </a:prstGeom>
        </p:spPr>
        <p:txBody>
          <a:bodyPr vert="horz" lIns="91440" tIns="45720" rIns="91440" bIns="45720" rtlCol="0" anchor="ctr"/>
          <a:lstStyle>
            <a:lvl1pPr algn="ctr">
              <a:defRPr sz="900" cap="all" spc="150" baseline="0">
                <a:solidFill>
                  <a:schemeClr val="tx1">
                    <a:tint val="75000"/>
                  </a:schemeClr>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EAA0530F-0BC8-46EF-A765-DD58B5367528}"/>
              </a:ext>
            </a:extLst>
          </p:cNvPr>
          <p:cNvSpPr>
            <a:spLocks noGrp="1"/>
          </p:cNvSpPr>
          <p:nvPr>
            <p:ph type="sldNum" sz="quarter" idx="4"/>
          </p:nvPr>
        </p:nvSpPr>
        <p:spPr>
          <a:xfrm>
            <a:off x="8610600" y="6400800"/>
            <a:ext cx="2743200" cy="365125"/>
          </a:xfrm>
          <a:prstGeom prst="rect">
            <a:avLst/>
          </a:prstGeom>
        </p:spPr>
        <p:txBody>
          <a:bodyPr vert="horz" lIns="91440" tIns="45720" rIns="91440" bIns="45720" rtlCol="0" anchor="ctr"/>
          <a:lstStyle>
            <a:lvl1pPr algn="r">
              <a:defRPr sz="900" cap="all" spc="150" baseline="0">
                <a:solidFill>
                  <a:schemeClr val="tx1">
                    <a:tint val="75000"/>
                  </a:schemeClr>
                </a:solidFill>
              </a:defRPr>
            </a:lvl1pPr>
          </a:lstStyle>
          <a:p>
            <a:fld id="{DFA5D71E-5CDF-4C93-8A75-5B916FDC5BEA}" type="slidenum">
              <a:rPr lang="en-US" smtClean="0"/>
              <a:pPr/>
              <a:t>‹#›</a:t>
            </a:fld>
            <a:endParaRPr lang="en-US" dirty="0"/>
          </a:p>
        </p:txBody>
      </p:sp>
    </p:spTree>
    <p:extLst>
      <p:ext uri="{BB962C8B-B14F-4D97-AF65-F5344CB8AC3E}">
        <p14:creationId xmlns:p14="http://schemas.microsoft.com/office/powerpoint/2010/main" val="1553002758"/>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Segoe UI" panose="020B0502040204020203"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Courier New" panose="02070309020205020404" pitchFamily="49" charset="0"/>
        <a:buChar char="o"/>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Segoe UI" panose="020B0502040204020203"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Courier New" panose="02070309020205020404" pitchFamily="49" charset="0"/>
        <a:buChar char="o"/>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Segoe UI" panose="020B0502040204020203"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E1EF4E8-5513-4BF5-BC41-04645281C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pic>
        <p:nvPicPr>
          <p:cNvPr id="4" name="Picture 3" descr="A close up of a pattern&#10;&#10;Description automatically generated">
            <a:extLst>
              <a:ext uri="{FF2B5EF4-FFF2-40B4-BE49-F238E27FC236}">
                <a16:creationId xmlns:a16="http://schemas.microsoft.com/office/drawing/2014/main" id="{9ABA528D-0EC7-F321-C26B-1F9826DC54D8}"/>
              </a:ext>
            </a:extLst>
          </p:cNvPr>
          <p:cNvPicPr>
            <a:picLocks noChangeAspect="1"/>
          </p:cNvPicPr>
          <p:nvPr/>
        </p:nvPicPr>
        <p:blipFill>
          <a:blip r:embed="rId2"/>
          <a:srcRect t="19201" b="24549"/>
          <a:stretch/>
        </p:blipFill>
        <p:spPr>
          <a:xfrm>
            <a:off x="20" y="10"/>
            <a:ext cx="12191980" cy="6857989"/>
          </a:xfrm>
          <a:prstGeom prst="rect">
            <a:avLst/>
          </a:prstGeom>
        </p:spPr>
      </p:pic>
      <p:grpSp>
        <p:nvGrpSpPr>
          <p:cNvPr id="11" name="Group 10">
            <a:extLst>
              <a:ext uri="{FF2B5EF4-FFF2-40B4-BE49-F238E27FC236}">
                <a16:creationId xmlns:a16="http://schemas.microsoft.com/office/drawing/2014/main" id="{E2F6F869-F143-4607-BEE5-AA6FEB71E1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29" y="254882"/>
            <a:ext cx="2063695" cy="2594445"/>
            <a:chOff x="438029" y="254882"/>
            <a:chExt cx="2063695" cy="2594445"/>
          </a:xfrm>
        </p:grpSpPr>
        <p:sp useBgFill="1">
          <p:nvSpPr>
            <p:cNvPr id="12" name="Graphic 10">
              <a:extLst>
                <a:ext uri="{FF2B5EF4-FFF2-40B4-BE49-F238E27FC236}">
                  <a16:creationId xmlns:a16="http://schemas.microsoft.com/office/drawing/2014/main" id="{C75470B2-BBA7-4280-A6F6-FAE9E9F1CC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559425" y="995030"/>
              <a:ext cx="1066799" cy="1066799"/>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13" name="Oval 12">
              <a:extLst>
                <a:ext uri="{FF2B5EF4-FFF2-40B4-BE49-F238E27FC236}">
                  <a16:creationId xmlns:a16="http://schemas.microsoft.com/office/drawing/2014/main" id="{9A54C6CC-DDAA-4A39-ADF6-3C8475C5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2286000" y="1378534"/>
              <a:ext cx="215724" cy="215724"/>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14" name="Oval 13">
              <a:extLst>
                <a:ext uri="{FF2B5EF4-FFF2-40B4-BE49-F238E27FC236}">
                  <a16:creationId xmlns:a16="http://schemas.microsoft.com/office/drawing/2014/main" id="{714358CC-CF77-4F38-89E2-D6A3ABD012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38029" y="254882"/>
              <a:ext cx="474023" cy="4740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5" name="Oval 14">
              <a:extLst>
                <a:ext uri="{FF2B5EF4-FFF2-40B4-BE49-F238E27FC236}">
                  <a16:creationId xmlns:a16="http://schemas.microsoft.com/office/drawing/2014/main" id="{0CB44DA0-4772-4F1E-982F-12BAC7C58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838200" y="2514942"/>
              <a:ext cx="334385" cy="334385"/>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grpSp>
      <p:sp>
        <p:nvSpPr>
          <p:cNvPr id="17" name="Rectangle 16">
            <a:extLst>
              <a:ext uri="{FF2B5EF4-FFF2-40B4-BE49-F238E27FC236}">
                <a16:creationId xmlns:a16="http://schemas.microsoft.com/office/drawing/2014/main" id="{816D4481-06E0-406F-B2B0-A78607E35F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6857999"/>
          </a:xfrm>
          <a:prstGeom prst="rect">
            <a:avLst/>
          </a:prstGeom>
          <a:solidFill>
            <a:schemeClr val="accent2">
              <a:alpha val="40000"/>
            </a:schemeClr>
          </a:solidFill>
          <a:ln w="3848" cap="flat">
            <a:noFill/>
            <a:prstDash val="solid"/>
            <a:miter/>
          </a:ln>
          <a:effectLst/>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390319B0-0F10-DAE8-7A19-972466E249D8}"/>
              </a:ext>
            </a:extLst>
          </p:cNvPr>
          <p:cNvSpPr>
            <a:spLocks noGrp="1"/>
          </p:cNvSpPr>
          <p:nvPr>
            <p:ph type="ctrTitle"/>
          </p:nvPr>
        </p:nvSpPr>
        <p:spPr>
          <a:xfrm>
            <a:off x="1524000" y="728905"/>
            <a:ext cx="9144000" cy="3184274"/>
          </a:xfrm>
        </p:spPr>
        <p:txBody>
          <a:bodyPr>
            <a:normAutofit/>
          </a:bodyPr>
          <a:lstStyle/>
          <a:p>
            <a:r>
              <a:rPr lang="en-US">
                <a:solidFill>
                  <a:srgbClr val="FFFFFF"/>
                </a:solidFill>
              </a:rPr>
              <a:t>Poliomyelitis</a:t>
            </a:r>
          </a:p>
        </p:txBody>
      </p:sp>
      <p:sp>
        <p:nvSpPr>
          <p:cNvPr id="3" name="Subtitle 2">
            <a:extLst>
              <a:ext uri="{FF2B5EF4-FFF2-40B4-BE49-F238E27FC236}">
                <a16:creationId xmlns:a16="http://schemas.microsoft.com/office/drawing/2014/main" id="{9B0D6670-0663-E934-9347-A2A4C691EB5C}"/>
              </a:ext>
            </a:extLst>
          </p:cNvPr>
          <p:cNvSpPr>
            <a:spLocks noGrp="1"/>
          </p:cNvSpPr>
          <p:nvPr>
            <p:ph type="subTitle" idx="1"/>
          </p:nvPr>
        </p:nvSpPr>
        <p:spPr>
          <a:xfrm>
            <a:off x="1524000" y="4072044"/>
            <a:ext cx="9144000" cy="1495379"/>
          </a:xfrm>
        </p:spPr>
        <p:txBody>
          <a:bodyPr>
            <a:normAutofit/>
          </a:bodyPr>
          <a:lstStyle/>
          <a:p>
            <a:endParaRPr lang="en-US" sz="2200">
              <a:solidFill>
                <a:srgbClr val="FFFFFF"/>
              </a:solidFill>
            </a:endParaRPr>
          </a:p>
        </p:txBody>
      </p:sp>
    </p:spTree>
    <p:extLst>
      <p:ext uri="{BB962C8B-B14F-4D97-AF65-F5344CB8AC3E}">
        <p14:creationId xmlns:p14="http://schemas.microsoft.com/office/powerpoint/2010/main" val="235041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5AD4A59-91FA-4E30-8F32-A8AB51F76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sp>
        <p:nvSpPr>
          <p:cNvPr id="11" name="Rectangle 10">
            <a:extLst>
              <a:ext uri="{FF2B5EF4-FFF2-40B4-BE49-F238E27FC236}">
                <a16:creationId xmlns:a16="http://schemas.microsoft.com/office/drawing/2014/main" id="{CDFF45EF-8068-49B8-AFAE-404F6EB18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dirty="0">
              <a:solidFill>
                <a:schemeClr val="tx1"/>
              </a:solidFill>
            </a:endParaRPr>
          </a:p>
        </p:txBody>
      </p:sp>
      <p:sp>
        <p:nvSpPr>
          <p:cNvPr id="2" name="Title 1">
            <a:extLst>
              <a:ext uri="{FF2B5EF4-FFF2-40B4-BE49-F238E27FC236}">
                <a16:creationId xmlns:a16="http://schemas.microsoft.com/office/drawing/2014/main" id="{0D452306-5F01-4A63-E9E4-0FEDA0E2DF96}"/>
              </a:ext>
            </a:extLst>
          </p:cNvPr>
          <p:cNvSpPr>
            <a:spLocks noGrp="1"/>
          </p:cNvSpPr>
          <p:nvPr>
            <p:ph type="title"/>
          </p:nvPr>
        </p:nvSpPr>
        <p:spPr>
          <a:xfrm>
            <a:off x="457201" y="557189"/>
            <a:ext cx="3276599" cy="5743616"/>
          </a:xfrm>
        </p:spPr>
        <p:txBody>
          <a:bodyPr anchor="ctr">
            <a:normAutofit/>
          </a:bodyPr>
          <a:lstStyle/>
          <a:p>
            <a:r>
              <a:rPr lang="en-US" sz="3600"/>
              <a:t>OPV (Sabin)</a:t>
            </a:r>
          </a:p>
        </p:txBody>
      </p:sp>
      <p:grpSp>
        <p:nvGrpSpPr>
          <p:cNvPr id="13" name="Group 12">
            <a:extLst>
              <a:ext uri="{FF2B5EF4-FFF2-40B4-BE49-F238E27FC236}">
                <a16:creationId xmlns:a16="http://schemas.microsoft.com/office/drawing/2014/main" id="{C80F1402-11C5-4156-920F-A1D996B47D2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1823" y="446104"/>
            <a:ext cx="2354299" cy="1482372"/>
            <a:chOff x="471823" y="446104"/>
            <a:chExt cx="2354299" cy="1482372"/>
          </a:xfrm>
        </p:grpSpPr>
        <p:sp useBgFill="1">
          <p:nvSpPr>
            <p:cNvPr id="14" name="Graphic 10">
              <a:extLst>
                <a:ext uri="{FF2B5EF4-FFF2-40B4-BE49-F238E27FC236}">
                  <a16:creationId xmlns:a16="http://schemas.microsoft.com/office/drawing/2014/main" id="{F59333A0-91D0-40E7-ABE0-4CD6A0A402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1810535" y="863805"/>
              <a:ext cx="1015587" cy="1015587"/>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5" name="Oval 14">
              <a:extLst>
                <a:ext uri="{FF2B5EF4-FFF2-40B4-BE49-F238E27FC236}">
                  <a16:creationId xmlns:a16="http://schemas.microsoft.com/office/drawing/2014/main" id="{E1168C41-55F2-4E50-AAC9-1069DFDEA9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233824" y="1752600"/>
              <a:ext cx="175876" cy="175876"/>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16" name="Oval 15">
              <a:extLst>
                <a:ext uri="{FF2B5EF4-FFF2-40B4-BE49-F238E27FC236}">
                  <a16:creationId xmlns:a16="http://schemas.microsoft.com/office/drawing/2014/main" id="{806188BB-B55A-499F-A6F1-4CF1F08871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471823" y="446104"/>
              <a:ext cx="762000" cy="762000"/>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graphicFrame>
        <p:nvGraphicFramePr>
          <p:cNvPr id="5" name="Content Placeholder 2">
            <a:extLst>
              <a:ext uri="{FF2B5EF4-FFF2-40B4-BE49-F238E27FC236}">
                <a16:creationId xmlns:a16="http://schemas.microsoft.com/office/drawing/2014/main" id="{C0E13B54-7F83-D375-BC5F-B1BA60C2E6B6}"/>
              </a:ext>
            </a:extLst>
          </p:cNvPr>
          <p:cNvGraphicFramePr>
            <a:graphicFrameLocks noGrp="1"/>
          </p:cNvGraphicFramePr>
          <p:nvPr>
            <p:ph idx="1"/>
            <p:extLst>
              <p:ext uri="{D42A27DB-BD31-4B8C-83A1-F6EECF244321}">
                <p14:modId xmlns:p14="http://schemas.microsoft.com/office/powerpoint/2010/main" val="2925401785"/>
              </p:ext>
            </p:extLst>
          </p:nvPr>
        </p:nvGraphicFramePr>
        <p:xfrm>
          <a:off x="3402834" y="446104"/>
          <a:ext cx="8482371" cy="60839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633160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386D4-132C-A17F-5C88-A90ADFAA82B3}"/>
              </a:ext>
            </a:extLst>
          </p:cNvPr>
          <p:cNvSpPr>
            <a:spLocks noGrp="1"/>
          </p:cNvSpPr>
          <p:nvPr>
            <p:ph type="title"/>
          </p:nvPr>
        </p:nvSpPr>
        <p:spPr/>
        <p:txBody>
          <a:bodyPr/>
          <a:lstStyle/>
          <a:p>
            <a:r>
              <a:rPr lang="en-US"/>
              <a:t>OPV - NIS</a:t>
            </a:r>
            <a:endParaRPr lang="en-US" dirty="0"/>
          </a:p>
        </p:txBody>
      </p:sp>
      <p:sp>
        <p:nvSpPr>
          <p:cNvPr id="3" name="Content Placeholder 2">
            <a:extLst>
              <a:ext uri="{FF2B5EF4-FFF2-40B4-BE49-F238E27FC236}">
                <a16:creationId xmlns:a16="http://schemas.microsoft.com/office/drawing/2014/main" id="{AA937350-B5FB-AEE3-AE6F-668A572E2BC7}"/>
              </a:ext>
            </a:extLst>
          </p:cNvPr>
          <p:cNvSpPr>
            <a:spLocks noGrp="1"/>
          </p:cNvSpPr>
          <p:nvPr>
            <p:ph idx="1"/>
          </p:nvPr>
        </p:nvSpPr>
        <p:spPr>
          <a:xfrm>
            <a:off x="458694" y="1509486"/>
            <a:ext cx="11274612" cy="4982754"/>
          </a:xfrm>
        </p:spPr>
        <p:txBody>
          <a:bodyPr>
            <a:normAutofit lnSpcReduction="10000"/>
          </a:bodyPr>
          <a:lstStyle/>
          <a:p>
            <a:r>
              <a:rPr lang="en-US"/>
              <a:t>Recommends a primary course of </a:t>
            </a:r>
            <a:r>
              <a:rPr lang="en-US">
                <a:highlight>
                  <a:srgbClr val="FFFF00"/>
                </a:highlight>
              </a:rPr>
              <a:t>3 doses of OPV at one-month intervals,</a:t>
            </a:r>
            <a:r>
              <a:rPr lang="en-US"/>
              <a:t> commencing the </a:t>
            </a:r>
            <a:r>
              <a:rPr lang="en-US">
                <a:highlight>
                  <a:srgbClr val="FFFF00"/>
                </a:highlight>
              </a:rPr>
              <a:t>first dose when infant is 6 weeks old.</a:t>
            </a:r>
          </a:p>
          <a:p>
            <a:r>
              <a:rPr lang="en-US"/>
              <a:t>It is recommended that a dose of OPV (</a:t>
            </a:r>
            <a:r>
              <a:rPr lang="en-US">
                <a:highlight>
                  <a:srgbClr val="FFFF00"/>
                </a:highlight>
              </a:rPr>
              <a:t>zero dose) </a:t>
            </a:r>
            <a:r>
              <a:rPr lang="en-US"/>
              <a:t>is required to be given to all </a:t>
            </a:r>
            <a:r>
              <a:rPr lang="en-US">
                <a:highlight>
                  <a:srgbClr val="FFFF00"/>
                </a:highlight>
              </a:rPr>
              <a:t>children delivered </a:t>
            </a:r>
            <a:r>
              <a:rPr lang="en-US"/>
              <a:t>in health institutions before their discharge from the hospital.</a:t>
            </a:r>
          </a:p>
          <a:p>
            <a:pPr lvl="1"/>
            <a:r>
              <a:rPr lang="en-US"/>
              <a:t>The vaccine should </a:t>
            </a:r>
            <a:r>
              <a:rPr lang="en-US">
                <a:highlight>
                  <a:srgbClr val="FFFF00"/>
                </a:highlight>
              </a:rPr>
              <a:t>be given in maternity wards, </a:t>
            </a:r>
            <a:r>
              <a:rPr lang="en-US"/>
              <a:t>the newborn should not be taken to regular immunization sessions to avoid infection. </a:t>
            </a:r>
          </a:p>
          <a:p>
            <a:r>
              <a:rPr lang="en-US"/>
              <a:t>OPV is given concurrently with DPT or pentavalent vaccine. BCG can be given simultaneously with the first dose of OPV. </a:t>
            </a:r>
          </a:p>
          <a:p>
            <a:r>
              <a:rPr lang="en-US"/>
              <a:t>It is very important to complete vaccination of all infants before 6 months of age. </a:t>
            </a:r>
          </a:p>
          <a:p>
            <a:r>
              <a:rPr lang="en-US">
                <a:highlight>
                  <a:srgbClr val="FFFF00"/>
                </a:highlight>
              </a:rPr>
              <a:t>One booster dose of OPV is recommended 12 to 18 months later</a:t>
            </a:r>
            <a:r>
              <a:rPr lang="en-US"/>
              <a:t>.</a:t>
            </a:r>
            <a:endParaRPr lang="en-US" dirty="0"/>
          </a:p>
        </p:txBody>
      </p:sp>
    </p:spTree>
    <p:extLst>
      <p:ext uri="{BB962C8B-B14F-4D97-AF65-F5344CB8AC3E}">
        <p14:creationId xmlns:p14="http://schemas.microsoft.com/office/powerpoint/2010/main" val="161541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386D4-132C-A17F-5C88-A90ADFAA82B3}"/>
              </a:ext>
            </a:extLst>
          </p:cNvPr>
          <p:cNvSpPr>
            <a:spLocks noGrp="1"/>
          </p:cNvSpPr>
          <p:nvPr>
            <p:ph type="title"/>
          </p:nvPr>
        </p:nvSpPr>
        <p:spPr/>
        <p:txBody>
          <a:bodyPr>
            <a:normAutofit/>
          </a:bodyPr>
          <a:lstStyle/>
          <a:p>
            <a:r>
              <a:rPr lang="en-US" dirty="0"/>
              <a:t>OPV - Dose and mode of administration</a:t>
            </a:r>
          </a:p>
        </p:txBody>
      </p:sp>
      <p:sp>
        <p:nvSpPr>
          <p:cNvPr id="3" name="Content Placeholder 2">
            <a:extLst>
              <a:ext uri="{FF2B5EF4-FFF2-40B4-BE49-F238E27FC236}">
                <a16:creationId xmlns:a16="http://schemas.microsoft.com/office/drawing/2014/main" id="{AA937350-B5FB-AEE3-AE6F-668A572E2BC7}"/>
              </a:ext>
            </a:extLst>
          </p:cNvPr>
          <p:cNvSpPr>
            <a:spLocks noGrp="1"/>
          </p:cNvSpPr>
          <p:nvPr>
            <p:ph idx="1"/>
          </p:nvPr>
        </p:nvSpPr>
        <p:spPr>
          <a:xfrm>
            <a:off x="458694" y="1509486"/>
            <a:ext cx="11274612" cy="4982754"/>
          </a:xfrm>
        </p:spPr>
        <p:txBody>
          <a:bodyPr>
            <a:normAutofit fontScale="92500" lnSpcReduction="10000"/>
          </a:bodyPr>
          <a:lstStyle/>
          <a:p>
            <a:r>
              <a:rPr lang="en-US" dirty="0"/>
              <a:t>The dose is </a:t>
            </a:r>
            <a:r>
              <a:rPr lang="en-US" dirty="0">
                <a:highlight>
                  <a:srgbClr val="FFFF00"/>
                </a:highlight>
              </a:rPr>
              <a:t>2 drops or as stated on the label</a:t>
            </a:r>
            <a:r>
              <a:rPr lang="en-US" dirty="0"/>
              <a:t>. </a:t>
            </a:r>
          </a:p>
          <a:p>
            <a:r>
              <a:rPr lang="en-US" dirty="0"/>
              <a:t>Tilt the child’s back, and gently squeeze the cheeks or pinch the nose to make the mouth open. Let the drops fall from the dropper onto the child’s tongue. Repeat the process if the child spits out the vaccine. </a:t>
            </a:r>
          </a:p>
          <a:p>
            <a:r>
              <a:rPr lang="en-US" dirty="0"/>
              <a:t>If the vaccine is spoon-fed there is a chance that it will not alt be licked up by the child</a:t>
            </a:r>
          </a:p>
          <a:p>
            <a:r>
              <a:rPr lang="en-US" dirty="0">
                <a:highlight>
                  <a:srgbClr val="FFFF00"/>
                </a:highlight>
              </a:rPr>
              <a:t>Breast-feeding does not impede the effectiveness of oral poliovirus vaccine. </a:t>
            </a:r>
          </a:p>
          <a:p>
            <a:r>
              <a:rPr lang="en-US" dirty="0"/>
              <a:t>Breast milk can be given whenever the child is hungry. However</a:t>
            </a:r>
            <a:r>
              <a:rPr lang="en-US" dirty="0">
                <a:highlight>
                  <a:srgbClr val="FFFF00"/>
                </a:highlight>
              </a:rPr>
              <a:t>, hot water, hot milk or hot fluids should be withheld for about half an hour after the administration of the vaccine. </a:t>
            </a:r>
          </a:p>
          <a:p>
            <a:r>
              <a:rPr lang="en-US" dirty="0"/>
              <a:t>The vaccine should be administered </a:t>
            </a:r>
            <a:r>
              <a:rPr lang="en-US" dirty="0">
                <a:highlight>
                  <a:srgbClr val="FFFF00"/>
                </a:highlight>
              </a:rPr>
              <a:t>preferably in a cool room, rather than in a hot, humid and crowded room.</a:t>
            </a:r>
          </a:p>
        </p:txBody>
      </p:sp>
    </p:spTree>
    <p:extLst>
      <p:ext uri="{BB962C8B-B14F-4D97-AF65-F5344CB8AC3E}">
        <p14:creationId xmlns:p14="http://schemas.microsoft.com/office/powerpoint/2010/main" val="38828599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0C780-2A2F-A658-881C-982EEDC94271}"/>
              </a:ext>
            </a:extLst>
          </p:cNvPr>
          <p:cNvSpPr>
            <a:spLocks noGrp="1"/>
          </p:cNvSpPr>
          <p:nvPr>
            <p:ph type="title"/>
          </p:nvPr>
        </p:nvSpPr>
        <p:spPr/>
        <p:txBody>
          <a:bodyPr/>
          <a:lstStyle/>
          <a:p>
            <a:r>
              <a:rPr lang="en-US" dirty="0"/>
              <a:t>OPV – Development of immunity</a:t>
            </a:r>
          </a:p>
        </p:txBody>
      </p:sp>
      <p:sp>
        <p:nvSpPr>
          <p:cNvPr id="3" name="Content Placeholder 2">
            <a:extLst>
              <a:ext uri="{FF2B5EF4-FFF2-40B4-BE49-F238E27FC236}">
                <a16:creationId xmlns:a16="http://schemas.microsoft.com/office/drawing/2014/main" id="{BED98F75-0DD4-B0D8-797E-7DBB386EB3D0}"/>
              </a:ext>
            </a:extLst>
          </p:cNvPr>
          <p:cNvSpPr>
            <a:spLocks noGrp="1"/>
          </p:cNvSpPr>
          <p:nvPr>
            <p:ph idx="1"/>
          </p:nvPr>
        </p:nvSpPr>
        <p:spPr>
          <a:xfrm>
            <a:off x="198120" y="1508760"/>
            <a:ext cx="11535186" cy="4636453"/>
          </a:xfrm>
        </p:spPr>
        <p:txBody>
          <a:bodyPr>
            <a:normAutofit fontScale="62500" lnSpcReduction="20000"/>
          </a:bodyPr>
          <a:lstStyle/>
          <a:p>
            <a:r>
              <a:rPr lang="en-US" dirty="0"/>
              <a:t>Live vaccine strains infect intestinal epithelial cells. </a:t>
            </a:r>
          </a:p>
          <a:p>
            <a:r>
              <a:rPr lang="en-US" dirty="0"/>
              <a:t>After replication, the </a:t>
            </a:r>
            <a:r>
              <a:rPr lang="en-US" dirty="0">
                <a:highlight>
                  <a:srgbClr val="FFFF00"/>
                </a:highlight>
              </a:rPr>
              <a:t>virus is transported to the Peyer’s patche</a:t>
            </a:r>
            <a:r>
              <a:rPr lang="en-US" dirty="0"/>
              <a:t>s where a secondary multiplication with subsequent viraemia occurs. </a:t>
            </a:r>
          </a:p>
          <a:p>
            <a:r>
              <a:rPr lang="en-US" dirty="0"/>
              <a:t>The virus spreads to other areas of the body, resulting in the </a:t>
            </a:r>
            <a:r>
              <a:rPr lang="en-US" dirty="0">
                <a:highlight>
                  <a:srgbClr val="FFFF00"/>
                </a:highlight>
              </a:rPr>
              <a:t>production of circulating antibodies </a:t>
            </a:r>
            <a:r>
              <a:rPr lang="en-US" dirty="0"/>
              <a:t>which prevent dissemination of the virus to the nervous system and prevent paralytic polio. </a:t>
            </a:r>
          </a:p>
          <a:p>
            <a:r>
              <a:rPr lang="en-US" dirty="0"/>
              <a:t>Intestinal infection stimulates the </a:t>
            </a:r>
            <a:r>
              <a:rPr lang="en-US" dirty="0">
                <a:highlight>
                  <a:srgbClr val="FFFF00"/>
                </a:highlight>
              </a:rPr>
              <a:t>production of IgA secretory antibodies </a:t>
            </a:r>
            <a:r>
              <a:rPr lang="en-US" dirty="0"/>
              <a:t>which prevent subsequent infection of the alimentary tract with wild strains of poliovirus, and thus is effective in limiting virus transmission in the community.</a:t>
            </a:r>
          </a:p>
          <a:p>
            <a:r>
              <a:rPr lang="en-US" dirty="0"/>
              <a:t>The vaccine progeny is excreted in the </a:t>
            </a:r>
            <a:r>
              <a:rPr lang="en-US" dirty="0" err="1"/>
              <a:t>faeces</a:t>
            </a:r>
            <a:r>
              <a:rPr lang="en-US" dirty="0"/>
              <a:t> and secondary spread occurs to household contacts and susceptible contacts in the community. </a:t>
            </a:r>
          </a:p>
          <a:p>
            <a:r>
              <a:rPr lang="en-US" dirty="0"/>
              <a:t>Non-immunized persons may therefore, be immunized. </a:t>
            </a:r>
          </a:p>
          <a:p>
            <a:r>
              <a:rPr lang="en-US" dirty="0"/>
              <a:t>Thus </a:t>
            </a:r>
            <a:r>
              <a:rPr lang="en-US" dirty="0">
                <a:highlight>
                  <a:srgbClr val="FFFF00"/>
                </a:highlight>
              </a:rPr>
              <a:t>widespread “herd immunity” results, even if only approximately 66 per cent </a:t>
            </a:r>
            <a:r>
              <a:rPr lang="en-US" dirty="0"/>
              <a:t>of the community is immunized</a:t>
            </a:r>
          </a:p>
          <a:p>
            <a:r>
              <a:rPr lang="en-US" dirty="0"/>
              <a:t>This property of OPV has been exploited in controlling epidemics of polio by administering the vaccine simultaneously in a short period to all susceptible in a community. </a:t>
            </a:r>
          </a:p>
          <a:p>
            <a:r>
              <a:rPr lang="en-US" dirty="0"/>
              <a:t>This procedure virtually eliminates the wild polio strains in the community and replaces them by attenuated strains. </a:t>
            </a:r>
          </a:p>
        </p:txBody>
      </p:sp>
    </p:spTree>
    <p:extLst>
      <p:ext uri="{BB962C8B-B14F-4D97-AF65-F5344CB8AC3E}">
        <p14:creationId xmlns:p14="http://schemas.microsoft.com/office/powerpoint/2010/main" val="33076472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6E3B-14D8-5458-F1AE-359A924F1C1E}"/>
              </a:ext>
            </a:extLst>
          </p:cNvPr>
          <p:cNvSpPr>
            <a:spLocks noGrp="1"/>
          </p:cNvSpPr>
          <p:nvPr>
            <p:ph type="title"/>
          </p:nvPr>
        </p:nvSpPr>
        <p:spPr/>
        <p:txBody>
          <a:bodyPr/>
          <a:lstStyle/>
          <a:p>
            <a:r>
              <a:rPr lang="en-US" dirty="0"/>
              <a:t>OPV – Advantages and complications</a:t>
            </a:r>
          </a:p>
        </p:txBody>
      </p:sp>
      <p:sp>
        <p:nvSpPr>
          <p:cNvPr id="4" name="Text Placeholder 3">
            <a:extLst>
              <a:ext uri="{FF2B5EF4-FFF2-40B4-BE49-F238E27FC236}">
                <a16:creationId xmlns:a16="http://schemas.microsoft.com/office/drawing/2014/main" id="{073556A2-13EF-D619-43B9-F8FC456F6A4E}"/>
              </a:ext>
            </a:extLst>
          </p:cNvPr>
          <p:cNvSpPr>
            <a:spLocks noGrp="1"/>
          </p:cNvSpPr>
          <p:nvPr>
            <p:ph type="body" idx="1"/>
          </p:nvPr>
        </p:nvSpPr>
        <p:spPr/>
        <p:txBody>
          <a:bodyPr/>
          <a:lstStyle/>
          <a:p>
            <a:r>
              <a:rPr lang="en-US" b="1" dirty="0"/>
              <a:t>Advantages</a:t>
            </a:r>
          </a:p>
        </p:txBody>
      </p:sp>
      <p:sp>
        <p:nvSpPr>
          <p:cNvPr id="5" name="Content Placeholder 4">
            <a:extLst>
              <a:ext uri="{FF2B5EF4-FFF2-40B4-BE49-F238E27FC236}">
                <a16:creationId xmlns:a16="http://schemas.microsoft.com/office/drawing/2014/main" id="{80DD2CE0-42B1-9DC1-A74C-EEAAA9712EA5}"/>
              </a:ext>
            </a:extLst>
          </p:cNvPr>
          <p:cNvSpPr>
            <a:spLocks noGrp="1"/>
          </p:cNvSpPr>
          <p:nvPr>
            <p:ph sz="half" idx="2"/>
          </p:nvPr>
        </p:nvSpPr>
        <p:spPr/>
        <p:txBody>
          <a:bodyPr>
            <a:normAutofit fontScale="77500" lnSpcReduction="20000"/>
          </a:bodyPr>
          <a:lstStyle/>
          <a:p>
            <a:r>
              <a:rPr lang="en-US" dirty="0">
                <a:highlight>
                  <a:srgbClr val="FFFF00"/>
                </a:highlight>
              </a:rPr>
              <a:t>Easy to administer </a:t>
            </a:r>
            <a:r>
              <a:rPr lang="en-US" dirty="0"/>
              <a:t>and does not require the use of highly trained personnel </a:t>
            </a:r>
          </a:p>
          <a:p>
            <a:r>
              <a:rPr lang="en-US" dirty="0"/>
              <a:t>Induces both </a:t>
            </a:r>
            <a:r>
              <a:rPr lang="en-US" dirty="0">
                <a:highlight>
                  <a:srgbClr val="FFFF00"/>
                </a:highlight>
              </a:rPr>
              <a:t>humoral and intestinal immunity</a:t>
            </a:r>
            <a:r>
              <a:rPr lang="en-US" dirty="0"/>
              <a:t>, </a:t>
            </a:r>
          </a:p>
          <a:p>
            <a:r>
              <a:rPr lang="en-US" dirty="0"/>
              <a:t>Antibody is quickly produced in </a:t>
            </a:r>
            <a:r>
              <a:rPr lang="en-US" dirty="0">
                <a:highlight>
                  <a:srgbClr val="FFFF00"/>
                </a:highlight>
              </a:rPr>
              <a:t>a large proportion of vaccinees, even a single dose elicits (except in tropical countries) substantial immunity </a:t>
            </a:r>
          </a:p>
          <a:p>
            <a:r>
              <a:rPr lang="en-US" dirty="0"/>
              <a:t>The vaccinee excretes the virus and so infects others who are also immunized </a:t>
            </a:r>
          </a:p>
          <a:p>
            <a:r>
              <a:rPr lang="en-US" dirty="0">
                <a:highlight>
                  <a:srgbClr val="FFFF00"/>
                </a:highlight>
              </a:rPr>
              <a:t>Useful in controlling epidemics</a:t>
            </a:r>
            <a:r>
              <a:rPr lang="en-US" dirty="0"/>
              <a:t>,</a:t>
            </a:r>
          </a:p>
          <a:p>
            <a:r>
              <a:rPr lang="en-US" dirty="0"/>
              <a:t>Relatively </a:t>
            </a:r>
            <a:r>
              <a:rPr lang="en-US" dirty="0">
                <a:highlight>
                  <a:srgbClr val="FFFF00"/>
                </a:highlight>
              </a:rPr>
              <a:t>inexpensive.</a:t>
            </a:r>
          </a:p>
        </p:txBody>
      </p:sp>
      <p:sp>
        <p:nvSpPr>
          <p:cNvPr id="6" name="Text Placeholder 5">
            <a:extLst>
              <a:ext uri="{FF2B5EF4-FFF2-40B4-BE49-F238E27FC236}">
                <a16:creationId xmlns:a16="http://schemas.microsoft.com/office/drawing/2014/main" id="{888DC8E8-88D5-67C3-4ED8-60D9D272138A}"/>
              </a:ext>
            </a:extLst>
          </p:cNvPr>
          <p:cNvSpPr>
            <a:spLocks noGrp="1"/>
          </p:cNvSpPr>
          <p:nvPr>
            <p:ph type="body" sz="quarter" idx="3"/>
          </p:nvPr>
        </p:nvSpPr>
        <p:spPr/>
        <p:txBody>
          <a:bodyPr/>
          <a:lstStyle/>
          <a:p>
            <a:r>
              <a:rPr lang="en-US" b="1" dirty="0"/>
              <a:t>Complications</a:t>
            </a:r>
          </a:p>
        </p:txBody>
      </p:sp>
      <p:sp>
        <p:nvSpPr>
          <p:cNvPr id="7" name="Content Placeholder 6">
            <a:extLst>
              <a:ext uri="{FF2B5EF4-FFF2-40B4-BE49-F238E27FC236}">
                <a16:creationId xmlns:a16="http://schemas.microsoft.com/office/drawing/2014/main" id="{44E24E7C-C032-7C9F-650D-B1F2D5C5E878}"/>
              </a:ext>
            </a:extLst>
          </p:cNvPr>
          <p:cNvSpPr>
            <a:spLocks noGrp="1"/>
          </p:cNvSpPr>
          <p:nvPr>
            <p:ph sz="quarter" idx="4"/>
          </p:nvPr>
        </p:nvSpPr>
        <p:spPr/>
        <p:txBody>
          <a:bodyPr>
            <a:normAutofit fontScale="77500" lnSpcReduction="20000"/>
          </a:bodyPr>
          <a:lstStyle/>
          <a:p>
            <a:r>
              <a:rPr lang="en-US" dirty="0"/>
              <a:t>The vaccine viruses, particularly type 3 do mutate in the course of their multiplication in vaccinated children, </a:t>
            </a:r>
          </a:p>
          <a:p>
            <a:r>
              <a:rPr lang="en-US" dirty="0">
                <a:highlight>
                  <a:srgbClr val="FFFF00"/>
                </a:highlight>
              </a:rPr>
              <a:t>Rare cases of vaccine-associated paralytic polio </a:t>
            </a:r>
            <a:r>
              <a:rPr lang="en-US" dirty="0"/>
              <a:t>have occurred in </a:t>
            </a:r>
          </a:p>
          <a:p>
            <a:pPr lvl="1"/>
            <a:r>
              <a:rPr lang="en-US" dirty="0"/>
              <a:t>Recipients of the vaccine</a:t>
            </a:r>
          </a:p>
          <a:p>
            <a:pPr lvl="1"/>
            <a:r>
              <a:rPr lang="en-US" dirty="0"/>
              <a:t>Their contacts.</a:t>
            </a:r>
          </a:p>
        </p:txBody>
      </p:sp>
    </p:spTree>
    <p:extLst>
      <p:ext uri="{BB962C8B-B14F-4D97-AF65-F5344CB8AC3E}">
        <p14:creationId xmlns:p14="http://schemas.microsoft.com/office/powerpoint/2010/main" val="37540934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0C780-2A2F-A658-881C-982EEDC94271}"/>
              </a:ext>
            </a:extLst>
          </p:cNvPr>
          <p:cNvSpPr>
            <a:spLocks noGrp="1"/>
          </p:cNvSpPr>
          <p:nvPr>
            <p:ph type="title"/>
          </p:nvPr>
        </p:nvSpPr>
        <p:spPr/>
        <p:txBody>
          <a:bodyPr/>
          <a:lstStyle/>
          <a:p>
            <a:r>
              <a:rPr lang="en-US" dirty="0"/>
              <a:t>OPV – Contraindications</a:t>
            </a:r>
          </a:p>
        </p:txBody>
      </p:sp>
      <p:sp>
        <p:nvSpPr>
          <p:cNvPr id="3" name="Content Placeholder 2">
            <a:extLst>
              <a:ext uri="{FF2B5EF4-FFF2-40B4-BE49-F238E27FC236}">
                <a16:creationId xmlns:a16="http://schemas.microsoft.com/office/drawing/2014/main" id="{BED98F75-0DD4-B0D8-797E-7DBB386EB3D0}"/>
              </a:ext>
            </a:extLst>
          </p:cNvPr>
          <p:cNvSpPr>
            <a:spLocks noGrp="1"/>
          </p:cNvSpPr>
          <p:nvPr>
            <p:ph idx="1"/>
          </p:nvPr>
        </p:nvSpPr>
        <p:spPr>
          <a:xfrm>
            <a:off x="198120" y="1508760"/>
            <a:ext cx="11535186" cy="4636453"/>
          </a:xfrm>
        </p:spPr>
        <p:txBody>
          <a:bodyPr>
            <a:normAutofit lnSpcReduction="10000"/>
          </a:bodyPr>
          <a:lstStyle/>
          <a:p>
            <a:r>
              <a:rPr lang="en-US" dirty="0" err="1">
                <a:highlight>
                  <a:srgbClr val="FFFF00"/>
                </a:highlight>
              </a:rPr>
              <a:t>Diarrhoea</a:t>
            </a:r>
            <a:r>
              <a:rPr lang="en-US" dirty="0">
                <a:highlight>
                  <a:srgbClr val="FFFF00"/>
                </a:highlight>
              </a:rPr>
              <a:t> should not be considered a contraindication</a:t>
            </a:r>
            <a:r>
              <a:rPr lang="en-US" dirty="0"/>
              <a:t> to OPV. However, to ensure full protection, a </a:t>
            </a:r>
            <a:r>
              <a:rPr lang="en-US" dirty="0">
                <a:highlight>
                  <a:srgbClr val="FFFF00"/>
                </a:highlight>
              </a:rPr>
              <a:t>dose of OPV given to a child with </a:t>
            </a:r>
            <a:r>
              <a:rPr lang="en-US" dirty="0" err="1">
                <a:highlight>
                  <a:srgbClr val="FFFF00"/>
                </a:highlight>
              </a:rPr>
              <a:t>diarrhoea</a:t>
            </a:r>
            <a:r>
              <a:rPr lang="en-US" dirty="0">
                <a:highlight>
                  <a:srgbClr val="FFFF00"/>
                </a:highlight>
              </a:rPr>
              <a:t> should not be counted </a:t>
            </a:r>
            <a:r>
              <a:rPr lang="en-US" dirty="0"/>
              <a:t>as part of the series and the child should receive another dose at the first available opportunity. </a:t>
            </a:r>
          </a:p>
          <a:p>
            <a:r>
              <a:rPr lang="en-US" dirty="0"/>
              <a:t>Live vaccines are </a:t>
            </a:r>
            <a:r>
              <a:rPr lang="en-US" dirty="0">
                <a:highlight>
                  <a:srgbClr val="FFFF00"/>
                </a:highlight>
              </a:rPr>
              <a:t>not usually given to immunocompromised individuals</a:t>
            </a:r>
            <a:r>
              <a:rPr lang="en-US" dirty="0"/>
              <a:t>, Patients suffering from </a:t>
            </a:r>
            <a:r>
              <a:rPr lang="en-US" dirty="0" err="1"/>
              <a:t>leukaemias</a:t>
            </a:r>
            <a:r>
              <a:rPr lang="en-US" dirty="0"/>
              <a:t> and malignancy and those receiving corticosteroids may not be given OPV. </a:t>
            </a:r>
          </a:p>
          <a:p>
            <a:r>
              <a:rPr lang="en-US" dirty="0">
                <a:highlight>
                  <a:srgbClr val="FFFF00"/>
                </a:highlight>
              </a:rPr>
              <a:t>I</a:t>
            </a:r>
            <a:r>
              <a:rPr lang="en-US" dirty="0"/>
              <a:t>PV is an alternative to OPV for immunization of children with HIV infection. </a:t>
            </a:r>
          </a:p>
          <a:p>
            <a:r>
              <a:rPr lang="en-US" dirty="0"/>
              <a:t>There is as yet no indication that polio immunization may pose any danger to a pregnant mother or developing </a:t>
            </a:r>
            <a:r>
              <a:rPr lang="en-US" dirty="0" err="1"/>
              <a:t>foetus</a:t>
            </a:r>
            <a:r>
              <a:rPr lang="en-US" dirty="0"/>
              <a:t>. However, </a:t>
            </a:r>
            <a:r>
              <a:rPr lang="en-US" dirty="0">
                <a:highlight>
                  <a:srgbClr val="FFFF00"/>
                </a:highlight>
              </a:rPr>
              <a:t>OPV should be delayed until after pregnancy.</a:t>
            </a:r>
          </a:p>
        </p:txBody>
      </p:sp>
    </p:spTree>
    <p:extLst>
      <p:ext uri="{BB962C8B-B14F-4D97-AF65-F5344CB8AC3E}">
        <p14:creationId xmlns:p14="http://schemas.microsoft.com/office/powerpoint/2010/main" val="1465488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B4862-BD78-7F36-7DA5-2F80D652E17D}"/>
              </a:ext>
            </a:extLst>
          </p:cNvPr>
          <p:cNvSpPr>
            <a:spLocks noGrp="1"/>
          </p:cNvSpPr>
          <p:nvPr>
            <p:ph type="title"/>
          </p:nvPr>
        </p:nvSpPr>
        <p:spPr/>
        <p:txBody>
          <a:bodyPr/>
          <a:lstStyle/>
          <a:p>
            <a:r>
              <a:rPr lang="en-US" dirty="0"/>
              <a:t>OPV - Storage </a:t>
            </a:r>
          </a:p>
        </p:txBody>
      </p:sp>
      <p:sp>
        <p:nvSpPr>
          <p:cNvPr id="3" name="Content Placeholder 2">
            <a:extLst>
              <a:ext uri="{FF2B5EF4-FFF2-40B4-BE49-F238E27FC236}">
                <a16:creationId xmlns:a16="http://schemas.microsoft.com/office/drawing/2014/main" id="{3BE09D9C-2A49-4A47-78C8-211F2E1F2488}"/>
              </a:ext>
            </a:extLst>
          </p:cNvPr>
          <p:cNvSpPr>
            <a:spLocks noGrp="1"/>
          </p:cNvSpPr>
          <p:nvPr>
            <p:ph idx="1"/>
          </p:nvPr>
        </p:nvSpPr>
        <p:spPr/>
        <p:txBody>
          <a:bodyPr>
            <a:normAutofit fontScale="92500" lnSpcReduction="20000"/>
          </a:bodyPr>
          <a:lstStyle/>
          <a:p>
            <a:r>
              <a:rPr lang="en-US" b="1" dirty="0"/>
              <a:t>Stabilized vaccine </a:t>
            </a:r>
            <a:r>
              <a:rPr lang="en-US" dirty="0"/>
              <a:t>: Recent oral polio vaccines are heat stabilized by adding magnesium chloride. They can be kept </a:t>
            </a:r>
            <a:r>
              <a:rPr lang="en-US" dirty="0">
                <a:highlight>
                  <a:srgbClr val="FFFF00"/>
                </a:highlight>
              </a:rPr>
              <a:t>without losing potency for a year at 4 deg. C, and for a month at 25 deg. C temperature. </a:t>
            </a:r>
          </a:p>
          <a:p>
            <a:r>
              <a:rPr lang="en-US" b="1" dirty="0"/>
              <a:t>Non-stabilized vaccine </a:t>
            </a:r>
            <a:r>
              <a:rPr lang="en-US" dirty="0"/>
              <a:t>: The vaccine should </a:t>
            </a:r>
            <a:r>
              <a:rPr lang="en-US" dirty="0">
                <a:highlight>
                  <a:srgbClr val="FFFF00"/>
                </a:highlight>
              </a:rPr>
              <a:t>be stored at -20 deg C </a:t>
            </a:r>
            <a:r>
              <a:rPr lang="en-US" dirty="0"/>
              <a:t>in a deep freeze until used. In case a deep freeze is not available, might be </a:t>
            </a:r>
            <a:r>
              <a:rPr lang="en-US" dirty="0">
                <a:highlight>
                  <a:srgbClr val="FFFF00"/>
                </a:highlight>
              </a:rPr>
              <a:t>stored temporarily in the freezing chamber of the refrigerator. </a:t>
            </a:r>
            <a:r>
              <a:rPr lang="en-US" dirty="0"/>
              <a:t>During transport, the </a:t>
            </a:r>
            <a:r>
              <a:rPr lang="en-US" dirty="0">
                <a:highlight>
                  <a:srgbClr val="FFFF00"/>
                </a:highlight>
              </a:rPr>
              <a:t>vaccine must be kept either on dry ice </a:t>
            </a:r>
            <a:r>
              <a:rPr lang="en-US" dirty="0"/>
              <a:t>(solid carbon dioxide) or a freezing mixture (equal quantities of wet ice and ammonium chloride).</a:t>
            </a:r>
          </a:p>
          <a:p>
            <a:r>
              <a:rPr lang="en-US" dirty="0"/>
              <a:t>At the vaccination clinic, the </a:t>
            </a:r>
            <a:r>
              <a:rPr lang="en-US" dirty="0">
                <a:highlight>
                  <a:srgbClr val="FFFF00"/>
                </a:highlight>
              </a:rPr>
              <a:t>bottle containing the OPV should not be frozen and thawed repeatedly, </a:t>
            </a:r>
            <a:r>
              <a:rPr lang="en-US" dirty="0"/>
              <a:t>since repeated freezing and thawing has a deleterious effect on the potency of live polio vaccine. It would be </a:t>
            </a:r>
            <a:r>
              <a:rPr lang="en-US" dirty="0">
                <a:highlight>
                  <a:srgbClr val="FFFF00"/>
                </a:highlight>
              </a:rPr>
              <a:t>preferable to keep the vials of the vaccine in ice during its administration to children .</a:t>
            </a:r>
          </a:p>
        </p:txBody>
      </p:sp>
    </p:spTree>
    <p:extLst>
      <p:ext uri="{BB962C8B-B14F-4D97-AF65-F5344CB8AC3E}">
        <p14:creationId xmlns:p14="http://schemas.microsoft.com/office/powerpoint/2010/main" val="14002701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B4862-BD78-7F36-7DA5-2F80D652E17D}"/>
              </a:ext>
            </a:extLst>
          </p:cNvPr>
          <p:cNvSpPr>
            <a:spLocks noGrp="1"/>
          </p:cNvSpPr>
          <p:nvPr>
            <p:ph type="title"/>
          </p:nvPr>
        </p:nvSpPr>
        <p:spPr/>
        <p:txBody>
          <a:bodyPr/>
          <a:lstStyle/>
          <a:p>
            <a:r>
              <a:rPr lang="en-US" dirty="0"/>
              <a:t>OPV </a:t>
            </a:r>
          </a:p>
        </p:txBody>
      </p:sp>
      <p:sp>
        <p:nvSpPr>
          <p:cNvPr id="3" name="Content Placeholder 2">
            <a:extLst>
              <a:ext uri="{FF2B5EF4-FFF2-40B4-BE49-F238E27FC236}">
                <a16:creationId xmlns:a16="http://schemas.microsoft.com/office/drawing/2014/main" id="{3BE09D9C-2A49-4A47-78C8-211F2E1F2488}"/>
              </a:ext>
            </a:extLst>
          </p:cNvPr>
          <p:cNvSpPr>
            <a:spLocks noGrp="1"/>
          </p:cNvSpPr>
          <p:nvPr>
            <p:ph idx="1"/>
          </p:nvPr>
        </p:nvSpPr>
        <p:spPr/>
        <p:txBody>
          <a:bodyPr>
            <a:normAutofit/>
          </a:bodyPr>
          <a:lstStyle/>
          <a:p>
            <a:r>
              <a:rPr lang="en-US" dirty="0"/>
              <a:t>The problems with OPV storage and derived immunity</a:t>
            </a:r>
          </a:p>
          <a:p>
            <a:r>
              <a:rPr lang="en-US" dirty="0">
                <a:highlight>
                  <a:srgbClr val="FFFF00"/>
                </a:highlight>
              </a:rPr>
              <a:t>Instability of the vaccine at high ambient temperatures. </a:t>
            </a:r>
            <a:r>
              <a:rPr lang="en-US" dirty="0"/>
              <a:t>The vaccine has to be kept frozen during storage, and kept cold during transportation, right up to the point of administration</a:t>
            </a:r>
          </a:p>
          <a:p>
            <a:r>
              <a:rPr lang="en-US" dirty="0">
                <a:highlight>
                  <a:srgbClr val="FFFF00"/>
                </a:highlight>
              </a:rPr>
              <a:t>Frequent vaccine failures </a:t>
            </a:r>
            <a:r>
              <a:rPr lang="en-US" dirty="0"/>
              <a:t>even with fully potent vaccines</a:t>
            </a:r>
          </a:p>
          <a:p>
            <a:r>
              <a:rPr lang="en-US" dirty="0"/>
              <a:t>Very </a:t>
            </a:r>
            <a:r>
              <a:rPr lang="en-US" dirty="0">
                <a:highlight>
                  <a:srgbClr val="FFFF00"/>
                </a:highlight>
              </a:rPr>
              <a:t>small residual neurovirulence</a:t>
            </a:r>
            <a:r>
              <a:rPr lang="en-US" dirty="0"/>
              <a:t>.</a:t>
            </a:r>
          </a:p>
        </p:txBody>
      </p:sp>
    </p:spTree>
    <p:extLst>
      <p:ext uri="{BB962C8B-B14F-4D97-AF65-F5344CB8AC3E}">
        <p14:creationId xmlns:p14="http://schemas.microsoft.com/office/powerpoint/2010/main" val="18597453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44F94-6589-3487-25AD-E5123C84E89C}"/>
              </a:ext>
            </a:extLst>
          </p:cNvPr>
          <p:cNvSpPr>
            <a:spLocks noGrp="1"/>
          </p:cNvSpPr>
          <p:nvPr>
            <p:ph type="title"/>
          </p:nvPr>
        </p:nvSpPr>
        <p:spPr/>
        <p:txBody>
          <a:bodyPr/>
          <a:lstStyle/>
          <a:p>
            <a:r>
              <a:rPr lang="en-US" dirty="0"/>
              <a:t>Sequential administration of IPV and OPV</a:t>
            </a:r>
          </a:p>
        </p:txBody>
      </p:sp>
      <p:sp>
        <p:nvSpPr>
          <p:cNvPr id="3" name="Content Placeholder 2">
            <a:extLst>
              <a:ext uri="{FF2B5EF4-FFF2-40B4-BE49-F238E27FC236}">
                <a16:creationId xmlns:a16="http://schemas.microsoft.com/office/drawing/2014/main" id="{480EEA77-6F54-D7D0-D429-773F29D95A11}"/>
              </a:ext>
            </a:extLst>
          </p:cNvPr>
          <p:cNvSpPr>
            <a:spLocks noGrp="1"/>
          </p:cNvSpPr>
          <p:nvPr>
            <p:ph idx="1"/>
          </p:nvPr>
        </p:nvSpPr>
        <p:spPr/>
        <p:txBody>
          <a:bodyPr>
            <a:normAutofit fontScale="92500" lnSpcReduction="10000"/>
          </a:bodyPr>
          <a:lstStyle/>
          <a:p>
            <a:r>
              <a:rPr lang="en-US" dirty="0"/>
              <a:t>Over the past decade, a number of countries in central and eastern Europe, the Middle East, the Far East, and southern Africa have </a:t>
            </a:r>
            <a:r>
              <a:rPr lang="en-US" dirty="0">
                <a:highlight>
                  <a:srgbClr val="FFFF00"/>
                </a:highlight>
              </a:rPr>
              <a:t>adopted sequential schedules of 1-2 doses of IPV followed by &gt; 2 doses of OPV. </a:t>
            </a:r>
          </a:p>
          <a:p>
            <a:r>
              <a:rPr lang="en-US" dirty="0"/>
              <a:t>Combined schedules of IPV and OPV appear to </a:t>
            </a:r>
            <a:r>
              <a:rPr lang="en-US" dirty="0">
                <a:highlight>
                  <a:srgbClr val="FFFF00"/>
                </a:highlight>
              </a:rPr>
              <a:t>reduce or prevent VAPP while maintaining the high levels of intestinal mucosal immunity conferred by OPV.</a:t>
            </a:r>
          </a:p>
          <a:p>
            <a:r>
              <a:rPr lang="en-US" dirty="0"/>
              <a:t>In addition, such schedules </a:t>
            </a:r>
            <a:r>
              <a:rPr lang="en-US" dirty="0">
                <a:highlight>
                  <a:srgbClr val="FFFF00"/>
                </a:highlight>
              </a:rPr>
              <a:t>economize on limited resources </a:t>
            </a:r>
            <a:r>
              <a:rPr lang="en-US" dirty="0"/>
              <a:t>by reducing the number of doses of IPV, and may optimize both the humoral and mucosal immunogenicity of polio vaccination. </a:t>
            </a:r>
          </a:p>
          <a:p>
            <a:r>
              <a:rPr lang="en-US" dirty="0"/>
              <a:t>The effectiveness of this approach in preventing polio caused by WPV as well as VAPP has been documented</a:t>
            </a:r>
          </a:p>
        </p:txBody>
      </p:sp>
    </p:spTree>
    <p:extLst>
      <p:ext uri="{BB962C8B-B14F-4D97-AF65-F5344CB8AC3E}">
        <p14:creationId xmlns:p14="http://schemas.microsoft.com/office/powerpoint/2010/main" val="1141549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8A267-7FF6-2DA6-6128-778673376AC6}"/>
              </a:ext>
            </a:extLst>
          </p:cNvPr>
          <p:cNvSpPr>
            <a:spLocks noGrp="1"/>
          </p:cNvSpPr>
          <p:nvPr>
            <p:ph type="title"/>
          </p:nvPr>
        </p:nvSpPr>
        <p:spPr/>
        <p:txBody>
          <a:bodyPr/>
          <a:lstStyle/>
          <a:p>
            <a:r>
              <a:rPr lang="en-US" dirty="0"/>
              <a:t>Human Normal Ig</a:t>
            </a:r>
          </a:p>
        </p:txBody>
      </p:sp>
      <p:sp>
        <p:nvSpPr>
          <p:cNvPr id="3" name="Content Placeholder 2">
            <a:extLst>
              <a:ext uri="{FF2B5EF4-FFF2-40B4-BE49-F238E27FC236}">
                <a16:creationId xmlns:a16="http://schemas.microsoft.com/office/drawing/2014/main" id="{E0A6A1D3-3358-EB63-BAAE-A2BAC5BBA7E9}"/>
              </a:ext>
            </a:extLst>
          </p:cNvPr>
          <p:cNvSpPr>
            <a:spLocks noGrp="1"/>
          </p:cNvSpPr>
          <p:nvPr>
            <p:ph idx="1"/>
          </p:nvPr>
        </p:nvSpPr>
        <p:spPr/>
        <p:txBody>
          <a:bodyPr>
            <a:normAutofit/>
          </a:bodyPr>
          <a:lstStyle/>
          <a:p>
            <a:r>
              <a:rPr lang="en-US" dirty="0"/>
              <a:t>The current widespread practice of immunization has </a:t>
            </a:r>
            <a:r>
              <a:rPr lang="en-US" dirty="0">
                <a:highlight>
                  <a:srgbClr val="FFFF00"/>
                </a:highlight>
              </a:rPr>
              <a:t>virtually eliminated the need for passive immunization.</a:t>
            </a:r>
          </a:p>
          <a:p>
            <a:r>
              <a:rPr lang="en-US" dirty="0"/>
              <a:t>Normal human lg in a </a:t>
            </a:r>
            <a:r>
              <a:rPr lang="en-US" dirty="0">
                <a:highlight>
                  <a:srgbClr val="FFFF00"/>
                </a:highlight>
              </a:rPr>
              <a:t>dose of 0.25-0.3 ml per kg of body weight </a:t>
            </a:r>
            <a:r>
              <a:rPr lang="en-US" dirty="0"/>
              <a:t>has been found to be protective </a:t>
            </a:r>
            <a:r>
              <a:rPr lang="en-US" dirty="0">
                <a:highlight>
                  <a:srgbClr val="FFFF00"/>
                </a:highlight>
              </a:rPr>
              <a:t>for a few weeks against paralytic disease</a:t>
            </a:r>
            <a:r>
              <a:rPr lang="en-US" dirty="0"/>
              <a:t> but does not prevent sub-clinical infections. </a:t>
            </a:r>
          </a:p>
          <a:p>
            <a:r>
              <a:rPr lang="en-US" dirty="0"/>
              <a:t>Immunoglobulin is effective only if </a:t>
            </a:r>
            <a:r>
              <a:rPr lang="en-US" dirty="0">
                <a:highlight>
                  <a:srgbClr val="FFFF00"/>
                </a:highlight>
              </a:rPr>
              <a:t>given shortly before infection, </a:t>
            </a:r>
            <a:r>
              <a:rPr lang="en-US" dirty="0"/>
              <a:t>it is of no value after clinical </a:t>
            </a:r>
            <a:r>
              <a:rPr lang="en-US"/>
              <a:t>symptoms develops.</a:t>
            </a:r>
            <a:endParaRPr lang="en-US" dirty="0"/>
          </a:p>
          <a:p>
            <a:r>
              <a:rPr lang="en-US" dirty="0"/>
              <a:t>The subject shall be actively immunized against polio after a few weeks.</a:t>
            </a:r>
          </a:p>
        </p:txBody>
      </p:sp>
    </p:spTree>
    <p:extLst>
      <p:ext uri="{BB962C8B-B14F-4D97-AF65-F5344CB8AC3E}">
        <p14:creationId xmlns:p14="http://schemas.microsoft.com/office/powerpoint/2010/main" val="3029166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C125E-77C6-CB4D-F4B9-1ECC27F4FDC9}"/>
              </a:ext>
            </a:extLst>
          </p:cNvPr>
          <p:cNvSpPr>
            <a:spLocks noGrp="1"/>
          </p:cNvSpPr>
          <p:nvPr>
            <p:ph type="title"/>
          </p:nvPr>
        </p:nvSpPr>
        <p:spPr/>
        <p:txBody>
          <a:bodyPr/>
          <a:lstStyle/>
          <a:p>
            <a:r>
              <a:rPr lang="en-US" dirty="0"/>
              <a:t>Epidemiological investigations</a:t>
            </a:r>
          </a:p>
        </p:txBody>
      </p:sp>
      <p:sp>
        <p:nvSpPr>
          <p:cNvPr id="3" name="Content Placeholder 2">
            <a:extLst>
              <a:ext uri="{FF2B5EF4-FFF2-40B4-BE49-F238E27FC236}">
                <a16:creationId xmlns:a16="http://schemas.microsoft.com/office/drawing/2014/main" id="{C91E5F1E-B100-2661-ECA3-27207644CBDB}"/>
              </a:ext>
            </a:extLst>
          </p:cNvPr>
          <p:cNvSpPr>
            <a:spLocks noGrp="1"/>
          </p:cNvSpPr>
          <p:nvPr>
            <p:ph idx="1"/>
          </p:nvPr>
        </p:nvSpPr>
        <p:spPr/>
        <p:txBody>
          <a:bodyPr>
            <a:normAutofit fontScale="92500" lnSpcReduction="20000"/>
          </a:bodyPr>
          <a:lstStyle/>
          <a:p>
            <a:r>
              <a:rPr lang="en-US" dirty="0">
                <a:highlight>
                  <a:srgbClr val="FFFF00"/>
                </a:highlight>
              </a:rPr>
              <a:t>Single case of polio</a:t>
            </a:r>
            <a:r>
              <a:rPr lang="en-US" dirty="0"/>
              <a:t> is now considered as an epidemic, and should prompt an immediate epidemiological investigation, including an </a:t>
            </a:r>
            <a:r>
              <a:rPr lang="en-US" dirty="0">
                <a:highlight>
                  <a:srgbClr val="FFFF00"/>
                </a:highlight>
              </a:rPr>
              <a:t>active search for other cases. </a:t>
            </a:r>
          </a:p>
          <a:p>
            <a:r>
              <a:rPr lang="en-US" dirty="0"/>
              <a:t>Samples of </a:t>
            </a:r>
            <a:r>
              <a:rPr lang="en-US" dirty="0" err="1"/>
              <a:t>faeces</a:t>
            </a:r>
            <a:r>
              <a:rPr lang="en-US" dirty="0"/>
              <a:t> from all cases or suspected cases of polio should be collected and forwarded to the laboratory for virus isolation. </a:t>
            </a:r>
          </a:p>
          <a:p>
            <a:r>
              <a:rPr lang="en-US" dirty="0"/>
              <a:t>In addition, where possible, paired sera should be collected, the first specimen at the clinical suspicion of paralytic polio and the second at the period of convalescence. </a:t>
            </a:r>
          </a:p>
          <a:p>
            <a:r>
              <a:rPr lang="en-US" dirty="0"/>
              <a:t>A </a:t>
            </a:r>
            <a:r>
              <a:rPr lang="en-US" dirty="0">
                <a:highlight>
                  <a:srgbClr val="FFFF00"/>
                </a:highlight>
              </a:rPr>
              <a:t>rising </a:t>
            </a:r>
            <a:r>
              <a:rPr lang="en-US" dirty="0" err="1">
                <a:highlight>
                  <a:srgbClr val="FFFF00"/>
                </a:highlight>
              </a:rPr>
              <a:t>titre</a:t>
            </a:r>
            <a:r>
              <a:rPr lang="en-US" dirty="0">
                <a:highlight>
                  <a:srgbClr val="FFFF00"/>
                </a:highlight>
              </a:rPr>
              <a:t> of poliovirus neutralizing antibody</a:t>
            </a:r>
            <a:r>
              <a:rPr lang="en-US" dirty="0"/>
              <a:t> provides useful confirmatory evidence.</a:t>
            </a:r>
          </a:p>
          <a:p>
            <a:r>
              <a:rPr lang="en-US" dirty="0"/>
              <a:t>The Indian Council of Medical Research has set up National Enterovirus Units at </a:t>
            </a:r>
            <a:r>
              <a:rPr lang="en-US" dirty="0">
                <a:highlight>
                  <a:srgbClr val="FFFF00"/>
                </a:highlight>
              </a:rPr>
              <a:t>Mumbai, </a:t>
            </a:r>
            <a:r>
              <a:rPr lang="en-US" dirty="0" err="1">
                <a:highlight>
                  <a:srgbClr val="FFFF00"/>
                </a:highlight>
              </a:rPr>
              <a:t>Coonoor</a:t>
            </a:r>
            <a:r>
              <a:rPr lang="en-US" dirty="0">
                <a:highlight>
                  <a:srgbClr val="FFFF00"/>
                </a:highlight>
              </a:rPr>
              <a:t>, Chennai, Delhi and </a:t>
            </a:r>
            <a:r>
              <a:rPr lang="en-US" dirty="0" err="1">
                <a:highlight>
                  <a:srgbClr val="FFFF00"/>
                </a:highlight>
              </a:rPr>
              <a:t>Kasauli</a:t>
            </a:r>
            <a:r>
              <a:rPr lang="en-US" dirty="0"/>
              <a:t> where samples may be sent for examination.</a:t>
            </a:r>
          </a:p>
        </p:txBody>
      </p:sp>
    </p:spTree>
    <p:extLst>
      <p:ext uri="{BB962C8B-B14F-4D97-AF65-F5344CB8AC3E}">
        <p14:creationId xmlns:p14="http://schemas.microsoft.com/office/powerpoint/2010/main" val="38303124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5B636-BF62-4EE8-DD2B-968957AFF11F}"/>
              </a:ext>
            </a:extLst>
          </p:cNvPr>
          <p:cNvSpPr>
            <a:spLocks noGrp="1"/>
          </p:cNvSpPr>
          <p:nvPr>
            <p:ph type="title"/>
          </p:nvPr>
        </p:nvSpPr>
        <p:spPr/>
        <p:txBody>
          <a:bodyPr/>
          <a:lstStyle/>
          <a:p>
            <a:r>
              <a:rPr lang="en-US" dirty="0"/>
              <a:t>Checklist</a:t>
            </a:r>
          </a:p>
        </p:txBody>
      </p:sp>
      <p:sp>
        <p:nvSpPr>
          <p:cNvPr id="3" name="Content Placeholder 2">
            <a:extLst>
              <a:ext uri="{FF2B5EF4-FFF2-40B4-BE49-F238E27FC236}">
                <a16:creationId xmlns:a16="http://schemas.microsoft.com/office/drawing/2014/main" id="{B9235676-4E00-162B-DC52-D4897FC1EB14}"/>
              </a:ext>
            </a:extLst>
          </p:cNvPr>
          <p:cNvSpPr>
            <a:spLocks noGrp="1"/>
          </p:cNvSpPr>
          <p:nvPr>
            <p:ph idx="1"/>
          </p:nvPr>
        </p:nvSpPr>
        <p:spPr>
          <a:xfrm>
            <a:off x="838200" y="1378857"/>
            <a:ext cx="11136086" cy="4798106"/>
          </a:xfrm>
        </p:spPr>
        <p:txBody>
          <a:bodyPr numCol="2">
            <a:normAutofit fontScale="92500" lnSpcReduction="20000"/>
          </a:bodyPr>
          <a:lstStyle/>
          <a:p>
            <a:r>
              <a:rPr lang="en-US" dirty="0"/>
              <a:t>Name of the </a:t>
            </a:r>
            <a:r>
              <a:rPr lang="en-US" dirty="0">
                <a:highlight>
                  <a:srgbClr val="FFFF00"/>
                </a:highlight>
              </a:rPr>
              <a:t>administrative area and locality</a:t>
            </a:r>
          </a:p>
          <a:p>
            <a:r>
              <a:rPr lang="en-US" dirty="0"/>
              <a:t>Date - </a:t>
            </a:r>
            <a:r>
              <a:rPr lang="en-US" dirty="0">
                <a:highlight>
                  <a:srgbClr val="FFFF00"/>
                </a:highlight>
              </a:rPr>
              <a:t>first case reported </a:t>
            </a:r>
            <a:r>
              <a:rPr lang="en-US" dirty="0"/>
              <a:t>from locality</a:t>
            </a:r>
          </a:p>
          <a:p>
            <a:r>
              <a:rPr lang="en-US" dirty="0">
                <a:highlight>
                  <a:srgbClr val="FFFF00"/>
                </a:highlight>
              </a:rPr>
              <a:t>Period </a:t>
            </a:r>
            <a:r>
              <a:rPr lang="en-US" dirty="0"/>
              <a:t>of field investigation</a:t>
            </a:r>
          </a:p>
          <a:p>
            <a:pPr lvl="1"/>
            <a:r>
              <a:rPr lang="en-US" dirty="0"/>
              <a:t>From.................to................. (dates)</a:t>
            </a:r>
          </a:p>
          <a:p>
            <a:r>
              <a:rPr lang="en-US" dirty="0" err="1"/>
              <a:t>No.of</a:t>
            </a:r>
            <a:r>
              <a:rPr lang="en-US" dirty="0"/>
              <a:t> </a:t>
            </a:r>
            <a:r>
              <a:rPr lang="en-US" dirty="0">
                <a:highlight>
                  <a:srgbClr val="FFFF00"/>
                </a:highlight>
              </a:rPr>
              <a:t>paralytic polio cases</a:t>
            </a:r>
            <a:r>
              <a:rPr lang="en-US" dirty="0"/>
              <a:t> detected</a:t>
            </a:r>
          </a:p>
          <a:p>
            <a:pPr lvl="1"/>
            <a:r>
              <a:rPr lang="en-US" dirty="0"/>
              <a:t>Clinical diagnosis only</a:t>
            </a:r>
          </a:p>
          <a:p>
            <a:pPr lvl="1"/>
            <a:r>
              <a:rPr lang="en-US" dirty="0"/>
              <a:t>Laboratory confirmed</a:t>
            </a:r>
          </a:p>
          <a:p>
            <a:pPr lvl="1"/>
            <a:r>
              <a:rPr lang="en-US" dirty="0"/>
              <a:t>Type(s) of virus isolated</a:t>
            </a:r>
          </a:p>
          <a:p>
            <a:r>
              <a:rPr lang="en-US" dirty="0"/>
              <a:t>No. of </a:t>
            </a:r>
            <a:r>
              <a:rPr lang="en-US" dirty="0">
                <a:highlight>
                  <a:srgbClr val="FFFF00"/>
                </a:highlight>
              </a:rPr>
              <a:t>deaths from </a:t>
            </a:r>
            <a:r>
              <a:rPr lang="en-US" dirty="0"/>
              <a:t>paralytic polio</a:t>
            </a:r>
          </a:p>
          <a:p>
            <a:r>
              <a:rPr lang="en-US" dirty="0" err="1"/>
              <a:t>No.of</a:t>
            </a:r>
            <a:r>
              <a:rPr lang="en-US" dirty="0"/>
              <a:t> paralytic cases of </a:t>
            </a:r>
            <a:r>
              <a:rPr lang="en-US" dirty="0">
                <a:highlight>
                  <a:srgbClr val="FFFF00"/>
                </a:highlight>
              </a:rPr>
              <a:t>polio by age</a:t>
            </a:r>
          </a:p>
          <a:p>
            <a:pPr lvl="1"/>
            <a:r>
              <a:rPr lang="en-US" dirty="0"/>
              <a:t>-1 year 		10-14 years</a:t>
            </a:r>
          </a:p>
          <a:p>
            <a:pPr lvl="1"/>
            <a:r>
              <a:rPr lang="en-US" dirty="0"/>
              <a:t>1-4 years		15-19 years</a:t>
            </a:r>
          </a:p>
          <a:p>
            <a:pPr lvl="1"/>
            <a:r>
              <a:rPr lang="en-US" dirty="0"/>
              <a:t>5-9 years 		20+ years</a:t>
            </a:r>
          </a:p>
          <a:p>
            <a:r>
              <a:rPr lang="en-US" dirty="0" err="1"/>
              <a:t>No.of</a:t>
            </a:r>
            <a:r>
              <a:rPr lang="en-US" dirty="0"/>
              <a:t> </a:t>
            </a:r>
            <a:r>
              <a:rPr lang="en-US" dirty="0">
                <a:highlight>
                  <a:srgbClr val="FFFF00"/>
                </a:highlight>
              </a:rPr>
              <a:t>contac</a:t>
            </a:r>
            <a:r>
              <a:rPr lang="en-US" dirty="0"/>
              <a:t>ts of paralytic polio examined :</a:t>
            </a:r>
          </a:p>
          <a:p>
            <a:pPr lvl="1"/>
            <a:r>
              <a:rPr lang="en-US" dirty="0"/>
              <a:t>Household contacts</a:t>
            </a:r>
          </a:p>
          <a:p>
            <a:pPr lvl="1"/>
            <a:r>
              <a:rPr lang="en-US" dirty="0"/>
              <a:t>Other, (specify)</a:t>
            </a:r>
          </a:p>
          <a:p>
            <a:r>
              <a:rPr lang="en-US" dirty="0"/>
              <a:t>Brief description of field investigation</a:t>
            </a:r>
          </a:p>
          <a:p>
            <a:r>
              <a:rPr lang="en-US" dirty="0">
                <a:highlight>
                  <a:srgbClr val="FFFF00"/>
                </a:highlight>
              </a:rPr>
              <a:t>History of previous vaccination practice in the locality </a:t>
            </a:r>
            <a:r>
              <a:rPr lang="en-US" dirty="0"/>
              <a:t>including the dates of the last community vaccination </a:t>
            </a:r>
            <a:r>
              <a:rPr lang="en-US" dirty="0" err="1"/>
              <a:t>programme</a:t>
            </a:r>
            <a:r>
              <a:rPr lang="en-US" dirty="0"/>
              <a:t>, and the type of vaccine used.</a:t>
            </a:r>
          </a:p>
          <a:p>
            <a:r>
              <a:rPr lang="en-US" dirty="0"/>
              <a:t>Name of the principal investigator and laboratory.</a:t>
            </a:r>
          </a:p>
        </p:txBody>
      </p:sp>
    </p:spTree>
    <p:extLst>
      <p:ext uri="{BB962C8B-B14F-4D97-AF65-F5344CB8AC3E}">
        <p14:creationId xmlns:p14="http://schemas.microsoft.com/office/powerpoint/2010/main" val="3581682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E03EEE-FCEA-D89D-B6E6-C5545156BE25}"/>
              </a:ext>
            </a:extLst>
          </p:cNvPr>
          <p:cNvSpPr>
            <a:spLocks noGrp="1"/>
          </p:cNvSpPr>
          <p:nvPr>
            <p:ph idx="1"/>
          </p:nvPr>
        </p:nvSpPr>
        <p:spPr>
          <a:xfrm>
            <a:off x="838200" y="718457"/>
            <a:ext cx="10515600" cy="5458506"/>
          </a:xfrm>
        </p:spPr>
        <p:txBody>
          <a:bodyPr>
            <a:normAutofit/>
          </a:bodyPr>
          <a:lstStyle/>
          <a:p>
            <a:r>
              <a:rPr lang="en-US" dirty="0"/>
              <a:t>Within an epidemic area, </a:t>
            </a:r>
            <a:r>
              <a:rPr lang="en-US" dirty="0">
                <a:highlight>
                  <a:srgbClr val="FFFF00"/>
                </a:highlight>
              </a:rPr>
              <a:t>OPV should be provided </a:t>
            </a:r>
            <a:r>
              <a:rPr lang="en-US" dirty="0"/>
              <a:t>for all persons over </a:t>
            </a:r>
            <a:r>
              <a:rPr lang="en-US" dirty="0">
                <a:highlight>
                  <a:srgbClr val="FFFF00"/>
                </a:highlight>
              </a:rPr>
              <a:t>6 weeks of age</a:t>
            </a:r>
            <a:r>
              <a:rPr lang="en-US" dirty="0"/>
              <a:t> who have </a:t>
            </a:r>
            <a:r>
              <a:rPr lang="en-US" dirty="0">
                <a:highlight>
                  <a:srgbClr val="FFFF00"/>
                </a:highlight>
              </a:rPr>
              <a:t>not been completely immunized </a:t>
            </a:r>
            <a:r>
              <a:rPr lang="en-US" dirty="0"/>
              <a:t>or whose </a:t>
            </a:r>
            <a:r>
              <a:rPr lang="en-US" dirty="0">
                <a:highlight>
                  <a:srgbClr val="FFFF00"/>
                </a:highlight>
              </a:rPr>
              <a:t>immune status is unknown.</a:t>
            </a:r>
          </a:p>
          <a:p>
            <a:r>
              <a:rPr lang="en-US" dirty="0"/>
              <a:t>The WHO should be notified as soon as possible of the occurrence of paralytic polio and to supplement reports on such outbreaks with </a:t>
            </a:r>
          </a:p>
          <a:p>
            <a:pPr lvl="1"/>
            <a:r>
              <a:rPr lang="en-US" dirty="0">
                <a:highlight>
                  <a:srgbClr val="FFFF00"/>
                </a:highlight>
              </a:rPr>
              <a:t>The type of virus</a:t>
            </a:r>
          </a:p>
          <a:p>
            <a:pPr lvl="1"/>
            <a:r>
              <a:rPr lang="en-US" dirty="0">
                <a:highlight>
                  <a:srgbClr val="FFFF00"/>
                </a:highlight>
              </a:rPr>
              <a:t>The number of cases </a:t>
            </a:r>
          </a:p>
          <a:p>
            <a:pPr lvl="1"/>
            <a:r>
              <a:rPr lang="en-US" dirty="0">
                <a:highlight>
                  <a:srgbClr val="FFFF00"/>
                </a:highlight>
              </a:rPr>
              <a:t>Deaths reported</a:t>
            </a:r>
            <a:r>
              <a:rPr lang="en-US" dirty="0"/>
              <a:t>. </a:t>
            </a:r>
          </a:p>
          <a:p>
            <a:r>
              <a:rPr lang="en-US" dirty="0"/>
              <a:t>A quarterly report (on prescribed form) should be sent to WHO, Geneva. </a:t>
            </a:r>
          </a:p>
          <a:p>
            <a:r>
              <a:rPr lang="en-US" dirty="0"/>
              <a:t>The WHO has prepared guidelines to poliovirus isolation and serological techniques for polio surveillance.</a:t>
            </a:r>
          </a:p>
        </p:txBody>
      </p:sp>
    </p:spTree>
    <p:extLst>
      <p:ext uri="{BB962C8B-B14F-4D97-AF65-F5344CB8AC3E}">
        <p14:creationId xmlns:p14="http://schemas.microsoft.com/office/powerpoint/2010/main" val="24464232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98A0A-C659-5547-312F-95BD6B38AF89}"/>
              </a:ext>
            </a:extLst>
          </p:cNvPr>
          <p:cNvSpPr>
            <a:spLocks noGrp="1"/>
          </p:cNvSpPr>
          <p:nvPr>
            <p:ph type="title"/>
          </p:nvPr>
        </p:nvSpPr>
        <p:spPr/>
        <p:txBody>
          <a:bodyPr/>
          <a:lstStyle/>
          <a:p>
            <a:r>
              <a:rPr lang="en-US" dirty="0"/>
              <a:t>Polio Eradication and Endgame Strategic Plan (2013 – 2018)</a:t>
            </a:r>
          </a:p>
        </p:txBody>
      </p:sp>
      <p:sp>
        <p:nvSpPr>
          <p:cNvPr id="3" name="Content Placeholder 2">
            <a:extLst>
              <a:ext uri="{FF2B5EF4-FFF2-40B4-BE49-F238E27FC236}">
                <a16:creationId xmlns:a16="http://schemas.microsoft.com/office/drawing/2014/main" id="{E0FF75FD-9C93-AC38-1517-04303FCDCEB6}"/>
              </a:ext>
            </a:extLst>
          </p:cNvPr>
          <p:cNvSpPr>
            <a:spLocks noGrp="1"/>
          </p:cNvSpPr>
          <p:nvPr>
            <p:ph idx="1"/>
          </p:nvPr>
        </p:nvSpPr>
        <p:spPr/>
        <p:txBody>
          <a:bodyPr>
            <a:normAutofit fontScale="92500"/>
          </a:bodyPr>
          <a:lstStyle/>
          <a:p>
            <a:r>
              <a:rPr lang="en-US" dirty="0"/>
              <a:t>To achieve and sustain a </a:t>
            </a:r>
            <a:r>
              <a:rPr lang="en-US" dirty="0" err="1"/>
              <a:t>poliofree</a:t>
            </a:r>
            <a:r>
              <a:rPr lang="en-US" dirty="0"/>
              <a:t> world, the use of oral polio vaccine (OPV) must eventually be stopped worldwide, starting with OPV that contains type 2 poliovirus (OPV type 2). </a:t>
            </a:r>
          </a:p>
          <a:p>
            <a:r>
              <a:rPr lang="en-US" dirty="0"/>
              <a:t>At least one dose of inactivated polio vaccine (IPV) must be introduced as a risk mitigation measure. </a:t>
            </a:r>
          </a:p>
          <a:p>
            <a:pPr lvl="1"/>
            <a:r>
              <a:rPr lang="en-US" dirty="0"/>
              <a:t>By </a:t>
            </a:r>
            <a:r>
              <a:rPr lang="en-US" dirty="0">
                <a:highlight>
                  <a:srgbClr val="FFFF00"/>
                </a:highlight>
              </a:rPr>
              <a:t>end 2015, introduce at least 1 dose of IPV into all routine immunization </a:t>
            </a:r>
            <a:r>
              <a:rPr lang="en-US" dirty="0"/>
              <a:t>systems, at least 6 months before the switch from trivalent oral polio vaccine (</a:t>
            </a:r>
            <a:r>
              <a:rPr lang="en-US" dirty="0" err="1"/>
              <a:t>tOPV</a:t>
            </a:r>
            <a:r>
              <a:rPr lang="en-US" dirty="0"/>
              <a:t>) to bivalent oral polio vaccine (</a:t>
            </a:r>
            <a:r>
              <a:rPr lang="en-US" dirty="0" err="1"/>
              <a:t>bOPV</a:t>
            </a:r>
            <a:r>
              <a:rPr lang="en-US" dirty="0"/>
              <a:t>, containing types 1 and 3 poliovirus).</a:t>
            </a:r>
          </a:p>
          <a:p>
            <a:pPr lvl="1"/>
            <a:r>
              <a:rPr lang="en-US" dirty="0">
                <a:highlight>
                  <a:srgbClr val="FFFF00"/>
                </a:highlight>
              </a:rPr>
              <a:t>During 2016, switch from </a:t>
            </a:r>
            <a:r>
              <a:rPr lang="en-US" dirty="0" err="1">
                <a:highlight>
                  <a:srgbClr val="FFFF00"/>
                </a:highlight>
              </a:rPr>
              <a:t>tOPV</a:t>
            </a:r>
            <a:r>
              <a:rPr lang="en-US" dirty="0">
                <a:highlight>
                  <a:srgbClr val="FFFF00"/>
                </a:highlight>
              </a:rPr>
              <a:t> to </a:t>
            </a:r>
            <a:r>
              <a:rPr lang="en-US" dirty="0" err="1">
                <a:highlight>
                  <a:srgbClr val="FFFF00"/>
                </a:highlight>
              </a:rPr>
              <a:t>bOPV</a:t>
            </a:r>
            <a:r>
              <a:rPr lang="en-US" dirty="0">
                <a:highlight>
                  <a:srgbClr val="FFFF00"/>
                </a:highlight>
              </a:rPr>
              <a:t>, which does not contain type </a:t>
            </a:r>
            <a:r>
              <a:rPr lang="en-US" dirty="0"/>
              <a:t>2 virus, in routine immunization and polio campaigns, as before that </a:t>
            </a:r>
            <a:r>
              <a:rPr lang="en-US" dirty="0" err="1"/>
              <a:t>bOPV</a:t>
            </a:r>
            <a:r>
              <a:rPr lang="en-US" dirty="0"/>
              <a:t> was only licensed for use in SIAs. </a:t>
            </a:r>
            <a:r>
              <a:rPr lang="en-US" b="1" dirty="0"/>
              <a:t>(The Switch)</a:t>
            </a:r>
            <a:endParaRPr lang="en-US" dirty="0"/>
          </a:p>
          <a:p>
            <a:pPr lvl="1"/>
            <a:r>
              <a:rPr lang="en-US" dirty="0"/>
              <a:t>Plan for the </a:t>
            </a:r>
            <a:r>
              <a:rPr lang="en-US" dirty="0">
                <a:highlight>
                  <a:srgbClr val="FFFF00"/>
                </a:highlight>
              </a:rPr>
              <a:t>eventual withdrawal of all OPV</a:t>
            </a:r>
            <a:r>
              <a:rPr lang="en-US" dirty="0"/>
              <a:t>.</a:t>
            </a:r>
          </a:p>
        </p:txBody>
      </p:sp>
    </p:spTree>
    <p:extLst>
      <p:ext uri="{BB962C8B-B14F-4D97-AF65-F5344CB8AC3E}">
        <p14:creationId xmlns:p14="http://schemas.microsoft.com/office/powerpoint/2010/main" val="36620295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8C6BB8-3203-2ACA-9493-3A333E58DC80}"/>
              </a:ext>
            </a:extLst>
          </p:cNvPr>
          <p:cNvSpPr>
            <a:spLocks noGrp="1"/>
          </p:cNvSpPr>
          <p:nvPr>
            <p:ph idx="1"/>
          </p:nvPr>
        </p:nvSpPr>
        <p:spPr>
          <a:xfrm>
            <a:off x="838200" y="293914"/>
            <a:ext cx="10515600" cy="5883049"/>
          </a:xfrm>
        </p:spPr>
        <p:txBody>
          <a:bodyPr>
            <a:normAutofit fontScale="92500" lnSpcReduction="20000"/>
          </a:bodyPr>
          <a:lstStyle/>
          <a:p>
            <a:r>
              <a:rPr lang="en-US" b="1" u="sng" dirty="0"/>
              <a:t>Endgame, polio eradication activities and strengthening routine immunization can </a:t>
            </a:r>
            <a:r>
              <a:rPr lang="en-US" b="1" u="sng" dirty="0">
                <a:highlight>
                  <a:srgbClr val="FFFF00"/>
                </a:highlight>
              </a:rPr>
              <a:t>be mutually beneficial </a:t>
            </a:r>
            <a:r>
              <a:rPr lang="en-US" b="1" u="sng" dirty="0"/>
              <a:t>as :</a:t>
            </a:r>
          </a:p>
          <a:p>
            <a:r>
              <a:rPr lang="en-US" b="1" dirty="0"/>
              <a:t>IPV</a:t>
            </a:r>
            <a:r>
              <a:rPr lang="en-US" dirty="0"/>
              <a:t> will be introduced </a:t>
            </a:r>
            <a:r>
              <a:rPr lang="en-US" dirty="0">
                <a:highlight>
                  <a:srgbClr val="FFFF00"/>
                </a:highlight>
              </a:rPr>
              <a:t>through routine immunization </a:t>
            </a:r>
            <a:r>
              <a:rPr lang="en-US" dirty="0"/>
              <a:t>delivery </a:t>
            </a:r>
            <a:r>
              <a:rPr lang="en-US" dirty="0" err="1"/>
              <a:t>sytstems</a:t>
            </a:r>
            <a:r>
              <a:rPr lang="en-US" dirty="0"/>
              <a:t> </a:t>
            </a:r>
          </a:p>
          <a:p>
            <a:r>
              <a:rPr lang="en-US" dirty="0">
                <a:highlight>
                  <a:srgbClr val="FFFF00"/>
                </a:highlight>
              </a:rPr>
              <a:t>Strengthening routine immunization </a:t>
            </a:r>
            <a:r>
              <a:rPr lang="en-US" dirty="0"/>
              <a:t>is necessary to achieve and maintain high population immunity against polioviruses, especially type 2, after OPV type 2 is withdrawn. </a:t>
            </a:r>
          </a:p>
          <a:p>
            <a:pPr lvl="1"/>
            <a:r>
              <a:rPr lang="en-US" dirty="0"/>
              <a:t>The magnitude, number and length of both wild poliovirus (WPV) and </a:t>
            </a:r>
            <a:r>
              <a:rPr lang="en-US" dirty="0" err="1"/>
              <a:t>cVDPV</a:t>
            </a:r>
            <a:r>
              <a:rPr lang="en-US" dirty="0"/>
              <a:t> outbreaks are closely </a:t>
            </a:r>
            <a:r>
              <a:rPr lang="en-US" dirty="0">
                <a:highlight>
                  <a:srgbClr val="FFFF00"/>
                </a:highlight>
              </a:rPr>
              <a:t>correlated with weaknesses in routine immunization </a:t>
            </a:r>
            <a:r>
              <a:rPr lang="en-US" dirty="0"/>
              <a:t>systems </a:t>
            </a:r>
          </a:p>
          <a:p>
            <a:r>
              <a:rPr lang="en-US" dirty="0"/>
              <a:t>This is an opportunity for the global polio eradication initiative to use its </a:t>
            </a:r>
            <a:r>
              <a:rPr lang="en-US" dirty="0">
                <a:highlight>
                  <a:srgbClr val="FFFF00"/>
                </a:highlight>
              </a:rPr>
              <a:t>infrastructure to contribute more systematically </a:t>
            </a:r>
            <a:r>
              <a:rPr lang="en-US" dirty="0"/>
              <a:t>to strengthening routine immunization systems</a:t>
            </a:r>
          </a:p>
          <a:p>
            <a:r>
              <a:rPr lang="en-US" dirty="0"/>
              <a:t>One of the goals is to improve infant routine immunization coverage in a group of focus countries which have some of the lowest routine immunization coverage levels in the world and the greatest proportion of the world's unvaccinated children. </a:t>
            </a:r>
          </a:p>
          <a:p>
            <a:pPr lvl="1"/>
            <a:r>
              <a:rPr lang="en-US" dirty="0">
                <a:highlight>
                  <a:srgbClr val="FFFF00"/>
                </a:highlight>
              </a:rPr>
              <a:t>The third dose of DPT-containing vaccine will be used to measure routine immunization coverage improvements.</a:t>
            </a:r>
          </a:p>
        </p:txBody>
      </p:sp>
    </p:spTree>
    <p:extLst>
      <p:ext uri="{BB962C8B-B14F-4D97-AF65-F5344CB8AC3E}">
        <p14:creationId xmlns:p14="http://schemas.microsoft.com/office/powerpoint/2010/main" val="779706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FE7C3-F76F-4DFA-2EA3-D8EFC6325632}"/>
              </a:ext>
            </a:extLst>
          </p:cNvPr>
          <p:cNvSpPr>
            <a:spLocks noGrp="1"/>
          </p:cNvSpPr>
          <p:nvPr>
            <p:ph type="title"/>
          </p:nvPr>
        </p:nvSpPr>
        <p:spPr/>
        <p:txBody>
          <a:bodyPr/>
          <a:lstStyle/>
          <a:p>
            <a:r>
              <a:rPr lang="en-US" dirty="0"/>
              <a:t>Containment</a:t>
            </a:r>
          </a:p>
        </p:txBody>
      </p:sp>
      <p:sp>
        <p:nvSpPr>
          <p:cNvPr id="3" name="Content Placeholder 2">
            <a:extLst>
              <a:ext uri="{FF2B5EF4-FFF2-40B4-BE49-F238E27FC236}">
                <a16:creationId xmlns:a16="http://schemas.microsoft.com/office/drawing/2014/main" id="{9B8B5A6F-C53D-F968-EF76-1E31090D5274}"/>
              </a:ext>
            </a:extLst>
          </p:cNvPr>
          <p:cNvSpPr>
            <a:spLocks noGrp="1"/>
          </p:cNvSpPr>
          <p:nvPr>
            <p:ph idx="1"/>
          </p:nvPr>
        </p:nvSpPr>
        <p:spPr/>
        <p:txBody>
          <a:bodyPr>
            <a:normAutofit/>
          </a:bodyPr>
          <a:lstStyle/>
          <a:p>
            <a:r>
              <a:rPr lang="en-US" dirty="0"/>
              <a:t>The eradication of WPV2 means it </a:t>
            </a:r>
            <a:r>
              <a:rPr lang="en-US" dirty="0">
                <a:highlight>
                  <a:srgbClr val="FFFF00"/>
                </a:highlight>
              </a:rPr>
              <a:t>does not circulate in human population any longer </a:t>
            </a:r>
            <a:r>
              <a:rPr lang="en-US" dirty="0"/>
              <a:t>and it is not detectable in environment sample either. </a:t>
            </a:r>
          </a:p>
          <a:p>
            <a:r>
              <a:rPr lang="en-US" dirty="0"/>
              <a:t>The identification and </a:t>
            </a:r>
            <a:r>
              <a:rPr lang="en-US" dirty="0">
                <a:highlight>
                  <a:srgbClr val="FFFF00"/>
                </a:highlight>
              </a:rPr>
              <a:t>destruction of any unneeded type 2 poliovirus or appropriate containment of needed type 2 poliovirus </a:t>
            </a:r>
            <a:r>
              <a:rPr lang="en-US" dirty="0"/>
              <a:t>is now critical to sustain polio eradication efforts and to prevent accidental or malicious release of these viruses from facility and their subsequent transmission to people. </a:t>
            </a:r>
          </a:p>
        </p:txBody>
      </p:sp>
    </p:spTree>
    <p:extLst>
      <p:ext uri="{BB962C8B-B14F-4D97-AF65-F5344CB8AC3E}">
        <p14:creationId xmlns:p14="http://schemas.microsoft.com/office/powerpoint/2010/main" val="42376291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4E855-19DD-9BDA-7929-2090C19627CC}"/>
              </a:ext>
            </a:extLst>
          </p:cNvPr>
          <p:cNvSpPr>
            <a:spLocks noGrp="1"/>
          </p:cNvSpPr>
          <p:nvPr>
            <p:ph type="title"/>
          </p:nvPr>
        </p:nvSpPr>
        <p:spPr/>
        <p:txBody>
          <a:bodyPr/>
          <a:lstStyle/>
          <a:p>
            <a:r>
              <a:rPr lang="en-US" dirty="0"/>
              <a:t>Polio Surveillance</a:t>
            </a:r>
          </a:p>
        </p:txBody>
      </p:sp>
      <p:sp>
        <p:nvSpPr>
          <p:cNvPr id="3" name="Content Placeholder 2">
            <a:extLst>
              <a:ext uri="{FF2B5EF4-FFF2-40B4-BE49-F238E27FC236}">
                <a16:creationId xmlns:a16="http://schemas.microsoft.com/office/drawing/2014/main" id="{0DE34B57-BCE2-0322-F926-536CB03D4BAB}"/>
              </a:ext>
            </a:extLst>
          </p:cNvPr>
          <p:cNvSpPr>
            <a:spLocks noGrp="1"/>
          </p:cNvSpPr>
          <p:nvPr>
            <p:ph idx="1"/>
          </p:nvPr>
        </p:nvSpPr>
        <p:spPr/>
        <p:txBody>
          <a:bodyPr/>
          <a:lstStyle/>
          <a:p>
            <a:r>
              <a:rPr lang="en-US" dirty="0"/>
              <a:t>Without surveillance, it would be impossible to pinpoint </a:t>
            </a:r>
            <a:r>
              <a:rPr lang="en-US" dirty="0">
                <a:highlight>
                  <a:srgbClr val="FFFF00"/>
                </a:highlight>
              </a:rPr>
              <a:t>where and how wild poliovirus is still circulating</a:t>
            </a:r>
            <a:r>
              <a:rPr lang="en-US" dirty="0"/>
              <a:t>, or to verify that the virus has been eradicated.</a:t>
            </a:r>
          </a:p>
          <a:p>
            <a:r>
              <a:rPr lang="en-US" dirty="0"/>
              <a:t>Surveillance identifies </a:t>
            </a:r>
            <a:r>
              <a:rPr lang="en-US" dirty="0">
                <a:highlight>
                  <a:srgbClr val="FFFF00"/>
                </a:highlight>
              </a:rPr>
              <a:t>new cases and detects importation </a:t>
            </a:r>
            <a:r>
              <a:rPr lang="en-US" dirty="0"/>
              <a:t>of wild poliovirus.</a:t>
            </a:r>
          </a:p>
        </p:txBody>
      </p:sp>
    </p:spTree>
    <p:extLst>
      <p:ext uri="{BB962C8B-B14F-4D97-AF65-F5344CB8AC3E}">
        <p14:creationId xmlns:p14="http://schemas.microsoft.com/office/powerpoint/2010/main" val="2534633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489C2-1A3C-608E-FAE6-201C17BD9C1E}"/>
              </a:ext>
            </a:extLst>
          </p:cNvPr>
          <p:cNvSpPr>
            <a:spLocks noGrp="1"/>
          </p:cNvSpPr>
          <p:nvPr>
            <p:ph type="title"/>
          </p:nvPr>
        </p:nvSpPr>
        <p:spPr/>
        <p:txBody>
          <a:bodyPr/>
          <a:lstStyle/>
          <a:p>
            <a:r>
              <a:rPr lang="en-US" dirty="0"/>
              <a:t>Acute flaccid paralysis surveillance</a:t>
            </a:r>
          </a:p>
        </p:txBody>
      </p:sp>
      <p:sp>
        <p:nvSpPr>
          <p:cNvPr id="3" name="Content Placeholder 2">
            <a:extLst>
              <a:ext uri="{FF2B5EF4-FFF2-40B4-BE49-F238E27FC236}">
                <a16:creationId xmlns:a16="http://schemas.microsoft.com/office/drawing/2014/main" id="{C00E02F1-A9D1-6290-57B4-2D6A27140FBD}"/>
              </a:ext>
            </a:extLst>
          </p:cNvPr>
          <p:cNvSpPr>
            <a:spLocks noGrp="1"/>
          </p:cNvSpPr>
          <p:nvPr>
            <p:ph idx="1"/>
          </p:nvPr>
        </p:nvSpPr>
        <p:spPr/>
        <p:txBody>
          <a:bodyPr>
            <a:normAutofit fontScale="85000" lnSpcReduction="20000"/>
          </a:bodyPr>
          <a:lstStyle/>
          <a:p>
            <a:r>
              <a:rPr lang="en-US" b="1" dirty="0"/>
              <a:t>Finding and reporting children with acute flaccid paralysis (AFP)</a:t>
            </a:r>
          </a:p>
          <a:p>
            <a:pPr lvl="1"/>
            <a:r>
              <a:rPr lang="en-US" dirty="0"/>
              <a:t>The number of AFP cases reported each year is used as an indicator of a country's ability to detect polio - even in countries where the disease no longer occurs. </a:t>
            </a:r>
          </a:p>
          <a:p>
            <a:pPr lvl="1"/>
            <a:r>
              <a:rPr lang="en-US" dirty="0"/>
              <a:t>A country’s surveillance system needs to be sensitive enough to </a:t>
            </a:r>
            <a:r>
              <a:rPr lang="en-US" dirty="0">
                <a:highlight>
                  <a:srgbClr val="FFFF00"/>
                </a:highlight>
              </a:rPr>
              <a:t>detect at least one case of AFP for every 100,000 children under 15,</a:t>
            </a:r>
            <a:r>
              <a:rPr lang="en-US" dirty="0"/>
              <a:t> even in the absence of polio.</a:t>
            </a:r>
          </a:p>
          <a:p>
            <a:r>
              <a:rPr lang="en-US" b="1" dirty="0"/>
              <a:t>Transporting stool samples for analysis</a:t>
            </a:r>
          </a:p>
          <a:p>
            <a:pPr lvl="1"/>
            <a:r>
              <a:rPr lang="en-US" dirty="0"/>
              <a:t>Tested for wild poliovirus </a:t>
            </a:r>
            <a:r>
              <a:rPr lang="en-US" dirty="0">
                <a:highlight>
                  <a:srgbClr val="FFFF00"/>
                </a:highlight>
              </a:rPr>
              <a:t>within 48 hours of onset</a:t>
            </a:r>
            <a:r>
              <a:rPr lang="en-US" dirty="0"/>
              <a:t>, even if doctors are confident on clinical grounds that the child does not have polio. </a:t>
            </a:r>
          </a:p>
          <a:p>
            <a:pPr lvl="1"/>
            <a:r>
              <a:rPr lang="en-US" dirty="0"/>
              <a:t>To test for polio, </a:t>
            </a:r>
            <a:r>
              <a:rPr lang="en-US" dirty="0" err="1">
                <a:highlight>
                  <a:srgbClr val="FFFF00"/>
                </a:highlight>
              </a:rPr>
              <a:t>faecal</a:t>
            </a:r>
            <a:r>
              <a:rPr lang="en-US" dirty="0">
                <a:highlight>
                  <a:srgbClr val="FFFF00"/>
                </a:highlight>
              </a:rPr>
              <a:t> specimens are </a:t>
            </a:r>
            <a:r>
              <a:rPr lang="en-US" dirty="0"/>
              <a:t>analyzed for the presence of poliovirus. </a:t>
            </a:r>
          </a:p>
          <a:p>
            <a:pPr lvl="1"/>
            <a:r>
              <a:rPr lang="en-US" dirty="0"/>
              <a:t>Because shedding of the virus is variable, </a:t>
            </a:r>
            <a:r>
              <a:rPr lang="en-US" dirty="0">
                <a:highlight>
                  <a:srgbClr val="FFFF00"/>
                </a:highlight>
              </a:rPr>
              <a:t>two specimens - taken 24-48 hours </a:t>
            </a:r>
            <a:r>
              <a:rPr lang="en-US" dirty="0"/>
              <a:t>apart are required. </a:t>
            </a:r>
          </a:p>
          <a:p>
            <a:pPr lvl="1"/>
            <a:r>
              <a:rPr lang="en-US" dirty="0"/>
              <a:t>Speed is essential, since the highest concentrations of poliovirus in the stools of infected individuals are </a:t>
            </a:r>
            <a:r>
              <a:rPr lang="en-US" dirty="0">
                <a:highlight>
                  <a:srgbClr val="FFFF00"/>
                </a:highlight>
              </a:rPr>
              <a:t>found during the first two weeks </a:t>
            </a:r>
            <a:r>
              <a:rPr lang="en-US" dirty="0"/>
              <a:t>after onset of paralysis.</a:t>
            </a:r>
          </a:p>
          <a:p>
            <a:pPr lvl="1"/>
            <a:r>
              <a:rPr lang="en-US" dirty="0"/>
              <a:t>Sealed in containers and stored immediately inside a refrigerator or packed between frozen ice packs at 4-8°C in a cold box, ready for shipment to a laboratory. </a:t>
            </a:r>
          </a:p>
          <a:p>
            <a:pPr lvl="1"/>
            <a:r>
              <a:rPr lang="en-US" dirty="0"/>
              <a:t>Specimens should arrive at the laboratory within 72 hours of collection</a:t>
            </a:r>
          </a:p>
        </p:txBody>
      </p:sp>
    </p:spTree>
    <p:extLst>
      <p:ext uri="{BB962C8B-B14F-4D97-AF65-F5344CB8AC3E}">
        <p14:creationId xmlns:p14="http://schemas.microsoft.com/office/powerpoint/2010/main" val="2044648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D2A01-51E9-C003-E255-FE3BDCCA17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5B0F1F-D3A1-E82E-C0CD-700D42E0ACC9}"/>
              </a:ext>
            </a:extLst>
          </p:cNvPr>
          <p:cNvSpPr>
            <a:spLocks noGrp="1"/>
          </p:cNvSpPr>
          <p:nvPr>
            <p:ph type="title"/>
          </p:nvPr>
        </p:nvSpPr>
        <p:spPr/>
        <p:txBody>
          <a:bodyPr/>
          <a:lstStyle/>
          <a:p>
            <a:r>
              <a:rPr lang="en-US" dirty="0"/>
              <a:t>Acute flaccid paralysis surveillance</a:t>
            </a:r>
          </a:p>
        </p:txBody>
      </p:sp>
      <p:sp>
        <p:nvSpPr>
          <p:cNvPr id="3" name="Content Placeholder 2">
            <a:extLst>
              <a:ext uri="{FF2B5EF4-FFF2-40B4-BE49-F238E27FC236}">
                <a16:creationId xmlns:a16="http://schemas.microsoft.com/office/drawing/2014/main" id="{7A9D41B1-73E3-4C52-D3BB-45182903F87A}"/>
              </a:ext>
            </a:extLst>
          </p:cNvPr>
          <p:cNvSpPr>
            <a:spLocks noGrp="1"/>
          </p:cNvSpPr>
          <p:nvPr>
            <p:ph idx="1"/>
          </p:nvPr>
        </p:nvSpPr>
        <p:spPr>
          <a:xfrm>
            <a:off x="438150" y="1690688"/>
            <a:ext cx="10915650" cy="4486275"/>
          </a:xfrm>
        </p:spPr>
        <p:txBody>
          <a:bodyPr>
            <a:normAutofit/>
          </a:bodyPr>
          <a:lstStyle/>
          <a:p>
            <a:r>
              <a:rPr lang="en-US" b="1" dirty="0"/>
              <a:t>Isolating Poliovirus</a:t>
            </a:r>
          </a:p>
          <a:p>
            <a:pPr lvl="1"/>
            <a:r>
              <a:rPr lang="en-US" dirty="0"/>
              <a:t>If poliovirus is isolated, the next step is to </a:t>
            </a:r>
            <a:r>
              <a:rPr lang="en-US" dirty="0">
                <a:highlight>
                  <a:srgbClr val="FFFF00"/>
                </a:highlight>
              </a:rPr>
              <a:t>distinguish between wild (naturally occurring) and vaccine-related poliovirus.</a:t>
            </a:r>
            <a:r>
              <a:rPr lang="en-US" dirty="0"/>
              <a:t> </a:t>
            </a:r>
          </a:p>
          <a:p>
            <a:r>
              <a:rPr lang="en-US" b="1" dirty="0"/>
              <a:t>Mapping the virus</a:t>
            </a:r>
          </a:p>
          <a:p>
            <a:pPr lvl="1"/>
            <a:r>
              <a:rPr lang="en-US" dirty="0"/>
              <a:t>Further tests are carried out to determine where the </a:t>
            </a:r>
            <a:r>
              <a:rPr lang="en-US" dirty="0">
                <a:highlight>
                  <a:srgbClr val="FFFF00"/>
                </a:highlight>
              </a:rPr>
              <a:t>strain may have originated</a:t>
            </a:r>
            <a:r>
              <a:rPr lang="en-US" dirty="0"/>
              <a:t>. </a:t>
            </a:r>
          </a:p>
          <a:p>
            <a:pPr lvl="1"/>
            <a:r>
              <a:rPr lang="en-US" dirty="0"/>
              <a:t>By determining the exact genetic make-up of the virus, wild viruses can be compared to others and classified into genetic families which cluster in defined geographical areas.</a:t>
            </a:r>
          </a:p>
        </p:txBody>
      </p:sp>
    </p:spTree>
    <p:extLst>
      <p:ext uri="{BB962C8B-B14F-4D97-AF65-F5344CB8AC3E}">
        <p14:creationId xmlns:p14="http://schemas.microsoft.com/office/powerpoint/2010/main" val="3481220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829B1-3348-CA4A-2947-1473B8D492A2}"/>
              </a:ext>
            </a:extLst>
          </p:cNvPr>
          <p:cNvSpPr>
            <a:spLocks noGrp="1"/>
          </p:cNvSpPr>
          <p:nvPr>
            <p:ph type="title"/>
          </p:nvPr>
        </p:nvSpPr>
        <p:spPr/>
        <p:txBody>
          <a:bodyPr/>
          <a:lstStyle/>
          <a:p>
            <a:r>
              <a:rPr lang="en-US" dirty="0"/>
              <a:t>Environmental surveillance</a:t>
            </a:r>
          </a:p>
        </p:txBody>
      </p:sp>
      <p:sp>
        <p:nvSpPr>
          <p:cNvPr id="3" name="Content Placeholder 2">
            <a:extLst>
              <a:ext uri="{FF2B5EF4-FFF2-40B4-BE49-F238E27FC236}">
                <a16:creationId xmlns:a16="http://schemas.microsoft.com/office/drawing/2014/main" id="{2B50B3BD-CDC8-A835-81E9-37D4B7B87A62}"/>
              </a:ext>
            </a:extLst>
          </p:cNvPr>
          <p:cNvSpPr>
            <a:spLocks noGrp="1"/>
          </p:cNvSpPr>
          <p:nvPr>
            <p:ph idx="1"/>
          </p:nvPr>
        </p:nvSpPr>
        <p:spPr/>
        <p:txBody>
          <a:bodyPr>
            <a:normAutofit/>
          </a:bodyPr>
          <a:lstStyle/>
          <a:p>
            <a:r>
              <a:rPr lang="en-US" dirty="0"/>
              <a:t>Testing </a:t>
            </a:r>
            <a:r>
              <a:rPr lang="en-US" dirty="0">
                <a:highlight>
                  <a:srgbClr val="FFFF00"/>
                </a:highlight>
              </a:rPr>
              <a:t>sewage or other environmental samples </a:t>
            </a:r>
            <a:r>
              <a:rPr lang="en-US" dirty="0"/>
              <a:t>for the presence of poliovirus.</a:t>
            </a:r>
          </a:p>
          <a:p>
            <a:r>
              <a:rPr lang="en-US" dirty="0"/>
              <a:t>Environmental surveillance often confirms wild poliovirus infections in the absence of cases of paralysis. </a:t>
            </a:r>
          </a:p>
          <a:p>
            <a:r>
              <a:rPr lang="en-US" dirty="0"/>
              <a:t>Systematic environmental sampling (e.g. in Egypt and Mumbai, India) provides important supplementary surveillance data. </a:t>
            </a:r>
          </a:p>
          <a:p>
            <a:r>
              <a:rPr lang="en-US" dirty="0" err="1"/>
              <a:t>Adhoc</a:t>
            </a:r>
            <a:r>
              <a:rPr lang="en-US" dirty="0"/>
              <a:t> environmental surveillance elsewhere (especially in polio-free regions) provides </a:t>
            </a:r>
            <a:r>
              <a:rPr lang="en-US" dirty="0">
                <a:highlight>
                  <a:srgbClr val="FFFF00"/>
                </a:highlight>
              </a:rPr>
              <a:t>insights into the international spread of poliovirus</a:t>
            </a:r>
          </a:p>
        </p:txBody>
      </p:sp>
    </p:spTree>
    <p:extLst>
      <p:ext uri="{BB962C8B-B14F-4D97-AF65-F5344CB8AC3E}">
        <p14:creationId xmlns:p14="http://schemas.microsoft.com/office/powerpoint/2010/main" val="40604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0E071-3589-DA39-6D18-4B61EB6B1EA6}"/>
              </a:ext>
            </a:extLst>
          </p:cNvPr>
          <p:cNvSpPr>
            <a:spLocks noGrp="1"/>
          </p:cNvSpPr>
          <p:nvPr>
            <p:ph type="title"/>
          </p:nvPr>
        </p:nvSpPr>
        <p:spPr/>
        <p:txBody>
          <a:bodyPr/>
          <a:lstStyle/>
          <a:p>
            <a:r>
              <a:rPr lang="en-US" dirty="0"/>
              <a:t>Surveillance Indicators</a:t>
            </a:r>
          </a:p>
        </p:txBody>
      </p:sp>
      <p:graphicFrame>
        <p:nvGraphicFramePr>
          <p:cNvPr id="4" name="Content Placeholder 3">
            <a:extLst>
              <a:ext uri="{FF2B5EF4-FFF2-40B4-BE49-F238E27FC236}">
                <a16:creationId xmlns:a16="http://schemas.microsoft.com/office/drawing/2014/main" id="{7D6A8554-9108-D4FF-8197-3FF6C1539C7D}"/>
              </a:ext>
            </a:extLst>
          </p:cNvPr>
          <p:cNvGraphicFramePr>
            <a:graphicFrameLocks noGrp="1"/>
          </p:cNvGraphicFramePr>
          <p:nvPr>
            <p:ph idx="1"/>
            <p:extLst>
              <p:ext uri="{D42A27DB-BD31-4B8C-83A1-F6EECF244321}">
                <p14:modId xmlns:p14="http://schemas.microsoft.com/office/powerpoint/2010/main" val="724542500"/>
              </p:ext>
            </p:extLst>
          </p:nvPr>
        </p:nvGraphicFramePr>
        <p:xfrm>
          <a:off x="400050" y="1371600"/>
          <a:ext cx="11563350" cy="5173949"/>
        </p:xfrm>
        <a:graphic>
          <a:graphicData uri="http://schemas.openxmlformats.org/drawingml/2006/table">
            <a:tbl>
              <a:tblPr firstRow="1" bandRow="1">
                <a:tableStyleId>{5C22544A-7EE6-4342-B048-85BDC9FD1C3A}</a:tableStyleId>
              </a:tblPr>
              <a:tblGrid>
                <a:gridCol w="2781300">
                  <a:extLst>
                    <a:ext uri="{9D8B030D-6E8A-4147-A177-3AD203B41FA5}">
                      <a16:colId xmlns:a16="http://schemas.microsoft.com/office/drawing/2014/main" val="3242219600"/>
                    </a:ext>
                  </a:extLst>
                </a:gridCol>
                <a:gridCol w="8782050">
                  <a:extLst>
                    <a:ext uri="{9D8B030D-6E8A-4147-A177-3AD203B41FA5}">
                      <a16:colId xmlns:a16="http://schemas.microsoft.com/office/drawing/2014/main" val="2388322336"/>
                    </a:ext>
                  </a:extLst>
                </a:gridCol>
              </a:tblGrid>
              <a:tr h="393120">
                <a:tc>
                  <a:txBody>
                    <a:bodyPr/>
                    <a:lstStyle/>
                    <a:p>
                      <a:r>
                        <a:rPr lang="en-US" sz="2200" dirty="0"/>
                        <a:t>Indicator</a:t>
                      </a:r>
                    </a:p>
                  </a:txBody>
                  <a:tcPr/>
                </a:tc>
                <a:tc>
                  <a:txBody>
                    <a:bodyPr/>
                    <a:lstStyle/>
                    <a:p>
                      <a:r>
                        <a:rPr lang="en-US" sz="2200" dirty="0"/>
                        <a:t>Minimum level</a:t>
                      </a:r>
                    </a:p>
                  </a:txBody>
                  <a:tcPr/>
                </a:tc>
                <a:extLst>
                  <a:ext uri="{0D108BD9-81ED-4DB2-BD59-A6C34878D82A}">
                    <a16:rowId xmlns:a16="http://schemas.microsoft.com/office/drawing/2014/main" val="97885540"/>
                  </a:ext>
                </a:extLst>
              </a:tr>
              <a:tr h="1010880">
                <a:tc>
                  <a:txBody>
                    <a:bodyPr/>
                    <a:lstStyle/>
                    <a:p>
                      <a:r>
                        <a:rPr lang="en-US" sz="2200" b="1" dirty="0"/>
                        <a:t>Completeness of reporting</a:t>
                      </a:r>
                    </a:p>
                  </a:txBody>
                  <a:tcPr/>
                </a:tc>
                <a:tc>
                  <a:txBody>
                    <a:bodyPr/>
                    <a:lstStyle/>
                    <a:p>
                      <a:r>
                        <a:rPr lang="en-US" sz="2200" dirty="0"/>
                        <a:t>At least 80% of expected routine (weekly or monthly) AFP surveillance reports should be received on time, including zero reports where no AFP cases are seen.</a:t>
                      </a:r>
                    </a:p>
                  </a:txBody>
                  <a:tcPr/>
                </a:tc>
                <a:extLst>
                  <a:ext uri="{0D108BD9-81ED-4DB2-BD59-A6C34878D82A}">
                    <a16:rowId xmlns:a16="http://schemas.microsoft.com/office/drawing/2014/main" val="1048892819"/>
                  </a:ext>
                </a:extLst>
              </a:tr>
              <a:tr h="702000">
                <a:tc>
                  <a:txBody>
                    <a:bodyPr/>
                    <a:lstStyle/>
                    <a:p>
                      <a:r>
                        <a:rPr lang="en-US" sz="2200" b="1" dirty="0"/>
                        <a:t>Sensitivity of surveillance</a:t>
                      </a:r>
                    </a:p>
                  </a:txBody>
                  <a:tcPr/>
                </a:tc>
                <a:tc>
                  <a:txBody>
                    <a:bodyPr/>
                    <a:lstStyle/>
                    <a:p>
                      <a:r>
                        <a:rPr lang="en-US" sz="2200" dirty="0"/>
                        <a:t>At least one case of non-polio AFP should be detected annually per 100,000 population aged less than 15 years. Endemic regions - 2</a:t>
                      </a:r>
                    </a:p>
                  </a:txBody>
                  <a:tcPr/>
                </a:tc>
                <a:extLst>
                  <a:ext uri="{0D108BD9-81ED-4DB2-BD59-A6C34878D82A}">
                    <a16:rowId xmlns:a16="http://schemas.microsoft.com/office/drawing/2014/main" val="1494726842"/>
                  </a:ext>
                </a:extLst>
              </a:tr>
              <a:tr h="924326">
                <a:tc>
                  <a:txBody>
                    <a:bodyPr/>
                    <a:lstStyle/>
                    <a:p>
                      <a:r>
                        <a:rPr lang="en-US" sz="2200" b="1" dirty="0"/>
                        <a:t>Completeness of case investigation</a:t>
                      </a:r>
                    </a:p>
                  </a:txBody>
                  <a:tcPr/>
                </a:tc>
                <a:tc>
                  <a:txBody>
                    <a:bodyPr/>
                    <a:lstStyle/>
                    <a:p>
                      <a:r>
                        <a:rPr lang="en-US" sz="2200" dirty="0"/>
                        <a:t>All AFP cases should have a full clinical and virological investigation with at least 80% of AFP cases having ‘adequate’ stool specimens collected.</a:t>
                      </a:r>
                    </a:p>
                  </a:txBody>
                  <a:tcPr/>
                </a:tc>
                <a:extLst>
                  <a:ext uri="{0D108BD9-81ED-4DB2-BD59-A6C34878D82A}">
                    <a16:rowId xmlns:a16="http://schemas.microsoft.com/office/drawing/2014/main" val="1236255620"/>
                  </a:ext>
                </a:extLst>
              </a:tr>
              <a:tr h="702000">
                <a:tc>
                  <a:txBody>
                    <a:bodyPr/>
                    <a:lstStyle/>
                    <a:p>
                      <a:r>
                        <a:rPr lang="en-US" sz="2200" b="1" dirty="0"/>
                        <a:t>Completeness of follow up</a:t>
                      </a:r>
                    </a:p>
                  </a:txBody>
                  <a:tcPr/>
                </a:tc>
                <a:tc>
                  <a:txBody>
                    <a:bodyPr/>
                    <a:lstStyle/>
                    <a:p>
                      <a:r>
                        <a:rPr lang="en-US" sz="2200" dirty="0"/>
                        <a:t>At least 80% of AFP cases should have a follow-up examination for residual paralysis at 60 days after the onset of paralysis.</a:t>
                      </a:r>
                    </a:p>
                  </a:txBody>
                  <a:tcPr/>
                </a:tc>
                <a:extLst>
                  <a:ext uri="{0D108BD9-81ED-4DB2-BD59-A6C34878D82A}">
                    <a16:rowId xmlns:a16="http://schemas.microsoft.com/office/drawing/2014/main" val="3704745024"/>
                  </a:ext>
                </a:extLst>
              </a:tr>
              <a:tr h="1201623">
                <a:tc>
                  <a:txBody>
                    <a:bodyPr/>
                    <a:lstStyle/>
                    <a:p>
                      <a:r>
                        <a:rPr lang="en-US" sz="2200" b="1" dirty="0"/>
                        <a:t>Laboratory performance</a:t>
                      </a:r>
                    </a:p>
                  </a:txBody>
                  <a:tcPr/>
                </a:tc>
                <a:tc>
                  <a:txBody>
                    <a:bodyPr/>
                    <a:lstStyle/>
                    <a:p>
                      <a:r>
                        <a:rPr lang="en-US" sz="2200" dirty="0"/>
                        <a:t>All AFP case specimens must be processed in a WHO accredited</a:t>
                      </a:r>
                    </a:p>
                    <a:p>
                      <a:r>
                        <a:rPr lang="en-US" sz="2200" dirty="0"/>
                        <a:t>laboratory within the Global Polio Laboratory Network (GPLN).</a:t>
                      </a:r>
                    </a:p>
                  </a:txBody>
                  <a:tcPr/>
                </a:tc>
                <a:extLst>
                  <a:ext uri="{0D108BD9-81ED-4DB2-BD59-A6C34878D82A}">
                    <a16:rowId xmlns:a16="http://schemas.microsoft.com/office/drawing/2014/main" val="4102847596"/>
                  </a:ext>
                </a:extLst>
              </a:tr>
            </a:tbl>
          </a:graphicData>
        </a:graphic>
      </p:graphicFrame>
    </p:spTree>
    <p:extLst>
      <p:ext uri="{BB962C8B-B14F-4D97-AF65-F5344CB8AC3E}">
        <p14:creationId xmlns:p14="http://schemas.microsoft.com/office/powerpoint/2010/main" val="24547428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B7C2E-4934-7187-88DB-C35517684F12}"/>
              </a:ext>
            </a:extLst>
          </p:cNvPr>
          <p:cNvSpPr>
            <a:spLocks noGrp="1"/>
          </p:cNvSpPr>
          <p:nvPr>
            <p:ph type="title"/>
          </p:nvPr>
        </p:nvSpPr>
        <p:spPr/>
        <p:txBody>
          <a:bodyPr/>
          <a:lstStyle/>
          <a:p>
            <a:r>
              <a:rPr lang="en-US" dirty="0"/>
              <a:t>Vaccine derived poliovirus (VDPV)</a:t>
            </a:r>
          </a:p>
        </p:txBody>
      </p:sp>
      <p:sp>
        <p:nvSpPr>
          <p:cNvPr id="3" name="Content Placeholder 2">
            <a:extLst>
              <a:ext uri="{FF2B5EF4-FFF2-40B4-BE49-F238E27FC236}">
                <a16:creationId xmlns:a16="http://schemas.microsoft.com/office/drawing/2014/main" id="{7852DFCE-462F-4F0F-B371-3661F51B59F4}"/>
              </a:ext>
            </a:extLst>
          </p:cNvPr>
          <p:cNvSpPr>
            <a:spLocks noGrp="1"/>
          </p:cNvSpPr>
          <p:nvPr>
            <p:ph idx="1"/>
          </p:nvPr>
        </p:nvSpPr>
        <p:spPr/>
        <p:txBody>
          <a:bodyPr>
            <a:normAutofit fontScale="92500" lnSpcReduction="10000"/>
          </a:bodyPr>
          <a:lstStyle/>
          <a:p>
            <a:r>
              <a:rPr lang="en-US" dirty="0"/>
              <a:t>Cases of VAPP are </a:t>
            </a:r>
            <a:r>
              <a:rPr lang="en-US" dirty="0">
                <a:highlight>
                  <a:srgbClr val="FFFF00"/>
                </a:highlight>
              </a:rPr>
              <a:t>clinically indistinguishable from poliomyelitis </a:t>
            </a:r>
            <a:r>
              <a:rPr lang="en-US" dirty="0"/>
              <a:t>caused by WPV but can be distinguished by laboratory analysis.</a:t>
            </a:r>
          </a:p>
          <a:p>
            <a:r>
              <a:rPr lang="en-US" dirty="0"/>
              <a:t>Incidence of VAPP has been </a:t>
            </a:r>
            <a:r>
              <a:rPr lang="en-US" dirty="0">
                <a:highlight>
                  <a:srgbClr val="FFFF00"/>
                </a:highlight>
              </a:rPr>
              <a:t>estimated at 4 cases/1000,000 birth cohort per year in countries using OPV</a:t>
            </a:r>
            <a:r>
              <a:rPr lang="en-US" dirty="0"/>
              <a:t>. </a:t>
            </a:r>
          </a:p>
          <a:p>
            <a:r>
              <a:rPr lang="en-US" dirty="0"/>
              <a:t>It is most frequently associated with </a:t>
            </a:r>
            <a:r>
              <a:rPr lang="en-US" dirty="0">
                <a:highlight>
                  <a:srgbClr val="FFFF00"/>
                </a:highlight>
              </a:rPr>
              <a:t>Sabin 3 (60% of cases)</a:t>
            </a:r>
            <a:r>
              <a:rPr lang="en-US" dirty="0"/>
              <a:t>, followed by Sabin 2 and Sabin 1.</a:t>
            </a:r>
          </a:p>
          <a:p>
            <a:r>
              <a:rPr lang="en-US" dirty="0"/>
              <a:t>It differ from the majority of vaccine-related poliovirus (VRPV) isolates in that they have genetic properties consistent with </a:t>
            </a:r>
            <a:r>
              <a:rPr lang="en-US" dirty="0">
                <a:highlight>
                  <a:srgbClr val="FFFF00"/>
                </a:highlight>
              </a:rPr>
              <a:t>prolonged replication or transmission,</a:t>
            </a:r>
            <a:r>
              <a:rPr lang="en-US" dirty="0"/>
              <a:t> which is substantially longer than the normal period of vaccine virus replication of 4-6 weeks in the OPV recipient.</a:t>
            </a:r>
          </a:p>
          <a:p>
            <a:r>
              <a:rPr lang="en-US" dirty="0"/>
              <a:t>The diagnosis is made by </a:t>
            </a:r>
            <a:r>
              <a:rPr lang="en-US" dirty="0" err="1"/>
              <a:t>rRT</a:t>
            </a:r>
            <a:r>
              <a:rPr lang="en-US" dirty="0"/>
              <a:t> – PCR.</a:t>
            </a:r>
          </a:p>
        </p:txBody>
      </p:sp>
    </p:spTree>
    <p:extLst>
      <p:ext uri="{BB962C8B-B14F-4D97-AF65-F5344CB8AC3E}">
        <p14:creationId xmlns:p14="http://schemas.microsoft.com/office/powerpoint/2010/main" val="645557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4B038-483E-28DD-83E9-657434856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C1296-65D8-BBCB-A577-954671CA1E45}"/>
              </a:ext>
            </a:extLst>
          </p:cNvPr>
          <p:cNvSpPr>
            <a:spLocks noGrp="1"/>
          </p:cNvSpPr>
          <p:nvPr>
            <p:ph type="title"/>
          </p:nvPr>
        </p:nvSpPr>
        <p:spPr/>
        <p:txBody>
          <a:bodyPr/>
          <a:lstStyle/>
          <a:p>
            <a:r>
              <a:rPr lang="en-US" dirty="0"/>
              <a:t>Vaccine derived poliovirus (VDPV)</a:t>
            </a:r>
          </a:p>
        </p:txBody>
      </p:sp>
      <p:sp>
        <p:nvSpPr>
          <p:cNvPr id="3" name="Content Placeholder 2">
            <a:extLst>
              <a:ext uri="{FF2B5EF4-FFF2-40B4-BE49-F238E27FC236}">
                <a16:creationId xmlns:a16="http://schemas.microsoft.com/office/drawing/2014/main" id="{F0DA552F-B7F8-A482-07DA-5026EF77D398}"/>
              </a:ext>
            </a:extLst>
          </p:cNvPr>
          <p:cNvSpPr>
            <a:spLocks noGrp="1"/>
          </p:cNvSpPr>
          <p:nvPr>
            <p:ph idx="1"/>
          </p:nvPr>
        </p:nvSpPr>
        <p:spPr/>
        <p:txBody>
          <a:bodyPr>
            <a:normAutofit/>
          </a:bodyPr>
          <a:lstStyle/>
          <a:p>
            <a:r>
              <a:rPr lang="en-US" dirty="0" err="1"/>
              <a:t>cVDPVs</a:t>
            </a:r>
            <a:r>
              <a:rPr lang="en-US" dirty="0"/>
              <a:t> </a:t>
            </a:r>
          </a:p>
          <a:p>
            <a:pPr lvl="1"/>
            <a:r>
              <a:rPr lang="en-US" dirty="0"/>
              <a:t>When evidence of </a:t>
            </a:r>
            <a:r>
              <a:rPr lang="en-US" dirty="0">
                <a:highlight>
                  <a:srgbClr val="FFFF00"/>
                </a:highlight>
              </a:rPr>
              <a:t>person-to-person transmission </a:t>
            </a:r>
            <a:r>
              <a:rPr lang="en-US" dirty="0"/>
              <a:t>in the community exists</a:t>
            </a:r>
          </a:p>
          <a:p>
            <a:r>
              <a:rPr lang="en-US" dirty="0"/>
              <a:t>Immunodeficiency-associated VDPVs (</a:t>
            </a:r>
            <a:r>
              <a:rPr lang="en-US" dirty="0" err="1"/>
              <a:t>iVDPVs</a:t>
            </a:r>
            <a:r>
              <a:rPr lang="en-US" dirty="0"/>
              <a:t>), </a:t>
            </a:r>
          </a:p>
          <a:p>
            <a:pPr lvl="1"/>
            <a:r>
              <a:rPr lang="en-US" dirty="0"/>
              <a:t>Which are isolates from persons with primary </a:t>
            </a:r>
            <a:r>
              <a:rPr lang="en-US" dirty="0">
                <a:highlight>
                  <a:srgbClr val="FFFF00"/>
                </a:highlight>
              </a:rPr>
              <a:t>immunodeficiencies</a:t>
            </a:r>
            <a:r>
              <a:rPr lang="en-US" dirty="0"/>
              <a:t>, who have prolonged VDPV infections;</a:t>
            </a:r>
          </a:p>
          <a:p>
            <a:r>
              <a:rPr lang="en-US" dirty="0"/>
              <a:t>Ambiguous VDPVs (</a:t>
            </a:r>
            <a:r>
              <a:rPr lang="en-US" dirty="0" err="1"/>
              <a:t>aVDPVs</a:t>
            </a:r>
            <a:r>
              <a:rPr lang="en-US" dirty="0"/>
              <a:t>)</a:t>
            </a:r>
          </a:p>
          <a:p>
            <a:pPr lvl="1"/>
            <a:r>
              <a:rPr lang="en-US" dirty="0"/>
              <a:t>Which are either clinical isolates from person with no known immunodeficiency or sewage isolates whose source is unknown</a:t>
            </a:r>
          </a:p>
        </p:txBody>
      </p:sp>
    </p:spTree>
    <p:extLst>
      <p:ext uri="{BB962C8B-B14F-4D97-AF65-F5344CB8AC3E}">
        <p14:creationId xmlns:p14="http://schemas.microsoft.com/office/powerpoint/2010/main" val="32146035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81AE7-03B4-3506-35E8-2F8FD2386C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CC0DBF-5205-F321-5675-C3874EAB453A}"/>
              </a:ext>
            </a:extLst>
          </p:cNvPr>
          <p:cNvSpPr>
            <a:spLocks noGrp="1"/>
          </p:cNvSpPr>
          <p:nvPr>
            <p:ph type="title"/>
          </p:nvPr>
        </p:nvSpPr>
        <p:spPr/>
        <p:txBody>
          <a:bodyPr/>
          <a:lstStyle/>
          <a:p>
            <a:r>
              <a:rPr lang="en-US" dirty="0"/>
              <a:t>Vaccine derived poliovirus (VDPV)</a:t>
            </a:r>
          </a:p>
        </p:txBody>
      </p:sp>
      <p:sp>
        <p:nvSpPr>
          <p:cNvPr id="3" name="Content Placeholder 2">
            <a:extLst>
              <a:ext uri="{FF2B5EF4-FFF2-40B4-BE49-F238E27FC236}">
                <a16:creationId xmlns:a16="http://schemas.microsoft.com/office/drawing/2014/main" id="{2206FAAA-E4C7-5871-6BC7-A0803A0EA8B8}"/>
              </a:ext>
            </a:extLst>
          </p:cNvPr>
          <p:cNvSpPr>
            <a:spLocks noGrp="1"/>
          </p:cNvSpPr>
          <p:nvPr>
            <p:ph idx="1"/>
          </p:nvPr>
        </p:nvSpPr>
        <p:spPr/>
        <p:txBody>
          <a:bodyPr>
            <a:normAutofit fontScale="85000" lnSpcReduction="20000"/>
          </a:bodyPr>
          <a:lstStyle/>
          <a:p>
            <a:r>
              <a:rPr lang="en-US" dirty="0"/>
              <a:t>The clinical signs and severity of paralysis associated with VDPV and WPV infections are indistinguishable.</a:t>
            </a:r>
          </a:p>
          <a:p>
            <a:r>
              <a:rPr lang="en-US" dirty="0" err="1"/>
              <a:t>cVDPVs</a:t>
            </a:r>
            <a:r>
              <a:rPr lang="en-US" dirty="0"/>
              <a:t> pose the same public health threat as WPVs and require the same control measures.</a:t>
            </a:r>
          </a:p>
          <a:p>
            <a:r>
              <a:rPr lang="en-US" dirty="0"/>
              <a:t>Surveillance for WPVs and VDPVs should continue to be strengthened.</a:t>
            </a:r>
          </a:p>
          <a:p>
            <a:r>
              <a:rPr lang="en-US" dirty="0"/>
              <a:t>Environmental surveillance to detect VDPVs and WPV infection can serve as an important, sensitive supplement to AFP surveillance in many settings.</a:t>
            </a:r>
          </a:p>
          <a:p>
            <a:r>
              <a:rPr lang="en-US" dirty="0"/>
              <a:t>Persons with prolonged </a:t>
            </a:r>
            <a:r>
              <a:rPr lang="en-US" dirty="0" err="1"/>
              <a:t>iVDPV</a:t>
            </a:r>
            <a:r>
              <a:rPr lang="en-US" dirty="0"/>
              <a:t> infection may transmit poliovirus to others, raising the risk of VDPV circulation in settings of low population immunity to the corresponding poliovirus serotype.</a:t>
            </a:r>
          </a:p>
          <a:p>
            <a:r>
              <a:rPr lang="en-US" dirty="0">
                <a:highlight>
                  <a:srgbClr val="FFFF00"/>
                </a:highlight>
              </a:rPr>
              <a:t>Prolonged </a:t>
            </a:r>
            <a:r>
              <a:rPr lang="en-US" dirty="0" err="1">
                <a:highlight>
                  <a:srgbClr val="FFFF00"/>
                </a:highlight>
              </a:rPr>
              <a:t>iVDPV</a:t>
            </a:r>
            <a:r>
              <a:rPr lang="en-US" dirty="0">
                <a:highlight>
                  <a:srgbClr val="FFFF00"/>
                </a:highlight>
              </a:rPr>
              <a:t> excretion is uncommon among persons with primary immunodeficiencies exposed to OPV.</a:t>
            </a:r>
          </a:p>
          <a:p>
            <a:r>
              <a:rPr lang="en-US" dirty="0"/>
              <a:t>The prevalence of long-term </a:t>
            </a:r>
            <a:r>
              <a:rPr lang="en-US" dirty="0" err="1"/>
              <a:t>iVDPV</a:t>
            </a:r>
            <a:r>
              <a:rPr lang="en-US" dirty="0"/>
              <a:t> </a:t>
            </a:r>
            <a:r>
              <a:rPr lang="en-US" dirty="0" err="1"/>
              <a:t>excretors</a:t>
            </a:r>
            <a:r>
              <a:rPr lang="en-US" dirty="0"/>
              <a:t> may be higher than suggested.</a:t>
            </a:r>
          </a:p>
        </p:txBody>
      </p:sp>
    </p:spTree>
    <p:extLst>
      <p:ext uri="{BB962C8B-B14F-4D97-AF65-F5344CB8AC3E}">
        <p14:creationId xmlns:p14="http://schemas.microsoft.com/office/powerpoint/2010/main" val="697893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776C9-5A2C-202C-DF33-9589C46174B9}"/>
              </a:ext>
            </a:extLst>
          </p:cNvPr>
          <p:cNvSpPr>
            <a:spLocks noGrp="1"/>
          </p:cNvSpPr>
          <p:nvPr>
            <p:ph type="title"/>
          </p:nvPr>
        </p:nvSpPr>
        <p:spPr/>
        <p:txBody>
          <a:bodyPr/>
          <a:lstStyle/>
          <a:p>
            <a:r>
              <a:rPr lang="en-US" dirty="0"/>
              <a:t>Strategies in India</a:t>
            </a:r>
          </a:p>
        </p:txBody>
      </p:sp>
      <p:sp>
        <p:nvSpPr>
          <p:cNvPr id="3" name="Content Placeholder 2">
            <a:extLst>
              <a:ext uri="{FF2B5EF4-FFF2-40B4-BE49-F238E27FC236}">
                <a16:creationId xmlns:a16="http://schemas.microsoft.com/office/drawing/2014/main" id="{7EE65D51-47B7-4121-0A5E-41C4787B393E}"/>
              </a:ext>
            </a:extLst>
          </p:cNvPr>
          <p:cNvSpPr>
            <a:spLocks noGrp="1"/>
          </p:cNvSpPr>
          <p:nvPr>
            <p:ph idx="1"/>
          </p:nvPr>
        </p:nvSpPr>
        <p:spPr/>
        <p:txBody>
          <a:bodyPr>
            <a:normAutofit fontScale="92500" lnSpcReduction="20000"/>
          </a:bodyPr>
          <a:lstStyle/>
          <a:p>
            <a:r>
              <a:rPr lang="en-US" dirty="0">
                <a:highlight>
                  <a:srgbClr val="FFFF00"/>
                </a:highlight>
              </a:rPr>
              <a:t>Conduct Pulse Polio Immunization </a:t>
            </a:r>
            <a:r>
              <a:rPr lang="en-US" dirty="0"/>
              <a:t>days every year until poliomyelitis is eradicated.</a:t>
            </a:r>
          </a:p>
          <a:p>
            <a:r>
              <a:rPr lang="en-US" dirty="0"/>
              <a:t>Sustain </a:t>
            </a:r>
            <a:r>
              <a:rPr lang="en-US" dirty="0">
                <a:highlight>
                  <a:srgbClr val="FFFF00"/>
                </a:highlight>
              </a:rPr>
              <a:t>high levels of routine immunization coverage</a:t>
            </a:r>
            <a:r>
              <a:rPr lang="en-US" dirty="0"/>
              <a:t>.</a:t>
            </a:r>
          </a:p>
          <a:p>
            <a:r>
              <a:rPr lang="en-US" dirty="0"/>
              <a:t>Monitor </a:t>
            </a:r>
            <a:r>
              <a:rPr lang="en-US" dirty="0">
                <a:highlight>
                  <a:srgbClr val="FFFF00"/>
                </a:highlight>
              </a:rPr>
              <a:t>OPV coverage at district level and below</a:t>
            </a:r>
            <a:r>
              <a:rPr lang="en-US" dirty="0"/>
              <a:t>.</a:t>
            </a:r>
          </a:p>
          <a:p>
            <a:r>
              <a:rPr lang="en-US" dirty="0"/>
              <a:t>Improve surveillance capable of </a:t>
            </a:r>
            <a:r>
              <a:rPr lang="en-US" dirty="0">
                <a:highlight>
                  <a:srgbClr val="FFFF00"/>
                </a:highlight>
              </a:rPr>
              <a:t>detecting all cases of AFP </a:t>
            </a:r>
            <a:r>
              <a:rPr lang="en-US" dirty="0"/>
              <a:t>due to polio and non-polio </a:t>
            </a:r>
            <a:r>
              <a:rPr lang="en-US" dirty="0" err="1"/>
              <a:t>aetiology</a:t>
            </a:r>
            <a:r>
              <a:rPr lang="en-US" dirty="0"/>
              <a:t>.</a:t>
            </a:r>
          </a:p>
          <a:p>
            <a:r>
              <a:rPr lang="en-US" dirty="0"/>
              <a:t>Ensure rapid case investigation, including the collection of stool samples for virus isolation.</a:t>
            </a:r>
          </a:p>
          <a:p>
            <a:r>
              <a:rPr lang="en-US" dirty="0"/>
              <a:t>Arrange </a:t>
            </a:r>
            <a:r>
              <a:rPr lang="en-US" dirty="0">
                <a:highlight>
                  <a:srgbClr val="FFFF00"/>
                </a:highlight>
              </a:rPr>
              <a:t>follow-up of all cases of AFP at 60 days </a:t>
            </a:r>
            <a:r>
              <a:rPr lang="en-US" dirty="0"/>
              <a:t>to check for residual paralysis.</a:t>
            </a:r>
          </a:p>
          <a:p>
            <a:r>
              <a:rPr lang="en-US" dirty="0"/>
              <a:t>Conduct </a:t>
            </a:r>
            <a:r>
              <a:rPr lang="en-US" dirty="0">
                <a:highlight>
                  <a:srgbClr val="FFFF00"/>
                </a:highlight>
              </a:rPr>
              <a:t>outbreak control for cases confirmed or suspected to be poliomyelitis to stop transmission.</a:t>
            </a:r>
          </a:p>
        </p:txBody>
      </p:sp>
    </p:spTree>
    <p:extLst>
      <p:ext uri="{BB962C8B-B14F-4D97-AF65-F5344CB8AC3E}">
        <p14:creationId xmlns:p14="http://schemas.microsoft.com/office/powerpoint/2010/main" val="31469052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146FE-C6B9-79FA-6CD6-35F2B667EEF9}"/>
              </a:ext>
            </a:extLst>
          </p:cNvPr>
          <p:cNvSpPr>
            <a:spLocks noGrp="1"/>
          </p:cNvSpPr>
          <p:nvPr>
            <p:ph type="title"/>
          </p:nvPr>
        </p:nvSpPr>
        <p:spPr/>
        <p:txBody>
          <a:bodyPr/>
          <a:lstStyle/>
          <a:p>
            <a:r>
              <a:rPr lang="en-US" dirty="0"/>
              <a:t>Line listing of cases</a:t>
            </a:r>
          </a:p>
        </p:txBody>
      </p:sp>
      <p:sp>
        <p:nvSpPr>
          <p:cNvPr id="3" name="Content Placeholder 2">
            <a:extLst>
              <a:ext uri="{FF2B5EF4-FFF2-40B4-BE49-F238E27FC236}">
                <a16:creationId xmlns:a16="http://schemas.microsoft.com/office/drawing/2014/main" id="{08061CA1-4C2B-18E3-9BFA-2B51EC6F9431}"/>
              </a:ext>
            </a:extLst>
          </p:cNvPr>
          <p:cNvSpPr>
            <a:spLocks noGrp="1"/>
          </p:cNvSpPr>
          <p:nvPr>
            <p:ph idx="1"/>
          </p:nvPr>
        </p:nvSpPr>
        <p:spPr/>
        <p:txBody>
          <a:bodyPr>
            <a:normAutofit fontScale="92500" lnSpcReduction="20000"/>
          </a:bodyPr>
          <a:lstStyle/>
          <a:p>
            <a:r>
              <a:rPr lang="en-US" dirty="0"/>
              <a:t>Started in the </a:t>
            </a:r>
            <a:r>
              <a:rPr lang="en-US" dirty="0">
                <a:highlight>
                  <a:srgbClr val="FFFF00"/>
                </a:highlight>
              </a:rPr>
              <a:t>year 1989 to check for duplication, year of onset of illness, identification of high risk pockets and documentation of high-risk age groups.</a:t>
            </a:r>
          </a:p>
          <a:p>
            <a:r>
              <a:rPr lang="en-US" dirty="0"/>
              <a:t>All cases of acute flaccid paralysis must be reported immediately to the chief medical officer/district immunization officer with the following details :</a:t>
            </a:r>
          </a:p>
          <a:p>
            <a:r>
              <a:rPr lang="en-US" dirty="0"/>
              <a:t>- Name, age and sex of the patient</a:t>
            </a:r>
          </a:p>
          <a:p>
            <a:r>
              <a:rPr lang="en-US" dirty="0"/>
              <a:t>- Father’s name and complete address</a:t>
            </a:r>
          </a:p>
          <a:p>
            <a:r>
              <a:rPr lang="en-US" dirty="0"/>
              <a:t>- Vaccination status</a:t>
            </a:r>
          </a:p>
          <a:p>
            <a:r>
              <a:rPr lang="en-US" dirty="0"/>
              <a:t>- Date of onset of paralysis and date of reporting</a:t>
            </a:r>
          </a:p>
          <a:p>
            <a:r>
              <a:rPr lang="en-US" dirty="0"/>
              <a:t>- Clinical diagnosis</a:t>
            </a:r>
          </a:p>
          <a:p>
            <a:r>
              <a:rPr lang="en-US" dirty="0"/>
              <a:t>- Doctor’s name, address and phone number</a:t>
            </a:r>
          </a:p>
        </p:txBody>
      </p:sp>
    </p:spTree>
    <p:extLst>
      <p:ext uri="{BB962C8B-B14F-4D97-AF65-F5344CB8AC3E}">
        <p14:creationId xmlns:p14="http://schemas.microsoft.com/office/powerpoint/2010/main" val="32221421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F6F15-626A-42C0-0E9C-ACBC4BF56DBB}"/>
              </a:ext>
            </a:extLst>
          </p:cNvPr>
          <p:cNvSpPr>
            <a:spLocks noGrp="1"/>
          </p:cNvSpPr>
          <p:nvPr>
            <p:ph type="title"/>
          </p:nvPr>
        </p:nvSpPr>
        <p:spPr/>
        <p:txBody>
          <a:bodyPr/>
          <a:lstStyle/>
          <a:p>
            <a:r>
              <a:rPr lang="en-US" dirty="0"/>
              <a:t>Mopping Up</a:t>
            </a:r>
          </a:p>
        </p:txBody>
      </p:sp>
      <p:sp>
        <p:nvSpPr>
          <p:cNvPr id="3" name="Content Placeholder 2">
            <a:extLst>
              <a:ext uri="{FF2B5EF4-FFF2-40B4-BE49-F238E27FC236}">
                <a16:creationId xmlns:a16="http://schemas.microsoft.com/office/drawing/2014/main" id="{CB8AFB20-DBA6-C7AE-A90A-C973F5D6E3FA}"/>
              </a:ext>
            </a:extLst>
          </p:cNvPr>
          <p:cNvSpPr>
            <a:spLocks noGrp="1"/>
          </p:cNvSpPr>
          <p:nvPr>
            <p:ph idx="1"/>
          </p:nvPr>
        </p:nvSpPr>
        <p:spPr/>
        <p:txBody>
          <a:bodyPr/>
          <a:lstStyle/>
          <a:p>
            <a:r>
              <a:rPr lang="en-US" dirty="0"/>
              <a:t>Last stage in polio eradication. </a:t>
            </a:r>
          </a:p>
          <a:p>
            <a:r>
              <a:rPr lang="en-US" dirty="0"/>
              <a:t>The strategy of “mopping up” involves </a:t>
            </a:r>
            <a:r>
              <a:rPr lang="en-US" dirty="0">
                <a:highlight>
                  <a:srgbClr val="FFFF00"/>
                </a:highlight>
              </a:rPr>
              <a:t>door to- door immunization in high-risk districts, where wild polio virus is known or suspected to be still circulating</a:t>
            </a:r>
            <a:r>
              <a:rPr lang="en-US" dirty="0"/>
              <a:t>. </a:t>
            </a:r>
          </a:p>
          <a:p>
            <a:r>
              <a:rPr lang="en-US" dirty="0"/>
              <a:t>This strategy is being implemented in India.</a:t>
            </a:r>
          </a:p>
        </p:txBody>
      </p:sp>
    </p:spTree>
    <p:extLst>
      <p:ext uri="{BB962C8B-B14F-4D97-AF65-F5344CB8AC3E}">
        <p14:creationId xmlns:p14="http://schemas.microsoft.com/office/powerpoint/2010/main" val="16492578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59952-7C88-A463-CB10-5A55637DD73D}"/>
              </a:ext>
            </a:extLst>
          </p:cNvPr>
          <p:cNvSpPr>
            <a:spLocks noGrp="1"/>
          </p:cNvSpPr>
          <p:nvPr>
            <p:ph type="title"/>
          </p:nvPr>
        </p:nvSpPr>
        <p:spPr/>
        <p:txBody>
          <a:bodyPr/>
          <a:lstStyle/>
          <a:p>
            <a:r>
              <a:rPr lang="en-US" dirty="0"/>
              <a:t>Pulse Polio Immunization</a:t>
            </a:r>
          </a:p>
        </p:txBody>
      </p:sp>
      <p:sp>
        <p:nvSpPr>
          <p:cNvPr id="3" name="Content Placeholder 2">
            <a:extLst>
              <a:ext uri="{FF2B5EF4-FFF2-40B4-BE49-F238E27FC236}">
                <a16:creationId xmlns:a16="http://schemas.microsoft.com/office/drawing/2014/main" id="{D0E04D9B-29E0-5DBA-BD83-D8113EEEF5DB}"/>
              </a:ext>
            </a:extLst>
          </p:cNvPr>
          <p:cNvSpPr>
            <a:spLocks noGrp="1"/>
          </p:cNvSpPr>
          <p:nvPr>
            <p:ph idx="1"/>
          </p:nvPr>
        </p:nvSpPr>
        <p:spPr/>
        <p:txBody>
          <a:bodyPr>
            <a:normAutofit fontScale="85000" lnSpcReduction="20000"/>
          </a:bodyPr>
          <a:lstStyle/>
          <a:p>
            <a:r>
              <a:rPr lang="en-US" dirty="0"/>
              <a:t>First round of PPI consisting of two immunization days </a:t>
            </a:r>
            <a:r>
              <a:rPr lang="en-US" dirty="0">
                <a:highlight>
                  <a:srgbClr val="FFFF00"/>
                </a:highlight>
              </a:rPr>
              <a:t>6 weeks apart on 9th December 1995 and 20th January 1996. </a:t>
            </a:r>
          </a:p>
          <a:p>
            <a:r>
              <a:rPr lang="en-US" dirty="0"/>
              <a:t>The first PPI conducted targeted all children under 3 years of age irrespective of their immunization status. Later on, as recommended by WHO, it was decided to increase the age group from under 3 to under 5 years.</a:t>
            </a:r>
          </a:p>
          <a:p>
            <a:r>
              <a:rPr lang="en-US" dirty="0"/>
              <a:t>PPIs occur as </a:t>
            </a:r>
            <a:r>
              <a:rPr lang="en-US" dirty="0">
                <a:highlight>
                  <a:srgbClr val="FFFF00"/>
                </a:highlight>
              </a:rPr>
              <a:t>two rounds about 4 to 6 weeks apart during low transmission season of polio, i.e. between November to February. </a:t>
            </a:r>
          </a:p>
          <a:p>
            <a:r>
              <a:rPr lang="en-US" dirty="0"/>
              <a:t>In India, the peak transmission is from June to September. </a:t>
            </a:r>
          </a:p>
          <a:p>
            <a:r>
              <a:rPr lang="en-US" dirty="0"/>
              <a:t>The dose of OPV during PPIs are extra doses which supplement, and do not replace the doses received during routine immunization services. </a:t>
            </a:r>
          </a:p>
          <a:p>
            <a:r>
              <a:rPr lang="en-US" dirty="0"/>
              <a:t>There is </a:t>
            </a:r>
            <a:r>
              <a:rPr lang="en-US" dirty="0">
                <a:highlight>
                  <a:srgbClr val="FFFF00"/>
                </a:highlight>
              </a:rPr>
              <a:t>no minimum interval between PPI and scheduled OPV doses.</a:t>
            </a:r>
          </a:p>
          <a:p>
            <a:r>
              <a:rPr lang="en-US" dirty="0"/>
              <a:t>Important improvement in PPI during 1998 has been the use of vaccine vial monitor.</a:t>
            </a:r>
          </a:p>
        </p:txBody>
      </p:sp>
    </p:spTree>
    <p:extLst>
      <p:ext uri="{BB962C8B-B14F-4D97-AF65-F5344CB8AC3E}">
        <p14:creationId xmlns:p14="http://schemas.microsoft.com/office/powerpoint/2010/main" val="341175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29657-2FE3-8A1B-EEE7-BFEA11060044}"/>
              </a:ext>
            </a:extLst>
          </p:cNvPr>
          <p:cNvSpPr>
            <a:spLocks noGrp="1"/>
          </p:cNvSpPr>
          <p:nvPr>
            <p:ph type="title"/>
          </p:nvPr>
        </p:nvSpPr>
        <p:spPr/>
        <p:txBody>
          <a:bodyPr/>
          <a:lstStyle/>
          <a:p>
            <a:r>
              <a:rPr lang="en-US" dirty="0"/>
              <a:t>Supplement immunization activity</a:t>
            </a:r>
          </a:p>
        </p:txBody>
      </p:sp>
      <p:sp>
        <p:nvSpPr>
          <p:cNvPr id="3" name="Content Placeholder 2">
            <a:extLst>
              <a:ext uri="{FF2B5EF4-FFF2-40B4-BE49-F238E27FC236}">
                <a16:creationId xmlns:a16="http://schemas.microsoft.com/office/drawing/2014/main" id="{F622E6CE-6F56-D4CA-3CFF-4F0046085EF8}"/>
              </a:ext>
            </a:extLst>
          </p:cNvPr>
          <p:cNvSpPr>
            <a:spLocks noGrp="1"/>
          </p:cNvSpPr>
          <p:nvPr>
            <p:ph idx="1"/>
          </p:nvPr>
        </p:nvSpPr>
        <p:spPr/>
        <p:txBody>
          <a:bodyPr>
            <a:normAutofit lnSpcReduction="10000"/>
          </a:bodyPr>
          <a:lstStyle/>
          <a:p>
            <a:r>
              <a:rPr lang="en-US" dirty="0"/>
              <a:t>Several strategies were utilized during 2005 and early 2006 to improve the impact of </a:t>
            </a:r>
            <a:r>
              <a:rPr lang="en-US" dirty="0" err="1"/>
              <a:t>SiAs</a:t>
            </a:r>
            <a:r>
              <a:rPr lang="en-US" dirty="0"/>
              <a:t> : </a:t>
            </a:r>
          </a:p>
          <a:p>
            <a:pPr lvl="1"/>
            <a:r>
              <a:rPr lang="en-US" dirty="0"/>
              <a:t>Development and licensure of </a:t>
            </a:r>
            <a:r>
              <a:rPr lang="en-US" dirty="0">
                <a:highlight>
                  <a:srgbClr val="FFFF00"/>
                </a:highlight>
              </a:rPr>
              <a:t>monovalent OPV1 (</a:t>
            </a:r>
            <a:r>
              <a:rPr lang="en-US" dirty="0" err="1">
                <a:highlight>
                  <a:srgbClr val="FFFF00"/>
                </a:highlight>
              </a:rPr>
              <a:t>mOPVl</a:t>
            </a:r>
            <a:r>
              <a:rPr lang="en-US" dirty="0">
                <a:highlight>
                  <a:srgbClr val="FFFF00"/>
                </a:highlight>
              </a:rPr>
              <a:t>) and mOPV3 for targeted use </a:t>
            </a:r>
            <a:r>
              <a:rPr lang="en-US" dirty="0"/>
              <a:t>during SIAs based on surveillance data</a:t>
            </a:r>
          </a:p>
          <a:p>
            <a:pPr lvl="1"/>
            <a:r>
              <a:rPr lang="en-US" dirty="0"/>
              <a:t>Deployment of </a:t>
            </a:r>
            <a:r>
              <a:rPr lang="en-US" dirty="0">
                <a:highlight>
                  <a:srgbClr val="FFFF00"/>
                </a:highlight>
              </a:rPr>
              <a:t>additional personnel </a:t>
            </a:r>
            <a:r>
              <a:rPr lang="en-US" dirty="0"/>
              <a:t>to assist with intensified SIAs in the States of Bihar and UP and in Mumbai City</a:t>
            </a:r>
          </a:p>
          <a:p>
            <a:pPr lvl="1"/>
            <a:r>
              <a:rPr lang="en-US" dirty="0">
                <a:highlight>
                  <a:srgbClr val="FFFF00"/>
                </a:highlight>
              </a:rPr>
              <a:t>Social mobilization </a:t>
            </a:r>
            <a:r>
              <a:rPr lang="en-US" dirty="0"/>
              <a:t>targeted at reaching population groups missed during previous SIAs</a:t>
            </a:r>
          </a:p>
          <a:p>
            <a:pPr lvl="1"/>
            <a:r>
              <a:rPr lang="en-US" dirty="0"/>
              <a:t>Use of </a:t>
            </a:r>
            <a:r>
              <a:rPr lang="en-US" dirty="0">
                <a:highlight>
                  <a:srgbClr val="FFFF00"/>
                </a:highlight>
              </a:rPr>
              <a:t>mobile teams to vaccinate children </a:t>
            </a:r>
            <a:r>
              <a:rPr lang="en-US" dirty="0"/>
              <a:t>at transit points (e.g. railway and bus stations) and on moving trains</a:t>
            </a:r>
          </a:p>
          <a:p>
            <a:pPr lvl="1"/>
            <a:r>
              <a:rPr lang="en-US" dirty="0"/>
              <a:t>Increased </a:t>
            </a:r>
            <a:r>
              <a:rPr lang="en-US" dirty="0">
                <a:highlight>
                  <a:srgbClr val="FFFF00"/>
                </a:highlight>
              </a:rPr>
              <a:t>engagement and accountability of political leaders</a:t>
            </a:r>
            <a:r>
              <a:rPr lang="en-US" dirty="0"/>
              <a:t> and of health staff at all levels. </a:t>
            </a:r>
          </a:p>
        </p:txBody>
      </p:sp>
    </p:spTree>
    <p:extLst>
      <p:ext uri="{BB962C8B-B14F-4D97-AF65-F5344CB8AC3E}">
        <p14:creationId xmlns:p14="http://schemas.microsoft.com/office/powerpoint/2010/main" val="39300601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12299-C347-78A0-022E-75BD173780F9}"/>
              </a:ext>
            </a:extLst>
          </p:cNvPr>
          <p:cNvSpPr>
            <a:spLocks noGrp="1"/>
          </p:cNvSpPr>
          <p:nvPr>
            <p:ph type="title"/>
          </p:nvPr>
        </p:nvSpPr>
        <p:spPr/>
        <p:txBody>
          <a:bodyPr/>
          <a:lstStyle/>
          <a:p>
            <a:r>
              <a:rPr lang="en-US" dirty="0"/>
              <a:t>Steps by Govt. – Polio eradication (INDIA)</a:t>
            </a:r>
          </a:p>
        </p:txBody>
      </p:sp>
      <p:sp>
        <p:nvSpPr>
          <p:cNvPr id="3" name="Content Placeholder 2">
            <a:extLst>
              <a:ext uri="{FF2B5EF4-FFF2-40B4-BE49-F238E27FC236}">
                <a16:creationId xmlns:a16="http://schemas.microsoft.com/office/drawing/2014/main" id="{CD52BAC0-9685-041F-64CF-FBAA6284CFB2}"/>
              </a:ext>
            </a:extLst>
          </p:cNvPr>
          <p:cNvSpPr>
            <a:spLocks noGrp="1"/>
          </p:cNvSpPr>
          <p:nvPr>
            <p:ph idx="1"/>
          </p:nvPr>
        </p:nvSpPr>
        <p:spPr/>
        <p:txBody>
          <a:bodyPr>
            <a:normAutofit fontScale="85000" lnSpcReduction="20000"/>
          </a:bodyPr>
          <a:lstStyle/>
          <a:p>
            <a:r>
              <a:rPr lang="en-US" dirty="0"/>
              <a:t>All states and union territories in the country have developed a </a:t>
            </a:r>
            <a:r>
              <a:rPr lang="en-US" dirty="0">
                <a:highlight>
                  <a:srgbClr val="FFFF00"/>
                </a:highlight>
              </a:rPr>
              <a:t>Rapid Response Team (RRT) </a:t>
            </a:r>
            <a:r>
              <a:rPr lang="en-US" dirty="0"/>
              <a:t>to respond to any polio outbreak in the country. </a:t>
            </a:r>
          </a:p>
          <a:p>
            <a:pPr lvl="1"/>
            <a:r>
              <a:rPr lang="en-US" dirty="0"/>
              <a:t>An </a:t>
            </a:r>
            <a:r>
              <a:rPr lang="en-US" dirty="0">
                <a:highlight>
                  <a:srgbClr val="FFFF00"/>
                </a:highlight>
              </a:rPr>
              <a:t>Emergency Preparedness and Response Plan (EPRP) </a:t>
            </a:r>
            <a:r>
              <a:rPr lang="en-US" dirty="0"/>
              <a:t>has also been developed by all states indicating steps to be undertaken in case of detection of a polio case. </a:t>
            </a:r>
          </a:p>
          <a:p>
            <a:r>
              <a:rPr lang="en-US" dirty="0"/>
              <a:t>In the states of UP and Bihar</a:t>
            </a:r>
            <a:r>
              <a:rPr lang="en-US" dirty="0">
                <a:highlight>
                  <a:srgbClr val="FFFF00"/>
                </a:highlight>
              </a:rPr>
              <a:t> every new born child is being identified </a:t>
            </a:r>
            <a:r>
              <a:rPr lang="en-US" dirty="0"/>
              <a:t>and vaccinated during the polio immunization campaigns and is </a:t>
            </a:r>
            <a:r>
              <a:rPr lang="en-US" dirty="0">
                <a:highlight>
                  <a:srgbClr val="FFFF00"/>
                </a:highlight>
              </a:rPr>
              <a:t>being tracked for 8 subsequent rounds. </a:t>
            </a:r>
          </a:p>
          <a:p>
            <a:r>
              <a:rPr lang="en-US" dirty="0"/>
              <a:t>In order to reach every eligible child during the pulse polio round, apart from the strategy of vaccinating children at fixed booths and house to house visit, efforts in vaccinating children in transit at railway stations, inside long distance trains, major bus stops, marker places, religious congregations, major road crossings etc. throughout the country have been intensified, </a:t>
            </a:r>
          </a:p>
          <a:p>
            <a:pPr lvl="1"/>
            <a:r>
              <a:rPr lang="en-US" dirty="0">
                <a:highlight>
                  <a:srgbClr val="FFFF00"/>
                </a:highlight>
              </a:rPr>
              <a:t>Special booths are established in areas bordering neighboring countries l</a:t>
            </a:r>
            <a:r>
              <a:rPr lang="en-US" dirty="0"/>
              <a:t>ike Wagah border and </a:t>
            </a:r>
            <a:r>
              <a:rPr lang="en-US" dirty="0" err="1"/>
              <a:t>Attari</a:t>
            </a:r>
            <a:r>
              <a:rPr lang="en-US" dirty="0"/>
              <a:t> train station in Punjab and </a:t>
            </a:r>
            <a:r>
              <a:rPr lang="en-US" dirty="0" err="1"/>
              <a:t>Munabo</a:t>
            </a:r>
            <a:r>
              <a:rPr lang="en-US" dirty="0"/>
              <a:t> train station in </a:t>
            </a:r>
            <a:r>
              <a:rPr lang="en-US" dirty="0" err="1"/>
              <a:t>Barmer</a:t>
            </a:r>
            <a:r>
              <a:rPr lang="en-US" dirty="0"/>
              <a:t> district of Rajasthan, to ensure that all children under 5 years of age coming from across the border are given polio drops.</a:t>
            </a:r>
          </a:p>
        </p:txBody>
      </p:sp>
    </p:spTree>
    <p:extLst>
      <p:ext uri="{BB962C8B-B14F-4D97-AF65-F5344CB8AC3E}">
        <p14:creationId xmlns:p14="http://schemas.microsoft.com/office/powerpoint/2010/main" val="23369660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FDFE36-50DB-7356-C1C9-533886ADD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19A9D2-0932-435F-7160-4137955A1183}"/>
              </a:ext>
            </a:extLst>
          </p:cNvPr>
          <p:cNvSpPr>
            <a:spLocks noGrp="1"/>
          </p:cNvSpPr>
          <p:nvPr>
            <p:ph type="title"/>
          </p:nvPr>
        </p:nvSpPr>
        <p:spPr/>
        <p:txBody>
          <a:bodyPr/>
          <a:lstStyle/>
          <a:p>
            <a:r>
              <a:rPr lang="en-US" dirty="0"/>
              <a:t>Steps by Govt. – Polio eradication (INDIA)</a:t>
            </a:r>
          </a:p>
        </p:txBody>
      </p:sp>
      <p:sp>
        <p:nvSpPr>
          <p:cNvPr id="3" name="Content Placeholder 2">
            <a:extLst>
              <a:ext uri="{FF2B5EF4-FFF2-40B4-BE49-F238E27FC236}">
                <a16:creationId xmlns:a16="http://schemas.microsoft.com/office/drawing/2014/main" id="{3CC5B137-6896-EF4F-AA79-BA71C901A6F9}"/>
              </a:ext>
            </a:extLst>
          </p:cNvPr>
          <p:cNvSpPr>
            <a:spLocks noGrp="1"/>
          </p:cNvSpPr>
          <p:nvPr>
            <p:ph idx="1"/>
          </p:nvPr>
        </p:nvSpPr>
        <p:spPr>
          <a:xfrm>
            <a:off x="838200" y="1825625"/>
            <a:ext cx="10515600" cy="4667250"/>
          </a:xfrm>
        </p:spPr>
        <p:txBody>
          <a:bodyPr>
            <a:normAutofit fontScale="77500" lnSpcReduction="20000"/>
          </a:bodyPr>
          <a:lstStyle/>
          <a:p>
            <a:r>
              <a:rPr lang="en-US" dirty="0"/>
              <a:t>An extremely </a:t>
            </a:r>
            <a:r>
              <a:rPr lang="en-US" dirty="0">
                <a:highlight>
                  <a:srgbClr val="FFFF00"/>
                </a:highlight>
              </a:rPr>
              <a:t>high level of vigilance through surveillance </a:t>
            </a:r>
            <a:r>
              <a:rPr lang="en-US" dirty="0"/>
              <a:t>across the country for any importation or circulation of poliovirus and VDPV is being maintained. </a:t>
            </a:r>
          </a:p>
          <a:p>
            <a:r>
              <a:rPr lang="en-US" dirty="0"/>
              <a:t>Environmental surveillance is continuing at four sites with establishment of two new sites in 2012. </a:t>
            </a:r>
          </a:p>
          <a:p>
            <a:r>
              <a:rPr lang="en-US" dirty="0"/>
              <a:t>Government of India </a:t>
            </a:r>
            <a:r>
              <a:rPr lang="en-US" dirty="0">
                <a:highlight>
                  <a:srgbClr val="FFFF00"/>
                </a:highlight>
              </a:rPr>
              <a:t>has identified 107 high risk blocks for polio</a:t>
            </a:r>
            <a:r>
              <a:rPr lang="en-US" dirty="0"/>
              <a:t> where a multi-pronged strategy is being implemented to ensure sanitation, hygiene and clean drinking water in addition to vaccinating each and every child oral polio vaccine (OPV). </a:t>
            </a:r>
          </a:p>
          <a:p>
            <a:r>
              <a:rPr lang="en-US" dirty="0"/>
              <a:t>Migratory population from UP and Bihar are being identified in the states of Punjab, Haryana, Gujarat and West Bengal and these migratory children are being covered during the Sub National Immunization Day (SNID) in UP and Bihar. </a:t>
            </a:r>
          </a:p>
          <a:p>
            <a:r>
              <a:rPr lang="en-US" dirty="0">
                <a:highlight>
                  <a:srgbClr val="FFFF00"/>
                </a:highlight>
              </a:rPr>
              <a:t>Social mobilization activities are being intensified by involving the local influencers, community and religious leaders</a:t>
            </a:r>
            <a:r>
              <a:rPr lang="en-US" dirty="0"/>
              <a:t> to improve community participation and acceptance of polio vaccine. </a:t>
            </a:r>
          </a:p>
          <a:p>
            <a:r>
              <a:rPr lang="en-US" dirty="0"/>
              <a:t>A rolling emergency stock of oral polio vaccine (OPV) is being maintained to respond to any wild polio vaccine (WPV) or circulating vaccine derived polio virus (</a:t>
            </a:r>
            <a:r>
              <a:rPr lang="en-US" dirty="0" err="1"/>
              <a:t>cVDPV</a:t>
            </a:r>
            <a:r>
              <a:rPr lang="en-US" dirty="0"/>
              <a:t>) detection.</a:t>
            </a:r>
          </a:p>
        </p:txBody>
      </p:sp>
    </p:spTree>
    <p:extLst>
      <p:ext uri="{BB962C8B-B14F-4D97-AF65-F5344CB8AC3E}">
        <p14:creationId xmlns:p14="http://schemas.microsoft.com/office/powerpoint/2010/main" val="1885412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DB04E-B161-FBD1-A97A-5B6D88D119D0}"/>
              </a:ext>
            </a:extLst>
          </p:cNvPr>
          <p:cNvSpPr>
            <a:spLocks noGrp="1"/>
          </p:cNvSpPr>
          <p:nvPr>
            <p:ph type="title"/>
          </p:nvPr>
        </p:nvSpPr>
        <p:spPr/>
        <p:txBody>
          <a:bodyPr/>
          <a:lstStyle/>
          <a:p>
            <a:r>
              <a:rPr lang="en-US" dirty="0"/>
              <a:t>AFP Surveillance</a:t>
            </a:r>
          </a:p>
        </p:txBody>
      </p:sp>
      <p:sp>
        <p:nvSpPr>
          <p:cNvPr id="3" name="Content Placeholder 2">
            <a:extLst>
              <a:ext uri="{FF2B5EF4-FFF2-40B4-BE49-F238E27FC236}">
                <a16:creationId xmlns:a16="http://schemas.microsoft.com/office/drawing/2014/main" id="{DA8D39E6-B942-7821-9CE3-10188CF154B1}"/>
              </a:ext>
            </a:extLst>
          </p:cNvPr>
          <p:cNvSpPr>
            <a:spLocks noGrp="1"/>
          </p:cNvSpPr>
          <p:nvPr>
            <p:ph idx="1"/>
          </p:nvPr>
        </p:nvSpPr>
        <p:spPr/>
        <p:txBody>
          <a:bodyPr>
            <a:normAutofit fontScale="92500" lnSpcReduction="10000"/>
          </a:bodyPr>
          <a:lstStyle/>
          <a:p>
            <a:r>
              <a:rPr lang="en-US" dirty="0"/>
              <a:t>PPI is supported by AFP surveillance system since 1997. </a:t>
            </a:r>
          </a:p>
          <a:p>
            <a:r>
              <a:rPr lang="en-US" dirty="0"/>
              <a:t>It is being conducted through a network of </a:t>
            </a:r>
            <a:r>
              <a:rPr lang="en-US" dirty="0">
                <a:highlight>
                  <a:srgbClr val="FFFF00"/>
                </a:highlight>
              </a:rPr>
              <a:t>surveillance medical officers (SMOs)</a:t>
            </a:r>
            <a:r>
              <a:rPr lang="en-US" dirty="0"/>
              <a:t>, who are specially trained and are responsible for a defined area. </a:t>
            </a:r>
          </a:p>
          <a:p>
            <a:r>
              <a:rPr lang="en-US" dirty="0"/>
              <a:t>A national surveillance team is positioned in Delhi. </a:t>
            </a:r>
          </a:p>
          <a:p>
            <a:r>
              <a:rPr lang="en-US" dirty="0"/>
              <a:t>The SMOs are located at the state headquarters and at regional places in case of larger states.</a:t>
            </a:r>
          </a:p>
          <a:p>
            <a:r>
              <a:rPr lang="en-US" dirty="0"/>
              <a:t> A regular weekly reporting system has been established. </a:t>
            </a:r>
          </a:p>
          <a:p>
            <a:r>
              <a:rPr lang="en-US" dirty="0"/>
              <a:t>As a result of more meticulous search/ reporting, the number of reported cases of AFP increased from 1,005 in 1996 to 11,675 and the completeness of stool specimen collection improved markedly from 59 percent in 1998 to 82 per cent at the end of September 2020.</a:t>
            </a:r>
          </a:p>
        </p:txBody>
      </p:sp>
    </p:spTree>
    <p:extLst>
      <p:ext uri="{BB962C8B-B14F-4D97-AF65-F5344CB8AC3E}">
        <p14:creationId xmlns:p14="http://schemas.microsoft.com/office/powerpoint/2010/main" val="3042501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FF618D-7DD2-50B1-FDB6-32D7610E9FB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0A9424-E7B7-C191-12B3-88562A5B3983}"/>
              </a:ext>
            </a:extLst>
          </p:cNvPr>
          <p:cNvSpPr>
            <a:spLocks noGrp="1"/>
          </p:cNvSpPr>
          <p:nvPr>
            <p:ph idx="1"/>
          </p:nvPr>
        </p:nvSpPr>
        <p:spPr/>
        <p:txBody>
          <a:bodyPr/>
          <a:lstStyle/>
          <a:p>
            <a:r>
              <a:rPr lang="en-US" dirty="0"/>
              <a:t>The last case of polio in the country </a:t>
            </a:r>
            <a:r>
              <a:rPr lang="en-US" dirty="0">
                <a:highlight>
                  <a:srgbClr val="FFFF00"/>
                </a:highlight>
              </a:rPr>
              <a:t>was reported from Howrah of West Bengal with date of onset of disease on 13th January 2011. </a:t>
            </a:r>
          </a:p>
          <a:p>
            <a:r>
              <a:rPr lang="en-US" dirty="0"/>
              <a:t>Thereafter no polio case has been reported in the country. </a:t>
            </a:r>
          </a:p>
          <a:p>
            <a:r>
              <a:rPr lang="en-US" dirty="0"/>
              <a:t>On </a:t>
            </a:r>
            <a:r>
              <a:rPr lang="en-US" dirty="0">
                <a:highlight>
                  <a:srgbClr val="FFFF00"/>
                </a:highlight>
              </a:rPr>
              <a:t>27th March 2014. India was declared as non-endemic country for polio.</a:t>
            </a:r>
          </a:p>
        </p:txBody>
      </p:sp>
    </p:spTree>
    <p:extLst>
      <p:ext uri="{BB962C8B-B14F-4D97-AF65-F5344CB8AC3E}">
        <p14:creationId xmlns:p14="http://schemas.microsoft.com/office/powerpoint/2010/main" val="1835824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5AD4A59-91FA-4E30-8F32-A8AB51F768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3848" cap="flat">
            <a:noFill/>
            <a:prstDash val="solid"/>
            <a:miter/>
          </a:ln>
          <a:effectLst/>
        </p:spPr>
        <p:txBody>
          <a:bodyPr rtlCol="0" anchor="ctr"/>
          <a:lstStyle/>
          <a:p>
            <a:endParaRPr lang="en-US" dirty="0">
              <a:solidFill>
                <a:schemeClr val="tx1"/>
              </a:solidFill>
            </a:endParaRPr>
          </a:p>
        </p:txBody>
      </p:sp>
      <p:sp>
        <p:nvSpPr>
          <p:cNvPr id="12" name="Rectangle 11">
            <a:extLst>
              <a:ext uri="{FF2B5EF4-FFF2-40B4-BE49-F238E27FC236}">
                <a16:creationId xmlns:a16="http://schemas.microsoft.com/office/drawing/2014/main" id="{CBF27B2E-4DE7-47FD-8277-1C6703DB20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alpha val="10000"/>
            </a:srgbClr>
          </a:solidFill>
          <a:ln w="3848" cap="flat">
            <a:noFill/>
            <a:prstDash val="solid"/>
            <a:miter/>
          </a:ln>
          <a:effectLst/>
        </p:spPr>
        <p:txBody>
          <a:bodyPr rtlCol="0" anchor="ctr"/>
          <a:lstStyle/>
          <a:p>
            <a:endParaRPr lang="en-US" dirty="0">
              <a:solidFill>
                <a:schemeClr val="tx1"/>
              </a:solidFill>
            </a:endParaRPr>
          </a:p>
        </p:txBody>
      </p:sp>
      <p:grpSp>
        <p:nvGrpSpPr>
          <p:cNvPr id="14" name="Group 13">
            <a:extLst>
              <a:ext uri="{FF2B5EF4-FFF2-40B4-BE49-F238E27FC236}">
                <a16:creationId xmlns:a16="http://schemas.microsoft.com/office/drawing/2014/main" id="{30E84C15-9243-4CCA-86B8-7A13EE2808A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5308" y="128465"/>
            <a:ext cx="1888871" cy="1471725"/>
            <a:chOff x="195308" y="128465"/>
            <a:chExt cx="1888871" cy="1471725"/>
          </a:xfrm>
        </p:grpSpPr>
        <p:sp useBgFill="1">
          <p:nvSpPr>
            <p:cNvPr id="15" name="Graphic 10">
              <a:extLst>
                <a:ext uri="{FF2B5EF4-FFF2-40B4-BE49-F238E27FC236}">
                  <a16:creationId xmlns:a16="http://schemas.microsoft.com/office/drawing/2014/main" id="{E014A4E0-2539-4DA0-A0B5-7158984742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54841" y="128465"/>
              <a:ext cx="966722" cy="966722"/>
            </a:xfrm>
            <a:custGeom>
              <a:avLst/>
              <a:gdLst>
                <a:gd name="connsiteX0" fmla="*/ 4053340 w 6859500"/>
                <a:gd name="connsiteY0" fmla="*/ 6235893 h 6859500"/>
                <a:gd name="connsiteX1" fmla="*/ 4053340 w 6859500"/>
                <a:gd name="connsiteY1" fmla="*/ 4053340 h 6859500"/>
                <a:gd name="connsiteX2" fmla="*/ 6235893 w 6859500"/>
                <a:gd name="connsiteY2" fmla="*/ 4053340 h 6859500"/>
                <a:gd name="connsiteX3" fmla="*/ 6859501 w 6859500"/>
                <a:gd name="connsiteY3" fmla="*/ 3429731 h 6859500"/>
                <a:gd name="connsiteX4" fmla="*/ 6235893 w 6859500"/>
                <a:gd name="connsiteY4" fmla="*/ 2806123 h 6859500"/>
                <a:gd name="connsiteX5" fmla="*/ 4053340 w 6859500"/>
                <a:gd name="connsiteY5" fmla="*/ 2806123 h 6859500"/>
                <a:gd name="connsiteX6" fmla="*/ 4053340 w 6859500"/>
                <a:gd name="connsiteY6" fmla="*/ 623608 h 6859500"/>
                <a:gd name="connsiteX7" fmla="*/ 3429731 w 6859500"/>
                <a:gd name="connsiteY7" fmla="*/ 0 h 6859500"/>
                <a:gd name="connsiteX8" fmla="*/ 2806123 w 6859500"/>
                <a:gd name="connsiteY8" fmla="*/ 623608 h 6859500"/>
                <a:gd name="connsiteX9" fmla="*/ 2806123 w 6859500"/>
                <a:gd name="connsiteY9" fmla="*/ 2806161 h 6859500"/>
                <a:gd name="connsiteX10" fmla="*/ 623608 w 6859500"/>
                <a:gd name="connsiteY10" fmla="*/ 2806161 h 6859500"/>
                <a:gd name="connsiteX11" fmla="*/ 0 w 6859500"/>
                <a:gd name="connsiteY11" fmla="*/ 3429731 h 6859500"/>
                <a:gd name="connsiteX12" fmla="*/ 623608 w 6859500"/>
                <a:gd name="connsiteY12" fmla="*/ 4053340 h 6859500"/>
                <a:gd name="connsiteX13" fmla="*/ 2806161 w 6859500"/>
                <a:gd name="connsiteY13" fmla="*/ 4053340 h 6859500"/>
                <a:gd name="connsiteX14" fmla="*/ 2806161 w 6859500"/>
                <a:gd name="connsiteY14" fmla="*/ 6235893 h 6859500"/>
                <a:gd name="connsiteX15" fmla="*/ 3429770 w 6859500"/>
                <a:gd name="connsiteY15" fmla="*/ 6859501 h 6859500"/>
                <a:gd name="connsiteX16" fmla="*/ 4053340 w 6859500"/>
                <a:gd name="connsiteY16" fmla="*/ 6235893 h 6859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859500" h="6859500">
                  <a:moveTo>
                    <a:pt x="4053340" y="6235893"/>
                  </a:moveTo>
                  <a:lnTo>
                    <a:pt x="4053340" y="4053340"/>
                  </a:lnTo>
                  <a:lnTo>
                    <a:pt x="6235893" y="4053340"/>
                  </a:lnTo>
                  <a:cubicBezTo>
                    <a:pt x="6580293" y="4053340"/>
                    <a:pt x="6859501" y="3774132"/>
                    <a:pt x="6859501" y="3429731"/>
                  </a:cubicBezTo>
                  <a:cubicBezTo>
                    <a:pt x="6859501" y="3085330"/>
                    <a:pt x="6580332" y="2806123"/>
                    <a:pt x="6235893" y="2806123"/>
                  </a:cubicBezTo>
                  <a:lnTo>
                    <a:pt x="4053340" y="2806123"/>
                  </a:lnTo>
                  <a:lnTo>
                    <a:pt x="4053340" y="623608"/>
                  </a:lnTo>
                  <a:cubicBezTo>
                    <a:pt x="4053340" y="279208"/>
                    <a:pt x="3774171" y="0"/>
                    <a:pt x="3429731" y="0"/>
                  </a:cubicBezTo>
                  <a:cubicBezTo>
                    <a:pt x="3085330" y="0"/>
                    <a:pt x="2806123" y="279208"/>
                    <a:pt x="2806123" y="623608"/>
                  </a:cubicBezTo>
                  <a:lnTo>
                    <a:pt x="2806123" y="2806161"/>
                  </a:lnTo>
                  <a:lnTo>
                    <a:pt x="623608" y="2806161"/>
                  </a:lnTo>
                  <a:cubicBezTo>
                    <a:pt x="279208" y="2806161"/>
                    <a:pt x="0" y="3085369"/>
                    <a:pt x="0" y="3429731"/>
                  </a:cubicBezTo>
                  <a:cubicBezTo>
                    <a:pt x="0" y="3774132"/>
                    <a:pt x="279208" y="4053340"/>
                    <a:pt x="623608" y="4053340"/>
                  </a:cubicBezTo>
                  <a:lnTo>
                    <a:pt x="2806161" y="4053340"/>
                  </a:lnTo>
                  <a:lnTo>
                    <a:pt x="2806161" y="6235893"/>
                  </a:lnTo>
                  <a:cubicBezTo>
                    <a:pt x="2806161" y="6580293"/>
                    <a:pt x="3085369" y="6859501"/>
                    <a:pt x="3429770" y="6859501"/>
                  </a:cubicBezTo>
                  <a:cubicBezTo>
                    <a:pt x="3774171" y="6859501"/>
                    <a:pt x="4053340" y="6580293"/>
                    <a:pt x="4053340" y="6235893"/>
                  </a:cubicBezTo>
                  <a:close/>
                </a:path>
              </a:pathLst>
            </a:cu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sp useBgFill="1">
          <p:nvSpPr>
            <p:cNvPr id="16" name="Oval 15">
              <a:extLst>
                <a:ext uri="{FF2B5EF4-FFF2-40B4-BE49-F238E27FC236}">
                  <a16:creationId xmlns:a16="http://schemas.microsoft.com/office/drawing/2014/main" id="{6A55503D-2920-4B77-A454-8FEA3378BA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5308" y="1338299"/>
              <a:ext cx="261891" cy="261891"/>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dirty="0"/>
            </a:p>
          </p:txBody>
        </p:sp>
        <p:sp useBgFill="1">
          <p:nvSpPr>
            <p:cNvPr id="17" name="Oval 16">
              <a:extLst>
                <a:ext uri="{FF2B5EF4-FFF2-40B4-BE49-F238E27FC236}">
                  <a16:creationId xmlns:a16="http://schemas.microsoft.com/office/drawing/2014/main" id="{E5300822-6CE9-4457-8099-6BF7922A99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695456" y="625555"/>
              <a:ext cx="388723" cy="388723"/>
            </a:xfrm>
            <a:prstGeom prst="ellipse">
              <a:avLst/>
            </a:prstGeom>
            <a:ln w="3848" cap="flat">
              <a:noFill/>
              <a:prstDash val="solid"/>
              <a:miter/>
            </a:ln>
            <a:effectLst>
              <a:glow rad="152400">
                <a:srgbClr val="000000">
                  <a:alpha val="4000"/>
                </a:srgbClr>
              </a:glow>
              <a:outerShdw blurRad="101600" dist="38100" dir="16200000" rotWithShape="0">
                <a:srgbClr val="000000">
                  <a:alpha val="5000"/>
                </a:srgbClr>
              </a:outerShdw>
            </a:effectLst>
          </p:spPr>
          <p:txBody>
            <a:bodyPr rtlCol="0" anchor="ctr"/>
            <a:lstStyle/>
            <a:p>
              <a:endParaRPr lang="en-US"/>
            </a:p>
          </p:txBody>
        </p:sp>
      </p:grpSp>
      <p:sp>
        <p:nvSpPr>
          <p:cNvPr id="3" name="Content Placeholder 2">
            <a:extLst>
              <a:ext uri="{FF2B5EF4-FFF2-40B4-BE49-F238E27FC236}">
                <a16:creationId xmlns:a16="http://schemas.microsoft.com/office/drawing/2014/main" id="{FB0CEC5E-69D0-71EE-3989-5A8D2429AAFD}"/>
              </a:ext>
            </a:extLst>
          </p:cNvPr>
          <p:cNvSpPr>
            <a:spLocks noGrp="1"/>
          </p:cNvSpPr>
          <p:nvPr>
            <p:ph idx="1"/>
          </p:nvPr>
        </p:nvSpPr>
        <p:spPr>
          <a:xfrm>
            <a:off x="1189516" y="2030620"/>
            <a:ext cx="4419594" cy="2796760"/>
          </a:xfrm>
        </p:spPr>
        <p:txBody>
          <a:bodyPr anchor="t">
            <a:normAutofit/>
          </a:bodyPr>
          <a:lstStyle/>
          <a:p>
            <a:pPr marL="0" indent="0">
              <a:buNone/>
            </a:pPr>
            <a:r>
              <a:rPr lang="en-US" sz="6000" dirty="0"/>
              <a:t>Thank You</a:t>
            </a:r>
          </a:p>
        </p:txBody>
      </p:sp>
      <p:pic>
        <p:nvPicPr>
          <p:cNvPr id="7" name="Graphic 6" descr="Smiling Face with No Fill">
            <a:extLst>
              <a:ext uri="{FF2B5EF4-FFF2-40B4-BE49-F238E27FC236}">
                <a16:creationId xmlns:a16="http://schemas.microsoft.com/office/drawing/2014/main" id="{5FDA3253-1891-304D-75AA-3BADAAF55B7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609110" y="575423"/>
            <a:ext cx="5749177" cy="5749177"/>
          </a:xfrm>
          <a:prstGeom prst="rect">
            <a:avLst/>
          </a:prstGeom>
        </p:spPr>
      </p:pic>
    </p:spTree>
    <p:extLst>
      <p:ext uri="{BB962C8B-B14F-4D97-AF65-F5344CB8AC3E}">
        <p14:creationId xmlns:p14="http://schemas.microsoft.com/office/powerpoint/2010/main" val="3692639793"/>
      </p:ext>
    </p:extLst>
  </p:cSld>
  <p:clrMapOvr>
    <a:masterClrMapping/>
  </p:clrMapOvr>
</p:sld>
</file>

<file path=ppt/theme/theme1.xml><?xml version="1.0" encoding="utf-8"?>
<a:theme xmlns:a="http://schemas.openxmlformats.org/drawingml/2006/main" name="MinimalXOVTI">
  <a:themeElements>
    <a:clrScheme name="AnalogousFromLightSeed_2SEEDS">
      <a:dk1>
        <a:srgbClr val="000000"/>
      </a:dk1>
      <a:lt1>
        <a:srgbClr val="FFFFFF"/>
      </a:lt1>
      <a:dk2>
        <a:srgbClr val="412624"/>
      </a:dk2>
      <a:lt2>
        <a:srgbClr val="E8E2E2"/>
      </a:lt2>
      <a:accent1>
        <a:srgbClr val="75A8AB"/>
      </a:accent1>
      <a:accent2>
        <a:srgbClr val="81AA9B"/>
      </a:accent2>
      <a:accent3>
        <a:srgbClr val="87A4BE"/>
      </a:accent3>
      <a:accent4>
        <a:srgbClr val="BA7F94"/>
      </a:accent4>
      <a:accent5>
        <a:srgbClr val="C59793"/>
      </a:accent5>
      <a:accent6>
        <a:srgbClr val="BA9B7F"/>
      </a:accent6>
      <a:hlink>
        <a:srgbClr val="AE6D69"/>
      </a:hlink>
      <a:folHlink>
        <a:srgbClr val="7F7F7F"/>
      </a:folHlink>
    </a:clrScheme>
    <a:fontScheme name="Custom 1">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inimalXOVTI" id="{DC540DBD-7FF5-4942-921A-CFF95ECB90AA}" vid="{E72E4198-D957-48FD-B88D-6DAFC89EAF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906</TotalTime>
  <Words>3885</Words>
  <Application>Microsoft Office PowerPoint</Application>
  <PresentationFormat>Widescreen</PresentationFormat>
  <Paragraphs>236</Paragraphs>
  <Slides>35</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Aptos</vt:lpstr>
      <vt:lpstr>Arial</vt:lpstr>
      <vt:lpstr>Courier New</vt:lpstr>
      <vt:lpstr>Segoe UI</vt:lpstr>
      <vt:lpstr>Times New Roman</vt:lpstr>
      <vt:lpstr>MinimalXOVTI</vt:lpstr>
      <vt:lpstr>Poliomyelitis</vt:lpstr>
      <vt:lpstr>OPV (Sabin)</vt:lpstr>
      <vt:lpstr>OPV - NIS</vt:lpstr>
      <vt:lpstr>OPV - Dose and mode of administration</vt:lpstr>
      <vt:lpstr>OPV – Development of immunity</vt:lpstr>
      <vt:lpstr>OPV – Advantages and complications</vt:lpstr>
      <vt:lpstr>OPV – Contraindications</vt:lpstr>
      <vt:lpstr>OPV - Storage </vt:lpstr>
      <vt:lpstr>OPV </vt:lpstr>
      <vt:lpstr>Sequential administration of IPV and OPV</vt:lpstr>
      <vt:lpstr>Human Normal Ig</vt:lpstr>
      <vt:lpstr>Epidemiological investigations</vt:lpstr>
      <vt:lpstr>Checklist</vt:lpstr>
      <vt:lpstr>PowerPoint Presentation</vt:lpstr>
      <vt:lpstr>Polio Eradication and Endgame Strategic Plan (2013 – 2018)</vt:lpstr>
      <vt:lpstr>PowerPoint Presentation</vt:lpstr>
      <vt:lpstr>Containment</vt:lpstr>
      <vt:lpstr>Polio Surveillance</vt:lpstr>
      <vt:lpstr>Acute flaccid paralysis surveillance</vt:lpstr>
      <vt:lpstr>Acute flaccid paralysis surveillance</vt:lpstr>
      <vt:lpstr>Environmental surveillance</vt:lpstr>
      <vt:lpstr>Surveillance Indicators</vt:lpstr>
      <vt:lpstr>Vaccine derived poliovirus (VDPV)</vt:lpstr>
      <vt:lpstr>Vaccine derived poliovirus (VDPV)</vt:lpstr>
      <vt:lpstr>Vaccine derived poliovirus (VDPV)</vt:lpstr>
      <vt:lpstr>Strategies in India</vt:lpstr>
      <vt:lpstr>Line listing of cases</vt:lpstr>
      <vt:lpstr>Mopping Up</vt:lpstr>
      <vt:lpstr>Pulse Polio Immunization</vt:lpstr>
      <vt:lpstr>Supplement immunization activity</vt:lpstr>
      <vt:lpstr>Steps by Govt. – Polio eradication (INDIA)</vt:lpstr>
      <vt:lpstr>Steps by Govt. – Polio eradication (INDIA)</vt:lpstr>
      <vt:lpstr>AFP Surveillance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mukul maheshwari</dc:creator>
  <cp:lastModifiedBy>mukul maheshwari</cp:lastModifiedBy>
  <cp:revision>1</cp:revision>
  <dcterms:created xsi:type="dcterms:W3CDTF">2024-09-30T14:11:18Z</dcterms:created>
  <dcterms:modified xsi:type="dcterms:W3CDTF">2024-10-01T05:17:49Z</dcterms:modified>
</cp:coreProperties>
</file>