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27" r:id="rId2"/>
    <p:sldId id="32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87"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8"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46" autoAdjust="0"/>
    <p:restoredTop sz="95611" autoAdjust="0"/>
  </p:normalViewPr>
  <p:slideViewPr>
    <p:cSldViewPr snapToGrid="0">
      <p:cViewPr varScale="1">
        <p:scale>
          <a:sx n="104" d="100"/>
          <a:sy n="104" d="100"/>
        </p:scale>
        <p:origin x="19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8"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9"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7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1"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2"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73"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1048582"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1048583" name="Date Placeholder 3"/>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584" name="Footer Placeholder 4"/>
          <p:cNvSpPr>
            <a:spLocks noGrp="1"/>
          </p:cNvSpPr>
          <p:nvPr>
            <p:ph type="ftr" sz="quarter" idx="11"/>
          </p:nvPr>
        </p:nvSpPr>
        <p:spPr/>
        <p:txBody>
          <a:bodyPr/>
          <a:lstStyle/>
          <a:p>
            <a:endParaRPr lang="zh-CN" altLang="en-US"/>
          </a:p>
        </p:txBody>
      </p:sp>
      <p:sp>
        <p:nvSpPr>
          <p:cNvPr id="1048585"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ltLang="zh-CN"/>
              <a:t>Click to edit Master title style</a:t>
            </a:r>
            <a:endParaRPr lang="en-US" dirty="0"/>
          </a:p>
        </p:txBody>
      </p:sp>
      <p:sp>
        <p:nvSpPr>
          <p:cNvPr id="1048589"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90" name="Date Placeholder 3"/>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591" name="Footer Placeholder 4"/>
          <p:cNvSpPr>
            <a:spLocks noGrp="1"/>
          </p:cNvSpPr>
          <p:nvPr>
            <p:ph type="ftr" sz="quarter" idx="11"/>
          </p:nvPr>
        </p:nvSpPr>
        <p:spPr/>
        <p:txBody>
          <a:bodyPr/>
          <a:lstStyle/>
          <a:p>
            <a:endParaRPr lang="zh-CN" altLang="en-US"/>
          </a:p>
        </p:txBody>
      </p:sp>
      <p:sp>
        <p:nvSpPr>
          <p:cNvPr id="1048592"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0" name="Title 1"/>
          <p:cNvSpPr>
            <a:spLocks noGrp="1"/>
          </p:cNvSpPr>
          <p:nvPr>
            <p:ph type="title"/>
          </p:nvPr>
        </p:nvSpPr>
        <p:spPr>
          <a:xfrm>
            <a:off x="623888" y="1709739"/>
            <a:ext cx="7886700" cy="2852737"/>
          </a:xfrm>
        </p:spPr>
        <p:txBody>
          <a:bodyPr anchor="b"/>
          <a:lstStyle>
            <a:lvl1pPr>
              <a:defRPr sz="6000"/>
            </a:lvl1pPr>
          </a:lstStyle>
          <a:p>
            <a:r>
              <a:rPr lang="en-US" altLang="zh-CN"/>
              <a:t>Click to edit Master title style</a:t>
            </a:r>
            <a:endParaRPr lang="en-US" dirty="0"/>
          </a:p>
        </p:txBody>
      </p:sp>
      <p:sp>
        <p:nvSpPr>
          <p:cNvPr id="1048641"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1048642" name="Date Placeholder 3"/>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43" name="Footer Placeholder 4"/>
          <p:cNvSpPr>
            <a:spLocks noGrp="1"/>
          </p:cNvSpPr>
          <p:nvPr>
            <p:ph type="ftr" sz="quarter" idx="11"/>
          </p:nvPr>
        </p:nvSpPr>
        <p:spPr/>
        <p:txBody>
          <a:bodyPr/>
          <a:lstStyle/>
          <a:p>
            <a:endParaRPr lang="zh-CN" altLang="en-US"/>
          </a:p>
        </p:txBody>
      </p:sp>
      <p:sp>
        <p:nvSpPr>
          <p:cNvPr id="1048644"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altLang="zh-CN"/>
              <a:t>Click to edit Master title style</a:t>
            </a:r>
            <a:endParaRPr lang="en-US" dirty="0"/>
          </a:p>
        </p:txBody>
      </p:sp>
      <p:sp>
        <p:nvSpPr>
          <p:cNvPr id="1048646"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47"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48" name="Date Placeholder 4"/>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49" name="Footer Placeholder 5"/>
          <p:cNvSpPr>
            <a:spLocks noGrp="1"/>
          </p:cNvSpPr>
          <p:nvPr>
            <p:ph type="ftr" sz="quarter" idx="11"/>
          </p:nvPr>
        </p:nvSpPr>
        <p:spPr/>
        <p:txBody>
          <a:bodyPr/>
          <a:lstStyle/>
          <a:p>
            <a:endParaRPr lang="zh-CN" altLang="en-US"/>
          </a:p>
        </p:txBody>
      </p:sp>
      <p:sp>
        <p:nvSpPr>
          <p:cNvPr id="1048650"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1048652"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53"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54"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55"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56" name="Date Placeholder 6"/>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57" name="Footer Placeholder 7"/>
          <p:cNvSpPr>
            <a:spLocks noGrp="1"/>
          </p:cNvSpPr>
          <p:nvPr>
            <p:ph type="ftr" sz="quarter" idx="11"/>
          </p:nvPr>
        </p:nvSpPr>
        <p:spPr/>
        <p:txBody>
          <a:bodyPr/>
          <a:lstStyle/>
          <a:p>
            <a:endParaRPr lang="zh-CN" altLang="en-US"/>
          </a:p>
        </p:txBody>
      </p:sp>
      <p:sp>
        <p:nvSpPr>
          <p:cNvPr id="1048658" name="Slide Number Placeholder 8"/>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0" name="Title 1"/>
          <p:cNvSpPr>
            <a:spLocks noGrp="1"/>
          </p:cNvSpPr>
          <p:nvPr>
            <p:ph type="title"/>
          </p:nvPr>
        </p:nvSpPr>
        <p:spPr/>
        <p:txBody>
          <a:bodyPr/>
          <a:lstStyle/>
          <a:p>
            <a:r>
              <a:rPr lang="en-US" altLang="zh-CN"/>
              <a:t>Click to edit Master title style</a:t>
            </a:r>
            <a:endParaRPr lang="en-US" dirty="0"/>
          </a:p>
        </p:txBody>
      </p:sp>
      <p:sp>
        <p:nvSpPr>
          <p:cNvPr id="1048621" name="Date Placeholder 2"/>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22" name="Footer Placeholder 3"/>
          <p:cNvSpPr>
            <a:spLocks noGrp="1"/>
          </p:cNvSpPr>
          <p:nvPr>
            <p:ph type="ftr" sz="quarter" idx="11"/>
          </p:nvPr>
        </p:nvSpPr>
        <p:spPr/>
        <p:txBody>
          <a:bodyPr/>
          <a:lstStyle/>
          <a:p>
            <a:endParaRPr lang="zh-CN" altLang="en-US"/>
          </a:p>
        </p:txBody>
      </p:sp>
      <p:sp>
        <p:nvSpPr>
          <p:cNvPr id="1048623" name="Slide Number Placeholder 4"/>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9" name="Date Placeholder 1"/>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60" name="Footer Placeholder 2"/>
          <p:cNvSpPr>
            <a:spLocks noGrp="1"/>
          </p:cNvSpPr>
          <p:nvPr>
            <p:ph type="ftr" sz="quarter" idx="11"/>
          </p:nvPr>
        </p:nvSpPr>
        <p:spPr/>
        <p:txBody>
          <a:bodyPr/>
          <a:lstStyle/>
          <a:p>
            <a:endParaRPr lang="zh-CN" altLang="en-US"/>
          </a:p>
        </p:txBody>
      </p:sp>
      <p:sp>
        <p:nvSpPr>
          <p:cNvPr id="1048661" name="Slide Number Placeholder 3"/>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66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6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65" name="Date Placeholder 4"/>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66" name="Footer Placeholder 5"/>
          <p:cNvSpPr>
            <a:spLocks noGrp="1"/>
          </p:cNvSpPr>
          <p:nvPr>
            <p:ph type="ftr" sz="quarter" idx="11"/>
          </p:nvPr>
        </p:nvSpPr>
        <p:spPr/>
        <p:txBody>
          <a:bodyPr/>
          <a:lstStyle/>
          <a:p>
            <a:endParaRPr lang="zh-CN" altLang="en-US"/>
          </a:p>
        </p:txBody>
      </p:sp>
      <p:sp>
        <p:nvSpPr>
          <p:cNvPr id="1048667"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9"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630"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1048631"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32" name="Date Placeholder 4"/>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33" name="Footer Placeholder 5"/>
          <p:cNvSpPr>
            <a:spLocks noGrp="1"/>
          </p:cNvSpPr>
          <p:nvPr>
            <p:ph type="ftr" sz="quarter" idx="11"/>
          </p:nvPr>
        </p:nvSpPr>
        <p:spPr/>
        <p:txBody>
          <a:bodyPr/>
          <a:lstStyle/>
          <a:p>
            <a:endParaRPr lang="zh-CN" altLang="en-US"/>
          </a:p>
        </p:txBody>
      </p:sp>
      <p:sp>
        <p:nvSpPr>
          <p:cNvPr id="1048634"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US" altLang="zh-CN"/>
              <a:t>Click to edit Master title style</a:t>
            </a:r>
            <a:endParaRPr lang="en-US" dirty="0"/>
          </a:p>
        </p:txBody>
      </p:sp>
      <p:sp>
        <p:nvSpPr>
          <p:cNvPr id="1048636"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37" name="Date Placeholder 3"/>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38" name="Footer Placeholder 4"/>
          <p:cNvSpPr>
            <a:spLocks noGrp="1"/>
          </p:cNvSpPr>
          <p:nvPr>
            <p:ph type="ftr" sz="quarter" idx="11"/>
          </p:nvPr>
        </p:nvSpPr>
        <p:spPr/>
        <p:txBody>
          <a:bodyPr/>
          <a:lstStyle/>
          <a:p>
            <a:endParaRPr lang="zh-CN" altLang="en-US"/>
          </a:p>
        </p:txBody>
      </p:sp>
      <p:sp>
        <p:nvSpPr>
          <p:cNvPr id="1048639"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4"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1048625"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26" name="Date Placeholder 3"/>
          <p:cNvSpPr>
            <a:spLocks noGrp="1"/>
          </p:cNvSpPr>
          <p:nvPr>
            <p:ph type="dt" sz="half" idx="10"/>
          </p:nvPr>
        </p:nvSpPr>
        <p:spPr/>
        <p:txBody>
          <a:bodyPr/>
          <a:lstStyle/>
          <a:p>
            <a:fld id="{70BC1078-46ED-40F9-8930-935BAD7C2B02}" type="datetimeFigureOut">
              <a:rPr lang="zh-CN" altLang="en-US" smtClean="0"/>
              <a:t>2023/12/1</a:t>
            </a:fld>
            <a:endParaRPr lang="zh-CN" altLang="en-US"/>
          </a:p>
        </p:txBody>
      </p:sp>
      <p:sp>
        <p:nvSpPr>
          <p:cNvPr id="1048627" name="Footer Placeholder 4"/>
          <p:cNvSpPr>
            <a:spLocks noGrp="1"/>
          </p:cNvSpPr>
          <p:nvPr>
            <p:ph type="ftr" sz="quarter" idx="11"/>
          </p:nvPr>
        </p:nvSpPr>
        <p:spPr/>
        <p:txBody>
          <a:bodyPr/>
          <a:lstStyle/>
          <a:p>
            <a:endParaRPr lang="zh-CN" altLang="en-US"/>
          </a:p>
        </p:txBody>
      </p:sp>
      <p:sp>
        <p:nvSpPr>
          <p:cNvPr id="1048628"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1048577"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78"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C1078-46ED-40F9-8930-935BAD7C2B02}" type="datetimeFigureOut">
              <a:rPr lang="zh-CN" altLang="en-US" smtClean="0"/>
              <a:t>2023/12/1</a:t>
            </a:fld>
            <a:endParaRPr lang="zh-CN" altLang="en-US"/>
          </a:p>
        </p:txBody>
      </p:sp>
      <p:sp>
        <p:nvSpPr>
          <p:cNvPr id="104857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52ADC-5BFA-4FBD-BEE2-16096B7F416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46" name="Title 1048745"/>
          <p:cNvSpPr>
            <a:spLocks noGrp="1"/>
          </p:cNvSpPr>
          <p:nvPr>
            <p:ph type="ctrTitle"/>
          </p:nvPr>
        </p:nvSpPr>
        <p:spPr>
          <a:xfrm>
            <a:off x="685799" y="2012710"/>
            <a:ext cx="7772400" cy="2387600"/>
          </a:xfrm>
        </p:spPr>
        <p:txBody>
          <a:bodyPr>
            <a:normAutofit fontScale="90000"/>
          </a:bodyPr>
          <a:lstStyle/>
          <a:p>
            <a:r>
              <a:rPr lang="en-US"/>
              <a:t>CONCEPT OF HEALTH AND DISEASE - II</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E7AD-2FEE-8D36-99A7-D5561C81AC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862718-E1E7-2AC8-3C53-6730FE4677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7CD0F76-0601-6F6A-E64C-6E7DDF3F1F68}"/>
              </a:ext>
            </a:extLst>
          </p:cNvPr>
          <p:cNvPicPr>
            <a:picLocks noChangeAspect="1"/>
          </p:cNvPicPr>
          <p:nvPr/>
        </p:nvPicPr>
        <p:blipFill>
          <a:blip r:embed="rId2">
            <a:grayscl/>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985404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586" name="Title 1"/>
          <p:cNvSpPr>
            <a:spLocks noGrp="1"/>
          </p:cNvSpPr>
          <p:nvPr>
            <p:ph type="ctrTitle"/>
          </p:nvPr>
        </p:nvSpPr>
        <p:spPr>
          <a:xfrm>
            <a:off x="1142999" y="414611"/>
            <a:ext cx="6652728" cy="528805"/>
          </a:xfrm>
        </p:spPr>
        <p:txBody>
          <a:bodyPr>
            <a:normAutofit fontScale="90000"/>
          </a:bodyPr>
          <a:lstStyle/>
          <a:p>
            <a:r>
              <a:rPr lang="en-US" altLang="zh-CN" sz="3200" b="1"/>
              <a:t>BIOLOGICAL DETERMINANTS </a:t>
            </a:r>
          </a:p>
        </p:txBody>
      </p:sp>
      <p:sp>
        <p:nvSpPr>
          <p:cNvPr id="1048587" name="Subtitle 2"/>
          <p:cNvSpPr>
            <a:spLocks noGrp="1"/>
          </p:cNvSpPr>
          <p:nvPr>
            <p:ph type="subTitle" idx="1"/>
          </p:nvPr>
        </p:nvSpPr>
        <p:spPr>
          <a:xfrm>
            <a:off x="1357744" y="1469889"/>
            <a:ext cx="7556877" cy="4811030"/>
          </a:xfrm>
        </p:spPr>
        <p:txBody>
          <a:bodyPr>
            <a:normAutofit/>
          </a:bodyPr>
          <a:lstStyle/>
          <a:p>
            <a:pPr algn="l"/>
            <a:r>
              <a:rPr lang="en-US" altLang="zh-CN" sz="2000" dirty="0"/>
              <a:t>The physical &amp; mental traits of every human being are determined by the nature of his genes at the moment of conception.</a:t>
            </a:r>
          </a:p>
          <a:p>
            <a:pPr algn="l"/>
            <a:r>
              <a:rPr lang="en-US" altLang="zh-CN" sz="2000" dirty="0"/>
              <a:t>The genetic makeup is unique in the sense it cannot be altered after conception. </a:t>
            </a:r>
          </a:p>
          <a:p>
            <a:pPr algn="l"/>
            <a:r>
              <a:rPr lang="en-US" altLang="zh-CN" sz="2000" dirty="0"/>
              <a:t>A number of diseases are now known to be of genetic origin, E.g., Chromosomal anomalies, errors of metabolism, mental retardation.</a:t>
            </a:r>
          </a:p>
          <a:p>
            <a:pPr algn="l"/>
            <a:r>
              <a:rPr lang="en-US" altLang="zh-CN" sz="2000" dirty="0"/>
              <a:t>Medical genetics offers hope for prevention &amp; treatment of a wide spectrum of diseases, thus the prospect of better medicine &amp; longer &amp; healthier life.</a:t>
            </a:r>
          </a:p>
          <a:p>
            <a:pPr algn="l"/>
            <a:r>
              <a:rPr lang="en-US" altLang="zh-CN" sz="2000" dirty="0"/>
              <a:t>A positive health advocated by WHO implies that a person should be able to express as completely as possible the potentialities of his genetic heritage.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593" name="Title 1048592"/>
          <p:cNvSpPr>
            <a:spLocks noGrp="1"/>
          </p:cNvSpPr>
          <p:nvPr>
            <p:ph type="title"/>
          </p:nvPr>
        </p:nvSpPr>
        <p:spPr/>
        <p:txBody>
          <a:bodyPr/>
          <a:lstStyle/>
          <a:p>
            <a:r>
              <a:rPr lang="en-US"/>
              <a:t>BEHAVIOURAL &amp; SOCIO CULTURAL CONDITIONS </a:t>
            </a:r>
            <a:endParaRPr lang="en-GB"/>
          </a:p>
        </p:txBody>
      </p:sp>
      <p:sp>
        <p:nvSpPr>
          <p:cNvPr id="1048594" name="Content Placeholder 1048593"/>
          <p:cNvSpPr>
            <a:spLocks noGrp="1"/>
          </p:cNvSpPr>
          <p:nvPr>
            <p:ph idx="1"/>
          </p:nvPr>
        </p:nvSpPr>
        <p:spPr>
          <a:xfrm>
            <a:off x="1293090" y="1825625"/>
            <a:ext cx="7222259" cy="4351338"/>
          </a:xfrm>
        </p:spPr>
        <p:txBody>
          <a:bodyPr/>
          <a:lstStyle/>
          <a:p>
            <a:r>
              <a:rPr lang="en-US" dirty="0"/>
              <a:t>Life style denotes “ the way that people live”, reflecting a whole range of social values, attitudes &amp; activities.</a:t>
            </a:r>
            <a:endParaRPr lang="en-GB" dirty="0"/>
          </a:p>
          <a:p>
            <a:r>
              <a:rPr lang="en-US" dirty="0"/>
              <a:t> It is composed of cultural &amp; </a:t>
            </a:r>
            <a:r>
              <a:rPr lang="en-US" dirty="0" err="1"/>
              <a:t>behavioural</a:t>
            </a:r>
            <a:r>
              <a:rPr lang="en-US" dirty="0"/>
              <a:t> patterns &amp; life long personal habits (Alcoholism, smoking)that have developed through the process of socialization.</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595" name="Title 1048594"/>
          <p:cNvSpPr>
            <a:spLocks noGrp="1"/>
          </p:cNvSpPr>
          <p:nvPr>
            <p:ph type="title"/>
          </p:nvPr>
        </p:nvSpPr>
        <p:spPr/>
        <p:txBody>
          <a:bodyPr/>
          <a:lstStyle/>
          <a:p>
            <a:r>
              <a:rPr lang="en-US"/>
              <a:t>BEHAVIOUR &amp; LIFE STYLE</a:t>
            </a:r>
            <a:br>
              <a:rPr lang="en-US"/>
            </a:br>
            <a:endParaRPr lang="en-GB"/>
          </a:p>
        </p:txBody>
      </p:sp>
      <p:sp>
        <p:nvSpPr>
          <p:cNvPr id="1048596" name="Content Placeholder 1048595"/>
          <p:cNvSpPr>
            <a:spLocks noGrp="1"/>
          </p:cNvSpPr>
          <p:nvPr>
            <p:ph idx="1"/>
          </p:nvPr>
        </p:nvSpPr>
        <p:spPr/>
        <p:txBody>
          <a:bodyPr/>
          <a:lstStyle/>
          <a:p>
            <a:r>
              <a:rPr lang="en-US"/>
              <a:t>Life styles are learnt through social interaction with parents &amp; peer groups, friends, siblings &amp; through school &amp; mass media. </a:t>
            </a:r>
            <a:endParaRPr lang="en-GB"/>
          </a:p>
          <a:p>
            <a:r>
              <a:rPr lang="en-US"/>
              <a:t>Many current health problems such as coronary heart disease, obesity, lung cancer, drug addiction are associated with life style.</a:t>
            </a:r>
            <a:endParaRPr lang="en-GB"/>
          </a:p>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597" name="Title 1048596"/>
          <p:cNvSpPr>
            <a:spLocks noGrp="1"/>
          </p:cNvSpPr>
          <p:nvPr>
            <p:ph type="title"/>
          </p:nvPr>
        </p:nvSpPr>
        <p:spPr/>
        <p:txBody>
          <a:bodyPr/>
          <a:lstStyle/>
          <a:p>
            <a:r>
              <a:rPr lang="en-US"/>
              <a:t>LIFE STYLE ISSUES</a:t>
            </a:r>
            <a:br>
              <a:rPr lang="en-US"/>
            </a:br>
            <a:endParaRPr lang="en-GB"/>
          </a:p>
        </p:txBody>
      </p:sp>
      <p:sp>
        <p:nvSpPr>
          <p:cNvPr id="1048598" name="Content Placeholder 1048597"/>
          <p:cNvSpPr>
            <a:spLocks noGrp="1"/>
          </p:cNvSpPr>
          <p:nvPr>
            <p:ph idx="1"/>
          </p:nvPr>
        </p:nvSpPr>
        <p:spPr/>
        <p:txBody>
          <a:bodyPr/>
          <a:lstStyle/>
          <a:p>
            <a:r>
              <a:rPr lang="en-US"/>
              <a:t>In countries like India risk of illness &amp; death are connected with lack of sanitation, poor nutrition, personal hygiene, elementary human habits, customs &amp; cultural patterns.</a:t>
            </a:r>
            <a:endParaRPr lang="en-GB"/>
          </a:p>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599" name="Title 1048598"/>
          <p:cNvSpPr>
            <a:spLocks noGrp="1"/>
          </p:cNvSpPr>
          <p:nvPr>
            <p:ph type="title"/>
          </p:nvPr>
        </p:nvSpPr>
        <p:spPr/>
        <p:txBody>
          <a:bodyPr/>
          <a:lstStyle/>
          <a:p>
            <a:r>
              <a:rPr lang="en-US"/>
              <a:t>ENVIRONMENT</a:t>
            </a:r>
            <a:endParaRPr lang="en-GB"/>
          </a:p>
        </p:txBody>
      </p:sp>
      <p:sp>
        <p:nvSpPr>
          <p:cNvPr id="1048600" name="Content Placeholder 1048599"/>
          <p:cNvSpPr>
            <a:spLocks noGrp="1"/>
          </p:cNvSpPr>
          <p:nvPr>
            <p:ph idx="1"/>
          </p:nvPr>
        </p:nvSpPr>
        <p:spPr>
          <a:xfrm>
            <a:off x="1173018" y="1505527"/>
            <a:ext cx="7342331" cy="4671436"/>
          </a:xfrm>
        </p:spPr>
        <p:txBody>
          <a:bodyPr>
            <a:normAutofit fontScale="92500" lnSpcReduction="10000"/>
          </a:bodyPr>
          <a:lstStyle/>
          <a:p>
            <a:r>
              <a:rPr lang="en-US" dirty="0"/>
              <a:t>It was Hippocrates who first related disease to environment, climate, water, &amp; air.</a:t>
            </a:r>
            <a:endParaRPr lang="en-GB" dirty="0"/>
          </a:p>
          <a:p>
            <a:r>
              <a:rPr lang="en-US" dirty="0"/>
              <a:t>Later </a:t>
            </a:r>
            <a:r>
              <a:rPr lang="en-US" dirty="0" err="1"/>
              <a:t>Pettenkoffer</a:t>
            </a:r>
            <a:r>
              <a:rPr lang="en-US" dirty="0"/>
              <a:t> in Germany revived the concept of disease – environment association.</a:t>
            </a:r>
          </a:p>
          <a:p>
            <a:r>
              <a:rPr lang="en-GB" altLang="en-GB" sz="2800" dirty="0"/>
              <a:t>Environment is classified as “internal” &amp; “external”. </a:t>
            </a:r>
            <a:endParaRPr lang="en-GB" sz="2800" dirty="0"/>
          </a:p>
          <a:p>
            <a:r>
              <a:rPr lang="en-GB" altLang="en-GB" sz="2800" dirty="0"/>
              <a:t>Internal environment of a man pertains to each &amp; every component part, every tissue organ &amp; organ system &amp; their harmonious functioning within the system.</a:t>
            </a:r>
            <a:endParaRPr lang="en-GB" sz="2800" dirty="0"/>
          </a:p>
          <a:p>
            <a:r>
              <a:rPr lang="en-GB" altLang="en-GB" sz="2800" dirty="0"/>
              <a:t>External or macro environment consists of those things to which man is exposed after conception. </a:t>
            </a:r>
            <a:endParaRPr lang="en-GB" sz="2800" dirty="0"/>
          </a:p>
          <a:p>
            <a:pPr marL="0" indent="0">
              <a:buNone/>
            </a:pPr>
            <a:endParaRPr lang="en-GB" dirty="0"/>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1" name="Content Placeholder 1048600"/>
          <p:cNvSpPr>
            <a:spLocks noGrp="1"/>
          </p:cNvSpPr>
          <p:nvPr>
            <p:ph idx="1"/>
          </p:nvPr>
        </p:nvSpPr>
        <p:spPr>
          <a:xfrm>
            <a:off x="1450108" y="458863"/>
            <a:ext cx="7065241" cy="5718100"/>
          </a:xfrm>
        </p:spPr>
        <p:txBody>
          <a:bodyPr>
            <a:normAutofit/>
          </a:bodyPr>
          <a:lstStyle/>
          <a:p>
            <a:r>
              <a:rPr lang="en-GB" altLang="en-GB" sz="2247" dirty="0"/>
              <a:t>It is defined as “all that which is external to the individual human host”.</a:t>
            </a:r>
            <a:endParaRPr lang="en-GB" sz="2247" dirty="0"/>
          </a:p>
          <a:p>
            <a:r>
              <a:rPr lang="en-GB" altLang="en-GB" sz="2247" dirty="0"/>
              <a:t>It can be divided into physical, biological &amp; psychosocial components , any or all of which affect can affect the health of man &amp; his susceptibility to illness.</a:t>
            </a:r>
            <a:endParaRPr lang="en-GB" sz="2247" dirty="0"/>
          </a:p>
          <a:p>
            <a:r>
              <a:rPr lang="en-GB" altLang="en-GB" sz="2247" dirty="0"/>
              <a:t>Some epidemiologists use the term “micro environment” or domestic environment or personal environment which reflects a person’s way of living &amp; lifestyle. E.g., eating habits, personal habits.</a:t>
            </a:r>
            <a:endParaRPr lang="en-GB" sz="2247" dirty="0"/>
          </a:p>
          <a:p>
            <a:r>
              <a:rPr lang="en-GB" altLang="en-GB" sz="2247" dirty="0"/>
              <a:t>The other environment includes occupational environment, socio economic environment, moral environment.</a:t>
            </a:r>
            <a:endParaRPr lang="en-GB" sz="224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2" name="Title 1048601"/>
          <p:cNvSpPr>
            <a:spLocks noGrp="1"/>
          </p:cNvSpPr>
          <p:nvPr>
            <p:ph type="title"/>
          </p:nvPr>
        </p:nvSpPr>
        <p:spPr/>
        <p:txBody>
          <a:bodyPr/>
          <a:lstStyle/>
          <a:p>
            <a:r>
              <a:rPr lang="en-US"/>
              <a:t>SOCIO ECONOMIC CONDITIONS </a:t>
            </a:r>
            <a:endParaRPr lang="en-GB"/>
          </a:p>
        </p:txBody>
      </p:sp>
      <p:sp>
        <p:nvSpPr>
          <p:cNvPr id="1048603" name="Content Placeholder 1048602"/>
          <p:cNvSpPr>
            <a:spLocks noGrp="1"/>
          </p:cNvSpPr>
          <p:nvPr>
            <p:ph idx="1"/>
          </p:nvPr>
        </p:nvSpPr>
        <p:spPr/>
        <p:txBody>
          <a:bodyPr/>
          <a:lstStyle/>
          <a:p>
            <a:r>
              <a:rPr lang="en-US"/>
              <a:t>The health of a person is primarily dependent upon the level of socio economic development. </a:t>
            </a:r>
            <a:endParaRPr lang="en-GB"/>
          </a:p>
          <a:p>
            <a:pPr marL="0" indent="0">
              <a:buNone/>
            </a:pPr>
            <a:r>
              <a:rPr lang="en-US"/>
              <a:t>E.g., Per Capita income, GNP, education, nutrition, employment, housing &amp; political system of the country.</a:t>
            </a:r>
            <a:endParaRPr lang="en-GB"/>
          </a:p>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4" name="Title 1048603"/>
          <p:cNvSpPr>
            <a:spLocks noGrp="1"/>
          </p:cNvSpPr>
          <p:nvPr>
            <p:ph type="title"/>
          </p:nvPr>
        </p:nvSpPr>
        <p:spPr/>
        <p:txBody>
          <a:bodyPr/>
          <a:lstStyle/>
          <a:p>
            <a:r>
              <a:rPr lang="en-US"/>
              <a:t>ECONOMIC STATUS</a:t>
            </a:r>
            <a:endParaRPr lang="en-GB"/>
          </a:p>
        </p:txBody>
      </p:sp>
      <p:sp>
        <p:nvSpPr>
          <p:cNvPr id="1048605" name="Content Placeholder 1048604"/>
          <p:cNvSpPr>
            <a:spLocks noGrp="1"/>
          </p:cNvSpPr>
          <p:nvPr>
            <p:ph idx="1"/>
          </p:nvPr>
        </p:nvSpPr>
        <p:spPr/>
        <p:txBody>
          <a:bodyPr/>
          <a:lstStyle/>
          <a:p>
            <a:r>
              <a:rPr lang="en-US"/>
              <a:t>The per capita GNP is the most widely accepted measure of general economic performance. </a:t>
            </a:r>
            <a:endParaRPr lang="en-GB"/>
          </a:p>
          <a:p>
            <a:r>
              <a:rPr lang="en-US"/>
              <a:t>The economic progress of many countries has been a major factor in reducing the morbidity, mortality, increase in life expectancy &amp; improving of the quality of life, family size, &amp; the pattern of disease &amp; deviant behaviour in the community.</a:t>
            </a: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6" name="Title 1048605"/>
          <p:cNvSpPr>
            <a:spLocks noGrp="1"/>
          </p:cNvSpPr>
          <p:nvPr>
            <p:ph type="title"/>
          </p:nvPr>
        </p:nvSpPr>
        <p:spPr/>
        <p:txBody>
          <a:bodyPr/>
          <a:lstStyle/>
          <a:p>
            <a:r>
              <a:rPr lang="en-US"/>
              <a:t>EDUCATION</a:t>
            </a:r>
            <a:endParaRPr lang="en-GB"/>
          </a:p>
        </p:txBody>
      </p:sp>
      <p:sp>
        <p:nvSpPr>
          <p:cNvPr id="1048607" name="Content Placeholder 1048606"/>
          <p:cNvSpPr>
            <a:spLocks noGrp="1"/>
          </p:cNvSpPr>
          <p:nvPr>
            <p:ph idx="1"/>
          </p:nvPr>
        </p:nvSpPr>
        <p:spPr/>
        <p:txBody>
          <a:bodyPr/>
          <a:lstStyle/>
          <a:p>
            <a:r>
              <a:rPr lang="en-US"/>
              <a:t>Education is the second major influencing factor in affecting the health of the population.</a:t>
            </a:r>
            <a:endParaRPr lang="en-GB"/>
          </a:p>
          <a:p>
            <a:r>
              <a:rPr lang="en-US"/>
              <a:t>The world map of illiteracy closely coincides with the maps of poverty, malnutrition, ill health, high infant &amp; child mortality rates.</a:t>
            </a:r>
            <a:endParaRPr lang="en-GB"/>
          </a:p>
          <a:p>
            <a:r>
              <a:rPr lang="en-US"/>
              <a:t> Studies indicate that education to some extent compensates the effects of poverty on health, irrespective of the availability of health facilities.</a:t>
            </a: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08" name="Title 1048607"/>
          <p:cNvSpPr>
            <a:spLocks noGrp="1"/>
          </p:cNvSpPr>
          <p:nvPr>
            <p:ph type="title"/>
          </p:nvPr>
        </p:nvSpPr>
        <p:spPr/>
        <p:txBody>
          <a:bodyPr/>
          <a:lstStyle/>
          <a:p>
            <a:r>
              <a:rPr lang="en-US"/>
              <a:t>OCCUPATION</a:t>
            </a:r>
            <a:endParaRPr lang="en-GB"/>
          </a:p>
        </p:txBody>
      </p:sp>
      <p:sp>
        <p:nvSpPr>
          <p:cNvPr id="1048609" name="Content Placeholder 1048608"/>
          <p:cNvSpPr>
            <a:spLocks noGrp="1"/>
          </p:cNvSpPr>
          <p:nvPr>
            <p:ph idx="1"/>
          </p:nvPr>
        </p:nvSpPr>
        <p:spPr/>
        <p:txBody>
          <a:bodyPr/>
          <a:lstStyle/>
          <a:p>
            <a:r>
              <a:rPr lang="en-US"/>
              <a:t>Un employment usually shows a higher incidence of ill health &amp; death. </a:t>
            </a:r>
            <a:endParaRPr lang="en-GB"/>
          </a:p>
          <a:p>
            <a:r>
              <a:rPr lang="en-US"/>
              <a:t>For many, loss of work may mean loss of income &amp; status.</a:t>
            </a:r>
            <a:endParaRPr lang="en-GB"/>
          </a:p>
          <a:p>
            <a:r>
              <a:rPr lang="en-US"/>
              <a:t>It can cause psychological &amp; social damage. </a:t>
            </a:r>
            <a:endParaRPr lang="en-GB"/>
          </a:p>
          <a:p>
            <a:r>
              <a:rPr lang="en-US"/>
              <a:t>The very state of being employed in productive work promotes health.</a:t>
            </a:r>
            <a:endParaRPr lang="en-GB"/>
          </a:p>
          <a:p>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10" name="Title 1048609"/>
          <p:cNvSpPr>
            <a:spLocks noGrp="1"/>
          </p:cNvSpPr>
          <p:nvPr>
            <p:ph type="title"/>
          </p:nvPr>
        </p:nvSpPr>
        <p:spPr/>
        <p:txBody>
          <a:bodyPr/>
          <a:lstStyle/>
          <a:p>
            <a:r>
              <a:rPr lang="en-US"/>
              <a:t>POLITICAL SYSTEM </a:t>
            </a:r>
            <a:endParaRPr lang="en-GB"/>
          </a:p>
        </p:txBody>
      </p:sp>
      <p:sp>
        <p:nvSpPr>
          <p:cNvPr id="1048611" name="Content Placeholder 1048610"/>
          <p:cNvSpPr>
            <a:spLocks noGrp="1"/>
          </p:cNvSpPr>
          <p:nvPr>
            <p:ph idx="1"/>
          </p:nvPr>
        </p:nvSpPr>
        <p:spPr/>
        <p:txBody>
          <a:bodyPr/>
          <a:lstStyle/>
          <a:p>
            <a:r>
              <a:rPr lang="en-US" sz="2000"/>
              <a:t>Health is closely related to the political system of a country. • Often the main obstacles to the implementation of health technologies are not technical rather political.</a:t>
            </a:r>
            <a:endParaRPr lang="en-GB" sz="2000"/>
          </a:p>
          <a:p>
            <a:r>
              <a:rPr lang="en-US" sz="2000"/>
              <a:t>• 30. • Decisions concerning resource allocation, man power policy, choice of technology &amp; the degree to which health services are made available &amp; accessible to different segments of the society are examples of the manner in which the political system can shape community health services.</a:t>
            </a:r>
            <a:endParaRPr lang="en-GB" sz="2000"/>
          </a:p>
          <a:p>
            <a:r>
              <a:rPr lang="en-US" sz="2000"/>
              <a:t>• 31. • The percentage of GNP spent on health is About 3%</a:t>
            </a:r>
            <a:endParaRPr lang="en-GB"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12" name="Title 1048611"/>
          <p:cNvSpPr>
            <a:spLocks noGrp="1"/>
          </p:cNvSpPr>
          <p:nvPr>
            <p:ph type="title"/>
          </p:nvPr>
        </p:nvSpPr>
        <p:spPr/>
        <p:txBody>
          <a:bodyPr/>
          <a:lstStyle/>
          <a:p>
            <a:r>
              <a:rPr lang="en-US"/>
              <a:t>HEALTH SERVICES</a:t>
            </a:r>
            <a:endParaRPr lang="en-GB"/>
          </a:p>
        </p:txBody>
      </p:sp>
      <p:sp>
        <p:nvSpPr>
          <p:cNvPr id="1048613" name="Content Placeholder 1048612"/>
          <p:cNvSpPr>
            <a:spLocks noGrp="1"/>
          </p:cNvSpPr>
          <p:nvPr>
            <p:ph idx="1"/>
          </p:nvPr>
        </p:nvSpPr>
        <p:spPr/>
        <p:txBody>
          <a:bodyPr>
            <a:normAutofit fontScale="96429"/>
          </a:bodyPr>
          <a:lstStyle/>
          <a:p>
            <a:r>
              <a:rPr lang="en-US"/>
              <a:t>Health services are seen as essential for social &amp; economic development. There is a strong correlation between GNP &amp; Expectation of life at birth &amp; the overall health status of the given population.</a:t>
            </a:r>
            <a:endParaRPr lang="en-GB"/>
          </a:p>
          <a:p>
            <a:r>
              <a:rPr lang="en-US"/>
              <a:t>Health &amp;Family welfare services aim at improving the health condition of the population. </a:t>
            </a:r>
            <a:endParaRPr lang="en-GB"/>
          </a:p>
          <a:p>
            <a:r>
              <a:rPr lang="en-US"/>
              <a:t>India being a signatory member , to realize Heath For All has chalked out strategies like the PHC, CHC, HWC, Sub centes &amp; other peripheral infrastructure.</a:t>
            </a: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14" name="Title 1048613"/>
          <p:cNvSpPr>
            <a:spLocks noGrp="1"/>
          </p:cNvSpPr>
          <p:nvPr>
            <p:ph type="title"/>
          </p:nvPr>
        </p:nvSpPr>
        <p:spPr/>
        <p:txBody>
          <a:bodyPr/>
          <a:lstStyle/>
          <a:p>
            <a:r>
              <a:rPr lang="en-US"/>
              <a:t>AGING OF THE POPULATION</a:t>
            </a:r>
            <a:endParaRPr lang="en-GB"/>
          </a:p>
        </p:txBody>
      </p:sp>
      <p:sp>
        <p:nvSpPr>
          <p:cNvPr id="1048615" name="Content Placeholder 1048614"/>
          <p:cNvSpPr>
            <a:spLocks noGrp="1"/>
          </p:cNvSpPr>
          <p:nvPr>
            <p:ph idx="1"/>
          </p:nvPr>
        </p:nvSpPr>
        <p:spPr/>
        <p:txBody>
          <a:bodyPr/>
          <a:lstStyle/>
          <a:p>
            <a:r>
              <a:rPr lang="en-US"/>
              <a:t>More than two thirds of </a:t>
            </a:r>
            <a:r>
              <a:rPr lang="en-US" sz="2800"/>
              <a:t>people aged 60 &amp; over are </a:t>
            </a:r>
            <a:r>
              <a:rPr lang="en-US"/>
              <a:t>living in the developing countries.</a:t>
            </a:r>
            <a:endParaRPr lang="en-GB"/>
          </a:p>
          <a:p>
            <a:r>
              <a:rPr lang="en-US"/>
              <a:t>A major concern of rapid population aging is the increased prevalence of chronic disease &amp; disabilities. </a:t>
            </a:r>
            <a:endParaRPr lang="en-GB"/>
          </a:p>
          <a:p>
            <a:r>
              <a:rPr lang="en-US"/>
              <a:t>Therefore aging process needs a special attention.</a:t>
            </a:r>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16" name="Title 1048615"/>
          <p:cNvSpPr>
            <a:spLocks noGrp="1"/>
          </p:cNvSpPr>
          <p:nvPr>
            <p:ph type="title"/>
          </p:nvPr>
        </p:nvSpPr>
        <p:spPr/>
        <p:txBody>
          <a:bodyPr/>
          <a:lstStyle/>
          <a:p>
            <a:r>
              <a:rPr lang="en-US"/>
              <a:t>GENDER</a:t>
            </a:r>
            <a:endParaRPr lang="en-GB"/>
          </a:p>
        </p:txBody>
      </p:sp>
      <p:sp>
        <p:nvSpPr>
          <p:cNvPr id="1048617" name="Content Placeholder 1048616"/>
          <p:cNvSpPr>
            <a:spLocks noGrp="1"/>
          </p:cNvSpPr>
          <p:nvPr>
            <p:ph idx="1"/>
          </p:nvPr>
        </p:nvSpPr>
        <p:spPr/>
        <p:txBody>
          <a:bodyPr>
            <a:normAutofit fontScale="96429"/>
          </a:bodyPr>
          <a:lstStyle/>
          <a:p>
            <a:r>
              <a:rPr lang="en-US"/>
              <a:t>The 1990 have witnessed a increase concentration on women’s issues. In 1993 The Global Commission on women’s Health was established.</a:t>
            </a:r>
            <a:endParaRPr lang="en-GB"/>
          </a:p>
          <a:p>
            <a:r>
              <a:rPr lang="en-US"/>
              <a:t>The Commission drew up an agenda for action on women’s health covering nutrition, reproductive health, the health consequences of violence, aging, life style related conditions &amp; occupational environment.</a:t>
            </a:r>
            <a:endParaRPr lang="en-GB"/>
          </a:p>
          <a:p>
            <a:r>
              <a:rPr lang="en-US"/>
              <a:t>Inclusion of women’s health issues is a major breakthrough in the developmental plans.</a:t>
            </a:r>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18" name="Title 1048617"/>
          <p:cNvSpPr>
            <a:spLocks noGrp="1"/>
          </p:cNvSpPr>
          <p:nvPr>
            <p:ph type="title"/>
          </p:nvPr>
        </p:nvSpPr>
        <p:spPr/>
        <p:txBody>
          <a:bodyPr/>
          <a:lstStyle/>
          <a:p>
            <a:r>
              <a:rPr lang="en-US"/>
              <a:t>OTHER FACTORS </a:t>
            </a:r>
            <a:endParaRPr lang="en-GB"/>
          </a:p>
        </p:txBody>
      </p:sp>
      <p:sp>
        <p:nvSpPr>
          <p:cNvPr id="1048619" name="Content Placeholder 1048618"/>
          <p:cNvSpPr>
            <a:spLocks noGrp="1"/>
          </p:cNvSpPr>
          <p:nvPr>
            <p:ph idx="1"/>
          </p:nvPr>
        </p:nvSpPr>
        <p:spPr/>
        <p:txBody>
          <a:bodyPr/>
          <a:lstStyle/>
          <a:p>
            <a:r>
              <a:rPr lang="en-US" sz="2400"/>
              <a:t>The revolution in information &amp; Communication Technology offers tremendous opportunities in providing an easy &amp; instant access to medical information once difficult to retrieve.</a:t>
            </a:r>
            <a:endParaRPr lang="en-GB" sz="2400"/>
          </a:p>
          <a:p>
            <a:r>
              <a:rPr lang="en-US" sz="2400"/>
              <a:t>It contributes to the dissemination of information world wide, serving the needs of many physicians, health professionals, bio medical scientists &amp; researchers, the mass media &amp; the public.</a:t>
            </a:r>
            <a:endParaRPr lang="en-GB" sz="2400"/>
          </a:p>
          <a:p>
            <a:r>
              <a:rPr lang="en-US" sz="2400"/>
              <a:t>Health is not the sole contributor to the health &amp; wellbeing of population, the potential of inter sectoral contributions to the health of communities is increasingly recognized</a:t>
            </a:r>
            <a:endParaRPr lang="en-GB"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74" name="Title 1048673"/>
          <p:cNvSpPr>
            <a:spLocks noGrp="1"/>
          </p:cNvSpPr>
          <p:nvPr>
            <p:ph type="title"/>
          </p:nvPr>
        </p:nvSpPr>
        <p:spPr/>
        <p:txBody>
          <a:bodyPr/>
          <a:lstStyle/>
          <a:p>
            <a:r>
              <a:rPr lang="en-US"/>
              <a:t>ECOLOGY OF HEALTH </a:t>
            </a:r>
            <a:endParaRPr lang="en-GB"/>
          </a:p>
        </p:txBody>
      </p:sp>
      <p:sp>
        <p:nvSpPr>
          <p:cNvPr id="1048675" name="Content Placeholder 1048674"/>
          <p:cNvSpPr>
            <a:spLocks noGrp="1"/>
          </p:cNvSpPr>
          <p:nvPr>
            <p:ph idx="1"/>
          </p:nvPr>
        </p:nvSpPr>
        <p:spPr/>
        <p:txBody>
          <a:bodyPr/>
          <a:lstStyle/>
          <a:p>
            <a:r>
              <a:rPr lang="en-US"/>
              <a:t>Ecology is defined as the science of mutual relationship between living organisms and their environment.</a:t>
            </a:r>
            <a:endParaRPr lang="en-GB"/>
          </a:p>
          <a:p>
            <a:r>
              <a:rPr lang="en-US"/>
              <a:t> Human ecology is defined as the study of human groups as influenced by environmental factors, including social &amp; behavioral factors.</a:t>
            </a:r>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77" name="Content Placeholder 1048676"/>
          <p:cNvSpPr>
            <a:spLocks noGrp="1"/>
          </p:cNvSpPr>
          <p:nvPr>
            <p:ph idx="1"/>
          </p:nvPr>
        </p:nvSpPr>
        <p:spPr/>
        <p:txBody>
          <a:bodyPr/>
          <a:lstStyle/>
          <a:p>
            <a:r>
              <a:rPr lang="en-US" dirty="0"/>
              <a:t>The human eco-system includes, In addition to the natural environment, all the dimensions of  the man made environment.</a:t>
            </a:r>
            <a:endParaRPr lang="en-GB" dirty="0"/>
          </a:p>
          <a:p>
            <a:r>
              <a:rPr lang="en-US" dirty="0"/>
              <a:t>Physical</a:t>
            </a:r>
            <a:endParaRPr lang="en-GB" dirty="0"/>
          </a:p>
          <a:p>
            <a:r>
              <a:rPr lang="en-US" dirty="0"/>
              <a:t>Chemical</a:t>
            </a:r>
            <a:endParaRPr lang="en-GB" dirty="0"/>
          </a:p>
          <a:p>
            <a:r>
              <a:rPr lang="en-US" dirty="0"/>
              <a:t>Biological</a:t>
            </a:r>
            <a:endParaRPr lang="en-GB" dirty="0"/>
          </a:p>
          <a:p>
            <a:r>
              <a:rPr lang="en-US" dirty="0"/>
              <a:t>Psychological </a:t>
            </a:r>
            <a:endParaRPr lang="en-GB" dirty="0"/>
          </a:p>
          <a:p>
            <a:r>
              <a:rPr lang="en-US" dirty="0"/>
              <a:t>Culture and all its products.</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79" name="Content Placeholder 1048678"/>
          <p:cNvSpPr>
            <a:spLocks noGrp="1"/>
          </p:cNvSpPr>
          <p:nvPr>
            <p:ph idx="1"/>
          </p:nvPr>
        </p:nvSpPr>
        <p:spPr/>
        <p:txBody>
          <a:bodyPr/>
          <a:lstStyle/>
          <a:p>
            <a:r>
              <a:rPr lang="en-US"/>
              <a:t>By constantly altering his environment, or eco-system by such activities as urbanization,industrialization, deforestation, land reclamation, construction of irrigation canals and dams. Man has created for himself new health problems.</a:t>
            </a:r>
            <a:endParaRPr lang="en-GB"/>
          </a:p>
          <a:p>
            <a:r>
              <a:rPr lang="en-US"/>
              <a:t> Man's introduction into ecological cycles of disease has resulted in zoonotic diseases such as rabies, yellow fever, monkeypox, lassa fever etc.</a:t>
            </a:r>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81" name="Content Placeholder 1048680"/>
          <p:cNvSpPr>
            <a:spLocks noGrp="1"/>
          </p:cNvSpPr>
          <p:nvPr>
            <p:ph idx="1"/>
          </p:nvPr>
        </p:nvSpPr>
        <p:spPr/>
        <p:txBody>
          <a:bodyPr/>
          <a:lstStyle/>
          <a:p>
            <a:r>
              <a:rPr lang="en-US"/>
              <a:t>Prevention of disease through ecological or environmental manipulations or interventions is much safer cheaper and a more effective rational approach than all other means of control. </a:t>
            </a:r>
            <a:endParaRPr lang="en-GB"/>
          </a:p>
          <a:p>
            <a:r>
              <a:rPr lang="en-US"/>
              <a:t>It is through environmental manipulations that diseases such as cholera and other diarrhoeal diseases, Typhoid, malaria and other vector borne diseases and hook warm diseahoowarmpould be brought under control or eliminated.</a:t>
            </a:r>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82" name="Title 1048681"/>
          <p:cNvSpPr>
            <a:spLocks noGrp="1"/>
          </p:cNvSpPr>
          <p:nvPr>
            <p:ph type="title"/>
          </p:nvPr>
        </p:nvSpPr>
        <p:spPr/>
        <p:txBody>
          <a:bodyPr/>
          <a:lstStyle/>
          <a:p>
            <a:r>
              <a:rPr lang="en-US"/>
              <a:t>RIGHT TO HEALTH</a:t>
            </a:r>
            <a:endParaRPr lang="en-GB"/>
          </a:p>
        </p:txBody>
      </p:sp>
      <p:sp>
        <p:nvSpPr>
          <p:cNvPr id="1048683" name="Content Placeholder 1048682"/>
          <p:cNvSpPr>
            <a:spLocks noGrp="1"/>
          </p:cNvSpPr>
          <p:nvPr>
            <p:ph idx="1"/>
          </p:nvPr>
        </p:nvSpPr>
        <p:spPr/>
        <p:txBody>
          <a:bodyPr/>
          <a:lstStyle/>
          <a:p>
            <a:r>
              <a:rPr lang="en-US"/>
              <a:t>With the establishment of WHO, for  the first time, the right to health was recognize. </a:t>
            </a:r>
            <a:endParaRPr lang="en-GB"/>
          </a:p>
          <a:p>
            <a:r>
              <a:rPr lang="en-US"/>
              <a:t>The WHO constitution affirms that "the enjoyment of the highest attainable standard of health is one of the fundamental right of every human being without distinction of race, religion, political belief, economic or social condition"</a:t>
            </a:r>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85" name="Content Placeholder 1048684"/>
          <p:cNvSpPr>
            <a:spLocks noGrp="1"/>
          </p:cNvSpPr>
          <p:nvPr>
            <p:ph idx="1"/>
          </p:nvPr>
        </p:nvSpPr>
        <p:spPr/>
        <p:txBody>
          <a:bodyPr/>
          <a:lstStyle/>
          <a:p>
            <a:r>
              <a:rPr lang="en-US"/>
              <a:t>The International Covenant of Economic, Social and Cultural rights widely, considered as the central instrument of protection of the right to health recognizes, "the right to health of everyone to enjoyment of the highest attainable standard of physical and mental health".</a:t>
            </a:r>
            <a:endParaRPr lang="en-GB"/>
          </a:p>
          <a:p>
            <a:r>
              <a:rPr lang="en-US"/>
              <a:t> It is important to note that the covenant gives both physical health and mental health equal consideration.</a:t>
            </a:r>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87" name="Content Placeholder 1048686"/>
          <p:cNvSpPr>
            <a:spLocks noGrp="1"/>
          </p:cNvSpPr>
          <p:nvPr>
            <p:ph idx="1"/>
          </p:nvPr>
        </p:nvSpPr>
        <p:spPr>
          <a:xfrm>
            <a:off x="628650" y="409697"/>
            <a:ext cx="7886700" cy="5767266"/>
          </a:xfrm>
        </p:spPr>
        <p:txBody>
          <a:bodyPr>
            <a:normAutofit fontScale="96429"/>
          </a:bodyPr>
          <a:lstStyle/>
          <a:p>
            <a:r>
              <a:rPr lang="en-US"/>
              <a:t>The steps to be taken to achieve the full realization of the right to health include those necessary for:</a:t>
            </a:r>
            <a:endParaRPr lang="en-GB"/>
          </a:p>
          <a:p>
            <a:r>
              <a:rPr lang="en-US"/>
              <a:t>The provision for the reduction of stillbirth rate and infant mortality and for the healthy development of the child. </a:t>
            </a:r>
            <a:endParaRPr lang="en-GB"/>
          </a:p>
          <a:p>
            <a:r>
              <a:rPr lang="en-US"/>
              <a:t>The improvement of all aspects of environmental and industrial hygiene.</a:t>
            </a:r>
            <a:endParaRPr lang="en-GB"/>
          </a:p>
          <a:p>
            <a:r>
              <a:rPr lang="en-US"/>
              <a:t> The prevention, treatment and control of epidemic and endemic, occupational and other diseases.</a:t>
            </a:r>
            <a:endParaRPr lang="en-GB"/>
          </a:p>
          <a:p>
            <a:r>
              <a:rPr lang="en-US"/>
              <a:t> The creation of conditions, which would ensure to all medical service and medical attention in the event of sickness.</a:t>
            </a:r>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89" name="Content Placeholder 1048688"/>
          <p:cNvSpPr>
            <a:spLocks noGrp="1"/>
          </p:cNvSpPr>
          <p:nvPr>
            <p:ph idx="1"/>
          </p:nvPr>
        </p:nvSpPr>
        <p:spPr>
          <a:xfrm rot="37331">
            <a:off x="628650" y="511715"/>
            <a:ext cx="7886700" cy="5834572"/>
          </a:xfrm>
        </p:spPr>
        <p:txBody>
          <a:bodyPr>
            <a:normAutofit/>
          </a:bodyPr>
          <a:lstStyle/>
          <a:p>
            <a:r>
              <a:rPr lang="en-US"/>
              <a:t> The human right to healthcare means that hospitals, clinics, medicines and doctor services must be accessible, available,acceptable (non discrimination, physical accessibility, affordability, and information accessibility), And of good quality for everyone, on an equitable basis where and when needed.</a:t>
            </a:r>
            <a:endParaRPr lang="en-GB"/>
          </a:p>
          <a:p>
            <a:r>
              <a:rPr lang="en-US"/>
              <a:t> The key principles are:</a:t>
            </a:r>
            <a:endParaRPr lang="en-GB"/>
          </a:p>
          <a:p>
            <a:r>
              <a:rPr lang="en-US"/>
              <a:t>Universality</a:t>
            </a:r>
            <a:endParaRPr lang="en-GB"/>
          </a:p>
          <a:p>
            <a:r>
              <a:rPr lang="en-US"/>
              <a:t> Equity</a:t>
            </a:r>
            <a:endParaRPr lang="en-GB"/>
          </a:p>
          <a:p>
            <a:r>
              <a:rPr lang="en-US"/>
              <a:t>Accountability</a:t>
            </a:r>
            <a:endParaRPr lang="en-GB"/>
          </a:p>
          <a:p>
            <a:r>
              <a:rPr lang="en-US"/>
              <a:t>Transparency</a:t>
            </a:r>
            <a:endParaRPr lang="en-GB"/>
          </a:p>
          <a:p>
            <a:r>
              <a:rPr lang="en-US"/>
              <a:t>Participation.</a:t>
            </a:r>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90" name="Title 1048689"/>
          <p:cNvSpPr>
            <a:spLocks noGrp="1"/>
          </p:cNvSpPr>
          <p:nvPr>
            <p:ph type="title"/>
          </p:nvPr>
        </p:nvSpPr>
        <p:spPr/>
        <p:txBody>
          <a:bodyPr/>
          <a:lstStyle/>
          <a:p>
            <a:r>
              <a:rPr lang="en-US"/>
              <a:t>RESPONSIBILITY OF HEALTH</a:t>
            </a:r>
            <a:endParaRPr lang="en-GB"/>
          </a:p>
        </p:txBody>
      </p:sp>
      <p:sp>
        <p:nvSpPr>
          <p:cNvPr id="1048691" name="Content Placeholder 1048690"/>
          <p:cNvSpPr>
            <a:spLocks noGrp="1"/>
          </p:cNvSpPr>
          <p:nvPr>
            <p:ph idx="1"/>
          </p:nvPr>
        </p:nvSpPr>
        <p:spPr/>
        <p:txBody>
          <a:bodyPr/>
          <a:lstStyle/>
          <a:p>
            <a:r>
              <a:rPr lang="en-US"/>
              <a:t> Individual responsibility</a:t>
            </a:r>
            <a:endParaRPr lang="en-GB"/>
          </a:p>
          <a:p>
            <a:r>
              <a:rPr lang="en-US"/>
              <a:t> Community responsibility</a:t>
            </a:r>
            <a:endParaRPr lang="en-GB"/>
          </a:p>
          <a:p>
            <a:r>
              <a:rPr lang="en-US"/>
              <a:t>State responsibility</a:t>
            </a:r>
            <a:endParaRPr lang="en-GB"/>
          </a:p>
          <a:p>
            <a:r>
              <a:rPr lang="en-US"/>
              <a:t>International responsibility</a:t>
            </a:r>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92" name="Title 1048691"/>
          <p:cNvSpPr>
            <a:spLocks noGrp="1"/>
          </p:cNvSpPr>
          <p:nvPr>
            <p:ph type="title"/>
          </p:nvPr>
        </p:nvSpPr>
        <p:spPr/>
        <p:txBody>
          <a:bodyPr/>
          <a:lstStyle/>
          <a:p>
            <a:r>
              <a:rPr lang="en-US"/>
              <a:t>Self-care in health</a:t>
            </a:r>
            <a:endParaRPr lang="en-GB"/>
          </a:p>
        </p:txBody>
      </p:sp>
      <p:sp>
        <p:nvSpPr>
          <p:cNvPr id="1048693" name="Content Placeholder 1048692"/>
          <p:cNvSpPr>
            <a:spLocks noGrp="1"/>
          </p:cNvSpPr>
          <p:nvPr>
            <p:ph idx="1"/>
          </p:nvPr>
        </p:nvSpPr>
        <p:spPr/>
        <p:txBody>
          <a:bodyPr/>
          <a:lstStyle/>
          <a:p>
            <a:r>
              <a:rPr lang="en-US"/>
              <a:t>Presently, the trend in health care is self-care. It is defined as health activities, including promotion, maintenance, treatment, care and health-related decision-making carried out by individuals and families.</a:t>
            </a:r>
            <a:endParaRPr lang="en-GB"/>
          </a:p>
          <a:p>
            <a:r>
              <a:rPr lang="en-US"/>
              <a:t> It refers to those activities. Individuals undertake in promoting their own health, preventing their own health, limiting their own  disease, restoring their own health.</a:t>
            </a:r>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94" name="Title 1048693"/>
          <p:cNvSpPr>
            <a:spLocks noGrp="1"/>
          </p:cNvSpPr>
          <p:nvPr>
            <p:ph type="title"/>
          </p:nvPr>
        </p:nvSpPr>
        <p:spPr/>
        <p:txBody>
          <a:bodyPr/>
          <a:lstStyle/>
          <a:p>
            <a:r>
              <a:rPr lang="en-US"/>
              <a:t>COMMUNITY RESPONSIBILITY </a:t>
            </a:r>
            <a:endParaRPr lang="en-GB"/>
          </a:p>
        </p:txBody>
      </p:sp>
      <p:sp>
        <p:nvSpPr>
          <p:cNvPr id="1048695" name="Content Placeholder 1048694"/>
          <p:cNvSpPr>
            <a:spLocks noGrp="1"/>
          </p:cNvSpPr>
          <p:nvPr>
            <p:ph idx="1"/>
          </p:nvPr>
        </p:nvSpPr>
        <p:spPr/>
        <p:txBody>
          <a:bodyPr>
            <a:normAutofit fontScale="95833" lnSpcReduction="10000"/>
          </a:bodyPr>
          <a:lstStyle/>
          <a:p>
            <a:r>
              <a:rPr lang="en-US"/>
              <a:t> </a:t>
            </a:r>
            <a:r>
              <a:rPr lang="en-US" sz="2400"/>
              <a:t>The current trend is to deem "medicinalize"health and involve the community in a meaningful way. This implies a more active involvement of families and community in Health Matters, which is.</a:t>
            </a:r>
            <a:endParaRPr lang="en-GB" sz="2400"/>
          </a:p>
          <a:p>
            <a:r>
              <a:rPr lang="en-US" sz="2400"/>
              <a:t>Planning</a:t>
            </a:r>
            <a:endParaRPr lang="en-GB" sz="2400"/>
          </a:p>
          <a:p>
            <a:r>
              <a:rPr lang="en-US" sz="2400"/>
              <a:t>implementation</a:t>
            </a:r>
            <a:endParaRPr lang="en-GB" sz="2400"/>
          </a:p>
          <a:p>
            <a:r>
              <a:rPr lang="en-US" sz="2400"/>
              <a:t> Utilization</a:t>
            </a:r>
            <a:endParaRPr lang="en-GB" sz="2400"/>
          </a:p>
          <a:p>
            <a:r>
              <a:rPr lang="en-US" sz="2400"/>
              <a:t> Operation</a:t>
            </a:r>
            <a:endParaRPr lang="en-GB" sz="2400"/>
          </a:p>
          <a:p>
            <a:r>
              <a:rPr lang="en-US" sz="2400"/>
              <a:t> Evaluation of health services.</a:t>
            </a:r>
            <a:endParaRPr lang="en-GB" sz="2400"/>
          </a:p>
          <a:p>
            <a:r>
              <a:rPr lang="en-US" sz="2400"/>
              <a:t> The emphasis has shifted from health care for the people to health care by the people.</a:t>
            </a:r>
            <a:endParaRPr lang="en-GB"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97" name="Content Placeholder 1048696"/>
          <p:cNvSpPr>
            <a:spLocks noGrp="1"/>
          </p:cNvSpPr>
          <p:nvPr>
            <p:ph idx="1"/>
          </p:nvPr>
        </p:nvSpPr>
        <p:spPr>
          <a:xfrm>
            <a:off x="628650" y="1427313"/>
            <a:ext cx="7886700" cy="4327908"/>
          </a:xfrm>
        </p:spPr>
        <p:txBody>
          <a:bodyPr/>
          <a:lstStyle/>
          <a:p>
            <a:r>
              <a:rPr lang="en-US"/>
              <a:t>There are 3 ways in which a community can participate.</a:t>
            </a:r>
            <a:endParaRPr lang="en-GB"/>
          </a:p>
          <a:p>
            <a:r>
              <a:rPr lang="en-US"/>
              <a:t> The community can provide in shape of facilities, manpower, logistics support and possibly funds.</a:t>
            </a:r>
            <a:endParaRPr lang="en-GB"/>
          </a:p>
          <a:p>
            <a:r>
              <a:rPr lang="en-US"/>
              <a:t> The community can be actively involved in planning,  management and evaluation.</a:t>
            </a:r>
            <a:endParaRPr lang="en-GB"/>
          </a:p>
          <a:p>
            <a:r>
              <a:rPr lang="en-US"/>
              <a:t>An equal contribution that That people can make, is by joining in and using health services.</a:t>
            </a:r>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98" name="Title 1048697"/>
          <p:cNvSpPr>
            <a:spLocks noGrp="1"/>
          </p:cNvSpPr>
          <p:nvPr>
            <p:ph type="title"/>
          </p:nvPr>
        </p:nvSpPr>
        <p:spPr/>
        <p:txBody>
          <a:bodyPr/>
          <a:lstStyle/>
          <a:p>
            <a:r>
              <a:rPr lang="en-US"/>
              <a:t>STATE RESPONSIBILITY </a:t>
            </a:r>
            <a:endParaRPr lang="en-GB"/>
          </a:p>
        </p:txBody>
      </p:sp>
      <p:sp>
        <p:nvSpPr>
          <p:cNvPr id="1048699" name="Content Placeholder 1048698"/>
          <p:cNvSpPr>
            <a:spLocks noGrp="1"/>
          </p:cNvSpPr>
          <p:nvPr>
            <p:ph idx="1"/>
          </p:nvPr>
        </p:nvSpPr>
        <p:spPr/>
        <p:txBody>
          <a:bodyPr/>
          <a:lstStyle/>
          <a:p>
            <a:r>
              <a:rPr lang="en-US"/>
              <a:t> In all civilized societies, the state can assume responsibility for the health and welfare of its citizen. The Constitution of India provides that health is a state responsibility.</a:t>
            </a:r>
            <a:endParaRPr lang="en-GB"/>
          </a:p>
          <a:p>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00" name="Title 1048699"/>
          <p:cNvSpPr>
            <a:spLocks noGrp="1"/>
          </p:cNvSpPr>
          <p:nvPr>
            <p:ph type="title"/>
          </p:nvPr>
        </p:nvSpPr>
        <p:spPr/>
        <p:txBody>
          <a:bodyPr/>
          <a:lstStyle/>
          <a:p>
            <a:r>
              <a:rPr lang="en-US" sz="3600"/>
              <a:t>INTERNATIONAL RESPONSIBILITY </a:t>
            </a:r>
            <a:endParaRPr lang="en-GB" sz="3600"/>
          </a:p>
        </p:txBody>
      </p:sp>
      <p:sp>
        <p:nvSpPr>
          <p:cNvPr id="1048701" name="Content Placeholder 1048700"/>
          <p:cNvSpPr>
            <a:spLocks noGrp="1"/>
          </p:cNvSpPr>
          <p:nvPr>
            <p:ph idx="1"/>
          </p:nvPr>
        </p:nvSpPr>
        <p:spPr/>
        <p:txBody>
          <a:bodyPr/>
          <a:lstStyle/>
          <a:p>
            <a:r>
              <a:rPr lang="en-US"/>
              <a:t> The health of mankind requires the cooperation of governments, the people,national and international organizations both within and outside the United Nations system in achieving our health goals.</a:t>
            </a:r>
            <a:endParaRPr lang="en-GB"/>
          </a:p>
          <a:p>
            <a:r>
              <a:rPr lang="en-US"/>
              <a:t> This corporation covers the such subject as exchange of experts, provision of drugs and supplies, border meetings with regard to control of communicable diseases.</a:t>
            </a:r>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02" name="Title 1048701"/>
          <p:cNvSpPr>
            <a:spLocks noGrp="1"/>
          </p:cNvSpPr>
          <p:nvPr>
            <p:ph type="title"/>
          </p:nvPr>
        </p:nvSpPr>
        <p:spPr/>
        <p:txBody>
          <a:bodyPr/>
          <a:lstStyle/>
          <a:p>
            <a:r>
              <a:rPr lang="en-US"/>
              <a:t>HEALTH AND DEVELOPMENT </a:t>
            </a:r>
            <a:endParaRPr lang="en-GB"/>
          </a:p>
        </p:txBody>
      </p:sp>
      <p:sp>
        <p:nvSpPr>
          <p:cNvPr id="1048703" name="Content Placeholder 1048702"/>
          <p:cNvSpPr>
            <a:spLocks noGrp="1"/>
          </p:cNvSpPr>
          <p:nvPr>
            <p:ph idx="1"/>
          </p:nvPr>
        </p:nvSpPr>
        <p:spPr/>
        <p:txBody>
          <a:bodyPr/>
          <a:lstStyle/>
          <a:p>
            <a:r>
              <a:rPr lang="en-US"/>
              <a:t> Since health is an integral part of development, all sectors of society have an effect on health. In other words, health services are no longer considered merely as a complex of solely medical measures, but a subsystem of overall social economic system. I</a:t>
            </a:r>
            <a:endParaRPr lang="en-GB"/>
          </a:p>
          <a:p>
            <a:r>
              <a:rPr lang="en-US"/>
              <a:t>n the final analysis, human health and well being our ultimate goal of development</a:t>
            </a:r>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08" name="Content Placeholder 1048707"/>
          <p:cNvSpPr>
            <a:spLocks noGrp="1"/>
          </p:cNvSpPr>
          <p:nvPr>
            <p:ph idx="1"/>
          </p:nvPr>
        </p:nvSpPr>
        <p:spPr/>
        <p:txBody>
          <a:bodyPr/>
          <a:lstStyle/>
          <a:p>
            <a:r>
              <a:rPr lang="en-US"/>
              <a:t> </a:t>
            </a:r>
            <a:r>
              <a:rPr lang="en-US" sz="2400"/>
              <a:t>As the name suggests, indicators are only an indication of the given situation or a reflection of the situation. In WHO's guidelines of health programme evaluation, they are defined as the variables which help to measure changes. Often, they are used particularly in these changes cannot be measured directly as, for example, health and nutritional status. If measured, sequentially over time, they can indicate, direction and speed of change and serve the compare different areas or groups of people at the same moment in time.</a:t>
            </a:r>
            <a:endParaRPr lang="en-GB" sz="2400"/>
          </a:p>
        </p:txBody>
      </p:sp>
      <p:sp>
        <p:nvSpPr>
          <p:cNvPr id="1048709" name="Rectangle 1048708"/>
          <p:cNvSpPr>
            <a:spLocks noGrp="1"/>
          </p:cNvSpPr>
          <p:nvPr/>
        </p:nvSpPr>
        <p:spPr>
          <a:xfrm>
            <a:off x="628649" y="299309"/>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000000"/>
                </a:solidFill>
                <a:latin typeface="+mj-lt"/>
                <a:ea typeface="+mj-ea"/>
                <a:cs typeface="+mj-cs"/>
              </a:defRPr>
            </a:lvl1pPr>
          </a:lstStyle>
          <a:p>
            <a:r>
              <a:rPr lang="en-US">
                <a:latin typeface="Arial"/>
              </a:rPr>
              <a:t>INDICATORS OF HEALTH </a:t>
            </a:r>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05" name="Content Placeholder 1048704"/>
          <p:cNvSpPr>
            <a:spLocks noGrp="1"/>
          </p:cNvSpPr>
          <p:nvPr>
            <p:ph idx="1"/>
          </p:nvPr>
        </p:nvSpPr>
        <p:spPr>
          <a:xfrm>
            <a:off x="628649" y="693164"/>
            <a:ext cx="7886700" cy="5366647"/>
          </a:xfrm>
        </p:spPr>
        <p:txBody>
          <a:bodyPr>
            <a:normAutofit lnSpcReduction="10000"/>
          </a:bodyPr>
          <a:lstStyle/>
          <a:p>
            <a:r>
              <a:rPr lang="en-US" sz="2400"/>
              <a:t>Ideal indicators should be,</a:t>
            </a:r>
            <a:endParaRPr lang="en-GB" sz="2400"/>
          </a:p>
          <a:p>
            <a:r>
              <a:rPr lang="en-US" sz="2400"/>
              <a:t>Should be </a:t>
            </a:r>
            <a:r>
              <a:rPr lang="en-US" sz="2400" b="1"/>
              <a:t>valid</a:t>
            </a:r>
            <a:r>
              <a:rPr lang="en-US" sz="2400"/>
              <a:t>, i.e. they should actually measure what they are supposed to measure</a:t>
            </a:r>
            <a:endParaRPr lang="en-GB" sz="2400"/>
          </a:p>
          <a:p>
            <a:r>
              <a:rPr lang="en-US" sz="2400"/>
              <a:t>Should be </a:t>
            </a:r>
            <a:r>
              <a:rPr lang="en-US" sz="2400" b="1"/>
              <a:t>reliable</a:t>
            </a:r>
            <a:r>
              <a:rPr lang="en-US" sz="2400"/>
              <a:t> and objective, i.e. the answer should be seen if measured by different people in similar circumstances.</a:t>
            </a:r>
            <a:endParaRPr lang="en-GB" sz="2400"/>
          </a:p>
          <a:p>
            <a:r>
              <a:rPr lang="en-US" sz="2400"/>
              <a:t> Should be </a:t>
            </a:r>
            <a:r>
              <a:rPr lang="en-US" sz="2400" b="1"/>
              <a:t>sensitive</a:t>
            </a:r>
            <a:r>
              <a:rPr lang="en-US" sz="2400"/>
              <a:t>, i.e. they should be sensitive to changes in the situation concerned</a:t>
            </a:r>
            <a:endParaRPr lang="en-GB" sz="2400"/>
          </a:p>
          <a:p>
            <a:r>
              <a:rPr lang="en-US" sz="2400"/>
              <a:t>Should be </a:t>
            </a:r>
            <a:r>
              <a:rPr lang="en-US" sz="2400" b="1"/>
              <a:t>specific</a:t>
            </a:r>
            <a:r>
              <a:rPr lang="en-US" sz="2400"/>
              <a:t>, i.e. they should reflect changes only in situation concerned</a:t>
            </a:r>
            <a:endParaRPr lang="en-GB" sz="2400"/>
          </a:p>
          <a:p>
            <a:r>
              <a:rPr lang="en-US" sz="2400"/>
              <a:t>Should be </a:t>
            </a:r>
            <a:r>
              <a:rPr lang="en-US" sz="2400" b="1"/>
              <a:t>feasible</a:t>
            </a:r>
            <a:r>
              <a:rPr lang="en-US" sz="2400"/>
              <a:t>, i.e. they should have the ability to obtain the data needed.</a:t>
            </a:r>
            <a:endParaRPr lang="en-GB" sz="2400"/>
          </a:p>
          <a:p>
            <a:r>
              <a:rPr lang="en-US" sz="2400"/>
              <a:t>  Should be </a:t>
            </a:r>
            <a:r>
              <a:rPr lang="en-US" sz="2400" b="1"/>
              <a:t>relevant</a:t>
            </a:r>
            <a:r>
              <a:rPr lang="en-US" sz="2400"/>
              <a:t>, i.e. they should contribute to the understanding of phenomenon of interest.</a:t>
            </a:r>
            <a:endParaRPr lang="en-GB"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11" name="Content Placeholder 1048710"/>
          <p:cNvSpPr>
            <a:spLocks noGrp="1"/>
          </p:cNvSpPr>
          <p:nvPr>
            <p:ph idx="1"/>
          </p:nvPr>
        </p:nvSpPr>
        <p:spPr>
          <a:xfrm>
            <a:off x="628650" y="555902"/>
            <a:ext cx="7886700" cy="5819630"/>
          </a:xfrm>
        </p:spPr>
        <p:txBody>
          <a:bodyPr>
            <a:normAutofit fontScale="92500" lnSpcReduction="10000"/>
          </a:bodyPr>
          <a:lstStyle/>
          <a:p>
            <a:r>
              <a:rPr lang="en-US"/>
              <a:t> </a:t>
            </a:r>
            <a:r>
              <a:rPr lang="en-US" sz="2400"/>
              <a:t>Are understanding of health, therefore, cannot be in terms of a single indicator; it must be conceived in terms of a profile, employing many indicators which can be classified as:</a:t>
            </a:r>
            <a:endParaRPr lang="en-GB" sz="2400"/>
          </a:p>
          <a:p>
            <a:r>
              <a:rPr lang="en-US" sz="2400"/>
              <a:t> Mortality indicators,</a:t>
            </a:r>
            <a:endParaRPr lang="en-GB" sz="2400"/>
          </a:p>
          <a:p>
            <a:r>
              <a:rPr lang="en-US" sz="2400"/>
              <a:t> morbidity indicators,</a:t>
            </a:r>
            <a:endParaRPr lang="en-GB" sz="2400"/>
          </a:p>
          <a:p>
            <a:r>
              <a:rPr lang="en-US" sz="2400"/>
              <a:t> disability rates, </a:t>
            </a:r>
            <a:endParaRPr lang="en-GB" sz="2400"/>
          </a:p>
          <a:p>
            <a:r>
              <a:rPr lang="en-US" sz="2400"/>
              <a:t>nutritional status indicators,</a:t>
            </a:r>
            <a:endParaRPr lang="en-GB" sz="2400"/>
          </a:p>
          <a:p>
            <a:r>
              <a:rPr lang="en-US" sz="2400"/>
              <a:t>health care delivery indicators, </a:t>
            </a:r>
            <a:endParaRPr lang="en-GB" sz="2400"/>
          </a:p>
          <a:p>
            <a:r>
              <a:rPr lang="en-US" sz="2400"/>
              <a:t>utilization rates,</a:t>
            </a:r>
            <a:endParaRPr lang="en-GB" sz="2400"/>
          </a:p>
          <a:p>
            <a:r>
              <a:rPr lang="en-US" sz="2400"/>
              <a:t>indicators of social and mental health, </a:t>
            </a:r>
            <a:endParaRPr lang="en-GB" sz="2400"/>
          </a:p>
          <a:p>
            <a:r>
              <a:rPr lang="en-US" sz="2400"/>
              <a:t>environmental indicators, </a:t>
            </a:r>
            <a:endParaRPr lang="en-GB" sz="2400"/>
          </a:p>
          <a:p>
            <a:r>
              <a:rPr lang="en-US" sz="2400"/>
              <a:t>social economic indicators, </a:t>
            </a:r>
            <a:endParaRPr lang="en-GB" sz="2400"/>
          </a:p>
          <a:p>
            <a:r>
              <a:rPr lang="en-US" sz="2400"/>
              <a:t>health policy indicators,</a:t>
            </a:r>
            <a:endParaRPr lang="en-GB" sz="2400"/>
          </a:p>
          <a:p>
            <a:r>
              <a:rPr lang="en-US" sz="2400"/>
              <a:t>indicators of quality of life,</a:t>
            </a:r>
            <a:endParaRPr lang="en-GB" sz="2400"/>
          </a:p>
          <a:p>
            <a:r>
              <a:rPr lang="en-US" sz="2400"/>
              <a:t>and other indicators</a:t>
            </a:r>
            <a:endParaRPr lang="en-GB"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12" name="Title 1048711"/>
          <p:cNvSpPr>
            <a:spLocks noGrp="1"/>
          </p:cNvSpPr>
          <p:nvPr>
            <p:ph type="title"/>
          </p:nvPr>
        </p:nvSpPr>
        <p:spPr/>
        <p:txBody>
          <a:bodyPr/>
          <a:lstStyle/>
          <a:p>
            <a:r>
              <a:rPr lang="en-US"/>
              <a:t>Mortality indicators include:</a:t>
            </a:r>
            <a:endParaRPr lang="en-GB"/>
          </a:p>
        </p:txBody>
      </p:sp>
      <p:sp>
        <p:nvSpPr>
          <p:cNvPr id="1048713" name="Content Placeholder 1048712"/>
          <p:cNvSpPr>
            <a:spLocks noGrp="1"/>
          </p:cNvSpPr>
          <p:nvPr>
            <p:ph idx="1"/>
          </p:nvPr>
        </p:nvSpPr>
        <p:spPr/>
        <p:txBody>
          <a:bodyPr>
            <a:normAutofit fontScale="92500" lnSpcReduction="20000"/>
          </a:bodyPr>
          <a:lstStyle/>
          <a:p>
            <a:pPr>
              <a:buFont typeface="Wingdings" charset="2"/>
              <a:buChar char="l"/>
            </a:pPr>
            <a:r>
              <a:rPr lang="en-US"/>
              <a:t> Crude death rate</a:t>
            </a:r>
            <a:endParaRPr lang="en-GB"/>
          </a:p>
          <a:p>
            <a:pPr>
              <a:buFont typeface="Wingdings" charset="2"/>
              <a:buChar char="l"/>
            </a:pPr>
            <a:r>
              <a:rPr lang="en-US"/>
              <a:t> Expectation of life </a:t>
            </a:r>
            <a:endParaRPr lang="en-GB"/>
          </a:p>
          <a:p>
            <a:pPr>
              <a:buFont typeface="Wingdings" charset="2"/>
              <a:buChar char="l"/>
            </a:pPr>
            <a:r>
              <a:rPr lang="en-US"/>
              <a:t> Age specific death rate</a:t>
            </a:r>
            <a:endParaRPr lang="en-GB"/>
          </a:p>
          <a:p>
            <a:pPr>
              <a:buFont typeface="Wingdings" charset="2"/>
              <a:buChar char="l"/>
            </a:pPr>
            <a:r>
              <a:rPr lang="en-US"/>
              <a:t> Infant mortality rate</a:t>
            </a:r>
            <a:endParaRPr lang="en-GB"/>
          </a:p>
          <a:p>
            <a:pPr>
              <a:buFont typeface="Wingdings" charset="2"/>
              <a:buChar char="l"/>
            </a:pPr>
            <a:r>
              <a:rPr lang="en-US"/>
              <a:t> Child death rate</a:t>
            </a:r>
            <a:endParaRPr lang="en-GB"/>
          </a:p>
          <a:p>
            <a:pPr>
              <a:buFont typeface="Wingdings" charset="2"/>
              <a:buChar char="l"/>
            </a:pPr>
            <a:r>
              <a:rPr lang="en-US"/>
              <a:t> Under-5 proportionate mortality rate</a:t>
            </a:r>
            <a:endParaRPr lang="en-GB"/>
          </a:p>
          <a:p>
            <a:pPr>
              <a:buFont typeface="Wingdings" charset="2"/>
              <a:buChar char="l"/>
            </a:pPr>
            <a:r>
              <a:rPr lang="en-US"/>
              <a:t> Maternal mortality rate</a:t>
            </a:r>
            <a:endParaRPr lang="en-GB"/>
          </a:p>
          <a:p>
            <a:pPr>
              <a:buFont typeface="Wingdings" charset="2"/>
              <a:buChar char="l"/>
            </a:pPr>
            <a:r>
              <a:rPr lang="en-US"/>
              <a:t> Disease-specific mortality rate </a:t>
            </a:r>
            <a:endParaRPr lang="en-GB"/>
          </a:p>
          <a:p>
            <a:pPr>
              <a:buFont typeface="Wingdings" charset="2"/>
              <a:buChar char="l"/>
            </a:pPr>
            <a:r>
              <a:rPr lang="en-US"/>
              <a:t> Case fatality rate</a:t>
            </a:r>
            <a:endParaRPr lang="en-GB"/>
          </a:p>
          <a:p>
            <a:pPr>
              <a:buFont typeface="Wingdings" charset="2"/>
              <a:buChar char="l"/>
            </a:pPr>
            <a:r>
              <a:rPr lang="en-US"/>
              <a:t> Years of potential life lost</a:t>
            </a:r>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14" name="Title 1048713"/>
          <p:cNvSpPr>
            <a:spLocks noGrp="1"/>
          </p:cNvSpPr>
          <p:nvPr>
            <p:ph type="title"/>
          </p:nvPr>
        </p:nvSpPr>
        <p:spPr/>
        <p:txBody>
          <a:bodyPr/>
          <a:lstStyle/>
          <a:p>
            <a:r>
              <a:rPr lang="en-US"/>
              <a:t>Morbidity indicators</a:t>
            </a:r>
            <a:endParaRPr lang="en-GB"/>
          </a:p>
        </p:txBody>
      </p:sp>
      <p:sp>
        <p:nvSpPr>
          <p:cNvPr id="1048715" name="Content Placeholder 1048714"/>
          <p:cNvSpPr>
            <a:spLocks noGrp="1"/>
          </p:cNvSpPr>
          <p:nvPr>
            <p:ph idx="1"/>
          </p:nvPr>
        </p:nvSpPr>
        <p:spPr/>
        <p:txBody>
          <a:bodyPr/>
          <a:lstStyle/>
          <a:p>
            <a:r>
              <a:rPr lang="en-US"/>
              <a:t> Mortality indicators do not reveal the Burden of ill health in the community.</a:t>
            </a:r>
            <a:endParaRPr lang="en-GB"/>
          </a:p>
          <a:p>
            <a:r>
              <a:rPr lang="en-US"/>
              <a:t> Therefore, more morbidity indicators are used to supplement mortality data, to describe the health status of a population morbidity, statistics have also their own drawback. </a:t>
            </a:r>
            <a:endParaRPr lang="en-GB"/>
          </a:p>
          <a:p>
            <a:r>
              <a:rPr lang="en-US"/>
              <a:t>They tend to overlook a large number of conditions which are subclinical or inapparent. That is the hidden part of iceberg disease.</a:t>
            </a:r>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16" name="Title 1048715"/>
          <p:cNvSpPr>
            <a:spLocks noGrp="1"/>
          </p:cNvSpPr>
          <p:nvPr>
            <p:ph type="title"/>
          </p:nvPr>
        </p:nvSpPr>
        <p:spPr/>
        <p:txBody>
          <a:bodyPr>
            <a:normAutofit fontScale="90000"/>
          </a:bodyPr>
          <a:lstStyle/>
          <a:p>
            <a:r>
              <a:rPr lang="en-US"/>
              <a:t>The following morbidity rates are used for assessing ill health in the community:</a:t>
            </a:r>
            <a:endParaRPr lang="en-GB"/>
          </a:p>
        </p:txBody>
      </p:sp>
      <p:sp>
        <p:nvSpPr>
          <p:cNvPr id="1048717" name="Content Placeholder 1048716"/>
          <p:cNvSpPr>
            <a:spLocks noGrp="1"/>
          </p:cNvSpPr>
          <p:nvPr>
            <p:ph idx="1"/>
          </p:nvPr>
        </p:nvSpPr>
        <p:spPr>
          <a:xfrm>
            <a:off x="566444" y="2200508"/>
            <a:ext cx="7886700" cy="4351338"/>
          </a:xfrm>
        </p:spPr>
        <p:txBody>
          <a:bodyPr/>
          <a:lstStyle/>
          <a:p>
            <a:r>
              <a:rPr lang="en-US"/>
              <a:t>Incidents and prevalence</a:t>
            </a:r>
            <a:endParaRPr lang="en-GB"/>
          </a:p>
          <a:p>
            <a:r>
              <a:rPr lang="en-US"/>
              <a:t> notification rates</a:t>
            </a:r>
            <a:endParaRPr lang="en-GB"/>
          </a:p>
          <a:p>
            <a:r>
              <a:rPr lang="en-US"/>
              <a:t> attendance rate at outpatient departments, health centres etc</a:t>
            </a:r>
            <a:endParaRPr lang="en-GB"/>
          </a:p>
          <a:p>
            <a:r>
              <a:rPr lang="en-US"/>
              <a:t> Admission, readmission and discharge rates</a:t>
            </a:r>
            <a:endParaRPr lang="en-GB"/>
          </a:p>
          <a:p>
            <a:r>
              <a:rPr lang="en-US"/>
              <a:t>duration of stay in hospital </a:t>
            </a:r>
            <a:endParaRPr lang="en-GB"/>
          </a:p>
          <a:p>
            <a:r>
              <a:rPr lang="en-US"/>
              <a:t>spells of sickness or absence from work or school</a:t>
            </a:r>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18" name="Title 1048717"/>
          <p:cNvSpPr>
            <a:spLocks noGrp="1"/>
          </p:cNvSpPr>
          <p:nvPr>
            <p:ph type="title"/>
          </p:nvPr>
        </p:nvSpPr>
        <p:spPr/>
        <p:txBody>
          <a:bodyPr/>
          <a:lstStyle/>
          <a:p>
            <a:r>
              <a:rPr lang="en-US"/>
              <a:t>Disability rates</a:t>
            </a:r>
            <a:endParaRPr lang="en-GB"/>
          </a:p>
        </p:txBody>
      </p:sp>
      <p:sp>
        <p:nvSpPr>
          <p:cNvPr id="1048719" name="Content Placeholder 1048718"/>
          <p:cNvSpPr>
            <a:spLocks noGrp="1"/>
          </p:cNvSpPr>
          <p:nvPr>
            <p:ph idx="1"/>
          </p:nvPr>
        </p:nvSpPr>
        <p:spPr/>
        <p:txBody>
          <a:bodyPr/>
          <a:lstStyle/>
          <a:p>
            <a:r>
              <a:rPr lang="en-US"/>
              <a:t> The disability rates are based on the premise or notion that health implies a full range of daily activities.</a:t>
            </a:r>
            <a:endParaRPr lang="en-GB"/>
          </a:p>
          <a:p>
            <a:r>
              <a:rPr lang="en-US"/>
              <a:t> The commonly used disability rates fall into two group.</a:t>
            </a:r>
            <a:endParaRPr lang="en-GB"/>
          </a:p>
          <a:p>
            <a:r>
              <a:rPr lang="en-US"/>
              <a:t>(a) Event-type indicators </a:t>
            </a:r>
            <a:endParaRPr lang="en-GB"/>
          </a:p>
          <a:p>
            <a:r>
              <a:rPr lang="en-US"/>
              <a:t> Number of days of restricted activity </a:t>
            </a:r>
            <a:endParaRPr lang="en-GB"/>
          </a:p>
          <a:p>
            <a:r>
              <a:rPr lang="en-US"/>
              <a:t> Bed disability days</a:t>
            </a:r>
            <a:endParaRPr lang="en-GB"/>
          </a:p>
          <a:p>
            <a:r>
              <a:rPr lang="en-US"/>
              <a:t>Work-loss days within a specified period </a:t>
            </a:r>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21" name="Content Placeholder 1048720"/>
          <p:cNvSpPr>
            <a:spLocks noGrp="1"/>
          </p:cNvSpPr>
          <p:nvPr>
            <p:ph idx="1"/>
          </p:nvPr>
        </p:nvSpPr>
        <p:spPr/>
        <p:txBody>
          <a:bodyPr/>
          <a:lstStyle/>
          <a:p>
            <a:r>
              <a:rPr lang="en-US"/>
              <a:t> (b) Person-type indicators </a:t>
            </a:r>
            <a:endParaRPr lang="en-GB"/>
          </a:p>
          <a:p>
            <a:r>
              <a:rPr lang="en-US"/>
              <a:t> Limitations of mobility: For example, confined to bed, confined to the house, special aid in getting around either inside or outside the house.</a:t>
            </a:r>
            <a:endParaRPr lang="en-GB"/>
          </a:p>
          <a:p>
            <a:r>
              <a:rPr lang="en-US"/>
              <a:t>Limitations of activity: For example, limitation to perform the basic activities of daily living. </a:t>
            </a:r>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23" name="Content Placeholder 1048722"/>
          <p:cNvSpPr>
            <a:spLocks noGrp="1"/>
          </p:cNvSpPr>
          <p:nvPr>
            <p:ph idx="1"/>
          </p:nvPr>
        </p:nvSpPr>
        <p:spPr>
          <a:xfrm>
            <a:off x="628650" y="451052"/>
            <a:ext cx="7886700" cy="5891058"/>
          </a:xfrm>
        </p:spPr>
        <p:txBody>
          <a:bodyPr>
            <a:normAutofit/>
          </a:bodyPr>
          <a:lstStyle/>
          <a:p>
            <a:r>
              <a:rPr lang="en-US" b="1"/>
              <a:t>Health adjusted life expectancy</a:t>
            </a:r>
            <a:r>
              <a:rPr lang="en-US"/>
              <a:t>: The name of the indicator  use to measure healthy life expectancy, has been changed from Disability Adjusted life expectancy to health adjusted life expectancy. </a:t>
            </a:r>
            <a:endParaRPr lang="en-GB"/>
          </a:p>
          <a:p>
            <a:r>
              <a:rPr lang="en-US"/>
              <a:t>It is based on life expectancy at birth, but includes an adjustment for time spent in poor health.</a:t>
            </a:r>
            <a:endParaRPr lang="en-GB"/>
          </a:p>
          <a:p>
            <a:r>
              <a:rPr lang="en-US"/>
              <a:t> </a:t>
            </a:r>
            <a:r>
              <a:rPr lang="en-US" b="1"/>
              <a:t>Quality adjusted life years: </a:t>
            </a:r>
            <a:r>
              <a:rPr lang="en-US"/>
              <a:t>It is a measure of disease burden including both the quality and quantity of life lived.  It is used in assessing the value of money of the medical intervention.</a:t>
            </a:r>
            <a:endParaRPr lang="en-GB"/>
          </a:p>
          <a:p>
            <a:r>
              <a:rPr lang="en-US"/>
              <a:t> It is based on the number of years. Of life that would be added by intervention.</a:t>
            </a:r>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25" name="Content Placeholder 1048724"/>
          <p:cNvSpPr>
            <a:spLocks noGrp="1"/>
          </p:cNvSpPr>
          <p:nvPr>
            <p:ph idx="1"/>
          </p:nvPr>
        </p:nvSpPr>
        <p:spPr>
          <a:xfrm>
            <a:off x="706406" y="560393"/>
            <a:ext cx="7886700" cy="5671239"/>
          </a:xfrm>
        </p:spPr>
        <p:txBody>
          <a:bodyPr>
            <a:normAutofit fontScale="96429"/>
          </a:bodyPr>
          <a:lstStyle/>
          <a:p>
            <a:r>
              <a:rPr lang="en-US"/>
              <a:t> </a:t>
            </a:r>
            <a:r>
              <a:rPr lang="en-US" b="1"/>
              <a:t>Disability free life expectancy:</a:t>
            </a:r>
            <a:r>
              <a:rPr lang="en-US"/>
              <a:t> It is the average number of years. An individual is expected to live free from disability if current pattern of mortality and disability continue to apply.</a:t>
            </a:r>
            <a:endParaRPr lang="en-GB"/>
          </a:p>
          <a:p>
            <a:r>
              <a:rPr lang="en-US" b="1"/>
              <a:t>Disability adjusted life years:</a:t>
            </a:r>
            <a:r>
              <a:rPr lang="en-US"/>
              <a:t> It is the measure of overall disease Burden expressed as a number of years. Lost due to ill health disability or early death. It captures the population impact of important fatal and non-fatal disabling conditions through a single measure. The measure major used as disability adjusted life years which combines:</a:t>
            </a:r>
            <a:endParaRPr lang="en-GB"/>
          </a:p>
          <a:p>
            <a:r>
              <a:rPr lang="en-US"/>
              <a:t> Years of lost life </a:t>
            </a:r>
            <a:endParaRPr lang="en-GB"/>
          </a:p>
          <a:p>
            <a:r>
              <a:rPr lang="en-US"/>
              <a:t> Years lost to disability</a:t>
            </a:r>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26" name="Title 1048725"/>
          <p:cNvSpPr>
            <a:spLocks noGrp="1"/>
          </p:cNvSpPr>
          <p:nvPr>
            <p:ph type="title"/>
          </p:nvPr>
        </p:nvSpPr>
        <p:spPr/>
        <p:txBody>
          <a:bodyPr/>
          <a:lstStyle/>
          <a:p>
            <a:r>
              <a:rPr lang="en-US"/>
              <a:t>Nutritional status indicators</a:t>
            </a:r>
            <a:endParaRPr lang="en-GB"/>
          </a:p>
        </p:txBody>
      </p:sp>
      <p:sp>
        <p:nvSpPr>
          <p:cNvPr id="1048727" name="Content Placeholder 1048726"/>
          <p:cNvSpPr>
            <a:spLocks noGrp="1"/>
          </p:cNvSpPr>
          <p:nvPr>
            <p:ph idx="1"/>
          </p:nvPr>
        </p:nvSpPr>
        <p:spPr/>
        <p:txBody>
          <a:bodyPr/>
          <a:lstStyle/>
          <a:p>
            <a:r>
              <a:rPr lang="en-US"/>
              <a:t> Nutritional status is a positive health indicator. Three nutritional status indicators are considered important as indicators of health status, they are:</a:t>
            </a:r>
            <a:endParaRPr lang="en-GB"/>
          </a:p>
          <a:p>
            <a:r>
              <a:rPr lang="en-US"/>
              <a:t> Anthropometric measurements of preschool children, e.g. weight and height, mid arm circumference.</a:t>
            </a:r>
            <a:endParaRPr lang="en-GB"/>
          </a:p>
          <a:p>
            <a:r>
              <a:rPr lang="en-US"/>
              <a:t> Height and weight of children at School entry.</a:t>
            </a:r>
            <a:endParaRPr lang="en-GB"/>
          </a:p>
          <a:p>
            <a:r>
              <a:rPr lang="en-US"/>
              <a:t>Prevalence of low birth weight, less than 2.5 kg.</a:t>
            </a:r>
            <a:endParaRPr lang="en-GB"/>
          </a:p>
          <a:p>
            <a:endParaRPr lang="en-GB"/>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28" name="Title 1048727"/>
          <p:cNvSpPr>
            <a:spLocks noGrp="1"/>
          </p:cNvSpPr>
          <p:nvPr>
            <p:ph type="title"/>
          </p:nvPr>
        </p:nvSpPr>
        <p:spPr/>
        <p:txBody>
          <a:bodyPr/>
          <a:lstStyle/>
          <a:p>
            <a:r>
              <a:rPr lang="en-US"/>
              <a:t>Health care delivery indicators</a:t>
            </a:r>
            <a:endParaRPr lang="en-GB"/>
          </a:p>
        </p:txBody>
      </p:sp>
      <p:sp>
        <p:nvSpPr>
          <p:cNvPr id="1048729" name="Content Placeholder 1048728"/>
          <p:cNvSpPr>
            <a:spLocks noGrp="1"/>
          </p:cNvSpPr>
          <p:nvPr>
            <p:ph idx="1"/>
          </p:nvPr>
        </p:nvSpPr>
        <p:spPr/>
        <p:txBody>
          <a:bodyPr/>
          <a:lstStyle/>
          <a:p>
            <a:r>
              <a:rPr lang="en-US"/>
              <a:t>Doctor-population ratio</a:t>
            </a:r>
            <a:endParaRPr lang="en-GB"/>
          </a:p>
          <a:p>
            <a:r>
              <a:rPr lang="en-US"/>
              <a:t>doctor-nurse ratio</a:t>
            </a:r>
            <a:endParaRPr lang="en-GB"/>
          </a:p>
          <a:p>
            <a:r>
              <a:rPr lang="en-US"/>
              <a:t>population-bed ratio</a:t>
            </a:r>
            <a:endParaRPr lang="en-GB"/>
          </a:p>
          <a:p>
            <a:r>
              <a:rPr lang="en-US"/>
              <a:t>population per health/subcentre</a:t>
            </a:r>
            <a:endParaRPr lang="en-GB"/>
          </a:p>
          <a:p>
            <a:r>
              <a:rPr lang="en-US"/>
              <a:t> Population per trained birth attendant</a:t>
            </a:r>
            <a:endParaRPr lang="en-GB"/>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30" name="Title 1048729"/>
          <p:cNvSpPr>
            <a:spLocks noGrp="1"/>
          </p:cNvSpPr>
          <p:nvPr>
            <p:ph type="title"/>
          </p:nvPr>
        </p:nvSpPr>
        <p:spPr/>
        <p:txBody>
          <a:bodyPr/>
          <a:lstStyle/>
          <a:p>
            <a:r>
              <a:rPr lang="en-US"/>
              <a:t>Utilization rates</a:t>
            </a:r>
            <a:endParaRPr lang="en-GB"/>
          </a:p>
        </p:txBody>
      </p:sp>
      <p:sp>
        <p:nvSpPr>
          <p:cNvPr id="1048731" name="Content Placeholder 1048730"/>
          <p:cNvSpPr>
            <a:spLocks noGrp="1"/>
          </p:cNvSpPr>
          <p:nvPr>
            <p:ph idx="1"/>
          </p:nvPr>
        </p:nvSpPr>
        <p:spPr/>
        <p:txBody>
          <a:bodyPr/>
          <a:lstStyle/>
          <a:p>
            <a:r>
              <a:rPr lang="en-US"/>
              <a:t> Utilization of services or actual coverage is expressed as the proportion of people in need of a service who actually receive it in a given periodoftime, usually in year.</a:t>
            </a:r>
            <a:endParaRPr lang="en-GB"/>
          </a:p>
          <a:p>
            <a:r>
              <a:rPr lang="en-US"/>
              <a:t>It is argued that utilization rates give some indication of the care needed by the population and therefore the health status of the population.</a:t>
            </a:r>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33" name="Content Placeholder 1048732"/>
          <p:cNvSpPr>
            <a:spLocks noGrp="1"/>
          </p:cNvSpPr>
          <p:nvPr>
            <p:ph idx="1"/>
          </p:nvPr>
        </p:nvSpPr>
        <p:spPr>
          <a:xfrm>
            <a:off x="628650" y="435432"/>
            <a:ext cx="7886700" cy="5928971"/>
          </a:xfrm>
        </p:spPr>
        <p:txBody>
          <a:bodyPr/>
          <a:lstStyle/>
          <a:p>
            <a:r>
              <a:rPr lang="en-US"/>
              <a:t>A few examples of utilization rates are cited below:</a:t>
            </a:r>
            <a:endParaRPr lang="en-GB"/>
          </a:p>
          <a:p>
            <a:r>
              <a:rPr lang="en-US"/>
              <a:t>Proportion of infants who are "fully immunized" against nine EPI diseases.</a:t>
            </a:r>
            <a:endParaRPr lang="en-GB"/>
          </a:p>
          <a:p>
            <a:r>
              <a:rPr lang="en-US"/>
              <a:t> Proportion of pregnant women who received antenatal care, or have their deliveries supervised by trained birth attendant.</a:t>
            </a:r>
            <a:endParaRPr lang="en-GB"/>
          </a:p>
          <a:p>
            <a:r>
              <a:rPr lang="en-US"/>
              <a:t> Percentage of population using the various methods of family planning.</a:t>
            </a:r>
            <a:endParaRPr lang="en-GB"/>
          </a:p>
          <a:p>
            <a:r>
              <a:rPr lang="en-US"/>
              <a:t> Bed occupancy rate</a:t>
            </a:r>
            <a:endParaRPr lang="en-GB"/>
          </a:p>
          <a:p>
            <a:r>
              <a:rPr lang="en-US"/>
              <a:t>Average length of state in hospitals</a:t>
            </a:r>
            <a:endParaRPr lang="en-GB"/>
          </a:p>
          <a:p>
            <a:r>
              <a:rPr lang="en-US"/>
              <a:t>Bed turnover ratio.</a:t>
            </a:r>
            <a:endParaRPr lang="en-GB"/>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34" name="Title 1048733"/>
          <p:cNvSpPr>
            <a:spLocks noGrp="1"/>
          </p:cNvSpPr>
          <p:nvPr>
            <p:ph type="title"/>
          </p:nvPr>
        </p:nvSpPr>
        <p:spPr/>
        <p:txBody>
          <a:bodyPr/>
          <a:lstStyle/>
          <a:p>
            <a:r>
              <a:rPr lang="en-US"/>
              <a:t>Indicators of social and mental health</a:t>
            </a:r>
            <a:endParaRPr lang="en-GB"/>
          </a:p>
        </p:txBody>
      </p:sp>
      <p:sp>
        <p:nvSpPr>
          <p:cNvPr id="1048735" name="Content Placeholder 1048734"/>
          <p:cNvSpPr>
            <a:spLocks noGrp="1"/>
          </p:cNvSpPr>
          <p:nvPr>
            <p:ph idx="1"/>
          </p:nvPr>
        </p:nvSpPr>
        <p:spPr>
          <a:xfrm>
            <a:off x="628650" y="1825625"/>
            <a:ext cx="7886700" cy="4874612"/>
          </a:xfrm>
        </p:spPr>
        <p:txBody>
          <a:bodyPr>
            <a:normAutofit/>
          </a:bodyPr>
          <a:lstStyle/>
          <a:p>
            <a:r>
              <a:rPr lang="en-US"/>
              <a:t> </a:t>
            </a:r>
            <a:r>
              <a:rPr lang="en-US" sz="2400"/>
              <a:t>As long as valid positive indicators of social and mental health are scarce, it is necessary to use indirect measures, viz. indicators of social and mental pathology.</a:t>
            </a:r>
            <a:endParaRPr lang="en-GB" sz="2400"/>
          </a:p>
          <a:p>
            <a:r>
              <a:rPr lang="en-US" sz="2400"/>
              <a:t> These include suicide homicide, other acts of violence and other crime road. Traffic accidents, juvenile delinquency, alcohol and drug abuse, smoking consumption of tranquilizers, obesity, etc.</a:t>
            </a:r>
            <a:endParaRPr lang="en-GB" sz="2400"/>
          </a:p>
          <a:p>
            <a:r>
              <a:rPr lang="en-US" sz="2400"/>
              <a:t> To these may be added family violence,battered wife and battered baby syndromes, and neglected an abandoned youth in the neighbourhood.</a:t>
            </a:r>
            <a:endParaRPr lang="en-GB"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36" name="Title 1048735"/>
          <p:cNvSpPr>
            <a:spLocks noGrp="1"/>
          </p:cNvSpPr>
          <p:nvPr>
            <p:ph type="title"/>
          </p:nvPr>
        </p:nvSpPr>
        <p:spPr/>
        <p:txBody>
          <a:bodyPr/>
          <a:lstStyle/>
          <a:p>
            <a:r>
              <a:rPr lang="en-US"/>
              <a:t>Environmental indicators</a:t>
            </a:r>
            <a:endParaRPr lang="en-GB"/>
          </a:p>
        </p:txBody>
      </p:sp>
      <p:sp>
        <p:nvSpPr>
          <p:cNvPr id="1048737" name="Content Placeholder 1048736"/>
          <p:cNvSpPr>
            <a:spLocks noGrp="1"/>
          </p:cNvSpPr>
          <p:nvPr>
            <p:ph idx="1"/>
          </p:nvPr>
        </p:nvSpPr>
        <p:spPr/>
        <p:txBody>
          <a:bodyPr>
            <a:normAutofit fontScale="96429"/>
          </a:bodyPr>
          <a:lstStyle/>
          <a:p>
            <a:r>
              <a:rPr lang="en-US"/>
              <a:t>Environmental indicators reflect the quality of physical and biological environment in which diseases occur and in which people live. </a:t>
            </a:r>
            <a:endParaRPr lang="en-GB"/>
          </a:p>
          <a:p>
            <a:r>
              <a:rPr lang="en-US"/>
              <a:t>They include indicators relating to pollution of air and water radiation, solid wastes, noise,exposure to toxic substances in food and drinks. </a:t>
            </a:r>
            <a:endParaRPr lang="en-GB"/>
          </a:p>
          <a:p>
            <a:r>
              <a:rPr lang="en-US"/>
              <a:t>Among these, the most useful indicators are those measuring the proportion of population having access to save water and sanitation facilities.</a:t>
            </a:r>
            <a:endParaRPr lang="en-GB"/>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38" name="Title 1048737"/>
          <p:cNvSpPr>
            <a:spLocks noGrp="1"/>
          </p:cNvSpPr>
          <p:nvPr>
            <p:ph type="title"/>
          </p:nvPr>
        </p:nvSpPr>
        <p:spPr/>
        <p:txBody>
          <a:bodyPr/>
          <a:lstStyle/>
          <a:p>
            <a:r>
              <a:rPr lang="en-US"/>
              <a:t>Socio-economic indicators.</a:t>
            </a:r>
            <a:endParaRPr lang="en-GB"/>
          </a:p>
        </p:txBody>
      </p:sp>
      <p:sp>
        <p:nvSpPr>
          <p:cNvPr id="1048739" name="Content Placeholder 1048738"/>
          <p:cNvSpPr>
            <a:spLocks noGrp="1"/>
          </p:cNvSpPr>
          <p:nvPr>
            <p:ph idx="1"/>
          </p:nvPr>
        </p:nvSpPr>
        <p:spPr>
          <a:xfrm>
            <a:off x="628649" y="1481981"/>
            <a:ext cx="7886700" cy="4351338"/>
          </a:xfrm>
        </p:spPr>
        <p:txBody>
          <a:bodyPr>
            <a:normAutofit fontScale="92500" lnSpcReduction="10000"/>
          </a:bodyPr>
          <a:lstStyle/>
          <a:p>
            <a:r>
              <a:rPr lang="en-US"/>
              <a:t> </a:t>
            </a:r>
            <a:r>
              <a:rPr lang="en-US" sz="2400"/>
              <a:t>These indicators do not directly measure health. They are of great importance in interpretation of indicators of health care these include:</a:t>
            </a:r>
            <a:endParaRPr lang="en-GB" sz="2400"/>
          </a:p>
          <a:p>
            <a:r>
              <a:rPr lang="en-US" sz="2400"/>
              <a:t>Rate of population increase </a:t>
            </a:r>
            <a:endParaRPr lang="en-GB" sz="2400"/>
          </a:p>
          <a:p>
            <a:r>
              <a:rPr lang="en-US" sz="2400"/>
              <a:t>per capita GNP </a:t>
            </a:r>
            <a:endParaRPr lang="en-GB" sz="2400"/>
          </a:p>
          <a:p>
            <a:r>
              <a:rPr lang="en-US" sz="2400"/>
              <a:t>level of unemployment </a:t>
            </a:r>
            <a:endParaRPr lang="en-GB" sz="2400"/>
          </a:p>
          <a:p>
            <a:r>
              <a:rPr lang="en-US" sz="2400"/>
              <a:t>Dependency ratio </a:t>
            </a:r>
            <a:endParaRPr lang="en-GB" sz="2400"/>
          </a:p>
          <a:p>
            <a:r>
              <a:rPr lang="en-US" sz="2400"/>
              <a:t>literacy rates, especially female literacy rates,</a:t>
            </a:r>
            <a:endParaRPr lang="en-GB" sz="2400"/>
          </a:p>
          <a:p>
            <a:r>
              <a:rPr lang="en-US" sz="2400"/>
              <a:t>family size</a:t>
            </a:r>
            <a:endParaRPr lang="en-GB" sz="2400"/>
          </a:p>
          <a:p>
            <a:r>
              <a:rPr lang="en-US" sz="2400"/>
              <a:t> housing, the number of persons per room </a:t>
            </a:r>
            <a:endParaRPr lang="en-GB" sz="2400"/>
          </a:p>
          <a:p>
            <a:r>
              <a:rPr lang="en-US" sz="2400"/>
              <a:t>per capita calorie availability</a:t>
            </a:r>
            <a:endParaRPr lang="en-GB"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40" name="Title 1048739"/>
          <p:cNvSpPr>
            <a:spLocks noGrp="1"/>
          </p:cNvSpPr>
          <p:nvPr>
            <p:ph type="title"/>
          </p:nvPr>
        </p:nvSpPr>
        <p:spPr/>
        <p:txBody>
          <a:bodyPr/>
          <a:lstStyle/>
          <a:p>
            <a:r>
              <a:rPr lang="en-US"/>
              <a:t>Health policy indicators</a:t>
            </a:r>
            <a:endParaRPr lang="en-GB"/>
          </a:p>
        </p:txBody>
      </p:sp>
      <p:sp>
        <p:nvSpPr>
          <p:cNvPr id="1048741" name="Content Placeholder 1048740"/>
          <p:cNvSpPr>
            <a:spLocks noGrp="1"/>
          </p:cNvSpPr>
          <p:nvPr>
            <p:ph idx="1"/>
          </p:nvPr>
        </p:nvSpPr>
        <p:spPr/>
        <p:txBody>
          <a:bodyPr/>
          <a:lstStyle/>
          <a:p>
            <a:r>
              <a:rPr lang="en-US"/>
              <a:t> The single most important indicator of political commitment is a location of adequate resources. The relevant indicators are :</a:t>
            </a:r>
            <a:endParaRPr lang="en-GB"/>
          </a:p>
          <a:p>
            <a:r>
              <a:rPr lang="en-US"/>
              <a:t>proportion of GNP spent on health services </a:t>
            </a:r>
            <a:endParaRPr lang="en-GB"/>
          </a:p>
          <a:p>
            <a:r>
              <a:rPr lang="en-US"/>
              <a:t>proportion of GNP spent on health related activities, (including water supply, sanitation housing and nutrition community development)</a:t>
            </a:r>
            <a:endParaRPr lang="en-GB"/>
          </a:p>
          <a:p>
            <a:r>
              <a:rPr lang="en-US"/>
              <a:t>and, proportion of total health resources devoted to primary health care.</a:t>
            </a:r>
            <a:endParaRPr lang="en-GB"/>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42" name="Title 1048741"/>
          <p:cNvSpPr>
            <a:spLocks noGrp="1"/>
          </p:cNvSpPr>
          <p:nvPr>
            <p:ph type="title"/>
          </p:nvPr>
        </p:nvSpPr>
        <p:spPr/>
        <p:txBody>
          <a:bodyPr/>
          <a:lstStyle/>
          <a:p>
            <a:r>
              <a:rPr lang="en-US"/>
              <a:t>Indicators of quality of life</a:t>
            </a:r>
            <a:endParaRPr lang="en-GB"/>
          </a:p>
        </p:txBody>
      </p:sp>
      <p:sp>
        <p:nvSpPr>
          <p:cNvPr id="1048743" name="Content Placeholder 1048742"/>
          <p:cNvSpPr>
            <a:spLocks noGrp="1"/>
          </p:cNvSpPr>
          <p:nvPr>
            <p:ph idx="1"/>
          </p:nvPr>
        </p:nvSpPr>
        <p:spPr/>
        <p:txBody>
          <a:bodyPr/>
          <a:lstStyle/>
          <a:p>
            <a:r>
              <a:rPr lang="en-US"/>
              <a:t>Quality of life is difficult to define and even more difficult to measure. Various attempts have been made to reach one composite index from a number of health indicators. </a:t>
            </a:r>
            <a:endParaRPr lang="en-GB"/>
          </a:p>
          <a:p>
            <a:r>
              <a:rPr lang="en-US"/>
              <a:t>The physical quality of life index is one such index. This consolidates three indicators:</a:t>
            </a:r>
            <a:endParaRPr lang="en-GB"/>
          </a:p>
          <a:p>
            <a:r>
              <a:rPr lang="en-US"/>
              <a:t> infant mortality</a:t>
            </a:r>
            <a:endParaRPr lang="en-GB"/>
          </a:p>
          <a:p>
            <a:r>
              <a:rPr lang="en-US"/>
              <a:t> life expectancy at age one</a:t>
            </a:r>
            <a:endParaRPr lang="en-GB"/>
          </a:p>
          <a:p>
            <a:r>
              <a:rPr lang="en-US"/>
              <a:t> and, literacy.</a:t>
            </a:r>
            <a:endParaRPr lang="en-GB"/>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44" name="Title 1048743"/>
          <p:cNvSpPr>
            <a:spLocks noGrp="1"/>
          </p:cNvSpPr>
          <p:nvPr>
            <p:ph type="title"/>
          </p:nvPr>
        </p:nvSpPr>
        <p:spPr>
          <a:xfrm>
            <a:off x="628649" y="14105"/>
            <a:ext cx="7886700" cy="1325563"/>
          </a:xfrm>
        </p:spPr>
        <p:txBody>
          <a:bodyPr/>
          <a:lstStyle/>
          <a:p>
            <a:r>
              <a:rPr lang="en-US"/>
              <a:t>Social indicators</a:t>
            </a:r>
            <a:endParaRPr lang="en-GB"/>
          </a:p>
        </p:txBody>
      </p:sp>
      <p:sp>
        <p:nvSpPr>
          <p:cNvPr id="1048745" name="Content Placeholder 1048744"/>
          <p:cNvSpPr>
            <a:spLocks noGrp="1"/>
          </p:cNvSpPr>
          <p:nvPr>
            <p:ph idx="1"/>
          </p:nvPr>
        </p:nvSpPr>
        <p:spPr>
          <a:xfrm>
            <a:off x="628648" y="1066315"/>
            <a:ext cx="7886700" cy="5354932"/>
          </a:xfrm>
        </p:spPr>
        <p:txBody>
          <a:bodyPr>
            <a:normAutofit fontScale="92500" lnSpcReduction="20000"/>
          </a:bodyPr>
          <a:lstStyle/>
          <a:p>
            <a:r>
              <a:rPr lang="en-US" sz="2000"/>
              <a:t>Social indicators as defined by United Nations statistical office, Have been divided into twelve categories:</a:t>
            </a:r>
            <a:endParaRPr lang="en-GB" sz="2000"/>
          </a:p>
          <a:p>
            <a:r>
              <a:rPr lang="en-US" sz="2000"/>
              <a:t>population </a:t>
            </a:r>
            <a:endParaRPr lang="en-GB" sz="2000"/>
          </a:p>
          <a:p>
            <a:r>
              <a:rPr lang="en-US" sz="2000"/>
              <a:t>family formation, </a:t>
            </a:r>
            <a:endParaRPr lang="en-GB" sz="2000"/>
          </a:p>
          <a:p>
            <a:r>
              <a:rPr lang="en-US" sz="2000"/>
              <a:t>families, and households,</a:t>
            </a:r>
            <a:endParaRPr lang="en-GB" sz="2000"/>
          </a:p>
          <a:p>
            <a:r>
              <a:rPr lang="en-US" sz="2000"/>
              <a:t> learning and education services, </a:t>
            </a:r>
            <a:endParaRPr lang="en-GB" sz="2000"/>
          </a:p>
          <a:p>
            <a:r>
              <a:rPr lang="en-US" sz="2000"/>
              <a:t>earning activities, </a:t>
            </a:r>
            <a:endParaRPr lang="en-GB" sz="2000"/>
          </a:p>
          <a:p>
            <a:r>
              <a:rPr lang="en-US" sz="2000"/>
              <a:t>distribution of income consumption and accumulation, </a:t>
            </a:r>
            <a:endParaRPr lang="en-GB" sz="2000"/>
          </a:p>
          <a:p>
            <a:r>
              <a:rPr lang="en-US" sz="2000"/>
              <a:t>social security and welfare services, </a:t>
            </a:r>
            <a:endParaRPr lang="en-GB" sz="2000"/>
          </a:p>
          <a:p>
            <a:r>
              <a:rPr lang="en-US" sz="2000"/>
              <a:t>health services and nutrition, </a:t>
            </a:r>
            <a:endParaRPr lang="en-GB" sz="2000"/>
          </a:p>
          <a:p>
            <a:r>
              <a:rPr lang="en-US" sz="2000"/>
              <a:t>housing and its environment, </a:t>
            </a:r>
            <a:endParaRPr lang="en-GB" sz="2000"/>
          </a:p>
          <a:p>
            <a:r>
              <a:rPr lang="en-US" sz="2000"/>
              <a:t>public order and safety </a:t>
            </a:r>
            <a:endParaRPr lang="en-GB" sz="2000"/>
          </a:p>
          <a:p>
            <a:r>
              <a:rPr lang="en-US" sz="2000"/>
              <a:t>time use </a:t>
            </a:r>
            <a:endParaRPr lang="en-GB" sz="2000"/>
          </a:p>
          <a:p>
            <a:r>
              <a:rPr lang="en-US" sz="2000"/>
              <a:t>leisure and culture</a:t>
            </a:r>
            <a:endParaRPr lang="en-GB" sz="2000"/>
          </a:p>
          <a:p>
            <a:r>
              <a:rPr lang="en-US" sz="2000"/>
              <a:t>social statification, </a:t>
            </a:r>
            <a:endParaRPr lang="en-GB" sz="2000"/>
          </a:p>
          <a:p>
            <a:r>
              <a:rPr lang="en-US" sz="2000"/>
              <a:t>and mobility</a:t>
            </a:r>
            <a:endParaRPr lang="en-GB" sz="2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748" name="Title 1048747"/>
          <p:cNvSpPr>
            <a:spLocks noGrp="1"/>
          </p:cNvSpPr>
          <p:nvPr>
            <p:ph type="ctrTitle"/>
          </p:nvPr>
        </p:nvSpPr>
        <p:spPr>
          <a:xfrm>
            <a:off x="685800" y="1997090"/>
            <a:ext cx="7772400" cy="2387600"/>
          </a:xfrm>
        </p:spPr>
        <p:txBody>
          <a:bodyPr/>
          <a:lstStyle/>
          <a:p>
            <a:r>
              <a:rPr lang="en-US" b="1" i="1"/>
              <a:t>Thank you</a:t>
            </a:r>
            <a:endParaRPr lang="en-GB" b="1" i="1"/>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3353</Words>
  <Application>Microsoft Office PowerPoint</Application>
  <PresentationFormat>On-screen Show (4:3)</PresentationFormat>
  <Paragraphs>247</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Times New Roman</vt:lpstr>
      <vt:lpstr>Wingdings</vt:lpstr>
      <vt:lpstr>Office Theme</vt:lpstr>
      <vt:lpstr>CONCEPT OF HEALTH AND DISEASE - II</vt:lpstr>
      <vt:lpstr>PowerPoint Presentation</vt:lpstr>
      <vt:lpstr>BIOLOGICAL DETERMINANTS </vt:lpstr>
      <vt:lpstr>BEHAVIOURAL &amp; SOCIO CULTURAL CONDITIONS </vt:lpstr>
      <vt:lpstr>BEHAVIOUR &amp; LIFE STYLE </vt:lpstr>
      <vt:lpstr>LIFE STYLE ISSUES </vt:lpstr>
      <vt:lpstr>ENVIRONMENT</vt:lpstr>
      <vt:lpstr>PowerPoint Presentation</vt:lpstr>
      <vt:lpstr>SOCIO ECONOMIC CONDITIONS </vt:lpstr>
      <vt:lpstr>ECONOMIC STATUS</vt:lpstr>
      <vt:lpstr>EDUCATION</vt:lpstr>
      <vt:lpstr>OCCUPATION</vt:lpstr>
      <vt:lpstr>POLITICAL SYSTEM </vt:lpstr>
      <vt:lpstr>HEALTH SERVICES</vt:lpstr>
      <vt:lpstr>AGING OF THE POPULATION</vt:lpstr>
      <vt:lpstr>GENDER</vt:lpstr>
      <vt:lpstr>OTHER FACTORS </vt:lpstr>
      <vt:lpstr>ECOLOGY OF HEALTH </vt:lpstr>
      <vt:lpstr>PowerPoint Presentation</vt:lpstr>
      <vt:lpstr>PowerPoint Presentation</vt:lpstr>
      <vt:lpstr>PowerPoint Presentation</vt:lpstr>
      <vt:lpstr>RIGHT TO HEALTH</vt:lpstr>
      <vt:lpstr>PowerPoint Presentation</vt:lpstr>
      <vt:lpstr>PowerPoint Presentation</vt:lpstr>
      <vt:lpstr>PowerPoint Presentation</vt:lpstr>
      <vt:lpstr>RESPONSIBILITY OF HEALTH</vt:lpstr>
      <vt:lpstr>Self-care in health</vt:lpstr>
      <vt:lpstr>COMMUNITY RESPONSIBILITY </vt:lpstr>
      <vt:lpstr>PowerPoint Presentation</vt:lpstr>
      <vt:lpstr>STATE RESPONSIBILITY </vt:lpstr>
      <vt:lpstr>INTERNATIONAL RESPONSIBILITY </vt:lpstr>
      <vt:lpstr>HEALTH AND DEVELOPMENT </vt:lpstr>
      <vt:lpstr>PowerPoint Presentation</vt:lpstr>
      <vt:lpstr>PowerPoint Presentation</vt:lpstr>
      <vt:lpstr>PowerPoint Presentation</vt:lpstr>
      <vt:lpstr>Mortality indicators include:</vt:lpstr>
      <vt:lpstr>Morbidity indicators</vt:lpstr>
      <vt:lpstr>The following morbidity rates are used for assessing ill health in the community:</vt:lpstr>
      <vt:lpstr>Disability rates</vt:lpstr>
      <vt:lpstr>PowerPoint Presentation</vt:lpstr>
      <vt:lpstr>PowerPoint Presentation</vt:lpstr>
      <vt:lpstr>PowerPoint Presentation</vt:lpstr>
      <vt:lpstr>Nutritional status indicators</vt:lpstr>
      <vt:lpstr>Health care delivery indicators</vt:lpstr>
      <vt:lpstr>Utilization rates</vt:lpstr>
      <vt:lpstr>PowerPoint Presentation</vt:lpstr>
      <vt:lpstr>Indicators of social and mental health</vt:lpstr>
      <vt:lpstr>Environmental indicators</vt:lpstr>
      <vt:lpstr>Socio-economic indicators.</vt:lpstr>
      <vt:lpstr>Health policy indicators</vt:lpstr>
      <vt:lpstr>Indicators of quality of life</vt:lpstr>
      <vt:lpstr>Social indicators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OF HEALTH AND DISEASE - II</dc:title>
  <dc:creator>SM-P610</dc:creator>
  <cp:lastModifiedBy>mukul maheshwari</cp:lastModifiedBy>
  <cp:revision>1</cp:revision>
  <dcterms:created xsi:type="dcterms:W3CDTF">2015-05-11T11:30:45Z</dcterms:created>
  <dcterms:modified xsi:type="dcterms:W3CDTF">2023-12-01T04:10:40Z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392dc1a19f71439fb6781f5eed4fbfd8</vt:lpwstr>
  </property>
</Properties>
</file>