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76"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11/23/2023</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11/23/2023</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11/23/2023</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11/23/2023</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11/23/2023</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59607-1FE3-D81F-045A-2F7C2B421280}"/>
              </a:ext>
            </a:extLst>
          </p:cNvPr>
          <p:cNvSpPr>
            <a:spLocks noGrp="1"/>
          </p:cNvSpPr>
          <p:nvPr>
            <p:ph type="ctrTitle"/>
          </p:nvPr>
        </p:nvSpPr>
        <p:spPr>
          <a:xfrm>
            <a:off x="581194" y="692727"/>
            <a:ext cx="10993546" cy="2294659"/>
          </a:xfrm>
        </p:spPr>
        <p:txBody>
          <a:bodyPr>
            <a:noAutofit/>
          </a:bodyPr>
          <a:lstStyle/>
          <a:p>
            <a:pPr algn="ctr"/>
            <a:r>
              <a:rPr lang="en-US" sz="6000" dirty="0"/>
              <a:t>Concept of health and disease </a:t>
            </a:r>
          </a:p>
        </p:txBody>
      </p:sp>
    </p:spTree>
    <p:extLst>
      <p:ext uri="{BB962C8B-B14F-4D97-AF65-F5344CB8AC3E}">
        <p14:creationId xmlns:p14="http://schemas.microsoft.com/office/powerpoint/2010/main" val="654962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E0763-9C5F-5767-9D1E-00BDA7CE6EB7}"/>
              </a:ext>
            </a:extLst>
          </p:cNvPr>
          <p:cNvSpPr>
            <a:spLocks noGrp="1"/>
          </p:cNvSpPr>
          <p:nvPr>
            <p:ph type="title"/>
          </p:nvPr>
        </p:nvSpPr>
        <p:spPr>
          <a:xfrm>
            <a:off x="581192" y="702156"/>
            <a:ext cx="11029616" cy="1018838"/>
          </a:xfrm>
        </p:spPr>
        <p:txBody>
          <a:bodyPr>
            <a:normAutofit/>
          </a:bodyPr>
          <a:lstStyle/>
          <a:p>
            <a:r>
              <a:rPr lang="en-US" sz="3600" dirty="0"/>
              <a:t>Concept of health </a:t>
            </a:r>
          </a:p>
        </p:txBody>
      </p:sp>
      <p:sp>
        <p:nvSpPr>
          <p:cNvPr id="3" name="Content Placeholder 2">
            <a:extLst>
              <a:ext uri="{FF2B5EF4-FFF2-40B4-BE49-F238E27FC236}">
                <a16:creationId xmlns:a16="http://schemas.microsoft.com/office/drawing/2014/main" id="{2F8A1E4B-DD95-66B8-9CE8-14A3CA1B01AC}"/>
              </a:ext>
            </a:extLst>
          </p:cNvPr>
          <p:cNvSpPr>
            <a:spLocks noGrp="1"/>
          </p:cNvSpPr>
          <p:nvPr>
            <p:ph idx="1"/>
          </p:nvPr>
        </p:nvSpPr>
        <p:spPr>
          <a:xfrm>
            <a:off x="378836" y="2180496"/>
            <a:ext cx="11231972" cy="5298794"/>
          </a:xfrm>
        </p:spPr>
        <p:txBody>
          <a:bodyPr/>
          <a:lstStyle/>
          <a:p>
            <a:r>
              <a:rPr lang="en-US" sz="4000" dirty="0"/>
              <a:t>1. Biomedical Concept</a:t>
            </a:r>
          </a:p>
          <a:p>
            <a:r>
              <a:rPr lang="en-US" sz="4000" dirty="0"/>
              <a:t>2. Ecological Concept</a:t>
            </a:r>
          </a:p>
          <a:p>
            <a:r>
              <a:rPr lang="en-US" sz="4000" dirty="0"/>
              <a:t>3. Psychosocial Concept</a:t>
            </a:r>
          </a:p>
          <a:p>
            <a:r>
              <a:rPr lang="en-US" sz="4000" dirty="0"/>
              <a:t>4. Holistic Concept</a:t>
            </a:r>
          </a:p>
          <a:p>
            <a:endParaRPr lang="en-US" dirty="0"/>
          </a:p>
        </p:txBody>
      </p:sp>
    </p:spTree>
    <p:extLst>
      <p:ext uri="{BB962C8B-B14F-4D97-AF65-F5344CB8AC3E}">
        <p14:creationId xmlns:p14="http://schemas.microsoft.com/office/powerpoint/2010/main" val="1867258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193F1-304F-55BE-BFD8-E183758B8D11}"/>
              </a:ext>
            </a:extLst>
          </p:cNvPr>
          <p:cNvSpPr>
            <a:spLocks noGrp="1"/>
          </p:cNvSpPr>
          <p:nvPr>
            <p:ph type="title"/>
          </p:nvPr>
        </p:nvSpPr>
        <p:spPr/>
        <p:txBody>
          <a:bodyPr/>
          <a:lstStyle/>
          <a:p>
            <a:r>
              <a:rPr lang="en-US" dirty="0"/>
              <a:t>DEFINITION OF HEALTH</a:t>
            </a:r>
          </a:p>
        </p:txBody>
      </p:sp>
      <p:sp>
        <p:nvSpPr>
          <p:cNvPr id="3" name="Content Placeholder 2">
            <a:extLst>
              <a:ext uri="{FF2B5EF4-FFF2-40B4-BE49-F238E27FC236}">
                <a16:creationId xmlns:a16="http://schemas.microsoft.com/office/drawing/2014/main" id="{31068E27-520D-3B02-665A-82599B9AF754}"/>
              </a:ext>
            </a:extLst>
          </p:cNvPr>
          <p:cNvSpPr>
            <a:spLocks noGrp="1"/>
          </p:cNvSpPr>
          <p:nvPr>
            <p:ph idx="1"/>
          </p:nvPr>
        </p:nvSpPr>
        <p:spPr/>
        <p:txBody>
          <a:bodyPr>
            <a:normAutofit/>
          </a:bodyPr>
          <a:lstStyle/>
          <a:p>
            <a:r>
              <a:rPr lang="en-US" sz="3200" dirty="0"/>
              <a:t>The widely accepted definition of health is that given by the World Health Organization (1948) in the preamble to its constitution, which is as follows:</a:t>
            </a:r>
          </a:p>
          <a:p>
            <a:pPr marL="0" indent="0" algn="ctr">
              <a:buNone/>
            </a:pPr>
            <a:r>
              <a:rPr lang="en-US" sz="3200" i="1" dirty="0"/>
              <a:t>“Health is a state of complete physical, mental and social well-being and not merely an absence of disease or infirmity”.</a:t>
            </a:r>
          </a:p>
        </p:txBody>
      </p:sp>
    </p:spTree>
    <p:extLst>
      <p:ext uri="{BB962C8B-B14F-4D97-AF65-F5344CB8AC3E}">
        <p14:creationId xmlns:p14="http://schemas.microsoft.com/office/powerpoint/2010/main" val="2877590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7FD83-E68C-1DA2-24B2-ABD2CAA137FC}"/>
              </a:ext>
            </a:extLst>
          </p:cNvPr>
          <p:cNvSpPr>
            <a:spLocks noGrp="1"/>
          </p:cNvSpPr>
          <p:nvPr>
            <p:ph type="title"/>
          </p:nvPr>
        </p:nvSpPr>
        <p:spPr/>
        <p:txBody>
          <a:bodyPr/>
          <a:lstStyle/>
          <a:p>
            <a:r>
              <a:rPr lang="en-US" dirty="0"/>
              <a:t>Biomedical concept</a:t>
            </a:r>
          </a:p>
        </p:txBody>
      </p:sp>
      <p:sp>
        <p:nvSpPr>
          <p:cNvPr id="3" name="Content Placeholder 2">
            <a:extLst>
              <a:ext uri="{FF2B5EF4-FFF2-40B4-BE49-F238E27FC236}">
                <a16:creationId xmlns:a16="http://schemas.microsoft.com/office/drawing/2014/main" id="{503AB3DC-9028-99E7-135D-99FC3268725A}"/>
              </a:ext>
            </a:extLst>
          </p:cNvPr>
          <p:cNvSpPr>
            <a:spLocks noGrp="1"/>
          </p:cNvSpPr>
          <p:nvPr>
            <p:ph idx="1"/>
          </p:nvPr>
        </p:nvSpPr>
        <p:spPr>
          <a:xfrm>
            <a:off x="462130" y="432955"/>
            <a:ext cx="11029616" cy="7901420"/>
          </a:xfrm>
        </p:spPr>
        <p:txBody>
          <a:bodyPr>
            <a:noAutofit/>
          </a:bodyPr>
          <a:lstStyle/>
          <a:p>
            <a:r>
              <a:rPr lang="en-US" sz="1600" dirty="0"/>
              <a:t>This concept has the basis in the “germ theory of disease” which dominated medical thought at the turn of the disease.
The criticism that is levelled against the biomedical concept is that it has minimized the role of the environmental, social, psychological and cultural determinants of health.
The biomedical model was found inadequate to solve some of the major problems of mankind such as:
Malnutrition 
Chronic diseases
Accidents 
Drug abuse 
Mental illness 
Environmental pollution 
Population explosion </a:t>
            </a:r>
          </a:p>
        </p:txBody>
      </p:sp>
    </p:spTree>
    <p:extLst>
      <p:ext uri="{BB962C8B-B14F-4D97-AF65-F5344CB8AC3E}">
        <p14:creationId xmlns:p14="http://schemas.microsoft.com/office/powerpoint/2010/main" val="519737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CF80-1C49-5059-EB83-34A0890E1162}"/>
              </a:ext>
            </a:extLst>
          </p:cNvPr>
          <p:cNvSpPr>
            <a:spLocks noGrp="1"/>
          </p:cNvSpPr>
          <p:nvPr>
            <p:ph type="title"/>
          </p:nvPr>
        </p:nvSpPr>
        <p:spPr/>
        <p:txBody>
          <a:bodyPr/>
          <a:lstStyle/>
          <a:p>
            <a:r>
              <a:rPr lang="en-US" dirty="0"/>
              <a:t>Ecological concept</a:t>
            </a:r>
          </a:p>
        </p:txBody>
      </p:sp>
      <p:sp>
        <p:nvSpPr>
          <p:cNvPr id="3" name="Content Placeholder 2">
            <a:extLst>
              <a:ext uri="{FF2B5EF4-FFF2-40B4-BE49-F238E27FC236}">
                <a16:creationId xmlns:a16="http://schemas.microsoft.com/office/drawing/2014/main" id="{177E391A-9F14-6D7C-C0C2-0FFC8BC6F0E6}"/>
              </a:ext>
            </a:extLst>
          </p:cNvPr>
          <p:cNvSpPr>
            <a:spLocks noGrp="1"/>
          </p:cNvSpPr>
          <p:nvPr>
            <p:ph idx="1"/>
          </p:nvPr>
        </p:nvSpPr>
        <p:spPr>
          <a:xfrm>
            <a:off x="487074" y="508723"/>
            <a:ext cx="11123733" cy="5647122"/>
          </a:xfrm>
        </p:spPr>
        <p:txBody>
          <a:bodyPr/>
          <a:lstStyle/>
          <a:p>
            <a:r>
              <a:rPr lang="en-US" dirty="0"/>
              <a:t>This concept views health as a dynamic equilibrium between man and his </a:t>
            </a:r>
            <a:r>
              <a:rPr lang="en-US" dirty="0" err="1"/>
              <a:t>environment,and</a:t>
            </a:r>
            <a:r>
              <a:rPr lang="en-US" dirty="0"/>
              <a:t> disease a maladjustment of the human organism to environment.
Human, ecological and cultural adaptations do determine not only the occurrence of disease but also the availability of food and the population explosion.
The ecological concept raises two issues:
      ☆ imperfect man
      ☆ imperfect environment </a:t>
            </a:r>
          </a:p>
        </p:txBody>
      </p:sp>
    </p:spTree>
    <p:extLst>
      <p:ext uri="{BB962C8B-B14F-4D97-AF65-F5344CB8AC3E}">
        <p14:creationId xmlns:p14="http://schemas.microsoft.com/office/powerpoint/2010/main" val="3151788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9089F-7012-03A2-376B-2E301D163D50}"/>
              </a:ext>
            </a:extLst>
          </p:cNvPr>
          <p:cNvSpPr>
            <a:spLocks noGrp="1"/>
          </p:cNvSpPr>
          <p:nvPr>
            <p:ph type="title"/>
          </p:nvPr>
        </p:nvSpPr>
        <p:spPr/>
        <p:txBody>
          <a:bodyPr/>
          <a:lstStyle/>
          <a:p>
            <a:r>
              <a:rPr lang="en-US" dirty="0"/>
              <a:t>Psychosocial concept</a:t>
            </a:r>
          </a:p>
        </p:txBody>
      </p:sp>
      <p:sp>
        <p:nvSpPr>
          <p:cNvPr id="3" name="Content Placeholder 2">
            <a:extLst>
              <a:ext uri="{FF2B5EF4-FFF2-40B4-BE49-F238E27FC236}">
                <a16:creationId xmlns:a16="http://schemas.microsoft.com/office/drawing/2014/main" id="{42375C07-9423-0F78-3B25-5BF017AFE8AF}"/>
              </a:ext>
            </a:extLst>
          </p:cNvPr>
          <p:cNvSpPr>
            <a:spLocks noGrp="1"/>
          </p:cNvSpPr>
          <p:nvPr>
            <p:ph idx="1"/>
          </p:nvPr>
        </p:nvSpPr>
        <p:spPr>
          <a:xfrm>
            <a:off x="656959" y="2191320"/>
            <a:ext cx="11029615" cy="3678303"/>
          </a:xfrm>
        </p:spPr>
        <p:txBody>
          <a:bodyPr/>
          <a:lstStyle/>
          <a:p>
            <a:pPr marL="0" indent="0">
              <a:buNone/>
            </a:pPr>
            <a:r>
              <a:rPr lang="en-US" dirty="0"/>
              <a:t>Contemporary developments in social sciences revealed that health is not only a biomedical phenomenon, but one which is influenced by social, psychological, cultural, economic and political factors of the people concerned.</a:t>
            </a:r>
          </a:p>
        </p:txBody>
      </p:sp>
    </p:spTree>
    <p:extLst>
      <p:ext uri="{BB962C8B-B14F-4D97-AF65-F5344CB8AC3E}">
        <p14:creationId xmlns:p14="http://schemas.microsoft.com/office/powerpoint/2010/main" val="2007259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C1E4A-3566-59E2-2990-5225357A82BE}"/>
              </a:ext>
            </a:extLst>
          </p:cNvPr>
          <p:cNvSpPr>
            <a:spLocks noGrp="1"/>
          </p:cNvSpPr>
          <p:nvPr>
            <p:ph type="title"/>
          </p:nvPr>
        </p:nvSpPr>
        <p:spPr/>
        <p:txBody>
          <a:bodyPr/>
          <a:lstStyle/>
          <a:p>
            <a:r>
              <a:rPr lang="en-US" dirty="0"/>
              <a:t>Holistic Concept</a:t>
            </a:r>
          </a:p>
        </p:txBody>
      </p:sp>
      <p:sp>
        <p:nvSpPr>
          <p:cNvPr id="3" name="Content Placeholder 2">
            <a:extLst>
              <a:ext uri="{FF2B5EF4-FFF2-40B4-BE49-F238E27FC236}">
                <a16:creationId xmlns:a16="http://schemas.microsoft.com/office/drawing/2014/main" id="{C8AEE215-E3F6-8E12-D4A4-BB432FEF3827}"/>
              </a:ext>
            </a:extLst>
          </p:cNvPr>
          <p:cNvSpPr>
            <a:spLocks noGrp="1"/>
          </p:cNvSpPr>
          <p:nvPr>
            <p:ph idx="1"/>
          </p:nvPr>
        </p:nvSpPr>
        <p:spPr/>
        <p:txBody>
          <a:bodyPr>
            <a:normAutofit lnSpcReduction="10000"/>
          </a:bodyPr>
          <a:lstStyle/>
          <a:p>
            <a:r>
              <a:rPr lang="en-GB" dirty="0">
                <a:effectLst/>
              </a:rPr>
              <a:t>This concept is a synthesis of all the above concepts.</a:t>
            </a:r>
            <a:br>
              <a:rPr lang="en-GB" dirty="0"/>
            </a:br>
            <a:r>
              <a:rPr lang="en-GB" dirty="0">
                <a:effectLst/>
              </a:rPr>
              <a:t>It recognizes the strength of social, economic, political and environmental influences on health.</a:t>
            </a:r>
            <a:br>
              <a:rPr lang="en-GB" dirty="0"/>
            </a:br>
            <a:r>
              <a:rPr lang="en-GB" dirty="0">
                <a:effectLst/>
              </a:rPr>
              <a:t>The holistic approach implies that all sectors of society have an effect on health like:</a:t>
            </a:r>
            <a:br>
              <a:rPr lang="en-GB" dirty="0"/>
            </a:br>
            <a:r>
              <a:rPr lang="en-GB" dirty="0">
                <a:effectLst/>
              </a:rPr>
              <a:t>Agriculture </a:t>
            </a:r>
            <a:br>
              <a:rPr lang="en-GB" dirty="0"/>
            </a:br>
            <a:r>
              <a:rPr lang="en-GB" dirty="0">
                <a:effectLst/>
              </a:rPr>
              <a:t>Animal husbandry</a:t>
            </a:r>
            <a:br>
              <a:rPr lang="en-GB" dirty="0"/>
            </a:br>
            <a:r>
              <a:rPr lang="en-GB" dirty="0">
                <a:effectLst/>
              </a:rPr>
              <a:t>Food</a:t>
            </a:r>
            <a:br>
              <a:rPr lang="en-GB" dirty="0"/>
            </a:br>
            <a:r>
              <a:rPr lang="en-GB" dirty="0">
                <a:effectLst/>
              </a:rPr>
              <a:t>Industry</a:t>
            </a:r>
            <a:br>
              <a:rPr lang="en-GB" dirty="0"/>
            </a:br>
            <a:r>
              <a:rPr lang="en-GB" dirty="0">
                <a:effectLst/>
              </a:rPr>
              <a:t>Education</a:t>
            </a:r>
            <a:br>
              <a:rPr lang="en-GB" dirty="0"/>
            </a:br>
            <a:r>
              <a:rPr lang="en-GB" dirty="0">
                <a:effectLst/>
              </a:rPr>
              <a:t>Housing </a:t>
            </a:r>
            <a:br>
              <a:rPr lang="en-GB" dirty="0"/>
            </a:br>
            <a:r>
              <a:rPr lang="en-GB" dirty="0">
                <a:effectLst/>
              </a:rPr>
              <a:t>Public works</a:t>
            </a:r>
            <a:br>
              <a:rPr lang="en-GB" dirty="0"/>
            </a:br>
            <a:r>
              <a:rPr lang="en-GB" dirty="0">
                <a:effectLst/>
              </a:rPr>
              <a:t>Communications and other sectors.</a:t>
            </a:r>
            <a:br>
              <a:rPr lang="en-GB" dirty="0"/>
            </a:br>
            <a:r>
              <a:rPr lang="en-GB" dirty="0">
                <a:effectLst/>
              </a:rPr>
              <a:t>The emphasis is on the promotion and protection of health.</a:t>
            </a:r>
            <a:br>
              <a:rPr lang="en-GB" dirty="0"/>
            </a:br>
            <a:endParaRPr lang="en-US" dirty="0"/>
          </a:p>
          <a:p>
            <a:endParaRPr lang="en-US" dirty="0"/>
          </a:p>
        </p:txBody>
      </p:sp>
    </p:spTree>
    <p:extLst>
      <p:ext uri="{BB962C8B-B14F-4D97-AF65-F5344CB8AC3E}">
        <p14:creationId xmlns:p14="http://schemas.microsoft.com/office/powerpoint/2010/main" val="3325433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558FC-B0BF-E22A-5132-52416312E370}"/>
              </a:ext>
            </a:extLst>
          </p:cNvPr>
          <p:cNvSpPr>
            <a:spLocks noGrp="1"/>
          </p:cNvSpPr>
          <p:nvPr>
            <p:ph type="title"/>
          </p:nvPr>
        </p:nvSpPr>
        <p:spPr/>
        <p:txBody>
          <a:bodyPr/>
          <a:lstStyle/>
          <a:p>
            <a:r>
              <a:rPr lang="en-US" dirty="0"/>
              <a:t>New philosophy of health</a:t>
            </a:r>
          </a:p>
        </p:txBody>
      </p:sp>
      <p:sp>
        <p:nvSpPr>
          <p:cNvPr id="3" name="Content Placeholder 2">
            <a:extLst>
              <a:ext uri="{FF2B5EF4-FFF2-40B4-BE49-F238E27FC236}">
                <a16:creationId xmlns:a16="http://schemas.microsoft.com/office/drawing/2014/main" id="{964FC36D-CE5E-C4FC-E96F-C101E3E629F8}"/>
              </a:ext>
            </a:extLst>
          </p:cNvPr>
          <p:cNvSpPr>
            <a:spLocks noGrp="1"/>
          </p:cNvSpPr>
          <p:nvPr>
            <p:ph idx="1"/>
          </p:nvPr>
        </p:nvSpPr>
        <p:spPr>
          <a:xfrm>
            <a:off x="581192" y="2169672"/>
            <a:ext cx="11029615" cy="4389589"/>
          </a:xfrm>
        </p:spPr>
        <p:txBody>
          <a:bodyPr/>
          <a:lstStyle/>
          <a:p>
            <a:r>
              <a:rPr lang="en-US" dirty="0"/>
              <a:t>Health is a fundamental human right.</a:t>
            </a:r>
          </a:p>
          <a:p>
            <a:r>
              <a:rPr lang="en-US" dirty="0"/>
              <a:t>Health is the essence of productive life, and not the result of e </a:t>
            </a:r>
            <a:r>
              <a:rPr lang="en-US" dirty="0" err="1"/>
              <a:t>er</a:t>
            </a:r>
            <a:r>
              <a:rPr lang="en-US" dirty="0"/>
              <a:t> increasing expenditure on medical care.</a:t>
            </a:r>
          </a:p>
          <a:p>
            <a:r>
              <a:rPr lang="en-US" dirty="0"/>
              <a:t>Health is </a:t>
            </a:r>
            <a:r>
              <a:rPr lang="en-US" dirty="0" err="1"/>
              <a:t>intersectoral</a:t>
            </a:r>
            <a:r>
              <a:rPr lang="en-US" dirty="0"/>
              <a:t>.</a:t>
            </a:r>
          </a:p>
          <a:p>
            <a:r>
              <a:rPr lang="en-US" dirty="0"/>
              <a:t> Health is an integral part of development.</a:t>
            </a:r>
          </a:p>
          <a:p>
            <a:r>
              <a:rPr lang="en-US" dirty="0"/>
              <a:t>Health is central to the concept of quality of life.</a:t>
            </a:r>
          </a:p>
          <a:p>
            <a:r>
              <a:rPr lang="en-US" dirty="0"/>
              <a:t>Health involves individuals, state and international responsibility.</a:t>
            </a:r>
          </a:p>
          <a:p>
            <a:r>
              <a:rPr lang="en-US" dirty="0"/>
              <a:t>Health and its maintenance is a major social investment.</a:t>
            </a:r>
          </a:p>
          <a:p>
            <a:r>
              <a:rPr lang="en-US" dirty="0"/>
              <a:t>Health is a worldwide social goal.</a:t>
            </a:r>
          </a:p>
        </p:txBody>
      </p:sp>
    </p:spTree>
    <p:extLst>
      <p:ext uri="{BB962C8B-B14F-4D97-AF65-F5344CB8AC3E}">
        <p14:creationId xmlns:p14="http://schemas.microsoft.com/office/powerpoint/2010/main" val="685791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7C4B6-1182-0206-2990-B7910A9EB5C9}"/>
              </a:ext>
            </a:extLst>
          </p:cNvPr>
          <p:cNvSpPr>
            <a:spLocks noGrp="1"/>
          </p:cNvSpPr>
          <p:nvPr>
            <p:ph type="title"/>
          </p:nvPr>
        </p:nvSpPr>
        <p:spPr/>
        <p:txBody>
          <a:bodyPr/>
          <a:lstStyle/>
          <a:p>
            <a:r>
              <a:rPr lang="en-US" dirty="0"/>
              <a:t>Dimensions of health </a:t>
            </a:r>
          </a:p>
        </p:txBody>
      </p:sp>
      <p:sp>
        <p:nvSpPr>
          <p:cNvPr id="3" name="Content Placeholder 2">
            <a:extLst>
              <a:ext uri="{FF2B5EF4-FFF2-40B4-BE49-F238E27FC236}">
                <a16:creationId xmlns:a16="http://schemas.microsoft.com/office/drawing/2014/main" id="{7DC67BBB-3302-8D38-36B4-6BBD65170A90}"/>
              </a:ext>
            </a:extLst>
          </p:cNvPr>
          <p:cNvSpPr>
            <a:spLocks noGrp="1"/>
          </p:cNvSpPr>
          <p:nvPr>
            <p:ph idx="1"/>
          </p:nvPr>
        </p:nvSpPr>
        <p:spPr>
          <a:xfrm>
            <a:off x="487074" y="2180496"/>
            <a:ext cx="11123733" cy="4562771"/>
          </a:xfrm>
        </p:spPr>
        <p:txBody>
          <a:bodyPr>
            <a:normAutofit/>
          </a:bodyPr>
          <a:lstStyle/>
          <a:p>
            <a:pPr marL="342900" indent="-342900">
              <a:buFont typeface="+mj-lt"/>
              <a:buAutoNum type="arabicPeriod"/>
            </a:pPr>
            <a:r>
              <a:rPr lang="en-US" sz="2800" dirty="0"/>
              <a:t>Physical dimension </a:t>
            </a:r>
          </a:p>
          <a:p>
            <a:pPr marL="342900" indent="-342900">
              <a:buFont typeface="+mj-lt"/>
              <a:buAutoNum type="arabicPeriod"/>
            </a:pPr>
            <a:r>
              <a:rPr lang="en-US" sz="2800" dirty="0"/>
              <a:t>Mental dimension </a:t>
            </a:r>
          </a:p>
          <a:p>
            <a:pPr marL="342900" indent="-342900">
              <a:buFont typeface="+mj-lt"/>
              <a:buAutoNum type="arabicPeriod"/>
            </a:pPr>
            <a:r>
              <a:rPr lang="en-US" sz="2800" dirty="0"/>
              <a:t>Social dimension</a:t>
            </a:r>
          </a:p>
          <a:p>
            <a:pPr marL="342900" indent="-342900">
              <a:buFont typeface="+mj-lt"/>
              <a:buAutoNum type="arabicPeriod"/>
            </a:pPr>
            <a:r>
              <a:rPr lang="en-US" sz="2800" dirty="0"/>
              <a:t>Spiritual dimension </a:t>
            </a:r>
          </a:p>
          <a:p>
            <a:pPr marL="342900" indent="-342900">
              <a:buFont typeface="+mj-lt"/>
              <a:buAutoNum type="arabicPeriod"/>
            </a:pPr>
            <a:r>
              <a:rPr lang="en-US" sz="2800" dirty="0"/>
              <a:t>Emotional dimension </a:t>
            </a:r>
          </a:p>
          <a:p>
            <a:pPr marL="342900" indent="-342900">
              <a:buFont typeface="+mj-lt"/>
              <a:buAutoNum type="arabicPeriod"/>
            </a:pPr>
            <a:r>
              <a:rPr lang="en-US" sz="2800" dirty="0"/>
              <a:t>Vocational dimension</a:t>
            </a:r>
          </a:p>
        </p:txBody>
      </p:sp>
    </p:spTree>
    <p:extLst>
      <p:ext uri="{BB962C8B-B14F-4D97-AF65-F5344CB8AC3E}">
        <p14:creationId xmlns:p14="http://schemas.microsoft.com/office/powerpoint/2010/main" val="2563190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0371B0-3081-600B-4278-A889915E5228}"/>
              </a:ext>
            </a:extLst>
          </p:cNvPr>
          <p:cNvSpPr>
            <a:spLocks noGrp="1"/>
          </p:cNvSpPr>
          <p:nvPr>
            <p:ph idx="1"/>
          </p:nvPr>
        </p:nvSpPr>
        <p:spPr>
          <a:xfrm>
            <a:off x="440482" y="2526859"/>
            <a:ext cx="11029615" cy="3678303"/>
          </a:xfrm>
        </p:spPr>
        <p:txBody>
          <a:bodyPr>
            <a:noAutofit/>
          </a:bodyPr>
          <a:lstStyle/>
          <a:p>
            <a:pPr marL="342900" indent="-342900">
              <a:buAutoNum type="arabicPeriod" startAt="7"/>
            </a:pPr>
            <a:r>
              <a:rPr lang="en-US" sz="2400" dirty="0"/>
              <a:t>Others:</a:t>
            </a:r>
          </a:p>
          <a:p>
            <a:r>
              <a:rPr lang="en-US" sz="2400" dirty="0"/>
              <a:t>Philosophical dimension </a:t>
            </a:r>
          </a:p>
          <a:p>
            <a:r>
              <a:rPr lang="en-US" sz="2400" dirty="0"/>
              <a:t>Cultural dimension </a:t>
            </a:r>
          </a:p>
          <a:p>
            <a:r>
              <a:rPr lang="en-US" sz="2400" dirty="0"/>
              <a:t>Socio-economic dimension </a:t>
            </a:r>
          </a:p>
          <a:p>
            <a:r>
              <a:rPr lang="en-US" sz="2400" dirty="0"/>
              <a:t>Environmental dimension </a:t>
            </a:r>
          </a:p>
          <a:p>
            <a:r>
              <a:rPr lang="en-US" sz="2400" dirty="0"/>
              <a:t>Educational dimension </a:t>
            </a:r>
          </a:p>
          <a:p>
            <a:r>
              <a:rPr lang="en-US" sz="2400" dirty="0"/>
              <a:t>Nutritional dimension </a:t>
            </a:r>
          </a:p>
          <a:p>
            <a:r>
              <a:rPr lang="en-US" sz="2400" dirty="0"/>
              <a:t>Curative dimension </a:t>
            </a:r>
          </a:p>
          <a:p>
            <a:r>
              <a:rPr lang="en-US" sz="2400" dirty="0"/>
              <a:t>Preventive dimension</a:t>
            </a:r>
          </a:p>
        </p:txBody>
      </p:sp>
    </p:spTree>
    <p:extLst>
      <p:ext uri="{BB962C8B-B14F-4D97-AF65-F5344CB8AC3E}">
        <p14:creationId xmlns:p14="http://schemas.microsoft.com/office/powerpoint/2010/main" val="3458757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CEC00-5F11-C62E-D9B3-EB99C6CCD91A}"/>
              </a:ext>
            </a:extLst>
          </p:cNvPr>
          <p:cNvSpPr>
            <a:spLocks noGrp="1"/>
          </p:cNvSpPr>
          <p:nvPr>
            <p:ph type="title"/>
          </p:nvPr>
        </p:nvSpPr>
        <p:spPr/>
        <p:txBody>
          <a:bodyPr/>
          <a:lstStyle/>
          <a:p>
            <a:r>
              <a:rPr lang="en-US" dirty="0"/>
              <a:t>PHYSICAL DIMENSION</a:t>
            </a:r>
          </a:p>
        </p:txBody>
      </p:sp>
      <p:sp>
        <p:nvSpPr>
          <p:cNvPr id="3" name="Content Placeholder 2">
            <a:extLst>
              <a:ext uri="{FF2B5EF4-FFF2-40B4-BE49-F238E27FC236}">
                <a16:creationId xmlns:a16="http://schemas.microsoft.com/office/drawing/2014/main" id="{0917FA24-ECD2-8DDB-BF6F-EA11F2887A46}"/>
              </a:ext>
            </a:extLst>
          </p:cNvPr>
          <p:cNvSpPr>
            <a:spLocks noGrp="1"/>
          </p:cNvSpPr>
          <p:nvPr>
            <p:ph idx="1"/>
          </p:nvPr>
        </p:nvSpPr>
        <p:spPr>
          <a:xfrm>
            <a:off x="537897" y="2158848"/>
            <a:ext cx="11029615" cy="3678303"/>
          </a:xfrm>
        </p:spPr>
        <p:txBody>
          <a:bodyPr>
            <a:normAutofit/>
          </a:bodyPr>
          <a:lstStyle/>
          <a:p>
            <a:r>
              <a:rPr lang="en-US" sz="2800" dirty="0"/>
              <a:t>The state of physical health implies the notion of “perfect functioning” of the body.</a:t>
            </a:r>
          </a:p>
          <a:p>
            <a:r>
              <a:rPr lang="en-US" sz="2800" dirty="0"/>
              <a:t>It conceptualizes health biologically as a state in which every cell and every organ is functioning at optimum capacity and in perfect harmony with the rest of the body.</a:t>
            </a:r>
          </a:p>
        </p:txBody>
      </p:sp>
    </p:spTree>
    <p:extLst>
      <p:ext uri="{BB962C8B-B14F-4D97-AF65-F5344CB8AC3E}">
        <p14:creationId xmlns:p14="http://schemas.microsoft.com/office/powerpoint/2010/main" val="3396408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D92DB-EBE7-C633-A5BE-90E4D2BC9B1B}"/>
              </a:ext>
            </a:extLst>
          </p:cNvPr>
          <p:cNvSpPr>
            <a:spLocks noGrp="1"/>
          </p:cNvSpPr>
          <p:nvPr>
            <p:ph type="title"/>
          </p:nvPr>
        </p:nvSpPr>
        <p:spPr/>
        <p:txBody>
          <a:bodyPr/>
          <a:lstStyle/>
          <a:p>
            <a:r>
              <a:rPr lang="en-US" dirty="0"/>
              <a:t>Evaluation of physical health </a:t>
            </a:r>
          </a:p>
        </p:txBody>
      </p:sp>
      <p:sp>
        <p:nvSpPr>
          <p:cNvPr id="3" name="Content Placeholder 2">
            <a:extLst>
              <a:ext uri="{FF2B5EF4-FFF2-40B4-BE49-F238E27FC236}">
                <a16:creationId xmlns:a16="http://schemas.microsoft.com/office/drawing/2014/main" id="{545EA193-6139-DCB9-D10E-CCFCDEE07D93}"/>
              </a:ext>
            </a:extLst>
          </p:cNvPr>
          <p:cNvSpPr>
            <a:spLocks noGrp="1"/>
          </p:cNvSpPr>
          <p:nvPr>
            <p:ph idx="1"/>
          </p:nvPr>
        </p:nvSpPr>
        <p:spPr>
          <a:xfrm>
            <a:off x="343066" y="1498593"/>
            <a:ext cx="11029615" cy="5883282"/>
          </a:xfrm>
        </p:spPr>
        <p:txBody>
          <a:bodyPr>
            <a:normAutofit/>
          </a:bodyPr>
          <a:lstStyle/>
          <a:p>
            <a:r>
              <a:rPr lang="en-US" sz="2000" dirty="0"/>
              <a:t>Self assessment of overall health. </a:t>
            </a:r>
          </a:p>
          <a:p>
            <a:r>
              <a:rPr lang="en-US" sz="2000" dirty="0"/>
              <a:t>Inquiry into symptoms of ill-health and risk factors. </a:t>
            </a:r>
          </a:p>
          <a:p>
            <a:r>
              <a:rPr lang="en-US" sz="2000" dirty="0"/>
              <a:t>Inquiry into medications.</a:t>
            </a:r>
          </a:p>
          <a:p>
            <a:r>
              <a:rPr lang="en-US" sz="2000" dirty="0"/>
              <a:t>Inquiry into levels of activity.</a:t>
            </a:r>
          </a:p>
          <a:p>
            <a:r>
              <a:rPr lang="en-US" sz="2000" dirty="0"/>
              <a:t>Inquiry into use of medical services.</a:t>
            </a:r>
          </a:p>
          <a:p>
            <a:r>
              <a:rPr lang="en-US" sz="2000" dirty="0"/>
              <a:t>Standardized questionnaires for cardiovascular diseases.</a:t>
            </a:r>
          </a:p>
          <a:p>
            <a:r>
              <a:rPr lang="en-US" sz="2000" dirty="0"/>
              <a:t>Standardized questionnaires for respiratory diseases.</a:t>
            </a:r>
          </a:p>
          <a:p>
            <a:r>
              <a:rPr lang="en-US" sz="2000" dirty="0"/>
              <a:t>Clinical examination.</a:t>
            </a:r>
          </a:p>
          <a:p>
            <a:r>
              <a:rPr lang="en-US" sz="2000" dirty="0"/>
              <a:t>Nutrition and dietary assessment.</a:t>
            </a:r>
          </a:p>
          <a:p>
            <a:r>
              <a:rPr lang="en-US" sz="2000" dirty="0"/>
              <a:t>Biochemical and laboratory investigations.</a:t>
            </a:r>
          </a:p>
        </p:txBody>
      </p:sp>
    </p:spTree>
    <p:extLst>
      <p:ext uri="{BB962C8B-B14F-4D97-AF65-F5344CB8AC3E}">
        <p14:creationId xmlns:p14="http://schemas.microsoft.com/office/powerpoint/2010/main" val="4000975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9173B-ACB8-988C-879B-91CB62F5D02C}"/>
              </a:ext>
            </a:extLst>
          </p:cNvPr>
          <p:cNvSpPr>
            <a:spLocks noGrp="1"/>
          </p:cNvSpPr>
          <p:nvPr>
            <p:ph type="title"/>
          </p:nvPr>
        </p:nvSpPr>
        <p:spPr/>
        <p:txBody>
          <a:bodyPr/>
          <a:lstStyle/>
          <a:p>
            <a:r>
              <a:rPr lang="en-US" dirty="0"/>
              <a:t>Mental dimension </a:t>
            </a:r>
          </a:p>
        </p:txBody>
      </p:sp>
      <p:sp>
        <p:nvSpPr>
          <p:cNvPr id="3" name="Content Placeholder 2">
            <a:extLst>
              <a:ext uri="{FF2B5EF4-FFF2-40B4-BE49-F238E27FC236}">
                <a16:creationId xmlns:a16="http://schemas.microsoft.com/office/drawing/2014/main" id="{EC021E0C-FD7E-629E-988A-019BCFA1D98D}"/>
              </a:ext>
            </a:extLst>
          </p:cNvPr>
          <p:cNvSpPr>
            <a:spLocks noGrp="1"/>
          </p:cNvSpPr>
          <p:nvPr>
            <p:ph idx="1"/>
          </p:nvPr>
        </p:nvSpPr>
        <p:spPr>
          <a:xfrm>
            <a:off x="462130" y="2591803"/>
            <a:ext cx="11029615" cy="3678303"/>
          </a:xfrm>
        </p:spPr>
        <p:txBody>
          <a:bodyPr>
            <a:normAutofit/>
          </a:bodyPr>
          <a:lstStyle/>
          <a:p>
            <a:r>
              <a:rPr lang="en-US" sz="2400" dirty="0"/>
              <a:t>Mental health has been defined as</a:t>
            </a:r>
          </a:p>
          <a:p>
            <a:pPr marL="0" indent="0" algn="ctr">
              <a:buNone/>
            </a:pPr>
            <a:r>
              <a:rPr lang="en-US" sz="2400" i="1" dirty="0"/>
              <a:t>“A state of balance between the individual and the surrounding world, a state of harmony between oneself and others, a coexistence between the realities of the self and that of other people and that of the environment”.</a:t>
            </a:r>
          </a:p>
          <a:p>
            <a:r>
              <a:rPr lang="en-US" sz="2400" dirty="0"/>
              <a:t>Good mental health is the ability to respond to the many varied experiences of life with flexibility and a sense of purpose.</a:t>
            </a:r>
          </a:p>
        </p:txBody>
      </p:sp>
    </p:spTree>
    <p:extLst>
      <p:ext uri="{BB962C8B-B14F-4D97-AF65-F5344CB8AC3E}">
        <p14:creationId xmlns:p14="http://schemas.microsoft.com/office/powerpoint/2010/main" val="3253296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5E321A-2D58-835B-940D-0D2789B4A23E}"/>
              </a:ext>
            </a:extLst>
          </p:cNvPr>
          <p:cNvSpPr>
            <a:spLocks noGrp="1"/>
          </p:cNvSpPr>
          <p:nvPr>
            <p:ph idx="1"/>
          </p:nvPr>
        </p:nvSpPr>
        <p:spPr>
          <a:xfrm>
            <a:off x="422131" y="432953"/>
            <a:ext cx="11047966" cy="7219517"/>
          </a:xfrm>
        </p:spPr>
        <p:txBody>
          <a:bodyPr/>
          <a:lstStyle/>
          <a:p>
            <a:r>
              <a:rPr lang="en-US" dirty="0"/>
              <a:t>Psychologists have mentioned the following characteristics as attributes of a mentally healthy person:</a:t>
            </a:r>
          </a:p>
          <a:p>
            <a:pPr marL="342900" indent="-342900">
              <a:buFont typeface="+mj-lt"/>
              <a:buAutoNum type="arabicPeriod"/>
            </a:pPr>
            <a:r>
              <a:rPr lang="en-US" sz="2400" dirty="0"/>
              <a:t>A mentally healthy person is free from internal conflicts.</a:t>
            </a:r>
          </a:p>
          <a:p>
            <a:pPr marL="342900" indent="-342900">
              <a:buFont typeface="+mj-lt"/>
              <a:buAutoNum type="arabicPeriod"/>
            </a:pPr>
            <a:r>
              <a:rPr lang="en-US" sz="2400" dirty="0"/>
              <a:t>He is well </a:t>
            </a:r>
            <a:r>
              <a:rPr lang="en-US" sz="2400" dirty="0" err="1"/>
              <a:t>adjusted.He</a:t>
            </a:r>
            <a:r>
              <a:rPr lang="en-US" sz="2400" dirty="0"/>
              <a:t> accepts criticism and is not easily upset.</a:t>
            </a:r>
          </a:p>
          <a:p>
            <a:pPr marL="342900" indent="-342900">
              <a:buFont typeface="+mj-lt"/>
              <a:buAutoNum type="arabicPeriod"/>
            </a:pPr>
            <a:r>
              <a:rPr lang="en-US" sz="2400" dirty="0"/>
              <a:t>He searches for </a:t>
            </a:r>
            <a:r>
              <a:rPr lang="en-US" sz="2400" dirty="0" err="1"/>
              <a:t>identity.He</a:t>
            </a:r>
            <a:r>
              <a:rPr lang="en-US" sz="2400" dirty="0"/>
              <a:t> has a strong sense of self esteem.</a:t>
            </a:r>
          </a:p>
          <a:p>
            <a:pPr marL="342900" indent="-342900">
              <a:buFont typeface="+mj-lt"/>
              <a:buAutoNum type="arabicPeriod"/>
            </a:pPr>
            <a:r>
              <a:rPr lang="en-US" sz="2400" dirty="0"/>
              <a:t>He knows himself, his needs, problems and goals.</a:t>
            </a:r>
          </a:p>
          <a:p>
            <a:pPr marL="342900" indent="-342900">
              <a:buFont typeface="+mj-lt"/>
              <a:buAutoNum type="arabicPeriod"/>
            </a:pPr>
            <a:r>
              <a:rPr lang="en-US" sz="2400" dirty="0"/>
              <a:t>He has good self-control-balances rationality and emotionality.</a:t>
            </a:r>
          </a:p>
          <a:p>
            <a:pPr marL="342900" indent="-342900">
              <a:buFont typeface="+mj-lt"/>
              <a:buAutoNum type="arabicPeriod"/>
            </a:pPr>
            <a:r>
              <a:rPr lang="en-US" sz="2400" dirty="0"/>
              <a:t>He faces problems and tries to solve them intelligently, that is, coping with stress and anxiety.</a:t>
            </a:r>
          </a:p>
        </p:txBody>
      </p:sp>
    </p:spTree>
    <p:extLst>
      <p:ext uri="{BB962C8B-B14F-4D97-AF65-F5344CB8AC3E}">
        <p14:creationId xmlns:p14="http://schemas.microsoft.com/office/powerpoint/2010/main" val="2249157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E9377-0530-2BFD-E0DD-70FC5216942D}"/>
              </a:ext>
            </a:extLst>
          </p:cNvPr>
          <p:cNvSpPr>
            <a:spLocks noGrp="1"/>
          </p:cNvSpPr>
          <p:nvPr>
            <p:ph type="title"/>
          </p:nvPr>
        </p:nvSpPr>
        <p:spPr/>
        <p:txBody>
          <a:bodyPr/>
          <a:lstStyle/>
          <a:p>
            <a:r>
              <a:rPr lang="en-US" dirty="0"/>
              <a:t>Social dimensions </a:t>
            </a:r>
          </a:p>
        </p:txBody>
      </p:sp>
      <p:sp>
        <p:nvSpPr>
          <p:cNvPr id="3" name="Content Placeholder 2">
            <a:extLst>
              <a:ext uri="{FF2B5EF4-FFF2-40B4-BE49-F238E27FC236}">
                <a16:creationId xmlns:a16="http://schemas.microsoft.com/office/drawing/2014/main" id="{F6050470-BC84-47F2-878E-9A9EC56D3C8F}"/>
              </a:ext>
            </a:extLst>
          </p:cNvPr>
          <p:cNvSpPr>
            <a:spLocks noGrp="1"/>
          </p:cNvSpPr>
          <p:nvPr>
            <p:ph idx="1"/>
          </p:nvPr>
        </p:nvSpPr>
        <p:spPr>
          <a:xfrm>
            <a:off x="418834" y="1000695"/>
            <a:ext cx="11029615" cy="5634334"/>
          </a:xfrm>
        </p:spPr>
        <p:txBody>
          <a:bodyPr/>
          <a:lstStyle/>
          <a:p>
            <a:r>
              <a:rPr lang="en-US" dirty="0"/>
              <a:t>It has been defined as the quantity and quality of an individual’s interpersonal ties and the extent of involvement with the community.</a:t>
            </a:r>
          </a:p>
          <a:p>
            <a:r>
              <a:rPr lang="en-US" dirty="0"/>
              <a:t>The social dimension of health includes:</a:t>
            </a:r>
          </a:p>
          <a:p>
            <a:pPr marL="342900" indent="-342900">
              <a:buFont typeface="+mj-lt"/>
              <a:buAutoNum type="arabicPeriod"/>
            </a:pPr>
            <a:r>
              <a:rPr lang="en-US" dirty="0"/>
              <a:t>The levels of social skills one possesses.</a:t>
            </a:r>
          </a:p>
          <a:p>
            <a:pPr marL="342900" indent="-342900">
              <a:buFont typeface="+mj-lt"/>
              <a:buAutoNum type="arabicPeriod"/>
            </a:pPr>
            <a:r>
              <a:rPr lang="en-US" dirty="0"/>
              <a:t>Social functioning.</a:t>
            </a:r>
          </a:p>
          <a:p>
            <a:pPr marL="342900" indent="-342900">
              <a:buFont typeface="+mj-lt"/>
              <a:buAutoNum type="arabicPeriod"/>
            </a:pPr>
            <a:r>
              <a:rPr lang="en-US" dirty="0"/>
              <a:t>The ability to see oneself as a member of a larger society.</a:t>
            </a:r>
          </a:p>
          <a:p>
            <a:r>
              <a:rPr lang="en-US" dirty="0"/>
              <a:t>Social health is rooted in “positive material environment” and “positive human environment” which is concerned with the social network of the individual.</a:t>
            </a:r>
          </a:p>
          <a:p>
            <a:endParaRPr lang="en-US" dirty="0"/>
          </a:p>
        </p:txBody>
      </p:sp>
    </p:spTree>
    <p:extLst>
      <p:ext uri="{BB962C8B-B14F-4D97-AF65-F5344CB8AC3E}">
        <p14:creationId xmlns:p14="http://schemas.microsoft.com/office/powerpoint/2010/main" val="4111080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8BFF1-ECDC-50FA-4D39-ABA9C78D2FD4}"/>
              </a:ext>
            </a:extLst>
          </p:cNvPr>
          <p:cNvSpPr>
            <a:spLocks noGrp="1"/>
          </p:cNvSpPr>
          <p:nvPr>
            <p:ph type="title"/>
          </p:nvPr>
        </p:nvSpPr>
        <p:spPr/>
        <p:txBody>
          <a:bodyPr/>
          <a:lstStyle/>
          <a:p>
            <a:r>
              <a:rPr lang="en-US" dirty="0"/>
              <a:t>Spiritual dimension </a:t>
            </a:r>
          </a:p>
        </p:txBody>
      </p:sp>
      <p:sp>
        <p:nvSpPr>
          <p:cNvPr id="3" name="Content Placeholder 2">
            <a:extLst>
              <a:ext uri="{FF2B5EF4-FFF2-40B4-BE49-F238E27FC236}">
                <a16:creationId xmlns:a16="http://schemas.microsoft.com/office/drawing/2014/main" id="{4BAC8B9B-B001-53A7-1DAA-741CE56DBA5D}"/>
              </a:ext>
            </a:extLst>
          </p:cNvPr>
          <p:cNvSpPr>
            <a:spLocks noGrp="1"/>
          </p:cNvSpPr>
          <p:nvPr>
            <p:ph idx="1"/>
          </p:nvPr>
        </p:nvSpPr>
        <p:spPr>
          <a:xfrm>
            <a:off x="581192" y="2180496"/>
            <a:ext cx="11029615" cy="3678303"/>
          </a:xfrm>
        </p:spPr>
        <p:txBody>
          <a:bodyPr>
            <a:normAutofit/>
          </a:bodyPr>
          <a:lstStyle/>
          <a:p>
            <a:r>
              <a:rPr lang="en-US" sz="2400" dirty="0"/>
              <a:t>Spiritual health in this context, refers to that part of the individual which reaches out and strives for meaning and purpose in life.</a:t>
            </a:r>
          </a:p>
          <a:p>
            <a:r>
              <a:rPr lang="en-US" sz="2400" dirty="0"/>
              <a:t>It includes integrity, principles and ethics, the purpose in life, commitment to some higher being and belief in concepts that are not subject to “state of the art” explanation.</a:t>
            </a:r>
          </a:p>
        </p:txBody>
      </p:sp>
    </p:spTree>
    <p:extLst>
      <p:ext uri="{BB962C8B-B14F-4D97-AF65-F5344CB8AC3E}">
        <p14:creationId xmlns:p14="http://schemas.microsoft.com/office/powerpoint/2010/main" val="4240052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A7BC5-FC68-94EF-B90D-4FA6B85F6284}"/>
              </a:ext>
            </a:extLst>
          </p:cNvPr>
          <p:cNvSpPr>
            <a:spLocks noGrp="1"/>
          </p:cNvSpPr>
          <p:nvPr>
            <p:ph type="title"/>
          </p:nvPr>
        </p:nvSpPr>
        <p:spPr/>
        <p:txBody>
          <a:bodyPr/>
          <a:lstStyle/>
          <a:p>
            <a:r>
              <a:rPr lang="en-US" dirty="0"/>
              <a:t>Emotional dimension </a:t>
            </a:r>
          </a:p>
        </p:txBody>
      </p:sp>
      <p:sp>
        <p:nvSpPr>
          <p:cNvPr id="3" name="Content Placeholder 2">
            <a:extLst>
              <a:ext uri="{FF2B5EF4-FFF2-40B4-BE49-F238E27FC236}">
                <a16:creationId xmlns:a16="http://schemas.microsoft.com/office/drawing/2014/main" id="{8611521D-3F1A-68DD-9860-974A2934534E}"/>
              </a:ext>
            </a:extLst>
          </p:cNvPr>
          <p:cNvSpPr>
            <a:spLocks noGrp="1"/>
          </p:cNvSpPr>
          <p:nvPr>
            <p:ph idx="1"/>
          </p:nvPr>
        </p:nvSpPr>
        <p:spPr>
          <a:xfrm>
            <a:off x="581192" y="2180496"/>
            <a:ext cx="11029615" cy="3678303"/>
          </a:xfrm>
        </p:spPr>
        <p:txBody>
          <a:bodyPr>
            <a:normAutofit/>
          </a:bodyPr>
          <a:lstStyle/>
          <a:p>
            <a:r>
              <a:rPr lang="en-US" sz="2400" dirty="0"/>
              <a:t>The mental and emotional dimensions have been seen as one element or as two closely related elements.</a:t>
            </a:r>
          </a:p>
          <a:p>
            <a:r>
              <a:rPr lang="en-US" sz="2400" dirty="0"/>
              <a:t>Mental health can be seen as “knowing” or “cognition”, while emotional health relates to “feeling”.</a:t>
            </a:r>
          </a:p>
        </p:txBody>
      </p:sp>
    </p:spTree>
    <p:extLst>
      <p:ext uri="{BB962C8B-B14F-4D97-AF65-F5344CB8AC3E}">
        <p14:creationId xmlns:p14="http://schemas.microsoft.com/office/powerpoint/2010/main" val="113671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335EF-5F9E-1404-D4D5-BD50A2BD0E15}"/>
              </a:ext>
            </a:extLst>
          </p:cNvPr>
          <p:cNvSpPr>
            <a:spLocks noGrp="1"/>
          </p:cNvSpPr>
          <p:nvPr>
            <p:ph type="title"/>
          </p:nvPr>
        </p:nvSpPr>
        <p:spPr/>
        <p:txBody>
          <a:bodyPr/>
          <a:lstStyle/>
          <a:p>
            <a:r>
              <a:rPr lang="en-US" dirty="0"/>
              <a:t>Positive health</a:t>
            </a:r>
          </a:p>
        </p:txBody>
      </p:sp>
      <p:sp>
        <p:nvSpPr>
          <p:cNvPr id="3" name="Content Placeholder 2">
            <a:extLst>
              <a:ext uri="{FF2B5EF4-FFF2-40B4-BE49-F238E27FC236}">
                <a16:creationId xmlns:a16="http://schemas.microsoft.com/office/drawing/2014/main" id="{36780B71-E586-A977-3DC3-004FCB4273CE}"/>
              </a:ext>
            </a:extLst>
          </p:cNvPr>
          <p:cNvSpPr>
            <a:spLocks noGrp="1"/>
          </p:cNvSpPr>
          <p:nvPr>
            <p:ph idx="1"/>
          </p:nvPr>
        </p:nvSpPr>
        <p:spPr>
          <a:xfrm>
            <a:off x="375539" y="2477541"/>
            <a:ext cx="11029615" cy="3678303"/>
          </a:xfrm>
        </p:spPr>
        <p:txBody>
          <a:bodyPr>
            <a:noAutofit/>
          </a:bodyPr>
          <a:lstStyle/>
          <a:p>
            <a:r>
              <a:rPr lang="en-US" sz="2400" dirty="0"/>
              <a:t>The state of positive health implies the notion of “perfect functioning” of the body and mind. It conceptualizes health,</a:t>
            </a:r>
          </a:p>
          <a:p>
            <a:pPr marL="0" indent="0">
              <a:buNone/>
            </a:pPr>
            <a:r>
              <a:rPr lang="en-US" sz="2400" b="1" i="1" dirty="0"/>
              <a:t>Biologically-</a:t>
            </a:r>
            <a:r>
              <a:rPr lang="en-US" sz="2400" dirty="0"/>
              <a:t> as a state in which every cell and every organ is functioning at optimum capacity and in perfect harmony with rest of the body.</a:t>
            </a:r>
          </a:p>
          <a:p>
            <a:pPr marL="0" indent="0">
              <a:buNone/>
            </a:pPr>
            <a:r>
              <a:rPr lang="en-US" sz="2400" b="1" i="1" dirty="0"/>
              <a:t>Psychologically-</a:t>
            </a:r>
            <a:r>
              <a:rPr lang="en-US" sz="2400" dirty="0"/>
              <a:t> as a state in which the individual feels a sense of perfect well-being and of mastery over his environment.</a:t>
            </a:r>
          </a:p>
          <a:p>
            <a:pPr marL="0" indent="0">
              <a:buNone/>
            </a:pPr>
            <a:r>
              <a:rPr lang="en-US" sz="2400" b="1" i="1" dirty="0"/>
              <a:t>Socially-</a:t>
            </a:r>
            <a:r>
              <a:rPr lang="en-US" sz="2400" dirty="0"/>
              <a:t> as a state in which the individual’s capacities for participation in the social system are optimal.</a:t>
            </a:r>
          </a:p>
          <a:p>
            <a:r>
              <a:rPr lang="en-US" sz="2400" dirty="0"/>
              <a:t>The concept of perfect positive health cannot become a reality because man will never be so perfectly adapted to his environment that his life will not involve struggles, failures and sufferings.</a:t>
            </a:r>
          </a:p>
        </p:txBody>
      </p:sp>
    </p:spTree>
    <p:extLst>
      <p:ext uri="{BB962C8B-B14F-4D97-AF65-F5344CB8AC3E}">
        <p14:creationId xmlns:p14="http://schemas.microsoft.com/office/powerpoint/2010/main" val="1751294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491A1-843F-09AD-53F0-9E59E6B2767C}"/>
              </a:ext>
            </a:extLst>
          </p:cNvPr>
          <p:cNvSpPr>
            <a:spLocks noGrp="1"/>
          </p:cNvSpPr>
          <p:nvPr>
            <p:ph type="title"/>
          </p:nvPr>
        </p:nvSpPr>
        <p:spPr/>
        <p:txBody>
          <a:bodyPr/>
          <a:lstStyle/>
          <a:p>
            <a:r>
              <a:rPr lang="en-US" dirty="0"/>
              <a:t>Concept of well-being</a:t>
            </a:r>
          </a:p>
        </p:txBody>
      </p:sp>
      <p:sp>
        <p:nvSpPr>
          <p:cNvPr id="3" name="Content Placeholder 2">
            <a:extLst>
              <a:ext uri="{FF2B5EF4-FFF2-40B4-BE49-F238E27FC236}">
                <a16:creationId xmlns:a16="http://schemas.microsoft.com/office/drawing/2014/main" id="{F7BA12EC-F3D0-3C9D-BEBC-1BD143393009}"/>
              </a:ext>
            </a:extLst>
          </p:cNvPr>
          <p:cNvSpPr>
            <a:spLocks noGrp="1"/>
          </p:cNvSpPr>
          <p:nvPr>
            <p:ph idx="1"/>
          </p:nvPr>
        </p:nvSpPr>
        <p:spPr>
          <a:xfrm>
            <a:off x="368012" y="1861706"/>
            <a:ext cx="11029616" cy="4621790"/>
          </a:xfrm>
        </p:spPr>
        <p:txBody>
          <a:bodyPr>
            <a:normAutofit/>
          </a:bodyPr>
          <a:lstStyle/>
          <a:p>
            <a:pPr marL="342900" indent="-342900">
              <a:buFont typeface="+mj-lt"/>
              <a:buAutoNum type="arabicPeriod"/>
            </a:pPr>
            <a:r>
              <a:rPr lang="en-US" sz="2400" b="1" dirty="0"/>
              <a:t>Standard of living-</a:t>
            </a:r>
            <a:r>
              <a:rPr lang="en-US" sz="2400" dirty="0"/>
              <a:t> income and occupation, standards of housing, sanitation and nutrition, the level of provision of health, educational, recreational and other services may all be used individually as measures of socio-economic status, and collectively as an index of “standard of living”.</a:t>
            </a:r>
          </a:p>
          <a:p>
            <a:pPr marL="342900" indent="-342900">
              <a:buFont typeface="+mj-lt"/>
              <a:buAutoNum type="arabicPeriod"/>
            </a:pPr>
            <a:r>
              <a:rPr lang="en-US" sz="2400" b="1" dirty="0"/>
              <a:t>Level of living-</a:t>
            </a:r>
            <a:r>
              <a:rPr lang="en-US" sz="2400" dirty="0"/>
              <a:t> It consists of nine components:</a:t>
            </a:r>
          </a:p>
          <a:p>
            <a:r>
              <a:rPr lang="en-US" sz="2400" dirty="0"/>
              <a:t>Health </a:t>
            </a:r>
          </a:p>
          <a:p>
            <a:r>
              <a:rPr lang="en-US" sz="2400" dirty="0"/>
              <a:t>Food consumption </a:t>
            </a:r>
          </a:p>
          <a:p>
            <a:r>
              <a:rPr lang="en-US" sz="2400" dirty="0"/>
              <a:t>Education </a:t>
            </a:r>
          </a:p>
          <a:p>
            <a:r>
              <a:rPr lang="en-US" sz="2400" dirty="0"/>
              <a:t>Occupation</a:t>
            </a:r>
          </a:p>
        </p:txBody>
      </p:sp>
    </p:spTree>
    <p:extLst>
      <p:ext uri="{BB962C8B-B14F-4D97-AF65-F5344CB8AC3E}">
        <p14:creationId xmlns:p14="http://schemas.microsoft.com/office/powerpoint/2010/main" val="53760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83386B-04D5-6E6C-2965-D2DB1F810A4A}"/>
              </a:ext>
            </a:extLst>
          </p:cNvPr>
          <p:cNvSpPr>
            <a:spLocks noGrp="1"/>
          </p:cNvSpPr>
          <p:nvPr>
            <p:ph idx="1"/>
          </p:nvPr>
        </p:nvSpPr>
        <p:spPr>
          <a:xfrm>
            <a:off x="378835" y="1320511"/>
            <a:ext cx="11253621" cy="5303693"/>
          </a:xfrm>
        </p:spPr>
        <p:txBody>
          <a:bodyPr>
            <a:normAutofit/>
          </a:bodyPr>
          <a:lstStyle/>
          <a:p>
            <a:r>
              <a:rPr lang="en-US" sz="2400" dirty="0"/>
              <a:t>Housing</a:t>
            </a:r>
          </a:p>
          <a:p>
            <a:r>
              <a:rPr lang="en-US" sz="2400" dirty="0"/>
              <a:t>Social security </a:t>
            </a:r>
          </a:p>
          <a:p>
            <a:r>
              <a:rPr lang="en-US" sz="2400" dirty="0"/>
              <a:t>Clothing</a:t>
            </a:r>
          </a:p>
          <a:p>
            <a:r>
              <a:rPr lang="en-US" sz="2400" dirty="0"/>
              <a:t>Recreation and </a:t>
            </a:r>
            <a:r>
              <a:rPr lang="en-US" sz="2400" dirty="0" err="1"/>
              <a:t>liesure</a:t>
            </a:r>
            <a:endParaRPr lang="en-US" sz="2400" dirty="0"/>
          </a:p>
          <a:p>
            <a:r>
              <a:rPr lang="en-US" sz="2400" dirty="0"/>
              <a:t>Human rights </a:t>
            </a:r>
          </a:p>
          <a:p>
            <a:pPr marL="0" indent="0">
              <a:buNone/>
            </a:pPr>
            <a:r>
              <a:rPr lang="en-US" sz="2400" dirty="0"/>
              <a:t>3.   </a:t>
            </a:r>
            <a:r>
              <a:rPr lang="en-US" sz="2400" b="1" dirty="0"/>
              <a:t>Quality of life- </a:t>
            </a:r>
            <a:r>
              <a:rPr lang="en-US" sz="2400" dirty="0"/>
              <a:t>The condition of life resulting from the combination of the effects of the complete range of factors such as those determining health, happiness, education, social and intellectual attainments, freedom of action, justice and freedom of expression.</a:t>
            </a:r>
          </a:p>
        </p:txBody>
      </p:sp>
    </p:spTree>
    <p:extLst>
      <p:ext uri="{BB962C8B-B14F-4D97-AF65-F5344CB8AC3E}">
        <p14:creationId xmlns:p14="http://schemas.microsoft.com/office/powerpoint/2010/main" val="28625478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F2ED6-EB2A-91A7-EE58-2E88CCDAA29C}"/>
              </a:ext>
            </a:extLst>
          </p:cNvPr>
          <p:cNvSpPr>
            <a:spLocks noGrp="1"/>
          </p:cNvSpPr>
          <p:nvPr>
            <p:ph type="title"/>
          </p:nvPr>
        </p:nvSpPr>
        <p:spPr/>
        <p:txBody>
          <a:bodyPr/>
          <a:lstStyle/>
          <a:p>
            <a:r>
              <a:rPr lang="en-US" dirty="0"/>
              <a:t>Physical quality of life index (</a:t>
            </a:r>
            <a:r>
              <a:rPr lang="en-US" dirty="0" err="1"/>
              <a:t>pqli</a:t>
            </a:r>
            <a:r>
              <a:rPr lang="en-US" dirty="0"/>
              <a:t>)</a:t>
            </a:r>
          </a:p>
        </p:txBody>
      </p:sp>
      <p:sp>
        <p:nvSpPr>
          <p:cNvPr id="3" name="Content Placeholder 2">
            <a:extLst>
              <a:ext uri="{FF2B5EF4-FFF2-40B4-BE49-F238E27FC236}">
                <a16:creationId xmlns:a16="http://schemas.microsoft.com/office/drawing/2014/main" id="{644422D5-602C-C18F-6FD3-8D17443C2504}"/>
              </a:ext>
            </a:extLst>
          </p:cNvPr>
          <p:cNvSpPr>
            <a:spLocks noGrp="1"/>
          </p:cNvSpPr>
          <p:nvPr>
            <p:ph idx="1"/>
          </p:nvPr>
        </p:nvSpPr>
        <p:spPr>
          <a:xfrm>
            <a:off x="343066" y="1412888"/>
            <a:ext cx="11029615" cy="5200492"/>
          </a:xfrm>
        </p:spPr>
        <p:txBody>
          <a:bodyPr>
            <a:noAutofit/>
          </a:bodyPr>
          <a:lstStyle/>
          <a:p>
            <a:r>
              <a:rPr lang="en-US" sz="2000" dirty="0"/>
              <a:t>It consolidates three indicators:</a:t>
            </a:r>
          </a:p>
          <a:p>
            <a:pPr marL="342900" indent="-342900">
              <a:buFont typeface="+mj-lt"/>
              <a:buAutoNum type="arabicPeriod"/>
            </a:pPr>
            <a:r>
              <a:rPr lang="en-US" sz="2000" dirty="0"/>
              <a:t>Infant Mortality </a:t>
            </a:r>
          </a:p>
          <a:p>
            <a:pPr marL="342900" indent="-342900">
              <a:buFont typeface="+mj-lt"/>
              <a:buAutoNum type="arabicPeriod"/>
            </a:pPr>
            <a:r>
              <a:rPr lang="en-US" sz="2000" dirty="0"/>
              <a:t>Life expectancy at age one</a:t>
            </a:r>
          </a:p>
          <a:p>
            <a:pPr marL="342900" indent="-342900">
              <a:buFont typeface="+mj-lt"/>
              <a:buAutoNum type="arabicPeriod"/>
            </a:pPr>
            <a:r>
              <a:rPr lang="en-US" sz="2000" dirty="0"/>
              <a:t>Literacy</a:t>
            </a:r>
          </a:p>
          <a:p>
            <a:r>
              <a:rPr lang="en-US" sz="2000" dirty="0"/>
              <a:t>These three components measure the results rather than inputs.</a:t>
            </a:r>
          </a:p>
          <a:p>
            <a:r>
              <a:rPr lang="en-US" sz="2000" dirty="0"/>
              <a:t>For each component the performance of individual countries is placed on a scale of 0 to 100,</a:t>
            </a:r>
          </a:p>
          <a:p>
            <a:pPr marL="0" indent="0" algn="ctr">
              <a:buNone/>
            </a:pPr>
            <a:r>
              <a:rPr lang="en-US" sz="2000" dirty="0"/>
              <a:t>where 0 represents an absolutely defined “worst” performance, and 100 represents an absolutely defined “best” performance.</a:t>
            </a:r>
          </a:p>
          <a:p>
            <a:pPr marL="0" indent="0" algn="ctr">
              <a:buNone/>
            </a:pPr>
            <a:r>
              <a:rPr lang="en-US" sz="2000" dirty="0"/>
              <a:t>The composite index is calculated by averaging the three indicators, giving equal weight to each of them.</a:t>
            </a:r>
          </a:p>
          <a:p>
            <a:r>
              <a:rPr lang="en-US" sz="2000" dirty="0"/>
              <a:t>The resulting PQLI thus also is scaled 0 to 100.</a:t>
            </a:r>
          </a:p>
        </p:txBody>
      </p:sp>
    </p:spTree>
    <p:extLst>
      <p:ext uri="{BB962C8B-B14F-4D97-AF65-F5344CB8AC3E}">
        <p14:creationId xmlns:p14="http://schemas.microsoft.com/office/powerpoint/2010/main" val="3857487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CD0BE-C073-8DCB-9131-614AEC1F47E2}"/>
              </a:ext>
            </a:extLst>
          </p:cNvPr>
          <p:cNvSpPr>
            <a:spLocks noGrp="1"/>
          </p:cNvSpPr>
          <p:nvPr>
            <p:ph type="title"/>
          </p:nvPr>
        </p:nvSpPr>
        <p:spPr/>
        <p:txBody>
          <a:bodyPr/>
          <a:lstStyle/>
          <a:p>
            <a:r>
              <a:rPr lang="en-US" dirty="0"/>
              <a:t>Human development index (</a:t>
            </a:r>
            <a:r>
              <a:rPr lang="en-US" dirty="0" err="1"/>
              <a:t>hdi</a:t>
            </a:r>
            <a:r>
              <a:rPr lang="en-US" dirty="0"/>
              <a:t>)</a:t>
            </a:r>
          </a:p>
        </p:txBody>
      </p:sp>
      <p:sp>
        <p:nvSpPr>
          <p:cNvPr id="3" name="Content Placeholder 2">
            <a:extLst>
              <a:ext uri="{FF2B5EF4-FFF2-40B4-BE49-F238E27FC236}">
                <a16:creationId xmlns:a16="http://schemas.microsoft.com/office/drawing/2014/main" id="{6E856371-0700-2BE1-43D1-24A24BEA1A0A}"/>
              </a:ext>
            </a:extLst>
          </p:cNvPr>
          <p:cNvSpPr>
            <a:spLocks noGrp="1"/>
          </p:cNvSpPr>
          <p:nvPr>
            <p:ph idx="1"/>
          </p:nvPr>
        </p:nvSpPr>
        <p:spPr>
          <a:xfrm>
            <a:off x="581192" y="2180496"/>
            <a:ext cx="11029615" cy="3678303"/>
          </a:xfrm>
        </p:spPr>
        <p:txBody>
          <a:bodyPr>
            <a:noAutofit/>
          </a:bodyPr>
          <a:lstStyle/>
          <a:p>
            <a:r>
              <a:rPr lang="en-US" dirty="0"/>
              <a:t>It is defined as “a composite index focusing on three basic dimensions of human development:</a:t>
            </a:r>
          </a:p>
          <a:p>
            <a:pPr marL="0" indent="0">
              <a:buNone/>
            </a:pPr>
            <a:r>
              <a:rPr lang="en-US" dirty="0"/>
              <a:t>☆ To lead a long and healthy life measured by life expectancy at birth;</a:t>
            </a:r>
          </a:p>
          <a:p>
            <a:pPr marL="0" indent="0">
              <a:buNone/>
            </a:pPr>
            <a:r>
              <a:rPr lang="en-US" dirty="0"/>
              <a:t>☆ The ability to acquire knowledge, measured by mean years of schooling and expected years of schooling;</a:t>
            </a:r>
          </a:p>
          <a:p>
            <a:pPr marL="0" indent="0">
              <a:buNone/>
            </a:pPr>
            <a:r>
              <a:rPr lang="en-US" dirty="0"/>
              <a:t>☆ The ability to achieve a decent standard of living, measured by gross national income per capita in PPP US $.</a:t>
            </a:r>
          </a:p>
          <a:p>
            <a:r>
              <a:rPr lang="en-US" dirty="0"/>
              <a:t>The concept of HDI reflects achievements in a most basic human capabilities, </a:t>
            </a:r>
            <a:r>
              <a:rPr lang="en-US" dirty="0" err="1"/>
              <a:t>viz</a:t>
            </a:r>
            <a:r>
              <a:rPr lang="en-US" dirty="0"/>
              <a:t>,</a:t>
            </a:r>
          </a:p>
          <a:p>
            <a:pPr marL="0" indent="0">
              <a:buNone/>
            </a:pPr>
            <a:r>
              <a:rPr lang="en-US" dirty="0"/>
              <a:t>☆ Leading a long life</a:t>
            </a:r>
          </a:p>
          <a:p>
            <a:pPr marL="0" indent="0">
              <a:buNone/>
            </a:pPr>
            <a:r>
              <a:rPr lang="en-US" dirty="0"/>
              <a:t>☆ Being knowledgeable </a:t>
            </a:r>
          </a:p>
          <a:p>
            <a:pPr marL="0" indent="0">
              <a:buNone/>
            </a:pPr>
            <a:r>
              <a:rPr lang="en-US" dirty="0"/>
              <a:t>☆ Enjoying a decent standard of living.</a:t>
            </a:r>
          </a:p>
          <a:p>
            <a:r>
              <a:rPr lang="en-US" dirty="0"/>
              <a:t>The HDI values range between 0 to 1. The HDI value for a country shows the distance that it has already traveled towards maximum possible value to 1, and also allows comparison with other countries.</a:t>
            </a:r>
          </a:p>
        </p:txBody>
      </p:sp>
    </p:spTree>
    <p:extLst>
      <p:ext uri="{BB962C8B-B14F-4D97-AF65-F5344CB8AC3E}">
        <p14:creationId xmlns:p14="http://schemas.microsoft.com/office/powerpoint/2010/main" val="1461678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D21D88-E03F-5D2D-136B-561BBAA818D5}"/>
              </a:ext>
            </a:extLst>
          </p:cNvPr>
          <p:cNvPicPr>
            <a:picLocks noChangeAspect="1"/>
          </p:cNvPicPr>
          <p:nvPr/>
        </p:nvPicPr>
        <p:blipFill>
          <a:blip r:embed="rId2"/>
          <a:stretch>
            <a:fillRect/>
          </a:stretch>
        </p:blipFill>
        <p:spPr>
          <a:xfrm>
            <a:off x="2434983" y="691355"/>
            <a:ext cx="7322034" cy="4869153"/>
          </a:xfrm>
          <a:prstGeom prst="rect">
            <a:avLst/>
          </a:prstGeom>
        </p:spPr>
      </p:pic>
      <p:sp>
        <p:nvSpPr>
          <p:cNvPr id="6" name="TextBox 5">
            <a:extLst>
              <a:ext uri="{FF2B5EF4-FFF2-40B4-BE49-F238E27FC236}">
                <a16:creationId xmlns:a16="http://schemas.microsoft.com/office/drawing/2014/main" id="{BBD39808-7AD3-113E-A426-1F2BEC2102BC}"/>
              </a:ext>
            </a:extLst>
          </p:cNvPr>
          <p:cNvSpPr txBox="1"/>
          <p:nvPr/>
        </p:nvSpPr>
        <p:spPr>
          <a:xfrm>
            <a:off x="2954374" y="5797313"/>
            <a:ext cx="6283251" cy="369332"/>
          </a:xfrm>
          <a:prstGeom prst="rect">
            <a:avLst/>
          </a:prstGeom>
          <a:noFill/>
        </p:spPr>
        <p:txBody>
          <a:bodyPr wrap="square">
            <a:spAutoFit/>
          </a:bodyPr>
          <a:lstStyle/>
          <a:p>
            <a:pPr algn="ctr"/>
            <a:r>
              <a:rPr lang="en-US" b="1" dirty="0"/>
              <a:t>Calculating the Human Development Index (HDI)</a:t>
            </a:r>
          </a:p>
        </p:txBody>
      </p:sp>
    </p:spTree>
    <p:extLst>
      <p:ext uri="{BB962C8B-B14F-4D97-AF65-F5344CB8AC3E}">
        <p14:creationId xmlns:p14="http://schemas.microsoft.com/office/powerpoint/2010/main" val="251080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7F720-8E27-9139-058C-C1C55EE19985}"/>
              </a:ext>
            </a:extLst>
          </p:cNvPr>
          <p:cNvSpPr>
            <a:spLocks noGrp="1"/>
          </p:cNvSpPr>
          <p:nvPr>
            <p:ph type="title"/>
          </p:nvPr>
        </p:nvSpPr>
        <p:spPr/>
        <p:txBody>
          <a:bodyPr/>
          <a:lstStyle/>
          <a:p>
            <a:r>
              <a:rPr lang="en-US" dirty="0"/>
              <a:t>SPECTRUM OF HEALTH </a:t>
            </a:r>
          </a:p>
        </p:txBody>
      </p:sp>
      <p:sp>
        <p:nvSpPr>
          <p:cNvPr id="3" name="Content Placeholder 2">
            <a:extLst>
              <a:ext uri="{FF2B5EF4-FFF2-40B4-BE49-F238E27FC236}">
                <a16:creationId xmlns:a16="http://schemas.microsoft.com/office/drawing/2014/main" id="{C2DA2571-D828-31C3-D9F4-AA1E1DF020EC}"/>
              </a:ext>
            </a:extLst>
          </p:cNvPr>
          <p:cNvSpPr>
            <a:spLocks noGrp="1"/>
          </p:cNvSpPr>
          <p:nvPr>
            <p:ph idx="1"/>
          </p:nvPr>
        </p:nvSpPr>
        <p:spPr/>
        <p:txBody>
          <a:bodyPr>
            <a:normAutofit/>
          </a:bodyPr>
          <a:lstStyle/>
          <a:p>
            <a:r>
              <a:rPr lang="en-US" sz="2400" dirty="0"/>
              <a:t>Health and disease lie along a continuum, and there is no single cut-off point.</a:t>
            </a:r>
          </a:p>
          <a:p>
            <a:r>
              <a:rPr lang="en-US" sz="2400" dirty="0"/>
              <a:t>The lowest point on the health-disease spectrum is death and the highest point corresponds to the WHO definition of positive health.</a:t>
            </a:r>
          </a:p>
          <a:p>
            <a:r>
              <a:rPr lang="en-US" sz="2400" dirty="0"/>
              <a:t>The spectral concept of health emphasizes that the health of an individual is not static; it is a dynamic phenomenon and a process of continuous change, subject to frequent subtle variations.</a:t>
            </a:r>
          </a:p>
        </p:txBody>
      </p:sp>
    </p:spTree>
    <p:extLst>
      <p:ext uri="{BB962C8B-B14F-4D97-AF65-F5344CB8AC3E}">
        <p14:creationId xmlns:p14="http://schemas.microsoft.com/office/powerpoint/2010/main" val="11799768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413AF3-7890-9441-98D6-F6456D882E20}"/>
              </a:ext>
            </a:extLst>
          </p:cNvPr>
          <p:cNvPicPr>
            <a:picLocks noChangeAspect="1"/>
          </p:cNvPicPr>
          <p:nvPr/>
        </p:nvPicPr>
        <p:blipFill>
          <a:blip r:embed="rId2"/>
          <a:stretch>
            <a:fillRect/>
          </a:stretch>
        </p:blipFill>
        <p:spPr>
          <a:xfrm>
            <a:off x="3041507" y="1223096"/>
            <a:ext cx="6386078" cy="4178011"/>
          </a:xfrm>
          <a:prstGeom prst="rect">
            <a:avLst/>
          </a:prstGeom>
        </p:spPr>
      </p:pic>
      <p:sp>
        <p:nvSpPr>
          <p:cNvPr id="6" name="TextBox 5">
            <a:extLst>
              <a:ext uri="{FF2B5EF4-FFF2-40B4-BE49-F238E27FC236}">
                <a16:creationId xmlns:a16="http://schemas.microsoft.com/office/drawing/2014/main" id="{1FCC0201-9BC6-4918-8DFD-DCD9400F9AE0}"/>
              </a:ext>
            </a:extLst>
          </p:cNvPr>
          <p:cNvSpPr txBox="1"/>
          <p:nvPr/>
        </p:nvSpPr>
        <p:spPr>
          <a:xfrm>
            <a:off x="2249372" y="5802586"/>
            <a:ext cx="8273040" cy="369332"/>
          </a:xfrm>
          <a:prstGeom prst="rect">
            <a:avLst/>
          </a:prstGeom>
          <a:noFill/>
        </p:spPr>
        <p:txBody>
          <a:bodyPr wrap="square">
            <a:spAutoFit/>
          </a:bodyPr>
          <a:lstStyle/>
          <a:p>
            <a:pPr algn="ctr"/>
            <a:r>
              <a:rPr lang="en-US" b="1" dirty="0"/>
              <a:t>The health sickness spectrum</a:t>
            </a:r>
          </a:p>
        </p:txBody>
      </p:sp>
    </p:spTree>
    <p:extLst>
      <p:ext uri="{BB962C8B-B14F-4D97-AF65-F5344CB8AC3E}">
        <p14:creationId xmlns:p14="http://schemas.microsoft.com/office/powerpoint/2010/main" val="7992581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F1DE6-48D7-FE6B-8D58-7234ED5C2FF6}"/>
              </a:ext>
            </a:extLst>
          </p:cNvPr>
          <p:cNvSpPr>
            <a:spLocks noGrp="1"/>
          </p:cNvSpPr>
          <p:nvPr>
            <p:ph type="title"/>
          </p:nvPr>
        </p:nvSpPr>
        <p:spPr/>
        <p:txBody>
          <a:bodyPr/>
          <a:lstStyle/>
          <a:p>
            <a:pPr marL="514350" indent="-514350">
              <a:buFont typeface="+mj-lt"/>
              <a:buAutoNum type="arabicPeriod"/>
            </a:pPr>
            <a:r>
              <a:rPr lang="en-US" dirty="0"/>
              <a:t>DETERMINANTS OF HEALTH</a:t>
            </a:r>
          </a:p>
        </p:txBody>
      </p:sp>
      <p:sp>
        <p:nvSpPr>
          <p:cNvPr id="3" name="Content Placeholder 2">
            <a:extLst>
              <a:ext uri="{FF2B5EF4-FFF2-40B4-BE49-F238E27FC236}">
                <a16:creationId xmlns:a16="http://schemas.microsoft.com/office/drawing/2014/main" id="{CFB27A6C-5D72-872D-987D-A733D08A48DA}"/>
              </a:ext>
            </a:extLst>
          </p:cNvPr>
          <p:cNvSpPr>
            <a:spLocks noGrp="1"/>
          </p:cNvSpPr>
          <p:nvPr>
            <p:ph idx="1"/>
          </p:nvPr>
        </p:nvSpPr>
        <p:spPr/>
        <p:txBody>
          <a:bodyPr>
            <a:normAutofit/>
          </a:bodyPr>
          <a:lstStyle/>
          <a:p>
            <a:pPr marL="342900" indent="-342900">
              <a:buFont typeface="+mj-lt"/>
              <a:buAutoNum type="arabicPeriod"/>
            </a:pPr>
            <a:r>
              <a:rPr lang="en-US" sz="2400" dirty="0"/>
              <a:t>Biological Determinants</a:t>
            </a:r>
          </a:p>
          <a:p>
            <a:pPr marL="342900" indent="-342900">
              <a:buFont typeface="+mj-lt"/>
              <a:buAutoNum type="arabicPeriod"/>
            </a:pPr>
            <a:r>
              <a:rPr lang="en-US" sz="2400" dirty="0" err="1"/>
              <a:t>Behavioural</a:t>
            </a:r>
            <a:r>
              <a:rPr lang="en-US" sz="2400" dirty="0"/>
              <a:t> and socio-cultural conditions</a:t>
            </a:r>
          </a:p>
          <a:p>
            <a:pPr marL="342900" indent="-342900">
              <a:buFont typeface="+mj-lt"/>
              <a:buAutoNum type="arabicPeriod"/>
            </a:pPr>
            <a:r>
              <a:rPr lang="en-US" sz="2400" dirty="0"/>
              <a:t>Environment </a:t>
            </a:r>
          </a:p>
          <a:p>
            <a:pPr marL="342900" indent="-342900">
              <a:buFont typeface="+mj-lt"/>
              <a:buAutoNum type="arabicPeriod"/>
            </a:pPr>
            <a:r>
              <a:rPr lang="en-US" sz="2400" dirty="0"/>
              <a:t>Socio-economic conditions </a:t>
            </a:r>
          </a:p>
          <a:p>
            <a:pPr marL="342900" indent="-342900">
              <a:buFont typeface="+mj-lt"/>
              <a:buAutoNum type="arabicPeriod"/>
            </a:pPr>
            <a:r>
              <a:rPr lang="en-US" sz="2400" dirty="0"/>
              <a:t>Aging of the population </a:t>
            </a:r>
          </a:p>
          <a:p>
            <a:pPr marL="342900" indent="-342900">
              <a:buFont typeface="+mj-lt"/>
              <a:buAutoNum type="arabicPeriod"/>
            </a:pPr>
            <a:r>
              <a:rPr lang="en-US" sz="2400" dirty="0"/>
              <a:t>Gender</a:t>
            </a:r>
          </a:p>
          <a:p>
            <a:pPr marL="342900" indent="-342900">
              <a:buFont typeface="+mj-lt"/>
              <a:buAutoNum type="arabicPeriod"/>
            </a:pPr>
            <a:r>
              <a:rPr lang="en-US" sz="2400" dirty="0"/>
              <a:t>Other factors</a:t>
            </a:r>
          </a:p>
        </p:txBody>
      </p:sp>
    </p:spTree>
    <p:extLst>
      <p:ext uri="{BB962C8B-B14F-4D97-AF65-F5344CB8AC3E}">
        <p14:creationId xmlns:p14="http://schemas.microsoft.com/office/powerpoint/2010/main" val="1992065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943A33-6008-A7F1-2CE2-40ED9C1C994B}"/>
              </a:ext>
            </a:extLst>
          </p:cNvPr>
          <p:cNvPicPr>
            <a:picLocks noChangeAspect="1"/>
          </p:cNvPicPr>
          <p:nvPr/>
        </p:nvPicPr>
        <p:blipFill>
          <a:blip r:embed="rId2"/>
          <a:stretch>
            <a:fillRect/>
          </a:stretch>
        </p:blipFill>
        <p:spPr>
          <a:xfrm>
            <a:off x="3365144" y="779730"/>
            <a:ext cx="6155752" cy="4826108"/>
          </a:xfrm>
          <a:prstGeom prst="rect">
            <a:avLst/>
          </a:prstGeom>
        </p:spPr>
      </p:pic>
      <p:sp>
        <p:nvSpPr>
          <p:cNvPr id="6" name="TextBox 5">
            <a:extLst>
              <a:ext uri="{FF2B5EF4-FFF2-40B4-BE49-F238E27FC236}">
                <a16:creationId xmlns:a16="http://schemas.microsoft.com/office/drawing/2014/main" id="{48318B0C-19F5-0261-4716-E0A5FE877DC9}"/>
              </a:ext>
            </a:extLst>
          </p:cNvPr>
          <p:cNvSpPr txBox="1"/>
          <p:nvPr/>
        </p:nvSpPr>
        <p:spPr>
          <a:xfrm>
            <a:off x="3572388" y="5820294"/>
            <a:ext cx="6094194" cy="369332"/>
          </a:xfrm>
          <a:prstGeom prst="rect">
            <a:avLst/>
          </a:prstGeom>
          <a:noFill/>
        </p:spPr>
        <p:txBody>
          <a:bodyPr wrap="square">
            <a:spAutoFit/>
          </a:bodyPr>
          <a:lstStyle/>
          <a:p>
            <a:pPr algn="ctr"/>
            <a:r>
              <a:rPr lang="en-US" b="1" i="1" dirty="0"/>
              <a:t>Determinants of health </a:t>
            </a:r>
          </a:p>
        </p:txBody>
      </p:sp>
    </p:spTree>
    <p:extLst>
      <p:ext uri="{BB962C8B-B14F-4D97-AF65-F5344CB8AC3E}">
        <p14:creationId xmlns:p14="http://schemas.microsoft.com/office/powerpoint/2010/main" val="3628360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F4319-59B4-8560-F593-304495592050}"/>
              </a:ext>
            </a:extLst>
          </p:cNvPr>
          <p:cNvSpPr>
            <a:spLocks noGrp="1"/>
          </p:cNvSpPr>
          <p:nvPr>
            <p:ph type="title" idx="4294967295"/>
          </p:nvPr>
        </p:nvSpPr>
        <p:spPr>
          <a:xfrm>
            <a:off x="0" y="730250"/>
            <a:ext cx="11029950" cy="3587750"/>
          </a:xfrm>
        </p:spPr>
        <p:txBody>
          <a:bodyPr/>
          <a:lstStyle/>
          <a:p>
            <a:r>
              <a:rPr lang="en-US" dirty="0"/>
              <a:t>To be continued in next class</a:t>
            </a:r>
          </a:p>
        </p:txBody>
      </p:sp>
      <p:sp>
        <p:nvSpPr>
          <p:cNvPr id="4" name="TextBox 3">
            <a:extLst>
              <a:ext uri="{FF2B5EF4-FFF2-40B4-BE49-F238E27FC236}">
                <a16:creationId xmlns:a16="http://schemas.microsoft.com/office/drawing/2014/main" id="{344C0EF9-721C-0A96-E2A5-6A84F877C458}"/>
              </a:ext>
            </a:extLst>
          </p:cNvPr>
          <p:cNvSpPr txBox="1"/>
          <p:nvPr/>
        </p:nvSpPr>
        <p:spPr>
          <a:xfrm>
            <a:off x="2500312" y="3560622"/>
            <a:ext cx="7484701" cy="646331"/>
          </a:xfrm>
          <a:prstGeom prst="rect">
            <a:avLst/>
          </a:prstGeom>
          <a:noFill/>
        </p:spPr>
        <p:txBody>
          <a:bodyPr wrap="square">
            <a:spAutoFit/>
          </a:bodyPr>
          <a:lstStyle/>
          <a:p>
            <a:pPr algn="ctr"/>
            <a:r>
              <a:rPr lang="en-US" sz="3600" i="1" dirty="0"/>
              <a:t>To be continued in next class…….</a:t>
            </a:r>
          </a:p>
        </p:txBody>
      </p:sp>
    </p:spTree>
    <p:extLst>
      <p:ext uri="{BB962C8B-B14F-4D97-AF65-F5344CB8AC3E}">
        <p14:creationId xmlns:p14="http://schemas.microsoft.com/office/powerpoint/2010/main" val="41706062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95934B-4544-2A72-6048-72F5C3197467}"/>
              </a:ext>
            </a:extLst>
          </p:cNvPr>
          <p:cNvPicPr>
            <a:picLocks noChangeAspect="1"/>
          </p:cNvPicPr>
          <p:nvPr/>
        </p:nvPicPr>
        <p:blipFill>
          <a:blip r:embed="rId2"/>
          <a:stretch>
            <a:fillRect/>
          </a:stretch>
        </p:blipFill>
        <p:spPr>
          <a:xfrm>
            <a:off x="1203613" y="1236950"/>
            <a:ext cx="9784773" cy="4759470"/>
          </a:xfrm>
          <a:prstGeom prst="rect">
            <a:avLst/>
          </a:prstGeom>
        </p:spPr>
      </p:pic>
    </p:spTree>
    <p:extLst>
      <p:ext uri="{BB962C8B-B14F-4D97-AF65-F5344CB8AC3E}">
        <p14:creationId xmlns:p14="http://schemas.microsoft.com/office/powerpoint/2010/main" val="127661187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29</Slides>
  <Notes>0</Notes>
  <HiddenSlides>0</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Dividend</vt:lpstr>
      <vt:lpstr>Concept of health and disease </vt:lpstr>
      <vt:lpstr>Concept of health </vt:lpstr>
      <vt:lpstr>DEFINITION OF HEALTH</vt:lpstr>
      <vt:lpstr>Biomedical concept</vt:lpstr>
      <vt:lpstr>Ecological concept</vt:lpstr>
      <vt:lpstr>Psychosocial concept</vt:lpstr>
      <vt:lpstr>Holistic Concept</vt:lpstr>
      <vt:lpstr>New philosophy of health</vt:lpstr>
      <vt:lpstr>Dimensions of health </vt:lpstr>
      <vt:lpstr>PowerPoint Presentation</vt:lpstr>
      <vt:lpstr>PHYSICAL DIMENSION</vt:lpstr>
      <vt:lpstr>Evaluation of physical health </vt:lpstr>
      <vt:lpstr>Mental dimension </vt:lpstr>
      <vt:lpstr>PowerPoint Presentation</vt:lpstr>
      <vt:lpstr>Social dimensions </vt:lpstr>
      <vt:lpstr>Spiritual dimension </vt:lpstr>
      <vt:lpstr>Emotional dimension </vt:lpstr>
      <vt:lpstr>Positive health</vt:lpstr>
      <vt:lpstr>Concept of well-being</vt:lpstr>
      <vt:lpstr>PowerPoint Presentation</vt:lpstr>
      <vt:lpstr>Physical quality of life index (pqli)</vt:lpstr>
      <vt:lpstr>Human development index (hdi)</vt:lpstr>
      <vt:lpstr>PowerPoint Presentation</vt:lpstr>
      <vt:lpstr>SPECTRUM OF HEALTH </vt:lpstr>
      <vt:lpstr>PowerPoint Presentation</vt:lpstr>
      <vt:lpstr>DETERMINANTS OF HEALTH</vt:lpstr>
      <vt:lpstr>PowerPoint Presentation</vt:lpstr>
      <vt:lpstr>To be continued in next class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of health and disease </dc:title>
  <dc:creator>manvisingh316@gmail.com</dc:creator>
  <cp:lastModifiedBy>manvisingh316@gmail.com</cp:lastModifiedBy>
  <cp:revision>4</cp:revision>
  <dcterms:created xsi:type="dcterms:W3CDTF">2023-11-21T16:16:24Z</dcterms:created>
  <dcterms:modified xsi:type="dcterms:W3CDTF">2023-11-22T21:08:19Z</dcterms:modified>
</cp:coreProperties>
</file>