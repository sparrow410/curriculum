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83" r:id="rId8"/>
    <p:sldId id="262" r:id="rId9"/>
    <p:sldId id="263" r:id="rId10"/>
    <p:sldId id="284" r:id="rId11"/>
    <p:sldId id="264" r:id="rId12"/>
    <p:sldId id="285" r:id="rId13"/>
    <p:sldId id="265" r:id="rId14"/>
    <p:sldId id="266" r:id="rId15"/>
    <p:sldId id="267" r:id="rId16"/>
    <p:sldId id="287" r:id="rId17"/>
    <p:sldId id="268" r:id="rId18"/>
    <p:sldId id="286" r:id="rId19"/>
    <p:sldId id="269" r:id="rId20"/>
    <p:sldId id="288" r:id="rId21"/>
    <p:sldId id="270" r:id="rId22"/>
    <p:sldId id="290" r:id="rId23"/>
    <p:sldId id="271" r:id="rId24"/>
    <p:sldId id="289" r:id="rId25"/>
    <p:sldId id="272" r:id="rId26"/>
    <p:sldId id="273" r:id="rId27"/>
    <p:sldId id="274" r:id="rId28"/>
    <p:sldId id="281" r:id="rId29"/>
    <p:sldId id="275" r:id="rId30"/>
    <p:sldId id="276" r:id="rId31"/>
    <p:sldId id="277" r:id="rId32"/>
    <p:sldId id="282" r:id="rId33"/>
    <p:sldId id="278" r:id="rId34"/>
    <p:sldId id="279" r:id="rId35"/>
    <p:sldId id="28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73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298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E8F5"/>
        </a:solidFill>
        <a:effectLst/>
      </p:bgPr>
    </p:bg>
    <p:spTree>
      <p:nvGrpSpPr>
        <p:cNvPr id="1" name=""/>
        <p:cNvGrpSpPr/>
        <p:nvPr/>
      </p:nvGrpSpPr>
      <p:grpSpPr>
        <a:xfrm>
          <a:off x="0" y="0"/>
          <a:ext cx="0" cy="0"/>
          <a:chOff x="0" y="0"/>
          <a:chExt cx="0" cy="0"/>
        </a:xfrm>
      </p:grpSpPr>
      <p:sp>
        <p:nvSpPr>
          <p:cNvPr id="2" name="Shape 0"/>
          <p:cNvSpPr/>
          <p:nvPr/>
        </p:nvSpPr>
        <p:spPr>
          <a:xfrm>
            <a:off x="7772400" y="-457200"/>
            <a:ext cx="3200400" cy="3200400"/>
          </a:xfrm>
          <a:prstGeom prst="ellipse">
            <a:avLst/>
          </a:prstGeom>
          <a:solidFill>
            <a:srgbClr val="9C27B0"/>
          </a:solidFill>
          <a:ln/>
        </p:spPr>
      </p:sp>
      <p:sp>
        <p:nvSpPr>
          <p:cNvPr id="3" name="Shape 1"/>
          <p:cNvSpPr/>
          <p:nvPr/>
        </p:nvSpPr>
        <p:spPr>
          <a:xfrm>
            <a:off x="-731520" y="3200400"/>
            <a:ext cx="2560320" cy="2560320"/>
          </a:xfrm>
          <a:prstGeom prst="ellipse">
            <a:avLst/>
          </a:prstGeom>
          <a:solidFill>
            <a:srgbClr val="6A0080"/>
          </a:solidFill>
          <a:ln/>
        </p:spPr>
      </p:sp>
      <p:sp>
        <p:nvSpPr>
          <p:cNvPr id="4" name="Shape 2"/>
          <p:cNvSpPr/>
          <p:nvPr/>
        </p:nvSpPr>
        <p:spPr>
          <a:xfrm>
            <a:off x="7132320" y="3474720"/>
            <a:ext cx="1645920" cy="1645920"/>
          </a:xfrm>
          <a:prstGeom prst="ellipse">
            <a:avLst/>
          </a:prstGeom>
          <a:solidFill>
            <a:srgbClr val="CE93D8"/>
          </a:solidFill>
          <a:ln/>
        </p:spPr>
      </p:sp>
      <p:sp>
        <p:nvSpPr>
          <p:cNvPr id="5" name="Text 3"/>
          <p:cNvSpPr/>
          <p:nvPr/>
        </p:nvSpPr>
        <p:spPr>
          <a:xfrm>
            <a:off x="457200" y="1325880"/>
            <a:ext cx="8229600" cy="914400"/>
          </a:xfrm>
          <a:prstGeom prst="rect">
            <a:avLst/>
          </a:prstGeom>
          <a:noFill/>
          <a:ln/>
        </p:spPr>
        <p:txBody>
          <a:bodyPr wrap="square" rtlCol="0" anchor="ctr"/>
          <a:lstStyle/>
          <a:p>
            <a:pPr marL="0" indent="0" algn="ctr">
              <a:buNone/>
            </a:pPr>
            <a:r>
              <a:rPr lang="en-US" sz="4400" b="1" dirty="0">
                <a:solidFill>
                  <a:srgbClr val="002060"/>
                </a:solidFill>
              </a:rPr>
              <a:t>Understanding Menstrual Hygiene</a:t>
            </a:r>
            <a:endParaRPr lang="en-US" sz="4400" dirty="0">
              <a:solidFill>
                <a:srgbClr val="002060"/>
              </a:solidFill>
            </a:endParaRPr>
          </a:p>
        </p:txBody>
      </p:sp>
      <p:sp>
        <p:nvSpPr>
          <p:cNvPr id="7" name="Shape 5"/>
          <p:cNvSpPr/>
          <p:nvPr/>
        </p:nvSpPr>
        <p:spPr>
          <a:xfrm>
            <a:off x="2286000" y="2265052"/>
            <a:ext cx="4572000" cy="54864"/>
          </a:xfrm>
          <a:prstGeom prst="rect">
            <a:avLst/>
          </a:prstGeom>
          <a:solidFill>
            <a:srgbClr val="FFC107"/>
          </a:solidFill>
          <a:ln/>
        </p:spPr>
      </p:sp>
      <p:sp>
        <p:nvSpPr>
          <p:cNvPr id="8" name="Text 6"/>
          <p:cNvSpPr/>
          <p:nvPr/>
        </p:nvSpPr>
        <p:spPr>
          <a:xfrm>
            <a:off x="457200" y="2417802"/>
            <a:ext cx="8229600" cy="457200"/>
          </a:xfrm>
          <a:prstGeom prst="rect">
            <a:avLst/>
          </a:prstGeom>
          <a:noFill/>
          <a:ln/>
        </p:spPr>
        <p:txBody>
          <a:bodyPr wrap="square" rtlCol="0" anchor="ctr"/>
          <a:lstStyle/>
          <a:p>
            <a:pPr marL="0" indent="0" algn="ctr">
              <a:buNone/>
            </a:pPr>
            <a:r>
              <a:rPr lang="en-US" sz="3200" b="1" dirty="0">
                <a:solidFill>
                  <a:srgbClr val="7030A0"/>
                </a:solidFill>
              </a:rPr>
              <a:t>Practices • Products • Health • Myths Busted!</a:t>
            </a:r>
          </a:p>
        </p:txBody>
      </p:sp>
      <p:sp>
        <p:nvSpPr>
          <p:cNvPr id="9" name="Text 7"/>
          <p:cNvSpPr/>
          <p:nvPr/>
        </p:nvSpPr>
        <p:spPr>
          <a:xfrm>
            <a:off x="457200" y="4480560"/>
            <a:ext cx="8229600" cy="365760"/>
          </a:xfrm>
          <a:prstGeom prst="rect">
            <a:avLst/>
          </a:prstGeom>
          <a:noFill/>
          <a:ln/>
        </p:spPr>
        <p:txBody>
          <a:bodyPr wrap="square" rtlCol="0" anchor="ctr"/>
          <a:lstStyle/>
          <a:p>
            <a:pPr marL="0" indent="0" algn="ctr">
              <a:buNone/>
            </a:pPr>
            <a:r>
              <a:rPr lang="en-US" sz="1320" b="1" dirty="0"/>
              <a:t>School Health Programme — Adolescent Education</a:t>
            </a:r>
          </a:p>
        </p:txBody>
      </p:sp>
      <p:sp>
        <p:nvSpPr>
          <p:cNvPr id="10" name="TextBox 9">
            <a:extLst>
              <a:ext uri="{FF2B5EF4-FFF2-40B4-BE49-F238E27FC236}">
                <a16:creationId xmlns:a16="http://schemas.microsoft.com/office/drawing/2014/main" id="{E87DE3B2-994A-10C6-3A8E-9006A100AA1C}"/>
              </a:ext>
            </a:extLst>
          </p:cNvPr>
          <p:cNvSpPr txBox="1"/>
          <p:nvPr/>
        </p:nvSpPr>
        <p:spPr>
          <a:xfrm>
            <a:off x="2855626" y="3101369"/>
            <a:ext cx="3327817" cy="461665"/>
          </a:xfrm>
          <a:prstGeom prst="rect">
            <a:avLst/>
          </a:prstGeom>
          <a:noFill/>
        </p:spPr>
        <p:txBody>
          <a:bodyPr wrap="square" rtlCol="0">
            <a:spAutoFit/>
          </a:bodyPr>
          <a:lstStyle/>
          <a:p>
            <a:pPr algn="ctr"/>
            <a:r>
              <a:rPr lang="en-US" sz="2400" dirty="0"/>
              <a:t>Dr. Manvi Singh</a:t>
            </a:r>
            <a:endParaRPr lang="en-IN" sz="2400" dirty="0"/>
          </a:p>
        </p:txBody>
      </p:sp>
      <p:sp>
        <p:nvSpPr>
          <p:cNvPr id="11" name="TextBox 10">
            <a:extLst>
              <a:ext uri="{FF2B5EF4-FFF2-40B4-BE49-F238E27FC236}">
                <a16:creationId xmlns:a16="http://schemas.microsoft.com/office/drawing/2014/main" id="{1316F85F-490D-DFB2-8D5F-61D3FDFEA744}"/>
              </a:ext>
            </a:extLst>
          </p:cNvPr>
          <p:cNvSpPr txBox="1"/>
          <p:nvPr/>
        </p:nvSpPr>
        <p:spPr>
          <a:xfrm>
            <a:off x="2610537" y="3522672"/>
            <a:ext cx="3740046" cy="646331"/>
          </a:xfrm>
          <a:prstGeom prst="rect">
            <a:avLst/>
          </a:prstGeom>
          <a:noFill/>
        </p:spPr>
        <p:txBody>
          <a:bodyPr wrap="square" rtlCol="0">
            <a:spAutoFit/>
          </a:bodyPr>
          <a:lstStyle/>
          <a:p>
            <a:pPr algn="ctr"/>
            <a:r>
              <a:rPr lang="en-US" dirty="0"/>
              <a:t>Department of Community Medicine</a:t>
            </a:r>
          </a:p>
          <a:p>
            <a:pPr algn="ctr"/>
            <a:r>
              <a:rPr lang="en-US" dirty="0"/>
              <a:t>Rajshree Medical Research Institute</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3E0"/>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914400"/>
          </a:xfrm>
          <a:prstGeom prst="rect">
            <a:avLst/>
          </a:prstGeom>
          <a:solidFill>
            <a:srgbClr val="E91E8C"/>
          </a:solidFill>
          <a:ln/>
          <a:effectLst>
            <a:outerShdw blurRad="101600" dist="38100" dir="8100000" algn="bl" rotWithShape="0">
              <a:srgbClr val="000000">
                <a:alpha val="10000"/>
              </a:srgbClr>
            </a:outerShdw>
          </a:effectLst>
        </p:spPr>
      </p:sp>
      <p:sp>
        <p:nvSpPr>
          <p:cNvPr id="3" name="Text 1"/>
          <p:cNvSpPr/>
          <p:nvPr/>
        </p:nvSpPr>
        <p:spPr>
          <a:xfrm>
            <a:off x="274320" y="137160"/>
            <a:ext cx="8595360" cy="914400"/>
          </a:xfrm>
          <a:prstGeom prst="rect">
            <a:avLst/>
          </a:prstGeom>
          <a:noFill/>
          <a:ln/>
        </p:spPr>
        <p:txBody>
          <a:bodyPr wrap="square" lIns="0" tIns="0" rIns="0" bIns="0" rtlCol="0" anchor="ctr"/>
          <a:lstStyle/>
          <a:p>
            <a:pPr marL="0" indent="0" algn="ctr">
              <a:buNone/>
            </a:pPr>
            <a:r>
              <a:rPr lang="en-US" sz="3200" b="1" dirty="0">
                <a:solidFill>
                  <a:srgbClr val="FFFFFF"/>
                </a:solidFill>
              </a:rPr>
              <a:t>What is Menstruation?</a:t>
            </a:r>
            <a:endParaRPr lang="en-US" sz="3200" dirty="0"/>
          </a:p>
        </p:txBody>
      </p:sp>
      <p:sp>
        <p:nvSpPr>
          <p:cNvPr id="4" name="Shape 2"/>
          <p:cNvSpPr/>
          <p:nvPr/>
        </p:nvSpPr>
        <p:spPr>
          <a:xfrm>
            <a:off x="365760" y="1234440"/>
            <a:ext cx="8412480" cy="201168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02920" y="1325880"/>
            <a:ext cx="8138160" cy="1828800"/>
          </a:xfrm>
          <a:prstGeom prst="rect">
            <a:avLst/>
          </a:prstGeom>
          <a:noFill/>
          <a:ln/>
        </p:spPr>
        <p:txBody>
          <a:bodyPr wrap="square" rtlCol="0" anchor="ctr"/>
          <a:lstStyle/>
          <a:p>
            <a:pPr marL="0" indent="0">
              <a:buNone/>
            </a:pPr>
            <a:r>
              <a:rPr lang="en-US" sz="1800" dirty="0">
                <a:solidFill>
                  <a:srgbClr val="212121"/>
                </a:solidFill>
              </a:rPr>
              <a:t>Menstruation is when the inner lining of the uterus (womb) is shed each month, causing some bleeding from the vagina.</a:t>
            </a:r>
            <a:endParaRPr lang="en-US" sz="1800" dirty="0"/>
          </a:p>
          <a:p>
            <a:pPr marL="0" indent="0">
              <a:buNone/>
            </a:pPr>
            <a:r>
              <a:rPr lang="en-US" sz="720" dirty="0">
                <a:solidFill>
                  <a:srgbClr val="212121"/>
                </a:solidFill>
              </a:rPr>
              <a:t> </a:t>
            </a:r>
            <a:endParaRPr lang="en-US" sz="1800" dirty="0"/>
          </a:p>
          <a:p>
            <a:pPr marL="0" indent="0">
              <a:buNone/>
            </a:pPr>
            <a:r>
              <a:rPr lang="en-US" sz="1800" b="1" dirty="0">
                <a:solidFill>
                  <a:srgbClr val="7B2D8B"/>
                </a:solidFill>
              </a:rPr>
              <a:t>💡 It is completely NORMAL — it is NOT a disease, NOT impurity, and NOT something to be ashamed of!</a:t>
            </a:r>
            <a:endParaRPr lang="en-US" sz="1800" dirty="0"/>
          </a:p>
          <a:p>
            <a:pPr marL="0" indent="0">
              <a:buNone/>
            </a:pPr>
            <a:r>
              <a:rPr lang="en-US" sz="720" dirty="0">
                <a:solidFill>
                  <a:srgbClr val="212121"/>
                </a:solidFill>
              </a:rPr>
              <a:t> </a:t>
            </a:r>
            <a:endParaRPr lang="en-US" sz="1800" dirty="0"/>
          </a:p>
          <a:p>
            <a:pPr marL="0" indent="0">
              <a:buNone/>
            </a:pPr>
            <a:r>
              <a:rPr lang="en-US" sz="1800" dirty="0">
                <a:solidFill>
                  <a:srgbClr val="212121"/>
                </a:solidFill>
              </a:rPr>
              <a:t>It is simply a sign that your body is growing up and is healthy! </a:t>
            </a:r>
            <a:endParaRPr lang="en-US" sz="1800" dirty="0"/>
          </a:p>
        </p:txBody>
      </p:sp>
      <p:sp>
        <p:nvSpPr>
          <p:cNvPr id="6" name="Shape 4"/>
          <p:cNvSpPr/>
          <p:nvPr/>
        </p:nvSpPr>
        <p:spPr>
          <a:xfrm>
            <a:off x="457200" y="3383280"/>
            <a:ext cx="2560320" cy="1508760"/>
          </a:xfrm>
          <a:prstGeom prst="rect">
            <a:avLst/>
          </a:prstGeom>
          <a:solidFill>
            <a:srgbClr val="E91E8C"/>
          </a:solidFill>
          <a:ln/>
          <a:effectLst>
            <a:outerShdw blurRad="101600" dist="38100" dir="8100000" algn="bl" rotWithShape="0">
              <a:srgbClr val="000000">
                <a:alpha val="10000"/>
              </a:srgbClr>
            </a:outerShdw>
          </a:effectLst>
        </p:spPr>
      </p:sp>
      <p:sp>
        <p:nvSpPr>
          <p:cNvPr id="7" name="Text 5"/>
          <p:cNvSpPr/>
          <p:nvPr/>
        </p:nvSpPr>
        <p:spPr>
          <a:xfrm>
            <a:off x="457200" y="3429000"/>
            <a:ext cx="2560320" cy="777240"/>
          </a:xfrm>
          <a:prstGeom prst="rect">
            <a:avLst/>
          </a:prstGeom>
          <a:noFill/>
          <a:ln/>
        </p:spPr>
        <p:txBody>
          <a:bodyPr wrap="square" rtlCol="0" anchor="ctr"/>
          <a:lstStyle/>
          <a:p>
            <a:pPr marL="0" indent="0" algn="ctr">
              <a:buNone/>
            </a:pPr>
            <a:r>
              <a:rPr lang="en-US" sz="2400" b="1" dirty="0">
                <a:solidFill>
                  <a:srgbClr val="FFFFFF"/>
                </a:solidFill>
              </a:rPr>
              <a:t>9–16 yrs</a:t>
            </a:r>
            <a:endParaRPr lang="en-US" sz="2400" dirty="0"/>
          </a:p>
        </p:txBody>
      </p:sp>
      <p:sp>
        <p:nvSpPr>
          <p:cNvPr id="8" name="Text 6"/>
          <p:cNvSpPr/>
          <p:nvPr/>
        </p:nvSpPr>
        <p:spPr>
          <a:xfrm>
            <a:off x="457200" y="4160520"/>
            <a:ext cx="2560320" cy="685800"/>
          </a:xfrm>
          <a:prstGeom prst="rect">
            <a:avLst/>
          </a:prstGeom>
          <a:noFill/>
          <a:ln/>
        </p:spPr>
        <p:txBody>
          <a:bodyPr wrap="square" rtlCol="0" anchor="ctr"/>
          <a:lstStyle/>
          <a:p>
            <a:pPr marL="0" indent="0" algn="ctr">
              <a:buNone/>
            </a:pPr>
            <a:r>
              <a:rPr lang="en-US" sz="2000" dirty="0">
                <a:solidFill>
                  <a:srgbClr val="FFFFFF"/>
                </a:solidFill>
              </a:rPr>
              <a:t>First Period</a:t>
            </a:r>
            <a:endParaRPr lang="en-US" sz="2000" dirty="0"/>
          </a:p>
        </p:txBody>
      </p:sp>
      <p:sp>
        <p:nvSpPr>
          <p:cNvPr id="9" name="Shape 7"/>
          <p:cNvSpPr/>
          <p:nvPr/>
        </p:nvSpPr>
        <p:spPr>
          <a:xfrm>
            <a:off x="3291840" y="3383280"/>
            <a:ext cx="2560320" cy="1508760"/>
          </a:xfrm>
          <a:prstGeom prst="rect">
            <a:avLst/>
          </a:prstGeom>
          <a:solidFill>
            <a:srgbClr val="7B2D8B"/>
          </a:solidFill>
          <a:ln/>
          <a:effectLst>
            <a:outerShdw blurRad="101600" dist="38100" dir="8100000" algn="bl" rotWithShape="0">
              <a:srgbClr val="000000">
                <a:alpha val="10000"/>
              </a:srgbClr>
            </a:outerShdw>
          </a:effectLst>
        </p:spPr>
      </p:sp>
      <p:sp>
        <p:nvSpPr>
          <p:cNvPr id="10" name="Text 8"/>
          <p:cNvSpPr/>
          <p:nvPr/>
        </p:nvSpPr>
        <p:spPr>
          <a:xfrm>
            <a:off x="3291840" y="3429000"/>
            <a:ext cx="2560320" cy="777240"/>
          </a:xfrm>
          <a:prstGeom prst="rect">
            <a:avLst/>
          </a:prstGeom>
          <a:noFill/>
          <a:ln/>
        </p:spPr>
        <p:txBody>
          <a:bodyPr wrap="square" rtlCol="0" anchor="ctr"/>
          <a:lstStyle/>
          <a:p>
            <a:pPr marL="0" indent="0" algn="ctr">
              <a:buNone/>
            </a:pPr>
            <a:r>
              <a:rPr lang="en-US" sz="2400" b="1" dirty="0">
                <a:solidFill>
                  <a:srgbClr val="FFFFFF"/>
                </a:solidFill>
              </a:rPr>
              <a:t>21–40 days</a:t>
            </a:r>
            <a:endParaRPr lang="en-US" sz="2400" dirty="0"/>
          </a:p>
        </p:txBody>
      </p:sp>
      <p:sp>
        <p:nvSpPr>
          <p:cNvPr id="11" name="Text 9"/>
          <p:cNvSpPr/>
          <p:nvPr/>
        </p:nvSpPr>
        <p:spPr>
          <a:xfrm>
            <a:off x="3291840" y="4160520"/>
            <a:ext cx="2560320" cy="685800"/>
          </a:xfrm>
          <a:prstGeom prst="rect">
            <a:avLst/>
          </a:prstGeom>
          <a:noFill/>
          <a:ln/>
        </p:spPr>
        <p:txBody>
          <a:bodyPr wrap="square" rtlCol="0" anchor="ctr"/>
          <a:lstStyle/>
          <a:p>
            <a:pPr marL="0" indent="0" algn="ctr">
              <a:buNone/>
            </a:pPr>
            <a:r>
              <a:rPr lang="en-US" sz="2000" dirty="0">
                <a:solidFill>
                  <a:srgbClr val="FFFFFF"/>
                </a:solidFill>
              </a:rPr>
              <a:t>Cycle Length</a:t>
            </a:r>
            <a:endParaRPr lang="en-US" sz="2000" dirty="0"/>
          </a:p>
        </p:txBody>
      </p:sp>
      <p:sp>
        <p:nvSpPr>
          <p:cNvPr id="12" name="Shape 10"/>
          <p:cNvSpPr/>
          <p:nvPr/>
        </p:nvSpPr>
        <p:spPr>
          <a:xfrm>
            <a:off x="6126480" y="3383280"/>
            <a:ext cx="2560320" cy="1508760"/>
          </a:xfrm>
          <a:prstGeom prst="rect">
            <a:avLst/>
          </a:prstGeom>
          <a:solidFill>
            <a:srgbClr val="009688"/>
          </a:solidFill>
          <a:ln/>
          <a:effectLst>
            <a:outerShdw blurRad="101600" dist="38100" dir="8100000" algn="bl" rotWithShape="0">
              <a:srgbClr val="000000">
                <a:alpha val="10000"/>
              </a:srgbClr>
            </a:outerShdw>
          </a:effectLst>
        </p:spPr>
      </p:sp>
      <p:sp>
        <p:nvSpPr>
          <p:cNvPr id="13" name="Text 11"/>
          <p:cNvSpPr/>
          <p:nvPr/>
        </p:nvSpPr>
        <p:spPr>
          <a:xfrm>
            <a:off x="6126480" y="3429000"/>
            <a:ext cx="2560320" cy="777240"/>
          </a:xfrm>
          <a:prstGeom prst="rect">
            <a:avLst/>
          </a:prstGeom>
          <a:noFill/>
          <a:ln/>
        </p:spPr>
        <p:txBody>
          <a:bodyPr wrap="square" rtlCol="0" anchor="ctr"/>
          <a:lstStyle/>
          <a:p>
            <a:pPr marL="0" indent="0" algn="ctr">
              <a:buNone/>
            </a:pPr>
            <a:r>
              <a:rPr lang="en-US" sz="2400" b="1" dirty="0">
                <a:solidFill>
                  <a:srgbClr val="FFFFFF"/>
                </a:solidFill>
              </a:rPr>
              <a:t>3–7 days</a:t>
            </a:r>
            <a:endParaRPr lang="en-US" sz="2400" dirty="0"/>
          </a:p>
        </p:txBody>
      </p:sp>
      <p:sp>
        <p:nvSpPr>
          <p:cNvPr id="14" name="Text 12"/>
          <p:cNvSpPr/>
          <p:nvPr/>
        </p:nvSpPr>
        <p:spPr>
          <a:xfrm>
            <a:off x="6126480" y="4160520"/>
            <a:ext cx="2560320" cy="685800"/>
          </a:xfrm>
          <a:prstGeom prst="rect">
            <a:avLst/>
          </a:prstGeom>
          <a:noFill/>
          <a:ln/>
        </p:spPr>
        <p:txBody>
          <a:bodyPr wrap="square" rtlCol="0" anchor="ctr"/>
          <a:lstStyle/>
          <a:p>
            <a:pPr marL="0" indent="0" algn="ctr">
              <a:buNone/>
            </a:pPr>
            <a:r>
              <a:rPr lang="en-US" sz="2000" dirty="0">
                <a:solidFill>
                  <a:srgbClr val="FFFFFF"/>
                </a:solidFill>
              </a:rPr>
              <a:t>Bleeding Days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5E9"/>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7B2D8B"/>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Your Monthly Cycle – 3 Phases</a:t>
            </a:r>
            <a:endParaRPr lang="en-US" sz="3120" dirty="0"/>
          </a:p>
        </p:txBody>
      </p:sp>
      <p:sp>
        <p:nvSpPr>
          <p:cNvPr id="4" name="Shape 2"/>
          <p:cNvSpPr/>
          <p:nvPr/>
        </p:nvSpPr>
        <p:spPr>
          <a:xfrm>
            <a:off x="320040" y="1143000"/>
            <a:ext cx="8503920" cy="1097280"/>
          </a:xfrm>
          <a:prstGeom prst="rect">
            <a:avLst/>
          </a:prstGeom>
          <a:solidFill>
            <a:srgbClr val="FADADD"/>
          </a:solidFill>
          <a:ln/>
          <a:effectLst>
            <a:outerShdw blurRad="101600" dist="38100" dir="8100000" algn="bl" rotWithShape="0">
              <a:srgbClr val="000000">
                <a:alpha val="10000"/>
              </a:srgbClr>
            </a:outerShdw>
          </a:effectLst>
        </p:spPr>
      </p:sp>
      <p:sp>
        <p:nvSpPr>
          <p:cNvPr id="5" name="Shape 3"/>
          <p:cNvSpPr/>
          <p:nvPr/>
        </p:nvSpPr>
        <p:spPr>
          <a:xfrm>
            <a:off x="320040" y="1143000"/>
            <a:ext cx="228600" cy="1097280"/>
          </a:xfrm>
          <a:prstGeom prst="rect">
            <a:avLst/>
          </a:prstGeom>
          <a:solidFill>
            <a:srgbClr val="E91E8C"/>
          </a:solidFill>
          <a:ln/>
        </p:spPr>
      </p:sp>
      <p:sp>
        <p:nvSpPr>
          <p:cNvPr id="6" name="Text 4"/>
          <p:cNvSpPr/>
          <p:nvPr/>
        </p:nvSpPr>
        <p:spPr>
          <a:xfrm>
            <a:off x="685800" y="1234440"/>
            <a:ext cx="3657600" cy="411480"/>
          </a:xfrm>
          <a:prstGeom prst="rect">
            <a:avLst/>
          </a:prstGeom>
          <a:noFill/>
          <a:ln/>
        </p:spPr>
        <p:txBody>
          <a:bodyPr wrap="square" rtlCol="0" anchor="ctr"/>
          <a:lstStyle/>
          <a:p>
            <a:pPr marL="0" indent="0">
              <a:buNone/>
            </a:pPr>
            <a:r>
              <a:rPr lang="en-US" sz="1800" b="1" dirty="0">
                <a:solidFill>
                  <a:srgbClr val="212121"/>
                </a:solidFill>
              </a:rPr>
              <a:t>🔴  Days 1–7: Period</a:t>
            </a:r>
            <a:endParaRPr lang="en-US" sz="1800" dirty="0"/>
          </a:p>
        </p:txBody>
      </p:sp>
      <p:sp>
        <p:nvSpPr>
          <p:cNvPr id="7" name="Text 5"/>
          <p:cNvSpPr/>
          <p:nvPr/>
        </p:nvSpPr>
        <p:spPr>
          <a:xfrm>
            <a:off x="685800" y="1645920"/>
            <a:ext cx="7863840" cy="548640"/>
          </a:xfrm>
          <a:prstGeom prst="rect">
            <a:avLst/>
          </a:prstGeom>
          <a:noFill/>
          <a:ln/>
        </p:spPr>
        <p:txBody>
          <a:bodyPr wrap="square" rtlCol="0" anchor="ctr"/>
          <a:lstStyle/>
          <a:p>
            <a:pPr marL="0" indent="0">
              <a:buNone/>
            </a:pPr>
            <a:r>
              <a:rPr lang="en-US" sz="1560" dirty="0">
                <a:solidFill>
                  <a:srgbClr val="212121"/>
                </a:solidFill>
              </a:rPr>
              <a:t>The uterus sheds its lining. Bleeding happens. You may feel some cramps — that's normal!</a:t>
            </a:r>
            <a:endParaRPr lang="en-US" sz="1560" dirty="0"/>
          </a:p>
        </p:txBody>
      </p:sp>
      <p:sp>
        <p:nvSpPr>
          <p:cNvPr id="8" name="Shape 6"/>
          <p:cNvSpPr/>
          <p:nvPr/>
        </p:nvSpPr>
        <p:spPr>
          <a:xfrm>
            <a:off x="320040" y="2377440"/>
            <a:ext cx="8503920" cy="1097280"/>
          </a:xfrm>
          <a:prstGeom prst="rect">
            <a:avLst/>
          </a:prstGeom>
          <a:solidFill>
            <a:srgbClr val="FFF9C4"/>
          </a:solidFill>
          <a:ln/>
          <a:effectLst>
            <a:outerShdw blurRad="101600" dist="38100" dir="8100000" algn="bl" rotWithShape="0">
              <a:srgbClr val="000000">
                <a:alpha val="10000"/>
              </a:srgbClr>
            </a:outerShdw>
          </a:effectLst>
        </p:spPr>
      </p:sp>
      <p:sp>
        <p:nvSpPr>
          <p:cNvPr id="9" name="Shape 7"/>
          <p:cNvSpPr/>
          <p:nvPr/>
        </p:nvSpPr>
        <p:spPr>
          <a:xfrm>
            <a:off x="320040" y="2377440"/>
            <a:ext cx="228600" cy="1097280"/>
          </a:xfrm>
          <a:prstGeom prst="rect">
            <a:avLst/>
          </a:prstGeom>
          <a:solidFill>
            <a:srgbClr val="FFC107"/>
          </a:solidFill>
          <a:ln/>
        </p:spPr>
      </p:sp>
      <p:sp>
        <p:nvSpPr>
          <p:cNvPr id="10" name="Text 8"/>
          <p:cNvSpPr/>
          <p:nvPr/>
        </p:nvSpPr>
        <p:spPr>
          <a:xfrm>
            <a:off x="685800" y="2468880"/>
            <a:ext cx="3657600" cy="411480"/>
          </a:xfrm>
          <a:prstGeom prst="rect">
            <a:avLst/>
          </a:prstGeom>
          <a:noFill/>
          <a:ln/>
        </p:spPr>
        <p:txBody>
          <a:bodyPr wrap="square" rtlCol="0" anchor="ctr"/>
          <a:lstStyle/>
          <a:p>
            <a:pPr marL="0" indent="0">
              <a:buNone/>
            </a:pPr>
            <a:r>
              <a:rPr lang="en-US" sz="1800" b="1" dirty="0">
                <a:solidFill>
                  <a:srgbClr val="212121"/>
                </a:solidFill>
              </a:rPr>
              <a:t>🟡  Days 8–14: Recovery</a:t>
            </a:r>
            <a:endParaRPr lang="en-US" sz="1800" dirty="0"/>
          </a:p>
        </p:txBody>
      </p:sp>
      <p:sp>
        <p:nvSpPr>
          <p:cNvPr id="11" name="Text 9"/>
          <p:cNvSpPr/>
          <p:nvPr/>
        </p:nvSpPr>
        <p:spPr>
          <a:xfrm>
            <a:off x="685800" y="2880360"/>
            <a:ext cx="7863840" cy="548640"/>
          </a:xfrm>
          <a:prstGeom prst="rect">
            <a:avLst/>
          </a:prstGeom>
          <a:noFill/>
          <a:ln/>
        </p:spPr>
        <p:txBody>
          <a:bodyPr wrap="square" rtlCol="0" anchor="ctr"/>
          <a:lstStyle/>
          <a:p>
            <a:pPr marL="0" indent="0">
              <a:buNone/>
            </a:pPr>
            <a:r>
              <a:rPr lang="en-US" sz="1560" dirty="0">
                <a:solidFill>
                  <a:srgbClr val="212121"/>
                </a:solidFill>
              </a:rPr>
              <a:t>Bleeding stops. The uterus builds a new lining. The ovary gets ready to release an egg.</a:t>
            </a:r>
            <a:endParaRPr lang="en-US" sz="1560" dirty="0"/>
          </a:p>
        </p:txBody>
      </p:sp>
      <p:sp>
        <p:nvSpPr>
          <p:cNvPr id="12" name="Shape 10"/>
          <p:cNvSpPr/>
          <p:nvPr/>
        </p:nvSpPr>
        <p:spPr>
          <a:xfrm>
            <a:off x="320040" y="3611880"/>
            <a:ext cx="8503920" cy="1097280"/>
          </a:xfrm>
          <a:prstGeom prst="rect">
            <a:avLst/>
          </a:prstGeom>
          <a:solidFill>
            <a:srgbClr val="EDD9F5"/>
          </a:solidFill>
          <a:ln/>
          <a:effectLst>
            <a:outerShdw blurRad="101600" dist="38100" dir="8100000" algn="bl" rotWithShape="0">
              <a:srgbClr val="000000">
                <a:alpha val="10000"/>
              </a:srgbClr>
            </a:outerShdw>
          </a:effectLst>
        </p:spPr>
      </p:sp>
      <p:sp>
        <p:nvSpPr>
          <p:cNvPr id="13" name="Shape 11"/>
          <p:cNvSpPr/>
          <p:nvPr/>
        </p:nvSpPr>
        <p:spPr>
          <a:xfrm>
            <a:off x="320040" y="3611880"/>
            <a:ext cx="228600" cy="1097280"/>
          </a:xfrm>
          <a:prstGeom prst="rect">
            <a:avLst/>
          </a:prstGeom>
          <a:solidFill>
            <a:srgbClr val="7B2D8B"/>
          </a:solidFill>
          <a:ln/>
        </p:spPr>
      </p:sp>
      <p:sp>
        <p:nvSpPr>
          <p:cNvPr id="14" name="Text 12"/>
          <p:cNvSpPr/>
          <p:nvPr/>
        </p:nvSpPr>
        <p:spPr>
          <a:xfrm>
            <a:off x="685800" y="3703320"/>
            <a:ext cx="3657600" cy="411480"/>
          </a:xfrm>
          <a:prstGeom prst="rect">
            <a:avLst/>
          </a:prstGeom>
          <a:noFill/>
          <a:ln/>
        </p:spPr>
        <p:txBody>
          <a:bodyPr wrap="square" rtlCol="0" anchor="ctr"/>
          <a:lstStyle/>
          <a:p>
            <a:pPr marL="0" indent="0">
              <a:buNone/>
            </a:pPr>
            <a:r>
              <a:rPr lang="en-US" sz="1800" b="1" dirty="0">
                <a:solidFill>
                  <a:srgbClr val="212121"/>
                </a:solidFill>
              </a:rPr>
              <a:t>🟣  Days 15–28: Waiting</a:t>
            </a:r>
            <a:endParaRPr lang="en-US" sz="1800" dirty="0"/>
          </a:p>
        </p:txBody>
      </p:sp>
      <p:sp>
        <p:nvSpPr>
          <p:cNvPr id="15" name="Text 13"/>
          <p:cNvSpPr/>
          <p:nvPr/>
        </p:nvSpPr>
        <p:spPr>
          <a:xfrm>
            <a:off x="685800" y="4114800"/>
            <a:ext cx="7863840" cy="548640"/>
          </a:xfrm>
          <a:prstGeom prst="rect">
            <a:avLst/>
          </a:prstGeom>
          <a:noFill/>
          <a:ln/>
        </p:spPr>
        <p:txBody>
          <a:bodyPr wrap="square" rtlCol="0" anchor="ctr"/>
          <a:lstStyle/>
          <a:p>
            <a:pPr marL="0" indent="0">
              <a:buNone/>
            </a:pPr>
            <a:r>
              <a:rPr lang="en-US" sz="1560" dirty="0">
                <a:solidFill>
                  <a:srgbClr val="212121"/>
                </a:solidFill>
              </a:rPr>
              <a:t>If the egg is not fertilised, hormone levels drop. Then the whole cycle starts again!</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E4EC"/>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FFC107"/>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212121"/>
                </a:solidFill>
              </a:rPr>
              <a:t>🗓️  Irregular Periods — Don't Panic!</a:t>
            </a:r>
            <a:endParaRPr lang="en-US" sz="3120" dirty="0"/>
          </a:p>
        </p:txBody>
      </p:sp>
      <p:sp>
        <p:nvSpPr>
          <p:cNvPr id="4" name="Shape 2"/>
          <p:cNvSpPr/>
          <p:nvPr/>
        </p:nvSpPr>
        <p:spPr>
          <a:xfrm>
            <a:off x="365760" y="1143000"/>
            <a:ext cx="8412480" cy="137160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02920" y="1150983"/>
            <a:ext cx="8046720" cy="457200"/>
          </a:xfrm>
          <a:prstGeom prst="rect">
            <a:avLst/>
          </a:prstGeom>
          <a:noFill/>
          <a:ln/>
        </p:spPr>
        <p:txBody>
          <a:bodyPr wrap="square" rtlCol="0" anchor="ctr"/>
          <a:lstStyle/>
          <a:p>
            <a:pPr marL="0" indent="0">
              <a:buNone/>
            </a:pPr>
            <a:r>
              <a:rPr lang="en-US" sz="1800" b="1" dirty="0">
                <a:solidFill>
                  <a:srgbClr val="7B2D8B"/>
                </a:solidFill>
              </a:rPr>
              <a:t>🌟 Very Common in the First 1–2 Years</a:t>
            </a:r>
            <a:endParaRPr lang="en-US" sz="1800" dirty="0"/>
          </a:p>
        </p:txBody>
      </p:sp>
      <p:sp>
        <p:nvSpPr>
          <p:cNvPr id="6" name="Text 4"/>
          <p:cNvSpPr/>
          <p:nvPr/>
        </p:nvSpPr>
        <p:spPr>
          <a:xfrm>
            <a:off x="548640" y="1551577"/>
            <a:ext cx="8046720" cy="777240"/>
          </a:xfrm>
          <a:prstGeom prst="rect">
            <a:avLst/>
          </a:prstGeom>
          <a:noFill/>
          <a:ln/>
        </p:spPr>
        <p:txBody>
          <a:bodyPr wrap="square" rtlCol="0" anchor="ctr"/>
          <a:lstStyle/>
          <a:p>
            <a:pPr marL="0" indent="0">
              <a:buNone/>
            </a:pPr>
            <a:r>
              <a:rPr lang="en-US" sz="1600" dirty="0">
                <a:solidFill>
                  <a:srgbClr val="212121"/>
                </a:solidFill>
              </a:rPr>
              <a:t>When you first get your period, it may not come every month on the same date.</a:t>
            </a:r>
            <a:endParaRPr lang="en-US" sz="1600" dirty="0"/>
          </a:p>
          <a:p>
            <a:pPr marL="0" indent="0">
              <a:buNone/>
            </a:pPr>
            <a:r>
              <a:rPr lang="en-US" sz="1600" dirty="0">
                <a:solidFill>
                  <a:srgbClr val="212121"/>
                </a:solidFill>
              </a:rPr>
              <a:t>Cycles can vary from 3 to 6 weeks. This is completely NORMAL — your body is still adjusting!</a:t>
            </a:r>
            <a:endParaRPr lang="en-US" sz="1600" dirty="0"/>
          </a:p>
          <a:p>
            <a:pPr marL="0" indent="0">
              <a:buNone/>
            </a:pPr>
            <a:r>
              <a:rPr lang="en-US" sz="1600" dirty="0">
                <a:solidFill>
                  <a:srgbClr val="212121"/>
                </a:solidFill>
              </a:rPr>
              <a:t>Usually becomes regular within 2–3 years. No need to worry! </a:t>
            </a:r>
            <a:endParaRPr lang="en-US" sz="1600" dirty="0"/>
          </a:p>
        </p:txBody>
      </p:sp>
      <p:sp>
        <p:nvSpPr>
          <p:cNvPr id="7" name="Shape 5"/>
          <p:cNvSpPr/>
          <p:nvPr/>
        </p:nvSpPr>
        <p:spPr>
          <a:xfrm>
            <a:off x="365760" y="2697480"/>
            <a:ext cx="4023360" cy="2103120"/>
          </a:xfrm>
          <a:prstGeom prst="rect">
            <a:avLst/>
          </a:prstGeom>
          <a:solidFill>
            <a:srgbClr val="E3F2FD"/>
          </a:solidFill>
          <a:ln/>
          <a:effectLst>
            <a:outerShdw blurRad="101600" dist="38100" dir="8100000" algn="bl" rotWithShape="0">
              <a:srgbClr val="000000">
                <a:alpha val="10000"/>
              </a:srgbClr>
            </a:outerShdw>
          </a:effectLst>
        </p:spPr>
      </p:sp>
      <p:sp>
        <p:nvSpPr>
          <p:cNvPr id="8" name="Shape 6"/>
          <p:cNvSpPr/>
          <p:nvPr/>
        </p:nvSpPr>
        <p:spPr>
          <a:xfrm>
            <a:off x="365760" y="2697480"/>
            <a:ext cx="4023360" cy="411480"/>
          </a:xfrm>
          <a:prstGeom prst="rect">
            <a:avLst/>
          </a:prstGeom>
          <a:solidFill>
            <a:srgbClr val="009688"/>
          </a:solidFill>
          <a:ln/>
        </p:spPr>
      </p:sp>
      <p:sp>
        <p:nvSpPr>
          <p:cNvPr id="9" name="Text 7"/>
          <p:cNvSpPr/>
          <p:nvPr/>
        </p:nvSpPr>
        <p:spPr>
          <a:xfrm>
            <a:off x="365760" y="2697480"/>
            <a:ext cx="4023360" cy="411480"/>
          </a:xfrm>
          <a:prstGeom prst="rect">
            <a:avLst/>
          </a:prstGeom>
          <a:noFill/>
          <a:ln/>
        </p:spPr>
        <p:txBody>
          <a:bodyPr wrap="square" lIns="0" tIns="0" rIns="0" bIns="0" rtlCol="0" anchor="ctr"/>
          <a:lstStyle/>
          <a:p>
            <a:pPr marL="0" indent="0" algn="ctr">
              <a:buNone/>
            </a:pPr>
            <a:r>
              <a:rPr lang="en-US" sz="1680" b="1" dirty="0">
                <a:solidFill>
                  <a:srgbClr val="FFFFFF"/>
                </a:solidFill>
              </a:rPr>
              <a:t>✅ You're FINE if:</a:t>
            </a:r>
            <a:endParaRPr lang="en-US" sz="1680" dirty="0"/>
          </a:p>
        </p:txBody>
      </p:sp>
      <p:sp>
        <p:nvSpPr>
          <p:cNvPr id="10" name="Text 8"/>
          <p:cNvSpPr/>
          <p:nvPr/>
        </p:nvSpPr>
        <p:spPr>
          <a:xfrm>
            <a:off x="502920" y="3200400"/>
            <a:ext cx="3749040" cy="1463040"/>
          </a:xfrm>
          <a:prstGeom prst="rect">
            <a:avLst/>
          </a:prstGeom>
          <a:noFill/>
          <a:ln/>
        </p:spPr>
        <p:txBody>
          <a:bodyPr wrap="square" rtlCol="0" anchor="ctr"/>
          <a:lstStyle/>
          <a:p>
            <a:pPr marL="0" indent="0">
              <a:buNone/>
            </a:pPr>
            <a:r>
              <a:rPr lang="en-US" sz="1560" dirty="0">
                <a:solidFill>
                  <a:srgbClr val="212121"/>
                </a:solidFill>
              </a:rPr>
              <a:t>• </a:t>
            </a:r>
            <a:r>
              <a:rPr lang="en-US" dirty="0">
                <a:solidFill>
                  <a:srgbClr val="212121"/>
                </a:solidFill>
              </a:rPr>
              <a:t>Periods skip a month occasionally</a:t>
            </a:r>
            <a:endParaRPr lang="en-US" dirty="0"/>
          </a:p>
          <a:p>
            <a:pPr marL="0" indent="0">
              <a:buNone/>
            </a:pPr>
            <a:r>
              <a:rPr lang="en-US" dirty="0">
                <a:solidFill>
                  <a:srgbClr val="212121"/>
                </a:solidFill>
              </a:rPr>
              <a:t>• Cycles are 21–40 days apart</a:t>
            </a:r>
            <a:endParaRPr lang="en-US" dirty="0"/>
          </a:p>
          <a:p>
            <a:pPr marL="0" indent="0">
              <a:buNone/>
            </a:pPr>
            <a:r>
              <a:rPr lang="en-US" dirty="0">
                <a:solidFill>
                  <a:srgbClr val="212121"/>
                </a:solidFill>
              </a:rPr>
              <a:t>• Bleeding lasts 3–7 days</a:t>
            </a:r>
            <a:endParaRPr lang="en-US" dirty="0"/>
          </a:p>
          <a:p>
            <a:pPr marL="0" indent="0">
              <a:buNone/>
            </a:pPr>
            <a:r>
              <a:rPr lang="en-US" dirty="0">
                <a:solidFill>
                  <a:srgbClr val="212121"/>
                </a:solidFill>
              </a:rPr>
              <a:t>• Slight variation month to month</a:t>
            </a:r>
            <a:endParaRPr lang="en-US" dirty="0"/>
          </a:p>
        </p:txBody>
      </p:sp>
      <p:sp>
        <p:nvSpPr>
          <p:cNvPr id="11" name="Shape 9"/>
          <p:cNvSpPr/>
          <p:nvPr/>
        </p:nvSpPr>
        <p:spPr>
          <a:xfrm>
            <a:off x="4754880" y="2697480"/>
            <a:ext cx="4023360" cy="2103120"/>
          </a:xfrm>
          <a:prstGeom prst="rect">
            <a:avLst/>
          </a:prstGeom>
          <a:solidFill>
            <a:srgbClr val="FFEBEE"/>
          </a:solidFill>
          <a:ln/>
          <a:effectLst>
            <a:outerShdw blurRad="101600" dist="38100" dir="8100000" algn="bl" rotWithShape="0">
              <a:srgbClr val="000000">
                <a:alpha val="10000"/>
              </a:srgbClr>
            </a:outerShdw>
          </a:effectLst>
        </p:spPr>
      </p:sp>
      <p:sp>
        <p:nvSpPr>
          <p:cNvPr id="12" name="Shape 10"/>
          <p:cNvSpPr/>
          <p:nvPr/>
        </p:nvSpPr>
        <p:spPr>
          <a:xfrm>
            <a:off x="4754880" y="2697480"/>
            <a:ext cx="4023360" cy="411480"/>
          </a:xfrm>
          <a:prstGeom prst="rect">
            <a:avLst/>
          </a:prstGeom>
          <a:solidFill>
            <a:srgbClr val="E53935"/>
          </a:solidFill>
          <a:ln/>
        </p:spPr>
      </p:sp>
      <p:sp>
        <p:nvSpPr>
          <p:cNvPr id="13" name="Text 11"/>
          <p:cNvSpPr/>
          <p:nvPr/>
        </p:nvSpPr>
        <p:spPr>
          <a:xfrm>
            <a:off x="4754880" y="2697480"/>
            <a:ext cx="4023360" cy="411480"/>
          </a:xfrm>
          <a:prstGeom prst="rect">
            <a:avLst/>
          </a:prstGeom>
          <a:noFill/>
          <a:ln/>
        </p:spPr>
        <p:txBody>
          <a:bodyPr wrap="square" lIns="0" tIns="0" rIns="0" bIns="0" rtlCol="0" anchor="ctr"/>
          <a:lstStyle/>
          <a:p>
            <a:pPr marL="0" indent="0" algn="ctr">
              <a:buNone/>
            </a:pPr>
            <a:r>
              <a:rPr lang="en-US" sz="1680" b="1" dirty="0">
                <a:solidFill>
                  <a:srgbClr val="FFFFFF"/>
                </a:solidFill>
              </a:rPr>
              <a:t>⚠️ See a Doctor if:</a:t>
            </a:r>
            <a:endParaRPr lang="en-US" sz="1680" dirty="0"/>
          </a:p>
        </p:txBody>
      </p:sp>
      <p:sp>
        <p:nvSpPr>
          <p:cNvPr id="14" name="Text 12"/>
          <p:cNvSpPr/>
          <p:nvPr/>
        </p:nvSpPr>
        <p:spPr>
          <a:xfrm>
            <a:off x="4892040" y="3200400"/>
            <a:ext cx="3749040" cy="1463040"/>
          </a:xfrm>
          <a:prstGeom prst="rect">
            <a:avLst/>
          </a:prstGeom>
          <a:noFill/>
          <a:ln/>
        </p:spPr>
        <p:txBody>
          <a:bodyPr wrap="square" rtlCol="0" anchor="ctr"/>
          <a:lstStyle/>
          <a:p>
            <a:pPr marL="0" indent="0">
              <a:buNone/>
            </a:pPr>
            <a:r>
              <a:rPr lang="en-US" sz="1560" dirty="0">
                <a:solidFill>
                  <a:srgbClr val="212121"/>
                </a:solidFill>
              </a:rPr>
              <a:t>• </a:t>
            </a:r>
            <a:r>
              <a:rPr lang="en-US" dirty="0">
                <a:solidFill>
                  <a:srgbClr val="212121"/>
                </a:solidFill>
              </a:rPr>
              <a:t>No period for 3+ months in a row</a:t>
            </a:r>
            <a:endParaRPr lang="en-US" dirty="0"/>
          </a:p>
          <a:p>
            <a:pPr marL="0" indent="0">
              <a:buNone/>
            </a:pPr>
            <a:r>
              <a:rPr lang="en-US" dirty="0">
                <a:solidFill>
                  <a:srgbClr val="212121"/>
                </a:solidFill>
              </a:rPr>
              <a:t>• Cycles shorter than 21 days</a:t>
            </a:r>
            <a:endParaRPr lang="en-US" dirty="0"/>
          </a:p>
          <a:p>
            <a:pPr marL="0" indent="0">
              <a:buNone/>
            </a:pPr>
            <a:r>
              <a:rPr lang="en-US" dirty="0">
                <a:solidFill>
                  <a:srgbClr val="212121"/>
                </a:solidFill>
              </a:rPr>
              <a:t>• Very heavy pain every cycle</a:t>
            </a:r>
            <a:endParaRPr lang="en-US" dirty="0"/>
          </a:p>
          <a:p>
            <a:pPr marL="0" indent="0">
              <a:buNone/>
            </a:pPr>
            <a:r>
              <a:rPr lang="en-US" dirty="0">
                <a:solidFill>
                  <a:srgbClr val="212121"/>
                </a:solidFill>
              </a:rPr>
              <a:t>• Periods that last more than 8 days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F2FD"/>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009688"/>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Cramps &amp; Pain — What's Normal?</a:t>
            </a:r>
            <a:endParaRPr lang="en-US" sz="3120" dirty="0"/>
          </a:p>
        </p:txBody>
      </p:sp>
      <p:sp>
        <p:nvSpPr>
          <p:cNvPr id="4" name="Shape 2"/>
          <p:cNvSpPr/>
          <p:nvPr/>
        </p:nvSpPr>
        <p:spPr>
          <a:xfrm>
            <a:off x="365760" y="1097280"/>
            <a:ext cx="8412480" cy="100584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48640" y="1188720"/>
            <a:ext cx="8046720" cy="777240"/>
          </a:xfrm>
          <a:prstGeom prst="rect">
            <a:avLst/>
          </a:prstGeom>
          <a:noFill/>
          <a:ln/>
        </p:spPr>
        <p:txBody>
          <a:bodyPr wrap="square" rtlCol="0" anchor="ctr"/>
          <a:lstStyle/>
          <a:p>
            <a:pPr marL="0" indent="0">
              <a:buNone/>
            </a:pPr>
            <a:r>
              <a:rPr lang="en-US" sz="1680" dirty="0">
                <a:solidFill>
                  <a:srgbClr val="212121"/>
                </a:solidFill>
              </a:rPr>
              <a:t>Mild cramps are totally normal! They are caused by natural hormones in your body called prostaglandins that help the uterus shed its lining. Most cramps last 1–3 days.</a:t>
            </a:r>
            <a:endParaRPr lang="en-US" sz="1680" dirty="0"/>
          </a:p>
        </p:txBody>
      </p:sp>
      <p:sp>
        <p:nvSpPr>
          <p:cNvPr id="6" name="Text 4"/>
          <p:cNvSpPr/>
          <p:nvPr/>
        </p:nvSpPr>
        <p:spPr>
          <a:xfrm>
            <a:off x="365760" y="2286000"/>
            <a:ext cx="8229600" cy="411480"/>
          </a:xfrm>
          <a:prstGeom prst="rect">
            <a:avLst/>
          </a:prstGeom>
          <a:noFill/>
          <a:ln/>
        </p:spPr>
        <p:txBody>
          <a:bodyPr wrap="square" rtlCol="0" anchor="ctr"/>
          <a:lstStyle/>
          <a:p>
            <a:pPr marL="0" indent="0">
              <a:buNone/>
            </a:pPr>
            <a:r>
              <a:rPr lang="en-US" sz="1800" b="1" dirty="0">
                <a:solidFill>
                  <a:srgbClr val="009688"/>
                </a:solidFill>
              </a:rPr>
              <a:t>💡 Natural Remedies That Help:</a:t>
            </a:r>
            <a:endParaRPr lang="en-US" sz="1800" dirty="0"/>
          </a:p>
        </p:txBody>
      </p:sp>
      <p:sp>
        <p:nvSpPr>
          <p:cNvPr id="7" name="Shape 5"/>
          <p:cNvSpPr/>
          <p:nvPr/>
        </p:nvSpPr>
        <p:spPr>
          <a:xfrm>
            <a:off x="365760" y="2788920"/>
            <a:ext cx="2743200" cy="822960"/>
          </a:xfrm>
          <a:prstGeom prst="rect">
            <a:avLst/>
          </a:prstGeom>
          <a:solidFill>
            <a:srgbClr val="E8F5E9"/>
          </a:solidFill>
          <a:ln/>
          <a:effectLst>
            <a:outerShdw blurRad="101600" dist="38100" dir="8100000" algn="bl" rotWithShape="0">
              <a:srgbClr val="000000">
                <a:alpha val="10000"/>
              </a:srgbClr>
            </a:outerShdw>
          </a:effectLst>
        </p:spPr>
      </p:sp>
      <p:sp>
        <p:nvSpPr>
          <p:cNvPr id="8" name="Text 6"/>
          <p:cNvSpPr/>
          <p:nvPr/>
        </p:nvSpPr>
        <p:spPr>
          <a:xfrm>
            <a:off x="457200" y="2788920"/>
            <a:ext cx="2560320" cy="822960"/>
          </a:xfrm>
          <a:prstGeom prst="rect">
            <a:avLst/>
          </a:prstGeom>
          <a:noFill/>
          <a:ln/>
        </p:spPr>
        <p:txBody>
          <a:bodyPr wrap="square" rtlCol="0" anchor="ctr"/>
          <a:lstStyle/>
          <a:p>
            <a:pPr marL="0" indent="0">
              <a:buNone/>
            </a:pPr>
            <a:r>
              <a:rPr lang="en-US" dirty="0">
                <a:solidFill>
                  <a:srgbClr val="212121"/>
                </a:solidFill>
              </a:rPr>
              <a:t>🌡️  Warm compress on your lower tummy</a:t>
            </a:r>
            <a:endParaRPr lang="en-US" dirty="0"/>
          </a:p>
        </p:txBody>
      </p:sp>
      <p:sp>
        <p:nvSpPr>
          <p:cNvPr id="9" name="Shape 7"/>
          <p:cNvSpPr/>
          <p:nvPr/>
        </p:nvSpPr>
        <p:spPr>
          <a:xfrm>
            <a:off x="3291840" y="2788920"/>
            <a:ext cx="2743200" cy="822960"/>
          </a:xfrm>
          <a:prstGeom prst="rect">
            <a:avLst/>
          </a:prstGeom>
          <a:solidFill>
            <a:srgbClr val="E8F5E9"/>
          </a:solidFill>
          <a:ln/>
          <a:effectLst>
            <a:outerShdw blurRad="101600" dist="38100" dir="8100000" algn="bl" rotWithShape="0">
              <a:srgbClr val="000000">
                <a:alpha val="10000"/>
              </a:srgbClr>
            </a:outerShdw>
          </a:effectLst>
        </p:spPr>
      </p:sp>
      <p:sp>
        <p:nvSpPr>
          <p:cNvPr id="10" name="Text 8"/>
          <p:cNvSpPr/>
          <p:nvPr/>
        </p:nvSpPr>
        <p:spPr>
          <a:xfrm>
            <a:off x="3383280" y="2788920"/>
            <a:ext cx="2560320" cy="822960"/>
          </a:xfrm>
          <a:prstGeom prst="rect">
            <a:avLst/>
          </a:prstGeom>
          <a:noFill/>
          <a:ln/>
        </p:spPr>
        <p:txBody>
          <a:bodyPr wrap="square" rtlCol="0" anchor="ctr"/>
          <a:lstStyle/>
          <a:p>
            <a:pPr marL="0" indent="0">
              <a:buNone/>
            </a:pPr>
            <a:r>
              <a:rPr lang="en-US" dirty="0">
                <a:solidFill>
                  <a:srgbClr val="212121"/>
                </a:solidFill>
              </a:rPr>
              <a:t>🚶  Light walking or gentle stretching</a:t>
            </a:r>
            <a:endParaRPr lang="en-US" dirty="0"/>
          </a:p>
        </p:txBody>
      </p:sp>
      <p:sp>
        <p:nvSpPr>
          <p:cNvPr id="11" name="Shape 9"/>
          <p:cNvSpPr/>
          <p:nvPr/>
        </p:nvSpPr>
        <p:spPr>
          <a:xfrm>
            <a:off x="6217920" y="2788920"/>
            <a:ext cx="2743200" cy="822960"/>
          </a:xfrm>
          <a:prstGeom prst="rect">
            <a:avLst/>
          </a:prstGeom>
          <a:solidFill>
            <a:srgbClr val="E8F5E9"/>
          </a:solidFill>
          <a:ln/>
          <a:effectLst>
            <a:outerShdw blurRad="101600" dist="38100" dir="8100000" algn="bl" rotWithShape="0">
              <a:srgbClr val="000000">
                <a:alpha val="10000"/>
              </a:srgbClr>
            </a:outerShdw>
          </a:effectLst>
        </p:spPr>
      </p:sp>
      <p:sp>
        <p:nvSpPr>
          <p:cNvPr id="12" name="Text 10"/>
          <p:cNvSpPr/>
          <p:nvPr/>
        </p:nvSpPr>
        <p:spPr>
          <a:xfrm>
            <a:off x="6309360" y="2788920"/>
            <a:ext cx="2560320" cy="822960"/>
          </a:xfrm>
          <a:prstGeom prst="rect">
            <a:avLst/>
          </a:prstGeom>
          <a:noFill/>
          <a:ln/>
        </p:spPr>
        <p:txBody>
          <a:bodyPr wrap="square" rtlCol="0" anchor="ctr"/>
          <a:lstStyle/>
          <a:p>
            <a:pPr marL="0" indent="0">
              <a:buNone/>
            </a:pPr>
            <a:r>
              <a:rPr lang="en-US" dirty="0">
                <a:solidFill>
                  <a:srgbClr val="212121"/>
                </a:solidFill>
              </a:rPr>
              <a:t>🫖  Ginger tea or warm water</a:t>
            </a:r>
            <a:endParaRPr lang="en-US" dirty="0"/>
          </a:p>
        </p:txBody>
      </p:sp>
      <p:sp>
        <p:nvSpPr>
          <p:cNvPr id="13" name="Shape 11"/>
          <p:cNvSpPr/>
          <p:nvPr/>
        </p:nvSpPr>
        <p:spPr>
          <a:xfrm>
            <a:off x="365760" y="3794760"/>
            <a:ext cx="2743200" cy="822960"/>
          </a:xfrm>
          <a:prstGeom prst="rect">
            <a:avLst/>
          </a:prstGeom>
          <a:solidFill>
            <a:srgbClr val="E8F5E9"/>
          </a:solidFill>
          <a:ln/>
          <a:effectLst>
            <a:outerShdw blurRad="101600" dist="38100" dir="8100000" algn="bl" rotWithShape="0">
              <a:srgbClr val="000000">
                <a:alpha val="10000"/>
              </a:srgbClr>
            </a:outerShdw>
          </a:effectLst>
        </p:spPr>
      </p:sp>
      <p:sp>
        <p:nvSpPr>
          <p:cNvPr id="14" name="Text 12"/>
          <p:cNvSpPr/>
          <p:nvPr/>
        </p:nvSpPr>
        <p:spPr>
          <a:xfrm>
            <a:off x="457200" y="3794760"/>
            <a:ext cx="2560320" cy="822960"/>
          </a:xfrm>
          <a:prstGeom prst="rect">
            <a:avLst/>
          </a:prstGeom>
          <a:noFill/>
          <a:ln/>
        </p:spPr>
        <p:txBody>
          <a:bodyPr wrap="square" rtlCol="0" anchor="ctr"/>
          <a:lstStyle/>
          <a:p>
            <a:pPr marL="0" indent="0">
              <a:buNone/>
            </a:pPr>
            <a:r>
              <a:rPr lang="en-US" dirty="0">
                <a:solidFill>
                  <a:srgbClr val="212121"/>
                </a:solidFill>
              </a:rPr>
              <a:t>😴  Rest and take it easy</a:t>
            </a:r>
            <a:endParaRPr lang="en-US" dirty="0"/>
          </a:p>
        </p:txBody>
      </p:sp>
      <p:sp>
        <p:nvSpPr>
          <p:cNvPr id="15" name="Shape 13"/>
          <p:cNvSpPr/>
          <p:nvPr/>
        </p:nvSpPr>
        <p:spPr>
          <a:xfrm>
            <a:off x="3291840" y="3794760"/>
            <a:ext cx="2743200" cy="822960"/>
          </a:xfrm>
          <a:prstGeom prst="rect">
            <a:avLst/>
          </a:prstGeom>
          <a:solidFill>
            <a:srgbClr val="E8F5E9"/>
          </a:solidFill>
          <a:ln/>
          <a:effectLst>
            <a:outerShdw blurRad="101600" dist="38100" dir="8100000" algn="bl" rotWithShape="0">
              <a:srgbClr val="000000">
                <a:alpha val="10000"/>
              </a:srgbClr>
            </a:outerShdw>
          </a:effectLst>
        </p:spPr>
      </p:sp>
      <p:sp>
        <p:nvSpPr>
          <p:cNvPr id="16" name="Text 14"/>
          <p:cNvSpPr/>
          <p:nvPr/>
        </p:nvSpPr>
        <p:spPr>
          <a:xfrm>
            <a:off x="3383280" y="3794760"/>
            <a:ext cx="2560320" cy="822960"/>
          </a:xfrm>
          <a:prstGeom prst="rect">
            <a:avLst/>
          </a:prstGeom>
          <a:noFill/>
          <a:ln/>
        </p:spPr>
        <p:txBody>
          <a:bodyPr wrap="square" rtlCol="0" anchor="ctr"/>
          <a:lstStyle/>
          <a:p>
            <a:pPr marL="0" indent="0">
              <a:buNone/>
            </a:pPr>
            <a:r>
              <a:rPr lang="en-US" dirty="0">
                <a:solidFill>
                  <a:srgbClr val="212121"/>
                </a:solidFill>
              </a:rPr>
              <a:t>🎵  Listen to music, relax!</a:t>
            </a:r>
            <a:endParaRPr lang="en-US" dirty="0"/>
          </a:p>
        </p:txBody>
      </p:sp>
      <p:sp>
        <p:nvSpPr>
          <p:cNvPr id="17" name="Shape 15"/>
          <p:cNvSpPr/>
          <p:nvPr/>
        </p:nvSpPr>
        <p:spPr>
          <a:xfrm>
            <a:off x="6217920" y="3794760"/>
            <a:ext cx="2743200" cy="822960"/>
          </a:xfrm>
          <a:prstGeom prst="rect">
            <a:avLst/>
          </a:prstGeom>
          <a:solidFill>
            <a:srgbClr val="E8F5E9"/>
          </a:solidFill>
          <a:ln/>
          <a:effectLst>
            <a:outerShdw blurRad="101600" dist="38100" dir="8100000" algn="bl" rotWithShape="0">
              <a:srgbClr val="000000">
                <a:alpha val="10000"/>
              </a:srgbClr>
            </a:outerShdw>
          </a:effectLst>
        </p:spPr>
      </p:sp>
      <p:sp>
        <p:nvSpPr>
          <p:cNvPr id="18" name="Text 16"/>
          <p:cNvSpPr/>
          <p:nvPr/>
        </p:nvSpPr>
        <p:spPr>
          <a:xfrm>
            <a:off x="6309360" y="3794760"/>
            <a:ext cx="2560320" cy="822960"/>
          </a:xfrm>
          <a:prstGeom prst="rect">
            <a:avLst/>
          </a:prstGeom>
          <a:noFill/>
          <a:ln/>
        </p:spPr>
        <p:txBody>
          <a:bodyPr wrap="square" rtlCol="0" anchor="ctr"/>
          <a:lstStyle/>
          <a:p>
            <a:pPr marL="0" indent="0">
              <a:buNone/>
            </a:pPr>
            <a:r>
              <a:rPr lang="en-US" dirty="0">
                <a:solidFill>
                  <a:srgbClr val="212121"/>
                </a:solidFill>
              </a:rPr>
              <a:t>🍫  Dark chocolate (a little!) can help</a:t>
            </a:r>
            <a:endParaRPr lang="en-US" dirty="0"/>
          </a:p>
        </p:txBody>
      </p:sp>
      <p:sp>
        <p:nvSpPr>
          <p:cNvPr id="19" name="Text 17"/>
          <p:cNvSpPr/>
          <p:nvPr/>
        </p:nvSpPr>
        <p:spPr>
          <a:xfrm>
            <a:off x="365760" y="4663440"/>
            <a:ext cx="8412480" cy="347472"/>
          </a:xfrm>
          <a:prstGeom prst="rect">
            <a:avLst/>
          </a:prstGeom>
          <a:noFill/>
          <a:ln/>
        </p:spPr>
        <p:txBody>
          <a:bodyPr wrap="square" rtlCol="0" anchor="ctr"/>
          <a:lstStyle/>
          <a:p>
            <a:pPr marL="0" indent="0" algn="ctr">
              <a:buNone/>
            </a:pPr>
            <a:r>
              <a:rPr lang="en-US" b="1" dirty="0">
                <a:solidFill>
                  <a:srgbClr val="E53935"/>
                </a:solidFill>
              </a:rPr>
              <a:t>⚠️ See a doctor if pain is so bad it stops you from going to school!</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5F5"/>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E65100"/>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Heavy Bleeding &amp; PMS Symptoms</a:t>
            </a:r>
            <a:endParaRPr lang="en-US" sz="3120" dirty="0"/>
          </a:p>
        </p:txBody>
      </p:sp>
      <p:sp>
        <p:nvSpPr>
          <p:cNvPr id="4" name="Shape 2"/>
          <p:cNvSpPr/>
          <p:nvPr/>
        </p:nvSpPr>
        <p:spPr>
          <a:xfrm>
            <a:off x="320040" y="1097280"/>
            <a:ext cx="4114800" cy="3657600"/>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320040" y="1097280"/>
            <a:ext cx="4114800" cy="457200"/>
          </a:xfrm>
          <a:prstGeom prst="rect">
            <a:avLst/>
          </a:prstGeom>
          <a:solidFill>
            <a:srgbClr val="E53935"/>
          </a:solidFill>
          <a:ln/>
        </p:spPr>
      </p:sp>
      <p:sp>
        <p:nvSpPr>
          <p:cNvPr id="6" name="Text 4"/>
          <p:cNvSpPr/>
          <p:nvPr/>
        </p:nvSpPr>
        <p:spPr>
          <a:xfrm>
            <a:off x="320040" y="1097280"/>
            <a:ext cx="4114800" cy="457200"/>
          </a:xfrm>
          <a:prstGeom prst="rect">
            <a:avLst/>
          </a:prstGeom>
          <a:noFill/>
          <a:ln/>
        </p:spPr>
        <p:txBody>
          <a:bodyPr wrap="square" lIns="0" tIns="0" rIns="0" bIns="0" rtlCol="0" anchor="ctr"/>
          <a:lstStyle/>
          <a:p>
            <a:pPr marL="0" indent="0" algn="ctr">
              <a:buNone/>
            </a:pPr>
            <a:r>
              <a:rPr lang="en-US" sz="1680" b="1" dirty="0">
                <a:solidFill>
                  <a:srgbClr val="FFFFFF"/>
                </a:solidFill>
              </a:rPr>
              <a:t>Heavy Bleeding — When to Worry</a:t>
            </a:r>
            <a:endParaRPr lang="en-US" sz="1680" dirty="0"/>
          </a:p>
        </p:txBody>
      </p:sp>
      <p:sp>
        <p:nvSpPr>
          <p:cNvPr id="7" name="Text 5"/>
          <p:cNvSpPr/>
          <p:nvPr/>
        </p:nvSpPr>
        <p:spPr>
          <a:xfrm>
            <a:off x="457200" y="1645920"/>
            <a:ext cx="3749040" cy="2971800"/>
          </a:xfrm>
          <a:prstGeom prst="rect">
            <a:avLst/>
          </a:prstGeom>
          <a:noFill/>
          <a:ln/>
        </p:spPr>
        <p:txBody>
          <a:bodyPr wrap="square" rtlCol="0" anchor="ctr"/>
          <a:lstStyle/>
          <a:p>
            <a:pPr marL="0" indent="0">
              <a:buNone/>
            </a:pPr>
            <a:r>
              <a:rPr lang="en-US" sz="1600" b="1" dirty="0">
                <a:solidFill>
                  <a:srgbClr val="212121"/>
                </a:solidFill>
              </a:rPr>
              <a:t>Some months feel heavier — that's okay!</a:t>
            </a:r>
            <a:endParaRPr lang="en-US" sz="1600" dirty="0"/>
          </a:p>
          <a:p>
            <a:pPr marL="0" indent="0">
              <a:buNone/>
            </a:pPr>
            <a:r>
              <a:rPr lang="en-US" sz="1600" dirty="0">
                <a:solidFill>
                  <a:srgbClr val="212121"/>
                </a:solidFill>
              </a:rPr>
              <a:t> </a:t>
            </a:r>
            <a:endParaRPr lang="en-US" sz="1600" dirty="0"/>
          </a:p>
          <a:p>
            <a:pPr marL="0" indent="0">
              <a:buNone/>
            </a:pPr>
            <a:r>
              <a:rPr lang="en-US" sz="1600" b="1" dirty="0">
                <a:solidFill>
                  <a:srgbClr val="E53935"/>
                </a:solidFill>
              </a:rPr>
              <a:t>See a doctor if:</a:t>
            </a:r>
            <a:endParaRPr lang="en-US" sz="1600" dirty="0"/>
          </a:p>
          <a:p>
            <a:pPr marL="0" indent="0">
              <a:buNone/>
            </a:pPr>
            <a:r>
              <a:rPr lang="en-US" sz="1600" dirty="0">
                <a:solidFill>
                  <a:srgbClr val="212121"/>
                </a:solidFill>
              </a:rPr>
              <a:t>❌ Bleeding lasts MORE than 8 days</a:t>
            </a:r>
            <a:endParaRPr lang="en-US" sz="1600" dirty="0"/>
          </a:p>
          <a:p>
            <a:pPr marL="0" indent="0">
              <a:buNone/>
            </a:pPr>
            <a:r>
              <a:rPr lang="en-US" sz="1600" dirty="0">
                <a:solidFill>
                  <a:srgbClr val="212121"/>
                </a:solidFill>
              </a:rPr>
              <a:t>❌ You soak a full pad in under 1 hour</a:t>
            </a:r>
            <a:endParaRPr lang="en-US" sz="1600" dirty="0"/>
          </a:p>
          <a:p>
            <a:pPr marL="0" indent="0">
              <a:buNone/>
            </a:pPr>
            <a:r>
              <a:rPr lang="en-US" sz="1600" dirty="0">
                <a:solidFill>
                  <a:srgbClr val="212121"/>
                </a:solidFill>
              </a:rPr>
              <a:t>❌ You see large blood clots regularly</a:t>
            </a:r>
            <a:endParaRPr lang="en-US" sz="1600" dirty="0"/>
          </a:p>
          <a:p>
            <a:pPr marL="0" indent="0">
              <a:buNone/>
            </a:pPr>
            <a:r>
              <a:rPr lang="en-US" sz="1600" dirty="0">
                <a:solidFill>
                  <a:srgbClr val="212121"/>
                </a:solidFill>
              </a:rPr>
              <a:t> </a:t>
            </a:r>
            <a:endParaRPr lang="en-US" sz="1600" dirty="0"/>
          </a:p>
          <a:p>
            <a:pPr marL="0" indent="0">
              <a:buNone/>
            </a:pPr>
            <a:r>
              <a:rPr lang="en-US" sz="1600" dirty="0">
                <a:solidFill>
                  <a:srgbClr val="E53935"/>
                </a:solidFill>
              </a:rPr>
              <a:t>These could be signs that need a doctor's attention — not something to ignore!</a:t>
            </a:r>
            <a:endParaRPr lang="en-US" sz="1600" dirty="0"/>
          </a:p>
        </p:txBody>
      </p:sp>
      <p:sp>
        <p:nvSpPr>
          <p:cNvPr id="8" name="Shape 6"/>
          <p:cNvSpPr/>
          <p:nvPr/>
        </p:nvSpPr>
        <p:spPr>
          <a:xfrm>
            <a:off x="4709160" y="1097280"/>
            <a:ext cx="4114800" cy="3657600"/>
          </a:xfrm>
          <a:prstGeom prst="rect">
            <a:avLst/>
          </a:prstGeom>
          <a:solidFill>
            <a:srgbClr val="FFFFFF"/>
          </a:solidFill>
          <a:ln/>
          <a:effectLst>
            <a:outerShdw blurRad="101600" dist="38100" dir="8100000" algn="bl" rotWithShape="0">
              <a:srgbClr val="000000">
                <a:alpha val="10000"/>
              </a:srgbClr>
            </a:outerShdw>
          </a:effectLst>
        </p:spPr>
      </p:sp>
      <p:sp>
        <p:nvSpPr>
          <p:cNvPr id="9" name="Shape 7"/>
          <p:cNvSpPr/>
          <p:nvPr/>
        </p:nvSpPr>
        <p:spPr>
          <a:xfrm>
            <a:off x="4709160" y="1097280"/>
            <a:ext cx="4114800" cy="457200"/>
          </a:xfrm>
          <a:prstGeom prst="rect">
            <a:avLst/>
          </a:prstGeom>
          <a:solidFill>
            <a:srgbClr val="7B2D8B"/>
          </a:solidFill>
          <a:ln/>
        </p:spPr>
      </p:sp>
      <p:sp>
        <p:nvSpPr>
          <p:cNvPr id="10" name="Text 8"/>
          <p:cNvSpPr/>
          <p:nvPr/>
        </p:nvSpPr>
        <p:spPr>
          <a:xfrm>
            <a:off x="4709160" y="1097280"/>
            <a:ext cx="4114800" cy="457200"/>
          </a:xfrm>
          <a:prstGeom prst="rect">
            <a:avLst/>
          </a:prstGeom>
          <a:noFill/>
          <a:ln/>
        </p:spPr>
        <p:txBody>
          <a:bodyPr wrap="square" lIns="0" tIns="0" rIns="0" bIns="0" rtlCol="0" anchor="ctr"/>
          <a:lstStyle/>
          <a:p>
            <a:pPr marL="0" indent="0" algn="ctr">
              <a:buNone/>
            </a:pPr>
            <a:r>
              <a:rPr lang="en-US" sz="1680" b="1" dirty="0">
                <a:solidFill>
                  <a:srgbClr val="FFFFFF"/>
                </a:solidFill>
              </a:rPr>
              <a:t>PMS — What is it?</a:t>
            </a:r>
            <a:endParaRPr lang="en-US" sz="1680" dirty="0"/>
          </a:p>
        </p:txBody>
      </p:sp>
      <p:sp>
        <p:nvSpPr>
          <p:cNvPr id="11" name="Text 9"/>
          <p:cNvSpPr/>
          <p:nvPr/>
        </p:nvSpPr>
        <p:spPr>
          <a:xfrm>
            <a:off x="4846320" y="1645920"/>
            <a:ext cx="3840480" cy="2971800"/>
          </a:xfrm>
          <a:prstGeom prst="rect">
            <a:avLst/>
          </a:prstGeom>
          <a:noFill/>
          <a:ln/>
        </p:spPr>
        <p:txBody>
          <a:bodyPr wrap="square" rtlCol="0" anchor="ctr"/>
          <a:lstStyle/>
          <a:p>
            <a:pPr marL="0" indent="0">
              <a:buNone/>
            </a:pPr>
            <a:r>
              <a:rPr lang="en-US" sz="1600" b="1" dirty="0">
                <a:solidFill>
                  <a:srgbClr val="212121"/>
                </a:solidFill>
              </a:rPr>
              <a:t>PMS = Pre-Menstrual Syndrome</a:t>
            </a:r>
            <a:endParaRPr lang="en-US" sz="1600" dirty="0"/>
          </a:p>
          <a:p>
            <a:pPr marL="0" indent="0">
              <a:buNone/>
            </a:pPr>
            <a:r>
              <a:rPr lang="en-US" sz="1600" i="1" dirty="0">
                <a:solidFill>
                  <a:srgbClr val="212121"/>
                </a:solidFill>
              </a:rPr>
              <a:t>Symptoms that appear a few days BEFORE your period:</a:t>
            </a:r>
            <a:endParaRPr lang="en-US" sz="1600" dirty="0"/>
          </a:p>
          <a:p>
            <a:pPr marL="0" indent="0">
              <a:buNone/>
            </a:pPr>
            <a:r>
              <a:rPr lang="en-US" sz="1600" dirty="0">
                <a:solidFill>
                  <a:srgbClr val="212121"/>
                </a:solidFill>
              </a:rPr>
              <a:t> </a:t>
            </a:r>
            <a:endParaRPr lang="en-US" sz="1600" dirty="0"/>
          </a:p>
          <a:p>
            <a:pPr marL="0" indent="0">
              <a:buNone/>
            </a:pPr>
            <a:r>
              <a:rPr lang="en-US" sz="1600" dirty="0">
                <a:solidFill>
                  <a:srgbClr val="212121"/>
                </a:solidFill>
              </a:rPr>
              <a:t>😔 Mood changes / feeling emotional</a:t>
            </a:r>
            <a:endParaRPr lang="en-US" sz="1600" dirty="0"/>
          </a:p>
          <a:p>
            <a:pPr marL="0" indent="0">
              <a:buNone/>
            </a:pPr>
            <a:r>
              <a:rPr lang="en-US" sz="1600" dirty="0">
                <a:solidFill>
                  <a:srgbClr val="212121"/>
                </a:solidFill>
              </a:rPr>
              <a:t>🤕 Headaches</a:t>
            </a:r>
            <a:endParaRPr lang="en-US" sz="1600" dirty="0"/>
          </a:p>
          <a:p>
            <a:pPr marL="0" indent="0">
              <a:buNone/>
            </a:pPr>
            <a:r>
              <a:rPr lang="en-US" sz="1600" dirty="0">
                <a:solidFill>
                  <a:srgbClr val="212121"/>
                </a:solidFill>
              </a:rPr>
              <a:t>😴 Feeling tired or low energy</a:t>
            </a:r>
            <a:endParaRPr lang="en-US" sz="1600" dirty="0"/>
          </a:p>
          <a:p>
            <a:pPr marL="0" indent="0">
              <a:buNone/>
            </a:pPr>
            <a:r>
              <a:rPr lang="en-US" sz="1600" dirty="0">
                <a:solidFill>
                  <a:srgbClr val="212121"/>
                </a:solidFill>
              </a:rPr>
              <a:t>🫃 Bloating (tummy feels puffed up)</a:t>
            </a:r>
            <a:endParaRPr lang="en-US" sz="1600" dirty="0"/>
          </a:p>
          <a:p>
            <a:pPr marL="0" indent="0">
              <a:buNone/>
            </a:pPr>
            <a:r>
              <a:rPr lang="en-US" sz="1600" dirty="0">
                <a:solidFill>
                  <a:srgbClr val="212121"/>
                </a:solidFill>
              </a:rPr>
              <a:t>🤱 Breast tenderness</a:t>
            </a:r>
            <a:endParaRPr lang="en-US" sz="1600" dirty="0"/>
          </a:p>
          <a:p>
            <a:pPr marL="0" indent="0">
              <a:buNone/>
            </a:pPr>
            <a:r>
              <a:rPr lang="en-US" sz="1600" dirty="0">
                <a:solidFill>
                  <a:srgbClr val="212121"/>
                </a:solidFill>
              </a:rPr>
              <a:t> </a:t>
            </a:r>
            <a:endParaRPr lang="en-US" sz="1600" dirty="0"/>
          </a:p>
          <a:p>
            <a:pPr marL="0" indent="0">
              <a:buNone/>
            </a:pPr>
            <a:r>
              <a:rPr lang="en-US" sz="1600" b="1" dirty="0">
                <a:solidFill>
                  <a:srgbClr val="388E3C"/>
                </a:solidFill>
              </a:rPr>
              <a:t>✅ Good news: These usually go away once bleeding starts!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786285-DB53-11C1-E475-6C21A33EBA91}"/>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4197915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8F5E9"/>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E91E8C"/>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640" b="1" dirty="0">
                <a:solidFill>
                  <a:srgbClr val="FFFFFF"/>
                </a:solidFill>
              </a:rPr>
              <a:t>🧼  Hygiene Rule #1 — Change Your Product Regularly</a:t>
            </a:r>
            <a:endParaRPr lang="en-US" sz="2640" dirty="0"/>
          </a:p>
        </p:txBody>
      </p:sp>
      <p:sp>
        <p:nvSpPr>
          <p:cNvPr id="4" name="Shape 2"/>
          <p:cNvSpPr/>
          <p:nvPr/>
        </p:nvSpPr>
        <p:spPr>
          <a:xfrm>
            <a:off x="320040" y="1097280"/>
            <a:ext cx="8503920" cy="1463040"/>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320040" y="1097280"/>
            <a:ext cx="274320" cy="1463040"/>
          </a:xfrm>
          <a:prstGeom prst="rect">
            <a:avLst/>
          </a:prstGeom>
          <a:solidFill>
            <a:srgbClr val="E91E8C"/>
          </a:solidFill>
          <a:ln/>
        </p:spPr>
      </p:sp>
      <p:sp>
        <p:nvSpPr>
          <p:cNvPr id="6" name="Text 4"/>
          <p:cNvSpPr/>
          <p:nvPr/>
        </p:nvSpPr>
        <p:spPr>
          <a:xfrm>
            <a:off x="731520" y="1234440"/>
            <a:ext cx="7955280" cy="548640"/>
          </a:xfrm>
          <a:prstGeom prst="rect">
            <a:avLst/>
          </a:prstGeom>
          <a:noFill/>
          <a:ln/>
        </p:spPr>
        <p:txBody>
          <a:bodyPr wrap="square" rtlCol="0" anchor="ctr"/>
          <a:lstStyle/>
          <a:p>
            <a:pPr marL="0" indent="0">
              <a:buNone/>
            </a:pPr>
            <a:r>
              <a:rPr lang="en-US" sz="1800" b="1" dirty="0">
                <a:solidFill>
                  <a:srgbClr val="212121"/>
                </a:solidFill>
              </a:rPr>
              <a:t>⏰ Change every 4–6 hours — or sooner if the pad feels full!</a:t>
            </a:r>
            <a:endParaRPr lang="en-US" sz="1800" dirty="0"/>
          </a:p>
        </p:txBody>
      </p:sp>
      <p:sp>
        <p:nvSpPr>
          <p:cNvPr id="7" name="Text 5"/>
          <p:cNvSpPr/>
          <p:nvPr/>
        </p:nvSpPr>
        <p:spPr>
          <a:xfrm>
            <a:off x="731520" y="1783080"/>
            <a:ext cx="7955280" cy="640080"/>
          </a:xfrm>
          <a:prstGeom prst="rect">
            <a:avLst/>
          </a:prstGeom>
          <a:noFill/>
          <a:ln/>
        </p:spPr>
        <p:txBody>
          <a:bodyPr wrap="square" rtlCol="0" anchor="ctr"/>
          <a:lstStyle/>
          <a:p>
            <a:pPr marL="0" indent="0">
              <a:buNone/>
            </a:pPr>
            <a:r>
              <a:rPr lang="en-US" dirty="0"/>
              <a:t>NEVER wear a pad for more than 8 hours — bacteria can multiply and cause infections like rashes and bad smell.</a:t>
            </a:r>
          </a:p>
        </p:txBody>
      </p:sp>
      <p:sp>
        <p:nvSpPr>
          <p:cNvPr id="8" name="Shape 6"/>
          <p:cNvSpPr/>
          <p:nvPr/>
        </p:nvSpPr>
        <p:spPr>
          <a:xfrm>
            <a:off x="320040" y="2743200"/>
            <a:ext cx="2743200" cy="2148840"/>
          </a:xfrm>
          <a:prstGeom prst="rect">
            <a:avLst/>
          </a:prstGeom>
          <a:solidFill>
            <a:srgbClr val="FFFFFF"/>
          </a:solidFill>
          <a:ln/>
          <a:effectLst>
            <a:outerShdw blurRad="101600" dist="38100" dir="8100000" algn="bl" rotWithShape="0">
              <a:srgbClr val="000000">
                <a:alpha val="10000"/>
              </a:srgbClr>
            </a:outerShdw>
          </a:effectLst>
        </p:spPr>
      </p:sp>
      <p:sp>
        <p:nvSpPr>
          <p:cNvPr id="9" name="Shape 7"/>
          <p:cNvSpPr/>
          <p:nvPr/>
        </p:nvSpPr>
        <p:spPr>
          <a:xfrm>
            <a:off x="502920" y="2834640"/>
            <a:ext cx="457200" cy="457200"/>
          </a:xfrm>
          <a:prstGeom prst="ellipse">
            <a:avLst/>
          </a:prstGeom>
          <a:solidFill>
            <a:srgbClr val="E91E8C"/>
          </a:solidFill>
          <a:ln/>
        </p:spPr>
      </p:sp>
      <p:sp>
        <p:nvSpPr>
          <p:cNvPr id="10" name="Text 8"/>
          <p:cNvSpPr/>
          <p:nvPr/>
        </p:nvSpPr>
        <p:spPr>
          <a:xfrm>
            <a:off x="502920" y="2834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1" name="Text 9"/>
          <p:cNvSpPr/>
          <p:nvPr/>
        </p:nvSpPr>
        <p:spPr>
          <a:xfrm>
            <a:off x="1097280" y="2834640"/>
            <a:ext cx="1828800" cy="457200"/>
          </a:xfrm>
          <a:prstGeom prst="rect">
            <a:avLst/>
          </a:prstGeom>
          <a:noFill/>
          <a:ln/>
        </p:spPr>
        <p:txBody>
          <a:bodyPr wrap="square" rtlCol="0" anchor="ctr"/>
          <a:lstStyle/>
          <a:p>
            <a:pPr marL="0" indent="0">
              <a:buNone/>
            </a:pPr>
            <a:r>
              <a:rPr lang="en-US" sz="1560" b="1" dirty="0">
                <a:solidFill>
                  <a:srgbClr val="E91E8C"/>
                </a:solidFill>
              </a:rPr>
              <a:t>Change Every 4–5 Hours</a:t>
            </a:r>
            <a:endParaRPr lang="en-US" sz="1560" dirty="0"/>
          </a:p>
        </p:txBody>
      </p:sp>
      <p:sp>
        <p:nvSpPr>
          <p:cNvPr id="12" name="Text 10"/>
          <p:cNvSpPr/>
          <p:nvPr/>
        </p:nvSpPr>
        <p:spPr>
          <a:xfrm>
            <a:off x="457200" y="3383280"/>
            <a:ext cx="2514600" cy="1371600"/>
          </a:xfrm>
          <a:prstGeom prst="rect">
            <a:avLst/>
          </a:prstGeom>
          <a:noFill/>
          <a:ln/>
        </p:spPr>
        <p:txBody>
          <a:bodyPr wrap="square" rtlCol="0" anchor="ctr"/>
          <a:lstStyle/>
          <a:p>
            <a:pPr marL="0" indent="0">
              <a:buNone/>
            </a:pPr>
            <a:r>
              <a:rPr lang="en-US" sz="1600" dirty="0">
                <a:solidFill>
                  <a:srgbClr val="212121"/>
                </a:solidFill>
              </a:rPr>
              <a:t>Make it a habit to change your pad every 4–5 hours during the day — even if it does not feel full!</a:t>
            </a:r>
            <a:endParaRPr lang="en-US" sz="1600" dirty="0"/>
          </a:p>
        </p:txBody>
      </p:sp>
      <p:sp>
        <p:nvSpPr>
          <p:cNvPr id="13" name="Shape 11"/>
          <p:cNvSpPr/>
          <p:nvPr/>
        </p:nvSpPr>
        <p:spPr>
          <a:xfrm>
            <a:off x="3246120" y="2743200"/>
            <a:ext cx="2743200" cy="2148840"/>
          </a:xfrm>
          <a:prstGeom prst="rect">
            <a:avLst/>
          </a:prstGeom>
          <a:solidFill>
            <a:srgbClr val="FFFFFF"/>
          </a:solidFill>
          <a:ln/>
          <a:effectLst>
            <a:outerShdw blurRad="101600" dist="38100" dir="8100000" algn="bl" rotWithShape="0">
              <a:srgbClr val="000000">
                <a:alpha val="10000"/>
              </a:srgbClr>
            </a:outerShdw>
          </a:effectLst>
        </p:spPr>
      </p:sp>
      <p:sp>
        <p:nvSpPr>
          <p:cNvPr id="14" name="Shape 12"/>
          <p:cNvSpPr/>
          <p:nvPr/>
        </p:nvSpPr>
        <p:spPr>
          <a:xfrm>
            <a:off x="3429000" y="2834640"/>
            <a:ext cx="457200" cy="457200"/>
          </a:xfrm>
          <a:prstGeom prst="ellipse">
            <a:avLst/>
          </a:prstGeom>
          <a:solidFill>
            <a:srgbClr val="7B2D8B"/>
          </a:solidFill>
          <a:ln/>
        </p:spPr>
      </p:sp>
      <p:sp>
        <p:nvSpPr>
          <p:cNvPr id="15" name="Text 13"/>
          <p:cNvSpPr/>
          <p:nvPr/>
        </p:nvSpPr>
        <p:spPr>
          <a:xfrm>
            <a:off x="3429000" y="2834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6" name="Text 14"/>
          <p:cNvSpPr/>
          <p:nvPr/>
        </p:nvSpPr>
        <p:spPr>
          <a:xfrm>
            <a:off x="4023360" y="2834640"/>
            <a:ext cx="1828800" cy="457200"/>
          </a:xfrm>
          <a:prstGeom prst="rect">
            <a:avLst/>
          </a:prstGeom>
          <a:noFill/>
          <a:ln/>
        </p:spPr>
        <p:txBody>
          <a:bodyPr wrap="square" rtlCol="0" anchor="ctr"/>
          <a:lstStyle/>
          <a:p>
            <a:pPr marL="0" indent="0">
              <a:buNone/>
            </a:pPr>
            <a:r>
              <a:rPr lang="en-US" sz="1560" b="1" dirty="0">
                <a:solidFill>
                  <a:srgbClr val="7B2D8B"/>
                </a:solidFill>
              </a:rPr>
              <a:t>Carry a Spare Pad</a:t>
            </a:r>
            <a:endParaRPr lang="en-US" sz="1560" dirty="0"/>
          </a:p>
        </p:txBody>
      </p:sp>
      <p:sp>
        <p:nvSpPr>
          <p:cNvPr id="17" name="Text 15"/>
          <p:cNvSpPr/>
          <p:nvPr/>
        </p:nvSpPr>
        <p:spPr>
          <a:xfrm>
            <a:off x="3383280" y="3383280"/>
            <a:ext cx="2514600" cy="1371600"/>
          </a:xfrm>
          <a:prstGeom prst="rect">
            <a:avLst/>
          </a:prstGeom>
          <a:noFill/>
          <a:ln/>
        </p:spPr>
        <p:txBody>
          <a:bodyPr wrap="square" rtlCol="0" anchor="ctr"/>
          <a:lstStyle/>
          <a:p>
            <a:pPr marL="0" indent="0">
              <a:buNone/>
            </a:pPr>
            <a:r>
              <a:rPr lang="en-US" sz="1600" dirty="0">
                <a:solidFill>
                  <a:srgbClr val="212121"/>
                </a:solidFill>
              </a:rPr>
              <a:t>Always keep an extra pad in your school bag or pencil case — just in case!</a:t>
            </a:r>
            <a:endParaRPr lang="en-US" sz="1600" dirty="0"/>
          </a:p>
        </p:txBody>
      </p:sp>
      <p:sp>
        <p:nvSpPr>
          <p:cNvPr id="18" name="Shape 16"/>
          <p:cNvSpPr/>
          <p:nvPr/>
        </p:nvSpPr>
        <p:spPr>
          <a:xfrm>
            <a:off x="6172200" y="2743200"/>
            <a:ext cx="2743200" cy="2148840"/>
          </a:xfrm>
          <a:prstGeom prst="rect">
            <a:avLst/>
          </a:prstGeom>
          <a:solidFill>
            <a:srgbClr val="FFFFFF"/>
          </a:solidFill>
          <a:ln/>
          <a:effectLst>
            <a:outerShdw blurRad="101600" dist="38100" dir="8100000" algn="bl" rotWithShape="0">
              <a:srgbClr val="000000">
                <a:alpha val="10000"/>
              </a:srgbClr>
            </a:outerShdw>
          </a:effectLst>
        </p:spPr>
      </p:sp>
      <p:sp>
        <p:nvSpPr>
          <p:cNvPr id="19" name="Shape 17"/>
          <p:cNvSpPr/>
          <p:nvPr/>
        </p:nvSpPr>
        <p:spPr>
          <a:xfrm>
            <a:off x="6355080" y="2834640"/>
            <a:ext cx="457200" cy="457200"/>
          </a:xfrm>
          <a:prstGeom prst="ellipse">
            <a:avLst/>
          </a:prstGeom>
          <a:solidFill>
            <a:srgbClr val="009688"/>
          </a:solidFill>
          <a:ln/>
        </p:spPr>
      </p:sp>
      <p:sp>
        <p:nvSpPr>
          <p:cNvPr id="20" name="Text 18"/>
          <p:cNvSpPr/>
          <p:nvPr/>
        </p:nvSpPr>
        <p:spPr>
          <a:xfrm>
            <a:off x="6355080" y="2834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1" name="Text 19"/>
          <p:cNvSpPr/>
          <p:nvPr/>
        </p:nvSpPr>
        <p:spPr>
          <a:xfrm>
            <a:off x="6949440" y="2834640"/>
            <a:ext cx="1828800" cy="457200"/>
          </a:xfrm>
          <a:prstGeom prst="rect">
            <a:avLst/>
          </a:prstGeom>
          <a:noFill/>
          <a:ln/>
        </p:spPr>
        <p:txBody>
          <a:bodyPr wrap="square" rtlCol="0" anchor="ctr"/>
          <a:lstStyle/>
          <a:p>
            <a:pPr marL="0" indent="0">
              <a:buNone/>
            </a:pPr>
            <a:r>
              <a:rPr lang="en-US" sz="1560" b="1" dirty="0">
                <a:solidFill>
                  <a:srgbClr val="009688"/>
                </a:solidFill>
              </a:rPr>
              <a:t>Use the School Toilet</a:t>
            </a:r>
            <a:endParaRPr lang="en-US" sz="1560" dirty="0"/>
          </a:p>
        </p:txBody>
      </p:sp>
      <p:sp>
        <p:nvSpPr>
          <p:cNvPr id="22" name="Text 20"/>
          <p:cNvSpPr/>
          <p:nvPr/>
        </p:nvSpPr>
        <p:spPr>
          <a:xfrm>
            <a:off x="6309360" y="3383280"/>
            <a:ext cx="2514600" cy="1371600"/>
          </a:xfrm>
          <a:prstGeom prst="rect">
            <a:avLst/>
          </a:prstGeom>
          <a:noFill/>
          <a:ln/>
        </p:spPr>
        <p:txBody>
          <a:bodyPr wrap="square" rtlCol="0" anchor="ctr"/>
          <a:lstStyle/>
          <a:p>
            <a:pPr marL="0" indent="0">
              <a:buNone/>
            </a:pPr>
            <a:r>
              <a:rPr lang="en-US" sz="1600" dirty="0">
                <a:solidFill>
                  <a:srgbClr val="212121"/>
                </a:solidFill>
              </a:rPr>
              <a:t>Your school has facilities for this. Use them without hesitation — your health matters!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9C4"/>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388E3C"/>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880" b="1" dirty="0">
                <a:solidFill>
                  <a:srgbClr val="FFFFFF"/>
                </a:solidFill>
              </a:rPr>
              <a:t>🙌  Hygiene Rule #2 — Always Wash Your Hands!</a:t>
            </a:r>
            <a:endParaRPr lang="en-US" sz="2880" dirty="0"/>
          </a:p>
        </p:txBody>
      </p:sp>
      <p:sp>
        <p:nvSpPr>
          <p:cNvPr id="4" name="Shape 2"/>
          <p:cNvSpPr/>
          <p:nvPr/>
        </p:nvSpPr>
        <p:spPr>
          <a:xfrm>
            <a:off x="365760" y="1097280"/>
            <a:ext cx="8412480" cy="91440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48640" y="1170432"/>
            <a:ext cx="8046720" cy="777240"/>
          </a:xfrm>
          <a:prstGeom prst="rect">
            <a:avLst/>
          </a:prstGeom>
          <a:noFill/>
          <a:ln/>
        </p:spPr>
        <p:txBody>
          <a:bodyPr wrap="square" rtlCol="0" anchor="ctr"/>
          <a:lstStyle/>
          <a:p>
            <a:pPr marL="0" indent="0">
              <a:buNone/>
            </a:pPr>
            <a:r>
              <a:rPr lang="en-US" sz="1680" dirty="0">
                <a:solidFill>
                  <a:srgbClr val="212121"/>
                </a:solidFill>
              </a:rPr>
              <a:t>Wash hands with soap and clean water BEFORE and AFTER changing any menstrual product. This stops germs from getting into your body.</a:t>
            </a:r>
            <a:endParaRPr lang="en-US" sz="1680" dirty="0"/>
          </a:p>
        </p:txBody>
      </p:sp>
      <p:sp>
        <p:nvSpPr>
          <p:cNvPr id="6" name="Text 4"/>
          <p:cNvSpPr/>
          <p:nvPr/>
        </p:nvSpPr>
        <p:spPr>
          <a:xfrm>
            <a:off x="365760" y="2148840"/>
            <a:ext cx="8229600" cy="411480"/>
          </a:xfrm>
          <a:prstGeom prst="rect">
            <a:avLst/>
          </a:prstGeom>
          <a:noFill/>
          <a:ln/>
        </p:spPr>
        <p:txBody>
          <a:bodyPr wrap="square" rtlCol="0" anchor="ctr"/>
          <a:lstStyle/>
          <a:p>
            <a:pPr marL="0" indent="0">
              <a:buNone/>
            </a:pPr>
            <a:r>
              <a:rPr lang="en-US" sz="1800" b="1" dirty="0">
                <a:solidFill>
                  <a:srgbClr val="388E3C"/>
                </a:solidFill>
              </a:rPr>
              <a:t>How to wash hands properly:</a:t>
            </a:r>
            <a:endParaRPr lang="en-US" sz="1800" dirty="0"/>
          </a:p>
        </p:txBody>
      </p:sp>
      <p:sp>
        <p:nvSpPr>
          <p:cNvPr id="7" name="Shape 5"/>
          <p:cNvSpPr/>
          <p:nvPr/>
        </p:nvSpPr>
        <p:spPr>
          <a:xfrm>
            <a:off x="365760" y="2651760"/>
            <a:ext cx="457200" cy="457200"/>
          </a:xfrm>
          <a:prstGeom prst="ellipse">
            <a:avLst/>
          </a:prstGeom>
          <a:solidFill>
            <a:srgbClr val="388E3C"/>
          </a:solidFill>
          <a:ln/>
        </p:spPr>
      </p:sp>
      <p:sp>
        <p:nvSpPr>
          <p:cNvPr id="8" name="Text 6"/>
          <p:cNvSpPr/>
          <p:nvPr/>
        </p:nvSpPr>
        <p:spPr>
          <a:xfrm>
            <a:off x="365760" y="26517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9" name="Text 7"/>
          <p:cNvSpPr/>
          <p:nvPr/>
        </p:nvSpPr>
        <p:spPr>
          <a:xfrm>
            <a:off x="1005840" y="2651760"/>
            <a:ext cx="7772400" cy="411480"/>
          </a:xfrm>
          <a:prstGeom prst="rect">
            <a:avLst/>
          </a:prstGeom>
          <a:noFill/>
          <a:ln/>
        </p:spPr>
        <p:txBody>
          <a:bodyPr wrap="square" rtlCol="0" anchor="ctr"/>
          <a:lstStyle/>
          <a:p>
            <a:pPr marL="0" indent="0">
              <a:buNone/>
            </a:pPr>
            <a:r>
              <a:rPr lang="en-US" sz="1560" dirty="0">
                <a:solidFill>
                  <a:srgbClr val="212121"/>
                </a:solidFill>
              </a:rPr>
              <a:t>Wet your hands with clean water</a:t>
            </a:r>
            <a:endParaRPr lang="en-US" sz="1560" dirty="0"/>
          </a:p>
        </p:txBody>
      </p:sp>
      <p:sp>
        <p:nvSpPr>
          <p:cNvPr id="10" name="Shape 8"/>
          <p:cNvSpPr/>
          <p:nvPr/>
        </p:nvSpPr>
        <p:spPr>
          <a:xfrm>
            <a:off x="365760" y="3108960"/>
            <a:ext cx="457200" cy="457200"/>
          </a:xfrm>
          <a:prstGeom prst="ellipse">
            <a:avLst/>
          </a:prstGeom>
          <a:solidFill>
            <a:srgbClr val="388E3C"/>
          </a:solidFill>
          <a:ln/>
        </p:spPr>
      </p:sp>
      <p:sp>
        <p:nvSpPr>
          <p:cNvPr id="11" name="Text 9"/>
          <p:cNvSpPr/>
          <p:nvPr/>
        </p:nvSpPr>
        <p:spPr>
          <a:xfrm>
            <a:off x="36576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2" name="Text 10"/>
          <p:cNvSpPr/>
          <p:nvPr/>
        </p:nvSpPr>
        <p:spPr>
          <a:xfrm>
            <a:off x="1005840" y="3108960"/>
            <a:ext cx="7772400" cy="411480"/>
          </a:xfrm>
          <a:prstGeom prst="rect">
            <a:avLst/>
          </a:prstGeom>
          <a:noFill/>
          <a:ln/>
        </p:spPr>
        <p:txBody>
          <a:bodyPr wrap="square" rtlCol="0" anchor="ctr"/>
          <a:lstStyle/>
          <a:p>
            <a:pPr marL="0" indent="0">
              <a:buNone/>
            </a:pPr>
            <a:r>
              <a:rPr lang="en-US" sz="1560" dirty="0">
                <a:solidFill>
                  <a:srgbClr val="212121"/>
                </a:solidFill>
              </a:rPr>
              <a:t>Apply soap — any soap is fine!</a:t>
            </a:r>
            <a:endParaRPr lang="en-US" sz="1560" dirty="0"/>
          </a:p>
        </p:txBody>
      </p:sp>
      <p:sp>
        <p:nvSpPr>
          <p:cNvPr id="13" name="Shape 11"/>
          <p:cNvSpPr/>
          <p:nvPr/>
        </p:nvSpPr>
        <p:spPr>
          <a:xfrm>
            <a:off x="365760" y="3566160"/>
            <a:ext cx="457200" cy="457200"/>
          </a:xfrm>
          <a:prstGeom prst="ellipse">
            <a:avLst/>
          </a:prstGeom>
          <a:solidFill>
            <a:srgbClr val="388E3C"/>
          </a:solidFill>
          <a:ln/>
        </p:spPr>
      </p:sp>
      <p:sp>
        <p:nvSpPr>
          <p:cNvPr id="14" name="Text 12"/>
          <p:cNvSpPr/>
          <p:nvPr/>
        </p:nvSpPr>
        <p:spPr>
          <a:xfrm>
            <a:off x="365760" y="35661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5" name="Text 13"/>
          <p:cNvSpPr/>
          <p:nvPr/>
        </p:nvSpPr>
        <p:spPr>
          <a:xfrm>
            <a:off x="1005840" y="3566160"/>
            <a:ext cx="7772400" cy="411480"/>
          </a:xfrm>
          <a:prstGeom prst="rect">
            <a:avLst/>
          </a:prstGeom>
          <a:noFill/>
          <a:ln/>
        </p:spPr>
        <p:txBody>
          <a:bodyPr wrap="square" rtlCol="0" anchor="ctr"/>
          <a:lstStyle/>
          <a:p>
            <a:pPr marL="0" indent="0">
              <a:buNone/>
            </a:pPr>
            <a:r>
              <a:rPr lang="en-US" sz="1560" dirty="0">
                <a:solidFill>
                  <a:srgbClr val="212121"/>
                </a:solidFill>
              </a:rPr>
              <a:t>Scrub for at least 20 seconds (sing 'Happy Birthday' twice!)</a:t>
            </a:r>
            <a:endParaRPr lang="en-US" sz="1560" dirty="0"/>
          </a:p>
        </p:txBody>
      </p:sp>
      <p:sp>
        <p:nvSpPr>
          <p:cNvPr id="16" name="Shape 14"/>
          <p:cNvSpPr/>
          <p:nvPr/>
        </p:nvSpPr>
        <p:spPr>
          <a:xfrm>
            <a:off x="365760" y="4023360"/>
            <a:ext cx="457200" cy="457200"/>
          </a:xfrm>
          <a:prstGeom prst="ellipse">
            <a:avLst/>
          </a:prstGeom>
          <a:solidFill>
            <a:srgbClr val="388E3C"/>
          </a:solidFill>
          <a:ln/>
        </p:spPr>
      </p:sp>
      <p:sp>
        <p:nvSpPr>
          <p:cNvPr id="17" name="Text 15"/>
          <p:cNvSpPr/>
          <p:nvPr/>
        </p:nvSpPr>
        <p:spPr>
          <a:xfrm>
            <a:off x="365760" y="4023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8" name="Text 16"/>
          <p:cNvSpPr/>
          <p:nvPr/>
        </p:nvSpPr>
        <p:spPr>
          <a:xfrm>
            <a:off x="1005840" y="4023360"/>
            <a:ext cx="7772400" cy="411480"/>
          </a:xfrm>
          <a:prstGeom prst="rect">
            <a:avLst/>
          </a:prstGeom>
          <a:noFill/>
          <a:ln/>
        </p:spPr>
        <p:txBody>
          <a:bodyPr wrap="square" rtlCol="0" anchor="ctr"/>
          <a:lstStyle/>
          <a:p>
            <a:pPr marL="0" indent="0">
              <a:buNone/>
            </a:pPr>
            <a:r>
              <a:rPr lang="en-US" sz="1560" dirty="0">
                <a:solidFill>
                  <a:srgbClr val="212121"/>
                </a:solidFill>
              </a:rPr>
              <a:t>Rinse thoroughly under running water</a:t>
            </a:r>
            <a:endParaRPr lang="en-US" sz="1560" dirty="0"/>
          </a:p>
        </p:txBody>
      </p:sp>
      <p:sp>
        <p:nvSpPr>
          <p:cNvPr id="19" name="Shape 17"/>
          <p:cNvSpPr/>
          <p:nvPr/>
        </p:nvSpPr>
        <p:spPr>
          <a:xfrm>
            <a:off x="365760" y="4480560"/>
            <a:ext cx="457200" cy="457200"/>
          </a:xfrm>
          <a:prstGeom prst="ellipse">
            <a:avLst/>
          </a:prstGeom>
          <a:solidFill>
            <a:srgbClr val="388E3C"/>
          </a:solidFill>
          <a:ln/>
        </p:spPr>
      </p:sp>
      <p:sp>
        <p:nvSpPr>
          <p:cNvPr id="20" name="Text 18"/>
          <p:cNvSpPr/>
          <p:nvPr/>
        </p:nvSpPr>
        <p:spPr>
          <a:xfrm>
            <a:off x="365760" y="44805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1" name="Text 19"/>
          <p:cNvSpPr/>
          <p:nvPr/>
        </p:nvSpPr>
        <p:spPr>
          <a:xfrm>
            <a:off x="1005840" y="4480560"/>
            <a:ext cx="7772400" cy="411480"/>
          </a:xfrm>
          <a:prstGeom prst="rect">
            <a:avLst/>
          </a:prstGeom>
          <a:noFill/>
          <a:ln/>
        </p:spPr>
        <p:txBody>
          <a:bodyPr wrap="square" rtlCol="0" anchor="ctr"/>
          <a:lstStyle/>
          <a:p>
            <a:pPr marL="0" indent="0">
              <a:buNone/>
            </a:pPr>
            <a:r>
              <a:rPr lang="en-US" sz="1560" dirty="0">
                <a:solidFill>
                  <a:srgbClr val="212121"/>
                </a:solidFill>
              </a:rPr>
              <a:t>Dry with a clean cloth or air-dry</a:t>
            </a:r>
            <a:endParaRPr lang="en-US" sz="1560" dirty="0"/>
          </a:p>
        </p:txBody>
      </p:sp>
      <p:sp>
        <p:nvSpPr>
          <p:cNvPr id="22" name="Text 20"/>
          <p:cNvSpPr/>
          <p:nvPr/>
        </p:nvSpPr>
        <p:spPr>
          <a:xfrm>
            <a:off x="365760" y="4709160"/>
            <a:ext cx="8412480" cy="320040"/>
          </a:xfrm>
          <a:prstGeom prst="rect">
            <a:avLst/>
          </a:prstGeom>
          <a:noFill/>
          <a:ln/>
        </p:spPr>
        <p:txBody>
          <a:bodyPr wrap="square" rtlCol="0" anchor="ctr"/>
          <a:lstStyle/>
          <a:p>
            <a:pPr marL="0" indent="0" algn="ctr">
              <a:buNone/>
            </a:pPr>
            <a:r>
              <a:rPr lang="en-US" sz="1440" b="1" dirty="0">
                <a:solidFill>
                  <a:srgbClr val="009688"/>
                </a:solidFill>
              </a:rPr>
              <a:t>💡 No soap? Use hand sanitizer if available!</a:t>
            </a:r>
            <a:endParaRPr lang="en-US" sz="14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71E749-C502-EC1E-C4FA-E30EB5A62867}"/>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149622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EBEE"/>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009688"/>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880" b="1" dirty="0">
                <a:solidFill>
                  <a:srgbClr val="FFFFFF"/>
                </a:solidFill>
              </a:rPr>
              <a:t>🚿  Hygiene Rule #3 — Keep Your Body Clean</a:t>
            </a:r>
            <a:endParaRPr lang="en-US" sz="2880" dirty="0"/>
          </a:p>
        </p:txBody>
      </p:sp>
      <p:sp>
        <p:nvSpPr>
          <p:cNvPr id="4" name="Shape 2"/>
          <p:cNvSpPr/>
          <p:nvPr/>
        </p:nvSpPr>
        <p:spPr>
          <a:xfrm>
            <a:off x="320040" y="1097280"/>
            <a:ext cx="4114800" cy="1920240"/>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320040" y="1097280"/>
            <a:ext cx="4114800" cy="457200"/>
          </a:xfrm>
          <a:prstGeom prst="rect">
            <a:avLst/>
          </a:prstGeom>
          <a:solidFill>
            <a:srgbClr val="009688"/>
          </a:solidFill>
          <a:ln/>
        </p:spPr>
      </p:sp>
      <p:sp>
        <p:nvSpPr>
          <p:cNvPr id="6" name="Text 4"/>
          <p:cNvSpPr/>
          <p:nvPr/>
        </p:nvSpPr>
        <p:spPr>
          <a:xfrm>
            <a:off x="320040" y="1097280"/>
            <a:ext cx="4114800" cy="457200"/>
          </a:xfrm>
          <a:prstGeom prst="rect">
            <a:avLst/>
          </a:prstGeom>
          <a:noFill/>
          <a:ln/>
        </p:spPr>
        <p:txBody>
          <a:bodyPr wrap="square" lIns="0" tIns="0" rIns="0" bIns="0" rtlCol="0" anchor="ctr"/>
          <a:lstStyle/>
          <a:p>
            <a:pPr marL="0" indent="0" algn="ctr">
              <a:buNone/>
            </a:pPr>
            <a:r>
              <a:rPr lang="en-US" sz="1680" b="1" dirty="0">
                <a:solidFill>
                  <a:srgbClr val="FFFFFF"/>
                </a:solidFill>
              </a:rPr>
              <a:t>Washing the Outside</a:t>
            </a:r>
            <a:endParaRPr lang="en-US" sz="1680" dirty="0"/>
          </a:p>
        </p:txBody>
      </p:sp>
      <p:sp>
        <p:nvSpPr>
          <p:cNvPr id="7" name="Text 5"/>
          <p:cNvSpPr/>
          <p:nvPr/>
        </p:nvSpPr>
        <p:spPr>
          <a:xfrm>
            <a:off x="457200" y="1645920"/>
            <a:ext cx="3840480" cy="1143000"/>
          </a:xfrm>
          <a:prstGeom prst="rect">
            <a:avLst/>
          </a:prstGeom>
          <a:noFill/>
          <a:ln/>
        </p:spPr>
        <p:txBody>
          <a:bodyPr wrap="square" rtlCol="0" anchor="ctr"/>
          <a:lstStyle/>
          <a:p>
            <a:pPr marL="0" indent="0">
              <a:buNone/>
            </a:pPr>
            <a:r>
              <a:rPr lang="en-US" sz="1560" dirty="0">
                <a:solidFill>
                  <a:srgbClr val="212121"/>
                </a:solidFill>
              </a:rPr>
              <a:t>✅ Wash the OUTER area (vulva) gently with clean water</a:t>
            </a:r>
            <a:endParaRPr lang="en-US" sz="1560" dirty="0"/>
          </a:p>
          <a:p>
            <a:pPr marL="0" indent="0">
              <a:buNone/>
            </a:pPr>
            <a:r>
              <a:rPr lang="en-US" sz="1560" dirty="0">
                <a:solidFill>
                  <a:srgbClr val="212121"/>
                </a:solidFill>
              </a:rPr>
              <a:t>✅ Always wipe/wash from FRONT to BACK</a:t>
            </a:r>
            <a:endParaRPr lang="en-US" sz="1560" dirty="0"/>
          </a:p>
          <a:p>
            <a:pPr marL="0" indent="0">
              <a:buNone/>
            </a:pPr>
            <a:r>
              <a:rPr lang="en-US" sz="1560" dirty="0">
                <a:solidFill>
                  <a:srgbClr val="212121"/>
                </a:solidFill>
              </a:rPr>
              <a:t>✅ Once or twice a day is enough</a:t>
            </a:r>
            <a:endParaRPr lang="en-US" sz="1560" dirty="0"/>
          </a:p>
        </p:txBody>
      </p:sp>
      <p:sp>
        <p:nvSpPr>
          <p:cNvPr id="8" name="Shape 6"/>
          <p:cNvSpPr/>
          <p:nvPr/>
        </p:nvSpPr>
        <p:spPr>
          <a:xfrm>
            <a:off x="4709160" y="1097280"/>
            <a:ext cx="4114800" cy="1920240"/>
          </a:xfrm>
          <a:prstGeom prst="rect">
            <a:avLst/>
          </a:prstGeom>
          <a:solidFill>
            <a:srgbClr val="FFFFFF"/>
          </a:solidFill>
          <a:ln/>
          <a:effectLst>
            <a:outerShdw blurRad="101600" dist="38100" dir="8100000" algn="bl" rotWithShape="0">
              <a:srgbClr val="000000">
                <a:alpha val="10000"/>
              </a:srgbClr>
            </a:outerShdw>
          </a:effectLst>
        </p:spPr>
      </p:sp>
      <p:sp>
        <p:nvSpPr>
          <p:cNvPr id="9" name="Shape 7"/>
          <p:cNvSpPr/>
          <p:nvPr/>
        </p:nvSpPr>
        <p:spPr>
          <a:xfrm>
            <a:off x="4709160" y="1097280"/>
            <a:ext cx="4114800" cy="457200"/>
          </a:xfrm>
          <a:prstGeom prst="rect">
            <a:avLst/>
          </a:prstGeom>
          <a:solidFill>
            <a:srgbClr val="7B2D8B"/>
          </a:solidFill>
          <a:ln/>
        </p:spPr>
      </p:sp>
      <p:sp>
        <p:nvSpPr>
          <p:cNvPr id="10" name="Text 8"/>
          <p:cNvSpPr/>
          <p:nvPr/>
        </p:nvSpPr>
        <p:spPr>
          <a:xfrm>
            <a:off x="4709160" y="1097280"/>
            <a:ext cx="4114800" cy="457200"/>
          </a:xfrm>
          <a:prstGeom prst="rect">
            <a:avLst/>
          </a:prstGeom>
          <a:noFill/>
          <a:ln/>
        </p:spPr>
        <p:txBody>
          <a:bodyPr wrap="square" lIns="0" tIns="0" rIns="0" bIns="0" rtlCol="0" anchor="ctr"/>
          <a:lstStyle/>
          <a:p>
            <a:pPr marL="0" indent="0" algn="ctr">
              <a:buNone/>
            </a:pPr>
            <a:r>
              <a:rPr lang="en-US" sz="1680" b="1" dirty="0">
                <a:solidFill>
                  <a:srgbClr val="FFFFFF"/>
                </a:solidFill>
              </a:rPr>
              <a:t>INSIDE the Vagina</a:t>
            </a:r>
            <a:endParaRPr lang="en-US" sz="1680" dirty="0"/>
          </a:p>
        </p:txBody>
      </p:sp>
      <p:sp>
        <p:nvSpPr>
          <p:cNvPr id="11" name="Text 9"/>
          <p:cNvSpPr/>
          <p:nvPr/>
        </p:nvSpPr>
        <p:spPr>
          <a:xfrm>
            <a:off x="4846320" y="1711960"/>
            <a:ext cx="3840480" cy="1143000"/>
          </a:xfrm>
          <a:prstGeom prst="rect">
            <a:avLst/>
          </a:prstGeom>
          <a:noFill/>
          <a:ln/>
        </p:spPr>
        <p:txBody>
          <a:bodyPr wrap="square" rtlCol="0" anchor="ctr"/>
          <a:lstStyle/>
          <a:p>
            <a:pPr marL="0" indent="0">
              <a:buNone/>
            </a:pPr>
            <a:r>
              <a:rPr lang="en-US" sz="1560" dirty="0">
                <a:solidFill>
                  <a:srgbClr val="212121"/>
                </a:solidFill>
              </a:rPr>
              <a:t>❌ Do NOT put soap, water or any product INSIDE the vagina</a:t>
            </a:r>
            <a:endParaRPr lang="en-US" sz="1560" dirty="0"/>
          </a:p>
          <a:p>
            <a:pPr marL="0" indent="0">
              <a:buNone/>
            </a:pPr>
            <a:r>
              <a:rPr lang="en-US" sz="1560" dirty="0">
                <a:solidFill>
                  <a:srgbClr val="212121"/>
                </a:solidFill>
              </a:rPr>
              <a:t>❌ Do NOT use scented sprays or wipes inside</a:t>
            </a:r>
            <a:endParaRPr lang="en-US" sz="1560" dirty="0"/>
          </a:p>
          <a:p>
            <a:pPr marL="0" indent="0">
              <a:buNone/>
            </a:pPr>
            <a:r>
              <a:rPr lang="en-US" sz="1560" dirty="0">
                <a:solidFill>
                  <a:srgbClr val="212121"/>
                </a:solidFill>
              </a:rPr>
              <a:t>✅ The vagina CLEANS ITSELF naturally — trust it!</a:t>
            </a:r>
            <a:endParaRPr lang="en-US" sz="1560" dirty="0"/>
          </a:p>
        </p:txBody>
      </p:sp>
      <p:sp>
        <p:nvSpPr>
          <p:cNvPr id="12" name="Shape 10"/>
          <p:cNvSpPr/>
          <p:nvPr/>
        </p:nvSpPr>
        <p:spPr>
          <a:xfrm>
            <a:off x="320040" y="3108960"/>
            <a:ext cx="8503920" cy="1691640"/>
          </a:xfrm>
          <a:prstGeom prst="rect">
            <a:avLst/>
          </a:prstGeom>
          <a:solidFill>
            <a:srgbClr val="FFFDE7"/>
          </a:solidFill>
          <a:ln/>
          <a:effectLst>
            <a:outerShdw blurRad="101600" dist="38100" dir="8100000" algn="bl" rotWithShape="0">
              <a:srgbClr val="000000">
                <a:alpha val="10000"/>
              </a:srgbClr>
            </a:outerShdw>
          </a:effectLst>
        </p:spPr>
      </p:sp>
      <p:sp>
        <p:nvSpPr>
          <p:cNvPr id="13" name="Shape 11"/>
          <p:cNvSpPr/>
          <p:nvPr/>
        </p:nvSpPr>
        <p:spPr>
          <a:xfrm>
            <a:off x="320040" y="3108960"/>
            <a:ext cx="274320" cy="1691640"/>
          </a:xfrm>
          <a:prstGeom prst="rect">
            <a:avLst/>
          </a:prstGeom>
          <a:solidFill>
            <a:srgbClr val="FFC107"/>
          </a:solidFill>
          <a:ln/>
        </p:spPr>
      </p:sp>
      <p:sp>
        <p:nvSpPr>
          <p:cNvPr id="14" name="Text 12"/>
          <p:cNvSpPr/>
          <p:nvPr/>
        </p:nvSpPr>
        <p:spPr>
          <a:xfrm>
            <a:off x="731520" y="3200400"/>
            <a:ext cx="7955280" cy="457200"/>
          </a:xfrm>
          <a:prstGeom prst="rect">
            <a:avLst/>
          </a:prstGeom>
          <a:noFill/>
          <a:ln/>
        </p:spPr>
        <p:txBody>
          <a:bodyPr wrap="square" rtlCol="0" anchor="ctr"/>
          <a:lstStyle/>
          <a:p>
            <a:pPr marL="0" indent="0">
              <a:buNone/>
            </a:pPr>
            <a:r>
              <a:rPr lang="en-US" sz="1800" b="1" dirty="0">
                <a:solidFill>
                  <a:srgbClr val="212121"/>
                </a:solidFill>
              </a:rPr>
              <a:t>🛁 MYTH vs FACT: Bathing During Periods</a:t>
            </a:r>
            <a:endParaRPr lang="en-US" sz="1800" dirty="0"/>
          </a:p>
        </p:txBody>
      </p:sp>
      <p:sp>
        <p:nvSpPr>
          <p:cNvPr id="15" name="Text 13"/>
          <p:cNvSpPr/>
          <p:nvPr/>
        </p:nvSpPr>
        <p:spPr>
          <a:xfrm>
            <a:off x="731520" y="3703320"/>
            <a:ext cx="7955280" cy="1005840"/>
          </a:xfrm>
          <a:prstGeom prst="rect">
            <a:avLst/>
          </a:prstGeom>
          <a:noFill/>
          <a:ln/>
        </p:spPr>
        <p:txBody>
          <a:bodyPr wrap="square" rtlCol="0" anchor="ctr"/>
          <a:lstStyle/>
          <a:p>
            <a:pPr marL="0" indent="0">
              <a:buNone/>
            </a:pPr>
            <a:r>
              <a:rPr lang="en-US" sz="1560" b="1" dirty="0">
                <a:solidFill>
                  <a:srgbClr val="E53935"/>
                </a:solidFill>
              </a:rPr>
              <a:t>MYTH: </a:t>
            </a:r>
            <a:r>
              <a:rPr lang="en-US" sz="1560" dirty="0">
                <a:solidFill>
                  <a:srgbClr val="212121"/>
                </a:solidFill>
              </a:rPr>
              <a:t>Bathing during periods makes cramps worse or slows your flow.</a:t>
            </a:r>
            <a:endParaRPr lang="en-US" sz="1560" dirty="0"/>
          </a:p>
          <a:p>
            <a:pPr marL="0" indent="0">
              <a:buNone/>
            </a:pPr>
            <a:r>
              <a:rPr lang="en-US" sz="1560" b="1" dirty="0">
                <a:solidFill>
                  <a:srgbClr val="388E3C"/>
                </a:solidFill>
              </a:rPr>
              <a:t>FACT: </a:t>
            </a:r>
            <a:r>
              <a:rPr lang="en-US" sz="1560" dirty="0">
                <a:solidFill>
                  <a:srgbClr val="212121"/>
                </a:solidFill>
              </a:rPr>
              <a:t>100% FALSE! Bathing is ESSENTIAL during your period. It keeps you comfortable, fresh, and infection-free. Bathe every single day! 🚿</a:t>
            </a:r>
            <a:endParaRPr lang="en-US" sz="15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98AC9A-607E-E4B0-48CE-66607BB6F6F3}"/>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03978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E8F4FD"/>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E91E8C"/>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Good Daily Habits During Your Period</a:t>
            </a:r>
            <a:endParaRPr lang="en-US" sz="3120" dirty="0"/>
          </a:p>
        </p:txBody>
      </p:sp>
      <p:sp>
        <p:nvSpPr>
          <p:cNvPr id="4" name="Shape 2"/>
          <p:cNvSpPr/>
          <p:nvPr/>
        </p:nvSpPr>
        <p:spPr>
          <a:xfrm>
            <a:off x="320040" y="1143000"/>
            <a:ext cx="4206240" cy="1600200"/>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320040" y="1143000"/>
            <a:ext cx="4206240" cy="438912"/>
          </a:xfrm>
          <a:prstGeom prst="rect">
            <a:avLst/>
          </a:prstGeom>
          <a:solidFill>
            <a:srgbClr val="E91E8C"/>
          </a:solidFill>
          <a:ln/>
        </p:spPr>
      </p:sp>
      <p:sp>
        <p:nvSpPr>
          <p:cNvPr id="6" name="Text 4"/>
          <p:cNvSpPr/>
          <p:nvPr/>
        </p:nvSpPr>
        <p:spPr>
          <a:xfrm>
            <a:off x="320040" y="1143000"/>
            <a:ext cx="4206240" cy="438912"/>
          </a:xfrm>
          <a:prstGeom prst="rect">
            <a:avLst/>
          </a:prstGeom>
          <a:noFill/>
          <a:ln/>
        </p:spPr>
        <p:txBody>
          <a:bodyPr wrap="square" lIns="0" tIns="0" rIns="0" bIns="0" rtlCol="0" anchor="ctr"/>
          <a:lstStyle/>
          <a:p>
            <a:pPr marL="0" indent="0" algn="ctr">
              <a:buNone/>
            </a:pPr>
            <a:r>
              <a:rPr lang="en-US" sz="1560" b="1" dirty="0">
                <a:solidFill>
                  <a:srgbClr val="FFFFFF"/>
                </a:solidFill>
              </a:rPr>
              <a:t>4  👗  Change Soiled Underwear ASAP</a:t>
            </a:r>
            <a:endParaRPr lang="en-US" sz="1560" dirty="0"/>
          </a:p>
        </p:txBody>
      </p:sp>
      <p:sp>
        <p:nvSpPr>
          <p:cNvPr id="7" name="Text 5"/>
          <p:cNvSpPr/>
          <p:nvPr/>
        </p:nvSpPr>
        <p:spPr>
          <a:xfrm>
            <a:off x="457200" y="1645920"/>
            <a:ext cx="3931920" cy="1005840"/>
          </a:xfrm>
          <a:prstGeom prst="rect">
            <a:avLst/>
          </a:prstGeom>
          <a:noFill/>
          <a:ln/>
        </p:spPr>
        <p:txBody>
          <a:bodyPr wrap="square" rtlCol="0" anchor="ctr"/>
          <a:lstStyle/>
          <a:p>
            <a:pPr marL="0" indent="0">
              <a:buNone/>
            </a:pPr>
            <a:r>
              <a:rPr lang="en-US" dirty="0">
                <a:solidFill>
                  <a:srgbClr val="212121"/>
                </a:solidFill>
              </a:rPr>
              <a:t>If your underwear gets stained or wet, change it as soon as you can. Bacteria grow fast in damp cloth!</a:t>
            </a:r>
            <a:endParaRPr lang="en-US" dirty="0"/>
          </a:p>
        </p:txBody>
      </p:sp>
      <p:sp>
        <p:nvSpPr>
          <p:cNvPr id="8" name="Shape 6"/>
          <p:cNvSpPr/>
          <p:nvPr/>
        </p:nvSpPr>
        <p:spPr>
          <a:xfrm>
            <a:off x="4709160" y="1143000"/>
            <a:ext cx="4206240" cy="1600200"/>
          </a:xfrm>
          <a:prstGeom prst="rect">
            <a:avLst/>
          </a:prstGeom>
          <a:solidFill>
            <a:srgbClr val="FFFFFF"/>
          </a:solidFill>
          <a:ln/>
          <a:effectLst>
            <a:outerShdw blurRad="101600" dist="38100" dir="8100000" algn="bl" rotWithShape="0">
              <a:srgbClr val="000000">
                <a:alpha val="10000"/>
              </a:srgbClr>
            </a:outerShdw>
          </a:effectLst>
        </p:spPr>
      </p:sp>
      <p:sp>
        <p:nvSpPr>
          <p:cNvPr id="9" name="Shape 7"/>
          <p:cNvSpPr/>
          <p:nvPr/>
        </p:nvSpPr>
        <p:spPr>
          <a:xfrm>
            <a:off x="4709160" y="1143000"/>
            <a:ext cx="4206240" cy="438912"/>
          </a:xfrm>
          <a:prstGeom prst="rect">
            <a:avLst/>
          </a:prstGeom>
          <a:solidFill>
            <a:srgbClr val="7B2D8B"/>
          </a:solidFill>
          <a:ln/>
        </p:spPr>
      </p:sp>
      <p:sp>
        <p:nvSpPr>
          <p:cNvPr id="10" name="Text 8"/>
          <p:cNvSpPr/>
          <p:nvPr/>
        </p:nvSpPr>
        <p:spPr>
          <a:xfrm>
            <a:off x="4709160" y="1143000"/>
            <a:ext cx="4206240" cy="438912"/>
          </a:xfrm>
          <a:prstGeom prst="rect">
            <a:avLst/>
          </a:prstGeom>
          <a:noFill/>
          <a:ln/>
        </p:spPr>
        <p:txBody>
          <a:bodyPr wrap="square" lIns="0" tIns="0" rIns="0" bIns="0" rtlCol="0" anchor="ctr"/>
          <a:lstStyle/>
          <a:p>
            <a:pPr marL="0" indent="0" algn="ctr">
              <a:buNone/>
            </a:pPr>
            <a:r>
              <a:rPr lang="en-US" sz="1560" b="1" dirty="0">
                <a:solidFill>
                  <a:srgbClr val="FFFFFF"/>
                </a:solidFill>
              </a:rPr>
              <a:t>5  📦  Store Products Properly</a:t>
            </a:r>
            <a:endParaRPr lang="en-US" sz="1560" dirty="0"/>
          </a:p>
        </p:txBody>
      </p:sp>
      <p:sp>
        <p:nvSpPr>
          <p:cNvPr id="11" name="Text 9"/>
          <p:cNvSpPr/>
          <p:nvPr/>
        </p:nvSpPr>
        <p:spPr>
          <a:xfrm>
            <a:off x="4846320" y="1645920"/>
            <a:ext cx="3931920" cy="1005840"/>
          </a:xfrm>
          <a:prstGeom prst="rect">
            <a:avLst/>
          </a:prstGeom>
          <a:noFill/>
          <a:ln/>
        </p:spPr>
        <p:txBody>
          <a:bodyPr wrap="square" rtlCol="0" anchor="ctr"/>
          <a:lstStyle/>
          <a:p>
            <a:pPr marL="0" indent="0">
              <a:buNone/>
            </a:pPr>
            <a:r>
              <a:rPr lang="en-US" dirty="0">
                <a:solidFill>
                  <a:srgbClr val="212121"/>
                </a:solidFill>
              </a:rPr>
              <a:t>Keep your pads in a clean, dry place. Check expiry dates! A damp pad can carry bacteria.</a:t>
            </a:r>
            <a:endParaRPr lang="en-US" dirty="0"/>
          </a:p>
        </p:txBody>
      </p:sp>
      <p:sp>
        <p:nvSpPr>
          <p:cNvPr id="12" name="Shape 10"/>
          <p:cNvSpPr/>
          <p:nvPr/>
        </p:nvSpPr>
        <p:spPr>
          <a:xfrm>
            <a:off x="320040" y="2926080"/>
            <a:ext cx="4206240" cy="1600200"/>
          </a:xfrm>
          <a:prstGeom prst="rect">
            <a:avLst/>
          </a:prstGeom>
          <a:solidFill>
            <a:srgbClr val="FFFFFF"/>
          </a:solidFill>
          <a:ln/>
          <a:effectLst>
            <a:outerShdw blurRad="101600" dist="38100" dir="8100000" algn="bl" rotWithShape="0">
              <a:srgbClr val="000000">
                <a:alpha val="10000"/>
              </a:srgbClr>
            </a:outerShdw>
          </a:effectLst>
        </p:spPr>
      </p:sp>
      <p:sp>
        <p:nvSpPr>
          <p:cNvPr id="13" name="Shape 11"/>
          <p:cNvSpPr/>
          <p:nvPr/>
        </p:nvSpPr>
        <p:spPr>
          <a:xfrm>
            <a:off x="320040" y="2926080"/>
            <a:ext cx="4206240" cy="438912"/>
          </a:xfrm>
          <a:prstGeom prst="rect">
            <a:avLst/>
          </a:prstGeom>
          <a:solidFill>
            <a:srgbClr val="009688"/>
          </a:solidFill>
          <a:ln/>
        </p:spPr>
      </p:sp>
      <p:sp>
        <p:nvSpPr>
          <p:cNvPr id="14" name="Text 12"/>
          <p:cNvSpPr/>
          <p:nvPr/>
        </p:nvSpPr>
        <p:spPr>
          <a:xfrm>
            <a:off x="320040" y="2926080"/>
            <a:ext cx="4206240" cy="438912"/>
          </a:xfrm>
          <a:prstGeom prst="rect">
            <a:avLst/>
          </a:prstGeom>
          <a:noFill/>
          <a:ln/>
        </p:spPr>
        <p:txBody>
          <a:bodyPr wrap="square" lIns="0" tIns="0" rIns="0" bIns="0" rtlCol="0" anchor="ctr"/>
          <a:lstStyle/>
          <a:p>
            <a:pPr marL="0" indent="0" algn="ctr">
              <a:buNone/>
            </a:pPr>
            <a:r>
              <a:rPr lang="en-US" sz="1560" b="1" dirty="0">
                <a:solidFill>
                  <a:srgbClr val="FFFFFF"/>
                </a:solidFill>
              </a:rPr>
              <a:t>6  🏃‍♀️  Stay Active — Go to School!</a:t>
            </a:r>
            <a:endParaRPr lang="en-US" sz="1560" dirty="0"/>
          </a:p>
        </p:txBody>
      </p:sp>
      <p:sp>
        <p:nvSpPr>
          <p:cNvPr id="15" name="Text 13"/>
          <p:cNvSpPr/>
          <p:nvPr/>
        </p:nvSpPr>
        <p:spPr>
          <a:xfrm>
            <a:off x="457200" y="3429000"/>
            <a:ext cx="3931920" cy="1005840"/>
          </a:xfrm>
          <a:prstGeom prst="rect">
            <a:avLst/>
          </a:prstGeom>
          <a:noFill/>
          <a:ln/>
        </p:spPr>
        <p:txBody>
          <a:bodyPr wrap="square" rtlCol="0" anchor="ctr"/>
          <a:lstStyle/>
          <a:p>
            <a:pPr marL="0" indent="0">
              <a:buNone/>
            </a:pPr>
            <a:r>
              <a:rPr lang="en-US" dirty="0">
                <a:solidFill>
                  <a:srgbClr val="212121"/>
                </a:solidFill>
              </a:rPr>
              <a:t>Menstruation is NOT a reason to skip school or sports. Light movement like walking actually REDUCES cramps!</a:t>
            </a:r>
            <a:endParaRPr lang="en-US" dirty="0"/>
          </a:p>
        </p:txBody>
      </p:sp>
      <p:sp>
        <p:nvSpPr>
          <p:cNvPr id="16" name="Shape 14"/>
          <p:cNvSpPr/>
          <p:nvPr/>
        </p:nvSpPr>
        <p:spPr>
          <a:xfrm>
            <a:off x="4709160" y="2926080"/>
            <a:ext cx="4206240" cy="1600200"/>
          </a:xfrm>
          <a:prstGeom prst="rect">
            <a:avLst/>
          </a:prstGeom>
          <a:solidFill>
            <a:srgbClr val="FFFFFF"/>
          </a:solidFill>
          <a:ln/>
          <a:effectLst>
            <a:outerShdw blurRad="101600" dist="38100" dir="8100000" algn="bl" rotWithShape="0">
              <a:srgbClr val="000000">
                <a:alpha val="10000"/>
              </a:srgbClr>
            </a:outerShdw>
          </a:effectLst>
        </p:spPr>
      </p:sp>
      <p:sp>
        <p:nvSpPr>
          <p:cNvPr id="17" name="Shape 15"/>
          <p:cNvSpPr/>
          <p:nvPr/>
        </p:nvSpPr>
        <p:spPr>
          <a:xfrm>
            <a:off x="4709160" y="2926080"/>
            <a:ext cx="4206240" cy="438912"/>
          </a:xfrm>
          <a:prstGeom prst="rect">
            <a:avLst/>
          </a:prstGeom>
          <a:solidFill>
            <a:srgbClr val="388E3C"/>
          </a:solidFill>
          <a:ln/>
        </p:spPr>
      </p:sp>
      <p:sp>
        <p:nvSpPr>
          <p:cNvPr id="18" name="Text 16"/>
          <p:cNvSpPr/>
          <p:nvPr/>
        </p:nvSpPr>
        <p:spPr>
          <a:xfrm>
            <a:off x="4709160" y="2926080"/>
            <a:ext cx="4206240" cy="438912"/>
          </a:xfrm>
          <a:prstGeom prst="rect">
            <a:avLst/>
          </a:prstGeom>
          <a:noFill/>
          <a:ln/>
        </p:spPr>
        <p:txBody>
          <a:bodyPr wrap="square" lIns="0" tIns="0" rIns="0" bIns="0" rtlCol="0" anchor="ctr"/>
          <a:lstStyle/>
          <a:p>
            <a:pPr marL="0" indent="0" algn="ctr">
              <a:buNone/>
            </a:pPr>
            <a:r>
              <a:rPr lang="en-US" sz="1560" b="1" dirty="0">
                <a:solidFill>
                  <a:srgbClr val="FFFFFF"/>
                </a:solidFill>
              </a:rPr>
              <a:t>7  📱  Track Your Cycle</a:t>
            </a:r>
            <a:endParaRPr lang="en-US" sz="1560" dirty="0"/>
          </a:p>
        </p:txBody>
      </p:sp>
      <p:sp>
        <p:nvSpPr>
          <p:cNvPr id="19" name="Text 17"/>
          <p:cNvSpPr/>
          <p:nvPr/>
        </p:nvSpPr>
        <p:spPr>
          <a:xfrm>
            <a:off x="4846320" y="3429000"/>
            <a:ext cx="3931920" cy="1005840"/>
          </a:xfrm>
          <a:prstGeom prst="rect">
            <a:avLst/>
          </a:prstGeom>
          <a:noFill/>
          <a:ln/>
        </p:spPr>
        <p:txBody>
          <a:bodyPr wrap="square" rtlCol="0" anchor="ctr"/>
          <a:lstStyle/>
          <a:p>
            <a:pPr marL="0" indent="0">
              <a:buNone/>
            </a:pPr>
            <a:r>
              <a:rPr lang="en-US" dirty="0">
                <a:solidFill>
                  <a:srgbClr val="212121"/>
                </a:solidFill>
              </a:rPr>
              <a:t>Mark your period start date on a calendar or period-tracking app. This helps you prepare and stay stress-free.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9E6"/>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E91E8C"/>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Sanitary Pads — The Most Popular Choice</a:t>
            </a:r>
            <a:endParaRPr lang="en-US" sz="3120" dirty="0"/>
          </a:p>
        </p:txBody>
      </p:sp>
      <p:sp>
        <p:nvSpPr>
          <p:cNvPr id="4" name="Shape 2"/>
          <p:cNvSpPr/>
          <p:nvPr/>
        </p:nvSpPr>
        <p:spPr>
          <a:xfrm>
            <a:off x="320040" y="1097280"/>
            <a:ext cx="2743200" cy="2560320"/>
          </a:xfrm>
          <a:prstGeom prst="rect">
            <a:avLst/>
          </a:prstGeom>
          <a:solidFill>
            <a:srgbClr val="FADADD"/>
          </a:solidFill>
          <a:ln/>
          <a:effectLst>
            <a:outerShdw blurRad="101600" dist="38100" dir="8100000" algn="bl" rotWithShape="0">
              <a:srgbClr val="000000">
                <a:alpha val="10000"/>
              </a:srgbClr>
            </a:outerShdw>
          </a:effectLst>
        </p:spPr>
      </p:sp>
      <p:sp>
        <p:nvSpPr>
          <p:cNvPr id="5" name="Shape 3"/>
          <p:cNvSpPr/>
          <p:nvPr/>
        </p:nvSpPr>
        <p:spPr>
          <a:xfrm>
            <a:off x="320040" y="1097280"/>
            <a:ext cx="2743200" cy="457200"/>
          </a:xfrm>
          <a:prstGeom prst="rect">
            <a:avLst/>
          </a:prstGeom>
          <a:solidFill>
            <a:srgbClr val="E91E8C"/>
          </a:solidFill>
          <a:ln/>
        </p:spPr>
      </p:sp>
      <p:sp>
        <p:nvSpPr>
          <p:cNvPr id="6" name="Text 4"/>
          <p:cNvSpPr/>
          <p:nvPr/>
        </p:nvSpPr>
        <p:spPr>
          <a:xfrm>
            <a:off x="320040" y="1097280"/>
            <a:ext cx="2743200" cy="457200"/>
          </a:xfrm>
          <a:prstGeom prst="rect">
            <a:avLst/>
          </a:prstGeom>
          <a:noFill/>
          <a:ln/>
        </p:spPr>
        <p:txBody>
          <a:bodyPr wrap="square" lIns="0" tIns="0" rIns="0" bIns="0" rtlCol="0" anchor="ctr"/>
          <a:lstStyle/>
          <a:p>
            <a:pPr marL="0" indent="0" algn="ctr">
              <a:buNone/>
            </a:pPr>
            <a:r>
              <a:rPr lang="en-US" sz="1560" b="1" dirty="0">
                <a:solidFill>
                  <a:srgbClr val="FFFFFF"/>
                </a:solidFill>
              </a:rPr>
              <a:t>With Wings 🦋</a:t>
            </a:r>
            <a:endParaRPr lang="en-US" sz="1560" dirty="0"/>
          </a:p>
        </p:txBody>
      </p:sp>
      <p:sp>
        <p:nvSpPr>
          <p:cNvPr id="7" name="Text 5"/>
          <p:cNvSpPr/>
          <p:nvPr/>
        </p:nvSpPr>
        <p:spPr>
          <a:xfrm>
            <a:off x="457200" y="1645920"/>
            <a:ext cx="2468880" cy="1920240"/>
          </a:xfrm>
          <a:prstGeom prst="rect">
            <a:avLst/>
          </a:prstGeom>
          <a:noFill/>
          <a:ln/>
        </p:spPr>
        <p:txBody>
          <a:bodyPr wrap="square" rtlCol="0" anchor="ctr"/>
          <a:lstStyle/>
          <a:p>
            <a:pPr marL="0" indent="0">
              <a:buNone/>
            </a:pPr>
            <a:r>
              <a:rPr lang="en-US" dirty="0">
                <a:solidFill>
                  <a:srgbClr val="212121"/>
                </a:solidFill>
              </a:rPr>
              <a:t>Has a sticky strip on the back and flaps that fold under your underwear. Wings prevent leaks! Most popular for school.</a:t>
            </a:r>
            <a:endParaRPr lang="en-US" dirty="0"/>
          </a:p>
        </p:txBody>
      </p:sp>
      <p:sp>
        <p:nvSpPr>
          <p:cNvPr id="8" name="Shape 6"/>
          <p:cNvSpPr/>
          <p:nvPr/>
        </p:nvSpPr>
        <p:spPr>
          <a:xfrm>
            <a:off x="3246120" y="1097280"/>
            <a:ext cx="2743200" cy="2560320"/>
          </a:xfrm>
          <a:prstGeom prst="rect">
            <a:avLst/>
          </a:prstGeom>
          <a:solidFill>
            <a:srgbClr val="EDD9F5"/>
          </a:solidFill>
          <a:ln/>
          <a:effectLst>
            <a:outerShdw blurRad="101600" dist="38100" dir="8100000" algn="bl" rotWithShape="0">
              <a:srgbClr val="000000">
                <a:alpha val="10000"/>
              </a:srgbClr>
            </a:outerShdw>
          </a:effectLst>
        </p:spPr>
      </p:sp>
      <p:sp>
        <p:nvSpPr>
          <p:cNvPr id="9" name="Shape 7"/>
          <p:cNvSpPr/>
          <p:nvPr/>
        </p:nvSpPr>
        <p:spPr>
          <a:xfrm>
            <a:off x="3246120" y="1097280"/>
            <a:ext cx="2743200" cy="457200"/>
          </a:xfrm>
          <a:prstGeom prst="rect">
            <a:avLst/>
          </a:prstGeom>
          <a:solidFill>
            <a:srgbClr val="7B2D8B"/>
          </a:solidFill>
          <a:ln/>
        </p:spPr>
      </p:sp>
      <p:sp>
        <p:nvSpPr>
          <p:cNvPr id="10" name="Text 8"/>
          <p:cNvSpPr/>
          <p:nvPr/>
        </p:nvSpPr>
        <p:spPr>
          <a:xfrm>
            <a:off x="3246120" y="1097280"/>
            <a:ext cx="2743200" cy="457200"/>
          </a:xfrm>
          <a:prstGeom prst="rect">
            <a:avLst/>
          </a:prstGeom>
          <a:noFill/>
          <a:ln/>
        </p:spPr>
        <p:txBody>
          <a:bodyPr wrap="square" lIns="0" tIns="0" rIns="0" bIns="0" rtlCol="0" anchor="ctr"/>
          <a:lstStyle/>
          <a:p>
            <a:pPr marL="0" indent="0" algn="ctr">
              <a:buNone/>
            </a:pPr>
            <a:r>
              <a:rPr lang="en-US" sz="1560" b="1" dirty="0">
                <a:solidFill>
                  <a:srgbClr val="FFFFFF"/>
                </a:solidFill>
              </a:rPr>
              <a:t>Without Wings</a:t>
            </a:r>
            <a:endParaRPr lang="en-US" sz="1560" dirty="0"/>
          </a:p>
        </p:txBody>
      </p:sp>
      <p:sp>
        <p:nvSpPr>
          <p:cNvPr id="11" name="Text 9"/>
          <p:cNvSpPr/>
          <p:nvPr/>
        </p:nvSpPr>
        <p:spPr>
          <a:xfrm>
            <a:off x="3383280" y="1645920"/>
            <a:ext cx="2468880" cy="1920240"/>
          </a:xfrm>
          <a:prstGeom prst="rect">
            <a:avLst/>
          </a:prstGeom>
          <a:noFill/>
          <a:ln/>
        </p:spPr>
        <p:txBody>
          <a:bodyPr wrap="square" rtlCol="0" anchor="ctr"/>
          <a:lstStyle/>
          <a:p>
            <a:pPr marL="0" indent="0">
              <a:buNone/>
            </a:pPr>
            <a:r>
              <a:rPr lang="en-US" dirty="0">
                <a:solidFill>
                  <a:srgbClr val="212121"/>
                </a:solidFill>
              </a:rPr>
              <a:t>A simpler pad with just a sticky back. Good for lighter flow days. Easy to use for beginners!</a:t>
            </a:r>
            <a:endParaRPr lang="en-US" dirty="0"/>
          </a:p>
        </p:txBody>
      </p:sp>
      <p:sp>
        <p:nvSpPr>
          <p:cNvPr id="12" name="Shape 10"/>
          <p:cNvSpPr/>
          <p:nvPr/>
        </p:nvSpPr>
        <p:spPr>
          <a:xfrm>
            <a:off x="6172200" y="1097280"/>
            <a:ext cx="2743200" cy="2560320"/>
          </a:xfrm>
          <a:prstGeom prst="rect">
            <a:avLst/>
          </a:prstGeom>
          <a:solidFill>
            <a:srgbClr val="E0F2F1"/>
          </a:solidFill>
          <a:ln/>
          <a:effectLst>
            <a:outerShdw blurRad="101600" dist="38100" dir="8100000" algn="bl" rotWithShape="0">
              <a:srgbClr val="000000">
                <a:alpha val="10000"/>
              </a:srgbClr>
            </a:outerShdw>
          </a:effectLst>
        </p:spPr>
      </p:sp>
      <p:sp>
        <p:nvSpPr>
          <p:cNvPr id="13" name="Shape 11"/>
          <p:cNvSpPr/>
          <p:nvPr/>
        </p:nvSpPr>
        <p:spPr>
          <a:xfrm>
            <a:off x="6172200" y="1097280"/>
            <a:ext cx="2743200" cy="457200"/>
          </a:xfrm>
          <a:prstGeom prst="rect">
            <a:avLst/>
          </a:prstGeom>
          <a:solidFill>
            <a:srgbClr val="009688"/>
          </a:solidFill>
          <a:ln/>
        </p:spPr>
      </p:sp>
      <p:sp>
        <p:nvSpPr>
          <p:cNvPr id="14" name="Text 12"/>
          <p:cNvSpPr/>
          <p:nvPr/>
        </p:nvSpPr>
        <p:spPr>
          <a:xfrm>
            <a:off x="6172200" y="1097280"/>
            <a:ext cx="2743200" cy="457200"/>
          </a:xfrm>
          <a:prstGeom prst="rect">
            <a:avLst/>
          </a:prstGeom>
          <a:noFill/>
          <a:ln/>
        </p:spPr>
        <p:txBody>
          <a:bodyPr wrap="square" lIns="0" tIns="0" rIns="0" bIns="0" rtlCol="0" anchor="ctr"/>
          <a:lstStyle/>
          <a:p>
            <a:pPr marL="0" indent="0" algn="ctr">
              <a:buNone/>
            </a:pPr>
            <a:r>
              <a:rPr lang="en-US" sz="1560" b="1" dirty="0">
                <a:solidFill>
                  <a:srgbClr val="FFFFFF"/>
                </a:solidFill>
              </a:rPr>
              <a:t>Overnight / Maxi Pad 🌙</a:t>
            </a:r>
            <a:endParaRPr lang="en-US" sz="1560" dirty="0"/>
          </a:p>
        </p:txBody>
      </p:sp>
      <p:sp>
        <p:nvSpPr>
          <p:cNvPr id="15" name="Text 13"/>
          <p:cNvSpPr/>
          <p:nvPr/>
        </p:nvSpPr>
        <p:spPr>
          <a:xfrm>
            <a:off x="6309360" y="1645920"/>
            <a:ext cx="2468880" cy="1920240"/>
          </a:xfrm>
          <a:prstGeom prst="rect">
            <a:avLst/>
          </a:prstGeom>
          <a:noFill/>
          <a:ln/>
        </p:spPr>
        <p:txBody>
          <a:bodyPr wrap="square" rtlCol="0" anchor="ctr"/>
          <a:lstStyle/>
          <a:p>
            <a:pPr marL="0" indent="0">
              <a:buNone/>
            </a:pPr>
            <a:r>
              <a:rPr lang="en-US" dirty="0">
                <a:solidFill>
                  <a:srgbClr val="212121"/>
                </a:solidFill>
              </a:rPr>
              <a:t>Longer and more absorbent. Use at night or on heavy flow days. Great for sleeping without worrying!</a:t>
            </a:r>
            <a:endParaRPr lang="en-US" dirty="0"/>
          </a:p>
        </p:txBody>
      </p:sp>
      <p:sp>
        <p:nvSpPr>
          <p:cNvPr id="16" name="Shape 14"/>
          <p:cNvSpPr/>
          <p:nvPr/>
        </p:nvSpPr>
        <p:spPr>
          <a:xfrm>
            <a:off x="320040" y="3794760"/>
            <a:ext cx="8503920" cy="1097280"/>
          </a:xfrm>
          <a:prstGeom prst="rect">
            <a:avLst/>
          </a:prstGeom>
          <a:solidFill>
            <a:srgbClr val="FFFFFF"/>
          </a:solidFill>
          <a:ln/>
          <a:effectLst>
            <a:outerShdw blurRad="101600" dist="38100" dir="8100000" algn="bl" rotWithShape="0">
              <a:srgbClr val="000000">
                <a:alpha val="10000"/>
              </a:srgbClr>
            </a:outerShdw>
          </a:effectLst>
        </p:spPr>
      </p:sp>
      <p:sp>
        <p:nvSpPr>
          <p:cNvPr id="17" name="Text 15"/>
          <p:cNvSpPr/>
          <p:nvPr/>
        </p:nvSpPr>
        <p:spPr>
          <a:xfrm>
            <a:off x="502920" y="3858768"/>
            <a:ext cx="2743200" cy="347472"/>
          </a:xfrm>
          <a:prstGeom prst="rect">
            <a:avLst/>
          </a:prstGeom>
          <a:noFill/>
          <a:ln/>
        </p:spPr>
        <p:txBody>
          <a:bodyPr wrap="square" rtlCol="0" anchor="ctr"/>
          <a:lstStyle/>
          <a:p>
            <a:pPr marL="0" indent="0">
              <a:buNone/>
            </a:pPr>
            <a:r>
              <a:rPr lang="en-US" sz="1680" b="1" dirty="0">
                <a:solidFill>
                  <a:srgbClr val="E91E8C"/>
                </a:solidFill>
              </a:rPr>
              <a:t>Why Pads are Great:</a:t>
            </a:r>
            <a:endParaRPr lang="en-US" sz="1680" dirty="0"/>
          </a:p>
        </p:txBody>
      </p:sp>
      <p:sp>
        <p:nvSpPr>
          <p:cNvPr id="18" name="Text 16"/>
          <p:cNvSpPr/>
          <p:nvPr/>
        </p:nvSpPr>
        <p:spPr>
          <a:xfrm>
            <a:off x="502920" y="4206240"/>
            <a:ext cx="8229600" cy="594360"/>
          </a:xfrm>
          <a:prstGeom prst="rect">
            <a:avLst/>
          </a:prstGeom>
          <a:noFill/>
          <a:ln/>
        </p:spPr>
        <p:txBody>
          <a:bodyPr wrap="square" rtlCol="0" anchor="ctr"/>
          <a:lstStyle/>
          <a:p>
            <a:pPr marL="0" indent="0">
              <a:buNone/>
            </a:pPr>
            <a:r>
              <a:rPr lang="en-US" sz="1440" dirty="0">
                <a:solidFill>
                  <a:srgbClr val="212121"/>
                </a:solidFill>
              </a:rPr>
              <a:t>✓ Easy to use  ✓ No washing needed  ✓ Available in schools &amp; pharmacies  ✓ Don't restrict movement or sports  ✓ Change every 4–6 hrs</a:t>
            </a:r>
            <a:endParaRPr lang="en-US" sz="14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E8F5E9"/>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7B2D8B"/>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880" b="1" dirty="0">
                <a:solidFill>
                  <a:srgbClr val="FFFFFF"/>
                </a:solidFill>
              </a:rPr>
              <a:t>📖  How to Use a Sanitary Pad (Step by Step)</a:t>
            </a:r>
            <a:endParaRPr lang="en-US" sz="2880" dirty="0"/>
          </a:p>
        </p:txBody>
      </p:sp>
      <p:sp>
        <p:nvSpPr>
          <p:cNvPr id="4" name="Shape 2"/>
          <p:cNvSpPr/>
          <p:nvPr/>
        </p:nvSpPr>
        <p:spPr>
          <a:xfrm>
            <a:off x="320040" y="1143000"/>
            <a:ext cx="457200" cy="457200"/>
          </a:xfrm>
          <a:prstGeom prst="ellipse">
            <a:avLst/>
          </a:prstGeom>
          <a:solidFill>
            <a:srgbClr val="7B2D8B"/>
          </a:solidFill>
          <a:ln/>
        </p:spPr>
      </p:sp>
      <p:sp>
        <p:nvSpPr>
          <p:cNvPr id="5" name="Text 3"/>
          <p:cNvSpPr/>
          <p:nvPr/>
        </p:nvSpPr>
        <p:spPr>
          <a:xfrm>
            <a:off x="320040" y="11430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Shape 4"/>
          <p:cNvSpPr/>
          <p:nvPr/>
        </p:nvSpPr>
        <p:spPr>
          <a:xfrm>
            <a:off x="914400" y="1143000"/>
            <a:ext cx="7955280" cy="521208"/>
          </a:xfrm>
          <a:prstGeom prst="rect">
            <a:avLst/>
          </a:prstGeom>
          <a:solidFill>
            <a:srgbClr val="FFFFFF"/>
          </a:solidFill>
          <a:ln/>
          <a:effectLst>
            <a:outerShdw blurRad="101600" dist="38100" dir="8100000" algn="bl" rotWithShape="0">
              <a:srgbClr val="000000">
                <a:alpha val="10000"/>
              </a:srgbClr>
            </a:outerShdw>
          </a:effectLst>
        </p:spPr>
      </p:sp>
      <p:sp>
        <p:nvSpPr>
          <p:cNvPr id="7" name="Text 5"/>
          <p:cNvSpPr/>
          <p:nvPr/>
        </p:nvSpPr>
        <p:spPr>
          <a:xfrm>
            <a:off x="1051560" y="1143000"/>
            <a:ext cx="7726680" cy="521208"/>
          </a:xfrm>
          <a:prstGeom prst="rect">
            <a:avLst/>
          </a:prstGeom>
          <a:noFill/>
          <a:ln/>
        </p:spPr>
        <p:txBody>
          <a:bodyPr wrap="square" rtlCol="0" anchor="ctr"/>
          <a:lstStyle/>
          <a:p>
            <a:pPr marL="0" indent="0">
              <a:buNone/>
            </a:pPr>
            <a:r>
              <a:rPr lang="en-US" sz="1560" dirty="0">
                <a:solidFill>
                  <a:srgbClr val="212121"/>
                </a:solidFill>
              </a:rPr>
              <a:t>Wash your hands with soap and water first.</a:t>
            </a:r>
            <a:endParaRPr lang="en-US" sz="1560" dirty="0"/>
          </a:p>
        </p:txBody>
      </p:sp>
      <p:sp>
        <p:nvSpPr>
          <p:cNvPr id="8" name="Shape 6"/>
          <p:cNvSpPr/>
          <p:nvPr/>
        </p:nvSpPr>
        <p:spPr>
          <a:xfrm>
            <a:off x="320040" y="1764792"/>
            <a:ext cx="457200" cy="457200"/>
          </a:xfrm>
          <a:prstGeom prst="ellipse">
            <a:avLst/>
          </a:prstGeom>
          <a:solidFill>
            <a:srgbClr val="E91E8C"/>
          </a:solidFill>
          <a:ln/>
        </p:spPr>
      </p:sp>
      <p:sp>
        <p:nvSpPr>
          <p:cNvPr id="9" name="Text 7"/>
          <p:cNvSpPr/>
          <p:nvPr/>
        </p:nvSpPr>
        <p:spPr>
          <a:xfrm>
            <a:off x="320040" y="176479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0" name="Shape 8"/>
          <p:cNvSpPr/>
          <p:nvPr/>
        </p:nvSpPr>
        <p:spPr>
          <a:xfrm>
            <a:off x="914400" y="1764792"/>
            <a:ext cx="7955280" cy="521208"/>
          </a:xfrm>
          <a:prstGeom prst="rect">
            <a:avLst/>
          </a:prstGeom>
          <a:solidFill>
            <a:srgbClr val="FFFFFF"/>
          </a:solidFill>
          <a:ln/>
          <a:effectLst>
            <a:outerShdw blurRad="101600" dist="38100" dir="8100000" algn="bl" rotWithShape="0">
              <a:srgbClr val="000000">
                <a:alpha val="10000"/>
              </a:srgbClr>
            </a:outerShdw>
          </a:effectLst>
        </p:spPr>
      </p:sp>
      <p:sp>
        <p:nvSpPr>
          <p:cNvPr id="11" name="Text 9"/>
          <p:cNvSpPr/>
          <p:nvPr/>
        </p:nvSpPr>
        <p:spPr>
          <a:xfrm>
            <a:off x="1051560" y="1764792"/>
            <a:ext cx="7726680" cy="521208"/>
          </a:xfrm>
          <a:prstGeom prst="rect">
            <a:avLst/>
          </a:prstGeom>
          <a:noFill/>
          <a:ln/>
        </p:spPr>
        <p:txBody>
          <a:bodyPr wrap="square" rtlCol="0" anchor="ctr"/>
          <a:lstStyle/>
          <a:p>
            <a:pPr marL="0" indent="0">
              <a:buNone/>
            </a:pPr>
            <a:r>
              <a:rPr lang="en-US" sz="1560" dirty="0">
                <a:solidFill>
                  <a:srgbClr val="212121"/>
                </a:solidFill>
              </a:rPr>
              <a:t>Unwrap the pad and peel off the backing paper from the sticky part.</a:t>
            </a:r>
            <a:endParaRPr lang="en-US" sz="1560" dirty="0"/>
          </a:p>
        </p:txBody>
      </p:sp>
      <p:sp>
        <p:nvSpPr>
          <p:cNvPr id="12" name="Shape 10"/>
          <p:cNvSpPr/>
          <p:nvPr/>
        </p:nvSpPr>
        <p:spPr>
          <a:xfrm>
            <a:off x="320040" y="2386584"/>
            <a:ext cx="457200" cy="457200"/>
          </a:xfrm>
          <a:prstGeom prst="ellipse">
            <a:avLst/>
          </a:prstGeom>
          <a:solidFill>
            <a:srgbClr val="009688"/>
          </a:solidFill>
          <a:ln/>
        </p:spPr>
      </p:sp>
      <p:sp>
        <p:nvSpPr>
          <p:cNvPr id="13" name="Text 11"/>
          <p:cNvSpPr/>
          <p:nvPr/>
        </p:nvSpPr>
        <p:spPr>
          <a:xfrm>
            <a:off x="320040" y="238658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4" name="Shape 12"/>
          <p:cNvSpPr/>
          <p:nvPr/>
        </p:nvSpPr>
        <p:spPr>
          <a:xfrm>
            <a:off x="914400" y="2386584"/>
            <a:ext cx="7955280" cy="521208"/>
          </a:xfrm>
          <a:prstGeom prst="rect">
            <a:avLst/>
          </a:prstGeom>
          <a:solidFill>
            <a:srgbClr val="FFFFFF"/>
          </a:solidFill>
          <a:ln/>
          <a:effectLst>
            <a:outerShdw blurRad="101600" dist="38100" dir="8100000" algn="bl" rotWithShape="0">
              <a:srgbClr val="000000">
                <a:alpha val="10000"/>
              </a:srgbClr>
            </a:outerShdw>
          </a:effectLst>
        </p:spPr>
      </p:sp>
      <p:sp>
        <p:nvSpPr>
          <p:cNvPr id="15" name="Text 13"/>
          <p:cNvSpPr/>
          <p:nvPr/>
        </p:nvSpPr>
        <p:spPr>
          <a:xfrm>
            <a:off x="1051560" y="2386584"/>
            <a:ext cx="7726680" cy="521208"/>
          </a:xfrm>
          <a:prstGeom prst="rect">
            <a:avLst/>
          </a:prstGeom>
          <a:noFill/>
          <a:ln/>
        </p:spPr>
        <p:txBody>
          <a:bodyPr wrap="square" rtlCol="0" anchor="ctr"/>
          <a:lstStyle/>
          <a:p>
            <a:pPr marL="0" indent="0">
              <a:buNone/>
            </a:pPr>
            <a:r>
              <a:rPr lang="en-US" sz="1560" dirty="0">
                <a:solidFill>
                  <a:srgbClr val="212121"/>
                </a:solidFill>
              </a:rPr>
              <a:t>Place the pad sticky-side DOWN in the middle of your underwear.</a:t>
            </a:r>
            <a:endParaRPr lang="en-US" sz="1560" dirty="0"/>
          </a:p>
        </p:txBody>
      </p:sp>
      <p:sp>
        <p:nvSpPr>
          <p:cNvPr id="16" name="Shape 14"/>
          <p:cNvSpPr/>
          <p:nvPr/>
        </p:nvSpPr>
        <p:spPr>
          <a:xfrm>
            <a:off x="320040" y="3008376"/>
            <a:ext cx="457200" cy="457200"/>
          </a:xfrm>
          <a:prstGeom prst="ellipse">
            <a:avLst/>
          </a:prstGeom>
          <a:solidFill>
            <a:srgbClr val="388E3C"/>
          </a:solidFill>
          <a:ln/>
        </p:spPr>
      </p:sp>
      <p:sp>
        <p:nvSpPr>
          <p:cNvPr id="17" name="Text 15"/>
          <p:cNvSpPr/>
          <p:nvPr/>
        </p:nvSpPr>
        <p:spPr>
          <a:xfrm>
            <a:off x="320040" y="300837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8" name="Shape 16"/>
          <p:cNvSpPr/>
          <p:nvPr/>
        </p:nvSpPr>
        <p:spPr>
          <a:xfrm>
            <a:off x="914400" y="3008376"/>
            <a:ext cx="7955280" cy="521208"/>
          </a:xfrm>
          <a:prstGeom prst="rect">
            <a:avLst/>
          </a:prstGeom>
          <a:solidFill>
            <a:srgbClr val="FFFFFF"/>
          </a:solidFill>
          <a:ln/>
          <a:effectLst>
            <a:outerShdw blurRad="101600" dist="38100" dir="8100000" algn="bl" rotWithShape="0">
              <a:srgbClr val="000000">
                <a:alpha val="10000"/>
              </a:srgbClr>
            </a:outerShdw>
          </a:effectLst>
        </p:spPr>
      </p:sp>
      <p:sp>
        <p:nvSpPr>
          <p:cNvPr id="19" name="Text 17"/>
          <p:cNvSpPr/>
          <p:nvPr/>
        </p:nvSpPr>
        <p:spPr>
          <a:xfrm>
            <a:off x="1051560" y="3008376"/>
            <a:ext cx="7726680" cy="521208"/>
          </a:xfrm>
          <a:prstGeom prst="rect">
            <a:avLst/>
          </a:prstGeom>
          <a:noFill/>
          <a:ln/>
        </p:spPr>
        <p:txBody>
          <a:bodyPr wrap="square" rtlCol="0" anchor="ctr"/>
          <a:lstStyle/>
          <a:p>
            <a:pPr marL="0" indent="0">
              <a:buNone/>
            </a:pPr>
            <a:r>
              <a:rPr lang="en-US" sz="1560" dirty="0">
                <a:solidFill>
                  <a:srgbClr val="212121"/>
                </a:solidFill>
              </a:rPr>
              <a:t>If it has wings, fold them around the sides of your underwear and press to stick.</a:t>
            </a:r>
            <a:endParaRPr lang="en-US" sz="1560" dirty="0"/>
          </a:p>
        </p:txBody>
      </p:sp>
      <p:sp>
        <p:nvSpPr>
          <p:cNvPr id="20" name="Shape 18"/>
          <p:cNvSpPr/>
          <p:nvPr/>
        </p:nvSpPr>
        <p:spPr>
          <a:xfrm>
            <a:off x="320040" y="3630168"/>
            <a:ext cx="457200" cy="457200"/>
          </a:xfrm>
          <a:prstGeom prst="ellipse">
            <a:avLst/>
          </a:prstGeom>
          <a:solidFill>
            <a:srgbClr val="E65100"/>
          </a:solidFill>
          <a:ln/>
        </p:spPr>
      </p:sp>
      <p:sp>
        <p:nvSpPr>
          <p:cNvPr id="21" name="Text 19"/>
          <p:cNvSpPr/>
          <p:nvPr/>
        </p:nvSpPr>
        <p:spPr>
          <a:xfrm>
            <a:off x="320040" y="36301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2" name="Shape 20"/>
          <p:cNvSpPr/>
          <p:nvPr/>
        </p:nvSpPr>
        <p:spPr>
          <a:xfrm>
            <a:off x="914400" y="3630168"/>
            <a:ext cx="7955280" cy="521208"/>
          </a:xfrm>
          <a:prstGeom prst="rect">
            <a:avLst/>
          </a:prstGeom>
          <a:solidFill>
            <a:srgbClr val="FFFFFF"/>
          </a:solidFill>
          <a:ln/>
          <a:effectLst>
            <a:outerShdw blurRad="101600" dist="38100" dir="8100000" algn="bl" rotWithShape="0">
              <a:srgbClr val="000000">
                <a:alpha val="10000"/>
              </a:srgbClr>
            </a:outerShdw>
          </a:effectLst>
        </p:spPr>
      </p:sp>
      <p:sp>
        <p:nvSpPr>
          <p:cNvPr id="23" name="Text 21"/>
          <p:cNvSpPr/>
          <p:nvPr/>
        </p:nvSpPr>
        <p:spPr>
          <a:xfrm>
            <a:off x="1051560" y="3630168"/>
            <a:ext cx="7726680" cy="521208"/>
          </a:xfrm>
          <a:prstGeom prst="rect">
            <a:avLst/>
          </a:prstGeom>
          <a:noFill/>
          <a:ln/>
        </p:spPr>
        <p:txBody>
          <a:bodyPr wrap="square" rtlCol="0" anchor="ctr"/>
          <a:lstStyle/>
          <a:p>
            <a:pPr marL="0" indent="0">
              <a:buNone/>
            </a:pPr>
            <a:r>
              <a:rPr lang="en-US" sz="1560" dirty="0">
                <a:solidFill>
                  <a:srgbClr val="212121"/>
                </a:solidFill>
              </a:rPr>
              <a:t>Pull up your underwear and make sure it feels comfortable and centered.</a:t>
            </a:r>
            <a:endParaRPr lang="en-US" sz="1560" dirty="0"/>
          </a:p>
        </p:txBody>
      </p:sp>
      <p:sp>
        <p:nvSpPr>
          <p:cNvPr id="24" name="Shape 22"/>
          <p:cNvSpPr/>
          <p:nvPr/>
        </p:nvSpPr>
        <p:spPr>
          <a:xfrm>
            <a:off x="320040" y="4251960"/>
            <a:ext cx="457200" cy="457200"/>
          </a:xfrm>
          <a:prstGeom prst="ellipse">
            <a:avLst/>
          </a:prstGeom>
          <a:solidFill>
            <a:srgbClr val="E53935"/>
          </a:solidFill>
          <a:ln/>
        </p:spPr>
      </p:sp>
      <p:sp>
        <p:nvSpPr>
          <p:cNvPr id="25" name="Text 23"/>
          <p:cNvSpPr/>
          <p:nvPr/>
        </p:nvSpPr>
        <p:spPr>
          <a:xfrm>
            <a:off x="320040" y="4251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6</a:t>
            </a:r>
            <a:endParaRPr lang="en-US" sz="1800" dirty="0"/>
          </a:p>
        </p:txBody>
      </p:sp>
      <p:sp>
        <p:nvSpPr>
          <p:cNvPr id="26" name="Shape 24"/>
          <p:cNvSpPr/>
          <p:nvPr/>
        </p:nvSpPr>
        <p:spPr>
          <a:xfrm>
            <a:off x="914400" y="4251960"/>
            <a:ext cx="7955280" cy="521208"/>
          </a:xfrm>
          <a:prstGeom prst="rect">
            <a:avLst/>
          </a:prstGeom>
          <a:solidFill>
            <a:srgbClr val="FFFFFF"/>
          </a:solidFill>
          <a:ln/>
          <a:effectLst>
            <a:outerShdw blurRad="101600" dist="38100" dir="8100000" algn="bl" rotWithShape="0">
              <a:srgbClr val="000000">
                <a:alpha val="10000"/>
              </a:srgbClr>
            </a:outerShdw>
          </a:effectLst>
        </p:spPr>
      </p:sp>
      <p:sp>
        <p:nvSpPr>
          <p:cNvPr id="27" name="Text 25"/>
          <p:cNvSpPr/>
          <p:nvPr/>
        </p:nvSpPr>
        <p:spPr>
          <a:xfrm>
            <a:off x="1051560" y="4251960"/>
            <a:ext cx="7726680" cy="521208"/>
          </a:xfrm>
          <a:prstGeom prst="rect">
            <a:avLst/>
          </a:prstGeom>
          <a:noFill/>
          <a:ln/>
        </p:spPr>
        <p:txBody>
          <a:bodyPr wrap="square" rtlCol="0" anchor="ctr"/>
          <a:lstStyle/>
          <a:p>
            <a:pPr marL="0" indent="0">
              <a:buNone/>
            </a:pPr>
            <a:r>
              <a:rPr lang="en-US" sz="1560" dirty="0">
                <a:solidFill>
                  <a:srgbClr val="212121"/>
                </a:solidFill>
              </a:rPr>
              <a:t>Wash hands again! You're done. Change after 4–6 hours.</a:t>
            </a:r>
            <a:endParaRPr lang="en-US" sz="1560" dirty="0"/>
          </a:p>
        </p:txBody>
      </p:sp>
      <p:sp>
        <p:nvSpPr>
          <p:cNvPr id="28" name="Text 26"/>
          <p:cNvSpPr/>
          <p:nvPr/>
        </p:nvSpPr>
        <p:spPr>
          <a:xfrm>
            <a:off x="365760" y="4754880"/>
            <a:ext cx="8412480" cy="320040"/>
          </a:xfrm>
          <a:prstGeom prst="rect">
            <a:avLst/>
          </a:prstGeom>
          <a:noFill/>
          <a:ln/>
        </p:spPr>
        <p:txBody>
          <a:bodyPr wrap="square" rtlCol="0" anchor="ctr"/>
          <a:lstStyle/>
          <a:p>
            <a:pPr marL="0" indent="0" algn="ctr">
              <a:buNone/>
            </a:pPr>
            <a:r>
              <a:rPr lang="en-US" sz="1560" b="1" dirty="0">
                <a:solidFill>
                  <a:srgbClr val="7B2D8B"/>
                </a:solidFill>
              </a:rPr>
              <a:t>🌟 Tip: Practise at home so you feel confident at school!</a:t>
            </a:r>
            <a:endParaRPr lang="en-US" sz="15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0CA48B-D7B6-B18D-96C6-CD35EC0BC8CA}"/>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3260538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3E5F5"/>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009688"/>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880" b="1" dirty="0">
                <a:solidFill>
                  <a:srgbClr val="FFFFFF"/>
                </a:solidFill>
              </a:rPr>
              <a:t>🌿  Menstrual Cups — The Eco-Friendly Option!</a:t>
            </a:r>
            <a:endParaRPr lang="en-US" sz="2880" dirty="0"/>
          </a:p>
        </p:txBody>
      </p:sp>
      <p:sp>
        <p:nvSpPr>
          <p:cNvPr id="4" name="Shape 2"/>
          <p:cNvSpPr/>
          <p:nvPr/>
        </p:nvSpPr>
        <p:spPr>
          <a:xfrm>
            <a:off x="320040" y="1097280"/>
            <a:ext cx="8503920" cy="91440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02920" y="1170432"/>
            <a:ext cx="8229600" cy="731520"/>
          </a:xfrm>
          <a:prstGeom prst="rect">
            <a:avLst/>
          </a:prstGeom>
          <a:noFill/>
          <a:ln/>
        </p:spPr>
        <p:txBody>
          <a:bodyPr wrap="square" rtlCol="0" anchor="ctr"/>
          <a:lstStyle/>
          <a:p>
            <a:pPr marL="0" indent="0">
              <a:buNone/>
            </a:pPr>
            <a:r>
              <a:rPr lang="en-US" sz="1680" dirty="0">
                <a:solidFill>
                  <a:srgbClr val="212121"/>
                </a:solidFill>
              </a:rPr>
              <a:t>A menstrual cup is a small, flexible silicone cup that is inserted into the vagina. It COLLECTS the blood (doesn't absorb it) and can be reused for 5–10 years!</a:t>
            </a:r>
            <a:endParaRPr lang="en-US" sz="1680" dirty="0"/>
          </a:p>
        </p:txBody>
      </p:sp>
      <p:sp>
        <p:nvSpPr>
          <p:cNvPr id="6" name="Text 4"/>
          <p:cNvSpPr/>
          <p:nvPr/>
        </p:nvSpPr>
        <p:spPr>
          <a:xfrm>
            <a:off x="365760" y="2194560"/>
            <a:ext cx="8229600" cy="384048"/>
          </a:xfrm>
          <a:prstGeom prst="rect">
            <a:avLst/>
          </a:prstGeom>
          <a:noFill/>
          <a:ln/>
        </p:spPr>
        <p:txBody>
          <a:bodyPr wrap="square" rtlCol="0" anchor="ctr"/>
          <a:lstStyle/>
          <a:p>
            <a:pPr marL="0" indent="0">
              <a:buNone/>
            </a:pPr>
            <a:r>
              <a:rPr lang="en-US" sz="1800" b="1" dirty="0">
                <a:solidFill>
                  <a:srgbClr val="009688"/>
                </a:solidFill>
              </a:rPr>
              <a:t>How to Use:</a:t>
            </a:r>
            <a:endParaRPr lang="en-US" sz="1800" dirty="0"/>
          </a:p>
        </p:txBody>
      </p:sp>
      <p:sp>
        <p:nvSpPr>
          <p:cNvPr id="7" name="Shape 5"/>
          <p:cNvSpPr/>
          <p:nvPr/>
        </p:nvSpPr>
        <p:spPr>
          <a:xfrm>
            <a:off x="365760" y="2697480"/>
            <a:ext cx="457200" cy="457200"/>
          </a:xfrm>
          <a:prstGeom prst="ellipse">
            <a:avLst/>
          </a:prstGeom>
          <a:solidFill>
            <a:srgbClr val="009688"/>
          </a:solidFill>
          <a:ln/>
        </p:spPr>
      </p:sp>
      <p:sp>
        <p:nvSpPr>
          <p:cNvPr id="8" name="Text 6"/>
          <p:cNvSpPr/>
          <p:nvPr/>
        </p:nvSpPr>
        <p:spPr>
          <a:xfrm>
            <a:off x="365760" y="2697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9" name="Text 7"/>
          <p:cNvSpPr/>
          <p:nvPr/>
        </p:nvSpPr>
        <p:spPr>
          <a:xfrm>
            <a:off x="960120" y="2697480"/>
            <a:ext cx="7909560" cy="411480"/>
          </a:xfrm>
          <a:prstGeom prst="rect">
            <a:avLst/>
          </a:prstGeom>
          <a:noFill/>
          <a:ln/>
        </p:spPr>
        <p:txBody>
          <a:bodyPr wrap="square" rtlCol="0" anchor="ctr"/>
          <a:lstStyle/>
          <a:p>
            <a:pPr marL="0" indent="0">
              <a:buNone/>
            </a:pPr>
            <a:r>
              <a:rPr lang="en-US" sz="1560" dirty="0">
                <a:solidFill>
                  <a:srgbClr val="212121"/>
                </a:solidFill>
              </a:rPr>
              <a:t>Wash hands + wash the cup with soap and water.</a:t>
            </a:r>
            <a:endParaRPr lang="en-US" sz="1560" dirty="0"/>
          </a:p>
        </p:txBody>
      </p:sp>
      <p:sp>
        <p:nvSpPr>
          <p:cNvPr id="10" name="Shape 8"/>
          <p:cNvSpPr/>
          <p:nvPr/>
        </p:nvSpPr>
        <p:spPr>
          <a:xfrm>
            <a:off x="365760" y="3154680"/>
            <a:ext cx="457200" cy="457200"/>
          </a:xfrm>
          <a:prstGeom prst="ellipse">
            <a:avLst/>
          </a:prstGeom>
          <a:solidFill>
            <a:srgbClr val="009688"/>
          </a:solidFill>
          <a:ln/>
        </p:spPr>
      </p:sp>
      <p:sp>
        <p:nvSpPr>
          <p:cNvPr id="11" name="Text 9"/>
          <p:cNvSpPr/>
          <p:nvPr/>
        </p:nvSpPr>
        <p:spPr>
          <a:xfrm>
            <a:off x="365760" y="31546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2" name="Text 10"/>
          <p:cNvSpPr/>
          <p:nvPr/>
        </p:nvSpPr>
        <p:spPr>
          <a:xfrm>
            <a:off x="960120" y="3154680"/>
            <a:ext cx="7909560" cy="411480"/>
          </a:xfrm>
          <a:prstGeom prst="rect">
            <a:avLst/>
          </a:prstGeom>
          <a:noFill/>
          <a:ln/>
        </p:spPr>
        <p:txBody>
          <a:bodyPr wrap="square" rtlCol="0" anchor="ctr"/>
          <a:lstStyle/>
          <a:p>
            <a:pPr marL="0" indent="0">
              <a:buNone/>
            </a:pPr>
            <a:r>
              <a:rPr lang="en-US" sz="1560" dirty="0">
                <a:solidFill>
                  <a:srgbClr val="212121"/>
                </a:solidFill>
              </a:rPr>
              <a:t>Fold the cup into a C-shape or punch-down shape and insert it gently.</a:t>
            </a:r>
            <a:endParaRPr lang="en-US" sz="1560" dirty="0"/>
          </a:p>
        </p:txBody>
      </p:sp>
      <p:sp>
        <p:nvSpPr>
          <p:cNvPr id="13" name="Shape 11"/>
          <p:cNvSpPr/>
          <p:nvPr/>
        </p:nvSpPr>
        <p:spPr>
          <a:xfrm>
            <a:off x="365760" y="3611880"/>
            <a:ext cx="457200" cy="457200"/>
          </a:xfrm>
          <a:prstGeom prst="ellipse">
            <a:avLst/>
          </a:prstGeom>
          <a:solidFill>
            <a:srgbClr val="009688"/>
          </a:solidFill>
          <a:ln/>
        </p:spPr>
      </p:sp>
      <p:sp>
        <p:nvSpPr>
          <p:cNvPr id="14" name="Text 12"/>
          <p:cNvSpPr/>
          <p:nvPr/>
        </p:nvSpPr>
        <p:spPr>
          <a:xfrm>
            <a:off x="365760" y="36118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5" name="Text 13"/>
          <p:cNvSpPr/>
          <p:nvPr/>
        </p:nvSpPr>
        <p:spPr>
          <a:xfrm>
            <a:off x="960120" y="3611880"/>
            <a:ext cx="7909560" cy="411480"/>
          </a:xfrm>
          <a:prstGeom prst="rect">
            <a:avLst/>
          </a:prstGeom>
          <a:noFill/>
          <a:ln/>
        </p:spPr>
        <p:txBody>
          <a:bodyPr wrap="square" rtlCol="0" anchor="ctr"/>
          <a:lstStyle/>
          <a:p>
            <a:pPr marL="0" indent="0">
              <a:buNone/>
            </a:pPr>
            <a:r>
              <a:rPr lang="en-US" sz="1560" dirty="0">
                <a:solidFill>
                  <a:srgbClr val="212121"/>
                </a:solidFill>
              </a:rPr>
              <a:t>Remove, empty, rinse and boil with water, and reinsert every 8–12 hours.</a:t>
            </a:r>
            <a:endParaRPr lang="en-US" sz="1560" dirty="0"/>
          </a:p>
        </p:txBody>
      </p:sp>
      <p:sp>
        <p:nvSpPr>
          <p:cNvPr id="16" name="Shape 14"/>
          <p:cNvSpPr/>
          <p:nvPr/>
        </p:nvSpPr>
        <p:spPr>
          <a:xfrm>
            <a:off x="365760" y="4069080"/>
            <a:ext cx="457200" cy="457200"/>
          </a:xfrm>
          <a:prstGeom prst="ellipse">
            <a:avLst/>
          </a:prstGeom>
          <a:solidFill>
            <a:srgbClr val="009688"/>
          </a:solidFill>
          <a:ln/>
        </p:spPr>
      </p:sp>
      <p:sp>
        <p:nvSpPr>
          <p:cNvPr id="17" name="Text 15"/>
          <p:cNvSpPr/>
          <p:nvPr/>
        </p:nvSpPr>
        <p:spPr>
          <a:xfrm>
            <a:off x="365760" y="4069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8" name="Text 16"/>
          <p:cNvSpPr/>
          <p:nvPr/>
        </p:nvSpPr>
        <p:spPr>
          <a:xfrm>
            <a:off x="960120" y="4069080"/>
            <a:ext cx="7909560" cy="411480"/>
          </a:xfrm>
          <a:prstGeom prst="rect">
            <a:avLst/>
          </a:prstGeom>
          <a:noFill/>
          <a:ln/>
        </p:spPr>
        <p:txBody>
          <a:bodyPr wrap="square" rtlCol="0" anchor="ctr"/>
          <a:lstStyle/>
          <a:p>
            <a:pPr marL="0" indent="0">
              <a:buNone/>
            </a:pPr>
            <a:r>
              <a:rPr lang="en-US" sz="1560" dirty="0">
                <a:solidFill>
                  <a:srgbClr val="212121"/>
                </a:solidFill>
              </a:rPr>
              <a:t>At the END of your period, boil the cup in water for 5 minutes to sterilise it.</a:t>
            </a:r>
            <a:endParaRPr lang="en-US" sz="1560" dirty="0"/>
          </a:p>
        </p:txBody>
      </p:sp>
      <p:sp>
        <p:nvSpPr>
          <p:cNvPr id="20" name="Text 18"/>
          <p:cNvSpPr/>
          <p:nvPr/>
        </p:nvSpPr>
        <p:spPr>
          <a:xfrm>
            <a:off x="365760" y="45262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1" name="Text 19"/>
          <p:cNvSpPr/>
          <p:nvPr/>
        </p:nvSpPr>
        <p:spPr>
          <a:xfrm>
            <a:off x="960120" y="4526280"/>
            <a:ext cx="7909560" cy="411480"/>
          </a:xfrm>
          <a:prstGeom prst="rect">
            <a:avLst/>
          </a:prstGeom>
          <a:noFill/>
          <a:ln/>
        </p:spPr>
        <p:txBody>
          <a:bodyPr wrap="square" rtlCol="0" anchor="ctr"/>
          <a:lstStyle/>
          <a:p>
            <a:pPr marL="0" indent="0">
              <a:buNone/>
            </a:pPr>
            <a:r>
              <a:rPr lang="en-US" sz="1560" dirty="0">
                <a:solidFill>
                  <a:srgbClr val="212121"/>
                </a:solidFill>
              </a:rPr>
              <a:t>Store in the cloth bag that comes with it — ready for next month!</a:t>
            </a:r>
            <a:endParaRPr lang="en-US" sz="1560" dirty="0"/>
          </a:p>
        </p:txBody>
      </p:sp>
      <p:sp>
        <p:nvSpPr>
          <p:cNvPr id="22" name="Shape 20"/>
          <p:cNvSpPr/>
          <p:nvPr/>
        </p:nvSpPr>
        <p:spPr>
          <a:xfrm>
            <a:off x="320040" y="4663440"/>
            <a:ext cx="8503920" cy="411480"/>
          </a:xfrm>
          <a:prstGeom prst="rect">
            <a:avLst/>
          </a:prstGeom>
          <a:solidFill>
            <a:srgbClr val="E0F2F1"/>
          </a:solidFill>
          <a:ln/>
          <a:effectLst>
            <a:outerShdw blurRad="101600" dist="38100" dir="8100000" algn="bl" rotWithShape="0">
              <a:srgbClr val="000000">
                <a:alpha val="10000"/>
              </a:srgbClr>
            </a:outerShdw>
          </a:effectLst>
        </p:spPr>
      </p:sp>
      <p:sp>
        <p:nvSpPr>
          <p:cNvPr id="23" name="Text 21"/>
          <p:cNvSpPr/>
          <p:nvPr/>
        </p:nvSpPr>
        <p:spPr>
          <a:xfrm>
            <a:off x="502920" y="4663440"/>
            <a:ext cx="8229600" cy="411480"/>
          </a:xfrm>
          <a:prstGeom prst="rect">
            <a:avLst/>
          </a:prstGeom>
          <a:noFill/>
          <a:ln/>
        </p:spPr>
        <p:txBody>
          <a:bodyPr wrap="square" rtlCol="0" anchor="ctr"/>
          <a:lstStyle/>
          <a:p>
            <a:pPr marL="0" indent="0" algn="ctr">
              <a:buNone/>
            </a:pPr>
            <a:r>
              <a:rPr lang="en-US" sz="1440" b="1" dirty="0">
                <a:solidFill>
                  <a:srgbClr val="009688"/>
                </a:solidFill>
              </a:rPr>
              <a:t>🌟 Benefits: Eco-friendly  •  Saves money long-term  •  Holds more than a pad  •  Safe overnight  •  Zero waste!</a:t>
            </a:r>
            <a:endParaRPr lang="en-US" sz="14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C28E4-4947-ACC3-1C61-FE204DC9A503}"/>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985716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BE9E7"/>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7B2D8B"/>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880" b="1" dirty="0">
                <a:solidFill>
                  <a:srgbClr val="FFFFFF"/>
                </a:solidFill>
              </a:rPr>
              <a:t>📊  Choosing the Right Product</a:t>
            </a:r>
            <a:endParaRPr lang="en-US" sz="288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228600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762000">
                <a:tc>
                  <a:txBody>
                    <a:bodyPr/>
                    <a:lstStyle/>
                    <a:p>
                      <a:pPr marL="0" indent="0" algn="ctr">
                        <a:buNone/>
                      </a:pPr>
                      <a:r>
                        <a:rPr lang="en-US" sz="1560" b="1" dirty="0">
                          <a:solidFill>
                            <a:srgbClr val="FFFFFF"/>
                          </a:solidFill>
                        </a:rPr>
                        <a:t>Product</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B2D8B"/>
                    </a:solidFill>
                  </a:tcPr>
                </a:tc>
                <a:tc>
                  <a:txBody>
                    <a:bodyPr/>
                    <a:lstStyle/>
                    <a:p>
                      <a:pPr marL="0" indent="0" algn="ctr">
                        <a:buNone/>
                      </a:pPr>
                      <a:r>
                        <a:rPr lang="en-US" sz="1560" b="1" dirty="0">
                          <a:solidFill>
                            <a:srgbClr val="FFFFFF"/>
                          </a:solidFill>
                        </a:rPr>
                        <a:t>Cost</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B2D8B"/>
                    </a:solidFill>
                  </a:tcPr>
                </a:tc>
                <a:tc>
                  <a:txBody>
                    <a:bodyPr/>
                    <a:lstStyle/>
                    <a:p>
                      <a:pPr marL="0" indent="0" algn="ctr">
                        <a:buNone/>
                      </a:pPr>
                      <a:r>
                        <a:rPr lang="en-US" sz="1560" b="1" dirty="0">
                          <a:solidFill>
                            <a:srgbClr val="FFFFFF"/>
                          </a:solidFill>
                        </a:rPr>
                        <a:t>Eco-Friendly?</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B2D8B"/>
                    </a:solidFill>
                  </a:tcPr>
                </a:tc>
                <a:tc>
                  <a:txBody>
                    <a:bodyPr/>
                    <a:lstStyle/>
                    <a:p>
                      <a:pPr marL="0" indent="0" algn="ctr">
                        <a:buNone/>
                      </a:pPr>
                      <a:r>
                        <a:rPr lang="en-US" sz="1560" b="1" dirty="0">
                          <a:solidFill>
                            <a:srgbClr val="FFFFFF"/>
                          </a:solidFill>
                        </a:rPr>
                        <a:t>Best For</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B2D8B"/>
                    </a:solidFill>
                  </a:tcPr>
                </a:tc>
                <a:tc>
                  <a:txBody>
                    <a:bodyPr/>
                    <a:lstStyle/>
                    <a:p>
                      <a:pPr marL="0" indent="0" algn="ctr">
                        <a:buNone/>
                      </a:pPr>
                      <a:r>
                        <a:rPr lang="en-US" sz="1560" b="1" dirty="0">
                          <a:solidFill>
                            <a:srgbClr val="FFFFFF"/>
                          </a:solidFill>
                        </a:rPr>
                        <a:t>Change Every</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B2D8B"/>
                    </a:solidFill>
                  </a:tcPr>
                </a:tc>
                <a:extLst>
                  <a:ext uri="{0D108BD9-81ED-4DB2-BD59-A6C34878D82A}">
                    <a16:rowId xmlns:a16="http://schemas.microsoft.com/office/drawing/2014/main" val="10000"/>
                  </a:ext>
                </a:extLst>
              </a:tr>
              <a:tr h="762000">
                <a:tc>
                  <a:txBody>
                    <a:bodyPr/>
                    <a:lstStyle/>
                    <a:p>
                      <a:pPr marL="0" indent="0" algn="ctr">
                        <a:buNone/>
                      </a:pPr>
                      <a:r>
                        <a:rPr lang="en-US" sz="1560" dirty="0">
                          <a:solidFill>
                            <a:srgbClr val="000000"/>
                          </a:solidFill>
                        </a:rPr>
                        <a:t>🩹 Sanitary Pad</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560" dirty="0">
                          <a:solidFill>
                            <a:srgbClr val="000000"/>
                          </a:solidFill>
                        </a:rPr>
                        <a:t>Low–Medium</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560" dirty="0">
                          <a:solidFill>
                            <a:srgbClr val="000000"/>
                          </a:solidFill>
                        </a:rPr>
                        <a:t>❌ Single use</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560" dirty="0">
                          <a:solidFill>
                            <a:srgbClr val="000000"/>
                          </a:solidFill>
                        </a:rPr>
                        <a:t>Beginners, everyday use</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560" dirty="0">
                          <a:solidFill>
                            <a:srgbClr val="000000"/>
                          </a:solidFill>
                        </a:rPr>
                        <a:t>4–6 hours</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762000">
                <a:tc>
                  <a:txBody>
                    <a:bodyPr/>
                    <a:lstStyle/>
                    <a:p>
                      <a:pPr marL="0" indent="0" algn="ctr">
                        <a:buNone/>
                      </a:pPr>
                      <a:r>
                        <a:rPr lang="en-US" sz="1560" dirty="0">
                          <a:solidFill>
                            <a:srgbClr val="000000"/>
                          </a:solidFill>
                        </a:rPr>
                        <a:t>🟢 Menstrual Cup</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560" dirty="0">
                          <a:solidFill>
                            <a:srgbClr val="000000"/>
                          </a:solidFill>
                        </a:rPr>
                        <a:t>High (one-time)</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560" dirty="0">
                          <a:solidFill>
                            <a:srgbClr val="000000"/>
                          </a:solidFill>
                        </a:rPr>
                        <a:t>✅ Reusable 10 yrs!</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560" dirty="0">
                          <a:solidFill>
                            <a:srgbClr val="000000"/>
                          </a:solidFill>
                        </a:rPr>
                        <a:t>Regular users, eco lovers</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1560" dirty="0">
                          <a:solidFill>
                            <a:srgbClr val="000000"/>
                          </a:solidFill>
                        </a:rPr>
                        <a:t>8–12 hours</a:t>
                      </a:r>
                      <a:endParaRPr lang="en-US" sz="156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p:cNvSpPr/>
          <p:nvPr/>
        </p:nvSpPr>
        <p:spPr>
          <a:xfrm>
            <a:off x="320040" y="4069080"/>
            <a:ext cx="8503920" cy="822960"/>
          </a:xfrm>
          <a:prstGeom prst="rect">
            <a:avLst/>
          </a:prstGeom>
          <a:solidFill>
            <a:srgbClr val="FFEBEE"/>
          </a:solidFill>
          <a:ln/>
          <a:effectLst>
            <a:outerShdw blurRad="101600" dist="38100" dir="8100000" algn="bl" rotWithShape="0">
              <a:srgbClr val="000000">
                <a:alpha val="10000"/>
              </a:srgbClr>
            </a:outerShdw>
          </a:effectLst>
        </p:spPr>
      </p:sp>
      <p:sp>
        <p:nvSpPr>
          <p:cNvPr id="6" name="Shape 3"/>
          <p:cNvSpPr/>
          <p:nvPr/>
        </p:nvSpPr>
        <p:spPr>
          <a:xfrm>
            <a:off x="320040" y="4069080"/>
            <a:ext cx="274320" cy="822960"/>
          </a:xfrm>
          <a:prstGeom prst="rect">
            <a:avLst/>
          </a:prstGeom>
          <a:solidFill>
            <a:srgbClr val="E53935"/>
          </a:solidFill>
          <a:ln/>
        </p:spPr>
      </p:sp>
      <p:sp>
        <p:nvSpPr>
          <p:cNvPr id="7" name="Text 4"/>
          <p:cNvSpPr/>
          <p:nvPr/>
        </p:nvSpPr>
        <p:spPr>
          <a:xfrm>
            <a:off x="731520" y="4114800"/>
            <a:ext cx="7955280" cy="731520"/>
          </a:xfrm>
          <a:prstGeom prst="rect">
            <a:avLst/>
          </a:prstGeom>
          <a:noFill/>
          <a:ln/>
        </p:spPr>
        <p:txBody>
          <a:bodyPr wrap="square" rtlCol="0" anchor="ctr"/>
          <a:lstStyle/>
          <a:p>
            <a:pPr marL="0" indent="0">
              <a:buNone/>
            </a:pPr>
            <a:r>
              <a:rPr lang="en-US" sz="1560" b="1" dirty="0">
                <a:solidFill>
                  <a:srgbClr val="E53935"/>
                </a:solidFill>
              </a:rPr>
              <a:t>⚠️ Important: </a:t>
            </a:r>
            <a:r>
              <a:rPr lang="en-US" sz="1560" dirty="0">
                <a:solidFill>
                  <a:srgbClr val="212121"/>
                </a:solidFill>
              </a:rPr>
              <a:t>Unclean cloth rags are NOT safe! They carry infection risk from bacteria and fungi. Always choose a proper menstrual product.</a:t>
            </a:r>
            <a:endParaRPr lang="en-US" sz="15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043ADB-A9A0-BF8F-41CC-4434182B42A7}"/>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131028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E0F7FA"/>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E53935"/>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Why Cloth Rags Are Risky</a:t>
            </a:r>
            <a:endParaRPr lang="en-US" sz="3120" dirty="0"/>
          </a:p>
        </p:txBody>
      </p:sp>
      <p:sp>
        <p:nvSpPr>
          <p:cNvPr id="4" name="Shape 2"/>
          <p:cNvSpPr/>
          <p:nvPr/>
        </p:nvSpPr>
        <p:spPr>
          <a:xfrm>
            <a:off x="320040" y="1097280"/>
            <a:ext cx="4206240" cy="3657600"/>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320040" y="1097280"/>
            <a:ext cx="4206240" cy="457200"/>
          </a:xfrm>
          <a:prstGeom prst="rect">
            <a:avLst/>
          </a:prstGeom>
          <a:solidFill>
            <a:srgbClr val="E53935"/>
          </a:solidFill>
          <a:ln/>
        </p:spPr>
      </p:sp>
      <p:sp>
        <p:nvSpPr>
          <p:cNvPr id="6" name="Text 4"/>
          <p:cNvSpPr/>
          <p:nvPr/>
        </p:nvSpPr>
        <p:spPr>
          <a:xfrm>
            <a:off x="320040" y="1097280"/>
            <a:ext cx="4206240" cy="457200"/>
          </a:xfrm>
          <a:prstGeom prst="rect">
            <a:avLst/>
          </a:prstGeom>
          <a:noFill/>
          <a:ln/>
        </p:spPr>
        <p:txBody>
          <a:bodyPr wrap="square" lIns="0" tIns="0" rIns="0" bIns="0" rtlCol="0" anchor="ctr"/>
          <a:lstStyle/>
          <a:p>
            <a:pPr marL="0" indent="0" algn="ctr">
              <a:buNone/>
            </a:pPr>
            <a:r>
              <a:rPr lang="en-US" sz="1680" b="1" dirty="0">
                <a:solidFill>
                  <a:srgbClr val="FFFFFF"/>
                </a:solidFill>
              </a:rPr>
              <a:t>Risks of Cloth Rags</a:t>
            </a:r>
            <a:endParaRPr lang="en-US" sz="1680" dirty="0"/>
          </a:p>
        </p:txBody>
      </p:sp>
      <p:sp>
        <p:nvSpPr>
          <p:cNvPr id="7" name="Text 5"/>
          <p:cNvSpPr/>
          <p:nvPr/>
        </p:nvSpPr>
        <p:spPr>
          <a:xfrm>
            <a:off x="457200" y="1691640"/>
            <a:ext cx="3931920" cy="502920"/>
          </a:xfrm>
          <a:prstGeom prst="rect">
            <a:avLst/>
          </a:prstGeom>
          <a:noFill/>
          <a:ln/>
        </p:spPr>
        <p:txBody>
          <a:bodyPr wrap="square" rtlCol="0" anchor="ctr"/>
          <a:lstStyle/>
          <a:p>
            <a:pPr marL="0" indent="0">
              <a:buNone/>
            </a:pPr>
            <a:r>
              <a:rPr lang="en-US" sz="1440" dirty="0">
                <a:solidFill>
                  <a:srgbClr val="212121"/>
                </a:solidFill>
              </a:rPr>
              <a:t>❌ Bacterial infections — can cause UTI (urinary tract infection) or vaginal infection</a:t>
            </a:r>
            <a:endParaRPr lang="en-US" sz="1440" dirty="0"/>
          </a:p>
        </p:txBody>
      </p:sp>
      <p:sp>
        <p:nvSpPr>
          <p:cNvPr id="8" name="Text 6"/>
          <p:cNvSpPr/>
          <p:nvPr/>
        </p:nvSpPr>
        <p:spPr>
          <a:xfrm>
            <a:off x="457200" y="2258568"/>
            <a:ext cx="3931920" cy="502920"/>
          </a:xfrm>
          <a:prstGeom prst="rect">
            <a:avLst/>
          </a:prstGeom>
          <a:noFill/>
          <a:ln/>
        </p:spPr>
        <p:txBody>
          <a:bodyPr wrap="square" rtlCol="0" anchor="ctr"/>
          <a:lstStyle/>
          <a:p>
            <a:pPr marL="0" indent="0">
              <a:buNone/>
            </a:pPr>
            <a:r>
              <a:rPr lang="en-US" sz="1440" dirty="0">
                <a:solidFill>
                  <a:srgbClr val="212121"/>
                </a:solidFill>
              </a:rPr>
              <a:t>❌ Fungi and mould grow in damp cloth if not dried properly</a:t>
            </a:r>
            <a:endParaRPr lang="en-US" sz="1440" dirty="0"/>
          </a:p>
        </p:txBody>
      </p:sp>
      <p:sp>
        <p:nvSpPr>
          <p:cNvPr id="9" name="Text 7"/>
          <p:cNvSpPr/>
          <p:nvPr/>
        </p:nvSpPr>
        <p:spPr>
          <a:xfrm>
            <a:off x="457200" y="2825496"/>
            <a:ext cx="3931920" cy="502920"/>
          </a:xfrm>
          <a:prstGeom prst="rect">
            <a:avLst/>
          </a:prstGeom>
          <a:noFill/>
          <a:ln/>
        </p:spPr>
        <p:txBody>
          <a:bodyPr wrap="square" rtlCol="0" anchor="ctr"/>
          <a:lstStyle/>
          <a:p>
            <a:pPr marL="0" indent="0">
              <a:buNone/>
            </a:pPr>
            <a:r>
              <a:rPr lang="en-US" sz="1440" dirty="0">
                <a:solidFill>
                  <a:srgbClr val="212121"/>
                </a:solidFill>
              </a:rPr>
              <a:t>❌ Cloth dried indoors or in the dark stays damp — bacteria survive and multiply</a:t>
            </a:r>
            <a:endParaRPr lang="en-US" sz="1440" dirty="0"/>
          </a:p>
        </p:txBody>
      </p:sp>
      <p:sp>
        <p:nvSpPr>
          <p:cNvPr id="10" name="Text 8"/>
          <p:cNvSpPr/>
          <p:nvPr/>
        </p:nvSpPr>
        <p:spPr>
          <a:xfrm>
            <a:off x="457200" y="3392424"/>
            <a:ext cx="3931920" cy="502920"/>
          </a:xfrm>
          <a:prstGeom prst="rect">
            <a:avLst/>
          </a:prstGeom>
          <a:noFill/>
          <a:ln/>
        </p:spPr>
        <p:txBody>
          <a:bodyPr wrap="square" rtlCol="0" anchor="ctr"/>
          <a:lstStyle/>
          <a:p>
            <a:pPr marL="0" indent="0">
              <a:buNone/>
            </a:pPr>
            <a:r>
              <a:rPr lang="en-US" sz="1440" dirty="0">
                <a:solidFill>
                  <a:srgbClr val="212121"/>
                </a:solidFill>
              </a:rPr>
              <a:t>❌ Rough fibres cause skin rashes and irritation</a:t>
            </a:r>
            <a:endParaRPr lang="en-US" sz="1440" dirty="0"/>
          </a:p>
        </p:txBody>
      </p:sp>
      <p:sp>
        <p:nvSpPr>
          <p:cNvPr id="11" name="Text 9"/>
          <p:cNvSpPr/>
          <p:nvPr/>
        </p:nvSpPr>
        <p:spPr>
          <a:xfrm>
            <a:off x="457200" y="3959352"/>
            <a:ext cx="3931920" cy="502920"/>
          </a:xfrm>
          <a:prstGeom prst="rect">
            <a:avLst/>
          </a:prstGeom>
          <a:noFill/>
          <a:ln/>
        </p:spPr>
        <p:txBody>
          <a:bodyPr wrap="square" rtlCol="0" anchor="ctr"/>
          <a:lstStyle/>
          <a:p>
            <a:pPr marL="0" indent="0">
              <a:buNone/>
            </a:pPr>
            <a:r>
              <a:rPr lang="en-US" sz="1440" dirty="0">
                <a:solidFill>
                  <a:srgbClr val="212121"/>
                </a:solidFill>
              </a:rPr>
              <a:t>❌ Absorbs less blood — higher chance of leakage and embarrassment</a:t>
            </a:r>
            <a:endParaRPr lang="en-US" sz="1440" dirty="0"/>
          </a:p>
        </p:txBody>
      </p:sp>
      <p:sp>
        <p:nvSpPr>
          <p:cNvPr id="12" name="Shape 10"/>
          <p:cNvSpPr/>
          <p:nvPr/>
        </p:nvSpPr>
        <p:spPr>
          <a:xfrm>
            <a:off x="4709160" y="1097280"/>
            <a:ext cx="4114800" cy="3657600"/>
          </a:xfrm>
          <a:prstGeom prst="rect">
            <a:avLst/>
          </a:prstGeom>
          <a:solidFill>
            <a:srgbClr val="FFFFFF"/>
          </a:solidFill>
          <a:ln/>
          <a:effectLst>
            <a:outerShdw blurRad="101600" dist="38100" dir="8100000" algn="bl" rotWithShape="0">
              <a:srgbClr val="000000">
                <a:alpha val="10000"/>
              </a:srgbClr>
            </a:outerShdw>
          </a:effectLst>
        </p:spPr>
      </p:sp>
      <p:sp>
        <p:nvSpPr>
          <p:cNvPr id="13" name="Shape 11"/>
          <p:cNvSpPr/>
          <p:nvPr/>
        </p:nvSpPr>
        <p:spPr>
          <a:xfrm>
            <a:off x="4709160" y="1097280"/>
            <a:ext cx="4114800" cy="457200"/>
          </a:xfrm>
          <a:prstGeom prst="rect">
            <a:avLst/>
          </a:prstGeom>
          <a:solidFill>
            <a:srgbClr val="388E3C"/>
          </a:solidFill>
          <a:ln/>
        </p:spPr>
      </p:sp>
      <p:sp>
        <p:nvSpPr>
          <p:cNvPr id="14" name="Text 12"/>
          <p:cNvSpPr/>
          <p:nvPr/>
        </p:nvSpPr>
        <p:spPr>
          <a:xfrm>
            <a:off x="4709160" y="1097280"/>
            <a:ext cx="4114800" cy="457200"/>
          </a:xfrm>
          <a:prstGeom prst="rect">
            <a:avLst/>
          </a:prstGeom>
          <a:noFill/>
          <a:ln/>
        </p:spPr>
        <p:txBody>
          <a:bodyPr wrap="square" lIns="0" tIns="0" rIns="0" bIns="0" rtlCol="0" anchor="ctr"/>
          <a:lstStyle/>
          <a:p>
            <a:pPr marL="0" indent="0" algn="ctr">
              <a:buNone/>
            </a:pPr>
            <a:r>
              <a:rPr lang="en-US" sz="1680" b="1" dirty="0">
                <a:solidFill>
                  <a:srgbClr val="FFFFFF"/>
                </a:solidFill>
              </a:rPr>
              <a:t>✅ Better Alternatives</a:t>
            </a:r>
            <a:endParaRPr lang="en-US" sz="1680" dirty="0"/>
          </a:p>
        </p:txBody>
      </p:sp>
      <p:sp>
        <p:nvSpPr>
          <p:cNvPr id="15" name="Shape 13"/>
          <p:cNvSpPr/>
          <p:nvPr/>
        </p:nvSpPr>
        <p:spPr>
          <a:xfrm>
            <a:off x="4800600" y="1691640"/>
            <a:ext cx="73152" cy="73152"/>
          </a:xfrm>
          <a:prstGeom prst="ellipse">
            <a:avLst/>
          </a:prstGeom>
          <a:solidFill>
            <a:srgbClr val="388E3C"/>
          </a:solidFill>
          <a:ln/>
        </p:spPr>
      </p:sp>
      <p:sp>
        <p:nvSpPr>
          <p:cNvPr id="16" name="Text 14"/>
          <p:cNvSpPr/>
          <p:nvPr/>
        </p:nvSpPr>
        <p:spPr>
          <a:xfrm>
            <a:off x="4937760" y="1709928"/>
            <a:ext cx="3749040" cy="365760"/>
          </a:xfrm>
          <a:prstGeom prst="rect">
            <a:avLst/>
          </a:prstGeom>
          <a:noFill/>
          <a:ln/>
        </p:spPr>
        <p:txBody>
          <a:bodyPr wrap="square" rtlCol="0" anchor="ctr"/>
          <a:lstStyle/>
          <a:p>
            <a:pPr marL="0" indent="0">
              <a:buNone/>
            </a:pPr>
            <a:r>
              <a:rPr lang="en-US" sz="1560" b="1" dirty="0">
                <a:solidFill>
                  <a:srgbClr val="388E3C"/>
                </a:solidFill>
              </a:rPr>
              <a:t>🩹 Sanitary Pads</a:t>
            </a:r>
            <a:endParaRPr lang="en-US" sz="1560" dirty="0"/>
          </a:p>
        </p:txBody>
      </p:sp>
      <p:sp>
        <p:nvSpPr>
          <p:cNvPr id="17" name="Text 15"/>
          <p:cNvSpPr/>
          <p:nvPr/>
        </p:nvSpPr>
        <p:spPr>
          <a:xfrm>
            <a:off x="4800600" y="2075688"/>
            <a:ext cx="3931920" cy="548640"/>
          </a:xfrm>
          <a:prstGeom prst="rect">
            <a:avLst/>
          </a:prstGeom>
          <a:noFill/>
          <a:ln/>
        </p:spPr>
        <p:txBody>
          <a:bodyPr wrap="square" rtlCol="0" anchor="ctr"/>
          <a:lstStyle/>
          <a:p>
            <a:pPr marL="0" indent="0">
              <a:buNone/>
            </a:pPr>
            <a:r>
              <a:rPr lang="en-US" sz="1440" dirty="0">
                <a:solidFill>
                  <a:srgbClr val="212121"/>
                </a:solidFill>
              </a:rPr>
              <a:t>Free or low-cost from schools, ASHA workers, Anganwadi centres, &amp; government health schemes.</a:t>
            </a:r>
            <a:endParaRPr lang="en-US" sz="1440" dirty="0"/>
          </a:p>
        </p:txBody>
      </p:sp>
      <p:sp>
        <p:nvSpPr>
          <p:cNvPr id="18" name="Shape 16"/>
          <p:cNvSpPr/>
          <p:nvPr/>
        </p:nvSpPr>
        <p:spPr>
          <a:xfrm>
            <a:off x="4800600" y="2697480"/>
            <a:ext cx="73152" cy="73152"/>
          </a:xfrm>
          <a:prstGeom prst="ellipse">
            <a:avLst/>
          </a:prstGeom>
          <a:solidFill>
            <a:srgbClr val="388E3C"/>
          </a:solidFill>
          <a:ln/>
        </p:spPr>
      </p:sp>
      <p:sp>
        <p:nvSpPr>
          <p:cNvPr id="19" name="Text 17"/>
          <p:cNvSpPr/>
          <p:nvPr/>
        </p:nvSpPr>
        <p:spPr>
          <a:xfrm>
            <a:off x="4937760" y="2715768"/>
            <a:ext cx="3749040" cy="365760"/>
          </a:xfrm>
          <a:prstGeom prst="rect">
            <a:avLst/>
          </a:prstGeom>
          <a:noFill/>
          <a:ln/>
        </p:spPr>
        <p:txBody>
          <a:bodyPr wrap="square" rtlCol="0" anchor="ctr"/>
          <a:lstStyle/>
          <a:p>
            <a:pPr marL="0" indent="0">
              <a:buNone/>
            </a:pPr>
            <a:r>
              <a:rPr lang="en-US" sz="1560" b="1" dirty="0">
                <a:solidFill>
                  <a:srgbClr val="388E3C"/>
                </a:solidFill>
              </a:rPr>
              <a:t>🌿 Biodegradable Pads</a:t>
            </a:r>
            <a:endParaRPr lang="en-US" sz="1560" dirty="0"/>
          </a:p>
        </p:txBody>
      </p:sp>
      <p:sp>
        <p:nvSpPr>
          <p:cNvPr id="20" name="Text 18"/>
          <p:cNvSpPr/>
          <p:nvPr/>
        </p:nvSpPr>
        <p:spPr>
          <a:xfrm>
            <a:off x="4800600" y="3081528"/>
            <a:ext cx="3931920" cy="548640"/>
          </a:xfrm>
          <a:prstGeom prst="rect">
            <a:avLst/>
          </a:prstGeom>
          <a:noFill/>
          <a:ln/>
        </p:spPr>
        <p:txBody>
          <a:bodyPr wrap="square" rtlCol="0" anchor="ctr"/>
          <a:lstStyle/>
          <a:p>
            <a:pPr marL="0" indent="0">
              <a:buNone/>
            </a:pPr>
            <a:r>
              <a:rPr lang="en-US" sz="1440" dirty="0">
                <a:solidFill>
                  <a:srgbClr val="212121"/>
                </a:solidFill>
              </a:rPr>
              <a:t>Made from plant fibres, gentler on skin. Available in health stores &amp; online.</a:t>
            </a:r>
            <a:endParaRPr lang="en-US" sz="1440" dirty="0"/>
          </a:p>
        </p:txBody>
      </p:sp>
      <p:sp>
        <p:nvSpPr>
          <p:cNvPr id="21" name="Shape 19"/>
          <p:cNvSpPr/>
          <p:nvPr/>
        </p:nvSpPr>
        <p:spPr>
          <a:xfrm>
            <a:off x="4800600" y="3703320"/>
            <a:ext cx="73152" cy="73152"/>
          </a:xfrm>
          <a:prstGeom prst="ellipse">
            <a:avLst/>
          </a:prstGeom>
          <a:solidFill>
            <a:srgbClr val="388E3C"/>
          </a:solidFill>
          <a:ln/>
        </p:spPr>
      </p:sp>
      <p:sp>
        <p:nvSpPr>
          <p:cNvPr id="22" name="Text 20"/>
          <p:cNvSpPr/>
          <p:nvPr/>
        </p:nvSpPr>
        <p:spPr>
          <a:xfrm>
            <a:off x="4937760" y="3721608"/>
            <a:ext cx="3749040" cy="365760"/>
          </a:xfrm>
          <a:prstGeom prst="rect">
            <a:avLst/>
          </a:prstGeom>
          <a:noFill/>
          <a:ln/>
        </p:spPr>
        <p:txBody>
          <a:bodyPr wrap="square" rtlCol="0" anchor="ctr"/>
          <a:lstStyle/>
          <a:p>
            <a:pPr marL="0" indent="0">
              <a:buNone/>
            </a:pPr>
            <a:r>
              <a:rPr lang="en-US" sz="1560" b="1" dirty="0">
                <a:solidFill>
                  <a:srgbClr val="388E3C"/>
                </a:solidFill>
              </a:rPr>
              <a:t>🟢 Menstrual Cups</a:t>
            </a:r>
            <a:endParaRPr lang="en-US" sz="1560" dirty="0"/>
          </a:p>
        </p:txBody>
      </p:sp>
      <p:sp>
        <p:nvSpPr>
          <p:cNvPr id="23" name="Text 21"/>
          <p:cNvSpPr/>
          <p:nvPr/>
        </p:nvSpPr>
        <p:spPr>
          <a:xfrm>
            <a:off x="4800600" y="4087368"/>
            <a:ext cx="3931920" cy="548640"/>
          </a:xfrm>
          <a:prstGeom prst="rect">
            <a:avLst/>
          </a:prstGeom>
          <a:noFill/>
          <a:ln/>
        </p:spPr>
        <p:txBody>
          <a:bodyPr wrap="square" rtlCol="0" anchor="ctr"/>
          <a:lstStyle/>
          <a:p>
            <a:pPr marL="0" indent="0">
              <a:buNone/>
            </a:pPr>
            <a:r>
              <a:rPr lang="en-US" sz="1440" dirty="0">
                <a:solidFill>
                  <a:srgbClr val="212121"/>
                </a:solidFill>
              </a:rPr>
              <a:t>One-time cost, reusable for 10 years. Zero waste option.</a:t>
            </a:r>
            <a:endParaRPr lang="en-US" sz="14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700FBC-FB98-9BCF-DC4E-73CCAE2B8A4A}"/>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781445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9FBE7"/>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388E3C"/>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760" b="1" dirty="0">
                <a:solidFill>
                  <a:srgbClr val="FFFFFF"/>
                </a:solidFill>
              </a:rPr>
              <a:t>♻️  How to Dispose of Menstrual Products Safely</a:t>
            </a:r>
            <a:endParaRPr lang="en-US" sz="2760" dirty="0"/>
          </a:p>
        </p:txBody>
      </p:sp>
      <p:sp>
        <p:nvSpPr>
          <p:cNvPr id="4" name="Shape 2"/>
          <p:cNvSpPr/>
          <p:nvPr/>
        </p:nvSpPr>
        <p:spPr>
          <a:xfrm>
            <a:off x="320040" y="1097280"/>
            <a:ext cx="4206240" cy="3749040"/>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320040" y="1097280"/>
            <a:ext cx="4206240" cy="457200"/>
          </a:xfrm>
          <a:prstGeom prst="rect">
            <a:avLst/>
          </a:prstGeom>
          <a:solidFill>
            <a:srgbClr val="009688"/>
          </a:solidFill>
          <a:ln/>
        </p:spPr>
      </p:sp>
      <p:sp>
        <p:nvSpPr>
          <p:cNvPr id="6" name="Text 4"/>
          <p:cNvSpPr/>
          <p:nvPr/>
        </p:nvSpPr>
        <p:spPr>
          <a:xfrm>
            <a:off x="320040" y="1097280"/>
            <a:ext cx="4206240" cy="457200"/>
          </a:xfrm>
          <a:prstGeom prst="rect">
            <a:avLst/>
          </a:prstGeom>
          <a:noFill/>
          <a:ln/>
        </p:spPr>
        <p:txBody>
          <a:bodyPr wrap="square" lIns="0" tIns="0" rIns="0" bIns="0" rtlCol="0" anchor="ctr"/>
          <a:lstStyle/>
          <a:p>
            <a:pPr marL="0" indent="0" algn="ctr">
              <a:buNone/>
            </a:pPr>
            <a:r>
              <a:rPr lang="en-US" sz="1800" b="1" dirty="0">
                <a:solidFill>
                  <a:srgbClr val="FFFFFF"/>
                </a:solidFill>
              </a:rPr>
              <a:t>🏫  At School</a:t>
            </a:r>
            <a:endParaRPr lang="en-US" sz="1800" dirty="0"/>
          </a:p>
        </p:txBody>
      </p:sp>
      <p:sp>
        <p:nvSpPr>
          <p:cNvPr id="7" name="Text 5"/>
          <p:cNvSpPr/>
          <p:nvPr/>
        </p:nvSpPr>
        <p:spPr>
          <a:xfrm>
            <a:off x="457200" y="1664208"/>
            <a:ext cx="3931920" cy="3063240"/>
          </a:xfrm>
          <a:prstGeom prst="rect">
            <a:avLst/>
          </a:prstGeom>
          <a:noFill/>
          <a:ln/>
        </p:spPr>
        <p:txBody>
          <a:bodyPr wrap="square" rtlCol="0" anchor="ctr"/>
          <a:lstStyle/>
          <a:p>
            <a:pPr marL="0" indent="0">
              <a:buNone/>
            </a:pPr>
            <a:r>
              <a:rPr lang="en-US" sz="1440" b="1" dirty="0">
                <a:solidFill>
                  <a:srgbClr val="009688"/>
                </a:solidFill>
              </a:rPr>
              <a:t>Step 1: </a:t>
            </a:r>
            <a:r>
              <a:rPr lang="en-US" sz="1440" dirty="0">
                <a:solidFill>
                  <a:srgbClr val="212121"/>
                </a:solidFill>
              </a:rPr>
              <a:t>Wrap the used pad tightly in the wrapper it came in, or in a piece of newspaper or tissue.</a:t>
            </a:r>
            <a:endParaRPr lang="en-US" sz="1440" dirty="0"/>
          </a:p>
          <a:p>
            <a:pPr marL="0" indent="0">
              <a:buNone/>
            </a:pPr>
            <a:r>
              <a:rPr lang="en-US" sz="600" dirty="0">
                <a:solidFill>
                  <a:srgbClr val="212121"/>
                </a:solidFill>
              </a:rPr>
              <a:t> </a:t>
            </a:r>
            <a:endParaRPr lang="en-US" sz="1440" dirty="0"/>
          </a:p>
          <a:p>
            <a:pPr marL="0" indent="0">
              <a:buNone/>
            </a:pPr>
            <a:r>
              <a:rPr lang="en-US" sz="1440" b="1" dirty="0">
                <a:solidFill>
                  <a:srgbClr val="009688"/>
                </a:solidFill>
              </a:rPr>
              <a:t>Step 2: </a:t>
            </a:r>
            <a:r>
              <a:rPr lang="en-US" sz="1440" dirty="0">
                <a:solidFill>
                  <a:srgbClr val="212121"/>
                </a:solidFill>
              </a:rPr>
              <a:t>Place it inside the closed dustbin or sanitary bin inside the girls' toilet — NOT on the floor or in the open drain.</a:t>
            </a:r>
            <a:endParaRPr lang="en-US" sz="1440" dirty="0"/>
          </a:p>
          <a:p>
            <a:pPr marL="0" indent="0">
              <a:buNone/>
            </a:pPr>
            <a:r>
              <a:rPr lang="en-US" sz="600" dirty="0">
                <a:solidFill>
                  <a:srgbClr val="212121"/>
                </a:solidFill>
              </a:rPr>
              <a:t> </a:t>
            </a:r>
            <a:endParaRPr lang="en-US" sz="1440" dirty="0"/>
          </a:p>
          <a:p>
            <a:pPr marL="0" indent="0">
              <a:buNone/>
            </a:pPr>
            <a:r>
              <a:rPr lang="en-US" sz="1440" b="1" dirty="0">
                <a:solidFill>
                  <a:srgbClr val="009688"/>
                </a:solidFill>
              </a:rPr>
              <a:t>Step 3: </a:t>
            </a:r>
            <a:r>
              <a:rPr lang="en-US" sz="1440" dirty="0">
                <a:solidFill>
                  <a:srgbClr val="212121"/>
                </a:solidFill>
              </a:rPr>
              <a:t>Wash your hands with soap after disposal.</a:t>
            </a:r>
            <a:endParaRPr lang="en-US" sz="1440" dirty="0"/>
          </a:p>
          <a:p>
            <a:pPr marL="0" indent="0">
              <a:buNone/>
            </a:pPr>
            <a:r>
              <a:rPr lang="en-US" sz="600" dirty="0">
                <a:solidFill>
                  <a:srgbClr val="212121"/>
                </a:solidFill>
              </a:rPr>
              <a:t> </a:t>
            </a:r>
            <a:endParaRPr lang="en-US" sz="1440" dirty="0"/>
          </a:p>
          <a:p>
            <a:pPr marL="0" indent="0">
              <a:buNone/>
            </a:pPr>
            <a:r>
              <a:rPr lang="en-US" sz="1440" b="1" dirty="0">
                <a:solidFill>
                  <a:srgbClr val="388E3C"/>
                </a:solidFill>
              </a:rPr>
              <a:t>✅ Always keep the bin lid closed.</a:t>
            </a:r>
            <a:endParaRPr lang="en-US" sz="1440" dirty="0"/>
          </a:p>
          <a:p>
            <a:pPr marL="0" indent="0">
              <a:buNone/>
            </a:pPr>
            <a:r>
              <a:rPr lang="en-US" sz="1440" b="1" dirty="0">
                <a:solidFill>
                  <a:srgbClr val="388E3C"/>
                </a:solidFill>
              </a:rPr>
              <a:t>✅ Never flush a pad down the toilet — it will block the drain!</a:t>
            </a:r>
            <a:endParaRPr lang="en-US" sz="1440" dirty="0"/>
          </a:p>
        </p:txBody>
      </p:sp>
      <p:sp>
        <p:nvSpPr>
          <p:cNvPr id="8" name="Shape 6"/>
          <p:cNvSpPr/>
          <p:nvPr/>
        </p:nvSpPr>
        <p:spPr>
          <a:xfrm>
            <a:off x="4709160" y="1097280"/>
            <a:ext cx="4114800" cy="3749040"/>
          </a:xfrm>
          <a:prstGeom prst="rect">
            <a:avLst/>
          </a:prstGeom>
          <a:solidFill>
            <a:srgbClr val="FFFFFF"/>
          </a:solidFill>
          <a:ln/>
          <a:effectLst>
            <a:outerShdw blurRad="101600" dist="38100" dir="8100000" algn="bl" rotWithShape="0">
              <a:srgbClr val="000000">
                <a:alpha val="10000"/>
              </a:srgbClr>
            </a:outerShdw>
          </a:effectLst>
        </p:spPr>
      </p:sp>
      <p:sp>
        <p:nvSpPr>
          <p:cNvPr id="9" name="Shape 7"/>
          <p:cNvSpPr/>
          <p:nvPr/>
        </p:nvSpPr>
        <p:spPr>
          <a:xfrm>
            <a:off x="4709160" y="1097280"/>
            <a:ext cx="4114800" cy="457200"/>
          </a:xfrm>
          <a:prstGeom prst="rect">
            <a:avLst/>
          </a:prstGeom>
          <a:solidFill>
            <a:srgbClr val="7B2D8B"/>
          </a:solidFill>
          <a:ln/>
        </p:spPr>
      </p:sp>
      <p:sp>
        <p:nvSpPr>
          <p:cNvPr id="10" name="Text 8"/>
          <p:cNvSpPr/>
          <p:nvPr/>
        </p:nvSpPr>
        <p:spPr>
          <a:xfrm>
            <a:off x="4709160" y="1097280"/>
            <a:ext cx="4114800" cy="457200"/>
          </a:xfrm>
          <a:prstGeom prst="rect">
            <a:avLst/>
          </a:prstGeom>
          <a:noFill/>
          <a:ln/>
        </p:spPr>
        <p:txBody>
          <a:bodyPr wrap="square" lIns="0" tIns="0" rIns="0" bIns="0" rtlCol="0" anchor="ctr"/>
          <a:lstStyle/>
          <a:p>
            <a:pPr marL="0" indent="0" algn="ctr">
              <a:buNone/>
            </a:pPr>
            <a:r>
              <a:rPr lang="en-US" sz="1800" b="1" dirty="0">
                <a:solidFill>
                  <a:srgbClr val="FFFFFF"/>
                </a:solidFill>
              </a:rPr>
              <a:t>🏠  At Home</a:t>
            </a:r>
            <a:endParaRPr lang="en-US" sz="1800" dirty="0"/>
          </a:p>
        </p:txBody>
      </p:sp>
      <p:sp>
        <p:nvSpPr>
          <p:cNvPr id="11" name="Text 9"/>
          <p:cNvSpPr/>
          <p:nvPr/>
        </p:nvSpPr>
        <p:spPr>
          <a:xfrm>
            <a:off x="4846320" y="1664208"/>
            <a:ext cx="3840480" cy="3063240"/>
          </a:xfrm>
          <a:prstGeom prst="rect">
            <a:avLst/>
          </a:prstGeom>
          <a:noFill/>
          <a:ln/>
        </p:spPr>
        <p:txBody>
          <a:bodyPr wrap="square" rtlCol="0" anchor="ctr"/>
          <a:lstStyle/>
          <a:p>
            <a:pPr marL="0" indent="0">
              <a:buNone/>
            </a:pPr>
            <a:r>
              <a:rPr lang="en-US" sz="1440" b="1" dirty="0">
                <a:solidFill>
                  <a:srgbClr val="7B2D8B"/>
                </a:solidFill>
              </a:rPr>
              <a:t>Step 1: </a:t>
            </a:r>
            <a:r>
              <a:rPr lang="en-US" sz="1440" dirty="0">
                <a:solidFill>
                  <a:srgbClr val="212121"/>
                </a:solidFill>
              </a:rPr>
              <a:t>Wrap the used pad in old newspaper or a small plastic bag. Seal it so there is no leakage or smell.</a:t>
            </a:r>
            <a:endParaRPr lang="en-US" sz="1440" dirty="0"/>
          </a:p>
          <a:p>
            <a:pPr marL="0" indent="0">
              <a:buNone/>
            </a:pPr>
            <a:r>
              <a:rPr lang="en-US" sz="600" dirty="0">
                <a:solidFill>
                  <a:srgbClr val="212121"/>
                </a:solidFill>
              </a:rPr>
              <a:t> </a:t>
            </a:r>
            <a:endParaRPr lang="en-US" sz="1440" dirty="0"/>
          </a:p>
          <a:p>
            <a:pPr marL="0" indent="0">
              <a:buNone/>
            </a:pPr>
            <a:r>
              <a:rPr lang="en-US" sz="1440" b="1" dirty="0">
                <a:solidFill>
                  <a:srgbClr val="7B2D8B"/>
                </a:solidFill>
              </a:rPr>
              <a:t>Step 2: </a:t>
            </a:r>
            <a:r>
              <a:rPr lang="en-US" sz="1440" dirty="0">
                <a:solidFill>
                  <a:srgbClr val="212121"/>
                </a:solidFill>
              </a:rPr>
              <a:t>Put it in the DRY WASTE bin at home — keep it separate from wet kitchen waste like food scraps.</a:t>
            </a:r>
            <a:endParaRPr lang="en-US" sz="1440" dirty="0"/>
          </a:p>
          <a:p>
            <a:pPr marL="0" indent="0">
              <a:buNone/>
            </a:pPr>
            <a:r>
              <a:rPr lang="en-US" sz="600" dirty="0">
                <a:solidFill>
                  <a:srgbClr val="212121"/>
                </a:solidFill>
              </a:rPr>
              <a:t> </a:t>
            </a:r>
            <a:endParaRPr lang="en-US" sz="1440" dirty="0"/>
          </a:p>
          <a:p>
            <a:pPr marL="0" indent="0">
              <a:buNone/>
            </a:pPr>
            <a:r>
              <a:rPr lang="en-US" sz="1440" b="1" dirty="0">
                <a:solidFill>
                  <a:srgbClr val="7B2D8B"/>
                </a:solidFill>
              </a:rPr>
              <a:t>Step 3: </a:t>
            </a:r>
            <a:r>
              <a:rPr lang="en-US" sz="1440" dirty="0">
                <a:solidFill>
                  <a:srgbClr val="212121"/>
                </a:solidFill>
              </a:rPr>
              <a:t>When the waste collector comes, let them know it is dry waste — properly wrapped pads can be safely handled.</a:t>
            </a:r>
            <a:endParaRPr lang="en-US" sz="1440" dirty="0"/>
          </a:p>
          <a:p>
            <a:pPr marL="0" indent="0">
              <a:buNone/>
            </a:pPr>
            <a:r>
              <a:rPr lang="en-US" sz="600" dirty="0">
                <a:solidFill>
                  <a:srgbClr val="212121"/>
                </a:solidFill>
              </a:rPr>
              <a:t> </a:t>
            </a:r>
            <a:endParaRPr lang="en-US" sz="1440" dirty="0"/>
          </a:p>
          <a:p>
            <a:pPr marL="0" indent="0">
              <a:buNone/>
            </a:pPr>
            <a:r>
              <a:rPr lang="en-US" sz="1440" b="1" dirty="0">
                <a:solidFill>
                  <a:srgbClr val="E53935"/>
                </a:solidFill>
              </a:rPr>
              <a:t>❌ Never burn pads at home — burning releases toxic fumes.</a:t>
            </a:r>
            <a:endParaRPr lang="en-US" sz="1440" dirty="0"/>
          </a:p>
        </p:txBody>
      </p:sp>
      <p:sp>
        <p:nvSpPr>
          <p:cNvPr id="12" name="Shape 10"/>
          <p:cNvSpPr/>
          <p:nvPr/>
        </p:nvSpPr>
        <p:spPr>
          <a:xfrm>
            <a:off x="320040" y="4956048"/>
            <a:ext cx="8503920" cy="347472"/>
          </a:xfrm>
          <a:prstGeom prst="rect">
            <a:avLst/>
          </a:prstGeom>
          <a:solidFill>
            <a:srgbClr val="FFEBEE"/>
          </a:solidFill>
          <a:ln/>
          <a:effectLst>
            <a:outerShdw blurRad="101600" dist="38100" dir="8100000" algn="bl" rotWithShape="0">
              <a:srgbClr val="000000">
                <a:alpha val="10000"/>
              </a:srgbClr>
            </a:outerShdw>
          </a:effectLst>
        </p:spPr>
      </p:sp>
      <p:sp>
        <p:nvSpPr>
          <p:cNvPr id="13" name="Text 11"/>
          <p:cNvSpPr/>
          <p:nvPr/>
        </p:nvSpPr>
        <p:spPr>
          <a:xfrm>
            <a:off x="457200" y="4956048"/>
            <a:ext cx="8321040" cy="347472"/>
          </a:xfrm>
          <a:prstGeom prst="rect">
            <a:avLst/>
          </a:prstGeom>
          <a:noFill/>
          <a:ln/>
        </p:spPr>
        <p:txBody>
          <a:bodyPr wrap="square" rtlCol="0" anchor="ctr"/>
          <a:lstStyle/>
          <a:p>
            <a:pPr marL="0" indent="0" algn="ctr">
              <a:buNone/>
            </a:pPr>
            <a:r>
              <a:rPr lang="en-US" sz="1320" b="1" dirty="0">
                <a:solidFill>
                  <a:srgbClr val="E53935"/>
                </a:solidFill>
              </a:rPr>
              <a:t>❌ NEVER throw used pads in open fields, drains, rivers, or water bodies — this spreads disease and harms the environment!</a:t>
            </a:r>
            <a:endParaRPr lang="en-US" sz="13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4407F0-5989-706C-5CE5-ABA8DAD3FEAF}"/>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139303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CE4EC"/>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7B2D8B"/>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200" b="1" dirty="0">
                <a:solidFill>
                  <a:srgbClr val="FFFFFF"/>
                </a:solidFill>
              </a:rPr>
              <a:t>🔍  Myths vs Facts</a:t>
            </a:r>
            <a:endParaRPr lang="en-US" sz="3200" dirty="0"/>
          </a:p>
        </p:txBody>
      </p:sp>
      <p:sp>
        <p:nvSpPr>
          <p:cNvPr id="4" name="Shape 2"/>
          <p:cNvSpPr/>
          <p:nvPr/>
        </p:nvSpPr>
        <p:spPr>
          <a:xfrm>
            <a:off x="320040" y="1143000"/>
            <a:ext cx="8503920" cy="1115568"/>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320040" y="1143000"/>
            <a:ext cx="548640" cy="1115568"/>
          </a:xfrm>
          <a:prstGeom prst="rect">
            <a:avLst/>
          </a:prstGeom>
          <a:solidFill>
            <a:srgbClr val="E53935"/>
          </a:solidFill>
          <a:ln/>
        </p:spPr>
      </p:sp>
      <p:sp>
        <p:nvSpPr>
          <p:cNvPr id="6" name="Text 4"/>
          <p:cNvSpPr/>
          <p:nvPr/>
        </p:nvSpPr>
        <p:spPr>
          <a:xfrm>
            <a:off x="320040" y="1143000"/>
            <a:ext cx="548640" cy="1115568"/>
          </a:xfrm>
          <a:prstGeom prst="rect">
            <a:avLst/>
          </a:prstGeom>
          <a:noFill/>
          <a:ln/>
        </p:spPr>
        <p:txBody>
          <a:bodyPr wrap="square" lIns="0" tIns="0" rIns="0" bIns="0" rtlCol="0" anchor="ctr"/>
          <a:lstStyle/>
          <a:p>
            <a:pPr marL="0" indent="0" algn="ctr">
              <a:buNone/>
            </a:pPr>
            <a:r>
              <a:rPr lang="en-US" sz="1200" b="1" dirty="0">
                <a:solidFill>
                  <a:srgbClr val="FFFFFF"/>
                </a:solidFill>
              </a:rPr>
              <a:t>MYTH</a:t>
            </a:r>
            <a:endParaRPr lang="en-US" sz="1200" dirty="0"/>
          </a:p>
        </p:txBody>
      </p:sp>
      <p:sp>
        <p:nvSpPr>
          <p:cNvPr id="7" name="Text 5"/>
          <p:cNvSpPr/>
          <p:nvPr/>
        </p:nvSpPr>
        <p:spPr>
          <a:xfrm>
            <a:off x="1005840" y="1252728"/>
            <a:ext cx="7680960" cy="914400"/>
          </a:xfrm>
          <a:prstGeom prst="rect">
            <a:avLst/>
          </a:prstGeom>
          <a:noFill/>
          <a:ln/>
        </p:spPr>
        <p:txBody>
          <a:bodyPr wrap="square" rtlCol="0" anchor="ctr"/>
          <a:lstStyle/>
          <a:p>
            <a:pPr marL="0" indent="0">
              <a:buNone/>
            </a:pPr>
            <a:r>
              <a:rPr lang="en-US" sz="1440" b="1" dirty="0">
                <a:solidFill>
                  <a:srgbClr val="E53935"/>
                </a:solidFill>
              </a:rPr>
              <a:t>❌ MYTH: </a:t>
            </a:r>
            <a:r>
              <a:rPr lang="en-US" sz="1440" dirty="0">
                <a:solidFill>
                  <a:srgbClr val="212121"/>
                </a:solidFill>
              </a:rPr>
              <a:t>Girls should stay home and skip school during their periods.</a:t>
            </a:r>
            <a:endParaRPr lang="en-US" sz="1440" dirty="0"/>
          </a:p>
          <a:p>
            <a:pPr marL="0" indent="0">
              <a:buNone/>
            </a:pPr>
            <a:r>
              <a:rPr lang="en-US" sz="1440" b="1" dirty="0">
                <a:solidFill>
                  <a:srgbClr val="388E3C"/>
                </a:solidFill>
              </a:rPr>
              <a:t>✅ FACT: </a:t>
            </a:r>
            <a:r>
              <a:rPr lang="en-US" sz="1440" dirty="0">
                <a:solidFill>
                  <a:srgbClr val="212121"/>
                </a:solidFill>
              </a:rPr>
              <a:t>Menstruation is NOT a reason to miss school or activities. Girls can do EVERYTHING normally. Keep attending school!</a:t>
            </a:r>
            <a:endParaRPr lang="en-US" sz="1440" dirty="0"/>
          </a:p>
        </p:txBody>
      </p:sp>
      <p:sp>
        <p:nvSpPr>
          <p:cNvPr id="8" name="Shape 6"/>
          <p:cNvSpPr/>
          <p:nvPr/>
        </p:nvSpPr>
        <p:spPr>
          <a:xfrm>
            <a:off x="320040" y="2377440"/>
            <a:ext cx="8503920" cy="1115568"/>
          </a:xfrm>
          <a:prstGeom prst="rect">
            <a:avLst/>
          </a:prstGeom>
          <a:solidFill>
            <a:srgbClr val="FFFFFF"/>
          </a:solidFill>
          <a:ln/>
          <a:effectLst>
            <a:outerShdw blurRad="101600" dist="38100" dir="8100000" algn="bl" rotWithShape="0">
              <a:srgbClr val="000000">
                <a:alpha val="10000"/>
              </a:srgbClr>
            </a:outerShdw>
          </a:effectLst>
        </p:spPr>
      </p:sp>
      <p:sp>
        <p:nvSpPr>
          <p:cNvPr id="9" name="Shape 7"/>
          <p:cNvSpPr/>
          <p:nvPr/>
        </p:nvSpPr>
        <p:spPr>
          <a:xfrm>
            <a:off x="320040" y="2377440"/>
            <a:ext cx="548640" cy="1115568"/>
          </a:xfrm>
          <a:prstGeom prst="rect">
            <a:avLst/>
          </a:prstGeom>
          <a:solidFill>
            <a:srgbClr val="E53935"/>
          </a:solidFill>
          <a:ln/>
        </p:spPr>
      </p:sp>
      <p:sp>
        <p:nvSpPr>
          <p:cNvPr id="10" name="Text 8"/>
          <p:cNvSpPr/>
          <p:nvPr/>
        </p:nvSpPr>
        <p:spPr>
          <a:xfrm>
            <a:off x="320040" y="2377440"/>
            <a:ext cx="548640" cy="1115568"/>
          </a:xfrm>
          <a:prstGeom prst="rect">
            <a:avLst/>
          </a:prstGeom>
          <a:noFill/>
          <a:ln/>
        </p:spPr>
        <p:txBody>
          <a:bodyPr wrap="square" lIns="0" tIns="0" rIns="0" bIns="0" rtlCol="0" anchor="ctr"/>
          <a:lstStyle/>
          <a:p>
            <a:pPr marL="0" indent="0" algn="ctr">
              <a:buNone/>
            </a:pPr>
            <a:r>
              <a:rPr lang="en-US" sz="1200" b="1" dirty="0">
                <a:solidFill>
                  <a:srgbClr val="FFFFFF"/>
                </a:solidFill>
              </a:rPr>
              <a:t>MYTH</a:t>
            </a:r>
            <a:endParaRPr lang="en-US" sz="1200" dirty="0"/>
          </a:p>
        </p:txBody>
      </p:sp>
      <p:sp>
        <p:nvSpPr>
          <p:cNvPr id="11" name="Text 9"/>
          <p:cNvSpPr/>
          <p:nvPr/>
        </p:nvSpPr>
        <p:spPr>
          <a:xfrm>
            <a:off x="1005840" y="2487168"/>
            <a:ext cx="7680960" cy="914400"/>
          </a:xfrm>
          <a:prstGeom prst="rect">
            <a:avLst/>
          </a:prstGeom>
          <a:noFill/>
          <a:ln/>
        </p:spPr>
        <p:txBody>
          <a:bodyPr wrap="square" rtlCol="0" anchor="ctr"/>
          <a:lstStyle/>
          <a:p>
            <a:pPr marL="0" indent="0">
              <a:buNone/>
            </a:pPr>
            <a:r>
              <a:rPr lang="en-US" sz="1440" b="1" dirty="0">
                <a:solidFill>
                  <a:srgbClr val="E53935"/>
                </a:solidFill>
              </a:rPr>
              <a:t>❌ MYTH: </a:t>
            </a:r>
            <a:r>
              <a:rPr lang="en-US" sz="1440" dirty="0">
                <a:solidFill>
                  <a:srgbClr val="212121"/>
                </a:solidFill>
              </a:rPr>
              <a:t>A girl's body becomes impure or dirty during menstruation.</a:t>
            </a:r>
            <a:endParaRPr lang="en-US" sz="1440" dirty="0"/>
          </a:p>
          <a:p>
            <a:pPr marL="0" indent="0">
              <a:buNone/>
            </a:pPr>
            <a:r>
              <a:rPr lang="en-US" sz="1440" b="1" dirty="0">
                <a:solidFill>
                  <a:srgbClr val="388E3C"/>
                </a:solidFill>
              </a:rPr>
              <a:t>✅ FACT: </a:t>
            </a:r>
            <a:r>
              <a:rPr lang="en-US" sz="1440" dirty="0">
                <a:solidFill>
                  <a:srgbClr val="212121"/>
                </a:solidFill>
              </a:rPr>
              <a:t>Completely FALSE. Menstruation is a healthy, natural body process. There is ZERO impurity. It shows your body is healthy!</a:t>
            </a:r>
            <a:endParaRPr lang="en-US" sz="1440" dirty="0"/>
          </a:p>
        </p:txBody>
      </p:sp>
      <p:sp>
        <p:nvSpPr>
          <p:cNvPr id="12" name="Shape 10"/>
          <p:cNvSpPr/>
          <p:nvPr/>
        </p:nvSpPr>
        <p:spPr>
          <a:xfrm>
            <a:off x="320040" y="3611880"/>
            <a:ext cx="8503920" cy="1115568"/>
          </a:xfrm>
          <a:prstGeom prst="rect">
            <a:avLst/>
          </a:prstGeom>
          <a:solidFill>
            <a:srgbClr val="FFFFFF"/>
          </a:solidFill>
          <a:ln/>
          <a:effectLst>
            <a:outerShdw blurRad="101600" dist="38100" dir="8100000" algn="bl" rotWithShape="0">
              <a:srgbClr val="000000">
                <a:alpha val="10000"/>
              </a:srgbClr>
            </a:outerShdw>
          </a:effectLst>
        </p:spPr>
      </p:sp>
      <p:sp>
        <p:nvSpPr>
          <p:cNvPr id="13" name="Shape 11"/>
          <p:cNvSpPr/>
          <p:nvPr/>
        </p:nvSpPr>
        <p:spPr>
          <a:xfrm>
            <a:off x="320040" y="3611880"/>
            <a:ext cx="548640" cy="1115568"/>
          </a:xfrm>
          <a:prstGeom prst="rect">
            <a:avLst/>
          </a:prstGeom>
          <a:solidFill>
            <a:srgbClr val="E53935"/>
          </a:solidFill>
          <a:ln/>
        </p:spPr>
      </p:sp>
      <p:sp>
        <p:nvSpPr>
          <p:cNvPr id="14" name="Text 12"/>
          <p:cNvSpPr/>
          <p:nvPr/>
        </p:nvSpPr>
        <p:spPr>
          <a:xfrm>
            <a:off x="320040" y="3611880"/>
            <a:ext cx="548640" cy="1115568"/>
          </a:xfrm>
          <a:prstGeom prst="rect">
            <a:avLst/>
          </a:prstGeom>
          <a:noFill/>
          <a:ln/>
        </p:spPr>
        <p:txBody>
          <a:bodyPr wrap="square" lIns="0" tIns="0" rIns="0" bIns="0" rtlCol="0" anchor="ctr"/>
          <a:lstStyle/>
          <a:p>
            <a:pPr marL="0" indent="0" algn="ctr">
              <a:buNone/>
            </a:pPr>
            <a:r>
              <a:rPr lang="en-US" sz="1200" b="1" dirty="0">
                <a:solidFill>
                  <a:srgbClr val="FFFFFF"/>
                </a:solidFill>
              </a:rPr>
              <a:t>MYTH</a:t>
            </a:r>
            <a:endParaRPr lang="en-US" sz="1200" dirty="0"/>
          </a:p>
        </p:txBody>
      </p:sp>
      <p:sp>
        <p:nvSpPr>
          <p:cNvPr id="15" name="Text 13"/>
          <p:cNvSpPr/>
          <p:nvPr/>
        </p:nvSpPr>
        <p:spPr>
          <a:xfrm>
            <a:off x="1005840" y="3721608"/>
            <a:ext cx="7680960" cy="914400"/>
          </a:xfrm>
          <a:prstGeom prst="rect">
            <a:avLst/>
          </a:prstGeom>
          <a:noFill/>
          <a:ln/>
        </p:spPr>
        <p:txBody>
          <a:bodyPr wrap="square" rtlCol="0" anchor="ctr"/>
          <a:lstStyle/>
          <a:p>
            <a:pPr marL="0" indent="0">
              <a:buNone/>
            </a:pPr>
            <a:r>
              <a:rPr lang="en-US" sz="1440" b="1" dirty="0">
                <a:solidFill>
                  <a:srgbClr val="E53935"/>
                </a:solidFill>
              </a:rPr>
              <a:t>❌ MYTH: </a:t>
            </a:r>
            <a:r>
              <a:rPr lang="en-US" sz="1440" dirty="0">
                <a:solidFill>
                  <a:srgbClr val="212121"/>
                </a:solidFill>
              </a:rPr>
              <a:t>You shouldn't bathe or wash your hair during your period.</a:t>
            </a:r>
            <a:endParaRPr lang="en-US" sz="1440" dirty="0"/>
          </a:p>
          <a:p>
            <a:pPr marL="0" indent="0">
              <a:buNone/>
            </a:pPr>
            <a:r>
              <a:rPr lang="en-US" sz="1440" b="1" dirty="0">
                <a:solidFill>
                  <a:srgbClr val="388E3C"/>
                </a:solidFill>
              </a:rPr>
              <a:t>✅ FACT: </a:t>
            </a:r>
            <a:r>
              <a:rPr lang="en-US" sz="1440" dirty="0">
                <a:solidFill>
                  <a:srgbClr val="212121"/>
                </a:solidFill>
              </a:rPr>
              <a:t>Bathing is ESSENTIAL every day during your period. It does not affect your flow or cramps — this is a total myth!</a:t>
            </a:r>
            <a:endParaRPr lang="en-US" sz="14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E8EAF6"/>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009688"/>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200" b="1" dirty="0">
                <a:solidFill>
                  <a:srgbClr val="FFFFFF"/>
                </a:solidFill>
              </a:rPr>
              <a:t>🔍  Myths vs Facts</a:t>
            </a:r>
            <a:endParaRPr lang="en-US" sz="3200" dirty="0"/>
          </a:p>
        </p:txBody>
      </p:sp>
      <p:sp>
        <p:nvSpPr>
          <p:cNvPr id="4" name="Shape 2"/>
          <p:cNvSpPr/>
          <p:nvPr/>
        </p:nvSpPr>
        <p:spPr>
          <a:xfrm>
            <a:off x="320040" y="1143000"/>
            <a:ext cx="8503920" cy="1115568"/>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320040" y="1143000"/>
            <a:ext cx="548640" cy="1115568"/>
          </a:xfrm>
          <a:prstGeom prst="rect">
            <a:avLst/>
          </a:prstGeom>
          <a:solidFill>
            <a:srgbClr val="E53935"/>
          </a:solidFill>
          <a:ln/>
        </p:spPr>
      </p:sp>
      <p:sp>
        <p:nvSpPr>
          <p:cNvPr id="6" name="Text 4"/>
          <p:cNvSpPr/>
          <p:nvPr/>
        </p:nvSpPr>
        <p:spPr>
          <a:xfrm>
            <a:off x="320040" y="1143000"/>
            <a:ext cx="548640" cy="1115568"/>
          </a:xfrm>
          <a:prstGeom prst="rect">
            <a:avLst/>
          </a:prstGeom>
          <a:noFill/>
          <a:ln/>
        </p:spPr>
        <p:txBody>
          <a:bodyPr wrap="square" lIns="0" tIns="0" rIns="0" bIns="0" rtlCol="0" anchor="ctr"/>
          <a:lstStyle/>
          <a:p>
            <a:pPr marL="0" indent="0" algn="ctr">
              <a:buNone/>
            </a:pPr>
            <a:r>
              <a:rPr lang="en-US" sz="1200" b="1" dirty="0">
                <a:solidFill>
                  <a:srgbClr val="FFFFFF"/>
                </a:solidFill>
              </a:rPr>
              <a:t>MYTH</a:t>
            </a:r>
            <a:endParaRPr lang="en-US" sz="1200" dirty="0"/>
          </a:p>
        </p:txBody>
      </p:sp>
      <p:sp>
        <p:nvSpPr>
          <p:cNvPr id="7" name="Text 5"/>
          <p:cNvSpPr/>
          <p:nvPr/>
        </p:nvSpPr>
        <p:spPr>
          <a:xfrm>
            <a:off x="1005840" y="1252728"/>
            <a:ext cx="7680960" cy="914400"/>
          </a:xfrm>
          <a:prstGeom prst="rect">
            <a:avLst/>
          </a:prstGeom>
          <a:noFill/>
          <a:ln/>
        </p:spPr>
        <p:txBody>
          <a:bodyPr wrap="square" rtlCol="0" anchor="ctr"/>
          <a:lstStyle/>
          <a:p>
            <a:pPr marL="0" indent="0">
              <a:buNone/>
            </a:pPr>
            <a:r>
              <a:rPr lang="en-US" sz="1440" b="1" dirty="0">
                <a:solidFill>
                  <a:srgbClr val="E53935"/>
                </a:solidFill>
              </a:rPr>
              <a:t>❌ MYTH: </a:t>
            </a:r>
            <a:r>
              <a:rPr lang="en-US" sz="1440" dirty="0">
                <a:solidFill>
                  <a:srgbClr val="212121"/>
                </a:solidFill>
              </a:rPr>
              <a:t>Touching food or plants during your period harms them.</a:t>
            </a:r>
            <a:endParaRPr lang="en-US" sz="1440" dirty="0"/>
          </a:p>
          <a:p>
            <a:pPr marL="0" indent="0">
              <a:buNone/>
            </a:pPr>
            <a:r>
              <a:rPr lang="en-US" sz="1440" b="1" dirty="0">
                <a:solidFill>
                  <a:srgbClr val="388E3C"/>
                </a:solidFill>
              </a:rPr>
              <a:t>✅ FACT: </a:t>
            </a:r>
            <a:r>
              <a:rPr lang="en-US" sz="1440" dirty="0">
                <a:solidFill>
                  <a:srgbClr val="212121"/>
                </a:solidFill>
              </a:rPr>
              <a:t>Menstruating girls do NOT harm food, plants, or religious activities. There is ZERO scientific basis for this belief.</a:t>
            </a:r>
            <a:endParaRPr lang="en-US" sz="1440" dirty="0"/>
          </a:p>
        </p:txBody>
      </p:sp>
      <p:sp>
        <p:nvSpPr>
          <p:cNvPr id="8" name="Shape 6"/>
          <p:cNvSpPr/>
          <p:nvPr/>
        </p:nvSpPr>
        <p:spPr>
          <a:xfrm>
            <a:off x="320040" y="2377440"/>
            <a:ext cx="8503920" cy="1115568"/>
          </a:xfrm>
          <a:prstGeom prst="rect">
            <a:avLst/>
          </a:prstGeom>
          <a:solidFill>
            <a:srgbClr val="FFFFFF"/>
          </a:solidFill>
          <a:ln/>
          <a:effectLst>
            <a:outerShdw blurRad="101600" dist="38100" dir="8100000" algn="bl" rotWithShape="0">
              <a:srgbClr val="000000">
                <a:alpha val="10000"/>
              </a:srgbClr>
            </a:outerShdw>
          </a:effectLst>
        </p:spPr>
      </p:sp>
      <p:sp>
        <p:nvSpPr>
          <p:cNvPr id="9" name="Shape 7"/>
          <p:cNvSpPr/>
          <p:nvPr/>
        </p:nvSpPr>
        <p:spPr>
          <a:xfrm>
            <a:off x="320040" y="2377440"/>
            <a:ext cx="548640" cy="1115568"/>
          </a:xfrm>
          <a:prstGeom prst="rect">
            <a:avLst/>
          </a:prstGeom>
          <a:solidFill>
            <a:srgbClr val="E53935"/>
          </a:solidFill>
          <a:ln/>
        </p:spPr>
      </p:sp>
      <p:sp>
        <p:nvSpPr>
          <p:cNvPr id="10" name="Text 8"/>
          <p:cNvSpPr/>
          <p:nvPr/>
        </p:nvSpPr>
        <p:spPr>
          <a:xfrm>
            <a:off x="320040" y="2377440"/>
            <a:ext cx="548640" cy="1115568"/>
          </a:xfrm>
          <a:prstGeom prst="rect">
            <a:avLst/>
          </a:prstGeom>
          <a:noFill/>
          <a:ln/>
        </p:spPr>
        <p:txBody>
          <a:bodyPr wrap="square" lIns="0" tIns="0" rIns="0" bIns="0" rtlCol="0" anchor="ctr"/>
          <a:lstStyle/>
          <a:p>
            <a:pPr marL="0" indent="0" algn="ctr">
              <a:buNone/>
            </a:pPr>
            <a:r>
              <a:rPr lang="en-US" sz="1200" b="1" dirty="0">
                <a:solidFill>
                  <a:srgbClr val="FFFFFF"/>
                </a:solidFill>
              </a:rPr>
              <a:t>MYTH</a:t>
            </a:r>
            <a:endParaRPr lang="en-US" sz="1200" dirty="0"/>
          </a:p>
        </p:txBody>
      </p:sp>
      <p:sp>
        <p:nvSpPr>
          <p:cNvPr id="11" name="Text 9"/>
          <p:cNvSpPr/>
          <p:nvPr/>
        </p:nvSpPr>
        <p:spPr>
          <a:xfrm>
            <a:off x="1005840" y="2487168"/>
            <a:ext cx="7680960" cy="914400"/>
          </a:xfrm>
          <a:prstGeom prst="rect">
            <a:avLst/>
          </a:prstGeom>
          <a:noFill/>
          <a:ln/>
        </p:spPr>
        <p:txBody>
          <a:bodyPr wrap="square" rtlCol="0" anchor="ctr"/>
          <a:lstStyle/>
          <a:p>
            <a:pPr marL="0" indent="0">
              <a:buNone/>
            </a:pPr>
            <a:r>
              <a:rPr lang="en-US" sz="1440" b="1" dirty="0">
                <a:solidFill>
                  <a:srgbClr val="E53935"/>
                </a:solidFill>
              </a:rPr>
              <a:t>❌ MYTH: </a:t>
            </a:r>
            <a:r>
              <a:rPr lang="en-US" sz="1440" dirty="0">
                <a:solidFill>
                  <a:srgbClr val="212121"/>
                </a:solidFill>
              </a:rPr>
              <a:t>You should not exercise or play sports during your period.</a:t>
            </a:r>
            <a:endParaRPr lang="en-US" sz="1440" dirty="0"/>
          </a:p>
          <a:p>
            <a:pPr marL="0" indent="0">
              <a:buNone/>
            </a:pPr>
            <a:r>
              <a:rPr lang="en-US" sz="1440" b="1" dirty="0">
                <a:solidFill>
                  <a:srgbClr val="388E3C"/>
                </a:solidFill>
              </a:rPr>
              <a:t>✅ FACT: </a:t>
            </a:r>
            <a:r>
              <a:rPr lang="en-US" sz="1440" dirty="0">
                <a:solidFill>
                  <a:srgbClr val="212121"/>
                </a:solidFill>
              </a:rPr>
              <a:t>Exercise is absolutely FINE during your period! In fact, light activity like walking or stretching helps reduce cramps and improves your mood.</a:t>
            </a:r>
            <a:endParaRPr lang="en-US" sz="1440" dirty="0"/>
          </a:p>
        </p:txBody>
      </p:sp>
      <p:sp>
        <p:nvSpPr>
          <p:cNvPr id="12" name="Shape 10"/>
          <p:cNvSpPr/>
          <p:nvPr/>
        </p:nvSpPr>
        <p:spPr>
          <a:xfrm>
            <a:off x="320040" y="3611880"/>
            <a:ext cx="8503920" cy="1115568"/>
          </a:xfrm>
          <a:prstGeom prst="rect">
            <a:avLst/>
          </a:prstGeom>
          <a:solidFill>
            <a:srgbClr val="FFFFFF"/>
          </a:solidFill>
          <a:ln/>
          <a:effectLst>
            <a:outerShdw blurRad="101600" dist="38100" dir="8100000" algn="bl" rotWithShape="0">
              <a:srgbClr val="000000">
                <a:alpha val="10000"/>
              </a:srgbClr>
            </a:outerShdw>
          </a:effectLst>
        </p:spPr>
      </p:sp>
      <p:sp>
        <p:nvSpPr>
          <p:cNvPr id="13" name="Shape 11"/>
          <p:cNvSpPr/>
          <p:nvPr/>
        </p:nvSpPr>
        <p:spPr>
          <a:xfrm>
            <a:off x="320040" y="3611880"/>
            <a:ext cx="548640" cy="1115568"/>
          </a:xfrm>
          <a:prstGeom prst="rect">
            <a:avLst/>
          </a:prstGeom>
          <a:solidFill>
            <a:srgbClr val="E53935"/>
          </a:solidFill>
          <a:ln/>
        </p:spPr>
      </p:sp>
      <p:sp>
        <p:nvSpPr>
          <p:cNvPr id="14" name="Text 12"/>
          <p:cNvSpPr/>
          <p:nvPr/>
        </p:nvSpPr>
        <p:spPr>
          <a:xfrm>
            <a:off x="320040" y="3611880"/>
            <a:ext cx="548640" cy="1115568"/>
          </a:xfrm>
          <a:prstGeom prst="rect">
            <a:avLst/>
          </a:prstGeom>
          <a:noFill/>
          <a:ln/>
        </p:spPr>
        <p:txBody>
          <a:bodyPr wrap="square" lIns="0" tIns="0" rIns="0" bIns="0" rtlCol="0" anchor="ctr"/>
          <a:lstStyle/>
          <a:p>
            <a:pPr marL="0" indent="0" algn="ctr">
              <a:buNone/>
            </a:pPr>
            <a:r>
              <a:rPr lang="en-US" sz="1200" b="1" dirty="0">
                <a:solidFill>
                  <a:srgbClr val="FFFFFF"/>
                </a:solidFill>
              </a:rPr>
              <a:t>MYTH</a:t>
            </a:r>
            <a:endParaRPr lang="en-US" sz="1200" dirty="0"/>
          </a:p>
        </p:txBody>
      </p:sp>
      <p:sp>
        <p:nvSpPr>
          <p:cNvPr id="15" name="Text 13"/>
          <p:cNvSpPr/>
          <p:nvPr/>
        </p:nvSpPr>
        <p:spPr>
          <a:xfrm>
            <a:off x="1005840" y="3721608"/>
            <a:ext cx="7680960" cy="914400"/>
          </a:xfrm>
          <a:prstGeom prst="rect">
            <a:avLst/>
          </a:prstGeom>
          <a:noFill/>
          <a:ln/>
        </p:spPr>
        <p:txBody>
          <a:bodyPr wrap="square" rtlCol="0" anchor="ctr"/>
          <a:lstStyle/>
          <a:p>
            <a:pPr marL="0" indent="0">
              <a:buNone/>
            </a:pPr>
            <a:r>
              <a:rPr lang="en-US" sz="1440" b="1" dirty="0">
                <a:solidFill>
                  <a:srgbClr val="E53935"/>
                </a:solidFill>
              </a:rPr>
              <a:t>❌ MYTH: </a:t>
            </a:r>
            <a:r>
              <a:rPr lang="en-US" sz="1440" dirty="0">
                <a:solidFill>
                  <a:srgbClr val="212121"/>
                </a:solidFill>
              </a:rPr>
              <a:t>Period blood is dirty or infected blood.</a:t>
            </a:r>
            <a:endParaRPr lang="en-US" sz="1440" dirty="0"/>
          </a:p>
          <a:p>
            <a:pPr marL="0" indent="0">
              <a:buNone/>
            </a:pPr>
            <a:r>
              <a:rPr lang="en-US" sz="1440" b="1" dirty="0">
                <a:solidFill>
                  <a:srgbClr val="388E3C"/>
                </a:solidFill>
              </a:rPr>
              <a:t>✅ FACT: </a:t>
            </a:r>
            <a:r>
              <a:rPr lang="en-US" sz="1440" dirty="0">
                <a:solidFill>
                  <a:srgbClr val="212121"/>
                </a:solidFill>
              </a:rPr>
              <a:t>Menstrual blood is the normal lining of the uterus mixed with blood. It is normal body tissue — not dirty or infected at all!</a:t>
            </a:r>
            <a:endParaRPr lang="en-US" sz="14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DE8F5"/>
        </a:solidFill>
        <a:effectLst/>
      </p:bgPr>
    </p:bg>
    <p:spTree>
      <p:nvGrpSpPr>
        <p:cNvPr id="1" name=""/>
        <p:cNvGrpSpPr/>
        <p:nvPr/>
      </p:nvGrpSpPr>
      <p:grpSpPr>
        <a:xfrm>
          <a:off x="0" y="0"/>
          <a:ext cx="0" cy="0"/>
          <a:chOff x="0" y="0"/>
          <a:chExt cx="0" cy="0"/>
        </a:xfrm>
      </p:grpSpPr>
      <p:sp>
        <p:nvSpPr>
          <p:cNvPr id="2" name="HeaderBar"/>
          <p:cNvSpPr/>
          <p:nvPr/>
        </p:nvSpPr>
        <p:spPr>
          <a:xfrm>
            <a:off x="274320" y="137160"/>
            <a:ext cx="8595360" cy="822960"/>
          </a:xfrm>
          <a:prstGeom prst="rect">
            <a:avLst/>
          </a:prstGeom>
          <a:solidFill>
            <a:srgbClr val="C2185B"/>
          </a:solidFill>
          <a:ln/>
        </p:spPr>
      </p:sp>
      <p:sp>
        <p:nvSpPr>
          <p:cNvPr id="3" name="HeaderText"/>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600" b="1" dirty="0">
                <a:solidFill>
                  <a:srgbClr val="FFFFFF"/>
                </a:solidFill>
              </a:rPr>
              <a:t>🏛️  Government </a:t>
            </a:r>
            <a:r>
              <a:rPr lang="en-US" sz="2600" b="1" dirty="0" err="1">
                <a:solidFill>
                  <a:srgbClr val="FFFFFF"/>
                </a:solidFill>
              </a:rPr>
              <a:t>Programmes</a:t>
            </a:r>
            <a:endParaRPr lang="en-US" sz="2600" b="1" dirty="0">
              <a:solidFill>
                <a:srgbClr val="FFFFFF"/>
              </a:solidFill>
            </a:endParaRPr>
          </a:p>
        </p:txBody>
      </p:sp>
      <p:sp>
        <p:nvSpPr>
          <p:cNvPr id="4" name="Card1Bg"/>
          <p:cNvSpPr/>
          <p:nvPr/>
        </p:nvSpPr>
        <p:spPr>
          <a:xfrm>
            <a:off x="320040" y="1097280"/>
            <a:ext cx="8503920" cy="1645920"/>
          </a:xfrm>
          <a:prstGeom prst="rect">
            <a:avLst/>
          </a:prstGeom>
          <a:solidFill>
            <a:srgbClr val="FFFFFF"/>
          </a:solidFill>
          <a:ln>
            <a:solidFill>
              <a:srgbClr val="F8BBD9"/>
            </a:solidFill>
          </a:ln>
          <a:effectLst>
            <a:outerShdw blurRad="101600" dist="38100" dir="8100000" rotWithShape="0">
              <a:srgbClr val="000000">
                <a:alpha val="8000"/>
              </a:srgbClr>
            </a:outerShdw>
          </a:effectLst>
        </p:spPr>
      </p:sp>
      <p:sp>
        <p:nvSpPr>
          <p:cNvPr id="5" name="Card1Accent"/>
          <p:cNvSpPr/>
          <p:nvPr/>
        </p:nvSpPr>
        <p:spPr>
          <a:xfrm>
            <a:off x="320040" y="1097280"/>
            <a:ext cx="8503920" cy="411480"/>
          </a:xfrm>
          <a:prstGeom prst="rect">
            <a:avLst/>
          </a:prstGeom>
          <a:solidFill>
            <a:srgbClr val="E91E8C"/>
          </a:solidFill>
          <a:ln/>
        </p:spPr>
      </p:sp>
      <p:sp>
        <p:nvSpPr>
          <p:cNvPr id="6" name="Card1Title"/>
          <p:cNvSpPr/>
          <p:nvPr/>
        </p:nvSpPr>
        <p:spPr>
          <a:xfrm>
            <a:off x="320040" y="109728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RKSK — Rashtriya Kishor Swasthya Karyakram</a:t>
            </a:r>
          </a:p>
        </p:txBody>
      </p:sp>
      <p:sp>
        <p:nvSpPr>
          <p:cNvPr id="7" name="Card1Text"/>
          <p:cNvSpPr/>
          <p:nvPr/>
        </p:nvSpPr>
        <p:spPr>
          <a:xfrm>
            <a:off x="502920" y="1553760"/>
            <a:ext cx="8139240" cy="1143720"/>
          </a:xfrm>
          <a:prstGeom prst="rect">
            <a:avLst/>
          </a:prstGeom>
          <a:noFill/>
          <a:ln/>
        </p:spPr>
        <p:txBody>
          <a:bodyPr wrap="square" rtlCol="0" anchor="ctr"/>
          <a:lstStyle/>
          <a:p>
            <a:pPr marL="0" indent="0">
              <a:buNone/>
            </a:pPr>
            <a:r>
              <a:rPr lang="en-US" sz="1440" dirty="0">
                <a:solidFill>
                  <a:srgbClr val="4A148C"/>
                </a:solidFill>
              </a:rPr>
              <a:t>A national programme for adolescent health (ages 10-19). RKSK provides free sanitary pads to girls through schools, ASHA workers, and health centres across India. It also covers nutrition, mental health, and reproductive awareness, supporting girls holistically.</a:t>
            </a:r>
          </a:p>
        </p:txBody>
      </p:sp>
      <p:sp>
        <p:nvSpPr>
          <p:cNvPr id="8" name="Card2Bg"/>
          <p:cNvSpPr/>
          <p:nvPr/>
        </p:nvSpPr>
        <p:spPr>
          <a:xfrm>
            <a:off x="320040" y="2880360"/>
            <a:ext cx="8503920" cy="1737360"/>
          </a:xfrm>
          <a:prstGeom prst="rect">
            <a:avLst/>
          </a:prstGeom>
          <a:solidFill>
            <a:srgbClr val="FFFFFF"/>
          </a:solidFill>
          <a:ln>
            <a:solidFill>
              <a:srgbClr val="B3E5FC"/>
            </a:solidFill>
          </a:ln>
          <a:effectLst>
            <a:outerShdw blurRad="101600" dist="38100" dir="8100000" rotWithShape="0">
              <a:srgbClr val="000000">
                <a:alpha val="8000"/>
              </a:srgbClr>
            </a:outerShdw>
          </a:effectLst>
        </p:spPr>
      </p:sp>
      <p:sp>
        <p:nvSpPr>
          <p:cNvPr id="9" name="Card2Accent"/>
          <p:cNvSpPr/>
          <p:nvPr/>
        </p:nvSpPr>
        <p:spPr>
          <a:xfrm>
            <a:off x="320040" y="2880360"/>
            <a:ext cx="8503920" cy="411480"/>
          </a:xfrm>
          <a:prstGeom prst="rect">
            <a:avLst/>
          </a:prstGeom>
          <a:solidFill>
            <a:srgbClr val="0288D1"/>
          </a:solidFill>
          <a:ln/>
        </p:spPr>
      </p:sp>
      <p:sp>
        <p:nvSpPr>
          <p:cNvPr id="10" name="Card2Title"/>
          <p:cNvSpPr/>
          <p:nvPr/>
        </p:nvSpPr>
        <p:spPr>
          <a:xfrm>
            <a:off x="320040" y="288036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MHM in Schools — Swachh Bharat Mission</a:t>
            </a:r>
          </a:p>
        </p:txBody>
      </p:sp>
      <p:sp>
        <p:nvSpPr>
          <p:cNvPr id="11" name="Card2Text"/>
          <p:cNvSpPr/>
          <p:nvPr/>
        </p:nvSpPr>
        <p:spPr>
          <a:xfrm>
            <a:off x="502920" y="3336840"/>
            <a:ext cx="8139240" cy="1235160"/>
          </a:xfrm>
          <a:prstGeom prst="rect">
            <a:avLst/>
          </a:prstGeom>
          <a:noFill/>
          <a:ln/>
        </p:spPr>
        <p:txBody>
          <a:bodyPr wrap="square" rtlCol="0" anchor="ctr"/>
          <a:lstStyle/>
          <a:p>
            <a:pPr marL="0" indent="0">
              <a:buNone/>
            </a:pPr>
            <a:r>
              <a:rPr lang="en-US" sz="1440" dirty="0">
                <a:solidFill>
                  <a:srgbClr val="01579B"/>
                </a:solidFill>
              </a:rPr>
              <a:t>Under the Swachh Bharat Mission, the government mandates separate, clean toilets for girls in all schools. Schools must have incinerators or sealed disposal bins for used pads. Menstrual hygiene education is integrated into the school curriculum nationwide.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b">
    <p:bg>
      <p:bgPr>
        <a:solidFill>
          <a:srgbClr val="E8F4FD"/>
        </a:solidFill>
        <a:effectLst/>
      </p:bgPr>
    </p:bg>
    <p:spTree>
      <p:nvGrpSpPr>
        <p:cNvPr id="1" name=""/>
        <p:cNvGrpSpPr/>
        <p:nvPr/>
      </p:nvGrpSpPr>
      <p:grpSpPr>
        <a:xfrm>
          <a:off x="0" y="0"/>
          <a:ext cx="0" cy="0"/>
          <a:chOff x="0" y="0"/>
          <a:chExt cx="0" cy="0"/>
        </a:xfrm>
      </p:grpSpPr>
      <p:sp>
        <p:nvSpPr>
          <p:cNvPr id="2" name="HeaderBar"/>
          <p:cNvSpPr/>
          <p:nvPr/>
        </p:nvSpPr>
        <p:spPr>
          <a:xfrm>
            <a:off x="274320" y="137160"/>
            <a:ext cx="8595360" cy="822960"/>
          </a:xfrm>
          <a:prstGeom prst="rect">
            <a:avLst/>
          </a:prstGeom>
          <a:solidFill>
            <a:srgbClr val="388E3C"/>
          </a:solidFill>
          <a:ln/>
        </p:spPr>
      </p:sp>
      <p:sp>
        <p:nvSpPr>
          <p:cNvPr id="3" name="HeaderText"/>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600" b="1" dirty="0">
                <a:solidFill>
                  <a:srgbClr val="FFFFFF"/>
                </a:solidFill>
              </a:rPr>
              <a:t>🏛️  Government </a:t>
            </a:r>
            <a:r>
              <a:rPr lang="en-US" sz="2600" b="1" dirty="0" err="1">
                <a:solidFill>
                  <a:srgbClr val="FFFFFF"/>
                </a:solidFill>
              </a:rPr>
              <a:t>Programmes</a:t>
            </a:r>
            <a:endParaRPr lang="en-US" sz="2600" b="1" dirty="0">
              <a:solidFill>
                <a:srgbClr val="FFFFFF"/>
              </a:solidFill>
            </a:endParaRPr>
          </a:p>
        </p:txBody>
      </p:sp>
      <p:sp>
        <p:nvSpPr>
          <p:cNvPr id="4" name="Card1Bg"/>
          <p:cNvSpPr/>
          <p:nvPr/>
        </p:nvSpPr>
        <p:spPr>
          <a:xfrm>
            <a:off x="320040" y="1097280"/>
            <a:ext cx="8503920" cy="1645920"/>
          </a:xfrm>
          <a:prstGeom prst="rect">
            <a:avLst/>
          </a:prstGeom>
          <a:solidFill>
            <a:srgbClr val="FFFFFF"/>
          </a:solidFill>
          <a:ln>
            <a:solidFill>
              <a:srgbClr val="C8E6C9"/>
            </a:solidFill>
          </a:ln>
          <a:effectLst>
            <a:outerShdw blurRad="101600" dist="38100" dir="8100000" rotWithShape="0">
              <a:srgbClr val="000000">
                <a:alpha val="8000"/>
              </a:srgbClr>
            </a:outerShdw>
          </a:effectLst>
        </p:spPr>
      </p:sp>
      <p:sp>
        <p:nvSpPr>
          <p:cNvPr id="5" name="Card1Accent"/>
          <p:cNvSpPr/>
          <p:nvPr/>
        </p:nvSpPr>
        <p:spPr>
          <a:xfrm>
            <a:off x="320040" y="1097280"/>
            <a:ext cx="8503920" cy="411480"/>
          </a:xfrm>
          <a:prstGeom prst="rect">
            <a:avLst/>
          </a:prstGeom>
          <a:solidFill>
            <a:srgbClr val="388E3C"/>
          </a:solidFill>
          <a:ln/>
        </p:spPr>
      </p:sp>
      <p:sp>
        <p:nvSpPr>
          <p:cNvPr id="6" name="Card1Title"/>
          <p:cNvSpPr/>
          <p:nvPr/>
        </p:nvSpPr>
        <p:spPr>
          <a:xfrm>
            <a:off x="320040" y="109728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Suvidha — Affordable Pad Scheme</a:t>
            </a:r>
          </a:p>
        </p:txBody>
      </p:sp>
      <p:sp>
        <p:nvSpPr>
          <p:cNvPr id="7" name="Card1Text"/>
          <p:cNvSpPr/>
          <p:nvPr/>
        </p:nvSpPr>
        <p:spPr>
          <a:xfrm>
            <a:off x="502920" y="1553760"/>
            <a:ext cx="8139240" cy="1143720"/>
          </a:xfrm>
          <a:prstGeom prst="rect">
            <a:avLst/>
          </a:prstGeom>
          <a:noFill/>
          <a:ln/>
        </p:spPr>
        <p:txBody>
          <a:bodyPr wrap="square" rtlCol="0" anchor="ctr"/>
          <a:lstStyle/>
          <a:p>
            <a:pPr marL="0" indent="0">
              <a:buNone/>
            </a:pPr>
            <a:r>
              <a:rPr lang="en-US" sz="1440" dirty="0">
                <a:solidFill>
                  <a:srgbClr val="1B5E20"/>
                </a:solidFill>
              </a:rPr>
              <a:t>The Government of India launched Suvidha sanitary pads under the Pradhan Mantri Bhartiya Janaushadhi Pariyojana. These pads are sold at just Rs.1 per pad at Jan Aushadhi Kendras (government-run generic medicine stores), making safe menstrual hygiene affordable for every girl and woman.</a:t>
            </a:r>
          </a:p>
        </p:txBody>
      </p:sp>
      <p:sp>
        <p:nvSpPr>
          <p:cNvPr id="8" name="Card2Bg"/>
          <p:cNvSpPr/>
          <p:nvPr/>
        </p:nvSpPr>
        <p:spPr>
          <a:xfrm>
            <a:off x="320040" y="2880360"/>
            <a:ext cx="8503920" cy="1737360"/>
          </a:xfrm>
          <a:prstGeom prst="rect">
            <a:avLst/>
          </a:prstGeom>
          <a:solidFill>
            <a:srgbClr val="FFFFFF"/>
          </a:solidFill>
          <a:ln>
            <a:solidFill>
              <a:srgbClr val="FFE0B2"/>
            </a:solidFill>
          </a:ln>
          <a:effectLst>
            <a:outerShdw blurRad="101600" dist="38100" dir="8100000" rotWithShape="0">
              <a:srgbClr val="000000">
                <a:alpha val="8000"/>
              </a:srgbClr>
            </a:outerShdw>
          </a:effectLst>
        </p:spPr>
      </p:sp>
      <p:sp>
        <p:nvSpPr>
          <p:cNvPr id="9" name="Card2Accent"/>
          <p:cNvSpPr/>
          <p:nvPr/>
        </p:nvSpPr>
        <p:spPr>
          <a:xfrm>
            <a:off x="320040" y="2880360"/>
            <a:ext cx="8503920" cy="411480"/>
          </a:xfrm>
          <a:prstGeom prst="rect">
            <a:avLst/>
          </a:prstGeom>
          <a:solidFill>
            <a:srgbClr val="E65100"/>
          </a:solidFill>
          <a:ln/>
        </p:spPr>
      </p:sp>
      <p:sp>
        <p:nvSpPr>
          <p:cNvPr id="10" name="Card2Title"/>
          <p:cNvSpPr/>
          <p:nvPr/>
        </p:nvSpPr>
        <p:spPr>
          <a:xfrm>
            <a:off x="320040" y="288036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SABLA &amp; POSHAN Abhiyaan</a:t>
            </a:r>
          </a:p>
        </p:txBody>
      </p:sp>
      <p:sp>
        <p:nvSpPr>
          <p:cNvPr id="11" name="Card2Text"/>
          <p:cNvSpPr/>
          <p:nvPr/>
        </p:nvSpPr>
        <p:spPr>
          <a:xfrm>
            <a:off x="502920" y="3336840"/>
            <a:ext cx="8139240" cy="1235160"/>
          </a:xfrm>
          <a:prstGeom prst="rect">
            <a:avLst/>
          </a:prstGeom>
          <a:noFill/>
          <a:ln/>
        </p:spPr>
        <p:txBody>
          <a:bodyPr wrap="square" rtlCol="0" anchor="ctr"/>
          <a:lstStyle/>
          <a:p>
            <a:pPr marL="0" indent="0">
              <a:buNone/>
            </a:pPr>
            <a:r>
              <a:rPr lang="en-US" sz="1440" dirty="0">
                <a:solidFill>
                  <a:srgbClr val="BF360C"/>
                </a:solidFill>
              </a:rPr>
              <a:t>SABLA (Rajiv Gandhi Scheme) empowers adolescent girls with health, nutrition, and life-skills education including menstrual hygiene. POSHAN Abhiyaan promotes overall wellbeing of women and girls. Both schemes distribute materials and conduct awareness sessions via Anganwadi centres.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E3F2FD"/>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E65100"/>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It's Okay to Talk About Periods!</a:t>
            </a:r>
            <a:endParaRPr lang="en-US" sz="3120" dirty="0"/>
          </a:p>
        </p:txBody>
      </p:sp>
      <p:sp>
        <p:nvSpPr>
          <p:cNvPr id="4" name="Shape 2"/>
          <p:cNvSpPr/>
          <p:nvPr/>
        </p:nvSpPr>
        <p:spPr>
          <a:xfrm>
            <a:off x="320040" y="1097280"/>
            <a:ext cx="8503920" cy="109728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02920" y="1188720"/>
            <a:ext cx="8229600" cy="868680"/>
          </a:xfrm>
          <a:prstGeom prst="rect">
            <a:avLst/>
          </a:prstGeom>
          <a:noFill/>
          <a:ln/>
        </p:spPr>
        <p:txBody>
          <a:bodyPr wrap="square" rtlCol="0" anchor="ctr"/>
          <a:lstStyle/>
          <a:p>
            <a:pPr marL="0" indent="0">
              <a:buNone/>
            </a:pPr>
            <a:r>
              <a:rPr lang="en-US" sz="1680" dirty="0">
                <a:solidFill>
                  <a:srgbClr val="212121"/>
                </a:solidFill>
              </a:rPr>
              <a:t>Periods are nothing to be embarrassed about! In fact, talking openly with trusted people helps you get support, answers, and the products you need. Here's who you can talk to:</a:t>
            </a:r>
            <a:endParaRPr lang="en-US" sz="1680" dirty="0"/>
          </a:p>
        </p:txBody>
      </p:sp>
      <p:sp>
        <p:nvSpPr>
          <p:cNvPr id="6" name="Shape 4"/>
          <p:cNvSpPr/>
          <p:nvPr/>
        </p:nvSpPr>
        <p:spPr>
          <a:xfrm>
            <a:off x="320040" y="2377440"/>
            <a:ext cx="4206240" cy="1188720"/>
          </a:xfrm>
          <a:prstGeom prst="rect">
            <a:avLst/>
          </a:prstGeom>
          <a:solidFill>
            <a:srgbClr val="FFFFFF"/>
          </a:solidFill>
          <a:ln/>
          <a:effectLst>
            <a:outerShdw blurRad="101600" dist="38100" dir="8100000" algn="bl" rotWithShape="0">
              <a:srgbClr val="000000">
                <a:alpha val="10000"/>
              </a:srgbClr>
            </a:outerShdw>
          </a:effectLst>
        </p:spPr>
      </p:sp>
      <p:sp>
        <p:nvSpPr>
          <p:cNvPr id="7" name="Shape 5"/>
          <p:cNvSpPr/>
          <p:nvPr/>
        </p:nvSpPr>
        <p:spPr>
          <a:xfrm>
            <a:off x="320040" y="2377440"/>
            <a:ext cx="4206240" cy="402336"/>
          </a:xfrm>
          <a:prstGeom prst="rect">
            <a:avLst/>
          </a:prstGeom>
          <a:solidFill>
            <a:srgbClr val="E65100"/>
          </a:solidFill>
          <a:ln/>
        </p:spPr>
      </p:sp>
      <p:sp>
        <p:nvSpPr>
          <p:cNvPr id="8" name="Text 6"/>
          <p:cNvSpPr/>
          <p:nvPr/>
        </p:nvSpPr>
        <p:spPr>
          <a:xfrm>
            <a:off x="320040" y="2377440"/>
            <a:ext cx="4206240" cy="402336"/>
          </a:xfrm>
          <a:prstGeom prst="rect">
            <a:avLst/>
          </a:prstGeom>
          <a:noFill/>
          <a:ln/>
        </p:spPr>
        <p:txBody>
          <a:bodyPr wrap="square" lIns="0" tIns="0" rIns="0" bIns="0" rtlCol="0" anchor="ctr"/>
          <a:lstStyle/>
          <a:p>
            <a:pPr marL="0" indent="0" algn="ctr">
              <a:buNone/>
            </a:pPr>
            <a:r>
              <a:rPr lang="en-US" sz="1440" b="1" dirty="0">
                <a:solidFill>
                  <a:srgbClr val="FFFFFF"/>
                </a:solidFill>
              </a:rPr>
              <a:t>👩‍👧  Your Mother or Grandmother</a:t>
            </a:r>
            <a:endParaRPr lang="en-US" sz="1440" dirty="0"/>
          </a:p>
        </p:txBody>
      </p:sp>
      <p:sp>
        <p:nvSpPr>
          <p:cNvPr id="9" name="Text 7"/>
          <p:cNvSpPr/>
          <p:nvPr/>
        </p:nvSpPr>
        <p:spPr>
          <a:xfrm>
            <a:off x="457200" y="2834640"/>
            <a:ext cx="3931920" cy="685800"/>
          </a:xfrm>
          <a:prstGeom prst="rect">
            <a:avLst/>
          </a:prstGeom>
          <a:noFill/>
          <a:ln/>
        </p:spPr>
        <p:txBody>
          <a:bodyPr wrap="square" rtlCol="0" anchor="ctr"/>
          <a:lstStyle/>
          <a:p>
            <a:pPr marL="0" indent="0">
              <a:buNone/>
            </a:pPr>
            <a:r>
              <a:rPr lang="en-US" sz="1320" dirty="0">
                <a:solidFill>
                  <a:srgbClr val="212121"/>
                </a:solidFill>
              </a:rPr>
              <a:t>They have experience and can share how they managed. Don't feel shy — they went through the same thing!</a:t>
            </a:r>
            <a:endParaRPr lang="en-US" sz="1320" dirty="0"/>
          </a:p>
        </p:txBody>
      </p:sp>
      <p:sp>
        <p:nvSpPr>
          <p:cNvPr id="10" name="Shape 8"/>
          <p:cNvSpPr/>
          <p:nvPr/>
        </p:nvSpPr>
        <p:spPr>
          <a:xfrm>
            <a:off x="4709160" y="2377440"/>
            <a:ext cx="4206240" cy="1188720"/>
          </a:xfrm>
          <a:prstGeom prst="rect">
            <a:avLst/>
          </a:prstGeom>
          <a:solidFill>
            <a:srgbClr val="FFFFFF"/>
          </a:solidFill>
          <a:ln/>
          <a:effectLst>
            <a:outerShdw blurRad="101600" dist="38100" dir="8100000" algn="bl" rotWithShape="0">
              <a:srgbClr val="000000">
                <a:alpha val="10000"/>
              </a:srgbClr>
            </a:outerShdw>
          </a:effectLst>
        </p:spPr>
      </p:sp>
      <p:sp>
        <p:nvSpPr>
          <p:cNvPr id="11" name="Shape 9"/>
          <p:cNvSpPr/>
          <p:nvPr/>
        </p:nvSpPr>
        <p:spPr>
          <a:xfrm>
            <a:off x="4709160" y="2377440"/>
            <a:ext cx="4206240" cy="402336"/>
          </a:xfrm>
          <a:prstGeom prst="rect">
            <a:avLst/>
          </a:prstGeom>
          <a:solidFill>
            <a:srgbClr val="E65100"/>
          </a:solidFill>
          <a:ln/>
        </p:spPr>
      </p:sp>
      <p:sp>
        <p:nvSpPr>
          <p:cNvPr id="12" name="Text 10"/>
          <p:cNvSpPr/>
          <p:nvPr/>
        </p:nvSpPr>
        <p:spPr>
          <a:xfrm>
            <a:off x="4709160" y="2377440"/>
            <a:ext cx="4206240" cy="402336"/>
          </a:xfrm>
          <a:prstGeom prst="rect">
            <a:avLst/>
          </a:prstGeom>
          <a:noFill/>
          <a:ln/>
        </p:spPr>
        <p:txBody>
          <a:bodyPr wrap="square" lIns="0" tIns="0" rIns="0" bIns="0" rtlCol="0" anchor="ctr"/>
          <a:lstStyle/>
          <a:p>
            <a:pPr marL="0" indent="0" algn="ctr">
              <a:buNone/>
            </a:pPr>
            <a:r>
              <a:rPr lang="en-US" sz="1440" b="1" dirty="0">
                <a:solidFill>
                  <a:srgbClr val="FFFFFF"/>
                </a:solidFill>
              </a:rPr>
              <a:t>👩‍🏫  Your Female Teacher</a:t>
            </a:r>
            <a:endParaRPr lang="en-US" sz="1440" dirty="0"/>
          </a:p>
        </p:txBody>
      </p:sp>
      <p:sp>
        <p:nvSpPr>
          <p:cNvPr id="13" name="Text 11"/>
          <p:cNvSpPr/>
          <p:nvPr/>
        </p:nvSpPr>
        <p:spPr>
          <a:xfrm>
            <a:off x="4846320" y="2834640"/>
            <a:ext cx="3931920" cy="685800"/>
          </a:xfrm>
          <a:prstGeom prst="rect">
            <a:avLst/>
          </a:prstGeom>
          <a:noFill/>
          <a:ln/>
        </p:spPr>
        <p:txBody>
          <a:bodyPr wrap="square" rtlCol="0" anchor="ctr"/>
          <a:lstStyle/>
          <a:p>
            <a:pPr marL="0" indent="0">
              <a:buNone/>
            </a:pPr>
            <a:r>
              <a:rPr lang="en-US" sz="1320" dirty="0">
                <a:solidFill>
                  <a:srgbClr val="212121"/>
                </a:solidFill>
              </a:rPr>
              <a:t>Teachers can help you access pads, excuse you from class if needed, and give good advice.</a:t>
            </a:r>
            <a:endParaRPr lang="en-US" sz="1320" dirty="0"/>
          </a:p>
        </p:txBody>
      </p:sp>
      <p:sp>
        <p:nvSpPr>
          <p:cNvPr id="14" name="Shape 12"/>
          <p:cNvSpPr/>
          <p:nvPr/>
        </p:nvSpPr>
        <p:spPr>
          <a:xfrm>
            <a:off x="320040" y="3749040"/>
            <a:ext cx="4206240" cy="1188720"/>
          </a:xfrm>
          <a:prstGeom prst="rect">
            <a:avLst/>
          </a:prstGeom>
          <a:solidFill>
            <a:srgbClr val="FFFFFF"/>
          </a:solidFill>
          <a:ln/>
          <a:effectLst>
            <a:outerShdw blurRad="101600" dist="38100" dir="8100000" algn="bl" rotWithShape="0">
              <a:srgbClr val="000000">
                <a:alpha val="10000"/>
              </a:srgbClr>
            </a:outerShdw>
          </a:effectLst>
        </p:spPr>
      </p:sp>
      <p:sp>
        <p:nvSpPr>
          <p:cNvPr id="15" name="Shape 13"/>
          <p:cNvSpPr/>
          <p:nvPr/>
        </p:nvSpPr>
        <p:spPr>
          <a:xfrm>
            <a:off x="320040" y="3749040"/>
            <a:ext cx="4206240" cy="402336"/>
          </a:xfrm>
          <a:prstGeom prst="rect">
            <a:avLst/>
          </a:prstGeom>
          <a:solidFill>
            <a:srgbClr val="E65100"/>
          </a:solidFill>
          <a:ln/>
        </p:spPr>
      </p:sp>
      <p:sp>
        <p:nvSpPr>
          <p:cNvPr id="16" name="Text 14"/>
          <p:cNvSpPr/>
          <p:nvPr/>
        </p:nvSpPr>
        <p:spPr>
          <a:xfrm>
            <a:off x="320040" y="3749040"/>
            <a:ext cx="4206240" cy="402336"/>
          </a:xfrm>
          <a:prstGeom prst="rect">
            <a:avLst/>
          </a:prstGeom>
          <a:noFill/>
          <a:ln/>
        </p:spPr>
        <p:txBody>
          <a:bodyPr wrap="square" lIns="0" tIns="0" rIns="0" bIns="0" rtlCol="0" anchor="ctr"/>
          <a:lstStyle/>
          <a:p>
            <a:pPr marL="0" indent="0" algn="ctr">
              <a:buNone/>
            </a:pPr>
            <a:r>
              <a:rPr lang="en-US" sz="1440" b="1" dirty="0">
                <a:solidFill>
                  <a:srgbClr val="FFFFFF"/>
                </a:solidFill>
              </a:rPr>
              <a:t>🏥  School Health Worker / Nurse</a:t>
            </a:r>
            <a:endParaRPr lang="en-US" sz="1440" dirty="0"/>
          </a:p>
        </p:txBody>
      </p:sp>
      <p:sp>
        <p:nvSpPr>
          <p:cNvPr id="17" name="Text 15"/>
          <p:cNvSpPr/>
          <p:nvPr/>
        </p:nvSpPr>
        <p:spPr>
          <a:xfrm>
            <a:off x="457200" y="4206240"/>
            <a:ext cx="3931920" cy="685800"/>
          </a:xfrm>
          <a:prstGeom prst="rect">
            <a:avLst/>
          </a:prstGeom>
          <a:noFill/>
          <a:ln/>
        </p:spPr>
        <p:txBody>
          <a:bodyPr wrap="square" rtlCol="0" anchor="ctr"/>
          <a:lstStyle/>
          <a:p>
            <a:pPr marL="0" indent="0">
              <a:buNone/>
            </a:pPr>
            <a:r>
              <a:rPr lang="en-US" sz="1320" dirty="0">
                <a:solidFill>
                  <a:srgbClr val="212121"/>
                </a:solidFill>
              </a:rPr>
              <a:t>They are trained to help with exactly these questions. Everything stays private!</a:t>
            </a:r>
            <a:endParaRPr lang="en-US" sz="1320" dirty="0"/>
          </a:p>
        </p:txBody>
      </p:sp>
      <p:sp>
        <p:nvSpPr>
          <p:cNvPr id="18" name="Shape 16"/>
          <p:cNvSpPr/>
          <p:nvPr/>
        </p:nvSpPr>
        <p:spPr>
          <a:xfrm>
            <a:off x="4709160" y="3749040"/>
            <a:ext cx="4206240" cy="1188720"/>
          </a:xfrm>
          <a:prstGeom prst="rect">
            <a:avLst/>
          </a:prstGeom>
          <a:solidFill>
            <a:srgbClr val="FFFFFF"/>
          </a:solidFill>
          <a:ln/>
          <a:effectLst>
            <a:outerShdw blurRad="101600" dist="38100" dir="8100000" algn="bl" rotWithShape="0">
              <a:srgbClr val="000000">
                <a:alpha val="10000"/>
              </a:srgbClr>
            </a:outerShdw>
          </a:effectLst>
        </p:spPr>
      </p:sp>
      <p:sp>
        <p:nvSpPr>
          <p:cNvPr id="19" name="Shape 17"/>
          <p:cNvSpPr/>
          <p:nvPr/>
        </p:nvSpPr>
        <p:spPr>
          <a:xfrm>
            <a:off x="4709160" y="3749040"/>
            <a:ext cx="4206240" cy="402336"/>
          </a:xfrm>
          <a:prstGeom prst="rect">
            <a:avLst/>
          </a:prstGeom>
          <a:solidFill>
            <a:srgbClr val="E65100"/>
          </a:solidFill>
          <a:ln/>
        </p:spPr>
      </p:sp>
      <p:sp>
        <p:nvSpPr>
          <p:cNvPr id="20" name="Text 18"/>
          <p:cNvSpPr/>
          <p:nvPr/>
        </p:nvSpPr>
        <p:spPr>
          <a:xfrm>
            <a:off x="4709160" y="3749040"/>
            <a:ext cx="4206240" cy="402336"/>
          </a:xfrm>
          <a:prstGeom prst="rect">
            <a:avLst/>
          </a:prstGeom>
          <a:noFill/>
          <a:ln/>
        </p:spPr>
        <p:txBody>
          <a:bodyPr wrap="square" lIns="0" tIns="0" rIns="0" bIns="0" rtlCol="0" anchor="ctr"/>
          <a:lstStyle/>
          <a:p>
            <a:pPr marL="0" indent="0" algn="ctr">
              <a:buNone/>
            </a:pPr>
            <a:r>
              <a:rPr lang="en-US" sz="1440" b="1" dirty="0">
                <a:solidFill>
                  <a:srgbClr val="FFFFFF"/>
                </a:solidFill>
              </a:rPr>
              <a:t>👭  A Trusted Friend</a:t>
            </a:r>
            <a:endParaRPr lang="en-US" sz="1440" dirty="0"/>
          </a:p>
        </p:txBody>
      </p:sp>
      <p:sp>
        <p:nvSpPr>
          <p:cNvPr id="21" name="Text 19"/>
          <p:cNvSpPr/>
          <p:nvPr/>
        </p:nvSpPr>
        <p:spPr>
          <a:xfrm>
            <a:off x="4846320" y="4206240"/>
            <a:ext cx="3931920" cy="685800"/>
          </a:xfrm>
          <a:prstGeom prst="rect">
            <a:avLst/>
          </a:prstGeom>
          <a:noFill/>
          <a:ln/>
        </p:spPr>
        <p:txBody>
          <a:bodyPr wrap="square" rtlCol="0" anchor="ctr"/>
          <a:lstStyle/>
          <a:p>
            <a:pPr marL="0" indent="0">
              <a:buNone/>
            </a:pPr>
            <a:r>
              <a:rPr lang="en-US" sz="1320" dirty="0">
                <a:solidFill>
                  <a:srgbClr val="212121"/>
                </a:solidFill>
              </a:rPr>
              <a:t>Talking to a friend the same age can be very comforting — you may be going through the same experiences.</a:t>
            </a:r>
            <a:endParaRPr lang="en-US" sz="13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EDE7F6"/>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E53935"/>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When Should You See a Doctor?</a:t>
            </a:r>
            <a:endParaRPr lang="en-US" sz="3120" dirty="0"/>
          </a:p>
        </p:txBody>
      </p:sp>
      <p:sp>
        <p:nvSpPr>
          <p:cNvPr id="4" name="Shape 2"/>
          <p:cNvSpPr/>
          <p:nvPr/>
        </p:nvSpPr>
        <p:spPr>
          <a:xfrm>
            <a:off x="320040" y="1097280"/>
            <a:ext cx="8503920" cy="77724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02920" y="1170432"/>
            <a:ext cx="8229600" cy="640080"/>
          </a:xfrm>
          <a:prstGeom prst="rect">
            <a:avLst/>
          </a:prstGeom>
          <a:noFill/>
          <a:ln/>
        </p:spPr>
        <p:txBody>
          <a:bodyPr wrap="square" rtlCol="0" anchor="ctr"/>
          <a:lstStyle/>
          <a:p>
            <a:pPr marL="0" indent="0">
              <a:buNone/>
            </a:pPr>
            <a:r>
              <a:rPr lang="en-US" sz="1680" dirty="0">
                <a:solidFill>
                  <a:srgbClr val="212121"/>
                </a:solidFill>
              </a:rPr>
              <a:t>Most period symptoms are NORMAL. But some signs mean your body needs a doctor's help. Always tell a trusted adult if you notice any of these:</a:t>
            </a:r>
            <a:endParaRPr lang="en-US" sz="1680" dirty="0"/>
          </a:p>
        </p:txBody>
      </p:sp>
      <p:sp>
        <p:nvSpPr>
          <p:cNvPr id="6" name="Shape 4"/>
          <p:cNvSpPr/>
          <p:nvPr/>
        </p:nvSpPr>
        <p:spPr>
          <a:xfrm>
            <a:off x="320040" y="2011680"/>
            <a:ext cx="4206240" cy="530352"/>
          </a:xfrm>
          <a:prstGeom prst="rect">
            <a:avLst/>
          </a:prstGeom>
          <a:solidFill>
            <a:srgbClr val="FFFFFF"/>
          </a:solidFill>
          <a:ln/>
          <a:effectLst>
            <a:outerShdw blurRad="101600" dist="38100" dir="8100000" algn="bl" rotWithShape="0">
              <a:srgbClr val="000000">
                <a:alpha val="10000"/>
              </a:srgbClr>
            </a:outerShdw>
          </a:effectLst>
        </p:spPr>
      </p:sp>
      <p:sp>
        <p:nvSpPr>
          <p:cNvPr id="7" name="Text 5"/>
          <p:cNvSpPr/>
          <p:nvPr/>
        </p:nvSpPr>
        <p:spPr>
          <a:xfrm>
            <a:off x="457200" y="2011680"/>
            <a:ext cx="3931920" cy="530352"/>
          </a:xfrm>
          <a:prstGeom prst="rect">
            <a:avLst/>
          </a:prstGeom>
          <a:noFill/>
          <a:ln/>
        </p:spPr>
        <p:txBody>
          <a:bodyPr wrap="square" rtlCol="0" anchor="ctr"/>
          <a:lstStyle/>
          <a:p>
            <a:pPr marL="0" indent="0">
              <a:buNone/>
            </a:pPr>
            <a:r>
              <a:rPr lang="en-US" sz="1440" dirty="0">
                <a:solidFill>
                  <a:srgbClr val="212121"/>
                </a:solidFill>
              </a:rPr>
              <a:t>🔴 Bleeding that lasts MORE than 8 days</a:t>
            </a:r>
            <a:endParaRPr lang="en-US" sz="1440" dirty="0"/>
          </a:p>
        </p:txBody>
      </p:sp>
      <p:sp>
        <p:nvSpPr>
          <p:cNvPr id="8" name="Shape 6"/>
          <p:cNvSpPr/>
          <p:nvPr/>
        </p:nvSpPr>
        <p:spPr>
          <a:xfrm>
            <a:off x="4709160" y="2011680"/>
            <a:ext cx="4206240" cy="530352"/>
          </a:xfrm>
          <a:prstGeom prst="rect">
            <a:avLst/>
          </a:prstGeom>
          <a:solidFill>
            <a:srgbClr val="FFFFFF"/>
          </a:solidFill>
          <a:ln/>
          <a:effectLst>
            <a:outerShdw blurRad="101600" dist="38100" dir="8100000" algn="bl" rotWithShape="0">
              <a:srgbClr val="000000">
                <a:alpha val="10000"/>
              </a:srgbClr>
            </a:outerShdw>
          </a:effectLst>
        </p:spPr>
      </p:sp>
      <p:sp>
        <p:nvSpPr>
          <p:cNvPr id="9" name="Text 7"/>
          <p:cNvSpPr/>
          <p:nvPr/>
        </p:nvSpPr>
        <p:spPr>
          <a:xfrm>
            <a:off x="4846320" y="2011680"/>
            <a:ext cx="3931920" cy="530352"/>
          </a:xfrm>
          <a:prstGeom prst="rect">
            <a:avLst/>
          </a:prstGeom>
          <a:noFill/>
          <a:ln/>
        </p:spPr>
        <p:txBody>
          <a:bodyPr wrap="square" rtlCol="0" anchor="ctr"/>
          <a:lstStyle/>
          <a:p>
            <a:pPr marL="0" indent="0">
              <a:buNone/>
            </a:pPr>
            <a:r>
              <a:rPr lang="en-US" sz="1440" dirty="0">
                <a:solidFill>
                  <a:srgbClr val="212121"/>
                </a:solidFill>
              </a:rPr>
              <a:t>🔴 You need to change your pad every hour or less</a:t>
            </a:r>
            <a:endParaRPr lang="en-US" sz="1440" dirty="0"/>
          </a:p>
        </p:txBody>
      </p:sp>
      <p:sp>
        <p:nvSpPr>
          <p:cNvPr id="10" name="Shape 8"/>
          <p:cNvSpPr/>
          <p:nvPr/>
        </p:nvSpPr>
        <p:spPr>
          <a:xfrm>
            <a:off x="320040" y="2651760"/>
            <a:ext cx="4206240" cy="530352"/>
          </a:xfrm>
          <a:prstGeom prst="rect">
            <a:avLst/>
          </a:prstGeom>
          <a:solidFill>
            <a:srgbClr val="FFFFFF"/>
          </a:solidFill>
          <a:ln/>
          <a:effectLst>
            <a:outerShdw blurRad="101600" dist="38100" dir="8100000" algn="bl" rotWithShape="0">
              <a:srgbClr val="000000">
                <a:alpha val="10000"/>
              </a:srgbClr>
            </a:outerShdw>
          </a:effectLst>
        </p:spPr>
      </p:sp>
      <p:sp>
        <p:nvSpPr>
          <p:cNvPr id="11" name="Text 9"/>
          <p:cNvSpPr/>
          <p:nvPr/>
        </p:nvSpPr>
        <p:spPr>
          <a:xfrm>
            <a:off x="457200" y="2651760"/>
            <a:ext cx="3931920" cy="530352"/>
          </a:xfrm>
          <a:prstGeom prst="rect">
            <a:avLst/>
          </a:prstGeom>
          <a:noFill/>
          <a:ln/>
        </p:spPr>
        <p:txBody>
          <a:bodyPr wrap="square" rtlCol="0" anchor="ctr"/>
          <a:lstStyle/>
          <a:p>
            <a:pPr marL="0" indent="0">
              <a:buNone/>
            </a:pPr>
            <a:r>
              <a:rPr lang="en-US" sz="1440" dirty="0">
                <a:solidFill>
                  <a:srgbClr val="212121"/>
                </a:solidFill>
              </a:rPr>
              <a:t>🔴 You see very large blood clots regularly</a:t>
            </a:r>
            <a:endParaRPr lang="en-US" sz="1440" dirty="0"/>
          </a:p>
        </p:txBody>
      </p:sp>
      <p:sp>
        <p:nvSpPr>
          <p:cNvPr id="12" name="Shape 10"/>
          <p:cNvSpPr/>
          <p:nvPr/>
        </p:nvSpPr>
        <p:spPr>
          <a:xfrm>
            <a:off x="4709160" y="2651760"/>
            <a:ext cx="4206240" cy="530352"/>
          </a:xfrm>
          <a:prstGeom prst="rect">
            <a:avLst/>
          </a:prstGeom>
          <a:solidFill>
            <a:srgbClr val="FFFFFF"/>
          </a:solidFill>
          <a:ln/>
          <a:effectLst>
            <a:outerShdw blurRad="101600" dist="38100" dir="8100000" algn="bl" rotWithShape="0">
              <a:srgbClr val="000000">
                <a:alpha val="10000"/>
              </a:srgbClr>
            </a:outerShdw>
          </a:effectLst>
        </p:spPr>
      </p:sp>
      <p:sp>
        <p:nvSpPr>
          <p:cNvPr id="13" name="Text 11"/>
          <p:cNvSpPr/>
          <p:nvPr/>
        </p:nvSpPr>
        <p:spPr>
          <a:xfrm>
            <a:off x="4846320" y="2651760"/>
            <a:ext cx="3931920" cy="530352"/>
          </a:xfrm>
          <a:prstGeom prst="rect">
            <a:avLst/>
          </a:prstGeom>
          <a:noFill/>
          <a:ln/>
        </p:spPr>
        <p:txBody>
          <a:bodyPr wrap="square" rtlCol="0" anchor="ctr"/>
          <a:lstStyle/>
          <a:p>
            <a:pPr marL="0" indent="0">
              <a:buNone/>
            </a:pPr>
            <a:r>
              <a:rPr lang="en-US" sz="1440" dirty="0">
                <a:solidFill>
                  <a:srgbClr val="212121"/>
                </a:solidFill>
              </a:rPr>
              <a:t>🔴 Severe cramps that stop you from going to school</a:t>
            </a:r>
            <a:endParaRPr lang="en-US" sz="1440" dirty="0"/>
          </a:p>
        </p:txBody>
      </p:sp>
      <p:sp>
        <p:nvSpPr>
          <p:cNvPr id="14" name="Shape 12"/>
          <p:cNvSpPr/>
          <p:nvPr/>
        </p:nvSpPr>
        <p:spPr>
          <a:xfrm>
            <a:off x="320040" y="3291840"/>
            <a:ext cx="4206240" cy="530352"/>
          </a:xfrm>
          <a:prstGeom prst="rect">
            <a:avLst/>
          </a:prstGeom>
          <a:solidFill>
            <a:srgbClr val="FFFFFF"/>
          </a:solidFill>
          <a:ln/>
          <a:effectLst>
            <a:outerShdw blurRad="101600" dist="38100" dir="8100000" algn="bl" rotWithShape="0">
              <a:srgbClr val="000000">
                <a:alpha val="10000"/>
              </a:srgbClr>
            </a:outerShdw>
          </a:effectLst>
        </p:spPr>
      </p:sp>
      <p:sp>
        <p:nvSpPr>
          <p:cNvPr id="15" name="Text 13"/>
          <p:cNvSpPr/>
          <p:nvPr/>
        </p:nvSpPr>
        <p:spPr>
          <a:xfrm>
            <a:off x="457200" y="3291840"/>
            <a:ext cx="3931920" cy="530352"/>
          </a:xfrm>
          <a:prstGeom prst="rect">
            <a:avLst/>
          </a:prstGeom>
          <a:noFill/>
          <a:ln/>
        </p:spPr>
        <p:txBody>
          <a:bodyPr wrap="square" rtlCol="0" anchor="ctr"/>
          <a:lstStyle/>
          <a:p>
            <a:pPr marL="0" indent="0">
              <a:buNone/>
            </a:pPr>
            <a:r>
              <a:rPr lang="en-US" sz="1440" dirty="0">
                <a:solidFill>
                  <a:srgbClr val="212121"/>
                </a:solidFill>
              </a:rPr>
              <a:t>🔴 No period at all for more than 3 months in a row</a:t>
            </a:r>
            <a:endParaRPr lang="en-US" sz="1440" dirty="0"/>
          </a:p>
        </p:txBody>
      </p:sp>
      <p:sp>
        <p:nvSpPr>
          <p:cNvPr id="16" name="Shape 14"/>
          <p:cNvSpPr/>
          <p:nvPr/>
        </p:nvSpPr>
        <p:spPr>
          <a:xfrm>
            <a:off x="4709160" y="3291840"/>
            <a:ext cx="4206240" cy="530352"/>
          </a:xfrm>
          <a:prstGeom prst="rect">
            <a:avLst/>
          </a:prstGeom>
          <a:solidFill>
            <a:srgbClr val="FFFFFF"/>
          </a:solidFill>
          <a:ln/>
          <a:effectLst>
            <a:outerShdw blurRad="101600" dist="38100" dir="8100000" algn="bl" rotWithShape="0">
              <a:srgbClr val="000000">
                <a:alpha val="10000"/>
              </a:srgbClr>
            </a:outerShdw>
          </a:effectLst>
        </p:spPr>
      </p:sp>
      <p:sp>
        <p:nvSpPr>
          <p:cNvPr id="17" name="Text 15"/>
          <p:cNvSpPr/>
          <p:nvPr/>
        </p:nvSpPr>
        <p:spPr>
          <a:xfrm>
            <a:off x="4846320" y="3291840"/>
            <a:ext cx="3931920" cy="530352"/>
          </a:xfrm>
          <a:prstGeom prst="rect">
            <a:avLst/>
          </a:prstGeom>
          <a:noFill/>
          <a:ln/>
        </p:spPr>
        <p:txBody>
          <a:bodyPr wrap="square" rtlCol="0" anchor="ctr"/>
          <a:lstStyle/>
          <a:p>
            <a:pPr marL="0" indent="0">
              <a:buNone/>
            </a:pPr>
            <a:r>
              <a:rPr lang="en-US" sz="1440" dirty="0">
                <a:solidFill>
                  <a:srgbClr val="212121"/>
                </a:solidFill>
              </a:rPr>
              <a:t>🔴 Periods that are always very irregular even after 2 years</a:t>
            </a:r>
            <a:endParaRPr lang="en-US" sz="1440" dirty="0"/>
          </a:p>
        </p:txBody>
      </p:sp>
      <p:sp>
        <p:nvSpPr>
          <p:cNvPr id="18" name="Shape 16"/>
          <p:cNvSpPr/>
          <p:nvPr/>
        </p:nvSpPr>
        <p:spPr>
          <a:xfrm>
            <a:off x="320040" y="3931920"/>
            <a:ext cx="4206240" cy="530352"/>
          </a:xfrm>
          <a:prstGeom prst="rect">
            <a:avLst/>
          </a:prstGeom>
          <a:solidFill>
            <a:srgbClr val="FFFFFF"/>
          </a:solidFill>
          <a:ln/>
          <a:effectLst>
            <a:outerShdw blurRad="101600" dist="38100" dir="8100000" algn="bl" rotWithShape="0">
              <a:srgbClr val="000000">
                <a:alpha val="10000"/>
              </a:srgbClr>
            </a:outerShdw>
          </a:effectLst>
        </p:spPr>
      </p:sp>
      <p:sp>
        <p:nvSpPr>
          <p:cNvPr id="19" name="Text 17"/>
          <p:cNvSpPr/>
          <p:nvPr/>
        </p:nvSpPr>
        <p:spPr>
          <a:xfrm>
            <a:off x="457200" y="3931920"/>
            <a:ext cx="3931920" cy="530352"/>
          </a:xfrm>
          <a:prstGeom prst="rect">
            <a:avLst/>
          </a:prstGeom>
          <a:noFill/>
          <a:ln/>
        </p:spPr>
        <p:txBody>
          <a:bodyPr wrap="square" rtlCol="0" anchor="ctr"/>
          <a:lstStyle/>
          <a:p>
            <a:pPr marL="0" indent="0">
              <a:buNone/>
            </a:pPr>
            <a:r>
              <a:rPr lang="en-US" sz="1440" dirty="0">
                <a:solidFill>
                  <a:srgbClr val="212121"/>
                </a:solidFill>
              </a:rPr>
              <a:t>🔴 Unusual smells, itching, or discharge</a:t>
            </a:r>
            <a:endParaRPr lang="en-US" sz="1440" dirty="0"/>
          </a:p>
        </p:txBody>
      </p:sp>
      <p:sp>
        <p:nvSpPr>
          <p:cNvPr id="20" name="Shape 18"/>
          <p:cNvSpPr/>
          <p:nvPr/>
        </p:nvSpPr>
        <p:spPr>
          <a:xfrm>
            <a:off x="4709160" y="3931920"/>
            <a:ext cx="4206240" cy="530352"/>
          </a:xfrm>
          <a:prstGeom prst="rect">
            <a:avLst/>
          </a:prstGeom>
          <a:solidFill>
            <a:srgbClr val="FFFFFF"/>
          </a:solidFill>
          <a:ln/>
          <a:effectLst>
            <a:outerShdw blurRad="101600" dist="38100" dir="8100000" algn="bl" rotWithShape="0">
              <a:srgbClr val="000000">
                <a:alpha val="10000"/>
              </a:srgbClr>
            </a:outerShdw>
          </a:effectLst>
        </p:spPr>
      </p:sp>
      <p:sp>
        <p:nvSpPr>
          <p:cNvPr id="21" name="Text 19"/>
          <p:cNvSpPr/>
          <p:nvPr/>
        </p:nvSpPr>
        <p:spPr>
          <a:xfrm>
            <a:off x="4846320" y="3931920"/>
            <a:ext cx="3931920" cy="530352"/>
          </a:xfrm>
          <a:prstGeom prst="rect">
            <a:avLst/>
          </a:prstGeom>
          <a:noFill/>
          <a:ln/>
        </p:spPr>
        <p:txBody>
          <a:bodyPr wrap="square" rtlCol="0" anchor="ctr"/>
          <a:lstStyle/>
          <a:p>
            <a:pPr marL="0" indent="0">
              <a:buNone/>
            </a:pPr>
            <a:r>
              <a:rPr lang="en-US" sz="1440" dirty="0">
                <a:solidFill>
                  <a:srgbClr val="212121"/>
                </a:solidFill>
              </a:rPr>
              <a:t>🔴 Feeling very dizzy, weak, or fainting during your period</a:t>
            </a:r>
            <a:endParaRPr lang="en-US" sz="1440" dirty="0"/>
          </a:p>
        </p:txBody>
      </p:sp>
      <p:sp>
        <p:nvSpPr>
          <p:cNvPr id="22" name="Shape 20"/>
          <p:cNvSpPr/>
          <p:nvPr/>
        </p:nvSpPr>
        <p:spPr>
          <a:xfrm>
            <a:off x="320040" y="4617720"/>
            <a:ext cx="8503920" cy="438912"/>
          </a:xfrm>
          <a:prstGeom prst="rect">
            <a:avLst/>
          </a:prstGeom>
          <a:solidFill>
            <a:srgbClr val="E8F5E9"/>
          </a:solidFill>
          <a:ln/>
          <a:effectLst>
            <a:outerShdw blurRad="101600" dist="38100" dir="8100000" algn="bl" rotWithShape="0">
              <a:srgbClr val="000000">
                <a:alpha val="10000"/>
              </a:srgbClr>
            </a:outerShdw>
          </a:effectLst>
        </p:spPr>
      </p:sp>
      <p:sp>
        <p:nvSpPr>
          <p:cNvPr id="23" name="Text 21"/>
          <p:cNvSpPr/>
          <p:nvPr/>
        </p:nvSpPr>
        <p:spPr>
          <a:xfrm>
            <a:off x="502920" y="4617720"/>
            <a:ext cx="8229600" cy="438912"/>
          </a:xfrm>
          <a:prstGeom prst="rect">
            <a:avLst/>
          </a:prstGeom>
          <a:noFill/>
          <a:ln/>
        </p:spPr>
        <p:txBody>
          <a:bodyPr wrap="square" rtlCol="0" anchor="ctr"/>
          <a:lstStyle/>
          <a:p>
            <a:pPr marL="0" indent="0" algn="ctr">
              <a:buNone/>
            </a:pPr>
            <a:r>
              <a:rPr lang="en-US" sz="1440" b="1" dirty="0">
                <a:solidFill>
                  <a:srgbClr val="388E3C"/>
                </a:solidFill>
              </a:rPr>
              <a:t>💚 Visiting a doctor is BRAVE and RESPONSIBLE — not something to be embarrassed about. Doctors are here to help!</a:t>
            </a:r>
            <a:endParaRPr lang="en-US" sz="14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F9F0FF"/>
        </a:solidFill>
        <a:effectLst/>
      </p:bgPr>
    </p:bg>
    <p:spTree>
      <p:nvGrpSpPr>
        <p:cNvPr id="1" name=""/>
        <p:cNvGrpSpPr/>
        <p:nvPr/>
      </p:nvGrpSpPr>
      <p:grpSpPr>
        <a:xfrm>
          <a:off x="0" y="0"/>
          <a:ext cx="0" cy="0"/>
          <a:chOff x="0" y="0"/>
          <a:chExt cx="0" cy="0"/>
        </a:xfrm>
      </p:grpSpPr>
      <p:sp>
        <p:nvSpPr>
          <p:cNvPr id="2" name="HeaderBar"/>
          <p:cNvSpPr/>
          <p:nvPr/>
        </p:nvSpPr>
        <p:spPr>
          <a:xfrm>
            <a:off x="274320" y="137160"/>
            <a:ext cx="8595360" cy="822960"/>
          </a:xfrm>
          <a:prstGeom prst="rect">
            <a:avLst/>
          </a:prstGeom>
          <a:solidFill>
            <a:srgbClr val="E65100"/>
          </a:solidFill>
          <a:ln/>
        </p:spPr>
      </p:sp>
      <p:sp>
        <p:nvSpPr>
          <p:cNvPr id="3" name="HeaderText"/>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640" b="1" dirty="0">
                <a:solidFill>
                  <a:srgbClr val="FFFFFF"/>
                </a:solidFill>
              </a:rPr>
              <a:t>🌼  Taking Good Care of Yourself</a:t>
            </a:r>
          </a:p>
        </p:txBody>
      </p:sp>
      <p:sp>
        <p:nvSpPr>
          <p:cNvPr id="4" name="Card1Bg"/>
          <p:cNvSpPr/>
          <p:nvPr/>
        </p:nvSpPr>
        <p:spPr>
          <a:xfrm>
            <a:off x="320040" y="1097280"/>
            <a:ext cx="8503920" cy="411480"/>
          </a:xfrm>
          <a:prstGeom prst="rect">
            <a:avLst/>
          </a:prstGeom>
          <a:solidFill>
            <a:srgbClr val="E65100"/>
          </a:solidFill>
          <a:ln/>
        </p:spPr>
      </p:sp>
      <p:sp>
        <p:nvSpPr>
          <p:cNvPr id="5" name="Card1Title"/>
          <p:cNvSpPr/>
          <p:nvPr/>
        </p:nvSpPr>
        <p:spPr>
          <a:xfrm>
            <a:off x="320040" y="109728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Rest When You Need To</a:t>
            </a:r>
          </a:p>
        </p:txBody>
      </p:sp>
      <p:sp>
        <p:nvSpPr>
          <p:cNvPr id="6" name="Card1TextBg"/>
          <p:cNvSpPr/>
          <p:nvPr/>
        </p:nvSpPr>
        <p:spPr>
          <a:xfrm>
            <a:off x="320040" y="1508760"/>
            <a:ext cx="8503920" cy="868680"/>
          </a:xfrm>
          <a:prstGeom prst="rect">
            <a:avLst/>
          </a:prstGeom>
          <a:solidFill>
            <a:srgbClr val="FFFFFF"/>
          </a:solidFill>
          <a:ln>
            <a:solidFill>
              <a:srgbClr val="FFE0B2"/>
            </a:solidFill>
          </a:ln>
        </p:spPr>
      </p:sp>
      <p:sp>
        <p:nvSpPr>
          <p:cNvPr id="7" name="Card1Text"/>
          <p:cNvSpPr/>
          <p:nvPr/>
        </p:nvSpPr>
        <p:spPr>
          <a:xfrm>
            <a:off x="502920" y="1553760"/>
            <a:ext cx="8139240" cy="777240"/>
          </a:xfrm>
          <a:prstGeom prst="rect">
            <a:avLst/>
          </a:prstGeom>
          <a:noFill/>
          <a:ln/>
        </p:spPr>
        <p:txBody>
          <a:bodyPr wrap="square" rtlCol="0" anchor="ctr"/>
          <a:lstStyle/>
          <a:p>
            <a:pPr marL="0" indent="0">
              <a:buNone/>
            </a:pPr>
            <a:r>
              <a:rPr lang="en-US" sz="1440" dirty="0">
                <a:solidFill>
                  <a:srgbClr val="4E342E"/>
                </a:solidFill>
              </a:rPr>
              <a:t>It's okay to rest if you feel tired or have cramps. Listen to your body — resting is not laziness! Your health always comes first.</a:t>
            </a:r>
          </a:p>
        </p:txBody>
      </p:sp>
      <p:sp>
        <p:nvSpPr>
          <p:cNvPr id="8" name="Card2Bg"/>
          <p:cNvSpPr/>
          <p:nvPr/>
        </p:nvSpPr>
        <p:spPr>
          <a:xfrm>
            <a:off x="320040" y="2468880"/>
            <a:ext cx="8503920" cy="411480"/>
          </a:xfrm>
          <a:prstGeom prst="rect">
            <a:avLst/>
          </a:prstGeom>
          <a:solidFill>
            <a:srgbClr val="388E3C"/>
          </a:solidFill>
          <a:ln/>
        </p:spPr>
      </p:sp>
      <p:sp>
        <p:nvSpPr>
          <p:cNvPr id="9" name="Card2Title"/>
          <p:cNvSpPr/>
          <p:nvPr/>
        </p:nvSpPr>
        <p:spPr>
          <a:xfrm>
            <a:off x="320040" y="246888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Eat Nourishing Food</a:t>
            </a:r>
          </a:p>
        </p:txBody>
      </p:sp>
      <p:sp>
        <p:nvSpPr>
          <p:cNvPr id="10" name="Card2TextBg"/>
          <p:cNvSpPr/>
          <p:nvPr/>
        </p:nvSpPr>
        <p:spPr>
          <a:xfrm>
            <a:off x="320040" y="2880360"/>
            <a:ext cx="8503920" cy="868680"/>
          </a:xfrm>
          <a:prstGeom prst="rect">
            <a:avLst/>
          </a:prstGeom>
          <a:solidFill>
            <a:srgbClr val="FFFFFF"/>
          </a:solidFill>
          <a:ln>
            <a:solidFill>
              <a:srgbClr val="C8E6C9"/>
            </a:solidFill>
          </a:ln>
        </p:spPr>
      </p:sp>
      <p:sp>
        <p:nvSpPr>
          <p:cNvPr id="11" name="Card2Text"/>
          <p:cNvSpPr/>
          <p:nvPr/>
        </p:nvSpPr>
        <p:spPr>
          <a:xfrm>
            <a:off x="502920" y="2925360"/>
            <a:ext cx="8139240" cy="777240"/>
          </a:xfrm>
          <a:prstGeom prst="rect">
            <a:avLst/>
          </a:prstGeom>
          <a:noFill/>
          <a:ln/>
        </p:spPr>
        <p:txBody>
          <a:bodyPr wrap="square" rtlCol="0" anchor="ctr"/>
          <a:lstStyle/>
          <a:p>
            <a:pPr marL="0" indent="0">
              <a:buNone/>
            </a:pPr>
            <a:r>
              <a:rPr lang="en-US" sz="1440" dirty="0">
                <a:solidFill>
                  <a:srgbClr val="1B5E20"/>
                </a:solidFill>
              </a:rPr>
              <a:t>Eat iron-rich foods like leafy greens, lentils, and bananas. Drink plenty of water. Avoid too much junk food or sugary drinks during your period.</a:t>
            </a:r>
          </a:p>
        </p:txBody>
      </p:sp>
      <p:sp>
        <p:nvSpPr>
          <p:cNvPr id="12" name="Card3Bg"/>
          <p:cNvSpPr/>
          <p:nvPr/>
        </p:nvSpPr>
        <p:spPr>
          <a:xfrm>
            <a:off x="320040" y="3840480"/>
            <a:ext cx="8503920" cy="411480"/>
          </a:xfrm>
          <a:prstGeom prst="rect">
            <a:avLst/>
          </a:prstGeom>
          <a:solidFill>
            <a:srgbClr val="7B1FA2"/>
          </a:solidFill>
          <a:ln/>
        </p:spPr>
      </p:sp>
      <p:sp>
        <p:nvSpPr>
          <p:cNvPr id="13" name="Card3Title"/>
          <p:cNvSpPr/>
          <p:nvPr/>
        </p:nvSpPr>
        <p:spPr>
          <a:xfrm>
            <a:off x="320040" y="384048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Gentle Movement</a:t>
            </a:r>
          </a:p>
        </p:txBody>
      </p:sp>
      <p:sp>
        <p:nvSpPr>
          <p:cNvPr id="14" name="Card3TextBg"/>
          <p:cNvSpPr/>
          <p:nvPr/>
        </p:nvSpPr>
        <p:spPr>
          <a:xfrm>
            <a:off x="320040" y="4251960"/>
            <a:ext cx="8503920" cy="777240"/>
          </a:xfrm>
          <a:prstGeom prst="rect">
            <a:avLst/>
          </a:prstGeom>
          <a:solidFill>
            <a:srgbClr val="FFFFFF"/>
          </a:solidFill>
          <a:ln>
            <a:solidFill>
              <a:srgbClr val="E1BEE7"/>
            </a:solidFill>
          </a:ln>
        </p:spPr>
      </p:sp>
      <p:sp>
        <p:nvSpPr>
          <p:cNvPr id="15" name="Card3Text"/>
          <p:cNvSpPr/>
          <p:nvPr/>
        </p:nvSpPr>
        <p:spPr>
          <a:xfrm>
            <a:off x="502920" y="4297200"/>
            <a:ext cx="8139240" cy="685800"/>
          </a:xfrm>
          <a:prstGeom prst="rect">
            <a:avLst/>
          </a:prstGeom>
          <a:noFill/>
          <a:ln/>
        </p:spPr>
        <p:txBody>
          <a:bodyPr wrap="square" rtlCol="0" anchor="ctr"/>
          <a:lstStyle/>
          <a:p>
            <a:pPr marL="0" indent="0">
              <a:buNone/>
            </a:pPr>
            <a:r>
              <a:rPr lang="en-US" sz="1440" dirty="0">
                <a:solidFill>
                  <a:srgbClr val="4A148C"/>
                </a:solidFill>
              </a:rPr>
              <a:t>Light stretching or a short walk can ease cramps and improve your mood. No need for intense exercise — gentle movement is best!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2b">
    <p:bg>
      <p:bgPr>
        <a:solidFill>
          <a:srgbClr val="E8F5E9"/>
        </a:solidFill>
        <a:effectLst/>
      </p:bgPr>
    </p:bg>
    <p:spTree>
      <p:nvGrpSpPr>
        <p:cNvPr id="1" name=""/>
        <p:cNvGrpSpPr/>
        <p:nvPr/>
      </p:nvGrpSpPr>
      <p:grpSpPr>
        <a:xfrm>
          <a:off x="0" y="0"/>
          <a:ext cx="0" cy="0"/>
          <a:chOff x="0" y="0"/>
          <a:chExt cx="0" cy="0"/>
        </a:xfrm>
      </p:grpSpPr>
      <p:sp>
        <p:nvSpPr>
          <p:cNvPr id="2" name="HeaderBar"/>
          <p:cNvSpPr/>
          <p:nvPr/>
        </p:nvSpPr>
        <p:spPr>
          <a:xfrm>
            <a:off x="274320" y="137160"/>
            <a:ext cx="8595360" cy="822960"/>
          </a:xfrm>
          <a:prstGeom prst="rect">
            <a:avLst/>
          </a:prstGeom>
          <a:solidFill>
            <a:srgbClr val="00796B"/>
          </a:solidFill>
          <a:ln/>
        </p:spPr>
      </p:sp>
      <p:sp>
        <p:nvSpPr>
          <p:cNvPr id="3" name="HeaderText"/>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640" b="1" dirty="0">
                <a:solidFill>
                  <a:srgbClr val="FFFFFF"/>
                </a:solidFill>
              </a:rPr>
              <a:t>🌼  Taking Good Care of Yourself</a:t>
            </a:r>
          </a:p>
        </p:txBody>
      </p:sp>
      <p:sp>
        <p:nvSpPr>
          <p:cNvPr id="4" name="Card1Accent"/>
          <p:cNvSpPr/>
          <p:nvPr/>
        </p:nvSpPr>
        <p:spPr>
          <a:xfrm>
            <a:off x="320040" y="1097280"/>
            <a:ext cx="8503920" cy="411480"/>
          </a:xfrm>
          <a:prstGeom prst="rect">
            <a:avLst/>
          </a:prstGeom>
          <a:solidFill>
            <a:srgbClr val="0288D1"/>
          </a:solidFill>
          <a:ln/>
        </p:spPr>
      </p:sp>
      <p:sp>
        <p:nvSpPr>
          <p:cNvPr id="5" name="Card1Title"/>
          <p:cNvSpPr/>
          <p:nvPr/>
        </p:nvSpPr>
        <p:spPr>
          <a:xfrm>
            <a:off x="320040" y="109728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Talk About How You Feel</a:t>
            </a:r>
          </a:p>
        </p:txBody>
      </p:sp>
      <p:sp>
        <p:nvSpPr>
          <p:cNvPr id="6" name="Card1TextBg"/>
          <p:cNvSpPr/>
          <p:nvPr/>
        </p:nvSpPr>
        <p:spPr>
          <a:xfrm>
            <a:off x="320040" y="1508760"/>
            <a:ext cx="8503920" cy="868680"/>
          </a:xfrm>
          <a:prstGeom prst="rect">
            <a:avLst/>
          </a:prstGeom>
          <a:solidFill>
            <a:srgbClr val="FFFFFF"/>
          </a:solidFill>
          <a:ln>
            <a:solidFill>
              <a:srgbClr val="B3E5FC"/>
            </a:solidFill>
          </a:ln>
        </p:spPr>
      </p:sp>
      <p:sp>
        <p:nvSpPr>
          <p:cNvPr id="7" name="Card1Text"/>
          <p:cNvSpPr/>
          <p:nvPr/>
        </p:nvSpPr>
        <p:spPr>
          <a:xfrm>
            <a:off x="502920" y="1553760"/>
            <a:ext cx="8139240" cy="777240"/>
          </a:xfrm>
          <a:prstGeom prst="rect">
            <a:avLst/>
          </a:prstGeom>
          <a:noFill/>
          <a:ln/>
        </p:spPr>
        <p:txBody>
          <a:bodyPr wrap="square" rtlCol="0" anchor="ctr"/>
          <a:lstStyle/>
          <a:p>
            <a:pPr marL="0" indent="0">
              <a:buNone/>
            </a:pPr>
            <a:r>
              <a:rPr lang="en-US" sz="1440" dirty="0">
                <a:solidFill>
                  <a:srgbClr val="01579B"/>
                </a:solidFill>
              </a:rPr>
              <a:t>If you feel low, anxious, or upset during your period, talk to someone you trust. Your feelings are completely valid! You don't have to cope alone.</a:t>
            </a:r>
          </a:p>
        </p:txBody>
      </p:sp>
      <p:sp>
        <p:nvSpPr>
          <p:cNvPr id="8" name="Card2Accent"/>
          <p:cNvSpPr/>
          <p:nvPr/>
        </p:nvSpPr>
        <p:spPr>
          <a:xfrm>
            <a:off x="320040" y="2468880"/>
            <a:ext cx="8503920" cy="411480"/>
          </a:xfrm>
          <a:prstGeom prst="rect">
            <a:avLst/>
          </a:prstGeom>
          <a:solidFill>
            <a:srgbClr val="303F9F"/>
          </a:solidFill>
          <a:ln/>
        </p:spPr>
      </p:sp>
      <p:sp>
        <p:nvSpPr>
          <p:cNvPr id="9" name="Card2Title"/>
          <p:cNvSpPr/>
          <p:nvPr/>
        </p:nvSpPr>
        <p:spPr>
          <a:xfrm>
            <a:off x="320040" y="246888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Sleep Well</a:t>
            </a:r>
          </a:p>
        </p:txBody>
      </p:sp>
      <p:sp>
        <p:nvSpPr>
          <p:cNvPr id="10" name="Card2TextBg"/>
          <p:cNvSpPr/>
          <p:nvPr/>
        </p:nvSpPr>
        <p:spPr>
          <a:xfrm>
            <a:off x="320040" y="2880360"/>
            <a:ext cx="8503920" cy="868680"/>
          </a:xfrm>
          <a:prstGeom prst="rect">
            <a:avLst/>
          </a:prstGeom>
          <a:solidFill>
            <a:srgbClr val="FFFFFF"/>
          </a:solidFill>
          <a:ln>
            <a:solidFill>
              <a:srgbClr val="C5CAE9"/>
            </a:solidFill>
          </a:ln>
        </p:spPr>
      </p:sp>
      <p:sp>
        <p:nvSpPr>
          <p:cNvPr id="11" name="Card2Text"/>
          <p:cNvSpPr/>
          <p:nvPr/>
        </p:nvSpPr>
        <p:spPr>
          <a:xfrm>
            <a:off x="502920" y="2925360"/>
            <a:ext cx="8139240" cy="777240"/>
          </a:xfrm>
          <a:prstGeom prst="rect">
            <a:avLst/>
          </a:prstGeom>
          <a:noFill/>
          <a:ln/>
        </p:spPr>
        <p:txBody>
          <a:bodyPr wrap="square" rtlCol="0" anchor="ctr"/>
          <a:lstStyle/>
          <a:p>
            <a:pPr marL="0" indent="0">
              <a:buNone/>
            </a:pPr>
            <a:r>
              <a:rPr lang="en-US" sz="1440" dirty="0">
                <a:solidFill>
                  <a:srgbClr val="1A237E"/>
                </a:solidFill>
              </a:rPr>
              <a:t>Try to sleep 8-9 hours each night. Use a good pad at night and change it first thing in the morning to stay comfortable and avoid infections.</a:t>
            </a:r>
          </a:p>
        </p:txBody>
      </p:sp>
      <p:sp>
        <p:nvSpPr>
          <p:cNvPr id="12" name="Card3Accent"/>
          <p:cNvSpPr/>
          <p:nvPr/>
        </p:nvSpPr>
        <p:spPr>
          <a:xfrm>
            <a:off x="320040" y="3840480"/>
            <a:ext cx="8503920" cy="411480"/>
          </a:xfrm>
          <a:prstGeom prst="rect">
            <a:avLst/>
          </a:prstGeom>
          <a:solidFill>
            <a:srgbClr val="00796B"/>
          </a:solidFill>
          <a:ln/>
        </p:spPr>
      </p:sp>
      <p:sp>
        <p:nvSpPr>
          <p:cNvPr id="13" name="Card3Title"/>
          <p:cNvSpPr/>
          <p:nvPr/>
        </p:nvSpPr>
        <p:spPr>
          <a:xfrm>
            <a:off x="320040" y="3840480"/>
            <a:ext cx="8503920" cy="411480"/>
          </a:xfrm>
          <a:prstGeom prst="rect">
            <a:avLst/>
          </a:prstGeom>
          <a:noFill/>
          <a:ln/>
        </p:spPr>
        <p:txBody>
          <a:bodyPr wrap="square" lIns="182880" tIns="0" rIns="182880" bIns="0" rtlCol="0" anchor="ctr"/>
          <a:lstStyle/>
          <a:p>
            <a:pPr marL="0" indent="0" algn="l">
              <a:buNone/>
            </a:pPr>
            <a:r>
              <a:rPr lang="en-US" sz="1800" b="1" dirty="0">
                <a:solidFill>
                  <a:srgbClr val="FFFFFF"/>
                </a:solidFill>
              </a:rPr>
              <a:t>📖  Know Your Body</a:t>
            </a:r>
          </a:p>
        </p:txBody>
      </p:sp>
      <p:sp>
        <p:nvSpPr>
          <p:cNvPr id="14" name="Card3TextBg"/>
          <p:cNvSpPr/>
          <p:nvPr/>
        </p:nvSpPr>
        <p:spPr>
          <a:xfrm>
            <a:off x="320040" y="4251960"/>
            <a:ext cx="8503920" cy="777240"/>
          </a:xfrm>
          <a:prstGeom prst="rect">
            <a:avLst/>
          </a:prstGeom>
          <a:solidFill>
            <a:srgbClr val="FFFFFF"/>
          </a:solidFill>
          <a:ln>
            <a:solidFill>
              <a:srgbClr val="B2DFDB"/>
            </a:solidFill>
          </a:ln>
        </p:spPr>
      </p:sp>
      <p:sp>
        <p:nvSpPr>
          <p:cNvPr id="15" name="Card3Text"/>
          <p:cNvSpPr/>
          <p:nvPr/>
        </p:nvSpPr>
        <p:spPr>
          <a:xfrm>
            <a:off x="502920" y="4297200"/>
            <a:ext cx="8139240" cy="685800"/>
          </a:xfrm>
          <a:prstGeom prst="rect">
            <a:avLst/>
          </a:prstGeom>
          <a:noFill/>
          <a:ln/>
        </p:spPr>
        <p:txBody>
          <a:bodyPr wrap="square" rtlCol="0" anchor="ctr"/>
          <a:lstStyle/>
          <a:p>
            <a:pPr marL="0" indent="0">
              <a:buNone/>
            </a:pPr>
            <a:r>
              <a:rPr lang="en-US" sz="1440" dirty="0">
                <a:solidFill>
                  <a:srgbClr val="004D40"/>
                </a:solidFill>
              </a:rPr>
              <a:t>Track your periods, notice your patterns, and remember — every girl's experience is a little different. That's completely normal! A period tracking diary or app can help.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E0F2F1"/>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E91E8C"/>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3120" b="1" dirty="0">
                <a:solidFill>
                  <a:srgbClr val="FFFFFF"/>
                </a:solidFill>
              </a:rPr>
              <a:t>💪  Breaking the Stigma — Together!</a:t>
            </a:r>
            <a:endParaRPr lang="en-US" sz="3120" dirty="0"/>
          </a:p>
        </p:txBody>
      </p:sp>
      <p:sp>
        <p:nvSpPr>
          <p:cNvPr id="4" name="Shape 2"/>
          <p:cNvSpPr/>
          <p:nvPr/>
        </p:nvSpPr>
        <p:spPr>
          <a:xfrm>
            <a:off x="320040" y="1097280"/>
            <a:ext cx="8503920" cy="822960"/>
          </a:xfrm>
          <a:prstGeom prst="rect">
            <a:avLst/>
          </a:prstGeom>
          <a:solidFill>
            <a:srgbClr val="FFFFFF"/>
          </a:solidFill>
          <a:ln/>
          <a:effectLst>
            <a:outerShdw blurRad="101600" dist="38100" dir="8100000" algn="bl" rotWithShape="0">
              <a:srgbClr val="000000">
                <a:alpha val="10000"/>
              </a:srgbClr>
            </a:outerShdw>
          </a:effectLst>
        </p:spPr>
      </p:sp>
      <p:sp>
        <p:nvSpPr>
          <p:cNvPr id="5" name="Text 3"/>
          <p:cNvSpPr/>
          <p:nvPr/>
        </p:nvSpPr>
        <p:spPr>
          <a:xfrm>
            <a:off x="502920" y="1170432"/>
            <a:ext cx="8229600" cy="685800"/>
          </a:xfrm>
          <a:prstGeom prst="rect">
            <a:avLst/>
          </a:prstGeom>
          <a:noFill/>
          <a:ln/>
        </p:spPr>
        <p:txBody>
          <a:bodyPr wrap="square" rtlCol="0" anchor="ctr"/>
          <a:lstStyle/>
          <a:p>
            <a:pPr marL="0" indent="0">
              <a:buNone/>
            </a:pPr>
            <a:r>
              <a:rPr lang="en-US" sz="1680" dirty="0">
                <a:solidFill>
                  <a:srgbClr val="212121"/>
                </a:solidFill>
              </a:rPr>
              <a:t>Period stigma means treating menstruation as something shameful or secretive. This harms girls and prevents them from getting the help they need. WE can all help change this!</a:t>
            </a:r>
            <a:endParaRPr lang="en-US" sz="1680" dirty="0"/>
          </a:p>
        </p:txBody>
      </p:sp>
      <p:sp>
        <p:nvSpPr>
          <p:cNvPr id="6" name="Shape 4"/>
          <p:cNvSpPr/>
          <p:nvPr/>
        </p:nvSpPr>
        <p:spPr>
          <a:xfrm>
            <a:off x="320040" y="2103120"/>
            <a:ext cx="2743200" cy="2560320"/>
          </a:xfrm>
          <a:prstGeom prst="rect">
            <a:avLst/>
          </a:prstGeom>
          <a:solidFill>
            <a:srgbClr val="FFFFFF"/>
          </a:solidFill>
          <a:ln/>
          <a:effectLst>
            <a:outerShdw blurRad="101600" dist="38100" dir="8100000" algn="bl" rotWithShape="0">
              <a:srgbClr val="000000">
                <a:alpha val="10000"/>
              </a:srgbClr>
            </a:outerShdw>
          </a:effectLst>
        </p:spPr>
      </p:sp>
      <p:sp>
        <p:nvSpPr>
          <p:cNvPr id="7" name="Shape 5"/>
          <p:cNvSpPr/>
          <p:nvPr/>
        </p:nvSpPr>
        <p:spPr>
          <a:xfrm>
            <a:off x="320040" y="2103120"/>
            <a:ext cx="2743200" cy="411480"/>
          </a:xfrm>
          <a:prstGeom prst="rect">
            <a:avLst/>
          </a:prstGeom>
          <a:solidFill>
            <a:srgbClr val="E91E8C"/>
          </a:solidFill>
          <a:ln/>
        </p:spPr>
      </p:sp>
      <p:sp>
        <p:nvSpPr>
          <p:cNvPr id="8" name="Text 6"/>
          <p:cNvSpPr/>
          <p:nvPr/>
        </p:nvSpPr>
        <p:spPr>
          <a:xfrm>
            <a:off x="320040" y="2103120"/>
            <a:ext cx="2743200" cy="411480"/>
          </a:xfrm>
          <a:prstGeom prst="rect">
            <a:avLst/>
          </a:prstGeom>
          <a:noFill/>
          <a:ln/>
        </p:spPr>
        <p:txBody>
          <a:bodyPr wrap="square" lIns="0" tIns="0" rIns="0" bIns="0" rtlCol="0" anchor="ctr"/>
          <a:lstStyle/>
          <a:p>
            <a:pPr marL="0" indent="0" algn="ctr">
              <a:buNone/>
            </a:pPr>
            <a:r>
              <a:rPr lang="en-US" sz="1560" b="1" dirty="0">
                <a:solidFill>
                  <a:srgbClr val="FFFFFF"/>
                </a:solidFill>
              </a:rPr>
              <a:t>👧 Girls can:</a:t>
            </a:r>
            <a:endParaRPr lang="en-US" sz="1560" dirty="0"/>
          </a:p>
        </p:txBody>
      </p:sp>
      <p:sp>
        <p:nvSpPr>
          <p:cNvPr id="9" name="Text 7"/>
          <p:cNvSpPr/>
          <p:nvPr/>
        </p:nvSpPr>
        <p:spPr>
          <a:xfrm>
            <a:off x="457200" y="2606040"/>
            <a:ext cx="2468880" cy="1920240"/>
          </a:xfrm>
          <a:prstGeom prst="rect">
            <a:avLst/>
          </a:prstGeom>
          <a:noFill/>
          <a:ln/>
        </p:spPr>
        <p:txBody>
          <a:bodyPr wrap="square" rtlCol="0" anchor="ctr"/>
          <a:lstStyle/>
          <a:p>
            <a:pPr marL="0" indent="0">
              <a:buNone/>
            </a:pPr>
            <a:r>
              <a:rPr lang="en-US" sz="1440" dirty="0">
                <a:solidFill>
                  <a:srgbClr val="212121"/>
                </a:solidFill>
              </a:rPr>
              <a:t>Talk to a trusted adult when you need help. Don't suffer in silence. Your health matters!</a:t>
            </a:r>
            <a:endParaRPr lang="en-US" sz="1440" dirty="0"/>
          </a:p>
        </p:txBody>
      </p:sp>
      <p:sp>
        <p:nvSpPr>
          <p:cNvPr id="10" name="Shape 8"/>
          <p:cNvSpPr/>
          <p:nvPr/>
        </p:nvSpPr>
        <p:spPr>
          <a:xfrm>
            <a:off x="3246120" y="2103120"/>
            <a:ext cx="2743200" cy="2560320"/>
          </a:xfrm>
          <a:prstGeom prst="rect">
            <a:avLst/>
          </a:prstGeom>
          <a:solidFill>
            <a:srgbClr val="FFFFFF"/>
          </a:solidFill>
          <a:ln/>
          <a:effectLst>
            <a:outerShdw blurRad="101600" dist="38100" dir="8100000" algn="bl" rotWithShape="0">
              <a:srgbClr val="000000">
                <a:alpha val="10000"/>
              </a:srgbClr>
            </a:outerShdw>
          </a:effectLst>
        </p:spPr>
      </p:sp>
      <p:sp>
        <p:nvSpPr>
          <p:cNvPr id="11" name="Shape 9"/>
          <p:cNvSpPr/>
          <p:nvPr/>
        </p:nvSpPr>
        <p:spPr>
          <a:xfrm>
            <a:off x="3246120" y="2103120"/>
            <a:ext cx="2743200" cy="411480"/>
          </a:xfrm>
          <a:prstGeom prst="rect">
            <a:avLst/>
          </a:prstGeom>
          <a:solidFill>
            <a:srgbClr val="E65100"/>
          </a:solidFill>
          <a:ln/>
        </p:spPr>
      </p:sp>
      <p:sp>
        <p:nvSpPr>
          <p:cNvPr id="12" name="Text 10"/>
          <p:cNvSpPr/>
          <p:nvPr/>
        </p:nvSpPr>
        <p:spPr>
          <a:xfrm>
            <a:off x="3246120" y="2103120"/>
            <a:ext cx="2743200" cy="411480"/>
          </a:xfrm>
          <a:prstGeom prst="rect">
            <a:avLst/>
          </a:prstGeom>
          <a:noFill/>
          <a:ln/>
        </p:spPr>
        <p:txBody>
          <a:bodyPr wrap="square" lIns="0" tIns="0" rIns="0" bIns="0" rtlCol="0" anchor="ctr"/>
          <a:lstStyle/>
          <a:p>
            <a:pPr marL="0" indent="0" algn="ctr">
              <a:buNone/>
            </a:pPr>
            <a:r>
              <a:rPr lang="en-US" sz="1560" b="1" dirty="0">
                <a:solidFill>
                  <a:srgbClr val="FFFFFF"/>
                </a:solidFill>
              </a:rPr>
              <a:t>👨‍👩‍👧 Families can:</a:t>
            </a:r>
            <a:endParaRPr lang="en-US" sz="1560" dirty="0"/>
          </a:p>
        </p:txBody>
      </p:sp>
      <p:sp>
        <p:nvSpPr>
          <p:cNvPr id="13" name="Text 11"/>
          <p:cNvSpPr/>
          <p:nvPr/>
        </p:nvSpPr>
        <p:spPr>
          <a:xfrm>
            <a:off x="3383280" y="2606040"/>
            <a:ext cx="2468880" cy="1920240"/>
          </a:xfrm>
          <a:prstGeom prst="rect">
            <a:avLst/>
          </a:prstGeom>
          <a:noFill/>
          <a:ln/>
        </p:spPr>
        <p:txBody>
          <a:bodyPr wrap="square" rtlCol="0" anchor="ctr"/>
          <a:lstStyle/>
          <a:p>
            <a:pPr marL="0" indent="0">
              <a:buNone/>
            </a:pPr>
            <a:r>
              <a:rPr lang="en-US" sz="1440" dirty="0">
                <a:solidFill>
                  <a:srgbClr val="212121"/>
                </a:solidFill>
              </a:rPr>
              <a:t>Talk about periods openly at home. Make sure girls have access to proper products and support.</a:t>
            </a:r>
            <a:endParaRPr lang="en-US" sz="1440" dirty="0"/>
          </a:p>
        </p:txBody>
      </p:sp>
      <p:sp>
        <p:nvSpPr>
          <p:cNvPr id="14" name="Shape 12"/>
          <p:cNvSpPr/>
          <p:nvPr/>
        </p:nvSpPr>
        <p:spPr>
          <a:xfrm>
            <a:off x="6172200" y="2103120"/>
            <a:ext cx="2743200" cy="2560320"/>
          </a:xfrm>
          <a:prstGeom prst="rect">
            <a:avLst/>
          </a:prstGeom>
          <a:solidFill>
            <a:srgbClr val="FFFFFF"/>
          </a:solidFill>
          <a:ln/>
          <a:effectLst>
            <a:outerShdw blurRad="101600" dist="38100" dir="8100000" algn="bl" rotWithShape="0">
              <a:srgbClr val="000000">
                <a:alpha val="10000"/>
              </a:srgbClr>
            </a:outerShdw>
          </a:effectLst>
        </p:spPr>
      </p:sp>
      <p:sp>
        <p:nvSpPr>
          <p:cNvPr id="15" name="Shape 13"/>
          <p:cNvSpPr/>
          <p:nvPr/>
        </p:nvSpPr>
        <p:spPr>
          <a:xfrm>
            <a:off x="6172200" y="2103120"/>
            <a:ext cx="2743200" cy="411480"/>
          </a:xfrm>
          <a:prstGeom prst="rect">
            <a:avLst/>
          </a:prstGeom>
          <a:solidFill>
            <a:srgbClr val="388E3C"/>
          </a:solidFill>
          <a:ln/>
        </p:spPr>
      </p:sp>
      <p:sp>
        <p:nvSpPr>
          <p:cNvPr id="16" name="Text 14"/>
          <p:cNvSpPr/>
          <p:nvPr/>
        </p:nvSpPr>
        <p:spPr>
          <a:xfrm>
            <a:off x="6172200" y="2103120"/>
            <a:ext cx="2743200" cy="411480"/>
          </a:xfrm>
          <a:prstGeom prst="rect">
            <a:avLst/>
          </a:prstGeom>
          <a:noFill/>
          <a:ln/>
        </p:spPr>
        <p:txBody>
          <a:bodyPr wrap="square" lIns="0" tIns="0" rIns="0" bIns="0" rtlCol="0" anchor="ctr"/>
          <a:lstStyle/>
          <a:p>
            <a:pPr marL="0" indent="0" algn="ctr">
              <a:buNone/>
            </a:pPr>
            <a:r>
              <a:rPr lang="en-US" sz="1560" b="1" dirty="0">
                <a:solidFill>
                  <a:srgbClr val="FFFFFF"/>
                </a:solidFill>
              </a:rPr>
              <a:t>🏫 Schools can:</a:t>
            </a:r>
            <a:endParaRPr lang="en-US" sz="1560" dirty="0"/>
          </a:p>
        </p:txBody>
      </p:sp>
      <p:sp>
        <p:nvSpPr>
          <p:cNvPr id="17" name="Text 15"/>
          <p:cNvSpPr/>
          <p:nvPr/>
        </p:nvSpPr>
        <p:spPr>
          <a:xfrm>
            <a:off x="6309360" y="2606040"/>
            <a:ext cx="2468880" cy="1920240"/>
          </a:xfrm>
          <a:prstGeom prst="rect">
            <a:avLst/>
          </a:prstGeom>
          <a:noFill/>
          <a:ln/>
        </p:spPr>
        <p:txBody>
          <a:bodyPr wrap="square" rtlCol="0" anchor="ctr"/>
          <a:lstStyle/>
          <a:p>
            <a:pPr marL="0" indent="0">
              <a:buNone/>
            </a:pPr>
            <a:r>
              <a:rPr lang="en-US" sz="1440" dirty="0">
                <a:solidFill>
                  <a:srgbClr val="212121"/>
                </a:solidFill>
              </a:rPr>
              <a:t>Provide pads, clean toilets, and safe disposal facilities. Teach menstrual health to everyone!</a:t>
            </a:r>
            <a:endParaRPr lang="en-US" sz="14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bg>
      <p:bgPr>
        <a:solidFill>
          <a:srgbClr val="FFF8E1"/>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009688"/>
          </a:solidFill>
          <a:ln/>
          <a:effectLst>
            <a:outerShdw blurRad="101600" dist="38100" dir="8100000" algn="bl" rotWithShape="0">
              <a:srgbClr val="000000">
                <a:alpha val="10000"/>
              </a:srgbClr>
            </a:outerShdw>
          </a:effectLst>
        </p:spPr>
      </p:sp>
      <p:sp>
        <p:nvSpPr>
          <p:cNvPr id="3" name="Text 1"/>
          <p:cNvSpPr/>
          <p:nvPr/>
        </p:nvSpPr>
        <p:spPr>
          <a:xfrm>
            <a:off x="274320" y="137160"/>
            <a:ext cx="8595360" cy="822960"/>
          </a:xfrm>
          <a:prstGeom prst="rect">
            <a:avLst/>
          </a:prstGeom>
          <a:noFill/>
          <a:ln/>
        </p:spPr>
        <p:txBody>
          <a:bodyPr wrap="square" lIns="0" tIns="0" rIns="0" bIns="0" rtlCol="0" anchor="ctr"/>
          <a:lstStyle/>
          <a:p>
            <a:pPr marL="0" indent="0" algn="ctr">
              <a:buNone/>
            </a:pPr>
            <a:r>
              <a:rPr lang="en-US" sz="2880" b="1" dirty="0">
                <a:solidFill>
                  <a:srgbClr val="FFFFFF"/>
                </a:solidFill>
              </a:rPr>
              <a:t>📝  Quick Recap — Remember These 7 Things!</a:t>
            </a:r>
            <a:endParaRPr lang="en-US" sz="2880" dirty="0"/>
          </a:p>
        </p:txBody>
      </p:sp>
      <p:sp>
        <p:nvSpPr>
          <p:cNvPr id="4" name="Shape 2"/>
          <p:cNvSpPr/>
          <p:nvPr/>
        </p:nvSpPr>
        <p:spPr>
          <a:xfrm>
            <a:off x="365760" y="1143000"/>
            <a:ext cx="457200" cy="457200"/>
          </a:xfrm>
          <a:prstGeom prst="ellipse">
            <a:avLst/>
          </a:prstGeom>
          <a:solidFill>
            <a:srgbClr val="E91E8C"/>
          </a:solidFill>
          <a:ln/>
        </p:spPr>
      </p:sp>
      <p:sp>
        <p:nvSpPr>
          <p:cNvPr id="5" name="Text 3"/>
          <p:cNvSpPr/>
          <p:nvPr/>
        </p:nvSpPr>
        <p:spPr>
          <a:xfrm>
            <a:off x="365760" y="11430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Shape 4"/>
          <p:cNvSpPr/>
          <p:nvPr/>
        </p:nvSpPr>
        <p:spPr>
          <a:xfrm>
            <a:off x="960120" y="1143000"/>
            <a:ext cx="7909560" cy="457200"/>
          </a:xfrm>
          <a:prstGeom prst="rect">
            <a:avLst/>
          </a:prstGeom>
          <a:solidFill>
            <a:srgbClr val="FFFFFF"/>
          </a:solidFill>
          <a:ln/>
          <a:effectLst>
            <a:outerShdw blurRad="101600" dist="38100" dir="8100000" algn="bl" rotWithShape="0">
              <a:srgbClr val="000000">
                <a:alpha val="10000"/>
              </a:srgbClr>
            </a:outerShdw>
          </a:effectLst>
        </p:spPr>
      </p:sp>
      <p:sp>
        <p:nvSpPr>
          <p:cNvPr id="7" name="Text 5"/>
          <p:cNvSpPr/>
          <p:nvPr/>
        </p:nvSpPr>
        <p:spPr>
          <a:xfrm>
            <a:off x="1097280" y="1143000"/>
            <a:ext cx="7635240" cy="457200"/>
          </a:xfrm>
          <a:prstGeom prst="rect">
            <a:avLst/>
          </a:prstGeom>
          <a:noFill/>
          <a:ln/>
        </p:spPr>
        <p:txBody>
          <a:bodyPr wrap="square" rtlCol="0" anchor="ctr"/>
          <a:lstStyle/>
          <a:p>
            <a:pPr marL="0" indent="0">
              <a:buNone/>
            </a:pPr>
            <a:r>
              <a:rPr lang="en-US" sz="1440" dirty="0">
                <a:solidFill>
                  <a:srgbClr val="212121"/>
                </a:solidFill>
              </a:rPr>
              <a:t>Menstruation is NORMAL — not impure, not a disease, and not a barrier to any activity.</a:t>
            </a:r>
            <a:endParaRPr lang="en-US" sz="1440" dirty="0"/>
          </a:p>
        </p:txBody>
      </p:sp>
      <p:sp>
        <p:nvSpPr>
          <p:cNvPr id="8" name="Shape 6"/>
          <p:cNvSpPr/>
          <p:nvPr/>
        </p:nvSpPr>
        <p:spPr>
          <a:xfrm>
            <a:off x="365760" y="1691640"/>
            <a:ext cx="457200" cy="457200"/>
          </a:xfrm>
          <a:prstGeom prst="ellipse">
            <a:avLst/>
          </a:prstGeom>
          <a:solidFill>
            <a:srgbClr val="7B2D8B"/>
          </a:solidFill>
          <a:ln/>
        </p:spPr>
      </p:sp>
      <p:sp>
        <p:nvSpPr>
          <p:cNvPr id="9" name="Text 7"/>
          <p:cNvSpPr/>
          <p:nvPr/>
        </p:nvSpPr>
        <p:spPr>
          <a:xfrm>
            <a:off x="365760" y="1691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0" name="Shape 8"/>
          <p:cNvSpPr/>
          <p:nvPr/>
        </p:nvSpPr>
        <p:spPr>
          <a:xfrm>
            <a:off x="960120" y="1691640"/>
            <a:ext cx="7909560" cy="457200"/>
          </a:xfrm>
          <a:prstGeom prst="rect">
            <a:avLst/>
          </a:prstGeom>
          <a:solidFill>
            <a:srgbClr val="FFFFFF"/>
          </a:solidFill>
          <a:ln/>
          <a:effectLst>
            <a:outerShdw blurRad="101600" dist="38100" dir="8100000" algn="bl" rotWithShape="0">
              <a:srgbClr val="000000">
                <a:alpha val="10000"/>
              </a:srgbClr>
            </a:outerShdw>
          </a:effectLst>
        </p:spPr>
      </p:sp>
      <p:sp>
        <p:nvSpPr>
          <p:cNvPr id="11" name="Text 9"/>
          <p:cNvSpPr/>
          <p:nvPr/>
        </p:nvSpPr>
        <p:spPr>
          <a:xfrm>
            <a:off x="1097280" y="1691640"/>
            <a:ext cx="7635240" cy="457200"/>
          </a:xfrm>
          <a:prstGeom prst="rect">
            <a:avLst/>
          </a:prstGeom>
          <a:noFill/>
          <a:ln/>
        </p:spPr>
        <p:txBody>
          <a:bodyPr wrap="square" rtlCol="0" anchor="ctr"/>
          <a:lstStyle/>
          <a:p>
            <a:pPr marL="0" indent="0">
              <a:buNone/>
            </a:pPr>
            <a:r>
              <a:rPr lang="en-US" sz="1440" dirty="0">
                <a:solidFill>
                  <a:srgbClr val="212121"/>
                </a:solidFill>
              </a:rPr>
              <a:t>Use sanitary pads or menstrual cups. Change every 4–8 hours. Avoid unclean cloth rags.</a:t>
            </a:r>
            <a:endParaRPr lang="en-US" sz="1440" dirty="0"/>
          </a:p>
        </p:txBody>
      </p:sp>
      <p:sp>
        <p:nvSpPr>
          <p:cNvPr id="12" name="Shape 10"/>
          <p:cNvSpPr/>
          <p:nvPr/>
        </p:nvSpPr>
        <p:spPr>
          <a:xfrm>
            <a:off x="365760" y="2240280"/>
            <a:ext cx="457200" cy="457200"/>
          </a:xfrm>
          <a:prstGeom prst="ellipse">
            <a:avLst/>
          </a:prstGeom>
          <a:solidFill>
            <a:srgbClr val="009688"/>
          </a:solidFill>
          <a:ln/>
        </p:spPr>
      </p:sp>
      <p:sp>
        <p:nvSpPr>
          <p:cNvPr id="13" name="Text 11"/>
          <p:cNvSpPr/>
          <p:nvPr/>
        </p:nvSpPr>
        <p:spPr>
          <a:xfrm>
            <a:off x="365760" y="22402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4" name="Shape 12"/>
          <p:cNvSpPr/>
          <p:nvPr/>
        </p:nvSpPr>
        <p:spPr>
          <a:xfrm>
            <a:off x="960120" y="2240280"/>
            <a:ext cx="7909560" cy="457200"/>
          </a:xfrm>
          <a:prstGeom prst="rect">
            <a:avLst/>
          </a:prstGeom>
          <a:solidFill>
            <a:srgbClr val="FFFFFF"/>
          </a:solidFill>
          <a:ln/>
          <a:effectLst>
            <a:outerShdw blurRad="101600" dist="38100" dir="8100000" algn="bl" rotWithShape="0">
              <a:srgbClr val="000000">
                <a:alpha val="10000"/>
              </a:srgbClr>
            </a:outerShdw>
          </a:effectLst>
        </p:spPr>
      </p:sp>
      <p:sp>
        <p:nvSpPr>
          <p:cNvPr id="15" name="Text 13"/>
          <p:cNvSpPr/>
          <p:nvPr/>
        </p:nvSpPr>
        <p:spPr>
          <a:xfrm>
            <a:off x="1097280" y="2240280"/>
            <a:ext cx="7635240" cy="457200"/>
          </a:xfrm>
          <a:prstGeom prst="rect">
            <a:avLst/>
          </a:prstGeom>
          <a:noFill/>
          <a:ln/>
        </p:spPr>
        <p:txBody>
          <a:bodyPr wrap="square" rtlCol="0" anchor="ctr"/>
          <a:lstStyle/>
          <a:p>
            <a:pPr marL="0" indent="0">
              <a:buNone/>
            </a:pPr>
            <a:r>
              <a:rPr lang="en-US" sz="1440" dirty="0">
                <a:solidFill>
                  <a:srgbClr val="212121"/>
                </a:solidFill>
              </a:rPr>
              <a:t>Wash your hands before and after changing products. Wash the outer private area gently with water.</a:t>
            </a:r>
            <a:endParaRPr lang="en-US" sz="1440" dirty="0"/>
          </a:p>
        </p:txBody>
      </p:sp>
      <p:sp>
        <p:nvSpPr>
          <p:cNvPr id="16" name="Shape 14"/>
          <p:cNvSpPr/>
          <p:nvPr/>
        </p:nvSpPr>
        <p:spPr>
          <a:xfrm>
            <a:off x="365760" y="2788920"/>
            <a:ext cx="457200" cy="457200"/>
          </a:xfrm>
          <a:prstGeom prst="ellipse">
            <a:avLst/>
          </a:prstGeom>
          <a:solidFill>
            <a:srgbClr val="388E3C"/>
          </a:solidFill>
          <a:ln/>
        </p:spPr>
      </p:sp>
      <p:sp>
        <p:nvSpPr>
          <p:cNvPr id="17" name="Text 15"/>
          <p:cNvSpPr/>
          <p:nvPr/>
        </p:nvSpPr>
        <p:spPr>
          <a:xfrm>
            <a:off x="365760" y="2788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8" name="Shape 16"/>
          <p:cNvSpPr/>
          <p:nvPr/>
        </p:nvSpPr>
        <p:spPr>
          <a:xfrm>
            <a:off x="960120" y="2788920"/>
            <a:ext cx="7909560" cy="457200"/>
          </a:xfrm>
          <a:prstGeom prst="rect">
            <a:avLst/>
          </a:prstGeom>
          <a:solidFill>
            <a:srgbClr val="FFFFFF"/>
          </a:solidFill>
          <a:ln/>
          <a:effectLst>
            <a:outerShdw blurRad="101600" dist="38100" dir="8100000" algn="bl" rotWithShape="0">
              <a:srgbClr val="000000">
                <a:alpha val="10000"/>
              </a:srgbClr>
            </a:outerShdw>
          </a:effectLst>
        </p:spPr>
      </p:sp>
      <p:sp>
        <p:nvSpPr>
          <p:cNvPr id="19" name="Text 17"/>
          <p:cNvSpPr/>
          <p:nvPr/>
        </p:nvSpPr>
        <p:spPr>
          <a:xfrm>
            <a:off x="1097280" y="2788920"/>
            <a:ext cx="7635240" cy="457200"/>
          </a:xfrm>
          <a:prstGeom prst="rect">
            <a:avLst/>
          </a:prstGeom>
          <a:noFill/>
          <a:ln/>
        </p:spPr>
        <p:txBody>
          <a:bodyPr wrap="square" rtlCol="0" anchor="ctr"/>
          <a:lstStyle/>
          <a:p>
            <a:pPr marL="0" indent="0">
              <a:buNone/>
            </a:pPr>
            <a:r>
              <a:rPr lang="en-US" sz="1440" dirty="0">
                <a:solidFill>
                  <a:srgbClr val="212121"/>
                </a:solidFill>
              </a:rPr>
              <a:t>Bathe EVERY DAY during your period. Dispose safely — wrap &amp; bin at school, separate dry waste at home.</a:t>
            </a:r>
            <a:endParaRPr lang="en-US" sz="1440" dirty="0"/>
          </a:p>
        </p:txBody>
      </p:sp>
      <p:sp>
        <p:nvSpPr>
          <p:cNvPr id="20" name="Shape 18"/>
          <p:cNvSpPr/>
          <p:nvPr/>
        </p:nvSpPr>
        <p:spPr>
          <a:xfrm>
            <a:off x="365760" y="3337560"/>
            <a:ext cx="457200" cy="457200"/>
          </a:xfrm>
          <a:prstGeom prst="ellipse">
            <a:avLst/>
          </a:prstGeom>
          <a:solidFill>
            <a:srgbClr val="E65100"/>
          </a:solidFill>
          <a:ln/>
        </p:spPr>
      </p:sp>
      <p:sp>
        <p:nvSpPr>
          <p:cNvPr id="21" name="Text 19"/>
          <p:cNvSpPr/>
          <p:nvPr/>
        </p:nvSpPr>
        <p:spPr>
          <a:xfrm>
            <a:off x="365760" y="33375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2" name="Shape 20"/>
          <p:cNvSpPr/>
          <p:nvPr/>
        </p:nvSpPr>
        <p:spPr>
          <a:xfrm>
            <a:off x="960120" y="3337560"/>
            <a:ext cx="7909560" cy="457200"/>
          </a:xfrm>
          <a:prstGeom prst="rect">
            <a:avLst/>
          </a:prstGeom>
          <a:solidFill>
            <a:srgbClr val="FFFFFF"/>
          </a:solidFill>
          <a:ln/>
          <a:effectLst>
            <a:outerShdw blurRad="101600" dist="38100" dir="8100000" algn="bl" rotWithShape="0">
              <a:srgbClr val="000000">
                <a:alpha val="10000"/>
              </a:srgbClr>
            </a:outerShdw>
          </a:effectLst>
        </p:spPr>
      </p:sp>
      <p:sp>
        <p:nvSpPr>
          <p:cNvPr id="23" name="Text 21"/>
          <p:cNvSpPr/>
          <p:nvPr/>
        </p:nvSpPr>
        <p:spPr>
          <a:xfrm>
            <a:off x="1097280" y="3337560"/>
            <a:ext cx="7635240" cy="457200"/>
          </a:xfrm>
          <a:prstGeom prst="rect">
            <a:avLst/>
          </a:prstGeom>
          <a:noFill/>
          <a:ln/>
        </p:spPr>
        <p:txBody>
          <a:bodyPr wrap="square" rtlCol="0" anchor="ctr"/>
          <a:lstStyle/>
          <a:p>
            <a:pPr marL="0" indent="0">
              <a:buNone/>
            </a:pPr>
            <a:r>
              <a:rPr lang="en-US" sz="1440" dirty="0">
                <a:solidFill>
                  <a:srgbClr val="212121"/>
                </a:solidFill>
              </a:rPr>
              <a:t>Track your cycle. Carry a spare pad. Stay active and go to school!</a:t>
            </a:r>
            <a:endParaRPr lang="en-US" sz="1440" dirty="0"/>
          </a:p>
        </p:txBody>
      </p:sp>
      <p:sp>
        <p:nvSpPr>
          <p:cNvPr id="24" name="Shape 22"/>
          <p:cNvSpPr/>
          <p:nvPr/>
        </p:nvSpPr>
        <p:spPr>
          <a:xfrm>
            <a:off x="365760" y="3886200"/>
            <a:ext cx="457200" cy="457200"/>
          </a:xfrm>
          <a:prstGeom prst="ellipse">
            <a:avLst/>
          </a:prstGeom>
          <a:solidFill>
            <a:srgbClr val="E53935"/>
          </a:solidFill>
          <a:ln/>
        </p:spPr>
      </p:sp>
      <p:sp>
        <p:nvSpPr>
          <p:cNvPr id="25" name="Text 23"/>
          <p:cNvSpPr/>
          <p:nvPr/>
        </p:nvSpPr>
        <p:spPr>
          <a:xfrm>
            <a:off x="365760" y="3886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6</a:t>
            </a:r>
            <a:endParaRPr lang="en-US" sz="1800" dirty="0"/>
          </a:p>
        </p:txBody>
      </p:sp>
      <p:sp>
        <p:nvSpPr>
          <p:cNvPr id="26" name="Shape 24"/>
          <p:cNvSpPr/>
          <p:nvPr/>
        </p:nvSpPr>
        <p:spPr>
          <a:xfrm>
            <a:off x="960120" y="3886200"/>
            <a:ext cx="7909560" cy="457200"/>
          </a:xfrm>
          <a:prstGeom prst="rect">
            <a:avLst/>
          </a:prstGeom>
          <a:solidFill>
            <a:srgbClr val="FFFFFF"/>
          </a:solidFill>
          <a:ln/>
          <a:effectLst>
            <a:outerShdw blurRad="101600" dist="38100" dir="8100000" algn="bl" rotWithShape="0">
              <a:srgbClr val="000000">
                <a:alpha val="10000"/>
              </a:srgbClr>
            </a:outerShdw>
          </a:effectLst>
        </p:spPr>
      </p:sp>
      <p:sp>
        <p:nvSpPr>
          <p:cNvPr id="27" name="Text 25"/>
          <p:cNvSpPr/>
          <p:nvPr/>
        </p:nvSpPr>
        <p:spPr>
          <a:xfrm>
            <a:off x="1097280" y="3886200"/>
            <a:ext cx="7635240" cy="457200"/>
          </a:xfrm>
          <a:prstGeom prst="rect">
            <a:avLst/>
          </a:prstGeom>
          <a:noFill/>
          <a:ln/>
        </p:spPr>
        <p:txBody>
          <a:bodyPr wrap="square" rtlCol="0" anchor="ctr"/>
          <a:lstStyle/>
          <a:p>
            <a:pPr marL="0" indent="0">
              <a:buNone/>
            </a:pPr>
            <a:r>
              <a:rPr lang="en-US" sz="1440" dirty="0">
                <a:solidFill>
                  <a:srgbClr val="212121"/>
                </a:solidFill>
              </a:rPr>
              <a:t>See a doctor if bleeding is very heavy, very painful, or lasts more than 8 days.</a:t>
            </a:r>
            <a:endParaRPr lang="en-US" sz="1440" dirty="0"/>
          </a:p>
        </p:txBody>
      </p:sp>
      <p:sp>
        <p:nvSpPr>
          <p:cNvPr id="28" name="Shape 26"/>
          <p:cNvSpPr/>
          <p:nvPr/>
        </p:nvSpPr>
        <p:spPr>
          <a:xfrm>
            <a:off x="365760" y="4434840"/>
            <a:ext cx="457200" cy="457200"/>
          </a:xfrm>
          <a:prstGeom prst="ellipse">
            <a:avLst/>
          </a:prstGeom>
          <a:solidFill>
            <a:srgbClr val="7B2D8B"/>
          </a:solidFill>
          <a:ln/>
        </p:spPr>
      </p:sp>
      <p:sp>
        <p:nvSpPr>
          <p:cNvPr id="29" name="Text 27"/>
          <p:cNvSpPr/>
          <p:nvPr/>
        </p:nvSpPr>
        <p:spPr>
          <a:xfrm>
            <a:off x="365760" y="4434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7</a:t>
            </a:r>
            <a:endParaRPr lang="en-US" sz="1800" dirty="0"/>
          </a:p>
        </p:txBody>
      </p:sp>
      <p:sp>
        <p:nvSpPr>
          <p:cNvPr id="30" name="Shape 28"/>
          <p:cNvSpPr/>
          <p:nvPr/>
        </p:nvSpPr>
        <p:spPr>
          <a:xfrm>
            <a:off x="960120" y="4434840"/>
            <a:ext cx="7909560" cy="457200"/>
          </a:xfrm>
          <a:prstGeom prst="rect">
            <a:avLst/>
          </a:prstGeom>
          <a:solidFill>
            <a:srgbClr val="FFFFFF"/>
          </a:solidFill>
          <a:ln/>
          <a:effectLst>
            <a:outerShdw blurRad="101600" dist="38100" dir="8100000" algn="bl" rotWithShape="0">
              <a:srgbClr val="000000">
                <a:alpha val="10000"/>
              </a:srgbClr>
            </a:outerShdw>
          </a:effectLst>
        </p:spPr>
      </p:sp>
      <p:sp>
        <p:nvSpPr>
          <p:cNvPr id="31" name="Text 29"/>
          <p:cNvSpPr/>
          <p:nvPr/>
        </p:nvSpPr>
        <p:spPr>
          <a:xfrm>
            <a:off x="1097280" y="4434840"/>
            <a:ext cx="7635240" cy="457200"/>
          </a:xfrm>
          <a:prstGeom prst="rect">
            <a:avLst/>
          </a:prstGeom>
          <a:noFill/>
          <a:ln/>
        </p:spPr>
        <p:txBody>
          <a:bodyPr wrap="square" rtlCol="0" anchor="ctr"/>
          <a:lstStyle/>
          <a:p>
            <a:pPr marL="0" indent="0">
              <a:buNone/>
            </a:pPr>
            <a:r>
              <a:rPr lang="en-US" sz="1440" dirty="0">
                <a:solidFill>
                  <a:srgbClr val="212121"/>
                </a:solidFill>
              </a:rPr>
              <a:t>Talk to a trusted adult when you need help. You are never alone in this journey! 💕</a:t>
            </a:r>
            <a:endParaRPr lang="en-US" sz="144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bg>
      <p:bgPr>
        <a:solidFill>
          <a:srgbClr val="EFEBE9"/>
        </a:solidFill>
        <a:effectLst/>
      </p:bgPr>
    </p:bg>
    <p:spTree>
      <p:nvGrpSpPr>
        <p:cNvPr id="1" name=""/>
        <p:cNvGrpSpPr/>
        <p:nvPr/>
      </p:nvGrpSpPr>
      <p:grpSpPr>
        <a:xfrm>
          <a:off x="0" y="0"/>
          <a:ext cx="0" cy="0"/>
          <a:chOff x="0" y="0"/>
          <a:chExt cx="0" cy="0"/>
        </a:xfrm>
      </p:grpSpPr>
      <p:sp>
        <p:nvSpPr>
          <p:cNvPr id="2" name="Shape 0"/>
          <p:cNvSpPr/>
          <p:nvPr/>
        </p:nvSpPr>
        <p:spPr>
          <a:xfrm>
            <a:off x="7498080" y="-548640"/>
            <a:ext cx="3657600" cy="3657600"/>
          </a:xfrm>
          <a:prstGeom prst="ellipse">
            <a:avLst/>
          </a:prstGeom>
          <a:solidFill>
            <a:srgbClr val="9C27B0"/>
          </a:solidFill>
          <a:ln/>
        </p:spPr>
      </p:sp>
      <p:sp>
        <p:nvSpPr>
          <p:cNvPr id="3" name="Shape 1"/>
          <p:cNvSpPr/>
          <p:nvPr/>
        </p:nvSpPr>
        <p:spPr>
          <a:xfrm>
            <a:off x="-914400" y="3474720"/>
            <a:ext cx="2743200" cy="2743200"/>
          </a:xfrm>
          <a:prstGeom prst="ellipse">
            <a:avLst/>
          </a:prstGeom>
          <a:solidFill>
            <a:srgbClr val="6A0080"/>
          </a:solidFill>
          <a:ln/>
        </p:spPr>
      </p:sp>
      <p:sp>
        <p:nvSpPr>
          <p:cNvPr id="4" name="Shape 2"/>
          <p:cNvSpPr/>
          <p:nvPr/>
        </p:nvSpPr>
        <p:spPr>
          <a:xfrm>
            <a:off x="6858000" y="3200400"/>
            <a:ext cx="1828800" cy="1828800"/>
          </a:xfrm>
          <a:prstGeom prst="ellipse">
            <a:avLst/>
          </a:prstGeom>
          <a:solidFill>
            <a:srgbClr val="CE93D8"/>
          </a:solidFill>
          <a:ln/>
        </p:spPr>
      </p:sp>
      <p:sp>
        <p:nvSpPr>
          <p:cNvPr id="5" name="Text 3"/>
          <p:cNvSpPr/>
          <p:nvPr/>
        </p:nvSpPr>
        <p:spPr>
          <a:xfrm>
            <a:off x="3200400" y="457200"/>
            <a:ext cx="2743200" cy="8229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6" name="Text 4"/>
          <p:cNvSpPr/>
          <p:nvPr/>
        </p:nvSpPr>
        <p:spPr>
          <a:xfrm>
            <a:off x="457200" y="1188720"/>
            <a:ext cx="8229600" cy="640080"/>
          </a:xfrm>
          <a:prstGeom prst="rect">
            <a:avLst/>
          </a:prstGeom>
          <a:noFill/>
          <a:ln/>
        </p:spPr>
        <p:txBody>
          <a:bodyPr wrap="square" rtlCol="0" anchor="ctr"/>
          <a:lstStyle/>
          <a:p>
            <a:pPr marL="0" indent="0" algn="ctr">
              <a:buNone/>
            </a:pPr>
            <a:r>
              <a:rPr lang="en-US" sz="3200" b="1" dirty="0">
                <a:solidFill>
                  <a:srgbClr val="002060"/>
                </a:solidFill>
              </a:rPr>
              <a:t>You Are Informed.</a:t>
            </a:r>
            <a:endParaRPr lang="en-US" sz="3200" dirty="0">
              <a:solidFill>
                <a:srgbClr val="002060"/>
              </a:solidFill>
            </a:endParaRPr>
          </a:p>
        </p:txBody>
      </p:sp>
      <p:sp>
        <p:nvSpPr>
          <p:cNvPr id="7" name="Text 5"/>
          <p:cNvSpPr/>
          <p:nvPr/>
        </p:nvSpPr>
        <p:spPr>
          <a:xfrm>
            <a:off x="457200" y="1783080"/>
            <a:ext cx="8229600" cy="640080"/>
          </a:xfrm>
          <a:prstGeom prst="rect">
            <a:avLst/>
          </a:prstGeom>
          <a:noFill/>
          <a:ln/>
        </p:spPr>
        <p:txBody>
          <a:bodyPr wrap="square" rtlCol="0" anchor="ctr"/>
          <a:lstStyle/>
          <a:p>
            <a:pPr marL="0" indent="0" algn="ctr">
              <a:buNone/>
            </a:pPr>
            <a:r>
              <a:rPr lang="en-US" sz="3200" b="1" dirty="0">
                <a:solidFill>
                  <a:srgbClr val="FFC107"/>
                </a:solidFill>
              </a:rPr>
              <a:t>You Are Empowered.</a:t>
            </a:r>
            <a:endParaRPr lang="en-US" sz="3200" dirty="0"/>
          </a:p>
        </p:txBody>
      </p:sp>
      <p:sp>
        <p:nvSpPr>
          <p:cNvPr id="8" name="Text 6"/>
          <p:cNvSpPr/>
          <p:nvPr/>
        </p:nvSpPr>
        <p:spPr>
          <a:xfrm>
            <a:off x="457200" y="2395728"/>
            <a:ext cx="8229600" cy="502920"/>
          </a:xfrm>
          <a:prstGeom prst="rect">
            <a:avLst/>
          </a:prstGeom>
          <a:noFill/>
          <a:ln/>
        </p:spPr>
        <p:txBody>
          <a:bodyPr wrap="square" rtlCol="0" anchor="ctr"/>
          <a:lstStyle/>
          <a:p>
            <a:pPr marL="0" indent="0" algn="ctr">
              <a:buNone/>
            </a:pPr>
            <a:r>
              <a:rPr lang="en-US" sz="2400" i="1" dirty="0">
                <a:solidFill>
                  <a:schemeClr val="accent2">
                    <a:lumMod val="75000"/>
                  </a:schemeClr>
                </a:solidFill>
              </a:rPr>
              <a:t>You Are in Control of Your Health!</a:t>
            </a:r>
            <a:endParaRPr lang="en-US" sz="2400" dirty="0">
              <a:solidFill>
                <a:schemeClr val="accent2">
                  <a:lumMod val="75000"/>
                </a:schemeClr>
              </a:solidFill>
            </a:endParaRPr>
          </a:p>
        </p:txBody>
      </p:sp>
      <p:sp>
        <p:nvSpPr>
          <p:cNvPr id="9" name="Shape 7"/>
          <p:cNvSpPr/>
          <p:nvPr/>
        </p:nvSpPr>
        <p:spPr>
          <a:xfrm>
            <a:off x="2286000" y="3017520"/>
            <a:ext cx="4572000" cy="54864"/>
          </a:xfrm>
          <a:prstGeom prst="rect">
            <a:avLst/>
          </a:prstGeom>
          <a:solidFill>
            <a:srgbClr val="FFC107"/>
          </a:solidFill>
          <a:ln/>
        </p:spPr>
      </p:sp>
      <p:sp>
        <p:nvSpPr>
          <p:cNvPr id="10" name="Text 8"/>
          <p:cNvSpPr/>
          <p:nvPr/>
        </p:nvSpPr>
        <p:spPr>
          <a:xfrm>
            <a:off x="1371600" y="3200400"/>
            <a:ext cx="6400800" cy="365760"/>
          </a:xfrm>
          <a:prstGeom prst="rect">
            <a:avLst/>
          </a:prstGeom>
          <a:noFill/>
          <a:ln/>
        </p:spPr>
        <p:txBody>
          <a:bodyPr wrap="square" rtlCol="0" anchor="ctr"/>
          <a:lstStyle/>
          <a:p>
            <a:pPr marL="0" indent="0" algn="ctr">
              <a:buNone/>
            </a:pPr>
            <a:r>
              <a:rPr lang="en-US" sz="1680" dirty="0">
                <a:solidFill>
                  <a:srgbClr val="E1BEE7"/>
                </a:solidFill>
              </a:rPr>
              <a:t>✨  </a:t>
            </a:r>
            <a:r>
              <a:rPr lang="en-US" sz="1680" dirty="0">
                <a:solidFill>
                  <a:srgbClr val="A573C3"/>
                </a:solidFill>
              </a:rPr>
              <a:t>Never be ashamed of your body</a:t>
            </a:r>
          </a:p>
        </p:txBody>
      </p:sp>
      <p:sp>
        <p:nvSpPr>
          <p:cNvPr id="11" name="Text 9"/>
          <p:cNvSpPr/>
          <p:nvPr/>
        </p:nvSpPr>
        <p:spPr>
          <a:xfrm>
            <a:off x="1371600" y="3611880"/>
            <a:ext cx="6400800" cy="365760"/>
          </a:xfrm>
          <a:prstGeom prst="rect">
            <a:avLst/>
          </a:prstGeom>
          <a:noFill/>
          <a:ln/>
        </p:spPr>
        <p:txBody>
          <a:bodyPr wrap="square" rtlCol="0" anchor="ctr"/>
          <a:lstStyle/>
          <a:p>
            <a:pPr marL="0" indent="0" algn="ctr">
              <a:buNone/>
            </a:pPr>
            <a:r>
              <a:rPr lang="en-US" sz="1680" dirty="0">
                <a:solidFill>
                  <a:srgbClr val="E1BEE7"/>
                </a:solidFill>
              </a:rPr>
              <a:t>✨  </a:t>
            </a:r>
            <a:r>
              <a:rPr lang="en-US" sz="1680" dirty="0">
                <a:solidFill>
                  <a:srgbClr val="A573C3"/>
                </a:solidFill>
              </a:rPr>
              <a:t>Ask for help whenever you need it</a:t>
            </a:r>
          </a:p>
        </p:txBody>
      </p:sp>
      <p:sp>
        <p:nvSpPr>
          <p:cNvPr id="12" name="Text 10"/>
          <p:cNvSpPr/>
          <p:nvPr/>
        </p:nvSpPr>
        <p:spPr>
          <a:xfrm>
            <a:off x="1371600" y="4023360"/>
            <a:ext cx="6400800" cy="365760"/>
          </a:xfrm>
          <a:prstGeom prst="rect">
            <a:avLst/>
          </a:prstGeom>
          <a:noFill/>
          <a:ln/>
        </p:spPr>
        <p:txBody>
          <a:bodyPr wrap="square" rtlCol="0" anchor="ctr"/>
          <a:lstStyle/>
          <a:p>
            <a:pPr marL="0" indent="0" algn="ctr">
              <a:buNone/>
            </a:pPr>
            <a:r>
              <a:rPr lang="en-US" sz="1680" dirty="0">
                <a:solidFill>
                  <a:srgbClr val="E1BEE7"/>
                </a:solidFill>
              </a:rPr>
              <a:t>✨  </a:t>
            </a:r>
            <a:r>
              <a:rPr lang="en-US" sz="1680" dirty="0">
                <a:solidFill>
                  <a:srgbClr val="A573C3"/>
                </a:solidFill>
              </a:rPr>
              <a:t>Support your friends and classmates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3053</Words>
  <Application>Microsoft Office PowerPoint</Application>
  <PresentationFormat>On-screen Show (16:9)</PresentationFormat>
  <Paragraphs>325</Paragraphs>
  <Slides>35</Slides>
  <Notes>25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35</vt:i4>
      </vt:variant>
    </vt:vector>
  </HeadingPairs>
  <TitlesOfParts>
    <vt:vector size="3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Menstrual Hygiene – Class 6-8</dc:title>
  <dc:subject>PptxGenJS Presentation</dc:subject>
  <dc:creator>PptxGenJS</dc:creator>
  <cp:lastModifiedBy>Manvi Singh</cp:lastModifiedBy>
  <cp:revision>8</cp:revision>
  <dcterms:created xsi:type="dcterms:W3CDTF">2026-04-28T03:44:26Z</dcterms:created>
  <dcterms:modified xsi:type="dcterms:W3CDTF">2026-04-28T05:40:24Z</dcterms:modified>
</cp:coreProperties>
</file>