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560320"/>
            <a:ext cx="107259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Health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Magnitude, Causes, Types, Prevention, Policy and Community Care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718304" y="3566160"/>
            <a:ext cx="274320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is one of the components of health as defined by the World Health Organization (WHO)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is mentally healthy when in a perfect state of balance with the surrounding world, having harmonious relations with others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intelligence, memory, learning capacity, and judgment; no internal conflicts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criticism sportively and has good self-emotional control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problems intelligently, has full self-confidence, is well-adjusted with others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satisfied with what he/she possesses; is cheerful and calm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status of an individual can be assessed by his/her attitude and behavior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Magnitude of the Problem – Global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illness is a global problem, causing considerable disability and a heavy burden of suffering and economic loss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Constitutes 8% of the global burden of all diseases, measured in disability-adjusted life years (DALY)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of mental illness is estimated to be about 10 per 1,000 population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25% of persons suffer from one or the other form of mental illness during their whole lifetime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25% of patients attending hospital will have a psychological basis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80% of mental illness is found in developing countries; 30% of which occur among children below 15 years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Globally: about 40 million cases of severe mental illness, 20 million cases of epilepsy, and about 200 million cases of minor mental illness and neurological conditions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Magnitude of the Problem – India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mental disorder: 10–20 per 1,000 population (10–12 million people)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mental disorder: 20–60 per 1,000 population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problems: 200 per 1,000 population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30% of cases occur among children below 15 years, the majority being mental retardation (MR)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India, about 2.5 lakh new cases are added every year, and these have been gradually increasing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Causative (Risk) Factors – Biological Factors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cause of most mental illnesses is not known; research shows a combination of biological, psychological, and environmental factors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chemistry: impairment of neurotransmitter networks due to brain injury changes nerve receptor/system function, leading to mental disorder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Genetics (heredity): mental illness or susceptibility often runs in families; stress, abuse, or a traumatic event can trigger it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Infections: e.g., a pediatric autoimmune neuro-psychiatric disorder linked to streptococci bacteria is associated with obsessive compulsive disorder in children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Prenatal damage: disruption of early fetal brain development or birth trauma (e.g., loss of oxygen) may result in autism spectrum disorders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 abuse: long-term substance abuse has been linked to anxiety, depression, and paranoia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factors: poor nutrition and exposure to toxins such as lead; exposure to toxins, alcohol, or drugs during pregnancy can result in mental illness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Causative (Risk) Factors – Psychological Factors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317236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psychological trauma following emotional, physical, and sexual abuse in a child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loss of a parent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Negligence of a child in the family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in life or examination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Rape or defilement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323076" y="1188720"/>
            <a:ext cx="5317236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Unemployment, financial loss/loss of job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robbed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violence, parental conflict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problems, divorce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or artificial disaster, or both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Environmental Factors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stressors which can trigger mental illness in a susceptible person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or divorce, and dysfunctional family life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 of inadequacy, low self-esteem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of job or schools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or cultural expectations (e.g., associating beauty with thinness can result in eating disorders)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 abuse by other members of the family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Poverty, illiteracy, broken homes, and malnutrition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Risk Factors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previous mental illness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mental illness among blood relatives (parents or siblings)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Stressful life due to rape, death, or divorce of the parents; financial distress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of chronic diseases like diabetes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Traumatic experiences like assault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injury following a violent blow to the head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Alcoholism, drug abuse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abuse, child negligence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Signs and Symptoms of Mental Illness (Warning Signs)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317236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 sad (hopeless and helpless)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confusion (reduced ability to concentrate)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fears, worries, feeling guilty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mood changes of highs and lows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 from friends, family, colleagues (social isolation)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tiredness, low energy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323076" y="1188720"/>
            <a:ext cx="5317236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Detachment from reality (delusions), hallucinations, or paranoia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Inability to cope with daily activities (school, office, kids)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too much or too little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alcohol, tobacco, or drug abuse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Eating too much or too little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anger, hostility, or violence with family/friends or self-harm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physical symptoms (stomach pain, back pain, headache)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and suicidal tendencies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Mental Disorders – Mental Deficiency (Mental Retardation)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the intelligence quotient (IQ), mentally retarded individuals are classified into mild, moderate, and severe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MR: educable and trainable; children remain 2–3 years behind their healthy counterparts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better to have special schools for children with mild MR, otherwise they may develop an inferiority complex and other psychiatric-associated disease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MR: not educable but trainable; can attain partial independence if properly trained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MR: neither educable nor trainable; they remain completely dependent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 Disorders &amp; Mental Diseases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disorders are common among children — manifested as bed-wetting, tantrums, stealing, telling lies, aggressiveness, and playing truant from school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also includes antisocial behavior, such as juvenile delinquency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diseases are grouped into five subgroups:</a:t>
            </a:r>
            <a:endParaRPr lang="en-US" sz="22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brain disorders — usually temporary and reversible (e.g., delirium, acute alcoholic intoxication)</a:t>
            </a:r>
            <a:endParaRPr lang="en-US" sz="22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brain disorders — usually permanent (e.g., cerebral syphilis, senile dementia/Alzheimer's disease)</a:t>
            </a:r>
            <a:endParaRPr lang="en-US" sz="22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Psychotic disorders (psychoses) — major mental illnesses, discussed next</a:t>
            </a:r>
            <a:endParaRPr lang="en-US" sz="22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Neurotic disorders (psychoneuroses) — minor illness</a:t>
            </a:r>
            <a:endParaRPr lang="en-US" sz="22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disorders — characterized by developmental defects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Diseases – Psychotic Disorders (Psychoses)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Psychotic disorders are major mental illnesses; the person is "insane" and out of touch with reality, described as a lunatic with unsound mind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 illnesses (psychoses) are of three types:</a:t>
            </a:r>
            <a:endParaRPr lang="en-US" sz="22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Schizophrenia (split personality): the patient lives in a dream world of his own</a:t>
            </a:r>
            <a:endParaRPr lang="en-US" sz="22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Manic depressive syndrome: symptoms vary from heights of excitement to depths of depression</a:t>
            </a:r>
            <a:endParaRPr lang="en-US" sz="22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Paranoia: the person will have undue suspicion of others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Neurotic &amp; Personality Disorders; Psychosomatic Disorders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317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Neurotic Disorders (Psychoneuroses)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17236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illness; the person is not insane or lunatic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react normally to life situations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 peculiar symptoms such as morbid fears, compulsions, and obsessions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Characterized by anxiety which may be overt or subconscious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Hysteria falls in this category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23076" y="1188720"/>
            <a:ext cx="5317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Disorders &amp; Psychosomatic Disorders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323076" y="1691640"/>
            <a:ext cx="5317236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disorders are characterized by developmental defects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Psychosomatic disorders are diseases with physical manifestations having psychological factors as the underlying cause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allergic disorders (asthma, eczema, urticaria), thyrotoxicosis, hypertension, coronary artery disease, duodenal ulcer, rheumatoid arthritis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Prevention and Control – Primary Prevention (I)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Aims: to reduce the incidence of new cases of mental disorders; to promote emotional robustness, especially among vulnerable high-risk groups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iodization of common salt is the best method of preventing cretinism and MR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safety measures prevent lead encephalopathy and mercurial erethism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diagnosis and treatment of hypertension, syphilis, and diabetes during pregnancy prevents mental defects in offspring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of infections such as syphilis, rubella, encephalitis, and HIV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of nutritional deficiencies such as pellagra, beriberi, and anemia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diagnosis and treatment of genetic diseases such as phenylketonuria, hypothyroidism, and hydrocephalus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Prevention and Control – Primary Prevention (II)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housing, child placement services (adoption, foster homes, orphanages), and welfare services for refugees and disaster survivors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development measures: disciplined environment at home and school; Scouts, National Cadet Corps (NCC), and air wing foster team spirit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cautioned against overburdening children with classes/homework; high school children made aware of dangers of alcohol, smoking, and drug abuse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welfare services save frustration among youths at the threshold of adult responsibilities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welfare measures: amelioration of poverty, ignorance, illiteracy; proper education and job opportunities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late marriages and consanguineous marriages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measures: prohibition of sale of uniodized salt, ban on manufacture and sale of psychoactive drugs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Prevention and Control – Secondary Prevention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Consists of early diagnosis and treatment of mental illness through screening procedures, especially among susceptible and vulnerable groups in schools, industries, and antenatal clinics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Family-based health services have a greater role — family service agencies identify emotional problems and help members cope with family stress through counseling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especially useful among those with marital conflicts and disturbed parent-child relationships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is through specific drug therapy, general measures, and electroconvulsive therapy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Drugs: diazepam for anxiety states, imipramine for depressive psychosis, lithium for maniac state, and chlorpromazine for schizophrenia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measures include yoga and meditation therapy, relaxation therapy, and social support therapy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Prevention and Control – Tertiary Prevention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to reduce the duration of mental illness, minimize disability, and rehabilitate the patient as a useful member of the family and community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Day-care programs: for patients who have undergone hospital treatment; they spend time in a structured way, which helps them learn social skills for living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Halfway homes: set up between the hospital and the patient's family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 unequivocal recovery are placed for a few weeks to months, depending on the case, where they live like a family with other patients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manage their daily needs independently with some support from social workers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Halfway homes are popular in the West; they are established in one or two cities in South India, as a kind of social rehabilitation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Mental Health Care (PMHC) – Significance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problems are one of the leading causes of disability in the world, causing significant direct and indirect cost to society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with disturbed mental health approach their primary care doctors for help, but mental health care services have remained far from satisfactory at the primary care level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professionals often fail to recognize mental illnesses, especially when they co-exist with physical conditions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physical illness have a raised psychiatric morbidity; this comorbidity exerts a detrimental synergistic effect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therefore better to integrate mental health services into primary health care services, to meet the mental health needs of the people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Mental Health Care (PMHC) – Definition &amp; Scope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PMHC is the provision of basic mental health services in primary health care, by workers such as general practitioners, community nurses, community pharmacists, and health visitors — the first port of call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involves diagnosing and treating mild forms of mental disorders (anxiety, depression, behavioral disorders, emotional disturbances) using interviewing, counseling, and interpersonal skills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who are more seriously ill are referred to secondary and tertiary centers for mental health professional services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PMHC comprises the first level of contact, providing continuous physical and mental care in a nonspecialist setting, including early intervention, treatment, health education, and pathways to specialist care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PMHC includes linkages with and referral between health services and nonhealth agencies (NGOs, housing, education, welfare)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primary mental health care into primary health care is one of WHO's most fundamental health care recommendations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PMHC – Advantages of Integration (Rationale)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physical accessibility — primary health care workers are easily available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financial accessibility — saves time and money spent on hospital treatment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acceptability — reduces stigma for people with mental disorders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access to care of comorbid conditions such as cancer, diabetes, hypertension, tuberculosis, and HIV/AIDS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human rights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admission to psychiatric institutions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shortage of human resources to deliver mental health interventions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better health outcomes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PMHC – Challenges to Overcome for Successful Integration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Negligence by people to accept their mental illness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knowledge, training, and experience among primary care workers to deal with mental disorders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burden on health care staff due to involvement in multiple health care programs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adequate supervision, monitoring, and support of primary care staff by mental health professionals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a good referral system between primary and secondary care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attention by the government to key human resource management issues in primary health care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links with informal community services — NGOs, religious leaders, and other systems of support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basic psychotropic medicines at primary care settings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Psychiatry (I)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psychiatry is psychiatry focusing on early detection, early treatment, prevention, and rehabilitation of emotional and behavioral disorders as they develop in a community, outside the setting of a mental hospital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of mental disorders in India is between 5.82% and 7.3%; resources are insufficient and inequitably distributed, leading to a treatment gap of more than 75% (nearly 80 million Indians need active interventions)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also has an estimated 62.5 million alcohol users, 8.7 million cannabis users, and 2 million opiate users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Psychiatry (II)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only 124 deaddiction centers, 401 rehabilitation centers, and 41 drug counseling centers, supported by the Ministry of Social Justice and Empowerment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these centers lack infrastructure, trained workforce, and sufficient funds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people do not seek treatment due to perceived stigma, discrimination, poverty, illiteracy, ignorance, and blind beliefs in supernatural powers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barriers include embarrassment to seek help, lack of resources, lack of availability, and lack of accessibility to treatment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Psychiatry – Bridging the Gap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to bridge the treatment gap:</a:t>
            </a:r>
            <a:endParaRPr lang="en-US" sz="22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Creation of awareness about mental health issues through Information, Education, and Communication (IEC) activities</a:t>
            </a:r>
            <a:endParaRPr lang="en-US" sz="22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Promotion of mental well-being through mental health promotion and prevention of mental illness</a:t>
            </a:r>
            <a:endParaRPr lang="en-US" sz="22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Developing community mental health services, reaching the doorsteps of consumers in the community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psychiatry in India started in the 1950s, as an effort to involve family members in the care of mentally ill persons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last 3–4 decades, community psychiatry has made substantial advances; integration of mental health care today covers almost all districts in India, under the District Mental Health Program, in the 12th Five Year Plan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 &amp; Services of the Community Mental Health Model (I)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to provide all mental health and well-being needs of the community, within the community, using community resources and the primary health care system — going beyond "hospital-based care and treatment"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for mental health promotion, prevention, and treatment of mental disorders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of psychosocial support available in the community (religious groups, self-help groups, faith healers, local bodies)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Rehabilitation plans for persons with significant disability due to intellectual disability, recovering substance abusers, and chronically mentally ill patients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 &amp; Services of the Community Mental Health Model (II)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of harm from alcohol and substance use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linkages with the primary health care system and tertiary care hospitals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for stigma removal and protection of human rights of mentally ill persons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enhance the status of mental health within public health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Principles of Community Psychiatry &amp; Impact Indicators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317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Community Psychiatry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17236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of the population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close to the patient's home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 approach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of care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participation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services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23076" y="1188720"/>
            <a:ext cx="5317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Indicators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323076" y="1691640"/>
            <a:ext cx="5317236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and awareness about mental health delivery services in the community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Acceptability of services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the treatment gap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of stigma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satisfaction with treatment and continuity of treatment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of violence in the community and schools due to mental health issues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Hurdles in Providing Community Mental Health Services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participation of the community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integration of mental health care into general health care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an ideal model of mental health delivery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Community Health Models (I)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Integration of mental health care into primary health care: ensures holistic treatment, better access closer to home, facilitates community outreach services, and minimizes stigma and discrimination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are less expensive than psychiatric hospitals, and treatment outcome is likely to be better in patients treated at primary care settings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Satellite clinics (community outreach clinics): the team consists of a psychiatrist, clinical psychologist, social worker, and nurse; the location keeps shifting depending on community need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clinics help in early diagnosis and treatment of common mental disorders, and are accessible, useful, cost-effective, and sustainable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Community Health Models (II)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Community de-addiction camps: such camps for the treatment of substance abuse are cheaper and less stigmatizing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a good retention rate, and patients maintain a higher rate of abstinence with lower rates of relapse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Home-based detoxification: substance users are identified in the locality by a home-based team, consisting of a psychiatric social worker, a psychiatric nurse, and a psychiatrist, along with the help of community leaders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pertinent to keep a medical college as a nodal center to improve the quality of service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Community Health Models (III)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Parainstitutional care (halfway homes &amp; day care centers): a halfway home (HWH) is a rehabilitation facility, established by NGOs in major cities of India, for patients with mental illness/substance abuse not fit to return to society and no longer requiring hospitalization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HWH provides interventions to help patients regain social, vocational, and cognitive skills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School mental health: since the prevalence of mental health issues among children and adolescents is about 15%, NIMHANS Bengaluru has developed a School Mental Health Program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Community Health Models (IV)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Mental Health Program includes a teacher's orientation program (to identify psychological problems in children), skills training for teachers (to improve counseling skills)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includes a student enrichment program (to empower students for effective study methods) and a life skills education program (based on themes of nutrition, hygiene, academics, and social responsibility)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Research in community psychiatry: this is limited, but is encouraged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Training of postgraduate (MD) students in community psychiatry for about 3 months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for Community Psychiatry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must be unique model(s) of community psychiatry services across all the states of India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must be sanctioned work-force and budgetary provision for uninterrupted community psychiatry services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training and research in community psychiatry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Compulsory training in community psychiatry for at least 3 months in the MD course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mental health services with other health care services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with "minimum standards of care" must be developed, which are achievable and realistic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of the local community is crucial for acceptability and accessibility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Health Laws in India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mental disorders are vulnerable to abuse and violation of their basic rights, which may occur from family members, caregivers, professionals, friends, and unrelated members of the community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imperative to have a protective mechanism to ensure appropriate, adequate, and timely human healthcare services, through legislative provisions and policies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"hard" and "soft" laws governing mental health care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"Hard" laws are binding and enforceable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"Soft" laws are not really laws at all — they are quasi-legal rules or policies with "hortatory" obligations, i.e., statements in the nature of promises; in the course of time these may become binding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"Hard" Laws Pertaining to Mental Health in India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Health Act, 1987 (replaces the Indian Lunacy Act, 1912)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Protection of Human Rights Act, 1993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 with Disability Act, 1995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Trust Act, 1999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of Women from Domestic Violence Act, 2005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of Children from Sexual Offences Act, 2012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recent one is The Mental Health-Care Act, 2017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"soft" laws: National Mental Health Policy, 2014, and the National Mental Health Programme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Mental Health Policy of India – Background (I)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 estimates that at any given time, 10% of the global population suffers from some form of mental illness, and one in four persons will be affected at least once in their lifetime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2020, depression, the most common mental disorder, was estimated to become the second leading cause of disability worldwide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illness is a key predictor for an increase in suicide and suicide attempts among youths and the distressed; poverty further exacerbates the ground situation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Untreated mental illness results in stigma, marginalization, and discrimination, leading to a substantial loss of social and human capital, ultimately affecting families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Mental Health Policy of India – Background (II)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April 2011, the Government of India constituted a Policy Group to develop a strategic, integrated, and holistic mental health policy, considering Indian sociocultural realities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National Mental Health Policy of India was announced on World Mental Health Day, October 10, 2014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to promote mental health, prevent mental illness, enable recovery from mental illness, promote destigmatization and desegregation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also ensures socioeconomic inclusion of persons affected by mental illness, within a rights-based framework, addressing needs of both mentally ill persons and their caregivers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NMHP – Values and Principles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services should be provided within the existing healthcare system using the primary care approach — universal accessibility, equitable distribution, community participation, intersectoral coordination, and appropriate technology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rights and dignity of persons with mental health problems should be respected, protected, and promoted</a:t>
            </a:r>
            <a:endParaRPr lang="en-US" sz="22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autonomy and liberty should be protected and promoted</a:t>
            </a:r>
            <a:endParaRPr lang="en-US" sz="2200" dirty="0"/>
          </a:p>
          <a:p>
            <a:pPr lvl="1" marL="6858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rights of the caregiver and service provider should also be respected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— private care providers, civil society organizations, user groups, and academic/research institutions — have a crucial role in service delivery and are accountable to persons with mental illness and their caregivers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should have a holistic approach, recognizing the relationship between mind, body, and soul, which have an impact on mental health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NMHP – Goals and Objectives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317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17236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distress, disability, exclusion, morbidity, and premature mortality associated with mental health problems across the life span of the person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enhance understanding of mental health in the country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strengthen the leadership in the mental health sector at the national, state, and district levels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23076" y="1188720"/>
            <a:ext cx="5317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323076" y="1691640"/>
            <a:ext cx="5317236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provide universal access to mental health care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increase access to comprehensive mental health services for vulnerable groups (homeless, remote/difficult terrains, deprived sections)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prevalence and impact of risk factors, and risk/incidence of suicide and attempted suicide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ensure respect for rights and protection from harm</a:t>
            </a:r>
            <a:endParaRPr lang="en-US" sz="2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stigma; to enhance availability and equitable distribution of skilled human resources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Cross-Cutting Issues (I)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Stigma: persons with mental health problems face stigma due to lack of knowledge, accompanied by fear and hostility, leading to exclusion from society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Rights: their rights are violated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Vulnerability: increases the burden of mental health problems, especially among children, women, elderly, and disabled populations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Poverty: poverty and mental ill health are inextricably linked in a negative vicious cycle, so incidence is high among lower socioeconomic groups</a:t>
            </a:r>
            <a:endParaRPr lang="en-US" sz="2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Cross-Cutting Issues (II) – Homelessness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 could be abandoned by an uncaring family or wander away in the absence of appropriate mental health care; such persons are vulnerable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 inside custodial institutions — juvenile homes, women's rescue homes, beggar's homes, prisons, and orphanages — are also affected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of persons with mental health problems are exposed to a range of adversities, such as poor parental care, disruption in schooling, and increasing poverty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caregivers, who often have their own physical and mental health needs, are also vulnerable</a:t>
            </a:r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Cross-Cutting Issues (III)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 displaced persons have poor access to local health services, and disaster/emergency-affected persons face psychological distress without sufficient attention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Marginalized populations — commercial sex workers, trafficking victims, riot victims, sexual minorities — bear a disproportionate burden of mental health problems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of funds: health spending is a social investment and social right; adequate funds are crucial to realize the vision and goals of the policy, and expansion will require more funds</a:t>
            </a:r>
            <a:endParaRPr lang="en-US" sz="2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Cross-Cutting Issues (IV)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families: families and caregivers of persons with mental illness should be adequately supported, especially those with long-term and chronic mental illness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Intersectoral collaboration is needed with education, employment, housing, and social care sectors, since the health sector alone cannot meet these needs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hospitals have to be reformed with adequate staff and infrastructure for improving the quality of care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is needed to reduce the burden of mental health problems, with continuous monitoring of population mental health and evaluation of program impact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Directions – Promotion of Mental Health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governance and delivery mechanisms/accountability, by developing laws and regulations within all relevant sectors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of Anganwadi centers to cater to the developmental and emotional needs of children below 6 years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of Anganwadi workers and school teachers to build self-confidence among parents to provide a positive environment for children's growth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the Life Skills Education (LSE) program to school children and college students using interactive learning methods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individual attention in schools by teachers trained in mental health promotion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Arranging programs to assist adults in handling stressful life circumstances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poverty and income disparities; improving living conditions with sanitation; reducing the acts of violence against women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Directions – Prevention of Suicide (I)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stigma, discrimination, and exclusion; enabling access to treatment to promote early recovery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Encouraging the mentally ill to participate actively in social activities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them as disabled persons and suitably factoring them into employment policies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Encouraging them to take part in regular activities, such as operating bank accounts and identifying documents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Directions – Prevention of Suicide (II)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Facilitating education for them; involving them in communication programs to reduce stigma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Discouraging them from becoming addicted to alcohol and drugs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access to poisons, such as pesticides, to prevent suicides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helplines as part of the national/district program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of data on suicides and attempted suicides to know the magnitude of the problem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Directions – Universal Access to Mental Health Services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should be family-centric and should be provided in all hospitals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should be availability of community-based rehabilitation services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and social audits for continuous quality improvement, and monitoring of mental health services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screening programs for early identification and treatment of mental health problems and mental illness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Reformation of mental hospitals with improved infrastructure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approach to address the needs of homeless persons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of institutional, community, and family care to orphaned persons</a:t>
            </a:r>
            <a:endParaRPr lang="en-US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Directions – Human Resources, Community Participation &amp; Research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of resources such as psychiatrists, psychiatric nurses, psychologists, and psychosocial workers; training of all health personnel in mental health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degree and diploma courses on psychiatric nursing; training auxiliary nursing midwives to provide mental health services to mothers and children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Envisaging more jobs in the mental health sector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participation: promoting full participation of persons with mental illness in education, housing, employment, and social welfare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programs to pursue vocational training schemes; involving them in social welfare programs</a:t>
            </a:r>
            <a:endParaRPr lang="en-US" sz="2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promoting mental health research to reduce the burden of mental health problems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2026-07-23T01:12:15Z</dcterms:created>
  <dcterms:modified xsi:type="dcterms:W3CDTF">2026-07-23T01:12:15Z</dcterms:modified>
</cp:coreProperties>
</file>