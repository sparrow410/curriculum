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63" r:id="rId4"/>
    <p:sldId id="264" r:id="rId5"/>
    <p:sldId id="265" r:id="rId6"/>
    <p:sldId id="268" r:id="rId7"/>
    <p:sldId id="270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6" r:id="rId23"/>
    <p:sldId id="287" r:id="rId24"/>
    <p:sldId id="288" r:id="rId25"/>
    <p:sldId id="291" r:id="rId26"/>
    <p:sldId id="292" r:id="rId27"/>
    <p:sldId id="293" r:id="rId28"/>
    <p:sldId id="294" r:id="rId29"/>
    <p:sldId id="295" r:id="rId30"/>
    <p:sldId id="29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28E4D6-9528-4C84-B7B7-BCB7EB9402C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1AA5F07-BB07-4DD0-82BC-B9320AF63D55}">
      <dgm:prSet phldrT="[Text]"/>
      <dgm:spPr>
        <a:solidFill>
          <a:srgbClr val="D08ACE"/>
        </a:solidFill>
      </dgm:spPr>
      <dgm:t>
        <a:bodyPr/>
        <a:lstStyle/>
        <a:p>
          <a:r>
            <a:rPr lang="en-IN" b="1" dirty="0" smtClean="0">
              <a:solidFill>
                <a:srgbClr val="C00000"/>
              </a:solidFill>
            </a:rPr>
            <a:t>TYPE 1</a:t>
          </a:r>
          <a:endParaRPr lang="en-IN" dirty="0">
            <a:solidFill>
              <a:srgbClr val="C00000"/>
            </a:solidFill>
          </a:endParaRPr>
        </a:p>
      </dgm:t>
    </dgm:pt>
    <dgm:pt modelId="{644C5DBC-C16F-4EBF-9AE8-11428C7AB96C}" cxnId="{50F24B53-0B1D-4994-A6C4-4A50E906AF70}" type="parTrans">
      <dgm:prSet/>
      <dgm:spPr/>
      <dgm:t>
        <a:bodyPr/>
        <a:lstStyle/>
        <a:p>
          <a:endParaRPr lang="en-IN"/>
        </a:p>
      </dgm:t>
    </dgm:pt>
    <dgm:pt modelId="{4DC3613E-FC50-40C0-9E56-7404C53FB3B9}" cxnId="{50F24B53-0B1D-4994-A6C4-4A50E906AF70}" type="sibTrans">
      <dgm:prSet/>
      <dgm:spPr/>
      <dgm:t>
        <a:bodyPr/>
        <a:lstStyle/>
        <a:p>
          <a:endParaRPr lang="en-IN"/>
        </a:p>
      </dgm:t>
    </dgm:pt>
    <dgm:pt modelId="{70D02258-5C9C-42D6-B7F5-60516F97B85A}">
      <dgm:prSet phldrT="[Text]"/>
      <dgm:spPr>
        <a:solidFill>
          <a:srgbClr val="F9F7A5">
            <a:alpha val="90000"/>
          </a:srgbClr>
        </a:solidFill>
      </dgm:spPr>
      <dgm:t>
        <a:bodyPr/>
        <a:lstStyle/>
        <a:p>
          <a:r>
            <a:rPr lang="en-IN" dirty="0" smtClean="0"/>
            <a:t>Insulin-dependent, juvenile or childhood-onset </a:t>
          </a:r>
          <a:endParaRPr lang="en-IN" dirty="0"/>
        </a:p>
      </dgm:t>
    </dgm:pt>
    <dgm:pt modelId="{1E2AD82E-51E0-4D37-9C24-53962F73ECA0}" cxnId="{C43ABBAB-3343-4A5D-BE0C-52BB349207BE}" type="parTrans">
      <dgm:prSet/>
      <dgm:spPr/>
      <dgm:t>
        <a:bodyPr/>
        <a:lstStyle/>
        <a:p>
          <a:endParaRPr lang="en-IN"/>
        </a:p>
      </dgm:t>
    </dgm:pt>
    <dgm:pt modelId="{4960E830-DEE6-4C39-8479-19A4E9CAA8A8}" cxnId="{C43ABBAB-3343-4A5D-BE0C-52BB349207BE}" type="sibTrans">
      <dgm:prSet/>
      <dgm:spPr/>
      <dgm:t>
        <a:bodyPr/>
        <a:lstStyle/>
        <a:p>
          <a:endParaRPr lang="en-IN"/>
        </a:p>
      </dgm:t>
    </dgm:pt>
    <dgm:pt modelId="{83C3BB7A-6D2C-4BC5-A8C3-608C08256A03}">
      <dgm:prSet phldrT="[Text]"/>
      <dgm:spPr>
        <a:solidFill>
          <a:srgbClr val="D08ACE"/>
        </a:solidFill>
      </dgm:spPr>
      <dgm:t>
        <a:bodyPr/>
        <a:lstStyle/>
        <a:p>
          <a:r>
            <a:rPr lang="en-IN" b="1" dirty="0" smtClean="0">
              <a:solidFill>
                <a:srgbClr val="C00000"/>
              </a:solidFill>
            </a:rPr>
            <a:t>TYPE 2</a:t>
          </a:r>
          <a:endParaRPr lang="en-IN" b="1" dirty="0">
            <a:solidFill>
              <a:srgbClr val="C00000"/>
            </a:solidFill>
          </a:endParaRPr>
        </a:p>
      </dgm:t>
    </dgm:pt>
    <dgm:pt modelId="{17107626-C91E-4BD7-8C3B-440674FBB1FF}" cxnId="{5D818EBE-53CF-492A-85F8-14A255376E79}" type="parTrans">
      <dgm:prSet/>
      <dgm:spPr/>
      <dgm:t>
        <a:bodyPr/>
        <a:lstStyle/>
        <a:p>
          <a:endParaRPr lang="en-IN"/>
        </a:p>
      </dgm:t>
    </dgm:pt>
    <dgm:pt modelId="{2EF7FB07-7DF0-4E31-95A8-1D1A91575228}" cxnId="{5D818EBE-53CF-492A-85F8-14A255376E79}" type="sibTrans">
      <dgm:prSet/>
      <dgm:spPr/>
      <dgm:t>
        <a:bodyPr/>
        <a:lstStyle/>
        <a:p>
          <a:endParaRPr lang="en-IN"/>
        </a:p>
      </dgm:t>
    </dgm:pt>
    <dgm:pt modelId="{E483692B-B56F-401C-8CAB-D622ED4C887C}">
      <dgm:prSet phldrT="[Text]"/>
      <dgm:spPr>
        <a:solidFill>
          <a:srgbClr val="F9F7A5">
            <a:alpha val="90000"/>
          </a:srgbClr>
        </a:solidFill>
      </dgm:spPr>
      <dgm:t>
        <a:bodyPr/>
        <a:lstStyle/>
        <a:p>
          <a:r>
            <a:rPr lang="en-IN" dirty="0" smtClean="0"/>
            <a:t>Non-insulin-dependent or adult-onset diabetes</a:t>
          </a:r>
          <a:endParaRPr lang="en-IN" dirty="0"/>
        </a:p>
      </dgm:t>
    </dgm:pt>
    <dgm:pt modelId="{CE287C4B-4583-4C9B-B684-1A3947D7EC60}" cxnId="{CFF8DB49-F420-44EC-9E46-C68E289F15FD}" type="parTrans">
      <dgm:prSet/>
      <dgm:spPr/>
      <dgm:t>
        <a:bodyPr/>
        <a:lstStyle/>
        <a:p>
          <a:endParaRPr lang="en-IN"/>
        </a:p>
      </dgm:t>
    </dgm:pt>
    <dgm:pt modelId="{461A698F-A13C-4898-801D-06C74B2FBF88}" cxnId="{CFF8DB49-F420-44EC-9E46-C68E289F15FD}" type="sibTrans">
      <dgm:prSet/>
      <dgm:spPr/>
      <dgm:t>
        <a:bodyPr/>
        <a:lstStyle/>
        <a:p>
          <a:endParaRPr lang="en-IN"/>
        </a:p>
      </dgm:t>
    </dgm:pt>
    <dgm:pt modelId="{1D06F79E-29FF-42DB-BFEA-2E2870AA0B8F}">
      <dgm:prSet phldrT="[Text]"/>
      <dgm:spPr>
        <a:solidFill>
          <a:srgbClr val="D08ACE"/>
        </a:solidFill>
      </dgm:spPr>
      <dgm:t>
        <a:bodyPr/>
        <a:lstStyle/>
        <a:p>
          <a:r>
            <a:rPr lang="en-IN" b="1" dirty="0" smtClean="0">
              <a:solidFill>
                <a:srgbClr val="C00000"/>
              </a:solidFill>
            </a:rPr>
            <a:t>Gestational diabetes </a:t>
          </a:r>
          <a:endParaRPr lang="en-IN" dirty="0">
            <a:solidFill>
              <a:srgbClr val="C00000"/>
            </a:solidFill>
          </a:endParaRPr>
        </a:p>
      </dgm:t>
    </dgm:pt>
    <dgm:pt modelId="{A612155C-25B3-412C-B14C-5FD18078640B}" cxnId="{A46D9AB0-180A-4B12-84F7-43D8B876B5B9}" type="parTrans">
      <dgm:prSet/>
      <dgm:spPr/>
      <dgm:t>
        <a:bodyPr/>
        <a:lstStyle/>
        <a:p>
          <a:endParaRPr lang="en-IN"/>
        </a:p>
      </dgm:t>
    </dgm:pt>
    <dgm:pt modelId="{BD792A2A-7981-4D74-82AF-078C48790646}" cxnId="{A46D9AB0-180A-4B12-84F7-43D8B876B5B9}" type="sibTrans">
      <dgm:prSet/>
      <dgm:spPr/>
      <dgm:t>
        <a:bodyPr/>
        <a:lstStyle/>
        <a:p>
          <a:endParaRPr lang="en-IN"/>
        </a:p>
      </dgm:t>
    </dgm:pt>
    <dgm:pt modelId="{E6876C09-2161-494C-8EB0-2FC519A7C840}">
      <dgm:prSet phldrT="[Text]"/>
      <dgm:spPr>
        <a:solidFill>
          <a:srgbClr val="F9F7A5">
            <a:alpha val="90000"/>
          </a:srgbClr>
        </a:solidFill>
      </dgm:spPr>
      <dgm:t>
        <a:bodyPr/>
        <a:lstStyle/>
        <a:p>
          <a:r>
            <a:rPr lang="en-IN" dirty="0" smtClean="0"/>
            <a:t>Monogenic diabetes, pancreatic diabetes, drug-induced </a:t>
          </a:r>
          <a:endParaRPr lang="en-IN" dirty="0"/>
        </a:p>
      </dgm:t>
    </dgm:pt>
    <dgm:pt modelId="{4F6220FB-A1D9-4C87-B634-3BDC2EEAC4D8}" cxnId="{56B43787-FA8B-4AFD-AC71-BF465885752E}" type="parTrans">
      <dgm:prSet/>
      <dgm:spPr/>
      <dgm:t>
        <a:bodyPr/>
        <a:lstStyle/>
        <a:p>
          <a:endParaRPr lang="en-IN"/>
        </a:p>
      </dgm:t>
    </dgm:pt>
    <dgm:pt modelId="{71D90717-F6E2-4F99-96EA-4469688F36C3}" cxnId="{56B43787-FA8B-4AFD-AC71-BF465885752E}" type="sibTrans">
      <dgm:prSet/>
      <dgm:spPr/>
      <dgm:t>
        <a:bodyPr/>
        <a:lstStyle/>
        <a:p>
          <a:endParaRPr lang="en-IN"/>
        </a:p>
      </dgm:t>
    </dgm:pt>
    <dgm:pt modelId="{C9CC370C-2CAE-43AE-B5DC-3386802C82CA}">
      <dgm:prSet phldrT="[Text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IN" dirty="0" smtClean="0">
              <a:solidFill>
                <a:srgbClr val="7030A0"/>
              </a:solidFill>
            </a:rPr>
            <a:t>Others</a:t>
          </a:r>
          <a:r>
            <a:rPr lang="en-IN" dirty="0" smtClean="0"/>
            <a:t> </a:t>
          </a:r>
          <a:endParaRPr lang="en-IN" dirty="0"/>
        </a:p>
      </dgm:t>
    </dgm:pt>
    <dgm:pt modelId="{A6BA0184-ED56-4FBE-AC35-0CB9ECE34C2E}" cxnId="{F6DB76AE-9726-467B-9B55-C1DF42482B26}" type="parTrans">
      <dgm:prSet/>
      <dgm:spPr/>
      <dgm:t>
        <a:bodyPr/>
        <a:lstStyle/>
        <a:p>
          <a:endParaRPr lang="en-IN"/>
        </a:p>
      </dgm:t>
    </dgm:pt>
    <dgm:pt modelId="{21F0F605-D0AE-417C-8803-24CF1EE61046}" cxnId="{F6DB76AE-9726-467B-9B55-C1DF42482B26}" type="sibTrans">
      <dgm:prSet/>
      <dgm:spPr/>
      <dgm:t>
        <a:bodyPr/>
        <a:lstStyle/>
        <a:p>
          <a:endParaRPr lang="en-IN"/>
        </a:p>
      </dgm:t>
    </dgm:pt>
    <dgm:pt modelId="{A2AF8547-336E-4623-9DAA-A431A06CC03A}">
      <dgm:prSet/>
      <dgm:spPr>
        <a:solidFill>
          <a:srgbClr val="D08ACE"/>
        </a:solidFill>
      </dgm:spPr>
      <dgm:t>
        <a:bodyPr/>
        <a:lstStyle/>
        <a:p>
          <a:r>
            <a:rPr lang="en-IN" b="1" dirty="0" smtClean="0">
              <a:solidFill>
                <a:srgbClr val="C00000"/>
              </a:solidFill>
            </a:rPr>
            <a:t>IFG, IGT </a:t>
          </a:r>
          <a:endParaRPr lang="en-IN" b="1" dirty="0">
            <a:solidFill>
              <a:srgbClr val="C00000"/>
            </a:solidFill>
          </a:endParaRPr>
        </a:p>
      </dgm:t>
    </dgm:pt>
    <dgm:pt modelId="{194E77CD-89CF-4410-A7A9-3E77BE02D0CE}" cxnId="{81A82CCE-DCDB-4E2F-BD68-520899092B30}" type="parTrans">
      <dgm:prSet/>
      <dgm:spPr/>
      <dgm:t>
        <a:bodyPr/>
        <a:lstStyle/>
        <a:p>
          <a:endParaRPr lang="en-IN"/>
        </a:p>
      </dgm:t>
    </dgm:pt>
    <dgm:pt modelId="{D7056FEF-88BC-47A4-BEB0-9C3ABD584719}" cxnId="{81A82CCE-DCDB-4E2F-BD68-520899092B30}" type="sibTrans">
      <dgm:prSet/>
      <dgm:spPr/>
      <dgm:t>
        <a:bodyPr/>
        <a:lstStyle/>
        <a:p>
          <a:endParaRPr lang="en-IN"/>
        </a:p>
      </dgm:t>
    </dgm:pt>
    <dgm:pt modelId="{C7AFF96A-2A96-4F5B-BAD9-1A5B7A4E2AAF}">
      <dgm:prSet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IN" sz="2300" dirty="0" smtClean="0">
              <a:solidFill>
                <a:schemeClr val="tx1"/>
              </a:solidFill>
            </a:rPr>
            <a:t>MRDM (malnutrition related) -</a:t>
          </a:r>
          <a:r>
            <a:rPr lang="en-IN" sz="1800" dirty="0" smtClean="0">
              <a:solidFill>
                <a:schemeClr val="tx1"/>
              </a:solidFill>
            </a:rPr>
            <a:t>WHO</a:t>
          </a:r>
          <a:endParaRPr lang="en-IN" sz="1800" dirty="0">
            <a:solidFill>
              <a:schemeClr val="tx1"/>
            </a:solidFill>
          </a:endParaRPr>
        </a:p>
      </dgm:t>
    </dgm:pt>
    <dgm:pt modelId="{02832C39-5FCC-499E-BAD5-ECB725198D66}" cxnId="{7E54673B-1975-4BC5-A9FD-73DC8DFF6D4B}" type="sibTrans">
      <dgm:prSet/>
      <dgm:spPr/>
      <dgm:t>
        <a:bodyPr/>
        <a:lstStyle/>
        <a:p>
          <a:endParaRPr lang="en-IN"/>
        </a:p>
      </dgm:t>
    </dgm:pt>
    <dgm:pt modelId="{C126B557-B91A-4119-8816-8981C96DDAA3}" cxnId="{7E54673B-1975-4BC5-A9FD-73DC8DFF6D4B}" type="parTrans">
      <dgm:prSet/>
      <dgm:spPr/>
      <dgm:t>
        <a:bodyPr/>
        <a:lstStyle/>
        <a:p>
          <a:endParaRPr lang="en-IN"/>
        </a:p>
      </dgm:t>
    </dgm:pt>
    <dgm:pt modelId="{1A15344F-E4E4-4780-AD1A-451F29B38D49}" type="pres">
      <dgm:prSet presAssocID="{D428E4D6-9528-4C84-B7B7-BCB7EB9402C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53215469-F4C9-4B6D-B4AC-1C486077756C}" type="pres">
      <dgm:prSet presAssocID="{A1AA5F07-BB07-4DD0-82BC-B9320AF63D55}" presName="linNode" presStyleCnt="0"/>
      <dgm:spPr/>
    </dgm:pt>
    <dgm:pt modelId="{E9FE4563-C8E0-485E-B35B-2298EFF07C4F}" type="pres">
      <dgm:prSet presAssocID="{A1AA5F07-BB07-4DD0-82BC-B9320AF63D55}" presName="parentText" presStyleLbl="node1" presStyleIdx="0" presStyleCnt="6" custLinFactNeighborY="-229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AA083AE-0DD6-450D-92F2-1DECCDD8614E}" type="pres">
      <dgm:prSet presAssocID="{A1AA5F07-BB07-4DD0-82BC-B9320AF63D55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A12BB96-18CB-4CE3-B244-890787B0B236}" type="pres">
      <dgm:prSet presAssocID="{4DC3613E-FC50-40C0-9E56-7404C53FB3B9}" presName="sp" presStyleCnt="0"/>
      <dgm:spPr/>
    </dgm:pt>
    <dgm:pt modelId="{6E88D789-A0D0-4F03-9D3C-8D6BC31B1F52}" type="pres">
      <dgm:prSet presAssocID="{83C3BB7A-6D2C-4BC5-A8C3-608C08256A03}" presName="linNode" presStyleCnt="0"/>
      <dgm:spPr/>
    </dgm:pt>
    <dgm:pt modelId="{D5B4885D-1180-48D3-AD9D-4179E8286E6D}" type="pres">
      <dgm:prSet presAssocID="{83C3BB7A-6D2C-4BC5-A8C3-608C08256A03}" presName="parentText" presStyleLbl="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8E881BA-13A2-4F2A-AE14-F8A4787FFC82}" type="pres">
      <dgm:prSet presAssocID="{83C3BB7A-6D2C-4BC5-A8C3-608C08256A03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0A2A7BA-E0F8-4543-A06C-A76A8B08911F}" type="pres">
      <dgm:prSet presAssocID="{2EF7FB07-7DF0-4E31-95A8-1D1A91575228}" presName="sp" presStyleCnt="0"/>
      <dgm:spPr/>
    </dgm:pt>
    <dgm:pt modelId="{6614DF8C-F001-45F4-9BE8-65EBD0E6A3AF}" type="pres">
      <dgm:prSet presAssocID="{1D06F79E-29FF-42DB-BFEA-2E2870AA0B8F}" presName="linNode" presStyleCnt="0"/>
      <dgm:spPr/>
    </dgm:pt>
    <dgm:pt modelId="{164404E9-A20B-4924-9E56-84063866F550}" type="pres">
      <dgm:prSet presAssocID="{1D06F79E-29FF-42DB-BFEA-2E2870AA0B8F}" presName="parentText" presStyleLbl="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EF8A45E-250C-45B7-94AE-095980CCA4DB}" type="pres">
      <dgm:prSet presAssocID="{BD792A2A-7981-4D74-82AF-078C48790646}" presName="sp" presStyleCnt="0"/>
      <dgm:spPr/>
    </dgm:pt>
    <dgm:pt modelId="{492301FD-9F22-40BD-ACB3-DCE7C6128012}" type="pres">
      <dgm:prSet presAssocID="{C9CC370C-2CAE-43AE-B5DC-3386802C82CA}" presName="linNode" presStyleCnt="0"/>
      <dgm:spPr/>
    </dgm:pt>
    <dgm:pt modelId="{1DF52DE5-CA02-4FA9-937A-E7E91452F989}" type="pres">
      <dgm:prSet presAssocID="{C9CC370C-2CAE-43AE-B5DC-3386802C82CA}" presName="parentText" presStyleLbl="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6E0455F-BCCD-413F-9864-64AD0CFDE694}" type="pres">
      <dgm:prSet presAssocID="{C9CC370C-2CAE-43AE-B5DC-3386802C82CA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B1AB727-A77E-445F-8448-078927545525}" type="pres">
      <dgm:prSet presAssocID="{21F0F605-D0AE-417C-8803-24CF1EE61046}" presName="sp" presStyleCnt="0"/>
      <dgm:spPr/>
    </dgm:pt>
    <dgm:pt modelId="{ED6B1E34-D815-4CE5-8F12-3F4662AE2917}" type="pres">
      <dgm:prSet presAssocID="{A2AF8547-336E-4623-9DAA-A431A06CC03A}" presName="linNode" presStyleCnt="0"/>
      <dgm:spPr/>
    </dgm:pt>
    <dgm:pt modelId="{342E1BFF-1EC4-430C-8F83-23A2EC5CB3C4}" type="pres">
      <dgm:prSet presAssocID="{A2AF8547-336E-4623-9DAA-A431A06CC03A}" presName="parentText" presStyleLbl="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F52D2BD-4A5F-4C21-9494-C31093DFE456}" type="pres">
      <dgm:prSet presAssocID="{D7056FEF-88BC-47A4-BEB0-9C3ABD584719}" presName="sp" presStyleCnt="0"/>
      <dgm:spPr/>
    </dgm:pt>
    <dgm:pt modelId="{477B507D-25BB-407D-B64A-BD750B98502A}" type="pres">
      <dgm:prSet presAssocID="{C7AFF96A-2A96-4F5B-BAD9-1A5B7A4E2AAF}" presName="linNode" presStyleCnt="0"/>
      <dgm:spPr/>
    </dgm:pt>
    <dgm:pt modelId="{F2C68AB1-FBE9-4876-983C-24597B416940}" type="pres">
      <dgm:prSet presAssocID="{C7AFF96A-2A96-4F5B-BAD9-1A5B7A4E2AAF}" presName="parentText" presStyleLbl="node1" presStyleIdx="5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F6DB76AE-9726-467B-9B55-C1DF42482B26}" srcId="{D428E4D6-9528-4C84-B7B7-BCB7EB9402C5}" destId="{C9CC370C-2CAE-43AE-B5DC-3386802C82CA}" srcOrd="3" destOrd="0" parTransId="{A6BA0184-ED56-4FBE-AC35-0CB9ECE34C2E}" sibTransId="{21F0F605-D0AE-417C-8803-24CF1EE61046}"/>
    <dgm:cxn modelId="{6F463AF5-C41C-4714-8F98-75EDBEE0FBFD}" type="presOf" srcId="{E483692B-B56F-401C-8CAB-D622ED4C887C}" destId="{58E881BA-13A2-4F2A-AE14-F8A4787FFC82}" srcOrd="0" destOrd="0" presId="urn:microsoft.com/office/officeart/2005/8/layout/vList5"/>
    <dgm:cxn modelId="{EA7B5AA0-A27D-4CC9-8E04-A6D66FB8212B}" type="presOf" srcId="{E6876C09-2161-494C-8EB0-2FC519A7C840}" destId="{26E0455F-BCCD-413F-9864-64AD0CFDE694}" srcOrd="0" destOrd="0" presId="urn:microsoft.com/office/officeart/2005/8/layout/vList5"/>
    <dgm:cxn modelId="{5D818EBE-53CF-492A-85F8-14A255376E79}" srcId="{D428E4D6-9528-4C84-B7B7-BCB7EB9402C5}" destId="{83C3BB7A-6D2C-4BC5-A8C3-608C08256A03}" srcOrd="1" destOrd="0" parTransId="{17107626-C91E-4BD7-8C3B-440674FBB1FF}" sibTransId="{2EF7FB07-7DF0-4E31-95A8-1D1A91575228}"/>
    <dgm:cxn modelId="{903BF4C0-835D-452F-A004-909CD2ACE253}" type="presOf" srcId="{C9CC370C-2CAE-43AE-B5DC-3386802C82CA}" destId="{1DF52DE5-CA02-4FA9-937A-E7E91452F989}" srcOrd="0" destOrd="0" presId="urn:microsoft.com/office/officeart/2005/8/layout/vList5"/>
    <dgm:cxn modelId="{D3F11367-31E3-461A-B473-689C160BDAE9}" type="presOf" srcId="{83C3BB7A-6D2C-4BC5-A8C3-608C08256A03}" destId="{D5B4885D-1180-48D3-AD9D-4179E8286E6D}" srcOrd="0" destOrd="0" presId="urn:microsoft.com/office/officeart/2005/8/layout/vList5"/>
    <dgm:cxn modelId="{56B43787-FA8B-4AFD-AC71-BF465885752E}" srcId="{C9CC370C-2CAE-43AE-B5DC-3386802C82CA}" destId="{E6876C09-2161-494C-8EB0-2FC519A7C840}" srcOrd="0" destOrd="0" parTransId="{4F6220FB-A1D9-4C87-B634-3BDC2EEAC4D8}" sibTransId="{71D90717-F6E2-4F99-96EA-4469688F36C3}"/>
    <dgm:cxn modelId="{7E54673B-1975-4BC5-A9FD-73DC8DFF6D4B}" srcId="{D428E4D6-9528-4C84-B7B7-BCB7EB9402C5}" destId="{C7AFF96A-2A96-4F5B-BAD9-1A5B7A4E2AAF}" srcOrd="5" destOrd="0" parTransId="{C126B557-B91A-4119-8816-8981C96DDAA3}" sibTransId="{02832C39-5FCC-499E-BAD5-ECB725198D66}"/>
    <dgm:cxn modelId="{20DDFF50-9036-4495-A5EF-26209D32B4FB}" type="presOf" srcId="{C7AFF96A-2A96-4F5B-BAD9-1A5B7A4E2AAF}" destId="{F2C68AB1-FBE9-4876-983C-24597B416940}" srcOrd="0" destOrd="0" presId="urn:microsoft.com/office/officeart/2005/8/layout/vList5"/>
    <dgm:cxn modelId="{FEEE93AD-7502-474B-9B0E-25AA070ACC1D}" type="presOf" srcId="{1D06F79E-29FF-42DB-BFEA-2E2870AA0B8F}" destId="{164404E9-A20B-4924-9E56-84063866F550}" srcOrd="0" destOrd="0" presId="urn:microsoft.com/office/officeart/2005/8/layout/vList5"/>
    <dgm:cxn modelId="{A46D9AB0-180A-4B12-84F7-43D8B876B5B9}" srcId="{D428E4D6-9528-4C84-B7B7-BCB7EB9402C5}" destId="{1D06F79E-29FF-42DB-BFEA-2E2870AA0B8F}" srcOrd="2" destOrd="0" parTransId="{A612155C-25B3-412C-B14C-5FD18078640B}" sibTransId="{BD792A2A-7981-4D74-82AF-078C48790646}"/>
    <dgm:cxn modelId="{D22D4B99-1FA4-4B19-A0AC-7105345E5AE0}" type="presOf" srcId="{A1AA5F07-BB07-4DD0-82BC-B9320AF63D55}" destId="{E9FE4563-C8E0-485E-B35B-2298EFF07C4F}" srcOrd="0" destOrd="0" presId="urn:microsoft.com/office/officeart/2005/8/layout/vList5"/>
    <dgm:cxn modelId="{C43ABBAB-3343-4A5D-BE0C-52BB349207BE}" srcId="{A1AA5F07-BB07-4DD0-82BC-B9320AF63D55}" destId="{70D02258-5C9C-42D6-B7F5-60516F97B85A}" srcOrd="0" destOrd="0" parTransId="{1E2AD82E-51E0-4D37-9C24-53962F73ECA0}" sibTransId="{4960E830-DEE6-4C39-8479-19A4E9CAA8A8}"/>
    <dgm:cxn modelId="{50F24B53-0B1D-4994-A6C4-4A50E906AF70}" srcId="{D428E4D6-9528-4C84-B7B7-BCB7EB9402C5}" destId="{A1AA5F07-BB07-4DD0-82BC-B9320AF63D55}" srcOrd="0" destOrd="0" parTransId="{644C5DBC-C16F-4EBF-9AE8-11428C7AB96C}" sibTransId="{4DC3613E-FC50-40C0-9E56-7404C53FB3B9}"/>
    <dgm:cxn modelId="{FBA283C4-E58E-4829-9418-DD6B95D957B2}" type="presOf" srcId="{70D02258-5C9C-42D6-B7F5-60516F97B85A}" destId="{9AA083AE-0DD6-450D-92F2-1DECCDD8614E}" srcOrd="0" destOrd="0" presId="urn:microsoft.com/office/officeart/2005/8/layout/vList5"/>
    <dgm:cxn modelId="{CFF8DB49-F420-44EC-9E46-C68E289F15FD}" srcId="{83C3BB7A-6D2C-4BC5-A8C3-608C08256A03}" destId="{E483692B-B56F-401C-8CAB-D622ED4C887C}" srcOrd="0" destOrd="0" parTransId="{CE287C4B-4583-4C9B-B684-1A3947D7EC60}" sibTransId="{461A698F-A13C-4898-801D-06C74B2FBF88}"/>
    <dgm:cxn modelId="{81A82CCE-DCDB-4E2F-BD68-520899092B30}" srcId="{D428E4D6-9528-4C84-B7B7-BCB7EB9402C5}" destId="{A2AF8547-336E-4623-9DAA-A431A06CC03A}" srcOrd="4" destOrd="0" parTransId="{194E77CD-89CF-4410-A7A9-3E77BE02D0CE}" sibTransId="{D7056FEF-88BC-47A4-BEB0-9C3ABD584719}"/>
    <dgm:cxn modelId="{A1D51847-E4A5-471B-AEF3-B4A98DCE68EA}" type="presOf" srcId="{D428E4D6-9528-4C84-B7B7-BCB7EB9402C5}" destId="{1A15344F-E4E4-4780-AD1A-451F29B38D49}" srcOrd="0" destOrd="0" presId="urn:microsoft.com/office/officeart/2005/8/layout/vList5"/>
    <dgm:cxn modelId="{B3B9F275-3F7C-4E5D-8FDF-C49627B2667B}" type="presOf" srcId="{A2AF8547-336E-4623-9DAA-A431A06CC03A}" destId="{342E1BFF-1EC4-430C-8F83-23A2EC5CB3C4}" srcOrd="0" destOrd="0" presId="urn:microsoft.com/office/officeart/2005/8/layout/vList5"/>
    <dgm:cxn modelId="{507A0DCD-86FB-452F-83FF-1B9CCA56FF08}" type="presParOf" srcId="{1A15344F-E4E4-4780-AD1A-451F29B38D49}" destId="{53215469-F4C9-4B6D-B4AC-1C486077756C}" srcOrd="0" destOrd="0" presId="urn:microsoft.com/office/officeart/2005/8/layout/vList5"/>
    <dgm:cxn modelId="{9262D133-EA24-4A5B-B757-FEB2D2768B83}" type="presParOf" srcId="{53215469-F4C9-4B6D-B4AC-1C486077756C}" destId="{E9FE4563-C8E0-485E-B35B-2298EFF07C4F}" srcOrd="0" destOrd="0" presId="urn:microsoft.com/office/officeart/2005/8/layout/vList5"/>
    <dgm:cxn modelId="{65B2EE23-9D34-46D3-93D3-DFC59121CA40}" type="presParOf" srcId="{53215469-F4C9-4B6D-B4AC-1C486077756C}" destId="{9AA083AE-0DD6-450D-92F2-1DECCDD8614E}" srcOrd="1" destOrd="0" presId="urn:microsoft.com/office/officeart/2005/8/layout/vList5"/>
    <dgm:cxn modelId="{F5F6B394-D032-4D12-BCA0-BE1045DAE087}" type="presParOf" srcId="{1A15344F-E4E4-4780-AD1A-451F29B38D49}" destId="{6A12BB96-18CB-4CE3-B244-890787B0B236}" srcOrd="1" destOrd="0" presId="urn:microsoft.com/office/officeart/2005/8/layout/vList5"/>
    <dgm:cxn modelId="{FBF8A856-092A-4A72-AC45-2C564A7D907C}" type="presParOf" srcId="{1A15344F-E4E4-4780-AD1A-451F29B38D49}" destId="{6E88D789-A0D0-4F03-9D3C-8D6BC31B1F52}" srcOrd="2" destOrd="0" presId="urn:microsoft.com/office/officeart/2005/8/layout/vList5"/>
    <dgm:cxn modelId="{E95FDE83-22E7-45AB-98E1-CCB1505933B2}" type="presParOf" srcId="{6E88D789-A0D0-4F03-9D3C-8D6BC31B1F52}" destId="{D5B4885D-1180-48D3-AD9D-4179E8286E6D}" srcOrd="0" destOrd="0" presId="urn:microsoft.com/office/officeart/2005/8/layout/vList5"/>
    <dgm:cxn modelId="{B19833FA-4C2B-46CA-9239-5C8F491990C3}" type="presParOf" srcId="{6E88D789-A0D0-4F03-9D3C-8D6BC31B1F52}" destId="{58E881BA-13A2-4F2A-AE14-F8A4787FFC82}" srcOrd="1" destOrd="0" presId="urn:microsoft.com/office/officeart/2005/8/layout/vList5"/>
    <dgm:cxn modelId="{E185B2C6-6E11-43D0-9981-5F1E214E498F}" type="presParOf" srcId="{1A15344F-E4E4-4780-AD1A-451F29B38D49}" destId="{F0A2A7BA-E0F8-4543-A06C-A76A8B08911F}" srcOrd="3" destOrd="0" presId="urn:microsoft.com/office/officeart/2005/8/layout/vList5"/>
    <dgm:cxn modelId="{37F40E36-0C73-4BC7-AE41-B4B41B37974F}" type="presParOf" srcId="{1A15344F-E4E4-4780-AD1A-451F29B38D49}" destId="{6614DF8C-F001-45F4-9BE8-65EBD0E6A3AF}" srcOrd="4" destOrd="0" presId="urn:microsoft.com/office/officeart/2005/8/layout/vList5"/>
    <dgm:cxn modelId="{848BF483-2261-4938-B1C4-0FDF29D9DDF1}" type="presParOf" srcId="{6614DF8C-F001-45F4-9BE8-65EBD0E6A3AF}" destId="{164404E9-A20B-4924-9E56-84063866F550}" srcOrd="0" destOrd="0" presId="urn:microsoft.com/office/officeart/2005/8/layout/vList5"/>
    <dgm:cxn modelId="{E7785468-A761-46A6-9ED5-884CAEE7986C}" type="presParOf" srcId="{1A15344F-E4E4-4780-AD1A-451F29B38D49}" destId="{AEF8A45E-250C-45B7-94AE-095980CCA4DB}" srcOrd="5" destOrd="0" presId="urn:microsoft.com/office/officeart/2005/8/layout/vList5"/>
    <dgm:cxn modelId="{1BF44EBA-A1A7-4537-8422-7A99A617B3CF}" type="presParOf" srcId="{1A15344F-E4E4-4780-AD1A-451F29B38D49}" destId="{492301FD-9F22-40BD-ACB3-DCE7C6128012}" srcOrd="6" destOrd="0" presId="urn:microsoft.com/office/officeart/2005/8/layout/vList5"/>
    <dgm:cxn modelId="{D19276BF-B2BC-411B-9249-A96C363DB592}" type="presParOf" srcId="{492301FD-9F22-40BD-ACB3-DCE7C6128012}" destId="{1DF52DE5-CA02-4FA9-937A-E7E91452F989}" srcOrd="0" destOrd="0" presId="urn:microsoft.com/office/officeart/2005/8/layout/vList5"/>
    <dgm:cxn modelId="{504AC293-9FD3-4454-8749-B2AD3110F6A8}" type="presParOf" srcId="{492301FD-9F22-40BD-ACB3-DCE7C6128012}" destId="{26E0455F-BCCD-413F-9864-64AD0CFDE694}" srcOrd="1" destOrd="0" presId="urn:microsoft.com/office/officeart/2005/8/layout/vList5"/>
    <dgm:cxn modelId="{433D880C-6F55-4F95-927A-C3C8F08D0B1C}" type="presParOf" srcId="{1A15344F-E4E4-4780-AD1A-451F29B38D49}" destId="{DB1AB727-A77E-445F-8448-078927545525}" srcOrd="7" destOrd="0" presId="urn:microsoft.com/office/officeart/2005/8/layout/vList5"/>
    <dgm:cxn modelId="{2B025AA4-24E6-43EB-8DC8-C98AF29973E3}" type="presParOf" srcId="{1A15344F-E4E4-4780-AD1A-451F29B38D49}" destId="{ED6B1E34-D815-4CE5-8F12-3F4662AE2917}" srcOrd="8" destOrd="0" presId="urn:microsoft.com/office/officeart/2005/8/layout/vList5"/>
    <dgm:cxn modelId="{43A725AE-2930-4E9C-BE91-4B6543C834FA}" type="presParOf" srcId="{ED6B1E34-D815-4CE5-8F12-3F4662AE2917}" destId="{342E1BFF-1EC4-430C-8F83-23A2EC5CB3C4}" srcOrd="0" destOrd="0" presId="urn:microsoft.com/office/officeart/2005/8/layout/vList5"/>
    <dgm:cxn modelId="{DD2C792A-520C-4526-BD72-95F488AC7CEA}" type="presParOf" srcId="{1A15344F-E4E4-4780-AD1A-451F29B38D49}" destId="{4F52D2BD-4A5F-4C21-9494-C31093DFE456}" srcOrd="9" destOrd="0" presId="urn:microsoft.com/office/officeart/2005/8/layout/vList5"/>
    <dgm:cxn modelId="{0CAEF699-5A8A-46A0-8580-70D3D3E69500}" type="presParOf" srcId="{1A15344F-E4E4-4780-AD1A-451F29B38D49}" destId="{477B507D-25BB-407D-B64A-BD750B98502A}" srcOrd="10" destOrd="0" presId="urn:microsoft.com/office/officeart/2005/8/layout/vList5"/>
    <dgm:cxn modelId="{BBBD58AA-FAF1-4533-9AC0-712CA0CE8CB0}" type="presParOf" srcId="{477B507D-25BB-407D-B64A-BD750B98502A}" destId="{F2C68AB1-FBE9-4876-983C-24597B41694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B69780-D5DD-4878-AD5E-BD9A6ECF42F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FFE575-346D-418E-8FB8-7C879C88C425}">
      <dgm:prSet phldrT="[Text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IN" sz="3600" dirty="0" smtClean="0"/>
            <a:t>Primordial </a:t>
          </a:r>
          <a:endParaRPr lang="en-IN" sz="3600" dirty="0"/>
        </a:p>
      </dgm:t>
    </dgm:pt>
    <dgm:pt modelId="{5369CFDC-1168-463B-B783-FF3035E157CC}" cxnId="{26EE5D12-BE4B-42F1-91D9-5BA345173D70}" type="parTrans">
      <dgm:prSet/>
      <dgm:spPr/>
      <dgm:t>
        <a:bodyPr/>
        <a:lstStyle/>
        <a:p>
          <a:endParaRPr lang="en-IN"/>
        </a:p>
      </dgm:t>
    </dgm:pt>
    <dgm:pt modelId="{09BC7B7C-C9F7-4934-BFC9-84B2687AE9AA}" cxnId="{26EE5D12-BE4B-42F1-91D9-5BA345173D70}" type="sibTrans">
      <dgm:prSet/>
      <dgm:spPr/>
      <dgm:t>
        <a:bodyPr/>
        <a:lstStyle/>
        <a:p>
          <a:endParaRPr lang="en-IN"/>
        </a:p>
      </dgm:t>
    </dgm:pt>
    <dgm:pt modelId="{01330E65-80AB-468D-B685-CF89E342CEFF}">
      <dgm:prSet phldrT="[Text]"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GB" sz="2000" dirty="0" smtClean="0"/>
            <a:t>Prevent the risk factors for diabetes</a:t>
          </a:r>
          <a:endParaRPr lang="en-IN" sz="2000" dirty="0"/>
        </a:p>
      </dgm:t>
    </dgm:pt>
    <dgm:pt modelId="{CB5B9466-8186-4C0E-BB8A-FE4C03F2C442}" cxnId="{B812E213-AB2B-4839-84B1-6EDD4345394F}" type="parTrans">
      <dgm:prSet/>
      <dgm:spPr/>
      <dgm:t>
        <a:bodyPr/>
        <a:lstStyle/>
        <a:p>
          <a:endParaRPr lang="en-IN"/>
        </a:p>
      </dgm:t>
    </dgm:pt>
    <dgm:pt modelId="{4EB6B814-98CC-4DE8-8710-A5F57A4D979C}" cxnId="{B812E213-AB2B-4839-84B1-6EDD4345394F}" type="sibTrans">
      <dgm:prSet/>
      <dgm:spPr/>
      <dgm:t>
        <a:bodyPr/>
        <a:lstStyle/>
        <a:p>
          <a:endParaRPr lang="en-IN"/>
        </a:p>
      </dgm:t>
    </dgm:pt>
    <dgm:pt modelId="{4615F806-C4BE-4C48-A255-54B83BB545B0}">
      <dgm:prSet phldrT="[Text]"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IN" sz="2000" dirty="0" smtClean="0">
              <a:solidFill>
                <a:srgbClr val="C00000"/>
              </a:solidFill>
            </a:rPr>
            <a:t>LSM</a:t>
          </a:r>
          <a:endParaRPr lang="en-IN" sz="2000" dirty="0">
            <a:solidFill>
              <a:srgbClr val="C00000"/>
            </a:solidFill>
          </a:endParaRPr>
        </a:p>
      </dgm:t>
    </dgm:pt>
    <dgm:pt modelId="{6AE3E183-B40F-451C-8C6C-DBF49685387D}" cxnId="{ED2811F7-9EA0-47C2-BD65-B7D0A8F804BD}" type="parTrans">
      <dgm:prSet/>
      <dgm:spPr/>
      <dgm:t>
        <a:bodyPr/>
        <a:lstStyle/>
        <a:p>
          <a:endParaRPr lang="en-IN"/>
        </a:p>
      </dgm:t>
    </dgm:pt>
    <dgm:pt modelId="{5CE0F2CF-C3CA-49F3-A964-F3E39F6ACCBC}" cxnId="{ED2811F7-9EA0-47C2-BD65-B7D0A8F804BD}" type="sibTrans">
      <dgm:prSet/>
      <dgm:spPr/>
      <dgm:t>
        <a:bodyPr/>
        <a:lstStyle/>
        <a:p>
          <a:endParaRPr lang="en-IN"/>
        </a:p>
      </dgm:t>
    </dgm:pt>
    <dgm:pt modelId="{AF212BE1-F140-4E77-B41A-FBAEE80EC36F}">
      <dgm:prSet phldrT="[Text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IN" sz="4000" dirty="0" smtClean="0"/>
            <a:t>Primary </a:t>
          </a:r>
          <a:endParaRPr lang="en-IN" sz="4000" dirty="0"/>
        </a:p>
      </dgm:t>
    </dgm:pt>
    <dgm:pt modelId="{20AEC4E7-FB4C-4EA2-9A3C-6BD753D5C156}" cxnId="{612AD459-1E02-4927-9618-995E39E191DC}" type="parTrans">
      <dgm:prSet/>
      <dgm:spPr/>
      <dgm:t>
        <a:bodyPr/>
        <a:lstStyle/>
        <a:p>
          <a:endParaRPr lang="en-IN"/>
        </a:p>
      </dgm:t>
    </dgm:pt>
    <dgm:pt modelId="{C7B2CB16-4A65-48D2-937A-BD0EAE5BC9C2}" cxnId="{612AD459-1E02-4927-9618-995E39E191DC}" type="sibTrans">
      <dgm:prSet/>
      <dgm:spPr/>
      <dgm:t>
        <a:bodyPr/>
        <a:lstStyle/>
        <a:p>
          <a:endParaRPr lang="en-IN"/>
        </a:p>
      </dgm:t>
    </dgm:pt>
    <dgm:pt modelId="{FB2E54F2-3FC0-482B-83FC-096F99F4D7A5}">
      <dgm:prSet phldrT="[Text]" phldr="0"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GB" sz="2000" dirty="0" smtClean="0"/>
            <a:t>Stage of </a:t>
          </a:r>
          <a:r>
            <a:rPr lang="en-GB" sz="2000" dirty="0" err="1" smtClean="0"/>
            <a:t>prediabetes</a:t>
          </a:r>
          <a:r>
            <a:rPr lang="en-GB" sz="2000" dirty="0" smtClean="0"/>
            <a:t>/ RF+ to prevent the onset of diabetes.</a:t>
          </a:r>
          <a:r>
            <a:rPr lang="en-IN" sz="2000" dirty="0"/>
            <a:t/>
          </a:r>
          <a:endParaRPr lang="en-IN" sz="2000" dirty="0"/>
        </a:p>
      </dgm:t>
    </dgm:pt>
    <dgm:pt modelId="{79514B96-6B8B-476A-B4FC-5407CF8D5C5D}" cxnId="{7159636D-8339-462A-86B3-4ACA57790A4D}" type="parTrans">
      <dgm:prSet/>
      <dgm:spPr/>
      <dgm:t>
        <a:bodyPr/>
        <a:lstStyle/>
        <a:p>
          <a:endParaRPr lang="en-IN"/>
        </a:p>
      </dgm:t>
    </dgm:pt>
    <dgm:pt modelId="{80FE9665-358D-42B0-868C-6AEDBCD7893C}" cxnId="{7159636D-8339-462A-86B3-4ACA57790A4D}" type="sibTrans">
      <dgm:prSet/>
      <dgm:spPr/>
      <dgm:t>
        <a:bodyPr/>
        <a:lstStyle/>
        <a:p>
          <a:endParaRPr lang="en-IN"/>
        </a:p>
      </dgm:t>
    </dgm:pt>
    <dgm:pt modelId="{567D2503-FD47-4028-92B1-938C3453F59D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GB" sz="2000" dirty="0" smtClean="0">
              <a:solidFill>
                <a:schemeClr val="tx1"/>
              </a:solidFill>
            </a:rPr>
            <a:t>Regular health check up, Life style Modification </a:t>
          </a:r>
          <a:r>
            <a:rPr lang="en-GB" sz="2000" dirty="0" smtClean="0">
              <a:solidFill>
                <a:schemeClr val="tx1"/>
              </a:solidFill>
            </a:rPr>
            <a:t/>
          </a:r>
          <a:endParaRPr lang="en-GB" sz="2000" dirty="0" smtClean="0">
            <a:solidFill>
              <a:schemeClr val="tx1"/>
            </a:solidFill>
          </a:endParaRPr>
        </a:p>
      </dgm:t>
    </dgm:pt>
    <dgm:pt modelId="{4F81660F-3ACE-4D62-9A23-E6549DD495B7}" cxnId="{753D3C01-DAB8-403D-8DDE-52337B52819A}" type="parTrans">
      <dgm:prSet/>
      <dgm:spPr/>
    </dgm:pt>
    <dgm:pt modelId="{8DCFD3E6-1E94-46F2-BB20-4DF16A602663}" cxnId="{753D3C01-DAB8-403D-8DDE-52337B52819A}" type="sibTrans">
      <dgm:prSet/>
      <dgm:spPr/>
    </dgm:pt>
    <dgm:pt modelId="{68F96971-0260-4B9F-ABD9-DB3495B4E9A7}">
      <dgm:prSet phldrT="[Text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IN" sz="4000" dirty="0" smtClean="0"/>
            <a:t>Secondary </a:t>
          </a:r>
          <a:endParaRPr lang="en-IN" sz="4000" dirty="0"/>
        </a:p>
      </dgm:t>
    </dgm:pt>
    <dgm:pt modelId="{748C8F5F-C5FE-4580-B31B-37BD47BED7E0}" cxnId="{4B16377E-11E9-4526-B64D-DD6AA0B6B8A0}" type="parTrans">
      <dgm:prSet/>
      <dgm:spPr/>
      <dgm:t>
        <a:bodyPr/>
        <a:lstStyle/>
        <a:p>
          <a:endParaRPr lang="en-IN"/>
        </a:p>
      </dgm:t>
    </dgm:pt>
    <dgm:pt modelId="{71BD00B6-3991-49B7-AB03-E1B03832E252}" cxnId="{4B16377E-11E9-4526-B64D-DD6AA0B6B8A0}" type="sibTrans">
      <dgm:prSet/>
      <dgm:spPr/>
      <dgm:t>
        <a:bodyPr/>
        <a:lstStyle/>
        <a:p>
          <a:endParaRPr lang="en-IN"/>
        </a:p>
      </dgm:t>
    </dgm:pt>
    <dgm:pt modelId="{47AECA4B-72F9-4C00-A450-AF57E95F3A15}">
      <dgm:prSet phldrT="[Text]" phldr="0"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GB" sz="2000" dirty="0" smtClean="0"/>
            <a:t>Prevent onset of complications in already diagnosed DM</a:t>
          </a:r>
          <a:r>
            <a:rPr lang="en-IN" sz="2000" dirty="0"/>
            <a:t/>
          </a:r>
          <a:endParaRPr lang="en-IN" sz="2000" dirty="0"/>
        </a:p>
      </dgm:t>
    </dgm:pt>
    <dgm:pt modelId="{4356C9FA-7142-4D7F-ADFE-C6F002C95051}" cxnId="{A0408039-997F-433B-A28B-E14C6F19F000}" type="parTrans">
      <dgm:prSet/>
      <dgm:spPr/>
      <dgm:t>
        <a:bodyPr/>
        <a:lstStyle/>
        <a:p>
          <a:endParaRPr lang="en-IN"/>
        </a:p>
      </dgm:t>
    </dgm:pt>
    <dgm:pt modelId="{679D347F-1A75-4BDA-B265-0E7C6C5EBA42}" cxnId="{A0408039-997F-433B-A28B-E14C6F19F000}" type="sibTrans">
      <dgm:prSet/>
      <dgm:spPr/>
      <dgm:t>
        <a:bodyPr/>
        <a:lstStyle/>
        <a:p>
          <a:endParaRPr lang="en-IN"/>
        </a:p>
      </dgm:t>
    </dgm:pt>
    <dgm:pt modelId="{18560BAB-7079-4401-BF68-BC6B3680E06C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GB" sz="2000" dirty="0" smtClean="0">
              <a:solidFill>
                <a:schemeClr val="tx1"/>
              </a:solidFill>
            </a:rPr>
            <a:t>Screening, Diet, physical activity(LSM ) &amp; OHA / Insulin </a:t>
          </a:r>
          <a:r>
            <a:rPr lang="en-GB" sz="2000" dirty="0" smtClean="0">
              <a:solidFill>
                <a:schemeClr val="tx1"/>
              </a:solidFill>
            </a:rPr>
            <a:t/>
          </a:r>
          <a:endParaRPr lang="en-GB" sz="2000" dirty="0" smtClean="0">
            <a:solidFill>
              <a:schemeClr val="tx1"/>
            </a:solidFill>
          </a:endParaRPr>
        </a:p>
      </dgm:t>
    </dgm:pt>
    <dgm:pt modelId="{0DD2796B-F727-4390-A6CF-704BCC371F2F}" cxnId="{E58A1F1B-3F60-4DED-88BD-1553F7039CF5}" type="parTrans">
      <dgm:prSet/>
      <dgm:spPr/>
    </dgm:pt>
    <dgm:pt modelId="{15ED2218-246B-4DC3-B7BF-807AEC1A0DCA}" cxnId="{E58A1F1B-3F60-4DED-88BD-1553F7039CF5}" type="sibTrans">
      <dgm:prSet/>
      <dgm:spPr/>
    </dgm:pt>
    <dgm:pt modelId="{E3EF24BF-83B4-4B09-BE4B-2638667A5C4B}">
      <dgm:prSet phldrT="[Text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IN" sz="4000" dirty="0" smtClean="0"/>
            <a:t>Tertiary</a:t>
          </a:r>
          <a:endParaRPr lang="en-IN" sz="4000" dirty="0"/>
        </a:p>
      </dgm:t>
    </dgm:pt>
    <dgm:pt modelId="{5A168E90-74CC-47AB-B30B-1C0E2D827982}" cxnId="{0D123AE8-A498-4282-A735-473BD896D5A3}" type="parTrans">
      <dgm:prSet/>
      <dgm:spPr/>
      <dgm:t>
        <a:bodyPr/>
        <a:lstStyle/>
        <a:p>
          <a:endParaRPr lang="en-IN"/>
        </a:p>
      </dgm:t>
    </dgm:pt>
    <dgm:pt modelId="{4C27FF5D-B31D-4E91-8CC0-C4974FBD5F53}" cxnId="{0D123AE8-A498-4282-A735-473BD896D5A3}" type="sibTrans">
      <dgm:prSet/>
      <dgm:spPr/>
      <dgm:t>
        <a:bodyPr/>
        <a:lstStyle/>
        <a:p>
          <a:endParaRPr lang="en-IN"/>
        </a:p>
      </dgm:t>
    </dgm:pt>
    <dgm:pt modelId="{6A3D7BAF-3800-441F-9129-B116017946D7}" type="pres">
      <dgm:prSet presAssocID="{D4B69780-D5DD-4878-AD5E-BD9A6ECF42F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9CEAD1DC-985B-45A0-9FDB-FA3F70C20C88}" type="pres">
      <dgm:prSet presAssocID="{89FFE575-346D-418E-8FB8-7C879C88C425}" presName="linNode" presStyleCnt="0"/>
      <dgm:spPr/>
    </dgm:pt>
    <dgm:pt modelId="{5619FC08-DD7A-46A1-B869-845F10833B49}" type="pres">
      <dgm:prSet presAssocID="{89FFE575-346D-418E-8FB8-7C879C88C425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D3A02B9-416E-4474-AD17-C8B7A6ADE29A}" type="pres">
      <dgm:prSet presAssocID="{89FFE575-346D-418E-8FB8-7C879C88C425}" presName="descendantText" presStyleLbl="alignAccFollowNode1" presStyleIdx="0" presStyleCnt="3" custLinFactNeighborY="-113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A87C085-810E-4E79-AFBC-BBFD965C10DE}" type="pres">
      <dgm:prSet presAssocID="{09BC7B7C-C9F7-4934-BFC9-84B2687AE9AA}" presName="sp" presStyleCnt="0"/>
      <dgm:spPr/>
    </dgm:pt>
    <dgm:pt modelId="{C10FEFCB-63CA-4A71-9E09-B01352B8E8B7}" type="pres">
      <dgm:prSet presAssocID="{AF212BE1-F140-4E77-B41A-FBAEE80EC36F}" presName="linNode" presStyleCnt="0"/>
      <dgm:spPr/>
    </dgm:pt>
    <dgm:pt modelId="{3542F661-5169-43AE-BE94-742F5633880D}" type="pres">
      <dgm:prSet presAssocID="{AF212BE1-F140-4E77-B41A-FBAEE80EC36F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5EAD90B-00BB-4498-BB22-AD468AE0B863}" type="pres">
      <dgm:prSet presAssocID="{AF212BE1-F140-4E77-B41A-FBAEE80EC36F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1CC7997-05B3-4623-AD95-0B97E9A418BF}" type="pres">
      <dgm:prSet presAssocID="{C7B2CB16-4A65-48D2-937A-BD0EAE5BC9C2}" presName="sp" presStyleCnt="0"/>
      <dgm:spPr/>
    </dgm:pt>
    <dgm:pt modelId="{F874E491-DC54-4235-A589-A751C6D3FE8C}" type="pres">
      <dgm:prSet presAssocID="{68F96971-0260-4B9F-ABD9-DB3495B4E9A7}" presName="linNode" presStyleCnt="0"/>
      <dgm:spPr/>
    </dgm:pt>
    <dgm:pt modelId="{7C337E4A-E5CB-4464-B619-6D9DA7F1B67C}" type="pres">
      <dgm:prSet presAssocID="{68F96971-0260-4B9F-ABD9-DB3495B4E9A7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A83CB34-582A-4DF7-904A-9A9EEE2EAF31}" type="pres">
      <dgm:prSet presAssocID="{68F96971-0260-4B9F-ABD9-DB3495B4E9A7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AE047DE-D7AE-41C9-833D-47198EF56AE9}" type="pres">
      <dgm:prSet presAssocID="{71BD00B6-3991-49B7-AB03-E1B03832E252}" presName="sp" presStyleCnt="0"/>
      <dgm:spPr/>
    </dgm:pt>
    <dgm:pt modelId="{D2ECF0CF-C96F-4AF8-BF55-45DFF7A80648}" type="pres">
      <dgm:prSet presAssocID="{E3EF24BF-83B4-4B09-BE4B-2638667A5C4B}" presName="linNode" presStyleCnt="0"/>
      <dgm:spPr/>
    </dgm:pt>
    <dgm:pt modelId="{7EC1B543-F3C9-4E39-8322-3DA94EF52F1E}" type="pres">
      <dgm:prSet presAssocID="{E3EF24BF-83B4-4B09-BE4B-2638667A5C4B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26EE5D12-BE4B-42F1-91D9-5BA345173D70}" srcId="{D4B69780-D5DD-4878-AD5E-BD9A6ECF42FD}" destId="{89FFE575-346D-418E-8FB8-7C879C88C425}" srcOrd="0" destOrd="0" parTransId="{5369CFDC-1168-463B-B783-FF3035E157CC}" sibTransId="{09BC7B7C-C9F7-4934-BFC9-84B2687AE9AA}"/>
    <dgm:cxn modelId="{B812E213-AB2B-4839-84B1-6EDD4345394F}" srcId="{89FFE575-346D-418E-8FB8-7C879C88C425}" destId="{01330E65-80AB-468D-B685-CF89E342CEFF}" srcOrd="0" destOrd="0" parTransId="{CB5B9466-8186-4C0E-BB8A-FE4C03F2C442}" sibTransId="{4EB6B814-98CC-4DE8-8710-A5F57A4D979C}"/>
    <dgm:cxn modelId="{ED2811F7-9EA0-47C2-BD65-B7D0A8F804BD}" srcId="{89FFE575-346D-418E-8FB8-7C879C88C425}" destId="{4615F806-C4BE-4C48-A255-54B83BB545B0}" srcOrd="1" destOrd="0" parTransId="{6AE3E183-B40F-451C-8C6C-DBF49685387D}" sibTransId="{5CE0F2CF-C3CA-49F3-A964-F3E39F6ACCBC}"/>
    <dgm:cxn modelId="{612AD459-1E02-4927-9618-995E39E191DC}" srcId="{D4B69780-D5DD-4878-AD5E-BD9A6ECF42FD}" destId="{AF212BE1-F140-4E77-B41A-FBAEE80EC36F}" srcOrd="1" destOrd="0" parTransId="{20AEC4E7-FB4C-4EA2-9A3C-6BD753D5C156}" sibTransId="{C7B2CB16-4A65-48D2-937A-BD0EAE5BC9C2}"/>
    <dgm:cxn modelId="{7159636D-8339-462A-86B3-4ACA57790A4D}" srcId="{AF212BE1-F140-4E77-B41A-FBAEE80EC36F}" destId="{FB2E54F2-3FC0-482B-83FC-096F99F4D7A5}" srcOrd="0" destOrd="1" parTransId="{79514B96-6B8B-476A-B4FC-5407CF8D5C5D}" sibTransId="{80FE9665-358D-42B0-868C-6AEDBCD7893C}"/>
    <dgm:cxn modelId="{753D3C01-DAB8-403D-8DDE-52337B52819A}" srcId="{AF212BE1-F140-4E77-B41A-FBAEE80EC36F}" destId="{567D2503-FD47-4028-92B1-938C3453F59D}" srcOrd="1" destOrd="1" parTransId="{4F81660F-3ACE-4D62-9A23-E6549DD495B7}" sibTransId="{8DCFD3E6-1E94-46F2-BB20-4DF16A602663}"/>
    <dgm:cxn modelId="{4B16377E-11E9-4526-B64D-DD6AA0B6B8A0}" srcId="{D4B69780-D5DD-4878-AD5E-BD9A6ECF42FD}" destId="{68F96971-0260-4B9F-ABD9-DB3495B4E9A7}" srcOrd="2" destOrd="0" parTransId="{748C8F5F-C5FE-4580-B31B-37BD47BED7E0}" sibTransId="{71BD00B6-3991-49B7-AB03-E1B03832E252}"/>
    <dgm:cxn modelId="{A0408039-997F-433B-A28B-E14C6F19F000}" srcId="{68F96971-0260-4B9F-ABD9-DB3495B4E9A7}" destId="{47AECA4B-72F9-4C00-A450-AF57E95F3A15}" srcOrd="0" destOrd="2" parTransId="{4356C9FA-7142-4D7F-ADFE-C6F002C95051}" sibTransId="{679D347F-1A75-4BDA-B265-0E7C6C5EBA42}"/>
    <dgm:cxn modelId="{E58A1F1B-3F60-4DED-88BD-1553F7039CF5}" srcId="{68F96971-0260-4B9F-ABD9-DB3495B4E9A7}" destId="{18560BAB-7079-4401-BF68-BC6B3680E06C}" srcOrd="1" destOrd="2" parTransId="{0DD2796B-F727-4390-A6CF-704BCC371F2F}" sibTransId="{15ED2218-246B-4DC3-B7BF-807AEC1A0DCA}"/>
    <dgm:cxn modelId="{0D123AE8-A498-4282-A735-473BD896D5A3}" srcId="{D4B69780-D5DD-4878-AD5E-BD9A6ECF42FD}" destId="{E3EF24BF-83B4-4B09-BE4B-2638667A5C4B}" srcOrd="3" destOrd="0" parTransId="{5A168E90-74CC-47AB-B30B-1C0E2D827982}" sibTransId="{4C27FF5D-B31D-4E91-8CC0-C4974FBD5F53}"/>
    <dgm:cxn modelId="{D97C370F-286E-47B4-A8B2-24A68E06DBEA}" type="presOf" srcId="{D4B69780-D5DD-4878-AD5E-BD9A6ECF42FD}" destId="{6A3D7BAF-3800-441F-9129-B116017946D7}" srcOrd="0" destOrd="0" presId="urn:microsoft.com/office/officeart/2005/8/layout/vList5"/>
    <dgm:cxn modelId="{18C09BDA-CD03-4E96-A78D-7D42C1ADF9B8}" type="presParOf" srcId="{6A3D7BAF-3800-441F-9129-B116017946D7}" destId="{9CEAD1DC-985B-45A0-9FDB-FA3F70C20C88}" srcOrd="0" destOrd="0" presId="urn:microsoft.com/office/officeart/2005/8/layout/vList5"/>
    <dgm:cxn modelId="{D572F2EB-7B76-4EE0-ACB4-7A172B0B728D}" type="presParOf" srcId="{9CEAD1DC-985B-45A0-9FDB-FA3F70C20C88}" destId="{5619FC08-DD7A-46A1-B869-845F10833B49}" srcOrd="0" destOrd="0" presId="urn:microsoft.com/office/officeart/2005/8/layout/vList5"/>
    <dgm:cxn modelId="{B1B79B87-CE35-41FF-A241-45E50B8D10E4}" type="presOf" srcId="{89FFE575-346D-418E-8FB8-7C879C88C425}" destId="{5619FC08-DD7A-46A1-B869-845F10833B49}" srcOrd="0" destOrd="0" presId="urn:microsoft.com/office/officeart/2005/8/layout/vList5"/>
    <dgm:cxn modelId="{F82EEEC5-B2C9-4339-B692-3FFD28AEF2A7}" type="presParOf" srcId="{9CEAD1DC-985B-45A0-9FDB-FA3F70C20C88}" destId="{3D3A02B9-416E-4474-AD17-C8B7A6ADE29A}" srcOrd="1" destOrd="0" presId="urn:microsoft.com/office/officeart/2005/8/layout/vList5"/>
    <dgm:cxn modelId="{79BF3FDE-1691-4ECD-B3A7-F42C0FEC7CEE}" type="presOf" srcId="{01330E65-80AB-468D-B685-CF89E342CEFF}" destId="{3D3A02B9-416E-4474-AD17-C8B7A6ADE29A}" srcOrd="0" destOrd="0" presId="urn:microsoft.com/office/officeart/2005/8/layout/vList5"/>
    <dgm:cxn modelId="{2C9B67E9-AF2F-413C-AC9B-1EED3EE11171}" type="presOf" srcId="{4615F806-C4BE-4C48-A255-54B83BB545B0}" destId="{3D3A02B9-416E-4474-AD17-C8B7A6ADE29A}" srcOrd="0" destOrd="1" presId="urn:microsoft.com/office/officeart/2005/8/layout/vList5"/>
    <dgm:cxn modelId="{B72FF3A1-F898-4A49-B76C-53E4C2C6973C}" type="presParOf" srcId="{6A3D7BAF-3800-441F-9129-B116017946D7}" destId="{AA87C085-810E-4E79-AFBC-BBFD965C10DE}" srcOrd="1" destOrd="0" presId="urn:microsoft.com/office/officeart/2005/8/layout/vList5"/>
    <dgm:cxn modelId="{4EB6FF3D-D854-4025-B229-E9554C3FEA7E}" type="presParOf" srcId="{6A3D7BAF-3800-441F-9129-B116017946D7}" destId="{C10FEFCB-63CA-4A71-9E09-B01352B8E8B7}" srcOrd="2" destOrd="0" presId="urn:microsoft.com/office/officeart/2005/8/layout/vList5"/>
    <dgm:cxn modelId="{385AEE7D-42B7-463D-A362-16A3B2CD889A}" type="presParOf" srcId="{C10FEFCB-63CA-4A71-9E09-B01352B8E8B7}" destId="{3542F661-5169-43AE-BE94-742F5633880D}" srcOrd="0" destOrd="2" presId="urn:microsoft.com/office/officeart/2005/8/layout/vList5"/>
    <dgm:cxn modelId="{A25D56F7-E539-4270-87EE-3E0981B92AC1}" type="presOf" srcId="{AF212BE1-F140-4E77-B41A-FBAEE80EC36F}" destId="{3542F661-5169-43AE-BE94-742F5633880D}" srcOrd="0" destOrd="0" presId="urn:microsoft.com/office/officeart/2005/8/layout/vList5"/>
    <dgm:cxn modelId="{7271DA10-46FF-4F28-9634-387DDA5D165B}" type="presParOf" srcId="{C10FEFCB-63CA-4A71-9E09-B01352B8E8B7}" destId="{65EAD90B-00BB-4498-BB22-AD468AE0B863}" srcOrd="1" destOrd="2" presId="urn:microsoft.com/office/officeart/2005/8/layout/vList5"/>
    <dgm:cxn modelId="{3D7F96E1-B7E6-428C-A440-86B06C76665C}" type="presOf" srcId="{FB2E54F2-3FC0-482B-83FC-096F99F4D7A5}" destId="{65EAD90B-00BB-4498-BB22-AD468AE0B863}" srcOrd="0" destOrd="0" presId="urn:microsoft.com/office/officeart/2005/8/layout/vList5"/>
    <dgm:cxn modelId="{30CDC101-2F29-45BB-9499-58FC9F25D30F}" type="presOf" srcId="{567D2503-FD47-4028-92B1-938C3453F59D}" destId="{65EAD90B-00BB-4498-BB22-AD468AE0B863}" srcOrd="0" destOrd="1" presId="urn:microsoft.com/office/officeart/2005/8/layout/vList5"/>
    <dgm:cxn modelId="{CCA3F8F9-C90E-4215-8667-079104AEF252}" type="presParOf" srcId="{6A3D7BAF-3800-441F-9129-B116017946D7}" destId="{61CC7997-05B3-4623-AD95-0B97E9A418BF}" srcOrd="3" destOrd="0" presId="urn:microsoft.com/office/officeart/2005/8/layout/vList5"/>
    <dgm:cxn modelId="{D96B0C1B-C5DC-42ED-8D06-A9349FC0EFB7}" type="presParOf" srcId="{6A3D7BAF-3800-441F-9129-B116017946D7}" destId="{F874E491-DC54-4235-A589-A751C6D3FE8C}" srcOrd="4" destOrd="0" presId="urn:microsoft.com/office/officeart/2005/8/layout/vList5"/>
    <dgm:cxn modelId="{84AFCA30-059D-47A4-9F07-F2A38F40A8EE}" type="presParOf" srcId="{F874E491-DC54-4235-A589-A751C6D3FE8C}" destId="{7C337E4A-E5CB-4464-B619-6D9DA7F1B67C}" srcOrd="0" destOrd="4" presId="urn:microsoft.com/office/officeart/2005/8/layout/vList5"/>
    <dgm:cxn modelId="{2C99D919-5D4A-4822-AC19-407E7C33581B}" type="presOf" srcId="{68F96971-0260-4B9F-ABD9-DB3495B4E9A7}" destId="{7C337E4A-E5CB-4464-B619-6D9DA7F1B67C}" srcOrd="0" destOrd="0" presId="urn:microsoft.com/office/officeart/2005/8/layout/vList5"/>
    <dgm:cxn modelId="{25FC7AF1-FF81-42F4-ADEC-F671C92CA82B}" type="presParOf" srcId="{F874E491-DC54-4235-A589-A751C6D3FE8C}" destId="{DA83CB34-582A-4DF7-904A-9A9EEE2EAF31}" srcOrd="1" destOrd="4" presId="urn:microsoft.com/office/officeart/2005/8/layout/vList5"/>
    <dgm:cxn modelId="{7BCAEBC6-263A-4D5A-89C4-59A93F2AF6B9}" type="presOf" srcId="{47AECA4B-72F9-4C00-A450-AF57E95F3A15}" destId="{DA83CB34-582A-4DF7-904A-9A9EEE2EAF31}" srcOrd="0" destOrd="0" presId="urn:microsoft.com/office/officeart/2005/8/layout/vList5"/>
    <dgm:cxn modelId="{931BAB43-FB8E-4BEE-BE27-F78F19308E08}" type="presOf" srcId="{18560BAB-7079-4401-BF68-BC6B3680E06C}" destId="{DA83CB34-582A-4DF7-904A-9A9EEE2EAF31}" srcOrd="0" destOrd="1" presId="urn:microsoft.com/office/officeart/2005/8/layout/vList5"/>
    <dgm:cxn modelId="{B10CD305-736F-4F2F-A5EA-2F3246D70DF5}" type="presParOf" srcId="{6A3D7BAF-3800-441F-9129-B116017946D7}" destId="{AAE047DE-D7AE-41C9-833D-47198EF56AE9}" srcOrd="5" destOrd="0" presId="urn:microsoft.com/office/officeart/2005/8/layout/vList5"/>
    <dgm:cxn modelId="{5B0EFFA8-CEAA-48E4-B8D4-9963869A1811}" type="presParOf" srcId="{6A3D7BAF-3800-441F-9129-B116017946D7}" destId="{D2ECF0CF-C96F-4AF8-BF55-45DFF7A80648}" srcOrd="6" destOrd="0" presId="urn:microsoft.com/office/officeart/2005/8/layout/vList5"/>
    <dgm:cxn modelId="{7FC20E80-1C16-4C72-B17B-6EB801D20579}" type="presParOf" srcId="{D2ECF0CF-C96F-4AF8-BF55-45DFF7A80648}" destId="{7EC1B543-F3C9-4E39-8322-3DA94EF52F1E}" srcOrd="0" destOrd="6" presId="urn:microsoft.com/office/officeart/2005/8/layout/vList5"/>
    <dgm:cxn modelId="{EF825666-1DB6-4869-9E85-E7B3A6EBDA39}" type="presOf" srcId="{E3EF24BF-83B4-4B09-BE4B-2638667A5C4B}" destId="{7EC1B543-F3C9-4E39-8322-3DA94EF52F1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712968" cy="5184576"/>
        <a:chOff x="0" y="0"/>
        <a:chExt cx="8712968" cy="5184576"/>
      </a:xfrm>
    </dsp:grpSpPr>
    <dsp:sp modelId="{9AA083AE-0DD6-450D-92F2-1DECCDD8614E}">
      <dsp:nvSpPr>
        <dsp:cNvPr id="4" name="Round Same Side Corner Rectangle 3"/>
        <dsp:cNvSpPr/>
      </dsp:nvSpPr>
      <dsp:spPr bwMode="white">
        <a:xfrm rot="5400000">
          <a:off x="5593005" y="-2373384"/>
          <a:ext cx="663626" cy="5576300"/>
        </a:xfrm>
        <a:prstGeom prst="round2SameRect">
          <a:avLst/>
        </a:prstGeom>
        <a:solidFill>
          <a:srgbClr val="F9F7A5">
            <a:alpha val="90000"/>
          </a:srgbClr>
        </a:solidFill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64769" tIns="32384" rIns="64769" bIns="32384" anchor="ctr"/>
        <a:lstStyle>
          <a:lvl1pPr algn="l">
            <a:defRPr sz="17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dirty="0" smtClean="0">
              <a:solidFill>
                <a:schemeClr val="dk1"/>
              </a:solidFill>
            </a:rPr>
            <a:t>Insulin-dependent, juvenile or childhood-onset </a:t>
          </a:r>
          <a:endParaRPr lang="en-IN" dirty="0">
            <a:solidFill>
              <a:schemeClr val="dk1"/>
            </a:solidFill>
          </a:endParaRPr>
        </a:p>
      </dsp:txBody>
      <dsp:txXfrm rot="5400000">
        <a:off x="5593005" y="-2373384"/>
        <a:ext cx="663626" cy="5576300"/>
      </dsp:txXfrm>
    </dsp:sp>
    <dsp:sp modelId="{E9FE4563-C8E0-485E-B35B-2298EFF07C4F}">
      <dsp:nvSpPr>
        <dsp:cNvPr id="3" name="Rounded Rectangle 2"/>
        <dsp:cNvSpPr/>
      </dsp:nvSpPr>
      <dsp:spPr bwMode="white">
        <a:xfrm>
          <a:off x="0" y="0"/>
          <a:ext cx="3136668" cy="829532"/>
        </a:xfrm>
        <a:prstGeom prst="roundRect">
          <a:avLst/>
        </a:prstGeom>
        <a:solidFill>
          <a:srgbClr val="D08ACE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87630" tIns="43815" rIns="87630" bIns="4381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b="1" dirty="0" smtClean="0">
              <a:solidFill>
                <a:srgbClr val="C00000"/>
              </a:solidFill>
            </a:rPr>
            <a:t>TYPE 1</a:t>
          </a:r>
          <a:endParaRPr lang="en-IN" dirty="0">
            <a:solidFill>
              <a:srgbClr val="C00000"/>
            </a:solidFill>
          </a:endParaRPr>
        </a:p>
      </dsp:txBody>
      <dsp:txXfrm>
        <a:off x="0" y="0"/>
        <a:ext cx="3136668" cy="829532"/>
      </dsp:txXfrm>
    </dsp:sp>
    <dsp:sp modelId="{58E881BA-13A2-4F2A-AE14-F8A4787FFC82}">
      <dsp:nvSpPr>
        <dsp:cNvPr id="6" name="Round Same Side Corner Rectangle 5"/>
        <dsp:cNvSpPr/>
      </dsp:nvSpPr>
      <dsp:spPr bwMode="white">
        <a:xfrm rot="5400000">
          <a:off x="5593005" y="-1502375"/>
          <a:ext cx="663626" cy="5576300"/>
        </a:xfrm>
        <a:prstGeom prst="round2SameRect">
          <a:avLst/>
        </a:prstGeom>
        <a:solidFill>
          <a:srgbClr val="F9F7A5">
            <a:alpha val="90000"/>
          </a:srgbClr>
        </a:solidFill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64769" tIns="32384" rIns="64769" bIns="32384" anchor="ctr"/>
        <a:lstStyle>
          <a:lvl1pPr algn="l">
            <a:defRPr sz="17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dirty="0" smtClean="0">
              <a:solidFill>
                <a:schemeClr val="dk1"/>
              </a:solidFill>
            </a:rPr>
            <a:t>Non-insulin-dependent or adult-onset diabetes</a:t>
          </a:r>
          <a:endParaRPr lang="en-IN" dirty="0">
            <a:solidFill>
              <a:schemeClr val="dk1"/>
            </a:solidFill>
          </a:endParaRPr>
        </a:p>
      </dsp:txBody>
      <dsp:txXfrm rot="5400000">
        <a:off x="5593005" y="-1502375"/>
        <a:ext cx="663626" cy="5576300"/>
      </dsp:txXfrm>
    </dsp:sp>
    <dsp:sp modelId="{D5B4885D-1180-48D3-AD9D-4179E8286E6D}">
      <dsp:nvSpPr>
        <dsp:cNvPr id="5" name="Rounded Rectangle 4"/>
        <dsp:cNvSpPr/>
      </dsp:nvSpPr>
      <dsp:spPr bwMode="white">
        <a:xfrm>
          <a:off x="0" y="871009"/>
          <a:ext cx="3136668" cy="829532"/>
        </a:xfrm>
        <a:prstGeom prst="roundRect">
          <a:avLst/>
        </a:prstGeom>
        <a:solidFill>
          <a:srgbClr val="D08ACE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87630" tIns="43815" rIns="87630" bIns="4381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b="1" dirty="0" smtClean="0">
              <a:solidFill>
                <a:srgbClr val="C00000"/>
              </a:solidFill>
            </a:rPr>
            <a:t>TYPE 2</a:t>
          </a:r>
          <a:endParaRPr lang="en-IN" b="1" dirty="0">
            <a:solidFill>
              <a:srgbClr val="C00000"/>
            </a:solidFill>
          </a:endParaRPr>
        </a:p>
      </dsp:txBody>
      <dsp:txXfrm>
        <a:off x="0" y="871009"/>
        <a:ext cx="3136668" cy="829532"/>
      </dsp:txXfrm>
    </dsp:sp>
    <dsp:sp modelId="{26E0455F-BCCD-413F-9864-64AD0CFDE694}">
      <dsp:nvSpPr>
        <dsp:cNvPr id="9" name="Round Same Side Corner Rectangle 8"/>
        <dsp:cNvSpPr/>
      </dsp:nvSpPr>
      <dsp:spPr bwMode="white">
        <a:xfrm rot="5400000">
          <a:off x="5593005" y="239643"/>
          <a:ext cx="663626" cy="5576300"/>
        </a:xfrm>
        <a:prstGeom prst="round2SameRect">
          <a:avLst/>
        </a:prstGeom>
        <a:solidFill>
          <a:srgbClr val="F9F7A5">
            <a:alpha val="90000"/>
          </a:srgbClr>
        </a:solidFill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64769" tIns="32384" rIns="64769" bIns="32384" anchor="ctr"/>
        <a:lstStyle>
          <a:lvl1pPr algn="l">
            <a:defRPr sz="17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dirty="0" smtClean="0">
              <a:solidFill>
                <a:schemeClr val="dk1"/>
              </a:solidFill>
            </a:rPr>
            <a:t>Monogenic diabetes, pancreatic diabetes, drug-induced </a:t>
          </a:r>
          <a:endParaRPr lang="en-IN" dirty="0">
            <a:solidFill>
              <a:schemeClr val="dk1"/>
            </a:solidFill>
          </a:endParaRPr>
        </a:p>
      </dsp:txBody>
      <dsp:txXfrm rot="5400000">
        <a:off x="5593005" y="239643"/>
        <a:ext cx="663626" cy="5576300"/>
      </dsp:txXfrm>
    </dsp:sp>
    <dsp:sp modelId="{164404E9-A20B-4924-9E56-84063866F550}">
      <dsp:nvSpPr>
        <dsp:cNvPr id="7" name="Rounded Rectangle 6"/>
        <dsp:cNvSpPr/>
      </dsp:nvSpPr>
      <dsp:spPr bwMode="white">
        <a:xfrm>
          <a:off x="0" y="1742018"/>
          <a:ext cx="3136668" cy="829532"/>
        </a:xfrm>
        <a:prstGeom prst="roundRect">
          <a:avLst/>
        </a:prstGeom>
        <a:solidFill>
          <a:srgbClr val="D08ACE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87630" tIns="43815" rIns="87630" bIns="4381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b="1" dirty="0" smtClean="0">
              <a:solidFill>
                <a:srgbClr val="C00000"/>
              </a:solidFill>
            </a:rPr>
            <a:t>Gestational diabetes </a:t>
          </a:r>
          <a:endParaRPr lang="en-IN" dirty="0">
            <a:solidFill>
              <a:srgbClr val="C00000"/>
            </a:solidFill>
          </a:endParaRPr>
        </a:p>
      </dsp:txBody>
      <dsp:txXfrm>
        <a:off x="0" y="1742018"/>
        <a:ext cx="3136668" cy="829532"/>
      </dsp:txXfrm>
    </dsp:sp>
    <dsp:sp modelId="{1DF52DE5-CA02-4FA9-937A-E7E91452F989}">
      <dsp:nvSpPr>
        <dsp:cNvPr id="8" name="Rounded Rectangle 7"/>
        <dsp:cNvSpPr/>
      </dsp:nvSpPr>
      <dsp:spPr bwMode="white">
        <a:xfrm>
          <a:off x="0" y="2613026"/>
          <a:ext cx="3136668" cy="829532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87630" tIns="43815" rIns="87630" bIns="4381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dirty="0" smtClean="0">
              <a:solidFill>
                <a:srgbClr val="7030A0"/>
              </a:solidFill>
            </a:rPr>
            <a:t>Others</a:t>
          </a:r>
          <a:r>
            <a:rPr lang="en-IN" dirty="0" smtClean="0"/>
            <a:t> </a:t>
          </a:r>
          <a:endParaRPr lang="en-IN" dirty="0"/>
        </a:p>
      </dsp:txBody>
      <dsp:txXfrm>
        <a:off x="0" y="2613026"/>
        <a:ext cx="3136668" cy="829532"/>
      </dsp:txXfrm>
    </dsp:sp>
    <dsp:sp modelId="{342E1BFF-1EC4-430C-8F83-23A2EC5CB3C4}">
      <dsp:nvSpPr>
        <dsp:cNvPr id="10" name="Rounded Rectangle 9"/>
        <dsp:cNvSpPr/>
      </dsp:nvSpPr>
      <dsp:spPr bwMode="white">
        <a:xfrm>
          <a:off x="0" y="3484035"/>
          <a:ext cx="3136668" cy="829532"/>
        </a:xfrm>
        <a:prstGeom prst="roundRect">
          <a:avLst/>
        </a:prstGeom>
        <a:solidFill>
          <a:srgbClr val="D08ACE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87630" tIns="43815" rIns="87630" bIns="4381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b="1" dirty="0" smtClean="0">
              <a:solidFill>
                <a:srgbClr val="C00000"/>
              </a:solidFill>
            </a:rPr>
            <a:t>IFG, IGT </a:t>
          </a:r>
          <a:endParaRPr lang="en-IN" b="1" dirty="0">
            <a:solidFill>
              <a:srgbClr val="C00000"/>
            </a:solidFill>
          </a:endParaRPr>
        </a:p>
      </dsp:txBody>
      <dsp:txXfrm>
        <a:off x="0" y="3484035"/>
        <a:ext cx="3136668" cy="829532"/>
      </dsp:txXfrm>
    </dsp:sp>
    <dsp:sp modelId="{F2C68AB1-FBE9-4876-983C-24597B416940}">
      <dsp:nvSpPr>
        <dsp:cNvPr id="11" name="Rounded Rectangle 10"/>
        <dsp:cNvSpPr/>
      </dsp:nvSpPr>
      <dsp:spPr bwMode="white">
        <a:xfrm>
          <a:off x="0" y="4355044"/>
          <a:ext cx="3136668" cy="829532"/>
        </a:xfrm>
        <a:prstGeom prst="roundRect">
          <a:avLst/>
        </a:prstGeom>
        <a:solidFill>
          <a:schemeClr val="accent2">
            <a:lumMod val="60000"/>
            <a:lumOff val="4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87630" tIns="43815" rIns="87630" bIns="4381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300" dirty="0" smtClean="0">
              <a:solidFill>
                <a:schemeClr val="tx1"/>
              </a:solidFill>
            </a:rPr>
            <a:t>MRDM (malnutrition related) -</a:t>
          </a:r>
          <a:r>
            <a:rPr lang="en-IN" sz="1800" dirty="0" smtClean="0">
              <a:solidFill>
                <a:schemeClr val="tx1"/>
              </a:solidFill>
            </a:rPr>
            <a:t>WHO</a:t>
          </a:r>
          <a:endParaRPr lang="en-IN" sz="1800" dirty="0">
            <a:solidFill>
              <a:schemeClr val="tx1"/>
            </a:solidFill>
          </a:endParaRPr>
        </a:p>
      </dsp:txBody>
      <dsp:txXfrm>
        <a:off x="0" y="4355044"/>
        <a:ext cx="3136668" cy="8295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928992" cy="5818907"/>
        <a:chOff x="0" y="0"/>
        <a:chExt cx="8928992" cy="5818907"/>
      </a:xfrm>
    </dsp:grpSpPr>
    <dsp:sp modelId="{3D3A02B9-416E-4474-AD17-C8B7A6ADE29A}">
      <dsp:nvSpPr>
        <dsp:cNvPr id="4" name="Round Same Side Corner Rectangle 3"/>
        <dsp:cNvSpPr/>
      </dsp:nvSpPr>
      <dsp:spPr bwMode="white">
        <a:xfrm rot="5400000">
          <a:off x="5510856" y="-2168925"/>
          <a:ext cx="1121717" cy="5714555"/>
        </a:xfrm>
        <a:prstGeom prst="round2SameRect">
          <a:avLst/>
        </a:prstGeom>
        <a:solidFill>
          <a:schemeClr val="accent3">
            <a:lumMod val="40000"/>
            <a:lumOff val="60000"/>
            <a:alpha val="90000"/>
          </a:schemeClr>
        </a:solidFill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dirty="0" smtClean="0">
              <a:solidFill>
                <a:schemeClr val="dk1"/>
              </a:solidFill>
            </a:rPr>
            <a:t>Prevent the risk factors for diabetes</a:t>
          </a:r>
          <a:endParaRPr lang="en-IN" sz="2000" dirty="0">
            <a:solidFill>
              <a:schemeClr val="dk1"/>
            </a:solidFill>
          </a:endParaRPr>
        </a:p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dirty="0" smtClean="0">
              <a:solidFill>
                <a:srgbClr val="C00000"/>
              </a:solidFill>
            </a:rPr>
            <a:t>LSM</a:t>
          </a:r>
          <a:endParaRPr lang="en-IN" sz="2000" dirty="0">
            <a:solidFill>
              <a:srgbClr val="C00000"/>
            </a:solidFill>
          </a:endParaRPr>
        </a:p>
      </dsp:txBody>
      <dsp:txXfrm rot="5400000">
        <a:off x="5510856" y="-2168925"/>
        <a:ext cx="1121717" cy="5714555"/>
      </dsp:txXfrm>
    </dsp:sp>
    <dsp:sp modelId="{5619FC08-DD7A-46A1-B869-845F10833B49}">
      <dsp:nvSpPr>
        <dsp:cNvPr id="3" name="Rounded Rectangle 2"/>
        <dsp:cNvSpPr/>
      </dsp:nvSpPr>
      <dsp:spPr bwMode="white">
        <a:xfrm>
          <a:off x="0" y="0"/>
          <a:ext cx="3214437" cy="1402146"/>
        </a:xfrm>
        <a:prstGeom prst="roundRect">
          <a:avLst/>
        </a:prstGeom>
        <a:solidFill>
          <a:schemeClr val="accent3">
            <a:lumMod val="75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37160" tIns="68580" rIns="13716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3600" dirty="0" smtClean="0"/>
            <a:t>Primordial </a:t>
          </a:r>
          <a:endParaRPr lang="en-IN" sz="3600" dirty="0"/>
        </a:p>
      </dsp:txBody>
      <dsp:txXfrm>
        <a:off x="0" y="0"/>
        <a:ext cx="3214437" cy="1402146"/>
      </dsp:txXfrm>
    </dsp:sp>
    <dsp:sp modelId="{65EAD90B-00BB-4498-BB22-AD468AE0B863}">
      <dsp:nvSpPr>
        <dsp:cNvPr id="6" name="Round Same Side Corner Rectangle 5"/>
        <dsp:cNvSpPr/>
      </dsp:nvSpPr>
      <dsp:spPr bwMode="white">
        <a:xfrm rot="5400000">
          <a:off x="5510856" y="-683951"/>
          <a:ext cx="1121717" cy="5714555"/>
        </a:xfrm>
        <a:prstGeom prst="round2SameRect">
          <a:avLst/>
        </a:prstGeom>
        <a:solidFill>
          <a:schemeClr val="accent3">
            <a:lumMod val="40000"/>
            <a:lumOff val="60000"/>
            <a:alpha val="90000"/>
          </a:schemeClr>
        </a:solidFill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dirty="0" smtClean="0">
              <a:solidFill>
                <a:schemeClr val="dk1"/>
              </a:solidFill>
            </a:rPr>
            <a:t>Stage of </a:t>
          </a:r>
          <a:r>
            <a:rPr lang="en-GB" sz="2000" dirty="0" err="1" smtClean="0">
              <a:solidFill>
                <a:schemeClr val="dk1"/>
              </a:solidFill>
            </a:rPr>
            <a:t>prediabetes</a:t>
          </a:r>
          <a:r>
            <a:rPr lang="en-GB" sz="2000" dirty="0" smtClean="0">
              <a:solidFill>
                <a:schemeClr val="dk1"/>
              </a:solidFill>
            </a:rPr>
            <a:t>/ RF+ to prevent the onset of diabetes.</a:t>
          </a:r>
          <a:endParaRPr lang="en-IN" sz="2000" dirty="0">
            <a:solidFill>
              <a:schemeClr val="dk1"/>
            </a:solidFill>
          </a:endParaRPr>
        </a:p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dirty="0" smtClean="0">
              <a:solidFill>
                <a:schemeClr val="tx1"/>
              </a:solidFill>
            </a:rPr>
            <a:t>Regular health check up, Life style Modification </a:t>
          </a:r>
          <a:endParaRPr lang="en-GB" sz="2000" dirty="0" smtClean="0">
            <a:solidFill>
              <a:schemeClr val="tx1"/>
            </a:solidFill>
          </a:endParaRPr>
        </a:p>
      </dsp:txBody>
      <dsp:txXfrm rot="5400000">
        <a:off x="5510856" y="-683951"/>
        <a:ext cx="1121717" cy="5714555"/>
      </dsp:txXfrm>
    </dsp:sp>
    <dsp:sp modelId="{3542F661-5169-43AE-BE94-742F5633880D}">
      <dsp:nvSpPr>
        <dsp:cNvPr id="5" name="Rounded Rectangle 4"/>
        <dsp:cNvSpPr/>
      </dsp:nvSpPr>
      <dsp:spPr bwMode="white">
        <a:xfrm>
          <a:off x="0" y="1472254"/>
          <a:ext cx="3214437" cy="1402146"/>
        </a:xfrm>
        <a:prstGeom prst="roundRect">
          <a:avLst/>
        </a:prstGeom>
        <a:solidFill>
          <a:schemeClr val="accent3">
            <a:lumMod val="75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52400" tIns="76200" rIns="1524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4000" dirty="0" smtClean="0"/>
            <a:t>Primary </a:t>
          </a:r>
          <a:endParaRPr lang="en-IN" sz="4000" dirty="0"/>
        </a:p>
      </dsp:txBody>
      <dsp:txXfrm>
        <a:off x="0" y="1472254"/>
        <a:ext cx="3214437" cy="1402146"/>
      </dsp:txXfrm>
    </dsp:sp>
    <dsp:sp modelId="{DA83CB34-582A-4DF7-904A-9A9EEE2EAF31}">
      <dsp:nvSpPr>
        <dsp:cNvPr id="8" name="Round Same Side Corner Rectangle 7"/>
        <dsp:cNvSpPr/>
      </dsp:nvSpPr>
      <dsp:spPr bwMode="white">
        <a:xfrm rot="5400000">
          <a:off x="5510856" y="788303"/>
          <a:ext cx="1121717" cy="5714555"/>
        </a:xfrm>
        <a:prstGeom prst="round2SameRect">
          <a:avLst/>
        </a:prstGeom>
        <a:solidFill>
          <a:schemeClr val="accent3">
            <a:lumMod val="40000"/>
            <a:lumOff val="60000"/>
            <a:alpha val="90000"/>
          </a:schemeClr>
        </a:solidFill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dirty="0" smtClean="0">
              <a:solidFill>
                <a:schemeClr val="dk1"/>
              </a:solidFill>
            </a:rPr>
            <a:t>Prevent onset of complications in already diagnosed DM</a:t>
          </a:r>
          <a:endParaRPr lang="en-IN" sz="2000" dirty="0">
            <a:solidFill>
              <a:schemeClr val="dk1"/>
            </a:solidFill>
          </a:endParaRPr>
        </a:p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dirty="0" smtClean="0">
              <a:solidFill>
                <a:schemeClr val="tx1"/>
              </a:solidFill>
            </a:rPr>
            <a:t>Screening, Diet, physical activity(LSM ) &amp; OHA / Insulin </a:t>
          </a:r>
          <a:endParaRPr lang="en-GB" sz="2000" dirty="0" smtClean="0">
            <a:solidFill>
              <a:schemeClr val="tx1"/>
            </a:solidFill>
          </a:endParaRPr>
        </a:p>
      </dsp:txBody>
      <dsp:txXfrm rot="5400000">
        <a:off x="5510856" y="788303"/>
        <a:ext cx="1121717" cy="5714555"/>
      </dsp:txXfrm>
    </dsp:sp>
    <dsp:sp modelId="{7C337E4A-E5CB-4464-B619-6D9DA7F1B67C}">
      <dsp:nvSpPr>
        <dsp:cNvPr id="7" name="Rounded Rectangle 6"/>
        <dsp:cNvSpPr/>
      </dsp:nvSpPr>
      <dsp:spPr bwMode="white">
        <a:xfrm>
          <a:off x="0" y="2944507"/>
          <a:ext cx="3214437" cy="1402146"/>
        </a:xfrm>
        <a:prstGeom prst="roundRect">
          <a:avLst/>
        </a:prstGeom>
        <a:solidFill>
          <a:schemeClr val="accent3">
            <a:lumMod val="75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52400" tIns="76200" rIns="1524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4000" dirty="0" smtClean="0"/>
            <a:t>Secondary </a:t>
          </a:r>
          <a:endParaRPr lang="en-IN" sz="4000" dirty="0"/>
        </a:p>
      </dsp:txBody>
      <dsp:txXfrm>
        <a:off x="0" y="2944507"/>
        <a:ext cx="3214437" cy="1402146"/>
      </dsp:txXfrm>
    </dsp:sp>
    <dsp:sp modelId="{7EC1B543-F3C9-4E39-8322-3DA94EF52F1E}">
      <dsp:nvSpPr>
        <dsp:cNvPr id="9" name="Rounded Rectangle 8"/>
        <dsp:cNvSpPr/>
      </dsp:nvSpPr>
      <dsp:spPr bwMode="white">
        <a:xfrm>
          <a:off x="0" y="4416761"/>
          <a:ext cx="3214437" cy="1402146"/>
        </a:xfrm>
        <a:prstGeom prst="roundRect">
          <a:avLst/>
        </a:prstGeom>
        <a:solidFill>
          <a:schemeClr val="accent3">
            <a:lumMod val="75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52400" tIns="76200" rIns="1524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4000" dirty="0" smtClean="0"/>
            <a:t>Tertiary</a:t>
          </a:r>
          <a:endParaRPr lang="en-IN" sz="4000" dirty="0"/>
        </a:p>
      </dsp:txBody>
      <dsp:txXfrm>
        <a:off x="0" y="4416761"/>
        <a:ext cx="3214437" cy="14021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sz="1200" dirty="0" smtClean="0"/>
              <a:t>(CDCS &amp; chronic lung disease)..108</a:t>
            </a:r>
            <a:r>
              <a:rPr lang="en-IN" sz="1200" baseline="0" dirty="0" smtClean="0"/>
              <a:t> million in 1980</a:t>
            </a:r>
            <a:endParaRPr lang="en-IN" sz="1200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1236C-767B-4B91-B345-875972D4794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Diabetic foundation</a:t>
            </a:r>
            <a:r>
              <a:rPr lang="en-IN" baseline="0" dirty="0" smtClean="0"/>
              <a:t> of </a:t>
            </a:r>
            <a:r>
              <a:rPr lang="en-IN" baseline="0" dirty="0" err="1" smtClean="0"/>
              <a:t>india</a:t>
            </a:r>
            <a:r>
              <a:rPr lang="en-IN" baseline="0" dirty="0" smtClean="0"/>
              <a:t> - </a:t>
            </a:r>
            <a:r>
              <a:rPr lang="en-IN" baseline="0" dirty="0" err="1" smtClean="0"/>
              <a:t>aiims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1236C-767B-4B91-B345-875972D4794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ICMR INDIAB STUDY</a:t>
            </a:r>
            <a:r>
              <a:rPr lang="en-IN" baseline="0" dirty="0" smtClean="0"/>
              <a:t> 14 STATES 1 UT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1236C-767B-4B91-B345-875972D4794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FIND OUT HOW MUCH EACH</a:t>
            </a:r>
            <a:r>
              <a:rPr lang="en-IN" baseline="0" dirty="0" smtClean="0"/>
              <a:t> </a:t>
            </a:r>
            <a:r>
              <a:rPr lang="en-IN" baseline="0" smtClean="0"/>
              <a:t>FAC CONTRIBUTEs </a:t>
            </a:r>
            <a:r>
              <a:rPr lang="en-IN" b="1" smtClean="0">
                <a:cs typeface="Times New Roman" panose="02020603050405020304" pitchFamily="18" charset="0"/>
              </a:rPr>
              <a:t>Obesity - </a:t>
            </a:r>
            <a:r>
              <a:rPr lang="en-IN" sz="2000" b="1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strongest risk factor</a:t>
            </a:r>
            <a:r>
              <a:rPr lang="en-IN" sz="2000" b="1" baseline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IN" b="1" smtClean="0">
                <a:cs typeface="Times New Roman" panose="02020603050405020304" pitchFamily="18" charset="0"/>
              </a:rPr>
              <a:t> </a:t>
            </a:r>
            <a:r>
              <a:rPr lang="en-IN" sz="1200" b="1" smtClean="0">
                <a:cs typeface="Times New Roman" panose="02020603050405020304" pitchFamily="18" charset="0"/>
              </a:rPr>
              <a:t>(</a:t>
            </a:r>
            <a:r>
              <a:rPr lang="en-IN" sz="1200" smtClean="0">
                <a:cs typeface="Times New Roman" panose="02020603050405020304" pitchFamily="18" charset="0"/>
              </a:rPr>
              <a:t>1 /3</a:t>
            </a:r>
            <a:r>
              <a:rPr lang="en-IN" sz="1400" smtClean="0">
                <a:cs typeface="Times New Roman" panose="02020603050405020304" pitchFamily="18" charset="0"/>
              </a:rPr>
              <a:t> -</a:t>
            </a:r>
            <a:r>
              <a:rPr lang="en-IN" sz="1200" smtClean="0">
                <a:cs typeface="Times New Roman" panose="02020603050405020304" pitchFamily="18" charset="0"/>
              </a:rPr>
              <a:t> overweight &amp; 1 / 10 - obese in 2014 )</a:t>
            </a:r>
            <a:endParaRPr lang="en-IN" sz="120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smtClean="0">
                <a:cs typeface="Times New Roman" panose="02020603050405020304" pitchFamily="18" charset="0"/>
              </a:rPr>
              <a:t>-    Over-feeding during infancy, childhood and adolescence. Familial obesity.</a:t>
            </a:r>
            <a:r>
              <a:rPr lang="en-IN" sz="1200" baseline="0" smtClean="0">
                <a:cs typeface="Times New Roman" panose="02020603050405020304" pitchFamily="18" charset="0"/>
              </a:rPr>
              <a:t> </a:t>
            </a:r>
            <a:r>
              <a:rPr lang="en-IN" sz="1200" smtClean="0">
                <a:cs typeface="Times New Roman" panose="02020603050405020304" pitchFamily="18" charset="0"/>
              </a:rPr>
              <a:t>BMI (children) -85 to&lt;95</a:t>
            </a:r>
            <a:r>
              <a:rPr lang="en-IN" sz="1200" baseline="30000" smtClean="0">
                <a:cs typeface="Times New Roman" panose="02020603050405020304" pitchFamily="18" charset="0"/>
              </a:rPr>
              <a:t>th</a:t>
            </a:r>
            <a:r>
              <a:rPr lang="en-IN" sz="1200" smtClean="0">
                <a:cs typeface="Times New Roman" panose="02020603050405020304" pitchFamily="18" charset="0"/>
              </a:rPr>
              <a:t> percentile – overweight</a:t>
            </a:r>
            <a:r>
              <a:rPr lang="en-IN" sz="1200" b="1" smtClean="0">
                <a:cs typeface="Times New Roman" panose="02020603050405020304" pitchFamily="18" charset="0"/>
              </a:rPr>
              <a:t>  &gt;95</a:t>
            </a:r>
            <a:r>
              <a:rPr lang="en-IN" sz="1200" b="1" baseline="30000" smtClean="0">
                <a:cs typeface="Times New Roman" panose="02020603050405020304" pitchFamily="18" charset="0"/>
              </a:rPr>
              <a:t>th</a:t>
            </a:r>
            <a:r>
              <a:rPr lang="en-IN" sz="1200" b="1" smtClean="0">
                <a:cs typeface="Times New Roman" panose="02020603050405020304" pitchFamily="18" charset="0"/>
              </a:rPr>
              <a:t> percentile – obesity</a:t>
            </a:r>
            <a:endParaRPr lang="en-IN" sz="1200" b="1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b="1" smtClean="0">
                <a:cs typeface="Times New Roman" panose="02020603050405020304" pitchFamily="18" charset="0"/>
              </a:rPr>
              <a:t>WC-                     </a:t>
            </a:r>
            <a:r>
              <a:rPr lang="en-IN" sz="1200" b="1" smtClean="0">
                <a:solidFill>
                  <a:schemeClr val="accent6">
                    <a:lumMod val="50000"/>
                  </a:schemeClr>
                </a:solidFill>
              </a:rPr>
              <a:t> &gt;90 cm M, &gt;80 cm F</a:t>
            </a:r>
            <a:endParaRPr lang="en-IN" sz="1200" b="1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smtClean="0"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1236C-767B-4B91-B345-875972D4794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dirty="0" smtClean="0"/>
              <a:t>Insulin- protein synthesis     Osmotic symptoms</a:t>
            </a:r>
            <a:r>
              <a:rPr lang="en-IN" baseline="0" dirty="0" smtClean="0"/>
              <a:t>      </a:t>
            </a:r>
            <a:r>
              <a:rPr lang="en-IN" dirty="0" smtClean="0"/>
              <a:t>Recurrent urogenital infections/ </a:t>
            </a:r>
            <a:r>
              <a:rPr lang="en-IN" dirty="0" err="1" smtClean="0"/>
              <a:t>vulvo</a:t>
            </a:r>
            <a:r>
              <a:rPr lang="en-IN" dirty="0" smtClean="0"/>
              <a:t> </a:t>
            </a:r>
            <a:r>
              <a:rPr lang="en-IN" smtClean="0"/>
              <a:t>vaginal</a:t>
            </a:r>
            <a:r>
              <a:rPr lang="en-IN" baseline="0" smtClean="0"/>
              <a:t> candidiasis</a:t>
            </a:r>
            <a:r>
              <a:rPr lang="en-IN" smtClean="0"/>
              <a:t>      </a:t>
            </a:r>
            <a:r>
              <a:rPr lang="en-IN" sz="1200" dirty="0" smtClean="0"/>
              <a:t>Generalised pruritus</a:t>
            </a:r>
            <a:endParaRPr lang="en-I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IN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1236C-767B-4B91-B345-875972D4794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No direct evidence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1236C-767B-4B91-B345-875972D4794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75</a:t>
            </a:r>
            <a:r>
              <a:rPr lang="en-IN" baseline="0" dirty="0" smtClean="0"/>
              <a:t> G anhydrous  GLUCOSE = 82.5 G ORAL GLUCOSE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1236C-767B-4B91-B345-875972D4794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Who 3 pillars – to prevent 80%</a:t>
            </a:r>
            <a:r>
              <a:rPr lang="en-IN" baseline="0" dirty="0" smtClean="0"/>
              <a:t> of DM…. Stress management is essential </a:t>
            </a:r>
            <a:endParaRPr lang="en-IN" baseline="0" dirty="0" smtClean="0"/>
          </a:p>
          <a:p>
            <a:r>
              <a:rPr lang="en-IN" baseline="0" dirty="0" smtClean="0"/>
              <a:t>WHO TARGETS – 10% REDUCTION IN PHYSICAL INACTIVITY, TOBACCO USE DEC 30 % IN DIET SALT INTAKE DEC 30%, ALCOHOL 10% REDUC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1236C-767B-4B91-B345-875972D4794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Obese inactive, sedentary men/women - 20 kcal/kg of present weight</a:t>
            </a:r>
            <a:endParaRPr lang="en-I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 BMI, sedentary men/women - 22 – 25 kcal/kg</a:t>
            </a:r>
            <a:endParaRPr lang="en-I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 BMI, active men/women  - 30 kcal/kg</a:t>
            </a:r>
            <a:endParaRPr lang="en-I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Thin/Very active - 40 kcal/kg</a:t>
            </a:r>
            <a:endParaRPr lang="en-I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dirty="0" smtClean="0"/>
              <a:t>Salt</a:t>
            </a:r>
            <a:r>
              <a:rPr lang="en-IN" baseline="0" dirty="0" smtClean="0"/>
              <a:t> who target – 30% dc.. Protein 12% of total energy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1236C-767B-4B91-B345-875972D4794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 smtClean="0"/>
              <a:t>Penformin</a:t>
            </a: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1236C-767B-4B91-B345-875972D4794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 smtClean="0"/>
              <a:t>– neutral protamine </a:t>
            </a:r>
            <a:r>
              <a:rPr lang="en-IN" sz="1200" dirty="0" err="1" smtClean="0"/>
              <a:t>Hagedorn</a:t>
            </a:r>
            <a:r>
              <a:rPr lang="en-IN" sz="1200" dirty="0" smtClean="0"/>
              <a:t> (NPH)</a:t>
            </a:r>
            <a:endParaRPr lang="en-IN" sz="1200" dirty="0" smtClean="0"/>
          </a:p>
          <a:p>
            <a:r>
              <a:rPr lang="en-IN" sz="1200" dirty="0" smtClean="0"/>
              <a:t> Premixed- mixtures of regular and NPH insulin in 25/75, 30/70, 50/50 proportion</a:t>
            </a:r>
            <a:endParaRPr lang="en-IN" sz="1200" dirty="0" smtClean="0"/>
          </a:p>
          <a:p>
            <a:r>
              <a:rPr lang="en-IN" dirty="0" smtClean="0"/>
              <a:t>Regular insulin 30min onset of action – so given</a:t>
            </a:r>
            <a:r>
              <a:rPr lang="en-IN" baseline="0" dirty="0" smtClean="0"/>
              <a:t> 30 min b4 food</a:t>
            </a:r>
            <a:endParaRPr lang="en-IN" baseline="0" dirty="0" smtClean="0"/>
          </a:p>
          <a:p>
            <a:r>
              <a:rPr lang="en-IN" baseline="0" dirty="0" smtClean="0"/>
              <a:t>All insulin act in neutral </a:t>
            </a:r>
            <a:r>
              <a:rPr lang="en-IN" baseline="0" dirty="0" err="1" smtClean="0"/>
              <a:t>ph</a:t>
            </a:r>
            <a:r>
              <a:rPr lang="en-IN" baseline="0" dirty="0" smtClean="0"/>
              <a:t> except </a:t>
            </a:r>
            <a:r>
              <a:rPr lang="en-IN" baseline="0" dirty="0" err="1" smtClean="0"/>
              <a:t>glargine</a:t>
            </a:r>
            <a:r>
              <a:rPr lang="en-IN" baseline="0" dirty="0" smtClean="0"/>
              <a:t>- so cant be mixed with any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1236C-767B-4B91-B345-875972D4794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E8280-446E-4147-97A9-53182D74E9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BC87406-D146-40B3-87D1-957C81450FC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1294" y="1160865"/>
            <a:ext cx="7766936" cy="2443726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IN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DIABETES</a:t>
            </a:r>
            <a:endParaRPr lang="en-IN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1504" y="0"/>
            <a:ext cx="9036496" cy="724542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dirty="0" smtClean="0">
                <a:solidFill>
                  <a:schemeClr val="tx1"/>
                </a:solidFill>
              </a:rPr>
              <a:t>Contents ….</a:t>
            </a:r>
            <a:endParaRPr lang="en-IN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dirty="0" smtClean="0">
                <a:solidFill>
                  <a:schemeClr val="tx1"/>
                </a:solidFill>
              </a:rPr>
              <a:t>Definition &amp; Types </a:t>
            </a:r>
            <a:endParaRPr lang="en-IN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dirty="0" smtClean="0">
                <a:solidFill>
                  <a:schemeClr val="tx1"/>
                </a:solidFill>
              </a:rPr>
              <a:t>Problem statement (World, India, Economic Impact)</a:t>
            </a:r>
            <a:endParaRPr lang="en-IN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dirty="0" smtClean="0">
                <a:solidFill>
                  <a:schemeClr val="tx1"/>
                </a:solidFill>
              </a:rPr>
              <a:t>Risk factor (Agent, Host, Environment) &amp;</a:t>
            </a:r>
            <a:r>
              <a:rPr lang="en-IN" sz="2400" dirty="0">
                <a:solidFill>
                  <a:schemeClr val="tx1"/>
                </a:solidFill>
              </a:rPr>
              <a:t> </a:t>
            </a:r>
            <a:r>
              <a:rPr lang="en-IN" sz="2400" dirty="0" smtClean="0">
                <a:solidFill>
                  <a:schemeClr val="tx1"/>
                </a:solidFill>
              </a:rPr>
              <a:t> Risk assessment</a:t>
            </a:r>
            <a:endParaRPr lang="en-IN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dirty="0" smtClean="0">
                <a:solidFill>
                  <a:schemeClr val="tx1"/>
                </a:solidFill>
              </a:rPr>
              <a:t>Clinical features</a:t>
            </a:r>
            <a:endParaRPr lang="en-IN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tx1"/>
                </a:solidFill>
              </a:rPr>
              <a:t>Goals for </a:t>
            </a:r>
            <a:r>
              <a:rPr lang="en-IN" sz="2400" dirty="0" smtClean="0">
                <a:solidFill>
                  <a:schemeClr val="tx1"/>
                </a:solidFill>
              </a:rPr>
              <a:t>management, Screening, Investigations &amp; Diagnostic criteria</a:t>
            </a:r>
            <a:endParaRPr lang="en-IN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dirty="0" smtClean="0">
                <a:solidFill>
                  <a:schemeClr val="tx1"/>
                </a:solidFill>
              </a:rPr>
              <a:t>Life style modification (Diet, Physical activity)</a:t>
            </a:r>
            <a:endParaRPr lang="en-IN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tx1"/>
                </a:solidFill>
              </a:rPr>
              <a:t>OHA  &amp; </a:t>
            </a:r>
            <a:r>
              <a:rPr lang="en-IN" sz="2400" dirty="0" smtClean="0">
                <a:solidFill>
                  <a:schemeClr val="tx1"/>
                </a:solidFill>
              </a:rPr>
              <a:t>Insulin</a:t>
            </a:r>
            <a:endParaRPr lang="en-IN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dirty="0" smtClean="0">
                <a:solidFill>
                  <a:schemeClr val="tx1"/>
                </a:solidFill>
              </a:rPr>
              <a:t>Complications &amp; its management &amp; </a:t>
            </a:r>
            <a:r>
              <a:rPr lang="en-IN" sz="2400" dirty="0" err="1" smtClean="0">
                <a:solidFill>
                  <a:schemeClr val="tx1"/>
                </a:solidFill>
              </a:rPr>
              <a:t>assos</a:t>
            </a:r>
            <a:r>
              <a:rPr lang="en-IN" sz="2400" dirty="0" smtClean="0">
                <a:solidFill>
                  <a:schemeClr val="tx1"/>
                </a:solidFill>
              </a:rPr>
              <a:t> conditions </a:t>
            </a:r>
            <a:endParaRPr lang="en-IN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IN" sz="24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50"/>
            <a:ext cx="8229600" cy="1143000"/>
          </a:xfrm>
        </p:spPr>
        <p:txBody>
          <a:bodyPr/>
          <a:lstStyle/>
          <a:p>
            <a:r>
              <a:rPr lang="en-US" sz="3600" b="1" dirty="0" smtClean="0"/>
              <a:t>DIABETES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770" y="692785"/>
            <a:ext cx="10140315" cy="613346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charset="0"/>
              <a:buChar char="Ø"/>
            </a:pPr>
            <a:r>
              <a:rPr lang="en-GB" sz="2400" b="1" dirty="0" err="1" smtClean="0">
                <a:solidFill>
                  <a:schemeClr val="tx1"/>
                </a:solidFill>
              </a:rPr>
              <a:t>Heterogenous</a:t>
            </a:r>
            <a:r>
              <a:rPr lang="en-GB" sz="2400" b="1" dirty="0" smtClean="0">
                <a:solidFill>
                  <a:schemeClr val="tx1"/>
                </a:solidFill>
              </a:rPr>
              <a:t> group </a:t>
            </a:r>
            <a:r>
              <a:rPr lang="en-GB" sz="2400" dirty="0" smtClean="0">
                <a:solidFill>
                  <a:schemeClr val="tx1"/>
                </a:solidFill>
              </a:rPr>
              <a:t>of </a:t>
            </a:r>
            <a:r>
              <a:rPr lang="en-GB" sz="2400" dirty="0" err="1" smtClean="0">
                <a:solidFill>
                  <a:schemeClr val="tx1"/>
                </a:solidFill>
              </a:rPr>
              <a:t>disesease</a:t>
            </a:r>
            <a:r>
              <a:rPr lang="en-GB" sz="2400" dirty="0" smtClean="0">
                <a:solidFill>
                  <a:schemeClr val="tx1"/>
                </a:solidFill>
              </a:rPr>
              <a:t> </a:t>
            </a:r>
            <a:endParaRPr lang="en-GB" sz="2400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endParaRPr lang="en-GB" sz="2400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GB" sz="2400" dirty="0" smtClean="0">
                <a:solidFill>
                  <a:schemeClr val="tx1"/>
                </a:solidFill>
              </a:rPr>
              <a:t>Syndrome </a:t>
            </a:r>
            <a:r>
              <a:rPr lang="en-GB" sz="2400" dirty="0">
                <a:solidFill>
                  <a:schemeClr val="tx1"/>
                </a:solidFill>
              </a:rPr>
              <a:t>of </a:t>
            </a:r>
            <a:r>
              <a:rPr lang="en-GB" sz="2400" b="1" dirty="0">
                <a:solidFill>
                  <a:schemeClr val="tx1"/>
                </a:solidFill>
              </a:rPr>
              <a:t>multiple </a:t>
            </a:r>
            <a:r>
              <a:rPr lang="en-GB" sz="2400" b="1" dirty="0" err="1">
                <a:solidFill>
                  <a:schemeClr val="tx1"/>
                </a:solidFill>
              </a:rPr>
              <a:t>etiologies</a:t>
            </a:r>
            <a:r>
              <a:rPr lang="en-GB" sz="2400" b="1" dirty="0">
                <a:solidFill>
                  <a:schemeClr val="tx1"/>
                </a:solidFill>
              </a:rPr>
              <a:t> </a:t>
            </a:r>
            <a:endParaRPr lang="en-GB" sz="2400" b="1" dirty="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endParaRPr lang="en-GB" sz="2400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GB" sz="2400" dirty="0" smtClean="0">
                <a:solidFill>
                  <a:schemeClr val="tx1"/>
                </a:solidFill>
              </a:rPr>
              <a:t>Characterized – </a:t>
            </a:r>
            <a:r>
              <a:rPr lang="en-GB" sz="2400" b="1" dirty="0" smtClean="0">
                <a:solidFill>
                  <a:schemeClr val="tx1"/>
                </a:solidFill>
              </a:rPr>
              <a:t>chronic  </a:t>
            </a:r>
            <a:r>
              <a:rPr lang="en-GB" sz="2400" b="1" dirty="0">
                <a:solidFill>
                  <a:schemeClr val="tx1"/>
                </a:solidFill>
              </a:rPr>
              <a:t>hyperglycaemia </a:t>
            </a:r>
            <a:endParaRPr lang="en-GB" sz="2400" dirty="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endParaRPr lang="en-GB" sz="2400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GB" sz="2400" dirty="0" smtClean="0">
                <a:solidFill>
                  <a:schemeClr val="tx1"/>
                </a:solidFill>
              </a:rPr>
              <a:t>Disturbances - </a:t>
            </a:r>
            <a:r>
              <a:rPr lang="en-GB" sz="2400" b="1" dirty="0">
                <a:solidFill>
                  <a:schemeClr val="tx1"/>
                </a:solidFill>
              </a:rPr>
              <a:t>C</a:t>
            </a:r>
            <a:r>
              <a:rPr lang="en-GB" sz="2400" b="1" dirty="0" smtClean="0">
                <a:solidFill>
                  <a:schemeClr val="tx1"/>
                </a:solidFill>
              </a:rPr>
              <a:t>arbohydrate</a:t>
            </a:r>
            <a:r>
              <a:rPr lang="en-GB" sz="2400" dirty="0">
                <a:solidFill>
                  <a:schemeClr val="tx1"/>
                </a:solidFill>
              </a:rPr>
              <a:t>, </a:t>
            </a:r>
            <a:r>
              <a:rPr lang="en-GB" sz="2400" b="1" dirty="0">
                <a:solidFill>
                  <a:schemeClr val="tx1"/>
                </a:solidFill>
              </a:rPr>
              <a:t>F</a:t>
            </a:r>
            <a:r>
              <a:rPr lang="en-GB" sz="2400" b="1" dirty="0" smtClean="0">
                <a:solidFill>
                  <a:schemeClr val="tx1"/>
                </a:solidFill>
              </a:rPr>
              <a:t>at</a:t>
            </a:r>
            <a:r>
              <a:rPr lang="en-GB" sz="2400" dirty="0" smtClean="0">
                <a:solidFill>
                  <a:schemeClr val="tx1"/>
                </a:solidFill>
              </a:rPr>
              <a:t> </a:t>
            </a:r>
            <a:r>
              <a:rPr lang="en-GB" sz="2400" dirty="0">
                <a:solidFill>
                  <a:schemeClr val="tx1"/>
                </a:solidFill>
              </a:rPr>
              <a:t>and </a:t>
            </a:r>
            <a:r>
              <a:rPr lang="en-GB" sz="2400" b="1" dirty="0">
                <a:solidFill>
                  <a:schemeClr val="tx1"/>
                </a:solidFill>
              </a:rPr>
              <a:t>P</a:t>
            </a:r>
            <a:r>
              <a:rPr lang="en-GB" sz="2400" b="1" dirty="0" smtClean="0">
                <a:solidFill>
                  <a:schemeClr val="tx1"/>
                </a:solidFill>
              </a:rPr>
              <a:t>rotein</a:t>
            </a:r>
            <a:r>
              <a:rPr lang="en-GB" sz="2400" dirty="0" smtClean="0">
                <a:solidFill>
                  <a:schemeClr val="tx1"/>
                </a:solidFill>
              </a:rPr>
              <a:t> metabolism </a:t>
            </a:r>
            <a:endParaRPr lang="en-GB" sz="2400" dirty="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endParaRPr lang="en-GB" sz="2400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GB" sz="2400" dirty="0" smtClean="0">
                <a:solidFill>
                  <a:schemeClr val="tx1"/>
                </a:solidFill>
              </a:rPr>
              <a:t>Resulting </a:t>
            </a:r>
            <a:r>
              <a:rPr lang="en-GB" sz="2400" dirty="0">
                <a:solidFill>
                  <a:schemeClr val="tx1"/>
                </a:solidFill>
              </a:rPr>
              <a:t>from defects in insulin secretion, </a:t>
            </a:r>
            <a:r>
              <a:rPr lang="en-GB" sz="2400" dirty="0" smtClean="0">
                <a:solidFill>
                  <a:schemeClr val="tx1"/>
                </a:solidFill>
              </a:rPr>
              <a:t>action </a:t>
            </a:r>
            <a:r>
              <a:rPr lang="en-GB" sz="2400" dirty="0">
                <a:solidFill>
                  <a:schemeClr val="tx1"/>
                </a:solidFill>
              </a:rPr>
              <a:t>or both</a:t>
            </a:r>
            <a:r>
              <a:rPr lang="en-GB" sz="2400" dirty="0" smtClean="0">
                <a:solidFill>
                  <a:schemeClr val="tx1"/>
                </a:solidFill>
              </a:rPr>
              <a:t>.</a:t>
            </a:r>
            <a:endParaRPr lang="en-GB" sz="2400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endParaRPr lang="en-GB" sz="2400" dirty="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GB" sz="2400" dirty="0" smtClean="0">
                <a:solidFill>
                  <a:schemeClr val="tx1"/>
                </a:solidFill>
              </a:rPr>
              <a:t>Associated </a:t>
            </a:r>
            <a:r>
              <a:rPr lang="en-GB" sz="2400" dirty="0">
                <a:solidFill>
                  <a:schemeClr val="tx1"/>
                </a:solidFill>
              </a:rPr>
              <a:t>with </a:t>
            </a:r>
            <a:r>
              <a:rPr lang="en-GB" sz="2400" dirty="0" smtClean="0">
                <a:solidFill>
                  <a:schemeClr val="tx1"/>
                </a:solidFill>
              </a:rPr>
              <a:t>long </a:t>
            </a:r>
            <a:r>
              <a:rPr lang="en-GB" sz="2400" dirty="0">
                <a:solidFill>
                  <a:schemeClr val="tx1"/>
                </a:solidFill>
              </a:rPr>
              <a:t>term complications, involving organs like eyes, kidneys, nerves, heart and </a:t>
            </a:r>
            <a:r>
              <a:rPr lang="en-GB" sz="2400" dirty="0" smtClean="0">
                <a:solidFill>
                  <a:schemeClr val="tx1"/>
                </a:solidFill>
              </a:rPr>
              <a:t>blood vessels</a:t>
            </a:r>
            <a:endParaRPr lang="en-GB" sz="2400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sz="2400" dirty="0">
                <a:solidFill>
                  <a:schemeClr val="tx1"/>
                </a:solidFill>
              </a:rPr>
              <a:t>1 of 4priority NCDs targeted</a:t>
            </a:r>
            <a:endParaRPr lang="en-GB" sz="2400" dirty="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endParaRPr lang="en-GB" sz="24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0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TYPES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8282" y="1071546"/>
            <a:ext cx="8472518" cy="5669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GB" sz="1600" dirty="0" smtClean="0"/>
              <a:t>(American </a:t>
            </a:r>
            <a:r>
              <a:rPr lang="en-GB" sz="1600" dirty="0"/>
              <a:t>Diabetes Association and the World Health Organisation, diabetes can be </a:t>
            </a:r>
            <a:r>
              <a:rPr lang="en-GB" sz="1600" dirty="0" smtClean="0"/>
              <a:t>classiﬁed </a:t>
            </a:r>
            <a:r>
              <a:rPr lang="en-GB" sz="1600" dirty="0"/>
              <a:t>into </a:t>
            </a:r>
            <a:r>
              <a:rPr lang="en-GB" sz="1600" dirty="0" smtClean="0"/>
              <a:t>four)</a:t>
            </a:r>
            <a:endParaRPr lang="en-GB" sz="1600" dirty="0" smtClean="0"/>
          </a:p>
          <a:p>
            <a:r>
              <a:rPr lang="en-GB" sz="1600" b="1" dirty="0" smtClean="0"/>
              <a:t>MODY- Maturity onset Diabetes of Young</a:t>
            </a:r>
            <a:endParaRPr lang="en-IN" sz="1600" b="1" dirty="0" smtClean="0"/>
          </a:p>
          <a:p>
            <a:endParaRPr lang="en-IN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631504" y="548680"/>
          <a:ext cx="8712968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" name="Rectangle 4"/>
          <p:cNvSpPr/>
          <p:nvPr/>
        </p:nvSpPr>
        <p:spPr>
          <a:xfrm>
            <a:off x="4799856" y="5013176"/>
            <a:ext cx="5544616" cy="6480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Partial failure / damage to beta cells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3745" y="0"/>
            <a:ext cx="8229600" cy="791845"/>
          </a:xfrm>
        </p:spPr>
        <p:txBody>
          <a:bodyPr>
            <a:normAutofit/>
          </a:bodyPr>
          <a:lstStyle/>
          <a:p>
            <a:r>
              <a:rPr lang="en-US" dirty="0" smtClean="0"/>
              <a:t>Problem statement - World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155" y="553720"/>
            <a:ext cx="10754360" cy="600011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400" b="1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400" b="1" dirty="0" smtClean="0">
                <a:solidFill>
                  <a:schemeClr val="tx1"/>
                </a:solidFill>
              </a:rPr>
              <a:t>NCDs</a:t>
            </a:r>
            <a:r>
              <a:rPr lang="en-IN" sz="2400" dirty="0" smtClean="0">
                <a:solidFill>
                  <a:schemeClr val="tx1"/>
                </a:solidFill>
              </a:rPr>
              <a:t> -</a:t>
            </a:r>
            <a:r>
              <a:rPr lang="en-IN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70% </a:t>
            </a:r>
            <a:r>
              <a:rPr lang="en-IN" sz="2400" dirty="0" smtClean="0">
                <a:solidFill>
                  <a:schemeClr val="tx1"/>
                </a:solidFill>
              </a:rPr>
              <a:t>of all deaths worldwide, 3/4 in low- and middle-income countries. </a:t>
            </a:r>
            <a:endParaRPr lang="en-IN" sz="2400" b="1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sz="2400" dirty="0" smtClean="0">
                <a:solidFill>
                  <a:schemeClr val="tx1"/>
                </a:solidFill>
              </a:rPr>
              <a:t>Prevalence </a:t>
            </a:r>
            <a:r>
              <a:rPr lang="en-IN" sz="2400" dirty="0">
                <a:solidFill>
                  <a:schemeClr val="tx1"/>
                </a:solidFill>
              </a:rPr>
              <a:t>of </a:t>
            </a:r>
            <a:r>
              <a:rPr lang="en-IN" sz="2400" dirty="0" smtClean="0">
                <a:solidFill>
                  <a:schemeClr val="tx1"/>
                </a:solidFill>
              </a:rPr>
              <a:t>DM &amp; CHD </a:t>
            </a:r>
            <a:r>
              <a:rPr lang="en-IN" sz="2400" dirty="0">
                <a:solidFill>
                  <a:schemeClr val="tx1"/>
                </a:solidFill>
              </a:rPr>
              <a:t>-</a:t>
            </a:r>
            <a:r>
              <a:rPr lang="en-IN" sz="2400" dirty="0" smtClean="0">
                <a:solidFill>
                  <a:schemeClr val="tx1"/>
                </a:solidFill>
              </a:rPr>
              <a:t> </a:t>
            </a:r>
            <a:r>
              <a:rPr lang="en-IN" sz="2400" dirty="0">
                <a:solidFill>
                  <a:schemeClr val="tx1"/>
                </a:solidFill>
              </a:rPr>
              <a:t>urban </a:t>
            </a:r>
            <a:r>
              <a:rPr lang="en-IN" sz="2400" dirty="0" smtClean="0">
                <a:solidFill>
                  <a:schemeClr val="tx1"/>
                </a:solidFill>
              </a:rPr>
              <a:t> &gt; rural </a:t>
            </a:r>
            <a:endParaRPr lang="en-IN" sz="24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sz="24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en-IN" sz="2400" b="1" baseline="30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</a:t>
            </a:r>
            <a:r>
              <a:rPr lang="en-IN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IN" sz="2400" dirty="0" smtClean="0">
                <a:solidFill>
                  <a:schemeClr val="tx1"/>
                </a:solidFill>
              </a:rPr>
              <a:t>leading cause of death.</a:t>
            </a:r>
            <a:endParaRPr lang="en-IN" sz="2400" dirty="0" smtClean="0">
              <a:solidFill>
                <a:schemeClr val="tx1"/>
              </a:solidFill>
            </a:endParaRPr>
          </a:p>
          <a:p>
            <a:endParaRPr lang="en-IN" sz="24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46</a:t>
            </a:r>
            <a:r>
              <a:rPr lang="en-I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</a:t>
            </a:r>
            <a:r>
              <a:rPr lang="en-IN" sz="2400" dirty="0">
                <a:solidFill>
                  <a:schemeClr val="tx1"/>
                </a:solidFill>
              </a:rPr>
              <a:t> - unaware that they have </a:t>
            </a:r>
            <a:r>
              <a:rPr lang="en-IN" sz="2400" dirty="0" smtClean="0">
                <a:solidFill>
                  <a:schemeClr val="tx1"/>
                </a:solidFill>
              </a:rPr>
              <a:t>DM </a:t>
            </a:r>
            <a:r>
              <a:rPr lang="en-IN" sz="1800" dirty="0" smtClean="0">
                <a:solidFill>
                  <a:schemeClr val="tx1"/>
                </a:solidFill>
              </a:rPr>
              <a:t>(24-62%)</a:t>
            </a:r>
            <a:endParaRPr lang="en-IN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sz="24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1/7</a:t>
            </a:r>
            <a:r>
              <a:rPr lang="en-IN" sz="2400" dirty="0" smtClean="0">
                <a:solidFill>
                  <a:schemeClr val="tx1"/>
                </a:solidFill>
              </a:rPr>
              <a:t> </a:t>
            </a:r>
            <a:r>
              <a:rPr lang="en-IN" sz="2400" dirty="0">
                <a:solidFill>
                  <a:schemeClr val="tx1"/>
                </a:solidFill>
              </a:rPr>
              <a:t>-births affected by </a:t>
            </a:r>
            <a:r>
              <a:rPr lang="en-IN" sz="2400" dirty="0" smtClean="0">
                <a:solidFill>
                  <a:schemeClr val="tx1"/>
                </a:solidFill>
              </a:rPr>
              <a:t>GDM</a:t>
            </a:r>
            <a:endParaRPr lang="en-I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24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06090"/>
          </a:xfrm>
        </p:spPr>
        <p:txBody>
          <a:bodyPr>
            <a:normAutofit/>
          </a:bodyPr>
          <a:lstStyle/>
          <a:p>
            <a:r>
              <a:rPr lang="en-IN" sz="311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prevalence </a:t>
            </a:r>
            <a:r>
              <a:rPr lang="en-IN" sz="311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8.5%  </a:t>
            </a:r>
            <a:r>
              <a:rPr lang="en-IN" sz="311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-2014</a:t>
            </a:r>
            <a:endParaRPr lang="en-IN" sz="311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:\Users\Abi\Desktop\dm\download.png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7" y="1268760"/>
            <a:ext cx="7102572" cy="421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67608" y="5873115"/>
            <a:ext cx="3388995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6/10</a:t>
            </a:r>
            <a:r>
              <a:rPr lang="en-IN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DM by 2040</a:t>
            </a:r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302895"/>
            <a:ext cx="8596630" cy="893445"/>
          </a:xfrm>
        </p:spPr>
        <p:txBody>
          <a:bodyPr/>
          <a:lstStyle/>
          <a:p>
            <a:r>
              <a:rPr lang="en-IN" dirty="0" smtClean="0"/>
              <a:t>Problem statement - India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910" y="1196975"/>
            <a:ext cx="10773410" cy="5032375"/>
          </a:xfrm>
        </p:spPr>
        <p:txBody>
          <a:bodyPr>
            <a:normAutofit lnSpcReduction="20000"/>
          </a:bodyPr>
          <a:lstStyle/>
          <a:p>
            <a:r>
              <a:rPr lang="en-GB" sz="24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2400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econd </a:t>
            </a:r>
            <a:r>
              <a:rPr lang="en-GB" sz="24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largest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people with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in the world. </a:t>
            </a:r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NCD- </a:t>
            </a:r>
            <a:r>
              <a:rPr lang="en-GB" sz="2400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42% deaths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India.</a:t>
            </a:r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Prevalence of DM – 62.47/1000 population. 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IDF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–72.9 million people with DM in India in 2017</a:t>
            </a:r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prevalence of diabetes in urban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India has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from 2% in the 1970s to over 20% at present and the rural areas are also fast catching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up.</a:t>
            </a:r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Delhi -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29.8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lakh people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 DM prevalence in Indian states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600200"/>
            <a:ext cx="7972452" cy="4186254"/>
          </a:xfrm>
        </p:spPr>
        <p:txBody>
          <a:bodyPr/>
          <a:lstStyle/>
          <a:p>
            <a:endParaRPr lang="en-IN"/>
          </a:p>
        </p:txBody>
      </p:sp>
      <p:pic>
        <p:nvPicPr>
          <p:cNvPr id="2051" name="Picture 3" descr="C:\Users\Abi\Desktop\dm\gr3_lrg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909" y="1214422"/>
            <a:ext cx="8934091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524000" y="5943600"/>
            <a:ext cx="2000232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Adults &gt;20 years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Agent </a:t>
            </a:r>
            <a:endParaRPr lang="en-IN" dirty="0"/>
          </a:p>
        </p:txBody>
      </p:sp>
      <p:pic>
        <p:nvPicPr>
          <p:cNvPr id="7" name="Picture 3" descr="C:\Users\Abi\Desktop\dm\About-Insulin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1124744"/>
            <a:ext cx="4318000" cy="1926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C:\Users\Abi\Desktop\dm\download.jpg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854" y="836712"/>
            <a:ext cx="3131840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524000" y="3501008"/>
            <a:ext cx="5004048" cy="30460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Structural defect / Diseased </a:t>
            </a:r>
            <a:endParaRPr lang="en-IN" sz="2400" dirty="0" smtClean="0"/>
          </a:p>
          <a:p>
            <a:endParaRPr lang="en-IN" sz="2400" dirty="0" smtClean="0"/>
          </a:p>
          <a:p>
            <a:r>
              <a:rPr lang="en-IN" sz="2400" dirty="0" smtClean="0"/>
              <a:t>Destruction </a:t>
            </a:r>
            <a:r>
              <a:rPr lang="en-IN" sz="2400" dirty="0"/>
              <a:t>of beta cells</a:t>
            </a:r>
            <a:endParaRPr lang="en-IN" sz="2400" dirty="0"/>
          </a:p>
          <a:p>
            <a:endParaRPr lang="en-IN" sz="2400" dirty="0" smtClean="0"/>
          </a:p>
          <a:p>
            <a:r>
              <a:rPr lang="en-IN" sz="2400" dirty="0" smtClean="0"/>
              <a:t>Viral </a:t>
            </a:r>
            <a:r>
              <a:rPr lang="en-IN" sz="2400" dirty="0" err="1" smtClean="0"/>
              <a:t>infec</a:t>
            </a:r>
            <a:r>
              <a:rPr lang="en-IN" sz="2400" dirty="0" smtClean="0"/>
              <a:t>-Rubella, Mumps, </a:t>
            </a:r>
            <a:r>
              <a:rPr lang="en-IN" sz="2400" dirty="0" err="1" smtClean="0"/>
              <a:t>Coxakie</a:t>
            </a:r>
            <a:r>
              <a:rPr lang="en-IN" sz="2400" dirty="0" smtClean="0"/>
              <a:t> B4</a:t>
            </a:r>
            <a:endParaRPr lang="en-IN" sz="2400" dirty="0" smtClean="0"/>
          </a:p>
          <a:p>
            <a:endParaRPr lang="en-IN" sz="2400" dirty="0" smtClean="0"/>
          </a:p>
          <a:p>
            <a:r>
              <a:rPr lang="en-IN" sz="2400" dirty="0" smtClean="0"/>
              <a:t>Auto antibodies</a:t>
            </a:r>
            <a:endParaRPr lang="en-IN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28048" y="3536875"/>
            <a:ext cx="4139952" cy="34150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IN" sz="2400" dirty="0" smtClean="0"/>
          </a:p>
          <a:p>
            <a:r>
              <a:rPr lang="en-IN" sz="2400" dirty="0"/>
              <a:t>Genetic defects </a:t>
            </a:r>
            <a:r>
              <a:rPr lang="en-IN" sz="2400" dirty="0" smtClean="0"/>
              <a:t>–</a:t>
            </a:r>
            <a:endParaRPr lang="en-IN" sz="2400" dirty="0" smtClean="0"/>
          </a:p>
          <a:p>
            <a:r>
              <a:rPr lang="en-IN" sz="2400" dirty="0"/>
              <a:t>S</a:t>
            </a:r>
            <a:r>
              <a:rPr lang="en-IN" sz="2400" dirty="0" smtClean="0"/>
              <a:t>tructure/  function of Insulin</a:t>
            </a:r>
            <a:endParaRPr lang="en-IN" sz="2400" dirty="0" smtClean="0"/>
          </a:p>
          <a:p>
            <a:endParaRPr lang="en-IN" sz="2400" dirty="0" smtClean="0"/>
          </a:p>
          <a:p>
            <a:r>
              <a:rPr lang="en-IN" sz="2400" dirty="0" smtClean="0"/>
              <a:t>Auto </a:t>
            </a:r>
            <a:r>
              <a:rPr lang="en-IN" sz="2400" dirty="0" err="1" smtClean="0"/>
              <a:t>ab</a:t>
            </a:r>
            <a:r>
              <a:rPr lang="en-IN" sz="2400" dirty="0" smtClean="0"/>
              <a:t> against insulin</a:t>
            </a:r>
            <a:endParaRPr lang="en-IN" sz="2400" dirty="0" smtClean="0"/>
          </a:p>
          <a:p>
            <a:endParaRPr lang="en-IN" sz="2400" dirty="0" smtClean="0"/>
          </a:p>
          <a:p>
            <a:r>
              <a:rPr lang="en-IN" sz="2400" dirty="0" smtClean="0"/>
              <a:t>Dec insulin </a:t>
            </a:r>
            <a:r>
              <a:rPr lang="en-IN" sz="2400" dirty="0" err="1" smtClean="0"/>
              <a:t>senstivity</a:t>
            </a:r>
            <a:r>
              <a:rPr lang="en-IN" sz="2400" dirty="0" smtClean="0"/>
              <a:t> at receptors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8815" y="207010"/>
            <a:ext cx="8229600" cy="698500"/>
          </a:xfrm>
        </p:spPr>
        <p:txBody>
          <a:bodyPr/>
          <a:lstStyle/>
          <a:p>
            <a:pPr algn="ctr"/>
            <a:r>
              <a:rPr lang="en-IN" dirty="0" smtClean="0"/>
              <a:t>Host factors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6230" y="3230880"/>
            <a:ext cx="2130425" cy="742315"/>
          </a:xfrm>
          <a:solidFill>
            <a:schemeClr val="bg1"/>
          </a:solidFill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en-IN" sz="3335" b="1" dirty="0" smtClean="0"/>
              <a:t>Sex</a:t>
            </a:r>
            <a:endParaRPr lang="en-IN" sz="3335" b="1" dirty="0" smtClean="0"/>
          </a:p>
          <a:p>
            <a:pPr marL="0" indent="0">
              <a:buNone/>
            </a:pPr>
            <a:r>
              <a:rPr lang="en-IN" sz="3335" dirty="0" smtClean="0"/>
              <a:t>equal in western world,</a:t>
            </a:r>
            <a:endParaRPr lang="en-IN" sz="3335" dirty="0" smtClean="0"/>
          </a:p>
          <a:p>
            <a:pPr marL="0" indent="0">
              <a:buNone/>
            </a:pPr>
            <a:r>
              <a:rPr lang="en-IN" sz="3335" dirty="0" smtClean="0"/>
              <a:t>SEAR – </a:t>
            </a:r>
            <a:r>
              <a:rPr lang="en-IN" sz="3335" dirty="0" err="1" smtClean="0"/>
              <a:t>inc</a:t>
            </a:r>
            <a:r>
              <a:rPr lang="en-IN" sz="3335" dirty="0" smtClean="0"/>
              <a:t> in males</a:t>
            </a:r>
            <a:endParaRPr lang="en-IN" sz="3335" dirty="0" smtClean="0"/>
          </a:p>
          <a:p>
            <a:endParaRPr lang="en-IN" sz="3335" dirty="0"/>
          </a:p>
        </p:txBody>
      </p:sp>
      <p:pic>
        <p:nvPicPr>
          <p:cNvPr id="7174" name="Picture 6" descr="C:\Users\Abi\Desktop\dm\blog-268-copy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220" y="579755"/>
            <a:ext cx="1033780" cy="101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5" name="Picture 7" descr="C:\Users\Abi\Desktop\dm\cute-twins-baby-ducks-egg-vector-happy-birthday-card-background-heart-red-ribbon-light-pink-5576637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490" y="4378960"/>
            <a:ext cx="1414145" cy="1066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C:\Users\Abi\Desktop\dm\d0245bff8cb2f956edc834c065a7419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946" y="1592797"/>
            <a:ext cx="2553651" cy="249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7" name="Picture 9" descr="C:\Users\Abi\Desktop\dm\292891245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620" y="4206875"/>
            <a:ext cx="2179955" cy="163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39695" y="323215"/>
            <a:ext cx="797560" cy="584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IN" sz="2400" b="1" dirty="0"/>
              <a:t>Age </a:t>
            </a:r>
            <a:endParaRPr lang="en-IN" sz="2400" b="1" dirty="0"/>
          </a:p>
          <a:p>
            <a:endParaRPr lang="en-I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415480" y="5445224"/>
            <a:ext cx="3756660" cy="119888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sz="2400" b="1" dirty="0"/>
              <a:t>Genetic </a:t>
            </a:r>
            <a:endParaRPr lang="en-IN" sz="2400" b="1" dirty="0"/>
          </a:p>
          <a:p>
            <a:r>
              <a:rPr lang="en-IN" sz="2400" dirty="0" smtClean="0"/>
              <a:t>Identical </a:t>
            </a:r>
            <a:r>
              <a:rPr lang="en-IN" sz="2400" dirty="0"/>
              <a:t>twins 90% Type 2</a:t>
            </a:r>
            <a:endParaRPr lang="en-IN" sz="2400" dirty="0"/>
          </a:p>
          <a:p>
            <a:endParaRPr lang="en-IN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4858506" y="5629056"/>
            <a:ext cx="6278054" cy="10147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/>
              <a:t>Malnutrition</a:t>
            </a:r>
            <a:endParaRPr lang="en-IN" sz="2000" b="1" dirty="0" smtClean="0"/>
          </a:p>
          <a:p>
            <a:r>
              <a:rPr lang="en-IN" sz="2000" b="1" dirty="0" smtClean="0"/>
              <a:t>Deficiency: </a:t>
            </a:r>
            <a:r>
              <a:rPr lang="en-IN" sz="2000" dirty="0" err="1"/>
              <a:t>C</a:t>
            </a:r>
            <a:r>
              <a:rPr lang="en-IN" sz="2000" dirty="0" err="1" smtClean="0"/>
              <a:t>hromim</a:t>
            </a:r>
            <a:r>
              <a:rPr lang="en-IN" sz="2000" dirty="0" smtClean="0"/>
              <a:t> </a:t>
            </a:r>
            <a:r>
              <a:rPr lang="en-IN" sz="2000" dirty="0"/>
              <a:t>, Cu, </a:t>
            </a:r>
            <a:r>
              <a:rPr lang="en-IN" sz="2000" dirty="0" smtClean="0"/>
              <a:t>Zn</a:t>
            </a:r>
            <a:endParaRPr lang="en-IN" sz="2000" dirty="0" smtClean="0"/>
          </a:p>
          <a:p>
            <a:r>
              <a:rPr lang="en-IN" sz="2000" dirty="0"/>
              <a:t>IUGR </a:t>
            </a:r>
            <a:r>
              <a:rPr lang="en-IN" sz="2000" dirty="0" smtClean="0"/>
              <a:t>children </a:t>
            </a:r>
            <a:r>
              <a:rPr lang="en-IN" sz="2000" b="1" dirty="0"/>
              <a:t>with rapid catch up </a:t>
            </a:r>
            <a:r>
              <a:rPr lang="en-IN" sz="2000" b="1" dirty="0" smtClean="0"/>
              <a:t>growth</a:t>
            </a:r>
            <a:endParaRPr lang="en-IN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575720" y="4193212"/>
            <a:ext cx="4552315" cy="10147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 smtClean="0"/>
              <a:t>Dec </a:t>
            </a:r>
            <a:r>
              <a:rPr lang="en-IN" dirty="0"/>
              <a:t>insulin receptors on target cells</a:t>
            </a:r>
            <a:endParaRPr lang="en-IN" dirty="0"/>
          </a:p>
          <a:p>
            <a:r>
              <a:rPr lang="en-IN" sz="2400" b="1" dirty="0">
                <a:solidFill>
                  <a:srgbClr val="FF0000"/>
                </a:solidFill>
              </a:rPr>
              <a:t>Physical </a:t>
            </a:r>
            <a:r>
              <a:rPr lang="en-IN" sz="2400" b="1" dirty="0" smtClean="0">
                <a:solidFill>
                  <a:srgbClr val="FF0000"/>
                </a:solidFill>
              </a:rPr>
              <a:t>inactivity + Junk food</a:t>
            </a:r>
            <a:endParaRPr lang="en-IN" sz="2400" b="1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pic>
        <p:nvPicPr>
          <p:cNvPr id="7178" name="Picture 10" descr="C:\Users\Abi\Desktop\dm\69223619-cartoon-sticker-with-male-mars-symbol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92" b="9512"/>
          <a:stretch>
            <a:fillRect/>
          </a:stretch>
        </p:blipFill>
        <p:spPr bwMode="auto">
          <a:xfrm>
            <a:off x="1497965" y="1999615"/>
            <a:ext cx="1141095" cy="1024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288" y="44624"/>
            <a:ext cx="1861319" cy="1321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044256" y="1340768"/>
            <a:ext cx="3745622" cy="13220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2000" dirty="0"/>
              <a:t>Heavy smokers </a:t>
            </a:r>
            <a:r>
              <a:rPr lang="en-IN" sz="2000" b="1" dirty="0">
                <a:solidFill>
                  <a:schemeClr val="accent6">
                    <a:lumMod val="50000"/>
                  </a:schemeClr>
                </a:solidFill>
              </a:rPr>
              <a:t>Risk -elevated </a:t>
            </a:r>
            <a:r>
              <a:rPr lang="en-IN" sz="2000" dirty="0"/>
              <a:t>for about </a:t>
            </a:r>
            <a:r>
              <a:rPr lang="en-IN" sz="2000" b="1" dirty="0">
                <a:solidFill>
                  <a:schemeClr val="accent6">
                    <a:lumMod val="50000"/>
                  </a:schemeClr>
                </a:solidFill>
              </a:rPr>
              <a:t>10 years </a:t>
            </a:r>
            <a:r>
              <a:rPr lang="en-IN" sz="2000" dirty="0"/>
              <a:t>after </a:t>
            </a:r>
            <a:r>
              <a:rPr lang="en-IN" sz="2000" dirty="0" smtClean="0"/>
              <a:t>cessation</a:t>
            </a:r>
            <a:endParaRPr lang="en-IN" sz="2000" dirty="0"/>
          </a:p>
          <a:p>
            <a:endParaRPr lang="en-IN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6960096" y="3284984"/>
            <a:ext cx="382978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Saturated fat</a:t>
            </a:r>
            <a:r>
              <a:rPr lang="en-IN" b="1" dirty="0"/>
              <a:t>  </a:t>
            </a:r>
            <a:r>
              <a:rPr lang="en-IN" dirty="0"/>
              <a:t>(butter, </a:t>
            </a:r>
            <a:r>
              <a:rPr lang="en-IN" i="1" dirty="0"/>
              <a:t>ghee </a:t>
            </a:r>
            <a:r>
              <a:rPr lang="en-IN" dirty="0"/>
              <a:t>and hydrogenated fats) and </a:t>
            </a:r>
            <a:r>
              <a:rPr lang="en-IN" dirty="0">
                <a:solidFill>
                  <a:srgbClr val="7030A0"/>
                </a:solidFill>
              </a:rPr>
              <a:t>cholesterol</a:t>
            </a:r>
            <a:r>
              <a:rPr lang="en-IN" dirty="0"/>
              <a:t> (red meat, eggs, organ meat).</a:t>
            </a:r>
            <a:endParaRPr lang="en-US" b="1" dirty="0"/>
          </a:p>
          <a:p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487" y="2412090"/>
            <a:ext cx="1905000" cy="824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655840" y="908720"/>
            <a:ext cx="15417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Obesity</a:t>
            </a:r>
            <a:r>
              <a:rPr lang="en-IN" sz="2800" dirty="0">
                <a:solidFill>
                  <a:srgbClr val="FF0000"/>
                </a:solidFill>
              </a:rPr>
              <a:t> </a:t>
            </a: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3208" y="-18644"/>
            <a:ext cx="8229600" cy="56732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Clinical 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8731" y="589851"/>
            <a:ext cx="8229600" cy="65468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11200" b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1/5 </a:t>
            </a:r>
            <a:r>
              <a:rPr lang="en-IN" sz="8000" dirty="0" smtClean="0"/>
              <a:t>– can recognise features. (F&gt;M)</a:t>
            </a:r>
            <a:endParaRPr lang="en-IN" sz="8000" dirty="0"/>
          </a:p>
          <a:p>
            <a:pPr marL="0" indent="0">
              <a:buNone/>
            </a:pPr>
            <a:r>
              <a:rPr lang="en-IN" sz="8000" dirty="0" smtClean="0"/>
              <a:t>Many  </a:t>
            </a:r>
            <a:r>
              <a:rPr lang="en-IN" sz="8000" dirty="0"/>
              <a:t>will have no </a:t>
            </a:r>
            <a:r>
              <a:rPr lang="en-IN" sz="8000" dirty="0" smtClean="0"/>
              <a:t>symptoms.</a:t>
            </a:r>
            <a:endParaRPr lang="en-IN" sz="80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597" y="1319568"/>
            <a:ext cx="9036496" cy="5546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120336" y="2636912"/>
            <a:ext cx="162068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524000" y="3645024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8976320" y="1268760"/>
            <a:ext cx="1691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9669897" y="1315119"/>
            <a:ext cx="937260" cy="5835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81%</a:t>
            </a:r>
            <a:endParaRPr lang="en-IN" sz="32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30680" y="5149196"/>
            <a:ext cx="937260" cy="5835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67%</a:t>
            </a:r>
            <a:endParaRPr lang="en-IN" sz="32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83632" y="5157192"/>
            <a:ext cx="937260" cy="5835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70%</a:t>
            </a:r>
            <a:endParaRPr lang="en-IN" sz="32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54631" y="1319568"/>
            <a:ext cx="937260" cy="5835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38%</a:t>
            </a:r>
            <a:endParaRPr lang="en-IN" sz="32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71102" y="3492297"/>
            <a:ext cx="937260" cy="5835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31%</a:t>
            </a:r>
            <a:endParaRPr lang="en-IN" sz="32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18527" y="1966438"/>
            <a:ext cx="937260" cy="5835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43%</a:t>
            </a:r>
            <a:endParaRPr lang="en-IN" sz="32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631504" y="548680"/>
          <a:ext cx="8928992" cy="58189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Rectangle 2"/>
          <p:cNvSpPr/>
          <p:nvPr/>
        </p:nvSpPr>
        <p:spPr>
          <a:xfrm>
            <a:off x="4871864" y="5157192"/>
            <a:ext cx="5544616" cy="9361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D</a:t>
            </a:r>
            <a:r>
              <a:rPr lang="en-GB" sz="2000" dirty="0" smtClean="0">
                <a:solidFill>
                  <a:schemeClr val="tx1"/>
                </a:solidFill>
              </a:rPr>
              <a:t>eveloped </a:t>
            </a:r>
            <a:r>
              <a:rPr lang="en-GB" sz="2000" dirty="0">
                <a:solidFill>
                  <a:schemeClr val="tx1"/>
                </a:solidFill>
              </a:rPr>
              <a:t>diabetic complication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07768" y="0"/>
            <a:ext cx="38093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smtClean="0"/>
              <a:t>CONTROL &amp; MANGEMENT </a:t>
            </a:r>
            <a:endParaRPr lang="en-IN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30516" y="6383069"/>
            <a:ext cx="105206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Evidence-based, </a:t>
            </a:r>
            <a:r>
              <a:rPr lang="en-GB" sz="2000" dirty="0" smtClean="0"/>
              <a:t>Affordable, Cost-</a:t>
            </a:r>
            <a:r>
              <a:rPr lang="en-GB" sz="2000" dirty="0" err="1" smtClean="0"/>
              <a:t>effective,Population</a:t>
            </a:r>
            <a:r>
              <a:rPr lang="en-GB" sz="2000" dirty="0" smtClean="0"/>
              <a:t>-wide &amp; </a:t>
            </a:r>
            <a:r>
              <a:rPr lang="en-GB" sz="2000" dirty="0" err="1" smtClean="0"/>
              <a:t>Multisectoral</a:t>
            </a:r>
            <a:r>
              <a:rPr lang="en-GB" sz="2000" dirty="0" smtClean="0"/>
              <a:t> </a:t>
            </a:r>
            <a:r>
              <a:rPr lang="en-GB" sz="2000" dirty="0"/>
              <a:t>Interventions.</a:t>
            </a:r>
            <a:endParaRPr lang="en-IN" sz="2000" dirty="0"/>
          </a:p>
          <a:p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5560" y="116632"/>
            <a:ext cx="8229600" cy="720080"/>
          </a:xfrm>
        </p:spPr>
        <p:txBody>
          <a:bodyPr>
            <a:normAutofit/>
          </a:bodyPr>
          <a:lstStyle/>
          <a:p>
            <a:r>
              <a:rPr lang="en-GB" b="1" dirty="0" smtClean="0"/>
              <a:t>Goals For Management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1504" y="764704"/>
            <a:ext cx="9036496" cy="6093296"/>
          </a:xfrm>
        </p:spPr>
        <p:txBody>
          <a:bodyPr>
            <a:normAutofit lnSpcReduction="10000"/>
          </a:bodyPr>
          <a:lstStyle/>
          <a:p>
            <a:r>
              <a:rPr lang="en-GB" sz="2400" b="1" dirty="0" smtClean="0">
                <a:solidFill>
                  <a:schemeClr val="tx1"/>
                </a:solidFill>
              </a:rPr>
              <a:t>Glycaemic </a:t>
            </a:r>
            <a:r>
              <a:rPr lang="en-GB" sz="2400" b="1" dirty="0">
                <a:solidFill>
                  <a:schemeClr val="tx1"/>
                </a:solidFill>
              </a:rPr>
              <a:t>control </a:t>
            </a:r>
            <a:endParaRPr lang="en-GB" sz="2400" b="1" dirty="0">
              <a:solidFill>
                <a:schemeClr val="tx1"/>
              </a:solidFill>
            </a:endParaRPr>
          </a:p>
          <a:p>
            <a:endParaRPr lang="en-GB" sz="2400" dirty="0" smtClean="0">
              <a:solidFill>
                <a:schemeClr val="tx1"/>
              </a:solidFill>
            </a:endParaRPr>
          </a:p>
          <a:p>
            <a:r>
              <a:rPr lang="en-GB" sz="2400" dirty="0" smtClean="0">
                <a:solidFill>
                  <a:schemeClr val="tx1"/>
                </a:solidFill>
              </a:rPr>
              <a:t>Prevention </a:t>
            </a:r>
            <a:r>
              <a:rPr lang="en-GB" sz="2400" dirty="0">
                <a:solidFill>
                  <a:schemeClr val="tx1"/>
                </a:solidFill>
              </a:rPr>
              <a:t>of </a:t>
            </a:r>
            <a:r>
              <a:rPr lang="en-GB" sz="2400" b="1" dirty="0" smtClean="0">
                <a:solidFill>
                  <a:schemeClr val="tx1"/>
                </a:solidFill>
              </a:rPr>
              <a:t>acute </a:t>
            </a:r>
            <a:r>
              <a:rPr lang="en-GB" sz="2400" dirty="0" smtClean="0">
                <a:solidFill>
                  <a:schemeClr val="tx1"/>
                </a:solidFill>
              </a:rPr>
              <a:t>&amp; </a:t>
            </a:r>
            <a:r>
              <a:rPr lang="en-GB" sz="2400" b="1" dirty="0" smtClean="0">
                <a:solidFill>
                  <a:schemeClr val="tx1"/>
                </a:solidFill>
              </a:rPr>
              <a:t>chronic complications</a:t>
            </a:r>
            <a:r>
              <a:rPr lang="en-GB" sz="2400" dirty="0" smtClean="0">
                <a:solidFill>
                  <a:schemeClr val="tx1"/>
                </a:solidFill>
              </a:rPr>
              <a:t>. </a:t>
            </a:r>
            <a:endParaRPr lang="en-GB" sz="2400" dirty="0" smtClean="0">
              <a:solidFill>
                <a:schemeClr val="tx1"/>
              </a:solidFill>
            </a:endParaRPr>
          </a:p>
          <a:p>
            <a:endParaRPr lang="en-GB" sz="2400" dirty="0" smtClean="0">
              <a:solidFill>
                <a:schemeClr val="tx1"/>
              </a:solidFill>
            </a:endParaRPr>
          </a:p>
          <a:p>
            <a:r>
              <a:rPr lang="en-GB" sz="2400" b="1" dirty="0" smtClean="0">
                <a:solidFill>
                  <a:schemeClr val="tx1"/>
                </a:solidFill>
              </a:rPr>
              <a:t>Relief </a:t>
            </a:r>
            <a:r>
              <a:rPr lang="en-GB" sz="2400" b="1" dirty="0">
                <a:solidFill>
                  <a:schemeClr val="tx1"/>
                </a:solidFill>
              </a:rPr>
              <a:t>from symptoms </a:t>
            </a:r>
            <a:r>
              <a:rPr lang="en-GB" sz="2400" dirty="0">
                <a:solidFill>
                  <a:schemeClr val="tx1"/>
                </a:solidFill>
              </a:rPr>
              <a:t>of diabetes and improvement in </a:t>
            </a:r>
            <a:r>
              <a:rPr lang="en-GB" sz="2400" b="1" dirty="0">
                <a:solidFill>
                  <a:schemeClr val="tx1"/>
                </a:solidFill>
              </a:rPr>
              <a:t>quality of life. </a:t>
            </a:r>
            <a:endParaRPr lang="en-GB" sz="2400" b="1" dirty="0">
              <a:solidFill>
                <a:schemeClr val="tx1"/>
              </a:solidFill>
            </a:endParaRPr>
          </a:p>
          <a:p>
            <a:endParaRPr lang="en-GB" sz="2400" dirty="0">
              <a:solidFill>
                <a:schemeClr val="tx1"/>
              </a:solidFill>
            </a:endParaRPr>
          </a:p>
          <a:p>
            <a:r>
              <a:rPr lang="en-GB" sz="2400" dirty="0" smtClean="0">
                <a:solidFill>
                  <a:schemeClr val="tx1"/>
                </a:solidFill>
              </a:rPr>
              <a:t>Identify &amp; manage </a:t>
            </a:r>
            <a:r>
              <a:rPr lang="en-GB" sz="2400" b="1" dirty="0" smtClean="0">
                <a:solidFill>
                  <a:schemeClr val="tx1"/>
                </a:solidFill>
              </a:rPr>
              <a:t>comorbidities  </a:t>
            </a:r>
            <a:r>
              <a:rPr lang="en-GB" sz="2400" dirty="0" smtClean="0">
                <a:solidFill>
                  <a:schemeClr val="tx1"/>
                </a:solidFill>
              </a:rPr>
              <a:t>(obesity</a:t>
            </a:r>
            <a:r>
              <a:rPr lang="en-GB" sz="2400" dirty="0">
                <a:solidFill>
                  <a:schemeClr val="tx1"/>
                </a:solidFill>
              </a:rPr>
              <a:t>, </a:t>
            </a:r>
            <a:r>
              <a:rPr lang="en-GB" sz="2400" dirty="0" smtClean="0">
                <a:solidFill>
                  <a:schemeClr val="tx1"/>
                </a:solidFill>
              </a:rPr>
              <a:t>HT </a:t>
            </a:r>
            <a:r>
              <a:rPr lang="en-GB" sz="2400" dirty="0">
                <a:solidFill>
                  <a:schemeClr val="tx1"/>
                </a:solidFill>
              </a:rPr>
              <a:t>and dyslipidaemia </a:t>
            </a:r>
            <a:r>
              <a:rPr lang="en-GB" sz="2400" dirty="0" smtClean="0">
                <a:solidFill>
                  <a:schemeClr val="tx1"/>
                </a:solidFill>
              </a:rPr>
              <a:t>)</a:t>
            </a:r>
            <a:endParaRPr lang="en-GB" sz="2400" dirty="0" smtClean="0">
              <a:solidFill>
                <a:schemeClr val="tx1"/>
              </a:solidFill>
            </a:endParaRPr>
          </a:p>
          <a:p>
            <a:endParaRPr lang="en-GB" sz="2400" dirty="0" smtClean="0">
              <a:solidFill>
                <a:schemeClr val="tx1"/>
              </a:solidFill>
            </a:endParaRPr>
          </a:p>
          <a:p>
            <a:r>
              <a:rPr lang="en-GB" sz="2400" b="1" dirty="0" smtClean="0">
                <a:solidFill>
                  <a:schemeClr val="tx1"/>
                </a:solidFill>
              </a:rPr>
              <a:t> </a:t>
            </a:r>
            <a:r>
              <a:rPr lang="en-GB" sz="2400" dirty="0" smtClean="0">
                <a:solidFill>
                  <a:schemeClr val="tx1"/>
                </a:solidFill>
              </a:rPr>
              <a:t>Prevent infections.</a:t>
            </a:r>
            <a:endParaRPr lang="en-GB" sz="2400" dirty="0" smtClean="0">
              <a:solidFill>
                <a:schemeClr val="tx1"/>
              </a:solidFill>
            </a:endParaRPr>
          </a:p>
          <a:p>
            <a:endParaRPr lang="en-GB" sz="2400" dirty="0" smtClean="0">
              <a:solidFill>
                <a:schemeClr val="tx1"/>
              </a:solidFill>
            </a:endParaRPr>
          </a:p>
          <a:p>
            <a:r>
              <a:rPr lang="en-GB" sz="2400" dirty="0" smtClean="0">
                <a:solidFill>
                  <a:schemeClr val="tx1"/>
                </a:solidFill>
              </a:rPr>
              <a:t>Advise </a:t>
            </a:r>
            <a:r>
              <a:rPr lang="en-GB" sz="2400" b="1" dirty="0">
                <a:solidFill>
                  <a:schemeClr val="tx1"/>
                </a:solidFill>
              </a:rPr>
              <a:t>behavioural changes </a:t>
            </a:r>
            <a:r>
              <a:rPr lang="en-GB" sz="2400" dirty="0">
                <a:solidFill>
                  <a:schemeClr val="tx1"/>
                </a:solidFill>
              </a:rPr>
              <a:t>for: </a:t>
            </a:r>
            <a:r>
              <a:rPr lang="en-GB" sz="2400" b="1" dirty="0">
                <a:solidFill>
                  <a:schemeClr val="tx1"/>
                </a:solidFill>
              </a:rPr>
              <a:t>optimal physical </a:t>
            </a:r>
            <a:r>
              <a:rPr lang="en-GB" sz="2400" b="1" dirty="0" smtClean="0">
                <a:solidFill>
                  <a:schemeClr val="tx1"/>
                </a:solidFill>
              </a:rPr>
              <a:t>activity</a:t>
            </a:r>
            <a:r>
              <a:rPr lang="en-GB" sz="2400" dirty="0" smtClean="0">
                <a:solidFill>
                  <a:schemeClr val="tx1"/>
                </a:solidFill>
              </a:rPr>
              <a:t>, smoking</a:t>
            </a:r>
            <a:r>
              <a:rPr lang="en-GB" sz="2400" dirty="0">
                <a:solidFill>
                  <a:schemeClr val="tx1"/>
                </a:solidFill>
              </a:rPr>
              <a:t>, </a:t>
            </a:r>
            <a:r>
              <a:rPr lang="en-GB" sz="2400" dirty="0" smtClean="0">
                <a:solidFill>
                  <a:schemeClr val="tx1"/>
                </a:solidFill>
              </a:rPr>
              <a:t>tobacco, alcohol &amp; stress.</a:t>
            </a:r>
            <a:endParaRPr lang="en-GB" sz="2400" dirty="0">
              <a:solidFill>
                <a:schemeClr val="tx1"/>
              </a:solidFill>
            </a:endParaRPr>
          </a:p>
          <a:p>
            <a:endParaRPr lang="en-GB" sz="2400" dirty="0" smtClean="0">
              <a:solidFill>
                <a:schemeClr val="tx1"/>
              </a:solidFill>
            </a:endParaRPr>
          </a:p>
          <a:p>
            <a:endParaRPr lang="en-GB" sz="2400" dirty="0" smtClean="0">
              <a:solidFill>
                <a:schemeClr val="tx1"/>
              </a:solidFill>
            </a:endParaRPr>
          </a:p>
          <a:p>
            <a:endParaRPr lang="en-GB" sz="2400" dirty="0" smtClean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81393" y="908720"/>
            <a:ext cx="4286607" cy="39878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WHO – Diabetes 0% rise by 2025</a:t>
            </a:r>
            <a:endParaRPr lang="en-I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GB" dirty="0"/>
              <a:t>POPULATION-BASED PREVENTION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690" y="836930"/>
            <a:ext cx="10848340" cy="48920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GB" sz="2800" dirty="0" smtClean="0"/>
          </a:p>
          <a:p>
            <a:pPr marL="0" indent="0">
              <a:buNone/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indications </a:t>
            </a: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Population based programmes</a:t>
            </a:r>
            <a:r>
              <a:rPr lang="en-IN" alt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aimed 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Modifiable Risk Factors </a:t>
            </a:r>
            <a:r>
              <a:rPr lang="en-GB" sz="2800" dirty="0" smtClean="0">
                <a:solidFill>
                  <a:schemeClr val="tx1"/>
                </a:solidFill>
              </a:rPr>
              <a:t>can reduce </a:t>
            </a:r>
            <a:r>
              <a:rPr lang="en-GB" sz="2800" dirty="0">
                <a:solidFill>
                  <a:schemeClr val="tx1"/>
                </a:solidFill>
              </a:rPr>
              <a:t>the incidence of </a:t>
            </a:r>
            <a:r>
              <a:rPr lang="en-GB" sz="2800" dirty="0" smtClean="0">
                <a:solidFill>
                  <a:schemeClr val="tx1"/>
                </a:solidFill>
              </a:rPr>
              <a:t>diabetes.</a:t>
            </a:r>
            <a:endParaRPr lang="en-GB" sz="2800" dirty="0" smtClean="0">
              <a:solidFill>
                <a:schemeClr val="tx1"/>
              </a:solidFill>
            </a:endParaRPr>
          </a:p>
          <a:p>
            <a:endParaRPr lang="en-GB" sz="2400" dirty="0" err="1" smtClean="0"/>
          </a:p>
          <a:p>
            <a:r>
              <a:rPr lang="en-GB" sz="2400" dirty="0" err="1" smtClean="0"/>
              <a:t>e.g</a:t>
            </a:r>
            <a:r>
              <a:rPr lang="en-GB" sz="2400" dirty="0" smtClean="0"/>
              <a:t> Population-based </a:t>
            </a:r>
            <a:r>
              <a:rPr lang="en-GB" sz="2400" dirty="0"/>
              <a:t>data from Cuba show a fall in type 2 diabetes during a period of economic crisis when the population experienced a reduction in calorie intake and a simultaneous increase in physical </a:t>
            </a:r>
            <a:r>
              <a:rPr lang="en-GB" sz="2400" dirty="0" smtClean="0"/>
              <a:t>activity</a:t>
            </a:r>
            <a:r>
              <a:rPr lang="en-GB" sz="2400" dirty="0"/>
              <a:t>.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31442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How to screen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593090"/>
            <a:ext cx="9252585" cy="5931535"/>
          </a:xfrm>
        </p:spPr>
        <p:txBody>
          <a:bodyPr>
            <a:noAutofit/>
          </a:bodyPr>
          <a:lstStyle/>
          <a:p>
            <a:r>
              <a:rPr lang="en-IN" sz="2400" dirty="0" smtClean="0"/>
              <a:t>Screening - </a:t>
            </a:r>
            <a:r>
              <a:rPr lang="en-IN" sz="2400" b="1" dirty="0" smtClean="0">
                <a:solidFill>
                  <a:schemeClr val="accent6">
                    <a:lumMod val="50000"/>
                  </a:schemeClr>
                </a:solidFill>
              </a:rPr>
              <a:t>OGTT</a:t>
            </a:r>
            <a:r>
              <a:rPr lang="en-IN" sz="2400" dirty="0" smtClean="0"/>
              <a:t> (75 </a:t>
            </a:r>
            <a:r>
              <a:rPr lang="en-IN" sz="2400" dirty="0" err="1"/>
              <a:t>gm</a:t>
            </a:r>
            <a:r>
              <a:rPr lang="en-IN" sz="2400" dirty="0"/>
              <a:t> </a:t>
            </a:r>
            <a:r>
              <a:rPr lang="en-IN" sz="2400" dirty="0" smtClean="0"/>
              <a:t>glucose) </a:t>
            </a:r>
            <a:r>
              <a:rPr lang="en-IN" sz="2400" dirty="0"/>
              <a:t>or </a:t>
            </a:r>
            <a:r>
              <a:rPr lang="en-IN" sz="2400" b="1" dirty="0" smtClean="0">
                <a:solidFill>
                  <a:schemeClr val="accent6">
                    <a:lumMod val="50000"/>
                  </a:schemeClr>
                </a:solidFill>
              </a:rPr>
              <a:t>RBS</a:t>
            </a:r>
            <a:r>
              <a:rPr lang="en-IN" sz="2400" dirty="0" smtClean="0"/>
              <a:t>.</a:t>
            </a:r>
            <a:endParaRPr lang="en-IN" sz="2400" dirty="0" smtClean="0"/>
          </a:p>
          <a:p>
            <a:endParaRPr lang="en-IN" sz="2400" dirty="0"/>
          </a:p>
          <a:p>
            <a:r>
              <a:rPr lang="en-IN" sz="2400" dirty="0" smtClean="0"/>
              <a:t>HbA1c </a:t>
            </a:r>
            <a:r>
              <a:rPr lang="en-IN" sz="2400" dirty="0"/>
              <a:t>is also recommended for screening; </a:t>
            </a:r>
            <a:r>
              <a:rPr lang="en-IN" sz="2400" dirty="0" smtClean="0"/>
              <a:t>(India limitations).</a:t>
            </a:r>
            <a:endParaRPr lang="en-IN" sz="2400" dirty="0"/>
          </a:p>
          <a:p>
            <a:endParaRPr lang="en-GB" sz="2400" dirty="0" smtClean="0"/>
          </a:p>
          <a:p>
            <a:r>
              <a:rPr lang="en-GB" sz="2400" dirty="0" smtClean="0"/>
              <a:t>Normal </a:t>
            </a:r>
            <a:r>
              <a:rPr lang="en-GB" sz="2400" dirty="0"/>
              <a:t>glucose tolerance </a:t>
            </a:r>
            <a:r>
              <a:rPr lang="en-GB" sz="2400" dirty="0" smtClean="0"/>
              <a:t>- after </a:t>
            </a:r>
            <a:r>
              <a:rPr lang="en-GB" sz="2400" dirty="0"/>
              <a:t>3 </a:t>
            </a:r>
            <a:r>
              <a:rPr lang="en-GB" sz="2400" dirty="0" smtClean="0"/>
              <a:t>years. </a:t>
            </a:r>
            <a:endParaRPr lang="en-GB" sz="2400" dirty="0" smtClean="0"/>
          </a:p>
          <a:p>
            <a:endParaRPr lang="en-GB" sz="2400" dirty="0" smtClean="0"/>
          </a:p>
          <a:p>
            <a:r>
              <a:rPr lang="en-GB" sz="2400" dirty="0" err="1" smtClean="0"/>
              <a:t>Prediabetes</a:t>
            </a:r>
            <a:r>
              <a:rPr lang="en-GB" sz="2400" dirty="0" smtClean="0"/>
              <a:t> - </a:t>
            </a:r>
            <a:r>
              <a:rPr lang="en-GB" sz="2400" dirty="0"/>
              <a:t>A</a:t>
            </a:r>
            <a:r>
              <a:rPr lang="en-GB" sz="2400" dirty="0" smtClean="0"/>
              <a:t>nnually.</a:t>
            </a:r>
            <a:endParaRPr lang="en-GB" sz="2400" dirty="0" smtClean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r>
              <a:rPr lang="en-GB" sz="2400" dirty="0" smtClean="0"/>
              <a:t>                                          </a:t>
            </a:r>
            <a:r>
              <a:rPr lang="en-GB" sz="2400" b="1" dirty="0" smtClean="0"/>
              <a:t>SCREENING FOR ALL</a:t>
            </a:r>
            <a:endParaRPr lang="en-GB" sz="2400" b="1" dirty="0"/>
          </a:p>
          <a:p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No evidence of benefit</a:t>
            </a:r>
            <a:endParaRPr lang="en-GB" sz="24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2400" dirty="0"/>
              <a:t>No system should be established without consideration of whether local health-care resources are sufficient to cope with this extra workload.</a:t>
            </a:r>
            <a:endParaRPr lang="en-GB" sz="2400" dirty="0"/>
          </a:p>
          <a:p>
            <a:endParaRPr lang="en-IN" sz="2400" dirty="0"/>
          </a:p>
          <a:p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4034" y="0"/>
            <a:ext cx="8229600" cy="654032"/>
          </a:xfrm>
        </p:spPr>
        <p:txBody>
          <a:bodyPr>
            <a:normAutofit/>
          </a:bodyPr>
          <a:lstStyle/>
          <a:p>
            <a:pPr algn="ctr"/>
            <a:r>
              <a:rPr lang="en-IN" dirty="0" smtClean="0"/>
              <a:t>Whom to screen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920" y="550545"/>
            <a:ext cx="11001375" cy="5985510"/>
          </a:xfrm>
        </p:spPr>
        <p:txBody>
          <a:bodyPr>
            <a:noAutofit/>
          </a:bodyPr>
          <a:lstStyle/>
          <a:p>
            <a:r>
              <a:rPr lang="en-IN" sz="2000" dirty="0" smtClean="0">
                <a:solidFill>
                  <a:schemeClr val="tx1"/>
                </a:solidFill>
              </a:rPr>
              <a:t>*</a:t>
            </a:r>
            <a:r>
              <a:rPr lang="en-IN" sz="2000" b="1" dirty="0" smtClean="0">
                <a:solidFill>
                  <a:schemeClr val="tx1"/>
                </a:solidFill>
              </a:rPr>
              <a:t>Family </a:t>
            </a:r>
            <a:r>
              <a:rPr lang="en-IN" sz="2000" b="1" dirty="0">
                <a:solidFill>
                  <a:schemeClr val="tx1"/>
                </a:solidFill>
              </a:rPr>
              <a:t>history of diabetes  </a:t>
            </a:r>
            <a:endParaRPr lang="en-IN" sz="2000" b="1" dirty="0" smtClean="0">
              <a:solidFill>
                <a:schemeClr val="tx1"/>
              </a:solidFill>
            </a:endParaRPr>
          </a:p>
          <a:p>
            <a:endParaRPr lang="en-IN" sz="2000" dirty="0" smtClean="0">
              <a:solidFill>
                <a:schemeClr val="tx1"/>
              </a:solidFill>
            </a:endParaRPr>
          </a:p>
          <a:p>
            <a:r>
              <a:rPr lang="en-IN" sz="2000" b="1" dirty="0" smtClean="0">
                <a:solidFill>
                  <a:schemeClr val="tx1"/>
                </a:solidFill>
              </a:rPr>
              <a:t>Overweight/obese </a:t>
            </a:r>
            <a:r>
              <a:rPr lang="en-IN" sz="2000" b="1" dirty="0">
                <a:solidFill>
                  <a:schemeClr val="tx1"/>
                </a:solidFill>
              </a:rPr>
              <a:t>(BMI </a:t>
            </a:r>
            <a:r>
              <a:rPr lang="en-IN" sz="2000" b="1" dirty="0" smtClean="0">
                <a:solidFill>
                  <a:schemeClr val="tx1"/>
                </a:solidFill>
              </a:rPr>
              <a:t>/WC) </a:t>
            </a:r>
            <a:endParaRPr lang="en-IN" sz="2000" b="1" dirty="0">
              <a:solidFill>
                <a:schemeClr val="tx1"/>
              </a:solidFill>
            </a:endParaRPr>
          </a:p>
          <a:p>
            <a:endParaRPr lang="en-IN" sz="2000" dirty="0" smtClean="0">
              <a:solidFill>
                <a:schemeClr val="tx1"/>
              </a:solidFill>
            </a:endParaRPr>
          </a:p>
          <a:p>
            <a:r>
              <a:rPr lang="en-IN" sz="2000" dirty="0" smtClean="0">
                <a:solidFill>
                  <a:schemeClr val="tx1"/>
                </a:solidFill>
              </a:rPr>
              <a:t>*</a:t>
            </a:r>
            <a:r>
              <a:rPr lang="en-IN" sz="2000" b="1" dirty="0" smtClean="0">
                <a:solidFill>
                  <a:schemeClr val="tx1"/>
                </a:solidFill>
              </a:rPr>
              <a:t>H/o HT (</a:t>
            </a:r>
            <a:r>
              <a:rPr lang="en-IN" sz="2000" b="1" dirty="0">
                <a:solidFill>
                  <a:schemeClr val="tx1"/>
                </a:solidFill>
              </a:rPr>
              <a:t>≥130/80 mmHg</a:t>
            </a:r>
            <a:r>
              <a:rPr lang="en-IN" sz="2000" b="1" dirty="0" smtClean="0">
                <a:solidFill>
                  <a:schemeClr val="tx1"/>
                </a:solidFill>
              </a:rPr>
              <a:t>)</a:t>
            </a:r>
            <a:endParaRPr lang="en-IN" sz="2000" b="1" dirty="0" smtClean="0">
              <a:solidFill>
                <a:schemeClr val="tx1"/>
              </a:solidFill>
            </a:endParaRPr>
          </a:p>
          <a:p>
            <a:endParaRPr lang="en-IN" sz="2000" dirty="0" smtClean="0">
              <a:solidFill>
                <a:schemeClr val="tx1"/>
              </a:solidFill>
            </a:endParaRPr>
          </a:p>
          <a:p>
            <a:r>
              <a:rPr lang="en-IN" sz="2000" dirty="0" smtClean="0">
                <a:solidFill>
                  <a:schemeClr val="tx1"/>
                </a:solidFill>
              </a:rPr>
              <a:t>*</a:t>
            </a:r>
            <a:r>
              <a:rPr lang="en-IN" sz="2000" b="1" dirty="0" smtClean="0">
                <a:solidFill>
                  <a:schemeClr val="tx1"/>
                </a:solidFill>
              </a:rPr>
              <a:t>History </a:t>
            </a:r>
            <a:r>
              <a:rPr lang="en-IN" sz="2000" b="1" dirty="0">
                <a:solidFill>
                  <a:schemeClr val="tx1"/>
                </a:solidFill>
              </a:rPr>
              <a:t>of dyslipidaemia </a:t>
            </a:r>
            <a:endParaRPr lang="en-IN" sz="2000" b="1" dirty="0">
              <a:solidFill>
                <a:schemeClr val="tx1"/>
              </a:solidFill>
            </a:endParaRPr>
          </a:p>
          <a:p>
            <a:endParaRPr lang="en-IN" sz="2000" dirty="0" smtClean="0">
              <a:solidFill>
                <a:schemeClr val="tx1"/>
              </a:solidFill>
            </a:endParaRPr>
          </a:p>
          <a:p>
            <a:r>
              <a:rPr lang="en-IN" sz="2000" dirty="0" smtClean="0">
                <a:solidFill>
                  <a:schemeClr val="tx1"/>
                </a:solidFill>
              </a:rPr>
              <a:t>Sedentary </a:t>
            </a:r>
            <a:r>
              <a:rPr lang="en-IN" sz="2000" dirty="0">
                <a:solidFill>
                  <a:schemeClr val="tx1"/>
                </a:solidFill>
              </a:rPr>
              <a:t>physical activity </a:t>
            </a:r>
            <a:endParaRPr lang="en-IN" sz="2000" dirty="0">
              <a:solidFill>
                <a:schemeClr val="tx1"/>
              </a:solidFill>
            </a:endParaRPr>
          </a:p>
          <a:p>
            <a:endParaRPr lang="en-IN" sz="2000" dirty="0" smtClean="0">
              <a:solidFill>
                <a:schemeClr val="tx1"/>
              </a:solidFill>
            </a:endParaRPr>
          </a:p>
          <a:p>
            <a:r>
              <a:rPr lang="en-IN" sz="2000" dirty="0" smtClean="0">
                <a:solidFill>
                  <a:schemeClr val="tx1"/>
                </a:solidFill>
              </a:rPr>
              <a:t>History </a:t>
            </a:r>
            <a:r>
              <a:rPr lang="en-IN" sz="2000" dirty="0">
                <a:solidFill>
                  <a:schemeClr val="tx1"/>
                </a:solidFill>
              </a:rPr>
              <a:t>of </a:t>
            </a:r>
            <a:r>
              <a:rPr lang="en-IN" sz="2000" dirty="0" smtClean="0">
                <a:solidFill>
                  <a:schemeClr val="tx1"/>
                </a:solidFill>
              </a:rPr>
              <a:t>GDM </a:t>
            </a:r>
            <a:r>
              <a:rPr lang="en-IN" sz="2000" dirty="0">
                <a:solidFill>
                  <a:schemeClr val="tx1"/>
                </a:solidFill>
              </a:rPr>
              <a:t>or </a:t>
            </a:r>
            <a:r>
              <a:rPr lang="en-IN" sz="2000" dirty="0" smtClean="0">
                <a:solidFill>
                  <a:schemeClr val="tx1"/>
                </a:solidFill>
              </a:rPr>
              <a:t>birth to </a:t>
            </a:r>
            <a:r>
              <a:rPr lang="en-IN" sz="2000" dirty="0" err="1" smtClean="0">
                <a:solidFill>
                  <a:schemeClr val="tx1"/>
                </a:solidFill>
              </a:rPr>
              <a:t>macrosomia</a:t>
            </a:r>
            <a:r>
              <a:rPr lang="en-IN" sz="2000" dirty="0" smtClean="0">
                <a:solidFill>
                  <a:schemeClr val="tx1"/>
                </a:solidFill>
              </a:rPr>
              <a:t> child (BW </a:t>
            </a:r>
            <a:r>
              <a:rPr lang="en-IN" sz="2000" dirty="0">
                <a:solidFill>
                  <a:schemeClr val="tx1"/>
                </a:solidFill>
              </a:rPr>
              <a:t>&gt; 3.5 kg) </a:t>
            </a:r>
            <a:endParaRPr lang="en-I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r>
              <a:rPr lang="en-IN" sz="2000" dirty="0" smtClean="0">
                <a:solidFill>
                  <a:schemeClr val="tx1"/>
                </a:solidFill>
              </a:rPr>
              <a:t>H/o CVD / </a:t>
            </a:r>
            <a:r>
              <a:rPr lang="en-IN" sz="2000" dirty="0">
                <a:solidFill>
                  <a:schemeClr val="tx1"/>
                </a:solidFill>
              </a:rPr>
              <a:t>C</a:t>
            </a:r>
            <a:r>
              <a:rPr lang="en-IN" sz="2000" dirty="0" smtClean="0">
                <a:solidFill>
                  <a:schemeClr val="tx1"/>
                </a:solidFill>
              </a:rPr>
              <a:t>erebrovascular disease</a:t>
            </a:r>
            <a:endParaRPr lang="en-IN" sz="2000" dirty="0" smtClean="0">
              <a:solidFill>
                <a:schemeClr val="tx1"/>
              </a:solidFill>
            </a:endParaRPr>
          </a:p>
          <a:p>
            <a:r>
              <a:rPr lang="en-IN" sz="2000" dirty="0" smtClean="0">
                <a:solidFill>
                  <a:schemeClr val="tx1"/>
                </a:solidFill>
              </a:rPr>
              <a:t>&lt;18 </a:t>
            </a:r>
            <a:r>
              <a:rPr lang="en-IN" sz="2000" dirty="0" err="1" smtClean="0">
                <a:solidFill>
                  <a:schemeClr val="tx1"/>
                </a:solidFill>
              </a:rPr>
              <a:t>yrs</a:t>
            </a:r>
            <a:r>
              <a:rPr lang="en-IN" sz="2000" dirty="0" smtClean="0">
                <a:solidFill>
                  <a:schemeClr val="tx1"/>
                </a:solidFill>
              </a:rPr>
              <a:t> if, obese + *</a:t>
            </a:r>
            <a:endParaRPr lang="en-I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9006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 smtClean="0"/>
              <a:t>OGTT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2990" y="908685"/>
            <a:ext cx="9605010" cy="5535295"/>
          </a:xfrm>
        </p:spPr>
        <p:txBody>
          <a:bodyPr>
            <a:noAutofit/>
          </a:bodyPr>
          <a:lstStyle/>
          <a:p>
            <a:r>
              <a:rPr lang="en-GB" dirty="0" smtClean="0">
                <a:solidFill>
                  <a:schemeClr val="tx1"/>
                </a:solidFill>
              </a:rPr>
              <a:t>On </a:t>
            </a:r>
            <a:r>
              <a:rPr lang="en-GB" dirty="0">
                <a:solidFill>
                  <a:schemeClr val="tx1"/>
                </a:solidFill>
              </a:rPr>
              <a:t>normal diet </a:t>
            </a:r>
            <a:r>
              <a:rPr lang="en-GB" dirty="0" smtClean="0">
                <a:solidFill>
                  <a:schemeClr val="tx1"/>
                </a:solidFill>
              </a:rPr>
              <a:t>(at </a:t>
            </a:r>
            <a:r>
              <a:rPr lang="en-GB" dirty="0">
                <a:solidFill>
                  <a:schemeClr val="tx1"/>
                </a:solidFill>
              </a:rPr>
              <a:t>least </a:t>
            </a:r>
            <a:r>
              <a:rPr lang="en-GB" b="1" dirty="0">
                <a:solidFill>
                  <a:schemeClr val="tx1"/>
                </a:solidFill>
              </a:rPr>
              <a:t>200 g </a:t>
            </a:r>
            <a:r>
              <a:rPr lang="en-GB" b="1" dirty="0" smtClean="0">
                <a:solidFill>
                  <a:schemeClr val="tx1"/>
                </a:solidFill>
              </a:rPr>
              <a:t>carb/ </a:t>
            </a:r>
            <a:r>
              <a:rPr lang="en-GB" b="1" dirty="0">
                <a:solidFill>
                  <a:schemeClr val="tx1"/>
                </a:solidFill>
              </a:rPr>
              <a:t>day</a:t>
            </a:r>
            <a:r>
              <a:rPr lang="en-GB" dirty="0">
                <a:solidFill>
                  <a:schemeClr val="tx1"/>
                </a:solidFill>
              </a:rPr>
              <a:t>) -</a:t>
            </a:r>
            <a:r>
              <a:rPr lang="en-GB" dirty="0" smtClean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at least </a:t>
            </a:r>
            <a:r>
              <a:rPr lang="en-GB" b="1" dirty="0">
                <a:solidFill>
                  <a:schemeClr val="tx1"/>
                </a:solidFill>
              </a:rPr>
              <a:t>3 days </a:t>
            </a:r>
            <a:r>
              <a:rPr lang="en-GB" dirty="0">
                <a:solidFill>
                  <a:schemeClr val="tx1"/>
                </a:solidFill>
              </a:rPr>
              <a:t>before the test. 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 smtClean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O</a:t>
            </a:r>
            <a:r>
              <a:rPr lang="en-GB" dirty="0" smtClean="0">
                <a:solidFill>
                  <a:schemeClr val="tx1"/>
                </a:solidFill>
              </a:rPr>
              <a:t>vernight </a:t>
            </a:r>
            <a:r>
              <a:rPr lang="en-GB" b="1" dirty="0">
                <a:solidFill>
                  <a:schemeClr val="tx1"/>
                </a:solidFill>
              </a:rPr>
              <a:t>fast -</a:t>
            </a:r>
            <a:r>
              <a:rPr lang="en-GB" b="1" dirty="0" smtClean="0">
                <a:solidFill>
                  <a:schemeClr val="tx1"/>
                </a:solidFill>
              </a:rPr>
              <a:t> </a:t>
            </a:r>
            <a:r>
              <a:rPr lang="en-GB" b="1" dirty="0">
                <a:solidFill>
                  <a:schemeClr val="tx1"/>
                </a:solidFill>
              </a:rPr>
              <a:t>8-10 hours </a:t>
            </a:r>
            <a:endParaRPr lang="en-GB" b="1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 smtClean="0">
                <a:solidFill>
                  <a:schemeClr val="tx1"/>
                </a:solidFill>
              </a:rPr>
              <a:t>Two </a:t>
            </a:r>
            <a:r>
              <a:rPr lang="en-GB" dirty="0">
                <a:solidFill>
                  <a:schemeClr val="tx1"/>
                </a:solidFill>
              </a:rPr>
              <a:t>blood samples: </a:t>
            </a:r>
            <a:r>
              <a:rPr lang="en-GB" dirty="0" smtClean="0">
                <a:solidFill>
                  <a:schemeClr val="tx1"/>
                </a:solidFill>
              </a:rPr>
              <a:t>Fasting </a:t>
            </a:r>
            <a:r>
              <a:rPr lang="en-GB" dirty="0">
                <a:solidFill>
                  <a:schemeClr val="tx1"/>
                </a:solidFill>
              </a:rPr>
              <a:t>and 2 hours after glucose load. </a:t>
            </a:r>
            <a:endParaRPr lang="en-GB" dirty="0" smtClean="0">
              <a:solidFill>
                <a:schemeClr val="tx1"/>
              </a:solidFill>
            </a:endParaRPr>
          </a:p>
          <a:p>
            <a:endParaRPr lang="en-GB" dirty="0" smtClean="0">
              <a:solidFill>
                <a:schemeClr val="tx1"/>
              </a:solidFill>
            </a:endParaRPr>
          </a:p>
          <a:p>
            <a:r>
              <a:rPr lang="en-GB" dirty="0" smtClean="0">
                <a:solidFill>
                  <a:schemeClr val="tx1"/>
                </a:solidFill>
              </a:rPr>
              <a:t>Glucose load - 75 </a:t>
            </a:r>
            <a:r>
              <a:rPr lang="en-GB" dirty="0">
                <a:solidFill>
                  <a:schemeClr val="tx1"/>
                </a:solidFill>
              </a:rPr>
              <a:t>g of glucose </a:t>
            </a:r>
            <a:r>
              <a:rPr lang="en-GB" b="1" dirty="0">
                <a:solidFill>
                  <a:schemeClr val="tx1"/>
                </a:solidFill>
              </a:rPr>
              <a:t>(1.75 g/ kg </a:t>
            </a:r>
            <a:r>
              <a:rPr lang="en-GB" b="1" dirty="0" smtClean="0">
                <a:solidFill>
                  <a:schemeClr val="tx1"/>
                </a:solidFill>
              </a:rPr>
              <a:t>BW for children</a:t>
            </a:r>
            <a:r>
              <a:rPr lang="en-GB" dirty="0" smtClean="0">
                <a:solidFill>
                  <a:schemeClr val="tx1"/>
                </a:solidFill>
              </a:rPr>
              <a:t>, max  </a:t>
            </a:r>
            <a:r>
              <a:rPr lang="en-GB" dirty="0">
                <a:solidFill>
                  <a:schemeClr val="tx1"/>
                </a:solidFill>
              </a:rPr>
              <a:t>75 g) -</a:t>
            </a:r>
            <a:r>
              <a:rPr lang="en-GB" dirty="0" smtClean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in at least 250 ml of </a:t>
            </a:r>
            <a:r>
              <a:rPr lang="en-GB" dirty="0" smtClean="0">
                <a:solidFill>
                  <a:schemeClr val="tx1"/>
                </a:solidFill>
              </a:rPr>
              <a:t>water.</a:t>
            </a:r>
            <a:endParaRPr lang="en-GB" dirty="0" smtClean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D</a:t>
            </a:r>
            <a:r>
              <a:rPr lang="en-GB" dirty="0" smtClean="0">
                <a:solidFill>
                  <a:schemeClr val="tx1"/>
                </a:solidFill>
              </a:rPr>
              <a:t>runk </a:t>
            </a:r>
            <a:r>
              <a:rPr lang="en-GB" dirty="0">
                <a:solidFill>
                  <a:schemeClr val="tx1"/>
                </a:solidFill>
              </a:rPr>
              <a:t>within </a:t>
            </a:r>
            <a:r>
              <a:rPr lang="en-GB" dirty="0" smtClean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5 minutes.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 smtClean="0">
              <a:solidFill>
                <a:schemeClr val="tx1"/>
              </a:solidFill>
            </a:endParaRPr>
          </a:p>
          <a:p>
            <a:r>
              <a:rPr lang="en-GB" dirty="0" smtClean="0">
                <a:solidFill>
                  <a:schemeClr val="tx1"/>
                </a:solidFill>
              </a:rPr>
              <a:t>The </a:t>
            </a:r>
            <a:r>
              <a:rPr lang="en-GB" dirty="0">
                <a:solidFill>
                  <a:schemeClr val="tx1"/>
                </a:solidFill>
              </a:rPr>
              <a:t>second sample </a:t>
            </a:r>
            <a:r>
              <a:rPr lang="en-GB" dirty="0" smtClean="0">
                <a:solidFill>
                  <a:schemeClr val="tx1"/>
                </a:solidFill>
              </a:rPr>
              <a:t>-2 </a:t>
            </a:r>
            <a:r>
              <a:rPr lang="en-GB" dirty="0">
                <a:solidFill>
                  <a:schemeClr val="tx1"/>
                </a:solidFill>
              </a:rPr>
              <a:t>hours after the glucose </a:t>
            </a:r>
            <a:r>
              <a:rPr lang="en-GB" dirty="0" smtClean="0">
                <a:solidFill>
                  <a:schemeClr val="tx1"/>
                </a:solidFill>
              </a:rPr>
              <a:t>load. </a:t>
            </a:r>
            <a:endParaRPr lang="en-GB" dirty="0" smtClean="0">
              <a:solidFill>
                <a:schemeClr val="tx1"/>
              </a:solidFill>
            </a:endParaRPr>
          </a:p>
          <a:p>
            <a:endParaRPr lang="en-GB" dirty="0" smtClean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S</a:t>
            </a:r>
            <a:r>
              <a:rPr lang="en-GB" dirty="0" smtClean="0">
                <a:solidFill>
                  <a:schemeClr val="tx1"/>
                </a:solidFill>
              </a:rPr>
              <a:t>hould </a:t>
            </a:r>
            <a:r>
              <a:rPr lang="en-GB" dirty="0">
                <a:solidFill>
                  <a:schemeClr val="tx1"/>
                </a:solidFill>
              </a:rPr>
              <a:t>be resting and refrain from smoking in between the two </a:t>
            </a:r>
            <a:r>
              <a:rPr lang="en-GB" dirty="0" smtClean="0">
                <a:solidFill>
                  <a:schemeClr val="tx1"/>
                </a:solidFill>
              </a:rPr>
              <a:t>sample. </a:t>
            </a:r>
            <a:endParaRPr lang="en-GB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HbA1c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proportional to blood glucose concentration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HbA1c &gt;7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Irreversible bond with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Destroyed only at death of RBC (life cycle of RBC - 120 days)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Diagnostic criteria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1556792"/>
          <a:ext cx="9251950" cy="4536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203575"/>
                <a:gridCol w="2519680"/>
                <a:gridCol w="2016760"/>
                <a:gridCol w="1511935"/>
              </a:tblGrid>
              <a:tr h="835672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NORMOGLYCEMIA 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PREDIABETES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DIABETES</a:t>
                      </a:r>
                      <a:endParaRPr lang="en-IN" sz="2400" dirty="0"/>
                    </a:p>
                  </a:txBody>
                  <a:tcPr/>
                </a:tc>
              </a:tr>
              <a:tr h="835672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FPG (mg/dl)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&lt; 110 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110-125</a:t>
                      </a:r>
                      <a:r>
                        <a:rPr lang="en-IN" sz="2400" baseline="0" dirty="0" smtClean="0"/>
                        <a:t> </a:t>
                      </a:r>
                      <a:r>
                        <a:rPr lang="en-IN" sz="2400" dirty="0" smtClean="0"/>
                        <a:t>(IFG) 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≥126 </a:t>
                      </a:r>
                      <a:endParaRPr lang="en-IN" sz="2400" dirty="0"/>
                    </a:p>
                  </a:txBody>
                  <a:tcPr/>
                </a:tc>
              </a:tr>
              <a:tr h="8356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400" dirty="0" smtClean="0"/>
                        <a:t>2-h PG  (mg/dl)</a:t>
                      </a:r>
                      <a:endParaRPr lang="en-IN" sz="2400" dirty="0" smtClean="0"/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&lt;140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140-199 (IGT)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400" dirty="0" smtClean="0"/>
                        <a:t>≥ 200 </a:t>
                      </a:r>
                      <a:endParaRPr lang="en-IN" sz="2400" dirty="0" smtClean="0"/>
                    </a:p>
                    <a:p>
                      <a:endParaRPr lang="en-IN" sz="2400" dirty="0"/>
                    </a:p>
                  </a:txBody>
                  <a:tcPr/>
                </a:tc>
              </a:tr>
              <a:tr h="835660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HbA1c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&lt;5.7% 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5.7-6.4% 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400" dirty="0" smtClean="0"/>
                        <a:t>≥ 6.5%</a:t>
                      </a:r>
                      <a:endParaRPr lang="en-IN" sz="2400" dirty="0" smtClean="0"/>
                    </a:p>
                    <a:p>
                      <a:endParaRPr lang="en-IN" sz="2400" dirty="0"/>
                    </a:p>
                  </a:txBody>
                  <a:tcPr/>
                </a:tc>
              </a:tr>
              <a:tr h="119381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400" dirty="0" smtClean="0"/>
                        <a:t>Random plasma glucose (mg/dl)</a:t>
                      </a:r>
                      <a:endParaRPr lang="en-IN" sz="2400" dirty="0" smtClean="0"/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≥ 200 </a:t>
                      </a:r>
                      <a:endParaRPr lang="en-IN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7215" y="278130"/>
            <a:ext cx="8229600" cy="650875"/>
          </a:xfrm>
        </p:spPr>
        <p:txBody>
          <a:bodyPr>
            <a:noAutofit/>
          </a:bodyPr>
          <a:lstStyle/>
          <a:p>
            <a:r>
              <a:rPr lang="en-IN" sz="2800" b="1" dirty="0" smtClean="0">
                <a:solidFill>
                  <a:srgbClr val="2D08E8"/>
                </a:solidFill>
              </a:rPr>
              <a:t>LIFE STYLE MODIFICATION</a:t>
            </a:r>
            <a:endParaRPr lang="en-IN" sz="2800" b="1" dirty="0">
              <a:solidFill>
                <a:srgbClr val="2D08E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476672"/>
            <a:ext cx="9252520" cy="6552728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endParaRPr lang="en-GB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IN" alt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TOBACC</a:t>
            </a:r>
            <a:r>
              <a:rPr lang="en-IN" altLang="en-GB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O: </a:t>
            </a:r>
            <a:r>
              <a:rPr lang="en-IN" alt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Quit</a:t>
            </a:r>
            <a:r>
              <a:rPr lang="en-IN" altLang="en-GB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moking 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tobacco chewing 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GB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STRESS</a:t>
            </a:r>
            <a:r>
              <a:rPr lang="en-IN" altLang="en-GB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alt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m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editation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yoga, 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outdoor walk, exercise 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hobbies ( reading, gardening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painting </a:t>
            </a:r>
            <a:r>
              <a:rPr lang="en-GB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GB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DIET &amp; ALCOHOL </a:t>
            </a:r>
            <a:endParaRPr lang="en-GB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GB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ACTIVITY</a:t>
            </a:r>
            <a:endParaRPr lang="en-GB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GB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I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DIABETES EDUCATION</a:t>
            </a:r>
            <a:endParaRPr lang="en-GB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In-depth 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about diabetes (complications 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treatment)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Appropriate self care  &amp; monitoring skills 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Awareness of resources for self care </a:t>
            </a:r>
            <a:endParaRPr lang="en-GB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4624"/>
            <a:ext cx="4040188" cy="63976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AVOID</a:t>
            </a:r>
            <a:endParaRPr lang="en-IN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31504" y="764704"/>
            <a:ext cx="4389884" cy="5976664"/>
          </a:xfrm>
        </p:spPr>
        <p:txBody>
          <a:bodyPr>
            <a:no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Refined </a:t>
            </a:r>
            <a:r>
              <a:rPr lang="en-IN" dirty="0" smtClean="0">
                <a:solidFill>
                  <a:schemeClr val="tx1"/>
                </a:solidFill>
              </a:rPr>
              <a:t>carbohydrates </a:t>
            </a:r>
            <a:r>
              <a:rPr lang="en-IN" dirty="0">
                <a:solidFill>
                  <a:schemeClr val="tx1"/>
                </a:solidFill>
              </a:rPr>
              <a:t>- </a:t>
            </a:r>
            <a:r>
              <a:rPr lang="en-IN" dirty="0" smtClean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fast absorption of glucose </a:t>
            </a: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 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Sugar</a:t>
            </a:r>
            <a:r>
              <a:rPr lang="en-IN" dirty="0">
                <a:solidFill>
                  <a:schemeClr val="tx1"/>
                </a:solidFill>
              </a:rPr>
              <a:t>, salt</a:t>
            </a:r>
            <a:r>
              <a:rPr lang="en-IN" dirty="0" smtClean="0">
                <a:solidFill>
                  <a:schemeClr val="tx1"/>
                </a:solidFill>
              </a:rPr>
              <a:t>, </a:t>
            </a:r>
            <a:r>
              <a:rPr lang="en-IN" smtClean="0">
                <a:solidFill>
                  <a:schemeClr val="tx1"/>
                </a:solidFill>
              </a:rPr>
              <a:t>sugary soft </a:t>
            </a:r>
            <a:r>
              <a:rPr lang="en-IN" dirty="0" smtClean="0">
                <a:solidFill>
                  <a:schemeClr val="tx1"/>
                </a:solidFill>
              </a:rPr>
              <a:t>drinks </a:t>
            </a:r>
            <a:r>
              <a:rPr lang="en-IN" dirty="0">
                <a:solidFill>
                  <a:schemeClr val="tx1"/>
                </a:solidFill>
              </a:rPr>
              <a:t>and </a:t>
            </a:r>
            <a:r>
              <a:rPr lang="en-IN" dirty="0" smtClean="0">
                <a:solidFill>
                  <a:schemeClr val="tx1"/>
                </a:solidFill>
              </a:rPr>
              <a:t>alcohol.</a:t>
            </a:r>
            <a:endParaRPr lang="en-IN" dirty="0" smtClean="0">
              <a:solidFill>
                <a:schemeClr val="tx1"/>
              </a:solidFill>
            </a:endParaRPr>
          </a:p>
          <a:p>
            <a:endParaRPr lang="en-IN" dirty="0" smtClean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Limit </a:t>
            </a:r>
            <a:r>
              <a:rPr lang="en-IN" dirty="0">
                <a:solidFill>
                  <a:schemeClr val="tx1"/>
                </a:solidFill>
              </a:rPr>
              <a:t>fat  i</a:t>
            </a:r>
            <a:r>
              <a:rPr lang="en-IN" dirty="0" smtClean="0">
                <a:solidFill>
                  <a:schemeClr val="tx1"/>
                </a:solidFill>
              </a:rPr>
              <a:t>ntake </a:t>
            </a:r>
            <a:r>
              <a:rPr lang="en-IN" dirty="0">
                <a:solidFill>
                  <a:schemeClr val="tx1"/>
                </a:solidFill>
              </a:rPr>
              <a:t>and shift from saturated to unsaturated fats.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 smtClean="0">
                <a:solidFill>
                  <a:schemeClr val="tx1"/>
                </a:solidFill>
              </a:rPr>
              <a:t>Trans-fat </a:t>
            </a:r>
            <a:r>
              <a:rPr lang="en-IN" dirty="0">
                <a:solidFill>
                  <a:schemeClr val="tx1"/>
                </a:solidFill>
              </a:rPr>
              <a:t>rich foods (</a:t>
            </a:r>
            <a:r>
              <a:rPr lang="en-IN" sz="1800" i="1" dirty="0" err="1">
                <a:solidFill>
                  <a:schemeClr val="tx1"/>
                </a:solidFill>
              </a:rPr>
              <a:t>vanaspati</a:t>
            </a:r>
            <a:r>
              <a:rPr lang="en-IN" sz="1800" i="1" dirty="0">
                <a:solidFill>
                  <a:schemeClr val="tx1"/>
                </a:solidFill>
              </a:rPr>
              <a:t> , </a:t>
            </a:r>
            <a:r>
              <a:rPr lang="en-IN" sz="1800" dirty="0">
                <a:solidFill>
                  <a:schemeClr val="tx1"/>
                </a:solidFill>
              </a:rPr>
              <a:t>bakery products and sweets</a:t>
            </a:r>
            <a:r>
              <a:rPr lang="en-IN" dirty="0" smtClean="0">
                <a:solidFill>
                  <a:schemeClr val="tx1"/>
                </a:solidFill>
              </a:rPr>
              <a:t>).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6040" y="-16757"/>
            <a:ext cx="4041775" cy="63976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ADD</a:t>
            </a:r>
            <a:endParaRPr lang="en-IN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9025" y="620688"/>
            <a:ext cx="4319463" cy="62373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S</a:t>
            </a:r>
            <a:r>
              <a:rPr lang="en-IN" dirty="0" smtClean="0">
                <a:solidFill>
                  <a:schemeClr val="tx1"/>
                </a:solidFill>
              </a:rPr>
              <a:t>mall </a:t>
            </a:r>
            <a:r>
              <a:rPr lang="en-IN" dirty="0">
                <a:solidFill>
                  <a:schemeClr val="tx1"/>
                </a:solidFill>
              </a:rPr>
              <a:t>meals </a:t>
            </a:r>
            <a:r>
              <a:rPr lang="en-IN" dirty="0" smtClean="0">
                <a:solidFill>
                  <a:schemeClr val="tx1"/>
                </a:solidFill>
              </a:rPr>
              <a:t>at regular frequent interval.</a:t>
            </a:r>
            <a:endParaRPr lang="en-IN" dirty="0" smtClean="0">
              <a:solidFill>
                <a:schemeClr val="tx1"/>
              </a:solidFill>
            </a:endParaRPr>
          </a:p>
          <a:p>
            <a:endParaRPr lang="en-IN" dirty="0" smtClean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Plant</a:t>
            </a:r>
            <a:r>
              <a:rPr lang="en-IN" sz="1200" dirty="0" smtClean="0">
                <a:solidFill>
                  <a:schemeClr val="tx1"/>
                </a:solidFill>
              </a:rPr>
              <a:t>  </a:t>
            </a:r>
            <a:r>
              <a:rPr lang="en-IN" dirty="0">
                <a:solidFill>
                  <a:schemeClr val="tx1"/>
                </a:solidFill>
              </a:rPr>
              <a:t>foods </a:t>
            </a:r>
            <a:r>
              <a:rPr lang="en-IN" dirty="0" smtClean="0">
                <a:solidFill>
                  <a:schemeClr val="tx1"/>
                </a:solidFill>
              </a:rPr>
              <a:t>– complex carbohydrates </a:t>
            </a:r>
            <a:r>
              <a:rPr lang="en-IN" dirty="0">
                <a:solidFill>
                  <a:schemeClr val="tx1"/>
                </a:solidFill>
              </a:rPr>
              <a:t>&amp;</a:t>
            </a:r>
            <a:r>
              <a:rPr lang="en-IN" dirty="0" smtClean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fibre- </a:t>
            </a:r>
            <a:r>
              <a:rPr lang="en-IN" dirty="0" err="1" smtClean="0">
                <a:solidFill>
                  <a:schemeClr val="tx1"/>
                </a:solidFill>
              </a:rPr>
              <a:t>dec</a:t>
            </a:r>
            <a:r>
              <a:rPr lang="en-IN" dirty="0" smtClean="0">
                <a:solidFill>
                  <a:schemeClr val="tx1"/>
                </a:solidFill>
              </a:rPr>
              <a:t> Blood glucose, </a:t>
            </a:r>
            <a:r>
              <a:rPr lang="en-IN" dirty="0">
                <a:solidFill>
                  <a:schemeClr val="tx1"/>
                </a:solidFill>
              </a:rPr>
              <a:t>cholesterol </a:t>
            </a:r>
            <a:r>
              <a:rPr lang="en-IN" dirty="0" smtClean="0">
                <a:solidFill>
                  <a:schemeClr val="tx1"/>
                </a:solidFill>
              </a:rPr>
              <a:t>&amp;Triglyceride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 smtClean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Plenty </a:t>
            </a:r>
            <a:r>
              <a:rPr lang="en-IN" dirty="0">
                <a:solidFill>
                  <a:schemeClr val="tx1"/>
                </a:solidFill>
              </a:rPr>
              <a:t>of fruits &amp;</a:t>
            </a:r>
            <a:r>
              <a:rPr lang="en-IN" dirty="0" smtClean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vegetables - satiety &amp; </a:t>
            </a:r>
            <a:r>
              <a:rPr lang="en-IN" dirty="0" smtClean="0">
                <a:solidFill>
                  <a:schemeClr val="tx1"/>
                </a:solidFill>
              </a:rPr>
              <a:t>micronutrients. </a:t>
            </a:r>
            <a:endParaRPr lang="en-IN" dirty="0" smtClean="0">
              <a:solidFill>
                <a:schemeClr val="tx1"/>
              </a:solidFill>
            </a:endParaRPr>
          </a:p>
          <a:p>
            <a:endParaRPr lang="en-IN" dirty="0" smtClean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Fibre – increase transit time of food</a:t>
            </a:r>
            <a:endParaRPr lang="en-IN" dirty="0" smtClean="0">
              <a:solidFill>
                <a:schemeClr val="tx1"/>
              </a:solidFill>
            </a:endParaRPr>
          </a:p>
          <a:p>
            <a:endParaRPr lang="en-IN" dirty="0" smtClean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Whole grains </a:t>
            </a:r>
            <a:r>
              <a:rPr lang="en-IN" dirty="0">
                <a:solidFill>
                  <a:schemeClr val="tx1"/>
                </a:solidFill>
              </a:rPr>
              <a:t>and nuts</a:t>
            </a:r>
            <a:r>
              <a:rPr lang="en-IN" dirty="0" smtClean="0">
                <a:solidFill>
                  <a:schemeClr val="tx1"/>
                </a:solidFill>
              </a:rPr>
              <a:t>.</a:t>
            </a: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275590"/>
            <a:ext cx="9144000" cy="667512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DIABETIC DIET</a:t>
            </a:r>
            <a:endParaRPr lang="en-GB" sz="24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GB" sz="2000" dirty="0" smtClean="0">
              <a:solidFill>
                <a:schemeClr val="tx1"/>
              </a:solidFill>
            </a:endParaRPr>
          </a:p>
          <a:p>
            <a:r>
              <a:rPr lang="en-GB" sz="2000" dirty="0" smtClean="0">
                <a:solidFill>
                  <a:schemeClr val="tx1"/>
                </a:solidFill>
              </a:rPr>
              <a:t>Optimum </a:t>
            </a:r>
            <a:r>
              <a:rPr lang="en-GB" sz="2000" dirty="0">
                <a:solidFill>
                  <a:schemeClr val="tx1"/>
                </a:solidFill>
              </a:rPr>
              <a:t>nutrition  - </a:t>
            </a:r>
            <a:r>
              <a:rPr lang="en-GB" sz="2000" dirty="0" smtClean="0">
                <a:solidFill>
                  <a:schemeClr val="tx1"/>
                </a:solidFill>
              </a:rPr>
              <a:t>Energy balance, WFH </a:t>
            </a:r>
            <a:r>
              <a:rPr lang="en-GB" sz="2000" dirty="0">
                <a:solidFill>
                  <a:schemeClr val="tx1"/>
                </a:solidFill>
              </a:rPr>
              <a:t>, normal </a:t>
            </a:r>
            <a:r>
              <a:rPr lang="en-GB" sz="2000" dirty="0" smtClean="0">
                <a:solidFill>
                  <a:schemeClr val="tx1"/>
                </a:solidFill>
              </a:rPr>
              <a:t>growth &amp; development</a:t>
            </a:r>
            <a:endParaRPr lang="en-GB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(severe fasting – don’t )</a:t>
            </a:r>
            <a:endParaRPr lang="en-GB" sz="20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GB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 </a:t>
            </a:r>
            <a:r>
              <a:rPr lang="en-GB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kcals/kg </a:t>
            </a:r>
            <a:r>
              <a:rPr lang="en-GB" sz="2000" dirty="0">
                <a:solidFill>
                  <a:schemeClr val="tx1"/>
                </a:solidFill>
              </a:rPr>
              <a:t>ideal body weight/day - moderately active patient with diabetes. </a:t>
            </a:r>
            <a:endParaRPr lang="en-GB" sz="2000" dirty="0">
              <a:solidFill>
                <a:schemeClr val="tx1"/>
              </a:solidFill>
            </a:endParaRPr>
          </a:p>
          <a:p>
            <a:r>
              <a:rPr lang="en-GB" sz="2000" dirty="0" smtClean="0">
                <a:solidFill>
                  <a:schemeClr val="tx1"/>
                </a:solidFill>
              </a:rPr>
              <a:t>The </a:t>
            </a:r>
            <a:r>
              <a:rPr lang="en-GB" sz="2000" dirty="0">
                <a:solidFill>
                  <a:schemeClr val="tx1"/>
                </a:solidFill>
              </a:rPr>
              <a:t>change in the daily </a:t>
            </a:r>
            <a:r>
              <a:rPr lang="en-GB" sz="2000" dirty="0" smtClean="0">
                <a:solidFill>
                  <a:schemeClr val="tx1"/>
                </a:solidFill>
              </a:rPr>
              <a:t>calorie should not be </a:t>
            </a:r>
            <a:r>
              <a:rPr lang="en-GB" sz="2000" dirty="0">
                <a:solidFill>
                  <a:schemeClr val="tx1"/>
                </a:solidFill>
              </a:rPr>
              <a:t>more than 500 </a:t>
            </a:r>
            <a:r>
              <a:rPr lang="en-GB" sz="2000" dirty="0" smtClean="0">
                <a:solidFill>
                  <a:schemeClr val="tx1"/>
                </a:solidFill>
              </a:rPr>
              <a:t>calories/day (gradual)</a:t>
            </a:r>
            <a:endParaRPr lang="en-GB" sz="2000" dirty="0">
              <a:solidFill>
                <a:schemeClr val="tx1"/>
              </a:solidFill>
            </a:endParaRPr>
          </a:p>
          <a:p>
            <a:r>
              <a:rPr lang="en-GB" sz="2000" dirty="0" smtClean="0">
                <a:solidFill>
                  <a:schemeClr val="tx1"/>
                </a:solidFill>
              </a:rPr>
              <a:t>Complex Carbohydrates . </a:t>
            </a:r>
            <a:r>
              <a:rPr lang="en-GB" sz="2000" dirty="0">
                <a:solidFill>
                  <a:schemeClr val="tx1"/>
                </a:solidFill>
              </a:rPr>
              <a:t>Manage total carbohydrate</a:t>
            </a:r>
            <a:r>
              <a:rPr lang="en-GB" sz="2000" dirty="0" smtClean="0">
                <a:solidFill>
                  <a:schemeClr val="tx1"/>
                </a:solidFill>
              </a:rPr>
              <a:t>.</a:t>
            </a:r>
            <a:endParaRPr lang="en-GB" sz="2000" dirty="0" smtClean="0">
              <a:solidFill>
                <a:schemeClr val="tx1"/>
              </a:solidFill>
            </a:endParaRPr>
          </a:p>
          <a:p>
            <a:r>
              <a:rPr lang="en-GB" sz="2000" dirty="0" smtClean="0">
                <a:solidFill>
                  <a:schemeClr val="tx1"/>
                </a:solidFill>
              </a:rPr>
              <a:t>3 </a:t>
            </a:r>
            <a:r>
              <a:rPr lang="en-GB" sz="2000" dirty="0">
                <a:solidFill>
                  <a:schemeClr val="tx1"/>
                </a:solidFill>
              </a:rPr>
              <a:t>main meals and 1-2 snacks </a:t>
            </a:r>
            <a:endParaRPr lang="en-GB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GB" sz="2400" dirty="0" smtClean="0">
                <a:solidFill>
                  <a:schemeClr val="tx1"/>
                </a:solidFill>
              </a:rPr>
              <a:t> </a:t>
            </a:r>
            <a:r>
              <a:rPr lang="en-GB" sz="2400" dirty="0" smtClean="0">
                <a:solidFill>
                  <a:schemeClr val="tx1"/>
                </a:solidFill>
              </a:rPr>
              <a:t>FIBRE</a:t>
            </a:r>
            <a:endParaRPr lang="en-GB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40 g/day (2000 Kcals).</a:t>
            </a:r>
            <a:endParaRPr lang="en-GB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400" dirty="0" smtClean="0">
                <a:solidFill>
                  <a:schemeClr val="tx1"/>
                </a:solidFill>
              </a:rPr>
              <a:t>PROTEINS</a:t>
            </a:r>
            <a:endParaRPr lang="en-GB" sz="2400" dirty="0">
              <a:solidFill>
                <a:schemeClr val="tx1"/>
              </a:solidFill>
            </a:endParaRPr>
          </a:p>
          <a:p>
            <a:r>
              <a:rPr lang="en-GB" sz="2000" dirty="0">
                <a:solidFill>
                  <a:schemeClr val="tx1"/>
                </a:solidFill>
              </a:rPr>
              <a:t>12-15 </a:t>
            </a:r>
            <a:r>
              <a:rPr lang="en-GB" sz="2000" dirty="0" smtClean="0">
                <a:solidFill>
                  <a:schemeClr val="tx1"/>
                </a:solidFill>
              </a:rPr>
              <a:t>%. Supplementing  </a:t>
            </a:r>
            <a:r>
              <a:rPr lang="en-GB" sz="2000" dirty="0">
                <a:solidFill>
                  <a:schemeClr val="tx1"/>
                </a:solidFill>
              </a:rPr>
              <a:t>cereal and pulse (4:1 ratio) </a:t>
            </a:r>
            <a:r>
              <a:rPr lang="en-GB" sz="2000" dirty="0" smtClean="0">
                <a:solidFill>
                  <a:schemeClr val="tx1"/>
                </a:solidFill>
              </a:rPr>
              <a:t>-  protein </a:t>
            </a:r>
            <a:r>
              <a:rPr lang="en-GB" sz="2000" dirty="0">
                <a:solidFill>
                  <a:schemeClr val="tx1"/>
                </a:solidFill>
              </a:rPr>
              <a:t>quality  </a:t>
            </a:r>
            <a:r>
              <a:rPr lang="en-GB" sz="2000" dirty="0" smtClean="0">
                <a:solidFill>
                  <a:schemeClr val="tx1"/>
                </a:solidFill>
              </a:rPr>
              <a:t>&amp; satiety.</a:t>
            </a:r>
            <a:endParaRPr lang="en-GB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</a:endParaRPr>
          </a:p>
          <a:p>
            <a:endParaRPr lang="en-GB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sz="20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1504" y="116632"/>
            <a:ext cx="8928992" cy="65527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dirty="0" smtClean="0"/>
              <a:t>SULFONYLUREAS </a:t>
            </a:r>
            <a:endParaRPr lang="en-IN" dirty="0" smtClean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sz="2600" dirty="0" smtClean="0"/>
          </a:p>
          <a:p>
            <a:r>
              <a:rPr lang="en-IN" sz="2600" dirty="0" smtClean="0"/>
              <a:t>All SU cause weight gain &amp; hypoglycaemia, least with </a:t>
            </a:r>
            <a:r>
              <a:rPr lang="en-IN" sz="2600" dirty="0" err="1"/>
              <a:t>G</a:t>
            </a:r>
            <a:r>
              <a:rPr lang="en-IN" sz="2600" dirty="0" err="1" smtClean="0"/>
              <a:t>lipizide</a:t>
            </a:r>
            <a:r>
              <a:rPr lang="en-IN" sz="2600" dirty="0" smtClean="0"/>
              <a:t> and </a:t>
            </a:r>
            <a:r>
              <a:rPr lang="en-IN" sz="2600" dirty="0" err="1"/>
              <a:t>G</a:t>
            </a:r>
            <a:r>
              <a:rPr lang="en-IN" sz="2600" dirty="0" err="1" smtClean="0"/>
              <a:t>liclazide</a:t>
            </a:r>
            <a:r>
              <a:rPr lang="en-IN" sz="2600" dirty="0" smtClean="0"/>
              <a:t>.</a:t>
            </a:r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631504" y="548680"/>
          <a:ext cx="6552565" cy="2876550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2184400"/>
                <a:gridCol w="1393825"/>
                <a:gridCol w="2974340"/>
              </a:tblGrid>
              <a:tr h="768350">
                <a:tc>
                  <a:txBody>
                    <a:bodyPr/>
                    <a:lstStyle/>
                    <a:p>
                      <a:r>
                        <a:rPr lang="en-IN" sz="2200" b="0" dirty="0" smtClean="0"/>
                        <a:t>1</a:t>
                      </a:r>
                      <a:r>
                        <a:rPr lang="en-IN" sz="2200" b="0" baseline="30000" dirty="0" smtClean="0"/>
                        <a:t>ST</a:t>
                      </a:r>
                      <a:r>
                        <a:rPr lang="en-IN" sz="2200" b="0" dirty="0" smtClean="0"/>
                        <a:t> gen drug</a:t>
                      </a:r>
                      <a:endParaRPr lang="en-IN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b="0" dirty="0" smtClean="0"/>
                        <a:t>Duration of action</a:t>
                      </a:r>
                      <a:endParaRPr lang="en-IN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b="0" dirty="0" smtClean="0"/>
                        <a:t>Side effects</a:t>
                      </a:r>
                      <a:endParaRPr lang="en-IN" sz="2200" b="0" dirty="0"/>
                    </a:p>
                  </a:txBody>
                  <a:tcPr/>
                </a:tc>
              </a:tr>
              <a:tr h="1432560">
                <a:tc>
                  <a:txBody>
                    <a:bodyPr/>
                    <a:lstStyle/>
                    <a:p>
                      <a:r>
                        <a:rPr lang="en-IN" sz="2200" b="0" dirty="0" err="1" smtClean="0"/>
                        <a:t>Chlorpropomide</a:t>
                      </a:r>
                      <a:r>
                        <a:rPr lang="en-IN" sz="2200" b="0" dirty="0" smtClean="0"/>
                        <a:t> </a:t>
                      </a:r>
                      <a:endParaRPr lang="en-IN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b="0" dirty="0" smtClean="0"/>
                        <a:t>36 – 60 </a:t>
                      </a:r>
                      <a:r>
                        <a:rPr lang="en-IN" sz="2200" b="0" dirty="0" err="1" smtClean="0"/>
                        <a:t>hr</a:t>
                      </a:r>
                      <a:endParaRPr lang="en-IN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b="0" baseline="0" dirty="0" err="1" smtClean="0"/>
                        <a:t>Cholestatic</a:t>
                      </a:r>
                      <a:r>
                        <a:rPr lang="en-IN" sz="2200" b="0" baseline="0" dirty="0" smtClean="0"/>
                        <a:t> jaundice</a:t>
                      </a:r>
                      <a:endParaRPr lang="en-IN" sz="2200" b="0" baseline="0" dirty="0" smtClean="0"/>
                    </a:p>
                    <a:p>
                      <a:r>
                        <a:rPr lang="en-IN" sz="2200" b="0" baseline="0" dirty="0" err="1" smtClean="0"/>
                        <a:t>Disulfiram</a:t>
                      </a:r>
                      <a:r>
                        <a:rPr lang="en-IN" sz="2200" b="0" baseline="0" dirty="0" smtClean="0"/>
                        <a:t> like action</a:t>
                      </a:r>
                      <a:endParaRPr lang="en-IN" sz="2200" b="0" baseline="0" dirty="0" smtClean="0"/>
                    </a:p>
                    <a:p>
                      <a:r>
                        <a:rPr lang="en-IN" sz="2200" b="0" baseline="0" dirty="0" err="1" smtClean="0"/>
                        <a:t>Dilutional</a:t>
                      </a:r>
                      <a:r>
                        <a:rPr lang="en-IN" sz="2200" b="0" baseline="0" dirty="0" smtClean="0"/>
                        <a:t> </a:t>
                      </a:r>
                      <a:r>
                        <a:rPr lang="en-IN" sz="2200" b="0" baseline="0" dirty="0" err="1" smtClean="0"/>
                        <a:t>hyponatremia</a:t>
                      </a:r>
                      <a:endParaRPr lang="en-IN" sz="2200" b="0" dirty="0"/>
                    </a:p>
                  </a:txBody>
                  <a:tcPr/>
                </a:tc>
              </a:tr>
              <a:tr h="675640">
                <a:tc>
                  <a:txBody>
                    <a:bodyPr/>
                    <a:lstStyle/>
                    <a:p>
                      <a:r>
                        <a:rPr lang="en-IN" sz="2200" b="0" dirty="0" err="1" smtClean="0"/>
                        <a:t>Tolbutamide</a:t>
                      </a:r>
                      <a:endParaRPr lang="en-IN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b="0" dirty="0" smtClean="0"/>
                        <a:t>6-12 </a:t>
                      </a:r>
                      <a:r>
                        <a:rPr lang="en-IN" sz="2200" b="0" dirty="0" err="1" smtClean="0"/>
                        <a:t>hr</a:t>
                      </a:r>
                      <a:endParaRPr lang="en-IN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b="0" dirty="0" smtClean="0"/>
                        <a:t>Hypothyroid (</a:t>
                      </a:r>
                      <a:r>
                        <a:rPr lang="en-IN" sz="1600" b="0" dirty="0" smtClean="0"/>
                        <a:t>iodine uptake inhibitor)</a:t>
                      </a:r>
                      <a:endParaRPr lang="en-IN" sz="1600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82429" y="3320988"/>
          <a:ext cx="5832475" cy="2633980"/>
        </p:xfrm>
        <a:graphic>
          <a:graphicData uri="http://schemas.openxmlformats.org/drawingml/2006/table">
            <a:tbl>
              <a:tblPr firstRow="1" bandRow="1">
                <a:tableStyleId>{327F97BB-C833-4FB7-BDE5-3F7075034690}</a:tableStyleId>
              </a:tblPr>
              <a:tblGrid>
                <a:gridCol w="2448560"/>
                <a:gridCol w="3383915"/>
              </a:tblGrid>
              <a:tr h="481965"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IN" sz="2400" baseline="30000" dirty="0" smtClean="0">
                          <a:solidFill>
                            <a:schemeClr val="tx1"/>
                          </a:solidFill>
                        </a:rPr>
                        <a:t>nd</a:t>
                      </a:r>
                      <a:r>
                        <a:rPr lang="en-IN" sz="2400" dirty="0" smtClean="0">
                          <a:solidFill>
                            <a:schemeClr val="tx1"/>
                          </a:solidFill>
                        </a:rPr>
                        <a:t> gen drug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solidFill>
                            <a:schemeClr val="tx1"/>
                          </a:solidFill>
                        </a:rPr>
                        <a:t>Features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81965">
                <a:tc>
                  <a:txBody>
                    <a:bodyPr/>
                    <a:lstStyle/>
                    <a:p>
                      <a:r>
                        <a:rPr lang="en-IN" sz="2400" dirty="0" err="1" smtClean="0">
                          <a:solidFill>
                            <a:schemeClr val="tx1"/>
                          </a:solidFill>
                        </a:rPr>
                        <a:t>Glibenclamide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solidFill>
                            <a:schemeClr val="tx1"/>
                          </a:solidFill>
                        </a:rPr>
                        <a:t>Oral safe in pregnancy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81330">
                <a:tc>
                  <a:txBody>
                    <a:bodyPr/>
                    <a:lstStyle/>
                    <a:p>
                      <a:r>
                        <a:rPr lang="en-IN" sz="2400" dirty="0" err="1" smtClean="0">
                          <a:solidFill>
                            <a:schemeClr val="tx1"/>
                          </a:solidFill>
                        </a:rPr>
                        <a:t>Glicazide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400" dirty="0" smtClean="0">
                          <a:solidFill>
                            <a:schemeClr val="tx1"/>
                          </a:solidFill>
                        </a:rPr>
                        <a:t>Anti platelet action</a:t>
                      </a:r>
                      <a:endParaRPr lang="en-IN" sz="24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solidFill>
                            <a:schemeClr val="tx1"/>
                          </a:solidFill>
                        </a:rPr>
                        <a:t>Glimepiride-</a:t>
                      </a:r>
                      <a:r>
                        <a:rPr lang="en-IN" sz="2400" baseline="0" dirty="0" smtClean="0">
                          <a:solidFill>
                            <a:schemeClr val="tx1"/>
                          </a:solidFill>
                        </a:rPr>
                        <a:t> (M.C)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solidFill>
                            <a:schemeClr val="tx1"/>
                          </a:solidFill>
                        </a:rPr>
                        <a:t>Preferred drug in angina (</a:t>
                      </a:r>
                      <a:r>
                        <a:rPr lang="en-IN" sz="1600" dirty="0" smtClean="0">
                          <a:solidFill>
                            <a:schemeClr val="tx1"/>
                          </a:solidFill>
                        </a:rPr>
                        <a:t>all others cause</a:t>
                      </a:r>
                      <a:r>
                        <a:rPr lang="en-IN" sz="1600" baseline="0" dirty="0" smtClean="0">
                          <a:solidFill>
                            <a:schemeClr val="tx1"/>
                          </a:solidFill>
                        </a:rPr>
                        <a:t> vasoconstriction</a:t>
                      </a:r>
                      <a:r>
                        <a:rPr lang="en-IN" sz="240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ular Callout 5"/>
          <p:cNvSpPr/>
          <p:nvPr/>
        </p:nvSpPr>
        <p:spPr>
          <a:xfrm rot="20708632">
            <a:off x="1607125" y="3731169"/>
            <a:ext cx="2862136" cy="1575007"/>
          </a:xfrm>
          <a:prstGeom prst="wedgeRoundRectCallout">
            <a:avLst>
              <a:gd name="adj1" fmla="val 55212"/>
              <a:gd name="adj2" fmla="val 70352"/>
              <a:gd name="adj3" fmla="val 16667"/>
            </a:avLst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2000" b="1" dirty="0">
                <a:solidFill>
                  <a:schemeClr val="tx1"/>
                </a:solidFill>
              </a:rPr>
              <a:t>Min-max dose</a:t>
            </a:r>
            <a:r>
              <a:rPr lang="it-IT" sz="2000" b="1" dirty="0" smtClean="0">
                <a:solidFill>
                  <a:schemeClr val="tx1"/>
                </a:solidFill>
              </a:rPr>
              <a:t>: 1 </a:t>
            </a:r>
            <a:r>
              <a:rPr lang="it-IT" sz="2000" b="1" dirty="0">
                <a:solidFill>
                  <a:schemeClr val="tx1"/>
                </a:solidFill>
              </a:rPr>
              <a:t>– 8g</a:t>
            </a:r>
            <a:endParaRPr lang="it-IT" sz="2000" b="1" dirty="0">
              <a:solidFill>
                <a:schemeClr val="tx1"/>
              </a:solidFill>
            </a:endParaRPr>
          </a:p>
          <a:p>
            <a:r>
              <a:rPr lang="it-IT" sz="2000" b="1" dirty="0">
                <a:solidFill>
                  <a:schemeClr val="tx1"/>
                </a:solidFill>
              </a:rPr>
              <a:t>Dosing</a:t>
            </a:r>
            <a:r>
              <a:rPr lang="it-IT" sz="2000" b="1" dirty="0" smtClean="0">
                <a:solidFill>
                  <a:schemeClr val="tx1"/>
                </a:solidFill>
              </a:rPr>
              <a:t>:  </a:t>
            </a:r>
            <a:r>
              <a:rPr lang="it-IT" sz="2000" b="1" dirty="0">
                <a:solidFill>
                  <a:schemeClr val="tx1"/>
                </a:solidFill>
              </a:rPr>
              <a:t>S</a:t>
            </a:r>
            <a:r>
              <a:rPr lang="it-IT" sz="2000" b="1" dirty="0" smtClean="0">
                <a:solidFill>
                  <a:schemeClr val="tx1"/>
                </a:solidFill>
              </a:rPr>
              <a:t>ingle</a:t>
            </a:r>
            <a:endParaRPr lang="it-IT" sz="2000" b="1" dirty="0">
              <a:solidFill>
                <a:schemeClr val="tx1"/>
              </a:solidFill>
            </a:endParaRPr>
          </a:p>
          <a:p>
            <a:r>
              <a:rPr lang="it-IT" sz="2000" b="1" dirty="0">
                <a:solidFill>
                  <a:schemeClr val="tx1"/>
                </a:solidFill>
              </a:rPr>
              <a:t>Action : 16 – 24</a:t>
            </a:r>
            <a:endParaRPr lang="it-IT" sz="2000" b="1" dirty="0">
              <a:solidFill>
                <a:schemeClr val="tx1"/>
              </a:solidFill>
            </a:endParaRPr>
          </a:p>
          <a:p>
            <a:r>
              <a:rPr lang="it-IT" sz="2000" b="1" dirty="0">
                <a:solidFill>
                  <a:schemeClr val="tx1"/>
                </a:solidFill>
              </a:rPr>
              <a:t>Excretion : Urine (60%) Bile (40%)</a:t>
            </a:r>
            <a:endParaRPr lang="it-IT" sz="2000" b="1" dirty="0"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60350" y="160020"/>
            <a:ext cx="18688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400"/>
              <a:t>TREATMENT</a:t>
            </a:r>
            <a:endParaRPr lang="en-I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512" y="692696"/>
            <a:ext cx="8507288" cy="54334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3864" y="836712"/>
          <a:ext cx="6096000" cy="164592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65760">
                <a:tc>
                  <a:txBody>
                    <a:bodyPr/>
                    <a:lstStyle/>
                    <a:p>
                      <a:r>
                        <a:rPr lang="en-IN" dirty="0" smtClean="0"/>
                        <a:t>Drug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Min Dose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Max Dose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Action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Excretion </a:t>
                      </a:r>
                      <a:endParaRPr lang="en-IN" dirty="0"/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IN" dirty="0" smtClean="0"/>
                        <a:t>Metformin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250 mg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2500 mg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4-8 </a:t>
                      </a:r>
                      <a:r>
                        <a:rPr lang="en-IN" dirty="0" err="1" smtClean="0"/>
                        <a:t>hr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Urine </a:t>
                      </a:r>
                      <a:endParaRPr lang="en-IN" dirty="0"/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IN" dirty="0" smtClean="0"/>
                        <a:t>Metformin SR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500 mg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2500 mg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18-24 </a:t>
                      </a:r>
                      <a:r>
                        <a:rPr lang="en-IN" dirty="0" err="1" smtClean="0"/>
                        <a:t>hr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Urine 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631315" y="2482850"/>
            <a:ext cx="6768465" cy="309753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smtClean="0">
                <a:solidFill>
                  <a:schemeClr val="bg1"/>
                </a:solidFill>
              </a:rPr>
              <a:t>ACTION</a:t>
            </a:r>
            <a:endParaRPr lang="en-IN" sz="2400" b="1" dirty="0" smtClean="0">
              <a:solidFill>
                <a:schemeClr val="bg1"/>
              </a:solidFill>
            </a:endParaRPr>
          </a:p>
          <a:p>
            <a:pPr algn="ctr"/>
            <a:r>
              <a:rPr lang="en-IN" sz="2400" dirty="0" smtClean="0"/>
              <a:t>No </a:t>
            </a:r>
            <a:r>
              <a:rPr lang="en-IN" sz="2400" dirty="0"/>
              <a:t>action on beta </a:t>
            </a:r>
            <a:r>
              <a:rPr lang="en-IN" sz="2400" dirty="0" smtClean="0"/>
              <a:t>cells</a:t>
            </a:r>
            <a:endParaRPr lang="en-IN" sz="2400" dirty="0" smtClean="0"/>
          </a:p>
          <a:p>
            <a:r>
              <a:rPr lang="en-IN" sz="2400" dirty="0"/>
              <a:t>A</a:t>
            </a:r>
            <a:r>
              <a:rPr lang="en-IN" sz="2400" dirty="0" smtClean="0"/>
              <a:t>ct </a:t>
            </a:r>
            <a:r>
              <a:rPr lang="en-IN" sz="2400" dirty="0"/>
              <a:t>on </a:t>
            </a:r>
            <a:r>
              <a:rPr lang="en-IN" sz="2400" dirty="0" smtClean="0"/>
              <a:t>liver- </a:t>
            </a:r>
            <a:r>
              <a:rPr lang="en-IN" sz="2400" dirty="0"/>
              <a:t>I</a:t>
            </a:r>
            <a:r>
              <a:rPr lang="en-IN" sz="2400" dirty="0" smtClean="0"/>
              <a:t>nhibit gluconeogenesis &amp; </a:t>
            </a:r>
            <a:r>
              <a:rPr lang="en-IN" sz="2400" dirty="0" err="1" smtClean="0"/>
              <a:t>glycogenolysis</a:t>
            </a:r>
            <a:endParaRPr lang="en-IN" sz="2400" dirty="0" smtClean="0"/>
          </a:p>
          <a:p>
            <a:pPr algn="ctr"/>
            <a:r>
              <a:rPr lang="en-IN" dirty="0" smtClean="0"/>
              <a:t>(not </a:t>
            </a:r>
            <a:r>
              <a:rPr lang="en-IN" dirty="0"/>
              <a:t>much </a:t>
            </a:r>
            <a:r>
              <a:rPr lang="en-IN" dirty="0" err="1"/>
              <a:t>hypoglycemic</a:t>
            </a:r>
            <a:r>
              <a:rPr lang="en-IN" dirty="0"/>
              <a:t> </a:t>
            </a:r>
            <a:r>
              <a:rPr lang="en-IN" dirty="0" smtClean="0"/>
              <a:t>effect</a:t>
            </a:r>
            <a:r>
              <a:rPr lang="en-IN" dirty="0"/>
              <a:t>)</a:t>
            </a:r>
            <a:endParaRPr lang="en-IN" dirty="0" smtClean="0"/>
          </a:p>
          <a:p>
            <a:r>
              <a:rPr lang="en-IN" sz="2400" dirty="0" smtClean="0"/>
              <a:t>Inhibit Intestinal </a:t>
            </a:r>
            <a:r>
              <a:rPr lang="en-IN" sz="2400" dirty="0"/>
              <a:t>absorption of glucose hexose</a:t>
            </a:r>
            <a:endParaRPr lang="en-IN" sz="2400" dirty="0"/>
          </a:p>
          <a:p>
            <a:r>
              <a:rPr lang="en-IN" sz="2400" dirty="0"/>
              <a:t>Stimulates glucose </a:t>
            </a:r>
            <a:r>
              <a:rPr lang="en-IN" sz="2400" dirty="0" smtClean="0"/>
              <a:t>utilization</a:t>
            </a:r>
            <a:endParaRPr lang="en-IN" sz="2400" dirty="0" smtClean="0"/>
          </a:p>
          <a:p>
            <a:r>
              <a:rPr lang="en-IN" sz="2400" dirty="0" smtClean="0"/>
              <a:t>Control </a:t>
            </a:r>
            <a:r>
              <a:rPr lang="en-IN" sz="2400" dirty="0"/>
              <a:t>macro vascular complications</a:t>
            </a:r>
            <a:endParaRPr lang="en-IN" sz="2400" dirty="0"/>
          </a:p>
          <a:p>
            <a:endParaRPr lang="en-IN" sz="2400" dirty="0"/>
          </a:p>
        </p:txBody>
      </p:sp>
      <p:sp>
        <p:nvSpPr>
          <p:cNvPr id="9" name="Flowchart: Alternate Process 8"/>
          <p:cNvSpPr/>
          <p:nvPr/>
        </p:nvSpPr>
        <p:spPr>
          <a:xfrm>
            <a:off x="8400256" y="3068960"/>
            <a:ext cx="2880319" cy="1872208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 smtClean="0"/>
              <a:t>S.E  </a:t>
            </a:r>
            <a:endParaRPr lang="en-IN" sz="2800" dirty="0" smtClean="0"/>
          </a:p>
          <a:p>
            <a:pPr algn="ctr"/>
            <a:r>
              <a:rPr lang="en-IN" sz="2800" dirty="0" smtClean="0"/>
              <a:t> </a:t>
            </a:r>
            <a:r>
              <a:rPr lang="en-IN" sz="2800" dirty="0" err="1"/>
              <a:t>A</a:t>
            </a:r>
            <a:r>
              <a:rPr lang="en-IN" sz="2800" dirty="0" err="1" smtClean="0"/>
              <a:t>nemia</a:t>
            </a:r>
            <a:r>
              <a:rPr lang="en-IN" sz="2800" dirty="0" smtClean="0"/>
              <a:t> </a:t>
            </a:r>
            <a:endParaRPr lang="en-IN" sz="2800" dirty="0" smtClean="0"/>
          </a:p>
          <a:p>
            <a:r>
              <a:rPr lang="en-IN" dirty="0" smtClean="0"/>
              <a:t>(</a:t>
            </a:r>
            <a:r>
              <a:rPr lang="en-IN" dirty="0" err="1" smtClean="0"/>
              <a:t>inh</a:t>
            </a:r>
            <a:r>
              <a:rPr lang="en-IN" dirty="0" smtClean="0"/>
              <a:t> </a:t>
            </a:r>
            <a:r>
              <a:rPr lang="en-IN" dirty="0" err="1"/>
              <a:t>vit</a:t>
            </a:r>
            <a:r>
              <a:rPr lang="en-IN" dirty="0"/>
              <a:t> </a:t>
            </a:r>
            <a:r>
              <a:rPr lang="en-IN" dirty="0" smtClean="0"/>
              <a:t>B12 absorption</a:t>
            </a:r>
            <a:r>
              <a:rPr lang="en-IN" dirty="0"/>
              <a:t>)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1829780" y="5445224"/>
            <a:ext cx="4194212" cy="1412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</a:rPr>
              <a:t>Excreted in </a:t>
            </a:r>
            <a:r>
              <a:rPr lang="en-IN" sz="2400" dirty="0" smtClean="0">
                <a:solidFill>
                  <a:schemeClr val="tx1"/>
                </a:solidFill>
              </a:rPr>
              <a:t>kidney</a:t>
            </a:r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dirty="0" err="1">
                <a:solidFill>
                  <a:schemeClr val="tx1"/>
                </a:solidFill>
              </a:rPr>
              <a:t>R</a:t>
            </a:r>
            <a:r>
              <a:rPr lang="en-IN" sz="2400" dirty="0" err="1" smtClean="0">
                <a:solidFill>
                  <a:schemeClr val="tx1"/>
                </a:solidFill>
              </a:rPr>
              <a:t>adiocontrast</a:t>
            </a:r>
            <a:r>
              <a:rPr lang="en-IN" sz="2400" dirty="0" smtClean="0">
                <a:solidFill>
                  <a:schemeClr val="tx1"/>
                </a:solidFill>
              </a:rPr>
              <a:t> </a:t>
            </a:r>
            <a:r>
              <a:rPr lang="en-IN" sz="2400" dirty="0">
                <a:solidFill>
                  <a:schemeClr val="tx1"/>
                </a:solidFill>
              </a:rPr>
              <a:t>study- stop </a:t>
            </a:r>
            <a:r>
              <a:rPr lang="en-IN" sz="2400" dirty="0" smtClean="0">
                <a:solidFill>
                  <a:schemeClr val="tx1"/>
                </a:solidFill>
              </a:rPr>
              <a:t>1 </a:t>
            </a:r>
            <a:r>
              <a:rPr lang="en-IN" sz="2400" dirty="0">
                <a:solidFill>
                  <a:schemeClr val="tx1"/>
                </a:solidFill>
              </a:rPr>
              <a:t>day </a:t>
            </a:r>
            <a:r>
              <a:rPr lang="en-IN" sz="2400" dirty="0" smtClean="0">
                <a:solidFill>
                  <a:schemeClr val="tx1"/>
                </a:solidFill>
              </a:rPr>
              <a:t>before &amp; </a:t>
            </a:r>
            <a:r>
              <a:rPr lang="en-IN" sz="2400" dirty="0">
                <a:solidFill>
                  <a:schemeClr val="tx1"/>
                </a:solidFill>
              </a:rPr>
              <a:t>after study.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30080" y="151841"/>
            <a:ext cx="2430016" cy="3248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1             </a:t>
            </a:r>
            <a:r>
              <a:rPr lang="en-I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BIGUANIDES</a:t>
            </a:r>
            <a:br>
              <a:rPr lang="en-I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Oval 3"/>
          <p:cNvSpPr/>
          <p:nvPr/>
        </p:nvSpPr>
        <p:spPr>
          <a:xfrm>
            <a:off x="7608168" y="5589240"/>
            <a:ext cx="2736304" cy="1124744"/>
          </a:xfrm>
          <a:prstGeom prst="ellipse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>
                    <a:lumMod val="50000"/>
                  </a:schemeClr>
                </a:solidFill>
              </a:rPr>
              <a:t>C/I in RENAL failure</a:t>
            </a:r>
            <a:endParaRPr lang="en-IN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Flowchart: Alternate Process 5"/>
          <p:cNvSpPr/>
          <p:nvPr/>
        </p:nvSpPr>
        <p:spPr>
          <a:xfrm>
            <a:off x="8000394" y="476672"/>
            <a:ext cx="2880320" cy="1584176"/>
          </a:xfrm>
          <a:prstGeom prst="flowChartAlternateProcess">
            <a:avLst/>
          </a:prstGeom>
          <a:solidFill>
            <a:srgbClr val="F9F7A5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DOC </a:t>
            </a:r>
            <a:endParaRPr lang="en-IN" sz="28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lang="en-IN" sz="2400" b="1" dirty="0">
                <a:solidFill>
                  <a:schemeClr val="accent6">
                    <a:lumMod val="50000"/>
                  </a:schemeClr>
                </a:solidFill>
              </a:rPr>
              <a:t>T2DM with </a:t>
            </a:r>
            <a:r>
              <a:rPr lang="en-IN" sz="2400" b="1" dirty="0" smtClean="0">
                <a:solidFill>
                  <a:schemeClr val="accent6">
                    <a:lumMod val="50000"/>
                  </a:schemeClr>
                </a:solidFill>
              </a:rPr>
              <a:t>obesity</a:t>
            </a:r>
            <a:endParaRPr lang="en-IN" sz="24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lang="en-IN" sz="2400" b="1" dirty="0" smtClean="0">
                <a:solidFill>
                  <a:schemeClr val="accent6">
                    <a:lumMod val="50000"/>
                  </a:schemeClr>
                </a:solidFill>
              </a:rPr>
              <a:t>PCOS</a:t>
            </a:r>
            <a:endParaRPr lang="en-IN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/>
          <p:cNvSpPr/>
          <p:nvPr/>
        </p:nvSpPr>
        <p:spPr>
          <a:xfrm>
            <a:off x="1487488" y="188640"/>
            <a:ext cx="7272808" cy="2880320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MEGLITINIDE </a:t>
            </a:r>
            <a:endParaRPr lang="en-IN" sz="24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400" b="1" dirty="0" smtClean="0">
                <a:solidFill>
                  <a:schemeClr val="tx1"/>
                </a:solidFill>
              </a:rPr>
              <a:t>Onset</a:t>
            </a:r>
            <a:r>
              <a:rPr lang="en-IN" sz="2400" dirty="0" smtClean="0">
                <a:solidFill>
                  <a:schemeClr val="tx1"/>
                </a:solidFill>
              </a:rPr>
              <a:t> : Rapid</a:t>
            </a:r>
            <a:endParaRPr lang="en-IN" sz="2400" dirty="0" smtClean="0">
              <a:solidFill>
                <a:schemeClr val="tx1"/>
              </a:solidFill>
            </a:endParaRPr>
          </a:p>
          <a:p>
            <a:r>
              <a:rPr lang="en-IN" sz="2400" b="1" dirty="0" smtClean="0">
                <a:solidFill>
                  <a:schemeClr val="tx1"/>
                </a:solidFill>
              </a:rPr>
              <a:t>Action</a:t>
            </a:r>
            <a:r>
              <a:rPr lang="en-IN" sz="2400" dirty="0" smtClean="0">
                <a:solidFill>
                  <a:schemeClr val="tx1"/>
                </a:solidFill>
              </a:rPr>
              <a:t> : Short</a:t>
            </a:r>
            <a:endParaRPr lang="en-IN" sz="2400" dirty="0" smtClean="0">
              <a:solidFill>
                <a:schemeClr val="tx1"/>
              </a:solidFill>
            </a:endParaRPr>
          </a:p>
          <a:p>
            <a:r>
              <a:rPr lang="en-IN" sz="2400" b="1" dirty="0" smtClean="0">
                <a:solidFill>
                  <a:schemeClr val="tx1"/>
                </a:solidFill>
              </a:rPr>
              <a:t>Use</a:t>
            </a:r>
            <a:r>
              <a:rPr lang="en-IN" sz="2400" dirty="0" smtClean="0">
                <a:solidFill>
                  <a:schemeClr val="tx1"/>
                </a:solidFill>
              </a:rPr>
              <a:t> :Treat </a:t>
            </a:r>
            <a:r>
              <a:rPr lang="en-IN" sz="2400" dirty="0">
                <a:solidFill>
                  <a:schemeClr val="tx1"/>
                </a:solidFill>
              </a:rPr>
              <a:t>post </a:t>
            </a:r>
            <a:r>
              <a:rPr lang="en-IN" sz="2400" dirty="0" smtClean="0">
                <a:solidFill>
                  <a:schemeClr val="tx1"/>
                </a:solidFill>
              </a:rPr>
              <a:t>prandial hyperglycaemia</a:t>
            </a:r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 err="1" smtClean="0">
                <a:solidFill>
                  <a:schemeClr val="tx1"/>
                </a:solidFill>
              </a:rPr>
              <a:t>Adv</a:t>
            </a:r>
            <a:r>
              <a:rPr lang="en-IN" sz="2400" dirty="0" smtClean="0">
                <a:solidFill>
                  <a:schemeClr val="tx1"/>
                </a:solidFill>
              </a:rPr>
              <a:t> :  Safe </a:t>
            </a:r>
            <a:r>
              <a:rPr lang="en-IN" sz="2400" dirty="0">
                <a:solidFill>
                  <a:schemeClr val="tx1"/>
                </a:solidFill>
              </a:rPr>
              <a:t>in renal failure (</a:t>
            </a:r>
            <a:r>
              <a:rPr lang="en-IN" sz="2400" dirty="0" err="1">
                <a:solidFill>
                  <a:schemeClr val="tx1"/>
                </a:solidFill>
              </a:rPr>
              <a:t>expt</a:t>
            </a:r>
            <a:r>
              <a:rPr lang="en-IN" sz="2400" dirty="0">
                <a:solidFill>
                  <a:schemeClr val="tx1"/>
                </a:solidFill>
              </a:rPr>
              <a:t>- </a:t>
            </a:r>
            <a:r>
              <a:rPr lang="en-IN" sz="2400" dirty="0" smtClean="0">
                <a:solidFill>
                  <a:schemeClr val="tx1"/>
                </a:solidFill>
              </a:rPr>
              <a:t>glyburide)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6" name="Snip Diagonal Corner Rectangle 5"/>
          <p:cNvSpPr/>
          <p:nvPr/>
        </p:nvSpPr>
        <p:spPr>
          <a:xfrm>
            <a:off x="2758441" y="3284984"/>
            <a:ext cx="7560840" cy="2880320"/>
          </a:xfrm>
          <a:prstGeom prst="snip2Diag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ALPHA GLUCOSIDASE INHIBITOR</a:t>
            </a:r>
            <a:endParaRPr lang="en-IN" sz="2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Action</a:t>
            </a:r>
            <a:r>
              <a:rPr lang="en-IN" sz="2400" dirty="0">
                <a:solidFill>
                  <a:schemeClr val="tx1"/>
                </a:solidFill>
              </a:rPr>
              <a:t> : </a:t>
            </a:r>
            <a:r>
              <a:rPr lang="en-IN" sz="2400" dirty="0" smtClean="0">
                <a:solidFill>
                  <a:schemeClr val="tx1"/>
                </a:solidFill>
              </a:rPr>
              <a:t>In </a:t>
            </a:r>
            <a:r>
              <a:rPr lang="en-IN" sz="2400" dirty="0">
                <a:solidFill>
                  <a:schemeClr val="tx1"/>
                </a:solidFill>
              </a:rPr>
              <a:t>Intestine , Dec glucose absorption</a:t>
            </a:r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Use</a:t>
            </a:r>
            <a:r>
              <a:rPr lang="en-IN" sz="2400" dirty="0">
                <a:solidFill>
                  <a:schemeClr val="tx1"/>
                </a:solidFill>
              </a:rPr>
              <a:t>: Dec </a:t>
            </a:r>
            <a:r>
              <a:rPr lang="en-IN" sz="2400" dirty="0" smtClean="0">
                <a:solidFill>
                  <a:schemeClr val="tx1"/>
                </a:solidFill>
              </a:rPr>
              <a:t>PP </a:t>
            </a:r>
            <a:r>
              <a:rPr lang="en-IN" sz="2400" dirty="0" err="1" smtClean="0">
                <a:solidFill>
                  <a:schemeClr val="tx1"/>
                </a:solidFill>
              </a:rPr>
              <a:t>Hyperglycemia</a:t>
            </a:r>
            <a:r>
              <a:rPr lang="en-IN" sz="2400" dirty="0" smtClean="0">
                <a:solidFill>
                  <a:schemeClr val="tx1"/>
                </a:solidFill>
              </a:rPr>
              <a:t>, </a:t>
            </a:r>
            <a:endParaRPr lang="en-IN" sz="2400" dirty="0" smtClean="0">
              <a:solidFill>
                <a:schemeClr val="tx1"/>
              </a:solidFill>
            </a:endParaRPr>
          </a:p>
          <a:p>
            <a:r>
              <a:rPr lang="en-IN" sz="2400" b="1" dirty="0" smtClean="0">
                <a:solidFill>
                  <a:schemeClr val="accent6">
                    <a:lumMod val="75000"/>
                  </a:schemeClr>
                </a:solidFill>
              </a:rPr>
              <a:t>Treat Pre Diabetic (also if F/h/o +)</a:t>
            </a:r>
            <a:endParaRPr lang="en-IN" sz="24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S.E </a:t>
            </a:r>
            <a:r>
              <a:rPr lang="en-IN" sz="2400" dirty="0">
                <a:solidFill>
                  <a:schemeClr val="tx1"/>
                </a:solidFill>
              </a:rPr>
              <a:t>– Flatulence, Gaseous Distension, </a:t>
            </a:r>
            <a:r>
              <a:rPr lang="en-IN" sz="2400" dirty="0" smtClean="0">
                <a:solidFill>
                  <a:schemeClr val="tx1"/>
                </a:solidFill>
              </a:rPr>
              <a:t>Diarrhoea</a:t>
            </a:r>
            <a:endParaRPr lang="en-IN" sz="2400" dirty="0" smtClean="0">
              <a:solidFill>
                <a:schemeClr val="tx1"/>
              </a:solidFill>
            </a:endParaRPr>
          </a:p>
          <a:p>
            <a:r>
              <a:rPr lang="en-IN" sz="2400" b="1" dirty="0" smtClean="0">
                <a:solidFill>
                  <a:schemeClr val="tx1"/>
                </a:solidFill>
              </a:rPr>
              <a:t>C/I</a:t>
            </a:r>
            <a:r>
              <a:rPr lang="en-IN" sz="2400" dirty="0" smtClean="0">
                <a:solidFill>
                  <a:schemeClr val="tx1"/>
                </a:solidFill>
              </a:rPr>
              <a:t>: IBD </a:t>
            </a:r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 smtClean="0">
                <a:solidFill>
                  <a:schemeClr val="tx1"/>
                </a:solidFill>
              </a:rPr>
              <a:t>Drugs</a:t>
            </a:r>
            <a:r>
              <a:rPr lang="en-IN" sz="2400" dirty="0" smtClean="0">
                <a:solidFill>
                  <a:schemeClr val="tx1"/>
                </a:solidFill>
              </a:rPr>
              <a:t>: </a:t>
            </a:r>
            <a:r>
              <a:rPr lang="en-IN" sz="2400" dirty="0" err="1" smtClean="0">
                <a:solidFill>
                  <a:schemeClr val="tx1"/>
                </a:solidFill>
              </a:rPr>
              <a:t>Acarbose</a:t>
            </a:r>
            <a:r>
              <a:rPr lang="en-IN" sz="2400" dirty="0" smtClean="0">
                <a:solidFill>
                  <a:schemeClr val="tx1"/>
                </a:solidFill>
              </a:rPr>
              <a:t>, </a:t>
            </a:r>
            <a:r>
              <a:rPr lang="en-IN" sz="2400" dirty="0" err="1" smtClean="0">
                <a:solidFill>
                  <a:schemeClr val="tx1"/>
                </a:solidFill>
              </a:rPr>
              <a:t>Voglibose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" name="Line Callout 1 1"/>
          <p:cNvSpPr/>
          <p:nvPr/>
        </p:nvSpPr>
        <p:spPr>
          <a:xfrm>
            <a:off x="7536160" y="5301208"/>
            <a:ext cx="3131840" cy="1556792"/>
          </a:xfrm>
          <a:prstGeom prst="borderCallout1">
            <a:avLst>
              <a:gd name="adj1" fmla="val 64927"/>
              <a:gd name="adj2" fmla="val 4"/>
              <a:gd name="adj3" fmla="val 45423"/>
              <a:gd name="adj4" fmla="val -33577"/>
            </a:avLst>
          </a:prstGeom>
          <a:solidFill>
            <a:srgbClr val="F9F7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000" b="1" dirty="0" smtClean="0">
                <a:solidFill>
                  <a:schemeClr val="tx1"/>
                </a:solidFill>
              </a:rPr>
              <a:t>Min- max dose: 0.2 </a:t>
            </a:r>
            <a:r>
              <a:rPr lang="en-GB" sz="2000" b="1" dirty="0">
                <a:solidFill>
                  <a:schemeClr val="tx1"/>
                </a:solidFill>
              </a:rPr>
              <a:t>- 0.9 D</a:t>
            </a:r>
            <a:r>
              <a:rPr lang="en-GB" sz="2000" b="1" dirty="0" smtClean="0">
                <a:solidFill>
                  <a:schemeClr val="tx1"/>
                </a:solidFill>
              </a:rPr>
              <a:t>ose: 1- 3</a:t>
            </a:r>
            <a:endParaRPr lang="en-GB" sz="2000" b="1" dirty="0" smtClean="0">
              <a:solidFill>
                <a:schemeClr val="tx1"/>
              </a:solidFill>
            </a:endParaRPr>
          </a:p>
          <a:p>
            <a:r>
              <a:rPr lang="en-GB" sz="2000" b="1" dirty="0" smtClean="0">
                <a:solidFill>
                  <a:schemeClr val="tx1"/>
                </a:solidFill>
              </a:rPr>
              <a:t>Action :1 </a:t>
            </a:r>
            <a:r>
              <a:rPr lang="en-GB" sz="2000" b="1" dirty="0">
                <a:solidFill>
                  <a:schemeClr val="tx1"/>
                </a:solidFill>
              </a:rPr>
              <a:t>- 1.5 </a:t>
            </a:r>
            <a:endParaRPr lang="en-GB" sz="2000" b="1" dirty="0" smtClean="0">
              <a:solidFill>
                <a:schemeClr val="tx1"/>
              </a:solidFill>
            </a:endParaRPr>
          </a:p>
          <a:p>
            <a:r>
              <a:rPr lang="en-GB" sz="2000" b="1" dirty="0" smtClean="0">
                <a:solidFill>
                  <a:schemeClr val="tx1"/>
                </a:solidFill>
              </a:rPr>
              <a:t>Excretion :Urine </a:t>
            </a:r>
            <a:r>
              <a:rPr lang="en-GB" sz="2000" b="1" dirty="0">
                <a:solidFill>
                  <a:schemeClr val="tx1"/>
                </a:solidFill>
              </a:rPr>
              <a:t>(5</a:t>
            </a:r>
            <a:r>
              <a:rPr lang="en-GB" sz="2000" b="1" dirty="0" smtClean="0">
                <a:solidFill>
                  <a:schemeClr val="tx1"/>
                </a:solidFill>
              </a:rPr>
              <a:t>%),        Faeces </a:t>
            </a:r>
            <a:r>
              <a:rPr lang="en-GB" sz="2000" b="1" dirty="0">
                <a:solidFill>
                  <a:schemeClr val="tx1"/>
                </a:solidFill>
              </a:rPr>
              <a:t>(95%) </a:t>
            </a:r>
            <a:endParaRPr lang="en-IN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596" y="0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INSULIN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571480"/>
            <a:ext cx="9144000" cy="6286520"/>
          </a:xfrm>
        </p:spPr>
        <p:txBody>
          <a:bodyPr>
            <a:normAutofit fontScale="85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sz="2600" dirty="0" smtClean="0"/>
              <a:t>Fredrick </a:t>
            </a:r>
            <a:r>
              <a:rPr lang="en-US" sz="2600" dirty="0" err="1" smtClean="0"/>
              <a:t>Banting</a:t>
            </a:r>
            <a:r>
              <a:rPr lang="en-US" sz="2600" dirty="0" smtClean="0"/>
              <a:t> (Nobel prize) – 1920 Insulin</a:t>
            </a: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Max </a:t>
            </a:r>
            <a:r>
              <a:rPr lang="en-US" sz="2600" dirty="0" err="1" smtClean="0"/>
              <a:t>dec</a:t>
            </a:r>
            <a:r>
              <a:rPr lang="en-US" sz="2600" dirty="0" smtClean="0"/>
              <a:t> in HbA1c</a:t>
            </a: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S.E- </a:t>
            </a:r>
            <a:r>
              <a:rPr lang="en-GB" sz="2600" dirty="0"/>
              <a:t>Hypoglycaemia </a:t>
            </a:r>
            <a:endParaRPr lang="en-GB" sz="2600" dirty="0"/>
          </a:p>
          <a:p>
            <a:pPr marL="0" indent="0">
              <a:buNone/>
            </a:pPr>
            <a:r>
              <a:rPr lang="en-GB" sz="2600" dirty="0" smtClean="0"/>
              <a:t>         Weight </a:t>
            </a:r>
            <a:r>
              <a:rPr lang="en-GB" sz="2600" dirty="0"/>
              <a:t>gain ( well correlated with the total daily dose of insulin). </a:t>
            </a:r>
            <a:endParaRPr lang="en-GB" sz="2600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1026" name="Picture 2" descr="C:\Users\Abi\Desktop\dm\BantingAndDog_1923_620px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067" y="620688"/>
            <a:ext cx="7874000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552" y="44624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 smtClean="0"/>
              <a:t>INDICATION IN TYPE 2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396240"/>
            <a:ext cx="9144000" cy="64617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/>
              <a:t>At diagnosis:</a:t>
            </a:r>
            <a:endParaRPr lang="en-IN" sz="2400" b="1" dirty="0" smtClean="0"/>
          </a:p>
          <a:p>
            <a:r>
              <a:rPr lang="en-IN" sz="2400" dirty="0" smtClean="0"/>
              <a:t>Symptomatic hyperglycaemia – LOW</a:t>
            </a:r>
            <a:r>
              <a:rPr lang="en-IN" sz="2400" dirty="0"/>
              <a:t>,</a:t>
            </a:r>
            <a:r>
              <a:rPr lang="en-IN" sz="2400" dirty="0" smtClean="0"/>
              <a:t> Polyuria, Polydipsia, Polyphagia</a:t>
            </a:r>
            <a:endParaRPr lang="en-IN" sz="2400" dirty="0"/>
          </a:p>
          <a:p>
            <a:r>
              <a:rPr lang="en-IN" sz="2400" dirty="0" smtClean="0"/>
              <a:t>Fasting      &gt; </a:t>
            </a:r>
            <a:r>
              <a:rPr lang="en-IN" sz="2400" dirty="0"/>
              <a:t>270 mg/dl </a:t>
            </a:r>
            <a:r>
              <a:rPr lang="en-IN" sz="2400" dirty="0" smtClean="0"/>
              <a:t>    or     </a:t>
            </a:r>
            <a:r>
              <a:rPr lang="en-IN" sz="2400" dirty="0"/>
              <a:t>HbA1c &gt;9</a:t>
            </a:r>
            <a:r>
              <a:rPr lang="en-IN" sz="2400" dirty="0" smtClean="0"/>
              <a:t>%</a:t>
            </a:r>
            <a:endParaRPr lang="en-IN" sz="2400" dirty="0" smtClean="0"/>
          </a:p>
          <a:p>
            <a:r>
              <a:rPr lang="en-IN" sz="2400" dirty="0" smtClean="0"/>
              <a:t>Severe </a:t>
            </a:r>
            <a:r>
              <a:rPr lang="en-IN" sz="2400" dirty="0"/>
              <a:t>infections </a:t>
            </a:r>
            <a:endParaRPr lang="en-IN" sz="2400" dirty="0" smtClean="0"/>
          </a:p>
          <a:p>
            <a:r>
              <a:rPr lang="en-IN" sz="2400" dirty="0" smtClean="0"/>
              <a:t>Presence </a:t>
            </a:r>
            <a:r>
              <a:rPr lang="en-IN" sz="2400" dirty="0"/>
              <a:t>of </a:t>
            </a:r>
            <a:r>
              <a:rPr lang="en-IN" sz="2400" dirty="0" smtClean="0"/>
              <a:t>ketosis</a:t>
            </a:r>
            <a:endParaRPr lang="en-IN" sz="2400" dirty="0" smtClean="0"/>
          </a:p>
          <a:p>
            <a:pPr marL="0" indent="0">
              <a:buNone/>
            </a:pPr>
            <a:r>
              <a:rPr lang="en-IN" sz="2400" b="1" dirty="0" smtClean="0"/>
              <a:t>Other situations</a:t>
            </a:r>
            <a:r>
              <a:rPr lang="en-IN" sz="2400" dirty="0" smtClean="0"/>
              <a:t> </a:t>
            </a:r>
            <a:r>
              <a:rPr lang="en-IN" sz="2400" dirty="0"/>
              <a:t>:</a:t>
            </a:r>
            <a:endParaRPr lang="en-IN" sz="2400" dirty="0"/>
          </a:p>
          <a:p>
            <a:r>
              <a:rPr lang="en-IN" sz="2400" dirty="0"/>
              <a:t>Not responding to optimal doses / Intolerant / </a:t>
            </a:r>
            <a:r>
              <a:rPr lang="en-IN" sz="2400" dirty="0" smtClean="0"/>
              <a:t>C/I </a:t>
            </a:r>
            <a:r>
              <a:rPr lang="en-IN" sz="2400" dirty="0"/>
              <a:t>to </a:t>
            </a:r>
            <a:r>
              <a:rPr lang="en-IN" sz="2400" dirty="0" smtClean="0"/>
              <a:t>OHA. </a:t>
            </a:r>
            <a:endParaRPr lang="en-IN" sz="2400" dirty="0" smtClean="0"/>
          </a:p>
          <a:p>
            <a:r>
              <a:rPr lang="en-IN" sz="2400" dirty="0" smtClean="0"/>
              <a:t> </a:t>
            </a:r>
            <a:r>
              <a:rPr lang="en-IN" sz="2400" dirty="0"/>
              <a:t>Acute </a:t>
            </a:r>
            <a:r>
              <a:rPr lang="en-IN" sz="2400" dirty="0" smtClean="0"/>
              <a:t>hyperglycaemia/ DKA/ </a:t>
            </a:r>
            <a:r>
              <a:rPr lang="en-IN" sz="2400" dirty="0"/>
              <a:t>HHS / Lactic acidosis</a:t>
            </a:r>
            <a:r>
              <a:rPr lang="en-IN" sz="2400" dirty="0" smtClean="0"/>
              <a:t>.</a:t>
            </a:r>
            <a:endParaRPr lang="en-IN" sz="2400" dirty="0"/>
          </a:p>
          <a:p>
            <a:r>
              <a:rPr lang="en-IN" sz="2400" dirty="0"/>
              <a:t>Stress – Acute MI, Stroke, Acute infections, TB, Trauma &amp; hospitalisation. </a:t>
            </a:r>
            <a:endParaRPr lang="en-IN" sz="2400" dirty="0"/>
          </a:p>
          <a:p>
            <a:r>
              <a:rPr lang="en-IN" sz="2400" dirty="0"/>
              <a:t> Pregnancy and lactation</a:t>
            </a:r>
            <a:r>
              <a:rPr lang="en-IN" sz="2400" dirty="0" smtClean="0"/>
              <a:t>.</a:t>
            </a:r>
            <a:endParaRPr lang="en-IN" sz="2400" dirty="0"/>
          </a:p>
          <a:p>
            <a:r>
              <a:rPr lang="en-IN" sz="2400" dirty="0"/>
              <a:t> </a:t>
            </a:r>
            <a:r>
              <a:rPr lang="en-IN" sz="2400" dirty="0" err="1"/>
              <a:t>Peri</a:t>
            </a:r>
            <a:r>
              <a:rPr lang="en-IN" sz="2400" dirty="0"/>
              <a:t>-operative state</a:t>
            </a:r>
            <a:r>
              <a:rPr lang="en-IN" sz="2400" dirty="0" smtClean="0"/>
              <a:t>.</a:t>
            </a:r>
            <a:endParaRPr lang="en-IN" sz="2400" dirty="0"/>
          </a:p>
          <a:p>
            <a:r>
              <a:rPr lang="en-IN" sz="2400" dirty="0"/>
              <a:t> Hepatic and Renal failure / </a:t>
            </a:r>
            <a:r>
              <a:rPr lang="en-IN" sz="2400" dirty="0" smtClean="0"/>
              <a:t>transplantation.  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1504" y="116632"/>
            <a:ext cx="9036496" cy="684076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631315" y="116840"/>
          <a:ext cx="9144000" cy="7132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5830"/>
                <a:gridCol w="2520315"/>
                <a:gridCol w="4427855"/>
              </a:tblGrid>
              <a:tr h="426720">
                <a:tc rowSpan="3">
                  <a:txBody>
                    <a:bodyPr/>
                    <a:lstStyle/>
                    <a:p>
                      <a:r>
                        <a:rPr lang="en-IN" sz="2200" dirty="0" smtClean="0"/>
                        <a:t>Ultra short acting</a:t>
                      </a:r>
                      <a:endParaRPr lang="en-IN" sz="2200" dirty="0"/>
                    </a:p>
                    <a:p>
                      <a:r>
                        <a:rPr lang="en-IN" sz="2200" dirty="0" smtClean="0"/>
                        <a:t>Onset :10-20 min</a:t>
                      </a:r>
                      <a:endParaRPr lang="en-IN" sz="2200" dirty="0"/>
                    </a:p>
                    <a:p>
                      <a:r>
                        <a:rPr lang="en-IN" sz="2200" dirty="0" smtClean="0"/>
                        <a:t>Action : 3-4 </a:t>
                      </a:r>
                      <a:r>
                        <a:rPr lang="en-IN" sz="2200" dirty="0" err="1" smtClean="0"/>
                        <a:t>hr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 err="1" smtClean="0"/>
                        <a:t>Lispro</a:t>
                      </a:r>
                      <a:r>
                        <a:rPr lang="en-IN" sz="2200" dirty="0" smtClean="0"/>
                        <a:t> </a:t>
                      </a:r>
                      <a:endParaRPr lang="en-IN" sz="22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IN" sz="2200" dirty="0" smtClean="0"/>
                        <a:t>Treat PP</a:t>
                      </a:r>
                      <a:r>
                        <a:rPr lang="en-IN" sz="2200" baseline="0" dirty="0" smtClean="0"/>
                        <a:t> </a:t>
                      </a:r>
                      <a:r>
                        <a:rPr lang="en-IN" sz="2200" baseline="0" dirty="0" err="1" smtClean="0"/>
                        <a:t>Hyperglycemia</a:t>
                      </a:r>
                      <a:endParaRPr lang="en-IN" sz="2200" baseline="0" dirty="0" smtClean="0"/>
                    </a:p>
                    <a:p>
                      <a:r>
                        <a:rPr lang="en-IN" sz="24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Premixed I</a:t>
                      </a:r>
                      <a:r>
                        <a:rPr lang="en-IN" sz="24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nsulin –</a:t>
                      </a:r>
                      <a:r>
                        <a:rPr lang="en-IN" sz="2400" b="1" dirty="0" err="1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Lispro</a:t>
                      </a:r>
                      <a:r>
                        <a:rPr lang="en-IN" sz="24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+ </a:t>
                      </a:r>
                      <a:r>
                        <a:rPr lang="en-IN" sz="2400" b="1" dirty="0" err="1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Aspart</a:t>
                      </a:r>
                      <a:r>
                        <a:rPr lang="en-IN" sz="24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   </a:t>
                      </a:r>
                      <a:endParaRPr lang="en-IN" sz="2400" b="1" dirty="0" smtClean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en-IN" sz="24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Co-formulation</a:t>
                      </a:r>
                      <a:r>
                        <a:rPr lang="en-IN" sz="24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–</a:t>
                      </a:r>
                      <a:r>
                        <a:rPr lang="en-IN" sz="2400" b="1" dirty="0" err="1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IDegAsp</a:t>
                      </a:r>
                      <a:r>
                        <a:rPr lang="en-IN" sz="24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(70/30</a:t>
                      </a:r>
                      <a:r>
                        <a:rPr lang="en-IN" sz="2400" b="1" dirty="0" smtClean="0">
                          <a:solidFill>
                            <a:srgbClr val="EE18AC"/>
                          </a:solidFill>
                        </a:rPr>
                        <a:t>)</a:t>
                      </a:r>
                      <a:endParaRPr lang="en-IN" sz="2400" b="1" dirty="0" smtClean="0">
                        <a:solidFill>
                          <a:srgbClr val="EE18AC"/>
                        </a:solidFill>
                      </a:endParaRPr>
                    </a:p>
                  </a:txBody>
                  <a:tcPr/>
                </a:tc>
              </a:tr>
              <a:tr h="42672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 err="1" smtClean="0"/>
                        <a:t>Aspart</a:t>
                      </a:r>
                      <a:r>
                        <a:rPr lang="en-IN" sz="2200" dirty="0" smtClean="0"/>
                        <a:t> </a:t>
                      </a:r>
                      <a:endParaRPr lang="en-IN" sz="2200" dirty="0"/>
                    </a:p>
                  </a:txBody>
                  <a:tcPr/>
                </a:tc>
                <a:tc vMerge="1">
                  <a:tcPr/>
                </a:tc>
              </a:tr>
              <a:tr h="103632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 err="1" smtClean="0"/>
                        <a:t>Glulysine</a:t>
                      </a:r>
                      <a:r>
                        <a:rPr lang="en-IN" sz="2200" dirty="0" smtClean="0"/>
                        <a:t> </a:t>
                      </a:r>
                      <a:endParaRPr lang="en-IN" sz="2200" dirty="0"/>
                    </a:p>
                  </a:txBody>
                  <a:tcPr/>
                </a:tc>
                <a:tc vMerge="1">
                  <a:tcPr/>
                </a:tc>
              </a:tr>
              <a:tr h="1097280">
                <a:tc rowSpan="2">
                  <a:txBody>
                    <a:bodyPr/>
                    <a:lstStyle/>
                    <a:p>
                      <a:r>
                        <a:rPr lang="en-IN" sz="2200" dirty="0" smtClean="0"/>
                        <a:t>Short acting</a:t>
                      </a:r>
                      <a:endParaRPr lang="en-IN" sz="2200" dirty="0"/>
                    </a:p>
                    <a:p>
                      <a:r>
                        <a:rPr lang="en-IN" sz="2200" dirty="0" smtClean="0"/>
                        <a:t>Onset : 30 min</a:t>
                      </a:r>
                      <a:endParaRPr lang="en-IN" sz="2200" dirty="0"/>
                    </a:p>
                    <a:p>
                      <a:r>
                        <a:rPr lang="en-IN" sz="2200" dirty="0" smtClean="0"/>
                        <a:t>Action: 5-6hr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b="1" dirty="0" smtClean="0">
                          <a:solidFill>
                            <a:srgbClr val="00B050"/>
                          </a:solidFill>
                        </a:rPr>
                        <a:t>Regular insulin</a:t>
                      </a:r>
                      <a:r>
                        <a:rPr lang="en-IN" sz="2200" dirty="0" smtClean="0">
                          <a:solidFill>
                            <a:srgbClr val="00B050"/>
                          </a:solidFill>
                        </a:rPr>
                        <a:t>*</a:t>
                      </a:r>
                      <a:endParaRPr lang="en-IN" sz="22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 smtClean="0"/>
                        <a:t>S.C</a:t>
                      </a:r>
                      <a:endParaRPr lang="en-IN" sz="22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200" dirty="0" smtClean="0"/>
                        <a:t>I.V –DKA, ↑K</a:t>
                      </a:r>
                      <a:r>
                        <a:rPr lang="en-IN" sz="2200" baseline="30000" dirty="0" smtClean="0"/>
                        <a:t>+</a:t>
                      </a:r>
                      <a:r>
                        <a:rPr lang="en-IN" sz="2200" baseline="0" dirty="0" smtClean="0"/>
                        <a:t> , </a:t>
                      </a:r>
                      <a:r>
                        <a:rPr lang="en-IN" sz="2200" dirty="0" smtClean="0"/>
                        <a:t>Hyperosmolar coma</a:t>
                      </a:r>
                      <a:endParaRPr lang="en-IN" sz="2200" dirty="0" smtClean="0"/>
                    </a:p>
                  </a:txBody>
                  <a:tcPr/>
                </a:tc>
              </a:tr>
              <a:tr h="42672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 smtClean="0"/>
                        <a:t>Semi </a:t>
                      </a:r>
                      <a:r>
                        <a:rPr lang="en-IN" sz="2200" dirty="0" err="1" smtClean="0"/>
                        <a:t>Lente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200" dirty="0"/>
                    </a:p>
                  </a:txBody>
                  <a:tcPr/>
                </a:tc>
              </a:tr>
              <a:tr h="762000">
                <a:tc rowSpan="2">
                  <a:txBody>
                    <a:bodyPr/>
                    <a:lstStyle/>
                    <a:p>
                      <a:r>
                        <a:rPr lang="en-IN" sz="2200" dirty="0" smtClean="0"/>
                        <a:t>Intermediate 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 err="1" smtClean="0"/>
                        <a:t>Lente</a:t>
                      </a:r>
                      <a:r>
                        <a:rPr lang="en-IN" sz="2200" dirty="0" smtClean="0"/>
                        <a:t> 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 smtClean="0"/>
                        <a:t>Semi + ultra </a:t>
                      </a:r>
                      <a:r>
                        <a:rPr lang="en-IN" sz="2200" dirty="0" err="1" smtClean="0"/>
                        <a:t>Lente</a:t>
                      </a:r>
                      <a:endParaRPr lang="en-IN" sz="2200" dirty="0" smtClean="0"/>
                    </a:p>
                    <a:p>
                      <a:r>
                        <a:rPr lang="en-IN" sz="2200" dirty="0" err="1" smtClean="0"/>
                        <a:t>Mixtard</a:t>
                      </a:r>
                      <a:r>
                        <a:rPr lang="en-IN" sz="2200" dirty="0" smtClean="0"/>
                        <a:t> – 30:70</a:t>
                      </a:r>
                      <a:r>
                        <a:rPr lang="en-IN" sz="2200" baseline="0" dirty="0" smtClean="0"/>
                        <a:t> 50:50</a:t>
                      </a:r>
                      <a:endParaRPr lang="en-IN" sz="2200" dirty="0"/>
                    </a:p>
                  </a:txBody>
                  <a:tcPr/>
                </a:tc>
              </a:tr>
              <a:tr h="42672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b="1" dirty="0" smtClean="0">
                          <a:solidFill>
                            <a:srgbClr val="00B050"/>
                          </a:solidFill>
                        </a:rPr>
                        <a:t>NPH </a:t>
                      </a:r>
                      <a:r>
                        <a:rPr lang="en-IN" sz="2200" b="1" dirty="0" err="1" smtClean="0">
                          <a:solidFill>
                            <a:srgbClr val="00B050"/>
                          </a:solidFill>
                        </a:rPr>
                        <a:t>isophane</a:t>
                      </a:r>
                      <a:r>
                        <a:rPr lang="en-IN" sz="2200" b="1" dirty="0" smtClean="0">
                          <a:solidFill>
                            <a:srgbClr val="00B050"/>
                          </a:solidFill>
                        </a:rPr>
                        <a:t>*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200" dirty="0"/>
                    </a:p>
                  </a:txBody>
                  <a:tcPr/>
                </a:tc>
              </a:tr>
              <a:tr h="1432560">
                <a:tc>
                  <a:txBody>
                    <a:bodyPr/>
                    <a:lstStyle/>
                    <a:p>
                      <a:r>
                        <a:rPr lang="en-IN" sz="2200" dirty="0" smtClean="0"/>
                        <a:t>Longer</a:t>
                      </a:r>
                      <a:r>
                        <a:rPr lang="en-IN" sz="2200" baseline="0" dirty="0" smtClean="0"/>
                        <a:t> acting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 smtClean="0"/>
                        <a:t>Ultra </a:t>
                      </a:r>
                      <a:r>
                        <a:rPr lang="en-IN" sz="2200" dirty="0" err="1" smtClean="0"/>
                        <a:t>lente</a:t>
                      </a:r>
                      <a:r>
                        <a:rPr lang="en-IN" sz="2200" dirty="0" smtClean="0"/>
                        <a:t>, </a:t>
                      </a:r>
                      <a:r>
                        <a:rPr lang="en-IN" sz="2200" dirty="0" err="1" smtClean="0"/>
                        <a:t>Detemer</a:t>
                      </a:r>
                      <a:r>
                        <a:rPr lang="en-IN" sz="2200" dirty="0" smtClean="0"/>
                        <a:t>, </a:t>
                      </a:r>
                      <a:endParaRPr lang="en-IN" sz="2200" dirty="0" smtClean="0"/>
                    </a:p>
                    <a:p>
                      <a:r>
                        <a:rPr lang="en-IN" sz="2200" b="1" dirty="0" err="1" smtClean="0">
                          <a:solidFill>
                            <a:srgbClr val="EE18AC"/>
                          </a:solidFill>
                        </a:rPr>
                        <a:t>Glargine</a:t>
                      </a:r>
                      <a:endParaRPr lang="en-IN" sz="2200" b="1" dirty="0" smtClean="0">
                        <a:solidFill>
                          <a:srgbClr val="EE18AC"/>
                        </a:solidFill>
                      </a:endParaRPr>
                    </a:p>
                    <a:p>
                      <a:r>
                        <a:rPr lang="en-IN" sz="2200" b="1" dirty="0" err="1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Degludec</a:t>
                      </a:r>
                      <a:endParaRPr lang="en-IN" sz="22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 smtClean="0"/>
                        <a:t>Sustained, </a:t>
                      </a:r>
                      <a:r>
                        <a:rPr lang="en-IN" sz="2200" dirty="0" err="1" smtClean="0"/>
                        <a:t>peakless</a:t>
                      </a:r>
                      <a:r>
                        <a:rPr lang="en-IN" sz="2200" dirty="0" smtClean="0"/>
                        <a:t>, no sudden </a:t>
                      </a:r>
                      <a:r>
                        <a:rPr lang="en-IN" sz="2200" dirty="0" err="1" smtClean="0"/>
                        <a:t>hypoglycemia</a:t>
                      </a:r>
                      <a:endParaRPr lang="en-IN" sz="2200" dirty="0" smtClean="0"/>
                    </a:p>
                    <a:p>
                      <a:r>
                        <a:rPr lang="en-IN" sz="2200" b="1" dirty="0" smtClean="0">
                          <a:solidFill>
                            <a:srgbClr val="EE18AC"/>
                          </a:solidFill>
                        </a:rPr>
                        <a:t>Act</a:t>
                      </a:r>
                      <a:r>
                        <a:rPr lang="en-IN" sz="2200" b="1" baseline="0" dirty="0" smtClean="0">
                          <a:solidFill>
                            <a:srgbClr val="EE18AC"/>
                          </a:solidFill>
                        </a:rPr>
                        <a:t> in acidic </a:t>
                      </a:r>
                      <a:r>
                        <a:rPr lang="en-IN" sz="2200" b="1" baseline="0" dirty="0" err="1" smtClean="0">
                          <a:solidFill>
                            <a:srgbClr val="EE18AC"/>
                          </a:solidFill>
                        </a:rPr>
                        <a:t>ph</a:t>
                      </a:r>
                      <a:endParaRPr lang="en-IN" sz="2200" b="1" dirty="0" smtClean="0">
                        <a:solidFill>
                          <a:srgbClr val="EE18AC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200" b="1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48 </a:t>
                      </a:r>
                      <a:r>
                        <a:rPr lang="en-IN" sz="2200" b="1" baseline="0" dirty="0" err="1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hr</a:t>
                      </a:r>
                      <a:r>
                        <a:rPr lang="en-IN" sz="2200" b="1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(3 dose / </a:t>
                      </a:r>
                      <a:r>
                        <a:rPr lang="en-IN" sz="2200" b="1" baseline="0" dirty="0" err="1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wk</a:t>
                      </a:r>
                      <a:r>
                        <a:rPr lang="en-IN" sz="2200" b="1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en-IN" sz="2200" b="1" dirty="0" smtClean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lang="en-IN" sz="2200" dirty="0" smtClean="0"/>
                        <a:t>Inhaled Insulin </a:t>
                      </a:r>
                      <a:endParaRPr lang="en-IN" sz="22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b="1" dirty="0" err="1" smtClean="0">
                          <a:solidFill>
                            <a:srgbClr val="2D08E8"/>
                          </a:solidFill>
                        </a:rPr>
                        <a:t>Exubera</a:t>
                      </a:r>
                      <a:r>
                        <a:rPr lang="en-IN" sz="2200" b="1" dirty="0" smtClean="0">
                          <a:solidFill>
                            <a:srgbClr val="2D08E8"/>
                          </a:solidFill>
                        </a:rPr>
                        <a:t> </a:t>
                      </a:r>
                      <a:endParaRPr lang="en-IN" sz="2200" b="1" dirty="0" smtClean="0">
                        <a:solidFill>
                          <a:srgbClr val="2D08E8"/>
                        </a:solidFill>
                      </a:endParaRPr>
                    </a:p>
                    <a:p>
                      <a:r>
                        <a:rPr lang="en-IN" sz="2200" b="1" dirty="0" err="1" smtClean="0">
                          <a:solidFill>
                            <a:srgbClr val="EE18AC"/>
                          </a:solidFill>
                        </a:rPr>
                        <a:t>Affrezza</a:t>
                      </a:r>
                      <a:r>
                        <a:rPr lang="en-IN" sz="2200" b="1" dirty="0" smtClean="0">
                          <a:solidFill>
                            <a:srgbClr val="EE18AC"/>
                          </a:solidFill>
                        </a:rPr>
                        <a:t> </a:t>
                      </a:r>
                      <a:endParaRPr lang="en-IN" sz="2200" b="1" dirty="0" smtClean="0">
                        <a:solidFill>
                          <a:srgbClr val="EE18A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200" dirty="0" smtClean="0">
                          <a:solidFill>
                            <a:srgbClr val="2D08E8"/>
                          </a:solidFill>
                        </a:rPr>
                        <a:t>Dec bioavailability, COPD , Bronchospasm , Bronchogenic </a:t>
                      </a:r>
                      <a:r>
                        <a:rPr lang="en-IN" sz="2200" dirty="0" err="1" smtClean="0">
                          <a:solidFill>
                            <a:srgbClr val="2D08E8"/>
                          </a:solidFill>
                        </a:rPr>
                        <a:t>ca</a:t>
                      </a:r>
                      <a:endParaRPr lang="en-IN" sz="2200" dirty="0" smtClean="0">
                        <a:solidFill>
                          <a:srgbClr val="2D08E8"/>
                        </a:solidFill>
                      </a:endParaRPr>
                    </a:p>
                    <a:p>
                      <a:endParaRPr lang="en-IN" sz="2200" dirty="0">
                        <a:solidFill>
                          <a:srgbClr val="EE18A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8961</Words>
  <Application>WPS Presentation</Application>
  <PresentationFormat>Widescreen</PresentationFormat>
  <Paragraphs>577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Arial</vt:lpstr>
      <vt:lpstr>SimSun</vt:lpstr>
      <vt:lpstr>Wingdings</vt:lpstr>
      <vt:lpstr>Wingdings 3</vt:lpstr>
      <vt:lpstr>Arial</vt:lpstr>
      <vt:lpstr>Times New Roman</vt:lpstr>
      <vt:lpstr>Source Sans Pro</vt:lpstr>
      <vt:lpstr>Wingdings</vt:lpstr>
      <vt:lpstr>Trebuchet MS</vt:lpstr>
      <vt:lpstr>Microsoft YaHei</vt:lpstr>
      <vt:lpstr>Arial Unicode MS</vt:lpstr>
      <vt:lpstr>Calibri</vt:lpstr>
      <vt:lpstr>Facet</vt:lpstr>
      <vt:lpstr>Diabetes,  Hypertension and Stroke</vt:lpstr>
      <vt:lpstr>PowerPoint 演示文稿</vt:lpstr>
      <vt:lpstr>DIABETES</vt:lpstr>
      <vt:lpstr>TYPES </vt:lpstr>
      <vt:lpstr>Problem statement - World</vt:lpstr>
      <vt:lpstr>Global prevalence 8.5%  -2014</vt:lpstr>
      <vt:lpstr>Problem statement - India</vt:lpstr>
      <vt:lpstr> DM prevalence in Indian states</vt:lpstr>
      <vt:lpstr>Agent </vt:lpstr>
      <vt:lpstr>Host factors</vt:lpstr>
      <vt:lpstr>Clinical features</vt:lpstr>
      <vt:lpstr>PowerPoint 演示文稿</vt:lpstr>
      <vt:lpstr>Goals For Management </vt:lpstr>
      <vt:lpstr>POPULATION-BASED PREVENTION</vt:lpstr>
      <vt:lpstr>How to screen </vt:lpstr>
      <vt:lpstr>Whom to screen</vt:lpstr>
      <vt:lpstr>OGTT</vt:lpstr>
      <vt:lpstr>HbA1c </vt:lpstr>
      <vt:lpstr>Diagnostic criteria</vt:lpstr>
      <vt:lpstr>LIFE STYLE MODIFICATION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INSULIN</vt:lpstr>
      <vt:lpstr>INDICATION IN TYPE 2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Diabetes,  Hypertension      and Stroke</dc:title>
  <dc:creator>akash kumar</dc:creator>
  <cp:lastModifiedBy>akash</cp:lastModifiedBy>
  <cp:revision>15</cp:revision>
  <dcterms:created xsi:type="dcterms:W3CDTF">2024-01-13T08:57:00Z</dcterms:created>
  <dcterms:modified xsi:type="dcterms:W3CDTF">2024-01-19T14:23:57Z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4B0E255916654E95A15530AC5B4C98E6_12</vt:lpwstr>
  </property>
  <property fmtid="{D5CDD505-2E9C-101B-9397-08002B2CF9AE}" pid="3" name="KSOProductBuildVer">
    <vt:lpwstr>1033-12.2.0.13412</vt:lpwstr>
  </property>
</Properties>
</file>