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DA51639-B2D6-4652-B8C3-1B4C224A7BAF}" type="datetimeFigureOut">
              <a:rPr lang="en-US" dirty="0"/>
              <a:t>6/26/2024</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FF5DD9-2C52-442D-92E2-8072C0C3D7CD}" type="datetimeFigureOut">
              <a:rPr lang="en-US" dirty="0"/>
              <a:t>6/26/2024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44961B7-6B89-48AB-966F-622E2788EECC}" type="datetimeFigureOut">
              <a:rPr lang="en-US" dirty="0"/>
              <a:t>6/26/2024</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dirty="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dirty="0"/>
              <a:t>6/26/2024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12B3E8-48F1-4B23-8498-D8A04A81EC9C}" type="datetimeFigureOut">
              <a:rPr lang="en-US" dirty="0"/>
              <a:t>6/26/2024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dirty="0"/>
              <a:t>6/26/2024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dirty="0"/>
              <a:t>6/26/2024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CF131DD-A141-4471-BCF9-C6073EDD7E20}" type="datetimeFigureOut">
              <a:rPr lang="en-US" dirty="0"/>
              <a:t>6/26/2024</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B334A90-EB03-42F3-8859-2C2B2724C058}" type="datetimeFigureOut">
              <a:rPr lang="en-US" dirty="0"/>
              <a:t>6/26/2024</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dirty="0"/>
              <a:t>6/26/2024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dirty="0"/>
              <a:t>6/26/2024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dirty="0"/>
              <a:t>6/26/2024</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5F92D-D506-2338-1598-43764D63E2EE}"/>
              </a:ext>
            </a:extLst>
          </p:cNvPr>
          <p:cNvSpPr>
            <a:spLocks noGrp="1"/>
          </p:cNvSpPr>
          <p:nvPr>
            <p:ph type="ctrTitle"/>
          </p:nvPr>
        </p:nvSpPr>
        <p:spPr/>
        <p:txBody>
          <a:bodyPr/>
          <a:lstStyle/>
          <a:p>
            <a:r>
              <a:rPr lang="en-US" dirty="0"/>
              <a:t>Water pollution and air pollution</a:t>
            </a:r>
            <a:endParaRPr lang="en-IN" dirty="0"/>
          </a:p>
        </p:txBody>
      </p:sp>
      <p:sp>
        <p:nvSpPr>
          <p:cNvPr id="3" name="Subtitle 2">
            <a:extLst>
              <a:ext uri="{FF2B5EF4-FFF2-40B4-BE49-F238E27FC236}">
                <a16:creationId xmlns:a16="http://schemas.microsoft.com/office/drawing/2014/main" id="{D6263D05-EA7A-4DD4-C998-A7ACE918A48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368122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F44F7-51C1-3F4A-AD66-1DBCD812B23C}"/>
              </a:ext>
            </a:extLst>
          </p:cNvPr>
          <p:cNvSpPr>
            <a:spLocks noGrp="1"/>
          </p:cNvSpPr>
          <p:nvPr>
            <p:ph type="title"/>
          </p:nvPr>
        </p:nvSpPr>
        <p:spPr/>
        <p:txBody>
          <a:bodyPr>
            <a:normAutofit fontScale="90000"/>
          </a:bodyPr>
          <a:lstStyle/>
          <a:p>
            <a:r>
              <a:rPr lang="en-US" dirty="0"/>
              <a:t>WATER QUALITY - CRITERIA AND STANDARDS</a:t>
            </a:r>
            <a:endParaRPr lang="en-IN" dirty="0"/>
          </a:p>
        </p:txBody>
      </p:sp>
      <p:sp>
        <p:nvSpPr>
          <p:cNvPr id="3" name="Content Placeholder 2">
            <a:extLst>
              <a:ext uri="{FF2B5EF4-FFF2-40B4-BE49-F238E27FC236}">
                <a16:creationId xmlns:a16="http://schemas.microsoft.com/office/drawing/2014/main" id="{6BE3B5EF-6F35-2B07-7472-A6C67839097A}"/>
              </a:ext>
            </a:extLst>
          </p:cNvPr>
          <p:cNvSpPr>
            <a:spLocks noGrp="1"/>
          </p:cNvSpPr>
          <p:nvPr>
            <p:ph idx="1"/>
          </p:nvPr>
        </p:nvSpPr>
        <p:spPr>
          <a:xfrm>
            <a:off x="1066800" y="1897625"/>
            <a:ext cx="10058400" cy="4542503"/>
          </a:xfrm>
        </p:spPr>
        <p:txBody>
          <a:bodyPr>
            <a:normAutofit lnSpcReduction="10000"/>
          </a:bodyPr>
          <a:lstStyle/>
          <a:p>
            <a:r>
              <a:rPr lang="en-US" dirty="0"/>
              <a:t>The WHO has published in 1993 </a:t>
            </a:r>
            <a:r>
              <a:rPr lang="en-US" dirty="0" err="1"/>
              <a:t>vol.l</a:t>
            </a:r>
            <a:r>
              <a:rPr lang="en-US" dirty="0"/>
              <a:t> and in 1996 vol. 2 of second edition, and more recently vol. I and II in 2011 of guidelines for drinking water quality intended for use by countries as a basis for the development of standards, which, if properly implemented, will ensure the safety of drinking water supplies. In order to define standards, it is necessary to consider these recommendations in the context of prevailing environmental, social, economic and cultural conditions. </a:t>
            </a:r>
          </a:p>
          <a:p>
            <a:r>
              <a:rPr lang="en-US" dirty="0"/>
              <a:t>These guidelines are intended to supersede the guidelines for drinking water published in 1984. </a:t>
            </a:r>
          </a:p>
          <a:p>
            <a:r>
              <a:rPr lang="en-US" dirty="0"/>
              <a:t>The guidelines for drinking water quality recommended by WHO (2011) relate to following variables : </a:t>
            </a:r>
          </a:p>
          <a:p>
            <a:r>
              <a:rPr lang="en-US" dirty="0"/>
              <a:t>I Acceptability aspects.</a:t>
            </a:r>
          </a:p>
          <a:p>
            <a:r>
              <a:rPr lang="en-US" dirty="0"/>
              <a:t>II Microbiological aspects. </a:t>
            </a:r>
          </a:p>
          <a:p>
            <a:r>
              <a:rPr lang="en-US" dirty="0"/>
              <a:t>III Chemical aspects.</a:t>
            </a:r>
          </a:p>
          <a:p>
            <a:r>
              <a:rPr lang="en-US" dirty="0"/>
              <a:t>IV Radiological aspects.</a:t>
            </a:r>
            <a:endParaRPr lang="en-IN" dirty="0"/>
          </a:p>
        </p:txBody>
      </p:sp>
    </p:spTree>
    <p:extLst>
      <p:ext uri="{BB962C8B-B14F-4D97-AF65-F5344CB8AC3E}">
        <p14:creationId xmlns:p14="http://schemas.microsoft.com/office/powerpoint/2010/main" val="3353155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0397F-787C-0F8E-4BDB-4A20F1139B0C}"/>
              </a:ext>
            </a:extLst>
          </p:cNvPr>
          <p:cNvSpPr>
            <a:spLocks noGrp="1"/>
          </p:cNvSpPr>
          <p:nvPr>
            <p:ph type="title"/>
          </p:nvPr>
        </p:nvSpPr>
        <p:spPr/>
        <p:txBody>
          <a:bodyPr/>
          <a:lstStyle/>
          <a:p>
            <a:r>
              <a:rPr lang="en-IN" dirty="0"/>
              <a:t>I. ACCEPTABILITY ASPECTS</a:t>
            </a:r>
          </a:p>
        </p:txBody>
      </p:sp>
      <p:sp>
        <p:nvSpPr>
          <p:cNvPr id="3" name="Content Placeholder 2">
            <a:extLst>
              <a:ext uri="{FF2B5EF4-FFF2-40B4-BE49-F238E27FC236}">
                <a16:creationId xmlns:a16="http://schemas.microsoft.com/office/drawing/2014/main" id="{051D1C0C-C2DC-564D-6B87-93F18E6B221D}"/>
              </a:ext>
            </a:extLst>
          </p:cNvPr>
          <p:cNvSpPr>
            <a:spLocks noGrp="1"/>
          </p:cNvSpPr>
          <p:nvPr>
            <p:ph idx="1"/>
          </p:nvPr>
        </p:nvSpPr>
        <p:spPr/>
        <p:txBody>
          <a:bodyPr/>
          <a:lstStyle/>
          <a:p>
            <a:r>
              <a:rPr lang="en-IN" sz="2400" b="1" dirty="0"/>
              <a:t>A. Physical parameters </a:t>
            </a:r>
            <a:r>
              <a:rPr lang="en-IN" sz="2400" dirty="0"/>
              <a:t>:</a:t>
            </a:r>
          </a:p>
          <a:p>
            <a:r>
              <a:rPr lang="en-IN" sz="2400" dirty="0"/>
              <a:t>Turbidity</a:t>
            </a:r>
          </a:p>
          <a:p>
            <a:r>
              <a:rPr lang="en-IN" sz="2400" dirty="0"/>
              <a:t>Colour</a:t>
            </a:r>
          </a:p>
          <a:p>
            <a:r>
              <a:rPr lang="en-IN" sz="2400" dirty="0"/>
              <a:t>Taste and odour</a:t>
            </a:r>
          </a:p>
          <a:p>
            <a:r>
              <a:rPr lang="en-IN" sz="2400" dirty="0"/>
              <a:t>Temperature</a:t>
            </a:r>
          </a:p>
          <a:p>
            <a:endParaRPr lang="en-IN" dirty="0"/>
          </a:p>
        </p:txBody>
      </p:sp>
    </p:spTree>
    <p:extLst>
      <p:ext uri="{BB962C8B-B14F-4D97-AF65-F5344CB8AC3E}">
        <p14:creationId xmlns:p14="http://schemas.microsoft.com/office/powerpoint/2010/main" val="1021599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3ADE05-450A-5C7F-DB7D-64F7284D909A}"/>
              </a:ext>
            </a:extLst>
          </p:cNvPr>
          <p:cNvSpPr>
            <a:spLocks noGrp="1"/>
          </p:cNvSpPr>
          <p:nvPr>
            <p:ph idx="1"/>
          </p:nvPr>
        </p:nvSpPr>
        <p:spPr>
          <a:xfrm>
            <a:off x="1066800" y="661219"/>
            <a:ext cx="10058400" cy="5535561"/>
          </a:xfrm>
        </p:spPr>
        <p:txBody>
          <a:bodyPr>
            <a:normAutofit/>
          </a:bodyPr>
          <a:lstStyle/>
          <a:p>
            <a:r>
              <a:rPr lang="en-IN" b="1" dirty="0"/>
              <a:t>B. Inorganic constituents :</a:t>
            </a:r>
          </a:p>
          <a:p>
            <a:r>
              <a:rPr lang="en-IN" dirty="0"/>
              <a:t>Chlorides</a:t>
            </a:r>
          </a:p>
          <a:p>
            <a:r>
              <a:rPr lang="en-IN" dirty="0"/>
              <a:t>Hardness</a:t>
            </a:r>
          </a:p>
          <a:p>
            <a:r>
              <a:rPr lang="en-IN" dirty="0"/>
              <a:t>Ammonia</a:t>
            </a:r>
          </a:p>
          <a:p>
            <a:r>
              <a:rPr lang="en-IN" dirty="0"/>
              <a:t>pH</a:t>
            </a:r>
          </a:p>
          <a:p>
            <a:r>
              <a:rPr lang="en-IN" dirty="0"/>
              <a:t>Hydrogen sulphide</a:t>
            </a:r>
          </a:p>
          <a:p>
            <a:r>
              <a:rPr lang="en-IN" dirty="0"/>
              <a:t>Iron</a:t>
            </a:r>
          </a:p>
          <a:p>
            <a:r>
              <a:rPr lang="en-IN" dirty="0"/>
              <a:t>Sodium sulphate</a:t>
            </a:r>
          </a:p>
          <a:p>
            <a:r>
              <a:rPr lang="en-IN" dirty="0"/>
              <a:t>Total dissolved solids</a:t>
            </a:r>
          </a:p>
          <a:p>
            <a:r>
              <a:rPr lang="en-IN" dirty="0"/>
              <a:t>Zinc</a:t>
            </a:r>
          </a:p>
          <a:p>
            <a:r>
              <a:rPr lang="en-IN" dirty="0"/>
              <a:t>Manganese</a:t>
            </a:r>
          </a:p>
          <a:p>
            <a:r>
              <a:rPr lang="en-IN" dirty="0"/>
              <a:t>Dissolved oxygen</a:t>
            </a:r>
          </a:p>
          <a:p>
            <a:r>
              <a:rPr lang="en-IN" dirty="0"/>
              <a:t>Copper</a:t>
            </a:r>
          </a:p>
          <a:p>
            <a:r>
              <a:rPr lang="en-IN" dirty="0"/>
              <a:t>Aluminium</a:t>
            </a:r>
          </a:p>
          <a:p>
            <a:endParaRPr lang="en-IN" dirty="0"/>
          </a:p>
          <a:p>
            <a:endParaRPr lang="en-IN" dirty="0"/>
          </a:p>
        </p:txBody>
      </p:sp>
    </p:spTree>
    <p:extLst>
      <p:ext uri="{BB962C8B-B14F-4D97-AF65-F5344CB8AC3E}">
        <p14:creationId xmlns:p14="http://schemas.microsoft.com/office/powerpoint/2010/main" val="1396175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510A3-F6DA-CCB0-9F70-14BB168BA1E6}"/>
              </a:ext>
            </a:extLst>
          </p:cNvPr>
          <p:cNvSpPr>
            <a:spLocks noGrp="1"/>
          </p:cNvSpPr>
          <p:nvPr>
            <p:ph type="title"/>
          </p:nvPr>
        </p:nvSpPr>
        <p:spPr/>
        <p:txBody>
          <a:bodyPr/>
          <a:lstStyle/>
          <a:p>
            <a:r>
              <a:rPr lang="en-IN" dirty="0"/>
              <a:t>II. MICROBIOLOGICAL ASPECTS</a:t>
            </a:r>
          </a:p>
        </p:txBody>
      </p:sp>
      <p:sp>
        <p:nvSpPr>
          <p:cNvPr id="3" name="Content Placeholder 2">
            <a:extLst>
              <a:ext uri="{FF2B5EF4-FFF2-40B4-BE49-F238E27FC236}">
                <a16:creationId xmlns:a16="http://schemas.microsoft.com/office/drawing/2014/main" id="{97075521-B38F-6F1E-070E-4121C57917B6}"/>
              </a:ext>
            </a:extLst>
          </p:cNvPr>
          <p:cNvSpPr>
            <a:spLocks noGrp="1"/>
          </p:cNvSpPr>
          <p:nvPr>
            <p:ph idx="1"/>
          </p:nvPr>
        </p:nvSpPr>
        <p:spPr/>
        <p:txBody>
          <a:bodyPr/>
          <a:lstStyle/>
          <a:p>
            <a:pPr marL="0" indent="0">
              <a:buNone/>
            </a:pPr>
            <a:r>
              <a:rPr lang="en-IN" b="1" dirty="0"/>
              <a:t>Bacteriological indicators :</a:t>
            </a:r>
          </a:p>
          <a:p>
            <a:r>
              <a:rPr lang="en-IN" dirty="0"/>
              <a:t>Coliform organisms.</a:t>
            </a:r>
          </a:p>
          <a:p>
            <a:r>
              <a:rPr lang="en-IN" dirty="0"/>
              <a:t>Faecal streptococci</a:t>
            </a:r>
          </a:p>
          <a:p>
            <a:r>
              <a:rPr lang="en-IN" dirty="0"/>
              <a:t>Cl. Perfringens</a:t>
            </a:r>
          </a:p>
          <a:p>
            <a:pPr marL="0" indent="0">
              <a:buNone/>
            </a:pPr>
            <a:r>
              <a:rPr lang="en-IN" b="1" dirty="0"/>
              <a:t>Virological aspects</a:t>
            </a:r>
          </a:p>
          <a:p>
            <a:pPr marL="0" indent="0">
              <a:buNone/>
            </a:pPr>
            <a:r>
              <a:rPr lang="en-IN" b="1" dirty="0"/>
              <a:t>Biological aspects</a:t>
            </a:r>
          </a:p>
          <a:p>
            <a:pPr marL="0" indent="0">
              <a:buNone/>
            </a:pPr>
            <a:endParaRPr lang="en-IN" b="1" dirty="0"/>
          </a:p>
        </p:txBody>
      </p:sp>
    </p:spTree>
    <p:extLst>
      <p:ext uri="{BB962C8B-B14F-4D97-AF65-F5344CB8AC3E}">
        <p14:creationId xmlns:p14="http://schemas.microsoft.com/office/powerpoint/2010/main" val="1715257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AA2BC-3EDA-ED01-6A4A-18018182C419}"/>
              </a:ext>
            </a:extLst>
          </p:cNvPr>
          <p:cNvSpPr>
            <a:spLocks noGrp="1"/>
          </p:cNvSpPr>
          <p:nvPr>
            <p:ph type="title"/>
          </p:nvPr>
        </p:nvSpPr>
        <p:spPr>
          <a:xfrm>
            <a:off x="1066800" y="0"/>
            <a:ext cx="10058400" cy="1371600"/>
          </a:xfrm>
        </p:spPr>
        <p:txBody>
          <a:bodyPr/>
          <a:lstStyle/>
          <a:p>
            <a:r>
              <a:rPr lang="en-IN" dirty="0"/>
              <a:t>III. CHEMICAL ASPECTS</a:t>
            </a:r>
          </a:p>
        </p:txBody>
      </p:sp>
      <p:sp>
        <p:nvSpPr>
          <p:cNvPr id="3" name="Content Placeholder 2">
            <a:extLst>
              <a:ext uri="{FF2B5EF4-FFF2-40B4-BE49-F238E27FC236}">
                <a16:creationId xmlns:a16="http://schemas.microsoft.com/office/drawing/2014/main" id="{17E6078F-5202-B7E9-25E3-85543B92EFA5}"/>
              </a:ext>
            </a:extLst>
          </p:cNvPr>
          <p:cNvSpPr>
            <a:spLocks noGrp="1"/>
          </p:cNvSpPr>
          <p:nvPr>
            <p:ph idx="1"/>
          </p:nvPr>
        </p:nvSpPr>
        <p:spPr>
          <a:xfrm>
            <a:off x="442451" y="1189702"/>
            <a:ext cx="11179277" cy="5506065"/>
          </a:xfrm>
        </p:spPr>
        <p:txBody>
          <a:bodyPr>
            <a:normAutofit fontScale="77500" lnSpcReduction="20000"/>
          </a:bodyPr>
          <a:lstStyle/>
          <a:p>
            <a:r>
              <a:rPr lang="en-IN" dirty="0"/>
              <a:t>Inorganic chemicals of health significance in drinking water </a:t>
            </a:r>
          </a:p>
          <a:p>
            <a:r>
              <a:rPr lang="en-IN" dirty="0"/>
              <a:t>Constituents                                                                     Recommended maximum limit of concentration                                                </a:t>
            </a:r>
          </a:p>
          <a:p>
            <a:pPr marL="0" indent="0">
              <a:buNone/>
            </a:pPr>
            <a:r>
              <a:rPr lang="en-IN" dirty="0"/>
              <a:t>                                                                                                   (mg/litre)                                         (Mg/litre)  </a:t>
            </a:r>
          </a:p>
          <a:p>
            <a:r>
              <a:rPr lang="en-IN" dirty="0"/>
              <a:t> Antimony                                                                                  0.02 (P)                                            20 </a:t>
            </a:r>
          </a:p>
          <a:p>
            <a:r>
              <a:rPr lang="en-IN" dirty="0"/>
              <a:t>Arsenic                                                                                       0.01 (P)                                            10 </a:t>
            </a:r>
          </a:p>
          <a:p>
            <a:r>
              <a:rPr lang="en-IN" dirty="0"/>
              <a:t>Barium                                                                                        0.7                                                   700 </a:t>
            </a:r>
          </a:p>
          <a:p>
            <a:r>
              <a:rPr lang="en-IN" dirty="0"/>
              <a:t>Boron                                                                                         2.4                                                    2,400 </a:t>
            </a:r>
          </a:p>
          <a:p>
            <a:r>
              <a:rPr lang="en-IN" dirty="0"/>
              <a:t>Cadmium                                                                                 0.003                                                 0.3 </a:t>
            </a:r>
          </a:p>
          <a:p>
            <a:r>
              <a:rPr lang="en-IN" dirty="0"/>
              <a:t>Chromium                                                                                 0.05 (P)                                             50 </a:t>
            </a:r>
          </a:p>
          <a:p>
            <a:r>
              <a:rPr lang="en-IN" dirty="0"/>
              <a:t>Copper                                                                                      2                                                      2,000 </a:t>
            </a:r>
          </a:p>
          <a:p>
            <a:r>
              <a:rPr lang="en-IN" dirty="0"/>
              <a:t>Fluoride                                                                                    1.5                                                     1,500 </a:t>
            </a:r>
          </a:p>
          <a:p>
            <a:r>
              <a:rPr lang="en-IN" dirty="0"/>
              <a:t>Lead                                                                                          0.01                                                   10 </a:t>
            </a:r>
          </a:p>
          <a:p>
            <a:r>
              <a:rPr lang="en-IN" dirty="0"/>
              <a:t>Manganese                                                                              0.4 (P)                                              400 </a:t>
            </a:r>
          </a:p>
          <a:p>
            <a:r>
              <a:rPr lang="en-IN" dirty="0"/>
              <a:t>Mercury (total)                                                                       0.006                                                    6</a:t>
            </a:r>
          </a:p>
          <a:p>
            <a:r>
              <a:rPr lang="en-IN" dirty="0"/>
              <a:t> Molybdenum                                                                          0.07                                                   70 </a:t>
            </a:r>
          </a:p>
          <a:p>
            <a:r>
              <a:rPr lang="en-IN" dirty="0"/>
              <a:t>Nickel                                                                                         0.07                                                  70 </a:t>
            </a:r>
          </a:p>
          <a:p>
            <a:r>
              <a:rPr lang="en-IN" dirty="0"/>
              <a:t>Nitrate (as NO3)                                                                       50                                                   50,000 </a:t>
            </a:r>
          </a:p>
          <a:p>
            <a:r>
              <a:rPr lang="en-IN" dirty="0"/>
              <a:t>Nitrite (as NO2)                                                                         3(P)                                                  3,000 </a:t>
            </a:r>
          </a:p>
          <a:p>
            <a:r>
              <a:rPr lang="en-IN" dirty="0"/>
              <a:t>Selenium                                                                                  0.04                                                    40</a:t>
            </a:r>
          </a:p>
        </p:txBody>
      </p:sp>
    </p:spTree>
    <p:extLst>
      <p:ext uri="{BB962C8B-B14F-4D97-AF65-F5344CB8AC3E}">
        <p14:creationId xmlns:p14="http://schemas.microsoft.com/office/powerpoint/2010/main" val="404195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4702C-340A-9D97-FE88-0CCC1605D72C}"/>
              </a:ext>
            </a:extLst>
          </p:cNvPr>
          <p:cNvSpPr>
            <a:spLocks noGrp="1"/>
          </p:cNvSpPr>
          <p:nvPr>
            <p:ph type="title"/>
          </p:nvPr>
        </p:nvSpPr>
        <p:spPr>
          <a:xfrm>
            <a:off x="938981" y="540774"/>
            <a:ext cx="10058400" cy="373626"/>
          </a:xfrm>
        </p:spPr>
        <p:txBody>
          <a:bodyPr>
            <a:noAutofit/>
          </a:bodyPr>
          <a:lstStyle/>
          <a:p>
            <a:r>
              <a:rPr lang="en-IN" sz="3200" b="1" dirty="0"/>
              <a:t>Organic constituents</a:t>
            </a:r>
          </a:p>
        </p:txBody>
      </p:sp>
      <p:sp>
        <p:nvSpPr>
          <p:cNvPr id="3" name="Content Placeholder 2">
            <a:extLst>
              <a:ext uri="{FF2B5EF4-FFF2-40B4-BE49-F238E27FC236}">
                <a16:creationId xmlns:a16="http://schemas.microsoft.com/office/drawing/2014/main" id="{5647FB5A-DAAA-F3C8-5D64-3E3DC6C53936}"/>
              </a:ext>
            </a:extLst>
          </p:cNvPr>
          <p:cNvSpPr>
            <a:spLocks noGrp="1"/>
          </p:cNvSpPr>
          <p:nvPr>
            <p:ph idx="1"/>
          </p:nvPr>
        </p:nvSpPr>
        <p:spPr>
          <a:xfrm>
            <a:off x="1066800" y="1209368"/>
            <a:ext cx="10058400" cy="5379664"/>
          </a:xfrm>
        </p:spPr>
        <p:txBody>
          <a:bodyPr>
            <a:normAutofit fontScale="92500" lnSpcReduction="20000"/>
          </a:bodyPr>
          <a:lstStyle/>
          <a:p>
            <a:pPr marL="0" indent="0">
              <a:buNone/>
            </a:pPr>
            <a:r>
              <a:rPr lang="en-IN" b="1" dirty="0"/>
              <a:t>Organic constituents              Upper limit of concentration </a:t>
            </a:r>
          </a:p>
          <a:p>
            <a:pPr marL="0" indent="0">
              <a:buNone/>
            </a:pPr>
            <a:r>
              <a:rPr lang="en-IN" b="1" dirty="0"/>
              <a:t>                                                              (</a:t>
            </a:r>
            <a:r>
              <a:rPr lang="en-IN" b="1" dirty="0" err="1"/>
              <a:t>pg</a:t>
            </a:r>
            <a:r>
              <a:rPr lang="en-IN" b="1" dirty="0"/>
              <a:t>/litre) </a:t>
            </a:r>
          </a:p>
          <a:p>
            <a:pPr marL="0" indent="0">
              <a:buNone/>
            </a:pPr>
            <a:r>
              <a:rPr lang="en-IN" b="1" dirty="0"/>
              <a:t>Chlorinated alkanes </a:t>
            </a:r>
          </a:p>
          <a:p>
            <a:r>
              <a:rPr lang="en-IN" dirty="0"/>
              <a:t>Carbon tetrachloride                            2 </a:t>
            </a:r>
          </a:p>
          <a:p>
            <a:r>
              <a:rPr lang="en-IN" dirty="0"/>
              <a:t>Dichloromethane                                  20 </a:t>
            </a:r>
          </a:p>
          <a:p>
            <a:pPr marL="0" indent="0">
              <a:buNone/>
            </a:pPr>
            <a:r>
              <a:rPr lang="en-IN" b="1" dirty="0"/>
              <a:t>Chlorinated ethenes </a:t>
            </a:r>
          </a:p>
          <a:p>
            <a:r>
              <a:rPr lang="en-IN" dirty="0"/>
              <a:t>Vinyl chloride                                         55 </a:t>
            </a:r>
          </a:p>
          <a:p>
            <a:r>
              <a:rPr lang="en-IN" dirty="0"/>
              <a:t>1.1 – dichloroethane                             30 </a:t>
            </a:r>
          </a:p>
          <a:p>
            <a:r>
              <a:rPr lang="en-IN" dirty="0"/>
              <a:t>1.2 - </a:t>
            </a:r>
            <a:r>
              <a:rPr lang="en-IN" dirty="0" err="1"/>
              <a:t>dichloroethene</a:t>
            </a:r>
            <a:r>
              <a:rPr lang="en-IN" dirty="0"/>
              <a:t>                             50 </a:t>
            </a:r>
          </a:p>
          <a:p>
            <a:pPr marL="0" indent="0">
              <a:buNone/>
            </a:pPr>
            <a:r>
              <a:rPr lang="en-IN" b="1" dirty="0"/>
              <a:t>Aromatic hydrocarbons </a:t>
            </a:r>
          </a:p>
          <a:p>
            <a:r>
              <a:rPr lang="en-IN" dirty="0"/>
              <a:t>Benzene                                                 10 </a:t>
            </a:r>
          </a:p>
          <a:p>
            <a:r>
              <a:rPr lang="en-IN" dirty="0"/>
              <a:t>Toluene                                                  700 </a:t>
            </a:r>
          </a:p>
          <a:p>
            <a:r>
              <a:rPr lang="en-IN" dirty="0"/>
              <a:t>Xylenes                                                  500 </a:t>
            </a:r>
          </a:p>
          <a:p>
            <a:r>
              <a:rPr lang="en-IN" dirty="0"/>
              <a:t>Ethylbenzene                                        300 </a:t>
            </a:r>
          </a:p>
          <a:p>
            <a:r>
              <a:rPr lang="en-IN" dirty="0"/>
              <a:t>Styrene                                                   20 </a:t>
            </a:r>
          </a:p>
          <a:p>
            <a:r>
              <a:rPr lang="en-IN" dirty="0" err="1"/>
              <a:t>Benzolalpyrene</a:t>
            </a:r>
            <a:r>
              <a:rPr lang="en-IN" dirty="0"/>
              <a:t>                                     0.7</a:t>
            </a:r>
          </a:p>
        </p:txBody>
      </p:sp>
    </p:spTree>
    <p:extLst>
      <p:ext uri="{BB962C8B-B14F-4D97-AF65-F5344CB8AC3E}">
        <p14:creationId xmlns:p14="http://schemas.microsoft.com/office/powerpoint/2010/main" val="2770772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11A2C-9821-F2E7-A1A4-409C2E029A03}"/>
              </a:ext>
            </a:extLst>
          </p:cNvPr>
          <p:cNvSpPr>
            <a:spLocks noGrp="1"/>
          </p:cNvSpPr>
          <p:nvPr>
            <p:ph type="title"/>
          </p:nvPr>
        </p:nvSpPr>
        <p:spPr/>
        <p:txBody>
          <a:bodyPr>
            <a:normAutofit/>
          </a:bodyPr>
          <a:lstStyle/>
          <a:p>
            <a:r>
              <a:rPr lang="en-US" sz="3200" dirty="0"/>
              <a:t>Pesticides :</a:t>
            </a:r>
            <a:endParaRPr lang="en-IN" sz="3200" dirty="0"/>
          </a:p>
        </p:txBody>
      </p:sp>
      <p:sp>
        <p:nvSpPr>
          <p:cNvPr id="3" name="Content Placeholder 2">
            <a:extLst>
              <a:ext uri="{FF2B5EF4-FFF2-40B4-BE49-F238E27FC236}">
                <a16:creationId xmlns:a16="http://schemas.microsoft.com/office/drawing/2014/main" id="{BDD00D14-A942-56A8-978B-E3925C5C8703}"/>
              </a:ext>
            </a:extLst>
          </p:cNvPr>
          <p:cNvSpPr>
            <a:spLocks noGrp="1"/>
          </p:cNvSpPr>
          <p:nvPr>
            <p:ph idx="1"/>
          </p:nvPr>
        </p:nvSpPr>
        <p:spPr/>
        <p:txBody>
          <a:bodyPr/>
          <a:lstStyle/>
          <a:p>
            <a:pPr marL="0" indent="0">
              <a:buNone/>
            </a:pPr>
            <a:r>
              <a:rPr lang="en-IN" b="1" dirty="0"/>
              <a:t>Guideline values of certain pesticides </a:t>
            </a:r>
          </a:p>
          <a:p>
            <a:pPr marL="0" indent="0">
              <a:buNone/>
            </a:pPr>
            <a:r>
              <a:rPr lang="en-IN" b="1" dirty="0"/>
              <a:t>Pesticides                                                   Upper limit of concentration (</a:t>
            </a:r>
            <a:r>
              <a:rPr lang="en-IN" b="1" dirty="0" err="1"/>
              <a:t>pg</a:t>
            </a:r>
            <a:r>
              <a:rPr lang="en-IN" b="1" dirty="0"/>
              <a:t>/litre) </a:t>
            </a:r>
          </a:p>
          <a:p>
            <a:r>
              <a:rPr lang="en-IN" dirty="0"/>
              <a:t>Aldrin/dieldrin                                                                           0.03 </a:t>
            </a:r>
          </a:p>
          <a:p>
            <a:r>
              <a:rPr lang="en-IN" dirty="0"/>
              <a:t>Chlordane                                                                                0.2 </a:t>
            </a:r>
          </a:p>
          <a:p>
            <a:r>
              <a:rPr lang="en-IN" dirty="0"/>
              <a:t>DDT 2 2,4-D                                                                               30 </a:t>
            </a:r>
          </a:p>
          <a:p>
            <a:r>
              <a:rPr lang="en-IN" dirty="0"/>
              <a:t>Heptachlor and heptachlor epoxide                                   0.03 </a:t>
            </a:r>
          </a:p>
          <a:p>
            <a:r>
              <a:rPr lang="en-IN" dirty="0"/>
              <a:t>Hexachlorobenzene                                                               1 </a:t>
            </a:r>
          </a:p>
          <a:p>
            <a:r>
              <a:rPr lang="en-IN" dirty="0"/>
              <a:t>Lindane                                                                                     2 </a:t>
            </a:r>
          </a:p>
          <a:p>
            <a:r>
              <a:rPr lang="en-IN" dirty="0"/>
              <a:t>Methoxychlor                                                                           20 </a:t>
            </a:r>
          </a:p>
          <a:p>
            <a:r>
              <a:rPr lang="en-IN" dirty="0"/>
              <a:t>Pentachlorophenol                                                                 9</a:t>
            </a:r>
          </a:p>
        </p:txBody>
      </p:sp>
    </p:spTree>
    <p:extLst>
      <p:ext uri="{BB962C8B-B14F-4D97-AF65-F5344CB8AC3E}">
        <p14:creationId xmlns:p14="http://schemas.microsoft.com/office/powerpoint/2010/main" val="319008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C064F-D218-1AD1-0C2E-4EA2A8B7AA5E}"/>
              </a:ext>
            </a:extLst>
          </p:cNvPr>
          <p:cNvSpPr>
            <a:spLocks noGrp="1"/>
          </p:cNvSpPr>
          <p:nvPr>
            <p:ph type="title"/>
          </p:nvPr>
        </p:nvSpPr>
        <p:spPr/>
        <p:txBody>
          <a:bodyPr>
            <a:normAutofit fontScale="90000"/>
          </a:bodyPr>
          <a:lstStyle/>
          <a:p>
            <a:r>
              <a:rPr lang="en-IN" dirty="0"/>
              <a:t>Polynuclear aromatic hydrocarbons :</a:t>
            </a:r>
          </a:p>
        </p:txBody>
      </p:sp>
      <p:sp>
        <p:nvSpPr>
          <p:cNvPr id="3" name="Content Placeholder 2">
            <a:extLst>
              <a:ext uri="{FF2B5EF4-FFF2-40B4-BE49-F238E27FC236}">
                <a16:creationId xmlns:a16="http://schemas.microsoft.com/office/drawing/2014/main" id="{C989C0B2-43D6-0835-16AC-93FEB0B69A38}"/>
              </a:ext>
            </a:extLst>
          </p:cNvPr>
          <p:cNvSpPr>
            <a:spLocks noGrp="1"/>
          </p:cNvSpPr>
          <p:nvPr>
            <p:ph idx="1"/>
          </p:nvPr>
        </p:nvSpPr>
        <p:spPr/>
        <p:txBody>
          <a:bodyPr/>
          <a:lstStyle/>
          <a:p>
            <a:r>
              <a:rPr lang="en-US" dirty="0"/>
              <a:t>The following recommendations are made for the PAH group : </a:t>
            </a:r>
          </a:p>
          <a:p>
            <a:r>
              <a:rPr lang="en-US" dirty="0"/>
              <a:t>Because of the close association of PAH with suspended solids, the application of treatment, when necessary to achieve the recommended level of turbidity will ensure that PAH levels are reduced to a minimum. </a:t>
            </a:r>
          </a:p>
          <a:p>
            <a:r>
              <a:rPr lang="en-US" dirty="0"/>
              <a:t>Contamination of water with PAH should not occur during water treatment or distribution. Therefore, the use of coal-tar-based and similar materials for pipe lining and coatings on storage tanks should be discontinued. </a:t>
            </a:r>
          </a:p>
          <a:p>
            <a:r>
              <a:rPr lang="en-US" dirty="0"/>
              <a:t>In situation where contamination of drinking water by PAH has occurred, the specific compounds present and the source of the contamination should be identified, as the carcinogenic potential of PAH compounds varies.</a:t>
            </a:r>
            <a:endParaRPr lang="en-IN" dirty="0"/>
          </a:p>
        </p:txBody>
      </p:sp>
    </p:spTree>
    <p:extLst>
      <p:ext uri="{BB962C8B-B14F-4D97-AF65-F5344CB8AC3E}">
        <p14:creationId xmlns:p14="http://schemas.microsoft.com/office/powerpoint/2010/main" val="1728797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D7935-4001-7F36-29B6-CEE22D13664D}"/>
              </a:ext>
            </a:extLst>
          </p:cNvPr>
          <p:cNvSpPr>
            <a:spLocks noGrp="1"/>
          </p:cNvSpPr>
          <p:nvPr>
            <p:ph type="title"/>
          </p:nvPr>
        </p:nvSpPr>
        <p:spPr/>
        <p:txBody>
          <a:bodyPr>
            <a:normAutofit fontScale="90000"/>
          </a:bodyPr>
          <a:lstStyle/>
          <a:p>
            <a:r>
              <a:rPr lang="en-US" dirty="0"/>
              <a:t>Drinking water consumption and body weight</a:t>
            </a:r>
            <a:endParaRPr lang="en-IN" dirty="0"/>
          </a:p>
        </p:txBody>
      </p:sp>
      <p:sp>
        <p:nvSpPr>
          <p:cNvPr id="3" name="Content Placeholder 2">
            <a:extLst>
              <a:ext uri="{FF2B5EF4-FFF2-40B4-BE49-F238E27FC236}">
                <a16:creationId xmlns:a16="http://schemas.microsoft.com/office/drawing/2014/main" id="{25F1B871-C05C-A73B-1CA1-84B97B19C4C6}"/>
              </a:ext>
            </a:extLst>
          </p:cNvPr>
          <p:cNvSpPr>
            <a:spLocks noGrp="1"/>
          </p:cNvSpPr>
          <p:nvPr>
            <p:ph idx="1"/>
          </p:nvPr>
        </p:nvSpPr>
        <p:spPr/>
        <p:txBody>
          <a:bodyPr/>
          <a:lstStyle/>
          <a:p>
            <a:r>
              <a:rPr lang="en-IN" dirty="0"/>
              <a:t>Health-risk assessment </a:t>
            </a:r>
          </a:p>
          <a:p>
            <a:r>
              <a:rPr lang="en-IN" dirty="0"/>
              <a:t>Tolerable daily intake (TD1) </a:t>
            </a:r>
          </a:p>
          <a:p>
            <a:r>
              <a:rPr lang="en-IN" dirty="0"/>
              <a:t>Acceptable daily intake (ADI)</a:t>
            </a:r>
          </a:p>
          <a:p>
            <a:r>
              <a:rPr lang="en-IN" dirty="0"/>
              <a:t>No-observed-adverse-effect level (NOAEL) </a:t>
            </a:r>
          </a:p>
          <a:p>
            <a:r>
              <a:rPr lang="en-IN" dirty="0"/>
              <a:t>Lowest-observed-adverse-effect level (LOAEL)</a:t>
            </a:r>
          </a:p>
          <a:p>
            <a:r>
              <a:rPr lang="en-IN" dirty="0"/>
              <a:t>Uncertainty factors (UF)</a:t>
            </a:r>
          </a:p>
          <a:p>
            <a:endParaRPr lang="en-IN" dirty="0"/>
          </a:p>
        </p:txBody>
      </p:sp>
    </p:spTree>
    <p:extLst>
      <p:ext uri="{BB962C8B-B14F-4D97-AF65-F5344CB8AC3E}">
        <p14:creationId xmlns:p14="http://schemas.microsoft.com/office/powerpoint/2010/main" val="4254977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87BB0-87CD-95BA-CAE7-B6E2B3D52B9B}"/>
              </a:ext>
            </a:extLst>
          </p:cNvPr>
          <p:cNvSpPr>
            <a:spLocks noGrp="1"/>
          </p:cNvSpPr>
          <p:nvPr>
            <p:ph type="title"/>
          </p:nvPr>
        </p:nvSpPr>
        <p:spPr/>
        <p:txBody>
          <a:bodyPr/>
          <a:lstStyle/>
          <a:p>
            <a:r>
              <a:rPr lang="en-IN" dirty="0"/>
              <a:t>RADIOLOGICAL ASPECTS </a:t>
            </a:r>
          </a:p>
        </p:txBody>
      </p:sp>
      <p:sp>
        <p:nvSpPr>
          <p:cNvPr id="3" name="Content Placeholder 2">
            <a:extLst>
              <a:ext uri="{FF2B5EF4-FFF2-40B4-BE49-F238E27FC236}">
                <a16:creationId xmlns:a16="http://schemas.microsoft.com/office/drawing/2014/main" id="{05826D36-FC1E-FEE2-83BA-5C90AA285105}"/>
              </a:ext>
            </a:extLst>
          </p:cNvPr>
          <p:cNvSpPr>
            <a:spLocks noGrp="1"/>
          </p:cNvSpPr>
          <p:nvPr>
            <p:ph idx="1"/>
          </p:nvPr>
        </p:nvSpPr>
        <p:spPr/>
        <p:txBody>
          <a:bodyPr/>
          <a:lstStyle/>
          <a:p>
            <a:r>
              <a:rPr lang="en-US" dirty="0"/>
              <a:t>The activity of a radio-active material is the number of nuclear disintegration per unit of time. The unit of activity is a becquerel (</a:t>
            </a:r>
            <a:r>
              <a:rPr lang="en-US" dirty="0" err="1"/>
              <a:t>Bq</a:t>
            </a:r>
            <a:r>
              <a:rPr lang="en-US" dirty="0"/>
              <a:t>); 1 </a:t>
            </a:r>
            <a:r>
              <a:rPr lang="en-US" dirty="0" err="1"/>
              <a:t>Bq</a:t>
            </a:r>
            <a:r>
              <a:rPr lang="en-US" dirty="0"/>
              <a:t> = 1 disintegration per second. Formerly, the unit of activity was curie (Ci). </a:t>
            </a:r>
          </a:p>
          <a:p>
            <a:pPr marL="0" indent="0">
              <a:buNone/>
            </a:pPr>
            <a:r>
              <a:rPr lang="en-US" dirty="0"/>
              <a:t>The proposed guideline values are : </a:t>
            </a:r>
          </a:p>
          <a:p>
            <a:r>
              <a:rPr lang="en-US" dirty="0"/>
              <a:t>gross alpha activity                         0.5 </a:t>
            </a:r>
            <a:r>
              <a:rPr lang="en-US" dirty="0" err="1"/>
              <a:t>Bq</a:t>
            </a:r>
            <a:r>
              <a:rPr lang="en-US" dirty="0"/>
              <a:t> / L </a:t>
            </a:r>
          </a:p>
          <a:p>
            <a:r>
              <a:rPr lang="en-US" dirty="0"/>
              <a:t>gross beta activity                           1.0 </a:t>
            </a:r>
            <a:r>
              <a:rPr lang="en-US" dirty="0" err="1"/>
              <a:t>Bq</a:t>
            </a:r>
            <a:r>
              <a:rPr lang="en-US" dirty="0"/>
              <a:t> / L</a:t>
            </a:r>
            <a:endParaRPr lang="en-IN" dirty="0"/>
          </a:p>
        </p:txBody>
      </p:sp>
    </p:spTree>
    <p:extLst>
      <p:ext uri="{BB962C8B-B14F-4D97-AF65-F5344CB8AC3E}">
        <p14:creationId xmlns:p14="http://schemas.microsoft.com/office/powerpoint/2010/main" val="388121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86AC8-3690-5CE4-6628-383C1A196F3F}"/>
              </a:ext>
            </a:extLst>
          </p:cNvPr>
          <p:cNvSpPr>
            <a:spLocks noGrp="1"/>
          </p:cNvSpPr>
          <p:nvPr>
            <p:ph type="title"/>
          </p:nvPr>
        </p:nvSpPr>
        <p:spPr>
          <a:xfrm>
            <a:off x="1066800" y="398206"/>
            <a:ext cx="10058400" cy="1371600"/>
          </a:xfrm>
        </p:spPr>
        <p:txBody>
          <a:bodyPr>
            <a:normAutofit fontScale="90000"/>
          </a:bodyPr>
          <a:lstStyle/>
          <a:p>
            <a:r>
              <a:rPr lang="en-US" dirty="0"/>
              <a:t>SURVEILLANCE OF DRINKING WATER QUALITY</a:t>
            </a:r>
            <a:endParaRPr lang="en-IN" dirty="0"/>
          </a:p>
        </p:txBody>
      </p:sp>
      <p:sp>
        <p:nvSpPr>
          <p:cNvPr id="3" name="Content Placeholder 2">
            <a:extLst>
              <a:ext uri="{FF2B5EF4-FFF2-40B4-BE49-F238E27FC236}">
                <a16:creationId xmlns:a16="http://schemas.microsoft.com/office/drawing/2014/main" id="{CCDB9279-11D0-8BBD-3D87-F28E9E3CC21E}"/>
              </a:ext>
            </a:extLst>
          </p:cNvPr>
          <p:cNvSpPr>
            <a:spLocks noGrp="1"/>
          </p:cNvSpPr>
          <p:nvPr>
            <p:ph idx="1"/>
          </p:nvPr>
        </p:nvSpPr>
        <p:spPr>
          <a:xfrm>
            <a:off x="1066800" y="1907458"/>
            <a:ext cx="10058400" cy="4552336"/>
          </a:xfrm>
        </p:spPr>
        <p:txBody>
          <a:bodyPr>
            <a:normAutofit lnSpcReduction="10000"/>
          </a:bodyPr>
          <a:lstStyle/>
          <a:p>
            <a:r>
              <a:rPr lang="en-US" sz="2000" dirty="0"/>
              <a:t>The activities that ideally should be included in the surveillance function are : </a:t>
            </a:r>
          </a:p>
          <a:p>
            <a:pPr marL="0" indent="0">
              <a:buNone/>
            </a:pPr>
            <a:r>
              <a:rPr lang="en-US" sz="2000" dirty="0"/>
              <a:t>a.  approval of new sources (including private-owned supplies).</a:t>
            </a:r>
          </a:p>
          <a:p>
            <a:pPr marL="0" indent="0">
              <a:buNone/>
            </a:pPr>
            <a:r>
              <a:rPr lang="en-US" sz="2000" dirty="0"/>
              <a:t>b.  watershed protection.</a:t>
            </a:r>
          </a:p>
          <a:p>
            <a:pPr marL="0" indent="0">
              <a:buNone/>
            </a:pPr>
            <a:r>
              <a:rPr lang="en-US" sz="2000" dirty="0"/>
              <a:t>c.  approval of the construction and operating procedures of waterworks, including : </a:t>
            </a:r>
          </a:p>
          <a:p>
            <a:pPr marL="0" indent="0">
              <a:buNone/>
            </a:pPr>
            <a:r>
              <a:rPr lang="en-US" sz="2000" dirty="0"/>
              <a:t>     (</a:t>
            </a:r>
            <a:r>
              <a:rPr lang="en-US" sz="2000" dirty="0" err="1"/>
              <a:t>i</a:t>
            </a:r>
            <a:r>
              <a:rPr lang="en-US" sz="2000" dirty="0"/>
              <a:t>) disinfection of the plant and of the distribution system after repair or interruption of supply, </a:t>
            </a:r>
          </a:p>
          <a:p>
            <a:pPr marL="0" indent="0">
              <a:buNone/>
            </a:pPr>
            <a:r>
              <a:rPr lang="en-US" sz="2000" dirty="0"/>
              <a:t>     (ii) periodic flushing </a:t>
            </a:r>
            <a:r>
              <a:rPr lang="en-US" sz="2000" dirty="0" err="1"/>
              <a:t>programmes</a:t>
            </a:r>
            <a:r>
              <a:rPr lang="en-US" sz="2000" dirty="0"/>
              <a:t> and cleaning of water storage facilities, </a:t>
            </a:r>
          </a:p>
          <a:p>
            <a:pPr marL="0" indent="0">
              <a:buNone/>
            </a:pPr>
            <a:r>
              <a:rPr lang="en-US" sz="2000" dirty="0"/>
              <a:t>     (iii) certification of operators,</a:t>
            </a:r>
          </a:p>
          <a:p>
            <a:pPr marL="0" indent="0">
              <a:buNone/>
            </a:pPr>
            <a:r>
              <a:rPr lang="en-US" sz="2000" dirty="0"/>
              <a:t>     (iv) regulation of chemical substances used in water treatment, </a:t>
            </a:r>
          </a:p>
          <a:p>
            <a:pPr marL="0" indent="0">
              <a:buNone/>
            </a:pPr>
            <a:r>
              <a:rPr lang="en-US" sz="2000" dirty="0"/>
              <a:t>     (v) cross-connection control, back-flow prevention and leak detection control;</a:t>
            </a:r>
            <a:endParaRPr lang="en-IN" sz="2000" dirty="0"/>
          </a:p>
        </p:txBody>
      </p:sp>
    </p:spTree>
    <p:extLst>
      <p:ext uri="{BB962C8B-B14F-4D97-AF65-F5344CB8AC3E}">
        <p14:creationId xmlns:p14="http://schemas.microsoft.com/office/powerpoint/2010/main" val="83285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DD1D48-C5D4-86B9-4580-FDA4984704E6}"/>
              </a:ext>
            </a:extLst>
          </p:cNvPr>
          <p:cNvSpPr>
            <a:spLocks noGrp="1"/>
          </p:cNvSpPr>
          <p:nvPr>
            <p:ph idx="1"/>
          </p:nvPr>
        </p:nvSpPr>
        <p:spPr>
          <a:xfrm>
            <a:off x="1066800" y="2103120"/>
            <a:ext cx="10058400" cy="2075590"/>
          </a:xfrm>
        </p:spPr>
        <p:txBody>
          <a:bodyPr>
            <a:normAutofit/>
          </a:bodyPr>
          <a:lstStyle/>
          <a:p>
            <a:pPr marL="0" indent="0">
              <a:buNone/>
            </a:pPr>
            <a:r>
              <a:rPr lang="en-US" sz="2000" dirty="0"/>
              <a:t>d.  sanitary surveys; e. monitoring </a:t>
            </a:r>
            <a:r>
              <a:rPr lang="en-US" sz="2000" dirty="0" err="1"/>
              <a:t>programmes</a:t>
            </a:r>
            <a:r>
              <a:rPr lang="en-US" sz="2000" dirty="0"/>
              <a:t>, including provision for central and regional analytical laboratory services; </a:t>
            </a:r>
          </a:p>
          <a:p>
            <a:pPr marL="0" indent="0">
              <a:buNone/>
            </a:pPr>
            <a:r>
              <a:rPr lang="en-US" sz="2000" dirty="0"/>
              <a:t>f.  development of codes of practice for well construction, pump installation and plumbing; g. inspection quality control in bottled-water and ice manufacturing operations.</a:t>
            </a:r>
            <a:endParaRPr lang="en-IN" sz="2000" dirty="0"/>
          </a:p>
        </p:txBody>
      </p:sp>
    </p:spTree>
    <p:extLst>
      <p:ext uri="{BB962C8B-B14F-4D97-AF65-F5344CB8AC3E}">
        <p14:creationId xmlns:p14="http://schemas.microsoft.com/office/powerpoint/2010/main" val="3358157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1039AE-5968-DE2F-63F5-ECC32946F4BC}"/>
              </a:ext>
            </a:extLst>
          </p:cNvPr>
          <p:cNvSpPr>
            <a:spLocks noGrp="1"/>
          </p:cNvSpPr>
          <p:nvPr>
            <p:ph idx="1"/>
          </p:nvPr>
        </p:nvSpPr>
        <p:spPr>
          <a:xfrm>
            <a:off x="1066800" y="875071"/>
            <a:ext cx="10058400" cy="5159969"/>
          </a:xfrm>
        </p:spPr>
        <p:txBody>
          <a:bodyPr>
            <a:normAutofit lnSpcReduction="10000"/>
          </a:bodyPr>
          <a:lstStyle/>
          <a:p>
            <a:pPr marL="0" indent="0">
              <a:buNone/>
            </a:pPr>
            <a:r>
              <a:rPr lang="en-US" dirty="0"/>
              <a:t>Surveillance of drinking water is essentially a health measure. It is intended to protect the public from waterborne diseases.</a:t>
            </a:r>
          </a:p>
          <a:p>
            <a:pPr marL="0" indent="0">
              <a:buNone/>
            </a:pPr>
            <a:r>
              <a:rPr lang="en-US" dirty="0"/>
              <a:t>The elements of a surveillance </a:t>
            </a:r>
            <a:r>
              <a:rPr lang="en-US" dirty="0" err="1"/>
              <a:t>programme</a:t>
            </a:r>
            <a:r>
              <a:rPr lang="en-US" dirty="0"/>
              <a:t> are : </a:t>
            </a:r>
          </a:p>
          <a:p>
            <a:pPr marL="342900" indent="-342900">
              <a:buAutoNum type="arabicPeriod"/>
            </a:pPr>
            <a:r>
              <a:rPr lang="en-US" dirty="0"/>
              <a:t>Sanitary survey</a:t>
            </a:r>
          </a:p>
          <a:p>
            <a:pPr marL="342900" indent="-342900">
              <a:buAutoNum type="arabicPeriod"/>
            </a:pPr>
            <a:r>
              <a:rPr lang="en-IN" dirty="0"/>
              <a:t>Sampling</a:t>
            </a:r>
            <a:endParaRPr lang="en-US" dirty="0"/>
          </a:p>
          <a:p>
            <a:pPr marL="342900" indent="-342900">
              <a:buAutoNum type="arabicPeriod"/>
            </a:pPr>
            <a:r>
              <a:rPr lang="en-IN" dirty="0"/>
              <a:t>Bacteriological </a:t>
            </a:r>
            <a:r>
              <a:rPr lang="en-IN" dirty="0" err="1"/>
              <a:t>surueillance</a:t>
            </a:r>
            <a:endParaRPr lang="en-US" dirty="0"/>
          </a:p>
          <a:p>
            <a:pPr marL="342900" indent="-342900">
              <a:buAutoNum type="arabicParenBoth"/>
            </a:pPr>
            <a:r>
              <a:rPr lang="en-IN" dirty="0"/>
              <a:t>PRESUMPTIVE COLIFORM TEST</a:t>
            </a:r>
          </a:p>
          <a:p>
            <a:pPr marL="0" indent="0">
              <a:buNone/>
            </a:pPr>
            <a:r>
              <a:rPr lang="en-IN" dirty="0"/>
              <a:t>Multiple tube method</a:t>
            </a:r>
          </a:p>
          <a:p>
            <a:pPr marL="0" indent="0">
              <a:buNone/>
            </a:pPr>
            <a:r>
              <a:rPr lang="en-IN" dirty="0"/>
              <a:t>Confirmatory tests</a:t>
            </a:r>
          </a:p>
          <a:p>
            <a:pPr marL="0" indent="0">
              <a:buNone/>
            </a:pPr>
            <a:r>
              <a:rPr lang="en-IN" dirty="0"/>
              <a:t>Membrane filtration technique</a:t>
            </a:r>
            <a:endParaRPr lang="en-US" dirty="0"/>
          </a:p>
          <a:p>
            <a:pPr marL="342900" indent="-342900">
              <a:buAutoNum type="arabicParenBoth"/>
            </a:pPr>
            <a:r>
              <a:rPr lang="en-US" dirty="0"/>
              <a:t>THE DETECTION OF FAECAL STREPTOCOCCI AND Cl. PERFRINGENS</a:t>
            </a:r>
          </a:p>
          <a:p>
            <a:pPr marL="342900" indent="-342900">
              <a:buAutoNum type="arabicParenBoth"/>
            </a:pPr>
            <a:r>
              <a:rPr lang="en-IN" dirty="0"/>
              <a:t>COLONY COUNT</a:t>
            </a:r>
          </a:p>
          <a:p>
            <a:pPr marL="342900" indent="-342900">
              <a:buAutoNum type="arabicParenBoth"/>
            </a:pPr>
            <a:r>
              <a:rPr lang="en-IN" dirty="0"/>
              <a:t>Biological examination</a:t>
            </a:r>
          </a:p>
          <a:p>
            <a:pPr marL="342900" indent="-342900">
              <a:buAutoNum type="arabicParenBoth"/>
            </a:pPr>
            <a:r>
              <a:rPr lang="en-IN" dirty="0"/>
              <a:t>Chemical surveillance</a:t>
            </a:r>
          </a:p>
          <a:p>
            <a:pPr marL="342900" indent="-342900">
              <a:buAutoNum type="arabicParenBoth"/>
            </a:pPr>
            <a:endParaRPr lang="en-US" dirty="0"/>
          </a:p>
          <a:p>
            <a:pPr marL="0" indent="0">
              <a:buNone/>
            </a:pPr>
            <a:endParaRPr lang="en-IN" dirty="0"/>
          </a:p>
        </p:txBody>
      </p:sp>
    </p:spTree>
    <p:extLst>
      <p:ext uri="{BB962C8B-B14F-4D97-AF65-F5344CB8AC3E}">
        <p14:creationId xmlns:p14="http://schemas.microsoft.com/office/powerpoint/2010/main" val="3028302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1B8E0-1075-7783-ABE7-4875FED69837}"/>
              </a:ext>
            </a:extLst>
          </p:cNvPr>
          <p:cNvSpPr>
            <a:spLocks noGrp="1"/>
          </p:cNvSpPr>
          <p:nvPr>
            <p:ph type="title"/>
          </p:nvPr>
        </p:nvSpPr>
        <p:spPr/>
        <p:txBody>
          <a:bodyPr/>
          <a:lstStyle/>
          <a:p>
            <a:r>
              <a:rPr lang="en-IN" dirty="0"/>
              <a:t>HARDNESS OF WATER</a:t>
            </a:r>
          </a:p>
        </p:txBody>
      </p:sp>
      <p:sp>
        <p:nvSpPr>
          <p:cNvPr id="3" name="Content Placeholder 2">
            <a:extLst>
              <a:ext uri="{FF2B5EF4-FFF2-40B4-BE49-F238E27FC236}">
                <a16:creationId xmlns:a16="http://schemas.microsoft.com/office/drawing/2014/main" id="{878EBC27-8CA7-20EE-2F9D-4860BBA50396}"/>
              </a:ext>
            </a:extLst>
          </p:cNvPr>
          <p:cNvSpPr>
            <a:spLocks noGrp="1"/>
          </p:cNvSpPr>
          <p:nvPr>
            <p:ph idx="1"/>
          </p:nvPr>
        </p:nvSpPr>
        <p:spPr>
          <a:xfrm>
            <a:off x="1066800" y="1809135"/>
            <a:ext cx="10058400" cy="4562167"/>
          </a:xfrm>
        </p:spPr>
        <p:txBody>
          <a:bodyPr>
            <a:normAutofit/>
          </a:bodyPr>
          <a:lstStyle/>
          <a:p>
            <a:r>
              <a:rPr lang="en-US" dirty="0"/>
              <a:t>Hardness may be defined as the soap destroying power of water. The consumer considers water hard if large amounts of soap are required to produce lather. The hardness in water is caused mainly by four dissolved compounds. </a:t>
            </a:r>
          </a:p>
          <a:p>
            <a:r>
              <a:rPr lang="en-US" dirty="0"/>
              <a:t>These are </a:t>
            </a:r>
          </a:p>
          <a:p>
            <a:r>
              <a:rPr lang="en-US" dirty="0"/>
              <a:t>(1) Calcium bicarbonate </a:t>
            </a:r>
          </a:p>
          <a:p>
            <a:r>
              <a:rPr lang="en-US" dirty="0"/>
              <a:t>(2) Magnesium bicarbonate </a:t>
            </a:r>
          </a:p>
          <a:p>
            <a:r>
              <a:rPr lang="en-US" dirty="0"/>
              <a:t>(3) Calcium sulphate, and </a:t>
            </a:r>
          </a:p>
          <a:p>
            <a:r>
              <a:rPr lang="en-US" dirty="0"/>
              <a:t>(4) Magnesium sulphate.</a:t>
            </a:r>
          </a:p>
          <a:p>
            <a:r>
              <a:rPr lang="en-US" dirty="0"/>
              <a:t>Hardness is classified as carbonate and non-carbonate. The carbonate hardness which was formerly designated as “temporary” hardness is due to the presence of calcium and magnesium bicarbonates. The non-carbonate hardness, formerly designated as “permanent” hardness, is due to calcium and magnesium sulphates, chlorides and nitrates.</a:t>
            </a:r>
            <a:endParaRPr lang="en-IN" dirty="0"/>
          </a:p>
        </p:txBody>
      </p:sp>
    </p:spTree>
    <p:extLst>
      <p:ext uri="{BB962C8B-B14F-4D97-AF65-F5344CB8AC3E}">
        <p14:creationId xmlns:p14="http://schemas.microsoft.com/office/powerpoint/2010/main" val="2959527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5C2E1E-0115-BA57-E10F-24E49218F959}"/>
              </a:ext>
            </a:extLst>
          </p:cNvPr>
          <p:cNvSpPr>
            <a:spLocks noGrp="1"/>
          </p:cNvSpPr>
          <p:nvPr>
            <p:ph idx="1"/>
          </p:nvPr>
        </p:nvSpPr>
        <p:spPr>
          <a:xfrm>
            <a:off x="1066800" y="766916"/>
            <a:ext cx="10058400" cy="5268124"/>
          </a:xfrm>
        </p:spPr>
        <p:txBody>
          <a:bodyPr/>
          <a:lstStyle/>
          <a:p>
            <a:r>
              <a:rPr lang="en-US" dirty="0"/>
              <a:t>Hardness in water is expressed in terms of “</a:t>
            </a:r>
            <a:r>
              <a:rPr lang="en-US" dirty="0" err="1"/>
              <a:t>milllequivalents</a:t>
            </a:r>
            <a:r>
              <a:rPr lang="en-US" dirty="0"/>
              <a:t> per </a:t>
            </a:r>
            <a:r>
              <a:rPr lang="en-US" dirty="0" err="1"/>
              <a:t>litre</a:t>
            </a:r>
            <a:r>
              <a:rPr lang="en-US" dirty="0"/>
              <a:t> (</a:t>
            </a:r>
            <a:r>
              <a:rPr lang="en-US" dirty="0" err="1"/>
              <a:t>mEq</a:t>
            </a:r>
            <a:r>
              <a:rPr lang="en-US" dirty="0"/>
              <a:t>/L)”. One </a:t>
            </a:r>
            <a:r>
              <a:rPr lang="en-US" dirty="0" err="1"/>
              <a:t>mEq</a:t>
            </a:r>
            <a:r>
              <a:rPr lang="en-US" dirty="0"/>
              <a:t>/L of </a:t>
            </a:r>
            <a:r>
              <a:rPr lang="en-US" dirty="0" err="1"/>
              <a:t>hardnessproducing</a:t>
            </a:r>
            <a:r>
              <a:rPr lang="en-US" dirty="0"/>
              <a:t> ion is equal to 50 mg CaCO3 (50ppm) in one </a:t>
            </a:r>
            <a:r>
              <a:rPr lang="en-US" dirty="0" err="1"/>
              <a:t>litre</a:t>
            </a:r>
            <a:r>
              <a:rPr lang="en-US" dirty="0"/>
              <a:t> of water.</a:t>
            </a:r>
          </a:p>
          <a:p>
            <a:endParaRPr lang="en-US" dirty="0"/>
          </a:p>
          <a:p>
            <a:endParaRPr lang="en-US" dirty="0"/>
          </a:p>
          <a:p>
            <a:pPr marL="0" indent="0">
              <a:buNone/>
            </a:pPr>
            <a:r>
              <a:rPr lang="en-US" dirty="0"/>
              <a:t>Classification of hardness in water:</a:t>
            </a:r>
          </a:p>
          <a:p>
            <a:r>
              <a:rPr lang="en-US" dirty="0"/>
              <a:t>Soft water                                                    less than 1(&lt;50 mg/L)</a:t>
            </a:r>
          </a:p>
          <a:p>
            <a:r>
              <a:rPr lang="en-US" dirty="0"/>
              <a:t>Moderately hard water                             1-3 (50-150 mg/L)</a:t>
            </a:r>
          </a:p>
          <a:p>
            <a:r>
              <a:rPr lang="en-US" dirty="0"/>
              <a:t>Hard water                                                  3-6 (150-300 mg/L)</a:t>
            </a:r>
          </a:p>
          <a:p>
            <a:r>
              <a:rPr lang="en-US" dirty="0"/>
              <a:t>Very hard water                                          above 6 (&gt;300 mg/L)</a:t>
            </a:r>
            <a:endParaRPr lang="en-IN" dirty="0"/>
          </a:p>
        </p:txBody>
      </p:sp>
    </p:spTree>
    <p:extLst>
      <p:ext uri="{BB962C8B-B14F-4D97-AF65-F5344CB8AC3E}">
        <p14:creationId xmlns:p14="http://schemas.microsoft.com/office/powerpoint/2010/main" val="4120360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E9094-75A9-3DCB-617C-6B8A630DFB2C}"/>
              </a:ext>
            </a:extLst>
          </p:cNvPr>
          <p:cNvSpPr>
            <a:spLocks noGrp="1"/>
          </p:cNvSpPr>
          <p:nvPr>
            <p:ph type="title"/>
          </p:nvPr>
        </p:nvSpPr>
        <p:spPr/>
        <p:txBody>
          <a:bodyPr/>
          <a:lstStyle/>
          <a:p>
            <a:r>
              <a:rPr lang="en-US" dirty="0"/>
              <a:t>Disadvantages of hardness</a:t>
            </a:r>
            <a:endParaRPr lang="en-IN" dirty="0"/>
          </a:p>
        </p:txBody>
      </p:sp>
      <p:sp>
        <p:nvSpPr>
          <p:cNvPr id="3" name="Content Placeholder 2">
            <a:extLst>
              <a:ext uri="{FF2B5EF4-FFF2-40B4-BE49-F238E27FC236}">
                <a16:creationId xmlns:a16="http://schemas.microsoft.com/office/drawing/2014/main" id="{CEF37E0A-3022-DB72-403D-6A099A32C2B1}"/>
              </a:ext>
            </a:extLst>
          </p:cNvPr>
          <p:cNvSpPr>
            <a:spLocks noGrp="1"/>
          </p:cNvSpPr>
          <p:nvPr>
            <p:ph idx="1"/>
          </p:nvPr>
        </p:nvSpPr>
        <p:spPr>
          <a:xfrm>
            <a:off x="1066800" y="1779639"/>
            <a:ext cx="10058400" cy="4611329"/>
          </a:xfrm>
        </p:spPr>
        <p:txBody>
          <a:bodyPr>
            <a:normAutofit/>
          </a:bodyPr>
          <a:lstStyle/>
          <a:p>
            <a:pPr marL="0" indent="0">
              <a:buNone/>
            </a:pPr>
            <a:r>
              <a:rPr lang="en-US" dirty="0"/>
              <a:t>Hardness in water presents several disadvantages both to the domestic and industrial consumer. These may be stated as follows: </a:t>
            </a:r>
          </a:p>
          <a:p>
            <a:pPr marL="0" indent="0">
              <a:buNone/>
            </a:pPr>
            <a:r>
              <a:rPr lang="en-US" dirty="0"/>
              <a:t>(1)  hardness in water consumes more soap and detergents </a:t>
            </a:r>
          </a:p>
          <a:p>
            <a:pPr marL="0" indent="0">
              <a:buNone/>
            </a:pPr>
            <a:r>
              <a:rPr lang="en-US" dirty="0"/>
              <a:t>(2)  when hard water is heated, the carbonates are precipitated and bring about furring or scaling of boilers. This leads to great fuel consumption, loss of efficiency and may sometimes cause boiler explosions </a:t>
            </a:r>
          </a:p>
          <a:p>
            <a:pPr marL="0" indent="0">
              <a:buNone/>
            </a:pPr>
            <a:r>
              <a:rPr lang="en-US" dirty="0"/>
              <a:t>(3)  hard water adversely affects cooking; food cooked in soft water retains its natural </a:t>
            </a:r>
            <a:r>
              <a:rPr lang="en-US" dirty="0" err="1"/>
              <a:t>colour</a:t>
            </a:r>
            <a:r>
              <a:rPr lang="en-US" dirty="0"/>
              <a:t> and appearance </a:t>
            </a:r>
          </a:p>
          <a:p>
            <a:pPr marL="0" indent="0">
              <a:buNone/>
            </a:pPr>
            <a:r>
              <a:rPr lang="en-US" dirty="0"/>
              <a:t>(4)  fabrics washed with soap in hard water do not have a long life </a:t>
            </a:r>
          </a:p>
          <a:p>
            <a:pPr marL="0" indent="0">
              <a:buNone/>
            </a:pPr>
            <a:r>
              <a:rPr lang="en-US" dirty="0"/>
              <a:t>(5)  there are many industrial processes in which hard water is unsuited and gives rise to economic losses </a:t>
            </a:r>
          </a:p>
          <a:p>
            <a:pPr marL="0" indent="0">
              <a:buNone/>
            </a:pPr>
            <a:r>
              <a:rPr lang="en-US" dirty="0"/>
              <a:t>(6)  hardness shortens the life of pipes and fixtures.</a:t>
            </a:r>
            <a:endParaRPr lang="en-IN" dirty="0"/>
          </a:p>
        </p:txBody>
      </p:sp>
    </p:spTree>
    <p:extLst>
      <p:ext uri="{BB962C8B-B14F-4D97-AF65-F5344CB8AC3E}">
        <p14:creationId xmlns:p14="http://schemas.microsoft.com/office/powerpoint/2010/main" val="1861256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FE82E-9387-F709-2EC5-A49BD55B5048}"/>
              </a:ext>
            </a:extLst>
          </p:cNvPr>
          <p:cNvSpPr>
            <a:spLocks noGrp="1"/>
          </p:cNvSpPr>
          <p:nvPr>
            <p:ph type="title"/>
          </p:nvPr>
        </p:nvSpPr>
        <p:spPr/>
        <p:txBody>
          <a:bodyPr/>
          <a:lstStyle/>
          <a:p>
            <a:r>
              <a:rPr lang="en-US" dirty="0"/>
              <a:t>Removal of hardness</a:t>
            </a:r>
            <a:endParaRPr lang="en-IN" dirty="0"/>
          </a:p>
        </p:txBody>
      </p:sp>
      <p:sp>
        <p:nvSpPr>
          <p:cNvPr id="3" name="Content Placeholder 2">
            <a:extLst>
              <a:ext uri="{FF2B5EF4-FFF2-40B4-BE49-F238E27FC236}">
                <a16:creationId xmlns:a16="http://schemas.microsoft.com/office/drawing/2014/main" id="{69C9B022-C01E-445A-7DFC-9AB99024443F}"/>
              </a:ext>
            </a:extLst>
          </p:cNvPr>
          <p:cNvSpPr>
            <a:spLocks noGrp="1"/>
          </p:cNvSpPr>
          <p:nvPr>
            <p:ph idx="1"/>
          </p:nvPr>
        </p:nvSpPr>
        <p:spPr>
          <a:xfrm>
            <a:off x="1066800" y="1848465"/>
            <a:ext cx="10058400" cy="4186575"/>
          </a:xfrm>
        </p:spPr>
        <p:txBody>
          <a:bodyPr/>
          <a:lstStyle/>
          <a:p>
            <a:r>
              <a:rPr lang="en-US" dirty="0"/>
              <a:t>The methods of removal of hardness are briefly stated as below: </a:t>
            </a:r>
          </a:p>
          <a:p>
            <a:r>
              <a:rPr lang="en-US" dirty="0"/>
              <a:t>Temporary hardness </a:t>
            </a:r>
          </a:p>
          <a:p>
            <a:pPr marL="0" indent="0">
              <a:buNone/>
            </a:pPr>
            <a:r>
              <a:rPr lang="en-US" dirty="0"/>
              <a:t>(a) Boiling </a:t>
            </a:r>
          </a:p>
          <a:p>
            <a:pPr marL="0" indent="0">
              <a:buNone/>
            </a:pPr>
            <a:r>
              <a:rPr lang="en-US" dirty="0"/>
              <a:t>(b) Addition of lime </a:t>
            </a:r>
          </a:p>
          <a:p>
            <a:pPr marL="0" indent="0">
              <a:buNone/>
            </a:pPr>
            <a:r>
              <a:rPr lang="en-US" dirty="0"/>
              <a:t>(c) Addition of sodium carbonate </a:t>
            </a:r>
          </a:p>
          <a:p>
            <a:pPr marL="0" indent="0">
              <a:buNone/>
            </a:pPr>
            <a:r>
              <a:rPr lang="en-US" dirty="0"/>
              <a:t>(d) </a:t>
            </a:r>
            <a:r>
              <a:rPr lang="en-US" dirty="0" err="1"/>
              <a:t>Permutit</a:t>
            </a:r>
            <a:r>
              <a:rPr lang="en-US" dirty="0"/>
              <a:t> process.</a:t>
            </a:r>
          </a:p>
          <a:p>
            <a:r>
              <a:rPr lang="en-US" dirty="0"/>
              <a:t>Permanent hardness </a:t>
            </a:r>
          </a:p>
          <a:p>
            <a:pPr marL="0" indent="0">
              <a:buNone/>
            </a:pPr>
            <a:r>
              <a:rPr lang="en-US" dirty="0"/>
              <a:t>(a) Addition of sodium carbonate </a:t>
            </a:r>
          </a:p>
          <a:p>
            <a:pPr marL="0" indent="0">
              <a:buNone/>
            </a:pPr>
            <a:r>
              <a:rPr lang="en-US" dirty="0"/>
              <a:t>(b) Base exchange process.</a:t>
            </a:r>
            <a:endParaRPr lang="en-IN" dirty="0"/>
          </a:p>
        </p:txBody>
      </p:sp>
    </p:spTree>
    <p:extLst>
      <p:ext uri="{BB962C8B-B14F-4D97-AF65-F5344CB8AC3E}">
        <p14:creationId xmlns:p14="http://schemas.microsoft.com/office/powerpoint/2010/main" val="2463329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DCD0-A312-AE2E-21EA-98A07E83EC16}"/>
              </a:ext>
            </a:extLst>
          </p:cNvPr>
          <p:cNvSpPr>
            <a:spLocks noGrp="1"/>
          </p:cNvSpPr>
          <p:nvPr>
            <p:ph type="title"/>
          </p:nvPr>
        </p:nvSpPr>
        <p:spPr/>
        <p:txBody>
          <a:bodyPr/>
          <a:lstStyle/>
          <a:p>
            <a:r>
              <a:rPr lang="en-IN" dirty="0"/>
              <a:t>Fluoridation of water</a:t>
            </a:r>
          </a:p>
        </p:txBody>
      </p:sp>
      <p:sp>
        <p:nvSpPr>
          <p:cNvPr id="3" name="Content Placeholder 2">
            <a:extLst>
              <a:ext uri="{FF2B5EF4-FFF2-40B4-BE49-F238E27FC236}">
                <a16:creationId xmlns:a16="http://schemas.microsoft.com/office/drawing/2014/main" id="{0D89B562-1DD6-A936-E68E-DD444B1A9908}"/>
              </a:ext>
            </a:extLst>
          </p:cNvPr>
          <p:cNvSpPr>
            <a:spLocks noGrp="1"/>
          </p:cNvSpPr>
          <p:nvPr>
            <p:ph idx="1"/>
          </p:nvPr>
        </p:nvSpPr>
        <p:spPr>
          <a:xfrm>
            <a:off x="609600" y="1799303"/>
            <a:ext cx="11130116" cy="4719483"/>
          </a:xfrm>
        </p:spPr>
        <p:txBody>
          <a:bodyPr>
            <a:normAutofit/>
          </a:bodyPr>
          <a:lstStyle/>
          <a:p>
            <a:r>
              <a:rPr lang="en-US" dirty="0"/>
              <a:t>Fluorine is one of the constituents naturally present in water supplies. The main source of fluorine is drinking water. </a:t>
            </a:r>
          </a:p>
          <a:p>
            <a:r>
              <a:rPr lang="en-US" dirty="0"/>
              <a:t>Deficiency of fluorine in drinking water is associated with dental caries, and excess with dental and skeletal fluorosis. </a:t>
            </a:r>
          </a:p>
          <a:p>
            <a:r>
              <a:rPr lang="en-US" dirty="0"/>
              <a:t>Leading workers in India regard fluorine in concentration of 0.5 to 0.8 ppm in drinking water as optimum (a concentration of 1 ppm is regarded as optimum in temperate climates because the consumption of water is low). </a:t>
            </a:r>
          </a:p>
          <a:p>
            <a:r>
              <a:rPr lang="en-US" dirty="0"/>
              <a:t>The term “fluoridation” has been given to the process of supplementing the natural fluoride content of potable waters to the point of optimum concentration. </a:t>
            </a:r>
          </a:p>
          <a:p>
            <a:r>
              <a:rPr lang="en-US" dirty="0"/>
              <a:t>The WHO in 1969 recommended fluoridation of community water supplies in areas where the total intake of fluorides by the population is below the optimal levels for protection against dental caries.</a:t>
            </a:r>
          </a:p>
          <a:p>
            <a:r>
              <a:rPr lang="en-US" dirty="0"/>
              <a:t>Fluoridation is now an accepted public health procedure in many developed countries</a:t>
            </a:r>
            <a:endParaRPr lang="en-IN" dirty="0"/>
          </a:p>
        </p:txBody>
      </p:sp>
    </p:spTree>
    <p:extLst>
      <p:ext uri="{BB962C8B-B14F-4D97-AF65-F5344CB8AC3E}">
        <p14:creationId xmlns:p14="http://schemas.microsoft.com/office/powerpoint/2010/main" val="3290407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10BD3-5530-9643-5FFD-FE82C064B090}"/>
              </a:ext>
            </a:extLst>
          </p:cNvPr>
          <p:cNvSpPr>
            <a:spLocks noGrp="1"/>
          </p:cNvSpPr>
          <p:nvPr>
            <p:ph type="title"/>
          </p:nvPr>
        </p:nvSpPr>
        <p:spPr>
          <a:xfrm>
            <a:off x="1066800" y="427703"/>
            <a:ext cx="10058400" cy="1371600"/>
          </a:xfrm>
        </p:spPr>
        <p:txBody>
          <a:bodyPr/>
          <a:lstStyle/>
          <a:p>
            <a:r>
              <a:rPr lang="en-US" dirty="0"/>
              <a:t>SELECTION OF SOURCE OF WATER</a:t>
            </a:r>
            <a:endParaRPr lang="en-IN" dirty="0"/>
          </a:p>
        </p:txBody>
      </p:sp>
      <p:sp>
        <p:nvSpPr>
          <p:cNvPr id="3" name="Content Placeholder 2">
            <a:extLst>
              <a:ext uri="{FF2B5EF4-FFF2-40B4-BE49-F238E27FC236}">
                <a16:creationId xmlns:a16="http://schemas.microsoft.com/office/drawing/2014/main" id="{09A7473B-1270-41E7-FAF3-C6FD06252B26}"/>
              </a:ext>
            </a:extLst>
          </p:cNvPr>
          <p:cNvSpPr>
            <a:spLocks noGrp="1"/>
          </p:cNvSpPr>
          <p:nvPr>
            <p:ph idx="1"/>
          </p:nvPr>
        </p:nvSpPr>
        <p:spPr>
          <a:xfrm>
            <a:off x="688257" y="1710814"/>
            <a:ext cx="10923639" cy="4719483"/>
          </a:xfrm>
        </p:spPr>
        <p:txBody>
          <a:bodyPr>
            <a:normAutofit/>
          </a:bodyPr>
          <a:lstStyle/>
          <a:p>
            <a:pPr marL="0" indent="0">
              <a:buNone/>
            </a:pPr>
            <a:r>
              <a:rPr lang="en-US" sz="2000" dirty="0"/>
              <a:t>In selecting a source, attention must be given to possible future developments that may influence the continued suitability of the source. Other considerations include :</a:t>
            </a:r>
          </a:p>
          <a:p>
            <a:pPr marL="0" indent="0">
              <a:buNone/>
            </a:pPr>
            <a:r>
              <a:rPr lang="en-US" sz="2000" b="1" dirty="0"/>
              <a:t>(a) Quantity (source capacity): </a:t>
            </a:r>
            <a:r>
              <a:rPr lang="en-US" sz="2000" dirty="0"/>
              <a:t>The quantity of water should be sufficient to meet continuing water demands, taking into account daily and seasonal variations and projected growth in the size of the community being served, </a:t>
            </a:r>
          </a:p>
          <a:p>
            <a:pPr marL="0" indent="0">
              <a:buNone/>
            </a:pPr>
            <a:r>
              <a:rPr lang="en-US" sz="2000" b="1" dirty="0"/>
              <a:t>(b) Quality :</a:t>
            </a:r>
            <a:r>
              <a:rPr lang="en-US" sz="2000" dirty="0"/>
              <a:t> The quality of raw water should be such that, with appropriate treatment it meets the drinking water standards, </a:t>
            </a:r>
          </a:p>
          <a:p>
            <a:pPr marL="0" indent="0">
              <a:buNone/>
            </a:pPr>
            <a:r>
              <a:rPr lang="en-US" sz="2000" b="1" dirty="0"/>
              <a:t>(c) Protection : </a:t>
            </a:r>
            <a:r>
              <a:rPr lang="en-US" sz="2000" dirty="0"/>
              <a:t>The watershed must be protected from pollution with human excreta, industrial discharge and agricultural run-off. </a:t>
            </a:r>
          </a:p>
          <a:p>
            <a:pPr marL="0" indent="0">
              <a:buNone/>
            </a:pPr>
            <a:r>
              <a:rPr lang="en-US" sz="2000" b="1" dirty="0"/>
              <a:t>(d) Feasibility : </a:t>
            </a:r>
            <a:r>
              <a:rPr lang="en-US" sz="2000" dirty="0"/>
              <a:t>The source should be available at reasonable cost, </a:t>
            </a:r>
          </a:p>
          <a:p>
            <a:pPr marL="0" indent="0">
              <a:buNone/>
            </a:pPr>
            <a:r>
              <a:rPr lang="en-US" sz="2000" b="1" dirty="0"/>
              <a:t>(e) Treatability : </a:t>
            </a:r>
            <a:r>
              <a:rPr lang="en-US" sz="2000" dirty="0"/>
              <a:t>The raw water should be treated adequately under locally prevailing conditions.</a:t>
            </a:r>
            <a:endParaRPr lang="en-IN" sz="2000" dirty="0"/>
          </a:p>
        </p:txBody>
      </p:sp>
    </p:spTree>
    <p:extLst>
      <p:ext uri="{BB962C8B-B14F-4D97-AF65-F5344CB8AC3E}">
        <p14:creationId xmlns:p14="http://schemas.microsoft.com/office/powerpoint/2010/main" val="5939832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2C334-D205-2342-92B4-19447A762491}"/>
              </a:ext>
            </a:extLst>
          </p:cNvPr>
          <p:cNvSpPr>
            <a:spLocks noGrp="1"/>
          </p:cNvSpPr>
          <p:nvPr>
            <p:ph type="title"/>
          </p:nvPr>
        </p:nvSpPr>
        <p:spPr>
          <a:xfrm>
            <a:off x="1066800" y="309716"/>
            <a:ext cx="10058400" cy="1371600"/>
          </a:xfrm>
        </p:spPr>
        <p:txBody>
          <a:bodyPr/>
          <a:lstStyle/>
          <a:p>
            <a:r>
              <a:rPr lang="en-IN" dirty="0"/>
              <a:t>DISTRIBUTION OF WATER</a:t>
            </a:r>
          </a:p>
        </p:txBody>
      </p:sp>
      <p:sp>
        <p:nvSpPr>
          <p:cNvPr id="3" name="Content Placeholder 2">
            <a:extLst>
              <a:ext uri="{FF2B5EF4-FFF2-40B4-BE49-F238E27FC236}">
                <a16:creationId xmlns:a16="http://schemas.microsoft.com/office/drawing/2014/main" id="{CF5CDB11-DA15-E5D6-91CA-CDF172064FCB}"/>
              </a:ext>
            </a:extLst>
          </p:cNvPr>
          <p:cNvSpPr>
            <a:spLocks noGrp="1"/>
          </p:cNvSpPr>
          <p:nvPr>
            <p:ph idx="1"/>
          </p:nvPr>
        </p:nvSpPr>
        <p:spPr>
          <a:xfrm>
            <a:off x="540774" y="1435509"/>
            <a:ext cx="11130116" cy="4807974"/>
          </a:xfrm>
        </p:spPr>
        <p:txBody>
          <a:bodyPr>
            <a:normAutofit/>
          </a:bodyPr>
          <a:lstStyle/>
          <a:p>
            <a:r>
              <a:rPr lang="en-US" dirty="0"/>
              <a:t>There are two main systems of water distribution, the intermittent supply and the continuous supply.</a:t>
            </a:r>
          </a:p>
          <a:p>
            <a:r>
              <a:rPr lang="en-US" dirty="0"/>
              <a:t> In the intermittent system, water is delivered only during fixed hours. The disadvantages of the intermittent system are : </a:t>
            </a:r>
          </a:p>
          <a:p>
            <a:r>
              <a:rPr lang="en-US" dirty="0"/>
              <a:t>(1) the pipes may be empty during times of emergency </a:t>
            </a:r>
          </a:p>
          <a:p>
            <a:r>
              <a:rPr lang="en-US" dirty="0"/>
              <a:t>(2) people need to store water in containers which may not be clean always. The safe water is likely to be rendered unsafe through improper storage </a:t>
            </a:r>
          </a:p>
          <a:p>
            <a:r>
              <a:rPr lang="en-US" dirty="0"/>
              <a:t>(3) when the pipes are empty, there is negative pressure and by what is known as back-siphoning, bacteria and foul gases may be sucked in through leaky joints. </a:t>
            </a:r>
          </a:p>
          <a:p>
            <a:r>
              <a:rPr lang="en-US" dirty="0"/>
              <a:t>A number of recorded outbreaks of typhoid and of relapsing fever, among other diseases, have been traced back to the contamination of water in the intermittent piped water supplies. Flowing water available 24 hours is therefore desirable, although it may entail some wastage of water through misuse. The supply of water in most cities in India is intermittent. A WHO Expert Committee (1965) strongly recommended that intermittent and low pressure service should be avoided.</a:t>
            </a:r>
            <a:endParaRPr lang="en-IN" dirty="0"/>
          </a:p>
        </p:txBody>
      </p:sp>
    </p:spTree>
    <p:extLst>
      <p:ext uri="{BB962C8B-B14F-4D97-AF65-F5344CB8AC3E}">
        <p14:creationId xmlns:p14="http://schemas.microsoft.com/office/powerpoint/2010/main" val="2823898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9DB159-3A6E-7737-8EB4-435E80C1B82F}"/>
              </a:ext>
            </a:extLst>
          </p:cNvPr>
          <p:cNvSpPr>
            <a:spLocks noGrp="1"/>
          </p:cNvSpPr>
          <p:nvPr>
            <p:ph idx="1"/>
          </p:nvPr>
        </p:nvSpPr>
        <p:spPr>
          <a:xfrm>
            <a:off x="1066800" y="943897"/>
            <a:ext cx="10058400" cy="5091143"/>
          </a:xfrm>
        </p:spPr>
        <p:txBody>
          <a:bodyPr/>
          <a:lstStyle/>
          <a:p>
            <a:pPr marL="0" indent="0">
              <a:buNone/>
            </a:pPr>
            <a:r>
              <a:rPr lang="en-US" dirty="0"/>
              <a:t>DUAL WATER SUPPLY: </a:t>
            </a:r>
          </a:p>
          <a:p>
            <a:r>
              <a:rPr lang="en-US" dirty="0"/>
              <a:t>In Kolkata, there was a dual water supply system, i.e., one set of pipes supplying filtered water for personal use and the other set supplying unfiltered water for flushing toilets, washing roads and other civic purposes.</a:t>
            </a:r>
          </a:p>
          <a:p>
            <a:r>
              <a:rPr lang="en-US" dirty="0"/>
              <a:t> The greatest drawback of the dual system is that people may mistake one for the other through ignorance. The WHO Expert Committee (1965) strongly disapproved of the practice of supplying two kinds of water. The possibility of cross-connection constitutes a serious health hazard. </a:t>
            </a:r>
            <a:endParaRPr lang="en-IN" dirty="0"/>
          </a:p>
        </p:txBody>
      </p:sp>
    </p:spTree>
    <p:extLst>
      <p:ext uri="{BB962C8B-B14F-4D97-AF65-F5344CB8AC3E}">
        <p14:creationId xmlns:p14="http://schemas.microsoft.com/office/powerpoint/2010/main" val="110834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04F19-EED4-816F-EEE1-092B5761A779}"/>
              </a:ext>
            </a:extLst>
          </p:cNvPr>
          <p:cNvSpPr>
            <a:spLocks noGrp="1"/>
          </p:cNvSpPr>
          <p:nvPr>
            <p:ph type="title"/>
          </p:nvPr>
        </p:nvSpPr>
        <p:spPr/>
        <p:txBody>
          <a:bodyPr/>
          <a:lstStyle/>
          <a:p>
            <a:r>
              <a:rPr lang="en-IN" dirty="0"/>
              <a:t>SWIMMING POOL SANITATION</a:t>
            </a:r>
          </a:p>
        </p:txBody>
      </p:sp>
      <p:sp>
        <p:nvSpPr>
          <p:cNvPr id="3" name="Content Placeholder 2">
            <a:extLst>
              <a:ext uri="{FF2B5EF4-FFF2-40B4-BE49-F238E27FC236}">
                <a16:creationId xmlns:a16="http://schemas.microsoft.com/office/drawing/2014/main" id="{093F7C34-866A-B38A-1493-6E7EA6E504E1}"/>
              </a:ext>
            </a:extLst>
          </p:cNvPr>
          <p:cNvSpPr>
            <a:spLocks noGrp="1"/>
          </p:cNvSpPr>
          <p:nvPr>
            <p:ph idx="1"/>
          </p:nvPr>
        </p:nvSpPr>
        <p:spPr>
          <a:xfrm>
            <a:off x="1066800" y="2103119"/>
            <a:ext cx="10058400" cy="4278015"/>
          </a:xfrm>
        </p:spPr>
        <p:txBody>
          <a:bodyPr>
            <a:normAutofit/>
          </a:bodyPr>
          <a:lstStyle/>
          <a:p>
            <a:r>
              <a:rPr lang="en-US" dirty="0"/>
              <a:t>Swimming pool water is exposed to :</a:t>
            </a:r>
          </a:p>
          <a:p>
            <a:pPr marL="0" indent="0">
              <a:buNone/>
            </a:pPr>
            <a:r>
              <a:rPr lang="en-US" dirty="0"/>
              <a:t>(1) </a:t>
            </a:r>
            <a:r>
              <a:rPr lang="en-US" dirty="0" err="1"/>
              <a:t>faecal</a:t>
            </a:r>
            <a:r>
              <a:rPr lang="en-US" dirty="0"/>
              <a:t> contamination and </a:t>
            </a:r>
          </a:p>
          <a:p>
            <a:pPr marL="0" indent="0">
              <a:buNone/>
            </a:pPr>
            <a:r>
              <a:rPr lang="en-US" dirty="0"/>
              <a:t>(2) organisms from skin and nasopharynx. </a:t>
            </a:r>
          </a:p>
          <a:p>
            <a:pPr marL="0" indent="0">
              <a:buNone/>
            </a:pPr>
            <a:r>
              <a:rPr lang="en-US" dirty="0"/>
              <a:t>The health hazards associated with swimming pools are: </a:t>
            </a:r>
          </a:p>
          <a:p>
            <a:pPr marL="342900" indent="-342900">
              <a:buAutoNum type="arabicParenBoth"/>
            </a:pPr>
            <a:r>
              <a:rPr lang="en-US" dirty="0"/>
              <a:t>fungal and viral infections of the skin. This includes Epidermophyton and Trichophyton species which produce “athlete’s foot.” The papilloma virus is the inciting agent of “plantar warts” </a:t>
            </a:r>
          </a:p>
          <a:p>
            <a:pPr marL="342900" indent="-342900">
              <a:buAutoNum type="arabicParenBoth"/>
            </a:pPr>
            <a:r>
              <a:rPr lang="en-US" dirty="0"/>
              <a:t>infections of the eye, ear, nose and throat</a:t>
            </a:r>
          </a:p>
          <a:p>
            <a:pPr marL="0" indent="0">
              <a:buNone/>
            </a:pPr>
            <a:r>
              <a:rPr lang="en-US" dirty="0"/>
              <a:t>(3) infections of the upper respiratory tract, </a:t>
            </a:r>
          </a:p>
          <a:p>
            <a:pPr marL="0" indent="0">
              <a:buNone/>
            </a:pPr>
            <a:r>
              <a:rPr lang="en-US" dirty="0"/>
              <a:t>(4) intestinal infections, and </a:t>
            </a:r>
          </a:p>
          <a:p>
            <a:pPr marL="0" indent="0">
              <a:buNone/>
            </a:pPr>
            <a:r>
              <a:rPr lang="en-US" dirty="0"/>
              <a:t>(5) accidents</a:t>
            </a:r>
            <a:endParaRPr lang="en-IN" dirty="0"/>
          </a:p>
        </p:txBody>
      </p:sp>
    </p:spTree>
    <p:extLst>
      <p:ext uri="{BB962C8B-B14F-4D97-AF65-F5344CB8AC3E}">
        <p14:creationId xmlns:p14="http://schemas.microsoft.com/office/powerpoint/2010/main" val="11687790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34BB1-312E-940A-FB58-3A21E11DFDE0}"/>
              </a:ext>
            </a:extLst>
          </p:cNvPr>
          <p:cNvSpPr>
            <a:spLocks noGrp="1"/>
          </p:cNvSpPr>
          <p:nvPr>
            <p:ph type="title"/>
          </p:nvPr>
        </p:nvSpPr>
        <p:spPr/>
        <p:txBody>
          <a:bodyPr>
            <a:normAutofit fontScale="90000"/>
          </a:bodyPr>
          <a:lstStyle/>
          <a:p>
            <a:r>
              <a:rPr lang="en-US" dirty="0"/>
              <a:t>National Water Supply and Sanitation </a:t>
            </a:r>
            <a:r>
              <a:rPr lang="en-US" dirty="0" err="1"/>
              <a:t>Programme</a:t>
            </a:r>
            <a:endParaRPr lang="en-IN" dirty="0"/>
          </a:p>
        </p:txBody>
      </p:sp>
      <p:sp>
        <p:nvSpPr>
          <p:cNvPr id="3" name="Content Placeholder 2">
            <a:extLst>
              <a:ext uri="{FF2B5EF4-FFF2-40B4-BE49-F238E27FC236}">
                <a16:creationId xmlns:a16="http://schemas.microsoft.com/office/drawing/2014/main" id="{80A6C5E3-9DC7-E712-F0CE-97C973BE4183}"/>
              </a:ext>
            </a:extLst>
          </p:cNvPr>
          <p:cNvSpPr>
            <a:spLocks noGrp="1"/>
          </p:cNvSpPr>
          <p:nvPr>
            <p:ph idx="1"/>
          </p:nvPr>
        </p:nvSpPr>
        <p:spPr/>
        <p:txBody>
          <a:bodyPr/>
          <a:lstStyle/>
          <a:p>
            <a:r>
              <a:rPr lang="en-US" dirty="0"/>
              <a:t>The National Water Supply and Sanitation </a:t>
            </a:r>
            <a:r>
              <a:rPr lang="en-US" dirty="0" err="1"/>
              <a:t>Programme</a:t>
            </a:r>
            <a:r>
              <a:rPr lang="en-US" dirty="0"/>
              <a:t> was launched in 1954 by the Govt, of India as part of the Health Plan to assist the States to provide adequate water supply and sanitation facilities in the entire country. </a:t>
            </a:r>
          </a:p>
          <a:p>
            <a:r>
              <a:rPr lang="en-US" dirty="0"/>
              <a:t>Provision has been made in the successive 5-year Plans to improve the water supply.</a:t>
            </a:r>
            <a:endParaRPr lang="en-IN" dirty="0"/>
          </a:p>
        </p:txBody>
      </p:sp>
    </p:spTree>
    <p:extLst>
      <p:ext uri="{BB962C8B-B14F-4D97-AF65-F5344CB8AC3E}">
        <p14:creationId xmlns:p14="http://schemas.microsoft.com/office/powerpoint/2010/main" val="27920969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2D437-5521-2137-D1EF-D238C01FE31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658D8D3-F4CC-A629-366C-F52B5476892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932812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6228E-CCDF-00CA-4DDF-775DDA7D44C6}"/>
              </a:ext>
            </a:extLst>
          </p:cNvPr>
          <p:cNvSpPr>
            <a:spLocks noGrp="1"/>
          </p:cNvSpPr>
          <p:nvPr>
            <p:ph type="ctrTitle"/>
          </p:nvPr>
        </p:nvSpPr>
        <p:spPr/>
        <p:txBody>
          <a:bodyPr/>
          <a:lstStyle/>
          <a:p>
            <a:r>
              <a:rPr lang="en-US" dirty="0"/>
              <a:t>Air pollution</a:t>
            </a:r>
            <a:endParaRPr lang="en-IN" dirty="0"/>
          </a:p>
        </p:txBody>
      </p:sp>
      <p:sp>
        <p:nvSpPr>
          <p:cNvPr id="3" name="Subtitle 2">
            <a:extLst>
              <a:ext uri="{FF2B5EF4-FFF2-40B4-BE49-F238E27FC236}">
                <a16:creationId xmlns:a16="http://schemas.microsoft.com/office/drawing/2014/main" id="{9CF8BFF1-BC87-323E-1689-5E936422F0AC}"/>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0363834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19A60-06EA-A40C-5E13-CD4FC8C93523}"/>
              </a:ext>
            </a:extLst>
          </p:cNvPr>
          <p:cNvSpPr>
            <a:spLocks noGrp="1"/>
          </p:cNvSpPr>
          <p:nvPr>
            <p:ph type="title"/>
          </p:nvPr>
        </p:nvSpPr>
        <p:spPr/>
        <p:txBody>
          <a:bodyPr/>
          <a:lstStyle/>
          <a:p>
            <a:r>
              <a:rPr lang="en-US" dirty="0"/>
              <a:t>Composition</a:t>
            </a:r>
            <a:endParaRPr lang="en-IN" dirty="0"/>
          </a:p>
        </p:txBody>
      </p:sp>
      <p:sp>
        <p:nvSpPr>
          <p:cNvPr id="3" name="Content Placeholder 2">
            <a:extLst>
              <a:ext uri="{FF2B5EF4-FFF2-40B4-BE49-F238E27FC236}">
                <a16:creationId xmlns:a16="http://schemas.microsoft.com/office/drawing/2014/main" id="{DBF7FAA1-D621-0442-D202-4543C991A940}"/>
              </a:ext>
            </a:extLst>
          </p:cNvPr>
          <p:cNvSpPr>
            <a:spLocks noGrp="1"/>
          </p:cNvSpPr>
          <p:nvPr>
            <p:ph idx="1"/>
          </p:nvPr>
        </p:nvSpPr>
        <p:spPr/>
        <p:txBody>
          <a:bodyPr/>
          <a:lstStyle/>
          <a:p>
            <a:r>
              <a:rPr lang="en-US" dirty="0"/>
              <a:t>Air is a mechanical mixture of gases. The normal composition of external air by volume is approximately as follows: </a:t>
            </a:r>
          </a:p>
          <a:p>
            <a:r>
              <a:rPr lang="en-US" dirty="0"/>
              <a:t>Nitrogen - 78.1 per cent </a:t>
            </a:r>
          </a:p>
          <a:p>
            <a:r>
              <a:rPr lang="en-US" dirty="0"/>
              <a:t>Oxygen - 20.93 per cent</a:t>
            </a:r>
          </a:p>
          <a:p>
            <a:r>
              <a:rPr lang="en-US" dirty="0"/>
              <a:t>Carbon dioxide - 0.03 per cent. </a:t>
            </a:r>
          </a:p>
          <a:p>
            <a:r>
              <a:rPr lang="en-US" dirty="0"/>
              <a:t>The balance is made up of other gases which occur in traces, e.g., argon, neon, krypton, xenon and helium. In addition to these gases, air also contains water </a:t>
            </a:r>
            <a:r>
              <a:rPr lang="en-US" dirty="0" err="1"/>
              <a:t>vapour</a:t>
            </a:r>
            <a:r>
              <a:rPr lang="en-US" dirty="0"/>
              <a:t>, traces of ammonia and suspended matter such as dust, bacteria, spores and vegetable debris.</a:t>
            </a:r>
            <a:endParaRPr lang="en-IN" dirty="0"/>
          </a:p>
        </p:txBody>
      </p:sp>
    </p:spTree>
    <p:extLst>
      <p:ext uri="{BB962C8B-B14F-4D97-AF65-F5344CB8AC3E}">
        <p14:creationId xmlns:p14="http://schemas.microsoft.com/office/powerpoint/2010/main" val="39029155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92A5C5C-DE8B-16CA-F2BE-552751173C3F}"/>
              </a:ext>
            </a:extLst>
          </p:cNvPr>
          <p:cNvSpPr>
            <a:spLocks noGrp="1"/>
          </p:cNvSpPr>
          <p:nvPr>
            <p:ph idx="1"/>
          </p:nvPr>
        </p:nvSpPr>
        <p:spPr>
          <a:xfrm>
            <a:off x="511277" y="570272"/>
            <a:ext cx="11090788" cy="5820696"/>
          </a:xfrm>
        </p:spPr>
        <p:txBody>
          <a:bodyPr>
            <a:normAutofit/>
          </a:bodyPr>
          <a:lstStyle/>
          <a:p>
            <a:r>
              <a:rPr lang="en-US" dirty="0"/>
              <a:t>Air is rendered impure by :</a:t>
            </a:r>
          </a:p>
          <a:p>
            <a:r>
              <a:rPr lang="en-US" dirty="0"/>
              <a:t>(1) Respiration of men and animals</a:t>
            </a:r>
          </a:p>
          <a:p>
            <a:r>
              <a:rPr lang="en-US" dirty="0"/>
              <a:t>(2) Combustion of coal, gas, oil, etc. </a:t>
            </a:r>
          </a:p>
          <a:p>
            <a:r>
              <a:rPr lang="en-US" dirty="0"/>
              <a:t>(3) Decomposition of organic matter and </a:t>
            </a:r>
          </a:p>
          <a:p>
            <a:r>
              <a:rPr lang="en-US" dirty="0"/>
              <a:t>(4) Trade, traffic and manufacturing processes which give off dust, fumes, </a:t>
            </a:r>
            <a:r>
              <a:rPr lang="en-US" dirty="0" err="1"/>
              <a:t>vapours</a:t>
            </a:r>
            <a:r>
              <a:rPr lang="en-US" dirty="0"/>
              <a:t> and gases. </a:t>
            </a:r>
          </a:p>
          <a:p>
            <a:r>
              <a:rPr lang="en-US" dirty="0"/>
              <a:t>Under ordinary conditions, the composition of outdoor air is remarkably constant. This is brought about by certain self-cleansing mechanisms which operate in nature </a:t>
            </a:r>
          </a:p>
          <a:p>
            <a:r>
              <a:rPr lang="en-US" dirty="0"/>
              <a:t>(1) Wind : Wind dilutes and sweeps away the impurities by its movement. Because of wind movement, impurities do not accumulate in any one place; </a:t>
            </a:r>
          </a:p>
          <a:p>
            <a:r>
              <a:rPr lang="en-US" dirty="0"/>
              <a:t>(2) Sunlight: The atmospheric temperature and sunlight play their own part by oxidizing impurities, and killing bacteria; </a:t>
            </a:r>
          </a:p>
          <a:p>
            <a:r>
              <a:rPr lang="en-US" dirty="0"/>
              <a:t>(3) Rain : It cleanses the atmosphere by removing the suspended and gaseous impurities; </a:t>
            </a:r>
          </a:p>
          <a:p>
            <a:r>
              <a:rPr lang="en-US" dirty="0"/>
              <a:t>(4) Plant life : The green plants utilize </a:t>
            </a:r>
            <a:r>
              <a:rPr lang="en-US" dirty="0" err="1"/>
              <a:t>fhe</a:t>
            </a:r>
            <a:r>
              <a:rPr lang="en-US" dirty="0"/>
              <a:t> carbon dioxide and generate oxygen; this process is reversed during the night time. When the rate of pollution becomes too high or when the cleansing process becomes Ineffective, it constitutes a health hazard.</a:t>
            </a:r>
            <a:endParaRPr lang="en-IN" dirty="0"/>
          </a:p>
        </p:txBody>
      </p:sp>
    </p:spTree>
    <p:extLst>
      <p:ext uri="{BB962C8B-B14F-4D97-AF65-F5344CB8AC3E}">
        <p14:creationId xmlns:p14="http://schemas.microsoft.com/office/powerpoint/2010/main" val="3475906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6F56-5A18-0843-4DD2-8BE9E135FA80}"/>
              </a:ext>
            </a:extLst>
          </p:cNvPr>
          <p:cNvSpPr>
            <a:spLocks noGrp="1"/>
          </p:cNvSpPr>
          <p:nvPr>
            <p:ph type="title"/>
          </p:nvPr>
        </p:nvSpPr>
        <p:spPr/>
        <p:txBody>
          <a:bodyPr/>
          <a:lstStyle/>
          <a:p>
            <a:r>
              <a:rPr lang="en-US" dirty="0"/>
              <a:t>The air of occupied room</a:t>
            </a:r>
            <a:endParaRPr lang="en-IN" dirty="0"/>
          </a:p>
        </p:txBody>
      </p:sp>
      <p:sp>
        <p:nvSpPr>
          <p:cNvPr id="3" name="Content Placeholder 2">
            <a:extLst>
              <a:ext uri="{FF2B5EF4-FFF2-40B4-BE49-F238E27FC236}">
                <a16:creationId xmlns:a16="http://schemas.microsoft.com/office/drawing/2014/main" id="{3093F957-76C1-DA1A-8C8D-D13679EAAA44}"/>
              </a:ext>
            </a:extLst>
          </p:cNvPr>
          <p:cNvSpPr>
            <a:spLocks noGrp="1"/>
          </p:cNvSpPr>
          <p:nvPr>
            <p:ph idx="1"/>
          </p:nvPr>
        </p:nvSpPr>
        <p:spPr/>
        <p:txBody>
          <a:bodyPr/>
          <a:lstStyle/>
          <a:p>
            <a:r>
              <a:rPr lang="en-US" dirty="0"/>
              <a:t>Human occupancy and activity vitiate air in occupied rooms and give a sense of discomfort to the occupants. The changes in air that take place in confined places are both chemical and physical, </a:t>
            </a:r>
          </a:p>
          <a:p>
            <a:r>
              <a:rPr lang="en-US" dirty="0"/>
              <a:t>(a) CHEMICAL CHANGES The air becomes progressively contaminated by carbon dioxide and the oxygen content decreases due to metabolic processes. </a:t>
            </a:r>
          </a:p>
          <a:p>
            <a:r>
              <a:rPr lang="en-US" dirty="0"/>
              <a:t>An average person at rest gives off 0.7 </a:t>
            </a:r>
            <a:r>
              <a:rPr lang="en-US" dirty="0" err="1"/>
              <a:t>c.ft</a:t>
            </a:r>
            <a:r>
              <a:rPr lang="en-US" dirty="0"/>
              <a:t> of carbon dioxide per hour; this may increase up to 2 </a:t>
            </a:r>
            <a:r>
              <a:rPr lang="en-US" dirty="0" err="1"/>
              <a:t>c.ft</a:t>
            </a:r>
            <a:r>
              <a:rPr lang="en-US" dirty="0"/>
              <a:t>. during physical activity. </a:t>
            </a:r>
          </a:p>
          <a:p>
            <a:r>
              <a:rPr lang="en-US" dirty="0"/>
              <a:t>In a mixed gathering comprising all age groups, the per capita output of carbon dioxide is taken as 0.6 </a:t>
            </a:r>
            <a:r>
              <a:rPr lang="en-US" dirty="0" err="1"/>
              <a:t>c.ft</a:t>
            </a:r>
            <a:r>
              <a:rPr lang="en-US" dirty="0"/>
              <a:t>. per hour.</a:t>
            </a:r>
            <a:endParaRPr lang="en-IN" dirty="0"/>
          </a:p>
        </p:txBody>
      </p:sp>
    </p:spTree>
    <p:extLst>
      <p:ext uri="{BB962C8B-B14F-4D97-AF65-F5344CB8AC3E}">
        <p14:creationId xmlns:p14="http://schemas.microsoft.com/office/powerpoint/2010/main" val="22959617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C97194-F371-911C-99F8-58DA69E4A90A}"/>
              </a:ext>
            </a:extLst>
          </p:cNvPr>
          <p:cNvSpPr>
            <a:spLocks noGrp="1"/>
          </p:cNvSpPr>
          <p:nvPr>
            <p:ph idx="1"/>
          </p:nvPr>
        </p:nvSpPr>
        <p:spPr>
          <a:xfrm>
            <a:off x="688258" y="707923"/>
            <a:ext cx="10835148" cy="5327117"/>
          </a:xfrm>
        </p:spPr>
        <p:txBody>
          <a:bodyPr/>
          <a:lstStyle/>
          <a:p>
            <a:pPr marL="0" indent="0">
              <a:buNone/>
            </a:pPr>
            <a:r>
              <a:rPr lang="en-US" dirty="0"/>
              <a:t>(b) PHYSICAL CHANCES : The most important changes that occur due to human occupancy are the physical changes. These are </a:t>
            </a:r>
          </a:p>
          <a:p>
            <a:r>
              <a:rPr lang="en-US" dirty="0"/>
              <a:t>(</a:t>
            </a:r>
            <a:r>
              <a:rPr lang="en-US" dirty="0" err="1"/>
              <a:t>i</a:t>
            </a:r>
            <a:r>
              <a:rPr lang="en-US" dirty="0"/>
              <a:t>) Rise in temperature </a:t>
            </a:r>
          </a:p>
          <a:p>
            <a:r>
              <a:rPr lang="en-US" dirty="0"/>
              <a:t>(ii) Increase of humidity </a:t>
            </a:r>
          </a:p>
          <a:p>
            <a:r>
              <a:rPr lang="en-US" dirty="0"/>
              <a:t>(iii) Decrease in air movement</a:t>
            </a:r>
          </a:p>
          <a:p>
            <a:r>
              <a:rPr lang="en-US" dirty="0"/>
              <a:t>(iv) Body odor</a:t>
            </a:r>
          </a:p>
          <a:p>
            <a:r>
              <a:rPr lang="en-US" dirty="0"/>
              <a:t>(v) Bacterial pollution : The exhaled air contains microorganisms in suspension. These are principally saprophytic bacteria and may include pathogenic bacteria. These organisms are discharged into the air during conversation, coughing, sneezing and loud talking.</a:t>
            </a:r>
            <a:endParaRPr lang="en-IN" dirty="0"/>
          </a:p>
        </p:txBody>
      </p:sp>
    </p:spTree>
    <p:extLst>
      <p:ext uri="{BB962C8B-B14F-4D97-AF65-F5344CB8AC3E}">
        <p14:creationId xmlns:p14="http://schemas.microsoft.com/office/powerpoint/2010/main" val="28279491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TM03457510[[fn=Savon]]</Template>
  <TotalTime>149</TotalTime>
  <Words>2515</Words>
  <Application>Microsoft Office PowerPoint</Application>
  <PresentationFormat>Widescreen</PresentationFormat>
  <Paragraphs>225</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Century Gothic</vt:lpstr>
      <vt:lpstr>Garamond</vt:lpstr>
      <vt:lpstr>Savon</vt:lpstr>
      <vt:lpstr>Water pollution and air pollution</vt:lpstr>
      <vt:lpstr>WATER QUALITY - CRITERIA AND STANDARDS</vt:lpstr>
      <vt:lpstr>I. ACCEPTABILITY ASPECTS</vt:lpstr>
      <vt:lpstr>PowerPoint Presentation</vt:lpstr>
      <vt:lpstr>II. MICROBIOLOGICAL ASPECTS</vt:lpstr>
      <vt:lpstr>III. CHEMICAL ASPECTS</vt:lpstr>
      <vt:lpstr>Organic constituents</vt:lpstr>
      <vt:lpstr>Pesticides :</vt:lpstr>
      <vt:lpstr>Polynuclear aromatic hydrocarbons :</vt:lpstr>
      <vt:lpstr>Drinking water consumption and body weight</vt:lpstr>
      <vt:lpstr>RADIOLOGICAL ASPECTS </vt:lpstr>
      <vt:lpstr>SURVEILLANCE OF DRINKING WATER QUALITY</vt:lpstr>
      <vt:lpstr>PowerPoint Presentation</vt:lpstr>
      <vt:lpstr>PowerPoint Presentation</vt:lpstr>
      <vt:lpstr>HARDNESS OF WATER</vt:lpstr>
      <vt:lpstr>PowerPoint Presentation</vt:lpstr>
      <vt:lpstr>Disadvantages of hardness</vt:lpstr>
      <vt:lpstr>Removal of hardness</vt:lpstr>
      <vt:lpstr>Fluoridation of water</vt:lpstr>
      <vt:lpstr>SELECTION OF SOURCE OF WATER</vt:lpstr>
      <vt:lpstr>DISTRIBUTION OF WATER</vt:lpstr>
      <vt:lpstr>PowerPoint Presentation</vt:lpstr>
      <vt:lpstr>SWIMMING POOL SANITATION</vt:lpstr>
      <vt:lpstr>National Water Supply and Sanitation Programme</vt:lpstr>
      <vt:lpstr>PowerPoint Presentation</vt:lpstr>
      <vt:lpstr>Air pollution</vt:lpstr>
      <vt:lpstr>Composition</vt:lpstr>
      <vt:lpstr>PowerPoint Presentation</vt:lpstr>
      <vt:lpstr>The air of occupied room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manviatwork@gmail.com</dc:creator>
  <cp:lastModifiedBy>manviatwork@gmail.com</cp:lastModifiedBy>
  <cp:revision>1</cp:revision>
  <dcterms:created xsi:type="dcterms:W3CDTF">2024-06-26T13:33:50Z</dcterms:created>
  <dcterms:modified xsi:type="dcterms:W3CDTF">2024-06-26T16:03:05Z</dcterms:modified>
</cp:coreProperties>
</file>