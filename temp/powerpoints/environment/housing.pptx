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85" r:id="rId4"/>
    <p:sldId id="313" r:id="rId5"/>
    <p:sldId id="286" r:id="rId6"/>
    <p:sldId id="314" r:id="rId7"/>
    <p:sldId id="287" r:id="rId8"/>
    <p:sldId id="288" r:id="rId9"/>
    <p:sldId id="315" r:id="rId10"/>
    <p:sldId id="290" r:id="rId11"/>
    <p:sldId id="291" r:id="rId12"/>
    <p:sldId id="316" r:id="rId13"/>
    <p:sldId id="292" r:id="rId14"/>
    <p:sldId id="293" r:id="rId15"/>
    <p:sldId id="289" r:id="rId16"/>
    <p:sldId id="294" r:id="rId17"/>
    <p:sldId id="295" r:id="rId18"/>
    <p:sldId id="296" r:id="rId19"/>
    <p:sldId id="317"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26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03C735-FA46-41C7-893B-5FE9AB97CD85}" v="26" dt="2024-08-28T22:16:02.7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59" d="100"/>
          <a:sy n="59" d="100"/>
        </p:scale>
        <p:origin x="78" y="1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009B4F-B303-45A1-A293-FA235A0B12A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0EADA4A-E177-4208-A477-9B4AFE52A1AC}">
      <dgm:prSet/>
      <dgm:spPr/>
      <dgm:t>
        <a:bodyPr/>
        <a:lstStyle/>
        <a:p>
          <a:r>
            <a:rPr lang="en-US" dirty="0"/>
            <a:t>1. Healthful housing provides </a:t>
          </a:r>
          <a:r>
            <a:rPr lang="en-US" dirty="0">
              <a:highlight>
                <a:srgbClr val="FFFF00"/>
              </a:highlight>
            </a:rPr>
            <a:t>physical protection and shelter</a:t>
          </a:r>
          <a:r>
            <a:rPr lang="en-US" dirty="0"/>
            <a:t>.</a:t>
          </a:r>
        </a:p>
      </dgm:t>
    </dgm:pt>
    <dgm:pt modelId="{10947015-4517-4D42-9B0B-E3ECCF0A65EA}" type="parTrans" cxnId="{E4B6DCE6-6772-4762-BCC3-C5AB9D202A63}">
      <dgm:prSet/>
      <dgm:spPr/>
      <dgm:t>
        <a:bodyPr/>
        <a:lstStyle/>
        <a:p>
          <a:endParaRPr lang="en-US"/>
        </a:p>
      </dgm:t>
    </dgm:pt>
    <dgm:pt modelId="{3144CD5C-BE9C-4A29-894C-A1232F3A4214}" type="sibTrans" cxnId="{E4B6DCE6-6772-4762-BCC3-C5AB9D202A63}">
      <dgm:prSet/>
      <dgm:spPr/>
      <dgm:t>
        <a:bodyPr/>
        <a:lstStyle/>
        <a:p>
          <a:endParaRPr lang="en-US"/>
        </a:p>
      </dgm:t>
    </dgm:pt>
    <dgm:pt modelId="{428A82E8-5CB5-4E88-8824-EB3D788F4244}">
      <dgm:prSet/>
      <dgm:spPr/>
      <dgm:t>
        <a:bodyPr/>
        <a:lstStyle/>
        <a:p>
          <a:r>
            <a:rPr lang="en-US" dirty="0"/>
            <a:t>2. Provides adequately for </a:t>
          </a:r>
          <a:r>
            <a:rPr lang="en-US" dirty="0">
              <a:highlight>
                <a:srgbClr val="FFFF00"/>
              </a:highlight>
            </a:rPr>
            <a:t>cooking, eating, washing, and excretory </a:t>
          </a:r>
          <a:r>
            <a:rPr lang="en-US" dirty="0"/>
            <a:t>functions.</a:t>
          </a:r>
        </a:p>
      </dgm:t>
    </dgm:pt>
    <dgm:pt modelId="{753D7E6D-F574-4877-8242-1F3D065D2B58}" type="parTrans" cxnId="{76878C65-CFDF-47E6-A544-8C6E8836859C}">
      <dgm:prSet/>
      <dgm:spPr/>
      <dgm:t>
        <a:bodyPr/>
        <a:lstStyle/>
        <a:p>
          <a:endParaRPr lang="en-US"/>
        </a:p>
      </dgm:t>
    </dgm:pt>
    <dgm:pt modelId="{47DBEA7A-C67D-46FD-8483-D4E8A82F71C0}" type="sibTrans" cxnId="{76878C65-CFDF-47E6-A544-8C6E8836859C}">
      <dgm:prSet/>
      <dgm:spPr/>
      <dgm:t>
        <a:bodyPr/>
        <a:lstStyle/>
        <a:p>
          <a:endParaRPr lang="en-US"/>
        </a:p>
      </dgm:t>
    </dgm:pt>
    <dgm:pt modelId="{3C67161B-9C8E-498E-9C5C-A4473B06C453}">
      <dgm:prSet/>
      <dgm:spPr/>
      <dgm:t>
        <a:bodyPr/>
        <a:lstStyle/>
        <a:p>
          <a:r>
            <a:rPr lang="en-US" dirty="0"/>
            <a:t>3. It is designed, constructed, maintained and used in a manner such as to </a:t>
          </a:r>
          <a:r>
            <a:rPr lang="en-US" dirty="0">
              <a:highlight>
                <a:srgbClr val="FFFF00"/>
              </a:highlight>
            </a:rPr>
            <a:t>prevent the spread of communicable diseases</a:t>
          </a:r>
          <a:r>
            <a:rPr lang="en-US" dirty="0"/>
            <a:t>.</a:t>
          </a:r>
        </a:p>
      </dgm:t>
    </dgm:pt>
    <dgm:pt modelId="{0D4D2E4F-DBE5-4235-B66E-0FEBD542CA51}" type="parTrans" cxnId="{32671D1C-C292-45DA-BA85-1DD378EB0C12}">
      <dgm:prSet/>
      <dgm:spPr/>
      <dgm:t>
        <a:bodyPr/>
        <a:lstStyle/>
        <a:p>
          <a:endParaRPr lang="en-US"/>
        </a:p>
      </dgm:t>
    </dgm:pt>
    <dgm:pt modelId="{8C1B38DA-F79A-4178-B9E7-D581EB0F29B4}" type="sibTrans" cxnId="{32671D1C-C292-45DA-BA85-1DD378EB0C12}">
      <dgm:prSet/>
      <dgm:spPr/>
      <dgm:t>
        <a:bodyPr/>
        <a:lstStyle/>
        <a:p>
          <a:endParaRPr lang="en-US"/>
        </a:p>
      </dgm:t>
    </dgm:pt>
    <dgm:pt modelId="{5BF4002C-101E-480B-BD43-030EE2FBEDBF}" type="pres">
      <dgm:prSet presAssocID="{45009B4F-B303-45A1-A293-FA235A0B12A8}" presName="root" presStyleCnt="0">
        <dgm:presLayoutVars>
          <dgm:dir/>
          <dgm:resizeHandles val="exact"/>
        </dgm:presLayoutVars>
      </dgm:prSet>
      <dgm:spPr/>
    </dgm:pt>
    <dgm:pt modelId="{BEA9FA3E-B344-473C-A8CF-89EB4D6F79DA}" type="pres">
      <dgm:prSet presAssocID="{F0EADA4A-E177-4208-A477-9B4AFE52A1AC}" presName="compNode" presStyleCnt="0"/>
      <dgm:spPr/>
    </dgm:pt>
    <dgm:pt modelId="{163386A4-EB83-4BFC-B1F3-0CFB84314FDF}" type="pres">
      <dgm:prSet presAssocID="{F0EADA4A-E177-4208-A477-9B4AFE52A1AC}" presName="bgRect" presStyleLbl="bgShp" presStyleIdx="0" presStyleCnt="3"/>
      <dgm:spPr/>
    </dgm:pt>
    <dgm:pt modelId="{4AEC4378-565B-4465-8245-B04487C9C4A1}" type="pres">
      <dgm:prSet presAssocID="{F0EADA4A-E177-4208-A477-9B4AFE52A1A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urban scene"/>
        </a:ext>
      </dgm:extLst>
    </dgm:pt>
    <dgm:pt modelId="{9ECC086B-4484-498D-BC0A-55B2E3C140DB}" type="pres">
      <dgm:prSet presAssocID="{F0EADA4A-E177-4208-A477-9B4AFE52A1AC}" presName="spaceRect" presStyleCnt="0"/>
      <dgm:spPr/>
    </dgm:pt>
    <dgm:pt modelId="{E19C5A7D-7389-43C0-96AC-712F461EAEF7}" type="pres">
      <dgm:prSet presAssocID="{F0EADA4A-E177-4208-A477-9B4AFE52A1AC}" presName="parTx" presStyleLbl="revTx" presStyleIdx="0" presStyleCnt="3">
        <dgm:presLayoutVars>
          <dgm:chMax val="0"/>
          <dgm:chPref val="0"/>
        </dgm:presLayoutVars>
      </dgm:prSet>
      <dgm:spPr/>
    </dgm:pt>
    <dgm:pt modelId="{87A2BA34-EA9D-43B6-BD36-7B5A354F1240}" type="pres">
      <dgm:prSet presAssocID="{3144CD5C-BE9C-4A29-894C-A1232F3A4214}" presName="sibTrans" presStyleCnt="0"/>
      <dgm:spPr/>
    </dgm:pt>
    <dgm:pt modelId="{357061AF-A0B5-43B7-A043-8FEB54139381}" type="pres">
      <dgm:prSet presAssocID="{428A82E8-5CB5-4E88-8824-EB3D788F4244}" presName="compNode" presStyleCnt="0"/>
      <dgm:spPr/>
    </dgm:pt>
    <dgm:pt modelId="{471400B9-1415-48BD-970B-435B9F4C824C}" type="pres">
      <dgm:prSet presAssocID="{428A82E8-5CB5-4E88-8824-EB3D788F4244}" presName="bgRect" presStyleLbl="bgShp" presStyleIdx="1" presStyleCnt="3"/>
      <dgm:spPr/>
    </dgm:pt>
    <dgm:pt modelId="{041E8656-E3E7-45E1-80A9-0068E26829B1}" type="pres">
      <dgm:prSet presAssocID="{428A82E8-5CB5-4E88-8824-EB3D788F424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idney"/>
        </a:ext>
      </dgm:extLst>
    </dgm:pt>
    <dgm:pt modelId="{B7F21CB7-46CC-497B-9F41-63A6D50BB9AB}" type="pres">
      <dgm:prSet presAssocID="{428A82E8-5CB5-4E88-8824-EB3D788F4244}" presName="spaceRect" presStyleCnt="0"/>
      <dgm:spPr/>
    </dgm:pt>
    <dgm:pt modelId="{DB058B57-D9D3-4712-A337-B9F08F346670}" type="pres">
      <dgm:prSet presAssocID="{428A82E8-5CB5-4E88-8824-EB3D788F4244}" presName="parTx" presStyleLbl="revTx" presStyleIdx="1" presStyleCnt="3">
        <dgm:presLayoutVars>
          <dgm:chMax val="0"/>
          <dgm:chPref val="0"/>
        </dgm:presLayoutVars>
      </dgm:prSet>
      <dgm:spPr/>
    </dgm:pt>
    <dgm:pt modelId="{9F8C0FCB-65E6-45EF-A104-903FFA8353ED}" type="pres">
      <dgm:prSet presAssocID="{47DBEA7A-C67D-46FD-8483-D4E8A82F71C0}" presName="sibTrans" presStyleCnt="0"/>
      <dgm:spPr/>
    </dgm:pt>
    <dgm:pt modelId="{B6CC38BD-68B0-4B9E-814B-6B37BD4FD46B}" type="pres">
      <dgm:prSet presAssocID="{3C67161B-9C8E-498E-9C5C-A4473B06C453}" presName="compNode" presStyleCnt="0"/>
      <dgm:spPr/>
    </dgm:pt>
    <dgm:pt modelId="{884DD763-B19A-4B3A-9C68-AA48485E7F5E}" type="pres">
      <dgm:prSet presAssocID="{3C67161B-9C8E-498E-9C5C-A4473B06C453}" presName="bgRect" presStyleLbl="bgShp" presStyleIdx="2" presStyleCnt="3"/>
      <dgm:spPr/>
    </dgm:pt>
    <dgm:pt modelId="{BEAF56AD-2267-4946-A7B8-7E5F3C45BCBE}" type="pres">
      <dgm:prSet presAssocID="{3C67161B-9C8E-498E-9C5C-A4473B06C45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irst Aid Kit"/>
        </a:ext>
      </dgm:extLst>
    </dgm:pt>
    <dgm:pt modelId="{1D20F2DA-9367-4EDD-B526-C638C79CD35C}" type="pres">
      <dgm:prSet presAssocID="{3C67161B-9C8E-498E-9C5C-A4473B06C453}" presName="spaceRect" presStyleCnt="0"/>
      <dgm:spPr/>
    </dgm:pt>
    <dgm:pt modelId="{770E945B-4047-4373-B029-66D9E38DEDD7}" type="pres">
      <dgm:prSet presAssocID="{3C67161B-9C8E-498E-9C5C-A4473B06C453}" presName="parTx" presStyleLbl="revTx" presStyleIdx="2" presStyleCnt="3">
        <dgm:presLayoutVars>
          <dgm:chMax val="0"/>
          <dgm:chPref val="0"/>
        </dgm:presLayoutVars>
      </dgm:prSet>
      <dgm:spPr/>
    </dgm:pt>
  </dgm:ptLst>
  <dgm:cxnLst>
    <dgm:cxn modelId="{ADDBCE02-1B4F-4D92-A43D-2E8D0DBA81E3}" type="presOf" srcId="{3C67161B-9C8E-498E-9C5C-A4473B06C453}" destId="{770E945B-4047-4373-B029-66D9E38DEDD7}" srcOrd="0" destOrd="0" presId="urn:microsoft.com/office/officeart/2018/2/layout/IconVerticalSolidList"/>
    <dgm:cxn modelId="{32671D1C-C292-45DA-BA85-1DD378EB0C12}" srcId="{45009B4F-B303-45A1-A293-FA235A0B12A8}" destId="{3C67161B-9C8E-498E-9C5C-A4473B06C453}" srcOrd="2" destOrd="0" parTransId="{0D4D2E4F-DBE5-4235-B66E-0FEBD542CA51}" sibTransId="{8C1B38DA-F79A-4178-B9E7-D581EB0F29B4}"/>
    <dgm:cxn modelId="{76878C65-CFDF-47E6-A544-8C6E8836859C}" srcId="{45009B4F-B303-45A1-A293-FA235A0B12A8}" destId="{428A82E8-5CB5-4E88-8824-EB3D788F4244}" srcOrd="1" destOrd="0" parTransId="{753D7E6D-F574-4877-8242-1F3D065D2B58}" sibTransId="{47DBEA7A-C67D-46FD-8483-D4E8A82F71C0}"/>
    <dgm:cxn modelId="{92B702BA-CB67-4329-9BC0-C3FB5F57FFCE}" type="presOf" srcId="{428A82E8-5CB5-4E88-8824-EB3D788F4244}" destId="{DB058B57-D9D3-4712-A337-B9F08F346670}" srcOrd="0" destOrd="0" presId="urn:microsoft.com/office/officeart/2018/2/layout/IconVerticalSolidList"/>
    <dgm:cxn modelId="{9329A4C5-467C-4DE5-99DD-94CE03948B45}" type="presOf" srcId="{F0EADA4A-E177-4208-A477-9B4AFE52A1AC}" destId="{E19C5A7D-7389-43C0-96AC-712F461EAEF7}" srcOrd="0" destOrd="0" presId="urn:microsoft.com/office/officeart/2018/2/layout/IconVerticalSolidList"/>
    <dgm:cxn modelId="{E4B6DCE6-6772-4762-BCC3-C5AB9D202A63}" srcId="{45009B4F-B303-45A1-A293-FA235A0B12A8}" destId="{F0EADA4A-E177-4208-A477-9B4AFE52A1AC}" srcOrd="0" destOrd="0" parTransId="{10947015-4517-4D42-9B0B-E3ECCF0A65EA}" sibTransId="{3144CD5C-BE9C-4A29-894C-A1232F3A4214}"/>
    <dgm:cxn modelId="{A0A52CE8-BE00-4948-87FD-5A067D5154EC}" type="presOf" srcId="{45009B4F-B303-45A1-A293-FA235A0B12A8}" destId="{5BF4002C-101E-480B-BD43-030EE2FBEDBF}" srcOrd="0" destOrd="0" presId="urn:microsoft.com/office/officeart/2018/2/layout/IconVerticalSolidList"/>
    <dgm:cxn modelId="{494ED22E-ECB2-4B26-8DC3-9B0CF2E02C24}" type="presParOf" srcId="{5BF4002C-101E-480B-BD43-030EE2FBEDBF}" destId="{BEA9FA3E-B344-473C-A8CF-89EB4D6F79DA}" srcOrd="0" destOrd="0" presId="urn:microsoft.com/office/officeart/2018/2/layout/IconVerticalSolidList"/>
    <dgm:cxn modelId="{C843EAA7-2587-4E7E-BB9F-3BDF27B24672}" type="presParOf" srcId="{BEA9FA3E-B344-473C-A8CF-89EB4D6F79DA}" destId="{163386A4-EB83-4BFC-B1F3-0CFB84314FDF}" srcOrd="0" destOrd="0" presId="urn:microsoft.com/office/officeart/2018/2/layout/IconVerticalSolidList"/>
    <dgm:cxn modelId="{3E24BF30-CDAF-4C19-8FA9-13EE9427C28D}" type="presParOf" srcId="{BEA9FA3E-B344-473C-A8CF-89EB4D6F79DA}" destId="{4AEC4378-565B-4465-8245-B04487C9C4A1}" srcOrd="1" destOrd="0" presId="urn:microsoft.com/office/officeart/2018/2/layout/IconVerticalSolidList"/>
    <dgm:cxn modelId="{74D5CAC5-10E0-4EB5-B1AB-DD6ADB60AA1A}" type="presParOf" srcId="{BEA9FA3E-B344-473C-A8CF-89EB4D6F79DA}" destId="{9ECC086B-4484-498D-BC0A-55B2E3C140DB}" srcOrd="2" destOrd="0" presId="urn:microsoft.com/office/officeart/2018/2/layout/IconVerticalSolidList"/>
    <dgm:cxn modelId="{7E00F3DC-F4B7-4684-BC10-D8746C41FB8C}" type="presParOf" srcId="{BEA9FA3E-B344-473C-A8CF-89EB4D6F79DA}" destId="{E19C5A7D-7389-43C0-96AC-712F461EAEF7}" srcOrd="3" destOrd="0" presId="urn:microsoft.com/office/officeart/2018/2/layout/IconVerticalSolidList"/>
    <dgm:cxn modelId="{A93B77E5-A06B-44F9-8CF6-A934B6EE0425}" type="presParOf" srcId="{5BF4002C-101E-480B-BD43-030EE2FBEDBF}" destId="{87A2BA34-EA9D-43B6-BD36-7B5A354F1240}" srcOrd="1" destOrd="0" presId="urn:microsoft.com/office/officeart/2018/2/layout/IconVerticalSolidList"/>
    <dgm:cxn modelId="{957FCB26-65DF-4272-B8FD-CB49A776C4C4}" type="presParOf" srcId="{5BF4002C-101E-480B-BD43-030EE2FBEDBF}" destId="{357061AF-A0B5-43B7-A043-8FEB54139381}" srcOrd="2" destOrd="0" presId="urn:microsoft.com/office/officeart/2018/2/layout/IconVerticalSolidList"/>
    <dgm:cxn modelId="{FA6A84B3-A627-4BAA-950D-564EB28E1E02}" type="presParOf" srcId="{357061AF-A0B5-43B7-A043-8FEB54139381}" destId="{471400B9-1415-48BD-970B-435B9F4C824C}" srcOrd="0" destOrd="0" presId="urn:microsoft.com/office/officeart/2018/2/layout/IconVerticalSolidList"/>
    <dgm:cxn modelId="{402E9DEC-9F28-47C4-8E94-E7626E1120DA}" type="presParOf" srcId="{357061AF-A0B5-43B7-A043-8FEB54139381}" destId="{041E8656-E3E7-45E1-80A9-0068E26829B1}" srcOrd="1" destOrd="0" presId="urn:microsoft.com/office/officeart/2018/2/layout/IconVerticalSolidList"/>
    <dgm:cxn modelId="{E9FB9B21-3763-4082-BA96-C4B383ADA295}" type="presParOf" srcId="{357061AF-A0B5-43B7-A043-8FEB54139381}" destId="{B7F21CB7-46CC-497B-9F41-63A6D50BB9AB}" srcOrd="2" destOrd="0" presId="urn:microsoft.com/office/officeart/2018/2/layout/IconVerticalSolidList"/>
    <dgm:cxn modelId="{CB1BD7B8-0F51-4F7D-83D4-A4992D6044F9}" type="presParOf" srcId="{357061AF-A0B5-43B7-A043-8FEB54139381}" destId="{DB058B57-D9D3-4712-A337-B9F08F346670}" srcOrd="3" destOrd="0" presId="urn:microsoft.com/office/officeart/2018/2/layout/IconVerticalSolidList"/>
    <dgm:cxn modelId="{AB207B61-6EAA-42D1-A820-ED0310D06C20}" type="presParOf" srcId="{5BF4002C-101E-480B-BD43-030EE2FBEDBF}" destId="{9F8C0FCB-65E6-45EF-A104-903FFA8353ED}" srcOrd="3" destOrd="0" presId="urn:microsoft.com/office/officeart/2018/2/layout/IconVerticalSolidList"/>
    <dgm:cxn modelId="{F6ADD076-3099-4AA0-8783-3C4B7898778D}" type="presParOf" srcId="{5BF4002C-101E-480B-BD43-030EE2FBEDBF}" destId="{B6CC38BD-68B0-4B9E-814B-6B37BD4FD46B}" srcOrd="4" destOrd="0" presId="urn:microsoft.com/office/officeart/2018/2/layout/IconVerticalSolidList"/>
    <dgm:cxn modelId="{E7DABB5C-EDD7-43E6-ADD4-F478A52EFCD3}" type="presParOf" srcId="{B6CC38BD-68B0-4B9E-814B-6B37BD4FD46B}" destId="{884DD763-B19A-4B3A-9C68-AA48485E7F5E}" srcOrd="0" destOrd="0" presId="urn:microsoft.com/office/officeart/2018/2/layout/IconVerticalSolidList"/>
    <dgm:cxn modelId="{6FEF6F04-FF5B-4815-B329-EEE0A41D1991}" type="presParOf" srcId="{B6CC38BD-68B0-4B9E-814B-6B37BD4FD46B}" destId="{BEAF56AD-2267-4946-A7B8-7E5F3C45BCBE}" srcOrd="1" destOrd="0" presId="urn:microsoft.com/office/officeart/2018/2/layout/IconVerticalSolidList"/>
    <dgm:cxn modelId="{EA6E590C-C1BD-4FEE-BA7A-867DFF1BE880}" type="presParOf" srcId="{B6CC38BD-68B0-4B9E-814B-6B37BD4FD46B}" destId="{1D20F2DA-9367-4EDD-B526-C638C79CD35C}" srcOrd="2" destOrd="0" presId="urn:microsoft.com/office/officeart/2018/2/layout/IconVerticalSolidList"/>
    <dgm:cxn modelId="{A6C28C3B-7023-4435-94B9-AA1671D6D0B5}" type="presParOf" srcId="{B6CC38BD-68B0-4B9E-814B-6B37BD4FD46B}" destId="{770E945B-4047-4373-B029-66D9E38DEDD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7FD38F-4F53-41DC-832B-D372FF1B8EFB}"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AA3D6E3F-32D4-4CE1-A72F-E893213D908E}">
      <dgm:prSet/>
      <dgm:spPr/>
      <dgm:t>
        <a:bodyPr/>
        <a:lstStyle/>
        <a:p>
          <a:r>
            <a:rPr lang="en-US" dirty="0">
              <a:solidFill>
                <a:schemeClr val="tx1"/>
              </a:solidFill>
            </a:rPr>
            <a:t>4. Provides for </a:t>
          </a:r>
          <a:r>
            <a:rPr lang="en-US" dirty="0">
              <a:solidFill>
                <a:schemeClr val="tx1"/>
              </a:solidFill>
              <a:highlight>
                <a:srgbClr val="FFFF00"/>
              </a:highlight>
            </a:rPr>
            <a:t>protection from hazards of exposure to noise and pollution</a:t>
          </a:r>
          <a:r>
            <a:rPr lang="en-US" dirty="0">
              <a:solidFill>
                <a:schemeClr val="tx1"/>
              </a:solidFill>
            </a:rPr>
            <a:t>.</a:t>
          </a:r>
        </a:p>
      </dgm:t>
    </dgm:pt>
    <dgm:pt modelId="{CA48FC10-2B9F-442B-AF2C-D2EB3EEF20EF}" type="parTrans" cxnId="{39755478-AEAA-406D-99AA-55DAA882B4FE}">
      <dgm:prSet/>
      <dgm:spPr/>
      <dgm:t>
        <a:bodyPr/>
        <a:lstStyle/>
        <a:p>
          <a:endParaRPr lang="en-US">
            <a:solidFill>
              <a:schemeClr val="tx1"/>
            </a:solidFill>
          </a:endParaRPr>
        </a:p>
      </dgm:t>
    </dgm:pt>
    <dgm:pt modelId="{3B1BA976-165B-4411-8F40-20773318DFF6}" type="sibTrans" cxnId="{39755478-AEAA-406D-99AA-55DAA882B4FE}">
      <dgm:prSet/>
      <dgm:spPr/>
      <dgm:t>
        <a:bodyPr/>
        <a:lstStyle/>
        <a:p>
          <a:endParaRPr lang="en-US">
            <a:solidFill>
              <a:schemeClr val="tx1"/>
            </a:solidFill>
          </a:endParaRPr>
        </a:p>
      </dgm:t>
    </dgm:pt>
    <dgm:pt modelId="{660044B2-8A15-4F4F-952E-042E38DD94B6}">
      <dgm:prSet/>
      <dgm:spPr/>
      <dgm:t>
        <a:bodyPr/>
        <a:lstStyle/>
        <a:p>
          <a:r>
            <a:rPr lang="en-US" dirty="0">
              <a:solidFill>
                <a:schemeClr val="tx1"/>
              </a:solidFill>
            </a:rPr>
            <a:t>5</a:t>
          </a:r>
          <a:r>
            <a:rPr lang="en-US" dirty="0">
              <a:solidFill>
                <a:schemeClr val="tx1"/>
              </a:solidFill>
              <a:highlight>
                <a:srgbClr val="FFFF00"/>
              </a:highlight>
            </a:rPr>
            <a:t>. Free from unsafe physical arrangements </a:t>
          </a:r>
          <a:r>
            <a:rPr lang="en-US" dirty="0">
              <a:solidFill>
                <a:schemeClr val="tx1"/>
              </a:solidFill>
            </a:rPr>
            <a:t>due to construction or maintenance, and from toxic or harmful materials.</a:t>
          </a:r>
        </a:p>
      </dgm:t>
    </dgm:pt>
    <dgm:pt modelId="{A867F1BC-0E5D-43D5-9542-BA6967324107}" type="parTrans" cxnId="{EFFA5BFA-6CC8-4437-B814-5FAD6A73F86E}">
      <dgm:prSet/>
      <dgm:spPr/>
      <dgm:t>
        <a:bodyPr/>
        <a:lstStyle/>
        <a:p>
          <a:endParaRPr lang="en-US">
            <a:solidFill>
              <a:schemeClr val="tx1"/>
            </a:solidFill>
          </a:endParaRPr>
        </a:p>
      </dgm:t>
    </dgm:pt>
    <dgm:pt modelId="{2B7A48A4-48E1-4AA5-BB73-844048EC88E0}" type="sibTrans" cxnId="{EFFA5BFA-6CC8-4437-B814-5FAD6A73F86E}">
      <dgm:prSet/>
      <dgm:spPr/>
      <dgm:t>
        <a:bodyPr/>
        <a:lstStyle/>
        <a:p>
          <a:endParaRPr lang="en-US">
            <a:solidFill>
              <a:schemeClr val="tx1"/>
            </a:solidFill>
          </a:endParaRPr>
        </a:p>
      </dgm:t>
    </dgm:pt>
    <dgm:pt modelId="{8E595A1C-5B64-470F-AB93-759BF9FC606D}">
      <dgm:prSet/>
      <dgm:spPr/>
      <dgm:t>
        <a:bodyPr/>
        <a:lstStyle/>
        <a:p>
          <a:r>
            <a:rPr lang="en-US" dirty="0">
              <a:solidFill>
                <a:schemeClr val="tx1"/>
              </a:solidFill>
            </a:rPr>
            <a:t>6. </a:t>
          </a:r>
          <a:r>
            <a:rPr lang="en-US" dirty="0">
              <a:solidFill>
                <a:schemeClr val="tx1"/>
              </a:solidFill>
              <a:highlight>
                <a:srgbClr val="FFFF00"/>
              </a:highlight>
            </a:rPr>
            <a:t>Encourages personal and community development, promotes social relationships</a:t>
          </a:r>
          <a:r>
            <a:rPr lang="en-US" dirty="0">
              <a:solidFill>
                <a:schemeClr val="tx1"/>
              </a:solidFill>
            </a:rPr>
            <a:t>, reflects a regard for ecological principles, and by these means </a:t>
          </a:r>
          <a:r>
            <a:rPr lang="en-US" dirty="0">
              <a:solidFill>
                <a:schemeClr val="tx1"/>
              </a:solidFill>
              <a:highlight>
                <a:srgbClr val="FFFF00"/>
              </a:highlight>
            </a:rPr>
            <a:t>promotes mental health</a:t>
          </a:r>
          <a:r>
            <a:rPr lang="en-US" dirty="0">
              <a:solidFill>
                <a:schemeClr val="tx1"/>
              </a:solidFill>
            </a:rPr>
            <a:t>.</a:t>
          </a:r>
        </a:p>
      </dgm:t>
    </dgm:pt>
    <dgm:pt modelId="{5AF374B5-7AF3-4DAD-9900-2543BA98D351}" type="parTrans" cxnId="{CBB8A20A-36C1-4236-9949-E33976E258F4}">
      <dgm:prSet/>
      <dgm:spPr/>
      <dgm:t>
        <a:bodyPr/>
        <a:lstStyle/>
        <a:p>
          <a:endParaRPr lang="en-US">
            <a:solidFill>
              <a:schemeClr val="tx1"/>
            </a:solidFill>
          </a:endParaRPr>
        </a:p>
      </dgm:t>
    </dgm:pt>
    <dgm:pt modelId="{C0E9BCB1-17BD-4F55-8077-71892B444453}" type="sibTrans" cxnId="{CBB8A20A-36C1-4236-9949-E33976E258F4}">
      <dgm:prSet/>
      <dgm:spPr/>
      <dgm:t>
        <a:bodyPr/>
        <a:lstStyle/>
        <a:p>
          <a:endParaRPr lang="en-US">
            <a:solidFill>
              <a:schemeClr val="tx1"/>
            </a:solidFill>
          </a:endParaRPr>
        </a:p>
      </dgm:t>
    </dgm:pt>
    <dgm:pt modelId="{DC89D697-4635-4AE2-BB0F-74F83E4A1581}" type="pres">
      <dgm:prSet presAssocID="{517FD38F-4F53-41DC-832B-D372FF1B8EFB}" presName="linear" presStyleCnt="0">
        <dgm:presLayoutVars>
          <dgm:animLvl val="lvl"/>
          <dgm:resizeHandles val="exact"/>
        </dgm:presLayoutVars>
      </dgm:prSet>
      <dgm:spPr/>
    </dgm:pt>
    <dgm:pt modelId="{3FCCFD54-9A3E-4823-9C78-951DD49C8E1E}" type="pres">
      <dgm:prSet presAssocID="{AA3D6E3F-32D4-4CE1-A72F-E893213D908E}" presName="parentText" presStyleLbl="node1" presStyleIdx="0" presStyleCnt="3">
        <dgm:presLayoutVars>
          <dgm:chMax val="0"/>
          <dgm:bulletEnabled val="1"/>
        </dgm:presLayoutVars>
      </dgm:prSet>
      <dgm:spPr/>
    </dgm:pt>
    <dgm:pt modelId="{7C40BBA6-605F-4BF9-A80F-1C55054FB6C3}" type="pres">
      <dgm:prSet presAssocID="{3B1BA976-165B-4411-8F40-20773318DFF6}" presName="spacer" presStyleCnt="0"/>
      <dgm:spPr/>
    </dgm:pt>
    <dgm:pt modelId="{C8A23869-5C03-40F5-96FE-D732DA179845}" type="pres">
      <dgm:prSet presAssocID="{660044B2-8A15-4F4F-952E-042E38DD94B6}" presName="parentText" presStyleLbl="node1" presStyleIdx="1" presStyleCnt="3">
        <dgm:presLayoutVars>
          <dgm:chMax val="0"/>
          <dgm:bulletEnabled val="1"/>
        </dgm:presLayoutVars>
      </dgm:prSet>
      <dgm:spPr/>
    </dgm:pt>
    <dgm:pt modelId="{F2F5A033-4D61-4774-A0DA-1B2228AD1B9D}" type="pres">
      <dgm:prSet presAssocID="{2B7A48A4-48E1-4AA5-BB73-844048EC88E0}" presName="spacer" presStyleCnt="0"/>
      <dgm:spPr/>
    </dgm:pt>
    <dgm:pt modelId="{5573E57C-D924-42DD-B007-6AA6446F5F35}" type="pres">
      <dgm:prSet presAssocID="{8E595A1C-5B64-470F-AB93-759BF9FC606D}" presName="parentText" presStyleLbl="node1" presStyleIdx="2" presStyleCnt="3">
        <dgm:presLayoutVars>
          <dgm:chMax val="0"/>
          <dgm:bulletEnabled val="1"/>
        </dgm:presLayoutVars>
      </dgm:prSet>
      <dgm:spPr/>
    </dgm:pt>
  </dgm:ptLst>
  <dgm:cxnLst>
    <dgm:cxn modelId="{CBB8A20A-36C1-4236-9949-E33976E258F4}" srcId="{517FD38F-4F53-41DC-832B-D372FF1B8EFB}" destId="{8E595A1C-5B64-470F-AB93-759BF9FC606D}" srcOrd="2" destOrd="0" parTransId="{5AF374B5-7AF3-4DAD-9900-2543BA98D351}" sibTransId="{C0E9BCB1-17BD-4F55-8077-71892B444453}"/>
    <dgm:cxn modelId="{DE2EB671-9594-45A1-9C6B-7BE03AA2ED1E}" type="presOf" srcId="{8E595A1C-5B64-470F-AB93-759BF9FC606D}" destId="{5573E57C-D924-42DD-B007-6AA6446F5F35}" srcOrd="0" destOrd="0" presId="urn:microsoft.com/office/officeart/2005/8/layout/vList2"/>
    <dgm:cxn modelId="{39755478-AEAA-406D-99AA-55DAA882B4FE}" srcId="{517FD38F-4F53-41DC-832B-D372FF1B8EFB}" destId="{AA3D6E3F-32D4-4CE1-A72F-E893213D908E}" srcOrd="0" destOrd="0" parTransId="{CA48FC10-2B9F-442B-AF2C-D2EB3EEF20EF}" sibTransId="{3B1BA976-165B-4411-8F40-20773318DFF6}"/>
    <dgm:cxn modelId="{EC01DC7D-E688-4A20-BA63-2CC91C6025A1}" type="presOf" srcId="{AA3D6E3F-32D4-4CE1-A72F-E893213D908E}" destId="{3FCCFD54-9A3E-4823-9C78-951DD49C8E1E}" srcOrd="0" destOrd="0" presId="urn:microsoft.com/office/officeart/2005/8/layout/vList2"/>
    <dgm:cxn modelId="{51D121C2-0633-4FD6-AE06-9DC6F27509C1}" type="presOf" srcId="{660044B2-8A15-4F4F-952E-042E38DD94B6}" destId="{C8A23869-5C03-40F5-96FE-D732DA179845}" srcOrd="0" destOrd="0" presId="urn:microsoft.com/office/officeart/2005/8/layout/vList2"/>
    <dgm:cxn modelId="{DD2D65CD-F4C8-4AB2-B59F-4AF9D8CA90E5}" type="presOf" srcId="{517FD38F-4F53-41DC-832B-D372FF1B8EFB}" destId="{DC89D697-4635-4AE2-BB0F-74F83E4A1581}" srcOrd="0" destOrd="0" presId="urn:microsoft.com/office/officeart/2005/8/layout/vList2"/>
    <dgm:cxn modelId="{EFFA5BFA-6CC8-4437-B814-5FAD6A73F86E}" srcId="{517FD38F-4F53-41DC-832B-D372FF1B8EFB}" destId="{660044B2-8A15-4F4F-952E-042E38DD94B6}" srcOrd="1" destOrd="0" parTransId="{A867F1BC-0E5D-43D5-9542-BA6967324107}" sibTransId="{2B7A48A4-48E1-4AA5-BB73-844048EC88E0}"/>
    <dgm:cxn modelId="{C8750234-556D-4B0D-8B6E-09CDAB8CE779}" type="presParOf" srcId="{DC89D697-4635-4AE2-BB0F-74F83E4A1581}" destId="{3FCCFD54-9A3E-4823-9C78-951DD49C8E1E}" srcOrd="0" destOrd="0" presId="urn:microsoft.com/office/officeart/2005/8/layout/vList2"/>
    <dgm:cxn modelId="{97BCC066-C304-4CE8-BD63-CA5EBE46CD50}" type="presParOf" srcId="{DC89D697-4635-4AE2-BB0F-74F83E4A1581}" destId="{7C40BBA6-605F-4BF9-A80F-1C55054FB6C3}" srcOrd="1" destOrd="0" presId="urn:microsoft.com/office/officeart/2005/8/layout/vList2"/>
    <dgm:cxn modelId="{1CAAC1CC-E8A9-4C91-8D00-9B4B8753DEE5}" type="presParOf" srcId="{DC89D697-4635-4AE2-BB0F-74F83E4A1581}" destId="{C8A23869-5C03-40F5-96FE-D732DA179845}" srcOrd="2" destOrd="0" presId="urn:microsoft.com/office/officeart/2005/8/layout/vList2"/>
    <dgm:cxn modelId="{0D303057-91A0-4070-8375-F41E41B5A718}" type="presParOf" srcId="{DC89D697-4635-4AE2-BB0F-74F83E4A1581}" destId="{F2F5A033-4D61-4774-A0DA-1B2228AD1B9D}" srcOrd="3" destOrd="0" presId="urn:microsoft.com/office/officeart/2005/8/layout/vList2"/>
    <dgm:cxn modelId="{4A64B7C4-A69D-4A39-891B-8150E978B951}" type="presParOf" srcId="{DC89D697-4635-4AE2-BB0F-74F83E4A1581}" destId="{5573E57C-D924-42DD-B007-6AA6446F5F3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B777DF5-C03B-4665-83C2-1C718DD7B19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D56B613-9FE5-445C-82B8-EE180198A1DF}">
      <dgm:prSet/>
      <dgm:spPr/>
      <dgm:t>
        <a:bodyPr/>
        <a:lstStyle/>
        <a:p>
          <a:pPr>
            <a:lnSpc>
              <a:spcPct val="100000"/>
            </a:lnSpc>
          </a:pPr>
          <a:r>
            <a:rPr lang="en-US" dirty="0"/>
            <a:t>The floor should be pucca</a:t>
          </a:r>
        </a:p>
      </dgm:t>
    </dgm:pt>
    <dgm:pt modelId="{9E85FFB9-4859-438C-8F12-3473D17D8A37}" type="parTrans" cxnId="{391B06F4-62E0-4A68-A5D8-ABF0264FA492}">
      <dgm:prSet/>
      <dgm:spPr/>
      <dgm:t>
        <a:bodyPr/>
        <a:lstStyle/>
        <a:p>
          <a:endParaRPr lang="en-US"/>
        </a:p>
      </dgm:t>
    </dgm:pt>
    <dgm:pt modelId="{47AFBD85-C831-44D6-99F1-2BBA9931A399}" type="sibTrans" cxnId="{391B06F4-62E0-4A68-A5D8-ABF0264FA492}">
      <dgm:prSet/>
      <dgm:spPr/>
      <dgm:t>
        <a:bodyPr/>
        <a:lstStyle/>
        <a:p>
          <a:endParaRPr lang="en-US"/>
        </a:p>
      </dgm:t>
    </dgm:pt>
    <dgm:pt modelId="{DF65E61E-C791-4ABF-B3F0-1B08879BE4BC}">
      <dgm:prSet/>
      <dgm:spPr/>
      <dgm:t>
        <a:bodyPr/>
        <a:lstStyle/>
        <a:p>
          <a:pPr>
            <a:lnSpc>
              <a:spcPct val="100000"/>
            </a:lnSpc>
          </a:pPr>
          <a:r>
            <a:rPr lang="en-US" dirty="0"/>
            <a:t>(a) it should </a:t>
          </a:r>
          <a:r>
            <a:rPr lang="en-US" dirty="0">
              <a:highlight>
                <a:srgbClr val="FFFF00"/>
              </a:highlight>
            </a:rPr>
            <a:t>be impermeable </a:t>
          </a:r>
          <a:r>
            <a:rPr lang="en-US" dirty="0"/>
            <a:t>so that it can be easily washed and kept clean and dry. Mud floors tend to break up and cause dust; they are not recommended </a:t>
          </a:r>
        </a:p>
      </dgm:t>
    </dgm:pt>
    <dgm:pt modelId="{A5B6BA4E-DB31-4DCF-AC39-AC9074278511}" type="parTrans" cxnId="{7D39D4D8-C74B-402F-9389-00064955E1D3}">
      <dgm:prSet/>
      <dgm:spPr/>
      <dgm:t>
        <a:bodyPr/>
        <a:lstStyle/>
        <a:p>
          <a:endParaRPr lang="en-US"/>
        </a:p>
      </dgm:t>
    </dgm:pt>
    <dgm:pt modelId="{CBB39286-68DC-4862-A346-E04DF431F898}" type="sibTrans" cxnId="{7D39D4D8-C74B-402F-9389-00064955E1D3}">
      <dgm:prSet/>
      <dgm:spPr/>
      <dgm:t>
        <a:bodyPr/>
        <a:lstStyle/>
        <a:p>
          <a:endParaRPr lang="en-US"/>
        </a:p>
      </dgm:t>
    </dgm:pt>
    <dgm:pt modelId="{CF031B37-EAF4-478B-B2BD-8677027308E1}">
      <dgm:prSet/>
      <dgm:spPr/>
      <dgm:t>
        <a:bodyPr/>
        <a:lstStyle/>
        <a:p>
          <a:pPr>
            <a:lnSpc>
              <a:spcPct val="100000"/>
            </a:lnSpc>
          </a:pPr>
          <a:r>
            <a:rPr lang="en-US" dirty="0"/>
            <a:t>(b) the floor must </a:t>
          </a:r>
          <a:r>
            <a:rPr lang="en-US" dirty="0">
              <a:highlight>
                <a:srgbClr val="FFFF00"/>
              </a:highlight>
            </a:rPr>
            <a:t>be smooth and free from cracks </a:t>
          </a:r>
          <a:r>
            <a:rPr lang="en-US" dirty="0"/>
            <a:t>and crevices to prevent the breeding of insects and harborage of dust.</a:t>
          </a:r>
        </a:p>
      </dgm:t>
    </dgm:pt>
    <dgm:pt modelId="{4D99C5C5-1637-4F36-A769-8F354AEF9FB3}" type="parTrans" cxnId="{160B8B0C-12AC-4F93-8CB3-2CD849EE612B}">
      <dgm:prSet/>
      <dgm:spPr/>
      <dgm:t>
        <a:bodyPr/>
        <a:lstStyle/>
        <a:p>
          <a:endParaRPr lang="en-US"/>
        </a:p>
      </dgm:t>
    </dgm:pt>
    <dgm:pt modelId="{D79D6D77-1033-4766-ABB5-A384C4E75D1A}" type="sibTrans" cxnId="{160B8B0C-12AC-4F93-8CB3-2CD849EE612B}">
      <dgm:prSet/>
      <dgm:spPr/>
      <dgm:t>
        <a:bodyPr/>
        <a:lstStyle/>
        <a:p>
          <a:endParaRPr lang="en-US"/>
        </a:p>
      </dgm:t>
    </dgm:pt>
    <dgm:pt modelId="{67F09AAB-6E25-480D-B714-043E7A8C3BD9}">
      <dgm:prSet/>
      <dgm:spPr/>
      <dgm:t>
        <a:bodyPr/>
        <a:lstStyle/>
        <a:p>
          <a:pPr>
            <a:lnSpc>
              <a:spcPct val="100000"/>
            </a:lnSpc>
          </a:pPr>
          <a:r>
            <a:rPr lang="en-US" dirty="0"/>
            <a:t>(c) the floors should be </a:t>
          </a:r>
          <a:r>
            <a:rPr lang="en-US" dirty="0">
              <a:highlight>
                <a:srgbClr val="FFFF00"/>
              </a:highlight>
            </a:rPr>
            <a:t>damp-proof</a:t>
          </a:r>
          <a:r>
            <a:rPr lang="en-US" dirty="0"/>
            <a:t>.</a:t>
          </a:r>
        </a:p>
      </dgm:t>
    </dgm:pt>
    <dgm:pt modelId="{A5E89FDF-CB73-4AF5-B0D7-9E17C03F0DA1}" type="parTrans" cxnId="{7769216D-1E90-45DA-A14C-E5060147B81D}">
      <dgm:prSet/>
      <dgm:spPr/>
      <dgm:t>
        <a:bodyPr/>
        <a:lstStyle/>
        <a:p>
          <a:endParaRPr lang="en-US"/>
        </a:p>
      </dgm:t>
    </dgm:pt>
    <dgm:pt modelId="{A47BB08D-714D-4FAF-99B5-5C4E11467D37}" type="sibTrans" cxnId="{7769216D-1E90-45DA-A14C-E5060147B81D}">
      <dgm:prSet/>
      <dgm:spPr/>
      <dgm:t>
        <a:bodyPr/>
        <a:lstStyle/>
        <a:p>
          <a:endParaRPr lang="en-US"/>
        </a:p>
      </dgm:t>
    </dgm:pt>
    <dgm:pt modelId="{D4196848-D224-43A0-B170-DE055FA9EE23}">
      <dgm:prSet/>
      <dgm:spPr/>
      <dgm:t>
        <a:bodyPr/>
        <a:lstStyle/>
        <a:p>
          <a:pPr>
            <a:lnSpc>
              <a:spcPct val="100000"/>
            </a:lnSpc>
          </a:pPr>
          <a:r>
            <a:rPr lang="en-US" dirty="0"/>
            <a:t>(d) the height of the plinth should be 2 to 3 feet.</a:t>
          </a:r>
        </a:p>
      </dgm:t>
    </dgm:pt>
    <dgm:pt modelId="{126D5C42-11A6-4959-9B18-92A43788290C}" type="parTrans" cxnId="{8A7DA068-8679-4520-A56E-0D2C15B44AFC}">
      <dgm:prSet/>
      <dgm:spPr/>
      <dgm:t>
        <a:bodyPr/>
        <a:lstStyle/>
        <a:p>
          <a:endParaRPr lang="en-US"/>
        </a:p>
      </dgm:t>
    </dgm:pt>
    <dgm:pt modelId="{6D3A86FD-C848-4D36-BA8B-A49EF3C2C7FA}" type="sibTrans" cxnId="{8A7DA068-8679-4520-A56E-0D2C15B44AFC}">
      <dgm:prSet/>
      <dgm:spPr/>
      <dgm:t>
        <a:bodyPr/>
        <a:lstStyle/>
        <a:p>
          <a:endParaRPr lang="en-US"/>
        </a:p>
      </dgm:t>
    </dgm:pt>
    <dgm:pt modelId="{DB11A5F1-D5D7-42BB-9B97-2ED7E191A4BF}" type="pres">
      <dgm:prSet presAssocID="{6B777DF5-C03B-4665-83C2-1C718DD7B19F}" presName="root" presStyleCnt="0">
        <dgm:presLayoutVars>
          <dgm:dir/>
          <dgm:resizeHandles val="exact"/>
        </dgm:presLayoutVars>
      </dgm:prSet>
      <dgm:spPr/>
    </dgm:pt>
    <dgm:pt modelId="{1009C90E-547F-4CB3-8B23-1BD5F23F7125}" type="pres">
      <dgm:prSet presAssocID="{ED56B613-9FE5-445C-82B8-EE180198A1DF}" presName="compNode" presStyleCnt="0"/>
      <dgm:spPr/>
    </dgm:pt>
    <dgm:pt modelId="{DEC9956A-1432-4E62-8639-E7F827C8F339}" type="pres">
      <dgm:prSet presAssocID="{ED56B613-9FE5-445C-82B8-EE180198A1DF}" presName="bgRect" presStyleLbl="bgShp" presStyleIdx="0" presStyleCnt="5"/>
      <dgm:spPr/>
    </dgm:pt>
    <dgm:pt modelId="{9D2612B3-4FC8-466F-AF9A-53BBA74F5366}" type="pres">
      <dgm:prSet presAssocID="{ED56B613-9FE5-445C-82B8-EE180198A1D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06CA51EC-E2F4-484B-B419-284250ED68B2}" type="pres">
      <dgm:prSet presAssocID="{ED56B613-9FE5-445C-82B8-EE180198A1DF}" presName="spaceRect" presStyleCnt="0"/>
      <dgm:spPr/>
    </dgm:pt>
    <dgm:pt modelId="{3BE6A7EA-62FE-4882-A389-BAD16B6C93C0}" type="pres">
      <dgm:prSet presAssocID="{ED56B613-9FE5-445C-82B8-EE180198A1DF}" presName="parTx" presStyleLbl="revTx" presStyleIdx="0" presStyleCnt="5">
        <dgm:presLayoutVars>
          <dgm:chMax val="0"/>
          <dgm:chPref val="0"/>
        </dgm:presLayoutVars>
      </dgm:prSet>
      <dgm:spPr/>
    </dgm:pt>
    <dgm:pt modelId="{582E6FFC-380E-40EF-A6F7-0975EE4C6400}" type="pres">
      <dgm:prSet presAssocID="{47AFBD85-C831-44D6-99F1-2BBA9931A399}" presName="sibTrans" presStyleCnt="0"/>
      <dgm:spPr/>
    </dgm:pt>
    <dgm:pt modelId="{EB826A66-BD97-4571-A187-C803F1E608B5}" type="pres">
      <dgm:prSet presAssocID="{DF65E61E-C791-4ABF-B3F0-1B08879BE4BC}" presName="compNode" presStyleCnt="0"/>
      <dgm:spPr/>
    </dgm:pt>
    <dgm:pt modelId="{35950E15-2A4F-48CC-BDCA-EAF924225494}" type="pres">
      <dgm:prSet presAssocID="{DF65E61E-C791-4ABF-B3F0-1B08879BE4BC}" presName="bgRect" presStyleLbl="bgShp" presStyleIdx="1" presStyleCnt="5"/>
      <dgm:spPr/>
    </dgm:pt>
    <dgm:pt modelId="{604D090F-F200-40C9-8F99-FC78B39188A9}" type="pres">
      <dgm:prSet presAssocID="{DF65E61E-C791-4ABF-B3F0-1B08879BE4B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ink"/>
        </a:ext>
      </dgm:extLst>
    </dgm:pt>
    <dgm:pt modelId="{765284E9-E649-4FF7-A79E-CE36755156CB}" type="pres">
      <dgm:prSet presAssocID="{DF65E61E-C791-4ABF-B3F0-1B08879BE4BC}" presName="spaceRect" presStyleCnt="0"/>
      <dgm:spPr/>
    </dgm:pt>
    <dgm:pt modelId="{A159243B-22CE-4E55-B1EA-6AFFBD6993B6}" type="pres">
      <dgm:prSet presAssocID="{DF65E61E-C791-4ABF-B3F0-1B08879BE4BC}" presName="parTx" presStyleLbl="revTx" presStyleIdx="1" presStyleCnt="5">
        <dgm:presLayoutVars>
          <dgm:chMax val="0"/>
          <dgm:chPref val="0"/>
        </dgm:presLayoutVars>
      </dgm:prSet>
      <dgm:spPr/>
    </dgm:pt>
    <dgm:pt modelId="{53A82B0E-D798-4304-94F7-9FD1090BAC5B}" type="pres">
      <dgm:prSet presAssocID="{CBB39286-68DC-4862-A346-E04DF431F898}" presName="sibTrans" presStyleCnt="0"/>
      <dgm:spPr/>
    </dgm:pt>
    <dgm:pt modelId="{1EBF1B8D-66E5-4F8E-B651-B37DE7412210}" type="pres">
      <dgm:prSet presAssocID="{CF031B37-EAF4-478B-B2BD-8677027308E1}" presName="compNode" presStyleCnt="0"/>
      <dgm:spPr/>
    </dgm:pt>
    <dgm:pt modelId="{EBCCD6F6-0C9E-478D-9FFD-47E5B97FE5D2}" type="pres">
      <dgm:prSet presAssocID="{CF031B37-EAF4-478B-B2BD-8677027308E1}" presName="bgRect" presStyleLbl="bgShp" presStyleIdx="2" presStyleCnt="5"/>
      <dgm:spPr/>
    </dgm:pt>
    <dgm:pt modelId="{ABBF3035-B8E8-4EAF-BD05-DCB34ACFFFF6}" type="pres">
      <dgm:prSet presAssocID="{CF031B37-EAF4-478B-B2BD-8677027308E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limbing"/>
        </a:ext>
      </dgm:extLst>
    </dgm:pt>
    <dgm:pt modelId="{16419F1D-28C5-4A97-A041-A3177331A0C0}" type="pres">
      <dgm:prSet presAssocID="{CF031B37-EAF4-478B-B2BD-8677027308E1}" presName="spaceRect" presStyleCnt="0"/>
      <dgm:spPr/>
    </dgm:pt>
    <dgm:pt modelId="{068F3EBE-6997-416F-9767-8F58343AC0A7}" type="pres">
      <dgm:prSet presAssocID="{CF031B37-EAF4-478B-B2BD-8677027308E1}" presName="parTx" presStyleLbl="revTx" presStyleIdx="2" presStyleCnt="5">
        <dgm:presLayoutVars>
          <dgm:chMax val="0"/>
          <dgm:chPref val="0"/>
        </dgm:presLayoutVars>
      </dgm:prSet>
      <dgm:spPr/>
    </dgm:pt>
    <dgm:pt modelId="{DCC15206-3F8C-4F7E-92FC-11A04C1E9657}" type="pres">
      <dgm:prSet presAssocID="{D79D6D77-1033-4766-ABB5-A384C4E75D1A}" presName="sibTrans" presStyleCnt="0"/>
      <dgm:spPr/>
    </dgm:pt>
    <dgm:pt modelId="{4D0AF16D-774C-43EE-809F-96A1D93117FA}" type="pres">
      <dgm:prSet presAssocID="{67F09AAB-6E25-480D-B714-043E7A8C3BD9}" presName="compNode" presStyleCnt="0"/>
      <dgm:spPr/>
    </dgm:pt>
    <dgm:pt modelId="{FC64F5FF-614B-411D-84EF-F077BD1DAEC3}" type="pres">
      <dgm:prSet presAssocID="{67F09AAB-6E25-480D-B714-043E7A8C3BD9}" presName="bgRect" presStyleLbl="bgShp" presStyleIdx="3" presStyleCnt="5"/>
      <dgm:spPr/>
    </dgm:pt>
    <dgm:pt modelId="{3EE309B0-0744-4CA1-82D9-C4BA39709DBE}" type="pres">
      <dgm:prSet presAssocID="{67F09AAB-6E25-480D-B714-043E7A8C3BD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owel"/>
        </a:ext>
      </dgm:extLst>
    </dgm:pt>
    <dgm:pt modelId="{8F8AC385-D212-4D41-B48D-DD945E2C50AA}" type="pres">
      <dgm:prSet presAssocID="{67F09AAB-6E25-480D-B714-043E7A8C3BD9}" presName="spaceRect" presStyleCnt="0"/>
      <dgm:spPr/>
    </dgm:pt>
    <dgm:pt modelId="{B59A559E-AE7E-4BC7-A9AB-638030974DBA}" type="pres">
      <dgm:prSet presAssocID="{67F09AAB-6E25-480D-B714-043E7A8C3BD9}" presName="parTx" presStyleLbl="revTx" presStyleIdx="3" presStyleCnt="5">
        <dgm:presLayoutVars>
          <dgm:chMax val="0"/>
          <dgm:chPref val="0"/>
        </dgm:presLayoutVars>
      </dgm:prSet>
      <dgm:spPr/>
    </dgm:pt>
    <dgm:pt modelId="{2A6BCA92-86AE-4597-9A8D-03C48C50BF4D}" type="pres">
      <dgm:prSet presAssocID="{A47BB08D-714D-4FAF-99B5-5C4E11467D37}" presName="sibTrans" presStyleCnt="0"/>
      <dgm:spPr/>
    </dgm:pt>
    <dgm:pt modelId="{80FE717C-4706-463C-AB43-F78C76684972}" type="pres">
      <dgm:prSet presAssocID="{D4196848-D224-43A0-B170-DE055FA9EE23}" presName="compNode" presStyleCnt="0"/>
      <dgm:spPr/>
    </dgm:pt>
    <dgm:pt modelId="{55CF4846-E352-4A87-B410-4EF4BC853789}" type="pres">
      <dgm:prSet presAssocID="{D4196848-D224-43A0-B170-DE055FA9EE23}" presName="bgRect" presStyleLbl="bgShp" presStyleIdx="4" presStyleCnt="5"/>
      <dgm:spPr/>
    </dgm:pt>
    <dgm:pt modelId="{09A6D68A-C354-4E60-9AB0-BA484F1A95E3}" type="pres">
      <dgm:prSet presAssocID="{D4196848-D224-43A0-B170-DE055FA9EE2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Ruler"/>
        </a:ext>
      </dgm:extLst>
    </dgm:pt>
    <dgm:pt modelId="{7969C5C0-DB41-491F-ABBF-217EAA7E2C40}" type="pres">
      <dgm:prSet presAssocID="{D4196848-D224-43A0-B170-DE055FA9EE23}" presName="spaceRect" presStyleCnt="0"/>
      <dgm:spPr/>
    </dgm:pt>
    <dgm:pt modelId="{1FE4C264-F72A-4577-8418-20FAFA700C97}" type="pres">
      <dgm:prSet presAssocID="{D4196848-D224-43A0-B170-DE055FA9EE23}" presName="parTx" presStyleLbl="revTx" presStyleIdx="4" presStyleCnt="5">
        <dgm:presLayoutVars>
          <dgm:chMax val="0"/>
          <dgm:chPref val="0"/>
        </dgm:presLayoutVars>
      </dgm:prSet>
      <dgm:spPr/>
    </dgm:pt>
  </dgm:ptLst>
  <dgm:cxnLst>
    <dgm:cxn modelId="{160B8B0C-12AC-4F93-8CB3-2CD849EE612B}" srcId="{6B777DF5-C03B-4665-83C2-1C718DD7B19F}" destId="{CF031B37-EAF4-478B-B2BD-8677027308E1}" srcOrd="2" destOrd="0" parTransId="{4D99C5C5-1637-4F36-A769-8F354AEF9FB3}" sibTransId="{D79D6D77-1033-4766-ABB5-A384C4E75D1A}"/>
    <dgm:cxn modelId="{8A7DA068-8679-4520-A56E-0D2C15B44AFC}" srcId="{6B777DF5-C03B-4665-83C2-1C718DD7B19F}" destId="{D4196848-D224-43A0-B170-DE055FA9EE23}" srcOrd="4" destOrd="0" parTransId="{126D5C42-11A6-4959-9B18-92A43788290C}" sibTransId="{6D3A86FD-C848-4D36-BA8B-A49EF3C2C7FA}"/>
    <dgm:cxn modelId="{7769216D-1E90-45DA-A14C-E5060147B81D}" srcId="{6B777DF5-C03B-4665-83C2-1C718DD7B19F}" destId="{67F09AAB-6E25-480D-B714-043E7A8C3BD9}" srcOrd="3" destOrd="0" parTransId="{A5E89FDF-CB73-4AF5-B0D7-9E17C03F0DA1}" sibTransId="{A47BB08D-714D-4FAF-99B5-5C4E11467D37}"/>
    <dgm:cxn modelId="{84EB8C73-A59A-4C01-950A-DD878BE0DE54}" type="presOf" srcId="{D4196848-D224-43A0-B170-DE055FA9EE23}" destId="{1FE4C264-F72A-4577-8418-20FAFA700C97}" srcOrd="0" destOrd="0" presId="urn:microsoft.com/office/officeart/2018/2/layout/IconVerticalSolidList"/>
    <dgm:cxn modelId="{BAA5C5AE-15CD-4D74-9107-89BFEF074F46}" type="presOf" srcId="{CF031B37-EAF4-478B-B2BD-8677027308E1}" destId="{068F3EBE-6997-416F-9767-8F58343AC0A7}" srcOrd="0" destOrd="0" presId="urn:microsoft.com/office/officeart/2018/2/layout/IconVerticalSolidList"/>
    <dgm:cxn modelId="{E2DF3ABD-D3BF-47CC-9CFE-5F6EF7695194}" type="presOf" srcId="{6B777DF5-C03B-4665-83C2-1C718DD7B19F}" destId="{DB11A5F1-D5D7-42BB-9B97-2ED7E191A4BF}" srcOrd="0" destOrd="0" presId="urn:microsoft.com/office/officeart/2018/2/layout/IconVerticalSolidList"/>
    <dgm:cxn modelId="{5ABE7ABF-4AE3-4983-8529-E6370C530794}" type="presOf" srcId="{DF65E61E-C791-4ABF-B3F0-1B08879BE4BC}" destId="{A159243B-22CE-4E55-B1EA-6AFFBD6993B6}" srcOrd="0" destOrd="0" presId="urn:microsoft.com/office/officeart/2018/2/layout/IconVerticalSolidList"/>
    <dgm:cxn modelId="{7D39D4D8-C74B-402F-9389-00064955E1D3}" srcId="{6B777DF5-C03B-4665-83C2-1C718DD7B19F}" destId="{DF65E61E-C791-4ABF-B3F0-1B08879BE4BC}" srcOrd="1" destOrd="0" parTransId="{A5B6BA4E-DB31-4DCF-AC39-AC9074278511}" sibTransId="{CBB39286-68DC-4862-A346-E04DF431F898}"/>
    <dgm:cxn modelId="{391B06F4-62E0-4A68-A5D8-ABF0264FA492}" srcId="{6B777DF5-C03B-4665-83C2-1C718DD7B19F}" destId="{ED56B613-9FE5-445C-82B8-EE180198A1DF}" srcOrd="0" destOrd="0" parTransId="{9E85FFB9-4859-438C-8F12-3473D17D8A37}" sibTransId="{47AFBD85-C831-44D6-99F1-2BBA9931A399}"/>
    <dgm:cxn modelId="{FF2564FC-2F7A-4BE4-85B3-CAB34A4DF0AE}" type="presOf" srcId="{ED56B613-9FE5-445C-82B8-EE180198A1DF}" destId="{3BE6A7EA-62FE-4882-A389-BAD16B6C93C0}" srcOrd="0" destOrd="0" presId="urn:microsoft.com/office/officeart/2018/2/layout/IconVerticalSolidList"/>
    <dgm:cxn modelId="{5AF3EEFD-005C-4B79-B2BE-D0DC9517F31E}" type="presOf" srcId="{67F09AAB-6E25-480D-B714-043E7A8C3BD9}" destId="{B59A559E-AE7E-4BC7-A9AB-638030974DBA}" srcOrd="0" destOrd="0" presId="urn:microsoft.com/office/officeart/2018/2/layout/IconVerticalSolidList"/>
    <dgm:cxn modelId="{89C52B48-3D67-4E49-8867-3E8659287F2C}" type="presParOf" srcId="{DB11A5F1-D5D7-42BB-9B97-2ED7E191A4BF}" destId="{1009C90E-547F-4CB3-8B23-1BD5F23F7125}" srcOrd="0" destOrd="0" presId="urn:microsoft.com/office/officeart/2018/2/layout/IconVerticalSolidList"/>
    <dgm:cxn modelId="{EA5AF1B1-3D4E-42D8-9588-080FB296788E}" type="presParOf" srcId="{1009C90E-547F-4CB3-8B23-1BD5F23F7125}" destId="{DEC9956A-1432-4E62-8639-E7F827C8F339}" srcOrd="0" destOrd="0" presId="urn:microsoft.com/office/officeart/2018/2/layout/IconVerticalSolidList"/>
    <dgm:cxn modelId="{9FD7A57C-944D-4895-A30A-584FD10AEADA}" type="presParOf" srcId="{1009C90E-547F-4CB3-8B23-1BD5F23F7125}" destId="{9D2612B3-4FC8-466F-AF9A-53BBA74F5366}" srcOrd="1" destOrd="0" presId="urn:microsoft.com/office/officeart/2018/2/layout/IconVerticalSolidList"/>
    <dgm:cxn modelId="{86E41734-2153-43A6-9630-88D575556E5E}" type="presParOf" srcId="{1009C90E-547F-4CB3-8B23-1BD5F23F7125}" destId="{06CA51EC-E2F4-484B-B419-284250ED68B2}" srcOrd="2" destOrd="0" presId="urn:microsoft.com/office/officeart/2018/2/layout/IconVerticalSolidList"/>
    <dgm:cxn modelId="{B9529452-DE86-4CD8-AB2B-B4580876B217}" type="presParOf" srcId="{1009C90E-547F-4CB3-8B23-1BD5F23F7125}" destId="{3BE6A7EA-62FE-4882-A389-BAD16B6C93C0}" srcOrd="3" destOrd="0" presId="urn:microsoft.com/office/officeart/2018/2/layout/IconVerticalSolidList"/>
    <dgm:cxn modelId="{1A7EC26B-F2F1-4A37-820A-DC49AFCEF864}" type="presParOf" srcId="{DB11A5F1-D5D7-42BB-9B97-2ED7E191A4BF}" destId="{582E6FFC-380E-40EF-A6F7-0975EE4C6400}" srcOrd="1" destOrd="0" presId="urn:microsoft.com/office/officeart/2018/2/layout/IconVerticalSolidList"/>
    <dgm:cxn modelId="{49368E56-78CB-449D-9FBF-0DB48F9BD315}" type="presParOf" srcId="{DB11A5F1-D5D7-42BB-9B97-2ED7E191A4BF}" destId="{EB826A66-BD97-4571-A187-C803F1E608B5}" srcOrd="2" destOrd="0" presId="urn:microsoft.com/office/officeart/2018/2/layout/IconVerticalSolidList"/>
    <dgm:cxn modelId="{4AED58AC-7E56-4C14-A36E-1A74AA96172A}" type="presParOf" srcId="{EB826A66-BD97-4571-A187-C803F1E608B5}" destId="{35950E15-2A4F-48CC-BDCA-EAF924225494}" srcOrd="0" destOrd="0" presId="urn:microsoft.com/office/officeart/2018/2/layout/IconVerticalSolidList"/>
    <dgm:cxn modelId="{1D694CAA-052C-4234-9F41-6649D6E5B238}" type="presParOf" srcId="{EB826A66-BD97-4571-A187-C803F1E608B5}" destId="{604D090F-F200-40C9-8F99-FC78B39188A9}" srcOrd="1" destOrd="0" presId="urn:microsoft.com/office/officeart/2018/2/layout/IconVerticalSolidList"/>
    <dgm:cxn modelId="{3C027E51-C257-4CCB-8180-78559A2E738D}" type="presParOf" srcId="{EB826A66-BD97-4571-A187-C803F1E608B5}" destId="{765284E9-E649-4FF7-A79E-CE36755156CB}" srcOrd="2" destOrd="0" presId="urn:microsoft.com/office/officeart/2018/2/layout/IconVerticalSolidList"/>
    <dgm:cxn modelId="{F4F82025-0A88-4F75-A551-63109EA2F7E5}" type="presParOf" srcId="{EB826A66-BD97-4571-A187-C803F1E608B5}" destId="{A159243B-22CE-4E55-B1EA-6AFFBD6993B6}" srcOrd="3" destOrd="0" presId="urn:microsoft.com/office/officeart/2018/2/layout/IconVerticalSolidList"/>
    <dgm:cxn modelId="{C8B24955-F9FB-4749-9C6E-5E357BC0DA05}" type="presParOf" srcId="{DB11A5F1-D5D7-42BB-9B97-2ED7E191A4BF}" destId="{53A82B0E-D798-4304-94F7-9FD1090BAC5B}" srcOrd="3" destOrd="0" presId="urn:microsoft.com/office/officeart/2018/2/layout/IconVerticalSolidList"/>
    <dgm:cxn modelId="{C740280B-C542-4C6D-BC75-00B810EE64E2}" type="presParOf" srcId="{DB11A5F1-D5D7-42BB-9B97-2ED7E191A4BF}" destId="{1EBF1B8D-66E5-4F8E-B651-B37DE7412210}" srcOrd="4" destOrd="0" presId="urn:microsoft.com/office/officeart/2018/2/layout/IconVerticalSolidList"/>
    <dgm:cxn modelId="{54A1C869-2B3C-45F6-99E1-1DD703EB52E5}" type="presParOf" srcId="{1EBF1B8D-66E5-4F8E-B651-B37DE7412210}" destId="{EBCCD6F6-0C9E-478D-9FFD-47E5B97FE5D2}" srcOrd="0" destOrd="0" presId="urn:microsoft.com/office/officeart/2018/2/layout/IconVerticalSolidList"/>
    <dgm:cxn modelId="{8D5FB7AB-2C97-4610-8003-CE4FEA887A34}" type="presParOf" srcId="{1EBF1B8D-66E5-4F8E-B651-B37DE7412210}" destId="{ABBF3035-B8E8-4EAF-BD05-DCB34ACFFFF6}" srcOrd="1" destOrd="0" presId="urn:microsoft.com/office/officeart/2018/2/layout/IconVerticalSolidList"/>
    <dgm:cxn modelId="{969BA97F-9E14-49FB-8019-78FFE47142B4}" type="presParOf" srcId="{1EBF1B8D-66E5-4F8E-B651-B37DE7412210}" destId="{16419F1D-28C5-4A97-A041-A3177331A0C0}" srcOrd="2" destOrd="0" presId="urn:microsoft.com/office/officeart/2018/2/layout/IconVerticalSolidList"/>
    <dgm:cxn modelId="{1EC5067E-4EE9-40EA-A61D-68272057937A}" type="presParOf" srcId="{1EBF1B8D-66E5-4F8E-B651-B37DE7412210}" destId="{068F3EBE-6997-416F-9767-8F58343AC0A7}" srcOrd="3" destOrd="0" presId="urn:microsoft.com/office/officeart/2018/2/layout/IconVerticalSolidList"/>
    <dgm:cxn modelId="{19008D42-DE17-43DC-88E2-292FAE60B2DE}" type="presParOf" srcId="{DB11A5F1-D5D7-42BB-9B97-2ED7E191A4BF}" destId="{DCC15206-3F8C-4F7E-92FC-11A04C1E9657}" srcOrd="5" destOrd="0" presId="urn:microsoft.com/office/officeart/2018/2/layout/IconVerticalSolidList"/>
    <dgm:cxn modelId="{62907C2A-7194-4A6C-9572-C2A0A23E6E09}" type="presParOf" srcId="{DB11A5F1-D5D7-42BB-9B97-2ED7E191A4BF}" destId="{4D0AF16D-774C-43EE-809F-96A1D93117FA}" srcOrd="6" destOrd="0" presId="urn:microsoft.com/office/officeart/2018/2/layout/IconVerticalSolidList"/>
    <dgm:cxn modelId="{CD734767-917F-46E4-916A-0779DBEA85A2}" type="presParOf" srcId="{4D0AF16D-774C-43EE-809F-96A1D93117FA}" destId="{FC64F5FF-614B-411D-84EF-F077BD1DAEC3}" srcOrd="0" destOrd="0" presId="urn:microsoft.com/office/officeart/2018/2/layout/IconVerticalSolidList"/>
    <dgm:cxn modelId="{701B565F-ACA7-4D08-841A-F9CCA1DD1B75}" type="presParOf" srcId="{4D0AF16D-774C-43EE-809F-96A1D93117FA}" destId="{3EE309B0-0744-4CA1-82D9-C4BA39709DBE}" srcOrd="1" destOrd="0" presId="urn:microsoft.com/office/officeart/2018/2/layout/IconVerticalSolidList"/>
    <dgm:cxn modelId="{245584F1-4789-4395-8FED-BE7E2D31BD4D}" type="presParOf" srcId="{4D0AF16D-774C-43EE-809F-96A1D93117FA}" destId="{8F8AC385-D212-4D41-B48D-DD945E2C50AA}" srcOrd="2" destOrd="0" presId="urn:microsoft.com/office/officeart/2018/2/layout/IconVerticalSolidList"/>
    <dgm:cxn modelId="{321CD5CE-C438-4C2E-B034-E649F280A70C}" type="presParOf" srcId="{4D0AF16D-774C-43EE-809F-96A1D93117FA}" destId="{B59A559E-AE7E-4BC7-A9AB-638030974DBA}" srcOrd="3" destOrd="0" presId="urn:microsoft.com/office/officeart/2018/2/layout/IconVerticalSolidList"/>
    <dgm:cxn modelId="{DE2A40AB-32FC-4526-988F-96AC6EF95605}" type="presParOf" srcId="{DB11A5F1-D5D7-42BB-9B97-2ED7E191A4BF}" destId="{2A6BCA92-86AE-4597-9A8D-03C48C50BF4D}" srcOrd="7" destOrd="0" presId="urn:microsoft.com/office/officeart/2018/2/layout/IconVerticalSolidList"/>
    <dgm:cxn modelId="{E6BFBA5E-8E09-433A-A903-F8FC8C90C764}" type="presParOf" srcId="{DB11A5F1-D5D7-42BB-9B97-2ED7E191A4BF}" destId="{80FE717C-4706-463C-AB43-F78C76684972}" srcOrd="8" destOrd="0" presId="urn:microsoft.com/office/officeart/2018/2/layout/IconVerticalSolidList"/>
    <dgm:cxn modelId="{8892BC9E-5D26-41E3-B2D6-E3AF6C74FC96}" type="presParOf" srcId="{80FE717C-4706-463C-AB43-F78C76684972}" destId="{55CF4846-E352-4A87-B410-4EF4BC853789}" srcOrd="0" destOrd="0" presId="urn:microsoft.com/office/officeart/2018/2/layout/IconVerticalSolidList"/>
    <dgm:cxn modelId="{70137356-12B1-44E4-A427-DFC9FD68C223}" type="presParOf" srcId="{80FE717C-4706-463C-AB43-F78C76684972}" destId="{09A6D68A-C354-4E60-9AB0-BA484F1A95E3}" srcOrd="1" destOrd="0" presId="urn:microsoft.com/office/officeart/2018/2/layout/IconVerticalSolidList"/>
    <dgm:cxn modelId="{43027498-4C88-4259-8E14-5BB5291E7E43}" type="presParOf" srcId="{80FE717C-4706-463C-AB43-F78C76684972}" destId="{7969C5C0-DB41-491F-ABBF-217EAA7E2C40}" srcOrd="2" destOrd="0" presId="urn:microsoft.com/office/officeart/2018/2/layout/IconVerticalSolidList"/>
    <dgm:cxn modelId="{5222E4B8-DDED-45AB-974B-198922E62732}" type="presParOf" srcId="{80FE717C-4706-463C-AB43-F78C76684972}" destId="{1FE4C264-F72A-4577-8418-20FAFA700C9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3386A4-EB83-4BFC-B1F3-0CFB84314FDF}">
      <dsp:nvSpPr>
        <dsp:cNvPr id="0" name=""/>
        <dsp:cNvSpPr/>
      </dsp:nvSpPr>
      <dsp:spPr>
        <a:xfrm>
          <a:off x="0" y="717"/>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EC4378-565B-4465-8245-B04487C9C4A1}">
      <dsp:nvSpPr>
        <dsp:cNvPr id="0" name=""/>
        <dsp:cNvSpPr/>
      </dsp:nvSpPr>
      <dsp:spPr>
        <a:xfrm>
          <a:off x="507973" y="378548"/>
          <a:ext cx="923587" cy="9235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9C5A7D-7389-43C0-96AC-712F461EAEF7}">
      <dsp:nvSpPr>
        <dsp:cNvPr id="0" name=""/>
        <dsp:cNvSpPr/>
      </dsp:nvSpPr>
      <dsp:spPr>
        <a:xfrm>
          <a:off x="1939533" y="717"/>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022350">
            <a:lnSpc>
              <a:spcPct val="90000"/>
            </a:lnSpc>
            <a:spcBef>
              <a:spcPct val="0"/>
            </a:spcBef>
            <a:spcAft>
              <a:spcPct val="35000"/>
            </a:spcAft>
            <a:buNone/>
          </a:pPr>
          <a:r>
            <a:rPr lang="en-US" sz="2300" kern="1200" dirty="0"/>
            <a:t>1. Healthful housing provides </a:t>
          </a:r>
          <a:r>
            <a:rPr lang="en-US" sz="2300" kern="1200" dirty="0">
              <a:highlight>
                <a:srgbClr val="FFFF00"/>
              </a:highlight>
            </a:rPr>
            <a:t>physical protection and shelter</a:t>
          </a:r>
          <a:r>
            <a:rPr lang="en-US" sz="2300" kern="1200" dirty="0"/>
            <a:t>.</a:t>
          </a:r>
        </a:p>
      </dsp:txBody>
      <dsp:txXfrm>
        <a:off x="1939533" y="717"/>
        <a:ext cx="4362067" cy="1679249"/>
      </dsp:txXfrm>
    </dsp:sp>
    <dsp:sp modelId="{471400B9-1415-48BD-970B-435B9F4C824C}">
      <dsp:nvSpPr>
        <dsp:cNvPr id="0" name=""/>
        <dsp:cNvSpPr/>
      </dsp:nvSpPr>
      <dsp:spPr>
        <a:xfrm>
          <a:off x="0" y="2099779"/>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1E8656-E3E7-45E1-80A9-0068E26829B1}">
      <dsp:nvSpPr>
        <dsp:cNvPr id="0" name=""/>
        <dsp:cNvSpPr/>
      </dsp:nvSpPr>
      <dsp:spPr>
        <a:xfrm>
          <a:off x="507973" y="2477610"/>
          <a:ext cx="923587" cy="9235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058B57-D9D3-4712-A337-B9F08F346670}">
      <dsp:nvSpPr>
        <dsp:cNvPr id="0" name=""/>
        <dsp:cNvSpPr/>
      </dsp:nvSpPr>
      <dsp:spPr>
        <a:xfrm>
          <a:off x="1939533" y="2099779"/>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022350">
            <a:lnSpc>
              <a:spcPct val="90000"/>
            </a:lnSpc>
            <a:spcBef>
              <a:spcPct val="0"/>
            </a:spcBef>
            <a:spcAft>
              <a:spcPct val="35000"/>
            </a:spcAft>
            <a:buNone/>
          </a:pPr>
          <a:r>
            <a:rPr lang="en-US" sz="2300" kern="1200" dirty="0"/>
            <a:t>2. Provides adequately for </a:t>
          </a:r>
          <a:r>
            <a:rPr lang="en-US" sz="2300" kern="1200" dirty="0">
              <a:highlight>
                <a:srgbClr val="FFFF00"/>
              </a:highlight>
            </a:rPr>
            <a:t>cooking, eating, washing, and excretory </a:t>
          </a:r>
          <a:r>
            <a:rPr lang="en-US" sz="2300" kern="1200" dirty="0"/>
            <a:t>functions.</a:t>
          </a:r>
        </a:p>
      </dsp:txBody>
      <dsp:txXfrm>
        <a:off x="1939533" y="2099779"/>
        <a:ext cx="4362067" cy="1679249"/>
      </dsp:txXfrm>
    </dsp:sp>
    <dsp:sp modelId="{884DD763-B19A-4B3A-9C68-AA48485E7F5E}">
      <dsp:nvSpPr>
        <dsp:cNvPr id="0" name=""/>
        <dsp:cNvSpPr/>
      </dsp:nvSpPr>
      <dsp:spPr>
        <a:xfrm>
          <a:off x="0" y="4198841"/>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AF56AD-2267-4946-A7B8-7E5F3C45BCBE}">
      <dsp:nvSpPr>
        <dsp:cNvPr id="0" name=""/>
        <dsp:cNvSpPr/>
      </dsp:nvSpPr>
      <dsp:spPr>
        <a:xfrm>
          <a:off x="507973" y="4576672"/>
          <a:ext cx="923587" cy="9235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0E945B-4047-4373-B029-66D9E38DEDD7}">
      <dsp:nvSpPr>
        <dsp:cNvPr id="0" name=""/>
        <dsp:cNvSpPr/>
      </dsp:nvSpPr>
      <dsp:spPr>
        <a:xfrm>
          <a:off x="1939533" y="4198841"/>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022350">
            <a:lnSpc>
              <a:spcPct val="90000"/>
            </a:lnSpc>
            <a:spcBef>
              <a:spcPct val="0"/>
            </a:spcBef>
            <a:spcAft>
              <a:spcPct val="35000"/>
            </a:spcAft>
            <a:buNone/>
          </a:pPr>
          <a:r>
            <a:rPr lang="en-US" sz="2300" kern="1200" dirty="0"/>
            <a:t>3. It is designed, constructed, maintained and used in a manner such as to </a:t>
          </a:r>
          <a:r>
            <a:rPr lang="en-US" sz="2300" kern="1200" dirty="0">
              <a:highlight>
                <a:srgbClr val="FFFF00"/>
              </a:highlight>
            </a:rPr>
            <a:t>prevent the spread of communicable diseases</a:t>
          </a:r>
          <a:r>
            <a:rPr lang="en-US" sz="2300" kern="1200" dirty="0"/>
            <a:t>.</a:t>
          </a:r>
        </a:p>
      </dsp:txBody>
      <dsp:txXfrm>
        <a:off x="1939533" y="4198841"/>
        <a:ext cx="4362067" cy="16792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CCFD54-9A3E-4823-9C78-951DD49C8E1E}">
      <dsp:nvSpPr>
        <dsp:cNvPr id="0" name=""/>
        <dsp:cNvSpPr/>
      </dsp:nvSpPr>
      <dsp:spPr>
        <a:xfrm>
          <a:off x="0" y="211746"/>
          <a:ext cx="6301601" cy="17685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solidFill>
                <a:schemeClr val="tx1"/>
              </a:solidFill>
            </a:rPr>
            <a:t>4. Provides for </a:t>
          </a:r>
          <a:r>
            <a:rPr lang="en-US" sz="2600" kern="1200" dirty="0">
              <a:solidFill>
                <a:schemeClr val="tx1"/>
              </a:solidFill>
              <a:highlight>
                <a:srgbClr val="FFFF00"/>
              </a:highlight>
            </a:rPr>
            <a:t>protection from hazards of exposure to noise and pollution</a:t>
          </a:r>
          <a:r>
            <a:rPr lang="en-US" sz="2600" kern="1200" dirty="0">
              <a:solidFill>
                <a:schemeClr val="tx1"/>
              </a:solidFill>
            </a:rPr>
            <a:t>.</a:t>
          </a:r>
        </a:p>
      </dsp:txBody>
      <dsp:txXfrm>
        <a:off x="86332" y="298078"/>
        <a:ext cx="6128937" cy="1595854"/>
      </dsp:txXfrm>
    </dsp:sp>
    <dsp:sp modelId="{C8A23869-5C03-40F5-96FE-D732DA179845}">
      <dsp:nvSpPr>
        <dsp:cNvPr id="0" name=""/>
        <dsp:cNvSpPr/>
      </dsp:nvSpPr>
      <dsp:spPr>
        <a:xfrm>
          <a:off x="0" y="2055145"/>
          <a:ext cx="6301601" cy="1768518"/>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solidFill>
                <a:schemeClr val="tx1"/>
              </a:solidFill>
            </a:rPr>
            <a:t>5</a:t>
          </a:r>
          <a:r>
            <a:rPr lang="en-US" sz="2600" kern="1200" dirty="0">
              <a:solidFill>
                <a:schemeClr val="tx1"/>
              </a:solidFill>
              <a:highlight>
                <a:srgbClr val="FFFF00"/>
              </a:highlight>
            </a:rPr>
            <a:t>. Free from unsafe physical arrangements </a:t>
          </a:r>
          <a:r>
            <a:rPr lang="en-US" sz="2600" kern="1200" dirty="0">
              <a:solidFill>
                <a:schemeClr val="tx1"/>
              </a:solidFill>
            </a:rPr>
            <a:t>due to construction or maintenance, and from toxic or harmful materials.</a:t>
          </a:r>
        </a:p>
      </dsp:txBody>
      <dsp:txXfrm>
        <a:off x="86332" y="2141477"/>
        <a:ext cx="6128937" cy="1595854"/>
      </dsp:txXfrm>
    </dsp:sp>
    <dsp:sp modelId="{5573E57C-D924-42DD-B007-6AA6446F5F35}">
      <dsp:nvSpPr>
        <dsp:cNvPr id="0" name=""/>
        <dsp:cNvSpPr/>
      </dsp:nvSpPr>
      <dsp:spPr>
        <a:xfrm>
          <a:off x="0" y="3898543"/>
          <a:ext cx="6301601" cy="1768518"/>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solidFill>
                <a:schemeClr val="tx1"/>
              </a:solidFill>
            </a:rPr>
            <a:t>6. </a:t>
          </a:r>
          <a:r>
            <a:rPr lang="en-US" sz="2600" kern="1200" dirty="0">
              <a:solidFill>
                <a:schemeClr val="tx1"/>
              </a:solidFill>
              <a:highlight>
                <a:srgbClr val="FFFF00"/>
              </a:highlight>
            </a:rPr>
            <a:t>Encourages personal and community development, promotes social relationships</a:t>
          </a:r>
          <a:r>
            <a:rPr lang="en-US" sz="2600" kern="1200" dirty="0">
              <a:solidFill>
                <a:schemeClr val="tx1"/>
              </a:solidFill>
            </a:rPr>
            <a:t>, reflects a regard for ecological principles, and by these means </a:t>
          </a:r>
          <a:r>
            <a:rPr lang="en-US" sz="2600" kern="1200" dirty="0">
              <a:solidFill>
                <a:schemeClr val="tx1"/>
              </a:solidFill>
              <a:highlight>
                <a:srgbClr val="FFFF00"/>
              </a:highlight>
            </a:rPr>
            <a:t>promotes mental health</a:t>
          </a:r>
          <a:r>
            <a:rPr lang="en-US" sz="2600" kern="1200" dirty="0">
              <a:solidFill>
                <a:schemeClr val="tx1"/>
              </a:solidFill>
            </a:rPr>
            <a:t>.</a:t>
          </a:r>
        </a:p>
      </dsp:txBody>
      <dsp:txXfrm>
        <a:off x="86332" y="3984875"/>
        <a:ext cx="6128937" cy="15958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C9956A-1432-4E62-8639-E7F827C8F339}">
      <dsp:nvSpPr>
        <dsp:cNvPr id="0" name=""/>
        <dsp:cNvSpPr/>
      </dsp:nvSpPr>
      <dsp:spPr>
        <a:xfrm>
          <a:off x="0" y="3726"/>
          <a:ext cx="8425543" cy="7938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2612B3-4FC8-466F-AF9A-53BBA74F5366}">
      <dsp:nvSpPr>
        <dsp:cNvPr id="0" name=""/>
        <dsp:cNvSpPr/>
      </dsp:nvSpPr>
      <dsp:spPr>
        <a:xfrm>
          <a:off x="240137" y="182341"/>
          <a:ext cx="436613" cy="4366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E6A7EA-62FE-4882-A389-BAD16B6C93C0}">
      <dsp:nvSpPr>
        <dsp:cNvPr id="0" name=""/>
        <dsp:cNvSpPr/>
      </dsp:nvSpPr>
      <dsp:spPr>
        <a:xfrm>
          <a:off x="916887" y="3726"/>
          <a:ext cx="7508655" cy="793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015" tIns="84015" rIns="84015" bIns="84015" numCol="1" spcCol="1270" anchor="ctr" anchorCtr="0">
          <a:noAutofit/>
        </a:bodyPr>
        <a:lstStyle/>
        <a:p>
          <a:pPr marL="0" lvl="0" indent="0" algn="l" defTabSz="800100">
            <a:lnSpc>
              <a:spcPct val="100000"/>
            </a:lnSpc>
            <a:spcBef>
              <a:spcPct val="0"/>
            </a:spcBef>
            <a:spcAft>
              <a:spcPct val="35000"/>
            </a:spcAft>
            <a:buNone/>
          </a:pPr>
          <a:r>
            <a:rPr lang="en-US" sz="1800" kern="1200" dirty="0"/>
            <a:t>The floor should be pucca</a:t>
          </a:r>
        </a:p>
      </dsp:txBody>
      <dsp:txXfrm>
        <a:off x="916887" y="3726"/>
        <a:ext cx="7508655" cy="793842"/>
      </dsp:txXfrm>
    </dsp:sp>
    <dsp:sp modelId="{35950E15-2A4F-48CC-BDCA-EAF924225494}">
      <dsp:nvSpPr>
        <dsp:cNvPr id="0" name=""/>
        <dsp:cNvSpPr/>
      </dsp:nvSpPr>
      <dsp:spPr>
        <a:xfrm>
          <a:off x="0" y="996029"/>
          <a:ext cx="8425543" cy="7938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4D090F-F200-40C9-8F99-FC78B39188A9}">
      <dsp:nvSpPr>
        <dsp:cNvPr id="0" name=""/>
        <dsp:cNvSpPr/>
      </dsp:nvSpPr>
      <dsp:spPr>
        <a:xfrm>
          <a:off x="240137" y="1174644"/>
          <a:ext cx="436613" cy="4366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59243B-22CE-4E55-B1EA-6AFFBD6993B6}">
      <dsp:nvSpPr>
        <dsp:cNvPr id="0" name=""/>
        <dsp:cNvSpPr/>
      </dsp:nvSpPr>
      <dsp:spPr>
        <a:xfrm>
          <a:off x="916887" y="996029"/>
          <a:ext cx="7508655" cy="793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015" tIns="84015" rIns="84015" bIns="84015" numCol="1" spcCol="1270" anchor="ctr" anchorCtr="0">
          <a:noAutofit/>
        </a:bodyPr>
        <a:lstStyle/>
        <a:p>
          <a:pPr marL="0" lvl="0" indent="0" algn="l" defTabSz="800100">
            <a:lnSpc>
              <a:spcPct val="100000"/>
            </a:lnSpc>
            <a:spcBef>
              <a:spcPct val="0"/>
            </a:spcBef>
            <a:spcAft>
              <a:spcPct val="35000"/>
            </a:spcAft>
            <a:buNone/>
          </a:pPr>
          <a:r>
            <a:rPr lang="en-US" sz="1800" kern="1200" dirty="0"/>
            <a:t>(a) it should </a:t>
          </a:r>
          <a:r>
            <a:rPr lang="en-US" sz="1800" kern="1200" dirty="0">
              <a:highlight>
                <a:srgbClr val="FFFF00"/>
              </a:highlight>
            </a:rPr>
            <a:t>be impermeable </a:t>
          </a:r>
          <a:r>
            <a:rPr lang="en-US" sz="1800" kern="1200" dirty="0"/>
            <a:t>so that it can be easily washed and kept clean and dry. Mud floors tend to break up and cause dust; they are not recommended </a:t>
          </a:r>
        </a:p>
      </dsp:txBody>
      <dsp:txXfrm>
        <a:off x="916887" y="996029"/>
        <a:ext cx="7508655" cy="793842"/>
      </dsp:txXfrm>
    </dsp:sp>
    <dsp:sp modelId="{EBCCD6F6-0C9E-478D-9FFD-47E5B97FE5D2}">
      <dsp:nvSpPr>
        <dsp:cNvPr id="0" name=""/>
        <dsp:cNvSpPr/>
      </dsp:nvSpPr>
      <dsp:spPr>
        <a:xfrm>
          <a:off x="0" y="1988332"/>
          <a:ext cx="8425543" cy="7938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BF3035-B8E8-4EAF-BD05-DCB34ACFFFF6}">
      <dsp:nvSpPr>
        <dsp:cNvPr id="0" name=""/>
        <dsp:cNvSpPr/>
      </dsp:nvSpPr>
      <dsp:spPr>
        <a:xfrm>
          <a:off x="240137" y="2166946"/>
          <a:ext cx="436613" cy="4366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8F3EBE-6997-416F-9767-8F58343AC0A7}">
      <dsp:nvSpPr>
        <dsp:cNvPr id="0" name=""/>
        <dsp:cNvSpPr/>
      </dsp:nvSpPr>
      <dsp:spPr>
        <a:xfrm>
          <a:off x="916887" y="1988332"/>
          <a:ext cx="7508655" cy="793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015" tIns="84015" rIns="84015" bIns="84015" numCol="1" spcCol="1270" anchor="ctr" anchorCtr="0">
          <a:noAutofit/>
        </a:bodyPr>
        <a:lstStyle/>
        <a:p>
          <a:pPr marL="0" lvl="0" indent="0" algn="l" defTabSz="800100">
            <a:lnSpc>
              <a:spcPct val="100000"/>
            </a:lnSpc>
            <a:spcBef>
              <a:spcPct val="0"/>
            </a:spcBef>
            <a:spcAft>
              <a:spcPct val="35000"/>
            </a:spcAft>
            <a:buNone/>
          </a:pPr>
          <a:r>
            <a:rPr lang="en-US" sz="1800" kern="1200" dirty="0"/>
            <a:t>(b) the floor must </a:t>
          </a:r>
          <a:r>
            <a:rPr lang="en-US" sz="1800" kern="1200" dirty="0">
              <a:highlight>
                <a:srgbClr val="FFFF00"/>
              </a:highlight>
            </a:rPr>
            <a:t>be smooth and free from cracks </a:t>
          </a:r>
          <a:r>
            <a:rPr lang="en-US" sz="1800" kern="1200" dirty="0"/>
            <a:t>and crevices to prevent the breeding of insects and harborage of dust.</a:t>
          </a:r>
        </a:p>
      </dsp:txBody>
      <dsp:txXfrm>
        <a:off x="916887" y="1988332"/>
        <a:ext cx="7508655" cy="793842"/>
      </dsp:txXfrm>
    </dsp:sp>
    <dsp:sp modelId="{FC64F5FF-614B-411D-84EF-F077BD1DAEC3}">
      <dsp:nvSpPr>
        <dsp:cNvPr id="0" name=""/>
        <dsp:cNvSpPr/>
      </dsp:nvSpPr>
      <dsp:spPr>
        <a:xfrm>
          <a:off x="0" y="2980635"/>
          <a:ext cx="8425543" cy="7938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E309B0-0744-4CA1-82D9-C4BA39709DBE}">
      <dsp:nvSpPr>
        <dsp:cNvPr id="0" name=""/>
        <dsp:cNvSpPr/>
      </dsp:nvSpPr>
      <dsp:spPr>
        <a:xfrm>
          <a:off x="240137" y="3159249"/>
          <a:ext cx="436613" cy="4366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9A559E-AE7E-4BC7-A9AB-638030974DBA}">
      <dsp:nvSpPr>
        <dsp:cNvPr id="0" name=""/>
        <dsp:cNvSpPr/>
      </dsp:nvSpPr>
      <dsp:spPr>
        <a:xfrm>
          <a:off x="916887" y="2980635"/>
          <a:ext cx="7508655" cy="793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015" tIns="84015" rIns="84015" bIns="84015" numCol="1" spcCol="1270" anchor="ctr" anchorCtr="0">
          <a:noAutofit/>
        </a:bodyPr>
        <a:lstStyle/>
        <a:p>
          <a:pPr marL="0" lvl="0" indent="0" algn="l" defTabSz="800100">
            <a:lnSpc>
              <a:spcPct val="100000"/>
            </a:lnSpc>
            <a:spcBef>
              <a:spcPct val="0"/>
            </a:spcBef>
            <a:spcAft>
              <a:spcPct val="35000"/>
            </a:spcAft>
            <a:buNone/>
          </a:pPr>
          <a:r>
            <a:rPr lang="en-US" sz="1800" kern="1200" dirty="0"/>
            <a:t>(c) the floors should be </a:t>
          </a:r>
          <a:r>
            <a:rPr lang="en-US" sz="1800" kern="1200" dirty="0">
              <a:highlight>
                <a:srgbClr val="FFFF00"/>
              </a:highlight>
            </a:rPr>
            <a:t>damp-proof</a:t>
          </a:r>
          <a:r>
            <a:rPr lang="en-US" sz="1800" kern="1200" dirty="0"/>
            <a:t>.</a:t>
          </a:r>
        </a:p>
      </dsp:txBody>
      <dsp:txXfrm>
        <a:off x="916887" y="2980635"/>
        <a:ext cx="7508655" cy="793842"/>
      </dsp:txXfrm>
    </dsp:sp>
    <dsp:sp modelId="{55CF4846-E352-4A87-B410-4EF4BC853789}">
      <dsp:nvSpPr>
        <dsp:cNvPr id="0" name=""/>
        <dsp:cNvSpPr/>
      </dsp:nvSpPr>
      <dsp:spPr>
        <a:xfrm>
          <a:off x="0" y="3972937"/>
          <a:ext cx="8425543" cy="7938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A6D68A-C354-4E60-9AB0-BA484F1A95E3}">
      <dsp:nvSpPr>
        <dsp:cNvPr id="0" name=""/>
        <dsp:cNvSpPr/>
      </dsp:nvSpPr>
      <dsp:spPr>
        <a:xfrm>
          <a:off x="240137" y="4151552"/>
          <a:ext cx="436613" cy="43661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E4C264-F72A-4577-8418-20FAFA700C97}">
      <dsp:nvSpPr>
        <dsp:cNvPr id="0" name=""/>
        <dsp:cNvSpPr/>
      </dsp:nvSpPr>
      <dsp:spPr>
        <a:xfrm>
          <a:off x="916887" y="3972937"/>
          <a:ext cx="7508655" cy="793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015" tIns="84015" rIns="84015" bIns="84015" numCol="1" spcCol="1270" anchor="ctr" anchorCtr="0">
          <a:noAutofit/>
        </a:bodyPr>
        <a:lstStyle/>
        <a:p>
          <a:pPr marL="0" lvl="0" indent="0" algn="l" defTabSz="800100">
            <a:lnSpc>
              <a:spcPct val="100000"/>
            </a:lnSpc>
            <a:spcBef>
              <a:spcPct val="0"/>
            </a:spcBef>
            <a:spcAft>
              <a:spcPct val="35000"/>
            </a:spcAft>
            <a:buNone/>
          </a:pPr>
          <a:r>
            <a:rPr lang="en-US" sz="1800" kern="1200" dirty="0"/>
            <a:t>(d) the height of the plinth should be 2 to 3 feet.</a:t>
          </a:r>
        </a:p>
      </dsp:txBody>
      <dsp:txXfrm>
        <a:off x="916887" y="3972937"/>
        <a:ext cx="7508655" cy="7938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37F1-7F0E-C6AD-668B-A26A911DAF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36C6BF-66B0-57CC-B613-F4266D56FC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D2A989B-C311-3E2D-F31D-3521AE6DE7AF}"/>
              </a:ext>
            </a:extLst>
          </p:cNvPr>
          <p:cNvSpPr>
            <a:spLocks noGrp="1"/>
          </p:cNvSpPr>
          <p:nvPr>
            <p:ph type="dt" sz="half" idx="10"/>
          </p:nvPr>
        </p:nvSpPr>
        <p:spPr/>
        <p:txBody>
          <a:bodyPr/>
          <a:lstStyle/>
          <a:p>
            <a:fld id="{6101F87C-EF7C-4DF2-B91C-541F63FEF0B0}" type="datetimeFigureOut">
              <a:rPr lang="en-US" smtClean="0"/>
              <a:t>8/29/2024</a:t>
            </a:fld>
            <a:endParaRPr lang="en-US"/>
          </a:p>
        </p:txBody>
      </p:sp>
      <p:sp>
        <p:nvSpPr>
          <p:cNvPr id="5" name="Footer Placeholder 4">
            <a:extLst>
              <a:ext uri="{FF2B5EF4-FFF2-40B4-BE49-F238E27FC236}">
                <a16:creationId xmlns:a16="http://schemas.microsoft.com/office/drawing/2014/main" id="{E030CEF8-B4AB-FF99-711D-15E2F702E0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5997B7-D1A6-1329-809D-6FAE7163E3C5}"/>
              </a:ext>
            </a:extLst>
          </p:cNvPr>
          <p:cNvSpPr>
            <a:spLocks noGrp="1"/>
          </p:cNvSpPr>
          <p:nvPr>
            <p:ph type="sldNum" sz="quarter" idx="12"/>
          </p:nvPr>
        </p:nvSpPr>
        <p:spPr/>
        <p:txBody>
          <a:bodyPr/>
          <a:lstStyle/>
          <a:p>
            <a:fld id="{801B6000-94B9-40B2-B5FA-18784316695C}" type="slidenum">
              <a:rPr lang="en-US" smtClean="0"/>
              <a:t>‹#›</a:t>
            </a:fld>
            <a:endParaRPr lang="en-US"/>
          </a:p>
        </p:txBody>
      </p:sp>
    </p:spTree>
    <p:extLst>
      <p:ext uri="{BB962C8B-B14F-4D97-AF65-F5344CB8AC3E}">
        <p14:creationId xmlns:p14="http://schemas.microsoft.com/office/powerpoint/2010/main" val="473086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DED6A-1B5E-C1CF-F56A-A8822024CD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981E50-4400-C035-372D-9592CB7B37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46F353-7024-16C8-BC09-02FFC7F9AA5A}"/>
              </a:ext>
            </a:extLst>
          </p:cNvPr>
          <p:cNvSpPr>
            <a:spLocks noGrp="1"/>
          </p:cNvSpPr>
          <p:nvPr>
            <p:ph type="dt" sz="half" idx="10"/>
          </p:nvPr>
        </p:nvSpPr>
        <p:spPr/>
        <p:txBody>
          <a:bodyPr/>
          <a:lstStyle/>
          <a:p>
            <a:fld id="{6101F87C-EF7C-4DF2-B91C-541F63FEF0B0}" type="datetimeFigureOut">
              <a:rPr lang="en-US" smtClean="0"/>
              <a:t>8/29/2024</a:t>
            </a:fld>
            <a:endParaRPr lang="en-US"/>
          </a:p>
        </p:txBody>
      </p:sp>
      <p:sp>
        <p:nvSpPr>
          <p:cNvPr id="5" name="Footer Placeholder 4">
            <a:extLst>
              <a:ext uri="{FF2B5EF4-FFF2-40B4-BE49-F238E27FC236}">
                <a16:creationId xmlns:a16="http://schemas.microsoft.com/office/drawing/2014/main" id="{192CE0DB-C81E-0114-4EF8-1DF47B4C6C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55168F-D182-6125-A6A1-0CA755882835}"/>
              </a:ext>
            </a:extLst>
          </p:cNvPr>
          <p:cNvSpPr>
            <a:spLocks noGrp="1"/>
          </p:cNvSpPr>
          <p:nvPr>
            <p:ph type="sldNum" sz="quarter" idx="12"/>
          </p:nvPr>
        </p:nvSpPr>
        <p:spPr/>
        <p:txBody>
          <a:bodyPr/>
          <a:lstStyle/>
          <a:p>
            <a:fld id="{801B6000-94B9-40B2-B5FA-18784316695C}" type="slidenum">
              <a:rPr lang="en-US" smtClean="0"/>
              <a:t>‹#›</a:t>
            </a:fld>
            <a:endParaRPr lang="en-US"/>
          </a:p>
        </p:txBody>
      </p:sp>
    </p:spTree>
    <p:extLst>
      <p:ext uri="{BB962C8B-B14F-4D97-AF65-F5344CB8AC3E}">
        <p14:creationId xmlns:p14="http://schemas.microsoft.com/office/powerpoint/2010/main" val="1064950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4EF0A-5098-EA81-C0B0-092C66F469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7E7FB6-3222-DC14-772A-1AC73101E5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91F299-583D-D45A-DAB3-BB0F573F2020}"/>
              </a:ext>
            </a:extLst>
          </p:cNvPr>
          <p:cNvSpPr>
            <a:spLocks noGrp="1"/>
          </p:cNvSpPr>
          <p:nvPr>
            <p:ph type="dt" sz="half" idx="10"/>
          </p:nvPr>
        </p:nvSpPr>
        <p:spPr/>
        <p:txBody>
          <a:bodyPr/>
          <a:lstStyle/>
          <a:p>
            <a:fld id="{6101F87C-EF7C-4DF2-B91C-541F63FEF0B0}" type="datetimeFigureOut">
              <a:rPr lang="en-US" smtClean="0"/>
              <a:t>8/29/2024</a:t>
            </a:fld>
            <a:endParaRPr lang="en-US"/>
          </a:p>
        </p:txBody>
      </p:sp>
      <p:sp>
        <p:nvSpPr>
          <p:cNvPr id="5" name="Footer Placeholder 4">
            <a:extLst>
              <a:ext uri="{FF2B5EF4-FFF2-40B4-BE49-F238E27FC236}">
                <a16:creationId xmlns:a16="http://schemas.microsoft.com/office/drawing/2014/main" id="{20770DEE-4004-4C38-C980-ECF07F77A6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2671ED-964D-093D-1882-59550588F8B1}"/>
              </a:ext>
            </a:extLst>
          </p:cNvPr>
          <p:cNvSpPr>
            <a:spLocks noGrp="1"/>
          </p:cNvSpPr>
          <p:nvPr>
            <p:ph type="sldNum" sz="quarter" idx="12"/>
          </p:nvPr>
        </p:nvSpPr>
        <p:spPr/>
        <p:txBody>
          <a:bodyPr/>
          <a:lstStyle/>
          <a:p>
            <a:fld id="{801B6000-94B9-40B2-B5FA-18784316695C}" type="slidenum">
              <a:rPr lang="en-US" smtClean="0"/>
              <a:t>‹#›</a:t>
            </a:fld>
            <a:endParaRPr lang="en-US"/>
          </a:p>
        </p:txBody>
      </p:sp>
    </p:spTree>
    <p:extLst>
      <p:ext uri="{BB962C8B-B14F-4D97-AF65-F5344CB8AC3E}">
        <p14:creationId xmlns:p14="http://schemas.microsoft.com/office/powerpoint/2010/main" val="26964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B6417-C6D4-B10D-CB71-7695D7A554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B7E1C-585F-8A3C-6A90-033F598CFB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577F94-8F99-0CEE-77E5-80D78B8332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393BD1-FAF8-32E6-BEFE-9C44457772B5}"/>
              </a:ext>
            </a:extLst>
          </p:cNvPr>
          <p:cNvSpPr>
            <a:spLocks noGrp="1"/>
          </p:cNvSpPr>
          <p:nvPr>
            <p:ph type="dt" sz="half" idx="10"/>
          </p:nvPr>
        </p:nvSpPr>
        <p:spPr/>
        <p:txBody>
          <a:bodyPr/>
          <a:lstStyle/>
          <a:p>
            <a:fld id="{6101F87C-EF7C-4DF2-B91C-541F63FEF0B0}" type="datetimeFigureOut">
              <a:rPr lang="en-US" smtClean="0"/>
              <a:t>8/29/2024</a:t>
            </a:fld>
            <a:endParaRPr lang="en-US"/>
          </a:p>
        </p:txBody>
      </p:sp>
      <p:sp>
        <p:nvSpPr>
          <p:cNvPr id="6" name="Footer Placeholder 5">
            <a:extLst>
              <a:ext uri="{FF2B5EF4-FFF2-40B4-BE49-F238E27FC236}">
                <a16:creationId xmlns:a16="http://schemas.microsoft.com/office/drawing/2014/main" id="{6F00EBFB-58EF-FD14-58BC-C79379B0CB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F5EFF2-6647-A4D7-A65B-B71B4FD286FD}"/>
              </a:ext>
            </a:extLst>
          </p:cNvPr>
          <p:cNvSpPr>
            <a:spLocks noGrp="1"/>
          </p:cNvSpPr>
          <p:nvPr>
            <p:ph type="sldNum" sz="quarter" idx="12"/>
          </p:nvPr>
        </p:nvSpPr>
        <p:spPr/>
        <p:txBody>
          <a:bodyPr/>
          <a:lstStyle/>
          <a:p>
            <a:fld id="{801B6000-94B9-40B2-B5FA-18784316695C}" type="slidenum">
              <a:rPr lang="en-US" smtClean="0"/>
              <a:t>‹#›</a:t>
            </a:fld>
            <a:endParaRPr lang="en-US"/>
          </a:p>
        </p:txBody>
      </p:sp>
    </p:spTree>
    <p:extLst>
      <p:ext uri="{BB962C8B-B14F-4D97-AF65-F5344CB8AC3E}">
        <p14:creationId xmlns:p14="http://schemas.microsoft.com/office/powerpoint/2010/main" val="2980627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FB52B-0021-2002-7A06-319797CD9D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398467-01B1-9EC4-E48F-DA3283C118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E163D3-1B37-9FA5-DADD-25FAA394E7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EC89B0-8F37-AFE5-D350-48F3792788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251045-C317-91AC-62B5-9E9102D91E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5E1173-27B6-E0F6-F827-E506DCCD41EE}"/>
              </a:ext>
            </a:extLst>
          </p:cNvPr>
          <p:cNvSpPr>
            <a:spLocks noGrp="1"/>
          </p:cNvSpPr>
          <p:nvPr>
            <p:ph type="dt" sz="half" idx="10"/>
          </p:nvPr>
        </p:nvSpPr>
        <p:spPr/>
        <p:txBody>
          <a:bodyPr/>
          <a:lstStyle/>
          <a:p>
            <a:fld id="{6101F87C-EF7C-4DF2-B91C-541F63FEF0B0}" type="datetimeFigureOut">
              <a:rPr lang="en-US" smtClean="0"/>
              <a:t>8/29/2024</a:t>
            </a:fld>
            <a:endParaRPr lang="en-US"/>
          </a:p>
        </p:txBody>
      </p:sp>
      <p:sp>
        <p:nvSpPr>
          <p:cNvPr id="8" name="Footer Placeholder 7">
            <a:extLst>
              <a:ext uri="{FF2B5EF4-FFF2-40B4-BE49-F238E27FC236}">
                <a16:creationId xmlns:a16="http://schemas.microsoft.com/office/drawing/2014/main" id="{0A33AC6F-8147-55F4-3357-8B85683399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612C00-C653-FDF3-0AE1-ED0C9EA52907}"/>
              </a:ext>
            </a:extLst>
          </p:cNvPr>
          <p:cNvSpPr>
            <a:spLocks noGrp="1"/>
          </p:cNvSpPr>
          <p:nvPr>
            <p:ph type="sldNum" sz="quarter" idx="12"/>
          </p:nvPr>
        </p:nvSpPr>
        <p:spPr/>
        <p:txBody>
          <a:bodyPr/>
          <a:lstStyle/>
          <a:p>
            <a:fld id="{801B6000-94B9-40B2-B5FA-18784316695C}" type="slidenum">
              <a:rPr lang="en-US" smtClean="0"/>
              <a:t>‹#›</a:t>
            </a:fld>
            <a:endParaRPr lang="en-US"/>
          </a:p>
        </p:txBody>
      </p:sp>
    </p:spTree>
    <p:extLst>
      <p:ext uri="{BB962C8B-B14F-4D97-AF65-F5344CB8AC3E}">
        <p14:creationId xmlns:p14="http://schemas.microsoft.com/office/powerpoint/2010/main" val="4164180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3F720-D1EE-E470-33DF-EC5AE4E288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A18F01-B3E8-D0DC-DA19-5723D17DAE09}"/>
              </a:ext>
            </a:extLst>
          </p:cNvPr>
          <p:cNvSpPr>
            <a:spLocks noGrp="1"/>
          </p:cNvSpPr>
          <p:nvPr>
            <p:ph type="dt" sz="half" idx="10"/>
          </p:nvPr>
        </p:nvSpPr>
        <p:spPr/>
        <p:txBody>
          <a:bodyPr/>
          <a:lstStyle/>
          <a:p>
            <a:fld id="{6101F87C-EF7C-4DF2-B91C-541F63FEF0B0}" type="datetimeFigureOut">
              <a:rPr lang="en-US" smtClean="0"/>
              <a:t>8/29/2024</a:t>
            </a:fld>
            <a:endParaRPr lang="en-US"/>
          </a:p>
        </p:txBody>
      </p:sp>
      <p:sp>
        <p:nvSpPr>
          <p:cNvPr id="4" name="Footer Placeholder 3">
            <a:extLst>
              <a:ext uri="{FF2B5EF4-FFF2-40B4-BE49-F238E27FC236}">
                <a16:creationId xmlns:a16="http://schemas.microsoft.com/office/drawing/2014/main" id="{6017AA0A-4458-2E24-912C-418EC601B7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FA815C-E282-5D0E-9710-104A28787147}"/>
              </a:ext>
            </a:extLst>
          </p:cNvPr>
          <p:cNvSpPr>
            <a:spLocks noGrp="1"/>
          </p:cNvSpPr>
          <p:nvPr>
            <p:ph type="sldNum" sz="quarter" idx="12"/>
          </p:nvPr>
        </p:nvSpPr>
        <p:spPr/>
        <p:txBody>
          <a:bodyPr/>
          <a:lstStyle/>
          <a:p>
            <a:fld id="{801B6000-94B9-40B2-B5FA-18784316695C}" type="slidenum">
              <a:rPr lang="en-US" smtClean="0"/>
              <a:t>‹#›</a:t>
            </a:fld>
            <a:endParaRPr lang="en-US"/>
          </a:p>
        </p:txBody>
      </p:sp>
    </p:spTree>
    <p:extLst>
      <p:ext uri="{BB962C8B-B14F-4D97-AF65-F5344CB8AC3E}">
        <p14:creationId xmlns:p14="http://schemas.microsoft.com/office/powerpoint/2010/main" val="2708525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675985-831B-A3EE-8310-2519DAE5A127}"/>
              </a:ext>
            </a:extLst>
          </p:cNvPr>
          <p:cNvSpPr>
            <a:spLocks noGrp="1"/>
          </p:cNvSpPr>
          <p:nvPr>
            <p:ph type="dt" sz="half" idx="10"/>
          </p:nvPr>
        </p:nvSpPr>
        <p:spPr/>
        <p:txBody>
          <a:bodyPr/>
          <a:lstStyle/>
          <a:p>
            <a:fld id="{6101F87C-EF7C-4DF2-B91C-541F63FEF0B0}" type="datetimeFigureOut">
              <a:rPr lang="en-US" smtClean="0"/>
              <a:t>8/29/2024</a:t>
            </a:fld>
            <a:endParaRPr lang="en-US"/>
          </a:p>
        </p:txBody>
      </p:sp>
      <p:sp>
        <p:nvSpPr>
          <p:cNvPr id="3" name="Footer Placeholder 2">
            <a:extLst>
              <a:ext uri="{FF2B5EF4-FFF2-40B4-BE49-F238E27FC236}">
                <a16:creationId xmlns:a16="http://schemas.microsoft.com/office/drawing/2014/main" id="{FFD0DA5A-8E90-E08E-9A81-BB07DB2B21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98E5D0-951E-88B4-5A38-D39040A7A248}"/>
              </a:ext>
            </a:extLst>
          </p:cNvPr>
          <p:cNvSpPr>
            <a:spLocks noGrp="1"/>
          </p:cNvSpPr>
          <p:nvPr>
            <p:ph type="sldNum" sz="quarter" idx="12"/>
          </p:nvPr>
        </p:nvSpPr>
        <p:spPr/>
        <p:txBody>
          <a:bodyPr/>
          <a:lstStyle/>
          <a:p>
            <a:fld id="{801B6000-94B9-40B2-B5FA-18784316695C}" type="slidenum">
              <a:rPr lang="en-US" smtClean="0"/>
              <a:t>‹#›</a:t>
            </a:fld>
            <a:endParaRPr lang="en-US"/>
          </a:p>
        </p:txBody>
      </p:sp>
    </p:spTree>
    <p:extLst>
      <p:ext uri="{BB962C8B-B14F-4D97-AF65-F5344CB8AC3E}">
        <p14:creationId xmlns:p14="http://schemas.microsoft.com/office/powerpoint/2010/main" val="3890162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D8FBD-482D-B6A7-BB30-D66553EAF3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1E119E-C737-6083-94F4-21044CFB8C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B17B14-22BB-414D-126C-5D4935295B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CB4EA-2C91-10A1-6384-0C4AF043058E}"/>
              </a:ext>
            </a:extLst>
          </p:cNvPr>
          <p:cNvSpPr>
            <a:spLocks noGrp="1"/>
          </p:cNvSpPr>
          <p:nvPr>
            <p:ph type="dt" sz="half" idx="10"/>
          </p:nvPr>
        </p:nvSpPr>
        <p:spPr/>
        <p:txBody>
          <a:bodyPr/>
          <a:lstStyle/>
          <a:p>
            <a:fld id="{6101F87C-EF7C-4DF2-B91C-541F63FEF0B0}" type="datetimeFigureOut">
              <a:rPr lang="en-US" smtClean="0"/>
              <a:t>8/29/2024</a:t>
            </a:fld>
            <a:endParaRPr lang="en-US"/>
          </a:p>
        </p:txBody>
      </p:sp>
      <p:sp>
        <p:nvSpPr>
          <p:cNvPr id="6" name="Footer Placeholder 5">
            <a:extLst>
              <a:ext uri="{FF2B5EF4-FFF2-40B4-BE49-F238E27FC236}">
                <a16:creationId xmlns:a16="http://schemas.microsoft.com/office/drawing/2014/main" id="{6CABF853-0757-B794-BFB3-31640F20E0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120375-A454-F0C6-7FF4-4D30700E9EC2}"/>
              </a:ext>
            </a:extLst>
          </p:cNvPr>
          <p:cNvSpPr>
            <a:spLocks noGrp="1"/>
          </p:cNvSpPr>
          <p:nvPr>
            <p:ph type="sldNum" sz="quarter" idx="12"/>
          </p:nvPr>
        </p:nvSpPr>
        <p:spPr/>
        <p:txBody>
          <a:bodyPr/>
          <a:lstStyle/>
          <a:p>
            <a:fld id="{801B6000-94B9-40B2-B5FA-18784316695C}" type="slidenum">
              <a:rPr lang="en-US" smtClean="0"/>
              <a:t>‹#›</a:t>
            </a:fld>
            <a:endParaRPr lang="en-US"/>
          </a:p>
        </p:txBody>
      </p:sp>
    </p:spTree>
    <p:extLst>
      <p:ext uri="{BB962C8B-B14F-4D97-AF65-F5344CB8AC3E}">
        <p14:creationId xmlns:p14="http://schemas.microsoft.com/office/powerpoint/2010/main" val="1943170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86D24-165C-5CA0-DB30-62F18C151E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223550-5170-FBA2-71E0-61FBFAF727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79DEFA-B114-703C-B9D3-F506CF5FBB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998A42-4920-B409-0552-09254113E903}"/>
              </a:ext>
            </a:extLst>
          </p:cNvPr>
          <p:cNvSpPr>
            <a:spLocks noGrp="1"/>
          </p:cNvSpPr>
          <p:nvPr>
            <p:ph type="dt" sz="half" idx="10"/>
          </p:nvPr>
        </p:nvSpPr>
        <p:spPr/>
        <p:txBody>
          <a:bodyPr/>
          <a:lstStyle/>
          <a:p>
            <a:fld id="{6101F87C-EF7C-4DF2-B91C-541F63FEF0B0}" type="datetimeFigureOut">
              <a:rPr lang="en-US" smtClean="0"/>
              <a:t>8/29/2024</a:t>
            </a:fld>
            <a:endParaRPr lang="en-US"/>
          </a:p>
        </p:txBody>
      </p:sp>
      <p:sp>
        <p:nvSpPr>
          <p:cNvPr id="6" name="Footer Placeholder 5">
            <a:extLst>
              <a:ext uri="{FF2B5EF4-FFF2-40B4-BE49-F238E27FC236}">
                <a16:creationId xmlns:a16="http://schemas.microsoft.com/office/drawing/2014/main" id="{05F5CA87-05DB-F3E8-9E52-A35414B192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A9B7F2-5A32-32B4-560C-150D439A3098}"/>
              </a:ext>
            </a:extLst>
          </p:cNvPr>
          <p:cNvSpPr>
            <a:spLocks noGrp="1"/>
          </p:cNvSpPr>
          <p:nvPr>
            <p:ph type="sldNum" sz="quarter" idx="12"/>
          </p:nvPr>
        </p:nvSpPr>
        <p:spPr/>
        <p:txBody>
          <a:bodyPr/>
          <a:lstStyle/>
          <a:p>
            <a:fld id="{801B6000-94B9-40B2-B5FA-18784316695C}" type="slidenum">
              <a:rPr lang="en-US" smtClean="0"/>
              <a:t>‹#›</a:t>
            </a:fld>
            <a:endParaRPr lang="en-US"/>
          </a:p>
        </p:txBody>
      </p:sp>
    </p:spTree>
    <p:extLst>
      <p:ext uri="{BB962C8B-B14F-4D97-AF65-F5344CB8AC3E}">
        <p14:creationId xmlns:p14="http://schemas.microsoft.com/office/powerpoint/2010/main" val="1655647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7B91C-09AD-6562-79D9-8767C672CC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028C0D1-802D-6374-2A1A-C7233670BD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6ECBD-F784-382D-21FF-D8A5C9563290}"/>
              </a:ext>
            </a:extLst>
          </p:cNvPr>
          <p:cNvSpPr>
            <a:spLocks noGrp="1"/>
          </p:cNvSpPr>
          <p:nvPr>
            <p:ph type="dt" sz="half" idx="10"/>
          </p:nvPr>
        </p:nvSpPr>
        <p:spPr/>
        <p:txBody>
          <a:bodyPr/>
          <a:lstStyle/>
          <a:p>
            <a:fld id="{6101F87C-EF7C-4DF2-B91C-541F63FEF0B0}" type="datetimeFigureOut">
              <a:rPr lang="en-US" smtClean="0"/>
              <a:t>8/29/2024</a:t>
            </a:fld>
            <a:endParaRPr lang="en-US"/>
          </a:p>
        </p:txBody>
      </p:sp>
      <p:sp>
        <p:nvSpPr>
          <p:cNvPr id="5" name="Footer Placeholder 4">
            <a:extLst>
              <a:ext uri="{FF2B5EF4-FFF2-40B4-BE49-F238E27FC236}">
                <a16:creationId xmlns:a16="http://schemas.microsoft.com/office/drawing/2014/main" id="{C0719FC2-0792-84B1-44F3-17B2B27AD1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72F3E4-5D62-F91F-EB88-7CABC738E7E4}"/>
              </a:ext>
            </a:extLst>
          </p:cNvPr>
          <p:cNvSpPr>
            <a:spLocks noGrp="1"/>
          </p:cNvSpPr>
          <p:nvPr>
            <p:ph type="sldNum" sz="quarter" idx="12"/>
          </p:nvPr>
        </p:nvSpPr>
        <p:spPr/>
        <p:txBody>
          <a:bodyPr/>
          <a:lstStyle/>
          <a:p>
            <a:fld id="{801B6000-94B9-40B2-B5FA-18784316695C}" type="slidenum">
              <a:rPr lang="en-US" smtClean="0"/>
              <a:t>‹#›</a:t>
            </a:fld>
            <a:endParaRPr lang="en-US"/>
          </a:p>
        </p:txBody>
      </p:sp>
    </p:spTree>
    <p:extLst>
      <p:ext uri="{BB962C8B-B14F-4D97-AF65-F5344CB8AC3E}">
        <p14:creationId xmlns:p14="http://schemas.microsoft.com/office/powerpoint/2010/main" val="3996422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DA033A-BE3E-DED9-6E37-CA87719CA8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153780-1192-AA92-0965-1EC084E9B7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B20E67-4871-2F06-CCDA-E825476A37EB}"/>
              </a:ext>
            </a:extLst>
          </p:cNvPr>
          <p:cNvSpPr>
            <a:spLocks noGrp="1"/>
          </p:cNvSpPr>
          <p:nvPr>
            <p:ph type="dt" sz="half" idx="10"/>
          </p:nvPr>
        </p:nvSpPr>
        <p:spPr/>
        <p:txBody>
          <a:bodyPr/>
          <a:lstStyle/>
          <a:p>
            <a:fld id="{6101F87C-EF7C-4DF2-B91C-541F63FEF0B0}" type="datetimeFigureOut">
              <a:rPr lang="en-US" smtClean="0"/>
              <a:t>8/29/2024</a:t>
            </a:fld>
            <a:endParaRPr lang="en-US"/>
          </a:p>
        </p:txBody>
      </p:sp>
      <p:sp>
        <p:nvSpPr>
          <p:cNvPr id="5" name="Footer Placeholder 4">
            <a:extLst>
              <a:ext uri="{FF2B5EF4-FFF2-40B4-BE49-F238E27FC236}">
                <a16:creationId xmlns:a16="http://schemas.microsoft.com/office/drawing/2014/main" id="{BABD0AF3-C9D1-4BBA-7F89-A4C1D7A718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3F67E1-61D6-45DD-EDD7-2241AC78462D}"/>
              </a:ext>
            </a:extLst>
          </p:cNvPr>
          <p:cNvSpPr>
            <a:spLocks noGrp="1"/>
          </p:cNvSpPr>
          <p:nvPr>
            <p:ph type="sldNum" sz="quarter" idx="12"/>
          </p:nvPr>
        </p:nvSpPr>
        <p:spPr/>
        <p:txBody>
          <a:bodyPr/>
          <a:lstStyle/>
          <a:p>
            <a:fld id="{801B6000-94B9-40B2-B5FA-18784316695C}" type="slidenum">
              <a:rPr lang="en-US" smtClean="0"/>
              <a:t>‹#›</a:t>
            </a:fld>
            <a:endParaRPr lang="en-US"/>
          </a:p>
        </p:txBody>
      </p:sp>
    </p:spTree>
    <p:extLst>
      <p:ext uri="{BB962C8B-B14F-4D97-AF65-F5344CB8AC3E}">
        <p14:creationId xmlns:p14="http://schemas.microsoft.com/office/powerpoint/2010/main" val="18510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7763B-B09D-F6E6-A1AE-DC429E331D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F290F81-84AB-EABF-6DCB-9DBF1B44B5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8CCDB7-3083-468A-B651-D2CCBCFAEA74}"/>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5" name="Footer Placeholder 4">
            <a:extLst>
              <a:ext uri="{FF2B5EF4-FFF2-40B4-BE49-F238E27FC236}">
                <a16:creationId xmlns:a16="http://schemas.microsoft.com/office/drawing/2014/main" id="{0F2022D4-B67F-57A5-1F0F-64EA7D46A8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62EC55-E039-2DA8-88AB-03548F2BF990}"/>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704913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1D48B-262E-379C-F6A4-3B2FDD7F8A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055385-9571-1C32-A6AF-7E993C7480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C7ADB1-995F-81EE-4AF3-01DC4D974C73}"/>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5" name="Footer Placeholder 4">
            <a:extLst>
              <a:ext uri="{FF2B5EF4-FFF2-40B4-BE49-F238E27FC236}">
                <a16:creationId xmlns:a16="http://schemas.microsoft.com/office/drawing/2014/main" id="{3C06C162-C632-32C1-DF49-009E956F43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1448C6-3FEC-ECB6-DF3F-BFD544323031}"/>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1539056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9089F-030C-D0DB-A09B-4F1CC9C590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5445179-7FC7-B63B-EECC-2E1705BE1A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FC5E3F-CEB0-E144-BE08-DAC70EC58EEF}"/>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5" name="Footer Placeholder 4">
            <a:extLst>
              <a:ext uri="{FF2B5EF4-FFF2-40B4-BE49-F238E27FC236}">
                <a16:creationId xmlns:a16="http://schemas.microsoft.com/office/drawing/2014/main" id="{D6AC9DB2-64CE-6545-36E6-6FE7142303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4488C6-3B54-3351-5276-B27796A4AE96}"/>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12922824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79189-3194-C9B5-3CCA-00BC74A42A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54E66E-8BEA-8E9F-75D1-5BC29E4DB2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97257A-4295-FEC2-5A53-A7575E4EC6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F068CA-C5BC-8B87-A004-F9878FFB42B2}"/>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6" name="Footer Placeholder 5">
            <a:extLst>
              <a:ext uri="{FF2B5EF4-FFF2-40B4-BE49-F238E27FC236}">
                <a16:creationId xmlns:a16="http://schemas.microsoft.com/office/drawing/2014/main" id="{75505856-87C5-BBAD-AF45-DDF5DB9168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337687-70FB-D99D-1AAB-6387103F4689}"/>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41808753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79A9D-2348-CE18-97F8-52D172B0B3A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530AFD-D631-8C96-3CB4-DBCC0FC233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056517-B555-A4FB-CB7B-E173B7D91E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3A8C938-7FA6-EE57-B3DF-48E14BCD3A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9B071B-BC1D-CBC0-5B20-3D9F0B3A5E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66A972A-7B1C-0724-24B6-5B1A7B302762}"/>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8" name="Footer Placeholder 7">
            <a:extLst>
              <a:ext uri="{FF2B5EF4-FFF2-40B4-BE49-F238E27FC236}">
                <a16:creationId xmlns:a16="http://schemas.microsoft.com/office/drawing/2014/main" id="{0D5441DB-47EA-7576-8C8B-3B7A7BD7181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E1B8F4A-EA4C-CC18-D8EE-29A1AB0AF941}"/>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1452181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542F6-0E6F-DD17-0955-C660D64D5F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1ACF87-5D89-C9A0-803F-F437916205B2}"/>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4" name="Footer Placeholder 3">
            <a:extLst>
              <a:ext uri="{FF2B5EF4-FFF2-40B4-BE49-F238E27FC236}">
                <a16:creationId xmlns:a16="http://schemas.microsoft.com/office/drawing/2014/main" id="{3B1A2E7D-1B02-886A-DD1C-663B4C30E3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B746FB-911A-4A20-BF86-7715C1CAA8E6}"/>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35943230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54D389-AD6A-CD91-8CB4-B03DC5E5C2BD}"/>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3" name="Footer Placeholder 2">
            <a:extLst>
              <a:ext uri="{FF2B5EF4-FFF2-40B4-BE49-F238E27FC236}">
                <a16:creationId xmlns:a16="http://schemas.microsoft.com/office/drawing/2014/main" id="{7602A413-6AA5-5D2D-6623-CB19C8CCC8E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5B5859E-98C1-2A1C-8EFD-9C047079F8E9}"/>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35780440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445D-8B99-DDEC-54FD-3E55DBFAD6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3C66C1-7251-AD94-FDB6-BB8ED3BE54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C52BD2E-4175-1423-B884-B4CA9483BC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4D70CF-24C7-6508-6CAC-96ECFAC76983}"/>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6" name="Footer Placeholder 5">
            <a:extLst>
              <a:ext uri="{FF2B5EF4-FFF2-40B4-BE49-F238E27FC236}">
                <a16:creationId xmlns:a16="http://schemas.microsoft.com/office/drawing/2014/main" id="{86C2F5EC-EF44-899E-23E5-9390AE28B1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165E1B-9DD9-9C5D-2533-34C906CCEBC8}"/>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32672608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DF0F7-DD53-FCB5-C8C1-8D96C10A8C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72B537-538F-A838-93BC-A5719A2C4B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AA3469-9393-973F-1DBD-E046A286E4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F5E2E2-3D46-66E1-78EB-AA1A23A8DDAF}"/>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6" name="Footer Placeholder 5">
            <a:extLst>
              <a:ext uri="{FF2B5EF4-FFF2-40B4-BE49-F238E27FC236}">
                <a16:creationId xmlns:a16="http://schemas.microsoft.com/office/drawing/2014/main" id="{8DBA7EDD-9749-7E7A-445C-7586F79AB1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8AFB81-9E55-BAF9-7E00-38B5B3B39ED1}"/>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24843734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88295-5455-8D1D-7640-CDDE1CA447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22EDB5-57F8-C7D5-6BA5-F9896EBB9C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DBF494-AB3A-661C-1879-7B868D7DB450}"/>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5" name="Footer Placeholder 4">
            <a:extLst>
              <a:ext uri="{FF2B5EF4-FFF2-40B4-BE49-F238E27FC236}">
                <a16:creationId xmlns:a16="http://schemas.microsoft.com/office/drawing/2014/main" id="{F860C9DC-0EBA-5070-AFFC-FE16424268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62D5EC-4E63-1C03-25DC-44D4E79AB6CC}"/>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18715192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720937-C9FF-ED7A-BFF4-1E8049F910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672617-BFF4-BF32-D6CA-1AAE7910A4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61A773-E826-EC1F-88CB-55C3F961E78C}"/>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5" name="Footer Placeholder 4">
            <a:extLst>
              <a:ext uri="{FF2B5EF4-FFF2-40B4-BE49-F238E27FC236}">
                <a16:creationId xmlns:a16="http://schemas.microsoft.com/office/drawing/2014/main" id="{0218E41F-C1B8-69C1-EE61-DCFAAB5924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66B93E-95FE-4994-DE15-C48E7DACB663}"/>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2056860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596503-84A5-8BAC-00B2-DE597E7D5C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82C94B-3F15-6AAE-3A0C-9FB1EEF594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4E73B7-988A-DA2F-D696-6A27A14D97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01F87C-EF7C-4DF2-B91C-541F63FEF0B0}" type="datetimeFigureOut">
              <a:rPr lang="en-US" smtClean="0"/>
              <a:t>8/29/2024</a:t>
            </a:fld>
            <a:endParaRPr lang="en-US"/>
          </a:p>
        </p:txBody>
      </p:sp>
      <p:sp>
        <p:nvSpPr>
          <p:cNvPr id="5" name="Footer Placeholder 4">
            <a:extLst>
              <a:ext uri="{FF2B5EF4-FFF2-40B4-BE49-F238E27FC236}">
                <a16:creationId xmlns:a16="http://schemas.microsoft.com/office/drawing/2014/main" id="{89E930CC-1D68-F3EB-995E-BB68DCC98C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8C8DEFC-403A-22D0-7D21-09A586B1B1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1B6000-94B9-40B2-B5FA-18784316695C}" type="slidenum">
              <a:rPr lang="en-US" smtClean="0"/>
              <a:t>‹#›</a:t>
            </a:fld>
            <a:endParaRPr lang="en-US"/>
          </a:p>
        </p:txBody>
      </p:sp>
    </p:spTree>
    <p:extLst>
      <p:ext uri="{BB962C8B-B14F-4D97-AF65-F5344CB8AC3E}">
        <p14:creationId xmlns:p14="http://schemas.microsoft.com/office/powerpoint/2010/main" val="37169993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0230E4-5849-EDB6-49A1-208B234571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47FD1E-CA22-E8C2-B3AD-9CA0147041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4E6A88-A9BA-AA24-CCC6-85850B3217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D352DD-9A07-4F73-A591-7A7E29110465}" type="datetimeFigureOut">
              <a:rPr lang="en-IN" smtClean="0"/>
              <a:t>29-08-2024</a:t>
            </a:fld>
            <a:endParaRPr lang="en-IN"/>
          </a:p>
        </p:txBody>
      </p:sp>
      <p:sp>
        <p:nvSpPr>
          <p:cNvPr id="5" name="Footer Placeholder 4">
            <a:extLst>
              <a:ext uri="{FF2B5EF4-FFF2-40B4-BE49-F238E27FC236}">
                <a16:creationId xmlns:a16="http://schemas.microsoft.com/office/drawing/2014/main" id="{761B10BA-80B9-457B-2B66-CF0E6EB563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FC4B61-14E7-974D-C0F4-3870050332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100AD8-E156-4639-B592-543D0CCF0162}" type="slidenum">
              <a:rPr lang="en-IN" smtClean="0"/>
              <a:t>‹#›</a:t>
            </a:fld>
            <a:endParaRPr lang="en-IN"/>
          </a:p>
        </p:txBody>
      </p:sp>
    </p:spTree>
    <p:extLst>
      <p:ext uri="{BB962C8B-B14F-4D97-AF65-F5344CB8AC3E}">
        <p14:creationId xmlns:p14="http://schemas.microsoft.com/office/powerpoint/2010/main" val="36229240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3.jpeg"/><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Video 15" descr="Time Laps Of Building Lights">
            <a:extLst>
              <a:ext uri="{FF2B5EF4-FFF2-40B4-BE49-F238E27FC236}">
                <a16:creationId xmlns:a16="http://schemas.microsoft.com/office/drawing/2014/main" id="{1437B643-596B-EEA6-99B8-7E9A182BB2D9}"/>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85"/>
          <a:stretch/>
        </p:blipFill>
        <p:spPr>
          <a:xfrm>
            <a:off x="-3047" y="10"/>
            <a:ext cx="12191999" cy="6857990"/>
          </a:xfrm>
          <a:prstGeom prst="rect">
            <a:avLst/>
          </a:prstGeom>
        </p:spPr>
      </p:pic>
      <p:sp>
        <p:nvSpPr>
          <p:cNvPr id="17" name="Rectangle 16">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A74C92-D1A8-1EBA-328F-D7E00B052624}"/>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a:solidFill>
                  <a:srgbClr val="FFFFFF"/>
                </a:solidFill>
              </a:rPr>
              <a:t>Housing</a:t>
            </a:r>
          </a:p>
        </p:txBody>
      </p:sp>
      <p:sp>
        <p:nvSpPr>
          <p:cNvPr id="3" name="Subtitle 2">
            <a:extLst>
              <a:ext uri="{FF2B5EF4-FFF2-40B4-BE49-F238E27FC236}">
                <a16:creationId xmlns:a16="http://schemas.microsoft.com/office/drawing/2014/main" id="{104B9781-4A65-A73F-83C6-79CAB989F353}"/>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endParaRPr lang="en-US">
              <a:solidFill>
                <a:srgbClr val="FFFFFF"/>
              </a:solidFill>
            </a:endParaRPr>
          </a:p>
        </p:txBody>
      </p:sp>
    </p:spTree>
    <p:extLst>
      <p:ext uri="{BB962C8B-B14F-4D97-AF65-F5344CB8AC3E}">
        <p14:creationId xmlns:p14="http://schemas.microsoft.com/office/powerpoint/2010/main" val="351684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81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6"/>
                                        </p:tgtEl>
                                      </p:cBhvr>
                                    </p:cmd>
                                  </p:childTnLst>
                                </p:cTn>
                              </p:par>
                            </p:childTnLst>
                          </p:cTn>
                        </p:par>
                      </p:childTnLst>
                    </p:cTn>
                  </p:par>
                </p:childTnLst>
              </p:cTn>
              <p:nextCondLst>
                <p:cond evt="onClick" delay="0">
                  <p:tgtEl>
                    <p:spTgt spid="16"/>
                  </p:tgtEl>
                </p:cond>
              </p:nextCondLst>
            </p:seq>
            <p:video>
              <p:cMediaNode mute="1">
                <p:cTn id="12" repeatCount="indefinite" fill="hold" display="0">
                  <p:stCondLst>
                    <p:cond delay="indefinite"/>
                  </p:stCondLst>
                </p:cTn>
                <p:tgtEl>
                  <p:spTgt spid="16"/>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D8C2AF-8E94-B07C-41C0-12F9E008A4CC}"/>
              </a:ext>
            </a:extLst>
          </p:cNvPr>
          <p:cNvSpPr>
            <a:spLocks noGrp="1"/>
          </p:cNvSpPr>
          <p:nvPr>
            <p:ph type="title"/>
          </p:nvPr>
        </p:nvSpPr>
        <p:spPr>
          <a:xfrm>
            <a:off x="836679" y="723898"/>
            <a:ext cx="6002110" cy="1495425"/>
          </a:xfrm>
        </p:spPr>
        <p:txBody>
          <a:bodyPr>
            <a:normAutofit/>
          </a:bodyPr>
          <a:lstStyle/>
          <a:p>
            <a:r>
              <a:rPr lang="en-US" sz="4000" b="1"/>
              <a:t>HOUSING</a:t>
            </a:r>
            <a:endParaRPr lang="en-IN" sz="4000" b="1"/>
          </a:p>
        </p:txBody>
      </p:sp>
      <p:sp>
        <p:nvSpPr>
          <p:cNvPr id="3" name="Content Placeholder 2">
            <a:extLst>
              <a:ext uri="{FF2B5EF4-FFF2-40B4-BE49-F238E27FC236}">
                <a16:creationId xmlns:a16="http://schemas.microsoft.com/office/drawing/2014/main" id="{ECBD9229-4D2F-B3B2-7BC8-928D0C45C2F5}"/>
              </a:ext>
            </a:extLst>
          </p:cNvPr>
          <p:cNvSpPr>
            <a:spLocks noGrp="1"/>
          </p:cNvSpPr>
          <p:nvPr>
            <p:ph idx="1"/>
          </p:nvPr>
        </p:nvSpPr>
        <p:spPr>
          <a:xfrm>
            <a:off x="301658" y="1885361"/>
            <a:ext cx="6537132" cy="4248740"/>
          </a:xfrm>
        </p:spPr>
        <p:txBody>
          <a:bodyPr>
            <a:normAutofit lnSpcReduction="10000"/>
          </a:bodyPr>
          <a:lstStyle/>
          <a:p>
            <a:r>
              <a:rPr lang="en-US" dirty="0"/>
              <a:t> “Housing”, in the modern concept includes not only the ‘</a:t>
            </a:r>
            <a:r>
              <a:rPr lang="en-US" dirty="0">
                <a:highlight>
                  <a:srgbClr val="FFFF00"/>
                </a:highlight>
              </a:rPr>
              <a:t>physical structure</a:t>
            </a:r>
            <a:r>
              <a:rPr lang="en-US" dirty="0"/>
              <a:t>’ providing shelter, but also </a:t>
            </a:r>
            <a:r>
              <a:rPr lang="en-US" dirty="0">
                <a:highlight>
                  <a:srgbClr val="FFFF00"/>
                </a:highlight>
              </a:rPr>
              <a:t>the immediate surroundings, and the related community services and facilities</a:t>
            </a:r>
            <a:r>
              <a:rPr lang="en-US" dirty="0"/>
              <a:t>. </a:t>
            </a:r>
          </a:p>
          <a:p>
            <a:r>
              <a:rPr lang="en-US" dirty="0"/>
              <a:t>It has become part of the concept of “human settlement”, which is defined as “</a:t>
            </a:r>
            <a:r>
              <a:rPr lang="en-US" dirty="0">
                <a:highlight>
                  <a:srgbClr val="FFFF00"/>
                </a:highlight>
              </a:rPr>
              <a:t>all places in which a group of people reside and pursue their life goals; the size of the settlement may vary from a single family to millions of people</a:t>
            </a:r>
            <a:r>
              <a:rPr lang="en-US" dirty="0"/>
              <a:t>".</a:t>
            </a:r>
          </a:p>
        </p:txBody>
      </p:sp>
      <p:pic>
        <p:nvPicPr>
          <p:cNvPr id="5" name="Picture 4" descr="Exterior windows of a building">
            <a:extLst>
              <a:ext uri="{FF2B5EF4-FFF2-40B4-BE49-F238E27FC236}">
                <a16:creationId xmlns:a16="http://schemas.microsoft.com/office/drawing/2014/main" id="{D13B1C20-1F38-79E6-AD5D-63E86CA3AF0A}"/>
              </a:ext>
            </a:extLst>
          </p:cNvPr>
          <p:cNvPicPr>
            <a:picLocks noChangeAspect="1"/>
          </p:cNvPicPr>
          <p:nvPr/>
        </p:nvPicPr>
        <p:blipFill>
          <a:blip r:embed="rId2"/>
          <a:srcRect l="22341" r="23060"/>
          <a:stretch/>
        </p:blipFill>
        <p:spPr>
          <a:xfrm>
            <a:off x="7199440" y="10"/>
            <a:ext cx="4992560" cy="6857990"/>
          </a:xfrm>
          <a:prstGeom prst="rect">
            <a:avLst/>
          </a:prstGeom>
          <a:effectLst/>
        </p:spPr>
      </p:pic>
    </p:spTree>
    <p:extLst>
      <p:ext uri="{BB962C8B-B14F-4D97-AF65-F5344CB8AC3E}">
        <p14:creationId xmlns:p14="http://schemas.microsoft.com/office/powerpoint/2010/main" val="4074527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D8C2AF-8E94-B07C-41C0-12F9E008A4CC}"/>
              </a:ext>
            </a:extLst>
          </p:cNvPr>
          <p:cNvSpPr>
            <a:spLocks noGrp="1"/>
          </p:cNvSpPr>
          <p:nvPr>
            <p:ph type="title"/>
          </p:nvPr>
        </p:nvSpPr>
        <p:spPr>
          <a:xfrm>
            <a:off x="836679" y="723898"/>
            <a:ext cx="6002110" cy="1495425"/>
          </a:xfrm>
        </p:spPr>
        <p:txBody>
          <a:bodyPr>
            <a:normAutofit/>
          </a:bodyPr>
          <a:lstStyle/>
          <a:p>
            <a:r>
              <a:rPr lang="en-US" sz="4000" b="1"/>
              <a:t>HOUSING</a:t>
            </a:r>
            <a:endParaRPr lang="en-IN" sz="4000" b="1"/>
          </a:p>
        </p:txBody>
      </p:sp>
      <p:sp>
        <p:nvSpPr>
          <p:cNvPr id="3" name="Content Placeholder 2">
            <a:extLst>
              <a:ext uri="{FF2B5EF4-FFF2-40B4-BE49-F238E27FC236}">
                <a16:creationId xmlns:a16="http://schemas.microsoft.com/office/drawing/2014/main" id="{ECBD9229-4D2F-B3B2-7BC8-928D0C45C2F5}"/>
              </a:ext>
            </a:extLst>
          </p:cNvPr>
          <p:cNvSpPr>
            <a:spLocks noGrp="1"/>
          </p:cNvSpPr>
          <p:nvPr>
            <p:ph idx="1"/>
          </p:nvPr>
        </p:nvSpPr>
        <p:spPr>
          <a:xfrm>
            <a:off x="836680" y="2405067"/>
            <a:ext cx="6002110" cy="3729034"/>
          </a:xfrm>
        </p:spPr>
        <p:txBody>
          <a:bodyPr>
            <a:normAutofit/>
          </a:bodyPr>
          <a:lstStyle/>
          <a:p>
            <a:r>
              <a:rPr lang="en-US" sz="2000" dirty="0"/>
              <a:t>A WHO Expert Group (1961) on public health aspects of housing prefers to use the term “</a:t>
            </a:r>
            <a:r>
              <a:rPr lang="en-US" sz="2000" dirty="0">
                <a:highlight>
                  <a:srgbClr val="FFFF00"/>
                </a:highlight>
              </a:rPr>
              <a:t>residential environment</a:t>
            </a:r>
            <a:r>
              <a:rPr lang="en-US" sz="2000" dirty="0"/>
              <a:t>" which is defined as the physical structure that man uses and the environs of the structure including all </a:t>
            </a:r>
            <a:r>
              <a:rPr lang="en-US" sz="2000" dirty="0">
                <a:highlight>
                  <a:srgbClr val="FFFF00"/>
                </a:highlight>
              </a:rPr>
              <a:t>necessary services, facilities, equipment and devices needed or desired for the physical and mental health and the social well-being of the family and the individual</a:t>
            </a:r>
            <a:endParaRPr lang="en-IN" sz="2000" dirty="0">
              <a:highlight>
                <a:srgbClr val="FFFF00"/>
              </a:highlight>
            </a:endParaRPr>
          </a:p>
        </p:txBody>
      </p:sp>
      <p:pic>
        <p:nvPicPr>
          <p:cNvPr id="5" name="Picture 4" descr="A collection of houses and buildings&#10;&#10;Description automatically generated">
            <a:extLst>
              <a:ext uri="{FF2B5EF4-FFF2-40B4-BE49-F238E27FC236}">
                <a16:creationId xmlns:a16="http://schemas.microsoft.com/office/drawing/2014/main" id="{C790D902-7A0A-E457-E4BF-D7338A7994A9}"/>
              </a:ext>
            </a:extLst>
          </p:cNvPr>
          <p:cNvPicPr>
            <a:picLocks noChangeAspect="1"/>
          </p:cNvPicPr>
          <p:nvPr/>
        </p:nvPicPr>
        <p:blipFill>
          <a:blip r:embed="rId2"/>
          <a:srcRect l="23061" r="28528"/>
          <a:stretch/>
        </p:blipFill>
        <p:spPr>
          <a:xfrm>
            <a:off x="7199440" y="10"/>
            <a:ext cx="4992560" cy="6857990"/>
          </a:xfrm>
          <a:prstGeom prst="rect">
            <a:avLst/>
          </a:prstGeom>
          <a:effectLst/>
        </p:spPr>
      </p:pic>
    </p:spTree>
    <p:extLst>
      <p:ext uri="{BB962C8B-B14F-4D97-AF65-F5344CB8AC3E}">
        <p14:creationId xmlns:p14="http://schemas.microsoft.com/office/powerpoint/2010/main" val="771820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F7E03E-6404-6F81-3AF6-CDCB500FC7A8}"/>
              </a:ext>
            </a:extLst>
          </p:cNvPr>
          <p:cNvSpPr>
            <a:spLocks noGrp="1"/>
          </p:cNvSpPr>
          <p:nvPr>
            <p:ph type="title"/>
          </p:nvPr>
        </p:nvSpPr>
        <p:spPr>
          <a:xfrm>
            <a:off x="761800" y="762001"/>
            <a:ext cx="5334197" cy="1708242"/>
          </a:xfrm>
        </p:spPr>
        <p:txBody>
          <a:bodyPr anchor="ctr">
            <a:normAutofit/>
          </a:bodyPr>
          <a:lstStyle/>
          <a:p>
            <a:r>
              <a:rPr lang="en-US" sz="4000" b="1"/>
              <a:t>Social goals of housing</a:t>
            </a:r>
            <a:endParaRPr lang="en-IN" sz="4000" b="1"/>
          </a:p>
        </p:txBody>
      </p:sp>
      <p:sp>
        <p:nvSpPr>
          <p:cNvPr id="3" name="Content Placeholder 2">
            <a:extLst>
              <a:ext uri="{FF2B5EF4-FFF2-40B4-BE49-F238E27FC236}">
                <a16:creationId xmlns:a16="http://schemas.microsoft.com/office/drawing/2014/main" id="{F2D4B1BB-264F-82D2-7801-15ED059475D4}"/>
              </a:ext>
            </a:extLst>
          </p:cNvPr>
          <p:cNvSpPr>
            <a:spLocks noGrp="1"/>
          </p:cNvSpPr>
          <p:nvPr>
            <p:ph idx="1"/>
          </p:nvPr>
        </p:nvSpPr>
        <p:spPr>
          <a:xfrm>
            <a:off x="235670" y="2045616"/>
            <a:ext cx="5860327" cy="4194463"/>
          </a:xfrm>
        </p:spPr>
        <p:txBody>
          <a:bodyPr anchor="ctr">
            <a:normAutofit lnSpcReduction="10000"/>
          </a:bodyPr>
          <a:lstStyle/>
          <a:p>
            <a:pPr marL="0" indent="0">
              <a:buNone/>
            </a:pPr>
            <a:r>
              <a:rPr lang="en-US" sz="2400" dirty="0"/>
              <a:t>(1) </a:t>
            </a:r>
            <a:r>
              <a:rPr lang="en-US" sz="2400" b="1" dirty="0"/>
              <a:t>Shelter </a:t>
            </a:r>
            <a:r>
              <a:rPr lang="en-US" sz="2400" dirty="0"/>
              <a:t>: That the house should provide a </a:t>
            </a:r>
            <a:r>
              <a:rPr lang="en-US" sz="2400" dirty="0">
                <a:highlight>
                  <a:srgbClr val="FFFF00"/>
                </a:highlight>
              </a:rPr>
              <a:t>sanitary shelter</a:t>
            </a:r>
            <a:r>
              <a:rPr lang="en-US" sz="2400" dirty="0"/>
              <a:t>, which is a basic need. </a:t>
            </a:r>
          </a:p>
          <a:p>
            <a:pPr marL="0" indent="0">
              <a:buNone/>
            </a:pPr>
            <a:r>
              <a:rPr lang="en-US" sz="2400" dirty="0"/>
              <a:t>(2) </a:t>
            </a:r>
            <a:r>
              <a:rPr lang="en-US" sz="2400" b="1" dirty="0"/>
              <a:t>Family life</a:t>
            </a:r>
            <a:r>
              <a:rPr lang="en-US" sz="2400" dirty="0"/>
              <a:t>: That the house should provide </a:t>
            </a:r>
            <a:r>
              <a:rPr lang="en-US" sz="2400" dirty="0">
                <a:highlight>
                  <a:srgbClr val="FFFF00"/>
                </a:highlight>
              </a:rPr>
              <a:t>adequate space for family life and related activities</a:t>
            </a:r>
            <a:r>
              <a:rPr lang="en-US" sz="2400" dirty="0"/>
              <a:t>, viz preparation and storage of food, meeting, sleeping, individual activities and other basic activities.</a:t>
            </a:r>
          </a:p>
          <a:p>
            <a:pPr marL="0" indent="0">
              <a:buNone/>
            </a:pPr>
            <a:r>
              <a:rPr lang="en-US" sz="2400" dirty="0"/>
              <a:t>(3) </a:t>
            </a:r>
            <a:r>
              <a:rPr lang="en-US" sz="2400" b="1" dirty="0"/>
              <a:t>Access to community facilities </a:t>
            </a:r>
            <a:r>
              <a:rPr lang="en-US" sz="2400" dirty="0"/>
              <a:t>: A third element of housing is </a:t>
            </a:r>
            <a:r>
              <a:rPr lang="en-US" sz="2400" dirty="0">
                <a:highlight>
                  <a:srgbClr val="FFFF00"/>
                </a:highlight>
              </a:rPr>
              <a:t>accessibility to community services and facilities such as health services, schools, shopping areas, places of worship </a:t>
            </a:r>
            <a:r>
              <a:rPr lang="en-US" sz="2400" dirty="0"/>
              <a:t>etc. </a:t>
            </a:r>
          </a:p>
        </p:txBody>
      </p:sp>
      <p:pic>
        <p:nvPicPr>
          <p:cNvPr id="5" name="Picture 4" descr="Close up of a toy house with a green roof">
            <a:extLst>
              <a:ext uri="{FF2B5EF4-FFF2-40B4-BE49-F238E27FC236}">
                <a16:creationId xmlns:a16="http://schemas.microsoft.com/office/drawing/2014/main" id="{F7DC8013-F8B6-712E-56CB-9996D4848A85}"/>
              </a:ext>
            </a:extLst>
          </p:cNvPr>
          <p:cNvPicPr>
            <a:picLocks noChangeAspect="1"/>
          </p:cNvPicPr>
          <p:nvPr/>
        </p:nvPicPr>
        <p:blipFill>
          <a:blip r:embed="rId2"/>
          <a:srcRect l="15177" r="32986"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742056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F7E03E-6404-6F81-3AF6-CDCB500FC7A8}"/>
              </a:ext>
            </a:extLst>
          </p:cNvPr>
          <p:cNvSpPr>
            <a:spLocks noGrp="1"/>
          </p:cNvSpPr>
          <p:nvPr>
            <p:ph type="title"/>
          </p:nvPr>
        </p:nvSpPr>
        <p:spPr>
          <a:xfrm>
            <a:off x="836679" y="723898"/>
            <a:ext cx="6002110" cy="1495425"/>
          </a:xfrm>
        </p:spPr>
        <p:txBody>
          <a:bodyPr>
            <a:normAutofit/>
          </a:bodyPr>
          <a:lstStyle/>
          <a:p>
            <a:r>
              <a:rPr lang="en-US" sz="4000" b="1"/>
              <a:t>Social goals of housing</a:t>
            </a:r>
            <a:endParaRPr lang="en-IN" sz="4000" b="1"/>
          </a:p>
        </p:txBody>
      </p:sp>
      <p:sp>
        <p:nvSpPr>
          <p:cNvPr id="3" name="Content Placeholder 2">
            <a:extLst>
              <a:ext uri="{FF2B5EF4-FFF2-40B4-BE49-F238E27FC236}">
                <a16:creationId xmlns:a16="http://schemas.microsoft.com/office/drawing/2014/main" id="{F2D4B1BB-264F-82D2-7801-15ED059475D4}"/>
              </a:ext>
            </a:extLst>
          </p:cNvPr>
          <p:cNvSpPr>
            <a:spLocks noGrp="1"/>
          </p:cNvSpPr>
          <p:nvPr>
            <p:ph idx="1"/>
          </p:nvPr>
        </p:nvSpPr>
        <p:spPr>
          <a:xfrm>
            <a:off x="207390" y="1885361"/>
            <a:ext cx="6631400" cy="4248740"/>
          </a:xfrm>
        </p:spPr>
        <p:txBody>
          <a:bodyPr>
            <a:normAutofit/>
          </a:bodyPr>
          <a:lstStyle/>
          <a:p>
            <a:pPr marL="0" indent="0">
              <a:buNone/>
            </a:pPr>
            <a:r>
              <a:rPr lang="en-US" sz="2400" dirty="0"/>
              <a:t>(4) </a:t>
            </a:r>
            <a:r>
              <a:rPr lang="en-US" sz="2400" b="1" dirty="0"/>
              <a:t>Family participation in community life </a:t>
            </a:r>
            <a:r>
              <a:rPr lang="en-US" sz="2400" dirty="0"/>
              <a:t>: </a:t>
            </a:r>
            <a:r>
              <a:rPr lang="en-US" sz="2400" dirty="0">
                <a:highlight>
                  <a:srgbClr val="FFFF00"/>
                </a:highlight>
              </a:rPr>
              <a:t>Family is part of the wider community</a:t>
            </a:r>
            <a:r>
              <a:rPr lang="en-US" sz="2400" dirty="0"/>
              <a:t>. </a:t>
            </a:r>
          </a:p>
          <a:p>
            <a:pPr marL="0" indent="0">
              <a:buNone/>
            </a:pPr>
            <a:r>
              <a:rPr lang="en-US" sz="2400" dirty="0"/>
              <a:t>Community is important to family in many ways - it can offer help in times of need; </a:t>
            </a:r>
          </a:p>
          <a:p>
            <a:pPr marL="0" indent="0">
              <a:buNone/>
            </a:pPr>
            <a:r>
              <a:rPr lang="en-US" sz="2400" dirty="0"/>
              <a:t>It is an important source of friends. </a:t>
            </a:r>
          </a:p>
          <a:p>
            <a:pPr marL="0" indent="0">
              <a:buNone/>
            </a:pPr>
            <a:r>
              <a:rPr lang="en-US" sz="2400" dirty="0"/>
              <a:t>(5) </a:t>
            </a:r>
            <a:r>
              <a:rPr lang="en-US" sz="2400" b="1" dirty="0"/>
              <a:t>Economic stability </a:t>
            </a:r>
            <a:r>
              <a:rPr lang="en-US" sz="2400" dirty="0"/>
              <a:t>: </a:t>
            </a:r>
            <a:r>
              <a:rPr lang="en-US" sz="2400" dirty="0">
                <a:highlight>
                  <a:srgbClr val="FFFF00"/>
                </a:highlight>
              </a:rPr>
              <a:t>Housing is a form of investment of personal savings. </a:t>
            </a:r>
            <a:r>
              <a:rPr lang="en-US" sz="2400" dirty="0"/>
              <a:t>It provides for economic stability and well being of the family.</a:t>
            </a:r>
            <a:endParaRPr lang="en-IN" sz="2400" dirty="0"/>
          </a:p>
        </p:txBody>
      </p:sp>
      <p:pic>
        <p:nvPicPr>
          <p:cNvPr id="5" name="Picture 4" descr="Wooden houses with one house standing out with its orange and red colour">
            <a:extLst>
              <a:ext uri="{FF2B5EF4-FFF2-40B4-BE49-F238E27FC236}">
                <a16:creationId xmlns:a16="http://schemas.microsoft.com/office/drawing/2014/main" id="{C00E514F-4BDA-2521-64C4-5B8BC76BA888}"/>
              </a:ext>
            </a:extLst>
          </p:cNvPr>
          <p:cNvPicPr>
            <a:picLocks noChangeAspect="1"/>
          </p:cNvPicPr>
          <p:nvPr/>
        </p:nvPicPr>
        <p:blipFill>
          <a:blip r:embed="rId2"/>
          <a:srcRect l="32667" r="18739" b="-1"/>
          <a:stretch/>
        </p:blipFill>
        <p:spPr>
          <a:xfrm>
            <a:off x="7199440" y="10"/>
            <a:ext cx="4992560" cy="6857990"/>
          </a:xfrm>
          <a:prstGeom prst="rect">
            <a:avLst/>
          </a:prstGeom>
          <a:effectLst/>
        </p:spPr>
      </p:pic>
    </p:spTree>
    <p:extLst>
      <p:ext uri="{BB962C8B-B14F-4D97-AF65-F5344CB8AC3E}">
        <p14:creationId xmlns:p14="http://schemas.microsoft.com/office/powerpoint/2010/main" val="1789324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68D0ECB-D8C3-F896-016F-4D9062C4E6A6}"/>
              </a:ext>
            </a:extLst>
          </p:cNvPr>
          <p:cNvSpPr>
            <a:spLocks noGrp="1"/>
          </p:cNvSpPr>
          <p:nvPr>
            <p:ph idx="1"/>
          </p:nvPr>
        </p:nvSpPr>
        <p:spPr>
          <a:xfrm>
            <a:off x="263951" y="1065229"/>
            <a:ext cx="6574839" cy="5068872"/>
          </a:xfrm>
        </p:spPr>
        <p:txBody>
          <a:bodyPr>
            <a:normAutofit/>
          </a:bodyPr>
          <a:lstStyle/>
          <a:p>
            <a:r>
              <a:rPr lang="en-US" sz="2400" dirty="0"/>
              <a:t>The implementation of social goals in housing requires that government should </a:t>
            </a:r>
          </a:p>
          <a:p>
            <a:pPr lvl="1"/>
            <a:r>
              <a:rPr lang="en-US" dirty="0"/>
              <a:t>Introduce </a:t>
            </a:r>
            <a:r>
              <a:rPr lang="en-US" dirty="0">
                <a:highlight>
                  <a:srgbClr val="FFFF00"/>
                </a:highlight>
              </a:rPr>
              <a:t>social housing schemes</a:t>
            </a:r>
            <a:r>
              <a:rPr lang="en-US" dirty="0"/>
              <a:t>; </a:t>
            </a:r>
          </a:p>
          <a:p>
            <a:pPr lvl="1"/>
            <a:r>
              <a:rPr lang="en-US" dirty="0"/>
              <a:t>Establish both </a:t>
            </a:r>
            <a:r>
              <a:rPr lang="en-US" dirty="0">
                <a:highlight>
                  <a:srgbClr val="FFFF00"/>
                </a:highlight>
              </a:rPr>
              <a:t>minimum and maximum standards</a:t>
            </a:r>
            <a:r>
              <a:rPr lang="en-US" dirty="0"/>
              <a:t>; </a:t>
            </a:r>
          </a:p>
          <a:p>
            <a:pPr lvl="1"/>
            <a:r>
              <a:rPr lang="en-US" dirty="0"/>
              <a:t>Create financial and fiscal institutions geared to helping low income people obtain credit for building or improving their houses.</a:t>
            </a:r>
            <a:endParaRPr lang="en-IN" dirty="0"/>
          </a:p>
        </p:txBody>
      </p:sp>
      <p:pic>
        <p:nvPicPr>
          <p:cNvPr id="5" name="Picture 4" descr="Four wooden houses with different sizes">
            <a:extLst>
              <a:ext uri="{FF2B5EF4-FFF2-40B4-BE49-F238E27FC236}">
                <a16:creationId xmlns:a16="http://schemas.microsoft.com/office/drawing/2014/main" id="{265CC0A7-706A-E72C-68BD-44086BC89FD2}"/>
              </a:ext>
            </a:extLst>
          </p:cNvPr>
          <p:cNvPicPr>
            <a:picLocks noChangeAspect="1"/>
          </p:cNvPicPr>
          <p:nvPr/>
        </p:nvPicPr>
        <p:blipFill>
          <a:blip r:embed="rId2"/>
          <a:srcRect l="31499" r="19907" b="-1"/>
          <a:stretch/>
        </p:blipFill>
        <p:spPr>
          <a:xfrm>
            <a:off x="7199440" y="10"/>
            <a:ext cx="4992560" cy="6857990"/>
          </a:xfrm>
          <a:prstGeom prst="rect">
            <a:avLst/>
          </a:prstGeom>
          <a:effectLst/>
        </p:spPr>
      </p:pic>
    </p:spTree>
    <p:extLst>
      <p:ext uri="{BB962C8B-B14F-4D97-AF65-F5344CB8AC3E}">
        <p14:creationId xmlns:p14="http://schemas.microsoft.com/office/powerpoint/2010/main" val="2790387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E2C6F88-09CA-CC3D-9861-F2D881A6BE24}"/>
              </a:ext>
            </a:extLst>
          </p:cNvPr>
          <p:cNvSpPr>
            <a:spLocks noGrp="1"/>
          </p:cNvSpPr>
          <p:nvPr>
            <p:ph type="title"/>
          </p:nvPr>
        </p:nvSpPr>
        <p:spPr>
          <a:xfrm>
            <a:off x="838200" y="1195697"/>
            <a:ext cx="3200400" cy="4238118"/>
          </a:xfrm>
        </p:spPr>
        <p:txBody>
          <a:bodyPr>
            <a:normAutofit/>
          </a:bodyPr>
          <a:lstStyle/>
          <a:p>
            <a:r>
              <a:rPr lang="en-IN" sz="3700" b="1">
                <a:solidFill>
                  <a:schemeClr val="bg1"/>
                </a:solidFill>
              </a:rPr>
              <a:t>CRITERIA FOR HEALTHFUL HOUSING</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5F6C5D16-A43A-ECF2-9D7E-E92B27A99DB2}"/>
              </a:ext>
            </a:extLst>
          </p:cNvPr>
          <p:cNvGraphicFramePr>
            <a:graphicFrameLocks noGrp="1"/>
          </p:cNvGraphicFramePr>
          <p:nvPr>
            <p:ph idx="1"/>
            <p:extLst>
              <p:ext uri="{D42A27DB-BD31-4B8C-83A1-F6EECF244321}">
                <p14:modId xmlns:p14="http://schemas.microsoft.com/office/powerpoint/2010/main" val="3393065180"/>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48214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E2C6F88-09CA-CC3D-9861-F2D881A6BE24}"/>
              </a:ext>
            </a:extLst>
          </p:cNvPr>
          <p:cNvSpPr>
            <a:spLocks noGrp="1"/>
          </p:cNvSpPr>
          <p:nvPr>
            <p:ph type="title"/>
          </p:nvPr>
        </p:nvSpPr>
        <p:spPr>
          <a:xfrm>
            <a:off x="838200" y="1195697"/>
            <a:ext cx="3200400" cy="4238118"/>
          </a:xfrm>
        </p:spPr>
        <p:txBody>
          <a:bodyPr>
            <a:normAutofit/>
          </a:bodyPr>
          <a:lstStyle/>
          <a:p>
            <a:r>
              <a:rPr lang="en-IN" sz="3700" b="1">
                <a:solidFill>
                  <a:schemeClr val="bg1"/>
                </a:solidFill>
              </a:rPr>
              <a:t>CRITERIA FOR HEALTHFUL HOUSING</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04670838-E695-3051-E40A-B10F1B7D4C0B}"/>
              </a:ext>
            </a:extLst>
          </p:cNvPr>
          <p:cNvGraphicFramePr>
            <a:graphicFrameLocks noGrp="1"/>
          </p:cNvGraphicFramePr>
          <p:nvPr>
            <p:ph idx="1"/>
            <p:extLst>
              <p:ext uri="{D42A27DB-BD31-4B8C-83A1-F6EECF244321}">
                <p14:modId xmlns:p14="http://schemas.microsoft.com/office/powerpoint/2010/main" val="2117301993"/>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1836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4B217-7875-6B2A-B416-35A7E9A05CDA}"/>
              </a:ext>
            </a:extLst>
          </p:cNvPr>
          <p:cNvSpPr>
            <a:spLocks noGrp="1"/>
          </p:cNvSpPr>
          <p:nvPr>
            <p:ph type="title"/>
          </p:nvPr>
        </p:nvSpPr>
        <p:spPr>
          <a:xfrm>
            <a:off x="838200" y="1443"/>
            <a:ext cx="10515600" cy="1325563"/>
          </a:xfrm>
        </p:spPr>
        <p:txBody>
          <a:bodyPr/>
          <a:lstStyle/>
          <a:p>
            <a:r>
              <a:rPr lang="en-IN" b="1" dirty="0"/>
              <a:t>Housing standards : Site</a:t>
            </a:r>
          </a:p>
        </p:txBody>
      </p:sp>
      <p:sp>
        <p:nvSpPr>
          <p:cNvPr id="3" name="Content Placeholder 2">
            <a:extLst>
              <a:ext uri="{FF2B5EF4-FFF2-40B4-BE49-F238E27FC236}">
                <a16:creationId xmlns:a16="http://schemas.microsoft.com/office/drawing/2014/main" id="{C582AF98-8666-3341-A806-DE51742D92A9}"/>
              </a:ext>
            </a:extLst>
          </p:cNvPr>
          <p:cNvSpPr>
            <a:spLocks noGrp="1"/>
          </p:cNvSpPr>
          <p:nvPr>
            <p:ph idx="1"/>
          </p:nvPr>
        </p:nvSpPr>
        <p:spPr>
          <a:xfrm>
            <a:off x="838200" y="1392382"/>
            <a:ext cx="10515600" cy="5100493"/>
          </a:xfrm>
        </p:spPr>
        <p:txBody>
          <a:bodyPr>
            <a:normAutofit/>
          </a:bodyPr>
          <a:lstStyle/>
          <a:p>
            <a:pPr marL="0" indent="0">
              <a:buNone/>
            </a:pPr>
            <a:r>
              <a:rPr lang="en-US" dirty="0"/>
              <a:t>(a) The site should be </a:t>
            </a:r>
            <a:r>
              <a:rPr lang="en-US" dirty="0">
                <a:highlight>
                  <a:srgbClr val="FFFF00"/>
                </a:highlight>
              </a:rPr>
              <a:t>elevated from its surroundings</a:t>
            </a:r>
            <a:r>
              <a:rPr lang="en-US" dirty="0"/>
              <a:t> so that it is not subject to flooding during rains </a:t>
            </a:r>
          </a:p>
          <a:p>
            <a:pPr marL="0" indent="0">
              <a:buNone/>
            </a:pPr>
            <a:r>
              <a:rPr lang="en-US" dirty="0"/>
              <a:t>(b) The site should have an </a:t>
            </a:r>
            <a:r>
              <a:rPr lang="en-US" dirty="0">
                <a:highlight>
                  <a:srgbClr val="FFFF00"/>
                </a:highlight>
              </a:rPr>
              <a:t>independent access to a street </a:t>
            </a:r>
            <a:r>
              <a:rPr lang="en-US" dirty="0"/>
              <a:t>of adequate width </a:t>
            </a:r>
          </a:p>
          <a:p>
            <a:pPr marL="0" indent="0">
              <a:buNone/>
            </a:pPr>
            <a:r>
              <a:rPr lang="en-US" dirty="0"/>
              <a:t>(c) It should be </a:t>
            </a:r>
            <a:r>
              <a:rPr lang="en-US" dirty="0">
                <a:highlight>
                  <a:srgbClr val="FFFF00"/>
                </a:highlight>
              </a:rPr>
              <a:t>away from the breeding places of mosquitoes and flies </a:t>
            </a:r>
          </a:p>
          <a:p>
            <a:pPr marL="0" indent="0">
              <a:buNone/>
            </a:pPr>
            <a:r>
              <a:rPr lang="en-US" dirty="0"/>
              <a:t>(d) It should </a:t>
            </a:r>
            <a:r>
              <a:rPr lang="en-US" dirty="0">
                <a:highlight>
                  <a:srgbClr val="FFFF00"/>
                </a:highlight>
              </a:rPr>
              <a:t>be away from nuisances such as dust, smoke, smell, excessive noise and traffic </a:t>
            </a:r>
          </a:p>
          <a:p>
            <a:pPr marL="0" indent="0">
              <a:buNone/>
            </a:pPr>
            <a:r>
              <a:rPr lang="en-US" dirty="0"/>
              <a:t>(e) It should be in </a:t>
            </a:r>
            <a:r>
              <a:rPr lang="en-US" dirty="0">
                <a:highlight>
                  <a:srgbClr val="FFFF00"/>
                </a:highlight>
              </a:rPr>
              <a:t>pleasing surroundings </a:t>
            </a:r>
          </a:p>
          <a:p>
            <a:pPr marL="0" indent="0">
              <a:buNone/>
            </a:pPr>
            <a:r>
              <a:rPr lang="en-US" dirty="0"/>
              <a:t>(f) The soil should be </a:t>
            </a:r>
            <a:r>
              <a:rPr lang="en-US" dirty="0">
                <a:highlight>
                  <a:srgbClr val="FFFF00"/>
                </a:highlight>
              </a:rPr>
              <a:t>dry and safe for founding the structure and should be well drained.</a:t>
            </a:r>
          </a:p>
        </p:txBody>
      </p:sp>
    </p:spTree>
    <p:extLst>
      <p:ext uri="{BB962C8B-B14F-4D97-AF65-F5344CB8AC3E}">
        <p14:creationId xmlns:p14="http://schemas.microsoft.com/office/powerpoint/2010/main" val="3569547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2808BA-8BA9-73A0-60E7-0C5696BB0EDD}"/>
              </a:ext>
            </a:extLst>
          </p:cNvPr>
          <p:cNvSpPr>
            <a:spLocks noGrp="1"/>
          </p:cNvSpPr>
          <p:nvPr>
            <p:ph idx="1"/>
          </p:nvPr>
        </p:nvSpPr>
        <p:spPr>
          <a:xfrm>
            <a:off x="838200" y="737754"/>
            <a:ext cx="10515600" cy="5787737"/>
          </a:xfrm>
        </p:spPr>
        <p:txBody>
          <a:bodyPr>
            <a:normAutofit/>
          </a:bodyPr>
          <a:lstStyle/>
          <a:p>
            <a:r>
              <a:rPr lang="en-US" dirty="0"/>
              <a:t> “Made-soil”, i.e., ground that is </a:t>
            </a:r>
            <a:r>
              <a:rPr lang="en-US" dirty="0">
                <a:highlight>
                  <a:srgbClr val="FFFF00"/>
                </a:highlight>
              </a:rPr>
              <a:t>levelled by dumping refuse is very unsatisfactory for building purposes for at least 20 to 25 years</a:t>
            </a:r>
            <a:r>
              <a:rPr lang="en-US" dirty="0"/>
              <a:t>. The subsoil water should be below 10 feet.</a:t>
            </a:r>
            <a:endParaRPr lang="en-IN" dirty="0"/>
          </a:p>
          <a:p>
            <a:endParaRPr lang="en-US" dirty="0"/>
          </a:p>
          <a:p>
            <a:r>
              <a:rPr lang="en-US" dirty="0"/>
              <a:t>SET BACK : For proper lighting and ventilation, there should be an </a:t>
            </a:r>
            <a:r>
              <a:rPr lang="en-US" dirty="0">
                <a:highlight>
                  <a:srgbClr val="FFFF00"/>
                </a:highlight>
              </a:rPr>
              <a:t>open space all round the house</a:t>
            </a:r>
            <a:r>
              <a:rPr lang="en-US" dirty="0"/>
              <a:t> - this is called “set back”. </a:t>
            </a:r>
          </a:p>
          <a:p>
            <a:r>
              <a:rPr lang="en-US" dirty="0"/>
              <a:t>In rural areas it is recommended that the built-up area </a:t>
            </a:r>
            <a:r>
              <a:rPr lang="en-US" dirty="0">
                <a:highlight>
                  <a:srgbClr val="FFFF00"/>
                </a:highlight>
              </a:rPr>
              <a:t>should not exceed one-third of the total area</a:t>
            </a:r>
            <a:r>
              <a:rPr lang="en-US" dirty="0"/>
              <a:t>; in urban areas where land is costly, the </a:t>
            </a:r>
            <a:r>
              <a:rPr lang="en-US" dirty="0">
                <a:highlight>
                  <a:srgbClr val="FFFF00"/>
                </a:highlight>
              </a:rPr>
              <a:t>built-up area may be </a:t>
            </a:r>
            <a:r>
              <a:rPr lang="en-US" dirty="0" err="1">
                <a:highlight>
                  <a:srgbClr val="FFFF00"/>
                </a:highlight>
              </a:rPr>
              <a:t>upto</a:t>
            </a:r>
            <a:r>
              <a:rPr lang="en-US" dirty="0">
                <a:highlight>
                  <a:srgbClr val="FFFF00"/>
                </a:highlight>
              </a:rPr>
              <a:t> two-thirds</a:t>
            </a:r>
            <a:r>
              <a:rPr lang="en-US" dirty="0"/>
              <a:t>. </a:t>
            </a:r>
          </a:p>
          <a:p>
            <a:r>
              <a:rPr lang="en-US" dirty="0"/>
              <a:t>The set back should be such that there is no obstruction to lighting and ventilation. </a:t>
            </a:r>
          </a:p>
        </p:txBody>
      </p:sp>
    </p:spTree>
    <p:extLst>
      <p:ext uri="{BB962C8B-B14F-4D97-AF65-F5344CB8AC3E}">
        <p14:creationId xmlns:p14="http://schemas.microsoft.com/office/powerpoint/2010/main" val="644697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descr="Floor tile pattern diagonal design">
            <a:extLst>
              <a:ext uri="{FF2B5EF4-FFF2-40B4-BE49-F238E27FC236}">
                <a16:creationId xmlns:a16="http://schemas.microsoft.com/office/drawing/2014/main" id="{B3BCF8F5-7AE0-3798-380C-F55018E98B92}"/>
              </a:ext>
            </a:extLst>
          </p:cNvPr>
          <p:cNvPicPr>
            <a:picLocks noChangeAspect="1"/>
          </p:cNvPicPr>
          <p:nvPr/>
        </p:nvPicPr>
        <p:blipFill>
          <a:blip r:embed="rId2"/>
          <a:srcRect l="32163" r="15178" b="-2"/>
          <a:stretch/>
        </p:blipFill>
        <p:spPr>
          <a:xfrm>
            <a:off x="-1" y="-2"/>
            <a:ext cx="3248527" cy="6858002"/>
          </a:xfrm>
          <a:prstGeom prst="rect">
            <a:avLst/>
          </a:prstGeom>
        </p:spPr>
      </p:pic>
      <p:sp useBgFill="1">
        <p:nvSpPr>
          <p:cNvPr id="38" name="Rectangle 37">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E0EB75-2D9E-F8FE-3D6A-09C166CFBFF0}"/>
              </a:ext>
            </a:extLst>
          </p:cNvPr>
          <p:cNvSpPr>
            <a:spLocks noGrp="1"/>
          </p:cNvSpPr>
          <p:nvPr>
            <p:ph type="title"/>
          </p:nvPr>
        </p:nvSpPr>
        <p:spPr>
          <a:xfrm>
            <a:off x="3755062" y="71998"/>
            <a:ext cx="5464968" cy="1559301"/>
          </a:xfrm>
        </p:spPr>
        <p:txBody>
          <a:bodyPr>
            <a:normAutofit/>
          </a:bodyPr>
          <a:lstStyle/>
          <a:p>
            <a:r>
              <a:rPr lang="en-US" sz="4000" dirty="0"/>
              <a:t>Floor</a:t>
            </a:r>
          </a:p>
        </p:txBody>
      </p:sp>
      <p:graphicFrame>
        <p:nvGraphicFramePr>
          <p:cNvPr id="41" name="Content Placeholder 2">
            <a:extLst>
              <a:ext uri="{FF2B5EF4-FFF2-40B4-BE49-F238E27FC236}">
                <a16:creationId xmlns:a16="http://schemas.microsoft.com/office/drawing/2014/main" id="{5C39592A-FC91-5F1A-791F-B5A16FD48845}"/>
              </a:ext>
            </a:extLst>
          </p:cNvPr>
          <p:cNvGraphicFramePr>
            <a:graphicFrameLocks noGrp="1"/>
          </p:cNvGraphicFramePr>
          <p:nvPr>
            <p:ph idx="1"/>
            <p:extLst>
              <p:ext uri="{D42A27DB-BD31-4B8C-83A1-F6EECF244321}">
                <p14:modId xmlns:p14="http://schemas.microsoft.com/office/powerpoint/2010/main" val="2775306796"/>
              </p:ext>
            </p:extLst>
          </p:nvPr>
        </p:nvGraphicFramePr>
        <p:xfrm>
          <a:off x="3526970" y="1469571"/>
          <a:ext cx="8425543" cy="47705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5721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2D6DD-C058-0A39-2CC1-93910B758824}"/>
              </a:ext>
            </a:extLst>
          </p:cNvPr>
          <p:cNvSpPr>
            <a:spLocks noGrp="1"/>
          </p:cNvSpPr>
          <p:nvPr>
            <p:ph type="title"/>
          </p:nvPr>
        </p:nvSpPr>
        <p:spPr/>
        <p:txBody>
          <a:bodyPr/>
          <a:lstStyle/>
          <a:p>
            <a:r>
              <a:rPr lang="en-US" dirty="0"/>
              <a:t>Walls</a:t>
            </a:r>
          </a:p>
        </p:txBody>
      </p:sp>
      <p:sp>
        <p:nvSpPr>
          <p:cNvPr id="3" name="Content Placeholder 2">
            <a:extLst>
              <a:ext uri="{FF2B5EF4-FFF2-40B4-BE49-F238E27FC236}">
                <a16:creationId xmlns:a16="http://schemas.microsoft.com/office/drawing/2014/main" id="{050F5CA4-0A3C-F47F-28BE-284933920D4F}"/>
              </a:ext>
            </a:extLst>
          </p:cNvPr>
          <p:cNvSpPr>
            <a:spLocks noGrp="1"/>
          </p:cNvSpPr>
          <p:nvPr>
            <p:ph idx="1"/>
          </p:nvPr>
        </p:nvSpPr>
        <p:spPr/>
        <p:txBody>
          <a:bodyPr>
            <a:normAutofit fontScale="92500" lnSpcReduction="20000"/>
          </a:bodyPr>
          <a:lstStyle/>
          <a:p>
            <a:pPr marL="0" indent="0">
              <a:buNone/>
            </a:pPr>
            <a:r>
              <a:rPr lang="en-US" dirty="0"/>
              <a:t>(a) Reasonably strong </a:t>
            </a:r>
          </a:p>
          <a:p>
            <a:pPr marL="0" indent="0">
              <a:buNone/>
            </a:pPr>
            <a:r>
              <a:rPr lang="en-US" dirty="0"/>
              <a:t>(b) Should have a low heat capacity i.e., should not absorb heat and conduct the same </a:t>
            </a:r>
          </a:p>
          <a:p>
            <a:pPr marL="0" indent="0">
              <a:buNone/>
            </a:pPr>
            <a:r>
              <a:rPr lang="en-US" dirty="0"/>
              <a:t>(c) Weather resistant </a:t>
            </a:r>
          </a:p>
          <a:p>
            <a:pPr marL="0" indent="0">
              <a:buNone/>
            </a:pPr>
            <a:r>
              <a:rPr lang="en-US" dirty="0"/>
              <a:t>(d) unsuitable for harborage of rats and vermin </a:t>
            </a:r>
          </a:p>
          <a:p>
            <a:pPr marL="0" indent="0">
              <a:buNone/>
            </a:pPr>
            <a:r>
              <a:rPr lang="en-US" dirty="0"/>
              <a:t>(e) Not easily damaged </a:t>
            </a:r>
          </a:p>
          <a:p>
            <a:pPr marL="0" indent="0">
              <a:buNone/>
            </a:pPr>
            <a:r>
              <a:rPr lang="en-US" dirty="0"/>
              <a:t>(f) Smooth. </a:t>
            </a:r>
          </a:p>
          <a:p>
            <a:r>
              <a:rPr lang="en-US" dirty="0"/>
              <a:t>These standards can be attained by 9-inch brick-wall plastered smooth and </a:t>
            </a:r>
            <a:r>
              <a:rPr lang="en-US" dirty="0" err="1"/>
              <a:t>coloured</a:t>
            </a:r>
            <a:r>
              <a:rPr lang="en-US" dirty="0"/>
              <a:t> cream or white. </a:t>
            </a:r>
          </a:p>
          <a:p>
            <a:r>
              <a:rPr lang="en-US" dirty="0"/>
              <a:t>ROOF : The height of the roof should not be less than 10 feet (3 m) in the absence of air-conditioning for comfort. The roof should have a low heat transmittance coefficient.</a:t>
            </a:r>
            <a:endParaRPr lang="en-IN" dirty="0"/>
          </a:p>
        </p:txBody>
      </p:sp>
    </p:spTree>
    <p:extLst>
      <p:ext uri="{BB962C8B-B14F-4D97-AF65-F5344CB8AC3E}">
        <p14:creationId xmlns:p14="http://schemas.microsoft.com/office/powerpoint/2010/main" val="2329341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4EC80F-690C-73EF-5B15-5C6C908E5C28}"/>
              </a:ext>
            </a:extLst>
          </p:cNvPr>
          <p:cNvSpPr>
            <a:spLocks noGrp="1"/>
          </p:cNvSpPr>
          <p:nvPr>
            <p:ph idx="1"/>
          </p:nvPr>
        </p:nvSpPr>
        <p:spPr>
          <a:xfrm>
            <a:off x="838200" y="498764"/>
            <a:ext cx="10515600" cy="5678199"/>
          </a:xfrm>
        </p:spPr>
        <p:txBody>
          <a:bodyPr/>
          <a:lstStyle/>
          <a:p>
            <a:r>
              <a:rPr lang="en-US" b="1" dirty="0"/>
              <a:t>ROOMS :</a:t>
            </a:r>
            <a:r>
              <a:rPr lang="en-US" dirty="0"/>
              <a:t> The number of living rooms should not be less than two, at least one of which can be closed for security.</a:t>
            </a:r>
          </a:p>
          <a:p>
            <a:r>
              <a:rPr lang="en-US" dirty="0"/>
              <a:t>The other may be open on one side if that side is a private courtyard.</a:t>
            </a:r>
          </a:p>
          <a:p>
            <a:r>
              <a:rPr lang="en-US" dirty="0"/>
              <a:t> The number and area of rooms should be increased according to size of family, so that the recommended floor space per person may be made available. </a:t>
            </a:r>
          </a:p>
          <a:p>
            <a:r>
              <a:rPr lang="en-US" b="1" dirty="0"/>
              <a:t>FLOOR AREA </a:t>
            </a:r>
            <a:r>
              <a:rPr lang="en-US" dirty="0"/>
              <a:t>: The floor area of a living room should be at least 120 </a:t>
            </a:r>
            <a:r>
              <a:rPr lang="en-US" dirty="0" err="1"/>
              <a:t>sq.ft</a:t>
            </a:r>
            <a:r>
              <a:rPr lang="en-US" dirty="0"/>
              <a:t>. (12 sq. m.) for occupancy by more than one person and at least 100 </a:t>
            </a:r>
            <a:r>
              <a:rPr lang="en-US" dirty="0" err="1"/>
              <a:t>sq.ft</a:t>
            </a:r>
            <a:r>
              <a:rPr lang="en-US" dirty="0"/>
              <a:t>. (10 sq. m.) for occupancy by a single person. </a:t>
            </a:r>
          </a:p>
          <a:p>
            <a:r>
              <a:rPr lang="en-US" dirty="0"/>
              <a:t>The floor area available in living rooms per person should not be less than 50 </a:t>
            </a:r>
            <a:r>
              <a:rPr lang="en-US" dirty="0" err="1"/>
              <a:t>sq.ft</a:t>
            </a:r>
            <a:r>
              <a:rPr lang="en-US" dirty="0"/>
              <a:t>; the optimum is 100 </a:t>
            </a:r>
            <a:r>
              <a:rPr lang="en-US" dirty="0" err="1"/>
              <a:t>sq.ft</a:t>
            </a:r>
            <a:r>
              <a:rPr lang="en-US" dirty="0"/>
              <a:t>.</a:t>
            </a:r>
            <a:endParaRPr lang="en-IN" dirty="0"/>
          </a:p>
        </p:txBody>
      </p:sp>
    </p:spTree>
    <p:extLst>
      <p:ext uri="{BB962C8B-B14F-4D97-AF65-F5344CB8AC3E}">
        <p14:creationId xmlns:p14="http://schemas.microsoft.com/office/powerpoint/2010/main" val="2665510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27A447-4226-2ACE-F8CB-02B3D82126C3}"/>
              </a:ext>
            </a:extLst>
          </p:cNvPr>
          <p:cNvSpPr>
            <a:spLocks noGrp="1"/>
          </p:cNvSpPr>
          <p:nvPr>
            <p:ph idx="1"/>
          </p:nvPr>
        </p:nvSpPr>
        <p:spPr>
          <a:xfrm>
            <a:off x="838200" y="758536"/>
            <a:ext cx="10515600" cy="5418427"/>
          </a:xfrm>
        </p:spPr>
        <p:txBody>
          <a:bodyPr/>
          <a:lstStyle/>
          <a:p>
            <a:r>
              <a:rPr lang="en-US" b="1" dirty="0"/>
              <a:t>CUBIC SPACE </a:t>
            </a:r>
            <a:r>
              <a:rPr lang="en-US" dirty="0"/>
              <a:t>: Unless means are provided for mechanical replacement of air the height of rooms should be such as to give an air space of at least 500 </a:t>
            </a:r>
            <a:r>
              <a:rPr lang="en-US" dirty="0" err="1"/>
              <a:t>c.ft</a:t>
            </a:r>
            <a:r>
              <a:rPr lang="en-US" dirty="0"/>
              <a:t>. per capita, preferably 1,000 </a:t>
            </a:r>
            <a:r>
              <a:rPr lang="en-US" dirty="0" err="1"/>
              <a:t>c.ft</a:t>
            </a:r>
            <a:r>
              <a:rPr lang="en-US" dirty="0"/>
              <a:t>.</a:t>
            </a:r>
          </a:p>
          <a:p>
            <a:r>
              <a:rPr lang="en-US" dirty="0"/>
              <a:t> </a:t>
            </a:r>
            <a:r>
              <a:rPr lang="en-US" b="1" dirty="0"/>
              <a:t>WINDOWS</a:t>
            </a:r>
            <a:r>
              <a:rPr lang="en-US" dirty="0"/>
              <a:t> : (a) Unless mechanical ventilation and artificial lighting are provided, every living room should be provided with at least 2 windows, and at least one of them should open directly on to an open space. </a:t>
            </a:r>
          </a:p>
          <a:p>
            <a:r>
              <a:rPr lang="en-US" dirty="0"/>
              <a:t>(b) the windows should be placed at a height of not more than 3 feet (1 m) above the ground in living rooms. </a:t>
            </a:r>
          </a:p>
          <a:p>
            <a:r>
              <a:rPr lang="en-US" dirty="0"/>
              <a:t>(c) window area should be l/5th of the floor area. </a:t>
            </a:r>
          </a:p>
          <a:p>
            <a:r>
              <a:rPr lang="en-US" dirty="0"/>
              <a:t>Doors and windows combined should have 2/5th the floor area.</a:t>
            </a:r>
            <a:endParaRPr lang="en-IN" dirty="0"/>
          </a:p>
        </p:txBody>
      </p:sp>
    </p:spTree>
    <p:extLst>
      <p:ext uri="{BB962C8B-B14F-4D97-AF65-F5344CB8AC3E}">
        <p14:creationId xmlns:p14="http://schemas.microsoft.com/office/powerpoint/2010/main" val="941690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3F2DFE-EB3F-3280-D331-D2E2456A5408}"/>
              </a:ext>
            </a:extLst>
          </p:cNvPr>
          <p:cNvSpPr>
            <a:spLocks noGrp="1"/>
          </p:cNvSpPr>
          <p:nvPr>
            <p:ph idx="1"/>
          </p:nvPr>
        </p:nvSpPr>
        <p:spPr>
          <a:xfrm>
            <a:off x="838200" y="519545"/>
            <a:ext cx="10515600" cy="5657418"/>
          </a:xfrm>
        </p:spPr>
        <p:txBody>
          <a:bodyPr>
            <a:normAutofit/>
          </a:bodyPr>
          <a:lstStyle/>
          <a:p>
            <a:r>
              <a:rPr lang="en-US" b="1" dirty="0"/>
              <a:t>LIGHTING</a:t>
            </a:r>
            <a:r>
              <a:rPr lang="en-US" dirty="0"/>
              <a:t> : The daylight factor should exceed 1 per cent over half the floor area. </a:t>
            </a:r>
          </a:p>
          <a:p>
            <a:r>
              <a:rPr lang="en-US" b="1" dirty="0"/>
              <a:t>KITCHEN</a:t>
            </a:r>
            <a:r>
              <a:rPr lang="en-US" dirty="0"/>
              <a:t> : Every dwelling house must have a separate kitchen. </a:t>
            </a:r>
          </a:p>
          <a:p>
            <a:r>
              <a:rPr lang="en-US" dirty="0"/>
              <a:t>The kitchen must be </a:t>
            </a:r>
            <a:r>
              <a:rPr lang="en-US" dirty="0">
                <a:highlight>
                  <a:srgbClr val="FFFF00"/>
                </a:highlight>
              </a:rPr>
              <a:t>protected against dust and smoke</a:t>
            </a:r>
            <a:r>
              <a:rPr lang="en-US" dirty="0"/>
              <a:t>; adequately lighted; provided with arrangements for storing food, fuel and provisions; provided with water supply; provided with a sink for washing utensils and fitted with arrangements for proper drainage.</a:t>
            </a:r>
          </a:p>
          <a:p>
            <a:r>
              <a:rPr lang="en-US" dirty="0"/>
              <a:t> The floor of the kitchen must be impervious. </a:t>
            </a:r>
          </a:p>
          <a:p>
            <a:r>
              <a:rPr lang="en-US" b="1" dirty="0"/>
              <a:t>PRIVY</a:t>
            </a:r>
            <a:r>
              <a:rPr lang="en-US" dirty="0"/>
              <a:t> : A </a:t>
            </a:r>
            <a:r>
              <a:rPr lang="en-US" dirty="0">
                <a:highlight>
                  <a:srgbClr val="FFFF00"/>
                </a:highlight>
              </a:rPr>
              <a:t>sanitary privy is a MUST in every house</a:t>
            </a:r>
            <a:r>
              <a:rPr lang="en-US" dirty="0"/>
              <a:t>, belonging exclusively to it and readily accessible.</a:t>
            </a:r>
          </a:p>
          <a:p>
            <a:r>
              <a:rPr lang="en-US" dirty="0"/>
              <a:t>In the more developed areas of the world, the majority of dwelling units are equipped with water carriage systems.</a:t>
            </a:r>
            <a:endParaRPr lang="en-IN" dirty="0"/>
          </a:p>
        </p:txBody>
      </p:sp>
    </p:spTree>
    <p:extLst>
      <p:ext uri="{BB962C8B-B14F-4D97-AF65-F5344CB8AC3E}">
        <p14:creationId xmlns:p14="http://schemas.microsoft.com/office/powerpoint/2010/main" val="816905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CC618B-1026-7823-6AEB-26C2531D151A}"/>
              </a:ext>
            </a:extLst>
          </p:cNvPr>
          <p:cNvSpPr>
            <a:spLocks noGrp="1"/>
          </p:cNvSpPr>
          <p:nvPr>
            <p:ph idx="1"/>
          </p:nvPr>
        </p:nvSpPr>
        <p:spPr>
          <a:xfrm>
            <a:off x="838200" y="1558635"/>
            <a:ext cx="10515600" cy="4618327"/>
          </a:xfrm>
        </p:spPr>
        <p:txBody>
          <a:bodyPr/>
          <a:lstStyle/>
          <a:p>
            <a:r>
              <a:rPr lang="en-US" b="1" dirty="0"/>
              <a:t>GARBAGE AND REFUSE </a:t>
            </a:r>
            <a:r>
              <a:rPr lang="en-US" dirty="0"/>
              <a:t>: These should be removed from the dwelling at </a:t>
            </a:r>
            <a:r>
              <a:rPr lang="en-US" dirty="0">
                <a:highlight>
                  <a:srgbClr val="FFFF00"/>
                </a:highlight>
              </a:rPr>
              <a:t>least daily and disposed off in a sanitary manner</a:t>
            </a:r>
            <a:r>
              <a:rPr lang="en-US" dirty="0"/>
              <a:t>. </a:t>
            </a:r>
          </a:p>
          <a:p>
            <a:r>
              <a:rPr lang="en-US" b="1" dirty="0"/>
              <a:t>BATHING AND WASHING </a:t>
            </a:r>
            <a:r>
              <a:rPr lang="en-US" dirty="0"/>
              <a:t>: The house should have facilities for bathing and washing belonging exclusively to it and providing proper privacy.</a:t>
            </a:r>
          </a:p>
          <a:p>
            <a:r>
              <a:rPr lang="en-US" dirty="0"/>
              <a:t> </a:t>
            </a:r>
            <a:r>
              <a:rPr lang="en-US" b="1" dirty="0"/>
              <a:t>WATER SUPPLY </a:t>
            </a:r>
            <a:r>
              <a:rPr lang="en-US" dirty="0"/>
              <a:t>: The house should have a safe and adequate water supply available at all times. </a:t>
            </a:r>
            <a:endParaRPr lang="en-IN" dirty="0"/>
          </a:p>
        </p:txBody>
      </p:sp>
    </p:spTree>
    <p:extLst>
      <p:ext uri="{BB962C8B-B14F-4D97-AF65-F5344CB8AC3E}">
        <p14:creationId xmlns:p14="http://schemas.microsoft.com/office/powerpoint/2010/main" val="1059179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AC8E6E-0287-4A7A-55CF-E76B07CA898B}"/>
              </a:ext>
            </a:extLst>
          </p:cNvPr>
          <p:cNvSpPr>
            <a:spLocks noGrp="1"/>
          </p:cNvSpPr>
          <p:nvPr>
            <p:ph type="title"/>
          </p:nvPr>
        </p:nvSpPr>
        <p:spPr>
          <a:xfrm>
            <a:off x="686834" y="1153572"/>
            <a:ext cx="3200400" cy="4461163"/>
          </a:xfrm>
        </p:spPr>
        <p:txBody>
          <a:bodyPr>
            <a:normAutofit/>
          </a:bodyPr>
          <a:lstStyle/>
          <a:p>
            <a:r>
              <a:rPr lang="en-US" b="1">
                <a:solidFill>
                  <a:srgbClr val="FFFFFF"/>
                </a:solidFill>
              </a:rPr>
              <a:t>Rural housing</a:t>
            </a:r>
            <a:endParaRPr lang="en-IN"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98EE176-5B49-4872-A6DB-2830273682D0}"/>
              </a:ext>
            </a:extLst>
          </p:cNvPr>
          <p:cNvSpPr>
            <a:spLocks noGrp="1"/>
          </p:cNvSpPr>
          <p:nvPr>
            <p:ph idx="1"/>
          </p:nvPr>
        </p:nvSpPr>
        <p:spPr>
          <a:xfrm>
            <a:off x="4167272" y="319088"/>
            <a:ext cx="7647739" cy="6219824"/>
          </a:xfrm>
        </p:spPr>
        <p:txBody>
          <a:bodyPr anchor="ctr">
            <a:normAutofit/>
          </a:bodyPr>
          <a:lstStyle/>
          <a:p>
            <a:r>
              <a:rPr lang="en-US" dirty="0"/>
              <a:t>In rural areas, the “approved” standards may be lower than in towns. The following minimum standards have been suggested : </a:t>
            </a:r>
          </a:p>
          <a:p>
            <a:r>
              <a:rPr lang="en-US" dirty="0"/>
              <a:t>(1) there should be at least two living rooms </a:t>
            </a:r>
          </a:p>
          <a:p>
            <a:r>
              <a:rPr lang="en-US" dirty="0"/>
              <a:t>(2) ample verandah space may be provided </a:t>
            </a:r>
          </a:p>
          <a:p>
            <a:r>
              <a:rPr lang="en-US" dirty="0"/>
              <a:t>(3) the built-up area should not exceed one-third of the total area </a:t>
            </a:r>
          </a:p>
          <a:p>
            <a:r>
              <a:rPr lang="en-US" dirty="0"/>
              <a:t>(4) there should be a separate kitchen with a paved sink or platform for washing utensils </a:t>
            </a:r>
          </a:p>
          <a:p>
            <a:r>
              <a:rPr lang="en-US" dirty="0"/>
              <a:t>(5) the house should be provided with a sanitary latrine </a:t>
            </a:r>
          </a:p>
        </p:txBody>
      </p:sp>
    </p:spTree>
    <p:extLst>
      <p:ext uri="{BB962C8B-B14F-4D97-AF65-F5344CB8AC3E}">
        <p14:creationId xmlns:p14="http://schemas.microsoft.com/office/powerpoint/2010/main" val="3075799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AC8E6E-0287-4A7A-55CF-E76B07CA898B}"/>
              </a:ext>
            </a:extLst>
          </p:cNvPr>
          <p:cNvSpPr>
            <a:spLocks noGrp="1"/>
          </p:cNvSpPr>
          <p:nvPr>
            <p:ph type="title"/>
          </p:nvPr>
        </p:nvSpPr>
        <p:spPr>
          <a:xfrm>
            <a:off x="686834" y="1153572"/>
            <a:ext cx="3200400" cy="4461163"/>
          </a:xfrm>
        </p:spPr>
        <p:txBody>
          <a:bodyPr>
            <a:normAutofit/>
          </a:bodyPr>
          <a:lstStyle/>
          <a:p>
            <a:r>
              <a:rPr lang="en-US" b="1">
                <a:solidFill>
                  <a:srgbClr val="FFFFFF"/>
                </a:solidFill>
              </a:rPr>
              <a:t>Rural housing</a:t>
            </a:r>
            <a:endParaRPr lang="en-IN"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98EE176-5B49-4872-A6DB-2830273682D0}"/>
              </a:ext>
            </a:extLst>
          </p:cNvPr>
          <p:cNvSpPr>
            <a:spLocks noGrp="1"/>
          </p:cNvSpPr>
          <p:nvPr>
            <p:ph idx="1"/>
          </p:nvPr>
        </p:nvSpPr>
        <p:spPr>
          <a:xfrm>
            <a:off x="4332053" y="0"/>
            <a:ext cx="7999966" cy="6176963"/>
          </a:xfrm>
        </p:spPr>
        <p:txBody>
          <a:bodyPr anchor="ctr">
            <a:normAutofit/>
          </a:bodyPr>
          <a:lstStyle/>
          <a:p>
            <a:pPr marL="0" indent="0">
              <a:buNone/>
            </a:pPr>
            <a:r>
              <a:rPr lang="en-US" sz="2600" dirty="0"/>
              <a:t>(6) the window area should be at least 10 per cent of the floor area </a:t>
            </a:r>
          </a:p>
          <a:p>
            <a:pPr marL="0" indent="0">
              <a:buNone/>
            </a:pPr>
            <a:r>
              <a:rPr lang="en-US" sz="2600" dirty="0"/>
              <a:t>(7) there should be a sanitary well or a tube well within a quarter of a mile from the house </a:t>
            </a:r>
          </a:p>
          <a:p>
            <a:pPr marL="0" indent="0">
              <a:buNone/>
            </a:pPr>
            <a:r>
              <a:rPr lang="en-US" sz="2600" dirty="0"/>
              <a:t>(8) it is insanitary to keep cattle and livestock in dwelling houses. Cattle sheds should be at least 25 feet away from dwelling houses. A cattle shed should be open on all sides; an area 8 ft.x4 ft. is sufficient for each head of cattle </a:t>
            </a:r>
          </a:p>
          <a:p>
            <a:pPr marL="0" indent="0">
              <a:buNone/>
            </a:pPr>
            <a:r>
              <a:rPr lang="en-US" sz="2600" dirty="0"/>
              <a:t>(9) there should be adequate arrangement for the disposal of waste water, refuse and garbage. </a:t>
            </a:r>
            <a:endParaRPr lang="en-IN" sz="2600" dirty="0"/>
          </a:p>
        </p:txBody>
      </p:sp>
    </p:spTree>
    <p:extLst>
      <p:ext uri="{BB962C8B-B14F-4D97-AF65-F5344CB8AC3E}">
        <p14:creationId xmlns:p14="http://schemas.microsoft.com/office/powerpoint/2010/main" val="3192820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FD3BC-31F7-7266-974F-7417DDE60234}"/>
              </a:ext>
            </a:extLst>
          </p:cNvPr>
          <p:cNvSpPr>
            <a:spLocks noGrp="1"/>
          </p:cNvSpPr>
          <p:nvPr>
            <p:ph type="title"/>
          </p:nvPr>
        </p:nvSpPr>
        <p:spPr/>
        <p:txBody>
          <a:bodyPr/>
          <a:lstStyle/>
          <a:p>
            <a:r>
              <a:rPr lang="en-US" b="1" dirty="0"/>
              <a:t>Housing and health</a:t>
            </a:r>
            <a:endParaRPr lang="en-IN" b="1" dirty="0"/>
          </a:p>
        </p:txBody>
      </p:sp>
      <p:sp>
        <p:nvSpPr>
          <p:cNvPr id="3" name="Content Placeholder 2">
            <a:extLst>
              <a:ext uri="{FF2B5EF4-FFF2-40B4-BE49-F238E27FC236}">
                <a16:creationId xmlns:a16="http://schemas.microsoft.com/office/drawing/2014/main" id="{8F89F005-1F29-01D0-5A63-F96417690510}"/>
              </a:ext>
            </a:extLst>
          </p:cNvPr>
          <p:cNvSpPr>
            <a:spLocks noGrp="1"/>
          </p:cNvSpPr>
          <p:nvPr>
            <p:ph idx="1"/>
          </p:nvPr>
        </p:nvSpPr>
        <p:spPr>
          <a:xfrm>
            <a:off x="838200" y="1579418"/>
            <a:ext cx="10515600" cy="4597545"/>
          </a:xfrm>
        </p:spPr>
        <p:txBody>
          <a:bodyPr>
            <a:normAutofit/>
          </a:bodyPr>
          <a:lstStyle/>
          <a:p>
            <a:r>
              <a:rPr lang="en-US" dirty="0"/>
              <a:t>Housing is part of the </a:t>
            </a:r>
            <a:r>
              <a:rPr lang="en-US" dirty="0">
                <a:highlight>
                  <a:srgbClr val="FFFF00"/>
                </a:highlight>
              </a:rPr>
              <a:t>total environment of man and being a part</a:t>
            </a:r>
            <a:r>
              <a:rPr lang="en-US" dirty="0"/>
              <a:t>, it is to some extent responsible for the status of mans health and well-being. It is difficult, however, to </a:t>
            </a:r>
            <a:r>
              <a:rPr lang="en-US" dirty="0">
                <a:highlight>
                  <a:srgbClr val="FFFF00"/>
                </a:highlight>
              </a:rPr>
              <a:t>demonstrate the specific cause-and-effect relationships</a:t>
            </a:r>
            <a:r>
              <a:rPr lang="en-US" dirty="0"/>
              <a:t> because housing embraces so many facets of environment. By deductive reasoning, a strong relationship can be established between poor housing and the following conditions :</a:t>
            </a:r>
          </a:p>
          <a:p>
            <a:pPr marL="0" indent="0">
              <a:buNone/>
            </a:pPr>
            <a:r>
              <a:rPr lang="en-US" dirty="0"/>
              <a:t>(1) RESPIRATORY INFECTIONS : Common cold, tuberculosis, influenza, diphtheria, bronchitis, measles, whooping cough, etc. </a:t>
            </a:r>
          </a:p>
          <a:p>
            <a:pPr marL="0" indent="0">
              <a:buNone/>
            </a:pPr>
            <a:r>
              <a:rPr lang="en-US" dirty="0"/>
              <a:t>(2) SKIN INFECTIONS : Scabies, ringworm, impetigo, leprosy. </a:t>
            </a:r>
          </a:p>
          <a:p>
            <a:pPr marL="0" indent="0">
              <a:buNone/>
            </a:pPr>
            <a:r>
              <a:rPr lang="en-US" dirty="0"/>
              <a:t>(3) RAT INFESTATION : Plague. </a:t>
            </a:r>
            <a:endParaRPr lang="en-IN" dirty="0"/>
          </a:p>
        </p:txBody>
      </p:sp>
    </p:spTree>
    <p:extLst>
      <p:ext uri="{BB962C8B-B14F-4D97-AF65-F5344CB8AC3E}">
        <p14:creationId xmlns:p14="http://schemas.microsoft.com/office/powerpoint/2010/main" val="756930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CAB326-3381-0C86-4511-72531A6BA517}"/>
              </a:ext>
            </a:extLst>
          </p:cNvPr>
          <p:cNvSpPr>
            <a:spLocks noGrp="1"/>
          </p:cNvSpPr>
          <p:nvPr>
            <p:ph idx="1"/>
          </p:nvPr>
        </p:nvSpPr>
        <p:spPr>
          <a:xfrm>
            <a:off x="838200" y="872836"/>
            <a:ext cx="10515600" cy="5304127"/>
          </a:xfrm>
        </p:spPr>
        <p:txBody>
          <a:bodyPr>
            <a:normAutofit/>
          </a:bodyPr>
          <a:lstStyle/>
          <a:p>
            <a:pPr marL="0" indent="0">
              <a:buNone/>
            </a:pPr>
            <a:r>
              <a:rPr lang="en-US" dirty="0"/>
              <a:t>(4) ARTHROPODS : Houseflies, mosquitoes, fleas and bugs. </a:t>
            </a:r>
          </a:p>
          <a:p>
            <a:pPr marL="0" indent="0">
              <a:buNone/>
            </a:pPr>
            <a:r>
              <a:rPr lang="en-US" dirty="0"/>
              <a:t>(5) ACCIDENTS : A substantial proportion of house accidents are caused by some defect in the home and its environment. </a:t>
            </a:r>
          </a:p>
          <a:p>
            <a:pPr marL="0" indent="0">
              <a:buNone/>
            </a:pPr>
            <a:r>
              <a:rPr lang="en-US" dirty="0"/>
              <a:t>(6) MORBIDITY AND MORTALITY : High morbidity and mortality rates are observed where housing conditions are sub-standard. </a:t>
            </a:r>
          </a:p>
          <a:p>
            <a:pPr marL="0" indent="0">
              <a:buNone/>
            </a:pPr>
            <a:r>
              <a:rPr lang="en-US" dirty="0"/>
              <a:t>(7) PSYCHOSOCIAL EFFECTS : These effects must not be overlooked. The sense of isolation felt by persons living in the upper floors of high buildings is now well known to have harmful effects. </a:t>
            </a:r>
          </a:p>
          <a:p>
            <a:r>
              <a:rPr lang="en-US" dirty="0"/>
              <a:t>Often, also, people living in densely populated urban areas feel a similar sense of isolation which may lead to neurosis and behavior disorders.</a:t>
            </a:r>
            <a:endParaRPr lang="en-IN" dirty="0"/>
          </a:p>
        </p:txBody>
      </p:sp>
    </p:spTree>
    <p:extLst>
      <p:ext uri="{BB962C8B-B14F-4D97-AF65-F5344CB8AC3E}">
        <p14:creationId xmlns:p14="http://schemas.microsoft.com/office/powerpoint/2010/main" val="4234701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1605F-E708-3170-563B-BE1BC8A85C97}"/>
              </a:ext>
            </a:extLst>
          </p:cNvPr>
          <p:cNvSpPr>
            <a:spLocks noGrp="1"/>
          </p:cNvSpPr>
          <p:nvPr>
            <p:ph type="title"/>
          </p:nvPr>
        </p:nvSpPr>
        <p:spPr/>
        <p:txBody>
          <a:bodyPr/>
          <a:lstStyle/>
          <a:p>
            <a:r>
              <a:rPr lang="en-US" b="1" dirty="0"/>
              <a:t>Overcrowding</a:t>
            </a:r>
            <a:endParaRPr lang="en-IN" b="1" dirty="0"/>
          </a:p>
        </p:txBody>
      </p:sp>
      <p:sp>
        <p:nvSpPr>
          <p:cNvPr id="3" name="Content Placeholder 2">
            <a:extLst>
              <a:ext uri="{FF2B5EF4-FFF2-40B4-BE49-F238E27FC236}">
                <a16:creationId xmlns:a16="http://schemas.microsoft.com/office/drawing/2014/main" id="{38D9F21B-CE8B-5BF6-B7B3-24D42D15DB4C}"/>
              </a:ext>
            </a:extLst>
          </p:cNvPr>
          <p:cNvSpPr>
            <a:spLocks noGrp="1"/>
          </p:cNvSpPr>
          <p:nvPr>
            <p:ph idx="1"/>
          </p:nvPr>
        </p:nvSpPr>
        <p:spPr>
          <a:xfrm>
            <a:off x="838200" y="1610591"/>
            <a:ext cx="10515600" cy="4566372"/>
          </a:xfrm>
        </p:spPr>
        <p:txBody>
          <a:bodyPr>
            <a:normAutofit lnSpcReduction="10000"/>
          </a:bodyPr>
          <a:lstStyle/>
          <a:p>
            <a:r>
              <a:rPr lang="en-US" dirty="0"/>
              <a:t>Overcrowding refers to the situation in which </a:t>
            </a:r>
            <a:r>
              <a:rPr lang="en-US" dirty="0">
                <a:highlight>
                  <a:srgbClr val="FFFF00"/>
                </a:highlight>
              </a:rPr>
              <a:t>more people are living within a single dwelling than there is space for, </a:t>
            </a:r>
            <a:r>
              <a:rPr lang="en-US" dirty="0"/>
              <a:t>so that movement is restricted, privacy secluded, hygiene impossible, rest and sleep difficult. </a:t>
            </a:r>
          </a:p>
          <a:p>
            <a:r>
              <a:rPr lang="en-US" dirty="0"/>
              <a:t>In general the risks as regards physical health are clear enough - infectious diseases spread rapidly under conditions of overcrowding.</a:t>
            </a:r>
          </a:p>
          <a:p>
            <a:r>
              <a:rPr lang="en-US" dirty="0"/>
              <a:t> The effects on psychosocial health are not so clear-cut, viz. irritability, frustration, lack of sleep, anxiety, violence and mental disorders. Children are said to be more affected. </a:t>
            </a:r>
          </a:p>
          <a:p>
            <a:r>
              <a:rPr lang="en-US" dirty="0"/>
              <a:t>In short, it is a psychosocial stress, leading to unhappiness and very probably to psychosomatic and mental disorders.</a:t>
            </a:r>
            <a:endParaRPr lang="en-IN" dirty="0"/>
          </a:p>
        </p:txBody>
      </p:sp>
    </p:spTree>
    <p:extLst>
      <p:ext uri="{BB962C8B-B14F-4D97-AF65-F5344CB8AC3E}">
        <p14:creationId xmlns:p14="http://schemas.microsoft.com/office/powerpoint/2010/main" val="1108027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1FC817-8672-0DB7-DCA1-9776ACF4C66E}"/>
              </a:ext>
            </a:extLst>
          </p:cNvPr>
          <p:cNvSpPr>
            <a:spLocks noGrp="1"/>
          </p:cNvSpPr>
          <p:nvPr>
            <p:ph idx="1"/>
          </p:nvPr>
        </p:nvSpPr>
        <p:spPr>
          <a:xfrm>
            <a:off x="838200" y="1007918"/>
            <a:ext cx="10515600" cy="5169045"/>
          </a:xfrm>
        </p:spPr>
        <p:txBody>
          <a:bodyPr/>
          <a:lstStyle/>
          <a:p>
            <a:r>
              <a:rPr lang="en-US" dirty="0"/>
              <a:t>PERSONS PER ROOM : The degree of overcrowding can best be expressed as the number of persons per room, i.e., number of persons in the household divided by the number of rooms in the dwelling. The accepted standards are: </a:t>
            </a:r>
          </a:p>
          <a:p>
            <a:r>
              <a:rPr lang="en-US" dirty="0"/>
              <a:t>1 room  ……….    2 persons </a:t>
            </a:r>
          </a:p>
          <a:p>
            <a:r>
              <a:rPr lang="en-US" dirty="0"/>
              <a:t>2 rooms  ……….  3 persons </a:t>
            </a:r>
          </a:p>
          <a:p>
            <a:r>
              <a:rPr lang="en-US" dirty="0"/>
              <a:t>3 rooms ………..  5 persons </a:t>
            </a:r>
          </a:p>
          <a:p>
            <a:r>
              <a:rPr lang="en-US" dirty="0"/>
              <a:t>4 rooms ……….. 7 persons </a:t>
            </a:r>
          </a:p>
          <a:p>
            <a:r>
              <a:rPr lang="en-US" dirty="0"/>
              <a:t>5 or more rooms ..... 10 persons (additional 2 for each further room)</a:t>
            </a:r>
            <a:endParaRPr lang="en-IN" dirty="0"/>
          </a:p>
        </p:txBody>
      </p:sp>
    </p:spTree>
    <p:extLst>
      <p:ext uri="{BB962C8B-B14F-4D97-AF65-F5344CB8AC3E}">
        <p14:creationId xmlns:p14="http://schemas.microsoft.com/office/powerpoint/2010/main" val="2040473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06A13B-109D-9BCE-4178-DF5053102235}"/>
              </a:ext>
            </a:extLst>
          </p:cNvPr>
          <p:cNvSpPr>
            <a:spLocks noGrp="1"/>
          </p:cNvSpPr>
          <p:nvPr>
            <p:ph idx="1"/>
          </p:nvPr>
        </p:nvSpPr>
        <p:spPr>
          <a:xfrm>
            <a:off x="838200" y="966355"/>
            <a:ext cx="10515600" cy="5210608"/>
          </a:xfrm>
        </p:spPr>
        <p:txBody>
          <a:bodyPr>
            <a:normAutofit lnSpcReduction="10000"/>
          </a:bodyPr>
          <a:lstStyle/>
          <a:p>
            <a:r>
              <a:rPr lang="en-IN" dirty="0"/>
              <a:t>(2) FLOOR SPACE : The accepted standards are : </a:t>
            </a:r>
          </a:p>
          <a:p>
            <a:r>
              <a:rPr lang="en-IN" dirty="0"/>
              <a:t>110 </a:t>
            </a:r>
            <a:r>
              <a:rPr lang="en-IN" dirty="0" err="1"/>
              <a:t>sq.ft</a:t>
            </a:r>
            <a:r>
              <a:rPr lang="en-IN" dirty="0"/>
              <a:t>. (11 sq. m.) or more .... 2 persons </a:t>
            </a:r>
          </a:p>
          <a:p>
            <a:r>
              <a:rPr lang="en-IN" dirty="0"/>
              <a:t>90-100 </a:t>
            </a:r>
            <a:r>
              <a:rPr lang="en-IN" dirty="0" err="1"/>
              <a:t>sq.ft</a:t>
            </a:r>
            <a:r>
              <a:rPr lang="en-IN" dirty="0"/>
              <a:t> (9-10 </a:t>
            </a:r>
            <a:r>
              <a:rPr lang="en-IN" dirty="0" err="1"/>
              <a:t>sq.m</a:t>
            </a:r>
            <a:r>
              <a:rPr lang="en-IN" dirty="0"/>
              <a:t>.) ...... 1 1/2 persons </a:t>
            </a:r>
          </a:p>
          <a:p>
            <a:r>
              <a:rPr lang="en-IN" dirty="0"/>
              <a:t>70-90 </a:t>
            </a:r>
            <a:r>
              <a:rPr lang="en-IN" dirty="0" err="1"/>
              <a:t>sq.ft</a:t>
            </a:r>
            <a:r>
              <a:rPr lang="en-IN" dirty="0"/>
              <a:t>. (7-9 sq. m.)  ……. 1 person </a:t>
            </a:r>
          </a:p>
          <a:p>
            <a:r>
              <a:rPr lang="en-IN" dirty="0"/>
              <a:t>50-70 </a:t>
            </a:r>
            <a:r>
              <a:rPr lang="en-IN" dirty="0" err="1"/>
              <a:t>sq.ft</a:t>
            </a:r>
            <a:r>
              <a:rPr lang="en-IN" dirty="0"/>
              <a:t>. (5-7 </a:t>
            </a:r>
            <a:r>
              <a:rPr lang="en-IN" dirty="0" err="1"/>
              <a:t>sq.m</a:t>
            </a:r>
            <a:r>
              <a:rPr lang="en-IN" dirty="0"/>
              <a:t>.) ……. 2 person </a:t>
            </a:r>
          </a:p>
          <a:p>
            <a:r>
              <a:rPr lang="en-IN" dirty="0"/>
              <a:t>Under 50 </a:t>
            </a:r>
            <a:r>
              <a:rPr lang="en-IN" dirty="0" err="1"/>
              <a:t>sq.ft</a:t>
            </a:r>
            <a:r>
              <a:rPr lang="en-IN" dirty="0"/>
              <a:t> (5 sq. m) ……. Nil</a:t>
            </a:r>
          </a:p>
          <a:p>
            <a:endParaRPr lang="en-IN" dirty="0"/>
          </a:p>
          <a:p>
            <a:r>
              <a:rPr lang="en-US" dirty="0"/>
              <a:t>(A baby under 12 months is not counted; between 1 to 10 years counted as children half a unit). </a:t>
            </a:r>
          </a:p>
          <a:p>
            <a:r>
              <a:rPr lang="en-US" dirty="0"/>
              <a:t>SEX SEPARATION : Overcrowding is considered to exist if 2 persons over 9 years of age, not husband and wife, of opposite sexes are obliged to sleep in the same room.</a:t>
            </a:r>
            <a:endParaRPr lang="en-IN" dirty="0"/>
          </a:p>
        </p:txBody>
      </p:sp>
    </p:spTree>
    <p:extLst>
      <p:ext uri="{BB962C8B-B14F-4D97-AF65-F5344CB8AC3E}">
        <p14:creationId xmlns:p14="http://schemas.microsoft.com/office/powerpoint/2010/main" val="1264359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31E0C-4A81-2428-090E-02C2CAD86E97}"/>
              </a:ext>
            </a:extLst>
          </p:cNvPr>
          <p:cNvSpPr>
            <a:spLocks noGrp="1"/>
          </p:cNvSpPr>
          <p:nvPr>
            <p:ph type="title"/>
          </p:nvPr>
        </p:nvSpPr>
        <p:spPr/>
        <p:txBody>
          <a:bodyPr/>
          <a:lstStyle/>
          <a:p>
            <a:r>
              <a:rPr lang="en-US" b="1" dirty="0"/>
              <a:t>Indicators of housing</a:t>
            </a:r>
            <a:endParaRPr lang="en-IN" b="1" dirty="0"/>
          </a:p>
        </p:txBody>
      </p:sp>
      <p:sp>
        <p:nvSpPr>
          <p:cNvPr id="3" name="Content Placeholder 2">
            <a:extLst>
              <a:ext uri="{FF2B5EF4-FFF2-40B4-BE49-F238E27FC236}">
                <a16:creationId xmlns:a16="http://schemas.microsoft.com/office/drawing/2014/main" id="{7EEED4F5-5C27-FE9A-9FF8-E1272CB88566}"/>
              </a:ext>
            </a:extLst>
          </p:cNvPr>
          <p:cNvSpPr>
            <a:spLocks noGrp="1"/>
          </p:cNvSpPr>
          <p:nvPr>
            <p:ph idx="1"/>
          </p:nvPr>
        </p:nvSpPr>
        <p:spPr/>
        <p:txBody>
          <a:bodyPr>
            <a:normAutofit lnSpcReduction="10000"/>
          </a:bodyPr>
          <a:lstStyle/>
          <a:p>
            <a:r>
              <a:rPr lang="en-US" dirty="0"/>
              <a:t>In recent years the use of indicators has become widespread for the measurement of quality of life. The indicators for housing may be classified as : </a:t>
            </a:r>
          </a:p>
          <a:p>
            <a:pPr marL="0" indent="0">
              <a:buNone/>
            </a:pPr>
            <a:r>
              <a:rPr lang="en-US" dirty="0"/>
              <a:t>(1) </a:t>
            </a:r>
            <a:r>
              <a:rPr lang="en-US" b="1" dirty="0"/>
              <a:t>Physical</a:t>
            </a:r>
            <a:r>
              <a:rPr lang="en-US" dirty="0"/>
              <a:t>: These are based on floor space, cubic space, room height, persons per room, rooms per dwelling, environmental quality (e.g., air, light, water, noise, sewage disposal, </a:t>
            </a:r>
            <a:r>
              <a:rPr lang="en-US" dirty="0" err="1"/>
              <a:t>etc</a:t>
            </a:r>
            <a:r>
              <a:rPr lang="en-US" dirty="0"/>
              <a:t>). </a:t>
            </a:r>
          </a:p>
          <a:p>
            <a:pPr marL="0" indent="0">
              <a:buNone/>
            </a:pPr>
            <a:r>
              <a:rPr lang="en-US" dirty="0"/>
              <a:t>(2) </a:t>
            </a:r>
            <a:r>
              <a:rPr lang="en-US" b="1" dirty="0"/>
              <a:t>Economic indicators </a:t>
            </a:r>
            <a:r>
              <a:rPr lang="en-US" dirty="0"/>
              <a:t>: These are cost of the building, rental levels, taxes, expenditure on housing, etc. </a:t>
            </a:r>
          </a:p>
          <a:p>
            <a:pPr marL="0" indent="0">
              <a:buNone/>
            </a:pPr>
            <a:r>
              <a:rPr lang="en-US" dirty="0"/>
              <a:t>(3) </a:t>
            </a:r>
            <a:r>
              <a:rPr lang="en-US" b="1" dirty="0"/>
              <a:t>Social indicators </a:t>
            </a:r>
            <a:r>
              <a:rPr lang="en-US" dirty="0"/>
              <a:t>: The following were proposed at an inter-regional seminar on the Social Aspects of Housing, organized by the UN in 1975.</a:t>
            </a:r>
            <a:endParaRPr lang="en-IN" dirty="0"/>
          </a:p>
        </p:txBody>
      </p:sp>
    </p:spTree>
    <p:extLst>
      <p:ext uri="{BB962C8B-B14F-4D97-AF65-F5344CB8AC3E}">
        <p14:creationId xmlns:p14="http://schemas.microsoft.com/office/powerpoint/2010/main" val="4264244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689A60-A80A-F183-35F4-2EB37637DC78}"/>
              </a:ext>
            </a:extLst>
          </p:cNvPr>
          <p:cNvSpPr>
            <a:spLocks noGrp="1"/>
          </p:cNvSpPr>
          <p:nvPr>
            <p:ph idx="1"/>
          </p:nvPr>
        </p:nvSpPr>
        <p:spPr>
          <a:xfrm>
            <a:off x="838200" y="1122218"/>
            <a:ext cx="10515600" cy="5054745"/>
          </a:xfrm>
        </p:spPr>
        <p:txBody>
          <a:bodyPr>
            <a:normAutofit/>
          </a:bodyPr>
          <a:lstStyle/>
          <a:p>
            <a:r>
              <a:rPr lang="en-US" dirty="0"/>
              <a:t>Indicators related to prevention of illness : </a:t>
            </a:r>
          </a:p>
          <a:p>
            <a:pPr marL="0" indent="0">
              <a:buNone/>
            </a:pPr>
            <a:r>
              <a:rPr lang="en-US" dirty="0"/>
              <a:t>(1) Frequency of illness due to inadequate sewage and garbage collection. </a:t>
            </a:r>
          </a:p>
          <a:p>
            <a:pPr marL="0" indent="0">
              <a:buNone/>
            </a:pPr>
            <a:r>
              <a:rPr lang="en-US" dirty="0"/>
              <a:t>(2) Frequency of illness associated with contaminated water source. </a:t>
            </a:r>
          </a:p>
          <a:p>
            <a:pPr marL="0" indent="0">
              <a:buNone/>
            </a:pPr>
            <a:r>
              <a:rPr lang="en-US" dirty="0"/>
              <a:t>(3) Frequency of insect borne diseases.</a:t>
            </a:r>
          </a:p>
          <a:p>
            <a:pPr marL="0" indent="0">
              <a:buNone/>
            </a:pPr>
            <a:r>
              <a:rPr lang="en-US" dirty="0"/>
              <a:t>(4) Frequency of illness due to overcrowding. </a:t>
            </a:r>
          </a:p>
          <a:p>
            <a:pPr marL="0" indent="0">
              <a:buNone/>
            </a:pPr>
            <a:r>
              <a:rPr lang="en-US" dirty="0"/>
              <a:t>(5) Frequency of illness due to accidents. </a:t>
            </a:r>
          </a:p>
          <a:p>
            <a:pPr marL="0" indent="0">
              <a:buNone/>
            </a:pPr>
            <a:r>
              <a:rPr lang="en-US" dirty="0"/>
              <a:t>(6) Frequency of illness due to proximity to animals. </a:t>
            </a:r>
          </a:p>
          <a:p>
            <a:pPr marL="0" indent="0">
              <a:buNone/>
            </a:pPr>
            <a:r>
              <a:rPr lang="en-US" dirty="0"/>
              <a:t>(7) Access to medical facility.</a:t>
            </a:r>
            <a:endParaRPr lang="en-IN" dirty="0"/>
          </a:p>
        </p:txBody>
      </p:sp>
    </p:spTree>
    <p:extLst>
      <p:ext uri="{BB962C8B-B14F-4D97-AF65-F5344CB8AC3E}">
        <p14:creationId xmlns:p14="http://schemas.microsoft.com/office/powerpoint/2010/main" val="235658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DBE1D7-82ED-72C0-AA38-C9DB620D4CD4}"/>
              </a:ext>
            </a:extLst>
          </p:cNvPr>
          <p:cNvSpPr>
            <a:spLocks noGrp="1"/>
          </p:cNvSpPr>
          <p:nvPr>
            <p:ph idx="1"/>
          </p:nvPr>
        </p:nvSpPr>
        <p:spPr>
          <a:xfrm>
            <a:off x="838200" y="810491"/>
            <a:ext cx="10515600" cy="5366472"/>
          </a:xfrm>
        </p:spPr>
        <p:txBody>
          <a:bodyPr/>
          <a:lstStyle/>
          <a:p>
            <a:r>
              <a:rPr lang="en-US" dirty="0"/>
              <a:t>Indicators related to comfort: </a:t>
            </a:r>
          </a:p>
          <a:p>
            <a:pPr marL="0" indent="0">
              <a:buNone/>
            </a:pPr>
            <a:r>
              <a:rPr lang="en-US" dirty="0"/>
              <a:t>(1) Thermal comfort </a:t>
            </a:r>
          </a:p>
          <a:p>
            <a:pPr marL="0" indent="0">
              <a:buNone/>
            </a:pPr>
            <a:r>
              <a:rPr lang="en-US" dirty="0"/>
              <a:t>(2) Acoustic comfort </a:t>
            </a:r>
          </a:p>
          <a:p>
            <a:pPr marL="0" indent="0">
              <a:buNone/>
            </a:pPr>
            <a:r>
              <a:rPr lang="en-US" dirty="0"/>
              <a:t>(3) Visual comfort </a:t>
            </a:r>
          </a:p>
          <a:p>
            <a:pPr marL="0" indent="0">
              <a:buNone/>
            </a:pPr>
            <a:r>
              <a:rPr lang="en-US" dirty="0"/>
              <a:t>(4) Spatial comfort</a:t>
            </a:r>
          </a:p>
          <a:p>
            <a:pPr marL="0" indent="0">
              <a:buNone/>
            </a:pPr>
            <a:endParaRPr lang="en-US" dirty="0"/>
          </a:p>
          <a:p>
            <a:r>
              <a:rPr lang="en-US" dirty="0"/>
              <a:t>Indicators related to mental health and social well-being </a:t>
            </a:r>
          </a:p>
          <a:p>
            <a:pPr marL="0" indent="0">
              <a:buNone/>
            </a:pPr>
            <a:r>
              <a:rPr lang="en-US" dirty="0"/>
              <a:t>(1) Frequency of suicides in the neighborhood </a:t>
            </a:r>
          </a:p>
          <a:p>
            <a:pPr marL="0" indent="0">
              <a:buNone/>
            </a:pPr>
            <a:r>
              <a:rPr lang="en-US" dirty="0"/>
              <a:t>(2) Neglected and abandoned youth in the neighborhood </a:t>
            </a:r>
          </a:p>
          <a:p>
            <a:pPr marL="0" indent="0">
              <a:buNone/>
            </a:pPr>
            <a:r>
              <a:rPr lang="en-US" dirty="0"/>
              <a:t>(3) Drug abuse (including alcohol) in the neighborhood</a:t>
            </a:r>
            <a:endParaRPr lang="en-IN" dirty="0"/>
          </a:p>
        </p:txBody>
      </p:sp>
    </p:spTree>
    <p:extLst>
      <p:ext uri="{BB962C8B-B14F-4D97-AF65-F5344CB8AC3E}">
        <p14:creationId xmlns:p14="http://schemas.microsoft.com/office/powerpoint/2010/main" val="1815614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761A-C7E3-DA4B-42B9-18CF6EC3DBD2}"/>
              </a:ext>
            </a:extLst>
          </p:cNvPr>
          <p:cNvSpPr>
            <a:spLocks noGrp="1"/>
          </p:cNvSpPr>
          <p:nvPr>
            <p:ph type="title"/>
          </p:nvPr>
        </p:nvSpPr>
        <p:spPr/>
        <p:txBody>
          <a:bodyPr/>
          <a:lstStyle/>
          <a:p>
            <a:r>
              <a:rPr lang="en-US" b="1" dirty="0"/>
              <a:t>Public policy</a:t>
            </a:r>
            <a:endParaRPr lang="en-IN" b="1" dirty="0"/>
          </a:p>
        </p:txBody>
      </p:sp>
      <p:sp>
        <p:nvSpPr>
          <p:cNvPr id="3" name="Content Placeholder 2">
            <a:extLst>
              <a:ext uri="{FF2B5EF4-FFF2-40B4-BE49-F238E27FC236}">
                <a16:creationId xmlns:a16="http://schemas.microsoft.com/office/drawing/2014/main" id="{6BED304A-1155-A318-F0F2-F4C1047D1CD3}"/>
              </a:ext>
            </a:extLst>
          </p:cNvPr>
          <p:cNvSpPr>
            <a:spLocks noGrp="1"/>
          </p:cNvSpPr>
          <p:nvPr>
            <p:ph idx="1"/>
          </p:nvPr>
        </p:nvSpPr>
        <p:spPr/>
        <p:txBody>
          <a:bodyPr>
            <a:normAutofit lnSpcReduction="10000"/>
          </a:bodyPr>
          <a:lstStyle/>
          <a:p>
            <a:r>
              <a:rPr lang="en-US" dirty="0"/>
              <a:t>In every country where housing conditions in general are unsatisfactory the need for government intervention has been recognized. </a:t>
            </a:r>
          </a:p>
          <a:p>
            <a:r>
              <a:rPr lang="en-US" dirty="0"/>
              <a:t>The approach to public policy on housing in India is indicated in the Five Year Plans. In 1952, a separate Ministry of Works and Housing was created at the Centre. </a:t>
            </a:r>
          </a:p>
          <a:p>
            <a:r>
              <a:rPr lang="en-US" dirty="0"/>
              <a:t>The Government Housing </a:t>
            </a:r>
            <a:r>
              <a:rPr lang="en-US" dirty="0" err="1"/>
              <a:t>Programmes</a:t>
            </a:r>
            <a:r>
              <a:rPr lang="en-US" dirty="0"/>
              <a:t> consists of two categories - public sector housing and social housing schemes. </a:t>
            </a:r>
          </a:p>
          <a:p>
            <a:r>
              <a:rPr lang="en-US" dirty="0"/>
              <a:t>The former provides mainly for government employees, while the latter attempts to provide assistance particularly to low and middle income groups through various housing schemes. </a:t>
            </a:r>
            <a:endParaRPr lang="en-IN" dirty="0"/>
          </a:p>
        </p:txBody>
      </p:sp>
    </p:spTree>
    <p:extLst>
      <p:ext uri="{BB962C8B-B14F-4D97-AF65-F5344CB8AC3E}">
        <p14:creationId xmlns:p14="http://schemas.microsoft.com/office/powerpoint/2010/main" val="2257523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F13684-9061-75B1-03B2-DB4B13BD597C}"/>
              </a:ext>
            </a:extLst>
          </p:cNvPr>
          <p:cNvSpPr>
            <a:spLocks noGrp="1"/>
          </p:cNvSpPr>
          <p:nvPr>
            <p:ph idx="1"/>
          </p:nvPr>
        </p:nvSpPr>
        <p:spPr>
          <a:xfrm>
            <a:off x="838200" y="623455"/>
            <a:ext cx="10515600" cy="5553508"/>
          </a:xfrm>
        </p:spPr>
        <p:txBody>
          <a:bodyPr>
            <a:normAutofit/>
          </a:bodyPr>
          <a:lstStyle/>
          <a:p>
            <a:r>
              <a:rPr lang="en-US" b="1" dirty="0"/>
              <a:t>House site and construction assistance </a:t>
            </a:r>
            <a:r>
              <a:rPr lang="en-US" dirty="0"/>
              <a:t>: The scheme was included in the State Sector as a part of Minimum Needs </a:t>
            </a:r>
            <a:r>
              <a:rPr lang="en-US" dirty="0" err="1"/>
              <a:t>Programme</a:t>
            </a:r>
            <a:r>
              <a:rPr lang="en-US" dirty="0"/>
              <a:t> and formed the core of the rural housing </a:t>
            </a:r>
            <a:r>
              <a:rPr lang="en-US" dirty="0" err="1"/>
              <a:t>programme</a:t>
            </a:r>
            <a:r>
              <a:rPr lang="en-US" dirty="0"/>
              <a:t> during Seventh and subsequent Five Year Plans. </a:t>
            </a:r>
          </a:p>
          <a:p>
            <a:r>
              <a:rPr lang="en-US" dirty="0"/>
              <a:t>This scheme has two components - provision of free house sites and construction assistance with varying proportion of subsidy and loan in different states. Construction assistance is planned to benefit 3.5 million families directly as part of MNP. </a:t>
            </a:r>
          </a:p>
          <a:p>
            <a:r>
              <a:rPr lang="en-US" b="1" dirty="0"/>
              <a:t>Indira </a:t>
            </a:r>
            <a:r>
              <a:rPr lang="en-US" b="1" dirty="0" err="1"/>
              <a:t>Awas</a:t>
            </a:r>
            <a:r>
              <a:rPr lang="en-US" b="1" dirty="0"/>
              <a:t> Yojana (IAY) </a:t>
            </a:r>
            <a:r>
              <a:rPr lang="en-US" dirty="0"/>
              <a:t>: The Indira </a:t>
            </a:r>
            <a:r>
              <a:rPr lang="en-US" dirty="0" err="1"/>
              <a:t>Awas</a:t>
            </a:r>
            <a:r>
              <a:rPr lang="en-US" dirty="0"/>
              <a:t> Yojana was introduced in the Central Sector in 1985-86 as part of the Rural Landless Employment Guarantee </a:t>
            </a:r>
            <a:r>
              <a:rPr lang="en-US" dirty="0" err="1"/>
              <a:t>Programme</a:t>
            </a:r>
            <a:r>
              <a:rPr lang="en-US" dirty="0"/>
              <a:t>. This type of houses have one room, one kitchen attached with latrine, bathroom and a smokeless </a:t>
            </a:r>
            <a:r>
              <a:rPr lang="en-US" dirty="0" err="1"/>
              <a:t>chullah</a:t>
            </a:r>
            <a:endParaRPr lang="en-IN" dirty="0"/>
          </a:p>
        </p:txBody>
      </p:sp>
    </p:spTree>
    <p:extLst>
      <p:ext uri="{BB962C8B-B14F-4D97-AF65-F5344CB8AC3E}">
        <p14:creationId xmlns:p14="http://schemas.microsoft.com/office/powerpoint/2010/main" val="510204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28810-FB6D-4550-E703-49226D1C2875}"/>
              </a:ext>
            </a:extLst>
          </p:cNvPr>
          <p:cNvSpPr>
            <a:spLocks noGrp="1"/>
          </p:cNvSpPr>
          <p:nvPr>
            <p:ph type="title"/>
          </p:nvPr>
        </p:nvSpPr>
        <p:spPr>
          <a:xfrm>
            <a:off x="838200" y="365125"/>
            <a:ext cx="10515600" cy="684357"/>
          </a:xfrm>
        </p:spPr>
        <p:txBody>
          <a:bodyPr>
            <a:normAutofit fontScale="90000"/>
          </a:bodyPr>
          <a:lstStyle/>
          <a:p>
            <a:r>
              <a:rPr lang="en-US" b="1" dirty="0"/>
              <a:t>SOLID WASTES</a:t>
            </a:r>
            <a:endParaRPr lang="en-IN" b="1" dirty="0"/>
          </a:p>
        </p:txBody>
      </p:sp>
      <p:sp>
        <p:nvSpPr>
          <p:cNvPr id="3" name="Content Placeholder 2">
            <a:extLst>
              <a:ext uri="{FF2B5EF4-FFF2-40B4-BE49-F238E27FC236}">
                <a16:creationId xmlns:a16="http://schemas.microsoft.com/office/drawing/2014/main" id="{A3EBA417-56A3-A74F-B38E-30E820E2E748}"/>
              </a:ext>
            </a:extLst>
          </p:cNvPr>
          <p:cNvSpPr>
            <a:spLocks noGrp="1"/>
          </p:cNvSpPr>
          <p:nvPr>
            <p:ph idx="1"/>
          </p:nvPr>
        </p:nvSpPr>
        <p:spPr>
          <a:xfrm>
            <a:off x="838200" y="1194955"/>
            <a:ext cx="10515600" cy="5538353"/>
          </a:xfrm>
        </p:spPr>
        <p:txBody>
          <a:bodyPr>
            <a:normAutofit lnSpcReduction="10000"/>
          </a:bodyPr>
          <a:lstStyle/>
          <a:p>
            <a:r>
              <a:rPr lang="en-US" dirty="0"/>
              <a:t>The term “solid wastes” includes garbage (food wastes) rubbish (paper, plastics, wood, metal, throw-away containers, glass), demolition products (bricks, masonry, pipes), sewage treatment residue (sludge and solids from the coarse screening of domestic sewage), dead animals, manure and other discarded material.</a:t>
            </a:r>
          </a:p>
          <a:p>
            <a:r>
              <a:rPr lang="en-US" dirty="0"/>
              <a:t>Solid waste, if allowed to accumulate, is a health hazard because:</a:t>
            </a:r>
          </a:p>
          <a:p>
            <a:pPr marL="0" indent="0">
              <a:buNone/>
            </a:pPr>
            <a:r>
              <a:rPr lang="en-US" dirty="0"/>
              <a:t>a. it decomposes and </a:t>
            </a:r>
            <a:r>
              <a:rPr lang="en-US" dirty="0" err="1"/>
              <a:t>favours</a:t>
            </a:r>
            <a:r>
              <a:rPr lang="en-US" dirty="0"/>
              <a:t> fly breeding </a:t>
            </a:r>
          </a:p>
          <a:p>
            <a:pPr marL="0" indent="0">
              <a:buNone/>
            </a:pPr>
            <a:r>
              <a:rPr lang="en-US" dirty="0"/>
              <a:t>b. it attracts rodents and vermin </a:t>
            </a:r>
          </a:p>
          <a:p>
            <a:pPr marL="0" indent="0">
              <a:buNone/>
            </a:pPr>
            <a:r>
              <a:rPr lang="en-US" dirty="0"/>
              <a:t>c. the pathogens which may be present in the solid waste may be conveyed back to man’s food through flies and dust. </a:t>
            </a:r>
          </a:p>
          <a:p>
            <a:pPr marL="0" indent="0">
              <a:buNone/>
            </a:pPr>
            <a:r>
              <a:rPr lang="en-US" dirty="0"/>
              <a:t>d. there is a possibility of water and soil pollution, and </a:t>
            </a:r>
          </a:p>
          <a:p>
            <a:pPr marL="0" indent="0">
              <a:buNone/>
            </a:pPr>
            <a:r>
              <a:rPr lang="en-US" dirty="0"/>
              <a:t>e. heaps of refuse present an unsightly appearance and nuisance from bad </a:t>
            </a:r>
            <a:r>
              <a:rPr lang="en-US" dirty="0" err="1"/>
              <a:t>odours</a:t>
            </a:r>
            <a:r>
              <a:rPr lang="en-US" dirty="0"/>
              <a:t>.</a:t>
            </a:r>
            <a:endParaRPr lang="en-IN" dirty="0"/>
          </a:p>
        </p:txBody>
      </p:sp>
    </p:spTree>
    <p:extLst>
      <p:ext uri="{BB962C8B-B14F-4D97-AF65-F5344CB8AC3E}">
        <p14:creationId xmlns:p14="http://schemas.microsoft.com/office/powerpoint/2010/main" val="2174805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624EC-65C5-4652-D513-753314DAB940}"/>
              </a:ext>
            </a:extLst>
          </p:cNvPr>
          <p:cNvSpPr>
            <a:spLocks noGrp="1"/>
          </p:cNvSpPr>
          <p:nvPr>
            <p:ph type="title"/>
          </p:nvPr>
        </p:nvSpPr>
        <p:spPr>
          <a:xfrm>
            <a:off x="838200" y="0"/>
            <a:ext cx="10515600" cy="1325563"/>
          </a:xfrm>
        </p:spPr>
        <p:txBody>
          <a:bodyPr/>
          <a:lstStyle/>
          <a:p>
            <a:r>
              <a:rPr lang="en-US" b="1" dirty="0"/>
              <a:t>Sources of refuse</a:t>
            </a:r>
            <a:endParaRPr lang="en-IN" b="1" dirty="0"/>
          </a:p>
        </p:txBody>
      </p:sp>
      <p:sp>
        <p:nvSpPr>
          <p:cNvPr id="3" name="Content Placeholder 2">
            <a:extLst>
              <a:ext uri="{FF2B5EF4-FFF2-40B4-BE49-F238E27FC236}">
                <a16:creationId xmlns:a16="http://schemas.microsoft.com/office/drawing/2014/main" id="{04311E17-016F-FD55-24D6-C8E075C33D3A}"/>
              </a:ext>
            </a:extLst>
          </p:cNvPr>
          <p:cNvSpPr>
            <a:spLocks noGrp="1"/>
          </p:cNvSpPr>
          <p:nvPr>
            <p:ph idx="1"/>
          </p:nvPr>
        </p:nvSpPr>
        <p:spPr>
          <a:xfrm>
            <a:off x="838200" y="1205345"/>
            <a:ext cx="10515600" cy="5288973"/>
          </a:xfrm>
        </p:spPr>
        <p:txBody>
          <a:bodyPr>
            <a:normAutofit/>
          </a:bodyPr>
          <a:lstStyle/>
          <a:p>
            <a:r>
              <a:rPr lang="en-US" dirty="0"/>
              <a:t>(1) Refuse that is </a:t>
            </a:r>
            <a:r>
              <a:rPr lang="en-US" dirty="0">
                <a:highlight>
                  <a:srgbClr val="FFFF00"/>
                </a:highlight>
              </a:rPr>
              <a:t>collected by the street cleansing service </a:t>
            </a:r>
            <a:r>
              <a:rPr lang="en-US" dirty="0"/>
              <a:t>or scavenging is called street refuse. It consists of leaves, straw, paper, animal droppings and litter of all kinds. </a:t>
            </a:r>
          </a:p>
          <a:p>
            <a:r>
              <a:rPr lang="en-US" dirty="0"/>
              <a:t>(2) Refuse that is </a:t>
            </a:r>
            <a:r>
              <a:rPr lang="en-US" dirty="0">
                <a:highlight>
                  <a:srgbClr val="FFFF00"/>
                </a:highlight>
              </a:rPr>
              <a:t>collected from markets is called market refuse</a:t>
            </a:r>
            <a:r>
              <a:rPr lang="en-US" dirty="0"/>
              <a:t>. It contains a large proportion of putrid vegetable and animal matter. </a:t>
            </a:r>
          </a:p>
          <a:p>
            <a:r>
              <a:rPr lang="en-US" dirty="0"/>
              <a:t>(3) Refuse that is collected from </a:t>
            </a:r>
            <a:r>
              <a:rPr lang="en-US" dirty="0">
                <a:highlight>
                  <a:srgbClr val="FFFF00"/>
                </a:highlight>
              </a:rPr>
              <a:t>stables is called stable litter</a:t>
            </a:r>
            <a:r>
              <a:rPr lang="en-US" dirty="0"/>
              <a:t>. It contains mainly animal droppings and left-over animal feeds. </a:t>
            </a:r>
          </a:p>
          <a:p>
            <a:r>
              <a:rPr lang="en-US" dirty="0"/>
              <a:t>(4) Industrial refuse comprises a </a:t>
            </a:r>
            <a:r>
              <a:rPr lang="en-US" dirty="0">
                <a:highlight>
                  <a:srgbClr val="FFFF00"/>
                </a:highlight>
              </a:rPr>
              <a:t>wide variety of wastes ranging from completely inert materials such as calcium carbonate </a:t>
            </a:r>
            <a:r>
              <a:rPr lang="en-US" dirty="0"/>
              <a:t>to highly toxic and explosive compounds. </a:t>
            </a:r>
          </a:p>
          <a:p>
            <a:r>
              <a:rPr lang="en-US" dirty="0"/>
              <a:t>(5) The </a:t>
            </a:r>
            <a:r>
              <a:rPr lang="en-US" dirty="0">
                <a:highlight>
                  <a:srgbClr val="FFFF00"/>
                </a:highlight>
              </a:rPr>
              <a:t>domestic refuse consists of ash, rubbish and garbage.</a:t>
            </a:r>
            <a:r>
              <a:rPr lang="en-US" dirty="0"/>
              <a:t> Ash is the residue from fire used for cooking and heating.</a:t>
            </a:r>
            <a:endParaRPr lang="en-IN" dirty="0"/>
          </a:p>
        </p:txBody>
      </p:sp>
    </p:spTree>
    <p:extLst>
      <p:ext uri="{BB962C8B-B14F-4D97-AF65-F5344CB8AC3E}">
        <p14:creationId xmlns:p14="http://schemas.microsoft.com/office/powerpoint/2010/main" val="3675834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B9E4F-EF36-F527-AEB0-FF6EEEA36E64}"/>
              </a:ext>
            </a:extLst>
          </p:cNvPr>
          <p:cNvSpPr>
            <a:spLocks noGrp="1"/>
          </p:cNvSpPr>
          <p:nvPr>
            <p:ph type="title"/>
          </p:nvPr>
        </p:nvSpPr>
        <p:spPr>
          <a:xfrm>
            <a:off x="838200" y="365125"/>
            <a:ext cx="10515600" cy="622011"/>
          </a:xfrm>
        </p:spPr>
        <p:txBody>
          <a:bodyPr>
            <a:normAutofit fontScale="90000"/>
          </a:bodyPr>
          <a:lstStyle/>
          <a:p>
            <a:r>
              <a:rPr lang="en-US" b="1" dirty="0"/>
              <a:t>Storage</a:t>
            </a:r>
            <a:endParaRPr lang="en-IN" b="1" dirty="0"/>
          </a:p>
        </p:txBody>
      </p:sp>
      <p:sp>
        <p:nvSpPr>
          <p:cNvPr id="3" name="Content Placeholder 2">
            <a:extLst>
              <a:ext uri="{FF2B5EF4-FFF2-40B4-BE49-F238E27FC236}">
                <a16:creationId xmlns:a16="http://schemas.microsoft.com/office/drawing/2014/main" id="{D90C0BDA-02B7-5C83-729D-7E342A71A5E7}"/>
              </a:ext>
            </a:extLst>
          </p:cNvPr>
          <p:cNvSpPr>
            <a:spLocks noGrp="1"/>
          </p:cNvSpPr>
          <p:nvPr>
            <p:ph idx="1"/>
          </p:nvPr>
        </p:nvSpPr>
        <p:spPr>
          <a:xfrm>
            <a:off x="838200" y="1143000"/>
            <a:ext cx="10515600" cy="5349875"/>
          </a:xfrm>
        </p:spPr>
        <p:txBody>
          <a:bodyPr>
            <a:normAutofit fontScale="92500" lnSpcReduction="10000"/>
          </a:bodyPr>
          <a:lstStyle/>
          <a:p>
            <a:r>
              <a:rPr lang="en-US" dirty="0"/>
              <a:t>The first consideration should be given to the proper storage of refuse, while awaiting collection. The galvanized steel dust bin with close fitting cover is a suitable receptacle for storing refuse. </a:t>
            </a:r>
          </a:p>
          <a:p>
            <a:r>
              <a:rPr lang="en-US" dirty="0"/>
              <a:t>The capacity of a bin will depend upon the number of users and frequency of collection. The output of refuse per capita per day in India is estimated to vary from V10 to l/~ </a:t>
            </a:r>
            <a:r>
              <a:rPr lang="en-US" dirty="0" err="1"/>
              <a:t>c.ft</a:t>
            </a:r>
            <a:r>
              <a:rPr lang="en-US" dirty="0"/>
              <a:t>. For a family of 5 members, a bin having a capacity of 5/10 or 1/2 </a:t>
            </a:r>
            <a:r>
              <a:rPr lang="en-US" dirty="0" err="1"/>
              <a:t>c.ft</a:t>
            </a:r>
            <a:r>
              <a:rPr lang="en-US" dirty="0"/>
              <a:t>. would be needed. </a:t>
            </a:r>
          </a:p>
          <a:p>
            <a:r>
              <a:rPr lang="en-US" dirty="0"/>
              <a:t>If collection is done once in 3 days, a bin having a capacity of </a:t>
            </a:r>
            <a:r>
              <a:rPr lang="en-US" dirty="0" err="1"/>
              <a:t>ll</a:t>
            </a:r>
            <a:r>
              <a:rPr lang="en-US" dirty="0"/>
              <a:t>/2 or 2 </a:t>
            </a:r>
            <a:r>
              <a:rPr lang="en-US" dirty="0" err="1"/>
              <a:t>c.ft</a:t>
            </a:r>
            <a:r>
              <a:rPr lang="en-US" dirty="0"/>
              <a:t>. would be adequate. A recent innovation in the western countries is the “paper sack.” </a:t>
            </a:r>
          </a:p>
          <a:p>
            <a:r>
              <a:rPr lang="en-US" dirty="0"/>
              <a:t>Refuse is stored in the paper sack, and the sack itself is removed with the contents for disposal and a new sack is substituted. </a:t>
            </a:r>
          </a:p>
          <a:p>
            <a:r>
              <a:rPr lang="en-US" b="1" dirty="0"/>
              <a:t>Public bins </a:t>
            </a:r>
            <a:r>
              <a:rPr lang="en-US" dirty="0"/>
              <a:t>: Public bins cater tor a larger number of people. They are usually without cover in India because people do not like to touch them</a:t>
            </a:r>
            <a:endParaRPr lang="en-IN" dirty="0"/>
          </a:p>
        </p:txBody>
      </p:sp>
    </p:spTree>
    <p:extLst>
      <p:ext uri="{BB962C8B-B14F-4D97-AF65-F5344CB8AC3E}">
        <p14:creationId xmlns:p14="http://schemas.microsoft.com/office/powerpoint/2010/main" val="715619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0F07B-659E-7D5C-A478-C0AA1F18102C}"/>
              </a:ext>
            </a:extLst>
          </p:cNvPr>
          <p:cNvSpPr>
            <a:spLocks noGrp="1"/>
          </p:cNvSpPr>
          <p:nvPr>
            <p:ph type="title"/>
          </p:nvPr>
        </p:nvSpPr>
        <p:spPr>
          <a:xfrm>
            <a:off x="838200" y="18255"/>
            <a:ext cx="10515600" cy="1325563"/>
          </a:xfrm>
        </p:spPr>
        <p:txBody>
          <a:bodyPr/>
          <a:lstStyle/>
          <a:p>
            <a:r>
              <a:rPr lang="en-US" b="1" dirty="0"/>
              <a:t>Collection</a:t>
            </a:r>
            <a:endParaRPr lang="en-IN" b="1" dirty="0"/>
          </a:p>
        </p:txBody>
      </p:sp>
      <p:sp>
        <p:nvSpPr>
          <p:cNvPr id="3" name="Content Placeholder 2">
            <a:extLst>
              <a:ext uri="{FF2B5EF4-FFF2-40B4-BE49-F238E27FC236}">
                <a16:creationId xmlns:a16="http://schemas.microsoft.com/office/drawing/2014/main" id="{C06716FA-EB28-8500-21C2-7956A6EB397D}"/>
              </a:ext>
            </a:extLst>
          </p:cNvPr>
          <p:cNvSpPr>
            <a:spLocks noGrp="1"/>
          </p:cNvSpPr>
          <p:nvPr>
            <p:ph idx="1"/>
          </p:nvPr>
        </p:nvSpPr>
        <p:spPr>
          <a:xfrm>
            <a:off x="838200" y="1343818"/>
            <a:ext cx="10515600" cy="4833145"/>
          </a:xfrm>
        </p:spPr>
        <p:txBody>
          <a:bodyPr>
            <a:normAutofit fontScale="92500" lnSpcReduction="10000"/>
          </a:bodyPr>
          <a:lstStyle/>
          <a:p>
            <a:r>
              <a:rPr lang="en-US" dirty="0"/>
              <a:t>The method of collection depends upon the funds available. </a:t>
            </a:r>
            <a:r>
              <a:rPr lang="en-US" dirty="0">
                <a:highlight>
                  <a:srgbClr val="FFFF00"/>
                </a:highlight>
              </a:rPr>
              <a:t>House-to-house collection is by far the best method of collecting refuse.</a:t>
            </a:r>
          </a:p>
          <a:p>
            <a:r>
              <a:rPr lang="en-US" dirty="0"/>
              <a:t> Only at some places in the urban areas this kind of facility is available. In majority of places in India, there is no house-to-house collection system. </a:t>
            </a:r>
          </a:p>
          <a:p>
            <a:r>
              <a:rPr lang="en-US" dirty="0"/>
              <a:t>People are expected to dump the refuse in the nearest public bin, which is usually not done. Refuse is dispersed all along the street, and some is thrown out in front and around the house. </a:t>
            </a:r>
          </a:p>
          <a:p>
            <a:r>
              <a:rPr lang="en-US" dirty="0"/>
              <a:t>As a result, an army of sweepers is required for sweeping the streets in addition to the gang for collecting the refuse from public bins. </a:t>
            </a:r>
          </a:p>
          <a:p>
            <a:r>
              <a:rPr lang="en-US" dirty="0"/>
              <a:t>The refuse is then transported in refuse collection vehicles to the place of ultimate disposal. </a:t>
            </a:r>
          </a:p>
          <a:p>
            <a:r>
              <a:rPr lang="en-US" dirty="0"/>
              <a:t>Dead animals are directly transported to the place of disposal.</a:t>
            </a:r>
            <a:endParaRPr lang="en-IN" dirty="0"/>
          </a:p>
        </p:txBody>
      </p:sp>
    </p:spTree>
    <p:extLst>
      <p:ext uri="{BB962C8B-B14F-4D97-AF65-F5344CB8AC3E}">
        <p14:creationId xmlns:p14="http://schemas.microsoft.com/office/powerpoint/2010/main" val="39465543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D2F81-3BB6-945E-A8A7-6DC99B2782D0}"/>
              </a:ext>
            </a:extLst>
          </p:cNvPr>
          <p:cNvSpPr>
            <a:spLocks noGrp="1"/>
          </p:cNvSpPr>
          <p:nvPr>
            <p:ph type="title"/>
          </p:nvPr>
        </p:nvSpPr>
        <p:spPr/>
        <p:txBody>
          <a:bodyPr/>
          <a:lstStyle/>
          <a:p>
            <a:r>
              <a:rPr lang="en-US" b="1" dirty="0"/>
              <a:t>Methods of disposal</a:t>
            </a:r>
            <a:endParaRPr lang="en-IN" b="1" dirty="0"/>
          </a:p>
        </p:txBody>
      </p:sp>
      <p:sp>
        <p:nvSpPr>
          <p:cNvPr id="3" name="Content Placeholder 2">
            <a:extLst>
              <a:ext uri="{FF2B5EF4-FFF2-40B4-BE49-F238E27FC236}">
                <a16:creationId xmlns:a16="http://schemas.microsoft.com/office/drawing/2014/main" id="{2390BE0D-C7CC-3E83-7724-B5EED6836527}"/>
              </a:ext>
            </a:extLst>
          </p:cNvPr>
          <p:cNvSpPr>
            <a:spLocks noGrp="1"/>
          </p:cNvSpPr>
          <p:nvPr>
            <p:ph idx="1"/>
          </p:nvPr>
        </p:nvSpPr>
        <p:spPr>
          <a:xfrm>
            <a:off x="838200" y="1531648"/>
            <a:ext cx="10515600" cy="4618327"/>
          </a:xfrm>
        </p:spPr>
        <p:txBody>
          <a:bodyPr>
            <a:normAutofit fontScale="92500" lnSpcReduction="10000"/>
          </a:bodyPr>
          <a:lstStyle/>
          <a:p>
            <a:r>
              <a:rPr lang="en-US" dirty="0"/>
              <a:t>There is no single method of refuse disposal which is equally suitable in all circumstances. </a:t>
            </a:r>
          </a:p>
          <a:p>
            <a:r>
              <a:rPr lang="en-US" dirty="0"/>
              <a:t>The choice of a particular method is governed by local factors such as cost and availability of land and </a:t>
            </a:r>
            <a:r>
              <a:rPr lang="en-US" dirty="0" err="1"/>
              <a:t>labour</a:t>
            </a:r>
            <a:r>
              <a:rPr lang="en-US" dirty="0"/>
              <a:t>. </a:t>
            </a:r>
          </a:p>
          <a:p>
            <a:r>
              <a:rPr lang="en-US" dirty="0"/>
              <a:t>The principal methods of refuse disposal are </a:t>
            </a:r>
          </a:p>
          <a:p>
            <a:pPr marL="0" indent="0">
              <a:buNone/>
            </a:pPr>
            <a:r>
              <a:rPr lang="en-US" dirty="0"/>
              <a:t>(a) Dumping </a:t>
            </a:r>
          </a:p>
          <a:p>
            <a:pPr marL="0" indent="0">
              <a:buNone/>
            </a:pPr>
            <a:r>
              <a:rPr lang="en-US" dirty="0"/>
              <a:t>(b) Controlled tipping or sanitary land-fill </a:t>
            </a:r>
          </a:p>
          <a:p>
            <a:pPr marL="0" indent="0">
              <a:buNone/>
            </a:pPr>
            <a:r>
              <a:rPr lang="en-US" dirty="0"/>
              <a:t>(c) Incineration </a:t>
            </a:r>
          </a:p>
          <a:p>
            <a:pPr marL="0" indent="0">
              <a:buNone/>
            </a:pPr>
            <a:r>
              <a:rPr lang="en-US" dirty="0"/>
              <a:t>(d) Composting </a:t>
            </a:r>
          </a:p>
          <a:p>
            <a:pPr marL="0" indent="0">
              <a:buNone/>
            </a:pPr>
            <a:r>
              <a:rPr lang="en-US" dirty="0"/>
              <a:t>(e) Manure pits </a:t>
            </a:r>
          </a:p>
          <a:p>
            <a:pPr marL="0" indent="0">
              <a:buNone/>
            </a:pPr>
            <a:r>
              <a:rPr lang="en-US" dirty="0"/>
              <a:t>(f) Burial.</a:t>
            </a:r>
            <a:endParaRPr lang="en-IN" dirty="0"/>
          </a:p>
        </p:txBody>
      </p:sp>
    </p:spTree>
    <p:extLst>
      <p:ext uri="{BB962C8B-B14F-4D97-AF65-F5344CB8AC3E}">
        <p14:creationId xmlns:p14="http://schemas.microsoft.com/office/powerpoint/2010/main" val="4164345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457BE-B138-E943-D55B-7332CE15693E}"/>
              </a:ext>
            </a:extLst>
          </p:cNvPr>
          <p:cNvSpPr>
            <a:spLocks noGrp="1"/>
          </p:cNvSpPr>
          <p:nvPr>
            <p:ph type="title"/>
          </p:nvPr>
        </p:nvSpPr>
        <p:spPr>
          <a:xfrm>
            <a:off x="838200" y="365126"/>
            <a:ext cx="10515600" cy="767484"/>
          </a:xfrm>
        </p:spPr>
        <p:txBody>
          <a:bodyPr/>
          <a:lstStyle/>
          <a:p>
            <a:r>
              <a:rPr lang="en-US" b="1" dirty="0"/>
              <a:t> Dumping </a:t>
            </a:r>
            <a:endParaRPr lang="en-IN" b="1" dirty="0"/>
          </a:p>
        </p:txBody>
      </p:sp>
      <p:sp>
        <p:nvSpPr>
          <p:cNvPr id="3" name="Content Placeholder 2">
            <a:extLst>
              <a:ext uri="{FF2B5EF4-FFF2-40B4-BE49-F238E27FC236}">
                <a16:creationId xmlns:a16="http://schemas.microsoft.com/office/drawing/2014/main" id="{7F31D6AC-9177-CFD0-24F6-98834E61C29F}"/>
              </a:ext>
            </a:extLst>
          </p:cNvPr>
          <p:cNvSpPr>
            <a:spLocks noGrp="1"/>
          </p:cNvSpPr>
          <p:nvPr>
            <p:ph idx="1"/>
          </p:nvPr>
        </p:nvSpPr>
        <p:spPr>
          <a:xfrm>
            <a:off x="838200" y="1215736"/>
            <a:ext cx="10515600" cy="5413663"/>
          </a:xfrm>
        </p:spPr>
        <p:txBody>
          <a:bodyPr>
            <a:normAutofit fontScale="85000" lnSpcReduction="10000"/>
          </a:bodyPr>
          <a:lstStyle/>
          <a:p>
            <a:r>
              <a:rPr lang="en-US" dirty="0"/>
              <a:t>Refuse is dumped in low lying areas partly as a method of reclamation of land but mainly as an easy method of disposal of dry refuse. </a:t>
            </a:r>
          </a:p>
          <a:p>
            <a:r>
              <a:rPr lang="en-US" dirty="0"/>
              <a:t>As a result of bacterial action, refuse decreases considerably in volume and is converted gradually into humus. </a:t>
            </a:r>
          </a:p>
          <a:p>
            <a:r>
              <a:rPr lang="en-US" dirty="0"/>
              <a:t>Kolkata disposes of its refuse by dumping and the reclaimed land is leased out for cultivation. </a:t>
            </a:r>
          </a:p>
          <a:p>
            <a:r>
              <a:rPr lang="en-US" dirty="0"/>
              <a:t>The drawbacks of open dumping are : </a:t>
            </a:r>
          </a:p>
          <a:p>
            <a:pPr marL="0" indent="0">
              <a:buNone/>
            </a:pPr>
            <a:r>
              <a:rPr lang="en-US" u="sng" dirty="0"/>
              <a:t>(1) the refuse is exposed to flies and rodents, </a:t>
            </a:r>
          </a:p>
          <a:p>
            <a:pPr marL="0" indent="0">
              <a:buNone/>
            </a:pPr>
            <a:r>
              <a:rPr lang="en-US" u="sng" dirty="0"/>
              <a:t>(2) it is a source of nuisance from the smell and unsightly appearance, </a:t>
            </a:r>
          </a:p>
          <a:p>
            <a:pPr marL="0" indent="0">
              <a:buNone/>
            </a:pPr>
            <a:r>
              <a:rPr lang="en-US" u="sng" dirty="0"/>
              <a:t>(3) the loose refuse is dispersed by the action of the wind, and </a:t>
            </a:r>
          </a:p>
          <a:p>
            <a:pPr marL="0" indent="0">
              <a:buNone/>
            </a:pPr>
            <a:r>
              <a:rPr lang="en-US" u="sng" dirty="0"/>
              <a:t>(4) drainage from dumps contributes to the pollution of surface and ground water</a:t>
            </a:r>
            <a:r>
              <a:rPr lang="en-US" dirty="0"/>
              <a:t>. </a:t>
            </a:r>
          </a:p>
          <a:p>
            <a:r>
              <a:rPr lang="en-US" dirty="0"/>
              <a:t>A WHO Expert Committee (1967) condemned dumping as “a most insanitary method that creates public health hazards, a nuisance, and severe pollution of the environment”. Dumping should be outlawed and replaced by sound procedures</a:t>
            </a:r>
            <a:endParaRPr lang="en-IN" dirty="0"/>
          </a:p>
        </p:txBody>
      </p:sp>
    </p:spTree>
    <p:extLst>
      <p:ext uri="{BB962C8B-B14F-4D97-AF65-F5344CB8AC3E}">
        <p14:creationId xmlns:p14="http://schemas.microsoft.com/office/powerpoint/2010/main" val="27824000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nt">
            <a:extLst>
              <a:ext uri="{FF2B5EF4-FFF2-40B4-BE49-F238E27FC236}">
                <a16:creationId xmlns:a16="http://schemas.microsoft.com/office/drawing/2014/main" id="{E227FAA5-3AEE-5FAC-A51F-1C5B56273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0"/>
            <a:ext cx="12193117"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useBgFill="1">
        <p:nvSpPr>
          <p:cNvPr id="9" name="Rectangle 8">
            <a:extLst>
              <a:ext uri="{FF2B5EF4-FFF2-40B4-BE49-F238E27FC236}">
                <a16:creationId xmlns:a16="http://schemas.microsoft.com/office/drawing/2014/main" id="{7755296F-825A-94F5-83F9-11CE0B008C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6" y="8301"/>
            <a:ext cx="12193116" cy="4570514"/>
          </a:xfrm>
          <a:prstGeom prst="rect">
            <a:avLst/>
          </a:prstGeom>
          <a:ln>
            <a:noFill/>
          </a:ln>
          <a:effectLst>
            <a:outerShdw blurRad="228600" dist="152400" dir="5460000" sx="94000" sy="94000" algn="t"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a:ea typeface="+mn-ea"/>
              <a:cs typeface="+mn-cs"/>
            </a:endParaRPr>
          </a:p>
        </p:txBody>
      </p:sp>
      <p:sp>
        <p:nvSpPr>
          <p:cNvPr id="2" name="Title 1">
            <a:extLst>
              <a:ext uri="{FF2B5EF4-FFF2-40B4-BE49-F238E27FC236}">
                <a16:creationId xmlns:a16="http://schemas.microsoft.com/office/drawing/2014/main" id="{04EB0898-2D80-7C2A-3DD6-9BE554783384}"/>
              </a:ext>
            </a:extLst>
          </p:cNvPr>
          <p:cNvSpPr>
            <a:spLocks noGrp="1"/>
          </p:cNvSpPr>
          <p:nvPr>
            <p:ph type="title"/>
          </p:nvPr>
        </p:nvSpPr>
        <p:spPr>
          <a:xfrm>
            <a:off x="768096" y="777240"/>
            <a:ext cx="9753600" cy="2853210"/>
          </a:xfrm>
        </p:spPr>
        <p:txBody>
          <a:bodyPr vert="horz" lIns="91440" tIns="45720" rIns="91440" bIns="45720" rtlCol="0" anchor="t">
            <a:normAutofit/>
          </a:bodyPr>
          <a:lstStyle/>
          <a:p>
            <a:r>
              <a:rPr lang="en-US" sz="5400" kern="1200">
                <a:solidFill>
                  <a:schemeClr val="tx1"/>
                </a:solidFill>
                <a:latin typeface="+mj-lt"/>
                <a:ea typeface="+mj-ea"/>
                <a:cs typeface="+mj-cs"/>
              </a:rPr>
              <a:t>Thank you</a:t>
            </a:r>
          </a:p>
        </p:txBody>
      </p:sp>
    </p:spTree>
    <p:extLst>
      <p:ext uri="{BB962C8B-B14F-4D97-AF65-F5344CB8AC3E}">
        <p14:creationId xmlns:p14="http://schemas.microsoft.com/office/powerpoint/2010/main" val="737317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TotalTime>
  <Words>3521</Words>
  <Application>Microsoft Office PowerPoint</Application>
  <PresentationFormat>Widescreen</PresentationFormat>
  <Paragraphs>194</Paragraphs>
  <Slides>35</Slides>
  <Notes>0</Notes>
  <HiddenSlides>0</HiddenSlides>
  <MMClips>1</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35</vt:i4>
      </vt:variant>
    </vt:vector>
  </HeadingPairs>
  <TitlesOfParts>
    <vt:vector size="41" baseType="lpstr">
      <vt:lpstr>Aptos</vt:lpstr>
      <vt:lpstr>Aptos Display</vt:lpstr>
      <vt:lpstr>Arial</vt:lpstr>
      <vt:lpstr>Times New Roman</vt:lpstr>
      <vt:lpstr>Office Theme</vt:lpstr>
      <vt:lpstr>1_Office Theme</vt:lpstr>
      <vt:lpstr>Housing</vt:lpstr>
      <vt:lpstr>HOUSING</vt:lpstr>
      <vt:lpstr>HOUSING</vt:lpstr>
      <vt:lpstr>Social goals of housing</vt:lpstr>
      <vt:lpstr>Social goals of housing</vt:lpstr>
      <vt:lpstr>PowerPoint Presentation</vt:lpstr>
      <vt:lpstr>CRITERIA FOR HEALTHFUL HOUSING</vt:lpstr>
      <vt:lpstr>CRITERIA FOR HEALTHFUL HOUSING</vt:lpstr>
      <vt:lpstr>Housing standards : Site</vt:lpstr>
      <vt:lpstr>PowerPoint Presentation</vt:lpstr>
      <vt:lpstr>Floor</vt:lpstr>
      <vt:lpstr>Walls</vt:lpstr>
      <vt:lpstr>PowerPoint Presentation</vt:lpstr>
      <vt:lpstr>PowerPoint Presentation</vt:lpstr>
      <vt:lpstr>PowerPoint Presentation</vt:lpstr>
      <vt:lpstr>PowerPoint Presentation</vt:lpstr>
      <vt:lpstr>Rural housing</vt:lpstr>
      <vt:lpstr>Rural housing</vt:lpstr>
      <vt:lpstr>Housing and health</vt:lpstr>
      <vt:lpstr>PowerPoint Presentation</vt:lpstr>
      <vt:lpstr>Overcrowding</vt:lpstr>
      <vt:lpstr>PowerPoint Presentation</vt:lpstr>
      <vt:lpstr>PowerPoint Presentation</vt:lpstr>
      <vt:lpstr>Indicators of housing</vt:lpstr>
      <vt:lpstr>PowerPoint Presentation</vt:lpstr>
      <vt:lpstr>PowerPoint Presentation</vt:lpstr>
      <vt:lpstr>Public policy</vt:lpstr>
      <vt:lpstr>PowerPoint Presentation</vt:lpstr>
      <vt:lpstr>SOLID WASTES</vt:lpstr>
      <vt:lpstr>Sources of refuse</vt:lpstr>
      <vt:lpstr>Storage</vt:lpstr>
      <vt:lpstr>Collection</vt:lpstr>
      <vt:lpstr>Methods of disposal</vt:lpstr>
      <vt:lpstr> Dumping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2</cp:revision>
  <dcterms:created xsi:type="dcterms:W3CDTF">2024-08-28T19:12:17Z</dcterms:created>
  <dcterms:modified xsi:type="dcterms:W3CDTF">2024-08-28T22:39:07Z</dcterms:modified>
</cp:coreProperties>
</file>