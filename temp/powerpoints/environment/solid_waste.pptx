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311" r:id="rId3"/>
    <p:sldId id="312" r:id="rId4"/>
    <p:sldId id="313" r:id="rId5"/>
    <p:sldId id="314" r:id="rId6"/>
    <p:sldId id="315" r:id="rId7"/>
    <p:sldId id="316" r:id="rId8"/>
    <p:sldId id="317" r:id="rId9"/>
    <p:sldId id="318" r:id="rId10"/>
    <p:sldId id="319" r:id="rId11"/>
    <p:sldId id="320" r:id="rId12"/>
    <p:sldId id="321" r:id="rId13"/>
    <p:sldId id="323" r:id="rId14"/>
    <p:sldId id="322" r:id="rId15"/>
    <p:sldId id="324" r:id="rId16"/>
    <p:sldId id="325" r:id="rId17"/>
    <p:sldId id="326" r:id="rId18"/>
    <p:sldId id="327" r:id="rId19"/>
    <p:sldId id="328" r:id="rId20"/>
    <p:sldId id="329" r:id="rId21"/>
    <p:sldId id="330" r:id="rId22"/>
    <p:sldId id="331" r:id="rId23"/>
    <p:sldId id="332" r:id="rId24"/>
    <p:sldId id="333" r:id="rId25"/>
    <p:sldId id="334" r:id="rId26"/>
    <p:sldId id="335" r:id="rId27"/>
    <p:sldId id="337" r:id="rId28"/>
    <p:sldId id="33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2" autoAdjust="0"/>
    <p:restoredTop sz="94660"/>
  </p:normalViewPr>
  <p:slideViewPr>
    <p:cSldViewPr snapToGrid="0">
      <p:cViewPr>
        <p:scale>
          <a:sx n="66" d="100"/>
          <a:sy n="66" d="100"/>
        </p:scale>
        <p:origin x="48" y="12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8F72BA41-EC5B-4197-BCC8-0FD2E523CD7A}" type="datetimeFigureOut">
              <a:rPr lang="en-US" smtClean="0"/>
              <a:t>9/5/2024</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41184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F72BA41-EC5B-4197-BCC8-0FD2E523CD7A}" type="datetimeFigureOut">
              <a:rPr lang="en-US" smtClean="0"/>
              <a:t>9/5/2024</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935144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69DB7AC-F7D7-430A-A2A7-CD3EBBF1D35D}"/>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66AAF10E-F092-4160-BF4A-FF568555B790}"/>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341C04-9B94-4385-A661-7B8C17000497}"/>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C1D709-6A0F-409C-B2D0-C248E562265E}"/>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9BE53-BA11-4B67-BFBB-6281DB50C75D}"/>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662D93-31C1-4DFB-A938-E631F89AA9F0}"/>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ECC8DA-0BEC-4508-89D4-12FA35B481F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DC8E6C-1B78-4B89-82DD-BBA778CD1482}"/>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E5F54A-0315-4B15-B865-1F0460526260}"/>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D7F352-DE39-4835-8D3F-69CDEC490F1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D6F20A-F777-4F41-B23B-735A64FA5DA3}"/>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1BBADBA-0F74-418B-BC50-AD44596C3EF8}"/>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18BE26-88E5-457C-8095-745F34D1536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B269E0-E058-4340-B93D-7D40FFF521F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DD9AEE-5501-4385-B339-4616F567B53D}"/>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9C61-8926-4C98-882B-AB90108C8386}"/>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585F9-B633-4F7E-AADE-75079DC17158}"/>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DC6366-5525-4FBC-9886-D4409F6B2993}"/>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C03CF9-098C-4140-806A-023D3DC3F2E3}"/>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C41BC4-89DF-4EC4-A141-9EF16D8EEB5B}"/>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2AD067-E64C-499E-9C0A-A7252587441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53DD54-FA2B-4B91-A94E-3C46AE21B38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6AC204-156B-442E-B028-01036BD1F26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03512DE-F013-431A-9F6E-ADDA88FB2DD5}"/>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95FEE1-61A9-4065-B9F8-5589180AC62B}"/>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28AA59-C1FA-46C0-BFDD-1C1D3404C81C}"/>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5C99EE-B791-470A-8639-0357A751EB43}"/>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4F4204-F48B-4AF5-B11E-0CE7D972AC3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6643FE-3966-4B82-9623-C61A56EDD20C}"/>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D769C5-B1B1-45BD-A40A-67E6568C843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511707-50C7-48B2-81F7-5C82BF57795C}"/>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8D44F3-CCFE-48A0-8414-FFF5E43D9184}"/>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126FE0-8204-40BB-AD46-4A0C7A47514C}"/>
              </a:ext>
            </a:extLst>
          </p:cNvPr>
          <p:cNvSpPr>
            <a:spLocks noGrp="1"/>
          </p:cNvSpPr>
          <p:nvPr>
            <p:ph type="title"/>
          </p:nvPr>
        </p:nvSpPr>
        <p:spPr>
          <a:xfrm>
            <a:off x="691078" y="718115"/>
            <a:ext cx="10312571" cy="278150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25E350-4200-419C-A167-527DD6B77792}"/>
              </a:ext>
            </a:extLst>
          </p:cNvPr>
          <p:cNvSpPr>
            <a:spLocks noGrp="1"/>
          </p:cNvSpPr>
          <p:nvPr>
            <p:ph type="body" idx="1"/>
          </p:nvPr>
        </p:nvSpPr>
        <p:spPr>
          <a:xfrm>
            <a:off x="691078" y="3753350"/>
            <a:ext cx="10312571" cy="1991572"/>
          </a:xfrm>
        </p:spPr>
        <p:txBody>
          <a:bodyPr/>
          <a:lstStyle>
            <a:lvl1pPr marL="0" indent="0">
              <a:buNone/>
              <a:defRPr lang="en-US" sz="2400" kern="1200" smtClean="0">
                <a:solidFill>
                  <a:schemeClr val="tx2"/>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9" name="Right Triangle 38">
            <a:extLst>
              <a:ext uri="{FF2B5EF4-FFF2-40B4-BE49-F238E27FC236}">
                <a16:creationId xmlns:a16="http://schemas.microsoft.com/office/drawing/2014/main" id="{6741F519-22CF-4C01-B140-5480DBAB30F8}"/>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D05D1550-9064-4767-B70A-3501AF956C94}"/>
              </a:ext>
            </a:extLst>
          </p:cNvPr>
          <p:cNvSpPr>
            <a:spLocks noGrp="1"/>
          </p:cNvSpPr>
          <p:nvPr>
            <p:ph type="dt" sz="half" idx="10"/>
          </p:nvPr>
        </p:nvSpPr>
        <p:spPr/>
        <p:txBody>
          <a:bodyPr/>
          <a:lstStyle/>
          <a:p>
            <a:fld id="{8F72BA41-EC5B-4197-BCC8-0FD2E523CD7A}" type="datetimeFigureOut">
              <a:rPr lang="en-US" smtClean="0"/>
              <a:t>9/5/2024</a:t>
            </a:fld>
            <a:endParaRPr lang="en-US"/>
          </a:p>
        </p:txBody>
      </p:sp>
      <p:sp>
        <p:nvSpPr>
          <p:cNvPr id="5" name="Footer Placeholder 4">
            <a:extLst>
              <a:ext uri="{FF2B5EF4-FFF2-40B4-BE49-F238E27FC236}">
                <a16:creationId xmlns:a16="http://schemas.microsoft.com/office/drawing/2014/main" id="{581E1C33-2E8E-4041-9683-12048CB8A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36992-B921-4F3F-9C4A-0D67E618D114}"/>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468929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8" y="722903"/>
            <a:ext cx="10312571" cy="135484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8" y="2345843"/>
            <a:ext cx="500958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8F72BA41-EC5B-4197-BCC8-0FD2E523CD7A}" type="datetimeFigureOut">
              <a:rPr lang="en-US" smtClean="0"/>
              <a:t>9/5/2024</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785713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20E6-CC97-4BD8-92FE-8F36024D0E38}"/>
              </a:ext>
            </a:extLst>
          </p:cNvPr>
          <p:cNvSpPr>
            <a:spLocks noGrp="1"/>
          </p:cNvSpPr>
          <p:nvPr>
            <p:ph type="title"/>
          </p:nvPr>
        </p:nvSpPr>
        <p:spPr>
          <a:xfrm>
            <a:off x="691078" y="722900"/>
            <a:ext cx="10320062" cy="140750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3872FB-EDD5-42FB-8A9A-279EAD4FB0D9}"/>
              </a:ext>
            </a:extLst>
          </p:cNvPr>
          <p:cNvSpPr>
            <a:spLocks noGrp="1"/>
          </p:cNvSpPr>
          <p:nvPr>
            <p:ph type="body" idx="1"/>
          </p:nvPr>
        </p:nvSpPr>
        <p:spPr>
          <a:xfrm>
            <a:off x="691078" y="2331481"/>
            <a:ext cx="4963444"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F28C1-95C8-476A-8D93-D580DD39D8F7}"/>
              </a:ext>
            </a:extLst>
          </p:cNvPr>
          <p:cNvSpPr>
            <a:spLocks noGrp="1"/>
          </p:cNvSpPr>
          <p:nvPr>
            <p:ph sz="half" idx="2"/>
          </p:nvPr>
        </p:nvSpPr>
        <p:spPr>
          <a:xfrm>
            <a:off x="691078" y="2954564"/>
            <a:ext cx="4963444"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4315485-EE1A-41B0-873A-BA9D06E88BFD}"/>
              </a:ext>
            </a:extLst>
          </p:cNvPr>
          <p:cNvSpPr>
            <a:spLocks noGrp="1"/>
          </p:cNvSpPr>
          <p:nvPr>
            <p:ph type="body" sz="quarter" idx="3"/>
          </p:nvPr>
        </p:nvSpPr>
        <p:spPr>
          <a:xfrm>
            <a:off x="6103351" y="2331481"/>
            <a:ext cx="4900298"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81A6FB-1583-4A1B-A4A7-C65062C57B73}"/>
              </a:ext>
            </a:extLst>
          </p:cNvPr>
          <p:cNvSpPr>
            <a:spLocks noGrp="1"/>
          </p:cNvSpPr>
          <p:nvPr>
            <p:ph sz="quarter" idx="4"/>
          </p:nvPr>
        </p:nvSpPr>
        <p:spPr>
          <a:xfrm>
            <a:off x="6103351" y="2954564"/>
            <a:ext cx="4900298"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A29EA7-E61E-4617-9DA9-40B9299B3287}"/>
              </a:ext>
            </a:extLst>
          </p:cNvPr>
          <p:cNvSpPr>
            <a:spLocks noGrp="1"/>
          </p:cNvSpPr>
          <p:nvPr>
            <p:ph type="dt" sz="half" idx="10"/>
          </p:nvPr>
        </p:nvSpPr>
        <p:spPr>
          <a:xfrm>
            <a:off x="683587" y="6215870"/>
            <a:ext cx="3843779" cy="417126"/>
          </a:xfrm>
        </p:spPr>
        <p:txBody>
          <a:bodyPr/>
          <a:lstStyle/>
          <a:p>
            <a:fld id="{8F72BA41-EC5B-4197-BCC8-0FD2E523CD7A}" type="datetimeFigureOut">
              <a:rPr lang="en-US" smtClean="0"/>
              <a:t>9/5/2024</a:t>
            </a:fld>
            <a:endParaRPr lang="en-US"/>
          </a:p>
        </p:txBody>
      </p:sp>
      <p:sp>
        <p:nvSpPr>
          <p:cNvPr id="8" name="Footer Placeholder 7">
            <a:extLst>
              <a:ext uri="{FF2B5EF4-FFF2-40B4-BE49-F238E27FC236}">
                <a16:creationId xmlns:a16="http://schemas.microsoft.com/office/drawing/2014/main" id="{D56249CC-EB72-46A6-87D9-5FBDA8E450EC}"/>
              </a:ext>
            </a:extLst>
          </p:cNvPr>
          <p:cNvSpPr>
            <a:spLocks noGrp="1"/>
          </p:cNvSpPr>
          <p:nvPr>
            <p:ph type="ftr" sz="quarter" idx="11"/>
          </p:nvPr>
        </p:nvSpPr>
        <p:spPr>
          <a:xfrm>
            <a:off x="691078" y="236364"/>
            <a:ext cx="4114800" cy="417126"/>
          </a:xfrm>
        </p:spPr>
        <p:txBody>
          <a:bodyPr/>
          <a:lstStyle/>
          <a:p>
            <a:endParaRPr lang="en-US" dirty="0"/>
          </a:p>
        </p:txBody>
      </p:sp>
      <p:sp>
        <p:nvSpPr>
          <p:cNvPr id="9" name="Slide Number Placeholder 8">
            <a:extLst>
              <a:ext uri="{FF2B5EF4-FFF2-40B4-BE49-F238E27FC236}">
                <a16:creationId xmlns:a16="http://schemas.microsoft.com/office/drawing/2014/main" id="{EAA04EE7-47BE-4ECE-A170-793C4E56951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804697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946-24AD-40DD-95A7-49BA49C227DF}"/>
              </a:ext>
            </a:extLst>
          </p:cNvPr>
          <p:cNvSpPr>
            <a:spLocks noGrp="1"/>
          </p:cNvSpPr>
          <p:nvPr>
            <p:ph type="title"/>
          </p:nvPr>
        </p:nvSpPr>
        <p:spPr>
          <a:xfrm>
            <a:off x="691078" y="722903"/>
            <a:ext cx="10501177" cy="1401231"/>
          </a:xfrm>
        </p:spPr>
        <p:txBody>
          <a:bodyPr/>
          <a:lstStyle>
            <a:lvl1pP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D8CF342-49F6-482D-943E-7E50B1694AE3}"/>
              </a:ext>
            </a:extLst>
          </p:cNvPr>
          <p:cNvSpPr>
            <a:spLocks noGrp="1"/>
          </p:cNvSpPr>
          <p:nvPr>
            <p:ph type="dt" sz="half" idx="10"/>
          </p:nvPr>
        </p:nvSpPr>
        <p:spPr/>
        <p:txBody>
          <a:bodyPr/>
          <a:lstStyle/>
          <a:p>
            <a:fld id="{8F72BA41-EC5B-4197-BCC8-0FD2E523CD7A}" type="datetimeFigureOut">
              <a:rPr lang="en-US" smtClean="0"/>
              <a:t>9/5/2024</a:t>
            </a:fld>
            <a:endParaRPr lang="en-US"/>
          </a:p>
        </p:txBody>
      </p:sp>
      <p:sp>
        <p:nvSpPr>
          <p:cNvPr id="4" name="Footer Placeholder 3">
            <a:extLst>
              <a:ext uri="{FF2B5EF4-FFF2-40B4-BE49-F238E27FC236}">
                <a16:creationId xmlns:a16="http://schemas.microsoft.com/office/drawing/2014/main" id="{064033E5-3797-4FF8-866F-9FD9325A9FAB}"/>
              </a:ext>
            </a:extLst>
          </p:cNvPr>
          <p:cNvSpPr>
            <a:spLocks noGrp="1"/>
          </p:cNvSpPr>
          <p:nvPr>
            <p:ph type="ftr" sz="quarter" idx="11"/>
          </p:nvPr>
        </p:nvSpPr>
        <p:spPr>
          <a:xfrm>
            <a:off x="691078" y="236364"/>
            <a:ext cx="4114800" cy="417126"/>
          </a:xfrm>
        </p:spPr>
        <p:txBody>
          <a:bodyPr/>
          <a:lstStyle/>
          <a:p>
            <a:endParaRPr lang="en-US"/>
          </a:p>
        </p:txBody>
      </p:sp>
      <p:sp>
        <p:nvSpPr>
          <p:cNvPr id="5" name="Slide Number Placeholder 4">
            <a:extLst>
              <a:ext uri="{FF2B5EF4-FFF2-40B4-BE49-F238E27FC236}">
                <a16:creationId xmlns:a16="http://schemas.microsoft.com/office/drawing/2014/main" id="{66DC1E67-424D-4638-98F8-38E71A41001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218967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E0418BE5-560E-4E49-B12D-B555511FED72}"/>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9D1162-73B9-420F-BCBE-95039D00CD24}"/>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BA76FE-316A-48E2-A03B-4E05691C4348}"/>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E678FBC-A6AD-4422-BA24-A4172F8862CA}"/>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3C5C3E-2D08-43F0-AFAC-E15360CA7D3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BEAC62-AF92-4A65-9790-6F6E0C6C5A1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77D7C5-E76E-4E82-BFC4-9A75D2C8089D}"/>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6E0152-96B9-4067-80D3-D9BDE6D7EC9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18AFCC-B9DA-4092-8FBA-2CFEDB0388E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EC7D33-C87E-4812-A722-53C5D99272B5}"/>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F239E3-501A-4C3C-9BE4-6BFA0D3126B7}"/>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62BF3B-95BB-4188-AAE5-015A0EF3D18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4E5F0F-0124-40D0-A0BF-AE307A0E15F4}"/>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ADC3B1-26C7-4CF1-B29D-4D0DEA3E2633}"/>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A7DF6E-1132-4A80-9B18-593B1ACD778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19589-10D8-4A8F-A0B1-F7CE380E3001}"/>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E6BB32-C4F8-4914-88D3-7DC5E79D023E}"/>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046EE-9DBA-4924-A19C-ED8741F5F810}"/>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ABBC44-ABA8-4913-824E-64D344724644}"/>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272B22-1C39-47A0-8551-73666AFBE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DFF66-464C-4ABF-BB01-00500A3B7517}"/>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79FC88-BD3B-4C04-9B90-0FC93C17921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FCAED8-8687-4141-A7C3-0D88ACEDFEC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5038E6-7B32-460F-B804-D6C105FF44C9}"/>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C5DAE85-AD17-454B-AB64-CEFF52FDAB9D}"/>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603643-2066-4967-AE4B-9DA143843B2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7E9533-9B07-43E3-B939-7BADC01FEE86}"/>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CCAAEE-AB2E-4534-893A-3DB109499FB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8BD39A2-970F-4714-AAA6-67EE99A0EAA9}"/>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4A1387-348B-4E46-9B65-FDF76ED0EF20}"/>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5DAF27-A54D-442A-93E4-BA7F04EAE379}"/>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2EA265F-80A1-448D-A6EB-CE8D6F6EC723}"/>
              </a:ext>
            </a:extLst>
          </p:cNvPr>
          <p:cNvSpPr>
            <a:spLocks noGrp="1"/>
          </p:cNvSpPr>
          <p:nvPr>
            <p:ph type="dt" sz="half" idx="10"/>
          </p:nvPr>
        </p:nvSpPr>
        <p:spPr/>
        <p:txBody>
          <a:bodyPr/>
          <a:lstStyle/>
          <a:p>
            <a:fld id="{8F72BA41-EC5B-4197-BCC8-0FD2E523CD7A}" type="datetimeFigureOut">
              <a:rPr lang="en-US" smtClean="0"/>
              <a:t>9/5/2024</a:t>
            </a:fld>
            <a:endParaRPr lang="en-US"/>
          </a:p>
        </p:txBody>
      </p:sp>
      <p:sp>
        <p:nvSpPr>
          <p:cNvPr id="3" name="Footer Placeholder 2">
            <a:extLst>
              <a:ext uri="{FF2B5EF4-FFF2-40B4-BE49-F238E27FC236}">
                <a16:creationId xmlns:a16="http://schemas.microsoft.com/office/drawing/2014/main" id="{4815D00D-89E6-4E7A-9A4D-A8CCEB3BED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2B5AEA-8C38-4776-878C-AB01474D917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665706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0" name="Right Triangle 39">
            <a:extLst>
              <a:ext uri="{FF2B5EF4-FFF2-40B4-BE49-F238E27FC236}">
                <a16:creationId xmlns:a16="http://schemas.microsoft.com/office/drawing/2014/main" id="{C4853C57-22BC-4465-8B37-DC06FE5A0003}"/>
              </a:ext>
              <a:ext uri="{C183D7F6-B498-43B3-948B-1728B52AA6E4}">
                <adec:decorative xmlns:adec="http://schemas.microsoft.com/office/drawing/2017/decorative" val="1"/>
              </a:ext>
            </a:extLst>
          </p:cNvPr>
          <p:cNvSpPr/>
          <p:nvPr/>
        </p:nvSpPr>
        <p:spPr>
          <a:xfrm rot="13500000">
            <a:off x="-281092" y="31448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67C0A6-48E9-4845-9EBF-EF2A3DFD274F}"/>
              </a:ext>
            </a:extLst>
          </p:cNvPr>
          <p:cNvSpPr>
            <a:spLocks noGrp="1"/>
          </p:cNvSpPr>
          <p:nvPr>
            <p:ph type="title"/>
          </p:nvPr>
        </p:nvSpPr>
        <p:spPr>
          <a:xfrm>
            <a:off x="683587" y="713677"/>
            <a:ext cx="4499914" cy="2996581"/>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A8B542-2084-485C-ABFC-94340B4C7E77}"/>
              </a:ext>
            </a:extLst>
          </p:cNvPr>
          <p:cNvSpPr>
            <a:spLocks noGrp="1"/>
          </p:cNvSpPr>
          <p:nvPr>
            <p:ph idx="1"/>
          </p:nvPr>
        </p:nvSpPr>
        <p:spPr>
          <a:xfrm>
            <a:off x="5698672" y="708102"/>
            <a:ext cx="5656716" cy="54306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647791F-9546-470D-A174-D75285263C2C}"/>
              </a:ext>
            </a:extLst>
          </p:cNvPr>
          <p:cNvSpPr>
            <a:spLocks noGrp="1"/>
          </p:cNvSpPr>
          <p:nvPr>
            <p:ph type="body" sz="half" idx="2"/>
          </p:nvPr>
        </p:nvSpPr>
        <p:spPr>
          <a:xfrm>
            <a:off x="683587" y="3976544"/>
            <a:ext cx="4499914" cy="2162201"/>
          </a:xfrm>
        </p:spPr>
        <p:txBody>
          <a:bodyPr>
            <a:normAutofit/>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None/>
            </a:pPr>
            <a:r>
              <a:rPr lang="en-US"/>
              <a:t>Click to edit Master text styles</a:t>
            </a:r>
          </a:p>
        </p:txBody>
      </p:sp>
      <p:grpSp>
        <p:nvGrpSpPr>
          <p:cNvPr id="8" name="Group 7">
            <a:extLst>
              <a:ext uri="{FF2B5EF4-FFF2-40B4-BE49-F238E27FC236}">
                <a16:creationId xmlns:a16="http://schemas.microsoft.com/office/drawing/2014/main" id="{0550D594-9D00-4E12-9A7B-8B78EC19948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C5DEA230-2680-47DD-BD49-FDBF4C1105A5}"/>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BA61D-887F-46F1-B20D-EA4C38D467C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50DFBA-D16D-4AE0-8339-58C4089B94AD}"/>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4AAAA5-CEFC-4C25-91D3-5AE49F720DA5}"/>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D142AD-3FA3-43E4-8A61-61CF1E41568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755A3-93F4-4EC4-9635-7E89E4AF1D3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0BFB588-0AB8-4BD8-9272-1CA867726018}"/>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A6DF3-CF29-4480-A235-EAE88D65A63C}"/>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FF036-365A-4C15-8E15-0D5BBEBCEA58}"/>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5E76FF-4E86-4E42-B67E-B11AAE8D3076}"/>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A64CEE-7CED-4EB2-A414-6F2D91E824F9}"/>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2C571B-47A6-49EB-A29F-678368BAED9F}"/>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60B109-845C-4119-BB66-9887B3859A7D}"/>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8B7447-FF64-42D9-B3C6-2BDC6F547ED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FF9B71-8653-450D-AFBE-2140D586FB5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0B9E5A-C1DA-445C-A911-721DF98DDCDD}"/>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C9A3DC-A478-4469-9359-34A435689F3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DE3299-EED7-4771-A270-F6B02941AD6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34422A-5B59-41DC-8E2A-1A8244580E30}"/>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176117-0990-434B-A9D9-B4B9043C544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D6425E-C84A-462F-98F8-D0AB4FC3AF88}"/>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13AB68-7321-4AC2-AC60-0F417877D07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75CCE-D06F-49D0-8A47-372C5040330B}"/>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D4B374E-EEBC-4A9C-B3B4-B269EC719857}"/>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80A7E6-BBEF-4EF1-B14A-29F26BFCF8E6}"/>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7BC013-9B50-459D-8B8D-F756514A478B}"/>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8964C0-675D-4807-B795-4B695A8F8420}"/>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911512-51A8-4CE7-A043-425C809EB5F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C15D1E-0EDF-4AD7-90C7-3D8D64E645D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265A2D-2A6A-4301-B59F-8BAD98D9A57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A4907F-2D1D-49D1-882D-119AA5E1183B}"/>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AF6A2284-37AB-43F5-98B8-8AB49DBFA9F5}"/>
              </a:ext>
            </a:extLst>
          </p:cNvPr>
          <p:cNvSpPr>
            <a:spLocks noGrp="1"/>
          </p:cNvSpPr>
          <p:nvPr>
            <p:ph type="dt" sz="half" idx="10"/>
          </p:nvPr>
        </p:nvSpPr>
        <p:spPr/>
        <p:txBody>
          <a:bodyPr/>
          <a:lstStyle/>
          <a:p>
            <a:fld id="{8F72BA41-EC5B-4197-BCC8-0FD2E523CD7A}" type="datetimeFigureOut">
              <a:rPr lang="en-US" smtClean="0"/>
              <a:t>9/5/2024</a:t>
            </a:fld>
            <a:endParaRPr lang="en-US"/>
          </a:p>
        </p:txBody>
      </p:sp>
      <p:sp>
        <p:nvSpPr>
          <p:cNvPr id="6" name="Footer Placeholder 5">
            <a:extLst>
              <a:ext uri="{FF2B5EF4-FFF2-40B4-BE49-F238E27FC236}">
                <a16:creationId xmlns:a16="http://schemas.microsoft.com/office/drawing/2014/main" id="{9AD8ABAA-E2F7-4C89-99ED-2C340220D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2EF12-B2CD-4F3C-9F19-A8691540501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59142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DA6865-0A03-48FA-AD6E-D5BF8FDE927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2277E8EB-0DA2-40E4-AD12-1CCD0D262D0B}"/>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BFE9F8-907A-4FFC-9FDE-2B51D238C40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DDC323-8732-4007-BB81-1BE917E3B2FF}"/>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08FC40-8403-438D-95CA-E4EDC66192A9}"/>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11D218-3FEA-4455-9809-91F029FB55AE}"/>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41390F-BE50-4E4E-9DA2-B5F23F1A93D8}"/>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B3F094-97B5-48E1-A4DE-8BEED255028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4DBB43-CB34-4881-9445-A7FE131D5327}"/>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71F972-027A-47F0-996C-84BFE4574050}"/>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41353D-93C8-43F8-BBDE-7AB6B29EC38C}"/>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07B24-CBD8-4F09-81EB-504285F8E11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7873BB-1D79-4055-801C-BDA0F9A1513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08D42B-2F35-497E-A26D-9AF008619D4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F57499-C4D9-4B7D-BADA-38462AA3164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71F2B9-1FFA-4350-9370-B098459A232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FBAFFC-DC8F-4BB4-B405-E4AAA269AED4}"/>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4FCE64-D7A5-411A-8795-932DD39F9520}"/>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B4ECFC-FD43-44CF-B7FA-2A8C5651400F}"/>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FBC12-1E1D-44DE-9966-BAB05B246636}"/>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BEF096-361C-478B-81EB-37584119BFEE}"/>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81993-CE86-4910-B9CE-B69375BDCEE3}"/>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75613D7-9FB0-4D33-8784-EC059DE019C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520AFD9-E849-4F42-99B2-928E6098C29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200B0B-91CD-4D66-ADFC-9585D283103C}"/>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DB0C45-30CE-4C85-95C6-FFF4977C646A}"/>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C31604-5F93-436D-A9D2-A48846D4E0DE}"/>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1B965-7DE1-4AE3-B28B-DB6847BC52CC}"/>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9FB65-4392-4D6A-8ACC-8151F682BFE8}"/>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B40380C-3493-4AFE-BF13-AE68A8D244B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B21DF1-4859-4991-9C10-F8FA68F41013}"/>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4AD212-17DC-4506-AAA0-34A46A0B11C3}"/>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B556E7-762B-4E18-A961-A4F7A9ECF9D8}"/>
              </a:ext>
            </a:extLst>
          </p:cNvPr>
          <p:cNvSpPr>
            <a:spLocks noGrp="1"/>
          </p:cNvSpPr>
          <p:nvPr>
            <p:ph type="title"/>
          </p:nvPr>
        </p:nvSpPr>
        <p:spPr>
          <a:xfrm>
            <a:off x="683587" y="713677"/>
            <a:ext cx="4434823" cy="3020519"/>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B7118AF-C54D-406D-AABE-AED6576D1281}"/>
              </a:ext>
            </a:extLst>
          </p:cNvPr>
          <p:cNvSpPr>
            <a:spLocks noGrp="1"/>
          </p:cNvSpPr>
          <p:nvPr>
            <p:ph type="pic" idx="1"/>
          </p:nvPr>
        </p:nvSpPr>
        <p:spPr>
          <a:xfrm>
            <a:off x="5698672" y="713677"/>
            <a:ext cx="5304977" cy="54306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0" name="Right Triangle 39">
            <a:extLst>
              <a:ext uri="{FF2B5EF4-FFF2-40B4-BE49-F238E27FC236}">
                <a16:creationId xmlns:a16="http://schemas.microsoft.com/office/drawing/2014/main" id="{205CDEB9-8DED-4711-8140-4C943FC2CDA0}"/>
              </a:ext>
              <a:ext uri="{C183D7F6-B498-43B3-948B-1728B52AA6E4}">
                <adec:decorative xmlns:adec="http://schemas.microsoft.com/office/drawing/2017/decorative" val="1"/>
              </a:ext>
            </a:extLst>
          </p:cNvPr>
          <p:cNvSpPr/>
          <p:nvPr/>
        </p:nvSpPr>
        <p:spPr>
          <a:xfrm rot="13500000">
            <a:off x="-281093" y="314330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 Placeholder 3">
            <a:extLst>
              <a:ext uri="{FF2B5EF4-FFF2-40B4-BE49-F238E27FC236}">
                <a16:creationId xmlns:a16="http://schemas.microsoft.com/office/drawing/2014/main" id="{02E13C3F-6360-4760-9477-C3831A6E26EF}"/>
              </a:ext>
            </a:extLst>
          </p:cNvPr>
          <p:cNvSpPr>
            <a:spLocks noGrp="1"/>
          </p:cNvSpPr>
          <p:nvPr>
            <p:ph type="body" sz="half" idx="2"/>
          </p:nvPr>
        </p:nvSpPr>
        <p:spPr>
          <a:xfrm>
            <a:off x="683587" y="3970330"/>
            <a:ext cx="4434823" cy="2173992"/>
          </a:xfrm>
        </p:spPr>
        <p:txBody>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92D3B-60EE-4FC5-9ED7-4445300844CA}"/>
              </a:ext>
            </a:extLst>
          </p:cNvPr>
          <p:cNvSpPr>
            <a:spLocks noGrp="1"/>
          </p:cNvSpPr>
          <p:nvPr>
            <p:ph type="dt" sz="half" idx="10"/>
          </p:nvPr>
        </p:nvSpPr>
        <p:spPr/>
        <p:txBody>
          <a:bodyPr/>
          <a:lstStyle/>
          <a:p>
            <a:fld id="{8F72BA41-EC5B-4197-BCC8-0FD2E523CD7A}" type="datetimeFigureOut">
              <a:rPr lang="en-US" smtClean="0"/>
              <a:t>9/5/2024</a:t>
            </a:fld>
            <a:endParaRPr lang="en-US"/>
          </a:p>
        </p:txBody>
      </p:sp>
      <p:sp>
        <p:nvSpPr>
          <p:cNvPr id="6" name="Footer Placeholder 5">
            <a:extLst>
              <a:ext uri="{FF2B5EF4-FFF2-40B4-BE49-F238E27FC236}">
                <a16:creationId xmlns:a16="http://schemas.microsoft.com/office/drawing/2014/main" id="{5BCF831E-9B19-4936-8BC9-F62A9B118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1E1D1-F7A2-40D0-91DA-07468A9651E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82224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D70F-ACE4-4595-845E-2296BDF83B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78CD9-E0B5-4B48-8366-91E6D22C9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AF4B4-44D3-4E29-B235-A1B868207789}"/>
              </a:ext>
            </a:extLst>
          </p:cNvPr>
          <p:cNvSpPr>
            <a:spLocks noGrp="1"/>
          </p:cNvSpPr>
          <p:nvPr>
            <p:ph type="dt" sz="half" idx="10"/>
          </p:nvPr>
        </p:nvSpPr>
        <p:spPr/>
        <p:txBody>
          <a:bodyPr/>
          <a:lstStyle/>
          <a:p>
            <a:fld id="{8F72BA41-EC5B-4197-BCC8-0FD2E523CD7A}" type="datetimeFigureOut">
              <a:rPr lang="en-US" smtClean="0"/>
              <a:t>9/5/2024</a:t>
            </a:fld>
            <a:endParaRPr lang="en-US"/>
          </a:p>
        </p:txBody>
      </p:sp>
      <p:sp>
        <p:nvSpPr>
          <p:cNvPr id="5" name="Footer Placeholder 4">
            <a:extLst>
              <a:ext uri="{FF2B5EF4-FFF2-40B4-BE49-F238E27FC236}">
                <a16:creationId xmlns:a16="http://schemas.microsoft.com/office/drawing/2014/main" id="{E2D7BA37-9639-480E-84AB-EA277225C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FC658-154E-48DE-AD31-813E5170C93C}"/>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469693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405209-5179-4359-91ED-1B1A46619A99}"/>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0E32344F-3BE0-4CE8-B1BD-9ABD425E1C0D}"/>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9DE306-F4FB-4730-A066-ADF38D739563}"/>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B32885-303F-477F-A081-27425944F230}"/>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0C0C0B-4CD0-467D-A382-2B2415102C48}"/>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88DF0F-327F-43A5-AB71-3D32053D83CA}"/>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8A0902-2662-4911-A532-AA6310861479}"/>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BDA4F7-23F4-46D1-8B7E-A21DD84083E1}"/>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FC9FC2-8808-438E-8FFB-5FE416BFB5C8}"/>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4694E5-71F9-4210-9BE8-FC12CC177BD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37E805-A7E5-4906-B0C5-1373F3DA962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4CD964-FBD6-41AB-8A02-9509A2BAC11F}"/>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D7FF8-E827-4E0A-BCE2-CCB34EDAC0F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4AD6BB-F1EE-4FB8-96E8-6890447800EC}"/>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935057-E0A3-4DAE-B9C8-6E818D7A7205}"/>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8DDF69-1C14-453C-BC3A-37D3FE69DFC7}"/>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C26D82-15BA-4B2E-A42D-2ECA8012D30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F73B67-E5E9-4000-91DA-034B2127EFD2}"/>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FAC1B5-F0DD-4FC0-B4C9-77CB29DF442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ACB3DB-54B2-4CEE-A791-C6FC6C758DAE}"/>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324004-1030-47D9-B817-425FF6ECC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A001C4-81AB-4FA6-ADAA-C8618056353B}"/>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1DAD34-7844-4F16-9874-F51F2A23B9EA}"/>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7DCBC6D-1BDA-4CB1-A3EC-59F240C8FA19}"/>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B3C1A0-58E7-47E4-831B-CF3EE21D1E90}"/>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A09FAA-E123-4FE4-B67A-9EBDE1A3130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17B7C6-C816-4A58-B184-135E4FD19F5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D22ABB-4CE8-47DC-80BF-39B3E4CF7048}"/>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17DE37-A292-4031-AF42-CDB00A13EE76}"/>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3EF673-CB75-435F-9BF3-7594EC3ADF8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5F4581-15F6-47EE-87D0-1132A093DBA5}"/>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5CF984-F5BD-45C4-9A12-B02DB4F044E1}"/>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9" name="Right Triangle 38">
            <a:extLst>
              <a:ext uri="{FF2B5EF4-FFF2-40B4-BE49-F238E27FC236}">
                <a16:creationId xmlns:a16="http://schemas.microsoft.com/office/drawing/2014/main" id="{ACE66A86-8455-497B-9CA4-F460A19E5FBB}"/>
              </a:ext>
              <a:ext uri="{C183D7F6-B498-43B3-948B-1728B52AA6E4}">
                <adec:decorative xmlns:adec="http://schemas.microsoft.com/office/drawing/2017/decorative" val="1"/>
              </a:ext>
            </a:extLst>
          </p:cNvPr>
          <p:cNvSpPr/>
          <p:nvPr/>
        </p:nvSpPr>
        <p:spPr>
          <a:xfrm rot="18900000">
            <a:off x="7770390" y="-28737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Vertical Title 1">
            <a:extLst>
              <a:ext uri="{FF2B5EF4-FFF2-40B4-BE49-F238E27FC236}">
                <a16:creationId xmlns:a16="http://schemas.microsoft.com/office/drawing/2014/main" id="{5868C62B-71EF-4824-9EE8-6CAE17984232}"/>
              </a:ext>
            </a:extLst>
          </p:cNvPr>
          <p:cNvSpPr>
            <a:spLocks noGrp="1"/>
          </p:cNvSpPr>
          <p:nvPr>
            <p:ph type="title" orient="vert"/>
          </p:nvPr>
        </p:nvSpPr>
        <p:spPr>
          <a:xfrm>
            <a:off x="7707774" y="715616"/>
            <a:ext cx="3295876" cy="502659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243E4C8-4AA9-49D7-BF71-1AB5F2CFE1FC}"/>
              </a:ext>
            </a:extLst>
          </p:cNvPr>
          <p:cNvSpPr>
            <a:spLocks noGrp="1"/>
          </p:cNvSpPr>
          <p:nvPr>
            <p:ph type="body" orient="vert" idx="1"/>
          </p:nvPr>
        </p:nvSpPr>
        <p:spPr>
          <a:xfrm>
            <a:off x="683588" y="715616"/>
            <a:ext cx="6770448" cy="5026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97898B3-014E-440B-BA4E-106339212804}"/>
              </a:ext>
            </a:extLst>
          </p:cNvPr>
          <p:cNvSpPr>
            <a:spLocks noGrp="1"/>
          </p:cNvSpPr>
          <p:nvPr>
            <p:ph type="dt" sz="half" idx="10"/>
          </p:nvPr>
        </p:nvSpPr>
        <p:spPr/>
        <p:txBody>
          <a:bodyPr/>
          <a:lstStyle/>
          <a:p>
            <a:fld id="{8F72BA41-EC5B-4197-BCC8-0FD2E523CD7A}" type="datetimeFigureOut">
              <a:rPr lang="en-US" smtClean="0"/>
              <a:t>9/5/2024</a:t>
            </a:fld>
            <a:endParaRPr lang="en-US"/>
          </a:p>
        </p:txBody>
      </p:sp>
      <p:sp>
        <p:nvSpPr>
          <p:cNvPr id="5" name="Footer Placeholder 4">
            <a:extLst>
              <a:ext uri="{FF2B5EF4-FFF2-40B4-BE49-F238E27FC236}">
                <a16:creationId xmlns:a16="http://schemas.microsoft.com/office/drawing/2014/main" id="{81C22643-CE63-4C3E-B437-5A1A5EF9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CE5E-160A-4B37-94E2-3D9DC75BFFA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463474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8F72BA41-EC5B-4197-BCC8-0FD2E523CD7A}" type="datetimeFigureOut">
              <a:rPr lang="en-US" smtClean="0"/>
              <a:pPr/>
              <a:t>9/5/2024</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099521854"/>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1" name="Group 10">
            <a:extLst>
              <a:ext uri="{FF2B5EF4-FFF2-40B4-BE49-F238E27FC236}">
                <a16:creationId xmlns:a16="http://schemas.microsoft.com/office/drawing/2014/main" id="{67BF4BDF-C43E-4AD4-B812-CD822A58A0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2" name="Straight Connector 11">
              <a:extLst>
                <a:ext uri="{FF2B5EF4-FFF2-40B4-BE49-F238E27FC236}">
                  <a16:creationId xmlns:a16="http://schemas.microsoft.com/office/drawing/2014/main" id="{45104B33-C1B7-49E9-A8D4-AED32DA9B4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6D1F5F1-12D7-4519-8D3E-D2CF855286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9D8EC52-C452-4454-A91B-A19D1D5A82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AE9A6D6-4FFD-4143-B0EC-05211F7A71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9824BC4-94BC-40AA-B7FF-11CB38C6FD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E0369AD-B896-4CC9-AA9E-CA61F5B87A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E647EBC-2CEC-4660-8D08-22F5AD0640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EF3CE81-B9B7-46B0-8E5A-65460C0F74D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514ED9C-D145-473F-BB91-C9A43B108E7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D086895-0270-447A-9B1B-A40D270C9F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55082E4-F159-4A22-AE61-3A0C94A2E54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AA7C90D-29BE-48E0-88AF-3EC123A544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A158CCA-0E9E-4752-A98A-82BD1D307A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669DE5F-529F-46B6-9D58-7E5A8402422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F392097-6E03-4179-9EF8-44ADBA733C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777B745-0324-4A98-AAE5-AA1764865E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3EAC628-41AA-4478-9CE6-893440E4A5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B74D1B5-16CB-41FF-9BE9-49F69B77FA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93CD1D1-5195-4559-8326-995B654F95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06A9264-31DD-4A7D-8BBB-B06D9A5C81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9BC140B-45E1-40ED-9492-BB8888FBF9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3C6A33C-42C9-4673-9F6B-63C78D72CD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298026-BFEC-467A-B8B0-99B29E2318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856CF30-C899-4722-98E6-1933ACCD7E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814CDCF-976B-4558-BD71-1A71045FFF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12AB455-3D6D-43F1-83D4-9EFBE0C0C8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E8E6B21-A25D-4DC2-9F4D-C877A5879E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2DB934B-67A5-478D-A05E-6548A15A6D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829ACD0-CEFF-4798-98E0-6DDE495C4C7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D75DD7F-48D4-447E-A01F-2ED5F5E759A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4EA65D4-5E70-42D9-821D-BE65F29658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1107F7E-8A22-A925-5F06-29E3DCCCC2CC}"/>
              </a:ext>
            </a:extLst>
          </p:cNvPr>
          <p:cNvSpPr>
            <a:spLocks noGrp="1"/>
          </p:cNvSpPr>
          <p:nvPr>
            <p:ph type="ctrTitle"/>
          </p:nvPr>
        </p:nvSpPr>
        <p:spPr>
          <a:xfrm>
            <a:off x="691078" y="722903"/>
            <a:ext cx="6374807" cy="2176541"/>
          </a:xfrm>
        </p:spPr>
        <p:txBody>
          <a:bodyPr anchor="t">
            <a:normAutofit/>
          </a:bodyPr>
          <a:lstStyle/>
          <a:p>
            <a:r>
              <a:rPr lang="en-US" dirty="0"/>
              <a:t>Solid waste disposal</a:t>
            </a:r>
          </a:p>
        </p:txBody>
      </p:sp>
      <p:sp>
        <p:nvSpPr>
          <p:cNvPr id="3" name="Subtitle 2">
            <a:extLst>
              <a:ext uri="{FF2B5EF4-FFF2-40B4-BE49-F238E27FC236}">
                <a16:creationId xmlns:a16="http://schemas.microsoft.com/office/drawing/2014/main" id="{48829F22-397D-6293-0937-B21BC2868C24}"/>
              </a:ext>
            </a:extLst>
          </p:cNvPr>
          <p:cNvSpPr>
            <a:spLocks noGrp="1"/>
          </p:cNvSpPr>
          <p:nvPr>
            <p:ph type="subTitle" idx="1"/>
          </p:nvPr>
        </p:nvSpPr>
        <p:spPr>
          <a:xfrm>
            <a:off x="7427496" y="738954"/>
            <a:ext cx="4071650" cy="2133845"/>
          </a:xfrm>
        </p:spPr>
        <p:txBody>
          <a:bodyPr anchor="t">
            <a:normAutofit/>
          </a:bodyPr>
          <a:lstStyle/>
          <a:p>
            <a:endParaRPr lang="en-US"/>
          </a:p>
        </p:txBody>
      </p:sp>
      <p:sp>
        <p:nvSpPr>
          <p:cNvPr id="44" name="Right Triangle 43">
            <a:extLst>
              <a:ext uri="{FF2B5EF4-FFF2-40B4-BE49-F238E27FC236}">
                <a16:creationId xmlns:a16="http://schemas.microsoft.com/office/drawing/2014/main" id="{579B2BF2-EECE-4832-BA56-FAD5C5EAA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79641" y="979892"/>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descr="Colourful plastic bottle caps">
            <a:extLst>
              <a:ext uri="{FF2B5EF4-FFF2-40B4-BE49-F238E27FC236}">
                <a16:creationId xmlns:a16="http://schemas.microsoft.com/office/drawing/2014/main" id="{5E182457-BB53-B810-70C4-FFC10D759564}"/>
              </a:ext>
            </a:extLst>
          </p:cNvPr>
          <p:cNvPicPr>
            <a:picLocks noChangeAspect="1"/>
          </p:cNvPicPr>
          <p:nvPr/>
        </p:nvPicPr>
        <p:blipFill>
          <a:blip r:embed="rId2"/>
          <a:srcRect t="23228" r="2" b="32567"/>
          <a:stretch/>
        </p:blipFill>
        <p:spPr>
          <a:xfrm>
            <a:off x="1" y="3271957"/>
            <a:ext cx="12198212" cy="3599364"/>
          </a:xfrm>
          <a:custGeom>
            <a:avLst/>
            <a:gdLst/>
            <a:ahLst/>
            <a:cxnLst/>
            <a:rect l="l" t="t" r="r" b="b"/>
            <a:pathLst>
              <a:path w="12178449" h="3424057">
                <a:moveTo>
                  <a:pt x="8778628" y="0"/>
                </a:moveTo>
                <a:lnTo>
                  <a:pt x="9096995" y="0"/>
                </a:lnTo>
                <a:lnTo>
                  <a:pt x="9540073" y="10341"/>
                </a:lnTo>
                <a:cubicBezTo>
                  <a:pt x="10154127" y="37036"/>
                  <a:pt x="10847400" y="104023"/>
                  <a:pt x="11653844" y="224215"/>
                </a:cubicBezTo>
                <a:lnTo>
                  <a:pt x="12178449" y="307575"/>
                </a:lnTo>
                <a:lnTo>
                  <a:pt x="12178449" y="3424056"/>
                </a:lnTo>
                <a:lnTo>
                  <a:pt x="0" y="3424057"/>
                </a:lnTo>
                <a:lnTo>
                  <a:pt x="0" y="1093185"/>
                </a:lnTo>
                <a:lnTo>
                  <a:pt x="851945" y="1080793"/>
                </a:lnTo>
                <a:cubicBezTo>
                  <a:pt x="4637202" y="967650"/>
                  <a:pt x="5848483" y="115490"/>
                  <a:pt x="8385751" y="7749"/>
                </a:cubicBezTo>
                <a:close/>
              </a:path>
            </a:pathLst>
          </a:custGeom>
        </p:spPr>
      </p:pic>
    </p:spTree>
    <p:extLst>
      <p:ext uri="{BB962C8B-B14F-4D97-AF65-F5344CB8AC3E}">
        <p14:creationId xmlns:p14="http://schemas.microsoft.com/office/powerpoint/2010/main" val="2049456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D2F81-3BB6-945E-A8A7-6DC99B2782D0}"/>
              </a:ext>
            </a:extLst>
          </p:cNvPr>
          <p:cNvSpPr>
            <a:spLocks noGrp="1"/>
          </p:cNvSpPr>
          <p:nvPr>
            <p:ph type="title"/>
          </p:nvPr>
        </p:nvSpPr>
        <p:spPr>
          <a:xfrm>
            <a:off x="500479" y="453379"/>
            <a:ext cx="10325000" cy="509291"/>
          </a:xfrm>
        </p:spPr>
        <p:txBody>
          <a:bodyPr>
            <a:normAutofit fontScale="90000"/>
          </a:bodyPr>
          <a:lstStyle/>
          <a:p>
            <a:r>
              <a:rPr lang="en-US" b="1" dirty="0"/>
              <a:t>Methods of disposal</a:t>
            </a:r>
            <a:endParaRPr lang="en-IN" b="1" dirty="0"/>
          </a:p>
        </p:txBody>
      </p:sp>
      <p:sp>
        <p:nvSpPr>
          <p:cNvPr id="3" name="Content Placeholder 2">
            <a:extLst>
              <a:ext uri="{FF2B5EF4-FFF2-40B4-BE49-F238E27FC236}">
                <a16:creationId xmlns:a16="http://schemas.microsoft.com/office/drawing/2014/main" id="{2390BE0D-C7CC-3E83-7724-B5EED6836527}"/>
              </a:ext>
            </a:extLst>
          </p:cNvPr>
          <p:cNvSpPr>
            <a:spLocks noGrp="1"/>
          </p:cNvSpPr>
          <p:nvPr>
            <p:ph idx="1"/>
          </p:nvPr>
        </p:nvSpPr>
        <p:spPr>
          <a:xfrm>
            <a:off x="838200" y="1203158"/>
            <a:ext cx="10515600" cy="4946817"/>
          </a:xfrm>
        </p:spPr>
        <p:txBody>
          <a:bodyPr>
            <a:normAutofit/>
          </a:bodyPr>
          <a:lstStyle/>
          <a:p>
            <a:r>
              <a:rPr lang="en-US" sz="2800" dirty="0"/>
              <a:t>The principal methods of refuse disposal are </a:t>
            </a:r>
          </a:p>
          <a:p>
            <a:pPr marL="0" indent="0">
              <a:buNone/>
            </a:pPr>
            <a:r>
              <a:rPr lang="en-US" sz="2800" dirty="0"/>
              <a:t>(a) Dumping </a:t>
            </a:r>
          </a:p>
          <a:p>
            <a:pPr marL="0" indent="0">
              <a:buNone/>
            </a:pPr>
            <a:r>
              <a:rPr lang="en-US" sz="2800" dirty="0"/>
              <a:t>(b) Controlled tipping or sanitary land-fill </a:t>
            </a:r>
          </a:p>
          <a:p>
            <a:pPr marL="0" indent="0">
              <a:buNone/>
            </a:pPr>
            <a:r>
              <a:rPr lang="en-US" sz="2800" dirty="0"/>
              <a:t>(c) Incineration </a:t>
            </a:r>
          </a:p>
          <a:p>
            <a:pPr marL="0" indent="0">
              <a:buNone/>
            </a:pPr>
            <a:r>
              <a:rPr lang="en-US" sz="2800" dirty="0"/>
              <a:t>(d) Composting </a:t>
            </a:r>
          </a:p>
          <a:p>
            <a:pPr marL="0" indent="0">
              <a:buNone/>
            </a:pPr>
            <a:r>
              <a:rPr lang="en-US" sz="2800" dirty="0"/>
              <a:t>(e) Manure pits </a:t>
            </a:r>
          </a:p>
          <a:p>
            <a:pPr marL="0" indent="0">
              <a:buNone/>
            </a:pPr>
            <a:r>
              <a:rPr lang="en-US" sz="2800" dirty="0"/>
              <a:t>(f) Burial.</a:t>
            </a:r>
            <a:endParaRPr lang="en-IN" sz="2800" dirty="0"/>
          </a:p>
        </p:txBody>
      </p:sp>
    </p:spTree>
    <p:extLst>
      <p:ext uri="{BB962C8B-B14F-4D97-AF65-F5344CB8AC3E}">
        <p14:creationId xmlns:p14="http://schemas.microsoft.com/office/powerpoint/2010/main" val="4164345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457BE-B138-E943-D55B-7332CE15693E}"/>
              </a:ext>
            </a:extLst>
          </p:cNvPr>
          <p:cNvSpPr>
            <a:spLocks noGrp="1"/>
          </p:cNvSpPr>
          <p:nvPr>
            <p:ph type="title"/>
          </p:nvPr>
        </p:nvSpPr>
        <p:spPr>
          <a:xfrm>
            <a:off x="838200" y="365126"/>
            <a:ext cx="10515600" cy="767484"/>
          </a:xfrm>
        </p:spPr>
        <p:txBody>
          <a:bodyPr/>
          <a:lstStyle/>
          <a:p>
            <a:r>
              <a:rPr lang="en-US" b="1" dirty="0"/>
              <a:t> Dumping </a:t>
            </a:r>
            <a:endParaRPr lang="en-IN" b="1" dirty="0"/>
          </a:p>
        </p:txBody>
      </p:sp>
      <p:sp>
        <p:nvSpPr>
          <p:cNvPr id="3" name="Content Placeholder 2">
            <a:extLst>
              <a:ext uri="{FF2B5EF4-FFF2-40B4-BE49-F238E27FC236}">
                <a16:creationId xmlns:a16="http://schemas.microsoft.com/office/drawing/2014/main" id="{7F31D6AC-9177-CFD0-24F6-98834E61C29F}"/>
              </a:ext>
            </a:extLst>
          </p:cNvPr>
          <p:cNvSpPr>
            <a:spLocks noGrp="1"/>
          </p:cNvSpPr>
          <p:nvPr>
            <p:ph idx="1"/>
          </p:nvPr>
        </p:nvSpPr>
        <p:spPr>
          <a:xfrm>
            <a:off x="838200" y="1215736"/>
            <a:ext cx="10515600" cy="5413663"/>
          </a:xfrm>
        </p:spPr>
        <p:txBody>
          <a:bodyPr>
            <a:normAutofit lnSpcReduction="10000"/>
          </a:bodyPr>
          <a:lstStyle/>
          <a:p>
            <a:r>
              <a:rPr lang="en-US" dirty="0"/>
              <a:t>Refuse is dumped in low lying areas partly as a method of reclamation of land but mainly as an easy method of disposal of dry refuse. </a:t>
            </a:r>
          </a:p>
          <a:p>
            <a:r>
              <a:rPr lang="en-US" dirty="0"/>
              <a:t>As a result of bacterial action, refuse decreases considerably in volume and is converted gradually into humus. </a:t>
            </a:r>
          </a:p>
          <a:p>
            <a:r>
              <a:rPr lang="en-US" dirty="0"/>
              <a:t>Kolkata disposes of its refuse by dumping and the reclaimed land is leased out for cultivation. </a:t>
            </a:r>
          </a:p>
          <a:p>
            <a:r>
              <a:rPr lang="en-US" dirty="0"/>
              <a:t>The drawbacks of open dumping are : </a:t>
            </a:r>
          </a:p>
          <a:p>
            <a:pPr marL="0" indent="0">
              <a:buNone/>
            </a:pPr>
            <a:r>
              <a:rPr lang="en-US" u="sng" dirty="0"/>
              <a:t>(1) the refuse is exposed to flies and rodents, </a:t>
            </a:r>
          </a:p>
          <a:p>
            <a:pPr marL="0" indent="0">
              <a:buNone/>
            </a:pPr>
            <a:r>
              <a:rPr lang="en-US" u="sng" dirty="0"/>
              <a:t>(2) it is a source of nuisance from the smell and unsightly appearance, </a:t>
            </a:r>
          </a:p>
          <a:p>
            <a:pPr marL="0" indent="0">
              <a:buNone/>
            </a:pPr>
            <a:r>
              <a:rPr lang="en-US" u="sng" dirty="0"/>
              <a:t>(3) the loose refuse is dispersed by the action of the wind, and </a:t>
            </a:r>
          </a:p>
          <a:p>
            <a:pPr marL="0" indent="0">
              <a:buNone/>
            </a:pPr>
            <a:r>
              <a:rPr lang="en-US" u="sng" dirty="0"/>
              <a:t>(4) drainage from dumps contributes to the pollution of surface and ground water</a:t>
            </a:r>
            <a:r>
              <a:rPr lang="en-US" dirty="0"/>
              <a:t>. </a:t>
            </a:r>
          </a:p>
          <a:p>
            <a:r>
              <a:rPr lang="en-US" dirty="0"/>
              <a:t>A WHO Expert Committee (1967) condemned dumping as “a most insanitary method that creates public health hazards, a nuisance, and severe pollution of the environment”. Dumping should be outlawed and replaced by sound procedures</a:t>
            </a:r>
            <a:endParaRPr lang="en-IN" dirty="0"/>
          </a:p>
        </p:txBody>
      </p:sp>
    </p:spTree>
    <p:extLst>
      <p:ext uri="{BB962C8B-B14F-4D97-AF65-F5344CB8AC3E}">
        <p14:creationId xmlns:p14="http://schemas.microsoft.com/office/powerpoint/2010/main" val="2782400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9234B-F1EB-9FFF-8610-5815EE0928C6}"/>
              </a:ext>
            </a:extLst>
          </p:cNvPr>
          <p:cNvSpPr>
            <a:spLocks noGrp="1"/>
          </p:cNvSpPr>
          <p:nvPr>
            <p:ph type="title"/>
          </p:nvPr>
        </p:nvSpPr>
        <p:spPr/>
        <p:txBody>
          <a:bodyPr/>
          <a:lstStyle/>
          <a:p>
            <a:r>
              <a:rPr lang="en-US" dirty="0"/>
              <a:t>Controlled tipping</a:t>
            </a:r>
          </a:p>
        </p:txBody>
      </p:sp>
      <p:sp>
        <p:nvSpPr>
          <p:cNvPr id="3" name="Content Placeholder 2">
            <a:extLst>
              <a:ext uri="{FF2B5EF4-FFF2-40B4-BE49-F238E27FC236}">
                <a16:creationId xmlns:a16="http://schemas.microsoft.com/office/drawing/2014/main" id="{66919A37-65C4-6237-1C93-8CB891AF01C3}"/>
              </a:ext>
            </a:extLst>
          </p:cNvPr>
          <p:cNvSpPr>
            <a:spLocks noGrp="1"/>
          </p:cNvSpPr>
          <p:nvPr>
            <p:ph idx="1"/>
          </p:nvPr>
        </p:nvSpPr>
        <p:spPr/>
        <p:txBody>
          <a:bodyPr>
            <a:normAutofit/>
          </a:bodyPr>
          <a:lstStyle/>
          <a:p>
            <a:r>
              <a:rPr lang="en-US" sz="2400" dirty="0"/>
              <a:t>Most satisfactory method of refuse disposal where suitable land is available. </a:t>
            </a:r>
          </a:p>
          <a:p>
            <a:r>
              <a:rPr lang="en-US" sz="2400" dirty="0"/>
              <a:t>It differs from ordinary dumping in that the material is placed in a trench or other prepared area, adequately compacted, and covered with earth at the end of the working day. </a:t>
            </a:r>
          </a:p>
          <a:p>
            <a:r>
              <a:rPr lang="en-US" sz="2400" dirty="0"/>
              <a:t>The term "modified sanitary landfill” has been applied to those operations where compaction and covering are accomplished once or twice a week</a:t>
            </a:r>
          </a:p>
        </p:txBody>
      </p:sp>
    </p:spTree>
    <p:extLst>
      <p:ext uri="{BB962C8B-B14F-4D97-AF65-F5344CB8AC3E}">
        <p14:creationId xmlns:p14="http://schemas.microsoft.com/office/powerpoint/2010/main" val="1853790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1033" name="Group 1032">
            <a:extLst>
              <a:ext uri="{FF2B5EF4-FFF2-40B4-BE49-F238E27FC236}">
                <a16:creationId xmlns:a16="http://schemas.microsoft.com/office/drawing/2014/main" id="{4D431671-5191-4947-8899-E90505A7042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034" name="Straight Connector 1033">
              <a:extLst>
                <a:ext uri="{FF2B5EF4-FFF2-40B4-BE49-F238E27FC236}">
                  <a16:creationId xmlns:a16="http://schemas.microsoft.com/office/drawing/2014/main" id="{877D2E98-ED65-4121-9DA5-6DBB831D0F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5" name="Straight Connector 1034">
              <a:extLst>
                <a:ext uri="{FF2B5EF4-FFF2-40B4-BE49-F238E27FC236}">
                  <a16:creationId xmlns:a16="http://schemas.microsoft.com/office/drawing/2014/main" id="{DA94A307-5B5D-4E42-95B3-064D5093AD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6" name="Straight Connector 1035">
              <a:extLst>
                <a:ext uri="{FF2B5EF4-FFF2-40B4-BE49-F238E27FC236}">
                  <a16:creationId xmlns:a16="http://schemas.microsoft.com/office/drawing/2014/main" id="{8CB3B32C-3BDA-4D41-9802-681B0599FD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7" name="Straight Connector 1036">
              <a:extLst>
                <a:ext uri="{FF2B5EF4-FFF2-40B4-BE49-F238E27FC236}">
                  <a16:creationId xmlns:a16="http://schemas.microsoft.com/office/drawing/2014/main" id="{35BDBFD6-7C61-4520-8203-BAB1986C15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8" name="Straight Connector 1037">
              <a:extLst>
                <a:ext uri="{FF2B5EF4-FFF2-40B4-BE49-F238E27FC236}">
                  <a16:creationId xmlns:a16="http://schemas.microsoft.com/office/drawing/2014/main" id="{D4ABA4D7-9904-42C4-B0CD-B1CE2E0D37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9" name="Straight Connector 1038">
              <a:extLst>
                <a:ext uri="{FF2B5EF4-FFF2-40B4-BE49-F238E27FC236}">
                  <a16:creationId xmlns:a16="http://schemas.microsoft.com/office/drawing/2014/main" id="{BB63F0D6-8747-4126-9359-B730EB21B7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0" name="Straight Connector 1039">
              <a:extLst>
                <a:ext uri="{FF2B5EF4-FFF2-40B4-BE49-F238E27FC236}">
                  <a16:creationId xmlns:a16="http://schemas.microsoft.com/office/drawing/2014/main" id="{D91CD660-F5B2-49AC-9EFC-CE94B843B4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1" name="Straight Connector 1040">
              <a:extLst>
                <a:ext uri="{FF2B5EF4-FFF2-40B4-BE49-F238E27FC236}">
                  <a16:creationId xmlns:a16="http://schemas.microsoft.com/office/drawing/2014/main" id="{A4BEB7EB-8E7F-4A4B-8581-73CE2003F2F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2" name="Straight Connector 1041">
              <a:extLst>
                <a:ext uri="{FF2B5EF4-FFF2-40B4-BE49-F238E27FC236}">
                  <a16:creationId xmlns:a16="http://schemas.microsoft.com/office/drawing/2014/main" id="{B04FB70E-6820-4456-872A-937F520606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3" name="Straight Connector 1042">
              <a:extLst>
                <a:ext uri="{FF2B5EF4-FFF2-40B4-BE49-F238E27FC236}">
                  <a16:creationId xmlns:a16="http://schemas.microsoft.com/office/drawing/2014/main" id="{E3598DD6-9887-4CF7-BAFE-F96E0324EB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4" name="Straight Connector 1043">
              <a:extLst>
                <a:ext uri="{FF2B5EF4-FFF2-40B4-BE49-F238E27FC236}">
                  <a16:creationId xmlns:a16="http://schemas.microsoft.com/office/drawing/2014/main" id="{AA503E64-565F-465B-A25C-042C5706C5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5" name="Straight Connector 1044">
              <a:extLst>
                <a:ext uri="{FF2B5EF4-FFF2-40B4-BE49-F238E27FC236}">
                  <a16:creationId xmlns:a16="http://schemas.microsoft.com/office/drawing/2014/main" id="{A140EE7B-5CA1-4DCB-8652-6E4D2147B0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6" name="Straight Connector 1045">
              <a:extLst>
                <a:ext uri="{FF2B5EF4-FFF2-40B4-BE49-F238E27FC236}">
                  <a16:creationId xmlns:a16="http://schemas.microsoft.com/office/drawing/2014/main" id="{F85077BE-700D-4C44-AA4D-7CF4E8FD71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7" name="Straight Connector 1046">
              <a:extLst>
                <a:ext uri="{FF2B5EF4-FFF2-40B4-BE49-F238E27FC236}">
                  <a16:creationId xmlns:a16="http://schemas.microsoft.com/office/drawing/2014/main" id="{FB8B3FEB-D353-443D-A148-3915606516D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8" name="Straight Connector 1047">
              <a:extLst>
                <a:ext uri="{FF2B5EF4-FFF2-40B4-BE49-F238E27FC236}">
                  <a16:creationId xmlns:a16="http://schemas.microsoft.com/office/drawing/2014/main" id="{91FF5FBB-3BD8-46EB-BDF9-081B29A444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9" name="Straight Connector 1048">
              <a:extLst>
                <a:ext uri="{FF2B5EF4-FFF2-40B4-BE49-F238E27FC236}">
                  <a16:creationId xmlns:a16="http://schemas.microsoft.com/office/drawing/2014/main" id="{DC2E11FD-78A4-4F5C-A419-F0237DCAD2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0" name="Straight Connector 1049">
              <a:extLst>
                <a:ext uri="{FF2B5EF4-FFF2-40B4-BE49-F238E27FC236}">
                  <a16:creationId xmlns:a16="http://schemas.microsoft.com/office/drawing/2014/main" id="{9F708EBE-3154-4FF4-8E8F-88A0762080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1" name="Straight Connector 1050">
              <a:extLst>
                <a:ext uri="{FF2B5EF4-FFF2-40B4-BE49-F238E27FC236}">
                  <a16:creationId xmlns:a16="http://schemas.microsoft.com/office/drawing/2014/main" id="{27A99B5C-EB03-4D56-8DFE-B006D7081B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2" name="Straight Connector 1051">
              <a:extLst>
                <a:ext uri="{FF2B5EF4-FFF2-40B4-BE49-F238E27FC236}">
                  <a16:creationId xmlns:a16="http://schemas.microsoft.com/office/drawing/2014/main" id="{2FCBAFF0-9FB4-4160-B9BE-CCBE1D8B8CB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3" name="Straight Connector 1052">
              <a:extLst>
                <a:ext uri="{FF2B5EF4-FFF2-40B4-BE49-F238E27FC236}">
                  <a16:creationId xmlns:a16="http://schemas.microsoft.com/office/drawing/2014/main" id="{326953D7-154A-49A4-B2E1-D94D365EC4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4" name="Straight Connector 1053">
              <a:extLst>
                <a:ext uri="{FF2B5EF4-FFF2-40B4-BE49-F238E27FC236}">
                  <a16:creationId xmlns:a16="http://schemas.microsoft.com/office/drawing/2014/main" id="{836E3E12-5D96-48DB-8320-6294287740A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5" name="Straight Connector 1054">
              <a:extLst>
                <a:ext uri="{FF2B5EF4-FFF2-40B4-BE49-F238E27FC236}">
                  <a16:creationId xmlns:a16="http://schemas.microsoft.com/office/drawing/2014/main" id="{7A059482-79BA-4E80-80A2-36FD8408DA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6" name="Straight Connector 1055">
              <a:extLst>
                <a:ext uri="{FF2B5EF4-FFF2-40B4-BE49-F238E27FC236}">
                  <a16:creationId xmlns:a16="http://schemas.microsoft.com/office/drawing/2014/main" id="{B4EF88B3-C210-433D-B20D-FE41B4D5F93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7" name="Straight Connector 1056">
              <a:extLst>
                <a:ext uri="{FF2B5EF4-FFF2-40B4-BE49-F238E27FC236}">
                  <a16:creationId xmlns:a16="http://schemas.microsoft.com/office/drawing/2014/main" id="{53665D3E-61E7-4EDF-A208-56449D765C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8" name="Straight Connector 1057">
              <a:extLst>
                <a:ext uri="{FF2B5EF4-FFF2-40B4-BE49-F238E27FC236}">
                  <a16:creationId xmlns:a16="http://schemas.microsoft.com/office/drawing/2014/main" id="{874CF3B0-C9C3-4683-94A3-DC0AE1E7451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9" name="Straight Connector 1058">
              <a:extLst>
                <a:ext uri="{FF2B5EF4-FFF2-40B4-BE49-F238E27FC236}">
                  <a16:creationId xmlns:a16="http://schemas.microsoft.com/office/drawing/2014/main" id="{7BE90EF9-6DF5-47F4-A069-9F613C8142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0" name="Straight Connector 1059">
              <a:extLst>
                <a:ext uri="{FF2B5EF4-FFF2-40B4-BE49-F238E27FC236}">
                  <a16:creationId xmlns:a16="http://schemas.microsoft.com/office/drawing/2014/main" id="{F844EBDE-5A9F-4E9F-8A55-57FB9E9797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1" name="Straight Connector 1060">
              <a:extLst>
                <a:ext uri="{FF2B5EF4-FFF2-40B4-BE49-F238E27FC236}">
                  <a16:creationId xmlns:a16="http://schemas.microsoft.com/office/drawing/2014/main" id="{6491FC45-82C4-40CD-8D0C-0A2F86E8A1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2" name="Straight Connector 1061">
              <a:extLst>
                <a:ext uri="{FF2B5EF4-FFF2-40B4-BE49-F238E27FC236}">
                  <a16:creationId xmlns:a16="http://schemas.microsoft.com/office/drawing/2014/main" id="{71AD0FE3-6144-4171-943E-0E65D08E80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3" name="Straight Connector 1062">
              <a:extLst>
                <a:ext uri="{FF2B5EF4-FFF2-40B4-BE49-F238E27FC236}">
                  <a16:creationId xmlns:a16="http://schemas.microsoft.com/office/drawing/2014/main" id="{A7BA4499-5E6A-4998-A0F4-614E65552B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4" name="Straight Connector 1063">
              <a:extLst>
                <a:ext uri="{FF2B5EF4-FFF2-40B4-BE49-F238E27FC236}">
                  <a16:creationId xmlns:a16="http://schemas.microsoft.com/office/drawing/2014/main" id="{CAFE7A6F-A7F0-4406-809F-E23FCB201E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pic>
        <p:nvPicPr>
          <p:cNvPr id="1026" name="Picture 2" descr="Disposal of waste">
            <a:extLst>
              <a:ext uri="{FF2B5EF4-FFF2-40B4-BE49-F238E27FC236}">
                <a16:creationId xmlns:a16="http://schemas.microsoft.com/office/drawing/2014/main" id="{D4C31647-D276-DED5-8E63-F4BB91B55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074" r="17896"/>
          <a:stretch/>
        </p:blipFill>
        <p:spPr bwMode="auto">
          <a:xfrm>
            <a:off x="1" y="10"/>
            <a:ext cx="5854890" cy="6857990"/>
          </a:xfrm>
          <a:custGeom>
            <a:avLst/>
            <a:gdLst/>
            <a:ahLst/>
            <a:cxnLst/>
            <a:rect l="l" t="t" r="r" b="b"/>
            <a:pathLst>
              <a:path w="6036633" h="6858000">
                <a:moveTo>
                  <a:pt x="0" y="0"/>
                </a:moveTo>
                <a:lnTo>
                  <a:pt x="5782584" y="0"/>
                </a:lnTo>
                <a:lnTo>
                  <a:pt x="5847735" y="280891"/>
                </a:lnTo>
                <a:cubicBezTo>
                  <a:pt x="6512611" y="3337011"/>
                  <a:pt x="5215360" y="3533975"/>
                  <a:pt x="5130974" y="6590095"/>
                </a:cubicBezTo>
                <a:lnTo>
                  <a:pt x="5127340"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1066" name="Right Triangle 1065">
            <a:extLst>
              <a:ext uri="{FF2B5EF4-FFF2-40B4-BE49-F238E27FC236}">
                <a16:creationId xmlns:a16="http://schemas.microsoft.com/office/drawing/2014/main" id="{BEAC0A80-07D3-49CB-87C3-BC34F219DF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6297339" y="-29262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Content Placeholder 2">
            <a:extLst>
              <a:ext uri="{FF2B5EF4-FFF2-40B4-BE49-F238E27FC236}">
                <a16:creationId xmlns:a16="http://schemas.microsoft.com/office/drawing/2014/main" id="{1809BEE0-0EB2-C69C-326A-67F3A1465557}"/>
              </a:ext>
            </a:extLst>
          </p:cNvPr>
          <p:cNvSpPr>
            <a:spLocks noGrp="1"/>
          </p:cNvSpPr>
          <p:nvPr>
            <p:ph idx="1"/>
          </p:nvPr>
        </p:nvSpPr>
        <p:spPr>
          <a:xfrm>
            <a:off x="6088653" y="565068"/>
            <a:ext cx="5416593" cy="5566979"/>
          </a:xfrm>
        </p:spPr>
        <p:txBody>
          <a:bodyPr>
            <a:normAutofit/>
          </a:bodyPr>
          <a:lstStyle/>
          <a:p>
            <a:r>
              <a:rPr lang="en-US" dirty="0"/>
              <a:t>Where level ground is available,</a:t>
            </a:r>
          </a:p>
          <a:p>
            <a:r>
              <a:rPr lang="en-US" dirty="0"/>
              <a:t>A long trench is dug out - 2 to 3 m (6-10 ft.) deep and 4 to 12 m, (12-36 ft.) wide, depending upon local conditions. </a:t>
            </a:r>
          </a:p>
          <a:p>
            <a:r>
              <a:rPr lang="en-US" dirty="0"/>
              <a:t>The refuse is compacted and covered with excavated earth. Where compacted refuse is placed in the fill to a depth of 2 m (6 ft.), it is estimated that one acre of land per year will be required for 10,000 population.</a:t>
            </a:r>
          </a:p>
        </p:txBody>
      </p:sp>
    </p:spTree>
    <p:extLst>
      <p:ext uri="{BB962C8B-B14F-4D97-AF65-F5344CB8AC3E}">
        <p14:creationId xmlns:p14="http://schemas.microsoft.com/office/powerpoint/2010/main" val="2599141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107134A1-6E23-4417-8A0E-6B7013EE7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8" name="Group 47">
            <a:extLst>
              <a:ext uri="{FF2B5EF4-FFF2-40B4-BE49-F238E27FC236}">
                <a16:creationId xmlns:a16="http://schemas.microsoft.com/office/drawing/2014/main" id="{82FD622D-988E-4643-87EB-6197BAB538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3" name="Straight Connector 12">
              <a:extLst>
                <a:ext uri="{FF2B5EF4-FFF2-40B4-BE49-F238E27FC236}">
                  <a16:creationId xmlns:a16="http://schemas.microsoft.com/office/drawing/2014/main" id="{0017DA54-DDDC-44E6-8AC4-7FDC000A2A4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82E709A-9270-42A6-8B58-D1F149D2D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D07979B-226B-4F37-B9F9-DAAAFCF187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61923EF-C2E0-4CB2-A37D-56251914BE7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81FC8C6-CA0F-414F-B5D8-A22C3BA186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D0A1778-5358-4A84-AFC7-F5FE52170C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7CA575A-2DD5-4400-A8EB-CA087B366E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6FE83E2-842D-4DB0-879B-0AAE74E888D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C65B4D5-97A8-4B99-95F1-A8ABACD57F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99C1AEC-921E-4B21-AB7C-3B314FAF87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BC6C036-973A-4049-A3ED-DBE599BFC1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933D27E-05C8-4261-BFB0-C543438143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810A5DC-6FA9-4464-B677-A8EE7C068B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C4C342D-588F-4B7E-8911-5079C1E27C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B43446F-FEE4-48A6-B092-FCA67607A8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37AAF31-1287-4F06-82C2-152B97CE4CC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B0E018F-0A4A-4940-A9C5-2F75378781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AD144D6-982B-4822-9C5F-D588A3CF38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B969311-3C7A-46EE-9348-6B4336641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FECC74-E0E3-4128-8632-2FA994140F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8D280A9-4057-47B5-A9AE-7AF2114310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EDAC388-396D-47BE-A84F-13F905DE47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BC423F5-785F-4726-A136-AFB50AA1E2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1D18134-78BA-4375-8130-1036457BCA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1EC74D1-2591-4C00-AADF-5CCDAA556A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7C355CE-3A38-42CE-B108-F859C995E1F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838FD71-CBEE-4752-81BF-145F91BAE5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0C40E9D-9C2D-478A-8BD0-FC1623D55A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800592A-3AD4-4CB7-A596-B160E835B6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4DF9447-BDCC-4AD3-BD3F-6203D64B1E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8BF451A-8BE3-4DAE-9731-362B5D5E35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9" name="Flowchart: Document 48">
            <a:extLst>
              <a:ext uri="{FF2B5EF4-FFF2-40B4-BE49-F238E27FC236}">
                <a16:creationId xmlns:a16="http://schemas.microsoft.com/office/drawing/2014/main" id="{B135F0A9-346D-45D8-9316-99A6C7776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491298"/>
          </a:xfrm>
          <a:prstGeom prst="flowChartDocumen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A564DE7E-234E-4E2C-7C91-A8F43F8F68C5}"/>
              </a:ext>
            </a:extLst>
          </p:cNvPr>
          <p:cNvPicPr>
            <a:picLocks noChangeAspect="1"/>
          </p:cNvPicPr>
          <p:nvPr/>
        </p:nvPicPr>
        <p:blipFill>
          <a:blip r:embed="rId2">
            <a:alphaModFix amt="60000"/>
          </a:blip>
          <a:srcRect t="14615" r="2" b="17482"/>
          <a:stretch/>
        </p:blipFill>
        <p:spPr>
          <a:xfrm>
            <a:off x="-6331" y="-14856"/>
            <a:ext cx="12208610" cy="6424896"/>
          </a:xfrm>
          <a:custGeom>
            <a:avLst/>
            <a:gdLst/>
            <a:ahLst/>
            <a:cxnLst/>
            <a:rect l="l" t="t" r="r" b="b"/>
            <a:pathLst>
              <a:path w="12205236" h="6424896">
                <a:moveTo>
                  <a:pt x="0" y="0"/>
                </a:moveTo>
                <a:lnTo>
                  <a:pt x="12205236" y="0"/>
                </a:lnTo>
                <a:lnTo>
                  <a:pt x="12205236" y="5218929"/>
                </a:lnTo>
                <a:cubicBezTo>
                  <a:pt x="6290213" y="5218929"/>
                  <a:pt x="6105369" y="7085096"/>
                  <a:pt x="548482" y="6174545"/>
                </a:cubicBezTo>
                <a:lnTo>
                  <a:pt x="0" y="6078725"/>
                </a:lnTo>
                <a:close/>
              </a:path>
            </a:pathLst>
          </a:custGeom>
        </p:spPr>
      </p:pic>
      <p:sp>
        <p:nvSpPr>
          <p:cNvPr id="2" name="Title 1">
            <a:extLst>
              <a:ext uri="{FF2B5EF4-FFF2-40B4-BE49-F238E27FC236}">
                <a16:creationId xmlns:a16="http://schemas.microsoft.com/office/drawing/2014/main" id="{E699212B-8A00-1664-0F38-A27423C61321}"/>
              </a:ext>
            </a:extLst>
          </p:cNvPr>
          <p:cNvSpPr>
            <a:spLocks noGrp="1"/>
          </p:cNvSpPr>
          <p:nvPr>
            <p:ph type="title"/>
          </p:nvPr>
        </p:nvSpPr>
        <p:spPr>
          <a:xfrm>
            <a:off x="691079" y="725951"/>
            <a:ext cx="10325000" cy="1442463"/>
          </a:xfrm>
        </p:spPr>
        <p:txBody>
          <a:bodyPr>
            <a:normAutofit/>
          </a:bodyPr>
          <a:lstStyle/>
          <a:p>
            <a:r>
              <a:rPr lang="en-US">
                <a:solidFill>
                  <a:srgbClr val="FFFFFF"/>
                </a:solidFill>
              </a:rPr>
              <a:t>The Ramp Method</a:t>
            </a:r>
          </a:p>
        </p:txBody>
      </p:sp>
      <p:sp>
        <p:nvSpPr>
          <p:cNvPr id="3" name="Content Placeholder 2">
            <a:extLst>
              <a:ext uri="{FF2B5EF4-FFF2-40B4-BE49-F238E27FC236}">
                <a16:creationId xmlns:a16="http://schemas.microsoft.com/office/drawing/2014/main" id="{DCE2508F-671F-FE8E-20A0-52A49F75797D}"/>
              </a:ext>
            </a:extLst>
          </p:cNvPr>
          <p:cNvSpPr>
            <a:spLocks noGrp="1"/>
          </p:cNvSpPr>
          <p:nvPr>
            <p:ph idx="1"/>
          </p:nvPr>
        </p:nvSpPr>
        <p:spPr>
          <a:xfrm>
            <a:off x="691079" y="2340131"/>
            <a:ext cx="9312562" cy="2475557"/>
          </a:xfrm>
        </p:spPr>
        <p:txBody>
          <a:bodyPr>
            <a:normAutofit/>
          </a:bodyPr>
          <a:lstStyle/>
          <a:p>
            <a:r>
              <a:rPr lang="en-US" sz="2800" dirty="0">
                <a:solidFill>
                  <a:srgbClr val="FFFFFF"/>
                </a:solidFill>
              </a:rPr>
              <a:t>This method is well suited where the terrain is moderately sloping. </a:t>
            </a:r>
          </a:p>
          <a:p>
            <a:r>
              <a:rPr lang="en-US" sz="2800" dirty="0">
                <a:solidFill>
                  <a:srgbClr val="FFFFFF"/>
                </a:solidFill>
              </a:rPr>
              <a:t>Some excavation is done to secure the covering material</a:t>
            </a:r>
          </a:p>
        </p:txBody>
      </p:sp>
    </p:spTree>
    <p:extLst>
      <p:ext uri="{BB962C8B-B14F-4D97-AF65-F5344CB8AC3E}">
        <p14:creationId xmlns:p14="http://schemas.microsoft.com/office/powerpoint/2010/main" val="1937909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664BF-2DE9-636A-390A-0D1D553E6210}"/>
              </a:ext>
            </a:extLst>
          </p:cNvPr>
          <p:cNvSpPr>
            <a:spLocks noGrp="1"/>
          </p:cNvSpPr>
          <p:nvPr>
            <p:ph type="title"/>
          </p:nvPr>
        </p:nvSpPr>
        <p:spPr/>
        <p:txBody>
          <a:bodyPr/>
          <a:lstStyle/>
          <a:p>
            <a:r>
              <a:rPr lang="en-US" dirty="0"/>
              <a:t>Area Method</a:t>
            </a:r>
          </a:p>
        </p:txBody>
      </p:sp>
      <p:sp>
        <p:nvSpPr>
          <p:cNvPr id="3" name="Content Placeholder 2">
            <a:extLst>
              <a:ext uri="{FF2B5EF4-FFF2-40B4-BE49-F238E27FC236}">
                <a16:creationId xmlns:a16="http://schemas.microsoft.com/office/drawing/2014/main" id="{A9619D7A-4BD3-A4A9-77BC-1F0972CE3CF8}"/>
              </a:ext>
            </a:extLst>
          </p:cNvPr>
          <p:cNvSpPr>
            <a:spLocks noGrp="1"/>
          </p:cNvSpPr>
          <p:nvPr>
            <p:ph idx="1"/>
          </p:nvPr>
        </p:nvSpPr>
        <p:spPr/>
        <p:txBody>
          <a:bodyPr>
            <a:normAutofit fontScale="92500" lnSpcReduction="20000"/>
          </a:bodyPr>
          <a:lstStyle/>
          <a:p>
            <a:r>
              <a:rPr lang="en-US" sz="2400" dirty="0"/>
              <a:t>This method is used for filling land depressions, disused quarries and clay pits. </a:t>
            </a:r>
          </a:p>
          <a:p>
            <a:r>
              <a:rPr lang="en-US" sz="2400" dirty="0"/>
              <a:t>The refuse is deposited, packed and consolidated in uniform layers up to 2 to 2.5 m (6-8 ft.) deep. </a:t>
            </a:r>
          </a:p>
          <a:p>
            <a:r>
              <a:rPr lang="en-US" sz="2400" dirty="0"/>
              <a:t>Each layer is sealed on its exposed surface with a mud cover at least 30 cm (12 inches) thick.</a:t>
            </a:r>
          </a:p>
          <a:p>
            <a:r>
              <a:rPr lang="en-US" sz="2400" dirty="0"/>
              <a:t>Such sealing prevents infestation by flies and rodents and suppresses the nuisance of smell and dust. </a:t>
            </a:r>
          </a:p>
          <a:p>
            <a:r>
              <a:rPr lang="en-US" sz="2400" dirty="0"/>
              <a:t>This method often has the disadvantage of requiring supplemental earth from outside sources.</a:t>
            </a:r>
          </a:p>
        </p:txBody>
      </p:sp>
    </p:spTree>
    <p:extLst>
      <p:ext uri="{BB962C8B-B14F-4D97-AF65-F5344CB8AC3E}">
        <p14:creationId xmlns:p14="http://schemas.microsoft.com/office/powerpoint/2010/main" val="4156434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6" name="Rectangle 3075">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3074" name="Picture 2" descr="Landfill means an engineered site where waste is separated from the ...">
            <a:extLst>
              <a:ext uri="{FF2B5EF4-FFF2-40B4-BE49-F238E27FC236}">
                <a16:creationId xmlns:a16="http://schemas.microsoft.com/office/drawing/2014/main" id="{8AAAAE41-34EA-6C6D-203D-E09581548390}"/>
              </a:ext>
            </a:extLst>
          </p:cNvPr>
          <p:cNvPicPr>
            <a:picLocks noGrp="1" noChangeAspect="1" noChangeArrowheads="1"/>
          </p:cNvPicPr>
          <p:nvPr>
            <p:ph idx="4294967295"/>
          </p:nvPr>
        </p:nvPicPr>
        <p:blipFill rotWithShape="1">
          <a:blip r:embed="rId2">
            <a:extLst>
              <a:ext uri="{28A0092B-C50C-407E-A947-70E740481C1C}">
                <a14:useLocalDpi xmlns:a14="http://schemas.microsoft.com/office/drawing/2010/main" val="0"/>
              </a:ext>
            </a:extLst>
          </a:blip>
          <a:srcRect l="925" t="1" r="323" b="1"/>
          <a:stretch/>
        </p:blipFill>
        <p:spPr bwMode="auto">
          <a:xfrm>
            <a:off x="-46892" y="10"/>
            <a:ext cx="12426462"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246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EB8B6-8C50-D6B7-9EB3-FEF69DEDE7E5}"/>
              </a:ext>
            </a:extLst>
          </p:cNvPr>
          <p:cNvSpPr>
            <a:spLocks noGrp="1"/>
          </p:cNvSpPr>
          <p:nvPr>
            <p:ph type="title"/>
          </p:nvPr>
        </p:nvSpPr>
        <p:spPr>
          <a:xfrm>
            <a:off x="691079" y="725952"/>
            <a:ext cx="10325000" cy="653670"/>
          </a:xfrm>
        </p:spPr>
        <p:txBody>
          <a:bodyPr>
            <a:normAutofit fontScale="90000"/>
          </a:bodyPr>
          <a:lstStyle/>
          <a:p>
            <a:r>
              <a:rPr lang="en-US" dirty="0"/>
              <a:t>Control tipping</a:t>
            </a:r>
          </a:p>
        </p:txBody>
      </p:sp>
      <p:sp>
        <p:nvSpPr>
          <p:cNvPr id="3" name="Content Placeholder 2">
            <a:extLst>
              <a:ext uri="{FF2B5EF4-FFF2-40B4-BE49-F238E27FC236}">
                <a16:creationId xmlns:a16="http://schemas.microsoft.com/office/drawing/2014/main" id="{80C17965-9877-F112-A2A4-E0FC14E73C40}"/>
              </a:ext>
            </a:extLst>
          </p:cNvPr>
          <p:cNvSpPr>
            <a:spLocks noGrp="1"/>
          </p:cNvSpPr>
          <p:nvPr>
            <p:ph idx="1"/>
          </p:nvPr>
        </p:nvSpPr>
        <p:spPr>
          <a:xfrm>
            <a:off x="128337" y="1379622"/>
            <a:ext cx="10887742" cy="4524945"/>
          </a:xfrm>
        </p:spPr>
        <p:txBody>
          <a:bodyPr>
            <a:normAutofit/>
          </a:bodyPr>
          <a:lstStyle/>
          <a:p>
            <a:r>
              <a:rPr lang="en-US" sz="2400" dirty="0"/>
              <a:t>Chemical, bacteriological and physical changes occur in buried refuse. </a:t>
            </a:r>
          </a:p>
          <a:p>
            <a:r>
              <a:rPr lang="en-US" sz="2400" dirty="0"/>
              <a:t>The temperature rises to over 60 deg. C within 7 days and kills all the pathogens and hastens the decomposition process. </a:t>
            </a:r>
          </a:p>
          <a:p>
            <a:r>
              <a:rPr lang="en-US" sz="2400" dirty="0"/>
              <a:t>Then it takes 2 to 3 weeks to cool down. </a:t>
            </a:r>
          </a:p>
          <a:p>
            <a:r>
              <a:rPr lang="en-US" sz="2400" dirty="0"/>
              <a:t>Normally it takes 4 to 6 months for complete decomposition of organic matter into an innocuous mass.</a:t>
            </a:r>
          </a:p>
          <a:p>
            <a:r>
              <a:rPr lang="en-US" sz="2400" dirty="0"/>
              <a:t>The tipping of refuse in water should not be done as it creates a nuisance from </a:t>
            </a:r>
            <a:r>
              <a:rPr lang="en-US" sz="2400" dirty="0" err="1"/>
              <a:t>odours</a:t>
            </a:r>
            <a:r>
              <a:rPr lang="en-US" sz="2400" dirty="0"/>
              <a:t> given off by the decomposition of organic matter. </a:t>
            </a:r>
          </a:p>
          <a:p>
            <a:r>
              <a:rPr lang="en-US" sz="2400" dirty="0"/>
              <a:t>The bulldozer achieves the tasks of spreading trimming and spreading top soil.</a:t>
            </a:r>
          </a:p>
        </p:txBody>
      </p:sp>
    </p:spTree>
    <p:extLst>
      <p:ext uri="{BB962C8B-B14F-4D97-AF65-F5344CB8AC3E}">
        <p14:creationId xmlns:p14="http://schemas.microsoft.com/office/powerpoint/2010/main" val="1265327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3941A-C8CF-5EE2-E62D-F70459606306}"/>
              </a:ext>
            </a:extLst>
          </p:cNvPr>
          <p:cNvSpPr>
            <a:spLocks noGrp="1"/>
          </p:cNvSpPr>
          <p:nvPr>
            <p:ph type="title"/>
          </p:nvPr>
        </p:nvSpPr>
        <p:spPr>
          <a:xfrm>
            <a:off x="691079" y="725951"/>
            <a:ext cx="10325000" cy="455149"/>
          </a:xfrm>
        </p:spPr>
        <p:txBody>
          <a:bodyPr>
            <a:normAutofit fontScale="90000"/>
          </a:bodyPr>
          <a:lstStyle/>
          <a:p>
            <a:r>
              <a:rPr lang="en-US" dirty="0"/>
              <a:t>Incineration</a:t>
            </a:r>
          </a:p>
        </p:txBody>
      </p:sp>
      <p:sp>
        <p:nvSpPr>
          <p:cNvPr id="3" name="Content Placeholder 2">
            <a:extLst>
              <a:ext uri="{FF2B5EF4-FFF2-40B4-BE49-F238E27FC236}">
                <a16:creationId xmlns:a16="http://schemas.microsoft.com/office/drawing/2014/main" id="{330F03CB-8B48-38E1-5401-95730A3E569C}"/>
              </a:ext>
            </a:extLst>
          </p:cNvPr>
          <p:cNvSpPr>
            <a:spLocks noGrp="1"/>
          </p:cNvSpPr>
          <p:nvPr>
            <p:ph idx="1"/>
          </p:nvPr>
        </p:nvSpPr>
        <p:spPr>
          <a:xfrm>
            <a:off x="691079" y="1295400"/>
            <a:ext cx="10325000" cy="5143499"/>
          </a:xfrm>
        </p:spPr>
        <p:txBody>
          <a:bodyPr>
            <a:normAutofit fontScale="92500" lnSpcReduction="10000"/>
          </a:bodyPr>
          <a:lstStyle/>
          <a:p>
            <a:r>
              <a:rPr lang="en-US" sz="2400" dirty="0"/>
              <a:t>Refuse can be disposed of hygienically by burning or incineration. It is the method of choice where suitable land is not available. </a:t>
            </a:r>
          </a:p>
          <a:p>
            <a:r>
              <a:rPr lang="en-US" sz="2400" dirty="0"/>
              <a:t>Hospital refuse which is particularly dangerous is best disposed of by incineration. </a:t>
            </a:r>
          </a:p>
          <a:p>
            <a:r>
              <a:rPr lang="en-US" sz="2400" dirty="0"/>
              <a:t>Incineration is </a:t>
            </a:r>
            <a:r>
              <a:rPr lang="en-US" sz="2400" dirty="0" err="1"/>
              <a:t>practised</a:t>
            </a:r>
            <a:r>
              <a:rPr lang="en-US" sz="2400" dirty="0"/>
              <a:t> in several of the industrialized countries, particularly in large cities due to lack of suitable land</a:t>
            </a:r>
          </a:p>
          <a:p>
            <a:r>
              <a:rPr lang="en-US" sz="2400" dirty="0"/>
              <a:t>Incineration is not a popular method in India because the refuse contains a fair proportion of fine ash which makes the burning difficult. </a:t>
            </a:r>
          </a:p>
          <a:p>
            <a:r>
              <a:rPr lang="en-US" sz="2400" dirty="0"/>
              <a:t>A preliminary separation of dust or ash is needed. All this involves heavy outlay and expenditure besides manipulative difficulties in the incinerator </a:t>
            </a:r>
          </a:p>
          <a:p>
            <a:r>
              <a:rPr lang="en-US" sz="2400" dirty="0"/>
              <a:t>Disposal of refuse by burning is a loss to the community in terms of the much needed manure. </a:t>
            </a:r>
          </a:p>
          <a:p>
            <a:r>
              <a:rPr lang="en-US" sz="2400" dirty="0"/>
              <a:t>Burning, therefore, has a limited application in refuse disposal in India.</a:t>
            </a:r>
          </a:p>
        </p:txBody>
      </p:sp>
    </p:spTree>
    <p:extLst>
      <p:ext uri="{BB962C8B-B14F-4D97-AF65-F5344CB8AC3E}">
        <p14:creationId xmlns:p14="http://schemas.microsoft.com/office/powerpoint/2010/main" val="1790726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AF9B7-7FE7-EC5F-8B69-4465DC9392F0}"/>
              </a:ext>
            </a:extLst>
          </p:cNvPr>
          <p:cNvSpPr>
            <a:spLocks noGrp="1"/>
          </p:cNvSpPr>
          <p:nvPr>
            <p:ph type="title"/>
          </p:nvPr>
        </p:nvSpPr>
        <p:spPr>
          <a:xfrm>
            <a:off x="691079" y="725952"/>
            <a:ext cx="10325000" cy="621586"/>
          </a:xfrm>
        </p:spPr>
        <p:txBody>
          <a:bodyPr>
            <a:normAutofit fontScale="90000"/>
          </a:bodyPr>
          <a:lstStyle/>
          <a:p>
            <a:r>
              <a:rPr lang="en-US" dirty="0"/>
              <a:t>Composting</a:t>
            </a:r>
          </a:p>
        </p:txBody>
      </p:sp>
      <p:sp>
        <p:nvSpPr>
          <p:cNvPr id="3" name="Content Placeholder 2">
            <a:extLst>
              <a:ext uri="{FF2B5EF4-FFF2-40B4-BE49-F238E27FC236}">
                <a16:creationId xmlns:a16="http://schemas.microsoft.com/office/drawing/2014/main" id="{CCB9078F-6E62-E202-B3B1-215D51F0352F}"/>
              </a:ext>
            </a:extLst>
          </p:cNvPr>
          <p:cNvSpPr>
            <a:spLocks noGrp="1"/>
          </p:cNvSpPr>
          <p:nvPr>
            <p:ph idx="1"/>
          </p:nvPr>
        </p:nvSpPr>
        <p:spPr>
          <a:xfrm>
            <a:off x="691079" y="1347538"/>
            <a:ext cx="10325000" cy="4557029"/>
          </a:xfrm>
        </p:spPr>
        <p:txBody>
          <a:bodyPr>
            <a:normAutofit fontScale="92500"/>
          </a:bodyPr>
          <a:lstStyle/>
          <a:p>
            <a:r>
              <a:rPr lang="en-US" sz="2400" dirty="0"/>
              <a:t>Combined disposal of refuse and nightsoil or sludge. </a:t>
            </a:r>
          </a:p>
          <a:p>
            <a:r>
              <a:rPr lang="en-US" sz="2400" dirty="0"/>
              <a:t>It is a process of nature whereby organic matter breaks down under bacterial action resulting in the formation of relatively stable humus-like material, called the compost which has considerable manurial value for the soil. </a:t>
            </a:r>
          </a:p>
          <a:p>
            <a:r>
              <a:rPr lang="en-US" sz="2400" dirty="0"/>
              <a:t>The principal by-products are carbon dioxide, water and heat. </a:t>
            </a:r>
          </a:p>
          <a:p>
            <a:r>
              <a:rPr lang="en-US" sz="2400" dirty="0"/>
              <a:t>The heat produced during composting, about 60 deg C or higher, over a period of several days, destroys eggs and larvae of flies, weed seeds and pathogenic agents. </a:t>
            </a:r>
          </a:p>
          <a:p>
            <a:r>
              <a:rPr lang="en-US" sz="2400" dirty="0"/>
              <a:t>The end-product — compost — contains few or no disease producing organisms, and is a good soil builder containing small amounts of the major plant nutrients such as nitrates and phosphates</a:t>
            </a:r>
          </a:p>
        </p:txBody>
      </p:sp>
    </p:spTree>
    <p:extLst>
      <p:ext uri="{BB962C8B-B14F-4D97-AF65-F5344CB8AC3E}">
        <p14:creationId xmlns:p14="http://schemas.microsoft.com/office/powerpoint/2010/main" val="4109272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EDF46-16B0-1957-046A-5959112A890F}"/>
              </a:ext>
            </a:extLst>
          </p:cNvPr>
          <p:cNvSpPr>
            <a:spLocks noGrp="1"/>
          </p:cNvSpPr>
          <p:nvPr>
            <p:ph type="title"/>
          </p:nvPr>
        </p:nvSpPr>
        <p:spPr>
          <a:xfrm>
            <a:off x="691079" y="725951"/>
            <a:ext cx="10325000" cy="749923"/>
          </a:xfrm>
        </p:spPr>
        <p:txBody>
          <a:bodyPr>
            <a:normAutofit fontScale="90000"/>
          </a:bodyPr>
          <a:lstStyle/>
          <a:p>
            <a:r>
              <a:rPr lang="en-US" dirty="0"/>
              <a:t>Bangalore method (anaerobic)</a:t>
            </a:r>
          </a:p>
        </p:txBody>
      </p:sp>
      <p:sp>
        <p:nvSpPr>
          <p:cNvPr id="3" name="Content Placeholder 2">
            <a:extLst>
              <a:ext uri="{FF2B5EF4-FFF2-40B4-BE49-F238E27FC236}">
                <a16:creationId xmlns:a16="http://schemas.microsoft.com/office/drawing/2014/main" id="{697DC634-3924-4B15-9ECC-AC0B30AC70A9}"/>
              </a:ext>
            </a:extLst>
          </p:cNvPr>
          <p:cNvSpPr>
            <a:spLocks noGrp="1"/>
          </p:cNvSpPr>
          <p:nvPr>
            <p:ph idx="1"/>
          </p:nvPr>
        </p:nvSpPr>
        <p:spPr>
          <a:xfrm>
            <a:off x="691079" y="1668379"/>
            <a:ext cx="10325000" cy="4236188"/>
          </a:xfrm>
        </p:spPr>
        <p:txBody>
          <a:bodyPr>
            <a:normAutofit fontScale="85000" lnSpcReduction="10000"/>
          </a:bodyPr>
          <a:lstStyle/>
          <a:p>
            <a:r>
              <a:rPr lang="en-US" dirty="0">
                <a:highlight>
                  <a:srgbClr val="FFFF00"/>
                </a:highlight>
              </a:rPr>
              <a:t>Indian Council of Agricultural Research at the Indian Institute of Science, Bangalore</a:t>
            </a:r>
            <a:r>
              <a:rPr lang="en-US" dirty="0"/>
              <a:t>, a system of anaerobic composting, known as Bangalore method (hot fermentation process) has been developed.</a:t>
            </a:r>
          </a:p>
          <a:p>
            <a:r>
              <a:rPr lang="en-US" dirty="0"/>
              <a:t>Trenches are dug </a:t>
            </a:r>
            <a:r>
              <a:rPr lang="en-US" dirty="0">
                <a:highlight>
                  <a:srgbClr val="FFFF00"/>
                </a:highlight>
              </a:rPr>
              <a:t>90 cm (3 ft.) deep, 1.5 to 2.5 m (5-8 ft.) broa</a:t>
            </a:r>
            <a:r>
              <a:rPr lang="en-US" dirty="0"/>
              <a:t>d and 4.5 to 10 m (15-30 ft.) long, depending upon the amount of refuse and nightsoil to be disposed of. </a:t>
            </a:r>
          </a:p>
          <a:p>
            <a:r>
              <a:rPr lang="en-US" dirty="0"/>
              <a:t>Depths greater than 90 cm (3 ft.) are not recommended because of slow decomposition. </a:t>
            </a:r>
          </a:p>
          <a:p>
            <a:r>
              <a:rPr lang="en-US" dirty="0"/>
              <a:t>The pits should be located not less than </a:t>
            </a:r>
            <a:r>
              <a:rPr lang="en-US" dirty="0">
                <a:highlight>
                  <a:srgbClr val="FFFF00"/>
                </a:highlight>
              </a:rPr>
              <a:t>800 m (1/2 mile) from city limits</a:t>
            </a:r>
            <a:r>
              <a:rPr lang="en-US" dirty="0"/>
              <a:t>.</a:t>
            </a:r>
          </a:p>
          <a:p>
            <a:r>
              <a:rPr lang="en-US" dirty="0"/>
              <a:t>First a layer of </a:t>
            </a:r>
            <a:r>
              <a:rPr lang="en-US" dirty="0">
                <a:highlight>
                  <a:srgbClr val="FFFF00"/>
                </a:highlight>
              </a:rPr>
              <a:t>refuse about 15 cm (6 in) thick </a:t>
            </a:r>
            <a:r>
              <a:rPr lang="en-US" dirty="0"/>
              <a:t>is spread at the bottom of the trench. Over this, nightsoil is added corresponding to a thickness </a:t>
            </a:r>
            <a:r>
              <a:rPr lang="en-US" dirty="0">
                <a:highlight>
                  <a:srgbClr val="FFFF00"/>
                </a:highlight>
              </a:rPr>
              <a:t>of 5 cm (2 in). </a:t>
            </a:r>
            <a:r>
              <a:rPr lang="en-US" dirty="0"/>
              <a:t>Then alternate layers of refuse and nightsoil are added in the proportion of 15 cm (6 in) and 5 cm (2 in) respectively, till the heap rises to </a:t>
            </a:r>
            <a:r>
              <a:rPr lang="en-US" dirty="0">
                <a:highlight>
                  <a:srgbClr val="FFFF00"/>
                </a:highlight>
              </a:rPr>
              <a:t>30 cm (1 ft.) above the ground level</a:t>
            </a:r>
            <a:r>
              <a:rPr lang="en-US" dirty="0"/>
              <a:t>. </a:t>
            </a:r>
          </a:p>
          <a:p>
            <a:r>
              <a:rPr lang="en-US" dirty="0"/>
              <a:t>The </a:t>
            </a:r>
            <a:r>
              <a:rPr lang="en-US" dirty="0">
                <a:highlight>
                  <a:srgbClr val="FFFF00"/>
                </a:highlight>
              </a:rPr>
              <a:t>top layer should be of refuse, at least 25 cm (9 in) thickness. </a:t>
            </a:r>
          </a:p>
          <a:p>
            <a:r>
              <a:rPr lang="en-US" dirty="0"/>
              <a:t>Then the heap is covered with excavated earth. If properly laid, a man’s legs will not sink when walking over the compost mass</a:t>
            </a:r>
          </a:p>
        </p:txBody>
      </p:sp>
    </p:spTree>
    <p:extLst>
      <p:ext uri="{BB962C8B-B14F-4D97-AF65-F5344CB8AC3E}">
        <p14:creationId xmlns:p14="http://schemas.microsoft.com/office/powerpoint/2010/main" val="248081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EDF46-16B0-1957-046A-5959112A890F}"/>
              </a:ext>
            </a:extLst>
          </p:cNvPr>
          <p:cNvSpPr>
            <a:spLocks noGrp="1"/>
          </p:cNvSpPr>
          <p:nvPr>
            <p:ph type="title"/>
          </p:nvPr>
        </p:nvSpPr>
        <p:spPr>
          <a:xfrm>
            <a:off x="691079" y="725951"/>
            <a:ext cx="10325000" cy="749923"/>
          </a:xfrm>
        </p:spPr>
        <p:txBody>
          <a:bodyPr>
            <a:normAutofit fontScale="90000"/>
          </a:bodyPr>
          <a:lstStyle/>
          <a:p>
            <a:r>
              <a:rPr lang="en-US" dirty="0"/>
              <a:t>Bangalore method (anaerobic)</a:t>
            </a:r>
          </a:p>
        </p:txBody>
      </p:sp>
      <p:sp>
        <p:nvSpPr>
          <p:cNvPr id="3" name="Content Placeholder 2">
            <a:extLst>
              <a:ext uri="{FF2B5EF4-FFF2-40B4-BE49-F238E27FC236}">
                <a16:creationId xmlns:a16="http://schemas.microsoft.com/office/drawing/2014/main" id="{697DC634-3924-4B15-9ECC-AC0B30AC70A9}"/>
              </a:ext>
            </a:extLst>
          </p:cNvPr>
          <p:cNvSpPr>
            <a:spLocks noGrp="1"/>
          </p:cNvSpPr>
          <p:nvPr>
            <p:ph idx="1"/>
          </p:nvPr>
        </p:nvSpPr>
        <p:spPr>
          <a:xfrm>
            <a:off x="691079" y="1668379"/>
            <a:ext cx="10325000" cy="4236188"/>
          </a:xfrm>
        </p:spPr>
        <p:txBody>
          <a:bodyPr>
            <a:normAutofit/>
          </a:bodyPr>
          <a:lstStyle/>
          <a:p>
            <a:r>
              <a:rPr lang="en-US" dirty="0">
                <a:solidFill>
                  <a:schemeClr val="tx1"/>
                </a:solidFill>
              </a:rPr>
              <a:t>Within 7 days as a result of bacterial action considerable heat (over 60 deg C) is generated in the compost mass. </a:t>
            </a:r>
          </a:p>
          <a:p>
            <a:r>
              <a:rPr lang="en-US" dirty="0">
                <a:solidFill>
                  <a:schemeClr val="tx1"/>
                </a:solidFill>
              </a:rPr>
              <a:t>This intense heat which persists over 2 or 3 weeks, serves to decompose the refuse and nightsoil and to destroy all pathogenic and parasitic organisms. </a:t>
            </a:r>
          </a:p>
          <a:p>
            <a:r>
              <a:rPr lang="en-US" dirty="0">
                <a:solidFill>
                  <a:schemeClr val="tx1"/>
                </a:solidFill>
              </a:rPr>
              <a:t>At </a:t>
            </a:r>
            <a:r>
              <a:rPr lang="en-US" dirty="0">
                <a:solidFill>
                  <a:schemeClr val="tx1"/>
                </a:solidFill>
                <a:highlight>
                  <a:srgbClr val="FFFF00"/>
                </a:highlight>
              </a:rPr>
              <a:t>the end of 4 to 6 Months, decomposition is complete </a:t>
            </a:r>
            <a:r>
              <a:rPr lang="en-US" dirty="0">
                <a:solidFill>
                  <a:schemeClr val="tx1"/>
                </a:solidFill>
              </a:rPr>
              <a:t>and the resulting Manure is a well decomposed, </a:t>
            </a:r>
            <a:r>
              <a:rPr lang="en-US" dirty="0" err="1">
                <a:solidFill>
                  <a:schemeClr val="tx1"/>
                </a:solidFill>
              </a:rPr>
              <a:t>odourless</a:t>
            </a:r>
            <a:r>
              <a:rPr lang="en-US" dirty="0">
                <a:solidFill>
                  <a:schemeClr val="tx1"/>
                </a:solidFill>
              </a:rPr>
              <a:t>, innocuous material of high manurial value ready for application to the land. </a:t>
            </a:r>
          </a:p>
          <a:p>
            <a:r>
              <a:rPr lang="en-US" dirty="0">
                <a:solidFill>
                  <a:schemeClr val="tx1"/>
                </a:solidFill>
              </a:rPr>
              <a:t>The Environmental Hygiene Committee (1949) </a:t>
            </a:r>
            <a:r>
              <a:rPr lang="en-US" dirty="0">
                <a:solidFill>
                  <a:schemeClr val="tx1"/>
                </a:solidFill>
                <a:highlight>
                  <a:srgbClr val="FFFF00"/>
                </a:highlight>
              </a:rPr>
              <a:t>did not recommend composting by municipalities with a population of over 100,000.</a:t>
            </a:r>
            <a:r>
              <a:rPr lang="en-US" dirty="0">
                <a:solidFill>
                  <a:schemeClr val="tx1"/>
                </a:solidFill>
              </a:rPr>
              <a:t> </a:t>
            </a:r>
          </a:p>
          <a:p>
            <a:r>
              <a:rPr lang="en-US" dirty="0">
                <a:solidFill>
                  <a:schemeClr val="tx1"/>
                </a:solidFill>
              </a:rPr>
              <a:t>Bigger municipalities should install underground sewers to transport human excreta.</a:t>
            </a:r>
          </a:p>
        </p:txBody>
      </p:sp>
    </p:spTree>
    <p:extLst>
      <p:ext uri="{BB962C8B-B14F-4D97-AF65-F5344CB8AC3E}">
        <p14:creationId xmlns:p14="http://schemas.microsoft.com/office/powerpoint/2010/main" val="2005486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CE76B-7C07-8064-10F4-054211735FEF}"/>
              </a:ext>
            </a:extLst>
          </p:cNvPr>
          <p:cNvSpPr>
            <a:spLocks noGrp="1"/>
          </p:cNvSpPr>
          <p:nvPr>
            <p:ph type="title"/>
          </p:nvPr>
        </p:nvSpPr>
        <p:spPr>
          <a:xfrm>
            <a:off x="691079" y="725951"/>
            <a:ext cx="10325000" cy="696449"/>
          </a:xfrm>
        </p:spPr>
        <p:txBody>
          <a:bodyPr>
            <a:normAutofit fontScale="90000"/>
          </a:bodyPr>
          <a:lstStyle/>
          <a:p>
            <a:r>
              <a:rPr lang="en-US" dirty="0"/>
              <a:t>Mechanical Composting (aerobic)</a:t>
            </a:r>
          </a:p>
        </p:txBody>
      </p:sp>
      <p:sp>
        <p:nvSpPr>
          <p:cNvPr id="3" name="Content Placeholder 2">
            <a:extLst>
              <a:ext uri="{FF2B5EF4-FFF2-40B4-BE49-F238E27FC236}">
                <a16:creationId xmlns:a16="http://schemas.microsoft.com/office/drawing/2014/main" id="{2DCED5EC-1F89-06CA-FE86-E167102B3914}"/>
              </a:ext>
            </a:extLst>
          </p:cNvPr>
          <p:cNvSpPr>
            <a:spLocks noGrp="1"/>
          </p:cNvSpPr>
          <p:nvPr>
            <p:ph idx="1"/>
          </p:nvPr>
        </p:nvSpPr>
        <p:spPr>
          <a:xfrm>
            <a:off x="691079" y="1511300"/>
            <a:ext cx="10325000" cy="4393267"/>
          </a:xfrm>
        </p:spPr>
        <p:txBody>
          <a:bodyPr>
            <a:normAutofit fontScale="85000" lnSpcReduction="10000"/>
          </a:bodyPr>
          <a:lstStyle/>
          <a:p>
            <a:r>
              <a:rPr lang="en-US" dirty="0"/>
              <a:t>Compost is literally manufactured on a large scale by processing raw materials and turning out a finished product. </a:t>
            </a:r>
          </a:p>
          <a:p>
            <a:r>
              <a:rPr lang="en-US" dirty="0"/>
              <a:t>The refuse is </a:t>
            </a:r>
            <a:r>
              <a:rPr lang="en-US" dirty="0">
                <a:highlight>
                  <a:srgbClr val="FFFF00"/>
                </a:highlight>
              </a:rPr>
              <a:t>first cleared of salvageable materials </a:t>
            </a:r>
            <a:r>
              <a:rPr lang="en-US" dirty="0"/>
              <a:t>such as rags, bones, metal, glass and items which are likely to interfere with the grinding operation. </a:t>
            </a:r>
          </a:p>
          <a:p>
            <a:r>
              <a:rPr lang="en-US" dirty="0"/>
              <a:t>It is then </a:t>
            </a:r>
            <a:r>
              <a:rPr lang="en-US" dirty="0" err="1"/>
              <a:t>pulverised</a:t>
            </a:r>
            <a:r>
              <a:rPr lang="en-US" dirty="0"/>
              <a:t> in a </a:t>
            </a:r>
            <a:r>
              <a:rPr lang="en-US" dirty="0" err="1"/>
              <a:t>pulverising</a:t>
            </a:r>
            <a:r>
              <a:rPr lang="en-US" dirty="0"/>
              <a:t> equipment in order to </a:t>
            </a:r>
            <a:r>
              <a:rPr lang="en-US" dirty="0">
                <a:highlight>
                  <a:srgbClr val="FFFF00"/>
                </a:highlight>
              </a:rPr>
              <a:t>reduce the size of articles to less than 2 inches. </a:t>
            </a:r>
          </a:p>
          <a:p>
            <a:r>
              <a:rPr lang="en-US" dirty="0"/>
              <a:t>The </a:t>
            </a:r>
            <a:r>
              <a:rPr lang="en-US" dirty="0" err="1"/>
              <a:t>pulverised</a:t>
            </a:r>
            <a:r>
              <a:rPr lang="en-US" dirty="0"/>
              <a:t> refuse is then </a:t>
            </a:r>
            <a:r>
              <a:rPr lang="en-US" dirty="0">
                <a:highlight>
                  <a:srgbClr val="FFFF00"/>
                </a:highlight>
              </a:rPr>
              <a:t>mixed with sewage, sludge or nightsoil</a:t>
            </a:r>
            <a:r>
              <a:rPr lang="en-US" dirty="0"/>
              <a:t> in a rotating machine and incubated. </a:t>
            </a:r>
          </a:p>
          <a:p>
            <a:r>
              <a:rPr lang="en-US" dirty="0"/>
              <a:t>The factors which are controlled in the operation are a </a:t>
            </a:r>
            <a:r>
              <a:rPr lang="en-US" dirty="0">
                <a:highlight>
                  <a:srgbClr val="FFFF00"/>
                </a:highlight>
              </a:rPr>
              <a:t>certain carbon-nitrogen ratio, temperature, moisture, pH and aeration. </a:t>
            </a:r>
            <a:r>
              <a:rPr lang="en-US" dirty="0"/>
              <a:t>The entire process of composting is complete in 4 to 6 weeks.</a:t>
            </a:r>
          </a:p>
          <a:p>
            <a:r>
              <a:rPr lang="en-US" dirty="0"/>
              <a:t>This method of composting is in vogue in some of the developed countries, e.g., Holland, Germany, Switzerland, Israel. </a:t>
            </a:r>
          </a:p>
          <a:p>
            <a:r>
              <a:rPr lang="en-US" dirty="0"/>
              <a:t>The Government of India is considering the installation of mechanical composting plants in selected cities. Cities such as Delhi, Nagpur, Mumbai, Chennai. Pune, Allahabad, Hyderabad, Lucknow and Kanpur have offered to join the Government for setting up pilot plants for mechanical composting.</a:t>
            </a:r>
          </a:p>
        </p:txBody>
      </p:sp>
    </p:spTree>
    <p:extLst>
      <p:ext uri="{BB962C8B-B14F-4D97-AF65-F5344CB8AC3E}">
        <p14:creationId xmlns:p14="http://schemas.microsoft.com/office/powerpoint/2010/main" val="3189377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1C582B07-D0F0-4B6B-A5D9-D2F192CB3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105" name="Group 4104">
            <a:extLst>
              <a:ext uri="{FF2B5EF4-FFF2-40B4-BE49-F238E27FC236}">
                <a16:creationId xmlns:a16="http://schemas.microsoft.com/office/drawing/2014/main" id="{614A5768-EA51-48A2-8E17-AE20B9FE02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106" name="Straight Connector 4105">
              <a:extLst>
                <a:ext uri="{FF2B5EF4-FFF2-40B4-BE49-F238E27FC236}">
                  <a16:creationId xmlns:a16="http://schemas.microsoft.com/office/drawing/2014/main" id="{ED70F1A8-626B-430B-AACC-E280EB946B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07" name="Straight Connector 4106">
              <a:extLst>
                <a:ext uri="{FF2B5EF4-FFF2-40B4-BE49-F238E27FC236}">
                  <a16:creationId xmlns:a16="http://schemas.microsoft.com/office/drawing/2014/main" id="{1D9D2887-DD9B-48D0-9844-B5D2024C7E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08" name="Straight Connector 4107">
              <a:extLst>
                <a:ext uri="{FF2B5EF4-FFF2-40B4-BE49-F238E27FC236}">
                  <a16:creationId xmlns:a16="http://schemas.microsoft.com/office/drawing/2014/main" id="{990C04EA-C56F-4932-AB66-F426CACB40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09" name="Straight Connector 4108">
              <a:extLst>
                <a:ext uri="{FF2B5EF4-FFF2-40B4-BE49-F238E27FC236}">
                  <a16:creationId xmlns:a16="http://schemas.microsoft.com/office/drawing/2014/main" id="{7CF894E2-AF43-4E3B-94A7-890F7AD25A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10" name="Straight Connector 4109">
              <a:extLst>
                <a:ext uri="{FF2B5EF4-FFF2-40B4-BE49-F238E27FC236}">
                  <a16:creationId xmlns:a16="http://schemas.microsoft.com/office/drawing/2014/main" id="{51C292B8-EA04-4F65-8D17-4954B29EEED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11" name="Straight Connector 4110">
              <a:extLst>
                <a:ext uri="{FF2B5EF4-FFF2-40B4-BE49-F238E27FC236}">
                  <a16:creationId xmlns:a16="http://schemas.microsoft.com/office/drawing/2014/main" id="{0126744D-59AC-407B-977F-9F7B798903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12" name="Straight Connector 4111">
              <a:extLst>
                <a:ext uri="{FF2B5EF4-FFF2-40B4-BE49-F238E27FC236}">
                  <a16:creationId xmlns:a16="http://schemas.microsoft.com/office/drawing/2014/main" id="{6BFD4FA3-B553-4776-83CC-43156375A0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13" name="Straight Connector 4112">
              <a:extLst>
                <a:ext uri="{FF2B5EF4-FFF2-40B4-BE49-F238E27FC236}">
                  <a16:creationId xmlns:a16="http://schemas.microsoft.com/office/drawing/2014/main" id="{5145C5FE-691A-4620-9B50-AFE8DBB10ED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14" name="Straight Connector 4113">
              <a:extLst>
                <a:ext uri="{FF2B5EF4-FFF2-40B4-BE49-F238E27FC236}">
                  <a16:creationId xmlns:a16="http://schemas.microsoft.com/office/drawing/2014/main" id="{04E186B6-4496-412B-993D-EBA54ACED1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15" name="Straight Connector 4114">
              <a:extLst>
                <a:ext uri="{FF2B5EF4-FFF2-40B4-BE49-F238E27FC236}">
                  <a16:creationId xmlns:a16="http://schemas.microsoft.com/office/drawing/2014/main" id="{67CCFC45-B62F-4FB2-8A1C-24299AB6A8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16" name="Straight Connector 4115">
              <a:extLst>
                <a:ext uri="{FF2B5EF4-FFF2-40B4-BE49-F238E27FC236}">
                  <a16:creationId xmlns:a16="http://schemas.microsoft.com/office/drawing/2014/main" id="{03E987B3-0DB8-4E10-8F2F-939C9975E9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17" name="Straight Connector 4116">
              <a:extLst>
                <a:ext uri="{FF2B5EF4-FFF2-40B4-BE49-F238E27FC236}">
                  <a16:creationId xmlns:a16="http://schemas.microsoft.com/office/drawing/2014/main" id="{50CF3A0F-1366-43D4-B9ED-39506390F9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18" name="Straight Connector 4117">
              <a:extLst>
                <a:ext uri="{FF2B5EF4-FFF2-40B4-BE49-F238E27FC236}">
                  <a16:creationId xmlns:a16="http://schemas.microsoft.com/office/drawing/2014/main" id="{A3370E57-5DAF-4AD1-A44A-32A93556E9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19" name="Straight Connector 4118">
              <a:extLst>
                <a:ext uri="{FF2B5EF4-FFF2-40B4-BE49-F238E27FC236}">
                  <a16:creationId xmlns:a16="http://schemas.microsoft.com/office/drawing/2014/main" id="{5438A8C5-7279-4DA9-B1BA-5A76E020CE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20" name="Straight Connector 4119">
              <a:extLst>
                <a:ext uri="{FF2B5EF4-FFF2-40B4-BE49-F238E27FC236}">
                  <a16:creationId xmlns:a16="http://schemas.microsoft.com/office/drawing/2014/main" id="{4119694A-5560-4890-99CF-E4B89F5F16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21" name="Straight Connector 4120">
              <a:extLst>
                <a:ext uri="{FF2B5EF4-FFF2-40B4-BE49-F238E27FC236}">
                  <a16:creationId xmlns:a16="http://schemas.microsoft.com/office/drawing/2014/main" id="{3A41929D-D2D8-4211-8E30-449C7F67EA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22" name="Straight Connector 4121">
              <a:extLst>
                <a:ext uri="{FF2B5EF4-FFF2-40B4-BE49-F238E27FC236}">
                  <a16:creationId xmlns:a16="http://schemas.microsoft.com/office/drawing/2014/main" id="{6346B496-7BD4-408E-9387-4B2DBD88DBB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23" name="Straight Connector 4122">
              <a:extLst>
                <a:ext uri="{FF2B5EF4-FFF2-40B4-BE49-F238E27FC236}">
                  <a16:creationId xmlns:a16="http://schemas.microsoft.com/office/drawing/2014/main" id="{FF4954B0-8891-4B5C-B5C2-2B098DA9D6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24" name="Straight Connector 4123">
              <a:extLst>
                <a:ext uri="{FF2B5EF4-FFF2-40B4-BE49-F238E27FC236}">
                  <a16:creationId xmlns:a16="http://schemas.microsoft.com/office/drawing/2014/main" id="{FE2F714F-4C40-46D7-A9B0-5A41FCE1CC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25" name="Straight Connector 4124">
              <a:extLst>
                <a:ext uri="{FF2B5EF4-FFF2-40B4-BE49-F238E27FC236}">
                  <a16:creationId xmlns:a16="http://schemas.microsoft.com/office/drawing/2014/main" id="{8B45C2AB-7F9E-4A2B-845D-39DA52F785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26" name="Straight Connector 4125">
              <a:extLst>
                <a:ext uri="{FF2B5EF4-FFF2-40B4-BE49-F238E27FC236}">
                  <a16:creationId xmlns:a16="http://schemas.microsoft.com/office/drawing/2014/main" id="{F7540879-E48F-44C9-8978-75F20ECA847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27" name="Straight Connector 4126">
              <a:extLst>
                <a:ext uri="{FF2B5EF4-FFF2-40B4-BE49-F238E27FC236}">
                  <a16:creationId xmlns:a16="http://schemas.microsoft.com/office/drawing/2014/main" id="{E99A807C-71D8-48EB-B90A-18ABEC581F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28" name="Straight Connector 4127">
              <a:extLst>
                <a:ext uri="{FF2B5EF4-FFF2-40B4-BE49-F238E27FC236}">
                  <a16:creationId xmlns:a16="http://schemas.microsoft.com/office/drawing/2014/main" id="{77DBB3B2-0577-449E-822F-EC7F39931A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29" name="Straight Connector 4128">
              <a:extLst>
                <a:ext uri="{FF2B5EF4-FFF2-40B4-BE49-F238E27FC236}">
                  <a16:creationId xmlns:a16="http://schemas.microsoft.com/office/drawing/2014/main" id="{1E9C75EC-55AD-4526-81DC-A716FD7381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30" name="Straight Connector 4129">
              <a:extLst>
                <a:ext uri="{FF2B5EF4-FFF2-40B4-BE49-F238E27FC236}">
                  <a16:creationId xmlns:a16="http://schemas.microsoft.com/office/drawing/2014/main" id="{0EC495AC-53AC-46EB-AF18-9F9B724541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31" name="Straight Connector 4130">
              <a:extLst>
                <a:ext uri="{FF2B5EF4-FFF2-40B4-BE49-F238E27FC236}">
                  <a16:creationId xmlns:a16="http://schemas.microsoft.com/office/drawing/2014/main" id="{5476CB3D-FE8C-4CAF-B287-0576A80CCD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32" name="Straight Connector 4131">
              <a:extLst>
                <a:ext uri="{FF2B5EF4-FFF2-40B4-BE49-F238E27FC236}">
                  <a16:creationId xmlns:a16="http://schemas.microsoft.com/office/drawing/2014/main" id="{D34B38EE-AF53-4E0C-A55A-A17CC17EF74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33" name="Straight Connector 4132">
              <a:extLst>
                <a:ext uri="{FF2B5EF4-FFF2-40B4-BE49-F238E27FC236}">
                  <a16:creationId xmlns:a16="http://schemas.microsoft.com/office/drawing/2014/main" id="{D7DE7212-9D6E-4F4E-A073-5B5B858AFF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34" name="Straight Connector 4133">
              <a:extLst>
                <a:ext uri="{FF2B5EF4-FFF2-40B4-BE49-F238E27FC236}">
                  <a16:creationId xmlns:a16="http://schemas.microsoft.com/office/drawing/2014/main" id="{A7C6AD08-49F6-4369-9405-2E06CED9FE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35" name="Straight Connector 4134">
              <a:extLst>
                <a:ext uri="{FF2B5EF4-FFF2-40B4-BE49-F238E27FC236}">
                  <a16:creationId xmlns:a16="http://schemas.microsoft.com/office/drawing/2014/main" id="{04E501EB-B771-494E-8AF3-5350560EBA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36" name="Straight Connector 4135">
              <a:extLst>
                <a:ext uri="{FF2B5EF4-FFF2-40B4-BE49-F238E27FC236}">
                  <a16:creationId xmlns:a16="http://schemas.microsoft.com/office/drawing/2014/main" id="{FEA122D9-8BE6-498E-AB20-311EBD5EF8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138" name="Right Triangle 4137">
            <a:extLst>
              <a:ext uri="{FF2B5EF4-FFF2-40B4-BE49-F238E27FC236}">
                <a16:creationId xmlns:a16="http://schemas.microsoft.com/office/drawing/2014/main" id="{5FB205E9-694A-469E-97E7-7339DE0BC2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6293591" y="-284145"/>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37CA5155-ED07-DAC5-0B87-686B24DF0B0B}"/>
              </a:ext>
            </a:extLst>
          </p:cNvPr>
          <p:cNvSpPr>
            <a:spLocks noGrp="1"/>
          </p:cNvSpPr>
          <p:nvPr>
            <p:ph type="title"/>
          </p:nvPr>
        </p:nvSpPr>
        <p:spPr>
          <a:xfrm>
            <a:off x="6092891" y="725952"/>
            <a:ext cx="4916971" cy="761646"/>
          </a:xfrm>
        </p:spPr>
        <p:txBody>
          <a:bodyPr>
            <a:normAutofit fontScale="90000"/>
          </a:bodyPr>
          <a:lstStyle/>
          <a:p>
            <a:r>
              <a:rPr lang="en-US" dirty="0"/>
              <a:t>Manure pits</a:t>
            </a:r>
          </a:p>
        </p:txBody>
      </p:sp>
      <p:sp>
        <p:nvSpPr>
          <p:cNvPr id="3" name="Content Placeholder 2">
            <a:extLst>
              <a:ext uri="{FF2B5EF4-FFF2-40B4-BE49-F238E27FC236}">
                <a16:creationId xmlns:a16="http://schemas.microsoft.com/office/drawing/2014/main" id="{5EBC3083-0634-3EDC-9668-30486B684CCF}"/>
              </a:ext>
            </a:extLst>
          </p:cNvPr>
          <p:cNvSpPr>
            <a:spLocks noGrp="1"/>
          </p:cNvSpPr>
          <p:nvPr>
            <p:ph idx="1"/>
          </p:nvPr>
        </p:nvSpPr>
        <p:spPr>
          <a:xfrm>
            <a:off x="5588127" y="1659314"/>
            <a:ext cx="6212600" cy="4484088"/>
          </a:xfrm>
        </p:spPr>
        <p:txBody>
          <a:bodyPr>
            <a:normAutofit/>
          </a:bodyPr>
          <a:lstStyle/>
          <a:p>
            <a:pPr>
              <a:lnSpc>
                <a:spcPct val="100000"/>
              </a:lnSpc>
            </a:pPr>
            <a:r>
              <a:rPr lang="en-US" sz="1800" dirty="0"/>
              <a:t>In rural areas in India, there is no system for collection and disposal of refuse. Refuse is thrown around the houses indiscriminately resulting in gross pollution of the soil. </a:t>
            </a:r>
          </a:p>
          <a:p>
            <a:pPr>
              <a:lnSpc>
                <a:spcPct val="100000"/>
              </a:lnSpc>
            </a:pPr>
            <a:r>
              <a:rPr lang="en-US" sz="1800" dirty="0"/>
              <a:t>The problem of refuse disposal in rural areas can be solved by digging ‘manure pits’ by the individual householders. The </a:t>
            </a:r>
            <a:r>
              <a:rPr lang="en-US" sz="1800" dirty="0">
                <a:highlight>
                  <a:srgbClr val="FFFF00"/>
                </a:highlight>
              </a:rPr>
              <a:t>garbage, cattle dung, straw, and leaves should be dumped into the manure pits and covered with earth after each day’s dumping. </a:t>
            </a:r>
          </a:p>
          <a:p>
            <a:pPr>
              <a:lnSpc>
                <a:spcPct val="100000"/>
              </a:lnSpc>
            </a:pPr>
            <a:r>
              <a:rPr lang="en-US" sz="1800" dirty="0"/>
              <a:t>Two such pits will be needed, when one is closed, the other will be in use. </a:t>
            </a:r>
          </a:p>
          <a:p>
            <a:pPr>
              <a:lnSpc>
                <a:spcPct val="100000"/>
              </a:lnSpc>
            </a:pPr>
            <a:r>
              <a:rPr lang="en-US" sz="1800" dirty="0"/>
              <a:t>In </a:t>
            </a:r>
            <a:r>
              <a:rPr lang="en-US" sz="1800" dirty="0">
                <a:highlight>
                  <a:srgbClr val="FFFF00"/>
                </a:highlight>
              </a:rPr>
              <a:t>5 to 6 month’s time, the refuse is converted into manure </a:t>
            </a:r>
            <a:r>
              <a:rPr lang="en-US" sz="1800" dirty="0"/>
              <a:t>which can be returned to the field.</a:t>
            </a:r>
          </a:p>
          <a:p>
            <a:pPr>
              <a:lnSpc>
                <a:spcPct val="100000"/>
              </a:lnSpc>
            </a:pPr>
            <a:r>
              <a:rPr lang="en-US" sz="1800" dirty="0"/>
              <a:t>This method of refuse disposal is effective and </a:t>
            </a:r>
            <a:r>
              <a:rPr lang="en-US" sz="1800" dirty="0" err="1"/>
              <a:t>relativel</a:t>
            </a:r>
            <a:r>
              <a:rPr lang="en-US" sz="1800" dirty="0"/>
              <a:t> y simple in rural communities.</a:t>
            </a:r>
          </a:p>
        </p:txBody>
      </p:sp>
      <p:pic>
        <p:nvPicPr>
          <p:cNvPr id="4098" name="Picture 2" descr="Farm yard manures">
            <a:extLst>
              <a:ext uri="{FF2B5EF4-FFF2-40B4-BE49-F238E27FC236}">
                <a16:creationId xmlns:a16="http://schemas.microsoft.com/office/drawing/2014/main" id="{A6873FBE-78F4-E2CE-65F7-F77C974A1E5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1078" y="2471326"/>
            <a:ext cx="4412205" cy="1941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8489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7AF6B-47D5-97BA-7E34-CFE7BB099FD0}"/>
              </a:ext>
            </a:extLst>
          </p:cNvPr>
          <p:cNvSpPr>
            <a:spLocks noGrp="1"/>
          </p:cNvSpPr>
          <p:nvPr>
            <p:ph type="title"/>
          </p:nvPr>
        </p:nvSpPr>
        <p:spPr/>
        <p:txBody>
          <a:bodyPr/>
          <a:lstStyle/>
          <a:p>
            <a:r>
              <a:rPr lang="en-US" dirty="0"/>
              <a:t>Burial</a:t>
            </a:r>
          </a:p>
        </p:txBody>
      </p:sp>
      <p:sp>
        <p:nvSpPr>
          <p:cNvPr id="3" name="Content Placeholder 2">
            <a:extLst>
              <a:ext uri="{FF2B5EF4-FFF2-40B4-BE49-F238E27FC236}">
                <a16:creationId xmlns:a16="http://schemas.microsoft.com/office/drawing/2014/main" id="{D5CB5EF0-AB99-1166-4CB2-149B990F665D}"/>
              </a:ext>
            </a:extLst>
          </p:cNvPr>
          <p:cNvSpPr>
            <a:spLocks noGrp="1"/>
          </p:cNvSpPr>
          <p:nvPr>
            <p:ph idx="1"/>
          </p:nvPr>
        </p:nvSpPr>
        <p:spPr/>
        <p:txBody>
          <a:bodyPr>
            <a:normAutofit/>
          </a:bodyPr>
          <a:lstStyle/>
          <a:p>
            <a:r>
              <a:rPr lang="en-US" dirty="0"/>
              <a:t>This method is suitable for small camps. </a:t>
            </a:r>
          </a:p>
          <a:p>
            <a:r>
              <a:rPr lang="en-US" dirty="0"/>
              <a:t>A trench </a:t>
            </a:r>
            <a:r>
              <a:rPr lang="en-US" dirty="0">
                <a:highlight>
                  <a:srgbClr val="FFFF00"/>
                </a:highlight>
              </a:rPr>
              <a:t>1.5 m wide and 2 m deep is excavated,</a:t>
            </a:r>
            <a:r>
              <a:rPr lang="en-US" dirty="0"/>
              <a:t> and at the end of each day the refuse is covered with </a:t>
            </a:r>
            <a:r>
              <a:rPr lang="en-US" dirty="0">
                <a:highlight>
                  <a:srgbClr val="FFFF00"/>
                </a:highlight>
              </a:rPr>
              <a:t>20 to 30 cm of earth</a:t>
            </a:r>
            <a:r>
              <a:rPr lang="en-US" dirty="0"/>
              <a:t>. </a:t>
            </a:r>
          </a:p>
          <a:p>
            <a:r>
              <a:rPr lang="en-US" dirty="0"/>
              <a:t>When the level in the trench is 40 cm from ground level, the trench is filled with earth and compacted, and a new trench is dug out. </a:t>
            </a:r>
          </a:p>
          <a:p>
            <a:r>
              <a:rPr lang="en-US" dirty="0"/>
              <a:t>The contents may be taken out after 4 to 6 months and used on the fields. </a:t>
            </a:r>
          </a:p>
          <a:p>
            <a:r>
              <a:rPr lang="en-US" dirty="0"/>
              <a:t>If the trench is </a:t>
            </a:r>
            <a:r>
              <a:rPr lang="en-US" dirty="0">
                <a:highlight>
                  <a:srgbClr val="FFFF00"/>
                </a:highlight>
              </a:rPr>
              <a:t>1 m in length for every 200 persons, it will be filled in about one week</a:t>
            </a:r>
            <a:r>
              <a:rPr lang="en-US" dirty="0"/>
              <a:t>.</a:t>
            </a:r>
          </a:p>
        </p:txBody>
      </p:sp>
    </p:spTree>
    <p:extLst>
      <p:ext uri="{BB962C8B-B14F-4D97-AF65-F5344CB8AC3E}">
        <p14:creationId xmlns:p14="http://schemas.microsoft.com/office/powerpoint/2010/main" val="3208771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AA4F8-C164-30C0-4269-A4406BF125C7}"/>
              </a:ext>
            </a:extLst>
          </p:cNvPr>
          <p:cNvSpPr>
            <a:spLocks noGrp="1"/>
          </p:cNvSpPr>
          <p:nvPr>
            <p:ph type="title"/>
          </p:nvPr>
        </p:nvSpPr>
        <p:spPr/>
        <p:txBody>
          <a:bodyPr/>
          <a:lstStyle/>
          <a:p>
            <a:r>
              <a:rPr lang="en-US" dirty="0"/>
              <a:t>Public education</a:t>
            </a:r>
          </a:p>
        </p:txBody>
      </p:sp>
      <p:sp>
        <p:nvSpPr>
          <p:cNvPr id="3" name="Content Placeholder 2">
            <a:extLst>
              <a:ext uri="{FF2B5EF4-FFF2-40B4-BE49-F238E27FC236}">
                <a16:creationId xmlns:a16="http://schemas.microsoft.com/office/drawing/2014/main" id="{9B4ED3DD-424E-0348-4C05-66F0E63BFA4D}"/>
              </a:ext>
            </a:extLst>
          </p:cNvPr>
          <p:cNvSpPr>
            <a:spLocks noGrp="1"/>
          </p:cNvSpPr>
          <p:nvPr>
            <p:ph idx="1"/>
          </p:nvPr>
        </p:nvSpPr>
        <p:spPr/>
        <p:txBody>
          <a:bodyPr>
            <a:normAutofit/>
          </a:bodyPr>
          <a:lstStyle/>
          <a:p>
            <a:r>
              <a:rPr lang="en-US" dirty="0"/>
              <a:t>Refuse disposal cannot be solved without public education. </a:t>
            </a:r>
          </a:p>
          <a:p>
            <a:r>
              <a:rPr lang="en-US" dirty="0"/>
              <a:t>People have very little interest in cleanliness outside their homes. </a:t>
            </a:r>
          </a:p>
          <a:p>
            <a:r>
              <a:rPr lang="en-US" dirty="0"/>
              <a:t>Many municipalities and corporations usually look for the cheapest solution, especially in regard to refuse disposal. </a:t>
            </a:r>
          </a:p>
          <a:p>
            <a:r>
              <a:rPr lang="en-US" dirty="0"/>
              <a:t>What is needed is public education on these matters, by all known methods of health education, viz., pamphlets, newspapers, broadcasting, films etc. </a:t>
            </a:r>
          </a:p>
          <a:p>
            <a:r>
              <a:rPr lang="en-US" dirty="0"/>
              <a:t>Police enforcement of the laws may also be needed at times.</a:t>
            </a:r>
          </a:p>
        </p:txBody>
      </p:sp>
    </p:spTree>
    <p:extLst>
      <p:ext uri="{BB962C8B-B14F-4D97-AF65-F5344CB8AC3E}">
        <p14:creationId xmlns:p14="http://schemas.microsoft.com/office/powerpoint/2010/main" val="3417661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079BF-E5E5-8282-FCE9-69F2995F58FE}"/>
              </a:ext>
            </a:extLst>
          </p:cNvPr>
          <p:cNvSpPr>
            <a:spLocks noGrp="1"/>
          </p:cNvSpPr>
          <p:nvPr>
            <p:ph type="title"/>
          </p:nvPr>
        </p:nvSpPr>
        <p:spPr/>
        <p:txBody>
          <a:bodyPr/>
          <a:lstStyle/>
          <a:p>
            <a:r>
              <a:rPr lang="en-US" dirty="0"/>
              <a:t>Economics and finance</a:t>
            </a:r>
          </a:p>
        </p:txBody>
      </p:sp>
      <p:sp>
        <p:nvSpPr>
          <p:cNvPr id="3" name="Content Placeholder 2">
            <a:extLst>
              <a:ext uri="{FF2B5EF4-FFF2-40B4-BE49-F238E27FC236}">
                <a16:creationId xmlns:a16="http://schemas.microsoft.com/office/drawing/2014/main" id="{8A8E876D-6856-DBEA-7BD4-E9A89154283E}"/>
              </a:ext>
            </a:extLst>
          </p:cNvPr>
          <p:cNvSpPr>
            <a:spLocks noGrp="1"/>
          </p:cNvSpPr>
          <p:nvPr>
            <p:ph idx="1"/>
          </p:nvPr>
        </p:nvSpPr>
        <p:spPr/>
        <p:txBody>
          <a:bodyPr>
            <a:normAutofit/>
          </a:bodyPr>
          <a:lstStyle/>
          <a:p>
            <a:r>
              <a:rPr lang="en-US" dirty="0"/>
              <a:t>If refuse disposal is to be carried out efficiently, hygienically and economically, heavy capital outlay will be needed whatever system of disposal is adopted. </a:t>
            </a:r>
          </a:p>
          <a:p>
            <a:r>
              <a:rPr lang="en-US" dirty="0"/>
              <a:t>In the highly industrialized countries </a:t>
            </a:r>
            <a:r>
              <a:rPr lang="en-US" dirty="0">
                <a:highlight>
                  <a:srgbClr val="FFFF00"/>
                </a:highlight>
              </a:rPr>
              <a:t>up to 20 percent of municipal budget</a:t>
            </a:r>
            <a:r>
              <a:rPr lang="en-US" dirty="0"/>
              <a:t>s are spent on the collection and disposal of solid wastes, and even more will be required if the job is to be done adequately</a:t>
            </a:r>
          </a:p>
        </p:txBody>
      </p:sp>
    </p:spTree>
    <p:extLst>
      <p:ext uri="{BB962C8B-B14F-4D97-AF65-F5344CB8AC3E}">
        <p14:creationId xmlns:p14="http://schemas.microsoft.com/office/powerpoint/2010/main" val="2422639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62FE7-E369-4C22-A7D8-CDAC9851BC39}"/>
              </a:ext>
            </a:extLst>
          </p:cNvPr>
          <p:cNvSpPr>
            <a:spLocks noGrp="1"/>
          </p:cNvSpPr>
          <p:nvPr>
            <p:ph type="title"/>
          </p:nvPr>
        </p:nvSpPr>
        <p:spPr/>
        <p:txBody>
          <a:bodyPr/>
          <a:lstStyle/>
          <a:p>
            <a:r>
              <a:rPr lang="en-US" dirty="0"/>
              <a:t>International </a:t>
            </a:r>
            <a:r>
              <a:rPr lang="en-US" dirty="0" err="1"/>
              <a:t>oraganization</a:t>
            </a:r>
            <a:endParaRPr lang="en-US" dirty="0"/>
          </a:p>
        </p:txBody>
      </p:sp>
      <p:sp>
        <p:nvSpPr>
          <p:cNvPr id="3" name="Content Placeholder 2">
            <a:extLst>
              <a:ext uri="{FF2B5EF4-FFF2-40B4-BE49-F238E27FC236}">
                <a16:creationId xmlns:a16="http://schemas.microsoft.com/office/drawing/2014/main" id="{C3B848DD-333C-BFA8-8103-FAB2BD93D1D1}"/>
              </a:ext>
            </a:extLst>
          </p:cNvPr>
          <p:cNvSpPr>
            <a:spLocks noGrp="1"/>
          </p:cNvSpPr>
          <p:nvPr>
            <p:ph idx="1"/>
          </p:nvPr>
        </p:nvSpPr>
        <p:spPr/>
        <p:txBody>
          <a:bodyPr/>
          <a:lstStyle/>
          <a:p>
            <a:r>
              <a:rPr lang="en-US" dirty="0">
                <a:highlight>
                  <a:srgbClr val="FFFF00"/>
                </a:highlight>
              </a:rPr>
              <a:t>The International Solid Wastes and Public Cleansing Association (ISWA</a:t>
            </a:r>
            <a:r>
              <a:rPr lang="en-US" dirty="0"/>
              <a:t>) in 1970, to assist countries in the general </a:t>
            </a:r>
            <a:r>
              <a:rPr lang="en-US" dirty="0" err="1"/>
              <a:t>endeavour</a:t>
            </a:r>
            <a:r>
              <a:rPr lang="en-US" dirty="0"/>
              <a:t> to improve sanitary services. </a:t>
            </a:r>
          </a:p>
          <a:p>
            <a:r>
              <a:rPr lang="en-US" dirty="0"/>
              <a:t>A WHO International Reference Centre has also been set up in Switzerland to collect, evaluate and disseminate information on wastes-disposal practices and to foster research.</a:t>
            </a:r>
          </a:p>
        </p:txBody>
      </p:sp>
    </p:spTree>
    <p:extLst>
      <p:ext uri="{BB962C8B-B14F-4D97-AF65-F5344CB8AC3E}">
        <p14:creationId xmlns:p14="http://schemas.microsoft.com/office/powerpoint/2010/main" val="649760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pic>
        <p:nvPicPr>
          <p:cNvPr id="6" name="Picture 5" descr="Vehículo para la construcción">
            <a:extLst>
              <a:ext uri="{FF2B5EF4-FFF2-40B4-BE49-F238E27FC236}">
                <a16:creationId xmlns:a16="http://schemas.microsoft.com/office/drawing/2014/main" id="{3E9899A0-AFD3-7407-A58C-51E79658CC42}"/>
              </a:ext>
            </a:extLst>
          </p:cNvPr>
          <p:cNvPicPr>
            <a:picLocks noChangeAspect="1"/>
          </p:cNvPicPr>
          <p:nvPr/>
        </p:nvPicPr>
        <p:blipFill>
          <a:blip r:embed="rId2"/>
          <a:srcRect t="4128" b="11603"/>
          <a:stretch/>
        </p:blipFill>
        <p:spPr>
          <a:xfrm>
            <a:off x="20" y="10"/>
            <a:ext cx="12191980" cy="6857989"/>
          </a:xfrm>
          <a:prstGeom prst="rect">
            <a:avLst/>
          </a:prstGeom>
        </p:spPr>
      </p:pic>
      <p:sp>
        <p:nvSpPr>
          <p:cNvPr id="12" name="Flowchart: Document 11">
            <a:extLst>
              <a:ext uri="{FF2B5EF4-FFF2-40B4-BE49-F238E27FC236}">
                <a16:creationId xmlns:a16="http://schemas.microsoft.com/office/drawing/2014/main" id="{D22FBD32-C88A-4C1D-BC76-613A93944B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04804" y="304807"/>
            <a:ext cx="6858000" cy="6248391"/>
          </a:xfrm>
          <a:prstGeom prst="flowChartDocumen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1"/>
              </a:solidFill>
            </a:endParaRPr>
          </a:p>
        </p:txBody>
      </p:sp>
      <p:sp>
        <p:nvSpPr>
          <p:cNvPr id="2" name="Title 1">
            <a:extLst>
              <a:ext uri="{FF2B5EF4-FFF2-40B4-BE49-F238E27FC236}">
                <a16:creationId xmlns:a16="http://schemas.microsoft.com/office/drawing/2014/main" id="{5E1C2ADE-5179-6FFD-CA6A-404759CE5F64}"/>
              </a:ext>
            </a:extLst>
          </p:cNvPr>
          <p:cNvSpPr>
            <a:spLocks noGrp="1"/>
          </p:cNvSpPr>
          <p:nvPr>
            <p:ph type="ctrTitle"/>
          </p:nvPr>
        </p:nvSpPr>
        <p:spPr>
          <a:xfrm>
            <a:off x="691078" y="722902"/>
            <a:ext cx="4225893" cy="3077253"/>
          </a:xfrm>
        </p:spPr>
        <p:txBody>
          <a:bodyPr>
            <a:normAutofit/>
          </a:bodyPr>
          <a:lstStyle/>
          <a:p>
            <a:r>
              <a:rPr lang="en-US" dirty="0"/>
              <a:t>Excreta disposal</a:t>
            </a:r>
          </a:p>
        </p:txBody>
      </p:sp>
      <p:sp>
        <p:nvSpPr>
          <p:cNvPr id="4" name="Subtitle 3">
            <a:extLst>
              <a:ext uri="{FF2B5EF4-FFF2-40B4-BE49-F238E27FC236}">
                <a16:creationId xmlns:a16="http://schemas.microsoft.com/office/drawing/2014/main" id="{3F4DAA5D-2B65-0F78-8118-00982B2372AE}"/>
              </a:ext>
            </a:extLst>
          </p:cNvPr>
          <p:cNvSpPr>
            <a:spLocks noGrp="1"/>
          </p:cNvSpPr>
          <p:nvPr>
            <p:ph type="subTitle" idx="1"/>
          </p:nvPr>
        </p:nvSpPr>
        <p:spPr>
          <a:xfrm>
            <a:off x="691077" y="3971875"/>
            <a:ext cx="4903265" cy="2190707"/>
          </a:xfrm>
        </p:spPr>
        <p:txBody>
          <a:bodyPr>
            <a:normAutofit/>
          </a:bodyPr>
          <a:lstStyle/>
          <a:p>
            <a:endParaRPr lang="en-US"/>
          </a:p>
        </p:txBody>
      </p:sp>
      <p:grpSp>
        <p:nvGrpSpPr>
          <p:cNvPr id="14" name="Group 13">
            <a:extLst>
              <a:ext uri="{FF2B5EF4-FFF2-40B4-BE49-F238E27FC236}">
                <a16:creationId xmlns:a16="http://schemas.microsoft.com/office/drawing/2014/main" id="{53499997-BC46-4896-AEA5-37EC629D22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5" name="Straight Connector 14">
              <a:extLst>
                <a:ext uri="{FF2B5EF4-FFF2-40B4-BE49-F238E27FC236}">
                  <a16:creationId xmlns:a16="http://schemas.microsoft.com/office/drawing/2014/main" id="{ADA461E0-415F-4E8B-8B08-2C975693D3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D1EDD03-89DD-456E-BB53-FA43BE25A3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2A76E89-A44E-4207-8F8A-F853ED8A3B8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81BA9D-E2BC-4AD2-B816-5DE100BC85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A155025-B3E7-46D2-B556-80A8E9083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AAE4CEE-0410-46B5-B649-E3754C5394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86DDB39-DB80-43C8-A5AF-24AE5841B69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F3BE8C2-40CB-46C0-9536-BA1C51AF92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E2D5D2E-1F38-48BC-B038-9DA190B871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289E300-BEF0-4977-919B-F3367CF876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12B4899-7298-454D-90B9-382ACAEAA8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86FBE75-F4D3-48DD-85D2-593D0C1B37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E586789-549A-4D87-8967-6DCD5DEDF68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66293A2-B541-4BE7-8C99-1B730BB4DA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2938820-6D84-479D-B608-354903781AA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8EE07FC-6A61-4C78-BAF6-86E2FD54351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C4E5A61-6E0E-44DD-B47E-9547F3A540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48B355A-1131-4815-881C-3949360FA2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73D903E-5A72-42B5-B741-95081B06E28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5769BB5-F1CF-4A57-A2E8-2ED9F9DDF07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F9ABF1-4E55-4D70-ACF2-DB7D62C7D4E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FD75E62-63B6-4237-88D5-02A90DDFA1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6A41C83-58E2-4EE6-864C-DB7DE375A9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1162541-E8F8-4926-91B8-AD9F514156E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3E6FB3D-A8E2-4B96-B87B-EEEC499F83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0766009-515D-4494-BFF6-AC554CBCD02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4C1372F-2169-48C6-8AEB-411E8405B2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73FA4F1-4239-4336-BB84-8E3BBCD7F5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E90E0AA-C864-445E-AC17-96D1C90CBE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5D4D2F48-C2BF-4C1C-82B9-FEB42F3CD8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6BB855D-6213-4C07-A21A-F0250B89F9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6972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4573C-3D55-EDD5-463A-D8D1885027AB}"/>
              </a:ext>
            </a:extLst>
          </p:cNvPr>
          <p:cNvSpPr>
            <a:spLocks noGrp="1"/>
          </p:cNvSpPr>
          <p:nvPr>
            <p:ph type="title"/>
          </p:nvPr>
        </p:nvSpPr>
        <p:spPr>
          <a:xfrm>
            <a:off x="691079" y="725951"/>
            <a:ext cx="10325000" cy="632949"/>
          </a:xfrm>
        </p:spPr>
        <p:txBody>
          <a:bodyPr>
            <a:normAutofit fontScale="90000"/>
          </a:bodyPr>
          <a:lstStyle/>
          <a:p>
            <a:r>
              <a:rPr lang="en-US" dirty="0"/>
              <a:t>Public health importance</a:t>
            </a:r>
          </a:p>
        </p:txBody>
      </p:sp>
      <p:sp>
        <p:nvSpPr>
          <p:cNvPr id="3" name="Content Placeholder 2">
            <a:extLst>
              <a:ext uri="{FF2B5EF4-FFF2-40B4-BE49-F238E27FC236}">
                <a16:creationId xmlns:a16="http://schemas.microsoft.com/office/drawing/2014/main" id="{77D4BF67-6980-281F-C52C-AD25F860B1B7}"/>
              </a:ext>
            </a:extLst>
          </p:cNvPr>
          <p:cNvSpPr>
            <a:spLocks noGrp="1"/>
          </p:cNvSpPr>
          <p:nvPr>
            <p:ph idx="1"/>
          </p:nvPr>
        </p:nvSpPr>
        <p:spPr>
          <a:xfrm>
            <a:off x="691079" y="1358900"/>
            <a:ext cx="10325000" cy="4545667"/>
          </a:xfrm>
        </p:spPr>
        <p:txBody>
          <a:bodyPr>
            <a:normAutofit lnSpcReduction="10000"/>
          </a:bodyPr>
          <a:lstStyle/>
          <a:p>
            <a:r>
              <a:rPr lang="en-US" dirty="0"/>
              <a:t>Human excreta is a source of infection. </a:t>
            </a:r>
          </a:p>
          <a:p>
            <a:r>
              <a:rPr lang="en-US" dirty="0"/>
              <a:t>It is an important cause of environmental pollution. Every society has a responsibility for its safe removal and disposal so that it does not constitute a threat to public health. </a:t>
            </a:r>
          </a:p>
          <a:p>
            <a:r>
              <a:rPr lang="en-US" dirty="0"/>
              <a:t>The HEALTH HAZARDS of improper excreta disposal are : </a:t>
            </a:r>
            <a:r>
              <a:rPr lang="en-US" dirty="0">
                <a:highlight>
                  <a:srgbClr val="FFFF00"/>
                </a:highlight>
              </a:rPr>
              <a:t>(1) soil pollution, (2) water pollution, (3) contamination of foods, and (4) propagation of flies. </a:t>
            </a:r>
          </a:p>
          <a:p>
            <a:r>
              <a:rPr lang="en-US" dirty="0"/>
              <a:t>The resulting diseases are </a:t>
            </a:r>
            <a:r>
              <a:rPr lang="en-US" dirty="0">
                <a:highlight>
                  <a:srgbClr val="FFFF00"/>
                </a:highlight>
              </a:rPr>
              <a:t>typhoid and paratyphoid fever, dysenteries, </a:t>
            </a:r>
            <a:r>
              <a:rPr lang="en-US" dirty="0" err="1">
                <a:highlight>
                  <a:srgbClr val="FFFF00"/>
                </a:highlight>
              </a:rPr>
              <a:t>diarrhoeas</a:t>
            </a:r>
            <a:r>
              <a:rPr lang="en-US" dirty="0">
                <a:highlight>
                  <a:srgbClr val="FFFF00"/>
                </a:highlight>
              </a:rPr>
              <a:t>, cholera, hookworm disease, ascariasis, viral hepatitis and similar other intestinal infections and parasitic infestations.</a:t>
            </a:r>
          </a:p>
          <a:p>
            <a:r>
              <a:rPr lang="en-US" dirty="0"/>
              <a:t>These diseases are not only a burden on the community in </a:t>
            </a:r>
            <a:r>
              <a:rPr lang="en-US" dirty="0">
                <a:highlight>
                  <a:srgbClr val="FFFF00"/>
                </a:highlight>
              </a:rPr>
              <a:t>terms of sickness, mortality and a low expectation of life, but a basic deterrent to social and economic progress. </a:t>
            </a:r>
          </a:p>
          <a:p>
            <a:r>
              <a:rPr lang="en-US" dirty="0"/>
              <a:t>Proper disposal of human excreta, therefore, is a </a:t>
            </a:r>
            <a:r>
              <a:rPr lang="en-US" dirty="0">
                <a:highlight>
                  <a:srgbClr val="FFFF00"/>
                </a:highlight>
              </a:rPr>
              <a:t>fundamental environmental health service without which there cannot be any improvement in the state of community health</a:t>
            </a:r>
            <a:r>
              <a:rPr lang="en-US" dirty="0"/>
              <a:t>.</a:t>
            </a:r>
          </a:p>
        </p:txBody>
      </p:sp>
    </p:spTree>
    <p:extLst>
      <p:ext uri="{BB962C8B-B14F-4D97-AF65-F5344CB8AC3E}">
        <p14:creationId xmlns:p14="http://schemas.microsoft.com/office/powerpoint/2010/main" val="3896691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841B2-7A70-29DD-3B0F-AB595DCCA2D5}"/>
              </a:ext>
            </a:extLst>
          </p:cNvPr>
          <p:cNvSpPr>
            <a:spLocks noGrp="1"/>
          </p:cNvSpPr>
          <p:nvPr>
            <p:ph type="title"/>
          </p:nvPr>
        </p:nvSpPr>
        <p:spPr/>
        <p:txBody>
          <a:bodyPr/>
          <a:lstStyle/>
          <a:p>
            <a:r>
              <a:rPr lang="en-US" dirty="0"/>
              <a:t>Extent of problem in India</a:t>
            </a:r>
          </a:p>
        </p:txBody>
      </p:sp>
      <p:sp>
        <p:nvSpPr>
          <p:cNvPr id="3" name="Content Placeholder 2">
            <a:extLst>
              <a:ext uri="{FF2B5EF4-FFF2-40B4-BE49-F238E27FC236}">
                <a16:creationId xmlns:a16="http://schemas.microsoft.com/office/drawing/2014/main" id="{107DF7AE-2C5D-160C-F07F-E9DFBDD4FF2B}"/>
              </a:ext>
            </a:extLst>
          </p:cNvPr>
          <p:cNvSpPr>
            <a:spLocks noGrp="1"/>
          </p:cNvSpPr>
          <p:nvPr>
            <p:ph idx="1"/>
          </p:nvPr>
        </p:nvSpPr>
        <p:spPr/>
        <p:txBody>
          <a:bodyPr>
            <a:normAutofit fontScale="92500" lnSpcReduction="20000"/>
          </a:bodyPr>
          <a:lstStyle/>
          <a:p>
            <a:r>
              <a:rPr lang="en-US" dirty="0"/>
              <a:t>Nearly </a:t>
            </a:r>
            <a:r>
              <a:rPr lang="en-US" dirty="0">
                <a:highlight>
                  <a:srgbClr val="FFFF00"/>
                </a:highlight>
              </a:rPr>
              <a:t>70 per cent of India’s population live in rural areas and the majority of them “go to the fields” </a:t>
            </a:r>
            <a:r>
              <a:rPr lang="en-US" dirty="0"/>
              <a:t>for defecation and thereby pollute the environment with human excrement.</a:t>
            </a:r>
          </a:p>
          <a:p>
            <a:r>
              <a:rPr lang="en-US" dirty="0"/>
              <a:t>Statistics indicate that the intestinal group of diseases claim about </a:t>
            </a:r>
            <a:r>
              <a:rPr lang="en-US" dirty="0">
                <a:highlight>
                  <a:srgbClr val="FFFF00"/>
                </a:highlight>
              </a:rPr>
              <a:t>5 million lives every year while another 50 million people suffer from these infections</a:t>
            </a:r>
            <a:r>
              <a:rPr lang="en-US" dirty="0"/>
              <a:t>. </a:t>
            </a:r>
          </a:p>
          <a:p>
            <a:r>
              <a:rPr lang="en-US" dirty="0"/>
              <a:t>Surveys carried out in the community development block areas in Andhra Pradesh, Assam, Bihar, Madhya Pradesh, Manipur, Orissa, Rajasthan and West Bengal show that the enteric group of fevers is very common in rural areas.</a:t>
            </a:r>
          </a:p>
          <a:p>
            <a:r>
              <a:rPr lang="en-US" dirty="0">
                <a:highlight>
                  <a:srgbClr val="FFFF00"/>
                </a:highlight>
              </a:rPr>
              <a:t>Hookworm disease is also known to be highly prevalent</a:t>
            </a:r>
            <a:r>
              <a:rPr lang="en-US" dirty="0"/>
              <a:t>.  About 45 million people are estimated to be infested with hookworms. </a:t>
            </a:r>
          </a:p>
          <a:p>
            <a:r>
              <a:rPr lang="en-US" dirty="0"/>
              <a:t>The solution to the problem is only through hygienic disposal of human excreta which is the corner stone of all public health services.</a:t>
            </a:r>
          </a:p>
        </p:txBody>
      </p:sp>
    </p:spTree>
    <p:extLst>
      <p:ext uri="{BB962C8B-B14F-4D97-AF65-F5344CB8AC3E}">
        <p14:creationId xmlns:p14="http://schemas.microsoft.com/office/powerpoint/2010/main" val="4019549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50" name="Straight Connector 49">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2" name="Right Triangle 81">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84" name="Rectangle 83">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86" name="Group 85">
            <a:extLst>
              <a:ext uri="{FF2B5EF4-FFF2-40B4-BE49-F238E27FC236}">
                <a16:creationId xmlns:a16="http://schemas.microsoft.com/office/drawing/2014/main" id="{B19EC7B8-C390-4F1B-8960-E6D3245103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87" name="Straight Connector 86">
              <a:extLst>
                <a:ext uri="{FF2B5EF4-FFF2-40B4-BE49-F238E27FC236}">
                  <a16:creationId xmlns:a16="http://schemas.microsoft.com/office/drawing/2014/main" id="{7CEE1CC1-2CD0-4957-8A12-48FA80C0CC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4901FEB-A7C2-457B-A124-AD433B0417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C76048A8-79AA-454C-BD3E-3004F74268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77B51975-25FE-4328-9815-2AA302F28A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B440B47E-6D3E-4978-B887-B53DA0BFF5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FD94D0A1-D760-40DE-B758-008B93D588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9E590CB-0538-40D7-9CAC-1BBD39CC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5D7C67DA-B2AA-46E2-8065-1F862A6F7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0C2ED54-1B65-4F4A-B14B-41FC05B372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EAE5BBBC-F576-4D54-BF67-C00BB1F4F9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90D490E7-12F8-40DC-A9C1-D119667EEF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6C855383-9F21-4BDA-8FCA-22AF3D69FF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FC3E600C-E08A-418E-B30E-2B0FC15DF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E980D58F-BD3F-4B47-9BD2-888B0D9D19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43544818-9B28-4A71-8D7B-80727A5326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101FFBC7-035F-48C5-91FA-4A4973FCD6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D6195BC5-BB4E-4F3F-8378-0B308B4252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02404171-AF5C-4FA1-9D4E-DCF75562BD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BAD45A86-9385-473D-9DBF-565E0A94AF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DBA5A228-913F-4D4F-AB25-5372936246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A87E8BFE-D92E-4EB3-ADD1-FB75CAA683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08756FCD-8335-4089-B4EE-13D629E53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9707D7B-937E-4DC3-87BA-B7B7042682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AB1A72DC-3F29-4488-9051-C21E1CBB7E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956DAD76-815C-4F16-98CF-8E8BE1965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1AF2F8C5-6691-4EBD-B42E-4B17DF1ED2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D32ED14D-1C00-41C8-849C-030A1434E4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62F296F5-9867-45CA-BF0A-EF216F6A80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53B72471-9DB5-428B-AF52-E11E03B9FD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B8656B49-5277-4610-BD7B-F5D98170B5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F1A47399-8F78-4DB1-BD21-1166BCB267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119" name="Right Triangle 118">
            <a:extLst>
              <a:ext uri="{FF2B5EF4-FFF2-40B4-BE49-F238E27FC236}">
                <a16:creationId xmlns:a16="http://schemas.microsoft.com/office/drawing/2014/main" id="{F952A221-69C2-46B3-890D-354CA5961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810332" y="-28672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CDDEBEC1-11DC-C93C-AF63-29E1AF8146D2}"/>
              </a:ext>
            </a:extLst>
          </p:cNvPr>
          <p:cNvSpPr>
            <a:spLocks noGrp="1"/>
          </p:cNvSpPr>
          <p:nvPr>
            <p:ph type="title"/>
          </p:nvPr>
        </p:nvSpPr>
        <p:spPr>
          <a:xfrm>
            <a:off x="1169071" y="722904"/>
            <a:ext cx="9821130" cy="1075904"/>
          </a:xfrm>
        </p:spPr>
        <p:txBody>
          <a:bodyPr vert="horz" lIns="91440" tIns="45720" rIns="91440" bIns="45720" rtlCol="0" anchor="b">
            <a:normAutofit/>
          </a:bodyPr>
          <a:lstStyle/>
          <a:p>
            <a:pPr algn="ctr"/>
            <a:r>
              <a:rPr lang="en-US" sz="5400"/>
              <a:t>Faecal borne disease transmission</a:t>
            </a:r>
          </a:p>
        </p:txBody>
      </p:sp>
      <p:pic>
        <p:nvPicPr>
          <p:cNvPr id="4" name="Content Placeholder 3" descr="A diagram of a diagram&#10;&#10;Description automatically generated">
            <a:extLst>
              <a:ext uri="{FF2B5EF4-FFF2-40B4-BE49-F238E27FC236}">
                <a16:creationId xmlns:a16="http://schemas.microsoft.com/office/drawing/2014/main" id="{F8C7DCC2-89A2-B86A-3E67-F3FF3DD68E4E}"/>
              </a:ext>
            </a:extLst>
          </p:cNvPr>
          <p:cNvPicPr>
            <a:picLocks noGrp="1" noChangeAspect="1"/>
          </p:cNvPicPr>
          <p:nvPr>
            <p:ph idx="1"/>
          </p:nvPr>
        </p:nvPicPr>
        <p:blipFill>
          <a:blip r:embed="rId2"/>
          <a:srcRect r="-152"/>
          <a:stretch/>
        </p:blipFill>
        <p:spPr>
          <a:xfrm>
            <a:off x="1553029" y="1725270"/>
            <a:ext cx="8971988" cy="4416586"/>
          </a:xfrm>
          <a:prstGeom prst="rect">
            <a:avLst/>
          </a:prstGeom>
        </p:spPr>
      </p:pic>
    </p:spTree>
    <p:extLst>
      <p:ext uri="{BB962C8B-B14F-4D97-AF65-F5344CB8AC3E}">
        <p14:creationId xmlns:p14="http://schemas.microsoft.com/office/powerpoint/2010/main" val="42014873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107134A1-6E23-4417-8A0E-6B7013EE7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2086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6153" name="Group 6152">
            <a:extLst>
              <a:ext uri="{FF2B5EF4-FFF2-40B4-BE49-F238E27FC236}">
                <a16:creationId xmlns:a16="http://schemas.microsoft.com/office/drawing/2014/main" id="{27A2371D-E95E-4E2E-ABB9-D6409A537F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6154" name="Straight Connector 6153">
              <a:extLst>
                <a:ext uri="{FF2B5EF4-FFF2-40B4-BE49-F238E27FC236}">
                  <a16:creationId xmlns:a16="http://schemas.microsoft.com/office/drawing/2014/main" id="{20814C69-0E8C-49A3-8452-971CA8350D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55" name="Straight Connector 6154">
              <a:extLst>
                <a:ext uri="{FF2B5EF4-FFF2-40B4-BE49-F238E27FC236}">
                  <a16:creationId xmlns:a16="http://schemas.microsoft.com/office/drawing/2014/main" id="{31E24DB3-D306-4D9D-AD7B-F535197C07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56" name="Straight Connector 6155">
              <a:extLst>
                <a:ext uri="{FF2B5EF4-FFF2-40B4-BE49-F238E27FC236}">
                  <a16:creationId xmlns:a16="http://schemas.microsoft.com/office/drawing/2014/main" id="{CA1B06E0-67DD-4302-8D19-639196972A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57" name="Straight Connector 6156">
              <a:extLst>
                <a:ext uri="{FF2B5EF4-FFF2-40B4-BE49-F238E27FC236}">
                  <a16:creationId xmlns:a16="http://schemas.microsoft.com/office/drawing/2014/main" id="{FFBD0468-E45E-4063-8C2D-BB55577413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58" name="Straight Connector 6157">
              <a:extLst>
                <a:ext uri="{FF2B5EF4-FFF2-40B4-BE49-F238E27FC236}">
                  <a16:creationId xmlns:a16="http://schemas.microsoft.com/office/drawing/2014/main" id="{F842838F-C61E-4F82-8E97-8A10316F45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59" name="Straight Connector 6158">
              <a:extLst>
                <a:ext uri="{FF2B5EF4-FFF2-40B4-BE49-F238E27FC236}">
                  <a16:creationId xmlns:a16="http://schemas.microsoft.com/office/drawing/2014/main" id="{0D2F4E59-35DF-48ED-8513-D9C9957162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60" name="Straight Connector 6159">
              <a:extLst>
                <a:ext uri="{FF2B5EF4-FFF2-40B4-BE49-F238E27FC236}">
                  <a16:creationId xmlns:a16="http://schemas.microsoft.com/office/drawing/2014/main" id="{152710FE-BF9F-4ADD-82DE-7AF0AB1F5E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61" name="Straight Connector 6160">
              <a:extLst>
                <a:ext uri="{FF2B5EF4-FFF2-40B4-BE49-F238E27FC236}">
                  <a16:creationId xmlns:a16="http://schemas.microsoft.com/office/drawing/2014/main" id="{19B014AE-E9E4-4054-BE0F-1BC2F089BB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62" name="Straight Connector 6161">
              <a:extLst>
                <a:ext uri="{FF2B5EF4-FFF2-40B4-BE49-F238E27FC236}">
                  <a16:creationId xmlns:a16="http://schemas.microsoft.com/office/drawing/2014/main" id="{7DEA021B-C8B0-48F9-B1CB-A8C2E1B857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63" name="Straight Connector 6162">
              <a:extLst>
                <a:ext uri="{FF2B5EF4-FFF2-40B4-BE49-F238E27FC236}">
                  <a16:creationId xmlns:a16="http://schemas.microsoft.com/office/drawing/2014/main" id="{449EAB92-8EB1-450F-9DC7-CAFA5FDA9C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64" name="Straight Connector 6163">
              <a:extLst>
                <a:ext uri="{FF2B5EF4-FFF2-40B4-BE49-F238E27FC236}">
                  <a16:creationId xmlns:a16="http://schemas.microsoft.com/office/drawing/2014/main" id="{00A1EBB7-483A-419C-B619-AA3C9184C1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65" name="Straight Connector 6164">
              <a:extLst>
                <a:ext uri="{FF2B5EF4-FFF2-40B4-BE49-F238E27FC236}">
                  <a16:creationId xmlns:a16="http://schemas.microsoft.com/office/drawing/2014/main" id="{E1469A02-6DCF-4CBC-8B1F-E0B48A980E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66" name="Straight Connector 6165">
              <a:extLst>
                <a:ext uri="{FF2B5EF4-FFF2-40B4-BE49-F238E27FC236}">
                  <a16:creationId xmlns:a16="http://schemas.microsoft.com/office/drawing/2014/main" id="{46D0931D-7905-4655-B3A8-BD3855872A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67" name="Straight Connector 6166">
              <a:extLst>
                <a:ext uri="{FF2B5EF4-FFF2-40B4-BE49-F238E27FC236}">
                  <a16:creationId xmlns:a16="http://schemas.microsoft.com/office/drawing/2014/main" id="{9BF31427-7414-48AC-A250-D356CBC4BA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68" name="Straight Connector 6167">
              <a:extLst>
                <a:ext uri="{FF2B5EF4-FFF2-40B4-BE49-F238E27FC236}">
                  <a16:creationId xmlns:a16="http://schemas.microsoft.com/office/drawing/2014/main" id="{5C8C5AE1-943C-444C-BEEB-756028247F5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69" name="Straight Connector 6168">
              <a:extLst>
                <a:ext uri="{FF2B5EF4-FFF2-40B4-BE49-F238E27FC236}">
                  <a16:creationId xmlns:a16="http://schemas.microsoft.com/office/drawing/2014/main" id="{31751FEB-FFE8-484E-AF44-58FB0C2F5F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70" name="Straight Connector 6169">
              <a:extLst>
                <a:ext uri="{FF2B5EF4-FFF2-40B4-BE49-F238E27FC236}">
                  <a16:creationId xmlns:a16="http://schemas.microsoft.com/office/drawing/2014/main" id="{23BEB40B-97E7-4435-BAE6-0BAC8689DF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71" name="Straight Connector 6170">
              <a:extLst>
                <a:ext uri="{FF2B5EF4-FFF2-40B4-BE49-F238E27FC236}">
                  <a16:creationId xmlns:a16="http://schemas.microsoft.com/office/drawing/2014/main" id="{719CDDE6-0CB4-4518-936D-351D7114FF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72" name="Straight Connector 6171">
              <a:extLst>
                <a:ext uri="{FF2B5EF4-FFF2-40B4-BE49-F238E27FC236}">
                  <a16:creationId xmlns:a16="http://schemas.microsoft.com/office/drawing/2014/main" id="{95CD8E96-63B2-4A76-9FA4-FD574945D93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73" name="Straight Connector 6172">
              <a:extLst>
                <a:ext uri="{FF2B5EF4-FFF2-40B4-BE49-F238E27FC236}">
                  <a16:creationId xmlns:a16="http://schemas.microsoft.com/office/drawing/2014/main" id="{BA06729F-61CD-43D7-900D-23C5CF828B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74" name="Straight Connector 6173">
              <a:extLst>
                <a:ext uri="{FF2B5EF4-FFF2-40B4-BE49-F238E27FC236}">
                  <a16:creationId xmlns:a16="http://schemas.microsoft.com/office/drawing/2014/main" id="{8A936353-A06F-4862-B713-D8761651C2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75" name="Straight Connector 6174">
              <a:extLst>
                <a:ext uri="{FF2B5EF4-FFF2-40B4-BE49-F238E27FC236}">
                  <a16:creationId xmlns:a16="http://schemas.microsoft.com/office/drawing/2014/main" id="{8CB75089-81A0-414F-880B-613FBC7102D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76" name="Straight Connector 6175">
              <a:extLst>
                <a:ext uri="{FF2B5EF4-FFF2-40B4-BE49-F238E27FC236}">
                  <a16:creationId xmlns:a16="http://schemas.microsoft.com/office/drawing/2014/main" id="{1984B25A-77CE-42BE-8D5D-3E56ADB36B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77" name="Straight Connector 6176">
              <a:extLst>
                <a:ext uri="{FF2B5EF4-FFF2-40B4-BE49-F238E27FC236}">
                  <a16:creationId xmlns:a16="http://schemas.microsoft.com/office/drawing/2014/main" id="{22C0E8CB-51AD-4D39-860D-95F982066A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78" name="Straight Connector 6177">
              <a:extLst>
                <a:ext uri="{FF2B5EF4-FFF2-40B4-BE49-F238E27FC236}">
                  <a16:creationId xmlns:a16="http://schemas.microsoft.com/office/drawing/2014/main" id="{627B6EA0-1EC1-4EFC-A024-326C5FB6E0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79" name="Straight Connector 6178">
              <a:extLst>
                <a:ext uri="{FF2B5EF4-FFF2-40B4-BE49-F238E27FC236}">
                  <a16:creationId xmlns:a16="http://schemas.microsoft.com/office/drawing/2014/main" id="{3A37A491-22B7-497B-B872-FDB00072E4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80" name="Straight Connector 6179">
              <a:extLst>
                <a:ext uri="{FF2B5EF4-FFF2-40B4-BE49-F238E27FC236}">
                  <a16:creationId xmlns:a16="http://schemas.microsoft.com/office/drawing/2014/main" id="{35725797-7F94-4684-9B61-BE62966658E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81" name="Straight Connector 6180">
              <a:extLst>
                <a:ext uri="{FF2B5EF4-FFF2-40B4-BE49-F238E27FC236}">
                  <a16:creationId xmlns:a16="http://schemas.microsoft.com/office/drawing/2014/main" id="{6504F75D-D3A8-44BD-970F-4F37060BBF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82" name="Straight Connector 6181">
              <a:extLst>
                <a:ext uri="{FF2B5EF4-FFF2-40B4-BE49-F238E27FC236}">
                  <a16:creationId xmlns:a16="http://schemas.microsoft.com/office/drawing/2014/main" id="{308E41E9-3A9D-4D8E-AF15-A6369C2652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83" name="Straight Connector 6182">
              <a:extLst>
                <a:ext uri="{FF2B5EF4-FFF2-40B4-BE49-F238E27FC236}">
                  <a16:creationId xmlns:a16="http://schemas.microsoft.com/office/drawing/2014/main" id="{52194DC5-C581-452C-B403-012A01F8AA9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84" name="Straight Connector 6183">
              <a:extLst>
                <a:ext uri="{FF2B5EF4-FFF2-40B4-BE49-F238E27FC236}">
                  <a16:creationId xmlns:a16="http://schemas.microsoft.com/office/drawing/2014/main" id="{AC414A6B-23ED-46F4-982A-69E5E537A5E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6186" name="Freeform: Shape 6185">
            <a:extLst>
              <a:ext uri="{FF2B5EF4-FFF2-40B4-BE49-F238E27FC236}">
                <a16:creationId xmlns:a16="http://schemas.microsoft.com/office/drawing/2014/main" id="{4CB47DB7-904B-416E-8C82-41DA194E0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133265" y="-2152219"/>
            <a:ext cx="6858000" cy="11162439"/>
          </a:xfrm>
          <a:custGeom>
            <a:avLst/>
            <a:gdLst>
              <a:gd name="connsiteX0" fmla="*/ 6858000 w 6858000"/>
              <a:gd name="connsiteY0" fmla="*/ 0 h 11162439"/>
              <a:gd name="connsiteX1" fmla="*/ 6858000 w 6858000"/>
              <a:gd name="connsiteY1" fmla="*/ 7095240 h 11162439"/>
              <a:gd name="connsiteX2" fmla="*/ 6857998 w 6858000"/>
              <a:gd name="connsiteY2" fmla="*/ 7095240 h 11162439"/>
              <a:gd name="connsiteX3" fmla="*/ 6857998 w 6858000"/>
              <a:gd name="connsiteY3" fmla="*/ 10339528 h 11162439"/>
              <a:gd name="connsiteX4" fmla="*/ 0 w 6858000"/>
              <a:gd name="connsiteY4" fmla="*/ 10925458 h 11162439"/>
              <a:gd name="connsiteX5" fmla="*/ 0 w 6858000"/>
              <a:gd name="connsiteY5" fmla="*/ 7095240 h 11162439"/>
              <a:gd name="connsiteX6" fmla="*/ 0 w 6858000"/>
              <a:gd name="connsiteY6" fmla="*/ 6778313 h 11162439"/>
              <a:gd name="connsiteX7" fmla="*/ 0 w 6858000"/>
              <a:gd name="connsiteY7" fmla="*/ 0 h 1116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11162439">
                <a:moveTo>
                  <a:pt x="6858000" y="0"/>
                </a:moveTo>
                <a:lnTo>
                  <a:pt x="6858000" y="7095240"/>
                </a:lnTo>
                <a:lnTo>
                  <a:pt x="6857998" y="7095240"/>
                </a:lnTo>
                <a:lnTo>
                  <a:pt x="6857998" y="10339528"/>
                </a:lnTo>
                <a:cubicBezTo>
                  <a:pt x="3428999" y="10339528"/>
                  <a:pt x="3428999" y="11696417"/>
                  <a:pt x="0" y="10925458"/>
                </a:cubicBezTo>
                <a:lnTo>
                  <a:pt x="0" y="7095240"/>
                </a:lnTo>
                <a:lnTo>
                  <a:pt x="0" y="6778313"/>
                </a:lnTo>
                <a:lnTo>
                  <a:pt x="0" y="0"/>
                </a:lnTo>
                <a:close/>
              </a:path>
            </a:pathLst>
          </a:cu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Sanitation barrier - MEDizzy">
            <a:extLst>
              <a:ext uri="{FF2B5EF4-FFF2-40B4-BE49-F238E27FC236}">
                <a16:creationId xmlns:a16="http://schemas.microsoft.com/office/drawing/2014/main" id="{471F1889-53AB-F120-E4A3-5085C9FA6902}"/>
              </a:ext>
            </a:extLst>
          </p:cNvPr>
          <p:cNvPicPr>
            <a:picLocks noChangeAspect="1" noChangeArrowheads="1"/>
          </p:cNvPicPr>
          <p:nvPr/>
        </p:nvPicPr>
        <p:blipFill rotWithShape="1">
          <a:blip r:embed="rId2">
            <a:alphaModFix amt="60000"/>
            <a:extLst>
              <a:ext uri="{28A0092B-C50C-407E-A947-70E740481C1C}">
                <a14:useLocalDpi xmlns:a14="http://schemas.microsoft.com/office/drawing/2010/main" val="0"/>
              </a:ext>
            </a:extLst>
          </a:blip>
          <a:srcRect t="15186" r="-1" b="2931"/>
          <a:stretch/>
        </p:blipFill>
        <p:spPr bwMode="auto">
          <a:xfrm>
            <a:off x="-23207" y="10"/>
            <a:ext cx="11167367" cy="6857990"/>
          </a:xfrm>
          <a:custGeom>
            <a:avLst/>
            <a:gdLst/>
            <a:ahLst/>
            <a:cxnLst/>
            <a:rect l="l" t="t" r="r" b="b"/>
            <a:pathLst>
              <a:path w="12142767" h="6858000">
                <a:moveTo>
                  <a:pt x="0" y="0"/>
                </a:moveTo>
                <a:lnTo>
                  <a:pt x="11251490" y="0"/>
                </a:lnTo>
                <a:lnTo>
                  <a:pt x="11255634" y="308191"/>
                </a:lnTo>
                <a:cubicBezTo>
                  <a:pt x="11341049" y="3428907"/>
                  <a:pt x="12695043" y="3532715"/>
                  <a:pt x="11886084" y="6854559"/>
                </a:cubicBezTo>
                <a:lnTo>
                  <a:pt x="7539784" y="6854559"/>
                </a:lnTo>
                <a:lnTo>
                  <a:pt x="7539784"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2D5A644-65FF-87E9-45A1-45D39F2AE183}"/>
              </a:ext>
            </a:extLst>
          </p:cNvPr>
          <p:cNvSpPr>
            <a:spLocks noGrp="1"/>
          </p:cNvSpPr>
          <p:nvPr>
            <p:ph type="title"/>
          </p:nvPr>
        </p:nvSpPr>
        <p:spPr>
          <a:xfrm>
            <a:off x="691079" y="725951"/>
            <a:ext cx="8351994" cy="1375333"/>
          </a:xfrm>
        </p:spPr>
        <p:txBody>
          <a:bodyPr>
            <a:normAutofit/>
          </a:bodyPr>
          <a:lstStyle/>
          <a:p>
            <a:r>
              <a:rPr lang="en-US" dirty="0">
                <a:solidFill>
                  <a:srgbClr val="FFFFFF"/>
                </a:solidFill>
              </a:rPr>
              <a:t>Sanitation barrier</a:t>
            </a:r>
          </a:p>
        </p:txBody>
      </p:sp>
      <p:sp>
        <p:nvSpPr>
          <p:cNvPr id="3" name="Content Placeholder 2">
            <a:extLst>
              <a:ext uri="{FF2B5EF4-FFF2-40B4-BE49-F238E27FC236}">
                <a16:creationId xmlns:a16="http://schemas.microsoft.com/office/drawing/2014/main" id="{98D4DAE9-7546-F927-985C-6CEF172AF6A2}"/>
              </a:ext>
            </a:extLst>
          </p:cNvPr>
          <p:cNvSpPr>
            <a:spLocks noGrp="1"/>
          </p:cNvSpPr>
          <p:nvPr>
            <p:ph idx="1"/>
          </p:nvPr>
        </p:nvSpPr>
        <p:spPr>
          <a:xfrm>
            <a:off x="691078" y="2340131"/>
            <a:ext cx="8159467" cy="4174436"/>
          </a:xfrm>
        </p:spPr>
        <p:txBody>
          <a:bodyPr>
            <a:normAutofit lnSpcReduction="10000"/>
          </a:bodyPr>
          <a:lstStyle/>
          <a:p>
            <a:pPr>
              <a:lnSpc>
                <a:spcPct val="100000"/>
              </a:lnSpc>
            </a:pPr>
            <a:r>
              <a:rPr lang="en-US" sz="1800" dirty="0">
                <a:solidFill>
                  <a:srgbClr val="FFFFFF"/>
                </a:solidFill>
              </a:rPr>
              <a:t>The disease cycle may be broken at various levels : </a:t>
            </a:r>
          </a:p>
          <a:p>
            <a:pPr lvl="1">
              <a:lnSpc>
                <a:spcPct val="100000"/>
              </a:lnSpc>
            </a:pPr>
            <a:r>
              <a:rPr lang="en-US" dirty="0">
                <a:solidFill>
                  <a:srgbClr val="FFFFFF"/>
                </a:solidFill>
              </a:rPr>
              <a:t>Segregation of </a:t>
            </a:r>
            <a:r>
              <a:rPr lang="en-US" dirty="0" err="1">
                <a:solidFill>
                  <a:srgbClr val="FFFFFF"/>
                </a:solidFill>
              </a:rPr>
              <a:t>faeces</a:t>
            </a:r>
            <a:r>
              <a:rPr lang="en-US" dirty="0">
                <a:solidFill>
                  <a:srgbClr val="FFFFFF"/>
                </a:solidFill>
              </a:rPr>
              <a:t>, </a:t>
            </a:r>
          </a:p>
          <a:p>
            <a:pPr lvl="1">
              <a:lnSpc>
                <a:spcPct val="100000"/>
              </a:lnSpc>
            </a:pPr>
            <a:r>
              <a:rPr lang="en-US" dirty="0">
                <a:solidFill>
                  <a:srgbClr val="FFFFFF"/>
                </a:solidFill>
              </a:rPr>
              <a:t>Protection of water supplies, </a:t>
            </a:r>
          </a:p>
          <a:p>
            <a:pPr lvl="1">
              <a:lnSpc>
                <a:spcPct val="100000"/>
              </a:lnSpc>
            </a:pPr>
            <a:r>
              <a:rPr lang="en-US" dirty="0">
                <a:solidFill>
                  <a:srgbClr val="FFFFFF"/>
                </a:solidFill>
              </a:rPr>
              <a:t>Protection of foods, </a:t>
            </a:r>
          </a:p>
          <a:p>
            <a:pPr lvl="1">
              <a:lnSpc>
                <a:spcPct val="100000"/>
              </a:lnSpc>
            </a:pPr>
            <a:r>
              <a:rPr lang="en-US" dirty="0">
                <a:solidFill>
                  <a:srgbClr val="FFFFFF"/>
                </a:solidFill>
              </a:rPr>
              <a:t>Personal hygiene</a:t>
            </a:r>
          </a:p>
          <a:p>
            <a:pPr lvl="1">
              <a:lnSpc>
                <a:spcPct val="100000"/>
              </a:lnSpc>
            </a:pPr>
            <a:r>
              <a:rPr lang="en-US" dirty="0">
                <a:solidFill>
                  <a:srgbClr val="FFFFFF"/>
                </a:solidFill>
              </a:rPr>
              <a:t>Control of flies. </a:t>
            </a:r>
          </a:p>
          <a:p>
            <a:pPr>
              <a:lnSpc>
                <a:spcPct val="100000"/>
              </a:lnSpc>
            </a:pPr>
            <a:r>
              <a:rPr lang="en-US" sz="1800" dirty="0">
                <a:solidFill>
                  <a:srgbClr val="FFFFFF"/>
                </a:solidFill>
              </a:rPr>
              <a:t>The most effective step would be to segregate the </a:t>
            </a:r>
            <a:r>
              <a:rPr lang="en-US" sz="1800" dirty="0" err="1">
                <a:solidFill>
                  <a:srgbClr val="FFFFFF"/>
                </a:solidFill>
              </a:rPr>
              <a:t>faeces</a:t>
            </a:r>
            <a:r>
              <a:rPr lang="en-US" sz="1800" dirty="0">
                <a:solidFill>
                  <a:srgbClr val="FFFFFF"/>
                </a:solidFill>
              </a:rPr>
              <a:t> and arrange for its proper disposal so that the disease agent cannot reach the new host, directly or indirectly.</a:t>
            </a:r>
          </a:p>
          <a:p>
            <a:pPr>
              <a:lnSpc>
                <a:spcPct val="100000"/>
              </a:lnSpc>
            </a:pPr>
            <a:r>
              <a:rPr lang="en-US" sz="1800" dirty="0">
                <a:solidFill>
                  <a:srgbClr val="FFFFFF"/>
                </a:solidFill>
              </a:rPr>
              <a:t>Segregation of the excreta by imposing a barrier called the “sanitation barrier”. </a:t>
            </a:r>
          </a:p>
          <a:p>
            <a:pPr>
              <a:lnSpc>
                <a:spcPct val="100000"/>
              </a:lnSpc>
            </a:pPr>
            <a:r>
              <a:rPr lang="en-US" sz="1800" dirty="0">
                <a:solidFill>
                  <a:srgbClr val="FFFFFF"/>
                </a:solidFill>
              </a:rPr>
              <a:t>In simple terms, this barrier can be provided by a ‘sanitary latrine’ and a disposal pit. </a:t>
            </a:r>
          </a:p>
          <a:p>
            <a:pPr>
              <a:lnSpc>
                <a:spcPct val="100000"/>
              </a:lnSpc>
            </a:pPr>
            <a:r>
              <a:rPr lang="en-US" sz="1800" dirty="0">
                <a:solidFill>
                  <a:srgbClr val="FFFFFF"/>
                </a:solidFill>
              </a:rPr>
              <a:t>The more elaborate schemes envisage installation of a sewerage system and sewage treatment plants.</a:t>
            </a:r>
          </a:p>
        </p:txBody>
      </p:sp>
    </p:spTree>
    <p:extLst>
      <p:ext uri="{BB962C8B-B14F-4D97-AF65-F5344CB8AC3E}">
        <p14:creationId xmlns:p14="http://schemas.microsoft.com/office/powerpoint/2010/main" val="2916419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B6DAC6-0186-4D62-AD69-90B9C0411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4" name="Picture 3">
            <a:extLst>
              <a:ext uri="{FF2B5EF4-FFF2-40B4-BE49-F238E27FC236}">
                <a16:creationId xmlns:a16="http://schemas.microsoft.com/office/drawing/2014/main" id="{BD6EC587-42DB-ECAB-4E10-F67918E60C74}"/>
              </a:ext>
            </a:extLst>
          </p:cNvPr>
          <p:cNvPicPr>
            <a:picLocks noChangeAspect="1"/>
          </p:cNvPicPr>
          <p:nvPr/>
        </p:nvPicPr>
        <p:blipFill>
          <a:blip r:embed="rId2"/>
          <a:srcRect t="-44" b="608"/>
          <a:stretch/>
        </p:blipFill>
        <p:spPr>
          <a:xfrm>
            <a:off x="20" y="0"/>
            <a:ext cx="12191980" cy="6858000"/>
          </a:xfrm>
          <a:prstGeom prst="rect">
            <a:avLst/>
          </a:prstGeom>
        </p:spPr>
      </p:pic>
    </p:spTree>
    <p:extLst>
      <p:ext uri="{BB962C8B-B14F-4D97-AF65-F5344CB8AC3E}">
        <p14:creationId xmlns:p14="http://schemas.microsoft.com/office/powerpoint/2010/main" val="31676793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88F1B-09D8-DDA8-ADCA-040B48B15BA6}"/>
              </a:ext>
            </a:extLst>
          </p:cNvPr>
          <p:cNvSpPr>
            <a:spLocks noGrp="1"/>
          </p:cNvSpPr>
          <p:nvPr>
            <p:ph type="title"/>
          </p:nvPr>
        </p:nvSpPr>
        <p:spPr>
          <a:xfrm>
            <a:off x="691079" y="725951"/>
            <a:ext cx="10325000" cy="609363"/>
          </a:xfrm>
        </p:spPr>
        <p:txBody>
          <a:bodyPr>
            <a:normAutofit fontScale="90000"/>
          </a:bodyPr>
          <a:lstStyle/>
          <a:p>
            <a:r>
              <a:rPr lang="en-US" sz="4000" dirty="0"/>
              <a:t>Methods of excreta disposal (unsewered areas)</a:t>
            </a:r>
          </a:p>
        </p:txBody>
      </p:sp>
      <p:sp>
        <p:nvSpPr>
          <p:cNvPr id="3" name="Content Placeholder 2">
            <a:extLst>
              <a:ext uri="{FF2B5EF4-FFF2-40B4-BE49-F238E27FC236}">
                <a16:creationId xmlns:a16="http://schemas.microsoft.com/office/drawing/2014/main" id="{BFCC1662-47C6-EDD3-1FE6-78C87DEF9529}"/>
              </a:ext>
            </a:extLst>
          </p:cNvPr>
          <p:cNvSpPr>
            <a:spLocks noGrp="1"/>
          </p:cNvSpPr>
          <p:nvPr>
            <p:ph idx="1"/>
          </p:nvPr>
        </p:nvSpPr>
        <p:spPr>
          <a:xfrm>
            <a:off x="691079" y="1335313"/>
            <a:ext cx="10325000" cy="5239657"/>
          </a:xfrm>
        </p:spPr>
        <p:txBody>
          <a:bodyPr numCol="2">
            <a:normAutofit/>
          </a:bodyPr>
          <a:lstStyle/>
          <a:p>
            <a:pPr marL="0" indent="0">
              <a:buNone/>
            </a:pPr>
            <a:r>
              <a:rPr lang="en-US" b="1" dirty="0"/>
              <a:t>SERVICE TYPE LATRINES </a:t>
            </a:r>
            <a:r>
              <a:rPr lang="en-US" dirty="0"/>
              <a:t>(CONSERVANCY SYSTEM)</a:t>
            </a:r>
          </a:p>
          <a:p>
            <a:pPr lvl="1"/>
            <a:r>
              <a:rPr lang="en-US" dirty="0"/>
              <a:t>Nightsoil is collected from pail or bucket type of latrines by human agency, and later disposed of by </a:t>
            </a:r>
            <a:r>
              <a:rPr lang="en-US" dirty="0" err="1"/>
              <a:t>buryinq</a:t>
            </a:r>
            <a:r>
              <a:rPr lang="en-US" dirty="0"/>
              <a:t> or composting</a:t>
            </a:r>
          </a:p>
          <a:p>
            <a:pPr marL="0" indent="0">
              <a:buNone/>
            </a:pPr>
            <a:r>
              <a:rPr lang="en-US" b="1" dirty="0"/>
              <a:t>NON-SERVICE TYPE (SANITARY LATRINES)</a:t>
            </a:r>
          </a:p>
          <a:p>
            <a:r>
              <a:rPr lang="en-US" dirty="0"/>
              <a:t>(a) Bore hole latrine</a:t>
            </a:r>
          </a:p>
          <a:p>
            <a:r>
              <a:rPr lang="en-US" dirty="0"/>
              <a:t>(b) Dug well or pit latrine</a:t>
            </a:r>
          </a:p>
          <a:p>
            <a:r>
              <a:rPr lang="en-US" dirty="0"/>
              <a:t>(c) Water-seal type of latrines</a:t>
            </a:r>
          </a:p>
          <a:p>
            <a:pPr lvl="1"/>
            <a:r>
              <a:rPr lang="en-US" dirty="0"/>
              <a:t>(</a:t>
            </a:r>
            <a:r>
              <a:rPr lang="en-US" dirty="0" err="1"/>
              <a:t>i</a:t>
            </a:r>
            <a:r>
              <a:rPr lang="en-US" dirty="0"/>
              <a:t>) RR.A.I. type</a:t>
            </a:r>
          </a:p>
          <a:p>
            <a:pPr lvl="1"/>
            <a:r>
              <a:rPr lang="en-US" dirty="0"/>
              <a:t>(ii) R.C.A. type</a:t>
            </a:r>
          </a:p>
          <a:p>
            <a:pPr lvl="1"/>
            <a:r>
              <a:rPr lang="en-US" dirty="0"/>
              <a:t>(iii) </a:t>
            </a:r>
            <a:r>
              <a:rPr lang="en-US" dirty="0" err="1"/>
              <a:t>Sulabh</a:t>
            </a:r>
            <a:r>
              <a:rPr lang="en-US" dirty="0"/>
              <a:t> </a:t>
            </a:r>
            <a:r>
              <a:rPr lang="en-US" dirty="0" err="1"/>
              <a:t>Shauchalaya</a:t>
            </a:r>
            <a:r>
              <a:rPr lang="en-US" dirty="0"/>
              <a:t>.</a:t>
            </a:r>
          </a:p>
          <a:p>
            <a:r>
              <a:rPr lang="en-US" dirty="0"/>
              <a:t>(d) Septic tank</a:t>
            </a:r>
          </a:p>
          <a:p>
            <a:r>
              <a:rPr lang="en-US" dirty="0"/>
              <a:t>(e) Aqua privy.</a:t>
            </a:r>
          </a:p>
          <a:p>
            <a:pPr marL="0" indent="0">
              <a:buNone/>
            </a:pPr>
            <a:r>
              <a:rPr lang="en-US" b="1" dirty="0"/>
              <a:t>LATRINES SUITABLE FOR CAMPS AND TEMPORARY USE</a:t>
            </a:r>
          </a:p>
          <a:p>
            <a:r>
              <a:rPr lang="en-US" dirty="0"/>
              <a:t>(a) Shallow trench latrine</a:t>
            </a:r>
          </a:p>
          <a:p>
            <a:r>
              <a:rPr lang="en-US" dirty="0"/>
              <a:t>(b) Deep trench latrine</a:t>
            </a:r>
          </a:p>
          <a:p>
            <a:r>
              <a:rPr lang="en-US" dirty="0"/>
              <a:t>(c) Pit latrine</a:t>
            </a:r>
          </a:p>
          <a:p>
            <a:r>
              <a:rPr lang="en-US" dirty="0"/>
              <a:t>(d) Bore hole latrine</a:t>
            </a:r>
          </a:p>
        </p:txBody>
      </p:sp>
    </p:spTree>
    <p:extLst>
      <p:ext uri="{BB962C8B-B14F-4D97-AF65-F5344CB8AC3E}">
        <p14:creationId xmlns:p14="http://schemas.microsoft.com/office/powerpoint/2010/main" val="655612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88F1B-09D8-DDA8-ADCA-040B48B15BA6}"/>
              </a:ext>
            </a:extLst>
          </p:cNvPr>
          <p:cNvSpPr>
            <a:spLocks noGrp="1"/>
          </p:cNvSpPr>
          <p:nvPr>
            <p:ph type="title"/>
          </p:nvPr>
        </p:nvSpPr>
        <p:spPr>
          <a:xfrm>
            <a:off x="691079" y="725951"/>
            <a:ext cx="10325000" cy="609363"/>
          </a:xfrm>
        </p:spPr>
        <p:txBody>
          <a:bodyPr>
            <a:normAutofit fontScale="90000"/>
          </a:bodyPr>
          <a:lstStyle/>
          <a:p>
            <a:r>
              <a:rPr lang="en-US" sz="4000" dirty="0"/>
              <a:t>Methods of excreta disposal (sewered areas)</a:t>
            </a:r>
          </a:p>
        </p:txBody>
      </p:sp>
      <p:sp>
        <p:nvSpPr>
          <p:cNvPr id="5" name="Content Placeholder 4">
            <a:extLst>
              <a:ext uri="{FF2B5EF4-FFF2-40B4-BE49-F238E27FC236}">
                <a16:creationId xmlns:a16="http://schemas.microsoft.com/office/drawing/2014/main" id="{34A56563-C88C-EEAA-D7D9-7EA3976D181B}"/>
              </a:ext>
            </a:extLst>
          </p:cNvPr>
          <p:cNvSpPr>
            <a:spLocks noGrp="1"/>
          </p:cNvSpPr>
          <p:nvPr>
            <p:ph idx="1"/>
          </p:nvPr>
        </p:nvSpPr>
        <p:spPr>
          <a:xfrm>
            <a:off x="691079" y="1640114"/>
            <a:ext cx="10325000" cy="4702629"/>
          </a:xfrm>
        </p:spPr>
        <p:txBody>
          <a:bodyPr numCol="2">
            <a:normAutofit/>
          </a:bodyPr>
          <a:lstStyle/>
          <a:p>
            <a:r>
              <a:rPr lang="en-US" sz="2400" u="sng" dirty="0"/>
              <a:t>WATER-CARRIAGE SYSTEM AND SEWAGE TREATMENT</a:t>
            </a:r>
          </a:p>
          <a:p>
            <a:pPr marL="0" indent="0">
              <a:buNone/>
            </a:pPr>
            <a:r>
              <a:rPr lang="en-US" sz="2400" b="1" dirty="0"/>
              <a:t>Primary treatment</a:t>
            </a:r>
          </a:p>
          <a:p>
            <a:r>
              <a:rPr lang="en-US" sz="2400" dirty="0"/>
              <a:t>Screening</a:t>
            </a:r>
          </a:p>
          <a:p>
            <a:r>
              <a:rPr lang="en-US" sz="2400" dirty="0"/>
              <a:t>Removal of grit</a:t>
            </a:r>
          </a:p>
          <a:p>
            <a:r>
              <a:rPr lang="en-US" sz="2400" dirty="0"/>
              <a:t>Plain sedimentation</a:t>
            </a:r>
          </a:p>
          <a:p>
            <a:pPr marL="0" indent="0">
              <a:buNone/>
            </a:pPr>
            <a:r>
              <a:rPr lang="en-US" sz="2400" b="1" dirty="0"/>
              <a:t>Secondary treatment</a:t>
            </a:r>
          </a:p>
          <a:p>
            <a:r>
              <a:rPr lang="en-US" sz="2400" dirty="0"/>
              <a:t>Trickling filters</a:t>
            </a:r>
          </a:p>
          <a:p>
            <a:r>
              <a:rPr lang="en-US" sz="2400" dirty="0"/>
              <a:t>Activated sludge process</a:t>
            </a:r>
          </a:p>
          <a:p>
            <a:pPr marL="0" indent="0">
              <a:buNone/>
            </a:pPr>
            <a:endParaRPr lang="en-US" sz="2400" b="1" dirty="0"/>
          </a:p>
          <a:p>
            <a:pPr marL="0" indent="0">
              <a:buNone/>
            </a:pPr>
            <a:endParaRPr lang="en-US" sz="2400" b="1" dirty="0"/>
          </a:p>
          <a:p>
            <a:pPr marL="0" indent="0">
              <a:buNone/>
            </a:pPr>
            <a:endParaRPr lang="en-US" sz="2400" b="1" dirty="0"/>
          </a:p>
          <a:p>
            <a:pPr marL="0" indent="0">
              <a:buNone/>
            </a:pPr>
            <a:r>
              <a:rPr lang="en-US" sz="2400" b="1" dirty="0"/>
              <a:t>Other methods</a:t>
            </a:r>
          </a:p>
          <a:p>
            <a:r>
              <a:rPr lang="en-US" sz="2400" dirty="0"/>
              <a:t>Sea outfall</a:t>
            </a:r>
          </a:p>
          <a:p>
            <a:r>
              <a:rPr lang="en-US" sz="2400" dirty="0"/>
              <a:t>River outfall</a:t>
            </a:r>
          </a:p>
          <a:p>
            <a:r>
              <a:rPr lang="en-US" sz="2400" dirty="0"/>
              <a:t>Sewage farming</a:t>
            </a:r>
          </a:p>
          <a:p>
            <a:r>
              <a:rPr lang="en-US" sz="2400" dirty="0"/>
              <a:t>Oxidation ponds.</a:t>
            </a:r>
          </a:p>
        </p:txBody>
      </p:sp>
    </p:spTree>
    <p:extLst>
      <p:ext uri="{BB962C8B-B14F-4D97-AF65-F5344CB8AC3E}">
        <p14:creationId xmlns:p14="http://schemas.microsoft.com/office/powerpoint/2010/main" val="3051075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11" name="Straight Connector 10">
              <a:extLst>
                <a:ext uri="{FF2B5EF4-FFF2-40B4-BE49-F238E27FC236}">
                  <a16:creationId xmlns:a16="http://schemas.microsoft.com/office/drawing/2014/main" id="{317D1EC0-23FF-4FC8-B22D-E34878EAA4C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AB929A7-258C-4469-AAB4-A67D713F7A8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A635CDB-2D00-49D5-B26E-0694A25000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4288D7A-F857-418D-92F2-368E841B9F2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1084F50-7F3C-4A4A-877E-FFD9EC7CD88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31E64C1-F4C0-4A94-B319-BB1A0A2450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63D8374-8052-417F-AB69-B97EAC43D5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7750734-4D51-4019-A003-38A3DE49B43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1B693D1-DBA2-4D3B-9B37-D9EE8C4112F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BCD3EA8-E4C0-4AF6-817F-F9F29157A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A170FB3-B397-4AC9-85FD-65388F26D9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E5EC0B9-49C7-4777-AEC5-B5EF8DE404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902048B-30F7-4434-87A5-140F9BB4BE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00A6E2-A41C-4751-8A4E-9A0C5718D9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C259517-7BE7-45F9-81C0-3A6362BF14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0652F56-7B71-42B2-AB68-22204A6DF1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59830E-1C3D-4D42-8789-524971CB465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53325A7-86D3-4B52-A7E3-ADDF408B40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D53F46F-EC12-484C-A4E7-791E57687A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64ED9CA-8950-47B8-A9ED-22B45CE15F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4429F7B-9FD7-438F-8ECA-3FCAD00618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C558100-D455-4B41-890C-BCC898B2D16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2886397-398A-4318-BE16-2CBAC1902F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D32A3A6-CE6E-4ABD-8522-2C8DC88C070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9014C09-5B84-4798-8BDE-C80D76E67B8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A29EB9E-ED9D-4C69-8A26-9A7A0A83056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A2899F9-1795-416F-8F3D-26EEB684DB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3043474-8625-495C-BD06-3627FD286C5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32CE47-7631-408E-8DDC-79EE378B70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2C8832D-8B8D-4036-B913-2D36314327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CCEFEAF-E87B-4FF2-A947-94CABAA061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Right Triangle 42">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45" name="Rectangle 44">
            <a:extLst>
              <a:ext uri="{FF2B5EF4-FFF2-40B4-BE49-F238E27FC236}">
                <a16:creationId xmlns:a16="http://schemas.microsoft.com/office/drawing/2014/main" id="{A173122F-D466-4F08-90FA-0038F7AC21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47" name="Group 46">
            <a:extLst>
              <a:ext uri="{FF2B5EF4-FFF2-40B4-BE49-F238E27FC236}">
                <a16:creationId xmlns:a16="http://schemas.microsoft.com/office/drawing/2014/main" id="{B19EC7B8-C390-4F1B-8960-E6D3245103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14" y="-1"/>
            <a:ext cx="12214827" cy="6858000"/>
            <a:chOff x="-6214" y="-1"/>
            <a:chExt cx="12214827" cy="6858000"/>
          </a:xfrm>
        </p:grpSpPr>
        <p:cxnSp>
          <p:nvCxnSpPr>
            <p:cNvPr id="48" name="Straight Connector 47">
              <a:extLst>
                <a:ext uri="{FF2B5EF4-FFF2-40B4-BE49-F238E27FC236}">
                  <a16:creationId xmlns:a16="http://schemas.microsoft.com/office/drawing/2014/main" id="{7CEE1CC1-2CD0-4957-8A12-48FA80C0CC2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4901FEB-A7C2-457B-A124-AD433B0417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76048A8-79AA-454C-BD3E-3004F742681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7B51975-25FE-4328-9815-2AA302F28A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440B47E-6D3E-4978-B887-B53DA0BFF5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FD94D0A1-D760-40DE-B758-008B93D588B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9E590CB-0538-40D7-9CAC-1BBD39CC27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D7C67DA-B2AA-46E2-8065-1F862A6F72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0C2ED54-1B65-4F4A-B14B-41FC05B372B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AE5BBBC-F576-4D54-BF67-C00BB1F4F9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0D490E7-12F8-40DC-A9C1-D119667EEF4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C855383-9F21-4BDA-8FCA-22AF3D69FFC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C3E600C-E08A-418E-B30E-2B0FC15DF96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980D58F-BD3F-4B47-9BD2-888B0D9D19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3544818-9B28-4A71-8D7B-80727A53262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01FFBC7-035F-48C5-91FA-4A4973FCD6E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6195BC5-BB4E-4F3F-8378-0B308B4252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2404171-AF5C-4FA1-9D4E-DCF75562BD6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BAD45A86-9385-473D-9DBF-565E0A94AF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DBA5A228-913F-4D4F-AB25-53729362464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87E8BFE-D92E-4EB3-ADD1-FB75CAA683B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8756FCD-8335-4089-B4EE-13D629E53E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A9707D7B-937E-4DC3-87BA-B7B7042682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AB1A72DC-3F29-4488-9051-C21E1CBB7E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956DAD76-815C-4F16-98CF-8E8BE1965B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AF2F8C5-6691-4EBD-B42E-4B17DF1ED27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D32ED14D-1C00-41C8-849C-030A1434E4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2F296F5-9867-45CA-BF0A-EF216F6A80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3B72471-9DB5-428B-AF52-E11E03B9FD0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8656B49-5277-4610-BD7B-F5D98170B5A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1A47399-8F78-4DB1-BD21-1166BCB267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80" name="Right Triangle 79">
            <a:extLst>
              <a:ext uri="{FF2B5EF4-FFF2-40B4-BE49-F238E27FC236}">
                <a16:creationId xmlns:a16="http://schemas.microsoft.com/office/drawing/2014/main" id="{F952A221-69C2-46B3-890D-354CA5961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a:off x="5810332" y="-28672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A94F9C9A-688A-433F-62EC-7F43F1AAE2F2}"/>
              </a:ext>
            </a:extLst>
          </p:cNvPr>
          <p:cNvSpPr>
            <a:spLocks noGrp="1"/>
          </p:cNvSpPr>
          <p:nvPr>
            <p:ph type="title"/>
          </p:nvPr>
        </p:nvSpPr>
        <p:spPr>
          <a:xfrm>
            <a:off x="1169071" y="722904"/>
            <a:ext cx="9821130" cy="1075904"/>
          </a:xfrm>
        </p:spPr>
        <p:txBody>
          <a:bodyPr vert="horz" lIns="91440" tIns="45720" rIns="91440" bIns="45720" rtlCol="0" anchor="b">
            <a:normAutofit/>
          </a:bodyPr>
          <a:lstStyle/>
          <a:p>
            <a:pPr algn="ctr"/>
            <a:r>
              <a:rPr lang="en-US" sz="5400"/>
              <a:t>Thank you</a:t>
            </a:r>
          </a:p>
        </p:txBody>
      </p:sp>
      <p:pic>
        <p:nvPicPr>
          <p:cNvPr id="7" name="Graphic 6" descr="Bee with solid fill">
            <a:extLst>
              <a:ext uri="{FF2B5EF4-FFF2-40B4-BE49-F238E27FC236}">
                <a16:creationId xmlns:a16="http://schemas.microsoft.com/office/drawing/2014/main" id="{46CF6AD3-880E-D3C4-BBDC-A5E060FFFF96}"/>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464223" y="2884564"/>
            <a:ext cx="3257291" cy="3257291"/>
          </a:xfrm>
          <a:prstGeom prst="rect">
            <a:avLst/>
          </a:prstGeom>
        </p:spPr>
      </p:pic>
    </p:spTree>
    <p:extLst>
      <p:ext uri="{BB962C8B-B14F-4D97-AF65-F5344CB8AC3E}">
        <p14:creationId xmlns:p14="http://schemas.microsoft.com/office/powerpoint/2010/main" val="3549388052"/>
      </p:ext>
    </p:extLst>
  </p:cSld>
  <p:clrMapOvr>
    <a:masterClrMapping/>
  </p:clrMapOvr>
</p:sld>
</file>

<file path=ppt/theme/theme1.xml><?xml version="1.0" encoding="utf-8"?>
<a:theme xmlns:a="http://schemas.openxmlformats.org/drawingml/2006/main" name="CosineVTI">
  <a:themeElements>
    <a:clrScheme name="AnalogousFromRegularSeedRightStep">
      <a:dk1>
        <a:srgbClr val="000000"/>
      </a:dk1>
      <a:lt1>
        <a:srgbClr val="FFFFFF"/>
      </a:lt1>
      <a:dk2>
        <a:srgbClr val="412B24"/>
      </a:dk2>
      <a:lt2>
        <a:srgbClr val="E2E8E6"/>
      </a:lt2>
      <a:accent1>
        <a:srgbClr val="DD3379"/>
      </a:accent1>
      <a:accent2>
        <a:srgbClr val="CB2221"/>
      </a:accent2>
      <a:accent3>
        <a:srgbClr val="DD7A33"/>
      </a:accent3>
      <a:accent4>
        <a:srgbClr val="BBA21E"/>
      </a:accent4>
      <a:accent5>
        <a:srgbClr val="8CAF28"/>
      </a:accent5>
      <a:accent6>
        <a:srgbClr val="51BA1E"/>
      </a:accent6>
      <a:hlink>
        <a:srgbClr val="31956C"/>
      </a:hlink>
      <a:folHlink>
        <a:srgbClr val="7F7F7F"/>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sineVTI" id="{4F4449D5-5E9D-4D83-9E2A-939F9CF20276}" vid="{03166EA1-370F-4321-A61E-8851365B4312}"/>
    </a:ext>
  </a:extLst>
</a:theme>
</file>

<file path=docProps/app.xml><?xml version="1.0" encoding="utf-8"?>
<Properties xmlns="http://schemas.openxmlformats.org/officeDocument/2006/extended-properties" xmlns:vt="http://schemas.openxmlformats.org/officeDocument/2006/docPropsVTypes">
  <TotalTime>115</TotalTime>
  <Words>2484</Words>
  <Application>Microsoft Office PowerPoint</Application>
  <PresentationFormat>Widescreen</PresentationFormat>
  <Paragraphs>163</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Times New Roman</vt:lpstr>
      <vt:lpstr>Wingdings</vt:lpstr>
      <vt:lpstr>CosineVTI</vt:lpstr>
      <vt:lpstr>Solid waste disposal</vt:lpstr>
      <vt:lpstr>Methods of disposal</vt:lpstr>
      <vt:lpstr> Dumping </vt:lpstr>
      <vt:lpstr>Controlled tipping</vt:lpstr>
      <vt:lpstr>PowerPoint Presentation</vt:lpstr>
      <vt:lpstr>The Ramp Method</vt:lpstr>
      <vt:lpstr>Area Method</vt:lpstr>
      <vt:lpstr>PowerPoint Presentation</vt:lpstr>
      <vt:lpstr>Control tipping</vt:lpstr>
      <vt:lpstr>Incineration</vt:lpstr>
      <vt:lpstr>Composting</vt:lpstr>
      <vt:lpstr>Bangalore method (anaerobic)</vt:lpstr>
      <vt:lpstr>Bangalore method (anaerobic)</vt:lpstr>
      <vt:lpstr>Mechanical Composting (aerobic)</vt:lpstr>
      <vt:lpstr>Manure pits</vt:lpstr>
      <vt:lpstr>Burial</vt:lpstr>
      <vt:lpstr>Public education</vt:lpstr>
      <vt:lpstr>Economics and finance</vt:lpstr>
      <vt:lpstr>International oraganization</vt:lpstr>
      <vt:lpstr>Excreta disposal</vt:lpstr>
      <vt:lpstr>Public health importance</vt:lpstr>
      <vt:lpstr>Extent of problem in India</vt:lpstr>
      <vt:lpstr>Faecal borne disease transmission</vt:lpstr>
      <vt:lpstr>Sanitation barrier</vt:lpstr>
      <vt:lpstr>PowerPoint Presentation</vt:lpstr>
      <vt:lpstr>Methods of excreta disposal (unsewered areas)</vt:lpstr>
      <vt:lpstr>Methods of excreta disposal (sewered areas)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1</cp:revision>
  <dcterms:created xsi:type="dcterms:W3CDTF">2024-09-04T18:26:11Z</dcterms:created>
  <dcterms:modified xsi:type="dcterms:W3CDTF">2024-09-04T20:21:42Z</dcterms:modified>
</cp:coreProperties>
</file>