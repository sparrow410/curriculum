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331" r:id="rId4"/>
    <p:sldId id="300" r:id="rId5"/>
    <p:sldId id="257" r:id="rId6"/>
    <p:sldId id="265" r:id="rId8"/>
    <p:sldId id="260" r:id="rId9"/>
    <p:sldId id="262" r:id="rId10"/>
    <p:sldId id="266" r:id="rId11"/>
    <p:sldId id="258" r:id="rId12"/>
    <p:sldId id="259" r:id="rId13"/>
    <p:sldId id="263" r:id="rId14"/>
    <p:sldId id="264" r:id="rId15"/>
    <p:sldId id="267" r:id="rId16"/>
    <p:sldId id="269" r:id="rId17"/>
    <p:sldId id="268" r:id="rId18"/>
    <p:sldId id="270" r:id="rId19"/>
    <p:sldId id="271" r:id="rId20"/>
    <p:sldId id="272" r:id="rId21"/>
    <p:sldId id="273" r:id="rId22"/>
    <p:sldId id="274" r:id="rId23"/>
    <p:sldId id="298" r:id="rId24"/>
    <p:sldId id="299" r:id="rId25"/>
    <p:sldId id="275" r:id="rId26"/>
    <p:sldId id="289" r:id="rId27"/>
    <p:sldId id="290" r:id="rId28"/>
    <p:sldId id="291" r:id="rId29"/>
    <p:sldId id="292" r:id="rId30"/>
    <p:sldId id="293" r:id="rId31"/>
    <p:sldId id="301" r:id="rId32"/>
    <p:sldId id="294" r:id="rId33"/>
    <p:sldId id="295" r:id="rId34"/>
    <p:sldId id="296" r:id="rId35"/>
    <p:sldId id="29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0" d="100"/>
          <a:sy n="100" d="100"/>
        </p:scale>
        <p:origin x="-928" y="-9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9B168F-CEB0-734E-A9F8-62109B711D4E}"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83CE7-9269-1F4B-B1B3-ECD5E1420775}"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B83CE7-9269-1F4B-B1B3-ECD5E1420775}"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5EC9E6A-4EF0-8344-8353-758A5686516C}"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EC9E6A-4EF0-8344-8353-758A5686516C}"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5EC9E6A-4EF0-8344-8353-758A5686516C}"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5EC9E6A-4EF0-8344-8353-758A5686516C}" type="datetimeFigureOut">
              <a:rPr lang="en-US"/>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5EC9E6A-4EF0-8344-8353-758A5686516C}" type="datetimeFigureOut">
              <a:rPr lang="en-US"/>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5EC9E6A-4EF0-8344-8353-758A5686516C}" type="datetimeFigureOut">
              <a:rPr lang="en-US"/>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EC9E6A-4EF0-8344-8353-758A5686516C}" type="datetimeFigureOut">
              <a:rPr lang="en-US"/>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5EC9E6A-4EF0-8344-8353-758A5686516C}" type="datetimeFigureOut">
              <a:rPr lang="en-US"/>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5EC9E6A-4EF0-8344-8353-758A5686516C}" type="datetimeFigureOut">
              <a:rPr lang="en-US"/>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EC9E6A-4EF0-8344-8353-758A5686516C}"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EC9E6A-4EF0-8344-8353-758A5686516C}"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B7F62-1BFF-B24F-B512-8E9B8EA8B489}"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C9E6A-4EF0-8344-8353-758A5686516C}" type="datetimeFigureOut">
              <a:rPr lang="en-US"/>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6B7F62-1BFF-B24F-B512-8E9B8EA8B489}"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2539" y="2567728"/>
            <a:ext cx="9144000" cy="2258272"/>
          </a:xfrm>
        </p:spPr>
        <p:txBody>
          <a:bodyPr>
            <a:normAutofit fontScale="90000"/>
          </a:bodyPr>
          <a:lstStyle/>
          <a:p>
            <a:r>
              <a:rPr lang="en-GB" sz="4800" dirty="0"/>
              <a:t>NATIONAL PROGRAMME FOR PREVENTION AND CONTROL OF NON COMMUNICABLE DISEASES</a:t>
            </a:r>
            <a:endParaRPr lang="en-US" sz="4800" dirty="0"/>
          </a:p>
        </p:txBody>
      </p:sp>
      <p:pic>
        <p:nvPicPr>
          <p:cNvPr id="7"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6431" y="0"/>
            <a:ext cx="10979136" cy="235180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16" name="Content Placeholder 15" descr="Screenshot 2024-01-19 152119"/>
          <p:cNvPicPr>
            <a:picLocks noChangeAspect="1"/>
          </p:cNvPicPr>
          <p:nvPr>
            <p:ph idx="1"/>
          </p:nvPr>
        </p:nvPicPr>
        <p:blipFill>
          <a:blip r:embed="rId1"/>
          <a:stretch>
            <a:fillRect/>
          </a:stretch>
        </p:blipFill>
        <p:spPr>
          <a:xfrm>
            <a:off x="401320" y="403225"/>
            <a:ext cx="10981690" cy="6235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endParaRPr lang="en-US" dirty="0"/>
          </a:p>
        </p:txBody>
      </p:sp>
      <p:sp>
        <p:nvSpPr>
          <p:cNvPr id="3" name="Content Placeholder 2"/>
          <p:cNvSpPr>
            <a:spLocks noGrp="1"/>
          </p:cNvSpPr>
          <p:nvPr>
            <p:ph idx="1"/>
          </p:nvPr>
        </p:nvSpPr>
        <p:spPr/>
        <p:txBody>
          <a:bodyPr>
            <a:normAutofit lnSpcReduction="10000"/>
          </a:bodyPr>
          <a:lstStyle/>
          <a:p>
            <a:pPr marL="514350" indent="-514350">
              <a:buAutoNum type="arabicParenR"/>
            </a:pPr>
            <a:r>
              <a:rPr lang="en-GB" dirty="0"/>
              <a:t>Introduction</a:t>
            </a:r>
            <a:endParaRPr lang="en-GB" dirty="0"/>
          </a:p>
          <a:p>
            <a:pPr marL="514350" indent="-514350">
              <a:buAutoNum type="arabicParenR"/>
            </a:pPr>
            <a:r>
              <a:rPr lang="en-GB" dirty="0"/>
              <a:t>NCD – An Overview</a:t>
            </a:r>
            <a:endParaRPr lang="en-GB" dirty="0"/>
          </a:p>
          <a:p>
            <a:pPr marL="514350" indent="-514350">
              <a:buAutoNum type="arabicParenR"/>
            </a:pPr>
            <a:r>
              <a:rPr lang="en-GB" dirty="0"/>
              <a:t>Burden of NCD’s</a:t>
            </a:r>
            <a:endParaRPr lang="en-GB" dirty="0"/>
          </a:p>
          <a:p>
            <a:pPr marL="514350" indent="-514350">
              <a:buAutoNum type="arabicParenR"/>
            </a:pPr>
            <a:r>
              <a:rPr lang="en-GB" dirty="0"/>
              <a:t>Evolution of NPNCD</a:t>
            </a:r>
            <a:endParaRPr lang="en-GB" dirty="0"/>
          </a:p>
          <a:p>
            <a:pPr marL="514350" indent="-514350">
              <a:buAutoNum type="arabicParenR"/>
            </a:pPr>
            <a:r>
              <a:rPr lang="en-GB" dirty="0"/>
              <a:t>Objectives of NPNCD</a:t>
            </a:r>
            <a:endParaRPr lang="en-GB" dirty="0"/>
          </a:p>
          <a:p>
            <a:pPr marL="514350" indent="-514350">
              <a:buAutoNum type="arabicParenR"/>
            </a:pPr>
            <a:r>
              <a:rPr lang="en-GB" dirty="0"/>
              <a:t>Strategies for NPNCD</a:t>
            </a:r>
            <a:endParaRPr lang="en-GB" dirty="0"/>
          </a:p>
          <a:p>
            <a:pPr marL="514350" indent="-514350">
              <a:buAutoNum type="arabicParenR"/>
            </a:pPr>
            <a:r>
              <a:rPr lang="en-GB" dirty="0"/>
              <a:t>Organisational structure of NPNCD</a:t>
            </a:r>
            <a:endParaRPr lang="en-GB" dirty="0"/>
          </a:p>
          <a:p>
            <a:pPr marL="514350" indent="-514350">
              <a:buAutoNum type="arabicParenR"/>
            </a:pPr>
            <a:r>
              <a:rPr lang="en-GB" dirty="0"/>
              <a:t>Monitoring and Evaluation</a:t>
            </a:r>
            <a:endParaRPr lang="en-GB" dirty="0"/>
          </a:p>
          <a:p>
            <a:pPr marL="514350" indent="-514350">
              <a:buAutoNum type="arabicParenR"/>
            </a:pPr>
            <a:r>
              <a:rPr lang="en-GB" dirty="0"/>
              <a:t>Linkage with other Programmes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INTRODUCTION </a:t>
            </a:r>
            <a:endParaRPr lang="en-US"/>
          </a:p>
        </p:txBody>
      </p:sp>
      <p:sp>
        <p:nvSpPr>
          <p:cNvPr id="3" name="Content Placeholder 2"/>
          <p:cNvSpPr>
            <a:spLocks noGrp="1"/>
          </p:cNvSpPr>
          <p:nvPr>
            <p:ph idx="1"/>
          </p:nvPr>
        </p:nvSpPr>
        <p:spPr/>
        <p:txBody>
          <a:bodyPr/>
          <a:lstStyle/>
          <a:p>
            <a:r>
              <a:rPr lang="en-US"/>
              <a:t>Non Communicable Diseases (NCDs) are chronic diseases that are not transmissible from one person </a:t>
            </a:r>
            <a:r>
              <a:rPr lang="en-GB"/>
              <a:t>to another.</a:t>
            </a:r>
            <a:r>
              <a:rPr lang="en-US"/>
              <a:t> </a:t>
            </a:r>
            <a:endParaRPr lang="en-GB"/>
          </a:p>
          <a:p>
            <a:r>
              <a:rPr lang="en-GB"/>
              <a:t>It includes</a:t>
            </a:r>
            <a:r>
              <a:rPr lang="en-US"/>
              <a:t> wide spectrum of medical disorders both acute and chronic like Cancers, Diabetes, Hypertension, Cardiovascular Diseases and Stroke, Chronic Kidney Diseases (CKDs), Chronic Obstructive Pulmonary Diseases (COPDs) and Asthma, Non-Alcoholic Fatty Liver Disease</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CHARACTERISTICS OF NCD’s</a:t>
            </a:r>
            <a:endParaRPr lang="en-US" dirty="0"/>
          </a:p>
        </p:txBody>
      </p:sp>
      <p:sp>
        <p:nvSpPr>
          <p:cNvPr id="3" name="Content Placeholder 2"/>
          <p:cNvSpPr>
            <a:spLocks noGrp="1"/>
          </p:cNvSpPr>
          <p:nvPr>
            <p:ph idx="1"/>
          </p:nvPr>
        </p:nvSpPr>
        <p:spPr/>
        <p:txBody>
          <a:bodyPr/>
          <a:lstStyle/>
          <a:p>
            <a:r>
              <a:rPr lang="en-GB" dirty="0"/>
              <a:t>Associated with specific risk factors.</a:t>
            </a:r>
            <a:endParaRPr lang="en-GB" dirty="0"/>
          </a:p>
          <a:p>
            <a:r>
              <a:rPr lang="en-GB" dirty="0"/>
              <a:t>Cause permanent damage.</a:t>
            </a:r>
            <a:endParaRPr lang="en-GB" dirty="0"/>
          </a:p>
          <a:p>
            <a:r>
              <a:rPr lang="en-GB" dirty="0"/>
              <a:t>Disability known to occur.</a:t>
            </a:r>
            <a:endParaRPr lang="en-GB" dirty="0"/>
          </a:p>
          <a:p>
            <a:r>
              <a:rPr lang="en-GB" dirty="0"/>
              <a:t>Need Rehabilitation</a:t>
            </a:r>
            <a:endParaRPr lang="en-GB" dirty="0"/>
          </a:p>
          <a:p>
            <a:r>
              <a:rPr lang="en-GB" dirty="0"/>
              <a:t>Require special training of </a:t>
            </a:r>
            <a:r>
              <a:rPr lang="en-GB" dirty="0" smtClean="0"/>
              <a:t>patient </a:t>
            </a:r>
            <a:r>
              <a:rPr lang="en-GB" dirty="0"/>
              <a:t>for rehabilitation.</a:t>
            </a:r>
            <a:endParaRPr lang="en-GB" dirty="0"/>
          </a:p>
          <a:p>
            <a:r>
              <a:rPr lang="en-GB" dirty="0"/>
              <a:t>Dependency is definate stage in natural history.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RISK FACTORS </a:t>
            </a:r>
            <a:endParaRPr lang="en-US"/>
          </a:p>
        </p:txBody>
      </p:sp>
      <p:sp>
        <p:nvSpPr>
          <p:cNvPr id="3" name="Content Placeholder 2"/>
          <p:cNvSpPr>
            <a:spLocks noGrp="1"/>
          </p:cNvSpPr>
          <p:nvPr>
            <p:ph idx="1"/>
          </p:nvPr>
        </p:nvSpPr>
        <p:spPr>
          <a:xfrm>
            <a:off x="838200" y="1306965"/>
            <a:ext cx="10515600" cy="3006702"/>
          </a:xfrm>
        </p:spPr>
        <p:txBody>
          <a:bodyPr>
            <a:normAutofit lnSpcReduction="10000"/>
          </a:bodyPr>
          <a:lstStyle/>
          <a:p>
            <a:r>
              <a:rPr lang="en-US" dirty="0"/>
              <a:t>Most NCDs are strongly associated with major risk factors such as: </a:t>
            </a:r>
            <a:endParaRPr lang="en-US" dirty="0"/>
          </a:p>
          <a:p>
            <a:r>
              <a:rPr lang="en-US" dirty="0"/>
              <a:t>1. Tobacco use (smoking and smokeless)</a:t>
            </a:r>
            <a:endParaRPr lang="en-US" dirty="0"/>
          </a:p>
          <a:p>
            <a:r>
              <a:rPr lang="en-US" dirty="0"/>
              <a:t>2. Alcohol use</a:t>
            </a:r>
            <a:endParaRPr lang="en-US" dirty="0"/>
          </a:p>
          <a:p>
            <a:r>
              <a:rPr lang="en-US" dirty="0"/>
              <a:t>3. Unhealthy diets</a:t>
            </a:r>
            <a:endParaRPr lang="en-US" dirty="0"/>
          </a:p>
          <a:p>
            <a:r>
              <a:rPr lang="en-US" dirty="0"/>
              <a:t>4. Insufficient physical activity</a:t>
            </a:r>
            <a:endParaRPr lang="en-US" dirty="0"/>
          </a:p>
          <a:p>
            <a:r>
              <a:rPr lang="en-US" dirty="0"/>
              <a:t>5. Air pollution (indoor and outdoor)</a:t>
            </a:r>
            <a:endParaRPr lang="en-GB" dirty="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6098"/>
            <a:ext cx="10515600" cy="5250865"/>
          </a:xfrm>
        </p:spPr>
        <p:txBody>
          <a:bodyPr/>
          <a:lstStyle/>
          <a:p>
            <a:r>
              <a:rPr lang="en-US" dirty="0"/>
              <a:t>If </a:t>
            </a:r>
            <a:r>
              <a:rPr lang="en-GB" dirty="0"/>
              <a:t>these</a:t>
            </a:r>
            <a:r>
              <a:rPr lang="en-US" dirty="0"/>
              <a:t> risk factors are not managed/modified, they may lead to the following biological risk factors:</a:t>
            </a:r>
            <a:endParaRPr lang="en-US" dirty="0"/>
          </a:p>
          <a:p>
            <a:r>
              <a:rPr lang="en-US" dirty="0"/>
              <a:t>1. Overweight/obesity</a:t>
            </a:r>
            <a:endParaRPr lang="en-US" dirty="0"/>
          </a:p>
          <a:p>
            <a:r>
              <a:rPr lang="en-US" dirty="0"/>
              <a:t>2. Raised blood pressure</a:t>
            </a:r>
            <a:endParaRPr lang="en-US" dirty="0"/>
          </a:p>
          <a:p>
            <a:r>
              <a:rPr lang="en-US" dirty="0"/>
              <a:t>3. Raised blood sugar</a:t>
            </a:r>
            <a:endParaRPr lang="en-US" dirty="0"/>
          </a:p>
          <a:p>
            <a:r>
              <a:rPr lang="en-US" dirty="0"/>
              <a:t>4. Raised total cholesterol/lipids</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48291" y="3923731"/>
            <a:ext cx="8895417" cy="296804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p:cNvPicPr>
            <a:picLocks noGrp="1" noChangeAspect="1"/>
          </p:cNvPicPr>
          <p:nvPr>
            <p:ph idx="1"/>
          </p:nvPr>
        </p:nvPicPr>
        <p:blipFill>
          <a:blip r:embed="rId1"/>
          <a:srcRect/>
          <a:stretch>
            <a:fillRect/>
          </a:stretch>
        </p:blipFill>
        <p:spPr>
          <a:xfrm>
            <a:off x="0" y="0"/>
            <a:ext cx="12192000" cy="6858000"/>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Burden of Non Communicable Diseases</a:t>
            </a:r>
            <a:endParaRPr lang="en-US"/>
          </a:p>
        </p:txBody>
      </p:sp>
      <p:sp>
        <p:nvSpPr>
          <p:cNvPr id="3" name="Content Placeholder 2"/>
          <p:cNvSpPr>
            <a:spLocks noGrp="1"/>
          </p:cNvSpPr>
          <p:nvPr>
            <p:ph idx="1"/>
          </p:nvPr>
        </p:nvSpPr>
        <p:spPr/>
        <p:txBody>
          <a:bodyPr>
            <a:normAutofit/>
          </a:bodyPr>
          <a:lstStyle/>
          <a:p>
            <a:r>
              <a:rPr lang="en-US"/>
              <a:t>The global NCD burden remains unacceptably high. NCDs are responsible for 41 million of the world’s annual deaths. 17 million of these deaths were </a:t>
            </a:r>
            <a:r>
              <a:rPr lang="en-GB"/>
              <a:t>premature.</a:t>
            </a:r>
            <a:endParaRPr lang="en-GB"/>
          </a:p>
          <a:p>
            <a:r>
              <a:rPr lang="en-US"/>
              <a:t>As per the WHO – NCD India profile - 2018, NCDs are estimated to account for 63% of all deaths in country of which the cardiovascular diseases lead with 27% overall mortality cause followed by chronic respiratory diseases (11%), cancers (9%), diabetes (3%) and others (13%)</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823" y="207154"/>
            <a:ext cx="7481898" cy="6421759"/>
          </a:xfrm>
        </p:spPr>
        <p:txBody>
          <a:bodyPr>
            <a:normAutofit lnSpcReduction="10000"/>
          </a:bodyPr>
          <a:lstStyle/>
          <a:p>
            <a:r>
              <a:rPr lang="en-US" dirty="0"/>
              <a:t>•	 As per India State-Level Disease Burden Initiative CVD Collaborators - 2016, there were 54.5 million cases of cardiovascular diseases, 23.8 million cases of ischemic heart diseases, 6.5 million cases of stroke, 55 million cases of COPD, 38 million cases of asthma and 65 million cases of diabetes.</a:t>
            </a:r>
            <a:endParaRPr lang="en-GB" dirty="0"/>
          </a:p>
          <a:p>
            <a:r>
              <a:rPr lang="en-US" dirty="0"/>
              <a:t> In 2016, cardiovascular diseases were responsible for 28.1 percent deaths, while chronic respiratory diseases contributed to 10.9 percent deaths and cancers contributed to 8.3 percent deaths. </a:t>
            </a:r>
            <a:endParaRPr lang="en-GB" dirty="0"/>
          </a:p>
          <a:p>
            <a:r>
              <a:rPr lang="en-US" dirty="0"/>
              <a:t>Four common NCDs (Cardiovascular Diseases, Cancers, Chronic Respiratory Diseases and Diabetes) account for 23 percent of the total premature mortality in 30-70 years age group.</a:t>
            </a:r>
            <a:endParaRPr lang="en-US" dirty="0"/>
          </a:p>
        </p:txBody>
      </p:sp>
      <p:pic>
        <p:nvPicPr>
          <p:cNvPr id="6"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008027" y="1310870"/>
            <a:ext cx="3867150" cy="376237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8714" y="694574"/>
            <a:ext cx="8934572" cy="5702814"/>
          </a:xfrm>
        </p:spPr>
        <p:txBody>
          <a:bodyPr>
            <a:normAutofit/>
          </a:bodyPr>
          <a:lstStyle/>
          <a:p>
            <a:pPr marL="0" indent="0">
              <a:buNone/>
            </a:pPr>
            <a:r>
              <a:rPr lang="en-GB" dirty="0"/>
              <a:t>•Considering the rising burden of NCDs and common risk factors to major Chronic Non- Communicable Diseases, Government of India initiated an Integrated National Programme for Prevention and Control of NCDs.</a:t>
            </a:r>
            <a:endParaRPr lang="en-GB" dirty="0"/>
          </a:p>
          <a:p>
            <a:pPr marL="0" indent="0">
              <a:buNone/>
            </a:pPr>
            <a:endParaRPr lang="en-GB" dirty="0"/>
          </a:p>
          <a:p>
            <a:pPr marL="0" indent="0">
              <a:buNone/>
            </a:pPr>
            <a:r>
              <a:rPr lang="en-GB" dirty="0"/>
              <a:t>•</a:t>
            </a:r>
            <a:r>
              <a:rPr lang="en-US" dirty="0"/>
              <a:t>The National Health Policy, which was published in 2017, recognized the need to halt and reverse the growing incidence of chronic </a:t>
            </a:r>
            <a:r>
              <a:rPr lang="en-US" dirty="0" smtClean="0"/>
              <a:t>diseases</a:t>
            </a:r>
            <a:endParaRPr lang="en-GB" dirty="0"/>
          </a:p>
          <a:p>
            <a:pPr marL="0" indent="0">
              <a:buNone/>
            </a:pPr>
            <a:endParaRPr lang="en-GB" dirty="0"/>
          </a:p>
          <a:p>
            <a:pPr marL="0" indent="0">
              <a:buNone/>
            </a:pPr>
            <a:endParaRPr lang="en-GB" dirty="0"/>
          </a:p>
          <a:p>
            <a:pPr marL="0" indent="0">
              <a:buNone/>
            </a:pPr>
            <a:endParaRPr lang="en-US" dirty="0"/>
          </a:p>
          <a:p>
            <a:pPr marL="0" indent="0">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6226"/>
            <a:ext cx="10515600" cy="6030737"/>
          </a:xfrm>
        </p:spPr>
        <p:txBody>
          <a:bodyPr>
            <a:normAutofit/>
          </a:bodyPr>
          <a:lstStyle/>
          <a:p>
            <a:pPr marL="0" indent="0">
              <a:buNone/>
            </a:pPr>
            <a:endParaRPr lang="en-US" dirty="0"/>
          </a:p>
          <a:p>
            <a:pPr marL="0" indent="0">
              <a:buNone/>
            </a:pPr>
            <a:endParaRPr lang="en-GB" dirty="0"/>
          </a:p>
          <a:p>
            <a:pPr marL="0" indent="0">
              <a:buNone/>
            </a:pPr>
            <a:r>
              <a:rPr lang="en-GB" dirty="0"/>
              <a:t>•Also</a:t>
            </a:r>
            <a:r>
              <a:rPr lang="en-US" dirty="0"/>
              <a:t>, it would be incorporated into comprehensive primary healthcare with linkages to specialist consultation and follow-up at the primary level.</a:t>
            </a:r>
            <a:endParaRPr lang="en-GB" dirty="0"/>
          </a:p>
          <a:p>
            <a:pPr marL="0" indent="0">
              <a:buNone/>
            </a:pPr>
            <a:endParaRPr lang="en-GB" dirty="0"/>
          </a:p>
          <a:p>
            <a:pPr marL="0" indent="0">
              <a:buNone/>
            </a:pPr>
            <a:r>
              <a:rPr lang="en-GB" dirty="0"/>
              <a:t>•</a:t>
            </a:r>
            <a:r>
              <a:rPr lang="en-US" dirty="0"/>
              <a:t>The NP-NCD Programme has been expanded to cover the entire country. The integration of services at district level and below has been brought under the umbrella of National Health Mission.</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Evolution of National Programme for Prevention and Control of Non Communicable Diseases:</a:t>
            </a:r>
            <a:endParaRPr lang="en-US" dirty="0"/>
          </a:p>
        </p:txBody>
      </p:sp>
      <p:sp>
        <p:nvSpPr>
          <p:cNvPr id="3" name="Content Placeholder 2"/>
          <p:cNvSpPr>
            <a:spLocks noGrp="1"/>
          </p:cNvSpPr>
          <p:nvPr>
            <p:ph idx="1"/>
          </p:nvPr>
        </p:nvSpPr>
        <p:spPr>
          <a:xfrm>
            <a:off x="838200" y="2083721"/>
            <a:ext cx="10515600" cy="4093242"/>
          </a:xfrm>
        </p:spPr>
        <p:txBody>
          <a:bodyPr>
            <a:normAutofit/>
          </a:bodyPr>
          <a:lstStyle/>
          <a:p>
            <a:r>
              <a:rPr lang="en-US" dirty="0"/>
              <a:t>Government of India launched NP-NCD </a:t>
            </a:r>
            <a:r>
              <a:rPr lang="en-GB" dirty="0"/>
              <a:t>formerly </a:t>
            </a:r>
            <a:r>
              <a:rPr lang="en-US" dirty="0"/>
              <a:t>NPCDCS in 100 districts of 21 states to combat NCDs in 2010 as per the 11th Five Year Plan. The </a:t>
            </a:r>
            <a:r>
              <a:rPr lang="en-GB" dirty="0"/>
              <a:t>aim </a:t>
            </a:r>
            <a:r>
              <a:rPr lang="en-US" dirty="0"/>
              <a:t>was to </a:t>
            </a:r>
            <a:r>
              <a:rPr lang="en-GB" dirty="0"/>
              <a:t>provide technical, financial and logistics support to the State Governments.</a:t>
            </a:r>
            <a:endParaRPr lang="en-GB" dirty="0"/>
          </a:p>
          <a:p>
            <a:endParaRPr lang="en-GB" dirty="0"/>
          </a:p>
          <a:p>
            <a:r>
              <a:rPr lang="en-GB" dirty="0"/>
              <a:t>The programme focuses on health promotion, screening, early diagnosis and management of individuals with NCDs along with addressing their risk factors.</a:t>
            </a:r>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8599"/>
            <a:ext cx="10515600" cy="5640801"/>
          </a:xfrm>
        </p:spPr>
        <p:txBody>
          <a:bodyPr/>
          <a:lstStyle/>
          <a:p>
            <a:endParaRPr lang="en-GB" dirty="0"/>
          </a:p>
          <a:p>
            <a:r>
              <a:rPr lang="en-GB" dirty="0"/>
              <a:t>In 2013-2014, the programme was subsumed under the National Health Mission (NHM) for optimization of resources and provide seamless services to the patients, and for ensuring long term sustainability of the programme interventions.</a:t>
            </a:r>
            <a:endParaRPr lang="en-GB" dirty="0"/>
          </a:p>
          <a:p>
            <a:pPr marL="0" indent="0">
              <a:buNone/>
            </a:pPr>
            <a:endParaRPr lang="en-GB" dirty="0"/>
          </a:p>
          <a:p>
            <a:endParaRPr lang="en-GB" dirty="0"/>
          </a:p>
          <a:p>
            <a:pPr marL="0" indent="0">
              <a:buNone/>
            </a:pPr>
            <a:r>
              <a:rPr lang="en-GB" dirty="0"/>
              <a:t>•</a:t>
            </a:r>
            <a:r>
              <a:rPr lang="en-US" dirty="0"/>
              <a:t>The Population-Based Screening (PBS) of common NCDs as a part of Comprehensive Primary health Care (CPHC) was initiated in 2016, in selected districts across States/</a:t>
            </a:r>
            <a:r>
              <a:rPr lang="en-GB" dirty="0" err="1"/>
              <a:t>Uts</a:t>
            </a:r>
            <a:r>
              <a:rPr lang="en-GB" dirty="0"/>
              <a: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1115"/>
            <a:ext cx="10515600" cy="5835769"/>
          </a:xfrm>
        </p:spPr>
        <p:txBody>
          <a:bodyPr>
            <a:normAutofit/>
          </a:bodyPr>
          <a:lstStyle/>
          <a:p>
            <a:endParaRPr lang="en-GB" dirty="0"/>
          </a:p>
          <a:p>
            <a:r>
              <a:rPr lang="en-US" dirty="0"/>
              <a:t>From 2016 onwards, the National Multisectoral Action Plan (NMAP) is introduced to offer roadmap and policy options to guide</a:t>
            </a:r>
            <a:r>
              <a:rPr lang="en-GB" dirty="0"/>
              <a:t> </a:t>
            </a:r>
            <a:r>
              <a:rPr lang="en-US" dirty="0"/>
              <a:t>multisectoral efforts involving other Ministries/</a:t>
            </a:r>
            <a:r>
              <a:rPr lang="en-GB" dirty="0"/>
              <a:t>Department.</a:t>
            </a:r>
            <a:endParaRPr lang="en-GB" dirty="0"/>
          </a:p>
          <a:p>
            <a:endParaRPr lang="en-GB" dirty="0"/>
          </a:p>
          <a:p>
            <a:r>
              <a:rPr lang="en-GB" dirty="0"/>
              <a:t>There are several other disease interventions such as COPD and Asthma, CKD, Stroke, Non-Alcoholic Fatty Liver Disease (NAFLD) and STEMI, which were included in phased manner under the programme. Further, the name of the programme is changed from NPCDCS to National Programme for Prevention and Control of Non Communicable Diseases (NP-NCD).</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National Programme for Prevention and Control of NCDs:</a:t>
            </a:r>
            <a:endParaRPr lang="en-US" dirty="0"/>
          </a:p>
        </p:txBody>
      </p:sp>
      <p:sp>
        <p:nvSpPr>
          <p:cNvPr id="3" name="Content Placeholder 2"/>
          <p:cNvSpPr>
            <a:spLocks noGrp="1"/>
          </p:cNvSpPr>
          <p:nvPr>
            <p:ph idx="1"/>
          </p:nvPr>
        </p:nvSpPr>
        <p:spPr/>
        <p:txBody>
          <a:bodyPr/>
          <a:lstStyle/>
          <a:p>
            <a:r>
              <a:rPr lang="en-US" dirty="0"/>
              <a:t>Health promotion through behavior </a:t>
            </a:r>
            <a:r>
              <a:rPr lang="en-GB" dirty="0"/>
              <a:t>change.</a:t>
            </a:r>
            <a:endParaRPr lang="en-GB" dirty="0"/>
          </a:p>
          <a:p>
            <a:endParaRPr lang="en-GB" dirty="0"/>
          </a:p>
          <a:p>
            <a:r>
              <a:rPr lang="en-US" dirty="0"/>
              <a:t>Screening, early diagnosis, management, referral and follow-up at each level of healthcare delivery</a:t>
            </a:r>
            <a:r>
              <a:rPr lang="en-GB" dirty="0"/>
              <a:t>.</a:t>
            </a:r>
            <a:endParaRPr lang="en-GB" dirty="0"/>
          </a:p>
          <a:p>
            <a:endParaRPr lang="en-GB" dirty="0"/>
          </a:p>
          <a:p>
            <a:r>
              <a:rPr lang="en-US" dirty="0"/>
              <a:t>Build capacity of health care </a:t>
            </a:r>
            <a:r>
              <a:rPr lang="en-US" dirty="0" smtClean="0"/>
              <a:t>providers at various levels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11905"/>
            <a:ext cx="10515600" cy="3034190"/>
          </a:xfrm>
        </p:spPr>
        <p:txBody>
          <a:bodyPr/>
          <a:lstStyle/>
          <a:p>
            <a:r>
              <a:rPr lang="en-US" dirty="0"/>
              <a:t>Strengthen supply chain </a:t>
            </a:r>
            <a:r>
              <a:rPr lang="en-GB" dirty="0"/>
              <a:t>management.</a:t>
            </a:r>
            <a:endParaRPr lang="en-GB" dirty="0"/>
          </a:p>
          <a:p>
            <a:endParaRPr lang="en-GB" dirty="0"/>
          </a:p>
          <a:p>
            <a:r>
              <a:rPr lang="en-US" dirty="0"/>
              <a:t>Monitoring, supervision and evaluation of </a:t>
            </a:r>
            <a:r>
              <a:rPr lang="en-GB" dirty="0"/>
              <a:t>programme.</a:t>
            </a:r>
            <a:endParaRPr lang="en-GB" dirty="0"/>
          </a:p>
          <a:p>
            <a:endParaRPr lang="en-GB" dirty="0"/>
          </a:p>
          <a:p>
            <a:r>
              <a:rPr lang="en-US" dirty="0"/>
              <a:t>To coordinate and collaborate with other programmes, departments/ministries, civil societies.</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of NP-NCD:</a:t>
            </a:r>
            <a:endParaRPr lang="en-US" dirty="0"/>
          </a:p>
        </p:txBody>
      </p:sp>
      <p:sp>
        <p:nvSpPr>
          <p:cNvPr id="3" name="Content Placeholder 2"/>
          <p:cNvSpPr>
            <a:spLocks noGrp="1"/>
          </p:cNvSpPr>
          <p:nvPr>
            <p:ph idx="1"/>
          </p:nvPr>
        </p:nvSpPr>
        <p:spPr/>
        <p:txBody>
          <a:bodyPr/>
          <a:lstStyle/>
          <a:p>
            <a:pPr marL="0" indent="0">
              <a:buNone/>
            </a:pPr>
            <a:r>
              <a:rPr lang="en-US" dirty="0"/>
              <a:t>• Health promotion for prevention of NCDs and reduction of risk factors.</a:t>
            </a:r>
            <a:endParaRPr lang="en-US" dirty="0"/>
          </a:p>
          <a:p>
            <a:pPr marL="0" indent="0">
              <a:buNone/>
            </a:pPr>
            <a:endParaRPr lang="en-GB" dirty="0"/>
          </a:p>
          <a:p>
            <a:pPr marL="0" indent="0">
              <a:buNone/>
            </a:pPr>
            <a:r>
              <a:rPr lang="en-US" dirty="0"/>
              <a:t>• Screening, early diagnosis, management, referral and follow up of common NCDs.</a:t>
            </a:r>
            <a:endParaRPr lang="en-US" dirty="0"/>
          </a:p>
          <a:p>
            <a:pPr marL="0" indent="0">
              <a:buNone/>
            </a:pPr>
            <a:endParaRPr lang="en-GB" dirty="0"/>
          </a:p>
          <a:p>
            <a:pPr marL="0" indent="0">
              <a:buNone/>
            </a:pPr>
            <a:r>
              <a:rPr lang="en-US" dirty="0"/>
              <a:t>• Capacity building of health care providers.</a:t>
            </a:r>
            <a:endParaRPr lang="en-US" dirty="0"/>
          </a:p>
          <a:p>
            <a:pPr marL="0" indent="0">
              <a:buNone/>
            </a:pPr>
            <a:endParaRPr lang="en-GB" dirty="0"/>
          </a:p>
          <a:p>
            <a:pPr marL="0" indent="0">
              <a:buNone/>
            </a:pPr>
            <a:r>
              <a:rPr lang="en-US" dirty="0"/>
              <a:t>• Evidence based standard treatment protocols.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44941"/>
            <a:ext cx="10515600" cy="4168117"/>
          </a:xfrm>
        </p:spPr>
        <p:txBody>
          <a:bodyPr/>
          <a:lstStyle/>
          <a:p>
            <a:pPr marL="0" indent="0">
              <a:buNone/>
            </a:pPr>
            <a:r>
              <a:rPr lang="en-US" dirty="0"/>
              <a:t>• Uninterrupted drug and logistics supply.</a:t>
            </a:r>
            <a:endParaRPr lang="en-US" dirty="0"/>
          </a:p>
          <a:p>
            <a:pPr marL="0" indent="0">
              <a:buNone/>
            </a:pPr>
            <a:endParaRPr lang="en-GB" dirty="0"/>
          </a:p>
          <a:p>
            <a:pPr marL="0" indent="0">
              <a:buNone/>
            </a:pPr>
            <a:r>
              <a:rPr lang="en-US" dirty="0"/>
              <a:t>• Task sharing and people-centered care.</a:t>
            </a:r>
            <a:endParaRPr lang="en-US" dirty="0"/>
          </a:p>
          <a:p>
            <a:pPr marL="0" indent="0">
              <a:buNone/>
            </a:pPr>
            <a:endParaRPr lang="en-GB" dirty="0"/>
          </a:p>
          <a:p>
            <a:pPr marL="0" indent="0">
              <a:buNone/>
            </a:pPr>
            <a:r>
              <a:rPr lang="en-US" dirty="0"/>
              <a:t>• Information system for data entry, longitudinal patient records.</a:t>
            </a:r>
            <a:endParaRPr lang="en-US" dirty="0"/>
          </a:p>
          <a:p>
            <a:pPr marL="0" indent="0">
              <a:buNone/>
            </a:pPr>
            <a:endParaRPr lang="en-GB" dirty="0"/>
          </a:p>
          <a:p>
            <a:pPr marL="0" indent="0">
              <a:buNone/>
            </a:pPr>
            <a:r>
              <a:rPr lang="en-US" dirty="0"/>
              <a:t>• Monitoring, supervision, evaluation and surveillance including technology enabled interventions.</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 Multi-</a:t>
            </a:r>
            <a:r>
              <a:rPr lang="en-US" dirty="0" err="1"/>
              <a:t>sectoral</a:t>
            </a:r>
            <a:r>
              <a:rPr lang="en-US" dirty="0"/>
              <a:t> coordination and linkages with other National Programmes.</a:t>
            </a:r>
            <a:endParaRPr lang="en-US" dirty="0"/>
          </a:p>
          <a:p>
            <a:pPr marL="0" indent="0">
              <a:buNone/>
            </a:pPr>
            <a:endParaRPr lang="en-GB" dirty="0"/>
          </a:p>
          <a:p>
            <a:pPr marL="0" indent="0">
              <a:buNone/>
            </a:pPr>
            <a:r>
              <a:rPr lang="en-US" dirty="0"/>
              <a:t>• Implementation research and generation of </a:t>
            </a:r>
            <a:r>
              <a:rPr lang="en-GB" dirty="0"/>
              <a:t>evidences.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58063"/>
          </a:xfrm>
        </p:spPr>
        <p:txBody>
          <a:bodyPr>
            <a:normAutofit fontScale="90000"/>
          </a:bodyPr>
          <a:lstStyle/>
          <a:p>
            <a:r>
              <a:rPr lang="en-US" dirty="0"/>
              <a:t>ORGANIZATIONAL STRUCTURE OF NP-NCD</a:t>
            </a:r>
            <a:endParaRPr lang="en-US" dirty="0"/>
          </a:p>
        </p:txBody>
      </p:sp>
      <p:sp>
        <p:nvSpPr>
          <p:cNvPr id="3" name="Content Placeholder 2"/>
          <p:cNvSpPr>
            <a:spLocks noGrp="1"/>
          </p:cNvSpPr>
          <p:nvPr>
            <p:ph idx="1"/>
          </p:nvPr>
        </p:nvSpPr>
        <p:spPr>
          <a:xfrm>
            <a:off x="838200" y="1523188"/>
            <a:ext cx="10515600" cy="4969687"/>
          </a:xfrm>
        </p:spPr>
        <p:txBody>
          <a:bodyPr>
            <a:normAutofit lnSpcReduction="10000"/>
          </a:bodyPr>
          <a:lstStyle/>
          <a:p>
            <a:r>
              <a:rPr lang="en-US" dirty="0"/>
              <a:t>NCD Division:</a:t>
            </a:r>
            <a:r>
              <a:rPr lang="en-GB" dirty="0"/>
              <a:t> </a:t>
            </a:r>
            <a:r>
              <a:rPr lang="en-US" dirty="0"/>
              <a:t>For effective management of the programme, the NCD divisions have been established at National, State and District headquarters to ensure planning, implementation, monitoring and evaluation of the programme activities.</a:t>
            </a:r>
            <a:endParaRPr lang="en-GB" dirty="0"/>
          </a:p>
          <a:p>
            <a:endParaRPr lang="en-GB" dirty="0"/>
          </a:p>
          <a:p>
            <a:pPr marL="0" indent="0">
              <a:buNone/>
            </a:pPr>
            <a:r>
              <a:rPr lang="en-GB" dirty="0"/>
              <a:t>1)National NCD Division:-</a:t>
            </a:r>
            <a:endParaRPr lang="en-GB" dirty="0"/>
          </a:p>
          <a:p>
            <a:pPr marL="0" indent="0">
              <a:buNone/>
            </a:pPr>
            <a:r>
              <a:rPr lang="en-GB" dirty="0"/>
              <a:t> -Plan, implement, coordinate, monitor and support all the activities at the National and State level.</a:t>
            </a:r>
            <a:endParaRPr lang="en-GB" dirty="0"/>
          </a:p>
          <a:p>
            <a:pPr marL="0" indent="0">
              <a:buNone/>
            </a:pPr>
            <a:r>
              <a:rPr lang="en-GB" dirty="0"/>
              <a:t> -Develop Technical and Operational Guidelines, Standard Operating Procedures (SOP), Treatment Protocols, Training modules, Quality benchmarks, Monitoring and reporting systems and tools, IEC materials.</a:t>
            </a:r>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7751"/>
            <a:ext cx="10515600" cy="5799212"/>
          </a:xfrm>
        </p:spPr>
        <p:txBody>
          <a:bodyPr>
            <a:normAutofit lnSpcReduction="10000"/>
          </a:bodyPr>
          <a:lstStyle/>
          <a:p>
            <a:pPr marL="0" indent="0">
              <a:buNone/>
            </a:pPr>
            <a:endParaRPr lang="en-GB" dirty="0"/>
          </a:p>
          <a:p>
            <a:pPr marL="0" indent="0">
              <a:buNone/>
            </a:pPr>
            <a:r>
              <a:rPr lang="en-GB" dirty="0"/>
              <a:t>2)State NCD Division:-</a:t>
            </a:r>
            <a:endParaRPr lang="en-GB" dirty="0"/>
          </a:p>
          <a:p>
            <a:pPr marL="0" indent="0">
              <a:buNone/>
            </a:pPr>
            <a:r>
              <a:rPr lang="en-GB" dirty="0"/>
              <a:t> -Preparation of State action plan including physical and financial targets for implementation of NP-NCD.</a:t>
            </a:r>
            <a:endParaRPr lang="en-GB" dirty="0"/>
          </a:p>
          <a:p>
            <a:pPr marL="0" indent="0">
              <a:buNone/>
            </a:pPr>
            <a:r>
              <a:rPr lang="en-GB" dirty="0"/>
              <a:t> -Maintain district-wise epidemiological profile for identified NCDs.</a:t>
            </a:r>
            <a:endParaRPr lang="en-GB" dirty="0"/>
          </a:p>
          <a:p>
            <a:pPr marL="0" indent="0">
              <a:buNone/>
            </a:pPr>
            <a:r>
              <a:rPr lang="en-GB" dirty="0"/>
              <a:t> -Ensure regular supply of drugs, diagnostics and </a:t>
            </a:r>
            <a:r>
              <a:rPr lang="en-GB" dirty="0" err="1"/>
              <a:t>logisticsresource</a:t>
            </a:r>
            <a:endParaRPr lang="en-GB" dirty="0"/>
          </a:p>
          <a:p>
            <a:pPr marL="0" indent="0">
              <a:buNone/>
            </a:pPr>
            <a:r>
              <a:rPr lang="en-GB" dirty="0"/>
              <a:t> -Organize state and district level trainings for capacity building of all cadres of human resources.</a:t>
            </a:r>
            <a:endParaRPr lang="en-GB" dirty="0"/>
          </a:p>
          <a:p>
            <a:pPr marL="0" indent="0">
              <a:buNone/>
            </a:pPr>
            <a:endParaRPr lang="en-GB" dirty="0"/>
          </a:p>
          <a:p>
            <a:pPr marL="0" indent="0">
              <a:buNone/>
            </a:pPr>
            <a:r>
              <a:rPr lang="en-GB" dirty="0"/>
              <a:t>3)</a:t>
            </a:r>
            <a:r>
              <a:rPr lang="en-US" dirty="0"/>
              <a:t>District NCD Division:</a:t>
            </a:r>
            <a:endParaRPr lang="en-GB" dirty="0"/>
          </a:p>
          <a:p>
            <a:pPr marL="0" indent="0">
              <a:buNone/>
            </a:pPr>
            <a:r>
              <a:rPr lang="en-GB" dirty="0"/>
              <a:t> -It is responsible for overall planning, implementation, monitoring and evaluation of the different activities and achievement of physical and financial targets planned under the programme in the district.</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Activities and interventions at various levels: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GB" dirty="0"/>
              <a:t>•AT COMMUNITY LEVEL-</a:t>
            </a:r>
            <a:endParaRPr lang="en-GB" dirty="0"/>
          </a:p>
          <a:p>
            <a:pPr marL="0" indent="0">
              <a:buNone/>
            </a:pPr>
            <a:endParaRPr lang="en-GB" dirty="0"/>
          </a:p>
          <a:p>
            <a:pPr marL="0" indent="0">
              <a:buNone/>
            </a:pPr>
            <a:r>
              <a:rPr lang="en-GB" dirty="0"/>
              <a:t>-Active enumeration of the eligible population and registration of the families, risk assessment of </a:t>
            </a:r>
            <a:r>
              <a:rPr lang="en-GB" dirty="0" smtClean="0"/>
              <a:t>NCDs </a:t>
            </a:r>
            <a:r>
              <a:rPr lang="en-US" dirty="0"/>
              <a:t>using Community Based Assessment Checklist (CBAC) </a:t>
            </a:r>
            <a:endParaRPr lang="en-GB" dirty="0"/>
          </a:p>
          <a:p>
            <a:pPr marL="0" indent="0">
              <a:buNone/>
            </a:pPr>
            <a:endParaRPr lang="en-GB" dirty="0"/>
          </a:p>
          <a:p>
            <a:pPr marL="0" indent="0">
              <a:buNone/>
            </a:pPr>
            <a:r>
              <a:rPr lang="en-GB" dirty="0"/>
              <a:t>-Mobilization of community for screening of NCDs.</a:t>
            </a:r>
            <a:endParaRPr lang="en-GB" dirty="0"/>
          </a:p>
          <a:p>
            <a:pPr marL="0" indent="0">
              <a:buNone/>
            </a:pPr>
            <a:endParaRPr lang="en-GB" dirty="0"/>
          </a:p>
          <a:p>
            <a:pPr marL="0" indent="0">
              <a:buNone/>
            </a:pPr>
            <a:r>
              <a:rPr lang="en-GB" dirty="0"/>
              <a:t>-Health promotion, lifestyle modification, follow up for treatment compliance and lifestyle modification.</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531" y="602507"/>
            <a:ext cx="10515600" cy="5652986"/>
          </a:xfrm>
        </p:spPr>
        <p:txBody>
          <a:bodyPr>
            <a:normAutofit fontScale="85000" lnSpcReduction="20000"/>
          </a:bodyPr>
          <a:lstStyle/>
          <a:p>
            <a:pPr marL="0" indent="0">
              <a:buNone/>
            </a:pPr>
            <a:r>
              <a:rPr lang="en-GB" dirty="0"/>
              <a:t>•</a:t>
            </a:r>
            <a:r>
              <a:rPr lang="en-GB" b="1" dirty="0"/>
              <a:t>AT SUBCENTRE LEVEL</a:t>
            </a:r>
            <a:endParaRPr lang="en-GB" b="1" dirty="0"/>
          </a:p>
          <a:p>
            <a:pPr marL="0" indent="0">
              <a:buNone/>
            </a:pPr>
            <a:endParaRPr lang="en-GB" dirty="0"/>
          </a:p>
          <a:p>
            <a:pPr marL="0" indent="0">
              <a:buNone/>
            </a:pPr>
            <a:r>
              <a:rPr lang="en-GB" dirty="0"/>
              <a:t>-Health education for awareness generation and behaviour change, organising wellness activities.</a:t>
            </a:r>
            <a:endParaRPr lang="en-GB" dirty="0"/>
          </a:p>
          <a:p>
            <a:pPr marL="0" indent="0">
              <a:buNone/>
            </a:pPr>
            <a:endParaRPr lang="en-GB" dirty="0"/>
          </a:p>
          <a:p>
            <a:pPr marL="0" indent="0">
              <a:buNone/>
            </a:pPr>
            <a:r>
              <a:rPr lang="en-GB" dirty="0"/>
              <a:t>-Screening of Diabetes, Hypertension, three common cancers (oral, breast and cervical).</a:t>
            </a:r>
            <a:endParaRPr lang="en-GB" dirty="0"/>
          </a:p>
          <a:p>
            <a:pPr>
              <a:buFontTx/>
              <a:buChar char="-"/>
            </a:pPr>
            <a:endParaRPr lang="en-GB" dirty="0"/>
          </a:p>
          <a:p>
            <a:pPr marL="0" indent="0">
              <a:buNone/>
            </a:pPr>
            <a:r>
              <a:rPr lang="en-GB" dirty="0"/>
              <a:t>-Referral of suspected cases to PHC/PHC-HWC or nearby health facility for diagnosis confirmation and management.</a:t>
            </a:r>
            <a:endParaRPr lang="en-GB" dirty="0"/>
          </a:p>
          <a:p>
            <a:pPr marL="0" indent="0">
              <a:buNone/>
            </a:pPr>
            <a:endParaRPr lang="en-GB" dirty="0"/>
          </a:p>
          <a:p>
            <a:pPr marL="0" indent="0">
              <a:buNone/>
            </a:pPr>
            <a:r>
              <a:rPr lang="en-GB" dirty="0"/>
              <a:t>-Dispensing of prescribed medicines and follow up of patient for treatment compliance and lifestyle modification.</a:t>
            </a:r>
            <a:endParaRPr lang="en-GB" dirty="0"/>
          </a:p>
          <a:p>
            <a:pPr marL="0" indent="0">
              <a:buNone/>
            </a:pPr>
            <a:endParaRPr lang="en-GB" dirty="0"/>
          </a:p>
          <a:p>
            <a:pPr marL="0" indent="0">
              <a:buNone/>
            </a:pPr>
            <a:r>
              <a:rPr lang="en-GB" dirty="0"/>
              <a:t>-Maintaining Electronic Health Records (EHR) and generation of ABHA IDs.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439"/>
            <a:ext cx="10515600" cy="6231122"/>
          </a:xfrm>
        </p:spPr>
        <p:txBody>
          <a:bodyPr>
            <a:normAutofit fontScale="92500" lnSpcReduction="20000"/>
          </a:bodyPr>
          <a:lstStyle/>
          <a:p>
            <a:pPr marL="0" indent="0">
              <a:buNone/>
            </a:pPr>
            <a:r>
              <a:rPr lang="en-GB" dirty="0"/>
              <a:t>•</a:t>
            </a:r>
            <a:r>
              <a:rPr lang="en-GB" b="1" dirty="0"/>
              <a:t>AT PHC LEVEL</a:t>
            </a:r>
            <a:r>
              <a:rPr lang="en-GB" dirty="0"/>
              <a:t>-</a:t>
            </a:r>
            <a:endParaRPr lang="en-GB" dirty="0"/>
          </a:p>
          <a:p>
            <a:pPr marL="0" indent="0">
              <a:buNone/>
            </a:pPr>
            <a:endParaRPr lang="en-GB" dirty="0"/>
          </a:p>
          <a:p>
            <a:pPr marL="0" indent="0">
              <a:buNone/>
            </a:pPr>
            <a:r>
              <a:rPr lang="en-GB" dirty="0"/>
              <a:t>-Health promotion activities including wellness activities for behaviour change.</a:t>
            </a:r>
            <a:endParaRPr lang="en-GB" dirty="0"/>
          </a:p>
          <a:p>
            <a:pPr marL="0" indent="0">
              <a:buNone/>
            </a:pPr>
            <a:endParaRPr lang="en-GB" dirty="0"/>
          </a:p>
          <a:p>
            <a:pPr marL="0" indent="0">
              <a:buNone/>
            </a:pPr>
            <a:r>
              <a:rPr lang="en-GB" dirty="0"/>
              <a:t>-Screening of Diabetes, Hypertension, three common cancers (oral, breast and cervical), COPD and Asthma, CKD, NAFLD among OPD attendees.</a:t>
            </a:r>
            <a:endParaRPr lang="en-GB" dirty="0"/>
          </a:p>
          <a:p>
            <a:pPr marL="0" indent="0">
              <a:buNone/>
            </a:pPr>
            <a:endParaRPr lang="en-GB" dirty="0"/>
          </a:p>
          <a:p>
            <a:pPr marL="0" indent="0">
              <a:buNone/>
            </a:pPr>
            <a:r>
              <a:rPr lang="en-GB" dirty="0"/>
              <a:t>-Confirmation of diagnosis, treatment initiation, and management of common NCDs as per standard management protocol and guidelines.</a:t>
            </a:r>
            <a:endParaRPr lang="en-GB" dirty="0"/>
          </a:p>
          <a:p>
            <a:pPr marL="0" indent="0">
              <a:buNone/>
            </a:pPr>
            <a:endParaRPr lang="en-GB" dirty="0"/>
          </a:p>
          <a:p>
            <a:pPr marL="0" indent="0">
              <a:buNone/>
            </a:pPr>
            <a:r>
              <a:rPr lang="en-GB" dirty="0"/>
              <a:t>-Referral of complicated NCD cases to higher facilities.</a:t>
            </a:r>
            <a:endParaRPr lang="en-GB" dirty="0"/>
          </a:p>
          <a:p>
            <a:pPr marL="0" indent="0">
              <a:buNone/>
            </a:pPr>
            <a:endParaRPr lang="en-GB" dirty="0"/>
          </a:p>
          <a:p>
            <a:pPr marL="0" indent="0">
              <a:buNone/>
            </a:pPr>
            <a:r>
              <a:rPr lang="en-GB" dirty="0"/>
              <a:t>-Teleconsultation services and counselling services.</a:t>
            </a:r>
            <a:endParaRPr lang="en-GB" dirty="0"/>
          </a:p>
          <a:p>
            <a:pPr marL="0" indent="0">
              <a:buNone/>
            </a:pPr>
            <a:endParaRPr lang="en-GB" dirty="0"/>
          </a:p>
          <a:p>
            <a:pPr marL="0" indent="0">
              <a:buNone/>
            </a:pPr>
            <a:r>
              <a:rPr lang="en-GB" dirty="0"/>
              <a:t>-Maintaining Electronic Health Records </a:t>
            </a:r>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588" y="0"/>
            <a:ext cx="11746823" cy="6858000"/>
          </a:xfrm>
        </p:spPr>
        <p:txBody>
          <a:bodyPr>
            <a:normAutofit/>
          </a:bodyPr>
          <a:lstStyle/>
          <a:p>
            <a:pPr marL="0" indent="0">
              <a:buNone/>
            </a:pPr>
            <a:r>
              <a:rPr lang="en-GB" b="1" dirty="0"/>
              <a:t>•AT CHC LEVEL</a:t>
            </a:r>
            <a:r>
              <a:rPr lang="en-GB" dirty="0"/>
              <a:t>-</a:t>
            </a:r>
            <a:endParaRPr lang="en-GB" dirty="0"/>
          </a:p>
          <a:p>
            <a:pPr marL="0" indent="0">
              <a:buNone/>
            </a:pPr>
            <a:r>
              <a:rPr lang="en-GB" dirty="0"/>
              <a:t>-Health promotion including counselling.</a:t>
            </a:r>
            <a:endParaRPr lang="en-GB" dirty="0"/>
          </a:p>
          <a:p>
            <a:pPr marL="0" indent="0">
              <a:buNone/>
            </a:pPr>
            <a:endParaRPr lang="en-GB" dirty="0"/>
          </a:p>
          <a:p>
            <a:pPr marL="0" indent="0">
              <a:buNone/>
            </a:pPr>
            <a:r>
              <a:rPr lang="en-GB" dirty="0"/>
              <a:t>-Opportunistic screening of Diabetes, Hypertension, three common cancers (oral, breast and cervical)..Screening of COPD and Asthma, CKD, NAFLD, STEMI among suspected cases.</a:t>
            </a:r>
            <a:endParaRPr lang="en-GB" dirty="0"/>
          </a:p>
          <a:p>
            <a:pPr marL="0" indent="0">
              <a:buNone/>
            </a:pPr>
            <a:endParaRPr lang="en-GB" dirty="0"/>
          </a:p>
          <a:p>
            <a:pPr marL="0" indent="0">
              <a:buNone/>
            </a:pPr>
            <a:r>
              <a:rPr lang="en-GB" dirty="0"/>
              <a:t>-Confirmation of diagnosis, treatment initiation, and management of common NCDs as per standard management protocol and guidelines.</a:t>
            </a:r>
            <a:endParaRPr lang="en-GB" dirty="0"/>
          </a:p>
          <a:p>
            <a:pPr marL="0" indent="0">
              <a:buNone/>
            </a:pPr>
            <a:endParaRPr lang="en-GB" dirty="0"/>
          </a:p>
          <a:p>
            <a:pPr marL="0" indent="0">
              <a:buNone/>
            </a:pPr>
            <a:r>
              <a:rPr lang="en-GB" dirty="0"/>
              <a:t>-Teleconsultation services and counselling services and maintaining Electronic Health Records</a:t>
            </a:r>
            <a:endParaRPr lang="en-GB" dirty="0"/>
          </a:p>
          <a:p>
            <a:pPr marL="0" indent="0">
              <a:buNone/>
            </a:pPr>
            <a:r>
              <a:rPr lang="en-GB" dirty="0"/>
              <a:t>-Management of cases of common NCDs and regular follow-up and referral of complicated cases to District Hospital/higher healthcare facility.</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4443" y="230306"/>
            <a:ext cx="11503113" cy="6397388"/>
          </a:xfrm>
        </p:spPr>
        <p:txBody>
          <a:bodyPr>
            <a:normAutofit fontScale="92500"/>
          </a:bodyPr>
          <a:lstStyle/>
          <a:p>
            <a:r>
              <a:rPr lang="en-GB" b="1" dirty="0"/>
              <a:t>AT DISTRICT HOSPITAL LEVEL</a:t>
            </a:r>
            <a:r>
              <a:rPr lang="en-GB" dirty="0"/>
              <a:t>-</a:t>
            </a:r>
            <a:endParaRPr lang="en-GB" dirty="0"/>
          </a:p>
          <a:p>
            <a:endParaRPr lang="en-GB" dirty="0"/>
          </a:p>
          <a:p>
            <a:pPr marL="0" indent="0">
              <a:buNone/>
            </a:pPr>
            <a:r>
              <a:rPr lang="en-GB" dirty="0"/>
              <a:t>• Opportunistic screening of Diabetes, Hypertension, three common cancers (oral, breast and cervical)and screening of COPD and Asthma, CKD, NAFLD, STEMI among suspected cases.</a:t>
            </a:r>
            <a:endParaRPr lang="en-GB" dirty="0"/>
          </a:p>
          <a:p>
            <a:pPr marL="0" indent="0">
              <a:buNone/>
            </a:pPr>
            <a:r>
              <a:rPr lang="en-GB" dirty="0"/>
              <a:t>• Diagnosis and management of cases of common NCDs: outpatient and inpatient care, including emergency care particularly for cardiac and stroke cases.</a:t>
            </a:r>
            <a:endParaRPr lang="en-GB" dirty="0"/>
          </a:p>
          <a:p>
            <a:pPr marL="0" indent="0">
              <a:buNone/>
            </a:pPr>
            <a:r>
              <a:rPr lang="en-GB" dirty="0"/>
              <a:t>• Management of complicated cases of common NCDs, or referral to higher healthcare facility.</a:t>
            </a:r>
            <a:endParaRPr lang="en-GB" dirty="0"/>
          </a:p>
          <a:p>
            <a:pPr marL="0" indent="0">
              <a:buNone/>
            </a:pPr>
            <a:r>
              <a:rPr lang="en-GB" dirty="0"/>
              <a:t>• Follow-up cancer chemotherapy and palliative care services for cancer cases, physiotherapy services for NCDs including Stroke patients, Dialysis facilities for CKD patients, etc.</a:t>
            </a:r>
            <a:endParaRPr lang="en-GB" dirty="0"/>
          </a:p>
          <a:p>
            <a:pPr marL="0" indent="0">
              <a:buNone/>
            </a:pPr>
            <a:r>
              <a:rPr lang="en-GB" dirty="0"/>
              <a:t>• Health promotion for behaviour change and counselling for NCD cases.</a:t>
            </a:r>
            <a:endParaRPr lang="en-GB" dirty="0"/>
          </a:p>
          <a:p>
            <a:pPr marL="0" indent="0">
              <a:buNone/>
            </a:pPr>
            <a:r>
              <a:rPr lang="en-GB" dirty="0"/>
              <a:t>• Teleconsultation services and counselling services and maintaining Electronic Health Records</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0"/>
            <a:ext cx="10515600" cy="6858000"/>
          </a:xfrm>
        </p:spPr>
        <p:txBody>
          <a:bodyPr>
            <a:normAutofit fontScale="92500" lnSpcReduction="10000"/>
          </a:bodyPr>
          <a:lstStyle/>
          <a:p>
            <a:r>
              <a:rPr lang="en-GB" b="1" dirty="0"/>
              <a:t>AT MEDICAL COLLEGE AND TERTIARY CARE CENTRES</a:t>
            </a:r>
            <a:r>
              <a:rPr lang="en-GB" dirty="0"/>
              <a:t>-</a:t>
            </a:r>
            <a:endParaRPr lang="en-GB" dirty="0"/>
          </a:p>
          <a:p>
            <a:endParaRPr lang="en-GB" dirty="0"/>
          </a:p>
          <a:p>
            <a:pPr>
              <a:buFontTx/>
              <a:buChar char="-"/>
            </a:pPr>
            <a:r>
              <a:rPr lang="en-GB" dirty="0"/>
              <a:t>Diagnosis and management of complicated cases of common NCDs acts as tertiary referral facility.</a:t>
            </a:r>
            <a:endParaRPr lang="en-GB" dirty="0"/>
          </a:p>
          <a:p>
            <a:pPr>
              <a:buFontTx/>
              <a:buChar char="-"/>
            </a:pPr>
            <a:endParaRPr lang="en-GB" dirty="0"/>
          </a:p>
          <a:p>
            <a:pPr>
              <a:buFontTx/>
              <a:buChar char="-"/>
            </a:pPr>
            <a:r>
              <a:rPr lang="en-GB" dirty="0"/>
              <a:t>Comprehensive cancer care.</a:t>
            </a:r>
            <a:endParaRPr lang="en-GB" dirty="0"/>
          </a:p>
          <a:p>
            <a:pPr>
              <a:buFontTx/>
              <a:buChar char="-"/>
            </a:pPr>
            <a:endParaRPr lang="en-GB" dirty="0"/>
          </a:p>
          <a:p>
            <a:pPr>
              <a:buFontTx/>
              <a:buChar char="-"/>
            </a:pPr>
            <a:r>
              <a:rPr lang="en-GB" dirty="0"/>
              <a:t>Support programme in capacity building of health staff.</a:t>
            </a:r>
            <a:endParaRPr lang="en-GB" dirty="0"/>
          </a:p>
          <a:p>
            <a:pPr>
              <a:buFontTx/>
              <a:buChar char="-"/>
            </a:pPr>
            <a:endParaRPr lang="en-GB" dirty="0"/>
          </a:p>
          <a:p>
            <a:pPr>
              <a:buFontTx/>
              <a:buChar char="-"/>
            </a:pPr>
            <a:r>
              <a:rPr lang="en-GB" dirty="0"/>
              <a:t>Support programme in preparing standard guidelines and protocols.</a:t>
            </a:r>
            <a:endParaRPr lang="en-GB" dirty="0"/>
          </a:p>
          <a:p>
            <a:pPr>
              <a:buFontTx/>
              <a:buChar char="-"/>
            </a:pPr>
            <a:endParaRPr lang="en-GB" dirty="0"/>
          </a:p>
          <a:p>
            <a:pPr>
              <a:buFontTx/>
              <a:buChar char="-"/>
            </a:pPr>
            <a:r>
              <a:rPr lang="en-GB" dirty="0"/>
              <a:t>Support in supervision, monitoring, evaluation and operational research.</a:t>
            </a:r>
            <a:endParaRPr lang="en-GB" dirty="0"/>
          </a:p>
          <a:p>
            <a:pPr>
              <a:buFontTx/>
              <a:buChar char="-"/>
            </a:pPr>
            <a:endParaRPr lang="en-GB" dirty="0"/>
          </a:p>
          <a:p>
            <a:pPr marL="0" indent="0">
              <a:buNone/>
            </a:pPr>
            <a:r>
              <a:rPr lang="en-GB" dirty="0"/>
              <a:t>- Teleconsultation services and counselling services and maintaining Electronic Health Records</a:t>
            </a:r>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latin typeface="+mn-lt"/>
              </a:rPr>
              <a:t>Innovative Strategies </a:t>
            </a:r>
            <a:br>
              <a:rPr lang="en-US" dirty="0"/>
            </a:br>
            <a:endParaRPr lang="en-US" dirty="0"/>
          </a:p>
        </p:txBody>
      </p:sp>
      <p:sp>
        <p:nvSpPr>
          <p:cNvPr id="3" name="Content Placeholder 2"/>
          <p:cNvSpPr>
            <a:spLocks noGrp="1"/>
          </p:cNvSpPr>
          <p:nvPr>
            <p:ph idx="1"/>
          </p:nvPr>
        </p:nvSpPr>
        <p:spPr/>
        <p:txBody>
          <a:bodyPr/>
          <a:lstStyle/>
          <a:p>
            <a:r>
              <a:rPr lang="en-US" i="1" dirty="0"/>
              <a:t>Observance of NCD Week/Fortnightly (</a:t>
            </a:r>
            <a:r>
              <a:rPr lang="en-US" i="1" dirty="0" err="1"/>
              <a:t>Swasth</a:t>
            </a:r>
            <a:r>
              <a:rPr lang="en-US" i="1" dirty="0"/>
              <a:t> </a:t>
            </a:r>
            <a:r>
              <a:rPr lang="en-US" i="1" dirty="0" err="1"/>
              <a:t>Nagrik</a:t>
            </a:r>
            <a:r>
              <a:rPr lang="en-US" i="1" dirty="0"/>
              <a:t> </a:t>
            </a:r>
            <a:r>
              <a:rPr lang="en-US" i="1" dirty="0" err="1"/>
              <a:t>Saptah</a:t>
            </a:r>
            <a:r>
              <a:rPr lang="en-US" i="1" dirty="0"/>
              <a:t>/</a:t>
            </a:r>
            <a:r>
              <a:rPr lang="en-US" i="1" dirty="0" err="1"/>
              <a:t>Pakhwara</a:t>
            </a:r>
            <a:r>
              <a:rPr lang="en-US" i="1" dirty="0" smtClean="0"/>
              <a:t>)-</a:t>
            </a:r>
            <a:r>
              <a:rPr lang="en-US" dirty="0"/>
              <a:t>Observance of World Stroke Day i.e., 29th October, National Cancer Awareness Day i.e., 7th November and World Diabetes Day i.e., 14th November every year. </a:t>
            </a:r>
            <a:endParaRPr lang="en-US" dirty="0"/>
          </a:p>
          <a:p>
            <a:r>
              <a:rPr lang="en-US" i="1" dirty="0"/>
              <a:t>m-Health </a:t>
            </a:r>
            <a:r>
              <a:rPr lang="en-US" i="1" dirty="0" smtClean="0"/>
              <a:t>Strategies- </a:t>
            </a:r>
            <a:r>
              <a:rPr lang="en-US" dirty="0"/>
              <a:t>m-Diabetes and m-Cessation interventions </a:t>
            </a:r>
            <a:endParaRPr lang="en-US" dirty="0"/>
          </a:p>
          <a:p>
            <a:r>
              <a:rPr lang="en-US" i="1" dirty="0"/>
              <a:t>K4H- Knowledge for Health for NCDs </a:t>
            </a:r>
            <a:endParaRPr lang="en-US" i="1" dirty="0"/>
          </a:p>
          <a:p>
            <a:r>
              <a:rPr lang="en-US" i="1" dirty="0"/>
              <a:t>Advocacy and Network with People Living with NCDs (PLNCDs) </a:t>
            </a:r>
            <a:endParaRPr lang="en-US" dirty="0"/>
          </a:p>
          <a:p>
            <a:r>
              <a:rPr lang="nl-NL" dirty="0" err="1"/>
              <a:t>NCDNet</a:t>
            </a:r>
            <a:r>
              <a:rPr lang="nl-NL" dirty="0"/>
              <a:t> </a:t>
            </a:r>
            <a:endParaRPr lang="nl-NL" dirty="0"/>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a:t>MONITORING AND EVALUATION </a:t>
            </a:r>
            <a:endParaRPr lang="en-US" dirty="0"/>
          </a:p>
        </p:txBody>
      </p:sp>
      <p:sp>
        <p:nvSpPr>
          <p:cNvPr id="3" name="Content Placeholder 2"/>
          <p:cNvSpPr>
            <a:spLocks noGrp="1"/>
          </p:cNvSpPr>
          <p:nvPr>
            <p:ph idx="1"/>
          </p:nvPr>
        </p:nvSpPr>
        <p:spPr>
          <a:xfrm>
            <a:off x="838200" y="1325563"/>
            <a:ext cx="10515600" cy="5532437"/>
          </a:xfrm>
        </p:spPr>
        <p:txBody>
          <a:bodyPr>
            <a:normAutofit fontScale="92500" lnSpcReduction="10000"/>
          </a:bodyPr>
          <a:lstStyle/>
          <a:p>
            <a:pPr marL="0" indent="0">
              <a:buNone/>
            </a:pPr>
            <a:r>
              <a:rPr lang="en-GB" dirty="0"/>
              <a:t>-</a:t>
            </a:r>
            <a:r>
              <a:rPr lang="en-US" dirty="0"/>
              <a:t>Programme monitoring and evaluation cycle requires identification of national and sub-national level of indicators that measures inputs, process, outputs, outcomes and impact. </a:t>
            </a:r>
            <a:endParaRPr lang="en-GB" dirty="0"/>
          </a:p>
          <a:p>
            <a:pPr marL="0" indent="0">
              <a:buNone/>
            </a:pPr>
            <a:endParaRPr lang="en-US" dirty="0"/>
          </a:p>
          <a:p>
            <a:pPr marL="0" indent="0">
              <a:buNone/>
            </a:pPr>
            <a:r>
              <a:rPr lang="en-GB" dirty="0"/>
              <a:t>-</a:t>
            </a:r>
            <a:r>
              <a:rPr lang="en-US" dirty="0"/>
              <a:t>There are four components of programme monitoring and evaluation cycle: </a:t>
            </a:r>
            <a:endParaRPr lang="en-GB" dirty="0"/>
          </a:p>
          <a:p>
            <a:pPr marL="0" indent="0">
              <a:buNone/>
            </a:pPr>
            <a:endParaRPr lang="en-US" dirty="0"/>
          </a:p>
          <a:p>
            <a:pPr marL="0" indent="0">
              <a:buNone/>
            </a:pPr>
            <a:r>
              <a:rPr lang="en-GB" dirty="0"/>
              <a:t> </a:t>
            </a:r>
            <a:r>
              <a:rPr lang="en-US" dirty="0"/>
              <a:t>1. Programme monitoring- Data collection, performance management and data quality assurance </a:t>
            </a:r>
            <a:endParaRPr lang="en-US" dirty="0"/>
          </a:p>
          <a:p>
            <a:pPr marL="0" indent="0">
              <a:buNone/>
            </a:pPr>
            <a:r>
              <a:rPr lang="en-GB" dirty="0"/>
              <a:t> </a:t>
            </a:r>
            <a:r>
              <a:rPr lang="en-US" dirty="0"/>
              <a:t>2. Evaluation- Use of data for decision making, rapid assessment of program effectiveness and impact </a:t>
            </a:r>
            <a:endParaRPr lang="en-US" dirty="0"/>
          </a:p>
          <a:p>
            <a:pPr marL="0" indent="0">
              <a:buNone/>
            </a:pPr>
            <a:r>
              <a:rPr lang="en-GB" dirty="0"/>
              <a:t> </a:t>
            </a:r>
            <a:r>
              <a:rPr lang="en-US" dirty="0"/>
              <a:t>3. Learning- Documentation, reporting and dissemination of findings/learning</a:t>
            </a:r>
            <a:endParaRPr lang="en-US" dirty="0"/>
          </a:p>
          <a:p>
            <a:pPr marL="0" indent="0">
              <a:buNone/>
            </a:pPr>
            <a:r>
              <a:rPr lang="en-GB" dirty="0"/>
              <a:t> </a:t>
            </a:r>
            <a:r>
              <a:rPr lang="en-US" dirty="0"/>
              <a:t>4. Planning- Defining indicators and data source</a:t>
            </a:r>
            <a:endParaRPr lang="en-GB" dirty="0"/>
          </a:p>
          <a:p>
            <a:pPr marL="0" indent="0">
              <a:buNone/>
            </a:pPr>
            <a:endParaRPr lang="en-US" dirty="0"/>
          </a:p>
          <a:p>
            <a:pPr marL="0" indent="0">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LINKAGES WITH OTHER PROGRAMMES</a:t>
            </a:r>
            <a:endParaRPr lang="en-US" dirty="0"/>
          </a:p>
        </p:txBody>
      </p:sp>
      <p:sp>
        <p:nvSpPr>
          <p:cNvPr id="3" name="Content Placeholder 2"/>
          <p:cNvSpPr>
            <a:spLocks noGrp="1"/>
          </p:cNvSpPr>
          <p:nvPr>
            <p:ph idx="1"/>
          </p:nvPr>
        </p:nvSpPr>
        <p:spPr/>
        <p:txBody>
          <a:bodyPr/>
          <a:lstStyle/>
          <a:p>
            <a:r>
              <a:rPr lang="en-US" dirty="0"/>
              <a:t>Joint TB-diabetes collaborative activities</a:t>
            </a:r>
            <a:endParaRPr lang="en-GB" dirty="0"/>
          </a:p>
          <a:p>
            <a:r>
              <a:rPr lang="en-US" dirty="0"/>
              <a:t>National Programme for Palliative care (NPPC)</a:t>
            </a:r>
            <a:endParaRPr lang="en-GB" dirty="0"/>
          </a:p>
          <a:p>
            <a:r>
              <a:rPr lang="en-US" dirty="0"/>
              <a:t>Integration with National Urban Health Mission (NUHM)</a:t>
            </a:r>
            <a:endParaRPr lang="en-GB" dirty="0"/>
          </a:p>
          <a:p>
            <a:r>
              <a:rPr lang="en-US" dirty="0"/>
              <a:t>National Oral Health Programme (NOHP)</a:t>
            </a:r>
            <a:endParaRPr lang="en-GB" dirty="0"/>
          </a:p>
          <a:p>
            <a:r>
              <a:rPr lang="en-GB" dirty="0"/>
              <a:t>National Tobacco Control Programme (NTCP)</a:t>
            </a:r>
            <a:endParaRPr lang="en-GB" dirty="0"/>
          </a:p>
          <a:p>
            <a:r>
              <a:rPr lang="en-US" dirty="0"/>
              <a:t>National Programme for Health Care of Elderly (NPHCE)</a:t>
            </a:r>
            <a:endParaRPr lang="en-GB" dirty="0"/>
          </a:p>
          <a:p>
            <a:r>
              <a:rPr lang="en-US" dirty="0"/>
              <a:t>National Programme for Control of Blindness and Visual Impairment (NPCB&amp;VI)</a:t>
            </a:r>
            <a:endParaRPr lang="en-GB" dirty="0"/>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4574"/>
            <a:ext cx="10515600" cy="5482389"/>
          </a:xfrm>
        </p:spPr>
        <p:txBody>
          <a:bodyPr>
            <a:normAutofit/>
          </a:bodyPr>
          <a:lstStyle/>
          <a:p>
            <a:r>
              <a:rPr lang="en-US" dirty="0"/>
              <a:t>National Mental Health </a:t>
            </a:r>
            <a:r>
              <a:rPr lang="en-US" dirty="0" err="1"/>
              <a:t>Programme</a:t>
            </a:r>
            <a:r>
              <a:rPr lang="en-US" dirty="0"/>
              <a:t> (NMHP</a:t>
            </a:r>
            <a:r>
              <a:rPr lang="en-US" dirty="0" smtClean="0"/>
              <a:t>)</a:t>
            </a:r>
            <a:endParaRPr lang="en-US" dirty="0"/>
          </a:p>
          <a:p>
            <a:r>
              <a:rPr lang="en-US" dirty="0" err="1" smtClean="0"/>
              <a:t>Ayushman</a:t>
            </a:r>
            <a:r>
              <a:rPr lang="en-US" dirty="0" smtClean="0"/>
              <a:t> </a:t>
            </a:r>
            <a:r>
              <a:rPr lang="en-US" dirty="0"/>
              <a:t>Bharat - Pradhan </a:t>
            </a:r>
            <a:r>
              <a:rPr lang="en-US" dirty="0" err="1"/>
              <a:t>Mantri</a:t>
            </a:r>
            <a:r>
              <a:rPr lang="en-US" dirty="0"/>
              <a:t> – </a:t>
            </a:r>
            <a:r>
              <a:rPr lang="en-US" dirty="0" err="1"/>
              <a:t>Ayushman</a:t>
            </a:r>
            <a:r>
              <a:rPr lang="en-US" dirty="0"/>
              <a:t> Bharat Health Infrastructure Mission (PM-ABHIM)</a:t>
            </a:r>
            <a:endParaRPr lang="en-GB" dirty="0"/>
          </a:p>
          <a:p>
            <a:r>
              <a:rPr lang="en-US" dirty="0" err="1"/>
              <a:t>Ayushman</a:t>
            </a:r>
            <a:r>
              <a:rPr lang="en-US" dirty="0"/>
              <a:t> Bharat - PM-</a:t>
            </a:r>
            <a:r>
              <a:rPr lang="en-US" dirty="0" smtClean="0"/>
              <a:t>JAY</a:t>
            </a:r>
            <a:endParaRPr lang="en-GB" dirty="0"/>
          </a:p>
          <a:p>
            <a:r>
              <a:rPr lang="en-US" dirty="0" err="1"/>
              <a:t>Rashtriya</a:t>
            </a:r>
            <a:r>
              <a:rPr lang="en-US" dirty="0"/>
              <a:t> Bal </a:t>
            </a:r>
            <a:r>
              <a:rPr lang="en-US" dirty="0" err="1"/>
              <a:t>Swasthya</a:t>
            </a:r>
            <a:r>
              <a:rPr lang="en-US" dirty="0"/>
              <a:t> </a:t>
            </a:r>
            <a:r>
              <a:rPr lang="en-US" dirty="0" err="1"/>
              <a:t>Karyakram</a:t>
            </a:r>
            <a:r>
              <a:rPr lang="en-US" dirty="0"/>
              <a:t> (RBSK)</a:t>
            </a:r>
            <a:endParaRPr lang="en-GB" dirty="0"/>
          </a:p>
          <a:p>
            <a:r>
              <a:rPr lang="en-US" dirty="0" err="1"/>
              <a:t>Rashtriya</a:t>
            </a:r>
            <a:r>
              <a:rPr lang="en-US" dirty="0"/>
              <a:t> </a:t>
            </a:r>
            <a:r>
              <a:rPr lang="en-US" dirty="0" err="1"/>
              <a:t>Kishor</a:t>
            </a:r>
            <a:r>
              <a:rPr lang="en-US" dirty="0"/>
              <a:t> </a:t>
            </a:r>
            <a:r>
              <a:rPr lang="en-US" dirty="0" err="1"/>
              <a:t>Swasthya</a:t>
            </a:r>
            <a:r>
              <a:rPr lang="en-US" dirty="0"/>
              <a:t> </a:t>
            </a:r>
            <a:r>
              <a:rPr lang="en-US" dirty="0" err="1"/>
              <a:t>Karyakram</a:t>
            </a:r>
            <a:r>
              <a:rPr lang="en-US" dirty="0"/>
              <a:t> (RKSK)</a:t>
            </a:r>
            <a:endParaRPr lang="en-GB" dirty="0"/>
          </a:p>
          <a:p>
            <a:r>
              <a:rPr lang="en-US" dirty="0" err="1"/>
              <a:t>Rastriya</a:t>
            </a:r>
            <a:r>
              <a:rPr lang="en-US" dirty="0"/>
              <a:t> </a:t>
            </a:r>
            <a:r>
              <a:rPr lang="en-US" dirty="0" err="1"/>
              <a:t>Arogya</a:t>
            </a:r>
            <a:r>
              <a:rPr lang="en-US" dirty="0"/>
              <a:t> </a:t>
            </a:r>
            <a:r>
              <a:rPr lang="en-US" dirty="0" err="1"/>
              <a:t>Nidhi</a:t>
            </a:r>
            <a:r>
              <a:rPr lang="en-US" dirty="0"/>
              <a:t> (RAN)</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6451" y="930752"/>
            <a:ext cx="6190234" cy="4996495"/>
          </a:xfrm>
        </p:spPr>
        <p:txBody>
          <a:bodyPr/>
          <a:lstStyle/>
          <a:p>
            <a:r>
              <a:rPr lang="en-GB" b="1" dirty="0"/>
              <a:t>THANK YOU</a:t>
            </a:r>
            <a:endParaRPr lang="en-US"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11665</Words>
  <Application>WPS Presentation</Application>
  <PresentationFormat>Custom</PresentationFormat>
  <Paragraphs>247</Paragraphs>
  <Slides>33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SimSun</vt:lpstr>
      <vt:lpstr>Wingdings</vt:lpstr>
      <vt:lpstr>Times New Roman</vt:lpstr>
      <vt:lpstr>Calibri Light</vt:lpstr>
      <vt:lpstr>Microsoft YaHei</vt:lpstr>
      <vt:lpstr>Arial Unicode MS</vt:lpstr>
      <vt:lpstr>Calibri</vt:lpstr>
      <vt:lpstr>Office Theme</vt:lpstr>
      <vt:lpstr>NATIONAL PROGRAMME FOR PREVENTION AND CONTROL OF NON COMMUNICABLE DISEASES</vt:lpstr>
      <vt:lpstr>PowerPoint 演示文稿</vt:lpstr>
      <vt:lpstr>OUTLINE-</vt:lpstr>
      <vt:lpstr>INTRODUCTION </vt:lpstr>
      <vt:lpstr>CHARACTERISTICS OF NCD’s</vt:lpstr>
      <vt:lpstr>RISK FACTORS </vt:lpstr>
      <vt:lpstr>PowerPoint 演示文稿</vt:lpstr>
      <vt:lpstr>PowerPoint 演示文稿</vt:lpstr>
      <vt:lpstr>Burden of Non Communicable Diseases</vt:lpstr>
      <vt:lpstr>PowerPoint 演示文稿</vt:lpstr>
      <vt:lpstr>PowerPoint 演示文稿</vt:lpstr>
      <vt:lpstr>PowerPoint 演示文稿</vt:lpstr>
      <vt:lpstr>Evolution of National Programme for Prevention and Control of Non Communicable Diseases:</vt:lpstr>
      <vt:lpstr>PowerPoint 演示文稿</vt:lpstr>
      <vt:lpstr>PowerPoint 演示文稿</vt:lpstr>
      <vt:lpstr>Objectives of National Programme for Prevention and Control of NCDs:</vt:lpstr>
      <vt:lpstr>PowerPoint 演示文稿</vt:lpstr>
      <vt:lpstr>Strategies of NP-NCD:</vt:lpstr>
      <vt:lpstr>PowerPoint 演示文稿</vt:lpstr>
      <vt:lpstr>PowerPoint 演示文稿</vt:lpstr>
      <vt:lpstr>ORGANIZATIONAL STRUCTURE OF NP-NCD</vt:lpstr>
      <vt:lpstr>PowerPoint 演示文稿</vt:lpstr>
      <vt:lpstr>Activities and interventions at various levels:</vt:lpstr>
      <vt:lpstr>PowerPoint 演示文稿</vt:lpstr>
      <vt:lpstr>PowerPoint 演示文稿</vt:lpstr>
      <vt:lpstr>PowerPoint 演示文稿</vt:lpstr>
      <vt:lpstr>PowerPoint 演示文稿</vt:lpstr>
      <vt:lpstr>PowerPoint 演示文稿</vt:lpstr>
      <vt:lpstr>Innovative Strategies  </vt:lpstr>
      <vt:lpstr>MONITORING AND EVALUATION </vt:lpstr>
      <vt:lpstr>LINKAGES WITH OTHER PROGRAMMES</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PROGRAMME FOR PREVENTION AND CONTROL OF NON COMMUNICABLE DISEASES</dc:title>
  <dc:creator>Unknown User</dc:creator>
  <cp:lastModifiedBy>akash</cp:lastModifiedBy>
  <cp:revision>20</cp:revision>
  <dcterms:created xsi:type="dcterms:W3CDTF">2023-06-09T10:51:00Z</dcterms:created>
  <dcterms:modified xsi:type="dcterms:W3CDTF">2024-01-19T09:52:50Z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34FADD0FF73140CF9DA1FF990659E3FB_12</vt:lpwstr>
  </property>
  <property fmtid="{D5CDD505-2E9C-101B-9397-08002B2CF9AE}" pid="3" name="KSOProductBuildVer">
    <vt:lpwstr>1033-12.2.0.13412</vt:lpwstr>
  </property>
</Properties>
</file>