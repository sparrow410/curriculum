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830" y="305435"/>
            <a:ext cx="6031230" cy="1340485"/>
          </a:xfrm>
        </p:spPr>
        <p:txBody>
          <a:bodyPr>
            <a:normAutofit/>
          </a:bodyPr>
          <a:lstStyle/>
          <a:p>
            <a:r>
              <a:rPr lang="en-IN" altLang="en-US" b="1">
                <a:sym typeface="+mn-ea"/>
              </a:rPr>
              <a:t>HYPERTENTION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490" y="1645920"/>
            <a:ext cx="11177905" cy="489648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Learning Objectives</a:t>
            </a:r>
            <a:endParaRPr lang="en-IN" altLang="en-US" sz="3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understand why Hypertension is a public health concern</a:t>
            </a:r>
            <a:endParaRPr lang="en-IN" alt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understand the Epidemiology of hypertension</a:t>
            </a:r>
            <a:endParaRPr lang="en-IN" alt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all should be done to prevent it ?</a:t>
            </a:r>
            <a:endParaRPr lang="en-IN" alt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 available to control hypertension ?</a:t>
            </a:r>
            <a:endParaRPr lang="en-IN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446770" cy="828040"/>
          </a:xfrm>
        </p:spPr>
        <p:txBody>
          <a:bodyPr/>
          <a:p>
            <a:r>
              <a:rPr lang="en-IN" altLang="en-US" sz="3600" b="1"/>
              <a:t>Introduction</a:t>
            </a:r>
            <a:endParaRPr lang="en-IN" alt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165"/>
            <a:ext cx="10515600" cy="5348605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Ø"/>
            </a:pPr>
            <a:r>
              <a:rPr lang="en-IN" altLang="en-US"/>
              <a:t>Hypertension or elevated blood pressure-is a serious medical condition that significantly increases the risks of heart, brain, kidney and other diseases.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An estimated 1.13 billion people worldwide have Hypertension, most of them (2/3rd) living in low and middle-income countries.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Prevalence 30-40%, 24% in men and 20% women.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Prevalence &gt; 60% in people aged &gt;60 years.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In 2015, 1 in 4 men and 1 in 5 women had hypertension.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Annual increase of 15-20% estimated by 2025.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A major cause of premature death worlwide. 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One of the global target for Noncommunicable diseases in to reduce the the prevalence of hypertension by 25% by 2025 (baseline 2010)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9615" cy="1051560"/>
          </a:xfrm>
        </p:spPr>
        <p:txBody>
          <a:bodyPr/>
          <a:p>
            <a:pPr algn="ctr"/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Burden- India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670" y="1416685"/>
            <a:ext cx="10515600" cy="4760595"/>
          </a:xfrm>
        </p:spPr>
        <p:txBody>
          <a:bodyPr>
            <a:normAutofit fontScale="90000" lnSpcReduction="20000"/>
          </a:bodyPr>
          <a:p>
            <a:pPr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National Family Health Survey 2015-2016 are 11% women and 15% in men were hypertensive.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Prevalence was found to be higher in males and those with high 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BMI.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consistent increase in prevalence with increase in BMI.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Now- health and wellness center are focusing on Noncommunicable Disease and their prevention in particular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 b="1"/>
          </a:p>
          <a:p>
            <a:pPr>
              <a:buFont typeface="Wingdings" panose="05000000000000000000" charset="0"/>
              <a:buChar char="Ø"/>
            </a:pPr>
            <a:endParaRPr lang="en-I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95" y="255270"/>
            <a:ext cx="11662410" cy="634492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/>
              <a:t>Blood pressure is the force exerted by circulating blood against the walls of the artery, the major blood vessels in the body.Hpertension is when blood pressure is too high.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The numerator (</a:t>
            </a:r>
            <a:r>
              <a:rPr lang="en-IN" altLang="en-US" b="1"/>
              <a:t>systolic</a:t>
            </a:r>
            <a:r>
              <a:rPr lang="en-IN" altLang="en-US"/>
              <a:t>) number represents the pressure in blood vessels when the heart contact or beats.The denominator (</a:t>
            </a:r>
            <a:r>
              <a:rPr lang="en-IN" altLang="en-US" b="1"/>
              <a:t>diastolic</a:t>
            </a:r>
            <a:r>
              <a:rPr lang="en-IN" altLang="en-US"/>
              <a:t>) number represents the pressure in the vessels when the heart rests between beats.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endParaRPr lang="en-IN" altLang="en-US"/>
          </a:p>
          <a:p>
            <a:pPr>
              <a:buFont typeface="Wingdings" panose="05000000000000000000" charset="0"/>
              <a:buChar char="Ø"/>
            </a:pPr>
            <a:r>
              <a:rPr lang="en-IN" altLang="en-US"/>
              <a:t>If on 2 different  days, systolic BP readings on both days is &gt;=140 mmhg and/or the diastolic BP readings on both days is &gt;=90mmhg only then we diagonose as HTN.</a:t>
            </a:r>
            <a:endParaRPr lang="en-IN" altLang="en-US"/>
          </a:p>
          <a:p>
            <a:pPr>
              <a:buFont typeface="Wingdings" panose="05000000000000000000" charset="0"/>
              <a:buChar char="Ø"/>
            </a:pPr>
            <a:endParaRPr lang="en-IN" altLang="en-US"/>
          </a:p>
          <a:p>
            <a:pPr>
              <a:buFont typeface="Wingdings" panose="05000000000000000000" charset="0"/>
              <a:buChar char="Ø"/>
            </a:pPr>
            <a:endParaRPr lang="en-I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Clinical menifestation of HTN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Hypertension is called a “silent killer”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Most people with HTN are unaware of their status as they have no warning signs or symptoms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It is essential to get blood pressure measured regularly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When symptoms do occur, they are early morning headaches, nosebleeds, irregular heart rhythms, vision cheges &amp; buzzing in the ears.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Severe HTN can cause fatigue, nausea, vomiting, confusion, anxiety, chest pain &amp; muscle tremors.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According to international society of HTN</a:t>
            </a:r>
            <a:endParaRPr lang="en-IN" altLang="en-US" b="1"/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449580" y="1825625"/>
          <a:ext cx="10904220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055"/>
                <a:gridCol w="2726055"/>
                <a:gridCol w="2726055"/>
                <a:gridCol w="2726055"/>
              </a:tblGrid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Category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Systolic(mm of Hg)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Diastolic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Optimal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&lt;120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and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&lt;80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Normal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120-129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and/or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&lt;85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higher then normal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130–139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85–89 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Grade 1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140–159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90–99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Grade 2</a:t>
                      </a:r>
                      <a:endParaRPr lang="en-IN" alt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≥160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≥100 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 b="1"/>
              <a:t>Risk factors of HTN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3185"/>
            <a:ext cx="10515600" cy="4824095"/>
          </a:xfrm>
        </p:spPr>
        <p:txBody>
          <a:bodyPr/>
          <a:p>
            <a:pPr marL="0" indent="0">
              <a:buNone/>
            </a:pPr>
            <a:r>
              <a:rPr lang="en-IN" altLang="en-US"/>
              <a:t>1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. AGE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2. GENDER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3. GENETIC FACTORS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4. ETHINICITY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5. OBESITY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6. SALT INTAKE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7. ALCOHOL INTAKE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8. PHYSICAL INACTIVITY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9. ENVIRONMENTAL STRESS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Prevention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.Primary prevention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- “all measure to reduce the incidence of disease in population by reducing the risk of onset” by low salt diet, regular exercise, reduce stress, reduce BMI.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 2.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Secondary prevention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- 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 a. Early case detection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 b. Anti HTN drugs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Treatment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Lifestyle modifications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tress management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Anti HTN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medication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(amlodipine,telmisatan,chlorthalidone)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2875</Words>
  <Application>WPS Presentation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Times New Roman</vt:lpstr>
      <vt:lpstr>Calibri Light</vt:lpstr>
      <vt:lpstr>Microsoft YaHei</vt:lpstr>
      <vt:lpstr>Arial Unicode MS</vt:lpstr>
      <vt:lpstr>Calibri</vt:lpstr>
      <vt:lpstr>Office Theme</vt:lpstr>
      <vt:lpstr>HYPERTENTION</vt:lpstr>
      <vt:lpstr>Introduction</vt:lpstr>
      <vt:lpstr>Burden- India</vt:lpstr>
      <vt:lpstr>PowerPoint 演示文稿</vt:lpstr>
      <vt:lpstr>Symptoms of HTN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HYPERTENTION</dc:title>
  <dc:creator/>
  <cp:lastModifiedBy>akash</cp:lastModifiedBy>
  <cp:revision>5</cp:revision>
  <dcterms:created xsi:type="dcterms:W3CDTF">2024-01-18T16:09:00Z</dcterms:created>
  <dcterms:modified xsi:type="dcterms:W3CDTF">2024-01-19T14:55:18Z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8DF7908354AC4040A4E4D1EA3B0D8FD0_11</vt:lpwstr>
  </property>
  <property fmtid="{D5CDD505-2E9C-101B-9397-08002B2CF9AE}" pid="3" name="KSOProductBuildVer">
    <vt:lpwstr>1033-12.2.0.13412</vt:lpwstr>
  </property>
</Properties>
</file>