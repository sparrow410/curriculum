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9" r:id="rId1"/>
  </p:sldMasterIdLst>
  <p:sldIdLst>
    <p:sldId id="256" r:id="rId2"/>
    <p:sldId id="273" r:id="rId3"/>
    <p:sldId id="274" r:id="rId4"/>
    <p:sldId id="275" r:id="rId5"/>
    <p:sldId id="276" r:id="rId6"/>
    <p:sldId id="277" r:id="rId7"/>
    <p:sldId id="257" r:id="rId8"/>
    <p:sldId id="258" r:id="rId9"/>
    <p:sldId id="259" r:id="rId10"/>
    <p:sldId id="260" r:id="rId11"/>
    <p:sldId id="261" r:id="rId12"/>
    <p:sldId id="262" r:id="rId13"/>
    <p:sldId id="263" r:id="rId14"/>
    <p:sldId id="267" r:id="rId15"/>
    <p:sldId id="268" r:id="rId16"/>
    <p:sldId id="269" r:id="rId17"/>
    <p:sldId id="271" r:id="rId18"/>
    <p:sldId id="272" r:id="rId19"/>
    <p:sldId id="27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6" d="100"/>
          <a:sy n="66" d="100"/>
        </p:scale>
        <p:origin x="4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08146FC-3783-4287-89EE-2838564F7097}"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15689676-E316-4F32-95B1-88CF3E3E4BF0}">
      <dgm:prSet custT="1"/>
      <dgm:spPr/>
      <dgm:t>
        <a:bodyPr/>
        <a:lstStyle/>
        <a:p>
          <a:pPr>
            <a:lnSpc>
              <a:spcPct val="100000"/>
            </a:lnSpc>
            <a:defRPr b="1"/>
          </a:pPr>
          <a:r>
            <a:rPr lang="en-US" sz="2000" b="0" i="0" u="sng" baseline="0" dirty="0"/>
            <a:t>How much will it benefit the community ? </a:t>
          </a:r>
          <a:endParaRPr lang="en-US" sz="2000" u="sng" dirty="0"/>
        </a:p>
      </dgm:t>
    </dgm:pt>
    <dgm:pt modelId="{EB8A3EDD-2B16-41AA-8A22-2FD5DA386F71}" type="parTrans" cxnId="{F3ADD331-B91E-4840-AEF1-D6C18DB4AC34}">
      <dgm:prSet/>
      <dgm:spPr/>
      <dgm:t>
        <a:bodyPr/>
        <a:lstStyle/>
        <a:p>
          <a:endParaRPr lang="en-US"/>
        </a:p>
      </dgm:t>
    </dgm:pt>
    <dgm:pt modelId="{9416CF63-248D-4AED-A8B8-933A16791A32}" type="sibTrans" cxnId="{F3ADD331-B91E-4840-AEF1-D6C18DB4AC34}">
      <dgm:prSet/>
      <dgm:spPr/>
      <dgm:t>
        <a:bodyPr/>
        <a:lstStyle/>
        <a:p>
          <a:endParaRPr lang="en-US"/>
        </a:p>
      </dgm:t>
    </dgm:pt>
    <dgm:pt modelId="{263FED0A-0347-43BC-AF2D-B6BFD648DBD5}">
      <dgm:prSet custT="1"/>
      <dgm:spPr/>
      <dgm:t>
        <a:bodyPr/>
        <a:lstStyle/>
        <a:p>
          <a:pPr>
            <a:lnSpc>
              <a:spcPct val="100000"/>
            </a:lnSpc>
          </a:pPr>
          <a:r>
            <a:rPr lang="en-US" sz="1800" b="0" i="0" baseline="0" dirty="0"/>
            <a:t>Effectiveness of the preventive measure and the acceptance of the measure by the community. </a:t>
          </a:r>
          <a:endParaRPr lang="en-US" sz="1800" dirty="0"/>
        </a:p>
      </dgm:t>
    </dgm:pt>
    <dgm:pt modelId="{835E9C6E-5465-422A-9697-179020FA13CE}" type="parTrans" cxnId="{E3C4D829-0F6F-4D78-91F6-C1A96D61E195}">
      <dgm:prSet/>
      <dgm:spPr/>
      <dgm:t>
        <a:bodyPr/>
        <a:lstStyle/>
        <a:p>
          <a:endParaRPr lang="en-US"/>
        </a:p>
      </dgm:t>
    </dgm:pt>
    <dgm:pt modelId="{D4DB2760-920A-4BE0-BD4A-047712796918}" type="sibTrans" cxnId="{E3C4D829-0F6F-4D78-91F6-C1A96D61E195}">
      <dgm:prSet/>
      <dgm:spPr/>
      <dgm:t>
        <a:bodyPr/>
        <a:lstStyle/>
        <a:p>
          <a:endParaRPr lang="en-US"/>
        </a:p>
      </dgm:t>
    </dgm:pt>
    <dgm:pt modelId="{1A0F240B-6A8D-4D0B-A474-80169459B655}">
      <dgm:prSet custT="1"/>
      <dgm:spPr/>
      <dgm:t>
        <a:bodyPr/>
        <a:lstStyle/>
        <a:p>
          <a:pPr>
            <a:lnSpc>
              <a:spcPct val="100000"/>
            </a:lnSpc>
          </a:pPr>
          <a:r>
            <a:rPr lang="en-US" sz="1800" b="0" i="0" baseline="0" dirty="0"/>
            <a:t>The combined outcome of effectiveness and acceptability is measured by the difference in the incidence rate among the experimental and control groups, </a:t>
          </a:r>
          <a:endParaRPr lang="en-US" sz="1800" dirty="0"/>
        </a:p>
      </dgm:t>
    </dgm:pt>
    <dgm:pt modelId="{25E41AA9-07E3-4698-8413-04FCD945942D}" type="parTrans" cxnId="{A3ACF130-5B60-4888-BCDB-F35F8EED0724}">
      <dgm:prSet/>
      <dgm:spPr/>
      <dgm:t>
        <a:bodyPr/>
        <a:lstStyle/>
        <a:p>
          <a:endParaRPr lang="en-US"/>
        </a:p>
      </dgm:t>
    </dgm:pt>
    <dgm:pt modelId="{3E3E55A9-F26D-494C-BAC1-6D2D8727E2C5}" type="sibTrans" cxnId="{A3ACF130-5B60-4888-BCDB-F35F8EED0724}">
      <dgm:prSet/>
      <dgm:spPr/>
      <dgm:t>
        <a:bodyPr/>
        <a:lstStyle/>
        <a:p>
          <a:endParaRPr lang="en-US"/>
        </a:p>
      </dgm:t>
    </dgm:pt>
    <dgm:pt modelId="{79884829-D43F-4E34-9654-68591A3E1217}">
      <dgm:prSet custT="1"/>
      <dgm:spPr/>
      <dgm:t>
        <a:bodyPr/>
        <a:lstStyle/>
        <a:p>
          <a:pPr>
            <a:lnSpc>
              <a:spcPct val="100000"/>
            </a:lnSpc>
            <a:defRPr b="1"/>
          </a:pPr>
          <a:r>
            <a:rPr lang="en-US" sz="2000" b="0" i="0" u="sng" baseline="0"/>
            <a:t>What are the risks to the recipients? </a:t>
          </a:r>
          <a:endParaRPr lang="en-US" sz="2000" u="sng"/>
        </a:p>
      </dgm:t>
    </dgm:pt>
    <dgm:pt modelId="{B4F22B0D-F610-465C-8E3B-363B32D9035C}" type="parTrans" cxnId="{8EC5CBA0-57E1-478B-AAC4-8EB86B0B7CEC}">
      <dgm:prSet/>
      <dgm:spPr/>
      <dgm:t>
        <a:bodyPr/>
        <a:lstStyle/>
        <a:p>
          <a:endParaRPr lang="en-US"/>
        </a:p>
      </dgm:t>
    </dgm:pt>
    <dgm:pt modelId="{D2E00388-660B-49BF-BEE3-693223910691}" type="sibTrans" cxnId="{8EC5CBA0-57E1-478B-AAC4-8EB86B0B7CEC}">
      <dgm:prSet/>
      <dgm:spPr/>
      <dgm:t>
        <a:bodyPr/>
        <a:lstStyle/>
        <a:p>
          <a:endParaRPr lang="en-US"/>
        </a:p>
      </dgm:t>
    </dgm:pt>
    <dgm:pt modelId="{CDC9DFE9-9CA6-4D27-87A4-CD853352946A}">
      <dgm:prSet custT="1"/>
      <dgm:spPr/>
      <dgm:t>
        <a:bodyPr/>
        <a:lstStyle/>
        <a:p>
          <a:pPr>
            <a:lnSpc>
              <a:spcPct val="100000"/>
            </a:lnSpc>
          </a:pPr>
          <a:r>
            <a:rPr lang="en-US" sz="1800" b="0" i="0" baseline="0" dirty="0"/>
            <a:t>Immediate and long-term risks, </a:t>
          </a:r>
          <a:endParaRPr lang="en-US" sz="1800" dirty="0"/>
        </a:p>
      </dgm:t>
    </dgm:pt>
    <dgm:pt modelId="{124C0B6B-DB61-4BAF-B240-3485CF7C0DB6}" type="parTrans" cxnId="{92EA255D-9332-485A-8BC1-E0AA2B543BA0}">
      <dgm:prSet/>
      <dgm:spPr/>
      <dgm:t>
        <a:bodyPr/>
        <a:lstStyle/>
        <a:p>
          <a:endParaRPr lang="en-US"/>
        </a:p>
      </dgm:t>
    </dgm:pt>
    <dgm:pt modelId="{5843B550-618F-42BF-BB7A-BF1604943D16}" type="sibTrans" cxnId="{92EA255D-9332-485A-8BC1-E0AA2B543BA0}">
      <dgm:prSet/>
      <dgm:spPr/>
      <dgm:t>
        <a:bodyPr/>
        <a:lstStyle/>
        <a:p>
          <a:endParaRPr lang="en-US"/>
        </a:p>
      </dgm:t>
    </dgm:pt>
    <dgm:pt modelId="{355FDF52-A1E0-4B63-8EBA-C6F629EFE687}">
      <dgm:prSet custT="1"/>
      <dgm:spPr/>
      <dgm:t>
        <a:bodyPr/>
        <a:lstStyle/>
        <a:p>
          <a:pPr>
            <a:lnSpc>
              <a:spcPct val="100000"/>
            </a:lnSpc>
            <a:defRPr b="1"/>
          </a:pPr>
          <a:r>
            <a:rPr lang="en-US" sz="2000" b="0" i="0" u="sng" baseline="0" dirty="0"/>
            <a:t>Cost in money and manpower? </a:t>
          </a:r>
          <a:endParaRPr lang="en-US" sz="2000" u="sng" dirty="0"/>
        </a:p>
      </dgm:t>
    </dgm:pt>
    <dgm:pt modelId="{C15EBA84-31B3-47F8-A154-3D747BE94E39}" type="parTrans" cxnId="{3AC661D3-F77D-449F-B8E2-4750FDBA25A8}">
      <dgm:prSet/>
      <dgm:spPr/>
      <dgm:t>
        <a:bodyPr/>
        <a:lstStyle/>
        <a:p>
          <a:endParaRPr lang="en-US"/>
        </a:p>
      </dgm:t>
    </dgm:pt>
    <dgm:pt modelId="{8F007044-F501-477C-BC60-1688AF2EB80C}" type="sibTrans" cxnId="{3AC661D3-F77D-449F-B8E2-4750FDBA25A8}">
      <dgm:prSet/>
      <dgm:spPr/>
      <dgm:t>
        <a:bodyPr/>
        <a:lstStyle/>
        <a:p>
          <a:endParaRPr lang="en-US"/>
        </a:p>
      </dgm:t>
    </dgm:pt>
    <dgm:pt modelId="{888CBCF0-5C1A-444A-B96A-21484A9CDEA1}">
      <dgm:prSet custT="1"/>
      <dgm:spPr/>
      <dgm:t>
        <a:bodyPr/>
        <a:lstStyle/>
        <a:p>
          <a:pPr>
            <a:lnSpc>
              <a:spcPct val="100000"/>
            </a:lnSpc>
          </a:pPr>
          <a:r>
            <a:rPr lang="en-US" sz="1800" b="0" i="0" baseline="0"/>
            <a:t>This is done to find out whether the preventive measure is economical and practical in terms of money spent. </a:t>
          </a:r>
          <a:endParaRPr lang="en-US" sz="1800"/>
        </a:p>
      </dgm:t>
    </dgm:pt>
    <dgm:pt modelId="{DD3596EC-DC91-4B88-BD59-4AF7318B677E}" type="parTrans" cxnId="{F4DAB950-AD79-4068-9E87-365B18DA0FED}">
      <dgm:prSet/>
      <dgm:spPr/>
      <dgm:t>
        <a:bodyPr/>
        <a:lstStyle/>
        <a:p>
          <a:endParaRPr lang="en-US"/>
        </a:p>
      </dgm:t>
    </dgm:pt>
    <dgm:pt modelId="{BDC09399-9C56-4B4E-A990-41D227218991}" type="sibTrans" cxnId="{F4DAB950-AD79-4068-9E87-365B18DA0FED}">
      <dgm:prSet/>
      <dgm:spPr/>
      <dgm:t>
        <a:bodyPr/>
        <a:lstStyle/>
        <a:p>
          <a:endParaRPr lang="en-US"/>
        </a:p>
      </dgm:t>
    </dgm:pt>
    <dgm:pt modelId="{1DBD8B5B-34D4-47AE-A5F2-602A395D8D80}" type="pres">
      <dgm:prSet presAssocID="{608146FC-3783-4287-89EE-2838564F7097}" presName="root" presStyleCnt="0">
        <dgm:presLayoutVars>
          <dgm:dir/>
          <dgm:resizeHandles val="exact"/>
        </dgm:presLayoutVars>
      </dgm:prSet>
      <dgm:spPr/>
    </dgm:pt>
    <dgm:pt modelId="{FF80E8EF-CCA7-4858-A85F-C1276A0F4E80}" type="pres">
      <dgm:prSet presAssocID="{15689676-E316-4F32-95B1-88CF3E3E4BF0}" presName="compNode" presStyleCnt="0"/>
      <dgm:spPr/>
    </dgm:pt>
    <dgm:pt modelId="{7BBACBDD-52B6-4300-AA58-2D8905FF1924}" type="pres">
      <dgm:prSet presAssocID="{15689676-E316-4F32-95B1-88CF3E3E4BF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esentation with Checklist"/>
        </a:ext>
      </dgm:extLst>
    </dgm:pt>
    <dgm:pt modelId="{450DF3B2-CF47-4505-9DB9-CA9C85DE8DE5}" type="pres">
      <dgm:prSet presAssocID="{15689676-E316-4F32-95B1-88CF3E3E4BF0}" presName="iconSpace" presStyleCnt="0"/>
      <dgm:spPr/>
    </dgm:pt>
    <dgm:pt modelId="{47292FF2-0ABC-41DD-B7C4-AD9027DDA5BF}" type="pres">
      <dgm:prSet presAssocID="{15689676-E316-4F32-95B1-88CF3E3E4BF0}" presName="parTx" presStyleLbl="revTx" presStyleIdx="0" presStyleCnt="6" custLinFactNeighborY="13769">
        <dgm:presLayoutVars>
          <dgm:chMax val="0"/>
          <dgm:chPref val="0"/>
        </dgm:presLayoutVars>
      </dgm:prSet>
      <dgm:spPr/>
    </dgm:pt>
    <dgm:pt modelId="{4C9C83AC-6473-4F97-81DE-40579277724E}" type="pres">
      <dgm:prSet presAssocID="{15689676-E316-4F32-95B1-88CF3E3E4BF0}" presName="txSpace" presStyleCnt="0"/>
      <dgm:spPr/>
    </dgm:pt>
    <dgm:pt modelId="{B4A5C526-F43B-4A03-94E0-950E79784C90}" type="pres">
      <dgm:prSet presAssocID="{15689676-E316-4F32-95B1-88CF3E3E4BF0}" presName="desTx" presStyleLbl="revTx" presStyleIdx="1" presStyleCnt="6">
        <dgm:presLayoutVars/>
      </dgm:prSet>
      <dgm:spPr/>
    </dgm:pt>
    <dgm:pt modelId="{218DFFD1-42A6-4412-B908-63BF8AB5A345}" type="pres">
      <dgm:prSet presAssocID="{9416CF63-248D-4AED-A8B8-933A16791A32}" presName="sibTrans" presStyleCnt="0"/>
      <dgm:spPr/>
    </dgm:pt>
    <dgm:pt modelId="{723C59F3-36BF-4CD4-AA4D-3DCAAD2CCEC1}" type="pres">
      <dgm:prSet presAssocID="{79884829-D43F-4E34-9654-68591A3E1217}" presName="compNode" presStyleCnt="0"/>
      <dgm:spPr/>
    </dgm:pt>
    <dgm:pt modelId="{2F6E6B56-5FAB-46BD-A7C3-208443C6D9E2}" type="pres">
      <dgm:prSet presAssocID="{79884829-D43F-4E34-9654-68591A3E121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nger"/>
        </a:ext>
      </dgm:extLst>
    </dgm:pt>
    <dgm:pt modelId="{D4F24E67-8DCA-4401-97C5-B92962C055B7}" type="pres">
      <dgm:prSet presAssocID="{79884829-D43F-4E34-9654-68591A3E1217}" presName="iconSpace" presStyleCnt="0"/>
      <dgm:spPr/>
    </dgm:pt>
    <dgm:pt modelId="{8EA05A4D-83E4-4CCD-9F07-088ECC601669}" type="pres">
      <dgm:prSet presAssocID="{79884829-D43F-4E34-9654-68591A3E1217}" presName="parTx" presStyleLbl="revTx" presStyleIdx="2" presStyleCnt="6">
        <dgm:presLayoutVars>
          <dgm:chMax val="0"/>
          <dgm:chPref val="0"/>
        </dgm:presLayoutVars>
      </dgm:prSet>
      <dgm:spPr/>
    </dgm:pt>
    <dgm:pt modelId="{D95753FF-F1D0-4219-88F4-952378796A96}" type="pres">
      <dgm:prSet presAssocID="{79884829-D43F-4E34-9654-68591A3E1217}" presName="txSpace" presStyleCnt="0"/>
      <dgm:spPr/>
    </dgm:pt>
    <dgm:pt modelId="{AB4EE762-67AC-4E0E-93E2-4E78F4EA9BF1}" type="pres">
      <dgm:prSet presAssocID="{79884829-D43F-4E34-9654-68591A3E1217}" presName="desTx" presStyleLbl="revTx" presStyleIdx="3" presStyleCnt="6">
        <dgm:presLayoutVars/>
      </dgm:prSet>
      <dgm:spPr/>
    </dgm:pt>
    <dgm:pt modelId="{17982F8A-75FC-434B-B93C-858D7705E80F}" type="pres">
      <dgm:prSet presAssocID="{D2E00388-660B-49BF-BEE3-693223910691}" presName="sibTrans" presStyleCnt="0"/>
      <dgm:spPr/>
    </dgm:pt>
    <dgm:pt modelId="{4822B7C4-D1E1-46AF-A5FA-CCBC9EAE021F}" type="pres">
      <dgm:prSet presAssocID="{355FDF52-A1E0-4B63-8EBA-C6F629EFE687}" presName="compNode" presStyleCnt="0"/>
      <dgm:spPr/>
    </dgm:pt>
    <dgm:pt modelId="{43D7DC42-030C-4EE5-9726-B848B7D7FAF3}" type="pres">
      <dgm:prSet presAssocID="{355FDF52-A1E0-4B63-8EBA-C6F629EFE68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llar"/>
        </a:ext>
      </dgm:extLst>
    </dgm:pt>
    <dgm:pt modelId="{9B6BB9C5-B865-4B26-A7FF-F2F441312BB2}" type="pres">
      <dgm:prSet presAssocID="{355FDF52-A1E0-4B63-8EBA-C6F629EFE687}" presName="iconSpace" presStyleCnt="0"/>
      <dgm:spPr/>
    </dgm:pt>
    <dgm:pt modelId="{AE40C095-C404-479E-BE6A-0649234B03A8}" type="pres">
      <dgm:prSet presAssocID="{355FDF52-A1E0-4B63-8EBA-C6F629EFE687}" presName="parTx" presStyleLbl="revTx" presStyleIdx="4" presStyleCnt="6">
        <dgm:presLayoutVars>
          <dgm:chMax val="0"/>
          <dgm:chPref val="0"/>
        </dgm:presLayoutVars>
      </dgm:prSet>
      <dgm:spPr/>
    </dgm:pt>
    <dgm:pt modelId="{C59B4B7D-1CB1-4A4F-A761-1BE09143FCC9}" type="pres">
      <dgm:prSet presAssocID="{355FDF52-A1E0-4B63-8EBA-C6F629EFE687}" presName="txSpace" presStyleCnt="0"/>
      <dgm:spPr/>
    </dgm:pt>
    <dgm:pt modelId="{9F431B8C-784F-42DC-90C5-F4D629FDBF43}" type="pres">
      <dgm:prSet presAssocID="{355FDF52-A1E0-4B63-8EBA-C6F629EFE687}" presName="desTx" presStyleLbl="revTx" presStyleIdx="5" presStyleCnt="6">
        <dgm:presLayoutVars/>
      </dgm:prSet>
      <dgm:spPr/>
    </dgm:pt>
  </dgm:ptLst>
  <dgm:cxnLst>
    <dgm:cxn modelId="{E3C4D829-0F6F-4D78-91F6-C1A96D61E195}" srcId="{15689676-E316-4F32-95B1-88CF3E3E4BF0}" destId="{263FED0A-0347-43BC-AF2D-B6BFD648DBD5}" srcOrd="0" destOrd="0" parTransId="{835E9C6E-5465-422A-9697-179020FA13CE}" sibTransId="{D4DB2760-920A-4BE0-BD4A-047712796918}"/>
    <dgm:cxn modelId="{A3ACF130-5B60-4888-BCDB-F35F8EED0724}" srcId="{15689676-E316-4F32-95B1-88CF3E3E4BF0}" destId="{1A0F240B-6A8D-4D0B-A474-80169459B655}" srcOrd="1" destOrd="0" parTransId="{25E41AA9-07E3-4698-8413-04FCD945942D}" sibTransId="{3E3E55A9-F26D-494C-BAC1-6D2D8727E2C5}"/>
    <dgm:cxn modelId="{F3ADD331-B91E-4840-AEF1-D6C18DB4AC34}" srcId="{608146FC-3783-4287-89EE-2838564F7097}" destId="{15689676-E316-4F32-95B1-88CF3E3E4BF0}" srcOrd="0" destOrd="0" parTransId="{EB8A3EDD-2B16-41AA-8A22-2FD5DA386F71}" sibTransId="{9416CF63-248D-4AED-A8B8-933A16791A32}"/>
    <dgm:cxn modelId="{CCA3D134-8875-4C9F-B742-5CACB74EE600}" type="presOf" srcId="{263FED0A-0347-43BC-AF2D-B6BFD648DBD5}" destId="{B4A5C526-F43B-4A03-94E0-950E79784C90}" srcOrd="0" destOrd="0" presId="urn:microsoft.com/office/officeart/2018/2/layout/IconLabelDescriptionList"/>
    <dgm:cxn modelId="{3FFD0335-EDF9-4CA9-9086-77CBAD93A14F}" type="presOf" srcId="{CDC9DFE9-9CA6-4D27-87A4-CD853352946A}" destId="{AB4EE762-67AC-4E0E-93E2-4E78F4EA9BF1}" srcOrd="0" destOrd="0" presId="urn:microsoft.com/office/officeart/2018/2/layout/IconLabelDescriptionList"/>
    <dgm:cxn modelId="{92EA255D-9332-485A-8BC1-E0AA2B543BA0}" srcId="{79884829-D43F-4E34-9654-68591A3E1217}" destId="{CDC9DFE9-9CA6-4D27-87A4-CD853352946A}" srcOrd="0" destOrd="0" parTransId="{124C0B6B-DB61-4BAF-B240-3485CF7C0DB6}" sibTransId="{5843B550-618F-42BF-BB7A-BF1604943D16}"/>
    <dgm:cxn modelId="{F4DAB950-AD79-4068-9E87-365B18DA0FED}" srcId="{355FDF52-A1E0-4B63-8EBA-C6F629EFE687}" destId="{888CBCF0-5C1A-444A-B96A-21484A9CDEA1}" srcOrd="0" destOrd="0" parTransId="{DD3596EC-DC91-4B88-BD59-4AF7318B677E}" sibTransId="{BDC09399-9C56-4B4E-A990-41D227218991}"/>
    <dgm:cxn modelId="{8EC5CBA0-57E1-478B-AAC4-8EB86B0B7CEC}" srcId="{608146FC-3783-4287-89EE-2838564F7097}" destId="{79884829-D43F-4E34-9654-68591A3E1217}" srcOrd="1" destOrd="0" parTransId="{B4F22B0D-F610-465C-8E3B-363B32D9035C}" sibTransId="{D2E00388-660B-49BF-BEE3-693223910691}"/>
    <dgm:cxn modelId="{7CF9A9A8-B59E-49DB-90D5-14AF97EAD61A}" type="presOf" srcId="{355FDF52-A1E0-4B63-8EBA-C6F629EFE687}" destId="{AE40C095-C404-479E-BE6A-0649234B03A8}" srcOrd="0" destOrd="0" presId="urn:microsoft.com/office/officeart/2018/2/layout/IconLabelDescriptionList"/>
    <dgm:cxn modelId="{808D52B0-47F1-43F1-BB8C-8498C8EC5FB4}" type="presOf" srcId="{888CBCF0-5C1A-444A-B96A-21484A9CDEA1}" destId="{9F431B8C-784F-42DC-90C5-F4D629FDBF43}" srcOrd="0" destOrd="0" presId="urn:microsoft.com/office/officeart/2018/2/layout/IconLabelDescriptionList"/>
    <dgm:cxn modelId="{E75A5FB9-4200-4211-8BB3-9E98C624FE4F}" type="presOf" srcId="{1A0F240B-6A8D-4D0B-A474-80169459B655}" destId="{B4A5C526-F43B-4A03-94E0-950E79784C90}" srcOrd="0" destOrd="1" presId="urn:microsoft.com/office/officeart/2018/2/layout/IconLabelDescriptionList"/>
    <dgm:cxn modelId="{7D66A7C6-7C11-48BC-91FE-EDE9B1D19F5F}" type="presOf" srcId="{15689676-E316-4F32-95B1-88CF3E3E4BF0}" destId="{47292FF2-0ABC-41DD-B7C4-AD9027DDA5BF}" srcOrd="0" destOrd="0" presId="urn:microsoft.com/office/officeart/2018/2/layout/IconLabelDescriptionList"/>
    <dgm:cxn modelId="{3AC661D3-F77D-449F-B8E2-4750FDBA25A8}" srcId="{608146FC-3783-4287-89EE-2838564F7097}" destId="{355FDF52-A1E0-4B63-8EBA-C6F629EFE687}" srcOrd="2" destOrd="0" parTransId="{C15EBA84-31B3-47F8-A154-3D747BE94E39}" sibTransId="{8F007044-F501-477C-BC60-1688AF2EB80C}"/>
    <dgm:cxn modelId="{4588B0D6-E66F-41B8-9D19-C2DB8F6DE263}" type="presOf" srcId="{608146FC-3783-4287-89EE-2838564F7097}" destId="{1DBD8B5B-34D4-47AE-A5F2-602A395D8D80}" srcOrd="0" destOrd="0" presId="urn:microsoft.com/office/officeart/2018/2/layout/IconLabelDescriptionList"/>
    <dgm:cxn modelId="{1DE89CE9-095C-4940-A49B-5AC47977B349}" type="presOf" srcId="{79884829-D43F-4E34-9654-68591A3E1217}" destId="{8EA05A4D-83E4-4CCD-9F07-088ECC601669}" srcOrd="0" destOrd="0" presId="urn:microsoft.com/office/officeart/2018/2/layout/IconLabelDescriptionList"/>
    <dgm:cxn modelId="{A354F0C0-165C-475F-BA30-DE584DFBD9C6}" type="presParOf" srcId="{1DBD8B5B-34D4-47AE-A5F2-602A395D8D80}" destId="{FF80E8EF-CCA7-4858-A85F-C1276A0F4E80}" srcOrd="0" destOrd="0" presId="urn:microsoft.com/office/officeart/2018/2/layout/IconLabelDescriptionList"/>
    <dgm:cxn modelId="{7B3D57ED-AD6B-4233-9016-90F10DA8FF3D}" type="presParOf" srcId="{FF80E8EF-CCA7-4858-A85F-C1276A0F4E80}" destId="{7BBACBDD-52B6-4300-AA58-2D8905FF1924}" srcOrd="0" destOrd="0" presId="urn:microsoft.com/office/officeart/2018/2/layout/IconLabelDescriptionList"/>
    <dgm:cxn modelId="{6DA284C2-C974-4086-AEC7-5C846AD940D2}" type="presParOf" srcId="{FF80E8EF-CCA7-4858-A85F-C1276A0F4E80}" destId="{450DF3B2-CF47-4505-9DB9-CA9C85DE8DE5}" srcOrd="1" destOrd="0" presId="urn:microsoft.com/office/officeart/2018/2/layout/IconLabelDescriptionList"/>
    <dgm:cxn modelId="{5B0E5F21-A236-4A0C-AFC0-C804871D7BB4}" type="presParOf" srcId="{FF80E8EF-CCA7-4858-A85F-C1276A0F4E80}" destId="{47292FF2-0ABC-41DD-B7C4-AD9027DDA5BF}" srcOrd="2" destOrd="0" presId="urn:microsoft.com/office/officeart/2018/2/layout/IconLabelDescriptionList"/>
    <dgm:cxn modelId="{F1A859D5-236A-47E2-B8B3-FFF7F6726AC7}" type="presParOf" srcId="{FF80E8EF-CCA7-4858-A85F-C1276A0F4E80}" destId="{4C9C83AC-6473-4F97-81DE-40579277724E}" srcOrd="3" destOrd="0" presId="urn:microsoft.com/office/officeart/2018/2/layout/IconLabelDescriptionList"/>
    <dgm:cxn modelId="{5D2F8AE5-EE63-4C03-B0CB-B5434B08DC1E}" type="presParOf" srcId="{FF80E8EF-CCA7-4858-A85F-C1276A0F4E80}" destId="{B4A5C526-F43B-4A03-94E0-950E79784C90}" srcOrd="4" destOrd="0" presId="urn:microsoft.com/office/officeart/2018/2/layout/IconLabelDescriptionList"/>
    <dgm:cxn modelId="{75040A08-EA18-4AD5-85EC-C251B937434A}" type="presParOf" srcId="{1DBD8B5B-34D4-47AE-A5F2-602A395D8D80}" destId="{218DFFD1-42A6-4412-B908-63BF8AB5A345}" srcOrd="1" destOrd="0" presId="urn:microsoft.com/office/officeart/2018/2/layout/IconLabelDescriptionList"/>
    <dgm:cxn modelId="{D996083D-7CBC-4B00-A0F5-782B3B18DFA5}" type="presParOf" srcId="{1DBD8B5B-34D4-47AE-A5F2-602A395D8D80}" destId="{723C59F3-36BF-4CD4-AA4D-3DCAAD2CCEC1}" srcOrd="2" destOrd="0" presId="urn:microsoft.com/office/officeart/2018/2/layout/IconLabelDescriptionList"/>
    <dgm:cxn modelId="{559EC413-E6A1-4D6B-B9C0-45D3AE9116F4}" type="presParOf" srcId="{723C59F3-36BF-4CD4-AA4D-3DCAAD2CCEC1}" destId="{2F6E6B56-5FAB-46BD-A7C3-208443C6D9E2}" srcOrd="0" destOrd="0" presId="urn:microsoft.com/office/officeart/2018/2/layout/IconLabelDescriptionList"/>
    <dgm:cxn modelId="{D60D12CC-280B-4D76-BB99-9E76AE969A0C}" type="presParOf" srcId="{723C59F3-36BF-4CD4-AA4D-3DCAAD2CCEC1}" destId="{D4F24E67-8DCA-4401-97C5-B92962C055B7}" srcOrd="1" destOrd="0" presId="urn:microsoft.com/office/officeart/2018/2/layout/IconLabelDescriptionList"/>
    <dgm:cxn modelId="{1F051F1F-42AA-424C-B0C5-8CCE11455469}" type="presParOf" srcId="{723C59F3-36BF-4CD4-AA4D-3DCAAD2CCEC1}" destId="{8EA05A4D-83E4-4CCD-9F07-088ECC601669}" srcOrd="2" destOrd="0" presId="urn:microsoft.com/office/officeart/2018/2/layout/IconLabelDescriptionList"/>
    <dgm:cxn modelId="{D197E631-92CD-433B-A443-1E3EAE8ABA1F}" type="presParOf" srcId="{723C59F3-36BF-4CD4-AA4D-3DCAAD2CCEC1}" destId="{D95753FF-F1D0-4219-88F4-952378796A96}" srcOrd="3" destOrd="0" presId="urn:microsoft.com/office/officeart/2018/2/layout/IconLabelDescriptionList"/>
    <dgm:cxn modelId="{6A4A51C9-498C-45A2-9BBA-3FBBA0C45BBE}" type="presParOf" srcId="{723C59F3-36BF-4CD4-AA4D-3DCAAD2CCEC1}" destId="{AB4EE762-67AC-4E0E-93E2-4E78F4EA9BF1}" srcOrd="4" destOrd="0" presId="urn:microsoft.com/office/officeart/2018/2/layout/IconLabelDescriptionList"/>
    <dgm:cxn modelId="{9680AB57-5E5B-447F-AAD1-E311B57D921F}" type="presParOf" srcId="{1DBD8B5B-34D4-47AE-A5F2-602A395D8D80}" destId="{17982F8A-75FC-434B-B93C-858D7705E80F}" srcOrd="3" destOrd="0" presId="urn:microsoft.com/office/officeart/2018/2/layout/IconLabelDescriptionList"/>
    <dgm:cxn modelId="{8E7AF37C-9C8B-46BC-9A35-E5ED61F3AC4A}" type="presParOf" srcId="{1DBD8B5B-34D4-47AE-A5F2-602A395D8D80}" destId="{4822B7C4-D1E1-46AF-A5FA-CCBC9EAE021F}" srcOrd="4" destOrd="0" presId="urn:microsoft.com/office/officeart/2018/2/layout/IconLabelDescriptionList"/>
    <dgm:cxn modelId="{4860C6FA-1DC4-4725-8600-42CAF5DDAC19}" type="presParOf" srcId="{4822B7C4-D1E1-46AF-A5FA-CCBC9EAE021F}" destId="{43D7DC42-030C-4EE5-9726-B848B7D7FAF3}" srcOrd="0" destOrd="0" presId="urn:microsoft.com/office/officeart/2018/2/layout/IconLabelDescriptionList"/>
    <dgm:cxn modelId="{08F4686F-427A-4B2A-B5C5-E328DB0BB619}" type="presParOf" srcId="{4822B7C4-D1E1-46AF-A5FA-CCBC9EAE021F}" destId="{9B6BB9C5-B865-4B26-A7FF-F2F441312BB2}" srcOrd="1" destOrd="0" presId="urn:microsoft.com/office/officeart/2018/2/layout/IconLabelDescriptionList"/>
    <dgm:cxn modelId="{AC422D96-D957-45E2-8DCD-B9882E13FEAC}" type="presParOf" srcId="{4822B7C4-D1E1-46AF-A5FA-CCBC9EAE021F}" destId="{AE40C095-C404-479E-BE6A-0649234B03A8}" srcOrd="2" destOrd="0" presId="urn:microsoft.com/office/officeart/2018/2/layout/IconLabelDescriptionList"/>
    <dgm:cxn modelId="{E38F24D1-6074-47BC-80DE-45260C3C8277}" type="presParOf" srcId="{4822B7C4-D1E1-46AF-A5FA-CCBC9EAE021F}" destId="{C59B4B7D-1CB1-4A4F-A761-1BE09143FCC9}" srcOrd="3" destOrd="0" presId="urn:microsoft.com/office/officeart/2018/2/layout/IconLabelDescriptionList"/>
    <dgm:cxn modelId="{FF8B4E30-411D-4F57-B436-5A44970787D3}" type="presParOf" srcId="{4822B7C4-D1E1-46AF-A5FA-CCBC9EAE021F}" destId="{9F431B8C-784F-42DC-90C5-F4D629FDBF4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BACBDD-52B6-4300-AA58-2D8905FF1924}">
      <dsp:nvSpPr>
        <dsp:cNvPr id="0" name=""/>
        <dsp:cNvSpPr/>
      </dsp:nvSpPr>
      <dsp:spPr>
        <a:xfrm>
          <a:off x="5527" y="100922"/>
          <a:ext cx="1097489" cy="10974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292FF2-0ABC-41DD-B7C4-AD9027DDA5BF}">
      <dsp:nvSpPr>
        <dsp:cNvPr id="0" name=""/>
        <dsp:cNvSpPr/>
      </dsp:nvSpPr>
      <dsp:spPr>
        <a:xfrm>
          <a:off x="5527" y="1457793"/>
          <a:ext cx="3135684" cy="587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i="0" u="sng" kern="1200" baseline="0" dirty="0"/>
            <a:t>How much will it benefit the community ? </a:t>
          </a:r>
          <a:endParaRPr lang="en-US" sz="2000" u="sng" kern="1200" dirty="0"/>
        </a:p>
      </dsp:txBody>
      <dsp:txXfrm>
        <a:off x="5527" y="1457793"/>
        <a:ext cx="3135684" cy="587940"/>
      </dsp:txXfrm>
    </dsp:sp>
    <dsp:sp modelId="{B4A5C526-F43B-4A03-94E0-950E79784C90}">
      <dsp:nvSpPr>
        <dsp:cNvPr id="0" name=""/>
        <dsp:cNvSpPr/>
      </dsp:nvSpPr>
      <dsp:spPr>
        <a:xfrm>
          <a:off x="5527" y="2047770"/>
          <a:ext cx="3135684" cy="2202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0" i="0" kern="1200" baseline="0" dirty="0"/>
            <a:t>Effectiveness of the preventive measure and the acceptance of the measure by the community. </a:t>
          </a:r>
          <a:endParaRPr lang="en-US" sz="1800" kern="1200" dirty="0"/>
        </a:p>
        <a:p>
          <a:pPr marL="0" lvl="0" indent="0" algn="l" defTabSz="800100">
            <a:lnSpc>
              <a:spcPct val="100000"/>
            </a:lnSpc>
            <a:spcBef>
              <a:spcPct val="0"/>
            </a:spcBef>
            <a:spcAft>
              <a:spcPct val="35000"/>
            </a:spcAft>
            <a:buNone/>
          </a:pPr>
          <a:r>
            <a:rPr lang="en-US" sz="1800" b="0" i="0" kern="1200" baseline="0" dirty="0"/>
            <a:t>The combined outcome of effectiveness and acceptability is measured by the difference in the incidence rate among the experimental and control groups, </a:t>
          </a:r>
          <a:endParaRPr lang="en-US" sz="1800" kern="1200" dirty="0"/>
        </a:p>
      </dsp:txBody>
      <dsp:txXfrm>
        <a:off x="5527" y="2047770"/>
        <a:ext cx="3135684" cy="2202645"/>
      </dsp:txXfrm>
    </dsp:sp>
    <dsp:sp modelId="{2F6E6B56-5FAB-46BD-A7C3-208443C6D9E2}">
      <dsp:nvSpPr>
        <dsp:cNvPr id="0" name=""/>
        <dsp:cNvSpPr/>
      </dsp:nvSpPr>
      <dsp:spPr>
        <a:xfrm>
          <a:off x="3689957" y="100922"/>
          <a:ext cx="1097489" cy="10974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A05A4D-83E4-4CCD-9F07-088ECC601669}">
      <dsp:nvSpPr>
        <dsp:cNvPr id="0" name=""/>
        <dsp:cNvSpPr/>
      </dsp:nvSpPr>
      <dsp:spPr>
        <a:xfrm>
          <a:off x="3689957" y="1376840"/>
          <a:ext cx="3135684" cy="587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i="0" u="sng" kern="1200" baseline="0"/>
            <a:t>What are the risks to the recipients? </a:t>
          </a:r>
          <a:endParaRPr lang="en-US" sz="2000" u="sng" kern="1200"/>
        </a:p>
      </dsp:txBody>
      <dsp:txXfrm>
        <a:off x="3689957" y="1376840"/>
        <a:ext cx="3135684" cy="587940"/>
      </dsp:txXfrm>
    </dsp:sp>
    <dsp:sp modelId="{AB4EE762-67AC-4E0E-93E2-4E78F4EA9BF1}">
      <dsp:nvSpPr>
        <dsp:cNvPr id="0" name=""/>
        <dsp:cNvSpPr/>
      </dsp:nvSpPr>
      <dsp:spPr>
        <a:xfrm>
          <a:off x="3689957" y="2047770"/>
          <a:ext cx="3135684" cy="2202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0" i="0" kern="1200" baseline="0" dirty="0"/>
            <a:t>Immediate and long-term risks, </a:t>
          </a:r>
          <a:endParaRPr lang="en-US" sz="1800" kern="1200" dirty="0"/>
        </a:p>
      </dsp:txBody>
      <dsp:txXfrm>
        <a:off x="3689957" y="2047770"/>
        <a:ext cx="3135684" cy="2202645"/>
      </dsp:txXfrm>
    </dsp:sp>
    <dsp:sp modelId="{43D7DC42-030C-4EE5-9726-B848B7D7FAF3}">
      <dsp:nvSpPr>
        <dsp:cNvPr id="0" name=""/>
        <dsp:cNvSpPr/>
      </dsp:nvSpPr>
      <dsp:spPr>
        <a:xfrm>
          <a:off x="7374387" y="100922"/>
          <a:ext cx="1097489" cy="10974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40C095-C404-479E-BE6A-0649234B03A8}">
      <dsp:nvSpPr>
        <dsp:cNvPr id="0" name=""/>
        <dsp:cNvSpPr/>
      </dsp:nvSpPr>
      <dsp:spPr>
        <a:xfrm>
          <a:off x="7374387" y="1376840"/>
          <a:ext cx="3135684" cy="587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defRPr b="1"/>
          </a:pPr>
          <a:r>
            <a:rPr lang="en-US" sz="2000" b="0" i="0" u="sng" kern="1200" baseline="0" dirty="0"/>
            <a:t>Cost in money and manpower? </a:t>
          </a:r>
          <a:endParaRPr lang="en-US" sz="2000" u="sng" kern="1200" dirty="0"/>
        </a:p>
      </dsp:txBody>
      <dsp:txXfrm>
        <a:off x="7374387" y="1376840"/>
        <a:ext cx="3135684" cy="587940"/>
      </dsp:txXfrm>
    </dsp:sp>
    <dsp:sp modelId="{9F431B8C-784F-42DC-90C5-F4D629FDBF43}">
      <dsp:nvSpPr>
        <dsp:cNvPr id="0" name=""/>
        <dsp:cNvSpPr/>
      </dsp:nvSpPr>
      <dsp:spPr>
        <a:xfrm>
          <a:off x="7374387" y="2047770"/>
          <a:ext cx="3135684" cy="2202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pPr>
          <a:r>
            <a:rPr lang="en-US" sz="1800" b="0" i="0" kern="1200" baseline="0"/>
            <a:t>This is done to find out whether the preventive measure is economical and practical in terms of money spent. </a:t>
          </a:r>
          <a:endParaRPr lang="en-US" sz="1800" kern="1200"/>
        </a:p>
      </dsp:txBody>
      <dsp:txXfrm>
        <a:off x="7374387" y="2047770"/>
        <a:ext cx="3135684" cy="220264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BA168-CF8F-3D6C-8A51-0CF239F3D9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6B3235B-A0FC-B10B-330F-0F36655482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C985F0-BA88-0F08-4568-CD84BD8788E4}"/>
              </a:ext>
            </a:extLst>
          </p:cNvPr>
          <p:cNvSpPr>
            <a:spLocks noGrp="1"/>
          </p:cNvSpPr>
          <p:nvPr>
            <p:ph type="dt" sz="half" idx="10"/>
          </p:nvPr>
        </p:nvSpPr>
        <p:spPr/>
        <p:txBody>
          <a:bodyPr/>
          <a:lstStyle/>
          <a:p>
            <a:fld id="{9549D6DC-E1CB-4874-BF52-C3407230D20E}" type="datetime1">
              <a:rPr lang="en-US" smtClean="0"/>
              <a:t>7/24/2023</a:t>
            </a:fld>
            <a:endParaRPr lang="en-US"/>
          </a:p>
        </p:txBody>
      </p:sp>
      <p:sp>
        <p:nvSpPr>
          <p:cNvPr id="5" name="Footer Placeholder 4">
            <a:extLst>
              <a:ext uri="{FF2B5EF4-FFF2-40B4-BE49-F238E27FC236}">
                <a16:creationId xmlns:a16="http://schemas.microsoft.com/office/drawing/2014/main" id="{E8C74E28-6049-D8BD-9304-A0E3229F59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1BA537-5831-2482-3C97-F8B8440424D7}"/>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456738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C2D90-53CD-B64A-8DF1-5236A6026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ECCBC1-C626-9666-0D1D-A37BE19D88E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C95A72-C30F-C68E-E15D-A8458C645D8C}"/>
              </a:ext>
            </a:extLst>
          </p:cNvPr>
          <p:cNvSpPr>
            <a:spLocks noGrp="1"/>
          </p:cNvSpPr>
          <p:nvPr>
            <p:ph type="dt" sz="half" idx="10"/>
          </p:nvPr>
        </p:nvSpPr>
        <p:spPr/>
        <p:txBody>
          <a:bodyPr/>
          <a:lstStyle/>
          <a:p>
            <a:fld id="{48913E51-B7F7-4C24-B8E3-5471755DC0E0}" type="datetime1">
              <a:rPr lang="en-US" smtClean="0"/>
              <a:t>7/24/2023</a:t>
            </a:fld>
            <a:endParaRPr lang="en-US"/>
          </a:p>
        </p:txBody>
      </p:sp>
      <p:sp>
        <p:nvSpPr>
          <p:cNvPr id="5" name="Footer Placeholder 4">
            <a:extLst>
              <a:ext uri="{FF2B5EF4-FFF2-40B4-BE49-F238E27FC236}">
                <a16:creationId xmlns:a16="http://schemas.microsoft.com/office/drawing/2014/main" id="{3AC1E4AF-07A5-77EF-BA41-B3C88119D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580BB4-5ECD-8379-3342-AB9ACD97598C}"/>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71604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8DE17-B587-9232-CC53-68785F03873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DF9E9A1-DFC6-C467-761B-0DBE779FE20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DB16E5-B7AC-DC38-BA70-A2A0467C4A11}"/>
              </a:ext>
            </a:extLst>
          </p:cNvPr>
          <p:cNvSpPr>
            <a:spLocks noGrp="1"/>
          </p:cNvSpPr>
          <p:nvPr>
            <p:ph type="dt" sz="half" idx="10"/>
          </p:nvPr>
        </p:nvSpPr>
        <p:spPr/>
        <p:txBody>
          <a:bodyPr/>
          <a:lstStyle/>
          <a:p>
            <a:fld id="{DA91A59F-D956-4598-A3C1-AE72A5387751}" type="datetime1">
              <a:rPr lang="en-US" smtClean="0"/>
              <a:t>7/24/2023</a:t>
            </a:fld>
            <a:endParaRPr lang="en-US" dirty="0"/>
          </a:p>
        </p:txBody>
      </p:sp>
      <p:sp>
        <p:nvSpPr>
          <p:cNvPr id="5" name="Footer Placeholder 4">
            <a:extLst>
              <a:ext uri="{FF2B5EF4-FFF2-40B4-BE49-F238E27FC236}">
                <a16:creationId xmlns:a16="http://schemas.microsoft.com/office/drawing/2014/main" id="{A9B3BC4C-FEFD-AE52-75DE-286C649ACCD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1848ED2-7E89-B4AE-BFAB-FF39FF1C87EC}"/>
              </a:ext>
            </a:extLst>
          </p:cNvPr>
          <p:cNvSpPr>
            <a:spLocks noGrp="1"/>
          </p:cNvSpPr>
          <p:nvPr>
            <p:ph type="sldNum" sz="quarter" idx="12"/>
          </p:nvPr>
        </p:nvSpPr>
        <p:spPr/>
        <p:txBody>
          <a:bodyPr/>
          <a:lstStyle/>
          <a:p>
            <a:fld id="{273BAE12-D270-459D-897B-6833652BB167}" type="slidenum">
              <a:rPr lang="en-US" smtClean="0"/>
              <a:t>‹#›</a:t>
            </a:fld>
            <a:endParaRPr lang="en-US" dirty="0"/>
          </a:p>
        </p:txBody>
      </p:sp>
    </p:spTree>
    <p:extLst>
      <p:ext uri="{BB962C8B-B14F-4D97-AF65-F5344CB8AC3E}">
        <p14:creationId xmlns:p14="http://schemas.microsoft.com/office/powerpoint/2010/main" val="1577241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75D2C-5588-E869-78E8-9DDF7FBF613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17BAC6-6C16-4D95-E739-0FB08B4029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B688C1-436E-BB49-BBA7-6E1D4E1554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515BB0-C701-350F-8747-17F15614DABA}"/>
              </a:ext>
            </a:extLst>
          </p:cNvPr>
          <p:cNvSpPr>
            <a:spLocks noGrp="1"/>
          </p:cNvSpPr>
          <p:nvPr>
            <p:ph type="dt" sz="half" idx="10"/>
          </p:nvPr>
        </p:nvSpPr>
        <p:spPr/>
        <p:txBody>
          <a:bodyPr/>
          <a:lstStyle/>
          <a:p>
            <a:fld id="{D70BBD69-7BD3-4731-8064-242619E92CBE}" type="datetime1">
              <a:rPr lang="en-US" smtClean="0"/>
              <a:t>7/24/2023</a:t>
            </a:fld>
            <a:endParaRPr lang="en-US"/>
          </a:p>
        </p:txBody>
      </p:sp>
      <p:sp>
        <p:nvSpPr>
          <p:cNvPr id="6" name="Footer Placeholder 5">
            <a:extLst>
              <a:ext uri="{FF2B5EF4-FFF2-40B4-BE49-F238E27FC236}">
                <a16:creationId xmlns:a16="http://schemas.microsoft.com/office/drawing/2014/main" id="{74B796E0-924C-39BC-2C33-61484301DB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C55677-5F85-6C94-E727-FA3D2E431FE7}"/>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514491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DCEE3-0EBD-797A-6E34-B652DB23CAD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BC43DF-F52B-D370-AF26-2E973CE1E9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160A7C-468F-965F-EB8A-3075D9B153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42A5B32-7B68-AA5C-BB79-6E6BD1E61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CE8EE0-8DAB-7474-D2B2-66CC0ECC7B2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9077217-2689-A4E9-00C7-56F005018975}"/>
              </a:ext>
            </a:extLst>
          </p:cNvPr>
          <p:cNvSpPr>
            <a:spLocks noGrp="1"/>
          </p:cNvSpPr>
          <p:nvPr>
            <p:ph type="dt" sz="half" idx="10"/>
          </p:nvPr>
        </p:nvSpPr>
        <p:spPr/>
        <p:txBody>
          <a:bodyPr/>
          <a:lstStyle/>
          <a:p>
            <a:fld id="{38BD77D9-239F-488B-9358-023C46BC7084}" type="datetime1">
              <a:rPr lang="en-US" smtClean="0"/>
              <a:t>7/24/2023</a:t>
            </a:fld>
            <a:endParaRPr lang="en-US"/>
          </a:p>
        </p:txBody>
      </p:sp>
      <p:sp>
        <p:nvSpPr>
          <p:cNvPr id="8" name="Footer Placeholder 7">
            <a:extLst>
              <a:ext uri="{FF2B5EF4-FFF2-40B4-BE49-F238E27FC236}">
                <a16:creationId xmlns:a16="http://schemas.microsoft.com/office/drawing/2014/main" id="{90E0811F-DA8C-3B7D-A54B-B70A4B7259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E05D854-CEC9-E113-D5B1-25D330EE9BA2}"/>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690385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EA1BE-57D2-FFE9-AFF2-DCC63EAA52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18B610-E481-7DE8-FE10-ABD50E3A46BC}"/>
              </a:ext>
            </a:extLst>
          </p:cNvPr>
          <p:cNvSpPr>
            <a:spLocks noGrp="1"/>
          </p:cNvSpPr>
          <p:nvPr>
            <p:ph type="dt" sz="half" idx="10"/>
          </p:nvPr>
        </p:nvSpPr>
        <p:spPr/>
        <p:txBody>
          <a:bodyPr/>
          <a:lstStyle/>
          <a:p>
            <a:fld id="{1EE61C24-7140-4FDE-92F3-654C6E2D3C1C}" type="datetime1">
              <a:rPr lang="en-US" smtClean="0"/>
              <a:t>7/24/2023</a:t>
            </a:fld>
            <a:endParaRPr lang="en-US"/>
          </a:p>
        </p:txBody>
      </p:sp>
      <p:sp>
        <p:nvSpPr>
          <p:cNvPr id="4" name="Footer Placeholder 3">
            <a:extLst>
              <a:ext uri="{FF2B5EF4-FFF2-40B4-BE49-F238E27FC236}">
                <a16:creationId xmlns:a16="http://schemas.microsoft.com/office/drawing/2014/main" id="{2215D250-AE29-C21D-2BB7-ACF3C03756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FA157C-CEF2-87D7-DD2D-24EF92F05D67}"/>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3021429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47045-3A55-1B73-EA30-40884DA493AE}"/>
              </a:ext>
            </a:extLst>
          </p:cNvPr>
          <p:cNvSpPr>
            <a:spLocks noGrp="1"/>
          </p:cNvSpPr>
          <p:nvPr>
            <p:ph type="dt" sz="half" idx="10"/>
          </p:nvPr>
        </p:nvSpPr>
        <p:spPr/>
        <p:txBody>
          <a:bodyPr/>
          <a:lstStyle/>
          <a:p>
            <a:fld id="{DC4D6ACF-ECB9-4B5F-A429-08B8AC75E8EF}" type="datetime1">
              <a:rPr lang="en-US" smtClean="0"/>
              <a:t>7/24/2023</a:t>
            </a:fld>
            <a:endParaRPr lang="en-US"/>
          </a:p>
        </p:txBody>
      </p:sp>
      <p:sp>
        <p:nvSpPr>
          <p:cNvPr id="3" name="Footer Placeholder 2">
            <a:extLst>
              <a:ext uri="{FF2B5EF4-FFF2-40B4-BE49-F238E27FC236}">
                <a16:creationId xmlns:a16="http://schemas.microsoft.com/office/drawing/2014/main" id="{08764144-F0AE-A691-B8D4-28FBD25DBAD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2DAB593-EA76-858B-064A-67BECFED3DB0}"/>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2702248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62A47-5D69-4527-53DE-E4017A3D07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7B2C97-B8FE-BB11-2CE1-4125A17E25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436280-DA82-D6B6-FC5A-AD1B99D764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C2516A-1DDA-250F-9549-FD74D5A19DE4}"/>
              </a:ext>
            </a:extLst>
          </p:cNvPr>
          <p:cNvSpPr>
            <a:spLocks noGrp="1"/>
          </p:cNvSpPr>
          <p:nvPr>
            <p:ph type="dt" sz="half" idx="10"/>
          </p:nvPr>
        </p:nvSpPr>
        <p:spPr/>
        <p:txBody>
          <a:bodyPr/>
          <a:lstStyle/>
          <a:p>
            <a:fld id="{788B429B-EE2A-486A-BDB9-0C848B4FAFDD}" type="datetime1">
              <a:rPr lang="en-US" smtClean="0"/>
              <a:t>7/24/2023</a:t>
            </a:fld>
            <a:endParaRPr lang="en-US"/>
          </a:p>
        </p:txBody>
      </p:sp>
      <p:sp>
        <p:nvSpPr>
          <p:cNvPr id="6" name="Footer Placeholder 5">
            <a:extLst>
              <a:ext uri="{FF2B5EF4-FFF2-40B4-BE49-F238E27FC236}">
                <a16:creationId xmlns:a16="http://schemas.microsoft.com/office/drawing/2014/main" id="{9FF767B0-E311-1065-CC9B-B4074373A8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EEC0CD-566A-CCBB-FA93-ACD1DB949E87}"/>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993442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E34E-BE0B-EEA0-DB8D-87E9C5AB58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37EFA3-4C37-149B-405D-8E4F3AD16A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6B9583-ED7F-9B74-A5C7-F80C0504F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A9E198-3EE2-9F67-27DB-CF9EB6AC1093}"/>
              </a:ext>
            </a:extLst>
          </p:cNvPr>
          <p:cNvSpPr>
            <a:spLocks noGrp="1"/>
          </p:cNvSpPr>
          <p:nvPr>
            <p:ph type="dt" sz="half" idx="10"/>
          </p:nvPr>
        </p:nvSpPr>
        <p:spPr/>
        <p:txBody>
          <a:bodyPr/>
          <a:lstStyle/>
          <a:p>
            <a:fld id="{8DA5FE4A-CB8D-40AB-BFFC-AAF37EA071CB}" type="datetime1">
              <a:rPr lang="en-US" smtClean="0"/>
              <a:t>7/24/2023</a:t>
            </a:fld>
            <a:endParaRPr lang="en-US"/>
          </a:p>
        </p:txBody>
      </p:sp>
      <p:sp>
        <p:nvSpPr>
          <p:cNvPr id="6" name="Footer Placeholder 5">
            <a:extLst>
              <a:ext uri="{FF2B5EF4-FFF2-40B4-BE49-F238E27FC236}">
                <a16:creationId xmlns:a16="http://schemas.microsoft.com/office/drawing/2014/main" id="{D1CBDF3A-EF2D-71AA-CC89-24EBD6A246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C7A9B5-2DB7-A23C-A203-953018D46A2A}"/>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1726994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E76C1-C717-10D6-503A-3A239B6721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4B3C85-F961-4CFB-0183-E7CFA37F4B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8C8DD-090C-24CD-396D-BBB4D3D8C8C5}"/>
              </a:ext>
            </a:extLst>
          </p:cNvPr>
          <p:cNvSpPr>
            <a:spLocks noGrp="1"/>
          </p:cNvSpPr>
          <p:nvPr>
            <p:ph type="dt" sz="half" idx="10"/>
          </p:nvPr>
        </p:nvSpPr>
        <p:spPr/>
        <p:txBody>
          <a:bodyPr/>
          <a:lstStyle/>
          <a:p>
            <a:fld id="{F7701D81-C4B9-4A87-89A7-22E29E6C9200}" type="datetime1">
              <a:rPr lang="en-US" smtClean="0"/>
              <a:t>7/24/2023</a:t>
            </a:fld>
            <a:endParaRPr lang="en-US"/>
          </a:p>
        </p:txBody>
      </p:sp>
      <p:sp>
        <p:nvSpPr>
          <p:cNvPr id="5" name="Footer Placeholder 4">
            <a:extLst>
              <a:ext uri="{FF2B5EF4-FFF2-40B4-BE49-F238E27FC236}">
                <a16:creationId xmlns:a16="http://schemas.microsoft.com/office/drawing/2014/main" id="{6DAF60EA-B60A-B5B7-FA98-A3A0D35719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7F3FA-03E4-5395-FE73-7ECB1F145BEB}"/>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411117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719E73-3875-DEF8-E26A-1D729E3779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A7B398-4787-2A21-C16A-51BB4C43F3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DF0197-1E8B-AED4-4FA0-7FCFD98F8C5A}"/>
              </a:ext>
            </a:extLst>
          </p:cNvPr>
          <p:cNvSpPr>
            <a:spLocks noGrp="1"/>
          </p:cNvSpPr>
          <p:nvPr>
            <p:ph type="dt" sz="half" idx="10"/>
          </p:nvPr>
        </p:nvSpPr>
        <p:spPr/>
        <p:txBody>
          <a:bodyPr/>
          <a:lstStyle/>
          <a:p>
            <a:fld id="{EE307718-69F7-427E-95A3-C1246AF46913}" type="datetime1">
              <a:rPr lang="en-US" smtClean="0"/>
              <a:t>7/24/2023</a:t>
            </a:fld>
            <a:endParaRPr lang="en-US"/>
          </a:p>
        </p:txBody>
      </p:sp>
      <p:sp>
        <p:nvSpPr>
          <p:cNvPr id="5" name="Footer Placeholder 4">
            <a:extLst>
              <a:ext uri="{FF2B5EF4-FFF2-40B4-BE49-F238E27FC236}">
                <a16:creationId xmlns:a16="http://schemas.microsoft.com/office/drawing/2014/main" id="{DD716433-7749-0FBF-F0F9-9B2402A9A5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285CB9-8EA6-99F3-6C63-9E3FC1D90B0A}"/>
              </a:ext>
            </a:extLst>
          </p:cNvPr>
          <p:cNvSpPr>
            <a:spLocks noGrp="1"/>
          </p:cNvSpPr>
          <p:nvPr>
            <p:ph type="sldNum" sz="quarter" idx="12"/>
          </p:nvPr>
        </p:nvSpPr>
        <p:spPr/>
        <p:txBody>
          <a:bodyPr/>
          <a:lstStyle/>
          <a:p>
            <a:fld id="{273BAE12-D270-459D-897B-6833652BB167}" type="slidenum">
              <a:rPr lang="en-US" smtClean="0"/>
              <a:t>‹#›</a:t>
            </a:fld>
            <a:endParaRPr lang="en-US"/>
          </a:p>
        </p:txBody>
      </p:sp>
    </p:spTree>
    <p:extLst>
      <p:ext uri="{BB962C8B-B14F-4D97-AF65-F5344CB8AC3E}">
        <p14:creationId xmlns:p14="http://schemas.microsoft.com/office/powerpoint/2010/main" val="729358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7861D46-234F-E8F8-C913-966879671C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BE4835-6607-A8C3-28C7-4E07669BBE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462F42-B7E7-32A6-3D4C-4ECE3CCC3F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17C94-3B1E-4991-BED3-41F8B0158A00}" type="datetime1">
              <a:rPr lang="en-US" smtClean="0"/>
              <a:t>7/24/2023</a:t>
            </a:fld>
            <a:endParaRPr lang="en-US" dirty="0"/>
          </a:p>
        </p:txBody>
      </p:sp>
      <p:sp>
        <p:nvSpPr>
          <p:cNvPr id="5" name="Footer Placeholder 4">
            <a:extLst>
              <a:ext uri="{FF2B5EF4-FFF2-40B4-BE49-F238E27FC236}">
                <a16:creationId xmlns:a16="http://schemas.microsoft.com/office/drawing/2014/main" id="{AE993B2A-10DD-F5CB-52A8-7C28B70196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C56C0AB-E10B-B0F5-1104-C74E6A5805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3BAE12-D270-459D-897B-6833652BB167}" type="slidenum">
              <a:rPr lang="en-US" smtClean="0"/>
              <a:pPr/>
              <a:t>‹#›</a:t>
            </a:fld>
            <a:endParaRPr lang="en-US" dirty="0"/>
          </a:p>
        </p:txBody>
      </p:sp>
    </p:spTree>
    <p:extLst>
      <p:ext uri="{BB962C8B-B14F-4D97-AF65-F5344CB8AC3E}">
        <p14:creationId xmlns:p14="http://schemas.microsoft.com/office/powerpoint/2010/main" val="4081081459"/>
      </p:ext>
    </p:extLst>
  </p:cSld>
  <p:clrMap bg1="lt1" tx1="dk1" bg2="lt2" tx2="dk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62D0FF3-7401-F7AA-8BE3-284549829A7F}"/>
              </a:ext>
            </a:extLst>
          </p:cNvPr>
          <p:cNvPicPr>
            <a:picLocks noChangeAspect="1"/>
          </p:cNvPicPr>
          <p:nvPr/>
        </p:nvPicPr>
        <p:blipFill rotWithShape="1">
          <a:blip r:embed="rId2">
            <a:alphaModFix amt="40000"/>
          </a:blip>
          <a:srcRect t="20193" r="-1" b="-1"/>
          <a:stretch/>
        </p:blipFill>
        <p:spPr>
          <a:xfrm>
            <a:off x="20" y="10"/>
            <a:ext cx="12188932" cy="6857990"/>
          </a:xfrm>
          <a:prstGeom prst="rect">
            <a:avLst/>
          </a:prstGeom>
          <a:ln w="12700">
            <a:noFill/>
          </a:ln>
        </p:spPr>
      </p:pic>
      <p:sp>
        <p:nvSpPr>
          <p:cNvPr id="2" name="Title 1">
            <a:extLst>
              <a:ext uri="{FF2B5EF4-FFF2-40B4-BE49-F238E27FC236}">
                <a16:creationId xmlns:a16="http://schemas.microsoft.com/office/drawing/2014/main" id="{0215BC1A-1F80-0620-5CF1-BFB72535ADCD}"/>
              </a:ext>
            </a:extLst>
          </p:cNvPr>
          <p:cNvSpPr>
            <a:spLocks noGrp="1"/>
          </p:cNvSpPr>
          <p:nvPr>
            <p:ph type="ctrTitle"/>
          </p:nvPr>
        </p:nvSpPr>
        <p:spPr>
          <a:xfrm>
            <a:off x="3471863" y="3429000"/>
            <a:ext cx="5248275" cy="2387600"/>
          </a:xfrm>
        </p:spPr>
        <p:txBody>
          <a:bodyPr anchor="t">
            <a:normAutofit/>
          </a:bodyPr>
          <a:lstStyle/>
          <a:p>
            <a:pPr algn="ctr"/>
            <a:r>
              <a:rPr lang="en-US">
                <a:solidFill>
                  <a:srgbClr val="FFFFFF"/>
                </a:solidFill>
              </a:rPr>
              <a:t>Randomized Controlled trial</a:t>
            </a:r>
          </a:p>
        </p:txBody>
      </p:sp>
      <p:sp>
        <p:nvSpPr>
          <p:cNvPr id="3" name="Subtitle 2">
            <a:extLst>
              <a:ext uri="{FF2B5EF4-FFF2-40B4-BE49-F238E27FC236}">
                <a16:creationId xmlns:a16="http://schemas.microsoft.com/office/drawing/2014/main" id="{8FEF8EDD-34D3-8B3F-258D-A921A6385A96}"/>
              </a:ext>
            </a:extLst>
          </p:cNvPr>
          <p:cNvSpPr>
            <a:spLocks noGrp="1"/>
          </p:cNvSpPr>
          <p:nvPr>
            <p:ph type="subTitle" idx="1"/>
          </p:nvPr>
        </p:nvSpPr>
        <p:spPr>
          <a:xfrm>
            <a:off x="3471863" y="1932808"/>
            <a:ext cx="5248275" cy="1321670"/>
          </a:xfrm>
        </p:spPr>
        <p:txBody>
          <a:bodyPr anchor="ctr">
            <a:normAutofit/>
          </a:bodyPr>
          <a:lstStyle/>
          <a:p>
            <a:pPr algn="ctr"/>
            <a:endParaRPr lang="en-US">
              <a:solidFill>
                <a:srgbClr val="FFFFFF"/>
              </a:solidFill>
            </a:endParaRPr>
          </a:p>
        </p:txBody>
      </p:sp>
    </p:spTree>
    <p:extLst>
      <p:ext uri="{BB962C8B-B14F-4D97-AF65-F5344CB8AC3E}">
        <p14:creationId xmlns:p14="http://schemas.microsoft.com/office/powerpoint/2010/main" val="64677833"/>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6FACB3C-9069-4791-BC5C-0DB7CD19B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1F2038E-D777-4B76-81DD-DD13EE91B9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103D0A-79FD-5766-6E2D-134BAA091F2D}"/>
              </a:ext>
            </a:extLst>
          </p:cNvPr>
          <p:cNvSpPr>
            <a:spLocks noGrp="1"/>
          </p:cNvSpPr>
          <p:nvPr>
            <p:ph type="title"/>
          </p:nvPr>
        </p:nvSpPr>
        <p:spPr>
          <a:xfrm>
            <a:off x="804672" y="802955"/>
            <a:ext cx="4766330" cy="1454051"/>
          </a:xfrm>
        </p:spPr>
        <p:txBody>
          <a:bodyPr>
            <a:normAutofit/>
          </a:bodyPr>
          <a:lstStyle/>
          <a:p>
            <a:r>
              <a:rPr lang="en-US" sz="3600">
                <a:solidFill>
                  <a:schemeClr val="tx2"/>
                </a:solidFill>
              </a:rPr>
              <a:t>MCQ -1 </a:t>
            </a:r>
          </a:p>
        </p:txBody>
      </p:sp>
      <p:sp>
        <p:nvSpPr>
          <p:cNvPr id="3" name="Content Placeholder 2">
            <a:extLst>
              <a:ext uri="{FF2B5EF4-FFF2-40B4-BE49-F238E27FC236}">
                <a16:creationId xmlns:a16="http://schemas.microsoft.com/office/drawing/2014/main" id="{50270F15-40F6-17D8-11CA-13F23DB2B625}"/>
              </a:ext>
            </a:extLst>
          </p:cNvPr>
          <p:cNvSpPr>
            <a:spLocks noGrp="1"/>
          </p:cNvSpPr>
          <p:nvPr>
            <p:ph idx="1"/>
          </p:nvPr>
        </p:nvSpPr>
        <p:spPr>
          <a:xfrm>
            <a:off x="217714" y="2421683"/>
            <a:ext cx="5352907" cy="3353476"/>
          </a:xfrm>
        </p:spPr>
        <p:txBody>
          <a:bodyPr anchor="t">
            <a:noAutofit/>
          </a:bodyPr>
          <a:lstStyle/>
          <a:p>
            <a:r>
              <a:rPr lang="en-US" sz="2400" dirty="0">
                <a:solidFill>
                  <a:schemeClr val="tx2"/>
                </a:solidFill>
              </a:rPr>
              <a:t>Which step in the RCT involves assigning participants to different treatment groups?</a:t>
            </a:r>
          </a:p>
          <a:p>
            <a:pPr lvl="1"/>
            <a:r>
              <a:rPr lang="en-US" dirty="0">
                <a:solidFill>
                  <a:schemeClr val="tx2"/>
                </a:solidFill>
              </a:rPr>
              <a:t>a) Randomization</a:t>
            </a:r>
          </a:p>
          <a:p>
            <a:pPr lvl="1"/>
            <a:r>
              <a:rPr lang="en-US" dirty="0">
                <a:solidFill>
                  <a:schemeClr val="tx2"/>
                </a:solidFill>
              </a:rPr>
              <a:t>b) Follow-up</a:t>
            </a:r>
          </a:p>
          <a:p>
            <a:pPr lvl="1"/>
            <a:r>
              <a:rPr lang="en-US" dirty="0">
                <a:solidFill>
                  <a:schemeClr val="tx2"/>
                </a:solidFill>
              </a:rPr>
              <a:t>c) Manipulation or intervention</a:t>
            </a:r>
          </a:p>
          <a:p>
            <a:pPr lvl="1"/>
            <a:r>
              <a:rPr lang="en-US" dirty="0">
                <a:solidFill>
                  <a:schemeClr val="tx2"/>
                </a:solidFill>
              </a:rPr>
              <a:t>d) Assessment of outcome</a:t>
            </a:r>
          </a:p>
        </p:txBody>
      </p:sp>
      <p:grpSp>
        <p:nvGrpSpPr>
          <p:cNvPr id="14" name="Group 13">
            <a:extLst>
              <a:ext uri="{FF2B5EF4-FFF2-40B4-BE49-F238E27FC236}">
                <a16:creationId xmlns:a16="http://schemas.microsoft.com/office/drawing/2014/main" id="{DD354807-230F-4402-B1B9-F733A8F1F19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18240" y="-16714"/>
            <a:ext cx="6373761" cy="6874714"/>
            <a:chOff x="5818240" y="-1"/>
            <a:chExt cx="6373761" cy="6874714"/>
          </a:xfrm>
        </p:grpSpPr>
        <p:sp>
          <p:nvSpPr>
            <p:cNvPr id="15" name="Freeform: Shape 14">
              <a:extLst>
                <a:ext uri="{FF2B5EF4-FFF2-40B4-BE49-F238E27FC236}">
                  <a16:creationId xmlns:a16="http://schemas.microsoft.com/office/drawing/2014/main" id="{BF5A6F4A-CE87-4D5C-9382-8167967CE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18240" y="-1"/>
              <a:ext cx="6373761" cy="6874714"/>
            </a:xfrm>
            <a:custGeom>
              <a:avLst/>
              <a:gdLst>
                <a:gd name="connsiteX0" fmla="*/ 6373761 w 6373761"/>
                <a:gd name="connsiteY0" fmla="*/ 5771297 h 6874714"/>
                <a:gd name="connsiteX1" fmla="*/ 6373761 w 6373761"/>
                <a:gd name="connsiteY1" fmla="*/ 6247960 h 6874714"/>
                <a:gd name="connsiteX2" fmla="*/ 6235932 w 6373761"/>
                <a:gd name="connsiteY2" fmla="*/ 6361930 h 6874714"/>
                <a:gd name="connsiteX3" fmla="*/ 5960375 w 6373761"/>
                <a:gd name="connsiteY3" fmla="*/ 6587489 h 6874714"/>
                <a:gd name="connsiteX4" fmla="*/ 5822907 w 6373761"/>
                <a:gd name="connsiteY4" fmla="*/ 6701871 h 6874714"/>
                <a:gd name="connsiteX5" fmla="*/ 5681115 w 6373761"/>
                <a:gd name="connsiteY5" fmla="*/ 6816896 h 6874714"/>
                <a:gd name="connsiteX6" fmla="*/ 5604096 w 6373761"/>
                <a:gd name="connsiteY6" fmla="*/ 6874714 h 6874714"/>
                <a:gd name="connsiteX7" fmla="*/ 4878485 w 6373761"/>
                <a:gd name="connsiteY7" fmla="*/ 6874714 h 6874714"/>
                <a:gd name="connsiteX8" fmla="*/ 5006014 w 6373761"/>
                <a:gd name="connsiteY8" fmla="*/ 6800200 h 6874714"/>
                <a:gd name="connsiteX9" fmla="*/ 5149855 w 6373761"/>
                <a:gd name="connsiteY9" fmla="*/ 6707667 h 6874714"/>
                <a:gd name="connsiteX10" fmla="*/ 5431866 w 6373761"/>
                <a:gd name="connsiteY10" fmla="*/ 6506210 h 6874714"/>
                <a:gd name="connsiteX11" fmla="*/ 5571036 w 6373761"/>
                <a:gd name="connsiteY11" fmla="*/ 6399557 h 6874714"/>
                <a:gd name="connsiteX12" fmla="*/ 5711649 w 6373761"/>
                <a:gd name="connsiteY12" fmla="*/ 6288912 h 6874714"/>
                <a:gd name="connsiteX13" fmla="*/ 6276589 w 6373761"/>
                <a:gd name="connsiteY13" fmla="*/ 5852379 h 6874714"/>
                <a:gd name="connsiteX14" fmla="*/ 3975975 w 6373761"/>
                <a:gd name="connsiteY14" fmla="*/ 263 h 6874714"/>
                <a:gd name="connsiteX15" fmla="*/ 4350473 w 6373761"/>
                <a:gd name="connsiteY15" fmla="*/ 24963 h 6874714"/>
                <a:gd name="connsiteX16" fmla="*/ 5077909 w 6373761"/>
                <a:gd name="connsiteY16" fmla="*/ 189450 h 6874714"/>
                <a:gd name="connsiteX17" fmla="*/ 5746507 w 6373761"/>
                <a:gd name="connsiteY17" fmla="*/ 505804 h 6874714"/>
                <a:gd name="connsiteX18" fmla="*/ 6322456 w 6373761"/>
                <a:gd name="connsiteY18" fmla="*/ 956633 h 6874714"/>
                <a:gd name="connsiteX19" fmla="*/ 6373761 w 6373761"/>
                <a:gd name="connsiteY19" fmla="*/ 1011863 h 6874714"/>
                <a:gd name="connsiteX20" fmla="*/ 6373761 w 6373761"/>
                <a:gd name="connsiteY20" fmla="*/ 1185075 h 6874714"/>
                <a:gd name="connsiteX21" fmla="*/ 6359489 w 6373761"/>
                <a:gd name="connsiteY21" fmla="*/ 1169497 h 6874714"/>
                <a:gd name="connsiteX22" fmla="*/ 6233869 w 6373761"/>
                <a:gd name="connsiteY22" fmla="*/ 1047442 h 6874714"/>
                <a:gd name="connsiteX23" fmla="*/ 5961423 w 6373761"/>
                <a:gd name="connsiteY23" fmla="*/ 827953 h 6874714"/>
                <a:gd name="connsiteX24" fmla="*/ 5663555 w 6373761"/>
                <a:gd name="connsiteY24" fmla="*/ 645304 h 6874714"/>
                <a:gd name="connsiteX25" fmla="*/ 5013827 w 6373761"/>
                <a:gd name="connsiteY25" fmla="*/ 397863 h 6874714"/>
                <a:gd name="connsiteX26" fmla="*/ 4327409 w 6373761"/>
                <a:gd name="connsiteY26" fmla="*/ 302545 h 6874714"/>
                <a:gd name="connsiteX27" fmla="*/ 3639939 w 6373761"/>
                <a:gd name="connsiteY27" fmla="*/ 338868 h 6874714"/>
                <a:gd name="connsiteX28" fmla="*/ 3302495 w 6373761"/>
                <a:gd name="connsiteY28" fmla="*/ 403659 h 6874714"/>
                <a:gd name="connsiteX29" fmla="*/ 2971604 w 6373761"/>
                <a:gd name="connsiteY29" fmla="*/ 496273 h 6874714"/>
                <a:gd name="connsiteX30" fmla="*/ 2648706 w 6373761"/>
                <a:gd name="connsiteY30" fmla="*/ 614389 h 6874714"/>
                <a:gd name="connsiteX31" fmla="*/ 2335374 w 6373761"/>
                <a:gd name="connsiteY31" fmla="*/ 757109 h 6874714"/>
                <a:gd name="connsiteX32" fmla="*/ 1741342 w 6373761"/>
                <a:gd name="connsiteY32" fmla="*/ 1107725 h 6874714"/>
                <a:gd name="connsiteX33" fmla="*/ 1600861 w 6373761"/>
                <a:gd name="connsiteY33" fmla="*/ 1208710 h 6874714"/>
                <a:gd name="connsiteX34" fmla="*/ 1531799 w 6373761"/>
                <a:gd name="connsiteY34" fmla="*/ 1260879 h 6874714"/>
                <a:gd name="connsiteX35" fmla="*/ 1463655 w 6373761"/>
                <a:gd name="connsiteY35" fmla="*/ 1314333 h 6874714"/>
                <a:gd name="connsiteX36" fmla="*/ 1200777 w 6373761"/>
                <a:gd name="connsiteY36" fmla="*/ 1541166 h 6874714"/>
                <a:gd name="connsiteX37" fmla="*/ 731501 w 6373761"/>
                <a:gd name="connsiteY37" fmla="*/ 2055754 h 6874714"/>
                <a:gd name="connsiteX38" fmla="*/ 531393 w 6373761"/>
                <a:gd name="connsiteY38" fmla="*/ 2342739 h 6874714"/>
                <a:gd name="connsiteX39" fmla="*/ 361033 w 6373761"/>
                <a:gd name="connsiteY39" fmla="*/ 2649046 h 6874714"/>
                <a:gd name="connsiteX40" fmla="*/ 323292 w 6373761"/>
                <a:gd name="connsiteY40" fmla="*/ 2728263 h 6874714"/>
                <a:gd name="connsiteX41" fmla="*/ 304945 w 6373761"/>
                <a:gd name="connsiteY41" fmla="*/ 2768193 h 6874714"/>
                <a:gd name="connsiteX42" fmla="*/ 287516 w 6373761"/>
                <a:gd name="connsiteY42" fmla="*/ 2808510 h 6874714"/>
                <a:gd name="connsiteX43" fmla="*/ 254230 w 6373761"/>
                <a:gd name="connsiteY43" fmla="*/ 2889788 h 6874714"/>
                <a:gd name="connsiteX44" fmla="*/ 223042 w 6373761"/>
                <a:gd name="connsiteY44" fmla="*/ 2971968 h 6874714"/>
                <a:gd name="connsiteX45" fmla="*/ 121611 w 6373761"/>
                <a:gd name="connsiteY45" fmla="*/ 3308544 h 6874714"/>
                <a:gd name="connsiteX46" fmla="*/ 39314 w 6373761"/>
                <a:gd name="connsiteY46" fmla="*/ 4005912 h 6874714"/>
                <a:gd name="connsiteX47" fmla="*/ 73910 w 6373761"/>
                <a:gd name="connsiteY47" fmla="*/ 4354081 h 6874714"/>
                <a:gd name="connsiteX48" fmla="*/ 179534 w 6373761"/>
                <a:gd name="connsiteY48" fmla="*/ 4687050 h 6874714"/>
                <a:gd name="connsiteX49" fmla="*/ 215964 w 6373761"/>
                <a:gd name="connsiteY49" fmla="*/ 4766654 h 6874714"/>
                <a:gd name="connsiteX50" fmla="*/ 256457 w 6373761"/>
                <a:gd name="connsiteY50" fmla="*/ 4844455 h 6874714"/>
                <a:gd name="connsiteX51" fmla="*/ 346225 w 6373761"/>
                <a:gd name="connsiteY51" fmla="*/ 4995290 h 6874714"/>
                <a:gd name="connsiteX52" fmla="*/ 445296 w 6373761"/>
                <a:gd name="connsiteY52" fmla="*/ 5140971 h 6874714"/>
                <a:gd name="connsiteX53" fmla="*/ 551443 w 6373761"/>
                <a:gd name="connsiteY53" fmla="*/ 5282531 h 6874714"/>
                <a:gd name="connsiteX54" fmla="*/ 772387 w 6373761"/>
                <a:gd name="connsiteY54" fmla="*/ 5562561 h 6874714"/>
                <a:gd name="connsiteX55" fmla="*/ 882858 w 6373761"/>
                <a:gd name="connsiteY55" fmla="*/ 5704507 h 6874714"/>
                <a:gd name="connsiteX56" fmla="*/ 990316 w 6373761"/>
                <a:gd name="connsiteY56" fmla="*/ 5848258 h 6874714"/>
                <a:gd name="connsiteX57" fmla="*/ 1097774 w 6373761"/>
                <a:gd name="connsiteY57" fmla="*/ 5987114 h 6874714"/>
                <a:gd name="connsiteX58" fmla="*/ 1210080 w 6373761"/>
                <a:gd name="connsiteY58" fmla="*/ 6121203 h 6874714"/>
                <a:gd name="connsiteX59" fmla="*/ 1448192 w 6373761"/>
                <a:gd name="connsiteY59" fmla="*/ 6374054 h 6874714"/>
                <a:gd name="connsiteX60" fmla="*/ 1982991 w 6373761"/>
                <a:gd name="connsiteY60" fmla="*/ 6796158 h 6874714"/>
                <a:gd name="connsiteX61" fmla="*/ 2118475 w 6373761"/>
                <a:gd name="connsiteY61" fmla="*/ 6874714 h 6874714"/>
                <a:gd name="connsiteX62" fmla="*/ 1569874 w 6373761"/>
                <a:gd name="connsiteY62" fmla="*/ 6874714 h 6874714"/>
                <a:gd name="connsiteX63" fmla="*/ 1507802 w 6373761"/>
                <a:gd name="connsiteY63" fmla="*/ 6817815 h 6874714"/>
                <a:gd name="connsiteX64" fmla="*/ 1256865 w 6373761"/>
                <a:gd name="connsiteY64" fmla="*/ 6543437 h 6874714"/>
                <a:gd name="connsiteX65" fmla="*/ 1038410 w 6373761"/>
                <a:gd name="connsiteY65" fmla="*/ 6248722 h 6874714"/>
                <a:gd name="connsiteX66" fmla="*/ 845380 w 6373761"/>
                <a:gd name="connsiteY66" fmla="*/ 5941386 h 6874714"/>
                <a:gd name="connsiteX67" fmla="*/ 755351 w 6373761"/>
                <a:gd name="connsiteY67" fmla="*/ 5788877 h 6874714"/>
                <a:gd name="connsiteX68" fmla="*/ 661784 w 6373761"/>
                <a:gd name="connsiteY68" fmla="*/ 5638944 h 6874714"/>
                <a:gd name="connsiteX69" fmla="*/ 466525 w 6373761"/>
                <a:gd name="connsiteY69" fmla="*/ 5340366 h 6874714"/>
                <a:gd name="connsiteX70" fmla="*/ 370992 w 6373761"/>
                <a:gd name="connsiteY70" fmla="*/ 5188502 h 6874714"/>
                <a:gd name="connsiteX71" fmla="*/ 280046 w 6373761"/>
                <a:gd name="connsiteY71" fmla="*/ 5033287 h 6874714"/>
                <a:gd name="connsiteX72" fmla="*/ 126853 w 6373761"/>
                <a:gd name="connsiteY72" fmla="*/ 4707660 h 6874714"/>
                <a:gd name="connsiteX73" fmla="*/ 30272 w 6373761"/>
                <a:gd name="connsiteY73" fmla="*/ 4362068 h 6874714"/>
                <a:gd name="connsiteX74" fmla="*/ 0 w 6373761"/>
                <a:gd name="connsiteY74" fmla="*/ 4005912 h 6874714"/>
                <a:gd name="connsiteX75" fmla="*/ 270480 w 6373761"/>
                <a:gd name="connsiteY75" fmla="*/ 2610532 h 6874714"/>
                <a:gd name="connsiteX76" fmla="*/ 415942 w 6373761"/>
                <a:gd name="connsiteY76" fmla="*/ 2280526 h 6874714"/>
                <a:gd name="connsiteX77" fmla="*/ 590102 w 6373761"/>
                <a:gd name="connsiteY77" fmla="*/ 1962626 h 6874714"/>
                <a:gd name="connsiteX78" fmla="*/ 1020719 w 6373761"/>
                <a:gd name="connsiteY78" fmla="*/ 1373070 h 6874714"/>
                <a:gd name="connsiteX79" fmla="*/ 1275080 w 6373761"/>
                <a:gd name="connsiteY79" fmla="*/ 1107081 h 6874714"/>
                <a:gd name="connsiteX80" fmla="*/ 1342437 w 6373761"/>
                <a:gd name="connsiteY80" fmla="*/ 1043965 h 6874714"/>
                <a:gd name="connsiteX81" fmla="*/ 1411106 w 6373761"/>
                <a:gd name="connsiteY81" fmla="*/ 982138 h 6874714"/>
                <a:gd name="connsiteX82" fmla="*/ 1553029 w 6373761"/>
                <a:gd name="connsiteY82" fmla="*/ 863376 h 6874714"/>
                <a:gd name="connsiteX83" fmla="*/ 2173401 w 6373761"/>
                <a:gd name="connsiteY83" fmla="*/ 454409 h 6874714"/>
                <a:gd name="connsiteX84" fmla="*/ 3599708 w 6373761"/>
                <a:gd name="connsiteY84" fmla="*/ 16332 h 6874714"/>
                <a:gd name="connsiteX85" fmla="*/ 3975975 w 6373761"/>
                <a:gd name="connsiteY85" fmla="*/ 263 h 6874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6373761" h="6874714">
                  <a:moveTo>
                    <a:pt x="6373761" y="5771297"/>
                  </a:moveTo>
                  <a:lnTo>
                    <a:pt x="6373761" y="6247960"/>
                  </a:lnTo>
                  <a:lnTo>
                    <a:pt x="6235932" y="6361930"/>
                  </a:lnTo>
                  <a:cubicBezTo>
                    <a:pt x="6143250" y="6437460"/>
                    <a:pt x="6051059" y="6512200"/>
                    <a:pt x="5960375" y="6587489"/>
                  </a:cubicBezTo>
                  <a:lnTo>
                    <a:pt x="5822907" y="6701871"/>
                  </a:lnTo>
                  <a:cubicBezTo>
                    <a:pt x="5776123" y="6740385"/>
                    <a:pt x="5729079" y="6778899"/>
                    <a:pt x="5681115" y="6816896"/>
                  </a:cubicBezTo>
                  <a:lnTo>
                    <a:pt x="5604096" y="6874714"/>
                  </a:lnTo>
                  <a:lnTo>
                    <a:pt x="4878485" y="6874714"/>
                  </a:lnTo>
                  <a:lnTo>
                    <a:pt x="5006014" y="6800200"/>
                  </a:lnTo>
                  <a:cubicBezTo>
                    <a:pt x="5054354" y="6770429"/>
                    <a:pt x="5102285" y="6739483"/>
                    <a:pt x="5149855" y="6707667"/>
                  </a:cubicBezTo>
                  <a:cubicBezTo>
                    <a:pt x="5244993" y="6643906"/>
                    <a:pt x="5338561" y="6576025"/>
                    <a:pt x="5431866" y="6506210"/>
                  </a:cubicBezTo>
                  <a:cubicBezTo>
                    <a:pt x="5478386" y="6471304"/>
                    <a:pt x="5524777" y="6435495"/>
                    <a:pt x="5571036" y="6399557"/>
                  </a:cubicBezTo>
                  <a:lnTo>
                    <a:pt x="5711649" y="6288912"/>
                  </a:lnTo>
                  <a:cubicBezTo>
                    <a:pt x="5902059" y="6140395"/>
                    <a:pt x="6093257" y="5998320"/>
                    <a:pt x="6276589" y="5852379"/>
                  </a:cubicBezTo>
                  <a:close/>
                  <a:moveTo>
                    <a:pt x="3975975" y="263"/>
                  </a:moveTo>
                  <a:cubicBezTo>
                    <a:pt x="4101550" y="1809"/>
                    <a:pt x="4226830" y="10149"/>
                    <a:pt x="4350473" y="24963"/>
                  </a:cubicBezTo>
                  <a:cubicBezTo>
                    <a:pt x="4598149" y="54846"/>
                    <a:pt x="4842943" y="108687"/>
                    <a:pt x="5077909" y="189450"/>
                  </a:cubicBezTo>
                  <a:cubicBezTo>
                    <a:pt x="5312876" y="269955"/>
                    <a:pt x="5537357" y="376867"/>
                    <a:pt x="5746507" y="505804"/>
                  </a:cubicBezTo>
                  <a:cubicBezTo>
                    <a:pt x="5955527" y="634999"/>
                    <a:pt x="6148688" y="786864"/>
                    <a:pt x="6322456" y="956633"/>
                  </a:cubicBezTo>
                  <a:lnTo>
                    <a:pt x="6373761" y="1011863"/>
                  </a:lnTo>
                  <a:lnTo>
                    <a:pt x="6373761" y="1185075"/>
                  </a:lnTo>
                  <a:lnTo>
                    <a:pt x="6359489" y="1169497"/>
                  </a:lnTo>
                  <a:cubicBezTo>
                    <a:pt x="6318811" y="1127602"/>
                    <a:pt x="6276917" y="1086890"/>
                    <a:pt x="6233869" y="1047442"/>
                  </a:cubicBezTo>
                  <a:cubicBezTo>
                    <a:pt x="6147509" y="968870"/>
                    <a:pt x="6056431" y="895448"/>
                    <a:pt x="5961423" y="827953"/>
                  </a:cubicBezTo>
                  <a:cubicBezTo>
                    <a:pt x="5865891" y="761102"/>
                    <a:pt x="5766688" y="699403"/>
                    <a:pt x="5663555" y="645304"/>
                  </a:cubicBezTo>
                  <a:cubicBezTo>
                    <a:pt x="5457943" y="535816"/>
                    <a:pt x="5238703" y="453894"/>
                    <a:pt x="5013827" y="397863"/>
                  </a:cubicBezTo>
                  <a:cubicBezTo>
                    <a:pt x="4788953" y="341703"/>
                    <a:pt x="4558442" y="310917"/>
                    <a:pt x="4327409" y="302545"/>
                  </a:cubicBezTo>
                  <a:cubicBezTo>
                    <a:pt x="4096111" y="293012"/>
                    <a:pt x="3867174" y="305893"/>
                    <a:pt x="3639939" y="338868"/>
                  </a:cubicBezTo>
                  <a:cubicBezTo>
                    <a:pt x="3526585" y="355999"/>
                    <a:pt x="3413885" y="377254"/>
                    <a:pt x="3302495" y="403659"/>
                  </a:cubicBezTo>
                  <a:cubicBezTo>
                    <a:pt x="3191107" y="430451"/>
                    <a:pt x="3080634" y="460978"/>
                    <a:pt x="2971604" y="496273"/>
                  </a:cubicBezTo>
                  <a:cubicBezTo>
                    <a:pt x="2862573" y="531437"/>
                    <a:pt x="2754854" y="570852"/>
                    <a:pt x="2648706" y="614389"/>
                  </a:cubicBezTo>
                  <a:cubicBezTo>
                    <a:pt x="2542690" y="658056"/>
                    <a:pt x="2438114" y="705714"/>
                    <a:pt x="2335374" y="757109"/>
                  </a:cubicBezTo>
                  <a:cubicBezTo>
                    <a:pt x="2129894" y="859769"/>
                    <a:pt x="1931228" y="976855"/>
                    <a:pt x="1741342" y="1107725"/>
                  </a:cubicBezTo>
                  <a:cubicBezTo>
                    <a:pt x="1694035" y="1140571"/>
                    <a:pt x="1646858" y="1173933"/>
                    <a:pt x="1600861" y="1208710"/>
                  </a:cubicBezTo>
                  <a:cubicBezTo>
                    <a:pt x="1577535" y="1225713"/>
                    <a:pt x="1554732" y="1243361"/>
                    <a:pt x="1531799" y="1260879"/>
                  </a:cubicBezTo>
                  <a:cubicBezTo>
                    <a:pt x="1508735" y="1278267"/>
                    <a:pt x="1486064" y="1296171"/>
                    <a:pt x="1463655" y="1314333"/>
                  </a:cubicBezTo>
                  <a:cubicBezTo>
                    <a:pt x="1373627" y="1386853"/>
                    <a:pt x="1285564" y="1462077"/>
                    <a:pt x="1200777" y="1541166"/>
                  </a:cubicBezTo>
                  <a:cubicBezTo>
                    <a:pt x="1030810" y="1698827"/>
                    <a:pt x="873161" y="1870785"/>
                    <a:pt x="731501" y="2055754"/>
                  </a:cubicBezTo>
                  <a:cubicBezTo>
                    <a:pt x="660734" y="2148239"/>
                    <a:pt x="593771" y="2243944"/>
                    <a:pt x="531393" y="2342739"/>
                  </a:cubicBezTo>
                  <a:cubicBezTo>
                    <a:pt x="470063" y="2442050"/>
                    <a:pt x="412140" y="2543810"/>
                    <a:pt x="361033" y="2649046"/>
                  </a:cubicBezTo>
                  <a:cubicBezTo>
                    <a:pt x="347798" y="2675194"/>
                    <a:pt x="335479" y="2701728"/>
                    <a:pt x="323292" y="2728263"/>
                  </a:cubicBezTo>
                  <a:lnTo>
                    <a:pt x="304945" y="2768193"/>
                  </a:lnTo>
                  <a:lnTo>
                    <a:pt x="287516" y="2808510"/>
                  </a:lnTo>
                  <a:cubicBezTo>
                    <a:pt x="276115" y="2835432"/>
                    <a:pt x="264583" y="2862352"/>
                    <a:pt x="254230" y="2889788"/>
                  </a:cubicBezTo>
                  <a:cubicBezTo>
                    <a:pt x="243877" y="2917224"/>
                    <a:pt x="232477" y="2944274"/>
                    <a:pt x="223042" y="2971968"/>
                  </a:cubicBezTo>
                  <a:cubicBezTo>
                    <a:pt x="182679" y="3081970"/>
                    <a:pt x="148475" y="3194291"/>
                    <a:pt x="121611" y="3308544"/>
                  </a:cubicBezTo>
                  <a:cubicBezTo>
                    <a:pt x="67096" y="3536534"/>
                    <a:pt x="39183" y="3771224"/>
                    <a:pt x="39314" y="4005912"/>
                  </a:cubicBezTo>
                  <a:cubicBezTo>
                    <a:pt x="39969" y="4122871"/>
                    <a:pt x="51109" y="4239571"/>
                    <a:pt x="73910" y="4354081"/>
                  </a:cubicBezTo>
                  <a:cubicBezTo>
                    <a:pt x="97892" y="4468334"/>
                    <a:pt x="132619" y="4580140"/>
                    <a:pt x="179534" y="4687050"/>
                  </a:cubicBezTo>
                  <a:cubicBezTo>
                    <a:pt x="190673" y="4713972"/>
                    <a:pt x="203647" y="4740249"/>
                    <a:pt x="215964" y="4766654"/>
                  </a:cubicBezTo>
                  <a:cubicBezTo>
                    <a:pt x="229332" y="4792674"/>
                    <a:pt x="242043" y="4818950"/>
                    <a:pt x="256457" y="4844455"/>
                  </a:cubicBezTo>
                  <a:cubicBezTo>
                    <a:pt x="283978" y="4895978"/>
                    <a:pt x="314642" y="4945956"/>
                    <a:pt x="346225" y="4995290"/>
                  </a:cubicBezTo>
                  <a:cubicBezTo>
                    <a:pt x="377676" y="5044752"/>
                    <a:pt x="411355" y="5092926"/>
                    <a:pt x="445296" y="5140971"/>
                  </a:cubicBezTo>
                  <a:cubicBezTo>
                    <a:pt x="479760" y="5188630"/>
                    <a:pt x="515537" y="5235645"/>
                    <a:pt x="551443" y="5282531"/>
                  </a:cubicBezTo>
                  <a:cubicBezTo>
                    <a:pt x="623387" y="5376434"/>
                    <a:pt x="698608" y="5468402"/>
                    <a:pt x="772387" y="5562561"/>
                  </a:cubicBezTo>
                  <a:cubicBezTo>
                    <a:pt x="809472" y="5609448"/>
                    <a:pt x="846428" y="5656719"/>
                    <a:pt x="882858" y="5704507"/>
                  </a:cubicBezTo>
                  <a:cubicBezTo>
                    <a:pt x="919159" y="5751909"/>
                    <a:pt x="955196" y="5802273"/>
                    <a:pt x="990316" y="5848258"/>
                  </a:cubicBezTo>
                  <a:cubicBezTo>
                    <a:pt x="1025175" y="5895402"/>
                    <a:pt x="1061736" y="5941129"/>
                    <a:pt x="1097774" y="5987114"/>
                  </a:cubicBezTo>
                  <a:cubicBezTo>
                    <a:pt x="1134860" y="6032326"/>
                    <a:pt x="1171684" y="6077536"/>
                    <a:pt x="1210080" y="6121203"/>
                  </a:cubicBezTo>
                  <a:cubicBezTo>
                    <a:pt x="1286350" y="6209051"/>
                    <a:pt x="1365632" y="6293677"/>
                    <a:pt x="1448192" y="6374054"/>
                  </a:cubicBezTo>
                  <a:cubicBezTo>
                    <a:pt x="1613572" y="6534420"/>
                    <a:pt x="1792057" y="6677526"/>
                    <a:pt x="1982991" y="6796158"/>
                  </a:cubicBezTo>
                  <a:lnTo>
                    <a:pt x="2118475" y="6874714"/>
                  </a:lnTo>
                  <a:lnTo>
                    <a:pt x="1569874" y="6874714"/>
                  </a:lnTo>
                  <a:lnTo>
                    <a:pt x="1507802" y="6817815"/>
                  </a:lnTo>
                  <a:cubicBezTo>
                    <a:pt x="1418412" y="6730595"/>
                    <a:pt x="1334903" y="6638562"/>
                    <a:pt x="1256865" y="6543437"/>
                  </a:cubicBezTo>
                  <a:cubicBezTo>
                    <a:pt x="1179155" y="6447861"/>
                    <a:pt x="1106817" y="6349194"/>
                    <a:pt x="1038410" y="6248722"/>
                  </a:cubicBezTo>
                  <a:cubicBezTo>
                    <a:pt x="969873" y="6148253"/>
                    <a:pt x="905922" y="6045592"/>
                    <a:pt x="845380" y="5941386"/>
                  </a:cubicBezTo>
                  <a:cubicBezTo>
                    <a:pt x="814453" y="5888704"/>
                    <a:pt x="786147" y="5839370"/>
                    <a:pt x="755351" y="5788877"/>
                  </a:cubicBezTo>
                  <a:cubicBezTo>
                    <a:pt x="724817" y="5738771"/>
                    <a:pt x="693760" y="5688665"/>
                    <a:pt x="661784" y="5638944"/>
                  </a:cubicBezTo>
                  <a:lnTo>
                    <a:pt x="466525" y="5340366"/>
                  </a:lnTo>
                  <a:cubicBezTo>
                    <a:pt x="434156" y="5290131"/>
                    <a:pt x="402181" y="5239639"/>
                    <a:pt x="370992" y="5188502"/>
                  </a:cubicBezTo>
                  <a:cubicBezTo>
                    <a:pt x="339803" y="5137364"/>
                    <a:pt x="308876" y="5086099"/>
                    <a:pt x="280046" y="5033287"/>
                  </a:cubicBezTo>
                  <a:cubicBezTo>
                    <a:pt x="222255" y="4928179"/>
                    <a:pt x="169181" y="4819982"/>
                    <a:pt x="126853" y="4707660"/>
                  </a:cubicBezTo>
                  <a:cubicBezTo>
                    <a:pt x="83739" y="4595725"/>
                    <a:pt x="51764" y="4479670"/>
                    <a:pt x="30272" y="4362068"/>
                  </a:cubicBezTo>
                  <a:cubicBezTo>
                    <a:pt x="9698" y="4244466"/>
                    <a:pt x="0" y="4125060"/>
                    <a:pt x="0" y="4005912"/>
                  </a:cubicBezTo>
                  <a:cubicBezTo>
                    <a:pt x="1704" y="3530867"/>
                    <a:pt x="95140" y="3057110"/>
                    <a:pt x="270480" y="2610532"/>
                  </a:cubicBezTo>
                  <a:cubicBezTo>
                    <a:pt x="314511" y="2498984"/>
                    <a:pt x="362212" y="2388466"/>
                    <a:pt x="415942" y="2280526"/>
                  </a:cubicBezTo>
                  <a:cubicBezTo>
                    <a:pt x="468884" y="2172197"/>
                    <a:pt x="527199" y="2066188"/>
                    <a:pt x="590102" y="1962626"/>
                  </a:cubicBezTo>
                  <a:cubicBezTo>
                    <a:pt x="716037" y="1755631"/>
                    <a:pt x="859794" y="1557653"/>
                    <a:pt x="1020719" y="1373070"/>
                  </a:cubicBezTo>
                  <a:cubicBezTo>
                    <a:pt x="1101575" y="1281101"/>
                    <a:pt x="1185969" y="1191838"/>
                    <a:pt x="1275080" y="1107081"/>
                  </a:cubicBezTo>
                  <a:cubicBezTo>
                    <a:pt x="1297227" y="1085699"/>
                    <a:pt x="1319504" y="1064575"/>
                    <a:pt x="1342437" y="1043965"/>
                  </a:cubicBezTo>
                  <a:cubicBezTo>
                    <a:pt x="1365240" y="1023226"/>
                    <a:pt x="1387648" y="1002102"/>
                    <a:pt x="1411106" y="982138"/>
                  </a:cubicBezTo>
                  <a:cubicBezTo>
                    <a:pt x="1457497" y="941563"/>
                    <a:pt x="1505065" y="902276"/>
                    <a:pt x="1553029" y="863376"/>
                  </a:cubicBezTo>
                  <a:cubicBezTo>
                    <a:pt x="1745798" y="708806"/>
                    <a:pt x="1954030" y="571882"/>
                    <a:pt x="2173401" y="454409"/>
                  </a:cubicBezTo>
                  <a:cubicBezTo>
                    <a:pt x="2612013" y="219334"/>
                    <a:pt x="3099505" y="65666"/>
                    <a:pt x="3599708" y="16332"/>
                  </a:cubicBezTo>
                  <a:cubicBezTo>
                    <a:pt x="3724530" y="3966"/>
                    <a:pt x="3850400" y="-1283"/>
                    <a:pt x="3975975" y="26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1023DD2-2E6F-4419-B404-80F08460B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5276" y="313387"/>
              <a:ext cx="6326724" cy="6561326"/>
            </a:xfrm>
            <a:custGeom>
              <a:avLst/>
              <a:gdLst>
                <a:gd name="connsiteX0" fmla="*/ 6326724 w 6326724"/>
                <a:gd name="connsiteY0" fmla="*/ 5020808 h 6561326"/>
                <a:gd name="connsiteX1" fmla="*/ 6326724 w 6326724"/>
                <a:gd name="connsiteY1" fmla="*/ 5698632 h 6561326"/>
                <a:gd name="connsiteX2" fmla="*/ 6067438 w 6326724"/>
                <a:gd name="connsiteY2" fmla="*/ 5902509 h 6561326"/>
                <a:gd name="connsiteX3" fmla="*/ 5799974 w 6326724"/>
                <a:gd name="connsiteY3" fmla="*/ 6102017 h 6561326"/>
                <a:gd name="connsiteX4" fmla="*/ 5665258 w 6326724"/>
                <a:gd name="connsiteY4" fmla="*/ 6202100 h 6561326"/>
                <a:gd name="connsiteX5" fmla="*/ 5526873 w 6326724"/>
                <a:gd name="connsiteY5" fmla="*/ 6302828 h 6561326"/>
                <a:gd name="connsiteX6" fmla="*/ 5385080 w 6326724"/>
                <a:gd name="connsiteY6" fmla="*/ 6402268 h 6561326"/>
                <a:gd name="connsiteX7" fmla="*/ 5238833 w 6326724"/>
                <a:gd name="connsiteY7" fmla="*/ 6498875 h 6561326"/>
                <a:gd name="connsiteX8" fmla="*/ 5138040 w 6326724"/>
                <a:gd name="connsiteY8" fmla="*/ 6561326 h 6561326"/>
                <a:gd name="connsiteX9" fmla="*/ 3946072 w 6326724"/>
                <a:gd name="connsiteY9" fmla="*/ 6561326 h 6561326"/>
                <a:gd name="connsiteX10" fmla="*/ 3976009 w 6326724"/>
                <a:gd name="connsiteY10" fmla="*/ 6555242 h 6561326"/>
                <a:gd name="connsiteX11" fmla="*/ 4404855 w 6326724"/>
                <a:gd name="connsiteY11" fmla="*/ 6399048 h 6561326"/>
                <a:gd name="connsiteX12" fmla="*/ 4938868 w 6326724"/>
                <a:gd name="connsiteY12" fmla="*/ 6072132 h 6561326"/>
                <a:gd name="connsiteX13" fmla="*/ 5068342 w 6326724"/>
                <a:gd name="connsiteY13" fmla="*/ 5976042 h 6561326"/>
                <a:gd name="connsiteX14" fmla="*/ 5197816 w 6326724"/>
                <a:gd name="connsiteY14" fmla="*/ 5876730 h 6561326"/>
                <a:gd name="connsiteX15" fmla="*/ 5460039 w 6326724"/>
                <a:gd name="connsiteY15" fmla="*/ 5670637 h 6561326"/>
                <a:gd name="connsiteX16" fmla="*/ 5999033 w 6326724"/>
                <a:gd name="connsiteY16" fmla="*/ 5271718 h 6561326"/>
                <a:gd name="connsiteX17" fmla="*/ 6258766 w 6326724"/>
                <a:gd name="connsiteY17" fmla="*/ 5077603 h 6561326"/>
                <a:gd name="connsiteX18" fmla="*/ 4139342 w 6326724"/>
                <a:gd name="connsiteY18" fmla="*/ 440 h 6561326"/>
                <a:gd name="connsiteX19" fmla="*/ 4315744 w 6326724"/>
                <a:gd name="connsiteY19" fmla="*/ 6808 h 6561326"/>
                <a:gd name="connsiteX20" fmla="*/ 5015400 w 6326724"/>
                <a:gd name="connsiteY20" fmla="*/ 113591 h 6561326"/>
                <a:gd name="connsiteX21" fmla="*/ 5681114 w 6326724"/>
                <a:gd name="connsiteY21" fmla="*/ 361418 h 6561326"/>
                <a:gd name="connsiteX22" fmla="*/ 6270952 w 6326724"/>
                <a:gd name="connsiteY22" fmla="*/ 755441 h 6561326"/>
                <a:gd name="connsiteX23" fmla="*/ 6326724 w 6326724"/>
                <a:gd name="connsiteY23" fmla="*/ 807432 h 6561326"/>
                <a:gd name="connsiteX24" fmla="*/ 6326724 w 6326724"/>
                <a:gd name="connsiteY24" fmla="*/ 1231565 h 6561326"/>
                <a:gd name="connsiteX25" fmla="*/ 6302093 w 6326724"/>
                <a:gd name="connsiteY25" fmla="*/ 1203002 h 6561326"/>
                <a:gd name="connsiteX26" fmla="*/ 6066914 w 6326724"/>
                <a:gd name="connsiteY26" fmla="*/ 989616 h 6561326"/>
                <a:gd name="connsiteX27" fmla="*/ 5533688 w 6326724"/>
                <a:gd name="connsiteY27" fmla="*/ 647242 h 6561326"/>
                <a:gd name="connsiteX28" fmla="*/ 4933626 w 6326724"/>
                <a:gd name="connsiteY28" fmla="*/ 432262 h 6561326"/>
                <a:gd name="connsiteX29" fmla="*/ 4296873 w 6326724"/>
                <a:gd name="connsiteY29" fmla="*/ 343126 h 6561326"/>
                <a:gd name="connsiteX30" fmla="*/ 3651602 w 6326724"/>
                <a:gd name="connsiteY30" fmla="*/ 365797 h 6561326"/>
                <a:gd name="connsiteX31" fmla="*/ 3018256 w 6326724"/>
                <a:gd name="connsiteY31" fmla="*/ 496666 h 6561326"/>
                <a:gd name="connsiteX32" fmla="*/ 2412429 w 6326724"/>
                <a:gd name="connsiteY32" fmla="*/ 724399 h 6561326"/>
                <a:gd name="connsiteX33" fmla="*/ 1329857 w 6326724"/>
                <a:gd name="connsiteY33" fmla="*/ 1424086 h 6561326"/>
                <a:gd name="connsiteX34" fmla="*/ 887314 w 6326724"/>
                <a:gd name="connsiteY34" fmla="*/ 1891015 h 6561326"/>
                <a:gd name="connsiteX35" fmla="*/ 537420 w 6326724"/>
                <a:gd name="connsiteY35" fmla="*/ 2427245 h 6561326"/>
                <a:gd name="connsiteX36" fmla="*/ 299965 w 6326724"/>
                <a:gd name="connsiteY36" fmla="*/ 3020021 h 6561326"/>
                <a:gd name="connsiteX37" fmla="*/ 213606 w 6326724"/>
                <a:gd name="connsiteY37" fmla="*/ 3651953 h 6561326"/>
                <a:gd name="connsiteX38" fmla="*/ 250036 w 6326724"/>
                <a:gd name="connsiteY38" fmla="*/ 3961352 h 6561326"/>
                <a:gd name="connsiteX39" fmla="*/ 357625 w 6326724"/>
                <a:gd name="connsiteY39" fmla="*/ 4250783 h 6561326"/>
                <a:gd name="connsiteX40" fmla="*/ 432715 w 6326724"/>
                <a:gd name="connsiteY40" fmla="*/ 4387063 h 6561326"/>
                <a:gd name="connsiteX41" fmla="*/ 518943 w 6326724"/>
                <a:gd name="connsiteY41" fmla="*/ 4518962 h 6561326"/>
                <a:gd name="connsiteX42" fmla="*/ 718133 w 6326724"/>
                <a:gd name="connsiteY42" fmla="*/ 4773874 h 6561326"/>
                <a:gd name="connsiteX43" fmla="*/ 933704 w 6326724"/>
                <a:gd name="connsiteY43" fmla="*/ 5030717 h 6561326"/>
                <a:gd name="connsiteX44" fmla="*/ 1040900 w 6326724"/>
                <a:gd name="connsiteY44" fmla="*/ 5164806 h 6561326"/>
                <a:gd name="connsiteX45" fmla="*/ 1092401 w 6326724"/>
                <a:gd name="connsiteY45" fmla="*/ 5230628 h 6561326"/>
                <a:gd name="connsiteX46" fmla="*/ 1142854 w 6326724"/>
                <a:gd name="connsiteY46" fmla="*/ 5293615 h 6561326"/>
                <a:gd name="connsiteX47" fmla="*/ 1576354 w 6326724"/>
                <a:gd name="connsiteY47" fmla="*/ 5759128 h 6561326"/>
                <a:gd name="connsiteX48" fmla="*/ 1806865 w 6326724"/>
                <a:gd name="connsiteY48" fmla="*/ 5968571 h 6561326"/>
                <a:gd name="connsiteX49" fmla="*/ 2048253 w 6326724"/>
                <a:gd name="connsiteY49" fmla="*/ 6161654 h 6561326"/>
                <a:gd name="connsiteX50" fmla="*/ 2587506 w 6326724"/>
                <a:gd name="connsiteY50" fmla="*/ 6467059 h 6561326"/>
                <a:gd name="connsiteX51" fmla="*/ 2889176 w 6326724"/>
                <a:gd name="connsiteY51" fmla="*/ 6553360 h 6561326"/>
                <a:gd name="connsiteX52" fmla="*/ 2929698 w 6326724"/>
                <a:gd name="connsiteY52" fmla="*/ 6561326 h 6561326"/>
                <a:gd name="connsiteX53" fmla="*/ 1816374 w 6326724"/>
                <a:gd name="connsiteY53" fmla="*/ 6561326 h 6561326"/>
                <a:gd name="connsiteX54" fmla="*/ 1787601 w 6326724"/>
                <a:gd name="connsiteY54" fmla="*/ 6545761 h 6561326"/>
                <a:gd name="connsiteX55" fmla="*/ 1225544 w 6326724"/>
                <a:gd name="connsiteY55" fmla="*/ 6094158 h 6561326"/>
                <a:gd name="connsiteX56" fmla="*/ 997654 w 6326724"/>
                <a:gd name="connsiteY56" fmla="*/ 5822374 h 6561326"/>
                <a:gd name="connsiteX57" fmla="*/ 798596 w 6326724"/>
                <a:gd name="connsiteY57" fmla="*/ 5534615 h 6561326"/>
                <a:gd name="connsiteX58" fmla="*/ 752075 w 6326724"/>
                <a:gd name="connsiteY58" fmla="*/ 5461324 h 6561326"/>
                <a:gd name="connsiteX59" fmla="*/ 707650 w 6326724"/>
                <a:gd name="connsiteY59" fmla="*/ 5390221 h 6561326"/>
                <a:gd name="connsiteX60" fmla="*/ 619980 w 6326724"/>
                <a:gd name="connsiteY60" fmla="*/ 5252396 h 6561326"/>
                <a:gd name="connsiteX61" fmla="*/ 438349 w 6326724"/>
                <a:gd name="connsiteY61" fmla="*/ 4970822 h 6561326"/>
                <a:gd name="connsiteX62" fmla="*/ 261044 w 6326724"/>
                <a:gd name="connsiteY62" fmla="*/ 4673145 h 6561326"/>
                <a:gd name="connsiteX63" fmla="*/ 181107 w 6326724"/>
                <a:gd name="connsiteY63" fmla="*/ 4515356 h 6561326"/>
                <a:gd name="connsiteX64" fmla="*/ 113224 w 6326724"/>
                <a:gd name="connsiteY64" fmla="*/ 4350223 h 6561326"/>
                <a:gd name="connsiteX65" fmla="*/ 61199 w 6326724"/>
                <a:gd name="connsiteY65" fmla="*/ 4178908 h 6561326"/>
                <a:gd name="connsiteX66" fmla="*/ 41804 w 6326724"/>
                <a:gd name="connsiteY66" fmla="*/ 4091577 h 6561326"/>
                <a:gd name="connsiteX67" fmla="*/ 33287 w 6326724"/>
                <a:gd name="connsiteY67" fmla="*/ 4047781 h 6561326"/>
                <a:gd name="connsiteX68" fmla="*/ 26209 w 6326724"/>
                <a:gd name="connsiteY68" fmla="*/ 4003858 h 6561326"/>
                <a:gd name="connsiteX69" fmla="*/ 0 w 6326724"/>
                <a:gd name="connsiteY69" fmla="*/ 3651953 h 6561326"/>
                <a:gd name="connsiteX70" fmla="*/ 72731 w 6326724"/>
                <a:gd name="connsiteY70" fmla="*/ 2966307 h 6561326"/>
                <a:gd name="connsiteX71" fmla="*/ 291316 w 6326724"/>
                <a:gd name="connsiteY71" fmla="*/ 2309385 h 6561326"/>
                <a:gd name="connsiteX72" fmla="*/ 1110878 w 6326724"/>
                <a:gd name="connsiteY72" fmla="*/ 1193776 h 6561326"/>
                <a:gd name="connsiteX73" fmla="*/ 1654327 w 6326724"/>
                <a:gd name="connsiteY73" fmla="*/ 756730 h 6561326"/>
                <a:gd name="connsiteX74" fmla="*/ 2261727 w 6326724"/>
                <a:gd name="connsiteY74" fmla="*/ 409720 h 6561326"/>
                <a:gd name="connsiteX75" fmla="*/ 3610060 w 6326724"/>
                <a:gd name="connsiteY75" fmla="*/ 27032 h 6561326"/>
                <a:gd name="connsiteX76" fmla="*/ 4139342 w 6326724"/>
                <a:gd name="connsiteY76" fmla="*/ 440 h 6561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6326724" h="6561326">
                  <a:moveTo>
                    <a:pt x="6326724" y="5020808"/>
                  </a:moveTo>
                  <a:lnTo>
                    <a:pt x="6326724" y="5698632"/>
                  </a:lnTo>
                  <a:lnTo>
                    <a:pt x="6067438" y="5902509"/>
                  </a:lnTo>
                  <a:cubicBezTo>
                    <a:pt x="5977868" y="5970407"/>
                    <a:pt x="5888364" y="6036453"/>
                    <a:pt x="5799974" y="6102017"/>
                  </a:cubicBezTo>
                  <a:lnTo>
                    <a:pt x="5665258" y="6202100"/>
                  </a:lnTo>
                  <a:cubicBezTo>
                    <a:pt x="5619654" y="6235719"/>
                    <a:pt x="5573656" y="6269596"/>
                    <a:pt x="5526873" y="6302828"/>
                  </a:cubicBezTo>
                  <a:cubicBezTo>
                    <a:pt x="5480220" y="6336189"/>
                    <a:pt x="5433044" y="6369423"/>
                    <a:pt x="5385080" y="6402268"/>
                  </a:cubicBezTo>
                  <a:cubicBezTo>
                    <a:pt x="5336988" y="6434857"/>
                    <a:pt x="5288500" y="6467187"/>
                    <a:pt x="5238833" y="6498875"/>
                  </a:cubicBezTo>
                  <a:lnTo>
                    <a:pt x="5138040" y="6561326"/>
                  </a:lnTo>
                  <a:lnTo>
                    <a:pt x="3946072" y="6561326"/>
                  </a:lnTo>
                  <a:lnTo>
                    <a:pt x="3976009" y="6555242"/>
                  </a:lnTo>
                  <a:cubicBezTo>
                    <a:pt x="4123712" y="6519227"/>
                    <a:pt x="4266863" y="6466383"/>
                    <a:pt x="4404855" y="6399048"/>
                  </a:cubicBezTo>
                  <a:cubicBezTo>
                    <a:pt x="4589500" y="6310299"/>
                    <a:pt x="4765232" y="6196690"/>
                    <a:pt x="4938868" y="6072132"/>
                  </a:cubicBezTo>
                  <a:cubicBezTo>
                    <a:pt x="4982245" y="6041089"/>
                    <a:pt x="5025359" y="6008630"/>
                    <a:pt x="5068342" y="5976042"/>
                  </a:cubicBezTo>
                  <a:cubicBezTo>
                    <a:pt x="5111588" y="5943453"/>
                    <a:pt x="5154702" y="5910349"/>
                    <a:pt x="5197816" y="5876730"/>
                  </a:cubicBezTo>
                  <a:lnTo>
                    <a:pt x="5460039" y="5670637"/>
                  </a:lnTo>
                  <a:cubicBezTo>
                    <a:pt x="5639966" y="5530365"/>
                    <a:pt x="5821596" y="5399753"/>
                    <a:pt x="5999033" y="5271718"/>
                  </a:cubicBezTo>
                  <a:cubicBezTo>
                    <a:pt x="6087686" y="5207700"/>
                    <a:pt x="6174667" y="5143360"/>
                    <a:pt x="6258766" y="5077603"/>
                  </a:cubicBezTo>
                  <a:close/>
                  <a:moveTo>
                    <a:pt x="4139342" y="440"/>
                  </a:moveTo>
                  <a:cubicBezTo>
                    <a:pt x="4198237" y="1301"/>
                    <a:pt x="4257068" y="3427"/>
                    <a:pt x="4315744" y="6808"/>
                  </a:cubicBezTo>
                  <a:cubicBezTo>
                    <a:pt x="4550841" y="20849"/>
                    <a:pt x="4785806" y="55240"/>
                    <a:pt x="5015400" y="113591"/>
                  </a:cubicBezTo>
                  <a:cubicBezTo>
                    <a:pt x="5244992" y="171812"/>
                    <a:pt x="5469212" y="254249"/>
                    <a:pt x="5681114" y="361418"/>
                  </a:cubicBezTo>
                  <a:cubicBezTo>
                    <a:pt x="5892754" y="468586"/>
                    <a:pt x="6093124" y="599584"/>
                    <a:pt x="6270952" y="755441"/>
                  </a:cubicBezTo>
                  <a:lnTo>
                    <a:pt x="6326724" y="807432"/>
                  </a:lnTo>
                  <a:lnTo>
                    <a:pt x="6326724" y="1231565"/>
                  </a:lnTo>
                  <a:lnTo>
                    <a:pt x="6302093" y="1203002"/>
                  </a:lnTo>
                  <a:cubicBezTo>
                    <a:pt x="6227937" y="1127247"/>
                    <a:pt x="6149211" y="1056081"/>
                    <a:pt x="6066914" y="989616"/>
                  </a:cubicBezTo>
                  <a:cubicBezTo>
                    <a:pt x="5902714" y="856299"/>
                    <a:pt x="5724360" y="740371"/>
                    <a:pt x="5533688" y="647242"/>
                  </a:cubicBezTo>
                  <a:cubicBezTo>
                    <a:pt x="5343146" y="553857"/>
                    <a:pt x="5141466" y="482239"/>
                    <a:pt x="4933626" y="432262"/>
                  </a:cubicBezTo>
                  <a:cubicBezTo>
                    <a:pt x="4725788" y="382156"/>
                    <a:pt x="4512182" y="353303"/>
                    <a:pt x="4296873" y="343126"/>
                  </a:cubicBezTo>
                  <a:cubicBezTo>
                    <a:pt x="4081172" y="332435"/>
                    <a:pt x="3865732" y="339520"/>
                    <a:pt x="3651602" y="365797"/>
                  </a:cubicBezTo>
                  <a:cubicBezTo>
                    <a:pt x="3437604" y="392202"/>
                    <a:pt x="3225572" y="436384"/>
                    <a:pt x="3018256" y="496666"/>
                  </a:cubicBezTo>
                  <a:cubicBezTo>
                    <a:pt x="2810809" y="556691"/>
                    <a:pt x="2608474" y="634362"/>
                    <a:pt x="2412429" y="724399"/>
                  </a:cubicBezTo>
                  <a:cubicBezTo>
                    <a:pt x="2019160" y="902541"/>
                    <a:pt x="1651969" y="1138775"/>
                    <a:pt x="1329857" y="1424086"/>
                  </a:cubicBezTo>
                  <a:cubicBezTo>
                    <a:pt x="1169326" y="1567192"/>
                    <a:pt x="1020588" y="1723307"/>
                    <a:pt x="887314" y="1891015"/>
                  </a:cubicBezTo>
                  <a:cubicBezTo>
                    <a:pt x="753778" y="2058466"/>
                    <a:pt x="635967" y="2238026"/>
                    <a:pt x="537420" y="2427245"/>
                  </a:cubicBezTo>
                  <a:cubicBezTo>
                    <a:pt x="438874" y="2616335"/>
                    <a:pt x="356839" y="2814313"/>
                    <a:pt x="299965" y="3020021"/>
                  </a:cubicBezTo>
                  <a:cubicBezTo>
                    <a:pt x="242961" y="3225212"/>
                    <a:pt x="213474" y="3438518"/>
                    <a:pt x="213606" y="3651953"/>
                  </a:cubicBezTo>
                  <a:cubicBezTo>
                    <a:pt x="214785" y="3756804"/>
                    <a:pt x="225269" y="3860881"/>
                    <a:pt x="250036" y="3961352"/>
                  </a:cubicBezTo>
                  <a:cubicBezTo>
                    <a:pt x="274412" y="4061950"/>
                    <a:pt x="312284" y="4158171"/>
                    <a:pt x="357625" y="4250783"/>
                  </a:cubicBezTo>
                  <a:cubicBezTo>
                    <a:pt x="380558" y="4297025"/>
                    <a:pt x="405982" y="4342366"/>
                    <a:pt x="432715" y="4387063"/>
                  </a:cubicBezTo>
                  <a:cubicBezTo>
                    <a:pt x="459841" y="4431630"/>
                    <a:pt x="488803" y="4475554"/>
                    <a:pt x="518943" y="4518962"/>
                  </a:cubicBezTo>
                  <a:cubicBezTo>
                    <a:pt x="580011" y="4605521"/>
                    <a:pt x="647893" y="4689504"/>
                    <a:pt x="718133" y="4773874"/>
                  </a:cubicBezTo>
                  <a:cubicBezTo>
                    <a:pt x="788374" y="4858372"/>
                    <a:pt x="861760" y="4942871"/>
                    <a:pt x="933704" y="5030717"/>
                  </a:cubicBezTo>
                  <a:cubicBezTo>
                    <a:pt x="969742" y="5074512"/>
                    <a:pt x="1005387" y="5119337"/>
                    <a:pt x="1040900" y="5164806"/>
                  </a:cubicBezTo>
                  <a:lnTo>
                    <a:pt x="1092401" y="5230628"/>
                  </a:lnTo>
                  <a:cubicBezTo>
                    <a:pt x="1109306" y="5251624"/>
                    <a:pt x="1125425" y="5273135"/>
                    <a:pt x="1142854" y="5293615"/>
                  </a:cubicBezTo>
                  <a:cubicBezTo>
                    <a:pt x="1278880" y="5460293"/>
                    <a:pt x="1426438" y="5613704"/>
                    <a:pt x="1576354" y="5759128"/>
                  </a:cubicBezTo>
                  <a:cubicBezTo>
                    <a:pt x="1651706" y="5831519"/>
                    <a:pt x="1728368" y="5901461"/>
                    <a:pt x="1806865" y="5968571"/>
                  </a:cubicBezTo>
                  <a:cubicBezTo>
                    <a:pt x="1885362" y="6035680"/>
                    <a:pt x="1965299" y="6100599"/>
                    <a:pt x="2048253" y="6161654"/>
                  </a:cubicBezTo>
                  <a:cubicBezTo>
                    <a:pt x="2213502" y="6284022"/>
                    <a:pt x="2391724" y="6393380"/>
                    <a:pt x="2587506" y="6467059"/>
                  </a:cubicBezTo>
                  <a:cubicBezTo>
                    <a:pt x="2685137" y="6503898"/>
                    <a:pt x="2786304" y="6532106"/>
                    <a:pt x="2889176" y="6553360"/>
                  </a:cubicBezTo>
                  <a:lnTo>
                    <a:pt x="2929698" y="6561326"/>
                  </a:lnTo>
                  <a:lnTo>
                    <a:pt x="1816374" y="6561326"/>
                  </a:lnTo>
                  <a:lnTo>
                    <a:pt x="1787601" y="6545761"/>
                  </a:lnTo>
                  <a:cubicBezTo>
                    <a:pt x="1577272" y="6422749"/>
                    <a:pt x="1389483" y="6266761"/>
                    <a:pt x="1225544" y="6094158"/>
                  </a:cubicBezTo>
                  <a:cubicBezTo>
                    <a:pt x="1143116" y="6007986"/>
                    <a:pt x="1068158" y="5916274"/>
                    <a:pt x="997654" y="5822374"/>
                  </a:cubicBezTo>
                  <a:cubicBezTo>
                    <a:pt x="927546" y="5728086"/>
                    <a:pt x="860842" y="5632381"/>
                    <a:pt x="798596" y="5534615"/>
                  </a:cubicBezTo>
                  <a:cubicBezTo>
                    <a:pt x="782608" y="5510399"/>
                    <a:pt x="767537" y="5485797"/>
                    <a:pt x="752075" y="5461324"/>
                  </a:cubicBezTo>
                  <a:lnTo>
                    <a:pt x="707650" y="5390221"/>
                  </a:lnTo>
                  <a:cubicBezTo>
                    <a:pt x="679213" y="5344237"/>
                    <a:pt x="649728" y="5298638"/>
                    <a:pt x="619980" y="5252396"/>
                  </a:cubicBezTo>
                  <a:lnTo>
                    <a:pt x="438349" y="4970822"/>
                  </a:lnTo>
                  <a:cubicBezTo>
                    <a:pt x="377413" y="4874860"/>
                    <a:pt x="317263" y="4776064"/>
                    <a:pt x="261044" y="4673145"/>
                  </a:cubicBezTo>
                  <a:cubicBezTo>
                    <a:pt x="233000" y="4621622"/>
                    <a:pt x="205874" y="4569197"/>
                    <a:pt x="181107" y="4515356"/>
                  </a:cubicBezTo>
                  <a:cubicBezTo>
                    <a:pt x="156470" y="4461385"/>
                    <a:pt x="133537" y="4406385"/>
                    <a:pt x="113224" y="4350223"/>
                  </a:cubicBezTo>
                  <a:cubicBezTo>
                    <a:pt x="93305" y="4293934"/>
                    <a:pt x="75614" y="4236872"/>
                    <a:pt x="61199" y="4178908"/>
                  </a:cubicBezTo>
                  <a:cubicBezTo>
                    <a:pt x="54385" y="4149927"/>
                    <a:pt x="47440" y="4120815"/>
                    <a:pt x="41804" y="4091577"/>
                  </a:cubicBezTo>
                  <a:lnTo>
                    <a:pt x="33287" y="4047781"/>
                  </a:lnTo>
                  <a:lnTo>
                    <a:pt x="26209" y="4003858"/>
                  </a:lnTo>
                  <a:cubicBezTo>
                    <a:pt x="7732" y="3886643"/>
                    <a:pt x="0" y="3768783"/>
                    <a:pt x="0" y="3651953"/>
                  </a:cubicBezTo>
                  <a:cubicBezTo>
                    <a:pt x="524" y="3422031"/>
                    <a:pt x="25030" y="3192109"/>
                    <a:pt x="72731" y="2966307"/>
                  </a:cubicBezTo>
                  <a:cubicBezTo>
                    <a:pt x="120301" y="2740634"/>
                    <a:pt x="193163" y="2519343"/>
                    <a:pt x="291316" y="2309385"/>
                  </a:cubicBezTo>
                  <a:cubicBezTo>
                    <a:pt x="488540" y="1889469"/>
                    <a:pt x="774352" y="1513736"/>
                    <a:pt x="1110878" y="1193776"/>
                  </a:cubicBezTo>
                  <a:cubicBezTo>
                    <a:pt x="1279535" y="1033797"/>
                    <a:pt x="1461821" y="887856"/>
                    <a:pt x="1654327" y="756730"/>
                  </a:cubicBezTo>
                  <a:cubicBezTo>
                    <a:pt x="1847096" y="625732"/>
                    <a:pt x="2049956" y="509031"/>
                    <a:pt x="2261727" y="409720"/>
                  </a:cubicBezTo>
                  <a:cubicBezTo>
                    <a:pt x="2685792" y="212515"/>
                    <a:pt x="3142357" y="82162"/>
                    <a:pt x="3610060" y="27032"/>
                  </a:cubicBezTo>
                  <a:cubicBezTo>
                    <a:pt x="3785399" y="6647"/>
                    <a:pt x="3962657" y="-2144"/>
                    <a:pt x="4139342" y="44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C4A6C98-F96E-4587-B01F-A9B01BBF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1866928 h 6521594"/>
                <a:gd name="connsiteX4" fmla="*/ 6212358 w 6321679"/>
                <a:gd name="connsiteY4" fmla="*/ 1689281 h 6521594"/>
                <a:gd name="connsiteX5" fmla="*/ 6049880 w 6321679"/>
                <a:gd name="connsiteY5" fmla="*/ 1477173 h 6521594"/>
                <a:gd name="connsiteX6" fmla="*/ 5248663 w 6321679"/>
                <a:gd name="connsiteY6" fmla="*/ 869327 h 6521594"/>
                <a:gd name="connsiteX7" fmla="*/ 4150102 w 6321679"/>
                <a:gd name="connsiteY7" fmla="*/ 644042 h 6521594"/>
                <a:gd name="connsiteX8" fmla="*/ 2867946 w 6321679"/>
                <a:gd name="connsiteY8" fmla="*/ 886459 h 6521594"/>
                <a:gd name="connsiteX9" fmla="*/ 1728892 w 6321679"/>
                <a:gd name="connsiteY9" fmla="*/ 1552397 h 6521594"/>
                <a:gd name="connsiteX10" fmla="*/ 941043 w 6321679"/>
                <a:gd name="connsiteY10" fmla="*/ 2512664 h 6521594"/>
                <a:gd name="connsiteX11" fmla="*/ 655362 w 6321679"/>
                <a:gd name="connsiteY11" fmla="*/ 3630204 h 6521594"/>
                <a:gd name="connsiteX12" fmla="*/ 1128177 w 6321679"/>
                <a:gd name="connsiteY12" fmla="*/ 4667883 h 6521594"/>
                <a:gd name="connsiteX13" fmla="*/ 1366419 w 6321679"/>
                <a:gd name="connsiteY13" fmla="*/ 4997246 h 6521594"/>
                <a:gd name="connsiteX14" fmla="*/ 3601937 w 6321679"/>
                <a:gd name="connsiteY14" fmla="*/ 6284685 h 6521594"/>
                <a:gd name="connsiteX15" fmla="*/ 5298985 w 6321679"/>
                <a:gd name="connsiteY15" fmla="*/ 5492643 h 6521594"/>
                <a:gd name="connsiteX16" fmla="*/ 5505513 w 6321679"/>
                <a:gd name="connsiteY16" fmla="*/ 5335367 h 6521594"/>
                <a:gd name="connsiteX17" fmla="*/ 6252618 w 6321679"/>
                <a:gd name="connsiteY17" fmla="*/ 4722492 h 6521594"/>
                <a:gd name="connsiteX18" fmla="*/ 6321679 w 6321679"/>
                <a:gd name="connsiteY18" fmla="*/ 4651477 h 6521594"/>
                <a:gd name="connsiteX19" fmla="*/ 6321679 w 6321679"/>
                <a:gd name="connsiteY19" fmla="*/ 5523097 h 6521594"/>
                <a:gd name="connsiteX20" fmla="*/ 6024428 w 6321679"/>
                <a:gd name="connsiteY20" fmla="*/ 5754969 h 6521594"/>
                <a:gd name="connsiteX21" fmla="*/ 5702345 w 6321679"/>
                <a:gd name="connsiteY21" fmla="*/ 6000018 h 6521594"/>
                <a:gd name="connsiteX22" fmla="*/ 4988380 w 6321679"/>
                <a:gd name="connsiteY22" fmla="*/ 6506549 h 6521594"/>
                <a:gd name="connsiteX23" fmla="*/ 4961490 w 6321679"/>
                <a:gd name="connsiteY23" fmla="*/ 6521594 h 6521594"/>
                <a:gd name="connsiteX24" fmla="*/ 2011326 w 6321679"/>
                <a:gd name="connsiteY24" fmla="*/ 6521594 h 6521594"/>
                <a:gd name="connsiteX25" fmla="*/ 1982893 w 6321679"/>
                <a:gd name="connsiteY25" fmla="*/ 6505768 h 6521594"/>
                <a:gd name="connsiteX26" fmla="*/ 824149 w 6321679"/>
                <a:gd name="connsiteY26" fmla="*/ 5358682 h 6521594"/>
                <a:gd name="connsiteX27" fmla="*/ 0 w 6321679"/>
                <a:gd name="connsiteY27" fmla="*/ 3630075 h 6521594"/>
                <a:gd name="connsiteX28" fmla="*/ 4150102 w 6321679"/>
                <a:gd name="connsiteY28"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6321679" h="6521594">
                  <a:moveTo>
                    <a:pt x="4150102" y="0"/>
                  </a:moveTo>
                  <a:cubicBezTo>
                    <a:pt x="4918148" y="0"/>
                    <a:pt x="5569597" y="228540"/>
                    <a:pt x="6083891" y="619943"/>
                  </a:cubicBezTo>
                  <a:lnTo>
                    <a:pt x="6321679" y="822247"/>
                  </a:lnTo>
                  <a:lnTo>
                    <a:pt x="6321679" y="1866928"/>
                  </a:lnTo>
                  <a:lnTo>
                    <a:pt x="6212358" y="1689281"/>
                  </a:lnTo>
                  <a:cubicBezTo>
                    <a:pt x="6161484" y="1615222"/>
                    <a:pt x="6107295" y="1544427"/>
                    <a:pt x="6049880" y="1477173"/>
                  </a:cubicBezTo>
                  <a:cubicBezTo>
                    <a:pt x="5825135" y="1214018"/>
                    <a:pt x="5555573" y="1009470"/>
                    <a:pt x="5248663" y="869327"/>
                  </a:cubicBezTo>
                  <a:cubicBezTo>
                    <a:pt x="4921178" y="719909"/>
                    <a:pt x="4551627" y="644042"/>
                    <a:pt x="4150102" y="644042"/>
                  </a:cubicBezTo>
                  <a:cubicBezTo>
                    <a:pt x="3724203" y="644042"/>
                    <a:pt x="3292799" y="725448"/>
                    <a:pt x="2867946" y="886459"/>
                  </a:cubicBezTo>
                  <a:cubicBezTo>
                    <a:pt x="2454234" y="1042832"/>
                    <a:pt x="2060440" y="1273141"/>
                    <a:pt x="1728892" y="1552397"/>
                  </a:cubicBezTo>
                  <a:cubicBezTo>
                    <a:pt x="1391580" y="1836419"/>
                    <a:pt x="1126473" y="2159600"/>
                    <a:pt x="941043" y="2512664"/>
                  </a:cubicBezTo>
                  <a:cubicBezTo>
                    <a:pt x="751551" y="2873583"/>
                    <a:pt x="655362" y="3249575"/>
                    <a:pt x="655362" y="3630204"/>
                  </a:cubicBezTo>
                  <a:cubicBezTo>
                    <a:pt x="655362" y="4013537"/>
                    <a:pt x="808817" y="4237405"/>
                    <a:pt x="1128177" y="4667883"/>
                  </a:cubicBezTo>
                  <a:cubicBezTo>
                    <a:pt x="1205232" y="4771702"/>
                    <a:pt x="1284908" y="4879129"/>
                    <a:pt x="1366419" y="4997246"/>
                  </a:cubicBezTo>
                  <a:cubicBezTo>
                    <a:pt x="1989282" y="5899677"/>
                    <a:pt x="2657880" y="6284685"/>
                    <a:pt x="3601937" y="6284685"/>
                  </a:cubicBezTo>
                  <a:cubicBezTo>
                    <a:pt x="4221523" y="6284685"/>
                    <a:pt x="4676122" y="5971036"/>
                    <a:pt x="5298985" y="5492643"/>
                  </a:cubicBezTo>
                  <a:cubicBezTo>
                    <a:pt x="5368571" y="5439187"/>
                    <a:pt x="5438156" y="5386375"/>
                    <a:pt x="5505513" y="5335367"/>
                  </a:cubicBezTo>
                  <a:cubicBezTo>
                    <a:pt x="5779335" y="5127761"/>
                    <a:pt x="6041730" y="4928776"/>
                    <a:pt x="6252618" y="4722492"/>
                  </a:cubicBezTo>
                  <a:lnTo>
                    <a:pt x="6321679" y="4651477"/>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66409EC-9CC3-482A-A4A5-54ED092B3F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0322" y="353119"/>
              <a:ext cx="6321679" cy="6521594"/>
            </a:xfrm>
            <a:custGeom>
              <a:avLst/>
              <a:gdLst>
                <a:gd name="connsiteX0" fmla="*/ 4150102 w 6321679"/>
                <a:gd name="connsiteY0" fmla="*/ 0 h 6521594"/>
                <a:gd name="connsiteX1" fmla="*/ 6083891 w 6321679"/>
                <a:gd name="connsiteY1" fmla="*/ 619943 h 6521594"/>
                <a:gd name="connsiteX2" fmla="*/ 6321679 w 6321679"/>
                <a:gd name="connsiteY2" fmla="*/ 822247 h 6521594"/>
                <a:gd name="connsiteX3" fmla="*/ 6321679 w 6321679"/>
                <a:gd name="connsiteY3" fmla="*/ 2150195 h 6521594"/>
                <a:gd name="connsiteX4" fmla="*/ 6241288 w 6321679"/>
                <a:gd name="connsiteY4" fmla="*/ 1985338 h 6521594"/>
                <a:gd name="connsiteX5" fmla="*/ 5949367 w 6321679"/>
                <a:gd name="connsiteY5" fmla="*/ 1559997 h 6521594"/>
                <a:gd name="connsiteX6" fmla="*/ 5193362 w 6321679"/>
                <a:gd name="connsiteY6" fmla="*/ 986156 h 6521594"/>
                <a:gd name="connsiteX7" fmla="*/ 4150102 w 6321679"/>
                <a:gd name="connsiteY7" fmla="*/ 772850 h 6521594"/>
                <a:gd name="connsiteX8" fmla="*/ 2914861 w 6321679"/>
                <a:gd name="connsiteY8" fmla="*/ 1006637 h 6521594"/>
                <a:gd name="connsiteX9" fmla="*/ 1814073 w 6321679"/>
                <a:gd name="connsiteY9" fmla="*/ 1650163 h 6521594"/>
                <a:gd name="connsiteX10" fmla="*/ 1057412 w 6321679"/>
                <a:gd name="connsiteY10" fmla="*/ 2571657 h 6521594"/>
                <a:gd name="connsiteX11" fmla="*/ 786277 w 6321679"/>
                <a:gd name="connsiteY11" fmla="*/ 3630204 h 6521594"/>
                <a:gd name="connsiteX12" fmla="*/ 1233931 w 6321679"/>
                <a:gd name="connsiteY12" fmla="*/ 4592016 h 6521594"/>
                <a:gd name="connsiteX13" fmla="*/ 1474795 w 6321679"/>
                <a:gd name="connsiteY13" fmla="*/ 4924985 h 6521594"/>
                <a:gd name="connsiteX14" fmla="*/ 2393691 w 6321679"/>
                <a:gd name="connsiteY14" fmla="*/ 5846995 h 6521594"/>
                <a:gd name="connsiteX15" fmla="*/ 3601805 w 6321679"/>
                <a:gd name="connsiteY15" fmla="*/ 6155876 h 6521594"/>
                <a:gd name="connsiteX16" fmla="*/ 4378909 w 6321679"/>
                <a:gd name="connsiteY16" fmla="*/ 5959186 h 6521594"/>
                <a:gd name="connsiteX17" fmla="*/ 5218129 w 6321679"/>
                <a:gd name="connsiteY17" fmla="*/ 5391271 h 6521594"/>
                <a:gd name="connsiteX18" fmla="*/ 5425313 w 6321679"/>
                <a:gd name="connsiteY18" fmla="*/ 5233481 h 6521594"/>
                <a:gd name="connsiteX19" fmla="*/ 6254366 w 6321679"/>
                <a:gd name="connsiteY19" fmla="*/ 4534301 h 6521594"/>
                <a:gd name="connsiteX20" fmla="*/ 6321679 w 6321679"/>
                <a:gd name="connsiteY20" fmla="*/ 4456641 h 6521594"/>
                <a:gd name="connsiteX21" fmla="*/ 6321679 w 6321679"/>
                <a:gd name="connsiteY21" fmla="*/ 5523097 h 6521594"/>
                <a:gd name="connsiteX22" fmla="*/ 6024428 w 6321679"/>
                <a:gd name="connsiteY22" fmla="*/ 5754969 h 6521594"/>
                <a:gd name="connsiteX23" fmla="*/ 5702345 w 6321679"/>
                <a:gd name="connsiteY23" fmla="*/ 6000018 h 6521594"/>
                <a:gd name="connsiteX24" fmla="*/ 4988380 w 6321679"/>
                <a:gd name="connsiteY24" fmla="*/ 6506549 h 6521594"/>
                <a:gd name="connsiteX25" fmla="*/ 4961490 w 6321679"/>
                <a:gd name="connsiteY25" fmla="*/ 6521594 h 6521594"/>
                <a:gd name="connsiteX26" fmla="*/ 2011326 w 6321679"/>
                <a:gd name="connsiteY26" fmla="*/ 6521594 h 6521594"/>
                <a:gd name="connsiteX27" fmla="*/ 1982893 w 6321679"/>
                <a:gd name="connsiteY27" fmla="*/ 6505768 h 6521594"/>
                <a:gd name="connsiteX28" fmla="*/ 824149 w 6321679"/>
                <a:gd name="connsiteY28" fmla="*/ 5358682 h 6521594"/>
                <a:gd name="connsiteX29" fmla="*/ 0 w 6321679"/>
                <a:gd name="connsiteY29" fmla="*/ 3630075 h 6521594"/>
                <a:gd name="connsiteX30" fmla="*/ 4150102 w 6321679"/>
                <a:gd name="connsiteY30" fmla="*/ 0 h 6521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321679" h="6521594">
                  <a:moveTo>
                    <a:pt x="4150102" y="0"/>
                  </a:moveTo>
                  <a:cubicBezTo>
                    <a:pt x="4918148" y="0"/>
                    <a:pt x="5569597" y="228540"/>
                    <a:pt x="6083891" y="619943"/>
                  </a:cubicBezTo>
                  <a:lnTo>
                    <a:pt x="6321679" y="822247"/>
                  </a:lnTo>
                  <a:lnTo>
                    <a:pt x="6321679" y="2150195"/>
                  </a:lnTo>
                  <a:lnTo>
                    <a:pt x="6241288" y="1985338"/>
                  </a:lnTo>
                  <a:cubicBezTo>
                    <a:pt x="6156788" y="1831195"/>
                    <a:pt x="6059249" y="1688709"/>
                    <a:pt x="5949367" y="1559997"/>
                  </a:cubicBezTo>
                  <a:cubicBezTo>
                    <a:pt x="5737073" y="1311397"/>
                    <a:pt x="5482843" y="1118314"/>
                    <a:pt x="5193362" y="986156"/>
                  </a:cubicBezTo>
                  <a:cubicBezTo>
                    <a:pt x="4883437" y="844596"/>
                    <a:pt x="4532365" y="772850"/>
                    <a:pt x="4150102" y="772850"/>
                  </a:cubicBezTo>
                  <a:cubicBezTo>
                    <a:pt x="3746218" y="772850"/>
                    <a:pt x="3319008" y="853613"/>
                    <a:pt x="2914861" y="1006637"/>
                  </a:cubicBezTo>
                  <a:cubicBezTo>
                    <a:pt x="2515039" y="1157857"/>
                    <a:pt x="2134350" y="1380438"/>
                    <a:pt x="1814073" y="1650163"/>
                  </a:cubicBezTo>
                  <a:cubicBezTo>
                    <a:pt x="1494190" y="1919502"/>
                    <a:pt x="1232622" y="2238173"/>
                    <a:pt x="1057412" y="2571657"/>
                  </a:cubicBezTo>
                  <a:cubicBezTo>
                    <a:pt x="877486" y="2914158"/>
                    <a:pt x="786277" y="3270313"/>
                    <a:pt x="786277" y="3630204"/>
                  </a:cubicBezTo>
                  <a:cubicBezTo>
                    <a:pt x="786277" y="3974121"/>
                    <a:pt x="923483" y="4173646"/>
                    <a:pt x="1233931" y="4592016"/>
                  </a:cubicBezTo>
                  <a:cubicBezTo>
                    <a:pt x="1311641" y="4696736"/>
                    <a:pt x="1391972" y="4805064"/>
                    <a:pt x="1474795" y="4924985"/>
                  </a:cubicBezTo>
                  <a:cubicBezTo>
                    <a:pt x="1767682" y="5349278"/>
                    <a:pt x="2068172" y="5650948"/>
                    <a:pt x="2393691" y="5846995"/>
                  </a:cubicBezTo>
                  <a:cubicBezTo>
                    <a:pt x="2738735" y="6054891"/>
                    <a:pt x="3133971" y="6155876"/>
                    <a:pt x="3601805" y="6155876"/>
                  </a:cubicBezTo>
                  <a:cubicBezTo>
                    <a:pt x="3867305" y="6155876"/>
                    <a:pt x="4114196" y="6093405"/>
                    <a:pt x="4378909" y="5959186"/>
                  </a:cubicBezTo>
                  <a:cubicBezTo>
                    <a:pt x="4650699" y="5821362"/>
                    <a:pt x="4919737" y="5620421"/>
                    <a:pt x="5218129" y="5391271"/>
                  </a:cubicBezTo>
                  <a:cubicBezTo>
                    <a:pt x="5288107" y="5337558"/>
                    <a:pt x="5357824" y="5284617"/>
                    <a:pt x="5425313" y="5233481"/>
                  </a:cubicBezTo>
                  <a:cubicBezTo>
                    <a:pt x="5739037" y="4995556"/>
                    <a:pt x="6037512" y="4769168"/>
                    <a:pt x="6254366" y="4534301"/>
                  </a:cubicBezTo>
                  <a:lnTo>
                    <a:pt x="6321679" y="4456641"/>
                  </a:lnTo>
                  <a:lnTo>
                    <a:pt x="6321679" y="5523097"/>
                  </a:lnTo>
                  <a:lnTo>
                    <a:pt x="6024428" y="5754969"/>
                  </a:lnTo>
                  <a:cubicBezTo>
                    <a:pt x="5918395" y="5835747"/>
                    <a:pt x="5810491" y="5916953"/>
                    <a:pt x="5702345" y="6000018"/>
                  </a:cubicBezTo>
                  <a:cubicBezTo>
                    <a:pt x="5466020" y="6181541"/>
                    <a:pt x="5232938" y="6357503"/>
                    <a:pt x="4988380" y="6506549"/>
                  </a:cubicBezTo>
                  <a:lnTo>
                    <a:pt x="4961490" y="6521594"/>
                  </a:lnTo>
                  <a:lnTo>
                    <a:pt x="2011326" y="6521594"/>
                  </a:lnTo>
                  <a:lnTo>
                    <a:pt x="1982893" y="6505768"/>
                  </a:lnTo>
                  <a:cubicBezTo>
                    <a:pt x="1531799" y="6233999"/>
                    <a:pt x="1157400" y="5841520"/>
                    <a:pt x="824149" y="5358682"/>
                  </a:cubicBezTo>
                  <a:cubicBezTo>
                    <a:pt x="424196" y="4779302"/>
                    <a:pt x="0" y="4381929"/>
                    <a:pt x="0" y="3630075"/>
                  </a:cubicBezTo>
                  <a:cubicBezTo>
                    <a:pt x="0" y="1625174"/>
                    <a:pt x="2089794" y="0"/>
                    <a:pt x="4150102"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Group">
            <a:extLst>
              <a:ext uri="{FF2B5EF4-FFF2-40B4-BE49-F238E27FC236}">
                <a16:creationId xmlns:a16="http://schemas.microsoft.com/office/drawing/2014/main" id="{F0C7F6D0-42A9-71AB-47D4-A0D189AD146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08392" y="1819656"/>
            <a:ext cx="4142232" cy="4142232"/>
          </a:xfrm>
          <a:prstGeom prst="rect">
            <a:avLst/>
          </a:prstGeom>
        </p:spPr>
      </p:pic>
    </p:spTree>
    <p:extLst>
      <p:ext uri="{BB962C8B-B14F-4D97-AF65-F5344CB8AC3E}">
        <p14:creationId xmlns:p14="http://schemas.microsoft.com/office/powerpoint/2010/main" val="38860928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0DFA0FD-AB28-4B25-B870-4D2BBC35BA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32D5807-4472-C6CE-BAD6-8D34456FC6FC}"/>
              </a:ext>
            </a:extLst>
          </p:cNvPr>
          <p:cNvPicPr>
            <a:picLocks noChangeAspect="1"/>
          </p:cNvPicPr>
          <p:nvPr/>
        </p:nvPicPr>
        <p:blipFill rotWithShape="1">
          <a:blip r:embed="rId2">
            <a:alphaModFix/>
          </a:blip>
          <a:srcRect l="24761" r="22794"/>
          <a:stretch/>
        </p:blipFill>
        <p:spPr>
          <a:xfrm>
            <a:off x="5833976" y="10"/>
            <a:ext cx="6394152" cy="6857990"/>
          </a:xfrm>
          <a:prstGeom prst="rect">
            <a:avLst/>
          </a:prstGeom>
        </p:spPr>
      </p:pic>
      <p:grpSp>
        <p:nvGrpSpPr>
          <p:cNvPr id="11" name="Group 10">
            <a:extLst>
              <a:ext uri="{FF2B5EF4-FFF2-40B4-BE49-F238E27FC236}">
                <a16:creationId xmlns:a16="http://schemas.microsoft.com/office/drawing/2014/main" id="{0D628DFB-9CD1-4E2B-8B44-9FDF7E80F6D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79564" y="0"/>
            <a:ext cx="6648564" cy="6858000"/>
            <a:chOff x="5705128" y="0"/>
            <a:chExt cx="6648564" cy="6858000"/>
          </a:xfrm>
        </p:grpSpPr>
        <p:sp>
          <p:nvSpPr>
            <p:cNvPr id="12" name="Freeform: Shape 11">
              <a:extLst>
                <a:ext uri="{FF2B5EF4-FFF2-40B4-BE49-F238E27FC236}">
                  <a16:creationId xmlns:a16="http://schemas.microsoft.com/office/drawing/2014/main" id="{4CB07514-66C4-498E-85FA-6CCDFB2531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68018" y="0"/>
              <a:ext cx="6485674" cy="6858000"/>
            </a:xfrm>
            <a:custGeom>
              <a:avLst/>
              <a:gdLst>
                <a:gd name="connsiteX0" fmla="*/ 1720317 w 6237794"/>
                <a:gd name="connsiteY0" fmla="*/ 0 h 6858000"/>
                <a:gd name="connsiteX1" fmla="*/ 2433560 w 6237794"/>
                <a:gd name="connsiteY1" fmla="*/ 0 h 6858000"/>
                <a:gd name="connsiteX2" fmla="*/ 2351473 w 6237794"/>
                <a:gd name="connsiteY2" fmla="*/ 41605 h 6858000"/>
                <a:gd name="connsiteX3" fmla="*/ 1473152 w 6237794"/>
                <a:gd name="connsiteY3" fmla="*/ 667521 h 6858000"/>
                <a:gd name="connsiteX4" fmla="*/ 982876 w 6237794"/>
                <a:gd name="connsiteY4" fmla="*/ 1193803 h 6858000"/>
                <a:gd name="connsiteX5" fmla="*/ 595242 w 6237794"/>
                <a:gd name="connsiteY5" fmla="*/ 1798192 h 6858000"/>
                <a:gd name="connsiteX6" fmla="*/ 332174 w 6237794"/>
                <a:gd name="connsiteY6" fmla="*/ 2466315 h 6858000"/>
                <a:gd name="connsiteX7" fmla="*/ 236500 w 6237794"/>
                <a:gd name="connsiteY7" fmla="*/ 3178573 h 6858000"/>
                <a:gd name="connsiteX8" fmla="*/ 276860 w 6237794"/>
                <a:gd name="connsiteY8" fmla="*/ 3527298 h 6858000"/>
                <a:gd name="connsiteX9" fmla="*/ 396054 w 6237794"/>
                <a:gd name="connsiteY9" fmla="*/ 3853520 h 6858000"/>
                <a:gd name="connsiteX10" fmla="*/ 479243 w 6237794"/>
                <a:gd name="connsiteY10" fmla="*/ 4007121 h 6858000"/>
                <a:gd name="connsiteX11" fmla="*/ 574772 w 6237794"/>
                <a:gd name="connsiteY11" fmla="*/ 4155787 h 6858000"/>
                <a:gd name="connsiteX12" fmla="*/ 795447 w 6237794"/>
                <a:gd name="connsiteY12" fmla="*/ 4443100 h 6858000"/>
                <a:gd name="connsiteX13" fmla="*/ 1034270 w 6237794"/>
                <a:gd name="connsiteY13" fmla="*/ 4732591 h 6858000"/>
                <a:gd name="connsiteX14" fmla="*/ 1153028 w 6237794"/>
                <a:gd name="connsiteY14" fmla="*/ 4883725 h 6858000"/>
                <a:gd name="connsiteX15" fmla="*/ 1210084 w 6237794"/>
                <a:gd name="connsiteY15" fmla="*/ 4957912 h 6858000"/>
                <a:gd name="connsiteX16" fmla="*/ 1265979 w 6237794"/>
                <a:gd name="connsiteY16" fmla="*/ 5028906 h 6858000"/>
                <a:gd name="connsiteX17" fmla="*/ 1746238 w 6237794"/>
                <a:gd name="connsiteY17" fmla="*/ 5553590 h 6858000"/>
                <a:gd name="connsiteX18" fmla="*/ 2001611 w 6237794"/>
                <a:gd name="connsiteY18" fmla="*/ 5789654 h 6858000"/>
                <a:gd name="connsiteX19" fmla="*/ 2269035 w 6237794"/>
                <a:gd name="connsiteY19" fmla="*/ 6007280 h 6858000"/>
                <a:gd name="connsiteX20" fmla="*/ 2866455 w 6237794"/>
                <a:gd name="connsiteY20" fmla="*/ 6351505 h 6858000"/>
                <a:gd name="connsiteX21" fmla="*/ 3200661 w 6237794"/>
                <a:gd name="connsiteY21" fmla="*/ 6448777 h 6858000"/>
                <a:gd name="connsiteX22" fmla="*/ 3286318 w 6237794"/>
                <a:gd name="connsiteY22" fmla="*/ 6465908 h 6858000"/>
                <a:gd name="connsiteX23" fmla="*/ 3372701 w 6237794"/>
                <a:gd name="connsiteY23" fmla="*/ 6480281 h 6858000"/>
                <a:gd name="connsiteX24" fmla="*/ 3547063 w 6237794"/>
                <a:gd name="connsiteY24" fmla="*/ 6500896 h 6858000"/>
                <a:gd name="connsiteX25" fmla="*/ 3634753 w 6237794"/>
                <a:gd name="connsiteY25" fmla="*/ 6507575 h 6858000"/>
                <a:gd name="connsiteX26" fmla="*/ 3722733 w 6237794"/>
                <a:gd name="connsiteY26" fmla="*/ 6512221 h 6858000"/>
                <a:gd name="connsiteX27" fmla="*/ 3811003 w 6237794"/>
                <a:gd name="connsiteY27" fmla="*/ 6514253 h 6858000"/>
                <a:gd name="connsiteX28" fmla="*/ 3899418 w 6237794"/>
                <a:gd name="connsiteY28" fmla="*/ 6513817 h 6858000"/>
                <a:gd name="connsiteX29" fmla="*/ 3943698 w 6237794"/>
                <a:gd name="connsiteY29" fmla="*/ 6513381 h 6858000"/>
                <a:gd name="connsiteX30" fmla="*/ 3986381 w 6237794"/>
                <a:gd name="connsiteY30" fmla="*/ 6511495 h 6858000"/>
                <a:gd name="connsiteX31" fmla="*/ 4028919 w 6237794"/>
                <a:gd name="connsiteY31" fmla="*/ 6509317 h 6858000"/>
                <a:gd name="connsiteX32" fmla="*/ 4071312 w 6237794"/>
                <a:gd name="connsiteY32" fmla="*/ 6505833 h 6858000"/>
                <a:gd name="connsiteX33" fmla="*/ 4239432 w 6237794"/>
                <a:gd name="connsiteY33" fmla="*/ 6485072 h 6858000"/>
                <a:gd name="connsiteX34" fmla="*/ 4879826 w 6237794"/>
                <a:gd name="connsiteY34" fmla="*/ 6274849 h 6858000"/>
                <a:gd name="connsiteX35" fmla="*/ 5471439 w 6237794"/>
                <a:gd name="connsiteY35" fmla="*/ 5906235 h 6858000"/>
                <a:gd name="connsiteX36" fmla="*/ 5614877 w 6237794"/>
                <a:gd name="connsiteY36" fmla="*/ 5797930 h 6858000"/>
                <a:gd name="connsiteX37" fmla="*/ 5758316 w 6237794"/>
                <a:gd name="connsiteY37" fmla="*/ 5685995 h 6858000"/>
                <a:gd name="connsiteX38" fmla="*/ 6048824 w 6237794"/>
                <a:gd name="connsiteY38" fmla="*/ 5453705 h 6858000"/>
                <a:gd name="connsiteX39" fmla="*/ 6237794 w 6237794"/>
                <a:gd name="connsiteY39" fmla="*/ 5308644 h 6858000"/>
                <a:gd name="connsiteX40" fmla="*/ 6237794 w 6237794"/>
                <a:gd name="connsiteY40" fmla="*/ 6081399 h 6858000"/>
                <a:gd name="connsiteX41" fmla="*/ 6123011 w 6237794"/>
                <a:gd name="connsiteY41" fmla="*/ 6166399 h 6858000"/>
                <a:gd name="connsiteX42" fmla="*/ 5965925 w 6237794"/>
                <a:gd name="connsiteY42" fmla="*/ 6278479 h 6858000"/>
                <a:gd name="connsiteX43" fmla="*/ 5803903 w 6237794"/>
                <a:gd name="connsiteY43" fmla="*/ 6387364 h 6858000"/>
                <a:gd name="connsiteX44" fmla="*/ 5463744 w 6237794"/>
                <a:gd name="connsiteY44" fmla="*/ 6591780 h 6858000"/>
                <a:gd name="connsiteX45" fmla="*/ 5097888 w 6237794"/>
                <a:gd name="connsiteY45" fmla="*/ 6765562 h 6858000"/>
                <a:gd name="connsiteX46" fmla="*/ 4905602 w 6237794"/>
                <a:gd name="connsiteY46" fmla="*/ 6836446 h 6858000"/>
                <a:gd name="connsiteX47" fmla="*/ 4831447 w 6237794"/>
                <a:gd name="connsiteY47" fmla="*/ 6858000 h 6858000"/>
                <a:gd name="connsiteX48" fmla="*/ 3036485 w 6237794"/>
                <a:gd name="connsiteY48" fmla="*/ 6858000 h 6858000"/>
                <a:gd name="connsiteX49" fmla="*/ 2911533 w 6237794"/>
                <a:gd name="connsiteY49" fmla="*/ 6825558 h 6858000"/>
                <a:gd name="connsiteX50" fmla="*/ 2719386 w 6237794"/>
                <a:gd name="connsiteY50" fmla="*/ 6767158 h 6858000"/>
                <a:gd name="connsiteX51" fmla="*/ 1980415 w 6237794"/>
                <a:gd name="connsiteY51" fmla="*/ 6440210 h 6858000"/>
                <a:gd name="connsiteX52" fmla="*/ 1357588 w 6237794"/>
                <a:gd name="connsiteY52" fmla="*/ 5931206 h 6858000"/>
                <a:gd name="connsiteX53" fmla="*/ 1105118 w 6237794"/>
                <a:gd name="connsiteY53" fmla="*/ 5624874 h 6858000"/>
                <a:gd name="connsiteX54" fmla="*/ 884588 w 6237794"/>
                <a:gd name="connsiteY54" fmla="*/ 5300539 h 6858000"/>
                <a:gd name="connsiteX55" fmla="*/ 833049 w 6237794"/>
                <a:gd name="connsiteY55" fmla="*/ 5217931 h 6858000"/>
                <a:gd name="connsiteX56" fmla="*/ 783833 w 6237794"/>
                <a:gd name="connsiteY56" fmla="*/ 5137791 h 6858000"/>
                <a:gd name="connsiteX57" fmla="*/ 686706 w 6237794"/>
                <a:gd name="connsiteY57" fmla="*/ 4982447 h 6858000"/>
                <a:gd name="connsiteX58" fmla="*/ 485485 w 6237794"/>
                <a:gd name="connsiteY58" fmla="*/ 4665082 h 6858000"/>
                <a:gd name="connsiteX59" fmla="*/ 289055 w 6237794"/>
                <a:gd name="connsiteY59" fmla="*/ 4329568 h 6858000"/>
                <a:gd name="connsiteX60" fmla="*/ 200495 w 6237794"/>
                <a:gd name="connsiteY60" fmla="*/ 4151721 h 6858000"/>
                <a:gd name="connsiteX61" fmla="*/ 125291 w 6237794"/>
                <a:gd name="connsiteY61" fmla="*/ 3965600 h 6858000"/>
                <a:gd name="connsiteX62" fmla="*/ 67654 w 6237794"/>
                <a:gd name="connsiteY62" fmla="*/ 3772509 h 6858000"/>
                <a:gd name="connsiteX63" fmla="*/ 46168 w 6237794"/>
                <a:gd name="connsiteY63" fmla="*/ 3674076 h 6858000"/>
                <a:gd name="connsiteX64" fmla="*/ 36731 w 6237794"/>
                <a:gd name="connsiteY64" fmla="*/ 3624714 h 6858000"/>
                <a:gd name="connsiteX65" fmla="*/ 28891 w 6237794"/>
                <a:gd name="connsiteY65" fmla="*/ 3575208 h 6858000"/>
                <a:gd name="connsiteX66" fmla="*/ 0 w 6237794"/>
                <a:gd name="connsiteY66" fmla="*/ 3178573 h 6858000"/>
                <a:gd name="connsiteX67" fmla="*/ 80575 w 6237794"/>
                <a:gd name="connsiteY67" fmla="*/ 2405774 h 6858000"/>
                <a:gd name="connsiteX68" fmla="*/ 322737 w 6237794"/>
                <a:gd name="connsiteY68" fmla="*/ 1665351 h 6858000"/>
                <a:gd name="connsiteX69" fmla="*/ 1230700 w 6237794"/>
                <a:gd name="connsiteY69" fmla="*/ 407938 h 6858000"/>
                <a:gd name="connsiteX70" fmla="*/ 1521825 w 6237794"/>
                <a:gd name="connsiteY70" fmla="*/ 1494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6237794" h="6858000">
                  <a:moveTo>
                    <a:pt x="1720317" y="0"/>
                  </a:moveTo>
                  <a:lnTo>
                    <a:pt x="2433560" y="0"/>
                  </a:lnTo>
                  <a:lnTo>
                    <a:pt x="2351473" y="41605"/>
                  </a:lnTo>
                  <a:cubicBezTo>
                    <a:pt x="2036528" y="216271"/>
                    <a:pt x="1740794" y="426339"/>
                    <a:pt x="1473152" y="667521"/>
                  </a:cubicBezTo>
                  <a:cubicBezTo>
                    <a:pt x="1295305" y="828818"/>
                    <a:pt x="1130525" y="1004777"/>
                    <a:pt x="982876" y="1193803"/>
                  </a:cubicBezTo>
                  <a:cubicBezTo>
                    <a:pt x="834936" y="1382538"/>
                    <a:pt x="704418" y="1584921"/>
                    <a:pt x="595242" y="1798192"/>
                  </a:cubicBezTo>
                  <a:cubicBezTo>
                    <a:pt x="486066" y="2011317"/>
                    <a:pt x="395183" y="2234461"/>
                    <a:pt x="332174" y="2466315"/>
                  </a:cubicBezTo>
                  <a:cubicBezTo>
                    <a:pt x="269166" y="2697588"/>
                    <a:pt x="236355" y="2938008"/>
                    <a:pt x="236500" y="3178573"/>
                  </a:cubicBezTo>
                  <a:cubicBezTo>
                    <a:pt x="237807" y="3296751"/>
                    <a:pt x="249421" y="3414057"/>
                    <a:pt x="276860" y="3527298"/>
                  </a:cubicBezTo>
                  <a:cubicBezTo>
                    <a:pt x="303864" y="3640684"/>
                    <a:pt x="345821" y="3749135"/>
                    <a:pt x="396054" y="3853520"/>
                  </a:cubicBezTo>
                  <a:cubicBezTo>
                    <a:pt x="421461" y="3905640"/>
                    <a:pt x="449626" y="3956743"/>
                    <a:pt x="479243" y="4007121"/>
                  </a:cubicBezTo>
                  <a:cubicBezTo>
                    <a:pt x="509295" y="4057354"/>
                    <a:pt x="541380" y="4106861"/>
                    <a:pt x="574772" y="4155787"/>
                  </a:cubicBezTo>
                  <a:cubicBezTo>
                    <a:pt x="642426" y="4253348"/>
                    <a:pt x="717630" y="4348007"/>
                    <a:pt x="795447" y="4443100"/>
                  </a:cubicBezTo>
                  <a:cubicBezTo>
                    <a:pt x="873264" y="4538339"/>
                    <a:pt x="954565" y="4633577"/>
                    <a:pt x="1034270" y="4732591"/>
                  </a:cubicBezTo>
                  <a:cubicBezTo>
                    <a:pt x="1074195" y="4781952"/>
                    <a:pt x="1113684" y="4832476"/>
                    <a:pt x="1153028" y="4883725"/>
                  </a:cubicBezTo>
                  <a:lnTo>
                    <a:pt x="1210084" y="4957912"/>
                  </a:lnTo>
                  <a:cubicBezTo>
                    <a:pt x="1228813" y="4981576"/>
                    <a:pt x="1246670" y="5005822"/>
                    <a:pt x="1265979" y="5028906"/>
                  </a:cubicBezTo>
                  <a:cubicBezTo>
                    <a:pt x="1416677" y="5216770"/>
                    <a:pt x="1580151" y="5389681"/>
                    <a:pt x="1746238" y="5553590"/>
                  </a:cubicBezTo>
                  <a:cubicBezTo>
                    <a:pt x="1829717" y="5635182"/>
                    <a:pt x="1914648" y="5714015"/>
                    <a:pt x="2001611" y="5789654"/>
                  </a:cubicBezTo>
                  <a:cubicBezTo>
                    <a:pt x="2088575" y="5865293"/>
                    <a:pt x="2177135" y="5938465"/>
                    <a:pt x="2269035" y="6007280"/>
                  </a:cubicBezTo>
                  <a:cubicBezTo>
                    <a:pt x="2452108" y="6145202"/>
                    <a:pt x="2649554" y="6268461"/>
                    <a:pt x="2866455" y="6351505"/>
                  </a:cubicBezTo>
                  <a:cubicBezTo>
                    <a:pt x="2974615" y="6393027"/>
                    <a:pt x="3086694" y="6424821"/>
                    <a:pt x="3200661" y="6448777"/>
                  </a:cubicBezTo>
                  <a:cubicBezTo>
                    <a:pt x="3229262" y="6454438"/>
                    <a:pt x="3257572" y="6460971"/>
                    <a:pt x="3286318" y="6465908"/>
                  </a:cubicBezTo>
                  <a:lnTo>
                    <a:pt x="3372701" y="6480281"/>
                  </a:lnTo>
                  <a:cubicBezTo>
                    <a:pt x="3430628" y="6487975"/>
                    <a:pt x="3488556" y="6496106"/>
                    <a:pt x="3547063" y="6500896"/>
                  </a:cubicBezTo>
                  <a:cubicBezTo>
                    <a:pt x="3576245" y="6503654"/>
                    <a:pt x="3605426" y="6506268"/>
                    <a:pt x="3634753" y="6507575"/>
                  </a:cubicBezTo>
                  <a:cubicBezTo>
                    <a:pt x="3664079" y="6509026"/>
                    <a:pt x="3693261" y="6511350"/>
                    <a:pt x="3722733" y="6512221"/>
                  </a:cubicBezTo>
                  <a:lnTo>
                    <a:pt x="3811003" y="6514253"/>
                  </a:lnTo>
                  <a:cubicBezTo>
                    <a:pt x="3840329" y="6514979"/>
                    <a:pt x="3869946" y="6513963"/>
                    <a:pt x="3899418" y="6513817"/>
                  </a:cubicBezTo>
                  <a:lnTo>
                    <a:pt x="3943698" y="6513381"/>
                  </a:lnTo>
                  <a:cubicBezTo>
                    <a:pt x="3958071" y="6512946"/>
                    <a:pt x="3972154" y="6512075"/>
                    <a:pt x="3986381" y="6511495"/>
                  </a:cubicBezTo>
                  <a:cubicBezTo>
                    <a:pt x="4000609" y="6510768"/>
                    <a:pt x="4014837" y="6510333"/>
                    <a:pt x="4028919" y="6509317"/>
                  </a:cubicBezTo>
                  <a:lnTo>
                    <a:pt x="4071312" y="6505833"/>
                  </a:lnTo>
                  <a:cubicBezTo>
                    <a:pt x="4127788" y="6501332"/>
                    <a:pt x="4183828" y="6493782"/>
                    <a:pt x="4239432" y="6485072"/>
                  </a:cubicBezTo>
                  <a:cubicBezTo>
                    <a:pt x="4461994" y="6448195"/>
                    <a:pt x="4675992" y="6376041"/>
                    <a:pt x="4879826" y="6274849"/>
                  </a:cubicBezTo>
                  <a:cubicBezTo>
                    <a:pt x="5084386" y="6174820"/>
                    <a:pt x="5279074" y="6046770"/>
                    <a:pt x="5471439" y="5906235"/>
                  </a:cubicBezTo>
                  <a:cubicBezTo>
                    <a:pt x="5519494" y="5871246"/>
                    <a:pt x="5567258" y="5834806"/>
                    <a:pt x="5614877" y="5797930"/>
                  </a:cubicBezTo>
                  <a:cubicBezTo>
                    <a:pt x="5662787" y="5761199"/>
                    <a:pt x="5710551" y="5723887"/>
                    <a:pt x="5758316" y="5685995"/>
                  </a:cubicBezTo>
                  <a:lnTo>
                    <a:pt x="6048824" y="5453705"/>
                  </a:lnTo>
                  <a:lnTo>
                    <a:pt x="6237794" y="5308644"/>
                  </a:lnTo>
                  <a:lnTo>
                    <a:pt x="6237794" y="6081399"/>
                  </a:lnTo>
                  <a:lnTo>
                    <a:pt x="6123011" y="6166399"/>
                  </a:lnTo>
                  <a:cubicBezTo>
                    <a:pt x="6071326" y="6204001"/>
                    <a:pt x="6019061" y="6241458"/>
                    <a:pt x="5965925" y="6278479"/>
                  </a:cubicBezTo>
                  <a:cubicBezTo>
                    <a:pt x="5912644" y="6315210"/>
                    <a:pt x="5858927" y="6351650"/>
                    <a:pt x="5803903" y="6387364"/>
                  </a:cubicBezTo>
                  <a:cubicBezTo>
                    <a:pt x="5694437" y="6458938"/>
                    <a:pt x="5581486" y="6528335"/>
                    <a:pt x="5463744" y="6591780"/>
                  </a:cubicBezTo>
                  <a:cubicBezTo>
                    <a:pt x="5346147" y="6655514"/>
                    <a:pt x="5224486" y="6714748"/>
                    <a:pt x="5097888" y="6765562"/>
                  </a:cubicBezTo>
                  <a:cubicBezTo>
                    <a:pt x="5034879" y="6791332"/>
                    <a:pt x="4970700" y="6815005"/>
                    <a:pt x="4905602" y="6836446"/>
                  </a:cubicBezTo>
                  <a:lnTo>
                    <a:pt x="4831447" y="6858000"/>
                  </a:lnTo>
                  <a:lnTo>
                    <a:pt x="3036485" y="6858000"/>
                  </a:lnTo>
                  <a:lnTo>
                    <a:pt x="2911533" y="6825558"/>
                  </a:lnTo>
                  <a:cubicBezTo>
                    <a:pt x="2847182" y="6807410"/>
                    <a:pt x="2783121" y="6787919"/>
                    <a:pt x="2719386" y="6767158"/>
                  </a:cubicBezTo>
                  <a:cubicBezTo>
                    <a:pt x="2464884" y="6683389"/>
                    <a:pt x="2213285" y="6579149"/>
                    <a:pt x="1980415" y="6440210"/>
                  </a:cubicBezTo>
                  <a:cubicBezTo>
                    <a:pt x="1747399" y="6301563"/>
                    <a:pt x="1539355" y="6125749"/>
                    <a:pt x="1357588" y="5931206"/>
                  </a:cubicBezTo>
                  <a:cubicBezTo>
                    <a:pt x="1266269" y="5834080"/>
                    <a:pt x="1183226" y="5730711"/>
                    <a:pt x="1105118" y="5624874"/>
                  </a:cubicBezTo>
                  <a:cubicBezTo>
                    <a:pt x="1027446" y="5518601"/>
                    <a:pt x="953549" y="5410732"/>
                    <a:pt x="884588" y="5300539"/>
                  </a:cubicBezTo>
                  <a:cubicBezTo>
                    <a:pt x="866876" y="5273245"/>
                    <a:pt x="850180" y="5245516"/>
                    <a:pt x="833049" y="5217931"/>
                  </a:cubicBezTo>
                  <a:lnTo>
                    <a:pt x="783833" y="5137791"/>
                  </a:lnTo>
                  <a:cubicBezTo>
                    <a:pt x="752328" y="5085962"/>
                    <a:pt x="719662" y="5034567"/>
                    <a:pt x="686706" y="4982447"/>
                  </a:cubicBezTo>
                  <a:lnTo>
                    <a:pt x="485485" y="4665082"/>
                  </a:lnTo>
                  <a:cubicBezTo>
                    <a:pt x="417976" y="4556922"/>
                    <a:pt x="351338" y="4445568"/>
                    <a:pt x="289055" y="4329568"/>
                  </a:cubicBezTo>
                  <a:cubicBezTo>
                    <a:pt x="257987" y="4271496"/>
                    <a:pt x="227934" y="4212408"/>
                    <a:pt x="200495" y="4151721"/>
                  </a:cubicBezTo>
                  <a:cubicBezTo>
                    <a:pt x="173201" y="4090891"/>
                    <a:pt x="147794" y="4028898"/>
                    <a:pt x="125291" y="3965600"/>
                  </a:cubicBezTo>
                  <a:cubicBezTo>
                    <a:pt x="103224" y="3902155"/>
                    <a:pt x="83624" y="3837840"/>
                    <a:pt x="67654" y="3772509"/>
                  </a:cubicBezTo>
                  <a:cubicBezTo>
                    <a:pt x="60105" y="3739843"/>
                    <a:pt x="52410" y="3707032"/>
                    <a:pt x="46168" y="3674076"/>
                  </a:cubicBezTo>
                  <a:lnTo>
                    <a:pt x="36731" y="3624714"/>
                  </a:lnTo>
                  <a:lnTo>
                    <a:pt x="28891" y="3575208"/>
                  </a:lnTo>
                  <a:cubicBezTo>
                    <a:pt x="8566" y="3442948"/>
                    <a:pt x="0" y="3310252"/>
                    <a:pt x="0" y="3178573"/>
                  </a:cubicBezTo>
                  <a:cubicBezTo>
                    <a:pt x="726" y="2919425"/>
                    <a:pt x="27730" y="2660277"/>
                    <a:pt x="80575" y="2405774"/>
                  </a:cubicBezTo>
                  <a:cubicBezTo>
                    <a:pt x="133276" y="2151417"/>
                    <a:pt x="213997" y="1901996"/>
                    <a:pt x="322737" y="1665351"/>
                  </a:cubicBezTo>
                  <a:cubicBezTo>
                    <a:pt x="541235" y="1192061"/>
                    <a:pt x="857875" y="768568"/>
                    <a:pt x="1230700" y="407938"/>
                  </a:cubicBezTo>
                  <a:cubicBezTo>
                    <a:pt x="1324124" y="317781"/>
                    <a:pt x="1421323" y="231579"/>
                    <a:pt x="1521825" y="149443"/>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13BFB38F-216C-4A75-8C1C-DAF998A5CB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634917 w 6230407"/>
                <a:gd name="connsiteY0" fmla="*/ 0 h 6858000"/>
                <a:gd name="connsiteX1" fmla="*/ 6230407 w 6230407"/>
                <a:gd name="connsiteY1" fmla="*/ 0 h 6858000"/>
                <a:gd name="connsiteX2" fmla="*/ 6230407 w 6230407"/>
                <a:gd name="connsiteY2" fmla="*/ 322046 h 6858000"/>
                <a:gd name="connsiteX3" fmla="*/ 6061915 w 6230407"/>
                <a:gd name="connsiteY3" fmla="*/ 206288 h 6858000"/>
                <a:gd name="connsiteX4" fmla="*/ 5814792 w 6230407"/>
                <a:gd name="connsiteY4" fmla="*/ 74312 h 6858000"/>
                <a:gd name="connsiteX5" fmla="*/ 5676576 w 6230407"/>
                <a:gd name="connsiteY5" fmla="*/ 15049 h 6858000"/>
                <a:gd name="connsiteX6" fmla="*/ 1821847 w 6230407"/>
                <a:gd name="connsiteY6" fmla="*/ 0 h 6858000"/>
                <a:gd name="connsiteX7" fmla="*/ 3449591 w 6230407"/>
                <a:gd name="connsiteY7" fmla="*/ 0 h 6858000"/>
                <a:gd name="connsiteX8" fmla="*/ 3354111 w 6230407"/>
                <a:gd name="connsiteY8" fmla="*/ 29819 h 6858000"/>
                <a:gd name="connsiteX9" fmla="*/ 3177287 w 6230407"/>
                <a:gd name="connsiteY9" fmla="*/ 93621 h 6858000"/>
                <a:gd name="connsiteX10" fmla="*/ 1915374 w 6230407"/>
                <a:gd name="connsiteY10" fmla="*/ 844207 h 6858000"/>
                <a:gd name="connsiteX11" fmla="*/ 1042545 w 6230407"/>
                <a:gd name="connsiteY11" fmla="*/ 1926532 h 6858000"/>
                <a:gd name="connsiteX12" fmla="*/ 726050 w 6230407"/>
                <a:gd name="connsiteY12" fmla="*/ 3186123 h 6858000"/>
                <a:gd name="connsiteX13" fmla="*/ 1249864 w 6230407"/>
                <a:gd name="connsiteY13" fmla="*/ 4355701 h 6858000"/>
                <a:gd name="connsiteX14" fmla="*/ 1513803 w 6230407"/>
                <a:gd name="connsiteY14" fmla="*/ 4726929 h 6858000"/>
                <a:gd name="connsiteX15" fmla="*/ 3990446 w 6230407"/>
                <a:gd name="connsiteY15" fmla="*/ 6178014 h 6858000"/>
                <a:gd name="connsiteX16" fmla="*/ 5870541 w 6230407"/>
                <a:gd name="connsiteY16" fmla="*/ 5285296 h 6858000"/>
                <a:gd name="connsiteX17" fmla="*/ 6099347 w 6230407"/>
                <a:gd name="connsiteY17" fmla="*/ 5108030 h 6858000"/>
                <a:gd name="connsiteX18" fmla="*/ 6230407 w 6230407"/>
                <a:gd name="connsiteY18" fmla="*/ 5006078 h 6858000"/>
                <a:gd name="connsiteX19" fmla="*/ 6230407 w 6230407"/>
                <a:gd name="connsiteY19" fmla="*/ 5924458 h 6858000"/>
                <a:gd name="connsiteX20" fmla="*/ 6056186 w 6230407"/>
                <a:gd name="connsiteY20" fmla="*/ 6058925 h 6858000"/>
                <a:gd name="connsiteX21" fmla="*/ 4500343 w 6230407"/>
                <a:gd name="connsiteY21" fmla="*/ 6854086 h 6858000"/>
                <a:gd name="connsiteX22" fmla="*/ 4476760 w 6230407"/>
                <a:gd name="connsiteY22" fmla="*/ 6858000 h 6858000"/>
                <a:gd name="connsiteX23" fmla="*/ 3391617 w 6230407"/>
                <a:gd name="connsiteY23" fmla="*/ 6858000 h 6858000"/>
                <a:gd name="connsiteX24" fmla="*/ 3242986 w 6230407"/>
                <a:gd name="connsiteY24" fmla="*/ 6833894 h 6858000"/>
                <a:gd name="connsiteX25" fmla="*/ 913044 w 6230407"/>
                <a:gd name="connsiteY25" fmla="*/ 5134452 h 6858000"/>
                <a:gd name="connsiteX26" fmla="*/ 0 w 6230407"/>
                <a:gd name="connsiteY26" fmla="*/ 3186123 h 6858000"/>
                <a:gd name="connsiteX27" fmla="*/ 1779764 w 6230407"/>
                <a:gd name="connsiteY27"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230407" h="6858000">
                  <a:moveTo>
                    <a:pt x="5634917" y="0"/>
                  </a:moveTo>
                  <a:lnTo>
                    <a:pt x="6230407" y="0"/>
                  </a:lnTo>
                  <a:lnTo>
                    <a:pt x="6230407" y="322046"/>
                  </a:lnTo>
                  <a:lnTo>
                    <a:pt x="6061915" y="206288"/>
                  </a:lnTo>
                  <a:cubicBezTo>
                    <a:pt x="5982213" y="157828"/>
                    <a:pt x="5899796" y="113801"/>
                    <a:pt x="5814792" y="74312"/>
                  </a:cubicBezTo>
                  <a:cubicBezTo>
                    <a:pt x="5769441" y="53261"/>
                    <a:pt x="5723362" y="33505"/>
                    <a:pt x="5676576" y="15049"/>
                  </a:cubicBezTo>
                  <a:close/>
                  <a:moveTo>
                    <a:pt x="1821847" y="0"/>
                  </a:moveTo>
                  <a:lnTo>
                    <a:pt x="3449591" y="0"/>
                  </a:lnTo>
                  <a:lnTo>
                    <a:pt x="3354111" y="29819"/>
                  </a:lnTo>
                  <a:cubicBezTo>
                    <a:pt x="3295072" y="49686"/>
                    <a:pt x="3236122" y="70955"/>
                    <a:pt x="3177287" y="93621"/>
                  </a:cubicBezTo>
                  <a:cubicBezTo>
                    <a:pt x="2718951" y="269871"/>
                    <a:pt x="2282682" y="529455"/>
                    <a:pt x="1915374" y="844207"/>
                  </a:cubicBezTo>
                  <a:cubicBezTo>
                    <a:pt x="1541678" y="1164331"/>
                    <a:pt x="1247976" y="1528591"/>
                    <a:pt x="1042545" y="1926532"/>
                  </a:cubicBezTo>
                  <a:cubicBezTo>
                    <a:pt x="832613" y="2333329"/>
                    <a:pt x="726050" y="2757113"/>
                    <a:pt x="726050" y="3186123"/>
                  </a:cubicBezTo>
                  <a:cubicBezTo>
                    <a:pt x="726050" y="3618181"/>
                    <a:pt x="896057" y="3870506"/>
                    <a:pt x="1249864" y="4355701"/>
                  </a:cubicBezTo>
                  <a:cubicBezTo>
                    <a:pt x="1335230" y="4472717"/>
                    <a:pt x="1423500" y="4593798"/>
                    <a:pt x="1513803" y="4726929"/>
                  </a:cubicBezTo>
                  <a:cubicBezTo>
                    <a:pt x="2203848" y="5744068"/>
                    <a:pt x="2944562" y="6178014"/>
                    <a:pt x="3990446" y="6178014"/>
                  </a:cubicBezTo>
                  <a:cubicBezTo>
                    <a:pt x="4676863" y="6178014"/>
                    <a:pt x="5180496" y="5824498"/>
                    <a:pt x="5870541" y="5285296"/>
                  </a:cubicBezTo>
                  <a:cubicBezTo>
                    <a:pt x="5947632" y="5225046"/>
                    <a:pt x="6024723" y="5165521"/>
                    <a:pt x="6099347" y="5108030"/>
                  </a:cubicBezTo>
                  <a:lnTo>
                    <a:pt x="6230407" y="5006078"/>
                  </a:lnTo>
                  <a:lnTo>
                    <a:pt x="6230407" y="5924458"/>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4DF24F7D-73CE-4EF0-86BC-1C1C4C5CB7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698" y="0"/>
              <a:ext cx="6477994" cy="6858000"/>
            </a:xfrm>
            <a:custGeom>
              <a:avLst/>
              <a:gdLst>
                <a:gd name="connsiteX0" fmla="*/ 5061392 w 6230408"/>
                <a:gd name="connsiteY0" fmla="*/ 0 h 6858000"/>
                <a:gd name="connsiteX1" fmla="*/ 6230408 w 6230408"/>
                <a:gd name="connsiteY1" fmla="*/ 0 h 6858000"/>
                <a:gd name="connsiteX2" fmla="*/ 6230408 w 6230408"/>
                <a:gd name="connsiteY2" fmla="*/ 502666 h 6858000"/>
                <a:gd name="connsiteX3" fmla="*/ 6204367 w 6230408"/>
                <a:gd name="connsiteY3" fmla="*/ 480166 h 6858000"/>
                <a:gd name="connsiteX4" fmla="*/ 5753525 w 6230408"/>
                <a:gd name="connsiteY4" fmla="*/ 205991 h 6858000"/>
                <a:gd name="connsiteX5" fmla="*/ 5205685 w 6230408"/>
                <a:gd name="connsiteY5" fmla="*/ 25948 h 6858000"/>
                <a:gd name="connsiteX6" fmla="*/ 1821847 w 6230408"/>
                <a:gd name="connsiteY6" fmla="*/ 0 h 6858000"/>
                <a:gd name="connsiteX7" fmla="*/ 4114919 w 6230408"/>
                <a:gd name="connsiteY7" fmla="*/ 0 h 6858000"/>
                <a:gd name="connsiteX8" fmla="*/ 4086206 w 6230408"/>
                <a:gd name="connsiteY8" fmla="*/ 3507 h 6858000"/>
                <a:gd name="connsiteX9" fmla="*/ 3229262 w 6230408"/>
                <a:gd name="connsiteY9" fmla="*/ 229075 h 6858000"/>
                <a:gd name="connsiteX10" fmla="*/ 2009741 w 6230408"/>
                <a:gd name="connsiteY10" fmla="*/ 954400 h 6858000"/>
                <a:gd name="connsiteX11" fmla="*/ 1171466 w 6230408"/>
                <a:gd name="connsiteY11" fmla="*/ 1993025 h 6858000"/>
                <a:gd name="connsiteX12" fmla="*/ 871086 w 6230408"/>
                <a:gd name="connsiteY12" fmla="*/ 3186123 h 6858000"/>
                <a:gd name="connsiteX13" fmla="*/ 1367025 w 6230408"/>
                <a:gd name="connsiteY13" fmla="*/ 4270190 h 6858000"/>
                <a:gd name="connsiteX14" fmla="*/ 1633868 w 6230408"/>
                <a:gd name="connsiteY14" fmla="*/ 4645483 h 6858000"/>
                <a:gd name="connsiteX15" fmla="*/ 2651877 w 6230408"/>
                <a:gd name="connsiteY15" fmla="*/ 5684689 h 6858000"/>
                <a:gd name="connsiteX16" fmla="*/ 3990301 w 6230408"/>
                <a:gd name="connsiteY16" fmla="*/ 6032833 h 6858000"/>
                <a:gd name="connsiteX17" fmla="*/ 4851225 w 6230408"/>
                <a:gd name="connsiteY17" fmla="*/ 5811141 h 6858000"/>
                <a:gd name="connsiteX18" fmla="*/ 5780965 w 6230408"/>
                <a:gd name="connsiteY18" fmla="*/ 5171038 h 6858000"/>
                <a:gd name="connsiteX19" fmla="*/ 6010496 w 6230408"/>
                <a:gd name="connsiteY19" fmla="*/ 4993191 h 6858000"/>
                <a:gd name="connsiteX20" fmla="*/ 6230408 w 6230408"/>
                <a:gd name="connsiteY20" fmla="*/ 4822117 h 6858000"/>
                <a:gd name="connsiteX21" fmla="*/ 6230408 w 6230408"/>
                <a:gd name="connsiteY21" fmla="*/ 5924457 h 6858000"/>
                <a:gd name="connsiteX22" fmla="*/ 6056186 w 6230408"/>
                <a:gd name="connsiteY22" fmla="*/ 6058925 h 6858000"/>
                <a:gd name="connsiteX23" fmla="*/ 4500343 w 6230408"/>
                <a:gd name="connsiteY23" fmla="*/ 6854086 h 6858000"/>
                <a:gd name="connsiteX24" fmla="*/ 4476760 w 6230408"/>
                <a:gd name="connsiteY24" fmla="*/ 6858000 h 6858000"/>
                <a:gd name="connsiteX25" fmla="*/ 3391617 w 6230408"/>
                <a:gd name="connsiteY25" fmla="*/ 6858000 h 6858000"/>
                <a:gd name="connsiteX26" fmla="*/ 3242986 w 6230408"/>
                <a:gd name="connsiteY26" fmla="*/ 6833894 h 6858000"/>
                <a:gd name="connsiteX27" fmla="*/ 913044 w 6230408"/>
                <a:gd name="connsiteY27" fmla="*/ 5134452 h 6858000"/>
                <a:gd name="connsiteX28" fmla="*/ 0 w 6230408"/>
                <a:gd name="connsiteY28" fmla="*/ 3186123 h 6858000"/>
                <a:gd name="connsiteX29" fmla="*/ 1779764 w 6230408"/>
                <a:gd name="connsiteY29" fmla="*/ 288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230408" h="6858000">
                  <a:moveTo>
                    <a:pt x="5061392" y="0"/>
                  </a:moveTo>
                  <a:lnTo>
                    <a:pt x="6230408" y="0"/>
                  </a:lnTo>
                  <a:lnTo>
                    <a:pt x="6230408" y="502666"/>
                  </a:lnTo>
                  <a:lnTo>
                    <a:pt x="6204367" y="480166"/>
                  </a:lnTo>
                  <a:cubicBezTo>
                    <a:pt x="6064466" y="372115"/>
                    <a:pt x="5913877" y="280469"/>
                    <a:pt x="5753525" y="205991"/>
                  </a:cubicBezTo>
                  <a:cubicBezTo>
                    <a:pt x="5581848" y="126214"/>
                    <a:pt x="5398775" y="66109"/>
                    <a:pt x="5205685" y="25948"/>
                  </a:cubicBezTo>
                  <a:close/>
                  <a:moveTo>
                    <a:pt x="1821847" y="0"/>
                  </a:moveTo>
                  <a:lnTo>
                    <a:pt x="4114919" y="0"/>
                  </a:lnTo>
                  <a:lnTo>
                    <a:pt x="4086206" y="3507"/>
                  </a:lnTo>
                  <a:cubicBezTo>
                    <a:pt x="3798985" y="45364"/>
                    <a:pt x="3509190" y="121369"/>
                    <a:pt x="3229262" y="229075"/>
                  </a:cubicBezTo>
                  <a:cubicBezTo>
                    <a:pt x="2786315" y="399518"/>
                    <a:pt x="2364564" y="650390"/>
                    <a:pt x="2009741" y="954400"/>
                  </a:cubicBezTo>
                  <a:cubicBezTo>
                    <a:pt x="1655354" y="1257973"/>
                    <a:pt x="1365573" y="1617151"/>
                    <a:pt x="1171466" y="1993025"/>
                  </a:cubicBezTo>
                  <a:cubicBezTo>
                    <a:pt x="972132" y="2379061"/>
                    <a:pt x="871086" y="2780487"/>
                    <a:pt x="871086" y="3186123"/>
                  </a:cubicBezTo>
                  <a:cubicBezTo>
                    <a:pt x="871086" y="3573756"/>
                    <a:pt x="1023091" y="3798642"/>
                    <a:pt x="1367025" y="4270190"/>
                  </a:cubicBezTo>
                  <a:cubicBezTo>
                    <a:pt x="1453117" y="4388222"/>
                    <a:pt x="1542113" y="4510319"/>
                    <a:pt x="1633868" y="4645483"/>
                  </a:cubicBezTo>
                  <a:cubicBezTo>
                    <a:pt x="1958347" y="5123709"/>
                    <a:pt x="2291248" y="5463723"/>
                    <a:pt x="2651877" y="5684689"/>
                  </a:cubicBezTo>
                  <a:cubicBezTo>
                    <a:pt x="3034139" y="5919011"/>
                    <a:pt x="3472005" y="6032833"/>
                    <a:pt x="3990301" y="6032833"/>
                  </a:cubicBezTo>
                  <a:cubicBezTo>
                    <a:pt x="4284438" y="6032833"/>
                    <a:pt x="4557959" y="5962420"/>
                    <a:pt x="4851225" y="5811141"/>
                  </a:cubicBezTo>
                  <a:cubicBezTo>
                    <a:pt x="5152330" y="5655798"/>
                    <a:pt x="5450387" y="5429315"/>
                    <a:pt x="5780965" y="5171038"/>
                  </a:cubicBezTo>
                  <a:cubicBezTo>
                    <a:pt x="5858491" y="5110498"/>
                    <a:pt x="5935727" y="5050828"/>
                    <a:pt x="6010496" y="4993191"/>
                  </a:cubicBezTo>
                  <a:lnTo>
                    <a:pt x="6230408" y="4822117"/>
                  </a:lnTo>
                  <a:lnTo>
                    <a:pt x="6230408" y="5924457"/>
                  </a:lnTo>
                  <a:lnTo>
                    <a:pt x="6056186" y="6058925"/>
                  </a:lnTo>
                  <a:cubicBezTo>
                    <a:pt x="5577260" y="6421454"/>
                    <a:pt x="5092142" y="6735949"/>
                    <a:pt x="4500343" y="6854086"/>
                  </a:cubicBezTo>
                  <a:lnTo>
                    <a:pt x="4476760" y="6858000"/>
                  </a:lnTo>
                  <a:lnTo>
                    <a:pt x="3391617" y="6858000"/>
                  </a:lnTo>
                  <a:lnTo>
                    <a:pt x="3242986" y="6833894"/>
                  </a:lnTo>
                  <a:cubicBezTo>
                    <a:pt x="2233307" y="6634206"/>
                    <a:pt x="1512986" y="6018796"/>
                    <a:pt x="913044" y="5134452"/>
                  </a:cubicBezTo>
                  <a:cubicBezTo>
                    <a:pt x="469951" y="4481428"/>
                    <a:pt x="0" y="4033545"/>
                    <a:pt x="0" y="3186123"/>
                  </a:cubicBezTo>
                  <a:cubicBezTo>
                    <a:pt x="0" y="1915018"/>
                    <a:pt x="732545" y="779286"/>
                    <a:pt x="1779764" y="28818"/>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EC3445B6-9C0D-4865-BF68-CD74892D0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05128" y="0"/>
              <a:ext cx="6648564" cy="6858000"/>
            </a:xfrm>
            <a:custGeom>
              <a:avLst/>
              <a:gdLst>
                <a:gd name="connsiteX0" fmla="*/ 1242460 w 6394458"/>
                <a:gd name="connsiteY0" fmla="*/ 0 h 6858000"/>
                <a:gd name="connsiteX1" fmla="*/ 2160732 w 6394458"/>
                <a:gd name="connsiteY1" fmla="*/ 0 h 6858000"/>
                <a:gd name="connsiteX2" fmla="*/ 2096124 w 6394458"/>
                <a:gd name="connsiteY2" fmla="*/ 41936 h 6858000"/>
                <a:gd name="connsiteX3" fmla="*/ 1942232 w 6394458"/>
                <a:gd name="connsiteY3" fmla="*/ 154451 h 6858000"/>
                <a:gd name="connsiteX4" fmla="*/ 1941942 w 6394458"/>
                <a:gd name="connsiteY4" fmla="*/ 154741 h 6858000"/>
                <a:gd name="connsiteX5" fmla="*/ 1941652 w 6394458"/>
                <a:gd name="connsiteY5" fmla="*/ 155032 h 6858000"/>
                <a:gd name="connsiteX6" fmla="*/ 1878498 w 6394458"/>
                <a:gd name="connsiteY6" fmla="*/ 203377 h 6858000"/>
                <a:gd name="connsiteX7" fmla="*/ 1865722 w 6394458"/>
                <a:gd name="connsiteY7" fmla="*/ 213395 h 6858000"/>
                <a:gd name="connsiteX8" fmla="*/ 1791679 w 6394458"/>
                <a:gd name="connsiteY8" fmla="*/ 272483 h 6858000"/>
                <a:gd name="connsiteX9" fmla="*/ 1503495 w 6394458"/>
                <a:gd name="connsiteY9" fmla="*/ 525389 h 6858000"/>
                <a:gd name="connsiteX10" fmla="*/ 990135 w 6394458"/>
                <a:gd name="connsiteY10" fmla="*/ 1098128 h 6858000"/>
                <a:gd name="connsiteX11" fmla="*/ 771637 w 6394458"/>
                <a:gd name="connsiteY11" fmla="*/ 1416800 h 6858000"/>
                <a:gd name="connsiteX12" fmla="*/ 585660 w 6394458"/>
                <a:gd name="connsiteY12" fmla="*/ 1756960 h 6858000"/>
                <a:gd name="connsiteX13" fmla="*/ 585515 w 6394458"/>
                <a:gd name="connsiteY13" fmla="*/ 1757395 h 6858000"/>
                <a:gd name="connsiteX14" fmla="*/ 585370 w 6394458"/>
                <a:gd name="connsiteY14" fmla="*/ 1757831 h 6858000"/>
                <a:gd name="connsiteX15" fmla="*/ 544574 w 6394458"/>
                <a:gd name="connsiteY15" fmla="*/ 1845230 h 6858000"/>
                <a:gd name="connsiteX16" fmla="*/ 524539 w 6394458"/>
                <a:gd name="connsiteY16" fmla="*/ 1889510 h 6858000"/>
                <a:gd name="connsiteX17" fmla="*/ 505666 w 6394458"/>
                <a:gd name="connsiteY17" fmla="*/ 1933935 h 6858000"/>
                <a:gd name="connsiteX18" fmla="*/ 502762 w 6394458"/>
                <a:gd name="connsiteY18" fmla="*/ 1940904 h 6858000"/>
                <a:gd name="connsiteX19" fmla="*/ 469661 w 6394458"/>
                <a:gd name="connsiteY19" fmla="*/ 2023512 h 6858000"/>
                <a:gd name="connsiteX20" fmla="*/ 456885 w 6394458"/>
                <a:gd name="connsiteY20" fmla="*/ 2057049 h 6858000"/>
                <a:gd name="connsiteX21" fmla="*/ 435688 w 6394458"/>
                <a:gd name="connsiteY21" fmla="*/ 2114395 h 6858000"/>
                <a:gd name="connsiteX22" fmla="*/ 435543 w 6394458"/>
                <a:gd name="connsiteY22" fmla="*/ 2114976 h 6858000"/>
                <a:gd name="connsiteX23" fmla="*/ 435253 w 6394458"/>
                <a:gd name="connsiteY23" fmla="*/ 2115557 h 6858000"/>
                <a:gd name="connsiteX24" fmla="*/ 324770 w 6394458"/>
                <a:gd name="connsiteY24" fmla="*/ 2488382 h 6858000"/>
                <a:gd name="connsiteX25" fmla="*/ 235338 w 6394458"/>
                <a:gd name="connsiteY25" fmla="*/ 3261036 h 6858000"/>
                <a:gd name="connsiteX26" fmla="*/ 272505 w 6394458"/>
                <a:gd name="connsiteY26" fmla="*/ 3641991 h 6858000"/>
                <a:gd name="connsiteX27" fmla="*/ 385891 w 6394458"/>
                <a:gd name="connsiteY27" fmla="*/ 4006104 h 6858000"/>
                <a:gd name="connsiteX28" fmla="*/ 386182 w 6394458"/>
                <a:gd name="connsiteY28" fmla="*/ 4006685 h 6858000"/>
                <a:gd name="connsiteX29" fmla="*/ 386472 w 6394458"/>
                <a:gd name="connsiteY29" fmla="*/ 4007266 h 6858000"/>
                <a:gd name="connsiteX30" fmla="*/ 413911 w 6394458"/>
                <a:gd name="connsiteY30" fmla="*/ 4068823 h 6858000"/>
                <a:gd name="connsiteX31" fmla="*/ 425380 w 6394458"/>
                <a:gd name="connsiteY31" fmla="*/ 4093794 h 6858000"/>
                <a:gd name="connsiteX32" fmla="*/ 435834 w 6394458"/>
                <a:gd name="connsiteY32" fmla="*/ 4114845 h 6858000"/>
                <a:gd name="connsiteX33" fmla="*/ 468644 w 6394458"/>
                <a:gd name="connsiteY33" fmla="*/ 4178435 h 6858000"/>
                <a:gd name="connsiteX34" fmla="*/ 468935 w 6394458"/>
                <a:gd name="connsiteY34" fmla="*/ 4179015 h 6858000"/>
                <a:gd name="connsiteX35" fmla="*/ 469225 w 6394458"/>
                <a:gd name="connsiteY35" fmla="*/ 4179596 h 6858000"/>
                <a:gd name="connsiteX36" fmla="*/ 566496 w 6394458"/>
                <a:gd name="connsiteY36" fmla="*/ 4345828 h 6858000"/>
                <a:gd name="connsiteX37" fmla="*/ 674366 w 6394458"/>
                <a:gd name="connsiteY37" fmla="*/ 4507124 h 6858000"/>
                <a:gd name="connsiteX38" fmla="*/ 790946 w 6394458"/>
                <a:gd name="connsiteY38" fmla="*/ 4665372 h 6858000"/>
                <a:gd name="connsiteX39" fmla="*/ 938015 w 6394458"/>
                <a:gd name="connsiteY39" fmla="*/ 4855559 h 6858000"/>
                <a:gd name="connsiteX40" fmla="*/ 1035286 w 6394458"/>
                <a:gd name="connsiteY40" fmla="*/ 4980269 h 6858000"/>
                <a:gd name="connsiteX41" fmla="*/ 1158254 w 6394458"/>
                <a:gd name="connsiteY41" fmla="*/ 5140985 h 6858000"/>
                <a:gd name="connsiteX42" fmla="*/ 1221118 w 6394458"/>
                <a:gd name="connsiteY42" fmla="*/ 5226351 h 6858000"/>
                <a:gd name="connsiteX43" fmla="*/ 1277448 w 6394458"/>
                <a:gd name="connsiteY43" fmla="*/ 5303007 h 6858000"/>
                <a:gd name="connsiteX44" fmla="*/ 1277739 w 6394458"/>
                <a:gd name="connsiteY44" fmla="*/ 5303297 h 6858000"/>
                <a:gd name="connsiteX45" fmla="*/ 1278029 w 6394458"/>
                <a:gd name="connsiteY45" fmla="*/ 5303588 h 6858000"/>
                <a:gd name="connsiteX46" fmla="*/ 1376607 w 6394458"/>
                <a:gd name="connsiteY46" fmla="*/ 5433525 h 6858000"/>
                <a:gd name="connsiteX47" fmla="*/ 1395625 w 6394458"/>
                <a:gd name="connsiteY47" fmla="*/ 5458060 h 6858000"/>
                <a:gd name="connsiteX48" fmla="*/ 1405207 w 6394458"/>
                <a:gd name="connsiteY48" fmla="*/ 5469965 h 6858000"/>
                <a:gd name="connsiteX49" fmla="*/ 1518739 w 6394458"/>
                <a:gd name="connsiteY49" fmla="*/ 5607597 h 6858000"/>
                <a:gd name="connsiteX50" fmla="*/ 1779194 w 6394458"/>
                <a:gd name="connsiteY50" fmla="*/ 5888957 h 6858000"/>
                <a:gd name="connsiteX51" fmla="*/ 2361805 w 6394458"/>
                <a:gd name="connsiteY51" fmla="*/ 6356876 h 6858000"/>
                <a:gd name="connsiteX52" fmla="*/ 2682656 w 6394458"/>
                <a:gd name="connsiteY52" fmla="*/ 6532110 h 6858000"/>
                <a:gd name="connsiteX53" fmla="*/ 2682946 w 6394458"/>
                <a:gd name="connsiteY53" fmla="*/ 6532255 h 6858000"/>
                <a:gd name="connsiteX54" fmla="*/ 2683236 w 6394458"/>
                <a:gd name="connsiteY54" fmla="*/ 6532400 h 6858000"/>
                <a:gd name="connsiteX55" fmla="*/ 3021944 w 6394458"/>
                <a:gd name="connsiteY55" fmla="*/ 6664805 h 6858000"/>
                <a:gd name="connsiteX56" fmla="*/ 3375605 w 6394458"/>
                <a:gd name="connsiteY56" fmla="*/ 6756415 h 6858000"/>
                <a:gd name="connsiteX57" fmla="*/ 3555048 w 6394458"/>
                <a:gd name="connsiteY57" fmla="*/ 6786612 h 6858000"/>
                <a:gd name="connsiteX58" fmla="*/ 3735218 w 6394458"/>
                <a:gd name="connsiteY58" fmla="*/ 6807083 h 6858000"/>
                <a:gd name="connsiteX59" fmla="*/ 4108188 w 6394458"/>
                <a:gd name="connsiteY59" fmla="*/ 6823343 h 6858000"/>
                <a:gd name="connsiteX60" fmla="*/ 4126917 w 6394458"/>
                <a:gd name="connsiteY60" fmla="*/ 6823343 h 6858000"/>
                <a:gd name="connsiteX61" fmla="*/ 4151597 w 6394458"/>
                <a:gd name="connsiteY61" fmla="*/ 6823488 h 6858000"/>
                <a:gd name="connsiteX62" fmla="*/ 4199652 w 6394458"/>
                <a:gd name="connsiteY62" fmla="*/ 6822763 h 6858000"/>
                <a:gd name="connsiteX63" fmla="*/ 4200088 w 6394458"/>
                <a:gd name="connsiteY63" fmla="*/ 6822763 h 6858000"/>
                <a:gd name="connsiteX64" fmla="*/ 4200523 w 6394458"/>
                <a:gd name="connsiteY64" fmla="*/ 6822763 h 6858000"/>
                <a:gd name="connsiteX65" fmla="*/ 4245675 w 6394458"/>
                <a:gd name="connsiteY65" fmla="*/ 6821601 h 6858000"/>
                <a:gd name="connsiteX66" fmla="*/ 4291117 w 6394458"/>
                <a:gd name="connsiteY66" fmla="*/ 6819277 h 6858000"/>
                <a:gd name="connsiteX67" fmla="*/ 4469108 w 6394458"/>
                <a:gd name="connsiteY67" fmla="*/ 6803743 h 6858000"/>
                <a:gd name="connsiteX68" fmla="*/ 5157267 w 6394458"/>
                <a:gd name="connsiteY68" fmla="*/ 6617766 h 6858000"/>
                <a:gd name="connsiteX69" fmla="*/ 5484069 w 6394458"/>
                <a:gd name="connsiteY69" fmla="*/ 6455744 h 6858000"/>
                <a:gd name="connsiteX70" fmla="*/ 5801144 w 6394458"/>
                <a:gd name="connsiteY70" fmla="*/ 6257717 h 6858000"/>
                <a:gd name="connsiteX71" fmla="*/ 6111106 w 6394458"/>
                <a:gd name="connsiteY71" fmla="*/ 6032542 h 6858000"/>
                <a:gd name="connsiteX72" fmla="*/ 6264127 w 6394458"/>
                <a:gd name="connsiteY72" fmla="*/ 5913203 h 6858000"/>
                <a:gd name="connsiteX73" fmla="*/ 6394458 w 6394458"/>
                <a:gd name="connsiteY73" fmla="*/ 5808939 h 6858000"/>
                <a:gd name="connsiteX74" fmla="*/ 6394458 w 6394458"/>
                <a:gd name="connsiteY74" fmla="*/ 6858000 h 6858000"/>
                <a:gd name="connsiteX75" fmla="*/ 2234128 w 6394458"/>
                <a:gd name="connsiteY75" fmla="*/ 6858000 h 6858000"/>
                <a:gd name="connsiteX76" fmla="*/ 2151583 w 6394458"/>
                <a:gd name="connsiteY76" fmla="*/ 6802146 h 6858000"/>
                <a:gd name="connsiteX77" fmla="*/ 593791 w 6394458"/>
                <a:gd name="connsiteY77" fmla="*/ 5241450 h 6858000"/>
                <a:gd name="connsiteX78" fmla="*/ 0 w 6394458"/>
                <a:gd name="connsiteY78" fmla="*/ 3044861 h 6858000"/>
                <a:gd name="connsiteX79" fmla="*/ 342337 w 6394458"/>
                <a:gd name="connsiteY79" fmla="*/ 1349581 h 6858000"/>
                <a:gd name="connsiteX80" fmla="*/ 1129762 w 6394458"/>
                <a:gd name="connsiteY80" fmla="*/ 1181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394458" h="6858000">
                  <a:moveTo>
                    <a:pt x="1242460" y="0"/>
                  </a:moveTo>
                  <a:lnTo>
                    <a:pt x="2160732" y="0"/>
                  </a:lnTo>
                  <a:lnTo>
                    <a:pt x="2096124" y="41936"/>
                  </a:lnTo>
                  <a:cubicBezTo>
                    <a:pt x="2053586" y="71988"/>
                    <a:pt x="1997691" y="111913"/>
                    <a:pt x="1942232" y="154451"/>
                  </a:cubicBezTo>
                  <a:lnTo>
                    <a:pt x="1941942" y="154741"/>
                  </a:lnTo>
                  <a:lnTo>
                    <a:pt x="1941652" y="155032"/>
                  </a:lnTo>
                  <a:cubicBezTo>
                    <a:pt x="1920455" y="170711"/>
                    <a:pt x="1899113" y="187262"/>
                    <a:pt x="1878498" y="203377"/>
                  </a:cubicBezTo>
                  <a:lnTo>
                    <a:pt x="1865722" y="213395"/>
                  </a:lnTo>
                  <a:cubicBezTo>
                    <a:pt x="1838863" y="233865"/>
                    <a:pt x="1813311" y="254771"/>
                    <a:pt x="1791679" y="272483"/>
                  </a:cubicBezTo>
                  <a:cubicBezTo>
                    <a:pt x="1684245" y="360463"/>
                    <a:pt x="1590023" y="443216"/>
                    <a:pt x="1503495" y="525389"/>
                  </a:cubicBezTo>
                  <a:cubicBezTo>
                    <a:pt x="1315050" y="703090"/>
                    <a:pt x="1142430" y="895746"/>
                    <a:pt x="990135" y="1098128"/>
                  </a:cubicBezTo>
                  <a:cubicBezTo>
                    <a:pt x="911301" y="1202949"/>
                    <a:pt x="837695" y="1310238"/>
                    <a:pt x="771637" y="1416800"/>
                  </a:cubicBezTo>
                  <a:cubicBezTo>
                    <a:pt x="697595" y="1538898"/>
                    <a:pt x="636764" y="1650106"/>
                    <a:pt x="585660" y="1756960"/>
                  </a:cubicBezTo>
                  <a:lnTo>
                    <a:pt x="585515" y="1757395"/>
                  </a:lnTo>
                  <a:lnTo>
                    <a:pt x="585370" y="1757831"/>
                  </a:lnTo>
                  <a:cubicBezTo>
                    <a:pt x="570271" y="1788174"/>
                    <a:pt x="556334" y="1818952"/>
                    <a:pt x="544574" y="1845230"/>
                  </a:cubicBezTo>
                  <a:lnTo>
                    <a:pt x="524539" y="1889510"/>
                  </a:lnTo>
                  <a:lnTo>
                    <a:pt x="505666" y="1933935"/>
                  </a:lnTo>
                  <a:lnTo>
                    <a:pt x="502762" y="1940904"/>
                  </a:lnTo>
                  <a:cubicBezTo>
                    <a:pt x="491002" y="1969214"/>
                    <a:pt x="479823" y="1996073"/>
                    <a:pt x="469661" y="2023512"/>
                  </a:cubicBezTo>
                  <a:cubicBezTo>
                    <a:pt x="465450" y="2034691"/>
                    <a:pt x="461240" y="2045870"/>
                    <a:pt x="456885" y="2057049"/>
                  </a:cubicBezTo>
                  <a:cubicBezTo>
                    <a:pt x="449190" y="2076794"/>
                    <a:pt x="442076" y="2095522"/>
                    <a:pt x="435688" y="2114395"/>
                  </a:cubicBezTo>
                  <a:lnTo>
                    <a:pt x="435543" y="2114976"/>
                  </a:lnTo>
                  <a:lnTo>
                    <a:pt x="435253" y="2115557"/>
                  </a:lnTo>
                  <a:cubicBezTo>
                    <a:pt x="390392" y="2239687"/>
                    <a:pt x="353226" y="2365123"/>
                    <a:pt x="324770" y="2488382"/>
                  </a:cubicBezTo>
                  <a:cubicBezTo>
                    <a:pt x="265391" y="2742158"/>
                    <a:pt x="235193" y="3002178"/>
                    <a:pt x="235338" y="3261036"/>
                  </a:cubicBezTo>
                  <a:cubicBezTo>
                    <a:pt x="236210" y="3391989"/>
                    <a:pt x="248695" y="3520474"/>
                    <a:pt x="272505" y="3641991"/>
                  </a:cubicBezTo>
                  <a:cubicBezTo>
                    <a:pt x="299073" y="3770621"/>
                    <a:pt x="337110" y="3893154"/>
                    <a:pt x="385891" y="4006104"/>
                  </a:cubicBezTo>
                  <a:lnTo>
                    <a:pt x="386182" y="4006685"/>
                  </a:lnTo>
                  <a:lnTo>
                    <a:pt x="386472" y="4007266"/>
                  </a:lnTo>
                  <a:cubicBezTo>
                    <a:pt x="394747" y="4027591"/>
                    <a:pt x="404039" y="4047626"/>
                    <a:pt x="413911" y="4068823"/>
                  </a:cubicBezTo>
                  <a:cubicBezTo>
                    <a:pt x="417686" y="4077098"/>
                    <a:pt x="421606" y="4085374"/>
                    <a:pt x="425380" y="4093794"/>
                  </a:cubicBezTo>
                  <a:cubicBezTo>
                    <a:pt x="428865" y="4100908"/>
                    <a:pt x="432349" y="4107876"/>
                    <a:pt x="435834" y="4114845"/>
                  </a:cubicBezTo>
                  <a:cubicBezTo>
                    <a:pt x="446867" y="4136913"/>
                    <a:pt x="457320" y="4157819"/>
                    <a:pt x="468644" y="4178435"/>
                  </a:cubicBezTo>
                  <a:lnTo>
                    <a:pt x="468935" y="4179015"/>
                  </a:lnTo>
                  <a:lnTo>
                    <a:pt x="469225" y="4179596"/>
                  </a:lnTo>
                  <a:cubicBezTo>
                    <a:pt x="495213" y="4229103"/>
                    <a:pt x="525120" y="4280352"/>
                    <a:pt x="566496" y="4345828"/>
                  </a:cubicBezTo>
                  <a:cubicBezTo>
                    <a:pt x="598727" y="4397368"/>
                    <a:pt x="633135" y="4447745"/>
                    <a:pt x="674366" y="4507124"/>
                  </a:cubicBezTo>
                  <a:cubicBezTo>
                    <a:pt x="713129" y="4561713"/>
                    <a:pt x="753199" y="4615139"/>
                    <a:pt x="790946" y="4665372"/>
                  </a:cubicBezTo>
                  <a:cubicBezTo>
                    <a:pt x="839001" y="4729106"/>
                    <a:pt x="889379" y="4793421"/>
                    <a:pt x="938015" y="4855559"/>
                  </a:cubicBezTo>
                  <a:cubicBezTo>
                    <a:pt x="969955" y="4896355"/>
                    <a:pt x="1003056" y="4938457"/>
                    <a:pt x="1035286" y="4980269"/>
                  </a:cubicBezTo>
                  <a:cubicBezTo>
                    <a:pt x="1069113" y="5023969"/>
                    <a:pt x="1113684" y="5081606"/>
                    <a:pt x="1158254" y="5140985"/>
                  </a:cubicBezTo>
                  <a:cubicBezTo>
                    <a:pt x="1179451" y="5169005"/>
                    <a:pt x="1200647" y="5198186"/>
                    <a:pt x="1221118" y="5226351"/>
                  </a:cubicBezTo>
                  <a:cubicBezTo>
                    <a:pt x="1240572" y="5253065"/>
                    <a:pt x="1259010" y="5278471"/>
                    <a:pt x="1277448" y="5303007"/>
                  </a:cubicBezTo>
                  <a:lnTo>
                    <a:pt x="1277739" y="5303297"/>
                  </a:lnTo>
                  <a:lnTo>
                    <a:pt x="1278029" y="5303588"/>
                  </a:lnTo>
                  <a:cubicBezTo>
                    <a:pt x="1309824" y="5347287"/>
                    <a:pt x="1343796" y="5391132"/>
                    <a:pt x="1376607" y="5433525"/>
                  </a:cubicBezTo>
                  <a:lnTo>
                    <a:pt x="1395625" y="5458060"/>
                  </a:lnTo>
                  <a:lnTo>
                    <a:pt x="1405207" y="5469965"/>
                  </a:lnTo>
                  <a:cubicBezTo>
                    <a:pt x="1442083" y="5515552"/>
                    <a:pt x="1479976" y="5562736"/>
                    <a:pt x="1518739" y="5607597"/>
                  </a:cubicBezTo>
                  <a:cubicBezTo>
                    <a:pt x="1603960" y="5707481"/>
                    <a:pt x="1691650" y="5802139"/>
                    <a:pt x="1779194" y="5888957"/>
                  </a:cubicBezTo>
                  <a:cubicBezTo>
                    <a:pt x="1965606" y="6072902"/>
                    <a:pt x="2161746" y="6230423"/>
                    <a:pt x="2361805" y="6356876"/>
                  </a:cubicBezTo>
                  <a:cubicBezTo>
                    <a:pt x="2475047" y="6427870"/>
                    <a:pt x="2579867" y="6485217"/>
                    <a:pt x="2682656" y="6532110"/>
                  </a:cubicBezTo>
                  <a:lnTo>
                    <a:pt x="2682946" y="6532255"/>
                  </a:lnTo>
                  <a:lnTo>
                    <a:pt x="2683236" y="6532400"/>
                  </a:lnTo>
                  <a:cubicBezTo>
                    <a:pt x="2787767" y="6581616"/>
                    <a:pt x="2901734" y="6626187"/>
                    <a:pt x="3021944" y="6664805"/>
                  </a:cubicBezTo>
                  <a:cubicBezTo>
                    <a:pt x="3132572" y="6700374"/>
                    <a:pt x="3251620" y="6731298"/>
                    <a:pt x="3375605" y="6756415"/>
                  </a:cubicBezTo>
                  <a:cubicBezTo>
                    <a:pt x="3432661" y="6767738"/>
                    <a:pt x="3493201" y="6777901"/>
                    <a:pt x="3555048" y="6786612"/>
                  </a:cubicBezTo>
                  <a:cubicBezTo>
                    <a:pt x="3613121" y="6794742"/>
                    <a:pt x="3673807" y="6801566"/>
                    <a:pt x="3735218" y="6807083"/>
                  </a:cubicBezTo>
                  <a:cubicBezTo>
                    <a:pt x="3852670" y="6817826"/>
                    <a:pt x="3974622" y="6823052"/>
                    <a:pt x="4108188" y="6823343"/>
                  </a:cubicBezTo>
                  <a:lnTo>
                    <a:pt x="4126917" y="6823343"/>
                  </a:lnTo>
                  <a:cubicBezTo>
                    <a:pt x="4135192" y="6823488"/>
                    <a:pt x="4143322" y="6823488"/>
                    <a:pt x="4151597" y="6823488"/>
                  </a:cubicBezTo>
                  <a:cubicBezTo>
                    <a:pt x="4171487" y="6823488"/>
                    <a:pt x="4186296" y="6823343"/>
                    <a:pt x="4199652" y="6822763"/>
                  </a:cubicBezTo>
                  <a:lnTo>
                    <a:pt x="4200088" y="6822763"/>
                  </a:lnTo>
                  <a:lnTo>
                    <a:pt x="4200523" y="6822763"/>
                  </a:lnTo>
                  <a:lnTo>
                    <a:pt x="4245675" y="6821601"/>
                  </a:lnTo>
                  <a:lnTo>
                    <a:pt x="4291117" y="6819277"/>
                  </a:lnTo>
                  <a:cubicBezTo>
                    <a:pt x="4342801" y="6816955"/>
                    <a:pt x="4397825" y="6812164"/>
                    <a:pt x="4469108" y="6803743"/>
                  </a:cubicBezTo>
                  <a:cubicBezTo>
                    <a:pt x="4700672" y="6775433"/>
                    <a:pt x="4932236" y="6712860"/>
                    <a:pt x="5157267" y="6617766"/>
                  </a:cubicBezTo>
                  <a:cubicBezTo>
                    <a:pt x="5260490" y="6574648"/>
                    <a:pt x="5367344" y="6521656"/>
                    <a:pt x="5484069" y="6455744"/>
                  </a:cubicBezTo>
                  <a:cubicBezTo>
                    <a:pt x="5584535" y="6399414"/>
                    <a:pt x="5688194" y="6334663"/>
                    <a:pt x="5801144" y="6257717"/>
                  </a:cubicBezTo>
                  <a:cubicBezTo>
                    <a:pt x="5894061" y="6194419"/>
                    <a:pt x="5992638" y="6122844"/>
                    <a:pt x="6111106" y="6032542"/>
                  </a:cubicBezTo>
                  <a:cubicBezTo>
                    <a:pt x="6163081" y="5993052"/>
                    <a:pt x="6215491" y="5951676"/>
                    <a:pt x="6264127" y="5913203"/>
                  </a:cubicBezTo>
                  <a:lnTo>
                    <a:pt x="6394458" y="5808939"/>
                  </a:lnTo>
                  <a:lnTo>
                    <a:pt x="6394458" y="6858000"/>
                  </a:lnTo>
                  <a:lnTo>
                    <a:pt x="2234128" y="6858000"/>
                  </a:lnTo>
                  <a:lnTo>
                    <a:pt x="2151583" y="6802146"/>
                  </a:lnTo>
                  <a:cubicBezTo>
                    <a:pt x="1509012" y="6424386"/>
                    <a:pt x="970245" y="5884748"/>
                    <a:pt x="593791" y="5241450"/>
                  </a:cubicBezTo>
                  <a:cubicBezTo>
                    <a:pt x="205286" y="4577683"/>
                    <a:pt x="0" y="3818240"/>
                    <a:pt x="0" y="3044861"/>
                  </a:cubicBezTo>
                  <a:cubicBezTo>
                    <a:pt x="0" y="2457023"/>
                    <a:pt x="115129" y="1886606"/>
                    <a:pt x="342337" y="1349581"/>
                  </a:cubicBezTo>
                  <a:cubicBezTo>
                    <a:pt x="534284" y="895692"/>
                    <a:pt x="798705" y="482372"/>
                    <a:pt x="1129762" y="118183"/>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Freeform: Shape 15">
              <a:extLst>
                <a:ext uri="{FF2B5EF4-FFF2-40B4-BE49-F238E27FC236}">
                  <a16:creationId xmlns:a16="http://schemas.microsoft.com/office/drawing/2014/main" id="{1905757E-C772-4187-BD34-A12DC33F3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4266" y="0"/>
              <a:ext cx="6419426" cy="6858000"/>
            </a:xfrm>
            <a:custGeom>
              <a:avLst/>
              <a:gdLst>
                <a:gd name="connsiteX0" fmla="*/ 6419426 w 6419426"/>
                <a:gd name="connsiteY0" fmla="*/ 6276207 h 6858000"/>
                <a:gd name="connsiteX1" fmla="*/ 6419426 w 6419426"/>
                <a:gd name="connsiteY1" fmla="*/ 6858000 h 6858000"/>
                <a:gd name="connsiteX2" fmla="*/ 5377226 w 6419426"/>
                <a:gd name="connsiteY2" fmla="*/ 6858000 h 6858000"/>
                <a:gd name="connsiteX3" fmla="*/ 5526079 w 6419426"/>
                <a:gd name="connsiteY3" fmla="*/ 6799309 h 6858000"/>
                <a:gd name="connsiteX4" fmla="*/ 6372097 w 6419426"/>
                <a:gd name="connsiteY4" fmla="*/ 6313400 h 6858000"/>
                <a:gd name="connsiteX5" fmla="*/ 0 w 6419426"/>
                <a:gd name="connsiteY5" fmla="*/ 3944218 h 6858000"/>
                <a:gd name="connsiteX6" fmla="*/ 31811 w 6419426"/>
                <a:gd name="connsiteY6" fmla="*/ 4082046 h 6858000"/>
                <a:gd name="connsiteX7" fmla="*/ 2375871 w 6419426"/>
                <a:gd name="connsiteY7" fmla="*/ 6799309 h 6858000"/>
                <a:gd name="connsiteX8" fmla="*/ 2524724 w 6419426"/>
                <a:gd name="connsiteY8" fmla="*/ 6858000 h 6858000"/>
                <a:gd name="connsiteX9" fmla="*/ 0 w 6419426"/>
                <a:gd name="connsiteY9" fmla="*/ 6858000 h 6858000"/>
                <a:gd name="connsiteX10" fmla="*/ 0 w 6419426"/>
                <a:gd name="connsiteY10" fmla="*/ 0 h 6858000"/>
                <a:gd name="connsiteX11" fmla="*/ 1320019 w 6419426"/>
                <a:gd name="connsiteY11" fmla="*/ 0 h 6858000"/>
                <a:gd name="connsiteX12" fmla="*/ 1089625 w 6419426"/>
                <a:gd name="connsiteY12" fmla="*/ 209396 h 6858000"/>
                <a:gd name="connsiteX13" fmla="*/ 31811 w 6419426"/>
                <a:gd name="connsiteY13" fmla="*/ 2059448 h 6858000"/>
                <a:gd name="connsiteX14" fmla="*/ 0 w 6419426"/>
                <a:gd name="connsiteY14" fmla="*/ 21972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19426" h="6858000">
                  <a:moveTo>
                    <a:pt x="6419426" y="6276207"/>
                  </a:moveTo>
                  <a:lnTo>
                    <a:pt x="6419426" y="6858000"/>
                  </a:lnTo>
                  <a:lnTo>
                    <a:pt x="5377226" y="6858000"/>
                  </a:lnTo>
                  <a:lnTo>
                    <a:pt x="5526079" y="6799309"/>
                  </a:lnTo>
                  <a:cubicBezTo>
                    <a:pt x="5828657" y="6671330"/>
                    <a:pt x="6112428" y="6507594"/>
                    <a:pt x="6372097" y="6313400"/>
                  </a:cubicBezTo>
                  <a:close/>
                  <a:moveTo>
                    <a:pt x="0" y="3944218"/>
                  </a:moveTo>
                  <a:lnTo>
                    <a:pt x="31811" y="4082046"/>
                  </a:lnTo>
                  <a:cubicBezTo>
                    <a:pt x="347839" y="5310348"/>
                    <a:pt x="1226077" y="6312987"/>
                    <a:pt x="2375871" y="6799309"/>
                  </a:cubicBezTo>
                  <a:lnTo>
                    <a:pt x="2524724" y="6858000"/>
                  </a:lnTo>
                  <a:lnTo>
                    <a:pt x="0" y="6858000"/>
                  </a:lnTo>
                  <a:close/>
                  <a:moveTo>
                    <a:pt x="0" y="0"/>
                  </a:moveTo>
                  <a:lnTo>
                    <a:pt x="1320019" y="0"/>
                  </a:lnTo>
                  <a:lnTo>
                    <a:pt x="1089625" y="209396"/>
                  </a:lnTo>
                  <a:cubicBezTo>
                    <a:pt x="586180" y="712841"/>
                    <a:pt x="214775" y="1348326"/>
                    <a:pt x="31811" y="2059448"/>
                  </a:cubicBezTo>
                  <a:lnTo>
                    <a:pt x="0" y="2197276"/>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6E36E07-364C-F24E-EE24-51CA10D30B2C}"/>
              </a:ext>
            </a:extLst>
          </p:cNvPr>
          <p:cNvSpPr>
            <a:spLocks noGrp="1"/>
          </p:cNvSpPr>
          <p:nvPr>
            <p:ph type="title"/>
          </p:nvPr>
        </p:nvSpPr>
        <p:spPr>
          <a:xfrm>
            <a:off x="804672" y="798445"/>
            <a:ext cx="4803636" cy="1311664"/>
          </a:xfrm>
        </p:spPr>
        <p:txBody>
          <a:bodyPr anchor="b">
            <a:normAutofit/>
          </a:bodyPr>
          <a:lstStyle/>
          <a:p>
            <a:r>
              <a:rPr lang="en-US" sz="3600">
                <a:solidFill>
                  <a:schemeClr val="tx2"/>
                </a:solidFill>
              </a:rPr>
              <a:t>MCQ -2 </a:t>
            </a:r>
          </a:p>
        </p:txBody>
      </p:sp>
      <p:sp>
        <p:nvSpPr>
          <p:cNvPr id="3" name="Content Placeholder 2">
            <a:extLst>
              <a:ext uri="{FF2B5EF4-FFF2-40B4-BE49-F238E27FC236}">
                <a16:creationId xmlns:a16="http://schemas.microsoft.com/office/drawing/2014/main" id="{4482812E-B422-8AD4-79B5-D7F74DCC8A8D}"/>
              </a:ext>
            </a:extLst>
          </p:cNvPr>
          <p:cNvSpPr>
            <a:spLocks noGrp="1"/>
          </p:cNvSpPr>
          <p:nvPr>
            <p:ph idx="1"/>
          </p:nvPr>
        </p:nvSpPr>
        <p:spPr>
          <a:xfrm>
            <a:off x="804672" y="2272143"/>
            <a:ext cx="4706803" cy="3788830"/>
          </a:xfrm>
        </p:spPr>
        <p:txBody>
          <a:bodyPr anchor="ctr">
            <a:normAutofit/>
          </a:bodyPr>
          <a:lstStyle/>
          <a:p>
            <a:r>
              <a:rPr lang="en-US" dirty="0">
                <a:solidFill>
                  <a:schemeClr val="tx2"/>
                </a:solidFill>
              </a:rPr>
              <a:t>What is the first step in conducting a Randomized Controlled Trial (RCT)?</a:t>
            </a:r>
          </a:p>
          <a:p>
            <a:pPr lvl="1"/>
            <a:r>
              <a:rPr lang="en-US" sz="2800" dirty="0">
                <a:solidFill>
                  <a:schemeClr val="tx2"/>
                </a:solidFill>
              </a:rPr>
              <a:t>a) Randomization</a:t>
            </a:r>
          </a:p>
          <a:p>
            <a:pPr lvl="1"/>
            <a:r>
              <a:rPr lang="en-US" sz="2800" dirty="0">
                <a:solidFill>
                  <a:schemeClr val="tx2"/>
                </a:solidFill>
              </a:rPr>
              <a:t>b) Follow-up</a:t>
            </a:r>
          </a:p>
          <a:p>
            <a:pPr lvl="1"/>
            <a:r>
              <a:rPr lang="en-US" sz="2800" dirty="0">
                <a:solidFill>
                  <a:schemeClr val="tx2"/>
                </a:solidFill>
              </a:rPr>
              <a:t>c) Drawing up a protocol</a:t>
            </a:r>
          </a:p>
          <a:p>
            <a:pPr lvl="1"/>
            <a:r>
              <a:rPr lang="en-US" sz="2800" dirty="0">
                <a:solidFill>
                  <a:schemeClr val="tx2"/>
                </a:solidFill>
              </a:rPr>
              <a:t>d) Manipulation or intervention</a:t>
            </a:r>
          </a:p>
        </p:txBody>
      </p:sp>
    </p:spTree>
    <p:extLst>
      <p:ext uri="{BB962C8B-B14F-4D97-AF65-F5344CB8AC3E}">
        <p14:creationId xmlns:p14="http://schemas.microsoft.com/office/powerpoint/2010/main" val="384840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2" name="Group 11">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13" name="Freeform: Shape 12">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15">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itle 1">
            <a:extLst>
              <a:ext uri="{FF2B5EF4-FFF2-40B4-BE49-F238E27FC236}">
                <a16:creationId xmlns:a16="http://schemas.microsoft.com/office/drawing/2014/main" id="{B2CFB662-BFC0-AD16-0DB8-9BE756ABDA00}"/>
              </a:ext>
            </a:extLst>
          </p:cNvPr>
          <p:cNvSpPr>
            <a:spLocks noGrp="1"/>
          </p:cNvSpPr>
          <p:nvPr>
            <p:ph type="title"/>
          </p:nvPr>
        </p:nvSpPr>
        <p:spPr>
          <a:xfrm>
            <a:off x="640080" y="1243013"/>
            <a:ext cx="3855720" cy="4371974"/>
          </a:xfrm>
        </p:spPr>
        <p:txBody>
          <a:bodyPr>
            <a:normAutofit/>
          </a:bodyPr>
          <a:lstStyle/>
          <a:p>
            <a:r>
              <a:rPr lang="en-US" sz="3600">
                <a:solidFill>
                  <a:schemeClr val="tx2"/>
                </a:solidFill>
              </a:rPr>
              <a:t>MCQ - 3</a:t>
            </a:r>
          </a:p>
        </p:txBody>
      </p:sp>
      <p:sp>
        <p:nvSpPr>
          <p:cNvPr id="3" name="Content Placeholder 2">
            <a:extLst>
              <a:ext uri="{FF2B5EF4-FFF2-40B4-BE49-F238E27FC236}">
                <a16:creationId xmlns:a16="http://schemas.microsoft.com/office/drawing/2014/main" id="{D4A1949D-3FB2-7458-2E15-8686ED7A0190}"/>
              </a:ext>
            </a:extLst>
          </p:cNvPr>
          <p:cNvSpPr>
            <a:spLocks noGrp="1"/>
          </p:cNvSpPr>
          <p:nvPr>
            <p:ph idx="1"/>
          </p:nvPr>
        </p:nvSpPr>
        <p:spPr>
          <a:xfrm>
            <a:off x="6096000" y="813816"/>
            <a:ext cx="5221224" cy="5230368"/>
          </a:xfrm>
        </p:spPr>
        <p:txBody>
          <a:bodyPr anchor="ctr">
            <a:normAutofit/>
          </a:bodyPr>
          <a:lstStyle/>
          <a:p>
            <a:r>
              <a:rPr lang="en-US" sz="3200" dirty="0">
                <a:solidFill>
                  <a:schemeClr val="tx2"/>
                </a:solidFill>
              </a:rPr>
              <a:t>What is the term used for the group of participants who receive the standard treatment or no intervention in an RCT?</a:t>
            </a:r>
          </a:p>
          <a:p>
            <a:pPr lvl="1"/>
            <a:r>
              <a:rPr lang="en-US" sz="3200" dirty="0">
                <a:solidFill>
                  <a:schemeClr val="tx2"/>
                </a:solidFill>
              </a:rPr>
              <a:t>a) Experimental group</a:t>
            </a:r>
          </a:p>
          <a:p>
            <a:pPr lvl="1"/>
            <a:r>
              <a:rPr lang="en-US" sz="3200" dirty="0">
                <a:solidFill>
                  <a:schemeClr val="tx2"/>
                </a:solidFill>
              </a:rPr>
              <a:t>b) Control group</a:t>
            </a:r>
          </a:p>
          <a:p>
            <a:pPr lvl="1"/>
            <a:r>
              <a:rPr lang="en-US" sz="3200" dirty="0">
                <a:solidFill>
                  <a:schemeClr val="tx2"/>
                </a:solidFill>
              </a:rPr>
              <a:t>c) Placebo group</a:t>
            </a:r>
          </a:p>
          <a:p>
            <a:pPr lvl="1"/>
            <a:r>
              <a:rPr lang="en-US" sz="3200" dirty="0">
                <a:solidFill>
                  <a:schemeClr val="tx2"/>
                </a:solidFill>
              </a:rPr>
              <a:t>d) Randomized group</a:t>
            </a:r>
          </a:p>
        </p:txBody>
      </p:sp>
    </p:spTree>
    <p:extLst>
      <p:ext uri="{BB962C8B-B14F-4D97-AF65-F5344CB8AC3E}">
        <p14:creationId xmlns:p14="http://schemas.microsoft.com/office/powerpoint/2010/main" val="3159461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925E21-97C6-70D6-CD5A-3B82B6D704FF}"/>
              </a:ext>
            </a:extLst>
          </p:cNvPr>
          <p:cNvSpPr>
            <a:spLocks noGrp="1"/>
          </p:cNvSpPr>
          <p:nvPr>
            <p:ph type="title"/>
          </p:nvPr>
        </p:nvSpPr>
        <p:spPr>
          <a:xfrm>
            <a:off x="2019300" y="538956"/>
            <a:ext cx="8985250" cy="1118394"/>
          </a:xfrm>
        </p:spPr>
        <p:txBody>
          <a:bodyPr anchor="t">
            <a:normAutofit/>
          </a:bodyPr>
          <a:lstStyle/>
          <a:p>
            <a:r>
              <a:rPr lang="en-US" sz="4000"/>
              <a:t>MCQ - 4</a:t>
            </a:r>
          </a:p>
        </p:txBody>
      </p:sp>
      <p:pic>
        <p:nvPicPr>
          <p:cNvPr id="7" name="Graphic 6" descr="Lightning bolt">
            <a:extLst>
              <a:ext uri="{FF2B5EF4-FFF2-40B4-BE49-F238E27FC236}">
                <a16:creationId xmlns:a16="http://schemas.microsoft.com/office/drawing/2014/main" id="{AFD3B8BE-2420-3D1B-FD86-A10EF08F72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3F126AB8-652D-D06E-690B-22B8F9144A3E}"/>
              </a:ext>
            </a:extLst>
          </p:cNvPr>
          <p:cNvSpPr>
            <a:spLocks noGrp="1"/>
          </p:cNvSpPr>
          <p:nvPr>
            <p:ph idx="1"/>
          </p:nvPr>
        </p:nvSpPr>
        <p:spPr>
          <a:xfrm>
            <a:off x="1009650" y="1847849"/>
            <a:ext cx="9994900" cy="4254501"/>
          </a:xfrm>
        </p:spPr>
        <p:txBody>
          <a:bodyPr>
            <a:normAutofit/>
          </a:bodyPr>
          <a:lstStyle/>
          <a:p>
            <a:r>
              <a:rPr lang="en-US" dirty="0"/>
              <a:t>What is the main benefit of blinding or masking in an RCT?</a:t>
            </a:r>
          </a:p>
          <a:p>
            <a:pPr lvl="1"/>
            <a:r>
              <a:rPr lang="en-US" sz="2800" dirty="0"/>
              <a:t>a) It ensures that all participants receive the same treatment.</a:t>
            </a:r>
          </a:p>
          <a:p>
            <a:pPr lvl="1"/>
            <a:r>
              <a:rPr lang="en-US" sz="2800" dirty="0"/>
              <a:t>b) It prevents participants from knowing the study's objectives.</a:t>
            </a:r>
          </a:p>
          <a:p>
            <a:pPr lvl="1"/>
            <a:r>
              <a:rPr lang="en-US" sz="2800" dirty="0"/>
              <a:t>c) It reduces bias and influences the treatment's true effect.</a:t>
            </a:r>
          </a:p>
          <a:p>
            <a:pPr lvl="1"/>
            <a:r>
              <a:rPr lang="en-US" sz="2800" dirty="0"/>
              <a:t>d) It increases the number of participants in the study.</a:t>
            </a:r>
          </a:p>
        </p:txBody>
      </p:sp>
    </p:spTree>
    <p:extLst>
      <p:ext uri="{BB962C8B-B14F-4D97-AF65-F5344CB8AC3E}">
        <p14:creationId xmlns:p14="http://schemas.microsoft.com/office/powerpoint/2010/main" val="14003896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9">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FE90D6-296E-4D0B-0B48-48794CC00A75}"/>
              </a:ext>
            </a:extLst>
          </p:cNvPr>
          <p:cNvSpPr>
            <a:spLocks noGrp="1"/>
          </p:cNvSpPr>
          <p:nvPr>
            <p:ph type="title"/>
          </p:nvPr>
        </p:nvSpPr>
        <p:spPr>
          <a:xfrm>
            <a:off x="2019300" y="538956"/>
            <a:ext cx="8985250" cy="1118394"/>
          </a:xfrm>
        </p:spPr>
        <p:txBody>
          <a:bodyPr anchor="t">
            <a:normAutofit/>
          </a:bodyPr>
          <a:lstStyle/>
          <a:p>
            <a:r>
              <a:rPr lang="en-US" sz="4000"/>
              <a:t>MCQ - 5</a:t>
            </a:r>
          </a:p>
        </p:txBody>
      </p:sp>
      <p:pic>
        <p:nvPicPr>
          <p:cNvPr id="13" name="Graphic 6" descr="Medicine">
            <a:extLst>
              <a:ext uri="{FF2B5EF4-FFF2-40B4-BE49-F238E27FC236}">
                <a16:creationId xmlns:a16="http://schemas.microsoft.com/office/drawing/2014/main" id="{01E6EC68-96A3-EDFE-CEE9-0A7C10D4231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59BCCB2E-A87D-B4F8-1400-CE92E5BCBECD}"/>
              </a:ext>
            </a:extLst>
          </p:cNvPr>
          <p:cNvSpPr>
            <a:spLocks noGrp="1"/>
          </p:cNvSpPr>
          <p:nvPr>
            <p:ph idx="1"/>
          </p:nvPr>
        </p:nvSpPr>
        <p:spPr>
          <a:xfrm>
            <a:off x="1009650" y="1847849"/>
            <a:ext cx="9994900" cy="4254501"/>
          </a:xfrm>
        </p:spPr>
        <p:txBody>
          <a:bodyPr>
            <a:normAutofit/>
          </a:bodyPr>
          <a:lstStyle/>
          <a:p>
            <a:r>
              <a:rPr lang="en-US" dirty="0"/>
              <a:t>What is the main reason for conducting an RCT with a control group?</a:t>
            </a:r>
          </a:p>
          <a:p>
            <a:pPr lvl="1"/>
            <a:r>
              <a:rPr lang="en-US" sz="2800" dirty="0"/>
              <a:t>a) To compare the intervention's effectiveness to a placebo</a:t>
            </a:r>
          </a:p>
          <a:p>
            <a:pPr lvl="1"/>
            <a:r>
              <a:rPr lang="en-US" sz="2800" dirty="0"/>
              <a:t>b) To provide an opportunity for participants to choose their treatment</a:t>
            </a:r>
          </a:p>
          <a:p>
            <a:pPr lvl="1"/>
            <a:r>
              <a:rPr lang="en-US" sz="2800" dirty="0"/>
              <a:t>c) To reduce the number of participants in the study</a:t>
            </a:r>
          </a:p>
          <a:p>
            <a:pPr lvl="1"/>
            <a:r>
              <a:rPr lang="en-US" sz="2800" dirty="0"/>
              <a:t>d) To avoid any ethical issues associated with medical interventions</a:t>
            </a:r>
          </a:p>
        </p:txBody>
      </p:sp>
    </p:spTree>
    <p:extLst>
      <p:ext uri="{BB962C8B-B14F-4D97-AF65-F5344CB8AC3E}">
        <p14:creationId xmlns:p14="http://schemas.microsoft.com/office/powerpoint/2010/main" val="347685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DDBB197-D710-4A4F-A9CA-FD2177498B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75D1CFA-2CDB-4B64-BD9F-85744E8DA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8CFC21-C1DB-6BED-1B7C-CC3D2EE683FF}"/>
              </a:ext>
            </a:extLst>
          </p:cNvPr>
          <p:cNvSpPr>
            <a:spLocks noGrp="1"/>
          </p:cNvSpPr>
          <p:nvPr>
            <p:ph type="title"/>
          </p:nvPr>
        </p:nvSpPr>
        <p:spPr>
          <a:xfrm>
            <a:off x="804274" y="184406"/>
            <a:ext cx="4977976" cy="1454051"/>
          </a:xfrm>
        </p:spPr>
        <p:txBody>
          <a:bodyPr>
            <a:normAutofit/>
          </a:bodyPr>
          <a:lstStyle/>
          <a:p>
            <a:r>
              <a:rPr lang="en-US" sz="3600" dirty="0">
                <a:solidFill>
                  <a:schemeClr val="tx2"/>
                </a:solidFill>
              </a:rPr>
              <a:t>Manipulation</a:t>
            </a:r>
          </a:p>
        </p:txBody>
      </p:sp>
      <p:sp>
        <p:nvSpPr>
          <p:cNvPr id="3" name="Content Placeholder 2">
            <a:extLst>
              <a:ext uri="{FF2B5EF4-FFF2-40B4-BE49-F238E27FC236}">
                <a16:creationId xmlns:a16="http://schemas.microsoft.com/office/drawing/2014/main" id="{190B27D3-529D-151F-4A42-73AC911AFBE6}"/>
              </a:ext>
            </a:extLst>
          </p:cNvPr>
          <p:cNvSpPr>
            <a:spLocks noGrp="1"/>
          </p:cNvSpPr>
          <p:nvPr>
            <p:ph idx="1"/>
          </p:nvPr>
        </p:nvSpPr>
        <p:spPr>
          <a:xfrm>
            <a:off x="217423" y="1629089"/>
            <a:ext cx="6370946" cy="4425956"/>
          </a:xfrm>
        </p:spPr>
        <p:txBody>
          <a:bodyPr anchor="ctr">
            <a:normAutofit/>
          </a:bodyPr>
          <a:lstStyle/>
          <a:p>
            <a:r>
              <a:rPr lang="en-US" b="0" i="0" u="none" strike="noStrike" baseline="0" dirty="0">
                <a:solidFill>
                  <a:schemeClr val="tx2"/>
                </a:solidFill>
                <a:latin typeface="Times New Roman" panose="02020603050405020304" pitchFamily="18" charset="0"/>
              </a:rPr>
              <a:t>Intervene or manipulate the study (experimental) group </a:t>
            </a:r>
            <a:endParaRPr lang="en-US" dirty="0">
              <a:solidFill>
                <a:schemeClr val="tx2"/>
              </a:solidFill>
              <a:latin typeface="Times New Roman" panose="02020603050405020304" pitchFamily="18" charset="0"/>
            </a:endParaRPr>
          </a:p>
          <a:p>
            <a:pPr lvl="1"/>
            <a:r>
              <a:rPr lang="en-US" sz="2800" b="0" i="0" u="none" strike="noStrike" baseline="0" dirty="0">
                <a:solidFill>
                  <a:schemeClr val="tx2"/>
                </a:solidFill>
                <a:latin typeface="Times New Roman" panose="02020603050405020304" pitchFamily="18" charset="0"/>
              </a:rPr>
              <a:t>Deliberate application </a:t>
            </a:r>
            <a:endParaRPr lang="en-US" sz="2800" dirty="0">
              <a:solidFill>
                <a:schemeClr val="tx2"/>
              </a:solidFill>
              <a:latin typeface="Times New Roman" panose="02020603050405020304" pitchFamily="18" charset="0"/>
            </a:endParaRPr>
          </a:p>
          <a:p>
            <a:pPr lvl="1"/>
            <a:r>
              <a:rPr lang="en-US" sz="2800" b="0" i="0" u="none" strike="noStrike" baseline="0" dirty="0">
                <a:solidFill>
                  <a:schemeClr val="tx2"/>
                </a:solidFill>
                <a:latin typeface="Times New Roman" panose="02020603050405020304" pitchFamily="18" charset="0"/>
              </a:rPr>
              <a:t>Withdrawal</a:t>
            </a:r>
          </a:p>
          <a:p>
            <a:pPr lvl="1"/>
            <a:r>
              <a:rPr lang="en-US" sz="2800" b="0" i="0" u="none" strike="noStrike" baseline="0" dirty="0">
                <a:solidFill>
                  <a:schemeClr val="tx2"/>
                </a:solidFill>
                <a:latin typeface="Times New Roman" panose="02020603050405020304" pitchFamily="18" charset="0"/>
              </a:rPr>
              <a:t>Reduction of the suspected causal factor</a:t>
            </a:r>
          </a:p>
          <a:p>
            <a:r>
              <a:rPr lang="en-US" b="0" i="0" u="none" strike="noStrike" baseline="0" dirty="0">
                <a:solidFill>
                  <a:schemeClr val="tx2"/>
                </a:solidFill>
                <a:latin typeface="Times New Roman" panose="02020603050405020304" pitchFamily="18" charset="0"/>
              </a:rPr>
              <a:t>This manipulation creates an </a:t>
            </a:r>
            <a:r>
              <a:rPr lang="en-US" b="0" i="1" u="none" strike="noStrike" baseline="0" dirty="0">
                <a:solidFill>
                  <a:schemeClr val="tx2"/>
                </a:solidFill>
                <a:latin typeface="Times New Roman" panose="02020603050405020304" pitchFamily="18" charset="0"/>
              </a:rPr>
              <a:t>independent </a:t>
            </a:r>
            <a:r>
              <a:rPr lang="en-US" b="0" i="0" u="none" strike="noStrike" baseline="0" dirty="0">
                <a:solidFill>
                  <a:schemeClr val="tx2"/>
                </a:solidFill>
                <a:latin typeface="Times New Roman" panose="02020603050405020304" pitchFamily="18" charset="0"/>
              </a:rPr>
              <a:t>variable </a:t>
            </a:r>
          </a:p>
          <a:p>
            <a:r>
              <a:rPr lang="en-US" b="0" i="0" u="none" strike="noStrike" baseline="0" dirty="0">
                <a:solidFill>
                  <a:schemeClr val="tx2"/>
                </a:solidFill>
                <a:latin typeface="Times New Roman" panose="02020603050405020304" pitchFamily="18" charset="0"/>
              </a:rPr>
              <a:t>Final outcome, which constitutes the </a:t>
            </a:r>
            <a:r>
              <a:rPr lang="en-US" b="0" i="1" u="none" strike="noStrike" baseline="0" dirty="0">
                <a:solidFill>
                  <a:schemeClr val="tx2"/>
                </a:solidFill>
                <a:latin typeface="Times New Roman" panose="02020603050405020304" pitchFamily="18" charset="0"/>
              </a:rPr>
              <a:t>dependent variable</a:t>
            </a:r>
            <a:endParaRPr lang="en-US" dirty="0">
              <a:solidFill>
                <a:schemeClr val="tx2"/>
              </a:solidFill>
            </a:endParaRPr>
          </a:p>
        </p:txBody>
      </p:sp>
      <p:grpSp>
        <p:nvGrpSpPr>
          <p:cNvPr id="14" name="Group 13">
            <a:extLst>
              <a:ext uri="{FF2B5EF4-FFF2-40B4-BE49-F238E27FC236}">
                <a16:creationId xmlns:a16="http://schemas.microsoft.com/office/drawing/2014/main" id="{25EE5136-01F1-466C-962D-BA9B4C6757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69897" y="0"/>
            <a:ext cx="5822103" cy="6685267"/>
            <a:chOff x="6357228" y="0"/>
            <a:chExt cx="5822103" cy="6685267"/>
          </a:xfrm>
        </p:grpSpPr>
        <p:sp>
          <p:nvSpPr>
            <p:cNvPr id="15" name="Freeform: Shape 14">
              <a:extLst>
                <a:ext uri="{FF2B5EF4-FFF2-40B4-BE49-F238E27FC236}">
                  <a16:creationId xmlns:a16="http://schemas.microsoft.com/office/drawing/2014/main" id="{E11D3AD4-AF9B-4EB5-8C7B-C45D173B4B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5102EBE-A80F-4CFF-B1DD-941EF9728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C18CE1F-9DF1-47AF-9E66-6CE348AC2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BD26A8C-8D1D-41E6-A71E-FE9AC75F3F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Graphic 6" descr="Rat">
            <a:extLst>
              <a:ext uri="{FF2B5EF4-FFF2-40B4-BE49-F238E27FC236}">
                <a16:creationId xmlns:a16="http://schemas.microsoft.com/office/drawing/2014/main" id="{4C92B3AC-E7E4-2B57-65A0-BF6F7B01149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37498320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6D73990-0CD9-C7DF-8F61-F34CBAC55754}"/>
              </a:ext>
            </a:extLst>
          </p:cNvPr>
          <p:cNvSpPr>
            <a:spLocks noGrp="1"/>
          </p:cNvSpPr>
          <p:nvPr>
            <p:ph type="title"/>
          </p:nvPr>
        </p:nvSpPr>
        <p:spPr>
          <a:xfrm>
            <a:off x="1137034" y="298113"/>
            <a:ext cx="6881026" cy="914399"/>
          </a:xfrm>
        </p:spPr>
        <p:txBody>
          <a:bodyPr>
            <a:normAutofit/>
          </a:bodyPr>
          <a:lstStyle/>
          <a:p>
            <a:r>
              <a:rPr lang="en-US" dirty="0"/>
              <a:t>Follow up</a:t>
            </a:r>
          </a:p>
        </p:txBody>
      </p:sp>
      <p:sp>
        <p:nvSpPr>
          <p:cNvPr id="3" name="Content Placeholder 2">
            <a:extLst>
              <a:ext uri="{FF2B5EF4-FFF2-40B4-BE49-F238E27FC236}">
                <a16:creationId xmlns:a16="http://schemas.microsoft.com/office/drawing/2014/main" id="{C6A9D905-7ACD-1BC8-355A-FAB9FD58CCAC}"/>
              </a:ext>
            </a:extLst>
          </p:cNvPr>
          <p:cNvSpPr>
            <a:spLocks noGrp="1"/>
          </p:cNvSpPr>
          <p:nvPr>
            <p:ph idx="1"/>
          </p:nvPr>
        </p:nvSpPr>
        <p:spPr>
          <a:xfrm>
            <a:off x="244523" y="1524000"/>
            <a:ext cx="8748215" cy="5035887"/>
          </a:xfrm>
        </p:spPr>
        <p:txBody>
          <a:bodyPr>
            <a:normAutofit lnSpcReduction="10000"/>
          </a:bodyPr>
          <a:lstStyle/>
          <a:p>
            <a:r>
              <a:rPr lang="en-US" b="0" i="0" u="none" strike="noStrike" baseline="0" dirty="0">
                <a:latin typeface="Times New Roman" panose="02020603050405020304" pitchFamily="18" charset="0"/>
              </a:rPr>
              <a:t>Examination of the experimental and control group subjects</a:t>
            </a:r>
          </a:p>
          <a:p>
            <a:pPr lvl="1"/>
            <a:r>
              <a:rPr lang="en-US" sz="2800" b="0" i="0" u="none" strike="noStrike" baseline="0" dirty="0">
                <a:latin typeface="Times New Roman" panose="02020603050405020304" pitchFamily="18" charset="0"/>
              </a:rPr>
              <a:t>Defined intervals of time, </a:t>
            </a:r>
            <a:endParaRPr lang="en-US" sz="2800" dirty="0">
              <a:latin typeface="Times New Roman" panose="02020603050405020304" pitchFamily="18" charset="0"/>
            </a:endParaRPr>
          </a:p>
          <a:p>
            <a:pPr lvl="1"/>
            <a:r>
              <a:rPr lang="en-US" sz="2800" b="0" i="0" u="none" strike="noStrike" baseline="0" dirty="0">
                <a:latin typeface="Times New Roman" panose="02020603050405020304" pitchFamily="18" charset="0"/>
              </a:rPr>
              <a:t>Standard manner, with equal intensity, under the same given circumstances</a:t>
            </a:r>
          </a:p>
          <a:p>
            <a:pPr lvl="1"/>
            <a:r>
              <a:rPr lang="en-US" sz="2800" b="0" i="0" u="none" strike="noStrike" baseline="0" dirty="0">
                <a:latin typeface="Times New Roman" panose="02020603050405020304" pitchFamily="18" charset="0"/>
              </a:rPr>
              <a:t>Same time frame till final assessment of outcome. </a:t>
            </a:r>
          </a:p>
          <a:p>
            <a:r>
              <a:rPr lang="en-US" b="0" i="0" u="none" strike="noStrike" baseline="0" dirty="0">
                <a:latin typeface="Times New Roman" panose="02020603050405020304" pitchFamily="18" charset="0"/>
              </a:rPr>
              <a:t>The duration of the trial is usually based on the expectation that a significant difference (e.g., mortality) will be demonstrable at a given point in time after the start of the trial.</a:t>
            </a:r>
          </a:p>
          <a:p>
            <a:r>
              <a:rPr lang="en-US" b="0" i="0" u="none" strike="noStrike" baseline="0" dirty="0">
                <a:latin typeface="Times New Roman" panose="02020603050405020304" pitchFamily="18" charset="0"/>
              </a:rPr>
              <a:t>It may be mentioned that some losses to follow-up are inevitable due to factors, such as death, migration and loss of interest. This is known as attrition</a:t>
            </a:r>
            <a:endParaRPr lang="en-US" dirty="0"/>
          </a:p>
        </p:txBody>
      </p:sp>
      <p:pic>
        <p:nvPicPr>
          <p:cNvPr id="27" name="Graphic 6" descr="Statistics">
            <a:extLst>
              <a:ext uri="{FF2B5EF4-FFF2-40B4-BE49-F238E27FC236}">
                <a16:creationId xmlns:a16="http://schemas.microsoft.com/office/drawing/2014/main" id="{F830F337-0E46-F9BC-6DD2-84ADE565AF0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5981" y="1990229"/>
            <a:ext cx="2906973" cy="2906973"/>
          </a:xfrm>
          <a:prstGeom prst="rect">
            <a:avLst/>
          </a:prstGeom>
        </p:spPr>
      </p:pic>
    </p:spTree>
    <p:extLst>
      <p:ext uri="{BB962C8B-B14F-4D97-AF65-F5344CB8AC3E}">
        <p14:creationId xmlns:p14="http://schemas.microsoft.com/office/powerpoint/2010/main" val="3840909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4002BF1-36BA-DA53-0CA0-EB46765CE715}"/>
              </a:ext>
            </a:extLst>
          </p:cNvPr>
          <p:cNvSpPr>
            <a:spLocks noGrp="1"/>
          </p:cNvSpPr>
          <p:nvPr>
            <p:ph type="title"/>
          </p:nvPr>
        </p:nvSpPr>
        <p:spPr>
          <a:xfrm>
            <a:off x="1137034" y="609600"/>
            <a:ext cx="6881026" cy="1322887"/>
          </a:xfrm>
        </p:spPr>
        <p:txBody>
          <a:bodyPr>
            <a:normAutofit/>
          </a:bodyPr>
          <a:lstStyle/>
          <a:p>
            <a:r>
              <a:rPr lang="en-US" dirty="0"/>
              <a:t>Assessment</a:t>
            </a:r>
          </a:p>
        </p:txBody>
      </p:sp>
      <p:sp>
        <p:nvSpPr>
          <p:cNvPr id="3" name="Content Placeholder 2">
            <a:extLst>
              <a:ext uri="{FF2B5EF4-FFF2-40B4-BE49-F238E27FC236}">
                <a16:creationId xmlns:a16="http://schemas.microsoft.com/office/drawing/2014/main" id="{6E7725B4-B821-5D3F-91D6-31DCE1CC1BCA}"/>
              </a:ext>
            </a:extLst>
          </p:cNvPr>
          <p:cNvSpPr>
            <a:spLocks noGrp="1"/>
          </p:cNvSpPr>
          <p:nvPr>
            <p:ph idx="1"/>
          </p:nvPr>
        </p:nvSpPr>
        <p:spPr>
          <a:xfrm>
            <a:off x="406879" y="1758462"/>
            <a:ext cx="7900055" cy="4344225"/>
          </a:xfrm>
        </p:spPr>
        <p:txBody>
          <a:bodyPr>
            <a:noAutofit/>
          </a:bodyPr>
          <a:lstStyle/>
          <a:p>
            <a:r>
              <a:rPr lang="en-US" b="0" i="1" u="none" strike="noStrike" baseline="0">
                <a:latin typeface="Times New Roman" panose="02020603050405020304" pitchFamily="18" charset="0"/>
              </a:rPr>
              <a:t>Positiue results : </a:t>
            </a:r>
            <a:r>
              <a:rPr lang="en-US" b="0" i="0" u="none" strike="noStrike" baseline="0">
                <a:latin typeface="Times New Roman" panose="02020603050405020304" pitchFamily="18" charset="0"/>
              </a:rPr>
              <a:t>benefits of the experimental measure such as </a:t>
            </a:r>
          </a:p>
          <a:p>
            <a:pPr lvl="1"/>
            <a:r>
              <a:rPr lang="en-US" sz="2800" b="0" i="0" u="none" strike="noStrike" baseline="0">
                <a:latin typeface="Times New Roman" panose="02020603050405020304" pitchFamily="18" charset="0"/>
              </a:rPr>
              <a:t>Reduced incidence or severity of the disease, </a:t>
            </a:r>
          </a:p>
          <a:p>
            <a:pPr lvl="1"/>
            <a:r>
              <a:rPr lang="en-US" sz="2800" b="0" i="0" u="none" strike="noStrike" baseline="0">
                <a:latin typeface="Times New Roman" panose="02020603050405020304" pitchFamily="18" charset="0"/>
              </a:rPr>
              <a:t>Cost to the health service </a:t>
            </a:r>
          </a:p>
          <a:p>
            <a:r>
              <a:rPr lang="en-US" b="0" i="1" u="none" strike="noStrike" baseline="0">
                <a:latin typeface="Times New Roman" panose="02020603050405020304" pitchFamily="18" charset="0"/>
              </a:rPr>
              <a:t>Negatiue results : </a:t>
            </a:r>
            <a:r>
              <a:rPr lang="en-US" b="0" i="0" u="none" strike="noStrike" baseline="0">
                <a:latin typeface="Times New Roman" panose="02020603050405020304" pitchFamily="18" charset="0"/>
              </a:rPr>
              <a:t>severity and frequency of side-effects and complications, if any, including death.</a:t>
            </a:r>
          </a:p>
          <a:p>
            <a:endParaRPr lang="en-US">
              <a:latin typeface="Times New Roman" panose="02020603050405020304" pitchFamily="18" charset="0"/>
            </a:endParaRPr>
          </a:p>
          <a:p>
            <a:r>
              <a:rPr lang="en-US" b="0" i="0" u="none" strike="noStrike" baseline="0">
                <a:latin typeface="Times New Roman" panose="02020603050405020304" pitchFamily="18" charset="0"/>
              </a:rPr>
              <a:t>The incidence of positive/negative results is rigorously compared in both the groups, and the differences, if any, are tested for statistical significance.</a:t>
            </a:r>
            <a:endParaRPr lang="en-US" dirty="0"/>
          </a:p>
        </p:txBody>
      </p:sp>
      <p:pic>
        <p:nvPicPr>
          <p:cNvPr id="7" name="Graphic 6" descr="Bar chart">
            <a:extLst>
              <a:ext uri="{FF2B5EF4-FFF2-40B4-BE49-F238E27FC236}">
                <a16:creationId xmlns:a16="http://schemas.microsoft.com/office/drawing/2014/main" id="{BF1D4D75-73D1-2EF0-65B1-A1E585C44AD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795981" y="1990229"/>
            <a:ext cx="2906973" cy="2906973"/>
          </a:xfrm>
          <a:prstGeom prst="rect">
            <a:avLst/>
          </a:prstGeom>
        </p:spPr>
      </p:pic>
    </p:spTree>
    <p:extLst>
      <p:ext uri="{BB962C8B-B14F-4D97-AF65-F5344CB8AC3E}">
        <p14:creationId xmlns:p14="http://schemas.microsoft.com/office/powerpoint/2010/main" val="2304194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16C3F7-5BBE-138F-D560-DFCCF4445F7B}"/>
              </a:ext>
            </a:extLst>
          </p:cNvPr>
          <p:cNvSpPr>
            <a:spLocks noGrp="1"/>
          </p:cNvSpPr>
          <p:nvPr>
            <p:ph type="title"/>
          </p:nvPr>
        </p:nvSpPr>
        <p:spPr>
          <a:xfrm>
            <a:off x="838200" y="365125"/>
            <a:ext cx="10515600" cy="1325563"/>
          </a:xfrm>
        </p:spPr>
        <p:txBody>
          <a:bodyPr>
            <a:normAutofit/>
          </a:bodyPr>
          <a:lstStyle/>
          <a:p>
            <a:r>
              <a:rPr lang="en-US" sz="5400"/>
              <a:t>Bias &amp; Blinding</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5A48759-4B76-5806-9B25-69F00B246DBF}"/>
              </a:ext>
            </a:extLst>
          </p:cNvPr>
          <p:cNvSpPr>
            <a:spLocks noGrp="1"/>
          </p:cNvSpPr>
          <p:nvPr>
            <p:ph idx="1"/>
          </p:nvPr>
        </p:nvSpPr>
        <p:spPr>
          <a:xfrm>
            <a:off x="838200" y="1929384"/>
            <a:ext cx="10515600" cy="4251960"/>
          </a:xfrm>
        </p:spPr>
        <p:txBody>
          <a:bodyPr>
            <a:normAutofit fontScale="92500" lnSpcReduction="10000"/>
          </a:bodyPr>
          <a:lstStyle/>
          <a:p>
            <a:r>
              <a:rPr lang="en-US" sz="2400" dirty="0"/>
              <a:t>Subject variation (Participant) – Single Blind</a:t>
            </a:r>
          </a:p>
          <a:p>
            <a:pPr lvl="1"/>
            <a:r>
              <a:rPr lang="en-US" b="0" i="0" u="none" strike="noStrike" baseline="0" dirty="0">
                <a:latin typeface="Times New Roman" panose="02020603050405020304" pitchFamily="18" charset="0"/>
              </a:rPr>
              <a:t>Subjectively feel better or report improvement if they knew they were receiving a new form of treatment.</a:t>
            </a:r>
          </a:p>
          <a:p>
            <a:r>
              <a:rPr lang="en-US" sz="2400" dirty="0"/>
              <a:t>Observer Bias (Investigator) – Double Blind</a:t>
            </a:r>
          </a:p>
          <a:p>
            <a:pPr lvl="1"/>
            <a:r>
              <a:rPr lang="en-US" dirty="0">
                <a:latin typeface="Times New Roman" panose="02020603050405020304" pitchFamily="18" charset="0"/>
              </a:rPr>
              <a:t>Investigator measuring the outcome of a therapeutic trial may be influenced if he knows beforehand the particular procedure or therapy to which the patient has been subjected.</a:t>
            </a:r>
          </a:p>
          <a:p>
            <a:r>
              <a:rPr lang="en-US" sz="2400" dirty="0">
                <a:latin typeface="Times New Roman" panose="02020603050405020304" pitchFamily="18" charset="0"/>
              </a:rPr>
              <a:t>Bias in evaluation (Person reporting)</a:t>
            </a:r>
          </a:p>
          <a:p>
            <a:pPr lvl="1"/>
            <a:endParaRPr lang="en-US" dirty="0">
              <a:latin typeface="Times New Roman" panose="02020603050405020304" pitchFamily="18" charset="0"/>
            </a:endParaRPr>
          </a:p>
          <a:p>
            <a:r>
              <a:rPr lang="en-US" sz="2400" dirty="0">
                <a:latin typeface="Times New Roman" panose="02020603050405020304" pitchFamily="18" charset="0"/>
              </a:rPr>
              <a:t>Triple Blind</a:t>
            </a:r>
          </a:p>
          <a:p>
            <a:pPr lvl="1"/>
            <a:r>
              <a:rPr lang="en-US" b="0" i="0" u="none" strike="noStrike" baseline="0" dirty="0">
                <a:latin typeface="Times New Roman" panose="02020603050405020304" pitchFamily="18" charset="0"/>
              </a:rPr>
              <a:t>The participant, the investigator and the person analyzing the data are all “blind”. </a:t>
            </a:r>
          </a:p>
          <a:p>
            <a:pPr lvl="1"/>
            <a:r>
              <a:rPr lang="en-US" b="0" i="0" u="none" strike="noStrike" baseline="0" dirty="0">
                <a:latin typeface="Times New Roman" panose="02020603050405020304" pitchFamily="18" charset="0"/>
              </a:rPr>
              <a:t>Double blinding is the most frequently used method when a blind trial is conducted</a:t>
            </a:r>
            <a:endParaRPr lang="en-US" dirty="0">
              <a:latin typeface="Times New Roman" panose="02020603050405020304" pitchFamily="18" charset="0"/>
            </a:endParaRPr>
          </a:p>
          <a:p>
            <a:pPr lvl="1"/>
            <a:endParaRPr lang="en-US" dirty="0">
              <a:latin typeface="Times New Roman" panose="02020603050405020304" pitchFamily="18" charset="0"/>
            </a:endParaRPr>
          </a:p>
        </p:txBody>
      </p:sp>
    </p:spTree>
    <p:extLst>
      <p:ext uri="{BB962C8B-B14F-4D97-AF65-F5344CB8AC3E}">
        <p14:creationId xmlns:p14="http://schemas.microsoft.com/office/powerpoint/2010/main" val="3497115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1E020063-2385-44AC-BD67-258E1F0B9F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7E014A0B-5338-4077-AFE9-A90D04D449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CCA5F8-5047-0D70-0918-0ECABCD2720B}"/>
              </a:ext>
            </a:extLst>
          </p:cNvPr>
          <p:cNvSpPr>
            <a:spLocks noGrp="1"/>
          </p:cNvSpPr>
          <p:nvPr>
            <p:ph type="title"/>
          </p:nvPr>
        </p:nvSpPr>
        <p:spPr>
          <a:xfrm>
            <a:off x="1180947" y="248562"/>
            <a:ext cx="9829800" cy="773334"/>
          </a:xfrm>
        </p:spPr>
        <p:txBody>
          <a:bodyPr anchor="b">
            <a:normAutofit/>
          </a:bodyPr>
          <a:lstStyle/>
          <a:p>
            <a:pPr algn="ctr"/>
            <a:r>
              <a:rPr lang="en-US" sz="3600" dirty="0">
                <a:solidFill>
                  <a:schemeClr val="tx2"/>
                </a:solidFill>
              </a:rPr>
              <a:t>Study design</a:t>
            </a:r>
          </a:p>
        </p:txBody>
      </p:sp>
      <p:grpSp>
        <p:nvGrpSpPr>
          <p:cNvPr id="27" name="Group 26">
            <a:extLst>
              <a:ext uri="{FF2B5EF4-FFF2-40B4-BE49-F238E27FC236}">
                <a16:creationId xmlns:a16="http://schemas.microsoft.com/office/drawing/2014/main" id="{78127680-150F-4A90-9950-F663925781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1"/>
            <a:ext cx="3362070" cy="2522849"/>
            <a:chOff x="-305" y="-1"/>
            <a:chExt cx="3832880" cy="2876136"/>
          </a:xfrm>
        </p:grpSpPr>
        <p:sp>
          <p:nvSpPr>
            <p:cNvPr id="28" name="Freeform: Shape 27">
              <a:extLst>
                <a:ext uri="{FF2B5EF4-FFF2-40B4-BE49-F238E27FC236}">
                  <a16:creationId xmlns:a16="http://schemas.microsoft.com/office/drawing/2014/main" id="{5088F97A-8362-4967-B664-D748B846EC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30F9DEDE-4318-412A-81C5-C8C90F6897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Freeform: Shape 29">
              <a:extLst>
                <a:ext uri="{FF2B5EF4-FFF2-40B4-BE49-F238E27FC236}">
                  <a16:creationId xmlns:a16="http://schemas.microsoft.com/office/drawing/2014/main" id="{09E97DE9-7844-4707-8928-1CD88ADB72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EC58954E-44A5-4A0D-97A9-8A2BB43D68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78499B5B-ACED-3968-8581-39B4BB91C140}"/>
              </a:ext>
            </a:extLst>
          </p:cNvPr>
          <p:cNvSpPr>
            <a:spLocks noGrp="1"/>
          </p:cNvSpPr>
          <p:nvPr>
            <p:ph idx="1"/>
          </p:nvPr>
        </p:nvSpPr>
        <p:spPr>
          <a:xfrm>
            <a:off x="257908" y="1270456"/>
            <a:ext cx="7315200" cy="5338981"/>
          </a:xfrm>
        </p:spPr>
        <p:txBody>
          <a:bodyPr anchor="ctr">
            <a:normAutofit fontScale="92500" lnSpcReduction="10000"/>
          </a:bodyPr>
          <a:lstStyle/>
          <a:p>
            <a:r>
              <a:rPr lang="en-US" dirty="0">
                <a:solidFill>
                  <a:schemeClr val="tx2"/>
                </a:solidFill>
              </a:rPr>
              <a:t>Concurrent parallel study design</a:t>
            </a:r>
          </a:p>
          <a:p>
            <a:r>
              <a:rPr lang="en-US" dirty="0">
                <a:solidFill>
                  <a:schemeClr val="tx2"/>
                </a:solidFill>
              </a:rPr>
              <a:t>Cross over</a:t>
            </a:r>
          </a:p>
          <a:p>
            <a:r>
              <a:rPr lang="en-US" b="0" i="0" u="none" strike="noStrike" baseline="0" dirty="0">
                <a:solidFill>
                  <a:schemeClr val="tx2"/>
                </a:solidFill>
                <a:latin typeface="Times New Roman" panose="02020603050405020304" pitchFamily="18" charset="0"/>
              </a:rPr>
              <a:t>All patients can be assured that sometime during the course of investigation, they will receive the new therapy. </a:t>
            </a:r>
          </a:p>
          <a:p>
            <a:r>
              <a:rPr lang="en-US" b="0" i="0" u="none" strike="noStrike" baseline="0" dirty="0">
                <a:solidFill>
                  <a:schemeClr val="tx2"/>
                </a:solidFill>
                <a:latin typeface="Times New Roman" panose="02020603050405020304" pitchFamily="18" charset="0"/>
              </a:rPr>
              <a:t>Economize on the total number of patients required at the expense of the time necessary to complete the study. </a:t>
            </a:r>
          </a:p>
          <a:p>
            <a:r>
              <a:rPr lang="en-US" b="0" i="0" u="none" strike="noStrike" baseline="0" dirty="0">
                <a:solidFill>
                  <a:schemeClr val="tx2"/>
                </a:solidFill>
                <a:latin typeface="Times New Roman" panose="02020603050405020304" pitchFamily="18" charset="0"/>
              </a:rPr>
              <a:t>Not suitable </a:t>
            </a:r>
            <a:endParaRPr lang="en-US" dirty="0">
              <a:solidFill>
                <a:schemeClr val="tx2"/>
              </a:solidFill>
              <a:latin typeface="Times New Roman" panose="02020603050405020304" pitchFamily="18" charset="0"/>
            </a:endParaRPr>
          </a:p>
          <a:p>
            <a:pPr lvl="1"/>
            <a:r>
              <a:rPr lang="en-US" sz="2800" b="0" i="0" u="none" strike="noStrike" baseline="0" dirty="0">
                <a:solidFill>
                  <a:schemeClr val="tx2"/>
                </a:solidFill>
                <a:latin typeface="Times New Roman" panose="02020603050405020304" pitchFamily="18" charset="0"/>
              </a:rPr>
              <a:t>The drug of interest cures the disease, </a:t>
            </a:r>
            <a:endParaRPr lang="en-US" sz="2800" dirty="0">
              <a:solidFill>
                <a:schemeClr val="tx2"/>
              </a:solidFill>
              <a:latin typeface="Times New Roman" panose="02020603050405020304" pitchFamily="18" charset="0"/>
            </a:endParaRPr>
          </a:p>
          <a:p>
            <a:pPr lvl="1"/>
            <a:r>
              <a:rPr lang="en-US" sz="2800" b="0" i="0" u="none" strike="noStrike" baseline="0" dirty="0">
                <a:solidFill>
                  <a:schemeClr val="tx2"/>
                </a:solidFill>
                <a:latin typeface="Times New Roman" panose="02020603050405020304" pitchFamily="18" charset="0"/>
              </a:rPr>
              <a:t>The drug is effective only during a certain stage of the disease </a:t>
            </a:r>
            <a:endParaRPr lang="en-US" sz="2800" dirty="0">
              <a:solidFill>
                <a:schemeClr val="tx2"/>
              </a:solidFill>
              <a:latin typeface="Times New Roman" panose="02020603050405020304" pitchFamily="18" charset="0"/>
            </a:endParaRPr>
          </a:p>
          <a:p>
            <a:pPr lvl="1"/>
            <a:r>
              <a:rPr lang="en-US" sz="2800" b="0" i="0" u="none" strike="noStrike" baseline="0" dirty="0">
                <a:solidFill>
                  <a:schemeClr val="tx2"/>
                </a:solidFill>
                <a:latin typeface="Times New Roman" panose="02020603050405020304" pitchFamily="18" charset="0"/>
              </a:rPr>
              <a:t>The disease changes radically during the period of time required for the study.</a:t>
            </a:r>
            <a:endParaRPr lang="en-US" sz="2800" dirty="0">
              <a:solidFill>
                <a:schemeClr val="tx2"/>
              </a:solidFill>
            </a:endParaRPr>
          </a:p>
        </p:txBody>
      </p:sp>
      <p:grpSp>
        <p:nvGrpSpPr>
          <p:cNvPr id="33" name="Group 32">
            <a:extLst>
              <a:ext uri="{FF2B5EF4-FFF2-40B4-BE49-F238E27FC236}">
                <a16:creationId xmlns:a16="http://schemas.microsoft.com/office/drawing/2014/main" id="{466920E5-8640-4C24-A775-8647637094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flipH="1">
            <a:off x="10185732" y="4852038"/>
            <a:ext cx="2151670" cy="1860256"/>
            <a:chOff x="-305" y="-4155"/>
            <a:chExt cx="2514948" cy="2174333"/>
          </a:xfrm>
        </p:grpSpPr>
        <p:sp>
          <p:nvSpPr>
            <p:cNvPr id="34" name="Freeform: Shape 33">
              <a:extLst>
                <a:ext uri="{FF2B5EF4-FFF2-40B4-BE49-F238E27FC236}">
                  <a16:creationId xmlns:a16="http://schemas.microsoft.com/office/drawing/2014/main" id="{2CBA3142-5A82-43CE-87A2-EB14B17A51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AEF5A1C7-9938-4A33-A5A4-2B05353B3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262A936D-E9F6-4A68-82C2-1D1CC77722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7" name="Freeform: Shape 36">
              <a:extLst>
                <a:ext uri="{FF2B5EF4-FFF2-40B4-BE49-F238E27FC236}">
                  <a16:creationId xmlns:a16="http://schemas.microsoft.com/office/drawing/2014/main" id="{C68A9229-BBBE-4934-9700-BA72A1BB03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7" name="Graphic 6" descr="Circles with Lines">
            <a:extLst>
              <a:ext uri="{FF2B5EF4-FFF2-40B4-BE49-F238E27FC236}">
                <a16:creationId xmlns:a16="http://schemas.microsoft.com/office/drawing/2014/main" id="{8D9D0779-B7EE-AB30-8D88-D6602D6FA58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98058" y="2837712"/>
            <a:ext cx="3217333" cy="3217333"/>
          </a:xfrm>
          <a:prstGeom prst="rect">
            <a:avLst/>
          </a:prstGeom>
        </p:spPr>
      </p:pic>
    </p:spTree>
    <p:extLst>
      <p:ext uri="{BB962C8B-B14F-4D97-AF65-F5344CB8AC3E}">
        <p14:creationId xmlns:p14="http://schemas.microsoft.com/office/powerpoint/2010/main" val="33173844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diagram of a different type of flowchart&#10;&#10;Description automatically generated">
            <a:extLst>
              <a:ext uri="{FF2B5EF4-FFF2-40B4-BE49-F238E27FC236}">
                <a16:creationId xmlns:a16="http://schemas.microsoft.com/office/drawing/2014/main" id="{E95902C5-0311-9D60-E47E-935C0D736435}"/>
              </a:ext>
            </a:extLst>
          </p:cNvPr>
          <p:cNvPicPr>
            <a:picLocks noChangeAspect="1"/>
          </p:cNvPicPr>
          <p:nvPr/>
        </p:nvPicPr>
        <p:blipFill>
          <a:blip r:embed="rId2"/>
          <a:stretch>
            <a:fillRect/>
          </a:stretch>
        </p:blipFill>
        <p:spPr>
          <a:xfrm>
            <a:off x="484632" y="2220072"/>
            <a:ext cx="6716272" cy="2417857"/>
          </a:xfrm>
          <a:prstGeom prst="rect">
            <a:avLst/>
          </a:prstGeom>
        </p:spPr>
      </p:pic>
      <p:pic>
        <p:nvPicPr>
          <p:cNvPr id="1026" name="Picture 2" descr="Diagram of the randomized double-blind, placebo-controlled cross-over ...">
            <a:extLst>
              <a:ext uri="{FF2B5EF4-FFF2-40B4-BE49-F238E27FC236}">
                <a16:creationId xmlns:a16="http://schemas.microsoft.com/office/drawing/2014/main" id="{B525DD77-1CD6-5EDC-76BF-88A2435811C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534655" y="484632"/>
            <a:ext cx="4092672" cy="5888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7524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6B92C-E5BD-C6C3-3A49-2700163C7120}"/>
              </a:ext>
            </a:extLst>
          </p:cNvPr>
          <p:cNvSpPr>
            <a:spLocks noGrp="1"/>
          </p:cNvSpPr>
          <p:nvPr>
            <p:ph type="title"/>
          </p:nvPr>
        </p:nvSpPr>
        <p:spPr>
          <a:xfrm>
            <a:off x="838200" y="365125"/>
            <a:ext cx="10515600" cy="1325563"/>
          </a:xfrm>
        </p:spPr>
        <p:txBody>
          <a:bodyPr>
            <a:normAutofit/>
          </a:bodyPr>
          <a:lstStyle/>
          <a:p>
            <a:r>
              <a:rPr lang="en-US" sz="5400"/>
              <a:t>Types of RCT</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600E8B-6F8E-33C8-31A5-B583DD6B8F20}"/>
              </a:ext>
            </a:extLst>
          </p:cNvPr>
          <p:cNvSpPr>
            <a:spLocks noGrp="1"/>
          </p:cNvSpPr>
          <p:nvPr>
            <p:ph idx="1"/>
          </p:nvPr>
        </p:nvSpPr>
        <p:spPr>
          <a:xfrm>
            <a:off x="257908" y="1782128"/>
            <a:ext cx="11582400" cy="4601018"/>
          </a:xfrm>
        </p:spPr>
        <p:txBody>
          <a:bodyPr>
            <a:normAutofit fontScale="92500"/>
          </a:bodyPr>
          <a:lstStyle/>
          <a:p>
            <a:r>
              <a:rPr lang="en-US" sz="2400" u="sng" dirty="0"/>
              <a:t>Clinical Trial </a:t>
            </a:r>
            <a:r>
              <a:rPr lang="en-US" sz="2400" dirty="0"/>
              <a:t>- </a:t>
            </a:r>
            <a:r>
              <a:rPr lang="en-US" sz="2400" b="0" i="0" u="none" strike="noStrike" baseline="0" dirty="0">
                <a:latin typeface="Times New Roman" panose="02020603050405020304" pitchFamily="18" charset="0"/>
              </a:rPr>
              <a:t>should be carried out before any new therapy, procedure or service is introduced.</a:t>
            </a:r>
          </a:p>
          <a:p>
            <a:r>
              <a:rPr lang="en-US" sz="2400" u="sng" dirty="0"/>
              <a:t>Preventive trial </a:t>
            </a:r>
            <a:r>
              <a:rPr lang="en-US" sz="2400" dirty="0"/>
              <a:t>(primary prevention)</a:t>
            </a:r>
            <a:r>
              <a:rPr lang="en-US" sz="2400" dirty="0">
                <a:latin typeface="Times New Roman" panose="02020603050405020304" pitchFamily="18" charset="0"/>
              </a:rPr>
              <a:t> – vaccine or chemoprophylactic trial</a:t>
            </a:r>
          </a:p>
          <a:p>
            <a:r>
              <a:rPr lang="en-US" sz="2400" b="0" i="0" u="none" strike="noStrike" baseline="0" dirty="0">
                <a:latin typeface="Times New Roman" panose="02020603050405020304" pitchFamily="18" charset="0"/>
              </a:rPr>
              <a:t>Analysis of a preventive trial must result in a clear statement about </a:t>
            </a:r>
          </a:p>
          <a:p>
            <a:pPr lvl="1"/>
            <a:r>
              <a:rPr lang="en-US" b="0" i="0" u="none" strike="noStrike" baseline="0" dirty="0">
                <a:latin typeface="Times New Roman" panose="02020603050405020304" pitchFamily="18" charset="0"/>
              </a:rPr>
              <a:t>The benefit the community will derive from the measure </a:t>
            </a:r>
          </a:p>
          <a:p>
            <a:pPr lvl="1"/>
            <a:r>
              <a:rPr lang="en-US" b="0" i="0" u="none" strike="noStrike" baseline="0" dirty="0">
                <a:latin typeface="Times New Roman" panose="02020603050405020304" pitchFamily="18" charset="0"/>
              </a:rPr>
              <a:t>The risks involved</a:t>
            </a:r>
          </a:p>
          <a:p>
            <a:pPr lvl="1"/>
            <a:r>
              <a:rPr lang="en-US" b="0" i="0" u="none" strike="noStrike" baseline="0" dirty="0">
                <a:latin typeface="Times New Roman" panose="02020603050405020304" pitchFamily="18" charset="0"/>
              </a:rPr>
              <a:t>The costs to the health service in terms of money, men and material resources</a:t>
            </a:r>
            <a:r>
              <a:rPr lang="en-US" b="0" i="1" u="none" strike="noStrike" baseline="0" dirty="0">
                <a:latin typeface="Times New Roman" panose="02020603050405020304" pitchFamily="18" charset="0"/>
              </a:rPr>
              <a:t>. </a:t>
            </a:r>
          </a:p>
          <a:p>
            <a:r>
              <a:rPr lang="en-US" sz="2400" b="0" i="0" u="none" strike="noStrike" baseline="0" dirty="0">
                <a:latin typeface="Times New Roman" panose="02020603050405020304" pitchFamily="18" charset="0"/>
              </a:rPr>
              <a:t>Involve larger number of subjects and sometimes a longer time span to obtain results, there may be greater number of practical problems in their </a:t>
            </a:r>
            <a:r>
              <a:rPr lang="en-US" sz="2400" b="0" i="0" u="none" strike="noStrike" baseline="0" dirty="0" err="1">
                <a:latin typeface="Times New Roman" panose="02020603050405020304" pitchFamily="18" charset="0"/>
              </a:rPr>
              <a:t>organisation</a:t>
            </a:r>
            <a:r>
              <a:rPr lang="en-US" sz="2400" b="0" i="0" u="none" strike="noStrike" baseline="0" dirty="0">
                <a:latin typeface="Times New Roman" panose="02020603050405020304" pitchFamily="18" charset="0"/>
              </a:rPr>
              <a:t> and execution.</a:t>
            </a:r>
          </a:p>
          <a:p>
            <a:r>
              <a:rPr lang="en-US" sz="2400" u="sng" dirty="0"/>
              <a:t>Risk Factor trial </a:t>
            </a:r>
            <a:r>
              <a:rPr lang="en-US" sz="2400" dirty="0"/>
              <a:t>(subtype of preventive trial)</a:t>
            </a:r>
          </a:p>
          <a:p>
            <a:pPr lvl="1"/>
            <a:r>
              <a:rPr lang="en-US" b="0" i="0" u="none" strike="noStrike" baseline="0" dirty="0">
                <a:latin typeface="Times New Roman" panose="02020603050405020304" pitchFamily="18" charset="0"/>
              </a:rPr>
              <a:t>Intervenes to interrupt the usual sequence in the development of disease for those individuals who have “risk factor” for developing the disease; often this involves risk factor modification.</a:t>
            </a:r>
            <a:endParaRPr lang="en-US" dirty="0"/>
          </a:p>
        </p:txBody>
      </p:sp>
    </p:spTree>
    <p:extLst>
      <p:ext uri="{BB962C8B-B14F-4D97-AF65-F5344CB8AC3E}">
        <p14:creationId xmlns:p14="http://schemas.microsoft.com/office/powerpoint/2010/main" val="2734352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56B92C-E5BD-C6C3-3A49-2700163C7120}"/>
              </a:ext>
            </a:extLst>
          </p:cNvPr>
          <p:cNvSpPr>
            <a:spLocks noGrp="1"/>
          </p:cNvSpPr>
          <p:nvPr>
            <p:ph type="title"/>
          </p:nvPr>
        </p:nvSpPr>
        <p:spPr>
          <a:xfrm>
            <a:off x="838200" y="365125"/>
            <a:ext cx="10515600" cy="1325563"/>
          </a:xfrm>
        </p:spPr>
        <p:txBody>
          <a:bodyPr>
            <a:normAutofit/>
          </a:bodyPr>
          <a:lstStyle/>
          <a:p>
            <a:r>
              <a:rPr lang="en-US" sz="5400"/>
              <a:t>Types of RCT</a:t>
            </a:r>
          </a:p>
        </p:txBody>
      </p:sp>
      <p:sp>
        <p:nvSpPr>
          <p:cNvPr id="17"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7600E8B-6F8E-33C8-31A5-B583DD6B8F20}"/>
              </a:ext>
            </a:extLst>
          </p:cNvPr>
          <p:cNvSpPr>
            <a:spLocks noGrp="1"/>
          </p:cNvSpPr>
          <p:nvPr>
            <p:ph idx="1"/>
          </p:nvPr>
        </p:nvSpPr>
        <p:spPr>
          <a:xfrm>
            <a:off x="838200" y="1929384"/>
            <a:ext cx="10515600" cy="4251960"/>
          </a:xfrm>
        </p:spPr>
        <p:txBody>
          <a:bodyPr>
            <a:normAutofit/>
          </a:bodyPr>
          <a:lstStyle/>
          <a:p>
            <a:r>
              <a:rPr lang="en-US" sz="2400" u="sng"/>
              <a:t>Cessation experiments - </a:t>
            </a:r>
            <a:r>
              <a:rPr lang="en-US" sz="2400" b="0" i="0" u="none" strike="noStrike" baseline="0">
                <a:latin typeface="Times New Roman" panose="02020603050405020304" pitchFamily="18" charset="0"/>
              </a:rPr>
              <a:t>an attempt is made to evaluate the termination of a habit (or removal of suspected agent) which is considered to be causally related to a disease. If such action is followed by a significant reduction in the disease, the hypothesis of cause is greatly strengthened.</a:t>
            </a:r>
          </a:p>
          <a:p>
            <a:r>
              <a:rPr lang="en-US" sz="2400" u="sng"/>
              <a:t>Trial of aetiological agents</a:t>
            </a:r>
            <a:r>
              <a:rPr lang="en-US" sz="2400"/>
              <a:t> – </a:t>
            </a:r>
            <a:r>
              <a:rPr lang="en-US" sz="2400">
                <a:latin typeface="Times New Roman" panose="02020603050405020304" pitchFamily="18" charset="0"/>
              </a:rPr>
              <a:t>Retrolental fibroplasia</a:t>
            </a:r>
          </a:p>
          <a:p>
            <a:r>
              <a:rPr lang="en-US" sz="2400" u="sng"/>
              <a:t>Evaluation of health services </a:t>
            </a:r>
            <a:r>
              <a:rPr lang="en-US" sz="2400"/>
              <a:t>- </a:t>
            </a:r>
            <a:r>
              <a:rPr lang="en-US" sz="2400" b="0" i="0" u="none" strike="noStrike" baseline="0">
                <a:latin typeface="Times New Roman" panose="02020603050405020304" pitchFamily="18" charset="0"/>
              </a:rPr>
              <a:t>assess the effectiveness and efficiency of health services</a:t>
            </a:r>
            <a:r>
              <a:rPr lang="en-US" sz="2400" b="0" i="0" strike="noStrike" baseline="0">
                <a:latin typeface="Times New Roman" panose="02020603050405020304" pitchFamily="18" charset="0"/>
              </a:rPr>
              <a:t>. </a:t>
            </a:r>
          </a:p>
          <a:p>
            <a:pPr lvl="1"/>
            <a:r>
              <a:rPr lang="en-US" b="0" i="0" u="none" strike="noStrike" baseline="0">
                <a:latin typeface="Times New Roman" panose="02020603050405020304" pitchFamily="18" charset="0"/>
              </a:rPr>
              <a:t>Necessity of choice arises from the fact that resources are limited, and priorities must be set for the implementation of a large number of activities which could contribute to the welfare of the society.</a:t>
            </a:r>
          </a:p>
          <a:p>
            <a:pPr lvl="1"/>
            <a:r>
              <a:rPr lang="en-US" b="0" i="0" u="none" strike="noStrike" baseline="0">
                <a:latin typeface="Times New Roman" panose="02020603050405020304" pitchFamily="18" charset="0"/>
              </a:rPr>
              <a:t>These studies are also labelled as “health services research” studies.</a:t>
            </a:r>
          </a:p>
          <a:p>
            <a:endParaRPr lang="en-US" sz="2400" u="sng"/>
          </a:p>
        </p:txBody>
      </p:sp>
    </p:spTree>
    <p:extLst>
      <p:ext uri="{BB962C8B-B14F-4D97-AF65-F5344CB8AC3E}">
        <p14:creationId xmlns:p14="http://schemas.microsoft.com/office/powerpoint/2010/main" val="26479003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4941-CD30-D998-6A0B-3BCD3FED3E74}"/>
              </a:ext>
            </a:extLst>
          </p:cNvPr>
          <p:cNvSpPr>
            <a:spLocks noGrp="1"/>
          </p:cNvSpPr>
          <p:nvPr>
            <p:ph type="title"/>
          </p:nvPr>
        </p:nvSpPr>
        <p:spPr/>
        <p:txBody>
          <a:bodyPr/>
          <a:lstStyle/>
          <a:p>
            <a:r>
              <a:rPr lang="en-US" dirty="0"/>
              <a:t>Non – Randomized Trials</a:t>
            </a:r>
          </a:p>
        </p:txBody>
      </p:sp>
      <p:sp>
        <p:nvSpPr>
          <p:cNvPr id="3" name="Content Placeholder 2">
            <a:extLst>
              <a:ext uri="{FF2B5EF4-FFF2-40B4-BE49-F238E27FC236}">
                <a16:creationId xmlns:a16="http://schemas.microsoft.com/office/drawing/2014/main" id="{D67CDC45-FCDC-C93A-82F4-1C332E5EF918}"/>
              </a:ext>
            </a:extLst>
          </p:cNvPr>
          <p:cNvSpPr>
            <a:spLocks noGrp="1"/>
          </p:cNvSpPr>
          <p:nvPr>
            <p:ph idx="1"/>
          </p:nvPr>
        </p:nvSpPr>
        <p:spPr/>
        <p:txBody>
          <a:bodyPr>
            <a:normAutofit/>
          </a:bodyPr>
          <a:lstStyle/>
          <a:p>
            <a:pPr algn="l"/>
            <a:r>
              <a:rPr lang="en-US" sz="1800" b="0" i="0" u="none" strike="noStrike" baseline="0" dirty="0">
                <a:solidFill>
                  <a:srgbClr val="000000"/>
                </a:solidFill>
                <a:latin typeface="Times New Roman" panose="02020603050405020304" pitchFamily="18" charset="0"/>
              </a:rPr>
              <a:t>It is not always possible for ethical, administrative and other reasons to resort to a randomized controlled trial in human beings. </a:t>
            </a:r>
          </a:p>
          <a:p>
            <a:pPr algn="l"/>
            <a:r>
              <a:rPr lang="en-US" sz="1800" b="0" i="0" u="none" strike="noStrike" baseline="0" dirty="0">
                <a:solidFill>
                  <a:srgbClr val="000000"/>
                </a:solidFill>
                <a:latin typeface="Times New Roman" panose="02020603050405020304" pitchFamily="18" charset="0"/>
              </a:rPr>
              <a:t>Smoking and lung cancer and induction of cancer by viruses have not lent themselves to direct experimentation in human beings. </a:t>
            </a:r>
          </a:p>
          <a:p>
            <a:pPr algn="l"/>
            <a:r>
              <a:rPr lang="en-US" sz="1800" b="0" i="0" u="none" strike="noStrike" baseline="0" dirty="0">
                <a:solidFill>
                  <a:srgbClr val="000000"/>
                </a:solidFill>
                <a:latin typeface="Times New Roman" panose="02020603050405020304" pitchFamily="18" charset="0"/>
              </a:rPr>
              <a:t>Some preventive measures can be applied only to groups or on a community-wide basis (e.g., community trials of water fluoridation). </a:t>
            </a:r>
          </a:p>
          <a:p>
            <a:pPr algn="l"/>
            <a:r>
              <a:rPr lang="en-US" sz="1800" b="0" i="0" u="none" strike="noStrike" baseline="0" dirty="0">
                <a:solidFill>
                  <a:srgbClr val="000000"/>
                </a:solidFill>
                <a:latin typeface="Times New Roman" panose="02020603050405020304" pitchFamily="18" charset="0"/>
              </a:rPr>
              <a:t>When disease frequency is low and the natural history long (e.g., cancer cervix) randomized controlled trials require follow-up of thousands of people for a decade or more. The cost and logistics are often prohibitive. These trials are rare. </a:t>
            </a:r>
          </a:p>
          <a:p>
            <a:pPr algn="l"/>
            <a:r>
              <a:rPr lang="en-US" sz="1800" b="0" i="0" u="none" strike="noStrike" baseline="0" dirty="0">
                <a:solidFill>
                  <a:srgbClr val="000000"/>
                </a:solidFill>
                <a:latin typeface="Times New Roman" panose="02020603050405020304" pitchFamily="18" charset="0"/>
              </a:rPr>
              <a:t>Approach is sophisticated in randomized controlled trials, it is rather crude in non-randomized trials.</a:t>
            </a:r>
          </a:p>
          <a:p>
            <a:pPr algn="l"/>
            <a:r>
              <a:rPr lang="en-US" sz="1800" b="0" i="0" u="none" strike="noStrike" baseline="0" dirty="0">
                <a:solidFill>
                  <a:srgbClr val="000000"/>
                </a:solidFill>
                <a:latin typeface="Times New Roman" panose="02020603050405020304" pitchFamily="18" charset="0"/>
              </a:rPr>
              <a:t>As there is no randomization in non-experimental trials, the degree of comparability will be low and the chances of a spurious result higher than where randomization had taken place. </a:t>
            </a:r>
          </a:p>
          <a:p>
            <a:pPr algn="l"/>
            <a:r>
              <a:rPr lang="en-US" sz="1800" b="0" i="0" u="none" strike="noStrike" baseline="0" dirty="0">
                <a:solidFill>
                  <a:srgbClr val="000000"/>
                </a:solidFill>
                <a:latin typeface="Times New Roman" panose="02020603050405020304" pitchFamily="18" charset="0"/>
              </a:rPr>
              <a:t>The validity of causal inference remains largely a matter of extra-statistical judgement.</a:t>
            </a:r>
          </a:p>
        </p:txBody>
      </p:sp>
    </p:spTree>
    <p:extLst>
      <p:ext uri="{BB962C8B-B14F-4D97-AF65-F5344CB8AC3E}">
        <p14:creationId xmlns:p14="http://schemas.microsoft.com/office/powerpoint/2010/main" val="2081821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B3F14-980C-FAC2-7B3B-40736B30D6F7}"/>
              </a:ext>
            </a:extLst>
          </p:cNvPr>
          <p:cNvSpPr>
            <a:spLocks noGrp="1"/>
          </p:cNvSpPr>
          <p:nvPr>
            <p:ph type="title"/>
          </p:nvPr>
        </p:nvSpPr>
        <p:spPr/>
        <p:txBody>
          <a:bodyPr/>
          <a:lstStyle/>
          <a:p>
            <a:r>
              <a:rPr lang="en-US" dirty="0"/>
              <a:t>Types – Non Randomized trial</a:t>
            </a:r>
          </a:p>
        </p:txBody>
      </p:sp>
      <p:sp>
        <p:nvSpPr>
          <p:cNvPr id="3" name="Content Placeholder 2">
            <a:extLst>
              <a:ext uri="{FF2B5EF4-FFF2-40B4-BE49-F238E27FC236}">
                <a16:creationId xmlns:a16="http://schemas.microsoft.com/office/drawing/2014/main" id="{C568D284-6E93-807B-11B9-A2A67410907B}"/>
              </a:ext>
            </a:extLst>
          </p:cNvPr>
          <p:cNvSpPr>
            <a:spLocks noGrp="1"/>
          </p:cNvSpPr>
          <p:nvPr>
            <p:ph idx="1"/>
          </p:nvPr>
        </p:nvSpPr>
        <p:spPr/>
        <p:txBody>
          <a:bodyPr/>
          <a:lstStyle/>
          <a:p>
            <a:r>
              <a:rPr lang="en-US" dirty="0"/>
              <a:t>Uncontrolled trials</a:t>
            </a:r>
          </a:p>
          <a:p>
            <a:r>
              <a:rPr lang="en-US" sz="1800" dirty="0">
                <a:latin typeface="Times New Roman" panose="02020603050405020304" pitchFamily="18" charset="0"/>
              </a:rPr>
              <a:t>Trial with no comparison groups</a:t>
            </a:r>
          </a:p>
          <a:p>
            <a:pPr algn="l"/>
            <a:r>
              <a:rPr lang="en-US" sz="1800" b="0" i="0" u="none" strike="noStrike" baseline="0" dirty="0">
                <a:latin typeface="Times New Roman" panose="02020603050405020304" pitchFamily="18" charset="0"/>
              </a:rPr>
              <a:t>Even in these uncontrolled trials, one is using implied “historical controls”, i.e., the experience of earlier untreated patients affected by the same disease.</a:t>
            </a:r>
          </a:p>
          <a:p>
            <a:pPr algn="l"/>
            <a:r>
              <a:rPr lang="en-US" sz="1800" b="0" i="0" u="none" strike="noStrike" baseline="0" dirty="0">
                <a:latin typeface="Times New Roman" panose="02020603050405020304" pitchFamily="18" charset="0"/>
              </a:rPr>
              <a:t>Initially uncontrolled trials may be useful in evaluating whether a specific therapy appears to have any value in a particular disease, to determine an appropriate dose, to investigate adverse reactions, etc.</a:t>
            </a:r>
          </a:p>
          <a:p>
            <a:r>
              <a:rPr lang="en-US" dirty="0"/>
              <a:t>Natural experiments</a:t>
            </a:r>
          </a:p>
          <a:p>
            <a:pPr algn="l"/>
            <a:r>
              <a:rPr lang="en-US" sz="1800" b="0" i="0" u="none" strike="noStrike" baseline="0" dirty="0">
                <a:latin typeface="Times New Roman" panose="02020603050405020304" pitchFamily="18" charset="0"/>
              </a:rPr>
              <a:t>Where experimental studies are not possible in human populations, the epidemiologist seeks to identify “natural circumstances” that mimic an experiment</a:t>
            </a:r>
            <a:endParaRPr lang="en-US" dirty="0"/>
          </a:p>
          <a:p>
            <a:pPr algn="l"/>
            <a:endParaRPr lang="en-US" dirty="0"/>
          </a:p>
        </p:txBody>
      </p:sp>
    </p:spTree>
    <p:extLst>
      <p:ext uri="{BB962C8B-B14F-4D97-AF65-F5344CB8AC3E}">
        <p14:creationId xmlns:p14="http://schemas.microsoft.com/office/powerpoint/2010/main" val="2224989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B3F14-980C-FAC2-7B3B-40736B30D6F7}"/>
              </a:ext>
            </a:extLst>
          </p:cNvPr>
          <p:cNvSpPr>
            <a:spLocks noGrp="1"/>
          </p:cNvSpPr>
          <p:nvPr>
            <p:ph type="title"/>
          </p:nvPr>
        </p:nvSpPr>
        <p:spPr/>
        <p:txBody>
          <a:bodyPr/>
          <a:lstStyle/>
          <a:p>
            <a:r>
              <a:rPr lang="en-US" dirty="0"/>
              <a:t>Types – Non Randomized trial</a:t>
            </a:r>
          </a:p>
        </p:txBody>
      </p:sp>
      <p:sp>
        <p:nvSpPr>
          <p:cNvPr id="3" name="Content Placeholder 2">
            <a:extLst>
              <a:ext uri="{FF2B5EF4-FFF2-40B4-BE49-F238E27FC236}">
                <a16:creationId xmlns:a16="http://schemas.microsoft.com/office/drawing/2014/main" id="{C568D284-6E93-807B-11B9-A2A67410907B}"/>
              </a:ext>
            </a:extLst>
          </p:cNvPr>
          <p:cNvSpPr>
            <a:spLocks noGrp="1"/>
          </p:cNvSpPr>
          <p:nvPr>
            <p:ph idx="1"/>
          </p:nvPr>
        </p:nvSpPr>
        <p:spPr>
          <a:xfrm>
            <a:off x="174171" y="1451429"/>
            <a:ext cx="11179629" cy="5041446"/>
          </a:xfrm>
        </p:spPr>
        <p:txBody>
          <a:bodyPr>
            <a:normAutofit lnSpcReduction="10000"/>
          </a:bodyPr>
          <a:lstStyle/>
          <a:p>
            <a:r>
              <a:rPr lang="en-US" sz="3200" dirty="0"/>
              <a:t>Before and after comparison Studies</a:t>
            </a:r>
          </a:p>
          <a:p>
            <a:r>
              <a:rPr lang="en-US" sz="3200" dirty="0"/>
              <a:t>Without control - </a:t>
            </a:r>
            <a:r>
              <a:rPr lang="en-US" sz="2000" b="0" i="0" u="none" strike="noStrike" baseline="0" dirty="0">
                <a:latin typeface="Times New Roman" panose="02020603050405020304" pitchFamily="18" charset="0"/>
              </a:rPr>
              <a:t>In order to establish evidence in before and after comparison studies, the following are needed; </a:t>
            </a:r>
          </a:p>
          <a:p>
            <a:pPr algn="l"/>
            <a:r>
              <a:rPr lang="en-US" sz="2000" b="0" i="0" u="none" strike="noStrike" baseline="0" dirty="0">
                <a:latin typeface="Times New Roman" panose="02020603050405020304" pitchFamily="18" charset="0"/>
              </a:rPr>
              <a:t>Data regarding the incidence of disease, before and after introduction of a preventive measure must be available</a:t>
            </a:r>
          </a:p>
          <a:p>
            <a:pPr algn="l"/>
            <a:r>
              <a:rPr lang="en-US" sz="2000" b="0" i="0" u="none" strike="noStrike" baseline="0" dirty="0">
                <a:latin typeface="Times New Roman" panose="02020603050405020304" pitchFamily="18" charset="0"/>
              </a:rPr>
              <a:t>There should be introduction or manipulation of only one factor or change relevant to the situation, other factors remaining the same, as for example, addition of fluorine to drinking water to prevent dental caries </a:t>
            </a:r>
          </a:p>
          <a:p>
            <a:pPr algn="l"/>
            <a:r>
              <a:rPr lang="en-US" sz="2000" b="0" i="0" u="none" strike="noStrike" baseline="0" dirty="0">
                <a:latin typeface="Times New Roman" panose="02020603050405020304" pitchFamily="18" charset="0"/>
              </a:rPr>
              <a:t>Diagnostic criteria of the disease should remain the same </a:t>
            </a:r>
          </a:p>
          <a:p>
            <a:pPr algn="l"/>
            <a:r>
              <a:rPr lang="en-US" sz="2000" b="0" i="0" u="none" strike="noStrike" baseline="0" dirty="0">
                <a:latin typeface="Times New Roman" panose="02020603050405020304" pitchFamily="18" charset="0"/>
              </a:rPr>
              <a:t>Adoption of preventive measures should be over a wide area</a:t>
            </a:r>
          </a:p>
          <a:p>
            <a:pPr algn="l"/>
            <a:r>
              <a:rPr lang="en-US" sz="2000" b="0" i="0" u="none" strike="noStrike" baseline="0" dirty="0">
                <a:latin typeface="Times New Roman" panose="02020603050405020304" pitchFamily="18" charset="0"/>
              </a:rPr>
              <a:t>Reduction in the incidence must be large following the introduction of the preventive measure, because there is no control, </a:t>
            </a:r>
            <a:endParaRPr lang="en-US" sz="2000" dirty="0">
              <a:latin typeface="Times New Roman" panose="02020603050405020304" pitchFamily="18" charset="0"/>
            </a:endParaRPr>
          </a:p>
          <a:p>
            <a:pPr algn="l"/>
            <a:r>
              <a:rPr lang="en-US" sz="2000" b="0" i="0" u="none" strike="noStrike" baseline="0" dirty="0">
                <a:latin typeface="Times New Roman" panose="02020603050405020304" pitchFamily="18" charset="0"/>
              </a:rPr>
              <a:t>Several trials may be needed before the evaluation is considered conclusive.</a:t>
            </a:r>
          </a:p>
          <a:p>
            <a:pPr algn="l"/>
            <a:r>
              <a:rPr lang="en-US" sz="3200" dirty="0"/>
              <a:t>With Control </a:t>
            </a:r>
            <a:r>
              <a:rPr lang="en-US" sz="2000" dirty="0">
                <a:latin typeface="Times New Roman" panose="02020603050405020304" pitchFamily="18" charset="0"/>
              </a:rPr>
              <a:t>- </a:t>
            </a:r>
            <a:r>
              <a:rPr lang="en-US" sz="2000" b="0" i="0" u="none" strike="noStrike" baseline="0" dirty="0">
                <a:latin typeface="Times New Roman" panose="02020603050405020304" pitchFamily="18" charset="0"/>
              </a:rPr>
              <a:t>epidemiologist tries to utilize a “natural” control group</a:t>
            </a:r>
            <a:endParaRPr lang="en-US" sz="3200" dirty="0"/>
          </a:p>
        </p:txBody>
      </p:sp>
    </p:spTree>
    <p:extLst>
      <p:ext uri="{BB962C8B-B14F-4D97-AF65-F5344CB8AC3E}">
        <p14:creationId xmlns:p14="http://schemas.microsoft.com/office/powerpoint/2010/main" val="2530934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3E50E-7FE8-94B0-1C1E-B7B7F979A100}"/>
              </a:ext>
            </a:extLst>
          </p:cNvPr>
          <p:cNvSpPr>
            <a:spLocks noGrp="1"/>
          </p:cNvSpPr>
          <p:nvPr>
            <p:ph type="title"/>
          </p:nvPr>
        </p:nvSpPr>
        <p:spPr/>
        <p:txBody>
          <a:bodyPr/>
          <a:lstStyle/>
          <a:p>
            <a:r>
              <a:rPr lang="en-US" dirty="0"/>
              <a:t>Evaluation of preventive measures</a:t>
            </a:r>
          </a:p>
        </p:txBody>
      </p:sp>
      <p:graphicFrame>
        <p:nvGraphicFramePr>
          <p:cNvPr id="5" name="Content Placeholder 2">
            <a:extLst>
              <a:ext uri="{FF2B5EF4-FFF2-40B4-BE49-F238E27FC236}">
                <a16:creationId xmlns:a16="http://schemas.microsoft.com/office/drawing/2014/main" id="{4E49BCF5-8499-73BB-676A-2667A98B42CC}"/>
              </a:ext>
            </a:extLst>
          </p:cNvPr>
          <p:cNvGraphicFramePr>
            <a:graphicFrameLocks noGrp="1"/>
          </p:cNvGraphicFramePr>
          <p:nvPr>
            <p:ph idx="1"/>
            <p:extLst>
              <p:ext uri="{D42A27DB-BD31-4B8C-83A1-F6EECF244321}">
                <p14:modId xmlns:p14="http://schemas.microsoft.com/office/powerpoint/2010/main" val="255400217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45700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5219498-D544-41AC-98FE-8F956EF66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00DBFC-17A9-4E0A-AEE2-A49F9AEEF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D1E06C-7E92-014C-ADF8-71F136E10F24}"/>
              </a:ext>
            </a:extLst>
          </p:cNvPr>
          <p:cNvSpPr>
            <a:spLocks noGrp="1"/>
          </p:cNvSpPr>
          <p:nvPr>
            <p:ph type="title"/>
          </p:nvPr>
        </p:nvSpPr>
        <p:spPr>
          <a:xfrm>
            <a:off x="804672" y="4267832"/>
            <a:ext cx="4805996" cy="1297115"/>
          </a:xfrm>
        </p:spPr>
        <p:txBody>
          <a:bodyPr vert="horz" lIns="91440" tIns="45720" rIns="91440" bIns="45720" rtlCol="0" anchor="t">
            <a:normAutofit/>
          </a:bodyPr>
          <a:lstStyle/>
          <a:p>
            <a:r>
              <a:rPr lang="en-US" sz="4000" kern="1200">
                <a:solidFill>
                  <a:schemeClr val="tx2"/>
                </a:solidFill>
                <a:latin typeface="+mj-lt"/>
                <a:ea typeface="+mj-ea"/>
                <a:cs typeface="+mj-cs"/>
              </a:rPr>
              <a:t>Thank You</a:t>
            </a:r>
          </a:p>
        </p:txBody>
      </p:sp>
      <p:grpSp>
        <p:nvGrpSpPr>
          <p:cNvPr id="13" name="Group 12">
            <a:extLst>
              <a:ext uri="{FF2B5EF4-FFF2-40B4-BE49-F238E27FC236}">
                <a16:creationId xmlns:a16="http://schemas.microsoft.com/office/drawing/2014/main" id="{D74613BB-817C-4C4F-8A24-4936F2F064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01023" y="52996"/>
            <a:ext cx="6093363" cy="6805005"/>
            <a:chOff x="6101023" y="52996"/>
            <a:chExt cx="6093363" cy="6805005"/>
          </a:xfrm>
        </p:grpSpPr>
        <p:sp>
          <p:nvSpPr>
            <p:cNvPr id="14" name="Freeform: Shape 13">
              <a:extLst>
                <a:ext uri="{FF2B5EF4-FFF2-40B4-BE49-F238E27FC236}">
                  <a16:creationId xmlns:a16="http://schemas.microsoft.com/office/drawing/2014/main" id="{926C820D-9A01-44F0-AE18-C2DAB089B8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3517682 w 5890490"/>
                <a:gd name="connsiteY0" fmla="*/ 0 h 6578439"/>
                <a:gd name="connsiteX1" fmla="*/ 5849513 w 5890490"/>
                <a:gd name="connsiteY1" fmla="*/ 841730 h 6578439"/>
                <a:gd name="connsiteX2" fmla="*/ 5890490 w 5890490"/>
                <a:gd name="connsiteY2" fmla="*/ 879060 h 6578439"/>
                <a:gd name="connsiteX3" fmla="*/ 5890490 w 5890490"/>
                <a:gd name="connsiteY3" fmla="*/ 1816052 h 6578439"/>
                <a:gd name="connsiteX4" fmla="*/ 5856961 w 5890490"/>
                <a:gd name="connsiteY4" fmla="*/ 1771023 h 6578439"/>
                <a:gd name="connsiteX5" fmla="*/ 5655397 w 5890490"/>
                <a:gd name="connsiteY5" fmla="*/ 1548813 h 6578439"/>
                <a:gd name="connsiteX6" fmla="*/ 3517682 w 5890490"/>
                <a:gd name="connsiteY6" fmla="*/ 658717 h 6578439"/>
                <a:gd name="connsiteX7" fmla="*/ 2395696 w 5890490"/>
                <a:gd name="connsiteY7" fmla="*/ 850721 h 6578439"/>
                <a:gd name="connsiteX8" fmla="*/ 1519955 w 5890490"/>
                <a:gd name="connsiteY8" fmla="*/ 1450441 h 6578439"/>
                <a:gd name="connsiteX9" fmla="*/ 1223630 w 5890490"/>
                <a:gd name="connsiteY9" fmla="*/ 1841430 h 6578439"/>
                <a:gd name="connsiteX10" fmla="*/ 1075857 w 5890490"/>
                <a:gd name="connsiteY10" fmla="*/ 2329343 h 6578439"/>
                <a:gd name="connsiteX11" fmla="*/ 731010 w 5890490"/>
                <a:gd name="connsiteY11" fmla="*/ 3483744 h 6578439"/>
                <a:gd name="connsiteX12" fmla="*/ 741000 w 5890490"/>
                <a:gd name="connsiteY12" fmla="*/ 4479719 h 6578439"/>
                <a:gd name="connsiteX13" fmla="*/ 1315615 w 5890490"/>
                <a:gd name="connsiteY13" fmla="*/ 5443827 h 6578439"/>
                <a:gd name="connsiteX14" fmla="*/ 2277503 w 5890490"/>
                <a:gd name="connsiteY14" fmla="*/ 6259386 h 6578439"/>
                <a:gd name="connsiteX15" fmla="*/ 3439448 w 5890490"/>
                <a:gd name="connsiteY15" fmla="*/ 6551739 h 6578439"/>
                <a:gd name="connsiteX16" fmla="*/ 4408732 w 5890490"/>
                <a:gd name="connsiteY16" fmla="*/ 6255172 h 6578439"/>
                <a:gd name="connsiteX17" fmla="*/ 5343243 w 5890490"/>
                <a:gd name="connsiteY17" fmla="*/ 5442509 h 6578439"/>
                <a:gd name="connsiteX18" fmla="*/ 5745566 w 5890490"/>
                <a:gd name="connsiteY18" fmla="*/ 5056656 h 6578439"/>
                <a:gd name="connsiteX19" fmla="*/ 5890490 w 5890490"/>
                <a:gd name="connsiteY19" fmla="*/ 4920880 h 6578439"/>
                <a:gd name="connsiteX20" fmla="*/ 5890490 w 5890490"/>
                <a:gd name="connsiteY20" fmla="*/ 5821966 h 6578439"/>
                <a:gd name="connsiteX21" fmla="*/ 5802002 w 5890490"/>
                <a:gd name="connsiteY21" fmla="*/ 5907904 h 6578439"/>
                <a:gd name="connsiteX22" fmla="*/ 5294358 w 5890490"/>
                <a:gd name="connsiteY22" fmla="*/ 6397505 h 6578439"/>
                <a:gd name="connsiteX23" fmla="*/ 5077178 w 5890490"/>
                <a:gd name="connsiteY23" fmla="*/ 6578439 h 6578439"/>
                <a:gd name="connsiteX24" fmla="*/ 1567290 w 5890490"/>
                <a:gd name="connsiteY24" fmla="*/ 6578439 h 6578439"/>
                <a:gd name="connsiteX25" fmla="*/ 1508588 w 5890490"/>
                <a:gd name="connsiteY25" fmla="*/ 6535186 h 6578439"/>
                <a:gd name="connsiteX26" fmla="*/ 826498 w 5890490"/>
                <a:gd name="connsiteY26" fmla="*/ 5876034 h 6578439"/>
                <a:gd name="connsiteX27" fmla="*/ 122403 w 5890490"/>
                <a:gd name="connsiteY27" fmla="*/ 3255655 h 6578439"/>
                <a:gd name="connsiteX28" fmla="*/ 1061197 w 5890490"/>
                <a:gd name="connsiteY28" fmla="*/ 984650 h 6578439"/>
                <a:gd name="connsiteX29" fmla="*/ 3517682 w 5890490"/>
                <a:gd name="connsiteY29"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890490" h="6578439">
                  <a:moveTo>
                    <a:pt x="3517682" y="0"/>
                  </a:moveTo>
                  <a:cubicBezTo>
                    <a:pt x="4402016" y="0"/>
                    <a:pt x="5213741" y="315483"/>
                    <a:pt x="5849513" y="841730"/>
                  </a:cubicBezTo>
                  <a:lnTo>
                    <a:pt x="5890490" y="879060"/>
                  </a:lnTo>
                  <a:lnTo>
                    <a:pt x="5890490" y="1816052"/>
                  </a:lnTo>
                  <a:lnTo>
                    <a:pt x="5856961" y="1771023"/>
                  </a:lnTo>
                  <a:cubicBezTo>
                    <a:pt x="5793650" y="1694076"/>
                    <a:pt x="5726429" y="1619959"/>
                    <a:pt x="5655397" y="1548813"/>
                  </a:cubicBezTo>
                  <a:cubicBezTo>
                    <a:pt x="5082208" y="974906"/>
                    <a:pt x="4322973" y="658717"/>
                    <a:pt x="3517682" y="658717"/>
                  </a:cubicBezTo>
                  <a:cubicBezTo>
                    <a:pt x="3085520" y="658717"/>
                    <a:pt x="2718488" y="721533"/>
                    <a:pt x="2395696" y="850721"/>
                  </a:cubicBezTo>
                  <a:cubicBezTo>
                    <a:pt x="2079132" y="977407"/>
                    <a:pt x="1792668" y="1173626"/>
                    <a:pt x="1519955" y="1450441"/>
                  </a:cubicBezTo>
                  <a:cubicBezTo>
                    <a:pt x="1330275" y="1642840"/>
                    <a:pt x="1263719" y="1756094"/>
                    <a:pt x="1223630" y="1841430"/>
                  </a:cubicBezTo>
                  <a:cubicBezTo>
                    <a:pt x="1166545" y="1962981"/>
                    <a:pt x="1128532" y="2116663"/>
                    <a:pt x="1075857" y="2329343"/>
                  </a:cubicBezTo>
                  <a:cubicBezTo>
                    <a:pt x="1008652" y="2601153"/>
                    <a:pt x="916537" y="2973574"/>
                    <a:pt x="731010" y="3483744"/>
                  </a:cubicBezTo>
                  <a:cubicBezTo>
                    <a:pt x="617488" y="3795981"/>
                    <a:pt x="620731" y="4121653"/>
                    <a:pt x="741000" y="4479719"/>
                  </a:cubicBezTo>
                  <a:cubicBezTo>
                    <a:pt x="847257" y="4796172"/>
                    <a:pt x="1045888" y="5129481"/>
                    <a:pt x="1315615" y="5443827"/>
                  </a:cubicBezTo>
                  <a:cubicBezTo>
                    <a:pt x="1630753" y="5810980"/>
                    <a:pt x="1945371" y="6077784"/>
                    <a:pt x="2277503" y="6259386"/>
                  </a:cubicBezTo>
                  <a:cubicBezTo>
                    <a:pt x="2637530" y="6456133"/>
                    <a:pt x="3017536" y="6551739"/>
                    <a:pt x="3439448" y="6551739"/>
                  </a:cubicBezTo>
                  <a:cubicBezTo>
                    <a:pt x="3781571" y="6551739"/>
                    <a:pt x="4089573" y="6457449"/>
                    <a:pt x="4408732" y="6255172"/>
                  </a:cubicBezTo>
                  <a:cubicBezTo>
                    <a:pt x="4738010" y="6046310"/>
                    <a:pt x="5050941" y="5739207"/>
                    <a:pt x="5343243" y="5442509"/>
                  </a:cubicBezTo>
                  <a:cubicBezTo>
                    <a:pt x="5479860" y="5303970"/>
                    <a:pt x="5614918" y="5178206"/>
                    <a:pt x="5745566" y="5056656"/>
                  </a:cubicBezTo>
                  <a:lnTo>
                    <a:pt x="5890490" y="4920880"/>
                  </a:lnTo>
                  <a:lnTo>
                    <a:pt x="5890490" y="5821966"/>
                  </a:lnTo>
                  <a:lnTo>
                    <a:pt x="5802002"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458B604F-996E-4349-B131-E04ED285D8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5" y="52996"/>
              <a:ext cx="6093361" cy="6805003"/>
            </a:xfrm>
            <a:custGeom>
              <a:avLst/>
              <a:gdLst>
                <a:gd name="connsiteX0" fmla="*/ 3391253 w 5890489"/>
                <a:gd name="connsiteY0" fmla="*/ 0 h 6578438"/>
                <a:gd name="connsiteX1" fmla="*/ 3434974 w 5890489"/>
                <a:gd name="connsiteY1" fmla="*/ 646 h 6578438"/>
                <a:gd name="connsiteX2" fmla="*/ 3522419 w 5890489"/>
                <a:gd name="connsiteY2" fmla="*/ 2712 h 6578438"/>
                <a:gd name="connsiteX3" fmla="*/ 3610261 w 5890489"/>
                <a:gd name="connsiteY3" fmla="*/ 6458 h 6578438"/>
                <a:gd name="connsiteX4" fmla="*/ 3786872 w 5890489"/>
                <a:gd name="connsiteY4" fmla="*/ 20667 h 6578438"/>
                <a:gd name="connsiteX5" fmla="*/ 3962291 w 5890489"/>
                <a:gd name="connsiteY5" fmla="*/ 43530 h 6578438"/>
                <a:gd name="connsiteX6" fmla="*/ 4135855 w 5890489"/>
                <a:gd name="connsiteY6" fmla="*/ 75176 h 6578438"/>
                <a:gd name="connsiteX7" fmla="*/ 4307299 w 5890489"/>
                <a:gd name="connsiteY7" fmla="*/ 114315 h 6578438"/>
                <a:gd name="connsiteX8" fmla="*/ 4476358 w 5890489"/>
                <a:gd name="connsiteY8" fmla="*/ 160816 h 6578438"/>
                <a:gd name="connsiteX9" fmla="*/ 4559829 w 5890489"/>
                <a:gd name="connsiteY9" fmla="*/ 186779 h 6578438"/>
                <a:gd name="connsiteX10" fmla="*/ 4642901 w 5890489"/>
                <a:gd name="connsiteY10" fmla="*/ 213648 h 6578438"/>
                <a:gd name="connsiteX11" fmla="*/ 5280847 w 5890489"/>
                <a:gd name="connsiteY11" fmla="*/ 485936 h 6578438"/>
                <a:gd name="connsiteX12" fmla="*/ 5865400 w 5890489"/>
                <a:gd name="connsiteY12" fmla="*/ 851099 h 6578438"/>
                <a:gd name="connsiteX13" fmla="*/ 5890489 w 5890489"/>
                <a:gd name="connsiteY13" fmla="*/ 870950 h 6578438"/>
                <a:gd name="connsiteX14" fmla="*/ 5890489 w 5890489"/>
                <a:gd name="connsiteY14" fmla="*/ 1321814 h 6578438"/>
                <a:gd name="connsiteX15" fmla="*/ 5887395 w 5890489"/>
                <a:gd name="connsiteY15" fmla="*/ 1318952 h 6578438"/>
                <a:gd name="connsiteX16" fmla="*/ 5830291 w 5890489"/>
                <a:gd name="connsiteY16" fmla="*/ 1265992 h 6578438"/>
                <a:gd name="connsiteX17" fmla="*/ 5815981 w 5890489"/>
                <a:gd name="connsiteY17" fmla="*/ 1252687 h 6578438"/>
                <a:gd name="connsiteX18" fmla="*/ 5801142 w 5890489"/>
                <a:gd name="connsiteY18" fmla="*/ 1240158 h 6578438"/>
                <a:gd name="connsiteX19" fmla="*/ 5771464 w 5890489"/>
                <a:gd name="connsiteY19" fmla="*/ 1214969 h 6578438"/>
                <a:gd name="connsiteX20" fmla="*/ 5651030 w 5890489"/>
                <a:gd name="connsiteY20" fmla="*/ 1115767 h 6578438"/>
                <a:gd name="connsiteX21" fmla="*/ 5123183 w 5890489"/>
                <a:gd name="connsiteY21" fmla="*/ 780443 h 6578438"/>
                <a:gd name="connsiteX22" fmla="*/ 4533860 w 5890489"/>
                <a:gd name="connsiteY22" fmla="*/ 567701 h 6578438"/>
                <a:gd name="connsiteX23" fmla="*/ 4457281 w 5890489"/>
                <a:gd name="connsiteY23" fmla="*/ 550780 h 6578438"/>
                <a:gd name="connsiteX24" fmla="*/ 4380568 w 5890489"/>
                <a:gd name="connsiteY24" fmla="*/ 535279 h 6578438"/>
                <a:gd name="connsiteX25" fmla="*/ 4303325 w 5890489"/>
                <a:gd name="connsiteY25" fmla="*/ 522879 h 6578438"/>
                <a:gd name="connsiteX26" fmla="*/ 4264769 w 5890489"/>
                <a:gd name="connsiteY26" fmla="*/ 516679 h 6578438"/>
                <a:gd name="connsiteX27" fmla="*/ 4226082 w 5890489"/>
                <a:gd name="connsiteY27" fmla="*/ 511253 h 6578438"/>
                <a:gd name="connsiteX28" fmla="*/ 4070934 w 5890489"/>
                <a:gd name="connsiteY28" fmla="*/ 494848 h 6578438"/>
                <a:gd name="connsiteX29" fmla="*/ 3915521 w 5890489"/>
                <a:gd name="connsiteY29" fmla="*/ 486065 h 6578438"/>
                <a:gd name="connsiteX30" fmla="*/ 3760241 w 5890489"/>
                <a:gd name="connsiteY30" fmla="*/ 484257 h 6578438"/>
                <a:gd name="connsiteX31" fmla="*/ 3682734 w 5890489"/>
                <a:gd name="connsiteY31" fmla="*/ 486581 h 6578438"/>
                <a:gd name="connsiteX32" fmla="*/ 3605491 w 5890489"/>
                <a:gd name="connsiteY32" fmla="*/ 488907 h 6578438"/>
                <a:gd name="connsiteX33" fmla="*/ 3527454 w 5890489"/>
                <a:gd name="connsiteY33" fmla="*/ 493169 h 6578438"/>
                <a:gd name="connsiteX34" fmla="*/ 3449151 w 5890489"/>
                <a:gd name="connsiteY34" fmla="*/ 498336 h 6578438"/>
                <a:gd name="connsiteX35" fmla="*/ 3410067 w 5890489"/>
                <a:gd name="connsiteY35" fmla="*/ 500532 h 6578438"/>
                <a:gd name="connsiteX36" fmla="*/ 3371246 w 5890489"/>
                <a:gd name="connsiteY36" fmla="*/ 504279 h 6578438"/>
                <a:gd name="connsiteX37" fmla="*/ 3293739 w 5890489"/>
                <a:gd name="connsiteY37" fmla="*/ 511512 h 6578438"/>
                <a:gd name="connsiteX38" fmla="*/ 2689445 w 5890489"/>
                <a:gd name="connsiteY38" fmla="*/ 610198 h 6578438"/>
                <a:gd name="connsiteX39" fmla="*/ 2117875 w 5890489"/>
                <a:gd name="connsiteY39" fmla="*/ 800335 h 6578438"/>
                <a:gd name="connsiteX40" fmla="*/ 1981276 w 5890489"/>
                <a:gd name="connsiteY40" fmla="*/ 865566 h 6578438"/>
                <a:gd name="connsiteX41" fmla="*/ 1847991 w 5890489"/>
                <a:gd name="connsiteY41" fmla="*/ 938676 h 6578438"/>
                <a:gd name="connsiteX42" fmla="*/ 1783069 w 5890489"/>
                <a:gd name="connsiteY42" fmla="*/ 978718 h 6578438"/>
                <a:gd name="connsiteX43" fmla="*/ 1750609 w 5890489"/>
                <a:gd name="connsiteY43" fmla="*/ 998869 h 6578438"/>
                <a:gd name="connsiteX44" fmla="*/ 1734312 w 5890489"/>
                <a:gd name="connsiteY44" fmla="*/ 1008945 h 6578438"/>
                <a:gd name="connsiteX45" fmla="*/ 1718547 w 5890489"/>
                <a:gd name="connsiteY45" fmla="*/ 1019924 h 6578438"/>
                <a:gd name="connsiteX46" fmla="*/ 1655481 w 5890489"/>
                <a:gd name="connsiteY46" fmla="*/ 1063582 h 6578438"/>
                <a:gd name="connsiteX47" fmla="*/ 1593077 w 5890489"/>
                <a:gd name="connsiteY47" fmla="*/ 1108664 h 6578438"/>
                <a:gd name="connsiteX48" fmla="*/ 1532263 w 5890489"/>
                <a:gd name="connsiteY48" fmla="*/ 1156197 h 6578438"/>
                <a:gd name="connsiteX49" fmla="*/ 1472509 w 5890489"/>
                <a:gd name="connsiteY49" fmla="*/ 1205152 h 6578438"/>
                <a:gd name="connsiteX50" fmla="*/ 1414212 w 5890489"/>
                <a:gd name="connsiteY50" fmla="*/ 1256175 h 6578438"/>
                <a:gd name="connsiteX51" fmla="*/ 1357242 w 5890489"/>
                <a:gd name="connsiteY51" fmla="*/ 1308359 h 6578438"/>
                <a:gd name="connsiteX52" fmla="*/ 1153072 w 5890489"/>
                <a:gd name="connsiteY52" fmla="*/ 1529498 h 6578438"/>
                <a:gd name="connsiteX53" fmla="*/ 1002694 w 5890489"/>
                <a:gd name="connsiteY53" fmla="*/ 1770658 h 6578438"/>
                <a:gd name="connsiteX54" fmla="*/ 974076 w 5890489"/>
                <a:gd name="connsiteY54" fmla="*/ 1835371 h 6578438"/>
                <a:gd name="connsiteX55" fmla="*/ 949564 w 5890489"/>
                <a:gd name="connsiteY55" fmla="*/ 1903573 h 6578438"/>
                <a:gd name="connsiteX56" fmla="*/ 927173 w 5890489"/>
                <a:gd name="connsiteY56" fmla="*/ 1974229 h 6578438"/>
                <a:gd name="connsiteX57" fmla="*/ 906107 w 5890489"/>
                <a:gd name="connsiteY57" fmla="*/ 2046952 h 6578438"/>
                <a:gd name="connsiteX58" fmla="*/ 751092 w 5890489"/>
                <a:gd name="connsiteY58" fmla="*/ 2676266 h 6578438"/>
                <a:gd name="connsiteX59" fmla="*/ 547189 w 5890489"/>
                <a:gd name="connsiteY59" fmla="*/ 3308422 h 6578438"/>
                <a:gd name="connsiteX60" fmla="*/ 441195 w 5890489"/>
                <a:gd name="connsiteY60" fmla="*/ 3866306 h 6578438"/>
                <a:gd name="connsiteX61" fmla="*/ 527182 w 5890489"/>
                <a:gd name="connsiteY61" fmla="*/ 4439174 h 6578438"/>
                <a:gd name="connsiteX62" fmla="*/ 775073 w 5890489"/>
                <a:gd name="connsiteY62" fmla="*/ 4987240 h 6578438"/>
                <a:gd name="connsiteX63" fmla="*/ 943206 w 5890489"/>
                <a:gd name="connsiteY63" fmla="*/ 5244933 h 6578438"/>
                <a:gd name="connsiteX64" fmla="*/ 1133728 w 5890489"/>
                <a:gd name="connsiteY64" fmla="*/ 5490356 h 6578438"/>
                <a:gd name="connsiteX65" fmla="*/ 1359626 w 5890489"/>
                <a:gd name="connsiteY65" fmla="*/ 5709815 h 6578438"/>
                <a:gd name="connsiteX66" fmla="*/ 1481254 w 5890489"/>
                <a:gd name="connsiteY66" fmla="*/ 5809146 h 6578438"/>
                <a:gd name="connsiteX67" fmla="*/ 1543260 w 5890489"/>
                <a:gd name="connsiteY67" fmla="*/ 5856940 h 6578438"/>
                <a:gd name="connsiteX68" fmla="*/ 1607518 w 5890489"/>
                <a:gd name="connsiteY68" fmla="*/ 5901374 h 6578438"/>
                <a:gd name="connsiteX69" fmla="*/ 2145566 w 5890489"/>
                <a:gd name="connsiteY69" fmla="*/ 6193814 h 6578438"/>
                <a:gd name="connsiteX70" fmla="*/ 2214991 w 5890489"/>
                <a:gd name="connsiteY70" fmla="*/ 6221844 h 6578438"/>
                <a:gd name="connsiteX71" fmla="*/ 2249307 w 5890489"/>
                <a:gd name="connsiteY71" fmla="*/ 6236182 h 6578438"/>
                <a:gd name="connsiteX72" fmla="*/ 2284285 w 5890489"/>
                <a:gd name="connsiteY72" fmla="*/ 6248711 h 6578438"/>
                <a:gd name="connsiteX73" fmla="*/ 2354241 w 5890489"/>
                <a:gd name="connsiteY73" fmla="*/ 6273124 h 6578438"/>
                <a:gd name="connsiteX74" fmla="*/ 2371597 w 5890489"/>
                <a:gd name="connsiteY74" fmla="*/ 6279324 h 6578438"/>
                <a:gd name="connsiteX75" fmla="*/ 2387894 w 5890489"/>
                <a:gd name="connsiteY75" fmla="*/ 6287719 h 6578438"/>
                <a:gd name="connsiteX76" fmla="*/ 2421414 w 5890489"/>
                <a:gd name="connsiteY76" fmla="*/ 6302186 h 6578438"/>
                <a:gd name="connsiteX77" fmla="*/ 2489117 w 5890489"/>
                <a:gd name="connsiteY77" fmla="*/ 6329441 h 6578438"/>
                <a:gd name="connsiteX78" fmla="*/ 2522902 w 5890489"/>
                <a:gd name="connsiteY78" fmla="*/ 6343134 h 6578438"/>
                <a:gd name="connsiteX79" fmla="*/ 2556953 w 5890489"/>
                <a:gd name="connsiteY79" fmla="*/ 6356051 h 6578438"/>
                <a:gd name="connsiteX80" fmla="*/ 2695009 w 5890489"/>
                <a:gd name="connsiteY80" fmla="*/ 6401905 h 6578438"/>
                <a:gd name="connsiteX81" fmla="*/ 3268035 w 5890489"/>
                <a:gd name="connsiteY81" fmla="*/ 6501238 h 6578438"/>
                <a:gd name="connsiteX82" fmla="*/ 3341038 w 5890489"/>
                <a:gd name="connsiteY82" fmla="*/ 6506145 h 6578438"/>
                <a:gd name="connsiteX83" fmla="*/ 3414703 w 5890489"/>
                <a:gd name="connsiteY83" fmla="*/ 6507050 h 6578438"/>
                <a:gd name="connsiteX84" fmla="*/ 3488237 w 5890489"/>
                <a:gd name="connsiteY84" fmla="*/ 6508212 h 6578438"/>
                <a:gd name="connsiteX85" fmla="*/ 3524142 w 5890489"/>
                <a:gd name="connsiteY85" fmla="*/ 6507955 h 6578438"/>
                <a:gd name="connsiteX86" fmla="*/ 3559252 w 5890489"/>
                <a:gd name="connsiteY86" fmla="*/ 6506921 h 6578438"/>
                <a:gd name="connsiteX87" fmla="*/ 3629207 w 5890489"/>
                <a:gd name="connsiteY87" fmla="*/ 6503045 h 6578438"/>
                <a:gd name="connsiteX88" fmla="*/ 3698633 w 5890489"/>
                <a:gd name="connsiteY88" fmla="*/ 6496845 h 6578438"/>
                <a:gd name="connsiteX89" fmla="*/ 3733213 w 5890489"/>
                <a:gd name="connsiteY89" fmla="*/ 6493357 h 6578438"/>
                <a:gd name="connsiteX90" fmla="*/ 3767529 w 5890489"/>
                <a:gd name="connsiteY90" fmla="*/ 6488707 h 6578438"/>
                <a:gd name="connsiteX91" fmla="*/ 3801845 w 5890489"/>
                <a:gd name="connsiteY91" fmla="*/ 6484057 h 6578438"/>
                <a:gd name="connsiteX92" fmla="*/ 3835895 w 5890489"/>
                <a:gd name="connsiteY92" fmla="*/ 6478116 h 6578438"/>
                <a:gd name="connsiteX93" fmla="*/ 4364801 w 5890489"/>
                <a:gd name="connsiteY93" fmla="*/ 6308517 h 6578438"/>
                <a:gd name="connsiteX94" fmla="*/ 4861379 w 5890489"/>
                <a:gd name="connsiteY94" fmla="*/ 6000576 h 6578438"/>
                <a:gd name="connsiteX95" fmla="*/ 5341263 w 5890489"/>
                <a:gd name="connsiteY95" fmla="*/ 5605834 h 6578438"/>
                <a:gd name="connsiteX96" fmla="*/ 5587301 w 5890489"/>
                <a:gd name="connsiteY96" fmla="*/ 5390379 h 6578438"/>
                <a:gd name="connsiteX97" fmla="*/ 5849105 w 5890489"/>
                <a:gd name="connsiteY97" fmla="*/ 5176344 h 6578438"/>
                <a:gd name="connsiteX98" fmla="*/ 5890489 w 5890489"/>
                <a:gd name="connsiteY98" fmla="*/ 5145260 h 6578438"/>
                <a:gd name="connsiteX99" fmla="*/ 5890489 w 5890489"/>
                <a:gd name="connsiteY99" fmla="*/ 5995323 h 6578438"/>
                <a:gd name="connsiteX100" fmla="*/ 5811477 w 5890489"/>
                <a:gd name="connsiteY100" fmla="*/ 6077819 h 6578438"/>
                <a:gd name="connsiteX101" fmla="*/ 5301384 w 5890489"/>
                <a:gd name="connsiteY101" fmla="*/ 6542958 h 6578438"/>
                <a:gd name="connsiteX102" fmla="*/ 5252008 w 5890489"/>
                <a:gd name="connsiteY102" fmla="*/ 6578438 h 6578438"/>
                <a:gd name="connsiteX103" fmla="*/ 1653730 w 5890489"/>
                <a:gd name="connsiteY103" fmla="*/ 6578438 h 6578438"/>
                <a:gd name="connsiteX104" fmla="*/ 1549768 w 5890489"/>
                <a:gd name="connsiteY104" fmla="*/ 6488821 h 6578438"/>
                <a:gd name="connsiteX105" fmla="*/ 1298282 w 5890489"/>
                <a:gd name="connsiteY105" fmla="*/ 6243932 h 6578438"/>
                <a:gd name="connsiteX106" fmla="*/ 1237999 w 5890489"/>
                <a:gd name="connsiteY106" fmla="*/ 6181671 h 6578438"/>
                <a:gd name="connsiteX107" fmla="*/ 1179967 w 5890489"/>
                <a:gd name="connsiteY107" fmla="*/ 6117862 h 6578438"/>
                <a:gd name="connsiteX108" fmla="*/ 1121936 w 5890489"/>
                <a:gd name="connsiteY108" fmla="*/ 6054569 h 6578438"/>
                <a:gd name="connsiteX109" fmla="*/ 1065628 w 5890489"/>
                <a:gd name="connsiteY109" fmla="*/ 5990243 h 6578438"/>
                <a:gd name="connsiteX110" fmla="*/ 954335 w 5890489"/>
                <a:gd name="connsiteY110" fmla="*/ 5861460 h 6578438"/>
                <a:gd name="connsiteX111" fmla="*/ 898953 w 5890489"/>
                <a:gd name="connsiteY111" fmla="*/ 5797393 h 6578438"/>
                <a:gd name="connsiteX112" fmla="*/ 842908 w 5890489"/>
                <a:gd name="connsiteY112" fmla="*/ 5733582 h 6578438"/>
                <a:gd name="connsiteX113" fmla="*/ 622442 w 5890489"/>
                <a:gd name="connsiteY113" fmla="*/ 5471884 h 6578438"/>
                <a:gd name="connsiteX114" fmla="*/ 425559 w 5890489"/>
                <a:gd name="connsiteY114" fmla="*/ 5190036 h 6578438"/>
                <a:gd name="connsiteX115" fmla="*/ 123877 w 5890489"/>
                <a:gd name="connsiteY115" fmla="*/ 4564210 h 6578438"/>
                <a:gd name="connsiteX116" fmla="*/ 130 w 5890489"/>
                <a:gd name="connsiteY116" fmla="*/ 3865530 h 6578438"/>
                <a:gd name="connsiteX117" fmla="*/ 30602 w 5890489"/>
                <a:gd name="connsiteY117" fmla="*/ 3505793 h 6578438"/>
                <a:gd name="connsiteX118" fmla="*/ 126924 w 5890489"/>
                <a:gd name="connsiteY118" fmla="*/ 3157164 h 6578438"/>
                <a:gd name="connsiteX119" fmla="*/ 334803 w 5890489"/>
                <a:gd name="connsiteY119" fmla="*/ 2560530 h 6578438"/>
                <a:gd name="connsiteX120" fmla="*/ 381176 w 5890489"/>
                <a:gd name="connsiteY120" fmla="*/ 2409144 h 6578438"/>
                <a:gd name="connsiteX121" fmla="*/ 425825 w 5890489"/>
                <a:gd name="connsiteY121" fmla="*/ 2255819 h 6578438"/>
                <a:gd name="connsiteX122" fmla="*/ 470210 w 5890489"/>
                <a:gd name="connsiteY122" fmla="*/ 2099523 h 6578438"/>
                <a:gd name="connsiteX123" fmla="*/ 492998 w 5890489"/>
                <a:gd name="connsiteY123" fmla="*/ 2020213 h 6578438"/>
                <a:gd name="connsiteX124" fmla="*/ 517509 w 5890489"/>
                <a:gd name="connsiteY124" fmla="*/ 1939224 h 6578438"/>
                <a:gd name="connsiteX125" fmla="*/ 544007 w 5890489"/>
                <a:gd name="connsiteY125" fmla="*/ 1857201 h 6578438"/>
                <a:gd name="connsiteX126" fmla="*/ 573288 w 5890489"/>
                <a:gd name="connsiteY126" fmla="*/ 1774274 h 6578438"/>
                <a:gd name="connsiteX127" fmla="*/ 606146 w 5890489"/>
                <a:gd name="connsiteY127" fmla="*/ 1690832 h 6578438"/>
                <a:gd name="connsiteX128" fmla="*/ 644569 w 5890489"/>
                <a:gd name="connsiteY128" fmla="*/ 1607775 h 6578438"/>
                <a:gd name="connsiteX129" fmla="*/ 837874 w 5890489"/>
                <a:gd name="connsiteY129" fmla="*/ 1297638 h 6578438"/>
                <a:gd name="connsiteX130" fmla="*/ 1069602 w 5890489"/>
                <a:gd name="connsiteY130" fmla="*/ 1032194 h 6578438"/>
                <a:gd name="connsiteX131" fmla="*/ 1130548 w 5890489"/>
                <a:gd name="connsiteY131" fmla="*/ 970839 h 6578438"/>
                <a:gd name="connsiteX132" fmla="*/ 1192024 w 5890489"/>
                <a:gd name="connsiteY132" fmla="*/ 910129 h 6578438"/>
                <a:gd name="connsiteX133" fmla="*/ 1255356 w 5890489"/>
                <a:gd name="connsiteY133" fmla="*/ 850841 h 6578438"/>
                <a:gd name="connsiteX134" fmla="*/ 1319614 w 5890489"/>
                <a:gd name="connsiteY134" fmla="*/ 792068 h 6578438"/>
                <a:gd name="connsiteX135" fmla="*/ 1385728 w 5890489"/>
                <a:gd name="connsiteY135" fmla="*/ 734975 h 6578438"/>
                <a:gd name="connsiteX136" fmla="*/ 1452768 w 5890489"/>
                <a:gd name="connsiteY136" fmla="*/ 678528 h 6578438"/>
                <a:gd name="connsiteX137" fmla="*/ 1469594 w 5890489"/>
                <a:gd name="connsiteY137" fmla="*/ 664449 h 6578438"/>
                <a:gd name="connsiteX138" fmla="*/ 1487083 w 5890489"/>
                <a:gd name="connsiteY138" fmla="*/ 651015 h 6578438"/>
                <a:gd name="connsiteX139" fmla="*/ 1522193 w 5890489"/>
                <a:gd name="connsiteY139" fmla="*/ 624277 h 6578438"/>
                <a:gd name="connsiteX140" fmla="*/ 1592415 w 5890489"/>
                <a:gd name="connsiteY140" fmla="*/ 570671 h 6578438"/>
                <a:gd name="connsiteX141" fmla="*/ 1738287 w 5890489"/>
                <a:gd name="connsiteY141" fmla="*/ 469402 h 6578438"/>
                <a:gd name="connsiteX142" fmla="*/ 1890918 w 5890489"/>
                <a:gd name="connsiteY142" fmla="*/ 376530 h 6578438"/>
                <a:gd name="connsiteX143" fmla="*/ 2555363 w 5890489"/>
                <a:gd name="connsiteY143" fmla="*/ 105274 h 6578438"/>
                <a:gd name="connsiteX144" fmla="*/ 3259291 w 5890489"/>
                <a:gd name="connsiteY144" fmla="*/ 3229 h 6578438"/>
                <a:gd name="connsiteX145" fmla="*/ 3347265 w 5890489"/>
                <a:gd name="connsiteY145" fmla="*/ 903 h 6578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5890489" h="6578438">
                  <a:moveTo>
                    <a:pt x="3391253" y="0"/>
                  </a:moveTo>
                  <a:lnTo>
                    <a:pt x="3434974" y="646"/>
                  </a:lnTo>
                  <a:lnTo>
                    <a:pt x="3522419" y="2712"/>
                  </a:lnTo>
                  <a:cubicBezTo>
                    <a:pt x="3551567" y="3488"/>
                    <a:pt x="3580451" y="3746"/>
                    <a:pt x="3610261" y="6458"/>
                  </a:cubicBezTo>
                  <a:cubicBezTo>
                    <a:pt x="3669353" y="10850"/>
                    <a:pt x="3728179" y="14337"/>
                    <a:pt x="3786872" y="20667"/>
                  </a:cubicBezTo>
                  <a:lnTo>
                    <a:pt x="3962291" y="43530"/>
                  </a:lnTo>
                  <a:lnTo>
                    <a:pt x="4135855" y="75176"/>
                  </a:lnTo>
                  <a:cubicBezTo>
                    <a:pt x="4193224" y="87836"/>
                    <a:pt x="4250328" y="101398"/>
                    <a:pt x="4307299" y="114315"/>
                  </a:cubicBezTo>
                  <a:cubicBezTo>
                    <a:pt x="4364139" y="128394"/>
                    <a:pt x="4420050" y="145575"/>
                    <a:pt x="4476358" y="160816"/>
                  </a:cubicBezTo>
                  <a:cubicBezTo>
                    <a:pt x="4504580" y="167921"/>
                    <a:pt x="4532138" y="177995"/>
                    <a:pt x="4559829" y="186779"/>
                  </a:cubicBezTo>
                  <a:lnTo>
                    <a:pt x="4642901" y="213648"/>
                  </a:lnTo>
                  <a:cubicBezTo>
                    <a:pt x="4863234" y="288307"/>
                    <a:pt x="5076414" y="379371"/>
                    <a:pt x="5280847" y="485936"/>
                  </a:cubicBezTo>
                  <a:cubicBezTo>
                    <a:pt x="5485018" y="592631"/>
                    <a:pt x="5681768" y="713145"/>
                    <a:pt x="5865400" y="851099"/>
                  </a:cubicBezTo>
                  <a:lnTo>
                    <a:pt x="5890489" y="870950"/>
                  </a:lnTo>
                  <a:lnTo>
                    <a:pt x="5890489" y="1321814"/>
                  </a:lnTo>
                  <a:lnTo>
                    <a:pt x="5887395" y="1318952"/>
                  </a:lnTo>
                  <a:lnTo>
                    <a:pt x="5830291" y="1265992"/>
                  </a:lnTo>
                  <a:lnTo>
                    <a:pt x="5815981" y="1252687"/>
                  </a:lnTo>
                  <a:lnTo>
                    <a:pt x="5801142" y="1240158"/>
                  </a:lnTo>
                  <a:lnTo>
                    <a:pt x="5771464" y="1214969"/>
                  </a:lnTo>
                  <a:cubicBezTo>
                    <a:pt x="5731849" y="1181385"/>
                    <a:pt x="5692897" y="1146896"/>
                    <a:pt x="5651030" y="1115767"/>
                  </a:cubicBezTo>
                  <a:cubicBezTo>
                    <a:pt x="5487534" y="986985"/>
                    <a:pt x="5311321" y="872542"/>
                    <a:pt x="5123183" y="780443"/>
                  </a:cubicBezTo>
                  <a:cubicBezTo>
                    <a:pt x="4935309" y="688087"/>
                    <a:pt x="4737102" y="616398"/>
                    <a:pt x="4533860" y="567701"/>
                  </a:cubicBezTo>
                  <a:lnTo>
                    <a:pt x="4457281" y="550780"/>
                  </a:lnTo>
                  <a:cubicBezTo>
                    <a:pt x="4431709" y="545484"/>
                    <a:pt x="4406536" y="538896"/>
                    <a:pt x="4380568" y="535279"/>
                  </a:cubicBezTo>
                  <a:lnTo>
                    <a:pt x="4303325" y="522879"/>
                  </a:lnTo>
                  <a:lnTo>
                    <a:pt x="4264769" y="516679"/>
                  </a:lnTo>
                  <a:cubicBezTo>
                    <a:pt x="4251918" y="514612"/>
                    <a:pt x="4239067" y="512415"/>
                    <a:pt x="4226082" y="511253"/>
                  </a:cubicBezTo>
                  <a:cubicBezTo>
                    <a:pt x="4174145" y="505829"/>
                    <a:pt x="4122606" y="499498"/>
                    <a:pt x="4070934" y="494848"/>
                  </a:cubicBezTo>
                  <a:lnTo>
                    <a:pt x="3915521" y="486065"/>
                  </a:lnTo>
                  <a:lnTo>
                    <a:pt x="3760241" y="484257"/>
                  </a:lnTo>
                  <a:cubicBezTo>
                    <a:pt x="3734405" y="483869"/>
                    <a:pt x="3708571" y="485936"/>
                    <a:pt x="3682734" y="486581"/>
                  </a:cubicBezTo>
                  <a:lnTo>
                    <a:pt x="3605491" y="488907"/>
                  </a:lnTo>
                  <a:cubicBezTo>
                    <a:pt x="3579921" y="489165"/>
                    <a:pt x="3553555" y="491490"/>
                    <a:pt x="3527454" y="493169"/>
                  </a:cubicBezTo>
                  <a:lnTo>
                    <a:pt x="3449151" y="498336"/>
                  </a:lnTo>
                  <a:lnTo>
                    <a:pt x="3410067" y="500532"/>
                  </a:lnTo>
                  <a:lnTo>
                    <a:pt x="3371246" y="504279"/>
                  </a:lnTo>
                  <a:cubicBezTo>
                    <a:pt x="3345410" y="506862"/>
                    <a:pt x="3319575" y="509315"/>
                    <a:pt x="3293739" y="511512"/>
                  </a:cubicBezTo>
                  <a:cubicBezTo>
                    <a:pt x="3087450" y="531662"/>
                    <a:pt x="2885531" y="563180"/>
                    <a:pt x="2689445" y="610198"/>
                  </a:cubicBezTo>
                  <a:cubicBezTo>
                    <a:pt x="2493357" y="657344"/>
                    <a:pt x="2302303" y="719088"/>
                    <a:pt x="2117875" y="800335"/>
                  </a:cubicBezTo>
                  <a:cubicBezTo>
                    <a:pt x="2072298" y="821648"/>
                    <a:pt x="2026854" y="843606"/>
                    <a:pt x="1981276" y="865566"/>
                  </a:cubicBezTo>
                  <a:cubicBezTo>
                    <a:pt x="1937025" y="889978"/>
                    <a:pt x="1891978" y="913229"/>
                    <a:pt x="1847991" y="938676"/>
                  </a:cubicBezTo>
                  <a:lnTo>
                    <a:pt x="1783069" y="978718"/>
                  </a:lnTo>
                  <a:lnTo>
                    <a:pt x="1750609" y="998869"/>
                  </a:lnTo>
                  <a:lnTo>
                    <a:pt x="1734312" y="1008945"/>
                  </a:lnTo>
                  <a:lnTo>
                    <a:pt x="1718547" y="1019924"/>
                  </a:lnTo>
                  <a:lnTo>
                    <a:pt x="1655481" y="1063582"/>
                  </a:lnTo>
                  <a:cubicBezTo>
                    <a:pt x="1634414" y="1078178"/>
                    <a:pt x="1612950" y="1092259"/>
                    <a:pt x="1593077" y="1108664"/>
                  </a:cubicBezTo>
                  <a:lnTo>
                    <a:pt x="1532263" y="1156197"/>
                  </a:lnTo>
                  <a:cubicBezTo>
                    <a:pt x="1511992" y="1172085"/>
                    <a:pt x="1491587" y="1187844"/>
                    <a:pt x="1472509" y="1205152"/>
                  </a:cubicBezTo>
                  <a:lnTo>
                    <a:pt x="1414212" y="1256175"/>
                  </a:lnTo>
                  <a:cubicBezTo>
                    <a:pt x="1395001" y="1273354"/>
                    <a:pt x="1375127" y="1290147"/>
                    <a:pt x="1357242" y="1308359"/>
                  </a:cubicBezTo>
                  <a:cubicBezTo>
                    <a:pt x="1283178" y="1379532"/>
                    <a:pt x="1212163" y="1452513"/>
                    <a:pt x="1153072" y="1529498"/>
                  </a:cubicBezTo>
                  <a:cubicBezTo>
                    <a:pt x="1090933" y="1605578"/>
                    <a:pt x="1043501" y="1685794"/>
                    <a:pt x="1002694" y="1770658"/>
                  </a:cubicBezTo>
                  <a:lnTo>
                    <a:pt x="974076" y="1835371"/>
                  </a:lnTo>
                  <a:lnTo>
                    <a:pt x="949564" y="1903573"/>
                  </a:lnTo>
                  <a:cubicBezTo>
                    <a:pt x="940820" y="1925661"/>
                    <a:pt x="934593" y="1950719"/>
                    <a:pt x="927173" y="1974229"/>
                  </a:cubicBezTo>
                  <a:cubicBezTo>
                    <a:pt x="920019" y="1998254"/>
                    <a:pt x="912468" y="2021504"/>
                    <a:pt x="906107" y="2046952"/>
                  </a:cubicBezTo>
                  <a:cubicBezTo>
                    <a:pt x="853906" y="2245614"/>
                    <a:pt x="809918" y="2463136"/>
                    <a:pt x="751092" y="2676266"/>
                  </a:cubicBezTo>
                  <a:cubicBezTo>
                    <a:pt x="693458" y="2889912"/>
                    <a:pt x="624166" y="3100976"/>
                    <a:pt x="547189" y="3308422"/>
                  </a:cubicBezTo>
                  <a:cubicBezTo>
                    <a:pt x="479617" y="3487580"/>
                    <a:pt x="444109" y="3675523"/>
                    <a:pt x="441195" y="3866306"/>
                  </a:cubicBezTo>
                  <a:cubicBezTo>
                    <a:pt x="438014" y="4057089"/>
                    <a:pt x="469282" y="4250456"/>
                    <a:pt x="527182" y="4439174"/>
                  </a:cubicBezTo>
                  <a:cubicBezTo>
                    <a:pt x="584815" y="4628278"/>
                    <a:pt x="671067" y="4811828"/>
                    <a:pt x="775073" y="4987240"/>
                  </a:cubicBezTo>
                  <a:cubicBezTo>
                    <a:pt x="827009" y="5075075"/>
                    <a:pt x="884246" y="5160327"/>
                    <a:pt x="943206" y="5244933"/>
                  </a:cubicBezTo>
                  <a:cubicBezTo>
                    <a:pt x="1002296" y="5329411"/>
                    <a:pt x="1064964" y="5412337"/>
                    <a:pt x="1133728" y="5490356"/>
                  </a:cubicBezTo>
                  <a:cubicBezTo>
                    <a:pt x="1203949" y="5567728"/>
                    <a:pt x="1279337" y="5642259"/>
                    <a:pt x="1359626" y="5709815"/>
                  </a:cubicBezTo>
                  <a:cubicBezTo>
                    <a:pt x="1398711" y="5744949"/>
                    <a:pt x="1439916" y="5777241"/>
                    <a:pt x="1481254" y="5809146"/>
                  </a:cubicBezTo>
                  <a:cubicBezTo>
                    <a:pt x="1501922" y="5825163"/>
                    <a:pt x="1522325" y="5841309"/>
                    <a:pt x="1543260" y="5856940"/>
                  </a:cubicBezTo>
                  <a:cubicBezTo>
                    <a:pt x="1564591" y="5871923"/>
                    <a:pt x="1585921" y="5886777"/>
                    <a:pt x="1607518" y="5901374"/>
                  </a:cubicBezTo>
                  <a:cubicBezTo>
                    <a:pt x="1778565" y="6019693"/>
                    <a:pt x="1961271" y="6115924"/>
                    <a:pt x="2145566" y="6193814"/>
                  </a:cubicBezTo>
                  <a:lnTo>
                    <a:pt x="2214991" y="6221844"/>
                  </a:lnTo>
                  <a:lnTo>
                    <a:pt x="2249307" y="6236182"/>
                  </a:lnTo>
                  <a:cubicBezTo>
                    <a:pt x="2260702" y="6241089"/>
                    <a:pt x="2272625" y="6244577"/>
                    <a:pt x="2284285" y="6248711"/>
                  </a:cubicBezTo>
                  <a:lnTo>
                    <a:pt x="2354241" y="6273124"/>
                  </a:lnTo>
                  <a:cubicBezTo>
                    <a:pt x="2360070" y="6275190"/>
                    <a:pt x="2365899" y="6277128"/>
                    <a:pt x="2371597" y="6279324"/>
                  </a:cubicBezTo>
                  <a:cubicBezTo>
                    <a:pt x="2377161" y="6281778"/>
                    <a:pt x="2382329" y="6285007"/>
                    <a:pt x="2387894" y="6287719"/>
                  </a:cubicBezTo>
                  <a:cubicBezTo>
                    <a:pt x="2398757" y="6293274"/>
                    <a:pt x="2410153" y="6297666"/>
                    <a:pt x="2421414" y="6302186"/>
                  </a:cubicBezTo>
                  <a:lnTo>
                    <a:pt x="2489117" y="6329441"/>
                  </a:lnTo>
                  <a:lnTo>
                    <a:pt x="2522902" y="6343134"/>
                  </a:lnTo>
                  <a:cubicBezTo>
                    <a:pt x="2534165" y="6347654"/>
                    <a:pt x="2545294" y="6352563"/>
                    <a:pt x="2556953" y="6356051"/>
                  </a:cubicBezTo>
                  <a:lnTo>
                    <a:pt x="2695009" y="6401905"/>
                  </a:lnTo>
                  <a:cubicBezTo>
                    <a:pt x="2880895" y="6457190"/>
                    <a:pt x="3073141" y="6489095"/>
                    <a:pt x="3268035" y="6501238"/>
                  </a:cubicBezTo>
                  <a:cubicBezTo>
                    <a:pt x="3292413" y="6502659"/>
                    <a:pt x="3316527" y="6505629"/>
                    <a:pt x="3341038" y="6506145"/>
                  </a:cubicBezTo>
                  <a:lnTo>
                    <a:pt x="3414703" y="6507050"/>
                  </a:lnTo>
                  <a:lnTo>
                    <a:pt x="3488237" y="6508212"/>
                  </a:lnTo>
                  <a:cubicBezTo>
                    <a:pt x="3500690" y="6508729"/>
                    <a:pt x="3512483" y="6508471"/>
                    <a:pt x="3524142" y="6507955"/>
                  </a:cubicBezTo>
                  <a:lnTo>
                    <a:pt x="3559252" y="6506921"/>
                  </a:lnTo>
                  <a:cubicBezTo>
                    <a:pt x="3582835" y="6506792"/>
                    <a:pt x="3605889" y="6504467"/>
                    <a:pt x="3629207" y="6503045"/>
                  </a:cubicBezTo>
                  <a:cubicBezTo>
                    <a:pt x="3652526" y="6502012"/>
                    <a:pt x="3675579" y="6499171"/>
                    <a:pt x="3698633" y="6496845"/>
                  </a:cubicBezTo>
                  <a:cubicBezTo>
                    <a:pt x="3710160" y="6495683"/>
                    <a:pt x="3721819" y="6494907"/>
                    <a:pt x="3733213" y="6493357"/>
                  </a:cubicBezTo>
                  <a:lnTo>
                    <a:pt x="3767529" y="6488707"/>
                  </a:lnTo>
                  <a:lnTo>
                    <a:pt x="3801845" y="6484057"/>
                  </a:lnTo>
                  <a:lnTo>
                    <a:pt x="3835895" y="6478116"/>
                  </a:lnTo>
                  <a:cubicBezTo>
                    <a:pt x="4017673" y="6446727"/>
                    <a:pt x="4194152" y="6390281"/>
                    <a:pt x="4364801" y="6308517"/>
                  </a:cubicBezTo>
                  <a:cubicBezTo>
                    <a:pt x="4535583" y="6227139"/>
                    <a:pt x="4700138" y="6120962"/>
                    <a:pt x="4861379" y="6000576"/>
                  </a:cubicBezTo>
                  <a:cubicBezTo>
                    <a:pt x="5022621" y="5879931"/>
                    <a:pt x="5180684" y="5745337"/>
                    <a:pt x="5341263" y="5605834"/>
                  </a:cubicBezTo>
                  <a:lnTo>
                    <a:pt x="5587301" y="5390379"/>
                  </a:lnTo>
                  <a:cubicBezTo>
                    <a:pt x="5674216" y="5315718"/>
                    <a:pt x="5761527" y="5244416"/>
                    <a:pt x="5849105" y="5176344"/>
                  </a:cubicBezTo>
                  <a:lnTo>
                    <a:pt x="5890489" y="5145260"/>
                  </a:lnTo>
                  <a:lnTo>
                    <a:pt x="5890489" y="5995323"/>
                  </a:lnTo>
                  <a:lnTo>
                    <a:pt x="5811477" y="6077819"/>
                  </a:lnTo>
                  <a:cubicBezTo>
                    <a:pt x="5654739" y="6238377"/>
                    <a:pt x="5487138" y="6396093"/>
                    <a:pt x="5301384" y="6542958"/>
                  </a:cubicBezTo>
                  <a:lnTo>
                    <a:pt x="5252008" y="6578438"/>
                  </a:lnTo>
                  <a:lnTo>
                    <a:pt x="1653730" y="6578438"/>
                  </a:lnTo>
                  <a:lnTo>
                    <a:pt x="1549768" y="6488821"/>
                  </a:lnTo>
                  <a:cubicBezTo>
                    <a:pt x="1461976" y="6409495"/>
                    <a:pt x="1378573" y="6327182"/>
                    <a:pt x="1298282" y="6243932"/>
                  </a:cubicBezTo>
                  <a:cubicBezTo>
                    <a:pt x="1278277" y="6223006"/>
                    <a:pt x="1258138" y="6202210"/>
                    <a:pt x="1237999" y="6181671"/>
                  </a:cubicBezTo>
                  <a:lnTo>
                    <a:pt x="1179967" y="6117862"/>
                  </a:lnTo>
                  <a:lnTo>
                    <a:pt x="1121936" y="6054569"/>
                  </a:lnTo>
                  <a:cubicBezTo>
                    <a:pt x="1102328" y="6033644"/>
                    <a:pt x="1084573" y="6011427"/>
                    <a:pt x="1065628" y="5990243"/>
                  </a:cubicBezTo>
                  <a:cubicBezTo>
                    <a:pt x="1028662" y="5947099"/>
                    <a:pt x="990239" y="5904991"/>
                    <a:pt x="954335" y="5861460"/>
                  </a:cubicBezTo>
                  <a:cubicBezTo>
                    <a:pt x="936050" y="5840018"/>
                    <a:pt x="917634" y="5818446"/>
                    <a:pt x="898953" y="5797393"/>
                  </a:cubicBezTo>
                  <a:cubicBezTo>
                    <a:pt x="880404" y="5776208"/>
                    <a:pt x="861325" y="5755412"/>
                    <a:pt x="842908" y="5733582"/>
                  </a:cubicBezTo>
                  <a:cubicBezTo>
                    <a:pt x="767919" y="5647942"/>
                    <a:pt x="693061" y="5561786"/>
                    <a:pt x="622442" y="5471884"/>
                  </a:cubicBezTo>
                  <a:cubicBezTo>
                    <a:pt x="551559" y="5382112"/>
                    <a:pt x="486639" y="5287430"/>
                    <a:pt x="425559" y="5190036"/>
                  </a:cubicBezTo>
                  <a:cubicBezTo>
                    <a:pt x="303668" y="4994990"/>
                    <a:pt x="200193" y="4786123"/>
                    <a:pt x="123877" y="4564210"/>
                  </a:cubicBezTo>
                  <a:cubicBezTo>
                    <a:pt x="47694" y="4342555"/>
                    <a:pt x="2249" y="4106045"/>
                    <a:pt x="130" y="3865530"/>
                  </a:cubicBezTo>
                  <a:cubicBezTo>
                    <a:pt x="-1328" y="3745403"/>
                    <a:pt x="9537" y="3624629"/>
                    <a:pt x="30602" y="3505793"/>
                  </a:cubicBezTo>
                  <a:cubicBezTo>
                    <a:pt x="51802" y="3386828"/>
                    <a:pt x="84659" y="3270059"/>
                    <a:pt x="126924" y="3157164"/>
                  </a:cubicBezTo>
                  <a:cubicBezTo>
                    <a:pt x="200457" y="2959276"/>
                    <a:pt x="271737" y="2761388"/>
                    <a:pt x="334803" y="2560530"/>
                  </a:cubicBezTo>
                  <a:lnTo>
                    <a:pt x="381176" y="2409144"/>
                  </a:lnTo>
                  <a:lnTo>
                    <a:pt x="425825" y="2255819"/>
                  </a:lnTo>
                  <a:lnTo>
                    <a:pt x="470210" y="2099523"/>
                  </a:lnTo>
                  <a:lnTo>
                    <a:pt x="492998" y="2020213"/>
                  </a:lnTo>
                  <a:lnTo>
                    <a:pt x="517509" y="1939224"/>
                  </a:lnTo>
                  <a:cubicBezTo>
                    <a:pt x="525061" y="1912485"/>
                    <a:pt x="534866" y="1884586"/>
                    <a:pt x="544007" y="1857201"/>
                  </a:cubicBezTo>
                  <a:cubicBezTo>
                    <a:pt x="553680" y="1829559"/>
                    <a:pt x="561496" y="1802304"/>
                    <a:pt x="573288" y="1774274"/>
                  </a:cubicBezTo>
                  <a:lnTo>
                    <a:pt x="606146" y="1690832"/>
                  </a:lnTo>
                  <a:cubicBezTo>
                    <a:pt x="618467" y="1663060"/>
                    <a:pt x="631716" y="1635417"/>
                    <a:pt x="644569" y="1607775"/>
                  </a:cubicBezTo>
                  <a:cubicBezTo>
                    <a:pt x="698625" y="1498368"/>
                    <a:pt x="763413" y="1391287"/>
                    <a:pt x="837874" y="1297638"/>
                  </a:cubicBezTo>
                  <a:cubicBezTo>
                    <a:pt x="910348" y="1201278"/>
                    <a:pt x="990107" y="1115897"/>
                    <a:pt x="1069602" y="1032194"/>
                  </a:cubicBezTo>
                  <a:cubicBezTo>
                    <a:pt x="1089079" y="1010624"/>
                    <a:pt x="1110012" y="990990"/>
                    <a:pt x="1130548" y="970839"/>
                  </a:cubicBezTo>
                  <a:lnTo>
                    <a:pt x="1192024" y="910129"/>
                  </a:lnTo>
                  <a:cubicBezTo>
                    <a:pt x="1212031" y="889462"/>
                    <a:pt x="1234024" y="870475"/>
                    <a:pt x="1255356" y="850841"/>
                  </a:cubicBezTo>
                  <a:lnTo>
                    <a:pt x="1319614" y="792068"/>
                  </a:lnTo>
                  <a:cubicBezTo>
                    <a:pt x="1340680" y="772176"/>
                    <a:pt x="1363469" y="753834"/>
                    <a:pt x="1385728" y="734975"/>
                  </a:cubicBezTo>
                  <a:lnTo>
                    <a:pt x="1452768" y="678528"/>
                  </a:lnTo>
                  <a:lnTo>
                    <a:pt x="1469594" y="664449"/>
                  </a:lnTo>
                  <a:lnTo>
                    <a:pt x="1487083" y="651015"/>
                  </a:lnTo>
                  <a:lnTo>
                    <a:pt x="1522193" y="624277"/>
                  </a:lnTo>
                  <a:lnTo>
                    <a:pt x="1592415" y="570671"/>
                  </a:lnTo>
                  <a:cubicBezTo>
                    <a:pt x="1640110" y="535925"/>
                    <a:pt x="1689531" y="503245"/>
                    <a:pt x="1738287" y="469402"/>
                  </a:cubicBezTo>
                  <a:cubicBezTo>
                    <a:pt x="1788634" y="438015"/>
                    <a:pt x="1839643" y="407013"/>
                    <a:pt x="1890918" y="376530"/>
                  </a:cubicBezTo>
                  <a:cubicBezTo>
                    <a:pt x="2098400" y="258209"/>
                    <a:pt x="2323503" y="166241"/>
                    <a:pt x="2555363" y="105274"/>
                  </a:cubicBezTo>
                  <a:cubicBezTo>
                    <a:pt x="2787223" y="44047"/>
                    <a:pt x="3024516" y="12013"/>
                    <a:pt x="3259291" y="3229"/>
                  </a:cubicBezTo>
                  <a:lnTo>
                    <a:pt x="3347265" y="903"/>
                  </a:ln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5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7CCEAF3-651B-4605-AE58-F96E227036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3" y="52997"/>
              <a:ext cx="6093363" cy="6805004"/>
            </a:xfrm>
            <a:custGeom>
              <a:avLst/>
              <a:gdLst>
                <a:gd name="connsiteX0" fmla="*/ 3517682 w 5890491"/>
                <a:gd name="connsiteY0" fmla="*/ 0 h 6578439"/>
                <a:gd name="connsiteX1" fmla="*/ 5849513 w 5890491"/>
                <a:gd name="connsiteY1" fmla="*/ 841730 h 6578439"/>
                <a:gd name="connsiteX2" fmla="*/ 5890491 w 5890491"/>
                <a:gd name="connsiteY2" fmla="*/ 879061 h 6578439"/>
                <a:gd name="connsiteX3" fmla="*/ 5890491 w 5890491"/>
                <a:gd name="connsiteY3" fmla="*/ 2034114 h 6578439"/>
                <a:gd name="connsiteX4" fmla="*/ 5757065 w 5890491"/>
                <a:gd name="connsiteY4" fmla="*/ 1854938 h 6578439"/>
                <a:gd name="connsiteX5" fmla="*/ 5564060 w 5890491"/>
                <a:gd name="connsiteY5" fmla="*/ 1642182 h 6578439"/>
                <a:gd name="connsiteX6" fmla="*/ 3517551 w 5890491"/>
                <a:gd name="connsiteY6" fmla="*/ 790012 h 6578439"/>
                <a:gd name="connsiteX7" fmla="*/ 1611552 w 5890491"/>
                <a:gd name="connsiteY7" fmla="*/ 1543282 h 6578439"/>
                <a:gd name="connsiteX8" fmla="*/ 1340656 w 5890491"/>
                <a:gd name="connsiteY8" fmla="*/ 1897925 h 6578439"/>
                <a:gd name="connsiteX9" fmla="*/ 1201705 w 5890491"/>
                <a:gd name="connsiteY9" fmla="*/ 2361213 h 6578439"/>
                <a:gd name="connsiteX10" fmla="*/ 852705 w 5890491"/>
                <a:gd name="connsiteY10" fmla="*/ 3529176 h 6578439"/>
                <a:gd name="connsiteX11" fmla="*/ 863863 w 5890491"/>
                <a:gd name="connsiteY11" fmla="*/ 4437051 h 6578439"/>
                <a:gd name="connsiteX12" fmla="*/ 1413569 w 5890491"/>
                <a:gd name="connsiteY12" fmla="*/ 5357174 h 6578439"/>
                <a:gd name="connsiteX13" fmla="*/ 2339129 w 5890491"/>
                <a:gd name="connsiteY13" fmla="*/ 6143367 h 6578439"/>
                <a:gd name="connsiteX14" fmla="*/ 3439449 w 5890491"/>
                <a:gd name="connsiteY14" fmla="*/ 6420049 h 6578439"/>
                <a:gd name="connsiteX15" fmla="*/ 5251388 w 5890491"/>
                <a:gd name="connsiteY15" fmla="*/ 5349009 h 6578439"/>
                <a:gd name="connsiteX16" fmla="*/ 5657731 w 5890491"/>
                <a:gd name="connsiteY16" fmla="*/ 4959205 h 6578439"/>
                <a:gd name="connsiteX17" fmla="*/ 5836127 w 5890491"/>
                <a:gd name="connsiteY17" fmla="*/ 4792052 h 6578439"/>
                <a:gd name="connsiteX18" fmla="*/ 5890491 w 5890491"/>
                <a:gd name="connsiteY18" fmla="*/ 4738662 h 6578439"/>
                <a:gd name="connsiteX19" fmla="*/ 5890491 w 5890491"/>
                <a:gd name="connsiteY19" fmla="*/ 5821964 h 6578439"/>
                <a:gd name="connsiteX20" fmla="*/ 5802001 w 5890491"/>
                <a:gd name="connsiteY20" fmla="*/ 5907904 h 6578439"/>
                <a:gd name="connsiteX21" fmla="*/ 5294358 w 5890491"/>
                <a:gd name="connsiteY21" fmla="*/ 6397505 h 6578439"/>
                <a:gd name="connsiteX22" fmla="*/ 5077178 w 5890491"/>
                <a:gd name="connsiteY22" fmla="*/ 6578439 h 6578439"/>
                <a:gd name="connsiteX23" fmla="*/ 1567290 w 5890491"/>
                <a:gd name="connsiteY23" fmla="*/ 6578439 h 6578439"/>
                <a:gd name="connsiteX24" fmla="*/ 1508588 w 5890491"/>
                <a:gd name="connsiteY24" fmla="*/ 6535186 h 6578439"/>
                <a:gd name="connsiteX25" fmla="*/ 826498 w 5890491"/>
                <a:gd name="connsiteY25" fmla="*/ 5876034 h 6578439"/>
                <a:gd name="connsiteX26" fmla="*/ 122403 w 5890491"/>
                <a:gd name="connsiteY26" fmla="*/ 3255655 h 6578439"/>
                <a:gd name="connsiteX27" fmla="*/ 1061197 w 5890491"/>
                <a:gd name="connsiteY27" fmla="*/ 984650 h 6578439"/>
                <a:gd name="connsiteX28" fmla="*/ 3517682 w 5890491"/>
                <a:gd name="connsiteY28" fmla="*/ 0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890491" h="6578439">
                  <a:moveTo>
                    <a:pt x="3517682" y="0"/>
                  </a:moveTo>
                  <a:cubicBezTo>
                    <a:pt x="4402017" y="0"/>
                    <a:pt x="5213742" y="315483"/>
                    <a:pt x="5849513" y="841730"/>
                  </a:cubicBezTo>
                  <a:lnTo>
                    <a:pt x="5890491" y="879061"/>
                  </a:lnTo>
                  <a:lnTo>
                    <a:pt x="5890491" y="2034114"/>
                  </a:lnTo>
                  <a:lnTo>
                    <a:pt x="5757065" y="1854938"/>
                  </a:lnTo>
                  <a:cubicBezTo>
                    <a:pt x="5696443" y="1781264"/>
                    <a:pt x="5632076" y="1710299"/>
                    <a:pt x="5564060" y="1642182"/>
                  </a:cubicBezTo>
                  <a:cubicBezTo>
                    <a:pt x="5015393" y="1092636"/>
                    <a:pt x="4288592" y="790012"/>
                    <a:pt x="3517551" y="790012"/>
                  </a:cubicBezTo>
                  <a:cubicBezTo>
                    <a:pt x="2701750" y="790012"/>
                    <a:pt x="2131676" y="1015335"/>
                    <a:pt x="1611552" y="1543282"/>
                  </a:cubicBezTo>
                  <a:cubicBezTo>
                    <a:pt x="1435754" y="1721722"/>
                    <a:pt x="1375945" y="1822729"/>
                    <a:pt x="1340656" y="1897925"/>
                  </a:cubicBezTo>
                  <a:cubicBezTo>
                    <a:pt x="1289148" y="2007623"/>
                    <a:pt x="1252432" y="2155907"/>
                    <a:pt x="1201705" y="2361213"/>
                  </a:cubicBezTo>
                  <a:cubicBezTo>
                    <a:pt x="1133721" y="2635919"/>
                    <a:pt x="1040568" y="3012290"/>
                    <a:pt x="852705" y="3529176"/>
                  </a:cubicBezTo>
                  <a:cubicBezTo>
                    <a:pt x="749952" y="3811784"/>
                    <a:pt x="753584" y="4108747"/>
                    <a:pt x="863863" y="4437051"/>
                  </a:cubicBezTo>
                  <a:cubicBezTo>
                    <a:pt x="964800" y="4737438"/>
                    <a:pt x="1154869" y="5055603"/>
                    <a:pt x="1413569" y="5357174"/>
                  </a:cubicBezTo>
                  <a:cubicBezTo>
                    <a:pt x="1718326" y="5712343"/>
                    <a:pt x="2021008" y="5969404"/>
                    <a:pt x="2339129" y="6143367"/>
                  </a:cubicBezTo>
                  <a:cubicBezTo>
                    <a:pt x="2679565" y="6329577"/>
                    <a:pt x="3039591" y="6420049"/>
                    <a:pt x="3439449" y="6420049"/>
                  </a:cubicBezTo>
                  <a:cubicBezTo>
                    <a:pt x="4142246" y="6420049"/>
                    <a:pt x="4633828" y="5976251"/>
                    <a:pt x="5251388" y="5349009"/>
                  </a:cubicBezTo>
                  <a:cubicBezTo>
                    <a:pt x="5389949" y="5208364"/>
                    <a:pt x="5526047" y="5081677"/>
                    <a:pt x="5657731" y="4959205"/>
                  </a:cubicBezTo>
                  <a:cubicBezTo>
                    <a:pt x="5719520" y="4901722"/>
                    <a:pt x="5779200" y="4846206"/>
                    <a:pt x="5836127" y="4792052"/>
                  </a:cubicBezTo>
                  <a:lnTo>
                    <a:pt x="5890491" y="4738662"/>
                  </a:lnTo>
                  <a:lnTo>
                    <a:pt x="5890491" y="5821964"/>
                  </a:lnTo>
                  <a:lnTo>
                    <a:pt x="5802001" y="5907904"/>
                  </a:lnTo>
                  <a:cubicBezTo>
                    <a:pt x="5634962" y="6077456"/>
                    <a:pt x="5467509" y="6243625"/>
                    <a:pt x="5294358" y="6397505"/>
                  </a:cubicBezTo>
                  <a:lnTo>
                    <a:pt x="5077178" y="6578439"/>
                  </a:lnTo>
                  <a:lnTo>
                    <a:pt x="1567290" y="6578439"/>
                  </a:lnTo>
                  <a:lnTo>
                    <a:pt x="1508588" y="6535186"/>
                  </a:lnTo>
                  <a:cubicBezTo>
                    <a:pt x="1263991" y="6345442"/>
                    <a:pt x="1038054" y="6122666"/>
                    <a:pt x="826498" y="5876034"/>
                  </a:cubicBezTo>
                  <a:cubicBezTo>
                    <a:pt x="261613" y="5217713"/>
                    <a:pt x="-239182" y="4250314"/>
                    <a:pt x="122403" y="3255655"/>
                  </a:cubicBezTo>
                  <a:cubicBezTo>
                    <a:pt x="607497" y="1921629"/>
                    <a:pt x="393040" y="1662857"/>
                    <a:pt x="1061197" y="984650"/>
                  </a:cubicBezTo>
                  <a:cubicBezTo>
                    <a:pt x="1729484" y="306444"/>
                    <a:pt x="2498060" y="0"/>
                    <a:pt x="3517682" y="0"/>
                  </a:cubicBezTo>
                  <a:close/>
                </a:path>
              </a:pathLst>
            </a:custGeom>
            <a:gradFill flip="none" rotWithShape="1">
              <a:gsLst>
                <a:gs pos="2000">
                  <a:schemeClr val="bg1"/>
                </a:gs>
                <a:gs pos="16000">
                  <a:schemeClr val="accent6">
                    <a:alpha val="10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ED519330-E5F1-4248-B58C-1AA0D9E6DA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01024" y="52997"/>
              <a:ext cx="6093362" cy="6805004"/>
            </a:xfrm>
            <a:custGeom>
              <a:avLst/>
              <a:gdLst>
                <a:gd name="connsiteX0" fmla="*/ 5890490 w 5890490"/>
                <a:gd name="connsiteY0" fmla="*/ 5389037 h 6578439"/>
                <a:gd name="connsiteX1" fmla="*/ 5890490 w 5890490"/>
                <a:gd name="connsiteY1" fmla="*/ 5855587 h 6578439"/>
                <a:gd name="connsiteX2" fmla="*/ 5784593 w 5890490"/>
                <a:gd name="connsiteY2" fmla="*/ 5962054 h 6578439"/>
                <a:gd name="connsiteX3" fmla="*/ 5663414 w 5890490"/>
                <a:gd name="connsiteY3" fmla="*/ 6082564 h 6578439"/>
                <a:gd name="connsiteX4" fmla="*/ 5147099 w 5890490"/>
                <a:gd name="connsiteY4" fmla="*/ 6547726 h 6578439"/>
                <a:gd name="connsiteX5" fmla="*/ 5105015 w 5890490"/>
                <a:gd name="connsiteY5" fmla="*/ 6578439 h 6578439"/>
                <a:gd name="connsiteX6" fmla="*/ 4385601 w 5890490"/>
                <a:gd name="connsiteY6" fmla="*/ 6578439 h 6578439"/>
                <a:gd name="connsiteX7" fmla="*/ 4507252 w 5890490"/>
                <a:gd name="connsiteY7" fmla="*/ 6515968 h 6578439"/>
                <a:gd name="connsiteX8" fmla="*/ 4909330 w 5890490"/>
                <a:gd name="connsiteY8" fmla="*/ 6253453 h 6578439"/>
                <a:gd name="connsiteX9" fmla="*/ 5411374 w 5890490"/>
                <a:gd name="connsiteY9" fmla="*/ 5828544 h 6578439"/>
                <a:gd name="connsiteX10" fmla="*/ 5533570 w 5890490"/>
                <a:gd name="connsiteY10" fmla="*/ 5714534 h 6578439"/>
                <a:gd name="connsiteX11" fmla="*/ 5657425 w 5890490"/>
                <a:gd name="connsiteY11" fmla="*/ 5597650 h 6578439"/>
                <a:gd name="connsiteX12" fmla="*/ 3336813 w 5890490"/>
                <a:gd name="connsiteY12" fmla="*/ 499 h 6578439"/>
                <a:gd name="connsiteX13" fmla="*/ 3513674 w 5890490"/>
                <a:gd name="connsiteY13" fmla="*/ 1202 h 6578439"/>
                <a:gd name="connsiteX14" fmla="*/ 3602743 w 5890490"/>
                <a:gd name="connsiteY14" fmla="*/ 4827 h 6578439"/>
                <a:gd name="connsiteX15" fmla="*/ 3647213 w 5890490"/>
                <a:gd name="connsiteY15" fmla="*/ 6703 h 6578439"/>
                <a:gd name="connsiteX16" fmla="*/ 3691684 w 5890490"/>
                <a:gd name="connsiteY16" fmla="*/ 9453 h 6578439"/>
                <a:gd name="connsiteX17" fmla="*/ 3868927 w 5890490"/>
                <a:gd name="connsiteY17" fmla="*/ 27080 h 6578439"/>
                <a:gd name="connsiteX18" fmla="*/ 5200872 w 5890490"/>
                <a:gd name="connsiteY18" fmla="*/ 472240 h 6578439"/>
                <a:gd name="connsiteX19" fmla="*/ 5772711 w 5890490"/>
                <a:gd name="connsiteY19" fmla="*/ 866334 h 6578439"/>
                <a:gd name="connsiteX20" fmla="*/ 5890490 w 5890490"/>
                <a:gd name="connsiteY20" fmla="*/ 972426 h 6578439"/>
                <a:gd name="connsiteX21" fmla="*/ 5890490 w 5890490"/>
                <a:gd name="connsiteY21" fmla="*/ 1158576 h 6578439"/>
                <a:gd name="connsiteX22" fmla="*/ 5676045 w 5890490"/>
                <a:gd name="connsiteY22" fmla="*/ 986969 h 6578439"/>
                <a:gd name="connsiteX23" fmla="*/ 5103776 w 5890490"/>
                <a:gd name="connsiteY23" fmla="*/ 655879 h 6578439"/>
                <a:gd name="connsiteX24" fmla="*/ 4482465 w 5890490"/>
                <a:gd name="connsiteY24" fmla="*/ 440363 h 6578439"/>
                <a:gd name="connsiteX25" fmla="*/ 4402444 w 5890490"/>
                <a:gd name="connsiteY25" fmla="*/ 422111 h 6578439"/>
                <a:gd name="connsiteX26" fmla="*/ 4322423 w 5890490"/>
                <a:gd name="connsiteY26" fmla="*/ 404610 h 6578439"/>
                <a:gd name="connsiteX27" fmla="*/ 4241892 w 5890490"/>
                <a:gd name="connsiteY27" fmla="*/ 389858 h 6578439"/>
                <a:gd name="connsiteX28" fmla="*/ 4201627 w 5890490"/>
                <a:gd name="connsiteY28" fmla="*/ 382483 h 6578439"/>
                <a:gd name="connsiteX29" fmla="*/ 4161234 w 5890490"/>
                <a:gd name="connsiteY29" fmla="*/ 375857 h 6578439"/>
                <a:gd name="connsiteX30" fmla="*/ 3999280 w 5890490"/>
                <a:gd name="connsiteY30" fmla="*/ 353606 h 6578439"/>
                <a:gd name="connsiteX31" fmla="*/ 3836817 w 5890490"/>
                <a:gd name="connsiteY31" fmla="*/ 338480 h 6578439"/>
                <a:gd name="connsiteX32" fmla="*/ 3673972 w 5890490"/>
                <a:gd name="connsiteY32" fmla="*/ 330604 h 6578439"/>
                <a:gd name="connsiteX33" fmla="*/ 3511126 w 5890490"/>
                <a:gd name="connsiteY33" fmla="*/ 328978 h 6578439"/>
                <a:gd name="connsiteX34" fmla="*/ 3183142 w 5890490"/>
                <a:gd name="connsiteY34" fmla="*/ 342854 h 6578439"/>
                <a:gd name="connsiteX35" fmla="*/ 2541444 w 5890490"/>
                <a:gd name="connsiteY35" fmla="*/ 439988 h 6578439"/>
                <a:gd name="connsiteX36" fmla="*/ 1933895 w 5890490"/>
                <a:gd name="connsiteY36" fmla="*/ 650505 h 6578439"/>
                <a:gd name="connsiteX37" fmla="*/ 1378079 w 5890490"/>
                <a:gd name="connsiteY37" fmla="*/ 983905 h 6578439"/>
                <a:gd name="connsiteX38" fmla="*/ 1312967 w 5890490"/>
                <a:gd name="connsiteY38" fmla="*/ 1033660 h 6578439"/>
                <a:gd name="connsiteX39" fmla="*/ 1248364 w 5890490"/>
                <a:gd name="connsiteY39" fmla="*/ 1084413 h 6578439"/>
                <a:gd name="connsiteX40" fmla="*/ 1185163 w 5890490"/>
                <a:gd name="connsiteY40" fmla="*/ 1137168 h 6578439"/>
                <a:gd name="connsiteX41" fmla="*/ 1122852 w 5890490"/>
                <a:gd name="connsiteY41" fmla="*/ 1190922 h 6578439"/>
                <a:gd name="connsiteX42" fmla="*/ 892092 w 5890490"/>
                <a:gd name="connsiteY42" fmla="*/ 1421440 h 6578439"/>
                <a:gd name="connsiteX43" fmla="*/ 707202 w 5890490"/>
                <a:gd name="connsiteY43" fmla="*/ 1684212 h 6578439"/>
                <a:gd name="connsiteX44" fmla="*/ 670121 w 5890490"/>
                <a:gd name="connsiteY44" fmla="*/ 1756093 h 6578439"/>
                <a:gd name="connsiteX45" fmla="*/ 637630 w 5890490"/>
                <a:gd name="connsiteY45" fmla="*/ 1830724 h 6578439"/>
                <a:gd name="connsiteX46" fmla="*/ 607685 w 5890490"/>
                <a:gd name="connsiteY46" fmla="*/ 1907105 h 6578439"/>
                <a:gd name="connsiteX47" fmla="*/ 580034 w 5890490"/>
                <a:gd name="connsiteY47" fmla="*/ 1984986 h 6578439"/>
                <a:gd name="connsiteX48" fmla="*/ 481919 w 5890490"/>
                <a:gd name="connsiteY48" fmla="*/ 2304386 h 6578439"/>
                <a:gd name="connsiteX49" fmla="*/ 433881 w 5890490"/>
                <a:gd name="connsiteY49" fmla="*/ 2465399 h 6578439"/>
                <a:gd name="connsiteX50" fmla="*/ 384442 w 5890490"/>
                <a:gd name="connsiteY50" fmla="*/ 2626163 h 6578439"/>
                <a:gd name="connsiteX51" fmla="*/ 166039 w 5890490"/>
                <a:gd name="connsiteY51" fmla="*/ 3261338 h 6578439"/>
                <a:gd name="connsiteX52" fmla="*/ 56202 w 5890490"/>
                <a:gd name="connsiteY52" fmla="*/ 3910265 h 6578439"/>
                <a:gd name="connsiteX53" fmla="*/ 93664 w 5890490"/>
                <a:gd name="connsiteY53" fmla="*/ 4237292 h 6578439"/>
                <a:gd name="connsiteX54" fmla="*/ 111758 w 5890490"/>
                <a:gd name="connsiteY54" fmla="*/ 4317548 h 6578439"/>
                <a:gd name="connsiteX55" fmla="*/ 133038 w 5890490"/>
                <a:gd name="connsiteY55" fmla="*/ 4397054 h 6578439"/>
                <a:gd name="connsiteX56" fmla="*/ 157757 w 5890490"/>
                <a:gd name="connsiteY56" fmla="*/ 4475560 h 6578439"/>
                <a:gd name="connsiteX57" fmla="*/ 185153 w 5890490"/>
                <a:gd name="connsiteY57" fmla="*/ 4553066 h 6578439"/>
                <a:gd name="connsiteX58" fmla="*/ 493642 w 5890490"/>
                <a:gd name="connsiteY58" fmla="*/ 5132239 h 6578439"/>
                <a:gd name="connsiteX59" fmla="*/ 914391 w 5890490"/>
                <a:gd name="connsiteY59" fmla="*/ 5636528 h 6578439"/>
                <a:gd name="connsiteX60" fmla="*/ 1402034 w 5890490"/>
                <a:gd name="connsiteY60" fmla="*/ 6076188 h 6578439"/>
                <a:gd name="connsiteX61" fmla="*/ 1664397 w 5890490"/>
                <a:gd name="connsiteY61" fmla="*/ 6267079 h 6578439"/>
                <a:gd name="connsiteX62" fmla="*/ 1938992 w 5890490"/>
                <a:gd name="connsiteY62" fmla="*/ 6434343 h 6578439"/>
                <a:gd name="connsiteX63" fmla="*/ 2225931 w 5890490"/>
                <a:gd name="connsiteY63" fmla="*/ 6574322 h 6578439"/>
                <a:gd name="connsiteX64" fmla="*/ 2236328 w 5890490"/>
                <a:gd name="connsiteY64" fmla="*/ 6578439 h 6578439"/>
                <a:gd name="connsiteX65" fmla="*/ 1504665 w 5890490"/>
                <a:gd name="connsiteY65" fmla="*/ 6578439 h 6578439"/>
                <a:gd name="connsiteX66" fmla="*/ 1456827 w 5890490"/>
                <a:gd name="connsiteY66" fmla="*/ 6543476 h 6578439"/>
                <a:gd name="connsiteX67" fmla="*/ 1188475 w 5890490"/>
                <a:gd name="connsiteY67" fmla="*/ 6314083 h 6578439"/>
                <a:gd name="connsiteX68" fmla="*/ 721728 w 5890490"/>
                <a:gd name="connsiteY68" fmla="*/ 5798666 h 6578439"/>
                <a:gd name="connsiteX69" fmla="*/ 344175 w 5890490"/>
                <a:gd name="connsiteY69" fmla="*/ 5219495 h 6578439"/>
                <a:gd name="connsiteX70" fmla="*/ 87293 w 5890490"/>
                <a:gd name="connsiteY70" fmla="*/ 4583569 h 6578439"/>
                <a:gd name="connsiteX71" fmla="*/ 65886 w 5890490"/>
                <a:gd name="connsiteY71" fmla="*/ 4500813 h 6578439"/>
                <a:gd name="connsiteX72" fmla="*/ 47409 w 5890490"/>
                <a:gd name="connsiteY72" fmla="*/ 4417431 h 6578439"/>
                <a:gd name="connsiteX73" fmla="*/ 39000 w 5890490"/>
                <a:gd name="connsiteY73" fmla="*/ 4375677 h 6578439"/>
                <a:gd name="connsiteX74" fmla="*/ 31610 w 5890490"/>
                <a:gd name="connsiteY74" fmla="*/ 4333674 h 6578439"/>
                <a:gd name="connsiteX75" fmla="*/ 18868 w 5890490"/>
                <a:gd name="connsiteY75" fmla="*/ 4249417 h 6578439"/>
                <a:gd name="connsiteX76" fmla="*/ 646 w 5890490"/>
                <a:gd name="connsiteY76" fmla="*/ 3910265 h 6578439"/>
                <a:gd name="connsiteX77" fmla="*/ 130234 w 5890490"/>
                <a:gd name="connsiteY77" fmla="*/ 3248337 h 6578439"/>
                <a:gd name="connsiteX78" fmla="*/ 335383 w 5890490"/>
                <a:gd name="connsiteY78" fmla="*/ 2611911 h 6578439"/>
                <a:gd name="connsiteX79" fmla="*/ 487272 w 5890490"/>
                <a:gd name="connsiteY79" fmla="*/ 1958609 h 6578439"/>
                <a:gd name="connsiteX80" fmla="*/ 508550 w 5890490"/>
                <a:gd name="connsiteY80" fmla="*/ 1876227 h 6578439"/>
                <a:gd name="connsiteX81" fmla="*/ 531742 w 5890490"/>
                <a:gd name="connsiteY81" fmla="*/ 1793721 h 6578439"/>
                <a:gd name="connsiteX82" fmla="*/ 558245 w 5890490"/>
                <a:gd name="connsiteY82" fmla="*/ 1711465 h 6578439"/>
                <a:gd name="connsiteX83" fmla="*/ 590100 w 5890490"/>
                <a:gd name="connsiteY83" fmla="*/ 1630332 h 6578439"/>
                <a:gd name="connsiteX84" fmla="*/ 758680 w 5890490"/>
                <a:gd name="connsiteY84" fmla="*/ 1322433 h 6578439"/>
                <a:gd name="connsiteX85" fmla="*/ 976317 w 5890490"/>
                <a:gd name="connsiteY85" fmla="*/ 1049286 h 6578439"/>
                <a:gd name="connsiteX86" fmla="*/ 1035314 w 5890490"/>
                <a:gd name="connsiteY86" fmla="*/ 985406 h 6578439"/>
                <a:gd name="connsiteX87" fmla="*/ 1095329 w 5890490"/>
                <a:gd name="connsiteY87" fmla="*/ 922526 h 6578439"/>
                <a:gd name="connsiteX88" fmla="*/ 1157384 w 5890490"/>
                <a:gd name="connsiteY88" fmla="*/ 861271 h 6578439"/>
                <a:gd name="connsiteX89" fmla="*/ 1220841 w 5890490"/>
                <a:gd name="connsiteY89" fmla="*/ 801017 h 6578439"/>
                <a:gd name="connsiteX90" fmla="*/ 1286462 w 5890490"/>
                <a:gd name="connsiteY90" fmla="*/ 742886 h 6578439"/>
                <a:gd name="connsiteX91" fmla="*/ 1353233 w 5890490"/>
                <a:gd name="connsiteY91" fmla="*/ 685632 h 6578439"/>
                <a:gd name="connsiteX92" fmla="*/ 1369924 w 5890490"/>
                <a:gd name="connsiteY92" fmla="*/ 671256 h 6578439"/>
                <a:gd name="connsiteX93" fmla="*/ 1387380 w 5890490"/>
                <a:gd name="connsiteY93" fmla="*/ 657755 h 6578439"/>
                <a:gd name="connsiteX94" fmla="*/ 1422422 w 5890490"/>
                <a:gd name="connsiteY94" fmla="*/ 630877 h 6578439"/>
                <a:gd name="connsiteX95" fmla="*/ 1492759 w 5890490"/>
                <a:gd name="connsiteY95" fmla="*/ 577248 h 6578439"/>
                <a:gd name="connsiteX96" fmla="*/ 1528820 w 5890490"/>
                <a:gd name="connsiteY96" fmla="*/ 551496 h 6578439"/>
                <a:gd name="connsiteX97" fmla="*/ 1565390 w 5890490"/>
                <a:gd name="connsiteY97" fmla="*/ 526370 h 6578439"/>
                <a:gd name="connsiteX98" fmla="*/ 1639040 w 5890490"/>
                <a:gd name="connsiteY98" fmla="*/ 476490 h 6578439"/>
                <a:gd name="connsiteX99" fmla="*/ 1792075 w 5890490"/>
                <a:gd name="connsiteY99" fmla="*/ 384859 h 6578439"/>
                <a:gd name="connsiteX100" fmla="*/ 2455943 w 5890490"/>
                <a:gd name="connsiteY100" fmla="*/ 117836 h 6578439"/>
                <a:gd name="connsiteX101" fmla="*/ 3159952 w 5890490"/>
                <a:gd name="connsiteY101" fmla="*/ 7203 h 6578439"/>
                <a:gd name="connsiteX102" fmla="*/ 3336813 w 5890490"/>
                <a:gd name="connsiteY102" fmla="*/ 499 h 6578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5890490" h="6578439">
                  <a:moveTo>
                    <a:pt x="5890490" y="5389037"/>
                  </a:moveTo>
                  <a:lnTo>
                    <a:pt x="5890490" y="5855587"/>
                  </a:lnTo>
                  <a:lnTo>
                    <a:pt x="5784593" y="5962054"/>
                  </a:lnTo>
                  <a:cubicBezTo>
                    <a:pt x="5744454" y="6002308"/>
                    <a:pt x="5704062" y="6042436"/>
                    <a:pt x="5663414" y="6082564"/>
                  </a:cubicBezTo>
                  <a:cubicBezTo>
                    <a:pt x="5500314" y="6242577"/>
                    <a:pt x="5330970" y="6400714"/>
                    <a:pt x="5147099" y="6547726"/>
                  </a:cubicBezTo>
                  <a:lnTo>
                    <a:pt x="5105015" y="6578439"/>
                  </a:lnTo>
                  <a:lnTo>
                    <a:pt x="4385601" y="6578439"/>
                  </a:lnTo>
                  <a:lnTo>
                    <a:pt x="4507252" y="6515968"/>
                  </a:lnTo>
                  <a:cubicBezTo>
                    <a:pt x="4645901" y="6439679"/>
                    <a:pt x="4779837" y="6350961"/>
                    <a:pt x="4909330" y="6253453"/>
                  </a:cubicBezTo>
                  <a:cubicBezTo>
                    <a:pt x="5082369" y="6123567"/>
                    <a:pt x="5248145" y="5979180"/>
                    <a:pt x="5411374" y="5828544"/>
                  </a:cubicBezTo>
                  <a:cubicBezTo>
                    <a:pt x="5452149" y="5790791"/>
                    <a:pt x="5492924" y="5752788"/>
                    <a:pt x="5533570" y="5714534"/>
                  </a:cubicBezTo>
                  <a:lnTo>
                    <a:pt x="5657425" y="5597650"/>
                  </a:lnTo>
                  <a:close/>
                  <a:moveTo>
                    <a:pt x="3336813" y="499"/>
                  </a:moveTo>
                  <a:cubicBezTo>
                    <a:pt x="3395682" y="-392"/>
                    <a:pt x="3454550" y="-48"/>
                    <a:pt x="3513674" y="1202"/>
                  </a:cubicBezTo>
                  <a:lnTo>
                    <a:pt x="3602743" y="4827"/>
                  </a:lnTo>
                  <a:lnTo>
                    <a:pt x="3647213" y="6703"/>
                  </a:lnTo>
                  <a:cubicBezTo>
                    <a:pt x="3661994" y="7327"/>
                    <a:pt x="3676903" y="7703"/>
                    <a:pt x="3691684" y="9453"/>
                  </a:cubicBezTo>
                  <a:lnTo>
                    <a:pt x="3868927" y="27080"/>
                  </a:lnTo>
                  <a:cubicBezTo>
                    <a:pt x="4340645" y="85584"/>
                    <a:pt x="4795160" y="243221"/>
                    <a:pt x="5200872" y="472240"/>
                  </a:cubicBezTo>
                  <a:cubicBezTo>
                    <a:pt x="5403855" y="587124"/>
                    <a:pt x="5594988" y="719447"/>
                    <a:pt x="5772711" y="866334"/>
                  </a:cubicBezTo>
                  <a:lnTo>
                    <a:pt x="5890490" y="972426"/>
                  </a:lnTo>
                  <a:lnTo>
                    <a:pt x="5890490" y="1158576"/>
                  </a:lnTo>
                  <a:lnTo>
                    <a:pt x="5676045" y="986969"/>
                  </a:lnTo>
                  <a:cubicBezTo>
                    <a:pt x="5496587" y="857740"/>
                    <a:pt x="5304275" y="746699"/>
                    <a:pt x="5103776" y="655879"/>
                  </a:cubicBezTo>
                  <a:cubicBezTo>
                    <a:pt x="4903214" y="564747"/>
                    <a:pt x="4695006" y="492492"/>
                    <a:pt x="4482465" y="440363"/>
                  </a:cubicBezTo>
                  <a:lnTo>
                    <a:pt x="4402444" y="422111"/>
                  </a:lnTo>
                  <a:cubicBezTo>
                    <a:pt x="4375813" y="416111"/>
                    <a:pt x="4349436" y="408859"/>
                    <a:pt x="4322423" y="404610"/>
                  </a:cubicBezTo>
                  <a:lnTo>
                    <a:pt x="4241892" y="389858"/>
                  </a:lnTo>
                  <a:lnTo>
                    <a:pt x="4201627" y="382483"/>
                  </a:lnTo>
                  <a:cubicBezTo>
                    <a:pt x="4188248" y="379983"/>
                    <a:pt x="4174869" y="377483"/>
                    <a:pt x="4161234" y="375857"/>
                  </a:cubicBezTo>
                  <a:cubicBezTo>
                    <a:pt x="4107208" y="368482"/>
                    <a:pt x="4053308" y="360482"/>
                    <a:pt x="3999280" y="353606"/>
                  </a:cubicBezTo>
                  <a:cubicBezTo>
                    <a:pt x="3944999" y="348855"/>
                    <a:pt x="3890844" y="343854"/>
                    <a:pt x="3836817" y="338480"/>
                  </a:cubicBezTo>
                  <a:lnTo>
                    <a:pt x="3673972" y="330604"/>
                  </a:lnTo>
                  <a:cubicBezTo>
                    <a:pt x="3619690" y="329104"/>
                    <a:pt x="3565281" y="329604"/>
                    <a:pt x="3511126" y="328978"/>
                  </a:cubicBezTo>
                  <a:cubicBezTo>
                    <a:pt x="3402054" y="330728"/>
                    <a:pt x="3291706" y="334604"/>
                    <a:pt x="3183142" y="342854"/>
                  </a:cubicBezTo>
                  <a:cubicBezTo>
                    <a:pt x="2965505" y="358855"/>
                    <a:pt x="2750670" y="389733"/>
                    <a:pt x="2541444" y="439988"/>
                  </a:cubicBezTo>
                  <a:cubicBezTo>
                    <a:pt x="2332216" y="490117"/>
                    <a:pt x="2128850" y="559997"/>
                    <a:pt x="1933895" y="650505"/>
                  </a:cubicBezTo>
                  <a:cubicBezTo>
                    <a:pt x="1738939" y="741261"/>
                    <a:pt x="1553540" y="854146"/>
                    <a:pt x="1378079" y="983905"/>
                  </a:cubicBezTo>
                  <a:lnTo>
                    <a:pt x="1312967" y="1033660"/>
                  </a:lnTo>
                  <a:cubicBezTo>
                    <a:pt x="1291178" y="1050286"/>
                    <a:pt x="1269006" y="1066412"/>
                    <a:pt x="1248364" y="1084413"/>
                  </a:cubicBezTo>
                  <a:lnTo>
                    <a:pt x="1185163" y="1137168"/>
                  </a:lnTo>
                  <a:cubicBezTo>
                    <a:pt x="1164138" y="1154794"/>
                    <a:pt x="1142603" y="1172046"/>
                    <a:pt x="1122852" y="1190922"/>
                  </a:cubicBezTo>
                  <a:cubicBezTo>
                    <a:pt x="1041557" y="1264303"/>
                    <a:pt x="961663" y="1339309"/>
                    <a:pt x="892092" y="1421440"/>
                  </a:cubicBezTo>
                  <a:cubicBezTo>
                    <a:pt x="819589" y="1501822"/>
                    <a:pt x="759827" y="1590329"/>
                    <a:pt x="707202" y="1684212"/>
                  </a:cubicBezTo>
                  <a:cubicBezTo>
                    <a:pt x="694715" y="1708089"/>
                    <a:pt x="682227" y="1731841"/>
                    <a:pt x="670121" y="1756093"/>
                  </a:cubicBezTo>
                  <a:lnTo>
                    <a:pt x="637630" y="1830724"/>
                  </a:lnTo>
                  <a:cubicBezTo>
                    <a:pt x="626161" y="1855350"/>
                    <a:pt x="617624" y="1881603"/>
                    <a:pt x="607685" y="1907105"/>
                  </a:cubicBezTo>
                  <a:cubicBezTo>
                    <a:pt x="598128" y="1932857"/>
                    <a:pt x="588317" y="1958483"/>
                    <a:pt x="580034" y="1984986"/>
                  </a:cubicBezTo>
                  <a:cubicBezTo>
                    <a:pt x="544611" y="2089620"/>
                    <a:pt x="513393" y="2197128"/>
                    <a:pt x="481919" y="2304386"/>
                  </a:cubicBezTo>
                  <a:lnTo>
                    <a:pt x="433881" y="2465399"/>
                  </a:lnTo>
                  <a:lnTo>
                    <a:pt x="384442" y="2626163"/>
                  </a:lnTo>
                  <a:cubicBezTo>
                    <a:pt x="317672" y="2839680"/>
                    <a:pt x="243129" y="3050946"/>
                    <a:pt x="166039" y="3261338"/>
                  </a:cubicBezTo>
                  <a:cubicBezTo>
                    <a:pt x="88822" y="3468979"/>
                    <a:pt x="50850" y="3690248"/>
                    <a:pt x="56202" y="3910265"/>
                  </a:cubicBezTo>
                  <a:cubicBezTo>
                    <a:pt x="58495" y="4020274"/>
                    <a:pt x="71493" y="4129783"/>
                    <a:pt x="93664" y="4237292"/>
                  </a:cubicBezTo>
                  <a:cubicBezTo>
                    <a:pt x="99143" y="4264168"/>
                    <a:pt x="104623" y="4291045"/>
                    <a:pt x="111758" y="4317548"/>
                  </a:cubicBezTo>
                  <a:cubicBezTo>
                    <a:pt x="118384" y="4344176"/>
                    <a:pt x="124627" y="4370802"/>
                    <a:pt x="133038" y="4397054"/>
                  </a:cubicBezTo>
                  <a:cubicBezTo>
                    <a:pt x="140810" y="4423307"/>
                    <a:pt x="148456" y="4449683"/>
                    <a:pt x="157757" y="4475560"/>
                  </a:cubicBezTo>
                  <a:cubicBezTo>
                    <a:pt x="166549" y="4501562"/>
                    <a:pt x="175087" y="4527564"/>
                    <a:pt x="185153" y="4553066"/>
                  </a:cubicBezTo>
                  <a:cubicBezTo>
                    <a:pt x="262371" y="4758458"/>
                    <a:pt x="368895" y="4951974"/>
                    <a:pt x="493642" y="5132239"/>
                  </a:cubicBezTo>
                  <a:cubicBezTo>
                    <a:pt x="618389" y="5312627"/>
                    <a:pt x="760846" y="5480391"/>
                    <a:pt x="914391" y="5636528"/>
                  </a:cubicBezTo>
                  <a:cubicBezTo>
                    <a:pt x="1069081" y="5793166"/>
                    <a:pt x="1231544" y="5941677"/>
                    <a:pt x="1402034" y="6076188"/>
                  </a:cubicBezTo>
                  <a:cubicBezTo>
                    <a:pt x="1487535" y="6143320"/>
                    <a:pt x="1574565" y="6207574"/>
                    <a:pt x="1664397" y="6267079"/>
                  </a:cubicBezTo>
                  <a:cubicBezTo>
                    <a:pt x="1753592" y="6327459"/>
                    <a:pt x="1845336" y="6383088"/>
                    <a:pt x="1938992" y="6434343"/>
                  </a:cubicBezTo>
                  <a:cubicBezTo>
                    <a:pt x="2032647" y="6485659"/>
                    <a:pt x="2128309" y="6532600"/>
                    <a:pt x="2225931" y="6574322"/>
                  </a:cubicBezTo>
                  <a:lnTo>
                    <a:pt x="2236328" y="6578439"/>
                  </a:lnTo>
                  <a:lnTo>
                    <a:pt x="1504665" y="6578439"/>
                  </a:lnTo>
                  <a:lnTo>
                    <a:pt x="1456827" y="6543476"/>
                  </a:lnTo>
                  <a:cubicBezTo>
                    <a:pt x="1363554" y="6470595"/>
                    <a:pt x="1273848" y="6394340"/>
                    <a:pt x="1188475" y="6314083"/>
                  </a:cubicBezTo>
                  <a:cubicBezTo>
                    <a:pt x="1017856" y="6153445"/>
                    <a:pt x="863803" y="5979931"/>
                    <a:pt x="721728" y="5798666"/>
                  </a:cubicBezTo>
                  <a:cubicBezTo>
                    <a:pt x="579397" y="5616027"/>
                    <a:pt x="452103" y="5422511"/>
                    <a:pt x="344175" y="5219495"/>
                  </a:cubicBezTo>
                  <a:cubicBezTo>
                    <a:pt x="236505" y="5016354"/>
                    <a:pt x="147946" y="4803586"/>
                    <a:pt x="87293" y="4583569"/>
                  </a:cubicBezTo>
                  <a:cubicBezTo>
                    <a:pt x="79138" y="4556193"/>
                    <a:pt x="72639" y="4528440"/>
                    <a:pt x="65886" y="4500813"/>
                  </a:cubicBezTo>
                  <a:cubicBezTo>
                    <a:pt x="58751" y="4473311"/>
                    <a:pt x="53144" y="4445308"/>
                    <a:pt x="47409" y="4417431"/>
                  </a:cubicBezTo>
                  <a:cubicBezTo>
                    <a:pt x="44733" y="4403430"/>
                    <a:pt x="41294" y="4389679"/>
                    <a:pt x="39000" y="4375677"/>
                  </a:cubicBezTo>
                  <a:lnTo>
                    <a:pt x="31610" y="4333674"/>
                  </a:lnTo>
                  <a:cubicBezTo>
                    <a:pt x="26258" y="4305797"/>
                    <a:pt x="22563" y="4277544"/>
                    <a:pt x="18868" y="4249417"/>
                  </a:cubicBezTo>
                  <a:cubicBezTo>
                    <a:pt x="4214" y="4136784"/>
                    <a:pt x="-2158" y="4023275"/>
                    <a:pt x="646" y="3910265"/>
                  </a:cubicBezTo>
                  <a:cubicBezTo>
                    <a:pt x="5997" y="3683872"/>
                    <a:pt x="50596" y="3459605"/>
                    <a:pt x="130234" y="3248337"/>
                  </a:cubicBezTo>
                  <a:cubicBezTo>
                    <a:pt x="207961" y="3039196"/>
                    <a:pt x="278044" y="2827179"/>
                    <a:pt x="335383" y="2611911"/>
                  </a:cubicBezTo>
                  <a:cubicBezTo>
                    <a:pt x="393743" y="2396644"/>
                    <a:pt x="435792" y="2178627"/>
                    <a:pt x="487272" y="1958609"/>
                  </a:cubicBezTo>
                  <a:cubicBezTo>
                    <a:pt x="493259" y="1931107"/>
                    <a:pt x="501287" y="1903730"/>
                    <a:pt x="508550" y="1876227"/>
                  </a:cubicBezTo>
                  <a:cubicBezTo>
                    <a:pt x="516195" y="1848725"/>
                    <a:pt x="522312" y="1820972"/>
                    <a:pt x="531742" y="1793721"/>
                  </a:cubicBezTo>
                  <a:lnTo>
                    <a:pt x="558245" y="1711465"/>
                  </a:lnTo>
                  <a:cubicBezTo>
                    <a:pt x="568439" y="1684337"/>
                    <a:pt x="579652" y="1657459"/>
                    <a:pt x="590100" y="1630332"/>
                  </a:cubicBezTo>
                  <a:cubicBezTo>
                    <a:pt x="635080" y="1523075"/>
                    <a:pt x="690637" y="1417566"/>
                    <a:pt x="758680" y="1322433"/>
                  </a:cubicBezTo>
                  <a:cubicBezTo>
                    <a:pt x="824430" y="1225051"/>
                    <a:pt x="899610" y="1136168"/>
                    <a:pt x="976317" y="1049286"/>
                  </a:cubicBezTo>
                  <a:cubicBezTo>
                    <a:pt x="995049" y="1027035"/>
                    <a:pt x="1015436" y="1006533"/>
                    <a:pt x="1035314" y="985406"/>
                  </a:cubicBezTo>
                  <a:lnTo>
                    <a:pt x="1095329" y="922526"/>
                  </a:lnTo>
                  <a:cubicBezTo>
                    <a:pt x="1114953" y="901149"/>
                    <a:pt x="1136359" y="881397"/>
                    <a:pt x="1157384" y="861271"/>
                  </a:cubicBezTo>
                  <a:lnTo>
                    <a:pt x="1220841" y="801017"/>
                  </a:lnTo>
                  <a:cubicBezTo>
                    <a:pt x="1241610" y="780514"/>
                    <a:pt x="1264418" y="762014"/>
                    <a:pt x="1286462" y="742886"/>
                  </a:cubicBezTo>
                  <a:lnTo>
                    <a:pt x="1353233" y="685632"/>
                  </a:lnTo>
                  <a:lnTo>
                    <a:pt x="1369924" y="671256"/>
                  </a:lnTo>
                  <a:cubicBezTo>
                    <a:pt x="1375658" y="666631"/>
                    <a:pt x="1381520" y="662255"/>
                    <a:pt x="1387380" y="657755"/>
                  </a:cubicBezTo>
                  <a:lnTo>
                    <a:pt x="1422422" y="630877"/>
                  </a:lnTo>
                  <a:lnTo>
                    <a:pt x="1492759" y="577248"/>
                  </a:lnTo>
                  <a:cubicBezTo>
                    <a:pt x="1504355" y="567997"/>
                    <a:pt x="1516714" y="559997"/>
                    <a:pt x="1528820" y="551496"/>
                  </a:cubicBezTo>
                  <a:lnTo>
                    <a:pt x="1565390" y="526370"/>
                  </a:lnTo>
                  <a:lnTo>
                    <a:pt x="1639040" y="476490"/>
                  </a:lnTo>
                  <a:cubicBezTo>
                    <a:pt x="1689754" y="445613"/>
                    <a:pt x="1740723" y="414986"/>
                    <a:pt x="1792075" y="384859"/>
                  </a:cubicBezTo>
                  <a:cubicBezTo>
                    <a:pt x="2000282" y="268724"/>
                    <a:pt x="2224927" y="179467"/>
                    <a:pt x="2455943" y="117836"/>
                  </a:cubicBezTo>
                  <a:cubicBezTo>
                    <a:pt x="2687088" y="55957"/>
                    <a:pt x="2923964" y="21204"/>
                    <a:pt x="3159952" y="7203"/>
                  </a:cubicBezTo>
                  <a:cubicBezTo>
                    <a:pt x="3219076" y="3515"/>
                    <a:pt x="3277945" y="1389"/>
                    <a:pt x="3336813" y="499"/>
                  </a:cubicBezTo>
                  <a:close/>
                </a:path>
              </a:pathLst>
            </a:custGeom>
            <a:gradFill flip="none" rotWithShape="1">
              <a:gsLst>
                <a:gs pos="2000">
                  <a:schemeClr val="bg1">
                    <a:alpha val="10000"/>
                  </a:schemeClr>
                </a:gs>
                <a:gs pos="16000">
                  <a:schemeClr val="accent6">
                    <a:alpha val="5000"/>
                  </a:schemeClr>
                </a:gs>
                <a:gs pos="100000">
                  <a:schemeClr val="bg1">
                    <a:alpha val="10000"/>
                  </a:schemeClr>
                </a:gs>
                <a:gs pos="85000">
                  <a:schemeClr val="accent1">
                    <a:alpha val="1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6" name="Graphic 5" descr="Smiling Face with No Fill">
            <a:extLst>
              <a:ext uri="{FF2B5EF4-FFF2-40B4-BE49-F238E27FC236}">
                <a16:creationId xmlns:a16="http://schemas.microsoft.com/office/drawing/2014/main" id="{C520AEFF-8BBE-EB4A-B348-A392E937D8C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29652" y="1859078"/>
            <a:ext cx="3821102" cy="3821102"/>
          </a:xfrm>
          <a:prstGeom prst="rect">
            <a:avLst/>
          </a:prstGeom>
          <a:ln>
            <a:noFill/>
          </a:ln>
        </p:spPr>
      </p:pic>
    </p:spTree>
    <p:extLst>
      <p:ext uri="{BB962C8B-B14F-4D97-AF65-F5344CB8AC3E}">
        <p14:creationId xmlns:p14="http://schemas.microsoft.com/office/powerpoint/2010/main" val="11463610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174</TotalTime>
  <Words>1418</Words>
  <Application>Microsoft Office PowerPoint</Application>
  <PresentationFormat>Widescreen</PresentationFormat>
  <Paragraphs>121</Paragraphs>
  <Slides>19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Times New Roman</vt:lpstr>
      <vt:lpstr>Office Theme</vt:lpstr>
      <vt:lpstr>Randomized Controlled trial</vt:lpstr>
      <vt:lpstr>MCQ -1 </vt:lpstr>
      <vt:lpstr>MCQ -2 </vt:lpstr>
      <vt:lpstr>MCQ - 3</vt:lpstr>
      <vt:lpstr>MCQ - 4</vt:lpstr>
      <vt:lpstr>MCQ - 5</vt:lpstr>
      <vt:lpstr>Manipulation</vt:lpstr>
      <vt:lpstr>Follow up</vt:lpstr>
      <vt:lpstr>Assessment</vt:lpstr>
      <vt:lpstr>Bias &amp; Blinding</vt:lpstr>
      <vt:lpstr>Study design</vt:lpstr>
      <vt:lpstr>PowerPoint Presentation</vt:lpstr>
      <vt:lpstr>Types of RCT</vt:lpstr>
      <vt:lpstr>Types of RCT</vt:lpstr>
      <vt:lpstr>Non – Randomized Trials</vt:lpstr>
      <vt:lpstr>Types – Non Randomized trial</vt:lpstr>
      <vt:lpstr>Types – Non Randomized trial</vt:lpstr>
      <vt:lpstr>Evaluation of preventive measures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Randomized Controlled trial</dc:title>
  <dc:creator>mukul maheshwari</dc:creator>
  <cp:lastModifiedBy>mukul maheshwari</cp:lastModifiedBy>
  <cp:revision>1</cp:revision>
  <dcterms:created xsi:type="dcterms:W3CDTF">2023-07-24T15:29:33Z</dcterms:created>
  <dcterms:modified xsi:type="dcterms:W3CDTF">2023-07-24T18:24:01Z</dcterms:modified>
</cp:coreProperties>
</file>