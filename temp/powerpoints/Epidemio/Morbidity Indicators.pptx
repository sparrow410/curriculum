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69"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7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DD56F6-5638-4018-9783-8815E30877AA}" v="1" dt="2024-04-08T15:42:13.6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p:scale>
          <a:sx n="62" d="100"/>
          <a:sy n="62" d="100"/>
        </p:scale>
        <p:origin x="18" y="14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21DD56F6-5638-4018-9783-8815E30877AA}"/>
    <pc:docChg chg="undo custSel addSld modSld">
      <pc:chgData name="mukul maheshwari" userId="12cb43e2ca5f0d2c" providerId="LiveId" clId="{21DD56F6-5638-4018-9783-8815E30877AA}" dt="2024-04-08T15:42:13.616" v="12"/>
      <pc:docMkLst>
        <pc:docMk/>
      </pc:docMkLst>
      <pc:sldChg chg="addSp delSp mod">
        <pc:chgData name="mukul maheshwari" userId="12cb43e2ca5f0d2c" providerId="LiveId" clId="{21DD56F6-5638-4018-9783-8815E30877AA}" dt="2024-04-08T15:42:03.579" v="3" actId="22"/>
        <pc:sldMkLst>
          <pc:docMk/>
          <pc:sldMk cId="330605813" sldId="276"/>
        </pc:sldMkLst>
        <pc:spChg chg="add del">
          <ac:chgData name="mukul maheshwari" userId="12cb43e2ca5f0d2c" providerId="LiveId" clId="{21DD56F6-5638-4018-9783-8815E30877AA}" dt="2024-04-08T15:42:03.579" v="3" actId="22"/>
          <ac:spMkLst>
            <pc:docMk/>
            <pc:sldMk cId="330605813" sldId="276"/>
            <ac:spMk id="7" creationId="{31DAB91D-4445-0177-83AC-0EEDD23BF63C}"/>
          </ac:spMkLst>
        </pc:spChg>
        <pc:spChg chg="add del">
          <ac:chgData name="mukul maheshwari" userId="12cb43e2ca5f0d2c" providerId="LiveId" clId="{21DD56F6-5638-4018-9783-8815E30877AA}" dt="2024-04-08T15:42:02.907" v="2" actId="22"/>
          <ac:spMkLst>
            <pc:docMk/>
            <pc:sldMk cId="330605813" sldId="276"/>
            <ac:spMk id="9" creationId="{B535F56F-BC21-8FAF-DF65-3DD4B7892AA5}"/>
          </ac:spMkLst>
        </pc:spChg>
      </pc:sldChg>
      <pc:sldChg chg="add">
        <pc:chgData name="mukul maheshwari" userId="12cb43e2ca5f0d2c" providerId="LiveId" clId="{21DD56F6-5638-4018-9783-8815E30877AA}" dt="2024-04-08T15:42:13.616" v="12"/>
        <pc:sldMkLst>
          <pc:docMk/>
          <pc:sldMk cId="3266731589" sldId="278"/>
        </pc:sldMkLst>
      </pc:sldChg>
      <pc:sldChg chg="delSp add setBg delDesignElem">
        <pc:chgData name="mukul maheshwari" userId="12cb43e2ca5f0d2c" providerId="LiveId" clId="{21DD56F6-5638-4018-9783-8815E30877AA}" dt="2024-04-08T15:42:13.616" v="12"/>
        <pc:sldMkLst>
          <pc:docMk/>
          <pc:sldMk cId="1358429868" sldId="279"/>
        </pc:sldMkLst>
        <pc:spChg chg="del">
          <ac:chgData name="mukul maheshwari" userId="12cb43e2ca5f0d2c" providerId="LiveId" clId="{21DD56F6-5638-4018-9783-8815E30877AA}" dt="2024-04-08T15:42:13.616" v="12"/>
          <ac:spMkLst>
            <pc:docMk/>
            <pc:sldMk cId="1358429868" sldId="279"/>
            <ac:spMk id="9" creationId="{8651CFA9-6065-4243-AC48-858E359780B1}"/>
          </ac:spMkLst>
        </pc:spChg>
        <pc:spChg chg="del">
          <ac:chgData name="mukul maheshwari" userId="12cb43e2ca5f0d2c" providerId="LiveId" clId="{21DD56F6-5638-4018-9783-8815E30877AA}" dt="2024-04-08T15:42:13.616" v="12"/>
          <ac:spMkLst>
            <pc:docMk/>
            <pc:sldMk cId="1358429868" sldId="279"/>
            <ac:spMk id="11" creationId="{37962AE0-6A1C-4B76-9D52-10E5E6D7D3BB}"/>
          </ac:spMkLst>
        </pc:spChg>
        <pc:picChg chg="del">
          <ac:chgData name="mukul maheshwari" userId="12cb43e2ca5f0d2c" providerId="LiveId" clId="{21DD56F6-5638-4018-9783-8815E30877AA}" dt="2024-04-08T15:42:13.616" v="12"/>
          <ac:picMkLst>
            <pc:docMk/>
            <pc:sldMk cId="1358429868" sldId="279"/>
            <ac:picMk id="13" creationId="{A72D06A1-BA08-4820-BBC8-B24DDB32A376}"/>
          </ac:picMkLst>
        </pc:picChg>
        <pc:picChg chg="del">
          <ac:chgData name="mukul maheshwari" userId="12cb43e2ca5f0d2c" providerId="LiveId" clId="{21DD56F6-5638-4018-9783-8815E30877AA}" dt="2024-04-08T15:42:13.616" v="12"/>
          <ac:picMkLst>
            <pc:docMk/>
            <pc:sldMk cId="1358429868" sldId="279"/>
            <ac:picMk id="15" creationId="{1295E665-0408-4072-94B3-49BA5ACBCBD3}"/>
          </ac:picMkLst>
        </pc:picChg>
      </pc:sldChg>
      <pc:sldChg chg="delSp add setBg delDesignElem">
        <pc:chgData name="mukul maheshwari" userId="12cb43e2ca5f0d2c" providerId="LiveId" clId="{21DD56F6-5638-4018-9783-8815E30877AA}" dt="2024-04-08T15:42:13.616" v="12"/>
        <pc:sldMkLst>
          <pc:docMk/>
          <pc:sldMk cId="1757916277" sldId="280"/>
        </pc:sldMkLst>
        <pc:spChg chg="del">
          <ac:chgData name="mukul maheshwari" userId="12cb43e2ca5f0d2c" providerId="LiveId" clId="{21DD56F6-5638-4018-9783-8815E30877AA}" dt="2024-04-08T15:42:13.616" v="12"/>
          <ac:spMkLst>
            <pc:docMk/>
            <pc:sldMk cId="1757916277" sldId="280"/>
            <ac:spMk id="9" creationId="{8651CFA9-6065-4243-AC48-858E359780B1}"/>
          </ac:spMkLst>
        </pc:spChg>
        <pc:spChg chg="del">
          <ac:chgData name="mukul maheshwari" userId="12cb43e2ca5f0d2c" providerId="LiveId" clId="{21DD56F6-5638-4018-9783-8815E30877AA}" dt="2024-04-08T15:42:13.616" v="12"/>
          <ac:spMkLst>
            <pc:docMk/>
            <pc:sldMk cId="1757916277" sldId="280"/>
            <ac:spMk id="11" creationId="{37962AE0-6A1C-4B76-9D52-10E5E6D7D3BB}"/>
          </ac:spMkLst>
        </pc:spChg>
        <pc:picChg chg="del">
          <ac:chgData name="mukul maheshwari" userId="12cb43e2ca5f0d2c" providerId="LiveId" clId="{21DD56F6-5638-4018-9783-8815E30877AA}" dt="2024-04-08T15:42:13.616" v="12"/>
          <ac:picMkLst>
            <pc:docMk/>
            <pc:sldMk cId="1757916277" sldId="280"/>
            <ac:picMk id="13" creationId="{A72D06A1-BA08-4820-BBC8-B24DDB32A376}"/>
          </ac:picMkLst>
        </pc:picChg>
        <pc:picChg chg="del">
          <ac:chgData name="mukul maheshwari" userId="12cb43e2ca5f0d2c" providerId="LiveId" clId="{21DD56F6-5638-4018-9783-8815E30877AA}" dt="2024-04-08T15:42:13.616" v="12"/>
          <ac:picMkLst>
            <pc:docMk/>
            <pc:sldMk cId="1757916277" sldId="280"/>
            <ac:picMk id="15" creationId="{1295E665-0408-4072-94B3-49BA5ACBCBD3}"/>
          </ac:picMkLst>
        </pc:picChg>
      </pc:sldChg>
      <pc:sldChg chg="delSp add setBg delDesignElem">
        <pc:chgData name="mukul maheshwari" userId="12cb43e2ca5f0d2c" providerId="LiveId" clId="{21DD56F6-5638-4018-9783-8815E30877AA}" dt="2024-04-08T15:42:13.616" v="12"/>
        <pc:sldMkLst>
          <pc:docMk/>
          <pc:sldMk cId="1777485408" sldId="281"/>
        </pc:sldMkLst>
        <pc:spChg chg="del">
          <ac:chgData name="mukul maheshwari" userId="12cb43e2ca5f0d2c" providerId="LiveId" clId="{21DD56F6-5638-4018-9783-8815E30877AA}" dt="2024-04-08T15:42:13.616" v="12"/>
          <ac:spMkLst>
            <pc:docMk/>
            <pc:sldMk cId="1777485408" sldId="281"/>
            <ac:spMk id="9" creationId="{8651CFA9-6065-4243-AC48-858E359780B1}"/>
          </ac:spMkLst>
        </pc:spChg>
        <pc:spChg chg="del">
          <ac:chgData name="mukul maheshwari" userId="12cb43e2ca5f0d2c" providerId="LiveId" clId="{21DD56F6-5638-4018-9783-8815E30877AA}" dt="2024-04-08T15:42:13.616" v="12"/>
          <ac:spMkLst>
            <pc:docMk/>
            <pc:sldMk cId="1777485408" sldId="281"/>
            <ac:spMk id="11" creationId="{37962AE0-6A1C-4B76-9D52-10E5E6D7D3BB}"/>
          </ac:spMkLst>
        </pc:spChg>
        <pc:picChg chg="del">
          <ac:chgData name="mukul maheshwari" userId="12cb43e2ca5f0d2c" providerId="LiveId" clId="{21DD56F6-5638-4018-9783-8815E30877AA}" dt="2024-04-08T15:42:13.616" v="12"/>
          <ac:picMkLst>
            <pc:docMk/>
            <pc:sldMk cId="1777485408" sldId="281"/>
            <ac:picMk id="13" creationId="{A72D06A1-BA08-4820-BBC8-B24DDB32A376}"/>
          </ac:picMkLst>
        </pc:picChg>
        <pc:picChg chg="del">
          <ac:chgData name="mukul maheshwari" userId="12cb43e2ca5f0d2c" providerId="LiveId" clId="{21DD56F6-5638-4018-9783-8815E30877AA}" dt="2024-04-08T15:42:13.616" v="12"/>
          <ac:picMkLst>
            <pc:docMk/>
            <pc:sldMk cId="1777485408" sldId="281"/>
            <ac:picMk id="15" creationId="{1295E665-0408-4072-94B3-49BA5ACBCBD3}"/>
          </ac:picMkLst>
        </pc:picChg>
      </pc:sldChg>
      <pc:sldChg chg="delSp add setBg delDesignElem">
        <pc:chgData name="mukul maheshwari" userId="12cb43e2ca5f0d2c" providerId="LiveId" clId="{21DD56F6-5638-4018-9783-8815E30877AA}" dt="2024-04-08T15:42:13.616" v="12"/>
        <pc:sldMkLst>
          <pc:docMk/>
          <pc:sldMk cId="1071452001" sldId="282"/>
        </pc:sldMkLst>
        <pc:spChg chg="del">
          <ac:chgData name="mukul maheshwari" userId="12cb43e2ca5f0d2c" providerId="LiveId" clId="{21DD56F6-5638-4018-9783-8815E30877AA}" dt="2024-04-08T15:42:13.616" v="12"/>
          <ac:spMkLst>
            <pc:docMk/>
            <pc:sldMk cId="1071452001" sldId="282"/>
            <ac:spMk id="9" creationId="{8651CFA9-6065-4243-AC48-858E359780B1}"/>
          </ac:spMkLst>
        </pc:spChg>
        <pc:spChg chg="del">
          <ac:chgData name="mukul maheshwari" userId="12cb43e2ca5f0d2c" providerId="LiveId" clId="{21DD56F6-5638-4018-9783-8815E30877AA}" dt="2024-04-08T15:42:13.616" v="12"/>
          <ac:spMkLst>
            <pc:docMk/>
            <pc:sldMk cId="1071452001" sldId="282"/>
            <ac:spMk id="11" creationId="{37962AE0-6A1C-4B76-9D52-10E5E6D7D3BB}"/>
          </ac:spMkLst>
        </pc:spChg>
        <pc:picChg chg="del">
          <ac:chgData name="mukul maheshwari" userId="12cb43e2ca5f0d2c" providerId="LiveId" clId="{21DD56F6-5638-4018-9783-8815E30877AA}" dt="2024-04-08T15:42:13.616" v="12"/>
          <ac:picMkLst>
            <pc:docMk/>
            <pc:sldMk cId="1071452001" sldId="282"/>
            <ac:picMk id="13" creationId="{A72D06A1-BA08-4820-BBC8-B24DDB32A376}"/>
          </ac:picMkLst>
        </pc:picChg>
        <pc:picChg chg="del">
          <ac:chgData name="mukul maheshwari" userId="12cb43e2ca5f0d2c" providerId="LiveId" clId="{21DD56F6-5638-4018-9783-8815E30877AA}" dt="2024-04-08T15:42:13.616" v="12"/>
          <ac:picMkLst>
            <pc:docMk/>
            <pc:sldMk cId="1071452001" sldId="282"/>
            <ac:picMk id="15" creationId="{1295E665-0408-4072-94B3-49BA5ACBCBD3}"/>
          </ac:picMkLst>
        </pc:picChg>
      </pc:sldChg>
      <pc:sldChg chg="delSp add setBg delDesignElem">
        <pc:chgData name="mukul maheshwari" userId="12cb43e2ca5f0d2c" providerId="LiveId" clId="{21DD56F6-5638-4018-9783-8815E30877AA}" dt="2024-04-08T15:42:13.616" v="12"/>
        <pc:sldMkLst>
          <pc:docMk/>
          <pc:sldMk cId="942721985" sldId="283"/>
        </pc:sldMkLst>
        <pc:spChg chg="del">
          <ac:chgData name="mukul maheshwari" userId="12cb43e2ca5f0d2c" providerId="LiveId" clId="{21DD56F6-5638-4018-9783-8815E30877AA}" dt="2024-04-08T15:42:13.616" v="12"/>
          <ac:spMkLst>
            <pc:docMk/>
            <pc:sldMk cId="942721985" sldId="283"/>
            <ac:spMk id="9" creationId="{8651CFA9-6065-4243-AC48-858E359780B1}"/>
          </ac:spMkLst>
        </pc:spChg>
        <pc:spChg chg="del">
          <ac:chgData name="mukul maheshwari" userId="12cb43e2ca5f0d2c" providerId="LiveId" clId="{21DD56F6-5638-4018-9783-8815E30877AA}" dt="2024-04-08T15:42:13.616" v="12"/>
          <ac:spMkLst>
            <pc:docMk/>
            <pc:sldMk cId="942721985" sldId="283"/>
            <ac:spMk id="11" creationId="{37962AE0-6A1C-4B76-9D52-10E5E6D7D3BB}"/>
          </ac:spMkLst>
        </pc:spChg>
        <pc:picChg chg="del">
          <ac:chgData name="mukul maheshwari" userId="12cb43e2ca5f0d2c" providerId="LiveId" clId="{21DD56F6-5638-4018-9783-8815E30877AA}" dt="2024-04-08T15:42:13.616" v="12"/>
          <ac:picMkLst>
            <pc:docMk/>
            <pc:sldMk cId="942721985" sldId="283"/>
            <ac:picMk id="13" creationId="{A72D06A1-BA08-4820-BBC8-B24DDB32A376}"/>
          </ac:picMkLst>
        </pc:picChg>
        <pc:picChg chg="del">
          <ac:chgData name="mukul maheshwari" userId="12cb43e2ca5f0d2c" providerId="LiveId" clId="{21DD56F6-5638-4018-9783-8815E30877AA}" dt="2024-04-08T15:42:13.616" v="12"/>
          <ac:picMkLst>
            <pc:docMk/>
            <pc:sldMk cId="942721985" sldId="283"/>
            <ac:picMk id="15" creationId="{1295E665-0408-4072-94B3-49BA5ACBCBD3}"/>
          </ac:picMkLst>
        </pc:picChg>
      </pc:sldChg>
      <pc:sldChg chg="delSp add setBg delDesignElem">
        <pc:chgData name="mukul maheshwari" userId="12cb43e2ca5f0d2c" providerId="LiveId" clId="{21DD56F6-5638-4018-9783-8815E30877AA}" dt="2024-04-08T15:42:13.616" v="12"/>
        <pc:sldMkLst>
          <pc:docMk/>
          <pc:sldMk cId="2213956683" sldId="284"/>
        </pc:sldMkLst>
        <pc:spChg chg="del">
          <ac:chgData name="mukul maheshwari" userId="12cb43e2ca5f0d2c" providerId="LiveId" clId="{21DD56F6-5638-4018-9783-8815E30877AA}" dt="2024-04-08T15:42:13.616" v="12"/>
          <ac:spMkLst>
            <pc:docMk/>
            <pc:sldMk cId="2213956683" sldId="284"/>
            <ac:spMk id="9" creationId="{8651CFA9-6065-4243-AC48-858E359780B1}"/>
          </ac:spMkLst>
        </pc:spChg>
        <pc:spChg chg="del">
          <ac:chgData name="mukul maheshwari" userId="12cb43e2ca5f0d2c" providerId="LiveId" clId="{21DD56F6-5638-4018-9783-8815E30877AA}" dt="2024-04-08T15:42:13.616" v="12"/>
          <ac:spMkLst>
            <pc:docMk/>
            <pc:sldMk cId="2213956683" sldId="284"/>
            <ac:spMk id="11" creationId="{37962AE0-6A1C-4B76-9D52-10E5E6D7D3BB}"/>
          </ac:spMkLst>
        </pc:spChg>
        <pc:picChg chg="del">
          <ac:chgData name="mukul maheshwari" userId="12cb43e2ca5f0d2c" providerId="LiveId" clId="{21DD56F6-5638-4018-9783-8815E30877AA}" dt="2024-04-08T15:42:13.616" v="12"/>
          <ac:picMkLst>
            <pc:docMk/>
            <pc:sldMk cId="2213956683" sldId="284"/>
            <ac:picMk id="13" creationId="{A72D06A1-BA08-4820-BBC8-B24DDB32A376}"/>
          </ac:picMkLst>
        </pc:picChg>
        <pc:picChg chg="del">
          <ac:chgData name="mukul maheshwari" userId="12cb43e2ca5f0d2c" providerId="LiveId" clId="{21DD56F6-5638-4018-9783-8815E30877AA}" dt="2024-04-08T15:42:13.616" v="12"/>
          <ac:picMkLst>
            <pc:docMk/>
            <pc:sldMk cId="2213956683" sldId="284"/>
            <ac:picMk id="15" creationId="{1295E665-0408-4072-94B3-49BA5ACBCBD3}"/>
          </ac:picMkLst>
        </pc:picChg>
      </pc:sldChg>
      <pc:sldChg chg="delSp add setBg delDesignElem">
        <pc:chgData name="mukul maheshwari" userId="12cb43e2ca5f0d2c" providerId="LiveId" clId="{21DD56F6-5638-4018-9783-8815E30877AA}" dt="2024-04-08T15:42:13.616" v="12"/>
        <pc:sldMkLst>
          <pc:docMk/>
          <pc:sldMk cId="2339688356" sldId="285"/>
        </pc:sldMkLst>
        <pc:spChg chg="del">
          <ac:chgData name="mukul maheshwari" userId="12cb43e2ca5f0d2c" providerId="LiveId" clId="{21DD56F6-5638-4018-9783-8815E30877AA}" dt="2024-04-08T15:42:13.616" v="12"/>
          <ac:spMkLst>
            <pc:docMk/>
            <pc:sldMk cId="2339688356" sldId="285"/>
            <ac:spMk id="9" creationId="{8651CFA9-6065-4243-AC48-858E359780B1}"/>
          </ac:spMkLst>
        </pc:spChg>
        <pc:spChg chg="del">
          <ac:chgData name="mukul maheshwari" userId="12cb43e2ca5f0d2c" providerId="LiveId" clId="{21DD56F6-5638-4018-9783-8815E30877AA}" dt="2024-04-08T15:42:13.616" v="12"/>
          <ac:spMkLst>
            <pc:docMk/>
            <pc:sldMk cId="2339688356" sldId="285"/>
            <ac:spMk id="11" creationId="{37962AE0-6A1C-4B76-9D52-10E5E6D7D3BB}"/>
          </ac:spMkLst>
        </pc:spChg>
        <pc:picChg chg="del">
          <ac:chgData name="mukul maheshwari" userId="12cb43e2ca5f0d2c" providerId="LiveId" clId="{21DD56F6-5638-4018-9783-8815E30877AA}" dt="2024-04-08T15:42:13.616" v="12"/>
          <ac:picMkLst>
            <pc:docMk/>
            <pc:sldMk cId="2339688356" sldId="285"/>
            <ac:picMk id="13" creationId="{A72D06A1-BA08-4820-BBC8-B24DDB32A376}"/>
          </ac:picMkLst>
        </pc:picChg>
        <pc:picChg chg="del">
          <ac:chgData name="mukul maheshwari" userId="12cb43e2ca5f0d2c" providerId="LiveId" clId="{21DD56F6-5638-4018-9783-8815E30877AA}" dt="2024-04-08T15:42:13.616" v="12"/>
          <ac:picMkLst>
            <pc:docMk/>
            <pc:sldMk cId="2339688356" sldId="285"/>
            <ac:picMk id="15" creationId="{1295E665-0408-4072-94B3-49BA5ACBCBD3}"/>
          </ac:picMkLst>
        </pc:picChg>
      </pc:sldChg>
      <pc:sldChg chg="delSp add setBg delDesignElem">
        <pc:chgData name="mukul maheshwari" userId="12cb43e2ca5f0d2c" providerId="LiveId" clId="{21DD56F6-5638-4018-9783-8815E30877AA}" dt="2024-04-08T15:42:13.616" v="12"/>
        <pc:sldMkLst>
          <pc:docMk/>
          <pc:sldMk cId="1881574745" sldId="286"/>
        </pc:sldMkLst>
        <pc:spChg chg="del">
          <ac:chgData name="mukul maheshwari" userId="12cb43e2ca5f0d2c" providerId="LiveId" clId="{21DD56F6-5638-4018-9783-8815E30877AA}" dt="2024-04-08T15:42:13.616" v="12"/>
          <ac:spMkLst>
            <pc:docMk/>
            <pc:sldMk cId="1881574745" sldId="286"/>
            <ac:spMk id="20" creationId="{4AB8125F-0FD8-48CD-9F43-73E5494EA774}"/>
          </ac:spMkLst>
        </pc:spChg>
        <pc:spChg chg="del">
          <ac:chgData name="mukul maheshwari" userId="12cb43e2ca5f0d2c" providerId="LiveId" clId="{21DD56F6-5638-4018-9783-8815E30877AA}" dt="2024-04-08T15:42:13.616" v="12"/>
          <ac:spMkLst>
            <pc:docMk/>
            <pc:sldMk cId="1881574745" sldId="286"/>
            <ac:spMk id="22" creationId="{0019DD6C-5899-4C07-864B-EB0A7D104ACF}"/>
          </ac:spMkLst>
        </pc:spChg>
        <pc:spChg chg="del">
          <ac:chgData name="mukul maheshwari" userId="12cb43e2ca5f0d2c" providerId="LiveId" clId="{21DD56F6-5638-4018-9783-8815E30877AA}" dt="2024-04-08T15:42:13.616" v="12"/>
          <ac:spMkLst>
            <pc:docMk/>
            <pc:sldMk cId="1881574745" sldId="286"/>
            <ac:spMk id="24" creationId="{EBDFFBC1-15BD-428E-B8AF-ECF5D1B76DEB}"/>
          </ac:spMkLst>
        </pc:spChg>
        <pc:spChg chg="del">
          <ac:chgData name="mukul maheshwari" userId="12cb43e2ca5f0d2c" providerId="LiveId" clId="{21DD56F6-5638-4018-9783-8815E30877AA}" dt="2024-04-08T15:42:13.616" v="12"/>
          <ac:spMkLst>
            <pc:docMk/>
            <pc:sldMk cId="1881574745" sldId="286"/>
            <ac:spMk id="26" creationId="{EBFB3075-0323-4EB0-B1A5-776A0E709C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C8DA97-68FF-4095-9CF0-06A3C333F7C7}" type="datetimeFigureOut">
              <a:rPr lang="en-US" smtClean="0"/>
              <a:t>4/8/2024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E19088-78F7-4BF6-A9EA-9C2286484033}" type="slidenum">
              <a:rPr lang="en-US" smtClean="0"/>
              <a:t>‹#›</a:t>
            </a:fld>
            <a:endParaRPr lang="en-US"/>
          </a:p>
        </p:txBody>
      </p:sp>
    </p:spTree>
    <p:extLst>
      <p:ext uri="{BB962C8B-B14F-4D97-AF65-F5344CB8AC3E}">
        <p14:creationId xmlns:p14="http://schemas.microsoft.com/office/powerpoint/2010/main" val="3436011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CBF22F45-CFD2-4304-8F9A-DFC1E021D4EC}" type="datetime1">
              <a:rPr lang="en-US" smtClean="0"/>
              <a:t>4/8/2024</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808460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CA12A0EC-7B4D-4871-AB6B-EC11547C81AB}" type="datetime1">
              <a:rPr lang="en-US" smtClean="0"/>
              <a:t>4/8/2024</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682278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49531CB-268E-4442-BD88-FCC190F456C5}" type="datetime1">
              <a:rPr lang="en-US" smtClean="0"/>
              <a:t>4/8/2024</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738582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7CCDC6D-A5CD-4E7D-8887-18D069ECEE43}" type="datetime1">
              <a:rPr lang="en-US" smtClean="0"/>
              <a:t>4/8/2024</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52272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70F18A86-8FC5-48D4-BADB-862AF566BF85}" type="datetime1">
              <a:rPr lang="en-US" smtClean="0"/>
              <a:t>4/8/2024</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76572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87C45D5A-5AAF-4973-8553-EC112DBE2E37}" type="datetime1">
              <a:rPr lang="en-US" smtClean="0"/>
              <a:t>4/8/2024</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99027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4112EBED-1626-40E2-9150-48A2C94BB417}" type="datetime1">
              <a:rPr lang="en-US" smtClean="0"/>
              <a:t>4/8/2024</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272811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A3C2D774-B5E5-483F-ACFB-36D9773F113E}" type="datetime1">
              <a:rPr lang="en-US" smtClean="0"/>
              <a:t>4/8/2024</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35371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10B0025-262A-420B-8382-B299608DDA1F}" type="datetime1">
              <a:rPr lang="en-US" smtClean="0"/>
              <a:t>4/8/2024</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857007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A04390AA-BD2D-47E8-B4F4-FECB91476DF2}" type="datetime1">
              <a:rPr lang="en-US" smtClean="0"/>
              <a:t>4/8/2024</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351371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F512C8EA-0B2B-4E4D-BECF-A99377755E9D}" type="datetime1">
              <a:rPr lang="en-US" smtClean="0"/>
              <a:t>4/8/2024</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076778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6B381EE5-9467-4EBB-8C6A-CA92FCFB0CE0}" type="datetime1">
              <a:rPr lang="en-US" smtClean="0"/>
              <a:t>4/8/2024</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287593876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01" r:id="rId4"/>
    <p:sldLayoutId id="2147483702" r:id="rId5"/>
    <p:sldLayoutId id="2147483707" r:id="rId6"/>
    <p:sldLayoutId id="2147483703" r:id="rId7"/>
    <p:sldLayoutId id="2147483704" r:id="rId8"/>
    <p:sldLayoutId id="2147483705" r:id="rId9"/>
    <p:sldLayoutId id="2147483706" r:id="rId10"/>
    <p:sldLayoutId id="2147483708" r:id="rId11"/>
  </p:sldLayoutIdLst>
  <p:hf hdr="0" ftr="0"/>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5" name="Rectangle 8">
            <a:extLst>
              <a:ext uri="{FF2B5EF4-FFF2-40B4-BE49-F238E27FC236}">
                <a16:creationId xmlns:a16="http://schemas.microsoft.com/office/drawing/2014/main" id="{82950D9A-4705-4314-961A-4F88B2CE4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10">
            <a:extLst>
              <a:ext uri="{FF2B5EF4-FFF2-40B4-BE49-F238E27FC236}">
                <a16:creationId xmlns:a16="http://schemas.microsoft.com/office/drawing/2014/main" id="{B13969F2-ED52-4E5C-B3FC-01E01B8B9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3E279C-5862-D94A-53CA-5D57878C1886}"/>
              </a:ext>
            </a:extLst>
          </p:cNvPr>
          <p:cNvSpPr>
            <a:spLocks noGrp="1"/>
          </p:cNvSpPr>
          <p:nvPr>
            <p:ph type="ctrTitle"/>
          </p:nvPr>
        </p:nvSpPr>
        <p:spPr>
          <a:xfrm>
            <a:off x="871870" y="749595"/>
            <a:ext cx="5645888" cy="3902149"/>
          </a:xfrm>
        </p:spPr>
        <p:txBody>
          <a:bodyPr anchor="t">
            <a:normAutofit/>
          </a:bodyPr>
          <a:lstStyle/>
          <a:p>
            <a:pPr algn="l"/>
            <a:r>
              <a:rPr lang="en-US"/>
              <a:t>Morbidity Indicators</a:t>
            </a:r>
          </a:p>
        </p:txBody>
      </p:sp>
      <p:sp>
        <p:nvSpPr>
          <p:cNvPr id="3" name="Subtitle 2">
            <a:extLst>
              <a:ext uri="{FF2B5EF4-FFF2-40B4-BE49-F238E27FC236}">
                <a16:creationId xmlns:a16="http://schemas.microsoft.com/office/drawing/2014/main" id="{1C2871F3-FC16-025A-7525-FA38FBC80BE5}"/>
              </a:ext>
            </a:extLst>
          </p:cNvPr>
          <p:cNvSpPr>
            <a:spLocks noGrp="1"/>
          </p:cNvSpPr>
          <p:nvPr>
            <p:ph type="subTitle" idx="1"/>
          </p:nvPr>
        </p:nvSpPr>
        <p:spPr>
          <a:xfrm>
            <a:off x="871870" y="4651745"/>
            <a:ext cx="4890977" cy="999460"/>
          </a:xfrm>
        </p:spPr>
        <p:txBody>
          <a:bodyPr anchor="b">
            <a:normAutofit/>
          </a:bodyPr>
          <a:lstStyle/>
          <a:p>
            <a:pPr algn="l"/>
            <a:endParaRPr lang="en-US"/>
          </a:p>
        </p:txBody>
      </p:sp>
      <p:pic>
        <p:nvPicPr>
          <p:cNvPr id="97" name="Picture 3">
            <a:extLst>
              <a:ext uri="{FF2B5EF4-FFF2-40B4-BE49-F238E27FC236}">
                <a16:creationId xmlns:a16="http://schemas.microsoft.com/office/drawing/2014/main" id="{72051956-DCB7-2888-1F5F-6262D644A600}"/>
              </a:ext>
            </a:extLst>
          </p:cNvPr>
          <p:cNvPicPr>
            <a:picLocks noChangeAspect="1"/>
          </p:cNvPicPr>
          <p:nvPr/>
        </p:nvPicPr>
        <p:blipFill rotWithShape="1">
          <a:blip r:embed="rId2"/>
          <a:srcRect r="8178" b="1"/>
          <a:stretch/>
        </p:blipFill>
        <p:spPr>
          <a:xfrm>
            <a:off x="5879804" y="-6350"/>
            <a:ext cx="6312196" cy="6874330"/>
          </a:xfrm>
          <a:custGeom>
            <a:avLst/>
            <a:gdLst/>
            <a:ahLst/>
            <a:cxnLst/>
            <a:rect l="l" t="t" r="r" b="b"/>
            <a:pathLst>
              <a:path w="6312196" h="6874330">
                <a:moveTo>
                  <a:pt x="2047193" y="0"/>
                </a:moveTo>
                <a:lnTo>
                  <a:pt x="6312196" y="0"/>
                </a:lnTo>
                <a:lnTo>
                  <a:pt x="6312196" y="6874330"/>
                </a:lnTo>
                <a:lnTo>
                  <a:pt x="0" y="6874330"/>
                </a:lnTo>
                <a:close/>
              </a:path>
            </a:pathLst>
          </a:custGeom>
        </p:spPr>
      </p:pic>
      <p:cxnSp>
        <p:nvCxnSpPr>
          <p:cNvPr id="98" name="Straight Connector 12">
            <a:extLst>
              <a:ext uri="{FF2B5EF4-FFF2-40B4-BE49-F238E27FC236}">
                <a16:creationId xmlns:a16="http://schemas.microsoft.com/office/drawing/2014/main" id="{13AC671C-E66F-43C5-A66A-C477339DD2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34715" y="0"/>
            <a:ext cx="914401" cy="685734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77BA27D5-721C-8453-B44D-7B0917E3790F}"/>
              </a:ext>
            </a:extLst>
          </p:cNvPr>
          <p:cNvSpPr>
            <a:spLocks noGrp="1"/>
          </p:cNvSpPr>
          <p:nvPr>
            <p:ph type="dt" sz="half" idx="10"/>
          </p:nvPr>
        </p:nvSpPr>
        <p:spPr/>
        <p:txBody>
          <a:bodyPr/>
          <a:lstStyle/>
          <a:p>
            <a:fld id="{5448FA18-349D-4C97-896F-A196AB7C9DCF}" type="datetime1">
              <a:rPr lang="en-US" smtClean="0"/>
              <a:t>4/8/2024</a:t>
            </a:fld>
            <a:endParaRPr lang="en-US"/>
          </a:p>
        </p:txBody>
      </p:sp>
      <p:sp>
        <p:nvSpPr>
          <p:cNvPr id="6" name="Slide Number Placeholder 5">
            <a:extLst>
              <a:ext uri="{FF2B5EF4-FFF2-40B4-BE49-F238E27FC236}">
                <a16:creationId xmlns:a16="http://schemas.microsoft.com/office/drawing/2014/main" id="{8B6C06EA-6027-2206-8103-C030F4FC858B}"/>
              </a:ext>
            </a:extLst>
          </p:cNvPr>
          <p:cNvSpPr>
            <a:spLocks noGrp="1"/>
          </p:cNvSpPr>
          <p:nvPr>
            <p:ph type="sldNum" sz="quarter" idx="12"/>
          </p:nvPr>
        </p:nvSpPr>
        <p:spPr/>
        <p:txBody>
          <a:bodyPr/>
          <a:lstStyle/>
          <a:p>
            <a:fld id="{312CC964-A50B-4C29-B4E4-2C30BB34CCF3}" type="slidenum">
              <a:rPr lang="en-US" smtClean="0"/>
              <a:t>1</a:t>
            </a:fld>
            <a:endParaRPr lang="en-US"/>
          </a:p>
        </p:txBody>
      </p:sp>
    </p:spTree>
    <p:extLst>
      <p:ext uri="{BB962C8B-B14F-4D97-AF65-F5344CB8AC3E}">
        <p14:creationId xmlns:p14="http://schemas.microsoft.com/office/powerpoint/2010/main" val="3137288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0BB7E-DF7E-754A-AD4C-F64A3FBB317C}"/>
              </a:ext>
            </a:extLst>
          </p:cNvPr>
          <p:cNvSpPr>
            <a:spLocks noGrp="1"/>
          </p:cNvSpPr>
          <p:nvPr>
            <p:ph type="title"/>
          </p:nvPr>
        </p:nvSpPr>
        <p:spPr/>
        <p:txBody>
          <a:bodyPr/>
          <a:lstStyle/>
          <a:p>
            <a:r>
              <a:rPr lang="en-US" dirty="0"/>
              <a:t>Question - 1</a:t>
            </a:r>
          </a:p>
        </p:txBody>
      </p:sp>
      <p:sp>
        <p:nvSpPr>
          <p:cNvPr id="3" name="Content Placeholder 2">
            <a:extLst>
              <a:ext uri="{FF2B5EF4-FFF2-40B4-BE49-F238E27FC236}">
                <a16:creationId xmlns:a16="http://schemas.microsoft.com/office/drawing/2014/main" id="{FA3173A6-F3D6-63BD-3C6F-E1EEADDFABB2}"/>
              </a:ext>
            </a:extLst>
          </p:cNvPr>
          <p:cNvSpPr>
            <a:spLocks noGrp="1"/>
          </p:cNvSpPr>
          <p:nvPr>
            <p:ph idx="1"/>
          </p:nvPr>
        </p:nvSpPr>
        <p:spPr/>
        <p:txBody>
          <a:bodyPr/>
          <a:lstStyle/>
          <a:p>
            <a:r>
              <a:rPr lang="en-US" dirty="0"/>
              <a:t> In a community development block area with population of one lakh, there were 500 cases of TB and 5 cases of rabies during 2006. During the same year there were a total of 250 deaths, out of which 5 were due to rabies and 50 due to TB. </a:t>
            </a:r>
          </a:p>
          <a:p>
            <a:pPr lvl="1"/>
            <a:r>
              <a:rPr lang="en-US" dirty="0"/>
              <a:t>Calculate the CDR. </a:t>
            </a:r>
          </a:p>
          <a:p>
            <a:pPr lvl="1"/>
            <a:r>
              <a:rPr lang="en-US" dirty="0"/>
              <a:t>Calculate separately for TB and rabies the cause-specific mortality rate (CSMR), </a:t>
            </a:r>
          </a:p>
          <a:p>
            <a:pPr lvl="1"/>
            <a:r>
              <a:rPr lang="en-US" dirty="0"/>
              <a:t>CFR </a:t>
            </a:r>
          </a:p>
          <a:p>
            <a:pPr lvl="1"/>
            <a:r>
              <a:rPr lang="en-US" dirty="0"/>
              <a:t>PMR.</a:t>
            </a:r>
          </a:p>
        </p:txBody>
      </p:sp>
      <p:sp>
        <p:nvSpPr>
          <p:cNvPr id="4" name="Date Placeholder 3">
            <a:extLst>
              <a:ext uri="{FF2B5EF4-FFF2-40B4-BE49-F238E27FC236}">
                <a16:creationId xmlns:a16="http://schemas.microsoft.com/office/drawing/2014/main" id="{ED7B671F-90E3-E085-04E1-CB8AB88007E1}"/>
              </a:ext>
            </a:extLst>
          </p:cNvPr>
          <p:cNvSpPr>
            <a:spLocks noGrp="1"/>
          </p:cNvSpPr>
          <p:nvPr>
            <p:ph type="dt" sz="half" idx="10"/>
          </p:nvPr>
        </p:nvSpPr>
        <p:spPr/>
        <p:txBody>
          <a:bodyPr/>
          <a:lstStyle/>
          <a:p>
            <a:fld id="{B97FDA5E-B61E-41BD-8B01-6FB8B90D26C3}" type="datetime1">
              <a:rPr lang="en-US" smtClean="0"/>
              <a:t>4/8/2024</a:t>
            </a:fld>
            <a:endParaRPr lang="en-US" dirty="0"/>
          </a:p>
        </p:txBody>
      </p:sp>
      <p:sp>
        <p:nvSpPr>
          <p:cNvPr id="5" name="Slide Number Placeholder 4">
            <a:extLst>
              <a:ext uri="{FF2B5EF4-FFF2-40B4-BE49-F238E27FC236}">
                <a16:creationId xmlns:a16="http://schemas.microsoft.com/office/drawing/2014/main" id="{12A1F362-F591-2A08-658C-4BE0021487E8}"/>
              </a:ext>
            </a:extLst>
          </p:cNvPr>
          <p:cNvSpPr>
            <a:spLocks noGrp="1"/>
          </p:cNvSpPr>
          <p:nvPr>
            <p:ph type="sldNum" sz="quarter" idx="12"/>
          </p:nvPr>
        </p:nvSpPr>
        <p:spPr/>
        <p:txBody>
          <a:bodyPr/>
          <a:lstStyle/>
          <a:p>
            <a:fld id="{312CC964-A50B-4C29-B4E4-2C30BB34CCF3}" type="slidenum">
              <a:rPr lang="en-US" smtClean="0"/>
              <a:t>2</a:t>
            </a:fld>
            <a:endParaRPr lang="en-US"/>
          </a:p>
        </p:txBody>
      </p:sp>
    </p:spTree>
    <p:extLst>
      <p:ext uri="{BB962C8B-B14F-4D97-AF65-F5344CB8AC3E}">
        <p14:creationId xmlns:p14="http://schemas.microsoft.com/office/powerpoint/2010/main" val="2597658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99C1C-8A29-11B2-E721-E356E2EDAC56}"/>
              </a:ext>
            </a:extLst>
          </p:cNvPr>
          <p:cNvSpPr>
            <a:spLocks noGrp="1"/>
          </p:cNvSpPr>
          <p:nvPr>
            <p:ph type="title"/>
          </p:nvPr>
        </p:nvSpPr>
        <p:spPr/>
        <p:txBody>
          <a:bodyPr/>
          <a:lstStyle/>
          <a:p>
            <a:r>
              <a:rPr lang="en-US" dirty="0"/>
              <a:t>Answer</a:t>
            </a:r>
          </a:p>
        </p:txBody>
      </p:sp>
      <p:sp>
        <p:nvSpPr>
          <p:cNvPr id="3" name="Content Placeholder 2">
            <a:extLst>
              <a:ext uri="{FF2B5EF4-FFF2-40B4-BE49-F238E27FC236}">
                <a16:creationId xmlns:a16="http://schemas.microsoft.com/office/drawing/2014/main" id="{8B69CC06-4BC0-04BC-DCFC-C316FA33B2BA}"/>
              </a:ext>
            </a:extLst>
          </p:cNvPr>
          <p:cNvSpPr>
            <a:spLocks noGrp="1"/>
          </p:cNvSpPr>
          <p:nvPr>
            <p:ph idx="1"/>
          </p:nvPr>
        </p:nvSpPr>
        <p:spPr/>
        <p:txBody>
          <a:bodyPr/>
          <a:lstStyle/>
          <a:p>
            <a:r>
              <a:rPr lang="en-US" dirty="0"/>
              <a:t>CDR = 2.5 per 1000; </a:t>
            </a:r>
          </a:p>
          <a:p>
            <a:r>
              <a:rPr lang="en-US" dirty="0"/>
              <a:t>CSMR: TB 0.5/1000, rabies 0.05/1000; </a:t>
            </a:r>
          </a:p>
          <a:p>
            <a:r>
              <a:rPr lang="en-US" dirty="0"/>
              <a:t>CFR: TB 10%, rabies 100%; </a:t>
            </a:r>
          </a:p>
          <a:p>
            <a:r>
              <a:rPr lang="en-US" dirty="0"/>
              <a:t>PMR: TB 20%, rabies 2%</a:t>
            </a:r>
          </a:p>
        </p:txBody>
      </p:sp>
      <p:sp>
        <p:nvSpPr>
          <p:cNvPr id="4" name="Date Placeholder 3">
            <a:extLst>
              <a:ext uri="{FF2B5EF4-FFF2-40B4-BE49-F238E27FC236}">
                <a16:creationId xmlns:a16="http://schemas.microsoft.com/office/drawing/2014/main" id="{A0E34CDD-0D43-4857-53E1-6779EEF25159}"/>
              </a:ext>
            </a:extLst>
          </p:cNvPr>
          <p:cNvSpPr>
            <a:spLocks noGrp="1"/>
          </p:cNvSpPr>
          <p:nvPr>
            <p:ph type="dt" sz="half" idx="10"/>
          </p:nvPr>
        </p:nvSpPr>
        <p:spPr/>
        <p:txBody>
          <a:bodyPr/>
          <a:lstStyle/>
          <a:p>
            <a:fld id="{F91039FC-4806-4F2A-B9B9-44F19F3FF2A6}" type="datetime1">
              <a:rPr lang="en-US" smtClean="0"/>
              <a:t>4/8/2024</a:t>
            </a:fld>
            <a:endParaRPr lang="en-US" dirty="0"/>
          </a:p>
        </p:txBody>
      </p:sp>
      <p:sp>
        <p:nvSpPr>
          <p:cNvPr id="5" name="Slide Number Placeholder 4">
            <a:extLst>
              <a:ext uri="{FF2B5EF4-FFF2-40B4-BE49-F238E27FC236}">
                <a16:creationId xmlns:a16="http://schemas.microsoft.com/office/drawing/2014/main" id="{21048F8D-37CD-DF05-BA71-EBC3398915EA}"/>
              </a:ext>
            </a:extLst>
          </p:cNvPr>
          <p:cNvSpPr>
            <a:spLocks noGrp="1"/>
          </p:cNvSpPr>
          <p:nvPr>
            <p:ph type="sldNum" sz="quarter" idx="12"/>
          </p:nvPr>
        </p:nvSpPr>
        <p:spPr/>
        <p:txBody>
          <a:bodyPr/>
          <a:lstStyle/>
          <a:p>
            <a:fld id="{312CC964-A50B-4C29-B4E4-2C30BB34CCF3}" type="slidenum">
              <a:rPr lang="en-US" smtClean="0"/>
              <a:t>3</a:t>
            </a:fld>
            <a:endParaRPr lang="en-US"/>
          </a:p>
        </p:txBody>
      </p:sp>
    </p:spTree>
    <p:extLst>
      <p:ext uri="{BB962C8B-B14F-4D97-AF65-F5344CB8AC3E}">
        <p14:creationId xmlns:p14="http://schemas.microsoft.com/office/powerpoint/2010/main" val="148493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8F0FB-6D9E-FCC9-0EBC-2D59C7FF38CE}"/>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E6A3E972-EAB4-A440-0FB6-F81B1968213C}"/>
              </a:ext>
            </a:extLst>
          </p:cNvPr>
          <p:cNvSpPr>
            <a:spLocks noGrp="1"/>
          </p:cNvSpPr>
          <p:nvPr>
            <p:ph idx="1"/>
          </p:nvPr>
        </p:nvSpPr>
        <p:spPr/>
        <p:txBody>
          <a:bodyPr/>
          <a:lstStyle/>
          <a:p>
            <a:r>
              <a:rPr lang="en-US" dirty="0"/>
              <a:t> In a state during 2007, approximately 10% of all deaths in the age group of 0-14 years were due to accidents and injuries, while in the age group of 15-35 years, 20% of all deaths were due to accidents and injuries. How many times is the risk of dying due to accidents and injuries among 15-35 years as compared to 0-14 years?</a:t>
            </a:r>
          </a:p>
          <a:p>
            <a:pPr lvl="1"/>
            <a:r>
              <a:rPr lang="en-US" dirty="0"/>
              <a:t>4</a:t>
            </a:r>
          </a:p>
          <a:p>
            <a:pPr lvl="1"/>
            <a:r>
              <a:rPr lang="en-US" dirty="0"/>
              <a:t>1</a:t>
            </a:r>
          </a:p>
          <a:p>
            <a:pPr lvl="1"/>
            <a:r>
              <a:rPr lang="en-US" dirty="0"/>
              <a:t>0.5</a:t>
            </a:r>
          </a:p>
          <a:p>
            <a:pPr lvl="1"/>
            <a:r>
              <a:rPr lang="en-US" dirty="0"/>
              <a:t>2</a:t>
            </a:r>
          </a:p>
          <a:p>
            <a:pPr lvl="1"/>
            <a:r>
              <a:rPr lang="en-US" dirty="0"/>
              <a:t>Cannot be concluded from the data</a:t>
            </a:r>
          </a:p>
        </p:txBody>
      </p:sp>
      <p:sp>
        <p:nvSpPr>
          <p:cNvPr id="4" name="Date Placeholder 3">
            <a:extLst>
              <a:ext uri="{FF2B5EF4-FFF2-40B4-BE49-F238E27FC236}">
                <a16:creationId xmlns:a16="http://schemas.microsoft.com/office/drawing/2014/main" id="{EE88040E-74F6-8207-943C-8A84E802FF09}"/>
              </a:ext>
            </a:extLst>
          </p:cNvPr>
          <p:cNvSpPr>
            <a:spLocks noGrp="1"/>
          </p:cNvSpPr>
          <p:nvPr>
            <p:ph type="dt" sz="half" idx="10"/>
          </p:nvPr>
        </p:nvSpPr>
        <p:spPr/>
        <p:txBody>
          <a:bodyPr/>
          <a:lstStyle/>
          <a:p>
            <a:fld id="{B6C06E96-B547-4D5F-A654-679EB2FDE54D}" type="datetime1">
              <a:rPr lang="en-US" smtClean="0"/>
              <a:t>4/8/2024</a:t>
            </a:fld>
            <a:endParaRPr lang="en-US" dirty="0"/>
          </a:p>
        </p:txBody>
      </p:sp>
      <p:sp>
        <p:nvSpPr>
          <p:cNvPr id="5" name="Slide Number Placeholder 4">
            <a:extLst>
              <a:ext uri="{FF2B5EF4-FFF2-40B4-BE49-F238E27FC236}">
                <a16:creationId xmlns:a16="http://schemas.microsoft.com/office/drawing/2014/main" id="{D7D6E4AE-79F3-C9FF-2C0F-A92C1C059545}"/>
              </a:ext>
            </a:extLst>
          </p:cNvPr>
          <p:cNvSpPr>
            <a:spLocks noGrp="1"/>
          </p:cNvSpPr>
          <p:nvPr>
            <p:ph type="sldNum" sz="quarter" idx="12"/>
          </p:nvPr>
        </p:nvSpPr>
        <p:spPr/>
        <p:txBody>
          <a:bodyPr/>
          <a:lstStyle/>
          <a:p>
            <a:fld id="{312CC964-A50B-4C29-B4E4-2C30BB34CCF3}" type="slidenum">
              <a:rPr lang="en-US" smtClean="0"/>
              <a:t>4</a:t>
            </a:fld>
            <a:endParaRPr lang="en-US"/>
          </a:p>
        </p:txBody>
      </p:sp>
    </p:spTree>
    <p:extLst>
      <p:ext uri="{BB962C8B-B14F-4D97-AF65-F5344CB8AC3E}">
        <p14:creationId xmlns:p14="http://schemas.microsoft.com/office/powerpoint/2010/main" val="245031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BACCD-3CE4-19D3-2845-647AC0C7099D}"/>
              </a:ext>
            </a:extLst>
          </p:cNvPr>
          <p:cNvSpPr>
            <a:spLocks noGrp="1"/>
          </p:cNvSpPr>
          <p:nvPr>
            <p:ph type="title"/>
          </p:nvPr>
        </p:nvSpPr>
        <p:spPr/>
        <p:txBody>
          <a:bodyPr/>
          <a:lstStyle/>
          <a:p>
            <a:r>
              <a:rPr lang="en-US" dirty="0"/>
              <a:t>Answer</a:t>
            </a:r>
          </a:p>
        </p:txBody>
      </p:sp>
      <p:sp>
        <p:nvSpPr>
          <p:cNvPr id="3" name="Content Placeholder 2">
            <a:extLst>
              <a:ext uri="{FF2B5EF4-FFF2-40B4-BE49-F238E27FC236}">
                <a16:creationId xmlns:a16="http://schemas.microsoft.com/office/drawing/2014/main" id="{E745EE4A-DBC3-D054-9E8D-B6F0001E23C7}"/>
              </a:ext>
            </a:extLst>
          </p:cNvPr>
          <p:cNvSpPr>
            <a:spLocks noGrp="1"/>
          </p:cNvSpPr>
          <p:nvPr>
            <p:ph idx="1"/>
          </p:nvPr>
        </p:nvSpPr>
        <p:spPr/>
        <p:txBody>
          <a:bodyPr/>
          <a:lstStyle/>
          <a:p>
            <a:r>
              <a:rPr lang="en-US" dirty="0"/>
              <a:t>Answer is (e). The % of deaths is actually PMRs (proportional mortality ratios) for the two age groups. The PMR gives the proportion of deaths that are due to a given cause out of the total deaths but does not give us the risk of dying due to that disease. The risk of death due to accidents and injuries in a particular age group would be given by the age and cause specific mortality rate</a:t>
            </a:r>
          </a:p>
        </p:txBody>
      </p:sp>
      <p:sp>
        <p:nvSpPr>
          <p:cNvPr id="4" name="Date Placeholder 3">
            <a:extLst>
              <a:ext uri="{FF2B5EF4-FFF2-40B4-BE49-F238E27FC236}">
                <a16:creationId xmlns:a16="http://schemas.microsoft.com/office/drawing/2014/main" id="{EB64D12B-3007-0FC4-67D1-119083D608CE}"/>
              </a:ext>
            </a:extLst>
          </p:cNvPr>
          <p:cNvSpPr>
            <a:spLocks noGrp="1"/>
          </p:cNvSpPr>
          <p:nvPr>
            <p:ph type="dt" sz="half" idx="10"/>
          </p:nvPr>
        </p:nvSpPr>
        <p:spPr/>
        <p:txBody>
          <a:bodyPr/>
          <a:lstStyle/>
          <a:p>
            <a:fld id="{92E029E4-0DA0-4A85-B060-E5D27482BB2A}" type="datetime1">
              <a:rPr lang="en-US" smtClean="0"/>
              <a:t>4/8/2024</a:t>
            </a:fld>
            <a:endParaRPr lang="en-US" dirty="0"/>
          </a:p>
        </p:txBody>
      </p:sp>
      <p:sp>
        <p:nvSpPr>
          <p:cNvPr id="5" name="Slide Number Placeholder 4">
            <a:extLst>
              <a:ext uri="{FF2B5EF4-FFF2-40B4-BE49-F238E27FC236}">
                <a16:creationId xmlns:a16="http://schemas.microsoft.com/office/drawing/2014/main" id="{2DB1AD76-0B75-C09C-533E-4C11633C3FFF}"/>
              </a:ext>
            </a:extLst>
          </p:cNvPr>
          <p:cNvSpPr>
            <a:spLocks noGrp="1"/>
          </p:cNvSpPr>
          <p:nvPr>
            <p:ph type="sldNum" sz="quarter" idx="12"/>
          </p:nvPr>
        </p:nvSpPr>
        <p:spPr/>
        <p:txBody>
          <a:bodyPr/>
          <a:lstStyle/>
          <a:p>
            <a:fld id="{312CC964-A50B-4C29-B4E4-2C30BB34CCF3}" type="slidenum">
              <a:rPr lang="en-US" smtClean="0"/>
              <a:t>5</a:t>
            </a:fld>
            <a:endParaRPr lang="en-US"/>
          </a:p>
        </p:txBody>
      </p:sp>
    </p:spTree>
    <p:extLst>
      <p:ext uri="{BB962C8B-B14F-4D97-AF65-F5344CB8AC3E}">
        <p14:creationId xmlns:p14="http://schemas.microsoft.com/office/powerpoint/2010/main" val="472052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133C-A27E-FB6B-20D2-0A69E0B1BAB3}"/>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AC6C0990-D855-3378-8264-84CF9E51343F}"/>
              </a:ext>
            </a:extLst>
          </p:cNvPr>
          <p:cNvSpPr>
            <a:spLocks noGrp="1"/>
          </p:cNvSpPr>
          <p:nvPr>
            <p:ph idx="1"/>
          </p:nvPr>
        </p:nvSpPr>
        <p:spPr/>
        <p:txBody>
          <a:bodyPr/>
          <a:lstStyle/>
          <a:p>
            <a:r>
              <a:rPr lang="en-US" dirty="0"/>
              <a:t>The denominator in age-specific mortality rate (ASMR) for children aged up to 5 years </a:t>
            </a:r>
            <a:r>
              <a:rPr lang="en-US" dirty="0" err="1"/>
              <a:t>wil</a:t>
            </a:r>
            <a:r>
              <a:rPr lang="en-US" dirty="0"/>
              <a:t> be-</a:t>
            </a:r>
          </a:p>
          <a:p>
            <a:pPr lvl="1"/>
            <a:r>
              <a:rPr lang="en-US" dirty="0"/>
              <a:t>(a) Live births</a:t>
            </a:r>
          </a:p>
          <a:p>
            <a:pPr lvl="1"/>
            <a:r>
              <a:rPr lang="en-US" dirty="0"/>
              <a:t>(b) Mid-year population of entire community</a:t>
            </a:r>
          </a:p>
          <a:p>
            <a:pPr lvl="1"/>
            <a:r>
              <a:rPr lang="en-US" dirty="0"/>
              <a:t>(c) Mid-year population of children aged up to 5 years</a:t>
            </a:r>
          </a:p>
          <a:p>
            <a:pPr lvl="1"/>
            <a:r>
              <a:rPr lang="en-US" dirty="0"/>
              <a:t>(d) Deaths among children aged up to 5 years</a:t>
            </a:r>
          </a:p>
        </p:txBody>
      </p:sp>
      <p:sp>
        <p:nvSpPr>
          <p:cNvPr id="4" name="Date Placeholder 3">
            <a:extLst>
              <a:ext uri="{FF2B5EF4-FFF2-40B4-BE49-F238E27FC236}">
                <a16:creationId xmlns:a16="http://schemas.microsoft.com/office/drawing/2014/main" id="{CCF05869-0E5F-E358-FD27-CF3305FE740D}"/>
              </a:ext>
            </a:extLst>
          </p:cNvPr>
          <p:cNvSpPr>
            <a:spLocks noGrp="1"/>
          </p:cNvSpPr>
          <p:nvPr>
            <p:ph type="dt" sz="half" idx="10"/>
          </p:nvPr>
        </p:nvSpPr>
        <p:spPr/>
        <p:txBody>
          <a:bodyPr/>
          <a:lstStyle/>
          <a:p>
            <a:fld id="{C3D65269-24DB-40F2-BA6C-8C942B5A2204}" type="datetime1">
              <a:rPr lang="en-US" smtClean="0"/>
              <a:t>4/8/2024</a:t>
            </a:fld>
            <a:endParaRPr lang="en-US" dirty="0"/>
          </a:p>
        </p:txBody>
      </p:sp>
      <p:sp>
        <p:nvSpPr>
          <p:cNvPr id="5" name="Slide Number Placeholder 4">
            <a:extLst>
              <a:ext uri="{FF2B5EF4-FFF2-40B4-BE49-F238E27FC236}">
                <a16:creationId xmlns:a16="http://schemas.microsoft.com/office/drawing/2014/main" id="{EC3484AA-CF87-0526-2FFE-E4E01261E541}"/>
              </a:ext>
            </a:extLst>
          </p:cNvPr>
          <p:cNvSpPr>
            <a:spLocks noGrp="1"/>
          </p:cNvSpPr>
          <p:nvPr>
            <p:ph type="sldNum" sz="quarter" idx="12"/>
          </p:nvPr>
        </p:nvSpPr>
        <p:spPr/>
        <p:txBody>
          <a:bodyPr/>
          <a:lstStyle/>
          <a:p>
            <a:fld id="{312CC964-A50B-4C29-B4E4-2C30BB34CCF3}" type="slidenum">
              <a:rPr lang="en-US" smtClean="0"/>
              <a:t>6</a:t>
            </a:fld>
            <a:endParaRPr lang="en-US"/>
          </a:p>
        </p:txBody>
      </p:sp>
    </p:spTree>
    <p:extLst>
      <p:ext uri="{BB962C8B-B14F-4D97-AF65-F5344CB8AC3E}">
        <p14:creationId xmlns:p14="http://schemas.microsoft.com/office/powerpoint/2010/main" val="3895403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6F562-E1DB-7EC5-F43F-67EE42E525E6}"/>
              </a:ext>
            </a:extLst>
          </p:cNvPr>
          <p:cNvSpPr>
            <a:spLocks noGrp="1"/>
          </p:cNvSpPr>
          <p:nvPr>
            <p:ph type="title"/>
          </p:nvPr>
        </p:nvSpPr>
        <p:spPr/>
        <p:txBody>
          <a:bodyPr/>
          <a:lstStyle/>
          <a:p>
            <a:r>
              <a:rPr lang="en-US" dirty="0" err="1"/>
              <a:t>mcq</a:t>
            </a:r>
            <a:endParaRPr lang="en-US" dirty="0"/>
          </a:p>
        </p:txBody>
      </p:sp>
      <p:sp>
        <p:nvSpPr>
          <p:cNvPr id="3" name="Content Placeholder 2">
            <a:extLst>
              <a:ext uri="{FF2B5EF4-FFF2-40B4-BE49-F238E27FC236}">
                <a16:creationId xmlns:a16="http://schemas.microsoft.com/office/drawing/2014/main" id="{1D7DB6A7-8E8C-9DCF-AEDE-7DAE8729210D}"/>
              </a:ext>
            </a:extLst>
          </p:cNvPr>
          <p:cNvSpPr>
            <a:spLocks noGrp="1"/>
          </p:cNvSpPr>
          <p:nvPr>
            <p:ph idx="1"/>
          </p:nvPr>
        </p:nvSpPr>
        <p:spPr/>
        <p:txBody>
          <a:bodyPr/>
          <a:lstStyle/>
          <a:p>
            <a:r>
              <a:rPr lang="en-US" dirty="0"/>
              <a:t>In a particular year during which the mid- year population of India was 1000 million, the total deaths due to tuberculosis were 0.5 million, i.e., 0.5 deaths due to TB per 1000 population. This is the:</a:t>
            </a:r>
          </a:p>
          <a:p>
            <a:pPr lvl="1"/>
            <a:r>
              <a:rPr lang="en-US" dirty="0"/>
              <a:t>(a) Case fatality rate</a:t>
            </a:r>
          </a:p>
          <a:p>
            <a:pPr lvl="1"/>
            <a:r>
              <a:rPr lang="en-US" dirty="0"/>
              <a:t>(b) Cause-specific mortality rate</a:t>
            </a:r>
          </a:p>
          <a:p>
            <a:pPr lvl="1"/>
            <a:r>
              <a:rPr lang="en-US" dirty="0"/>
              <a:t>(c) Proportionate mortality ratio</a:t>
            </a:r>
          </a:p>
          <a:p>
            <a:pPr lvl="1"/>
            <a:r>
              <a:rPr lang="en-US" dirty="0"/>
              <a:t>(d) Incidence of morbidity due to TB</a:t>
            </a:r>
          </a:p>
        </p:txBody>
      </p:sp>
      <p:sp>
        <p:nvSpPr>
          <p:cNvPr id="4" name="Date Placeholder 3">
            <a:extLst>
              <a:ext uri="{FF2B5EF4-FFF2-40B4-BE49-F238E27FC236}">
                <a16:creationId xmlns:a16="http://schemas.microsoft.com/office/drawing/2014/main" id="{2710187D-F82A-5A00-9E5E-839FD2FE8070}"/>
              </a:ext>
            </a:extLst>
          </p:cNvPr>
          <p:cNvSpPr>
            <a:spLocks noGrp="1"/>
          </p:cNvSpPr>
          <p:nvPr>
            <p:ph type="dt" sz="half" idx="10"/>
          </p:nvPr>
        </p:nvSpPr>
        <p:spPr/>
        <p:txBody>
          <a:bodyPr/>
          <a:lstStyle/>
          <a:p>
            <a:fld id="{5FD2FF36-AC75-40E5-B48F-03E231957171}" type="datetime1">
              <a:rPr lang="en-US" smtClean="0"/>
              <a:t>4/8/2024</a:t>
            </a:fld>
            <a:endParaRPr lang="en-US" dirty="0"/>
          </a:p>
        </p:txBody>
      </p:sp>
      <p:sp>
        <p:nvSpPr>
          <p:cNvPr id="5" name="Slide Number Placeholder 4">
            <a:extLst>
              <a:ext uri="{FF2B5EF4-FFF2-40B4-BE49-F238E27FC236}">
                <a16:creationId xmlns:a16="http://schemas.microsoft.com/office/drawing/2014/main" id="{C276DBEF-CBDD-53C5-AB42-EA7EBB6FB7A9}"/>
              </a:ext>
            </a:extLst>
          </p:cNvPr>
          <p:cNvSpPr>
            <a:spLocks noGrp="1"/>
          </p:cNvSpPr>
          <p:nvPr>
            <p:ph type="sldNum" sz="quarter" idx="12"/>
          </p:nvPr>
        </p:nvSpPr>
        <p:spPr/>
        <p:txBody>
          <a:bodyPr/>
          <a:lstStyle/>
          <a:p>
            <a:fld id="{312CC964-A50B-4C29-B4E4-2C30BB34CCF3}" type="slidenum">
              <a:rPr lang="en-US" smtClean="0"/>
              <a:t>7</a:t>
            </a:fld>
            <a:endParaRPr lang="en-US"/>
          </a:p>
        </p:txBody>
      </p:sp>
    </p:spTree>
    <p:extLst>
      <p:ext uri="{BB962C8B-B14F-4D97-AF65-F5344CB8AC3E}">
        <p14:creationId xmlns:p14="http://schemas.microsoft.com/office/powerpoint/2010/main" val="3912000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D93CB-02EF-1052-5B92-E46A0456A11E}"/>
              </a:ext>
            </a:extLst>
          </p:cNvPr>
          <p:cNvSpPr>
            <a:spLocks noGrp="1"/>
          </p:cNvSpPr>
          <p:nvPr>
            <p:ph type="title"/>
          </p:nvPr>
        </p:nvSpPr>
        <p:spPr/>
        <p:txBody>
          <a:bodyPr/>
          <a:lstStyle/>
          <a:p>
            <a:r>
              <a:rPr lang="en-US" dirty="0" err="1"/>
              <a:t>mcq</a:t>
            </a:r>
            <a:endParaRPr lang="en-US" dirty="0"/>
          </a:p>
        </p:txBody>
      </p:sp>
      <p:sp>
        <p:nvSpPr>
          <p:cNvPr id="3" name="Content Placeholder 2">
            <a:extLst>
              <a:ext uri="{FF2B5EF4-FFF2-40B4-BE49-F238E27FC236}">
                <a16:creationId xmlns:a16="http://schemas.microsoft.com/office/drawing/2014/main" id="{9FAA037A-AC34-994C-99AF-9177D833B61B}"/>
              </a:ext>
            </a:extLst>
          </p:cNvPr>
          <p:cNvSpPr>
            <a:spLocks noGrp="1"/>
          </p:cNvSpPr>
          <p:nvPr>
            <p:ph idx="1"/>
          </p:nvPr>
        </p:nvSpPr>
        <p:spPr/>
        <p:txBody>
          <a:bodyPr/>
          <a:lstStyle/>
          <a:p>
            <a:r>
              <a:rPr lang="en-US" dirty="0"/>
              <a:t>A lady who was 28 weeks pregnant unfortunately died in a roadways bus accident. While calculating the MMR, she will be:</a:t>
            </a:r>
          </a:p>
          <a:p>
            <a:pPr lvl="1"/>
            <a:r>
              <a:rPr lang="en-US" dirty="0"/>
              <a:t>(a) Included in numerator</a:t>
            </a:r>
          </a:p>
          <a:p>
            <a:pPr lvl="1"/>
            <a:r>
              <a:rPr lang="en-US" dirty="0"/>
              <a:t>(b) Included in denominator</a:t>
            </a:r>
          </a:p>
          <a:p>
            <a:pPr lvl="1"/>
            <a:r>
              <a:rPr lang="en-US" dirty="0"/>
              <a:t>(c) Included in both numerator and denominator</a:t>
            </a:r>
          </a:p>
          <a:p>
            <a:pPr lvl="1"/>
            <a:r>
              <a:rPr lang="en-US" dirty="0"/>
              <a:t>(d) Will not be included either in numerator or in the denominator</a:t>
            </a:r>
          </a:p>
        </p:txBody>
      </p:sp>
      <p:sp>
        <p:nvSpPr>
          <p:cNvPr id="4" name="Date Placeholder 3">
            <a:extLst>
              <a:ext uri="{FF2B5EF4-FFF2-40B4-BE49-F238E27FC236}">
                <a16:creationId xmlns:a16="http://schemas.microsoft.com/office/drawing/2014/main" id="{B282959E-BCB5-A2EF-ADBA-C50F9682DAAB}"/>
              </a:ext>
            </a:extLst>
          </p:cNvPr>
          <p:cNvSpPr>
            <a:spLocks noGrp="1"/>
          </p:cNvSpPr>
          <p:nvPr>
            <p:ph type="dt" sz="half" idx="10"/>
          </p:nvPr>
        </p:nvSpPr>
        <p:spPr/>
        <p:txBody>
          <a:bodyPr/>
          <a:lstStyle/>
          <a:p>
            <a:fld id="{B61CFA0C-374E-4DDA-BD8A-A654E16D572E}" type="datetime1">
              <a:rPr lang="en-US" smtClean="0"/>
              <a:t>4/8/2024</a:t>
            </a:fld>
            <a:endParaRPr lang="en-US" dirty="0"/>
          </a:p>
        </p:txBody>
      </p:sp>
      <p:sp>
        <p:nvSpPr>
          <p:cNvPr id="5" name="Slide Number Placeholder 4">
            <a:extLst>
              <a:ext uri="{FF2B5EF4-FFF2-40B4-BE49-F238E27FC236}">
                <a16:creationId xmlns:a16="http://schemas.microsoft.com/office/drawing/2014/main" id="{DC9A1471-FDC8-FA75-BFDC-DD23043F22A5}"/>
              </a:ext>
            </a:extLst>
          </p:cNvPr>
          <p:cNvSpPr>
            <a:spLocks noGrp="1"/>
          </p:cNvSpPr>
          <p:nvPr>
            <p:ph type="sldNum" sz="quarter" idx="12"/>
          </p:nvPr>
        </p:nvSpPr>
        <p:spPr/>
        <p:txBody>
          <a:bodyPr/>
          <a:lstStyle/>
          <a:p>
            <a:fld id="{312CC964-A50B-4C29-B4E4-2C30BB34CCF3}" type="slidenum">
              <a:rPr lang="en-US" smtClean="0"/>
              <a:t>8</a:t>
            </a:fld>
            <a:endParaRPr lang="en-US"/>
          </a:p>
        </p:txBody>
      </p:sp>
    </p:spTree>
    <p:extLst>
      <p:ext uri="{BB962C8B-B14F-4D97-AF65-F5344CB8AC3E}">
        <p14:creationId xmlns:p14="http://schemas.microsoft.com/office/powerpoint/2010/main" val="2225628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66CF3-3BF9-27BA-0A37-236B82B89BB1}"/>
              </a:ext>
            </a:extLst>
          </p:cNvPr>
          <p:cNvSpPr>
            <a:spLocks noGrp="1"/>
          </p:cNvSpPr>
          <p:nvPr>
            <p:ph type="title"/>
          </p:nvPr>
        </p:nvSpPr>
        <p:spPr/>
        <p:txBody>
          <a:bodyPr/>
          <a:lstStyle/>
          <a:p>
            <a:r>
              <a:rPr lang="en-US" dirty="0"/>
              <a:t>Morbidity</a:t>
            </a:r>
          </a:p>
        </p:txBody>
      </p:sp>
      <p:sp>
        <p:nvSpPr>
          <p:cNvPr id="3" name="Content Placeholder 2">
            <a:extLst>
              <a:ext uri="{FF2B5EF4-FFF2-40B4-BE49-F238E27FC236}">
                <a16:creationId xmlns:a16="http://schemas.microsoft.com/office/drawing/2014/main" id="{3C10F58F-1412-700A-B82F-D830CF0EAD06}"/>
              </a:ext>
            </a:extLst>
          </p:cNvPr>
          <p:cNvSpPr>
            <a:spLocks noGrp="1"/>
          </p:cNvSpPr>
          <p:nvPr>
            <p:ph idx="1"/>
          </p:nvPr>
        </p:nvSpPr>
        <p:spPr>
          <a:xfrm>
            <a:off x="1143000" y="1915557"/>
            <a:ext cx="9906000" cy="4024424"/>
          </a:xfrm>
        </p:spPr>
        <p:txBody>
          <a:bodyPr>
            <a:normAutofit lnSpcReduction="10000"/>
          </a:bodyPr>
          <a:lstStyle/>
          <a:p>
            <a:pPr algn="l"/>
            <a:r>
              <a:rPr lang="en-US" sz="3200" b="0" i="0" u="none" strike="noStrike" baseline="0" dirty="0">
                <a:latin typeface="Times New Roman" panose="02020603050405020304" pitchFamily="18" charset="0"/>
              </a:rPr>
              <a:t>Morbidity has been defined as “any departure, subjective or objective, from a state of physiological well-being”</a:t>
            </a:r>
            <a:r>
              <a:rPr lang="en-US" sz="3200" b="0" i="1" u="none" strike="noStrike" baseline="0" dirty="0">
                <a:latin typeface="Times New Roman" panose="02020603050405020304" pitchFamily="18" charset="0"/>
              </a:rPr>
              <a:t>. </a:t>
            </a:r>
          </a:p>
          <a:p>
            <a:pPr algn="l"/>
            <a:r>
              <a:rPr lang="en-US" sz="3200" b="0" i="0" u="none" strike="noStrike" baseline="0" dirty="0">
                <a:latin typeface="Times New Roman" panose="02020603050405020304" pitchFamily="18" charset="0"/>
              </a:rPr>
              <a:t>The term is used equivalent to such terms as sickness, illness, disability etc. </a:t>
            </a:r>
          </a:p>
          <a:p>
            <a:pPr algn="l"/>
            <a:r>
              <a:rPr lang="en-US" sz="3200" b="0" i="0" u="none" strike="noStrike" baseline="0" dirty="0">
                <a:latin typeface="Times New Roman" panose="02020603050405020304" pitchFamily="18" charset="0"/>
              </a:rPr>
              <a:t>Measured in terms of 3 units -</a:t>
            </a:r>
          </a:p>
          <a:p>
            <a:pPr lvl="1"/>
            <a:r>
              <a:rPr lang="en-US" sz="2400" b="0" i="0" u="none" strike="noStrike" baseline="0" dirty="0">
                <a:latin typeface="Times New Roman" panose="02020603050405020304" pitchFamily="18" charset="0"/>
              </a:rPr>
              <a:t>Frequency (Incidence and prevalence)</a:t>
            </a:r>
          </a:p>
          <a:p>
            <a:pPr lvl="1"/>
            <a:r>
              <a:rPr lang="en-US" sz="2400" dirty="0">
                <a:latin typeface="Times New Roman" panose="02020603050405020304" pitchFamily="18" charset="0"/>
              </a:rPr>
              <a:t>Duration (Average duration per case or disability rate)</a:t>
            </a:r>
          </a:p>
          <a:p>
            <a:pPr lvl="1"/>
            <a:r>
              <a:rPr lang="en-US" sz="2400" dirty="0">
                <a:latin typeface="Times New Roman" panose="02020603050405020304" pitchFamily="18" charset="0"/>
              </a:rPr>
              <a:t>Severity (Case fatality rate)</a:t>
            </a:r>
            <a:endParaRPr lang="en-US" sz="3600" dirty="0"/>
          </a:p>
        </p:txBody>
      </p:sp>
      <p:sp>
        <p:nvSpPr>
          <p:cNvPr id="4" name="Date Placeholder 3">
            <a:extLst>
              <a:ext uri="{FF2B5EF4-FFF2-40B4-BE49-F238E27FC236}">
                <a16:creationId xmlns:a16="http://schemas.microsoft.com/office/drawing/2014/main" id="{B302D5C4-9638-AB65-BA3A-A28B28C2580B}"/>
              </a:ext>
            </a:extLst>
          </p:cNvPr>
          <p:cNvSpPr>
            <a:spLocks noGrp="1"/>
          </p:cNvSpPr>
          <p:nvPr>
            <p:ph type="dt" sz="half" idx="10"/>
          </p:nvPr>
        </p:nvSpPr>
        <p:spPr/>
        <p:txBody>
          <a:bodyPr/>
          <a:lstStyle/>
          <a:p>
            <a:fld id="{BEC5FFF4-B74E-461B-9925-D3163CDC2642}" type="datetime1">
              <a:rPr lang="en-US" smtClean="0"/>
              <a:t>4/8/2024</a:t>
            </a:fld>
            <a:endParaRPr lang="en-US" dirty="0"/>
          </a:p>
        </p:txBody>
      </p:sp>
      <p:sp>
        <p:nvSpPr>
          <p:cNvPr id="5" name="Slide Number Placeholder 4">
            <a:extLst>
              <a:ext uri="{FF2B5EF4-FFF2-40B4-BE49-F238E27FC236}">
                <a16:creationId xmlns:a16="http://schemas.microsoft.com/office/drawing/2014/main" id="{2028F46E-4080-B542-1F11-6AF4F29E0A99}"/>
              </a:ext>
            </a:extLst>
          </p:cNvPr>
          <p:cNvSpPr>
            <a:spLocks noGrp="1"/>
          </p:cNvSpPr>
          <p:nvPr>
            <p:ph type="sldNum" sz="quarter" idx="12"/>
          </p:nvPr>
        </p:nvSpPr>
        <p:spPr/>
        <p:txBody>
          <a:bodyPr/>
          <a:lstStyle/>
          <a:p>
            <a:fld id="{312CC964-A50B-4C29-B4E4-2C30BB34CCF3}" type="slidenum">
              <a:rPr lang="en-US" smtClean="0"/>
              <a:t>9</a:t>
            </a:fld>
            <a:endParaRPr lang="en-US"/>
          </a:p>
        </p:txBody>
      </p:sp>
    </p:spTree>
    <p:extLst>
      <p:ext uri="{BB962C8B-B14F-4D97-AF65-F5344CB8AC3E}">
        <p14:creationId xmlns:p14="http://schemas.microsoft.com/office/powerpoint/2010/main" val="3576855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C6DA8-911E-3DA5-7979-A720C02DF639}"/>
              </a:ext>
            </a:extLst>
          </p:cNvPr>
          <p:cNvSpPr>
            <a:spLocks noGrp="1"/>
          </p:cNvSpPr>
          <p:nvPr>
            <p:ph type="title"/>
          </p:nvPr>
        </p:nvSpPr>
        <p:spPr>
          <a:xfrm>
            <a:off x="1143000" y="0"/>
            <a:ext cx="9906000" cy="1382156"/>
          </a:xfrm>
        </p:spPr>
        <p:txBody>
          <a:bodyPr/>
          <a:lstStyle/>
          <a:p>
            <a:r>
              <a:rPr lang="en-US" dirty="0"/>
              <a:t>Value of morbidity data</a:t>
            </a:r>
          </a:p>
        </p:txBody>
      </p:sp>
      <p:sp>
        <p:nvSpPr>
          <p:cNvPr id="3" name="Content Placeholder 2">
            <a:extLst>
              <a:ext uri="{FF2B5EF4-FFF2-40B4-BE49-F238E27FC236}">
                <a16:creationId xmlns:a16="http://schemas.microsoft.com/office/drawing/2014/main" id="{80FCECE6-D7CE-2C8A-3E2C-19FF3061DBCF}"/>
              </a:ext>
            </a:extLst>
          </p:cNvPr>
          <p:cNvSpPr>
            <a:spLocks noGrp="1"/>
          </p:cNvSpPr>
          <p:nvPr>
            <p:ph idx="1"/>
          </p:nvPr>
        </p:nvSpPr>
        <p:spPr>
          <a:xfrm>
            <a:off x="866274" y="1427747"/>
            <a:ext cx="10182726" cy="4606231"/>
          </a:xfrm>
        </p:spPr>
        <p:txBody>
          <a:bodyPr>
            <a:normAutofit lnSpcReduction="10000"/>
          </a:bodyPr>
          <a:lstStyle/>
          <a:p>
            <a:pPr algn="l"/>
            <a:r>
              <a:rPr lang="en-US" sz="2800" b="0" i="0" u="none" strike="noStrike" baseline="0" dirty="0">
                <a:latin typeface="Times New Roman" panose="02020603050405020304" pitchFamily="18" charset="0"/>
              </a:rPr>
              <a:t>They describe the extent and nature of the disease load in the community, and thus assist in the establishment of priorities.</a:t>
            </a:r>
          </a:p>
          <a:p>
            <a:pPr algn="l"/>
            <a:r>
              <a:rPr lang="en-US" sz="2800" b="0" i="0" u="none" strike="noStrike" baseline="0" dirty="0">
                <a:latin typeface="Times New Roman" panose="02020603050405020304" pitchFamily="18" charset="0"/>
              </a:rPr>
              <a:t>They usually provide more comprehensive and more accurate and clinically relevant information on patient characteristics, than can be obtained from mortality data, and are therefore essential for basic research.</a:t>
            </a:r>
          </a:p>
          <a:p>
            <a:pPr algn="l"/>
            <a:r>
              <a:rPr lang="en-US" sz="2800" b="0" i="0" u="none" strike="noStrike" baseline="0" dirty="0">
                <a:latin typeface="Times New Roman" panose="02020603050405020304" pitchFamily="18" charset="0"/>
              </a:rPr>
              <a:t>They serve as starting point for </a:t>
            </a:r>
            <a:r>
              <a:rPr lang="en-US" sz="2800" b="0" i="0" u="none" strike="noStrike" baseline="0" dirty="0" err="1">
                <a:latin typeface="Times New Roman" panose="02020603050405020304" pitchFamily="18" charset="0"/>
              </a:rPr>
              <a:t>aetiological</a:t>
            </a:r>
            <a:r>
              <a:rPr lang="en-US" sz="2800" b="0" i="0" u="none" strike="noStrike" baseline="0" dirty="0">
                <a:latin typeface="Times New Roman" panose="02020603050405020304" pitchFamily="18" charset="0"/>
              </a:rPr>
              <a:t> studies, and thus play a crucial role in disease prevention.</a:t>
            </a:r>
          </a:p>
          <a:p>
            <a:pPr algn="l"/>
            <a:r>
              <a:rPr lang="en-US" sz="2800" b="0" i="0" u="none" strike="noStrike" baseline="0" dirty="0">
                <a:latin typeface="Times New Roman" panose="02020603050405020304" pitchFamily="18" charset="0"/>
              </a:rPr>
              <a:t>They are needed for monitoring and evaluation of disease control activities.</a:t>
            </a:r>
            <a:endParaRPr lang="en-US" sz="3600" dirty="0"/>
          </a:p>
        </p:txBody>
      </p:sp>
      <p:sp>
        <p:nvSpPr>
          <p:cNvPr id="4" name="Date Placeholder 3">
            <a:extLst>
              <a:ext uri="{FF2B5EF4-FFF2-40B4-BE49-F238E27FC236}">
                <a16:creationId xmlns:a16="http://schemas.microsoft.com/office/drawing/2014/main" id="{B6E46DF8-D27D-1008-7BFF-13FEF74BED37}"/>
              </a:ext>
            </a:extLst>
          </p:cNvPr>
          <p:cNvSpPr>
            <a:spLocks noGrp="1"/>
          </p:cNvSpPr>
          <p:nvPr>
            <p:ph type="dt" sz="half" idx="10"/>
          </p:nvPr>
        </p:nvSpPr>
        <p:spPr/>
        <p:txBody>
          <a:bodyPr/>
          <a:lstStyle/>
          <a:p>
            <a:fld id="{2B6DF0D5-B44F-4F66-87FD-FD36E52C6609}" type="datetime1">
              <a:rPr lang="en-US" smtClean="0"/>
              <a:t>4/8/2024</a:t>
            </a:fld>
            <a:endParaRPr lang="en-US" dirty="0"/>
          </a:p>
        </p:txBody>
      </p:sp>
      <p:sp>
        <p:nvSpPr>
          <p:cNvPr id="5" name="Slide Number Placeholder 4">
            <a:extLst>
              <a:ext uri="{FF2B5EF4-FFF2-40B4-BE49-F238E27FC236}">
                <a16:creationId xmlns:a16="http://schemas.microsoft.com/office/drawing/2014/main" id="{50E5DF82-940B-5C02-0C2F-5A9BC07B798E}"/>
              </a:ext>
            </a:extLst>
          </p:cNvPr>
          <p:cNvSpPr>
            <a:spLocks noGrp="1"/>
          </p:cNvSpPr>
          <p:nvPr>
            <p:ph type="sldNum" sz="quarter" idx="12"/>
          </p:nvPr>
        </p:nvSpPr>
        <p:spPr/>
        <p:txBody>
          <a:bodyPr/>
          <a:lstStyle/>
          <a:p>
            <a:fld id="{312CC964-A50B-4C29-B4E4-2C30BB34CCF3}" type="slidenum">
              <a:rPr lang="en-US" smtClean="0"/>
              <a:t>10</a:t>
            </a:fld>
            <a:endParaRPr lang="en-US"/>
          </a:p>
        </p:txBody>
      </p:sp>
    </p:spTree>
    <p:extLst>
      <p:ext uri="{BB962C8B-B14F-4D97-AF65-F5344CB8AC3E}">
        <p14:creationId xmlns:p14="http://schemas.microsoft.com/office/powerpoint/2010/main" val="3846283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31" name="Straight Connector 1030">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33" name="Straight Connector 1032">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35" name="Straight Connector 1034">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37" name="Straight Connector 1036">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41" name="Straight Connector 1040">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43" name="Straight Connector 1042">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045" name="Rectangle 1044">
            <a:extLst>
              <a:ext uri="{FF2B5EF4-FFF2-40B4-BE49-F238E27FC236}">
                <a16:creationId xmlns:a16="http://schemas.microsoft.com/office/drawing/2014/main" id="{10A34275-CD0A-499C-9600-C96742FAC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7" name="Straight Connector 1046">
            <a:extLst>
              <a:ext uri="{FF2B5EF4-FFF2-40B4-BE49-F238E27FC236}">
                <a16:creationId xmlns:a16="http://schemas.microsoft.com/office/drawing/2014/main" id="{1852546B-EF97-46E8-A930-3A03341066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7587" y="2720800"/>
            <a:ext cx="3470809" cy="41326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49" name="Straight Connector 1048">
            <a:extLst>
              <a:ext uri="{FF2B5EF4-FFF2-40B4-BE49-F238E27FC236}">
                <a16:creationId xmlns:a16="http://schemas.microsoft.com/office/drawing/2014/main" id="{12801F4A-0A74-45E0-8E5A-65A65252A3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40"/>
            <a:ext cx="1274412" cy="49672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1" name="Straight Connector 1050">
            <a:extLst>
              <a:ext uri="{FF2B5EF4-FFF2-40B4-BE49-F238E27FC236}">
                <a16:creationId xmlns:a16="http://schemas.microsoft.com/office/drawing/2014/main" id="{AD245F29-ABE7-4BB1-8164-5F4C4604B2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5257800" y="0"/>
            <a:ext cx="6926614" cy="112236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4D249A5-C6DF-C172-D19C-04F58522B0AE}"/>
              </a:ext>
            </a:extLst>
          </p:cNvPr>
          <p:cNvSpPr>
            <a:spLocks noGrp="1"/>
          </p:cNvSpPr>
          <p:nvPr>
            <p:ph type="title"/>
          </p:nvPr>
        </p:nvSpPr>
        <p:spPr>
          <a:xfrm>
            <a:off x="8286014" y="1122363"/>
            <a:ext cx="3316463" cy="3025308"/>
          </a:xfrm>
        </p:spPr>
        <p:txBody>
          <a:bodyPr vert="horz" lIns="91440" tIns="45720" rIns="91440" bIns="45720" rtlCol="0" anchor="b">
            <a:normAutofit/>
          </a:bodyPr>
          <a:lstStyle/>
          <a:p>
            <a:pPr algn="r"/>
            <a:r>
              <a:rPr lang="en-US" sz="3700"/>
              <a:t>Incidence and prevalence</a:t>
            </a:r>
          </a:p>
        </p:txBody>
      </p:sp>
      <p:cxnSp>
        <p:nvCxnSpPr>
          <p:cNvPr id="1053" name="Straight Connector 1052">
            <a:extLst>
              <a:ext uri="{FF2B5EF4-FFF2-40B4-BE49-F238E27FC236}">
                <a16:creationId xmlns:a16="http://schemas.microsoft.com/office/drawing/2014/main" id="{CF00EEAF-0634-4EEB-81E5-9FBC2170F3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7102" y="6051582"/>
            <a:ext cx="4847312" cy="8064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5" name="Straight Connector 1054">
            <a:extLst>
              <a:ext uri="{FF2B5EF4-FFF2-40B4-BE49-F238E27FC236}">
                <a16:creationId xmlns:a16="http://schemas.microsoft.com/office/drawing/2014/main" id="{53E11676-332F-449D-9A03-6CE4ED25CC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225160" y="0"/>
            <a:ext cx="3541141"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F0DB278E-A7DE-90EE-2E48-1B80A092EAA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2755" y="698126"/>
            <a:ext cx="7228091" cy="545720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6300BE4-8362-9721-DBF9-460C7DC02E0D}"/>
              </a:ext>
            </a:extLst>
          </p:cNvPr>
          <p:cNvSpPr txBox="1"/>
          <p:nvPr/>
        </p:nvSpPr>
        <p:spPr>
          <a:xfrm>
            <a:off x="4988968" y="5348916"/>
            <a:ext cx="5050943" cy="646331"/>
          </a:xfrm>
          <a:prstGeom prst="rect">
            <a:avLst/>
          </a:prstGeom>
          <a:solidFill>
            <a:schemeClr val="bg1"/>
          </a:solidFill>
        </p:spPr>
        <p:txBody>
          <a:bodyPr wrap="square" rtlCol="0">
            <a:spAutoFit/>
          </a:bodyPr>
          <a:lstStyle/>
          <a:p>
            <a:r>
              <a:rPr lang="en-US" sz="3600" dirty="0"/>
              <a:t>Mortality and Recover</a:t>
            </a:r>
          </a:p>
        </p:txBody>
      </p:sp>
      <p:sp>
        <p:nvSpPr>
          <p:cNvPr id="5" name="Date Placeholder 4">
            <a:extLst>
              <a:ext uri="{FF2B5EF4-FFF2-40B4-BE49-F238E27FC236}">
                <a16:creationId xmlns:a16="http://schemas.microsoft.com/office/drawing/2014/main" id="{5D6CB725-2910-3E99-7099-AA05ABFDE828}"/>
              </a:ext>
            </a:extLst>
          </p:cNvPr>
          <p:cNvSpPr>
            <a:spLocks noGrp="1"/>
          </p:cNvSpPr>
          <p:nvPr>
            <p:ph type="dt" sz="half" idx="10"/>
          </p:nvPr>
        </p:nvSpPr>
        <p:spPr/>
        <p:txBody>
          <a:bodyPr/>
          <a:lstStyle/>
          <a:p>
            <a:fld id="{75C2189E-1E0F-4B24-B5B6-4D9258A317C2}" type="datetime1">
              <a:rPr lang="en-US" smtClean="0"/>
              <a:t>4/8/2024</a:t>
            </a:fld>
            <a:endParaRPr lang="en-US" dirty="0"/>
          </a:p>
        </p:txBody>
      </p:sp>
      <p:sp>
        <p:nvSpPr>
          <p:cNvPr id="6" name="Slide Number Placeholder 5">
            <a:extLst>
              <a:ext uri="{FF2B5EF4-FFF2-40B4-BE49-F238E27FC236}">
                <a16:creationId xmlns:a16="http://schemas.microsoft.com/office/drawing/2014/main" id="{A8B241C5-8F95-1B8D-6638-7636A4B6C568}"/>
              </a:ext>
            </a:extLst>
          </p:cNvPr>
          <p:cNvSpPr>
            <a:spLocks noGrp="1"/>
          </p:cNvSpPr>
          <p:nvPr>
            <p:ph type="sldNum" sz="quarter" idx="12"/>
          </p:nvPr>
        </p:nvSpPr>
        <p:spPr/>
        <p:txBody>
          <a:bodyPr/>
          <a:lstStyle/>
          <a:p>
            <a:fld id="{312CC964-A50B-4C29-B4E4-2C30BB34CCF3}" type="slidenum">
              <a:rPr lang="en-US" smtClean="0"/>
              <a:t>11</a:t>
            </a:fld>
            <a:endParaRPr lang="en-US"/>
          </a:p>
        </p:txBody>
      </p:sp>
    </p:spTree>
    <p:extLst>
      <p:ext uri="{BB962C8B-B14F-4D97-AF65-F5344CB8AC3E}">
        <p14:creationId xmlns:p14="http://schemas.microsoft.com/office/powerpoint/2010/main" val="1616334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C4FFA-DCD6-A67B-A4A1-8753B987FF54}"/>
              </a:ext>
            </a:extLst>
          </p:cNvPr>
          <p:cNvSpPr>
            <a:spLocks noGrp="1"/>
          </p:cNvSpPr>
          <p:nvPr>
            <p:ph type="title"/>
          </p:nvPr>
        </p:nvSpPr>
        <p:spPr>
          <a:xfrm>
            <a:off x="1143000" y="627398"/>
            <a:ext cx="9906000" cy="1382156"/>
          </a:xfrm>
        </p:spPr>
        <p:txBody>
          <a:bodyPr/>
          <a:lstStyle/>
          <a:p>
            <a:r>
              <a:rPr lang="en-US" dirty="0"/>
              <a:t>Incidence</a:t>
            </a:r>
          </a:p>
        </p:txBody>
      </p:sp>
      <p:sp>
        <p:nvSpPr>
          <p:cNvPr id="3" name="Content Placeholder 2">
            <a:extLst>
              <a:ext uri="{FF2B5EF4-FFF2-40B4-BE49-F238E27FC236}">
                <a16:creationId xmlns:a16="http://schemas.microsoft.com/office/drawing/2014/main" id="{25AFE488-787A-5E3E-B934-2615876747BF}"/>
              </a:ext>
            </a:extLst>
          </p:cNvPr>
          <p:cNvSpPr>
            <a:spLocks noGrp="1"/>
          </p:cNvSpPr>
          <p:nvPr>
            <p:ph idx="1"/>
          </p:nvPr>
        </p:nvSpPr>
        <p:spPr>
          <a:xfrm>
            <a:off x="529389" y="1588167"/>
            <a:ext cx="11246975" cy="5082035"/>
          </a:xfrm>
        </p:spPr>
        <p:txBody>
          <a:bodyPr>
            <a:normAutofit/>
          </a:bodyPr>
          <a:lstStyle/>
          <a:p>
            <a:pPr algn="l"/>
            <a:r>
              <a:rPr lang="en-US" b="0" i="0" u="none" strike="noStrike" baseline="0" dirty="0">
                <a:latin typeface="Times New Roman" panose="02020603050405020304" pitchFamily="18" charset="0"/>
              </a:rPr>
              <a:t>The number of NEW cases occurring in a defined population during a specified period of time.</a:t>
            </a:r>
          </a:p>
          <a:p>
            <a:pPr algn="l"/>
            <a:r>
              <a:rPr lang="en-US" b="0" i="0" u="none" strike="noStrike" baseline="0" dirty="0">
                <a:latin typeface="Times New Roman" panose="02020603050405020304" pitchFamily="18" charset="0"/>
              </a:rPr>
              <a:t>Refers to:</a:t>
            </a:r>
          </a:p>
          <a:p>
            <a:pPr lvl="1"/>
            <a:r>
              <a:rPr lang="en-US" sz="1800" b="0" i="0" u="none" strike="noStrike" baseline="0" dirty="0">
                <a:latin typeface="Times New Roman" panose="02020603050405020304" pitchFamily="18" charset="0"/>
              </a:rPr>
              <a:t>a. only to new cases</a:t>
            </a:r>
          </a:p>
          <a:p>
            <a:pPr lvl="1"/>
            <a:r>
              <a:rPr lang="en-US" sz="1800" b="0" i="0" u="none" strike="noStrike" baseline="0" dirty="0">
                <a:latin typeface="Times New Roman" panose="02020603050405020304" pitchFamily="18" charset="0"/>
              </a:rPr>
              <a:t>b. during a given period (usually one year)</a:t>
            </a:r>
          </a:p>
          <a:p>
            <a:pPr lvl="1"/>
            <a:r>
              <a:rPr lang="en-US" sz="1800" b="0" i="0" u="none" strike="noStrike" baseline="0" dirty="0">
                <a:latin typeface="Times New Roman" panose="02020603050405020304" pitchFamily="18" charset="0"/>
              </a:rPr>
              <a:t>c. in a specified population or “population at risk”, unless other denominators are chosen.</a:t>
            </a:r>
          </a:p>
          <a:p>
            <a:pPr lvl="1"/>
            <a:r>
              <a:rPr lang="en-US" sz="1800" b="0" i="0" u="none" strike="noStrike" baseline="0" dirty="0">
                <a:latin typeface="Times New Roman" panose="02020603050405020304" pitchFamily="18" charset="0"/>
              </a:rPr>
              <a:t>d. it can also refer to new spells or episodes of disease arising in a given period of time, per 1000 population. For example, a person may suffer from common cold more than once a year. If he had suffered twice, he would contribute 2 spells of sickness in that year</a:t>
            </a:r>
          </a:p>
          <a:p>
            <a:pPr algn="l"/>
            <a:endParaRPr lang="en-US" b="0" i="0" u="none" strike="noStrike" baseline="0" dirty="0">
              <a:latin typeface="Times New Roman" panose="02020603050405020304" pitchFamily="18" charset="0"/>
            </a:endParaRPr>
          </a:p>
          <a:p>
            <a:pPr algn="l"/>
            <a:r>
              <a:rPr lang="en-US" b="0" i="0" u="none" strike="noStrike" baseline="0" dirty="0">
                <a:latin typeface="Times New Roman" panose="02020603050405020304" pitchFamily="18" charset="0"/>
              </a:rPr>
              <a:t>It is not influenced by the duration of the disease. The use of incidence is generally restricted to acute conditions.</a:t>
            </a:r>
            <a:endParaRPr lang="en-US" sz="3200" dirty="0">
              <a:latin typeface="Times New Roman" panose="02020603050405020304" pitchFamily="18" charset="0"/>
            </a:endParaRPr>
          </a:p>
          <a:p>
            <a:endParaRPr lang="en-US" sz="3200" dirty="0"/>
          </a:p>
        </p:txBody>
      </p:sp>
      <p:pic>
        <p:nvPicPr>
          <p:cNvPr id="5" name="Picture 4">
            <a:extLst>
              <a:ext uri="{FF2B5EF4-FFF2-40B4-BE49-F238E27FC236}">
                <a16:creationId xmlns:a16="http://schemas.microsoft.com/office/drawing/2014/main" id="{22271877-D071-699B-55E2-C433EA0F728A}"/>
              </a:ext>
            </a:extLst>
          </p:cNvPr>
          <p:cNvPicPr>
            <a:picLocks noChangeAspect="1"/>
          </p:cNvPicPr>
          <p:nvPr/>
        </p:nvPicPr>
        <p:blipFill>
          <a:blip r:embed="rId2"/>
          <a:stretch>
            <a:fillRect/>
          </a:stretch>
        </p:blipFill>
        <p:spPr>
          <a:xfrm>
            <a:off x="4516794" y="187797"/>
            <a:ext cx="7621064" cy="1400370"/>
          </a:xfrm>
          <a:prstGeom prst="rect">
            <a:avLst/>
          </a:prstGeom>
        </p:spPr>
      </p:pic>
      <p:pic>
        <p:nvPicPr>
          <p:cNvPr id="8" name="Picture 7">
            <a:extLst>
              <a:ext uri="{FF2B5EF4-FFF2-40B4-BE49-F238E27FC236}">
                <a16:creationId xmlns:a16="http://schemas.microsoft.com/office/drawing/2014/main" id="{203ADBA0-E69C-FF37-363F-C9A893EE5B5E}"/>
              </a:ext>
            </a:extLst>
          </p:cNvPr>
          <p:cNvPicPr>
            <a:picLocks noChangeAspect="1"/>
          </p:cNvPicPr>
          <p:nvPr/>
        </p:nvPicPr>
        <p:blipFill rotWithShape="1">
          <a:blip r:embed="rId3"/>
          <a:srcRect b="6883"/>
          <a:stretch/>
        </p:blipFill>
        <p:spPr>
          <a:xfrm>
            <a:off x="5748173" y="4496251"/>
            <a:ext cx="3931536" cy="845197"/>
          </a:xfrm>
          <a:prstGeom prst="rect">
            <a:avLst/>
          </a:prstGeom>
        </p:spPr>
      </p:pic>
      <p:sp>
        <p:nvSpPr>
          <p:cNvPr id="9" name="Date Placeholder 8">
            <a:extLst>
              <a:ext uri="{FF2B5EF4-FFF2-40B4-BE49-F238E27FC236}">
                <a16:creationId xmlns:a16="http://schemas.microsoft.com/office/drawing/2014/main" id="{41A900A1-6F7E-630E-C8A0-66FF43A65696}"/>
              </a:ext>
            </a:extLst>
          </p:cNvPr>
          <p:cNvSpPr>
            <a:spLocks noGrp="1"/>
          </p:cNvSpPr>
          <p:nvPr>
            <p:ph type="dt" sz="half" idx="10"/>
          </p:nvPr>
        </p:nvSpPr>
        <p:spPr/>
        <p:txBody>
          <a:bodyPr/>
          <a:lstStyle/>
          <a:p>
            <a:fld id="{E9AC3C8E-B12B-494C-8BE7-3A134FD201A1}" type="datetime1">
              <a:rPr lang="en-US" smtClean="0"/>
              <a:t>4/8/2024</a:t>
            </a:fld>
            <a:endParaRPr lang="en-US" dirty="0"/>
          </a:p>
        </p:txBody>
      </p:sp>
      <p:sp>
        <p:nvSpPr>
          <p:cNvPr id="10" name="Slide Number Placeholder 9">
            <a:extLst>
              <a:ext uri="{FF2B5EF4-FFF2-40B4-BE49-F238E27FC236}">
                <a16:creationId xmlns:a16="http://schemas.microsoft.com/office/drawing/2014/main" id="{0E4100AA-EB52-D913-2EA0-52B1F4DA6162}"/>
              </a:ext>
            </a:extLst>
          </p:cNvPr>
          <p:cNvSpPr>
            <a:spLocks noGrp="1"/>
          </p:cNvSpPr>
          <p:nvPr>
            <p:ph type="sldNum" sz="quarter" idx="12"/>
          </p:nvPr>
        </p:nvSpPr>
        <p:spPr/>
        <p:txBody>
          <a:bodyPr/>
          <a:lstStyle/>
          <a:p>
            <a:fld id="{312CC964-A50B-4C29-B4E4-2C30BB34CCF3}" type="slidenum">
              <a:rPr lang="en-US" smtClean="0"/>
              <a:t>12</a:t>
            </a:fld>
            <a:endParaRPr lang="en-US"/>
          </a:p>
        </p:txBody>
      </p:sp>
    </p:spTree>
    <p:extLst>
      <p:ext uri="{BB962C8B-B14F-4D97-AF65-F5344CB8AC3E}">
        <p14:creationId xmlns:p14="http://schemas.microsoft.com/office/powerpoint/2010/main" val="2515250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428B2-7232-806D-46C8-565700CBA67E}"/>
              </a:ext>
            </a:extLst>
          </p:cNvPr>
          <p:cNvSpPr>
            <a:spLocks noGrp="1"/>
          </p:cNvSpPr>
          <p:nvPr>
            <p:ph type="title"/>
          </p:nvPr>
        </p:nvSpPr>
        <p:spPr/>
        <p:txBody>
          <a:bodyPr/>
          <a:lstStyle/>
          <a:p>
            <a:r>
              <a:rPr lang="en-US" dirty="0"/>
              <a:t>Special incidence rate</a:t>
            </a:r>
          </a:p>
        </p:txBody>
      </p:sp>
      <p:sp>
        <p:nvSpPr>
          <p:cNvPr id="3" name="Content Placeholder 2">
            <a:extLst>
              <a:ext uri="{FF2B5EF4-FFF2-40B4-BE49-F238E27FC236}">
                <a16:creationId xmlns:a16="http://schemas.microsoft.com/office/drawing/2014/main" id="{E98039C6-B4B6-FE94-A752-BCC02BEBEA4E}"/>
              </a:ext>
            </a:extLst>
          </p:cNvPr>
          <p:cNvSpPr>
            <a:spLocks noGrp="1"/>
          </p:cNvSpPr>
          <p:nvPr>
            <p:ph idx="1"/>
          </p:nvPr>
        </p:nvSpPr>
        <p:spPr>
          <a:xfrm>
            <a:off x="1143000" y="1476153"/>
            <a:ext cx="9906000" cy="4848446"/>
          </a:xfrm>
        </p:spPr>
        <p:txBody>
          <a:bodyPr>
            <a:normAutofit/>
          </a:bodyPr>
          <a:lstStyle/>
          <a:p>
            <a:r>
              <a:rPr lang="en-US" sz="3600" dirty="0"/>
              <a:t>Attack rate</a:t>
            </a:r>
          </a:p>
          <a:p>
            <a:pPr lvl="1"/>
            <a:r>
              <a:rPr lang="en-US" b="0" i="0" u="none" strike="noStrike" baseline="0" dirty="0">
                <a:latin typeface="Times New Roman" panose="02020603050405020304" pitchFamily="18" charset="0"/>
              </a:rPr>
              <a:t>An attack rate is an incidence rate (usually expressed as a per cent), used only when the population is exposed to risk for a limited period of time such as during an epidemic. It relates the number of cases in the population at risk and reflects the extent of the epidemic.</a:t>
            </a:r>
          </a:p>
          <a:p>
            <a:pPr algn="l"/>
            <a:endParaRPr lang="en-US" sz="3600" dirty="0"/>
          </a:p>
          <a:p>
            <a:pPr algn="l"/>
            <a:endParaRPr lang="en-US" sz="3600" dirty="0"/>
          </a:p>
          <a:p>
            <a:pPr algn="l"/>
            <a:r>
              <a:rPr lang="en-US" sz="3600" dirty="0"/>
              <a:t>Secondary attack rate</a:t>
            </a:r>
          </a:p>
          <a:p>
            <a:pPr lvl="1"/>
            <a:r>
              <a:rPr lang="en-US" b="0" i="0" u="none" strike="noStrike" baseline="0" dirty="0">
                <a:latin typeface="Times New Roman" panose="02020603050405020304" pitchFamily="18" charset="0"/>
              </a:rPr>
              <a:t>It is defined as the number of exposed persons developing the disease within the range of the incubation period following exposure to a primary case,</a:t>
            </a:r>
            <a:endParaRPr lang="en-US" sz="3200" dirty="0"/>
          </a:p>
        </p:txBody>
      </p:sp>
      <p:pic>
        <p:nvPicPr>
          <p:cNvPr id="5" name="Picture 4">
            <a:extLst>
              <a:ext uri="{FF2B5EF4-FFF2-40B4-BE49-F238E27FC236}">
                <a16:creationId xmlns:a16="http://schemas.microsoft.com/office/drawing/2014/main" id="{3D6A33D2-B349-3C0D-F2BD-85F654A6EBE6}"/>
              </a:ext>
            </a:extLst>
          </p:cNvPr>
          <p:cNvPicPr>
            <a:picLocks noChangeAspect="1"/>
          </p:cNvPicPr>
          <p:nvPr/>
        </p:nvPicPr>
        <p:blipFill>
          <a:blip r:embed="rId2"/>
          <a:stretch>
            <a:fillRect/>
          </a:stretch>
        </p:blipFill>
        <p:spPr>
          <a:xfrm>
            <a:off x="4202724" y="3192540"/>
            <a:ext cx="6846276" cy="1749904"/>
          </a:xfrm>
          <a:prstGeom prst="rect">
            <a:avLst/>
          </a:prstGeom>
        </p:spPr>
      </p:pic>
      <p:sp>
        <p:nvSpPr>
          <p:cNvPr id="6" name="Date Placeholder 5">
            <a:extLst>
              <a:ext uri="{FF2B5EF4-FFF2-40B4-BE49-F238E27FC236}">
                <a16:creationId xmlns:a16="http://schemas.microsoft.com/office/drawing/2014/main" id="{884E6BED-69DD-9B36-39CE-DBFF7868537A}"/>
              </a:ext>
            </a:extLst>
          </p:cNvPr>
          <p:cNvSpPr>
            <a:spLocks noGrp="1"/>
          </p:cNvSpPr>
          <p:nvPr>
            <p:ph type="dt" sz="half" idx="10"/>
          </p:nvPr>
        </p:nvSpPr>
        <p:spPr/>
        <p:txBody>
          <a:bodyPr/>
          <a:lstStyle/>
          <a:p>
            <a:fld id="{D799EDAD-BF57-47E0-B716-2D00C97E580F}" type="datetime1">
              <a:rPr lang="en-US" smtClean="0"/>
              <a:t>4/8/2024</a:t>
            </a:fld>
            <a:endParaRPr lang="en-US" dirty="0"/>
          </a:p>
        </p:txBody>
      </p:sp>
      <p:sp>
        <p:nvSpPr>
          <p:cNvPr id="7" name="Slide Number Placeholder 6">
            <a:extLst>
              <a:ext uri="{FF2B5EF4-FFF2-40B4-BE49-F238E27FC236}">
                <a16:creationId xmlns:a16="http://schemas.microsoft.com/office/drawing/2014/main" id="{41157C38-C222-B36C-C651-06351DEBB997}"/>
              </a:ext>
            </a:extLst>
          </p:cNvPr>
          <p:cNvSpPr>
            <a:spLocks noGrp="1"/>
          </p:cNvSpPr>
          <p:nvPr>
            <p:ph type="sldNum" sz="quarter" idx="12"/>
          </p:nvPr>
        </p:nvSpPr>
        <p:spPr/>
        <p:txBody>
          <a:bodyPr/>
          <a:lstStyle/>
          <a:p>
            <a:fld id="{312CC964-A50B-4C29-B4E4-2C30BB34CCF3}" type="slidenum">
              <a:rPr lang="en-US" smtClean="0"/>
              <a:t>13</a:t>
            </a:fld>
            <a:endParaRPr lang="en-US"/>
          </a:p>
        </p:txBody>
      </p:sp>
    </p:spTree>
    <p:extLst>
      <p:ext uri="{BB962C8B-B14F-4D97-AF65-F5344CB8AC3E}">
        <p14:creationId xmlns:p14="http://schemas.microsoft.com/office/powerpoint/2010/main" val="745773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7EE13-A5FD-AC5C-E6F1-127BE882E372}"/>
              </a:ext>
            </a:extLst>
          </p:cNvPr>
          <p:cNvSpPr>
            <a:spLocks noGrp="1"/>
          </p:cNvSpPr>
          <p:nvPr>
            <p:ph type="title"/>
          </p:nvPr>
        </p:nvSpPr>
        <p:spPr>
          <a:xfrm>
            <a:off x="1143000" y="0"/>
            <a:ext cx="9906000" cy="1382156"/>
          </a:xfrm>
        </p:spPr>
        <p:txBody>
          <a:bodyPr/>
          <a:lstStyle/>
          <a:p>
            <a:r>
              <a:rPr lang="en-US" dirty="0"/>
              <a:t>prevalence</a:t>
            </a:r>
          </a:p>
        </p:txBody>
      </p:sp>
      <p:sp>
        <p:nvSpPr>
          <p:cNvPr id="3" name="Content Placeholder 2">
            <a:extLst>
              <a:ext uri="{FF2B5EF4-FFF2-40B4-BE49-F238E27FC236}">
                <a16:creationId xmlns:a16="http://schemas.microsoft.com/office/drawing/2014/main" id="{E3F2258D-FAD6-1B40-C6AC-9B0A3FC9761C}"/>
              </a:ext>
            </a:extLst>
          </p:cNvPr>
          <p:cNvSpPr>
            <a:spLocks noGrp="1"/>
          </p:cNvSpPr>
          <p:nvPr>
            <p:ph idx="1"/>
          </p:nvPr>
        </p:nvSpPr>
        <p:spPr>
          <a:xfrm>
            <a:off x="696114" y="1416788"/>
            <a:ext cx="9906000" cy="4024424"/>
          </a:xfrm>
        </p:spPr>
        <p:txBody>
          <a:bodyPr>
            <a:normAutofit fontScale="92500" lnSpcReduction="20000"/>
          </a:bodyPr>
          <a:lstStyle/>
          <a:p>
            <a:pPr algn="l"/>
            <a:r>
              <a:rPr lang="en-US" b="0" i="0" u="none" strike="noStrike" baseline="0" dirty="0">
                <a:latin typeface="Times New Roman" panose="02020603050405020304" pitchFamily="18" charset="0"/>
              </a:rPr>
              <a:t>Refers specifically to all current cases (old and new) existing at a given point in time, or over a period of time in a given population. </a:t>
            </a:r>
          </a:p>
          <a:p>
            <a:pPr algn="l"/>
            <a:r>
              <a:rPr lang="en-US" b="0" i="0" u="none" strike="noStrike" baseline="0" dirty="0">
                <a:latin typeface="Times New Roman" panose="02020603050405020304" pitchFamily="18" charset="0"/>
              </a:rPr>
              <a:t>“The total number of all individuals who have an attribute or disease at a particular time (or during a particular period) divided by the population at risk of having the attribute or disease at this point in time or midway through the period</a:t>
            </a:r>
            <a:r>
              <a:rPr lang="en-US" b="0" i="1" u="none" strike="noStrike" baseline="0" dirty="0">
                <a:latin typeface="Times New Roman" panose="02020603050405020304" pitchFamily="18" charset="0"/>
              </a:rPr>
              <a:t>”. </a:t>
            </a:r>
          </a:p>
          <a:p>
            <a:pPr algn="l"/>
            <a:r>
              <a:rPr lang="en-US" b="0" i="0" u="none" strike="noStrike" baseline="0" dirty="0">
                <a:latin typeface="Times New Roman" panose="02020603050405020304" pitchFamily="18" charset="0"/>
              </a:rPr>
              <a:t>Although referred to as a rate, prevalence rate is really a ratio.</a:t>
            </a:r>
          </a:p>
          <a:p>
            <a:pPr algn="l"/>
            <a:r>
              <a:rPr lang="en-US" dirty="0">
                <a:latin typeface="Times New Roman" panose="02020603050405020304" pitchFamily="18" charset="0"/>
              </a:rPr>
              <a:t>Types – Point Prevalence</a:t>
            </a:r>
          </a:p>
          <a:p>
            <a:pPr lvl="1"/>
            <a:r>
              <a:rPr lang="en-US" sz="1800" b="0" i="0" u="none" strike="noStrike" baseline="0" dirty="0">
                <a:latin typeface="Times New Roman" panose="02020603050405020304" pitchFamily="18" charset="0"/>
              </a:rPr>
              <a:t>Point prevalence of a disease is defined as the number of all current cases (old and new) of a disease at one point of time, in relation to a defined population. The point in Point prevalence, may for all practical purposes consist of a day, several days, or even a few weeks, depending upon the time it takes to examine the population sample</a:t>
            </a:r>
          </a:p>
          <a:p>
            <a:pPr lvl="1"/>
            <a:r>
              <a:rPr lang="en-US" sz="1800" b="0" i="0" u="none" strike="noStrike" baseline="0" dirty="0">
                <a:latin typeface="Times New Roman" panose="02020603050405020304" pitchFamily="18" charset="0"/>
              </a:rPr>
              <a:t>When the term “prevalence rate” is used, without any further qualification, it is taken to mean “point prevalence”</a:t>
            </a:r>
            <a:r>
              <a:rPr lang="en-US" sz="1800" b="0" i="1" u="none" strike="noStrike" baseline="0" dirty="0">
                <a:latin typeface="Times New Roman" panose="02020603050405020304" pitchFamily="18" charset="0"/>
              </a:rPr>
              <a:t>. </a:t>
            </a:r>
            <a:endParaRPr lang="en-US" sz="2800" dirty="0"/>
          </a:p>
        </p:txBody>
      </p:sp>
      <p:pic>
        <p:nvPicPr>
          <p:cNvPr id="5" name="Picture 4">
            <a:extLst>
              <a:ext uri="{FF2B5EF4-FFF2-40B4-BE49-F238E27FC236}">
                <a16:creationId xmlns:a16="http://schemas.microsoft.com/office/drawing/2014/main" id="{4BDC9A24-F70C-86F1-A77A-131E823FCF51}"/>
              </a:ext>
            </a:extLst>
          </p:cNvPr>
          <p:cNvPicPr>
            <a:picLocks noChangeAspect="1"/>
          </p:cNvPicPr>
          <p:nvPr/>
        </p:nvPicPr>
        <p:blipFill>
          <a:blip r:embed="rId2"/>
          <a:stretch>
            <a:fillRect/>
          </a:stretch>
        </p:blipFill>
        <p:spPr>
          <a:xfrm>
            <a:off x="3271443" y="4960776"/>
            <a:ext cx="5649113" cy="1568361"/>
          </a:xfrm>
          <a:prstGeom prst="rect">
            <a:avLst/>
          </a:prstGeom>
        </p:spPr>
      </p:pic>
      <p:sp>
        <p:nvSpPr>
          <p:cNvPr id="6" name="Date Placeholder 5">
            <a:extLst>
              <a:ext uri="{FF2B5EF4-FFF2-40B4-BE49-F238E27FC236}">
                <a16:creationId xmlns:a16="http://schemas.microsoft.com/office/drawing/2014/main" id="{7777CD26-4333-C5AF-70FA-2E4DF74FE3B4}"/>
              </a:ext>
            </a:extLst>
          </p:cNvPr>
          <p:cNvSpPr>
            <a:spLocks noGrp="1"/>
          </p:cNvSpPr>
          <p:nvPr>
            <p:ph type="dt" sz="half" idx="10"/>
          </p:nvPr>
        </p:nvSpPr>
        <p:spPr/>
        <p:txBody>
          <a:bodyPr/>
          <a:lstStyle/>
          <a:p>
            <a:fld id="{58BBADF7-F1BD-4740-8C36-227AFEA8866A}" type="datetime1">
              <a:rPr lang="en-US" smtClean="0"/>
              <a:t>4/8/2024</a:t>
            </a:fld>
            <a:endParaRPr lang="en-US" dirty="0"/>
          </a:p>
        </p:txBody>
      </p:sp>
      <p:sp>
        <p:nvSpPr>
          <p:cNvPr id="7" name="Slide Number Placeholder 6">
            <a:extLst>
              <a:ext uri="{FF2B5EF4-FFF2-40B4-BE49-F238E27FC236}">
                <a16:creationId xmlns:a16="http://schemas.microsoft.com/office/drawing/2014/main" id="{CAEDB831-15AC-3B18-F0E6-06BA88A51808}"/>
              </a:ext>
            </a:extLst>
          </p:cNvPr>
          <p:cNvSpPr>
            <a:spLocks noGrp="1"/>
          </p:cNvSpPr>
          <p:nvPr>
            <p:ph type="sldNum" sz="quarter" idx="12"/>
          </p:nvPr>
        </p:nvSpPr>
        <p:spPr/>
        <p:txBody>
          <a:bodyPr/>
          <a:lstStyle/>
          <a:p>
            <a:fld id="{312CC964-A50B-4C29-B4E4-2C30BB34CCF3}" type="slidenum">
              <a:rPr lang="en-US" smtClean="0"/>
              <a:t>14</a:t>
            </a:fld>
            <a:endParaRPr lang="en-US"/>
          </a:p>
        </p:txBody>
      </p:sp>
    </p:spTree>
    <p:extLst>
      <p:ext uri="{BB962C8B-B14F-4D97-AF65-F5344CB8AC3E}">
        <p14:creationId xmlns:p14="http://schemas.microsoft.com/office/powerpoint/2010/main" val="985697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0725E-B4AB-8312-BB72-9D10384E7930}"/>
              </a:ext>
            </a:extLst>
          </p:cNvPr>
          <p:cNvSpPr>
            <a:spLocks noGrp="1"/>
          </p:cNvSpPr>
          <p:nvPr>
            <p:ph type="title"/>
          </p:nvPr>
        </p:nvSpPr>
        <p:spPr/>
        <p:txBody>
          <a:bodyPr/>
          <a:lstStyle/>
          <a:p>
            <a:r>
              <a:rPr lang="en-US" dirty="0"/>
              <a:t>Period prevalence</a:t>
            </a:r>
          </a:p>
        </p:txBody>
      </p:sp>
      <p:sp>
        <p:nvSpPr>
          <p:cNvPr id="3" name="Content Placeholder 2">
            <a:extLst>
              <a:ext uri="{FF2B5EF4-FFF2-40B4-BE49-F238E27FC236}">
                <a16:creationId xmlns:a16="http://schemas.microsoft.com/office/drawing/2014/main" id="{C030D40C-916D-9C51-3E43-5DDB6818BC17}"/>
              </a:ext>
            </a:extLst>
          </p:cNvPr>
          <p:cNvSpPr>
            <a:spLocks noGrp="1"/>
          </p:cNvSpPr>
          <p:nvPr>
            <p:ph idx="1"/>
          </p:nvPr>
        </p:nvSpPr>
        <p:spPr/>
        <p:txBody>
          <a:bodyPr>
            <a:normAutofit/>
          </a:bodyPr>
          <a:lstStyle/>
          <a:p>
            <a:pPr algn="l"/>
            <a:r>
              <a:rPr lang="en-US" sz="1800" b="0" i="0" u="none" strike="noStrike" baseline="0" dirty="0">
                <a:latin typeface="Times New Roman" panose="02020603050405020304" pitchFamily="18" charset="0"/>
              </a:rPr>
              <a:t>A less commonly used measure of prevalence is period prevalence. It measures the frequency of all current cases (old and new) existing during a defined period of time (e.g., annual prevalence) expressed in relation to a defined population. It includes cases arising before but extending into or through to the year as well as those cases arising during the year. </a:t>
            </a:r>
          </a:p>
          <a:p>
            <a:pPr algn="l"/>
            <a:endParaRPr lang="en-US" sz="1800" b="0" i="0" u="none" strike="noStrike" baseline="0" dirty="0">
              <a:latin typeface="Times New Roman" panose="02020603050405020304" pitchFamily="18" charset="0"/>
            </a:endParaRPr>
          </a:p>
        </p:txBody>
      </p:sp>
      <p:pic>
        <p:nvPicPr>
          <p:cNvPr id="5" name="Picture 4">
            <a:extLst>
              <a:ext uri="{FF2B5EF4-FFF2-40B4-BE49-F238E27FC236}">
                <a16:creationId xmlns:a16="http://schemas.microsoft.com/office/drawing/2014/main" id="{87A0D396-4B06-284B-7D13-9D88E4B3364F}"/>
              </a:ext>
            </a:extLst>
          </p:cNvPr>
          <p:cNvPicPr>
            <a:picLocks noChangeAspect="1"/>
          </p:cNvPicPr>
          <p:nvPr/>
        </p:nvPicPr>
        <p:blipFill>
          <a:blip r:embed="rId2"/>
          <a:stretch>
            <a:fillRect/>
          </a:stretch>
        </p:blipFill>
        <p:spPr>
          <a:xfrm>
            <a:off x="3668054" y="3240607"/>
            <a:ext cx="5744377" cy="1562318"/>
          </a:xfrm>
          <a:prstGeom prst="rect">
            <a:avLst/>
          </a:prstGeom>
        </p:spPr>
      </p:pic>
      <p:sp>
        <p:nvSpPr>
          <p:cNvPr id="6" name="Date Placeholder 5">
            <a:extLst>
              <a:ext uri="{FF2B5EF4-FFF2-40B4-BE49-F238E27FC236}">
                <a16:creationId xmlns:a16="http://schemas.microsoft.com/office/drawing/2014/main" id="{8D3A6FF7-A055-C301-C0F7-F61112CFE67C}"/>
              </a:ext>
            </a:extLst>
          </p:cNvPr>
          <p:cNvSpPr>
            <a:spLocks noGrp="1"/>
          </p:cNvSpPr>
          <p:nvPr>
            <p:ph type="dt" sz="half" idx="10"/>
          </p:nvPr>
        </p:nvSpPr>
        <p:spPr/>
        <p:txBody>
          <a:bodyPr/>
          <a:lstStyle/>
          <a:p>
            <a:fld id="{D2E99DBD-293F-4AC2-8528-C1F4E2ACE01F}" type="datetime1">
              <a:rPr lang="en-US" smtClean="0"/>
              <a:t>4/8/2024</a:t>
            </a:fld>
            <a:endParaRPr lang="en-US" dirty="0"/>
          </a:p>
        </p:txBody>
      </p:sp>
      <p:sp>
        <p:nvSpPr>
          <p:cNvPr id="7" name="Slide Number Placeholder 6">
            <a:extLst>
              <a:ext uri="{FF2B5EF4-FFF2-40B4-BE49-F238E27FC236}">
                <a16:creationId xmlns:a16="http://schemas.microsoft.com/office/drawing/2014/main" id="{F3A6742B-DED4-1E88-A9C2-7EED09FB344F}"/>
              </a:ext>
            </a:extLst>
          </p:cNvPr>
          <p:cNvSpPr>
            <a:spLocks noGrp="1"/>
          </p:cNvSpPr>
          <p:nvPr>
            <p:ph type="sldNum" sz="quarter" idx="12"/>
          </p:nvPr>
        </p:nvSpPr>
        <p:spPr/>
        <p:txBody>
          <a:bodyPr/>
          <a:lstStyle/>
          <a:p>
            <a:fld id="{312CC964-A50B-4C29-B4E4-2C30BB34CCF3}" type="slidenum">
              <a:rPr lang="en-US" smtClean="0"/>
              <a:t>15</a:t>
            </a:fld>
            <a:endParaRPr lang="en-US"/>
          </a:p>
        </p:txBody>
      </p:sp>
    </p:spTree>
    <p:extLst>
      <p:ext uri="{BB962C8B-B14F-4D97-AF65-F5344CB8AC3E}">
        <p14:creationId xmlns:p14="http://schemas.microsoft.com/office/powerpoint/2010/main" val="2285569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072" name="Straight Connector 2054">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74" name="Straight Connector 2056">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76" name="Straight Connector 2058">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78" name="Straight Connector 2060">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80" name="Straight Connector 2062">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82" name="Straight Connector 2064">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84" name="Straight Connector 2066">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086" name="Rectangle 2068">
            <a:extLst>
              <a:ext uri="{FF2B5EF4-FFF2-40B4-BE49-F238E27FC236}">
                <a16:creationId xmlns:a16="http://schemas.microsoft.com/office/drawing/2014/main" id="{2D23EF01-5C9E-4B1E-85FE-E230C5BC9C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Rectangle 2070">
            <a:extLst>
              <a:ext uri="{FF2B5EF4-FFF2-40B4-BE49-F238E27FC236}">
                <a16:creationId xmlns:a16="http://schemas.microsoft.com/office/drawing/2014/main" id="{BF8F92FE-E706-460E-95F3-8B49EF548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41CC840B-A6A4-7E37-FEBE-D5505B8B92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80" b="-2869"/>
          <a:stretch/>
        </p:blipFill>
        <p:spPr bwMode="auto">
          <a:xfrm>
            <a:off x="533401" y="533398"/>
            <a:ext cx="11125200" cy="5791201"/>
          </a:xfrm>
          <a:prstGeom prst="rect">
            <a:avLst/>
          </a:prstGeom>
          <a:noFill/>
          <a:extLst>
            <a:ext uri="{909E8E84-426E-40DD-AFC4-6F175D3DCCD1}">
              <a14:hiddenFill xmlns:a14="http://schemas.microsoft.com/office/drawing/2010/main">
                <a:solidFill>
                  <a:srgbClr val="FFFFFF"/>
                </a:solidFill>
              </a14:hiddenFill>
            </a:ext>
          </a:extLst>
        </p:spPr>
      </p:pic>
      <p:cxnSp>
        <p:nvCxnSpPr>
          <p:cNvPr id="2073" name="Straight Connector 2072">
            <a:extLst>
              <a:ext uri="{FF2B5EF4-FFF2-40B4-BE49-F238E27FC236}">
                <a16:creationId xmlns:a16="http://schemas.microsoft.com/office/drawing/2014/main" id="{4BBA8B30-585D-4596-A896-BF3FD1FB25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EFD94027-0273-4AF2-87C2-49EB6D6550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818708" cy="642738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94870472-9E8A-42D0-BDA3-B312F4C72A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2475298"/>
            <a:ext cx="903767" cy="438270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BD280D8D-93BB-4BD4-86DA-25993A4B52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1150" y="6033977"/>
            <a:ext cx="4860850" cy="8240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9FEC981-EB48-4A49-88DF-0A6DB2ECB0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602476" y="1392865"/>
            <a:ext cx="589524" cy="546513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FB91E5C6-85F3-4BA6-9D1E-794A781F62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1DBFF75F-844B-447A-A83D-D0B0D85175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5640572" y="0"/>
            <a:ext cx="6551428" cy="10047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9">
            <a:extLst>
              <a:ext uri="{FF2B5EF4-FFF2-40B4-BE49-F238E27FC236}">
                <a16:creationId xmlns:a16="http://schemas.microsoft.com/office/drawing/2014/main" id="{83CF0677-6A66-83DB-927D-7EB01B11EB08}"/>
              </a:ext>
            </a:extLst>
          </p:cNvPr>
          <p:cNvSpPr>
            <a:spLocks noGrp="1"/>
          </p:cNvSpPr>
          <p:nvPr>
            <p:ph type="dt" sz="half" idx="10"/>
          </p:nvPr>
        </p:nvSpPr>
        <p:spPr/>
        <p:txBody>
          <a:bodyPr/>
          <a:lstStyle/>
          <a:p>
            <a:fld id="{F4DA8F69-E4C7-4D30-B3F6-A632D32BCBD1}" type="datetime1">
              <a:rPr lang="en-US" smtClean="0"/>
              <a:t>4/8/2024</a:t>
            </a:fld>
            <a:endParaRPr lang="en-US" dirty="0"/>
          </a:p>
        </p:txBody>
      </p:sp>
      <p:sp>
        <p:nvSpPr>
          <p:cNvPr id="11" name="Slide Number Placeholder 10">
            <a:extLst>
              <a:ext uri="{FF2B5EF4-FFF2-40B4-BE49-F238E27FC236}">
                <a16:creationId xmlns:a16="http://schemas.microsoft.com/office/drawing/2014/main" id="{4C3191D0-FABA-7E09-F620-D39359BD1CD0}"/>
              </a:ext>
            </a:extLst>
          </p:cNvPr>
          <p:cNvSpPr>
            <a:spLocks noGrp="1"/>
          </p:cNvSpPr>
          <p:nvPr>
            <p:ph type="sldNum" sz="quarter" idx="12"/>
          </p:nvPr>
        </p:nvSpPr>
        <p:spPr/>
        <p:txBody>
          <a:bodyPr/>
          <a:lstStyle/>
          <a:p>
            <a:fld id="{312CC964-A50B-4C29-B4E4-2C30BB34CCF3}" type="slidenum">
              <a:rPr lang="en-US" smtClean="0"/>
              <a:t>16</a:t>
            </a:fld>
            <a:endParaRPr lang="en-US"/>
          </a:p>
        </p:txBody>
      </p:sp>
    </p:spTree>
    <p:extLst>
      <p:ext uri="{BB962C8B-B14F-4D97-AF65-F5344CB8AC3E}">
        <p14:creationId xmlns:p14="http://schemas.microsoft.com/office/powerpoint/2010/main" val="820938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10A34275-CD0A-499C-9600-C96742FAC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1852546B-EF97-46E8-A930-3A03341066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7587" y="2720800"/>
            <a:ext cx="3470809" cy="41326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2801F4A-0A74-45E0-8E5A-65A65252A3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40"/>
            <a:ext cx="1274412" cy="49672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245F29-ABE7-4BB1-8164-5F4C4604B2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5257800" y="0"/>
            <a:ext cx="6926614" cy="112236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A37D488-9503-B7FD-5416-9E4DD396A198}"/>
              </a:ext>
            </a:extLst>
          </p:cNvPr>
          <p:cNvSpPr>
            <a:spLocks noGrp="1"/>
          </p:cNvSpPr>
          <p:nvPr>
            <p:ph type="title"/>
          </p:nvPr>
        </p:nvSpPr>
        <p:spPr>
          <a:xfrm>
            <a:off x="8286014" y="1122363"/>
            <a:ext cx="3316463" cy="3025308"/>
          </a:xfrm>
        </p:spPr>
        <p:txBody>
          <a:bodyPr vert="horz" lIns="91440" tIns="45720" rIns="91440" bIns="45720" rtlCol="0" anchor="b">
            <a:normAutofit/>
          </a:bodyPr>
          <a:lstStyle/>
          <a:p>
            <a:pPr algn="r"/>
            <a:r>
              <a:rPr lang="en-US" dirty="0"/>
              <a:t>P = I * D (D = mean duration)</a:t>
            </a:r>
            <a:endParaRPr lang="en-US"/>
          </a:p>
        </p:txBody>
      </p:sp>
      <p:cxnSp>
        <p:nvCxnSpPr>
          <p:cNvPr id="31" name="Straight Connector 30">
            <a:extLst>
              <a:ext uri="{FF2B5EF4-FFF2-40B4-BE49-F238E27FC236}">
                <a16:creationId xmlns:a16="http://schemas.microsoft.com/office/drawing/2014/main" id="{CF00EEAF-0634-4EEB-81E5-9FBC2170F3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7102" y="6051582"/>
            <a:ext cx="4847312" cy="8064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E11676-332F-449D-9A03-6CE4ED25CC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225160" y="0"/>
            <a:ext cx="3541141"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Picture 2">
            <a:extLst>
              <a:ext uri="{FF2B5EF4-FFF2-40B4-BE49-F238E27FC236}">
                <a16:creationId xmlns:a16="http://schemas.microsoft.com/office/drawing/2014/main" id="{BB52E720-D369-3AEA-7CCF-E36001AE87D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32755" y="698126"/>
            <a:ext cx="7228091" cy="54572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AFD4B2-7C6D-382F-2FAC-351DA0248C0A}"/>
              </a:ext>
            </a:extLst>
          </p:cNvPr>
          <p:cNvSpPr txBox="1"/>
          <p:nvPr/>
        </p:nvSpPr>
        <p:spPr>
          <a:xfrm>
            <a:off x="4988968" y="5348916"/>
            <a:ext cx="5050943" cy="646331"/>
          </a:xfrm>
          <a:prstGeom prst="rect">
            <a:avLst/>
          </a:prstGeom>
          <a:solidFill>
            <a:schemeClr val="bg1"/>
          </a:solidFill>
        </p:spPr>
        <p:txBody>
          <a:bodyPr wrap="square" rtlCol="0">
            <a:spAutoFit/>
          </a:bodyPr>
          <a:lstStyle/>
          <a:p>
            <a:r>
              <a:rPr lang="en-US" sz="3600" dirty="0"/>
              <a:t>Mortality and Recover</a:t>
            </a:r>
          </a:p>
        </p:txBody>
      </p:sp>
      <p:sp>
        <p:nvSpPr>
          <p:cNvPr id="6" name="Date Placeholder 5">
            <a:extLst>
              <a:ext uri="{FF2B5EF4-FFF2-40B4-BE49-F238E27FC236}">
                <a16:creationId xmlns:a16="http://schemas.microsoft.com/office/drawing/2014/main" id="{8A5125AA-DC57-DA11-098E-07E160A3213B}"/>
              </a:ext>
            </a:extLst>
          </p:cNvPr>
          <p:cNvSpPr>
            <a:spLocks noGrp="1"/>
          </p:cNvSpPr>
          <p:nvPr>
            <p:ph type="dt" sz="half" idx="10"/>
          </p:nvPr>
        </p:nvSpPr>
        <p:spPr/>
        <p:txBody>
          <a:bodyPr/>
          <a:lstStyle/>
          <a:p>
            <a:fld id="{601E1F81-CC91-43F1-B7CE-F43DA650EEB7}" type="datetime1">
              <a:rPr lang="en-US" smtClean="0"/>
              <a:t>4/8/2024</a:t>
            </a:fld>
            <a:endParaRPr lang="en-US" dirty="0"/>
          </a:p>
        </p:txBody>
      </p:sp>
      <p:sp>
        <p:nvSpPr>
          <p:cNvPr id="7" name="Slide Number Placeholder 6">
            <a:extLst>
              <a:ext uri="{FF2B5EF4-FFF2-40B4-BE49-F238E27FC236}">
                <a16:creationId xmlns:a16="http://schemas.microsoft.com/office/drawing/2014/main" id="{9E32F08A-C4CE-15F2-E62D-8E1931752ECB}"/>
              </a:ext>
            </a:extLst>
          </p:cNvPr>
          <p:cNvSpPr>
            <a:spLocks noGrp="1"/>
          </p:cNvSpPr>
          <p:nvPr>
            <p:ph type="sldNum" sz="quarter" idx="12"/>
          </p:nvPr>
        </p:nvSpPr>
        <p:spPr/>
        <p:txBody>
          <a:bodyPr/>
          <a:lstStyle/>
          <a:p>
            <a:fld id="{312CC964-A50B-4C29-B4E4-2C30BB34CCF3}" type="slidenum">
              <a:rPr lang="en-US" smtClean="0"/>
              <a:t>17</a:t>
            </a:fld>
            <a:endParaRPr lang="en-US"/>
          </a:p>
        </p:txBody>
      </p:sp>
    </p:spTree>
    <p:extLst>
      <p:ext uri="{BB962C8B-B14F-4D97-AF65-F5344CB8AC3E}">
        <p14:creationId xmlns:p14="http://schemas.microsoft.com/office/powerpoint/2010/main" val="705320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paper&#10;&#10;Description automatically generated with low confidence">
            <a:extLst>
              <a:ext uri="{FF2B5EF4-FFF2-40B4-BE49-F238E27FC236}">
                <a16:creationId xmlns:a16="http://schemas.microsoft.com/office/drawing/2014/main" id="{AA495459-5DB8-294E-81E0-C704A05E0CE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Date Placeholder 5">
            <a:extLst>
              <a:ext uri="{FF2B5EF4-FFF2-40B4-BE49-F238E27FC236}">
                <a16:creationId xmlns:a16="http://schemas.microsoft.com/office/drawing/2014/main" id="{3FDB91A1-9349-2ACB-AE6E-1218D7271F94}"/>
              </a:ext>
            </a:extLst>
          </p:cNvPr>
          <p:cNvSpPr>
            <a:spLocks noGrp="1"/>
          </p:cNvSpPr>
          <p:nvPr>
            <p:ph type="dt" sz="half" idx="10"/>
          </p:nvPr>
        </p:nvSpPr>
        <p:spPr/>
        <p:txBody>
          <a:bodyPr/>
          <a:lstStyle/>
          <a:p>
            <a:fld id="{3947D21D-E209-4B49-BBB0-13BA3801B17A}" type="datetime1">
              <a:rPr lang="en-US" smtClean="0"/>
              <a:t>4/8/2024</a:t>
            </a:fld>
            <a:endParaRPr lang="en-US"/>
          </a:p>
        </p:txBody>
      </p:sp>
      <p:sp>
        <p:nvSpPr>
          <p:cNvPr id="7" name="Slide Number Placeholder 6">
            <a:extLst>
              <a:ext uri="{FF2B5EF4-FFF2-40B4-BE49-F238E27FC236}">
                <a16:creationId xmlns:a16="http://schemas.microsoft.com/office/drawing/2014/main" id="{0541AB29-42D2-C310-C5E7-3414688D2623}"/>
              </a:ext>
            </a:extLst>
          </p:cNvPr>
          <p:cNvSpPr>
            <a:spLocks noGrp="1"/>
          </p:cNvSpPr>
          <p:nvPr>
            <p:ph type="sldNum" sz="quarter" idx="12"/>
          </p:nvPr>
        </p:nvSpPr>
        <p:spPr/>
        <p:txBody>
          <a:bodyPr/>
          <a:lstStyle/>
          <a:p>
            <a:fld id="{312CC964-A50B-4C29-B4E4-2C30BB34CCF3}" type="slidenum">
              <a:rPr lang="en-US" smtClean="0"/>
              <a:t>18</a:t>
            </a:fld>
            <a:endParaRPr lang="en-US"/>
          </a:p>
        </p:txBody>
      </p:sp>
    </p:spTree>
    <p:extLst>
      <p:ext uri="{BB962C8B-B14F-4D97-AF65-F5344CB8AC3E}">
        <p14:creationId xmlns:p14="http://schemas.microsoft.com/office/powerpoint/2010/main" val="2933275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F2C5-8295-BB38-3495-82F29C682DFA}"/>
              </a:ext>
            </a:extLst>
          </p:cNvPr>
          <p:cNvSpPr>
            <a:spLocks noGrp="1"/>
          </p:cNvSpPr>
          <p:nvPr>
            <p:ph type="title"/>
          </p:nvPr>
        </p:nvSpPr>
        <p:spPr/>
        <p:txBody>
          <a:bodyPr/>
          <a:lstStyle/>
          <a:p>
            <a:r>
              <a:rPr lang="en-US" dirty="0"/>
              <a:t>Measures of disability</a:t>
            </a:r>
          </a:p>
        </p:txBody>
      </p:sp>
      <p:sp>
        <p:nvSpPr>
          <p:cNvPr id="3" name="Content Placeholder 2">
            <a:extLst>
              <a:ext uri="{FF2B5EF4-FFF2-40B4-BE49-F238E27FC236}">
                <a16:creationId xmlns:a16="http://schemas.microsoft.com/office/drawing/2014/main" id="{71E12D4B-2280-A627-0720-DD45CEA55E39}"/>
              </a:ext>
            </a:extLst>
          </p:cNvPr>
          <p:cNvSpPr>
            <a:spLocks noGrp="1"/>
          </p:cNvSpPr>
          <p:nvPr>
            <p:ph idx="1"/>
          </p:nvPr>
        </p:nvSpPr>
        <p:spPr/>
        <p:txBody>
          <a:bodyPr/>
          <a:lstStyle/>
          <a:p>
            <a:r>
              <a:rPr lang="en-US" dirty="0"/>
              <a:t>One factor</a:t>
            </a:r>
          </a:p>
          <a:p>
            <a:pPr lvl="1"/>
            <a:r>
              <a:rPr lang="en-US" dirty="0"/>
              <a:t>Percentage of population who are not able to undertake "activities of daily living“</a:t>
            </a:r>
          </a:p>
          <a:p>
            <a:pPr lvl="1"/>
            <a:r>
              <a:rPr lang="en-US" dirty="0"/>
              <a:t>Percentage of population who are economically blind, according to different age groups</a:t>
            </a:r>
          </a:p>
          <a:p>
            <a:pPr lvl="1"/>
            <a:r>
              <a:rPr lang="en-US" dirty="0"/>
              <a:t>Percentage of population who have hearing impairment, according to different age groups</a:t>
            </a:r>
          </a:p>
          <a:p>
            <a:pPr lvl="1"/>
            <a:r>
              <a:rPr lang="en-US" dirty="0"/>
              <a:t>Percentage of population who have orthopedic disabilities</a:t>
            </a:r>
          </a:p>
          <a:p>
            <a:pPr lvl="1"/>
            <a:r>
              <a:rPr lang="en-US" dirty="0"/>
              <a:t>Percentage of population who are disabled due to leprosy or paralytic poliomyelitis</a:t>
            </a:r>
          </a:p>
          <a:p>
            <a:r>
              <a:rPr lang="en-US" dirty="0"/>
              <a:t>Composite Indicator</a:t>
            </a:r>
          </a:p>
          <a:p>
            <a:pPr lvl="1"/>
            <a:r>
              <a:rPr lang="en-US" dirty="0"/>
              <a:t>DALY (Disability adjusted life years)</a:t>
            </a:r>
          </a:p>
          <a:p>
            <a:pPr lvl="1"/>
            <a:r>
              <a:rPr lang="en-US" dirty="0"/>
              <a:t>Combines the effect of mortality and morbidity in a single index</a:t>
            </a:r>
          </a:p>
        </p:txBody>
      </p:sp>
      <p:sp>
        <p:nvSpPr>
          <p:cNvPr id="4" name="Date Placeholder 3">
            <a:extLst>
              <a:ext uri="{FF2B5EF4-FFF2-40B4-BE49-F238E27FC236}">
                <a16:creationId xmlns:a16="http://schemas.microsoft.com/office/drawing/2014/main" id="{3345FE55-3567-A7BB-21BC-F8BA4E6C3D2C}"/>
              </a:ext>
            </a:extLst>
          </p:cNvPr>
          <p:cNvSpPr>
            <a:spLocks noGrp="1"/>
          </p:cNvSpPr>
          <p:nvPr>
            <p:ph type="dt" sz="half" idx="10"/>
          </p:nvPr>
        </p:nvSpPr>
        <p:spPr/>
        <p:txBody>
          <a:bodyPr/>
          <a:lstStyle/>
          <a:p>
            <a:fld id="{3A0D8CFB-59DB-48D1-BFAF-E15C72CD42EC}" type="datetime1">
              <a:rPr lang="en-US" smtClean="0"/>
              <a:t>4/8/2024</a:t>
            </a:fld>
            <a:endParaRPr lang="en-US" dirty="0"/>
          </a:p>
        </p:txBody>
      </p:sp>
      <p:sp>
        <p:nvSpPr>
          <p:cNvPr id="5" name="Slide Number Placeholder 4">
            <a:extLst>
              <a:ext uri="{FF2B5EF4-FFF2-40B4-BE49-F238E27FC236}">
                <a16:creationId xmlns:a16="http://schemas.microsoft.com/office/drawing/2014/main" id="{C2A4CAA5-92ED-414F-5F6A-AEDC6DA68CF1}"/>
              </a:ext>
            </a:extLst>
          </p:cNvPr>
          <p:cNvSpPr>
            <a:spLocks noGrp="1"/>
          </p:cNvSpPr>
          <p:nvPr>
            <p:ph type="sldNum" sz="quarter" idx="12"/>
          </p:nvPr>
        </p:nvSpPr>
        <p:spPr/>
        <p:txBody>
          <a:bodyPr/>
          <a:lstStyle/>
          <a:p>
            <a:fld id="{312CC964-A50B-4C29-B4E4-2C30BB34CCF3}" type="slidenum">
              <a:rPr lang="en-US" smtClean="0"/>
              <a:t>19</a:t>
            </a:fld>
            <a:endParaRPr lang="en-US"/>
          </a:p>
        </p:txBody>
      </p:sp>
    </p:spTree>
    <p:extLst>
      <p:ext uri="{BB962C8B-B14F-4D97-AF65-F5344CB8AC3E}">
        <p14:creationId xmlns:p14="http://schemas.microsoft.com/office/powerpoint/2010/main" val="2547263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402BC-8A22-0DF1-6944-C259BA259900}"/>
              </a:ext>
            </a:extLst>
          </p:cNvPr>
          <p:cNvSpPr>
            <a:spLocks noGrp="1"/>
          </p:cNvSpPr>
          <p:nvPr>
            <p:ph type="title"/>
          </p:nvPr>
        </p:nvSpPr>
        <p:spPr/>
        <p:txBody>
          <a:bodyPr/>
          <a:lstStyle/>
          <a:p>
            <a:r>
              <a:rPr lang="en-US" dirty="0"/>
              <a:t>DALY</a:t>
            </a:r>
          </a:p>
        </p:txBody>
      </p:sp>
      <p:sp>
        <p:nvSpPr>
          <p:cNvPr id="3" name="Content Placeholder 2">
            <a:extLst>
              <a:ext uri="{FF2B5EF4-FFF2-40B4-BE49-F238E27FC236}">
                <a16:creationId xmlns:a16="http://schemas.microsoft.com/office/drawing/2014/main" id="{304C663C-BA42-8464-3FBE-9E9281F895C7}"/>
              </a:ext>
            </a:extLst>
          </p:cNvPr>
          <p:cNvSpPr>
            <a:spLocks noGrp="1"/>
          </p:cNvSpPr>
          <p:nvPr>
            <p:ph idx="1"/>
          </p:nvPr>
        </p:nvSpPr>
        <p:spPr/>
        <p:txBody>
          <a:bodyPr/>
          <a:lstStyle/>
          <a:p>
            <a:r>
              <a:rPr lang="en-US" dirty="0"/>
              <a:t>One of the targets of SDG (Sustainable development goals) is to DALY as a worldwide indicator of disability.</a:t>
            </a:r>
          </a:p>
          <a:p>
            <a:r>
              <a:rPr lang="en-US" dirty="0"/>
              <a:t> DALY combines, in one measure, the time lived with disability and the time lost due to premature mortality. </a:t>
            </a:r>
          </a:p>
          <a:p>
            <a:r>
              <a:rPr lang="en-US" dirty="0"/>
              <a:t>Thus, DALY = "Years of Potential Life Lost" (YPLL) + "Years of Life Lost due to Disability"(YLD). </a:t>
            </a:r>
          </a:p>
          <a:p>
            <a:r>
              <a:rPr lang="en-US" dirty="0"/>
              <a:t>One DALY can be defined as "one lost year of’ healthy life, either due to premature death or living with disability due to diseases."</a:t>
            </a:r>
          </a:p>
        </p:txBody>
      </p:sp>
      <p:sp>
        <p:nvSpPr>
          <p:cNvPr id="4" name="Date Placeholder 3">
            <a:extLst>
              <a:ext uri="{FF2B5EF4-FFF2-40B4-BE49-F238E27FC236}">
                <a16:creationId xmlns:a16="http://schemas.microsoft.com/office/drawing/2014/main" id="{3C273F35-3C52-F27B-54B8-818F2335B9C7}"/>
              </a:ext>
            </a:extLst>
          </p:cNvPr>
          <p:cNvSpPr>
            <a:spLocks noGrp="1"/>
          </p:cNvSpPr>
          <p:nvPr>
            <p:ph type="dt" sz="half" idx="10"/>
          </p:nvPr>
        </p:nvSpPr>
        <p:spPr/>
        <p:txBody>
          <a:bodyPr/>
          <a:lstStyle/>
          <a:p>
            <a:fld id="{758129EC-7837-4BCD-B32C-B6E7B19B9C0F}" type="datetime1">
              <a:rPr lang="en-US" smtClean="0"/>
              <a:t>4/8/2024</a:t>
            </a:fld>
            <a:endParaRPr lang="en-US" dirty="0"/>
          </a:p>
        </p:txBody>
      </p:sp>
      <p:sp>
        <p:nvSpPr>
          <p:cNvPr id="5" name="Slide Number Placeholder 4">
            <a:extLst>
              <a:ext uri="{FF2B5EF4-FFF2-40B4-BE49-F238E27FC236}">
                <a16:creationId xmlns:a16="http://schemas.microsoft.com/office/drawing/2014/main" id="{924567AB-D74E-A34F-ED96-5C58C133CF38}"/>
              </a:ext>
            </a:extLst>
          </p:cNvPr>
          <p:cNvSpPr>
            <a:spLocks noGrp="1"/>
          </p:cNvSpPr>
          <p:nvPr>
            <p:ph type="sldNum" sz="quarter" idx="12"/>
          </p:nvPr>
        </p:nvSpPr>
        <p:spPr/>
        <p:txBody>
          <a:bodyPr/>
          <a:lstStyle/>
          <a:p>
            <a:fld id="{312CC964-A50B-4C29-B4E4-2C30BB34CCF3}" type="slidenum">
              <a:rPr lang="en-US" smtClean="0"/>
              <a:t>20</a:t>
            </a:fld>
            <a:endParaRPr lang="en-US"/>
          </a:p>
        </p:txBody>
      </p:sp>
    </p:spTree>
    <p:extLst>
      <p:ext uri="{BB962C8B-B14F-4D97-AF65-F5344CB8AC3E}">
        <p14:creationId xmlns:p14="http://schemas.microsoft.com/office/powerpoint/2010/main" val="922804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386E2-A255-0F3B-0D03-FAEA0AF159B5}"/>
              </a:ext>
            </a:extLst>
          </p:cNvPr>
          <p:cNvSpPr>
            <a:spLocks noGrp="1"/>
          </p:cNvSpPr>
          <p:nvPr>
            <p:ph type="title"/>
          </p:nvPr>
        </p:nvSpPr>
        <p:spPr/>
        <p:txBody>
          <a:bodyPr/>
          <a:lstStyle/>
          <a:p>
            <a:r>
              <a:rPr lang="en-US" dirty="0"/>
              <a:t>Other Indicators</a:t>
            </a:r>
          </a:p>
        </p:txBody>
      </p:sp>
      <p:sp>
        <p:nvSpPr>
          <p:cNvPr id="3" name="Content Placeholder 2">
            <a:extLst>
              <a:ext uri="{FF2B5EF4-FFF2-40B4-BE49-F238E27FC236}">
                <a16:creationId xmlns:a16="http://schemas.microsoft.com/office/drawing/2014/main" id="{A16CD34A-134F-4A56-4AC2-11BE211BA98E}"/>
              </a:ext>
            </a:extLst>
          </p:cNvPr>
          <p:cNvSpPr>
            <a:spLocks noGrp="1"/>
          </p:cNvSpPr>
          <p:nvPr>
            <p:ph idx="1"/>
          </p:nvPr>
        </p:nvSpPr>
        <p:spPr/>
        <p:txBody>
          <a:bodyPr/>
          <a:lstStyle/>
          <a:p>
            <a:r>
              <a:rPr lang="en-US" dirty="0"/>
              <a:t>Nutritional Indicator</a:t>
            </a:r>
          </a:p>
          <a:p>
            <a:r>
              <a:rPr lang="en-US" dirty="0"/>
              <a:t>Measures of fertility</a:t>
            </a:r>
          </a:p>
          <a:p>
            <a:r>
              <a:rPr lang="en-US" dirty="0"/>
              <a:t>Health services</a:t>
            </a:r>
          </a:p>
          <a:p>
            <a:r>
              <a:rPr lang="en-US" dirty="0"/>
              <a:t>Socio-economic</a:t>
            </a:r>
          </a:p>
          <a:p>
            <a:r>
              <a:rPr lang="en-US" dirty="0"/>
              <a:t>Summary measure of population health – PQLI, HDI</a:t>
            </a:r>
          </a:p>
          <a:p>
            <a:r>
              <a:rPr lang="en-US" dirty="0"/>
              <a:t>Health financing</a:t>
            </a:r>
          </a:p>
          <a:p>
            <a:r>
              <a:rPr lang="en-US" dirty="0"/>
              <a:t>Indicators of environmental health</a:t>
            </a:r>
          </a:p>
        </p:txBody>
      </p:sp>
      <p:sp>
        <p:nvSpPr>
          <p:cNvPr id="4" name="Date Placeholder 3">
            <a:extLst>
              <a:ext uri="{FF2B5EF4-FFF2-40B4-BE49-F238E27FC236}">
                <a16:creationId xmlns:a16="http://schemas.microsoft.com/office/drawing/2014/main" id="{DC6825C1-FE8D-6C76-D0D6-C7FD90A1663D}"/>
              </a:ext>
            </a:extLst>
          </p:cNvPr>
          <p:cNvSpPr>
            <a:spLocks noGrp="1"/>
          </p:cNvSpPr>
          <p:nvPr>
            <p:ph type="dt" sz="half" idx="10"/>
          </p:nvPr>
        </p:nvSpPr>
        <p:spPr/>
        <p:txBody>
          <a:bodyPr/>
          <a:lstStyle/>
          <a:p>
            <a:fld id="{E316AD7F-5FA8-451E-96AE-EEC0CA938C23}" type="datetime1">
              <a:rPr lang="en-US" smtClean="0"/>
              <a:t>4/8/2024</a:t>
            </a:fld>
            <a:endParaRPr lang="en-US" dirty="0"/>
          </a:p>
        </p:txBody>
      </p:sp>
      <p:sp>
        <p:nvSpPr>
          <p:cNvPr id="5" name="Slide Number Placeholder 4">
            <a:extLst>
              <a:ext uri="{FF2B5EF4-FFF2-40B4-BE49-F238E27FC236}">
                <a16:creationId xmlns:a16="http://schemas.microsoft.com/office/drawing/2014/main" id="{8399F5BB-FAA5-7FF3-6E10-C80A1750E5E2}"/>
              </a:ext>
            </a:extLst>
          </p:cNvPr>
          <p:cNvSpPr>
            <a:spLocks noGrp="1"/>
          </p:cNvSpPr>
          <p:nvPr>
            <p:ph type="sldNum" sz="quarter" idx="12"/>
          </p:nvPr>
        </p:nvSpPr>
        <p:spPr/>
        <p:txBody>
          <a:bodyPr/>
          <a:lstStyle/>
          <a:p>
            <a:fld id="{312CC964-A50B-4C29-B4E4-2C30BB34CCF3}" type="slidenum">
              <a:rPr lang="en-US" smtClean="0"/>
              <a:t>21</a:t>
            </a:fld>
            <a:endParaRPr lang="en-US"/>
          </a:p>
        </p:txBody>
      </p:sp>
    </p:spTree>
    <p:extLst>
      <p:ext uri="{BB962C8B-B14F-4D97-AF65-F5344CB8AC3E}">
        <p14:creationId xmlns:p14="http://schemas.microsoft.com/office/powerpoint/2010/main" val="330605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A picture containing diagram&#10;&#10;Description automatically generated">
            <a:extLst>
              <a:ext uri="{FF2B5EF4-FFF2-40B4-BE49-F238E27FC236}">
                <a16:creationId xmlns:a16="http://schemas.microsoft.com/office/drawing/2014/main" id="{DA7C38FD-9EAB-9A36-516D-F03682249D37}"/>
              </a:ext>
            </a:extLst>
          </p:cNvPr>
          <p:cNvPicPr>
            <a:picLocks noGrp="1" noChangeAspect="1"/>
          </p:cNvPicPr>
          <p:nvPr>
            <p:ph idx="1"/>
          </p:nvPr>
        </p:nvPicPr>
        <p:blipFill>
          <a:blip r:embed="rId2"/>
          <a:stretch>
            <a:fillRect/>
          </a:stretch>
        </p:blipFill>
        <p:spPr>
          <a:xfrm>
            <a:off x="868483" y="156011"/>
            <a:ext cx="10440656" cy="6560566"/>
          </a:xfrm>
        </p:spPr>
      </p:pic>
      <p:sp>
        <p:nvSpPr>
          <p:cNvPr id="4" name="Slide Number Placeholder 3">
            <a:extLst>
              <a:ext uri="{FF2B5EF4-FFF2-40B4-BE49-F238E27FC236}">
                <a16:creationId xmlns:a16="http://schemas.microsoft.com/office/drawing/2014/main" id="{9D07C6A4-7ACA-BE93-C549-C5EC7B410673}"/>
              </a:ext>
            </a:extLst>
          </p:cNvPr>
          <p:cNvSpPr>
            <a:spLocks noGrp="1"/>
          </p:cNvSpPr>
          <p:nvPr>
            <p:ph type="sldNum" sz="quarter" idx="12"/>
          </p:nvPr>
        </p:nvSpPr>
        <p:spPr/>
        <p:txBody>
          <a:bodyPr/>
          <a:lstStyle/>
          <a:p>
            <a:fld id="{73B850FF-6169-4056-8077-06FFA93A5366}" type="slidenum">
              <a:rPr lang="en-US" smtClean="0"/>
              <a:t>22</a:t>
            </a:fld>
            <a:endParaRPr lang="en-US"/>
          </a:p>
        </p:txBody>
      </p:sp>
    </p:spTree>
    <p:extLst>
      <p:ext uri="{BB962C8B-B14F-4D97-AF65-F5344CB8AC3E}">
        <p14:creationId xmlns:p14="http://schemas.microsoft.com/office/powerpoint/2010/main" val="3266731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9D2C-E360-1407-9827-D62F3CEDE6AA}"/>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rPr>
              <a:t>Descriptive study</a:t>
            </a:r>
          </a:p>
        </p:txBody>
      </p:sp>
      <p:sp>
        <p:nvSpPr>
          <p:cNvPr id="3" name="Content Placeholder 2">
            <a:extLst>
              <a:ext uri="{FF2B5EF4-FFF2-40B4-BE49-F238E27FC236}">
                <a16:creationId xmlns:a16="http://schemas.microsoft.com/office/drawing/2014/main" id="{2E3D5C1C-3A37-1C6B-0757-2BC53C229773}"/>
              </a:ext>
            </a:extLst>
          </p:cNvPr>
          <p:cNvSpPr>
            <a:spLocks noGrp="1"/>
          </p:cNvSpPr>
          <p:nvPr>
            <p:ph idx="1"/>
          </p:nvPr>
        </p:nvSpPr>
        <p:spPr>
          <a:xfrm>
            <a:off x="1442127" y="1399797"/>
            <a:ext cx="10240828" cy="4713290"/>
          </a:xfrm>
        </p:spPr>
        <p:txBody>
          <a:bodyPr anchor="ctr">
            <a:normAutofit/>
          </a:bodyPr>
          <a:lstStyle/>
          <a:p>
            <a:r>
              <a:rPr lang="en-US" sz="2400" dirty="0">
                <a:solidFill>
                  <a:srgbClr val="000000"/>
                </a:solidFill>
                <a:latin typeface="Times New Roman"/>
                <a:ea typeface="+mn-lt"/>
                <a:cs typeface="+mn-lt"/>
              </a:rPr>
              <a:t>Descriptive study is limited to a description of the occurrence of a disease in a population. </a:t>
            </a:r>
          </a:p>
          <a:p>
            <a:r>
              <a:rPr lang="en-US" sz="2400" dirty="0">
                <a:solidFill>
                  <a:srgbClr val="000000"/>
                </a:solidFill>
                <a:latin typeface="Times New Roman"/>
                <a:ea typeface="+mn-lt"/>
                <a:cs typeface="Times New Roman"/>
              </a:rPr>
              <a:t>It is essential to have a clear definition of a case of the disease being investigated and of an exposed person.</a:t>
            </a:r>
          </a:p>
          <a:p>
            <a:r>
              <a:rPr lang="en-US" sz="2400" dirty="0">
                <a:solidFill>
                  <a:srgbClr val="000000"/>
                </a:solidFill>
                <a:latin typeface="Times New Roman"/>
                <a:cs typeface="Times New Roman"/>
              </a:rPr>
              <a:t>First phase of an epidemiological investigation. </a:t>
            </a:r>
          </a:p>
          <a:p>
            <a:r>
              <a:rPr lang="en-US" sz="2400" dirty="0">
                <a:solidFill>
                  <a:srgbClr val="000000"/>
                </a:solidFill>
                <a:latin typeface="Times New Roman"/>
                <a:cs typeface="Times New Roman"/>
              </a:rPr>
              <a:t>These studies are concerned with observing the distribution of disease or health-related characteristics in human populations and identifying the characteristics with which the disease in question seems to be associated.</a:t>
            </a:r>
          </a:p>
          <a:p>
            <a:r>
              <a:rPr lang="en-US" sz="2400" dirty="0">
                <a:solidFill>
                  <a:srgbClr val="000000"/>
                </a:solidFill>
                <a:latin typeface="Times New Roman"/>
                <a:cs typeface="Times New Roman"/>
              </a:rPr>
              <a:t>When, Where and Who</a:t>
            </a:r>
          </a:p>
        </p:txBody>
      </p:sp>
      <p:sp>
        <p:nvSpPr>
          <p:cNvPr id="4" name="Slide Number Placeholder 3">
            <a:extLst>
              <a:ext uri="{FF2B5EF4-FFF2-40B4-BE49-F238E27FC236}">
                <a16:creationId xmlns:a16="http://schemas.microsoft.com/office/drawing/2014/main" id="{1E0FE60B-A576-503A-63EB-96D13270244F}"/>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23</a:t>
            </a:fld>
            <a:endParaRPr lang="en-US">
              <a:solidFill>
                <a:schemeClr val="tx1">
                  <a:alpha val="60000"/>
                </a:schemeClr>
              </a:solidFill>
            </a:endParaRPr>
          </a:p>
        </p:txBody>
      </p:sp>
    </p:spTree>
    <p:extLst>
      <p:ext uri="{BB962C8B-B14F-4D97-AF65-F5344CB8AC3E}">
        <p14:creationId xmlns:p14="http://schemas.microsoft.com/office/powerpoint/2010/main" val="1358429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rPr>
              <a:t>Steps</a:t>
            </a: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9987" y="1323597"/>
            <a:ext cx="9705991" cy="4916490"/>
          </a:xfrm>
        </p:spPr>
        <p:txBody>
          <a:bodyPr anchor="ctr">
            <a:normAutofit/>
          </a:bodyPr>
          <a:lstStyle/>
          <a:p>
            <a:r>
              <a:rPr lang="en-US" sz="2400" dirty="0">
                <a:solidFill>
                  <a:schemeClr val="tx2"/>
                </a:solidFill>
                <a:latin typeface="Times New Roman"/>
                <a:cs typeface="Times New Roman"/>
              </a:rPr>
              <a:t>1. Defining the population to be studied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2. Defining the disease under study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3. Describing the disease by </a:t>
            </a:r>
            <a:endParaRPr lang="en-US" sz="2400">
              <a:solidFill>
                <a:schemeClr val="tx2"/>
              </a:solidFill>
              <a:latin typeface="Times New Roman"/>
              <a:cs typeface="Times New Roman"/>
            </a:endParaRPr>
          </a:p>
          <a:p>
            <a:pPr lvl="1"/>
            <a:r>
              <a:rPr lang="en-US" dirty="0">
                <a:solidFill>
                  <a:schemeClr val="tx2"/>
                </a:solidFill>
                <a:latin typeface="Times New Roman"/>
                <a:cs typeface="Times New Roman"/>
              </a:rPr>
              <a:t>a. time </a:t>
            </a:r>
          </a:p>
          <a:p>
            <a:pPr lvl="1"/>
            <a:r>
              <a:rPr lang="en-US" dirty="0">
                <a:solidFill>
                  <a:schemeClr val="tx2"/>
                </a:solidFill>
                <a:latin typeface="Times New Roman"/>
                <a:cs typeface="Times New Roman"/>
              </a:rPr>
              <a:t>b. place </a:t>
            </a:r>
          </a:p>
          <a:p>
            <a:pPr lvl="1"/>
            <a:r>
              <a:rPr lang="en-US" dirty="0">
                <a:solidFill>
                  <a:schemeClr val="tx2"/>
                </a:solidFill>
                <a:latin typeface="Times New Roman"/>
                <a:cs typeface="Times New Roman"/>
              </a:rPr>
              <a:t>c. person </a:t>
            </a:r>
          </a:p>
          <a:p>
            <a:r>
              <a:rPr lang="en-US" sz="2400" dirty="0">
                <a:solidFill>
                  <a:schemeClr val="tx2"/>
                </a:solidFill>
                <a:latin typeface="Times New Roman"/>
                <a:cs typeface="Times New Roman"/>
              </a:rPr>
              <a:t>4. Measurement of disease </a:t>
            </a:r>
          </a:p>
          <a:p>
            <a:r>
              <a:rPr lang="en-US" sz="2400" dirty="0">
                <a:solidFill>
                  <a:schemeClr val="tx2"/>
                </a:solidFill>
                <a:latin typeface="Times New Roman"/>
                <a:cs typeface="Times New Roman"/>
              </a:rPr>
              <a:t>5. Comparing with known indices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6. Formulation of an </a:t>
            </a:r>
            <a:r>
              <a:rPr lang="en-US" sz="2400" dirty="0" err="1">
                <a:solidFill>
                  <a:schemeClr val="tx2"/>
                </a:solidFill>
                <a:latin typeface="Times New Roman"/>
                <a:cs typeface="Times New Roman"/>
              </a:rPr>
              <a:t>aetiological</a:t>
            </a:r>
            <a:r>
              <a:rPr lang="en-US" sz="2400" dirty="0">
                <a:solidFill>
                  <a:schemeClr val="tx2"/>
                </a:solidFill>
                <a:latin typeface="Times New Roman"/>
                <a:cs typeface="Times New Roman"/>
              </a:rPr>
              <a:t> hypothesis</a:t>
            </a:r>
            <a:endParaRPr lang="en-US" sz="240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24</a:t>
            </a:fld>
            <a:endParaRPr lang="en-US">
              <a:solidFill>
                <a:schemeClr val="tx1">
                  <a:alpha val="60000"/>
                </a:schemeClr>
              </a:solidFill>
            </a:endParaRPr>
          </a:p>
        </p:txBody>
      </p:sp>
    </p:spTree>
    <p:extLst>
      <p:ext uri="{BB962C8B-B14F-4D97-AF65-F5344CB8AC3E}">
        <p14:creationId xmlns:p14="http://schemas.microsoft.com/office/powerpoint/2010/main" val="1757916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Defining the population</a:t>
            </a:r>
            <a:endParaRPr lang="en-US" dirty="0">
              <a:solidFill>
                <a:schemeClr val="tx2"/>
              </a:solidFill>
              <a:cs typeface="Times New Roman"/>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9987" y="1323597"/>
            <a:ext cx="9705991" cy="4916490"/>
          </a:xfrm>
        </p:spPr>
        <p:txBody>
          <a:bodyPr anchor="ctr">
            <a:normAutofit/>
          </a:bodyPr>
          <a:lstStyle/>
          <a:p>
            <a:pPr>
              <a:lnSpc>
                <a:spcPct val="90000"/>
              </a:lnSpc>
            </a:pPr>
            <a:r>
              <a:rPr lang="en-US" sz="2400" dirty="0">
                <a:solidFill>
                  <a:schemeClr val="tx2"/>
                </a:solidFill>
                <a:latin typeface="Times New Roman"/>
                <a:ea typeface="+mn-lt"/>
                <a:cs typeface="Times New Roman"/>
              </a:rPr>
              <a:t>Descriptive studies are investigations of populations, not individuals. </a:t>
            </a:r>
            <a:endParaRPr lang="en-US" sz="2400">
              <a:solidFill>
                <a:schemeClr val="tx2"/>
              </a:solidFill>
              <a:latin typeface="Times New Roman"/>
              <a:ea typeface="+mn-lt"/>
              <a:cs typeface="Times New Roman"/>
            </a:endParaRPr>
          </a:p>
          <a:p>
            <a:pPr>
              <a:lnSpc>
                <a:spcPct val="90000"/>
              </a:lnSpc>
            </a:pPr>
            <a:r>
              <a:rPr lang="en-US" sz="2400" dirty="0">
                <a:solidFill>
                  <a:schemeClr val="tx2"/>
                </a:solidFill>
                <a:latin typeface="Times New Roman"/>
                <a:ea typeface="+mn-lt"/>
                <a:cs typeface="Times New Roman"/>
              </a:rPr>
              <a:t>Define the “population base” not only in terms of the total number, but also its composition in terms of age, sex, occupation, cultural characters and similar information needed for the study.</a:t>
            </a:r>
            <a:endParaRPr lang="en-US" sz="2400">
              <a:solidFill>
                <a:schemeClr val="tx2"/>
              </a:solidFill>
              <a:latin typeface="Times New Roman"/>
              <a:cs typeface="Times New Roman"/>
            </a:endParaRPr>
          </a:p>
          <a:p>
            <a:pPr>
              <a:lnSpc>
                <a:spcPct val="90000"/>
              </a:lnSpc>
            </a:pPr>
            <a:r>
              <a:rPr lang="en-US" sz="2400" dirty="0">
                <a:solidFill>
                  <a:schemeClr val="tx2"/>
                </a:solidFill>
                <a:latin typeface="Times New Roman"/>
                <a:ea typeface="+mn-lt"/>
                <a:cs typeface="Times New Roman"/>
              </a:rPr>
              <a:t>The “defined population” can be the whole population in a geographic area, or more often a representative sample taken from it. </a:t>
            </a:r>
            <a:endParaRPr lang="en-US" sz="2400">
              <a:solidFill>
                <a:schemeClr val="tx2"/>
              </a:solidFill>
              <a:latin typeface="Times New Roman"/>
              <a:ea typeface="+mn-lt"/>
              <a:cs typeface="Times New Roman"/>
            </a:endParaRPr>
          </a:p>
          <a:p>
            <a:pPr>
              <a:lnSpc>
                <a:spcPct val="90000"/>
              </a:lnSpc>
            </a:pPr>
            <a:r>
              <a:rPr lang="en-US" sz="2400" dirty="0">
                <a:solidFill>
                  <a:schemeClr val="tx2"/>
                </a:solidFill>
                <a:latin typeface="Times New Roman"/>
                <a:ea typeface="+mn-lt"/>
                <a:cs typeface="Times New Roman"/>
              </a:rPr>
              <a:t>The defined population can also be a specially selected group such as age and sex groups, occupational groups, hospital patients, school children, small communities as well as wider groupings - in fact, wherever a group of people can be fairly accurately counted.</a:t>
            </a:r>
            <a:endParaRPr lang="en-US" sz="240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25</a:t>
            </a:fld>
            <a:endParaRPr lang="en-US">
              <a:solidFill>
                <a:schemeClr val="tx1">
                  <a:alpha val="60000"/>
                </a:schemeClr>
              </a:solidFill>
            </a:endParaRPr>
          </a:p>
        </p:txBody>
      </p:sp>
    </p:spTree>
    <p:extLst>
      <p:ext uri="{BB962C8B-B14F-4D97-AF65-F5344CB8AC3E}">
        <p14:creationId xmlns:p14="http://schemas.microsoft.com/office/powerpoint/2010/main" val="1777485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Defining the population</a:t>
            </a:r>
            <a:endParaRPr lang="en-US" dirty="0">
              <a:solidFill>
                <a:schemeClr val="tx2"/>
              </a:solidFill>
              <a:cs typeface="Times New Roman"/>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365687" y="1196597"/>
            <a:ext cx="9820291" cy="5043490"/>
          </a:xfrm>
        </p:spPr>
        <p:txBody>
          <a:bodyPr anchor="ctr">
            <a:normAutofit/>
          </a:bodyPr>
          <a:lstStyle/>
          <a:p>
            <a:pPr>
              <a:lnSpc>
                <a:spcPct val="70000"/>
              </a:lnSpc>
            </a:pPr>
            <a:r>
              <a:rPr lang="en-US" sz="2400" dirty="0">
                <a:solidFill>
                  <a:schemeClr val="tx2"/>
                </a:solidFill>
                <a:latin typeface="Times New Roman"/>
                <a:ea typeface="+mn-lt"/>
                <a:cs typeface="Times New Roman"/>
              </a:rPr>
              <a:t>The defined population needs to be large enough so that age, sex and other specific rates are meaningful. </a:t>
            </a:r>
            <a:endParaRPr lang="en-US" dirty="0">
              <a:solidFill>
                <a:schemeClr val="tx2"/>
              </a:solidFill>
              <a:latin typeface="Avenir Next LT Pro"/>
              <a:ea typeface="+mn-lt"/>
              <a:cs typeface="Times New Roman"/>
            </a:endParaRPr>
          </a:p>
          <a:p>
            <a:pPr>
              <a:lnSpc>
                <a:spcPct val="70000"/>
              </a:lnSpc>
            </a:pPr>
            <a:r>
              <a:rPr lang="en-US" sz="2400" dirty="0">
                <a:solidFill>
                  <a:schemeClr val="tx2"/>
                </a:solidFill>
                <a:latin typeface="Times New Roman"/>
                <a:ea typeface="+mn-lt"/>
                <a:cs typeface="Times New Roman"/>
              </a:rPr>
              <a:t>The community chosen should be stable, without migration into or out of the area. </a:t>
            </a:r>
            <a:endParaRPr lang="en-US" sz="2400" dirty="0">
              <a:solidFill>
                <a:schemeClr val="tx2"/>
              </a:solidFill>
              <a:latin typeface="Times New Roman"/>
              <a:cs typeface="Times New Roman"/>
            </a:endParaRPr>
          </a:p>
          <a:p>
            <a:pPr>
              <a:lnSpc>
                <a:spcPct val="70000"/>
              </a:lnSpc>
            </a:pPr>
            <a:r>
              <a:rPr lang="en-US" sz="2400" dirty="0">
                <a:solidFill>
                  <a:schemeClr val="tx2"/>
                </a:solidFill>
                <a:latin typeface="Times New Roman"/>
                <a:ea typeface="+mn-lt"/>
                <a:cs typeface="Times New Roman"/>
              </a:rPr>
              <a:t>Community participation must be forthcoming.</a:t>
            </a:r>
            <a:endParaRPr lang="en-US">
              <a:solidFill>
                <a:schemeClr val="tx2"/>
              </a:solidFill>
            </a:endParaRPr>
          </a:p>
          <a:p>
            <a:pPr>
              <a:lnSpc>
                <a:spcPct val="70000"/>
              </a:lnSpc>
            </a:pPr>
            <a:r>
              <a:rPr lang="en-US" sz="2400" dirty="0">
                <a:solidFill>
                  <a:schemeClr val="tx2"/>
                </a:solidFill>
                <a:latin typeface="Times New Roman"/>
                <a:ea typeface="+mn-lt"/>
                <a:cs typeface="Times New Roman"/>
              </a:rPr>
              <a:t>Population should not be overtly different from other communities in the region. </a:t>
            </a:r>
            <a:endParaRPr lang="en-US">
              <a:solidFill>
                <a:schemeClr val="tx2"/>
              </a:solidFill>
              <a:latin typeface="Avenir Next LT Pro"/>
              <a:ea typeface="+mn-lt"/>
              <a:cs typeface="Times New Roman"/>
            </a:endParaRPr>
          </a:p>
          <a:p>
            <a:pPr>
              <a:lnSpc>
                <a:spcPct val="70000"/>
              </a:lnSpc>
            </a:pPr>
            <a:r>
              <a:rPr lang="en-US" sz="2400" dirty="0">
                <a:solidFill>
                  <a:schemeClr val="tx2"/>
                </a:solidFill>
                <a:latin typeface="Times New Roman"/>
                <a:ea typeface="+mn-lt"/>
                <a:cs typeface="Times New Roman"/>
              </a:rPr>
              <a:t>Health facility should be close enough to provide relatively easy access for patients requiring medical services. </a:t>
            </a:r>
            <a:endParaRPr lang="en-US" dirty="0">
              <a:solidFill>
                <a:schemeClr val="tx2"/>
              </a:solidFill>
              <a:latin typeface="Avenir Next LT Pro"/>
              <a:ea typeface="+mn-lt"/>
              <a:cs typeface="Times New Roman"/>
            </a:endParaRPr>
          </a:p>
          <a:p>
            <a:pPr>
              <a:lnSpc>
                <a:spcPct val="70000"/>
              </a:lnSpc>
            </a:pPr>
            <a:endParaRPr lang="en-US" sz="2400" dirty="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26</a:t>
            </a:fld>
            <a:endParaRPr lang="en-US">
              <a:solidFill>
                <a:schemeClr val="tx1">
                  <a:alpha val="60000"/>
                </a:schemeClr>
              </a:solidFill>
            </a:endParaRPr>
          </a:p>
        </p:txBody>
      </p:sp>
    </p:spTree>
    <p:extLst>
      <p:ext uri="{BB962C8B-B14F-4D97-AF65-F5344CB8AC3E}">
        <p14:creationId xmlns:p14="http://schemas.microsoft.com/office/powerpoint/2010/main" val="1071452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Defining the population</a:t>
            </a:r>
            <a:endParaRPr lang="en-US" dirty="0">
              <a:solidFill>
                <a:schemeClr val="tx2"/>
              </a:solidFill>
              <a:cs typeface="Times New Roman"/>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365687" y="1196597"/>
            <a:ext cx="9820291" cy="5043490"/>
          </a:xfrm>
        </p:spPr>
        <p:txBody>
          <a:bodyPr anchor="ctr">
            <a:normAutofit/>
          </a:bodyPr>
          <a:lstStyle/>
          <a:p>
            <a:pPr>
              <a:lnSpc>
                <a:spcPct val="70000"/>
              </a:lnSpc>
            </a:pPr>
            <a:r>
              <a:rPr lang="en-US" sz="2400" dirty="0">
                <a:solidFill>
                  <a:schemeClr val="tx2"/>
                </a:solidFill>
                <a:latin typeface="Times New Roman"/>
                <a:ea typeface="+mn-lt"/>
                <a:cs typeface="Times New Roman"/>
              </a:rPr>
              <a:t>The concept of ‘defined population’ (or population at risk) is crucial in epidemiological studies. It provides the denominator for calculating rates which are essential to measure the frequency of disease and study its distribution and determinants. </a:t>
            </a:r>
          </a:p>
          <a:p>
            <a:pPr>
              <a:lnSpc>
                <a:spcPct val="70000"/>
              </a:lnSpc>
            </a:pPr>
            <a:r>
              <a:rPr lang="en-US" sz="2400" dirty="0">
                <a:solidFill>
                  <a:schemeClr val="tx2"/>
                </a:solidFill>
                <a:latin typeface="Times New Roman"/>
                <a:ea typeface="+mn-lt"/>
                <a:cs typeface="Times New Roman"/>
              </a:rPr>
              <a:t>Epidemiologists therefore have been labelled as men in search of a denominator</a:t>
            </a:r>
            <a:endParaRPr lang="en-US" sz="240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27</a:t>
            </a:fld>
            <a:endParaRPr lang="en-US">
              <a:solidFill>
                <a:schemeClr val="tx1">
                  <a:alpha val="60000"/>
                </a:schemeClr>
              </a:solidFill>
            </a:endParaRPr>
          </a:p>
        </p:txBody>
      </p:sp>
    </p:spTree>
    <p:extLst>
      <p:ext uri="{BB962C8B-B14F-4D97-AF65-F5344CB8AC3E}">
        <p14:creationId xmlns:p14="http://schemas.microsoft.com/office/powerpoint/2010/main" val="942721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Defining the disease</a:t>
            </a:r>
            <a:endParaRPr lang="en-US" dirty="0">
              <a:solidFill>
                <a:schemeClr val="tx2"/>
              </a:solidFill>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9987" y="1323597"/>
            <a:ext cx="9705991" cy="4916490"/>
          </a:xfrm>
        </p:spPr>
        <p:txBody>
          <a:bodyPr anchor="ctr">
            <a:normAutofit/>
          </a:bodyPr>
          <a:lstStyle/>
          <a:p>
            <a:r>
              <a:rPr lang="en-US" sz="2400" dirty="0">
                <a:solidFill>
                  <a:schemeClr val="tx2"/>
                </a:solidFill>
                <a:latin typeface="Times New Roman"/>
                <a:cs typeface="Times New Roman"/>
              </a:rPr>
              <a:t>The clinician may not need a precise definition of disease (e.g., migraine) for immediate patient care. If the diagnosis is wrong, he can revise it subsequently.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Epidemiologist, whose main concern is to obtain an accurate estimate of disease in a population, needs a definition that is both precise and valid to enable him (or observers working in field conditions) to identify those who have the disease from those who do not. </a:t>
            </a:r>
            <a:endParaRPr lang="en-US" sz="2400">
              <a:solidFill>
                <a:schemeClr val="tx2"/>
              </a:solidFill>
              <a:latin typeface="Times New Roman"/>
              <a:cs typeface="Times New Roman"/>
            </a:endParaRPr>
          </a:p>
          <a:p>
            <a:r>
              <a:rPr lang="en-US" sz="2400" dirty="0">
                <a:solidFill>
                  <a:schemeClr val="tx2"/>
                </a:solidFill>
                <a:latin typeface="Times New Roman"/>
                <a:cs typeface="Times New Roman"/>
              </a:rPr>
              <a:t>The diagnostic methods for use in epidemiological studies must be acceptable to the population to be studied, and applicable to their use in large populations.</a:t>
            </a:r>
            <a:endParaRPr lang="en-US" sz="2400">
              <a:solidFill>
                <a:schemeClr val="tx2"/>
              </a:solidFill>
              <a:latin typeface="Times New Roman"/>
              <a:cs typeface="Times New Roman"/>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28</a:t>
            </a:fld>
            <a:endParaRPr lang="en-US">
              <a:solidFill>
                <a:schemeClr val="tx1">
                  <a:alpha val="60000"/>
                </a:schemeClr>
              </a:solidFill>
            </a:endParaRPr>
          </a:p>
        </p:txBody>
      </p:sp>
    </p:spTree>
    <p:extLst>
      <p:ext uri="{BB962C8B-B14F-4D97-AF65-F5344CB8AC3E}">
        <p14:creationId xmlns:p14="http://schemas.microsoft.com/office/powerpoint/2010/main" val="2213956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685801" y="178813"/>
            <a:ext cx="10348146" cy="862209"/>
          </a:xfrm>
        </p:spPr>
        <p:txBody>
          <a:bodyPr anchor="t">
            <a:normAutofit/>
          </a:bodyPr>
          <a:lstStyle/>
          <a:p>
            <a:r>
              <a:rPr lang="en-US" dirty="0">
                <a:solidFill>
                  <a:schemeClr val="tx2"/>
                </a:solidFill>
                <a:latin typeface="Avenir Next LT Pro"/>
                <a:cs typeface="Times New Roman"/>
              </a:rPr>
              <a:t>Operational definition</a:t>
            </a:r>
            <a:endParaRPr lang="en-US" dirty="0">
              <a:solidFill>
                <a:schemeClr val="tx2"/>
              </a:solidFill>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867671" y="989387"/>
            <a:ext cx="9705991" cy="4916490"/>
          </a:xfrm>
        </p:spPr>
        <p:txBody>
          <a:bodyPr anchor="ctr">
            <a:normAutofit fontScale="92500" lnSpcReduction="20000"/>
          </a:bodyPr>
          <a:lstStyle/>
          <a:p>
            <a:pPr>
              <a:lnSpc>
                <a:spcPct val="90000"/>
              </a:lnSpc>
            </a:pPr>
            <a:r>
              <a:rPr lang="en-US" sz="2400" dirty="0">
                <a:solidFill>
                  <a:srgbClr val="000000"/>
                </a:solidFill>
                <a:latin typeface="Times New Roman"/>
                <a:cs typeface="Times New Roman"/>
              </a:rPr>
              <a:t>A definition by which the disease or condition can be identified and measured in the defined population with a degree of accuracy. </a:t>
            </a:r>
            <a:endParaRPr lang="en-US">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Tonsillitis might be defined clinically as an inflammation of the tonsils caused by infection, usually with streptococcus pyogenes.  </a:t>
            </a:r>
            <a:endParaRPr lang="en-US">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An “operational definition” spells out clearly the criteria by which the disease can be measured. Such criteria in the case of tonsillitis would include the presence of enlarged, red tonsils with white exudate, which on throat swab culture grow predominantly S. pyogenes. </a:t>
            </a:r>
            <a:endParaRPr lang="en-US">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If the definition is not valid, it would be a powerful source of error in the presentation and comparability of measurements from different sources.</a:t>
            </a:r>
            <a:endParaRPr lang="en-US">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Certain diseases (e.g., neurological diseases) which often do not have pathognomonic signs and symptoms, disease definition is a crucial concern for the epidemiologist. In such cases, the epidemiologist frames his own definition keeping the objectives of his study in view and aiming at the same time a degree of accuracy sufficient for his purpose.</a:t>
            </a:r>
            <a:endParaRPr lang="en-US" dirty="0">
              <a:solidFill>
                <a:srgbClr val="000000"/>
              </a:solidFill>
              <a:latin typeface="Times New Roman"/>
              <a:cs typeface="Times New Roman"/>
            </a:endParaRPr>
          </a:p>
          <a:p>
            <a:pPr>
              <a:lnSpc>
                <a:spcPct val="90000"/>
              </a:lnSpc>
            </a:pPr>
            <a:r>
              <a:rPr lang="en-US" sz="2400" dirty="0">
                <a:solidFill>
                  <a:srgbClr val="000000"/>
                </a:solidFill>
                <a:latin typeface="Times New Roman"/>
                <a:cs typeface="Times New Roman"/>
              </a:rPr>
              <a:t> Once established, the case definition must be adhered to throughout the study. </a:t>
            </a: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29</a:t>
            </a:fld>
            <a:endParaRPr lang="en-US">
              <a:solidFill>
                <a:schemeClr val="tx1">
                  <a:alpha val="60000"/>
                </a:schemeClr>
              </a:solidFill>
            </a:endParaRPr>
          </a:p>
        </p:txBody>
      </p:sp>
    </p:spTree>
    <p:extLst>
      <p:ext uri="{BB962C8B-B14F-4D97-AF65-F5344CB8AC3E}">
        <p14:creationId xmlns:p14="http://schemas.microsoft.com/office/powerpoint/2010/main" val="2339688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0" y="381000"/>
            <a:ext cx="10003218" cy="1600124"/>
          </a:xfrm>
        </p:spPr>
        <p:txBody>
          <a:bodyPr>
            <a:normAutofit/>
          </a:bodyPr>
          <a:lstStyle/>
          <a:p>
            <a:r>
              <a:rPr lang="en-US">
                <a:latin typeface="Avenir Next LT Pro"/>
                <a:cs typeface="Times New Roman"/>
              </a:rPr>
              <a:t>Describing the disease</a:t>
            </a:r>
            <a:endParaRPr lang="en-US"/>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924464" y="2603181"/>
            <a:ext cx="4800600" cy="3552824"/>
          </a:xfrm>
        </p:spPr>
        <p:txBody>
          <a:bodyPr anchor="ctr">
            <a:normAutofit/>
          </a:bodyPr>
          <a:lstStyle/>
          <a:p>
            <a:r>
              <a:rPr lang="en-US" sz="2000" dirty="0">
                <a:solidFill>
                  <a:schemeClr val="tx1"/>
                </a:solidFill>
                <a:latin typeface="Times New Roman"/>
                <a:ea typeface="+mn-lt"/>
                <a:cs typeface="Times New Roman"/>
              </a:rPr>
              <a:t>The primary objective of descriptive epidemiology is to describe the occurrence and distribution of disease (or health-related events or characteristics within populations) by time, place and person, and identifying those characteristics associated with presence or absence of disease in individuals.</a:t>
            </a:r>
          </a:p>
          <a:p>
            <a:endParaRPr lang="en-US" sz="2000" dirty="0">
              <a:solidFill>
                <a:schemeClr val="tx1"/>
              </a:solidFill>
              <a:latin typeface="Times New Roman"/>
              <a:cs typeface="Times New Roman"/>
            </a:endParaRPr>
          </a:p>
        </p:txBody>
      </p:sp>
      <p:pic>
        <p:nvPicPr>
          <p:cNvPr id="5" name="Picture 5" descr="Text&#10;&#10;Description automatically generated">
            <a:extLst>
              <a:ext uri="{FF2B5EF4-FFF2-40B4-BE49-F238E27FC236}">
                <a16:creationId xmlns:a16="http://schemas.microsoft.com/office/drawing/2014/main" id="{6DD65267-8676-3D77-F96A-ACF935BA36C9}"/>
              </a:ext>
            </a:extLst>
          </p:cNvPr>
          <p:cNvPicPr>
            <a:picLocks noChangeAspect="1"/>
          </p:cNvPicPr>
          <p:nvPr/>
        </p:nvPicPr>
        <p:blipFill>
          <a:blip r:embed="rId2"/>
          <a:stretch>
            <a:fillRect/>
          </a:stretch>
        </p:blipFill>
        <p:spPr>
          <a:xfrm>
            <a:off x="5996628" y="3271958"/>
            <a:ext cx="5585772" cy="2499632"/>
          </a:xfrm>
          <a:prstGeom prst="rect">
            <a:avLst/>
          </a:prstGeom>
        </p:spPr>
      </p:pic>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10186908" y="6327648"/>
            <a:ext cx="1166892" cy="365125"/>
          </a:xfrm>
        </p:spPr>
        <p:txBody>
          <a:bodyPr>
            <a:normAutofit/>
          </a:bodyPr>
          <a:lstStyle/>
          <a:p>
            <a:pPr>
              <a:spcAft>
                <a:spcPts val="600"/>
              </a:spcAft>
            </a:pPr>
            <a:fld id="{73B850FF-6169-4056-8077-06FFA93A5366}" type="slidenum">
              <a:rPr lang="en-US"/>
              <a:pPr>
                <a:spcAft>
                  <a:spcPts val="600"/>
                </a:spcAft>
              </a:pPr>
              <a:t>30</a:t>
            </a:fld>
            <a:endParaRPr lang="en-US"/>
          </a:p>
        </p:txBody>
      </p:sp>
    </p:spTree>
    <p:extLst>
      <p:ext uri="{BB962C8B-B14F-4D97-AF65-F5344CB8AC3E}">
        <p14:creationId xmlns:p14="http://schemas.microsoft.com/office/powerpoint/2010/main" val="18815747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10A34275-CD0A-499C-9600-C96742FAC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1852546B-EF97-46E8-A930-3A03341066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7587" y="2720800"/>
            <a:ext cx="3470809" cy="41326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2801F4A-0A74-45E0-8E5A-65A65252A3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40"/>
            <a:ext cx="1274412" cy="49672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D245F29-ABE7-4BB1-8164-5F4C4604B2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5257800" y="0"/>
            <a:ext cx="6926614" cy="112236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3E432D0-6BA2-5B94-0244-2260F8177D1C}"/>
              </a:ext>
            </a:extLst>
          </p:cNvPr>
          <p:cNvSpPr>
            <a:spLocks noGrp="1"/>
          </p:cNvSpPr>
          <p:nvPr>
            <p:ph type="title"/>
          </p:nvPr>
        </p:nvSpPr>
        <p:spPr>
          <a:xfrm>
            <a:off x="8286014" y="1122363"/>
            <a:ext cx="3316463" cy="3025308"/>
          </a:xfrm>
        </p:spPr>
        <p:txBody>
          <a:bodyPr vert="horz" lIns="91440" tIns="45720" rIns="91440" bIns="45720" rtlCol="0" anchor="b">
            <a:normAutofit/>
          </a:bodyPr>
          <a:lstStyle/>
          <a:p>
            <a:pPr algn="r"/>
            <a:r>
              <a:rPr lang="en-US" dirty="0"/>
              <a:t>Thanks</a:t>
            </a:r>
          </a:p>
        </p:txBody>
      </p:sp>
      <p:cxnSp>
        <p:nvCxnSpPr>
          <p:cNvPr id="32" name="Straight Connector 31">
            <a:extLst>
              <a:ext uri="{FF2B5EF4-FFF2-40B4-BE49-F238E27FC236}">
                <a16:creationId xmlns:a16="http://schemas.microsoft.com/office/drawing/2014/main" id="{CF00EEAF-0634-4EEB-81E5-9FBC2170F3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7102" y="6051582"/>
            <a:ext cx="4847312" cy="8064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3E11676-332F-449D-9A03-6CE4ED25CC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225160" y="0"/>
            <a:ext cx="3541141"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Smiling Face with No Fill">
            <a:extLst>
              <a:ext uri="{FF2B5EF4-FFF2-40B4-BE49-F238E27FC236}">
                <a16:creationId xmlns:a16="http://schemas.microsoft.com/office/drawing/2014/main" id="{5BDBBB32-549A-205D-BC24-2EFB1B8FFD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48930" y="528860"/>
            <a:ext cx="5795740" cy="5795740"/>
          </a:xfrm>
          <a:prstGeom prst="rect">
            <a:avLst/>
          </a:prstGeom>
        </p:spPr>
      </p:pic>
      <p:sp>
        <p:nvSpPr>
          <p:cNvPr id="4" name="Date Placeholder 3">
            <a:extLst>
              <a:ext uri="{FF2B5EF4-FFF2-40B4-BE49-F238E27FC236}">
                <a16:creationId xmlns:a16="http://schemas.microsoft.com/office/drawing/2014/main" id="{71E31987-2D1F-FA2E-10CE-E87854BA37FF}"/>
              </a:ext>
            </a:extLst>
          </p:cNvPr>
          <p:cNvSpPr>
            <a:spLocks noGrp="1"/>
          </p:cNvSpPr>
          <p:nvPr>
            <p:ph type="dt" sz="half" idx="10"/>
          </p:nvPr>
        </p:nvSpPr>
        <p:spPr/>
        <p:txBody>
          <a:bodyPr/>
          <a:lstStyle/>
          <a:p>
            <a:fld id="{833C8FF4-2C53-4644-81C8-DF0BB11D4519}" type="datetime1">
              <a:rPr lang="en-US" smtClean="0"/>
              <a:t>4/8/2024</a:t>
            </a:fld>
            <a:endParaRPr lang="en-US" dirty="0"/>
          </a:p>
        </p:txBody>
      </p:sp>
      <p:sp>
        <p:nvSpPr>
          <p:cNvPr id="5" name="Slide Number Placeholder 4">
            <a:extLst>
              <a:ext uri="{FF2B5EF4-FFF2-40B4-BE49-F238E27FC236}">
                <a16:creationId xmlns:a16="http://schemas.microsoft.com/office/drawing/2014/main" id="{53D07078-26FD-5539-9AD3-D15ED94F9A25}"/>
              </a:ext>
            </a:extLst>
          </p:cNvPr>
          <p:cNvSpPr>
            <a:spLocks noGrp="1"/>
          </p:cNvSpPr>
          <p:nvPr>
            <p:ph type="sldNum" sz="quarter" idx="12"/>
          </p:nvPr>
        </p:nvSpPr>
        <p:spPr/>
        <p:txBody>
          <a:bodyPr/>
          <a:lstStyle/>
          <a:p>
            <a:fld id="{312CC964-A50B-4C29-B4E4-2C30BB34CCF3}" type="slidenum">
              <a:rPr lang="en-US" smtClean="0"/>
              <a:t>31</a:t>
            </a:fld>
            <a:endParaRPr lang="en-US"/>
          </a:p>
        </p:txBody>
      </p:sp>
    </p:spTree>
    <p:extLst>
      <p:ext uri="{BB962C8B-B14F-4D97-AF65-F5344CB8AC3E}">
        <p14:creationId xmlns:p14="http://schemas.microsoft.com/office/powerpoint/2010/main" val="3143059973"/>
      </p:ext>
    </p:extLst>
  </p:cSld>
  <p:clrMapOvr>
    <a:masterClrMapping/>
  </p:clrMapOvr>
</p:sld>
</file>

<file path=ppt/theme/theme1.xml><?xml version="1.0" encoding="utf-8"?>
<a:theme xmlns:a="http://schemas.openxmlformats.org/drawingml/2006/main" name="AngleLinesVTI">
  <a:themeElements>
    <a:clrScheme name="AnalogousFromRegularSeedLeftStep">
      <a:dk1>
        <a:srgbClr val="000000"/>
      </a:dk1>
      <a:lt1>
        <a:srgbClr val="FFFFFF"/>
      </a:lt1>
      <a:dk2>
        <a:srgbClr val="181A36"/>
      </a:dk2>
      <a:lt2>
        <a:srgbClr val="E2E6E8"/>
      </a:lt2>
      <a:accent1>
        <a:srgbClr val="DA7736"/>
      </a:accent1>
      <a:accent2>
        <a:srgbClr val="C82427"/>
      </a:accent2>
      <a:accent3>
        <a:srgbClr val="DA367D"/>
      </a:accent3>
      <a:accent4>
        <a:srgbClr val="C824B0"/>
      </a:accent4>
      <a:accent5>
        <a:srgbClr val="AE36DA"/>
      </a:accent5>
      <a:accent6>
        <a:srgbClr val="5724C8"/>
      </a:accent6>
      <a:hlink>
        <a:srgbClr val="3E89BA"/>
      </a:hlink>
      <a:folHlink>
        <a:srgbClr val="7F7F7F"/>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TotalTime>
  <Words>2133</Words>
  <Application>Microsoft Office PowerPoint</Application>
  <PresentationFormat>Widescreen</PresentationFormat>
  <Paragraphs>200</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Avenir Next LT Pro</vt:lpstr>
      <vt:lpstr>Calibri</vt:lpstr>
      <vt:lpstr>Times New Roman</vt:lpstr>
      <vt:lpstr>AngleLinesVTI</vt:lpstr>
      <vt:lpstr>Morbidity Indicators</vt:lpstr>
      <vt:lpstr>Question - 1</vt:lpstr>
      <vt:lpstr>Answer</vt:lpstr>
      <vt:lpstr>Question 2</vt:lpstr>
      <vt:lpstr>Answer</vt:lpstr>
      <vt:lpstr>MCQ</vt:lpstr>
      <vt:lpstr>mcq</vt:lpstr>
      <vt:lpstr>mcq</vt:lpstr>
      <vt:lpstr>Morbidity</vt:lpstr>
      <vt:lpstr>Value of morbidity data</vt:lpstr>
      <vt:lpstr>Incidence and prevalence</vt:lpstr>
      <vt:lpstr>Incidence</vt:lpstr>
      <vt:lpstr>Special incidence rate</vt:lpstr>
      <vt:lpstr>prevalence</vt:lpstr>
      <vt:lpstr>Period prevalence</vt:lpstr>
      <vt:lpstr>PowerPoint Presentation</vt:lpstr>
      <vt:lpstr>P = I * D (D = mean duration)</vt:lpstr>
      <vt:lpstr>PowerPoint Presentation</vt:lpstr>
      <vt:lpstr>Measures of disability</vt:lpstr>
      <vt:lpstr>DALY</vt:lpstr>
      <vt:lpstr>Other Indicators</vt:lpstr>
      <vt:lpstr>PowerPoint Presentation</vt:lpstr>
      <vt:lpstr>Descriptive study</vt:lpstr>
      <vt:lpstr>Steps</vt:lpstr>
      <vt:lpstr>Defining the population</vt:lpstr>
      <vt:lpstr>Defining the population</vt:lpstr>
      <vt:lpstr>Defining the population</vt:lpstr>
      <vt:lpstr>Defining the disease</vt:lpstr>
      <vt:lpstr>Operational definition</vt:lpstr>
      <vt:lpstr>Describing the disease</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Morbidity Indicators</dc:title>
  <dc:creator>mukul maheshwari</dc:creator>
  <cp:lastModifiedBy>mukul maheshwari</cp:lastModifiedBy>
  <cp:revision>1</cp:revision>
  <dcterms:created xsi:type="dcterms:W3CDTF">2023-04-24T14:10:21Z</dcterms:created>
  <dcterms:modified xsi:type="dcterms:W3CDTF">2024-04-08T15:42:22Z</dcterms:modified>
</cp:coreProperties>
</file>