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58" r:id="rId15"/>
    <p:sldId id="257" r:id="rId16"/>
    <p:sldId id="259" r:id="rId17"/>
    <p:sldId id="273" r:id="rId18"/>
    <p:sldId id="274" r:id="rId19"/>
    <p:sldId id="275" r:id="rId20"/>
    <p:sldId id="276" r:id="rId21"/>
    <p:sldId id="277" r:id="rId22"/>
    <p:sldId id="278" r:id="rId23"/>
    <p:sldId id="279" r:id="rId24"/>
    <p:sldId id="280" r:id="rId25"/>
    <p:sldId id="281" r:id="rId26"/>
    <p:sldId id="282" r:id="rId27"/>
    <p:sldId id="283" r:id="rId28"/>
    <p:sldId id="27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70E53E-699C-43EF-9BA2-B74A9C4B78D5}" v="1" dt="2024-05-08T21:09:40.7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58" autoAdjust="0"/>
    <p:restoredTop sz="94660"/>
  </p:normalViewPr>
  <p:slideViewPr>
    <p:cSldViewPr snapToGrid="0">
      <p:cViewPr varScale="1">
        <p:scale>
          <a:sx n="57" d="100"/>
          <a:sy n="57" d="100"/>
        </p:scale>
        <p:origin x="78" y="16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9E70E53E-699C-43EF-9BA2-B74A9C4B78D5}"/>
    <pc:docChg chg="custSel addSld delSld modSld delMainMaster">
      <pc:chgData name="mukul maheshwari" userId="12cb43e2ca5f0d2c" providerId="LiveId" clId="{9E70E53E-699C-43EF-9BA2-B74A9C4B78D5}" dt="2024-05-08T21:09:41.190" v="8" actId="27636"/>
      <pc:docMkLst>
        <pc:docMk/>
      </pc:docMkLst>
      <pc:sldChg chg="del">
        <pc:chgData name="mukul maheshwari" userId="12cb43e2ca5f0d2c" providerId="LiveId" clId="{9E70E53E-699C-43EF-9BA2-B74A9C4B78D5}" dt="2024-05-08T21:09:19.375" v="2" actId="47"/>
        <pc:sldMkLst>
          <pc:docMk/>
          <pc:sldMk cId="903284937" sldId="257"/>
        </pc:sldMkLst>
      </pc:sldChg>
      <pc:sldChg chg="add">
        <pc:chgData name="mukul maheshwari" userId="12cb43e2ca5f0d2c" providerId="LiveId" clId="{9E70E53E-699C-43EF-9BA2-B74A9C4B78D5}" dt="2024-05-08T21:09:40.784" v="6"/>
        <pc:sldMkLst>
          <pc:docMk/>
          <pc:sldMk cId="2320779846" sldId="257"/>
        </pc:sldMkLst>
      </pc:sldChg>
      <pc:sldChg chg="del">
        <pc:chgData name="mukul maheshwari" userId="12cb43e2ca5f0d2c" providerId="LiveId" clId="{9E70E53E-699C-43EF-9BA2-B74A9C4B78D5}" dt="2024-05-08T21:09:08.700" v="0" actId="47"/>
        <pc:sldMkLst>
          <pc:docMk/>
          <pc:sldMk cId="117785726" sldId="258"/>
        </pc:sldMkLst>
      </pc:sldChg>
      <pc:sldChg chg="delSp add setBg delDesignElem">
        <pc:chgData name="mukul maheshwari" userId="12cb43e2ca5f0d2c" providerId="LiveId" clId="{9E70E53E-699C-43EF-9BA2-B74A9C4B78D5}" dt="2024-05-08T21:09:40.784" v="6"/>
        <pc:sldMkLst>
          <pc:docMk/>
          <pc:sldMk cId="450854227" sldId="258"/>
        </pc:sldMkLst>
        <pc:spChg chg="del">
          <ac:chgData name="mukul maheshwari" userId="12cb43e2ca5f0d2c" providerId="LiveId" clId="{9E70E53E-699C-43EF-9BA2-B74A9C4B78D5}" dt="2024-05-08T21:09:40.784" v="6"/>
          <ac:spMkLst>
            <pc:docMk/>
            <pc:sldMk cId="450854227" sldId="258"/>
            <ac:spMk id="9" creationId="{F14D45BF-E397-40C0-AFE3-A4149E60E152}"/>
          </ac:spMkLst>
        </pc:spChg>
        <pc:spChg chg="del">
          <ac:chgData name="mukul maheshwari" userId="12cb43e2ca5f0d2c" providerId="LiveId" clId="{9E70E53E-699C-43EF-9BA2-B74A9C4B78D5}" dt="2024-05-08T21:09:40.784" v="6"/>
          <ac:spMkLst>
            <pc:docMk/>
            <pc:sldMk cId="450854227" sldId="258"/>
            <ac:spMk id="44" creationId="{07E3C0EF-2D2A-42BA-B4E2-76E2B1FC52FE}"/>
          </ac:spMkLst>
        </pc:spChg>
        <pc:grpChg chg="del">
          <ac:chgData name="mukul maheshwari" userId="12cb43e2ca5f0d2c" providerId="LiveId" clId="{9E70E53E-699C-43EF-9BA2-B74A9C4B78D5}" dt="2024-05-08T21:09:40.784" v="6"/>
          <ac:grpSpMkLst>
            <pc:docMk/>
            <pc:sldMk cId="450854227" sldId="258"/>
            <ac:grpSpMk id="11" creationId="{35F4CD44-7930-4EB8-9A74-8D2F9E63693E}"/>
          </ac:grpSpMkLst>
        </pc:grpChg>
      </pc:sldChg>
      <pc:sldChg chg="modSp add mod">
        <pc:chgData name="mukul maheshwari" userId="12cb43e2ca5f0d2c" providerId="LiveId" clId="{9E70E53E-699C-43EF-9BA2-B74A9C4B78D5}" dt="2024-05-08T21:09:41.112" v="7" actId="27636"/>
        <pc:sldMkLst>
          <pc:docMk/>
          <pc:sldMk cId="1686294213" sldId="259"/>
        </pc:sldMkLst>
        <pc:spChg chg="mod">
          <ac:chgData name="mukul maheshwari" userId="12cb43e2ca5f0d2c" providerId="LiveId" clId="{9E70E53E-699C-43EF-9BA2-B74A9C4B78D5}" dt="2024-05-08T21:09:41.112" v="7" actId="27636"/>
          <ac:spMkLst>
            <pc:docMk/>
            <pc:sldMk cId="1686294213" sldId="259"/>
            <ac:spMk id="2" creationId="{D3599295-6B25-1487-BF3F-C3B1255DA268}"/>
          </ac:spMkLst>
        </pc:spChg>
      </pc:sldChg>
      <pc:sldChg chg="del">
        <pc:chgData name="mukul maheshwari" userId="12cb43e2ca5f0d2c" providerId="LiveId" clId="{9E70E53E-699C-43EF-9BA2-B74A9C4B78D5}" dt="2024-05-08T21:09:16.796" v="1" actId="47"/>
        <pc:sldMkLst>
          <pc:docMk/>
          <pc:sldMk cId="2243272194" sldId="259"/>
        </pc:sldMkLst>
      </pc:sldChg>
      <pc:sldChg chg="add">
        <pc:chgData name="mukul maheshwari" userId="12cb43e2ca5f0d2c" providerId="LiveId" clId="{9E70E53E-699C-43EF-9BA2-B74A9C4B78D5}" dt="2024-05-08T21:09:40.784" v="6"/>
        <pc:sldMkLst>
          <pc:docMk/>
          <pc:sldMk cId="1661137613" sldId="273"/>
        </pc:sldMkLst>
      </pc:sldChg>
      <pc:sldChg chg="add">
        <pc:chgData name="mukul maheshwari" userId="12cb43e2ca5f0d2c" providerId="LiveId" clId="{9E70E53E-699C-43EF-9BA2-B74A9C4B78D5}" dt="2024-05-08T21:09:40.784" v="6"/>
        <pc:sldMkLst>
          <pc:docMk/>
          <pc:sldMk cId="3027711107" sldId="274"/>
        </pc:sldMkLst>
      </pc:sldChg>
      <pc:sldChg chg="modSp add mod">
        <pc:chgData name="mukul maheshwari" userId="12cb43e2ca5f0d2c" providerId="LiveId" clId="{9E70E53E-699C-43EF-9BA2-B74A9C4B78D5}" dt="2024-05-08T21:09:41.190" v="8" actId="27636"/>
        <pc:sldMkLst>
          <pc:docMk/>
          <pc:sldMk cId="2282336646" sldId="275"/>
        </pc:sldMkLst>
        <pc:spChg chg="mod">
          <ac:chgData name="mukul maheshwari" userId="12cb43e2ca5f0d2c" providerId="LiveId" clId="{9E70E53E-699C-43EF-9BA2-B74A9C4B78D5}" dt="2024-05-08T21:09:41.190" v="8" actId="27636"/>
          <ac:spMkLst>
            <pc:docMk/>
            <pc:sldMk cId="2282336646" sldId="275"/>
            <ac:spMk id="3" creationId="{85CC4C09-0718-F88B-9AC7-A7AA3B958890}"/>
          </ac:spMkLst>
        </pc:spChg>
      </pc:sldChg>
      <pc:sldChg chg="add">
        <pc:chgData name="mukul maheshwari" userId="12cb43e2ca5f0d2c" providerId="LiveId" clId="{9E70E53E-699C-43EF-9BA2-B74A9C4B78D5}" dt="2024-05-08T21:09:40.784" v="6"/>
        <pc:sldMkLst>
          <pc:docMk/>
          <pc:sldMk cId="4166920569" sldId="276"/>
        </pc:sldMkLst>
      </pc:sldChg>
      <pc:sldChg chg="delSp add setBg delDesignElem">
        <pc:chgData name="mukul maheshwari" userId="12cb43e2ca5f0d2c" providerId="LiveId" clId="{9E70E53E-699C-43EF-9BA2-B74A9C4B78D5}" dt="2024-05-08T21:09:40.784" v="6"/>
        <pc:sldMkLst>
          <pc:docMk/>
          <pc:sldMk cId="1488068689" sldId="277"/>
        </pc:sldMkLst>
        <pc:spChg chg="del">
          <ac:chgData name="mukul maheshwari" userId="12cb43e2ca5f0d2c" providerId="LiveId" clId="{9E70E53E-699C-43EF-9BA2-B74A9C4B78D5}" dt="2024-05-08T21:09:40.784" v="6"/>
          <ac:spMkLst>
            <pc:docMk/>
            <pc:sldMk cId="1488068689" sldId="277"/>
            <ac:spMk id="10" creationId="{2550BE34-C2B8-49B8-8519-67A8CAD51AE9}"/>
          </ac:spMkLst>
        </pc:spChg>
        <pc:spChg chg="del">
          <ac:chgData name="mukul maheshwari" userId="12cb43e2ca5f0d2c" providerId="LiveId" clId="{9E70E53E-699C-43EF-9BA2-B74A9C4B78D5}" dt="2024-05-08T21:09:40.784" v="6"/>
          <ac:spMkLst>
            <pc:docMk/>
            <pc:sldMk cId="1488068689" sldId="277"/>
            <ac:spMk id="12" creationId="{A7457DD9-5A45-400A-AB4B-4B4EDECA25F1}"/>
          </ac:spMkLst>
        </pc:spChg>
        <pc:spChg chg="del">
          <ac:chgData name="mukul maheshwari" userId="12cb43e2ca5f0d2c" providerId="LiveId" clId="{9E70E53E-699C-43EF-9BA2-B74A9C4B78D5}" dt="2024-05-08T21:09:40.784" v="6"/>
          <ac:spMkLst>
            <pc:docMk/>
            <pc:sldMk cId="1488068689" sldId="277"/>
            <ac:spMk id="14" creationId="{441CF7D6-A660-431A-B0BB-140A0D5556B6}"/>
          </ac:spMkLst>
        </pc:spChg>
        <pc:spChg chg="del">
          <ac:chgData name="mukul maheshwari" userId="12cb43e2ca5f0d2c" providerId="LiveId" clId="{9E70E53E-699C-43EF-9BA2-B74A9C4B78D5}" dt="2024-05-08T21:09:40.784" v="6"/>
          <ac:spMkLst>
            <pc:docMk/>
            <pc:sldMk cId="1488068689" sldId="277"/>
            <ac:spMk id="16" creationId="{0570A85B-3810-4F95-97B0-CBF4CCDB381C}"/>
          </ac:spMkLst>
        </pc:spChg>
      </pc:sldChg>
      <pc:sldChg chg="delSp add setBg delDesignElem">
        <pc:chgData name="mukul maheshwari" userId="12cb43e2ca5f0d2c" providerId="LiveId" clId="{9E70E53E-699C-43EF-9BA2-B74A9C4B78D5}" dt="2024-05-08T21:09:40.784" v="6"/>
        <pc:sldMkLst>
          <pc:docMk/>
          <pc:sldMk cId="1748949673" sldId="278"/>
        </pc:sldMkLst>
        <pc:spChg chg="del">
          <ac:chgData name="mukul maheshwari" userId="12cb43e2ca5f0d2c" providerId="LiveId" clId="{9E70E53E-699C-43EF-9BA2-B74A9C4B78D5}" dt="2024-05-08T21:09:40.784" v="6"/>
          <ac:spMkLst>
            <pc:docMk/>
            <pc:sldMk cId="1748949673" sldId="278"/>
            <ac:spMk id="12" creationId="{53B021B3-DE93-4AB7-8A18-CF5F1CED88B8}"/>
          </ac:spMkLst>
        </pc:spChg>
        <pc:spChg chg="del">
          <ac:chgData name="mukul maheshwari" userId="12cb43e2ca5f0d2c" providerId="LiveId" clId="{9E70E53E-699C-43EF-9BA2-B74A9C4B78D5}" dt="2024-05-08T21:09:40.784" v="6"/>
          <ac:spMkLst>
            <pc:docMk/>
            <pc:sldMk cId="1748949673" sldId="278"/>
            <ac:spMk id="14" creationId="{52D502E5-F6B4-4D58-B4AE-FC466FF15EE8}"/>
          </ac:spMkLst>
        </pc:spChg>
        <pc:spChg chg="del">
          <ac:chgData name="mukul maheshwari" userId="12cb43e2ca5f0d2c" providerId="LiveId" clId="{9E70E53E-699C-43EF-9BA2-B74A9C4B78D5}" dt="2024-05-08T21:09:40.784" v="6"/>
          <ac:spMkLst>
            <pc:docMk/>
            <pc:sldMk cId="1748949673" sldId="278"/>
            <ac:spMk id="16" creationId="{9DECDBF4-02B6-4BB4-B65B-B8107AD6A9E8}"/>
          </ac:spMkLst>
        </pc:spChg>
      </pc:sldChg>
      <pc:sldChg chg="add">
        <pc:chgData name="mukul maheshwari" userId="12cb43e2ca5f0d2c" providerId="LiveId" clId="{9E70E53E-699C-43EF-9BA2-B74A9C4B78D5}" dt="2024-05-08T21:09:40.784" v="6"/>
        <pc:sldMkLst>
          <pc:docMk/>
          <pc:sldMk cId="3010462774" sldId="279"/>
        </pc:sldMkLst>
      </pc:sldChg>
      <pc:sldChg chg="add">
        <pc:chgData name="mukul maheshwari" userId="12cb43e2ca5f0d2c" providerId="LiveId" clId="{9E70E53E-699C-43EF-9BA2-B74A9C4B78D5}" dt="2024-05-08T21:09:40.784" v="6"/>
        <pc:sldMkLst>
          <pc:docMk/>
          <pc:sldMk cId="445074308" sldId="280"/>
        </pc:sldMkLst>
      </pc:sldChg>
      <pc:sldChg chg="add">
        <pc:chgData name="mukul maheshwari" userId="12cb43e2ca5f0d2c" providerId="LiveId" clId="{9E70E53E-699C-43EF-9BA2-B74A9C4B78D5}" dt="2024-05-08T21:09:40.784" v="6"/>
        <pc:sldMkLst>
          <pc:docMk/>
          <pc:sldMk cId="1455127223" sldId="281"/>
        </pc:sldMkLst>
      </pc:sldChg>
      <pc:sldChg chg="add">
        <pc:chgData name="mukul maheshwari" userId="12cb43e2ca5f0d2c" providerId="LiveId" clId="{9E70E53E-699C-43EF-9BA2-B74A9C4B78D5}" dt="2024-05-08T21:09:40.784" v="6"/>
        <pc:sldMkLst>
          <pc:docMk/>
          <pc:sldMk cId="166855656" sldId="282"/>
        </pc:sldMkLst>
      </pc:sldChg>
      <pc:sldChg chg="add">
        <pc:chgData name="mukul maheshwari" userId="12cb43e2ca5f0d2c" providerId="LiveId" clId="{9E70E53E-699C-43EF-9BA2-B74A9C4B78D5}" dt="2024-05-08T21:09:40.784" v="6"/>
        <pc:sldMkLst>
          <pc:docMk/>
          <pc:sldMk cId="3574946157" sldId="283"/>
        </pc:sldMkLst>
      </pc:sldChg>
      <pc:sldMasterChg chg="del delSldLayout">
        <pc:chgData name="mukul maheshwari" userId="12cb43e2ca5f0d2c" providerId="LiveId" clId="{9E70E53E-699C-43EF-9BA2-B74A9C4B78D5}" dt="2024-05-08T21:09:16.796" v="1" actId="47"/>
        <pc:sldMasterMkLst>
          <pc:docMk/>
          <pc:sldMasterMk cId="3191640733" sldId="2147483725"/>
        </pc:sldMasterMkLst>
        <pc:sldLayoutChg chg="del">
          <pc:chgData name="mukul maheshwari" userId="12cb43e2ca5f0d2c" providerId="LiveId" clId="{9E70E53E-699C-43EF-9BA2-B74A9C4B78D5}" dt="2024-05-08T21:09:16.796" v="1" actId="47"/>
          <pc:sldLayoutMkLst>
            <pc:docMk/>
            <pc:sldMasterMk cId="3191640733" sldId="2147483725"/>
            <pc:sldLayoutMk cId="1380263305" sldId="2147483715"/>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517152-06BC-4DB0-9E48-2043E2A79294}"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2E72C1C3-B238-49C6-B81A-45B4DB502E4B}">
      <dgm:prSet/>
      <dgm:spPr/>
      <dgm:t>
        <a:bodyPr/>
        <a:lstStyle/>
        <a:p>
          <a:r>
            <a:rPr lang="en-US" b="0" i="0" baseline="0"/>
            <a:t>Selection of study subjects</a:t>
          </a:r>
          <a:endParaRPr lang="en-US"/>
        </a:p>
      </dgm:t>
    </dgm:pt>
    <dgm:pt modelId="{E911D42A-6C4B-44FB-BCE3-F7472454292D}" type="parTrans" cxnId="{E7B4CB2C-B45E-424B-8614-671805B89300}">
      <dgm:prSet/>
      <dgm:spPr/>
      <dgm:t>
        <a:bodyPr/>
        <a:lstStyle/>
        <a:p>
          <a:endParaRPr lang="en-US"/>
        </a:p>
      </dgm:t>
    </dgm:pt>
    <dgm:pt modelId="{70538DBD-EC09-4C00-BCC2-5877E638BE2C}" type="sibTrans" cxnId="{E7B4CB2C-B45E-424B-8614-671805B89300}">
      <dgm:prSet/>
      <dgm:spPr/>
      <dgm:t>
        <a:bodyPr/>
        <a:lstStyle/>
        <a:p>
          <a:endParaRPr lang="en-US"/>
        </a:p>
      </dgm:t>
    </dgm:pt>
    <dgm:pt modelId="{E29C0F4D-22D0-46CA-A20D-6AA165269240}">
      <dgm:prSet/>
      <dgm:spPr/>
      <dgm:t>
        <a:bodyPr/>
        <a:lstStyle/>
        <a:p>
          <a:r>
            <a:rPr lang="en-US" b="0" i="0" baseline="0"/>
            <a:t>Obtaining data on exposure</a:t>
          </a:r>
          <a:endParaRPr lang="en-US"/>
        </a:p>
      </dgm:t>
    </dgm:pt>
    <dgm:pt modelId="{2D8E6480-20C0-414E-9409-D8DEEE67FE5F}" type="parTrans" cxnId="{2A952A89-7B01-43E0-A860-899FFB510FE7}">
      <dgm:prSet/>
      <dgm:spPr/>
      <dgm:t>
        <a:bodyPr/>
        <a:lstStyle/>
        <a:p>
          <a:endParaRPr lang="en-US"/>
        </a:p>
      </dgm:t>
    </dgm:pt>
    <dgm:pt modelId="{CCE3EF6A-415B-47DE-A55C-E9CE54EA8CF1}" type="sibTrans" cxnId="{2A952A89-7B01-43E0-A860-899FFB510FE7}">
      <dgm:prSet/>
      <dgm:spPr/>
      <dgm:t>
        <a:bodyPr/>
        <a:lstStyle/>
        <a:p>
          <a:endParaRPr lang="en-US"/>
        </a:p>
      </dgm:t>
    </dgm:pt>
    <dgm:pt modelId="{0403078A-B543-4754-A7C3-2C427D88F825}">
      <dgm:prSet/>
      <dgm:spPr/>
      <dgm:t>
        <a:bodyPr/>
        <a:lstStyle/>
        <a:p>
          <a:r>
            <a:rPr lang="en-US" b="0" i="0" baseline="0"/>
            <a:t>Selection of comparison groups</a:t>
          </a:r>
          <a:endParaRPr lang="en-US"/>
        </a:p>
      </dgm:t>
    </dgm:pt>
    <dgm:pt modelId="{7EB4D27C-FA5D-4397-B91A-059996154620}" type="parTrans" cxnId="{6DE43A59-5AD6-49E9-8799-17930BA5E3F5}">
      <dgm:prSet/>
      <dgm:spPr/>
      <dgm:t>
        <a:bodyPr/>
        <a:lstStyle/>
        <a:p>
          <a:endParaRPr lang="en-US"/>
        </a:p>
      </dgm:t>
    </dgm:pt>
    <dgm:pt modelId="{B5784C82-3C78-46EA-A6E4-A808E25F830A}" type="sibTrans" cxnId="{6DE43A59-5AD6-49E9-8799-17930BA5E3F5}">
      <dgm:prSet/>
      <dgm:spPr/>
      <dgm:t>
        <a:bodyPr/>
        <a:lstStyle/>
        <a:p>
          <a:endParaRPr lang="en-US"/>
        </a:p>
      </dgm:t>
    </dgm:pt>
    <dgm:pt modelId="{BFC2B0A5-D41C-4441-8F7C-1B297C0B23D1}">
      <dgm:prSet/>
      <dgm:spPr/>
      <dgm:t>
        <a:bodyPr/>
        <a:lstStyle/>
        <a:p>
          <a:r>
            <a:rPr lang="en-US" b="0" i="0" baseline="0"/>
            <a:t>Follow-up</a:t>
          </a:r>
          <a:endParaRPr lang="en-US"/>
        </a:p>
      </dgm:t>
    </dgm:pt>
    <dgm:pt modelId="{9C106EE0-54A4-4643-AE18-6432A43170A3}" type="parTrans" cxnId="{BD716759-92BC-4AD6-9904-3372172C9556}">
      <dgm:prSet/>
      <dgm:spPr/>
      <dgm:t>
        <a:bodyPr/>
        <a:lstStyle/>
        <a:p>
          <a:endParaRPr lang="en-US"/>
        </a:p>
      </dgm:t>
    </dgm:pt>
    <dgm:pt modelId="{281616C1-3B3C-4DFE-8390-2434E4EFC339}" type="sibTrans" cxnId="{BD716759-92BC-4AD6-9904-3372172C9556}">
      <dgm:prSet/>
      <dgm:spPr/>
      <dgm:t>
        <a:bodyPr/>
        <a:lstStyle/>
        <a:p>
          <a:endParaRPr lang="en-US"/>
        </a:p>
      </dgm:t>
    </dgm:pt>
    <dgm:pt modelId="{BB7A5DCD-2ED0-430C-9401-DFEB61B6D4DC}">
      <dgm:prSet/>
      <dgm:spPr/>
      <dgm:t>
        <a:bodyPr/>
        <a:lstStyle/>
        <a:p>
          <a:r>
            <a:rPr lang="en-US" b="0" i="0" baseline="0"/>
            <a:t>Analysis.</a:t>
          </a:r>
          <a:endParaRPr lang="en-US"/>
        </a:p>
      </dgm:t>
    </dgm:pt>
    <dgm:pt modelId="{2F54A3E2-D4FA-4A45-89A8-399198EC3A47}" type="parTrans" cxnId="{AB10F1FC-539F-4514-9757-A7239A27A681}">
      <dgm:prSet/>
      <dgm:spPr/>
      <dgm:t>
        <a:bodyPr/>
        <a:lstStyle/>
        <a:p>
          <a:endParaRPr lang="en-US"/>
        </a:p>
      </dgm:t>
    </dgm:pt>
    <dgm:pt modelId="{BBC455DF-3633-4229-A1AB-9C71B36133A6}" type="sibTrans" cxnId="{AB10F1FC-539F-4514-9757-A7239A27A681}">
      <dgm:prSet/>
      <dgm:spPr/>
      <dgm:t>
        <a:bodyPr/>
        <a:lstStyle/>
        <a:p>
          <a:endParaRPr lang="en-US"/>
        </a:p>
      </dgm:t>
    </dgm:pt>
    <dgm:pt modelId="{B7A94C84-30A2-4B93-AD2D-4A9AEE57B88A}" type="pres">
      <dgm:prSet presAssocID="{EB517152-06BC-4DB0-9E48-2043E2A79294}" presName="vert0" presStyleCnt="0">
        <dgm:presLayoutVars>
          <dgm:dir/>
          <dgm:animOne val="branch"/>
          <dgm:animLvl val="lvl"/>
        </dgm:presLayoutVars>
      </dgm:prSet>
      <dgm:spPr/>
    </dgm:pt>
    <dgm:pt modelId="{1A3CC0DC-CB24-4B29-9AF7-C6E411D97227}" type="pres">
      <dgm:prSet presAssocID="{2E72C1C3-B238-49C6-B81A-45B4DB502E4B}" presName="thickLine" presStyleLbl="alignNode1" presStyleIdx="0" presStyleCnt="5"/>
      <dgm:spPr/>
    </dgm:pt>
    <dgm:pt modelId="{0CBAC9C3-837A-49F2-8FDA-96E902A23153}" type="pres">
      <dgm:prSet presAssocID="{2E72C1C3-B238-49C6-B81A-45B4DB502E4B}" presName="horz1" presStyleCnt="0"/>
      <dgm:spPr/>
    </dgm:pt>
    <dgm:pt modelId="{6ACF89F2-F6EA-4CCE-8F4B-D06E7EF6C86E}" type="pres">
      <dgm:prSet presAssocID="{2E72C1C3-B238-49C6-B81A-45B4DB502E4B}" presName="tx1" presStyleLbl="revTx" presStyleIdx="0" presStyleCnt="5"/>
      <dgm:spPr/>
    </dgm:pt>
    <dgm:pt modelId="{95082ECB-289E-47B0-AC5C-0E17FAB2F8DD}" type="pres">
      <dgm:prSet presAssocID="{2E72C1C3-B238-49C6-B81A-45B4DB502E4B}" presName="vert1" presStyleCnt="0"/>
      <dgm:spPr/>
    </dgm:pt>
    <dgm:pt modelId="{B3E2F5BE-B38E-4886-9E7E-B11B87B81F76}" type="pres">
      <dgm:prSet presAssocID="{E29C0F4D-22D0-46CA-A20D-6AA165269240}" presName="thickLine" presStyleLbl="alignNode1" presStyleIdx="1" presStyleCnt="5"/>
      <dgm:spPr/>
    </dgm:pt>
    <dgm:pt modelId="{DFB864E3-15FB-4EF7-A015-73EA7781D4FC}" type="pres">
      <dgm:prSet presAssocID="{E29C0F4D-22D0-46CA-A20D-6AA165269240}" presName="horz1" presStyleCnt="0"/>
      <dgm:spPr/>
    </dgm:pt>
    <dgm:pt modelId="{AF6BB485-251F-4719-96A5-F458CF9886B5}" type="pres">
      <dgm:prSet presAssocID="{E29C0F4D-22D0-46CA-A20D-6AA165269240}" presName="tx1" presStyleLbl="revTx" presStyleIdx="1" presStyleCnt="5"/>
      <dgm:spPr/>
    </dgm:pt>
    <dgm:pt modelId="{A5600B0D-32F1-477C-AFCD-8917342C2F1D}" type="pres">
      <dgm:prSet presAssocID="{E29C0F4D-22D0-46CA-A20D-6AA165269240}" presName="vert1" presStyleCnt="0"/>
      <dgm:spPr/>
    </dgm:pt>
    <dgm:pt modelId="{2BE85E77-1536-470A-A2C8-A8D4F4C518FB}" type="pres">
      <dgm:prSet presAssocID="{0403078A-B543-4754-A7C3-2C427D88F825}" presName="thickLine" presStyleLbl="alignNode1" presStyleIdx="2" presStyleCnt="5"/>
      <dgm:spPr/>
    </dgm:pt>
    <dgm:pt modelId="{EDD3F696-7A94-4793-8912-887A3D927E26}" type="pres">
      <dgm:prSet presAssocID="{0403078A-B543-4754-A7C3-2C427D88F825}" presName="horz1" presStyleCnt="0"/>
      <dgm:spPr/>
    </dgm:pt>
    <dgm:pt modelId="{64FE94C7-312F-434A-B1E6-EC86E6F02F6F}" type="pres">
      <dgm:prSet presAssocID="{0403078A-B543-4754-A7C3-2C427D88F825}" presName="tx1" presStyleLbl="revTx" presStyleIdx="2" presStyleCnt="5"/>
      <dgm:spPr/>
    </dgm:pt>
    <dgm:pt modelId="{F44CDF05-400E-477E-A3C3-6B5B5897032B}" type="pres">
      <dgm:prSet presAssocID="{0403078A-B543-4754-A7C3-2C427D88F825}" presName="vert1" presStyleCnt="0"/>
      <dgm:spPr/>
    </dgm:pt>
    <dgm:pt modelId="{733BC186-382F-4153-B456-C3BC2B289539}" type="pres">
      <dgm:prSet presAssocID="{BFC2B0A5-D41C-4441-8F7C-1B297C0B23D1}" presName="thickLine" presStyleLbl="alignNode1" presStyleIdx="3" presStyleCnt="5"/>
      <dgm:spPr/>
    </dgm:pt>
    <dgm:pt modelId="{7E4FEA78-59F4-403A-ADB3-7C0DF07676D3}" type="pres">
      <dgm:prSet presAssocID="{BFC2B0A5-D41C-4441-8F7C-1B297C0B23D1}" presName="horz1" presStyleCnt="0"/>
      <dgm:spPr/>
    </dgm:pt>
    <dgm:pt modelId="{D147C2EB-321A-4627-B2F2-6DC2AE01E4A5}" type="pres">
      <dgm:prSet presAssocID="{BFC2B0A5-D41C-4441-8F7C-1B297C0B23D1}" presName="tx1" presStyleLbl="revTx" presStyleIdx="3" presStyleCnt="5"/>
      <dgm:spPr/>
    </dgm:pt>
    <dgm:pt modelId="{691DCD84-F073-4A12-9937-72A50FDBDBC7}" type="pres">
      <dgm:prSet presAssocID="{BFC2B0A5-D41C-4441-8F7C-1B297C0B23D1}" presName="vert1" presStyleCnt="0"/>
      <dgm:spPr/>
    </dgm:pt>
    <dgm:pt modelId="{DBA87043-B7A9-4F77-958C-EFBFFA808490}" type="pres">
      <dgm:prSet presAssocID="{BB7A5DCD-2ED0-430C-9401-DFEB61B6D4DC}" presName="thickLine" presStyleLbl="alignNode1" presStyleIdx="4" presStyleCnt="5"/>
      <dgm:spPr/>
    </dgm:pt>
    <dgm:pt modelId="{47FDE331-0CC4-4215-B9E7-CEF2EA9DFFED}" type="pres">
      <dgm:prSet presAssocID="{BB7A5DCD-2ED0-430C-9401-DFEB61B6D4DC}" presName="horz1" presStyleCnt="0"/>
      <dgm:spPr/>
    </dgm:pt>
    <dgm:pt modelId="{6CF7E3DB-287E-4A9C-84D5-0D9A91B2EAEA}" type="pres">
      <dgm:prSet presAssocID="{BB7A5DCD-2ED0-430C-9401-DFEB61B6D4DC}" presName="tx1" presStyleLbl="revTx" presStyleIdx="4" presStyleCnt="5"/>
      <dgm:spPr/>
    </dgm:pt>
    <dgm:pt modelId="{3AA070BC-9510-440C-A55B-6E963DED554E}" type="pres">
      <dgm:prSet presAssocID="{BB7A5DCD-2ED0-430C-9401-DFEB61B6D4DC}" presName="vert1" presStyleCnt="0"/>
      <dgm:spPr/>
    </dgm:pt>
  </dgm:ptLst>
  <dgm:cxnLst>
    <dgm:cxn modelId="{E7B4CB2C-B45E-424B-8614-671805B89300}" srcId="{EB517152-06BC-4DB0-9E48-2043E2A79294}" destId="{2E72C1C3-B238-49C6-B81A-45B4DB502E4B}" srcOrd="0" destOrd="0" parTransId="{E911D42A-6C4B-44FB-BCE3-F7472454292D}" sibTransId="{70538DBD-EC09-4C00-BCC2-5877E638BE2C}"/>
    <dgm:cxn modelId="{41D6E65B-E106-4282-92C0-800CD90A513D}" type="presOf" srcId="{EB517152-06BC-4DB0-9E48-2043E2A79294}" destId="{B7A94C84-30A2-4B93-AD2D-4A9AEE57B88A}" srcOrd="0" destOrd="0" presId="urn:microsoft.com/office/officeart/2008/layout/LinedList"/>
    <dgm:cxn modelId="{8F3F916F-C9BE-4D2D-8C5F-55472CE5C9C8}" type="presOf" srcId="{BB7A5DCD-2ED0-430C-9401-DFEB61B6D4DC}" destId="{6CF7E3DB-287E-4A9C-84D5-0D9A91B2EAEA}" srcOrd="0" destOrd="0" presId="urn:microsoft.com/office/officeart/2008/layout/LinedList"/>
    <dgm:cxn modelId="{C61B7771-91B3-406D-8653-BB7C359ED6DE}" type="presOf" srcId="{2E72C1C3-B238-49C6-B81A-45B4DB502E4B}" destId="{6ACF89F2-F6EA-4CCE-8F4B-D06E7EF6C86E}" srcOrd="0" destOrd="0" presId="urn:microsoft.com/office/officeart/2008/layout/LinedList"/>
    <dgm:cxn modelId="{32142C77-6ACF-4383-A68B-DB94DDEE26E6}" type="presOf" srcId="{0403078A-B543-4754-A7C3-2C427D88F825}" destId="{64FE94C7-312F-434A-B1E6-EC86E6F02F6F}" srcOrd="0" destOrd="0" presId="urn:microsoft.com/office/officeart/2008/layout/LinedList"/>
    <dgm:cxn modelId="{6DE43A59-5AD6-49E9-8799-17930BA5E3F5}" srcId="{EB517152-06BC-4DB0-9E48-2043E2A79294}" destId="{0403078A-B543-4754-A7C3-2C427D88F825}" srcOrd="2" destOrd="0" parTransId="{7EB4D27C-FA5D-4397-B91A-059996154620}" sibTransId="{B5784C82-3C78-46EA-A6E4-A808E25F830A}"/>
    <dgm:cxn modelId="{BD716759-92BC-4AD6-9904-3372172C9556}" srcId="{EB517152-06BC-4DB0-9E48-2043E2A79294}" destId="{BFC2B0A5-D41C-4441-8F7C-1B297C0B23D1}" srcOrd="3" destOrd="0" parTransId="{9C106EE0-54A4-4643-AE18-6432A43170A3}" sibTransId="{281616C1-3B3C-4DFE-8390-2434E4EFC339}"/>
    <dgm:cxn modelId="{2A952A89-7B01-43E0-A860-899FFB510FE7}" srcId="{EB517152-06BC-4DB0-9E48-2043E2A79294}" destId="{E29C0F4D-22D0-46CA-A20D-6AA165269240}" srcOrd="1" destOrd="0" parTransId="{2D8E6480-20C0-414E-9409-D8DEEE67FE5F}" sibTransId="{CCE3EF6A-415B-47DE-A55C-E9CE54EA8CF1}"/>
    <dgm:cxn modelId="{1EFB00D1-EC08-4BEB-8B46-826C8BEAD088}" type="presOf" srcId="{BFC2B0A5-D41C-4441-8F7C-1B297C0B23D1}" destId="{D147C2EB-321A-4627-B2F2-6DC2AE01E4A5}" srcOrd="0" destOrd="0" presId="urn:microsoft.com/office/officeart/2008/layout/LinedList"/>
    <dgm:cxn modelId="{0DE35CE1-654C-4E13-AA47-89C82D470536}" type="presOf" srcId="{E29C0F4D-22D0-46CA-A20D-6AA165269240}" destId="{AF6BB485-251F-4719-96A5-F458CF9886B5}" srcOrd="0" destOrd="0" presId="urn:microsoft.com/office/officeart/2008/layout/LinedList"/>
    <dgm:cxn modelId="{AB10F1FC-539F-4514-9757-A7239A27A681}" srcId="{EB517152-06BC-4DB0-9E48-2043E2A79294}" destId="{BB7A5DCD-2ED0-430C-9401-DFEB61B6D4DC}" srcOrd="4" destOrd="0" parTransId="{2F54A3E2-D4FA-4A45-89A8-399198EC3A47}" sibTransId="{BBC455DF-3633-4229-A1AB-9C71B36133A6}"/>
    <dgm:cxn modelId="{F2DABB67-CF68-4A28-A31C-C5E19DB5158C}" type="presParOf" srcId="{B7A94C84-30A2-4B93-AD2D-4A9AEE57B88A}" destId="{1A3CC0DC-CB24-4B29-9AF7-C6E411D97227}" srcOrd="0" destOrd="0" presId="urn:microsoft.com/office/officeart/2008/layout/LinedList"/>
    <dgm:cxn modelId="{084C6B46-5854-492B-9A30-46B6573D5032}" type="presParOf" srcId="{B7A94C84-30A2-4B93-AD2D-4A9AEE57B88A}" destId="{0CBAC9C3-837A-49F2-8FDA-96E902A23153}" srcOrd="1" destOrd="0" presId="urn:microsoft.com/office/officeart/2008/layout/LinedList"/>
    <dgm:cxn modelId="{C3CC5B01-43B3-4578-BEF2-C0BB5CA5AB4E}" type="presParOf" srcId="{0CBAC9C3-837A-49F2-8FDA-96E902A23153}" destId="{6ACF89F2-F6EA-4CCE-8F4B-D06E7EF6C86E}" srcOrd="0" destOrd="0" presId="urn:microsoft.com/office/officeart/2008/layout/LinedList"/>
    <dgm:cxn modelId="{19F998D4-C9C7-4067-B103-0AEA4E23699B}" type="presParOf" srcId="{0CBAC9C3-837A-49F2-8FDA-96E902A23153}" destId="{95082ECB-289E-47B0-AC5C-0E17FAB2F8DD}" srcOrd="1" destOrd="0" presId="urn:microsoft.com/office/officeart/2008/layout/LinedList"/>
    <dgm:cxn modelId="{0248823B-A816-431D-A775-D6F1ECBA430A}" type="presParOf" srcId="{B7A94C84-30A2-4B93-AD2D-4A9AEE57B88A}" destId="{B3E2F5BE-B38E-4886-9E7E-B11B87B81F76}" srcOrd="2" destOrd="0" presId="urn:microsoft.com/office/officeart/2008/layout/LinedList"/>
    <dgm:cxn modelId="{AF2638C5-2DA0-4C65-B55B-7DB9A34E10E3}" type="presParOf" srcId="{B7A94C84-30A2-4B93-AD2D-4A9AEE57B88A}" destId="{DFB864E3-15FB-4EF7-A015-73EA7781D4FC}" srcOrd="3" destOrd="0" presId="urn:microsoft.com/office/officeart/2008/layout/LinedList"/>
    <dgm:cxn modelId="{B6C3A468-4AC4-40F7-9979-2AD7C3EC0EA5}" type="presParOf" srcId="{DFB864E3-15FB-4EF7-A015-73EA7781D4FC}" destId="{AF6BB485-251F-4719-96A5-F458CF9886B5}" srcOrd="0" destOrd="0" presId="urn:microsoft.com/office/officeart/2008/layout/LinedList"/>
    <dgm:cxn modelId="{7AFA7971-FA37-4DDA-9C80-4905940862BE}" type="presParOf" srcId="{DFB864E3-15FB-4EF7-A015-73EA7781D4FC}" destId="{A5600B0D-32F1-477C-AFCD-8917342C2F1D}" srcOrd="1" destOrd="0" presId="urn:microsoft.com/office/officeart/2008/layout/LinedList"/>
    <dgm:cxn modelId="{61099A23-32CD-4BD8-A67D-3A41EFD5F333}" type="presParOf" srcId="{B7A94C84-30A2-4B93-AD2D-4A9AEE57B88A}" destId="{2BE85E77-1536-470A-A2C8-A8D4F4C518FB}" srcOrd="4" destOrd="0" presId="urn:microsoft.com/office/officeart/2008/layout/LinedList"/>
    <dgm:cxn modelId="{FF4CFE48-F049-462A-992A-363C84B71638}" type="presParOf" srcId="{B7A94C84-30A2-4B93-AD2D-4A9AEE57B88A}" destId="{EDD3F696-7A94-4793-8912-887A3D927E26}" srcOrd="5" destOrd="0" presId="urn:microsoft.com/office/officeart/2008/layout/LinedList"/>
    <dgm:cxn modelId="{D269EC5A-16E0-498E-8E4B-1EA3957C1BFF}" type="presParOf" srcId="{EDD3F696-7A94-4793-8912-887A3D927E26}" destId="{64FE94C7-312F-434A-B1E6-EC86E6F02F6F}" srcOrd="0" destOrd="0" presId="urn:microsoft.com/office/officeart/2008/layout/LinedList"/>
    <dgm:cxn modelId="{331F8898-2553-406E-A09A-2C736A22E441}" type="presParOf" srcId="{EDD3F696-7A94-4793-8912-887A3D927E26}" destId="{F44CDF05-400E-477E-A3C3-6B5B5897032B}" srcOrd="1" destOrd="0" presId="urn:microsoft.com/office/officeart/2008/layout/LinedList"/>
    <dgm:cxn modelId="{8DB1B4ED-25AF-4D0B-95AF-640454137E6A}" type="presParOf" srcId="{B7A94C84-30A2-4B93-AD2D-4A9AEE57B88A}" destId="{733BC186-382F-4153-B456-C3BC2B289539}" srcOrd="6" destOrd="0" presId="urn:microsoft.com/office/officeart/2008/layout/LinedList"/>
    <dgm:cxn modelId="{7B744C44-CB51-4735-9BCB-CE46C27326B7}" type="presParOf" srcId="{B7A94C84-30A2-4B93-AD2D-4A9AEE57B88A}" destId="{7E4FEA78-59F4-403A-ADB3-7C0DF07676D3}" srcOrd="7" destOrd="0" presId="urn:microsoft.com/office/officeart/2008/layout/LinedList"/>
    <dgm:cxn modelId="{5E4A5F48-6044-472E-AB41-61DC3B8D9714}" type="presParOf" srcId="{7E4FEA78-59F4-403A-ADB3-7C0DF07676D3}" destId="{D147C2EB-321A-4627-B2F2-6DC2AE01E4A5}" srcOrd="0" destOrd="0" presId="urn:microsoft.com/office/officeart/2008/layout/LinedList"/>
    <dgm:cxn modelId="{3A8596CC-ED72-4B2F-85D6-92731FB95F64}" type="presParOf" srcId="{7E4FEA78-59F4-403A-ADB3-7C0DF07676D3}" destId="{691DCD84-F073-4A12-9937-72A50FDBDBC7}" srcOrd="1" destOrd="0" presId="urn:microsoft.com/office/officeart/2008/layout/LinedList"/>
    <dgm:cxn modelId="{9465E0D9-8874-4C31-93A7-6003D424C2D9}" type="presParOf" srcId="{B7A94C84-30A2-4B93-AD2D-4A9AEE57B88A}" destId="{DBA87043-B7A9-4F77-958C-EFBFFA808490}" srcOrd="8" destOrd="0" presId="urn:microsoft.com/office/officeart/2008/layout/LinedList"/>
    <dgm:cxn modelId="{54D9DFD4-6AAD-4C59-83E6-BE304D5CED6B}" type="presParOf" srcId="{B7A94C84-30A2-4B93-AD2D-4A9AEE57B88A}" destId="{47FDE331-0CC4-4215-B9E7-CEF2EA9DFFED}" srcOrd="9" destOrd="0" presId="urn:microsoft.com/office/officeart/2008/layout/LinedList"/>
    <dgm:cxn modelId="{4C6A2630-74BC-462C-8DB6-4AD21068B349}" type="presParOf" srcId="{47FDE331-0CC4-4215-B9E7-CEF2EA9DFFED}" destId="{6CF7E3DB-287E-4A9C-84D5-0D9A91B2EAEA}" srcOrd="0" destOrd="0" presId="urn:microsoft.com/office/officeart/2008/layout/LinedList"/>
    <dgm:cxn modelId="{CC075D2F-ADB8-4FA1-B916-F7B82C9B9785}" type="presParOf" srcId="{47FDE331-0CC4-4215-B9E7-CEF2EA9DFFED}" destId="{3AA070BC-9510-440C-A55B-6E963DED554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3CC0DC-CB24-4B29-9AF7-C6E411D97227}">
      <dsp:nvSpPr>
        <dsp:cNvPr id="0" name=""/>
        <dsp:cNvSpPr/>
      </dsp:nvSpPr>
      <dsp:spPr>
        <a:xfrm>
          <a:off x="0" y="729"/>
          <a:ext cx="6879517"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CF89F2-F6EA-4CCE-8F4B-D06E7EF6C86E}">
      <dsp:nvSpPr>
        <dsp:cNvPr id="0" name=""/>
        <dsp:cNvSpPr/>
      </dsp:nvSpPr>
      <dsp:spPr>
        <a:xfrm>
          <a:off x="0" y="729"/>
          <a:ext cx="6879517" cy="1194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0" i="0" kern="1200" baseline="0"/>
            <a:t>Selection of study subjects</a:t>
          </a:r>
          <a:endParaRPr lang="en-US" sz="3600" kern="1200"/>
        </a:p>
      </dsp:txBody>
      <dsp:txXfrm>
        <a:off x="0" y="729"/>
        <a:ext cx="6879517" cy="1194354"/>
      </dsp:txXfrm>
    </dsp:sp>
    <dsp:sp modelId="{B3E2F5BE-B38E-4886-9E7E-B11B87B81F76}">
      <dsp:nvSpPr>
        <dsp:cNvPr id="0" name=""/>
        <dsp:cNvSpPr/>
      </dsp:nvSpPr>
      <dsp:spPr>
        <a:xfrm>
          <a:off x="0" y="1195083"/>
          <a:ext cx="6879517" cy="0"/>
        </a:xfrm>
        <a:prstGeom prst="line">
          <a:avLst/>
        </a:prstGeom>
        <a:solidFill>
          <a:schemeClr val="accent2">
            <a:hueOff val="-378161"/>
            <a:satOff val="-2641"/>
            <a:lumOff val="735"/>
            <a:alphaOff val="0"/>
          </a:schemeClr>
        </a:solidFill>
        <a:ln w="12700" cap="flat" cmpd="sng" algn="ctr">
          <a:solidFill>
            <a:schemeClr val="accent2">
              <a:hueOff val="-378161"/>
              <a:satOff val="-2641"/>
              <a:lumOff val="73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6BB485-251F-4719-96A5-F458CF9886B5}">
      <dsp:nvSpPr>
        <dsp:cNvPr id="0" name=""/>
        <dsp:cNvSpPr/>
      </dsp:nvSpPr>
      <dsp:spPr>
        <a:xfrm>
          <a:off x="0" y="1195083"/>
          <a:ext cx="6879517" cy="1194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0" i="0" kern="1200" baseline="0"/>
            <a:t>Obtaining data on exposure</a:t>
          </a:r>
          <a:endParaRPr lang="en-US" sz="3600" kern="1200"/>
        </a:p>
      </dsp:txBody>
      <dsp:txXfrm>
        <a:off x="0" y="1195083"/>
        <a:ext cx="6879517" cy="1194354"/>
      </dsp:txXfrm>
    </dsp:sp>
    <dsp:sp modelId="{2BE85E77-1536-470A-A2C8-A8D4F4C518FB}">
      <dsp:nvSpPr>
        <dsp:cNvPr id="0" name=""/>
        <dsp:cNvSpPr/>
      </dsp:nvSpPr>
      <dsp:spPr>
        <a:xfrm>
          <a:off x="0" y="2389437"/>
          <a:ext cx="6879517" cy="0"/>
        </a:xfrm>
        <a:prstGeom prst="line">
          <a:avLst/>
        </a:prstGeom>
        <a:solidFill>
          <a:schemeClr val="accent2">
            <a:hueOff val="-756322"/>
            <a:satOff val="-5282"/>
            <a:lumOff val="1470"/>
            <a:alphaOff val="0"/>
          </a:schemeClr>
        </a:solidFill>
        <a:ln w="12700" cap="flat" cmpd="sng" algn="ctr">
          <a:solidFill>
            <a:schemeClr val="accent2">
              <a:hueOff val="-756322"/>
              <a:satOff val="-5282"/>
              <a:lumOff val="14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FE94C7-312F-434A-B1E6-EC86E6F02F6F}">
      <dsp:nvSpPr>
        <dsp:cNvPr id="0" name=""/>
        <dsp:cNvSpPr/>
      </dsp:nvSpPr>
      <dsp:spPr>
        <a:xfrm>
          <a:off x="0" y="2389437"/>
          <a:ext cx="6879517" cy="1194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0" i="0" kern="1200" baseline="0"/>
            <a:t>Selection of comparison groups</a:t>
          </a:r>
          <a:endParaRPr lang="en-US" sz="3600" kern="1200"/>
        </a:p>
      </dsp:txBody>
      <dsp:txXfrm>
        <a:off x="0" y="2389437"/>
        <a:ext cx="6879517" cy="1194354"/>
      </dsp:txXfrm>
    </dsp:sp>
    <dsp:sp modelId="{733BC186-382F-4153-B456-C3BC2B289539}">
      <dsp:nvSpPr>
        <dsp:cNvPr id="0" name=""/>
        <dsp:cNvSpPr/>
      </dsp:nvSpPr>
      <dsp:spPr>
        <a:xfrm>
          <a:off x="0" y="3583792"/>
          <a:ext cx="6879517" cy="0"/>
        </a:xfrm>
        <a:prstGeom prst="line">
          <a:avLst/>
        </a:prstGeom>
        <a:solidFill>
          <a:schemeClr val="accent2">
            <a:hueOff val="-1134483"/>
            <a:satOff val="-7923"/>
            <a:lumOff val="2204"/>
            <a:alphaOff val="0"/>
          </a:schemeClr>
        </a:solidFill>
        <a:ln w="12700" cap="flat" cmpd="sng" algn="ctr">
          <a:solidFill>
            <a:schemeClr val="accent2">
              <a:hueOff val="-1134483"/>
              <a:satOff val="-7923"/>
              <a:lumOff val="220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47C2EB-321A-4627-B2F2-6DC2AE01E4A5}">
      <dsp:nvSpPr>
        <dsp:cNvPr id="0" name=""/>
        <dsp:cNvSpPr/>
      </dsp:nvSpPr>
      <dsp:spPr>
        <a:xfrm>
          <a:off x="0" y="3583792"/>
          <a:ext cx="6879517" cy="1194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0" i="0" kern="1200" baseline="0"/>
            <a:t>Follow-up</a:t>
          </a:r>
          <a:endParaRPr lang="en-US" sz="3600" kern="1200"/>
        </a:p>
      </dsp:txBody>
      <dsp:txXfrm>
        <a:off x="0" y="3583792"/>
        <a:ext cx="6879517" cy="1194354"/>
      </dsp:txXfrm>
    </dsp:sp>
    <dsp:sp modelId="{DBA87043-B7A9-4F77-958C-EFBFFA808490}">
      <dsp:nvSpPr>
        <dsp:cNvPr id="0" name=""/>
        <dsp:cNvSpPr/>
      </dsp:nvSpPr>
      <dsp:spPr>
        <a:xfrm>
          <a:off x="0" y="4778146"/>
          <a:ext cx="6879517" cy="0"/>
        </a:xfrm>
        <a:prstGeom prst="line">
          <a:avLst/>
        </a:prstGeom>
        <a:solidFill>
          <a:schemeClr val="accent2">
            <a:hueOff val="-1512643"/>
            <a:satOff val="-10564"/>
            <a:lumOff val="2939"/>
            <a:alphaOff val="0"/>
          </a:schemeClr>
        </a:solidFill>
        <a:ln w="12700" cap="flat" cmpd="sng" algn="ctr">
          <a:solidFill>
            <a:schemeClr val="accent2">
              <a:hueOff val="-1512643"/>
              <a:satOff val="-10564"/>
              <a:lumOff val="29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F7E3DB-287E-4A9C-84D5-0D9A91B2EAEA}">
      <dsp:nvSpPr>
        <dsp:cNvPr id="0" name=""/>
        <dsp:cNvSpPr/>
      </dsp:nvSpPr>
      <dsp:spPr>
        <a:xfrm>
          <a:off x="0" y="4778146"/>
          <a:ext cx="6879517" cy="1194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0" i="0" kern="1200" baseline="0"/>
            <a:t>Analysis.</a:t>
          </a:r>
          <a:endParaRPr lang="en-US" sz="3600" kern="1200"/>
        </a:p>
      </dsp:txBody>
      <dsp:txXfrm>
        <a:off x="0" y="4778146"/>
        <a:ext cx="6879517" cy="119435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317D1EC0-23FF-4FC8-B22D-E34878EAA4C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AB929A7-258C-4469-AAB4-A67D713F7A80}"/>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A635CDB-2D00-49D5-B26E-0694A25000C7}"/>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288D7A-F857-418D-92F2-368E841B9F27}"/>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1084F50-7F3C-4A4A-877E-FFD9EC7CD88B}"/>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31E64C1-F4C0-4A94-B319-BB1A0A2450B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63D8374-8052-417F-AB69-B97EAC43D51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7750734-4D51-4019-A003-38A3DE49B434}"/>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1B693D1-DBA2-4D3B-9B37-D9EE8C4112F4}"/>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CD3EA8-E4C0-4AF6-817F-F9F29157A499}"/>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170FB3-B397-4AC9-85FD-65388F26D90A}"/>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E5EC0B9-49C7-4777-AEC5-B5EF8DE40498}"/>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902048B-30F7-4434-87A5-140F9BB4BEB1}"/>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500A6E2-A41C-4751-8A4E-9A0C5718D930}"/>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C259517-7BE7-45F9-81C0-3A6362BF143C}"/>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0652F56-7B71-42B2-AB68-22204A6DF17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059830E-1C3D-4D42-8789-524971CB4657}"/>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3325A7-86D3-4B52-A7E3-ADDF408B4067}"/>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53F46F-EC12-484C-A4E7-791E57687AC1}"/>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64ED9CA-8950-47B8-A9ED-22B45CE15FB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4429F7B-9FD7-438F-8ECA-3FCAD006180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558100-D455-4B41-890C-BCC898B2D165}"/>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2886397-398A-4318-BE16-2CBAC1902F9E}"/>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D32A3A6-CE6E-4ABD-8522-2C8DC88C070E}"/>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9014C09-5B84-4798-8BDE-C80D76E67B8E}"/>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A29EB9E-ED9D-4C69-8A26-9A7A0A83056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A2899F9-1795-416F-8F3D-26EEB684DB6A}"/>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3043474-8625-495C-BD06-3627FD286C55}"/>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432CE47-7631-408E-8DDC-79EE378B707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2C8832D-8B8D-4036-B913-2D363143274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CCEFEAF-E87B-4FF2-A947-94CABAA0610D}"/>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43A7CD3-94E1-42A9-BAB7-2AFCD9FCBD10}"/>
              </a:ext>
            </a:extLst>
          </p:cNvPr>
          <p:cNvSpPr>
            <a:spLocks noGrp="1"/>
          </p:cNvSpPr>
          <p:nvPr>
            <p:ph type="ctrTitle"/>
          </p:nvPr>
        </p:nvSpPr>
        <p:spPr>
          <a:xfrm>
            <a:off x="691078" y="722903"/>
            <a:ext cx="10495904" cy="2460770"/>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467609B-8FD3-4FF7-8EBC-6619CA868B33}"/>
              </a:ext>
            </a:extLst>
          </p:cNvPr>
          <p:cNvSpPr>
            <a:spLocks noGrp="1"/>
          </p:cNvSpPr>
          <p:nvPr>
            <p:ph type="subTitle" idx="1"/>
          </p:nvPr>
        </p:nvSpPr>
        <p:spPr>
          <a:xfrm>
            <a:off x="691078" y="3428997"/>
            <a:ext cx="10495904" cy="2306639"/>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39" name="Right Triangle 38">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ACC7A76F-3401-4F50-AE85-8F2AA247B99F}"/>
              </a:ext>
            </a:extLst>
          </p:cNvPr>
          <p:cNvSpPr>
            <a:spLocks noGrp="1"/>
          </p:cNvSpPr>
          <p:nvPr>
            <p:ph type="dt" sz="half" idx="10"/>
          </p:nvPr>
        </p:nvSpPr>
        <p:spPr/>
        <p:txBody>
          <a:bodyPr/>
          <a:lstStyle/>
          <a:p>
            <a:fld id="{8F72BA41-EC5B-4197-BCC8-0FD2E523CD7A}" type="datetimeFigureOut">
              <a:rPr lang="en-US" smtClean="0"/>
              <a:t>5/9/2024</a:t>
            </a:fld>
            <a:endParaRPr lang="en-US"/>
          </a:p>
        </p:txBody>
      </p:sp>
      <p:sp>
        <p:nvSpPr>
          <p:cNvPr id="5" name="Footer Placeholder 4">
            <a:extLst>
              <a:ext uri="{FF2B5EF4-FFF2-40B4-BE49-F238E27FC236}">
                <a16:creationId xmlns:a16="http://schemas.microsoft.com/office/drawing/2014/main" id="{DEF02E50-D34E-4DD4-8B3B-55D08F25F50A}"/>
              </a:ext>
            </a:extLst>
          </p:cNvPr>
          <p:cNvSpPr>
            <a:spLocks noGrp="1"/>
          </p:cNvSpPr>
          <p:nvPr>
            <p:ph type="ftr" sz="quarter" idx="11"/>
          </p:nvPr>
        </p:nvSpPr>
        <p:spPr>
          <a:xfrm>
            <a:off x="691078" y="236364"/>
            <a:ext cx="4114800" cy="417126"/>
          </a:xfrm>
        </p:spPr>
        <p:txBody>
          <a:bodyPr/>
          <a:lstStyle/>
          <a:p>
            <a:endParaRPr lang="en-US" dirty="0"/>
          </a:p>
        </p:txBody>
      </p:sp>
      <p:sp>
        <p:nvSpPr>
          <p:cNvPr id="6" name="Slide Number Placeholder 5">
            <a:extLst>
              <a:ext uri="{FF2B5EF4-FFF2-40B4-BE49-F238E27FC236}">
                <a16:creationId xmlns:a16="http://schemas.microsoft.com/office/drawing/2014/main" id="{37B53B71-D2FA-4DDC-9C9C-E26F7B591A8E}"/>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61168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8D6B-70A2-430A-9F5D-DA093D8C16CF}"/>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94A2845-6CA6-4745-A951-25B8D5319D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049424-7A20-4BA1-9F60-671A5DBB3B13}"/>
              </a:ext>
            </a:extLst>
          </p:cNvPr>
          <p:cNvSpPr>
            <a:spLocks noGrp="1"/>
          </p:cNvSpPr>
          <p:nvPr>
            <p:ph type="dt" sz="half" idx="10"/>
          </p:nvPr>
        </p:nvSpPr>
        <p:spPr/>
        <p:txBody>
          <a:bodyPr/>
          <a:lstStyle/>
          <a:p>
            <a:fld id="{8F72BA41-EC5B-4197-BCC8-0FD2E523CD7A}" type="datetimeFigureOut">
              <a:rPr lang="en-US" smtClean="0"/>
              <a:t>5/9/2024</a:t>
            </a:fld>
            <a:endParaRPr lang="en-US"/>
          </a:p>
        </p:txBody>
      </p:sp>
      <p:sp>
        <p:nvSpPr>
          <p:cNvPr id="5" name="Footer Placeholder 4">
            <a:extLst>
              <a:ext uri="{FF2B5EF4-FFF2-40B4-BE49-F238E27FC236}">
                <a16:creationId xmlns:a16="http://schemas.microsoft.com/office/drawing/2014/main" id="{4F1BD2B2-E17F-402E-8EA3-5C7C1118A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D23070-8658-4AC0-B2A3-4BE605A840F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273965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69DB7AC-F7D7-430A-A2A7-CD3EBBF1D35D}"/>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66AAF10E-F092-4160-BF4A-FF568555B790}"/>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6341C04-9B94-4385-A661-7B8C17000497}"/>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C1D709-6A0F-409C-B2D0-C248E562265E}"/>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99BE53-BA11-4B67-BFBB-6281DB50C75D}"/>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662D93-31C1-4DFB-A938-E631F89AA9F0}"/>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ECC8DA-0BEC-4508-89D4-12FA35B481F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DC8E6C-1B78-4B89-82DD-BBA778CD1482}"/>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8E5F54A-0315-4B15-B865-1F0460526260}"/>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D7F352-DE39-4835-8D3F-69CDEC490F1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D6F20A-F777-4F41-B23B-735A64FA5DA3}"/>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1BBADBA-0F74-418B-BC50-AD44596C3EF8}"/>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918BE26-88E5-457C-8095-745F34D1536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B269E0-E058-4340-B93D-7D40FFF521F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DDD9AEE-5501-4385-B339-4616F567B53D}"/>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4D29C61-8926-4C98-882B-AB90108C8386}"/>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AC585F9-B633-4F7E-AADE-75079DC17158}"/>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5DC6366-5525-4FBC-9886-D4409F6B2993}"/>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CC03CF9-098C-4140-806A-023D3DC3F2E3}"/>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C41BC4-89DF-4EC4-A141-9EF16D8EEB5B}"/>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32AD067-E64C-499E-9C0A-A7252587441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653DD54-FA2B-4B91-A94E-3C46AE21B38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86AC204-156B-442E-B028-01036BD1F26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03512DE-F013-431A-9F6E-ADDA88FB2DD5}"/>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E95FEE1-61A9-4065-B9F8-5589180AC62B}"/>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028AA59-C1FA-46C0-BFDD-1C1D3404C81C}"/>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A5C99EE-B791-470A-8639-0357A751EB43}"/>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54F4204-F48B-4AF5-B11E-0CE7D972AC3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76643FE-3966-4B82-9623-C61A56EDD20C}"/>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DD769C5-B1B1-45BD-A40A-67E6568C843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A511707-50C7-48B2-81F7-5C82BF57795C}"/>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38D44F3-CCFE-48A0-8414-FFF5E43D9184}"/>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D126FE0-8204-40BB-AD46-4A0C7A47514C}"/>
              </a:ext>
            </a:extLst>
          </p:cNvPr>
          <p:cNvSpPr>
            <a:spLocks noGrp="1"/>
          </p:cNvSpPr>
          <p:nvPr>
            <p:ph type="title"/>
          </p:nvPr>
        </p:nvSpPr>
        <p:spPr>
          <a:xfrm>
            <a:off x="691078" y="718115"/>
            <a:ext cx="10312571" cy="2781501"/>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25E350-4200-419C-A167-527DD6B77792}"/>
              </a:ext>
            </a:extLst>
          </p:cNvPr>
          <p:cNvSpPr>
            <a:spLocks noGrp="1"/>
          </p:cNvSpPr>
          <p:nvPr>
            <p:ph type="body" idx="1"/>
          </p:nvPr>
        </p:nvSpPr>
        <p:spPr>
          <a:xfrm>
            <a:off x="691078" y="3753350"/>
            <a:ext cx="10312571" cy="1991572"/>
          </a:xfrm>
        </p:spPr>
        <p:txBody>
          <a:bodyPr/>
          <a:lstStyle>
            <a:lvl1pPr marL="0" indent="0">
              <a:buNone/>
              <a:defRPr lang="en-US" sz="2400" kern="1200" smtClean="0">
                <a:solidFill>
                  <a:schemeClr val="tx2"/>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39" name="Right Triangle 38">
            <a:extLst>
              <a:ext uri="{FF2B5EF4-FFF2-40B4-BE49-F238E27FC236}">
                <a16:creationId xmlns:a16="http://schemas.microsoft.com/office/drawing/2014/main" id="{6741F519-22CF-4C01-B140-5480DBAB30F8}"/>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D05D1550-9064-4767-B70A-3501AF956C94}"/>
              </a:ext>
            </a:extLst>
          </p:cNvPr>
          <p:cNvSpPr>
            <a:spLocks noGrp="1"/>
          </p:cNvSpPr>
          <p:nvPr>
            <p:ph type="dt" sz="half" idx="10"/>
          </p:nvPr>
        </p:nvSpPr>
        <p:spPr/>
        <p:txBody>
          <a:bodyPr/>
          <a:lstStyle/>
          <a:p>
            <a:fld id="{8F72BA41-EC5B-4197-BCC8-0FD2E523CD7A}" type="datetimeFigureOut">
              <a:rPr lang="en-US" smtClean="0"/>
              <a:t>5/9/2024</a:t>
            </a:fld>
            <a:endParaRPr lang="en-US"/>
          </a:p>
        </p:txBody>
      </p:sp>
      <p:sp>
        <p:nvSpPr>
          <p:cNvPr id="5" name="Footer Placeholder 4">
            <a:extLst>
              <a:ext uri="{FF2B5EF4-FFF2-40B4-BE49-F238E27FC236}">
                <a16:creationId xmlns:a16="http://schemas.microsoft.com/office/drawing/2014/main" id="{581E1C33-2E8E-4041-9683-12048CB8AB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D36992-B921-4F3F-9C4A-0D67E618D114}"/>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423992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CFDF5-4B31-4F1B-83BA-82A9510379F2}"/>
              </a:ext>
            </a:extLst>
          </p:cNvPr>
          <p:cNvSpPr>
            <a:spLocks noGrp="1"/>
          </p:cNvSpPr>
          <p:nvPr>
            <p:ph type="title"/>
          </p:nvPr>
        </p:nvSpPr>
        <p:spPr>
          <a:xfrm>
            <a:off x="691078" y="722903"/>
            <a:ext cx="10312571" cy="1354844"/>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14EC9A6-F718-4497-8A75-637EE17458E0}"/>
              </a:ext>
            </a:extLst>
          </p:cNvPr>
          <p:cNvSpPr>
            <a:spLocks noGrp="1"/>
          </p:cNvSpPr>
          <p:nvPr>
            <p:ph sz="half" idx="1"/>
          </p:nvPr>
        </p:nvSpPr>
        <p:spPr>
          <a:xfrm>
            <a:off x="691078" y="2345843"/>
            <a:ext cx="500958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D503E57-9695-4508-9778-B3DB1FB5FAB6}"/>
              </a:ext>
            </a:extLst>
          </p:cNvPr>
          <p:cNvSpPr>
            <a:spLocks noGrp="1"/>
          </p:cNvSpPr>
          <p:nvPr>
            <p:ph sz="half" idx="2"/>
          </p:nvPr>
        </p:nvSpPr>
        <p:spPr>
          <a:xfrm>
            <a:off x="5935075" y="2345843"/>
            <a:ext cx="506857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474CEE6-B9DC-4CCC-8F4C-0B4DADFB0195}"/>
              </a:ext>
            </a:extLst>
          </p:cNvPr>
          <p:cNvSpPr>
            <a:spLocks noGrp="1"/>
          </p:cNvSpPr>
          <p:nvPr>
            <p:ph type="dt" sz="half" idx="10"/>
          </p:nvPr>
        </p:nvSpPr>
        <p:spPr/>
        <p:txBody>
          <a:bodyPr/>
          <a:lstStyle/>
          <a:p>
            <a:fld id="{8F72BA41-EC5B-4197-BCC8-0FD2E523CD7A}" type="datetimeFigureOut">
              <a:rPr lang="en-US" smtClean="0"/>
              <a:t>5/9/2024</a:t>
            </a:fld>
            <a:endParaRPr lang="en-US"/>
          </a:p>
        </p:txBody>
      </p:sp>
      <p:sp>
        <p:nvSpPr>
          <p:cNvPr id="6" name="Footer Placeholder 5">
            <a:extLst>
              <a:ext uri="{FF2B5EF4-FFF2-40B4-BE49-F238E27FC236}">
                <a16:creationId xmlns:a16="http://schemas.microsoft.com/office/drawing/2014/main" id="{2AC85191-5804-47C9-95EB-D49D715737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6B0A03-44F6-4299-B45D-E07A023906F0}"/>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898598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920E6-CC97-4BD8-92FE-8F36024D0E38}"/>
              </a:ext>
            </a:extLst>
          </p:cNvPr>
          <p:cNvSpPr>
            <a:spLocks noGrp="1"/>
          </p:cNvSpPr>
          <p:nvPr>
            <p:ph type="title"/>
          </p:nvPr>
        </p:nvSpPr>
        <p:spPr>
          <a:xfrm>
            <a:off x="691078" y="722900"/>
            <a:ext cx="10320062" cy="1407505"/>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3872FB-EDD5-42FB-8A9A-279EAD4FB0D9}"/>
              </a:ext>
            </a:extLst>
          </p:cNvPr>
          <p:cNvSpPr>
            <a:spLocks noGrp="1"/>
          </p:cNvSpPr>
          <p:nvPr>
            <p:ph type="body" idx="1"/>
          </p:nvPr>
        </p:nvSpPr>
        <p:spPr>
          <a:xfrm>
            <a:off x="691078" y="2331481"/>
            <a:ext cx="4963444"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5F28C1-95C8-476A-8D93-D580DD39D8F7}"/>
              </a:ext>
            </a:extLst>
          </p:cNvPr>
          <p:cNvSpPr>
            <a:spLocks noGrp="1"/>
          </p:cNvSpPr>
          <p:nvPr>
            <p:ph sz="half" idx="2"/>
          </p:nvPr>
        </p:nvSpPr>
        <p:spPr>
          <a:xfrm>
            <a:off x="691078" y="2954564"/>
            <a:ext cx="4963444"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4315485-EE1A-41B0-873A-BA9D06E88BFD}"/>
              </a:ext>
            </a:extLst>
          </p:cNvPr>
          <p:cNvSpPr>
            <a:spLocks noGrp="1"/>
          </p:cNvSpPr>
          <p:nvPr>
            <p:ph type="body" sz="quarter" idx="3"/>
          </p:nvPr>
        </p:nvSpPr>
        <p:spPr>
          <a:xfrm>
            <a:off x="6103351" y="2331481"/>
            <a:ext cx="4900298"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81A6FB-1583-4A1B-A4A7-C65062C57B73}"/>
              </a:ext>
            </a:extLst>
          </p:cNvPr>
          <p:cNvSpPr>
            <a:spLocks noGrp="1"/>
          </p:cNvSpPr>
          <p:nvPr>
            <p:ph sz="quarter" idx="4"/>
          </p:nvPr>
        </p:nvSpPr>
        <p:spPr>
          <a:xfrm>
            <a:off x="6103351" y="2954564"/>
            <a:ext cx="4900298"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3A29EA7-E61E-4617-9DA9-40B9299B3287}"/>
              </a:ext>
            </a:extLst>
          </p:cNvPr>
          <p:cNvSpPr>
            <a:spLocks noGrp="1"/>
          </p:cNvSpPr>
          <p:nvPr>
            <p:ph type="dt" sz="half" idx="10"/>
          </p:nvPr>
        </p:nvSpPr>
        <p:spPr>
          <a:xfrm>
            <a:off x="683587" y="6215870"/>
            <a:ext cx="3843779" cy="417126"/>
          </a:xfrm>
        </p:spPr>
        <p:txBody>
          <a:bodyPr/>
          <a:lstStyle/>
          <a:p>
            <a:fld id="{8F72BA41-EC5B-4197-BCC8-0FD2E523CD7A}" type="datetimeFigureOut">
              <a:rPr lang="en-US" smtClean="0"/>
              <a:t>5/9/2024</a:t>
            </a:fld>
            <a:endParaRPr lang="en-US"/>
          </a:p>
        </p:txBody>
      </p:sp>
      <p:sp>
        <p:nvSpPr>
          <p:cNvPr id="8" name="Footer Placeholder 7">
            <a:extLst>
              <a:ext uri="{FF2B5EF4-FFF2-40B4-BE49-F238E27FC236}">
                <a16:creationId xmlns:a16="http://schemas.microsoft.com/office/drawing/2014/main" id="{D56249CC-EB72-46A6-87D9-5FBDA8E450EC}"/>
              </a:ext>
            </a:extLst>
          </p:cNvPr>
          <p:cNvSpPr>
            <a:spLocks noGrp="1"/>
          </p:cNvSpPr>
          <p:nvPr>
            <p:ph type="ftr" sz="quarter" idx="11"/>
          </p:nvPr>
        </p:nvSpPr>
        <p:spPr>
          <a:xfrm>
            <a:off x="691078" y="236364"/>
            <a:ext cx="4114800" cy="417126"/>
          </a:xfrm>
        </p:spPr>
        <p:txBody>
          <a:bodyPr/>
          <a:lstStyle/>
          <a:p>
            <a:endParaRPr lang="en-US" dirty="0"/>
          </a:p>
        </p:txBody>
      </p:sp>
      <p:sp>
        <p:nvSpPr>
          <p:cNvPr id="9" name="Slide Number Placeholder 8">
            <a:extLst>
              <a:ext uri="{FF2B5EF4-FFF2-40B4-BE49-F238E27FC236}">
                <a16:creationId xmlns:a16="http://schemas.microsoft.com/office/drawing/2014/main" id="{EAA04EE7-47BE-4ECE-A170-793C4E56951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922638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E4946-24AD-40DD-95A7-49BA49C227DF}"/>
              </a:ext>
            </a:extLst>
          </p:cNvPr>
          <p:cNvSpPr>
            <a:spLocks noGrp="1"/>
          </p:cNvSpPr>
          <p:nvPr>
            <p:ph type="title"/>
          </p:nvPr>
        </p:nvSpPr>
        <p:spPr>
          <a:xfrm>
            <a:off x="691078" y="722903"/>
            <a:ext cx="10501177" cy="1401231"/>
          </a:xfrm>
        </p:spPr>
        <p:txBody>
          <a:bodyPr/>
          <a:lstStyle>
            <a:lvl1pP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D8CF342-49F6-482D-943E-7E50B1694AE3}"/>
              </a:ext>
            </a:extLst>
          </p:cNvPr>
          <p:cNvSpPr>
            <a:spLocks noGrp="1"/>
          </p:cNvSpPr>
          <p:nvPr>
            <p:ph type="dt" sz="half" idx="10"/>
          </p:nvPr>
        </p:nvSpPr>
        <p:spPr/>
        <p:txBody>
          <a:bodyPr/>
          <a:lstStyle/>
          <a:p>
            <a:fld id="{8F72BA41-EC5B-4197-BCC8-0FD2E523CD7A}" type="datetimeFigureOut">
              <a:rPr lang="en-US" smtClean="0"/>
              <a:t>5/9/2024</a:t>
            </a:fld>
            <a:endParaRPr lang="en-US"/>
          </a:p>
        </p:txBody>
      </p:sp>
      <p:sp>
        <p:nvSpPr>
          <p:cNvPr id="4" name="Footer Placeholder 3">
            <a:extLst>
              <a:ext uri="{FF2B5EF4-FFF2-40B4-BE49-F238E27FC236}">
                <a16:creationId xmlns:a16="http://schemas.microsoft.com/office/drawing/2014/main" id="{064033E5-3797-4FF8-866F-9FD9325A9FAB}"/>
              </a:ext>
            </a:extLst>
          </p:cNvPr>
          <p:cNvSpPr>
            <a:spLocks noGrp="1"/>
          </p:cNvSpPr>
          <p:nvPr>
            <p:ph type="ftr" sz="quarter" idx="11"/>
          </p:nvPr>
        </p:nvSpPr>
        <p:spPr>
          <a:xfrm>
            <a:off x="691078" y="236364"/>
            <a:ext cx="4114800" cy="417126"/>
          </a:xfrm>
        </p:spPr>
        <p:txBody>
          <a:bodyPr/>
          <a:lstStyle/>
          <a:p>
            <a:endParaRPr lang="en-US"/>
          </a:p>
        </p:txBody>
      </p:sp>
      <p:sp>
        <p:nvSpPr>
          <p:cNvPr id="5" name="Slide Number Placeholder 4">
            <a:extLst>
              <a:ext uri="{FF2B5EF4-FFF2-40B4-BE49-F238E27FC236}">
                <a16:creationId xmlns:a16="http://schemas.microsoft.com/office/drawing/2014/main" id="{66DC1E67-424D-4638-98F8-38E71A41001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158780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5BED274-5EB4-4EF4-B353-E55BD502655C}"/>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6" name="Straight Connector 5">
              <a:extLst>
                <a:ext uri="{FF2B5EF4-FFF2-40B4-BE49-F238E27FC236}">
                  <a16:creationId xmlns:a16="http://schemas.microsoft.com/office/drawing/2014/main" id="{E0418BE5-560E-4E49-B12D-B555511FED72}"/>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49D1162-73B9-420F-BCBE-95039D00CD24}"/>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2BA76FE-316A-48E2-A03B-4E05691C4348}"/>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E678FBC-A6AD-4422-BA24-A4172F8862CA}"/>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D3C5C3E-2D08-43F0-AFAC-E15360CA7D3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0BEAC62-AF92-4A65-9790-6F6E0C6C5A1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C77D7C5-E76E-4E82-BFC4-9A75D2C8089D}"/>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66E0152-96B9-4067-80D3-D9BDE6D7EC9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18AFCC-B9DA-4092-8FBA-2CFEDB0388E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1EC7D33-C87E-4812-A722-53C5D99272B5}"/>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5F239E3-501A-4C3C-9BE4-6BFA0D3126B7}"/>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62BF3B-95BB-4188-AAE5-015A0EF3D18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4E5F0F-0124-40D0-A0BF-AE307A0E15F4}"/>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BADC3B1-26C7-4CF1-B29D-4D0DEA3E2633}"/>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0A7DF6E-1132-4A80-9B18-593B1ACD778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EF19589-10D8-4A8F-A0B1-F7CE380E3001}"/>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8E6BB32-C4F8-4914-88D3-7DC5E79D023E}"/>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8F046EE-9DBA-4924-A19C-ED8741F5F810}"/>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AABBC44-ABA8-4913-824E-64D344724644}"/>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272B22-1C39-47A0-8551-73666AFBE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8CDFF66-464C-4ABF-BB01-00500A3B7517}"/>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079FC88-BD3B-4C04-9B90-0FC93C17921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FCAED8-8687-4141-A7C3-0D88ACEDFEC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65038E6-7B32-460F-B804-D6C105FF44C9}"/>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C5DAE85-AD17-454B-AB64-CEFF52FDAB9D}"/>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C603643-2066-4967-AE4B-9DA143843B2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37E9533-9B07-43E3-B939-7BADC01FEE86}"/>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DCCAAEE-AB2E-4534-893A-3DB109499FB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8BD39A2-970F-4714-AAA6-67EE99A0EAA9}"/>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F4A1387-348B-4E46-9B65-FDF76ED0EF20}"/>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F5DAF27-A54D-442A-93E4-BA7F04EAE379}"/>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D2EA265F-80A1-448D-A6EB-CE8D6F6EC723}"/>
              </a:ext>
            </a:extLst>
          </p:cNvPr>
          <p:cNvSpPr>
            <a:spLocks noGrp="1"/>
          </p:cNvSpPr>
          <p:nvPr>
            <p:ph type="dt" sz="half" idx="10"/>
          </p:nvPr>
        </p:nvSpPr>
        <p:spPr/>
        <p:txBody>
          <a:bodyPr/>
          <a:lstStyle/>
          <a:p>
            <a:fld id="{8F72BA41-EC5B-4197-BCC8-0FD2E523CD7A}" type="datetimeFigureOut">
              <a:rPr lang="en-US" smtClean="0"/>
              <a:t>5/9/2024</a:t>
            </a:fld>
            <a:endParaRPr lang="en-US"/>
          </a:p>
        </p:txBody>
      </p:sp>
      <p:sp>
        <p:nvSpPr>
          <p:cNvPr id="3" name="Footer Placeholder 2">
            <a:extLst>
              <a:ext uri="{FF2B5EF4-FFF2-40B4-BE49-F238E27FC236}">
                <a16:creationId xmlns:a16="http://schemas.microsoft.com/office/drawing/2014/main" id="{4815D00D-89E6-4E7A-9A4D-A8CCEB3BED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2B5AEA-8C38-4776-878C-AB01474D917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65112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0" name="Right Triangle 39">
            <a:extLst>
              <a:ext uri="{FF2B5EF4-FFF2-40B4-BE49-F238E27FC236}">
                <a16:creationId xmlns:a16="http://schemas.microsoft.com/office/drawing/2014/main" id="{C4853C57-22BC-4465-8B37-DC06FE5A0003}"/>
              </a:ext>
              <a:ext uri="{C183D7F6-B498-43B3-948B-1728B52AA6E4}">
                <adec:decorative xmlns:adec="http://schemas.microsoft.com/office/drawing/2017/decorative" val="1"/>
              </a:ext>
            </a:extLst>
          </p:cNvPr>
          <p:cNvSpPr/>
          <p:nvPr/>
        </p:nvSpPr>
        <p:spPr>
          <a:xfrm rot="13500000">
            <a:off x="-281092" y="314485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E67C0A6-48E9-4845-9EBF-EF2A3DFD274F}"/>
              </a:ext>
            </a:extLst>
          </p:cNvPr>
          <p:cNvSpPr>
            <a:spLocks noGrp="1"/>
          </p:cNvSpPr>
          <p:nvPr>
            <p:ph type="title"/>
          </p:nvPr>
        </p:nvSpPr>
        <p:spPr>
          <a:xfrm>
            <a:off x="683587" y="713677"/>
            <a:ext cx="4499914" cy="2996581"/>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A8B542-2084-485C-ABFC-94340B4C7E77}"/>
              </a:ext>
            </a:extLst>
          </p:cNvPr>
          <p:cNvSpPr>
            <a:spLocks noGrp="1"/>
          </p:cNvSpPr>
          <p:nvPr>
            <p:ph idx="1"/>
          </p:nvPr>
        </p:nvSpPr>
        <p:spPr>
          <a:xfrm>
            <a:off x="5698672" y="708102"/>
            <a:ext cx="5656716" cy="54306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9647791F-9546-470D-A174-D75285263C2C}"/>
              </a:ext>
            </a:extLst>
          </p:cNvPr>
          <p:cNvSpPr>
            <a:spLocks noGrp="1"/>
          </p:cNvSpPr>
          <p:nvPr>
            <p:ph type="body" sz="half" idx="2"/>
          </p:nvPr>
        </p:nvSpPr>
        <p:spPr>
          <a:xfrm>
            <a:off x="683587" y="3976544"/>
            <a:ext cx="4499914" cy="2162201"/>
          </a:xfrm>
        </p:spPr>
        <p:txBody>
          <a:bodyPr>
            <a:normAutofit/>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None/>
            </a:pPr>
            <a:r>
              <a:rPr lang="en-US"/>
              <a:t>Click to edit Master text styles</a:t>
            </a:r>
          </a:p>
        </p:txBody>
      </p:sp>
      <p:grpSp>
        <p:nvGrpSpPr>
          <p:cNvPr id="8" name="Group 7">
            <a:extLst>
              <a:ext uri="{FF2B5EF4-FFF2-40B4-BE49-F238E27FC236}">
                <a16:creationId xmlns:a16="http://schemas.microsoft.com/office/drawing/2014/main" id="{0550D594-9D00-4E12-9A7B-8B78EC19948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C5DEA230-2680-47DD-BD49-FDBF4C1105A5}"/>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0BA61D-887F-46F1-B20D-EA4C38D467C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350DFBA-D16D-4AE0-8339-58C4089B94AD}"/>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F4AAAA5-CEFC-4C25-91D3-5AE49F720DA5}"/>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4D142AD-3FA3-43E4-8A61-61CF1E41568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3755A3-93F4-4EC4-9635-7E89E4AF1D3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0BFB588-0AB8-4BD8-9272-1CA867726018}"/>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45A6DF3-CF29-4480-A235-EAE88D65A63C}"/>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D6FF036-365A-4C15-8E15-0D5BBEBCEA58}"/>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85E76FF-4E86-4E42-B67E-B11AAE8D3076}"/>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1A64CEE-7CED-4EB2-A414-6F2D91E824F9}"/>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12C571B-47A6-49EB-A29F-678368BAED9F}"/>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160B109-845C-4119-BB66-9887B3859A7D}"/>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68B7447-FF64-42D9-B3C6-2BDC6F547ED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FF9B71-8653-450D-AFBE-2140D586FB5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F0B9E5A-C1DA-445C-A911-721DF98DDCDD}"/>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5C9A3DC-A478-4469-9359-34A435689F3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7DE3299-EED7-4771-A270-F6B02941AD6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434422A-5B59-41DC-8E2A-1A8244580E30}"/>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A176117-0990-434B-A9D9-B4B9043C544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7D6425E-C84A-462F-98F8-D0AB4FC3AF88}"/>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F13AB68-7321-4AC2-AC60-0F417877D07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E275CCE-D06F-49D0-8A47-372C5040330B}"/>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D4B374E-EEBC-4A9C-B3B4-B269EC719857}"/>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D80A7E6-BBEF-4EF1-B14A-29F26BFCF8E6}"/>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D7BC013-9B50-459D-8B8D-F756514A478B}"/>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48964C0-675D-4807-B795-4B695A8F8420}"/>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6911512-51A8-4CE7-A043-425C809EB5F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3C15D1E-0EDF-4AD7-90C7-3D8D64E645D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8265A2D-2A6A-4301-B59F-8BAD98D9A57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4A4907F-2D1D-49D1-882D-119AA5E1183B}"/>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5" name="Date Placeholder 4">
            <a:extLst>
              <a:ext uri="{FF2B5EF4-FFF2-40B4-BE49-F238E27FC236}">
                <a16:creationId xmlns:a16="http://schemas.microsoft.com/office/drawing/2014/main" id="{AF6A2284-37AB-43F5-98B8-8AB49DBFA9F5}"/>
              </a:ext>
            </a:extLst>
          </p:cNvPr>
          <p:cNvSpPr>
            <a:spLocks noGrp="1"/>
          </p:cNvSpPr>
          <p:nvPr>
            <p:ph type="dt" sz="half" idx="10"/>
          </p:nvPr>
        </p:nvSpPr>
        <p:spPr/>
        <p:txBody>
          <a:bodyPr/>
          <a:lstStyle/>
          <a:p>
            <a:fld id="{8F72BA41-EC5B-4197-BCC8-0FD2E523CD7A}" type="datetimeFigureOut">
              <a:rPr lang="en-US" smtClean="0"/>
              <a:t>5/9/2024</a:t>
            </a:fld>
            <a:endParaRPr lang="en-US"/>
          </a:p>
        </p:txBody>
      </p:sp>
      <p:sp>
        <p:nvSpPr>
          <p:cNvPr id="6" name="Footer Placeholder 5">
            <a:extLst>
              <a:ext uri="{FF2B5EF4-FFF2-40B4-BE49-F238E27FC236}">
                <a16:creationId xmlns:a16="http://schemas.microsoft.com/office/drawing/2014/main" id="{9AD8ABAA-E2F7-4C89-99ED-2C340220DD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52EF12-B2CD-4F3C-9F19-A8691540501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493335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DA6865-0A03-48FA-AD6E-D5BF8FDE927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2277E8EB-0DA2-40E4-AD12-1CCD0D262D0B}"/>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BFE9F8-907A-4FFC-9FDE-2B51D238C40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BDDC323-8732-4007-BB81-1BE917E3B2FF}"/>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908FC40-8403-438D-95CA-E4EDC66192A9}"/>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411D218-3FEA-4455-9809-91F029FB55AE}"/>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41390F-BE50-4E4E-9DA2-B5F23F1A93D8}"/>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EB3F094-97B5-48E1-A4DE-8BEED255028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D4DBB43-CB34-4881-9445-A7FE131D5327}"/>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B71F972-027A-47F0-996C-84BFE4574050}"/>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C41353D-93C8-43F8-BBDE-7AB6B29EC38C}"/>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CF07B24-CBD8-4F09-81EB-504285F8E11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27873BB-1D79-4055-801C-BDA0F9A1513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008D42B-2F35-497E-A26D-9AF008619D4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7F57499-C4D9-4B7D-BADA-38462AA3164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271F2B9-1FFA-4350-9370-B098459A232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8FBAFFC-DC8F-4BB4-B405-E4AAA269AED4}"/>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4FCE64-D7A5-411A-8795-932DD39F9520}"/>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0B4ECFC-FD43-44CF-B7FA-2A8C5651400F}"/>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9DFBC12-1E1D-44DE-9966-BAB05B246636}"/>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9BEF096-361C-478B-81EB-37584119BFEE}"/>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FC81993-CE86-4910-B9CE-B69375BDCEE3}"/>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75613D7-9FB0-4D33-8784-EC059DE019C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520AFD9-E849-4F42-99B2-928E6098C29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A200B0B-91CD-4D66-ADFC-9585D283103C}"/>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5DB0C45-30CE-4C85-95C6-FFF4977C646A}"/>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C31604-5F93-436D-A9D2-A48846D4E0DE}"/>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FF1B965-7DE1-4AE3-B28B-DB6847BC52CC}"/>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FD9FB65-4392-4D6A-8ACC-8151F682BFE8}"/>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B40380C-3493-4AFE-BF13-AE68A8D244B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CB21DF1-4859-4991-9C10-F8FA68F41013}"/>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54AD212-17DC-4506-AAA0-34A46A0B11C3}"/>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5B556E7-762B-4E18-A961-A4F7A9ECF9D8}"/>
              </a:ext>
            </a:extLst>
          </p:cNvPr>
          <p:cNvSpPr>
            <a:spLocks noGrp="1"/>
          </p:cNvSpPr>
          <p:nvPr>
            <p:ph type="title"/>
          </p:nvPr>
        </p:nvSpPr>
        <p:spPr>
          <a:xfrm>
            <a:off x="683587" y="713677"/>
            <a:ext cx="4434823" cy="3020519"/>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FB7118AF-C54D-406D-AABE-AED6576D1281}"/>
              </a:ext>
            </a:extLst>
          </p:cNvPr>
          <p:cNvSpPr>
            <a:spLocks noGrp="1"/>
          </p:cNvSpPr>
          <p:nvPr>
            <p:ph type="pic" idx="1"/>
          </p:nvPr>
        </p:nvSpPr>
        <p:spPr>
          <a:xfrm>
            <a:off x="5698672" y="713677"/>
            <a:ext cx="5304977" cy="543064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0" name="Right Triangle 39">
            <a:extLst>
              <a:ext uri="{FF2B5EF4-FFF2-40B4-BE49-F238E27FC236}">
                <a16:creationId xmlns:a16="http://schemas.microsoft.com/office/drawing/2014/main" id="{205CDEB9-8DED-4711-8140-4C943FC2CDA0}"/>
              </a:ext>
              <a:ext uri="{C183D7F6-B498-43B3-948B-1728B52AA6E4}">
                <adec:decorative xmlns:adec="http://schemas.microsoft.com/office/drawing/2017/decorative" val="1"/>
              </a:ext>
            </a:extLst>
          </p:cNvPr>
          <p:cNvSpPr/>
          <p:nvPr/>
        </p:nvSpPr>
        <p:spPr>
          <a:xfrm rot="13500000">
            <a:off x="-281093" y="314330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 Placeholder 3">
            <a:extLst>
              <a:ext uri="{FF2B5EF4-FFF2-40B4-BE49-F238E27FC236}">
                <a16:creationId xmlns:a16="http://schemas.microsoft.com/office/drawing/2014/main" id="{02E13C3F-6360-4760-9477-C3831A6E26EF}"/>
              </a:ext>
            </a:extLst>
          </p:cNvPr>
          <p:cNvSpPr>
            <a:spLocks noGrp="1"/>
          </p:cNvSpPr>
          <p:nvPr>
            <p:ph type="body" sz="half" idx="2"/>
          </p:nvPr>
        </p:nvSpPr>
        <p:spPr>
          <a:xfrm>
            <a:off x="683587" y="3970330"/>
            <a:ext cx="4434823" cy="2173992"/>
          </a:xfrm>
        </p:spPr>
        <p:txBody>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192D3B-60EE-4FC5-9ED7-4445300844CA}"/>
              </a:ext>
            </a:extLst>
          </p:cNvPr>
          <p:cNvSpPr>
            <a:spLocks noGrp="1"/>
          </p:cNvSpPr>
          <p:nvPr>
            <p:ph type="dt" sz="half" idx="10"/>
          </p:nvPr>
        </p:nvSpPr>
        <p:spPr/>
        <p:txBody>
          <a:bodyPr/>
          <a:lstStyle/>
          <a:p>
            <a:fld id="{8F72BA41-EC5B-4197-BCC8-0FD2E523CD7A}" type="datetimeFigureOut">
              <a:rPr lang="en-US" smtClean="0"/>
              <a:t>5/9/2024</a:t>
            </a:fld>
            <a:endParaRPr lang="en-US"/>
          </a:p>
        </p:txBody>
      </p:sp>
      <p:sp>
        <p:nvSpPr>
          <p:cNvPr id="6" name="Footer Placeholder 5">
            <a:extLst>
              <a:ext uri="{FF2B5EF4-FFF2-40B4-BE49-F238E27FC236}">
                <a16:creationId xmlns:a16="http://schemas.microsoft.com/office/drawing/2014/main" id="{5BCF831E-9B19-4936-8BC9-F62A9B118B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71E1D1-F7A2-40D0-91DA-07468A9651E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935298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BD70F-ACE4-4595-845E-2296BDF83B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978CD9-E0B5-4B48-8366-91E6D22C9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FAF4B4-44D3-4E29-B235-A1B868207789}"/>
              </a:ext>
            </a:extLst>
          </p:cNvPr>
          <p:cNvSpPr>
            <a:spLocks noGrp="1"/>
          </p:cNvSpPr>
          <p:nvPr>
            <p:ph type="dt" sz="half" idx="10"/>
          </p:nvPr>
        </p:nvSpPr>
        <p:spPr/>
        <p:txBody>
          <a:bodyPr/>
          <a:lstStyle/>
          <a:p>
            <a:fld id="{8F72BA41-EC5B-4197-BCC8-0FD2E523CD7A}" type="datetimeFigureOut">
              <a:rPr lang="en-US" smtClean="0"/>
              <a:t>5/9/2024</a:t>
            </a:fld>
            <a:endParaRPr lang="en-US"/>
          </a:p>
        </p:txBody>
      </p:sp>
      <p:sp>
        <p:nvSpPr>
          <p:cNvPr id="5" name="Footer Placeholder 4">
            <a:extLst>
              <a:ext uri="{FF2B5EF4-FFF2-40B4-BE49-F238E27FC236}">
                <a16:creationId xmlns:a16="http://schemas.microsoft.com/office/drawing/2014/main" id="{E2D7BA37-9639-480E-84AB-EA277225CA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BFC658-154E-48DE-AD31-813E5170C93C}"/>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508165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5405209-5179-4359-91ED-1B1A46619A99}"/>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0E32344F-3BE0-4CE8-B1BD-9ABD425E1C0D}"/>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99DE306-F4FB-4730-A066-ADF38D739563}"/>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CB32885-303F-477F-A081-27425944F230}"/>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60C0C0B-4CD0-467D-A382-2B2415102C48}"/>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88DF0F-327F-43A5-AB71-3D32053D83CA}"/>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98A0902-2662-4911-A532-AA6310861479}"/>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BDA4F7-23F4-46D1-8B7E-A21DD84083E1}"/>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7FC9FC2-8808-438E-8FFB-5FE416BFB5C8}"/>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4694E5-71F9-4210-9BE8-FC12CC177BD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B37E805-A7E5-4906-B0C5-1373F3DA962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4CD964-FBD6-41AB-8A02-9509A2BAC11F}"/>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9CD7FF8-E827-4E0A-BCE2-CCB34EDAC0F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C4AD6BB-F1EE-4FB8-96E8-6890447800EC}"/>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E935057-E0A3-4DAE-B9C8-6E818D7A7205}"/>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08DDF69-1C14-453C-BC3A-37D3FE69DFC7}"/>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6C26D82-15BA-4B2E-A42D-2ECA8012D30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7F73B67-E5E9-4000-91DA-034B2127EFD2}"/>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AFAC1B5-F0DD-4FC0-B4C9-77CB29DF442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ACB3DB-54B2-4CEE-A791-C6FC6C758DAE}"/>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8324004-1030-47D9-B817-425FF6ECC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AA001C4-81AB-4FA6-ADAA-C8618056353B}"/>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D1DAD34-7844-4F16-9874-F51F2A23B9EA}"/>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7DCBC6D-1BDA-4CB1-A3EC-59F240C8FA19}"/>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5B3C1A0-58E7-47E4-831B-CF3EE21D1E90}"/>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8A09FAA-E123-4FE4-B67A-9EBDE1A3130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317B7C6-C816-4A58-B184-135E4FD19F5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4D22ABB-4CE8-47DC-80BF-39B3E4CF7048}"/>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A17DE37-A292-4031-AF42-CDB00A13EE76}"/>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73EF673-CB75-435F-9BF3-7594EC3ADF8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35F4581-15F6-47EE-87D0-1132A093DBA5}"/>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65CF984-F5BD-45C4-9A12-B02DB4F044E1}"/>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39" name="Right Triangle 38">
            <a:extLst>
              <a:ext uri="{FF2B5EF4-FFF2-40B4-BE49-F238E27FC236}">
                <a16:creationId xmlns:a16="http://schemas.microsoft.com/office/drawing/2014/main" id="{ACE66A86-8455-497B-9CA4-F460A19E5FBB}"/>
              </a:ext>
              <a:ext uri="{C183D7F6-B498-43B3-948B-1728B52AA6E4}">
                <adec:decorative xmlns:adec="http://schemas.microsoft.com/office/drawing/2017/decorative" val="1"/>
              </a:ext>
            </a:extLst>
          </p:cNvPr>
          <p:cNvSpPr/>
          <p:nvPr/>
        </p:nvSpPr>
        <p:spPr>
          <a:xfrm rot="18900000">
            <a:off x="7770390" y="-28737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Vertical Title 1">
            <a:extLst>
              <a:ext uri="{FF2B5EF4-FFF2-40B4-BE49-F238E27FC236}">
                <a16:creationId xmlns:a16="http://schemas.microsoft.com/office/drawing/2014/main" id="{5868C62B-71EF-4824-9EE8-6CAE17984232}"/>
              </a:ext>
            </a:extLst>
          </p:cNvPr>
          <p:cNvSpPr>
            <a:spLocks noGrp="1"/>
          </p:cNvSpPr>
          <p:nvPr>
            <p:ph type="title" orient="vert"/>
          </p:nvPr>
        </p:nvSpPr>
        <p:spPr>
          <a:xfrm>
            <a:off x="7707774" y="715616"/>
            <a:ext cx="3295876" cy="5026597"/>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243E4C8-4AA9-49D7-BF71-1AB5F2CFE1FC}"/>
              </a:ext>
            </a:extLst>
          </p:cNvPr>
          <p:cNvSpPr>
            <a:spLocks noGrp="1"/>
          </p:cNvSpPr>
          <p:nvPr>
            <p:ph type="body" orient="vert" idx="1"/>
          </p:nvPr>
        </p:nvSpPr>
        <p:spPr>
          <a:xfrm>
            <a:off x="683588" y="715616"/>
            <a:ext cx="6770448" cy="5026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97898B3-014E-440B-BA4E-106339212804}"/>
              </a:ext>
            </a:extLst>
          </p:cNvPr>
          <p:cNvSpPr>
            <a:spLocks noGrp="1"/>
          </p:cNvSpPr>
          <p:nvPr>
            <p:ph type="dt" sz="half" idx="10"/>
          </p:nvPr>
        </p:nvSpPr>
        <p:spPr/>
        <p:txBody>
          <a:bodyPr/>
          <a:lstStyle/>
          <a:p>
            <a:fld id="{8F72BA41-EC5B-4197-BCC8-0FD2E523CD7A}" type="datetimeFigureOut">
              <a:rPr lang="en-US" smtClean="0"/>
              <a:t>5/9/2024</a:t>
            </a:fld>
            <a:endParaRPr lang="en-US"/>
          </a:p>
        </p:txBody>
      </p:sp>
      <p:sp>
        <p:nvSpPr>
          <p:cNvPr id="5" name="Footer Placeholder 4">
            <a:extLst>
              <a:ext uri="{FF2B5EF4-FFF2-40B4-BE49-F238E27FC236}">
                <a16:creationId xmlns:a16="http://schemas.microsoft.com/office/drawing/2014/main" id="{81C22643-CE63-4C3E-B437-5A1A5EF911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1CE5E-160A-4B37-94E2-3D9DC75BFFAF}"/>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936175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BDF0D99C-5D42-41C6-A50C-C4E2D6B2A36E}"/>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40" name="Straight Connector 39">
              <a:extLst>
                <a:ext uri="{FF2B5EF4-FFF2-40B4-BE49-F238E27FC236}">
                  <a16:creationId xmlns:a16="http://schemas.microsoft.com/office/drawing/2014/main" id="{5F28962D-50BA-43F8-8863-28ECE711D3F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80F5939-D4E0-46FD-9A5A-5D648E381092}"/>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633D331-78CB-40A1-B167-8185EC5D707B}"/>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512E4B1-E78E-49E7-AA36-374CC1B084E4}"/>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7D46340-CBFC-490F-B44E-7AA8FBF58B05}"/>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575C26C-3EBD-4AA9-BA4D-2561E295D65D}"/>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35DB6BE-E065-4559-BF5C-36B56B379040}"/>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DA54272-CD9D-4F68-BBAB-4F0C0C3EC63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002CE8F-9256-4F2C-B474-58873717119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9C9DE9F-4252-401D-913E-B74C9E326F9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FE4E69B-534F-4A80-9E1C-798BEE1B079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7564E1C-009C-4832-AE8D-E98286693F0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305DF1C-5801-43F2-A8B9-5351369418C0}"/>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06E71C8-0783-4E17-9B34-F51231DD2954}"/>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D908F17-2A89-4B0A-A2EA-692390969FE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BE22751-380F-44F9-BEED-0A553CF87BE5}"/>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7B27910-846F-4E4E-B588-F5B2E026FE9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E0501E-134E-46D7-984F-3A382B0BB29B}"/>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3974-CBD7-4A69-9D84-2D3BBDE027A5}"/>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503E931-00D4-4B0C-BC69-49FE5C766518}"/>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7732A30-BE2F-4D71-BC37-60F7B44591B9}"/>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C8EB840-DE7D-4E67-989C-F4D8F50E15BD}"/>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05D2CC2-53CC-487E-A72E-42B1E9B18460}"/>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3A12D6B-1D60-4F26-8FB9-74AD5B070BDF}"/>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1895D00-2D63-443C-95A8-5EB6E5EECBF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AC50652-2A56-4382-95D0-971644EE0FA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A50A374-8880-482D-B54F-F74E0D7BE18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66364D8-CCC7-4AAF-94BC-766EC160D99E}"/>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A0DC409-26E2-4453-89FD-745EA849BE7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39ED039-D66C-4A5E-AA35-E7A5FA2E64C2}"/>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72C13DC-161E-49CF-96B5-5383AA052AB7}"/>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Placeholder 1">
            <a:extLst>
              <a:ext uri="{FF2B5EF4-FFF2-40B4-BE49-F238E27FC236}">
                <a16:creationId xmlns:a16="http://schemas.microsoft.com/office/drawing/2014/main" id="{05103067-48DA-458C-99F6-9921C19A802A}"/>
              </a:ext>
            </a:extLst>
          </p:cNvPr>
          <p:cNvSpPr>
            <a:spLocks noGrp="1"/>
          </p:cNvSpPr>
          <p:nvPr>
            <p:ph type="title"/>
          </p:nvPr>
        </p:nvSpPr>
        <p:spPr>
          <a:xfrm>
            <a:off x="691079" y="725951"/>
            <a:ext cx="10325000" cy="14424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CB86862-507E-4F73-890F-3B77BCFA3FA2}"/>
              </a:ext>
            </a:extLst>
          </p:cNvPr>
          <p:cNvSpPr>
            <a:spLocks noGrp="1"/>
          </p:cNvSpPr>
          <p:nvPr>
            <p:ph type="body" idx="1"/>
          </p:nvPr>
        </p:nvSpPr>
        <p:spPr>
          <a:xfrm>
            <a:off x="691079" y="2340131"/>
            <a:ext cx="10325000" cy="35644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EFBC0BB-AF05-4753-9159-41A16FBFC3B4}"/>
              </a:ext>
            </a:extLst>
          </p:cNvPr>
          <p:cNvSpPr>
            <a:spLocks noGrp="1"/>
          </p:cNvSpPr>
          <p:nvPr>
            <p:ph type="dt" sz="half" idx="2"/>
          </p:nvPr>
        </p:nvSpPr>
        <p:spPr>
          <a:xfrm>
            <a:off x="683587" y="6215870"/>
            <a:ext cx="3843779" cy="417126"/>
          </a:xfrm>
          <a:prstGeom prst="rect">
            <a:avLst/>
          </a:prstGeom>
        </p:spPr>
        <p:txBody>
          <a:bodyPr vert="horz" lIns="91440" tIns="45720" rIns="91440" bIns="45720" rtlCol="0" anchor="ctr"/>
          <a:lstStyle>
            <a:lvl1pPr algn="l">
              <a:defRPr sz="900">
                <a:solidFill>
                  <a:schemeClr val="tx1">
                    <a:tint val="75000"/>
                  </a:schemeClr>
                </a:solidFill>
              </a:defRPr>
            </a:lvl1pPr>
          </a:lstStyle>
          <a:p>
            <a:fld id="{8F72BA41-EC5B-4197-BCC8-0FD2E523CD7A}" type="datetimeFigureOut">
              <a:rPr lang="en-US" smtClean="0"/>
              <a:pPr/>
              <a:t>5/9/2024</a:t>
            </a:fld>
            <a:endParaRPr lang="en-US" dirty="0"/>
          </a:p>
        </p:txBody>
      </p:sp>
      <p:sp>
        <p:nvSpPr>
          <p:cNvPr id="5" name="Footer Placeholder 4">
            <a:extLst>
              <a:ext uri="{FF2B5EF4-FFF2-40B4-BE49-F238E27FC236}">
                <a16:creationId xmlns:a16="http://schemas.microsoft.com/office/drawing/2014/main" id="{28362F82-EA1A-4B02-8A64-3B44C0D9DAC6}"/>
              </a:ext>
            </a:extLst>
          </p:cNvPr>
          <p:cNvSpPr>
            <a:spLocks noGrp="1"/>
          </p:cNvSpPr>
          <p:nvPr>
            <p:ph type="ftr" sz="quarter" idx="3"/>
          </p:nvPr>
        </p:nvSpPr>
        <p:spPr>
          <a:xfrm>
            <a:off x="691078" y="236364"/>
            <a:ext cx="4114800" cy="417126"/>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9C5EF32-1CA9-4CDA-8182-2FB0C30A0F6F}"/>
              </a:ext>
            </a:extLst>
          </p:cNvPr>
          <p:cNvSpPr>
            <a:spLocks noGrp="1"/>
          </p:cNvSpPr>
          <p:nvPr>
            <p:ph type="sldNum" sz="quarter" idx="4"/>
          </p:nvPr>
        </p:nvSpPr>
        <p:spPr>
          <a:xfrm>
            <a:off x="11003649" y="6215870"/>
            <a:ext cx="979151" cy="417126"/>
          </a:xfrm>
          <a:prstGeom prst="rect">
            <a:avLst/>
          </a:prstGeom>
        </p:spPr>
        <p:txBody>
          <a:bodyPr vert="horz" lIns="91440" tIns="45720" rIns="91440" bIns="45720" rtlCol="0" anchor="ctr"/>
          <a:lstStyle>
            <a:lvl1pPr algn="ctr">
              <a:defRPr sz="900">
                <a:solidFill>
                  <a:schemeClr val="tx1">
                    <a:tint val="75000"/>
                  </a:schemeClr>
                </a:solidFill>
              </a:defRPr>
            </a:lvl1pPr>
          </a:lstStyle>
          <a:p>
            <a:fld id="{BE15108C-154A-4A5A-9C05-91A49A422BA7}" type="slidenum">
              <a:rPr lang="en-US" smtClean="0"/>
              <a:pPr/>
              <a:t>‹#›</a:t>
            </a:fld>
            <a:endParaRPr lang="en-US" dirty="0"/>
          </a:p>
        </p:txBody>
      </p:sp>
      <p:sp>
        <p:nvSpPr>
          <p:cNvPr id="7" name="Right Triangle 6">
            <a:extLst>
              <a:ext uri="{FF2B5EF4-FFF2-40B4-BE49-F238E27FC236}">
                <a16:creationId xmlns:a16="http://schemas.microsoft.com/office/drawing/2014/main" id="{63BAC6E0-ADAC-40FB-AF53-88FA5F83738C}"/>
              </a:ext>
              <a:ext uri="{C183D7F6-B498-43B3-948B-1728B52AA6E4}">
                <adec:decorative xmlns:adec="http://schemas.microsoft.com/office/drawing/2017/decorative" val="1"/>
              </a:ext>
            </a:extLst>
          </p:cNvPr>
          <p:cNvSpPr/>
          <p:nvPr/>
        </p:nvSpPr>
        <p:spPr>
          <a:xfrm rot="13500000">
            <a:off x="-281094" y="151621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551374745"/>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Char char="§"/>
        <a:defRPr sz="2000" kern="1200">
          <a:solidFill>
            <a:schemeClr val="tx2"/>
          </a:solidFill>
          <a:latin typeface="+mn-lt"/>
          <a:ea typeface="+mn-ea"/>
          <a:cs typeface="+mn-cs"/>
        </a:defRPr>
      </a:lvl1pPr>
      <a:lvl2pPr marL="4572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800" kern="1200">
          <a:solidFill>
            <a:schemeClr val="tx2"/>
          </a:solidFill>
          <a:latin typeface="+mn-lt"/>
          <a:ea typeface="+mn-ea"/>
          <a:cs typeface="+mn-cs"/>
        </a:defRPr>
      </a:lvl2pPr>
      <a:lvl3pPr marL="6858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600" kern="1200">
          <a:solidFill>
            <a:schemeClr val="tx2"/>
          </a:solidFill>
          <a:latin typeface="+mn-lt"/>
          <a:ea typeface="+mn-ea"/>
          <a:cs typeface="+mn-cs"/>
        </a:defRPr>
      </a:lvl3pPr>
      <a:lvl4pPr marL="9144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4pPr>
      <a:lvl5pPr marL="11430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187D111-0A9D-421B-84EB-FC5811C3A9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1" name="Group 10">
            <a:extLst>
              <a:ext uri="{FF2B5EF4-FFF2-40B4-BE49-F238E27FC236}">
                <a16:creationId xmlns:a16="http://schemas.microsoft.com/office/drawing/2014/main" id="{015ECF02-0C11-4320-A868-5EC7DD53DE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3" name="Straight Connector 11">
              <a:extLst>
                <a:ext uri="{FF2B5EF4-FFF2-40B4-BE49-F238E27FC236}">
                  <a16:creationId xmlns:a16="http://schemas.microsoft.com/office/drawing/2014/main" id="{8C74A336-DE5D-4AE0-9A50-8D93C4AA45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11A81C9-7A36-4A04-B14C-A45B899E4B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13">
              <a:extLst>
                <a:ext uri="{FF2B5EF4-FFF2-40B4-BE49-F238E27FC236}">
                  <a16:creationId xmlns:a16="http://schemas.microsoft.com/office/drawing/2014/main" id="{DAE1DE35-5349-4B57-B255-C07C69270CE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14">
              <a:extLst>
                <a:ext uri="{FF2B5EF4-FFF2-40B4-BE49-F238E27FC236}">
                  <a16:creationId xmlns:a16="http://schemas.microsoft.com/office/drawing/2014/main" id="{9AFE9588-5F4B-41DF-9FF6-6B4969245C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15">
              <a:extLst>
                <a:ext uri="{FF2B5EF4-FFF2-40B4-BE49-F238E27FC236}">
                  <a16:creationId xmlns:a16="http://schemas.microsoft.com/office/drawing/2014/main" id="{D4CC9B87-707A-4D04-9336-B1418878A8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8CF5CAA-7C4D-408A-B1A8-E98C0E6633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17">
              <a:extLst>
                <a:ext uri="{FF2B5EF4-FFF2-40B4-BE49-F238E27FC236}">
                  <a16:creationId xmlns:a16="http://schemas.microsoft.com/office/drawing/2014/main" id="{B462EA1B-90F8-4C08-AE36-FFBA2B45BF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F7B5623-96F7-42F0-BAC5-78D6789E01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19">
              <a:extLst>
                <a:ext uri="{FF2B5EF4-FFF2-40B4-BE49-F238E27FC236}">
                  <a16:creationId xmlns:a16="http://schemas.microsoft.com/office/drawing/2014/main" id="{685D83B1-1723-4710-8FC5-18EDC879E4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998838C-DFB6-48F7-A18D-30469E8162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21">
              <a:extLst>
                <a:ext uri="{FF2B5EF4-FFF2-40B4-BE49-F238E27FC236}">
                  <a16:creationId xmlns:a16="http://schemas.microsoft.com/office/drawing/2014/main" id="{9BDB9A78-94CB-422D-B92E-65FD2732EC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22">
              <a:extLst>
                <a:ext uri="{FF2B5EF4-FFF2-40B4-BE49-F238E27FC236}">
                  <a16:creationId xmlns:a16="http://schemas.microsoft.com/office/drawing/2014/main" id="{9A5DBD01-426B-424D-815A-96518F6007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23">
              <a:extLst>
                <a:ext uri="{FF2B5EF4-FFF2-40B4-BE49-F238E27FC236}">
                  <a16:creationId xmlns:a16="http://schemas.microsoft.com/office/drawing/2014/main" id="{3B0218DF-D55B-4D41-AE23-F1E64BAC60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24">
              <a:extLst>
                <a:ext uri="{FF2B5EF4-FFF2-40B4-BE49-F238E27FC236}">
                  <a16:creationId xmlns:a16="http://schemas.microsoft.com/office/drawing/2014/main" id="{F8D61EB8-98CC-4243-9E20-33CAC65BF5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25">
              <a:extLst>
                <a:ext uri="{FF2B5EF4-FFF2-40B4-BE49-F238E27FC236}">
                  <a16:creationId xmlns:a16="http://schemas.microsoft.com/office/drawing/2014/main" id="{A35F0944-B143-45B0-8B72-6CE34D4612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26">
              <a:extLst>
                <a:ext uri="{FF2B5EF4-FFF2-40B4-BE49-F238E27FC236}">
                  <a16:creationId xmlns:a16="http://schemas.microsoft.com/office/drawing/2014/main" id="{CF68EF7F-67D0-463D-AB84-EA24D18196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E17074E-4E65-4CBD-B1B0-9C18D6F724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28">
              <a:extLst>
                <a:ext uri="{FF2B5EF4-FFF2-40B4-BE49-F238E27FC236}">
                  <a16:creationId xmlns:a16="http://schemas.microsoft.com/office/drawing/2014/main" id="{9CC905ED-EF46-4349-9E9B-2174310948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B91F234-1C65-45AC-8CCE-A1C4AE49CE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30">
              <a:extLst>
                <a:ext uri="{FF2B5EF4-FFF2-40B4-BE49-F238E27FC236}">
                  <a16:creationId xmlns:a16="http://schemas.microsoft.com/office/drawing/2014/main" id="{4D46B3DB-5DBB-41CF-9FA5-010ECA0C3B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92A3FF8-F172-47ED-84C6-802C85C1CBD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32">
              <a:extLst>
                <a:ext uri="{FF2B5EF4-FFF2-40B4-BE49-F238E27FC236}">
                  <a16:creationId xmlns:a16="http://schemas.microsoft.com/office/drawing/2014/main" id="{15933982-9CB6-4199-B123-A3669A4FEF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CA832CD-B214-4ABC-AC95-A3DA116ACEE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34">
              <a:extLst>
                <a:ext uri="{FF2B5EF4-FFF2-40B4-BE49-F238E27FC236}">
                  <a16:creationId xmlns:a16="http://schemas.microsoft.com/office/drawing/2014/main" id="{D7EBA147-C4BA-4B48-B61D-CA24B8B06F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A8253B7-461E-48CC-B871-8A255EE3D7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ADE46C3-C2E1-4492-AC59-870160A3C8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B0052E9-B440-4C1E-BC41-39957D5901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31F119B-638C-42B1-8400-709B94F1EE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16299ED-D998-4895-9CCF-02427F1954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4442675-84C9-45C8-9524-ABE4E25071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5BE3E63-4FA5-4EBD-9F3B-E29F5128A8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B92AB152-E2DF-AA3A-27E7-0D58F8283E35}"/>
              </a:ext>
            </a:extLst>
          </p:cNvPr>
          <p:cNvSpPr>
            <a:spLocks noGrp="1"/>
          </p:cNvSpPr>
          <p:nvPr>
            <p:ph type="ctrTitle"/>
          </p:nvPr>
        </p:nvSpPr>
        <p:spPr>
          <a:xfrm>
            <a:off x="6089726" y="722903"/>
            <a:ext cx="5415521" cy="2706098"/>
          </a:xfrm>
        </p:spPr>
        <p:txBody>
          <a:bodyPr>
            <a:normAutofit/>
          </a:bodyPr>
          <a:lstStyle/>
          <a:p>
            <a:r>
              <a:rPr lang="en-US" dirty="0"/>
              <a:t>Cohort Studies</a:t>
            </a:r>
          </a:p>
        </p:txBody>
      </p:sp>
      <p:sp>
        <p:nvSpPr>
          <p:cNvPr id="3" name="Subtitle 2">
            <a:extLst>
              <a:ext uri="{FF2B5EF4-FFF2-40B4-BE49-F238E27FC236}">
                <a16:creationId xmlns:a16="http://schemas.microsoft.com/office/drawing/2014/main" id="{4E8D41A3-DAC7-AA02-C4E8-6BB59E99FE8C}"/>
              </a:ext>
            </a:extLst>
          </p:cNvPr>
          <p:cNvSpPr>
            <a:spLocks noGrp="1"/>
          </p:cNvSpPr>
          <p:nvPr>
            <p:ph type="subTitle" idx="1"/>
          </p:nvPr>
        </p:nvSpPr>
        <p:spPr>
          <a:xfrm>
            <a:off x="6089726" y="3674327"/>
            <a:ext cx="5415521" cy="2460770"/>
          </a:xfrm>
        </p:spPr>
        <p:txBody>
          <a:bodyPr>
            <a:normAutofit/>
          </a:bodyPr>
          <a:lstStyle/>
          <a:p>
            <a:endParaRPr lang="en-US"/>
          </a:p>
        </p:txBody>
      </p:sp>
      <p:pic>
        <p:nvPicPr>
          <p:cNvPr id="4" name="Picture 3">
            <a:extLst>
              <a:ext uri="{FF2B5EF4-FFF2-40B4-BE49-F238E27FC236}">
                <a16:creationId xmlns:a16="http://schemas.microsoft.com/office/drawing/2014/main" id="{E2B5B633-02E0-70BF-0A3D-91BB68E1D4F6}"/>
              </a:ext>
            </a:extLst>
          </p:cNvPr>
          <p:cNvPicPr>
            <a:picLocks noChangeAspect="1"/>
          </p:cNvPicPr>
          <p:nvPr/>
        </p:nvPicPr>
        <p:blipFill rotWithShape="1">
          <a:blip r:embed="rId2"/>
          <a:srcRect l="17859" r="23660" b="-1"/>
          <a:stretch/>
        </p:blipFill>
        <p:spPr>
          <a:xfrm>
            <a:off x="1" y="10"/>
            <a:ext cx="5854890" cy="6857990"/>
          </a:xfrm>
          <a:custGeom>
            <a:avLst/>
            <a:gdLst/>
            <a:ahLst/>
            <a:cxnLst/>
            <a:rect l="l" t="t" r="r" b="b"/>
            <a:pathLst>
              <a:path w="6036633" h="6858000">
                <a:moveTo>
                  <a:pt x="0" y="0"/>
                </a:moveTo>
                <a:lnTo>
                  <a:pt x="5782584" y="0"/>
                </a:lnTo>
                <a:lnTo>
                  <a:pt x="5847735" y="280891"/>
                </a:lnTo>
                <a:cubicBezTo>
                  <a:pt x="6512611" y="3337011"/>
                  <a:pt x="5215360" y="3533975"/>
                  <a:pt x="5130974" y="6590095"/>
                </a:cubicBezTo>
                <a:lnTo>
                  <a:pt x="5127340" y="6858000"/>
                </a:lnTo>
                <a:lnTo>
                  <a:pt x="0" y="6858000"/>
                </a:lnTo>
                <a:close/>
              </a:path>
            </a:pathLst>
          </a:custGeom>
        </p:spPr>
      </p:pic>
      <p:sp>
        <p:nvSpPr>
          <p:cNvPr id="44" name="Right Triangle 43">
            <a:extLst>
              <a:ext uri="{FF2B5EF4-FFF2-40B4-BE49-F238E27FC236}">
                <a16:creationId xmlns:a16="http://schemas.microsoft.com/office/drawing/2014/main" id="{F0753E91-DF19-4FA4-BFBF-221696B8D7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6297356" y="-287372"/>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498274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A78C4-8189-9F4B-D90B-A4978FAC6B18}"/>
              </a:ext>
            </a:extLst>
          </p:cNvPr>
          <p:cNvSpPr>
            <a:spLocks noGrp="1"/>
          </p:cNvSpPr>
          <p:nvPr>
            <p:ph type="title"/>
          </p:nvPr>
        </p:nvSpPr>
        <p:spPr/>
        <p:txBody>
          <a:bodyPr/>
          <a:lstStyle/>
          <a:p>
            <a:r>
              <a:rPr lang="en-US" dirty="0"/>
              <a:t>Cohort Study</a:t>
            </a:r>
          </a:p>
        </p:txBody>
      </p:sp>
      <p:sp>
        <p:nvSpPr>
          <p:cNvPr id="3" name="Content Placeholder 2">
            <a:extLst>
              <a:ext uri="{FF2B5EF4-FFF2-40B4-BE49-F238E27FC236}">
                <a16:creationId xmlns:a16="http://schemas.microsoft.com/office/drawing/2014/main" id="{D3CDFF2B-C8B6-2278-2F68-C7FDE332BD1C}"/>
              </a:ext>
            </a:extLst>
          </p:cNvPr>
          <p:cNvSpPr>
            <a:spLocks noGrp="1"/>
          </p:cNvSpPr>
          <p:nvPr>
            <p:ph idx="1"/>
          </p:nvPr>
        </p:nvSpPr>
        <p:spPr/>
        <p:txBody>
          <a:bodyPr>
            <a:normAutofit/>
          </a:bodyPr>
          <a:lstStyle/>
          <a:p>
            <a:r>
              <a:rPr lang="en-US" dirty="0"/>
              <a:t>Also known as</a:t>
            </a:r>
          </a:p>
          <a:p>
            <a:pPr lvl="1"/>
            <a:r>
              <a:rPr lang="en-US" sz="1600" b="0" i="0" u="none" strike="noStrike" baseline="0" dirty="0">
                <a:latin typeface="Times New Roman" panose="02020603050405020304" pitchFamily="18" charset="0"/>
              </a:rPr>
              <a:t>Prospective study</a:t>
            </a:r>
          </a:p>
          <a:p>
            <a:pPr lvl="1"/>
            <a:r>
              <a:rPr lang="en-US" sz="1600" b="0" i="0" u="none" strike="noStrike" baseline="0" dirty="0">
                <a:latin typeface="Times New Roman" panose="02020603050405020304" pitchFamily="18" charset="0"/>
              </a:rPr>
              <a:t>Longitudinal Study</a:t>
            </a:r>
          </a:p>
          <a:p>
            <a:pPr lvl="1"/>
            <a:r>
              <a:rPr lang="en-US" sz="1600" b="0" i="0" u="none" strike="noStrike" baseline="0" dirty="0">
                <a:latin typeface="Times New Roman" panose="02020603050405020304" pitchFamily="18" charset="0"/>
              </a:rPr>
              <a:t>Incidence study</a:t>
            </a:r>
          </a:p>
          <a:p>
            <a:pPr lvl="1"/>
            <a:r>
              <a:rPr lang="en-US" sz="1600" b="0" i="0" u="none" strike="noStrike" baseline="0" dirty="0">
                <a:latin typeface="Times New Roman" panose="02020603050405020304" pitchFamily="18" charset="0"/>
              </a:rPr>
              <a:t>Forward-looking study</a:t>
            </a:r>
          </a:p>
          <a:p>
            <a:r>
              <a:rPr lang="en-US" dirty="0">
                <a:latin typeface="Times New Roman" panose="02020603050405020304" pitchFamily="18" charset="0"/>
              </a:rPr>
              <a:t>Features</a:t>
            </a:r>
          </a:p>
          <a:p>
            <a:pPr lvl="1"/>
            <a:r>
              <a:rPr lang="en-US" sz="1600" b="0" i="0" u="none" strike="noStrike" baseline="0" dirty="0">
                <a:latin typeface="Times New Roman" panose="02020603050405020304" pitchFamily="18" charset="0"/>
              </a:rPr>
              <a:t>The cohorts are identified prior to the appearance of the disease under investigation</a:t>
            </a:r>
          </a:p>
          <a:p>
            <a:pPr lvl="1"/>
            <a:r>
              <a:rPr lang="en-US" sz="1600" b="0" i="0" u="none" strike="noStrike" baseline="0" dirty="0">
                <a:latin typeface="Times New Roman" panose="02020603050405020304" pitchFamily="18" charset="0"/>
              </a:rPr>
              <a:t>The study groups, so defined, are observed over a period of time to determine the frequency of disease among them</a:t>
            </a:r>
          </a:p>
          <a:p>
            <a:pPr lvl="1"/>
            <a:r>
              <a:rPr lang="en-US" sz="1600" b="0" i="0" u="none" strike="noStrike" baseline="0" dirty="0">
                <a:latin typeface="Times New Roman" panose="02020603050405020304" pitchFamily="18" charset="0"/>
              </a:rPr>
              <a:t>The study proceeds forward from cause to effect.</a:t>
            </a:r>
            <a:endParaRPr lang="en-US" dirty="0"/>
          </a:p>
        </p:txBody>
      </p:sp>
    </p:spTree>
    <p:extLst>
      <p:ext uri="{BB962C8B-B14F-4D97-AF65-F5344CB8AC3E}">
        <p14:creationId xmlns:p14="http://schemas.microsoft.com/office/powerpoint/2010/main" val="2071994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13" name="Rectangle 1112">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115" name="Group 1114">
            <a:extLst>
              <a:ext uri="{FF2B5EF4-FFF2-40B4-BE49-F238E27FC236}">
                <a16:creationId xmlns:a16="http://schemas.microsoft.com/office/drawing/2014/main" id="{6CC102AE-2C87-45D1-8671-2DB35F5D43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16" name="Straight Connector 1115">
              <a:extLst>
                <a:ext uri="{FF2B5EF4-FFF2-40B4-BE49-F238E27FC236}">
                  <a16:creationId xmlns:a16="http://schemas.microsoft.com/office/drawing/2014/main" id="{604F2B13-634E-4981-8787-53C36848D4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17" name="Straight Connector 1116">
              <a:extLst>
                <a:ext uri="{FF2B5EF4-FFF2-40B4-BE49-F238E27FC236}">
                  <a16:creationId xmlns:a16="http://schemas.microsoft.com/office/drawing/2014/main" id="{14A2770F-EC37-4C6D-AF2E-4C627D5901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18" name="Straight Connector 1117">
              <a:extLst>
                <a:ext uri="{FF2B5EF4-FFF2-40B4-BE49-F238E27FC236}">
                  <a16:creationId xmlns:a16="http://schemas.microsoft.com/office/drawing/2014/main" id="{4AF23D8E-4428-4843-9AED-EB6F211887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19" name="Straight Connector 1118">
              <a:extLst>
                <a:ext uri="{FF2B5EF4-FFF2-40B4-BE49-F238E27FC236}">
                  <a16:creationId xmlns:a16="http://schemas.microsoft.com/office/drawing/2014/main" id="{E2EF4188-48A8-4B39-ABE7-0BB04E010E0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20" name="Straight Connector 1119">
              <a:extLst>
                <a:ext uri="{FF2B5EF4-FFF2-40B4-BE49-F238E27FC236}">
                  <a16:creationId xmlns:a16="http://schemas.microsoft.com/office/drawing/2014/main" id="{1E0A877F-1F7D-4FF1-A9FC-E241322BD4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21" name="Straight Connector 1120">
              <a:extLst>
                <a:ext uri="{FF2B5EF4-FFF2-40B4-BE49-F238E27FC236}">
                  <a16:creationId xmlns:a16="http://schemas.microsoft.com/office/drawing/2014/main" id="{ED098F9C-4191-478C-BA3F-F91330FA2F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22" name="Straight Connector 1121">
              <a:extLst>
                <a:ext uri="{FF2B5EF4-FFF2-40B4-BE49-F238E27FC236}">
                  <a16:creationId xmlns:a16="http://schemas.microsoft.com/office/drawing/2014/main" id="{D1B8C79F-AE9B-4C98-80BA-22D6CB7996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23" name="Straight Connector 1122">
              <a:extLst>
                <a:ext uri="{FF2B5EF4-FFF2-40B4-BE49-F238E27FC236}">
                  <a16:creationId xmlns:a16="http://schemas.microsoft.com/office/drawing/2014/main" id="{ABB4B37A-4DA6-4751-8A4F-BDD49DE826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24" name="Straight Connector 1123">
              <a:extLst>
                <a:ext uri="{FF2B5EF4-FFF2-40B4-BE49-F238E27FC236}">
                  <a16:creationId xmlns:a16="http://schemas.microsoft.com/office/drawing/2014/main" id="{1BDE79CE-1525-4410-9E5E-943FFF3FB8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25" name="Straight Connector 1124">
              <a:extLst>
                <a:ext uri="{FF2B5EF4-FFF2-40B4-BE49-F238E27FC236}">
                  <a16:creationId xmlns:a16="http://schemas.microsoft.com/office/drawing/2014/main" id="{7A66FA12-7AC6-45DB-851F-C05B980B47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26" name="Straight Connector 1125">
              <a:extLst>
                <a:ext uri="{FF2B5EF4-FFF2-40B4-BE49-F238E27FC236}">
                  <a16:creationId xmlns:a16="http://schemas.microsoft.com/office/drawing/2014/main" id="{38F6784E-F83E-4CE8-A535-394503ABE8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27" name="Straight Connector 1126">
              <a:extLst>
                <a:ext uri="{FF2B5EF4-FFF2-40B4-BE49-F238E27FC236}">
                  <a16:creationId xmlns:a16="http://schemas.microsoft.com/office/drawing/2014/main" id="{446C37B5-5333-46F6-A306-A5DA69EA40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28" name="Straight Connector 1127">
              <a:extLst>
                <a:ext uri="{FF2B5EF4-FFF2-40B4-BE49-F238E27FC236}">
                  <a16:creationId xmlns:a16="http://schemas.microsoft.com/office/drawing/2014/main" id="{EED81EBC-F02B-4676-BD19-32CE34494F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29" name="Straight Connector 1128">
              <a:extLst>
                <a:ext uri="{FF2B5EF4-FFF2-40B4-BE49-F238E27FC236}">
                  <a16:creationId xmlns:a16="http://schemas.microsoft.com/office/drawing/2014/main" id="{712D4645-1213-45DD-9C45-EF3DB63207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30" name="Straight Connector 1129">
              <a:extLst>
                <a:ext uri="{FF2B5EF4-FFF2-40B4-BE49-F238E27FC236}">
                  <a16:creationId xmlns:a16="http://schemas.microsoft.com/office/drawing/2014/main" id="{BBE23053-C167-49AA-8930-08DD2C0BAC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31" name="Straight Connector 1130">
              <a:extLst>
                <a:ext uri="{FF2B5EF4-FFF2-40B4-BE49-F238E27FC236}">
                  <a16:creationId xmlns:a16="http://schemas.microsoft.com/office/drawing/2014/main" id="{32A32F82-F4F6-4868-9657-99747918F4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32" name="Straight Connector 1131">
              <a:extLst>
                <a:ext uri="{FF2B5EF4-FFF2-40B4-BE49-F238E27FC236}">
                  <a16:creationId xmlns:a16="http://schemas.microsoft.com/office/drawing/2014/main" id="{55ED0F55-FDB0-4995-8333-D9231BDC75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33" name="Straight Connector 1132">
              <a:extLst>
                <a:ext uri="{FF2B5EF4-FFF2-40B4-BE49-F238E27FC236}">
                  <a16:creationId xmlns:a16="http://schemas.microsoft.com/office/drawing/2014/main" id="{61BEC92D-46AB-4AA4-A94B-88496BE485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34" name="Straight Connector 1133">
              <a:extLst>
                <a:ext uri="{FF2B5EF4-FFF2-40B4-BE49-F238E27FC236}">
                  <a16:creationId xmlns:a16="http://schemas.microsoft.com/office/drawing/2014/main" id="{B32E4197-8221-4F7C-92CE-CD83D0A9D49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35" name="Straight Connector 1134">
              <a:extLst>
                <a:ext uri="{FF2B5EF4-FFF2-40B4-BE49-F238E27FC236}">
                  <a16:creationId xmlns:a16="http://schemas.microsoft.com/office/drawing/2014/main" id="{2BDB4C14-DE46-4F94-B655-80B6ACCF64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36" name="Straight Connector 1135">
              <a:extLst>
                <a:ext uri="{FF2B5EF4-FFF2-40B4-BE49-F238E27FC236}">
                  <a16:creationId xmlns:a16="http://schemas.microsoft.com/office/drawing/2014/main" id="{36515E4D-1037-431C-BCD9-3E724CBFF1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37" name="Straight Connector 1136">
              <a:extLst>
                <a:ext uri="{FF2B5EF4-FFF2-40B4-BE49-F238E27FC236}">
                  <a16:creationId xmlns:a16="http://schemas.microsoft.com/office/drawing/2014/main" id="{ACBF35AE-07C8-48AF-9CD0-62C0F89087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38" name="Straight Connector 1137">
              <a:extLst>
                <a:ext uri="{FF2B5EF4-FFF2-40B4-BE49-F238E27FC236}">
                  <a16:creationId xmlns:a16="http://schemas.microsoft.com/office/drawing/2014/main" id="{0B698526-9971-4674-81FD-285F4E558F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39" name="Straight Connector 1138">
              <a:extLst>
                <a:ext uri="{FF2B5EF4-FFF2-40B4-BE49-F238E27FC236}">
                  <a16:creationId xmlns:a16="http://schemas.microsoft.com/office/drawing/2014/main" id="{6200789B-A8DE-41E5-B0F0-8FE0EE3576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40" name="Straight Connector 1139">
              <a:extLst>
                <a:ext uri="{FF2B5EF4-FFF2-40B4-BE49-F238E27FC236}">
                  <a16:creationId xmlns:a16="http://schemas.microsoft.com/office/drawing/2014/main" id="{643EDEFF-CCCD-45BA-AC62-3D5E672037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41" name="Straight Connector 1140">
              <a:extLst>
                <a:ext uri="{FF2B5EF4-FFF2-40B4-BE49-F238E27FC236}">
                  <a16:creationId xmlns:a16="http://schemas.microsoft.com/office/drawing/2014/main" id="{9D9B8D6D-E48B-49A5-A953-D4E530AB68A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42" name="Straight Connector 1141">
              <a:extLst>
                <a:ext uri="{FF2B5EF4-FFF2-40B4-BE49-F238E27FC236}">
                  <a16:creationId xmlns:a16="http://schemas.microsoft.com/office/drawing/2014/main" id="{AAFFBE7D-6816-492B-A638-798A78CDD17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43" name="Straight Connector 1142">
              <a:extLst>
                <a:ext uri="{FF2B5EF4-FFF2-40B4-BE49-F238E27FC236}">
                  <a16:creationId xmlns:a16="http://schemas.microsoft.com/office/drawing/2014/main" id="{845F3BEE-01E6-4031-A09D-B2408B62B5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44" name="Straight Connector 1143">
              <a:extLst>
                <a:ext uri="{FF2B5EF4-FFF2-40B4-BE49-F238E27FC236}">
                  <a16:creationId xmlns:a16="http://schemas.microsoft.com/office/drawing/2014/main" id="{7376FC9D-3995-440A-9BAA-4EBA067192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45" name="Straight Connector 1144">
              <a:extLst>
                <a:ext uri="{FF2B5EF4-FFF2-40B4-BE49-F238E27FC236}">
                  <a16:creationId xmlns:a16="http://schemas.microsoft.com/office/drawing/2014/main" id="{E7593D24-05C3-486E-B1EE-7E8DE3A7E3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46" name="Straight Connector 1145">
              <a:extLst>
                <a:ext uri="{FF2B5EF4-FFF2-40B4-BE49-F238E27FC236}">
                  <a16:creationId xmlns:a16="http://schemas.microsoft.com/office/drawing/2014/main" id="{1A541A72-3242-4354-B1FF-3FB97487D8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pic>
        <p:nvPicPr>
          <p:cNvPr id="1026" name="Picture 2" descr="Cohort Studies - Quantitative Study Designs - LibGuides at Deakin ...">
            <a:extLst>
              <a:ext uri="{FF2B5EF4-FFF2-40B4-BE49-F238E27FC236}">
                <a16:creationId xmlns:a16="http://schemas.microsoft.com/office/drawing/2014/main" id="{B8EB9DF0-23E4-8B5F-E363-4F28DA7D5AE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r="-1685" b="11903"/>
          <a:stretch/>
        </p:blipFill>
        <p:spPr bwMode="auto">
          <a:xfrm>
            <a:off x="-1" y="-1"/>
            <a:ext cx="12175387" cy="6856448"/>
          </a:xfrm>
          <a:custGeom>
            <a:avLst/>
            <a:gdLst/>
            <a:ahLst/>
            <a:cxnLst/>
            <a:rect l="l" t="t" r="r" b="b"/>
            <a:pathLst>
              <a:path w="12168757" h="6856448">
                <a:moveTo>
                  <a:pt x="0" y="0"/>
                </a:moveTo>
                <a:lnTo>
                  <a:pt x="11275572" y="0"/>
                </a:lnTo>
                <a:lnTo>
                  <a:pt x="11279725" y="311311"/>
                </a:lnTo>
                <a:cubicBezTo>
                  <a:pt x="11362648" y="3365106"/>
                  <a:pt x="12638651" y="3558944"/>
                  <a:pt x="11981282" y="6618698"/>
                </a:cubicBezTo>
                <a:lnTo>
                  <a:pt x="11926949" y="6856448"/>
                </a:lnTo>
                <a:lnTo>
                  <a:pt x="0" y="685644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4073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E56F9-1813-CB30-8265-231644DA571F}"/>
              </a:ext>
            </a:extLst>
          </p:cNvPr>
          <p:cNvSpPr>
            <a:spLocks noGrp="1"/>
          </p:cNvSpPr>
          <p:nvPr>
            <p:ph type="title"/>
          </p:nvPr>
        </p:nvSpPr>
        <p:spPr/>
        <p:txBody>
          <a:bodyPr/>
          <a:lstStyle/>
          <a:p>
            <a:r>
              <a:rPr lang="en-US" dirty="0"/>
              <a:t>Cohort</a:t>
            </a:r>
          </a:p>
        </p:txBody>
      </p:sp>
      <p:sp>
        <p:nvSpPr>
          <p:cNvPr id="3" name="Content Placeholder 2">
            <a:extLst>
              <a:ext uri="{FF2B5EF4-FFF2-40B4-BE49-F238E27FC236}">
                <a16:creationId xmlns:a16="http://schemas.microsoft.com/office/drawing/2014/main" id="{507E7092-7CF6-EF69-AFFA-C28DF782AA7C}"/>
              </a:ext>
            </a:extLst>
          </p:cNvPr>
          <p:cNvSpPr>
            <a:spLocks noGrp="1"/>
          </p:cNvSpPr>
          <p:nvPr>
            <p:ph idx="1"/>
          </p:nvPr>
        </p:nvSpPr>
        <p:spPr/>
        <p:txBody>
          <a:bodyPr>
            <a:normAutofit/>
          </a:bodyPr>
          <a:lstStyle/>
          <a:p>
            <a:pPr algn="l"/>
            <a:r>
              <a:rPr lang="en-US" sz="1800" b="0" i="0" u="none" strike="noStrike" baseline="0" dirty="0">
                <a:latin typeface="Times New Roman" panose="02020603050405020304" pitchFamily="18" charset="0"/>
              </a:rPr>
              <a:t>“cohort” is defined as a group of people who share a common characteristic or experience within a defined time period (e.g., age, occupation, exposure to a drug or vaccine, pregnancy, insured persons, </a:t>
            </a:r>
            <a:r>
              <a:rPr lang="en-US" sz="1800" b="0" i="0" u="none" strike="noStrike" baseline="0" dirty="0" err="1">
                <a:latin typeface="Times New Roman" panose="02020603050405020304" pitchFamily="18" charset="0"/>
              </a:rPr>
              <a:t>etc</a:t>
            </a:r>
            <a:r>
              <a:rPr lang="en-US" sz="1800" b="0" i="0" u="none" strike="noStrike" baseline="0" dirty="0">
                <a:latin typeface="Times New Roman" panose="02020603050405020304" pitchFamily="18" charset="0"/>
              </a:rPr>
              <a:t>).</a:t>
            </a:r>
          </a:p>
          <a:p>
            <a:pPr lvl="1"/>
            <a:r>
              <a:rPr lang="en-US" sz="1600" b="0" i="0" u="none" strike="noStrike" baseline="0" dirty="0">
                <a:latin typeface="Times New Roman" panose="02020603050405020304" pitchFamily="18" charset="0"/>
              </a:rPr>
              <a:t>Group of people born on the same day or in the same period of time (usually a year) form a “birth cohort”. </a:t>
            </a:r>
          </a:p>
          <a:p>
            <a:pPr lvl="1"/>
            <a:r>
              <a:rPr lang="en-US" sz="1600" b="0" i="0" u="none" strike="noStrike" baseline="0" dirty="0">
                <a:latin typeface="Times New Roman" panose="02020603050405020304" pitchFamily="18" charset="0"/>
              </a:rPr>
              <a:t>Persons exposed to a common drug, vaccine or infection within a defined period constitute an “exposure cohort”. </a:t>
            </a:r>
          </a:p>
          <a:p>
            <a:pPr lvl="1"/>
            <a:r>
              <a:rPr lang="en-US" sz="1600" b="0" i="0" u="none" strike="noStrike" baseline="0" dirty="0">
                <a:latin typeface="Times New Roman" panose="02020603050405020304" pitchFamily="18" charset="0"/>
              </a:rPr>
              <a:t>A group of males or females married on the same day or in the same period of time form </a:t>
            </a:r>
            <a:r>
              <a:rPr lang="en-US" sz="1600" b="0" i="0" u="none" strike="noStrike" baseline="0" dirty="0" err="1">
                <a:latin typeface="Times New Roman" panose="02020603050405020304" pitchFamily="18" charset="0"/>
              </a:rPr>
              <a:t>a“marriage</a:t>
            </a:r>
            <a:r>
              <a:rPr lang="en-US" sz="1600" b="0" i="0" u="none" strike="noStrike" baseline="0" dirty="0">
                <a:latin typeface="Times New Roman" panose="02020603050405020304" pitchFamily="18" charset="0"/>
              </a:rPr>
              <a:t> cohort”. </a:t>
            </a:r>
          </a:p>
          <a:p>
            <a:pPr lvl="1"/>
            <a:r>
              <a:rPr lang="en-US" sz="1600" b="0" i="0" u="none" strike="noStrike" baseline="0" dirty="0">
                <a:latin typeface="Times New Roman" panose="02020603050405020304" pitchFamily="18" charset="0"/>
              </a:rPr>
              <a:t>A cohort might be all those who survived a myocardial infarction in one particular year.</a:t>
            </a:r>
          </a:p>
          <a:p>
            <a:pPr algn="l"/>
            <a:r>
              <a:rPr lang="en-US" sz="1800" b="0" i="0" u="none" strike="noStrike" baseline="0" dirty="0">
                <a:latin typeface="Times New Roman" panose="02020603050405020304" pitchFamily="18" charset="0"/>
              </a:rPr>
              <a:t>The comparison group may be the general population from which the cohort is drawn, or it may be another cohort of persons thought to have had little or no exposure to the substance in question, but otherwise similar.</a:t>
            </a:r>
            <a:endParaRPr lang="en-US" dirty="0"/>
          </a:p>
        </p:txBody>
      </p:sp>
    </p:spTree>
    <p:extLst>
      <p:ext uri="{BB962C8B-B14F-4D97-AF65-F5344CB8AC3E}">
        <p14:creationId xmlns:p14="http://schemas.microsoft.com/office/powerpoint/2010/main" val="886068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6FAD8-4C17-D0BC-7356-67326E2B566D}"/>
              </a:ext>
            </a:extLst>
          </p:cNvPr>
          <p:cNvSpPr>
            <a:spLocks noGrp="1"/>
          </p:cNvSpPr>
          <p:nvPr>
            <p:ph type="title"/>
          </p:nvPr>
        </p:nvSpPr>
        <p:spPr/>
        <p:txBody>
          <a:bodyPr/>
          <a:lstStyle/>
          <a:p>
            <a:r>
              <a:rPr lang="en-US" dirty="0"/>
              <a:t>Indication for cohort studies</a:t>
            </a:r>
          </a:p>
        </p:txBody>
      </p:sp>
      <p:sp>
        <p:nvSpPr>
          <p:cNvPr id="3" name="Content Placeholder 2">
            <a:extLst>
              <a:ext uri="{FF2B5EF4-FFF2-40B4-BE49-F238E27FC236}">
                <a16:creationId xmlns:a16="http://schemas.microsoft.com/office/drawing/2014/main" id="{3E3B317C-7B5E-D38D-5427-53A62B8FB415}"/>
              </a:ext>
            </a:extLst>
          </p:cNvPr>
          <p:cNvSpPr>
            <a:spLocks noGrp="1"/>
          </p:cNvSpPr>
          <p:nvPr>
            <p:ph idx="1"/>
          </p:nvPr>
        </p:nvSpPr>
        <p:spPr/>
        <p:txBody>
          <a:bodyPr>
            <a:normAutofit/>
          </a:bodyPr>
          <a:lstStyle/>
          <a:p>
            <a:pPr algn="l"/>
            <a:r>
              <a:rPr lang="en-US" sz="1800" b="0" i="0" u="none" strike="noStrike" baseline="0" dirty="0">
                <a:latin typeface="Times New Roman" panose="02020603050405020304" pitchFamily="18" charset="0"/>
              </a:rPr>
              <a:t>When there is good evidence of an association between exposure and disease as derived from clinical observations and supported by descriptive and case control studies</a:t>
            </a:r>
          </a:p>
          <a:p>
            <a:pPr algn="l"/>
            <a:r>
              <a:rPr lang="en-US" sz="1800" b="0" i="0" u="none" strike="noStrike" baseline="0" dirty="0">
                <a:latin typeface="Times New Roman" panose="02020603050405020304" pitchFamily="18" charset="0"/>
              </a:rPr>
              <a:t>When exposure is rare, but the incidence of disease high among exposed, e.g., special exposure groups like those in industries, exposure to X-rays, </a:t>
            </a:r>
            <a:r>
              <a:rPr lang="en-US" sz="1800" b="0" i="0" u="none" strike="noStrike" baseline="0" dirty="0" err="1">
                <a:latin typeface="Times New Roman" panose="02020603050405020304" pitchFamily="18" charset="0"/>
              </a:rPr>
              <a:t>etc</a:t>
            </a:r>
            <a:r>
              <a:rPr lang="en-US" sz="1800" b="0" i="0" u="none" strike="noStrike" baseline="0" dirty="0">
                <a:latin typeface="Times New Roman" panose="02020603050405020304" pitchFamily="18" charset="0"/>
              </a:rPr>
              <a:t> </a:t>
            </a:r>
          </a:p>
          <a:p>
            <a:pPr algn="l"/>
            <a:r>
              <a:rPr lang="en-US" sz="1800" b="0" i="0" u="none" strike="noStrike" baseline="0" dirty="0">
                <a:latin typeface="Times New Roman" panose="02020603050405020304" pitchFamily="18" charset="0"/>
              </a:rPr>
              <a:t>When attrition of study population can be minimized, e.g., follow-up is easy, cohort is stable, cooperative and easily accessible, </a:t>
            </a:r>
            <a:endParaRPr lang="en-US" sz="1800" dirty="0">
              <a:latin typeface="Times New Roman" panose="02020603050405020304" pitchFamily="18" charset="0"/>
            </a:endParaRPr>
          </a:p>
          <a:p>
            <a:pPr algn="l"/>
            <a:r>
              <a:rPr lang="en-US" sz="1800" b="0" i="0" u="none" strike="noStrike" baseline="0" dirty="0">
                <a:latin typeface="Times New Roman" panose="02020603050405020304" pitchFamily="18" charset="0"/>
              </a:rPr>
              <a:t>When ample funds are available.</a:t>
            </a:r>
            <a:endParaRPr lang="en-US" dirty="0"/>
          </a:p>
        </p:txBody>
      </p:sp>
    </p:spTree>
    <p:extLst>
      <p:ext uri="{BB962C8B-B14F-4D97-AF65-F5344CB8AC3E}">
        <p14:creationId xmlns:p14="http://schemas.microsoft.com/office/powerpoint/2010/main" val="3444036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D8355-467F-15ED-6CF5-0BF64212BA59}"/>
              </a:ext>
            </a:extLst>
          </p:cNvPr>
          <p:cNvSpPr>
            <a:spLocks noGrp="1"/>
          </p:cNvSpPr>
          <p:nvPr>
            <p:ph type="title"/>
          </p:nvPr>
        </p:nvSpPr>
        <p:spPr/>
        <p:txBody>
          <a:bodyPr/>
          <a:lstStyle/>
          <a:p>
            <a:r>
              <a:rPr lang="en-US" dirty="0"/>
              <a:t>Framework (cause to effect)</a:t>
            </a:r>
          </a:p>
        </p:txBody>
      </p:sp>
      <p:graphicFrame>
        <p:nvGraphicFramePr>
          <p:cNvPr id="4" name="Table 4">
            <a:extLst>
              <a:ext uri="{FF2B5EF4-FFF2-40B4-BE49-F238E27FC236}">
                <a16:creationId xmlns:a16="http://schemas.microsoft.com/office/drawing/2014/main" id="{828A7B10-71E8-7CDE-059D-0155AC39D261}"/>
              </a:ext>
            </a:extLst>
          </p:cNvPr>
          <p:cNvGraphicFramePr>
            <a:graphicFrameLocks noGrp="1"/>
          </p:cNvGraphicFramePr>
          <p:nvPr>
            <p:ph idx="1"/>
            <p:extLst>
              <p:ext uri="{D42A27DB-BD31-4B8C-83A1-F6EECF244321}">
                <p14:modId xmlns:p14="http://schemas.microsoft.com/office/powerpoint/2010/main" val="3796365112"/>
              </p:ext>
            </p:extLst>
          </p:nvPr>
        </p:nvGraphicFramePr>
        <p:xfrm>
          <a:off x="838199" y="2147131"/>
          <a:ext cx="8678334" cy="3850941"/>
        </p:xfrm>
        <a:graphic>
          <a:graphicData uri="http://schemas.openxmlformats.org/drawingml/2006/table">
            <a:tbl>
              <a:tblPr firstRow="1" bandRow="1">
                <a:tableStyleId>{5C22544A-7EE6-4342-B048-85BDC9FD1C3A}</a:tableStyleId>
              </a:tblPr>
              <a:tblGrid>
                <a:gridCol w="2574161">
                  <a:extLst>
                    <a:ext uri="{9D8B030D-6E8A-4147-A177-3AD203B41FA5}">
                      <a16:colId xmlns:a16="http://schemas.microsoft.com/office/drawing/2014/main" val="100714515"/>
                    </a:ext>
                  </a:extLst>
                </a:gridCol>
                <a:gridCol w="1765007">
                  <a:extLst>
                    <a:ext uri="{9D8B030D-6E8A-4147-A177-3AD203B41FA5}">
                      <a16:colId xmlns:a16="http://schemas.microsoft.com/office/drawing/2014/main" val="1863603709"/>
                    </a:ext>
                  </a:extLst>
                </a:gridCol>
                <a:gridCol w="2169583">
                  <a:extLst>
                    <a:ext uri="{9D8B030D-6E8A-4147-A177-3AD203B41FA5}">
                      <a16:colId xmlns:a16="http://schemas.microsoft.com/office/drawing/2014/main" val="2320653335"/>
                    </a:ext>
                  </a:extLst>
                </a:gridCol>
                <a:gridCol w="2169583">
                  <a:extLst>
                    <a:ext uri="{9D8B030D-6E8A-4147-A177-3AD203B41FA5}">
                      <a16:colId xmlns:a16="http://schemas.microsoft.com/office/drawing/2014/main" val="816196747"/>
                    </a:ext>
                  </a:extLst>
                </a:gridCol>
              </a:tblGrid>
              <a:tr h="952111">
                <a:tc>
                  <a:txBody>
                    <a:bodyPr/>
                    <a:lstStyle/>
                    <a:p>
                      <a:r>
                        <a:rPr lang="en-US" sz="2400" dirty="0">
                          <a:latin typeface="Times New Roman" panose="02020603050405020304" pitchFamily="18" charset="0"/>
                          <a:cs typeface="Times New Roman" panose="02020603050405020304" pitchFamily="18" charset="0"/>
                        </a:rPr>
                        <a:t>Cohort</a:t>
                      </a:r>
                    </a:p>
                  </a:txBody>
                  <a:tcPr/>
                </a:tc>
                <a:tc>
                  <a:txBody>
                    <a:bodyPr/>
                    <a:lstStyle/>
                    <a:p>
                      <a:r>
                        <a:rPr lang="en-US" sz="2400" dirty="0">
                          <a:latin typeface="Times New Roman" panose="02020603050405020304" pitchFamily="18" charset="0"/>
                          <a:cs typeface="Times New Roman" panose="02020603050405020304" pitchFamily="18" charset="0"/>
                        </a:rPr>
                        <a:t>Disease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Disease (+)</a:t>
                      </a:r>
                    </a:p>
                    <a:p>
                      <a:endParaRPr lang="en-US"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Total</a:t>
                      </a:r>
                    </a:p>
                  </a:txBody>
                  <a:tcPr/>
                </a:tc>
                <a:extLst>
                  <a:ext uri="{0D108BD9-81ED-4DB2-BD59-A6C34878D82A}">
                    <a16:rowId xmlns:a16="http://schemas.microsoft.com/office/drawing/2014/main" val="1973071937"/>
                  </a:ext>
                </a:extLst>
              </a:tr>
              <a:tr h="1523558">
                <a:tc>
                  <a:txBody>
                    <a:bodyPr/>
                    <a:lstStyle/>
                    <a:p>
                      <a:r>
                        <a:rPr lang="en-US" sz="2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Exposed to putative aetiologic factor</a:t>
                      </a:r>
                      <a:endParaRPr lang="en-US"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a </a:t>
                      </a:r>
                    </a:p>
                  </a:txBody>
                  <a:tcPr/>
                </a:tc>
                <a:tc>
                  <a:txBody>
                    <a:bodyPr/>
                    <a:lstStyle/>
                    <a:p>
                      <a:pPr algn="ctr"/>
                      <a:r>
                        <a:rPr lang="en-US" sz="2400" dirty="0">
                          <a:latin typeface="Times New Roman" panose="02020603050405020304" pitchFamily="18" charset="0"/>
                          <a:cs typeface="Times New Roman" panose="02020603050405020304" pitchFamily="18" charset="0"/>
                        </a:rPr>
                        <a:t> b</a:t>
                      </a:r>
                    </a:p>
                  </a:txBody>
                  <a:tcPr/>
                </a:tc>
                <a:tc>
                  <a:txBody>
                    <a:bodyPr/>
                    <a:lstStyle/>
                    <a:p>
                      <a:pPr algn="ctr"/>
                      <a:r>
                        <a:rPr lang="en-US" sz="2400" dirty="0">
                          <a:latin typeface="Times New Roman" panose="02020603050405020304" pitchFamily="18" charset="0"/>
                          <a:cs typeface="Times New Roman" panose="02020603050405020304" pitchFamily="18" charset="0"/>
                        </a:rPr>
                        <a:t> a + b</a:t>
                      </a:r>
                    </a:p>
                  </a:txBody>
                  <a:tcPr/>
                </a:tc>
                <a:extLst>
                  <a:ext uri="{0D108BD9-81ED-4DB2-BD59-A6C34878D82A}">
                    <a16:rowId xmlns:a16="http://schemas.microsoft.com/office/drawing/2014/main" val="3453298860"/>
                  </a:ext>
                </a:extLst>
              </a:tr>
              <a:tr h="1375272">
                <a:tc>
                  <a:txBody>
                    <a:bodyPr/>
                    <a:lstStyle/>
                    <a:p>
                      <a:r>
                        <a:rPr lang="en-US" sz="2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Non-Exposed to putative aetiologic factor</a:t>
                      </a:r>
                      <a:endParaRPr lang="en-US"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 c</a:t>
                      </a:r>
                    </a:p>
                  </a:txBody>
                  <a:tcPr/>
                </a:tc>
                <a:tc>
                  <a:txBody>
                    <a:bodyPr/>
                    <a:lstStyle/>
                    <a:p>
                      <a:pPr algn="ctr"/>
                      <a:r>
                        <a:rPr lang="en-US" sz="2400" dirty="0">
                          <a:latin typeface="Times New Roman" panose="02020603050405020304" pitchFamily="18" charset="0"/>
                          <a:cs typeface="Times New Roman" panose="02020603050405020304" pitchFamily="18" charset="0"/>
                        </a:rPr>
                        <a:t> d</a:t>
                      </a:r>
                    </a:p>
                  </a:txBody>
                  <a:tcPr/>
                </a:tc>
                <a:tc>
                  <a:txBody>
                    <a:bodyPr/>
                    <a:lstStyle/>
                    <a:p>
                      <a:pPr algn="ctr"/>
                      <a:r>
                        <a:rPr lang="en-US" sz="2400" dirty="0">
                          <a:latin typeface="Times New Roman" panose="02020603050405020304" pitchFamily="18" charset="0"/>
                          <a:cs typeface="Times New Roman" panose="02020603050405020304" pitchFamily="18" charset="0"/>
                        </a:rPr>
                        <a:t> c + d</a:t>
                      </a:r>
                    </a:p>
                  </a:txBody>
                  <a:tcPr/>
                </a:tc>
                <a:extLst>
                  <a:ext uri="{0D108BD9-81ED-4DB2-BD59-A6C34878D82A}">
                    <a16:rowId xmlns:a16="http://schemas.microsoft.com/office/drawing/2014/main" val="1965329359"/>
                  </a:ext>
                </a:extLst>
              </a:tr>
            </a:tbl>
          </a:graphicData>
        </a:graphic>
      </p:graphicFrame>
    </p:spTree>
    <p:extLst>
      <p:ext uri="{BB962C8B-B14F-4D97-AF65-F5344CB8AC3E}">
        <p14:creationId xmlns:p14="http://schemas.microsoft.com/office/powerpoint/2010/main" val="305833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200F7-D9B0-8920-B1C3-DC121560842A}"/>
              </a:ext>
            </a:extLst>
          </p:cNvPr>
          <p:cNvSpPr>
            <a:spLocks noGrp="1"/>
          </p:cNvSpPr>
          <p:nvPr>
            <p:ph type="title"/>
          </p:nvPr>
        </p:nvSpPr>
        <p:spPr>
          <a:xfrm>
            <a:off x="691079" y="725952"/>
            <a:ext cx="10325000" cy="814982"/>
          </a:xfrm>
        </p:spPr>
        <p:txBody>
          <a:bodyPr/>
          <a:lstStyle/>
          <a:p>
            <a:r>
              <a:rPr lang="en-US" dirty="0"/>
              <a:t>General consideration</a:t>
            </a:r>
          </a:p>
        </p:txBody>
      </p:sp>
      <p:sp>
        <p:nvSpPr>
          <p:cNvPr id="3" name="Content Placeholder 2">
            <a:extLst>
              <a:ext uri="{FF2B5EF4-FFF2-40B4-BE49-F238E27FC236}">
                <a16:creationId xmlns:a16="http://schemas.microsoft.com/office/drawing/2014/main" id="{66D28697-1999-34AC-3301-2F7A24CC119C}"/>
              </a:ext>
            </a:extLst>
          </p:cNvPr>
          <p:cNvSpPr>
            <a:spLocks noGrp="1"/>
          </p:cNvSpPr>
          <p:nvPr>
            <p:ph idx="1"/>
          </p:nvPr>
        </p:nvSpPr>
        <p:spPr>
          <a:xfrm>
            <a:off x="691079" y="1778000"/>
            <a:ext cx="10325000" cy="4126567"/>
          </a:xfrm>
        </p:spPr>
        <p:txBody>
          <a:bodyPr>
            <a:normAutofit/>
          </a:bodyPr>
          <a:lstStyle/>
          <a:p>
            <a:pPr algn="l"/>
            <a:r>
              <a:rPr lang="en-US" sz="1800" b="0" i="0" u="none" strike="noStrike" baseline="0" dirty="0">
                <a:latin typeface="Times New Roman" panose="02020603050405020304" pitchFamily="18" charset="0"/>
              </a:rPr>
              <a:t>The cohorts must be free from the disease under study. </a:t>
            </a:r>
          </a:p>
          <a:p>
            <a:pPr algn="l"/>
            <a:r>
              <a:rPr lang="en-US" sz="1800" dirty="0">
                <a:latin typeface="Times New Roman" panose="02020603050405020304" pitchFamily="18" charset="0"/>
              </a:rPr>
              <a:t>A</a:t>
            </a:r>
            <a:r>
              <a:rPr lang="en-US" sz="1800" b="0" i="0" u="none" strike="noStrike" baseline="0" dirty="0">
                <a:latin typeface="Times New Roman" panose="02020603050405020304" pitchFamily="18" charset="0"/>
              </a:rPr>
              <a:t>s the knowledge of the disease permits, both </a:t>
            </a:r>
            <a:r>
              <a:rPr lang="en-US" sz="1800" dirty="0">
                <a:latin typeface="Times New Roman" panose="02020603050405020304" pitchFamily="18" charset="0"/>
              </a:rPr>
              <a:t>t</a:t>
            </a:r>
            <a:r>
              <a:rPr lang="en-US" sz="1800" b="0" i="0" u="none" strike="noStrike" baseline="0" dirty="0">
                <a:latin typeface="Times New Roman" panose="02020603050405020304" pitchFamily="18" charset="0"/>
              </a:rPr>
              <a:t>he groups (i.e., study and control cohorts) should be equally susceptible to the disease under study, or efficiently reflect any difference in disease occurrence</a:t>
            </a:r>
          </a:p>
          <a:p>
            <a:pPr algn="l"/>
            <a:r>
              <a:rPr lang="en-US" sz="1800" b="0" i="0" u="none" strike="noStrike" baseline="0" dirty="0">
                <a:latin typeface="Times New Roman" panose="02020603050405020304" pitchFamily="18" charset="0"/>
              </a:rPr>
              <a:t>Both the groups should be comparable in respect of all the possible variables, which may influence the frequency of the disease</a:t>
            </a:r>
          </a:p>
          <a:p>
            <a:pPr algn="l"/>
            <a:r>
              <a:rPr lang="en-US" sz="1800" b="0" i="0" u="none" strike="noStrike" baseline="0" dirty="0">
                <a:latin typeface="Times New Roman" panose="02020603050405020304" pitchFamily="18" charset="0"/>
              </a:rPr>
              <a:t>The diagnostic and eligibility criteria of the disease must be defined beforehand; this will depend upon the availability of reliable methods for recognizing the disease when it develops.</a:t>
            </a:r>
            <a:endParaRPr lang="en-US" dirty="0"/>
          </a:p>
        </p:txBody>
      </p:sp>
    </p:spTree>
    <p:extLst>
      <p:ext uri="{BB962C8B-B14F-4D97-AF65-F5344CB8AC3E}">
        <p14:creationId xmlns:p14="http://schemas.microsoft.com/office/powerpoint/2010/main" val="3502917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57CD8-15B1-A3CD-4196-99AFA5CABE24}"/>
              </a:ext>
            </a:extLst>
          </p:cNvPr>
          <p:cNvSpPr>
            <a:spLocks noGrp="1"/>
          </p:cNvSpPr>
          <p:nvPr>
            <p:ph type="title"/>
          </p:nvPr>
        </p:nvSpPr>
        <p:spPr/>
        <p:txBody>
          <a:bodyPr/>
          <a:lstStyle/>
          <a:p>
            <a:r>
              <a:rPr lang="en-US" dirty="0"/>
              <a:t>Types of cohort studies</a:t>
            </a:r>
          </a:p>
        </p:txBody>
      </p:sp>
      <p:sp>
        <p:nvSpPr>
          <p:cNvPr id="3" name="Content Placeholder 2">
            <a:extLst>
              <a:ext uri="{FF2B5EF4-FFF2-40B4-BE49-F238E27FC236}">
                <a16:creationId xmlns:a16="http://schemas.microsoft.com/office/drawing/2014/main" id="{02F66CC1-5E01-4E23-BEF5-ED022F4AC776}"/>
              </a:ext>
            </a:extLst>
          </p:cNvPr>
          <p:cNvSpPr>
            <a:spLocks noGrp="1"/>
          </p:cNvSpPr>
          <p:nvPr>
            <p:ph idx="1"/>
          </p:nvPr>
        </p:nvSpPr>
        <p:spPr/>
        <p:txBody>
          <a:bodyPr>
            <a:normAutofit fontScale="92500" lnSpcReduction="10000"/>
          </a:bodyPr>
          <a:lstStyle/>
          <a:p>
            <a:r>
              <a:rPr lang="en-US" b="1" u="sng" dirty="0"/>
              <a:t>Prospective cohort studies</a:t>
            </a:r>
          </a:p>
          <a:p>
            <a:pPr algn="l"/>
            <a:r>
              <a:rPr lang="en-US" sz="1800" b="0" i="0" u="none" strike="noStrike" baseline="0" dirty="0">
                <a:latin typeface="Times New Roman" panose="02020603050405020304" pitchFamily="18" charset="0"/>
              </a:rPr>
              <a:t>A prospective cohort study (or “current” cohort study) is one in which the outcome (e.g., disease) has not yet occurred at the time the investigation begins. </a:t>
            </a:r>
          </a:p>
          <a:p>
            <a:pPr algn="l"/>
            <a:r>
              <a:rPr lang="en-US" sz="1800" b="0" i="0" u="none" strike="noStrike" baseline="0" dirty="0">
                <a:latin typeface="Times New Roman" panose="02020603050405020304" pitchFamily="18" charset="0"/>
              </a:rPr>
              <a:t>Most prospective studies begin in the present and continue into future. </a:t>
            </a:r>
          </a:p>
          <a:p>
            <a:pPr algn="l"/>
            <a:r>
              <a:rPr lang="en-US" sz="1800" b="0" i="0" u="none" strike="noStrike" baseline="0" dirty="0">
                <a:latin typeface="Times New Roman" panose="02020603050405020304" pitchFamily="18" charset="0"/>
              </a:rPr>
              <a:t>The long-term effects of exposure to uranium was evaluated by identifying a group of uranium miners and a comparison group of individuals not exposed to uranium mining and by assessing subsequent development of lung cancer in both the groups. The principal finding was that the uranium miners had an excess frequency of lung cancer compared to non-miners. </a:t>
            </a:r>
          </a:p>
          <a:p>
            <a:pPr algn="l"/>
            <a:r>
              <a:rPr lang="en-US" sz="1800" b="0" i="0" u="none" strike="noStrike" baseline="0" dirty="0">
                <a:latin typeface="Times New Roman" panose="02020603050405020304" pitchFamily="18" charset="0"/>
              </a:rPr>
              <a:t>The US Public Health Service’s Framingham Heart Study</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Doll and Hills prospective study on smoking and lung cancer, and study of oral contraceptives and health by the Royal College of General Practitioners</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are examples of this type of study.</a:t>
            </a:r>
            <a:endParaRPr lang="en-US" dirty="0"/>
          </a:p>
        </p:txBody>
      </p:sp>
    </p:spTree>
    <p:extLst>
      <p:ext uri="{BB962C8B-B14F-4D97-AF65-F5344CB8AC3E}">
        <p14:creationId xmlns:p14="http://schemas.microsoft.com/office/powerpoint/2010/main" val="831791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2057" name="Group 2056">
            <a:extLst>
              <a:ext uri="{FF2B5EF4-FFF2-40B4-BE49-F238E27FC236}">
                <a16:creationId xmlns:a16="http://schemas.microsoft.com/office/drawing/2014/main" id="{807F70BA-21EF-4B7D-ACFF-D02E136D44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058" name="Straight Connector 2057">
              <a:extLst>
                <a:ext uri="{FF2B5EF4-FFF2-40B4-BE49-F238E27FC236}">
                  <a16:creationId xmlns:a16="http://schemas.microsoft.com/office/drawing/2014/main" id="{7D487A9C-B45A-450B-B04B-02570D8F4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59" name="Straight Connector 2058">
              <a:extLst>
                <a:ext uri="{FF2B5EF4-FFF2-40B4-BE49-F238E27FC236}">
                  <a16:creationId xmlns:a16="http://schemas.microsoft.com/office/drawing/2014/main" id="{09C56948-B944-4EAA-A601-1C3F289A7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60" name="Straight Connector 2059">
              <a:extLst>
                <a:ext uri="{FF2B5EF4-FFF2-40B4-BE49-F238E27FC236}">
                  <a16:creationId xmlns:a16="http://schemas.microsoft.com/office/drawing/2014/main" id="{43EFFD07-1C36-4595-9832-727669712C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61" name="Straight Connector 2060">
              <a:extLst>
                <a:ext uri="{FF2B5EF4-FFF2-40B4-BE49-F238E27FC236}">
                  <a16:creationId xmlns:a16="http://schemas.microsoft.com/office/drawing/2014/main" id="{FA5917E5-3154-42BC-8308-71C3D44DB4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62" name="Straight Connector 2061">
              <a:extLst>
                <a:ext uri="{FF2B5EF4-FFF2-40B4-BE49-F238E27FC236}">
                  <a16:creationId xmlns:a16="http://schemas.microsoft.com/office/drawing/2014/main" id="{4B05D64D-A9ED-421A-9ABE-761977A815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63" name="Straight Connector 2062">
              <a:extLst>
                <a:ext uri="{FF2B5EF4-FFF2-40B4-BE49-F238E27FC236}">
                  <a16:creationId xmlns:a16="http://schemas.microsoft.com/office/drawing/2014/main" id="{25E49393-F5BE-4823-92E3-7A624F7EAA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64" name="Straight Connector 2063">
              <a:extLst>
                <a:ext uri="{FF2B5EF4-FFF2-40B4-BE49-F238E27FC236}">
                  <a16:creationId xmlns:a16="http://schemas.microsoft.com/office/drawing/2014/main" id="{46035503-21C0-4568-B46B-90BB750327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65" name="Straight Connector 2064">
              <a:extLst>
                <a:ext uri="{FF2B5EF4-FFF2-40B4-BE49-F238E27FC236}">
                  <a16:creationId xmlns:a16="http://schemas.microsoft.com/office/drawing/2014/main" id="{F5CACA2B-D1AF-419E-BFBF-413F69DFDB8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66" name="Straight Connector 2065">
              <a:extLst>
                <a:ext uri="{FF2B5EF4-FFF2-40B4-BE49-F238E27FC236}">
                  <a16:creationId xmlns:a16="http://schemas.microsoft.com/office/drawing/2014/main" id="{2284408D-F3CE-466F-A0C8-D27F2BCFC62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67" name="Straight Connector 2066">
              <a:extLst>
                <a:ext uri="{FF2B5EF4-FFF2-40B4-BE49-F238E27FC236}">
                  <a16:creationId xmlns:a16="http://schemas.microsoft.com/office/drawing/2014/main" id="{A2C5065B-1474-4D66-99DB-CFEF811C0F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68" name="Straight Connector 2067">
              <a:extLst>
                <a:ext uri="{FF2B5EF4-FFF2-40B4-BE49-F238E27FC236}">
                  <a16:creationId xmlns:a16="http://schemas.microsoft.com/office/drawing/2014/main" id="{6C6F4B51-92DC-4003-A3E7-28710D57AB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69" name="Straight Connector 2068">
              <a:extLst>
                <a:ext uri="{FF2B5EF4-FFF2-40B4-BE49-F238E27FC236}">
                  <a16:creationId xmlns:a16="http://schemas.microsoft.com/office/drawing/2014/main" id="{0D5C13CE-E4FE-4F85-BC09-9C950ED752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70" name="Straight Connector 2069">
              <a:extLst>
                <a:ext uri="{FF2B5EF4-FFF2-40B4-BE49-F238E27FC236}">
                  <a16:creationId xmlns:a16="http://schemas.microsoft.com/office/drawing/2014/main" id="{851C5D97-1CDA-475E-BAC6-EE58999872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71" name="Straight Connector 2070">
              <a:extLst>
                <a:ext uri="{FF2B5EF4-FFF2-40B4-BE49-F238E27FC236}">
                  <a16:creationId xmlns:a16="http://schemas.microsoft.com/office/drawing/2014/main" id="{DB712EBA-54FF-45FE-9A4E-98C0C0EC23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72" name="Straight Connector 2071">
              <a:extLst>
                <a:ext uri="{FF2B5EF4-FFF2-40B4-BE49-F238E27FC236}">
                  <a16:creationId xmlns:a16="http://schemas.microsoft.com/office/drawing/2014/main" id="{7E0AB49E-A89E-4B6C-AAAA-96E326D154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73" name="Straight Connector 2072">
              <a:extLst>
                <a:ext uri="{FF2B5EF4-FFF2-40B4-BE49-F238E27FC236}">
                  <a16:creationId xmlns:a16="http://schemas.microsoft.com/office/drawing/2014/main" id="{1E63E817-E471-4A64-9EF6-FFB1FBB348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74" name="Straight Connector 2073">
              <a:extLst>
                <a:ext uri="{FF2B5EF4-FFF2-40B4-BE49-F238E27FC236}">
                  <a16:creationId xmlns:a16="http://schemas.microsoft.com/office/drawing/2014/main" id="{E4BB2927-CDAC-455A-8D26-8582DD13DD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75" name="Straight Connector 2074">
              <a:extLst>
                <a:ext uri="{FF2B5EF4-FFF2-40B4-BE49-F238E27FC236}">
                  <a16:creationId xmlns:a16="http://schemas.microsoft.com/office/drawing/2014/main" id="{A8E42F79-594B-4397-8A30-281228EF99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76" name="Straight Connector 2075">
              <a:extLst>
                <a:ext uri="{FF2B5EF4-FFF2-40B4-BE49-F238E27FC236}">
                  <a16:creationId xmlns:a16="http://schemas.microsoft.com/office/drawing/2014/main" id="{6E578AA8-0A5F-4BAA-AAFC-8A1E07838B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77" name="Straight Connector 2076">
              <a:extLst>
                <a:ext uri="{FF2B5EF4-FFF2-40B4-BE49-F238E27FC236}">
                  <a16:creationId xmlns:a16="http://schemas.microsoft.com/office/drawing/2014/main" id="{9BA6CB24-165E-4D82-A315-18FFF8ABC6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78" name="Straight Connector 2077">
              <a:extLst>
                <a:ext uri="{FF2B5EF4-FFF2-40B4-BE49-F238E27FC236}">
                  <a16:creationId xmlns:a16="http://schemas.microsoft.com/office/drawing/2014/main" id="{6A7AFC89-7922-47E2-8920-9883AF13C2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79" name="Straight Connector 2078">
              <a:extLst>
                <a:ext uri="{FF2B5EF4-FFF2-40B4-BE49-F238E27FC236}">
                  <a16:creationId xmlns:a16="http://schemas.microsoft.com/office/drawing/2014/main" id="{82D63DEE-348A-4118-952F-DCD6FC1B6D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80" name="Straight Connector 2079">
              <a:extLst>
                <a:ext uri="{FF2B5EF4-FFF2-40B4-BE49-F238E27FC236}">
                  <a16:creationId xmlns:a16="http://schemas.microsoft.com/office/drawing/2014/main" id="{47A17409-8146-400D-A3C1-1E93FE2056D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81" name="Straight Connector 2080">
              <a:extLst>
                <a:ext uri="{FF2B5EF4-FFF2-40B4-BE49-F238E27FC236}">
                  <a16:creationId xmlns:a16="http://schemas.microsoft.com/office/drawing/2014/main" id="{621B7B93-01A0-4FDD-A6E1-5729577818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82" name="Straight Connector 2081">
              <a:extLst>
                <a:ext uri="{FF2B5EF4-FFF2-40B4-BE49-F238E27FC236}">
                  <a16:creationId xmlns:a16="http://schemas.microsoft.com/office/drawing/2014/main" id="{6D3948D1-38CD-41AC-BBE8-291A85A703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83" name="Straight Connector 2082">
              <a:extLst>
                <a:ext uri="{FF2B5EF4-FFF2-40B4-BE49-F238E27FC236}">
                  <a16:creationId xmlns:a16="http://schemas.microsoft.com/office/drawing/2014/main" id="{A633F3FE-70B6-41BD-A2D7-F9A53AB38E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84" name="Straight Connector 2083">
              <a:extLst>
                <a:ext uri="{FF2B5EF4-FFF2-40B4-BE49-F238E27FC236}">
                  <a16:creationId xmlns:a16="http://schemas.microsoft.com/office/drawing/2014/main" id="{09D1DD0D-9D4A-41EA-9650-F8215D949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85" name="Straight Connector 2084">
              <a:extLst>
                <a:ext uri="{FF2B5EF4-FFF2-40B4-BE49-F238E27FC236}">
                  <a16:creationId xmlns:a16="http://schemas.microsoft.com/office/drawing/2014/main" id="{8148EE7C-8DC4-4A31-A981-8F838EA8FA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86" name="Straight Connector 2085">
              <a:extLst>
                <a:ext uri="{FF2B5EF4-FFF2-40B4-BE49-F238E27FC236}">
                  <a16:creationId xmlns:a16="http://schemas.microsoft.com/office/drawing/2014/main" id="{F7F7EC5C-3015-4A5E-A9E3-B53F5293D2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87" name="Straight Connector 2086">
              <a:extLst>
                <a:ext uri="{FF2B5EF4-FFF2-40B4-BE49-F238E27FC236}">
                  <a16:creationId xmlns:a16="http://schemas.microsoft.com/office/drawing/2014/main" id="{FD7AF31F-4674-411A-837A-ED991478D2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88" name="Straight Connector 2087">
              <a:extLst>
                <a:ext uri="{FF2B5EF4-FFF2-40B4-BE49-F238E27FC236}">
                  <a16:creationId xmlns:a16="http://schemas.microsoft.com/office/drawing/2014/main" id="{5D3DAED2-414E-42E1-998A-6D7EF4A4D06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090" name="Right Triangle 2089">
            <a:extLst>
              <a:ext uri="{FF2B5EF4-FFF2-40B4-BE49-F238E27FC236}">
                <a16:creationId xmlns:a16="http://schemas.microsoft.com/office/drawing/2014/main" id="{9E92C66B-792F-479F-B983-F47FEE1AB5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152530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93563F2F-1A90-46ED-BD83-8A32EED5BB20}"/>
              </a:ext>
            </a:extLst>
          </p:cNvPr>
          <p:cNvSpPr>
            <a:spLocks noGrp="1"/>
          </p:cNvSpPr>
          <p:nvPr>
            <p:ph type="title"/>
          </p:nvPr>
        </p:nvSpPr>
        <p:spPr>
          <a:xfrm>
            <a:off x="348010" y="159880"/>
            <a:ext cx="5818396" cy="1362156"/>
          </a:xfrm>
        </p:spPr>
        <p:txBody>
          <a:bodyPr>
            <a:normAutofit/>
          </a:bodyPr>
          <a:lstStyle/>
          <a:p>
            <a:pPr>
              <a:lnSpc>
                <a:spcPct val="90000"/>
              </a:lnSpc>
            </a:pPr>
            <a:r>
              <a:rPr lang="en-US" dirty="0"/>
              <a:t>Retrospective cohort studies</a:t>
            </a:r>
          </a:p>
        </p:txBody>
      </p:sp>
      <p:sp>
        <p:nvSpPr>
          <p:cNvPr id="3" name="Content Placeholder 2">
            <a:extLst>
              <a:ext uri="{FF2B5EF4-FFF2-40B4-BE49-F238E27FC236}">
                <a16:creationId xmlns:a16="http://schemas.microsoft.com/office/drawing/2014/main" id="{EAD1B462-FB9F-7DB8-1745-2EE070C2EEFA}"/>
              </a:ext>
            </a:extLst>
          </p:cNvPr>
          <p:cNvSpPr>
            <a:spLocks noGrp="1"/>
          </p:cNvSpPr>
          <p:nvPr>
            <p:ph idx="1"/>
          </p:nvPr>
        </p:nvSpPr>
        <p:spPr>
          <a:xfrm>
            <a:off x="368444" y="1681916"/>
            <a:ext cx="6141031" cy="4450133"/>
          </a:xfrm>
        </p:spPr>
        <p:txBody>
          <a:bodyPr>
            <a:normAutofit/>
          </a:bodyPr>
          <a:lstStyle/>
          <a:p>
            <a:pPr>
              <a:lnSpc>
                <a:spcPct val="100000"/>
              </a:lnSpc>
            </a:pPr>
            <a:r>
              <a:rPr lang="en-US" sz="2200" b="0" i="0" u="none" strike="noStrike" baseline="0" dirty="0">
                <a:latin typeface="Times New Roman" panose="02020603050405020304" pitchFamily="18" charset="0"/>
              </a:rPr>
              <a:t>Study in which the outcomes have all occurred before the start of the investigation. </a:t>
            </a:r>
          </a:p>
          <a:p>
            <a:pPr>
              <a:lnSpc>
                <a:spcPct val="100000"/>
              </a:lnSpc>
            </a:pPr>
            <a:r>
              <a:rPr lang="en-US" sz="2200" b="0" i="0" u="none" strike="noStrike" baseline="0" dirty="0">
                <a:latin typeface="Times New Roman" panose="02020603050405020304" pitchFamily="18" charset="0"/>
              </a:rPr>
              <a:t>The investigator goes back in time, sometimes 10 to 30 years, to select his study groups from existing records of past employment, medical or other records and traces them forward through time, from a past date fixed on the records, usually up to the present. </a:t>
            </a:r>
          </a:p>
          <a:p>
            <a:pPr>
              <a:lnSpc>
                <a:spcPct val="100000"/>
              </a:lnSpc>
            </a:pPr>
            <a:r>
              <a:rPr lang="en-US" sz="2200" b="0" i="0" u="none" strike="noStrike" baseline="0" dirty="0">
                <a:latin typeface="Times New Roman" panose="02020603050405020304" pitchFamily="18" charset="0"/>
              </a:rPr>
              <a:t>AKA: retrospective cohort study, “historical” cohort study, prospective study in retrospect and non-concurrent prospective study.</a:t>
            </a:r>
          </a:p>
          <a:p>
            <a:pPr algn="l"/>
            <a:endParaRPr lang="en-US" sz="2200" dirty="0"/>
          </a:p>
        </p:txBody>
      </p:sp>
      <p:pic>
        <p:nvPicPr>
          <p:cNvPr id="2050" name="Picture 2" descr="Retrospective Cohort Study : Cohort And Case Control Studies Span Class ...">
            <a:extLst>
              <a:ext uri="{FF2B5EF4-FFF2-40B4-BE49-F238E27FC236}">
                <a16:creationId xmlns:a16="http://schemas.microsoft.com/office/drawing/2014/main" id="{40AE8D20-D8A7-AD2C-01EA-935ED711D99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15680" y="219135"/>
            <a:ext cx="4401655" cy="274003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C899E3FD-616F-22ED-AC16-F523A0E022C4}"/>
              </a:ext>
            </a:extLst>
          </p:cNvPr>
          <p:cNvSpPr txBox="1">
            <a:spLocks/>
          </p:cNvSpPr>
          <p:nvPr/>
        </p:nvSpPr>
        <p:spPr>
          <a:xfrm>
            <a:off x="6577738" y="3237489"/>
            <a:ext cx="5319256" cy="297469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Char char="§"/>
              <a:defRPr sz="2000" kern="1200">
                <a:solidFill>
                  <a:schemeClr val="tx2"/>
                </a:solidFill>
                <a:latin typeface="+mn-lt"/>
                <a:ea typeface="+mn-ea"/>
                <a:cs typeface="+mn-cs"/>
              </a:defRPr>
            </a:lvl1pPr>
            <a:lvl2pPr marL="4572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800" kern="1200">
                <a:solidFill>
                  <a:schemeClr val="tx2"/>
                </a:solidFill>
                <a:latin typeface="+mn-lt"/>
                <a:ea typeface="+mn-ea"/>
                <a:cs typeface="+mn-cs"/>
              </a:defRPr>
            </a:lvl2pPr>
            <a:lvl3pPr marL="6858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600" kern="1200">
                <a:solidFill>
                  <a:schemeClr val="tx2"/>
                </a:solidFill>
                <a:latin typeface="+mn-lt"/>
                <a:ea typeface="+mn-ea"/>
                <a:cs typeface="+mn-cs"/>
              </a:defRPr>
            </a:lvl3pPr>
            <a:lvl4pPr marL="9144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4pPr>
            <a:lvl5pPr marL="11430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dirty="0">
                <a:latin typeface="Times New Roman" panose="02020603050405020304" pitchFamily="18" charset="0"/>
              </a:rPr>
              <a:t>The most notable retrospective cohort studies to date are those of occupational exposures, because the recorded information is easily available.</a:t>
            </a:r>
          </a:p>
          <a:p>
            <a:r>
              <a:rPr lang="en-US" sz="2200" dirty="0">
                <a:latin typeface="Times New Roman" panose="02020603050405020304" pitchFamily="18" charset="0"/>
              </a:rPr>
              <a:t>Retrospective cohort studies are generally more economical and produce results more quickly than prospective cohort studies.</a:t>
            </a:r>
          </a:p>
          <a:p>
            <a:endParaRPr lang="en-US" sz="2200" dirty="0"/>
          </a:p>
        </p:txBody>
      </p:sp>
    </p:spTree>
    <p:extLst>
      <p:ext uri="{BB962C8B-B14F-4D97-AF65-F5344CB8AC3E}">
        <p14:creationId xmlns:p14="http://schemas.microsoft.com/office/powerpoint/2010/main" val="3053346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79" name="Group 3078">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3080" name="Straight Connector 3079">
              <a:extLst>
                <a:ext uri="{FF2B5EF4-FFF2-40B4-BE49-F238E27FC236}">
                  <a16:creationId xmlns:a16="http://schemas.microsoft.com/office/drawing/2014/main" id="{317D1EC0-23FF-4FC8-B22D-E34878EAA4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81" name="Straight Connector 3080">
              <a:extLst>
                <a:ext uri="{FF2B5EF4-FFF2-40B4-BE49-F238E27FC236}">
                  <a16:creationId xmlns:a16="http://schemas.microsoft.com/office/drawing/2014/main" id="{5AB929A7-258C-4469-AAB4-A67D713F7A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82" name="Straight Connector 3081">
              <a:extLst>
                <a:ext uri="{FF2B5EF4-FFF2-40B4-BE49-F238E27FC236}">
                  <a16:creationId xmlns:a16="http://schemas.microsoft.com/office/drawing/2014/main" id="{DA635CDB-2D00-49D5-B26E-0694A25000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83" name="Straight Connector 3082">
              <a:extLst>
                <a:ext uri="{FF2B5EF4-FFF2-40B4-BE49-F238E27FC236}">
                  <a16:creationId xmlns:a16="http://schemas.microsoft.com/office/drawing/2014/main" id="{B4288D7A-F857-418D-92F2-368E841B9F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84" name="Straight Connector 3083">
              <a:extLst>
                <a:ext uri="{FF2B5EF4-FFF2-40B4-BE49-F238E27FC236}">
                  <a16:creationId xmlns:a16="http://schemas.microsoft.com/office/drawing/2014/main" id="{F1084F50-7F3C-4A4A-877E-FFD9EC7CD8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85" name="Straight Connector 3084">
              <a:extLst>
                <a:ext uri="{FF2B5EF4-FFF2-40B4-BE49-F238E27FC236}">
                  <a16:creationId xmlns:a16="http://schemas.microsoft.com/office/drawing/2014/main" id="{331E64C1-F4C0-4A94-B319-BB1A0A2450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86" name="Straight Connector 3085">
              <a:extLst>
                <a:ext uri="{FF2B5EF4-FFF2-40B4-BE49-F238E27FC236}">
                  <a16:creationId xmlns:a16="http://schemas.microsoft.com/office/drawing/2014/main" id="{363D8374-8052-417F-AB69-B97EAC43D5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87" name="Straight Connector 3086">
              <a:extLst>
                <a:ext uri="{FF2B5EF4-FFF2-40B4-BE49-F238E27FC236}">
                  <a16:creationId xmlns:a16="http://schemas.microsoft.com/office/drawing/2014/main" id="{C7750734-4D51-4019-A003-38A3DE49B4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88" name="Straight Connector 3087">
              <a:extLst>
                <a:ext uri="{FF2B5EF4-FFF2-40B4-BE49-F238E27FC236}">
                  <a16:creationId xmlns:a16="http://schemas.microsoft.com/office/drawing/2014/main" id="{71B693D1-DBA2-4D3B-9B37-D9EE8C4112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89" name="Straight Connector 3088">
              <a:extLst>
                <a:ext uri="{FF2B5EF4-FFF2-40B4-BE49-F238E27FC236}">
                  <a16:creationId xmlns:a16="http://schemas.microsoft.com/office/drawing/2014/main" id="{1BCD3EA8-E4C0-4AF6-817F-F9F29157A4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90" name="Straight Connector 3089">
              <a:extLst>
                <a:ext uri="{FF2B5EF4-FFF2-40B4-BE49-F238E27FC236}">
                  <a16:creationId xmlns:a16="http://schemas.microsoft.com/office/drawing/2014/main" id="{7A170FB3-B397-4AC9-85FD-65388F26D9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91" name="Straight Connector 3090">
              <a:extLst>
                <a:ext uri="{FF2B5EF4-FFF2-40B4-BE49-F238E27FC236}">
                  <a16:creationId xmlns:a16="http://schemas.microsoft.com/office/drawing/2014/main" id="{BE5EC0B9-49C7-4777-AEC5-B5EF8DE404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92" name="Straight Connector 3091">
              <a:extLst>
                <a:ext uri="{FF2B5EF4-FFF2-40B4-BE49-F238E27FC236}">
                  <a16:creationId xmlns:a16="http://schemas.microsoft.com/office/drawing/2014/main" id="{7902048B-30F7-4434-87A5-140F9BB4BE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93" name="Straight Connector 3092">
              <a:extLst>
                <a:ext uri="{FF2B5EF4-FFF2-40B4-BE49-F238E27FC236}">
                  <a16:creationId xmlns:a16="http://schemas.microsoft.com/office/drawing/2014/main" id="{0500A6E2-A41C-4751-8A4E-9A0C5718D93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94" name="Straight Connector 3093">
              <a:extLst>
                <a:ext uri="{FF2B5EF4-FFF2-40B4-BE49-F238E27FC236}">
                  <a16:creationId xmlns:a16="http://schemas.microsoft.com/office/drawing/2014/main" id="{FC259517-7BE7-45F9-81C0-3A6362BF1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95" name="Straight Connector 3094">
              <a:extLst>
                <a:ext uri="{FF2B5EF4-FFF2-40B4-BE49-F238E27FC236}">
                  <a16:creationId xmlns:a16="http://schemas.microsoft.com/office/drawing/2014/main" id="{90652F56-7B71-42B2-AB68-22204A6DF1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96" name="Straight Connector 3095">
              <a:extLst>
                <a:ext uri="{FF2B5EF4-FFF2-40B4-BE49-F238E27FC236}">
                  <a16:creationId xmlns:a16="http://schemas.microsoft.com/office/drawing/2014/main" id="{1059830E-1C3D-4D42-8789-524971CB4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97" name="Straight Connector 3096">
              <a:extLst>
                <a:ext uri="{FF2B5EF4-FFF2-40B4-BE49-F238E27FC236}">
                  <a16:creationId xmlns:a16="http://schemas.microsoft.com/office/drawing/2014/main" id="{B53325A7-86D3-4B52-A7E3-ADDF408B40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98" name="Straight Connector 3097">
              <a:extLst>
                <a:ext uri="{FF2B5EF4-FFF2-40B4-BE49-F238E27FC236}">
                  <a16:creationId xmlns:a16="http://schemas.microsoft.com/office/drawing/2014/main" id="{6D53F46F-EC12-484C-A4E7-791E57687A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99" name="Straight Connector 3098">
              <a:extLst>
                <a:ext uri="{FF2B5EF4-FFF2-40B4-BE49-F238E27FC236}">
                  <a16:creationId xmlns:a16="http://schemas.microsoft.com/office/drawing/2014/main" id="{464ED9CA-8950-47B8-A9ED-22B45CE15F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00" name="Straight Connector 3099">
              <a:extLst>
                <a:ext uri="{FF2B5EF4-FFF2-40B4-BE49-F238E27FC236}">
                  <a16:creationId xmlns:a16="http://schemas.microsoft.com/office/drawing/2014/main" id="{E4429F7B-9FD7-438F-8ECA-3FCAD00618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01" name="Straight Connector 3100">
              <a:extLst>
                <a:ext uri="{FF2B5EF4-FFF2-40B4-BE49-F238E27FC236}">
                  <a16:creationId xmlns:a16="http://schemas.microsoft.com/office/drawing/2014/main" id="{0C558100-D455-4B41-890C-BCC898B2D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02" name="Straight Connector 3101">
              <a:extLst>
                <a:ext uri="{FF2B5EF4-FFF2-40B4-BE49-F238E27FC236}">
                  <a16:creationId xmlns:a16="http://schemas.microsoft.com/office/drawing/2014/main" id="{F2886397-398A-4318-BE16-2CBAC1902F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03" name="Straight Connector 3102">
              <a:extLst>
                <a:ext uri="{FF2B5EF4-FFF2-40B4-BE49-F238E27FC236}">
                  <a16:creationId xmlns:a16="http://schemas.microsoft.com/office/drawing/2014/main" id="{7D32A3A6-CE6E-4ABD-8522-2C8DC88C07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04" name="Straight Connector 3103">
              <a:extLst>
                <a:ext uri="{FF2B5EF4-FFF2-40B4-BE49-F238E27FC236}">
                  <a16:creationId xmlns:a16="http://schemas.microsoft.com/office/drawing/2014/main" id="{F9014C09-5B84-4798-8BDE-C80D76E67B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05" name="Straight Connector 3104">
              <a:extLst>
                <a:ext uri="{FF2B5EF4-FFF2-40B4-BE49-F238E27FC236}">
                  <a16:creationId xmlns:a16="http://schemas.microsoft.com/office/drawing/2014/main" id="{2A29EB9E-ED9D-4C69-8A26-9A7A0A830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06" name="Straight Connector 3105">
              <a:extLst>
                <a:ext uri="{FF2B5EF4-FFF2-40B4-BE49-F238E27FC236}">
                  <a16:creationId xmlns:a16="http://schemas.microsoft.com/office/drawing/2014/main" id="{AA2899F9-1795-416F-8F3D-26EEB684DB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07" name="Straight Connector 3106">
              <a:extLst>
                <a:ext uri="{FF2B5EF4-FFF2-40B4-BE49-F238E27FC236}">
                  <a16:creationId xmlns:a16="http://schemas.microsoft.com/office/drawing/2014/main" id="{E3043474-8625-495C-BD06-3627FD286C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08" name="Straight Connector 3107">
              <a:extLst>
                <a:ext uri="{FF2B5EF4-FFF2-40B4-BE49-F238E27FC236}">
                  <a16:creationId xmlns:a16="http://schemas.microsoft.com/office/drawing/2014/main" id="{D432CE47-7631-408E-8DDC-79EE378B70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09" name="Straight Connector 3108">
              <a:extLst>
                <a:ext uri="{FF2B5EF4-FFF2-40B4-BE49-F238E27FC236}">
                  <a16:creationId xmlns:a16="http://schemas.microsoft.com/office/drawing/2014/main" id="{B2C8832D-8B8D-4036-B913-2D36314327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10" name="Straight Connector 3109">
              <a:extLst>
                <a:ext uri="{FF2B5EF4-FFF2-40B4-BE49-F238E27FC236}">
                  <a16:creationId xmlns:a16="http://schemas.microsoft.com/office/drawing/2014/main" id="{1CCEFEAF-E87B-4FF2-A947-94CABAA061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3112" name="Right Triangle 3111">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3114" name="Rectangle 3113">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3116" name="Group 3115">
            <a:extLst>
              <a:ext uri="{FF2B5EF4-FFF2-40B4-BE49-F238E27FC236}">
                <a16:creationId xmlns:a16="http://schemas.microsoft.com/office/drawing/2014/main" id="{B19EC7B8-C390-4F1B-8960-E6D32451033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3117" name="Straight Connector 3116">
              <a:extLst>
                <a:ext uri="{FF2B5EF4-FFF2-40B4-BE49-F238E27FC236}">
                  <a16:creationId xmlns:a16="http://schemas.microsoft.com/office/drawing/2014/main" id="{7CEE1CC1-2CD0-4957-8A12-48FA80C0CC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18" name="Straight Connector 3117">
              <a:extLst>
                <a:ext uri="{FF2B5EF4-FFF2-40B4-BE49-F238E27FC236}">
                  <a16:creationId xmlns:a16="http://schemas.microsoft.com/office/drawing/2014/main" id="{34901FEB-A7C2-457B-A124-AD433B0417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19" name="Straight Connector 3118">
              <a:extLst>
                <a:ext uri="{FF2B5EF4-FFF2-40B4-BE49-F238E27FC236}">
                  <a16:creationId xmlns:a16="http://schemas.microsoft.com/office/drawing/2014/main" id="{C76048A8-79AA-454C-BD3E-3004F74268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20" name="Straight Connector 3119">
              <a:extLst>
                <a:ext uri="{FF2B5EF4-FFF2-40B4-BE49-F238E27FC236}">
                  <a16:creationId xmlns:a16="http://schemas.microsoft.com/office/drawing/2014/main" id="{77B51975-25FE-4328-9815-2AA302F28A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21" name="Straight Connector 3120">
              <a:extLst>
                <a:ext uri="{FF2B5EF4-FFF2-40B4-BE49-F238E27FC236}">
                  <a16:creationId xmlns:a16="http://schemas.microsoft.com/office/drawing/2014/main" id="{B440B47E-6D3E-4978-B887-B53DA0BFF5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22" name="Straight Connector 3121">
              <a:extLst>
                <a:ext uri="{FF2B5EF4-FFF2-40B4-BE49-F238E27FC236}">
                  <a16:creationId xmlns:a16="http://schemas.microsoft.com/office/drawing/2014/main" id="{FD94D0A1-D760-40DE-B758-008B93D588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23" name="Straight Connector 3122">
              <a:extLst>
                <a:ext uri="{FF2B5EF4-FFF2-40B4-BE49-F238E27FC236}">
                  <a16:creationId xmlns:a16="http://schemas.microsoft.com/office/drawing/2014/main" id="{F9E590CB-0538-40D7-9CAC-1BBD39CC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24" name="Straight Connector 3123">
              <a:extLst>
                <a:ext uri="{FF2B5EF4-FFF2-40B4-BE49-F238E27FC236}">
                  <a16:creationId xmlns:a16="http://schemas.microsoft.com/office/drawing/2014/main" id="{5D7C67DA-B2AA-46E2-8065-1F862A6F7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25" name="Straight Connector 3124">
              <a:extLst>
                <a:ext uri="{FF2B5EF4-FFF2-40B4-BE49-F238E27FC236}">
                  <a16:creationId xmlns:a16="http://schemas.microsoft.com/office/drawing/2014/main" id="{C0C2ED54-1B65-4F4A-B14B-41FC05B372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26" name="Straight Connector 3125">
              <a:extLst>
                <a:ext uri="{FF2B5EF4-FFF2-40B4-BE49-F238E27FC236}">
                  <a16:creationId xmlns:a16="http://schemas.microsoft.com/office/drawing/2014/main" id="{EAE5BBBC-F576-4D54-BF67-C00BB1F4F9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27" name="Straight Connector 3126">
              <a:extLst>
                <a:ext uri="{FF2B5EF4-FFF2-40B4-BE49-F238E27FC236}">
                  <a16:creationId xmlns:a16="http://schemas.microsoft.com/office/drawing/2014/main" id="{90D490E7-12F8-40DC-A9C1-D119667EEF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28" name="Straight Connector 3127">
              <a:extLst>
                <a:ext uri="{FF2B5EF4-FFF2-40B4-BE49-F238E27FC236}">
                  <a16:creationId xmlns:a16="http://schemas.microsoft.com/office/drawing/2014/main" id="{6C855383-9F21-4BDA-8FCA-22AF3D69FF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29" name="Straight Connector 3128">
              <a:extLst>
                <a:ext uri="{FF2B5EF4-FFF2-40B4-BE49-F238E27FC236}">
                  <a16:creationId xmlns:a16="http://schemas.microsoft.com/office/drawing/2014/main" id="{FC3E600C-E08A-418E-B30E-2B0FC15DF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30" name="Straight Connector 3129">
              <a:extLst>
                <a:ext uri="{FF2B5EF4-FFF2-40B4-BE49-F238E27FC236}">
                  <a16:creationId xmlns:a16="http://schemas.microsoft.com/office/drawing/2014/main" id="{E980D58F-BD3F-4B47-9BD2-888B0D9D19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31" name="Straight Connector 3130">
              <a:extLst>
                <a:ext uri="{FF2B5EF4-FFF2-40B4-BE49-F238E27FC236}">
                  <a16:creationId xmlns:a16="http://schemas.microsoft.com/office/drawing/2014/main" id="{43544818-9B28-4A71-8D7B-80727A5326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32" name="Straight Connector 3131">
              <a:extLst>
                <a:ext uri="{FF2B5EF4-FFF2-40B4-BE49-F238E27FC236}">
                  <a16:creationId xmlns:a16="http://schemas.microsoft.com/office/drawing/2014/main" id="{101FFBC7-035F-48C5-91FA-4A4973FCD6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33" name="Straight Connector 3132">
              <a:extLst>
                <a:ext uri="{FF2B5EF4-FFF2-40B4-BE49-F238E27FC236}">
                  <a16:creationId xmlns:a16="http://schemas.microsoft.com/office/drawing/2014/main" id="{D6195BC5-BB4E-4F3F-8378-0B308B4252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34" name="Straight Connector 3133">
              <a:extLst>
                <a:ext uri="{FF2B5EF4-FFF2-40B4-BE49-F238E27FC236}">
                  <a16:creationId xmlns:a16="http://schemas.microsoft.com/office/drawing/2014/main" id="{02404171-AF5C-4FA1-9D4E-DCF75562BD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35" name="Straight Connector 3134">
              <a:extLst>
                <a:ext uri="{FF2B5EF4-FFF2-40B4-BE49-F238E27FC236}">
                  <a16:creationId xmlns:a16="http://schemas.microsoft.com/office/drawing/2014/main" id="{BAD45A86-9385-473D-9DBF-565E0A94AF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36" name="Straight Connector 3135">
              <a:extLst>
                <a:ext uri="{FF2B5EF4-FFF2-40B4-BE49-F238E27FC236}">
                  <a16:creationId xmlns:a16="http://schemas.microsoft.com/office/drawing/2014/main" id="{DBA5A228-913F-4D4F-AB25-5372936246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37" name="Straight Connector 3136">
              <a:extLst>
                <a:ext uri="{FF2B5EF4-FFF2-40B4-BE49-F238E27FC236}">
                  <a16:creationId xmlns:a16="http://schemas.microsoft.com/office/drawing/2014/main" id="{A87E8BFE-D92E-4EB3-ADD1-FB75CAA683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38" name="Straight Connector 3137">
              <a:extLst>
                <a:ext uri="{FF2B5EF4-FFF2-40B4-BE49-F238E27FC236}">
                  <a16:creationId xmlns:a16="http://schemas.microsoft.com/office/drawing/2014/main" id="{08756FCD-8335-4089-B4EE-13D629E53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39" name="Straight Connector 3138">
              <a:extLst>
                <a:ext uri="{FF2B5EF4-FFF2-40B4-BE49-F238E27FC236}">
                  <a16:creationId xmlns:a16="http://schemas.microsoft.com/office/drawing/2014/main" id="{A9707D7B-937E-4DC3-87BA-B7B7042682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40" name="Straight Connector 3139">
              <a:extLst>
                <a:ext uri="{FF2B5EF4-FFF2-40B4-BE49-F238E27FC236}">
                  <a16:creationId xmlns:a16="http://schemas.microsoft.com/office/drawing/2014/main" id="{AB1A72DC-3F29-4488-9051-C21E1CBB7E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41" name="Straight Connector 3140">
              <a:extLst>
                <a:ext uri="{FF2B5EF4-FFF2-40B4-BE49-F238E27FC236}">
                  <a16:creationId xmlns:a16="http://schemas.microsoft.com/office/drawing/2014/main" id="{956DAD76-815C-4F16-98CF-8E8BE1965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42" name="Straight Connector 3141">
              <a:extLst>
                <a:ext uri="{FF2B5EF4-FFF2-40B4-BE49-F238E27FC236}">
                  <a16:creationId xmlns:a16="http://schemas.microsoft.com/office/drawing/2014/main" id="{1AF2F8C5-6691-4EBD-B42E-4B17DF1ED2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43" name="Straight Connector 3142">
              <a:extLst>
                <a:ext uri="{FF2B5EF4-FFF2-40B4-BE49-F238E27FC236}">
                  <a16:creationId xmlns:a16="http://schemas.microsoft.com/office/drawing/2014/main" id="{D32ED14D-1C00-41C8-849C-030A1434E4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44" name="Straight Connector 3143">
              <a:extLst>
                <a:ext uri="{FF2B5EF4-FFF2-40B4-BE49-F238E27FC236}">
                  <a16:creationId xmlns:a16="http://schemas.microsoft.com/office/drawing/2014/main" id="{62F296F5-9867-45CA-BF0A-EF216F6A80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45" name="Straight Connector 3144">
              <a:extLst>
                <a:ext uri="{FF2B5EF4-FFF2-40B4-BE49-F238E27FC236}">
                  <a16:creationId xmlns:a16="http://schemas.microsoft.com/office/drawing/2014/main" id="{53B72471-9DB5-428B-AF52-E11E03B9FD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46" name="Straight Connector 3145">
              <a:extLst>
                <a:ext uri="{FF2B5EF4-FFF2-40B4-BE49-F238E27FC236}">
                  <a16:creationId xmlns:a16="http://schemas.microsoft.com/office/drawing/2014/main" id="{B8656B49-5277-4610-BD7B-F5D98170B5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47" name="Straight Connector 3146">
              <a:extLst>
                <a:ext uri="{FF2B5EF4-FFF2-40B4-BE49-F238E27FC236}">
                  <a16:creationId xmlns:a16="http://schemas.microsoft.com/office/drawing/2014/main" id="{F1A47399-8F78-4DB1-BD21-1166BCB267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3149" name="Right Triangle 3148">
            <a:extLst>
              <a:ext uri="{FF2B5EF4-FFF2-40B4-BE49-F238E27FC236}">
                <a16:creationId xmlns:a16="http://schemas.microsoft.com/office/drawing/2014/main" id="{F952A221-69C2-46B3-890D-354CA5961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5810332" y="-28672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EE194B6-0612-E77D-EAE5-C70B1942F531}"/>
              </a:ext>
            </a:extLst>
          </p:cNvPr>
          <p:cNvSpPr>
            <a:spLocks noGrp="1"/>
          </p:cNvSpPr>
          <p:nvPr>
            <p:ph type="title"/>
          </p:nvPr>
        </p:nvSpPr>
        <p:spPr>
          <a:xfrm>
            <a:off x="1169071" y="722904"/>
            <a:ext cx="9821130" cy="1075904"/>
          </a:xfrm>
        </p:spPr>
        <p:txBody>
          <a:bodyPr vert="horz" lIns="91440" tIns="45720" rIns="91440" bIns="45720" rtlCol="0" anchor="b">
            <a:normAutofit/>
          </a:bodyPr>
          <a:lstStyle/>
          <a:p>
            <a:pPr algn="ctr">
              <a:lnSpc>
                <a:spcPct val="90000"/>
              </a:lnSpc>
            </a:pPr>
            <a:r>
              <a:rPr lang="en-US" sz="3400"/>
              <a:t>Combination of retrospective and prospective cohort studies</a:t>
            </a:r>
          </a:p>
        </p:txBody>
      </p:sp>
      <p:pic>
        <p:nvPicPr>
          <p:cNvPr id="3074" name="Picture 2" descr="What is the difference between prospective and retrospective studies ...">
            <a:extLst>
              <a:ext uri="{FF2B5EF4-FFF2-40B4-BE49-F238E27FC236}">
                <a16:creationId xmlns:a16="http://schemas.microsoft.com/office/drawing/2014/main" id="{B71353B9-5585-406B-7AB1-643668D5B26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1079" y="1792054"/>
            <a:ext cx="10803580" cy="4349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7120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7666B-435C-9F6A-2CD4-A66D33BB779A}"/>
              </a:ext>
            </a:extLst>
          </p:cNvPr>
          <p:cNvSpPr>
            <a:spLocks noGrp="1"/>
          </p:cNvSpPr>
          <p:nvPr>
            <p:ph type="title"/>
          </p:nvPr>
        </p:nvSpPr>
        <p:spPr>
          <a:xfrm>
            <a:off x="691079" y="725951"/>
            <a:ext cx="10325000" cy="781573"/>
          </a:xfrm>
        </p:spPr>
        <p:txBody>
          <a:bodyPr/>
          <a:lstStyle/>
          <a:p>
            <a:r>
              <a:rPr lang="en-US" dirty="0"/>
              <a:t>Nested case control study</a:t>
            </a:r>
          </a:p>
        </p:txBody>
      </p:sp>
      <p:sp>
        <p:nvSpPr>
          <p:cNvPr id="3" name="Content Placeholder 2">
            <a:extLst>
              <a:ext uri="{FF2B5EF4-FFF2-40B4-BE49-F238E27FC236}">
                <a16:creationId xmlns:a16="http://schemas.microsoft.com/office/drawing/2014/main" id="{A9623280-4DED-F9ED-AEB5-3C68D6F332CF}"/>
              </a:ext>
            </a:extLst>
          </p:cNvPr>
          <p:cNvSpPr>
            <a:spLocks noGrp="1"/>
          </p:cNvSpPr>
          <p:nvPr>
            <p:ph idx="1"/>
          </p:nvPr>
        </p:nvSpPr>
        <p:spPr>
          <a:xfrm>
            <a:off x="222422" y="1646782"/>
            <a:ext cx="11969577" cy="3564436"/>
          </a:xfrm>
        </p:spPr>
        <p:txBody>
          <a:bodyPr>
            <a:noAutofit/>
          </a:bodyPr>
          <a:lstStyle/>
          <a:p>
            <a:r>
              <a:rPr lang="en-US" sz="1900" dirty="0">
                <a:latin typeface="Times New Roman" panose="02020603050405020304" pitchFamily="18" charset="0"/>
                <a:cs typeface="Times New Roman" panose="02020603050405020304" pitchFamily="18" charset="0"/>
              </a:rPr>
              <a:t>Variation of a case-control study in which cases and controls are drawn from the population in a fully enumerated cohort. </a:t>
            </a:r>
          </a:p>
          <a:p>
            <a:r>
              <a:rPr lang="en-US" sz="1900" dirty="0">
                <a:latin typeface="Times New Roman" panose="02020603050405020304" pitchFamily="18" charset="0"/>
                <a:cs typeface="Times New Roman" panose="02020603050405020304" pitchFamily="18" charset="0"/>
              </a:rPr>
              <a:t>The exposure of interest is only measured among the cases and the selected controls. Thus, the nested case-control study is more efficient than the full cohort design. </a:t>
            </a:r>
          </a:p>
          <a:p>
            <a:r>
              <a:rPr lang="en-US" sz="1900" dirty="0">
                <a:latin typeface="Times New Roman" panose="02020603050405020304" pitchFamily="18" charset="0"/>
                <a:cs typeface="Times New Roman" panose="02020603050405020304" pitchFamily="18" charset="0"/>
              </a:rPr>
              <a:t>The NCC design is often used when the exposure of interest is difficult or expensive to obtain and when the outcome is rare.</a:t>
            </a:r>
          </a:p>
          <a:p>
            <a:r>
              <a:rPr lang="en-US" sz="1900" dirty="0">
                <a:latin typeface="Times New Roman" panose="02020603050405020304" pitchFamily="18" charset="0"/>
                <a:cs typeface="Times New Roman" panose="02020603050405020304" pitchFamily="18" charset="0"/>
              </a:rPr>
              <a:t>The nested case-control design accommodates case event times into the sampling of controls. </a:t>
            </a:r>
          </a:p>
          <a:p>
            <a:r>
              <a:rPr lang="en-US" sz="1900" dirty="0">
                <a:latin typeface="Times New Roman" panose="02020603050405020304" pitchFamily="18" charset="0"/>
                <a:cs typeface="Times New Roman" panose="02020603050405020304" pitchFamily="18" charset="0"/>
              </a:rPr>
              <a:t>In this design, one or more controls are selected for each case from the risk set at the time at which the case event occurs. </a:t>
            </a:r>
          </a:p>
          <a:p>
            <a:r>
              <a:rPr lang="en-US" sz="1900" dirty="0">
                <a:latin typeface="Times New Roman" panose="02020603050405020304" pitchFamily="18" charset="0"/>
                <a:cs typeface="Times New Roman" panose="02020603050405020304" pitchFamily="18" charset="0"/>
              </a:rPr>
              <a:t>Controls may also be matched to cases on selected variables. </a:t>
            </a:r>
          </a:p>
          <a:p>
            <a:r>
              <a:rPr lang="en-US" sz="1900" dirty="0">
                <a:latin typeface="Times New Roman" panose="02020603050405020304" pitchFamily="18" charset="0"/>
                <a:cs typeface="Times New Roman" panose="02020603050405020304" pitchFamily="18" charset="0"/>
              </a:rPr>
              <a:t>Nested case-control studies are particularly suited for use within large prospective cohorts, when it is desirable to process exposure information only for cases and a subset of non-cases</a:t>
            </a:r>
          </a:p>
        </p:txBody>
      </p:sp>
    </p:spTree>
    <p:extLst>
      <p:ext uri="{BB962C8B-B14F-4D97-AF65-F5344CB8AC3E}">
        <p14:creationId xmlns:p14="http://schemas.microsoft.com/office/powerpoint/2010/main" val="2639720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8" name="Group 89">
            <a:extLst>
              <a:ext uri="{FF2B5EF4-FFF2-40B4-BE49-F238E27FC236}">
                <a16:creationId xmlns:a16="http://schemas.microsoft.com/office/drawing/2014/main" id="{45BED274-5EB4-4EF4-B353-E55BD50265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91" name="Straight Connector 90">
              <a:extLst>
                <a:ext uri="{FF2B5EF4-FFF2-40B4-BE49-F238E27FC236}">
                  <a16:creationId xmlns:a16="http://schemas.microsoft.com/office/drawing/2014/main" id="{E0418BE5-560E-4E49-B12D-B555511FED7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49D1162-73B9-420F-BCBE-95039D00CD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2BA76FE-316A-48E2-A03B-4E05691C43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E678FBC-A6AD-4422-BA24-A4172F8862C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DD3C5C3E-2D08-43F0-AFAC-E15360CA7D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E0BEAC62-AF92-4A65-9790-6F6E0C6C5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3C77D7C5-E76E-4E82-BFC4-9A75D2C808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C66E0152-96B9-4067-80D3-D9BDE6D7EC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0918AFCC-B9DA-4092-8FBA-2CFEDB0388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91EC7D33-C87E-4812-A722-53C5D99272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95F239E3-501A-4C3C-9BE4-6BFA0D3126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9B62BF3B-95BB-4188-AAE5-015A0EF3D1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B14E5F0F-0124-40D0-A0BF-AE307A0E15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2BADC3B1-26C7-4CF1-B29D-4D0DEA3E26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A0A7DF6E-1132-4A80-9B18-593B1ACD77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9EF19589-10D8-4A8F-A0B1-F7CE380E30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28E6BB32-C4F8-4914-88D3-7DC5E79D0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A8F046EE-9DBA-4924-A19C-ED8741F5F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8AABBC44-ABA8-4913-824E-64D3447246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54272B22-1C39-47A0-8551-73666AFBEE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08CDFF66-464C-4ABF-BB01-00500A3B75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3079FC88-BD3B-4C04-9B90-0FC93C1792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B1FCAED8-8687-4141-A7C3-0D88ACEDFEC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065038E6-7B32-460F-B804-D6C105FF44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EC5DAE85-AD17-454B-AB64-CEFF52FDAB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8C603643-2066-4967-AE4B-9DA143843B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437E9533-9B07-43E3-B939-7BADC01FEE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EDCCAAEE-AB2E-4534-893A-3DB109499F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48BD39A2-970F-4714-AAA6-67EE99A0EA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CF4A1387-348B-4E46-9B65-FDF76ED0EF2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BF5DAF27-A54D-442A-93E4-BA7F04EAE3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59" name="Rectangle 122">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60" name="Group 124">
            <a:extLst>
              <a:ext uri="{FF2B5EF4-FFF2-40B4-BE49-F238E27FC236}">
                <a16:creationId xmlns:a16="http://schemas.microsoft.com/office/drawing/2014/main" id="{CFB7A4C9-92CD-44D3-A28C-FA35567A97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6" name="Straight Connector 125">
              <a:extLst>
                <a:ext uri="{FF2B5EF4-FFF2-40B4-BE49-F238E27FC236}">
                  <a16:creationId xmlns:a16="http://schemas.microsoft.com/office/drawing/2014/main" id="{96A0B86B-E5EF-4C51-B73A-A72785A885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B28325C5-8310-4D23-B08F-74CD90E134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64BE24A6-CB18-43D8-A955-7A58E56A6D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C90E549F-E66C-4639-8216-4DB579766B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E32D53E2-5427-44D7-90B2-B51D613980D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F7F2D63-B189-47CB-BCBA-06F99730A5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6D23A140-3CAD-4933-988D-8A11B94F3D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9410EC65-0AB7-4EB5-9FD1-9781DDEC52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9AB4B2E0-F6F4-4605-8A70-1EC201401F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70CBBB60-6409-4C10-A9AD-DFE815933D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74A1C4D2-346C-4562-9B1C-0DF21AA31F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9FC6324E-B1C3-40D9-9D58-1A1671A53A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F31307B7-2B8E-42C8-8DC0-B24B63021E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BDAD637B-3870-4191-9D4A-4FBA8707E9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11E9181-21F5-407D-B7B8-764C9137D2C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48262C9F-5298-4F8D-8FC8-28A2E8371C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CC8A1B5C-3C6B-45F6-AC1C-82A3E934D6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86AF6588-0730-4D45-AF19-1655AFFD9A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94862BC1-DD1E-4786-BD5C-270D7DCFA6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748CD048-7F9C-418A-9F39-9C140BF375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79E062D0-55D1-418A-9BDB-308FD770BB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21794E89-09BF-4BFA-8CB0-E669836577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7949DB15-C4FA-4634-B6DD-6C9EF14244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5C1CA597-C684-4685-831F-816D17D734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DF626A90-4A74-41FA-A4D2-30E16164F1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A97012B9-C53C-47B9-809C-EC0E79839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BADA3DCC-1755-48A1-8AE0-9EDE322823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CC6A4BA0-7434-42B8-B04D-AC831B85F8E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1F3FA5CC-6091-4DB0-9B9A-81F9572FD2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6A4CE318-4D10-46AE-B51B-22B2B0CC17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59119ED3-C89C-4B2F-B7A4-F3B45A6EC0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pic>
        <p:nvPicPr>
          <p:cNvPr id="4" name="Picture 2" descr="Nested Case Control Study - sharedoc">
            <a:extLst>
              <a:ext uri="{FF2B5EF4-FFF2-40B4-BE49-F238E27FC236}">
                <a16:creationId xmlns:a16="http://schemas.microsoft.com/office/drawing/2014/main" id="{0EE12EA0-0850-48EE-D84C-9E73C87D987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21"/>
          <a:stretch/>
        </p:blipFill>
        <p:spPr bwMode="auto">
          <a:xfrm>
            <a:off x="192527" y="168612"/>
            <a:ext cx="11797565" cy="6519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8253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7E94F-4076-2EB5-1061-1E9B1E74ABD9}"/>
              </a:ext>
            </a:extLst>
          </p:cNvPr>
          <p:cNvSpPr>
            <a:spLocks noGrp="1"/>
          </p:cNvSpPr>
          <p:nvPr>
            <p:ph type="title"/>
          </p:nvPr>
        </p:nvSpPr>
        <p:spPr/>
        <p:txBody>
          <a:bodyPr/>
          <a:lstStyle/>
          <a:p>
            <a:r>
              <a:rPr lang="en-US" dirty="0"/>
              <a:t>Elements</a:t>
            </a:r>
          </a:p>
        </p:txBody>
      </p:sp>
      <p:sp>
        <p:nvSpPr>
          <p:cNvPr id="3" name="Content Placeholder 2">
            <a:extLst>
              <a:ext uri="{FF2B5EF4-FFF2-40B4-BE49-F238E27FC236}">
                <a16:creationId xmlns:a16="http://schemas.microsoft.com/office/drawing/2014/main" id="{B030B291-CA58-7FD3-F771-AEC14D5EDE3B}"/>
              </a:ext>
            </a:extLst>
          </p:cNvPr>
          <p:cNvSpPr>
            <a:spLocks noGrp="1"/>
          </p:cNvSpPr>
          <p:nvPr>
            <p:ph idx="1"/>
          </p:nvPr>
        </p:nvSpPr>
        <p:spPr/>
        <p:txBody>
          <a:bodyPr/>
          <a:lstStyle/>
          <a:p>
            <a:pPr algn="l"/>
            <a:r>
              <a:rPr lang="en-US" sz="1800" b="0" i="0" u="none" strike="noStrike" baseline="0" dirty="0">
                <a:latin typeface="Times New Roman" panose="02020603050405020304" pitchFamily="18" charset="0"/>
              </a:rPr>
              <a:t>Selection of study subjects</a:t>
            </a:r>
          </a:p>
          <a:p>
            <a:pPr algn="l"/>
            <a:r>
              <a:rPr lang="en-US" sz="1800" b="0" i="0" u="none" strike="noStrike" baseline="0" dirty="0">
                <a:latin typeface="Times New Roman" panose="02020603050405020304" pitchFamily="18" charset="0"/>
              </a:rPr>
              <a:t>Obtaining data on exposure</a:t>
            </a:r>
          </a:p>
          <a:p>
            <a:pPr algn="l"/>
            <a:r>
              <a:rPr lang="en-US" sz="1800" b="0" i="0" u="none" strike="noStrike" baseline="0" dirty="0">
                <a:latin typeface="Times New Roman" panose="02020603050405020304" pitchFamily="18" charset="0"/>
              </a:rPr>
              <a:t>Selection of comparison groups</a:t>
            </a:r>
          </a:p>
          <a:p>
            <a:pPr algn="l"/>
            <a:r>
              <a:rPr lang="en-US" sz="1800" b="0" i="0" u="none" strike="noStrike" baseline="0" dirty="0">
                <a:latin typeface="Times New Roman" panose="02020603050405020304" pitchFamily="18" charset="0"/>
              </a:rPr>
              <a:t>Follow-up</a:t>
            </a:r>
          </a:p>
          <a:p>
            <a:pPr algn="l"/>
            <a:r>
              <a:rPr lang="en-US" sz="1800" b="0" i="0" u="none" strike="noStrike" baseline="0" dirty="0">
                <a:latin typeface="Times New Roman" panose="02020603050405020304" pitchFamily="18" charset="0"/>
              </a:rPr>
              <a:t>Analysis.</a:t>
            </a:r>
            <a:endParaRPr lang="en-US" dirty="0"/>
          </a:p>
        </p:txBody>
      </p:sp>
    </p:spTree>
    <p:extLst>
      <p:ext uri="{BB962C8B-B14F-4D97-AF65-F5344CB8AC3E}">
        <p14:creationId xmlns:p14="http://schemas.microsoft.com/office/powerpoint/2010/main" val="984436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7E94F-4076-2EB5-1061-1E9B1E74ABD9}"/>
              </a:ext>
            </a:extLst>
          </p:cNvPr>
          <p:cNvSpPr>
            <a:spLocks noGrp="1"/>
          </p:cNvSpPr>
          <p:nvPr>
            <p:ph type="title"/>
          </p:nvPr>
        </p:nvSpPr>
        <p:spPr>
          <a:xfrm>
            <a:off x="691079" y="725950"/>
            <a:ext cx="3428812" cy="5436630"/>
          </a:xfrm>
        </p:spPr>
        <p:txBody>
          <a:bodyPr anchor="ctr">
            <a:normAutofit/>
          </a:bodyPr>
          <a:lstStyle/>
          <a:p>
            <a:r>
              <a:rPr lang="en-US" dirty="0"/>
              <a:t>Elements</a:t>
            </a:r>
          </a:p>
        </p:txBody>
      </p:sp>
      <p:graphicFrame>
        <p:nvGraphicFramePr>
          <p:cNvPr id="5" name="Content Placeholder 2">
            <a:extLst>
              <a:ext uri="{FF2B5EF4-FFF2-40B4-BE49-F238E27FC236}">
                <a16:creationId xmlns:a16="http://schemas.microsoft.com/office/drawing/2014/main" id="{38065143-3114-97D6-CE7B-E138E133F088}"/>
              </a:ext>
            </a:extLst>
          </p:cNvPr>
          <p:cNvGraphicFramePr>
            <a:graphicFrameLocks noGrp="1"/>
          </p:cNvGraphicFramePr>
          <p:nvPr>
            <p:ph idx="1"/>
          </p:nvPr>
        </p:nvGraphicFramePr>
        <p:xfrm>
          <a:off x="5103282" y="170170"/>
          <a:ext cx="6879517" cy="59732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50854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99295-6B25-1487-BF3F-C3B1255DA268}"/>
              </a:ext>
            </a:extLst>
          </p:cNvPr>
          <p:cNvSpPr>
            <a:spLocks noGrp="1"/>
          </p:cNvSpPr>
          <p:nvPr>
            <p:ph type="title"/>
          </p:nvPr>
        </p:nvSpPr>
        <p:spPr/>
        <p:txBody>
          <a:bodyPr/>
          <a:lstStyle/>
          <a:p>
            <a:r>
              <a:rPr lang="en-US" dirty="0"/>
              <a:t>Selection of study subjects</a:t>
            </a:r>
          </a:p>
        </p:txBody>
      </p:sp>
      <p:sp>
        <p:nvSpPr>
          <p:cNvPr id="3" name="Content Placeholder 2">
            <a:extLst>
              <a:ext uri="{FF2B5EF4-FFF2-40B4-BE49-F238E27FC236}">
                <a16:creationId xmlns:a16="http://schemas.microsoft.com/office/drawing/2014/main" id="{37728875-5799-9968-D512-1FEED7DA47CA}"/>
              </a:ext>
            </a:extLst>
          </p:cNvPr>
          <p:cNvSpPr>
            <a:spLocks noGrp="1"/>
          </p:cNvSpPr>
          <p:nvPr>
            <p:ph idx="1"/>
          </p:nvPr>
        </p:nvSpPr>
        <p:spPr>
          <a:xfrm>
            <a:off x="965200" y="1862667"/>
            <a:ext cx="10318496" cy="4309533"/>
          </a:xfrm>
        </p:spPr>
        <p:txBody>
          <a:bodyPr>
            <a:normAutofit/>
          </a:bodyPr>
          <a:lstStyle/>
          <a:p>
            <a:r>
              <a:rPr lang="en-US" sz="4400" dirty="0"/>
              <a:t>General population</a:t>
            </a:r>
          </a:p>
          <a:p>
            <a:pPr lvl="1"/>
            <a:r>
              <a:rPr lang="en-US" b="0" i="0" u="none" strike="noStrike" baseline="0" dirty="0">
                <a:latin typeface="Times New Roman" panose="02020603050405020304" pitchFamily="18" charset="0"/>
              </a:rPr>
              <a:t>Exposure or cause of death is fairly frequent in the population</a:t>
            </a:r>
          </a:p>
          <a:p>
            <a:pPr lvl="1"/>
            <a:r>
              <a:rPr lang="en-US" b="0" i="0" u="none" strike="noStrike" baseline="0" dirty="0">
                <a:latin typeface="Times New Roman" panose="02020603050405020304" pitchFamily="18" charset="0"/>
              </a:rPr>
              <a:t>Residing in well defined geographical, political and administrative areas</a:t>
            </a:r>
          </a:p>
          <a:p>
            <a:pPr lvl="1"/>
            <a:r>
              <a:rPr lang="en-US" b="0" i="0" u="none" strike="noStrike" baseline="0" dirty="0">
                <a:latin typeface="Times New Roman" panose="02020603050405020304" pitchFamily="18" charset="0"/>
              </a:rPr>
              <a:t>If the population is very large, an appropriate sample is taken.</a:t>
            </a:r>
          </a:p>
          <a:p>
            <a:pPr lvl="1"/>
            <a:r>
              <a:rPr lang="en-US" b="0" i="0" u="none" strike="noStrike" baseline="0" dirty="0">
                <a:latin typeface="Times New Roman" panose="02020603050405020304" pitchFamily="18" charset="0"/>
              </a:rPr>
              <a:t>The exposed and unexposed segments of the population to be studied should be representative of the corresponding segments of the general population.</a:t>
            </a:r>
            <a:endParaRPr lang="en-US" sz="4000" dirty="0"/>
          </a:p>
        </p:txBody>
      </p:sp>
    </p:spTree>
    <p:extLst>
      <p:ext uri="{BB962C8B-B14F-4D97-AF65-F5344CB8AC3E}">
        <p14:creationId xmlns:p14="http://schemas.microsoft.com/office/powerpoint/2010/main" val="2320779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99295-6B25-1487-BF3F-C3B1255DA268}"/>
              </a:ext>
            </a:extLst>
          </p:cNvPr>
          <p:cNvSpPr>
            <a:spLocks noGrp="1"/>
          </p:cNvSpPr>
          <p:nvPr>
            <p:ph type="title"/>
          </p:nvPr>
        </p:nvSpPr>
        <p:spPr/>
        <p:txBody>
          <a:bodyPr>
            <a:normAutofit/>
          </a:bodyPr>
          <a:lstStyle/>
          <a:p>
            <a:r>
              <a:rPr lang="en-US" dirty="0"/>
              <a:t>Selection of study subjects (Special groups)</a:t>
            </a:r>
          </a:p>
        </p:txBody>
      </p:sp>
      <p:sp>
        <p:nvSpPr>
          <p:cNvPr id="3" name="Content Placeholder 2">
            <a:extLst>
              <a:ext uri="{FF2B5EF4-FFF2-40B4-BE49-F238E27FC236}">
                <a16:creationId xmlns:a16="http://schemas.microsoft.com/office/drawing/2014/main" id="{37728875-5799-9968-D512-1FEED7DA47CA}"/>
              </a:ext>
            </a:extLst>
          </p:cNvPr>
          <p:cNvSpPr>
            <a:spLocks noGrp="1"/>
          </p:cNvSpPr>
          <p:nvPr>
            <p:ph idx="1"/>
          </p:nvPr>
        </p:nvSpPr>
        <p:spPr>
          <a:xfrm>
            <a:off x="965200" y="1862667"/>
            <a:ext cx="10318496" cy="4309533"/>
          </a:xfrm>
        </p:spPr>
        <p:txBody>
          <a:bodyPr>
            <a:normAutofit fontScale="85000" lnSpcReduction="20000"/>
          </a:bodyPr>
          <a:lstStyle/>
          <a:p>
            <a:r>
              <a:rPr lang="en-US" sz="2400" dirty="0"/>
              <a:t>Select group</a:t>
            </a:r>
          </a:p>
          <a:p>
            <a:pPr lvl="1"/>
            <a:r>
              <a:rPr lang="en-US" sz="2000" b="0" i="0" u="none" strike="noStrike" baseline="0" dirty="0">
                <a:latin typeface="Times New Roman" panose="02020603050405020304" pitchFamily="18" charset="0"/>
              </a:rPr>
              <a:t>These may be professional groups (e.g., doctors, nurses, lawyers, teachers, civil servants), insured persons, obstetric population, college alumni, government employees, volunteers, etc. </a:t>
            </a:r>
          </a:p>
          <a:p>
            <a:pPr lvl="1"/>
            <a:r>
              <a:rPr lang="en-US" sz="2000" b="0" i="0" u="none" strike="noStrike" baseline="0" dirty="0">
                <a:latin typeface="Times New Roman" panose="02020603050405020304" pitchFamily="18" charset="0"/>
              </a:rPr>
              <a:t>Doll’s prospective study on smoking and lung cancer was carried out on British doctors listed in the Medical Register of the UK in 1951</a:t>
            </a:r>
            <a:r>
              <a:rPr lang="en-US" sz="2000" b="0" i="1" u="none" strike="noStrike" baseline="0" dirty="0">
                <a:latin typeface="Times New Roman" panose="02020603050405020304" pitchFamily="18" charset="0"/>
              </a:rPr>
              <a:t>. </a:t>
            </a:r>
          </a:p>
          <a:p>
            <a:pPr lvl="1"/>
            <a:r>
              <a:rPr lang="en-US" sz="2000" b="0" i="0" u="none" strike="noStrike" baseline="0" dirty="0">
                <a:latin typeface="Times New Roman" panose="02020603050405020304" pitchFamily="18" charset="0"/>
              </a:rPr>
              <a:t>These groups are not only homogeneous, but they also offer advantages of accessibility and easy follow-up for a protracted period</a:t>
            </a:r>
          </a:p>
          <a:p>
            <a:pPr algn="l"/>
            <a:r>
              <a:rPr lang="en-US" sz="2400" dirty="0"/>
              <a:t>Exposure groups </a:t>
            </a:r>
            <a:r>
              <a:rPr lang="en-US" sz="1800" b="0" i="1" u="none" strike="noStrike" baseline="0" dirty="0">
                <a:latin typeface="Times New Roman" panose="02020603050405020304" pitchFamily="18" charset="0"/>
              </a:rPr>
              <a:t>: </a:t>
            </a:r>
          </a:p>
          <a:p>
            <a:pPr lvl="1"/>
            <a:r>
              <a:rPr lang="en-US" sz="2100" dirty="0">
                <a:latin typeface="Times New Roman" panose="02020603050405020304" pitchFamily="18" charset="0"/>
              </a:rPr>
              <a:t>If the exposure is rare, a more economical  procedure is to select a cohort of persons known to have experienced the exposure. </a:t>
            </a:r>
          </a:p>
          <a:p>
            <a:pPr lvl="1"/>
            <a:r>
              <a:rPr lang="en-US" sz="2100" dirty="0">
                <a:latin typeface="Times New Roman" panose="02020603050405020304" pitchFamily="18" charset="0"/>
              </a:rPr>
              <a:t>A readily accessible source of these groups is workers in industries and those employed in high-risk situations (e.g., radiologists exposed to X-rays).</a:t>
            </a:r>
          </a:p>
          <a:p>
            <a:pPr lvl="1"/>
            <a:r>
              <a:rPr lang="en-US" sz="2100" dirty="0">
                <a:latin typeface="Times New Roman" panose="02020603050405020304" pitchFamily="18" charset="0"/>
              </a:rPr>
              <a:t>When cohorts have been selected because of special exposure, it facilitates classification of cohort members according to the degree or duration of exposure to the suspected factor for subsequent analytical study.</a:t>
            </a:r>
          </a:p>
        </p:txBody>
      </p:sp>
    </p:spTree>
    <p:extLst>
      <p:ext uri="{BB962C8B-B14F-4D97-AF65-F5344CB8AC3E}">
        <p14:creationId xmlns:p14="http://schemas.microsoft.com/office/powerpoint/2010/main" val="16862942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A7566-AE9C-F17D-1406-FF64B3C4B799}"/>
              </a:ext>
            </a:extLst>
          </p:cNvPr>
          <p:cNvSpPr>
            <a:spLocks noGrp="1"/>
          </p:cNvSpPr>
          <p:nvPr>
            <p:ph type="title"/>
          </p:nvPr>
        </p:nvSpPr>
        <p:spPr/>
        <p:txBody>
          <a:bodyPr/>
          <a:lstStyle/>
          <a:p>
            <a:r>
              <a:rPr lang="en-US" dirty="0"/>
              <a:t>Data on exposure</a:t>
            </a:r>
          </a:p>
        </p:txBody>
      </p:sp>
      <p:sp>
        <p:nvSpPr>
          <p:cNvPr id="3" name="Content Placeholder 2">
            <a:extLst>
              <a:ext uri="{FF2B5EF4-FFF2-40B4-BE49-F238E27FC236}">
                <a16:creationId xmlns:a16="http://schemas.microsoft.com/office/drawing/2014/main" id="{C283CB73-A5E6-8BE3-9891-273A3B34DDEA}"/>
              </a:ext>
            </a:extLst>
          </p:cNvPr>
          <p:cNvSpPr>
            <a:spLocks noGrp="1"/>
          </p:cNvSpPr>
          <p:nvPr>
            <p:ph idx="1"/>
          </p:nvPr>
        </p:nvSpPr>
        <p:spPr>
          <a:xfrm>
            <a:off x="1115568" y="1728216"/>
            <a:ext cx="10168128" cy="4443984"/>
          </a:xfrm>
        </p:spPr>
        <p:txBody>
          <a:bodyPr>
            <a:normAutofit fontScale="92500" lnSpcReduction="20000"/>
          </a:bodyPr>
          <a:lstStyle/>
          <a:p>
            <a:pPr algn="l"/>
            <a:r>
              <a:rPr lang="en-US" sz="2200" b="0" i="1" u="none" strike="noStrike" baseline="0" dirty="0">
                <a:latin typeface="Times New Roman" panose="02020603050405020304" pitchFamily="18" charset="0"/>
              </a:rPr>
              <a:t>Cohort members : </a:t>
            </a:r>
            <a:r>
              <a:rPr lang="en-US" sz="2200" b="0" i="0" u="none" strike="noStrike" baseline="0" dirty="0">
                <a:latin typeface="Times New Roman" panose="02020603050405020304" pitchFamily="18" charset="0"/>
              </a:rPr>
              <a:t>through personal interviews or mailed questionnaires. </a:t>
            </a:r>
          </a:p>
          <a:p>
            <a:pPr algn="l"/>
            <a:r>
              <a:rPr lang="en-US" sz="2200" b="0" i="1" u="none" strike="noStrike" baseline="0" dirty="0">
                <a:latin typeface="Times New Roman" panose="02020603050405020304" pitchFamily="18" charset="0"/>
              </a:rPr>
              <a:t>Review of records: </a:t>
            </a:r>
            <a:r>
              <a:rPr lang="en-US" sz="2200" b="0" i="0" u="none" strike="noStrike" baseline="0" dirty="0">
                <a:latin typeface="Times New Roman" panose="02020603050405020304" pitchFamily="18" charset="0"/>
              </a:rPr>
              <a:t>Certain kinds of information (e.g., dose of radiation, kinds of surgery, or details of medical treatment) can be obtained only from medical records, </a:t>
            </a:r>
          </a:p>
          <a:p>
            <a:pPr algn="l"/>
            <a:r>
              <a:rPr lang="en-US" sz="2200" b="0" i="1" u="none" strike="noStrike" baseline="0" dirty="0">
                <a:latin typeface="Times New Roman" panose="02020603050405020304" pitchFamily="18" charset="0"/>
              </a:rPr>
              <a:t>Medical examination or special tests : </a:t>
            </a:r>
            <a:r>
              <a:rPr lang="en-US" sz="2200" b="0" i="0" u="none" strike="noStrike" baseline="0" dirty="0">
                <a:latin typeface="Times New Roman" panose="02020603050405020304" pitchFamily="18" charset="0"/>
              </a:rPr>
              <a:t>Some types of information can be obtained only by medical examination or special tests, e.g., blood pressure, serum cholesterol, ECG. </a:t>
            </a:r>
          </a:p>
          <a:p>
            <a:pPr algn="l"/>
            <a:r>
              <a:rPr lang="en-US" sz="2200" b="0" i="1" u="none" strike="noStrike" baseline="0" dirty="0">
                <a:latin typeface="Times New Roman" panose="02020603050405020304" pitchFamily="18" charset="0"/>
              </a:rPr>
              <a:t>Environmental surveys : </a:t>
            </a:r>
            <a:r>
              <a:rPr lang="en-US" sz="2200" b="0" i="0" u="none" strike="noStrike" baseline="0" dirty="0">
                <a:latin typeface="Times New Roman" panose="02020603050405020304" pitchFamily="18" charset="0"/>
              </a:rPr>
              <a:t>This is the best source for obtaining information on exposure levels of the suspected factor in the environment where the cohort lived or worked.</a:t>
            </a:r>
          </a:p>
          <a:p>
            <a:pPr algn="l"/>
            <a:r>
              <a:rPr lang="en-US" sz="1800" b="0" i="0" u="none" strike="noStrike" baseline="0" dirty="0">
                <a:latin typeface="Times New Roman" panose="02020603050405020304" pitchFamily="18" charset="0"/>
              </a:rPr>
              <a:t>Classification of cohort members :</a:t>
            </a:r>
          </a:p>
          <a:p>
            <a:pPr lvl="1"/>
            <a:r>
              <a:rPr lang="en-US" sz="1900" b="0" i="0" u="none" strike="noStrike" baseline="0" dirty="0">
                <a:latin typeface="Times New Roman" panose="02020603050405020304" pitchFamily="18" charset="0"/>
              </a:rPr>
              <a:t>According to whether or not they have been exposed to the suspected factor, and</a:t>
            </a:r>
          </a:p>
          <a:p>
            <a:pPr lvl="1"/>
            <a:r>
              <a:rPr lang="en-US" sz="1900" b="0" i="0" u="none" strike="noStrike" baseline="0" dirty="0">
                <a:latin typeface="Times New Roman" panose="02020603050405020304" pitchFamily="18" charset="0"/>
              </a:rPr>
              <a:t>According to the level or degree of exposure, at least in broad classes, in the case of special exposure groups</a:t>
            </a:r>
          </a:p>
          <a:p>
            <a:pPr algn="l"/>
            <a:r>
              <a:rPr lang="en-US" sz="1800" b="0" i="0" u="none" strike="noStrike" baseline="0" dirty="0">
                <a:latin typeface="Times New Roman" panose="02020603050405020304" pitchFamily="18" charset="0"/>
              </a:rPr>
              <a:t>Basic information about demographic variables which might affect the frequency of disease under investigation, should also be collected. Such information will be required for subsequent analysis.</a:t>
            </a:r>
            <a:endParaRPr lang="en-US" dirty="0"/>
          </a:p>
        </p:txBody>
      </p:sp>
    </p:spTree>
    <p:extLst>
      <p:ext uri="{BB962C8B-B14F-4D97-AF65-F5344CB8AC3E}">
        <p14:creationId xmlns:p14="http://schemas.microsoft.com/office/powerpoint/2010/main" val="1661137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3A1EB-B165-438A-515B-A2D4DAC8F6B5}"/>
              </a:ext>
            </a:extLst>
          </p:cNvPr>
          <p:cNvSpPr>
            <a:spLocks noGrp="1"/>
          </p:cNvSpPr>
          <p:nvPr>
            <p:ph type="title"/>
          </p:nvPr>
        </p:nvSpPr>
        <p:spPr/>
        <p:txBody>
          <a:bodyPr/>
          <a:lstStyle/>
          <a:p>
            <a:r>
              <a:rPr lang="en-US" dirty="0"/>
              <a:t>Comparison groups</a:t>
            </a:r>
          </a:p>
        </p:txBody>
      </p:sp>
      <p:sp>
        <p:nvSpPr>
          <p:cNvPr id="3" name="Content Placeholder 2">
            <a:extLst>
              <a:ext uri="{FF2B5EF4-FFF2-40B4-BE49-F238E27FC236}">
                <a16:creationId xmlns:a16="http://schemas.microsoft.com/office/drawing/2014/main" id="{85CC4C09-0718-F88B-9AC7-A7AA3B958890}"/>
              </a:ext>
            </a:extLst>
          </p:cNvPr>
          <p:cNvSpPr>
            <a:spLocks noGrp="1"/>
          </p:cNvSpPr>
          <p:nvPr>
            <p:ph idx="1"/>
          </p:nvPr>
        </p:nvSpPr>
        <p:spPr/>
        <p:txBody>
          <a:bodyPr>
            <a:normAutofit/>
          </a:bodyPr>
          <a:lstStyle/>
          <a:p>
            <a:r>
              <a:rPr lang="en-US" dirty="0"/>
              <a:t>Internal comparison</a:t>
            </a:r>
          </a:p>
          <a:p>
            <a:r>
              <a:rPr lang="en-US" dirty="0"/>
              <a:t>External comparison</a:t>
            </a:r>
          </a:p>
          <a:p>
            <a:pPr lvl="1"/>
            <a:r>
              <a:rPr lang="en-US" sz="2000" b="0" i="0" u="none" strike="noStrike" baseline="0" dirty="0">
                <a:latin typeface="Times New Roman" panose="02020603050405020304" pitchFamily="18" charset="0"/>
              </a:rPr>
              <a:t>When information on degree of exposure is not available, it is necessary to put up an external control, to evaluate the experience of the exposed group, e.g., a cohort of radiologists compared with a cohort of ophthalmologists, etc. </a:t>
            </a:r>
          </a:p>
          <a:p>
            <a:pPr lvl="1"/>
            <a:r>
              <a:rPr lang="en-US" sz="2000" b="0" i="0" u="none" strike="noStrike" baseline="0" dirty="0">
                <a:latin typeface="Times New Roman" panose="02020603050405020304" pitchFamily="18" charset="0"/>
              </a:rPr>
              <a:t>The study and control cohorts should be similar in demographic and possibly important variables other than those under study.</a:t>
            </a:r>
            <a:endParaRPr lang="en-US" sz="2000" dirty="0"/>
          </a:p>
        </p:txBody>
      </p:sp>
    </p:spTree>
    <p:extLst>
      <p:ext uri="{BB962C8B-B14F-4D97-AF65-F5344CB8AC3E}">
        <p14:creationId xmlns:p14="http://schemas.microsoft.com/office/powerpoint/2010/main" val="3027711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3A1EB-B165-438A-515B-A2D4DAC8F6B5}"/>
              </a:ext>
            </a:extLst>
          </p:cNvPr>
          <p:cNvSpPr>
            <a:spLocks noGrp="1"/>
          </p:cNvSpPr>
          <p:nvPr>
            <p:ph type="title"/>
          </p:nvPr>
        </p:nvSpPr>
        <p:spPr/>
        <p:txBody>
          <a:bodyPr/>
          <a:lstStyle/>
          <a:p>
            <a:r>
              <a:rPr lang="en-US" dirty="0"/>
              <a:t>Comparison groups</a:t>
            </a:r>
          </a:p>
        </p:txBody>
      </p:sp>
      <p:sp>
        <p:nvSpPr>
          <p:cNvPr id="3" name="Content Placeholder 2">
            <a:extLst>
              <a:ext uri="{FF2B5EF4-FFF2-40B4-BE49-F238E27FC236}">
                <a16:creationId xmlns:a16="http://schemas.microsoft.com/office/drawing/2014/main" id="{85CC4C09-0718-F88B-9AC7-A7AA3B958890}"/>
              </a:ext>
            </a:extLst>
          </p:cNvPr>
          <p:cNvSpPr>
            <a:spLocks noGrp="1"/>
          </p:cNvSpPr>
          <p:nvPr>
            <p:ph idx="1"/>
          </p:nvPr>
        </p:nvSpPr>
        <p:spPr>
          <a:xfrm>
            <a:off x="464457" y="1728216"/>
            <a:ext cx="10819239" cy="4443984"/>
          </a:xfrm>
        </p:spPr>
        <p:txBody>
          <a:bodyPr>
            <a:normAutofit/>
          </a:bodyPr>
          <a:lstStyle/>
          <a:p>
            <a:pPr algn="l"/>
            <a:r>
              <a:rPr lang="en-US" b="0" i="1" u="none" strike="noStrike" baseline="0" dirty="0">
                <a:latin typeface="Times New Roman" panose="02020603050405020304" pitchFamily="18" charset="0"/>
              </a:rPr>
              <a:t>Comparison with general population rates</a:t>
            </a:r>
          </a:p>
          <a:p>
            <a:pPr lvl="1"/>
            <a:r>
              <a:rPr lang="en-US" sz="2000" b="0" i="0" u="none" strike="noStrike" baseline="0" dirty="0">
                <a:latin typeface="Times New Roman" panose="02020603050405020304" pitchFamily="18" charset="0"/>
              </a:rPr>
              <a:t>If none is available, the mortality experience of the exposed group is compared with the mortality experience of the general population in the same geographic area as the exposed people</a:t>
            </a:r>
          </a:p>
          <a:p>
            <a:pPr lvl="1"/>
            <a:r>
              <a:rPr lang="en-US" sz="2000" b="0" i="0" u="none" strike="noStrike" baseline="0" dirty="0">
                <a:latin typeface="Times New Roman" panose="02020603050405020304" pitchFamily="18" charset="0"/>
              </a:rPr>
              <a:t>Rates for disease occurrence in sub-groups of the control cohort by age, sex, and other variables considered important may be applied to the corresponding sub-groups of the study cohort (exposed cohort) to determine the “expected” values in the absence of exposure. </a:t>
            </a:r>
          </a:p>
          <a:p>
            <a:pPr lvl="1"/>
            <a:r>
              <a:rPr lang="en-US" sz="2000" b="0" i="0" u="none" strike="noStrike" baseline="0" dirty="0">
                <a:latin typeface="Times New Roman" panose="02020603050405020304" pitchFamily="18" charset="0"/>
              </a:rPr>
              <a:t>The ratio of “observed” and “expected” values provides a measure of the effect of the factor under study.</a:t>
            </a:r>
          </a:p>
          <a:p>
            <a:pPr lvl="1"/>
            <a:r>
              <a:rPr lang="en-US" sz="2000" b="0" i="0" u="none" strike="noStrike" baseline="0" dirty="0">
                <a:latin typeface="Times New Roman" panose="02020603050405020304" pitchFamily="18" charset="0"/>
              </a:rPr>
              <a:t>The limiting factors in using general population rates for comparison are : </a:t>
            </a:r>
          </a:p>
          <a:p>
            <a:pPr lvl="2"/>
            <a:r>
              <a:rPr lang="en-US" sz="1800" b="0" i="0" u="none" strike="noStrike" baseline="0" dirty="0">
                <a:latin typeface="Times New Roman" panose="02020603050405020304" pitchFamily="18" charset="0"/>
              </a:rPr>
              <a:t>(</a:t>
            </a:r>
            <a:r>
              <a:rPr lang="en-US" sz="1800" b="0" i="0" u="none" strike="noStrike" baseline="0" dirty="0" err="1">
                <a:latin typeface="Times New Roman" panose="02020603050405020304" pitchFamily="18" charset="0"/>
              </a:rPr>
              <a:t>i</a:t>
            </a:r>
            <a:r>
              <a:rPr lang="en-US" sz="1800" b="0" i="0" u="none" strike="noStrike" baseline="0" dirty="0">
                <a:latin typeface="Times New Roman" panose="02020603050405020304" pitchFamily="18" charset="0"/>
              </a:rPr>
              <a:t>) non-availability of population rates for the outcome required; </a:t>
            </a:r>
          </a:p>
          <a:p>
            <a:pPr lvl="2"/>
            <a:r>
              <a:rPr lang="en-US" sz="1800" b="0" i="0" u="none" strike="noStrike" baseline="0" dirty="0">
                <a:latin typeface="Times New Roman" panose="02020603050405020304" pitchFamily="18" charset="0"/>
              </a:rPr>
              <a:t>(ii) the difficulties of selecting the study and comparison groups which are representative of the exposed and non-exposed segments of the general population.</a:t>
            </a:r>
            <a:endParaRPr lang="en-US" sz="1800" dirty="0"/>
          </a:p>
        </p:txBody>
      </p:sp>
    </p:spTree>
    <p:extLst>
      <p:ext uri="{BB962C8B-B14F-4D97-AF65-F5344CB8AC3E}">
        <p14:creationId xmlns:p14="http://schemas.microsoft.com/office/powerpoint/2010/main" val="2282336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37AFD-A487-EBA9-1628-B40095A165DC}"/>
              </a:ext>
            </a:extLst>
          </p:cNvPr>
          <p:cNvSpPr>
            <a:spLocks noGrp="1"/>
          </p:cNvSpPr>
          <p:nvPr>
            <p:ph type="title"/>
          </p:nvPr>
        </p:nvSpPr>
        <p:spPr/>
        <p:txBody>
          <a:bodyPr/>
          <a:lstStyle/>
          <a:p>
            <a:r>
              <a:rPr lang="en-US" dirty="0"/>
              <a:t>Follow up</a:t>
            </a:r>
          </a:p>
        </p:txBody>
      </p:sp>
      <p:sp>
        <p:nvSpPr>
          <p:cNvPr id="3" name="Content Placeholder 2">
            <a:extLst>
              <a:ext uri="{FF2B5EF4-FFF2-40B4-BE49-F238E27FC236}">
                <a16:creationId xmlns:a16="http://schemas.microsoft.com/office/drawing/2014/main" id="{4D53A6E3-B9F4-152D-871A-675AB7737DB9}"/>
              </a:ext>
            </a:extLst>
          </p:cNvPr>
          <p:cNvSpPr>
            <a:spLocks noGrp="1"/>
          </p:cNvSpPr>
          <p:nvPr>
            <p:ph idx="1"/>
          </p:nvPr>
        </p:nvSpPr>
        <p:spPr>
          <a:xfrm>
            <a:off x="507999" y="1728216"/>
            <a:ext cx="11219543" cy="4443984"/>
          </a:xfrm>
        </p:spPr>
        <p:txBody>
          <a:bodyPr>
            <a:normAutofit lnSpcReduction="10000"/>
          </a:bodyPr>
          <a:lstStyle/>
          <a:p>
            <a:pPr algn="l"/>
            <a:r>
              <a:rPr lang="en-US" sz="2000" b="0" i="0" u="none" strike="noStrike" baseline="0" dirty="0">
                <a:latin typeface="Times New Roman" panose="02020603050405020304" pitchFamily="18" charset="0"/>
              </a:rPr>
              <a:t>The procedures required comprise :</a:t>
            </a:r>
          </a:p>
          <a:p>
            <a:pPr lvl="1"/>
            <a:r>
              <a:rPr lang="en-US" sz="1600" b="0" i="0" u="none" strike="noStrike" baseline="0" dirty="0">
                <a:latin typeface="Times New Roman" panose="02020603050405020304" pitchFamily="18" charset="0"/>
              </a:rPr>
              <a:t>Periodic medical examination of each member of the Cohort </a:t>
            </a:r>
          </a:p>
          <a:p>
            <a:pPr lvl="1"/>
            <a:r>
              <a:rPr lang="en-US" sz="1600" b="0" i="0" u="none" strike="noStrike" baseline="0" dirty="0">
                <a:latin typeface="Times New Roman" panose="02020603050405020304" pitchFamily="18" charset="0"/>
              </a:rPr>
              <a:t>Reviewing physician and hospital records</a:t>
            </a:r>
          </a:p>
          <a:p>
            <a:pPr lvl="1"/>
            <a:r>
              <a:rPr lang="en-US" sz="1600" b="0" i="0" u="none" strike="noStrike" baseline="0" dirty="0">
                <a:latin typeface="Times New Roman" panose="02020603050405020304" pitchFamily="18" charset="0"/>
              </a:rPr>
              <a:t>Routine surveillance of death records</a:t>
            </a:r>
          </a:p>
          <a:p>
            <a:pPr lvl="1"/>
            <a:r>
              <a:rPr lang="en-US" sz="1600" b="0" i="0" u="none" strike="noStrike" baseline="0" dirty="0">
                <a:latin typeface="Times New Roman" panose="02020603050405020304" pitchFamily="18" charset="0"/>
              </a:rPr>
              <a:t>Mailed questionnaires, telephone calls, periodic home visits - preferably all three on an annual basis. </a:t>
            </a:r>
          </a:p>
          <a:p>
            <a:pPr algn="l"/>
            <a:r>
              <a:rPr lang="en-US" sz="2000" b="0" i="0" u="none" strike="noStrike" baseline="0" dirty="0">
                <a:latin typeface="Times New Roman" panose="02020603050405020304" pitchFamily="18" charset="0"/>
              </a:rPr>
              <a:t>Of the above, periodic examination of each member of the cohort, yields greater amount of information on the individuals examined, than would the use of any other procedure.</a:t>
            </a:r>
          </a:p>
          <a:p>
            <a:pPr algn="l"/>
            <a:r>
              <a:rPr lang="en-US" sz="2000" b="0" i="0" u="none" strike="noStrike" baseline="0" dirty="0">
                <a:latin typeface="Times New Roman" panose="02020603050405020304" pitchFamily="18" charset="0"/>
              </a:rPr>
              <a:t>Certain percentage of losses to follow-up are inevitable due to death, change of residence, migration or withdrawal of occupation. These losses may bias the results. It is, therefore, necessary to build into the study design a system for obtaining basic information on outcome for those who cannot be followed up in detail for the full duration of the study</a:t>
            </a:r>
            <a:r>
              <a:rPr lang="en-US" sz="2000" b="0" i="1" u="none" strike="noStrike" baseline="0" dirty="0">
                <a:latin typeface="Times New Roman" panose="02020603050405020304" pitchFamily="18" charset="0"/>
              </a:rPr>
              <a:t>. </a:t>
            </a:r>
          </a:p>
          <a:p>
            <a:pPr algn="l"/>
            <a:r>
              <a:rPr lang="en-US" sz="2000" b="0" i="0" u="none" strike="noStrike" baseline="0" dirty="0">
                <a:latin typeface="Times New Roman" panose="02020603050405020304" pitchFamily="18" charset="0"/>
              </a:rPr>
              <a:t>The safest course recommended is to achieve as close to a 95 per cent follow-up as possible</a:t>
            </a:r>
            <a:endParaRPr lang="en-US" sz="3200" dirty="0"/>
          </a:p>
        </p:txBody>
      </p:sp>
    </p:spTree>
    <p:extLst>
      <p:ext uri="{BB962C8B-B14F-4D97-AF65-F5344CB8AC3E}">
        <p14:creationId xmlns:p14="http://schemas.microsoft.com/office/powerpoint/2010/main" val="4166920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B9E1D-2940-10E3-B392-C2A6C1ECE415}"/>
              </a:ext>
            </a:extLst>
          </p:cNvPr>
          <p:cNvSpPr>
            <a:spLocks noGrp="1"/>
          </p:cNvSpPr>
          <p:nvPr>
            <p:ph type="title"/>
          </p:nvPr>
        </p:nvSpPr>
        <p:spPr>
          <a:xfrm>
            <a:off x="1046746" y="586822"/>
            <a:ext cx="3537285" cy="1645920"/>
          </a:xfrm>
        </p:spPr>
        <p:txBody>
          <a:bodyPr>
            <a:normAutofit/>
          </a:bodyPr>
          <a:lstStyle/>
          <a:p>
            <a:r>
              <a:rPr lang="en-US" sz="3200"/>
              <a:t>Analysis</a:t>
            </a:r>
          </a:p>
        </p:txBody>
      </p:sp>
      <p:sp>
        <p:nvSpPr>
          <p:cNvPr id="3" name="Content Placeholder 2">
            <a:extLst>
              <a:ext uri="{FF2B5EF4-FFF2-40B4-BE49-F238E27FC236}">
                <a16:creationId xmlns:a16="http://schemas.microsoft.com/office/drawing/2014/main" id="{6D3F3F9B-4267-2DD1-44D8-B14EDA55D298}"/>
              </a:ext>
            </a:extLst>
          </p:cNvPr>
          <p:cNvSpPr>
            <a:spLocks noGrp="1"/>
          </p:cNvSpPr>
          <p:nvPr>
            <p:ph idx="1"/>
          </p:nvPr>
        </p:nvSpPr>
        <p:spPr>
          <a:xfrm>
            <a:off x="5351164" y="586822"/>
            <a:ext cx="6002636" cy="1645920"/>
          </a:xfrm>
        </p:spPr>
        <p:txBody>
          <a:bodyPr anchor="ctr">
            <a:normAutofit/>
          </a:bodyPr>
          <a:lstStyle/>
          <a:p>
            <a:r>
              <a:rPr lang="en-US" sz="1800" b="0" i="0" u="none" strike="noStrike" baseline="0">
                <a:latin typeface="Times New Roman" panose="02020603050405020304" pitchFamily="18" charset="0"/>
              </a:rPr>
              <a:t>Incidence rates of outcome among exposed and non exposed,</a:t>
            </a:r>
          </a:p>
          <a:p>
            <a:r>
              <a:rPr lang="en-US" sz="1800" b="0" i="0" u="none" strike="noStrike" baseline="0">
                <a:latin typeface="Times New Roman" panose="02020603050405020304" pitchFamily="18" charset="0"/>
              </a:rPr>
              <a:t>Estimation of risk.</a:t>
            </a:r>
            <a:endParaRPr lang="en-US" sz="1800"/>
          </a:p>
        </p:txBody>
      </p:sp>
      <p:pic>
        <p:nvPicPr>
          <p:cNvPr id="5" name="Picture 4">
            <a:extLst>
              <a:ext uri="{FF2B5EF4-FFF2-40B4-BE49-F238E27FC236}">
                <a16:creationId xmlns:a16="http://schemas.microsoft.com/office/drawing/2014/main" id="{E801FBF2-C6BB-93D0-BC44-9B989DAF4773}"/>
              </a:ext>
            </a:extLst>
          </p:cNvPr>
          <p:cNvPicPr>
            <a:picLocks noChangeAspect="1"/>
          </p:cNvPicPr>
          <p:nvPr/>
        </p:nvPicPr>
        <p:blipFill>
          <a:blip r:embed="rId2"/>
          <a:stretch>
            <a:fillRect/>
          </a:stretch>
        </p:blipFill>
        <p:spPr>
          <a:xfrm>
            <a:off x="711848" y="2734056"/>
            <a:ext cx="10856695" cy="3483864"/>
          </a:xfrm>
          <a:prstGeom prst="rect">
            <a:avLst/>
          </a:prstGeom>
        </p:spPr>
      </p:pic>
    </p:spTree>
    <p:extLst>
      <p:ext uri="{BB962C8B-B14F-4D97-AF65-F5344CB8AC3E}">
        <p14:creationId xmlns:p14="http://schemas.microsoft.com/office/powerpoint/2010/main" val="14880686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C0F64-30CE-6EE1-934C-CB8C03426B32}"/>
              </a:ext>
            </a:extLst>
          </p:cNvPr>
          <p:cNvSpPr>
            <a:spLocks noGrp="1"/>
          </p:cNvSpPr>
          <p:nvPr>
            <p:ph type="title"/>
          </p:nvPr>
        </p:nvSpPr>
        <p:spPr>
          <a:xfrm>
            <a:off x="841248" y="256032"/>
            <a:ext cx="10506456" cy="1014984"/>
          </a:xfrm>
        </p:spPr>
        <p:txBody>
          <a:bodyPr anchor="b">
            <a:normAutofit/>
          </a:bodyPr>
          <a:lstStyle/>
          <a:p>
            <a:r>
              <a:rPr lang="en-US" dirty="0"/>
              <a:t>Estimation of risk</a:t>
            </a:r>
          </a:p>
        </p:txBody>
      </p:sp>
      <p:sp>
        <p:nvSpPr>
          <p:cNvPr id="3" name="Content Placeholder 2">
            <a:extLst>
              <a:ext uri="{FF2B5EF4-FFF2-40B4-BE49-F238E27FC236}">
                <a16:creationId xmlns:a16="http://schemas.microsoft.com/office/drawing/2014/main" id="{FFABC7CE-DB04-97A5-FAFB-1F55F9435712}"/>
              </a:ext>
            </a:extLst>
          </p:cNvPr>
          <p:cNvSpPr>
            <a:spLocks noGrp="1"/>
          </p:cNvSpPr>
          <p:nvPr>
            <p:ph idx="1"/>
          </p:nvPr>
        </p:nvSpPr>
        <p:spPr>
          <a:xfrm>
            <a:off x="838200" y="2248750"/>
            <a:ext cx="10515600" cy="3820416"/>
          </a:xfrm>
        </p:spPr>
        <p:txBody>
          <a:bodyPr>
            <a:normAutofit/>
          </a:bodyPr>
          <a:lstStyle/>
          <a:p>
            <a:pPr marL="235458" indent="-235458" defTabSz="941832">
              <a:spcBef>
                <a:spcPts val="1030"/>
              </a:spcBef>
            </a:pPr>
            <a:r>
              <a:rPr lang="en-US" sz="2884" kern="1200" dirty="0">
                <a:solidFill>
                  <a:schemeClr val="tx1"/>
                </a:solidFill>
                <a:latin typeface="+mn-lt"/>
                <a:ea typeface="+mn-ea"/>
                <a:cs typeface="+mn-cs"/>
              </a:rPr>
              <a:t>Relative risk</a:t>
            </a:r>
          </a:p>
          <a:p>
            <a:pPr marL="235458" indent="-235458" defTabSz="941832">
              <a:spcBef>
                <a:spcPts val="1030"/>
              </a:spcBef>
            </a:pPr>
            <a:r>
              <a:rPr lang="en-US" sz="1854" kern="1200" dirty="0">
                <a:solidFill>
                  <a:schemeClr val="tx1"/>
                </a:solidFill>
                <a:latin typeface="Times New Roman" panose="02020603050405020304" pitchFamily="18" charset="0"/>
                <a:ea typeface="+mn-ea"/>
                <a:cs typeface="+mn-cs"/>
              </a:rPr>
              <a:t>It is a direct measure (or index) of the “strength” of the association between suspected cause and effect. </a:t>
            </a:r>
          </a:p>
          <a:p>
            <a:pPr marL="235458" indent="-235458" defTabSz="941832">
              <a:spcBef>
                <a:spcPts val="1030"/>
              </a:spcBef>
            </a:pPr>
            <a:r>
              <a:rPr lang="en-US" sz="1854" kern="1200" dirty="0">
                <a:solidFill>
                  <a:schemeClr val="tx1"/>
                </a:solidFill>
                <a:latin typeface="Times New Roman" panose="02020603050405020304" pitchFamily="18" charset="0"/>
                <a:ea typeface="+mn-ea"/>
                <a:cs typeface="+mn-cs"/>
              </a:rPr>
              <a:t>It is often useful to consider the 95 per cent confidence interval of a relative risk since it provides an indication of the likely and maximum levels of risk.</a:t>
            </a:r>
          </a:p>
          <a:p>
            <a:pPr marL="235458" indent="-235458" defTabSz="941832">
              <a:spcBef>
                <a:spcPts val="1030"/>
              </a:spcBef>
            </a:pPr>
            <a:r>
              <a:rPr lang="en-US" sz="2884" kern="1200" dirty="0">
                <a:solidFill>
                  <a:schemeClr val="tx1"/>
                </a:solidFill>
                <a:latin typeface="+mn-lt"/>
                <a:ea typeface="+mn-ea"/>
                <a:cs typeface="+mn-cs"/>
              </a:rPr>
              <a:t>Attributable risk aka risk difference</a:t>
            </a:r>
          </a:p>
          <a:p>
            <a:pPr marL="235458" indent="-235458" defTabSz="941832">
              <a:spcBef>
                <a:spcPts val="1030"/>
              </a:spcBef>
            </a:pPr>
            <a:r>
              <a:rPr lang="en-US" sz="1854" kern="1200" dirty="0">
                <a:solidFill>
                  <a:schemeClr val="tx1"/>
                </a:solidFill>
                <a:latin typeface="Times New Roman" panose="02020603050405020304" pitchFamily="18" charset="0"/>
                <a:ea typeface="+mn-ea"/>
                <a:cs typeface="+mn-cs"/>
              </a:rPr>
              <a:t>what extent the disease under study can be attributed to the exposure.</a:t>
            </a:r>
            <a:endParaRPr lang="en-US" dirty="0"/>
          </a:p>
        </p:txBody>
      </p:sp>
      <p:pic>
        <p:nvPicPr>
          <p:cNvPr id="5" name="Picture 4">
            <a:extLst>
              <a:ext uri="{FF2B5EF4-FFF2-40B4-BE49-F238E27FC236}">
                <a16:creationId xmlns:a16="http://schemas.microsoft.com/office/drawing/2014/main" id="{5C77C3BD-D18E-ACED-1D6D-62AE41A1E9A9}"/>
              </a:ext>
            </a:extLst>
          </p:cNvPr>
          <p:cNvPicPr>
            <a:picLocks noChangeAspect="1"/>
          </p:cNvPicPr>
          <p:nvPr/>
        </p:nvPicPr>
        <p:blipFill>
          <a:blip r:embed="rId2"/>
          <a:stretch>
            <a:fillRect/>
          </a:stretch>
        </p:blipFill>
        <p:spPr>
          <a:xfrm>
            <a:off x="3358274" y="1962699"/>
            <a:ext cx="5475452" cy="819163"/>
          </a:xfrm>
          <a:prstGeom prst="rect">
            <a:avLst/>
          </a:prstGeom>
        </p:spPr>
      </p:pic>
      <p:pic>
        <p:nvPicPr>
          <p:cNvPr id="7" name="Picture 6">
            <a:extLst>
              <a:ext uri="{FF2B5EF4-FFF2-40B4-BE49-F238E27FC236}">
                <a16:creationId xmlns:a16="http://schemas.microsoft.com/office/drawing/2014/main" id="{0CFC4223-8540-01B3-38A9-F4A8B1E33D2D}"/>
              </a:ext>
            </a:extLst>
          </p:cNvPr>
          <p:cNvPicPr>
            <a:picLocks noChangeAspect="1"/>
          </p:cNvPicPr>
          <p:nvPr/>
        </p:nvPicPr>
        <p:blipFill>
          <a:blip r:embed="rId3"/>
          <a:stretch>
            <a:fillRect/>
          </a:stretch>
        </p:blipFill>
        <p:spPr>
          <a:xfrm>
            <a:off x="1488047" y="5130149"/>
            <a:ext cx="6377561" cy="1225068"/>
          </a:xfrm>
          <a:prstGeom prst="rect">
            <a:avLst/>
          </a:prstGeom>
        </p:spPr>
      </p:pic>
    </p:spTree>
    <p:extLst>
      <p:ext uri="{BB962C8B-B14F-4D97-AF65-F5344CB8AC3E}">
        <p14:creationId xmlns:p14="http://schemas.microsoft.com/office/powerpoint/2010/main" val="1748949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8EF2F-3E93-B531-3F57-82A96CB2C97B}"/>
              </a:ext>
            </a:extLst>
          </p:cNvPr>
          <p:cNvSpPr>
            <a:spLocks noGrp="1"/>
          </p:cNvSpPr>
          <p:nvPr>
            <p:ph type="title"/>
          </p:nvPr>
        </p:nvSpPr>
        <p:spPr/>
        <p:txBody>
          <a:bodyPr/>
          <a:lstStyle/>
          <a:p>
            <a:r>
              <a:rPr lang="en-US" dirty="0"/>
              <a:t>Population attributable risk</a:t>
            </a:r>
          </a:p>
        </p:txBody>
      </p:sp>
      <p:sp>
        <p:nvSpPr>
          <p:cNvPr id="3" name="Content Placeholder 2">
            <a:extLst>
              <a:ext uri="{FF2B5EF4-FFF2-40B4-BE49-F238E27FC236}">
                <a16:creationId xmlns:a16="http://schemas.microsoft.com/office/drawing/2014/main" id="{EF918CF0-C516-0C9A-E837-C25E25382A3E}"/>
              </a:ext>
            </a:extLst>
          </p:cNvPr>
          <p:cNvSpPr>
            <a:spLocks noGrp="1"/>
          </p:cNvSpPr>
          <p:nvPr>
            <p:ph idx="1"/>
          </p:nvPr>
        </p:nvSpPr>
        <p:spPr/>
        <p:txBody>
          <a:bodyPr/>
          <a:lstStyle/>
          <a:p>
            <a:pPr algn="l"/>
            <a:r>
              <a:rPr lang="en-US" sz="1800" b="0" i="0" u="none" strike="noStrike" baseline="0" dirty="0">
                <a:latin typeface="Times New Roman" panose="02020603050405020304" pitchFamily="18" charset="0"/>
              </a:rPr>
              <a:t>Incidence of the disease (or death) in the total population minus the incidence of disease (or death) among those who were not exposed to the suspected causal factor</a:t>
            </a:r>
          </a:p>
          <a:p>
            <a:pPr algn="l"/>
            <a:r>
              <a:rPr lang="en-US" sz="1800" b="0" i="0" u="none" strike="noStrike" baseline="0" dirty="0">
                <a:latin typeface="Times New Roman" panose="02020603050405020304" pitchFamily="18" charset="0"/>
              </a:rPr>
              <a:t>The concept of population attributable risk is useful in that it provides an estimate of the amount by which the disease could be reduced in that population if the suspected factor was eliminated or modified</a:t>
            </a:r>
          </a:p>
          <a:p>
            <a:pPr algn="l"/>
            <a:endParaRPr lang="en-US" sz="1800" dirty="0">
              <a:latin typeface="Times New Roman" panose="02020603050405020304" pitchFamily="18" charset="0"/>
            </a:endParaRPr>
          </a:p>
          <a:p>
            <a:pPr algn="l"/>
            <a:r>
              <a:rPr lang="en-US" sz="1800" dirty="0">
                <a:latin typeface="Times New Roman" panose="02020603050405020304" pitchFamily="18" charset="0"/>
              </a:rPr>
              <a:t>Relative risk vs attributable risk</a:t>
            </a:r>
            <a:endParaRPr lang="en-US" dirty="0"/>
          </a:p>
        </p:txBody>
      </p:sp>
      <p:pic>
        <p:nvPicPr>
          <p:cNvPr id="7" name="Picture 6">
            <a:extLst>
              <a:ext uri="{FF2B5EF4-FFF2-40B4-BE49-F238E27FC236}">
                <a16:creationId xmlns:a16="http://schemas.microsoft.com/office/drawing/2014/main" id="{2269497E-7E8F-EBFD-8B72-03D6DD5A2CD8}"/>
              </a:ext>
            </a:extLst>
          </p:cNvPr>
          <p:cNvPicPr>
            <a:picLocks noChangeAspect="1"/>
          </p:cNvPicPr>
          <p:nvPr/>
        </p:nvPicPr>
        <p:blipFill>
          <a:blip r:embed="rId2"/>
          <a:stretch>
            <a:fillRect/>
          </a:stretch>
        </p:blipFill>
        <p:spPr>
          <a:xfrm>
            <a:off x="1405563" y="4769709"/>
            <a:ext cx="7318307" cy="1873770"/>
          </a:xfrm>
          <a:prstGeom prst="rect">
            <a:avLst/>
          </a:prstGeom>
        </p:spPr>
      </p:pic>
    </p:spTree>
    <p:extLst>
      <p:ext uri="{BB962C8B-B14F-4D97-AF65-F5344CB8AC3E}">
        <p14:creationId xmlns:p14="http://schemas.microsoft.com/office/powerpoint/2010/main" val="30104627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E2CCF-837B-5DE4-A91F-7D8043612624}"/>
              </a:ext>
            </a:extLst>
          </p:cNvPr>
          <p:cNvSpPr>
            <a:spLocks noGrp="1"/>
          </p:cNvSpPr>
          <p:nvPr>
            <p:ph type="title"/>
          </p:nvPr>
        </p:nvSpPr>
        <p:spPr/>
        <p:txBody>
          <a:bodyPr/>
          <a:lstStyle/>
          <a:p>
            <a:r>
              <a:rPr lang="en-US" dirty="0"/>
              <a:t>Advantages</a:t>
            </a:r>
          </a:p>
        </p:txBody>
      </p:sp>
      <p:sp>
        <p:nvSpPr>
          <p:cNvPr id="3" name="Content Placeholder 2">
            <a:extLst>
              <a:ext uri="{FF2B5EF4-FFF2-40B4-BE49-F238E27FC236}">
                <a16:creationId xmlns:a16="http://schemas.microsoft.com/office/drawing/2014/main" id="{35AE217C-A709-E0FF-2D34-E371EF41A55F}"/>
              </a:ext>
            </a:extLst>
          </p:cNvPr>
          <p:cNvSpPr>
            <a:spLocks noGrp="1"/>
          </p:cNvSpPr>
          <p:nvPr>
            <p:ph idx="1"/>
          </p:nvPr>
        </p:nvSpPr>
        <p:spPr/>
        <p:txBody>
          <a:bodyPr>
            <a:normAutofit/>
          </a:bodyPr>
          <a:lstStyle/>
          <a:p>
            <a:pPr algn="l"/>
            <a:r>
              <a:rPr lang="en-US" sz="1800" b="0" i="0" u="none" strike="noStrike" baseline="0" dirty="0">
                <a:latin typeface="Times New Roman" panose="02020603050405020304" pitchFamily="18" charset="0"/>
              </a:rPr>
              <a:t>Incidence can be calculated, </a:t>
            </a:r>
          </a:p>
          <a:p>
            <a:pPr algn="l"/>
            <a:r>
              <a:rPr lang="en-US" sz="1800" b="0" i="0" u="none" strike="noStrike" baseline="0" dirty="0">
                <a:latin typeface="Times New Roman" panose="02020603050405020304" pitchFamily="18" charset="0"/>
              </a:rPr>
              <a:t>Several possible outcomes related to exposure can be studied simultaneously</a:t>
            </a:r>
          </a:p>
          <a:p>
            <a:pPr algn="l"/>
            <a:r>
              <a:rPr lang="en-US" sz="1800" b="0" i="0" u="none" strike="noStrike" baseline="0" dirty="0">
                <a:latin typeface="Times New Roman" panose="02020603050405020304" pitchFamily="18" charset="0"/>
              </a:rPr>
              <a:t>Cohort studies provide a direct estimate of relative risk</a:t>
            </a:r>
          </a:p>
          <a:p>
            <a:pPr algn="l"/>
            <a:r>
              <a:rPr lang="en-US" sz="1800" b="0" i="0" u="none" strike="noStrike" baseline="0" dirty="0">
                <a:latin typeface="Times New Roman" panose="02020603050405020304" pitchFamily="18" charset="0"/>
              </a:rPr>
              <a:t>Dose response ratios can also be calculated, </a:t>
            </a:r>
            <a:endParaRPr lang="en-US" sz="1800" dirty="0">
              <a:latin typeface="Times New Roman" panose="02020603050405020304" pitchFamily="18" charset="0"/>
            </a:endParaRPr>
          </a:p>
          <a:p>
            <a:pPr algn="l"/>
            <a:r>
              <a:rPr lang="en-US" sz="1800" b="0" i="0" u="none" strike="noStrike" baseline="0" dirty="0">
                <a:latin typeface="Times New Roman" panose="02020603050405020304" pitchFamily="18" charset="0"/>
              </a:rPr>
              <a:t>Since comparison groups are formed before disease develops, certain forms of bias can be minimized like mis-classification of individuals into exposed and unexposed groups.</a:t>
            </a:r>
            <a:endParaRPr lang="en-US" dirty="0"/>
          </a:p>
        </p:txBody>
      </p:sp>
    </p:spTree>
    <p:extLst>
      <p:ext uri="{BB962C8B-B14F-4D97-AF65-F5344CB8AC3E}">
        <p14:creationId xmlns:p14="http://schemas.microsoft.com/office/powerpoint/2010/main" val="4450743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21DC9-900D-50B5-81FE-2FF3D31C711F}"/>
              </a:ext>
            </a:extLst>
          </p:cNvPr>
          <p:cNvSpPr>
            <a:spLocks noGrp="1"/>
          </p:cNvSpPr>
          <p:nvPr>
            <p:ph type="title"/>
          </p:nvPr>
        </p:nvSpPr>
        <p:spPr/>
        <p:txBody>
          <a:bodyPr/>
          <a:lstStyle/>
          <a:p>
            <a:r>
              <a:rPr lang="en-US" dirty="0"/>
              <a:t>Disadvantages</a:t>
            </a:r>
          </a:p>
        </p:txBody>
      </p:sp>
      <p:sp>
        <p:nvSpPr>
          <p:cNvPr id="3" name="Content Placeholder 2">
            <a:extLst>
              <a:ext uri="{FF2B5EF4-FFF2-40B4-BE49-F238E27FC236}">
                <a16:creationId xmlns:a16="http://schemas.microsoft.com/office/drawing/2014/main" id="{6D9D017E-7438-0A3E-830E-D45C79E9FC2A}"/>
              </a:ext>
            </a:extLst>
          </p:cNvPr>
          <p:cNvSpPr>
            <a:spLocks noGrp="1"/>
          </p:cNvSpPr>
          <p:nvPr>
            <p:ph idx="1"/>
          </p:nvPr>
        </p:nvSpPr>
        <p:spPr>
          <a:xfrm>
            <a:off x="571500" y="2047875"/>
            <a:ext cx="11256264" cy="4554474"/>
          </a:xfrm>
        </p:spPr>
        <p:txBody>
          <a:bodyPr>
            <a:normAutofit fontScale="85000" lnSpcReduction="10000"/>
          </a:bodyPr>
          <a:lstStyle/>
          <a:p>
            <a:pPr algn="l"/>
            <a:r>
              <a:rPr lang="en-US" sz="1800" b="0" i="0" u="none" strike="noStrike" baseline="0" dirty="0">
                <a:latin typeface="Times New Roman" panose="02020603050405020304" pitchFamily="18" charset="0"/>
              </a:rPr>
              <a:t>Cohort studies involve a large number of people. They are generally unsuitable for investigating uncommon diseases or diseases with low incidence in the population.</a:t>
            </a:r>
          </a:p>
          <a:p>
            <a:pPr algn="l"/>
            <a:r>
              <a:rPr lang="en-US" sz="1800" b="0" i="0" u="none" strike="noStrike" baseline="0" dirty="0">
                <a:latin typeface="Times New Roman" panose="02020603050405020304" pitchFamily="18" charset="0"/>
              </a:rPr>
              <a:t>It takes a long time to complete the study and obtain results. It is difficult to keep a large number of individuals under medical surveillance indefinitely.</a:t>
            </a:r>
          </a:p>
          <a:p>
            <a:pPr algn="l"/>
            <a:r>
              <a:rPr lang="en-US" sz="1800" b="0" i="0" u="none" strike="noStrike" baseline="0" dirty="0">
                <a:latin typeface="Times New Roman" panose="02020603050405020304" pitchFamily="18" charset="0"/>
              </a:rPr>
              <a:t>Certain administrative problems such as loss of experienced staff, loss of funding and extensive record keeping are inevitable</a:t>
            </a:r>
          </a:p>
          <a:p>
            <a:pPr algn="l"/>
            <a:r>
              <a:rPr lang="en-US" sz="1800" b="0" i="0" u="none" strike="noStrike" baseline="0" dirty="0">
                <a:latin typeface="Times New Roman" panose="02020603050405020304" pitchFamily="18" charset="0"/>
              </a:rPr>
              <a:t>It is not unusual to lose a substantial proportion of the original cohort - they may migrate, lose interest in the study or simply refuse to provide any required information,</a:t>
            </a:r>
          </a:p>
          <a:p>
            <a:pPr algn="l"/>
            <a:r>
              <a:rPr lang="en-US" sz="1800" b="0" i="0" u="none" strike="noStrike" baseline="0" dirty="0">
                <a:latin typeface="Times New Roman" panose="02020603050405020304" pitchFamily="18" charset="0"/>
              </a:rPr>
              <a:t>Selection of comparison groups which are representative of the exposed and unexposed segments of the population is a limiting factor.</a:t>
            </a:r>
          </a:p>
          <a:p>
            <a:pPr algn="l"/>
            <a:r>
              <a:rPr lang="en-US" sz="1800" b="0" i="0" u="none" strike="noStrike" baseline="0" dirty="0">
                <a:latin typeface="Times New Roman" panose="02020603050405020304" pitchFamily="18" charset="0"/>
              </a:rPr>
              <a:t>There may be changes in the standard methods or diagnostic criteria of the disease over prolonged follow-up.</a:t>
            </a:r>
          </a:p>
          <a:p>
            <a:pPr algn="l"/>
            <a:r>
              <a:rPr lang="en-US" sz="1800" b="0" i="0" u="none" strike="noStrike" baseline="0" dirty="0">
                <a:latin typeface="Times New Roman" panose="02020603050405020304" pitchFamily="18" charset="0"/>
              </a:rPr>
              <a:t>Cohort studies are expensive,</a:t>
            </a:r>
          </a:p>
          <a:p>
            <a:pPr algn="l"/>
            <a:r>
              <a:rPr lang="en-US" sz="1800" b="0" i="0" u="none" strike="noStrike" baseline="0" dirty="0">
                <a:latin typeface="Times New Roman" panose="02020603050405020304" pitchFamily="18" charset="0"/>
              </a:rPr>
              <a:t>The study itself may alter people’s </a:t>
            </a:r>
            <a:r>
              <a:rPr lang="en-US" sz="1800" b="0" i="0" u="none" strike="noStrike" baseline="0" dirty="0" err="1">
                <a:latin typeface="Times New Roman" panose="02020603050405020304" pitchFamily="18" charset="0"/>
              </a:rPr>
              <a:t>behaviour</a:t>
            </a:r>
            <a:r>
              <a:rPr lang="en-US" sz="1800" b="0" i="0" u="none" strike="noStrike" baseline="0" dirty="0">
                <a:latin typeface="Times New Roman" panose="02020603050405020304" pitchFamily="18" charset="0"/>
              </a:rPr>
              <a:t>.</a:t>
            </a:r>
          </a:p>
          <a:p>
            <a:pPr algn="l"/>
            <a:r>
              <a:rPr lang="en-US" sz="1800" b="0" i="0" u="none" strike="noStrike" baseline="0" dirty="0">
                <a:latin typeface="Times New Roman" panose="02020603050405020304" pitchFamily="18" charset="0"/>
              </a:rPr>
              <a:t>We are faced with ethical problems of varying importance. As evidence accumulates about the implicating factor in the </a:t>
            </a:r>
            <a:r>
              <a:rPr lang="en-US" sz="1800" b="0" i="0" u="none" strike="noStrike" baseline="0" dirty="0" err="1">
                <a:latin typeface="Times New Roman" panose="02020603050405020304" pitchFamily="18" charset="0"/>
              </a:rPr>
              <a:t>aetiology</a:t>
            </a:r>
            <a:r>
              <a:rPr lang="en-US" sz="1800" b="0" i="0" u="none" strike="noStrike" baseline="0" dirty="0">
                <a:latin typeface="Times New Roman" panose="02020603050405020304" pitchFamily="18" charset="0"/>
              </a:rPr>
              <a:t> of disease, we are obliged to intervene and if possible reduce or eliminate this factor</a:t>
            </a:r>
          </a:p>
          <a:p>
            <a:pPr algn="l"/>
            <a:r>
              <a:rPr lang="en-US" sz="1800" b="0" i="0" u="none" strike="noStrike" baseline="0" dirty="0">
                <a:latin typeface="Times New Roman" panose="02020603050405020304" pitchFamily="18" charset="0"/>
              </a:rPr>
              <a:t>Practical considerations dictate that we must concentrate on a limited number or factors possibly related to disease outcome.</a:t>
            </a:r>
            <a:endParaRPr lang="en-US" dirty="0"/>
          </a:p>
        </p:txBody>
      </p:sp>
    </p:spTree>
    <p:extLst>
      <p:ext uri="{BB962C8B-B14F-4D97-AF65-F5344CB8AC3E}">
        <p14:creationId xmlns:p14="http://schemas.microsoft.com/office/powerpoint/2010/main" val="14551272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08A04-3BA9-600C-4BB4-41AACA123C84}"/>
              </a:ext>
            </a:extLst>
          </p:cNvPr>
          <p:cNvSpPr>
            <a:spLocks noGrp="1"/>
          </p:cNvSpPr>
          <p:nvPr>
            <p:ph type="title"/>
          </p:nvPr>
        </p:nvSpPr>
        <p:spPr/>
        <p:txBody>
          <a:bodyPr/>
          <a:lstStyle/>
          <a:p>
            <a:r>
              <a:rPr lang="en-US" dirty="0"/>
              <a:t>Bias</a:t>
            </a:r>
          </a:p>
        </p:txBody>
      </p:sp>
      <p:sp>
        <p:nvSpPr>
          <p:cNvPr id="3" name="Content Placeholder 2">
            <a:extLst>
              <a:ext uri="{FF2B5EF4-FFF2-40B4-BE49-F238E27FC236}">
                <a16:creationId xmlns:a16="http://schemas.microsoft.com/office/drawing/2014/main" id="{305073B8-D502-9A6A-5AD3-79AED2473952}"/>
              </a:ext>
            </a:extLst>
          </p:cNvPr>
          <p:cNvSpPr>
            <a:spLocks noGrp="1"/>
          </p:cNvSpPr>
          <p:nvPr>
            <p:ph idx="1"/>
          </p:nvPr>
        </p:nvSpPr>
        <p:spPr/>
        <p:txBody>
          <a:bodyPr/>
          <a:lstStyle/>
          <a:p>
            <a:r>
              <a:rPr lang="en-US" dirty="0"/>
              <a:t>Selection bias</a:t>
            </a:r>
          </a:p>
          <a:p>
            <a:r>
              <a:rPr lang="en-US" dirty="0"/>
              <a:t>Information bias</a:t>
            </a:r>
          </a:p>
          <a:p>
            <a:r>
              <a:rPr lang="en-US" dirty="0"/>
              <a:t>Confusion bias</a:t>
            </a:r>
          </a:p>
          <a:p>
            <a:endParaRPr lang="en-US" dirty="0"/>
          </a:p>
        </p:txBody>
      </p:sp>
    </p:spTree>
    <p:extLst>
      <p:ext uri="{BB962C8B-B14F-4D97-AF65-F5344CB8AC3E}">
        <p14:creationId xmlns:p14="http://schemas.microsoft.com/office/powerpoint/2010/main" val="1668556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EF0B55-679D-DCA5-9DEE-F2B0CB80DFC7}"/>
              </a:ext>
            </a:extLst>
          </p:cNvPr>
          <p:cNvPicPr>
            <a:picLocks noChangeAspect="1"/>
          </p:cNvPicPr>
          <p:nvPr/>
        </p:nvPicPr>
        <p:blipFill>
          <a:blip r:embed="rId2"/>
          <a:stretch>
            <a:fillRect/>
          </a:stretch>
        </p:blipFill>
        <p:spPr>
          <a:xfrm>
            <a:off x="3521110" y="0"/>
            <a:ext cx="5149780" cy="6858000"/>
          </a:xfrm>
          <a:prstGeom prst="rect">
            <a:avLst/>
          </a:prstGeom>
        </p:spPr>
      </p:pic>
    </p:spTree>
    <p:extLst>
      <p:ext uri="{BB962C8B-B14F-4D97-AF65-F5344CB8AC3E}">
        <p14:creationId xmlns:p14="http://schemas.microsoft.com/office/powerpoint/2010/main" val="35749461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0" name="Straight Connector 9">
              <a:extLst>
                <a:ext uri="{FF2B5EF4-FFF2-40B4-BE49-F238E27FC236}">
                  <a16:creationId xmlns:a16="http://schemas.microsoft.com/office/drawing/2014/main" id="{317D1EC0-23FF-4FC8-B22D-E34878EAA4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AB929A7-258C-4469-AAB4-A67D713F7A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A635CDB-2D00-49D5-B26E-0694A25000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4288D7A-F857-418D-92F2-368E841B9F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1084F50-7F3C-4A4A-877E-FFD9EC7CD8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31E64C1-F4C0-4A94-B319-BB1A0A2450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63D8374-8052-417F-AB69-B97EAC43D5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7750734-4D51-4019-A003-38A3DE49B4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1B693D1-DBA2-4D3B-9B37-D9EE8C4112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BCD3EA8-E4C0-4AF6-817F-F9F29157A4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A170FB3-B397-4AC9-85FD-65388F26D9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E5EC0B9-49C7-4777-AEC5-B5EF8DE404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902048B-30F7-4434-87A5-140F9BB4BE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500A6E2-A41C-4751-8A4E-9A0C5718D93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C259517-7BE7-45F9-81C0-3A6362BF1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0652F56-7B71-42B2-AB68-22204A6DF1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059830E-1C3D-4D42-8789-524971CB4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53325A7-86D3-4B52-A7E3-ADDF408B40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D53F46F-EC12-484C-A4E7-791E57687A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64ED9CA-8950-47B8-A9ED-22B45CE15F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4429F7B-9FD7-438F-8ECA-3FCAD00618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C558100-D455-4B41-890C-BCC898B2D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2886397-398A-4318-BE16-2CBAC1902F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D32A3A6-CE6E-4ABD-8522-2C8DC88C07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9014C09-5B84-4798-8BDE-C80D76E67B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A29EB9E-ED9D-4C69-8A26-9A7A0A830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A2899F9-1795-416F-8F3D-26EEB684DB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3043474-8625-495C-BD06-3627FD286C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432CE47-7631-408E-8DDC-79EE378B70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2C8832D-8B8D-4036-B913-2D36314327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CCEFEAF-E87B-4FF2-A947-94CABAA061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2" name="Right Triangle 41">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44" name="Rectangle 43">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6" name="Group 45">
            <a:extLst>
              <a:ext uri="{FF2B5EF4-FFF2-40B4-BE49-F238E27FC236}">
                <a16:creationId xmlns:a16="http://schemas.microsoft.com/office/drawing/2014/main" id="{B19EC7B8-C390-4F1B-8960-E6D32451033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7" name="Straight Connector 46">
              <a:extLst>
                <a:ext uri="{FF2B5EF4-FFF2-40B4-BE49-F238E27FC236}">
                  <a16:creationId xmlns:a16="http://schemas.microsoft.com/office/drawing/2014/main" id="{7CEE1CC1-2CD0-4957-8A12-48FA80C0CC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34901FEB-A7C2-457B-A124-AD433B0417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76048A8-79AA-454C-BD3E-3004F74268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7B51975-25FE-4328-9815-2AA302F28A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440B47E-6D3E-4978-B887-B53DA0BFF5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D94D0A1-D760-40DE-B758-008B93D588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9E590CB-0538-40D7-9CAC-1BBD39CC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D7C67DA-B2AA-46E2-8065-1F862A6F7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C0C2ED54-1B65-4F4A-B14B-41FC05B372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AE5BBBC-F576-4D54-BF67-C00BB1F4F9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0D490E7-12F8-40DC-A9C1-D119667EEF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6C855383-9F21-4BDA-8FCA-22AF3D69FF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FC3E600C-E08A-418E-B30E-2B0FC15DF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980D58F-BD3F-4B47-9BD2-888B0D9D19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3544818-9B28-4A71-8D7B-80727A5326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101FFBC7-035F-48C5-91FA-4A4973FCD6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6195BC5-BB4E-4F3F-8378-0B308B4252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2404171-AF5C-4FA1-9D4E-DCF75562BD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AD45A86-9385-473D-9DBF-565E0A94AF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BA5A228-913F-4D4F-AB25-5372936246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87E8BFE-D92E-4EB3-ADD1-FB75CAA683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8756FCD-8335-4089-B4EE-13D629E53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A9707D7B-937E-4DC3-87BA-B7B7042682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AB1A72DC-3F29-4488-9051-C21E1CBB7E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56DAD76-815C-4F16-98CF-8E8BE1965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1AF2F8C5-6691-4EBD-B42E-4B17DF1ED2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D32ED14D-1C00-41C8-849C-030A1434E4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2F296F5-9867-45CA-BF0A-EF216F6A80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3B72471-9DB5-428B-AF52-E11E03B9FD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B8656B49-5277-4610-BD7B-F5D98170B5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F1A47399-8F78-4DB1-BD21-1166BCB267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79" name="Right Triangle 78">
            <a:extLst>
              <a:ext uri="{FF2B5EF4-FFF2-40B4-BE49-F238E27FC236}">
                <a16:creationId xmlns:a16="http://schemas.microsoft.com/office/drawing/2014/main" id="{F952A221-69C2-46B3-890D-354CA5961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5810332" y="-28672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9F46A65-636C-B8F3-5865-470F05D9AEAC}"/>
              </a:ext>
            </a:extLst>
          </p:cNvPr>
          <p:cNvSpPr>
            <a:spLocks noGrp="1"/>
          </p:cNvSpPr>
          <p:nvPr>
            <p:ph type="title"/>
          </p:nvPr>
        </p:nvSpPr>
        <p:spPr>
          <a:xfrm>
            <a:off x="1169071" y="722904"/>
            <a:ext cx="9821130" cy="1075904"/>
          </a:xfrm>
        </p:spPr>
        <p:txBody>
          <a:bodyPr vert="horz" lIns="91440" tIns="45720" rIns="91440" bIns="45720" rtlCol="0" anchor="b">
            <a:normAutofit/>
          </a:bodyPr>
          <a:lstStyle/>
          <a:p>
            <a:pPr algn="ctr"/>
            <a:r>
              <a:rPr lang="en-US" sz="5400"/>
              <a:t>Thanks </a:t>
            </a:r>
          </a:p>
        </p:txBody>
      </p:sp>
      <p:pic>
        <p:nvPicPr>
          <p:cNvPr id="6" name="Graphic 5" descr="Smiling Face with No Fill">
            <a:extLst>
              <a:ext uri="{FF2B5EF4-FFF2-40B4-BE49-F238E27FC236}">
                <a16:creationId xmlns:a16="http://schemas.microsoft.com/office/drawing/2014/main" id="{C630E40B-16C4-1403-6DE1-10CECABFD07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64223" y="2884564"/>
            <a:ext cx="3257291" cy="3257291"/>
          </a:xfrm>
          <a:prstGeom prst="rect">
            <a:avLst/>
          </a:prstGeom>
        </p:spPr>
      </p:pic>
    </p:spTree>
    <p:extLst>
      <p:ext uri="{BB962C8B-B14F-4D97-AF65-F5344CB8AC3E}">
        <p14:creationId xmlns:p14="http://schemas.microsoft.com/office/powerpoint/2010/main" val="2496118241"/>
      </p:ext>
    </p:extLst>
  </p:cSld>
  <p:clrMapOvr>
    <a:masterClrMapping/>
  </p:clrMapOvr>
</p:sld>
</file>

<file path=ppt/theme/theme1.xml><?xml version="1.0" encoding="utf-8"?>
<a:theme xmlns:a="http://schemas.openxmlformats.org/drawingml/2006/main" name="CosineVTI">
  <a:themeElements>
    <a:clrScheme name="AnalogousFromDarkSeedLeftStep">
      <a:dk1>
        <a:srgbClr val="000000"/>
      </a:dk1>
      <a:lt1>
        <a:srgbClr val="FFFFFF"/>
      </a:lt1>
      <a:dk2>
        <a:srgbClr val="333820"/>
      </a:dk2>
      <a:lt2>
        <a:srgbClr val="E8E2E3"/>
      </a:lt2>
      <a:accent1>
        <a:srgbClr val="20B4A2"/>
      </a:accent1>
      <a:accent2>
        <a:srgbClr val="14B760"/>
      </a:accent2>
      <a:accent3>
        <a:srgbClr val="21B928"/>
      </a:accent3>
      <a:accent4>
        <a:srgbClr val="51B814"/>
      </a:accent4>
      <a:accent5>
        <a:srgbClr val="8EAC1E"/>
      </a:accent5>
      <a:accent6>
        <a:srgbClr val="C19D15"/>
      </a:accent6>
      <a:hlink>
        <a:srgbClr val="678B2E"/>
      </a:hlink>
      <a:folHlink>
        <a:srgbClr val="7F7F7F"/>
      </a:folHlink>
    </a:clrScheme>
    <a:fontScheme name="Custom 50">
      <a:majorFont>
        <a:latin typeface="Grandview"/>
        <a:ea typeface=""/>
        <a:cs typeface=""/>
      </a:majorFont>
      <a:minorFont>
        <a:latin typeface="Grandvie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sineVTI" id="{4F4449D5-5E9D-4D83-9E2A-939F9CF20276}" vid="{03166EA1-370F-4321-A61E-8851365B4312}"/>
    </a:ext>
  </a:extLst>
</a:theme>
</file>

<file path=docProps/app.xml><?xml version="1.0" encoding="utf-8"?>
<Properties xmlns="http://schemas.openxmlformats.org/officeDocument/2006/extended-properties" xmlns:vt="http://schemas.openxmlformats.org/officeDocument/2006/docPropsVTypes">
  <TotalTime>158</TotalTime>
  <Words>2209</Words>
  <Application>Microsoft Office PowerPoint</Application>
  <PresentationFormat>Widescreen</PresentationFormat>
  <Paragraphs>156</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Grandview</vt:lpstr>
      <vt:lpstr>Times New Roman</vt:lpstr>
      <vt:lpstr>Wingdings</vt:lpstr>
      <vt:lpstr>CosineVTI</vt:lpstr>
      <vt:lpstr>Cohort Studies</vt:lpstr>
      <vt:lpstr>Cohort Study</vt:lpstr>
      <vt:lpstr>PowerPoint Presentation</vt:lpstr>
      <vt:lpstr>Cohort</vt:lpstr>
      <vt:lpstr>Indication for cohort studies</vt:lpstr>
      <vt:lpstr>Framework (cause to effect)</vt:lpstr>
      <vt:lpstr>General consideration</vt:lpstr>
      <vt:lpstr>Types of cohort studies</vt:lpstr>
      <vt:lpstr>Retrospective cohort studies</vt:lpstr>
      <vt:lpstr>Combination of retrospective and prospective cohort studies</vt:lpstr>
      <vt:lpstr>Nested case control study</vt:lpstr>
      <vt:lpstr>PowerPoint Presentation</vt:lpstr>
      <vt:lpstr>Elements</vt:lpstr>
      <vt:lpstr>Elements</vt:lpstr>
      <vt:lpstr>Selection of study subjects</vt:lpstr>
      <vt:lpstr>Selection of study subjects (Special groups)</vt:lpstr>
      <vt:lpstr>Data on exposure</vt:lpstr>
      <vt:lpstr>Comparison groups</vt:lpstr>
      <vt:lpstr>Comparison groups</vt:lpstr>
      <vt:lpstr>Follow up</vt:lpstr>
      <vt:lpstr>Analysis</vt:lpstr>
      <vt:lpstr>Estimation of risk</vt:lpstr>
      <vt:lpstr>Population attributable risk</vt:lpstr>
      <vt:lpstr>Advantages</vt:lpstr>
      <vt:lpstr>Disadvantages</vt:lpstr>
      <vt:lpstr>Bias</vt:lpstr>
      <vt:lpstr>PowerPoint Presentation</vt:lpstr>
      <vt:lpstr>Thanks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Cohort Studies</dc:title>
  <dc:creator>mukul maheshwari</dc:creator>
  <cp:lastModifiedBy>mukul maheshwari</cp:lastModifiedBy>
  <cp:revision>1</cp:revision>
  <dcterms:created xsi:type="dcterms:W3CDTF">2023-06-19T17:35:31Z</dcterms:created>
  <dcterms:modified xsi:type="dcterms:W3CDTF">2024-05-08T21:09:49Z</dcterms:modified>
</cp:coreProperties>
</file>