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sldIdLst>
    <p:sldId id="256" r:id="rId2"/>
    <p:sldId id="276" r:id="rId3"/>
    <p:sldId id="277" r:id="rId4"/>
    <p:sldId id="278" r:id="rId5"/>
    <p:sldId id="279" r:id="rId6"/>
    <p:sldId id="257" r:id="rId7"/>
    <p:sldId id="258" r:id="rId8"/>
    <p:sldId id="259" r:id="rId9"/>
    <p:sldId id="260" r:id="rId10"/>
    <p:sldId id="261" r:id="rId11"/>
    <p:sldId id="262" r:id="rId12"/>
    <p:sldId id="263" r:id="rId13"/>
    <p:sldId id="264" r:id="rId14"/>
    <p:sldId id="266" r:id="rId15"/>
    <p:sldId id="267" r:id="rId16"/>
    <p:sldId id="265" r:id="rId17"/>
    <p:sldId id="268" r:id="rId18"/>
    <p:sldId id="269" r:id="rId19"/>
    <p:sldId id="270" r:id="rId20"/>
    <p:sldId id="271" r:id="rId21"/>
    <p:sldId id="272" r:id="rId22"/>
    <p:sldId id="273" r:id="rId23"/>
    <p:sldId id="274" r:id="rId24"/>
    <p:sldId id="275" r:id="rId25"/>
    <p:sldId id="281" r:id="rId26"/>
    <p:sldId id="282" r:id="rId27"/>
    <p:sldId id="290" r:id="rId28"/>
    <p:sldId id="283" r:id="rId29"/>
    <p:sldId id="284" r:id="rId30"/>
    <p:sldId id="285" r:id="rId31"/>
    <p:sldId id="286" r:id="rId32"/>
    <p:sldId id="287" r:id="rId33"/>
    <p:sldId id="288" r:id="rId34"/>
    <p:sldId id="289" r:id="rId35"/>
    <p:sldId id="280"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5428B9-5821-42AC-B1F0-A0EC8D87E833}" v="2" dt="2024-05-08T07:05:55.7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23" d="100"/>
          <a:sy n="123" d="100"/>
        </p:scale>
        <p:origin x="114"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kul maheshwari" userId="12cb43e2ca5f0d2c" providerId="LiveId" clId="{255428B9-5821-42AC-B1F0-A0EC8D87E833}"/>
    <pc:docChg chg="custSel addSld modSld">
      <pc:chgData name="mukul maheshwari" userId="12cb43e2ca5f0d2c" providerId="LiveId" clId="{255428B9-5821-42AC-B1F0-A0EC8D87E833}" dt="2024-05-08T07:07:11.842" v="133" actId="478"/>
      <pc:docMkLst>
        <pc:docMk/>
      </pc:docMkLst>
      <pc:sldChg chg="delSp mod">
        <pc:chgData name="mukul maheshwari" userId="12cb43e2ca5f0d2c" providerId="LiveId" clId="{255428B9-5821-42AC-B1F0-A0EC8D87E833}" dt="2024-05-08T07:07:11.842" v="133" actId="478"/>
        <pc:sldMkLst>
          <pc:docMk/>
          <pc:sldMk cId="1995946245" sldId="280"/>
        </pc:sldMkLst>
        <pc:spChg chg="del">
          <ac:chgData name="mukul maheshwari" userId="12cb43e2ca5f0d2c" providerId="LiveId" clId="{255428B9-5821-42AC-B1F0-A0EC8D87E833}" dt="2024-05-08T07:07:11.842" v="133" actId="478"/>
          <ac:spMkLst>
            <pc:docMk/>
            <pc:sldMk cId="1995946245" sldId="280"/>
            <ac:spMk id="9" creationId="{E1A5ADB5-C34B-438A-931C-331443FE3573}"/>
          </ac:spMkLst>
        </pc:spChg>
      </pc:sldChg>
      <pc:sldChg chg="modSp new mod">
        <pc:chgData name="mukul maheshwari" userId="12cb43e2ca5f0d2c" providerId="LiveId" clId="{255428B9-5821-42AC-B1F0-A0EC8D87E833}" dt="2023-06-12T20:24:51.880" v="70" actId="27636"/>
        <pc:sldMkLst>
          <pc:docMk/>
          <pc:sldMk cId="117785726" sldId="281"/>
        </pc:sldMkLst>
        <pc:spChg chg="mod">
          <ac:chgData name="mukul maheshwari" userId="12cb43e2ca5f0d2c" providerId="LiveId" clId="{255428B9-5821-42AC-B1F0-A0EC8D87E833}" dt="2023-06-12T20:22:07.227" v="10" actId="20577"/>
          <ac:spMkLst>
            <pc:docMk/>
            <pc:sldMk cId="117785726" sldId="281"/>
            <ac:spMk id="2" creationId="{B9055689-9CE8-DD56-0126-7C0DB411E950}"/>
          </ac:spMkLst>
        </pc:spChg>
        <pc:spChg chg="mod">
          <ac:chgData name="mukul maheshwari" userId="12cb43e2ca5f0d2c" providerId="LiveId" clId="{255428B9-5821-42AC-B1F0-A0EC8D87E833}" dt="2023-06-12T20:24:51.880" v="70" actId="27636"/>
          <ac:spMkLst>
            <pc:docMk/>
            <pc:sldMk cId="117785726" sldId="281"/>
            <ac:spMk id="3" creationId="{8CCE85C9-424E-A985-D2CB-93A64ACB7B24}"/>
          </ac:spMkLst>
        </pc:spChg>
      </pc:sldChg>
      <pc:sldChg chg="modSp new mod">
        <pc:chgData name="mukul maheshwari" userId="12cb43e2ca5f0d2c" providerId="LiveId" clId="{255428B9-5821-42AC-B1F0-A0EC8D87E833}" dt="2023-06-12T20:26:21.695" v="126" actId="403"/>
        <pc:sldMkLst>
          <pc:docMk/>
          <pc:sldMk cId="2243272194" sldId="282"/>
        </pc:sldMkLst>
        <pc:spChg chg="mod">
          <ac:chgData name="mukul maheshwari" userId="12cb43e2ca5f0d2c" providerId="LiveId" clId="{255428B9-5821-42AC-B1F0-A0EC8D87E833}" dt="2023-06-12T20:25:09.404" v="84" actId="20577"/>
          <ac:spMkLst>
            <pc:docMk/>
            <pc:sldMk cId="2243272194" sldId="282"/>
            <ac:spMk id="2" creationId="{28B99B22-EFB0-D09D-9462-5F2F961065CB}"/>
          </ac:spMkLst>
        </pc:spChg>
        <pc:spChg chg="mod">
          <ac:chgData name="mukul maheshwari" userId="12cb43e2ca5f0d2c" providerId="LiveId" clId="{255428B9-5821-42AC-B1F0-A0EC8D87E833}" dt="2023-06-12T20:26:21.695" v="126" actId="403"/>
          <ac:spMkLst>
            <pc:docMk/>
            <pc:sldMk cId="2243272194" sldId="282"/>
            <ac:spMk id="3" creationId="{B6E0B28D-0365-F7D2-8EE7-EF7EBB854256}"/>
          </ac:spMkLst>
        </pc:spChg>
      </pc:sldChg>
      <pc:sldChg chg="delSp add setBg delDesignElem">
        <pc:chgData name="mukul maheshwari" userId="12cb43e2ca5f0d2c" providerId="LiveId" clId="{255428B9-5821-42AC-B1F0-A0EC8D87E833}" dt="2024-05-08T07:05:39.245" v="128"/>
        <pc:sldMkLst>
          <pc:docMk/>
          <pc:sldMk cId="984436186" sldId="283"/>
        </pc:sldMkLst>
        <pc:spChg chg="del">
          <ac:chgData name="mukul maheshwari" userId="12cb43e2ca5f0d2c" providerId="LiveId" clId="{255428B9-5821-42AC-B1F0-A0EC8D87E833}" dt="2024-05-08T07:05:39.245" v="128"/>
          <ac:spMkLst>
            <pc:docMk/>
            <pc:sldMk cId="984436186" sldId="283"/>
            <ac:spMk id="9" creationId="{F14D45BF-E397-40C0-AFE3-A4149E60E152}"/>
          </ac:spMkLst>
        </pc:spChg>
        <pc:spChg chg="del">
          <ac:chgData name="mukul maheshwari" userId="12cb43e2ca5f0d2c" providerId="LiveId" clId="{255428B9-5821-42AC-B1F0-A0EC8D87E833}" dt="2024-05-08T07:05:39.245" v="128"/>
          <ac:spMkLst>
            <pc:docMk/>
            <pc:sldMk cId="984436186" sldId="283"/>
            <ac:spMk id="44" creationId="{07E3C0EF-2D2A-42BA-B4E2-76E2B1FC52FE}"/>
          </ac:spMkLst>
        </pc:spChg>
        <pc:grpChg chg="del">
          <ac:chgData name="mukul maheshwari" userId="12cb43e2ca5f0d2c" providerId="LiveId" clId="{255428B9-5821-42AC-B1F0-A0EC8D87E833}" dt="2024-05-08T07:05:39.245" v="128"/>
          <ac:grpSpMkLst>
            <pc:docMk/>
            <pc:sldMk cId="984436186" sldId="283"/>
            <ac:grpSpMk id="11" creationId="{35F4CD44-7930-4EB8-9A74-8D2F9E63693E}"/>
          </ac:grpSpMkLst>
        </pc:grpChg>
      </pc:sldChg>
      <pc:sldChg chg="add">
        <pc:chgData name="mukul maheshwari" userId="12cb43e2ca5f0d2c" providerId="LiveId" clId="{255428B9-5821-42AC-B1F0-A0EC8D87E833}" dt="2024-05-08T07:05:39.245" v="128"/>
        <pc:sldMkLst>
          <pc:docMk/>
          <pc:sldMk cId="2320779846" sldId="284"/>
        </pc:sldMkLst>
      </pc:sldChg>
      <pc:sldChg chg="modSp add mod">
        <pc:chgData name="mukul maheshwari" userId="12cb43e2ca5f0d2c" providerId="LiveId" clId="{255428B9-5821-42AC-B1F0-A0EC8D87E833}" dt="2024-05-08T07:05:39.323" v="129" actId="27636"/>
        <pc:sldMkLst>
          <pc:docMk/>
          <pc:sldMk cId="1686294213" sldId="285"/>
        </pc:sldMkLst>
        <pc:spChg chg="mod">
          <ac:chgData name="mukul maheshwari" userId="12cb43e2ca5f0d2c" providerId="LiveId" clId="{255428B9-5821-42AC-B1F0-A0EC8D87E833}" dt="2024-05-08T07:05:39.323" v="129" actId="27636"/>
          <ac:spMkLst>
            <pc:docMk/>
            <pc:sldMk cId="1686294213" sldId="285"/>
            <ac:spMk id="2" creationId="{D3599295-6B25-1487-BF3F-C3B1255DA268}"/>
          </ac:spMkLst>
        </pc:spChg>
      </pc:sldChg>
      <pc:sldChg chg="add">
        <pc:chgData name="mukul maheshwari" userId="12cb43e2ca5f0d2c" providerId="LiveId" clId="{255428B9-5821-42AC-B1F0-A0EC8D87E833}" dt="2024-05-08T07:05:39.245" v="128"/>
        <pc:sldMkLst>
          <pc:docMk/>
          <pc:sldMk cId="1661137613" sldId="286"/>
        </pc:sldMkLst>
      </pc:sldChg>
      <pc:sldChg chg="add">
        <pc:chgData name="mukul maheshwari" userId="12cb43e2ca5f0d2c" providerId="LiveId" clId="{255428B9-5821-42AC-B1F0-A0EC8D87E833}" dt="2024-05-08T07:05:39.245" v="128"/>
        <pc:sldMkLst>
          <pc:docMk/>
          <pc:sldMk cId="3027711107" sldId="287"/>
        </pc:sldMkLst>
      </pc:sldChg>
      <pc:sldChg chg="modSp add mod">
        <pc:chgData name="mukul maheshwari" userId="12cb43e2ca5f0d2c" providerId="LiveId" clId="{255428B9-5821-42AC-B1F0-A0EC8D87E833}" dt="2024-05-08T07:05:39.448" v="130" actId="27636"/>
        <pc:sldMkLst>
          <pc:docMk/>
          <pc:sldMk cId="2282336646" sldId="288"/>
        </pc:sldMkLst>
        <pc:spChg chg="mod">
          <ac:chgData name="mukul maheshwari" userId="12cb43e2ca5f0d2c" providerId="LiveId" clId="{255428B9-5821-42AC-B1F0-A0EC8D87E833}" dt="2024-05-08T07:05:39.448" v="130" actId="27636"/>
          <ac:spMkLst>
            <pc:docMk/>
            <pc:sldMk cId="2282336646" sldId="288"/>
            <ac:spMk id="3" creationId="{85CC4C09-0718-F88B-9AC7-A7AA3B958890}"/>
          </ac:spMkLst>
        </pc:spChg>
      </pc:sldChg>
      <pc:sldChg chg="add">
        <pc:chgData name="mukul maheshwari" userId="12cb43e2ca5f0d2c" providerId="LiveId" clId="{255428B9-5821-42AC-B1F0-A0EC8D87E833}" dt="2024-05-08T07:05:39.245" v="128"/>
        <pc:sldMkLst>
          <pc:docMk/>
          <pc:sldMk cId="4166920569" sldId="289"/>
        </pc:sldMkLst>
      </pc:sldChg>
      <pc:sldChg chg="delSp add setBg delDesignElem">
        <pc:chgData name="mukul maheshwari" userId="12cb43e2ca5f0d2c" providerId="LiveId" clId="{255428B9-5821-42AC-B1F0-A0EC8D87E833}" dt="2024-05-08T07:05:55.798" v="132"/>
        <pc:sldMkLst>
          <pc:docMk/>
          <pc:sldMk cId="1348666999" sldId="290"/>
        </pc:sldMkLst>
        <pc:spChg chg="del">
          <ac:chgData name="mukul maheshwari" userId="12cb43e2ca5f0d2c" providerId="LiveId" clId="{255428B9-5821-42AC-B1F0-A0EC8D87E833}" dt="2024-05-08T07:05:55.798" v="132"/>
          <ac:spMkLst>
            <pc:docMk/>
            <pc:sldMk cId="1348666999" sldId="290"/>
            <ac:spMk id="53" creationId="{E91DC736-0EF8-4F87-9146-EBF1D2EE4D3D}"/>
          </ac:spMkLst>
        </pc:spChg>
        <pc:spChg chg="del">
          <ac:chgData name="mukul maheshwari" userId="12cb43e2ca5f0d2c" providerId="LiveId" clId="{255428B9-5821-42AC-B1F0-A0EC8D87E833}" dt="2024-05-08T07:05:55.798" v="132"/>
          <ac:spMkLst>
            <pc:docMk/>
            <pc:sldMk cId="1348666999" sldId="290"/>
            <ac:spMk id="55" creationId="{097CD68E-23E3-4007-8847-CD0944C4F7BE}"/>
          </ac:spMkLst>
        </pc:spChg>
        <pc:spChg chg="del">
          <ac:chgData name="mukul maheshwari" userId="12cb43e2ca5f0d2c" providerId="LiveId" clId="{255428B9-5821-42AC-B1F0-A0EC8D87E833}" dt="2024-05-08T07:05:55.798" v="132"/>
          <ac:spMkLst>
            <pc:docMk/>
            <pc:sldMk cId="1348666999" sldId="290"/>
            <ac:spMk id="57" creationId="{AF2F604E-43BE-4DC3-B983-E071523364F8}"/>
          </ac:spMkLst>
        </pc:spChg>
        <pc:spChg chg="del">
          <ac:chgData name="mukul maheshwari" userId="12cb43e2ca5f0d2c" providerId="LiveId" clId="{255428B9-5821-42AC-B1F0-A0EC8D87E833}" dt="2024-05-08T07:05:55.798" v="132"/>
          <ac:spMkLst>
            <pc:docMk/>
            <pc:sldMk cId="1348666999" sldId="290"/>
            <ac:spMk id="59" creationId="{08C9B587-E65E-4B52-B37C-ABEBB6E87928}"/>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B517152-06BC-4DB0-9E48-2043E2A79294}"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2E72C1C3-B238-49C6-B81A-45B4DB502E4B}">
      <dgm:prSet/>
      <dgm:spPr/>
      <dgm:t>
        <a:bodyPr/>
        <a:lstStyle/>
        <a:p>
          <a:r>
            <a:rPr lang="en-US" b="0" i="0" baseline="0"/>
            <a:t>Selection of study subjects</a:t>
          </a:r>
          <a:endParaRPr lang="en-US"/>
        </a:p>
      </dgm:t>
    </dgm:pt>
    <dgm:pt modelId="{E911D42A-6C4B-44FB-BCE3-F7472454292D}" type="parTrans" cxnId="{E7B4CB2C-B45E-424B-8614-671805B89300}">
      <dgm:prSet/>
      <dgm:spPr/>
      <dgm:t>
        <a:bodyPr/>
        <a:lstStyle/>
        <a:p>
          <a:endParaRPr lang="en-US"/>
        </a:p>
      </dgm:t>
    </dgm:pt>
    <dgm:pt modelId="{70538DBD-EC09-4C00-BCC2-5877E638BE2C}" type="sibTrans" cxnId="{E7B4CB2C-B45E-424B-8614-671805B89300}">
      <dgm:prSet/>
      <dgm:spPr/>
      <dgm:t>
        <a:bodyPr/>
        <a:lstStyle/>
        <a:p>
          <a:endParaRPr lang="en-US"/>
        </a:p>
      </dgm:t>
    </dgm:pt>
    <dgm:pt modelId="{E29C0F4D-22D0-46CA-A20D-6AA165269240}">
      <dgm:prSet/>
      <dgm:spPr/>
      <dgm:t>
        <a:bodyPr/>
        <a:lstStyle/>
        <a:p>
          <a:r>
            <a:rPr lang="en-US" b="0" i="0" baseline="0"/>
            <a:t>Obtaining data on exposure</a:t>
          </a:r>
          <a:endParaRPr lang="en-US"/>
        </a:p>
      </dgm:t>
    </dgm:pt>
    <dgm:pt modelId="{2D8E6480-20C0-414E-9409-D8DEEE67FE5F}" type="parTrans" cxnId="{2A952A89-7B01-43E0-A860-899FFB510FE7}">
      <dgm:prSet/>
      <dgm:spPr/>
      <dgm:t>
        <a:bodyPr/>
        <a:lstStyle/>
        <a:p>
          <a:endParaRPr lang="en-US"/>
        </a:p>
      </dgm:t>
    </dgm:pt>
    <dgm:pt modelId="{CCE3EF6A-415B-47DE-A55C-E9CE54EA8CF1}" type="sibTrans" cxnId="{2A952A89-7B01-43E0-A860-899FFB510FE7}">
      <dgm:prSet/>
      <dgm:spPr/>
      <dgm:t>
        <a:bodyPr/>
        <a:lstStyle/>
        <a:p>
          <a:endParaRPr lang="en-US"/>
        </a:p>
      </dgm:t>
    </dgm:pt>
    <dgm:pt modelId="{0403078A-B543-4754-A7C3-2C427D88F825}">
      <dgm:prSet/>
      <dgm:spPr/>
      <dgm:t>
        <a:bodyPr/>
        <a:lstStyle/>
        <a:p>
          <a:r>
            <a:rPr lang="en-US" b="0" i="0" baseline="0"/>
            <a:t>Selection of comparison groups</a:t>
          </a:r>
          <a:endParaRPr lang="en-US"/>
        </a:p>
      </dgm:t>
    </dgm:pt>
    <dgm:pt modelId="{7EB4D27C-FA5D-4397-B91A-059996154620}" type="parTrans" cxnId="{6DE43A59-5AD6-49E9-8799-17930BA5E3F5}">
      <dgm:prSet/>
      <dgm:spPr/>
      <dgm:t>
        <a:bodyPr/>
        <a:lstStyle/>
        <a:p>
          <a:endParaRPr lang="en-US"/>
        </a:p>
      </dgm:t>
    </dgm:pt>
    <dgm:pt modelId="{B5784C82-3C78-46EA-A6E4-A808E25F830A}" type="sibTrans" cxnId="{6DE43A59-5AD6-49E9-8799-17930BA5E3F5}">
      <dgm:prSet/>
      <dgm:spPr/>
      <dgm:t>
        <a:bodyPr/>
        <a:lstStyle/>
        <a:p>
          <a:endParaRPr lang="en-US"/>
        </a:p>
      </dgm:t>
    </dgm:pt>
    <dgm:pt modelId="{BFC2B0A5-D41C-4441-8F7C-1B297C0B23D1}">
      <dgm:prSet/>
      <dgm:spPr/>
      <dgm:t>
        <a:bodyPr/>
        <a:lstStyle/>
        <a:p>
          <a:r>
            <a:rPr lang="en-US" b="0" i="0" baseline="0"/>
            <a:t>Follow-up</a:t>
          </a:r>
          <a:endParaRPr lang="en-US"/>
        </a:p>
      </dgm:t>
    </dgm:pt>
    <dgm:pt modelId="{9C106EE0-54A4-4643-AE18-6432A43170A3}" type="parTrans" cxnId="{BD716759-92BC-4AD6-9904-3372172C9556}">
      <dgm:prSet/>
      <dgm:spPr/>
      <dgm:t>
        <a:bodyPr/>
        <a:lstStyle/>
        <a:p>
          <a:endParaRPr lang="en-US"/>
        </a:p>
      </dgm:t>
    </dgm:pt>
    <dgm:pt modelId="{281616C1-3B3C-4DFE-8390-2434E4EFC339}" type="sibTrans" cxnId="{BD716759-92BC-4AD6-9904-3372172C9556}">
      <dgm:prSet/>
      <dgm:spPr/>
      <dgm:t>
        <a:bodyPr/>
        <a:lstStyle/>
        <a:p>
          <a:endParaRPr lang="en-US"/>
        </a:p>
      </dgm:t>
    </dgm:pt>
    <dgm:pt modelId="{BB7A5DCD-2ED0-430C-9401-DFEB61B6D4DC}">
      <dgm:prSet/>
      <dgm:spPr/>
      <dgm:t>
        <a:bodyPr/>
        <a:lstStyle/>
        <a:p>
          <a:r>
            <a:rPr lang="en-US" b="0" i="0" baseline="0"/>
            <a:t>Analysis.</a:t>
          </a:r>
          <a:endParaRPr lang="en-US"/>
        </a:p>
      </dgm:t>
    </dgm:pt>
    <dgm:pt modelId="{2F54A3E2-D4FA-4A45-89A8-399198EC3A47}" type="parTrans" cxnId="{AB10F1FC-539F-4514-9757-A7239A27A681}">
      <dgm:prSet/>
      <dgm:spPr/>
      <dgm:t>
        <a:bodyPr/>
        <a:lstStyle/>
        <a:p>
          <a:endParaRPr lang="en-US"/>
        </a:p>
      </dgm:t>
    </dgm:pt>
    <dgm:pt modelId="{BBC455DF-3633-4229-A1AB-9C71B36133A6}" type="sibTrans" cxnId="{AB10F1FC-539F-4514-9757-A7239A27A681}">
      <dgm:prSet/>
      <dgm:spPr/>
      <dgm:t>
        <a:bodyPr/>
        <a:lstStyle/>
        <a:p>
          <a:endParaRPr lang="en-US"/>
        </a:p>
      </dgm:t>
    </dgm:pt>
    <dgm:pt modelId="{B7A94C84-30A2-4B93-AD2D-4A9AEE57B88A}" type="pres">
      <dgm:prSet presAssocID="{EB517152-06BC-4DB0-9E48-2043E2A79294}" presName="vert0" presStyleCnt="0">
        <dgm:presLayoutVars>
          <dgm:dir/>
          <dgm:animOne val="branch"/>
          <dgm:animLvl val="lvl"/>
        </dgm:presLayoutVars>
      </dgm:prSet>
      <dgm:spPr/>
    </dgm:pt>
    <dgm:pt modelId="{1A3CC0DC-CB24-4B29-9AF7-C6E411D97227}" type="pres">
      <dgm:prSet presAssocID="{2E72C1C3-B238-49C6-B81A-45B4DB502E4B}" presName="thickLine" presStyleLbl="alignNode1" presStyleIdx="0" presStyleCnt="5"/>
      <dgm:spPr/>
    </dgm:pt>
    <dgm:pt modelId="{0CBAC9C3-837A-49F2-8FDA-96E902A23153}" type="pres">
      <dgm:prSet presAssocID="{2E72C1C3-B238-49C6-B81A-45B4DB502E4B}" presName="horz1" presStyleCnt="0"/>
      <dgm:spPr/>
    </dgm:pt>
    <dgm:pt modelId="{6ACF89F2-F6EA-4CCE-8F4B-D06E7EF6C86E}" type="pres">
      <dgm:prSet presAssocID="{2E72C1C3-B238-49C6-B81A-45B4DB502E4B}" presName="tx1" presStyleLbl="revTx" presStyleIdx="0" presStyleCnt="5"/>
      <dgm:spPr/>
    </dgm:pt>
    <dgm:pt modelId="{95082ECB-289E-47B0-AC5C-0E17FAB2F8DD}" type="pres">
      <dgm:prSet presAssocID="{2E72C1C3-B238-49C6-B81A-45B4DB502E4B}" presName="vert1" presStyleCnt="0"/>
      <dgm:spPr/>
    </dgm:pt>
    <dgm:pt modelId="{B3E2F5BE-B38E-4886-9E7E-B11B87B81F76}" type="pres">
      <dgm:prSet presAssocID="{E29C0F4D-22D0-46CA-A20D-6AA165269240}" presName="thickLine" presStyleLbl="alignNode1" presStyleIdx="1" presStyleCnt="5"/>
      <dgm:spPr/>
    </dgm:pt>
    <dgm:pt modelId="{DFB864E3-15FB-4EF7-A015-73EA7781D4FC}" type="pres">
      <dgm:prSet presAssocID="{E29C0F4D-22D0-46CA-A20D-6AA165269240}" presName="horz1" presStyleCnt="0"/>
      <dgm:spPr/>
    </dgm:pt>
    <dgm:pt modelId="{AF6BB485-251F-4719-96A5-F458CF9886B5}" type="pres">
      <dgm:prSet presAssocID="{E29C0F4D-22D0-46CA-A20D-6AA165269240}" presName="tx1" presStyleLbl="revTx" presStyleIdx="1" presStyleCnt="5"/>
      <dgm:spPr/>
    </dgm:pt>
    <dgm:pt modelId="{A5600B0D-32F1-477C-AFCD-8917342C2F1D}" type="pres">
      <dgm:prSet presAssocID="{E29C0F4D-22D0-46CA-A20D-6AA165269240}" presName="vert1" presStyleCnt="0"/>
      <dgm:spPr/>
    </dgm:pt>
    <dgm:pt modelId="{2BE85E77-1536-470A-A2C8-A8D4F4C518FB}" type="pres">
      <dgm:prSet presAssocID="{0403078A-B543-4754-A7C3-2C427D88F825}" presName="thickLine" presStyleLbl="alignNode1" presStyleIdx="2" presStyleCnt="5"/>
      <dgm:spPr/>
    </dgm:pt>
    <dgm:pt modelId="{EDD3F696-7A94-4793-8912-887A3D927E26}" type="pres">
      <dgm:prSet presAssocID="{0403078A-B543-4754-A7C3-2C427D88F825}" presName="horz1" presStyleCnt="0"/>
      <dgm:spPr/>
    </dgm:pt>
    <dgm:pt modelId="{64FE94C7-312F-434A-B1E6-EC86E6F02F6F}" type="pres">
      <dgm:prSet presAssocID="{0403078A-B543-4754-A7C3-2C427D88F825}" presName="tx1" presStyleLbl="revTx" presStyleIdx="2" presStyleCnt="5"/>
      <dgm:spPr/>
    </dgm:pt>
    <dgm:pt modelId="{F44CDF05-400E-477E-A3C3-6B5B5897032B}" type="pres">
      <dgm:prSet presAssocID="{0403078A-B543-4754-A7C3-2C427D88F825}" presName="vert1" presStyleCnt="0"/>
      <dgm:spPr/>
    </dgm:pt>
    <dgm:pt modelId="{733BC186-382F-4153-B456-C3BC2B289539}" type="pres">
      <dgm:prSet presAssocID="{BFC2B0A5-D41C-4441-8F7C-1B297C0B23D1}" presName="thickLine" presStyleLbl="alignNode1" presStyleIdx="3" presStyleCnt="5"/>
      <dgm:spPr/>
    </dgm:pt>
    <dgm:pt modelId="{7E4FEA78-59F4-403A-ADB3-7C0DF07676D3}" type="pres">
      <dgm:prSet presAssocID="{BFC2B0A5-D41C-4441-8F7C-1B297C0B23D1}" presName="horz1" presStyleCnt="0"/>
      <dgm:spPr/>
    </dgm:pt>
    <dgm:pt modelId="{D147C2EB-321A-4627-B2F2-6DC2AE01E4A5}" type="pres">
      <dgm:prSet presAssocID="{BFC2B0A5-D41C-4441-8F7C-1B297C0B23D1}" presName="tx1" presStyleLbl="revTx" presStyleIdx="3" presStyleCnt="5"/>
      <dgm:spPr/>
    </dgm:pt>
    <dgm:pt modelId="{691DCD84-F073-4A12-9937-72A50FDBDBC7}" type="pres">
      <dgm:prSet presAssocID="{BFC2B0A5-D41C-4441-8F7C-1B297C0B23D1}" presName="vert1" presStyleCnt="0"/>
      <dgm:spPr/>
    </dgm:pt>
    <dgm:pt modelId="{DBA87043-B7A9-4F77-958C-EFBFFA808490}" type="pres">
      <dgm:prSet presAssocID="{BB7A5DCD-2ED0-430C-9401-DFEB61B6D4DC}" presName="thickLine" presStyleLbl="alignNode1" presStyleIdx="4" presStyleCnt="5"/>
      <dgm:spPr/>
    </dgm:pt>
    <dgm:pt modelId="{47FDE331-0CC4-4215-B9E7-CEF2EA9DFFED}" type="pres">
      <dgm:prSet presAssocID="{BB7A5DCD-2ED0-430C-9401-DFEB61B6D4DC}" presName="horz1" presStyleCnt="0"/>
      <dgm:spPr/>
    </dgm:pt>
    <dgm:pt modelId="{6CF7E3DB-287E-4A9C-84D5-0D9A91B2EAEA}" type="pres">
      <dgm:prSet presAssocID="{BB7A5DCD-2ED0-430C-9401-DFEB61B6D4DC}" presName="tx1" presStyleLbl="revTx" presStyleIdx="4" presStyleCnt="5"/>
      <dgm:spPr/>
    </dgm:pt>
    <dgm:pt modelId="{3AA070BC-9510-440C-A55B-6E963DED554E}" type="pres">
      <dgm:prSet presAssocID="{BB7A5DCD-2ED0-430C-9401-DFEB61B6D4DC}" presName="vert1" presStyleCnt="0"/>
      <dgm:spPr/>
    </dgm:pt>
  </dgm:ptLst>
  <dgm:cxnLst>
    <dgm:cxn modelId="{E7B4CB2C-B45E-424B-8614-671805B89300}" srcId="{EB517152-06BC-4DB0-9E48-2043E2A79294}" destId="{2E72C1C3-B238-49C6-B81A-45B4DB502E4B}" srcOrd="0" destOrd="0" parTransId="{E911D42A-6C4B-44FB-BCE3-F7472454292D}" sibTransId="{70538DBD-EC09-4C00-BCC2-5877E638BE2C}"/>
    <dgm:cxn modelId="{41D6E65B-E106-4282-92C0-800CD90A513D}" type="presOf" srcId="{EB517152-06BC-4DB0-9E48-2043E2A79294}" destId="{B7A94C84-30A2-4B93-AD2D-4A9AEE57B88A}" srcOrd="0" destOrd="0" presId="urn:microsoft.com/office/officeart/2008/layout/LinedList"/>
    <dgm:cxn modelId="{8F3F916F-C9BE-4D2D-8C5F-55472CE5C9C8}" type="presOf" srcId="{BB7A5DCD-2ED0-430C-9401-DFEB61B6D4DC}" destId="{6CF7E3DB-287E-4A9C-84D5-0D9A91B2EAEA}" srcOrd="0" destOrd="0" presId="urn:microsoft.com/office/officeart/2008/layout/LinedList"/>
    <dgm:cxn modelId="{C61B7771-91B3-406D-8653-BB7C359ED6DE}" type="presOf" srcId="{2E72C1C3-B238-49C6-B81A-45B4DB502E4B}" destId="{6ACF89F2-F6EA-4CCE-8F4B-D06E7EF6C86E}" srcOrd="0" destOrd="0" presId="urn:microsoft.com/office/officeart/2008/layout/LinedList"/>
    <dgm:cxn modelId="{32142C77-6ACF-4383-A68B-DB94DDEE26E6}" type="presOf" srcId="{0403078A-B543-4754-A7C3-2C427D88F825}" destId="{64FE94C7-312F-434A-B1E6-EC86E6F02F6F}" srcOrd="0" destOrd="0" presId="urn:microsoft.com/office/officeart/2008/layout/LinedList"/>
    <dgm:cxn modelId="{6DE43A59-5AD6-49E9-8799-17930BA5E3F5}" srcId="{EB517152-06BC-4DB0-9E48-2043E2A79294}" destId="{0403078A-B543-4754-A7C3-2C427D88F825}" srcOrd="2" destOrd="0" parTransId="{7EB4D27C-FA5D-4397-B91A-059996154620}" sibTransId="{B5784C82-3C78-46EA-A6E4-A808E25F830A}"/>
    <dgm:cxn modelId="{BD716759-92BC-4AD6-9904-3372172C9556}" srcId="{EB517152-06BC-4DB0-9E48-2043E2A79294}" destId="{BFC2B0A5-D41C-4441-8F7C-1B297C0B23D1}" srcOrd="3" destOrd="0" parTransId="{9C106EE0-54A4-4643-AE18-6432A43170A3}" sibTransId="{281616C1-3B3C-4DFE-8390-2434E4EFC339}"/>
    <dgm:cxn modelId="{2A952A89-7B01-43E0-A860-899FFB510FE7}" srcId="{EB517152-06BC-4DB0-9E48-2043E2A79294}" destId="{E29C0F4D-22D0-46CA-A20D-6AA165269240}" srcOrd="1" destOrd="0" parTransId="{2D8E6480-20C0-414E-9409-D8DEEE67FE5F}" sibTransId="{CCE3EF6A-415B-47DE-A55C-E9CE54EA8CF1}"/>
    <dgm:cxn modelId="{1EFB00D1-EC08-4BEB-8B46-826C8BEAD088}" type="presOf" srcId="{BFC2B0A5-D41C-4441-8F7C-1B297C0B23D1}" destId="{D147C2EB-321A-4627-B2F2-6DC2AE01E4A5}" srcOrd="0" destOrd="0" presId="urn:microsoft.com/office/officeart/2008/layout/LinedList"/>
    <dgm:cxn modelId="{0DE35CE1-654C-4E13-AA47-89C82D470536}" type="presOf" srcId="{E29C0F4D-22D0-46CA-A20D-6AA165269240}" destId="{AF6BB485-251F-4719-96A5-F458CF9886B5}" srcOrd="0" destOrd="0" presId="urn:microsoft.com/office/officeart/2008/layout/LinedList"/>
    <dgm:cxn modelId="{AB10F1FC-539F-4514-9757-A7239A27A681}" srcId="{EB517152-06BC-4DB0-9E48-2043E2A79294}" destId="{BB7A5DCD-2ED0-430C-9401-DFEB61B6D4DC}" srcOrd="4" destOrd="0" parTransId="{2F54A3E2-D4FA-4A45-89A8-399198EC3A47}" sibTransId="{BBC455DF-3633-4229-A1AB-9C71B36133A6}"/>
    <dgm:cxn modelId="{F2DABB67-CF68-4A28-A31C-C5E19DB5158C}" type="presParOf" srcId="{B7A94C84-30A2-4B93-AD2D-4A9AEE57B88A}" destId="{1A3CC0DC-CB24-4B29-9AF7-C6E411D97227}" srcOrd="0" destOrd="0" presId="urn:microsoft.com/office/officeart/2008/layout/LinedList"/>
    <dgm:cxn modelId="{084C6B46-5854-492B-9A30-46B6573D5032}" type="presParOf" srcId="{B7A94C84-30A2-4B93-AD2D-4A9AEE57B88A}" destId="{0CBAC9C3-837A-49F2-8FDA-96E902A23153}" srcOrd="1" destOrd="0" presId="urn:microsoft.com/office/officeart/2008/layout/LinedList"/>
    <dgm:cxn modelId="{C3CC5B01-43B3-4578-BEF2-C0BB5CA5AB4E}" type="presParOf" srcId="{0CBAC9C3-837A-49F2-8FDA-96E902A23153}" destId="{6ACF89F2-F6EA-4CCE-8F4B-D06E7EF6C86E}" srcOrd="0" destOrd="0" presId="urn:microsoft.com/office/officeart/2008/layout/LinedList"/>
    <dgm:cxn modelId="{19F998D4-C9C7-4067-B103-0AEA4E23699B}" type="presParOf" srcId="{0CBAC9C3-837A-49F2-8FDA-96E902A23153}" destId="{95082ECB-289E-47B0-AC5C-0E17FAB2F8DD}" srcOrd="1" destOrd="0" presId="urn:microsoft.com/office/officeart/2008/layout/LinedList"/>
    <dgm:cxn modelId="{0248823B-A816-431D-A775-D6F1ECBA430A}" type="presParOf" srcId="{B7A94C84-30A2-4B93-AD2D-4A9AEE57B88A}" destId="{B3E2F5BE-B38E-4886-9E7E-B11B87B81F76}" srcOrd="2" destOrd="0" presId="urn:microsoft.com/office/officeart/2008/layout/LinedList"/>
    <dgm:cxn modelId="{AF2638C5-2DA0-4C65-B55B-7DB9A34E10E3}" type="presParOf" srcId="{B7A94C84-30A2-4B93-AD2D-4A9AEE57B88A}" destId="{DFB864E3-15FB-4EF7-A015-73EA7781D4FC}" srcOrd="3" destOrd="0" presId="urn:microsoft.com/office/officeart/2008/layout/LinedList"/>
    <dgm:cxn modelId="{B6C3A468-4AC4-40F7-9979-2AD7C3EC0EA5}" type="presParOf" srcId="{DFB864E3-15FB-4EF7-A015-73EA7781D4FC}" destId="{AF6BB485-251F-4719-96A5-F458CF9886B5}" srcOrd="0" destOrd="0" presId="urn:microsoft.com/office/officeart/2008/layout/LinedList"/>
    <dgm:cxn modelId="{7AFA7971-FA37-4DDA-9C80-4905940862BE}" type="presParOf" srcId="{DFB864E3-15FB-4EF7-A015-73EA7781D4FC}" destId="{A5600B0D-32F1-477C-AFCD-8917342C2F1D}" srcOrd="1" destOrd="0" presId="urn:microsoft.com/office/officeart/2008/layout/LinedList"/>
    <dgm:cxn modelId="{61099A23-32CD-4BD8-A67D-3A41EFD5F333}" type="presParOf" srcId="{B7A94C84-30A2-4B93-AD2D-4A9AEE57B88A}" destId="{2BE85E77-1536-470A-A2C8-A8D4F4C518FB}" srcOrd="4" destOrd="0" presId="urn:microsoft.com/office/officeart/2008/layout/LinedList"/>
    <dgm:cxn modelId="{FF4CFE48-F049-462A-992A-363C84B71638}" type="presParOf" srcId="{B7A94C84-30A2-4B93-AD2D-4A9AEE57B88A}" destId="{EDD3F696-7A94-4793-8912-887A3D927E26}" srcOrd="5" destOrd="0" presId="urn:microsoft.com/office/officeart/2008/layout/LinedList"/>
    <dgm:cxn modelId="{D269EC5A-16E0-498E-8E4B-1EA3957C1BFF}" type="presParOf" srcId="{EDD3F696-7A94-4793-8912-887A3D927E26}" destId="{64FE94C7-312F-434A-B1E6-EC86E6F02F6F}" srcOrd="0" destOrd="0" presId="urn:microsoft.com/office/officeart/2008/layout/LinedList"/>
    <dgm:cxn modelId="{331F8898-2553-406E-A09A-2C736A22E441}" type="presParOf" srcId="{EDD3F696-7A94-4793-8912-887A3D927E26}" destId="{F44CDF05-400E-477E-A3C3-6B5B5897032B}" srcOrd="1" destOrd="0" presId="urn:microsoft.com/office/officeart/2008/layout/LinedList"/>
    <dgm:cxn modelId="{8DB1B4ED-25AF-4D0B-95AF-640454137E6A}" type="presParOf" srcId="{B7A94C84-30A2-4B93-AD2D-4A9AEE57B88A}" destId="{733BC186-382F-4153-B456-C3BC2B289539}" srcOrd="6" destOrd="0" presId="urn:microsoft.com/office/officeart/2008/layout/LinedList"/>
    <dgm:cxn modelId="{7B744C44-CB51-4735-9BCB-CE46C27326B7}" type="presParOf" srcId="{B7A94C84-30A2-4B93-AD2D-4A9AEE57B88A}" destId="{7E4FEA78-59F4-403A-ADB3-7C0DF07676D3}" srcOrd="7" destOrd="0" presId="urn:microsoft.com/office/officeart/2008/layout/LinedList"/>
    <dgm:cxn modelId="{5E4A5F48-6044-472E-AB41-61DC3B8D9714}" type="presParOf" srcId="{7E4FEA78-59F4-403A-ADB3-7C0DF07676D3}" destId="{D147C2EB-321A-4627-B2F2-6DC2AE01E4A5}" srcOrd="0" destOrd="0" presId="urn:microsoft.com/office/officeart/2008/layout/LinedList"/>
    <dgm:cxn modelId="{3A8596CC-ED72-4B2F-85D6-92731FB95F64}" type="presParOf" srcId="{7E4FEA78-59F4-403A-ADB3-7C0DF07676D3}" destId="{691DCD84-F073-4A12-9937-72A50FDBDBC7}" srcOrd="1" destOrd="0" presId="urn:microsoft.com/office/officeart/2008/layout/LinedList"/>
    <dgm:cxn modelId="{9465E0D9-8874-4C31-93A7-6003D424C2D9}" type="presParOf" srcId="{B7A94C84-30A2-4B93-AD2D-4A9AEE57B88A}" destId="{DBA87043-B7A9-4F77-958C-EFBFFA808490}" srcOrd="8" destOrd="0" presId="urn:microsoft.com/office/officeart/2008/layout/LinedList"/>
    <dgm:cxn modelId="{54D9DFD4-6AAD-4C59-83E6-BE304D5CED6B}" type="presParOf" srcId="{B7A94C84-30A2-4B93-AD2D-4A9AEE57B88A}" destId="{47FDE331-0CC4-4215-B9E7-CEF2EA9DFFED}" srcOrd="9" destOrd="0" presId="urn:microsoft.com/office/officeart/2008/layout/LinedList"/>
    <dgm:cxn modelId="{4C6A2630-74BC-462C-8DB6-4AD21068B349}" type="presParOf" srcId="{47FDE331-0CC4-4215-B9E7-CEF2EA9DFFED}" destId="{6CF7E3DB-287E-4A9C-84D5-0D9A91B2EAEA}" srcOrd="0" destOrd="0" presId="urn:microsoft.com/office/officeart/2008/layout/LinedList"/>
    <dgm:cxn modelId="{CC075D2F-ADB8-4FA1-B916-F7B82C9B9785}" type="presParOf" srcId="{47FDE331-0CC4-4215-B9E7-CEF2EA9DFFED}" destId="{3AA070BC-9510-440C-A55B-6E963DED554E}"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3CC0DC-CB24-4B29-9AF7-C6E411D97227}">
      <dsp:nvSpPr>
        <dsp:cNvPr id="0" name=""/>
        <dsp:cNvSpPr/>
      </dsp:nvSpPr>
      <dsp:spPr>
        <a:xfrm>
          <a:off x="0" y="729"/>
          <a:ext cx="6879517"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ACF89F2-F6EA-4CCE-8F4B-D06E7EF6C86E}">
      <dsp:nvSpPr>
        <dsp:cNvPr id="0" name=""/>
        <dsp:cNvSpPr/>
      </dsp:nvSpPr>
      <dsp:spPr>
        <a:xfrm>
          <a:off x="0" y="729"/>
          <a:ext cx="6879517" cy="11943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en-US" sz="4000" b="0" i="0" kern="1200" baseline="0"/>
            <a:t>Selection of study subjects</a:t>
          </a:r>
          <a:endParaRPr lang="en-US" sz="4000" kern="1200"/>
        </a:p>
      </dsp:txBody>
      <dsp:txXfrm>
        <a:off x="0" y="729"/>
        <a:ext cx="6879517" cy="1194354"/>
      </dsp:txXfrm>
    </dsp:sp>
    <dsp:sp modelId="{B3E2F5BE-B38E-4886-9E7E-B11B87B81F76}">
      <dsp:nvSpPr>
        <dsp:cNvPr id="0" name=""/>
        <dsp:cNvSpPr/>
      </dsp:nvSpPr>
      <dsp:spPr>
        <a:xfrm>
          <a:off x="0" y="1195083"/>
          <a:ext cx="6879517" cy="0"/>
        </a:xfrm>
        <a:prstGeom prst="line">
          <a:avLst/>
        </a:prstGeom>
        <a:solidFill>
          <a:schemeClr val="accent2">
            <a:hueOff val="-4650013"/>
            <a:satOff val="145"/>
            <a:lumOff val="-1471"/>
            <a:alphaOff val="0"/>
          </a:schemeClr>
        </a:solidFill>
        <a:ln w="12700" cap="flat" cmpd="sng" algn="ctr">
          <a:solidFill>
            <a:schemeClr val="accent2">
              <a:hueOff val="-4650013"/>
              <a:satOff val="145"/>
              <a:lumOff val="-147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F6BB485-251F-4719-96A5-F458CF9886B5}">
      <dsp:nvSpPr>
        <dsp:cNvPr id="0" name=""/>
        <dsp:cNvSpPr/>
      </dsp:nvSpPr>
      <dsp:spPr>
        <a:xfrm>
          <a:off x="0" y="1195083"/>
          <a:ext cx="6879517" cy="11943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en-US" sz="4000" b="0" i="0" kern="1200" baseline="0"/>
            <a:t>Obtaining data on exposure</a:t>
          </a:r>
          <a:endParaRPr lang="en-US" sz="4000" kern="1200"/>
        </a:p>
      </dsp:txBody>
      <dsp:txXfrm>
        <a:off x="0" y="1195083"/>
        <a:ext cx="6879517" cy="1194354"/>
      </dsp:txXfrm>
    </dsp:sp>
    <dsp:sp modelId="{2BE85E77-1536-470A-A2C8-A8D4F4C518FB}">
      <dsp:nvSpPr>
        <dsp:cNvPr id="0" name=""/>
        <dsp:cNvSpPr/>
      </dsp:nvSpPr>
      <dsp:spPr>
        <a:xfrm>
          <a:off x="0" y="2389437"/>
          <a:ext cx="6879517" cy="0"/>
        </a:xfrm>
        <a:prstGeom prst="line">
          <a:avLst/>
        </a:prstGeom>
        <a:solidFill>
          <a:schemeClr val="accent2">
            <a:hueOff val="-9300026"/>
            <a:satOff val="290"/>
            <a:lumOff val="-2941"/>
            <a:alphaOff val="0"/>
          </a:schemeClr>
        </a:solidFill>
        <a:ln w="12700" cap="flat" cmpd="sng" algn="ctr">
          <a:solidFill>
            <a:schemeClr val="accent2">
              <a:hueOff val="-9300026"/>
              <a:satOff val="290"/>
              <a:lumOff val="-294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4FE94C7-312F-434A-B1E6-EC86E6F02F6F}">
      <dsp:nvSpPr>
        <dsp:cNvPr id="0" name=""/>
        <dsp:cNvSpPr/>
      </dsp:nvSpPr>
      <dsp:spPr>
        <a:xfrm>
          <a:off x="0" y="2389437"/>
          <a:ext cx="6879517" cy="11943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en-US" sz="4000" b="0" i="0" kern="1200" baseline="0"/>
            <a:t>Selection of comparison groups</a:t>
          </a:r>
          <a:endParaRPr lang="en-US" sz="4000" kern="1200"/>
        </a:p>
      </dsp:txBody>
      <dsp:txXfrm>
        <a:off x="0" y="2389437"/>
        <a:ext cx="6879517" cy="1194354"/>
      </dsp:txXfrm>
    </dsp:sp>
    <dsp:sp modelId="{733BC186-382F-4153-B456-C3BC2B289539}">
      <dsp:nvSpPr>
        <dsp:cNvPr id="0" name=""/>
        <dsp:cNvSpPr/>
      </dsp:nvSpPr>
      <dsp:spPr>
        <a:xfrm>
          <a:off x="0" y="3583792"/>
          <a:ext cx="6879517" cy="0"/>
        </a:xfrm>
        <a:prstGeom prst="line">
          <a:avLst/>
        </a:prstGeom>
        <a:solidFill>
          <a:schemeClr val="accent2">
            <a:hueOff val="-13950038"/>
            <a:satOff val="435"/>
            <a:lumOff val="-4412"/>
            <a:alphaOff val="0"/>
          </a:schemeClr>
        </a:solidFill>
        <a:ln w="12700" cap="flat" cmpd="sng" algn="ctr">
          <a:solidFill>
            <a:schemeClr val="accent2">
              <a:hueOff val="-13950038"/>
              <a:satOff val="435"/>
              <a:lumOff val="-441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147C2EB-321A-4627-B2F2-6DC2AE01E4A5}">
      <dsp:nvSpPr>
        <dsp:cNvPr id="0" name=""/>
        <dsp:cNvSpPr/>
      </dsp:nvSpPr>
      <dsp:spPr>
        <a:xfrm>
          <a:off x="0" y="3583792"/>
          <a:ext cx="6879517" cy="11943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en-US" sz="4000" b="0" i="0" kern="1200" baseline="0"/>
            <a:t>Follow-up</a:t>
          </a:r>
          <a:endParaRPr lang="en-US" sz="4000" kern="1200"/>
        </a:p>
      </dsp:txBody>
      <dsp:txXfrm>
        <a:off x="0" y="3583792"/>
        <a:ext cx="6879517" cy="1194354"/>
      </dsp:txXfrm>
    </dsp:sp>
    <dsp:sp modelId="{DBA87043-B7A9-4F77-958C-EFBFFA808490}">
      <dsp:nvSpPr>
        <dsp:cNvPr id="0" name=""/>
        <dsp:cNvSpPr/>
      </dsp:nvSpPr>
      <dsp:spPr>
        <a:xfrm>
          <a:off x="0" y="4778146"/>
          <a:ext cx="6879517" cy="0"/>
        </a:xfrm>
        <a:prstGeom prst="line">
          <a:avLst/>
        </a:prstGeom>
        <a:solidFill>
          <a:schemeClr val="accent2">
            <a:hueOff val="-18600051"/>
            <a:satOff val="580"/>
            <a:lumOff val="-5882"/>
            <a:alphaOff val="0"/>
          </a:schemeClr>
        </a:solidFill>
        <a:ln w="12700" cap="flat" cmpd="sng" algn="ctr">
          <a:solidFill>
            <a:schemeClr val="accent2">
              <a:hueOff val="-18600051"/>
              <a:satOff val="580"/>
              <a:lumOff val="-588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F7E3DB-287E-4A9C-84D5-0D9A91B2EAEA}">
      <dsp:nvSpPr>
        <dsp:cNvPr id="0" name=""/>
        <dsp:cNvSpPr/>
      </dsp:nvSpPr>
      <dsp:spPr>
        <a:xfrm>
          <a:off x="0" y="4778146"/>
          <a:ext cx="6879517" cy="11943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en-US" sz="4000" b="0" i="0" kern="1200" baseline="0"/>
            <a:t>Analysis.</a:t>
          </a:r>
          <a:endParaRPr lang="en-US" sz="4000" kern="1200"/>
        </a:p>
      </dsp:txBody>
      <dsp:txXfrm>
        <a:off x="0" y="4778146"/>
        <a:ext cx="6879517" cy="1194354"/>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28808-26D1-4F4B-96F4-F3082078DD61}"/>
              </a:ext>
            </a:extLst>
          </p:cNvPr>
          <p:cNvSpPr>
            <a:spLocks noGrp="1"/>
          </p:cNvSpPr>
          <p:nvPr>
            <p:ph type="ctrTitle"/>
          </p:nvPr>
        </p:nvSpPr>
        <p:spPr>
          <a:xfrm>
            <a:off x="1257008" y="1122362"/>
            <a:ext cx="8816632" cy="3571557"/>
          </a:xfrm>
        </p:spPr>
        <p:txBody>
          <a:bodyPr anchor="b">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2E0C639-B0CD-4365-98A9-C1E5FF6CF450}"/>
              </a:ext>
            </a:extLst>
          </p:cNvPr>
          <p:cNvSpPr>
            <a:spLocks noGrp="1"/>
          </p:cNvSpPr>
          <p:nvPr>
            <p:ph type="subTitle" idx="1"/>
          </p:nvPr>
        </p:nvSpPr>
        <p:spPr>
          <a:xfrm>
            <a:off x="1257008" y="5521960"/>
            <a:ext cx="8816632" cy="944879"/>
          </a:xfrm>
        </p:spPr>
        <p:txBody>
          <a:bodyPr anchor="ct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C6780C52-E6BB-4B27-B5D8-2D33B2497C56}"/>
              </a:ext>
            </a:extLst>
          </p:cNvPr>
          <p:cNvSpPr>
            <a:spLocks noGrp="1"/>
          </p:cNvSpPr>
          <p:nvPr>
            <p:ph type="dt" sz="half" idx="10"/>
          </p:nvPr>
        </p:nvSpPr>
        <p:spPr/>
        <p:txBody>
          <a:bodyPr/>
          <a:lstStyle/>
          <a:p>
            <a:fld id="{F6CCBF3A-D7FB-4B97-8FD5-6FFB20CB1E84}" type="datetimeFigureOut">
              <a:rPr lang="en-US" smtClean="0"/>
              <a:t>5/8/2024</a:t>
            </a:fld>
            <a:endParaRPr lang="en-US"/>
          </a:p>
        </p:txBody>
      </p:sp>
      <p:sp>
        <p:nvSpPr>
          <p:cNvPr id="5" name="Footer Placeholder 4">
            <a:extLst>
              <a:ext uri="{FF2B5EF4-FFF2-40B4-BE49-F238E27FC236}">
                <a16:creationId xmlns:a16="http://schemas.microsoft.com/office/drawing/2014/main" id="{AF77C649-4A0C-4EF2-8FC1-2BCF0BF95D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0E03F2-D0FE-49BB-8AEC-E99C4DB2D67D}"/>
              </a:ext>
            </a:extLst>
          </p:cNvPr>
          <p:cNvSpPr>
            <a:spLocks noGrp="1"/>
          </p:cNvSpPr>
          <p:nvPr>
            <p:ph type="sldNum" sz="quarter" idx="12"/>
          </p:nvPr>
        </p:nvSpPr>
        <p:spPr/>
        <p:txBody>
          <a:bodyPr/>
          <a:lstStyle/>
          <a:p>
            <a:fld id="{3109D357-8067-4A1F-97B2-93C5160B78D9}" type="slidenum">
              <a:rPr lang="en-US" smtClean="0"/>
              <a:t>‹#›</a:t>
            </a:fld>
            <a:endParaRPr lang="en-US"/>
          </a:p>
        </p:txBody>
      </p:sp>
      <p:cxnSp>
        <p:nvCxnSpPr>
          <p:cNvPr id="16" name="Straight Connector 15">
            <a:extLst>
              <a:ext uri="{FF2B5EF4-FFF2-40B4-BE49-F238E27FC236}">
                <a16:creationId xmlns:a16="http://schemas.microsoft.com/office/drawing/2014/main" id="{24A7CC8F-56A6-423D-B67A-8BA89D3EC911}"/>
              </a:ext>
            </a:extLst>
          </p:cNvPr>
          <p:cNvCxnSpPr>
            <a:cxnSpLocks/>
          </p:cNvCxnSpPr>
          <p:nvPr/>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34951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05B5E-C545-4763-BA47-4C2C0FCA514D}"/>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7FA263F8-8E34-4910-BF7A-F1C5A99689D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6E74E5-D20D-4AB7-8D98-F336CE0ECCBE}"/>
              </a:ext>
            </a:extLst>
          </p:cNvPr>
          <p:cNvSpPr>
            <a:spLocks noGrp="1"/>
          </p:cNvSpPr>
          <p:nvPr>
            <p:ph type="dt" sz="half" idx="10"/>
          </p:nvPr>
        </p:nvSpPr>
        <p:spPr/>
        <p:txBody>
          <a:bodyPr/>
          <a:lstStyle/>
          <a:p>
            <a:fld id="{F6CCBF3A-D7FB-4B97-8FD5-6FFB20CB1E84}" type="datetimeFigureOut">
              <a:rPr lang="en-US" smtClean="0"/>
              <a:t>5/8/2024</a:t>
            </a:fld>
            <a:endParaRPr lang="en-US"/>
          </a:p>
        </p:txBody>
      </p:sp>
      <p:sp>
        <p:nvSpPr>
          <p:cNvPr id="5" name="Footer Placeholder 4">
            <a:extLst>
              <a:ext uri="{FF2B5EF4-FFF2-40B4-BE49-F238E27FC236}">
                <a16:creationId xmlns:a16="http://schemas.microsoft.com/office/drawing/2014/main" id="{C79D23AA-8F22-4B09-8FAA-CD16E5D66C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E8A028-A0C8-45E7-915E-B83FF59C9F18}"/>
              </a:ext>
            </a:extLst>
          </p:cNvPr>
          <p:cNvSpPr>
            <a:spLocks noGrp="1"/>
          </p:cNvSpPr>
          <p:nvPr>
            <p:ph type="sldNum" sz="quarter" idx="12"/>
          </p:nvPr>
        </p:nvSpPr>
        <p:spPr/>
        <p:txBody>
          <a:bodyPr/>
          <a:lstStyle/>
          <a:p>
            <a:fld id="{3109D357-8067-4A1F-97B2-93C5160B78D9}" type="slidenum">
              <a:rPr lang="en-US" smtClean="0"/>
              <a:t>‹#›</a:t>
            </a:fld>
            <a:endParaRPr lang="en-US"/>
          </a:p>
        </p:txBody>
      </p:sp>
    </p:spTree>
    <p:extLst>
      <p:ext uri="{BB962C8B-B14F-4D97-AF65-F5344CB8AC3E}">
        <p14:creationId xmlns:p14="http://schemas.microsoft.com/office/powerpoint/2010/main" val="13802633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9F01F-198D-4AAD-B4FB-AD3B44981ADD}"/>
              </a:ext>
            </a:extLst>
          </p:cNvPr>
          <p:cNvSpPr>
            <a:spLocks noGrp="1"/>
          </p:cNvSpPr>
          <p:nvPr>
            <p:ph type="title"/>
          </p:nvPr>
        </p:nvSpPr>
        <p:spPr>
          <a:xfrm>
            <a:off x="838200" y="838200"/>
            <a:ext cx="9438640" cy="4114800"/>
          </a:xfrm>
        </p:spPr>
        <p:txBody>
          <a:bodyPr anchor="t">
            <a:normAutofit/>
          </a:bodyPr>
          <a:lstStyle>
            <a:lvl1pPr>
              <a:defRPr sz="66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20BCC2B-311B-4FB6-B3A5-26F68055AE38}"/>
              </a:ext>
            </a:extLst>
          </p:cNvPr>
          <p:cNvSpPr>
            <a:spLocks noGrp="1"/>
          </p:cNvSpPr>
          <p:nvPr>
            <p:ph type="body" idx="1"/>
          </p:nvPr>
        </p:nvSpPr>
        <p:spPr>
          <a:xfrm>
            <a:off x="838200" y="5217160"/>
            <a:ext cx="9438640" cy="802640"/>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9CB73D-2D6B-4FA6-89A4-DCC89F80E0F1}"/>
              </a:ext>
            </a:extLst>
          </p:cNvPr>
          <p:cNvSpPr>
            <a:spLocks noGrp="1"/>
          </p:cNvSpPr>
          <p:nvPr>
            <p:ph type="dt" sz="half" idx="10"/>
          </p:nvPr>
        </p:nvSpPr>
        <p:spPr/>
        <p:txBody>
          <a:bodyPr/>
          <a:lstStyle/>
          <a:p>
            <a:fld id="{F6CCBF3A-D7FB-4B97-8FD5-6FFB20CB1E84}" type="datetimeFigureOut">
              <a:rPr lang="en-US" smtClean="0"/>
              <a:t>5/8/2024</a:t>
            </a:fld>
            <a:endParaRPr lang="en-US"/>
          </a:p>
        </p:txBody>
      </p:sp>
      <p:sp>
        <p:nvSpPr>
          <p:cNvPr id="5" name="Footer Placeholder 4">
            <a:extLst>
              <a:ext uri="{FF2B5EF4-FFF2-40B4-BE49-F238E27FC236}">
                <a16:creationId xmlns:a16="http://schemas.microsoft.com/office/drawing/2014/main" id="{B6A0C188-FF43-44C1-A005-679168D5F0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CD1188-DA27-47B2-8176-31193EEC4C28}"/>
              </a:ext>
            </a:extLst>
          </p:cNvPr>
          <p:cNvSpPr>
            <a:spLocks noGrp="1"/>
          </p:cNvSpPr>
          <p:nvPr>
            <p:ph type="sldNum" sz="quarter" idx="12"/>
          </p:nvPr>
        </p:nvSpPr>
        <p:spPr/>
        <p:txBody>
          <a:bodyPr/>
          <a:lstStyle/>
          <a:p>
            <a:fld id="{3109D357-8067-4A1F-97B2-93C5160B78D9}" type="slidenum">
              <a:rPr lang="en-US" smtClean="0"/>
              <a:t>‹#›</a:t>
            </a:fld>
            <a:endParaRPr lang="en-US"/>
          </a:p>
        </p:txBody>
      </p:sp>
    </p:spTree>
    <p:extLst>
      <p:ext uri="{BB962C8B-B14F-4D97-AF65-F5344CB8AC3E}">
        <p14:creationId xmlns:p14="http://schemas.microsoft.com/office/powerpoint/2010/main" val="2525514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B5A25-7E99-42A8-8D6D-648EFE2038F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30501DC-62B7-42BD-A941-D34E92719C32}"/>
              </a:ext>
            </a:extLst>
          </p:cNvPr>
          <p:cNvSpPr>
            <a:spLocks noGrp="1"/>
          </p:cNvSpPr>
          <p:nvPr>
            <p:ph sz="half" idx="1"/>
          </p:nvPr>
        </p:nvSpPr>
        <p:spPr>
          <a:xfrm>
            <a:off x="838200" y="2011679"/>
            <a:ext cx="5181600" cy="41652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3765C5C1-4FD4-4958-99A0-BDADECA336BD}"/>
              </a:ext>
            </a:extLst>
          </p:cNvPr>
          <p:cNvSpPr>
            <a:spLocks noGrp="1"/>
          </p:cNvSpPr>
          <p:nvPr>
            <p:ph sz="half" idx="2"/>
          </p:nvPr>
        </p:nvSpPr>
        <p:spPr>
          <a:xfrm>
            <a:off x="6172200" y="2011679"/>
            <a:ext cx="5181600" cy="41652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BD1B234-5D54-44E5-B41D-B205AAF50305}"/>
              </a:ext>
            </a:extLst>
          </p:cNvPr>
          <p:cNvSpPr>
            <a:spLocks noGrp="1"/>
          </p:cNvSpPr>
          <p:nvPr>
            <p:ph type="dt" sz="half" idx="10"/>
          </p:nvPr>
        </p:nvSpPr>
        <p:spPr/>
        <p:txBody>
          <a:bodyPr/>
          <a:lstStyle/>
          <a:p>
            <a:fld id="{F6CCBF3A-D7FB-4B97-8FD5-6FFB20CB1E84}" type="datetimeFigureOut">
              <a:rPr lang="en-US" smtClean="0"/>
              <a:t>5/8/2024</a:t>
            </a:fld>
            <a:endParaRPr lang="en-US"/>
          </a:p>
        </p:txBody>
      </p:sp>
      <p:sp>
        <p:nvSpPr>
          <p:cNvPr id="6" name="Footer Placeholder 5">
            <a:extLst>
              <a:ext uri="{FF2B5EF4-FFF2-40B4-BE49-F238E27FC236}">
                <a16:creationId xmlns:a16="http://schemas.microsoft.com/office/drawing/2014/main" id="{0E67BCDB-6B96-45D6-B5E9-823A96EBD9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239C5F-F16F-4AFD-98D1-FA3BB96AF2CD}"/>
              </a:ext>
            </a:extLst>
          </p:cNvPr>
          <p:cNvSpPr>
            <a:spLocks noGrp="1"/>
          </p:cNvSpPr>
          <p:nvPr>
            <p:ph type="sldNum" sz="quarter" idx="12"/>
          </p:nvPr>
        </p:nvSpPr>
        <p:spPr/>
        <p:txBody>
          <a:bodyPr/>
          <a:lstStyle/>
          <a:p>
            <a:fld id="{3109D357-8067-4A1F-97B2-93C5160B78D9}" type="slidenum">
              <a:rPr lang="en-US" smtClean="0"/>
              <a:t>‹#›</a:t>
            </a:fld>
            <a:endParaRPr lang="en-US"/>
          </a:p>
        </p:txBody>
      </p:sp>
    </p:spTree>
    <p:extLst>
      <p:ext uri="{BB962C8B-B14F-4D97-AF65-F5344CB8AC3E}">
        <p14:creationId xmlns:p14="http://schemas.microsoft.com/office/powerpoint/2010/main" val="22008180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44C1F-0040-4BBF-81A6-FD2E30637B0C}"/>
              </a:ext>
            </a:extLst>
          </p:cNvPr>
          <p:cNvSpPr>
            <a:spLocks noGrp="1"/>
          </p:cNvSpPr>
          <p:nvPr>
            <p:ph type="title"/>
          </p:nvPr>
        </p:nvSpPr>
        <p:spPr>
          <a:xfrm>
            <a:off x="839788" y="379780"/>
            <a:ext cx="10515600"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E2894A7-1DA1-44C1-8ED0-716279430690}"/>
              </a:ext>
            </a:extLst>
          </p:cNvPr>
          <p:cNvSpPr>
            <a:spLocks noGrp="1"/>
          </p:cNvSpPr>
          <p:nvPr>
            <p:ph type="body" idx="1"/>
          </p:nvPr>
        </p:nvSpPr>
        <p:spPr>
          <a:xfrm>
            <a:off x="839789" y="1824035"/>
            <a:ext cx="4997132" cy="681040"/>
          </a:xfrm>
        </p:spPr>
        <p:txBody>
          <a:bodyPr anchor="b"/>
          <a:lstStyle>
            <a:lvl1pPr marL="0" indent="0">
              <a:buNone/>
              <a:defRPr sz="2400" b="1" i="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09AB945-31E2-4B60-9076-CBB8F8594949}"/>
              </a:ext>
            </a:extLst>
          </p:cNvPr>
          <p:cNvSpPr>
            <a:spLocks noGrp="1"/>
          </p:cNvSpPr>
          <p:nvPr>
            <p:ph sz="half" idx="2"/>
          </p:nvPr>
        </p:nvSpPr>
        <p:spPr>
          <a:xfrm>
            <a:off x="839789" y="2505075"/>
            <a:ext cx="499713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771B3EA-2E84-4B8B-A104-81BD577424AD}"/>
              </a:ext>
            </a:extLst>
          </p:cNvPr>
          <p:cNvSpPr>
            <a:spLocks noGrp="1"/>
          </p:cNvSpPr>
          <p:nvPr>
            <p:ph type="body" sz="quarter" idx="3"/>
          </p:nvPr>
        </p:nvSpPr>
        <p:spPr>
          <a:xfrm>
            <a:off x="6355080" y="1824035"/>
            <a:ext cx="5000308" cy="681040"/>
          </a:xfrm>
        </p:spPr>
        <p:txBody>
          <a:bodyPr anchor="b"/>
          <a:lstStyle>
            <a:lvl1pPr marL="0" indent="0">
              <a:buNone/>
              <a:defRPr sz="2400" b="1" i="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8511AB8-302C-476E-B80A-AA739911E304}"/>
              </a:ext>
            </a:extLst>
          </p:cNvPr>
          <p:cNvSpPr>
            <a:spLocks noGrp="1"/>
          </p:cNvSpPr>
          <p:nvPr>
            <p:ph sz="quarter" idx="4"/>
          </p:nvPr>
        </p:nvSpPr>
        <p:spPr>
          <a:xfrm>
            <a:off x="6355080" y="2505075"/>
            <a:ext cx="500030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8B47C29-FE34-4E6E-9921-78C54673AAD9}"/>
              </a:ext>
            </a:extLst>
          </p:cNvPr>
          <p:cNvSpPr>
            <a:spLocks noGrp="1"/>
          </p:cNvSpPr>
          <p:nvPr>
            <p:ph type="dt" sz="half" idx="10"/>
          </p:nvPr>
        </p:nvSpPr>
        <p:spPr/>
        <p:txBody>
          <a:bodyPr/>
          <a:lstStyle/>
          <a:p>
            <a:fld id="{F6CCBF3A-D7FB-4B97-8FD5-6FFB20CB1E84}" type="datetimeFigureOut">
              <a:rPr lang="en-US" smtClean="0"/>
              <a:t>5/8/2024</a:t>
            </a:fld>
            <a:endParaRPr lang="en-US"/>
          </a:p>
        </p:txBody>
      </p:sp>
      <p:sp>
        <p:nvSpPr>
          <p:cNvPr id="8" name="Footer Placeholder 7">
            <a:extLst>
              <a:ext uri="{FF2B5EF4-FFF2-40B4-BE49-F238E27FC236}">
                <a16:creationId xmlns:a16="http://schemas.microsoft.com/office/drawing/2014/main" id="{3CF6B420-A9CE-4BB6-A653-5C3ABC7D677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21DF8FE-1179-4798-B16D-AF1DFA266D4D}"/>
              </a:ext>
            </a:extLst>
          </p:cNvPr>
          <p:cNvSpPr>
            <a:spLocks noGrp="1"/>
          </p:cNvSpPr>
          <p:nvPr>
            <p:ph type="sldNum" sz="quarter" idx="12"/>
          </p:nvPr>
        </p:nvSpPr>
        <p:spPr/>
        <p:txBody>
          <a:bodyPr/>
          <a:lstStyle/>
          <a:p>
            <a:fld id="{3109D357-8067-4A1F-97B2-93C5160B78D9}" type="slidenum">
              <a:rPr lang="en-US" smtClean="0"/>
              <a:t>‹#›</a:t>
            </a:fld>
            <a:endParaRPr lang="en-US"/>
          </a:p>
        </p:txBody>
      </p:sp>
    </p:spTree>
    <p:extLst>
      <p:ext uri="{BB962C8B-B14F-4D97-AF65-F5344CB8AC3E}">
        <p14:creationId xmlns:p14="http://schemas.microsoft.com/office/powerpoint/2010/main" val="17759142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66F1A-0A68-4048-808F-CD7A9F3B0846}"/>
              </a:ext>
            </a:extLst>
          </p:cNvPr>
          <p:cNvSpPr>
            <a:spLocks noGrp="1"/>
          </p:cNvSpPr>
          <p:nvPr>
            <p:ph type="title"/>
          </p:nvPr>
        </p:nvSpPr>
        <p:spPr>
          <a:xfrm>
            <a:off x="838200" y="999592"/>
            <a:ext cx="10515600" cy="1573223"/>
          </a:xfrm>
        </p:spPr>
        <p:txBody>
          <a:bodyPr anchor="t"/>
          <a:lstStyle/>
          <a:p>
            <a:r>
              <a:rPr lang="en-US"/>
              <a:t>Click to edit Master title style</a:t>
            </a:r>
            <a:endParaRPr lang="en-US" dirty="0"/>
          </a:p>
        </p:txBody>
      </p:sp>
      <p:sp>
        <p:nvSpPr>
          <p:cNvPr id="3" name="Date Placeholder 2">
            <a:extLst>
              <a:ext uri="{FF2B5EF4-FFF2-40B4-BE49-F238E27FC236}">
                <a16:creationId xmlns:a16="http://schemas.microsoft.com/office/drawing/2014/main" id="{28ACB3E6-5365-48F5-8D2A-0B002BA357E3}"/>
              </a:ext>
            </a:extLst>
          </p:cNvPr>
          <p:cNvSpPr>
            <a:spLocks noGrp="1"/>
          </p:cNvSpPr>
          <p:nvPr>
            <p:ph type="dt" sz="half" idx="10"/>
          </p:nvPr>
        </p:nvSpPr>
        <p:spPr/>
        <p:txBody>
          <a:bodyPr/>
          <a:lstStyle/>
          <a:p>
            <a:fld id="{F6CCBF3A-D7FB-4B97-8FD5-6FFB20CB1E84}" type="datetimeFigureOut">
              <a:rPr lang="en-US" smtClean="0"/>
              <a:t>5/8/2024</a:t>
            </a:fld>
            <a:endParaRPr lang="en-US"/>
          </a:p>
        </p:txBody>
      </p:sp>
      <p:sp>
        <p:nvSpPr>
          <p:cNvPr id="4" name="Footer Placeholder 3">
            <a:extLst>
              <a:ext uri="{FF2B5EF4-FFF2-40B4-BE49-F238E27FC236}">
                <a16:creationId xmlns:a16="http://schemas.microsoft.com/office/drawing/2014/main" id="{FF7D8EE9-4D97-4B2F-8D38-41CB9EE7745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12C5952-0A27-4FAB-A3FD-12003787676B}"/>
              </a:ext>
            </a:extLst>
          </p:cNvPr>
          <p:cNvSpPr>
            <a:spLocks noGrp="1"/>
          </p:cNvSpPr>
          <p:nvPr>
            <p:ph type="sldNum" sz="quarter" idx="12"/>
          </p:nvPr>
        </p:nvSpPr>
        <p:spPr/>
        <p:txBody>
          <a:bodyPr/>
          <a:lstStyle/>
          <a:p>
            <a:fld id="{3109D357-8067-4A1F-97B2-93C5160B78D9}" type="slidenum">
              <a:rPr lang="en-US" smtClean="0"/>
              <a:t>‹#›</a:t>
            </a:fld>
            <a:endParaRPr lang="en-US"/>
          </a:p>
        </p:txBody>
      </p:sp>
    </p:spTree>
    <p:extLst>
      <p:ext uri="{BB962C8B-B14F-4D97-AF65-F5344CB8AC3E}">
        <p14:creationId xmlns:p14="http://schemas.microsoft.com/office/powerpoint/2010/main" val="40154331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D08427-909D-4679-9192-BC99557A7D06}"/>
              </a:ext>
            </a:extLst>
          </p:cNvPr>
          <p:cNvSpPr>
            <a:spLocks noGrp="1"/>
          </p:cNvSpPr>
          <p:nvPr>
            <p:ph type="dt" sz="half" idx="10"/>
          </p:nvPr>
        </p:nvSpPr>
        <p:spPr/>
        <p:txBody>
          <a:bodyPr/>
          <a:lstStyle/>
          <a:p>
            <a:fld id="{F6CCBF3A-D7FB-4B97-8FD5-6FFB20CB1E84}" type="datetimeFigureOut">
              <a:rPr lang="en-US" smtClean="0"/>
              <a:t>5/8/2024</a:t>
            </a:fld>
            <a:endParaRPr lang="en-US"/>
          </a:p>
        </p:txBody>
      </p:sp>
      <p:sp>
        <p:nvSpPr>
          <p:cNvPr id="3" name="Footer Placeholder 2">
            <a:extLst>
              <a:ext uri="{FF2B5EF4-FFF2-40B4-BE49-F238E27FC236}">
                <a16:creationId xmlns:a16="http://schemas.microsoft.com/office/drawing/2014/main" id="{508E39A6-1E09-42B5-85B4-7E8B5AB2AE7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938940-01DD-4C97-8649-E01C3B0EDF7C}"/>
              </a:ext>
            </a:extLst>
          </p:cNvPr>
          <p:cNvSpPr>
            <a:spLocks noGrp="1"/>
          </p:cNvSpPr>
          <p:nvPr>
            <p:ph type="sldNum" sz="quarter" idx="12"/>
          </p:nvPr>
        </p:nvSpPr>
        <p:spPr/>
        <p:txBody>
          <a:bodyPr/>
          <a:lstStyle/>
          <a:p>
            <a:fld id="{3109D357-8067-4A1F-97B2-93C5160B78D9}" type="slidenum">
              <a:rPr lang="en-US" smtClean="0"/>
              <a:t>‹#›</a:t>
            </a:fld>
            <a:endParaRPr lang="en-US"/>
          </a:p>
        </p:txBody>
      </p:sp>
    </p:spTree>
    <p:extLst>
      <p:ext uri="{BB962C8B-B14F-4D97-AF65-F5344CB8AC3E}">
        <p14:creationId xmlns:p14="http://schemas.microsoft.com/office/powerpoint/2010/main" val="19720751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93B3D-D568-40B4-A73A-1C8EA9ABB098}"/>
              </a:ext>
            </a:extLst>
          </p:cNvPr>
          <p:cNvSpPr>
            <a:spLocks noGrp="1"/>
          </p:cNvSpPr>
          <p:nvPr>
            <p:ph type="title"/>
          </p:nvPr>
        </p:nvSpPr>
        <p:spPr>
          <a:xfrm>
            <a:off x="839789" y="457200"/>
            <a:ext cx="3691818" cy="1701800"/>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D586EB3-917A-43B7-85BB-D00B5D2F07E4}"/>
              </a:ext>
            </a:extLst>
          </p:cNvPr>
          <p:cNvSpPr>
            <a:spLocks noGrp="1"/>
          </p:cNvSpPr>
          <p:nvPr>
            <p:ph idx="1"/>
          </p:nvPr>
        </p:nvSpPr>
        <p:spPr>
          <a:xfrm>
            <a:off x="5514798" y="987425"/>
            <a:ext cx="5840589" cy="503237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87AC029-3BC1-4637-A7F9-BC786DC26A38}"/>
              </a:ext>
            </a:extLst>
          </p:cNvPr>
          <p:cNvSpPr>
            <a:spLocks noGrp="1"/>
          </p:cNvSpPr>
          <p:nvPr>
            <p:ph type="body" sz="half" idx="2"/>
          </p:nvPr>
        </p:nvSpPr>
        <p:spPr>
          <a:xfrm>
            <a:off x="839789" y="2372360"/>
            <a:ext cx="3691817" cy="349662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90B948-89C5-4AC5-B7A0-17136F5C5A6A}"/>
              </a:ext>
            </a:extLst>
          </p:cNvPr>
          <p:cNvSpPr>
            <a:spLocks noGrp="1"/>
          </p:cNvSpPr>
          <p:nvPr>
            <p:ph type="dt" sz="half" idx="10"/>
          </p:nvPr>
        </p:nvSpPr>
        <p:spPr/>
        <p:txBody>
          <a:bodyPr/>
          <a:lstStyle/>
          <a:p>
            <a:fld id="{F6CCBF3A-D7FB-4B97-8FD5-6FFB20CB1E84}" type="datetimeFigureOut">
              <a:rPr lang="en-US" smtClean="0"/>
              <a:t>5/8/2024</a:t>
            </a:fld>
            <a:endParaRPr lang="en-US"/>
          </a:p>
        </p:txBody>
      </p:sp>
      <p:sp>
        <p:nvSpPr>
          <p:cNvPr id="6" name="Footer Placeholder 5">
            <a:extLst>
              <a:ext uri="{FF2B5EF4-FFF2-40B4-BE49-F238E27FC236}">
                <a16:creationId xmlns:a16="http://schemas.microsoft.com/office/drawing/2014/main" id="{F3A6C8C5-652F-46CB-BD26-E262B057FA1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FB50CB-E91F-4B71-81F0-800F2B51A344}"/>
              </a:ext>
            </a:extLst>
          </p:cNvPr>
          <p:cNvSpPr>
            <a:spLocks noGrp="1"/>
          </p:cNvSpPr>
          <p:nvPr>
            <p:ph type="sldNum" sz="quarter" idx="12"/>
          </p:nvPr>
        </p:nvSpPr>
        <p:spPr/>
        <p:txBody>
          <a:bodyPr/>
          <a:lstStyle/>
          <a:p>
            <a:fld id="{3109D357-8067-4A1F-97B2-93C5160B78D9}" type="slidenum">
              <a:rPr lang="en-US" smtClean="0"/>
              <a:t>‹#›</a:t>
            </a:fld>
            <a:endParaRPr lang="en-US"/>
          </a:p>
        </p:txBody>
      </p:sp>
      <p:cxnSp>
        <p:nvCxnSpPr>
          <p:cNvPr id="8" name="Straight Connector 7">
            <a:extLst>
              <a:ext uri="{FF2B5EF4-FFF2-40B4-BE49-F238E27FC236}">
                <a16:creationId xmlns:a16="http://schemas.microsoft.com/office/drawing/2014/main" id="{8B69B885-FDB8-4C62-A285-A0CDC49A6B0C}"/>
              </a:ext>
            </a:extLst>
          </p:cNvPr>
          <p:cNvCxnSpPr>
            <a:cxnSpLocks/>
          </p:cNvCxnSpPr>
          <p:nvPr/>
        </p:nvCxnSpPr>
        <p:spPr>
          <a:xfrm>
            <a:off x="502320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3404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F941E-6445-4840-81AE-104EF7A4F7E9}"/>
              </a:ext>
            </a:extLst>
          </p:cNvPr>
          <p:cNvSpPr>
            <a:spLocks noGrp="1"/>
          </p:cNvSpPr>
          <p:nvPr>
            <p:ph type="title"/>
          </p:nvPr>
        </p:nvSpPr>
        <p:spPr>
          <a:xfrm>
            <a:off x="839789" y="457200"/>
            <a:ext cx="3696652" cy="1701800"/>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B3F8B866-E32B-4AE7-AEF3-6974AE3288F3}"/>
              </a:ext>
            </a:extLst>
          </p:cNvPr>
          <p:cNvSpPr>
            <a:spLocks noGrp="1"/>
          </p:cNvSpPr>
          <p:nvPr>
            <p:ph type="pic" idx="1"/>
          </p:nvPr>
        </p:nvSpPr>
        <p:spPr>
          <a:xfrm>
            <a:off x="5786120" y="838200"/>
            <a:ext cx="5603238" cy="518159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2ABB7A-E157-499A-B224-C2313181F569}"/>
              </a:ext>
            </a:extLst>
          </p:cNvPr>
          <p:cNvSpPr>
            <a:spLocks noGrp="1"/>
          </p:cNvSpPr>
          <p:nvPr>
            <p:ph type="body" sz="half" idx="2"/>
          </p:nvPr>
        </p:nvSpPr>
        <p:spPr>
          <a:xfrm>
            <a:off x="839789" y="2367280"/>
            <a:ext cx="3696652" cy="350170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C77283-E2B8-405E-BB6E-9F121140E506}"/>
              </a:ext>
            </a:extLst>
          </p:cNvPr>
          <p:cNvSpPr>
            <a:spLocks noGrp="1"/>
          </p:cNvSpPr>
          <p:nvPr>
            <p:ph type="dt" sz="half" idx="10"/>
          </p:nvPr>
        </p:nvSpPr>
        <p:spPr/>
        <p:txBody>
          <a:bodyPr/>
          <a:lstStyle/>
          <a:p>
            <a:fld id="{F6CCBF3A-D7FB-4B97-8FD5-6FFB20CB1E84}" type="datetimeFigureOut">
              <a:rPr lang="en-US" smtClean="0"/>
              <a:t>5/8/2024</a:t>
            </a:fld>
            <a:endParaRPr lang="en-US"/>
          </a:p>
        </p:txBody>
      </p:sp>
      <p:sp>
        <p:nvSpPr>
          <p:cNvPr id="6" name="Footer Placeholder 5">
            <a:extLst>
              <a:ext uri="{FF2B5EF4-FFF2-40B4-BE49-F238E27FC236}">
                <a16:creationId xmlns:a16="http://schemas.microsoft.com/office/drawing/2014/main" id="{F9F21F05-EB94-417F-B19B-96FF3D9ECA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B7C3C7-B6DB-4064-8E66-9FB770C888ED}"/>
              </a:ext>
            </a:extLst>
          </p:cNvPr>
          <p:cNvSpPr>
            <a:spLocks noGrp="1"/>
          </p:cNvSpPr>
          <p:nvPr>
            <p:ph type="sldNum" sz="quarter" idx="12"/>
          </p:nvPr>
        </p:nvSpPr>
        <p:spPr/>
        <p:txBody>
          <a:bodyPr/>
          <a:lstStyle/>
          <a:p>
            <a:fld id="{3109D357-8067-4A1F-97B2-93C5160B78D9}" type="slidenum">
              <a:rPr lang="en-US" smtClean="0"/>
              <a:t>‹#›</a:t>
            </a:fld>
            <a:endParaRPr lang="en-US"/>
          </a:p>
        </p:txBody>
      </p:sp>
      <p:cxnSp>
        <p:nvCxnSpPr>
          <p:cNvPr id="8" name="Straight Connector 7">
            <a:extLst>
              <a:ext uri="{FF2B5EF4-FFF2-40B4-BE49-F238E27FC236}">
                <a16:creationId xmlns:a16="http://schemas.microsoft.com/office/drawing/2014/main" id="{51E233FA-220A-423F-907E-5F81526A28A0}"/>
              </a:ext>
            </a:extLst>
          </p:cNvPr>
          <p:cNvCxnSpPr>
            <a:cxnSpLocks/>
          </p:cNvCxnSpPr>
          <p:nvPr/>
        </p:nvCxnSpPr>
        <p:spPr>
          <a:xfrm>
            <a:off x="502320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2644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56D52-667C-4E67-9038-A0BDFD8CCD0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A3E72AC-0272-475A-BD25-2AB7AC1DEFA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CFBFF2-9ECB-4CDD-87FA-9DD1F87BFDE9}"/>
              </a:ext>
            </a:extLst>
          </p:cNvPr>
          <p:cNvSpPr>
            <a:spLocks noGrp="1"/>
          </p:cNvSpPr>
          <p:nvPr>
            <p:ph type="dt" sz="half" idx="10"/>
          </p:nvPr>
        </p:nvSpPr>
        <p:spPr/>
        <p:txBody>
          <a:bodyPr/>
          <a:lstStyle/>
          <a:p>
            <a:fld id="{F6CCBF3A-D7FB-4B97-8FD5-6FFB20CB1E84}" type="datetimeFigureOut">
              <a:rPr lang="en-US" smtClean="0"/>
              <a:t>5/8/2024</a:t>
            </a:fld>
            <a:endParaRPr lang="en-US"/>
          </a:p>
        </p:txBody>
      </p:sp>
      <p:sp>
        <p:nvSpPr>
          <p:cNvPr id="5" name="Footer Placeholder 4">
            <a:extLst>
              <a:ext uri="{FF2B5EF4-FFF2-40B4-BE49-F238E27FC236}">
                <a16:creationId xmlns:a16="http://schemas.microsoft.com/office/drawing/2014/main" id="{40AC12B3-DAF5-4BA7-A3A6-D0284716DB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F171AE-4A11-4035-A072-9AC4053FFA85}"/>
              </a:ext>
            </a:extLst>
          </p:cNvPr>
          <p:cNvSpPr>
            <a:spLocks noGrp="1"/>
          </p:cNvSpPr>
          <p:nvPr>
            <p:ph type="sldNum" sz="quarter" idx="12"/>
          </p:nvPr>
        </p:nvSpPr>
        <p:spPr/>
        <p:txBody>
          <a:bodyPr/>
          <a:lstStyle/>
          <a:p>
            <a:fld id="{3109D357-8067-4A1F-97B2-93C5160B78D9}" type="slidenum">
              <a:rPr lang="en-US" smtClean="0"/>
              <a:t>‹#›</a:t>
            </a:fld>
            <a:endParaRPr lang="en-US"/>
          </a:p>
        </p:txBody>
      </p:sp>
    </p:spTree>
    <p:extLst>
      <p:ext uri="{BB962C8B-B14F-4D97-AF65-F5344CB8AC3E}">
        <p14:creationId xmlns:p14="http://schemas.microsoft.com/office/powerpoint/2010/main" val="24368106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A52E95-2F50-48D3-B00E-4C259644E72E}"/>
              </a:ext>
            </a:extLst>
          </p:cNvPr>
          <p:cNvSpPr>
            <a:spLocks noGrp="1"/>
          </p:cNvSpPr>
          <p:nvPr>
            <p:ph type="title" orient="vert"/>
          </p:nvPr>
        </p:nvSpPr>
        <p:spPr>
          <a:xfrm>
            <a:off x="9050174" y="838199"/>
            <a:ext cx="2303626" cy="5338763"/>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2617C9B-4E02-49C8-B6DF-65ED3C990343}"/>
              </a:ext>
            </a:extLst>
          </p:cNvPr>
          <p:cNvSpPr>
            <a:spLocks noGrp="1"/>
          </p:cNvSpPr>
          <p:nvPr>
            <p:ph type="body" orient="vert" idx="1"/>
          </p:nvPr>
        </p:nvSpPr>
        <p:spPr>
          <a:xfrm>
            <a:off x="838200" y="838199"/>
            <a:ext cx="7734300" cy="5338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ECA10C-AC31-4D80-B78F-08E48CDCB7F2}"/>
              </a:ext>
            </a:extLst>
          </p:cNvPr>
          <p:cNvSpPr>
            <a:spLocks noGrp="1"/>
          </p:cNvSpPr>
          <p:nvPr>
            <p:ph type="dt" sz="half" idx="10"/>
          </p:nvPr>
        </p:nvSpPr>
        <p:spPr/>
        <p:txBody>
          <a:bodyPr/>
          <a:lstStyle/>
          <a:p>
            <a:fld id="{F6CCBF3A-D7FB-4B97-8FD5-6FFB20CB1E84}" type="datetimeFigureOut">
              <a:rPr lang="en-US" smtClean="0"/>
              <a:t>5/8/2024</a:t>
            </a:fld>
            <a:endParaRPr lang="en-US"/>
          </a:p>
        </p:txBody>
      </p:sp>
      <p:sp>
        <p:nvSpPr>
          <p:cNvPr id="5" name="Footer Placeholder 4">
            <a:extLst>
              <a:ext uri="{FF2B5EF4-FFF2-40B4-BE49-F238E27FC236}">
                <a16:creationId xmlns:a16="http://schemas.microsoft.com/office/drawing/2014/main" id="{19AAB5B7-F312-4BC9-A5D3-72E065D1B9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C2E489-5442-4698-B6E3-3421A97C2834}"/>
              </a:ext>
            </a:extLst>
          </p:cNvPr>
          <p:cNvSpPr>
            <a:spLocks noGrp="1"/>
          </p:cNvSpPr>
          <p:nvPr>
            <p:ph type="sldNum" sz="quarter" idx="12"/>
          </p:nvPr>
        </p:nvSpPr>
        <p:spPr/>
        <p:txBody>
          <a:bodyPr/>
          <a:lstStyle/>
          <a:p>
            <a:fld id="{3109D357-8067-4A1F-97B2-93C5160B78D9}" type="slidenum">
              <a:rPr lang="en-US" smtClean="0"/>
              <a:t>‹#›</a:t>
            </a:fld>
            <a:endParaRPr lang="en-US"/>
          </a:p>
        </p:txBody>
      </p:sp>
      <p:cxnSp>
        <p:nvCxnSpPr>
          <p:cNvPr id="7" name="Straight Connector 6">
            <a:extLst>
              <a:ext uri="{FF2B5EF4-FFF2-40B4-BE49-F238E27FC236}">
                <a16:creationId xmlns:a16="http://schemas.microsoft.com/office/drawing/2014/main" id="{41F3A7E1-F157-4338-B7F7-9C0A2D60B7FF}"/>
              </a:ext>
            </a:extLst>
          </p:cNvPr>
          <p:cNvCxnSpPr>
            <a:cxnSpLocks/>
          </p:cNvCxnSpPr>
          <p:nvPr/>
        </p:nvCxnSpPr>
        <p:spPr>
          <a:xfrm>
            <a:off x="8811337"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99437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476A66-BE83-43F9-A28B-02DF7879AD52}"/>
              </a:ext>
            </a:extLst>
          </p:cNvPr>
          <p:cNvSpPr>
            <a:spLocks noGrp="1"/>
          </p:cNvSpPr>
          <p:nvPr>
            <p:ph type="title"/>
          </p:nvPr>
        </p:nvSpPr>
        <p:spPr>
          <a:xfrm>
            <a:off x="838200" y="584990"/>
            <a:ext cx="10515600" cy="1116811"/>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9D76E94-F276-4F0F-8DD9-B1F8A3198AE1}"/>
              </a:ext>
            </a:extLst>
          </p:cNvPr>
          <p:cNvSpPr>
            <a:spLocks noGrp="1"/>
          </p:cNvSpPr>
          <p:nvPr>
            <p:ph type="body" idx="1"/>
          </p:nvPr>
        </p:nvSpPr>
        <p:spPr>
          <a:xfrm>
            <a:off x="838200" y="2061469"/>
            <a:ext cx="10515600"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4AD964E-3A2E-4DB9-B96A-EDE144A47BDC}"/>
              </a:ext>
            </a:extLst>
          </p:cNvPr>
          <p:cNvSpPr>
            <a:spLocks noGrp="1"/>
          </p:cNvSpPr>
          <p:nvPr>
            <p:ph type="dt" sz="half" idx="2"/>
          </p:nvPr>
        </p:nvSpPr>
        <p:spPr>
          <a:xfrm rot="5400000">
            <a:off x="10425981" y="4687095"/>
            <a:ext cx="2706690" cy="365125"/>
          </a:xfrm>
          <a:prstGeom prst="rect">
            <a:avLst/>
          </a:prstGeom>
        </p:spPr>
        <p:txBody>
          <a:bodyPr vert="horz" lIns="91440" tIns="45720" rIns="91440" bIns="45720" rtlCol="0" anchor="ctr"/>
          <a:lstStyle>
            <a:lvl1pPr algn="r">
              <a:defRPr sz="1000">
                <a:solidFill>
                  <a:schemeClr val="tx1"/>
                </a:solidFill>
              </a:defRPr>
            </a:lvl1pPr>
          </a:lstStyle>
          <a:p>
            <a:fld id="{F6CCBF3A-D7FB-4B97-8FD5-6FFB20CB1E84}" type="datetimeFigureOut">
              <a:rPr lang="en-US" smtClean="0"/>
              <a:t>5/8/2024</a:t>
            </a:fld>
            <a:endParaRPr lang="en-US"/>
          </a:p>
        </p:txBody>
      </p:sp>
      <p:sp>
        <p:nvSpPr>
          <p:cNvPr id="5" name="Footer Placeholder 4">
            <a:extLst>
              <a:ext uri="{FF2B5EF4-FFF2-40B4-BE49-F238E27FC236}">
                <a16:creationId xmlns:a16="http://schemas.microsoft.com/office/drawing/2014/main" id="{0DACB382-EE11-430D-941A-DB76EEB7F2D5}"/>
              </a:ext>
            </a:extLst>
          </p:cNvPr>
          <p:cNvSpPr>
            <a:spLocks noGrp="1"/>
          </p:cNvSpPr>
          <p:nvPr>
            <p:ph type="ftr" sz="quarter" idx="3"/>
          </p:nvPr>
        </p:nvSpPr>
        <p:spPr>
          <a:xfrm rot="5400000">
            <a:off x="-1131161" y="1592957"/>
            <a:ext cx="2973522" cy="365125"/>
          </a:xfrm>
          <a:prstGeom prst="rect">
            <a:avLst/>
          </a:prstGeom>
        </p:spPr>
        <p:txBody>
          <a:bodyPr vert="horz" lIns="91440" tIns="45720" rIns="91440" bIns="45720" rtlCol="0" anchor="ctr"/>
          <a:lstStyle>
            <a:lvl1pPr algn="l">
              <a:defRPr sz="10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A3C562FE-ACD1-43F2-A3DE-5B11E10B7EA5}"/>
              </a:ext>
            </a:extLst>
          </p:cNvPr>
          <p:cNvSpPr>
            <a:spLocks noGrp="1"/>
          </p:cNvSpPr>
          <p:nvPr>
            <p:ph type="sldNum" sz="quarter" idx="4"/>
          </p:nvPr>
        </p:nvSpPr>
        <p:spPr>
          <a:xfrm>
            <a:off x="11512296" y="6356350"/>
            <a:ext cx="574620" cy="365125"/>
          </a:xfrm>
          <a:prstGeom prst="rect">
            <a:avLst/>
          </a:prstGeom>
        </p:spPr>
        <p:txBody>
          <a:bodyPr vert="horz" lIns="91440" tIns="45720" rIns="91440" bIns="45720" rtlCol="0" anchor="ctr"/>
          <a:lstStyle>
            <a:lvl1pPr algn="ctr">
              <a:defRPr sz="1000">
                <a:solidFill>
                  <a:schemeClr val="tx1"/>
                </a:solidFill>
              </a:defRPr>
            </a:lvl1pPr>
          </a:lstStyle>
          <a:p>
            <a:fld id="{3109D357-8067-4A1F-97B2-93C5160B78D9}" type="slidenum">
              <a:rPr lang="en-US" smtClean="0"/>
              <a:t>‹#›</a:t>
            </a:fld>
            <a:endParaRPr lang="en-US"/>
          </a:p>
        </p:txBody>
      </p:sp>
      <p:cxnSp>
        <p:nvCxnSpPr>
          <p:cNvPr id="13" name="Straight Connector 12">
            <a:extLst>
              <a:ext uri="{FF2B5EF4-FFF2-40B4-BE49-F238E27FC236}">
                <a16:creationId xmlns:a16="http://schemas.microsoft.com/office/drawing/2014/main" id="{1EB34A3B-1FD5-48FF-9982-1E64C864C01D}"/>
              </a:ext>
            </a:extLst>
          </p:cNvPr>
          <p:cNvCxnSpPr>
            <a:cxnSpLocks/>
          </p:cNvCxnSpPr>
          <p:nvPr/>
        </p:nvCxnSpPr>
        <p:spPr>
          <a:xfrm flipH="1">
            <a:off x="4" y="1824111"/>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1640733"/>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SzPct val="80000"/>
        <a:buFont typeface="Arial" panose="020B0604020202020204" pitchFamily="34" charset="0"/>
        <a:buChar char="•"/>
        <a:defRPr sz="20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8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6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F626F98-F213-4034-8836-88A71501D0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close-up of a network&#10;&#10;Description automatically generated with low confidence">
            <a:extLst>
              <a:ext uri="{FF2B5EF4-FFF2-40B4-BE49-F238E27FC236}">
                <a16:creationId xmlns:a16="http://schemas.microsoft.com/office/drawing/2014/main" id="{DDC6D914-EB49-4B31-9EEF-E7C4DCCF07A7}"/>
              </a:ext>
            </a:extLst>
          </p:cNvPr>
          <p:cNvPicPr>
            <a:picLocks noChangeAspect="1"/>
          </p:cNvPicPr>
          <p:nvPr/>
        </p:nvPicPr>
        <p:blipFill rotWithShape="1">
          <a:blip r:embed="rId2">
            <a:alphaModFix amt="60000"/>
          </a:blip>
          <a:srcRect t="43750"/>
          <a:stretch/>
        </p:blipFill>
        <p:spPr>
          <a:xfrm>
            <a:off x="20" y="1"/>
            <a:ext cx="12191980" cy="6857999"/>
          </a:xfrm>
          <a:prstGeom prst="rect">
            <a:avLst/>
          </a:prstGeom>
        </p:spPr>
      </p:pic>
      <p:sp useBgFill="1">
        <p:nvSpPr>
          <p:cNvPr id="11" name="Freeform: Shape 10">
            <a:extLst>
              <a:ext uri="{FF2B5EF4-FFF2-40B4-BE49-F238E27FC236}">
                <a16:creationId xmlns:a16="http://schemas.microsoft.com/office/drawing/2014/main" id="{6B3DAACF-D844-4480-94BE-2DE00ABEEB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75199" y="726177"/>
            <a:ext cx="5241603" cy="5343721"/>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325805" h="5429563">
                <a:moveTo>
                  <a:pt x="5325805" y="2714782"/>
                </a:moveTo>
                <a:cubicBezTo>
                  <a:pt x="5325805" y="4214114"/>
                  <a:pt x="4110356" y="5429563"/>
                  <a:pt x="2611024" y="5429563"/>
                </a:cubicBezTo>
                <a:lnTo>
                  <a:pt x="1942188" y="5429563"/>
                </a:lnTo>
                <a:lnTo>
                  <a:pt x="668836" y="5429563"/>
                </a:lnTo>
                <a:lnTo>
                  <a:pt x="0" y="5429563"/>
                </a:lnTo>
                <a:lnTo>
                  <a:pt x="0" y="0"/>
                </a:lnTo>
                <a:lnTo>
                  <a:pt x="668836" y="0"/>
                </a:lnTo>
                <a:lnTo>
                  <a:pt x="1942188" y="0"/>
                </a:lnTo>
                <a:lnTo>
                  <a:pt x="2611024" y="0"/>
                </a:lnTo>
                <a:cubicBezTo>
                  <a:pt x="4110356" y="0"/>
                  <a:pt x="5325805" y="1215450"/>
                  <a:pt x="5325805" y="2714782"/>
                </a:cubicBezTo>
                <a:close/>
              </a:path>
            </a:pathLst>
          </a:custGeom>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41DB345-D364-6592-BA48-10DCF066F474}"/>
              </a:ext>
            </a:extLst>
          </p:cNvPr>
          <p:cNvSpPr>
            <a:spLocks noGrp="1"/>
          </p:cNvSpPr>
          <p:nvPr>
            <p:ph type="ctrTitle"/>
          </p:nvPr>
        </p:nvSpPr>
        <p:spPr>
          <a:xfrm>
            <a:off x="1524000" y="1336430"/>
            <a:ext cx="9144000" cy="2820573"/>
          </a:xfrm>
        </p:spPr>
        <p:txBody>
          <a:bodyPr>
            <a:normAutofit/>
          </a:bodyPr>
          <a:lstStyle/>
          <a:p>
            <a:pPr algn="ctr"/>
            <a:r>
              <a:rPr lang="en-US" sz="6600"/>
              <a:t>Case control study</a:t>
            </a:r>
          </a:p>
        </p:txBody>
      </p:sp>
      <p:sp>
        <p:nvSpPr>
          <p:cNvPr id="3" name="Subtitle 2">
            <a:extLst>
              <a:ext uri="{FF2B5EF4-FFF2-40B4-BE49-F238E27FC236}">
                <a16:creationId xmlns:a16="http://schemas.microsoft.com/office/drawing/2014/main" id="{63A0674C-2C2E-B0DD-387F-7149DA2F7E99}"/>
              </a:ext>
            </a:extLst>
          </p:cNvPr>
          <p:cNvSpPr>
            <a:spLocks noGrp="1"/>
          </p:cNvSpPr>
          <p:nvPr>
            <p:ph type="subTitle" idx="1"/>
          </p:nvPr>
        </p:nvSpPr>
        <p:spPr>
          <a:xfrm>
            <a:off x="4068856" y="4628271"/>
            <a:ext cx="4054288" cy="1069144"/>
          </a:xfrm>
        </p:spPr>
        <p:txBody>
          <a:bodyPr>
            <a:normAutofit/>
          </a:bodyPr>
          <a:lstStyle/>
          <a:p>
            <a:pPr algn="ctr"/>
            <a:endParaRPr lang="en-US"/>
          </a:p>
        </p:txBody>
      </p:sp>
    </p:spTree>
    <p:extLst>
      <p:ext uri="{BB962C8B-B14F-4D97-AF65-F5344CB8AC3E}">
        <p14:creationId xmlns:p14="http://schemas.microsoft.com/office/powerpoint/2010/main" val="39031704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C06C9-01A1-4E31-E1A5-A0662A920087}"/>
              </a:ext>
            </a:extLst>
          </p:cNvPr>
          <p:cNvSpPr>
            <a:spLocks noGrp="1"/>
          </p:cNvSpPr>
          <p:nvPr>
            <p:ph type="title"/>
          </p:nvPr>
        </p:nvSpPr>
        <p:spPr/>
        <p:txBody>
          <a:bodyPr/>
          <a:lstStyle/>
          <a:p>
            <a:r>
              <a:rPr lang="en-US" dirty="0"/>
              <a:t>MCQ - 1</a:t>
            </a:r>
          </a:p>
        </p:txBody>
      </p:sp>
      <p:sp>
        <p:nvSpPr>
          <p:cNvPr id="3" name="Content Placeholder 2">
            <a:extLst>
              <a:ext uri="{FF2B5EF4-FFF2-40B4-BE49-F238E27FC236}">
                <a16:creationId xmlns:a16="http://schemas.microsoft.com/office/drawing/2014/main" id="{FE33B074-28FD-6792-17D6-7580FA7EF252}"/>
              </a:ext>
            </a:extLst>
          </p:cNvPr>
          <p:cNvSpPr>
            <a:spLocks noGrp="1"/>
          </p:cNvSpPr>
          <p:nvPr>
            <p:ph idx="1"/>
          </p:nvPr>
        </p:nvSpPr>
        <p:spPr>
          <a:xfrm>
            <a:off x="838200" y="2158209"/>
            <a:ext cx="10515600" cy="4114801"/>
          </a:xfrm>
        </p:spPr>
        <p:txBody>
          <a:bodyPr>
            <a:normAutofit/>
          </a:bodyPr>
          <a:lstStyle/>
          <a:p>
            <a:r>
              <a:rPr lang="en-US" sz="2800" dirty="0"/>
              <a:t>Which of the following best describes a cross-sectional study?</a:t>
            </a:r>
          </a:p>
          <a:p>
            <a:pPr lvl="1"/>
            <a:r>
              <a:rPr lang="en-US" sz="2400" dirty="0"/>
              <a:t>a) A study that follows individuals over time to assess changes in their health status.</a:t>
            </a:r>
          </a:p>
          <a:p>
            <a:pPr lvl="1"/>
            <a:r>
              <a:rPr lang="en-US" sz="2400" dirty="0"/>
              <a:t>b) A study that compares the effectiveness of different interventions in a population.</a:t>
            </a:r>
          </a:p>
          <a:p>
            <a:pPr lvl="1"/>
            <a:r>
              <a:rPr lang="en-US" sz="2400" dirty="0"/>
              <a:t>c) A study that collects data from a population at a single point in time.</a:t>
            </a:r>
          </a:p>
          <a:p>
            <a:pPr lvl="1"/>
            <a:r>
              <a:rPr lang="en-US" sz="2400" dirty="0"/>
              <a:t>d) A study that investigates the genetic factors underlying a specific disease.</a:t>
            </a:r>
          </a:p>
        </p:txBody>
      </p:sp>
    </p:spTree>
    <p:extLst>
      <p:ext uri="{BB962C8B-B14F-4D97-AF65-F5344CB8AC3E}">
        <p14:creationId xmlns:p14="http://schemas.microsoft.com/office/powerpoint/2010/main" val="9110677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3F8EE-163D-B6ED-1B32-9AEC0DC77C1C}"/>
              </a:ext>
            </a:extLst>
          </p:cNvPr>
          <p:cNvSpPr>
            <a:spLocks noGrp="1"/>
          </p:cNvSpPr>
          <p:nvPr>
            <p:ph type="title"/>
          </p:nvPr>
        </p:nvSpPr>
        <p:spPr/>
        <p:txBody>
          <a:bodyPr/>
          <a:lstStyle/>
          <a:p>
            <a:r>
              <a:rPr lang="en-US" dirty="0"/>
              <a:t>MCQ - 2</a:t>
            </a:r>
          </a:p>
        </p:txBody>
      </p:sp>
      <p:sp>
        <p:nvSpPr>
          <p:cNvPr id="3" name="Content Placeholder 2">
            <a:extLst>
              <a:ext uri="{FF2B5EF4-FFF2-40B4-BE49-F238E27FC236}">
                <a16:creationId xmlns:a16="http://schemas.microsoft.com/office/drawing/2014/main" id="{70582681-8057-66A3-24E9-47AA106E6FFF}"/>
              </a:ext>
            </a:extLst>
          </p:cNvPr>
          <p:cNvSpPr>
            <a:spLocks noGrp="1"/>
          </p:cNvSpPr>
          <p:nvPr>
            <p:ph idx="1"/>
          </p:nvPr>
        </p:nvSpPr>
        <p:spPr/>
        <p:txBody>
          <a:bodyPr>
            <a:normAutofit lnSpcReduction="10000"/>
          </a:bodyPr>
          <a:lstStyle/>
          <a:p>
            <a:r>
              <a:rPr lang="en-US" sz="3200" dirty="0"/>
              <a:t>A longitudinal Study is a research design that involves repeated observations of the same variables over short or long period of time. which of the following is false statement about longitudinal study?</a:t>
            </a:r>
          </a:p>
          <a:p>
            <a:pPr lvl="1"/>
            <a:r>
              <a:rPr lang="en-US" sz="2800" dirty="0"/>
              <a:t>a) Helps us study natural history of disease.</a:t>
            </a:r>
          </a:p>
          <a:p>
            <a:pPr lvl="1"/>
            <a:r>
              <a:rPr lang="en-US" sz="2800" dirty="0"/>
              <a:t>b) Helps in identification of risk factor of a disease.</a:t>
            </a:r>
          </a:p>
          <a:p>
            <a:pPr lvl="1"/>
            <a:r>
              <a:rPr lang="en-US" sz="2800" dirty="0"/>
              <a:t>c) Helps us find out rate of occurrence of new cases of a disease.</a:t>
            </a:r>
          </a:p>
          <a:p>
            <a:pPr lvl="1"/>
            <a:r>
              <a:rPr lang="en-US" sz="2800" dirty="0"/>
              <a:t>d) Easy to organize and less time consuming.</a:t>
            </a:r>
          </a:p>
        </p:txBody>
      </p:sp>
    </p:spTree>
    <p:extLst>
      <p:ext uri="{BB962C8B-B14F-4D97-AF65-F5344CB8AC3E}">
        <p14:creationId xmlns:p14="http://schemas.microsoft.com/office/powerpoint/2010/main" val="23012394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55927-7D91-5FB9-A9A3-054C3B9A8B83}"/>
              </a:ext>
            </a:extLst>
          </p:cNvPr>
          <p:cNvSpPr>
            <a:spLocks noGrp="1"/>
          </p:cNvSpPr>
          <p:nvPr>
            <p:ph type="title"/>
          </p:nvPr>
        </p:nvSpPr>
        <p:spPr/>
        <p:txBody>
          <a:bodyPr/>
          <a:lstStyle/>
          <a:p>
            <a:r>
              <a:rPr lang="en-US" dirty="0"/>
              <a:t>MCQ - 3</a:t>
            </a:r>
          </a:p>
        </p:txBody>
      </p:sp>
      <p:sp>
        <p:nvSpPr>
          <p:cNvPr id="3" name="Content Placeholder 2">
            <a:extLst>
              <a:ext uri="{FF2B5EF4-FFF2-40B4-BE49-F238E27FC236}">
                <a16:creationId xmlns:a16="http://schemas.microsoft.com/office/drawing/2014/main" id="{2351A6C7-C694-0098-3264-07CFE6147A61}"/>
              </a:ext>
            </a:extLst>
          </p:cNvPr>
          <p:cNvSpPr>
            <a:spLocks noGrp="1"/>
          </p:cNvSpPr>
          <p:nvPr>
            <p:ph idx="1"/>
          </p:nvPr>
        </p:nvSpPr>
        <p:spPr/>
        <p:txBody>
          <a:bodyPr>
            <a:normAutofit/>
          </a:bodyPr>
          <a:lstStyle/>
          <a:p>
            <a:r>
              <a:rPr lang="en-US" sz="3600" dirty="0"/>
              <a:t>Descriptive epidemiology contributes in research by:-</a:t>
            </a:r>
          </a:p>
          <a:p>
            <a:pPr lvl="1"/>
            <a:r>
              <a:rPr lang="en-US" sz="3200" dirty="0"/>
              <a:t>a) Establishing causality between risk factors and diseases</a:t>
            </a:r>
          </a:p>
          <a:p>
            <a:pPr lvl="1"/>
            <a:r>
              <a:rPr lang="en-US" sz="3200" dirty="0"/>
              <a:t>b) Providing data on disease occurrence by time, place and person</a:t>
            </a:r>
          </a:p>
          <a:p>
            <a:pPr lvl="1"/>
            <a:r>
              <a:rPr lang="en-US" sz="3200" dirty="0"/>
              <a:t>c) Evaluating the efficacy of different treatment options</a:t>
            </a:r>
          </a:p>
          <a:p>
            <a:pPr lvl="1"/>
            <a:r>
              <a:rPr lang="en-US" sz="3200" dirty="0"/>
              <a:t>d) Identifying individual disease trajectories over time</a:t>
            </a:r>
          </a:p>
        </p:txBody>
      </p:sp>
    </p:spTree>
    <p:extLst>
      <p:ext uri="{BB962C8B-B14F-4D97-AF65-F5344CB8AC3E}">
        <p14:creationId xmlns:p14="http://schemas.microsoft.com/office/powerpoint/2010/main" val="7506882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A9C18-72E9-E23A-6BBD-2E00DFE4710D}"/>
              </a:ext>
            </a:extLst>
          </p:cNvPr>
          <p:cNvSpPr>
            <a:spLocks noGrp="1"/>
          </p:cNvSpPr>
          <p:nvPr>
            <p:ph type="title"/>
          </p:nvPr>
        </p:nvSpPr>
        <p:spPr/>
        <p:txBody>
          <a:bodyPr/>
          <a:lstStyle/>
          <a:p>
            <a:r>
              <a:rPr lang="en-US" dirty="0"/>
              <a:t>MCQ - 4</a:t>
            </a:r>
          </a:p>
        </p:txBody>
      </p:sp>
      <p:sp>
        <p:nvSpPr>
          <p:cNvPr id="3" name="Content Placeholder 2">
            <a:extLst>
              <a:ext uri="{FF2B5EF4-FFF2-40B4-BE49-F238E27FC236}">
                <a16:creationId xmlns:a16="http://schemas.microsoft.com/office/drawing/2014/main" id="{7443002D-A6EA-6E0C-F2B5-02D4F9BB9594}"/>
              </a:ext>
            </a:extLst>
          </p:cNvPr>
          <p:cNvSpPr>
            <a:spLocks noGrp="1"/>
          </p:cNvSpPr>
          <p:nvPr>
            <p:ph idx="1"/>
          </p:nvPr>
        </p:nvSpPr>
        <p:spPr/>
        <p:txBody>
          <a:bodyPr>
            <a:normAutofit/>
          </a:bodyPr>
          <a:lstStyle/>
          <a:p>
            <a:r>
              <a:rPr lang="en-US" sz="4000" dirty="0"/>
              <a:t>The "O" in PICOTS refers to:</a:t>
            </a:r>
          </a:p>
          <a:p>
            <a:pPr lvl="1"/>
            <a:r>
              <a:rPr lang="en-US" sz="3600" dirty="0"/>
              <a:t>a) Observation</a:t>
            </a:r>
          </a:p>
          <a:p>
            <a:pPr lvl="1"/>
            <a:r>
              <a:rPr lang="en-US" sz="3600" dirty="0"/>
              <a:t>b) Objectives</a:t>
            </a:r>
          </a:p>
          <a:p>
            <a:pPr lvl="1"/>
            <a:r>
              <a:rPr lang="en-US" sz="3600" dirty="0"/>
              <a:t>c) Outcome</a:t>
            </a:r>
          </a:p>
          <a:p>
            <a:pPr lvl="1"/>
            <a:r>
              <a:rPr lang="en-US" sz="3600" dirty="0"/>
              <a:t>d) Opportunity</a:t>
            </a:r>
          </a:p>
        </p:txBody>
      </p:sp>
    </p:spTree>
    <p:extLst>
      <p:ext uri="{BB962C8B-B14F-4D97-AF65-F5344CB8AC3E}">
        <p14:creationId xmlns:p14="http://schemas.microsoft.com/office/powerpoint/2010/main" val="2534496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CC957-6460-02B5-CF69-134D6F72166B}"/>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ADC2E4BC-45F2-9040-D212-D4A4DFD2898D}"/>
              </a:ext>
            </a:extLst>
          </p:cNvPr>
          <p:cNvSpPr>
            <a:spLocks noGrp="1"/>
          </p:cNvSpPr>
          <p:nvPr>
            <p:ph idx="1"/>
          </p:nvPr>
        </p:nvSpPr>
        <p:spPr>
          <a:xfrm>
            <a:off x="433137" y="1828800"/>
            <a:ext cx="11152311" cy="4092359"/>
          </a:xfrm>
        </p:spPr>
        <p:txBody>
          <a:bodyPr>
            <a:normAutofit lnSpcReduction="10000"/>
          </a:bodyPr>
          <a:lstStyle/>
          <a:p>
            <a:r>
              <a:rPr lang="en-US" sz="2400" b="0" i="0" u="none" strike="noStrike" baseline="0" dirty="0">
                <a:latin typeface="Times New Roman" panose="02020603050405020304" pitchFamily="18" charset="0"/>
              </a:rPr>
              <a:t>Common first approach to test causal hypothesis</a:t>
            </a:r>
            <a:endParaRPr lang="en-US" sz="2800" dirty="0"/>
          </a:p>
          <a:p>
            <a:r>
              <a:rPr lang="en-US" sz="2800" dirty="0"/>
              <a:t>Aka Retrospective studies</a:t>
            </a:r>
          </a:p>
          <a:p>
            <a:r>
              <a:rPr lang="en-US" sz="2800" dirty="0"/>
              <a:t>Features</a:t>
            </a:r>
          </a:p>
          <a:p>
            <a:pPr lvl="1"/>
            <a:r>
              <a:rPr lang="en-US" sz="2400" b="0" i="0" u="none" strike="noStrike" baseline="0" dirty="0">
                <a:latin typeface="Times New Roman" panose="02020603050405020304" pitchFamily="18" charset="0"/>
              </a:rPr>
              <a:t>Both exposure and outcome (disease) have occurred before the start of the study</a:t>
            </a:r>
          </a:p>
          <a:p>
            <a:pPr lvl="1"/>
            <a:r>
              <a:rPr lang="en-US" sz="2400" b="0" i="0" u="none" strike="noStrike" baseline="0" dirty="0">
                <a:latin typeface="Times New Roman" panose="02020603050405020304" pitchFamily="18" charset="0"/>
              </a:rPr>
              <a:t>The study proceeds backwards from effect to cause</a:t>
            </a:r>
          </a:p>
          <a:p>
            <a:pPr lvl="1"/>
            <a:r>
              <a:rPr lang="en-US" sz="2400" b="0" i="0" u="none" strike="noStrike" baseline="0" dirty="0">
                <a:latin typeface="Times New Roman" panose="02020603050405020304" pitchFamily="18" charset="0"/>
              </a:rPr>
              <a:t>It uses a control or comparison group to support or refute an inference.</a:t>
            </a:r>
          </a:p>
          <a:p>
            <a:pPr algn="l"/>
            <a:r>
              <a:rPr lang="en-US" sz="2400" b="0" i="0" u="none" strike="noStrike" baseline="0" dirty="0">
                <a:latin typeface="Times New Roman" panose="02020603050405020304" pitchFamily="18" charset="0"/>
              </a:rPr>
              <a:t>In case control studies, the unit is the individual rather than the group. </a:t>
            </a:r>
          </a:p>
          <a:p>
            <a:pPr algn="l"/>
            <a:r>
              <a:rPr lang="en-US" sz="2400" b="0" i="0" u="none" strike="noStrike" baseline="0" dirty="0">
                <a:latin typeface="Times New Roman" panose="02020603050405020304" pitchFamily="18" charset="0"/>
              </a:rPr>
              <a:t>The focus Is on a disease or some other health problem that has already developed.</a:t>
            </a:r>
            <a:endParaRPr lang="en-US" sz="2800" dirty="0"/>
          </a:p>
        </p:txBody>
      </p:sp>
    </p:spTree>
    <p:extLst>
      <p:ext uri="{BB962C8B-B14F-4D97-AF65-F5344CB8AC3E}">
        <p14:creationId xmlns:p14="http://schemas.microsoft.com/office/powerpoint/2010/main" val="15684495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4A973-8281-F9A8-4846-32F1AAB1551A}"/>
              </a:ext>
            </a:extLst>
          </p:cNvPr>
          <p:cNvSpPr>
            <a:spLocks noGrp="1"/>
          </p:cNvSpPr>
          <p:nvPr>
            <p:ph type="title"/>
          </p:nvPr>
        </p:nvSpPr>
        <p:spPr/>
        <p:txBody>
          <a:bodyPr/>
          <a:lstStyle/>
          <a:p>
            <a:r>
              <a:rPr lang="en-US" dirty="0"/>
              <a:t>Cases &amp; Controls</a:t>
            </a:r>
          </a:p>
        </p:txBody>
      </p:sp>
      <p:sp>
        <p:nvSpPr>
          <p:cNvPr id="3" name="Content Placeholder 2">
            <a:extLst>
              <a:ext uri="{FF2B5EF4-FFF2-40B4-BE49-F238E27FC236}">
                <a16:creationId xmlns:a16="http://schemas.microsoft.com/office/drawing/2014/main" id="{AF334853-CD26-66D0-0D5A-884ED21EEBB1}"/>
              </a:ext>
            </a:extLst>
          </p:cNvPr>
          <p:cNvSpPr>
            <a:spLocks noGrp="1"/>
          </p:cNvSpPr>
          <p:nvPr>
            <p:ph idx="1"/>
          </p:nvPr>
        </p:nvSpPr>
        <p:spPr/>
        <p:txBody>
          <a:bodyPr>
            <a:normAutofit/>
          </a:bodyPr>
          <a:lstStyle/>
          <a:p>
            <a:pPr algn="l"/>
            <a:r>
              <a:rPr lang="en-US" sz="2800" b="0" i="0" u="none" strike="noStrike" baseline="0" dirty="0">
                <a:latin typeface="Times New Roman" panose="02020603050405020304" pitchFamily="18" charset="0"/>
              </a:rPr>
              <a:t>Cases and controls must be comparable with respect to known “</a:t>
            </a:r>
            <a:r>
              <a:rPr lang="en-US" sz="2800" b="0" i="0" u="none" strike="noStrike" baseline="0" dirty="0">
                <a:highlight>
                  <a:srgbClr val="FFFF00"/>
                </a:highlight>
                <a:latin typeface="Times New Roman" panose="02020603050405020304" pitchFamily="18" charset="0"/>
              </a:rPr>
              <a:t>confounding factors</a:t>
            </a:r>
            <a:r>
              <a:rPr lang="en-US" sz="2800" b="0" i="0" u="none" strike="noStrike" baseline="0" dirty="0">
                <a:latin typeface="Times New Roman" panose="02020603050405020304" pitchFamily="18" charset="0"/>
              </a:rPr>
              <a:t>” such as age, sex, occupation, social status, etc. </a:t>
            </a:r>
          </a:p>
          <a:p>
            <a:pPr algn="l"/>
            <a:r>
              <a:rPr lang="en-US" sz="2800" b="0" i="0" u="none" strike="noStrike" baseline="0" dirty="0">
                <a:latin typeface="Times New Roman" panose="02020603050405020304" pitchFamily="18" charset="0"/>
              </a:rPr>
              <a:t>The questions asked relate to personal characteristics and antecedent exposures which may be responsible for the condition studied. </a:t>
            </a:r>
          </a:p>
          <a:p>
            <a:pPr algn="l"/>
            <a:r>
              <a:rPr lang="en-US" sz="2800" dirty="0">
                <a:latin typeface="Times New Roman" panose="02020603050405020304" pitchFamily="18" charset="0"/>
              </a:rPr>
              <a:t>Example - </a:t>
            </a:r>
            <a:r>
              <a:rPr lang="en-US" sz="2800" b="0" i="0" u="none" strike="noStrike" baseline="0" dirty="0">
                <a:latin typeface="Times New Roman" panose="02020603050405020304" pitchFamily="18" charset="0"/>
              </a:rPr>
              <a:t> one can use as “cases” the immunized children and use as “controls” un-immunized children and look for factors of interest in their past histories.</a:t>
            </a:r>
            <a:endParaRPr lang="en-US" sz="3200" dirty="0"/>
          </a:p>
        </p:txBody>
      </p:sp>
    </p:spTree>
    <p:extLst>
      <p:ext uri="{BB962C8B-B14F-4D97-AF65-F5344CB8AC3E}">
        <p14:creationId xmlns:p14="http://schemas.microsoft.com/office/powerpoint/2010/main" val="13220397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8C49F-BC92-0509-A90A-ACA8D4F4ACF7}"/>
              </a:ext>
            </a:extLst>
          </p:cNvPr>
          <p:cNvSpPr>
            <a:spLocks noGrp="1"/>
          </p:cNvSpPr>
          <p:nvPr>
            <p:ph type="title"/>
          </p:nvPr>
        </p:nvSpPr>
        <p:spPr/>
        <p:txBody>
          <a:bodyPr/>
          <a:lstStyle/>
          <a:p>
            <a:r>
              <a:rPr lang="en-US" dirty="0"/>
              <a:t>Basic design</a:t>
            </a:r>
          </a:p>
        </p:txBody>
      </p:sp>
      <p:graphicFrame>
        <p:nvGraphicFramePr>
          <p:cNvPr id="4" name="Table 4">
            <a:extLst>
              <a:ext uri="{FF2B5EF4-FFF2-40B4-BE49-F238E27FC236}">
                <a16:creationId xmlns:a16="http://schemas.microsoft.com/office/drawing/2014/main" id="{FFD5B72D-90C3-C21A-6C59-6858F825EEF8}"/>
              </a:ext>
            </a:extLst>
          </p:cNvPr>
          <p:cNvGraphicFramePr>
            <a:graphicFrameLocks noGrp="1"/>
          </p:cNvGraphicFramePr>
          <p:nvPr>
            <p:ph idx="1"/>
            <p:extLst>
              <p:ext uri="{D42A27DB-BD31-4B8C-83A1-F6EECF244321}">
                <p14:modId xmlns:p14="http://schemas.microsoft.com/office/powerpoint/2010/main" val="3688580924"/>
              </p:ext>
            </p:extLst>
          </p:nvPr>
        </p:nvGraphicFramePr>
        <p:xfrm>
          <a:off x="838200" y="2147131"/>
          <a:ext cx="4695093" cy="3887756"/>
        </p:xfrm>
        <a:graphic>
          <a:graphicData uri="http://schemas.openxmlformats.org/drawingml/2006/table">
            <a:tbl>
              <a:tblPr firstRow="1" bandRow="1">
                <a:tableStyleId>{5C22544A-7EE6-4342-B048-85BDC9FD1C3A}</a:tableStyleId>
              </a:tblPr>
              <a:tblGrid>
                <a:gridCol w="1856873">
                  <a:extLst>
                    <a:ext uri="{9D8B030D-6E8A-4147-A177-3AD203B41FA5}">
                      <a16:colId xmlns:a16="http://schemas.microsoft.com/office/drawing/2014/main" val="100714515"/>
                    </a:ext>
                  </a:extLst>
                </a:gridCol>
                <a:gridCol w="1273189">
                  <a:extLst>
                    <a:ext uri="{9D8B030D-6E8A-4147-A177-3AD203B41FA5}">
                      <a16:colId xmlns:a16="http://schemas.microsoft.com/office/drawing/2014/main" val="1863603709"/>
                    </a:ext>
                  </a:extLst>
                </a:gridCol>
                <a:gridCol w="1565031">
                  <a:extLst>
                    <a:ext uri="{9D8B030D-6E8A-4147-A177-3AD203B41FA5}">
                      <a16:colId xmlns:a16="http://schemas.microsoft.com/office/drawing/2014/main" val="2320653335"/>
                    </a:ext>
                  </a:extLst>
                </a:gridCol>
              </a:tblGrid>
              <a:tr h="1627522">
                <a:tc>
                  <a:txBody>
                    <a:bodyPr/>
                    <a:lstStyle/>
                    <a:p>
                      <a:r>
                        <a:rPr lang="en-US" sz="3200" dirty="0"/>
                        <a:t>Suspected / Risk factors</a:t>
                      </a:r>
                    </a:p>
                  </a:txBody>
                  <a:tcPr/>
                </a:tc>
                <a:tc>
                  <a:txBody>
                    <a:bodyPr/>
                    <a:lstStyle/>
                    <a:p>
                      <a:r>
                        <a:rPr lang="en-US" sz="3200" dirty="0"/>
                        <a:t>Cases</a:t>
                      </a:r>
                    </a:p>
                  </a:txBody>
                  <a:tcPr/>
                </a:tc>
                <a:tc>
                  <a:txBody>
                    <a:bodyPr/>
                    <a:lstStyle/>
                    <a:p>
                      <a:r>
                        <a:rPr lang="en-US" sz="3200" dirty="0"/>
                        <a:t>Control</a:t>
                      </a:r>
                    </a:p>
                  </a:txBody>
                  <a:tcPr/>
                </a:tc>
                <a:extLst>
                  <a:ext uri="{0D108BD9-81ED-4DB2-BD59-A6C34878D82A}">
                    <a16:rowId xmlns:a16="http://schemas.microsoft.com/office/drawing/2014/main" val="1973071937"/>
                  </a:ext>
                </a:extLst>
              </a:tr>
              <a:tr h="1130117">
                <a:tc>
                  <a:txBody>
                    <a:bodyPr/>
                    <a:lstStyle/>
                    <a:p>
                      <a:r>
                        <a:rPr lang="en-US" sz="3200" dirty="0"/>
                        <a:t>Present</a:t>
                      </a:r>
                    </a:p>
                  </a:txBody>
                  <a:tcPr/>
                </a:tc>
                <a:tc>
                  <a:txBody>
                    <a:bodyPr/>
                    <a:lstStyle/>
                    <a:p>
                      <a:pPr algn="ctr"/>
                      <a:r>
                        <a:rPr lang="en-US" sz="3200" dirty="0"/>
                        <a:t>a </a:t>
                      </a:r>
                    </a:p>
                  </a:txBody>
                  <a:tcPr/>
                </a:tc>
                <a:tc>
                  <a:txBody>
                    <a:bodyPr/>
                    <a:lstStyle/>
                    <a:p>
                      <a:pPr algn="ctr"/>
                      <a:r>
                        <a:rPr lang="en-US" sz="3200" dirty="0"/>
                        <a:t> b</a:t>
                      </a:r>
                    </a:p>
                  </a:txBody>
                  <a:tcPr/>
                </a:tc>
                <a:extLst>
                  <a:ext uri="{0D108BD9-81ED-4DB2-BD59-A6C34878D82A}">
                    <a16:rowId xmlns:a16="http://schemas.microsoft.com/office/drawing/2014/main" val="3453298860"/>
                  </a:ext>
                </a:extLst>
              </a:tr>
              <a:tr h="1130117">
                <a:tc>
                  <a:txBody>
                    <a:bodyPr/>
                    <a:lstStyle/>
                    <a:p>
                      <a:r>
                        <a:rPr lang="en-US" sz="3200" dirty="0"/>
                        <a:t>Absent</a:t>
                      </a:r>
                    </a:p>
                  </a:txBody>
                  <a:tcPr/>
                </a:tc>
                <a:tc>
                  <a:txBody>
                    <a:bodyPr/>
                    <a:lstStyle/>
                    <a:p>
                      <a:pPr algn="ctr"/>
                      <a:r>
                        <a:rPr lang="en-US" sz="3200" dirty="0"/>
                        <a:t> c</a:t>
                      </a:r>
                    </a:p>
                  </a:txBody>
                  <a:tcPr/>
                </a:tc>
                <a:tc>
                  <a:txBody>
                    <a:bodyPr/>
                    <a:lstStyle/>
                    <a:p>
                      <a:pPr algn="ctr"/>
                      <a:r>
                        <a:rPr lang="en-US" sz="3200" dirty="0"/>
                        <a:t> d</a:t>
                      </a:r>
                    </a:p>
                  </a:txBody>
                  <a:tcPr/>
                </a:tc>
                <a:extLst>
                  <a:ext uri="{0D108BD9-81ED-4DB2-BD59-A6C34878D82A}">
                    <a16:rowId xmlns:a16="http://schemas.microsoft.com/office/drawing/2014/main" val="1965329359"/>
                  </a:ext>
                </a:extLst>
              </a:tr>
            </a:tbl>
          </a:graphicData>
        </a:graphic>
      </p:graphicFrame>
      <p:pic>
        <p:nvPicPr>
          <p:cNvPr id="1026" name="Picture 2" descr="Case Control Studies – howMed">
            <a:extLst>
              <a:ext uri="{FF2B5EF4-FFF2-40B4-BE49-F238E27FC236}">
                <a16:creationId xmlns:a16="http://schemas.microsoft.com/office/drawing/2014/main" id="{132A25D7-5AB2-C63D-55C3-FE5DA033331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3684" t="27836" r="7719" b="8530"/>
          <a:stretch/>
        </p:blipFill>
        <p:spPr bwMode="auto">
          <a:xfrm>
            <a:off x="5533294" y="1909009"/>
            <a:ext cx="5820505" cy="436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62265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D7F63-6887-E4BB-8E40-988487F5CF24}"/>
              </a:ext>
            </a:extLst>
          </p:cNvPr>
          <p:cNvSpPr>
            <a:spLocks noGrp="1"/>
          </p:cNvSpPr>
          <p:nvPr>
            <p:ph type="title"/>
          </p:nvPr>
        </p:nvSpPr>
        <p:spPr/>
        <p:txBody>
          <a:bodyPr/>
          <a:lstStyle/>
          <a:p>
            <a:r>
              <a:rPr lang="en-US" dirty="0"/>
              <a:t>Basic steps</a:t>
            </a:r>
          </a:p>
        </p:txBody>
      </p:sp>
      <p:sp>
        <p:nvSpPr>
          <p:cNvPr id="3" name="Content Placeholder 2">
            <a:extLst>
              <a:ext uri="{FF2B5EF4-FFF2-40B4-BE49-F238E27FC236}">
                <a16:creationId xmlns:a16="http://schemas.microsoft.com/office/drawing/2014/main" id="{B5AED162-227F-BF96-1C23-35F7009F278E}"/>
              </a:ext>
            </a:extLst>
          </p:cNvPr>
          <p:cNvSpPr>
            <a:spLocks noGrp="1"/>
          </p:cNvSpPr>
          <p:nvPr>
            <p:ph idx="1"/>
          </p:nvPr>
        </p:nvSpPr>
        <p:spPr/>
        <p:txBody>
          <a:bodyPr>
            <a:normAutofit/>
          </a:bodyPr>
          <a:lstStyle/>
          <a:p>
            <a:pPr algn="l"/>
            <a:r>
              <a:rPr lang="en-US" sz="3200" b="0" i="0" u="none" strike="noStrike" baseline="0" dirty="0">
                <a:latin typeface="Times New Roman" panose="02020603050405020304" pitchFamily="18" charset="0"/>
              </a:rPr>
              <a:t>Selection of cases and controls</a:t>
            </a:r>
          </a:p>
          <a:p>
            <a:pPr algn="l"/>
            <a:r>
              <a:rPr lang="en-US" sz="3200" b="0" i="0" u="none" strike="noStrike" baseline="0" dirty="0">
                <a:latin typeface="Times New Roman" panose="02020603050405020304" pitchFamily="18" charset="0"/>
              </a:rPr>
              <a:t>Matching</a:t>
            </a:r>
          </a:p>
          <a:p>
            <a:pPr algn="l"/>
            <a:r>
              <a:rPr lang="en-US" sz="3200" b="0" i="0" u="none" strike="noStrike" baseline="0" dirty="0">
                <a:latin typeface="Times New Roman" panose="02020603050405020304" pitchFamily="18" charset="0"/>
              </a:rPr>
              <a:t>Measurement of exposure</a:t>
            </a:r>
          </a:p>
          <a:p>
            <a:pPr algn="l"/>
            <a:r>
              <a:rPr lang="en-US" sz="3200" b="0" i="0" u="none" strike="noStrike" baseline="0" dirty="0">
                <a:latin typeface="Times New Roman" panose="02020603050405020304" pitchFamily="18" charset="0"/>
              </a:rPr>
              <a:t>Analysis and interpretation.</a:t>
            </a:r>
            <a:endParaRPr lang="en-US" sz="3600" dirty="0"/>
          </a:p>
        </p:txBody>
      </p:sp>
    </p:spTree>
    <p:extLst>
      <p:ext uri="{BB962C8B-B14F-4D97-AF65-F5344CB8AC3E}">
        <p14:creationId xmlns:p14="http://schemas.microsoft.com/office/powerpoint/2010/main" val="3148718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674A0-E535-0051-93C9-0057BEDE2256}"/>
              </a:ext>
            </a:extLst>
          </p:cNvPr>
          <p:cNvSpPr>
            <a:spLocks noGrp="1"/>
          </p:cNvSpPr>
          <p:nvPr>
            <p:ph type="title"/>
          </p:nvPr>
        </p:nvSpPr>
        <p:spPr/>
        <p:txBody>
          <a:bodyPr/>
          <a:lstStyle/>
          <a:p>
            <a:r>
              <a:rPr lang="en-US" dirty="0"/>
              <a:t>Selection of cases</a:t>
            </a:r>
          </a:p>
        </p:txBody>
      </p:sp>
      <p:sp>
        <p:nvSpPr>
          <p:cNvPr id="3" name="Content Placeholder 2">
            <a:extLst>
              <a:ext uri="{FF2B5EF4-FFF2-40B4-BE49-F238E27FC236}">
                <a16:creationId xmlns:a16="http://schemas.microsoft.com/office/drawing/2014/main" id="{6F37F95C-963E-F77C-95D1-A1BBDA8CE99D}"/>
              </a:ext>
            </a:extLst>
          </p:cNvPr>
          <p:cNvSpPr>
            <a:spLocks noGrp="1"/>
          </p:cNvSpPr>
          <p:nvPr>
            <p:ph idx="1"/>
          </p:nvPr>
        </p:nvSpPr>
        <p:spPr/>
        <p:txBody>
          <a:bodyPr>
            <a:normAutofit lnSpcReduction="10000"/>
          </a:bodyPr>
          <a:lstStyle/>
          <a:p>
            <a:pPr algn="l"/>
            <a:r>
              <a:rPr lang="en-US" sz="2800" b="0" i="1" u="none" strike="noStrike" baseline="0" dirty="0">
                <a:latin typeface="Times New Roman" panose="02020603050405020304" pitchFamily="18" charset="0"/>
              </a:rPr>
              <a:t>Definition of a case </a:t>
            </a:r>
            <a:r>
              <a:rPr lang="en-US" sz="2800" b="0" i="0" u="none" strike="noStrike" baseline="0" dirty="0">
                <a:latin typeface="Times New Roman" panose="02020603050405020304" pitchFamily="18" charset="0"/>
              </a:rPr>
              <a:t>: The prior definition of what constitutes a “case” is crucial</a:t>
            </a:r>
          </a:p>
          <a:p>
            <a:pPr lvl="1"/>
            <a:r>
              <a:rPr lang="en-US" sz="2400" b="0" i="0" u="none" strike="noStrike" baseline="0" dirty="0">
                <a:latin typeface="Times New Roman" panose="02020603050405020304" pitchFamily="18" charset="0"/>
              </a:rPr>
              <a:t>DIAGNOSTIC CRITERIA : </a:t>
            </a:r>
            <a:r>
              <a:rPr lang="en-US" sz="2800" b="0" i="0" u="none" strike="noStrike" baseline="0" dirty="0">
                <a:latin typeface="Times New Roman" panose="02020603050405020304" pitchFamily="18" charset="0"/>
              </a:rPr>
              <a:t>The diagnostic criteria of the disease and the stage of disease, if any (e.g., breast cancer Stage I) to be included in the study must be specified before the study is undertaken. </a:t>
            </a:r>
            <a:endParaRPr lang="en-US" sz="2800" dirty="0">
              <a:latin typeface="Times New Roman" panose="02020603050405020304" pitchFamily="18" charset="0"/>
            </a:endParaRPr>
          </a:p>
          <a:p>
            <a:pPr lvl="1"/>
            <a:r>
              <a:rPr lang="en-US" sz="2400" b="0" i="0" u="none" strike="noStrike" baseline="0" dirty="0">
                <a:latin typeface="Times New Roman" panose="02020603050405020304" pitchFamily="18" charset="0"/>
              </a:rPr>
              <a:t>ELIGIBILITY CRITERIA : A criterion customarily </a:t>
            </a:r>
            <a:r>
              <a:rPr lang="en-US" sz="2800" b="0" i="0" u="none" strike="noStrike" baseline="0" dirty="0">
                <a:latin typeface="Times New Roman" panose="02020603050405020304" pitchFamily="18" charset="0"/>
              </a:rPr>
              <a:t>employed is the requirement that only newly diagnosed </a:t>
            </a:r>
            <a:r>
              <a:rPr lang="en-US" sz="2800" b="1" i="1" u="none" strike="noStrike" baseline="0" dirty="0">
                <a:latin typeface="Arial" panose="020B0604020202020204" pitchFamily="34" charset="0"/>
              </a:rPr>
              <a:t>(incident) </a:t>
            </a:r>
            <a:r>
              <a:rPr lang="en-US" sz="2800" b="0" i="0" u="none" strike="noStrike" baseline="0" dirty="0">
                <a:latin typeface="Times New Roman" panose="02020603050405020304" pitchFamily="18" charset="0"/>
              </a:rPr>
              <a:t>cases within a specified period of time are eligible than old cases or cases in advanced stages of the disease </a:t>
            </a:r>
            <a:r>
              <a:rPr lang="en-US" sz="2800" b="1" i="1" u="none" strike="noStrike" baseline="0" dirty="0">
                <a:latin typeface="Arial" panose="020B0604020202020204" pitchFamily="34" charset="0"/>
              </a:rPr>
              <a:t>(prevalent cases).</a:t>
            </a:r>
          </a:p>
        </p:txBody>
      </p:sp>
    </p:spTree>
    <p:extLst>
      <p:ext uri="{BB962C8B-B14F-4D97-AF65-F5344CB8AC3E}">
        <p14:creationId xmlns:p14="http://schemas.microsoft.com/office/powerpoint/2010/main" val="2967707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8CD93-8FCC-3DDC-7302-D62EEF0BDDD1}"/>
              </a:ext>
            </a:extLst>
          </p:cNvPr>
          <p:cNvSpPr>
            <a:spLocks noGrp="1"/>
          </p:cNvSpPr>
          <p:nvPr>
            <p:ph type="title"/>
          </p:nvPr>
        </p:nvSpPr>
        <p:spPr/>
        <p:txBody>
          <a:bodyPr/>
          <a:lstStyle/>
          <a:p>
            <a:r>
              <a:rPr lang="en-US" dirty="0"/>
              <a:t>Sources of cases</a:t>
            </a:r>
          </a:p>
        </p:txBody>
      </p:sp>
      <p:sp>
        <p:nvSpPr>
          <p:cNvPr id="3" name="Content Placeholder 2">
            <a:extLst>
              <a:ext uri="{FF2B5EF4-FFF2-40B4-BE49-F238E27FC236}">
                <a16:creationId xmlns:a16="http://schemas.microsoft.com/office/drawing/2014/main" id="{05D74D8A-FAAF-91C4-F21C-05984E9955C9}"/>
              </a:ext>
            </a:extLst>
          </p:cNvPr>
          <p:cNvSpPr>
            <a:spLocks noGrp="1"/>
          </p:cNvSpPr>
          <p:nvPr>
            <p:ph idx="1"/>
          </p:nvPr>
        </p:nvSpPr>
        <p:spPr/>
        <p:txBody>
          <a:bodyPr>
            <a:normAutofit fontScale="85000" lnSpcReduction="10000"/>
          </a:bodyPr>
          <a:lstStyle/>
          <a:p>
            <a:r>
              <a:rPr lang="en-US" sz="2400" b="0" i="0" u="none" strike="noStrike" baseline="0" dirty="0">
                <a:latin typeface="Times New Roman" panose="02020603050405020304" pitchFamily="18" charset="0"/>
              </a:rPr>
              <a:t>HOSPITALS : It is often convenient to select cases from hospitals. The cases </a:t>
            </a:r>
            <a:r>
              <a:rPr lang="en-US" sz="2800" b="0" i="0" u="none" strike="noStrike" baseline="0" dirty="0">
                <a:latin typeface="Times New Roman" panose="02020603050405020304" pitchFamily="18" charset="0"/>
              </a:rPr>
              <a:t>may be drawn from a single hospital or a network of hospitals, admitted during a specified period of time. </a:t>
            </a:r>
          </a:p>
          <a:p>
            <a:pPr lvl="1"/>
            <a:r>
              <a:rPr lang="en-US" sz="2400" b="0" i="0" u="none" strike="noStrike" baseline="0" dirty="0">
                <a:latin typeface="Times New Roman" panose="02020603050405020304" pitchFamily="18" charset="0"/>
              </a:rPr>
              <a:t>The </a:t>
            </a:r>
            <a:r>
              <a:rPr lang="en-US" sz="2800" b="0" i="0" u="none" strike="noStrike" baseline="0" dirty="0">
                <a:latin typeface="Times New Roman" panose="02020603050405020304" pitchFamily="18" charset="0"/>
              </a:rPr>
              <a:t>entire case series or a random sample of it is selected for study, </a:t>
            </a:r>
          </a:p>
          <a:p>
            <a:r>
              <a:rPr lang="en-US" sz="2800" b="0" i="0" u="none" strike="noStrike" baseline="0" dirty="0">
                <a:latin typeface="Times New Roman" panose="02020603050405020304" pitchFamily="18" charset="0"/>
              </a:rPr>
              <a:t>GENERAL POPULATION : In a population-based case control study, all cases of the study disease occurring within a defined geographic area during a specified period of time are ascertained, often through a survey, a disease registry or hospital network. The entire case series or a random sample of it is selected for study. The cases should be fairly representative of all cases in the community.</a:t>
            </a:r>
          </a:p>
          <a:p>
            <a:r>
              <a:rPr lang="en-US" sz="2800" dirty="0">
                <a:latin typeface="Times New Roman" panose="02020603050405020304" pitchFamily="18" charset="0"/>
              </a:rPr>
              <a:t>Cohort – Nested cases control study</a:t>
            </a:r>
            <a:endParaRPr lang="en-US" sz="2800" dirty="0"/>
          </a:p>
          <a:p>
            <a:endParaRPr lang="en-US" sz="2800" dirty="0"/>
          </a:p>
        </p:txBody>
      </p:sp>
    </p:spTree>
    <p:extLst>
      <p:ext uri="{BB962C8B-B14F-4D97-AF65-F5344CB8AC3E}">
        <p14:creationId xmlns:p14="http://schemas.microsoft.com/office/powerpoint/2010/main" val="13978801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DA109-3257-409D-E314-E9642151A52B}"/>
              </a:ext>
            </a:extLst>
          </p:cNvPr>
          <p:cNvSpPr>
            <a:spLocks noGrp="1"/>
          </p:cNvSpPr>
          <p:nvPr>
            <p:ph type="title"/>
          </p:nvPr>
        </p:nvSpPr>
        <p:spPr/>
        <p:txBody>
          <a:bodyPr/>
          <a:lstStyle/>
          <a:p>
            <a:r>
              <a:rPr lang="en-US" dirty="0"/>
              <a:t>Selection of controls</a:t>
            </a:r>
          </a:p>
        </p:txBody>
      </p:sp>
      <p:sp>
        <p:nvSpPr>
          <p:cNvPr id="3" name="Content Placeholder 2">
            <a:extLst>
              <a:ext uri="{FF2B5EF4-FFF2-40B4-BE49-F238E27FC236}">
                <a16:creationId xmlns:a16="http://schemas.microsoft.com/office/drawing/2014/main" id="{BCC5D8CD-C614-65DC-F2B2-87D474B4B83A}"/>
              </a:ext>
            </a:extLst>
          </p:cNvPr>
          <p:cNvSpPr>
            <a:spLocks noGrp="1"/>
          </p:cNvSpPr>
          <p:nvPr>
            <p:ph idx="1"/>
          </p:nvPr>
        </p:nvSpPr>
        <p:spPr/>
        <p:txBody>
          <a:bodyPr>
            <a:normAutofit fontScale="85000" lnSpcReduction="10000"/>
          </a:bodyPr>
          <a:lstStyle/>
          <a:p>
            <a:pPr algn="l"/>
            <a:r>
              <a:rPr lang="en-US" sz="3200" b="0" i="0" u="none" strike="noStrike" baseline="0" dirty="0">
                <a:latin typeface="Times New Roman" panose="02020603050405020304" pitchFamily="18" charset="0"/>
              </a:rPr>
              <a:t>The controls must be free from the disease under study. </a:t>
            </a:r>
          </a:p>
          <a:p>
            <a:pPr algn="l"/>
            <a:r>
              <a:rPr lang="en-US" sz="3200" b="0" i="0" u="none" strike="noStrike" baseline="0" dirty="0">
                <a:latin typeface="Times New Roman" panose="02020603050405020304" pitchFamily="18" charset="0"/>
              </a:rPr>
              <a:t>They must be as similar to the cases as possible, except for the absence of the disease under study. </a:t>
            </a:r>
          </a:p>
          <a:p>
            <a:pPr algn="l"/>
            <a:r>
              <a:rPr lang="en-US" sz="3200" b="0" i="0" u="none" strike="noStrike" baseline="0" dirty="0">
                <a:latin typeface="Times New Roman" panose="02020603050405020304" pitchFamily="18" charset="0"/>
              </a:rPr>
              <a:t>As a rule, a comparison group is identified before a study is done, comprising of persons who have not been exposed to the disease </a:t>
            </a:r>
            <a:r>
              <a:rPr lang="en-US" sz="3600" b="0" i="0" u="none" strike="noStrike" baseline="0" dirty="0">
                <a:latin typeface="Times New Roman" panose="02020603050405020304" pitchFamily="18" charset="0"/>
              </a:rPr>
              <a:t>or</a:t>
            </a:r>
            <a:r>
              <a:rPr lang="en-US" sz="3200" b="0" i="0" u="none" strike="noStrike" baseline="0" dirty="0">
                <a:latin typeface="Times New Roman" panose="02020603050405020304" pitchFamily="18" charset="0"/>
              </a:rPr>
              <a:t> some other factor whose influence is being studied. </a:t>
            </a:r>
          </a:p>
          <a:p>
            <a:pPr algn="l"/>
            <a:r>
              <a:rPr lang="en-US" sz="3200" b="0" i="0" u="none" strike="noStrike" baseline="0" dirty="0">
                <a:latin typeface="Times New Roman" panose="02020603050405020304" pitchFamily="18" charset="0"/>
              </a:rPr>
              <a:t>Difficulties may arise in the selection of controls if the disease under investigation occurs in subclinical forms whose diagnosis is difficult. </a:t>
            </a:r>
            <a:endParaRPr lang="en-US" sz="3600" dirty="0"/>
          </a:p>
        </p:txBody>
      </p:sp>
    </p:spTree>
    <p:extLst>
      <p:ext uri="{BB962C8B-B14F-4D97-AF65-F5344CB8AC3E}">
        <p14:creationId xmlns:p14="http://schemas.microsoft.com/office/powerpoint/2010/main" val="7697662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8BC47-1AA3-74AF-2289-F0C0B7FB527B}"/>
              </a:ext>
            </a:extLst>
          </p:cNvPr>
          <p:cNvSpPr>
            <a:spLocks noGrp="1"/>
          </p:cNvSpPr>
          <p:nvPr>
            <p:ph type="title"/>
          </p:nvPr>
        </p:nvSpPr>
        <p:spPr>
          <a:xfrm>
            <a:off x="838200" y="584990"/>
            <a:ext cx="10515600" cy="521915"/>
          </a:xfrm>
        </p:spPr>
        <p:txBody>
          <a:bodyPr>
            <a:normAutofit fontScale="90000"/>
          </a:bodyPr>
          <a:lstStyle/>
          <a:p>
            <a:r>
              <a:rPr lang="en-US" dirty="0"/>
              <a:t>Sources of Control</a:t>
            </a:r>
          </a:p>
        </p:txBody>
      </p:sp>
      <p:sp>
        <p:nvSpPr>
          <p:cNvPr id="3" name="Content Placeholder 2">
            <a:extLst>
              <a:ext uri="{FF2B5EF4-FFF2-40B4-BE49-F238E27FC236}">
                <a16:creationId xmlns:a16="http://schemas.microsoft.com/office/drawing/2014/main" id="{CFB66070-5C24-E5C6-519F-D83EF9D9ED43}"/>
              </a:ext>
            </a:extLst>
          </p:cNvPr>
          <p:cNvSpPr>
            <a:spLocks noGrp="1"/>
          </p:cNvSpPr>
          <p:nvPr>
            <p:ph idx="1"/>
          </p:nvPr>
        </p:nvSpPr>
        <p:spPr>
          <a:xfrm>
            <a:off x="144379" y="1315453"/>
            <a:ext cx="11903242" cy="5358063"/>
          </a:xfrm>
        </p:spPr>
        <p:txBody>
          <a:bodyPr>
            <a:normAutofit fontScale="92500" lnSpcReduction="10000"/>
          </a:bodyPr>
          <a:lstStyle/>
          <a:p>
            <a:pPr algn="l"/>
            <a:r>
              <a:rPr lang="en-US" sz="2800" b="0" i="0" u="none" strike="noStrike" baseline="0" dirty="0">
                <a:latin typeface="Times New Roman" panose="02020603050405020304" pitchFamily="18" charset="0"/>
              </a:rPr>
              <a:t>HOSPITAL CONTROLS: The controls may be selected from the same hospital as the cases, but with different </a:t>
            </a:r>
            <a:r>
              <a:rPr lang="en-US" sz="2800" b="0" i="0" u="none" strike="noStrike" baseline="0" dirty="0" err="1">
                <a:latin typeface="Times New Roman" panose="02020603050405020304" pitchFamily="18" charset="0"/>
              </a:rPr>
              <a:t>illneses</a:t>
            </a:r>
            <a:r>
              <a:rPr lang="en-US" sz="2800" b="0" i="0" u="none" strike="noStrike" baseline="0" dirty="0">
                <a:latin typeface="Times New Roman" panose="02020603050405020304" pitchFamily="18" charset="0"/>
              </a:rPr>
              <a:t> other than the study disease. </a:t>
            </a:r>
          </a:p>
          <a:p>
            <a:pPr algn="l"/>
            <a:r>
              <a:rPr lang="en-US" sz="2800" b="0" i="0" u="none" strike="noStrike" baseline="0" dirty="0">
                <a:latin typeface="Times New Roman" panose="02020603050405020304" pitchFamily="18" charset="0"/>
              </a:rPr>
              <a:t>Usually it is unwise to choose a control group from a group of patients with one disease. This is because hospital controls are often a source of “selection bias”. </a:t>
            </a:r>
          </a:p>
          <a:p>
            <a:pPr algn="l"/>
            <a:r>
              <a:rPr lang="en-US" sz="2800" b="0" i="0" u="none" strike="noStrike" baseline="0" dirty="0">
                <a:latin typeface="Times New Roman" panose="02020603050405020304" pitchFamily="18" charset="0"/>
              </a:rPr>
              <a:t>Many hospital patients may have diseases which are also influenced by the factor under study. For example, if one was studying the relationship of smoking and myocardial infarction and chooses bladder cancer cases as controls, the relationship between smoking and myocardial infarction may not have been demonstrated. </a:t>
            </a:r>
          </a:p>
          <a:p>
            <a:pPr algn="l"/>
            <a:r>
              <a:rPr lang="en-US" sz="2800" b="0" i="0" u="none" strike="noStrike" baseline="0" dirty="0">
                <a:latin typeface="Times New Roman" panose="02020603050405020304" pitchFamily="18" charset="0"/>
              </a:rPr>
              <a:t>Care must be taken when using other patients as comparison subjects, for they differ in many ways from a normal healthy population.</a:t>
            </a:r>
          </a:p>
          <a:p>
            <a:pPr algn="l"/>
            <a:r>
              <a:rPr lang="en-US" sz="2800" b="0" i="0" u="none" strike="noStrike" baseline="0" dirty="0">
                <a:latin typeface="Times New Roman" panose="02020603050405020304" pitchFamily="18" charset="0"/>
              </a:rPr>
              <a:t>Ideally the controls should have undergone the same diagnostic work-up as cases, but have been found to be negative. But this may not be acceptable to most controls</a:t>
            </a:r>
            <a:endParaRPr lang="en-US" sz="3200" dirty="0"/>
          </a:p>
        </p:txBody>
      </p:sp>
    </p:spTree>
    <p:extLst>
      <p:ext uri="{BB962C8B-B14F-4D97-AF65-F5344CB8AC3E}">
        <p14:creationId xmlns:p14="http://schemas.microsoft.com/office/powerpoint/2010/main" val="20247802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8BC47-1AA3-74AF-2289-F0C0B7FB527B}"/>
              </a:ext>
            </a:extLst>
          </p:cNvPr>
          <p:cNvSpPr>
            <a:spLocks noGrp="1"/>
          </p:cNvSpPr>
          <p:nvPr>
            <p:ph type="title"/>
          </p:nvPr>
        </p:nvSpPr>
        <p:spPr/>
        <p:txBody>
          <a:bodyPr/>
          <a:lstStyle/>
          <a:p>
            <a:r>
              <a:rPr lang="en-US" dirty="0"/>
              <a:t>Sources of Control</a:t>
            </a:r>
          </a:p>
        </p:txBody>
      </p:sp>
      <p:sp>
        <p:nvSpPr>
          <p:cNvPr id="3" name="Content Placeholder 2">
            <a:extLst>
              <a:ext uri="{FF2B5EF4-FFF2-40B4-BE49-F238E27FC236}">
                <a16:creationId xmlns:a16="http://schemas.microsoft.com/office/drawing/2014/main" id="{CFB66070-5C24-E5C6-519F-D83EF9D9ED43}"/>
              </a:ext>
            </a:extLst>
          </p:cNvPr>
          <p:cNvSpPr>
            <a:spLocks noGrp="1"/>
          </p:cNvSpPr>
          <p:nvPr>
            <p:ph idx="1"/>
          </p:nvPr>
        </p:nvSpPr>
        <p:spPr>
          <a:xfrm>
            <a:off x="401053" y="1701801"/>
            <a:ext cx="11534273" cy="4458367"/>
          </a:xfrm>
        </p:spPr>
        <p:txBody>
          <a:bodyPr>
            <a:normAutofit/>
          </a:bodyPr>
          <a:lstStyle/>
          <a:p>
            <a:pPr algn="l"/>
            <a:r>
              <a:rPr lang="en-US" sz="2400" b="0" i="0" u="none" strike="noStrike" baseline="0" dirty="0">
                <a:latin typeface="Times New Roman" panose="02020603050405020304" pitchFamily="18" charset="0"/>
              </a:rPr>
              <a:t>RELATIVES : The controls may also be taken up from relatives (spouses and siblings). </a:t>
            </a:r>
          </a:p>
          <a:p>
            <a:pPr lvl="1"/>
            <a:r>
              <a:rPr lang="en-US" sz="2000" b="0" i="0" u="none" strike="noStrike" baseline="0" dirty="0">
                <a:latin typeface="Times New Roman" panose="02020603050405020304" pitchFamily="18" charset="0"/>
              </a:rPr>
              <a:t>Sibling controls are </a:t>
            </a:r>
            <a:r>
              <a:rPr lang="en-US" sz="2400" b="0" i="0" u="none" strike="noStrike" baseline="0" dirty="0">
                <a:latin typeface="Times New Roman" panose="02020603050405020304" pitchFamily="18" charset="0"/>
              </a:rPr>
              <a:t>unsuitable where genetic conditions are under study.</a:t>
            </a:r>
          </a:p>
          <a:p>
            <a:pPr algn="l"/>
            <a:r>
              <a:rPr lang="en-US" sz="2400" b="0" i="0" u="none" strike="noStrike" baseline="0" dirty="0">
                <a:latin typeface="Times New Roman" panose="02020603050405020304" pitchFamily="18" charset="0"/>
              </a:rPr>
              <a:t>NEIGHBOURHOOD CONTROLS : The controls may be drawn from persons living in the same locality as cases, persons working in the same factory or children attending the same school.</a:t>
            </a:r>
          </a:p>
          <a:p>
            <a:pPr algn="l"/>
            <a:r>
              <a:rPr lang="en-US" sz="2400" b="0" i="0" u="none" strike="noStrike" baseline="0" dirty="0">
                <a:latin typeface="Times New Roman" panose="02020603050405020304" pitchFamily="18" charset="0"/>
              </a:rPr>
              <a:t>GENERAL POPULATION : Population controls can be obtained from defined geographic areas, by taking a random sample of individuals free of the study disease. </a:t>
            </a:r>
          </a:p>
          <a:p>
            <a:pPr lvl="1"/>
            <a:r>
              <a:rPr lang="en-US" sz="2000" b="0" i="0" u="none" strike="noStrike" baseline="0" dirty="0">
                <a:latin typeface="Times New Roman" panose="02020603050405020304" pitchFamily="18" charset="0"/>
              </a:rPr>
              <a:t>We must use great care in the selection of controls </a:t>
            </a:r>
            <a:r>
              <a:rPr lang="en-US" sz="2400" b="0" i="0" u="none" strike="noStrike" baseline="0" dirty="0">
                <a:latin typeface="Times New Roman" panose="02020603050405020304" pitchFamily="18" charset="0"/>
              </a:rPr>
              <a:t>to be certain that they accurately reflect the population that is free of the disease of interest.</a:t>
            </a:r>
            <a:endParaRPr lang="en-US" sz="2400" dirty="0"/>
          </a:p>
        </p:txBody>
      </p:sp>
    </p:spTree>
    <p:extLst>
      <p:ext uri="{BB962C8B-B14F-4D97-AF65-F5344CB8AC3E}">
        <p14:creationId xmlns:p14="http://schemas.microsoft.com/office/powerpoint/2010/main" val="6200836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79190-3A69-D9F1-F662-098FAF978DE3}"/>
              </a:ext>
            </a:extLst>
          </p:cNvPr>
          <p:cNvSpPr>
            <a:spLocks noGrp="1"/>
          </p:cNvSpPr>
          <p:nvPr>
            <p:ph type="title"/>
          </p:nvPr>
        </p:nvSpPr>
        <p:spPr/>
        <p:txBody>
          <a:bodyPr/>
          <a:lstStyle/>
          <a:p>
            <a:r>
              <a:rPr lang="en-US" dirty="0"/>
              <a:t>Validity</a:t>
            </a:r>
          </a:p>
        </p:txBody>
      </p:sp>
      <p:sp>
        <p:nvSpPr>
          <p:cNvPr id="3" name="Content Placeholder 2">
            <a:extLst>
              <a:ext uri="{FF2B5EF4-FFF2-40B4-BE49-F238E27FC236}">
                <a16:creationId xmlns:a16="http://schemas.microsoft.com/office/drawing/2014/main" id="{0C1A499A-99A6-2781-84AB-0C953B8D21ED}"/>
              </a:ext>
            </a:extLst>
          </p:cNvPr>
          <p:cNvSpPr>
            <a:spLocks noGrp="1"/>
          </p:cNvSpPr>
          <p:nvPr>
            <p:ph idx="1"/>
          </p:nvPr>
        </p:nvSpPr>
        <p:spPr/>
        <p:txBody>
          <a:bodyPr>
            <a:normAutofit fontScale="92500" lnSpcReduction="10000"/>
          </a:bodyPr>
          <a:lstStyle/>
          <a:p>
            <a:pPr algn="l"/>
            <a:r>
              <a:rPr lang="en-US" sz="2800" b="0" i="0" u="none" strike="noStrike" baseline="0" dirty="0">
                <a:latin typeface="Times New Roman" panose="02020603050405020304" pitchFamily="18" charset="0"/>
              </a:rPr>
              <a:t>Some investigators select cases from one source and controls from more than one source to avoid the influence of “selection bias’’. Such studies are recommended by epidemiologists. </a:t>
            </a:r>
          </a:p>
          <a:p>
            <a:pPr algn="l"/>
            <a:r>
              <a:rPr lang="en-US" sz="2800" b="0" i="0" u="none" strike="noStrike" baseline="0" dirty="0">
                <a:latin typeface="Times New Roman" panose="02020603050405020304" pitchFamily="18" charset="0"/>
              </a:rPr>
              <a:t>It is also desired to conduct more than one case control study, preferably in different geographic areas.</a:t>
            </a:r>
          </a:p>
          <a:p>
            <a:pPr algn="l"/>
            <a:r>
              <a:rPr lang="en-US" sz="2800" b="0" i="0" u="none" strike="noStrike" baseline="0" dirty="0">
                <a:latin typeface="Times New Roman" panose="02020603050405020304" pitchFamily="18" charset="0"/>
              </a:rPr>
              <a:t>If the findings </a:t>
            </a:r>
            <a:r>
              <a:rPr lang="en-US" sz="3200" b="0" i="0" u="none" strike="noStrike" baseline="0" dirty="0">
                <a:latin typeface="Times New Roman" panose="02020603050405020304" pitchFamily="18" charset="0"/>
              </a:rPr>
              <a:t>are</a:t>
            </a:r>
            <a:r>
              <a:rPr lang="en-US" sz="2800" b="0" i="0" u="none" strike="noStrike" baseline="0" dirty="0">
                <a:latin typeface="Times New Roman" panose="02020603050405020304" pitchFamily="18" charset="0"/>
              </a:rPr>
              <a:t> consistent, it serves to increase the validity (i.e., accuracy) of the inferences. Failure to select comparable controls can introduce “bias” into results of case control studies and decrease the confidence one can place in the findings.</a:t>
            </a:r>
            <a:endParaRPr lang="en-US" sz="3200" dirty="0"/>
          </a:p>
        </p:txBody>
      </p:sp>
    </p:spTree>
    <p:extLst>
      <p:ext uri="{BB962C8B-B14F-4D97-AF65-F5344CB8AC3E}">
        <p14:creationId xmlns:p14="http://schemas.microsoft.com/office/powerpoint/2010/main" val="10150169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0C72E-0624-FE45-BB4B-DB9935074BB4}"/>
              </a:ext>
            </a:extLst>
          </p:cNvPr>
          <p:cNvSpPr>
            <a:spLocks noGrp="1"/>
          </p:cNvSpPr>
          <p:nvPr>
            <p:ph type="title"/>
          </p:nvPr>
        </p:nvSpPr>
        <p:spPr>
          <a:xfrm>
            <a:off x="838200" y="584990"/>
            <a:ext cx="10515600" cy="939011"/>
          </a:xfrm>
        </p:spPr>
        <p:txBody>
          <a:bodyPr/>
          <a:lstStyle/>
          <a:p>
            <a:r>
              <a:rPr lang="en-US" dirty="0"/>
              <a:t>Matching</a:t>
            </a:r>
          </a:p>
        </p:txBody>
      </p:sp>
      <p:sp>
        <p:nvSpPr>
          <p:cNvPr id="3" name="Content Placeholder 2">
            <a:extLst>
              <a:ext uri="{FF2B5EF4-FFF2-40B4-BE49-F238E27FC236}">
                <a16:creationId xmlns:a16="http://schemas.microsoft.com/office/drawing/2014/main" id="{A6576987-2935-4C0B-57EE-01BB0FF7BAB5}"/>
              </a:ext>
            </a:extLst>
          </p:cNvPr>
          <p:cNvSpPr>
            <a:spLocks noGrp="1"/>
          </p:cNvSpPr>
          <p:nvPr>
            <p:ph idx="1"/>
          </p:nvPr>
        </p:nvSpPr>
        <p:spPr>
          <a:xfrm>
            <a:off x="240632" y="1524001"/>
            <a:ext cx="11710736" cy="5189738"/>
          </a:xfrm>
        </p:spPr>
        <p:txBody>
          <a:bodyPr>
            <a:normAutofit/>
          </a:bodyPr>
          <a:lstStyle/>
          <a:p>
            <a:pPr algn="l"/>
            <a:r>
              <a:rPr lang="en-US" sz="2800" b="0" i="0" u="none" strike="noStrike" baseline="0" dirty="0">
                <a:latin typeface="Times New Roman" panose="02020603050405020304" pitchFamily="18" charset="0"/>
              </a:rPr>
              <a:t>Process by which we select controls in such a way that they are like cases with regard to certain pertinent selected variables (e.g., age) which are known to influence the outcome of disease and which, if not adequately matched for comparability, could distort or confound the results.</a:t>
            </a:r>
          </a:p>
          <a:p>
            <a:pPr algn="l"/>
            <a:endParaRPr lang="en-US" sz="2800" dirty="0">
              <a:latin typeface="Times New Roman" panose="02020603050405020304" pitchFamily="18" charset="0"/>
            </a:endParaRPr>
          </a:p>
          <a:p>
            <a:pPr algn="l"/>
            <a:r>
              <a:rPr lang="en-US" sz="2800" dirty="0">
                <a:latin typeface="Times New Roman" panose="02020603050405020304" pitchFamily="18" charset="0"/>
              </a:rPr>
              <a:t>Confounding factor</a:t>
            </a:r>
          </a:p>
          <a:p>
            <a:pPr lvl="1"/>
            <a:r>
              <a:rPr lang="en-US" sz="2400" b="0" i="0" u="none" strike="noStrike" baseline="0" dirty="0">
                <a:latin typeface="Times New Roman" panose="02020603050405020304" pitchFamily="18" charset="0"/>
              </a:rPr>
              <a:t>Which is associated both with exposure and disease and is distributed unequally in study and control groups. More specifically a “confounding factor” is one that, although associated with “exposure” under investigation, is itself, independently of any such association, a “risk factor” for the disease.</a:t>
            </a:r>
            <a:endParaRPr lang="en-US" sz="2800" dirty="0"/>
          </a:p>
        </p:txBody>
      </p:sp>
    </p:spTree>
    <p:extLst>
      <p:ext uri="{BB962C8B-B14F-4D97-AF65-F5344CB8AC3E}">
        <p14:creationId xmlns:p14="http://schemas.microsoft.com/office/powerpoint/2010/main" val="36633848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B8FF3-7FBD-ACAE-F000-4645B1812E48}"/>
              </a:ext>
            </a:extLst>
          </p:cNvPr>
          <p:cNvSpPr>
            <a:spLocks noGrp="1"/>
          </p:cNvSpPr>
          <p:nvPr>
            <p:ph type="ctrTitle"/>
          </p:nvPr>
        </p:nvSpPr>
        <p:spPr>
          <a:xfrm>
            <a:off x="3092968" y="5186716"/>
            <a:ext cx="6006060" cy="1198359"/>
          </a:xfrm>
        </p:spPr>
        <p:txBody>
          <a:bodyPr anchor="b">
            <a:normAutofit/>
          </a:bodyPr>
          <a:lstStyle/>
          <a:p>
            <a:pPr algn="ctr"/>
            <a:r>
              <a:rPr lang="en-US" sz="3700" dirty="0"/>
              <a:t>Confounding factor vs Effect modifier</a:t>
            </a:r>
          </a:p>
        </p:txBody>
      </p:sp>
      <p:pic>
        <p:nvPicPr>
          <p:cNvPr id="2050" name="Picture 2" descr="Confounder Vs Effect Modifier - slidesharedocs">
            <a:extLst>
              <a:ext uri="{FF2B5EF4-FFF2-40B4-BE49-F238E27FC236}">
                <a16:creationId xmlns:a16="http://schemas.microsoft.com/office/drawing/2014/main" id="{4B32834F-CFE4-A46E-4B58-E2D477B5D04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561" b="5561"/>
          <a:stretch/>
        </p:blipFill>
        <p:spPr bwMode="auto">
          <a:xfrm>
            <a:off x="-3" y="10"/>
            <a:ext cx="6096002" cy="4293731"/>
          </a:xfrm>
          <a:prstGeom prst="rect">
            <a:avLst/>
          </a:prstGeom>
          <a:solidFill>
            <a:srgbClr val="FFFFFF"/>
          </a:solidFill>
        </p:spPr>
      </p:pic>
      <p:sp>
        <p:nvSpPr>
          <p:cNvPr id="2057" name="Footer Placeholder 4">
            <a:extLst>
              <a:ext uri="{FF2B5EF4-FFF2-40B4-BE49-F238E27FC236}">
                <a16:creationId xmlns:a16="http://schemas.microsoft.com/office/drawing/2014/main" id="{24A88C2B-BBA4-42B4-BD90-10615AE6D8D7}"/>
              </a:ext>
            </a:extLst>
          </p:cNvPr>
          <p:cNvSpPr>
            <a:spLocks noGrp="1"/>
          </p:cNvSpPr>
          <p:nvPr>
            <p:ph type="ftr" sz="quarter" idx="11"/>
          </p:nvPr>
        </p:nvSpPr>
        <p:spPr>
          <a:xfrm rot="5400000">
            <a:off x="-1131161" y="1592957"/>
            <a:ext cx="2973522" cy="365125"/>
          </a:xfrm>
        </p:spPr>
        <p:txBody>
          <a:bodyPr>
            <a:normAutofit/>
          </a:bodyPr>
          <a:lstStyle/>
          <a:p>
            <a:pPr>
              <a:spcAft>
                <a:spcPts val="600"/>
              </a:spcAft>
            </a:pPr>
            <a:r>
              <a:rPr lang="en-US">
                <a:solidFill>
                  <a:srgbClr val="FFFFFF"/>
                </a:solidFill>
              </a:rPr>
              <a:t>Sample Footer Text</a:t>
            </a:r>
          </a:p>
        </p:txBody>
      </p:sp>
      <p:pic>
        <p:nvPicPr>
          <p:cNvPr id="2052" name="Picture 4" descr="PPT - Effect Modification &amp; Confounding PowerPoint Presentation, free ...">
            <a:extLst>
              <a:ext uri="{FF2B5EF4-FFF2-40B4-BE49-F238E27FC236}">
                <a16:creationId xmlns:a16="http://schemas.microsoft.com/office/drawing/2014/main" id="{9DBD748A-F36C-653E-A05E-C98ACA30F36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6086"/>
          <a:stretch/>
        </p:blipFill>
        <p:spPr bwMode="auto">
          <a:xfrm>
            <a:off x="6095998" y="10"/>
            <a:ext cx="6096003" cy="4293731"/>
          </a:xfrm>
          <a:prstGeom prst="rect">
            <a:avLst/>
          </a:prstGeom>
          <a:solidFill>
            <a:srgbClr val="FFFFFF"/>
          </a:solidFill>
        </p:spPr>
      </p:pic>
      <p:sp>
        <p:nvSpPr>
          <p:cNvPr id="2061" name="Date Placeholder 3">
            <a:extLst>
              <a:ext uri="{FF2B5EF4-FFF2-40B4-BE49-F238E27FC236}">
                <a16:creationId xmlns:a16="http://schemas.microsoft.com/office/drawing/2014/main" id="{030C91EB-472B-457A-9721-71076CA58013}"/>
              </a:ext>
            </a:extLst>
          </p:cNvPr>
          <p:cNvSpPr>
            <a:spLocks noGrp="1"/>
          </p:cNvSpPr>
          <p:nvPr>
            <p:ph type="dt" sz="half" idx="10"/>
          </p:nvPr>
        </p:nvSpPr>
        <p:spPr>
          <a:xfrm rot="5400000">
            <a:off x="10425981" y="4687095"/>
            <a:ext cx="2706690" cy="365125"/>
          </a:xfrm>
        </p:spPr>
        <p:txBody>
          <a:bodyPr>
            <a:normAutofit/>
          </a:bodyPr>
          <a:lstStyle/>
          <a:p>
            <a:pPr>
              <a:spcAft>
                <a:spcPts val="600"/>
              </a:spcAft>
            </a:pPr>
            <a:fld id="{293BA314-ADB5-4816-8D49-4E0794D5FE7E}" type="datetime1">
              <a:rPr lang="en-US" smtClean="0"/>
              <a:pPr>
                <a:spcAft>
                  <a:spcPts val="600"/>
                </a:spcAft>
              </a:pPr>
              <a:t>5/8/2024</a:t>
            </a:fld>
            <a:endParaRPr lang="en-US"/>
          </a:p>
        </p:txBody>
      </p:sp>
      <p:sp>
        <p:nvSpPr>
          <p:cNvPr id="2063" name="Slide Number Placeholder 18">
            <a:extLst>
              <a:ext uri="{FF2B5EF4-FFF2-40B4-BE49-F238E27FC236}">
                <a16:creationId xmlns:a16="http://schemas.microsoft.com/office/drawing/2014/main" id="{920EAB97-BCBD-4835-8F90-55730D56C121}"/>
              </a:ext>
            </a:extLst>
          </p:cNvPr>
          <p:cNvSpPr>
            <a:spLocks noGrp="1"/>
          </p:cNvSpPr>
          <p:nvPr>
            <p:ph type="sldNum" sz="quarter" idx="12"/>
          </p:nvPr>
        </p:nvSpPr>
        <p:spPr>
          <a:xfrm>
            <a:off x="11512296" y="6356350"/>
            <a:ext cx="574620" cy="365125"/>
          </a:xfrm>
        </p:spPr>
        <p:txBody>
          <a:bodyPr>
            <a:normAutofit/>
          </a:bodyPr>
          <a:lstStyle/>
          <a:p>
            <a:pPr>
              <a:spcAft>
                <a:spcPts val="600"/>
              </a:spcAft>
            </a:pPr>
            <a:fld id="{3E131995-E962-4131-8504-6B962D7140A6}" type="slidenum">
              <a:rPr lang="en-US" smtClean="0"/>
              <a:pPr>
                <a:spcAft>
                  <a:spcPts val="600"/>
                </a:spcAft>
              </a:pPr>
              <a:t>17</a:t>
            </a:fld>
            <a:endParaRPr lang="en-US"/>
          </a:p>
        </p:txBody>
      </p:sp>
    </p:spTree>
    <p:extLst>
      <p:ext uri="{BB962C8B-B14F-4D97-AF65-F5344CB8AC3E}">
        <p14:creationId xmlns:p14="http://schemas.microsoft.com/office/powerpoint/2010/main" val="37975323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2EAE9-71F1-1A6B-9567-6868D4DB30EB}"/>
              </a:ext>
            </a:extLst>
          </p:cNvPr>
          <p:cNvSpPr>
            <a:spLocks noGrp="1"/>
          </p:cNvSpPr>
          <p:nvPr>
            <p:ph type="title"/>
          </p:nvPr>
        </p:nvSpPr>
        <p:spPr>
          <a:xfrm>
            <a:off x="838200" y="584990"/>
            <a:ext cx="10515600" cy="762547"/>
          </a:xfrm>
        </p:spPr>
        <p:txBody>
          <a:bodyPr/>
          <a:lstStyle/>
          <a:p>
            <a:r>
              <a:rPr lang="en-US" dirty="0"/>
              <a:t>Examples</a:t>
            </a:r>
          </a:p>
        </p:txBody>
      </p:sp>
      <p:sp>
        <p:nvSpPr>
          <p:cNvPr id="3" name="Content Placeholder 2">
            <a:extLst>
              <a:ext uri="{FF2B5EF4-FFF2-40B4-BE49-F238E27FC236}">
                <a16:creationId xmlns:a16="http://schemas.microsoft.com/office/drawing/2014/main" id="{5DF35EE6-2908-3CC3-6CA0-CE5DCA63646D}"/>
              </a:ext>
            </a:extLst>
          </p:cNvPr>
          <p:cNvSpPr>
            <a:spLocks noGrp="1"/>
          </p:cNvSpPr>
          <p:nvPr>
            <p:ph idx="1"/>
          </p:nvPr>
        </p:nvSpPr>
        <p:spPr>
          <a:xfrm>
            <a:off x="192505" y="1540043"/>
            <a:ext cx="11806990" cy="5157654"/>
          </a:xfrm>
        </p:spPr>
        <p:txBody>
          <a:bodyPr>
            <a:normAutofit fontScale="92500" lnSpcReduction="10000"/>
          </a:bodyPr>
          <a:lstStyle/>
          <a:p>
            <a:pPr algn="l"/>
            <a:r>
              <a:rPr lang="en-US" sz="2400" b="0" i="0" u="none" strike="noStrike" baseline="0" dirty="0">
                <a:latin typeface="Times New Roman" panose="02020603050405020304" pitchFamily="18" charset="0"/>
              </a:rPr>
              <a:t>Role of alcohol in the </a:t>
            </a:r>
            <a:r>
              <a:rPr lang="en-US" sz="2400" b="0" i="0" u="none" strike="noStrike" baseline="0" dirty="0" err="1">
                <a:latin typeface="Times New Roman" panose="02020603050405020304" pitchFamily="18" charset="0"/>
              </a:rPr>
              <a:t>aetiology</a:t>
            </a:r>
            <a:r>
              <a:rPr lang="en-US" sz="2400" b="0" i="0" u="none" strike="noStrike" baseline="0" dirty="0">
                <a:latin typeface="Times New Roman" panose="02020603050405020304" pitchFamily="18" charset="0"/>
              </a:rPr>
              <a:t> of </a:t>
            </a:r>
            <a:r>
              <a:rPr lang="en-US" sz="2400" b="0" i="0" u="none" strike="noStrike" baseline="0" dirty="0" err="1">
                <a:latin typeface="Times New Roman" panose="02020603050405020304" pitchFamily="18" charset="0"/>
              </a:rPr>
              <a:t>oesophageal</a:t>
            </a:r>
            <a:r>
              <a:rPr lang="en-US" sz="2400" b="0" i="0" u="none" strike="noStrike" baseline="0" dirty="0">
                <a:latin typeface="Times New Roman" panose="02020603050405020304" pitchFamily="18" charset="0"/>
              </a:rPr>
              <a:t> cancer, smoking is a confounding factor.</a:t>
            </a:r>
          </a:p>
          <a:p>
            <a:pPr algn="l"/>
            <a:r>
              <a:rPr lang="en-US" sz="2400" b="0" i="0" u="none" strike="noStrike" baseline="0" dirty="0">
                <a:latin typeface="Times New Roman" panose="02020603050405020304" pitchFamily="18" charset="0"/>
              </a:rPr>
              <a:t>Age could be a confounding variable. Supposing, are investigating the relationship between steroid contraceptive and breast cancer. If the women taking these contraceptives were younger than those in the comparison group, they would necessarily be at lower risk of breast cancer since this disease becomes increasingly common with increasing age. </a:t>
            </a:r>
          </a:p>
          <a:p>
            <a:pPr algn="l"/>
            <a:r>
              <a:rPr lang="en-US" sz="2400" b="0" i="0" u="none" strike="noStrike" baseline="0" dirty="0">
                <a:latin typeface="Times New Roman" panose="02020603050405020304" pitchFamily="18" charset="0"/>
              </a:rPr>
              <a:t>Matching protects against an unexpected strong association between the matching factor (e.g., age) and the disease (e.g., breast cancer). In a similar fashion other confounding variables will have to be matched.</a:t>
            </a:r>
          </a:p>
          <a:p>
            <a:pPr algn="l"/>
            <a:r>
              <a:rPr lang="en-US" sz="2400" b="0" i="0" u="none" strike="noStrike" baseline="0" dirty="0">
                <a:latin typeface="Times New Roman" panose="02020603050405020304" pitchFamily="18" charset="0"/>
              </a:rPr>
              <a:t>It should be borne in mind that the suspected </a:t>
            </a:r>
            <a:r>
              <a:rPr lang="en-US" sz="2400" b="0" i="0" u="none" strike="noStrike" baseline="0" dirty="0" err="1">
                <a:latin typeface="Times New Roman" panose="02020603050405020304" pitchFamily="18" charset="0"/>
              </a:rPr>
              <a:t>aetiological</a:t>
            </a:r>
            <a:r>
              <a:rPr lang="en-US" sz="2400" b="0" i="0" u="none" strike="noStrike" baseline="0" dirty="0">
                <a:latin typeface="Times New Roman" panose="02020603050405020304" pitchFamily="18" charset="0"/>
              </a:rPr>
              <a:t> factor or the variable we wish to measure should not be matched, because by matching, its </a:t>
            </a:r>
            <a:r>
              <a:rPr lang="en-US" sz="2400" b="0" i="0" u="none" strike="noStrike" baseline="0" dirty="0" err="1">
                <a:latin typeface="Times New Roman" panose="02020603050405020304" pitchFamily="18" charset="0"/>
              </a:rPr>
              <a:t>aetiological</a:t>
            </a:r>
            <a:r>
              <a:rPr lang="en-US" sz="2400" b="0" i="0" u="none" strike="noStrike" baseline="0" dirty="0">
                <a:latin typeface="Times New Roman" panose="02020603050405020304" pitchFamily="18" charset="0"/>
              </a:rPr>
              <a:t> role is eliminated in that study. The cases and controls will then become automatically alike with respect to that factor. </a:t>
            </a:r>
          </a:p>
          <a:p>
            <a:pPr algn="l"/>
            <a:r>
              <a:rPr lang="en-US" sz="2400" b="0" i="0" u="none" strike="noStrike" baseline="0" dirty="0">
                <a:latin typeface="Times New Roman" panose="02020603050405020304" pitchFamily="18" charset="0"/>
              </a:rPr>
              <a:t>In the above example, it would be useless </a:t>
            </a:r>
            <a:r>
              <a:rPr lang="en-US" sz="2400" b="0" i="0" u="none" strike="noStrike" baseline="0" dirty="0" err="1">
                <a:latin typeface="Times New Roman" panose="02020603050405020304" pitchFamily="18" charset="0"/>
              </a:rPr>
              <a:t>tomatch</a:t>
            </a:r>
            <a:r>
              <a:rPr lang="en-US" sz="2400" b="0" i="0" u="none" strike="noStrike" baseline="0" dirty="0">
                <a:latin typeface="Times New Roman" panose="02020603050405020304" pitchFamily="18" charset="0"/>
              </a:rPr>
              <a:t> cases and controls on steroid contraceptive use; </a:t>
            </a:r>
            <a:r>
              <a:rPr lang="en-US" sz="2400" b="0" i="0" u="none" strike="noStrike" baseline="0" dirty="0" err="1">
                <a:latin typeface="Times New Roman" panose="02020603050405020304" pitchFamily="18" charset="0"/>
              </a:rPr>
              <a:t>bydoing</a:t>
            </a:r>
            <a:r>
              <a:rPr lang="en-US" sz="2400" b="0" i="0" u="none" strike="noStrike" baseline="0" dirty="0">
                <a:latin typeface="Times New Roman" panose="02020603050405020304" pitchFamily="18" charset="0"/>
              </a:rPr>
              <a:t> so, the </a:t>
            </a:r>
            <a:r>
              <a:rPr lang="en-US" sz="2400" b="0" i="0" u="none" strike="noStrike" baseline="0" dirty="0" err="1">
                <a:latin typeface="Times New Roman" panose="02020603050405020304" pitchFamily="18" charset="0"/>
              </a:rPr>
              <a:t>aetiological</a:t>
            </a:r>
            <a:r>
              <a:rPr lang="en-US" sz="2400" b="0" i="0" u="none" strike="noStrike" baseline="0" dirty="0">
                <a:latin typeface="Times New Roman" panose="02020603050405020304" pitchFamily="18" charset="0"/>
              </a:rPr>
              <a:t> role of steroid </a:t>
            </a:r>
            <a:r>
              <a:rPr lang="en-US" sz="2400" b="0" i="0" u="none" strike="noStrike" baseline="0" dirty="0" err="1">
                <a:latin typeface="Times New Roman" panose="02020603050405020304" pitchFamily="18" charset="0"/>
              </a:rPr>
              <a:t>contraceptivecannot</a:t>
            </a:r>
            <a:r>
              <a:rPr lang="en-US" sz="2400" b="0" i="0" u="none" strike="noStrike" baseline="0" dirty="0">
                <a:latin typeface="Times New Roman" panose="02020603050405020304" pitchFamily="18" charset="0"/>
              </a:rPr>
              <a:t> be investigated.</a:t>
            </a:r>
          </a:p>
          <a:p>
            <a:pPr lvl="1"/>
            <a:endParaRPr lang="en-US" sz="2400" dirty="0"/>
          </a:p>
        </p:txBody>
      </p:sp>
    </p:spTree>
    <p:extLst>
      <p:ext uri="{BB962C8B-B14F-4D97-AF65-F5344CB8AC3E}">
        <p14:creationId xmlns:p14="http://schemas.microsoft.com/office/powerpoint/2010/main" val="9076102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FF263-C768-4318-C9FE-E5F343813685}"/>
              </a:ext>
            </a:extLst>
          </p:cNvPr>
          <p:cNvSpPr>
            <a:spLocks noGrp="1"/>
          </p:cNvSpPr>
          <p:nvPr>
            <p:ph type="title"/>
          </p:nvPr>
        </p:nvSpPr>
        <p:spPr>
          <a:xfrm>
            <a:off x="838200" y="584991"/>
            <a:ext cx="10515600" cy="618168"/>
          </a:xfrm>
        </p:spPr>
        <p:txBody>
          <a:bodyPr>
            <a:normAutofit fontScale="90000"/>
          </a:bodyPr>
          <a:lstStyle/>
          <a:p>
            <a:r>
              <a:rPr lang="en-US" dirty="0"/>
              <a:t>Matching procedure</a:t>
            </a:r>
          </a:p>
        </p:txBody>
      </p:sp>
      <p:sp>
        <p:nvSpPr>
          <p:cNvPr id="3" name="Content Placeholder 2">
            <a:extLst>
              <a:ext uri="{FF2B5EF4-FFF2-40B4-BE49-F238E27FC236}">
                <a16:creationId xmlns:a16="http://schemas.microsoft.com/office/drawing/2014/main" id="{09A50C27-9FEF-EB0B-44D2-4EB43F339605}"/>
              </a:ext>
            </a:extLst>
          </p:cNvPr>
          <p:cNvSpPr>
            <a:spLocks noGrp="1"/>
          </p:cNvSpPr>
          <p:nvPr>
            <p:ph idx="1"/>
          </p:nvPr>
        </p:nvSpPr>
        <p:spPr>
          <a:xfrm>
            <a:off x="513347" y="1203159"/>
            <a:ext cx="10840453" cy="4973111"/>
          </a:xfrm>
        </p:spPr>
        <p:txBody>
          <a:bodyPr>
            <a:normAutofit fontScale="92500" lnSpcReduction="10000"/>
          </a:bodyPr>
          <a:lstStyle/>
          <a:p>
            <a:pPr algn="l"/>
            <a:r>
              <a:rPr lang="en-US" sz="2400" b="0" i="0" u="none" strike="noStrike" baseline="0" dirty="0">
                <a:latin typeface="Times New Roman" panose="02020603050405020304" pitchFamily="18" charset="0"/>
              </a:rPr>
              <a:t>One is group matching. This may be done by assigning cases to sub-categories (strata) based on their characteristics (e.g., age, occupation, social class) and then establishing appropriate controls. The frequency distribution of the matched variable must be similar in study and comparison groups. </a:t>
            </a:r>
          </a:p>
          <a:p>
            <a:pPr algn="l"/>
            <a:r>
              <a:rPr lang="en-US" sz="2400" b="0" i="0" u="none" strike="noStrike" baseline="0" dirty="0">
                <a:latin typeface="Times New Roman" panose="02020603050405020304" pitchFamily="18" charset="0"/>
              </a:rPr>
              <a:t>Matching is also done by </a:t>
            </a:r>
            <a:r>
              <a:rPr lang="en-US" sz="2400" b="0" i="1" u="none" strike="noStrike" baseline="0" dirty="0">
                <a:latin typeface="Times New Roman" panose="02020603050405020304" pitchFamily="18" charset="0"/>
              </a:rPr>
              <a:t>pairs. </a:t>
            </a:r>
            <a:r>
              <a:rPr lang="en-US" sz="2400" b="0" i="0" u="none" strike="noStrike" baseline="0" dirty="0">
                <a:latin typeface="Times New Roman" panose="02020603050405020304" pitchFamily="18" charset="0"/>
              </a:rPr>
              <a:t>For example, for each case, a control is chosen which can be matched quite closely. Thus, if we have a 50 year old mason with a particular disease, we will search for 50 year old mason without the disease as a control. But there may be great difficulties in obtaining cases and controls matched on all characteristics, and it may be necessary to wait a considerable period of time before obtaining a sufficient number of matched pairs. </a:t>
            </a:r>
          </a:p>
          <a:p>
            <a:pPr algn="l"/>
            <a:r>
              <a:rPr lang="en-US" sz="2400" b="0" i="0" u="none" strike="noStrike" baseline="0" dirty="0">
                <a:latin typeface="Times New Roman" panose="02020603050405020304" pitchFamily="18" charset="0"/>
              </a:rPr>
              <a:t>Therefore, some leeway is necessary in matching for variables</a:t>
            </a:r>
            <a:r>
              <a:rPr lang="en-US" sz="2400" b="0" i="1" u="none" strike="noStrike" baseline="0" dirty="0">
                <a:latin typeface="Times New Roman" panose="02020603050405020304" pitchFamily="18" charset="0"/>
              </a:rPr>
              <a:t>. </a:t>
            </a:r>
            <a:r>
              <a:rPr lang="en-US" sz="2400" b="0" i="0" u="none" strike="noStrike" baseline="0" dirty="0">
                <a:latin typeface="Times New Roman" panose="02020603050405020304" pitchFamily="18" charset="0"/>
              </a:rPr>
              <a:t>It should be noted that if matching is overdone, it may be difficult to find controls. Further with excess zeal in matching, there may be a tendency to reduce the odds ratio.</a:t>
            </a:r>
            <a:endParaRPr lang="en-US" sz="2800" dirty="0"/>
          </a:p>
        </p:txBody>
      </p:sp>
    </p:spTree>
    <p:extLst>
      <p:ext uri="{BB962C8B-B14F-4D97-AF65-F5344CB8AC3E}">
        <p14:creationId xmlns:p14="http://schemas.microsoft.com/office/powerpoint/2010/main" val="24285063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D3267-E1F3-3CE4-870C-5BBB91DC81D8}"/>
              </a:ext>
            </a:extLst>
          </p:cNvPr>
          <p:cNvSpPr>
            <a:spLocks noGrp="1"/>
          </p:cNvSpPr>
          <p:nvPr>
            <p:ph type="title"/>
          </p:nvPr>
        </p:nvSpPr>
        <p:spPr>
          <a:xfrm>
            <a:off x="838200" y="584991"/>
            <a:ext cx="10515600" cy="586084"/>
          </a:xfrm>
        </p:spPr>
        <p:txBody>
          <a:bodyPr>
            <a:normAutofit fontScale="90000"/>
          </a:bodyPr>
          <a:lstStyle/>
          <a:p>
            <a:r>
              <a:rPr lang="en-US" dirty="0"/>
              <a:t>Measurement of exposure</a:t>
            </a:r>
          </a:p>
        </p:txBody>
      </p:sp>
      <p:sp>
        <p:nvSpPr>
          <p:cNvPr id="3" name="Content Placeholder 2">
            <a:extLst>
              <a:ext uri="{FF2B5EF4-FFF2-40B4-BE49-F238E27FC236}">
                <a16:creationId xmlns:a16="http://schemas.microsoft.com/office/drawing/2014/main" id="{E260DFFA-2380-C7BF-D695-024BBAD996B3}"/>
              </a:ext>
            </a:extLst>
          </p:cNvPr>
          <p:cNvSpPr>
            <a:spLocks noGrp="1"/>
          </p:cNvSpPr>
          <p:nvPr>
            <p:ph idx="1"/>
          </p:nvPr>
        </p:nvSpPr>
        <p:spPr>
          <a:xfrm>
            <a:off x="721895" y="1443789"/>
            <a:ext cx="10631905" cy="4732481"/>
          </a:xfrm>
        </p:spPr>
        <p:txBody>
          <a:bodyPr>
            <a:normAutofit/>
          </a:bodyPr>
          <a:lstStyle/>
          <a:p>
            <a:pPr algn="l"/>
            <a:r>
              <a:rPr lang="en-US" sz="2800" b="0" i="0" u="none" strike="noStrike" baseline="0" dirty="0">
                <a:latin typeface="Times New Roman" panose="02020603050405020304" pitchFamily="18" charset="0"/>
              </a:rPr>
              <a:t>Definitions and criteria about exposure (or variables which may be of </a:t>
            </a:r>
            <a:r>
              <a:rPr lang="en-US" sz="2800" b="0" i="0" u="none" strike="noStrike" baseline="0" dirty="0" err="1">
                <a:latin typeface="Times New Roman" panose="02020603050405020304" pitchFamily="18" charset="0"/>
              </a:rPr>
              <a:t>aetiological</a:t>
            </a:r>
            <a:r>
              <a:rPr lang="en-US" sz="2800" b="0" i="0" u="none" strike="noStrike" baseline="0" dirty="0">
                <a:latin typeface="Times New Roman" panose="02020603050405020304" pitchFamily="18" charset="0"/>
              </a:rPr>
              <a:t> importance) are just as important as those used to define cases and controls.</a:t>
            </a:r>
          </a:p>
          <a:p>
            <a:pPr algn="l"/>
            <a:r>
              <a:rPr lang="en-US" sz="2800" b="0" i="0" u="none" strike="noStrike" baseline="0" dirty="0">
                <a:latin typeface="Times New Roman" panose="02020603050405020304" pitchFamily="18" charset="0"/>
              </a:rPr>
              <a:t>Information about exposure should be obtained in precisely the same manner both for cases and controls. </a:t>
            </a:r>
          </a:p>
          <a:p>
            <a:pPr algn="l"/>
            <a:r>
              <a:rPr lang="en-US" sz="2800" b="0" i="0" u="none" strike="noStrike" baseline="0" dirty="0">
                <a:latin typeface="Times New Roman" panose="02020603050405020304" pitchFamily="18" charset="0"/>
              </a:rPr>
              <a:t>It is important to recognize that when case control studies are being used to test associations, the most important factor to be considered, even more important than the </a:t>
            </a:r>
            <a:r>
              <a:rPr lang="en-US" sz="2800" b="0" i="1" u="none" strike="noStrike" baseline="0" dirty="0">
                <a:latin typeface="Times New Roman" panose="02020603050405020304" pitchFamily="18" charset="0"/>
              </a:rPr>
              <a:t>P. values </a:t>
            </a:r>
            <a:r>
              <a:rPr lang="en-US" sz="2800" b="0" i="0" u="none" strike="noStrike" baseline="0" dirty="0">
                <a:latin typeface="Times New Roman" panose="02020603050405020304" pitchFamily="18" charset="0"/>
              </a:rPr>
              <a:t>obtained, is the question of “bias” or systematic error which must be ruled out.</a:t>
            </a:r>
            <a:endParaRPr lang="en-US" sz="3200" dirty="0"/>
          </a:p>
        </p:txBody>
      </p:sp>
    </p:spTree>
    <p:extLst>
      <p:ext uri="{BB962C8B-B14F-4D97-AF65-F5344CB8AC3E}">
        <p14:creationId xmlns:p14="http://schemas.microsoft.com/office/powerpoint/2010/main" val="42226013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64A3F-05DC-8EDB-3554-4C0902D5B3DB}"/>
              </a:ext>
            </a:extLst>
          </p:cNvPr>
          <p:cNvSpPr>
            <a:spLocks noGrp="1"/>
          </p:cNvSpPr>
          <p:nvPr>
            <p:ph type="title"/>
          </p:nvPr>
        </p:nvSpPr>
        <p:spPr>
          <a:xfrm>
            <a:off x="838200" y="584991"/>
            <a:ext cx="10515600" cy="618168"/>
          </a:xfrm>
        </p:spPr>
        <p:txBody>
          <a:bodyPr>
            <a:normAutofit fontScale="90000"/>
          </a:bodyPr>
          <a:lstStyle/>
          <a:p>
            <a:r>
              <a:rPr lang="en-US" dirty="0"/>
              <a:t>Analysis - Exposure rate</a:t>
            </a:r>
          </a:p>
        </p:txBody>
      </p:sp>
      <p:sp>
        <p:nvSpPr>
          <p:cNvPr id="3" name="Content Placeholder 2">
            <a:extLst>
              <a:ext uri="{FF2B5EF4-FFF2-40B4-BE49-F238E27FC236}">
                <a16:creationId xmlns:a16="http://schemas.microsoft.com/office/drawing/2014/main" id="{BF0D477A-DFBD-C55D-4C03-727E21B0570F}"/>
              </a:ext>
            </a:extLst>
          </p:cNvPr>
          <p:cNvSpPr>
            <a:spLocks noGrp="1"/>
          </p:cNvSpPr>
          <p:nvPr>
            <p:ph idx="1"/>
          </p:nvPr>
        </p:nvSpPr>
        <p:spPr>
          <a:xfrm>
            <a:off x="0" y="1203159"/>
            <a:ext cx="12192000" cy="5293894"/>
          </a:xfrm>
        </p:spPr>
        <p:txBody>
          <a:bodyPr>
            <a:normAutofit fontScale="92500" lnSpcReduction="10000"/>
          </a:bodyPr>
          <a:lstStyle/>
          <a:p>
            <a:pPr algn="l"/>
            <a:r>
              <a:rPr lang="en-US" sz="2400" b="0" i="0" u="none" strike="noStrike" baseline="0" dirty="0">
                <a:latin typeface="Times New Roman" panose="02020603050405020304" pitchFamily="18" charset="0"/>
              </a:rPr>
              <a:t>A case control study provides a direct estimation of the exposure rates (frequency of exposure) to a suspected factor in disease and non-disease groups.</a:t>
            </a:r>
          </a:p>
          <a:p>
            <a:pPr algn="l"/>
            <a:r>
              <a:rPr lang="en-US" sz="2400" b="0" i="0" u="none" strike="noStrike" baseline="0" dirty="0">
                <a:latin typeface="Times New Roman" panose="02020603050405020304" pitchFamily="18" charset="0"/>
              </a:rPr>
              <a:t>The next step will be to ascertain whether there is a </a:t>
            </a:r>
            <a:r>
              <a:rPr lang="en-US" sz="2400" b="0" i="1" u="none" strike="noStrike" baseline="0" dirty="0">
                <a:latin typeface="Times New Roman" panose="02020603050405020304" pitchFamily="18" charset="0"/>
              </a:rPr>
              <a:t>statistical association </a:t>
            </a:r>
            <a:r>
              <a:rPr lang="en-US" sz="2400" b="0" i="0" u="none" strike="noStrike" baseline="0" dirty="0">
                <a:latin typeface="Times New Roman" panose="02020603050405020304" pitchFamily="18" charset="0"/>
              </a:rPr>
              <a:t>between exposure status and occurrence of lung cancer. This question can be resolved by calculating the </a:t>
            </a:r>
            <a:r>
              <a:rPr lang="en-US" sz="2400" b="0" i="1" u="none" strike="noStrike" baseline="0" dirty="0">
                <a:latin typeface="Times New Roman" panose="02020603050405020304" pitchFamily="18" charset="0"/>
              </a:rPr>
              <a:t>P value.</a:t>
            </a:r>
          </a:p>
          <a:p>
            <a:pPr algn="l"/>
            <a:r>
              <a:rPr lang="en-US" sz="2400" b="0" i="0" u="none" strike="noStrike" baseline="0" dirty="0">
                <a:latin typeface="Times New Roman" panose="02020603050405020304" pitchFamily="18" charset="0"/>
              </a:rPr>
              <a:t>The particular test of significance will depend upon the variables under investigation. If we are dealing with discrete variables, the results are usually presented as rates or proportions of those present or absent in the study and in the control group. The test of significance usually adopted is the standard error of difference between two proportions or the Chi-square test. </a:t>
            </a:r>
          </a:p>
          <a:p>
            <a:pPr algn="l"/>
            <a:r>
              <a:rPr lang="en-US" sz="2400" b="0" i="0" u="none" strike="noStrike" baseline="0" dirty="0">
                <a:latin typeface="Times New Roman" panose="02020603050405020304" pitchFamily="18" charset="0"/>
              </a:rPr>
              <a:t>On the other hand, if we are dealing with </a:t>
            </a:r>
            <a:r>
              <a:rPr lang="en-US" sz="2400" b="0" i="1" u="none" strike="noStrike" baseline="0" dirty="0">
                <a:latin typeface="Times New Roman" panose="02020603050405020304" pitchFamily="18" charset="0"/>
              </a:rPr>
              <a:t>continuous variables </a:t>
            </a:r>
            <a:r>
              <a:rPr lang="en-US" sz="2400" b="0" i="0" u="none" strike="noStrike" baseline="0" dirty="0">
                <a:latin typeface="Times New Roman" panose="02020603050405020304" pitchFamily="18" charset="0"/>
              </a:rPr>
              <a:t>(e.g., age, blood pressure), the data will have to be grouped and the test of significance used is likely to be the standard error of difference between two means.</a:t>
            </a:r>
          </a:p>
          <a:p>
            <a:pPr algn="l"/>
            <a:r>
              <a:rPr lang="en-US" sz="2400" b="0" i="0" u="none" strike="noStrike" baseline="0" dirty="0">
                <a:latin typeface="Times New Roman" panose="02020603050405020304" pitchFamily="18" charset="0"/>
              </a:rPr>
              <a:t>Statistical association </a:t>
            </a:r>
            <a:r>
              <a:rPr lang="en-US" sz="2400" b="0" i="1" u="none" strike="noStrike" baseline="0" dirty="0">
                <a:latin typeface="Times New Roman" panose="02020603050405020304" pitchFamily="18" charset="0"/>
              </a:rPr>
              <a:t>(P. </a:t>
            </a:r>
            <a:r>
              <a:rPr lang="en-US" sz="2400" b="0" i="0" u="none" strike="noStrike" baseline="0" dirty="0">
                <a:latin typeface="Times New Roman" panose="02020603050405020304" pitchFamily="18" charset="0"/>
              </a:rPr>
              <a:t>value) does not imply causation. Statement of </a:t>
            </a:r>
            <a:r>
              <a:rPr lang="en-US" sz="2400" b="0" i="1" u="none" strike="noStrike" baseline="0" dirty="0">
                <a:latin typeface="Times New Roman" panose="02020603050405020304" pitchFamily="18" charset="0"/>
              </a:rPr>
              <a:t>P </a:t>
            </a:r>
            <a:r>
              <a:rPr lang="en-US" sz="2400" b="0" i="0" u="none" strike="noStrike" baseline="0" dirty="0">
                <a:latin typeface="Times New Roman" panose="02020603050405020304" pitchFamily="18" charset="0"/>
              </a:rPr>
              <a:t>value is thus an inadequate, although common end-point of case control studies.</a:t>
            </a:r>
            <a:endParaRPr lang="en-US" sz="2800" dirty="0"/>
          </a:p>
        </p:txBody>
      </p:sp>
    </p:spTree>
    <p:extLst>
      <p:ext uri="{BB962C8B-B14F-4D97-AF65-F5344CB8AC3E}">
        <p14:creationId xmlns:p14="http://schemas.microsoft.com/office/powerpoint/2010/main" val="35137441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C1220-6542-AF9D-27D0-DC586476EB0E}"/>
              </a:ext>
            </a:extLst>
          </p:cNvPr>
          <p:cNvSpPr>
            <a:spLocks noGrp="1"/>
          </p:cNvSpPr>
          <p:nvPr>
            <p:ph type="title"/>
          </p:nvPr>
        </p:nvSpPr>
        <p:spPr/>
        <p:txBody>
          <a:bodyPr/>
          <a:lstStyle/>
          <a:p>
            <a:r>
              <a:rPr lang="en-US" dirty="0"/>
              <a:t>Estimation of risk</a:t>
            </a:r>
          </a:p>
        </p:txBody>
      </p:sp>
      <p:sp>
        <p:nvSpPr>
          <p:cNvPr id="3" name="Content Placeholder 2">
            <a:extLst>
              <a:ext uri="{FF2B5EF4-FFF2-40B4-BE49-F238E27FC236}">
                <a16:creationId xmlns:a16="http://schemas.microsoft.com/office/drawing/2014/main" id="{A9BA2114-BB24-1DAE-222E-31D4224EDE03}"/>
              </a:ext>
            </a:extLst>
          </p:cNvPr>
          <p:cNvSpPr>
            <a:spLocks noGrp="1"/>
          </p:cNvSpPr>
          <p:nvPr>
            <p:ph idx="1"/>
          </p:nvPr>
        </p:nvSpPr>
        <p:spPr/>
        <p:txBody>
          <a:bodyPr>
            <a:normAutofit fontScale="92500"/>
          </a:bodyPr>
          <a:lstStyle/>
          <a:p>
            <a:pPr algn="l"/>
            <a:r>
              <a:rPr lang="en-US" sz="2400" b="0" i="0" u="none" strike="noStrike" baseline="0" dirty="0">
                <a:latin typeface="Times New Roman" panose="02020603050405020304" pitchFamily="18" charset="0"/>
              </a:rPr>
              <a:t>The estimation of disease risk associated with exposure is obtained by an index known as “Relative Risk” (RR) or “risk ratio”, which is defined as the ratio between the incidence of disease among exposed persons and incidence among non-exposed. </a:t>
            </a:r>
          </a:p>
          <a:p>
            <a:pPr algn="l"/>
            <a:r>
              <a:rPr lang="en-US" sz="2400" b="0" i="0" u="none" strike="noStrike" baseline="0" dirty="0">
                <a:latin typeface="Times New Roman" panose="02020603050405020304" pitchFamily="18" charset="0"/>
              </a:rPr>
              <a:t>A typical case control study does not provide incidence rates from which relative risk can be calculated directly, because there is no appropriate denominator or population at risk, to calculate these rates. In general, the relative risk can be exactly determined only from a cohort study.</a:t>
            </a:r>
          </a:p>
          <a:p>
            <a:pPr algn="l"/>
            <a:endParaRPr lang="en-US" sz="2400" dirty="0">
              <a:latin typeface="Times New Roman" panose="02020603050405020304" pitchFamily="18" charset="0"/>
            </a:endParaRPr>
          </a:p>
          <a:p>
            <a:pPr algn="l"/>
            <a:r>
              <a:rPr lang="en-US" sz="2400" dirty="0">
                <a:latin typeface="Times New Roman" panose="02020603050405020304" pitchFamily="18" charset="0"/>
              </a:rPr>
              <a:t>Odds ratio aka cross product ratio</a:t>
            </a:r>
            <a:endParaRPr lang="en-US" sz="2800" dirty="0"/>
          </a:p>
        </p:txBody>
      </p:sp>
    </p:spTree>
    <p:extLst>
      <p:ext uri="{BB962C8B-B14F-4D97-AF65-F5344CB8AC3E}">
        <p14:creationId xmlns:p14="http://schemas.microsoft.com/office/powerpoint/2010/main" val="24198189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AE230-5B69-EBCD-5924-A68AF240762E}"/>
              </a:ext>
            </a:extLst>
          </p:cNvPr>
          <p:cNvSpPr>
            <a:spLocks noGrp="1"/>
          </p:cNvSpPr>
          <p:nvPr>
            <p:ph type="title"/>
          </p:nvPr>
        </p:nvSpPr>
        <p:spPr/>
        <p:txBody>
          <a:bodyPr/>
          <a:lstStyle/>
          <a:p>
            <a:r>
              <a:rPr lang="en-US" dirty="0"/>
              <a:t>ODDS ratio</a:t>
            </a:r>
          </a:p>
        </p:txBody>
      </p:sp>
      <p:sp>
        <p:nvSpPr>
          <p:cNvPr id="3" name="Content Placeholder 2">
            <a:extLst>
              <a:ext uri="{FF2B5EF4-FFF2-40B4-BE49-F238E27FC236}">
                <a16:creationId xmlns:a16="http://schemas.microsoft.com/office/drawing/2014/main" id="{1A93A1A1-53A3-0248-7233-6699BB44145E}"/>
              </a:ext>
            </a:extLst>
          </p:cNvPr>
          <p:cNvSpPr>
            <a:spLocks noGrp="1"/>
          </p:cNvSpPr>
          <p:nvPr>
            <p:ph idx="1"/>
          </p:nvPr>
        </p:nvSpPr>
        <p:spPr>
          <a:xfrm>
            <a:off x="838200" y="2158209"/>
            <a:ext cx="10515600" cy="4114801"/>
          </a:xfrm>
        </p:spPr>
        <p:txBody>
          <a:bodyPr>
            <a:normAutofit lnSpcReduction="10000"/>
          </a:bodyPr>
          <a:lstStyle/>
          <a:p>
            <a:pPr algn="l"/>
            <a:r>
              <a:rPr lang="en-US" sz="2800" b="0" i="0" u="none" strike="noStrike" baseline="0" dirty="0">
                <a:latin typeface="Times New Roman" panose="02020603050405020304" pitchFamily="18" charset="0"/>
              </a:rPr>
              <a:t>From a case control study, we can derive what is known as Odds Ratio (OR) which is a measure of the strength of the association between risk factor and outcome. </a:t>
            </a:r>
          </a:p>
          <a:p>
            <a:pPr algn="l"/>
            <a:r>
              <a:rPr lang="en-US" sz="2800" b="0" i="0" u="none" strike="noStrike" baseline="0" dirty="0">
                <a:latin typeface="Times New Roman" panose="02020603050405020304" pitchFamily="18" charset="0"/>
              </a:rPr>
              <a:t>Odds ratio is closely related to relative risk. </a:t>
            </a:r>
          </a:p>
          <a:p>
            <a:pPr algn="l"/>
            <a:r>
              <a:rPr lang="en-US" sz="2800" b="0" i="0" u="none" strike="noStrike" baseline="0" dirty="0">
                <a:latin typeface="Times New Roman" panose="02020603050405020304" pitchFamily="18" charset="0"/>
              </a:rPr>
              <a:t>The derivation of odds ratio is based on three assumptions : </a:t>
            </a:r>
          </a:p>
          <a:p>
            <a:pPr lvl="1"/>
            <a:r>
              <a:rPr lang="en-US" sz="2800" b="0" i="0" u="none" strike="noStrike" baseline="0" dirty="0">
                <a:latin typeface="Times New Roman" panose="02020603050405020304" pitchFamily="18" charset="0"/>
              </a:rPr>
              <a:t>The disease being investigated </a:t>
            </a:r>
            <a:r>
              <a:rPr lang="en-US" sz="2400" b="0" i="0" u="none" strike="noStrike" baseline="0" dirty="0">
                <a:latin typeface="Times New Roman" panose="02020603050405020304" pitchFamily="18" charset="0"/>
              </a:rPr>
              <a:t>must be relatively rare; </a:t>
            </a:r>
          </a:p>
          <a:p>
            <a:pPr lvl="1"/>
            <a:r>
              <a:rPr lang="en-US" sz="2400" b="0" i="0" u="none" strike="noStrike" baseline="0" dirty="0">
                <a:latin typeface="Times New Roman" panose="02020603050405020304" pitchFamily="18" charset="0"/>
              </a:rPr>
              <a:t>The cases must be representative of those with the disease, </a:t>
            </a:r>
            <a:endParaRPr lang="en-US" sz="2400" dirty="0">
              <a:latin typeface="Times New Roman" panose="02020603050405020304" pitchFamily="18" charset="0"/>
            </a:endParaRPr>
          </a:p>
          <a:p>
            <a:pPr lvl="1"/>
            <a:r>
              <a:rPr lang="en-US" sz="2400" b="0" i="0" u="none" strike="noStrike" baseline="0" dirty="0">
                <a:latin typeface="Times New Roman" panose="02020603050405020304" pitchFamily="18" charset="0"/>
              </a:rPr>
              <a:t>The controls must be representative of those without the disease.</a:t>
            </a:r>
            <a:endParaRPr lang="en-US" sz="2800" dirty="0"/>
          </a:p>
        </p:txBody>
      </p:sp>
    </p:spTree>
    <p:extLst>
      <p:ext uri="{BB962C8B-B14F-4D97-AF65-F5344CB8AC3E}">
        <p14:creationId xmlns:p14="http://schemas.microsoft.com/office/powerpoint/2010/main" val="36419819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3AE69-2033-50E6-D83F-5DDAB9165575}"/>
              </a:ext>
            </a:extLst>
          </p:cNvPr>
          <p:cNvSpPr>
            <a:spLocks noGrp="1"/>
          </p:cNvSpPr>
          <p:nvPr>
            <p:ph type="title"/>
          </p:nvPr>
        </p:nvSpPr>
        <p:spPr>
          <a:xfrm>
            <a:off x="998621" y="284414"/>
            <a:ext cx="1455821" cy="794631"/>
          </a:xfrm>
        </p:spPr>
        <p:txBody>
          <a:bodyPr>
            <a:normAutofit fontScale="90000"/>
          </a:bodyPr>
          <a:lstStyle/>
          <a:p>
            <a:r>
              <a:rPr lang="en-US" dirty="0"/>
              <a:t>BIAS</a:t>
            </a:r>
          </a:p>
        </p:txBody>
      </p:sp>
      <p:sp>
        <p:nvSpPr>
          <p:cNvPr id="3" name="Content Placeholder 2">
            <a:extLst>
              <a:ext uri="{FF2B5EF4-FFF2-40B4-BE49-F238E27FC236}">
                <a16:creationId xmlns:a16="http://schemas.microsoft.com/office/drawing/2014/main" id="{B27771AA-07AA-3B3A-01F0-D5F045017C0F}"/>
              </a:ext>
            </a:extLst>
          </p:cNvPr>
          <p:cNvSpPr>
            <a:spLocks noGrp="1"/>
          </p:cNvSpPr>
          <p:nvPr>
            <p:ph idx="1"/>
          </p:nvPr>
        </p:nvSpPr>
        <p:spPr>
          <a:xfrm>
            <a:off x="304799" y="1079045"/>
            <a:ext cx="11742821" cy="5305713"/>
          </a:xfrm>
        </p:spPr>
        <p:txBody>
          <a:bodyPr>
            <a:normAutofit fontScale="85000" lnSpcReduction="10000"/>
          </a:bodyPr>
          <a:lstStyle/>
          <a:p>
            <a:pPr algn="l"/>
            <a:r>
              <a:rPr lang="en-US" sz="2400" b="0" i="0" u="none" strike="noStrike" baseline="0" dirty="0">
                <a:latin typeface="Times New Roman" panose="02020603050405020304" pitchFamily="18" charset="0"/>
              </a:rPr>
              <a:t>Bias is any systematic error in the determination of the association between the exposure and disease. </a:t>
            </a:r>
          </a:p>
          <a:p>
            <a:pPr algn="l"/>
            <a:r>
              <a:rPr lang="en-US" sz="2400" b="0" i="0" u="none" strike="noStrike" baseline="0" dirty="0">
                <a:latin typeface="Times New Roman" panose="02020603050405020304" pitchFamily="18" charset="0"/>
              </a:rPr>
              <a:t>The relative risk estimate may increase or decrease as a result of the bias;</a:t>
            </a:r>
          </a:p>
          <a:p>
            <a:pPr algn="l"/>
            <a:r>
              <a:rPr lang="en-US" sz="2400" b="0" i="0" u="none" strike="noStrike" baseline="0" dirty="0">
                <a:latin typeface="Times New Roman" panose="02020603050405020304" pitchFamily="18" charset="0"/>
              </a:rPr>
              <a:t>It reflects some type of non-comparability between the study and control groups. The possibility of bias must be considered when evaluating a possible cause and effect relationship.</a:t>
            </a:r>
          </a:p>
          <a:p>
            <a:pPr algn="l"/>
            <a:r>
              <a:rPr lang="en-US" sz="2400" dirty="0">
                <a:latin typeface="Times New Roman" panose="02020603050405020304" pitchFamily="18" charset="0"/>
              </a:rPr>
              <a:t>Selection Bias</a:t>
            </a:r>
          </a:p>
          <a:p>
            <a:pPr algn="l"/>
            <a:r>
              <a:rPr lang="en-US" sz="2400" dirty="0" err="1">
                <a:latin typeface="Times New Roman" panose="02020603050405020304" pitchFamily="18" charset="0"/>
              </a:rPr>
              <a:t>Berkesonian</a:t>
            </a:r>
            <a:r>
              <a:rPr lang="en-US" sz="2400" dirty="0">
                <a:latin typeface="Times New Roman" panose="02020603050405020304" pitchFamily="18" charset="0"/>
              </a:rPr>
              <a:t> Bias : </a:t>
            </a:r>
            <a:r>
              <a:rPr lang="en-US" sz="2400" b="0" i="0" u="none" strike="noStrike" baseline="0" dirty="0">
                <a:latin typeface="Times New Roman" panose="02020603050405020304" pitchFamily="18" charset="0"/>
              </a:rPr>
              <a:t>The bias arises because of the different rates of admission to hospitals for people with different diseases</a:t>
            </a:r>
            <a:endParaRPr lang="en-US" sz="2400" dirty="0">
              <a:latin typeface="Times New Roman" panose="02020603050405020304" pitchFamily="18" charset="0"/>
            </a:endParaRPr>
          </a:p>
          <a:p>
            <a:pPr algn="l"/>
            <a:r>
              <a:rPr lang="en-US" sz="2400" dirty="0">
                <a:latin typeface="Times New Roman" panose="02020603050405020304" pitchFamily="18" charset="0"/>
              </a:rPr>
              <a:t>Detection Bias</a:t>
            </a:r>
          </a:p>
          <a:p>
            <a:pPr algn="l"/>
            <a:r>
              <a:rPr lang="en-US" sz="2400" dirty="0">
                <a:latin typeface="Times New Roman" panose="02020603050405020304" pitchFamily="18" charset="0"/>
              </a:rPr>
              <a:t>Information Bias</a:t>
            </a:r>
          </a:p>
          <a:p>
            <a:pPr lvl="1"/>
            <a:r>
              <a:rPr lang="en-US" sz="2400" dirty="0">
                <a:latin typeface="Times New Roman" panose="02020603050405020304" pitchFamily="18" charset="0"/>
              </a:rPr>
              <a:t>Recall Bias</a:t>
            </a:r>
          </a:p>
          <a:p>
            <a:pPr lvl="1"/>
            <a:r>
              <a:rPr lang="en-US" sz="2400" dirty="0">
                <a:latin typeface="Times New Roman" panose="02020603050405020304" pitchFamily="18" charset="0"/>
              </a:rPr>
              <a:t>Family information bias</a:t>
            </a:r>
          </a:p>
          <a:p>
            <a:pPr lvl="1"/>
            <a:r>
              <a:rPr lang="en-US" sz="2400" dirty="0">
                <a:latin typeface="Times New Roman" panose="02020603050405020304" pitchFamily="18" charset="0"/>
              </a:rPr>
              <a:t>Interviewer Bias</a:t>
            </a:r>
          </a:p>
          <a:p>
            <a:r>
              <a:rPr lang="en-US" sz="2800" dirty="0">
                <a:latin typeface="Times New Roman" panose="02020603050405020304" pitchFamily="18" charset="0"/>
              </a:rPr>
              <a:t>Confounding</a:t>
            </a:r>
            <a:endParaRPr lang="en-US" sz="2800" dirty="0"/>
          </a:p>
        </p:txBody>
      </p:sp>
    </p:spTree>
    <p:extLst>
      <p:ext uri="{BB962C8B-B14F-4D97-AF65-F5344CB8AC3E}">
        <p14:creationId xmlns:p14="http://schemas.microsoft.com/office/powerpoint/2010/main" val="34895875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55689-9CE8-DD56-0126-7C0DB411E950}"/>
              </a:ext>
            </a:extLst>
          </p:cNvPr>
          <p:cNvSpPr>
            <a:spLocks noGrp="1"/>
          </p:cNvSpPr>
          <p:nvPr>
            <p:ph type="title"/>
          </p:nvPr>
        </p:nvSpPr>
        <p:spPr/>
        <p:txBody>
          <a:bodyPr/>
          <a:lstStyle/>
          <a:p>
            <a:r>
              <a:rPr lang="en-US" dirty="0"/>
              <a:t>Advantages</a:t>
            </a:r>
          </a:p>
        </p:txBody>
      </p:sp>
      <p:sp>
        <p:nvSpPr>
          <p:cNvPr id="3" name="Content Placeholder 2">
            <a:extLst>
              <a:ext uri="{FF2B5EF4-FFF2-40B4-BE49-F238E27FC236}">
                <a16:creationId xmlns:a16="http://schemas.microsoft.com/office/drawing/2014/main" id="{8CCE85C9-424E-A985-D2CB-93A64ACB7B24}"/>
              </a:ext>
            </a:extLst>
          </p:cNvPr>
          <p:cNvSpPr>
            <a:spLocks noGrp="1"/>
          </p:cNvSpPr>
          <p:nvPr>
            <p:ph idx="1"/>
          </p:nvPr>
        </p:nvSpPr>
        <p:spPr>
          <a:xfrm>
            <a:off x="838200" y="2061469"/>
            <a:ext cx="10236200" cy="4114801"/>
          </a:xfrm>
        </p:spPr>
        <p:txBody>
          <a:bodyPr numCol="2">
            <a:normAutofit lnSpcReduction="10000"/>
          </a:bodyPr>
          <a:lstStyle/>
          <a:p>
            <a:pPr algn="l"/>
            <a:r>
              <a:rPr lang="en-US" b="0" i="0" u="none" strike="noStrike" baseline="0" dirty="0">
                <a:latin typeface="Times New Roman" panose="02020603050405020304" pitchFamily="18" charset="0"/>
              </a:rPr>
              <a:t>Relatively easy to carry out.</a:t>
            </a:r>
          </a:p>
          <a:p>
            <a:pPr algn="l"/>
            <a:r>
              <a:rPr lang="en-US" b="0" i="0" u="none" strike="noStrike" baseline="0" dirty="0">
                <a:latin typeface="Times New Roman" panose="02020603050405020304" pitchFamily="18" charset="0"/>
              </a:rPr>
              <a:t>Rapid and inexpensive (compared with cohort studies).</a:t>
            </a:r>
          </a:p>
          <a:p>
            <a:pPr algn="l"/>
            <a:r>
              <a:rPr lang="en-US" b="0" i="0" u="none" strike="noStrike" baseline="0" dirty="0">
                <a:latin typeface="Times New Roman" panose="02020603050405020304" pitchFamily="18" charset="0"/>
              </a:rPr>
              <a:t>Require comparatively few subjects.</a:t>
            </a:r>
          </a:p>
          <a:p>
            <a:pPr algn="l"/>
            <a:r>
              <a:rPr lang="en-US" b="0" i="0" u="none" strike="noStrike" baseline="0" dirty="0">
                <a:latin typeface="Times New Roman" panose="02020603050405020304" pitchFamily="18" charset="0"/>
              </a:rPr>
              <a:t>Particularly suitable to investigate rare diseases or diseases about which little is known. </a:t>
            </a:r>
            <a:endParaRPr lang="en-US" dirty="0">
              <a:latin typeface="Times New Roman" panose="02020603050405020304" pitchFamily="18" charset="0"/>
            </a:endParaRPr>
          </a:p>
          <a:p>
            <a:pPr lvl="1"/>
            <a:r>
              <a:rPr lang="en-US" b="0" i="0" u="none" strike="noStrike" baseline="0" dirty="0">
                <a:latin typeface="Times New Roman" panose="02020603050405020304" pitchFamily="18" charset="0"/>
              </a:rPr>
              <a:t>A disease which is rare in the general population (e.g., </a:t>
            </a:r>
            <a:r>
              <a:rPr lang="en-US" b="0" i="0" u="none" strike="noStrike" baseline="0" dirty="0" err="1">
                <a:latin typeface="Times New Roman" panose="02020603050405020304" pitchFamily="18" charset="0"/>
              </a:rPr>
              <a:t>leukaemia</a:t>
            </a:r>
            <a:r>
              <a:rPr lang="en-US" b="0" i="0" u="none" strike="noStrike" baseline="0" dirty="0">
                <a:latin typeface="Times New Roman" panose="02020603050405020304" pitchFamily="18" charset="0"/>
              </a:rPr>
              <a:t> in adolescents) may </a:t>
            </a:r>
            <a:r>
              <a:rPr lang="en-US" b="0" i="0" u="none" strike="noStrike" baseline="0" dirty="0" err="1">
                <a:latin typeface="Times New Roman" panose="02020603050405020304" pitchFamily="18" charset="0"/>
              </a:rPr>
              <a:t>notbe</a:t>
            </a:r>
            <a:r>
              <a:rPr lang="en-US" b="0" i="0" u="none" strike="noStrike" baseline="0" dirty="0">
                <a:latin typeface="Times New Roman" panose="02020603050405020304" pitchFamily="18" charset="0"/>
              </a:rPr>
              <a:t> rare in special exposure group (e.g. prenatal X-rays).</a:t>
            </a:r>
          </a:p>
          <a:p>
            <a:pPr algn="l"/>
            <a:r>
              <a:rPr lang="en-US" b="0" i="0" u="none" strike="noStrike" baseline="0" dirty="0">
                <a:latin typeface="Times New Roman" panose="02020603050405020304" pitchFamily="18" charset="0"/>
              </a:rPr>
              <a:t>No risk to subjects.</a:t>
            </a:r>
          </a:p>
          <a:p>
            <a:pPr algn="l"/>
            <a:r>
              <a:rPr lang="en-US" b="0" i="0" u="none" strike="noStrike" baseline="0" dirty="0">
                <a:latin typeface="Times New Roman" panose="02020603050405020304" pitchFamily="18" charset="0"/>
              </a:rPr>
              <a:t>Allows the study of several different </a:t>
            </a:r>
            <a:r>
              <a:rPr lang="en-US" b="0" i="0" u="none" strike="noStrike" baseline="0" dirty="0" err="1">
                <a:latin typeface="Times New Roman" panose="02020603050405020304" pitchFamily="18" charset="0"/>
              </a:rPr>
              <a:t>aetiological</a:t>
            </a:r>
            <a:r>
              <a:rPr lang="en-US" b="0" i="0" u="none" strike="noStrike" baseline="0" dirty="0">
                <a:latin typeface="Times New Roman" panose="02020603050405020304" pitchFamily="18" charset="0"/>
              </a:rPr>
              <a:t> factors (e.g., smoking, physical activity and personality characteristics in myocardial infarction).</a:t>
            </a:r>
          </a:p>
          <a:p>
            <a:pPr algn="l"/>
            <a:r>
              <a:rPr lang="en-US" b="0" i="0" u="none" strike="noStrike" baseline="0" dirty="0">
                <a:latin typeface="Times New Roman" panose="02020603050405020304" pitchFamily="18" charset="0"/>
              </a:rPr>
              <a:t>Risk factors can be identified. Rational prevention and control </a:t>
            </a:r>
            <a:r>
              <a:rPr lang="en-US" b="0" i="0" u="none" strike="noStrike" baseline="0" dirty="0" err="1">
                <a:latin typeface="Times New Roman" panose="02020603050405020304" pitchFamily="18" charset="0"/>
              </a:rPr>
              <a:t>programmes</a:t>
            </a:r>
            <a:r>
              <a:rPr lang="en-US" b="0" i="0" u="none" strike="noStrike" baseline="0" dirty="0">
                <a:latin typeface="Times New Roman" panose="02020603050405020304" pitchFamily="18" charset="0"/>
              </a:rPr>
              <a:t> can be established.</a:t>
            </a:r>
          </a:p>
          <a:p>
            <a:pPr algn="l"/>
            <a:r>
              <a:rPr lang="en-US" b="0" i="0" u="none" strike="noStrike" baseline="0" dirty="0">
                <a:latin typeface="Times New Roman" panose="02020603050405020304" pitchFamily="18" charset="0"/>
              </a:rPr>
              <a:t>No attrition problems, because case control studies do not require follow-up of individuals into the future.</a:t>
            </a:r>
          </a:p>
          <a:p>
            <a:pPr algn="l"/>
            <a:r>
              <a:rPr lang="en-US" b="0" i="0" u="none" strike="noStrike" baseline="0" dirty="0">
                <a:latin typeface="Times New Roman" panose="02020603050405020304" pitchFamily="18" charset="0"/>
              </a:rPr>
              <a:t>Ethical problems minimal.</a:t>
            </a:r>
            <a:endParaRPr lang="en-US" sz="2400" dirty="0"/>
          </a:p>
        </p:txBody>
      </p:sp>
    </p:spTree>
    <p:extLst>
      <p:ext uri="{BB962C8B-B14F-4D97-AF65-F5344CB8AC3E}">
        <p14:creationId xmlns:p14="http://schemas.microsoft.com/office/powerpoint/2010/main" val="1177857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99B22-EFB0-D09D-9462-5F2F961065CB}"/>
              </a:ext>
            </a:extLst>
          </p:cNvPr>
          <p:cNvSpPr>
            <a:spLocks noGrp="1"/>
          </p:cNvSpPr>
          <p:nvPr>
            <p:ph type="title"/>
          </p:nvPr>
        </p:nvSpPr>
        <p:spPr/>
        <p:txBody>
          <a:bodyPr/>
          <a:lstStyle/>
          <a:p>
            <a:r>
              <a:rPr lang="en-US" dirty="0"/>
              <a:t>Disadvantages</a:t>
            </a:r>
          </a:p>
        </p:txBody>
      </p:sp>
      <p:sp>
        <p:nvSpPr>
          <p:cNvPr id="3" name="Content Placeholder 2">
            <a:extLst>
              <a:ext uri="{FF2B5EF4-FFF2-40B4-BE49-F238E27FC236}">
                <a16:creationId xmlns:a16="http://schemas.microsoft.com/office/drawing/2014/main" id="{B6E0B28D-0365-F7D2-8EE7-EF7EBB854256}"/>
              </a:ext>
            </a:extLst>
          </p:cNvPr>
          <p:cNvSpPr>
            <a:spLocks noGrp="1"/>
          </p:cNvSpPr>
          <p:nvPr>
            <p:ph idx="1"/>
          </p:nvPr>
        </p:nvSpPr>
        <p:spPr/>
        <p:txBody>
          <a:bodyPr numCol="2">
            <a:normAutofit/>
          </a:bodyPr>
          <a:lstStyle/>
          <a:p>
            <a:pPr algn="l"/>
            <a:r>
              <a:rPr lang="en-US" sz="2400" b="0" i="0" u="none" strike="noStrike" baseline="0" dirty="0">
                <a:latin typeface="Times New Roman" panose="02020603050405020304" pitchFamily="18" charset="0"/>
              </a:rPr>
              <a:t>Problems of bias relies on memory or past records, the accuracy of which may be uncertain; validation of information obtained is difficult or sometimes impossible.</a:t>
            </a:r>
          </a:p>
          <a:p>
            <a:pPr algn="l"/>
            <a:r>
              <a:rPr lang="en-US" sz="2400" b="0" i="0" u="none" strike="noStrike" baseline="0" dirty="0">
                <a:latin typeface="Times New Roman" panose="02020603050405020304" pitchFamily="18" charset="0"/>
              </a:rPr>
              <a:t>Selection of an appropriate control group may be difficult.</a:t>
            </a:r>
          </a:p>
          <a:p>
            <a:pPr algn="l"/>
            <a:r>
              <a:rPr lang="en-US" sz="2400" b="0" i="0" u="none" strike="noStrike" baseline="0" dirty="0">
                <a:latin typeface="Times New Roman" panose="02020603050405020304" pitchFamily="18" charset="0"/>
              </a:rPr>
              <a:t>We cannot measure incidence, and can only estimate the odds ratio</a:t>
            </a:r>
          </a:p>
          <a:p>
            <a:pPr algn="l"/>
            <a:r>
              <a:rPr lang="en-US" sz="2400" b="0" i="0" u="none" strike="noStrike" baseline="0" dirty="0">
                <a:latin typeface="Times New Roman" panose="02020603050405020304" pitchFamily="18" charset="0"/>
              </a:rPr>
              <a:t>Do not distinguish between causes and associated factors.</a:t>
            </a:r>
          </a:p>
          <a:p>
            <a:pPr algn="l"/>
            <a:r>
              <a:rPr lang="en-US" sz="2400" b="0" i="0" u="none" strike="noStrike" baseline="0" dirty="0">
                <a:latin typeface="Times New Roman" panose="02020603050405020304" pitchFamily="18" charset="0"/>
              </a:rPr>
              <a:t>Not suited to the evaluation of therapy or prophylaxis of disease.</a:t>
            </a:r>
          </a:p>
          <a:p>
            <a:pPr algn="l"/>
            <a:r>
              <a:rPr lang="en-US" sz="2400" b="0" i="0" u="none" strike="noStrike" baseline="0" dirty="0">
                <a:latin typeface="Times New Roman" panose="02020603050405020304" pitchFamily="18" charset="0"/>
              </a:rPr>
              <a:t>Another major concern is the representativeness of cases and controls.</a:t>
            </a:r>
            <a:endParaRPr lang="en-US" sz="2800" dirty="0"/>
          </a:p>
        </p:txBody>
      </p:sp>
    </p:spTree>
    <p:extLst>
      <p:ext uri="{BB962C8B-B14F-4D97-AF65-F5344CB8AC3E}">
        <p14:creationId xmlns:p14="http://schemas.microsoft.com/office/powerpoint/2010/main" val="22432721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 name="Picture 3">
            <a:extLst>
              <a:ext uri="{FF2B5EF4-FFF2-40B4-BE49-F238E27FC236}">
                <a16:creationId xmlns:a16="http://schemas.microsoft.com/office/drawing/2014/main" id="{0FFA8FED-7032-D7DA-8104-6E0D3F2E9BA8}"/>
              </a:ext>
            </a:extLst>
          </p:cNvPr>
          <p:cNvPicPr>
            <a:picLocks noChangeAspect="1"/>
          </p:cNvPicPr>
          <p:nvPr/>
        </p:nvPicPr>
        <p:blipFill rotWithShape="1">
          <a:blip r:embed="rId2"/>
          <a:srcRect t="10958" r="-1" b="1136"/>
          <a:stretch/>
        </p:blipFill>
        <p:spPr>
          <a:xfrm>
            <a:off x="3523488" y="10"/>
            <a:ext cx="8668512" cy="6857990"/>
          </a:xfrm>
          <a:prstGeom prst="rect">
            <a:avLst/>
          </a:prstGeom>
        </p:spPr>
      </p:pic>
      <p:sp>
        <p:nvSpPr>
          <p:cNvPr id="2" name="Title 1">
            <a:extLst>
              <a:ext uri="{FF2B5EF4-FFF2-40B4-BE49-F238E27FC236}">
                <a16:creationId xmlns:a16="http://schemas.microsoft.com/office/drawing/2014/main" id="{FD9B43FF-80EA-E1A8-5723-54B10E6C7517}"/>
              </a:ext>
            </a:extLst>
          </p:cNvPr>
          <p:cNvSpPr>
            <a:spLocks noGrp="1"/>
          </p:cNvSpPr>
          <p:nvPr>
            <p:ph type="ctrTitle"/>
          </p:nvPr>
        </p:nvSpPr>
        <p:spPr>
          <a:xfrm>
            <a:off x="477981" y="1122363"/>
            <a:ext cx="4023360" cy="3204134"/>
          </a:xfrm>
        </p:spPr>
        <p:txBody>
          <a:bodyPr anchor="b">
            <a:normAutofit/>
          </a:bodyPr>
          <a:lstStyle/>
          <a:p>
            <a:r>
              <a:rPr lang="en-US" sz="4800"/>
              <a:t>Cohort study</a:t>
            </a:r>
          </a:p>
        </p:txBody>
      </p:sp>
    </p:spTree>
    <p:extLst>
      <p:ext uri="{BB962C8B-B14F-4D97-AF65-F5344CB8AC3E}">
        <p14:creationId xmlns:p14="http://schemas.microsoft.com/office/powerpoint/2010/main" val="13486669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7E94F-4076-2EB5-1061-1E9B1E74ABD9}"/>
              </a:ext>
            </a:extLst>
          </p:cNvPr>
          <p:cNvSpPr>
            <a:spLocks noGrp="1"/>
          </p:cNvSpPr>
          <p:nvPr>
            <p:ph type="title"/>
          </p:nvPr>
        </p:nvSpPr>
        <p:spPr>
          <a:xfrm>
            <a:off x="691079" y="725950"/>
            <a:ext cx="3428812" cy="5436630"/>
          </a:xfrm>
        </p:spPr>
        <p:txBody>
          <a:bodyPr anchor="ctr">
            <a:normAutofit/>
          </a:bodyPr>
          <a:lstStyle/>
          <a:p>
            <a:r>
              <a:rPr lang="en-US" dirty="0"/>
              <a:t>Elements</a:t>
            </a:r>
          </a:p>
        </p:txBody>
      </p:sp>
      <p:graphicFrame>
        <p:nvGraphicFramePr>
          <p:cNvPr id="5" name="Content Placeholder 2">
            <a:extLst>
              <a:ext uri="{FF2B5EF4-FFF2-40B4-BE49-F238E27FC236}">
                <a16:creationId xmlns:a16="http://schemas.microsoft.com/office/drawing/2014/main" id="{38065143-3114-97D6-CE7B-E138E133F088}"/>
              </a:ext>
            </a:extLst>
          </p:cNvPr>
          <p:cNvGraphicFramePr>
            <a:graphicFrameLocks noGrp="1"/>
          </p:cNvGraphicFramePr>
          <p:nvPr>
            <p:ph idx="1"/>
          </p:nvPr>
        </p:nvGraphicFramePr>
        <p:xfrm>
          <a:off x="5103282" y="170170"/>
          <a:ext cx="6879517" cy="59732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844361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99295-6B25-1487-BF3F-C3B1255DA268}"/>
              </a:ext>
            </a:extLst>
          </p:cNvPr>
          <p:cNvSpPr>
            <a:spLocks noGrp="1"/>
          </p:cNvSpPr>
          <p:nvPr>
            <p:ph type="title"/>
          </p:nvPr>
        </p:nvSpPr>
        <p:spPr/>
        <p:txBody>
          <a:bodyPr/>
          <a:lstStyle/>
          <a:p>
            <a:r>
              <a:rPr lang="en-US" dirty="0"/>
              <a:t>Selection of study subjects</a:t>
            </a:r>
          </a:p>
        </p:txBody>
      </p:sp>
      <p:sp>
        <p:nvSpPr>
          <p:cNvPr id="3" name="Content Placeholder 2">
            <a:extLst>
              <a:ext uri="{FF2B5EF4-FFF2-40B4-BE49-F238E27FC236}">
                <a16:creationId xmlns:a16="http://schemas.microsoft.com/office/drawing/2014/main" id="{37728875-5799-9968-D512-1FEED7DA47CA}"/>
              </a:ext>
            </a:extLst>
          </p:cNvPr>
          <p:cNvSpPr>
            <a:spLocks noGrp="1"/>
          </p:cNvSpPr>
          <p:nvPr>
            <p:ph idx="1"/>
          </p:nvPr>
        </p:nvSpPr>
        <p:spPr>
          <a:xfrm>
            <a:off x="965200" y="1862667"/>
            <a:ext cx="10318496" cy="4309533"/>
          </a:xfrm>
        </p:spPr>
        <p:txBody>
          <a:bodyPr>
            <a:normAutofit/>
          </a:bodyPr>
          <a:lstStyle/>
          <a:p>
            <a:r>
              <a:rPr lang="en-US" sz="4400" dirty="0"/>
              <a:t>General population</a:t>
            </a:r>
          </a:p>
          <a:p>
            <a:pPr lvl="1"/>
            <a:r>
              <a:rPr lang="en-US" b="0" i="0" u="none" strike="noStrike" baseline="0" dirty="0">
                <a:latin typeface="Times New Roman" panose="02020603050405020304" pitchFamily="18" charset="0"/>
              </a:rPr>
              <a:t>Exposure or cause of death is fairly frequent in the population</a:t>
            </a:r>
          </a:p>
          <a:p>
            <a:pPr lvl="1"/>
            <a:r>
              <a:rPr lang="en-US" b="0" i="0" u="none" strike="noStrike" baseline="0" dirty="0">
                <a:latin typeface="Times New Roman" panose="02020603050405020304" pitchFamily="18" charset="0"/>
              </a:rPr>
              <a:t>Residing in well defined geographical, political and administrative areas</a:t>
            </a:r>
          </a:p>
          <a:p>
            <a:pPr lvl="1"/>
            <a:r>
              <a:rPr lang="en-US" b="0" i="0" u="none" strike="noStrike" baseline="0" dirty="0">
                <a:latin typeface="Times New Roman" panose="02020603050405020304" pitchFamily="18" charset="0"/>
              </a:rPr>
              <a:t>If the population is very large, an appropriate sample is taken.</a:t>
            </a:r>
          </a:p>
          <a:p>
            <a:pPr lvl="1"/>
            <a:r>
              <a:rPr lang="en-US" b="0" i="0" u="none" strike="noStrike" baseline="0" dirty="0">
                <a:latin typeface="Times New Roman" panose="02020603050405020304" pitchFamily="18" charset="0"/>
              </a:rPr>
              <a:t>The exposed and unexposed segments of the population to be studied should be representative of the corresponding segments of the general population.</a:t>
            </a:r>
            <a:endParaRPr lang="en-US" sz="4000" dirty="0"/>
          </a:p>
        </p:txBody>
      </p:sp>
    </p:spTree>
    <p:extLst>
      <p:ext uri="{BB962C8B-B14F-4D97-AF65-F5344CB8AC3E}">
        <p14:creationId xmlns:p14="http://schemas.microsoft.com/office/powerpoint/2010/main" val="23207798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99295-6B25-1487-BF3F-C3B1255DA268}"/>
              </a:ext>
            </a:extLst>
          </p:cNvPr>
          <p:cNvSpPr>
            <a:spLocks noGrp="1"/>
          </p:cNvSpPr>
          <p:nvPr>
            <p:ph type="title"/>
          </p:nvPr>
        </p:nvSpPr>
        <p:spPr/>
        <p:txBody>
          <a:bodyPr>
            <a:normAutofit/>
          </a:bodyPr>
          <a:lstStyle/>
          <a:p>
            <a:r>
              <a:rPr lang="en-US" dirty="0"/>
              <a:t>Selection of study subjects (Special groups)</a:t>
            </a:r>
          </a:p>
        </p:txBody>
      </p:sp>
      <p:sp>
        <p:nvSpPr>
          <p:cNvPr id="3" name="Content Placeholder 2">
            <a:extLst>
              <a:ext uri="{FF2B5EF4-FFF2-40B4-BE49-F238E27FC236}">
                <a16:creationId xmlns:a16="http://schemas.microsoft.com/office/drawing/2014/main" id="{37728875-5799-9968-D512-1FEED7DA47CA}"/>
              </a:ext>
            </a:extLst>
          </p:cNvPr>
          <p:cNvSpPr>
            <a:spLocks noGrp="1"/>
          </p:cNvSpPr>
          <p:nvPr>
            <p:ph idx="1"/>
          </p:nvPr>
        </p:nvSpPr>
        <p:spPr>
          <a:xfrm>
            <a:off x="965200" y="1862667"/>
            <a:ext cx="10318496" cy="4309533"/>
          </a:xfrm>
        </p:spPr>
        <p:txBody>
          <a:bodyPr>
            <a:normAutofit fontScale="85000" lnSpcReduction="20000"/>
          </a:bodyPr>
          <a:lstStyle/>
          <a:p>
            <a:r>
              <a:rPr lang="en-US" sz="2400" dirty="0"/>
              <a:t>Select group</a:t>
            </a:r>
          </a:p>
          <a:p>
            <a:pPr lvl="1"/>
            <a:r>
              <a:rPr lang="en-US" sz="2000" b="0" i="0" u="none" strike="noStrike" baseline="0" dirty="0">
                <a:latin typeface="Times New Roman" panose="02020603050405020304" pitchFamily="18" charset="0"/>
              </a:rPr>
              <a:t>These may be professional groups (e.g., doctors, nurses, lawyers, teachers, civil servants), insured persons, obstetric population, college alumni, government employees, volunteers, etc. </a:t>
            </a:r>
          </a:p>
          <a:p>
            <a:pPr lvl="1"/>
            <a:r>
              <a:rPr lang="en-US" sz="2000" b="0" i="0" u="none" strike="noStrike" baseline="0" dirty="0">
                <a:latin typeface="Times New Roman" panose="02020603050405020304" pitchFamily="18" charset="0"/>
              </a:rPr>
              <a:t>Doll’s prospective study on smoking and lung cancer was carried out on British doctors listed in the Medical Register of the UK in 1951</a:t>
            </a:r>
            <a:r>
              <a:rPr lang="en-US" sz="2000" b="0" i="1" u="none" strike="noStrike" baseline="0" dirty="0">
                <a:latin typeface="Times New Roman" panose="02020603050405020304" pitchFamily="18" charset="0"/>
              </a:rPr>
              <a:t>. </a:t>
            </a:r>
          </a:p>
          <a:p>
            <a:pPr lvl="1"/>
            <a:r>
              <a:rPr lang="en-US" sz="2000" b="0" i="0" u="none" strike="noStrike" baseline="0" dirty="0">
                <a:latin typeface="Times New Roman" panose="02020603050405020304" pitchFamily="18" charset="0"/>
              </a:rPr>
              <a:t>These groups are not only homogeneous, but they also offer advantages of accessibility and easy follow-up for a protracted period</a:t>
            </a:r>
          </a:p>
          <a:p>
            <a:pPr algn="l"/>
            <a:r>
              <a:rPr lang="en-US" sz="2400" dirty="0"/>
              <a:t>Exposure groups </a:t>
            </a:r>
            <a:r>
              <a:rPr lang="en-US" sz="1800" b="0" i="1" u="none" strike="noStrike" baseline="0" dirty="0">
                <a:latin typeface="Times New Roman" panose="02020603050405020304" pitchFamily="18" charset="0"/>
              </a:rPr>
              <a:t>: </a:t>
            </a:r>
          </a:p>
          <a:p>
            <a:pPr lvl="1"/>
            <a:r>
              <a:rPr lang="en-US" sz="2100" dirty="0">
                <a:latin typeface="Times New Roman" panose="02020603050405020304" pitchFamily="18" charset="0"/>
              </a:rPr>
              <a:t>If the exposure is rare, a more economical  procedure is to select a cohort of persons known to have experienced the exposure. </a:t>
            </a:r>
          </a:p>
          <a:p>
            <a:pPr lvl="1"/>
            <a:r>
              <a:rPr lang="en-US" sz="2100" dirty="0">
                <a:latin typeface="Times New Roman" panose="02020603050405020304" pitchFamily="18" charset="0"/>
              </a:rPr>
              <a:t>A readily accessible source of these groups is workers in industries and those employed in high-risk situations (e.g., radiologists exposed to X-rays).</a:t>
            </a:r>
          </a:p>
          <a:p>
            <a:pPr lvl="1"/>
            <a:r>
              <a:rPr lang="en-US" sz="2100" dirty="0">
                <a:latin typeface="Times New Roman" panose="02020603050405020304" pitchFamily="18" charset="0"/>
              </a:rPr>
              <a:t>When cohorts have been selected because of special exposure, it facilitates classification of cohort members according to the degree or duration of exposure to the suspected factor for subsequent analytical study.</a:t>
            </a:r>
          </a:p>
        </p:txBody>
      </p:sp>
    </p:spTree>
    <p:extLst>
      <p:ext uri="{BB962C8B-B14F-4D97-AF65-F5344CB8AC3E}">
        <p14:creationId xmlns:p14="http://schemas.microsoft.com/office/powerpoint/2010/main" val="16862942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A7566-AE9C-F17D-1406-FF64B3C4B799}"/>
              </a:ext>
            </a:extLst>
          </p:cNvPr>
          <p:cNvSpPr>
            <a:spLocks noGrp="1"/>
          </p:cNvSpPr>
          <p:nvPr>
            <p:ph type="title"/>
          </p:nvPr>
        </p:nvSpPr>
        <p:spPr/>
        <p:txBody>
          <a:bodyPr/>
          <a:lstStyle/>
          <a:p>
            <a:r>
              <a:rPr lang="en-US" dirty="0"/>
              <a:t>Data on exposure</a:t>
            </a:r>
          </a:p>
        </p:txBody>
      </p:sp>
      <p:sp>
        <p:nvSpPr>
          <p:cNvPr id="3" name="Content Placeholder 2">
            <a:extLst>
              <a:ext uri="{FF2B5EF4-FFF2-40B4-BE49-F238E27FC236}">
                <a16:creationId xmlns:a16="http://schemas.microsoft.com/office/drawing/2014/main" id="{C283CB73-A5E6-8BE3-9891-273A3B34DDEA}"/>
              </a:ext>
            </a:extLst>
          </p:cNvPr>
          <p:cNvSpPr>
            <a:spLocks noGrp="1"/>
          </p:cNvSpPr>
          <p:nvPr>
            <p:ph idx="1"/>
          </p:nvPr>
        </p:nvSpPr>
        <p:spPr>
          <a:xfrm>
            <a:off x="1115568" y="1728216"/>
            <a:ext cx="10168128" cy="4443984"/>
          </a:xfrm>
        </p:spPr>
        <p:txBody>
          <a:bodyPr>
            <a:normAutofit fontScale="92500" lnSpcReduction="20000"/>
          </a:bodyPr>
          <a:lstStyle/>
          <a:p>
            <a:pPr algn="l"/>
            <a:r>
              <a:rPr lang="en-US" sz="2200" b="0" i="1" u="none" strike="noStrike" baseline="0" dirty="0">
                <a:latin typeface="Times New Roman" panose="02020603050405020304" pitchFamily="18" charset="0"/>
              </a:rPr>
              <a:t>Cohort members : </a:t>
            </a:r>
            <a:r>
              <a:rPr lang="en-US" sz="2200" b="0" i="0" u="none" strike="noStrike" baseline="0" dirty="0">
                <a:latin typeface="Times New Roman" panose="02020603050405020304" pitchFamily="18" charset="0"/>
              </a:rPr>
              <a:t>through personal interviews or mailed questionnaires. </a:t>
            </a:r>
          </a:p>
          <a:p>
            <a:pPr algn="l"/>
            <a:r>
              <a:rPr lang="en-US" sz="2200" b="0" i="1" u="none" strike="noStrike" baseline="0" dirty="0">
                <a:latin typeface="Times New Roman" panose="02020603050405020304" pitchFamily="18" charset="0"/>
              </a:rPr>
              <a:t>Review of records: </a:t>
            </a:r>
            <a:r>
              <a:rPr lang="en-US" sz="2200" b="0" i="0" u="none" strike="noStrike" baseline="0" dirty="0">
                <a:latin typeface="Times New Roman" panose="02020603050405020304" pitchFamily="18" charset="0"/>
              </a:rPr>
              <a:t>Certain kinds of information (e.g., dose of radiation, kinds of surgery, or details of medical treatment) can be obtained only from medical records, </a:t>
            </a:r>
          </a:p>
          <a:p>
            <a:pPr algn="l"/>
            <a:r>
              <a:rPr lang="en-US" sz="2200" b="0" i="1" u="none" strike="noStrike" baseline="0" dirty="0">
                <a:latin typeface="Times New Roman" panose="02020603050405020304" pitchFamily="18" charset="0"/>
              </a:rPr>
              <a:t>Medical examination or special tests : </a:t>
            </a:r>
            <a:r>
              <a:rPr lang="en-US" sz="2200" b="0" i="0" u="none" strike="noStrike" baseline="0" dirty="0">
                <a:latin typeface="Times New Roman" panose="02020603050405020304" pitchFamily="18" charset="0"/>
              </a:rPr>
              <a:t>Some types of information can be obtained only by medical examination or special tests, e.g., blood pressure, serum cholesterol, ECG. </a:t>
            </a:r>
          </a:p>
          <a:p>
            <a:pPr algn="l"/>
            <a:r>
              <a:rPr lang="en-US" sz="2200" b="0" i="1" u="none" strike="noStrike" baseline="0" dirty="0">
                <a:latin typeface="Times New Roman" panose="02020603050405020304" pitchFamily="18" charset="0"/>
              </a:rPr>
              <a:t>Environmental surveys : </a:t>
            </a:r>
            <a:r>
              <a:rPr lang="en-US" sz="2200" b="0" i="0" u="none" strike="noStrike" baseline="0" dirty="0">
                <a:latin typeface="Times New Roman" panose="02020603050405020304" pitchFamily="18" charset="0"/>
              </a:rPr>
              <a:t>This is the best source for obtaining information on exposure levels of the suspected factor in the environment where the cohort lived or worked.</a:t>
            </a:r>
          </a:p>
          <a:p>
            <a:pPr algn="l"/>
            <a:r>
              <a:rPr lang="en-US" sz="1800" b="0" i="0" u="none" strike="noStrike" baseline="0" dirty="0">
                <a:latin typeface="Times New Roman" panose="02020603050405020304" pitchFamily="18" charset="0"/>
              </a:rPr>
              <a:t>Classification of cohort members :</a:t>
            </a:r>
          </a:p>
          <a:p>
            <a:pPr lvl="1"/>
            <a:r>
              <a:rPr lang="en-US" sz="1900" b="0" i="0" u="none" strike="noStrike" baseline="0" dirty="0">
                <a:latin typeface="Times New Roman" panose="02020603050405020304" pitchFamily="18" charset="0"/>
              </a:rPr>
              <a:t>According to whether or not they have been exposed to the suspected factor, and</a:t>
            </a:r>
          </a:p>
          <a:p>
            <a:pPr lvl="1"/>
            <a:r>
              <a:rPr lang="en-US" sz="1900" b="0" i="0" u="none" strike="noStrike" baseline="0" dirty="0">
                <a:latin typeface="Times New Roman" panose="02020603050405020304" pitchFamily="18" charset="0"/>
              </a:rPr>
              <a:t>According to the level or degree of exposure, at least in broad classes, in the case of special exposure groups</a:t>
            </a:r>
          </a:p>
          <a:p>
            <a:pPr algn="l"/>
            <a:r>
              <a:rPr lang="en-US" sz="1800" b="0" i="0" u="none" strike="noStrike" baseline="0" dirty="0">
                <a:latin typeface="Times New Roman" panose="02020603050405020304" pitchFamily="18" charset="0"/>
              </a:rPr>
              <a:t>Basic information about demographic variables which might affect the frequency of disease under investigation, should also be collected. Such information will be required for subsequent analysis.</a:t>
            </a:r>
            <a:endParaRPr lang="en-US" dirty="0"/>
          </a:p>
        </p:txBody>
      </p:sp>
    </p:spTree>
    <p:extLst>
      <p:ext uri="{BB962C8B-B14F-4D97-AF65-F5344CB8AC3E}">
        <p14:creationId xmlns:p14="http://schemas.microsoft.com/office/powerpoint/2010/main" val="16611376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3A1EB-B165-438A-515B-A2D4DAC8F6B5}"/>
              </a:ext>
            </a:extLst>
          </p:cNvPr>
          <p:cNvSpPr>
            <a:spLocks noGrp="1"/>
          </p:cNvSpPr>
          <p:nvPr>
            <p:ph type="title"/>
          </p:nvPr>
        </p:nvSpPr>
        <p:spPr/>
        <p:txBody>
          <a:bodyPr/>
          <a:lstStyle/>
          <a:p>
            <a:r>
              <a:rPr lang="en-US" dirty="0"/>
              <a:t>Comparison groups</a:t>
            </a:r>
          </a:p>
        </p:txBody>
      </p:sp>
      <p:sp>
        <p:nvSpPr>
          <p:cNvPr id="3" name="Content Placeholder 2">
            <a:extLst>
              <a:ext uri="{FF2B5EF4-FFF2-40B4-BE49-F238E27FC236}">
                <a16:creationId xmlns:a16="http://schemas.microsoft.com/office/drawing/2014/main" id="{85CC4C09-0718-F88B-9AC7-A7AA3B958890}"/>
              </a:ext>
            </a:extLst>
          </p:cNvPr>
          <p:cNvSpPr>
            <a:spLocks noGrp="1"/>
          </p:cNvSpPr>
          <p:nvPr>
            <p:ph idx="1"/>
          </p:nvPr>
        </p:nvSpPr>
        <p:spPr/>
        <p:txBody>
          <a:bodyPr>
            <a:normAutofit/>
          </a:bodyPr>
          <a:lstStyle/>
          <a:p>
            <a:r>
              <a:rPr lang="en-US" dirty="0"/>
              <a:t>Internal comparison</a:t>
            </a:r>
          </a:p>
          <a:p>
            <a:r>
              <a:rPr lang="en-US" dirty="0"/>
              <a:t>External comparison</a:t>
            </a:r>
          </a:p>
          <a:p>
            <a:pPr lvl="1"/>
            <a:r>
              <a:rPr lang="en-US" sz="2000" b="0" i="0" u="none" strike="noStrike" baseline="0" dirty="0">
                <a:latin typeface="Times New Roman" panose="02020603050405020304" pitchFamily="18" charset="0"/>
              </a:rPr>
              <a:t>When information on degree of exposure is not available, it is necessary to put up an external control, to evaluate the experience of the exposed group, e.g., a cohort of radiologists compared with a cohort of ophthalmologists, etc. </a:t>
            </a:r>
          </a:p>
          <a:p>
            <a:pPr lvl="1"/>
            <a:r>
              <a:rPr lang="en-US" sz="2000" b="0" i="0" u="none" strike="noStrike" baseline="0" dirty="0">
                <a:latin typeface="Times New Roman" panose="02020603050405020304" pitchFamily="18" charset="0"/>
              </a:rPr>
              <a:t>The study and control cohorts should be similar in demographic and possibly important variables other than those under study.</a:t>
            </a:r>
            <a:endParaRPr lang="en-US" sz="2000" dirty="0"/>
          </a:p>
        </p:txBody>
      </p:sp>
    </p:spTree>
    <p:extLst>
      <p:ext uri="{BB962C8B-B14F-4D97-AF65-F5344CB8AC3E}">
        <p14:creationId xmlns:p14="http://schemas.microsoft.com/office/powerpoint/2010/main" val="30277111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3A1EB-B165-438A-515B-A2D4DAC8F6B5}"/>
              </a:ext>
            </a:extLst>
          </p:cNvPr>
          <p:cNvSpPr>
            <a:spLocks noGrp="1"/>
          </p:cNvSpPr>
          <p:nvPr>
            <p:ph type="title"/>
          </p:nvPr>
        </p:nvSpPr>
        <p:spPr/>
        <p:txBody>
          <a:bodyPr/>
          <a:lstStyle/>
          <a:p>
            <a:r>
              <a:rPr lang="en-US" dirty="0"/>
              <a:t>Comparison groups</a:t>
            </a:r>
          </a:p>
        </p:txBody>
      </p:sp>
      <p:sp>
        <p:nvSpPr>
          <p:cNvPr id="3" name="Content Placeholder 2">
            <a:extLst>
              <a:ext uri="{FF2B5EF4-FFF2-40B4-BE49-F238E27FC236}">
                <a16:creationId xmlns:a16="http://schemas.microsoft.com/office/drawing/2014/main" id="{85CC4C09-0718-F88B-9AC7-A7AA3B958890}"/>
              </a:ext>
            </a:extLst>
          </p:cNvPr>
          <p:cNvSpPr>
            <a:spLocks noGrp="1"/>
          </p:cNvSpPr>
          <p:nvPr>
            <p:ph idx="1"/>
          </p:nvPr>
        </p:nvSpPr>
        <p:spPr>
          <a:xfrm>
            <a:off x="464457" y="1728216"/>
            <a:ext cx="10819239" cy="4443984"/>
          </a:xfrm>
        </p:spPr>
        <p:txBody>
          <a:bodyPr>
            <a:normAutofit/>
          </a:bodyPr>
          <a:lstStyle/>
          <a:p>
            <a:pPr algn="l"/>
            <a:r>
              <a:rPr lang="en-US" b="0" i="1" u="none" strike="noStrike" baseline="0" dirty="0">
                <a:latin typeface="Times New Roman" panose="02020603050405020304" pitchFamily="18" charset="0"/>
              </a:rPr>
              <a:t>Comparison with general population rates</a:t>
            </a:r>
          </a:p>
          <a:p>
            <a:pPr lvl="1"/>
            <a:r>
              <a:rPr lang="en-US" sz="2000" b="0" i="0" u="none" strike="noStrike" baseline="0" dirty="0">
                <a:latin typeface="Times New Roman" panose="02020603050405020304" pitchFamily="18" charset="0"/>
              </a:rPr>
              <a:t>If none is available, the mortality experience of the exposed group is compared with the mortality experience of the general population in the same geographic area as the exposed people</a:t>
            </a:r>
          </a:p>
          <a:p>
            <a:pPr lvl="1"/>
            <a:r>
              <a:rPr lang="en-US" sz="2000" b="0" i="0" u="none" strike="noStrike" baseline="0" dirty="0">
                <a:latin typeface="Times New Roman" panose="02020603050405020304" pitchFamily="18" charset="0"/>
              </a:rPr>
              <a:t>Rates for disease occurrence in sub-groups of the control cohort by age, sex, and other variables considered important may be applied to the corresponding sub-groups of the study cohort (exposed cohort) to determine the “expected” values in the absence of exposure. </a:t>
            </a:r>
          </a:p>
          <a:p>
            <a:pPr lvl="1"/>
            <a:r>
              <a:rPr lang="en-US" sz="2000" b="0" i="0" u="none" strike="noStrike" baseline="0" dirty="0">
                <a:latin typeface="Times New Roman" panose="02020603050405020304" pitchFamily="18" charset="0"/>
              </a:rPr>
              <a:t>The ratio of “observed” and “expected” values provides a measure of the effect of the factor under study.</a:t>
            </a:r>
          </a:p>
          <a:p>
            <a:pPr lvl="1"/>
            <a:r>
              <a:rPr lang="en-US" sz="2000" b="0" i="0" u="none" strike="noStrike" baseline="0" dirty="0">
                <a:latin typeface="Times New Roman" panose="02020603050405020304" pitchFamily="18" charset="0"/>
              </a:rPr>
              <a:t>The limiting factors in using general population rates for comparison are : </a:t>
            </a:r>
          </a:p>
          <a:p>
            <a:pPr lvl="2"/>
            <a:r>
              <a:rPr lang="en-US" sz="1800" b="0" i="0" u="none" strike="noStrike" baseline="0" dirty="0">
                <a:latin typeface="Times New Roman" panose="02020603050405020304" pitchFamily="18" charset="0"/>
              </a:rPr>
              <a:t>(</a:t>
            </a:r>
            <a:r>
              <a:rPr lang="en-US" sz="1800" b="0" i="0" u="none" strike="noStrike" baseline="0" dirty="0" err="1">
                <a:latin typeface="Times New Roman" panose="02020603050405020304" pitchFamily="18" charset="0"/>
              </a:rPr>
              <a:t>i</a:t>
            </a:r>
            <a:r>
              <a:rPr lang="en-US" sz="1800" b="0" i="0" u="none" strike="noStrike" baseline="0" dirty="0">
                <a:latin typeface="Times New Roman" panose="02020603050405020304" pitchFamily="18" charset="0"/>
              </a:rPr>
              <a:t>) non-availability of population rates for the outcome required; </a:t>
            </a:r>
          </a:p>
          <a:p>
            <a:pPr lvl="2"/>
            <a:r>
              <a:rPr lang="en-US" sz="1800" b="0" i="0" u="none" strike="noStrike" baseline="0" dirty="0">
                <a:latin typeface="Times New Roman" panose="02020603050405020304" pitchFamily="18" charset="0"/>
              </a:rPr>
              <a:t>(ii) the difficulties of selecting the study and comparison groups which are representative of the exposed and non-exposed segments of the general population.</a:t>
            </a:r>
            <a:endParaRPr lang="en-US" sz="1800" dirty="0"/>
          </a:p>
        </p:txBody>
      </p:sp>
    </p:spTree>
    <p:extLst>
      <p:ext uri="{BB962C8B-B14F-4D97-AF65-F5344CB8AC3E}">
        <p14:creationId xmlns:p14="http://schemas.microsoft.com/office/powerpoint/2010/main" val="22823366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37AFD-A487-EBA9-1628-B40095A165DC}"/>
              </a:ext>
            </a:extLst>
          </p:cNvPr>
          <p:cNvSpPr>
            <a:spLocks noGrp="1"/>
          </p:cNvSpPr>
          <p:nvPr>
            <p:ph type="title"/>
          </p:nvPr>
        </p:nvSpPr>
        <p:spPr/>
        <p:txBody>
          <a:bodyPr/>
          <a:lstStyle/>
          <a:p>
            <a:r>
              <a:rPr lang="en-US" dirty="0"/>
              <a:t>Follow up</a:t>
            </a:r>
          </a:p>
        </p:txBody>
      </p:sp>
      <p:sp>
        <p:nvSpPr>
          <p:cNvPr id="3" name="Content Placeholder 2">
            <a:extLst>
              <a:ext uri="{FF2B5EF4-FFF2-40B4-BE49-F238E27FC236}">
                <a16:creationId xmlns:a16="http://schemas.microsoft.com/office/drawing/2014/main" id="{4D53A6E3-B9F4-152D-871A-675AB7737DB9}"/>
              </a:ext>
            </a:extLst>
          </p:cNvPr>
          <p:cNvSpPr>
            <a:spLocks noGrp="1"/>
          </p:cNvSpPr>
          <p:nvPr>
            <p:ph idx="1"/>
          </p:nvPr>
        </p:nvSpPr>
        <p:spPr>
          <a:xfrm>
            <a:off x="507999" y="1728216"/>
            <a:ext cx="11219543" cy="4443984"/>
          </a:xfrm>
        </p:spPr>
        <p:txBody>
          <a:bodyPr>
            <a:normAutofit lnSpcReduction="10000"/>
          </a:bodyPr>
          <a:lstStyle/>
          <a:p>
            <a:pPr algn="l"/>
            <a:r>
              <a:rPr lang="en-US" sz="2000" b="0" i="0" u="none" strike="noStrike" baseline="0" dirty="0">
                <a:latin typeface="Times New Roman" panose="02020603050405020304" pitchFamily="18" charset="0"/>
              </a:rPr>
              <a:t>The procedures required comprise :</a:t>
            </a:r>
          </a:p>
          <a:p>
            <a:pPr lvl="1"/>
            <a:r>
              <a:rPr lang="en-US" sz="1600" b="0" i="0" u="none" strike="noStrike" baseline="0" dirty="0">
                <a:latin typeface="Times New Roman" panose="02020603050405020304" pitchFamily="18" charset="0"/>
              </a:rPr>
              <a:t>Periodic medical examination of each member of the Cohort </a:t>
            </a:r>
          </a:p>
          <a:p>
            <a:pPr lvl="1"/>
            <a:r>
              <a:rPr lang="en-US" sz="1600" b="0" i="0" u="none" strike="noStrike" baseline="0" dirty="0">
                <a:latin typeface="Times New Roman" panose="02020603050405020304" pitchFamily="18" charset="0"/>
              </a:rPr>
              <a:t>Reviewing physician and hospital records</a:t>
            </a:r>
          </a:p>
          <a:p>
            <a:pPr lvl="1"/>
            <a:r>
              <a:rPr lang="en-US" sz="1600" b="0" i="0" u="none" strike="noStrike" baseline="0" dirty="0">
                <a:latin typeface="Times New Roman" panose="02020603050405020304" pitchFamily="18" charset="0"/>
              </a:rPr>
              <a:t>Routine surveillance of death records</a:t>
            </a:r>
          </a:p>
          <a:p>
            <a:pPr lvl="1"/>
            <a:r>
              <a:rPr lang="en-US" sz="1600" b="0" i="0" u="none" strike="noStrike" baseline="0" dirty="0">
                <a:latin typeface="Times New Roman" panose="02020603050405020304" pitchFamily="18" charset="0"/>
              </a:rPr>
              <a:t>Mailed questionnaires, telephone calls, periodic home visits - preferably all three on an annual basis. </a:t>
            </a:r>
          </a:p>
          <a:p>
            <a:pPr algn="l"/>
            <a:r>
              <a:rPr lang="en-US" sz="2000" b="0" i="0" u="none" strike="noStrike" baseline="0" dirty="0">
                <a:latin typeface="Times New Roman" panose="02020603050405020304" pitchFamily="18" charset="0"/>
              </a:rPr>
              <a:t>Of the above, periodic examination of each member of the cohort, yields greater amount of information on the individuals examined, than would the use of any other procedure.</a:t>
            </a:r>
          </a:p>
          <a:p>
            <a:pPr algn="l"/>
            <a:r>
              <a:rPr lang="en-US" sz="2000" b="0" i="0" u="none" strike="noStrike" baseline="0" dirty="0">
                <a:latin typeface="Times New Roman" panose="02020603050405020304" pitchFamily="18" charset="0"/>
              </a:rPr>
              <a:t>Certain percentage of losses to follow-up are inevitable due to death, change of residence, migration or withdrawal of occupation. These losses may bias the results. It is, therefore, necessary to build into the study design a system for obtaining basic information on outcome for those who cannot be followed up in detail for the full duration of the study</a:t>
            </a:r>
            <a:r>
              <a:rPr lang="en-US" sz="2000" b="0" i="1" u="none" strike="noStrike" baseline="0" dirty="0">
                <a:latin typeface="Times New Roman" panose="02020603050405020304" pitchFamily="18" charset="0"/>
              </a:rPr>
              <a:t>. </a:t>
            </a:r>
          </a:p>
          <a:p>
            <a:pPr algn="l"/>
            <a:r>
              <a:rPr lang="en-US" sz="2000" b="0" i="0" u="none" strike="noStrike" baseline="0" dirty="0">
                <a:latin typeface="Times New Roman" panose="02020603050405020304" pitchFamily="18" charset="0"/>
              </a:rPr>
              <a:t>The safest course recommended is to achieve as close to a 95 per cent follow-up as possible</a:t>
            </a:r>
            <a:endParaRPr lang="en-US" sz="3200" dirty="0"/>
          </a:p>
        </p:txBody>
      </p:sp>
    </p:spTree>
    <p:extLst>
      <p:ext uri="{BB962C8B-B14F-4D97-AF65-F5344CB8AC3E}">
        <p14:creationId xmlns:p14="http://schemas.microsoft.com/office/powerpoint/2010/main" val="41669205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F1BEE-4079-0092-CDC3-3411488C04ED}"/>
              </a:ext>
            </a:extLst>
          </p:cNvPr>
          <p:cNvSpPr>
            <a:spLocks noGrp="1"/>
          </p:cNvSpPr>
          <p:nvPr>
            <p:ph type="ctrTitle"/>
          </p:nvPr>
        </p:nvSpPr>
        <p:spPr>
          <a:xfrm>
            <a:off x="2052320" y="1714500"/>
            <a:ext cx="8087360" cy="3141980"/>
          </a:xfrm>
        </p:spPr>
        <p:txBody>
          <a:bodyPr>
            <a:normAutofit/>
          </a:bodyPr>
          <a:lstStyle/>
          <a:p>
            <a:pPr algn="ctr"/>
            <a:r>
              <a:rPr lang="en-US" sz="6600"/>
              <a:t>Thanks</a:t>
            </a:r>
          </a:p>
        </p:txBody>
      </p:sp>
      <p:sp>
        <p:nvSpPr>
          <p:cNvPr id="7" name="Subtitle 2">
            <a:extLst>
              <a:ext uri="{FF2B5EF4-FFF2-40B4-BE49-F238E27FC236}">
                <a16:creationId xmlns:a16="http://schemas.microsoft.com/office/drawing/2014/main" id="{A5B49BC3-54E8-4F20-B659-99E124FBB75E}"/>
              </a:ext>
            </a:extLst>
          </p:cNvPr>
          <p:cNvSpPr>
            <a:spLocks noGrp="1"/>
          </p:cNvSpPr>
          <p:nvPr>
            <p:ph type="subTitle" idx="1"/>
          </p:nvPr>
        </p:nvSpPr>
        <p:spPr>
          <a:xfrm>
            <a:off x="2042160" y="5435600"/>
            <a:ext cx="8087360" cy="1016000"/>
          </a:xfrm>
        </p:spPr>
        <p:txBody>
          <a:bodyPr/>
          <a:lstStyle/>
          <a:p>
            <a:pPr algn="ctr"/>
            <a:endParaRPr lang="en-US" dirty="0"/>
          </a:p>
        </p:txBody>
      </p:sp>
      <p:sp>
        <p:nvSpPr>
          <p:cNvPr id="11" name="Date Placeholder 6">
            <a:extLst>
              <a:ext uri="{FF2B5EF4-FFF2-40B4-BE49-F238E27FC236}">
                <a16:creationId xmlns:a16="http://schemas.microsoft.com/office/drawing/2014/main" id="{42B4140C-4BC1-489D-925D-17E13F15CDDD}"/>
              </a:ext>
            </a:extLst>
          </p:cNvPr>
          <p:cNvSpPr>
            <a:spLocks noGrp="1"/>
          </p:cNvSpPr>
          <p:nvPr>
            <p:ph type="dt" sz="half" idx="10"/>
          </p:nvPr>
        </p:nvSpPr>
        <p:spPr>
          <a:xfrm rot="5400000">
            <a:off x="10425981" y="4687095"/>
            <a:ext cx="2706690" cy="365125"/>
          </a:xfrm>
        </p:spPr>
        <p:txBody>
          <a:bodyPr/>
          <a:lstStyle/>
          <a:p>
            <a:pPr>
              <a:spcAft>
                <a:spcPts val="600"/>
              </a:spcAft>
            </a:pPr>
            <a:fld id="{0FBA334F-AA3C-44CA-B7BC-99086E3BBB2A}" type="datetime1">
              <a:rPr lang="en-US" smtClean="0"/>
              <a:pPr>
                <a:spcAft>
                  <a:spcPts val="600"/>
                </a:spcAft>
              </a:pPr>
              <a:t>5/8/2024</a:t>
            </a:fld>
            <a:endParaRPr lang="en-US"/>
          </a:p>
        </p:txBody>
      </p:sp>
      <p:sp>
        <p:nvSpPr>
          <p:cNvPr id="13" name="Slide Number Placeholder 5">
            <a:extLst>
              <a:ext uri="{FF2B5EF4-FFF2-40B4-BE49-F238E27FC236}">
                <a16:creationId xmlns:a16="http://schemas.microsoft.com/office/drawing/2014/main" id="{8802E83B-81DE-4F42-BB1E-2F8E55918375}"/>
              </a:ext>
            </a:extLst>
          </p:cNvPr>
          <p:cNvSpPr>
            <a:spLocks noGrp="1"/>
          </p:cNvSpPr>
          <p:nvPr>
            <p:ph type="sldNum" sz="quarter" idx="12"/>
          </p:nvPr>
        </p:nvSpPr>
        <p:spPr>
          <a:xfrm>
            <a:off x="11512296" y="6356350"/>
            <a:ext cx="574620" cy="365125"/>
          </a:xfrm>
        </p:spPr>
        <p:txBody>
          <a:bodyPr/>
          <a:lstStyle/>
          <a:p>
            <a:pPr>
              <a:spcAft>
                <a:spcPts val="600"/>
              </a:spcAft>
            </a:pPr>
            <a:fld id="{3E131995-E962-4131-8504-6B962D7140A6}" type="slidenum">
              <a:rPr lang="en-US" smtClean="0"/>
              <a:pPr>
                <a:spcAft>
                  <a:spcPts val="600"/>
                </a:spcAft>
              </a:pPr>
              <a:t>35</a:t>
            </a:fld>
            <a:endParaRPr lang="en-US"/>
          </a:p>
        </p:txBody>
      </p:sp>
    </p:spTree>
    <p:extLst>
      <p:ext uri="{BB962C8B-B14F-4D97-AF65-F5344CB8AC3E}">
        <p14:creationId xmlns:p14="http://schemas.microsoft.com/office/powerpoint/2010/main" val="1995946245"/>
      </p:ext>
    </p:extLst>
  </p:cSld>
  <p:clrMapOvr>
    <a:masterClrMapping/>
  </p:clrMapOvr>
</p:sld>
</file>

<file path=ppt/theme/theme1.xml><?xml version="1.0" encoding="utf-8"?>
<a:theme xmlns:a="http://schemas.openxmlformats.org/drawingml/2006/main" name="ArchwayVTI">
  <a:themeElements>
    <a:clrScheme name="AnalogousFromLightSeed_2SEEDS">
      <a:dk1>
        <a:srgbClr val="000000"/>
      </a:dk1>
      <a:lt1>
        <a:srgbClr val="FFFFFF"/>
      </a:lt1>
      <a:dk2>
        <a:srgbClr val="412C24"/>
      </a:dk2>
      <a:lt2>
        <a:srgbClr val="E2E8E8"/>
      </a:lt2>
      <a:accent1>
        <a:srgbClr val="BA847F"/>
      </a:accent1>
      <a:accent2>
        <a:srgbClr val="C696A6"/>
      </a:accent2>
      <a:accent3>
        <a:srgbClr val="BC9F82"/>
      </a:accent3>
      <a:accent4>
        <a:srgbClr val="7AA9B7"/>
      </a:accent4>
      <a:accent5>
        <a:srgbClr val="92A4C4"/>
      </a:accent5>
      <a:accent6>
        <a:srgbClr val="827FBA"/>
      </a:accent6>
      <a:hlink>
        <a:srgbClr val="588C91"/>
      </a:hlink>
      <a:folHlink>
        <a:srgbClr val="7F7F7F"/>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wayVTI" id="{309F1D27-9968-4F93-BA7C-3666A757FD2E}" vid="{76D8E8FD-8787-4E56-A14A-C28BF58ABEEE}"/>
    </a:ext>
  </a:extLst>
</a:theme>
</file>

<file path=docProps/app.xml><?xml version="1.0" encoding="utf-8"?>
<Properties xmlns="http://schemas.openxmlformats.org/officeDocument/2006/extended-properties" xmlns:vt="http://schemas.openxmlformats.org/officeDocument/2006/docPropsVTypes">
  <TotalTime>157</TotalTime>
  <Words>3295</Words>
  <Application>Microsoft Office PowerPoint</Application>
  <PresentationFormat>Widescreen</PresentationFormat>
  <Paragraphs>210</Paragraphs>
  <Slides>35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Arial</vt:lpstr>
      <vt:lpstr>Goudy Old Style</vt:lpstr>
      <vt:lpstr>Times New Roman</vt:lpstr>
      <vt:lpstr>ArchwayVTI</vt:lpstr>
      <vt:lpstr>Case control study</vt:lpstr>
      <vt:lpstr>MCQ - 1</vt:lpstr>
      <vt:lpstr>MCQ - 2</vt:lpstr>
      <vt:lpstr>MCQ - 3</vt:lpstr>
      <vt:lpstr>MCQ - 4</vt:lpstr>
      <vt:lpstr>Introduction</vt:lpstr>
      <vt:lpstr>Cases &amp; Controls</vt:lpstr>
      <vt:lpstr>Basic design</vt:lpstr>
      <vt:lpstr>Basic steps</vt:lpstr>
      <vt:lpstr>Selection of cases</vt:lpstr>
      <vt:lpstr>Sources of cases</vt:lpstr>
      <vt:lpstr>Selection of controls</vt:lpstr>
      <vt:lpstr>Sources of Control</vt:lpstr>
      <vt:lpstr>Sources of Control</vt:lpstr>
      <vt:lpstr>Validity</vt:lpstr>
      <vt:lpstr>Matching</vt:lpstr>
      <vt:lpstr>Confounding factor vs Effect modifier</vt:lpstr>
      <vt:lpstr>Examples</vt:lpstr>
      <vt:lpstr>Matching procedure</vt:lpstr>
      <vt:lpstr>Measurement of exposure</vt:lpstr>
      <vt:lpstr>Analysis - Exposure rate</vt:lpstr>
      <vt:lpstr>Estimation of risk</vt:lpstr>
      <vt:lpstr>ODDS ratio</vt:lpstr>
      <vt:lpstr>BIAS</vt:lpstr>
      <vt:lpstr>Advantages</vt:lpstr>
      <vt:lpstr>Disadvantages</vt:lpstr>
      <vt:lpstr>Cohort study</vt:lpstr>
      <vt:lpstr>Elements</vt:lpstr>
      <vt:lpstr>Selection of study subjects</vt:lpstr>
      <vt:lpstr>Selection of study subjects (Special groups)</vt:lpstr>
      <vt:lpstr>Data on exposure</vt:lpstr>
      <vt:lpstr>Comparison groups</vt:lpstr>
      <vt:lpstr>Comparison groups</vt:lpstr>
      <vt:lpstr>Follow up</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Case control study</dc:title>
  <dc:creator>mukul maheshwari</dc:creator>
  <cp:lastModifiedBy>mukul maheshwari</cp:lastModifiedBy>
  <cp:revision>1</cp:revision>
  <dcterms:created xsi:type="dcterms:W3CDTF">2023-06-12T17:13:14Z</dcterms:created>
  <dcterms:modified xsi:type="dcterms:W3CDTF">2024-05-08T07:07:18Z</dcterms:modified>
</cp:coreProperties>
</file>