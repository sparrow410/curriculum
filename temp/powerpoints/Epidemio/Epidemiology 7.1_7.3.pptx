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 id="2147483813" r:id="rId2"/>
  </p:sldMasterIdLst>
  <p:notesMasterIdLst>
    <p:notesMasterId r:id="rId19"/>
  </p:notesMasterIdLst>
  <p:sldIdLst>
    <p:sldId id="256" r:id="rId3"/>
    <p:sldId id="257" r:id="rId4"/>
    <p:sldId id="258" r:id="rId5"/>
    <p:sldId id="259" r:id="rId6"/>
    <p:sldId id="260" r:id="rId7"/>
    <p:sldId id="261" r:id="rId8"/>
    <p:sldId id="270" r:id="rId9"/>
    <p:sldId id="271" r:id="rId10"/>
    <p:sldId id="262" r:id="rId11"/>
    <p:sldId id="263" r:id="rId12"/>
    <p:sldId id="265" r:id="rId13"/>
    <p:sldId id="266" r:id="rId14"/>
    <p:sldId id="267" r:id="rId15"/>
    <p:sldId id="268" r:id="rId16"/>
    <p:sldId id="269"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DB6D7-1FE0-4E10-85B8-21DA749D5DCA}" v="11" dt="2024-04-02T08:03:58.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8765" autoAdjust="0"/>
  </p:normalViewPr>
  <p:slideViewPr>
    <p:cSldViewPr snapToGrid="0">
      <p:cViewPr varScale="1">
        <p:scale>
          <a:sx n="87" d="100"/>
          <a:sy n="87" d="100"/>
        </p:scale>
        <p:origin x="15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38FDB6D7-1FE0-4E10-85B8-21DA749D5DCA}"/>
    <pc:docChg chg="undo custSel addSld delSld modSld">
      <pc:chgData name="mukul maheshwari" userId="12cb43e2ca5f0d2c" providerId="LiveId" clId="{38FDB6D7-1FE0-4E10-85B8-21DA749D5DCA}" dt="2024-04-02T08:03:48.574" v="345" actId="27636"/>
      <pc:docMkLst>
        <pc:docMk/>
      </pc:docMkLst>
      <pc:sldChg chg="delSp delDesignElem">
        <pc:chgData name="mukul maheshwari" userId="12cb43e2ca5f0d2c" providerId="LiveId" clId="{38FDB6D7-1FE0-4E10-85B8-21DA749D5DCA}" dt="2024-04-02T08:01:36.658" v="330"/>
        <pc:sldMkLst>
          <pc:docMk/>
          <pc:sldMk cId="939669299" sldId="256"/>
        </pc:sldMkLst>
        <pc:spChg chg="del">
          <ac:chgData name="mukul maheshwari" userId="12cb43e2ca5f0d2c" providerId="LiveId" clId="{38FDB6D7-1FE0-4E10-85B8-21DA749D5DCA}" dt="2024-04-02T08:01:36.658" v="330"/>
          <ac:spMkLst>
            <pc:docMk/>
            <pc:sldMk cId="939669299" sldId="256"/>
            <ac:spMk id="21" creationId="{6F40FBDA-CEB1-40F0-9AB9-BD9C402D70FE}"/>
          </ac:spMkLst>
        </pc:spChg>
        <pc:spChg chg="del">
          <ac:chgData name="mukul maheshwari" userId="12cb43e2ca5f0d2c" providerId="LiveId" clId="{38FDB6D7-1FE0-4E10-85B8-21DA749D5DCA}" dt="2024-04-02T08:01:36.658" v="330"/>
          <ac:spMkLst>
            <pc:docMk/>
            <pc:sldMk cId="939669299" sldId="256"/>
            <ac:spMk id="23" creationId="{0344D4FE-ABEF-4230-9E4E-AD5782FC78AC}"/>
          </ac:spMkLst>
        </pc:spChg>
        <pc:spChg chg="del">
          <ac:chgData name="mukul maheshwari" userId="12cb43e2ca5f0d2c" providerId="LiveId" clId="{38FDB6D7-1FE0-4E10-85B8-21DA749D5DCA}" dt="2024-04-02T08:01:36.658" v="330"/>
          <ac:spMkLst>
            <pc:docMk/>
            <pc:sldMk cId="939669299" sldId="256"/>
            <ac:spMk id="25" creationId="{9325F979-D3F9-4926-81B7-7ACCB31A501B}"/>
          </ac:spMkLst>
        </pc:spChg>
      </pc:sldChg>
      <pc:sldChg chg="modSp mod">
        <pc:chgData name="mukul maheshwari" userId="12cb43e2ca5f0d2c" providerId="LiveId" clId="{38FDB6D7-1FE0-4E10-85B8-21DA749D5DCA}" dt="2024-04-02T08:01:49.019" v="335" actId="2711"/>
        <pc:sldMkLst>
          <pc:docMk/>
          <pc:sldMk cId="2006765817" sldId="257"/>
        </pc:sldMkLst>
        <pc:spChg chg="mod">
          <ac:chgData name="mukul maheshwari" userId="12cb43e2ca5f0d2c" providerId="LiveId" clId="{38FDB6D7-1FE0-4E10-85B8-21DA749D5DCA}" dt="2024-04-02T08:01:49.019" v="335" actId="2711"/>
          <ac:spMkLst>
            <pc:docMk/>
            <pc:sldMk cId="2006765817" sldId="257"/>
            <ac:spMk id="2" creationId="{7C8D8463-101C-729B-4825-003F7AAE305D}"/>
          </ac:spMkLst>
        </pc:spChg>
      </pc:sldChg>
      <pc:sldChg chg="modSp mod">
        <pc:chgData name="mukul maheshwari" userId="12cb43e2ca5f0d2c" providerId="LiveId" clId="{38FDB6D7-1FE0-4E10-85B8-21DA749D5DCA}" dt="2024-04-02T08:02:02.623" v="336" actId="2711"/>
        <pc:sldMkLst>
          <pc:docMk/>
          <pc:sldMk cId="1310055956" sldId="258"/>
        </pc:sldMkLst>
        <pc:spChg chg="mod">
          <ac:chgData name="mukul maheshwari" userId="12cb43e2ca5f0d2c" providerId="LiveId" clId="{38FDB6D7-1FE0-4E10-85B8-21DA749D5DCA}" dt="2024-04-02T08:02:02.623" v="336" actId="2711"/>
          <ac:spMkLst>
            <pc:docMk/>
            <pc:sldMk cId="1310055956" sldId="258"/>
            <ac:spMk id="2" creationId="{BD8A17E5-9587-7226-7438-5C916F8AB5B4}"/>
          </ac:spMkLst>
        </pc:spChg>
        <pc:spChg chg="mod">
          <ac:chgData name="mukul maheshwari" userId="12cb43e2ca5f0d2c" providerId="LiveId" clId="{38FDB6D7-1FE0-4E10-85B8-21DA749D5DCA}" dt="2024-04-02T08:01:36.846" v="331" actId="27636"/>
          <ac:spMkLst>
            <pc:docMk/>
            <pc:sldMk cId="1310055956" sldId="258"/>
            <ac:spMk id="3" creationId="{04FA41C3-A142-9347-6EEE-DF0479D4D32A}"/>
          </ac:spMkLst>
        </pc:spChg>
      </pc:sldChg>
      <pc:sldChg chg="modSp mod">
        <pc:chgData name="mukul maheshwari" userId="12cb43e2ca5f0d2c" providerId="LiveId" clId="{38FDB6D7-1FE0-4E10-85B8-21DA749D5DCA}" dt="2024-04-02T08:02:36.790" v="338" actId="167"/>
        <pc:sldMkLst>
          <pc:docMk/>
          <pc:sldMk cId="320865234" sldId="259"/>
        </pc:sldMkLst>
        <pc:spChg chg="mod">
          <ac:chgData name="mukul maheshwari" userId="12cb43e2ca5f0d2c" providerId="LiveId" clId="{38FDB6D7-1FE0-4E10-85B8-21DA749D5DCA}" dt="2024-04-02T08:02:30.721" v="337" actId="207"/>
          <ac:spMkLst>
            <pc:docMk/>
            <pc:sldMk cId="320865234" sldId="259"/>
            <ac:spMk id="2" creationId="{BD2DA091-D276-31BA-6480-4324A466E480}"/>
          </ac:spMkLst>
        </pc:spChg>
        <pc:picChg chg="mod">
          <ac:chgData name="mukul maheshwari" userId="12cb43e2ca5f0d2c" providerId="LiveId" clId="{38FDB6D7-1FE0-4E10-85B8-21DA749D5DCA}" dt="2024-04-02T08:02:36.790" v="338" actId="167"/>
          <ac:picMkLst>
            <pc:docMk/>
            <pc:sldMk cId="320865234" sldId="259"/>
            <ac:picMk id="1026" creationId="{F9BE45A4-8129-B784-C182-1B774C57FF85}"/>
          </ac:picMkLst>
        </pc:picChg>
      </pc:sldChg>
      <pc:sldChg chg="modSp mod">
        <pc:chgData name="mukul maheshwari" userId="12cb43e2ca5f0d2c" providerId="LiveId" clId="{38FDB6D7-1FE0-4E10-85B8-21DA749D5DCA}" dt="2024-04-02T08:02:57.463" v="339" actId="2711"/>
        <pc:sldMkLst>
          <pc:docMk/>
          <pc:sldMk cId="2398335125" sldId="260"/>
        </pc:sldMkLst>
        <pc:spChg chg="mod">
          <ac:chgData name="mukul maheshwari" userId="12cb43e2ca5f0d2c" providerId="LiveId" clId="{38FDB6D7-1FE0-4E10-85B8-21DA749D5DCA}" dt="2024-04-02T08:02:57.463" v="339" actId="2711"/>
          <ac:spMkLst>
            <pc:docMk/>
            <pc:sldMk cId="2398335125" sldId="260"/>
            <ac:spMk id="2" creationId="{911871F3-A4BD-D205-5B8E-C5EF5D99AB0B}"/>
          </ac:spMkLst>
        </pc:spChg>
        <pc:spChg chg="mod">
          <ac:chgData name="mukul maheshwari" userId="12cb43e2ca5f0d2c" providerId="LiveId" clId="{38FDB6D7-1FE0-4E10-85B8-21DA749D5DCA}" dt="2024-04-02T08:01:36.658" v="330"/>
          <ac:spMkLst>
            <pc:docMk/>
            <pc:sldMk cId="2398335125" sldId="260"/>
            <ac:spMk id="3" creationId="{47802EF4-2EBE-30B3-BCAF-5296EF80461D}"/>
          </ac:spMkLst>
        </pc:spChg>
      </pc:sldChg>
      <pc:sldChg chg="modSp">
        <pc:chgData name="mukul maheshwari" userId="12cb43e2ca5f0d2c" providerId="LiveId" clId="{38FDB6D7-1FE0-4E10-85B8-21DA749D5DCA}" dt="2024-04-02T08:01:36.658" v="330"/>
        <pc:sldMkLst>
          <pc:docMk/>
          <pc:sldMk cId="2771641134" sldId="261"/>
        </pc:sldMkLst>
        <pc:spChg chg="mod">
          <ac:chgData name="mukul maheshwari" userId="12cb43e2ca5f0d2c" providerId="LiveId" clId="{38FDB6D7-1FE0-4E10-85B8-21DA749D5DCA}" dt="2024-04-02T08:01:36.658" v="330"/>
          <ac:spMkLst>
            <pc:docMk/>
            <pc:sldMk cId="2771641134" sldId="261"/>
            <ac:spMk id="2" creationId="{DC85A248-7C5C-F0C3-7725-7E849423238E}"/>
          </ac:spMkLst>
        </pc:spChg>
        <pc:spChg chg="mod">
          <ac:chgData name="mukul maheshwari" userId="12cb43e2ca5f0d2c" providerId="LiveId" clId="{38FDB6D7-1FE0-4E10-85B8-21DA749D5DCA}" dt="2024-04-02T08:01:36.658" v="330"/>
          <ac:spMkLst>
            <pc:docMk/>
            <pc:sldMk cId="2771641134" sldId="261"/>
            <ac:spMk id="4" creationId="{FE5B65CB-4187-71AE-1585-EDBDE8AFFC9E}"/>
          </ac:spMkLst>
        </pc:spChg>
        <pc:spChg chg="mod">
          <ac:chgData name="mukul maheshwari" userId="12cb43e2ca5f0d2c" providerId="LiveId" clId="{38FDB6D7-1FE0-4E10-85B8-21DA749D5DCA}" dt="2024-04-02T08:01:36.658" v="330"/>
          <ac:spMkLst>
            <pc:docMk/>
            <pc:sldMk cId="2771641134" sldId="261"/>
            <ac:spMk id="5" creationId="{489C9B03-C875-79F7-3CE0-DCDA5666FEFA}"/>
          </ac:spMkLst>
        </pc:spChg>
        <pc:spChg chg="mod">
          <ac:chgData name="mukul maheshwari" userId="12cb43e2ca5f0d2c" providerId="LiveId" clId="{38FDB6D7-1FE0-4E10-85B8-21DA749D5DCA}" dt="2024-04-02T08:01:36.658" v="330"/>
          <ac:spMkLst>
            <pc:docMk/>
            <pc:sldMk cId="2771641134" sldId="261"/>
            <ac:spMk id="6" creationId="{4827E9E2-D0B7-A354-C63A-5C0DC14AC67D}"/>
          </ac:spMkLst>
        </pc:spChg>
        <pc:spChg chg="mod">
          <ac:chgData name="mukul maheshwari" userId="12cb43e2ca5f0d2c" providerId="LiveId" clId="{38FDB6D7-1FE0-4E10-85B8-21DA749D5DCA}" dt="2024-04-02T08:01:36.658" v="330"/>
          <ac:spMkLst>
            <pc:docMk/>
            <pc:sldMk cId="2771641134" sldId="261"/>
            <ac:spMk id="7" creationId="{B13B73D6-28C1-57FC-0B2A-94BC1B3E0B63}"/>
          </ac:spMkLst>
        </pc:spChg>
      </pc:sldChg>
      <pc:sldChg chg="modSp mod">
        <pc:chgData name="mukul maheshwari" userId="12cb43e2ca5f0d2c" providerId="LiveId" clId="{38FDB6D7-1FE0-4E10-85B8-21DA749D5DCA}" dt="2024-04-02T08:01:37.080" v="334" actId="27636"/>
        <pc:sldMkLst>
          <pc:docMk/>
          <pc:sldMk cId="3411779280" sldId="263"/>
        </pc:sldMkLst>
        <pc:spChg chg="mod">
          <ac:chgData name="mukul maheshwari" userId="12cb43e2ca5f0d2c" providerId="LiveId" clId="{38FDB6D7-1FE0-4E10-85B8-21DA749D5DCA}" dt="2024-04-02T08:01:36.658" v="330"/>
          <ac:spMkLst>
            <pc:docMk/>
            <pc:sldMk cId="3411779280" sldId="263"/>
            <ac:spMk id="2" creationId="{F44A1C2F-9799-3467-F44A-B69BA0404A99}"/>
          </ac:spMkLst>
        </pc:spChg>
        <pc:spChg chg="mod">
          <ac:chgData name="mukul maheshwari" userId="12cb43e2ca5f0d2c" providerId="LiveId" clId="{38FDB6D7-1FE0-4E10-85B8-21DA749D5DCA}" dt="2024-04-02T08:01:37.080" v="334" actId="27636"/>
          <ac:spMkLst>
            <pc:docMk/>
            <pc:sldMk cId="3411779280" sldId="263"/>
            <ac:spMk id="3" creationId="{5943123F-CDE9-37BC-2CCB-382F708734A5}"/>
          </ac:spMkLst>
        </pc:spChg>
      </pc:sldChg>
      <pc:sldChg chg="delSp delDesignElem">
        <pc:chgData name="mukul maheshwari" userId="12cb43e2ca5f0d2c" providerId="LiveId" clId="{38FDB6D7-1FE0-4E10-85B8-21DA749D5DCA}" dt="2024-04-02T08:01:36.658" v="330"/>
        <pc:sldMkLst>
          <pc:docMk/>
          <pc:sldMk cId="2401603219" sldId="264"/>
        </pc:sldMkLst>
        <pc:spChg chg="del">
          <ac:chgData name="mukul maheshwari" userId="12cb43e2ca5f0d2c" providerId="LiveId" clId="{38FDB6D7-1FE0-4E10-85B8-21DA749D5DCA}" dt="2024-04-02T08:01:36.658" v="330"/>
          <ac:spMkLst>
            <pc:docMk/>
            <pc:sldMk cId="2401603219" sldId="264"/>
            <ac:spMk id="10" creationId="{904DB13E-F722-4ED6-BB00-556651E95281}"/>
          </ac:spMkLst>
        </pc:spChg>
        <pc:spChg chg="del">
          <ac:chgData name="mukul maheshwari" userId="12cb43e2ca5f0d2c" providerId="LiveId" clId="{38FDB6D7-1FE0-4E10-85B8-21DA749D5DCA}" dt="2024-04-02T08:01:36.658" v="330"/>
          <ac:spMkLst>
            <pc:docMk/>
            <pc:sldMk cId="2401603219" sldId="264"/>
            <ac:spMk id="12" creationId="{1E8D93C5-28EB-42D0-86CE-D804955653CC}"/>
          </ac:spMkLst>
        </pc:spChg>
        <pc:spChg chg="del">
          <ac:chgData name="mukul maheshwari" userId="12cb43e2ca5f0d2c" providerId="LiveId" clId="{38FDB6D7-1FE0-4E10-85B8-21DA749D5DCA}" dt="2024-04-02T08:01:36.658" v="330"/>
          <ac:spMkLst>
            <pc:docMk/>
            <pc:sldMk cId="2401603219" sldId="264"/>
            <ac:spMk id="14" creationId="{AB1B1E7D-F76D-4744-AF85-239E6998A4C5}"/>
          </ac:spMkLst>
        </pc:spChg>
        <pc:spChg chg="del">
          <ac:chgData name="mukul maheshwari" userId="12cb43e2ca5f0d2c" providerId="LiveId" clId="{38FDB6D7-1FE0-4E10-85B8-21DA749D5DCA}" dt="2024-04-02T08:01:36.658" v="330"/>
          <ac:spMkLst>
            <pc:docMk/>
            <pc:sldMk cId="2401603219" sldId="264"/>
            <ac:spMk id="16" creationId="{3BB65211-00DB-45B6-A223-033B2D19CBE8}"/>
          </ac:spMkLst>
        </pc:spChg>
        <pc:spChg chg="del">
          <ac:chgData name="mukul maheshwari" userId="12cb43e2ca5f0d2c" providerId="LiveId" clId="{38FDB6D7-1FE0-4E10-85B8-21DA749D5DCA}" dt="2024-04-02T08:01:36.658" v="330"/>
          <ac:spMkLst>
            <pc:docMk/>
            <pc:sldMk cId="2401603219" sldId="264"/>
            <ac:spMk id="23" creationId="{BEBBBF70-6ABC-46E8-A293-73A60B8E2EA4}"/>
          </ac:spMkLst>
        </pc:spChg>
        <pc:spChg chg="del">
          <ac:chgData name="mukul maheshwari" userId="12cb43e2ca5f0d2c" providerId="LiveId" clId="{38FDB6D7-1FE0-4E10-85B8-21DA749D5DCA}" dt="2024-04-02T08:01:36.658" v="330"/>
          <ac:spMkLst>
            <pc:docMk/>
            <pc:sldMk cId="2401603219" sldId="264"/>
            <ac:spMk id="25" creationId="{05388887-43DC-4FAF-9400-7925701AFEE6}"/>
          </ac:spMkLst>
        </pc:spChg>
        <pc:spChg chg="del">
          <ac:chgData name="mukul maheshwari" userId="12cb43e2ca5f0d2c" providerId="LiveId" clId="{38FDB6D7-1FE0-4E10-85B8-21DA749D5DCA}" dt="2024-04-02T08:01:36.658" v="330"/>
          <ac:spMkLst>
            <pc:docMk/>
            <pc:sldMk cId="2401603219" sldId="264"/>
            <ac:spMk id="27" creationId="{2F2FD4B7-706B-4F5C-A0C7-7D69677C7BFC}"/>
          </ac:spMkLst>
        </pc:spChg>
        <pc:grpChg chg="del">
          <ac:chgData name="mukul maheshwari" userId="12cb43e2ca5f0d2c" providerId="LiveId" clId="{38FDB6D7-1FE0-4E10-85B8-21DA749D5DCA}" dt="2024-04-02T08:01:36.658" v="330"/>
          <ac:grpSpMkLst>
            <pc:docMk/>
            <pc:sldMk cId="2401603219" sldId="264"/>
            <ac:grpSpMk id="18" creationId="{E26428D7-C6F3-473D-A360-A3F5C3E8728C}"/>
          </ac:grpSpMkLst>
        </pc:grpChg>
        <pc:cxnChg chg="del">
          <ac:chgData name="mukul maheshwari" userId="12cb43e2ca5f0d2c" providerId="LiveId" clId="{38FDB6D7-1FE0-4E10-85B8-21DA749D5DCA}" dt="2024-04-02T08:01:36.658" v="330"/>
          <ac:cxnSpMkLst>
            <pc:docMk/>
            <pc:sldMk cId="2401603219" sldId="264"/>
            <ac:cxnSpMk id="29" creationId="{26E6DC6E-1FA3-4048-B867-BDB51763F365}"/>
          </ac:cxnSpMkLst>
        </pc:cxnChg>
        <pc:cxnChg chg="del">
          <ac:chgData name="mukul maheshwari" userId="12cb43e2ca5f0d2c" providerId="LiveId" clId="{38FDB6D7-1FE0-4E10-85B8-21DA749D5DCA}" dt="2024-04-02T08:01:36.658" v="330"/>
          <ac:cxnSpMkLst>
            <pc:docMk/>
            <pc:sldMk cId="2401603219" sldId="264"/>
            <ac:cxnSpMk id="31" creationId="{6E066135-B6C1-4001-B7CC-53A443DF250C}"/>
          </ac:cxnSpMkLst>
        </pc:cxnChg>
        <pc:cxnChg chg="del">
          <ac:chgData name="mukul maheshwari" userId="12cb43e2ca5f0d2c" providerId="LiveId" clId="{38FDB6D7-1FE0-4E10-85B8-21DA749D5DCA}" dt="2024-04-02T08:01:36.658" v="330"/>
          <ac:cxnSpMkLst>
            <pc:docMk/>
            <pc:sldMk cId="2401603219" sldId="264"/>
            <ac:cxnSpMk id="33" creationId="{33AD82B4-5F4B-4968-B15E-29DCF8592D58}"/>
          </ac:cxnSpMkLst>
        </pc:cxnChg>
      </pc:sldChg>
      <pc:sldChg chg="modSp add del">
        <pc:chgData name="mukul maheshwari" userId="12cb43e2ca5f0d2c" providerId="LiveId" clId="{38FDB6D7-1FE0-4E10-85B8-21DA749D5DCA}" dt="2024-04-02T08:03:48.402" v="344"/>
        <pc:sldMkLst>
          <pc:docMk/>
          <pc:sldMk cId="335752517" sldId="265"/>
        </pc:sldMkLst>
        <pc:spChg chg="mod">
          <ac:chgData name="mukul maheshwari" userId="12cb43e2ca5f0d2c" providerId="LiveId" clId="{38FDB6D7-1FE0-4E10-85B8-21DA749D5DCA}" dt="2024-04-02T08:03:48.402" v="344"/>
          <ac:spMkLst>
            <pc:docMk/>
            <pc:sldMk cId="335752517" sldId="265"/>
            <ac:spMk id="2" creationId="{8CD7F0E9-7ADC-85B2-0799-E8BE95E03BF9}"/>
          </ac:spMkLst>
        </pc:spChg>
        <pc:spChg chg="mod">
          <ac:chgData name="mukul maheshwari" userId="12cb43e2ca5f0d2c" providerId="LiveId" clId="{38FDB6D7-1FE0-4E10-85B8-21DA749D5DCA}" dt="2024-04-02T08:03:48.402" v="344"/>
          <ac:spMkLst>
            <pc:docMk/>
            <pc:sldMk cId="335752517" sldId="265"/>
            <ac:spMk id="3" creationId="{2003BCE2-60AF-C447-9186-0535ACE7BE97}"/>
          </ac:spMkLst>
        </pc:spChg>
      </pc:sldChg>
      <pc:sldChg chg="modSp add del mod">
        <pc:chgData name="mukul maheshwari" userId="12cb43e2ca5f0d2c" providerId="LiveId" clId="{38FDB6D7-1FE0-4E10-85B8-21DA749D5DCA}" dt="2024-04-02T08:03:48.402" v="344"/>
        <pc:sldMkLst>
          <pc:docMk/>
          <pc:sldMk cId="1516911391" sldId="266"/>
        </pc:sldMkLst>
        <pc:spChg chg="mod">
          <ac:chgData name="mukul maheshwari" userId="12cb43e2ca5f0d2c" providerId="LiveId" clId="{38FDB6D7-1FE0-4E10-85B8-21DA749D5DCA}" dt="2024-04-02T08:03:48.402" v="344"/>
          <ac:spMkLst>
            <pc:docMk/>
            <pc:sldMk cId="1516911391" sldId="266"/>
            <ac:spMk id="2" creationId="{75A9D0AA-F672-4A7C-4D0E-6BB98B6CC4D6}"/>
          </ac:spMkLst>
        </pc:spChg>
        <pc:spChg chg="mod">
          <ac:chgData name="mukul maheshwari" userId="12cb43e2ca5f0d2c" providerId="LiveId" clId="{38FDB6D7-1FE0-4E10-85B8-21DA749D5DCA}" dt="2024-04-02T07:52:41.059" v="16" actId="14100"/>
          <ac:spMkLst>
            <pc:docMk/>
            <pc:sldMk cId="1516911391" sldId="266"/>
            <ac:spMk id="3" creationId="{157EAC1F-14A7-A7C4-C41B-5C3D9C7C50B6}"/>
          </ac:spMkLst>
        </pc:spChg>
      </pc:sldChg>
      <pc:sldChg chg="modSp add del mod">
        <pc:chgData name="mukul maheshwari" userId="12cb43e2ca5f0d2c" providerId="LiveId" clId="{38FDB6D7-1FE0-4E10-85B8-21DA749D5DCA}" dt="2024-04-02T07:50:11.349" v="10"/>
        <pc:sldMkLst>
          <pc:docMk/>
          <pc:sldMk cId="2609248193" sldId="267"/>
        </pc:sldMkLst>
        <pc:spChg chg="mod">
          <ac:chgData name="mukul maheshwari" userId="12cb43e2ca5f0d2c" providerId="LiveId" clId="{38FDB6D7-1FE0-4E10-85B8-21DA749D5DCA}" dt="2024-04-02T07:50:08.974" v="9"/>
          <ac:spMkLst>
            <pc:docMk/>
            <pc:sldMk cId="2609248193" sldId="267"/>
            <ac:spMk id="3" creationId="{47D14924-58FA-E5A4-6D58-3555AD07124D}"/>
          </ac:spMkLst>
        </pc:spChg>
      </pc:sldChg>
      <pc:sldChg chg="modSp add del mod">
        <pc:chgData name="mukul maheshwari" userId="12cb43e2ca5f0d2c" providerId="LiveId" clId="{38FDB6D7-1FE0-4E10-85B8-21DA749D5DCA}" dt="2024-04-02T08:03:48.574" v="345" actId="27636"/>
        <pc:sldMkLst>
          <pc:docMk/>
          <pc:sldMk cId="1062821178" sldId="268"/>
        </pc:sldMkLst>
        <pc:spChg chg="mod">
          <ac:chgData name="mukul maheshwari" userId="12cb43e2ca5f0d2c" providerId="LiveId" clId="{38FDB6D7-1FE0-4E10-85B8-21DA749D5DCA}" dt="2024-04-02T08:03:48.574" v="345" actId="27636"/>
          <ac:spMkLst>
            <pc:docMk/>
            <pc:sldMk cId="1062821178" sldId="268"/>
            <ac:spMk id="2" creationId="{0843AEAC-AA6E-B508-3E2A-4241CF0D7D93}"/>
          </ac:spMkLst>
        </pc:spChg>
      </pc:sldChg>
      <pc:sldChg chg="modSp add del mod">
        <pc:chgData name="mukul maheshwari" userId="12cb43e2ca5f0d2c" providerId="LiveId" clId="{38FDB6D7-1FE0-4E10-85B8-21DA749D5DCA}" dt="2024-04-02T08:03:48.402" v="344"/>
        <pc:sldMkLst>
          <pc:docMk/>
          <pc:sldMk cId="3748728017" sldId="269"/>
        </pc:sldMkLst>
        <pc:spChg chg="mod">
          <ac:chgData name="mukul maheshwari" userId="12cb43e2ca5f0d2c" providerId="LiveId" clId="{38FDB6D7-1FE0-4E10-85B8-21DA749D5DCA}" dt="2024-04-02T08:03:48.402" v="344"/>
          <ac:spMkLst>
            <pc:docMk/>
            <pc:sldMk cId="3748728017" sldId="269"/>
            <ac:spMk id="2" creationId="{AB837725-066C-DD41-4FE2-E60C667A8942}"/>
          </ac:spMkLst>
        </pc:spChg>
        <pc:spChg chg="mod">
          <ac:chgData name="mukul maheshwari" userId="12cb43e2ca5f0d2c" providerId="LiveId" clId="{38FDB6D7-1FE0-4E10-85B8-21DA749D5DCA}" dt="2024-04-02T08:03:48.402" v="344"/>
          <ac:spMkLst>
            <pc:docMk/>
            <pc:sldMk cId="3748728017" sldId="269"/>
            <ac:spMk id="3" creationId="{21A17AB6-97D4-1201-B5BB-C5ED7AD36D6D}"/>
          </ac:spMkLst>
        </pc:spChg>
      </pc:sldChg>
      <pc:sldChg chg="modSp new mod">
        <pc:chgData name="mukul maheshwari" userId="12cb43e2ca5f0d2c" providerId="LiveId" clId="{38FDB6D7-1FE0-4E10-85B8-21DA749D5DCA}" dt="2024-04-02T08:01:36.862" v="332" actId="27636"/>
        <pc:sldMkLst>
          <pc:docMk/>
          <pc:sldMk cId="1190029992" sldId="270"/>
        </pc:sldMkLst>
        <pc:spChg chg="mod">
          <ac:chgData name="mukul maheshwari" userId="12cb43e2ca5f0d2c" providerId="LiveId" clId="{38FDB6D7-1FE0-4E10-85B8-21DA749D5DCA}" dt="2024-04-02T08:01:36.658" v="330"/>
          <ac:spMkLst>
            <pc:docMk/>
            <pc:sldMk cId="1190029992" sldId="270"/>
            <ac:spMk id="2" creationId="{201FEDC2-FE63-FFA4-24AD-43030E364D98}"/>
          </ac:spMkLst>
        </pc:spChg>
        <pc:spChg chg="mod">
          <ac:chgData name="mukul maheshwari" userId="12cb43e2ca5f0d2c" providerId="LiveId" clId="{38FDB6D7-1FE0-4E10-85B8-21DA749D5DCA}" dt="2024-04-02T07:58:07.818" v="221" actId="1038"/>
          <ac:spMkLst>
            <pc:docMk/>
            <pc:sldMk cId="1190029992" sldId="270"/>
            <ac:spMk id="3" creationId="{76035547-5D4F-7EAF-54C3-B57093B08BFA}"/>
          </ac:spMkLst>
        </pc:spChg>
        <pc:spChg chg="mod">
          <ac:chgData name="mukul maheshwari" userId="12cb43e2ca5f0d2c" providerId="LiveId" clId="{38FDB6D7-1FE0-4E10-85B8-21DA749D5DCA}" dt="2024-04-02T08:01:36.862" v="332" actId="27636"/>
          <ac:spMkLst>
            <pc:docMk/>
            <pc:sldMk cId="1190029992" sldId="270"/>
            <ac:spMk id="4" creationId="{5E43EC58-2E8C-DC45-5E3F-8EBE9C6A5377}"/>
          </ac:spMkLst>
        </pc:spChg>
        <pc:spChg chg="mod">
          <ac:chgData name="mukul maheshwari" userId="12cb43e2ca5f0d2c" providerId="LiveId" clId="{38FDB6D7-1FE0-4E10-85B8-21DA749D5DCA}" dt="2024-04-02T07:58:54.197" v="251" actId="1076"/>
          <ac:spMkLst>
            <pc:docMk/>
            <pc:sldMk cId="1190029992" sldId="270"/>
            <ac:spMk id="5" creationId="{02FFAA06-A415-5DA2-528C-AB6BD1EC61FA}"/>
          </ac:spMkLst>
        </pc:spChg>
        <pc:spChg chg="mod">
          <ac:chgData name="mukul maheshwari" userId="12cb43e2ca5f0d2c" providerId="LiveId" clId="{38FDB6D7-1FE0-4E10-85B8-21DA749D5DCA}" dt="2024-04-02T07:58:49.624" v="250" actId="20577"/>
          <ac:spMkLst>
            <pc:docMk/>
            <pc:sldMk cId="1190029992" sldId="270"/>
            <ac:spMk id="6" creationId="{98B90E6F-2385-5792-7EDB-71198383925B}"/>
          </ac:spMkLst>
        </pc:spChg>
      </pc:sldChg>
      <pc:sldChg chg="addSp delSp modSp new mod modClrScheme chgLayout">
        <pc:chgData name="mukul maheshwari" userId="12cb43e2ca5f0d2c" providerId="LiveId" clId="{38FDB6D7-1FE0-4E10-85B8-21DA749D5DCA}" dt="2024-04-02T08:03:26.017" v="343" actId="16037"/>
        <pc:sldMkLst>
          <pc:docMk/>
          <pc:sldMk cId="3577118816" sldId="271"/>
        </pc:sldMkLst>
        <pc:spChg chg="del mod ord">
          <ac:chgData name="mukul maheshwari" userId="12cb43e2ca5f0d2c" providerId="LiveId" clId="{38FDB6D7-1FE0-4E10-85B8-21DA749D5DCA}" dt="2024-04-02T07:59:21.483" v="253" actId="700"/>
          <ac:spMkLst>
            <pc:docMk/>
            <pc:sldMk cId="3577118816" sldId="271"/>
            <ac:spMk id="2" creationId="{6EF8A413-E1D3-A59E-3596-1EC61DB7FC35}"/>
          </ac:spMkLst>
        </pc:spChg>
        <pc:spChg chg="del">
          <ac:chgData name="mukul maheshwari" userId="12cb43e2ca5f0d2c" providerId="LiveId" clId="{38FDB6D7-1FE0-4E10-85B8-21DA749D5DCA}" dt="2024-04-02T07:59:21.483" v="253" actId="700"/>
          <ac:spMkLst>
            <pc:docMk/>
            <pc:sldMk cId="3577118816" sldId="271"/>
            <ac:spMk id="3" creationId="{D56835AF-8839-59B0-F4E5-FB9F923F3379}"/>
          </ac:spMkLst>
        </pc:spChg>
        <pc:spChg chg="del mod ord">
          <ac:chgData name="mukul maheshwari" userId="12cb43e2ca5f0d2c" providerId="LiveId" clId="{38FDB6D7-1FE0-4E10-85B8-21DA749D5DCA}" dt="2024-04-02T07:59:21.483" v="253" actId="700"/>
          <ac:spMkLst>
            <pc:docMk/>
            <pc:sldMk cId="3577118816" sldId="271"/>
            <ac:spMk id="4" creationId="{9202AB5B-441E-5F4D-41CE-6D661C552D01}"/>
          </ac:spMkLst>
        </pc:spChg>
        <pc:spChg chg="del">
          <ac:chgData name="mukul maheshwari" userId="12cb43e2ca5f0d2c" providerId="LiveId" clId="{38FDB6D7-1FE0-4E10-85B8-21DA749D5DCA}" dt="2024-04-02T07:59:21.483" v="253" actId="700"/>
          <ac:spMkLst>
            <pc:docMk/>
            <pc:sldMk cId="3577118816" sldId="271"/>
            <ac:spMk id="5" creationId="{DCCBEF0F-C089-7C45-ACFB-A277ABD5B57A}"/>
          </ac:spMkLst>
        </pc:spChg>
        <pc:spChg chg="del">
          <ac:chgData name="mukul maheshwari" userId="12cb43e2ca5f0d2c" providerId="LiveId" clId="{38FDB6D7-1FE0-4E10-85B8-21DA749D5DCA}" dt="2024-04-02T07:59:21.483" v="253" actId="700"/>
          <ac:spMkLst>
            <pc:docMk/>
            <pc:sldMk cId="3577118816" sldId="271"/>
            <ac:spMk id="6" creationId="{7E69DBCB-CD6E-C2EF-47CA-93A06550F11A}"/>
          </ac:spMkLst>
        </pc:spChg>
        <pc:spChg chg="add mod ord">
          <ac:chgData name="mukul maheshwari" userId="12cb43e2ca5f0d2c" providerId="LiveId" clId="{38FDB6D7-1FE0-4E10-85B8-21DA749D5DCA}" dt="2024-04-02T08:01:36.658" v="330"/>
          <ac:spMkLst>
            <pc:docMk/>
            <pc:sldMk cId="3577118816" sldId="271"/>
            <ac:spMk id="7" creationId="{4456051D-1D0B-4AAA-AB67-2A3BB79C39F5}"/>
          </ac:spMkLst>
        </pc:spChg>
        <pc:spChg chg="add mod ord">
          <ac:chgData name="mukul maheshwari" userId="12cb43e2ca5f0d2c" providerId="LiveId" clId="{38FDB6D7-1FE0-4E10-85B8-21DA749D5DCA}" dt="2024-04-02T08:03:26.017" v="343" actId="16037"/>
          <ac:spMkLst>
            <pc:docMk/>
            <pc:sldMk cId="3577118816" sldId="271"/>
            <ac:spMk id="8" creationId="{03E793B2-92B2-5BCF-9414-DD977748A1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BB3B0E-0D61-4977-A933-1E0BBFE09B5D}" type="datetimeFigureOut">
              <a:rPr lang="en-US" smtClean="0"/>
              <a:t>4/2/2024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74F5B-23B1-4C7B-A79E-EB97DFA56584}" type="slidenum">
              <a:rPr lang="en-US" smtClean="0"/>
              <a:t>‹#›</a:t>
            </a:fld>
            <a:endParaRPr lang="en-US"/>
          </a:p>
        </p:txBody>
      </p:sp>
    </p:spTree>
    <p:extLst>
      <p:ext uri="{BB962C8B-B14F-4D97-AF65-F5344CB8AC3E}">
        <p14:creationId xmlns:p14="http://schemas.microsoft.com/office/powerpoint/2010/main" val="272197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 New Roman" panose="02020603050405020304" pitchFamily="18" charset="0"/>
              </a:rPr>
              <a:t>Crude rates: These are the actual observed rates such as the birth and death rates. Crude rates are also known as unstandardized rates.</a:t>
            </a:r>
          </a:p>
          <a:p>
            <a:pPr algn="l"/>
            <a:r>
              <a:rPr lang="en-US" sz="1800" b="0" i="0" u="none" strike="noStrike" baseline="0" dirty="0">
                <a:latin typeface="Times New Roman" panose="02020603050405020304" pitchFamily="18" charset="0"/>
              </a:rPr>
              <a:t>Specific rates: These are the actual observed rates due to specific causes (e.g., tuberculosis); or occurring in specific groups (e.g., age-sex groups) or during specific time periods (e.g., annual, monthly or weekly rates).</a:t>
            </a:r>
          </a:p>
          <a:p>
            <a:pPr algn="l"/>
            <a:r>
              <a:rPr lang="en-US" sz="1800" b="0" i="0" u="none" strike="noStrike" baseline="0" dirty="0">
                <a:latin typeface="Times New Roman" panose="02020603050405020304" pitchFamily="18" charset="0"/>
              </a:rPr>
              <a:t>Standardized rates: These are obtained by direct or indirect method of standardization or adjustment, e.g., age and sex standardized rates</a:t>
            </a:r>
            <a:endParaRPr lang="en-US" dirty="0"/>
          </a:p>
        </p:txBody>
      </p:sp>
      <p:sp>
        <p:nvSpPr>
          <p:cNvPr id="4" name="Slide Number Placeholder 3"/>
          <p:cNvSpPr>
            <a:spLocks noGrp="1"/>
          </p:cNvSpPr>
          <p:nvPr>
            <p:ph type="sldNum" sz="quarter" idx="5"/>
          </p:nvPr>
        </p:nvSpPr>
        <p:spPr/>
        <p:txBody>
          <a:bodyPr/>
          <a:lstStyle/>
          <a:p>
            <a:fld id="{4E074F5B-23B1-4C7B-A79E-EB97DFA56584}" type="slidenum">
              <a:rPr lang="en-US" smtClean="0"/>
              <a:t>9</a:t>
            </a:fld>
            <a:endParaRPr lang="en-US"/>
          </a:p>
        </p:txBody>
      </p:sp>
    </p:spTree>
    <p:extLst>
      <p:ext uri="{BB962C8B-B14F-4D97-AF65-F5344CB8AC3E}">
        <p14:creationId xmlns:p14="http://schemas.microsoft.com/office/powerpoint/2010/main" val="1166096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 New Roman" panose="02020603050405020304" pitchFamily="18" charset="0"/>
              </a:rPr>
              <a:t>In some instances, the denominator may be related to total events instead of the total population, as in the case of infant mortality rate and case fatality rate. In the case of accidents, the number of accidents “per 1000 vehicles” or “per million vehicle-miles” will be a more useful denominator than the total population, many of them may not be using vehicles.</a:t>
            </a:r>
            <a:endParaRPr lang="en-US" dirty="0"/>
          </a:p>
        </p:txBody>
      </p:sp>
      <p:sp>
        <p:nvSpPr>
          <p:cNvPr id="4" name="Slide Number Placeholder 3"/>
          <p:cNvSpPr>
            <a:spLocks noGrp="1"/>
          </p:cNvSpPr>
          <p:nvPr>
            <p:ph type="sldNum" sz="quarter" idx="5"/>
          </p:nvPr>
        </p:nvSpPr>
        <p:spPr/>
        <p:txBody>
          <a:bodyPr/>
          <a:lstStyle/>
          <a:p>
            <a:fld id="{4E074F5B-23B1-4C7B-A79E-EB97DFA56584}" type="slidenum">
              <a:rPr lang="en-US" smtClean="0"/>
              <a:t>10</a:t>
            </a:fld>
            <a:endParaRPr lang="en-US"/>
          </a:p>
        </p:txBody>
      </p:sp>
    </p:spTree>
    <p:extLst>
      <p:ext uri="{BB962C8B-B14F-4D97-AF65-F5344CB8AC3E}">
        <p14:creationId xmlns:p14="http://schemas.microsoft.com/office/powerpoint/2010/main" val="180136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420174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378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42049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172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490035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238445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0452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8705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4/2/2024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13490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05300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67105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700240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038048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04707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65342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76575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132956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29324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750739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4/2/2024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3473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6858017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77450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FA2B21-3FCD-4721-B95C-427943F61125}" type="datetime1">
              <a:rPr lang="en-US" smtClean="0"/>
              <a:t>4/2/2024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57710590"/>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FA2B21-3FCD-4721-B95C-427943F61125}" type="datetime1">
              <a:rPr lang="en-US" smtClean="0"/>
              <a:t>4/2/2024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06058079"/>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3" descr="A group of colored pencils&#10;&#10;Description automatically generated with low confidence">
            <a:extLst>
              <a:ext uri="{FF2B5EF4-FFF2-40B4-BE49-F238E27FC236}">
                <a16:creationId xmlns:a16="http://schemas.microsoft.com/office/drawing/2014/main" id="{889487CC-6F06-C2B0-BB9B-157D1C61F69B}"/>
              </a:ext>
            </a:extLst>
          </p:cNvPr>
          <p:cNvPicPr>
            <a:picLocks noChangeAspect="1"/>
          </p:cNvPicPr>
          <p:nvPr/>
        </p:nvPicPr>
        <p:blipFill rotWithShape="1">
          <a:blip r:embed="rId2">
            <a:alphaModFix amt="45000"/>
          </a:blip>
          <a:srcRect t="3049" b="17164"/>
          <a:stretch/>
        </p:blipFill>
        <p:spPr>
          <a:xfrm>
            <a:off x="20" y="10"/>
            <a:ext cx="12191980" cy="6857990"/>
          </a:xfrm>
          <a:prstGeom prst="rect">
            <a:avLst/>
          </a:prstGeom>
        </p:spPr>
      </p:pic>
      <p:sp>
        <p:nvSpPr>
          <p:cNvPr id="2" name="Title 1">
            <a:extLst>
              <a:ext uri="{FF2B5EF4-FFF2-40B4-BE49-F238E27FC236}">
                <a16:creationId xmlns:a16="http://schemas.microsoft.com/office/drawing/2014/main" id="{10B755AD-51ED-203C-B63A-C3337559B15F}"/>
              </a:ext>
            </a:extLst>
          </p:cNvPr>
          <p:cNvSpPr>
            <a:spLocks noGrp="1"/>
          </p:cNvSpPr>
          <p:nvPr>
            <p:ph type="ctrTitle"/>
          </p:nvPr>
        </p:nvSpPr>
        <p:spPr>
          <a:xfrm>
            <a:off x="1769532" y="2091263"/>
            <a:ext cx="8652938" cy="2461504"/>
          </a:xfrm>
        </p:spPr>
        <p:txBody>
          <a:bodyPr>
            <a:normAutofit/>
          </a:bodyPr>
          <a:lstStyle/>
          <a:p>
            <a:r>
              <a:rPr lang="en-US"/>
              <a:t>Epidemiology</a:t>
            </a:r>
          </a:p>
        </p:txBody>
      </p:sp>
      <p:sp>
        <p:nvSpPr>
          <p:cNvPr id="3" name="Subtitle 2">
            <a:extLst>
              <a:ext uri="{FF2B5EF4-FFF2-40B4-BE49-F238E27FC236}">
                <a16:creationId xmlns:a16="http://schemas.microsoft.com/office/drawing/2014/main" id="{C10921E6-F791-DEA7-A3CB-5A18FDA58DA2}"/>
              </a:ext>
            </a:extLst>
          </p:cNvPr>
          <p:cNvSpPr>
            <a:spLocks noGrp="1"/>
          </p:cNvSpPr>
          <p:nvPr>
            <p:ph type="subTitle" idx="1"/>
          </p:nvPr>
        </p:nvSpPr>
        <p:spPr>
          <a:xfrm>
            <a:off x="1769532" y="4623127"/>
            <a:ext cx="8655200" cy="457201"/>
          </a:xfrm>
        </p:spPr>
        <p:txBody>
          <a:bodyPr>
            <a:normAutofit/>
          </a:bodyPr>
          <a:lstStyle/>
          <a:p>
            <a:endParaRPr lang="en-US">
              <a:solidFill>
                <a:schemeClr val="tx1"/>
              </a:solidFill>
            </a:endParaRPr>
          </a:p>
        </p:txBody>
      </p:sp>
    </p:spTree>
    <p:extLst>
      <p:ext uri="{BB962C8B-B14F-4D97-AF65-F5344CB8AC3E}">
        <p14:creationId xmlns:p14="http://schemas.microsoft.com/office/powerpoint/2010/main" val="93966929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D8463-101C-729B-4825-003F7AAE305D}"/>
              </a:ext>
            </a:extLst>
          </p:cNvPr>
          <p:cNvSpPr>
            <a:spLocks noGrp="1"/>
          </p:cNvSpPr>
          <p:nvPr>
            <p:ph type="title"/>
          </p:nvPr>
        </p:nvSpPr>
        <p:spPr>
          <a:xfrm>
            <a:off x="585537" y="544763"/>
            <a:ext cx="10058400" cy="720985"/>
          </a:xfrm>
        </p:spPr>
        <p:txBody>
          <a:bodyPr/>
          <a:lstStyle/>
          <a:p>
            <a:r>
              <a:rPr lang="en-US" u="sng"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EF09053F-9CCE-6118-5982-114B3E2BC74F}"/>
              </a:ext>
            </a:extLst>
          </p:cNvPr>
          <p:cNvSpPr>
            <a:spLocks noGrp="1"/>
          </p:cNvSpPr>
          <p:nvPr>
            <p:ph idx="1"/>
          </p:nvPr>
        </p:nvSpPr>
        <p:spPr>
          <a:xfrm>
            <a:off x="449179" y="1265748"/>
            <a:ext cx="10676021" cy="4686996"/>
          </a:xfrm>
        </p:spPr>
        <p:txBody>
          <a:bodyPr numCol="2">
            <a:normAutofit/>
          </a:bodyPr>
          <a:lstStyle/>
          <a:p>
            <a:r>
              <a:rPr lang="en-US" sz="2800" dirty="0">
                <a:latin typeface="Times New Roman" panose="02020603050405020304" pitchFamily="18" charset="0"/>
                <a:cs typeface="Times New Roman" panose="02020603050405020304" pitchFamily="18" charset="0"/>
              </a:rPr>
              <a:t>Concept – Fundamentals, Definitions &amp; approach</a:t>
            </a:r>
          </a:p>
          <a:p>
            <a:r>
              <a:rPr lang="en-US" sz="2800" dirty="0">
                <a:latin typeface="Times New Roman" panose="02020603050405020304" pitchFamily="18" charset="0"/>
                <a:cs typeface="Times New Roman" panose="02020603050405020304" pitchFamily="18" charset="0"/>
              </a:rPr>
              <a:t>Measurement – Mortality, morbidity, Rate &amp; ratio</a:t>
            </a:r>
          </a:p>
          <a:p>
            <a:r>
              <a:rPr lang="en-US" sz="2800" dirty="0">
                <a:latin typeface="Times New Roman" panose="02020603050405020304" pitchFamily="18" charset="0"/>
                <a:cs typeface="Times New Roman" panose="02020603050405020304" pitchFamily="18" charset="0"/>
              </a:rPr>
              <a:t>Health research – Research question, sampling, methodology</a:t>
            </a:r>
          </a:p>
          <a:p>
            <a:r>
              <a:rPr lang="en-US" sz="2800" dirty="0">
                <a:latin typeface="Times New Roman" panose="02020603050405020304" pitchFamily="18" charset="0"/>
                <a:cs typeface="Times New Roman" panose="02020603050405020304" pitchFamily="18" charset="0"/>
              </a:rPr>
              <a:t>Association and causation</a:t>
            </a:r>
          </a:p>
          <a:p>
            <a:r>
              <a:rPr lang="en-US" sz="2800" dirty="0">
                <a:latin typeface="Times New Roman" panose="02020603050405020304" pitchFamily="18" charset="0"/>
                <a:cs typeface="Times New Roman" panose="02020603050405020304" pitchFamily="18" charset="0"/>
              </a:rPr>
              <a:t>Descriptive Epidemiology</a:t>
            </a:r>
          </a:p>
          <a:p>
            <a:r>
              <a:rPr lang="en-US" sz="2800" dirty="0">
                <a:latin typeface="Times New Roman" panose="02020603050405020304" pitchFamily="18" charset="0"/>
                <a:cs typeface="Times New Roman" panose="02020603050405020304" pitchFamily="18" charset="0"/>
              </a:rPr>
              <a:t>Analytical and experimental design</a:t>
            </a:r>
          </a:p>
          <a:p>
            <a:r>
              <a:rPr lang="en-US" sz="2800" dirty="0">
                <a:latin typeface="Times New Roman" panose="02020603050405020304" pitchFamily="18" charset="0"/>
                <a:cs typeface="Times New Roman" panose="02020603050405020304" pitchFamily="18" charset="0"/>
              </a:rPr>
              <a:t>Association and causation</a:t>
            </a:r>
          </a:p>
          <a:p>
            <a:r>
              <a:rPr lang="en-US" sz="2800" dirty="0">
                <a:latin typeface="Times New Roman" panose="02020603050405020304" pitchFamily="18" charset="0"/>
                <a:cs typeface="Times New Roman" panose="02020603050405020304" pitchFamily="18" charset="0"/>
              </a:rPr>
              <a:t>Investigation of epidemic</a:t>
            </a:r>
          </a:p>
          <a:p>
            <a:r>
              <a:rPr lang="en-US" sz="2800" dirty="0">
                <a:latin typeface="Times New Roman" panose="02020603050405020304" pitchFamily="18" charset="0"/>
                <a:cs typeface="Times New Roman" panose="02020603050405020304" pitchFamily="18" charset="0"/>
              </a:rPr>
              <a:t>Screening</a:t>
            </a:r>
          </a:p>
          <a:p>
            <a:r>
              <a:rPr lang="en-US" sz="2800" dirty="0">
                <a:latin typeface="Times New Roman" panose="02020603050405020304" pitchFamily="18" charset="0"/>
                <a:cs typeface="Times New Roman" panose="02020603050405020304" pitchFamily="18" charset="0"/>
              </a:rPr>
              <a:t>Infectious disease policy</a:t>
            </a:r>
          </a:p>
          <a:p>
            <a:r>
              <a:rPr lang="en-US" sz="2800" dirty="0">
                <a:latin typeface="Times New Roman" panose="02020603050405020304" pitchFamily="18" charset="0"/>
                <a:cs typeface="Times New Roman" panose="02020603050405020304" pitchFamily="18" charset="0"/>
              </a:rPr>
              <a:t>Cold chain</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6765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A17E5-9587-7226-7438-5C916F8AB5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Epi (upon) Demos (population)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logos (scientific study)</a:t>
            </a:r>
          </a:p>
        </p:txBody>
      </p:sp>
      <p:sp>
        <p:nvSpPr>
          <p:cNvPr id="3" name="Content Placeholder 2">
            <a:extLst>
              <a:ext uri="{FF2B5EF4-FFF2-40B4-BE49-F238E27FC236}">
                <a16:creationId xmlns:a16="http://schemas.microsoft.com/office/drawing/2014/main" id="{04FA41C3-A142-9347-6EEE-DF0479D4D32A}"/>
              </a:ext>
            </a:extLst>
          </p:cNvPr>
          <p:cNvSpPr>
            <a:spLocks noGrp="1"/>
          </p:cNvSpPr>
          <p:nvPr>
            <p:ph idx="1"/>
          </p:nvPr>
        </p:nvSpPr>
        <p:spPr>
          <a:xfrm>
            <a:off x="481263" y="2014194"/>
            <a:ext cx="10643937" cy="3938550"/>
          </a:xfrm>
        </p:spPr>
        <p:txBody>
          <a:bodyPr>
            <a:normAutofit/>
          </a:bodyPr>
          <a:lstStyle/>
          <a:p>
            <a:pPr algn="l"/>
            <a:r>
              <a:rPr lang="en-US" sz="2800" b="1" dirty="0">
                <a:latin typeface="Times New Roman" panose="02020603050405020304" pitchFamily="18" charset="0"/>
                <a:cs typeface="Times New Roman" panose="02020603050405020304" pitchFamily="18" charset="0"/>
              </a:rPr>
              <a:t>Definition </a:t>
            </a: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The </a:t>
            </a:r>
            <a:r>
              <a:rPr lang="en-US" sz="2800" b="0" i="1" u="none" strike="noStrike" baseline="0" dirty="0">
                <a:latin typeface="Times New Roman" panose="02020603050405020304" pitchFamily="18" charset="0"/>
                <a:cs typeface="Times New Roman" panose="02020603050405020304" pitchFamily="18" charset="0"/>
              </a:rPr>
              <a:t>study of the occurrence and distribution of health-related events, states, and processes in specified populations, including the study of the determinants influencing such processes, and the application of this knowledge to control relevant health problems</a:t>
            </a:r>
          </a:p>
          <a:p>
            <a:pPr algn="l"/>
            <a:endParaRPr lang="en-US" sz="2800" i="1" dirty="0">
              <a:latin typeface="Times New Roman" panose="02020603050405020304" pitchFamily="18" charset="0"/>
              <a:cs typeface="Times New Roman" panose="02020603050405020304" pitchFamily="18" charset="0"/>
            </a:endParaRPr>
          </a:p>
          <a:p>
            <a:pPr algn="l"/>
            <a:r>
              <a:rPr lang="en-US" sz="2800" b="1" u="none" strike="noStrike" baseline="0" dirty="0">
                <a:latin typeface="Times New Roman" panose="02020603050405020304" pitchFamily="18" charset="0"/>
                <a:cs typeface="Times New Roman" panose="02020603050405020304" pitchFamily="18" charset="0"/>
              </a:rPr>
              <a:t>Study of</a:t>
            </a:r>
          </a:p>
          <a:p>
            <a:pPr lvl="1"/>
            <a:r>
              <a:rPr lang="en-US" sz="2400" dirty="0">
                <a:latin typeface="Times New Roman" panose="02020603050405020304" pitchFamily="18" charset="0"/>
                <a:cs typeface="Times New Roman" panose="02020603050405020304" pitchFamily="18" charset="0"/>
              </a:rPr>
              <a:t>Disease Frequency</a:t>
            </a:r>
          </a:p>
          <a:p>
            <a:pPr lvl="1"/>
            <a:r>
              <a:rPr lang="en-US" sz="2400" u="none" strike="noStrike" baseline="0" dirty="0">
                <a:latin typeface="Times New Roman" panose="02020603050405020304" pitchFamily="18" charset="0"/>
                <a:cs typeface="Times New Roman" panose="02020603050405020304" pitchFamily="18" charset="0"/>
              </a:rPr>
              <a:t>Disease distribution</a:t>
            </a:r>
          </a:p>
          <a:p>
            <a:pPr lvl="1"/>
            <a:r>
              <a:rPr lang="en-US" sz="2400" dirty="0">
                <a:latin typeface="Times New Roman" panose="02020603050405020304" pitchFamily="18" charset="0"/>
                <a:cs typeface="Times New Roman" panose="02020603050405020304" pitchFamily="18" charset="0"/>
              </a:rPr>
              <a:t>Determinants</a:t>
            </a:r>
            <a:endParaRPr lang="en-US" sz="2400" u="none" strike="noStrike" baseline="0" dirty="0">
              <a:latin typeface="Times New Roman" panose="02020603050405020304" pitchFamily="18" charset="0"/>
              <a:cs typeface="Times New Roman" panose="02020603050405020304" pitchFamily="18" charset="0"/>
            </a:endParaRPr>
          </a:p>
          <a:p>
            <a:pPr lvl="1"/>
            <a:endParaRPr lang="en-US" sz="1600" dirty="0"/>
          </a:p>
        </p:txBody>
      </p:sp>
    </p:spTree>
    <p:extLst>
      <p:ext uri="{BB962C8B-B14F-4D97-AF65-F5344CB8AC3E}">
        <p14:creationId xmlns:p14="http://schemas.microsoft.com/office/powerpoint/2010/main" val="1310055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in on Epidemiology">
            <a:extLst>
              <a:ext uri="{FF2B5EF4-FFF2-40B4-BE49-F238E27FC236}">
                <a16:creationId xmlns:a16="http://schemas.microsoft.com/office/drawing/2014/main" id="{F9BE45A4-8129-B784-C182-1B774C57FF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2031" y="528943"/>
            <a:ext cx="11347938" cy="58556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D2DA091-D276-31BA-6480-4324A466E480}"/>
              </a:ext>
            </a:extLst>
          </p:cNvPr>
          <p:cNvSpPr>
            <a:spLocks noGrp="1"/>
          </p:cNvSpPr>
          <p:nvPr>
            <p:ph type="title"/>
          </p:nvPr>
        </p:nvSpPr>
        <p:spPr>
          <a:xfrm>
            <a:off x="422031" y="473380"/>
            <a:ext cx="10058400" cy="1371600"/>
          </a:xfrm>
        </p:spPr>
        <p:txBody>
          <a:bodyPr/>
          <a:lstStyle/>
          <a:p>
            <a:r>
              <a:rPr lang="en-US" dirty="0"/>
              <a:t>Epidemiological triad</a:t>
            </a:r>
          </a:p>
        </p:txBody>
      </p:sp>
    </p:spTree>
    <p:extLst>
      <p:ext uri="{BB962C8B-B14F-4D97-AF65-F5344CB8AC3E}">
        <p14:creationId xmlns:p14="http://schemas.microsoft.com/office/powerpoint/2010/main" val="32086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71F3-A4BD-D205-5B8E-C5EF5D99AB0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Aim</a:t>
            </a:r>
          </a:p>
        </p:txBody>
      </p:sp>
      <p:sp>
        <p:nvSpPr>
          <p:cNvPr id="3" name="Content Placeholder 2">
            <a:extLst>
              <a:ext uri="{FF2B5EF4-FFF2-40B4-BE49-F238E27FC236}">
                <a16:creationId xmlns:a16="http://schemas.microsoft.com/office/drawing/2014/main" id="{47802EF4-2EBE-30B3-BCAF-5296EF80461D}"/>
              </a:ext>
            </a:extLst>
          </p:cNvPr>
          <p:cNvSpPr>
            <a:spLocks noGrp="1"/>
          </p:cNvSpPr>
          <p:nvPr>
            <p:ph idx="1"/>
          </p:nvPr>
        </p:nvSpPr>
        <p:spPr/>
        <p:txBody>
          <a:bodyPr>
            <a:normAutofit/>
          </a:bodyPr>
          <a:lstStyle/>
          <a:p>
            <a:pPr algn="l"/>
            <a:r>
              <a:rPr lang="en-US" sz="2400" b="0" i="0" u="none" strike="noStrike" baseline="0" dirty="0">
                <a:latin typeface="Times New Roman" panose="02020603050405020304" pitchFamily="18" charset="0"/>
              </a:rPr>
              <a:t>To describe the distribution and magnitude of hea</a:t>
            </a:r>
            <a:r>
              <a:rPr lang="en-US" sz="2400" dirty="0">
                <a:latin typeface="Times New Roman" panose="02020603050405020304" pitchFamily="18" charset="0"/>
              </a:rPr>
              <a:t>lth </a:t>
            </a:r>
            <a:r>
              <a:rPr lang="en-US" sz="2400" b="0" i="0" u="none" strike="noStrike" baseline="0" dirty="0">
                <a:latin typeface="Times New Roman" panose="02020603050405020304" pitchFamily="18" charset="0"/>
              </a:rPr>
              <a:t>and disease problems in human populations</a:t>
            </a:r>
          </a:p>
          <a:p>
            <a:pPr algn="l"/>
            <a:r>
              <a:rPr lang="en-US" sz="2400" b="0" i="0" u="none" strike="noStrike" baseline="0" dirty="0">
                <a:latin typeface="Times New Roman" panose="02020603050405020304" pitchFamily="18" charset="0"/>
              </a:rPr>
              <a:t>To identify </a:t>
            </a:r>
            <a:r>
              <a:rPr lang="en-US" sz="2400" b="0" i="0" u="none" strike="noStrike" baseline="0" dirty="0" err="1">
                <a:latin typeface="Times New Roman" panose="02020603050405020304" pitchFamily="18" charset="0"/>
              </a:rPr>
              <a:t>aetiological</a:t>
            </a:r>
            <a:r>
              <a:rPr lang="en-US" sz="2400" b="0" i="0" u="none" strike="noStrike" baseline="0" dirty="0">
                <a:latin typeface="Times New Roman" panose="02020603050405020304" pitchFamily="18" charset="0"/>
              </a:rPr>
              <a:t> factors (risk factors) in the pathogenesis of disease</a:t>
            </a:r>
          </a:p>
          <a:p>
            <a:pPr algn="l"/>
            <a:r>
              <a:rPr lang="en-US" sz="2400" dirty="0">
                <a:latin typeface="Times New Roman" panose="02020603050405020304" pitchFamily="18" charset="0"/>
              </a:rPr>
              <a:t>T</a:t>
            </a:r>
            <a:r>
              <a:rPr lang="en-US" sz="2400" b="0" i="0" u="none" strike="noStrike" baseline="0" dirty="0">
                <a:latin typeface="Times New Roman" panose="02020603050405020304" pitchFamily="18" charset="0"/>
              </a:rPr>
              <a:t>o provide the data essential to the planning, implementation and evaluation of services for the prevention, control and treatment of disease and to the setting up of priorities among those services. </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398335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A248-7C5C-F0C3-7725-7E849423238E}"/>
              </a:ext>
            </a:extLst>
          </p:cNvPr>
          <p:cNvSpPr>
            <a:spLocks noGrp="1"/>
          </p:cNvSpPr>
          <p:nvPr>
            <p:ph type="title"/>
          </p:nvPr>
        </p:nvSpPr>
        <p:spPr/>
        <p:txBody>
          <a:bodyPr/>
          <a:lstStyle/>
          <a:p>
            <a:r>
              <a:rPr lang="en-US" dirty="0"/>
              <a:t>Epidemiology vs clinical medicine</a:t>
            </a:r>
          </a:p>
        </p:txBody>
      </p:sp>
      <p:sp>
        <p:nvSpPr>
          <p:cNvPr id="4" name="Text Placeholder 3">
            <a:extLst>
              <a:ext uri="{FF2B5EF4-FFF2-40B4-BE49-F238E27FC236}">
                <a16:creationId xmlns:a16="http://schemas.microsoft.com/office/drawing/2014/main" id="{FE5B65CB-4187-71AE-1585-EDBDE8AFFC9E}"/>
              </a:ext>
            </a:extLst>
          </p:cNvPr>
          <p:cNvSpPr>
            <a:spLocks noGrp="1"/>
          </p:cNvSpPr>
          <p:nvPr>
            <p:ph type="body" idx="1"/>
          </p:nvPr>
        </p:nvSpPr>
        <p:spPr/>
        <p:txBody>
          <a:bodyPr>
            <a:normAutofit/>
          </a:bodyPr>
          <a:lstStyle/>
          <a:p>
            <a:r>
              <a:rPr lang="en-US" sz="2200" dirty="0">
                <a:latin typeface="Times New Roman" panose="02020603050405020304" pitchFamily="18" charset="0"/>
                <a:cs typeface="Times New Roman" panose="02020603050405020304" pitchFamily="18" charset="0"/>
              </a:rPr>
              <a:t>Epidemiology</a:t>
            </a:r>
          </a:p>
        </p:txBody>
      </p:sp>
      <p:sp>
        <p:nvSpPr>
          <p:cNvPr id="5" name="Content Placeholder 4">
            <a:extLst>
              <a:ext uri="{FF2B5EF4-FFF2-40B4-BE49-F238E27FC236}">
                <a16:creationId xmlns:a16="http://schemas.microsoft.com/office/drawing/2014/main" id="{489C9B03-C875-79F7-3CE0-DCDA5666FEFA}"/>
              </a:ext>
            </a:extLst>
          </p:cNvPr>
          <p:cNvSpPr>
            <a:spLocks noGrp="1"/>
          </p:cNvSpPr>
          <p:nvPr>
            <p:ph sz="half" idx="2"/>
          </p:nvPr>
        </p:nvSpPr>
        <p:spPr/>
        <p:txBody>
          <a:bodyPr>
            <a:noAutofit/>
          </a:bodyPr>
          <a:lstStyle/>
          <a:p>
            <a:r>
              <a:rPr lang="en-US" sz="2000" dirty="0">
                <a:latin typeface="Times New Roman" panose="02020603050405020304" pitchFamily="18" charset="0"/>
                <a:cs typeface="Times New Roman" panose="02020603050405020304" pitchFamily="18" charset="0"/>
              </a:rPr>
              <a:t>Unit – population / population at risk</a:t>
            </a:r>
          </a:p>
          <a:p>
            <a:r>
              <a:rPr lang="en-US" sz="2000" dirty="0">
                <a:latin typeface="Times New Roman" panose="02020603050405020304" pitchFamily="18" charset="0"/>
                <a:cs typeface="Times New Roman" panose="02020603050405020304" pitchFamily="18" charset="0"/>
              </a:rPr>
              <a:t>Quantitative tool for community diagnosis</a:t>
            </a:r>
          </a:p>
          <a:p>
            <a:r>
              <a:rPr lang="en-US" sz="2000" dirty="0">
                <a:latin typeface="Times New Roman" panose="02020603050405020304" pitchFamily="18" charset="0"/>
                <a:cs typeface="Times New Roman" panose="02020603050405020304" pitchFamily="18" charset="0"/>
              </a:rPr>
              <a:t>Considers all factors which causes disease</a:t>
            </a:r>
          </a:p>
          <a:p>
            <a:r>
              <a:rPr lang="en-US" sz="2000" dirty="0">
                <a:latin typeface="Times New Roman" panose="02020603050405020304" pitchFamily="18" charset="0"/>
                <a:cs typeface="Times New Roman" panose="02020603050405020304" pitchFamily="18" charset="0"/>
              </a:rPr>
              <a:t>Form assumptions and hypothesis</a:t>
            </a:r>
          </a:p>
          <a:p>
            <a:r>
              <a:rPr lang="en-US" sz="2000" dirty="0">
                <a:latin typeface="Times New Roman" panose="02020603050405020304" pitchFamily="18" charset="0"/>
                <a:cs typeface="Times New Roman" panose="02020603050405020304" pitchFamily="18" charset="0"/>
              </a:rPr>
              <a:t>Helps in public health policy formulation</a:t>
            </a:r>
          </a:p>
          <a:p>
            <a:r>
              <a:rPr lang="en-US" sz="2000" dirty="0">
                <a:latin typeface="Times New Roman" panose="02020603050405020304" pitchFamily="18" charset="0"/>
                <a:cs typeface="Times New Roman" panose="02020603050405020304" pitchFamily="18" charset="0"/>
              </a:rPr>
              <a:t>Quantitative and qualitative science.</a:t>
            </a:r>
          </a:p>
          <a:p>
            <a:r>
              <a:rPr lang="en-US" sz="2000" dirty="0">
                <a:latin typeface="Times New Roman" panose="02020603050405020304" pitchFamily="18" charset="0"/>
                <a:cs typeface="Times New Roman" panose="02020603050405020304" pitchFamily="18" charset="0"/>
              </a:rPr>
              <a:t>Epidemiologist went to community</a:t>
            </a:r>
          </a:p>
          <a:p>
            <a:endParaRPr lang="en-US" sz="20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4827E9E2-D0B7-A354-C63A-5C0DC14AC67D}"/>
              </a:ext>
            </a:extLst>
          </p:cNvPr>
          <p:cNvSpPr>
            <a:spLocks noGrp="1"/>
          </p:cNvSpPr>
          <p:nvPr>
            <p:ph type="body" sz="quarter" idx="3"/>
          </p:nvPr>
        </p:nvSpPr>
        <p:spPr/>
        <p:txBody>
          <a:bodyPr>
            <a:normAutofit/>
          </a:bodyPr>
          <a:lstStyle/>
          <a:p>
            <a:r>
              <a:rPr lang="en-US" sz="2200" dirty="0">
                <a:latin typeface="Times New Roman" panose="02020603050405020304" pitchFamily="18" charset="0"/>
                <a:cs typeface="Times New Roman" panose="02020603050405020304" pitchFamily="18" charset="0"/>
              </a:rPr>
              <a:t>Clinical medicine</a:t>
            </a:r>
          </a:p>
        </p:txBody>
      </p:sp>
      <p:sp>
        <p:nvSpPr>
          <p:cNvPr id="7" name="Content Placeholder 6">
            <a:extLst>
              <a:ext uri="{FF2B5EF4-FFF2-40B4-BE49-F238E27FC236}">
                <a16:creationId xmlns:a16="http://schemas.microsoft.com/office/drawing/2014/main" id="{B13B73D6-28C1-57FC-0B2A-94BC1B3E0B63}"/>
              </a:ext>
            </a:extLst>
          </p:cNvPr>
          <p:cNvSpPr>
            <a:spLocks noGrp="1"/>
          </p:cNvSpPr>
          <p:nvPr>
            <p:ph sz="quarter" idx="4"/>
          </p:nvPr>
        </p:nvSpPr>
        <p:spPr/>
        <p:txBody>
          <a:bodyPr>
            <a:normAutofit/>
          </a:bodyPr>
          <a:lstStyle/>
          <a:p>
            <a:r>
              <a:rPr lang="en-US" sz="2000" dirty="0">
                <a:latin typeface="Times New Roman" panose="02020603050405020304" pitchFamily="18" charset="0"/>
                <a:cs typeface="Times New Roman" panose="02020603050405020304" pitchFamily="18" charset="0"/>
              </a:rPr>
              <a:t>Case or cases</a:t>
            </a:r>
          </a:p>
          <a:p>
            <a:r>
              <a:rPr lang="en-US" sz="2000" dirty="0">
                <a:latin typeface="Times New Roman" panose="02020603050405020304" pitchFamily="18" charset="0"/>
                <a:cs typeface="Times New Roman" panose="02020603050405020304" pitchFamily="18" charset="0"/>
              </a:rPr>
              <a:t>LAB TEST FOR DIAGNOSIS</a:t>
            </a:r>
          </a:p>
          <a:p>
            <a:r>
              <a:rPr lang="en-US" sz="2000" dirty="0">
                <a:latin typeface="Times New Roman" panose="02020603050405020304" pitchFamily="18" charset="0"/>
                <a:cs typeface="Times New Roman" panose="02020603050405020304" pitchFamily="18" charset="0"/>
              </a:rPr>
              <a:t>Specific treatment</a:t>
            </a:r>
          </a:p>
          <a:p>
            <a:r>
              <a:rPr lang="en-US" sz="2000" dirty="0">
                <a:latin typeface="Times New Roman" panose="02020603050405020304" pitchFamily="18" charset="0"/>
                <a:cs typeface="Times New Roman" panose="02020603050405020304" pitchFamily="18" charset="0"/>
              </a:rPr>
              <a:t>Patient comes to the clinician</a:t>
            </a:r>
          </a:p>
        </p:txBody>
      </p:sp>
    </p:spTree>
    <p:extLst>
      <p:ext uri="{BB962C8B-B14F-4D97-AF65-F5344CB8AC3E}">
        <p14:creationId xmlns:p14="http://schemas.microsoft.com/office/powerpoint/2010/main" val="2771641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FEDC2-FE63-FFA4-24AD-43030E364D98}"/>
              </a:ext>
            </a:extLst>
          </p:cNvPr>
          <p:cNvSpPr>
            <a:spLocks noGrp="1"/>
          </p:cNvSpPr>
          <p:nvPr>
            <p:ph type="title"/>
          </p:nvPr>
        </p:nvSpPr>
        <p:spPr/>
        <p:txBody>
          <a:bodyPr/>
          <a:lstStyle/>
          <a:p>
            <a:pPr algn="ctr"/>
            <a:r>
              <a:rPr lang="en-US" dirty="0"/>
              <a:t>Epidemiological Approach</a:t>
            </a:r>
            <a:br>
              <a:rPr lang="en-US" dirty="0"/>
            </a:br>
            <a:r>
              <a:rPr lang="en-US" sz="2400" dirty="0"/>
              <a:t>Asking Questions &amp; Making Comparisons</a:t>
            </a:r>
            <a:endParaRPr lang="en-US" dirty="0"/>
          </a:p>
        </p:txBody>
      </p:sp>
      <p:sp>
        <p:nvSpPr>
          <p:cNvPr id="3" name="Text Placeholder 2">
            <a:extLst>
              <a:ext uri="{FF2B5EF4-FFF2-40B4-BE49-F238E27FC236}">
                <a16:creationId xmlns:a16="http://schemas.microsoft.com/office/drawing/2014/main" id="{76035547-5D4F-7EAF-54C3-B57093B08BFA}"/>
              </a:ext>
            </a:extLst>
          </p:cNvPr>
          <p:cNvSpPr>
            <a:spLocks noGrp="1"/>
          </p:cNvSpPr>
          <p:nvPr>
            <p:ph type="body" idx="1"/>
          </p:nvPr>
        </p:nvSpPr>
        <p:spPr>
          <a:xfrm>
            <a:off x="492331" y="2074334"/>
            <a:ext cx="4663440" cy="640080"/>
          </a:xfrm>
        </p:spPr>
        <p:txBody>
          <a:bodyPr>
            <a:normAutofit/>
          </a:bodyPr>
          <a:lstStyle/>
          <a:p>
            <a:r>
              <a:rPr lang="en-US" sz="2200" dirty="0">
                <a:latin typeface="Times New Roman" panose="02020603050405020304" pitchFamily="18" charset="0"/>
                <a:cs typeface="Times New Roman" panose="02020603050405020304" pitchFamily="18" charset="0"/>
              </a:rPr>
              <a:t>Health Event</a:t>
            </a:r>
          </a:p>
        </p:txBody>
      </p:sp>
      <p:sp>
        <p:nvSpPr>
          <p:cNvPr id="4" name="Content Placeholder 3">
            <a:extLst>
              <a:ext uri="{FF2B5EF4-FFF2-40B4-BE49-F238E27FC236}">
                <a16:creationId xmlns:a16="http://schemas.microsoft.com/office/drawing/2014/main" id="{5E43EC58-2E8C-DC45-5E3F-8EBE9C6A5377}"/>
              </a:ext>
            </a:extLst>
          </p:cNvPr>
          <p:cNvSpPr>
            <a:spLocks noGrp="1"/>
          </p:cNvSpPr>
          <p:nvPr>
            <p:ph sz="half" idx="2"/>
          </p:nvPr>
        </p:nvSpPr>
        <p:spPr>
          <a:xfrm>
            <a:off x="492331" y="2792472"/>
            <a:ext cx="3646532" cy="3163825"/>
          </a:xfrm>
        </p:spPr>
        <p:txBody>
          <a:bodyPr>
            <a:normAutofit/>
          </a:bodyPr>
          <a:lstStyle/>
          <a:p>
            <a:r>
              <a:rPr lang="en-US" sz="2200" dirty="0">
                <a:latin typeface="Times New Roman" panose="02020603050405020304" pitchFamily="18" charset="0"/>
                <a:cs typeface="Times New Roman" panose="02020603050405020304" pitchFamily="18" charset="0"/>
              </a:rPr>
              <a:t>What is the event ? (the problem)</a:t>
            </a:r>
          </a:p>
          <a:p>
            <a:r>
              <a:rPr lang="en-US" sz="2200" dirty="0">
                <a:latin typeface="Times New Roman" panose="02020603050405020304" pitchFamily="18" charset="0"/>
                <a:cs typeface="Times New Roman" panose="02020603050405020304" pitchFamily="18" charset="0"/>
              </a:rPr>
              <a:t>What is its magnitude?</a:t>
            </a:r>
          </a:p>
          <a:p>
            <a:r>
              <a:rPr lang="en-US" sz="2200" dirty="0">
                <a:latin typeface="Times New Roman" panose="02020603050405020304" pitchFamily="18" charset="0"/>
                <a:cs typeface="Times New Roman" panose="02020603050405020304" pitchFamily="18" charset="0"/>
              </a:rPr>
              <a:t>Where did it happen?</a:t>
            </a:r>
          </a:p>
          <a:p>
            <a:r>
              <a:rPr lang="en-US" sz="2200" dirty="0">
                <a:latin typeface="Times New Roman" panose="02020603050405020304" pitchFamily="18" charset="0"/>
                <a:cs typeface="Times New Roman" panose="02020603050405020304" pitchFamily="18" charset="0"/>
              </a:rPr>
              <a:t>When did it happen?</a:t>
            </a:r>
          </a:p>
          <a:p>
            <a:r>
              <a:rPr lang="en-US" sz="2200" dirty="0">
                <a:latin typeface="Times New Roman" panose="02020603050405020304" pitchFamily="18" charset="0"/>
                <a:cs typeface="Times New Roman" panose="02020603050405020304" pitchFamily="18" charset="0"/>
              </a:rPr>
              <a:t>Who are affected?</a:t>
            </a:r>
          </a:p>
          <a:p>
            <a:r>
              <a:rPr lang="en-US" sz="2200" dirty="0">
                <a:latin typeface="Times New Roman" panose="02020603050405020304" pitchFamily="18" charset="0"/>
                <a:cs typeface="Times New Roman" panose="02020603050405020304" pitchFamily="18" charset="0"/>
              </a:rPr>
              <a:t>Why did it happen?</a:t>
            </a:r>
          </a:p>
        </p:txBody>
      </p:sp>
      <p:sp>
        <p:nvSpPr>
          <p:cNvPr id="5" name="Text Placeholder 4">
            <a:extLst>
              <a:ext uri="{FF2B5EF4-FFF2-40B4-BE49-F238E27FC236}">
                <a16:creationId xmlns:a16="http://schemas.microsoft.com/office/drawing/2014/main" id="{02FFAA06-A415-5DA2-528C-AB6BD1EC61FA}"/>
              </a:ext>
            </a:extLst>
          </p:cNvPr>
          <p:cNvSpPr>
            <a:spLocks noGrp="1"/>
          </p:cNvSpPr>
          <p:nvPr>
            <p:ph type="body" sz="quarter" idx="3"/>
          </p:nvPr>
        </p:nvSpPr>
        <p:spPr>
          <a:xfrm>
            <a:off x="3914274" y="1807987"/>
            <a:ext cx="5050818" cy="640080"/>
          </a:xfrm>
        </p:spPr>
        <p:txBody>
          <a:bodyPr>
            <a:normAutofit/>
          </a:bodyPr>
          <a:lstStyle/>
          <a:p>
            <a:r>
              <a:rPr lang="en-US" sz="2200" dirty="0">
                <a:latin typeface="Times New Roman" panose="02020603050405020304" pitchFamily="18" charset="0"/>
                <a:cs typeface="Times New Roman" panose="02020603050405020304" pitchFamily="18" charset="0"/>
              </a:rPr>
              <a:t>Health Action</a:t>
            </a:r>
          </a:p>
        </p:txBody>
      </p:sp>
      <p:sp>
        <p:nvSpPr>
          <p:cNvPr id="6" name="Content Placeholder 5">
            <a:extLst>
              <a:ext uri="{FF2B5EF4-FFF2-40B4-BE49-F238E27FC236}">
                <a16:creationId xmlns:a16="http://schemas.microsoft.com/office/drawing/2014/main" id="{98B90E6F-2385-5792-7EDB-71198383925B}"/>
              </a:ext>
            </a:extLst>
          </p:cNvPr>
          <p:cNvSpPr>
            <a:spLocks noGrp="1"/>
          </p:cNvSpPr>
          <p:nvPr>
            <p:ph sz="quarter" idx="4"/>
          </p:nvPr>
        </p:nvSpPr>
        <p:spPr>
          <a:xfrm>
            <a:off x="3914274" y="2372367"/>
            <a:ext cx="7785395" cy="4124686"/>
          </a:xfrm>
        </p:spPr>
        <p:txBody>
          <a:bodyPr>
            <a:noAutofit/>
          </a:bodyPr>
          <a:lstStyle/>
          <a:p>
            <a:pPr algn="l"/>
            <a:r>
              <a:rPr lang="en-US" sz="2200" b="0" i="0" u="none" strike="noStrike" baseline="0" dirty="0">
                <a:latin typeface="Times New Roman" panose="02020603050405020304" pitchFamily="18" charset="0"/>
                <a:cs typeface="Times New Roman" panose="02020603050405020304" pitchFamily="18" charset="0"/>
              </a:rPr>
              <a:t>What can be done to reduce this problem and its consequences ?</a:t>
            </a:r>
          </a:p>
          <a:p>
            <a:pPr algn="l"/>
            <a:r>
              <a:rPr lang="en-US" sz="2200" b="0" i="0" u="none" strike="noStrike" baseline="0" dirty="0">
                <a:latin typeface="Times New Roman" panose="02020603050405020304" pitchFamily="18" charset="0"/>
                <a:cs typeface="Times New Roman" panose="02020603050405020304" pitchFamily="18" charset="0"/>
              </a:rPr>
              <a:t>How can it be prevented in the future ?</a:t>
            </a:r>
          </a:p>
          <a:p>
            <a:pPr algn="l"/>
            <a:r>
              <a:rPr lang="en-US" sz="2200" b="0" i="0" u="none" strike="noStrike" baseline="0" dirty="0">
                <a:latin typeface="Times New Roman" panose="02020603050405020304" pitchFamily="18" charset="0"/>
                <a:cs typeface="Times New Roman" panose="02020603050405020304" pitchFamily="18" charset="0"/>
              </a:rPr>
              <a:t>What action should be taken by the community ? By the health services? By other sectors ? Where and for whom these activities be carried out ?</a:t>
            </a:r>
          </a:p>
          <a:p>
            <a:pPr algn="l"/>
            <a:r>
              <a:rPr lang="en-US" sz="2200" b="0" i="0" u="none" strike="noStrike" baseline="0" dirty="0">
                <a:latin typeface="Times New Roman" panose="02020603050405020304" pitchFamily="18" charset="0"/>
                <a:cs typeface="Times New Roman" panose="02020603050405020304" pitchFamily="18" charset="0"/>
              </a:rPr>
              <a:t>What resources are required ? How are the activities to be organized ?</a:t>
            </a:r>
          </a:p>
          <a:p>
            <a:pPr algn="l"/>
            <a:r>
              <a:rPr lang="en-US" sz="2200" b="0" i="0" u="none" strike="noStrike" baseline="0" dirty="0">
                <a:latin typeface="Times New Roman" panose="02020603050405020304" pitchFamily="18" charset="0"/>
                <a:cs typeface="Times New Roman" panose="02020603050405020304" pitchFamily="18" charset="0"/>
              </a:rPr>
              <a:t>What difficulties may arise, and how might they be overcome ?</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02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456051D-1D0B-4AAA-AB67-2A3BB79C39F5}"/>
              </a:ext>
            </a:extLst>
          </p:cNvPr>
          <p:cNvSpPr>
            <a:spLocks noGrp="1"/>
          </p:cNvSpPr>
          <p:nvPr>
            <p:ph type="title"/>
          </p:nvPr>
        </p:nvSpPr>
        <p:spPr/>
        <p:txBody>
          <a:bodyPr/>
          <a:lstStyle/>
          <a:p>
            <a:r>
              <a:rPr lang="en-US" dirty="0"/>
              <a:t>Measurements in Epidemiology</a:t>
            </a:r>
          </a:p>
        </p:txBody>
      </p:sp>
      <p:sp>
        <p:nvSpPr>
          <p:cNvPr id="8" name="Content Placeholder 7">
            <a:extLst>
              <a:ext uri="{FF2B5EF4-FFF2-40B4-BE49-F238E27FC236}">
                <a16:creationId xmlns:a16="http://schemas.microsoft.com/office/drawing/2014/main" id="{03E793B2-92B2-5BCF-9414-DD977748A149}"/>
              </a:ext>
            </a:extLst>
          </p:cNvPr>
          <p:cNvSpPr>
            <a:spLocks noGrp="1"/>
          </p:cNvSpPr>
          <p:nvPr>
            <p:ph idx="1"/>
          </p:nvPr>
        </p:nvSpPr>
        <p:spPr>
          <a:xfrm>
            <a:off x="352540" y="1520328"/>
            <a:ext cx="11001260" cy="4656635"/>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Measurement of mortality</a:t>
            </a:r>
          </a:p>
          <a:p>
            <a:r>
              <a:rPr lang="en-US" dirty="0">
                <a:latin typeface="Times New Roman" panose="02020603050405020304" pitchFamily="18" charset="0"/>
                <a:cs typeface="Times New Roman" panose="02020603050405020304" pitchFamily="18" charset="0"/>
              </a:rPr>
              <a:t>Measurement of morbidity</a:t>
            </a:r>
          </a:p>
          <a:p>
            <a:r>
              <a:rPr lang="en-US" dirty="0">
                <a:latin typeface="Times New Roman" panose="02020603050405020304" pitchFamily="18" charset="0"/>
                <a:cs typeface="Times New Roman" panose="02020603050405020304" pitchFamily="18" charset="0"/>
              </a:rPr>
              <a:t>Measurement of disability</a:t>
            </a:r>
          </a:p>
          <a:p>
            <a:r>
              <a:rPr lang="en-US" dirty="0">
                <a:latin typeface="Times New Roman" panose="02020603050405020304" pitchFamily="18" charset="0"/>
                <a:cs typeface="Times New Roman" panose="02020603050405020304" pitchFamily="18" charset="0"/>
              </a:rPr>
              <a:t>Measurement of natality</a:t>
            </a:r>
          </a:p>
          <a:p>
            <a:r>
              <a:rPr lang="en-US" dirty="0">
                <a:latin typeface="Times New Roman" panose="02020603050405020304" pitchFamily="18" charset="0"/>
                <a:cs typeface="Times New Roman" panose="02020603050405020304" pitchFamily="18" charset="0"/>
              </a:rPr>
              <a:t>Measurement of the presence, absence or distribution of the characteristic or attributes of the disease</a:t>
            </a:r>
          </a:p>
          <a:p>
            <a:r>
              <a:rPr lang="en-US" dirty="0">
                <a:latin typeface="Times New Roman" panose="02020603050405020304" pitchFamily="18" charset="0"/>
                <a:cs typeface="Times New Roman" panose="02020603050405020304" pitchFamily="18" charset="0"/>
              </a:rPr>
              <a:t>Measurement of medical needs, health care facilities, utilization of health services and other health-related events</a:t>
            </a:r>
          </a:p>
          <a:p>
            <a:r>
              <a:rPr lang="en-US" dirty="0">
                <a:latin typeface="Times New Roman" panose="02020603050405020304" pitchFamily="18" charset="0"/>
                <a:cs typeface="Times New Roman" panose="02020603050405020304" pitchFamily="18" charset="0"/>
              </a:rPr>
              <a:t>Measurement of the presence, absence or distribution of the environmental and other factors suspected of causing the disease</a:t>
            </a:r>
          </a:p>
          <a:p>
            <a:r>
              <a:rPr lang="en-US" dirty="0">
                <a:latin typeface="Times New Roman" panose="02020603050405020304" pitchFamily="18" charset="0"/>
                <a:cs typeface="Times New Roman" panose="02020603050405020304" pitchFamily="18" charset="0"/>
              </a:rPr>
              <a:t>Measurement of demographic variables.</a:t>
            </a:r>
          </a:p>
        </p:txBody>
      </p:sp>
    </p:spTree>
    <p:extLst>
      <p:ext uri="{BB962C8B-B14F-4D97-AF65-F5344CB8AC3E}">
        <p14:creationId xmlns:p14="http://schemas.microsoft.com/office/powerpoint/2010/main" val="3577118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3AA060-FB77-5A77-09D3-8941A627C0DC}"/>
              </a:ext>
            </a:extLst>
          </p:cNvPr>
          <p:cNvSpPr>
            <a:spLocks noGrp="1"/>
          </p:cNvSpPr>
          <p:nvPr>
            <p:ph type="title"/>
          </p:nvPr>
        </p:nvSpPr>
        <p:spPr>
          <a:xfrm>
            <a:off x="505326" y="385920"/>
            <a:ext cx="10058400" cy="737027"/>
          </a:xfrm>
        </p:spPr>
        <p:txBody>
          <a:bodyPr/>
          <a:lstStyle/>
          <a:p>
            <a:r>
              <a:rPr lang="en-US" dirty="0"/>
              <a:t>Tools of measurement</a:t>
            </a:r>
          </a:p>
        </p:txBody>
      </p:sp>
      <p:sp>
        <p:nvSpPr>
          <p:cNvPr id="8" name="Content Placeholder 7">
            <a:extLst>
              <a:ext uri="{FF2B5EF4-FFF2-40B4-BE49-F238E27FC236}">
                <a16:creationId xmlns:a16="http://schemas.microsoft.com/office/drawing/2014/main" id="{D52ECD14-5919-BF6F-287B-2F857D4BECBB}"/>
              </a:ext>
            </a:extLst>
          </p:cNvPr>
          <p:cNvSpPr>
            <a:spLocks noGrp="1"/>
          </p:cNvSpPr>
          <p:nvPr>
            <p:ph idx="1"/>
          </p:nvPr>
        </p:nvSpPr>
        <p:spPr>
          <a:xfrm>
            <a:off x="505326" y="1122947"/>
            <a:ext cx="11181348" cy="5181600"/>
          </a:xfrm>
        </p:spPr>
        <p:txBody>
          <a:bodyPr>
            <a:noAutofit/>
          </a:bodyPr>
          <a:lstStyle/>
          <a:p>
            <a:r>
              <a:rPr lang="en-US" sz="2400" dirty="0">
                <a:latin typeface="Times New Roman" panose="02020603050405020304" pitchFamily="18" charset="0"/>
                <a:cs typeface="Times New Roman" panose="02020603050405020304" pitchFamily="18" charset="0"/>
              </a:rPr>
              <a:t>Rate </a:t>
            </a:r>
          </a:p>
          <a:p>
            <a:pPr lvl="1"/>
            <a:r>
              <a:rPr lang="en-US" sz="2200" b="0" i="0" u="none" strike="noStrike" baseline="0" dirty="0">
                <a:latin typeface="Times New Roman" panose="02020603050405020304" pitchFamily="18" charset="0"/>
                <a:cs typeface="Times New Roman" panose="02020603050405020304" pitchFamily="18" charset="0"/>
              </a:rPr>
              <a:t>A rate measures the occurrence of some particular event (development of disease or the occurrence of death) in a defined population during a given time period.</a:t>
            </a:r>
          </a:p>
          <a:p>
            <a:pPr lvl="1"/>
            <a:r>
              <a:rPr lang="en-US" sz="2200" dirty="0">
                <a:latin typeface="Times New Roman" panose="02020603050405020304" pitchFamily="18" charset="0"/>
                <a:cs typeface="Times New Roman" panose="02020603050405020304" pitchFamily="18" charset="0"/>
              </a:rPr>
              <a:t>Types – Crude, Specific, Standardized</a:t>
            </a:r>
          </a:p>
          <a:p>
            <a:pPr algn="l"/>
            <a:r>
              <a:rPr lang="en-US" sz="2400" dirty="0">
                <a:latin typeface="Times New Roman" panose="02020603050405020304" pitchFamily="18" charset="0"/>
                <a:cs typeface="Times New Roman" panose="02020603050405020304" pitchFamily="18" charset="0"/>
              </a:rPr>
              <a:t>Ratio</a:t>
            </a:r>
          </a:p>
          <a:p>
            <a:pPr lvl="1"/>
            <a:r>
              <a:rPr lang="en-US" sz="2200" b="0" i="0" u="none" strike="noStrike" baseline="0" dirty="0">
                <a:latin typeface="Times New Roman" panose="02020603050405020304" pitchFamily="18" charset="0"/>
                <a:cs typeface="Times New Roman" panose="02020603050405020304" pitchFamily="18" charset="0"/>
              </a:rPr>
              <a:t>It expresses a relation in size between two random quantities. The numerator is not a component of the denominator. The numerator and denominator may involve an interval of time or may be instantaneous in time.</a:t>
            </a:r>
          </a:p>
          <a:p>
            <a:r>
              <a:rPr lang="en-US" sz="2400" dirty="0">
                <a:latin typeface="Times New Roman" panose="02020603050405020304" pitchFamily="18" charset="0"/>
                <a:cs typeface="Times New Roman" panose="02020603050405020304" pitchFamily="18" charset="0"/>
              </a:rPr>
              <a:t>Proportion</a:t>
            </a:r>
          </a:p>
          <a:p>
            <a:pPr lvl="1"/>
            <a:r>
              <a:rPr lang="en-US" sz="2200" b="0" i="0" u="none" strike="noStrike" baseline="0" dirty="0">
                <a:latin typeface="Times New Roman" panose="02020603050405020304" pitchFamily="18" charset="0"/>
                <a:cs typeface="Times New Roman" panose="02020603050405020304" pitchFamily="18" charset="0"/>
              </a:rPr>
              <a:t>A proportion is a ratio which indicates the relation in magnitude of a part of the whole. The numerator is always included in the denominator. A proportion is usually expressed as a percentage.</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0580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1C2F-9799-3467-F44A-B69BA0404A99}"/>
              </a:ext>
            </a:extLst>
          </p:cNvPr>
          <p:cNvSpPr>
            <a:spLocks noGrp="1"/>
          </p:cNvSpPr>
          <p:nvPr>
            <p:ph type="title"/>
          </p:nvPr>
        </p:nvSpPr>
        <p:spPr/>
        <p:txBody>
          <a:bodyPr/>
          <a:lstStyle/>
          <a:p>
            <a:r>
              <a:rPr lang="en-US" dirty="0"/>
              <a:t>Numerator &amp; Denominator</a:t>
            </a:r>
          </a:p>
        </p:txBody>
      </p:sp>
      <p:sp>
        <p:nvSpPr>
          <p:cNvPr id="3" name="Content Placeholder 2">
            <a:extLst>
              <a:ext uri="{FF2B5EF4-FFF2-40B4-BE49-F238E27FC236}">
                <a16:creationId xmlns:a16="http://schemas.microsoft.com/office/drawing/2014/main" id="{5943123F-CDE9-37BC-2CCB-382F708734A5}"/>
              </a:ext>
            </a:extLst>
          </p:cNvPr>
          <p:cNvSpPr>
            <a:spLocks noGrp="1"/>
          </p:cNvSpPr>
          <p:nvPr>
            <p:ph idx="1"/>
          </p:nvPr>
        </p:nvSpPr>
        <p:spPr>
          <a:xfrm>
            <a:off x="475989" y="2014194"/>
            <a:ext cx="11373633" cy="4386606"/>
          </a:xfrm>
        </p:spPr>
        <p:txBody>
          <a:bodyPr>
            <a:normAutofit/>
          </a:bodyPr>
          <a:lstStyle/>
          <a:p>
            <a:pPr algn="l"/>
            <a:r>
              <a:rPr lang="en-US" sz="2400" b="0" i="0" u="none" strike="noStrike" baseline="0" dirty="0">
                <a:latin typeface="Times New Roman" panose="02020603050405020304" pitchFamily="18" charset="0"/>
              </a:rPr>
              <a:t>Numerator refers to the number of times an event (e.g., sickness, birth, death, episodes of sickness) has occurred in a population, during a specified time-period. The numerator is a component of the denominator in calculating a rate, but not in a ratio.</a:t>
            </a:r>
          </a:p>
          <a:p>
            <a:pPr algn="l"/>
            <a:r>
              <a:rPr lang="en-US" sz="2400" b="0" i="0" u="none" strike="noStrike" baseline="0" dirty="0">
                <a:latin typeface="Times New Roman" panose="02020603050405020304" pitchFamily="18" charset="0"/>
              </a:rPr>
              <a:t>Denominator refers to the lower portion of a ratio. Numerator has little meaning unless it is related to the denominator. The epidemiologist has to choose an appropriate denominator while calculating a rate. It may be </a:t>
            </a:r>
          </a:p>
          <a:p>
            <a:pPr algn="l"/>
            <a:r>
              <a:rPr lang="en-US" sz="2400" b="0" i="0" u="none" strike="noStrike" baseline="0" dirty="0">
                <a:latin typeface="Times New Roman" panose="02020603050405020304" pitchFamily="18" charset="0"/>
              </a:rPr>
              <a:t>(a) related to the population</a:t>
            </a:r>
          </a:p>
          <a:p>
            <a:pPr>
              <a:lnSpc>
                <a:spcPct val="120000"/>
              </a:lnSpc>
            </a:pPr>
            <a:r>
              <a:rPr lang="en-US" sz="2400" i="1" dirty="0">
                <a:latin typeface="Times New Roman" panose="02020603050405020304" pitchFamily="18" charset="0"/>
              </a:rPr>
              <a:t>Mid – year population, Population at-risk, person time, person distance, sub – groups of the population </a:t>
            </a:r>
          </a:p>
          <a:p>
            <a:pPr algn="l"/>
            <a:r>
              <a:rPr lang="en-US" sz="2400" b="0" i="0" u="none" strike="noStrike" baseline="0" dirty="0">
                <a:latin typeface="Times New Roman" panose="02020603050405020304" pitchFamily="18" charset="0"/>
              </a:rPr>
              <a:t>(b) related to the total events.</a:t>
            </a:r>
            <a:endParaRPr lang="en-US" sz="1800" dirty="0"/>
          </a:p>
        </p:txBody>
      </p:sp>
    </p:spTree>
    <p:extLst>
      <p:ext uri="{BB962C8B-B14F-4D97-AF65-F5344CB8AC3E}">
        <p14:creationId xmlns:p14="http://schemas.microsoft.com/office/powerpoint/2010/main" val="3411779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7F0E9-7ADC-85B2-0799-E8BE95E03BF9}"/>
              </a:ext>
            </a:extLst>
          </p:cNvPr>
          <p:cNvSpPr>
            <a:spLocks noGrp="1"/>
          </p:cNvSpPr>
          <p:nvPr>
            <p:ph type="title"/>
          </p:nvPr>
        </p:nvSpPr>
        <p:spPr/>
        <p:txBody>
          <a:bodyPr/>
          <a:lstStyle/>
          <a:p>
            <a:r>
              <a:rPr lang="en-US" dirty="0"/>
              <a:t>Minimum information required by public health specialist</a:t>
            </a:r>
          </a:p>
        </p:txBody>
      </p:sp>
      <p:sp>
        <p:nvSpPr>
          <p:cNvPr id="3" name="Content Placeholder 2">
            <a:extLst>
              <a:ext uri="{FF2B5EF4-FFF2-40B4-BE49-F238E27FC236}">
                <a16:creationId xmlns:a16="http://schemas.microsoft.com/office/drawing/2014/main" id="{2003BCE2-60AF-C447-9186-0535ACE7BE97}"/>
              </a:ext>
            </a:extLst>
          </p:cNvPr>
          <p:cNvSpPr>
            <a:spLocks noGrp="1"/>
          </p:cNvSpPr>
          <p:nvPr>
            <p:ph idx="1"/>
          </p:nvPr>
        </p:nvSpPr>
        <p:spPr/>
        <p:txBody>
          <a:bodyPr>
            <a:noAutofit/>
          </a:bodyPr>
          <a:lstStyle/>
          <a:p>
            <a:r>
              <a:rPr lang="en-US" sz="2400" dirty="0"/>
              <a:t>General Information – Location, governmental and societal pattern, geographical features, transport, communication, climate</a:t>
            </a:r>
          </a:p>
          <a:p>
            <a:r>
              <a:rPr lang="en-US" sz="2400" dirty="0"/>
              <a:t>Socio-demographic – population size, age &amp; sex constitution, fertility indicators, growth rate, education, occupation</a:t>
            </a:r>
          </a:p>
          <a:p>
            <a:r>
              <a:rPr lang="en-US" sz="2400" dirty="0"/>
              <a:t>Morbidity and Mortality – Maternal mortality rate &amp; Infant mortality rate</a:t>
            </a:r>
          </a:p>
          <a:p>
            <a:r>
              <a:rPr lang="en-US" sz="2400" dirty="0"/>
              <a:t>Health related indicator – water supply, sanitation, housing pattern</a:t>
            </a:r>
          </a:p>
          <a:p>
            <a:r>
              <a:rPr lang="en-US" sz="2400" dirty="0"/>
              <a:t>Health services – location, government &amp; non – government, availability, equipment</a:t>
            </a:r>
          </a:p>
          <a:p>
            <a:r>
              <a:rPr lang="en-US" sz="2400" dirty="0"/>
              <a:t>Preventive / promotive health program</a:t>
            </a:r>
          </a:p>
        </p:txBody>
      </p:sp>
    </p:spTree>
    <p:extLst>
      <p:ext uri="{BB962C8B-B14F-4D97-AF65-F5344CB8AC3E}">
        <p14:creationId xmlns:p14="http://schemas.microsoft.com/office/powerpoint/2010/main" val="335752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9D0AA-F672-4A7C-4D0E-6BB98B6CC4D6}"/>
              </a:ext>
            </a:extLst>
          </p:cNvPr>
          <p:cNvSpPr>
            <a:spLocks noGrp="1"/>
          </p:cNvSpPr>
          <p:nvPr>
            <p:ph type="title"/>
          </p:nvPr>
        </p:nvSpPr>
        <p:spPr/>
        <p:txBody>
          <a:bodyPr/>
          <a:lstStyle/>
          <a:p>
            <a:r>
              <a:rPr lang="en-US" dirty="0"/>
              <a:t>Sources - Census</a:t>
            </a:r>
          </a:p>
        </p:txBody>
      </p:sp>
      <p:sp>
        <p:nvSpPr>
          <p:cNvPr id="3" name="Content Placeholder 2">
            <a:extLst>
              <a:ext uri="{FF2B5EF4-FFF2-40B4-BE49-F238E27FC236}">
                <a16:creationId xmlns:a16="http://schemas.microsoft.com/office/drawing/2014/main" id="{157EAC1F-14A7-A7C4-C41B-5C3D9C7C50B6}"/>
              </a:ext>
            </a:extLst>
          </p:cNvPr>
          <p:cNvSpPr>
            <a:spLocks noGrp="1"/>
          </p:cNvSpPr>
          <p:nvPr>
            <p:ph idx="1"/>
          </p:nvPr>
        </p:nvSpPr>
        <p:spPr>
          <a:xfrm>
            <a:off x="320842" y="1652337"/>
            <a:ext cx="10804358" cy="4300407"/>
          </a:xfrm>
        </p:spPr>
        <p:txBody>
          <a:bodyPr>
            <a:normAutofit/>
          </a:bodyPr>
          <a:lstStyle/>
          <a:p>
            <a:r>
              <a:rPr lang="en-US" sz="2000" dirty="0"/>
              <a:t>Census “to enumerate”</a:t>
            </a:r>
          </a:p>
          <a:p>
            <a:pPr lvl="1"/>
            <a:r>
              <a:rPr lang="en-US" sz="2000" dirty="0"/>
              <a:t>Sequence of activities concerned with collection, collation and factual presentation of data pertaining to social, demographic, and health related factors in respect of a nation, undertaken periodically, and having some sort of legal provision for it to be undertaken</a:t>
            </a:r>
          </a:p>
          <a:p>
            <a:pPr lvl="1"/>
            <a:r>
              <a:rPr lang="en-US" sz="2000" dirty="0"/>
              <a:t>Size &amp; composition of a population, forces determining it, trends anticipated in future, population density, literacy rate, economic conditions, occupational characteristics &amp; indicators of mortality</a:t>
            </a:r>
          </a:p>
          <a:p>
            <a:pPr lvl="1"/>
            <a:r>
              <a:rPr lang="en-US" sz="2000" dirty="0"/>
              <a:t>Periodicity – 10 year,</a:t>
            </a:r>
          </a:p>
          <a:p>
            <a:pPr lvl="1"/>
            <a:r>
              <a:rPr lang="en-US" sz="2000" dirty="0"/>
              <a:t>Types – De facto (location at the time of enumeration), De jure (usual place of residence)</a:t>
            </a:r>
          </a:p>
        </p:txBody>
      </p:sp>
    </p:spTree>
    <p:extLst>
      <p:ext uri="{BB962C8B-B14F-4D97-AF65-F5344CB8AC3E}">
        <p14:creationId xmlns:p14="http://schemas.microsoft.com/office/powerpoint/2010/main" val="1516911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7D282-D2DB-D744-5965-AD81EE1944B0}"/>
              </a:ext>
            </a:extLst>
          </p:cNvPr>
          <p:cNvSpPr>
            <a:spLocks noGrp="1"/>
          </p:cNvSpPr>
          <p:nvPr>
            <p:ph type="title"/>
          </p:nvPr>
        </p:nvSpPr>
        <p:spPr>
          <a:xfrm>
            <a:off x="309418" y="0"/>
            <a:ext cx="10058400" cy="1371600"/>
          </a:xfrm>
        </p:spPr>
        <p:txBody>
          <a:bodyPr/>
          <a:lstStyle/>
          <a:p>
            <a:r>
              <a:rPr lang="en-US" dirty="0"/>
              <a:t>Sample surveys</a:t>
            </a:r>
          </a:p>
        </p:txBody>
      </p:sp>
      <p:sp>
        <p:nvSpPr>
          <p:cNvPr id="3" name="Content Placeholder 2">
            <a:extLst>
              <a:ext uri="{FF2B5EF4-FFF2-40B4-BE49-F238E27FC236}">
                <a16:creationId xmlns:a16="http://schemas.microsoft.com/office/drawing/2014/main" id="{47D14924-58FA-E5A4-6D58-3555AD07124D}"/>
              </a:ext>
            </a:extLst>
          </p:cNvPr>
          <p:cNvSpPr>
            <a:spLocks noGrp="1"/>
          </p:cNvSpPr>
          <p:nvPr>
            <p:ph idx="1"/>
          </p:nvPr>
        </p:nvSpPr>
        <p:spPr>
          <a:xfrm>
            <a:off x="397163" y="1025236"/>
            <a:ext cx="11416145" cy="5467927"/>
          </a:xfrm>
        </p:spPr>
        <p:txBody>
          <a:bodyPr>
            <a:normAutofit/>
          </a:bodyPr>
          <a:lstStyle/>
          <a:p>
            <a:r>
              <a:rPr lang="en-US" sz="1800" dirty="0"/>
              <a:t>Sample registration system (SRS)</a:t>
            </a:r>
          </a:p>
          <a:p>
            <a:pPr lvl="1"/>
            <a:r>
              <a:rPr lang="en-US" sz="1600" dirty="0"/>
              <a:t>8853 sample units (set of villages (4961) and urban blocks(3892))</a:t>
            </a:r>
          </a:p>
          <a:p>
            <a:pPr lvl="1"/>
            <a:r>
              <a:rPr lang="en-US" sz="1600" dirty="0"/>
              <a:t>Double recording method – part time enumerator (school-teacher / </a:t>
            </a:r>
            <a:r>
              <a:rPr lang="en-US" sz="1600" dirty="0" err="1"/>
              <a:t>anganwadi</a:t>
            </a:r>
            <a:r>
              <a:rPr lang="en-US" sz="1600" dirty="0"/>
              <a:t> worker), official from SRS dept (once 6 months)</a:t>
            </a:r>
          </a:p>
          <a:p>
            <a:pPr lvl="1"/>
            <a:r>
              <a:rPr lang="en-US" sz="1600" dirty="0"/>
              <a:t>Annual / half yearly reports – birth rate, death rate, population annual growth rate, IMR, fertility indicators</a:t>
            </a:r>
          </a:p>
          <a:p>
            <a:r>
              <a:rPr lang="en-US" sz="1800" dirty="0"/>
              <a:t>National Sample Survey (NSS)</a:t>
            </a:r>
          </a:p>
          <a:p>
            <a:pPr lvl="1"/>
            <a:r>
              <a:rPr lang="en-US" sz="1600" dirty="0"/>
              <a:t>Annual basis, - one particular aspect of social, demographic or health issue in particular survey</a:t>
            </a:r>
          </a:p>
          <a:p>
            <a:r>
              <a:rPr lang="en-US" sz="1800" dirty="0"/>
              <a:t>Reproductive health Survey (RHS) &amp; Facilities Survey (FS)</a:t>
            </a:r>
          </a:p>
          <a:p>
            <a:pPr lvl="1"/>
            <a:r>
              <a:rPr lang="en-US" sz="1600" dirty="0"/>
              <a:t>Ongoing components of RCH </a:t>
            </a:r>
          </a:p>
          <a:p>
            <a:r>
              <a:rPr lang="en-US" sz="1800" dirty="0"/>
              <a:t>National Family Health Survey (NFHS)</a:t>
            </a:r>
          </a:p>
          <a:p>
            <a:endParaRPr lang="en-US" sz="1800" dirty="0"/>
          </a:p>
          <a:p>
            <a:r>
              <a:rPr lang="en-US" sz="1800" dirty="0">
                <a:sym typeface="Wingdings" panose="05000000000000000000" pitchFamily="2" charset="2"/>
              </a:rPr>
              <a:t> valuable information for planning / evaluation of health services / programs</a:t>
            </a:r>
          </a:p>
          <a:p>
            <a:r>
              <a:rPr lang="en-US" sz="1800" dirty="0">
                <a:sym typeface="Wingdings" panose="05000000000000000000" pitchFamily="2" charset="2"/>
              </a:rPr>
              <a:t> for identifying community needs</a:t>
            </a:r>
          </a:p>
          <a:p>
            <a:r>
              <a:rPr lang="en-US" sz="1800" dirty="0">
                <a:sym typeface="Wingdings" panose="05000000000000000000" pitchFamily="2" charset="2"/>
              </a:rPr>
              <a:t> for providing information about available health manpower and other resources regarding risk factors</a:t>
            </a:r>
          </a:p>
          <a:p>
            <a:r>
              <a:rPr lang="en-US" sz="1800" dirty="0">
                <a:sym typeface="Wingdings" panose="05000000000000000000" pitchFamily="2" charset="2"/>
              </a:rPr>
              <a:t> providing statistics for public health / nutritional programs</a:t>
            </a:r>
            <a:endParaRPr lang="en-US" sz="1800" dirty="0"/>
          </a:p>
          <a:p>
            <a:endParaRPr lang="en-US" sz="1800" dirty="0"/>
          </a:p>
        </p:txBody>
      </p:sp>
    </p:spTree>
    <p:extLst>
      <p:ext uri="{BB962C8B-B14F-4D97-AF65-F5344CB8AC3E}">
        <p14:creationId xmlns:p14="http://schemas.microsoft.com/office/powerpoint/2010/main" val="2609248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AEAC-AA6E-B508-3E2A-4241CF0D7D93}"/>
              </a:ext>
            </a:extLst>
          </p:cNvPr>
          <p:cNvSpPr>
            <a:spLocks noGrp="1"/>
          </p:cNvSpPr>
          <p:nvPr>
            <p:ph type="title"/>
          </p:nvPr>
        </p:nvSpPr>
        <p:spPr>
          <a:xfrm>
            <a:off x="1066800" y="354727"/>
            <a:ext cx="10058400" cy="686673"/>
          </a:xfrm>
        </p:spPr>
        <p:txBody>
          <a:bodyPr>
            <a:normAutofit fontScale="90000"/>
          </a:bodyPr>
          <a:lstStyle/>
          <a:p>
            <a:r>
              <a:rPr lang="en-US" dirty="0"/>
              <a:t>Vital statistics and Civil registration system</a:t>
            </a:r>
          </a:p>
        </p:txBody>
      </p:sp>
      <p:sp>
        <p:nvSpPr>
          <p:cNvPr id="3" name="Content Placeholder 2">
            <a:extLst>
              <a:ext uri="{FF2B5EF4-FFF2-40B4-BE49-F238E27FC236}">
                <a16:creationId xmlns:a16="http://schemas.microsoft.com/office/drawing/2014/main" id="{C13B4E0B-787D-85F3-D163-337A63E45284}"/>
              </a:ext>
            </a:extLst>
          </p:cNvPr>
          <p:cNvSpPr>
            <a:spLocks noGrp="1"/>
          </p:cNvSpPr>
          <p:nvPr>
            <p:ph idx="1"/>
          </p:nvPr>
        </p:nvSpPr>
        <p:spPr>
          <a:xfrm>
            <a:off x="397933" y="1041399"/>
            <a:ext cx="11396134" cy="5393267"/>
          </a:xfrm>
        </p:spPr>
        <p:txBody>
          <a:bodyPr>
            <a:normAutofit/>
          </a:bodyPr>
          <a:lstStyle/>
          <a:p>
            <a:r>
              <a:rPr lang="en-US" sz="2000" dirty="0"/>
              <a:t>Birth, Death– continuous, permanent and compulsory recording  </a:t>
            </a:r>
          </a:p>
          <a:p>
            <a:r>
              <a:rPr lang="en-US" sz="2000" dirty="0"/>
              <a:t>Under Registrar general of India (Ministry of Home Affairs)</a:t>
            </a:r>
          </a:p>
          <a:p>
            <a:r>
              <a:rPr lang="en-US" sz="2000" b="1" u="sng" dirty="0"/>
              <a:t>Death Certificate</a:t>
            </a:r>
          </a:p>
          <a:p>
            <a:pPr lvl="1"/>
            <a:r>
              <a:rPr lang="en-US" sz="1800" b="1" u="sng" dirty="0"/>
              <a:t>Part I </a:t>
            </a:r>
          </a:p>
          <a:p>
            <a:pPr lvl="1"/>
            <a:r>
              <a:rPr lang="en-US" sz="1800" dirty="0"/>
              <a:t>Disease / Condition leading to death – Pulmonary embolism</a:t>
            </a:r>
          </a:p>
          <a:p>
            <a:pPr lvl="1"/>
            <a:r>
              <a:rPr lang="en-US" sz="1800" dirty="0"/>
              <a:t>Due to / as a consequence of – Pelvic Vein thrombosis</a:t>
            </a:r>
          </a:p>
          <a:p>
            <a:pPr lvl="1"/>
            <a:r>
              <a:rPr lang="en-US" sz="1800" dirty="0"/>
              <a:t>Due to / as a consequence of – Septic abortion</a:t>
            </a:r>
          </a:p>
          <a:p>
            <a:pPr lvl="1"/>
            <a:r>
              <a:rPr lang="en-US" sz="1800" b="1" u="sng" dirty="0"/>
              <a:t>Part II</a:t>
            </a:r>
          </a:p>
          <a:p>
            <a:pPr lvl="1"/>
            <a:r>
              <a:rPr lang="en-US" sz="1800" dirty="0"/>
              <a:t>Other significant conditions contributing to death but not related to the disease causing it – NIDDM</a:t>
            </a:r>
          </a:p>
          <a:p>
            <a:r>
              <a:rPr lang="en-US" sz="2000" b="1" u="sng" dirty="0"/>
              <a:t>Birth Certificate</a:t>
            </a:r>
          </a:p>
          <a:p>
            <a:pPr lvl="1"/>
            <a:r>
              <a:rPr lang="en-US" sz="1800" dirty="0"/>
              <a:t>Denominator data for IMR, MMR</a:t>
            </a:r>
          </a:p>
          <a:p>
            <a:pPr lvl="1"/>
            <a:r>
              <a:rPr lang="en-US" sz="1800" dirty="0"/>
              <a:t>Information – date, place of birth, domiciliary / institutional birth, sex of newborn, details of parent, birth attendant’s detail, type of delivery, complications, if any; age of mother, birth order</a:t>
            </a:r>
          </a:p>
        </p:txBody>
      </p:sp>
    </p:spTree>
    <p:extLst>
      <p:ext uri="{BB962C8B-B14F-4D97-AF65-F5344CB8AC3E}">
        <p14:creationId xmlns:p14="http://schemas.microsoft.com/office/powerpoint/2010/main" val="1062821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7725-066C-DD41-4FE2-E60C667A8942}"/>
              </a:ext>
            </a:extLst>
          </p:cNvPr>
          <p:cNvSpPr>
            <a:spLocks noGrp="1"/>
          </p:cNvSpPr>
          <p:nvPr>
            <p:ph type="title"/>
          </p:nvPr>
        </p:nvSpPr>
        <p:spPr/>
        <p:txBody>
          <a:bodyPr/>
          <a:lstStyle/>
          <a:p>
            <a:r>
              <a:rPr lang="en-US" dirty="0"/>
              <a:t>Disease notification and registration</a:t>
            </a:r>
          </a:p>
        </p:txBody>
      </p:sp>
      <p:sp>
        <p:nvSpPr>
          <p:cNvPr id="3" name="Content Placeholder 2">
            <a:extLst>
              <a:ext uri="{FF2B5EF4-FFF2-40B4-BE49-F238E27FC236}">
                <a16:creationId xmlns:a16="http://schemas.microsoft.com/office/drawing/2014/main" id="{21A17AB6-97D4-1201-B5BB-C5ED7AD36D6D}"/>
              </a:ext>
            </a:extLst>
          </p:cNvPr>
          <p:cNvSpPr>
            <a:spLocks noGrp="1"/>
          </p:cNvSpPr>
          <p:nvPr>
            <p:ph idx="1"/>
          </p:nvPr>
        </p:nvSpPr>
        <p:spPr/>
        <p:txBody>
          <a:bodyPr>
            <a:normAutofit/>
          </a:bodyPr>
          <a:lstStyle/>
          <a:p>
            <a:r>
              <a:rPr lang="en-US" sz="2800" dirty="0"/>
              <a:t>National and International disease notification</a:t>
            </a:r>
          </a:p>
          <a:p>
            <a:r>
              <a:rPr lang="en-US" sz="2800" dirty="0"/>
              <a:t>Disease registries</a:t>
            </a:r>
          </a:p>
          <a:p>
            <a:r>
              <a:rPr lang="en-US" sz="2800" dirty="0"/>
              <a:t>Epidemiological surveillance data</a:t>
            </a:r>
          </a:p>
          <a:p>
            <a:r>
              <a:rPr lang="en-US" sz="2800" dirty="0"/>
              <a:t>Information from specific population</a:t>
            </a:r>
          </a:p>
          <a:p>
            <a:r>
              <a:rPr lang="en-US" sz="2800" dirty="0"/>
              <a:t>Records of hospital and health services</a:t>
            </a:r>
          </a:p>
        </p:txBody>
      </p:sp>
    </p:spTree>
    <p:extLst>
      <p:ext uri="{BB962C8B-B14F-4D97-AF65-F5344CB8AC3E}">
        <p14:creationId xmlns:p14="http://schemas.microsoft.com/office/powerpoint/2010/main" val="3748728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8FD6-6FB2-F7EA-D4A0-591A0D4A8090}"/>
              </a:ext>
            </a:extLst>
          </p:cNvPr>
          <p:cNvSpPr>
            <a:spLocks noGrp="1"/>
          </p:cNvSpPr>
          <p:nvPr>
            <p:ph type="title"/>
          </p:nvPr>
        </p:nvSpPr>
        <p:spPr>
          <a:xfrm>
            <a:off x="5353249" y="1916670"/>
            <a:ext cx="5716338" cy="3042706"/>
          </a:xfrm>
        </p:spPr>
        <p:txBody>
          <a:bodyPr vert="horz" lIns="91440" tIns="45720" rIns="91440" bIns="45720" rtlCol="0" anchor="ctr">
            <a:normAutofit/>
          </a:bodyPr>
          <a:lstStyle/>
          <a:p>
            <a:pPr algn="ctr">
              <a:lnSpc>
                <a:spcPct val="83000"/>
              </a:lnSpc>
            </a:pPr>
            <a:r>
              <a:rPr lang="en-US" sz="5400" cap="all" spc="-100" dirty="0"/>
              <a:t>Thanks </a:t>
            </a:r>
          </a:p>
        </p:txBody>
      </p:sp>
      <p:pic>
        <p:nvPicPr>
          <p:cNvPr id="7" name="Graphic 6" descr="Winking Face with No Fill">
            <a:extLst>
              <a:ext uri="{FF2B5EF4-FFF2-40B4-BE49-F238E27FC236}">
                <a16:creationId xmlns:a16="http://schemas.microsoft.com/office/drawing/2014/main" id="{19AD1C87-75CD-89B1-87DC-1B3F25AC52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41170" y="1561990"/>
            <a:ext cx="3752067" cy="3752067"/>
          </a:xfrm>
          <a:prstGeom prst="rect">
            <a:avLst/>
          </a:prstGeom>
        </p:spPr>
      </p:pic>
    </p:spTree>
    <p:extLst>
      <p:ext uri="{BB962C8B-B14F-4D97-AF65-F5344CB8AC3E}">
        <p14:creationId xmlns:p14="http://schemas.microsoft.com/office/powerpoint/2010/main" val="240160321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1344</Words>
  <Application>Microsoft Office PowerPoint</Application>
  <PresentationFormat>Widescreen</PresentationFormat>
  <Paragraphs>130</Paragraphs>
  <Slides>16</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Times New Roman</vt:lpstr>
      <vt:lpstr>Wingdings</vt:lpstr>
      <vt:lpstr>Office 2013 - 2022 Theme</vt:lpstr>
      <vt:lpstr>1_Office 2013 - 2022 Theme</vt:lpstr>
      <vt:lpstr>Epidemiology</vt:lpstr>
      <vt:lpstr>Contents</vt:lpstr>
      <vt:lpstr>Epi (upon) Demos (population)  logos (scientific study)</vt:lpstr>
      <vt:lpstr>Epidemiological triad</vt:lpstr>
      <vt:lpstr>Aim</vt:lpstr>
      <vt:lpstr>Epidemiology vs clinical medicine</vt:lpstr>
      <vt:lpstr>Epidemiological Approach Asking Questions &amp; Making Comparisons</vt:lpstr>
      <vt:lpstr>Measurements in Epidemiology</vt:lpstr>
      <vt:lpstr>Tools of measurement</vt:lpstr>
      <vt:lpstr>Numerator &amp; Denominator</vt:lpstr>
      <vt:lpstr>Minimum information required by public health specialist</vt:lpstr>
      <vt:lpstr>Sources - Census</vt:lpstr>
      <vt:lpstr>Sample surveys</vt:lpstr>
      <vt:lpstr>Vital statistics and Civil registration system</vt:lpstr>
      <vt:lpstr>Disease notification and registration</vt:lpstr>
      <vt:lpstr>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Epidemiology</dc:title>
  <dc:creator>mukul maheshwari</dc:creator>
  <cp:lastModifiedBy>mukul maheshwari</cp:lastModifiedBy>
  <cp:revision>1</cp:revision>
  <dcterms:created xsi:type="dcterms:W3CDTF">2023-04-17T05:57:01Z</dcterms:created>
  <dcterms:modified xsi:type="dcterms:W3CDTF">2024-04-02T08:04:06Z</dcterms:modified>
</cp:coreProperties>
</file>