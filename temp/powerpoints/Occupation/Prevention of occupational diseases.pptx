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9E6CD4-C76F-4DD0-8688-32C4E8991D55}" v="2" dt="2023-09-19T08:20:52.5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5E9E6CD4-C76F-4DD0-8688-32C4E8991D55}"/>
    <pc:docChg chg="addSld delSld modSld">
      <pc:chgData name="mukul maheshwari" userId="12cb43e2ca5f0d2c" providerId="LiveId" clId="{5E9E6CD4-C76F-4DD0-8688-32C4E8991D55}" dt="2023-09-19T08:20:57.151" v="43" actId="47"/>
      <pc:docMkLst>
        <pc:docMk/>
      </pc:docMkLst>
      <pc:sldChg chg="del">
        <pc:chgData name="mukul maheshwari" userId="12cb43e2ca5f0d2c" providerId="LiveId" clId="{5E9E6CD4-C76F-4DD0-8688-32C4E8991D55}" dt="2023-09-19T08:20:57.151" v="43" actId="47"/>
        <pc:sldMkLst>
          <pc:docMk/>
          <pc:sldMk cId="2144053375" sldId="258"/>
        </pc:sldMkLst>
      </pc:sldChg>
      <pc:sldChg chg="add">
        <pc:chgData name="mukul maheshwari" userId="12cb43e2ca5f0d2c" providerId="LiveId" clId="{5E9E6CD4-C76F-4DD0-8688-32C4E8991D55}" dt="2023-09-19T08:20:52.538" v="42"/>
        <pc:sldMkLst>
          <pc:docMk/>
          <pc:sldMk cId="0" sldId="272"/>
        </pc:sldMkLst>
      </pc:sldChg>
      <pc:sldChg chg="modSp add del mod">
        <pc:chgData name="mukul maheshwari" userId="12cb43e2ca5f0d2c" providerId="LiveId" clId="{5E9E6CD4-C76F-4DD0-8688-32C4E8991D55}" dt="2023-09-19T08:20:49.912" v="41" actId="47"/>
        <pc:sldMkLst>
          <pc:docMk/>
          <pc:sldMk cId="1006698359" sldId="272"/>
        </pc:sldMkLst>
        <pc:spChg chg="mod">
          <ac:chgData name="mukul maheshwari" userId="12cb43e2ca5f0d2c" providerId="LiveId" clId="{5E9E6CD4-C76F-4DD0-8688-32C4E8991D55}" dt="2023-09-19T06:01:07.188" v="39" actId="20577"/>
          <ac:spMkLst>
            <pc:docMk/>
            <pc:sldMk cId="1006698359" sldId="272"/>
            <ac:spMk id="2" creationId="{281F8F2C-32E7-3232-BEAE-A3EF337A229F}"/>
          </ac:spMkLst>
        </pc:spChg>
        <pc:spChg chg="mod">
          <ac:chgData name="mukul maheshwari" userId="12cb43e2ca5f0d2c" providerId="LiveId" clId="{5E9E6CD4-C76F-4DD0-8688-32C4E8991D55}" dt="2023-09-19T06:02:32.342" v="40" actId="20577"/>
          <ac:spMkLst>
            <pc:docMk/>
            <pc:sldMk cId="1006698359" sldId="272"/>
            <ac:spMk id="3" creationId="{ED1E36B3-5B70-6D38-9589-6C05C45FE8A5}"/>
          </ac:spMkLst>
        </pc:spChg>
      </pc:sldChg>
      <pc:sldChg chg="add">
        <pc:chgData name="mukul maheshwari" userId="12cb43e2ca5f0d2c" providerId="LiveId" clId="{5E9E6CD4-C76F-4DD0-8688-32C4E8991D55}" dt="2023-09-19T08:20:52.538" v="42"/>
        <pc:sldMkLst>
          <pc:docMk/>
          <pc:sldMk cId="0" sldId="273"/>
        </pc:sldMkLst>
      </pc:sldChg>
      <pc:sldChg chg="add">
        <pc:chgData name="mukul maheshwari" userId="12cb43e2ca5f0d2c" providerId="LiveId" clId="{5E9E6CD4-C76F-4DD0-8688-32C4E8991D55}" dt="2023-09-19T08:20:52.538" v="42"/>
        <pc:sldMkLst>
          <pc:docMk/>
          <pc:sldMk cId="0" sldId="274"/>
        </pc:sldMkLst>
      </pc:sldChg>
      <pc:sldChg chg="add">
        <pc:chgData name="mukul maheshwari" userId="12cb43e2ca5f0d2c" providerId="LiveId" clId="{5E9E6CD4-C76F-4DD0-8688-32C4E8991D55}" dt="2023-09-19T08:20:52.538" v="42"/>
        <pc:sldMkLst>
          <pc:docMk/>
          <pc:sldMk cId="0" sldId="275"/>
        </pc:sldMkLst>
      </pc:sldChg>
      <pc:sldChg chg="add">
        <pc:chgData name="mukul maheshwari" userId="12cb43e2ca5f0d2c" providerId="LiveId" clId="{5E9E6CD4-C76F-4DD0-8688-32C4E8991D55}" dt="2023-09-19T08:20:52.538" v="42"/>
        <pc:sldMkLst>
          <pc:docMk/>
          <pc:sldMk cId="0" sldId="276"/>
        </pc:sldMkLst>
      </pc:sldChg>
      <pc:sldChg chg="add">
        <pc:chgData name="mukul maheshwari" userId="12cb43e2ca5f0d2c" providerId="LiveId" clId="{5E9E6CD4-C76F-4DD0-8688-32C4E8991D55}" dt="2023-09-19T08:20:52.538" v="42"/>
        <pc:sldMkLst>
          <pc:docMk/>
          <pc:sldMk cId="0" sldId="277"/>
        </pc:sldMkLst>
      </pc:sldChg>
      <pc:sldChg chg="add">
        <pc:chgData name="mukul maheshwari" userId="12cb43e2ca5f0d2c" providerId="LiveId" clId="{5E9E6CD4-C76F-4DD0-8688-32C4E8991D55}" dt="2023-09-19T08:20:52.538" v="42"/>
        <pc:sldMkLst>
          <pc:docMk/>
          <pc:sldMk cId="0" sldId="278"/>
        </pc:sldMkLst>
      </pc:sldChg>
      <pc:sldChg chg="add">
        <pc:chgData name="mukul maheshwari" userId="12cb43e2ca5f0d2c" providerId="LiveId" clId="{5E9E6CD4-C76F-4DD0-8688-32C4E8991D55}" dt="2023-09-19T08:20:52.538" v="42"/>
        <pc:sldMkLst>
          <pc:docMk/>
          <pc:sldMk cId="0" sldId="279"/>
        </pc:sldMkLst>
      </pc:sldChg>
      <pc:sldChg chg="add">
        <pc:chgData name="mukul maheshwari" userId="12cb43e2ca5f0d2c" providerId="LiveId" clId="{5E9E6CD4-C76F-4DD0-8688-32C4E8991D55}" dt="2023-09-19T08:20:52.538" v="42"/>
        <pc:sldMkLst>
          <pc:docMk/>
          <pc:sldMk cId="0" sldId="280"/>
        </pc:sldMkLst>
      </pc:sldChg>
      <pc:sldChg chg="add">
        <pc:chgData name="mukul maheshwari" userId="12cb43e2ca5f0d2c" providerId="LiveId" clId="{5E9E6CD4-C76F-4DD0-8688-32C4E8991D55}" dt="2023-09-19T08:20:52.538" v="42"/>
        <pc:sldMkLst>
          <pc:docMk/>
          <pc:sldMk cId="0" sldId="281"/>
        </pc:sldMkLst>
      </pc:sldChg>
      <pc:sldChg chg="add">
        <pc:chgData name="mukul maheshwari" userId="12cb43e2ca5f0d2c" providerId="LiveId" clId="{5E9E6CD4-C76F-4DD0-8688-32C4E8991D55}" dt="2023-09-19T08:20:52.538" v="42"/>
        <pc:sldMkLst>
          <pc:docMk/>
          <pc:sldMk cId="0" sldId="282"/>
        </pc:sldMkLst>
      </pc:sldChg>
      <pc:sldChg chg="add">
        <pc:chgData name="mukul maheshwari" userId="12cb43e2ca5f0d2c" providerId="LiveId" clId="{5E9E6CD4-C76F-4DD0-8688-32C4E8991D55}" dt="2023-09-19T08:20:52.538" v="42"/>
        <pc:sldMkLst>
          <pc:docMk/>
          <pc:sldMk cId="0" sldId="283"/>
        </pc:sldMkLst>
      </pc:sldChg>
      <pc:sldChg chg="add">
        <pc:chgData name="mukul maheshwari" userId="12cb43e2ca5f0d2c" providerId="LiveId" clId="{5E9E6CD4-C76F-4DD0-8688-32C4E8991D55}" dt="2023-09-19T08:20:52.538" v="42"/>
        <pc:sldMkLst>
          <pc:docMk/>
          <pc:sldMk cId="0" sldId="284"/>
        </pc:sldMkLst>
      </pc:sldChg>
      <pc:sldChg chg="add">
        <pc:chgData name="mukul maheshwari" userId="12cb43e2ca5f0d2c" providerId="LiveId" clId="{5E9E6CD4-C76F-4DD0-8688-32C4E8991D55}" dt="2023-09-19T08:20:52.538" v="42"/>
        <pc:sldMkLst>
          <pc:docMk/>
          <pc:sldMk cId="0" sldId="285"/>
        </pc:sldMkLst>
      </pc:sldChg>
      <pc:sldChg chg="add">
        <pc:chgData name="mukul maheshwari" userId="12cb43e2ca5f0d2c" providerId="LiveId" clId="{5E9E6CD4-C76F-4DD0-8688-32C4E8991D55}" dt="2023-09-19T08:20:52.538" v="42"/>
        <pc:sldMkLst>
          <pc:docMk/>
          <pc:sldMk cId="0" sldId="286"/>
        </pc:sldMkLst>
      </pc:sldChg>
      <pc:sldChg chg="add">
        <pc:chgData name="mukul maheshwari" userId="12cb43e2ca5f0d2c" providerId="LiveId" clId="{5E9E6CD4-C76F-4DD0-8688-32C4E8991D55}" dt="2023-09-19T08:20:52.538" v="42"/>
        <pc:sldMkLst>
          <pc:docMk/>
          <pc:sldMk cId="0" sldId="287"/>
        </pc:sldMkLst>
      </pc:sldChg>
      <pc:sldChg chg="add">
        <pc:chgData name="mukul maheshwari" userId="12cb43e2ca5f0d2c" providerId="LiveId" clId="{5E9E6CD4-C76F-4DD0-8688-32C4E8991D55}" dt="2023-09-19T08:20:52.538" v="42"/>
        <pc:sldMkLst>
          <pc:docMk/>
          <pc:sldMk cId="0" sldId="288"/>
        </pc:sldMkLst>
      </pc:sldChg>
      <pc:sldChg chg="add">
        <pc:chgData name="mukul maheshwari" userId="12cb43e2ca5f0d2c" providerId="LiveId" clId="{5E9E6CD4-C76F-4DD0-8688-32C4E8991D55}" dt="2023-09-19T08:20:52.538" v="42"/>
        <pc:sldMkLst>
          <pc:docMk/>
          <pc:sldMk cId="0" sldId="289"/>
        </pc:sldMkLst>
      </pc:sldChg>
      <pc:sldChg chg="add">
        <pc:chgData name="mukul maheshwari" userId="12cb43e2ca5f0d2c" providerId="LiveId" clId="{5E9E6CD4-C76F-4DD0-8688-32C4E8991D55}" dt="2023-09-19T08:20:52.538" v="42"/>
        <pc:sldMkLst>
          <pc:docMk/>
          <pc:sldMk cId="0" sldId="29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37D06-A6C9-1A49-E8A9-939AC8A5B2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1FEC89-BAAD-5A12-0613-984C189E21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EFEE46-20A5-0B51-5298-A8D0429F7E27}"/>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5" name="Footer Placeholder 4">
            <a:extLst>
              <a:ext uri="{FF2B5EF4-FFF2-40B4-BE49-F238E27FC236}">
                <a16:creationId xmlns:a16="http://schemas.microsoft.com/office/drawing/2014/main" id="{469E95E4-7574-B7E8-EDCE-82A8237A6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5B409-A48C-971F-3D9D-2A1153A5C7C3}"/>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1908128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1727F-32E6-29CD-1CC2-78468B48F2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754F67-A2EB-5723-273C-6A8908AC40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75FA4-1673-6EDA-26EF-EAAF17E8C2D9}"/>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5" name="Footer Placeholder 4">
            <a:extLst>
              <a:ext uri="{FF2B5EF4-FFF2-40B4-BE49-F238E27FC236}">
                <a16:creationId xmlns:a16="http://schemas.microsoft.com/office/drawing/2014/main" id="{0CAE3825-EC38-6D1D-C9E5-5462D39707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0E4809-810C-8660-0D2D-C967555E2A59}"/>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2027577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D8F07-8B7F-08BB-207F-DDB3D2E11C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4FB889-09F3-BFB2-D569-F012C684DE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6D698-B498-B1EE-A110-39003B0668F3}"/>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5" name="Footer Placeholder 4">
            <a:extLst>
              <a:ext uri="{FF2B5EF4-FFF2-40B4-BE49-F238E27FC236}">
                <a16:creationId xmlns:a16="http://schemas.microsoft.com/office/drawing/2014/main" id="{3E0886AC-81D4-C7D0-4AE7-08636CC485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2924A-D37E-970A-EF1D-2D8616F0C2DB}"/>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3073942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FE58B-0DD8-EC0C-3DF1-24FF58567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390152-65BA-B5E9-2E04-6D42741253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5433ED-907D-3D73-0615-D04B8C5D4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7E233A-A09D-1A64-8159-983976465149}"/>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6" name="Footer Placeholder 5">
            <a:extLst>
              <a:ext uri="{FF2B5EF4-FFF2-40B4-BE49-F238E27FC236}">
                <a16:creationId xmlns:a16="http://schemas.microsoft.com/office/drawing/2014/main" id="{5BFAC88D-8BFF-F0D3-1BD7-D1B32D1BAB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D026B0-1C12-6768-6BB8-2CE9E3E0FF15}"/>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92207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5A220-A2AB-DD8F-55F9-EDD8AA5B50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BDCC18-78FC-2066-F06D-2E0F2FED54E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8F28D4-3E2D-37D6-6B83-7BBB4EE06A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A33C8F-990F-D543-2BD7-D353E7B0FF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CD97E0-A359-5670-F9A0-202F2287B9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03F417-558A-BED6-B324-C138724AE2F8}"/>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8" name="Footer Placeholder 7">
            <a:extLst>
              <a:ext uri="{FF2B5EF4-FFF2-40B4-BE49-F238E27FC236}">
                <a16:creationId xmlns:a16="http://schemas.microsoft.com/office/drawing/2014/main" id="{6BBEFC07-4395-F45D-224E-52B04F464B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3341AC-46A8-F474-8E36-C2CB0A935E01}"/>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2043242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16208-32EB-249F-BC0C-53270AF601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FB858F-6D74-8385-8CEE-DA763DDECA83}"/>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4" name="Footer Placeholder 3">
            <a:extLst>
              <a:ext uri="{FF2B5EF4-FFF2-40B4-BE49-F238E27FC236}">
                <a16:creationId xmlns:a16="http://schemas.microsoft.com/office/drawing/2014/main" id="{5A9D318A-FEC3-B6CB-E48F-A1723DBA18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A837B88-9635-BE39-88B5-B07CB381FBEF}"/>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3086814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E05933-E740-B1D9-7A9F-D90F99DF9615}"/>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3" name="Footer Placeholder 2">
            <a:extLst>
              <a:ext uri="{FF2B5EF4-FFF2-40B4-BE49-F238E27FC236}">
                <a16:creationId xmlns:a16="http://schemas.microsoft.com/office/drawing/2014/main" id="{669B5A0D-A217-021C-4BF1-12C9F3ED38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C1F416-5710-9D9D-A8F3-6918DFD300B2}"/>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97411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F01C3-9B25-29F8-A62B-E234DE9C18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5FA7C4-03A6-88DF-A2F8-93C139EA0B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D18C91-E94A-D09E-A921-13F787D75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26A381-44BA-F72B-6728-A0D8175BF326}"/>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6" name="Footer Placeholder 5">
            <a:extLst>
              <a:ext uri="{FF2B5EF4-FFF2-40B4-BE49-F238E27FC236}">
                <a16:creationId xmlns:a16="http://schemas.microsoft.com/office/drawing/2014/main" id="{0987207C-3E02-3A72-ACB2-CF7B38A767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71ED25-3E46-1F3A-EE46-D3F754FCB045}"/>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3485473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17F74-8D79-2C09-2007-348BAD4316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5E4C91-7CE2-AB9E-CA4E-3B3E70E92B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E2061E-9BE2-6D16-8FCB-33C7C7536B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9B49C4-2E62-8F06-D604-DFF1BF5CD30E}"/>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6" name="Footer Placeholder 5">
            <a:extLst>
              <a:ext uri="{FF2B5EF4-FFF2-40B4-BE49-F238E27FC236}">
                <a16:creationId xmlns:a16="http://schemas.microsoft.com/office/drawing/2014/main" id="{17ED20AD-1D9E-B6CF-8DAA-6206CB3843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C6B976-0E96-0E3C-5557-7C84D0CDA0A9}"/>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2772456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D0509-078C-4E84-26A0-89F06EA898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86BA54-F849-3BC1-46EE-E1E152D9ED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E5C7BB-793B-A662-7B28-704E00E0FD02}"/>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5" name="Footer Placeholder 4">
            <a:extLst>
              <a:ext uri="{FF2B5EF4-FFF2-40B4-BE49-F238E27FC236}">
                <a16:creationId xmlns:a16="http://schemas.microsoft.com/office/drawing/2014/main" id="{C9C1E695-1DB3-6024-00E8-55502D473E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DECC0B-86B5-7826-A697-5D3C6E82184D}"/>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2994421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6B6372-2073-AFF7-910D-58B489DF10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D65B02-98B4-C23D-DA38-B152B214A2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E91366-061A-6505-6879-A86334A04E21}"/>
              </a:ext>
            </a:extLst>
          </p:cNvPr>
          <p:cNvSpPr>
            <a:spLocks noGrp="1"/>
          </p:cNvSpPr>
          <p:nvPr>
            <p:ph type="dt" sz="half" idx="10"/>
          </p:nvPr>
        </p:nvSpPr>
        <p:spPr/>
        <p:txBody>
          <a:bodyPr/>
          <a:lstStyle/>
          <a:p>
            <a:fld id="{8E18C028-AD81-41CB-A944-7E9A89BF833E}" type="datetimeFigureOut">
              <a:rPr lang="en-US" smtClean="0"/>
              <a:t>9/19/2023</a:t>
            </a:fld>
            <a:endParaRPr lang="en-US"/>
          </a:p>
        </p:txBody>
      </p:sp>
      <p:sp>
        <p:nvSpPr>
          <p:cNvPr id="5" name="Footer Placeholder 4">
            <a:extLst>
              <a:ext uri="{FF2B5EF4-FFF2-40B4-BE49-F238E27FC236}">
                <a16:creationId xmlns:a16="http://schemas.microsoft.com/office/drawing/2014/main" id="{95B8F11B-CBB1-7A3E-408B-3404477654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4BF18D-E378-B924-AD97-EC6213251819}"/>
              </a:ext>
            </a:extLst>
          </p:cNvPr>
          <p:cNvSpPr>
            <a:spLocks noGrp="1"/>
          </p:cNvSpPr>
          <p:nvPr>
            <p:ph type="sldNum" sz="quarter" idx="12"/>
          </p:nvPr>
        </p:nvSpPr>
        <p:spPr/>
        <p:txBody>
          <a:bodyPr/>
          <a:lstStyle/>
          <a:p>
            <a:fld id="{481D094E-7F32-4F87-A7CD-577B63642461}" type="slidenum">
              <a:rPr lang="en-US" smtClean="0"/>
              <a:t>‹#›</a:t>
            </a:fld>
            <a:endParaRPr lang="en-US"/>
          </a:p>
        </p:txBody>
      </p:sp>
    </p:spTree>
    <p:extLst>
      <p:ext uri="{BB962C8B-B14F-4D97-AF65-F5344CB8AC3E}">
        <p14:creationId xmlns:p14="http://schemas.microsoft.com/office/powerpoint/2010/main" val="39030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123449-9F94-771B-169A-81B3B57F60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EC0F9D-2EB0-7C29-FB27-45A28E90DF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03B86F-AA0E-1C90-09EF-E5E4F2F045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18C028-AD81-41CB-A944-7E9A89BF833E}" type="datetimeFigureOut">
              <a:rPr lang="en-US" smtClean="0"/>
              <a:t>9/19/2023</a:t>
            </a:fld>
            <a:endParaRPr lang="en-US"/>
          </a:p>
        </p:txBody>
      </p:sp>
      <p:sp>
        <p:nvSpPr>
          <p:cNvPr id="5" name="Footer Placeholder 4">
            <a:extLst>
              <a:ext uri="{FF2B5EF4-FFF2-40B4-BE49-F238E27FC236}">
                <a16:creationId xmlns:a16="http://schemas.microsoft.com/office/drawing/2014/main" id="{9AA0122E-F9DF-2A14-EB6C-57FD8A2A42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122C56-DA21-C672-76FD-56D8CCD2B1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D094E-7F32-4F87-A7CD-577B63642461}" type="slidenum">
              <a:rPr lang="en-US" smtClean="0"/>
              <a:t>‹#›</a:t>
            </a:fld>
            <a:endParaRPr lang="en-US"/>
          </a:p>
        </p:txBody>
      </p:sp>
    </p:spTree>
    <p:extLst>
      <p:ext uri="{BB962C8B-B14F-4D97-AF65-F5344CB8AC3E}">
        <p14:creationId xmlns:p14="http://schemas.microsoft.com/office/powerpoint/2010/main" val="2486282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7ADDE-32BD-6F77-CC4D-C17855985C0B}"/>
              </a:ext>
            </a:extLst>
          </p:cNvPr>
          <p:cNvSpPr>
            <a:spLocks noGrp="1"/>
          </p:cNvSpPr>
          <p:nvPr>
            <p:ph type="ctrTitle"/>
          </p:nvPr>
        </p:nvSpPr>
        <p:spPr/>
        <p:txBody>
          <a:bodyPr/>
          <a:lstStyle/>
          <a:p>
            <a:r>
              <a:rPr lang="en-US" dirty="0"/>
              <a:t>Prevention of occupational diseases</a:t>
            </a:r>
          </a:p>
        </p:txBody>
      </p:sp>
      <p:sp>
        <p:nvSpPr>
          <p:cNvPr id="3" name="Subtitle 2">
            <a:extLst>
              <a:ext uri="{FF2B5EF4-FFF2-40B4-BE49-F238E27FC236}">
                <a16:creationId xmlns:a16="http://schemas.microsoft.com/office/drawing/2014/main" id="{E84E784E-0648-8695-6FA5-8A34E5ECC4B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24799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Medical measures</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p:txBody>
          <a:bodyPr>
            <a:normAutofit lnSpcReduction="10000"/>
          </a:bodyPr>
          <a:lstStyle/>
          <a:p>
            <a:r>
              <a:rPr lang="en-US" dirty="0"/>
              <a:t>Pre placement examination</a:t>
            </a:r>
          </a:p>
          <a:p>
            <a:pPr lvl="1"/>
            <a:r>
              <a:rPr lang="en-US" dirty="0"/>
              <a:t>Lead - </a:t>
            </a:r>
            <a:r>
              <a:rPr lang="en-US" dirty="0" err="1"/>
              <a:t>Anaemia</a:t>
            </a:r>
            <a:r>
              <a:rPr lang="en-US" dirty="0"/>
              <a:t>, hypertension, nephritis, peptic ulcer</a:t>
            </a:r>
          </a:p>
          <a:p>
            <a:pPr lvl="1"/>
            <a:r>
              <a:rPr lang="en-US" dirty="0"/>
              <a:t>Dyes - Asthma; skin, bladder and kidney diseases; precancerous lesions</a:t>
            </a:r>
          </a:p>
          <a:p>
            <a:pPr lvl="1"/>
            <a:r>
              <a:rPr lang="en-US" dirty="0"/>
              <a:t>Solvents - Liver and kidney disease, dermatitis, alcoholism</a:t>
            </a:r>
          </a:p>
          <a:p>
            <a:pPr lvl="1"/>
            <a:r>
              <a:rPr lang="en-US" dirty="0"/>
              <a:t>Silica - Healed or active tuberculosis of lungs, chronic lung disease</a:t>
            </a:r>
          </a:p>
          <a:p>
            <a:pPr lvl="1"/>
            <a:r>
              <a:rPr lang="en-US" dirty="0"/>
              <a:t>Radium and X-rays - Signs of ill-health, especially any blood disease</a:t>
            </a:r>
          </a:p>
          <a:p>
            <a:r>
              <a:rPr lang="en-US" dirty="0"/>
              <a:t>Also serve as a useful bench-mark for future comparison. </a:t>
            </a:r>
          </a:p>
          <a:p>
            <a:r>
              <a:rPr lang="en-US" dirty="0"/>
              <a:t>In most countries, many workers start employment without the benefit of a pre-employment medical examination. This is particularly true of workers in small-scale industries and mines and those engaged in construction and agricultural work in the developing countries.</a:t>
            </a:r>
          </a:p>
        </p:txBody>
      </p:sp>
    </p:spTree>
    <p:extLst>
      <p:ext uri="{BB962C8B-B14F-4D97-AF65-F5344CB8AC3E}">
        <p14:creationId xmlns:p14="http://schemas.microsoft.com/office/powerpoint/2010/main" val="616172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Medical measures</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p:txBody>
          <a:bodyPr>
            <a:normAutofit fontScale="92500" lnSpcReduction="10000"/>
          </a:bodyPr>
          <a:lstStyle/>
          <a:p>
            <a:r>
              <a:rPr lang="en-US" dirty="0"/>
              <a:t>Periodic examination</a:t>
            </a:r>
          </a:p>
          <a:p>
            <a:pPr lvl="1"/>
            <a:r>
              <a:rPr lang="en-US" dirty="0"/>
              <a:t>Ordinarily workers are examined once a year.</a:t>
            </a:r>
          </a:p>
          <a:p>
            <a:pPr lvl="1"/>
            <a:r>
              <a:rPr lang="en-US" dirty="0"/>
              <a:t>In certain occupational exposures (</a:t>
            </a:r>
            <a:r>
              <a:rPr lang="en-US" dirty="0" err="1"/>
              <a:t>eg.</a:t>
            </a:r>
            <a:r>
              <a:rPr lang="en-US" dirty="0"/>
              <a:t>, lead, toxic dyes, radium) monthly examinations are indicated. Sometimes, even daily examinations may be needed such as when irritant chemicals like </a:t>
            </a:r>
            <a:r>
              <a:rPr lang="en-US" dirty="0" err="1"/>
              <a:t>dichromates</a:t>
            </a:r>
            <a:r>
              <a:rPr lang="en-US" dirty="0"/>
              <a:t> are handled. </a:t>
            </a:r>
          </a:p>
          <a:p>
            <a:pPr lvl="1"/>
            <a:r>
              <a:rPr lang="en-US" dirty="0"/>
              <a:t>Particular care should be given to workers returning from medical leave, to assess the nature and degree of any disability and to assess suitability or otherwise of returning to the same job.</a:t>
            </a:r>
          </a:p>
          <a:p>
            <a:r>
              <a:rPr lang="en-US" dirty="0"/>
              <a:t>Medical and health care services</a:t>
            </a:r>
          </a:p>
          <a:p>
            <a:pPr lvl="1"/>
            <a:r>
              <a:rPr lang="en-US" dirty="0"/>
              <a:t>Employees State Insurance Scheme provides medical care not only for the worker but also his family. </a:t>
            </a:r>
          </a:p>
          <a:p>
            <a:pPr lvl="1"/>
            <a:r>
              <a:rPr lang="en-US" dirty="0"/>
              <a:t>Within the factory, first aid services should be made available. </a:t>
            </a:r>
          </a:p>
          <a:p>
            <a:pPr lvl="1"/>
            <a:r>
              <a:rPr lang="en-US" dirty="0"/>
              <a:t>Immunization is another accepted function of an occupational health service.</a:t>
            </a:r>
          </a:p>
        </p:txBody>
      </p:sp>
    </p:spTree>
    <p:extLst>
      <p:ext uri="{BB962C8B-B14F-4D97-AF65-F5344CB8AC3E}">
        <p14:creationId xmlns:p14="http://schemas.microsoft.com/office/powerpoint/2010/main" val="839503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Medical measures</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p:txBody>
          <a:bodyPr>
            <a:normAutofit fontScale="85000" lnSpcReduction="20000"/>
          </a:bodyPr>
          <a:lstStyle/>
          <a:p>
            <a:r>
              <a:rPr lang="en-US" dirty="0"/>
              <a:t>Notification</a:t>
            </a:r>
          </a:p>
          <a:p>
            <a:pPr lvl="1"/>
            <a:r>
              <a:rPr lang="en-US" dirty="0"/>
              <a:t>National Laws and Regulations (Factories Act, 1976;Mines Act, 1952; Dock </a:t>
            </a:r>
            <a:r>
              <a:rPr lang="en-US" dirty="0" err="1"/>
              <a:t>Labourers</a:t>
            </a:r>
            <a:r>
              <a:rPr lang="en-US" dirty="0"/>
              <a:t> Act, 1948; etc.) require the notification of cases and suspected cases of occupational disease.</a:t>
            </a:r>
          </a:p>
          <a:p>
            <a:pPr lvl="1"/>
            <a:r>
              <a:rPr lang="en-US" dirty="0"/>
              <a:t>Purpose of notification in industry is to initiate measures for prevention and protection and ensuring their effective application; and to investigate the working conditions and other circumstances which have caused or suspected to have caused occupational diseases.</a:t>
            </a:r>
          </a:p>
          <a:p>
            <a:r>
              <a:rPr lang="en-US" dirty="0"/>
              <a:t>Supervision of working environment</a:t>
            </a:r>
          </a:p>
          <a:p>
            <a:pPr lvl="1"/>
            <a:r>
              <a:rPr lang="en-US" dirty="0"/>
              <a:t>The physician should pay frequent visits to the factory in order to acquaint himself with the various aspects of the working environment such as temperature, lighting, ventilation, humidity, noise, cubic space, air pollution and sanitation.</a:t>
            </a:r>
          </a:p>
          <a:p>
            <a:pPr lvl="1"/>
            <a:r>
              <a:rPr lang="en-US" dirty="0"/>
              <a:t>He should be acquainted with the raw materials, processes and products manufactured. He should also study the various aspects of occupational physiology such as occurrence of fatigue, night-work, shift-work, weight carried by the workers and render advice to the factory management on all matters connected with the health and welfare of the workers.</a:t>
            </a:r>
          </a:p>
          <a:p>
            <a:pPr lvl="1"/>
            <a:r>
              <a:rPr lang="en-US" dirty="0"/>
              <a:t>Physician should enlist the cooperation of safety engineers, industrial hygienists and psychologists.</a:t>
            </a:r>
          </a:p>
        </p:txBody>
      </p:sp>
    </p:spTree>
    <p:extLst>
      <p:ext uri="{BB962C8B-B14F-4D97-AF65-F5344CB8AC3E}">
        <p14:creationId xmlns:p14="http://schemas.microsoft.com/office/powerpoint/2010/main" val="2460936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Medical measures</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p:txBody>
          <a:bodyPr>
            <a:normAutofit fontScale="92500" lnSpcReduction="20000"/>
          </a:bodyPr>
          <a:lstStyle/>
          <a:p>
            <a:r>
              <a:rPr lang="en-US" dirty="0"/>
              <a:t>Maintenance and analysis of records</a:t>
            </a:r>
          </a:p>
          <a:p>
            <a:pPr lvl="1"/>
            <a:r>
              <a:rPr lang="en-US" dirty="0"/>
              <a:t>The worker’s health record and occupational disability record must be maintained. Their compilation and review should enable the service to watch over the health of the workers, to assess the hazards inherent in certain types of work and to devise or improve preventive measures.</a:t>
            </a:r>
          </a:p>
          <a:p>
            <a:r>
              <a:rPr lang="en-US" dirty="0"/>
              <a:t>Health education and </a:t>
            </a:r>
            <a:r>
              <a:rPr lang="en-US" dirty="0" err="1"/>
              <a:t>conselling</a:t>
            </a:r>
            <a:endParaRPr lang="en-US" dirty="0"/>
          </a:p>
          <a:p>
            <a:pPr lvl="1"/>
            <a:r>
              <a:rPr lang="en-US" dirty="0"/>
              <a:t>All the risks involved in the industry in which he is employed and the measures to be taken for personal protection should be explained to him. </a:t>
            </a:r>
          </a:p>
          <a:p>
            <a:pPr lvl="1"/>
            <a:r>
              <a:rPr lang="en-US" dirty="0"/>
              <a:t>The correct use of protective devices like masks and gloves should also be explained. Simple rules of hygiene - hand-washing, paring the nails, bodily cleanliness and cleanliness of clothes, should be impressed upon him. </a:t>
            </a:r>
          </a:p>
          <a:p>
            <a:pPr lvl="1"/>
            <a:r>
              <a:rPr lang="en-US" dirty="0"/>
              <a:t>He should be frequently reminded about the dangers in industry through the media of health education such as charts, posters and hand bills. </a:t>
            </a:r>
          </a:p>
          <a:p>
            <a:pPr lvl="1"/>
            <a:r>
              <a:rPr lang="en-US" dirty="0"/>
              <a:t>The purpose of health education is to assist the worker in his process of adjustment to the working, home and community environment.</a:t>
            </a:r>
          </a:p>
        </p:txBody>
      </p:sp>
    </p:spTree>
    <p:extLst>
      <p:ext uri="{BB962C8B-B14F-4D97-AF65-F5344CB8AC3E}">
        <p14:creationId xmlns:p14="http://schemas.microsoft.com/office/powerpoint/2010/main" val="2656687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Engineering measures</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p:txBody>
          <a:bodyPr>
            <a:normAutofit fontScale="92500" lnSpcReduction="20000"/>
          </a:bodyPr>
          <a:lstStyle/>
          <a:p>
            <a:r>
              <a:rPr lang="en-US" dirty="0"/>
              <a:t>Design of the building</a:t>
            </a:r>
          </a:p>
          <a:p>
            <a:r>
              <a:rPr lang="en-US" dirty="0"/>
              <a:t>Good House keeping</a:t>
            </a:r>
          </a:p>
          <a:p>
            <a:r>
              <a:rPr lang="en-US" dirty="0"/>
              <a:t>General ventilation</a:t>
            </a:r>
          </a:p>
          <a:p>
            <a:pPr lvl="1"/>
            <a:r>
              <a:rPr lang="en-US" dirty="0"/>
              <a:t>Every room of a factory, ventilating openings shall be provided in the proportion of 5 sq. feet for each worker employed in such room, and the openings shall be such as to admit a continued supply of fresh air.</a:t>
            </a:r>
          </a:p>
          <a:p>
            <a:pPr lvl="1"/>
            <a:r>
              <a:rPr lang="en-US" dirty="0"/>
              <a:t>The Indian Factories Act has prescribed a minimum of 500 cu. ft. of air space for each worker.</a:t>
            </a:r>
          </a:p>
          <a:p>
            <a:r>
              <a:rPr lang="en-US" dirty="0"/>
              <a:t>Mechanization</a:t>
            </a:r>
          </a:p>
          <a:p>
            <a:r>
              <a:rPr lang="en-US" dirty="0"/>
              <a:t>Substitution</a:t>
            </a:r>
          </a:p>
          <a:p>
            <a:pPr lvl="1"/>
            <a:r>
              <a:rPr lang="en-US" dirty="0"/>
              <a:t>Replacement of a harmful material by a harmless one, or one of lesser toxicity. Substitution of white phosphorus by phosphorus </a:t>
            </a:r>
            <a:r>
              <a:rPr lang="en-US" dirty="0" err="1"/>
              <a:t>sesquisulphide</a:t>
            </a:r>
            <a:r>
              <a:rPr lang="en-US" dirty="0"/>
              <a:t> in the match industry, which resulted in the elimination of necrosis of jaw (Phossy jaw)</a:t>
            </a:r>
          </a:p>
        </p:txBody>
      </p:sp>
    </p:spTree>
    <p:extLst>
      <p:ext uri="{BB962C8B-B14F-4D97-AF65-F5344CB8AC3E}">
        <p14:creationId xmlns:p14="http://schemas.microsoft.com/office/powerpoint/2010/main" val="1569662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Engineering measures</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p:txBody>
          <a:bodyPr>
            <a:normAutofit/>
          </a:bodyPr>
          <a:lstStyle/>
          <a:p>
            <a:r>
              <a:rPr lang="en-US" dirty="0"/>
              <a:t>Dusts</a:t>
            </a:r>
          </a:p>
          <a:p>
            <a:r>
              <a:rPr lang="en-US" dirty="0"/>
              <a:t>Enclosure</a:t>
            </a:r>
          </a:p>
          <a:p>
            <a:pPr lvl="1"/>
            <a:r>
              <a:rPr lang="en-US" dirty="0"/>
              <a:t>Grinding machinery can be completely enclosed. Such enclosed units are generally combined with exhaust ventilation.</a:t>
            </a:r>
          </a:p>
          <a:p>
            <a:r>
              <a:rPr lang="en-US" dirty="0"/>
              <a:t>Isolation</a:t>
            </a:r>
          </a:p>
          <a:p>
            <a:r>
              <a:rPr lang="en-US" dirty="0"/>
              <a:t>Local exhaust ventilation</a:t>
            </a:r>
          </a:p>
          <a:p>
            <a:r>
              <a:rPr lang="en-US" dirty="0"/>
              <a:t>Protective devices</a:t>
            </a:r>
          </a:p>
          <a:p>
            <a:pPr lvl="1"/>
            <a:r>
              <a:rPr lang="en-US" dirty="0"/>
              <a:t>Respirator - those which remove contaminants from air &amp; those to which fresh air is supplied</a:t>
            </a:r>
          </a:p>
        </p:txBody>
      </p:sp>
    </p:spTree>
    <p:extLst>
      <p:ext uri="{BB962C8B-B14F-4D97-AF65-F5344CB8AC3E}">
        <p14:creationId xmlns:p14="http://schemas.microsoft.com/office/powerpoint/2010/main" val="2005079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Engineering measures</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p:txBody>
          <a:bodyPr>
            <a:normAutofit/>
          </a:bodyPr>
          <a:lstStyle/>
          <a:p>
            <a:r>
              <a:rPr lang="en-US" dirty="0"/>
              <a:t>Environmental monitoring</a:t>
            </a:r>
          </a:p>
          <a:p>
            <a:r>
              <a:rPr lang="en-US" dirty="0"/>
              <a:t>Statistical monitoring</a:t>
            </a:r>
          </a:p>
          <a:p>
            <a:r>
              <a:rPr lang="en-US" dirty="0"/>
              <a:t>Research</a:t>
            </a:r>
          </a:p>
        </p:txBody>
      </p:sp>
    </p:spTree>
    <p:extLst>
      <p:ext uri="{BB962C8B-B14F-4D97-AF65-F5344CB8AC3E}">
        <p14:creationId xmlns:p14="http://schemas.microsoft.com/office/powerpoint/2010/main" val="1721331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Legislation</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p:txBody>
          <a:bodyPr>
            <a:normAutofit/>
          </a:bodyPr>
          <a:lstStyle/>
          <a:p>
            <a:r>
              <a:rPr lang="en-US" dirty="0"/>
              <a:t>The worker cannot be permitted to endanger his life and limb in an occupation, while the employer makes a fortune. </a:t>
            </a:r>
          </a:p>
          <a:p>
            <a:r>
              <a:rPr lang="en-US" dirty="0"/>
              <a:t>The most important factory laws in India today are:</a:t>
            </a:r>
          </a:p>
          <a:p>
            <a:pPr lvl="1"/>
            <a:r>
              <a:rPr lang="en-US" dirty="0"/>
              <a:t>The Factories Act, 1948</a:t>
            </a:r>
          </a:p>
          <a:p>
            <a:pPr lvl="1"/>
            <a:r>
              <a:rPr lang="en-US" dirty="0"/>
              <a:t>The Employees’ State Insurance Act, 1948</a:t>
            </a:r>
          </a:p>
          <a:p>
            <a:r>
              <a:rPr lang="en-US" dirty="0"/>
              <a:t>There are other specialized Acts adapted to the particular circumstances of the industry, e.g., the Mines Act, the Plantation Act, the Minimum Wages Act, the Maternity Benefit Act, etc. </a:t>
            </a:r>
          </a:p>
          <a:p>
            <a:r>
              <a:rPr lang="en-US" dirty="0"/>
              <a:t>All these Acts lay down certain standards to which the employer must comply to ensure health and safety to workers.</a:t>
            </a:r>
          </a:p>
        </p:txBody>
      </p:sp>
    </p:spTree>
    <p:extLst>
      <p:ext uri="{BB962C8B-B14F-4D97-AF65-F5344CB8AC3E}">
        <p14:creationId xmlns:p14="http://schemas.microsoft.com/office/powerpoint/2010/main" val="1140495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The factories act, 1948 (latest amendment - 1987</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p:txBody>
          <a:bodyPr>
            <a:normAutofit/>
          </a:bodyPr>
          <a:lstStyle/>
          <a:p>
            <a:r>
              <a:rPr lang="en-US" dirty="0"/>
              <a:t>Scope – </a:t>
            </a:r>
          </a:p>
          <a:p>
            <a:pPr lvl="1"/>
            <a:r>
              <a:rPr lang="en-US" dirty="0"/>
              <a:t>Defines factory as an establishment employing 10 or more workers where power is used, and 20 or more workers where power is not used. There is no distinction between perennial and seasonal factories. The 1976 amendment modifies the definition of the term ‘worker’ so as to include within its meaning contract </a:t>
            </a:r>
            <a:r>
              <a:rPr lang="en-US" dirty="0" err="1"/>
              <a:t>labour</a:t>
            </a:r>
            <a:r>
              <a:rPr lang="en-US" dirty="0"/>
              <a:t> employed in the manufacturing process</a:t>
            </a:r>
          </a:p>
          <a:p>
            <a:pPr lvl="1"/>
            <a:r>
              <a:rPr lang="en-US" dirty="0"/>
              <a:t>The State Governments are authorized to appoint besides the Chief Inspector of Factories as many Additional Chief Inspectors, Joint Chief Inspectors, Deputy Chief Inspectors and Inspectors as they think fit to enforce the provisions of the law.</a:t>
            </a:r>
          </a:p>
        </p:txBody>
      </p:sp>
    </p:spTree>
    <p:extLst>
      <p:ext uri="{BB962C8B-B14F-4D97-AF65-F5344CB8AC3E}">
        <p14:creationId xmlns:p14="http://schemas.microsoft.com/office/powerpoint/2010/main" val="4218827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The factories act</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a:xfrm>
            <a:off x="224589" y="1825624"/>
            <a:ext cx="11967411" cy="4831850"/>
          </a:xfrm>
        </p:spPr>
        <p:txBody>
          <a:bodyPr>
            <a:normAutofit fontScale="92500" lnSpcReduction="10000"/>
          </a:bodyPr>
          <a:lstStyle/>
          <a:p>
            <a:r>
              <a:rPr lang="en-US" dirty="0"/>
              <a:t>Health, safety and welfare (III, IV, IVA, &amp; V)</a:t>
            </a:r>
          </a:p>
          <a:p>
            <a:pPr lvl="1"/>
            <a:r>
              <a:rPr lang="en-US" dirty="0"/>
              <a:t>In addition to such matters as cleanliness, lighting and ventilation, the Act provides for the treatment of wastes and effluents so as to render them innocuous, and for their disposal, the elimination of dusts and fumes, the provision of spittoons, control of temperature, supply of cool drinking water during summer and for the employment of cleaners to keep the water closets clean. </a:t>
            </a:r>
          </a:p>
          <a:p>
            <a:pPr lvl="1"/>
            <a:r>
              <a:rPr lang="en-US" dirty="0"/>
              <a:t>A minimum of 500 </a:t>
            </a:r>
            <a:r>
              <a:rPr lang="en-US" dirty="0" err="1"/>
              <a:t>Cu.ft</a:t>
            </a:r>
            <a:r>
              <a:rPr lang="en-US" dirty="0"/>
              <a:t> of space for each worker has been prescribed (not taking into account space more than 14 feet above the ground level). For factories installed before the 1948 Act, a minimum of 350 </a:t>
            </a:r>
            <a:r>
              <a:rPr lang="en-US" dirty="0" err="1"/>
              <a:t>Cu.ft</a:t>
            </a:r>
            <a:r>
              <a:rPr lang="en-US" dirty="0"/>
              <a:t> of space has been prescribed.</a:t>
            </a:r>
          </a:p>
          <a:p>
            <a:pPr lvl="1"/>
            <a:r>
              <a:rPr lang="en-US" dirty="0"/>
              <a:t>The Act also prescribes in detail the precautions which should be taken for ensuring the safety of workers. Some of the safety provisions relate to the casing of new machinery, devices for cutting off the power, hoists and lifts, cranes and other lifting devices, protection of the eyes and precautions against dangerous fumes, explosive and inflammable material. </a:t>
            </a:r>
          </a:p>
          <a:p>
            <a:pPr lvl="1"/>
            <a:r>
              <a:rPr lang="en-US" dirty="0"/>
              <a:t>The Act provides that no worker shall be required to lift or carry loads which are likely to cause him injury.</a:t>
            </a:r>
          </a:p>
          <a:p>
            <a:pPr lvl="1"/>
            <a:r>
              <a:rPr lang="en-US" dirty="0"/>
              <a:t>The 1976 amendment (Section 40 B) provides for appointment of Safety Officers’ in every factory wherein 1000 or more workers are ordinarily employed.</a:t>
            </a:r>
          </a:p>
        </p:txBody>
      </p:sp>
    </p:spTree>
    <p:extLst>
      <p:ext uri="{BB962C8B-B14F-4D97-AF65-F5344CB8AC3E}">
        <p14:creationId xmlns:p14="http://schemas.microsoft.com/office/powerpoint/2010/main" val="167703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The factories act</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a:xfrm>
            <a:off x="224589" y="1825624"/>
            <a:ext cx="11967411" cy="4831850"/>
          </a:xfrm>
        </p:spPr>
        <p:txBody>
          <a:bodyPr>
            <a:normAutofit/>
          </a:bodyPr>
          <a:lstStyle/>
          <a:p>
            <a:r>
              <a:rPr lang="en-US" dirty="0"/>
              <a:t>Health, safety and welfare (III, IV, IVA, &amp; V)</a:t>
            </a:r>
          </a:p>
          <a:p>
            <a:pPr lvl="1"/>
            <a:r>
              <a:rPr lang="en-US" dirty="0"/>
              <a:t>The Act contains a separate Chapter (Chapter V) relating to specific welfare measures, e.g., washing facilities, facilities for storing and drying clothes, facilities for sitting, first-aid appliances, shelters, rest-rooms and lunch rooms, canteens and creches. </a:t>
            </a:r>
          </a:p>
          <a:p>
            <a:pPr lvl="1"/>
            <a:r>
              <a:rPr lang="en-US" dirty="0"/>
              <a:t>The Act specifies that wherein more than 250 workers are ordinarily employed, a canteen shall be provided. </a:t>
            </a:r>
          </a:p>
          <a:p>
            <a:pPr lvl="1"/>
            <a:r>
              <a:rPr lang="en-US" dirty="0"/>
              <a:t>The 1976 amendment provides for creches in every factory wherein more than 30 women workers are ordinarily employed. </a:t>
            </a:r>
          </a:p>
          <a:p>
            <a:pPr lvl="1"/>
            <a:r>
              <a:rPr lang="en-US" dirty="0"/>
              <a:t>In every factory, wherein 500 or more workers are ordinarily employed, there should be a Welfare Officer.</a:t>
            </a:r>
          </a:p>
        </p:txBody>
      </p:sp>
    </p:spTree>
    <p:extLst>
      <p:ext uri="{BB962C8B-B14F-4D97-AF65-F5344CB8AC3E}">
        <p14:creationId xmlns:p14="http://schemas.microsoft.com/office/powerpoint/2010/main" val="3091751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The factories act</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a:xfrm>
            <a:off x="224589" y="1825624"/>
            <a:ext cx="11967411" cy="4831850"/>
          </a:xfrm>
        </p:spPr>
        <p:txBody>
          <a:bodyPr>
            <a:normAutofit lnSpcReduction="10000"/>
          </a:bodyPr>
          <a:lstStyle/>
          <a:p>
            <a:r>
              <a:rPr lang="en-US" dirty="0"/>
              <a:t>Employment of young persons</a:t>
            </a:r>
          </a:p>
          <a:p>
            <a:pPr lvl="1"/>
            <a:r>
              <a:rPr lang="en-US" dirty="0"/>
              <a:t>The Act prohibits employment of children below the age of 14 years and declares persons between the ages 15 and 18 to be adolescents. </a:t>
            </a:r>
          </a:p>
          <a:p>
            <a:pPr lvl="1"/>
            <a:r>
              <a:rPr lang="en-US" dirty="0"/>
              <a:t>Adolescents should be duly certified by the “Certifying Surgeons” regarding their fitness for work. Adolescent employee is allowed to work only between6 A.M. &amp; 7 P.M.</a:t>
            </a:r>
          </a:p>
          <a:p>
            <a:pPr lvl="1"/>
            <a:r>
              <a:rPr lang="en-US" dirty="0"/>
              <a:t>Restrictions have been laid down on employment of women and children in certain dangerous occupations. </a:t>
            </a:r>
          </a:p>
          <a:p>
            <a:r>
              <a:rPr lang="en-US" dirty="0"/>
              <a:t>Hours of work</a:t>
            </a:r>
          </a:p>
          <a:p>
            <a:pPr lvl="1"/>
            <a:r>
              <a:rPr lang="en-US" dirty="0"/>
              <a:t>The Act has prescribed a maximum of 48 working hours per week, not exceeding 9 hours per day with rest for at least half hour after 5 hours of continuous work. </a:t>
            </a:r>
          </a:p>
          <a:p>
            <a:pPr lvl="1"/>
            <a:r>
              <a:rPr lang="en-US" dirty="0"/>
              <a:t>The 1976 amendment makes a provision to increase the spread-over period of work (including rest intervals) of an employee in a factory </a:t>
            </a:r>
            <a:r>
              <a:rPr lang="en-US" dirty="0" err="1"/>
              <a:t>upto</a:t>
            </a:r>
            <a:r>
              <a:rPr lang="en-US" dirty="0"/>
              <a:t> 12 hours from the existing 10 and half hours. </a:t>
            </a:r>
          </a:p>
          <a:p>
            <a:pPr lvl="1"/>
            <a:r>
              <a:rPr lang="en-US" dirty="0"/>
              <a:t>The total number of hours of work in a week including overtime shall not exceed 60.</a:t>
            </a:r>
          </a:p>
        </p:txBody>
      </p:sp>
    </p:spTree>
    <p:extLst>
      <p:ext uri="{BB962C8B-B14F-4D97-AF65-F5344CB8AC3E}">
        <p14:creationId xmlns:p14="http://schemas.microsoft.com/office/powerpoint/2010/main" val="160187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The factories act</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a:xfrm>
            <a:off x="224589" y="1825624"/>
            <a:ext cx="11967411" cy="4831850"/>
          </a:xfrm>
        </p:spPr>
        <p:txBody>
          <a:bodyPr>
            <a:normAutofit fontScale="92500" lnSpcReduction="10000"/>
          </a:bodyPr>
          <a:lstStyle/>
          <a:p>
            <a:r>
              <a:rPr lang="en-US" dirty="0"/>
              <a:t>Leave with wages</a:t>
            </a:r>
          </a:p>
          <a:p>
            <a:pPr lvl="1"/>
            <a:r>
              <a:rPr lang="en-US" dirty="0"/>
              <a:t>The Act lays down that besides weekly holidays, every worker will be entitled to leave with wages after 12 month’s continuous service at the following rate: </a:t>
            </a:r>
          </a:p>
          <a:p>
            <a:pPr lvl="1"/>
            <a:r>
              <a:rPr lang="en-US" dirty="0"/>
              <a:t>Adult - one day for every 20 days of work</a:t>
            </a:r>
          </a:p>
          <a:p>
            <a:pPr lvl="1"/>
            <a:r>
              <a:rPr lang="en-US" dirty="0"/>
              <a:t>Children - one day for every 15 days of work. </a:t>
            </a:r>
          </a:p>
          <a:p>
            <a:pPr lvl="1"/>
            <a:r>
              <a:rPr lang="en-US" dirty="0"/>
              <a:t>The leave can be accumulated up to 30 days in case of adults and 40 days in case of children.</a:t>
            </a:r>
          </a:p>
          <a:p>
            <a:r>
              <a:rPr lang="en-US" dirty="0"/>
              <a:t>Occupational diseases</a:t>
            </a:r>
          </a:p>
          <a:p>
            <a:pPr lvl="1"/>
            <a:r>
              <a:rPr lang="en-US" dirty="0"/>
              <a:t>Obligatory on the part of the factory management to give information regarding specified accidents which cause death, serious bodily injury or regarding occupational diseases contracted by employees. </a:t>
            </a:r>
          </a:p>
          <a:p>
            <a:pPr lvl="1"/>
            <a:r>
              <a:rPr lang="en-US" dirty="0"/>
              <a:t>The 1976 amendment includes Byssinosis, Asbestosis, occupational dermatitis and noise-induced hearing loss among the list of notifiable diseases and provides for enquiry in every case of a fatal accident.</a:t>
            </a:r>
          </a:p>
          <a:p>
            <a:pPr lvl="1"/>
            <a:r>
              <a:rPr lang="en-US" dirty="0"/>
              <a:t>Provision has also been made in the 1976 amendment for safety and occupational health surveys in factories and industries.</a:t>
            </a:r>
          </a:p>
        </p:txBody>
      </p:sp>
    </p:spTree>
    <p:extLst>
      <p:ext uri="{BB962C8B-B14F-4D97-AF65-F5344CB8AC3E}">
        <p14:creationId xmlns:p14="http://schemas.microsoft.com/office/powerpoint/2010/main" val="3412962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F8F2C-32E7-3232-BEAE-A3EF337A229F}"/>
              </a:ext>
            </a:extLst>
          </p:cNvPr>
          <p:cNvSpPr>
            <a:spLocks noGrp="1"/>
          </p:cNvSpPr>
          <p:nvPr>
            <p:ph type="title"/>
          </p:nvPr>
        </p:nvSpPr>
        <p:spPr/>
        <p:txBody>
          <a:bodyPr/>
          <a:lstStyle/>
          <a:p>
            <a:r>
              <a:rPr lang="en-US" dirty="0"/>
              <a:t>The factories act</a:t>
            </a:r>
          </a:p>
        </p:txBody>
      </p:sp>
      <p:sp>
        <p:nvSpPr>
          <p:cNvPr id="3" name="Content Placeholder 2">
            <a:extLst>
              <a:ext uri="{FF2B5EF4-FFF2-40B4-BE49-F238E27FC236}">
                <a16:creationId xmlns:a16="http://schemas.microsoft.com/office/drawing/2014/main" id="{ED1E36B3-5B70-6D38-9589-6C05C45FE8A5}"/>
              </a:ext>
            </a:extLst>
          </p:cNvPr>
          <p:cNvSpPr>
            <a:spLocks noGrp="1"/>
          </p:cNvSpPr>
          <p:nvPr>
            <p:ph idx="1"/>
          </p:nvPr>
        </p:nvSpPr>
        <p:spPr>
          <a:xfrm>
            <a:off x="224589" y="1825624"/>
            <a:ext cx="11967411" cy="4831850"/>
          </a:xfrm>
        </p:spPr>
        <p:txBody>
          <a:bodyPr>
            <a:normAutofit/>
          </a:bodyPr>
          <a:lstStyle/>
          <a:p>
            <a:r>
              <a:rPr lang="en-US" dirty="0"/>
              <a:t>Employment in hazardous processes</a:t>
            </a:r>
          </a:p>
          <a:p>
            <a:pPr lvl="1"/>
            <a:r>
              <a:rPr lang="en-US" dirty="0"/>
              <a:t>The Central Govt, has incorporated a new Chapter IV-A by the Factories (Amendment) Act, 1987, relating to hazardous processes. </a:t>
            </a:r>
          </a:p>
          <a:p>
            <a:pPr lvl="1"/>
            <a:r>
              <a:rPr lang="en-US" dirty="0"/>
              <a:t>Site Appraisal Committee consisting of Chief Inspector and other members, not more than 14 in number, for examination of service conditions of employees in a factory, involving hazardous processes, is to be constituted  for recommendations. </a:t>
            </a:r>
          </a:p>
          <a:p>
            <a:pPr lvl="1"/>
            <a:r>
              <a:rPr lang="en-US" dirty="0"/>
              <a:t>Specific responsibility of the occupier in relation to hazardous processes were also made with workers’ participation in safety management. </a:t>
            </a:r>
          </a:p>
        </p:txBody>
      </p:sp>
    </p:spTree>
    <p:extLst>
      <p:ext uri="{BB962C8B-B14F-4D97-AF65-F5344CB8AC3E}">
        <p14:creationId xmlns:p14="http://schemas.microsoft.com/office/powerpoint/2010/main" val="1198401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4555" y="1518285"/>
            <a:ext cx="10587355" cy="2387600"/>
          </a:xfrm>
        </p:spPr>
        <p:txBody>
          <a:bodyPr/>
          <a:lstStyle/>
          <a:p>
            <a:r>
              <a:rPr lang="en-US" b="1">
                <a:latin typeface="Times New Roman Bold" panose="02020603050405020304" charset="0"/>
                <a:cs typeface="Times New Roman Bold" panose="02020603050405020304" charset="0"/>
              </a:rPr>
              <a:t>The Employees State Insurance Act, 1948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745" y="260350"/>
            <a:ext cx="11563985" cy="5923280"/>
          </a:xfrm>
        </p:spPr>
        <p:txBody>
          <a:bodyPr>
            <a:normAutofit/>
          </a:bodyPr>
          <a:lstStyle/>
          <a:p>
            <a:pPr marL="0" indent="0">
              <a:buFont typeface="Wingdings" panose="05000000000000000000" charset="0"/>
            </a:pPr>
            <a:r>
              <a:rPr lang="en-US" sz="2400">
                <a:latin typeface="Times New Roman Regular" panose="02020603050405020304" charset="0"/>
                <a:cs typeface="Times New Roman Regular" panose="02020603050405020304" charset="0"/>
              </a:rPr>
              <a:t>The ES1 Act passed in 1948 (amended in 1975, 1984,1989, 2010 and 2019) is an important measure of social security and health insurance in this country. </a:t>
            </a:r>
            <a:br>
              <a:rPr lang="en-US" sz="2400">
                <a:latin typeface="Times New Roman Regular" panose="02020603050405020304" charset="0"/>
                <a:cs typeface="Times New Roman Regular" panose="02020603050405020304" charset="0"/>
              </a:rPr>
            </a:b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It provides for certain cosh and medicol benefits to industrial employees in case of sickness, maternity and employment injury.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915" y="97790"/>
            <a:ext cx="11856085" cy="6639560"/>
          </a:xfrm>
        </p:spPr>
        <p:txBody>
          <a:bodyPr>
            <a:normAutofit fontScale="90000"/>
          </a:bodyPr>
          <a:lstStyle/>
          <a:p>
            <a:r>
              <a:rPr lang="en-US" sz="2800" b="1" u="sng">
                <a:latin typeface="Times New Roman Bold" panose="02020603050405020304" charset="0"/>
                <a:cs typeface="Times New Roman Bold" panose="02020603050405020304" charset="0"/>
              </a:rPr>
              <a:t>SCOPE:-</a:t>
            </a:r>
            <a:r>
              <a:rPr lang="en-US" sz="2400">
                <a:latin typeface="Times New Roman Regular" panose="02020603050405020304" charset="0"/>
                <a:cs typeface="Times New Roman Regular" panose="02020603050405020304" charset="0"/>
              </a:rPr>
              <a:t> The Act extends to the whole of India. The ESI Act of 1948 covered all power-using factories other than seasonal factories wherein 10 or more persons were employed (excluding mines, railways and defence establishments). </a:t>
            </a:r>
            <a:br>
              <a:rPr lang="en-US" sz="2400">
                <a:latin typeface="Times New Roman Regular" panose="02020603050405020304" charset="0"/>
                <a:cs typeface="Times New Roman Regular" panose="02020603050405020304" charset="0"/>
              </a:rPr>
            </a:b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The provisions of the ESI (Amendment) Act of 1975 were extended to the following new classes of establishments :</a:t>
            </a: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a) Small factories employing 10 or more persons, whether power is used in the process of manufacturing or not.</a:t>
            </a: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b) Shops.</a:t>
            </a: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c) Hotels and restaurants.</a:t>
            </a: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d) Cinemas and theatres.</a:t>
            </a: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e) Road-motor transport establishments.</a:t>
            </a: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f) Newspaper establishments.</a:t>
            </a: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g) The scheme has been extended to private medical and educational institutions employing 20 or more persons in some states.</a:t>
            </a:r>
            <a:br>
              <a:rPr lang="en-US" sz="2400">
                <a:latin typeface="Times New Roman Regular" panose="02020603050405020304" charset="0"/>
                <a:cs typeface="Times New Roman Regular" panose="02020603050405020304" charset="0"/>
              </a:rPr>
            </a:b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sym typeface="+mn-ea"/>
              </a:rPr>
              <a:t>With effect from 1.5.2010 the Act covers all employees - manual, clerical, supervisory and technical getting upto Rs.15,000 per month. This has been further revised to Rs.21,000 per month as per notification of ES1C on 6.9.2016.</a:t>
            </a: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The provisions of the Act can be extended to any other agricultural or commercial establishment.</a:t>
            </a:r>
            <a:br>
              <a:rPr lang="en-US" sz="2400">
                <a:latin typeface="Times New Roman Regular" panose="02020603050405020304" charset="0"/>
                <a:cs typeface="Times New Roman Regular" panose="02020603050405020304" charset="0"/>
              </a:rPr>
            </a:br>
            <a:endParaRPr lang="en-US" sz="2400">
              <a:latin typeface="Times New Roman Regular" panose="02020603050405020304" charset="0"/>
              <a:cs typeface="Times New Roman Regular"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25" y="0"/>
            <a:ext cx="12056110" cy="6857365"/>
          </a:xfrm>
        </p:spPr>
        <p:txBody>
          <a:bodyPr>
            <a:normAutofit fontScale="90000"/>
          </a:bodyPr>
          <a:lstStyle/>
          <a:p>
            <a:r>
              <a:rPr lang="en-US" sz="3110" b="1" u="sng">
                <a:latin typeface="Times New Roman Bold" panose="02020603050405020304" charset="0"/>
                <a:cs typeface="Times New Roman Bold" panose="02020603050405020304" charset="0"/>
                <a:sym typeface="+mn-ea"/>
              </a:rPr>
              <a:t>ADMINISTRATION</a:t>
            </a:r>
            <a:r>
              <a:rPr lang="en-US" sz="3110">
                <a:latin typeface="Times New Roman Regular" panose="02020603050405020304" charset="0"/>
                <a:cs typeface="Times New Roman Regular" panose="02020603050405020304" charset="0"/>
                <a:sym typeface="+mn-ea"/>
              </a:rPr>
              <a:t>:- </a:t>
            </a:r>
            <a:r>
              <a:rPr lang="en-US" sz="2220">
                <a:latin typeface="Times New Roman Regular" panose="02020603050405020304" charset="0"/>
                <a:cs typeface="Times New Roman Regular" panose="02020603050405020304" charset="0"/>
                <a:sym typeface="+mn-ea"/>
              </a:rPr>
              <a:t>The administration of the ESI Scheme under the Act is entrusted to an autonomous body called the ESI Corporation. The Union Minister for Labour is the Chairman and the Secretary to Govt, of India Ministry of Labour is the Vice-Chairman of this corporation. </a:t>
            </a: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It consists of members representing Central and State Governments, employers and employees organizations, medical profession and Parliament. </a:t>
            </a:r>
            <a:br>
              <a:rPr lang="en-US" sz="2220">
                <a:latin typeface="Times New Roman Regular" panose="02020603050405020304" charset="0"/>
                <a:cs typeface="Times New Roman Regular" panose="02020603050405020304" charset="0"/>
                <a:sym typeface="+mn-ea"/>
              </a:rPr>
            </a:b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There is a Standing Committee, constituted from the members of the Corporation, which acts as an executive body for the administration of the Scheme. </a:t>
            </a: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The chief executive officer of the Corporation is the Director General who is assisted by four Principal Officers -</a:t>
            </a: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(1) Insurance Commissioner </a:t>
            </a: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(2) Medical Commissioner</a:t>
            </a: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(3) Financial Commissioner </a:t>
            </a: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(4) Actuary</a:t>
            </a:r>
            <a:br>
              <a:rPr lang="en-US" sz="2220">
                <a:latin typeface="Times New Roman Regular" panose="02020603050405020304" charset="0"/>
                <a:cs typeface="Times New Roman Regular" panose="02020603050405020304" charset="0"/>
                <a:sym typeface="+mn-ea"/>
              </a:rPr>
            </a:b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Benefit Council which is headed by the Director General of Health Services, Government of India who is assisted by the Medical Commissioner in all matters relating to medical relief. </a:t>
            </a:r>
            <a:br>
              <a:rPr lang="en-US" sz="2220">
                <a:latin typeface="Times New Roman Regular" panose="02020603050405020304" charset="0"/>
                <a:cs typeface="Times New Roman Regular" panose="02020603050405020304" charset="0"/>
                <a:sym typeface="+mn-ea"/>
              </a:rPr>
            </a:b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Besides the head office in New Delhi, the corporation has 23 regional offices and 37 sub-regional offices at J divisional office, 2 camp offices, and 559 branch offices, 185 cash offices and 422 inspection offices all over the country for the administration of the scheme as on 1.1.15.</a:t>
            </a: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925" y="109220"/>
            <a:ext cx="11821795" cy="6593205"/>
          </a:xfrm>
        </p:spPr>
        <p:txBody>
          <a:bodyPr>
            <a:normAutofit/>
          </a:bodyPr>
          <a:lstStyle/>
          <a:p>
            <a:r>
              <a:rPr lang="en-US" sz="2220">
                <a:latin typeface="Times New Roman Regular" panose="02020603050405020304" charset="0"/>
                <a:cs typeface="Times New Roman Regular" panose="02020603050405020304" charset="0"/>
                <a:sym typeface="+mn-ea"/>
              </a:rPr>
              <a:t>Given the huge number of beneficiaries - about 13 24 crores by 31.3.2020 - the corporation has set up a1 e spread network of service outlets for prompt delivery of befits in cash and kind that includes full medical care. </a:t>
            </a:r>
            <a:br>
              <a:rPr lang="en-US" sz="2220">
                <a:latin typeface="Times New Roman Regular" panose="02020603050405020304" charset="0"/>
                <a:cs typeface="Times New Roman Regular" panose="02020603050405020304" charset="0"/>
                <a:sym typeface="+mn-ea"/>
              </a:rPr>
            </a:b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Medical facilities are provided through a network of 1520 dispensaries, over 1753 panel clinics, 307 diagnostic centres, besides 159 ESI hospitals and 42 hospital annexes with over 22,600 beds. For providing super-speciality medical care the corporation has tie up arrangements with advanced medical institutions in the country, both in public and private sector. </a:t>
            </a:r>
            <a:br>
              <a:rPr lang="en-US" sz="2220">
                <a:latin typeface="Times New Roman Regular" panose="02020603050405020304" charset="0"/>
                <a:cs typeface="Times New Roman Regular" panose="02020603050405020304" charset="0"/>
                <a:sym typeface="+mn-ea"/>
              </a:rPr>
            </a:b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The medical benefit is administered with the active co-operation of state governments. </a:t>
            </a:r>
            <a:br>
              <a:rPr lang="en-US" sz="2220">
                <a:latin typeface="Times New Roman Regular" panose="02020603050405020304" charset="0"/>
                <a:cs typeface="Times New Roman Regular" panose="02020603050405020304" charset="0"/>
                <a:sym typeface="+mn-ea"/>
              </a:rPr>
            </a:b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The payment of cash benefits is made at the grass root level through as many as 559 branch offices, 185 cash offices that function under the direct control of the corporation. </a:t>
            </a:r>
            <a:br>
              <a:rPr lang="en-US" sz="2220">
                <a:latin typeface="Times New Roman Regular" panose="02020603050405020304" charset="0"/>
                <a:cs typeface="Times New Roman Regular" panose="02020603050405020304" charset="0"/>
                <a:sym typeface="+mn-ea"/>
              </a:rPr>
            </a:br>
            <a:br>
              <a:rPr lang="en-US" sz="2220">
                <a:latin typeface="Times New Roman Regular" panose="02020603050405020304" charset="0"/>
                <a:cs typeface="Times New Roman Regular" panose="02020603050405020304" charset="0"/>
                <a:sym typeface="+mn-ea"/>
              </a:rPr>
            </a:br>
            <a:r>
              <a:rPr lang="en-US" sz="2220">
                <a:latin typeface="Times New Roman Regular" panose="02020603050405020304" charset="0"/>
                <a:cs typeface="Times New Roman Regular" panose="02020603050405020304" charset="0"/>
                <a:sym typeface="+mn-ea"/>
              </a:rPr>
              <a:t>There are 406 inspection offices throughout the country to inspect factories and for checking insurability of employees and correct payment of contributions.</a:t>
            </a:r>
            <a:br>
              <a:rPr lang="en-US" sz="2220">
                <a:latin typeface="Times New Roman Regular" panose="02020603050405020304" charset="0"/>
                <a:cs typeface="Times New Roman Regular" panose="02020603050405020304" charset="0"/>
              </a:rPr>
            </a:br>
            <a:endParaRPr lang="en-US" sz="2220">
              <a:latin typeface="Times New Roman Regular" panose="02020603050405020304" charset="0"/>
              <a:cs typeface="Times New Roman Regular"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915" y="365125"/>
            <a:ext cx="11785600" cy="6220460"/>
          </a:xfrm>
        </p:spPr>
        <p:txBody>
          <a:bodyPr>
            <a:normAutofit/>
          </a:bodyPr>
          <a:lstStyle/>
          <a:p>
            <a:r>
              <a:rPr lang="en-US" sz="2800" b="1" u="sng">
                <a:latin typeface="Times New Roman Bold" panose="02020603050405020304" charset="0"/>
                <a:cs typeface="Times New Roman Bold" panose="02020603050405020304" charset="0"/>
                <a:sym typeface="+mn-ea"/>
              </a:rPr>
              <a:t>FINANCE:- </a:t>
            </a:r>
            <a:r>
              <a:rPr lang="en-US" sz="2400">
                <a:latin typeface="Times New Roman Regular" panose="02020603050405020304" charset="0"/>
                <a:cs typeface="Times New Roman Regular" panose="02020603050405020304" charset="0"/>
                <a:sym typeface="+mn-ea"/>
              </a:rPr>
              <a:t>The scheme is run by contributions by employees and employers and grants from Central and State Governments.</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The employer contributes 3.25 per cent of total wage bill; the employee contributes 0.75 per cent of wages (revised rates w.e.f. 1.7.19). Employees getting daily wages of below Rs. 176 are exempted from payment of contribution. </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The State Government’s share of expenditure on medical care is 1/8 of total cost of medical care; the ESI Corporation’s share of expenditure on medical care is 7/8 of total cost of medical care.</a:t>
            </a: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765" y="365125"/>
            <a:ext cx="11692255" cy="6256020"/>
          </a:xfrm>
        </p:spPr>
        <p:txBody>
          <a:bodyPr>
            <a:normAutofit/>
          </a:bodyPr>
          <a:lstStyle/>
          <a:p>
            <a:r>
              <a:rPr lang="en-US" sz="2800" b="1" u="sng">
                <a:latin typeface="Times New Roman Bold" panose="02020603050405020304" charset="0"/>
                <a:cs typeface="Times New Roman Bold" panose="02020603050405020304" charset="0"/>
                <a:sym typeface="+mn-ea"/>
              </a:rPr>
              <a:t>BENEFITS TO EMPLOYEES:- </a:t>
            </a:r>
            <a:r>
              <a:rPr lang="en-US" sz="2400">
                <a:latin typeface="Times New Roman Regular" panose="02020603050405020304" charset="0"/>
                <a:cs typeface="Times New Roman Regular" panose="02020603050405020304" charset="0"/>
                <a:sym typeface="+mn-ea"/>
              </a:rPr>
              <a:t>The Act has made provision for the following benefits to insured persons or, to other dependants as the case may be:</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(1) Medical benefit.</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(2) Sickness benefit.</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(3) Maternity benefit.</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(4) Disablement benefit.</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(5) Dependant’s benefit.</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(6) Funeral expenses</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(7) Rehabilitation allowance.</a:t>
            </a: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915" y="109220"/>
            <a:ext cx="11785600" cy="6593840"/>
          </a:xfrm>
        </p:spPr>
        <p:txBody>
          <a:bodyPr>
            <a:normAutofit fontScale="90000"/>
          </a:bodyPr>
          <a:lstStyle/>
          <a:p>
            <a:r>
              <a:rPr lang="en-US" sz="2800" b="1">
                <a:latin typeface="Times New Roman Bold" panose="02020603050405020304" charset="0"/>
                <a:cs typeface="Times New Roman Bold" panose="02020603050405020304" charset="0"/>
                <a:sym typeface="+mn-ea"/>
              </a:rPr>
              <a:t>1. </a:t>
            </a:r>
            <a:r>
              <a:rPr lang="en-US" sz="2800" b="1" u="sng">
                <a:latin typeface="Times New Roman Bold" panose="02020603050405020304" charset="0"/>
                <a:cs typeface="Times New Roman Bold" panose="02020603050405020304" charset="0"/>
                <a:sym typeface="+mn-ea"/>
              </a:rPr>
              <a:t>Medical benefit</a:t>
            </a:r>
            <a:r>
              <a:rPr lang="en-US" sz="2800">
                <a:latin typeface="Times New Roman Regular" panose="02020603050405020304" charset="0"/>
                <a:cs typeface="Times New Roman Regular" panose="02020603050405020304" charset="0"/>
                <a:sym typeface="+mn-ea"/>
              </a:rPr>
              <a:t>:- </a:t>
            </a:r>
            <a:r>
              <a:rPr lang="en-US" sz="2665">
                <a:latin typeface="Times New Roman Regular" panose="02020603050405020304" charset="0"/>
                <a:cs typeface="Times New Roman Regular" panose="02020603050405020304" charset="0"/>
                <a:sym typeface="+mn-ea"/>
              </a:rPr>
              <a:t>Medical benefit consists of “full medical care” including hospitalization, free of cost, to the insured persons in case of sickness, employment injury and maternity. The services comprise : </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(1) out-patient care. </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(2) supply of drugs and dressings. </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(3) specialist services in all branches of medicine.</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(4) pathological and radiological investigations.</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(5) domiciliary services</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(6) antenatal, natal and postnatal services.</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(7) immunization services.</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(8) family planning services.</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(9) emergency services.</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(10) ambulance services</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(11) health-education.</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(12) in-patient treatment. </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In complicated cases where specialized treatment is necessary, patients are sent for institutional treatment even outside their State at the expense of the ESI Corporation.</a:t>
            </a: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915" y="295910"/>
            <a:ext cx="11844020" cy="6371590"/>
          </a:xfrm>
        </p:spPr>
        <p:txBody>
          <a:bodyPr>
            <a:normAutofit/>
          </a:bodyPr>
          <a:lstStyle/>
          <a:p>
            <a:r>
              <a:rPr lang="en-US" sz="2400">
                <a:latin typeface="Times New Roman Regular" panose="02020603050405020304" charset="0"/>
                <a:cs typeface="Times New Roman Regular" panose="02020603050405020304" charset="0"/>
                <a:sym typeface="+mn-ea"/>
              </a:rPr>
              <a:t>Medical care is provided either directly through the agency of ESI hospitals and dispensaries, or indirectly through a panel of private medical practitioners (panel system) appointed as “insurance medical practitioners”.</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b="1" u="sng">
                <a:latin typeface="Times New Roman Bold" panose="02020603050405020304" charset="0"/>
                <a:cs typeface="Times New Roman Bold" panose="02020603050405020304" charset="0"/>
                <a:sym typeface="+mn-ea"/>
              </a:rPr>
              <a:t>DIRECT PATTERN:</a:t>
            </a:r>
            <a:r>
              <a:rPr lang="en-US" sz="2400">
                <a:latin typeface="Times New Roman Regular" panose="02020603050405020304" charset="0"/>
                <a:cs typeface="Times New Roman Regular" panose="02020603050405020304" charset="0"/>
                <a:sym typeface="+mn-ea"/>
              </a:rPr>
              <a:t>- </a:t>
            </a: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(1) In areas having a concentration of 1,000 or more employees* family units, service dispensaries are established with full-time medical and para-medical personnel. On an average, a doctor will attend to about 80 cases in the out-patient department per day, and makes one home visit a day. </a:t>
            </a: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(2) In areas where the employees are less than 750, part-time ESI dispensaries are established. (3) If the residential concentration of employees is scattered over a long distance, mobile dispensaries are established.</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b="1" u="sng">
                <a:latin typeface="Times New Roman Bold" panose="02020603050405020304" charset="0"/>
                <a:cs typeface="Times New Roman Bold" panose="02020603050405020304" charset="0"/>
                <a:sym typeface="+mn-ea"/>
              </a:rPr>
              <a:t>INDIRECT PATTERN:-</a:t>
            </a:r>
            <a:r>
              <a:rPr lang="en-US" sz="2400">
                <a:latin typeface="Times New Roman Regular" panose="02020603050405020304" charset="0"/>
                <a:cs typeface="Times New Roman Regular" panose="02020603050405020304" charset="0"/>
                <a:sym typeface="+mn-ea"/>
              </a:rPr>
              <a:t> This is known as “panel system”.</a:t>
            </a: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915" y="156210"/>
            <a:ext cx="11821160" cy="6523355"/>
          </a:xfrm>
        </p:spPr>
        <p:txBody>
          <a:bodyPr>
            <a:normAutofit fontScale="90000"/>
          </a:bodyPr>
          <a:lstStyle/>
          <a:p>
            <a:r>
              <a:rPr lang="en-US" sz="2665">
                <a:latin typeface="Times New Roman Regular" panose="02020603050405020304" charset="0"/>
                <a:cs typeface="Times New Roman Regular" panose="02020603050405020304" charset="0"/>
                <a:sym typeface="+mn-ea"/>
              </a:rPr>
              <a:t>Registered medical practitioners designated as Insurance Medical Practitioners are appointed to provide medical care. Medical care is also extended to families of workers where requisite arrangements could be made. A start has been made by providing “restricted medical care”, i.e., only out-patient care. Where facilities are available “expanded medical care” 1. e., full medical care short of hospitalization is given. </a:t>
            </a:r>
            <a:br>
              <a:rPr lang="en-US" sz="2665">
                <a:latin typeface="Times New Roman Regular" panose="02020603050405020304" charset="0"/>
                <a:cs typeface="Times New Roman Regular" panose="02020603050405020304" charset="0"/>
                <a:sym typeface="+mn-ea"/>
              </a:rPr>
            </a:br>
            <a:r>
              <a:rPr lang="en-US" sz="2665" b="1" u="sng">
                <a:latin typeface="Times New Roman Bold" panose="02020603050405020304" charset="0"/>
                <a:cs typeface="Times New Roman Bold" panose="02020603050405020304" charset="0"/>
                <a:sym typeface="+mn-ea"/>
              </a:rPr>
              <a:t>OTHER MEDICAL FACILITIES:- </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(1) Dentures, spectacles and hearing aids are provided free to patients who are incapacitated due to employment injury.</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(2) Artificial limbs are provided free to insured persons who lose their limbs in employment injury or otherwise.</a:t>
            </a: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(3) Special appliances such as hernia belts, walking callipers, surgical boots, spinal braces and jackets are provided as prescribed by specialists.</a:t>
            </a:r>
            <a:br>
              <a:rPr lang="en-US" sz="2665">
                <a:latin typeface="Times New Roman Regular" panose="02020603050405020304" charset="0"/>
                <a:cs typeface="Times New Roman Regular" panose="02020603050405020304" charset="0"/>
                <a:sym typeface="+mn-ea"/>
              </a:rPr>
            </a:br>
            <a:br>
              <a:rPr lang="en-US" sz="2665">
                <a:latin typeface="Times New Roman Regular" panose="02020603050405020304" charset="0"/>
                <a:cs typeface="Times New Roman Regular" panose="02020603050405020304" charset="0"/>
                <a:sym typeface="+mn-ea"/>
              </a:rPr>
            </a:br>
            <a:r>
              <a:rPr lang="en-US" sz="2665" b="1" u="sng">
                <a:latin typeface="Times New Roman Bold" panose="02020603050405020304" charset="0"/>
                <a:cs typeface="Times New Roman Bold" panose="02020603050405020304" charset="0"/>
                <a:sym typeface="+mn-ea"/>
              </a:rPr>
              <a:t>COST OF MEDICAL BENEFIT:-</a:t>
            </a:r>
            <a:r>
              <a:rPr lang="en-US" sz="2665">
                <a:latin typeface="Times New Roman Regular" panose="02020603050405020304" charset="0"/>
                <a:cs typeface="Times New Roman Regular" panose="02020603050405020304" charset="0"/>
                <a:sym typeface="+mn-ea"/>
              </a:rPr>
              <a:t> The per capita cost of medical benefit under the ESI Scheme has been steadily increasing. It was Rs. 23.79 in 1961-62, Rs. 58.91 in 1969-70, Rs. 67.53 in 1973-74, Rs. 406.78 in 1992-93 and Rs. 905 in 2001-02, and has been rising further since then. Expenditure on medical benefit was Rs. 4058 crores in 2012-13 and was 9368 crores by 2020.</a:t>
            </a: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830" y="365125"/>
            <a:ext cx="11774170" cy="6220460"/>
          </a:xfrm>
        </p:spPr>
        <p:txBody>
          <a:bodyPr>
            <a:normAutofit/>
          </a:bodyPr>
          <a:lstStyle/>
          <a:p>
            <a:r>
              <a:rPr lang="en-US" sz="2800" b="1" u="sng">
                <a:latin typeface="Times New Roman Bold" panose="02020603050405020304" charset="0"/>
                <a:cs typeface="Times New Roman Bold" panose="02020603050405020304" charset="0"/>
                <a:sym typeface="+mn-ea"/>
              </a:rPr>
              <a:t>2. Sickness benefit:-</a:t>
            </a:r>
            <a:r>
              <a:rPr lang="en-US" sz="2665" u="sng">
                <a:latin typeface="Times New Roman Regular" panose="02020603050405020304" charset="0"/>
                <a:cs typeface="Times New Roman Regular" panose="02020603050405020304" charset="0"/>
                <a:sym typeface="+mn-ea"/>
              </a:rPr>
              <a:t> </a:t>
            </a:r>
            <a:r>
              <a:rPr lang="en-US" sz="2400">
                <a:latin typeface="Times New Roman Regular" panose="02020603050405020304" charset="0"/>
                <a:cs typeface="Times New Roman Regular" panose="02020603050405020304" charset="0"/>
                <a:sym typeface="+mn-ea"/>
              </a:rPr>
              <a:t>It consists of periodical cash payment to an insured person in case of sickness, if his sickness is duly certified by an Insurance Medical Officer or Insurance Medical Practitioner. </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The benefit is payable for a maximum period of 91 days, in any continuous period of 365 days, the daily rate being about 70% of the average daily wages. A person receiving the sickness benefit is required to remain under medical treatment provided under the Act.</a:t>
            </a:r>
            <a:br>
              <a:rPr lang="en-US" sz="2400">
                <a:latin typeface="Times New Roman Regular" panose="02020603050405020304" charset="0"/>
                <a:cs typeface="Times New Roman Regular" panose="02020603050405020304" charset="0"/>
                <a:sym typeface="+mn-ea"/>
              </a:rPr>
            </a:br>
            <a:br>
              <a:rPr lang="en-US" sz="2665">
                <a:latin typeface="Times New Roman Regular" panose="02020603050405020304" charset="0"/>
                <a:cs typeface="Times New Roman Regular" panose="02020603050405020304" charset="0"/>
                <a:sym typeface="+mn-ea"/>
              </a:rPr>
            </a:br>
            <a:r>
              <a:rPr lang="en-US" sz="2800" b="1" u="sng">
                <a:latin typeface="Times New Roman Regular" panose="02020603050405020304" charset="0"/>
                <a:cs typeface="Times New Roman Regular" panose="02020603050405020304" charset="0"/>
                <a:sym typeface="+mn-ea"/>
              </a:rPr>
              <a:t>EXTENDED SICKNESS BENEFIT:-</a:t>
            </a:r>
            <a:r>
              <a:rPr lang="en-US" sz="2800">
                <a:latin typeface="Times New Roman Regular" panose="02020603050405020304" charset="0"/>
                <a:cs typeface="Times New Roman Regular" panose="02020603050405020304" charset="0"/>
                <a:sym typeface="+mn-ea"/>
              </a:rPr>
              <a:t> </a:t>
            </a:r>
            <a:r>
              <a:rPr lang="en-US" sz="2400">
                <a:latin typeface="Times New Roman Regular" panose="02020603050405020304" charset="0"/>
                <a:cs typeface="Times New Roman Regular" panose="02020603050405020304" charset="0"/>
                <a:sym typeface="+mn-ea"/>
              </a:rPr>
              <a:t>In addition to 91 days of sickness benefit, insured persons suffering from certain long-term diseases are entitled to Extended Sickness Benefit as shown below, for a maximum period of two years.</a:t>
            </a:r>
            <a:br>
              <a:rPr lang="en-US" sz="2400">
                <a:latin typeface="Times New Roman Regular" panose="02020603050405020304" charset="0"/>
                <a:cs typeface="Times New Roman Regular" panose="02020603050405020304" charset="0"/>
                <a:sym typeface="+mn-ea"/>
              </a:rPr>
            </a:br>
            <a:br>
              <a:rPr lang="en-US" sz="2400">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34 diseases for which Extended Sickness Benefit with effect from 1.1.2000 is payable, in case where the insured person has been in continuous employment for 2 years :</a:t>
            </a:r>
            <a:br>
              <a:rPr lang="en-US" sz="2665">
                <a:latin typeface="Times New Roman Regular" panose="02020603050405020304" charset="0"/>
                <a:cs typeface="Times New Roman Regular" panose="02020603050405020304" charset="0"/>
                <a:sym typeface="+mn-ea"/>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205" y="365125"/>
            <a:ext cx="11913870" cy="6371590"/>
          </a:xfrm>
        </p:spPr>
        <p:txBody>
          <a:bodyPr>
            <a:normAutofit fontScale="90000"/>
          </a:bodyPr>
          <a:lstStyle/>
          <a:p>
            <a:br>
              <a:rPr lang="en-US" sz="2665">
                <a:latin typeface="Times New Roman Regular" panose="02020603050405020304" charset="0"/>
                <a:cs typeface="Times New Roman Regular" panose="02020603050405020304" charset="0"/>
              </a:rPr>
            </a:br>
            <a:r>
              <a:rPr lang="en-US" sz="2665" b="1">
                <a:latin typeface="Times New Roman Bold" panose="02020603050405020304" charset="0"/>
                <a:cs typeface="Times New Roman Bold" panose="02020603050405020304" charset="0"/>
              </a:rPr>
              <a:t>I. Infectious Diseases</a:t>
            </a:r>
            <a:r>
              <a:rPr lang="en-US" sz="2665">
                <a:latin typeface="Times New Roman Regular" panose="02020603050405020304" charset="0"/>
                <a:cs typeface="Times New Roman Regular" panose="02020603050405020304" charset="0"/>
              </a:rPr>
              <a:t> (Tuberculosis, Leprosy, Chronic empyema, AIDS).</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665" b="1">
                <a:latin typeface="Times New Roman Bold" panose="02020603050405020304" charset="0"/>
                <a:cs typeface="Times New Roman Bold" panose="02020603050405020304" charset="0"/>
              </a:rPr>
              <a:t>II. Neoplasms</a:t>
            </a:r>
            <a:r>
              <a:rPr lang="en-US" sz="2665">
                <a:latin typeface="Times New Roman Regular" panose="02020603050405020304" charset="0"/>
                <a:cs typeface="Times New Roman Regular" panose="02020603050405020304" charset="0"/>
              </a:rPr>
              <a:t> (Malignant diseases).</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665" b="1">
                <a:latin typeface="Times New Roman Bold" panose="02020603050405020304" charset="0"/>
                <a:cs typeface="Times New Roman Bold" panose="02020603050405020304" charset="0"/>
              </a:rPr>
              <a:t>III. Endocrine</a:t>
            </a:r>
            <a:r>
              <a:rPr lang="en-US" sz="2665">
                <a:latin typeface="Times New Roman Regular" panose="02020603050405020304" charset="0"/>
                <a:cs typeface="Times New Roman Regular" panose="02020603050405020304" charset="0"/>
              </a:rPr>
              <a:t> </a:t>
            </a:r>
            <a:r>
              <a:rPr lang="en-US" sz="2665">
                <a:latin typeface="Times New Roman Regular" panose="02020603050405020304" charset="0"/>
                <a:cs typeface="Times New Roman Regular" panose="02020603050405020304" charset="0"/>
                <a:sym typeface="+mn-ea"/>
              </a:rPr>
              <a:t>(Diabetes mellitus with proliferative retinopathy/Diabetic foot/Nephropathy)</a:t>
            </a:r>
            <a:r>
              <a:rPr lang="en-US" sz="2665">
                <a:latin typeface="Times New Roman Regular" panose="02020603050405020304" charset="0"/>
                <a:cs typeface="Times New Roman Regular" panose="02020603050405020304" charset="0"/>
              </a:rPr>
              <a:t>, Nutritional and Metabolic Disorders.</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665" b="1">
                <a:latin typeface="Times New Roman Bold" panose="02020603050405020304" charset="0"/>
                <a:cs typeface="Times New Roman Bold" panose="02020603050405020304" charset="0"/>
              </a:rPr>
              <a:t>IV. Disorders of Nervous Systems</a:t>
            </a:r>
            <a:r>
              <a:rPr lang="en-US" sz="2665">
                <a:latin typeface="Times New Roman Regular" panose="02020603050405020304" charset="0"/>
                <a:cs typeface="Times New Roman Regular" panose="02020603050405020304" charset="0"/>
              </a:rPr>
              <a:t> (Monoplegia, Hemiplegia, Paraplegia, Hemiparesis, Intracranial space occupying lesion, Spinal Cord compression, Parkinson’s disease, Myasthenia Gravis/Neuromuscular dystrophy, Immature cataract with vision 6/60 or less, Detachment of retina, Glaucoma).</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665" b="1">
                <a:latin typeface="Times New Roman Bold" panose="02020603050405020304" charset="0"/>
                <a:cs typeface="Times New Roman Bold" panose="02020603050405020304" charset="0"/>
              </a:rPr>
              <a:t>V. Diseases of Cardiovascular System</a:t>
            </a:r>
            <a:r>
              <a:rPr lang="en-US" sz="2665">
                <a:latin typeface="Times New Roman Regular" panose="02020603050405020304" charset="0"/>
                <a:cs typeface="Times New Roman Regular" panose="02020603050405020304" charset="0"/>
              </a:rPr>
              <a:t> (Coronary Artery Disease, Unstable angina, Myocardial infarction with ejection less than 45%, Congestive Heart Failure - Left, Right, Cardiac valvular diseases with failure/complications, Cardiomyopathies, Heart disease with surgical intervention along with complications).</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43510" y="305435"/>
            <a:ext cx="11904980" cy="6554470"/>
          </a:xfrm>
          <a:prstGeom prst="rect">
            <a:avLst/>
          </a:prstGeom>
          <a:noFill/>
        </p:spPr>
        <p:txBody>
          <a:bodyPr wrap="square" rtlCol="0" anchor="t">
            <a:spAutoFit/>
          </a:bodyPr>
          <a:lstStyle/>
          <a:p>
            <a:r>
              <a:rPr lang="en-US" sz="2000" b="1">
                <a:latin typeface="Times New Roman Bold" panose="02020603050405020304" charset="0"/>
                <a:cs typeface="Times New Roman Bold" panose="02020603050405020304" charset="0"/>
                <a:sym typeface="+mn-ea"/>
              </a:rPr>
              <a:t>VI. Chest Diseases</a:t>
            </a:r>
            <a:r>
              <a:rPr lang="en-US" sz="2000">
                <a:latin typeface="Times New Roman Regular" panose="02020603050405020304" charset="0"/>
                <a:cs typeface="Times New Roman Regular" panose="02020603050405020304" charset="0"/>
                <a:sym typeface="+mn-ea"/>
              </a:rPr>
              <a:t> (Bronchiectasis, Interstitial Lung Disease, Chronic Obstructive Lung Diseases with congestive heart failure).</a:t>
            </a:r>
            <a:br>
              <a:rPr lang="en-US" sz="2000">
                <a:latin typeface="Times New Roman Regular" panose="02020603050405020304" charset="0"/>
                <a:cs typeface="Times New Roman Regular" panose="02020603050405020304" charset="0"/>
                <a:sym typeface="+mn-ea"/>
              </a:rPr>
            </a:br>
            <a:br>
              <a:rPr lang="en-US" sz="2000">
                <a:latin typeface="Times New Roman Regular" panose="02020603050405020304" charset="0"/>
                <a:cs typeface="Times New Roman Regular" panose="02020603050405020304" charset="0"/>
                <a:sym typeface="+mn-ea"/>
              </a:rPr>
            </a:br>
            <a:r>
              <a:rPr lang="en-US" sz="2000" b="1">
                <a:latin typeface="Times New Roman Bold" panose="02020603050405020304" charset="0"/>
                <a:cs typeface="Times New Roman Bold" panose="02020603050405020304" charset="0"/>
                <a:sym typeface="+mn-ea"/>
              </a:rPr>
              <a:t>VII. Diseases of the Digestive System</a:t>
            </a:r>
            <a:r>
              <a:rPr lang="en-US" sz="2000">
                <a:latin typeface="Times New Roman Regular" panose="02020603050405020304" charset="0"/>
                <a:cs typeface="Times New Roman Regular" panose="02020603050405020304" charset="0"/>
                <a:sym typeface="+mn-ea"/>
              </a:rPr>
              <a:t> (Cirrhosis of liver with ascities/chronic active hepatitis).</a:t>
            </a:r>
            <a:br>
              <a:rPr lang="en-US" sz="2000">
                <a:latin typeface="Times New Roman Regular" panose="02020603050405020304" charset="0"/>
                <a:cs typeface="Times New Roman Regular" panose="02020603050405020304" charset="0"/>
                <a:sym typeface="+mn-ea"/>
              </a:rPr>
            </a:br>
            <a:br>
              <a:rPr lang="en-US" sz="2000">
                <a:latin typeface="Times New Roman Regular" panose="02020603050405020304" charset="0"/>
                <a:cs typeface="Times New Roman Regular" panose="02020603050405020304" charset="0"/>
                <a:sym typeface="+mn-ea"/>
              </a:rPr>
            </a:br>
            <a:r>
              <a:rPr lang="en-US" sz="2000" b="1">
                <a:latin typeface="Times New Roman Bold" panose="02020603050405020304" charset="0"/>
                <a:cs typeface="Times New Roman Bold" panose="02020603050405020304" charset="0"/>
                <a:sym typeface="+mn-ea"/>
              </a:rPr>
              <a:t>VIII. Orthopaedic Diseases</a:t>
            </a:r>
            <a:r>
              <a:rPr lang="en-US" sz="2000">
                <a:latin typeface="Times New Roman Regular" panose="02020603050405020304" charset="0"/>
                <a:cs typeface="Times New Roman Regular" panose="02020603050405020304" charset="0"/>
                <a:sym typeface="+mn-ea"/>
              </a:rPr>
              <a:t> (Dislocation of vertebra/prolapse of intervertebral disc, Non union or delayed union of fracture, Post Traumatic Surgical amputation of lower extremity, Compound fracture with chronic osteomyelitis).</a:t>
            </a:r>
            <a:br>
              <a:rPr lang="en-US" sz="2000">
                <a:latin typeface="Times New Roman Regular" panose="02020603050405020304" charset="0"/>
                <a:cs typeface="Times New Roman Regular" panose="02020603050405020304" charset="0"/>
                <a:sym typeface="+mn-ea"/>
              </a:rPr>
            </a:br>
            <a:br>
              <a:rPr lang="en-US" sz="2000">
                <a:latin typeface="Times New Roman Regular" panose="02020603050405020304" charset="0"/>
                <a:cs typeface="Times New Roman Regular" panose="02020603050405020304" charset="0"/>
                <a:sym typeface="+mn-ea"/>
              </a:rPr>
            </a:br>
            <a:r>
              <a:rPr lang="en-US" sz="2000" b="1">
                <a:latin typeface="Times New Roman Bold" panose="02020603050405020304" charset="0"/>
                <a:cs typeface="Times New Roman Bold" panose="02020603050405020304" charset="0"/>
                <a:sym typeface="+mn-ea"/>
              </a:rPr>
              <a:t>IX. Psychosis</a:t>
            </a:r>
            <a:r>
              <a:rPr lang="en-US" sz="2000">
                <a:latin typeface="Times New Roman Regular" panose="02020603050405020304" charset="0"/>
                <a:cs typeface="Times New Roman Regular" panose="02020603050405020304" charset="0"/>
                <a:sym typeface="+mn-ea"/>
              </a:rPr>
              <a:t> (Schizophrenia, Endogenous depression, Manic Depressive Psychosis, Dementia).</a:t>
            </a:r>
            <a:br>
              <a:rPr lang="en-US" sz="2000">
                <a:latin typeface="Times New Roman Regular" panose="02020603050405020304" charset="0"/>
                <a:cs typeface="Times New Roman Regular" panose="02020603050405020304" charset="0"/>
                <a:sym typeface="+mn-ea"/>
              </a:rPr>
            </a:br>
            <a:br>
              <a:rPr lang="en-US" sz="2000">
                <a:latin typeface="Times New Roman Regular" panose="02020603050405020304" charset="0"/>
                <a:cs typeface="Times New Roman Regular" panose="02020603050405020304" charset="0"/>
                <a:sym typeface="+mn-ea"/>
              </a:rPr>
            </a:br>
            <a:r>
              <a:rPr lang="en-US" sz="2000" b="1">
                <a:latin typeface="Times New Roman Bold" panose="02020603050405020304" charset="0"/>
                <a:cs typeface="Times New Roman Bold" panose="02020603050405020304" charset="0"/>
                <a:sym typeface="+mn-ea"/>
              </a:rPr>
              <a:t>X. Other</a:t>
            </a:r>
            <a:r>
              <a:rPr lang="en-US" sz="2000">
                <a:latin typeface="Times New Roman Regular" panose="02020603050405020304" charset="0"/>
                <a:cs typeface="Times New Roman Regular" panose="02020603050405020304" charset="0"/>
                <a:sym typeface="+mn-ea"/>
              </a:rPr>
              <a:t> such as More than 20% burns with infection/complication, Chronic renal failure, Reynaud's disease/Burger's disease.</a:t>
            </a:r>
            <a:br>
              <a:rPr lang="en-US" sz="2000">
                <a:latin typeface="Times New Roman Regular" panose="02020603050405020304" charset="0"/>
                <a:cs typeface="Times New Roman Regular" panose="02020603050405020304" charset="0"/>
                <a:sym typeface="+mn-ea"/>
              </a:rPr>
            </a:br>
            <a:br>
              <a:rPr lang="en-US" sz="2000">
                <a:latin typeface="Times New Roman Regular" panose="02020603050405020304" charset="0"/>
                <a:cs typeface="Times New Roman Regular" panose="02020603050405020304" charset="0"/>
                <a:sym typeface="+mn-ea"/>
              </a:rPr>
            </a:br>
            <a:r>
              <a:rPr lang="en-US" sz="2000">
                <a:latin typeface="Times New Roman Regular" panose="02020603050405020304" charset="0"/>
                <a:cs typeface="Times New Roman Regular" panose="02020603050405020304" charset="0"/>
                <a:sym typeface="+mn-ea"/>
              </a:rPr>
              <a:t>The insured person is protected from dismissal or discharge from service by the employer during the period of sickness. </a:t>
            </a:r>
            <a:br>
              <a:rPr lang="en-US" sz="2000">
                <a:latin typeface="Times New Roman Regular" panose="02020603050405020304" charset="0"/>
                <a:cs typeface="Times New Roman Regular" panose="02020603050405020304" charset="0"/>
                <a:sym typeface="+mn-ea"/>
              </a:rPr>
            </a:br>
            <a:br>
              <a:rPr lang="en-US" sz="2000">
                <a:latin typeface="Times New Roman Regular" panose="02020603050405020304" charset="0"/>
                <a:cs typeface="Times New Roman Regular" panose="02020603050405020304" charset="0"/>
                <a:sym typeface="+mn-ea"/>
              </a:rPr>
            </a:br>
            <a:r>
              <a:rPr lang="en-US" sz="2000">
                <a:latin typeface="Times New Roman Regular" panose="02020603050405020304" charset="0"/>
                <a:cs typeface="Times New Roman Regular" panose="02020603050405020304" charset="0"/>
                <a:sym typeface="+mn-ea"/>
              </a:rPr>
              <a:t>Cash benefit is also payable to insured persons in the productive age group for undergoing sterilisation operation, viz. vasectomy/ tubectomy. - Enhanced sickness benefit is payable to insured women for 14 days for tubectomy and for 7 days in case of vasectomy in respect of male IPs. - The amount payable is double the standard sickness benefit rate, that is, equal to full wages.</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680" y="365125"/>
            <a:ext cx="11668760" cy="5953760"/>
          </a:xfrm>
        </p:spPr>
        <p:txBody>
          <a:bodyPr>
            <a:normAutofit/>
          </a:bodyPr>
          <a:lstStyle/>
          <a:p>
            <a:r>
              <a:rPr lang="en-US" sz="2800" b="1" u="sng">
                <a:latin typeface="Times New Roman Bold" panose="02020603050405020304" charset="0"/>
                <a:cs typeface="Times New Roman Bold" panose="02020603050405020304" charset="0"/>
              </a:rPr>
              <a:t>3. Maternity benefit:-</a:t>
            </a:r>
            <a:r>
              <a:rPr lang="en-US" sz="3110" b="1">
                <a:latin typeface="Times New Roman Bold" panose="02020603050405020304" charset="0"/>
                <a:cs typeface="Times New Roman Bold" panose="02020603050405020304" charset="0"/>
              </a:rPr>
              <a:t>  </a:t>
            </a:r>
            <a:r>
              <a:rPr lang="en-US" sz="2400">
                <a:latin typeface="Times New Roman Regular" panose="02020603050405020304" charset="0"/>
                <a:cs typeface="Times New Roman Regular" panose="02020603050405020304" charset="0"/>
              </a:rPr>
              <a:t>The benefit is payable in cash to an insured woman for confinement/miscarriage or sickness arising out of pregnancy/confinement or premature birth of child or miscarriage. </a:t>
            </a:r>
            <a:br>
              <a:rPr lang="en-US" sz="2400">
                <a:latin typeface="Times New Roman Regular" panose="02020603050405020304" charset="0"/>
                <a:cs typeface="Times New Roman Regular" panose="02020603050405020304" charset="0"/>
              </a:rPr>
            </a:b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For confinement, the duration of benefit is 26 weeks, for miscarriage 6 weeks and for sickness arising out of confinement etc. 30 days. </a:t>
            </a:r>
            <a:br>
              <a:rPr lang="en-US" sz="2400">
                <a:latin typeface="Times New Roman Regular" panose="02020603050405020304" charset="0"/>
                <a:cs typeface="Times New Roman Regular" panose="02020603050405020304" charset="0"/>
              </a:rPr>
            </a:b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The benefit is allowed at about full wages. </a:t>
            </a:r>
            <a:br>
              <a:rPr lang="en-US" sz="2400">
                <a:latin typeface="Times New Roman Regular" panose="02020603050405020304" charset="0"/>
                <a:cs typeface="Times New Roman Regular" panose="02020603050405020304" charset="0"/>
              </a:rPr>
            </a:b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The rate of confinement expenses has been increased from Rs. 5,000 to Rs. 7,500 per confinement.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420" y="365125"/>
            <a:ext cx="11762740" cy="6279515"/>
          </a:xfrm>
        </p:spPr>
        <p:txBody>
          <a:bodyPr>
            <a:normAutofit/>
          </a:bodyPr>
          <a:lstStyle/>
          <a:p>
            <a:r>
              <a:rPr lang="en-US" sz="2800" b="1">
                <a:latin typeface="Times New Roman Regular" panose="02020603050405020304" charset="0"/>
                <a:cs typeface="Times New Roman Regular" panose="02020603050405020304" charset="0"/>
              </a:rPr>
              <a:t>4. </a:t>
            </a:r>
            <a:r>
              <a:rPr lang="en-US" sz="2800" b="1" u="sng">
                <a:latin typeface="Times New Roman Regular" panose="02020603050405020304" charset="0"/>
                <a:cs typeface="Times New Roman Regular" panose="02020603050405020304" charset="0"/>
              </a:rPr>
              <a:t>Disablement benefit</a:t>
            </a:r>
            <a:r>
              <a:rPr lang="en-US" sz="2800" b="1">
                <a:latin typeface="Times New Roman Regular" panose="02020603050405020304" charset="0"/>
                <a:cs typeface="Times New Roman Regular" panose="02020603050405020304" charset="0"/>
              </a:rPr>
              <a:t>:-</a:t>
            </a:r>
            <a:r>
              <a:rPr lang="en-US" sz="2400" b="1">
                <a:latin typeface="Times New Roman Regular" panose="02020603050405020304" charset="0"/>
                <a:cs typeface="Times New Roman Regular" panose="02020603050405020304" charset="0"/>
              </a:rPr>
              <a:t> </a:t>
            </a:r>
            <a:r>
              <a:rPr lang="en-US" sz="2400">
                <a:latin typeface="Times New Roman Regular" panose="02020603050405020304" charset="0"/>
                <a:cs typeface="Times New Roman Regular" panose="02020603050405020304" charset="0"/>
              </a:rPr>
              <a:t>The Act provides for cash payment, besides free medical treatment, in the event of temporary or permanent disablement as a result of employment injury as well as occupational diseases. </a:t>
            </a:r>
            <a:br>
              <a:rPr lang="en-US" sz="2400">
                <a:latin typeface="Times New Roman Regular" panose="02020603050405020304" charset="0"/>
                <a:cs typeface="Times New Roman Regular" panose="02020603050405020304" charset="0"/>
              </a:rPr>
            </a:b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The rate of temporary disablement benefit is about 90 per cent of the wages as long as the temporary disablement lasts. In case of total permanent disablement, the insured person is given life pension worked out on the basis of loss of earning capacity determined by a medical board, while in cases of partial permanent disablement a portion of it is granted as life pension.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 y="295275"/>
            <a:ext cx="11737975" cy="6278880"/>
          </a:xfrm>
        </p:spPr>
        <p:txBody>
          <a:bodyPr>
            <a:normAutofit/>
          </a:bodyPr>
          <a:lstStyle/>
          <a:p>
            <a:r>
              <a:rPr lang="en-US" sz="2800" b="1">
                <a:latin typeface="Times New Roman Bold" panose="02020603050405020304" charset="0"/>
                <a:cs typeface="Times New Roman Bold" panose="02020603050405020304" charset="0"/>
              </a:rPr>
              <a:t>5. </a:t>
            </a:r>
            <a:r>
              <a:rPr lang="en-US" sz="2800" b="1" u="sng">
                <a:latin typeface="Times New Roman Bold" panose="02020603050405020304" charset="0"/>
                <a:cs typeface="Times New Roman Bold" panose="02020603050405020304" charset="0"/>
              </a:rPr>
              <a:t>Dependant’s benefit</a:t>
            </a:r>
            <a:r>
              <a:rPr lang="en-US" sz="2800" b="1">
                <a:latin typeface="Times New Roman Bold" panose="02020603050405020304" charset="0"/>
                <a:cs typeface="Times New Roman Bold" panose="02020603050405020304" charset="0"/>
              </a:rPr>
              <a:t>:- </a:t>
            </a:r>
            <a:r>
              <a:rPr lang="en-US" sz="2665">
                <a:latin typeface="Times New Roman Regular" panose="02020603050405020304" charset="0"/>
                <a:cs typeface="Times New Roman Regular" panose="02020603050405020304" charset="0"/>
              </a:rPr>
              <a:t>In case of death, as a result of employment injury, the dependants of an insured person are eligible for periodical payments. </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665">
                <a:latin typeface="Times New Roman Regular" panose="02020603050405020304" charset="0"/>
                <a:cs typeface="Times New Roman Regular" panose="02020603050405020304" charset="0"/>
              </a:rPr>
              <a:t>Pension at the rate of 90 per cent of the wages is payable, shared by dependants in a fixed ratio, on monthly basis in accordance with the prescribed share. </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665">
                <a:latin typeface="Times New Roman Regular" panose="02020603050405020304" charset="0"/>
                <a:cs typeface="Times New Roman Regular" panose="02020603050405020304" charset="0"/>
              </a:rPr>
              <a:t>An eligible son or daughter is entitled to dependant’s benefit up to the age of 18; the benefit is withdrawn if the daughter marries earlier.</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800" b="1">
                <a:latin typeface="Times New Roman Bold" panose="02020603050405020304" charset="0"/>
                <a:cs typeface="Times New Roman Bold" panose="02020603050405020304" charset="0"/>
                <a:sym typeface="+mn-ea"/>
              </a:rPr>
              <a:t>6. </a:t>
            </a:r>
            <a:r>
              <a:rPr lang="en-US" sz="2800" b="1" u="sng">
                <a:latin typeface="Times New Roman Bold" panose="02020603050405020304" charset="0"/>
                <a:cs typeface="Times New Roman Bold" panose="02020603050405020304" charset="0"/>
                <a:sym typeface="+mn-ea"/>
              </a:rPr>
              <a:t>Funeral expenses</a:t>
            </a:r>
            <a:r>
              <a:rPr lang="en-US" sz="2800" b="1">
                <a:latin typeface="Times New Roman Bold" panose="02020603050405020304" charset="0"/>
                <a:cs typeface="Times New Roman Bold" panose="02020603050405020304" charset="0"/>
                <a:sym typeface="+mn-ea"/>
              </a:rPr>
              <a:t>:- </a:t>
            </a:r>
            <a:r>
              <a:rPr lang="en-US" sz="2665">
                <a:latin typeface="Times New Roman Regular" panose="02020603050405020304" charset="0"/>
                <a:cs typeface="Times New Roman Regular" panose="02020603050405020304" charset="0"/>
                <a:sym typeface="+mn-ea"/>
              </a:rPr>
              <a:t>Funeral benefit is a cash payment payable on the death of an insured person towards the expenses on his funeral, the amount not exceeding Rs. 15,000/-.</a:t>
            </a: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635" y="179070"/>
            <a:ext cx="11960225" cy="6417945"/>
          </a:xfrm>
        </p:spPr>
        <p:txBody>
          <a:bodyPr>
            <a:normAutofit/>
          </a:bodyPr>
          <a:lstStyle/>
          <a:p>
            <a:pPr algn="l"/>
            <a:r>
              <a:rPr lang="en-US" sz="3110" b="1">
                <a:latin typeface="Times New Roman Bold" panose="02020603050405020304" charset="0"/>
                <a:cs typeface="Times New Roman Bold" panose="02020603050405020304" charset="0"/>
              </a:rPr>
              <a:t>7. </a:t>
            </a:r>
            <a:r>
              <a:rPr lang="en-US" sz="3110" b="1" u="sng">
                <a:latin typeface="Times New Roman Bold" panose="02020603050405020304" charset="0"/>
                <a:cs typeface="Times New Roman Bold" panose="02020603050405020304" charset="0"/>
              </a:rPr>
              <a:t>Rehabilitation</a:t>
            </a:r>
            <a:r>
              <a:rPr lang="en-US" sz="3110" b="1">
                <a:latin typeface="Times New Roman Bold" panose="02020603050405020304" charset="0"/>
                <a:cs typeface="Times New Roman Bold" panose="02020603050405020304" charset="0"/>
              </a:rPr>
              <a:t>:- </a:t>
            </a:r>
            <a:r>
              <a:rPr lang="en-US" sz="2400">
                <a:latin typeface="Times New Roman Regular" panose="02020603050405020304" charset="0"/>
                <a:cs typeface="Times New Roman Regular" panose="02020603050405020304" charset="0"/>
              </a:rPr>
              <a:t>On monthly payment of Rs 10, the insured person and his family members continue to get medical treatment after permanent disablement, or retirement.</a:t>
            </a:r>
            <a:br>
              <a:rPr lang="en-US" sz="2400">
                <a:latin typeface="Times New Roman Regular" panose="02020603050405020304" charset="0"/>
                <a:cs typeface="Times New Roman Regular" panose="02020603050405020304" charset="0"/>
              </a:rPr>
            </a:br>
            <a:br>
              <a:rPr lang="en-US" sz="2400">
                <a:latin typeface="Times New Roman Regular" panose="02020603050405020304" charset="0"/>
                <a:cs typeface="Times New Roman Regular" panose="02020603050405020304" charset="0"/>
              </a:rPr>
            </a:br>
            <a:r>
              <a:rPr lang="en-US" sz="2400">
                <a:latin typeface="Times New Roman Regular" panose="02020603050405020304" charset="0"/>
                <a:cs typeface="Times New Roman Regular" panose="02020603050405020304" charset="0"/>
              </a:rPr>
              <a:t>The ESI Scheme has been implemented in 34 States/Union territories. The Scheme, by 31.03.2020, covered 309 lakh employees; including 62.6 lakhs women, and the total number of beneficiaries were around 1324 lakhs.</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3110" b="1">
                <a:latin typeface="Times New Roman Bold" panose="02020603050405020304" charset="0"/>
                <a:cs typeface="Times New Roman Bold" panose="02020603050405020304" charset="0"/>
                <a:sym typeface="+mn-ea"/>
              </a:rPr>
              <a:t>Benefits to employers:-</a:t>
            </a:r>
            <a:br>
              <a:rPr lang="en-US" sz="2665">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(1) Exemption from the applicability of Workmen’s Compensation Act 1923.</a:t>
            </a: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(2) Exemption from Maternity Benefit Act 1961</a:t>
            </a: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(3) Exemption from payment of Medical allowance to employees and their     dependants or arranging for their medical care.</a:t>
            </a: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(4) Rebate under the Income Tax Act on contribution deposited in the ESI Account</a:t>
            </a:r>
            <a:br>
              <a:rPr lang="en-US" sz="2400">
                <a:latin typeface="Times New Roman Regular" panose="02020603050405020304" charset="0"/>
                <a:cs typeface="Times New Roman Regular" panose="02020603050405020304" charset="0"/>
                <a:sym typeface="+mn-ea"/>
              </a:rPr>
            </a:br>
            <a:r>
              <a:rPr lang="en-US" sz="2400">
                <a:latin typeface="Times New Roman Regular" panose="02020603050405020304" charset="0"/>
                <a:cs typeface="Times New Roman Regular" panose="02020603050405020304" charset="0"/>
                <a:sym typeface="+mn-ea"/>
              </a:rPr>
              <a:t>(5) Healthy work-force.</a:t>
            </a: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435" y="213360"/>
            <a:ext cx="11793220" cy="6435090"/>
          </a:xfrm>
        </p:spPr>
        <p:txBody>
          <a:bodyPr>
            <a:normAutofit/>
          </a:bodyPr>
          <a:lstStyle/>
          <a:p>
            <a:pPr algn="l"/>
            <a:r>
              <a:rPr lang="en-US" sz="3110" b="1" u="sng">
                <a:latin typeface="Times New Roman Bold" panose="02020603050405020304" charset="0"/>
                <a:cs typeface="Times New Roman Bold" panose="02020603050405020304" charset="0"/>
              </a:rPr>
              <a:t>RAJIV GANDHI SHRAMIK KALYAN YOJNA:-</a:t>
            </a:r>
            <a:br>
              <a:rPr lang="en-US" sz="3110">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665">
                <a:latin typeface="Times New Roman Regular" panose="02020603050405020304" charset="0"/>
                <a:cs typeface="Times New Roman Regular" panose="02020603050405020304" charset="0"/>
              </a:rPr>
              <a:t>The ESI Corporation has launched a new Yojna for the employees covered under the ESI scheme. </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665">
                <a:latin typeface="Times New Roman Regular" panose="02020603050405020304" charset="0"/>
                <a:cs typeface="Times New Roman Regular" panose="02020603050405020304" charset="0"/>
              </a:rPr>
              <a:t>This scheme provides an unemployment allowance for the employees covered under ESI scheme who are rendered unemployed involuntarily due to retrenchment/closure of factory etc. after fulfilling certain eligibility conditions. </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r>
              <a:rPr lang="en-US" sz="2665">
                <a:latin typeface="Times New Roman Regular" panose="02020603050405020304" charset="0"/>
                <a:cs typeface="Times New Roman Regular" panose="02020603050405020304" charset="0"/>
              </a:rPr>
              <a:t>The scheme came into effect from 1st April, 2005. As per this scheme, an insured person going out of insurable employment involuntarily, on account of closure of factory or establishment, retrenchment, or permanent invalidity arsing out of non-employment injury, after rendring insurable employment and having contributed scheme for five or more years, is entitled to claim unemployment allowance for maximum period of 6 months during his/her entire service.</a:t>
            </a:r>
            <a:br>
              <a:rPr lang="en-US" sz="2665">
                <a:latin typeface="Times New Roman Regular" panose="02020603050405020304" charset="0"/>
                <a:cs typeface="Times New Roman Regular" panose="02020603050405020304" charset="0"/>
              </a:rPr>
            </a:b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 y="365125"/>
            <a:ext cx="11669395" cy="5888990"/>
          </a:xfrm>
        </p:spPr>
        <p:txBody>
          <a:bodyPr>
            <a:normAutofit/>
          </a:bodyPr>
          <a:lstStyle/>
          <a:p>
            <a:r>
              <a:rPr lang="en-US" sz="2665">
                <a:latin typeface="Times New Roman Regular" panose="02020603050405020304" charset="0"/>
                <a:cs typeface="Times New Roman Regular" panose="02020603050405020304" charset="0"/>
                <a:sym typeface="+mn-ea"/>
              </a:rPr>
              <a:t>The allowance can be availed in one spell or in different spells of not less than one month.</a:t>
            </a:r>
            <a:br>
              <a:rPr lang="en-US" sz="2665">
                <a:latin typeface="Times New Roman Regular" panose="02020603050405020304" charset="0"/>
                <a:cs typeface="Times New Roman Regular" panose="02020603050405020304" charset="0"/>
                <a:sym typeface="+mn-ea"/>
              </a:rPr>
            </a:b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The daily rate of unemployment allowance is the "standard benefit rate" as specified in the table on standard benefit rates under rule-54 of ESI (Central) Rules, 1950 corresponding to the average daily wage drawn by the insured person.</a:t>
            </a:r>
            <a:br>
              <a:rPr lang="en-US" sz="2665">
                <a:latin typeface="Times New Roman Regular" panose="02020603050405020304" charset="0"/>
                <a:cs typeface="Times New Roman Regular" panose="02020603050405020304" charset="0"/>
                <a:sym typeface="+mn-ea"/>
              </a:rPr>
            </a:br>
            <a:br>
              <a:rPr lang="en-US" sz="2665">
                <a:latin typeface="Times New Roman Regular" panose="02020603050405020304" charset="0"/>
                <a:cs typeface="Times New Roman Regular" panose="02020603050405020304" charset="0"/>
                <a:sym typeface="+mn-ea"/>
              </a:rPr>
            </a:br>
            <a:r>
              <a:rPr lang="en-US" sz="2665">
                <a:latin typeface="Times New Roman Regular" panose="02020603050405020304" charset="0"/>
                <a:cs typeface="Times New Roman Regular" panose="02020603050405020304" charset="0"/>
                <a:sym typeface="+mn-ea"/>
              </a:rPr>
              <a:t>During the period for which a person is entitled for unemployment allowance, he is also eligible for medical care for himself and his/her family from ESI dispensaries, ESI panel clinics and ESI hospitals to which he/she was attached prior to the date of loss of employment.</a:t>
            </a:r>
            <a:br>
              <a:rPr lang="en-US" sz="2665">
                <a:latin typeface="Times New Roman Regular" panose="02020603050405020304" charset="0"/>
                <a:cs typeface="Times New Roman Regular" panose="02020603050405020304" charset="0"/>
              </a:rPr>
            </a:br>
            <a:endParaRPr lang="en-US" sz="2665">
              <a:latin typeface="Times New Roman Regular" panose="02020603050405020304" charset="0"/>
              <a:cs typeface="Times New Roman Regular"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TotalTime>
  <Words>4485</Words>
  <Application>Microsoft Office PowerPoint</Application>
  <PresentationFormat>Widescreen</PresentationFormat>
  <Paragraphs>123</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Times New Roman</vt:lpstr>
      <vt:lpstr>Times New Roman Bold</vt:lpstr>
      <vt:lpstr>Times New Roman Regular</vt:lpstr>
      <vt:lpstr>Wingdings</vt:lpstr>
      <vt:lpstr>Office Theme</vt:lpstr>
      <vt:lpstr>Prevention of occupational diseases</vt:lpstr>
      <vt:lpstr>Medical measures</vt:lpstr>
      <vt:lpstr>Medical measures</vt:lpstr>
      <vt:lpstr>Medical measures</vt:lpstr>
      <vt:lpstr>Medical measures</vt:lpstr>
      <vt:lpstr>Engineering measures</vt:lpstr>
      <vt:lpstr>Engineering measures</vt:lpstr>
      <vt:lpstr>Engineering measures</vt:lpstr>
      <vt:lpstr>Legislation</vt:lpstr>
      <vt:lpstr>The factories act, 1948 (latest amendment - 1987</vt:lpstr>
      <vt:lpstr>The factories act</vt:lpstr>
      <vt:lpstr>The factories act</vt:lpstr>
      <vt:lpstr>The factories act</vt:lpstr>
      <vt:lpstr>The factories act</vt:lpstr>
      <vt:lpstr>The factories act</vt:lpstr>
      <vt:lpstr>The Employees State Insurance Act, 1948</vt:lpstr>
      <vt:lpstr>The ES1 Act passed in 1948 (amended in 1975, 1984,1989, 2010 and 2019) is an important measure of social security and health insurance in this country.   It provides for certain cosh and medicol benefits to industrial employees in case of sickness, maternity and employment injury.</vt:lpstr>
      <vt:lpstr>SCOPE:- The Act extends to the whole of India. The ESI Act of 1948 covered all power-using factories other than seasonal factories wherein 10 or more persons were employed (excluding mines, railways and defence establishments).   The provisions of the ESI (Amendment) Act of 1975 were extended to the following new classes of establishments : a) Small factories employing 10 or more persons, whether power is used in the process of manufacturing or not. b) Shops. c) Hotels and restaurants. d) Cinemas and theatres. e) Road-motor transport establishments. f) Newspaper establishments. g) The scheme has been extended to private medical and educational institutions employing 20 or more persons in some states.  With effect from 1.5.2010 the Act covers all employees - manual, clerical, supervisory and technical getting upto Rs.15,000 per month. This has been further revised to Rs.21,000 per month as per notification of ES1C on 6.9.2016. The provisions of the Act can be extended to any other agricultural or commercial establishment. </vt:lpstr>
      <vt:lpstr>ADMINISTRATION:- The administration of the ESI Scheme under the Act is entrusted to an autonomous body called the ESI Corporation. The Union Minister for Labour is the Chairman and the Secretary to Govt, of India Ministry of Labour is the Vice-Chairman of this corporation.  It consists of members representing Central and State Governments, employers and employees organizations, medical profession and Parliament.   There is a Standing Committee, constituted from the members of the Corporation, which acts as an executive body for the administration of the Scheme.  The chief executive officer of the Corporation is the Director General who is assisted by four Principal Officers - (1) Insurance Commissioner  (2) Medical Commissioner (3) Financial Commissioner  (4) Actuary  Benefit Council which is headed by the Director General of Health Services, Government of India who is assisted by the Medical Commissioner in all matters relating to medical relief.   Besides the head office in New Delhi, the corporation has 23 regional offices and 37 sub-regional offices at J divisional office, 2 camp offices, and 559 branch offices, 185 cash offices and 422 inspection offices all over the country for the administration of the scheme as on 1.1.15. </vt:lpstr>
      <vt:lpstr>Given the huge number of beneficiaries - about 13 24 crores by 31.3.2020 - the corporation has set up a1 e spread network of service outlets for prompt delivery of befits in cash and kind that includes full medical care.   Medical facilities are provided through a network of 1520 dispensaries, over 1753 panel clinics, 307 diagnostic centres, besides 159 ESI hospitals and 42 hospital annexes with over 22,600 beds. For providing super-speciality medical care the corporation has tie up arrangements with advanced medical institutions in the country, both in public and private sector.   The medical benefit is administered with the active co-operation of state governments.   The payment of cash benefits is made at the grass root level through as many as 559 branch offices, 185 cash offices that function under the direct control of the corporation.   There are 406 inspection offices throughout the country to inspect factories and for checking insurability of employees and correct payment of contributions. </vt:lpstr>
      <vt:lpstr>FINANCE:- The scheme is run by contributions by employees and employers and grants from Central and State Governments.  The employer contributes 3.25 per cent of total wage bill; the employee contributes 0.75 per cent of wages (revised rates w.e.f. 1.7.19). Employees getting daily wages of below Rs. 176 are exempted from payment of contribution.   The State Government’s share of expenditure on medical care is 1/8 of total cost of medical care; the ESI Corporation’s share of expenditure on medical care is 7/8 of total cost of medical care. </vt:lpstr>
      <vt:lpstr>BENEFITS TO EMPLOYEES:- The Act has made provision for the following benefits to insured persons or, to other dependants as the case may be:  (1) Medical benefit.  (2) Sickness benefit.  (3) Maternity benefit.  (4) Disablement benefit.  (5) Dependant’s benefit.  (6) Funeral expenses  (7) Rehabilitation allowance. </vt:lpstr>
      <vt:lpstr>1. Medical benefit:- Medical benefit consists of “full medical care” including hospitalization, free of cost, to the insured persons in case of sickness, employment injury and maternity. The services comprise :  (1) out-patient care.  (2) supply of drugs and dressings.  (3) specialist services in all branches of medicine. (4) pathological and radiological investigations. (5) domiciliary services (6) antenatal, natal and postnatal services. (7) immunization services. (8) family planning services. (9) emergency services. (10) ambulance services (11) health-education. (12) in-patient treatment.  In complicated cases where specialized treatment is necessary, patients are sent for institutional treatment even outside their State at the expense of the ESI Corporation. </vt:lpstr>
      <vt:lpstr>Medical care is provided either directly through the agency of ESI hospitals and dispensaries, or indirectly through a panel of private medical practitioners (panel system) appointed as “insurance medical practitioners”.  DIRECT PATTERN:-  (1) In areas having a concentration of 1,000 or more employees* family units, service dispensaries are established with full-time medical and para-medical personnel. On an average, a doctor will attend to about 80 cases in the out-patient department per day, and makes one home visit a day.  (2) In areas where the employees are less than 750, part-time ESI dispensaries are established. (3) If the residential concentration of employees is scattered over a long distance, mobile dispensaries are established.  INDIRECT PATTERN:- This is known as “panel system”. </vt:lpstr>
      <vt:lpstr>Registered medical practitioners designated as Insurance Medical Practitioners are appointed to provide medical care. Medical care is also extended to families of workers where requisite arrangements could be made. A start has been made by providing “restricted medical care”, i.e., only out-patient care. Where facilities are available “expanded medical care” 1. e., full medical care short of hospitalization is given.  OTHER MEDICAL FACILITIES:-  (1) Dentures, spectacles and hearing aids are provided free to patients who are incapacitated due to employment injury. (2) Artificial limbs are provided free to insured persons who lose their limbs in employment injury or otherwise. (3) Special appliances such as hernia belts, walking callipers, surgical boots, spinal braces and jackets are provided as prescribed by specialists.  COST OF MEDICAL BENEFIT:- The per capita cost of medical benefit under the ESI Scheme has been steadily increasing. It was Rs. 23.79 in 1961-62, Rs. 58.91 in 1969-70, Rs. 67.53 in 1973-74, Rs. 406.78 in 1992-93 and Rs. 905 in 2001-02, and has been rising further since then. Expenditure on medical benefit was Rs. 4058 crores in 2012-13 and was 9368 crores by 2020. </vt:lpstr>
      <vt:lpstr>2. Sickness benefit:- It consists of periodical cash payment to an insured person in case of sickness, if his sickness is duly certified by an Insurance Medical Officer or Insurance Medical Practitioner.   The benefit is payable for a maximum period of 91 days, in any continuous period of 365 days, the daily rate being about 70% of the average daily wages. A person receiving the sickness benefit is required to remain under medical treatment provided under the Act.  EXTENDED SICKNESS BENEFIT:- In addition to 91 days of sickness benefit, insured persons suffering from certain long-term diseases are entitled to Extended Sickness Benefit as shown below, for a maximum period of two years.  34 diseases for which Extended Sickness Benefit with effect from 1.1.2000 is payable, in case where the insured person has been in continuous employment for 2 years : </vt:lpstr>
      <vt:lpstr> I. Infectious Diseases (Tuberculosis, Leprosy, Chronic empyema, AIDS).  II. Neoplasms (Malignant diseases).  III. Endocrine (Diabetes mellitus with proliferative retinopathy/Diabetic foot/Nephropathy), Nutritional and Metabolic Disorders.  IV. Disorders of Nervous Systems (Monoplegia, Hemiplegia, Paraplegia, Hemiparesis, Intracranial space occupying lesion, Spinal Cord compression, Parkinson’s disease, Myasthenia Gravis/Neuromuscular dystrophy, Immature cataract with vision 6/60 or less, Detachment of retina, Glaucoma).  V. Diseases of Cardiovascular System (Coronary Artery Disease, Unstable angina, Myocardial infarction with ejection less than 45%, Congestive Heart Failure - Left, Right, Cardiac valvular diseases with failure/complications, Cardiomyopathies, Heart disease with surgical intervention along with complications).  </vt:lpstr>
      <vt:lpstr>PowerPoint Presentation</vt:lpstr>
      <vt:lpstr>3. Maternity benefit:-  The benefit is payable in cash to an insured woman for confinement/miscarriage or sickness arising out of pregnancy/confinement or premature birth of child or miscarriage.   For confinement, the duration of benefit is 26 weeks, for miscarriage 6 weeks and for sickness arising out of confinement etc. 30 days.   The benefit is allowed at about full wages.   The rate of confinement expenses has been increased from Rs. 5,000 to Rs. 7,500 per confinement.</vt:lpstr>
      <vt:lpstr>4. Disablement benefit:- The Act provides for cash payment, besides free medical treatment, in the event of temporary or permanent disablement as a result of employment injury as well as occupational diseases.   The rate of temporary disablement benefit is about 90 per cent of the wages as long as the temporary disablement lasts. In case of total permanent disablement, the insured person is given life pension worked out on the basis of loss of earning capacity determined by a medical board, while in cases of partial permanent disablement a portion of it is granted as life pension.</vt:lpstr>
      <vt:lpstr>5. Dependant’s benefit:- In case of death, as a result of employment injury, the dependants of an insured person are eligible for periodical payments.   Pension at the rate of 90 per cent of the wages is payable, shared by dependants in a fixed ratio, on monthly basis in accordance with the prescribed share.   An eligible son or daughter is entitled to dependant’s benefit up to the age of 18; the benefit is withdrawn if the daughter marries earlier.  6. Funeral expenses:- Funeral benefit is a cash payment payable on the death of an insured person towards the expenses on his funeral, the amount not exceeding Rs. 15,000/-. </vt:lpstr>
      <vt:lpstr>7. Rehabilitation:- On monthly payment of Rs 10, the insured person and his family members continue to get medical treatment after permanent disablement, or retirement.  The ESI Scheme has been implemented in 34 States/Union territories. The Scheme, by 31.03.2020, covered 309 lakh employees; including 62.6 lakhs women, and the total number of beneficiaries were around 1324 lakhs.  Benefits to employers:- (1) Exemption from the applicability of Workmen’s Compensation Act 1923. (2) Exemption from Maternity Benefit Act 1961 (3) Exemption from payment of Medical allowance to employees and their     dependants or arranging for their medical care. (4) Rebate under the Income Tax Act on contribution deposited in the ESI Account (5) Healthy work-force. </vt:lpstr>
      <vt:lpstr>RAJIV GANDHI SHRAMIK KALYAN YOJNA:-  The ESI Corporation has launched a new Yojna for the employees covered under the ESI scheme.   This scheme provides an unemployment allowance for the employees covered under ESI scheme who are rendered unemployed involuntarily due to retrenchment/closure of factory etc. after fulfilling certain eligibility conditions.   The scheme came into effect from 1st April, 2005. As per this scheme, an insured person going out of insurable employment involuntarily, on account of closure of factory or establishment, retrenchment, or permanent invalidity arsing out of non-employment injury, after rendring insurable employment and having contributed scheme for five or more years, is entitled to claim unemployment allowance for maximum period of 6 months during his/her entire service.  </vt:lpstr>
      <vt:lpstr>The allowance can be availed in one spell or in different spells of not less than one month.  The daily rate of unemployment allowance is the "standard benefit rate" as specified in the table on standard benefit rates under rule-54 of ESI (Central) Rules, 1950 corresponding to the average daily wage drawn by the insured person.  During the period for which a person is entitled for unemployment allowance, he is also eligible for medical care for himself and his/her family from ESI dispensaries, ESI panel clinics and ESI hospitals to which he/she was attached prior to the date of loss of employment.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Prevention of occupational diseases</dc:title>
  <dc:creator>mukul maheshwari</dc:creator>
  <cp:lastModifiedBy>mukul maheshwari</cp:lastModifiedBy>
  <cp:revision>1</cp:revision>
  <dcterms:created xsi:type="dcterms:W3CDTF">2023-09-19T04:30:23Z</dcterms:created>
  <dcterms:modified xsi:type="dcterms:W3CDTF">2023-09-19T08:20:58Z</dcterms:modified>
</cp:coreProperties>
</file>