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93" d="100"/>
          <a:sy n="93" d="100"/>
        </p:scale>
        <p:origin x="534"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5EF76-A2DE-A14F-4B8C-35F4448E80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1CA6BE-59D9-D5FC-4041-8BFCB1ADC6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112108-0F47-656A-7DEE-6DD866AAD9B8}"/>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5" name="Footer Placeholder 4">
            <a:extLst>
              <a:ext uri="{FF2B5EF4-FFF2-40B4-BE49-F238E27FC236}">
                <a16:creationId xmlns:a16="http://schemas.microsoft.com/office/drawing/2014/main" id="{1939A6FA-9A0B-96CE-A953-D94AF36177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37736-071F-F5B5-6CAD-3354B965A04D}"/>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3150300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58E6F-128F-8056-1C0B-B2813D0B1D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302FD5-9DAB-EECC-1ED0-30D74A53B0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2B655-609D-522A-CF73-88E5B4245289}"/>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5" name="Footer Placeholder 4">
            <a:extLst>
              <a:ext uri="{FF2B5EF4-FFF2-40B4-BE49-F238E27FC236}">
                <a16:creationId xmlns:a16="http://schemas.microsoft.com/office/drawing/2014/main" id="{47E3F94D-E4F5-B7CB-736F-632AFEE5C0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C460BA-0651-3FBA-3DCC-137315AA6605}"/>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3489670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697DB-9887-DE11-93A8-C0D52A9F73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9A47D4-0B1B-886D-05F2-749A230BA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04A3F5-15BF-6F5B-B683-60E1E68658FB}"/>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5" name="Footer Placeholder 4">
            <a:extLst>
              <a:ext uri="{FF2B5EF4-FFF2-40B4-BE49-F238E27FC236}">
                <a16:creationId xmlns:a16="http://schemas.microsoft.com/office/drawing/2014/main" id="{7603715E-626E-477C-C636-D10776CEC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D4450C-C513-3D76-8C8D-00070BCA649A}"/>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1035312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F963-2252-8722-6D7B-FA91368BCC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B81CD2-9D2A-7D10-1E28-302AF0D2F1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F9E644-C2F8-350F-D8CC-73F621C5A8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451BC6-46E2-A6C9-E172-DD34BB3E21D5}"/>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6" name="Footer Placeholder 5">
            <a:extLst>
              <a:ext uri="{FF2B5EF4-FFF2-40B4-BE49-F238E27FC236}">
                <a16:creationId xmlns:a16="http://schemas.microsoft.com/office/drawing/2014/main" id="{7020DE09-1AE7-FA30-EB24-882F061AB1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93F9E-D87C-7C7D-4371-20E22D8F46FF}"/>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254616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E9425-2DC9-2B9D-5450-63F702E716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68AD8E-101C-58F2-2198-EFDCD02D19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7CB70B-37E3-C4DB-9614-2DE7B0349A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37B759-6581-B51F-6111-109B6158E5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2E56C0-787E-4A0C-E139-06C0F5F925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337CDA-71AA-A891-12B5-89A14B7DCEB8}"/>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8" name="Footer Placeholder 7">
            <a:extLst>
              <a:ext uri="{FF2B5EF4-FFF2-40B4-BE49-F238E27FC236}">
                <a16:creationId xmlns:a16="http://schemas.microsoft.com/office/drawing/2014/main" id="{1E2A7167-A944-F889-8AA1-1B454B25D9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7CDAC3-1335-266F-85A5-457A23C0E2EA}"/>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3489442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55CD6-367E-A04B-16C1-2C3F5943C9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FC7B53-C71D-1C0B-F3DC-A62C9F2BE83F}"/>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4" name="Footer Placeholder 3">
            <a:extLst>
              <a:ext uri="{FF2B5EF4-FFF2-40B4-BE49-F238E27FC236}">
                <a16:creationId xmlns:a16="http://schemas.microsoft.com/office/drawing/2014/main" id="{6D394EA4-14DA-4063-363D-2C10D8F906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CCDC0E-E0C6-B9AF-5E81-1A47EE46FA47}"/>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4254892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AC574-B6CB-5928-13D3-D95E018A1ADC}"/>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3" name="Footer Placeholder 2">
            <a:extLst>
              <a:ext uri="{FF2B5EF4-FFF2-40B4-BE49-F238E27FC236}">
                <a16:creationId xmlns:a16="http://schemas.microsoft.com/office/drawing/2014/main" id="{76F7186A-8034-77E1-8896-B60320FF7B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5EDC07-121B-FABF-D2E0-7D03F2AF27E6}"/>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400815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A1B31-B9D2-3F20-00E0-470BE369FC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6504B2-BE41-6BDC-1990-1606FE5B5C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F43A2C-B14A-BD72-6D47-8CD4C653C6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3F30D0-F5F3-2327-E8B7-1FAE94516190}"/>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6" name="Footer Placeholder 5">
            <a:extLst>
              <a:ext uri="{FF2B5EF4-FFF2-40B4-BE49-F238E27FC236}">
                <a16:creationId xmlns:a16="http://schemas.microsoft.com/office/drawing/2014/main" id="{69814BEF-D58C-C9EA-2FBC-697CA4B0A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C1C9AB-AD36-D7A9-E628-1B6E6703691B}"/>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3337894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4ED57-135D-B661-546B-7379138FD6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87387D-0DD0-4A35-EB24-4663562633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1AC293-C893-8489-AB7B-2DA03AAC5D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84FE75-C9B1-67F3-A222-28BEA543584F}"/>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6" name="Footer Placeholder 5">
            <a:extLst>
              <a:ext uri="{FF2B5EF4-FFF2-40B4-BE49-F238E27FC236}">
                <a16:creationId xmlns:a16="http://schemas.microsoft.com/office/drawing/2014/main" id="{2CB736F4-68E5-AF8F-EBA3-77FD090E27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61BF92-DDB0-01F9-F318-A7822102604D}"/>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2630863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DE0F4-C05F-A491-319C-AF2CAF50B1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1F1261-B625-CE9B-A264-5882AB8A7A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0DE53-3A6C-CE2F-7645-FF2EE87CC643}"/>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5" name="Footer Placeholder 4">
            <a:extLst>
              <a:ext uri="{FF2B5EF4-FFF2-40B4-BE49-F238E27FC236}">
                <a16:creationId xmlns:a16="http://schemas.microsoft.com/office/drawing/2014/main" id="{A3C03C48-F279-B725-BD4C-EA8AC30DA6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E3B391-5BC8-042F-4381-9F706F0E78A4}"/>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1869564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4B0BF8-0A36-96FA-38CB-042A636D7E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3C89CB-BE0D-704E-0EEA-CD7CC3AED8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B0993-5EE3-F0F9-C14D-C06448E904A8}"/>
              </a:ext>
            </a:extLst>
          </p:cNvPr>
          <p:cNvSpPr>
            <a:spLocks noGrp="1"/>
          </p:cNvSpPr>
          <p:nvPr>
            <p:ph type="dt" sz="half" idx="10"/>
          </p:nvPr>
        </p:nvSpPr>
        <p:spPr/>
        <p:txBody>
          <a:bodyPr/>
          <a:lstStyle/>
          <a:p>
            <a:fld id="{6931E06B-EBC3-4784-8F6D-571AE1470D84}" type="datetimeFigureOut">
              <a:rPr lang="en-US" smtClean="0"/>
              <a:t>8/29/2023</a:t>
            </a:fld>
            <a:endParaRPr lang="en-US"/>
          </a:p>
        </p:txBody>
      </p:sp>
      <p:sp>
        <p:nvSpPr>
          <p:cNvPr id="5" name="Footer Placeholder 4">
            <a:extLst>
              <a:ext uri="{FF2B5EF4-FFF2-40B4-BE49-F238E27FC236}">
                <a16:creationId xmlns:a16="http://schemas.microsoft.com/office/drawing/2014/main" id="{B7FB1641-2952-4C7E-2CF1-E874C47B5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A5A21A-277D-662B-6066-9E40C1F837E4}"/>
              </a:ext>
            </a:extLst>
          </p:cNvPr>
          <p:cNvSpPr>
            <a:spLocks noGrp="1"/>
          </p:cNvSpPr>
          <p:nvPr>
            <p:ph type="sldNum" sz="quarter" idx="12"/>
          </p:nvPr>
        </p:nvSpPr>
        <p:spPr/>
        <p:txBody>
          <a:bodyPr/>
          <a:lstStyle/>
          <a:p>
            <a:fld id="{48F46E18-E3F2-4911-B47C-E92A7BD81B4F}" type="slidenum">
              <a:rPr lang="en-US" smtClean="0"/>
              <a:t>‹#›</a:t>
            </a:fld>
            <a:endParaRPr lang="en-US"/>
          </a:p>
        </p:txBody>
      </p:sp>
    </p:spTree>
    <p:extLst>
      <p:ext uri="{BB962C8B-B14F-4D97-AF65-F5344CB8AC3E}">
        <p14:creationId xmlns:p14="http://schemas.microsoft.com/office/powerpoint/2010/main" val="836045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A6703-DB0D-663E-A686-507845335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4288A3-25E0-C213-1D16-A959B1165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BACB8-AA2B-1FD6-7550-7FCFFF8B7C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31E06B-EBC3-4784-8F6D-571AE1470D84}" type="datetimeFigureOut">
              <a:rPr lang="en-US" smtClean="0"/>
              <a:t>8/29/2023</a:t>
            </a:fld>
            <a:endParaRPr lang="en-US"/>
          </a:p>
        </p:txBody>
      </p:sp>
      <p:sp>
        <p:nvSpPr>
          <p:cNvPr id="5" name="Footer Placeholder 4">
            <a:extLst>
              <a:ext uri="{FF2B5EF4-FFF2-40B4-BE49-F238E27FC236}">
                <a16:creationId xmlns:a16="http://schemas.microsoft.com/office/drawing/2014/main" id="{61AF8BFC-0D36-7C7E-17E1-47AF531E25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AE6B811-1FE5-D820-8D95-BF5B312E29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46E18-E3F2-4911-B47C-E92A7BD81B4F}" type="slidenum">
              <a:rPr lang="en-US" smtClean="0"/>
              <a:t>‹#›</a:t>
            </a:fld>
            <a:endParaRPr lang="en-US"/>
          </a:p>
        </p:txBody>
      </p:sp>
    </p:spTree>
    <p:extLst>
      <p:ext uri="{BB962C8B-B14F-4D97-AF65-F5344CB8AC3E}">
        <p14:creationId xmlns:p14="http://schemas.microsoft.com/office/powerpoint/2010/main" val="1925164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19F734-4001-7E75-E9E4-E95C7B786108}"/>
              </a:ext>
            </a:extLst>
          </p:cNvPr>
          <p:cNvSpPr>
            <a:spLocks noGrp="1"/>
          </p:cNvSpPr>
          <p:nvPr>
            <p:ph type="ctrTitle"/>
          </p:nvPr>
        </p:nvSpPr>
        <p:spPr>
          <a:xfrm>
            <a:off x="1285241" y="1008993"/>
            <a:ext cx="9231410" cy="3542045"/>
          </a:xfrm>
        </p:spPr>
        <p:txBody>
          <a:bodyPr anchor="b">
            <a:normAutofit/>
          </a:bodyPr>
          <a:lstStyle/>
          <a:p>
            <a:pPr algn="l"/>
            <a:r>
              <a:rPr lang="en-US" sz="11500"/>
              <a:t>Occupational disease</a:t>
            </a:r>
          </a:p>
        </p:txBody>
      </p:sp>
      <p:sp>
        <p:nvSpPr>
          <p:cNvPr id="3" name="Subtitle 2">
            <a:extLst>
              <a:ext uri="{FF2B5EF4-FFF2-40B4-BE49-F238E27FC236}">
                <a16:creationId xmlns:a16="http://schemas.microsoft.com/office/drawing/2014/main" id="{420E5F02-7AC2-8861-D202-0DA2CC08552E}"/>
              </a:ext>
            </a:extLst>
          </p:cNvPr>
          <p:cNvSpPr>
            <a:spLocks noGrp="1"/>
          </p:cNvSpPr>
          <p:nvPr>
            <p:ph type="subTitle" idx="1"/>
          </p:nvPr>
        </p:nvSpPr>
        <p:spPr>
          <a:xfrm>
            <a:off x="1285241" y="4582814"/>
            <a:ext cx="7132335" cy="1312657"/>
          </a:xfrm>
        </p:spPr>
        <p:txBody>
          <a:bodyPr anchor="t">
            <a:normAutofit/>
          </a:bodyPr>
          <a:lstStyle/>
          <a:p>
            <a:pPr algn="l"/>
            <a:endParaRPr lang="en-US"/>
          </a:p>
        </p:txBody>
      </p:sp>
    </p:spTree>
    <p:extLst>
      <p:ext uri="{BB962C8B-B14F-4D97-AF65-F5344CB8AC3E}">
        <p14:creationId xmlns:p14="http://schemas.microsoft.com/office/powerpoint/2010/main" val="1640970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5591E-43D0-6618-5032-E9B7780AE0C6}"/>
              </a:ext>
            </a:extLst>
          </p:cNvPr>
          <p:cNvSpPr>
            <a:spLocks noGrp="1"/>
          </p:cNvSpPr>
          <p:nvPr>
            <p:ph type="title"/>
          </p:nvPr>
        </p:nvSpPr>
        <p:spPr/>
        <p:txBody>
          <a:bodyPr/>
          <a:lstStyle/>
          <a:p>
            <a:r>
              <a:rPr lang="en-US" dirty="0"/>
              <a:t>Pneumoconiosis</a:t>
            </a:r>
          </a:p>
        </p:txBody>
      </p:sp>
      <p:sp>
        <p:nvSpPr>
          <p:cNvPr id="3" name="Content Placeholder 2">
            <a:extLst>
              <a:ext uri="{FF2B5EF4-FFF2-40B4-BE49-F238E27FC236}">
                <a16:creationId xmlns:a16="http://schemas.microsoft.com/office/drawing/2014/main" id="{B37B350C-3FC9-7305-40D1-61927F98DF37}"/>
              </a:ext>
            </a:extLst>
          </p:cNvPr>
          <p:cNvSpPr>
            <a:spLocks noGrp="1"/>
          </p:cNvSpPr>
          <p:nvPr>
            <p:ph idx="1"/>
          </p:nvPr>
        </p:nvSpPr>
        <p:spPr>
          <a:xfrm>
            <a:off x="161365" y="1413862"/>
            <a:ext cx="11900496" cy="4763101"/>
          </a:xfrm>
        </p:spPr>
        <p:txBody>
          <a:bodyPr>
            <a:normAutofit lnSpcReduction="10000"/>
          </a:bodyPr>
          <a:lstStyle/>
          <a:p>
            <a:pPr algn="l"/>
            <a:r>
              <a:rPr lang="en-US" sz="2400" b="0" i="0" u="none" strike="noStrike" baseline="0" dirty="0">
                <a:latin typeface="+mj-lt"/>
              </a:rPr>
              <a:t>Dust within the size range of 0.5 to 3 micron, is a health hazard producing, after a variable period of exposure</a:t>
            </a:r>
          </a:p>
          <a:p>
            <a:pPr algn="l"/>
            <a:r>
              <a:rPr lang="en-US" sz="2400" b="0" i="0" u="none" strike="noStrike" baseline="0" dirty="0">
                <a:latin typeface="+mj-lt"/>
              </a:rPr>
              <a:t>May gradually cripple a man by reducing his working capacity due to lung fibrosis and other complications. </a:t>
            </a:r>
          </a:p>
          <a:p>
            <a:pPr algn="l"/>
            <a:r>
              <a:rPr lang="en-US" sz="2400" b="0" i="0" u="none" strike="noStrike" baseline="0" dirty="0">
                <a:latin typeface="+mj-lt"/>
              </a:rPr>
              <a:t>The hazardous effects of dusts on the lungs depend upon a number of factors such as</a:t>
            </a:r>
          </a:p>
          <a:p>
            <a:pPr lvl="1"/>
            <a:r>
              <a:rPr lang="en-US" sz="1800" b="0" i="0" u="none" strike="noStrike" baseline="0" dirty="0">
                <a:latin typeface="+mj-lt"/>
              </a:rPr>
              <a:t>Chemical composition </a:t>
            </a:r>
          </a:p>
          <a:p>
            <a:pPr lvl="1"/>
            <a:r>
              <a:rPr lang="en-US" sz="1800" b="0" i="0" u="none" strike="noStrike" baseline="0" dirty="0">
                <a:latin typeface="+mj-lt"/>
              </a:rPr>
              <a:t>Fineness </a:t>
            </a:r>
          </a:p>
          <a:p>
            <a:pPr lvl="1"/>
            <a:r>
              <a:rPr lang="en-US" sz="1800" b="0" i="0" u="none" strike="noStrike" baseline="0" dirty="0">
                <a:latin typeface="+mj-lt"/>
              </a:rPr>
              <a:t>Concentration of dust in the air </a:t>
            </a:r>
          </a:p>
          <a:p>
            <a:pPr lvl="1"/>
            <a:r>
              <a:rPr lang="en-US" sz="1800" b="0" i="0" u="none" strike="noStrike" baseline="0" dirty="0">
                <a:latin typeface="+mj-lt"/>
              </a:rPr>
              <a:t>Period of exposure </a:t>
            </a:r>
          </a:p>
          <a:p>
            <a:pPr lvl="1"/>
            <a:r>
              <a:rPr lang="en-US" sz="1800" b="0" i="0" u="none" strike="noStrike" baseline="0" dirty="0">
                <a:latin typeface="+mj-lt"/>
              </a:rPr>
              <a:t>Health status of the person exposed</a:t>
            </a:r>
          </a:p>
          <a:p>
            <a:pPr algn="l"/>
            <a:r>
              <a:rPr lang="en-US" sz="2400" b="0" i="0" u="none" strike="noStrike" baseline="0" dirty="0">
                <a:latin typeface="+mj-lt"/>
              </a:rPr>
              <a:t>In addition to the toxic effect of the dust on the lung tissues, the super-imposition of infections like tuberculosis may also influence the pattern of pneumoconiosis. </a:t>
            </a:r>
          </a:p>
          <a:p>
            <a:pPr algn="l"/>
            <a:r>
              <a:rPr lang="en-US" sz="2400" b="0" i="0" u="none" strike="noStrike" baseline="0" dirty="0">
                <a:latin typeface="+mj-lt"/>
              </a:rPr>
              <a:t>As no cure for the pneumoconiosis is known, it is essential to prevent these diseases from arising.</a:t>
            </a:r>
            <a:endParaRPr lang="en-US" sz="3600" dirty="0">
              <a:latin typeface="+mj-lt"/>
            </a:endParaRPr>
          </a:p>
        </p:txBody>
      </p:sp>
    </p:spTree>
    <p:extLst>
      <p:ext uri="{BB962C8B-B14F-4D97-AF65-F5344CB8AC3E}">
        <p14:creationId xmlns:p14="http://schemas.microsoft.com/office/powerpoint/2010/main" val="2724366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26BFB-8C85-7C00-C21D-695BA2DD27B9}"/>
              </a:ext>
            </a:extLst>
          </p:cNvPr>
          <p:cNvSpPr>
            <a:spLocks noGrp="1"/>
          </p:cNvSpPr>
          <p:nvPr>
            <p:ph type="title"/>
          </p:nvPr>
        </p:nvSpPr>
        <p:spPr/>
        <p:txBody>
          <a:bodyPr/>
          <a:lstStyle/>
          <a:p>
            <a:r>
              <a:rPr lang="en-US" dirty="0"/>
              <a:t>Silicosis</a:t>
            </a:r>
          </a:p>
        </p:txBody>
      </p:sp>
      <p:sp>
        <p:nvSpPr>
          <p:cNvPr id="3" name="Content Placeholder 2">
            <a:extLst>
              <a:ext uri="{FF2B5EF4-FFF2-40B4-BE49-F238E27FC236}">
                <a16:creationId xmlns:a16="http://schemas.microsoft.com/office/drawing/2014/main" id="{DDD567C0-8E30-957A-658F-6B7D1DF75FFB}"/>
              </a:ext>
            </a:extLst>
          </p:cNvPr>
          <p:cNvSpPr>
            <a:spLocks noGrp="1"/>
          </p:cNvSpPr>
          <p:nvPr>
            <p:ph idx="1"/>
          </p:nvPr>
        </p:nvSpPr>
        <p:spPr>
          <a:xfrm>
            <a:off x="154112" y="1407560"/>
            <a:ext cx="11883776" cy="5187468"/>
          </a:xfrm>
        </p:spPr>
        <p:txBody>
          <a:bodyPr>
            <a:normAutofit/>
          </a:bodyPr>
          <a:lstStyle/>
          <a:p>
            <a:pPr algn="l"/>
            <a:r>
              <a:rPr lang="en-US" sz="2400" b="0" i="0" u="none" strike="noStrike" baseline="0" dirty="0">
                <a:latin typeface="+mj-lt"/>
              </a:rPr>
              <a:t>Silicosis is the major cause of permanent disability and mortality. </a:t>
            </a:r>
          </a:p>
          <a:p>
            <a:pPr algn="l"/>
            <a:r>
              <a:rPr lang="en-US" sz="2400" b="0" i="0" u="none" strike="noStrike" baseline="0" dirty="0">
                <a:latin typeface="+mj-lt"/>
              </a:rPr>
              <a:t>It is caused by inhalation of dust containing free silica or silicon dioxide</a:t>
            </a:r>
          </a:p>
          <a:p>
            <a:pPr algn="l"/>
            <a:r>
              <a:rPr lang="en-US" sz="2400" b="0" i="0" u="none" strike="noStrike" baseline="0" dirty="0">
                <a:latin typeface="+mj-lt"/>
              </a:rPr>
              <a:t>It was first reported in India from the Kolar Gold Mines (Mysore) in 1947. </a:t>
            </a:r>
          </a:p>
          <a:p>
            <a:pPr algn="l"/>
            <a:r>
              <a:rPr lang="en-US" sz="2400" b="0" i="0" u="none" strike="noStrike" baseline="0" dirty="0">
                <a:latin typeface="+mj-lt"/>
              </a:rPr>
              <a:t>Ever since, its occurrence has been uncovered in various other industries, e.g., mining industry </a:t>
            </a:r>
            <a:r>
              <a:rPr lang="en-US" sz="2400" dirty="0">
                <a:latin typeface="+mj-lt"/>
              </a:rPr>
              <a:t>(</a:t>
            </a:r>
            <a:r>
              <a:rPr lang="en-US" sz="2400" b="0" i="0" u="none" strike="noStrike" baseline="0" dirty="0">
                <a:latin typeface="+mj-lt"/>
              </a:rPr>
              <a:t>coal, mica, gold, silver, lead, zinc, manganese and other </a:t>
            </a:r>
            <a:r>
              <a:rPr lang="en-US" sz="2400" dirty="0">
                <a:latin typeface="+mj-lt"/>
              </a:rPr>
              <a:t>m</a:t>
            </a:r>
            <a:r>
              <a:rPr lang="en-US" sz="2400" b="0" i="0" u="none" strike="noStrike" baseline="0" dirty="0">
                <a:latin typeface="+mj-lt"/>
              </a:rPr>
              <a:t>etals), pottery and ceramic industry, sand blasting, metal grinding, building and construction work, rock mining, iron and steel industry and several others.</a:t>
            </a:r>
          </a:p>
          <a:p>
            <a:pPr algn="l"/>
            <a:r>
              <a:rPr lang="en-US" sz="2400" b="0" i="0" u="none" strike="noStrike" baseline="0" dirty="0">
                <a:latin typeface="+mj-lt"/>
              </a:rPr>
              <a:t>In the mica mines of Bihar, out of 329 miners examined, 34.1 per cent were found suffering from silicosis. In a ceramic and Pottery industry, the incidence of silicosis was found to be 15.7 per cent.</a:t>
            </a:r>
          </a:p>
          <a:p>
            <a:pPr algn="l"/>
            <a:r>
              <a:rPr lang="en-US" sz="2400" b="0" i="0" u="none" strike="noStrike" baseline="0" dirty="0">
                <a:latin typeface="+mj-lt"/>
              </a:rPr>
              <a:t>Higher the concentration of free silica in the dust, the greater the hazard. Particles between 0.5 to 3 micron are the most dangerous because they reach the interior of the lungs with ease.</a:t>
            </a:r>
          </a:p>
          <a:p>
            <a:pPr algn="l"/>
            <a:r>
              <a:rPr lang="en-US" sz="2400" b="0" i="0" u="none" strike="noStrike" baseline="0" dirty="0">
                <a:latin typeface="+mj-lt"/>
              </a:rPr>
              <a:t>Incubation period may vary from a few months up to 6 years of exposure,</a:t>
            </a:r>
            <a:endParaRPr lang="en-US" sz="3600" dirty="0">
              <a:latin typeface="+mj-lt"/>
            </a:endParaRPr>
          </a:p>
        </p:txBody>
      </p:sp>
    </p:spTree>
    <p:extLst>
      <p:ext uri="{BB962C8B-B14F-4D97-AF65-F5344CB8AC3E}">
        <p14:creationId xmlns:p14="http://schemas.microsoft.com/office/powerpoint/2010/main" val="1023261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1D0B5-DBBB-6C04-8943-F91B55057686}"/>
              </a:ext>
            </a:extLst>
          </p:cNvPr>
          <p:cNvSpPr>
            <a:spLocks noGrp="1"/>
          </p:cNvSpPr>
          <p:nvPr>
            <p:ph type="title"/>
          </p:nvPr>
        </p:nvSpPr>
        <p:spPr/>
        <p:txBody>
          <a:bodyPr/>
          <a:lstStyle/>
          <a:p>
            <a:r>
              <a:rPr lang="en-US" dirty="0"/>
              <a:t>Silicosis</a:t>
            </a:r>
          </a:p>
        </p:txBody>
      </p:sp>
      <p:sp>
        <p:nvSpPr>
          <p:cNvPr id="3" name="Content Placeholder 2">
            <a:extLst>
              <a:ext uri="{FF2B5EF4-FFF2-40B4-BE49-F238E27FC236}">
                <a16:creationId xmlns:a16="http://schemas.microsoft.com/office/drawing/2014/main" id="{B813160B-47A4-4996-9F9D-1D941B7E072B}"/>
              </a:ext>
            </a:extLst>
          </p:cNvPr>
          <p:cNvSpPr>
            <a:spLocks noGrp="1"/>
          </p:cNvSpPr>
          <p:nvPr>
            <p:ph idx="1"/>
          </p:nvPr>
        </p:nvSpPr>
        <p:spPr>
          <a:xfrm>
            <a:off x="164387" y="1294544"/>
            <a:ext cx="11863226" cy="5413500"/>
          </a:xfrm>
        </p:spPr>
        <p:txBody>
          <a:bodyPr>
            <a:normAutofit/>
          </a:bodyPr>
          <a:lstStyle/>
          <a:p>
            <a:pPr algn="l"/>
            <a:r>
              <a:rPr lang="en-US" sz="2000" b="0" i="0" u="none" strike="noStrike" baseline="0" dirty="0">
                <a:latin typeface="+mj-lt"/>
              </a:rPr>
              <a:t>The particles are ingested by the phagocytes which accumulate and block the lymph channels. </a:t>
            </a:r>
          </a:p>
          <a:p>
            <a:pPr algn="l"/>
            <a:r>
              <a:rPr lang="en-US" sz="2000" b="0" i="0" u="none" strike="noStrike" baseline="0" dirty="0">
                <a:latin typeface="+mj-lt"/>
              </a:rPr>
              <a:t>Dense “nodular” fibrosis, the nodules ranging from 3 to 4 mm in diameter. </a:t>
            </a:r>
          </a:p>
          <a:p>
            <a:pPr algn="l"/>
            <a:r>
              <a:rPr lang="en-US" sz="2000" b="0" i="0" u="none" strike="noStrike" baseline="0" dirty="0">
                <a:latin typeface="+mj-lt"/>
              </a:rPr>
              <a:t>Clinically the onset of the disease is insidious. Early manifestations are irritant cough, dyspnea on exertion and pain in the chest. </a:t>
            </a:r>
          </a:p>
          <a:p>
            <a:pPr algn="l"/>
            <a:r>
              <a:rPr lang="en-US" sz="2000" b="0" i="0" u="none" strike="noStrike" baseline="0" dirty="0">
                <a:latin typeface="+mj-lt"/>
              </a:rPr>
              <a:t>With more advanced disease, impairment of total lung capacity (TLC) is commonly present. </a:t>
            </a:r>
          </a:p>
          <a:p>
            <a:pPr algn="l"/>
            <a:r>
              <a:rPr lang="en-US" sz="2000" b="0" i="0" u="none" strike="noStrike" baseline="0" dirty="0">
                <a:latin typeface="+mj-lt"/>
              </a:rPr>
              <a:t>An X-ray of the chest shows “snow-storm” appearance in the lung fields. </a:t>
            </a:r>
          </a:p>
          <a:p>
            <a:pPr algn="l"/>
            <a:r>
              <a:rPr lang="en-US" sz="2000" b="0" i="0" u="none" strike="noStrike" baseline="0" dirty="0">
                <a:latin typeface="+mj-lt"/>
              </a:rPr>
              <a:t>Silicosis is progressive and what is more important is that </a:t>
            </a:r>
            <a:r>
              <a:rPr lang="en-US" sz="2000" b="0" i="0" u="none" strike="noStrike" baseline="0" dirty="0" err="1">
                <a:latin typeface="+mj-lt"/>
              </a:rPr>
              <a:t>silicotics</a:t>
            </a:r>
            <a:r>
              <a:rPr lang="en-US" sz="2000" b="0" i="0" u="none" strike="noStrike" baseline="0" dirty="0">
                <a:latin typeface="+mj-lt"/>
              </a:rPr>
              <a:t> are prone to pulmonary tuberculosis, a condition called “silico-tuberculosis.” In recent years doubts have been raised, whether silico-</a:t>
            </a:r>
            <a:r>
              <a:rPr lang="en-US" sz="2000" b="0" i="0" u="none" strike="noStrike" baseline="0" dirty="0" err="1">
                <a:latin typeface="+mj-lt"/>
              </a:rPr>
              <a:t>tuberculotics</a:t>
            </a:r>
            <a:r>
              <a:rPr lang="en-US" sz="2000" b="0" i="0" u="none" strike="noStrike" baseline="0" dirty="0">
                <a:latin typeface="+mj-lt"/>
              </a:rPr>
              <a:t> are really tubercular or purely </a:t>
            </a:r>
            <a:r>
              <a:rPr lang="en-US" sz="2000" b="0" i="0" u="none" strike="noStrike" baseline="0" dirty="0" err="1">
                <a:latin typeface="+mj-lt"/>
              </a:rPr>
              <a:t>silicotics</a:t>
            </a:r>
            <a:r>
              <a:rPr lang="en-US" sz="2000" b="0" i="0" u="none" strike="noStrike" baseline="0" dirty="0">
                <a:latin typeface="+mj-lt"/>
              </a:rPr>
              <a:t>. </a:t>
            </a:r>
          </a:p>
          <a:p>
            <a:pPr algn="l"/>
            <a:r>
              <a:rPr lang="en-US" sz="2000" b="0" i="0" u="none" strike="noStrike" baseline="0" dirty="0">
                <a:latin typeface="+mj-lt"/>
              </a:rPr>
              <a:t>There is no effective treatment for silicosis. Fibrotic changes that have already taken place cannot be reversed.</a:t>
            </a:r>
          </a:p>
          <a:p>
            <a:pPr algn="l"/>
            <a:r>
              <a:rPr lang="en-US" sz="2000" b="0" i="0" u="none" strike="noStrike" baseline="0" dirty="0">
                <a:latin typeface="+mj-lt"/>
              </a:rPr>
              <a:t>The only way that silicosis can be controlled (if not altogether eliminated) is by (a) rigorous dust control measures, </a:t>
            </a:r>
            <a:r>
              <a:rPr lang="en-US" sz="2000" b="0" i="0" u="none" strike="noStrike" baseline="0" dirty="0" err="1">
                <a:latin typeface="+mj-lt"/>
              </a:rPr>
              <a:t>eg.</a:t>
            </a:r>
            <a:r>
              <a:rPr lang="en-US" sz="2000" b="0" i="0" u="none" strike="noStrike" baseline="0" dirty="0">
                <a:latin typeface="+mj-lt"/>
              </a:rPr>
              <a:t>, substitution, complete enclosure, isolation, </a:t>
            </a:r>
            <a:r>
              <a:rPr lang="en-US" sz="2000" b="0" i="0" u="none" strike="noStrike" baseline="0" dirty="0" err="1">
                <a:latin typeface="+mj-lt"/>
              </a:rPr>
              <a:t>hydroblasting</a:t>
            </a:r>
            <a:r>
              <a:rPr lang="en-US" sz="2000" b="0" i="0" u="none" strike="noStrike" baseline="0" dirty="0">
                <a:latin typeface="+mj-lt"/>
              </a:rPr>
              <a:t>, good house-keeping, personal protective measures and (b) regular physical examination of workers</a:t>
            </a:r>
            <a:r>
              <a:rPr lang="en-US" sz="2000" b="0" i="1" u="none" strike="noStrike" baseline="0" dirty="0">
                <a:latin typeface="+mj-lt"/>
              </a:rPr>
              <a:t>.</a:t>
            </a:r>
          </a:p>
          <a:p>
            <a:pPr algn="l"/>
            <a:r>
              <a:rPr lang="en-US" sz="2000" b="0" i="0" u="none" strike="noStrike" baseline="0" dirty="0">
                <a:latin typeface="+mj-lt"/>
              </a:rPr>
              <a:t>Silicosis was made a notifiable disease under the Factories Act 1948 and the Mines Act 1952.</a:t>
            </a:r>
            <a:endParaRPr lang="en-US" sz="3200" dirty="0">
              <a:latin typeface="+mj-lt"/>
            </a:endParaRPr>
          </a:p>
        </p:txBody>
      </p:sp>
    </p:spTree>
    <p:extLst>
      <p:ext uri="{BB962C8B-B14F-4D97-AF65-F5344CB8AC3E}">
        <p14:creationId xmlns:p14="http://schemas.microsoft.com/office/powerpoint/2010/main" val="1343648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94C8C-9A44-CBF2-469D-668C769A6483}"/>
              </a:ext>
            </a:extLst>
          </p:cNvPr>
          <p:cNvSpPr>
            <a:spLocks noGrp="1"/>
          </p:cNvSpPr>
          <p:nvPr>
            <p:ph type="title"/>
          </p:nvPr>
        </p:nvSpPr>
        <p:spPr>
          <a:xfrm>
            <a:off x="838200" y="0"/>
            <a:ext cx="10515600" cy="1325563"/>
          </a:xfrm>
        </p:spPr>
        <p:txBody>
          <a:bodyPr/>
          <a:lstStyle/>
          <a:p>
            <a:r>
              <a:rPr lang="en-US" dirty="0"/>
              <a:t>Anthracosis</a:t>
            </a:r>
          </a:p>
        </p:txBody>
      </p:sp>
      <p:sp>
        <p:nvSpPr>
          <p:cNvPr id="3" name="Content Placeholder 2">
            <a:extLst>
              <a:ext uri="{FF2B5EF4-FFF2-40B4-BE49-F238E27FC236}">
                <a16:creationId xmlns:a16="http://schemas.microsoft.com/office/drawing/2014/main" id="{2F4C799F-4E6E-CA17-FB76-0241EF303BD3}"/>
              </a:ext>
            </a:extLst>
          </p:cNvPr>
          <p:cNvSpPr>
            <a:spLocks noGrp="1"/>
          </p:cNvSpPr>
          <p:nvPr>
            <p:ph idx="1"/>
          </p:nvPr>
        </p:nvSpPr>
        <p:spPr>
          <a:xfrm>
            <a:off x="102741" y="1304818"/>
            <a:ext cx="11856377" cy="5260369"/>
          </a:xfrm>
        </p:spPr>
        <p:txBody>
          <a:bodyPr>
            <a:normAutofit fontScale="92500" lnSpcReduction="10000"/>
          </a:bodyPr>
          <a:lstStyle/>
          <a:p>
            <a:pPr algn="l"/>
            <a:r>
              <a:rPr lang="en-US" b="0" i="0" u="none" strike="noStrike" baseline="0" dirty="0">
                <a:latin typeface="+mj-lt"/>
              </a:rPr>
              <a:t>There are two general phases in coal miners pneumoconiosis – </a:t>
            </a:r>
          </a:p>
          <a:p>
            <a:pPr algn="l"/>
            <a:r>
              <a:rPr lang="en-US" b="0" i="0" u="none" strike="noStrike" baseline="0" dirty="0">
                <a:latin typeface="+mj-lt"/>
              </a:rPr>
              <a:t>The first phase is labelled </a:t>
            </a:r>
            <a:r>
              <a:rPr lang="en-US" b="0" i="1" u="none" strike="noStrike" baseline="0" dirty="0">
                <a:latin typeface="+mj-lt"/>
              </a:rPr>
              <a:t>simple pneumoconiosis </a:t>
            </a:r>
            <a:r>
              <a:rPr lang="en-US" b="0" i="0" u="none" strike="noStrike" baseline="0" dirty="0">
                <a:latin typeface="+mj-lt"/>
              </a:rPr>
              <a:t>which is associated with little ventilatory impairment. </a:t>
            </a:r>
          </a:p>
          <a:p>
            <a:pPr lvl="1"/>
            <a:r>
              <a:rPr lang="en-US" sz="2000" b="0" i="0" u="none" strike="noStrike" baseline="0" dirty="0">
                <a:latin typeface="+mj-lt"/>
              </a:rPr>
              <a:t>This phase may require about 12 years of work exposure for its development </a:t>
            </a:r>
          </a:p>
          <a:p>
            <a:pPr algn="l"/>
            <a:r>
              <a:rPr lang="en-US" b="0" i="0" u="none" strike="noStrike" baseline="0" dirty="0">
                <a:latin typeface="+mj-lt"/>
              </a:rPr>
              <a:t>The second phase is </a:t>
            </a:r>
            <a:r>
              <a:rPr lang="en-US" b="0" i="0" u="none" strike="noStrike" baseline="0" dirty="0" err="1">
                <a:latin typeface="+mj-lt"/>
              </a:rPr>
              <a:t>characterised</a:t>
            </a:r>
            <a:r>
              <a:rPr lang="en-US" b="0" i="0" u="none" strike="noStrike" baseline="0" dirty="0">
                <a:latin typeface="+mj-lt"/>
              </a:rPr>
              <a:t> by </a:t>
            </a:r>
            <a:r>
              <a:rPr lang="en-US" b="0" i="1" u="none" strike="noStrike" baseline="0" dirty="0">
                <a:latin typeface="+mj-lt"/>
              </a:rPr>
              <a:t>progressive massive fibrosis </a:t>
            </a:r>
            <a:r>
              <a:rPr lang="en-US" b="0" i="0" u="none" strike="noStrike" baseline="0" dirty="0">
                <a:latin typeface="+mj-lt"/>
              </a:rPr>
              <a:t>(PMF);</a:t>
            </a:r>
          </a:p>
          <a:p>
            <a:pPr lvl="1"/>
            <a:r>
              <a:rPr lang="en-US" sz="2000" b="0" i="0" u="none" strike="noStrike" baseline="0" dirty="0">
                <a:latin typeface="+mj-lt"/>
              </a:rPr>
              <a:t>Causes severe respiratory disability and frequently results in premature death. </a:t>
            </a:r>
          </a:p>
          <a:p>
            <a:pPr algn="l"/>
            <a:r>
              <a:rPr lang="en-US" b="0" i="0" u="none" strike="noStrike" baseline="0" dirty="0">
                <a:latin typeface="+mj-lt"/>
              </a:rPr>
              <a:t>Once a background of simple pneumoconiosis has been attained in the coal worker, a progressive massive fibrosis may develop out of it without further exposure to it. </a:t>
            </a:r>
          </a:p>
          <a:p>
            <a:pPr algn="l"/>
            <a:r>
              <a:rPr lang="en-US" b="0" i="0" u="none" strike="noStrike" baseline="0" dirty="0">
                <a:latin typeface="+mj-lt"/>
              </a:rPr>
              <a:t>The risk of death among coal miners has been nearly twice that of the general population</a:t>
            </a:r>
            <a:r>
              <a:rPr lang="en-US" b="0" i="1" u="none" strike="noStrike" baseline="0" dirty="0">
                <a:latin typeface="+mj-lt"/>
              </a:rPr>
              <a:t>. </a:t>
            </a:r>
          </a:p>
          <a:p>
            <a:pPr algn="l"/>
            <a:r>
              <a:rPr lang="en-US" b="0" i="0" u="none" strike="noStrike" baseline="0" dirty="0">
                <a:latin typeface="+mj-lt"/>
              </a:rPr>
              <a:t>Coal-miners’ pneumoconiosis has been declared a notifiable disease in the Indian Mines Act of 1952, and also </a:t>
            </a:r>
            <a:r>
              <a:rPr lang="en-US" b="0" i="0" u="none" strike="noStrike" baseline="0" dirty="0" err="1">
                <a:latin typeface="+mj-lt"/>
              </a:rPr>
              <a:t>compensatable</a:t>
            </a:r>
            <a:r>
              <a:rPr lang="en-US" b="0" i="0" u="none" strike="noStrike" baseline="0" dirty="0">
                <a:latin typeface="+mj-lt"/>
              </a:rPr>
              <a:t> in the Workmen’s Compensation (Amendment) Act of 1959.</a:t>
            </a:r>
            <a:endParaRPr lang="en-US" sz="4000" dirty="0">
              <a:latin typeface="+mj-lt"/>
            </a:endParaRPr>
          </a:p>
        </p:txBody>
      </p:sp>
    </p:spTree>
    <p:extLst>
      <p:ext uri="{BB962C8B-B14F-4D97-AF65-F5344CB8AC3E}">
        <p14:creationId xmlns:p14="http://schemas.microsoft.com/office/powerpoint/2010/main" val="3480340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42AEE-7E1E-0AE4-4BA9-116B350410D4}"/>
              </a:ext>
            </a:extLst>
          </p:cNvPr>
          <p:cNvSpPr>
            <a:spLocks noGrp="1"/>
          </p:cNvSpPr>
          <p:nvPr>
            <p:ph type="title"/>
          </p:nvPr>
        </p:nvSpPr>
        <p:spPr/>
        <p:txBody>
          <a:bodyPr/>
          <a:lstStyle/>
          <a:p>
            <a:r>
              <a:rPr lang="en-US" dirty="0"/>
              <a:t>Byssinosis</a:t>
            </a:r>
          </a:p>
        </p:txBody>
      </p:sp>
      <p:sp>
        <p:nvSpPr>
          <p:cNvPr id="3" name="Content Placeholder 2">
            <a:extLst>
              <a:ext uri="{FF2B5EF4-FFF2-40B4-BE49-F238E27FC236}">
                <a16:creationId xmlns:a16="http://schemas.microsoft.com/office/drawing/2014/main" id="{469F562D-127D-4AEC-6707-721A78B66FCD}"/>
              </a:ext>
            </a:extLst>
          </p:cNvPr>
          <p:cNvSpPr>
            <a:spLocks noGrp="1"/>
          </p:cNvSpPr>
          <p:nvPr>
            <p:ph idx="1"/>
          </p:nvPr>
        </p:nvSpPr>
        <p:spPr/>
        <p:txBody>
          <a:bodyPr>
            <a:normAutofit/>
          </a:bodyPr>
          <a:lstStyle/>
          <a:p>
            <a:pPr algn="l"/>
            <a:r>
              <a:rPr lang="en-US" sz="2400" b="0" i="0" u="none" strike="noStrike" baseline="0" dirty="0">
                <a:latin typeface="+mj-lt"/>
              </a:rPr>
              <a:t>Byssinosis is due to inhalation of cotton </a:t>
            </a:r>
            <a:r>
              <a:rPr lang="en-US" sz="2400" b="0" i="0" u="none" strike="noStrike" baseline="0" dirty="0" err="1">
                <a:latin typeface="+mj-lt"/>
              </a:rPr>
              <a:t>fibre</a:t>
            </a:r>
            <a:r>
              <a:rPr lang="en-US" sz="2400" b="0" i="0" u="none" strike="noStrike" baseline="0" dirty="0">
                <a:latin typeface="+mj-lt"/>
              </a:rPr>
              <a:t> dust over long periods of time. </a:t>
            </a:r>
          </a:p>
          <a:p>
            <a:pPr algn="l"/>
            <a:r>
              <a:rPr lang="en-US" sz="2400" b="0" i="0" u="none" strike="noStrike" baseline="0" dirty="0">
                <a:latin typeface="+mj-lt"/>
              </a:rPr>
              <a:t>The symptoms are chronic cough and progressive </a:t>
            </a:r>
            <a:r>
              <a:rPr lang="en-US" sz="2400" b="0" i="0" u="none" strike="noStrike" baseline="0" dirty="0" err="1">
                <a:latin typeface="+mj-lt"/>
              </a:rPr>
              <a:t>dyspnoea</a:t>
            </a:r>
            <a:r>
              <a:rPr lang="en-US" sz="2400" b="0" i="0" u="none" strike="noStrike" baseline="0" dirty="0">
                <a:latin typeface="+mj-lt"/>
              </a:rPr>
              <a:t>, ending in chronic bronchitis and emphysema. </a:t>
            </a:r>
          </a:p>
          <a:p>
            <a:pPr algn="l"/>
            <a:r>
              <a:rPr lang="en-US" sz="2400" b="0" i="0" u="none" strike="noStrike" baseline="0" dirty="0">
                <a:latin typeface="+mj-lt"/>
              </a:rPr>
              <a:t>India has a large textile industry employing nearly 35 per cent of the factory workers. </a:t>
            </a:r>
          </a:p>
          <a:p>
            <a:pPr algn="l"/>
            <a:r>
              <a:rPr lang="en-US" sz="2400" b="0" i="0" u="none" strike="noStrike" baseline="0" dirty="0">
                <a:latin typeface="+mj-lt"/>
              </a:rPr>
              <a:t>Incidence of byssinosis is reported to be 7 to 8 per cent in three independent surveys carried out in Mumbai, Ahmedabad and Delhi</a:t>
            </a:r>
            <a:endParaRPr lang="en-US" sz="3600" dirty="0">
              <a:latin typeface="+mj-lt"/>
            </a:endParaRPr>
          </a:p>
        </p:txBody>
      </p:sp>
    </p:spTree>
    <p:extLst>
      <p:ext uri="{BB962C8B-B14F-4D97-AF65-F5344CB8AC3E}">
        <p14:creationId xmlns:p14="http://schemas.microsoft.com/office/powerpoint/2010/main" val="625474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47F-34F3-8324-EA41-DD94AD4FF86A}"/>
              </a:ext>
            </a:extLst>
          </p:cNvPr>
          <p:cNvSpPr>
            <a:spLocks noGrp="1"/>
          </p:cNvSpPr>
          <p:nvPr>
            <p:ph type="title"/>
          </p:nvPr>
        </p:nvSpPr>
        <p:spPr>
          <a:xfrm>
            <a:off x="838200" y="365125"/>
            <a:ext cx="10515600" cy="569823"/>
          </a:xfrm>
        </p:spPr>
        <p:txBody>
          <a:bodyPr>
            <a:normAutofit fontScale="90000"/>
          </a:bodyPr>
          <a:lstStyle/>
          <a:p>
            <a:r>
              <a:rPr lang="en-US" dirty="0" err="1"/>
              <a:t>Bagassosis</a:t>
            </a:r>
            <a:endParaRPr lang="en-US" dirty="0"/>
          </a:p>
        </p:txBody>
      </p:sp>
      <p:sp>
        <p:nvSpPr>
          <p:cNvPr id="3" name="Content Placeholder 2">
            <a:extLst>
              <a:ext uri="{FF2B5EF4-FFF2-40B4-BE49-F238E27FC236}">
                <a16:creationId xmlns:a16="http://schemas.microsoft.com/office/drawing/2014/main" id="{7B742370-B405-423F-EFC2-67149DDADB8A}"/>
              </a:ext>
            </a:extLst>
          </p:cNvPr>
          <p:cNvSpPr>
            <a:spLocks noGrp="1"/>
          </p:cNvSpPr>
          <p:nvPr>
            <p:ph idx="1"/>
          </p:nvPr>
        </p:nvSpPr>
        <p:spPr>
          <a:xfrm>
            <a:off x="1" y="1376737"/>
            <a:ext cx="12051586" cy="5116137"/>
          </a:xfrm>
        </p:spPr>
        <p:txBody>
          <a:bodyPr>
            <a:normAutofit lnSpcReduction="10000"/>
          </a:bodyPr>
          <a:lstStyle/>
          <a:p>
            <a:pPr algn="l"/>
            <a:r>
              <a:rPr lang="en-US" sz="2000" b="0" i="0" u="none" strike="noStrike" baseline="0" dirty="0">
                <a:latin typeface="+mj-lt"/>
              </a:rPr>
              <a:t>Caused by inhalation of bagasse or sugarcane dust. It was first reported in India by Ganguli and Pal in 1955 in a cardboard manufacturing firm near Kolkata. </a:t>
            </a:r>
          </a:p>
          <a:p>
            <a:pPr algn="l"/>
            <a:r>
              <a:rPr lang="en-US" sz="2000" b="0" i="0" u="none" strike="noStrike" baseline="0" dirty="0">
                <a:latin typeface="+mj-lt"/>
              </a:rPr>
              <a:t>The sugarcane </a:t>
            </a:r>
            <a:r>
              <a:rPr lang="en-US" sz="2000" b="0" i="0" u="none" strike="noStrike" baseline="0" dirty="0" err="1">
                <a:latin typeface="+mj-lt"/>
              </a:rPr>
              <a:t>fibre</a:t>
            </a:r>
            <a:r>
              <a:rPr lang="en-US" sz="2000" b="0" i="0" u="none" strike="noStrike" baseline="0" dirty="0">
                <a:latin typeface="+mj-lt"/>
              </a:rPr>
              <a:t> which earlier went to waste, is now utilized in the manufacturing of paper, cardboard and rayon. </a:t>
            </a:r>
          </a:p>
          <a:p>
            <a:pPr algn="l"/>
            <a:r>
              <a:rPr lang="en-US" sz="2000" b="0" i="0" u="none" strike="noStrike" baseline="0" dirty="0" err="1">
                <a:latin typeface="+mj-lt"/>
              </a:rPr>
              <a:t>Bagassosis</a:t>
            </a:r>
            <a:r>
              <a:rPr lang="en-US" sz="2000" b="0" i="0" u="none" strike="noStrike" baseline="0" dirty="0">
                <a:latin typeface="+mj-lt"/>
              </a:rPr>
              <a:t> has been shown to be due to a thermophilic actinomycete for which the name </a:t>
            </a:r>
            <a:r>
              <a:rPr lang="en-US" sz="2000" b="0" i="1" u="none" strike="noStrike" baseline="0" dirty="0" err="1">
                <a:latin typeface="+mj-lt"/>
              </a:rPr>
              <a:t>Thermoactinomyces</a:t>
            </a:r>
            <a:r>
              <a:rPr lang="en-US" sz="2000" b="0" i="1" u="none" strike="noStrike" baseline="0" dirty="0">
                <a:latin typeface="+mj-lt"/>
              </a:rPr>
              <a:t> </a:t>
            </a:r>
            <a:r>
              <a:rPr lang="en-US" sz="2000" b="0" i="1" u="none" strike="noStrike" baseline="0" dirty="0" err="1">
                <a:latin typeface="+mj-lt"/>
              </a:rPr>
              <a:t>sacchari</a:t>
            </a:r>
            <a:r>
              <a:rPr lang="en-US" sz="2000" b="0" i="1" u="none" strike="noStrike" baseline="0" dirty="0">
                <a:latin typeface="+mj-lt"/>
              </a:rPr>
              <a:t> was </a:t>
            </a:r>
            <a:r>
              <a:rPr lang="en-US" sz="2000" b="0" i="0" u="none" strike="noStrike" baseline="0" dirty="0">
                <a:latin typeface="+mj-lt"/>
              </a:rPr>
              <a:t>suggested</a:t>
            </a:r>
            <a:r>
              <a:rPr lang="en-US" sz="2000" b="0" i="1" u="none" strike="noStrike" baseline="0" dirty="0">
                <a:latin typeface="+mj-lt"/>
              </a:rPr>
              <a:t>. </a:t>
            </a:r>
          </a:p>
          <a:p>
            <a:pPr algn="l"/>
            <a:r>
              <a:rPr lang="en-US" sz="2000" b="0" i="0" u="none" strike="noStrike" baseline="0" dirty="0">
                <a:latin typeface="+mj-lt"/>
              </a:rPr>
              <a:t>The symptoms consist of breathlessness, cough, </a:t>
            </a:r>
            <a:r>
              <a:rPr lang="en-US" sz="2000" b="0" i="0" u="none" strike="noStrike" baseline="0" dirty="0" err="1">
                <a:latin typeface="+mj-lt"/>
              </a:rPr>
              <a:t>haemoptysis</a:t>
            </a:r>
            <a:r>
              <a:rPr lang="en-US" sz="2000" b="0" i="0" u="none" strike="noStrike" baseline="0" dirty="0">
                <a:latin typeface="+mj-lt"/>
              </a:rPr>
              <a:t> and slight fever. Initially there is acute diffuse bronchiolitis. Skiagram may show mottling in lungs or shadow. There is impairment of pulmonary function</a:t>
            </a:r>
            <a:r>
              <a:rPr lang="en-US" sz="2000" b="0" i="1" u="none" strike="noStrike" baseline="0" dirty="0">
                <a:latin typeface="+mj-lt"/>
              </a:rPr>
              <a:t>. </a:t>
            </a:r>
          </a:p>
          <a:p>
            <a:pPr algn="l"/>
            <a:r>
              <a:rPr lang="en-US" sz="2000" b="0" i="0" u="none" strike="noStrike" baseline="0" dirty="0">
                <a:latin typeface="+mj-lt"/>
              </a:rPr>
              <a:t>If treated early, there is resolution of the acute inflammatory condition of the lung. If left untreated, there is diffuse fibrosis, emphysema and bronchiectasis.</a:t>
            </a:r>
          </a:p>
          <a:p>
            <a:pPr algn="l"/>
            <a:r>
              <a:rPr lang="en-US" sz="2000" b="0" i="0" u="none" strike="noStrike" baseline="0" dirty="0">
                <a:latin typeface="+mj-lt"/>
              </a:rPr>
              <a:t>PREVENTIVE MEASURES : </a:t>
            </a:r>
          </a:p>
          <a:p>
            <a:pPr lvl="1"/>
            <a:r>
              <a:rPr lang="en-US" sz="1600" b="0" i="0" u="none" strike="noStrike" baseline="0" dirty="0">
                <a:latin typeface="+mj-lt"/>
              </a:rPr>
              <a:t>DUST </a:t>
            </a:r>
            <a:r>
              <a:rPr lang="en-US" sz="1600" b="0" i="1" u="none" strike="noStrike" baseline="0" dirty="0">
                <a:latin typeface="+mj-lt"/>
              </a:rPr>
              <a:t>CONTROL : </a:t>
            </a:r>
            <a:r>
              <a:rPr lang="en-US" sz="1600" b="0" i="0" u="none" strike="noStrike" baseline="0" dirty="0">
                <a:latin typeface="+mj-lt"/>
              </a:rPr>
              <a:t>Measures for the prevention and suppression of dust such as wet process, enclosed apparatus, exhaust ventilation etc., should be used. </a:t>
            </a:r>
          </a:p>
          <a:p>
            <a:pPr lvl="1"/>
            <a:r>
              <a:rPr lang="en-US" sz="1600" b="0" i="0" u="none" strike="noStrike" baseline="0" dirty="0">
                <a:latin typeface="+mj-lt"/>
              </a:rPr>
              <a:t>PERSONAL </a:t>
            </a:r>
            <a:r>
              <a:rPr lang="en-US" sz="1600" b="0" i="1" u="none" strike="noStrike" baseline="0" dirty="0">
                <a:latin typeface="+mj-lt"/>
              </a:rPr>
              <a:t>PROTECTION : </a:t>
            </a:r>
            <a:r>
              <a:rPr lang="en-US" sz="1600" b="0" i="0" u="none" strike="noStrike" baseline="0" dirty="0">
                <a:latin typeface="+mj-lt"/>
              </a:rPr>
              <a:t>Personal protective equipment (masks or respirators with mechanical filters or with oxygen or air supply) may be necessary. </a:t>
            </a:r>
          </a:p>
          <a:p>
            <a:pPr lvl="1"/>
            <a:r>
              <a:rPr lang="en-US" sz="1600" b="0" i="1" u="none" strike="noStrike" baseline="0" dirty="0">
                <a:latin typeface="+mj-lt"/>
              </a:rPr>
              <a:t>MEDICAL CONTROL : </a:t>
            </a:r>
            <a:r>
              <a:rPr lang="en-US" sz="1600" b="0" i="0" u="none" strike="noStrike" baseline="0" dirty="0">
                <a:latin typeface="+mj-lt"/>
              </a:rPr>
              <a:t>Initial medical examination and periodical medical check-ups of the workers are indicated. </a:t>
            </a:r>
          </a:p>
          <a:p>
            <a:pPr lvl="1"/>
            <a:r>
              <a:rPr lang="en-US" sz="1600" b="0" i="1" u="none" strike="noStrike" baseline="0" dirty="0">
                <a:latin typeface="+mj-lt"/>
              </a:rPr>
              <a:t>BAGASSE CONTROL : </a:t>
            </a:r>
            <a:r>
              <a:rPr lang="en-US" sz="1600" b="0" i="0" u="none" strike="noStrike" baseline="0" dirty="0">
                <a:latin typeface="+mj-lt"/>
              </a:rPr>
              <a:t>By keeping the moisture content above 20 per cent and spraying the bagasse with 2 per cent propionic acid, a widely used fungicide, bagasse can be rendered safe for manufacturing use</a:t>
            </a:r>
            <a:endParaRPr lang="en-US" sz="2800" dirty="0">
              <a:latin typeface="+mj-lt"/>
            </a:endParaRPr>
          </a:p>
        </p:txBody>
      </p:sp>
    </p:spTree>
    <p:extLst>
      <p:ext uri="{BB962C8B-B14F-4D97-AF65-F5344CB8AC3E}">
        <p14:creationId xmlns:p14="http://schemas.microsoft.com/office/powerpoint/2010/main" val="844640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DA1D8-1DF1-5971-FC83-C36E623033F9}"/>
              </a:ext>
            </a:extLst>
          </p:cNvPr>
          <p:cNvSpPr>
            <a:spLocks noGrp="1"/>
          </p:cNvSpPr>
          <p:nvPr>
            <p:ph type="title"/>
          </p:nvPr>
        </p:nvSpPr>
        <p:spPr/>
        <p:txBody>
          <a:bodyPr/>
          <a:lstStyle/>
          <a:p>
            <a:r>
              <a:rPr lang="en-US" dirty="0"/>
              <a:t>Asbestosis</a:t>
            </a:r>
          </a:p>
        </p:txBody>
      </p:sp>
      <p:sp>
        <p:nvSpPr>
          <p:cNvPr id="3" name="Content Placeholder 2">
            <a:extLst>
              <a:ext uri="{FF2B5EF4-FFF2-40B4-BE49-F238E27FC236}">
                <a16:creationId xmlns:a16="http://schemas.microsoft.com/office/drawing/2014/main" id="{7C6EABE7-A15B-71BC-2796-8896028AA4A0}"/>
              </a:ext>
            </a:extLst>
          </p:cNvPr>
          <p:cNvSpPr>
            <a:spLocks noGrp="1"/>
          </p:cNvSpPr>
          <p:nvPr>
            <p:ph idx="1"/>
          </p:nvPr>
        </p:nvSpPr>
        <p:spPr/>
        <p:txBody>
          <a:bodyPr>
            <a:normAutofit lnSpcReduction="10000"/>
          </a:bodyPr>
          <a:lstStyle/>
          <a:p>
            <a:pPr algn="l"/>
            <a:r>
              <a:rPr lang="en-US" sz="2000" b="0" i="0" u="none" strike="noStrike" baseline="0" dirty="0">
                <a:latin typeface="+mj-lt"/>
              </a:rPr>
              <a:t>Asbestos is the commercial name given to certain types of fibrous materials. They are silicates of varying composition; the silica is combined with such bases as magnesium, iron, calcium, sodium and </a:t>
            </a:r>
            <a:r>
              <a:rPr lang="en-US" sz="2000" b="0" i="0" u="none" strike="noStrike" baseline="0" dirty="0" err="1">
                <a:latin typeface="+mj-lt"/>
              </a:rPr>
              <a:t>aluminium</a:t>
            </a:r>
            <a:r>
              <a:rPr lang="en-US" sz="2000" b="0" i="0" u="none" strike="noStrike" baseline="0" dirty="0">
                <a:latin typeface="+mj-lt"/>
              </a:rPr>
              <a:t>. </a:t>
            </a:r>
          </a:p>
          <a:p>
            <a:pPr algn="l"/>
            <a:r>
              <a:rPr lang="en-US" sz="2000" b="0" i="0" u="none" strike="noStrike" baseline="0" dirty="0">
                <a:latin typeface="+mj-lt"/>
              </a:rPr>
              <a:t>Asbestos is of two types - serpentine or chrysolite variety and the amphibole type.</a:t>
            </a:r>
          </a:p>
          <a:p>
            <a:pPr algn="l"/>
            <a:r>
              <a:rPr lang="en-US" sz="2000" b="0" i="0" u="none" strike="noStrike" baseline="0" dirty="0">
                <a:latin typeface="+mj-lt"/>
              </a:rPr>
              <a:t>Ninety per cent of the world’s production of asbestos is of the serpentine variety, which is hydrated magnesium silicate,</a:t>
            </a:r>
          </a:p>
          <a:p>
            <a:pPr algn="l"/>
            <a:r>
              <a:rPr lang="en-US" sz="2000" b="0" i="0" u="none" strike="noStrike" baseline="0" dirty="0">
                <a:latin typeface="+mj-lt"/>
              </a:rPr>
              <a:t>the amphibole type contains little magnesium. The amphibole type occurs in different varieties, e.g., crocidolite (blue), amosite (brown), and </a:t>
            </a:r>
            <a:r>
              <a:rPr lang="en-US" sz="2000" b="0" i="0" u="none" strike="noStrike" baseline="0" dirty="0" err="1">
                <a:latin typeface="+mj-lt"/>
              </a:rPr>
              <a:t>anthrophyllite</a:t>
            </a:r>
            <a:r>
              <a:rPr lang="en-US" sz="2000" b="0" i="0" u="none" strike="noStrike" baseline="0" dirty="0">
                <a:latin typeface="+mj-lt"/>
              </a:rPr>
              <a:t> (white)</a:t>
            </a:r>
            <a:r>
              <a:rPr lang="en-US" sz="2000" b="0" i="1" u="none" strike="noStrike" baseline="0" dirty="0">
                <a:latin typeface="+mj-lt"/>
              </a:rPr>
              <a:t>.</a:t>
            </a:r>
          </a:p>
          <a:p>
            <a:pPr algn="l"/>
            <a:r>
              <a:rPr lang="en-US" sz="2000" b="0" i="0" u="none" strike="noStrike" baseline="0" dirty="0">
                <a:latin typeface="+mj-lt"/>
              </a:rPr>
              <a:t>Asbestos </a:t>
            </a:r>
            <a:r>
              <a:rPr lang="en-US" sz="2000" b="0" i="0" u="none" strike="noStrike" baseline="0" dirty="0" err="1">
                <a:latin typeface="+mj-lt"/>
              </a:rPr>
              <a:t>fibres</a:t>
            </a:r>
            <a:r>
              <a:rPr lang="en-US" sz="2000" b="0" i="0" u="none" strike="noStrike" baseline="0" dirty="0">
                <a:latin typeface="+mj-lt"/>
              </a:rPr>
              <a:t> are usually from 20 to 500 g in length and 0.5 to 50 g in diameter. </a:t>
            </a:r>
          </a:p>
          <a:p>
            <a:pPr algn="l"/>
            <a:r>
              <a:rPr lang="en-US" sz="2000" b="0" i="0" u="none" strike="noStrike" baseline="0" dirty="0">
                <a:latin typeface="+mj-lt"/>
              </a:rPr>
              <a:t>Asbestos is used in the manufacture of asbestos cement, fire-proof textiles, roof tiling, brake lining , gaskets and several other items. </a:t>
            </a:r>
          </a:p>
          <a:p>
            <a:pPr algn="l"/>
            <a:r>
              <a:rPr lang="en-US" sz="2000" b="0" i="0" u="none" strike="noStrike" baseline="0" dirty="0">
                <a:latin typeface="+mj-lt"/>
              </a:rPr>
              <a:t>Asbestos is mined in Andhra Pradesh (</a:t>
            </a:r>
            <a:r>
              <a:rPr lang="en-US" sz="2000" b="0" i="0" u="none" strike="noStrike" baseline="0" dirty="0" err="1">
                <a:latin typeface="+mj-lt"/>
              </a:rPr>
              <a:t>Cudappah</a:t>
            </a:r>
            <a:r>
              <a:rPr lang="en-US" sz="2000" b="0" i="0" u="none" strike="noStrike" baseline="0" dirty="0">
                <a:latin typeface="+mj-lt"/>
              </a:rPr>
              <a:t>), Bihar, Jharkhand, Karnataka, and Rajasthan - but most of it is imported from USSR, Canada, US and South Africa.</a:t>
            </a:r>
            <a:endParaRPr lang="en-US" sz="3200" dirty="0">
              <a:latin typeface="+mj-lt"/>
            </a:endParaRPr>
          </a:p>
        </p:txBody>
      </p:sp>
    </p:spTree>
    <p:extLst>
      <p:ext uri="{BB962C8B-B14F-4D97-AF65-F5344CB8AC3E}">
        <p14:creationId xmlns:p14="http://schemas.microsoft.com/office/powerpoint/2010/main" val="4044184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CF06-034E-9D0E-752A-EE391E30561E}"/>
              </a:ext>
            </a:extLst>
          </p:cNvPr>
          <p:cNvSpPr>
            <a:spLocks noGrp="1"/>
          </p:cNvSpPr>
          <p:nvPr>
            <p:ph type="title"/>
          </p:nvPr>
        </p:nvSpPr>
        <p:spPr/>
        <p:txBody>
          <a:bodyPr/>
          <a:lstStyle/>
          <a:p>
            <a:r>
              <a:rPr lang="en-US" dirty="0"/>
              <a:t>Asbestosis</a:t>
            </a:r>
          </a:p>
        </p:txBody>
      </p:sp>
      <p:sp>
        <p:nvSpPr>
          <p:cNvPr id="3" name="Content Placeholder 2">
            <a:extLst>
              <a:ext uri="{FF2B5EF4-FFF2-40B4-BE49-F238E27FC236}">
                <a16:creationId xmlns:a16="http://schemas.microsoft.com/office/drawing/2014/main" id="{9B02405C-F7EF-6B3E-DA38-A7BF3D83EB69}"/>
              </a:ext>
            </a:extLst>
          </p:cNvPr>
          <p:cNvSpPr>
            <a:spLocks noGrp="1"/>
          </p:cNvSpPr>
          <p:nvPr>
            <p:ph idx="1"/>
          </p:nvPr>
        </p:nvSpPr>
        <p:spPr/>
        <p:txBody>
          <a:bodyPr>
            <a:normAutofit/>
          </a:bodyPr>
          <a:lstStyle/>
          <a:p>
            <a:pPr algn="l"/>
            <a:r>
              <a:rPr lang="en-US" sz="2000" b="0" i="0" u="none" strike="noStrike" baseline="0" dirty="0">
                <a:latin typeface="+mj-lt"/>
              </a:rPr>
              <a:t>Asbestos enters the body by inhalation, and fine dust may be deposited in the alveoli. The </a:t>
            </a:r>
            <a:r>
              <a:rPr lang="en-US" sz="2000" b="0" i="0" u="none" strike="noStrike" baseline="0" dirty="0" err="1">
                <a:latin typeface="+mj-lt"/>
              </a:rPr>
              <a:t>fibres</a:t>
            </a:r>
            <a:r>
              <a:rPr lang="en-US" sz="2000" b="0" i="0" u="none" strike="noStrike" baseline="0" dirty="0">
                <a:latin typeface="+mj-lt"/>
              </a:rPr>
              <a:t> are insoluble.</a:t>
            </a:r>
          </a:p>
          <a:p>
            <a:pPr algn="l"/>
            <a:r>
              <a:rPr lang="en-US" sz="2000" b="0" i="0" u="none" strike="noStrike" baseline="0" dirty="0">
                <a:latin typeface="+mj-lt"/>
              </a:rPr>
              <a:t>The dust deposited in the lungs causes pulmonary fibrosis leading to respiratory insufficiency and death; carcinoma of the bronchus; mesothelioma of the pleura or peritoneum; and cancer of the gastro-intestinal tract</a:t>
            </a:r>
          </a:p>
          <a:p>
            <a:pPr algn="l"/>
            <a:r>
              <a:rPr lang="en-US" sz="2000" b="0" i="0" u="none" strike="noStrike" baseline="0" dirty="0">
                <a:latin typeface="+mj-lt"/>
              </a:rPr>
              <a:t>The risk of bronchial cancer is reported to be high if occupational exposure to asbestos is combined with cigarette smoking. </a:t>
            </a:r>
          </a:p>
          <a:p>
            <a:pPr algn="l"/>
            <a:r>
              <a:rPr lang="en-US" sz="2000" b="0" i="0" u="none" strike="noStrike" baseline="0" dirty="0">
                <a:latin typeface="+mj-lt"/>
              </a:rPr>
              <a:t>Mesothelioma, a rare form of cancer of the pleura and peritoneum, has been shown to have a strong association with the crocidolite variety of asbestos</a:t>
            </a:r>
            <a:r>
              <a:rPr lang="en-US" sz="2000" b="0" i="1" u="none" strike="noStrike" baseline="0" dirty="0">
                <a:latin typeface="+mj-lt"/>
              </a:rPr>
              <a:t>. </a:t>
            </a:r>
          </a:p>
          <a:p>
            <a:pPr algn="l"/>
            <a:r>
              <a:rPr lang="en-US" sz="2000" b="0" i="0" u="none" strike="noStrike" baseline="0" dirty="0">
                <a:latin typeface="+mj-lt"/>
              </a:rPr>
              <a:t>The disease does not usually appear until after 5 to 10 years of exposure</a:t>
            </a:r>
            <a:r>
              <a:rPr lang="en-US" sz="2000" b="0" i="1" u="none" strike="noStrike" baseline="0" dirty="0">
                <a:latin typeface="+mj-lt"/>
              </a:rPr>
              <a:t>. </a:t>
            </a:r>
          </a:p>
          <a:p>
            <a:pPr algn="l"/>
            <a:r>
              <a:rPr lang="en-US" sz="2000" b="0" i="0" u="none" strike="noStrike" baseline="0" dirty="0">
                <a:latin typeface="+mj-lt"/>
              </a:rPr>
              <a:t>The fibrosis in asbestosis is due to mechanical irritation, and is </a:t>
            </a:r>
            <a:r>
              <a:rPr lang="en-US" sz="2000" b="0" i="0" u="none" strike="noStrike" baseline="0" dirty="0" err="1">
                <a:latin typeface="+mj-lt"/>
              </a:rPr>
              <a:t>peribronchial</a:t>
            </a:r>
            <a:r>
              <a:rPr lang="en-US" sz="2000" b="0" i="0" u="none" strike="noStrike" baseline="0" dirty="0">
                <a:latin typeface="+mj-lt"/>
              </a:rPr>
              <a:t>, diffuse in character, and basal in location in contrast to silicosis in which the fibrosis is nodular in character and present in the upper part of the lung</a:t>
            </a:r>
            <a:r>
              <a:rPr lang="en-US" sz="2000" dirty="0">
                <a:latin typeface="+mj-lt"/>
              </a:rPr>
              <a:t>s</a:t>
            </a:r>
            <a:endParaRPr lang="en-US" sz="3200" dirty="0">
              <a:latin typeface="+mj-lt"/>
            </a:endParaRPr>
          </a:p>
        </p:txBody>
      </p:sp>
    </p:spTree>
    <p:extLst>
      <p:ext uri="{BB962C8B-B14F-4D97-AF65-F5344CB8AC3E}">
        <p14:creationId xmlns:p14="http://schemas.microsoft.com/office/powerpoint/2010/main" val="1153979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5BF57-2A16-3610-C563-4AA27754FA76}"/>
              </a:ext>
            </a:extLst>
          </p:cNvPr>
          <p:cNvSpPr>
            <a:spLocks noGrp="1"/>
          </p:cNvSpPr>
          <p:nvPr>
            <p:ph type="title"/>
          </p:nvPr>
        </p:nvSpPr>
        <p:spPr/>
        <p:txBody>
          <a:bodyPr/>
          <a:lstStyle/>
          <a:p>
            <a:r>
              <a:rPr lang="en-US" dirty="0"/>
              <a:t>Asbestosis</a:t>
            </a:r>
          </a:p>
        </p:txBody>
      </p:sp>
      <p:sp>
        <p:nvSpPr>
          <p:cNvPr id="3" name="Content Placeholder 2">
            <a:extLst>
              <a:ext uri="{FF2B5EF4-FFF2-40B4-BE49-F238E27FC236}">
                <a16:creationId xmlns:a16="http://schemas.microsoft.com/office/drawing/2014/main" id="{BE48AF7C-7790-4C60-0992-64B1EB53D612}"/>
              </a:ext>
            </a:extLst>
          </p:cNvPr>
          <p:cNvSpPr>
            <a:spLocks noGrp="1"/>
          </p:cNvSpPr>
          <p:nvPr>
            <p:ph idx="1"/>
          </p:nvPr>
        </p:nvSpPr>
        <p:spPr>
          <a:xfrm>
            <a:off x="74756" y="1825625"/>
            <a:ext cx="11279044" cy="4667250"/>
          </a:xfrm>
        </p:spPr>
        <p:txBody>
          <a:bodyPr>
            <a:normAutofit lnSpcReduction="10000"/>
          </a:bodyPr>
          <a:lstStyle/>
          <a:p>
            <a:pPr algn="l"/>
            <a:r>
              <a:rPr lang="en-US" sz="2400" b="0" i="0" u="none" strike="noStrike" baseline="0" dirty="0">
                <a:latin typeface="+mj-lt"/>
              </a:rPr>
              <a:t>Clinically the disease is characterized by </a:t>
            </a:r>
            <a:r>
              <a:rPr lang="en-US" sz="2400" b="0" i="0" u="none" strike="noStrike" baseline="0" dirty="0" err="1">
                <a:latin typeface="+mj-lt"/>
              </a:rPr>
              <a:t>dyspnoea</a:t>
            </a:r>
            <a:r>
              <a:rPr lang="en-US" sz="2400" b="0" i="0" u="none" strike="noStrike" baseline="0" dirty="0">
                <a:latin typeface="+mj-lt"/>
              </a:rPr>
              <a:t> which frequently out of proportion to the clinical signs in the lungs.</a:t>
            </a:r>
          </a:p>
          <a:p>
            <a:pPr algn="l"/>
            <a:r>
              <a:rPr lang="en-US" sz="2400" b="0" i="0" u="none" strike="noStrike" baseline="0" dirty="0">
                <a:latin typeface="+mj-lt"/>
              </a:rPr>
              <a:t>In advanced cases, there may be clubbing of fingers, cardiac distress and cyanosis. The sputum shows “asbestos bodies” which are asbestos </a:t>
            </a:r>
            <a:r>
              <a:rPr lang="en-US" sz="2400" b="0" i="0" u="none" strike="noStrike" baseline="0" dirty="0" err="1">
                <a:latin typeface="+mj-lt"/>
              </a:rPr>
              <a:t>fibres</a:t>
            </a:r>
            <a:r>
              <a:rPr lang="en-US" sz="2400" b="0" i="0" u="none" strike="noStrike" baseline="0" dirty="0">
                <a:latin typeface="+mj-lt"/>
              </a:rPr>
              <a:t> coated with fibrin. </a:t>
            </a:r>
          </a:p>
          <a:p>
            <a:pPr algn="l"/>
            <a:r>
              <a:rPr lang="en-US" sz="2400" b="0" i="0" u="none" strike="noStrike" baseline="0" dirty="0">
                <a:latin typeface="+mj-lt"/>
              </a:rPr>
              <a:t>An X-ray of the chest shows a ground-glass appearance in the lower two thirds of the lung fields. </a:t>
            </a:r>
          </a:p>
          <a:p>
            <a:pPr algn="l"/>
            <a:r>
              <a:rPr lang="en-US" sz="2400" b="0" i="0" u="none" strike="noStrike" baseline="0" dirty="0">
                <a:latin typeface="+mj-lt"/>
              </a:rPr>
              <a:t>Once established, the disease is progressive even after removal of the worker from contact</a:t>
            </a:r>
            <a:r>
              <a:rPr lang="en-US" sz="2400" b="0" i="1" u="none" strike="noStrike" baseline="0" dirty="0">
                <a:latin typeface="+mj-lt"/>
              </a:rPr>
              <a:t>.</a:t>
            </a:r>
          </a:p>
          <a:p>
            <a:pPr algn="l"/>
            <a:r>
              <a:rPr lang="en-US" sz="2400" b="0" i="0" u="none" strike="noStrike" baseline="0" dirty="0">
                <a:latin typeface="+mj-lt"/>
              </a:rPr>
              <a:t>The </a:t>
            </a:r>
            <a:r>
              <a:rPr lang="en-US" sz="2400" b="0" i="1" u="none" strike="noStrike" baseline="0" dirty="0">
                <a:latin typeface="+mj-lt"/>
              </a:rPr>
              <a:t>preventive measures </a:t>
            </a:r>
            <a:r>
              <a:rPr lang="en-US" sz="2400" b="0" i="0" u="none" strike="noStrike" baseline="0" dirty="0">
                <a:latin typeface="+mj-lt"/>
              </a:rPr>
              <a:t>consists of : </a:t>
            </a:r>
          </a:p>
          <a:p>
            <a:pPr lvl="1"/>
            <a:r>
              <a:rPr lang="en-US" sz="1800" b="0" i="0" u="none" strike="noStrike" baseline="0" dirty="0">
                <a:latin typeface="+mj-lt"/>
              </a:rPr>
              <a:t>Use of safer types of asbestos (chrysolite and amosite); </a:t>
            </a:r>
          </a:p>
          <a:p>
            <a:pPr lvl="1"/>
            <a:r>
              <a:rPr lang="en-US" sz="1800" b="0" i="0" u="none" strike="noStrike" baseline="0" dirty="0">
                <a:latin typeface="+mj-lt"/>
              </a:rPr>
              <a:t>Substitution of other insulants: glass </a:t>
            </a:r>
            <a:r>
              <a:rPr lang="en-US" sz="1800" b="0" i="0" u="none" strike="noStrike" baseline="0" dirty="0" err="1">
                <a:latin typeface="+mj-lt"/>
              </a:rPr>
              <a:t>fibre</a:t>
            </a:r>
            <a:r>
              <a:rPr lang="en-US" sz="1800" b="0" i="0" u="none" strike="noStrike" baseline="0" dirty="0">
                <a:latin typeface="+mj-lt"/>
              </a:rPr>
              <a:t>, mineral wool, calcium silicate plastic foams, etc.;</a:t>
            </a:r>
          </a:p>
          <a:p>
            <a:pPr lvl="1"/>
            <a:r>
              <a:rPr lang="en-US" sz="1800" b="0" i="0" u="none" strike="noStrike" baseline="0" dirty="0">
                <a:latin typeface="+mj-lt"/>
              </a:rPr>
              <a:t>Rigorous dust control; </a:t>
            </a:r>
          </a:p>
          <a:p>
            <a:pPr lvl="1"/>
            <a:r>
              <a:rPr lang="en-US" sz="1800" b="0" i="0" u="none" strike="noStrike" baseline="0" dirty="0">
                <a:latin typeface="+mj-lt"/>
              </a:rPr>
              <a:t>Periodic examination of workers; biological monitoring (clinical X-ray, lung function),</a:t>
            </a:r>
          </a:p>
          <a:p>
            <a:pPr lvl="1"/>
            <a:r>
              <a:rPr lang="en-US" sz="1800" dirty="0">
                <a:latin typeface="+mj-lt"/>
              </a:rPr>
              <a:t>C</a:t>
            </a:r>
            <a:r>
              <a:rPr lang="en-US" sz="1800" b="0" i="0" u="none" strike="noStrike" baseline="0" dirty="0">
                <a:latin typeface="+mj-lt"/>
              </a:rPr>
              <a:t>ontinuing research.</a:t>
            </a:r>
            <a:endParaRPr lang="en-US" sz="3200" dirty="0">
              <a:latin typeface="+mj-lt"/>
            </a:endParaRPr>
          </a:p>
        </p:txBody>
      </p:sp>
    </p:spTree>
    <p:extLst>
      <p:ext uri="{BB962C8B-B14F-4D97-AF65-F5344CB8AC3E}">
        <p14:creationId xmlns:p14="http://schemas.microsoft.com/office/powerpoint/2010/main" val="283586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0102-AF91-215A-EBA5-D5423D82F1DE}"/>
              </a:ext>
            </a:extLst>
          </p:cNvPr>
          <p:cNvSpPr>
            <a:spLocks noGrp="1"/>
          </p:cNvSpPr>
          <p:nvPr>
            <p:ph type="title"/>
          </p:nvPr>
        </p:nvSpPr>
        <p:spPr/>
        <p:txBody>
          <a:bodyPr/>
          <a:lstStyle/>
          <a:p>
            <a:r>
              <a:rPr lang="en-US" dirty="0"/>
              <a:t>Farmer’s Lung</a:t>
            </a:r>
          </a:p>
        </p:txBody>
      </p:sp>
      <p:sp>
        <p:nvSpPr>
          <p:cNvPr id="3" name="Content Placeholder 2">
            <a:extLst>
              <a:ext uri="{FF2B5EF4-FFF2-40B4-BE49-F238E27FC236}">
                <a16:creationId xmlns:a16="http://schemas.microsoft.com/office/drawing/2014/main" id="{163342F7-4999-18D8-60A2-CC6D5C615C87}"/>
              </a:ext>
            </a:extLst>
          </p:cNvPr>
          <p:cNvSpPr>
            <a:spLocks noGrp="1"/>
          </p:cNvSpPr>
          <p:nvPr>
            <p:ph idx="1"/>
          </p:nvPr>
        </p:nvSpPr>
        <p:spPr/>
        <p:txBody>
          <a:bodyPr>
            <a:normAutofit/>
          </a:bodyPr>
          <a:lstStyle/>
          <a:p>
            <a:pPr algn="l"/>
            <a:r>
              <a:rPr lang="en-US" sz="2400" b="0" i="0" u="none" strike="noStrike" baseline="0" dirty="0">
                <a:latin typeface="+mj-lt"/>
              </a:rPr>
              <a:t>Farmer’s lung is due to the inhalation of </a:t>
            </a:r>
            <a:r>
              <a:rPr lang="en-US" sz="2400" b="0" i="0" u="none" strike="noStrike" baseline="0" dirty="0" err="1">
                <a:latin typeface="+mj-lt"/>
              </a:rPr>
              <a:t>mouldy</a:t>
            </a:r>
            <a:r>
              <a:rPr lang="en-US" sz="2400" b="0" i="0" u="none" strike="noStrike" baseline="0" dirty="0">
                <a:latin typeface="+mj-lt"/>
              </a:rPr>
              <a:t> hay or grain dust</a:t>
            </a:r>
            <a:r>
              <a:rPr lang="en-US" sz="2400" b="0" i="1" u="none" strike="noStrike" baseline="0" dirty="0">
                <a:latin typeface="+mj-lt"/>
              </a:rPr>
              <a:t>. </a:t>
            </a:r>
          </a:p>
          <a:p>
            <a:pPr algn="l"/>
            <a:r>
              <a:rPr lang="en-US" sz="2400" b="0" i="0" u="none" strike="noStrike" baseline="0" dirty="0">
                <a:latin typeface="+mj-lt"/>
              </a:rPr>
              <a:t>In grain dust or hay with a moisture content of over 30 %; bacteria and fungi grow rapidly, causing a rise of temperature to 40 to 50 deg. C. </a:t>
            </a:r>
          </a:p>
          <a:p>
            <a:pPr algn="l"/>
            <a:r>
              <a:rPr lang="en-US" sz="2400" b="0" i="0" u="none" strike="noStrike" baseline="0" dirty="0">
                <a:latin typeface="+mj-lt"/>
              </a:rPr>
              <a:t>This heat encourages the growth of thermophilic actinomycetes, of which </a:t>
            </a:r>
            <a:r>
              <a:rPr lang="en-US" sz="2400" b="0" i="1" u="none" strike="noStrike" baseline="0" dirty="0" err="1">
                <a:latin typeface="+mj-lt"/>
              </a:rPr>
              <a:t>Micropolyspora</a:t>
            </a:r>
            <a:r>
              <a:rPr lang="en-US" sz="2400" b="0" i="1" u="none" strike="noStrike" baseline="0" dirty="0">
                <a:latin typeface="+mj-lt"/>
              </a:rPr>
              <a:t> </a:t>
            </a:r>
            <a:r>
              <a:rPr lang="en-US" sz="2400" b="0" i="1" u="none" strike="noStrike" baseline="0" dirty="0" err="1">
                <a:latin typeface="+mj-lt"/>
              </a:rPr>
              <a:t>faeni</a:t>
            </a:r>
            <a:r>
              <a:rPr lang="en-US" sz="2400" b="0" i="1" u="none" strike="noStrike" baseline="0" dirty="0">
                <a:latin typeface="+mj-lt"/>
              </a:rPr>
              <a:t> </a:t>
            </a:r>
            <a:r>
              <a:rPr lang="en-US" sz="2400" b="0" i="0" u="none" strike="noStrike" baseline="0" dirty="0">
                <a:latin typeface="+mj-lt"/>
              </a:rPr>
              <a:t>is the main cause of farmer’s lung</a:t>
            </a:r>
            <a:r>
              <a:rPr lang="en-US" sz="2400" b="0" i="1" u="none" strike="noStrike" baseline="0" dirty="0">
                <a:latin typeface="+mj-lt"/>
              </a:rPr>
              <a:t>. </a:t>
            </a:r>
          </a:p>
          <a:p>
            <a:pPr algn="l"/>
            <a:r>
              <a:rPr lang="en-US" sz="2400" b="0" i="0" u="none" strike="noStrike" baseline="0" dirty="0">
                <a:latin typeface="+mj-lt"/>
              </a:rPr>
              <a:t>The acute illness is characterized by general and respiratory symptoms and physical signs. </a:t>
            </a:r>
          </a:p>
          <a:p>
            <a:pPr algn="l"/>
            <a:r>
              <a:rPr lang="en-US" sz="2400" b="0" i="0" u="none" strike="noStrike" baseline="0" dirty="0">
                <a:latin typeface="+mj-lt"/>
              </a:rPr>
              <a:t>Repeated attacks cause pulmonary fibrosis and inevitable pulmonary damage and </a:t>
            </a:r>
            <a:r>
              <a:rPr lang="en-US" sz="2400" b="0" i="0" u="none" strike="noStrike" baseline="0" dirty="0" err="1">
                <a:latin typeface="+mj-lt"/>
              </a:rPr>
              <a:t>corpulmonale</a:t>
            </a:r>
            <a:r>
              <a:rPr lang="en-US" sz="2400" b="0" i="0" u="none" strike="noStrike" baseline="0" dirty="0">
                <a:latin typeface="+mj-lt"/>
              </a:rPr>
              <a:t>. </a:t>
            </a:r>
          </a:p>
          <a:p>
            <a:pPr algn="l"/>
            <a:r>
              <a:rPr lang="en-US" sz="2400" b="0" i="0" u="none" strike="noStrike" baseline="0" dirty="0">
                <a:latin typeface="+mj-lt"/>
              </a:rPr>
              <a:t>It is quite possible that this condition might be widespread in India considering the bulk of the population engaged in agricultural work.</a:t>
            </a:r>
            <a:endParaRPr lang="en-US" sz="3600" dirty="0">
              <a:latin typeface="+mj-lt"/>
            </a:endParaRPr>
          </a:p>
        </p:txBody>
      </p:sp>
    </p:spTree>
    <p:extLst>
      <p:ext uri="{BB962C8B-B14F-4D97-AF65-F5344CB8AC3E}">
        <p14:creationId xmlns:p14="http://schemas.microsoft.com/office/powerpoint/2010/main" val="1931636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70F43-97A3-E27F-23C4-EF2BFD666B46}"/>
              </a:ext>
            </a:extLst>
          </p:cNvPr>
          <p:cNvSpPr>
            <a:spLocks noGrp="1"/>
          </p:cNvSpPr>
          <p:nvPr>
            <p:ph type="title"/>
          </p:nvPr>
        </p:nvSpPr>
        <p:spPr/>
        <p:txBody>
          <a:bodyPr/>
          <a:lstStyle/>
          <a:p>
            <a:r>
              <a:rPr lang="en-US" dirty="0"/>
              <a:t>Lead poisoning</a:t>
            </a:r>
          </a:p>
        </p:txBody>
      </p:sp>
      <p:sp>
        <p:nvSpPr>
          <p:cNvPr id="3" name="Content Placeholder 2">
            <a:extLst>
              <a:ext uri="{FF2B5EF4-FFF2-40B4-BE49-F238E27FC236}">
                <a16:creationId xmlns:a16="http://schemas.microsoft.com/office/drawing/2014/main" id="{61A77FD2-0B1B-5C58-022E-75632A7447D5}"/>
              </a:ext>
            </a:extLst>
          </p:cNvPr>
          <p:cNvSpPr>
            <a:spLocks noGrp="1"/>
          </p:cNvSpPr>
          <p:nvPr>
            <p:ph idx="1"/>
          </p:nvPr>
        </p:nvSpPr>
        <p:spPr/>
        <p:txBody>
          <a:bodyPr>
            <a:normAutofit fontScale="92500" lnSpcReduction="10000"/>
          </a:bodyPr>
          <a:lstStyle/>
          <a:p>
            <a:pPr algn="l"/>
            <a:r>
              <a:rPr lang="en-US" sz="2400" b="0" i="0" u="none" strike="noStrike" baseline="0" dirty="0">
                <a:latin typeface="+mj-lt"/>
              </a:rPr>
              <a:t>Lead is used widely in a variety of industries because of its properties : low boiling point, mixes with other metals easily to form alloys, easily </a:t>
            </a:r>
            <a:r>
              <a:rPr lang="en-US" sz="2400" b="0" i="0" u="none" strike="noStrike" baseline="0" dirty="0" err="1">
                <a:latin typeface="+mj-lt"/>
              </a:rPr>
              <a:t>oxidised</a:t>
            </a:r>
            <a:r>
              <a:rPr lang="en-US" sz="2400" b="0" i="0" u="none" strike="noStrike" baseline="0" dirty="0">
                <a:latin typeface="+mj-lt"/>
              </a:rPr>
              <a:t> and anticorrosive. </a:t>
            </a:r>
          </a:p>
          <a:p>
            <a:pPr algn="l"/>
            <a:r>
              <a:rPr lang="en-US" sz="2400" b="0" i="0" u="none" strike="noStrike" baseline="0" dirty="0">
                <a:latin typeface="+mj-lt"/>
              </a:rPr>
              <a:t>All lead compounds are toxic - lead arsenate, lead oxide and lead carbonate are the most dangerous; lead </a:t>
            </a:r>
            <a:r>
              <a:rPr lang="en-US" sz="2400" b="0" i="0" u="none" strike="noStrike" baseline="0" dirty="0" err="1">
                <a:latin typeface="+mj-lt"/>
              </a:rPr>
              <a:t>sulphide</a:t>
            </a:r>
            <a:r>
              <a:rPr lang="en-US" sz="2400" b="0" i="0" u="none" strike="noStrike" baseline="0" dirty="0">
                <a:latin typeface="+mj-lt"/>
              </a:rPr>
              <a:t> is the least toxic. </a:t>
            </a:r>
          </a:p>
          <a:p>
            <a:pPr algn="l"/>
            <a:r>
              <a:rPr lang="en-US" sz="2400" b="0" i="0" u="none" strike="noStrike" baseline="0" dirty="0">
                <a:latin typeface="+mj-lt"/>
              </a:rPr>
              <a:t>INDUSTRIAL USES : Over 200 industries are counted where lead is used - manufacture of storage batteries; glass manufacture; ship building; printing and potteries; rubber industry and several others.</a:t>
            </a:r>
          </a:p>
          <a:p>
            <a:pPr algn="l"/>
            <a:r>
              <a:rPr lang="en-US" sz="2400" b="0" i="0" u="none" strike="noStrike" baseline="0" dirty="0">
                <a:latin typeface="+mj-lt"/>
              </a:rPr>
              <a:t>NON-OCCUPATIONAL SOURCES : The greatest source of environmental (non-occupational) lead is gasoline.</a:t>
            </a:r>
          </a:p>
          <a:p>
            <a:pPr algn="l"/>
            <a:r>
              <a:rPr lang="en-US" sz="2400" b="0" i="0" u="none" strike="noStrike" baseline="0" dirty="0">
                <a:latin typeface="+mj-lt"/>
              </a:rPr>
              <a:t>Thousands of tons of lead every year is exhausted from automobiles. Lead is one of the few trace metals that is abundantly present in the environment. Lead exposure may also occur through drinking water from lead pipes; chewing lead paint on window sills or toys in case of children.</a:t>
            </a:r>
            <a:endParaRPr lang="en-US" sz="3600" dirty="0">
              <a:latin typeface="+mj-lt"/>
            </a:endParaRPr>
          </a:p>
        </p:txBody>
      </p:sp>
    </p:spTree>
    <p:extLst>
      <p:ext uri="{BB962C8B-B14F-4D97-AF65-F5344CB8AC3E}">
        <p14:creationId xmlns:p14="http://schemas.microsoft.com/office/powerpoint/2010/main" val="3937675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70F43-97A3-E27F-23C4-EF2BFD666B46}"/>
              </a:ext>
            </a:extLst>
          </p:cNvPr>
          <p:cNvSpPr>
            <a:spLocks noGrp="1"/>
          </p:cNvSpPr>
          <p:nvPr>
            <p:ph type="title"/>
          </p:nvPr>
        </p:nvSpPr>
        <p:spPr/>
        <p:txBody>
          <a:bodyPr/>
          <a:lstStyle/>
          <a:p>
            <a:r>
              <a:rPr lang="en-US" dirty="0"/>
              <a:t>Lead poisoning</a:t>
            </a:r>
          </a:p>
        </p:txBody>
      </p:sp>
      <p:sp>
        <p:nvSpPr>
          <p:cNvPr id="3" name="Content Placeholder 2">
            <a:extLst>
              <a:ext uri="{FF2B5EF4-FFF2-40B4-BE49-F238E27FC236}">
                <a16:creationId xmlns:a16="http://schemas.microsoft.com/office/drawing/2014/main" id="{61A77FD2-0B1B-5C58-022E-75632A7447D5}"/>
              </a:ext>
            </a:extLst>
          </p:cNvPr>
          <p:cNvSpPr>
            <a:spLocks noGrp="1"/>
          </p:cNvSpPr>
          <p:nvPr>
            <p:ph idx="1"/>
          </p:nvPr>
        </p:nvSpPr>
        <p:spPr/>
        <p:txBody>
          <a:bodyPr>
            <a:normAutofit fontScale="92500"/>
          </a:bodyPr>
          <a:lstStyle/>
          <a:p>
            <a:pPr algn="l"/>
            <a:r>
              <a:rPr lang="en-US" sz="2400" b="0" i="0" u="none" strike="noStrike" baseline="0" dirty="0">
                <a:solidFill>
                  <a:srgbClr val="000000"/>
                </a:solidFill>
                <a:latin typeface="+mj-lt"/>
              </a:rPr>
              <a:t>MODE OF ABSORPTION </a:t>
            </a:r>
          </a:p>
          <a:p>
            <a:pPr algn="l"/>
            <a:r>
              <a:rPr lang="en-US" sz="2400" b="0" i="1" u="none" strike="noStrike" baseline="0" dirty="0">
                <a:solidFill>
                  <a:srgbClr val="000000"/>
                </a:solidFill>
                <a:latin typeface="+mj-lt"/>
              </a:rPr>
              <a:t>INHALATION : </a:t>
            </a:r>
            <a:r>
              <a:rPr lang="en-US" sz="2400" b="0" i="0" u="none" strike="noStrike" baseline="0" dirty="0">
                <a:solidFill>
                  <a:srgbClr val="000000"/>
                </a:solidFill>
                <a:latin typeface="+mj-lt"/>
              </a:rPr>
              <a:t>Most cases of industrial lead poisoning is due to inhalation of fumes and dust of lead or its compounds. </a:t>
            </a:r>
            <a:endParaRPr lang="en-US" sz="2400" b="0" i="1" u="none" strike="noStrike" baseline="0" dirty="0">
              <a:solidFill>
                <a:srgbClr val="000000"/>
              </a:solidFill>
              <a:latin typeface="+mj-lt"/>
            </a:endParaRPr>
          </a:p>
          <a:p>
            <a:pPr algn="l"/>
            <a:r>
              <a:rPr lang="en-US" sz="2400" i="1" dirty="0">
                <a:solidFill>
                  <a:srgbClr val="000000"/>
                </a:solidFill>
                <a:latin typeface="+mj-lt"/>
              </a:rPr>
              <a:t>I</a:t>
            </a:r>
            <a:r>
              <a:rPr lang="en-US" sz="2400" b="0" i="1" u="none" strike="noStrike" baseline="0" dirty="0">
                <a:solidFill>
                  <a:srgbClr val="000000"/>
                </a:solidFill>
                <a:latin typeface="+mj-lt"/>
              </a:rPr>
              <a:t>NGESTION : </a:t>
            </a:r>
            <a:r>
              <a:rPr lang="en-US" sz="2400" b="0" i="0" u="none" strike="noStrike" baseline="0" dirty="0">
                <a:solidFill>
                  <a:srgbClr val="000000"/>
                </a:solidFill>
                <a:latin typeface="+mj-lt"/>
              </a:rPr>
              <a:t>Poisoning by ingestion is of less common occurrence. Small quantities of lead trapped in the upper respiratory tract may be ingested. Lead may also be ingested in food or drink through contaminated hands. </a:t>
            </a:r>
            <a:endParaRPr lang="en-US" sz="2400" dirty="0">
              <a:solidFill>
                <a:srgbClr val="000000"/>
              </a:solidFill>
              <a:latin typeface="+mj-lt"/>
            </a:endParaRPr>
          </a:p>
          <a:p>
            <a:pPr algn="l"/>
            <a:r>
              <a:rPr lang="en-US" sz="2400" b="0" i="1" u="none" strike="noStrike" baseline="0" dirty="0">
                <a:solidFill>
                  <a:srgbClr val="000000"/>
                </a:solidFill>
                <a:latin typeface="+mj-lt"/>
              </a:rPr>
              <a:t>SKIN : </a:t>
            </a:r>
            <a:r>
              <a:rPr lang="en-US" sz="2400" b="0" i="0" u="none" strike="noStrike" baseline="0" dirty="0">
                <a:solidFill>
                  <a:srgbClr val="000000"/>
                </a:solidFill>
                <a:latin typeface="+mj-lt"/>
              </a:rPr>
              <a:t>Absorption through skin occurs only in respect of the organic compounds of lead, especially tetraethyl lead. Inorganic compounds are not absorbed through the skin.</a:t>
            </a:r>
          </a:p>
          <a:p>
            <a:pPr algn="l"/>
            <a:r>
              <a:rPr lang="en-US" sz="2400" b="0" i="0" u="none" strike="noStrike" baseline="0" dirty="0">
                <a:solidFill>
                  <a:srgbClr val="000000"/>
                </a:solidFill>
                <a:latin typeface="+mj-lt"/>
              </a:rPr>
              <a:t>BODY STORES : The body store of lead in the average adult population is about 150 to 400 mg and blood levels average about 25ug/100ml. An increase to 70ug/100ml blood is generally associated with clinical symptoms. Normal adults ingest about 0.2 to 0.3 mg of lead per day largely from food and beverages</a:t>
            </a:r>
            <a:r>
              <a:rPr lang="en-US" sz="2400" b="0" i="1" u="none" strike="noStrike" baseline="0" dirty="0">
                <a:solidFill>
                  <a:srgbClr val="000000"/>
                </a:solidFill>
                <a:latin typeface="+mj-lt"/>
              </a:rPr>
              <a:t>.</a:t>
            </a:r>
            <a:endParaRPr lang="en-US" sz="3600" dirty="0">
              <a:latin typeface="+mj-lt"/>
            </a:endParaRPr>
          </a:p>
        </p:txBody>
      </p:sp>
    </p:spTree>
    <p:extLst>
      <p:ext uri="{BB962C8B-B14F-4D97-AF65-F5344CB8AC3E}">
        <p14:creationId xmlns:p14="http://schemas.microsoft.com/office/powerpoint/2010/main" val="1922142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DC60-9832-0AA9-11EB-412DCB79C242}"/>
              </a:ext>
            </a:extLst>
          </p:cNvPr>
          <p:cNvSpPr>
            <a:spLocks noGrp="1"/>
          </p:cNvSpPr>
          <p:nvPr>
            <p:ph type="title"/>
          </p:nvPr>
        </p:nvSpPr>
        <p:spPr>
          <a:xfrm>
            <a:off x="838200" y="365125"/>
            <a:ext cx="10515600" cy="652017"/>
          </a:xfrm>
        </p:spPr>
        <p:txBody>
          <a:bodyPr>
            <a:normAutofit fontScale="90000"/>
          </a:bodyPr>
          <a:lstStyle/>
          <a:p>
            <a:r>
              <a:rPr lang="en-US" dirty="0"/>
              <a:t>Lead poisoning</a:t>
            </a:r>
          </a:p>
        </p:txBody>
      </p:sp>
      <p:sp>
        <p:nvSpPr>
          <p:cNvPr id="3" name="Content Placeholder 2">
            <a:extLst>
              <a:ext uri="{FF2B5EF4-FFF2-40B4-BE49-F238E27FC236}">
                <a16:creationId xmlns:a16="http://schemas.microsoft.com/office/drawing/2014/main" id="{393E4103-6B19-7AF0-4E67-59B8923872A7}"/>
              </a:ext>
            </a:extLst>
          </p:cNvPr>
          <p:cNvSpPr>
            <a:spLocks noGrp="1"/>
          </p:cNvSpPr>
          <p:nvPr>
            <p:ph idx="1"/>
          </p:nvPr>
        </p:nvSpPr>
        <p:spPr>
          <a:xfrm>
            <a:off x="195209" y="1293563"/>
            <a:ext cx="11801582" cy="5415462"/>
          </a:xfrm>
        </p:spPr>
        <p:txBody>
          <a:bodyPr>
            <a:normAutofit fontScale="92500" lnSpcReduction="10000"/>
          </a:bodyPr>
          <a:lstStyle/>
          <a:p>
            <a:pPr algn="l"/>
            <a:r>
              <a:rPr lang="en-US" sz="2400" b="0" i="0" u="none" strike="noStrike" baseline="0" dirty="0">
                <a:latin typeface="+mj-lt"/>
              </a:rPr>
              <a:t>DISTRIBUTION IN THE BODY: Ninety per cent of the ingested lead is excreted in the </a:t>
            </a:r>
            <a:r>
              <a:rPr lang="en-US" sz="2400" b="0" i="0" u="none" strike="noStrike" baseline="0" dirty="0" err="1">
                <a:latin typeface="+mj-lt"/>
              </a:rPr>
              <a:t>faeces</a:t>
            </a:r>
            <a:r>
              <a:rPr lang="en-US" sz="2400" b="0" i="0" u="none" strike="noStrike" baseline="0" dirty="0">
                <a:latin typeface="+mj-lt"/>
              </a:rPr>
              <a:t>. Lead absorbed from the gut enters the circulation, and 95 per cent enters the erythrocytes. It is then transported to the liver and </a:t>
            </a:r>
            <a:r>
              <a:rPr lang="en-US" sz="2400" b="0" i="0" u="none" strike="noStrike" baseline="0" dirty="0" err="1">
                <a:latin typeface="+mj-lt"/>
              </a:rPr>
              <a:t>kidnevs</a:t>
            </a:r>
            <a:r>
              <a:rPr lang="en-US" sz="2400" b="0" i="0" u="none" strike="noStrike" baseline="0" dirty="0">
                <a:latin typeface="+mj-lt"/>
              </a:rPr>
              <a:t> and finally transported to the bones where it is laid down with other minerals. </a:t>
            </a:r>
          </a:p>
          <a:p>
            <a:pPr algn="l"/>
            <a:r>
              <a:rPr lang="en-US" sz="2400" b="0" i="0" u="none" strike="noStrike" baseline="0" dirty="0">
                <a:latin typeface="+mj-lt"/>
              </a:rPr>
              <a:t>Although bone lead is thought to be </a:t>
            </a:r>
            <a:r>
              <a:rPr lang="en-US" sz="2400" dirty="0">
                <a:latin typeface="+mj-lt"/>
              </a:rPr>
              <a:t>m</a:t>
            </a:r>
            <a:r>
              <a:rPr lang="en-US" sz="2400" b="0" i="0" u="none" strike="noStrike" baseline="0" dirty="0">
                <a:latin typeface="+mj-lt"/>
              </a:rPr>
              <a:t>etabolically inactive , it may be released to the soft tissues again under conditions of bone resorption. </a:t>
            </a:r>
          </a:p>
          <a:p>
            <a:pPr algn="l"/>
            <a:r>
              <a:rPr lang="en-US" sz="2400" b="0" i="0" u="none" strike="noStrike" baseline="0" dirty="0">
                <a:latin typeface="+mj-lt"/>
              </a:rPr>
              <a:t>Lead probably exerts its toxic action by combining with essential SH-groups of certain enzymes, for example some of those involved in </a:t>
            </a:r>
            <a:r>
              <a:rPr lang="en-US" sz="2400" b="0" i="0" u="none" strike="noStrike" baseline="0" dirty="0" err="1">
                <a:latin typeface="+mj-lt"/>
              </a:rPr>
              <a:t>prophyrin</a:t>
            </a:r>
            <a:r>
              <a:rPr lang="en-US" sz="2400" b="0" i="0" u="none" strike="noStrike" baseline="0" dirty="0">
                <a:latin typeface="+mj-lt"/>
              </a:rPr>
              <a:t> synthesis and carbohydrate metabolism </a:t>
            </a:r>
          </a:p>
          <a:p>
            <a:pPr algn="l"/>
            <a:r>
              <a:rPr lang="en-US" sz="2400" b="0" i="0" u="none" strike="noStrike" baseline="0" dirty="0">
                <a:latin typeface="+mj-lt"/>
              </a:rPr>
              <a:t>Lead has an effect on membrane permeability and potassium leakage has been demonstrated from erythrocytes exposed to lead</a:t>
            </a:r>
            <a:r>
              <a:rPr lang="en-US" sz="2400" b="0" i="1" u="none" strike="noStrike" baseline="0" dirty="0">
                <a:latin typeface="+mj-lt"/>
              </a:rPr>
              <a:t>.</a:t>
            </a:r>
          </a:p>
          <a:p>
            <a:pPr algn="l"/>
            <a:r>
              <a:rPr lang="en-US" sz="2400" b="0" i="0" u="none" strike="noStrike" baseline="0" dirty="0">
                <a:latin typeface="+mj-lt"/>
              </a:rPr>
              <a:t>CLINICAL PICTURE : The clinical picture of lead poisoning or plumbism is different in the inorganic and organic lead exposures. </a:t>
            </a:r>
          </a:p>
          <a:p>
            <a:pPr algn="l"/>
            <a:r>
              <a:rPr lang="en-US" sz="2400" b="0" i="0" u="none" strike="noStrike" baseline="0" dirty="0">
                <a:latin typeface="+mj-lt"/>
              </a:rPr>
              <a:t>The toxic effects of inorganic lead exposure are abdominal colic, obstinate constipation, loss of appetite, blue-line on the gums, stippling of red cells, </a:t>
            </a:r>
            <a:r>
              <a:rPr lang="en-US" sz="2400" b="0" i="0" u="none" strike="noStrike" baseline="0" dirty="0" err="1">
                <a:latin typeface="+mj-lt"/>
              </a:rPr>
              <a:t>anaemia</a:t>
            </a:r>
            <a:r>
              <a:rPr lang="en-US" sz="2400" b="0" i="0" u="none" strike="noStrike" baseline="0" dirty="0">
                <a:latin typeface="+mj-lt"/>
              </a:rPr>
              <a:t>, wrist drop and foot drop. </a:t>
            </a:r>
          </a:p>
          <a:p>
            <a:pPr algn="l"/>
            <a:r>
              <a:rPr lang="en-US" sz="2400" b="0" i="0" u="none" strike="noStrike" baseline="0" dirty="0">
                <a:latin typeface="+mj-lt"/>
              </a:rPr>
              <a:t>The toxic effects of organic lead compounds are mostly on the central nervous system — insomnia, headache, mental confusion, delirium, etc.</a:t>
            </a:r>
            <a:endParaRPr lang="en-US" sz="3600" dirty="0">
              <a:latin typeface="+mj-lt"/>
            </a:endParaRPr>
          </a:p>
        </p:txBody>
      </p:sp>
    </p:spTree>
    <p:extLst>
      <p:ext uri="{BB962C8B-B14F-4D97-AF65-F5344CB8AC3E}">
        <p14:creationId xmlns:p14="http://schemas.microsoft.com/office/powerpoint/2010/main" val="1427664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BB436-045E-909A-4064-0DADE8A16A30}"/>
              </a:ext>
            </a:extLst>
          </p:cNvPr>
          <p:cNvSpPr>
            <a:spLocks noGrp="1"/>
          </p:cNvSpPr>
          <p:nvPr>
            <p:ph type="title"/>
          </p:nvPr>
        </p:nvSpPr>
        <p:spPr/>
        <p:txBody>
          <a:bodyPr/>
          <a:lstStyle/>
          <a:p>
            <a:r>
              <a:rPr lang="en-US" dirty="0"/>
              <a:t>Lead poisoning</a:t>
            </a:r>
          </a:p>
        </p:txBody>
      </p:sp>
      <p:sp>
        <p:nvSpPr>
          <p:cNvPr id="3" name="Content Placeholder 2">
            <a:extLst>
              <a:ext uri="{FF2B5EF4-FFF2-40B4-BE49-F238E27FC236}">
                <a16:creationId xmlns:a16="http://schemas.microsoft.com/office/drawing/2014/main" id="{1F299197-A427-B182-FDD9-565793AC9438}"/>
              </a:ext>
            </a:extLst>
          </p:cNvPr>
          <p:cNvSpPr>
            <a:spLocks noGrp="1"/>
          </p:cNvSpPr>
          <p:nvPr>
            <p:ph idx="1"/>
          </p:nvPr>
        </p:nvSpPr>
        <p:spPr/>
        <p:txBody>
          <a:bodyPr>
            <a:normAutofit/>
          </a:bodyPr>
          <a:lstStyle/>
          <a:p>
            <a:pPr algn="l"/>
            <a:r>
              <a:rPr lang="en-US" sz="2400" b="0" i="0" u="none" strike="noStrike" baseline="0" dirty="0">
                <a:latin typeface="+mj-lt"/>
              </a:rPr>
              <a:t>Diagnosis of lead poisoning is based on : </a:t>
            </a:r>
          </a:p>
          <a:p>
            <a:pPr algn="l"/>
            <a:r>
              <a:rPr lang="en-US" sz="2400" b="0" i="0" u="none" strike="noStrike" baseline="0" dirty="0">
                <a:latin typeface="+mj-lt"/>
              </a:rPr>
              <a:t>HISTORY : a history of lead exposure </a:t>
            </a:r>
          </a:p>
          <a:p>
            <a:pPr algn="l"/>
            <a:r>
              <a:rPr lang="en-US" sz="2400" b="0" i="0" u="none" strike="noStrike" baseline="0" dirty="0">
                <a:latin typeface="+mj-lt"/>
              </a:rPr>
              <a:t>CLINICAL FEATURES : such as loss of appetite, intestinal colic, persistent headache,  weakness, abdominal cramps and constipation, joint and muscular pains, blue line on gums, </a:t>
            </a:r>
            <a:r>
              <a:rPr lang="en-US" sz="2400" b="0" i="0" u="none" strike="noStrike" baseline="0" dirty="0" err="1">
                <a:latin typeface="+mj-lt"/>
              </a:rPr>
              <a:t>anaemia</a:t>
            </a:r>
            <a:r>
              <a:rPr lang="en-US" sz="2400" b="0" i="0" u="none" strike="noStrike" baseline="0" dirty="0">
                <a:latin typeface="+mj-lt"/>
              </a:rPr>
              <a:t>, etc.</a:t>
            </a:r>
          </a:p>
          <a:p>
            <a:pPr algn="l"/>
            <a:r>
              <a:rPr lang="en-US" sz="2400" b="0" i="0" u="none" strike="noStrike" baseline="0" dirty="0">
                <a:latin typeface="+mj-lt"/>
              </a:rPr>
              <a:t>LABORATORY TESTS : </a:t>
            </a:r>
          </a:p>
          <a:p>
            <a:pPr lvl="1"/>
            <a:r>
              <a:rPr lang="en-US" sz="1800" b="0" i="1" u="none" strike="noStrike" baseline="0" dirty="0">
                <a:latin typeface="+mj-lt"/>
              </a:rPr>
              <a:t>Coproporphyrin in urine (CPU) : </a:t>
            </a:r>
            <a:r>
              <a:rPr lang="en-US" sz="1800" b="0" i="0" u="none" strike="noStrike" baseline="0" dirty="0">
                <a:latin typeface="+mj-lt"/>
              </a:rPr>
              <a:t>Measurement of CPU is a useful screening test. In non-exposed persons, it is less than 150 microgram/</a:t>
            </a:r>
            <a:r>
              <a:rPr lang="en-US" sz="1800" b="0" i="0" u="none" strike="noStrike" baseline="0" dirty="0" err="1">
                <a:latin typeface="+mj-lt"/>
              </a:rPr>
              <a:t>litre</a:t>
            </a:r>
            <a:r>
              <a:rPr lang="en-US" sz="1800" b="0" i="0" u="none" strike="noStrike" baseline="0" dirty="0">
                <a:latin typeface="+mj-lt"/>
              </a:rPr>
              <a:t>.</a:t>
            </a:r>
          </a:p>
          <a:p>
            <a:pPr lvl="1"/>
            <a:r>
              <a:rPr lang="en-US" sz="1800" b="0" i="0" u="none" strike="noStrike" baseline="0" dirty="0">
                <a:latin typeface="+mj-lt"/>
              </a:rPr>
              <a:t>Amino </a:t>
            </a:r>
            <a:r>
              <a:rPr lang="en-US" sz="1800" b="0" i="1" u="none" strike="noStrike" baseline="0" dirty="0" err="1">
                <a:latin typeface="+mj-lt"/>
              </a:rPr>
              <a:t>levulinic</a:t>
            </a:r>
            <a:r>
              <a:rPr lang="en-US" sz="1800" b="0" i="1" u="none" strike="noStrike" baseline="0" dirty="0">
                <a:latin typeface="+mj-lt"/>
              </a:rPr>
              <a:t> acid in urine (ALAU): </a:t>
            </a:r>
            <a:r>
              <a:rPr lang="en-US" sz="1800" b="0" i="0" u="none" strike="noStrike" baseline="0" dirty="0">
                <a:latin typeface="+mj-lt"/>
              </a:rPr>
              <a:t>If it exceeds 5 mg/ </a:t>
            </a:r>
            <a:r>
              <a:rPr lang="en-US" sz="1800" b="0" i="0" u="none" strike="noStrike" baseline="0" dirty="0" err="1">
                <a:latin typeface="+mj-lt"/>
              </a:rPr>
              <a:t>litre</a:t>
            </a:r>
            <a:r>
              <a:rPr lang="en-US" sz="1800" b="0" i="0" u="none" strike="noStrike" baseline="0" dirty="0">
                <a:latin typeface="+mj-lt"/>
              </a:rPr>
              <a:t>, it indicates clearly lead absorption, </a:t>
            </a:r>
          </a:p>
          <a:p>
            <a:pPr lvl="1"/>
            <a:r>
              <a:rPr lang="en-US" sz="1800" b="0" i="1" u="none" strike="noStrike" baseline="0" dirty="0">
                <a:latin typeface="+mj-lt"/>
              </a:rPr>
              <a:t>Lead in blood and urine : </a:t>
            </a:r>
            <a:r>
              <a:rPr lang="en-US" sz="1800" b="0" i="0" u="none" strike="noStrike" baseline="0" dirty="0">
                <a:latin typeface="+mj-lt"/>
              </a:rPr>
              <a:t>Measurement of lead in blood or urine requires refined laboratory techniques. Lead in urine of over 0.8 mg/</a:t>
            </a:r>
            <a:r>
              <a:rPr lang="en-US" sz="1800" b="0" i="0" u="none" strike="noStrike" baseline="0" dirty="0" err="1">
                <a:latin typeface="+mj-lt"/>
              </a:rPr>
              <a:t>litre</a:t>
            </a:r>
            <a:r>
              <a:rPr lang="en-US" sz="1800" b="0" i="0" u="none" strike="noStrike" baseline="0" dirty="0">
                <a:latin typeface="+mj-lt"/>
              </a:rPr>
              <a:t> (normal is 0.2 to 0.8 mg) indicates lead exposure and lead absorption. </a:t>
            </a:r>
          </a:p>
          <a:p>
            <a:pPr lvl="1"/>
            <a:r>
              <a:rPr lang="en-US" sz="1800" b="0" i="1" u="none" strike="noStrike" baseline="0" dirty="0">
                <a:latin typeface="+mj-lt"/>
              </a:rPr>
              <a:t>Basophilic </a:t>
            </a:r>
            <a:r>
              <a:rPr lang="en-US" sz="1800" b="0" i="1" u="none" strike="noStrike" baseline="0" dirty="0" err="1">
                <a:latin typeface="+mj-lt"/>
              </a:rPr>
              <a:t>stip</a:t>
            </a:r>
            <a:r>
              <a:rPr lang="en-US" sz="1800" i="1" dirty="0" err="1">
                <a:latin typeface="+mj-lt"/>
              </a:rPr>
              <a:t>l</a:t>
            </a:r>
            <a:r>
              <a:rPr lang="en-US" sz="1800" b="0" i="1" u="none" strike="noStrike" baseline="0" dirty="0" err="1">
                <a:latin typeface="+mj-lt"/>
              </a:rPr>
              <a:t>ing</a:t>
            </a:r>
            <a:r>
              <a:rPr lang="en-US" sz="1800" b="0" i="1" u="none" strike="noStrike" baseline="0" dirty="0">
                <a:latin typeface="+mj-lt"/>
              </a:rPr>
              <a:t> of RBC : </a:t>
            </a:r>
            <a:r>
              <a:rPr lang="en-US" sz="1800" b="0" i="0" u="none" strike="noStrike" baseline="0" dirty="0">
                <a:latin typeface="+mj-lt"/>
              </a:rPr>
              <a:t>Is a sensitive parameter of the </a:t>
            </a:r>
            <a:r>
              <a:rPr lang="en-US" sz="1800" b="0" i="0" u="none" strike="noStrike" baseline="0" dirty="0" err="1">
                <a:latin typeface="+mj-lt"/>
              </a:rPr>
              <a:t>haematological</a:t>
            </a:r>
            <a:r>
              <a:rPr lang="en-US" sz="1800" b="0" i="0" u="none" strike="noStrike" baseline="0" dirty="0">
                <a:latin typeface="+mj-lt"/>
              </a:rPr>
              <a:t> response.</a:t>
            </a:r>
            <a:endParaRPr lang="en-US" sz="3200" dirty="0">
              <a:latin typeface="+mj-lt"/>
            </a:endParaRPr>
          </a:p>
        </p:txBody>
      </p:sp>
    </p:spTree>
    <p:extLst>
      <p:ext uri="{BB962C8B-B14F-4D97-AF65-F5344CB8AC3E}">
        <p14:creationId xmlns:p14="http://schemas.microsoft.com/office/powerpoint/2010/main" val="4158820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3C4B-D605-E156-13EA-C0EEF09AC010}"/>
              </a:ext>
            </a:extLst>
          </p:cNvPr>
          <p:cNvSpPr>
            <a:spLocks noGrp="1"/>
          </p:cNvSpPr>
          <p:nvPr>
            <p:ph type="title"/>
          </p:nvPr>
        </p:nvSpPr>
        <p:spPr/>
        <p:txBody>
          <a:bodyPr/>
          <a:lstStyle/>
          <a:p>
            <a:r>
              <a:rPr lang="en-US" dirty="0"/>
              <a:t>Preventive measures – lead poisoning</a:t>
            </a:r>
          </a:p>
        </p:txBody>
      </p:sp>
      <p:sp>
        <p:nvSpPr>
          <p:cNvPr id="3" name="Content Placeholder 2">
            <a:extLst>
              <a:ext uri="{FF2B5EF4-FFF2-40B4-BE49-F238E27FC236}">
                <a16:creationId xmlns:a16="http://schemas.microsoft.com/office/drawing/2014/main" id="{A8C8802B-A2A4-A269-7305-EB0B2E913691}"/>
              </a:ext>
            </a:extLst>
          </p:cNvPr>
          <p:cNvSpPr>
            <a:spLocks noGrp="1"/>
          </p:cNvSpPr>
          <p:nvPr>
            <p:ph idx="1"/>
          </p:nvPr>
        </p:nvSpPr>
        <p:spPr>
          <a:xfrm>
            <a:off x="143838" y="1396305"/>
            <a:ext cx="11904324" cy="5209978"/>
          </a:xfrm>
        </p:spPr>
        <p:txBody>
          <a:bodyPr>
            <a:normAutofit lnSpcReduction="10000"/>
          </a:bodyPr>
          <a:lstStyle/>
          <a:p>
            <a:pPr algn="l"/>
            <a:r>
              <a:rPr lang="en-US" sz="2000" b="0" i="0" u="none" strike="noStrike" baseline="0" dirty="0">
                <a:latin typeface="+mj-lt"/>
              </a:rPr>
              <a:t>(1) </a:t>
            </a:r>
            <a:r>
              <a:rPr lang="en-US" sz="2000" b="0" i="1" u="none" strike="noStrike" baseline="0" dirty="0">
                <a:latin typeface="+mj-lt"/>
              </a:rPr>
              <a:t>Substitution : </a:t>
            </a:r>
            <a:r>
              <a:rPr lang="en-US" sz="2000" b="0" i="0" u="none" strike="noStrike" baseline="0" dirty="0">
                <a:latin typeface="+mj-lt"/>
              </a:rPr>
              <a:t>That is, where possible lead compounds should be substituted by less toxic materials. </a:t>
            </a:r>
          </a:p>
          <a:p>
            <a:pPr algn="l"/>
            <a:r>
              <a:rPr lang="en-US" sz="2000" b="0" i="0" u="none" strike="noStrike" baseline="0" dirty="0">
                <a:latin typeface="+mj-lt"/>
              </a:rPr>
              <a:t>(2) </a:t>
            </a:r>
            <a:r>
              <a:rPr lang="en-US" sz="2000" b="0" i="1" u="none" strike="noStrike" baseline="0" dirty="0">
                <a:latin typeface="+mj-lt"/>
              </a:rPr>
              <a:t>Isolation :  </a:t>
            </a:r>
            <a:r>
              <a:rPr lang="en-US" sz="2000" b="0" i="0" u="none" strike="noStrike" baseline="0" dirty="0">
                <a:latin typeface="+mj-lt"/>
              </a:rPr>
              <a:t>All processes which give rise to harmful concentration of lead dust or fumes should be enclosed and segregated.</a:t>
            </a:r>
          </a:p>
          <a:p>
            <a:pPr algn="l"/>
            <a:r>
              <a:rPr lang="en-US" sz="2000" b="0" i="0" u="none" strike="noStrike" baseline="0" dirty="0">
                <a:latin typeface="+mj-lt"/>
              </a:rPr>
              <a:t>(3) </a:t>
            </a:r>
            <a:r>
              <a:rPr lang="en-US" sz="2000" b="0" i="1" u="none" strike="noStrike" baseline="0" dirty="0">
                <a:latin typeface="+mj-lt"/>
              </a:rPr>
              <a:t>Local exhaust </a:t>
            </a:r>
            <a:r>
              <a:rPr lang="en-US" sz="2000" i="1" dirty="0">
                <a:latin typeface="+mj-lt"/>
              </a:rPr>
              <a:t>v</a:t>
            </a:r>
            <a:r>
              <a:rPr lang="en-US" sz="2000" b="0" i="1" u="none" strike="noStrike" baseline="0" dirty="0">
                <a:latin typeface="+mj-lt"/>
              </a:rPr>
              <a:t>entilation: </a:t>
            </a:r>
            <a:r>
              <a:rPr lang="en-US" sz="2000" b="0" i="0" u="none" strike="noStrike" baseline="0" dirty="0">
                <a:latin typeface="+mj-lt"/>
              </a:rPr>
              <a:t>There should be adequate local exhaust ventilation system to remove fumes and dust promptly </a:t>
            </a:r>
          </a:p>
          <a:p>
            <a:pPr algn="l"/>
            <a:r>
              <a:rPr lang="en-US" sz="2000" b="0" i="0" u="none" strike="noStrike" baseline="0" dirty="0">
                <a:latin typeface="+mj-lt"/>
              </a:rPr>
              <a:t>(4) </a:t>
            </a:r>
            <a:r>
              <a:rPr lang="en-US" sz="2000" b="0" i="1" u="none" strike="noStrike" baseline="0" dirty="0">
                <a:latin typeface="+mj-lt"/>
              </a:rPr>
              <a:t>Personal protection ’: </a:t>
            </a:r>
            <a:r>
              <a:rPr lang="en-US" sz="2000" b="0" i="0" u="none" strike="noStrike" baseline="0" dirty="0">
                <a:latin typeface="+mj-lt"/>
              </a:rPr>
              <a:t>Workers should be Protected by approved respirators. </a:t>
            </a:r>
          </a:p>
          <a:p>
            <a:pPr algn="l"/>
            <a:r>
              <a:rPr lang="en-US" sz="2000" b="0" i="0" u="none" strike="noStrike" baseline="0" dirty="0">
                <a:latin typeface="+mj-lt"/>
              </a:rPr>
              <a:t>(5) </a:t>
            </a:r>
            <a:r>
              <a:rPr lang="en-US" sz="2000" b="0" i="1" u="none" strike="noStrike" baseline="0" dirty="0">
                <a:latin typeface="+mj-lt"/>
              </a:rPr>
              <a:t>Good house-keeping: </a:t>
            </a:r>
            <a:r>
              <a:rPr lang="en-US" sz="2000" b="0" i="0" u="none" strike="noStrike" baseline="0" dirty="0">
                <a:latin typeface="+mj-lt"/>
              </a:rPr>
              <a:t>essential where lead dust is present. </a:t>
            </a:r>
            <a:r>
              <a:rPr lang="en-US" sz="2000" dirty="0">
                <a:latin typeface="+mj-lt"/>
              </a:rPr>
              <a:t>Floors</a:t>
            </a:r>
            <a:r>
              <a:rPr lang="en-US" sz="2000" b="0" i="0" u="none" strike="noStrike" baseline="0" dirty="0">
                <a:latin typeface="+mj-lt"/>
              </a:rPr>
              <a:t>, benches, machines should be kept clean by wet </a:t>
            </a:r>
            <a:r>
              <a:rPr lang="en-US" sz="2000" dirty="0">
                <a:latin typeface="+mj-lt"/>
              </a:rPr>
              <a:t>sweeping</a:t>
            </a:r>
            <a:r>
              <a:rPr lang="en-US" sz="2000" b="0" i="0" u="none" strike="noStrike" baseline="0" dirty="0">
                <a:latin typeface="+mj-lt"/>
              </a:rPr>
              <a:t>. </a:t>
            </a:r>
          </a:p>
          <a:p>
            <a:pPr algn="l"/>
            <a:r>
              <a:rPr lang="en-US" sz="2000" b="0" i="0" u="none" strike="noStrike" baseline="0" dirty="0">
                <a:latin typeface="+mj-lt"/>
              </a:rPr>
              <a:t>(6) </a:t>
            </a:r>
            <a:r>
              <a:rPr lang="en-US" sz="2000" b="0" i="1" u="none" strike="noStrike" baseline="0" dirty="0">
                <a:latin typeface="+mj-lt"/>
              </a:rPr>
              <a:t>Working atmosphere : </a:t>
            </a:r>
            <a:r>
              <a:rPr lang="en-US" sz="2000" b="0" i="0" u="none" strike="noStrike" baseline="0" dirty="0">
                <a:latin typeface="+mj-lt"/>
              </a:rPr>
              <a:t>Lead concentration in </a:t>
            </a:r>
            <a:r>
              <a:rPr lang="en-US" sz="2000" dirty="0">
                <a:latin typeface="+mj-lt"/>
              </a:rPr>
              <a:t>th</a:t>
            </a:r>
            <a:r>
              <a:rPr lang="en-US" sz="2000" b="0" i="0" u="none" strike="noStrike" baseline="0" dirty="0">
                <a:latin typeface="+mj-lt"/>
              </a:rPr>
              <a:t>e working atmosphere should be kept below 2.0 mg per 10 cu. </a:t>
            </a:r>
            <a:r>
              <a:rPr lang="en-US" sz="2000" b="0" i="0" u="none" strike="noStrike" baseline="0" dirty="0" err="1">
                <a:latin typeface="+mj-lt"/>
              </a:rPr>
              <a:t>metres</a:t>
            </a:r>
            <a:r>
              <a:rPr lang="en-US" sz="2000" b="0" i="0" u="none" strike="noStrike" baseline="0" dirty="0">
                <a:latin typeface="+mj-lt"/>
              </a:rPr>
              <a:t> of air, which is usually the permissible limit or threshold value. </a:t>
            </a:r>
          </a:p>
          <a:p>
            <a:pPr algn="l"/>
            <a:r>
              <a:rPr lang="en-US" sz="2000" b="0" i="0" u="none" strike="noStrike" baseline="0" dirty="0">
                <a:latin typeface="+mj-lt"/>
              </a:rPr>
              <a:t>(7) </a:t>
            </a:r>
            <a:r>
              <a:rPr lang="en-US" sz="2000" b="0" i="1" u="none" strike="noStrike" baseline="0" dirty="0">
                <a:latin typeface="+mj-lt"/>
              </a:rPr>
              <a:t>Periodic examination of workers : </a:t>
            </a:r>
            <a:r>
              <a:rPr lang="en-US" sz="2000" b="0" i="0" u="none" strike="noStrike" baseline="0" dirty="0">
                <a:latin typeface="+mj-lt"/>
              </a:rPr>
              <a:t>All workers must be given periodical medical examination </a:t>
            </a:r>
            <a:r>
              <a:rPr lang="en-US" sz="2000" dirty="0">
                <a:latin typeface="+mj-lt"/>
              </a:rPr>
              <a:t>Laboratory</a:t>
            </a:r>
            <a:r>
              <a:rPr lang="en-US" sz="2000" b="0" i="0" u="none" strike="noStrike" baseline="0" dirty="0">
                <a:latin typeface="+mj-lt"/>
              </a:rPr>
              <a:t> determination of urinary lead, blood lead, red cell count, </a:t>
            </a:r>
            <a:r>
              <a:rPr lang="en-US" sz="2000" b="0" i="0" u="none" strike="noStrike" baseline="0" dirty="0" err="1">
                <a:latin typeface="+mj-lt"/>
              </a:rPr>
              <a:t>haemoglobin</a:t>
            </a:r>
            <a:r>
              <a:rPr lang="en-US" sz="2000" b="0" i="0" u="none" strike="noStrike" baseline="0" dirty="0">
                <a:latin typeface="+mj-lt"/>
              </a:rPr>
              <a:t> estimation and coproporphyrin test of urine should be done periodically. Estimation of basophilic stippling may also be done. </a:t>
            </a:r>
          </a:p>
          <a:p>
            <a:pPr algn="l"/>
            <a:r>
              <a:rPr lang="en-US" sz="2000" b="0" i="0" u="none" strike="noStrike" baseline="0" dirty="0">
                <a:latin typeface="+mj-lt"/>
              </a:rPr>
              <a:t>(8) </a:t>
            </a:r>
            <a:r>
              <a:rPr lang="en-US" sz="2000" b="0" i="1" u="none" strike="noStrike" baseline="0" dirty="0">
                <a:latin typeface="+mj-lt"/>
              </a:rPr>
              <a:t>Personal hygiene : </a:t>
            </a:r>
            <a:r>
              <a:rPr lang="en-US" sz="2000" b="0" i="0" u="none" strike="noStrike" baseline="0" dirty="0">
                <a:latin typeface="+mj-lt"/>
              </a:rPr>
              <a:t>Handwashing before eating is an important measure of personal hygiene. There should be adequate washing facilities in industry. Prohibition on taking food in work places is essential. </a:t>
            </a:r>
          </a:p>
          <a:p>
            <a:pPr algn="l"/>
            <a:r>
              <a:rPr lang="en-US" sz="2000" b="0" i="0" u="none" strike="noStrike" baseline="0" dirty="0">
                <a:latin typeface="+mj-lt"/>
              </a:rPr>
              <a:t>(9) </a:t>
            </a:r>
            <a:r>
              <a:rPr lang="en-US" sz="2000" b="0" i="1" u="none" strike="noStrike" baseline="0" dirty="0">
                <a:latin typeface="+mj-lt"/>
              </a:rPr>
              <a:t>Health education : </a:t>
            </a:r>
            <a:r>
              <a:rPr lang="en-US" sz="2000" b="0" i="0" u="none" strike="noStrike" baseline="0" dirty="0">
                <a:latin typeface="+mj-lt"/>
              </a:rPr>
              <a:t>Workers should be educated on the risks involved and personal protection measures.</a:t>
            </a:r>
            <a:endParaRPr lang="en-US" sz="3200" dirty="0">
              <a:latin typeface="+mj-lt"/>
            </a:endParaRPr>
          </a:p>
        </p:txBody>
      </p:sp>
    </p:spTree>
    <p:extLst>
      <p:ext uri="{BB962C8B-B14F-4D97-AF65-F5344CB8AC3E}">
        <p14:creationId xmlns:p14="http://schemas.microsoft.com/office/powerpoint/2010/main" val="613682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3C4B-D605-E156-13EA-C0EEF09AC010}"/>
              </a:ext>
            </a:extLst>
          </p:cNvPr>
          <p:cNvSpPr>
            <a:spLocks noGrp="1"/>
          </p:cNvSpPr>
          <p:nvPr>
            <p:ph type="title"/>
          </p:nvPr>
        </p:nvSpPr>
        <p:spPr/>
        <p:txBody>
          <a:bodyPr/>
          <a:lstStyle/>
          <a:p>
            <a:r>
              <a:rPr lang="en-US" dirty="0"/>
              <a:t>Management – lead poisoning</a:t>
            </a:r>
          </a:p>
        </p:txBody>
      </p:sp>
      <p:sp>
        <p:nvSpPr>
          <p:cNvPr id="3" name="Content Placeholder 2">
            <a:extLst>
              <a:ext uri="{FF2B5EF4-FFF2-40B4-BE49-F238E27FC236}">
                <a16:creationId xmlns:a16="http://schemas.microsoft.com/office/drawing/2014/main" id="{A8C8802B-A2A4-A269-7305-EB0B2E913691}"/>
              </a:ext>
            </a:extLst>
          </p:cNvPr>
          <p:cNvSpPr>
            <a:spLocks noGrp="1"/>
          </p:cNvSpPr>
          <p:nvPr>
            <p:ph idx="1"/>
          </p:nvPr>
        </p:nvSpPr>
        <p:spPr/>
        <p:txBody>
          <a:bodyPr>
            <a:normAutofit/>
          </a:bodyPr>
          <a:lstStyle/>
          <a:p>
            <a:pPr algn="l"/>
            <a:r>
              <a:rPr lang="en-US" sz="2400" b="0" i="0" u="none" strike="noStrike" baseline="0" dirty="0">
                <a:latin typeface="+mj-lt"/>
              </a:rPr>
              <a:t>Prevention of further absorption,</a:t>
            </a:r>
          </a:p>
          <a:p>
            <a:pPr algn="l"/>
            <a:r>
              <a:rPr lang="en-US" sz="2400" b="0" i="0" u="none" strike="noStrike" baseline="0" dirty="0">
                <a:latin typeface="+mj-lt"/>
              </a:rPr>
              <a:t>Removal of lead from soft tissues and prevention of recurrence. </a:t>
            </a:r>
          </a:p>
          <a:p>
            <a:pPr algn="l"/>
            <a:r>
              <a:rPr lang="en-US" sz="2400" b="0" i="0" u="none" strike="noStrike" baseline="0" dirty="0">
                <a:latin typeface="+mj-lt"/>
              </a:rPr>
              <a:t>Early recognition of cases will help in removing them from further exposure.</a:t>
            </a:r>
          </a:p>
          <a:p>
            <a:pPr algn="l"/>
            <a:r>
              <a:rPr lang="en-US" sz="2400" b="0" i="0" u="none" strike="noStrike" baseline="0" dirty="0">
                <a:latin typeface="+mj-lt"/>
              </a:rPr>
              <a:t>A saline purge will remove unabsorbed lead from the gut. </a:t>
            </a:r>
          </a:p>
          <a:p>
            <a:pPr algn="l"/>
            <a:r>
              <a:rPr lang="en-US" sz="2400" b="0" i="0" u="none" strike="noStrike" baseline="0" dirty="0">
                <a:latin typeface="+mj-lt"/>
              </a:rPr>
              <a:t>The use of d-penicillamine has been reported to be effective. </a:t>
            </a:r>
          </a:p>
          <a:p>
            <a:pPr algn="l"/>
            <a:r>
              <a:rPr lang="en-US" sz="2400" b="0" i="0" u="none" strike="noStrike" baseline="0" dirty="0">
                <a:latin typeface="+mj-lt"/>
              </a:rPr>
              <a:t>Like Ca-EDTA, it is a chelating agent and works by promoting lead excretion in urine. </a:t>
            </a:r>
          </a:p>
          <a:p>
            <a:pPr algn="l"/>
            <a:r>
              <a:rPr lang="en-US" sz="2400" b="0" i="0" u="none" strike="noStrike" baseline="0" dirty="0">
                <a:latin typeface="+mj-lt"/>
              </a:rPr>
              <a:t>Lead poisoning is a notifiable and compensable disease in India since 1924.</a:t>
            </a:r>
            <a:endParaRPr lang="en-US" sz="3600" dirty="0">
              <a:latin typeface="+mj-lt"/>
            </a:endParaRPr>
          </a:p>
        </p:txBody>
      </p:sp>
    </p:spTree>
    <p:extLst>
      <p:ext uri="{BB962C8B-B14F-4D97-AF65-F5344CB8AC3E}">
        <p14:creationId xmlns:p14="http://schemas.microsoft.com/office/powerpoint/2010/main" val="361445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660F4-D103-58C8-423E-BAEC83881C11}"/>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Thanks</a:t>
            </a:r>
          </a:p>
        </p:txBody>
      </p:sp>
      <p:pic>
        <p:nvPicPr>
          <p:cNvPr id="7" name="Graphic 6" descr="Smiling Face with No Fill">
            <a:extLst>
              <a:ext uri="{FF2B5EF4-FFF2-40B4-BE49-F238E27FC236}">
                <a16:creationId xmlns:a16="http://schemas.microsoft.com/office/drawing/2014/main" id="{0A3D2239-D96C-F582-ED06-439E7278532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50704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2634</Words>
  <Application>Microsoft Office PowerPoint</Application>
  <PresentationFormat>Widescreen</PresentationFormat>
  <Paragraphs>136</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Times New Roman</vt:lpstr>
      <vt:lpstr>Office Theme</vt:lpstr>
      <vt:lpstr>Occupational disease</vt:lpstr>
      <vt:lpstr>Pneumoconiosis</vt:lpstr>
      <vt:lpstr>Silicosis</vt:lpstr>
      <vt:lpstr>Silicosis</vt:lpstr>
      <vt:lpstr>Anthracosis</vt:lpstr>
      <vt:lpstr>Byssinosis</vt:lpstr>
      <vt:lpstr>Bagassosis</vt:lpstr>
      <vt:lpstr>Asbestosis</vt:lpstr>
      <vt:lpstr>Asbestosis</vt:lpstr>
      <vt:lpstr>Asbestosis</vt:lpstr>
      <vt:lpstr>Farmer’s Lung</vt:lpstr>
      <vt:lpstr>Lead poisoning</vt:lpstr>
      <vt:lpstr>Lead poisoning</vt:lpstr>
      <vt:lpstr>Lead poisoning</vt:lpstr>
      <vt:lpstr>Lead poisoning</vt:lpstr>
      <vt:lpstr>Preventive measures – lead poisoning</vt:lpstr>
      <vt:lpstr>Management – lead poisoning</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Occupational disease</dc:title>
  <dc:creator>mukul maheshwari</dc:creator>
  <cp:lastModifiedBy>mukul maheshwari</cp:lastModifiedBy>
  <cp:revision>1</cp:revision>
  <dcterms:created xsi:type="dcterms:W3CDTF">2023-08-29T05:01:41Z</dcterms:created>
  <dcterms:modified xsi:type="dcterms:W3CDTF">2023-08-29T06:06:19Z</dcterms:modified>
</cp:coreProperties>
</file>