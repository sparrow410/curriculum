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p:scale>
          <a:sx n="100" d="100"/>
          <a:sy n="100" d="100"/>
        </p:scale>
        <p:origin x="366"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C6BB6566-A55C-46FE-AC90-C020932562AD}"/>
    <pc:docChg chg="custSel modSld">
      <pc:chgData name="mukul maheshwari" userId="12cb43e2ca5f0d2c" providerId="LiveId" clId="{C6BB6566-A55C-46FE-AC90-C020932562AD}" dt="2023-08-22T07:58:01.141" v="2"/>
      <pc:docMkLst>
        <pc:docMk/>
      </pc:docMkLst>
      <pc:sldChg chg="addSp delSp modSp mod setBg addAnim">
        <pc:chgData name="mukul maheshwari" userId="12cb43e2ca5f0d2c" providerId="LiveId" clId="{C6BB6566-A55C-46FE-AC90-C020932562AD}" dt="2023-08-22T07:58:01.141" v="2"/>
        <pc:sldMkLst>
          <pc:docMk/>
          <pc:sldMk cId="1343048774" sldId="272"/>
        </pc:sldMkLst>
        <pc:spChg chg="mod">
          <ac:chgData name="mukul maheshwari" userId="12cb43e2ca5f0d2c" providerId="LiveId" clId="{C6BB6566-A55C-46FE-AC90-C020932562AD}" dt="2023-08-22T07:58:01.141" v="1" actId="26606"/>
          <ac:spMkLst>
            <pc:docMk/>
            <pc:sldMk cId="1343048774" sldId="272"/>
            <ac:spMk id="2" creationId="{DBAF7483-4232-B76D-0943-1D27DB104924}"/>
          </ac:spMkLst>
        </pc:spChg>
        <pc:spChg chg="del">
          <ac:chgData name="mukul maheshwari" userId="12cb43e2ca5f0d2c" providerId="LiveId" clId="{C6BB6566-A55C-46FE-AC90-C020932562AD}" dt="2023-08-22T07:57:45.794" v="0" actId="478"/>
          <ac:spMkLst>
            <pc:docMk/>
            <pc:sldMk cId="1343048774" sldId="272"/>
            <ac:spMk id="3" creationId="{2FB5D8F3-EB5D-7EAB-9196-872D248D0974}"/>
          </ac:spMkLst>
        </pc:spChg>
        <pc:spChg chg="add">
          <ac:chgData name="mukul maheshwari" userId="12cb43e2ca5f0d2c" providerId="LiveId" clId="{C6BB6566-A55C-46FE-AC90-C020932562AD}" dt="2023-08-22T07:58:01.141" v="1" actId="26606"/>
          <ac:spMkLst>
            <pc:docMk/>
            <pc:sldMk cId="1343048774" sldId="272"/>
            <ac:spMk id="8" creationId="{DA381740-063A-41A4-836D-85D14980EEF0}"/>
          </ac:spMkLst>
        </pc:spChg>
        <pc:spChg chg="add">
          <ac:chgData name="mukul maheshwari" userId="12cb43e2ca5f0d2c" providerId="LiveId" clId="{C6BB6566-A55C-46FE-AC90-C020932562AD}" dt="2023-08-22T07:58:01.141" v="1" actId="26606"/>
          <ac:spMkLst>
            <pc:docMk/>
            <pc:sldMk cId="1343048774" sldId="272"/>
            <ac:spMk id="10" creationId="{5683D043-25BB-4AC9-8130-641179672614}"/>
          </ac:spMkLst>
        </pc:spChg>
        <pc:spChg chg="add">
          <ac:chgData name="mukul maheshwari" userId="12cb43e2ca5f0d2c" providerId="LiveId" clId="{C6BB6566-A55C-46FE-AC90-C020932562AD}" dt="2023-08-22T07:58:01.141" v="1" actId="26606"/>
          <ac:spMkLst>
            <pc:docMk/>
            <pc:sldMk cId="1343048774" sldId="272"/>
            <ac:spMk id="12" creationId="{AA61CCAC-6875-474C-8E9E-F57ABF078C2B}"/>
          </ac:spMkLst>
        </pc:spChg>
        <pc:picChg chg="add">
          <ac:chgData name="mukul maheshwari" userId="12cb43e2ca5f0d2c" providerId="LiveId" clId="{C6BB6566-A55C-46FE-AC90-C020932562AD}" dt="2023-08-22T07:58:01.141" v="1" actId="26606"/>
          <ac:picMkLst>
            <pc:docMk/>
            <pc:sldMk cId="1343048774" sldId="272"/>
            <ac:picMk id="4" creationId="{4BC1A628-8E25-1C49-CA6A-9C52D698B6D7}"/>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EC0C19-9E68-4B8A-925A-0EF5BD142E1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2CF3105-A10D-4A39-AB85-FACF063D9B0F}">
      <dgm:prSet custT="1"/>
      <dgm:spPr/>
      <dgm:t>
        <a:bodyPr/>
        <a:lstStyle/>
        <a:p>
          <a:r>
            <a:rPr lang="en-US" sz="2400" b="0" i="0" baseline="0" dirty="0"/>
            <a:t>Occupational health should aim at the </a:t>
          </a:r>
          <a:r>
            <a:rPr lang="en-US" sz="2400" b="0" i="1" baseline="0" dirty="0"/>
            <a:t>promotion </a:t>
          </a:r>
          <a:r>
            <a:rPr lang="en-US" sz="2400" b="0" i="0" baseline="0" dirty="0"/>
            <a:t>and maintenance of the highest degree of physical, mental and social well-being of workers in all occupations.</a:t>
          </a:r>
          <a:endParaRPr lang="en-US" sz="2400" dirty="0"/>
        </a:p>
      </dgm:t>
    </dgm:pt>
    <dgm:pt modelId="{BCECF5AC-7EF6-4137-9F5F-CF96A18B6B1C}" type="parTrans" cxnId="{530905F7-DC8B-47F5-940E-B7D5519C118D}">
      <dgm:prSet/>
      <dgm:spPr/>
      <dgm:t>
        <a:bodyPr/>
        <a:lstStyle/>
        <a:p>
          <a:endParaRPr lang="en-US" sz="2400"/>
        </a:p>
      </dgm:t>
    </dgm:pt>
    <dgm:pt modelId="{BB02A714-6289-4AA1-AA33-8E2670748F98}" type="sibTrans" cxnId="{530905F7-DC8B-47F5-940E-B7D5519C118D}">
      <dgm:prSet/>
      <dgm:spPr/>
      <dgm:t>
        <a:bodyPr/>
        <a:lstStyle/>
        <a:p>
          <a:endParaRPr lang="en-US" sz="2400"/>
        </a:p>
      </dgm:t>
    </dgm:pt>
    <dgm:pt modelId="{DB07BF89-63DF-4456-8C45-679946468ACD}">
      <dgm:prSet custT="1"/>
      <dgm:spPr/>
      <dgm:t>
        <a:bodyPr/>
        <a:lstStyle/>
        <a:p>
          <a:r>
            <a:rPr lang="en-US" sz="2400" b="0" i="0" baseline="0"/>
            <a:t>The protection of workers in their employment from risks resulting from factors adverse to health</a:t>
          </a:r>
          <a:endParaRPr lang="en-US" sz="2400"/>
        </a:p>
      </dgm:t>
    </dgm:pt>
    <dgm:pt modelId="{9F1509FA-705E-43E5-A6C5-3384AA321E76}" type="parTrans" cxnId="{F224B9E9-5733-44E8-BA5A-460945B864EB}">
      <dgm:prSet/>
      <dgm:spPr/>
      <dgm:t>
        <a:bodyPr/>
        <a:lstStyle/>
        <a:p>
          <a:endParaRPr lang="en-US" sz="2400"/>
        </a:p>
      </dgm:t>
    </dgm:pt>
    <dgm:pt modelId="{C95CCF04-CE53-4DFB-97A3-0F23F4936C75}" type="sibTrans" cxnId="{F224B9E9-5733-44E8-BA5A-460945B864EB}">
      <dgm:prSet/>
      <dgm:spPr/>
      <dgm:t>
        <a:bodyPr/>
        <a:lstStyle/>
        <a:p>
          <a:endParaRPr lang="en-US" sz="2400"/>
        </a:p>
      </dgm:t>
    </dgm:pt>
    <dgm:pt modelId="{6BC5577F-89FC-4B69-93EA-F5086D56CC12}">
      <dgm:prSet custT="1"/>
      <dgm:spPr/>
      <dgm:t>
        <a:bodyPr/>
        <a:lstStyle/>
        <a:p>
          <a:r>
            <a:rPr lang="en-US" sz="2400" b="0" i="0" baseline="0"/>
            <a:t>The placing and maintenance of the worker in an occupational environment adapted to his physiological and psychological equipment.</a:t>
          </a:r>
          <a:endParaRPr lang="en-US" sz="2400"/>
        </a:p>
      </dgm:t>
    </dgm:pt>
    <dgm:pt modelId="{53A22635-0343-46AC-B9DE-25216CDCDD2C}" type="parTrans" cxnId="{B19773DA-E358-4E1C-A68D-ABBA22086643}">
      <dgm:prSet/>
      <dgm:spPr/>
      <dgm:t>
        <a:bodyPr/>
        <a:lstStyle/>
        <a:p>
          <a:endParaRPr lang="en-US" sz="2400"/>
        </a:p>
      </dgm:t>
    </dgm:pt>
    <dgm:pt modelId="{A1C6BCBD-A957-4BAD-9EC2-FA5E19B111A0}" type="sibTrans" cxnId="{B19773DA-E358-4E1C-A68D-ABBA22086643}">
      <dgm:prSet/>
      <dgm:spPr/>
      <dgm:t>
        <a:bodyPr/>
        <a:lstStyle/>
        <a:p>
          <a:endParaRPr lang="en-US" sz="2400"/>
        </a:p>
      </dgm:t>
    </dgm:pt>
    <dgm:pt modelId="{26110B69-7081-4348-B713-E6E95895CBC9}">
      <dgm:prSet custT="1"/>
      <dgm:spPr/>
      <dgm:t>
        <a:bodyPr/>
        <a:lstStyle/>
        <a:p>
          <a:r>
            <a:rPr lang="en-US" sz="2400" b="0" i="0" baseline="0"/>
            <a:t>Summary - The adaptation of work to man and of each man to his job</a:t>
          </a:r>
          <a:endParaRPr lang="en-US" sz="2400"/>
        </a:p>
      </dgm:t>
    </dgm:pt>
    <dgm:pt modelId="{B1850C84-3462-44BA-A6D7-8E8732D9B047}" type="parTrans" cxnId="{396D271B-352F-4E2C-8FE9-FEFC1ECD436C}">
      <dgm:prSet/>
      <dgm:spPr/>
      <dgm:t>
        <a:bodyPr/>
        <a:lstStyle/>
        <a:p>
          <a:endParaRPr lang="en-US" sz="2400"/>
        </a:p>
      </dgm:t>
    </dgm:pt>
    <dgm:pt modelId="{6BAE3493-DCC2-4722-BDEF-44C446C55C72}" type="sibTrans" cxnId="{396D271B-352F-4E2C-8FE9-FEFC1ECD436C}">
      <dgm:prSet/>
      <dgm:spPr/>
      <dgm:t>
        <a:bodyPr/>
        <a:lstStyle/>
        <a:p>
          <a:endParaRPr lang="en-US" sz="2400"/>
        </a:p>
      </dgm:t>
    </dgm:pt>
    <dgm:pt modelId="{B4160EBE-FEAD-43A5-B95D-02E14DCBC20F}" type="pres">
      <dgm:prSet presAssocID="{5FEC0C19-9E68-4B8A-925A-0EF5BD142E19}" presName="linear" presStyleCnt="0">
        <dgm:presLayoutVars>
          <dgm:animLvl val="lvl"/>
          <dgm:resizeHandles val="exact"/>
        </dgm:presLayoutVars>
      </dgm:prSet>
      <dgm:spPr/>
    </dgm:pt>
    <dgm:pt modelId="{74B8AC36-A61E-4245-B48C-D454AD7F754D}" type="pres">
      <dgm:prSet presAssocID="{72CF3105-A10D-4A39-AB85-FACF063D9B0F}" presName="parentText" presStyleLbl="node1" presStyleIdx="0" presStyleCnt="4">
        <dgm:presLayoutVars>
          <dgm:chMax val="0"/>
          <dgm:bulletEnabled val="1"/>
        </dgm:presLayoutVars>
      </dgm:prSet>
      <dgm:spPr/>
    </dgm:pt>
    <dgm:pt modelId="{60FC9C6F-2E5F-46B4-9743-F837D0C5A143}" type="pres">
      <dgm:prSet presAssocID="{BB02A714-6289-4AA1-AA33-8E2670748F98}" presName="spacer" presStyleCnt="0"/>
      <dgm:spPr/>
    </dgm:pt>
    <dgm:pt modelId="{402BE745-6DBA-4C06-89E2-1BD904242FBD}" type="pres">
      <dgm:prSet presAssocID="{DB07BF89-63DF-4456-8C45-679946468ACD}" presName="parentText" presStyleLbl="node1" presStyleIdx="1" presStyleCnt="4">
        <dgm:presLayoutVars>
          <dgm:chMax val="0"/>
          <dgm:bulletEnabled val="1"/>
        </dgm:presLayoutVars>
      </dgm:prSet>
      <dgm:spPr/>
    </dgm:pt>
    <dgm:pt modelId="{E57193A3-122F-476E-8CA8-8637856FCF8F}" type="pres">
      <dgm:prSet presAssocID="{C95CCF04-CE53-4DFB-97A3-0F23F4936C75}" presName="spacer" presStyleCnt="0"/>
      <dgm:spPr/>
    </dgm:pt>
    <dgm:pt modelId="{2BA3DD80-15F2-4774-A103-39404494EAA7}" type="pres">
      <dgm:prSet presAssocID="{6BC5577F-89FC-4B69-93EA-F5086D56CC12}" presName="parentText" presStyleLbl="node1" presStyleIdx="2" presStyleCnt="4">
        <dgm:presLayoutVars>
          <dgm:chMax val="0"/>
          <dgm:bulletEnabled val="1"/>
        </dgm:presLayoutVars>
      </dgm:prSet>
      <dgm:spPr/>
    </dgm:pt>
    <dgm:pt modelId="{3FBEE484-BB16-40B5-885F-8D1FEC8B55B7}" type="pres">
      <dgm:prSet presAssocID="{A1C6BCBD-A957-4BAD-9EC2-FA5E19B111A0}" presName="spacer" presStyleCnt="0"/>
      <dgm:spPr/>
    </dgm:pt>
    <dgm:pt modelId="{BF835296-5C68-418F-AF19-A34ED1E199D2}" type="pres">
      <dgm:prSet presAssocID="{26110B69-7081-4348-B713-E6E95895CBC9}" presName="parentText" presStyleLbl="node1" presStyleIdx="3" presStyleCnt="4">
        <dgm:presLayoutVars>
          <dgm:chMax val="0"/>
          <dgm:bulletEnabled val="1"/>
        </dgm:presLayoutVars>
      </dgm:prSet>
      <dgm:spPr/>
    </dgm:pt>
  </dgm:ptLst>
  <dgm:cxnLst>
    <dgm:cxn modelId="{396D271B-352F-4E2C-8FE9-FEFC1ECD436C}" srcId="{5FEC0C19-9E68-4B8A-925A-0EF5BD142E19}" destId="{26110B69-7081-4348-B713-E6E95895CBC9}" srcOrd="3" destOrd="0" parTransId="{B1850C84-3462-44BA-A6D7-8E8732D9B047}" sibTransId="{6BAE3493-DCC2-4722-BDEF-44C446C55C72}"/>
    <dgm:cxn modelId="{6E469938-800B-4D0F-84F1-D4678450F73E}" type="presOf" srcId="{26110B69-7081-4348-B713-E6E95895CBC9}" destId="{BF835296-5C68-418F-AF19-A34ED1E199D2}" srcOrd="0" destOrd="0" presId="urn:microsoft.com/office/officeart/2005/8/layout/vList2"/>
    <dgm:cxn modelId="{5B440F41-0E4B-4059-B7B1-3C71F34E9DCC}" type="presOf" srcId="{DB07BF89-63DF-4456-8C45-679946468ACD}" destId="{402BE745-6DBA-4C06-89E2-1BD904242FBD}" srcOrd="0" destOrd="0" presId="urn:microsoft.com/office/officeart/2005/8/layout/vList2"/>
    <dgm:cxn modelId="{A99F6268-493D-4965-B692-829A5B538CA6}" type="presOf" srcId="{5FEC0C19-9E68-4B8A-925A-0EF5BD142E19}" destId="{B4160EBE-FEAD-43A5-B95D-02E14DCBC20F}" srcOrd="0" destOrd="0" presId="urn:microsoft.com/office/officeart/2005/8/layout/vList2"/>
    <dgm:cxn modelId="{9658616F-48EE-435F-9EDB-FB6F9478ABD2}" type="presOf" srcId="{6BC5577F-89FC-4B69-93EA-F5086D56CC12}" destId="{2BA3DD80-15F2-4774-A103-39404494EAA7}" srcOrd="0" destOrd="0" presId="urn:microsoft.com/office/officeart/2005/8/layout/vList2"/>
    <dgm:cxn modelId="{AAAA4B74-2449-48B1-AC6E-F3CC9D489306}" type="presOf" srcId="{72CF3105-A10D-4A39-AB85-FACF063D9B0F}" destId="{74B8AC36-A61E-4245-B48C-D454AD7F754D}" srcOrd="0" destOrd="0" presId="urn:microsoft.com/office/officeart/2005/8/layout/vList2"/>
    <dgm:cxn modelId="{B19773DA-E358-4E1C-A68D-ABBA22086643}" srcId="{5FEC0C19-9E68-4B8A-925A-0EF5BD142E19}" destId="{6BC5577F-89FC-4B69-93EA-F5086D56CC12}" srcOrd="2" destOrd="0" parTransId="{53A22635-0343-46AC-B9DE-25216CDCDD2C}" sibTransId="{A1C6BCBD-A957-4BAD-9EC2-FA5E19B111A0}"/>
    <dgm:cxn modelId="{F224B9E9-5733-44E8-BA5A-460945B864EB}" srcId="{5FEC0C19-9E68-4B8A-925A-0EF5BD142E19}" destId="{DB07BF89-63DF-4456-8C45-679946468ACD}" srcOrd="1" destOrd="0" parTransId="{9F1509FA-705E-43E5-A6C5-3384AA321E76}" sibTransId="{C95CCF04-CE53-4DFB-97A3-0F23F4936C75}"/>
    <dgm:cxn modelId="{530905F7-DC8B-47F5-940E-B7D5519C118D}" srcId="{5FEC0C19-9E68-4B8A-925A-0EF5BD142E19}" destId="{72CF3105-A10D-4A39-AB85-FACF063D9B0F}" srcOrd="0" destOrd="0" parTransId="{BCECF5AC-7EF6-4137-9F5F-CF96A18B6B1C}" sibTransId="{BB02A714-6289-4AA1-AA33-8E2670748F98}"/>
    <dgm:cxn modelId="{A2459034-BFD1-47D8-93DA-8C749CE6D6CD}" type="presParOf" srcId="{B4160EBE-FEAD-43A5-B95D-02E14DCBC20F}" destId="{74B8AC36-A61E-4245-B48C-D454AD7F754D}" srcOrd="0" destOrd="0" presId="urn:microsoft.com/office/officeart/2005/8/layout/vList2"/>
    <dgm:cxn modelId="{77B671A8-29FF-4A09-89D0-55A9400A4F6C}" type="presParOf" srcId="{B4160EBE-FEAD-43A5-B95D-02E14DCBC20F}" destId="{60FC9C6F-2E5F-46B4-9743-F837D0C5A143}" srcOrd="1" destOrd="0" presId="urn:microsoft.com/office/officeart/2005/8/layout/vList2"/>
    <dgm:cxn modelId="{FC72A7CF-9732-4F79-A418-33AF0FE0FDB0}" type="presParOf" srcId="{B4160EBE-FEAD-43A5-B95D-02E14DCBC20F}" destId="{402BE745-6DBA-4C06-89E2-1BD904242FBD}" srcOrd="2" destOrd="0" presId="urn:microsoft.com/office/officeart/2005/8/layout/vList2"/>
    <dgm:cxn modelId="{8E4B6AF5-4D1C-40E9-9756-895723C5F2AF}" type="presParOf" srcId="{B4160EBE-FEAD-43A5-B95D-02E14DCBC20F}" destId="{E57193A3-122F-476E-8CA8-8637856FCF8F}" srcOrd="3" destOrd="0" presId="urn:microsoft.com/office/officeart/2005/8/layout/vList2"/>
    <dgm:cxn modelId="{934CE4A5-A71F-48F3-85C2-F9D20CDF2351}" type="presParOf" srcId="{B4160EBE-FEAD-43A5-B95D-02E14DCBC20F}" destId="{2BA3DD80-15F2-4774-A103-39404494EAA7}" srcOrd="4" destOrd="0" presId="urn:microsoft.com/office/officeart/2005/8/layout/vList2"/>
    <dgm:cxn modelId="{FB9D082B-203D-4649-A4A7-3D2B466C9676}" type="presParOf" srcId="{B4160EBE-FEAD-43A5-B95D-02E14DCBC20F}" destId="{3FBEE484-BB16-40B5-885F-8D1FEC8B55B7}" srcOrd="5" destOrd="0" presId="urn:microsoft.com/office/officeart/2005/8/layout/vList2"/>
    <dgm:cxn modelId="{69A6F5E7-B224-4E43-9647-4F02A18016FB}" type="presParOf" srcId="{B4160EBE-FEAD-43A5-B95D-02E14DCBC20F}" destId="{BF835296-5C68-418F-AF19-A34ED1E199D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ECFCEE-4935-46F1-A642-273522222F8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7275E53-6F67-48A5-AE9F-A7831417FFEE}">
      <dgm:prSet custT="1"/>
      <dgm:spPr/>
      <dgm:t>
        <a:bodyPr/>
        <a:lstStyle/>
        <a:p>
          <a:pPr>
            <a:lnSpc>
              <a:spcPct val="100000"/>
            </a:lnSpc>
          </a:pPr>
          <a:r>
            <a:rPr lang="en-US" sz="2400" b="0" i="0" baseline="0"/>
            <a:t>Greek </a:t>
          </a:r>
          <a:r>
            <a:rPr lang="en-US" sz="2400" b="0" i="1" baseline="0"/>
            <a:t>ergon, </a:t>
          </a:r>
          <a:r>
            <a:rPr lang="en-US" sz="2400" b="0" i="0" baseline="0"/>
            <a:t>meaning work and nomos, meaning law. It simply means: “fitting the job to the worker”.</a:t>
          </a:r>
          <a:endParaRPr lang="en-US" sz="2400"/>
        </a:p>
      </dgm:t>
    </dgm:pt>
    <dgm:pt modelId="{03D47FF4-87E5-4B97-9548-617A12789C33}" type="parTrans" cxnId="{32472964-685A-497A-9E51-E165470392C6}">
      <dgm:prSet/>
      <dgm:spPr/>
      <dgm:t>
        <a:bodyPr/>
        <a:lstStyle/>
        <a:p>
          <a:endParaRPr lang="en-US" sz="2400"/>
        </a:p>
      </dgm:t>
    </dgm:pt>
    <dgm:pt modelId="{B2CF0209-14C7-4559-B878-7759C8CE17EC}" type="sibTrans" cxnId="{32472964-685A-497A-9E51-E165470392C6}">
      <dgm:prSet/>
      <dgm:spPr/>
      <dgm:t>
        <a:bodyPr/>
        <a:lstStyle/>
        <a:p>
          <a:endParaRPr lang="en-US" sz="2400"/>
        </a:p>
      </dgm:t>
    </dgm:pt>
    <dgm:pt modelId="{3E70AF4F-A47E-4D00-A5E8-82C524EBF2A4}">
      <dgm:prSet custT="1"/>
      <dgm:spPr/>
      <dgm:t>
        <a:bodyPr/>
        <a:lstStyle/>
        <a:p>
          <a:pPr>
            <a:lnSpc>
              <a:spcPct val="100000"/>
            </a:lnSpc>
          </a:pPr>
          <a:r>
            <a:rPr lang="en-US" sz="2400" b="0" i="0" baseline="0"/>
            <a:t>“to achieve the best mutual adjustment of man and his work, for the improvement of human efficiency and well-being”</a:t>
          </a:r>
          <a:endParaRPr lang="en-US" sz="2400"/>
        </a:p>
      </dgm:t>
    </dgm:pt>
    <dgm:pt modelId="{400D774D-1502-4520-8221-D3711D36A9F6}" type="parTrans" cxnId="{0016ECFE-EDF1-4F80-A8D4-D2148938A58A}">
      <dgm:prSet/>
      <dgm:spPr/>
      <dgm:t>
        <a:bodyPr/>
        <a:lstStyle/>
        <a:p>
          <a:endParaRPr lang="en-US" sz="2400"/>
        </a:p>
      </dgm:t>
    </dgm:pt>
    <dgm:pt modelId="{602F1539-9B20-48D5-B665-EB305D4928F4}" type="sibTrans" cxnId="{0016ECFE-EDF1-4F80-A8D4-D2148938A58A}">
      <dgm:prSet/>
      <dgm:spPr/>
      <dgm:t>
        <a:bodyPr/>
        <a:lstStyle/>
        <a:p>
          <a:endParaRPr lang="en-US" sz="2400"/>
        </a:p>
      </dgm:t>
    </dgm:pt>
    <dgm:pt modelId="{DFB2A806-89BF-4237-BBC9-DF7E9E513E14}" type="pres">
      <dgm:prSet presAssocID="{04ECFCEE-4935-46F1-A642-273522222F8F}" presName="root" presStyleCnt="0">
        <dgm:presLayoutVars>
          <dgm:dir/>
          <dgm:resizeHandles val="exact"/>
        </dgm:presLayoutVars>
      </dgm:prSet>
      <dgm:spPr/>
    </dgm:pt>
    <dgm:pt modelId="{24CE36CE-5BE8-4330-8DBA-2F3285E99F6D}" type="pres">
      <dgm:prSet presAssocID="{57275E53-6F67-48A5-AE9F-A7831417FFEE}" presName="compNode" presStyleCnt="0"/>
      <dgm:spPr/>
    </dgm:pt>
    <dgm:pt modelId="{A0FEA666-D272-47FE-806C-70DE2B42BAD2}" type="pres">
      <dgm:prSet presAssocID="{57275E53-6F67-48A5-AE9F-A7831417FFEE}" presName="bgRect" presStyleLbl="bgShp" presStyleIdx="0" presStyleCnt="2"/>
      <dgm:spPr/>
    </dgm:pt>
    <dgm:pt modelId="{E855509F-4186-4704-9F5F-76BC4D457976}" type="pres">
      <dgm:prSet presAssocID="{57275E53-6F67-48A5-AE9F-A7831417FFE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ptain"/>
        </a:ext>
      </dgm:extLst>
    </dgm:pt>
    <dgm:pt modelId="{AAEB9CD2-6930-47F9-B89F-F9645200D148}" type="pres">
      <dgm:prSet presAssocID="{57275E53-6F67-48A5-AE9F-A7831417FFEE}" presName="spaceRect" presStyleCnt="0"/>
      <dgm:spPr/>
    </dgm:pt>
    <dgm:pt modelId="{E497D159-797B-445E-916E-17D3F468D33D}" type="pres">
      <dgm:prSet presAssocID="{57275E53-6F67-48A5-AE9F-A7831417FFEE}" presName="parTx" presStyleLbl="revTx" presStyleIdx="0" presStyleCnt="2">
        <dgm:presLayoutVars>
          <dgm:chMax val="0"/>
          <dgm:chPref val="0"/>
        </dgm:presLayoutVars>
      </dgm:prSet>
      <dgm:spPr/>
    </dgm:pt>
    <dgm:pt modelId="{19B9ADF2-FBEE-47CB-A2E5-BDDEA9BEF179}" type="pres">
      <dgm:prSet presAssocID="{B2CF0209-14C7-4559-B878-7759C8CE17EC}" presName="sibTrans" presStyleCnt="0"/>
      <dgm:spPr/>
    </dgm:pt>
    <dgm:pt modelId="{693BF535-6808-4B29-B4AF-544741C3A71E}" type="pres">
      <dgm:prSet presAssocID="{3E70AF4F-A47E-4D00-A5E8-82C524EBF2A4}" presName="compNode" presStyleCnt="0"/>
      <dgm:spPr/>
    </dgm:pt>
    <dgm:pt modelId="{5E606FC7-A6F3-4EDC-BDA2-77514F0183F2}" type="pres">
      <dgm:prSet presAssocID="{3E70AF4F-A47E-4D00-A5E8-82C524EBF2A4}" presName="bgRect" presStyleLbl="bgShp" presStyleIdx="1" presStyleCnt="2"/>
      <dgm:spPr/>
    </dgm:pt>
    <dgm:pt modelId="{0FE05F2A-DDEB-4A90-B756-DA53CF6CCA1F}" type="pres">
      <dgm:prSet presAssocID="{3E70AF4F-A47E-4D00-A5E8-82C524EBF2A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siness Growth"/>
        </a:ext>
      </dgm:extLst>
    </dgm:pt>
    <dgm:pt modelId="{FFC33BDF-ABFF-482C-9B7B-7994CA8EDE76}" type="pres">
      <dgm:prSet presAssocID="{3E70AF4F-A47E-4D00-A5E8-82C524EBF2A4}" presName="spaceRect" presStyleCnt="0"/>
      <dgm:spPr/>
    </dgm:pt>
    <dgm:pt modelId="{AB71ECB3-AAEA-40EA-9F84-45E4F79F284E}" type="pres">
      <dgm:prSet presAssocID="{3E70AF4F-A47E-4D00-A5E8-82C524EBF2A4}" presName="parTx" presStyleLbl="revTx" presStyleIdx="1" presStyleCnt="2">
        <dgm:presLayoutVars>
          <dgm:chMax val="0"/>
          <dgm:chPref val="0"/>
        </dgm:presLayoutVars>
      </dgm:prSet>
      <dgm:spPr/>
    </dgm:pt>
  </dgm:ptLst>
  <dgm:cxnLst>
    <dgm:cxn modelId="{046D6F2E-D277-4682-B120-311641234B51}" type="presOf" srcId="{57275E53-6F67-48A5-AE9F-A7831417FFEE}" destId="{E497D159-797B-445E-916E-17D3F468D33D}" srcOrd="0" destOrd="0" presId="urn:microsoft.com/office/officeart/2018/2/layout/IconVerticalSolidList"/>
    <dgm:cxn modelId="{256DDB63-4017-4B3E-9C61-E69760A65363}" type="presOf" srcId="{04ECFCEE-4935-46F1-A642-273522222F8F}" destId="{DFB2A806-89BF-4237-BBC9-DF7E9E513E14}" srcOrd="0" destOrd="0" presId="urn:microsoft.com/office/officeart/2018/2/layout/IconVerticalSolidList"/>
    <dgm:cxn modelId="{32472964-685A-497A-9E51-E165470392C6}" srcId="{04ECFCEE-4935-46F1-A642-273522222F8F}" destId="{57275E53-6F67-48A5-AE9F-A7831417FFEE}" srcOrd="0" destOrd="0" parTransId="{03D47FF4-87E5-4B97-9548-617A12789C33}" sibTransId="{B2CF0209-14C7-4559-B878-7759C8CE17EC}"/>
    <dgm:cxn modelId="{617946F9-0397-4427-A7E5-A6E9F58B2AD6}" type="presOf" srcId="{3E70AF4F-A47E-4D00-A5E8-82C524EBF2A4}" destId="{AB71ECB3-AAEA-40EA-9F84-45E4F79F284E}" srcOrd="0" destOrd="0" presId="urn:microsoft.com/office/officeart/2018/2/layout/IconVerticalSolidList"/>
    <dgm:cxn modelId="{0016ECFE-EDF1-4F80-A8D4-D2148938A58A}" srcId="{04ECFCEE-4935-46F1-A642-273522222F8F}" destId="{3E70AF4F-A47E-4D00-A5E8-82C524EBF2A4}" srcOrd="1" destOrd="0" parTransId="{400D774D-1502-4520-8221-D3711D36A9F6}" sibTransId="{602F1539-9B20-48D5-B665-EB305D4928F4}"/>
    <dgm:cxn modelId="{186D1482-C418-4A4C-B714-F1F1415C111A}" type="presParOf" srcId="{DFB2A806-89BF-4237-BBC9-DF7E9E513E14}" destId="{24CE36CE-5BE8-4330-8DBA-2F3285E99F6D}" srcOrd="0" destOrd="0" presId="urn:microsoft.com/office/officeart/2018/2/layout/IconVerticalSolidList"/>
    <dgm:cxn modelId="{7EB417D3-662C-4C42-90E7-6A37C4069C10}" type="presParOf" srcId="{24CE36CE-5BE8-4330-8DBA-2F3285E99F6D}" destId="{A0FEA666-D272-47FE-806C-70DE2B42BAD2}" srcOrd="0" destOrd="0" presId="urn:microsoft.com/office/officeart/2018/2/layout/IconVerticalSolidList"/>
    <dgm:cxn modelId="{3BC900E6-7707-4121-9D58-16B24437D543}" type="presParOf" srcId="{24CE36CE-5BE8-4330-8DBA-2F3285E99F6D}" destId="{E855509F-4186-4704-9F5F-76BC4D457976}" srcOrd="1" destOrd="0" presId="urn:microsoft.com/office/officeart/2018/2/layout/IconVerticalSolidList"/>
    <dgm:cxn modelId="{0B4D7DF8-084C-4EED-8DEB-5E06DF95C89E}" type="presParOf" srcId="{24CE36CE-5BE8-4330-8DBA-2F3285E99F6D}" destId="{AAEB9CD2-6930-47F9-B89F-F9645200D148}" srcOrd="2" destOrd="0" presId="urn:microsoft.com/office/officeart/2018/2/layout/IconVerticalSolidList"/>
    <dgm:cxn modelId="{A7AC5B61-042F-4D3D-8F65-9DBA7DFA491C}" type="presParOf" srcId="{24CE36CE-5BE8-4330-8DBA-2F3285E99F6D}" destId="{E497D159-797B-445E-916E-17D3F468D33D}" srcOrd="3" destOrd="0" presId="urn:microsoft.com/office/officeart/2018/2/layout/IconVerticalSolidList"/>
    <dgm:cxn modelId="{F9B0ECDB-F474-4895-9567-69025FA44353}" type="presParOf" srcId="{DFB2A806-89BF-4237-BBC9-DF7E9E513E14}" destId="{19B9ADF2-FBEE-47CB-A2E5-BDDEA9BEF179}" srcOrd="1" destOrd="0" presId="urn:microsoft.com/office/officeart/2018/2/layout/IconVerticalSolidList"/>
    <dgm:cxn modelId="{E1B28889-020C-49FD-B6D3-8DBE5712C437}" type="presParOf" srcId="{DFB2A806-89BF-4237-BBC9-DF7E9E513E14}" destId="{693BF535-6808-4B29-B4AF-544741C3A71E}" srcOrd="2" destOrd="0" presId="urn:microsoft.com/office/officeart/2018/2/layout/IconVerticalSolidList"/>
    <dgm:cxn modelId="{7BCDE74C-DE35-45B5-A70D-2FE9E8BC6D41}" type="presParOf" srcId="{693BF535-6808-4B29-B4AF-544741C3A71E}" destId="{5E606FC7-A6F3-4EDC-BDA2-77514F0183F2}" srcOrd="0" destOrd="0" presId="urn:microsoft.com/office/officeart/2018/2/layout/IconVerticalSolidList"/>
    <dgm:cxn modelId="{17A18F33-5D5F-41EC-846C-61EBF7F997D2}" type="presParOf" srcId="{693BF535-6808-4B29-B4AF-544741C3A71E}" destId="{0FE05F2A-DDEB-4A90-B756-DA53CF6CCA1F}" srcOrd="1" destOrd="0" presId="urn:microsoft.com/office/officeart/2018/2/layout/IconVerticalSolidList"/>
    <dgm:cxn modelId="{1BD2C87A-4CCF-4449-A8BC-C5918E5C9A4F}" type="presParOf" srcId="{693BF535-6808-4B29-B4AF-544741C3A71E}" destId="{FFC33BDF-ABFF-482C-9B7B-7994CA8EDE76}" srcOrd="2" destOrd="0" presId="urn:microsoft.com/office/officeart/2018/2/layout/IconVerticalSolidList"/>
    <dgm:cxn modelId="{D4F15521-27F8-4A07-B8FE-5D06C5FF2764}" type="presParOf" srcId="{693BF535-6808-4B29-B4AF-544741C3A71E}" destId="{AB71ECB3-AAEA-40EA-9F84-45E4F79F284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61B7EA-49B9-4B96-A8FA-E8776203342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D62FA92-1E43-4968-96F1-E721484FD64E}">
      <dgm:prSet/>
      <dgm:spPr/>
      <dgm:t>
        <a:bodyPr/>
        <a:lstStyle/>
        <a:p>
          <a:pPr>
            <a:lnSpc>
              <a:spcPct val="100000"/>
            </a:lnSpc>
          </a:pPr>
          <a:r>
            <a:rPr lang="en-US" dirty="0"/>
            <a:t>Physical agent – </a:t>
          </a:r>
        </a:p>
      </dgm:t>
    </dgm:pt>
    <dgm:pt modelId="{2DF774AB-4DCA-4A05-BE48-46A13480AD89}" type="parTrans" cxnId="{0BD41FDC-4B87-41D2-902D-247E04019540}">
      <dgm:prSet/>
      <dgm:spPr/>
      <dgm:t>
        <a:bodyPr/>
        <a:lstStyle/>
        <a:p>
          <a:endParaRPr lang="en-US"/>
        </a:p>
      </dgm:t>
    </dgm:pt>
    <dgm:pt modelId="{614B54C1-FDFA-4BE7-AA5B-3A380DF823D3}" type="sibTrans" cxnId="{0BD41FDC-4B87-41D2-902D-247E04019540}">
      <dgm:prSet/>
      <dgm:spPr/>
      <dgm:t>
        <a:bodyPr/>
        <a:lstStyle/>
        <a:p>
          <a:endParaRPr lang="en-US"/>
        </a:p>
      </dgm:t>
    </dgm:pt>
    <dgm:pt modelId="{8512C456-6B67-47B8-96EF-9C7156281213}">
      <dgm:prSet custT="1"/>
      <dgm:spPr/>
      <dgm:t>
        <a:bodyPr/>
        <a:lstStyle/>
        <a:p>
          <a:pPr>
            <a:lnSpc>
              <a:spcPct val="100000"/>
            </a:lnSpc>
          </a:pPr>
          <a:r>
            <a:rPr lang="en-US" sz="1800"/>
            <a:t>Space </a:t>
          </a:r>
          <a:r>
            <a:rPr lang="en-US" sz="1800">
              <a:sym typeface="Wingdings" panose="05000000000000000000" pitchFamily="2" charset="2"/>
            </a:rPr>
            <a:t></a:t>
          </a:r>
          <a:r>
            <a:rPr lang="en-US" sz="1800"/>
            <a:t> breathing space, toilet, bathing and washing</a:t>
          </a:r>
        </a:p>
      </dgm:t>
    </dgm:pt>
    <dgm:pt modelId="{5AF4A768-9E76-4905-AE78-CB228D9AEA22}" type="parTrans" cxnId="{C3B38D3C-9CE4-44D7-ADFB-E49043F5CD60}">
      <dgm:prSet/>
      <dgm:spPr/>
      <dgm:t>
        <a:bodyPr/>
        <a:lstStyle/>
        <a:p>
          <a:endParaRPr lang="en-US"/>
        </a:p>
      </dgm:t>
    </dgm:pt>
    <dgm:pt modelId="{F2319C8E-362C-4F44-BFE0-67E9D34C7FCB}" type="sibTrans" cxnId="{C3B38D3C-9CE4-44D7-ADFB-E49043F5CD60}">
      <dgm:prSet/>
      <dgm:spPr/>
      <dgm:t>
        <a:bodyPr/>
        <a:lstStyle/>
        <a:p>
          <a:endParaRPr lang="en-US"/>
        </a:p>
      </dgm:t>
    </dgm:pt>
    <dgm:pt modelId="{3DDF6AB6-7432-486A-8825-6D89B83BDAF7}">
      <dgm:prSet/>
      <dgm:spPr/>
      <dgm:t>
        <a:bodyPr/>
        <a:lstStyle/>
        <a:p>
          <a:pPr>
            <a:lnSpc>
              <a:spcPct val="100000"/>
            </a:lnSpc>
          </a:pPr>
          <a:r>
            <a:rPr lang="en-US"/>
            <a:t>Chemical </a:t>
          </a:r>
          <a:r>
            <a:rPr lang="en-US">
              <a:sym typeface="Wingdings" panose="05000000000000000000" pitchFamily="2" charset="2"/>
            </a:rPr>
            <a:t></a:t>
          </a:r>
          <a:r>
            <a:rPr lang="en-US"/>
            <a:t> respiratory illness, injury to skin, deleterious effect on blood</a:t>
          </a:r>
        </a:p>
      </dgm:t>
    </dgm:pt>
    <dgm:pt modelId="{183A97A5-DF81-4E04-85CC-33CAACBC60F5}" type="parTrans" cxnId="{843281A8-3774-4640-BF7D-76E2F3EC6C51}">
      <dgm:prSet/>
      <dgm:spPr/>
      <dgm:t>
        <a:bodyPr/>
        <a:lstStyle/>
        <a:p>
          <a:endParaRPr lang="en-US"/>
        </a:p>
      </dgm:t>
    </dgm:pt>
    <dgm:pt modelId="{EE697E0B-44C6-4A52-B7A2-D99CBA04BDC5}" type="sibTrans" cxnId="{843281A8-3774-4640-BF7D-76E2F3EC6C51}">
      <dgm:prSet/>
      <dgm:spPr/>
      <dgm:t>
        <a:bodyPr/>
        <a:lstStyle/>
        <a:p>
          <a:endParaRPr lang="en-US"/>
        </a:p>
      </dgm:t>
    </dgm:pt>
    <dgm:pt modelId="{2AA23532-A2B7-46A4-A002-5273E9D76746}">
      <dgm:prSet/>
      <dgm:spPr/>
      <dgm:t>
        <a:bodyPr/>
        <a:lstStyle/>
        <a:p>
          <a:pPr>
            <a:lnSpc>
              <a:spcPct val="100000"/>
            </a:lnSpc>
          </a:pPr>
          <a:r>
            <a:rPr lang="en-US"/>
            <a:t>Biological </a:t>
          </a:r>
          <a:r>
            <a:rPr lang="en-US">
              <a:sym typeface="Wingdings" panose="05000000000000000000" pitchFamily="2" charset="2"/>
            </a:rPr>
            <a:t></a:t>
          </a:r>
          <a:r>
            <a:rPr lang="en-US"/>
            <a:t> viral, rickettsia, bacterial and parasitic agents</a:t>
          </a:r>
        </a:p>
      </dgm:t>
    </dgm:pt>
    <dgm:pt modelId="{0177C01A-FF6C-4B1B-B1A2-C3464219587C}" type="parTrans" cxnId="{9941C080-8C81-4EC3-9BCB-95E5254E9F0A}">
      <dgm:prSet/>
      <dgm:spPr/>
      <dgm:t>
        <a:bodyPr/>
        <a:lstStyle/>
        <a:p>
          <a:endParaRPr lang="en-US"/>
        </a:p>
      </dgm:t>
    </dgm:pt>
    <dgm:pt modelId="{710EF6BB-BF29-4229-BA2B-86F97D0B6CBA}" type="sibTrans" cxnId="{9941C080-8C81-4EC3-9BCB-95E5254E9F0A}">
      <dgm:prSet/>
      <dgm:spPr/>
      <dgm:t>
        <a:bodyPr/>
        <a:lstStyle/>
        <a:p>
          <a:endParaRPr lang="en-US"/>
        </a:p>
      </dgm:t>
    </dgm:pt>
    <dgm:pt modelId="{98CE83D2-8466-4496-ADF9-9BA42D2C83D3}">
      <dgm:prSet custT="1"/>
      <dgm:spPr/>
      <dgm:t>
        <a:bodyPr/>
        <a:lstStyle/>
        <a:p>
          <a:pPr>
            <a:lnSpc>
              <a:spcPct val="100000"/>
            </a:lnSpc>
          </a:pPr>
          <a:r>
            <a:rPr lang="en-US" sz="1800" dirty="0"/>
            <a:t>Working environment </a:t>
          </a:r>
          <a:r>
            <a:rPr lang="en-US" sz="1800" dirty="0">
              <a:sym typeface="Wingdings" panose="05000000000000000000" pitchFamily="2" charset="2"/>
            </a:rPr>
            <a:t></a:t>
          </a:r>
          <a:r>
            <a:rPr lang="en-US" sz="1800" dirty="0"/>
            <a:t> heat, cold, humidity, radiation (heat / ionizing)</a:t>
          </a:r>
        </a:p>
      </dgm:t>
    </dgm:pt>
    <dgm:pt modelId="{96C50C50-7763-48D0-A0C5-58FEAC270CE2}" type="parTrans" cxnId="{6A1C96E7-3986-4736-85AB-2B86105C09B8}">
      <dgm:prSet/>
      <dgm:spPr/>
      <dgm:t>
        <a:bodyPr/>
        <a:lstStyle/>
        <a:p>
          <a:endParaRPr lang="en-US"/>
        </a:p>
      </dgm:t>
    </dgm:pt>
    <dgm:pt modelId="{0277F6B8-69E0-4D85-8BE0-2925A82E1E95}" type="sibTrans" cxnId="{6A1C96E7-3986-4736-85AB-2B86105C09B8}">
      <dgm:prSet/>
      <dgm:spPr/>
      <dgm:t>
        <a:bodyPr/>
        <a:lstStyle/>
        <a:p>
          <a:endParaRPr lang="en-US"/>
        </a:p>
      </dgm:t>
    </dgm:pt>
    <dgm:pt modelId="{4417EED8-8933-46AD-BB6B-CC1F8E247AA0}" type="pres">
      <dgm:prSet presAssocID="{5D61B7EA-49B9-4B96-A8FA-E8776203342D}" presName="root" presStyleCnt="0">
        <dgm:presLayoutVars>
          <dgm:dir/>
          <dgm:resizeHandles val="exact"/>
        </dgm:presLayoutVars>
      </dgm:prSet>
      <dgm:spPr/>
    </dgm:pt>
    <dgm:pt modelId="{8376D592-2028-4135-8F15-21780A4008A8}" type="pres">
      <dgm:prSet presAssocID="{CD62FA92-1E43-4968-96F1-E721484FD64E}" presName="compNode" presStyleCnt="0"/>
      <dgm:spPr/>
    </dgm:pt>
    <dgm:pt modelId="{5DD6B0A4-CAC3-41CA-A5DA-0978C7EAAC59}" type="pres">
      <dgm:prSet presAssocID="{CD62FA92-1E43-4968-96F1-E721484FD64E}" presName="bgRect" presStyleLbl="bgShp" presStyleIdx="0" presStyleCnt="3"/>
      <dgm:spPr/>
    </dgm:pt>
    <dgm:pt modelId="{DC9D4525-156D-4DEA-8D7E-CCC1B6D0851B}" type="pres">
      <dgm:prSet presAssocID="{CD62FA92-1E43-4968-96F1-E721484FD64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adioactive"/>
        </a:ext>
      </dgm:extLst>
    </dgm:pt>
    <dgm:pt modelId="{5B9C7C4A-F1FE-4B44-B16D-309B9C315489}" type="pres">
      <dgm:prSet presAssocID="{CD62FA92-1E43-4968-96F1-E721484FD64E}" presName="spaceRect" presStyleCnt="0"/>
      <dgm:spPr/>
    </dgm:pt>
    <dgm:pt modelId="{2674C80F-D4D2-40FD-BB57-4D909A8905D7}" type="pres">
      <dgm:prSet presAssocID="{CD62FA92-1E43-4968-96F1-E721484FD64E}" presName="parTx" presStyleLbl="revTx" presStyleIdx="0" presStyleCnt="4">
        <dgm:presLayoutVars>
          <dgm:chMax val="0"/>
          <dgm:chPref val="0"/>
        </dgm:presLayoutVars>
      </dgm:prSet>
      <dgm:spPr/>
    </dgm:pt>
    <dgm:pt modelId="{6E729685-8196-4D86-ACF4-16C91926D4A2}" type="pres">
      <dgm:prSet presAssocID="{CD62FA92-1E43-4968-96F1-E721484FD64E}" presName="desTx" presStyleLbl="revTx" presStyleIdx="1" presStyleCnt="4" custScaleX="212316">
        <dgm:presLayoutVars/>
      </dgm:prSet>
      <dgm:spPr/>
    </dgm:pt>
    <dgm:pt modelId="{8801264D-C985-481A-9076-1A0AB393D29B}" type="pres">
      <dgm:prSet presAssocID="{614B54C1-FDFA-4BE7-AA5B-3A380DF823D3}" presName="sibTrans" presStyleCnt="0"/>
      <dgm:spPr/>
    </dgm:pt>
    <dgm:pt modelId="{7B0A488B-980C-421F-8A81-5DA276AD9D7E}" type="pres">
      <dgm:prSet presAssocID="{3DDF6AB6-7432-486A-8825-6D89B83BDAF7}" presName="compNode" presStyleCnt="0"/>
      <dgm:spPr/>
    </dgm:pt>
    <dgm:pt modelId="{550F3D0B-A276-4314-990E-9DB721842EA1}" type="pres">
      <dgm:prSet presAssocID="{3DDF6AB6-7432-486A-8825-6D89B83BDAF7}" presName="bgRect" presStyleLbl="bgShp" presStyleIdx="1" presStyleCnt="3"/>
      <dgm:spPr/>
    </dgm:pt>
    <dgm:pt modelId="{F95A05A1-7E13-4C3F-8C2F-4284707381A6}" type="pres">
      <dgm:prSet presAssocID="{3DDF6AB6-7432-486A-8825-6D89B83BDAF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ow Temperature"/>
        </a:ext>
      </dgm:extLst>
    </dgm:pt>
    <dgm:pt modelId="{D4AF5D60-DA77-4405-910F-C75F31E80819}" type="pres">
      <dgm:prSet presAssocID="{3DDF6AB6-7432-486A-8825-6D89B83BDAF7}" presName="spaceRect" presStyleCnt="0"/>
      <dgm:spPr/>
    </dgm:pt>
    <dgm:pt modelId="{1EB47D4F-5381-46CD-916C-F41B2B02D439}" type="pres">
      <dgm:prSet presAssocID="{3DDF6AB6-7432-486A-8825-6D89B83BDAF7}" presName="parTx" presStyleLbl="revTx" presStyleIdx="2" presStyleCnt="4">
        <dgm:presLayoutVars>
          <dgm:chMax val="0"/>
          <dgm:chPref val="0"/>
        </dgm:presLayoutVars>
      </dgm:prSet>
      <dgm:spPr/>
    </dgm:pt>
    <dgm:pt modelId="{32EA7181-D330-4F6C-964D-FA82F6013D8E}" type="pres">
      <dgm:prSet presAssocID="{EE697E0B-44C6-4A52-B7A2-D99CBA04BDC5}" presName="sibTrans" presStyleCnt="0"/>
      <dgm:spPr/>
    </dgm:pt>
    <dgm:pt modelId="{846A62BC-6354-43DD-B6B6-535E87BB0D42}" type="pres">
      <dgm:prSet presAssocID="{2AA23532-A2B7-46A4-A002-5273E9D76746}" presName="compNode" presStyleCnt="0"/>
      <dgm:spPr/>
    </dgm:pt>
    <dgm:pt modelId="{C66E7382-CCD6-4D2D-8C81-24C3572CCCC6}" type="pres">
      <dgm:prSet presAssocID="{2AA23532-A2B7-46A4-A002-5273E9D76746}" presName="bgRect" presStyleLbl="bgShp" presStyleIdx="2" presStyleCnt="3"/>
      <dgm:spPr/>
    </dgm:pt>
    <dgm:pt modelId="{AD3CB09A-05CB-4D47-AAE3-056B77FA4132}" type="pres">
      <dgm:prSet presAssocID="{2AA23532-A2B7-46A4-A002-5273E9D7674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ady bug"/>
        </a:ext>
      </dgm:extLst>
    </dgm:pt>
    <dgm:pt modelId="{982FD66B-D2BA-4AD4-B94D-3DD032DE426A}" type="pres">
      <dgm:prSet presAssocID="{2AA23532-A2B7-46A4-A002-5273E9D76746}" presName="spaceRect" presStyleCnt="0"/>
      <dgm:spPr/>
    </dgm:pt>
    <dgm:pt modelId="{E04AB4E6-DE2D-4285-948A-F0937BCAC526}" type="pres">
      <dgm:prSet presAssocID="{2AA23532-A2B7-46A4-A002-5273E9D76746}" presName="parTx" presStyleLbl="revTx" presStyleIdx="3" presStyleCnt="4">
        <dgm:presLayoutVars>
          <dgm:chMax val="0"/>
          <dgm:chPref val="0"/>
        </dgm:presLayoutVars>
      </dgm:prSet>
      <dgm:spPr/>
    </dgm:pt>
  </dgm:ptLst>
  <dgm:cxnLst>
    <dgm:cxn modelId="{C3B38D3C-9CE4-44D7-ADFB-E49043F5CD60}" srcId="{CD62FA92-1E43-4968-96F1-E721484FD64E}" destId="{8512C456-6B67-47B8-96EF-9C7156281213}" srcOrd="1" destOrd="0" parTransId="{5AF4A768-9E76-4905-AE78-CB228D9AEA22}" sibTransId="{F2319C8E-362C-4F44-BFE0-67E9D34C7FCB}"/>
    <dgm:cxn modelId="{AF27884D-283F-4CAA-89EA-0CE1A333B80F}" type="presOf" srcId="{98CE83D2-8466-4496-ADF9-9BA42D2C83D3}" destId="{6E729685-8196-4D86-ACF4-16C91926D4A2}" srcOrd="0" destOrd="0" presId="urn:microsoft.com/office/officeart/2018/2/layout/IconVerticalSolidList"/>
    <dgm:cxn modelId="{51B97F7D-429C-41E1-B131-2CF7E8534989}" type="presOf" srcId="{2AA23532-A2B7-46A4-A002-5273E9D76746}" destId="{E04AB4E6-DE2D-4285-948A-F0937BCAC526}" srcOrd="0" destOrd="0" presId="urn:microsoft.com/office/officeart/2018/2/layout/IconVerticalSolidList"/>
    <dgm:cxn modelId="{9941C080-8C81-4EC3-9BCB-95E5254E9F0A}" srcId="{5D61B7EA-49B9-4B96-A8FA-E8776203342D}" destId="{2AA23532-A2B7-46A4-A002-5273E9D76746}" srcOrd="2" destOrd="0" parTransId="{0177C01A-FF6C-4B1B-B1A2-C3464219587C}" sibTransId="{710EF6BB-BF29-4229-BA2B-86F97D0B6CBA}"/>
    <dgm:cxn modelId="{A153A081-EB7B-47EB-B584-052C4FD2428F}" type="presOf" srcId="{5D61B7EA-49B9-4B96-A8FA-E8776203342D}" destId="{4417EED8-8933-46AD-BB6B-CC1F8E247AA0}" srcOrd="0" destOrd="0" presId="urn:microsoft.com/office/officeart/2018/2/layout/IconVerticalSolidList"/>
    <dgm:cxn modelId="{81E1BB8B-CA4A-47FF-85EC-E28D06E9211A}" type="presOf" srcId="{8512C456-6B67-47B8-96EF-9C7156281213}" destId="{6E729685-8196-4D86-ACF4-16C91926D4A2}" srcOrd="0" destOrd="1" presId="urn:microsoft.com/office/officeart/2018/2/layout/IconVerticalSolidList"/>
    <dgm:cxn modelId="{843281A8-3774-4640-BF7D-76E2F3EC6C51}" srcId="{5D61B7EA-49B9-4B96-A8FA-E8776203342D}" destId="{3DDF6AB6-7432-486A-8825-6D89B83BDAF7}" srcOrd="1" destOrd="0" parTransId="{183A97A5-DF81-4E04-85CC-33CAACBC60F5}" sibTransId="{EE697E0B-44C6-4A52-B7A2-D99CBA04BDC5}"/>
    <dgm:cxn modelId="{844CD1DA-F026-4CEE-BFA1-38DD63AFB19B}" type="presOf" srcId="{3DDF6AB6-7432-486A-8825-6D89B83BDAF7}" destId="{1EB47D4F-5381-46CD-916C-F41B2B02D439}" srcOrd="0" destOrd="0" presId="urn:microsoft.com/office/officeart/2018/2/layout/IconVerticalSolidList"/>
    <dgm:cxn modelId="{0BD41FDC-4B87-41D2-902D-247E04019540}" srcId="{5D61B7EA-49B9-4B96-A8FA-E8776203342D}" destId="{CD62FA92-1E43-4968-96F1-E721484FD64E}" srcOrd="0" destOrd="0" parTransId="{2DF774AB-4DCA-4A05-BE48-46A13480AD89}" sibTransId="{614B54C1-FDFA-4BE7-AA5B-3A380DF823D3}"/>
    <dgm:cxn modelId="{6A1C96E7-3986-4736-85AB-2B86105C09B8}" srcId="{CD62FA92-1E43-4968-96F1-E721484FD64E}" destId="{98CE83D2-8466-4496-ADF9-9BA42D2C83D3}" srcOrd="0" destOrd="0" parTransId="{96C50C50-7763-48D0-A0C5-58FEAC270CE2}" sibTransId="{0277F6B8-69E0-4D85-8BE0-2925A82E1E95}"/>
    <dgm:cxn modelId="{836B91F3-4B14-4869-B7BC-4D23C0E98CF9}" type="presOf" srcId="{CD62FA92-1E43-4968-96F1-E721484FD64E}" destId="{2674C80F-D4D2-40FD-BB57-4D909A8905D7}" srcOrd="0" destOrd="0" presId="urn:microsoft.com/office/officeart/2018/2/layout/IconVerticalSolidList"/>
    <dgm:cxn modelId="{C591F8D3-90FE-441B-8719-FEBE242E4FB1}" type="presParOf" srcId="{4417EED8-8933-46AD-BB6B-CC1F8E247AA0}" destId="{8376D592-2028-4135-8F15-21780A4008A8}" srcOrd="0" destOrd="0" presId="urn:microsoft.com/office/officeart/2018/2/layout/IconVerticalSolidList"/>
    <dgm:cxn modelId="{71521D04-371A-46AF-9E78-AB218C2800DD}" type="presParOf" srcId="{8376D592-2028-4135-8F15-21780A4008A8}" destId="{5DD6B0A4-CAC3-41CA-A5DA-0978C7EAAC59}" srcOrd="0" destOrd="0" presId="urn:microsoft.com/office/officeart/2018/2/layout/IconVerticalSolidList"/>
    <dgm:cxn modelId="{880FB416-6DD5-461E-8312-071CF7467DCB}" type="presParOf" srcId="{8376D592-2028-4135-8F15-21780A4008A8}" destId="{DC9D4525-156D-4DEA-8D7E-CCC1B6D0851B}" srcOrd="1" destOrd="0" presId="urn:microsoft.com/office/officeart/2018/2/layout/IconVerticalSolidList"/>
    <dgm:cxn modelId="{C9B3FD75-9C41-4FED-A8EC-9F2DE8CCD7F7}" type="presParOf" srcId="{8376D592-2028-4135-8F15-21780A4008A8}" destId="{5B9C7C4A-F1FE-4B44-B16D-309B9C315489}" srcOrd="2" destOrd="0" presId="urn:microsoft.com/office/officeart/2018/2/layout/IconVerticalSolidList"/>
    <dgm:cxn modelId="{1AB278EF-8D84-49BE-8EC8-E508CCA8138D}" type="presParOf" srcId="{8376D592-2028-4135-8F15-21780A4008A8}" destId="{2674C80F-D4D2-40FD-BB57-4D909A8905D7}" srcOrd="3" destOrd="0" presId="urn:microsoft.com/office/officeart/2018/2/layout/IconVerticalSolidList"/>
    <dgm:cxn modelId="{972FC679-1971-4A14-91F3-373580424E10}" type="presParOf" srcId="{8376D592-2028-4135-8F15-21780A4008A8}" destId="{6E729685-8196-4D86-ACF4-16C91926D4A2}" srcOrd="4" destOrd="0" presId="urn:microsoft.com/office/officeart/2018/2/layout/IconVerticalSolidList"/>
    <dgm:cxn modelId="{0FA047ED-0C6E-4956-A0C8-8E7C7FE79CE4}" type="presParOf" srcId="{4417EED8-8933-46AD-BB6B-CC1F8E247AA0}" destId="{8801264D-C985-481A-9076-1A0AB393D29B}" srcOrd="1" destOrd="0" presId="urn:microsoft.com/office/officeart/2018/2/layout/IconVerticalSolidList"/>
    <dgm:cxn modelId="{9410907B-26C6-48EC-A3B1-212DDA810F52}" type="presParOf" srcId="{4417EED8-8933-46AD-BB6B-CC1F8E247AA0}" destId="{7B0A488B-980C-421F-8A81-5DA276AD9D7E}" srcOrd="2" destOrd="0" presId="urn:microsoft.com/office/officeart/2018/2/layout/IconVerticalSolidList"/>
    <dgm:cxn modelId="{25C48FDE-C4D4-483A-9284-C5FF68756D5B}" type="presParOf" srcId="{7B0A488B-980C-421F-8A81-5DA276AD9D7E}" destId="{550F3D0B-A276-4314-990E-9DB721842EA1}" srcOrd="0" destOrd="0" presId="urn:microsoft.com/office/officeart/2018/2/layout/IconVerticalSolidList"/>
    <dgm:cxn modelId="{E5FE871F-AB54-45D3-AEDD-01B01CE7E5AD}" type="presParOf" srcId="{7B0A488B-980C-421F-8A81-5DA276AD9D7E}" destId="{F95A05A1-7E13-4C3F-8C2F-4284707381A6}" srcOrd="1" destOrd="0" presId="urn:microsoft.com/office/officeart/2018/2/layout/IconVerticalSolidList"/>
    <dgm:cxn modelId="{306D6D4E-BAEC-4E36-B66E-5B16C61FA6B9}" type="presParOf" srcId="{7B0A488B-980C-421F-8A81-5DA276AD9D7E}" destId="{D4AF5D60-DA77-4405-910F-C75F31E80819}" srcOrd="2" destOrd="0" presId="urn:microsoft.com/office/officeart/2018/2/layout/IconVerticalSolidList"/>
    <dgm:cxn modelId="{A84B2622-872C-4087-B321-196A0C48AC96}" type="presParOf" srcId="{7B0A488B-980C-421F-8A81-5DA276AD9D7E}" destId="{1EB47D4F-5381-46CD-916C-F41B2B02D439}" srcOrd="3" destOrd="0" presId="urn:microsoft.com/office/officeart/2018/2/layout/IconVerticalSolidList"/>
    <dgm:cxn modelId="{77706736-A196-4777-B849-3294F73394DA}" type="presParOf" srcId="{4417EED8-8933-46AD-BB6B-CC1F8E247AA0}" destId="{32EA7181-D330-4F6C-964D-FA82F6013D8E}" srcOrd="3" destOrd="0" presId="urn:microsoft.com/office/officeart/2018/2/layout/IconVerticalSolidList"/>
    <dgm:cxn modelId="{4CC71E63-DEFF-4352-89EC-48AFF66D8E1B}" type="presParOf" srcId="{4417EED8-8933-46AD-BB6B-CC1F8E247AA0}" destId="{846A62BC-6354-43DD-B6B6-535E87BB0D42}" srcOrd="4" destOrd="0" presId="urn:microsoft.com/office/officeart/2018/2/layout/IconVerticalSolidList"/>
    <dgm:cxn modelId="{38A40CDD-A19D-491A-8B16-A314928DCC1C}" type="presParOf" srcId="{846A62BC-6354-43DD-B6B6-535E87BB0D42}" destId="{C66E7382-CCD6-4D2D-8C81-24C3572CCCC6}" srcOrd="0" destOrd="0" presId="urn:microsoft.com/office/officeart/2018/2/layout/IconVerticalSolidList"/>
    <dgm:cxn modelId="{12881B8F-865C-4BB7-AE7D-B11CBB04BDEF}" type="presParOf" srcId="{846A62BC-6354-43DD-B6B6-535E87BB0D42}" destId="{AD3CB09A-05CB-4D47-AAE3-056B77FA4132}" srcOrd="1" destOrd="0" presId="urn:microsoft.com/office/officeart/2018/2/layout/IconVerticalSolidList"/>
    <dgm:cxn modelId="{7EEE8A98-4E8E-4BD4-818B-AF0BF71A1F33}" type="presParOf" srcId="{846A62BC-6354-43DD-B6B6-535E87BB0D42}" destId="{982FD66B-D2BA-4AD4-B94D-3DD032DE426A}" srcOrd="2" destOrd="0" presId="urn:microsoft.com/office/officeart/2018/2/layout/IconVerticalSolidList"/>
    <dgm:cxn modelId="{E21CE2F7-CAF8-400C-B267-B8EF3D76D3DC}" type="presParOf" srcId="{846A62BC-6354-43DD-B6B6-535E87BB0D42}" destId="{E04AB4E6-DE2D-4285-948A-F0937BCAC52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5CC5745-00C0-4A43-BE02-6280E4A1492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A82E8C1-DD2E-4668-AC02-646E51D38DD4}">
      <dgm:prSet custT="1"/>
      <dgm:spPr/>
      <dgm:t>
        <a:bodyPr/>
        <a:lstStyle/>
        <a:p>
          <a:pPr>
            <a:lnSpc>
              <a:spcPct val="100000"/>
            </a:lnSpc>
          </a:pPr>
          <a:r>
            <a:rPr lang="en-US" sz="3200" b="0" i="0" baseline="0"/>
            <a:t>Physical hazards</a:t>
          </a:r>
          <a:endParaRPr lang="en-US" sz="3200"/>
        </a:p>
      </dgm:t>
    </dgm:pt>
    <dgm:pt modelId="{9C438FF5-AE97-4795-B2A6-7B515BAE54BB}" type="parTrans" cxnId="{A6EE6F2B-A5E1-4CA1-BE8E-C58467216F34}">
      <dgm:prSet/>
      <dgm:spPr/>
      <dgm:t>
        <a:bodyPr/>
        <a:lstStyle/>
        <a:p>
          <a:endParaRPr lang="en-US" sz="3200"/>
        </a:p>
      </dgm:t>
    </dgm:pt>
    <dgm:pt modelId="{3A1E0F51-7F35-4A37-8259-BBFD52A13A52}" type="sibTrans" cxnId="{A6EE6F2B-A5E1-4CA1-BE8E-C58467216F34}">
      <dgm:prSet/>
      <dgm:spPr/>
      <dgm:t>
        <a:bodyPr/>
        <a:lstStyle/>
        <a:p>
          <a:endParaRPr lang="en-US" sz="3200"/>
        </a:p>
      </dgm:t>
    </dgm:pt>
    <dgm:pt modelId="{0C047185-91F1-4465-AD6E-8BEFC10D4ACB}">
      <dgm:prSet custT="1"/>
      <dgm:spPr/>
      <dgm:t>
        <a:bodyPr/>
        <a:lstStyle/>
        <a:p>
          <a:pPr>
            <a:lnSpc>
              <a:spcPct val="100000"/>
            </a:lnSpc>
          </a:pPr>
          <a:r>
            <a:rPr lang="en-US" sz="3200" b="0" i="0" baseline="0"/>
            <a:t>Chemical hazards</a:t>
          </a:r>
          <a:endParaRPr lang="en-US" sz="3200"/>
        </a:p>
      </dgm:t>
    </dgm:pt>
    <dgm:pt modelId="{2F4D8768-4536-4D97-9DDB-9630DDBB3E7B}" type="parTrans" cxnId="{2BD2A2F9-8BE6-4912-97CA-35A5FD2ACB2B}">
      <dgm:prSet/>
      <dgm:spPr/>
      <dgm:t>
        <a:bodyPr/>
        <a:lstStyle/>
        <a:p>
          <a:endParaRPr lang="en-US" sz="3200"/>
        </a:p>
      </dgm:t>
    </dgm:pt>
    <dgm:pt modelId="{2C198D52-1216-415C-B64C-4AEA2FC9A5AE}" type="sibTrans" cxnId="{2BD2A2F9-8BE6-4912-97CA-35A5FD2ACB2B}">
      <dgm:prSet/>
      <dgm:spPr/>
      <dgm:t>
        <a:bodyPr/>
        <a:lstStyle/>
        <a:p>
          <a:endParaRPr lang="en-US" sz="3200"/>
        </a:p>
      </dgm:t>
    </dgm:pt>
    <dgm:pt modelId="{7C539FC3-18FD-4DE9-9A48-AA674E327552}">
      <dgm:prSet custT="1"/>
      <dgm:spPr/>
      <dgm:t>
        <a:bodyPr/>
        <a:lstStyle/>
        <a:p>
          <a:pPr>
            <a:lnSpc>
              <a:spcPct val="100000"/>
            </a:lnSpc>
          </a:pPr>
          <a:r>
            <a:rPr lang="en-US" sz="3200" b="0" i="0" baseline="0"/>
            <a:t>Biological hazards</a:t>
          </a:r>
          <a:endParaRPr lang="en-US" sz="3200"/>
        </a:p>
      </dgm:t>
    </dgm:pt>
    <dgm:pt modelId="{6620EB04-016A-4703-B6EE-761769E09490}" type="parTrans" cxnId="{57DC3FF4-AE6A-49E1-BBFB-4E3F74CD41F2}">
      <dgm:prSet/>
      <dgm:spPr/>
      <dgm:t>
        <a:bodyPr/>
        <a:lstStyle/>
        <a:p>
          <a:endParaRPr lang="en-US" sz="3200"/>
        </a:p>
      </dgm:t>
    </dgm:pt>
    <dgm:pt modelId="{EF6C7AA4-EC16-4487-9495-CC2522A4B4FB}" type="sibTrans" cxnId="{57DC3FF4-AE6A-49E1-BBFB-4E3F74CD41F2}">
      <dgm:prSet/>
      <dgm:spPr/>
      <dgm:t>
        <a:bodyPr/>
        <a:lstStyle/>
        <a:p>
          <a:endParaRPr lang="en-US" sz="3200"/>
        </a:p>
      </dgm:t>
    </dgm:pt>
    <dgm:pt modelId="{74EE4B10-A9DF-4178-A87D-422B0724D6FD}">
      <dgm:prSet custT="1"/>
      <dgm:spPr/>
      <dgm:t>
        <a:bodyPr/>
        <a:lstStyle/>
        <a:p>
          <a:pPr>
            <a:lnSpc>
              <a:spcPct val="100000"/>
            </a:lnSpc>
          </a:pPr>
          <a:r>
            <a:rPr lang="en-US" sz="3200" b="0" i="0" baseline="0"/>
            <a:t>Mechanical hazards</a:t>
          </a:r>
          <a:endParaRPr lang="en-US" sz="3200"/>
        </a:p>
      </dgm:t>
    </dgm:pt>
    <dgm:pt modelId="{43750C32-DD37-4C15-BF10-289DC7D8B903}" type="parTrans" cxnId="{6CF1ACFC-2D25-43BC-B7A4-758F78E36245}">
      <dgm:prSet/>
      <dgm:spPr/>
      <dgm:t>
        <a:bodyPr/>
        <a:lstStyle/>
        <a:p>
          <a:endParaRPr lang="en-US" sz="3200"/>
        </a:p>
      </dgm:t>
    </dgm:pt>
    <dgm:pt modelId="{AECFE216-DDFF-43CC-85A0-685630FB6982}" type="sibTrans" cxnId="{6CF1ACFC-2D25-43BC-B7A4-758F78E36245}">
      <dgm:prSet/>
      <dgm:spPr/>
      <dgm:t>
        <a:bodyPr/>
        <a:lstStyle/>
        <a:p>
          <a:endParaRPr lang="en-US" sz="3200"/>
        </a:p>
      </dgm:t>
    </dgm:pt>
    <dgm:pt modelId="{376F03DC-FE52-48B5-9EF6-57DA3C43DACE}">
      <dgm:prSet custT="1"/>
      <dgm:spPr/>
      <dgm:t>
        <a:bodyPr/>
        <a:lstStyle/>
        <a:p>
          <a:pPr>
            <a:lnSpc>
              <a:spcPct val="100000"/>
            </a:lnSpc>
          </a:pPr>
          <a:r>
            <a:rPr lang="en-US" sz="3200" b="0" i="0" baseline="0"/>
            <a:t>Psychosocial hazards.</a:t>
          </a:r>
          <a:endParaRPr lang="en-US" sz="3200"/>
        </a:p>
      </dgm:t>
    </dgm:pt>
    <dgm:pt modelId="{78E15436-0054-432E-9BAA-E2CDE4C5686E}" type="parTrans" cxnId="{8BF46C96-0699-4145-BF89-513D19A6965A}">
      <dgm:prSet/>
      <dgm:spPr/>
      <dgm:t>
        <a:bodyPr/>
        <a:lstStyle/>
        <a:p>
          <a:endParaRPr lang="en-US" sz="3200"/>
        </a:p>
      </dgm:t>
    </dgm:pt>
    <dgm:pt modelId="{D2DCDB22-1F90-45E6-8D12-29805DB8B11F}" type="sibTrans" cxnId="{8BF46C96-0699-4145-BF89-513D19A6965A}">
      <dgm:prSet/>
      <dgm:spPr/>
      <dgm:t>
        <a:bodyPr/>
        <a:lstStyle/>
        <a:p>
          <a:endParaRPr lang="en-US" sz="3200"/>
        </a:p>
      </dgm:t>
    </dgm:pt>
    <dgm:pt modelId="{7353AC5C-3B96-46DA-BA4E-F64BD7000639}" type="pres">
      <dgm:prSet presAssocID="{65CC5745-00C0-4A43-BE02-6280E4A14924}" presName="root" presStyleCnt="0">
        <dgm:presLayoutVars>
          <dgm:dir/>
          <dgm:resizeHandles val="exact"/>
        </dgm:presLayoutVars>
      </dgm:prSet>
      <dgm:spPr/>
    </dgm:pt>
    <dgm:pt modelId="{ADD40FA7-7F2D-40A6-BDD8-4FF94E4CFC9B}" type="pres">
      <dgm:prSet presAssocID="{EA82E8C1-DD2E-4668-AC02-646E51D38DD4}" presName="compNode" presStyleCnt="0"/>
      <dgm:spPr/>
    </dgm:pt>
    <dgm:pt modelId="{99EEDCC1-1FC9-421F-BAE5-4D7BEE151B2E}" type="pres">
      <dgm:prSet presAssocID="{EA82E8C1-DD2E-4668-AC02-646E51D38DD4}" presName="bgRect" presStyleLbl="bgShp" presStyleIdx="0" presStyleCnt="5"/>
      <dgm:spPr/>
    </dgm:pt>
    <dgm:pt modelId="{2B474EC3-2114-43FB-935D-4C0180B6A54A}" type="pres">
      <dgm:prSet presAssocID="{EA82E8C1-DD2E-4668-AC02-646E51D38DD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adioactive"/>
        </a:ext>
      </dgm:extLst>
    </dgm:pt>
    <dgm:pt modelId="{5590DEDE-8F02-4A59-82AC-211677A3FE7F}" type="pres">
      <dgm:prSet presAssocID="{EA82E8C1-DD2E-4668-AC02-646E51D38DD4}" presName="spaceRect" presStyleCnt="0"/>
      <dgm:spPr/>
    </dgm:pt>
    <dgm:pt modelId="{72030810-E0BC-49B4-9DAB-E69DC7E159E1}" type="pres">
      <dgm:prSet presAssocID="{EA82E8C1-DD2E-4668-AC02-646E51D38DD4}" presName="parTx" presStyleLbl="revTx" presStyleIdx="0" presStyleCnt="5">
        <dgm:presLayoutVars>
          <dgm:chMax val="0"/>
          <dgm:chPref val="0"/>
        </dgm:presLayoutVars>
      </dgm:prSet>
      <dgm:spPr/>
    </dgm:pt>
    <dgm:pt modelId="{8D6B8CFD-31C0-4E64-B436-7D528E0A413C}" type="pres">
      <dgm:prSet presAssocID="{3A1E0F51-7F35-4A37-8259-BBFD52A13A52}" presName="sibTrans" presStyleCnt="0"/>
      <dgm:spPr/>
    </dgm:pt>
    <dgm:pt modelId="{2B176A2B-BCF7-4679-873A-4D988C19C1F3}" type="pres">
      <dgm:prSet presAssocID="{0C047185-91F1-4465-AD6E-8BEFC10D4ACB}" presName="compNode" presStyleCnt="0"/>
      <dgm:spPr/>
    </dgm:pt>
    <dgm:pt modelId="{F0D2EB1B-EDC8-45F5-806F-FFDE546C2E16}" type="pres">
      <dgm:prSet presAssocID="{0C047185-91F1-4465-AD6E-8BEFC10D4ACB}" presName="bgRect" presStyleLbl="bgShp" presStyleIdx="1" presStyleCnt="5"/>
      <dgm:spPr/>
    </dgm:pt>
    <dgm:pt modelId="{EF904592-9419-4CF0-81B3-CB34D1405623}" type="pres">
      <dgm:prSet presAssocID="{0C047185-91F1-4465-AD6E-8BEFC10D4AC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ask"/>
        </a:ext>
      </dgm:extLst>
    </dgm:pt>
    <dgm:pt modelId="{0F1E66F2-92C9-4BC6-8479-55F99EB25672}" type="pres">
      <dgm:prSet presAssocID="{0C047185-91F1-4465-AD6E-8BEFC10D4ACB}" presName="spaceRect" presStyleCnt="0"/>
      <dgm:spPr/>
    </dgm:pt>
    <dgm:pt modelId="{FB144025-84F0-4BCE-BF3D-18830DB00E7E}" type="pres">
      <dgm:prSet presAssocID="{0C047185-91F1-4465-AD6E-8BEFC10D4ACB}" presName="parTx" presStyleLbl="revTx" presStyleIdx="1" presStyleCnt="5">
        <dgm:presLayoutVars>
          <dgm:chMax val="0"/>
          <dgm:chPref val="0"/>
        </dgm:presLayoutVars>
      </dgm:prSet>
      <dgm:spPr/>
    </dgm:pt>
    <dgm:pt modelId="{46762DBB-6790-4101-9ADE-9A87CFF0A28F}" type="pres">
      <dgm:prSet presAssocID="{2C198D52-1216-415C-B64C-4AEA2FC9A5AE}" presName="sibTrans" presStyleCnt="0"/>
      <dgm:spPr/>
    </dgm:pt>
    <dgm:pt modelId="{9D0A9BD4-DB12-4B21-806C-818F45C40051}" type="pres">
      <dgm:prSet presAssocID="{7C539FC3-18FD-4DE9-9A48-AA674E327552}" presName="compNode" presStyleCnt="0"/>
      <dgm:spPr/>
    </dgm:pt>
    <dgm:pt modelId="{E74BEBF9-34E2-4E8D-B3EE-B6A62E734B23}" type="pres">
      <dgm:prSet presAssocID="{7C539FC3-18FD-4DE9-9A48-AA674E327552}" presName="bgRect" presStyleLbl="bgShp" presStyleIdx="2" presStyleCnt="5"/>
      <dgm:spPr/>
    </dgm:pt>
    <dgm:pt modelId="{6C6321B2-7515-4448-B41E-BA9902AFBDE8}" type="pres">
      <dgm:prSet presAssocID="{7C539FC3-18FD-4DE9-9A48-AA674E32755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NA"/>
        </a:ext>
      </dgm:extLst>
    </dgm:pt>
    <dgm:pt modelId="{636BF827-32B4-4A7A-B68A-567A4175B7C5}" type="pres">
      <dgm:prSet presAssocID="{7C539FC3-18FD-4DE9-9A48-AA674E327552}" presName="spaceRect" presStyleCnt="0"/>
      <dgm:spPr/>
    </dgm:pt>
    <dgm:pt modelId="{48958C2E-24E2-4F81-96E0-C3F753CB2431}" type="pres">
      <dgm:prSet presAssocID="{7C539FC3-18FD-4DE9-9A48-AA674E327552}" presName="parTx" presStyleLbl="revTx" presStyleIdx="2" presStyleCnt="5">
        <dgm:presLayoutVars>
          <dgm:chMax val="0"/>
          <dgm:chPref val="0"/>
        </dgm:presLayoutVars>
      </dgm:prSet>
      <dgm:spPr/>
    </dgm:pt>
    <dgm:pt modelId="{090E15B6-7185-48CD-BAAF-84E0226DAAE8}" type="pres">
      <dgm:prSet presAssocID="{EF6C7AA4-EC16-4487-9495-CC2522A4B4FB}" presName="sibTrans" presStyleCnt="0"/>
      <dgm:spPr/>
    </dgm:pt>
    <dgm:pt modelId="{F885B065-47B5-46AF-9A52-312F374F2750}" type="pres">
      <dgm:prSet presAssocID="{74EE4B10-A9DF-4178-A87D-422B0724D6FD}" presName="compNode" presStyleCnt="0"/>
      <dgm:spPr/>
    </dgm:pt>
    <dgm:pt modelId="{C2957143-337F-406F-8321-E9B01CDC5751}" type="pres">
      <dgm:prSet presAssocID="{74EE4B10-A9DF-4178-A87D-422B0724D6FD}" presName="bgRect" presStyleLbl="bgShp" presStyleIdx="3" presStyleCnt="5"/>
      <dgm:spPr/>
    </dgm:pt>
    <dgm:pt modelId="{CB6F25CE-40E6-4D32-A958-4ABEB576C31C}" type="pres">
      <dgm:prSet presAssocID="{74EE4B10-A9DF-4178-A87D-422B0724D6F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igh Voltage"/>
        </a:ext>
      </dgm:extLst>
    </dgm:pt>
    <dgm:pt modelId="{CFD9BA7F-5BE9-4779-BA26-337916625DF6}" type="pres">
      <dgm:prSet presAssocID="{74EE4B10-A9DF-4178-A87D-422B0724D6FD}" presName="spaceRect" presStyleCnt="0"/>
      <dgm:spPr/>
    </dgm:pt>
    <dgm:pt modelId="{585C04EE-496B-4618-8C4A-17008F9426E4}" type="pres">
      <dgm:prSet presAssocID="{74EE4B10-A9DF-4178-A87D-422B0724D6FD}" presName="parTx" presStyleLbl="revTx" presStyleIdx="3" presStyleCnt="5">
        <dgm:presLayoutVars>
          <dgm:chMax val="0"/>
          <dgm:chPref val="0"/>
        </dgm:presLayoutVars>
      </dgm:prSet>
      <dgm:spPr/>
    </dgm:pt>
    <dgm:pt modelId="{9DC0C7A1-D822-43DC-9A92-8815822A370F}" type="pres">
      <dgm:prSet presAssocID="{AECFE216-DDFF-43CC-85A0-685630FB6982}" presName="sibTrans" presStyleCnt="0"/>
      <dgm:spPr/>
    </dgm:pt>
    <dgm:pt modelId="{A8F3BE13-9245-4809-A7E9-9894E63E5516}" type="pres">
      <dgm:prSet presAssocID="{376F03DC-FE52-48B5-9EF6-57DA3C43DACE}" presName="compNode" presStyleCnt="0"/>
      <dgm:spPr/>
    </dgm:pt>
    <dgm:pt modelId="{97C81829-3438-40E8-A1B6-5D1D15A2CBE2}" type="pres">
      <dgm:prSet presAssocID="{376F03DC-FE52-48B5-9EF6-57DA3C43DACE}" presName="bgRect" presStyleLbl="bgShp" presStyleIdx="4" presStyleCnt="5"/>
      <dgm:spPr/>
    </dgm:pt>
    <dgm:pt modelId="{004209BB-BBC6-4361-86AC-4B34389A858E}" type="pres">
      <dgm:prSet presAssocID="{376F03DC-FE52-48B5-9EF6-57DA3C43DAC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nger"/>
        </a:ext>
      </dgm:extLst>
    </dgm:pt>
    <dgm:pt modelId="{D4DFB0B7-A53F-4601-9CEE-C7BE46660DB4}" type="pres">
      <dgm:prSet presAssocID="{376F03DC-FE52-48B5-9EF6-57DA3C43DACE}" presName="spaceRect" presStyleCnt="0"/>
      <dgm:spPr/>
    </dgm:pt>
    <dgm:pt modelId="{4ACB329C-A9F8-4CB8-BAC8-5BBBE8BF5672}" type="pres">
      <dgm:prSet presAssocID="{376F03DC-FE52-48B5-9EF6-57DA3C43DACE}" presName="parTx" presStyleLbl="revTx" presStyleIdx="4" presStyleCnt="5">
        <dgm:presLayoutVars>
          <dgm:chMax val="0"/>
          <dgm:chPref val="0"/>
        </dgm:presLayoutVars>
      </dgm:prSet>
      <dgm:spPr/>
    </dgm:pt>
  </dgm:ptLst>
  <dgm:cxnLst>
    <dgm:cxn modelId="{06654B17-E23A-4739-B86B-F6B9BD0C43F8}" type="presOf" srcId="{65CC5745-00C0-4A43-BE02-6280E4A14924}" destId="{7353AC5C-3B96-46DA-BA4E-F64BD7000639}" srcOrd="0" destOrd="0" presId="urn:microsoft.com/office/officeart/2018/2/layout/IconVerticalSolidList"/>
    <dgm:cxn modelId="{7557C31E-B7AE-4F2F-843C-8CEFB9E730F9}" type="presOf" srcId="{EA82E8C1-DD2E-4668-AC02-646E51D38DD4}" destId="{72030810-E0BC-49B4-9DAB-E69DC7E159E1}" srcOrd="0" destOrd="0" presId="urn:microsoft.com/office/officeart/2018/2/layout/IconVerticalSolidList"/>
    <dgm:cxn modelId="{12197228-0D88-46BB-B5B2-651C10EB977F}" type="presOf" srcId="{376F03DC-FE52-48B5-9EF6-57DA3C43DACE}" destId="{4ACB329C-A9F8-4CB8-BAC8-5BBBE8BF5672}" srcOrd="0" destOrd="0" presId="urn:microsoft.com/office/officeart/2018/2/layout/IconVerticalSolidList"/>
    <dgm:cxn modelId="{A6EE6F2B-A5E1-4CA1-BE8E-C58467216F34}" srcId="{65CC5745-00C0-4A43-BE02-6280E4A14924}" destId="{EA82E8C1-DD2E-4668-AC02-646E51D38DD4}" srcOrd="0" destOrd="0" parTransId="{9C438FF5-AE97-4795-B2A6-7B515BAE54BB}" sibTransId="{3A1E0F51-7F35-4A37-8259-BBFD52A13A52}"/>
    <dgm:cxn modelId="{9FF84963-D376-47FC-882B-17EFA0F641E5}" type="presOf" srcId="{0C047185-91F1-4465-AD6E-8BEFC10D4ACB}" destId="{FB144025-84F0-4BCE-BF3D-18830DB00E7E}" srcOrd="0" destOrd="0" presId="urn:microsoft.com/office/officeart/2018/2/layout/IconVerticalSolidList"/>
    <dgm:cxn modelId="{A1570956-B94F-4A09-AE3E-2A11AD9274FF}" type="presOf" srcId="{7C539FC3-18FD-4DE9-9A48-AA674E327552}" destId="{48958C2E-24E2-4F81-96E0-C3F753CB2431}" srcOrd="0" destOrd="0" presId="urn:microsoft.com/office/officeart/2018/2/layout/IconVerticalSolidList"/>
    <dgm:cxn modelId="{8BF46C96-0699-4145-BF89-513D19A6965A}" srcId="{65CC5745-00C0-4A43-BE02-6280E4A14924}" destId="{376F03DC-FE52-48B5-9EF6-57DA3C43DACE}" srcOrd="4" destOrd="0" parTransId="{78E15436-0054-432E-9BAA-E2CDE4C5686E}" sibTransId="{D2DCDB22-1F90-45E6-8D12-29805DB8B11F}"/>
    <dgm:cxn modelId="{D01D2EA3-CD33-454B-BAFF-59BB84E03A30}" type="presOf" srcId="{74EE4B10-A9DF-4178-A87D-422B0724D6FD}" destId="{585C04EE-496B-4618-8C4A-17008F9426E4}" srcOrd="0" destOrd="0" presId="urn:microsoft.com/office/officeart/2018/2/layout/IconVerticalSolidList"/>
    <dgm:cxn modelId="{57DC3FF4-AE6A-49E1-BBFB-4E3F74CD41F2}" srcId="{65CC5745-00C0-4A43-BE02-6280E4A14924}" destId="{7C539FC3-18FD-4DE9-9A48-AA674E327552}" srcOrd="2" destOrd="0" parTransId="{6620EB04-016A-4703-B6EE-761769E09490}" sibTransId="{EF6C7AA4-EC16-4487-9495-CC2522A4B4FB}"/>
    <dgm:cxn modelId="{2BD2A2F9-8BE6-4912-97CA-35A5FD2ACB2B}" srcId="{65CC5745-00C0-4A43-BE02-6280E4A14924}" destId="{0C047185-91F1-4465-AD6E-8BEFC10D4ACB}" srcOrd="1" destOrd="0" parTransId="{2F4D8768-4536-4D97-9DDB-9630DDBB3E7B}" sibTransId="{2C198D52-1216-415C-B64C-4AEA2FC9A5AE}"/>
    <dgm:cxn modelId="{6CF1ACFC-2D25-43BC-B7A4-758F78E36245}" srcId="{65CC5745-00C0-4A43-BE02-6280E4A14924}" destId="{74EE4B10-A9DF-4178-A87D-422B0724D6FD}" srcOrd="3" destOrd="0" parTransId="{43750C32-DD37-4C15-BF10-289DC7D8B903}" sibTransId="{AECFE216-DDFF-43CC-85A0-685630FB6982}"/>
    <dgm:cxn modelId="{BB579F3D-FE87-4754-B675-E5480ED12BAF}" type="presParOf" srcId="{7353AC5C-3B96-46DA-BA4E-F64BD7000639}" destId="{ADD40FA7-7F2D-40A6-BDD8-4FF94E4CFC9B}" srcOrd="0" destOrd="0" presId="urn:microsoft.com/office/officeart/2018/2/layout/IconVerticalSolidList"/>
    <dgm:cxn modelId="{BD8779F0-DB49-4F78-91F6-24793435CC7E}" type="presParOf" srcId="{ADD40FA7-7F2D-40A6-BDD8-4FF94E4CFC9B}" destId="{99EEDCC1-1FC9-421F-BAE5-4D7BEE151B2E}" srcOrd="0" destOrd="0" presId="urn:microsoft.com/office/officeart/2018/2/layout/IconVerticalSolidList"/>
    <dgm:cxn modelId="{ACAE9836-DB77-429E-81B5-5CAA47AF9A95}" type="presParOf" srcId="{ADD40FA7-7F2D-40A6-BDD8-4FF94E4CFC9B}" destId="{2B474EC3-2114-43FB-935D-4C0180B6A54A}" srcOrd="1" destOrd="0" presId="urn:microsoft.com/office/officeart/2018/2/layout/IconVerticalSolidList"/>
    <dgm:cxn modelId="{ACFCD40E-A824-411B-8726-A3883FFDE3DD}" type="presParOf" srcId="{ADD40FA7-7F2D-40A6-BDD8-4FF94E4CFC9B}" destId="{5590DEDE-8F02-4A59-82AC-211677A3FE7F}" srcOrd="2" destOrd="0" presId="urn:microsoft.com/office/officeart/2018/2/layout/IconVerticalSolidList"/>
    <dgm:cxn modelId="{D6F51FCC-1389-40E0-B33F-BF299B99571F}" type="presParOf" srcId="{ADD40FA7-7F2D-40A6-BDD8-4FF94E4CFC9B}" destId="{72030810-E0BC-49B4-9DAB-E69DC7E159E1}" srcOrd="3" destOrd="0" presId="urn:microsoft.com/office/officeart/2018/2/layout/IconVerticalSolidList"/>
    <dgm:cxn modelId="{A4913B15-C43E-4AB3-B943-B4B09BF1C548}" type="presParOf" srcId="{7353AC5C-3B96-46DA-BA4E-F64BD7000639}" destId="{8D6B8CFD-31C0-4E64-B436-7D528E0A413C}" srcOrd="1" destOrd="0" presId="urn:microsoft.com/office/officeart/2018/2/layout/IconVerticalSolidList"/>
    <dgm:cxn modelId="{803CCF63-92C3-40E2-A8DC-B7E8A7C16F07}" type="presParOf" srcId="{7353AC5C-3B96-46DA-BA4E-F64BD7000639}" destId="{2B176A2B-BCF7-4679-873A-4D988C19C1F3}" srcOrd="2" destOrd="0" presId="urn:microsoft.com/office/officeart/2018/2/layout/IconVerticalSolidList"/>
    <dgm:cxn modelId="{51A02625-F9C1-4FA1-B6DF-CB543EDA92B3}" type="presParOf" srcId="{2B176A2B-BCF7-4679-873A-4D988C19C1F3}" destId="{F0D2EB1B-EDC8-45F5-806F-FFDE546C2E16}" srcOrd="0" destOrd="0" presId="urn:microsoft.com/office/officeart/2018/2/layout/IconVerticalSolidList"/>
    <dgm:cxn modelId="{5051F00A-14C1-4404-8A7F-0578B9F9AECE}" type="presParOf" srcId="{2B176A2B-BCF7-4679-873A-4D988C19C1F3}" destId="{EF904592-9419-4CF0-81B3-CB34D1405623}" srcOrd="1" destOrd="0" presId="urn:microsoft.com/office/officeart/2018/2/layout/IconVerticalSolidList"/>
    <dgm:cxn modelId="{5814461B-B6E3-44AA-9AF2-C60B509C6DBE}" type="presParOf" srcId="{2B176A2B-BCF7-4679-873A-4D988C19C1F3}" destId="{0F1E66F2-92C9-4BC6-8479-55F99EB25672}" srcOrd="2" destOrd="0" presId="urn:microsoft.com/office/officeart/2018/2/layout/IconVerticalSolidList"/>
    <dgm:cxn modelId="{858CAFC2-CC5B-4874-8195-60027A1A73EA}" type="presParOf" srcId="{2B176A2B-BCF7-4679-873A-4D988C19C1F3}" destId="{FB144025-84F0-4BCE-BF3D-18830DB00E7E}" srcOrd="3" destOrd="0" presId="urn:microsoft.com/office/officeart/2018/2/layout/IconVerticalSolidList"/>
    <dgm:cxn modelId="{77CBCC1F-045F-4DF6-8DD8-BA5C61AE231A}" type="presParOf" srcId="{7353AC5C-3B96-46DA-BA4E-F64BD7000639}" destId="{46762DBB-6790-4101-9ADE-9A87CFF0A28F}" srcOrd="3" destOrd="0" presId="urn:microsoft.com/office/officeart/2018/2/layout/IconVerticalSolidList"/>
    <dgm:cxn modelId="{B922A417-B00E-409E-B720-48F3057D27AC}" type="presParOf" srcId="{7353AC5C-3B96-46DA-BA4E-F64BD7000639}" destId="{9D0A9BD4-DB12-4B21-806C-818F45C40051}" srcOrd="4" destOrd="0" presId="urn:microsoft.com/office/officeart/2018/2/layout/IconVerticalSolidList"/>
    <dgm:cxn modelId="{FDC37FC6-C05C-4600-9935-2ACEE80DD9E7}" type="presParOf" srcId="{9D0A9BD4-DB12-4B21-806C-818F45C40051}" destId="{E74BEBF9-34E2-4E8D-B3EE-B6A62E734B23}" srcOrd="0" destOrd="0" presId="urn:microsoft.com/office/officeart/2018/2/layout/IconVerticalSolidList"/>
    <dgm:cxn modelId="{F195E4B6-5DD9-4F53-A3CD-4A53C32E7C5F}" type="presParOf" srcId="{9D0A9BD4-DB12-4B21-806C-818F45C40051}" destId="{6C6321B2-7515-4448-B41E-BA9902AFBDE8}" srcOrd="1" destOrd="0" presId="urn:microsoft.com/office/officeart/2018/2/layout/IconVerticalSolidList"/>
    <dgm:cxn modelId="{67663C99-A682-49FB-AB5C-D0FAF7D0A57B}" type="presParOf" srcId="{9D0A9BD4-DB12-4B21-806C-818F45C40051}" destId="{636BF827-32B4-4A7A-B68A-567A4175B7C5}" srcOrd="2" destOrd="0" presId="urn:microsoft.com/office/officeart/2018/2/layout/IconVerticalSolidList"/>
    <dgm:cxn modelId="{C80D5A3F-1250-40BD-8CF7-B7F01C6DDC84}" type="presParOf" srcId="{9D0A9BD4-DB12-4B21-806C-818F45C40051}" destId="{48958C2E-24E2-4F81-96E0-C3F753CB2431}" srcOrd="3" destOrd="0" presId="urn:microsoft.com/office/officeart/2018/2/layout/IconVerticalSolidList"/>
    <dgm:cxn modelId="{DCC41EFC-EF0E-48A9-AF7D-99EC4711EB7B}" type="presParOf" srcId="{7353AC5C-3B96-46DA-BA4E-F64BD7000639}" destId="{090E15B6-7185-48CD-BAAF-84E0226DAAE8}" srcOrd="5" destOrd="0" presId="urn:microsoft.com/office/officeart/2018/2/layout/IconVerticalSolidList"/>
    <dgm:cxn modelId="{B3366E7C-4B34-495B-82B2-2595C1D10103}" type="presParOf" srcId="{7353AC5C-3B96-46DA-BA4E-F64BD7000639}" destId="{F885B065-47B5-46AF-9A52-312F374F2750}" srcOrd="6" destOrd="0" presId="urn:microsoft.com/office/officeart/2018/2/layout/IconVerticalSolidList"/>
    <dgm:cxn modelId="{71D48ED1-5E59-4F32-A1E9-69F5546070C7}" type="presParOf" srcId="{F885B065-47B5-46AF-9A52-312F374F2750}" destId="{C2957143-337F-406F-8321-E9B01CDC5751}" srcOrd="0" destOrd="0" presId="urn:microsoft.com/office/officeart/2018/2/layout/IconVerticalSolidList"/>
    <dgm:cxn modelId="{F365557C-8C2F-49F2-82BE-D881432E96E1}" type="presParOf" srcId="{F885B065-47B5-46AF-9A52-312F374F2750}" destId="{CB6F25CE-40E6-4D32-A958-4ABEB576C31C}" srcOrd="1" destOrd="0" presId="urn:microsoft.com/office/officeart/2018/2/layout/IconVerticalSolidList"/>
    <dgm:cxn modelId="{1CB55EC3-F870-42C6-96F9-0A0D78D58276}" type="presParOf" srcId="{F885B065-47B5-46AF-9A52-312F374F2750}" destId="{CFD9BA7F-5BE9-4779-BA26-337916625DF6}" srcOrd="2" destOrd="0" presId="urn:microsoft.com/office/officeart/2018/2/layout/IconVerticalSolidList"/>
    <dgm:cxn modelId="{740B5D9D-C3C9-49F1-AAC3-9D54E59565FE}" type="presParOf" srcId="{F885B065-47B5-46AF-9A52-312F374F2750}" destId="{585C04EE-496B-4618-8C4A-17008F9426E4}" srcOrd="3" destOrd="0" presId="urn:microsoft.com/office/officeart/2018/2/layout/IconVerticalSolidList"/>
    <dgm:cxn modelId="{125E6E91-CF6A-44EA-BC6B-CA156FF4D90B}" type="presParOf" srcId="{7353AC5C-3B96-46DA-BA4E-F64BD7000639}" destId="{9DC0C7A1-D822-43DC-9A92-8815822A370F}" srcOrd="7" destOrd="0" presId="urn:microsoft.com/office/officeart/2018/2/layout/IconVerticalSolidList"/>
    <dgm:cxn modelId="{6DE54E99-523B-4337-B54F-C1D6F93B48E8}" type="presParOf" srcId="{7353AC5C-3B96-46DA-BA4E-F64BD7000639}" destId="{A8F3BE13-9245-4809-A7E9-9894E63E5516}" srcOrd="8" destOrd="0" presId="urn:microsoft.com/office/officeart/2018/2/layout/IconVerticalSolidList"/>
    <dgm:cxn modelId="{8A7DA69C-B8AC-4058-9FF2-3B25CB3E84FC}" type="presParOf" srcId="{A8F3BE13-9245-4809-A7E9-9894E63E5516}" destId="{97C81829-3438-40E8-A1B6-5D1D15A2CBE2}" srcOrd="0" destOrd="0" presId="urn:microsoft.com/office/officeart/2018/2/layout/IconVerticalSolidList"/>
    <dgm:cxn modelId="{4E3362DF-40E1-419E-AC2E-C4E76560772E}" type="presParOf" srcId="{A8F3BE13-9245-4809-A7E9-9894E63E5516}" destId="{004209BB-BBC6-4361-86AC-4B34389A858E}" srcOrd="1" destOrd="0" presId="urn:microsoft.com/office/officeart/2018/2/layout/IconVerticalSolidList"/>
    <dgm:cxn modelId="{92C85EF7-8A1D-48B6-BB72-EAC7380A01AF}" type="presParOf" srcId="{A8F3BE13-9245-4809-A7E9-9894E63E5516}" destId="{D4DFB0B7-A53F-4601-9CEE-C7BE46660DB4}" srcOrd="2" destOrd="0" presId="urn:microsoft.com/office/officeart/2018/2/layout/IconVerticalSolidList"/>
    <dgm:cxn modelId="{540565C4-B3D9-40F6-9778-51EF204EB2A1}" type="presParOf" srcId="{A8F3BE13-9245-4809-A7E9-9894E63E5516}" destId="{4ACB329C-A9F8-4CB8-BAC8-5BBBE8BF567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107D4FD-F5E9-4949-A2BE-3DED970583F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7D577A3F-F391-4D3C-AEC8-E0290CECB02D}">
      <dgm:prSet/>
      <dgm:spPr/>
      <dgm:t>
        <a:bodyPr/>
        <a:lstStyle/>
        <a:p>
          <a:r>
            <a:rPr lang="en-US" b="0" i="0" baseline="0"/>
            <a:t>The occupational diseases in this category are brucellosis, leptospirosis, anthrax, hydatidosis, </a:t>
          </a:r>
          <a:r>
            <a:rPr lang="fr-FR" b="0" i="0" baseline="0"/>
            <a:t>psittacosis, tetanus, encephalitis, fungal infections, </a:t>
          </a:r>
          <a:r>
            <a:rPr lang="en-US" b="0" i="0" baseline="0"/>
            <a:t>schistosomiasis and a host of others. </a:t>
          </a:r>
          <a:endParaRPr lang="en-US"/>
        </a:p>
      </dgm:t>
    </dgm:pt>
    <dgm:pt modelId="{9084C352-E62E-4D90-BDB2-F2BC3364D443}" type="parTrans" cxnId="{B1E69A12-2185-4343-A2D4-3D236AB5F282}">
      <dgm:prSet/>
      <dgm:spPr/>
      <dgm:t>
        <a:bodyPr/>
        <a:lstStyle/>
        <a:p>
          <a:endParaRPr lang="en-US"/>
        </a:p>
      </dgm:t>
    </dgm:pt>
    <dgm:pt modelId="{CB13A448-AD8D-4B8D-BF95-16E11AE45EA8}" type="sibTrans" cxnId="{B1E69A12-2185-4343-A2D4-3D236AB5F282}">
      <dgm:prSet/>
      <dgm:spPr/>
      <dgm:t>
        <a:bodyPr/>
        <a:lstStyle/>
        <a:p>
          <a:endParaRPr lang="en-US"/>
        </a:p>
      </dgm:t>
    </dgm:pt>
    <dgm:pt modelId="{E3B87D1E-E5C4-4432-AEC3-E27A35DCC66A}">
      <dgm:prSet/>
      <dgm:spPr/>
      <dgm:t>
        <a:bodyPr/>
        <a:lstStyle/>
        <a:p>
          <a:r>
            <a:rPr lang="en-US" b="0" i="0" baseline="0"/>
            <a:t>Persons working among animal products (e.g., hair, wool, hides) and agricultural workers are specially exposed to biological hazards.</a:t>
          </a:r>
          <a:endParaRPr lang="en-US"/>
        </a:p>
      </dgm:t>
    </dgm:pt>
    <dgm:pt modelId="{846D4358-DC14-42A8-B93B-1959D7EB43BD}" type="parTrans" cxnId="{48AF4FD9-7695-416D-B513-D84A6B0FD4F7}">
      <dgm:prSet/>
      <dgm:spPr/>
      <dgm:t>
        <a:bodyPr/>
        <a:lstStyle/>
        <a:p>
          <a:endParaRPr lang="en-US"/>
        </a:p>
      </dgm:t>
    </dgm:pt>
    <dgm:pt modelId="{18789123-5427-44C5-AC66-45C176AD5480}" type="sibTrans" cxnId="{48AF4FD9-7695-416D-B513-D84A6B0FD4F7}">
      <dgm:prSet/>
      <dgm:spPr/>
      <dgm:t>
        <a:bodyPr/>
        <a:lstStyle/>
        <a:p>
          <a:endParaRPr lang="en-US"/>
        </a:p>
      </dgm:t>
    </dgm:pt>
    <dgm:pt modelId="{3F5BD18F-5FC8-48FA-B3DC-949BE220259E}" type="pres">
      <dgm:prSet presAssocID="{E107D4FD-F5E9-4949-A2BE-3DED970583F3}" presName="hierChild1" presStyleCnt="0">
        <dgm:presLayoutVars>
          <dgm:chPref val="1"/>
          <dgm:dir/>
          <dgm:animOne val="branch"/>
          <dgm:animLvl val="lvl"/>
          <dgm:resizeHandles/>
        </dgm:presLayoutVars>
      </dgm:prSet>
      <dgm:spPr/>
    </dgm:pt>
    <dgm:pt modelId="{81E2BC47-AE0D-4232-A777-646F93B44050}" type="pres">
      <dgm:prSet presAssocID="{7D577A3F-F391-4D3C-AEC8-E0290CECB02D}" presName="hierRoot1" presStyleCnt="0"/>
      <dgm:spPr/>
    </dgm:pt>
    <dgm:pt modelId="{193482A3-0ED3-4E19-8CF7-4B6586E7E00B}" type="pres">
      <dgm:prSet presAssocID="{7D577A3F-F391-4D3C-AEC8-E0290CECB02D}" presName="composite" presStyleCnt="0"/>
      <dgm:spPr/>
    </dgm:pt>
    <dgm:pt modelId="{E304726C-A25E-47A2-B629-B4D76B1382BE}" type="pres">
      <dgm:prSet presAssocID="{7D577A3F-F391-4D3C-AEC8-E0290CECB02D}" presName="background" presStyleLbl="node0" presStyleIdx="0" presStyleCnt="2"/>
      <dgm:spPr/>
    </dgm:pt>
    <dgm:pt modelId="{EF563C54-11D5-41A1-B61F-141F3FD3D565}" type="pres">
      <dgm:prSet presAssocID="{7D577A3F-F391-4D3C-AEC8-E0290CECB02D}" presName="text" presStyleLbl="fgAcc0" presStyleIdx="0" presStyleCnt="2">
        <dgm:presLayoutVars>
          <dgm:chPref val="3"/>
        </dgm:presLayoutVars>
      </dgm:prSet>
      <dgm:spPr/>
    </dgm:pt>
    <dgm:pt modelId="{E4AB46D0-F3AA-4968-8D36-2734B49F2838}" type="pres">
      <dgm:prSet presAssocID="{7D577A3F-F391-4D3C-AEC8-E0290CECB02D}" presName="hierChild2" presStyleCnt="0"/>
      <dgm:spPr/>
    </dgm:pt>
    <dgm:pt modelId="{3D325274-B0FA-48C3-B5E4-DC67E2D5C74D}" type="pres">
      <dgm:prSet presAssocID="{E3B87D1E-E5C4-4432-AEC3-E27A35DCC66A}" presName="hierRoot1" presStyleCnt="0"/>
      <dgm:spPr/>
    </dgm:pt>
    <dgm:pt modelId="{3A06AACC-7C56-4E57-8E3C-B67D8AECA286}" type="pres">
      <dgm:prSet presAssocID="{E3B87D1E-E5C4-4432-AEC3-E27A35DCC66A}" presName="composite" presStyleCnt="0"/>
      <dgm:spPr/>
    </dgm:pt>
    <dgm:pt modelId="{DD3C231D-9A32-40BA-B709-7606DB22D264}" type="pres">
      <dgm:prSet presAssocID="{E3B87D1E-E5C4-4432-AEC3-E27A35DCC66A}" presName="background" presStyleLbl="node0" presStyleIdx="1" presStyleCnt="2"/>
      <dgm:spPr/>
    </dgm:pt>
    <dgm:pt modelId="{1D1874BA-83DF-470A-A27B-A895B9CA8083}" type="pres">
      <dgm:prSet presAssocID="{E3B87D1E-E5C4-4432-AEC3-E27A35DCC66A}" presName="text" presStyleLbl="fgAcc0" presStyleIdx="1" presStyleCnt="2">
        <dgm:presLayoutVars>
          <dgm:chPref val="3"/>
        </dgm:presLayoutVars>
      </dgm:prSet>
      <dgm:spPr/>
    </dgm:pt>
    <dgm:pt modelId="{92B81656-50C6-441F-AC7A-3DB2988405AC}" type="pres">
      <dgm:prSet presAssocID="{E3B87D1E-E5C4-4432-AEC3-E27A35DCC66A}" presName="hierChild2" presStyleCnt="0"/>
      <dgm:spPr/>
    </dgm:pt>
  </dgm:ptLst>
  <dgm:cxnLst>
    <dgm:cxn modelId="{B1E69A12-2185-4343-A2D4-3D236AB5F282}" srcId="{E107D4FD-F5E9-4949-A2BE-3DED970583F3}" destId="{7D577A3F-F391-4D3C-AEC8-E0290CECB02D}" srcOrd="0" destOrd="0" parTransId="{9084C352-E62E-4D90-BDB2-F2BC3364D443}" sibTransId="{CB13A448-AD8D-4B8D-BF95-16E11AE45EA8}"/>
    <dgm:cxn modelId="{0015ED2C-94E6-45C7-9E13-EFDAE9BE45F5}" type="presOf" srcId="{7D577A3F-F391-4D3C-AEC8-E0290CECB02D}" destId="{EF563C54-11D5-41A1-B61F-141F3FD3D565}" srcOrd="0" destOrd="0" presId="urn:microsoft.com/office/officeart/2005/8/layout/hierarchy1"/>
    <dgm:cxn modelId="{09CF1454-245B-440A-9A51-FBA2916E097C}" type="presOf" srcId="{E3B87D1E-E5C4-4432-AEC3-E27A35DCC66A}" destId="{1D1874BA-83DF-470A-A27B-A895B9CA8083}" srcOrd="0" destOrd="0" presId="urn:microsoft.com/office/officeart/2005/8/layout/hierarchy1"/>
    <dgm:cxn modelId="{03DA7BA0-7E58-4199-BD60-610A35AC1924}" type="presOf" srcId="{E107D4FD-F5E9-4949-A2BE-3DED970583F3}" destId="{3F5BD18F-5FC8-48FA-B3DC-949BE220259E}" srcOrd="0" destOrd="0" presId="urn:microsoft.com/office/officeart/2005/8/layout/hierarchy1"/>
    <dgm:cxn modelId="{48AF4FD9-7695-416D-B513-D84A6B0FD4F7}" srcId="{E107D4FD-F5E9-4949-A2BE-3DED970583F3}" destId="{E3B87D1E-E5C4-4432-AEC3-E27A35DCC66A}" srcOrd="1" destOrd="0" parTransId="{846D4358-DC14-42A8-B93B-1959D7EB43BD}" sibTransId="{18789123-5427-44C5-AC66-45C176AD5480}"/>
    <dgm:cxn modelId="{A2062919-A6A2-47EB-B0F6-B44BDE2D009E}" type="presParOf" srcId="{3F5BD18F-5FC8-48FA-B3DC-949BE220259E}" destId="{81E2BC47-AE0D-4232-A777-646F93B44050}" srcOrd="0" destOrd="0" presId="urn:microsoft.com/office/officeart/2005/8/layout/hierarchy1"/>
    <dgm:cxn modelId="{081E3F54-4D9A-4981-B593-7D12DEFD743D}" type="presParOf" srcId="{81E2BC47-AE0D-4232-A777-646F93B44050}" destId="{193482A3-0ED3-4E19-8CF7-4B6586E7E00B}" srcOrd="0" destOrd="0" presId="urn:microsoft.com/office/officeart/2005/8/layout/hierarchy1"/>
    <dgm:cxn modelId="{2B679741-3A21-4E63-9F02-4228B2BA7A7A}" type="presParOf" srcId="{193482A3-0ED3-4E19-8CF7-4B6586E7E00B}" destId="{E304726C-A25E-47A2-B629-B4D76B1382BE}" srcOrd="0" destOrd="0" presId="urn:microsoft.com/office/officeart/2005/8/layout/hierarchy1"/>
    <dgm:cxn modelId="{6D4B5707-E9C8-4BD9-B006-77977AE42602}" type="presParOf" srcId="{193482A3-0ED3-4E19-8CF7-4B6586E7E00B}" destId="{EF563C54-11D5-41A1-B61F-141F3FD3D565}" srcOrd="1" destOrd="0" presId="urn:microsoft.com/office/officeart/2005/8/layout/hierarchy1"/>
    <dgm:cxn modelId="{C78C0358-B6B8-4952-B7C7-8C4F1518EE36}" type="presParOf" srcId="{81E2BC47-AE0D-4232-A777-646F93B44050}" destId="{E4AB46D0-F3AA-4968-8D36-2734B49F2838}" srcOrd="1" destOrd="0" presId="urn:microsoft.com/office/officeart/2005/8/layout/hierarchy1"/>
    <dgm:cxn modelId="{3F4C25A9-EB19-43ED-8E4D-F6842D4C53D5}" type="presParOf" srcId="{3F5BD18F-5FC8-48FA-B3DC-949BE220259E}" destId="{3D325274-B0FA-48C3-B5E4-DC67E2D5C74D}" srcOrd="1" destOrd="0" presId="urn:microsoft.com/office/officeart/2005/8/layout/hierarchy1"/>
    <dgm:cxn modelId="{C0901F49-0713-46E3-9154-6707F8A62CD4}" type="presParOf" srcId="{3D325274-B0FA-48C3-B5E4-DC67E2D5C74D}" destId="{3A06AACC-7C56-4E57-8E3C-B67D8AECA286}" srcOrd="0" destOrd="0" presId="urn:microsoft.com/office/officeart/2005/8/layout/hierarchy1"/>
    <dgm:cxn modelId="{EB80A3B0-A89C-4492-9956-1635E9DD32B8}" type="presParOf" srcId="{3A06AACC-7C56-4E57-8E3C-B67D8AECA286}" destId="{DD3C231D-9A32-40BA-B709-7606DB22D264}" srcOrd="0" destOrd="0" presId="urn:microsoft.com/office/officeart/2005/8/layout/hierarchy1"/>
    <dgm:cxn modelId="{BFAE7071-C434-49FA-94D5-E18053FC735A}" type="presParOf" srcId="{3A06AACC-7C56-4E57-8E3C-B67D8AECA286}" destId="{1D1874BA-83DF-470A-A27B-A895B9CA8083}" srcOrd="1" destOrd="0" presId="urn:microsoft.com/office/officeart/2005/8/layout/hierarchy1"/>
    <dgm:cxn modelId="{496EB33D-2807-4E18-AAF0-423044A855A1}" type="presParOf" srcId="{3D325274-B0FA-48C3-B5E4-DC67E2D5C74D}" destId="{92B81656-50C6-441F-AC7A-3DB2988405A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B8AC36-A61E-4245-B48C-D454AD7F754D}">
      <dsp:nvSpPr>
        <dsp:cNvPr id="0" name=""/>
        <dsp:cNvSpPr/>
      </dsp:nvSpPr>
      <dsp:spPr>
        <a:xfrm>
          <a:off x="0" y="6690"/>
          <a:ext cx="6900512" cy="125540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dirty="0"/>
            <a:t>Occupational health should aim at the </a:t>
          </a:r>
          <a:r>
            <a:rPr lang="en-US" sz="2400" b="0" i="1" kern="1200" baseline="0" dirty="0"/>
            <a:t>promotion </a:t>
          </a:r>
          <a:r>
            <a:rPr lang="en-US" sz="2400" b="0" i="0" kern="1200" baseline="0" dirty="0"/>
            <a:t>and maintenance of the highest degree of physical, mental and social well-being of workers in all occupations.</a:t>
          </a:r>
          <a:endParaRPr lang="en-US" sz="2400" kern="1200" dirty="0"/>
        </a:p>
      </dsp:txBody>
      <dsp:txXfrm>
        <a:off x="61284" y="67974"/>
        <a:ext cx="6777944" cy="1132841"/>
      </dsp:txXfrm>
    </dsp:sp>
    <dsp:sp modelId="{402BE745-6DBA-4C06-89E2-1BD904242FBD}">
      <dsp:nvSpPr>
        <dsp:cNvPr id="0" name=""/>
        <dsp:cNvSpPr/>
      </dsp:nvSpPr>
      <dsp:spPr>
        <a:xfrm>
          <a:off x="0" y="1429140"/>
          <a:ext cx="6900512" cy="1255409"/>
        </a:xfrm>
        <a:prstGeom prst="roundRect">
          <a:avLst/>
        </a:prstGeom>
        <a:solidFill>
          <a:schemeClr val="accent2">
            <a:hueOff val="-498334"/>
            <a:satOff val="-139"/>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a:t>The protection of workers in their employment from risks resulting from factors adverse to health</a:t>
          </a:r>
          <a:endParaRPr lang="en-US" sz="2400" kern="1200"/>
        </a:p>
      </dsp:txBody>
      <dsp:txXfrm>
        <a:off x="61284" y="1490424"/>
        <a:ext cx="6777944" cy="1132841"/>
      </dsp:txXfrm>
    </dsp:sp>
    <dsp:sp modelId="{2BA3DD80-15F2-4774-A103-39404494EAA7}">
      <dsp:nvSpPr>
        <dsp:cNvPr id="0" name=""/>
        <dsp:cNvSpPr/>
      </dsp:nvSpPr>
      <dsp:spPr>
        <a:xfrm>
          <a:off x="0" y="2851590"/>
          <a:ext cx="6900512" cy="1255409"/>
        </a:xfrm>
        <a:prstGeom prst="roundRect">
          <a:avLst/>
        </a:prstGeom>
        <a:solidFill>
          <a:schemeClr val="accent2">
            <a:hueOff val="-996668"/>
            <a:satOff val="-279"/>
            <a:lumOff val="47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a:t>The placing and maintenance of the worker in an occupational environment adapted to his physiological and psychological equipment.</a:t>
          </a:r>
          <a:endParaRPr lang="en-US" sz="2400" kern="1200"/>
        </a:p>
      </dsp:txBody>
      <dsp:txXfrm>
        <a:off x="61284" y="2912874"/>
        <a:ext cx="6777944" cy="1132841"/>
      </dsp:txXfrm>
    </dsp:sp>
    <dsp:sp modelId="{BF835296-5C68-418F-AF19-A34ED1E199D2}">
      <dsp:nvSpPr>
        <dsp:cNvPr id="0" name=""/>
        <dsp:cNvSpPr/>
      </dsp:nvSpPr>
      <dsp:spPr>
        <a:xfrm>
          <a:off x="0" y="4274040"/>
          <a:ext cx="6900512" cy="1255409"/>
        </a:xfrm>
        <a:prstGeom prst="roundRect">
          <a:avLst/>
        </a:prstGeom>
        <a:solidFill>
          <a:schemeClr val="accent2">
            <a:hueOff val="-1495001"/>
            <a:satOff val="-418"/>
            <a:lumOff val="70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baseline="0"/>
            <a:t>Summary - The adaptation of work to man and of each man to his job</a:t>
          </a:r>
          <a:endParaRPr lang="en-US" sz="2400" kern="1200"/>
        </a:p>
      </dsp:txBody>
      <dsp:txXfrm>
        <a:off x="61284" y="4335324"/>
        <a:ext cx="6777944" cy="11328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FEA666-D272-47FE-806C-70DE2B42BAD2}">
      <dsp:nvSpPr>
        <dsp:cNvPr id="0" name=""/>
        <dsp:cNvSpPr/>
      </dsp:nvSpPr>
      <dsp:spPr>
        <a:xfrm>
          <a:off x="0" y="690943"/>
          <a:ext cx="10515600" cy="12755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55509F-4186-4704-9F5F-76BC4D457976}">
      <dsp:nvSpPr>
        <dsp:cNvPr id="0" name=""/>
        <dsp:cNvSpPr/>
      </dsp:nvSpPr>
      <dsp:spPr>
        <a:xfrm>
          <a:off x="385865" y="977950"/>
          <a:ext cx="701573" cy="7015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97D159-797B-445E-916E-17D3F468D33D}">
      <dsp:nvSpPr>
        <dsp:cNvPr id="0" name=""/>
        <dsp:cNvSpPr/>
      </dsp:nvSpPr>
      <dsp:spPr>
        <a:xfrm>
          <a:off x="1473304" y="690943"/>
          <a:ext cx="9042295" cy="1275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00" tIns="135000" rIns="135000" bIns="135000" numCol="1" spcCol="1270" anchor="ctr" anchorCtr="0">
          <a:noAutofit/>
        </a:bodyPr>
        <a:lstStyle/>
        <a:p>
          <a:pPr marL="0" lvl="0" indent="0" algn="l" defTabSz="1066800">
            <a:lnSpc>
              <a:spcPct val="100000"/>
            </a:lnSpc>
            <a:spcBef>
              <a:spcPct val="0"/>
            </a:spcBef>
            <a:spcAft>
              <a:spcPct val="35000"/>
            </a:spcAft>
            <a:buNone/>
          </a:pPr>
          <a:r>
            <a:rPr lang="en-US" sz="2400" b="0" i="0" kern="1200" baseline="0"/>
            <a:t>Greek </a:t>
          </a:r>
          <a:r>
            <a:rPr lang="en-US" sz="2400" b="0" i="1" kern="1200" baseline="0"/>
            <a:t>ergon, </a:t>
          </a:r>
          <a:r>
            <a:rPr lang="en-US" sz="2400" b="0" i="0" kern="1200" baseline="0"/>
            <a:t>meaning work and nomos, meaning law. It simply means: “fitting the job to the worker”.</a:t>
          </a:r>
          <a:endParaRPr lang="en-US" sz="2400" kern="1200"/>
        </a:p>
      </dsp:txBody>
      <dsp:txXfrm>
        <a:off x="1473304" y="690943"/>
        <a:ext cx="9042295" cy="1275588"/>
      </dsp:txXfrm>
    </dsp:sp>
    <dsp:sp modelId="{5E606FC7-A6F3-4EDC-BDA2-77514F0183F2}">
      <dsp:nvSpPr>
        <dsp:cNvPr id="0" name=""/>
        <dsp:cNvSpPr/>
      </dsp:nvSpPr>
      <dsp:spPr>
        <a:xfrm>
          <a:off x="0" y="2285428"/>
          <a:ext cx="10515600" cy="12755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E05F2A-DDEB-4A90-B756-DA53CF6CCA1F}">
      <dsp:nvSpPr>
        <dsp:cNvPr id="0" name=""/>
        <dsp:cNvSpPr/>
      </dsp:nvSpPr>
      <dsp:spPr>
        <a:xfrm>
          <a:off x="385865" y="2572435"/>
          <a:ext cx="701573" cy="7015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71ECB3-AAEA-40EA-9F84-45E4F79F284E}">
      <dsp:nvSpPr>
        <dsp:cNvPr id="0" name=""/>
        <dsp:cNvSpPr/>
      </dsp:nvSpPr>
      <dsp:spPr>
        <a:xfrm>
          <a:off x="1473304" y="2285428"/>
          <a:ext cx="9042295" cy="12755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000" tIns="135000" rIns="135000" bIns="135000" numCol="1" spcCol="1270" anchor="ctr" anchorCtr="0">
          <a:noAutofit/>
        </a:bodyPr>
        <a:lstStyle/>
        <a:p>
          <a:pPr marL="0" lvl="0" indent="0" algn="l" defTabSz="1066800">
            <a:lnSpc>
              <a:spcPct val="100000"/>
            </a:lnSpc>
            <a:spcBef>
              <a:spcPct val="0"/>
            </a:spcBef>
            <a:spcAft>
              <a:spcPct val="35000"/>
            </a:spcAft>
            <a:buNone/>
          </a:pPr>
          <a:r>
            <a:rPr lang="en-US" sz="2400" b="0" i="0" kern="1200" baseline="0"/>
            <a:t>“to achieve the best mutual adjustment of man and his work, for the improvement of human efficiency and well-being”</a:t>
          </a:r>
          <a:endParaRPr lang="en-US" sz="2400" kern="1200"/>
        </a:p>
      </dsp:txBody>
      <dsp:txXfrm>
        <a:off x="1473304" y="2285428"/>
        <a:ext cx="9042295" cy="12755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D6B0A4-CAC3-41CA-A5DA-0978C7EAAC59}">
      <dsp:nvSpPr>
        <dsp:cNvPr id="0" name=""/>
        <dsp:cNvSpPr/>
      </dsp:nvSpPr>
      <dsp:spPr>
        <a:xfrm>
          <a:off x="-1229094" y="6739"/>
          <a:ext cx="10515600" cy="121099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9D4525-156D-4DEA-8D7E-CCC1B6D0851B}">
      <dsp:nvSpPr>
        <dsp:cNvPr id="0" name=""/>
        <dsp:cNvSpPr/>
      </dsp:nvSpPr>
      <dsp:spPr>
        <a:xfrm>
          <a:off x="-862768" y="279213"/>
          <a:ext cx="666046" cy="66604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74C80F-D4D2-40FD-BB57-4D909A8905D7}">
      <dsp:nvSpPr>
        <dsp:cNvPr id="0" name=""/>
        <dsp:cNvSpPr/>
      </dsp:nvSpPr>
      <dsp:spPr>
        <a:xfrm>
          <a:off x="169603" y="6739"/>
          <a:ext cx="4732020" cy="1210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164" tIns="128164" rIns="128164" bIns="128164" numCol="1" spcCol="1270" anchor="ctr" anchorCtr="0">
          <a:noAutofit/>
        </a:bodyPr>
        <a:lstStyle/>
        <a:p>
          <a:pPr marL="0" lvl="0" indent="0" algn="l" defTabSz="1111250">
            <a:lnSpc>
              <a:spcPct val="100000"/>
            </a:lnSpc>
            <a:spcBef>
              <a:spcPct val="0"/>
            </a:spcBef>
            <a:spcAft>
              <a:spcPct val="35000"/>
            </a:spcAft>
            <a:buNone/>
          </a:pPr>
          <a:r>
            <a:rPr lang="en-US" sz="2500" kern="1200" dirty="0"/>
            <a:t>Physical agent – </a:t>
          </a:r>
        </a:p>
      </dsp:txBody>
      <dsp:txXfrm>
        <a:off x="169603" y="6739"/>
        <a:ext cx="4732020" cy="1210994"/>
      </dsp:txXfrm>
    </dsp:sp>
    <dsp:sp modelId="{6E729685-8196-4D86-ACF4-16C91926D4A2}">
      <dsp:nvSpPr>
        <dsp:cNvPr id="0" name=""/>
        <dsp:cNvSpPr/>
      </dsp:nvSpPr>
      <dsp:spPr>
        <a:xfrm>
          <a:off x="2440698" y="6739"/>
          <a:ext cx="9303996" cy="1210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164" tIns="128164" rIns="128164" bIns="128164" numCol="1" spcCol="1270" anchor="ctr" anchorCtr="0">
          <a:noAutofit/>
        </a:bodyPr>
        <a:lstStyle/>
        <a:p>
          <a:pPr marL="0" lvl="0" indent="0" algn="l" defTabSz="800100">
            <a:lnSpc>
              <a:spcPct val="100000"/>
            </a:lnSpc>
            <a:spcBef>
              <a:spcPct val="0"/>
            </a:spcBef>
            <a:spcAft>
              <a:spcPct val="35000"/>
            </a:spcAft>
            <a:buNone/>
          </a:pPr>
          <a:r>
            <a:rPr lang="en-US" sz="1800" kern="1200" dirty="0"/>
            <a:t>Working environment </a:t>
          </a:r>
          <a:r>
            <a:rPr lang="en-US" sz="1800" kern="1200" dirty="0">
              <a:sym typeface="Wingdings" panose="05000000000000000000" pitchFamily="2" charset="2"/>
            </a:rPr>
            <a:t></a:t>
          </a:r>
          <a:r>
            <a:rPr lang="en-US" sz="1800" kern="1200" dirty="0"/>
            <a:t> heat, cold, humidity, radiation (heat / ionizing)</a:t>
          </a:r>
        </a:p>
        <a:p>
          <a:pPr marL="0" lvl="0" indent="0" algn="l" defTabSz="800100">
            <a:lnSpc>
              <a:spcPct val="100000"/>
            </a:lnSpc>
            <a:spcBef>
              <a:spcPct val="0"/>
            </a:spcBef>
            <a:spcAft>
              <a:spcPct val="35000"/>
            </a:spcAft>
            <a:buNone/>
          </a:pPr>
          <a:r>
            <a:rPr lang="en-US" sz="1800" kern="1200"/>
            <a:t>Space </a:t>
          </a:r>
          <a:r>
            <a:rPr lang="en-US" sz="1800" kern="1200">
              <a:sym typeface="Wingdings" panose="05000000000000000000" pitchFamily="2" charset="2"/>
            </a:rPr>
            <a:t></a:t>
          </a:r>
          <a:r>
            <a:rPr lang="en-US" sz="1800" kern="1200"/>
            <a:t> breathing space, toilet, bathing and washing</a:t>
          </a:r>
        </a:p>
      </dsp:txBody>
      <dsp:txXfrm>
        <a:off x="2440698" y="6739"/>
        <a:ext cx="9303996" cy="1210994"/>
      </dsp:txXfrm>
    </dsp:sp>
    <dsp:sp modelId="{550F3D0B-A276-4314-990E-9DB721842EA1}">
      <dsp:nvSpPr>
        <dsp:cNvPr id="0" name=""/>
        <dsp:cNvSpPr/>
      </dsp:nvSpPr>
      <dsp:spPr>
        <a:xfrm>
          <a:off x="-1229094" y="1520482"/>
          <a:ext cx="10515600" cy="121099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5A05A1-7E13-4C3F-8C2F-4284707381A6}">
      <dsp:nvSpPr>
        <dsp:cNvPr id="0" name=""/>
        <dsp:cNvSpPr/>
      </dsp:nvSpPr>
      <dsp:spPr>
        <a:xfrm>
          <a:off x="-862768" y="1792956"/>
          <a:ext cx="666046" cy="66604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B47D4F-5381-46CD-916C-F41B2B02D439}">
      <dsp:nvSpPr>
        <dsp:cNvPr id="0" name=""/>
        <dsp:cNvSpPr/>
      </dsp:nvSpPr>
      <dsp:spPr>
        <a:xfrm>
          <a:off x="169603" y="1520482"/>
          <a:ext cx="9114165" cy="1210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164" tIns="128164" rIns="128164" bIns="128164" numCol="1" spcCol="1270" anchor="ctr" anchorCtr="0">
          <a:noAutofit/>
        </a:bodyPr>
        <a:lstStyle/>
        <a:p>
          <a:pPr marL="0" lvl="0" indent="0" algn="l" defTabSz="1111250">
            <a:lnSpc>
              <a:spcPct val="100000"/>
            </a:lnSpc>
            <a:spcBef>
              <a:spcPct val="0"/>
            </a:spcBef>
            <a:spcAft>
              <a:spcPct val="35000"/>
            </a:spcAft>
            <a:buNone/>
          </a:pPr>
          <a:r>
            <a:rPr lang="en-US" sz="2500" kern="1200"/>
            <a:t>Chemical </a:t>
          </a:r>
          <a:r>
            <a:rPr lang="en-US" sz="2500" kern="1200">
              <a:sym typeface="Wingdings" panose="05000000000000000000" pitchFamily="2" charset="2"/>
            </a:rPr>
            <a:t></a:t>
          </a:r>
          <a:r>
            <a:rPr lang="en-US" sz="2500" kern="1200"/>
            <a:t> respiratory illness, injury to skin, deleterious effect on blood</a:t>
          </a:r>
        </a:p>
      </dsp:txBody>
      <dsp:txXfrm>
        <a:off x="169603" y="1520482"/>
        <a:ext cx="9114165" cy="1210994"/>
      </dsp:txXfrm>
    </dsp:sp>
    <dsp:sp modelId="{C66E7382-CCD6-4D2D-8C81-24C3572CCCC6}">
      <dsp:nvSpPr>
        <dsp:cNvPr id="0" name=""/>
        <dsp:cNvSpPr/>
      </dsp:nvSpPr>
      <dsp:spPr>
        <a:xfrm>
          <a:off x="-1229094" y="3034225"/>
          <a:ext cx="10515600" cy="121099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3CB09A-05CB-4D47-AAE3-056B77FA4132}">
      <dsp:nvSpPr>
        <dsp:cNvPr id="0" name=""/>
        <dsp:cNvSpPr/>
      </dsp:nvSpPr>
      <dsp:spPr>
        <a:xfrm>
          <a:off x="-862768" y="3306699"/>
          <a:ext cx="666046" cy="66604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4AB4E6-DE2D-4285-948A-F0937BCAC526}">
      <dsp:nvSpPr>
        <dsp:cNvPr id="0" name=""/>
        <dsp:cNvSpPr/>
      </dsp:nvSpPr>
      <dsp:spPr>
        <a:xfrm>
          <a:off x="169603" y="3034225"/>
          <a:ext cx="9114165" cy="1210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164" tIns="128164" rIns="128164" bIns="128164" numCol="1" spcCol="1270" anchor="ctr" anchorCtr="0">
          <a:noAutofit/>
        </a:bodyPr>
        <a:lstStyle/>
        <a:p>
          <a:pPr marL="0" lvl="0" indent="0" algn="l" defTabSz="1111250">
            <a:lnSpc>
              <a:spcPct val="100000"/>
            </a:lnSpc>
            <a:spcBef>
              <a:spcPct val="0"/>
            </a:spcBef>
            <a:spcAft>
              <a:spcPct val="35000"/>
            </a:spcAft>
            <a:buNone/>
          </a:pPr>
          <a:r>
            <a:rPr lang="en-US" sz="2500" kern="1200"/>
            <a:t>Biological </a:t>
          </a:r>
          <a:r>
            <a:rPr lang="en-US" sz="2500" kern="1200">
              <a:sym typeface="Wingdings" panose="05000000000000000000" pitchFamily="2" charset="2"/>
            </a:rPr>
            <a:t></a:t>
          </a:r>
          <a:r>
            <a:rPr lang="en-US" sz="2500" kern="1200"/>
            <a:t> viral, rickettsia, bacterial and parasitic agents</a:t>
          </a:r>
        </a:p>
      </dsp:txBody>
      <dsp:txXfrm>
        <a:off x="169603" y="3034225"/>
        <a:ext cx="9114165" cy="12109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EDCC1-1FC9-421F-BAE5-4D7BEE151B2E}">
      <dsp:nvSpPr>
        <dsp:cNvPr id="0" name=""/>
        <dsp:cNvSpPr/>
      </dsp:nvSpPr>
      <dsp:spPr>
        <a:xfrm>
          <a:off x="0" y="3321"/>
          <a:ext cx="10515600" cy="7075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474EC3-2114-43FB-935D-4C0180B6A54A}">
      <dsp:nvSpPr>
        <dsp:cNvPr id="0" name=""/>
        <dsp:cNvSpPr/>
      </dsp:nvSpPr>
      <dsp:spPr>
        <a:xfrm>
          <a:off x="214034" y="162521"/>
          <a:ext cx="389153" cy="3891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030810-E0BC-49B4-9DAB-E69DC7E159E1}">
      <dsp:nvSpPr>
        <dsp:cNvPr id="0" name=""/>
        <dsp:cNvSpPr/>
      </dsp:nvSpPr>
      <dsp:spPr>
        <a:xfrm>
          <a:off x="817223" y="3321"/>
          <a:ext cx="9698376" cy="707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83" tIns="74883" rIns="74883" bIns="74883" numCol="1" spcCol="1270" anchor="ctr" anchorCtr="0">
          <a:noAutofit/>
        </a:bodyPr>
        <a:lstStyle/>
        <a:p>
          <a:pPr marL="0" lvl="0" indent="0" algn="l" defTabSz="1422400">
            <a:lnSpc>
              <a:spcPct val="100000"/>
            </a:lnSpc>
            <a:spcBef>
              <a:spcPct val="0"/>
            </a:spcBef>
            <a:spcAft>
              <a:spcPct val="35000"/>
            </a:spcAft>
            <a:buNone/>
          </a:pPr>
          <a:r>
            <a:rPr lang="en-US" sz="3200" b="0" i="0" kern="1200" baseline="0"/>
            <a:t>Physical hazards</a:t>
          </a:r>
          <a:endParaRPr lang="en-US" sz="3200" kern="1200"/>
        </a:p>
      </dsp:txBody>
      <dsp:txXfrm>
        <a:off x="817223" y="3321"/>
        <a:ext cx="9698376" cy="707552"/>
      </dsp:txXfrm>
    </dsp:sp>
    <dsp:sp modelId="{F0D2EB1B-EDC8-45F5-806F-FFDE546C2E16}">
      <dsp:nvSpPr>
        <dsp:cNvPr id="0" name=""/>
        <dsp:cNvSpPr/>
      </dsp:nvSpPr>
      <dsp:spPr>
        <a:xfrm>
          <a:off x="0" y="887762"/>
          <a:ext cx="10515600" cy="7075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904592-9419-4CF0-81B3-CB34D1405623}">
      <dsp:nvSpPr>
        <dsp:cNvPr id="0" name=""/>
        <dsp:cNvSpPr/>
      </dsp:nvSpPr>
      <dsp:spPr>
        <a:xfrm>
          <a:off x="214034" y="1046962"/>
          <a:ext cx="389153" cy="3891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144025-84F0-4BCE-BF3D-18830DB00E7E}">
      <dsp:nvSpPr>
        <dsp:cNvPr id="0" name=""/>
        <dsp:cNvSpPr/>
      </dsp:nvSpPr>
      <dsp:spPr>
        <a:xfrm>
          <a:off x="817223" y="887762"/>
          <a:ext cx="9698376" cy="707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83" tIns="74883" rIns="74883" bIns="74883" numCol="1" spcCol="1270" anchor="ctr" anchorCtr="0">
          <a:noAutofit/>
        </a:bodyPr>
        <a:lstStyle/>
        <a:p>
          <a:pPr marL="0" lvl="0" indent="0" algn="l" defTabSz="1422400">
            <a:lnSpc>
              <a:spcPct val="100000"/>
            </a:lnSpc>
            <a:spcBef>
              <a:spcPct val="0"/>
            </a:spcBef>
            <a:spcAft>
              <a:spcPct val="35000"/>
            </a:spcAft>
            <a:buNone/>
          </a:pPr>
          <a:r>
            <a:rPr lang="en-US" sz="3200" b="0" i="0" kern="1200" baseline="0"/>
            <a:t>Chemical hazards</a:t>
          </a:r>
          <a:endParaRPr lang="en-US" sz="3200" kern="1200"/>
        </a:p>
      </dsp:txBody>
      <dsp:txXfrm>
        <a:off x="817223" y="887762"/>
        <a:ext cx="9698376" cy="707552"/>
      </dsp:txXfrm>
    </dsp:sp>
    <dsp:sp modelId="{E74BEBF9-34E2-4E8D-B3EE-B6A62E734B23}">
      <dsp:nvSpPr>
        <dsp:cNvPr id="0" name=""/>
        <dsp:cNvSpPr/>
      </dsp:nvSpPr>
      <dsp:spPr>
        <a:xfrm>
          <a:off x="0" y="1772203"/>
          <a:ext cx="10515600" cy="7075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6321B2-7515-4448-B41E-BA9902AFBDE8}">
      <dsp:nvSpPr>
        <dsp:cNvPr id="0" name=""/>
        <dsp:cNvSpPr/>
      </dsp:nvSpPr>
      <dsp:spPr>
        <a:xfrm>
          <a:off x="214034" y="1931403"/>
          <a:ext cx="389153" cy="3891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958C2E-24E2-4F81-96E0-C3F753CB2431}">
      <dsp:nvSpPr>
        <dsp:cNvPr id="0" name=""/>
        <dsp:cNvSpPr/>
      </dsp:nvSpPr>
      <dsp:spPr>
        <a:xfrm>
          <a:off x="817223" y="1772203"/>
          <a:ext cx="9698376" cy="707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83" tIns="74883" rIns="74883" bIns="74883" numCol="1" spcCol="1270" anchor="ctr" anchorCtr="0">
          <a:noAutofit/>
        </a:bodyPr>
        <a:lstStyle/>
        <a:p>
          <a:pPr marL="0" lvl="0" indent="0" algn="l" defTabSz="1422400">
            <a:lnSpc>
              <a:spcPct val="100000"/>
            </a:lnSpc>
            <a:spcBef>
              <a:spcPct val="0"/>
            </a:spcBef>
            <a:spcAft>
              <a:spcPct val="35000"/>
            </a:spcAft>
            <a:buNone/>
          </a:pPr>
          <a:r>
            <a:rPr lang="en-US" sz="3200" b="0" i="0" kern="1200" baseline="0"/>
            <a:t>Biological hazards</a:t>
          </a:r>
          <a:endParaRPr lang="en-US" sz="3200" kern="1200"/>
        </a:p>
      </dsp:txBody>
      <dsp:txXfrm>
        <a:off x="817223" y="1772203"/>
        <a:ext cx="9698376" cy="707552"/>
      </dsp:txXfrm>
    </dsp:sp>
    <dsp:sp modelId="{C2957143-337F-406F-8321-E9B01CDC5751}">
      <dsp:nvSpPr>
        <dsp:cNvPr id="0" name=""/>
        <dsp:cNvSpPr/>
      </dsp:nvSpPr>
      <dsp:spPr>
        <a:xfrm>
          <a:off x="0" y="2656644"/>
          <a:ext cx="10515600" cy="7075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6F25CE-40E6-4D32-A958-4ABEB576C31C}">
      <dsp:nvSpPr>
        <dsp:cNvPr id="0" name=""/>
        <dsp:cNvSpPr/>
      </dsp:nvSpPr>
      <dsp:spPr>
        <a:xfrm>
          <a:off x="214034" y="2815843"/>
          <a:ext cx="389153" cy="38915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5C04EE-496B-4618-8C4A-17008F9426E4}">
      <dsp:nvSpPr>
        <dsp:cNvPr id="0" name=""/>
        <dsp:cNvSpPr/>
      </dsp:nvSpPr>
      <dsp:spPr>
        <a:xfrm>
          <a:off x="817223" y="2656644"/>
          <a:ext cx="9698376" cy="707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83" tIns="74883" rIns="74883" bIns="74883" numCol="1" spcCol="1270" anchor="ctr" anchorCtr="0">
          <a:noAutofit/>
        </a:bodyPr>
        <a:lstStyle/>
        <a:p>
          <a:pPr marL="0" lvl="0" indent="0" algn="l" defTabSz="1422400">
            <a:lnSpc>
              <a:spcPct val="100000"/>
            </a:lnSpc>
            <a:spcBef>
              <a:spcPct val="0"/>
            </a:spcBef>
            <a:spcAft>
              <a:spcPct val="35000"/>
            </a:spcAft>
            <a:buNone/>
          </a:pPr>
          <a:r>
            <a:rPr lang="en-US" sz="3200" b="0" i="0" kern="1200" baseline="0"/>
            <a:t>Mechanical hazards</a:t>
          </a:r>
          <a:endParaRPr lang="en-US" sz="3200" kern="1200"/>
        </a:p>
      </dsp:txBody>
      <dsp:txXfrm>
        <a:off x="817223" y="2656644"/>
        <a:ext cx="9698376" cy="707552"/>
      </dsp:txXfrm>
    </dsp:sp>
    <dsp:sp modelId="{97C81829-3438-40E8-A1B6-5D1D15A2CBE2}">
      <dsp:nvSpPr>
        <dsp:cNvPr id="0" name=""/>
        <dsp:cNvSpPr/>
      </dsp:nvSpPr>
      <dsp:spPr>
        <a:xfrm>
          <a:off x="0" y="3541085"/>
          <a:ext cx="10515600" cy="7075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4209BB-BBC6-4361-86AC-4B34389A858E}">
      <dsp:nvSpPr>
        <dsp:cNvPr id="0" name=""/>
        <dsp:cNvSpPr/>
      </dsp:nvSpPr>
      <dsp:spPr>
        <a:xfrm>
          <a:off x="214034" y="3700284"/>
          <a:ext cx="389153" cy="38915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CB329C-A9F8-4CB8-BAC8-5BBBE8BF5672}">
      <dsp:nvSpPr>
        <dsp:cNvPr id="0" name=""/>
        <dsp:cNvSpPr/>
      </dsp:nvSpPr>
      <dsp:spPr>
        <a:xfrm>
          <a:off x="817223" y="3541085"/>
          <a:ext cx="9698376" cy="707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883" tIns="74883" rIns="74883" bIns="74883" numCol="1" spcCol="1270" anchor="ctr" anchorCtr="0">
          <a:noAutofit/>
        </a:bodyPr>
        <a:lstStyle/>
        <a:p>
          <a:pPr marL="0" lvl="0" indent="0" algn="l" defTabSz="1422400">
            <a:lnSpc>
              <a:spcPct val="100000"/>
            </a:lnSpc>
            <a:spcBef>
              <a:spcPct val="0"/>
            </a:spcBef>
            <a:spcAft>
              <a:spcPct val="35000"/>
            </a:spcAft>
            <a:buNone/>
          </a:pPr>
          <a:r>
            <a:rPr lang="en-US" sz="3200" b="0" i="0" kern="1200" baseline="0"/>
            <a:t>Psychosocial hazards.</a:t>
          </a:r>
          <a:endParaRPr lang="en-US" sz="3200" kern="1200"/>
        </a:p>
      </dsp:txBody>
      <dsp:txXfrm>
        <a:off x="817223" y="3541085"/>
        <a:ext cx="9698376" cy="7075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4726C-A25E-47A2-B629-B4D76B1382BE}">
      <dsp:nvSpPr>
        <dsp:cNvPr id="0" name=""/>
        <dsp:cNvSpPr/>
      </dsp:nvSpPr>
      <dsp:spPr>
        <a:xfrm>
          <a:off x="1332" y="7648"/>
          <a:ext cx="4677087" cy="29699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563C54-11D5-41A1-B61F-141F3FD3D565}">
      <dsp:nvSpPr>
        <dsp:cNvPr id="0" name=""/>
        <dsp:cNvSpPr/>
      </dsp:nvSpPr>
      <dsp:spPr>
        <a:xfrm>
          <a:off x="521008" y="501341"/>
          <a:ext cx="4677087" cy="29699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baseline="0"/>
            <a:t>The occupational diseases in this category are brucellosis, leptospirosis, anthrax, hydatidosis, </a:t>
          </a:r>
          <a:r>
            <a:rPr lang="fr-FR" sz="2800" b="0" i="0" kern="1200" baseline="0"/>
            <a:t>psittacosis, tetanus, encephalitis, fungal infections, </a:t>
          </a:r>
          <a:r>
            <a:rPr lang="en-US" sz="2800" b="0" i="0" kern="1200" baseline="0"/>
            <a:t>schistosomiasis and a host of others. </a:t>
          </a:r>
          <a:endParaRPr lang="en-US" sz="2800" kern="1200"/>
        </a:p>
      </dsp:txBody>
      <dsp:txXfrm>
        <a:off x="607995" y="588328"/>
        <a:ext cx="4503113" cy="2795976"/>
      </dsp:txXfrm>
    </dsp:sp>
    <dsp:sp modelId="{DD3C231D-9A32-40BA-B709-7606DB22D264}">
      <dsp:nvSpPr>
        <dsp:cNvPr id="0" name=""/>
        <dsp:cNvSpPr/>
      </dsp:nvSpPr>
      <dsp:spPr>
        <a:xfrm>
          <a:off x="5717772" y="7648"/>
          <a:ext cx="4677087" cy="29699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1874BA-83DF-470A-A27B-A895B9CA8083}">
      <dsp:nvSpPr>
        <dsp:cNvPr id="0" name=""/>
        <dsp:cNvSpPr/>
      </dsp:nvSpPr>
      <dsp:spPr>
        <a:xfrm>
          <a:off x="6237449" y="501341"/>
          <a:ext cx="4677087" cy="29699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i="0" kern="1200" baseline="0"/>
            <a:t>Persons working among animal products (e.g., hair, wool, hides) and agricultural workers are specially exposed to biological hazards.</a:t>
          </a:r>
          <a:endParaRPr lang="en-US" sz="2800" kern="1200"/>
        </a:p>
      </dsp:txBody>
      <dsp:txXfrm>
        <a:off x="6324436" y="588328"/>
        <a:ext cx="4503113" cy="279597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22T06:42:54.225"/>
    </inkml:context>
    <inkml:brush xml:id="br0">
      <inkml:brushProperty name="width" value="0.1" units="cm"/>
      <inkml:brushProperty name="height" value="0.1" units="cm"/>
      <inkml:brushProperty name="color" value="#FFFFFF"/>
    </inkml:brush>
  </inkml:definitions>
  <inkml:trace contextRef="#ctx0" brushRef="#br0">1 0 128,'0'6'0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8/22/2023</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77957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62372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56931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41800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03894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2669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64884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534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8330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97302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8/22/2023</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755703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8/22/2023</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86215677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D35AE2F-5E3A-49D9-8DE1-8A333BA40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5D41B1D-3C63-3530-1405-1F39C9C3FC15}"/>
              </a:ext>
            </a:extLst>
          </p:cNvPr>
          <p:cNvPicPr>
            <a:picLocks noChangeAspect="1"/>
          </p:cNvPicPr>
          <p:nvPr/>
        </p:nvPicPr>
        <p:blipFill rotWithShape="1">
          <a:blip r:embed="rId2">
            <a:alphaModFix amt="50000"/>
          </a:blip>
          <a:srcRect t="194" r="-1" b="14556"/>
          <a:stretch/>
        </p:blipFill>
        <p:spPr>
          <a:xfrm>
            <a:off x="20" y="10"/>
            <a:ext cx="12188930" cy="6857990"/>
          </a:xfrm>
          <a:prstGeom prst="rect">
            <a:avLst/>
          </a:prstGeom>
        </p:spPr>
      </p:pic>
      <p:sp>
        <p:nvSpPr>
          <p:cNvPr id="2" name="Title 1">
            <a:extLst>
              <a:ext uri="{FF2B5EF4-FFF2-40B4-BE49-F238E27FC236}">
                <a16:creationId xmlns:a16="http://schemas.microsoft.com/office/drawing/2014/main" id="{E1B5C65D-DF28-75F9-84E6-78A9AFD3CE41}"/>
              </a:ext>
            </a:extLst>
          </p:cNvPr>
          <p:cNvSpPr>
            <a:spLocks noGrp="1"/>
          </p:cNvSpPr>
          <p:nvPr>
            <p:ph type="ctrTitle"/>
          </p:nvPr>
        </p:nvSpPr>
        <p:spPr>
          <a:xfrm>
            <a:off x="1524000" y="1122363"/>
            <a:ext cx="9144000" cy="3063240"/>
          </a:xfrm>
        </p:spPr>
        <p:txBody>
          <a:bodyPr>
            <a:normAutofit/>
          </a:bodyPr>
          <a:lstStyle/>
          <a:p>
            <a:pPr algn="ctr"/>
            <a:r>
              <a:rPr lang="en-US" dirty="0"/>
              <a:t>Occupational health</a:t>
            </a:r>
            <a:endParaRPr lang="en-US"/>
          </a:p>
        </p:txBody>
      </p:sp>
      <p:sp>
        <p:nvSpPr>
          <p:cNvPr id="3" name="Subtitle 2">
            <a:extLst>
              <a:ext uri="{FF2B5EF4-FFF2-40B4-BE49-F238E27FC236}">
                <a16:creationId xmlns:a16="http://schemas.microsoft.com/office/drawing/2014/main" id="{33AF1AB6-BFBF-1EBD-E23E-A23A7D900C87}"/>
              </a:ext>
            </a:extLst>
          </p:cNvPr>
          <p:cNvSpPr>
            <a:spLocks noGrp="1"/>
          </p:cNvSpPr>
          <p:nvPr>
            <p:ph type="subTitle" idx="1"/>
          </p:nvPr>
        </p:nvSpPr>
        <p:spPr>
          <a:xfrm>
            <a:off x="1524000" y="4599432"/>
            <a:ext cx="9144000" cy="1225296"/>
          </a:xfrm>
        </p:spPr>
        <p:txBody>
          <a:bodyPr>
            <a:normAutofit/>
          </a:bodyPr>
          <a:lstStyle/>
          <a:p>
            <a:pPr algn="ctr"/>
            <a:endParaRPr lang="en-US" sz="3200"/>
          </a:p>
        </p:txBody>
      </p:sp>
      <p:sp>
        <p:nvSpPr>
          <p:cNvPr id="11" name="Rectangle 6">
            <a:extLst>
              <a:ext uri="{FF2B5EF4-FFF2-40B4-BE49-F238E27FC236}">
                <a16:creationId xmlns:a16="http://schemas.microsoft.com/office/drawing/2014/main" id="{04D8AD8F-EF7F-481F-B99A-B85138970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6">
            <a:extLst>
              <a:ext uri="{FF2B5EF4-FFF2-40B4-BE49-F238E27FC236}">
                <a16:creationId xmlns:a16="http://schemas.microsoft.com/office/drawing/2014/main" id="{79EB4626-023C-436D-9F57-9EB460809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902700 h 5416094"/>
              <a:gd name="connsiteX1" fmla="*/ 902700 w 10515600"/>
              <a:gd name="connsiteY1" fmla="*/ 0 h 5416094"/>
              <a:gd name="connsiteX2" fmla="*/ 1746919 w 10515600"/>
              <a:gd name="connsiteY2" fmla="*/ 0 h 5416094"/>
              <a:gd name="connsiteX3" fmla="*/ 2329833 w 10515600"/>
              <a:gd name="connsiteY3" fmla="*/ 0 h 5416094"/>
              <a:gd name="connsiteX4" fmla="*/ 2825644 w 10515600"/>
              <a:gd name="connsiteY4" fmla="*/ 0 h 5416094"/>
              <a:gd name="connsiteX5" fmla="*/ 3582762 w 10515600"/>
              <a:gd name="connsiteY5" fmla="*/ 0 h 5416094"/>
              <a:gd name="connsiteX6" fmla="*/ 4165675 w 10515600"/>
              <a:gd name="connsiteY6" fmla="*/ 0 h 5416094"/>
              <a:gd name="connsiteX7" fmla="*/ 5009894 w 10515600"/>
              <a:gd name="connsiteY7" fmla="*/ 0 h 5416094"/>
              <a:gd name="connsiteX8" fmla="*/ 5505706 w 10515600"/>
              <a:gd name="connsiteY8" fmla="*/ 0 h 5416094"/>
              <a:gd name="connsiteX9" fmla="*/ 6349925 w 10515600"/>
              <a:gd name="connsiteY9" fmla="*/ 0 h 5416094"/>
              <a:gd name="connsiteX10" fmla="*/ 6758634 w 10515600"/>
              <a:gd name="connsiteY10" fmla="*/ 0 h 5416094"/>
              <a:gd name="connsiteX11" fmla="*/ 7428650 w 10515600"/>
              <a:gd name="connsiteY11" fmla="*/ 0 h 5416094"/>
              <a:gd name="connsiteX12" fmla="*/ 8098665 w 10515600"/>
              <a:gd name="connsiteY12" fmla="*/ 0 h 5416094"/>
              <a:gd name="connsiteX13" fmla="*/ 8681579 w 10515600"/>
              <a:gd name="connsiteY13" fmla="*/ 0 h 5416094"/>
              <a:gd name="connsiteX14" fmla="*/ 9612900 w 10515600"/>
              <a:gd name="connsiteY14" fmla="*/ 0 h 5416094"/>
              <a:gd name="connsiteX15" fmla="*/ 10515600 w 10515600"/>
              <a:gd name="connsiteY15" fmla="*/ 902700 h 5416094"/>
              <a:gd name="connsiteX16" fmla="*/ 10515600 w 10515600"/>
              <a:gd name="connsiteY16" fmla="*/ 1504482 h 5416094"/>
              <a:gd name="connsiteX17" fmla="*/ 10515600 w 10515600"/>
              <a:gd name="connsiteY17" fmla="*/ 2178479 h 5416094"/>
              <a:gd name="connsiteX18" fmla="*/ 10515600 w 10515600"/>
              <a:gd name="connsiteY18" fmla="*/ 2780261 h 5416094"/>
              <a:gd name="connsiteX19" fmla="*/ 10515600 w 10515600"/>
              <a:gd name="connsiteY19" fmla="*/ 3273722 h 5416094"/>
              <a:gd name="connsiteX20" fmla="*/ 10515600 w 10515600"/>
              <a:gd name="connsiteY20" fmla="*/ 3803291 h 5416094"/>
              <a:gd name="connsiteX21" fmla="*/ 10515600 w 10515600"/>
              <a:gd name="connsiteY21" fmla="*/ 4513394 h 5416094"/>
              <a:gd name="connsiteX22" fmla="*/ 9612900 w 10515600"/>
              <a:gd name="connsiteY22" fmla="*/ 5416094 h 5416094"/>
              <a:gd name="connsiteX23" fmla="*/ 9117089 w 10515600"/>
              <a:gd name="connsiteY23" fmla="*/ 5416094 h 5416094"/>
              <a:gd name="connsiteX24" fmla="*/ 8708379 w 10515600"/>
              <a:gd name="connsiteY24" fmla="*/ 5416094 h 5416094"/>
              <a:gd name="connsiteX25" fmla="*/ 8299670 w 10515600"/>
              <a:gd name="connsiteY25" fmla="*/ 5416094 h 5416094"/>
              <a:gd name="connsiteX26" fmla="*/ 7629654 w 10515600"/>
              <a:gd name="connsiteY26" fmla="*/ 5416094 h 5416094"/>
              <a:gd name="connsiteX27" fmla="*/ 7133843 w 10515600"/>
              <a:gd name="connsiteY27" fmla="*/ 5416094 h 5416094"/>
              <a:gd name="connsiteX28" fmla="*/ 6376726 w 10515600"/>
              <a:gd name="connsiteY28" fmla="*/ 5416094 h 5416094"/>
              <a:gd name="connsiteX29" fmla="*/ 5880914 w 10515600"/>
              <a:gd name="connsiteY29" fmla="*/ 5416094 h 5416094"/>
              <a:gd name="connsiteX30" fmla="*/ 5123797 w 10515600"/>
              <a:gd name="connsiteY30" fmla="*/ 5416094 h 5416094"/>
              <a:gd name="connsiteX31" fmla="*/ 4715088 w 10515600"/>
              <a:gd name="connsiteY31" fmla="*/ 5416094 h 5416094"/>
              <a:gd name="connsiteX32" fmla="*/ 3957970 w 10515600"/>
              <a:gd name="connsiteY32" fmla="*/ 5416094 h 5416094"/>
              <a:gd name="connsiteX33" fmla="*/ 3462159 w 10515600"/>
              <a:gd name="connsiteY33" fmla="*/ 5416094 h 5416094"/>
              <a:gd name="connsiteX34" fmla="*/ 3053449 w 10515600"/>
              <a:gd name="connsiteY34" fmla="*/ 5416094 h 5416094"/>
              <a:gd name="connsiteX35" fmla="*/ 2557638 w 10515600"/>
              <a:gd name="connsiteY35" fmla="*/ 5416094 h 5416094"/>
              <a:gd name="connsiteX36" fmla="*/ 1800521 w 10515600"/>
              <a:gd name="connsiteY36" fmla="*/ 5416094 h 5416094"/>
              <a:gd name="connsiteX37" fmla="*/ 902700 w 10515600"/>
              <a:gd name="connsiteY37" fmla="*/ 5416094 h 5416094"/>
              <a:gd name="connsiteX38" fmla="*/ 0 w 10515600"/>
              <a:gd name="connsiteY38" fmla="*/ 4513394 h 5416094"/>
              <a:gd name="connsiteX39" fmla="*/ 0 w 10515600"/>
              <a:gd name="connsiteY39" fmla="*/ 3911612 h 5416094"/>
              <a:gd name="connsiteX40" fmla="*/ 0 w 10515600"/>
              <a:gd name="connsiteY40" fmla="*/ 3309829 h 5416094"/>
              <a:gd name="connsiteX41" fmla="*/ 0 w 10515600"/>
              <a:gd name="connsiteY41" fmla="*/ 2780261 h 5416094"/>
              <a:gd name="connsiteX42" fmla="*/ 0 w 10515600"/>
              <a:gd name="connsiteY42" fmla="*/ 2106265 h 5416094"/>
              <a:gd name="connsiteX43" fmla="*/ 0 w 10515600"/>
              <a:gd name="connsiteY43" fmla="*/ 1504482 h 5416094"/>
              <a:gd name="connsiteX44" fmla="*/ 0 w 10515600"/>
              <a:gd name="connsiteY44" fmla="*/ 90270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515600" h="5416094" extrusionOk="0">
                <a:moveTo>
                  <a:pt x="0" y="902700"/>
                </a:moveTo>
                <a:cubicBezTo>
                  <a:pt x="-57306" y="368805"/>
                  <a:pt x="305054" y="37193"/>
                  <a:pt x="902700" y="0"/>
                </a:cubicBezTo>
                <a:cubicBezTo>
                  <a:pt x="1280419" y="-35006"/>
                  <a:pt x="1407743" y="-35339"/>
                  <a:pt x="1746919" y="0"/>
                </a:cubicBezTo>
                <a:cubicBezTo>
                  <a:pt x="2086095" y="35339"/>
                  <a:pt x="2146539" y="-12333"/>
                  <a:pt x="2329833" y="0"/>
                </a:cubicBezTo>
                <a:cubicBezTo>
                  <a:pt x="2513127" y="12333"/>
                  <a:pt x="2706706" y="12952"/>
                  <a:pt x="2825644" y="0"/>
                </a:cubicBezTo>
                <a:cubicBezTo>
                  <a:pt x="2944582" y="-12952"/>
                  <a:pt x="3420817" y="-27100"/>
                  <a:pt x="3582762" y="0"/>
                </a:cubicBezTo>
                <a:cubicBezTo>
                  <a:pt x="3744707" y="27100"/>
                  <a:pt x="4023584" y="-9167"/>
                  <a:pt x="4165675" y="0"/>
                </a:cubicBezTo>
                <a:cubicBezTo>
                  <a:pt x="4307766" y="9167"/>
                  <a:pt x="4770188" y="27031"/>
                  <a:pt x="5009894" y="0"/>
                </a:cubicBezTo>
                <a:cubicBezTo>
                  <a:pt x="5249600" y="-27031"/>
                  <a:pt x="5349881" y="-194"/>
                  <a:pt x="5505706" y="0"/>
                </a:cubicBezTo>
                <a:cubicBezTo>
                  <a:pt x="5661531" y="194"/>
                  <a:pt x="6129254" y="-29363"/>
                  <a:pt x="6349925" y="0"/>
                </a:cubicBezTo>
                <a:cubicBezTo>
                  <a:pt x="6570596" y="29363"/>
                  <a:pt x="6581199" y="-14617"/>
                  <a:pt x="6758634" y="0"/>
                </a:cubicBezTo>
                <a:cubicBezTo>
                  <a:pt x="6936069" y="14617"/>
                  <a:pt x="7246491" y="25675"/>
                  <a:pt x="7428650" y="0"/>
                </a:cubicBezTo>
                <a:cubicBezTo>
                  <a:pt x="7610809" y="-25675"/>
                  <a:pt x="7825190" y="-17078"/>
                  <a:pt x="8098665" y="0"/>
                </a:cubicBezTo>
                <a:cubicBezTo>
                  <a:pt x="8372141" y="17078"/>
                  <a:pt x="8559625" y="-21568"/>
                  <a:pt x="8681579" y="0"/>
                </a:cubicBezTo>
                <a:cubicBezTo>
                  <a:pt x="8803533" y="21568"/>
                  <a:pt x="9307226" y="-46066"/>
                  <a:pt x="9612900" y="0"/>
                </a:cubicBezTo>
                <a:cubicBezTo>
                  <a:pt x="10119954" y="-10560"/>
                  <a:pt x="10418674" y="366684"/>
                  <a:pt x="10515600" y="902700"/>
                </a:cubicBezTo>
                <a:cubicBezTo>
                  <a:pt x="10494548" y="1140809"/>
                  <a:pt x="10524881" y="1252168"/>
                  <a:pt x="10515600" y="1504482"/>
                </a:cubicBezTo>
                <a:cubicBezTo>
                  <a:pt x="10506319" y="1756796"/>
                  <a:pt x="10494309" y="1995078"/>
                  <a:pt x="10515600" y="2178479"/>
                </a:cubicBezTo>
                <a:cubicBezTo>
                  <a:pt x="10536891" y="2361880"/>
                  <a:pt x="10522845" y="2487483"/>
                  <a:pt x="10515600" y="2780261"/>
                </a:cubicBezTo>
                <a:cubicBezTo>
                  <a:pt x="10508355" y="3073039"/>
                  <a:pt x="10533694" y="3138252"/>
                  <a:pt x="10515600" y="3273722"/>
                </a:cubicBezTo>
                <a:cubicBezTo>
                  <a:pt x="10497506" y="3409192"/>
                  <a:pt x="10514952" y="3569910"/>
                  <a:pt x="10515600" y="3803291"/>
                </a:cubicBezTo>
                <a:cubicBezTo>
                  <a:pt x="10516248" y="4036672"/>
                  <a:pt x="10499126" y="4317688"/>
                  <a:pt x="10515600" y="4513394"/>
                </a:cubicBezTo>
                <a:cubicBezTo>
                  <a:pt x="10585499" y="4997151"/>
                  <a:pt x="10115437" y="5453981"/>
                  <a:pt x="9612900" y="5416094"/>
                </a:cubicBezTo>
                <a:cubicBezTo>
                  <a:pt x="9473271" y="5418358"/>
                  <a:pt x="9316384" y="5423764"/>
                  <a:pt x="9117089" y="5416094"/>
                </a:cubicBezTo>
                <a:cubicBezTo>
                  <a:pt x="8917794" y="5408424"/>
                  <a:pt x="8902141" y="5433256"/>
                  <a:pt x="8708379" y="5416094"/>
                </a:cubicBezTo>
                <a:cubicBezTo>
                  <a:pt x="8514617" y="5398933"/>
                  <a:pt x="8454700" y="5422387"/>
                  <a:pt x="8299670" y="5416094"/>
                </a:cubicBezTo>
                <a:cubicBezTo>
                  <a:pt x="8144640" y="5409801"/>
                  <a:pt x="7907022" y="5398388"/>
                  <a:pt x="7629654" y="5416094"/>
                </a:cubicBezTo>
                <a:cubicBezTo>
                  <a:pt x="7352286" y="5433800"/>
                  <a:pt x="7244777" y="5409877"/>
                  <a:pt x="7133843" y="5416094"/>
                </a:cubicBezTo>
                <a:cubicBezTo>
                  <a:pt x="7022909" y="5422311"/>
                  <a:pt x="6748865" y="5379753"/>
                  <a:pt x="6376726" y="5416094"/>
                </a:cubicBezTo>
                <a:cubicBezTo>
                  <a:pt x="6004587" y="5452435"/>
                  <a:pt x="5991442" y="5438860"/>
                  <a:pt x="5880914" y="5416094"/>
                </a:cubicBezTo>
                <a:cubicBezTo>
                  <a:pt x="5770386" y="5393328"/>
                  <a:pt x="5294303" y="5440618"/>
                  <a:pt x="5123797" y="5416094"/>
                </a:cubicBezTo>
                <a:cubicBezTo>
                  <a:pt x="4953291" y="5391570"/>
                  <a:pt x="4828705" y="5430421"/>
                  <a:pt x="4715088" y="5416094"/>
                </a:cubicBezTo>
                <a:cubicBezTo>
                  <a:pt x="4601471" y="5401767"/>
                  <a:pt x="4227806" y="5381491"/>
                  <a:pt x="3957970" y="5416094"/>
                </a:cubicBezTo>
                <a:cubicBezTo>
                  <a:pt x="3688134" y="5450697"/>
                  <a:pt x="3670638" y="5425309"/>
                  <a:pt x="3462159" y="5416094"/>
                </a:cubicBezTo>
                <a:cubicBezTo>
                  <a:pt x="3253680" y="5406879"/>
                  <a:pt x="3167443" y="5432031"/>
                  <a:pt x="3053449" y="5416094"/>
                </a:cubicBezTo>
                <a:cubicBezTo>
                  <a:pt x="2939455" y="5400158"/>
                  <a:pt x="2701485" y="5433995"/>
                  <a:pt x="2557638" y="5416094"/>
                </a:cubicBezTo>
                <a:cubicBezTo>
                  <a:pt x="2413791" y="5398193"/>
                  <a:pt x="2168647" y="5424510"/>
                  <a:pt x="1800521" y="5416094"/>
                </a:cubicBezTo>
                <a:cubicBezTo>
                  <a:pt x="1432395" y="5407678"/>
                  <a:pt x="1261364" y="5454497"/>
                  <a:pt x="902700" y="5416094"/>
                </a:cubicBezTo>
                <a:cubicBezTo>
                  <a:pt x="519468" y="5419760"/>
                  <a:pt x="63003" y="5077223"/>
                  <a:pt x="0" y="4513394"/>
                </a:cubicBezTo>
                <a:cubicBezTo>
                  <a:pt x="-20265" y="4243495"/>
                  <a:pt x="27650" y="4053844"/>
                  <a:pt x="0" y="3911612"/>
                </a:cubicBezTo>
                <a:cubicBezTo>
                  <a:pt x="-27650" y="3769380"/>
                  <a:pt x="24988" y="3469350"/>
                  <a:pt x="0" y="3309829"/>
                </a:cubicBezTo>
                <a:cubicBezTo>
                  <a:pt x="-24988" y="3150308"/>
                  <a:pt x="-16973" y="2933511"/>
                  <a:pt x="0" y="2780261"/>
                </a:cubicBezTo>
                <a:cubicBezTo>
                  <a:pt x="16973" y="2627011"/>
                  <a:pt x="-11552" y="2315258"/>
                  <a:pt x="0" y="2106265"/>
                </a:cubicBezTo>
                <a:cubicBezTo>
                  <a:pt x="11552" y="1897272"/>
                  <a:pt x="-9167" y="1726905"/>
                  <a:pt x="0" y="1504482"/>
                </a:cubicBezTo>
                <a:cubicBezTo>
                  <a:pt x="9167" y="1282059"/>
                  <a:pt x="10972" y="1160784"/>
                  <a:pt x="0" y="902700"/>
                </a:cubicBezTo>
                <a:close/>
              </a:path>
            </a:pathLst>
          </a:custGeom>
          <a:noFill/>
          <a:ln w="60325" cap="rnd">
            <a:solidFill>
              <a:schemeClr val="tx1"/>
            </a:solidFill>
            <a:roun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123121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08A54-66D9-E7D7-CB6F-D4BF5EF24275}"/>
              </a:ext>
            </a:extLst>
          </p:cNvPr>
          <p:cNvSpPr>
            <a:spLocks noGrp="1"/>
          </p:cNvSpPr>
          <p:nvPr>
            <p:ph type="title"/>
          </p:nvPr>
        </p:nvSpPr>
        <p:spPr>
          <a:xfrm>
            <a:off x="635000" y="640823"/>
            <a:ext cx="3418659" cy="5583148"/>
          </a:xfrm>
        </p:spPr>
        <p:txBody>
          <a:bodyPr anchor="ctr">
            <a:normAutofit/>
          </a:bodyPr>
          <a:lstStyle/>
          <a:p>
            <a:r>
              <a:rPr lang="en-US" sz="6000"/>
              <a:t>Definition</a:t>
            </a:r>
          </a:p>
        </p:txBody>
      </p:sp>
      <p:sp>
        <p:nvSpPr>
          <p:cNvPr id="11" name="Rectangle 22">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14992" y="1557877"/>
            <a:ext cx="18288" cy="3749040"/>
          </a:xfrm>
          <a:custGeom>
            <a:avLst/>
            <a:gdLst>
              <a:gd name="connsiteX0" fmla="*/ 0 w 18288"/>
              <a:gd name="connsiteY0" fmla="*/ 0 h 3749040"/>
              <a:gd name="connsiteX1" fmla="*/ 18288 w 18288"/>
              <a:gd name="connsiteY1" fmla="*/ 0 h 3749040"/>
              <a:gd name="connsiteX2" fmla="*/ 18288 w 18288"/>
              <a:gd name="connsiteY2" fmla="*/ 662330 h 3749040"/>
              <a:gd name="connsiteX3" fmla="*/ 18288 w 18288"/>
              <a:gd name="connsiteY3" fmla="*/ 1174699 h 3749040"/>
              <a:gd name="connsiteX4" fmla="*/ 18288 w 18288"/>
              <a:gd name="connsiteY4" fmla="*/ 1724558 h 3749040"/>
              <a:gd name="connsiteX5" fmla="*/ 18288 w 18288"/>
              <a:gd name="connsiteY5" fmla="*/ 2424379 h 3749040"/>
              <a:gd name="connsiteX6" fmla="*/ 18288 w 18288"/>
              <a:gd name="connsiteY6" fmla="*/ 3049219 h 3749040"/>
              <a:gd name="connsiteX7" fmla="*/ 18288 w 18288"/>
              <a:gd name="connsiteY7" fmla="*/ 3749040 h 3749040"/>
              <a:gd name="connsiteX8" fmla="*/ 0 w 18288"/>
              <a:gd name="connsiteY8" fmla="*/ 3749040 h 3749040"/>
              <a:gd name="connsiteX9" fmla="*/ 0 w 18288"/>
              <a:gd name="connsiteY9" fmla="*/ 3236671 h 3749040"/>
              <a:gd name="connsiteX10" fmla="*/ 0 w 18288"/>
              <a:gd name="connsiteY10" fmla="*/ 2536850 h 3749040"/>
              <a:gd name="connsiteX11" fmla="*/ 0 w 18288"/>
              <a:gd name="connsiteY11" fmla="*/ 1874520 h 3749040"/>
              <a:gd name="connsiteX12" fmla="*/ 0 w 18288"/>
              <a:gd name="connsiteY12" fmla="*/ 1362151 h 3749040"/>
              <a:gd name="connsiteX13" fmla="*/ 0 w 18288"/>
              <a:gd name="connsiteY13" fmla="*/ 774802 h 3749040"/>
              <a:gd name="connsiteX14" fmla="*/ 0 w 18288"/>
              <a:gd name="connsiteY14" fmla="*/ 0 h 374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88" h="3749040" fill="none" extrusionOk="0">
                <a:moveTo>
                  <a:pt x="0" y="0"/>
                </a:moveTo>
                <a:cubicBezTo>
                  <a:pt x="8690" y="407"/>
                  <a:pt x="14141" y="154"/>
                  <a:pt x="18288" y="0"/>
                </a:cubicBezTo>
                <a:cubicBezTo>
                  <a:pt x="34838" y="143586"/>
                  <a:pt x="-11860" y="333097"/>
                  <a:pt x="18288" y="662330"/>
                </a:cubicBezTo>
                <a:cubicBezTo>
                  <a:pt x="48436" y="991563"/>
                  <a:pt x="32813" y="1046681"/>
                  <a:pt x="18288" y="1174699"/>
                </a:cubicBezTo>
                <a:cubicBezTo>
                  <a:pt x="3763" y="1302717"/>
                  <a:pt x="40974" y="1467838"/>
                  <a:pt x="18288" y="1724558"/>
                </a:cubicBezTo>
                <a:cubicBezTo>
                  <a:pt x="-4398" y="1981278"/>
                  <a:pt x="36650" y="2215729"/>
                  <a:pt x="18288" y="2424379"/>
                </a:cubicBezTo>
                <a:cubicBezTo>
                  <a:pt x="-74" y="2633029"/>
                  <a:pt x="-9881" y="2874703"/>
                  <a:pt x="18288" y="3049219"/>
                </a:cubicBezTo>
                <a:cubicBezTo>
                  <a:pt x="46457" y="3223735"/>
                  <a:pt x="4078" y="3453850"/>
                  <a:pt x="18288" y="3749040"/>
                </a:cubicBezTo>
                <a:cubicBezTo>
                  <a:pt x="14465" y="3749751"/>
                  <a:pt x="7675" y="3748271"/>
                  <a:pt x="0" y="3749040"/>
                </a:cubicBezTo>
                <a:cubicBezTo>
                  <a:pt x="19669" y="3507959"/>
                  <a:pt x="-9883" y="3339386"/>
                  <a:pt x="0" y="3236671"/>
                </a:cubicBezTo>
                <a:cubicBezTo>
                  <a:pt x="9883" y="3133956"/>
                  <a:pt x="26871" y="2857214"/>
                  <a:pt x="0" y="2536850"/>
                </a:cubicBezTo>
                <a:cubicBezTo>
                  <a:pt x="-26871" y="2216486"/>
                  <a:pt x="4790" y="2156616"/>
                  <a:pt x="0" y="1874520"/>
                </a:cubicBezTo>
                <a:cubicBezTo>
                  <a:pt x="-4790" y="1592424"/>
                  <a:pt x="-3117" y="1558688"/>
                  <a:pt x="0" y="1362151"/>
                </a:cubicBezTo>
                <a:cubicBezTo>
                  <a:pt x="3117" y="1165614"/>
                  <a:pt x="16802" y="1045125"/>
                  <a:pt x="0" y="774802"/>
                </a:cubicBezTo>
                <a:cubicBezTo>
                  <a:pt x="-16802" y="504479"/>
                  <a:pt x="-29640" y="377701"/>
                  <a:pt x="0" y="0"/>
                </a:cubicBezTo>
                <a:close/>
              </a:path>
              <a:path w="18288" h="3749040" stroke="0" extrusionOk="0">
                <a:moveTo>
                  <a:pt x="0" y="0"/>
                </a:moveTo>
                <a:cubicBezTo>
                  <a:pt x="5341" y="9"/>
                  <a:pt x="11148" y="-611"/>
                  <a:pt x="18288" y="0"/>
                </a:cubicBezTo>
                <a:cubicBezTo>
                  <a:pt x="33352" y="227288"/>
                  <a:pt x="30894" y="278824"/>
                  <a:pt x="18288" y="512369"/>
                </a:cubicBezTo>
                <a:cubicBezTo>
                  <a:pt x="5682" y="745914"/>
                  <a:pt x="53060" y="998220"/>
                  <a:pt x="18288" y="1212190"/>
                </a:cubicBezTo>
                <a:cubicBezTo>
                  <a:pt x="-16484" y="1426160"/>
                  <a:pt x="35474" y="1585099"/>
                  <a:pt x="18288" y="1837030"/>
                </a:cubicBezTo>
                <a:cubicBezTo>
                  <a:pt x="1102" y="2088961"/>
                  <a:pt x="16704" y="2251948"/>
                  <a:pt x="18288" y="2386889"/>
                </a:cubicBezTo>
                <a:cubicBezTo>
                  <a:pt x="19872" y="2521830"/>
                  <a:pt x="5902" y="2679005"/>
                  <a:pt x="18288" y="2936748"/>
                </a:cubicBezTo>
                <a:cubicBezTo>
                  <a:pt x="30674" y="3194491"/>
                  <a:pt x="13809" y="3416052"/>
                  <a:pt x="18288" y="3749040"/>
                </a:cubicBezTo>
                <a:cubicBezTo>
                  <a:pt x="9729" y="3749861"/>
                  <a:pt x="3965" y="3749683"/>
                  <a:pt x="0" y="3749040"/>
                </a:cubicBezTo>
                <a:cubicBezTo>
                  <a:pt x="-10152" y="3632102"/>
                  <a:pt x="-5013" y="3340136"/>
                  <a:pt x="0" y="3236671"/>
                </a:cubicBezTo>
                <a:cubicBezTo>
                  <a:pt x="5013" y="3133206"/>
                  <a:pt x="-27249" y="2814766"/>
                  <a:pt x="0" y="2649322"/>
                </a:cubicBezTo>
                <a:cubicBezTo>
                  <a:pt x="27249" y="2483878"/>
                  <a:pt x="8506" y="2308131"/>
                  <a:pt x="0" y="2061972"/>
                </a:cubicBezTo>
                <a:cubicBezTo>
                  <a:pt x="-8506" y="1815813"/>
                  <a:pt x="-14267" y="1574470"/>
                  <a:pt x="0" y="1399642"/>
                </a:cubicBezTo>
                <a:cubicBezTo>
                  <a:pt x="14267" y="1224814"/>
                  <a:pt x="-24839" y="1011862"/>
                  <a:pt x="0" y="812292"/>
                </a:cubicBezTo>
                <a:cubicBezTo>
                  <a:pt x="24839" y="612722"/>
                  <a:pt x="20220" y="372179"/>
                  <a:pt x="0" y="0"/>
                </a:cubicBezTo>
                <a:close/>
              </a:path>
            </a:pathLst>
          </a:custGeom>
          <a:solidFill>
            <a:srgbClr val="C34D5F"/>
          </a:solidFill>
          <a:ln w="34925">
            <a:solidFill>
              <a:srgbClr val="C34D5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D557BB7-A156-26CC-38AA-790E0A1BFC18}"/>
              </a:ext>
            </a:extLst>
          </p:cNvPr>
          <p:cNvGraphicFramePr>
            <a:graphicFrameLocks noGrp="1"/>
          </p:cNvGraphicFramePr>
          <p:nvPr>
            <p:ph idx="1"/>
            <p:extLst>
              <p:ext uri="{D42A27DB-BD31-4B8C-83A1-F6EECF244321}">
                <p14:modId xmlns:p14="http://schemas.microsoft.com/office/powerpoint/2010/main" val="88509412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4613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370C6-8C3B-5525-C444-874C5DD3DDA7}"/>
              </a:ext>
            </a:extLst>
          </p:cNvPr>
          <p:cNvSpPr>
            <a:spLocks noGrp="1"/>
          </p:cNvSpPr>
          <p:nvPr>
            <p:ph type="title"/>
          </p:nvPr>
        </p:nvSpPr>
        <p:spPr/>
        <p:txBody>
          <a:bodyPr/>
          <a:lstStyle/>
          <a:p>
            <a:r>
              <a:rPr lang="en-US" dirty="0"/>
              <a:t>Ergonomics</a:t>
            </a:r>
          </a:p>
        </p:txBody>
      </p:sp>
      <p:graphicFrame>
        <p:nvGraphicFramePr>
          <p:cNvPr id="5" name="Content Placeholder 2">
            <a:extLst>
              <a:ext uri="{FF2B5EF4-FFF2-40B4-BE49-F238E27FC236}">
                <a16:creationId xmlns:a16="http://schemas.microsoft.com/office/drawing/2014/main" id="{AE1906EC-3CAF-8F92-3B4F-134FC78921A8}"/>
              </a:ext>
            </a:extLst>
          </p:cNvPr>
          <p:cNvGraphicFramePr>
            <a:graphicFrameLocks noGrp="1"/>
          </p:cNvGraphicFramePr>
          <p:nvPr>
            <p:ph idx="1"/>
            <p:extLst>
              <p:ext uri="{D42A27DB-BD31-4B8C-83A1-F6EECF244321}">
                <p14:modId xmlns:p14="http://schemas.microsoft.com/office/powerpoint/2010/main" val="2671990132"/>
              </p:ext>
            </p:extLst>
          </p:nvPr>
        </p:nvGraphicFramePr>
        <p:xfrm>
          <a:off x="838200" y="1929384"/>
          <a:ext cx="1051560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5963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rgbClr val="C34D5F"/>
          </a:solidFill>
          <a:ln w="38100" cap="rnd">
            <a:solidFill>
              <a:srgbClr val="C34D5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D775AA-B493-1D70-9052-A2178B39B487}"/>
              </a:ext>
            </a:extLst>
          </p:cNvPr>
          <p:cNvSpPr>
            <a:spLocks noGrp="1"/>
          </p:cNvSpPr>
          <p:nvPr>
            <p:ph type="title"/>
          </p:nvPr>
        </p:nvSpPr>
        <p:spPr>
          <a:xfrm>
            <a:off x="838200" y="365125"/>
            <a:ext cx="10515600" cy="1325563"/>
          </a:xfrm>
        </p:spPr>
        <p:txBody>
          <a:bodyPr>
            <a:normAutofit/>
          </a:bodyPr>
          <a:lstStyle/>
          <a:p>
            <a:r>
              <a:rPr lang="en-US" sz="6600"/>
              <a:t>Occupational environment</a:t>
            </a:r>
          </a:p>
        </p:txBody>
      </p:sp>
      <p:sp>
        <p:nvSpPr>
          <p:cNvPr id="3" name="Content Placeholder 2">
            <a:extLst>
              <a:ext uri="{FF2B5EF4-FFF2-40B4-BE49-F238E27FC236}">
                <a16:creationId xmlns:a16="http://schemas.microsoft.com/office/drawing/2014/main" id="{21438839-C31C-BEE4-8236-FFB94096586A}"/>
              </a:ext>
            </a:extLst>
          </p:cNvPr>
          <p:cNvSpPr>
            <a:spLocks noGrp="1"/>
          </p:cNvSpPr>
          <p:nvPr>
            <p:ph idx="1"/>
          </p:nvPr>
        </p:nvSpPr>
        <p:spPr>
          <a:xfrm>
            <a:off x="838200" y="1929384"/>
            <a:ext cx="10515600" cy="4251960"/>
          </a:xfrm>
        </p:spPr>
        <p:txBody>
          <a:bodyPr>
            <a:normAutofit fontScale="77500" lnSpcReduction="20000"/>
          </a:bodyPr>
          <a:lstStyle/>
          <a:p>
            <a:r>
              <a:rPr lang="en-US" b="0" i="0" u="none" strike="noStrike" baseline="0" dirty="0">
                <a:latin typeface="+mj-lt"/>
              </a:rPr>
              <a:t>External conditions and influences which prevail at the place of work and which have a bearing on the health of the working population.</a:t>
            </a:r>
          </a:p>
          <a:p>
            <a:pPr lvl="1"/>
            <a:r>
              <a:rPr lang="en-US" b="0" i="0" u="none" strike="noStrike" baseline="0" dirty="0">
                <a:latin typeface="+mj-lt"/>
              </a:rPr>
              <a:t>Man and physical, chemical and biological agents</a:t>
            </a:r>
          </a:p>
          <a:p>
            <a:pPr lvl="1"/>
            <a:r>
              <a:rPr lang="en-US" b="0" i="0" u="none" strike="noStrike" baseline="0" dirty="0">
                <a:latin typeface="+mj-lt"/>
              </a:rPr>
              <a:t>Man and machine</a:t>
            </a:r>
          </a:p>
          <a:p>
            <a:pPr lvl="1"/>
            <a:r>
              <a:rPr lang="en-US" b="0" i="0" u="none" strike="noStrike" baseline="0" dirty="0">
                <a:latin typeface="+mj-lt"/>
              </a:rPr>
              <a:t>Man and man</a:t>
            </a:r>
          </a:p>
          <a:p>
            <a:r>
              <a:rPr lang="en-US" dirty="0">
                <a:latin typeface="+mj-lt"/>
              </a:rPr>
              <a:t>The occupational environment of the worker cannot be considered apart from his domestic environment. Both are complementary to each other. </a:t>
            </a:r>
          </a:p>
          <a:p>
            <a:r>
              <a:rPr lang="en-US" dirty="0">
                <a:latin typeface="+mj-lt"/>
              </a:rPr>
              <a:t>Severe prolonged stress, no matter where it has been aroused, may produce serious physical or mental symptoms which do not allow person to work efficiently. </a:t>
            </a:r>
          </a:p>
          <a:p>
            <a:r>
              <a:rPr lang="en-US" dirty="0">
                <a:latin typeface="+mj-lt"/>
              </a:rPr>
              <a:t>According to ecological approach, occupational health represents a dynamic equilibrium or adjustment between the industrial worker and his occupational environment.</a:t>
            </a:r>
          </a:p>
        </p:txBody>
      </p:sp>
    </p:spTree>
    <p:extLst>
      <p:ext uri="{BB962C8B-B14F-4D97-AF65-F5344CB8AC3E}">
        <p14:creationId xmlns:p14="http://schemas.microsoft.com/office/powerpoint/2010/main" val="1159568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95103-048E-E59A-08C7-7B9B3672CAF8}"/>
              </a:ext>
            </a:extLst>
          </p:cNvPr>
          <p:cNvSpPr>
            <a:spLocks noGrp="1"/>
          </p:cNvSpPr>
          <p:nvPr>
            <p:ph type="title"/>
          </p:nvPr>
        </p:nvSpPr>
        <p:spPr/>
        <p:txBody>
          <a:bodyPr/>
          <a:lstStyle/>
          <a:p>
            <a:r>
              <a:rPr lang="en-US"/>
              <a:t>Physical, chemical and biological agents</a:t>
            </a:r>
            <a:endParaRPr lang="en-US" dirty="0"/>
          </a:p>
        </p:txBody>
      </p:sp>
      <p:graphicFrame>
        <p:nvGraphicFramePr>
          <p:cNvPr id="5" name="Content Placeholder 2">
            <a:extLst>
              <a:ext uri="{FF2B5EF4-FFF2-40B4-BE49-F238E27FC236}">
                <a16:creationId xmlns:a16="http://schemas.microsoft.com/office/drawing/2014/main" id="{9CB484B3-9F4A-9A03-C1FF-89DDA1D5493C}"/>
              </a:ext>
            </a:extLst>
          </p:cNvPr>
          <p:cNvGraphicFramePr>
            <a:graphicFrameLocks noGrp="1"/>
          </p:cNvGraphicFramePr>
          <p:nvPr>
            <p:ph idx="1"/>
            <p:extLst>
              <p:ext uri="{D42A27DB-BD31-4B8C-83A1-F6EECF244321}">
                <p14:modId xmlns:p14="http://schemas.microsoft.com/office/powerpoint/2010/main" val="2916339613"/>
              </p:ext>
            </p:extLst>
          </p:nvPr>
        </p:nvGraphicFramePr>
        <p:xfrm>
          <a:off x="838200" y="1929384"/>
          <a:ext cx="1051560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7803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126B46-C919-BF9E-63A0-BFF3CE5749F5}"/>
              </a:ext>
            </a:extLst>
          </p:cNvPr>
          <p:cNvSpPr>
            <a:spLocks noGrp="1"/>
          </p:cNvSpPr>
          <p:nvPr>
            <p:ph type="title"/>
          </p:nvPr>
        </p:nvSpPr>
        <p:spPr>
          <a:xfrm>
            <a:off x="630936" y="640080"/>
            <a:ext cx="4818888" cy="1481328"/>
          </a:xfrm>
        </p:spPr>
        <p:txBody>
          <a:bodyPr anchor="b">
            <a:normAutofit/>
          </a:bodyPr>
          <a:lstStyle/>
          <a:p>
            <a:r>
              <a:rPr lang="en-US" sz="5600"/>
              <a:t>Machine</a:t>
            </a:r>
          </a:p>
        </p:txBody>
      </p:sp>
      <p:sp>
        <p:nvSpPr>
          <p:cNvPr id="12"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2386584"/>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C34D5F"/>
          </a:solidFill>
          <a:ln w="38100" cap="rnd">
            <a:solidFill>
              <a:srgbClr val="C34D5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38E6CC-9001-FCEB-45BA-14C836F09A5B}"/>
              </a:ext>
            </a:extLst>
          </p:cNvPr>
          <p:cNvSpPr>
            <a:spLocks noGrp="1"/>
          </p:cNvSpPr>
          <p:nvPr>
            <p:ph idx="1"/>
          </p:nvPr>
        </p:nvSpPr>
        <p:spPr>
          <a:xfrm>
            <a:off x="630936" y="2670048"/>
            <a:ext cx="6175904" cy="3547872"/>
          </a:xfrm>
        </p:spPr>
        <p:txBody>
          <a:bodyPr anchor="t">
            <a:noAutofit/>
          </a:bodyPr>
          <a:lstStyle/>
          <a:p>
            <a:pPr>
              <a:lnSpc>
                <a:spcPct val="100000"/>
              </a:lnSpc>
            </a:pPr>
            <a:r>
              <a:rPr lang="en-US" sz="2000" b="0" i="0" u="none" strike="noStrike" baseline="0" dirty="0">
                <a:latin typeface="+mj-lt"/>
              </a:rPr>
              <a:t>An industry or factory implies the use of machines driven by power with emphasis on mass production.</a:t>
            </a:r>
          </a:p>
          <a:p>
            <a:pPr>
              <a:lnSpc>
                <a:spcPct val="100000"/>
              </a:lnSpc>
            </a:pPr>
            <a:r>
              <a:rPr lang="en-US" sz="2000" b="0" i="0" u="none" strike="noStrike" baseline="0" dirty="0">
                <a:latin typeface="+mj-lt"/>
              </a:rPr>
              <a:t>Unguarded machines</a:t>
            </a:r>
          </a:p>
          <a:p>
            <a:pPr>
              <a:lnSpc>
                <a:spcPct val="100000"/>
              </a:lnSpc>
            </a:pPr>
            <a:r>
              <a:rPr lang="en-US" sz="2000" b="0" i="0" u="none" strike="noStrike" baseline="0" dirty="0">
                <a:latin typeface="+mj-lt"/>
              </a:rPr>
              <a:t>Protruding and moving parts</a:t>
            </a:r>
          </a:p>
          <a:p>
            <a:pPr>
              <a:lnSpc>
                <a:spcPct val="100000"/>
              </a:lnSpc>
            </a:pPr>
            <a:r>
              <a:rPr lang="en-US" sz="2000" b="0" i="0" u="none" strike="noStrike" baseline="0" dirty="0">
                <a:latin typeface="+mj-lt"/>
              </a:rPr>
              <a:t>Poor installation of the plant </a:t>
            </a:r>
          </a:p>
          <a:p>
            <a:pPr>
              <a:lnSpc>
                <a:spcPct val="100000"/>
              </a:lnSpc>
            </a:pPr>
            <a:r>
              <a:rPr lang="en-US" sz="2000" b="0" i="0" u="none" strike="noStrike" baseline="0" dirty="0">
                <a:latin typeface="+mj-lt"/>
              </a:rPr>
              <a:t>Lack of safety measures </a:t>
            </a:r>
          </a:p>
          <a:p>
            <a:pPr>
              <a:lnSpc>
                <a:spcPct val="100000"/>
              </a:lnSpc>
            </a:pPr>
            <a:r>
              <a:rPr lang="en-US" sz="2000" b="0" i="0" u="none" strike="noStrike" baseline="0" dirty="0">
                <a:latin typeface="+mj-lt"/>
              </a:rPr>
              <a:t>Working for long hours in unphysiological postures is the cause of fatigue, backache, diseases of joints and muscles and impairment of the worker’s health and efficiency.</a:t>
            </a:r>
            <a:endParaRPr lang="en-US" sz="2000" dirty="0">
              <a:latin typeface="+mj-lt"/>
            </a:endParaRPr>
          </a:p>
        </p:txBody>
      </p:sp>
      <mc:AlternateContent xmlns:mc="http://schemas.openxmlformats.org/markup-compatibility/2006">
        <mc:Choice xmlns:p14="http://schemas.microsoft.com/office/powerpoint/2010/main" Requires="p14">
          <p:contentPart p14:bwMode="auto" r:id="rId2">
            <p14:nvContentPartPr>
              <p14: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p:pic>
            <p:nvPicPr>
              <p:cNvPr id="14" name="Ink 13">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pic>
        <p:nvPicPr>
          <p:cNvPr id="7" name="Graphic 6" descr="Factory">
            <a:extLst>
              <a:ext uri="{FF2B5EF4-FFF2-40B4-BE49-F238E27FC236}">
                <a16:creationId xmlns:a16="http://schemas.microsoft.com/office/drawing/2014/main" id="{4809E0E9-0789-4DFC-74C1-A2F87B384D7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608231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466A-28C9-4BCB-D1C6-7DE92217A60F}"/>
              </a:ext>
            </a:extLst>
          </p:cNvPr>
          <p:cNvSpPr>
            <a:spLocks noGrp="1"/>
          </p:cNvSpPr>
          <p:nvPr>
            <p:ph type="title"/>
          </p:nvPr>
        </p:nvSpPr>
        <p:spPr/>
        <p:txBody>
          <a:bodyPr/>
          <a:lstStyle/>
          <a:p>
            <a:r>
              <a:rPr lang="en-US" dirty="0"/>
              <a:t>Human</a:t>
            </a:r>
          </a:p>
        </p:txBody>
      </p:sp>
      <p:sp>
        <p:nvSpPr>
          <p:cNvPr id="3" name="Content Placeholder 2">
            <a:extLst>
              <a:ext uri="{FF2B5EF4-FFF2-40B4-BE49-F238E27FC236}">
                <a16:creationId xmlns:a16="http://schemas.microsoft.com/office/drawing/2014/main" id="{3F18CCF0-9828-E45C-76EB-23F4BC2F2431}"/>
              </a:ext>
            </a:extLst>
          </p:cNvPr>
          <p:cNvSpPr>
            <a:spLocks noGrp="1"/>
          </p:cNvSpPr>
          <p:nvPr>
            <p:ph idx="1"/>
          </p:nvPr>
        </p:nvSpPr>
        <p:spPr/>
        <p:txBody>
          <a:bodyPr numCol="2">
            <a:normAutofit fontScale="92500"/>
          </a:bodyPr>
          <a:lstStyle/>
          <a:p>
            <a:pPr algn="l"/>
            <a:r>
              <a:rPr lang="en-US" sz="2400" b="0" i="0" u="none" strike="noStrike" baseline="0" dirty="0">
                <a:latin typeface="+mj-lt"/>
              </a:rPr>
              <a:t>Human relationships amongst workers themselves on the one hand, and those in authority over them on the other. </a:t>
            </a:r>
          </a:p>
          <a:p>
            <a:pPr algn="l"/>
            <a:r>
              <a:rPr lang="en-US" sz="2400" b="0" i="0" u="none" strike="noStrike" baseline="0" dirty="0">
                <a:latin typeface="+mj-lt"/>
              </a:rPr>
              <a:t>Psychosocial factors </a:t>
            </a:r>
          </a:p>
          <a:p>
            <a:pPr lvl="1"/>
            <a:r>
              <a:rPr lang="en-US" sz="1800" b="0" i="0" u="none" strike="noStrike" baseline="0" dirty="0">
                <a:latin typeface="+mj-lt"/>
              </a:rPr>
              <a:t>Type and rhythm of work</a:t>
            </a:r>
          </a:p>
          <a:p>
            <a:pPr lvl="1"/>
            <a:r>
              <a:rPr lang="en-US" sz="1800" b="0" i="0" u="none" strike="noStrike" baseline="0" dirty="0">
                <a:latin typeface="+mj-lt"/>
              </a:rPr>
              <a:t>Work stability</a:t>
            </a:r>
          </a:p>
          <a:p>
            <a:pPr lvl="1"/>
            <a:r>
              <a:rPr lang="en-US" sz="1800" b="0" i="0" u="none" strike="noStrike" baseline="0" dirty="0">
                <a:latin typeface="+mj-lt"/>
              </a:rPr>
              <a:t>Service conditions </a:t>
            </a:r>
          </a:p>
          <a:p>
            <a:pPr lvl="1"/>
            <a:r>
              <a:rPr lang="en-US" sz="1800" b="0" i="0" u="none" strike="noStrike" baseline="0" dirty="0">
                <a:latin typeface="+mj-lt"/>
              </a:rPr>
              <a:t>Job satisfaction </a:t>
            </a:r>
          </a:p>
          <a:p>
            <a:pPr lvl="1"/>
            <a:r>
              <a:rPr lang="en-US" sz="1800" dirty="0">
                <a:latin typeface="+mj-lt"/>
              </a:rPr>
              <a:t>Le</a:t>
            </a:r>
            <a:r>
              <a:rPr lang="en-US" sz="1800" b="0" i="0" u="none" strike="noStrike" baseline="0" dirty="0">
                <a:latin typeface="+mj-lt"/>
              </a:rPr>
              <a:t>adership style </a:t>
            </a:r>
          </a:p>
          <a:p>
            <a:pPr lvl="1"/>
            <a:r>
              <a:rPr lang="en-US" sz="1800" b="0" i="0" u="none" strike="noStrike" baseline="0" dirty="0">
                <a:latin typeface="+mj-lt"/>
              </a:rPr>
              <a:t>Security,</a:t>
            </a:r>
          </a:p>
          <a:p>
            <a:pPr lvl="1"/>
            <a:r>
              <a:rPr lang="en-US" sz="1800" b="0" i="0" u="none" strike="noStrike" baseline="0" dirty="0">
                <a:latin typeface="+mj-lt"/>
              </a:rPr>
              <a:t>Workers participation</a:t>
            </a:r>
          </a:p>
          <a:p>
            <a:pPr lvl="1"/>
            <a:r>
              <a:rPr lang="en-US" sz="1800" b="0" i="0" u="none" strike="noStrike" baseline="0" dirty="0">
                <a:latin typeface="+mj-lt"/>
              </a:rPr>
              <a:t>Communication</a:t>
            </a:r>
          </a:p>
          <a:p>
            <a:pPr lvl="1"/>
            <a:r>
              <a:rPr lang="en-US" sz="1800" b="0" i="0" u="none" strike="noStrike" baseline="0" dirty="0">
                <a:latin typeface="+mj-lt"/>
              </a:rPr>
              <a:t>System of payment</a:t>
            </a:r>
          </a:p>
          <a:p>
            <a:pPr lvl="1"/>
            <a:r>
              <a:rPr lang="en-US" sz="1800" b="0" i="0" u="none" strike="noStrike" baseline="0" dirty="0">
                <a:latin typeface="+mj-lt"/>
              </a:rPr>
              <a:t>Welfare conditions</a:t>
            </a:r>
          </a:p>
          <a:p>
            <a:pPr lvl="1"/>
            <a:r>
              <a:rPr lang="en-US" sz="1800" b="0" i="0" u="none" strike="noStrike" baseline="0" dirty="0">
                <a:latin typeface="+mj-lt"/>
              </a:rPr>
              <a:t>Degree of responsibility </a:t>
            </a:r>
          </a:p>
          <a:p>
            <a:pPr lvl="1"/>
            <a:r>
              <a:rPr lang="en-US" sz="1800" b="0" i="0" u="none" strike="noStrike" baseline="0" dirty="0">
                <a:latin typeface="+mj-lt"/>
              </a:rPr>
              <a:t>Trade union activities</a:t>
            </a:r>
          </a:p>
          <a:p>
            <a:pPr lvl="1"/>
            <a:r>
              <a:rPr lang="en-US" sz="1800" b="0" i="0" u="none" strike="noStrike" baseline="0" dirty="0">
                <a:latin typeface="+mj-lt"/>
              </a:rPr>
              <a:t>Incentives </a:t>
            </a:r>
          </a:p>
          <a:p>
            <a:pPr algn="l"/>
            <a:r>
              <a:rPr lang="en-US" sz="2400" b="0" i="0" u="none" strike="noStrike" baseline="0" dirty="0">
                <a:latin typeface="+mj-lt"/>
              </a:rPr>
              <a:t>In modern occupational health, the emphasis is upon the people, the conditions in which they live and work, their hopes and fears and their attitudes towards their job, their fellow-workers and employers</a:t>
            </a:r>
            <a:endParaRPr lang="en-US" sz="3600" dirty="0">
              <a:latin typeface="+mj-lt"/>
            </a:endParaRPr>
          </a:p>
        </p:txBody>
      </p:sp>
    </p:spTree>
    <p:extLst>
      <p:ext uri="{BB962C8B-B14F-4D97-AF65-F5344CB8AC3E}">
        <p14:creationId xmlns:p14="http://schemas.microsoft.com/office/powerpoint/2010/main" val="16096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EB76-9030-040E-474F-1CE54639725B}"/>
              </a:ext>
            </a:extLst>
          </p:cNvPr>
          <p:cNvSpPr>
            <a:spLocks noGrp="1"/>
          </p:cNvSpPr>
          <p:nvPr>
            <p:ph type="title"/>
          </p:nvPr>
        </p:nvSpPr>
        <p:spPr/>
        <p:txBody>
          <a:bodyPr/>
          <a:lstStyle/>
          <a:p>
            <a:r>
              <a:rPr lang="en-US" dirty="0"/>
              <a:t>Occupational Hazard</a:t>
            </a:r>
          </a:p>
        </p:txBody>
      </p:sp>
      <p:graphicFrame>
        <p:nvGraphicFramePr>
          <p:cNvPr id="5" name="Content Placeholder 2">
            <a:extLst>
              <a:ext uri="{FF2B5EF4-FFF2-40B4-BE49-F238E27FC236}">
                <a16:creationId xmlns:a16="http://schemas.microsoft.com/office/drawing/2014/main" id="{AB743387-621C-274B-2138-3FC2888B0ADD}"/>
              </a:ext>
            </a:extLst>
          </p:cNvPr>
          <p:cNvGraphicFramePr>
            <a:graphicFrameLocks noGrp="1"/>
          </p:cNvGraphicFramePr>
          <p:nvPr>
            <p:ph idx="1"/>
            <p:extLst>
              <p:ext uri="{D42A27DB-BD31-4B8C-83A1-F6EECF244321}">
                <p14:modId xmlns:p14="http://schemas.microsoft.com/office/powerpoint/2010/main" val="687014404"/>
              </p:ext>
            </p:extLst>
          </p:nvPr>
        </p:nvGraphicFramePr>
        <p:xfrm>
          <a:off x="838200" y="1929384"/>
          <a:ext cx="1051560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468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E1FC4-4B40-B1F8-F5A2-9222D407AC29}"/>
              </a:ext>
            </a:extLst>
          </p:cNvPr>
          <p:cNvSpPr>
            <a:spLocks noGrp="1"/>
          </p:cNvSpPr>
          <p:nvPr>
            <p:ph type="title"/>
          </p:nvPr>
        </p:nvSpPr>
        <p:spPr/>
        <p:txBody>
          <a:bodyPr/>
          <a:lstStyle/>
          <a:p>
            <a:r>
              <a:rPr lang="en-US" dirty="0"/>
              <a:t>Physical Hazard – Heat &amp; Cold</a:t>
            </a:r>
          </a:p>
        </p:txBody>
      </p:sp>
      <p:sp>
        <p:nvSpPr>
          <p:cNvPr id="3" name="Content Placeholder 2">
            <a:extLst>
              <a:ext uri="{FF2B5EF4-FFF2-40B4-BE49-F238E27FC236}">
                <a16:creationId xmlns:a16="http://schemas.microsoft.com/office/drawing/2014/main" id="{769CCF4B-CE95-4B16-5FF7-C5C7A4ADE042}"/>
              </a:ext>
            </a:extLst>
          </p:cNvPr>
          <p:cNvSpPr>
            <a:spLocks noGrp="1"/>
          </p:cNvSpPr>
          <p:nvPr>
            <p:ph idx="1"/>
          </p:nvPr>
        </p:nvSpPr>
        <p:spPr>
          <a:xfrm>
            <a:off x="160421" y="1929384"/>
            <a:ext cx="11871158" cy="4760174"/>
          </a:xfrm>
        </p:spPr>
        <p:txBody>
          <a:bodyPr>
            <a:noAutofit/>
          </a:bodyPr>
          <a:lstStyle/>
          <a:p>
            <a:pPr algn="l">
              <a:lnSpc>
                <a:spcPct val="100000"/>
              </a:lnSpc>
              <a:spcBef>
                <a:spcPts val="500"/>
              </a:spcBef>
              <a:spcAft>
                <a:spcPts val="500"/>
              </a:spcAft>
            </a:pPr>
            <a:r>
              <a:rPr lang="en-US" sz="2000" b="0" i="0" u="none" strike="noStrike" baseline="0" dirty="0">
                <a:latin typeface="+mj-lt"/>
              </a:rPr>
              <a:t>The direct effects of heat exposure are burns, heat exhaustion, heat stroke and heat cramps </a:t>
            </a:r>
          </a:p>
          <a:p>
            <a:pPr algn="l">
              <a:lnSpc>
                <a:spcPct val="100000"/>
              </a:lnSpc>
              <a:spcBef>
                <a:spcPts val="500"/>
              </a:spcBef>
              <a:spcAft>
                <a:spcPts val="500"/>
              </a:spcAft>
            </a:pPr>
            <a:r>
              <a:rPr lang="en-US" sz="2000" b="0" i="0" u="none" strike="noStrike" baseline="0" dirty="0">
                <a:latin typeface="+mj-lt"/>
              </a:rPr>
              <a:t>The indirect effects are decreased efficiency, increased fatigue and enhanced accident rates. </a:t>
            </a:r>
          </a:p>
          <a:p>
            <a:pPr algn="l">
              <a:lnSpc>
                <a:spcPct val="100000"/>
              </a:lnSpc>
              <a:spcBef>
                <a:spcPts val="500"/>
              </a:spcBef>
              <a:spcAft>
                <a:spcPts val="500"/>
              </a:spcAft>
            </a:pPr>
            <a:r>
              <a:rPr lang="en-US" sz="2000" b="0" i="0" u="none" strike="noStrike" baseline="0" dirty="0">
                <a:latin typeface="+mj-lt"/>
              </a:rPr>
              <a:t>Many industries have local hot spots" - ovens and furnaces, which radiate heat.  Radiant heat is the main problem in foundry, glass and steel industries, while </a:t>
            </a:r>
            <a:r>
              <a:rPr lang="en-US" sz="2000" b="0" i="1" u="none" strike="noStrike" baseline="0" dirty="0">
                <a:latin typeface="+mj-lt"/>
              </a:rPr>
              <a:t>heat stagnation </a:t>
            </a:r>
            <a:r>
              <a:rPr lang="en-US" sz="2000" b="0" i="0" u="none" strike="noStrike" baseline="0" dirty="0">
                <a:latin typeface="+mj-lt"/>
              </a:rPr>
              <a:t>is the principal problem in </a:t>
            </a:r>
            <a:r>
              <a:rPr lang="en-US" sz="2000" dirty="0">
                <a:latin typeface="+mj-lt"/>
              </a:rPr>
              <a:t>Jut</a:t>
            </a:r>
            <a:r>
              <a:rPr lang="en-US" sz="2000" b="0" i="0" u="none" strike="noStrike" baseline="0" dirty="0">
                <a:latin typeface="+mj-lt"/>
              </a:rPr>
              <a:t>e and cotton textile industry. High temperatures are also found in mines for instance in the Kolar Gold Mines of Mysore which is the second deepest mine of the world 11,000 feet.</a:t>
            </a:r>
          </a:p>
          <a:p>
            <a:pPr algn="l">
              <a:lnSpc>
                <a:spcPct val="100000"/>
              </a:lnSpc>
              <a:spcBef>
                <a:spcPts val="500"/>
              </a:spcBef>
              <a:spcAft>
                <a:spcPts val="500"/>
              </a:spcAft>
            </a:pPr>
            <a:r>
              <a:rPr lang="en-US" sz="2000" b="0" i="0" u="none" strike="noStrike" baseline="0" dirty="0">
                <a:latin typeface="+mj-lt"/>
              </a:rPr>
              <a:t>The wor</a:t>
            </a:r>
            <a:r>
              <a:rPr lang="en-US" sz="2000" dirty="0">
                <a:latin typeface="+mj-lt"/>
              </a:rPr>
              <a:t>k of Rao </a:t>
            </a:r>
            <a:r>
              <a:rPr lang="en-US" sz="2000" b="0" i="0" u="none" strike="noStrike" baseline="0" dirty="0">
                <a:latin typeface="+mj-lt"/>
              </a:rPr>
              <a:t>(1952, 1953) and Mookerjee et al. (1953) indicate that a corrected effective temperature of 69 to 80 deg. F (20°C to 27°C) is the comfort zone in this country and temperatures above 80 deg. F (27°C) cause discomfort.</a:t>
            </a:r>
          </a:p>
          <a:p>
            <a:pPr algn="l">
              <a:lnSpc>
                <a:spcPct val="100000"/>
              </a:lnSpc>
              <a:spcBef>
                <a:spcPts val="500"/>
              </a:spcBef>
              <a:spcAft>
                <a:spcPts val="500"/>
              </a:spcAft>
            </a:pPr>
            <a:r>
              <a:rPr lang="en-US" sz="2000" b="0" i="0" u="none" strike="noStrike" baseline="0" dirty="0">
                <a:latin typeface="+mj-lt"/>
              </a:rPr>
              <a:t>Important hazards associated with cold work are chilblains, </a:t>
            </a:r>
            <a:r>
              <a:rPr lang="en-US" sz="2000" b="0" i="0" u="none" strike="noStrike" baseline="0" dirty="0" err="1">
                <a:latin typeface="+mj-lt"/>
              </a:rPr>
              <a:t>erythrocyanosis</a:t>
            </a:r>
            <a:r>
              <a:rPr lang="en-US" sz="2000" b="0" i="0" u="none" strike="noStrike" baseline="0" dirty="0">
                <a:latin typeface="+mj-lt"/>
              </a:rPr>
              <a:t>, immersion foot, and frostbite as a result of cutaneous vasoconstriction</a:t>
            </a:r>
          </a:p>
        </p:txBody>
      </p:sp>
    </p:spTree>
    <p:extLst>
      <p:ext uri="{BB962C8B-B14F-4D97-AF65-F5344CB8AC3E}">
        <p14:creationId xmlns:p14="http://schemas.microsoft.com/office/powerpoint/2010/main" val="1029820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B650D5D-1E94-8B6F-E412-73B35C61139E}"/>
              </a:ext>
            </a:extLst>
          </p:cNvPr>
          <p:cNvSpPr>
            <a:spLocks noGrp="1"/>
          </p:cNvSpPr>
          <p:nvPr>
            <p:ph type="body" idx="4294967295"/>
          </p:nvPr>
        </p:nvSpPr>
        <p:spPr>
          <a:xfrm>
            <a:off x="234462" y="186470"/>
            <a:ext cx="4948726" cy="1354289"/>
          </a:xfrm>
        </p:spPr>
        <p:txBody>
          <a:bodyPr/>
          <a:lstStyle/>
          <a:p>
            <a:r>
              <a:rPr lang="en-US" dirty="0"/>
              <a:t>Light</a:t>
            </a:r>
          </a:p>
        </p:txBody>
      </p:sp>
      <p:sp>
        <p:nvSpPr>
          <p:cNvPr id="6" name="Text Placeholder 5">
            <a:extLst>
              <a:ext uri="{FF2B5EF4-FFF2-40B4-BE49-F238E27FC236}">
                <a16:creationId xmlns:a16="http://schemas.microsoft.com/office/drawing/2014/main" id="{1F16F318-3AFC-114E-459F-AAF0B21DDF35}"/>
              </a:ext>
            </a:extLst>
          </p:cNvPr>
          <p:cNvSpPr>
            <a:spLocks noGrp="1"/>
          </p:cNvSpPr>
          <p:nvPr>
            <p:ph type="body" sz="quarter" idx="4294967295"/>
          </p:nvPr>
        </p:nvSpPr>
        <p:spPr>
          <a:xfrm>
            <a:off x="5183188" y="186470"/>
            <a:ext cx="6774350" cy="1476124"/>
          </a:xfrm>
        </p:spPr>
        <p:txBody>
          <a:bodyPr/>
          <a:lstStyle/>
          <a:p>
            <a:r>
              <a:rPr lang="en-US" dirty="0"/>
              <a:t>Noise &amp; Vibration</a:t>
            </a:r>
          </a:p>
        </p:txBody>
      </p:sp>
      <p:sp>
        <p:nvSpPr>
          <p:cNvPr id="7" name="Content Placeholder 6">
            <a:extLst>
              <a:ext uri="{FF2B5EF4-FFF2-40B4-BE49-F238E27FC236}">
                <a16:creationId xmlns:a16="http://schemas.microsoft.com/office/drawing/2014/main" id="{3D0E2AD6-B6C9-3B9E-2686-79362494EF61}"/>
              </a:ext>
            </a:extLst>
          </p:cNvPr>
          <p:cNvSpPr>
            <a:spLocks noGrp="1"/>
          </p:cNvSpPr>
          <p:nvPr>
            <p:ph sz="quarter" idx="4294967295"/>
          </p:nvPr>
        </p:nvSpPr>
        <p:spPr>
          <a:xfrm>
            <a:off x="5183188" y="1010382"/>
            <a:ext cx="6774350" cy="5847618"/>
          </a:xfrm>
        </p:spPr>
        <p:txBody>
          <a:bodyPr vert="horz" lIns="91440" tIns="45720" rIns="91440" bIns="45720" rtlCol="0">
            <a:noAutofit/>
          </a:bodyPr>
          <a:lstStyle/>
          <a:p>
            <a:pPr>
              <a:lnSpc>
                <a:spcPct val="100000"/>
              </a:lnSpc>
            </a:pPr>
            <a:r>
              <a:rPr lang="en-US" sz="2000" dirty="0"/>
              <a:t>Auditory effects - consist of temporary or permanent hearing loss</a:t>
            </a:r>
          </a:p>
          <a:p>
            <a:pPr>
              <a:lnSpc>
                <a:spcPct val="100000"/>
              </a:lnSpc>
            </a:pPr>
            <a:r>
              <a:rPr lang="en-US" sz="2000" dirty="0"/>
              <a:t>Non-auditory effects - consist of nervousness, fatigue, interference with communication by speech, decreased efficiency and annoyance. </a:t>
            </a:r>
          </a:p>
          <a:p>
            <a:pPr>
              <a:lnSpc>
                <a:spcPct val="100000"/>
              </a:lnSpc>
            </a:pPr>
            <a:r>
              <a:rPr lang="en-US" sz="2000" dirty="0"/>
              <a:t>The degree of injury from exposure to noise depends upon a number of factors such as intensity and frequency range, duration of exposure and individual susceptibility.</a:t>
            </a:r>
          </a:p>
          <a:p>
            <a:pPr algn="l"/>
            <a:r>
              <a:rPr lang="en-US" sz="2000" dirty="0"/>
              <a:t>Vibration - Range 10 to 500 Hz, may be encountered in work with pneumatic tools such as drills and hammers. </a:t>
            </a:r>
          </a:p>
          <a:p>
            <a:pPr algn="l"/>
            <a:r>
              <a:rPr lang="en-US" sz="2000" dirty="0"/>
              <a:t>Vibration usually affects the hands and arms. After some months or years of exposure, the fine blood vessels of the fingers may become increasingly sensitive to spasm (white fingers).</a:t>
            </a:r>
          </a:p>
          <a:p>
            <a:pPr algn="l"/>
            <a:r>
              <a:rPr lang="en-US" sz="2000" dirty="0"/>
              <a:t>Exposure to vibration may also produce injuries of the joints of the hands, elbows and shoulders</a:t>
            </a:r>
          </a:p>
        </p:txBody>
      </p:sp>
      <p:sp>
        <p:nvSpPr>
          <p:cNvPr id="5" name="Content Placeholder 4">
            <a:extLst>
              <a:ext uri="{FF2B5EF4-FFF2-40B4-BE49-F238E27FC236}">
                <a16:creationId xmlns:a16="http://schemas.microsoft.com/office/drawing/2014/main" id="{44E737C2-C085-AEE6-33A2-568189EB65CB}"/>
              </a:ext>
            </a:extLst>
          </p:cNvPr>
          <p:cNvSpPr>
            <a:spLocks noGrp="1"/>
          </p:cNvSpPr>
          <p:nvPr>
            <p:ph sz="half" idx="4294967295"/>
          </p:nvPr>
        </p:nvSpPr>
        <p:spPr>
          <a:xfrm>
            <a:off x="234462" y="1173896"/>
            <a:ext cx="4948726" cy="5367581"/>
          </a:xfrm>
        </p:spPr>
        <p:txBody>
          <a:bodyPr>
            <a:noAutofit/>
          </a:bodyPr>
          <a:lstStyle/>
          <a:p>
            <a:pPr algn="l">
              <a:lnSpc>
                <a:spcPct val="100000"/>
              </a:lnSpc>
            </a:pPr>
            <a:r>
              <a:rPr lang="en-US" sz="2000" b="0" i="0" u="none" strike="noStrike" baseline="0" dirty="0"/>
              <a:t>Poor illumination or excessive brightness. </a:t>
            </a:r>
          </a:p>
          <a:p>
            <a:pPr algn="l">
              <a:lnSpc>
                <a:spcPct val="100000"/>
              </a:lnSpc>
            </a:pPr>
            <a:r>
              <a:rPr lang="en-US" sz="2000" b="0" i="0" u="none" strike="noStrike" baseline="0" dirty="0"/>
              <a:t>The </a:t>
            </a:r>
            <a:r>
              <a:rPr lang="en-US" sz="2000" b="0" i="1" u="none" strike="noStrike" baseline="0" dirty="0"/>
              <a:t>acute </a:t>
            </a:r>
            <a:r>
              <a:rPr lang="en-US" sz="2000" b="0" i="0" u="none" strike="noStrike" baseline="0" dirty="0"/>
              <a:t>effects of poor illumination are eye strain, headache, eye pain, lachrymation, congestion around the cornea and eye fatigue. </a:t>
            </a:r>
          </a:p>
          <a:p>
            <a:pPr algn="l">
              <a:lnSpc>
                <a:spcPct val="100000"/>
              </a:lnSpc>
            </a:pPr>
            <a:r>
              <a:rPr lang="en-US" sz="2000" b="0" i="0" u="none" strike="noStrike" baseline="0" dirty="0"/>
              <a:t>The </a:t>
            </a:r>
            <a:r>
              <a:rPr lang="en-US" sz="2000" b="0" i="1" u="none" strike="noStrike" baseline="0" dirty="0"/>
              <a:t>chronic </a:t>
            </a:r>
            <a:r>
              <a:rPr lang="en-US" sz="2000" b="0" i="0" u="none" strike="noStrike" baseline="0" dirty="0"/>
              <a:t>effects on health include “miner’s nystagmus”. </a:t>
            </a:r>
          </a:p>
          <a:p>
            <a:pPr algn="l">
              <a:lnSpc>
                <a:spcPct val="100000"/>
              </a:lnSpc>
            </a:pPr>
            <a:r>
              <a:rPr lang="en-US" sz="2000" b="0" i="0" u="none" strike="noStrike" baseline="0" dirty="0"/>
              <a:t>Exposure to excessive brightness or “glare” is associated with discomfort, annoyance and visual fatigue.</a:t>
            </a:r>
          </a:p>
          <a:p>
            <a:pPr algn="l">
              <a:lnSpc>
                <a:spcPct val="100000"/>
              </a:lnSpc>
            </a:pPr>
            <a:r>
              <a:rPr lang="en-US" sz="2000" b="0" i="0" u="none" strike="noStrike" baseline="0" dirty="0"/>
              <a:t>Intense direct glare may also result in blurring of vision and lead to accidents. </a:t>
            </a:r>
            <a:endParaRPr lang="en-US" sz="2000" dirty="0"/>
          </a:p>
        </p:txBody>
      </p:sp>
    </p:spTree>
    <p:extLst>
      <p:ext uri="{BB962C8B-B14F-4D97-AF65-F5344CB8AC3E}">
        <p14:creationId xmlns:p14="http://schemas.microsoft.com/office/powerpoint/2010/main" val="3378376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8C8A637-7A97-CD4D-8149-A1EB4EA818C2}"/>
              </a:ext>
            </a:extLst>
          </p:cNvPr>
          <p:cNvSpPr>
            <a:spLocks noGrp="1"/>
          </p:cNvSpPr>
          <p:nvPr>
            <p:ph type="title"/>
          </p:nvPr>
        </p:nvSpPr>
        <p:spPr/>
        <p:txBody>
          <a:bodyPr/>
          <a:lstStyle/>
          <a:p>
            <a:r>
              <a:rPr lang="en-US" dirty="0"/>
              <a:t>Radiation</a:t>
            </a:r>
          </a:p>
        </p:txBody>
      </p:sp>
      <p:sp>
        <p:nvSpPr>
          <p:cNvPr id="10" name="Text Placeholder 9">
            <a:extLst>
              <a:ext uri="{FF2B5EF4-FFF2-40B4-BE49-F238E27FC236}">
                <a16:creationId xmlns:a16="http://schemas.microsoft.com/office/drawing/2014/main" id="{67DBD514-7A48-82C8-B36A-009307366D0B}"/>
              </a:ext>
            </a:extLst>
          </p:cNvPr>
          <p:cNvSpPr>
            <a:spLocks noGrp="1"/>
          </p:cNvSpPr>
          <p:nvPr>
            <p:ph type="body" idx="1"/>
          </p:nvPr>
        </p:nvSpPr>
        <p:spPr/>
        <p:txBody>
          <a:bodyPr/>
          <a:lstStyle/>
          <a:p>
            <a:r>
              <a:rPr lang="en-US" dirty="0"/>
              <a:t>Ultraviolet </a:t>
            </a:r>
          </a:p>
        </p:txBody>
      </p:sp>
      <p:sp>
        <p:nvSpPr>
          <p:cNvPr id="11" name="Content Placeholder 10">
            <a:extLst>
              <a:ext uri="{FF2B5EF4-FFF2-40B4-BE49-F238E27FC236}">
                <a16:creationId xmlns:a16="http://schemas.microsoft.com/office/drawing/2014/main" id="{556F5F27-FE17-D3DA-0A8A-204466651644}"/>
              </a:ext>
            </a:extLst>
          </p:cNvPr>
          <p:cNvSpPr>
            <a:spLocks noGrp="1"/>
          </p:cNvSpPr>
          <p:nvPr>
            <p:ph sz="half" idx="2"/>
          </p:nvPr>
        </p:nvSpPr>
        <p:spPr/>
        <p:txBody>
          <a:bodyPr>
            <a:normAutofit/>
          </a:bodyPr>
          <a:lstStyle/>
          <a:p>
            <a:pPr algn="l"/>
            <a:r>
              <a:rPr lang="en-US" sz="2000" b="0" i="0" u="none" strike="noStrike" baseline="0" dirty="0">
                <a:latin typeface="+mj-lt"/>
              </a:rPr>
              <a:t>Occurs mainly in arc welding. </a:t>
            </a:r>
          </a:p>
          <a:p>
            <a:pPr algn="l"/>
            <a:r>
              <a:rPr lang="en-US" sz="2000" b="0" i="0" u="none" strike="noStrike" baseline="0" dirty="0">
                <a:latin typeface="+mj-lt"/>
              </a:rPr>
              <a:t>Such radiation mainly affects the eyes, causing intense conjunctivitis and keratitis (welder’s flash). </a:t>
            </a:r>
            <a:endParaRPr lang="en-US" sz="2000" dirty="0">
              <a:latin typeface="+mj-lt"/>
            </a:endParaRPr>
          </a:p>
          <a:p>
            <a:pPr algn="l"/>
            <a:r>
              <a:rPr lang="en-US" sz="2000" b="0" i="0" u="none" strike="noStrike" baseline="0" dirty="0">
                <a:latin typeface="+mj-lt"/>
              </a:rPr>
              <a:t>Symptoms are redness of the eyes and pain, these usually disappear in a few days with no permanent effect on the vision or on the deeper structures of the eye</a:t>
            </a:r>
            <a:endParaRPr lang="en-US" sz="2000" dirty="0">
              <a:latin typeface="+mj-lt"/>
            </a:endParaRPr>
          </a:p>
        </p:txBody>
      </p:sp>
      <p:sp>
        <p:nvSpPr>
          <p:cNvPr id="12" name="Text Placeholder 11">
            <a:extLst>
              <a:ext uri="{FF2B5EF4-FFF2-40B4-BE49-F238E27FC236}">
                <a16:creationId xmlns:a16="http://schemas.microsoft.com/office/drawing/2014/main" id="{40A23065-3204-CE0E-41D3-DC24EE123240}"/>
              </a:ext>
            </a:extLst>
          </p:cNvPr>
          <p:cNvSpPr>
            <a:spLocks noGrp="1"/>
          </p:cNvSpPr>
          <p:nvPr>
            <p:ph type="body" sz="quarter" idx="3"/>
          </p:nvPr>
        </p:nvSpPr>
        <p:spPr>
          <a:xfrm>
            <a:off x="6096000" y="1484472"/>
            <a:ext cx="5183188" cy="823912"/>
          </a:xfrm>
        </p:spPr>
        <p:txBody>
          <a:bodyPr/>
          <a:lstStyle/>
          <a:p>
            <a:r>
              <a:rPr lang="en-US" dirty="0"/>
              <a:t>Ionizing radiation</a:t>
            </a:r>
          </a:p>
        </p:txBody>
      </p:sp>
      <p:sp>
        <p:nvSpPr>
          <p:cNvPr id="13" name="Content Placeholder 12">
            <a:extLst>
              <a:ext uri="{FF2B5EF4-FFF2-40B4-BE49-F238E27FC236}">
                <a16:creationId xmlns:a16="http://schemas.microsoft.com/office/drawing/2014/main" id="{5FB913C3-938D-EF36-7CD1-12B131D16719}"/>
              </a:ext>
            </a:extLst>
          </p:cNvPr>
          <p:cNvSpPr>
            <a:spLocks noGrp="1"/>
          </p:cNvSpPr>
          <p:nvPr>
            <p:ph sz="quarter" idx="4"/>
          </p:nvPr>
        </p:nvSpPr>
        <p:spPr>
          <a:xfrm>
            <a:off x="6019800" y="2300764"/>
            <a:ext cx="5969000" cy="3264408"/>
          </a:xfrm>
        </p:spPr>
        <p:txBody>
          <a:bodyPr>
            <a:noAutofit/>
          </a:bodyPr>
          <a:lstStyle/>
          <a:p>
            <a:pPr algn="l"/>
            <a:r>
              <a:rPr lang="en-US" sz="1900" b="0" i="0" u="none" strike="noStrike" baseline="0" dirty="0"/>
              <a:t>Important radio-isotopes are cobalt 60 and phosphorus 32. </a:t>
            </a:r>
          </a:p>
          <a:p>
            <a:pPr algn="l"/>
            <a:r>
              <a:rPr lang="en-US" sz="1900" b="0" i="0" u="none" strike="noStrike" baseline="0" dirty="0"/>
              <a:t>Certain tissues such as bone-marrow are more sensitive than others and from a genetic standpoint, there are special hazards when the gonads are exposed. </a:t>
            </a:r>
          </a:p>
          <a:p>
            <a:pPr algn="l"/>
            <a:r>
              <a:rPr lang="en-US" sz="1900" b="0" i="0" u="none" strike="noStrike" baseline="0" dirty="0"/>
              <a:t>The radiation hazards comprise genetic </a:t>
            </a:r>
            <a:r>
              <a:rPr lang="fr-FR" sz="1900" b="0" i="0" u="none" strike="noStrike" baseline="0" dirty="0"/>
              <a:t>changes, malformation, cancer, </a:t>
            </a:r>
            <a:r>
              <a:rPr lang="fr-FR" sz="1900" b="0" i="0" u="none" strike="noStrike" baseline="0" dirty="0" err="1"/>
              <a:t>leukaemia</a:t>
            </a:r>
            <a:r>
              <a:rPr lang="fr-FR" sz="1900" b="0" i="0" u="none" strike="noStrike" baseline="0" dirty="0"/>
              <a:t>, </a:t>
            </a:r>
            <a:r>
              <a:rPr lang="fr-FR" sz="1900" b="0" i="0" u="none" strike="noStrike" baseline="0" dirty="0" err="1"/>
              <a:t>depilation</a:t>
            </a:r>
            <a:r>
              <a:rPr lang="fr-FR" sz="1900" b="0" i="0" u="none" strike="noStrike" baseline="0" dirty="0"/>
              <a:t>, </a:t>
            </a:r>
            <a:r>
              <a:rPr lang="en-US" sz="1900" b="0" i="0" u="none" strike="noStrike" baseline="0" dirty="0"/>
              <a:t>ulceration, sterility and in extreme cases death. </a:t>
            </a:r>
          </a:p>
          <a:p>
            <a:pPr algn="l"/>
            <a:r>
              <a:rPr lang="en-US" sz="1900" b="0" i="0" u="none" strike="noStrike" baseline="0" dirty="0"/>
              <a:t>The International Commission of Radiological Protection has set the maximum permissible level of occupational exposure at 5 rem per year to the whole body</a:t>
            </a:r>
            <a:endParaRPr lang="en-US" sz="1900" dirty="0"/>
          </a:p>
        </p:txBody>
      </p:sp>
    </p:spTree>
    <p:extLst>
      <p:ext uri="{BB962C8B-B14F-4D97-AF65-F5344CB8AC3E}">
        <p14:creationId xmlns:p14="http://schemas.microsoft.com/office/powerpoint/2010/main" val="443086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86C05FE-BF04-336A-7029-DC501AA0BA30}"/>
              </a:ext>
            </a:extLst>
          </p:cNvPr>
          <p:cNvSpPr>
            <a:spLocks noGrp="1"/>
          </p:cNvSpPr>
          <p:nvPr>
            <p:ph type="title"/>
          </p:nvPr>
        </p:nvSpPr>
        <p:spPr/>
        <p:txBody>
          <a:bodyPr/>
          <a:lstStyle/>
          <a:p>
            <a:r>
              <a:rPr lang="en-US" dirty="0"/>
              <a:t>Chemical</a:t>
            </a:r>
          </a:p>
        </p:txBody>
      </p:sp>
      <p:sp>
        <p:nvSpPr>
          <p:cNvPr id="8" name="Content Placeholder 7">
            <a:extLst>
              <a:ext uri="{FF2B5EF4-FFF2-40B4-BE49-F238E27FC236}">
                <a16:creationId xmlns:a16="http://schemas.microsoft.com/office/drawing/2014/main" id="{4B7EE7F5-6680-3921-A9F4-285485649183}"/>
              </a:ext>
            </a:extLst>
          </p:cNvPr>
          <p:cNvSpPr>
            <a:spLocks noGrp="1"/>
          </p:cNvSpPr>
          <p:nvPr>
            <p:ph idx="1"/>
          </p:nvPr>
        </p:nvSpPr>
        <p:spPr>
          <a:xfrm>
            <a:off x="240631" y="1802384"/>
            <a:ext cx="11726779" cy="4251960"/>
          </a:xfrm>
        </p:spPr>
        <p:txBody>
          <a:bodyPr>
            <a:noAutofit/>
          </a:bodyPr>
          <a:lstStyle/>
          <a:p>
            <a:pPr algn="l">
              <a:lnSpc>
                <a:spcPct val="100000"/>
              </a:lnSpc>
              <a:spcBef>
                <a:spcPts val="500"/>
              </a:spcBef>
            </a:pPr>
            <a:r>
              <a:rPr lang="en-US" sz="1800" dirty="0"/>
              <a:t>Local action - </a:t>
            </a:r>
            <a:r>
              <a:rPr lang="en-US" sz="1800" b="0" i="0" u="none" strike="noStrike" baseline="0" dirty="0"/>
              <a:t>dermatitis, eczema, ulcers and even cancer by </a:t>
            </a:r>
            <a:r>
              <a:rPr lang="en-US" sz="1800" b="0" i="1" u="none" strike="noStrike" baseline="0" dirty="0"/>
              <a:t>primary irritant action</a:t>
            </a:r>
          </a:p>
          <a:p>
            <a:pPr lvl="1">
              <a:lnSpc>
                <a:spcPct val="100000"/>
              </a:lnSpc>
            </a:pPr>
            <a:r>
              <a:rPr lang="en-US" sz="1800" b="0" i="0" u="none" strike="noStrike" baseline="0" dirty="0"/>
              <a:t>Aromatic nitro and amino compounds such as TNT and aniline are </a:t>
            </a:r>
            <a:r>
              <a:rPr lang="en-US" sz="1800" b="0" i="1" u="none" strike="noStrike" baseline="0" dirty="0"/>
              <a:t>absorbed </a:t>
            </a:r>
            <a:r>
              <a:rPr lang="en-US" sz="1800" b="0" i="0" u="none" strike="noStrike" baseline="0" dirty="0"/>
              <a:t>through the skin and cause systemic effects.</a:t>
            </a:r>
          </a:p>
          <a:p>
            <a:pPr lvl="1">
              <a:lnSpc>
                <a:spcPct val="100000"/>
              </a:lnSpc>
            </a:pPr>
            <a:r>
              <a:rPr lang="en-US" sz="1800" b="0" i="0" u="none" strike="noStrike" baseline="0" dirty="0"/>
              <a:t>Occupational dermatitis due to machine oil, rubber, X-rays, caustic </a:t>
            </a:r>
            <a:r>
              <a:rPr lang="en-US" sz="1800" b="0" i="0" u="none" strike="noStrike" baseline="0" dirty="0" err="1"/>
              <a:t>alkalies</a:t>
            </a:r>
            <a:r>
              <a:rPr lang="en-US" sz="1800" b="0" i="0" u="none" strike="noStrike" baseline="0" dirty="0"/>
              <a:t> and lime</a:t>
            </a:r>
          </a:p>
          <a:p>
            <a:pPr>
              <a:lnSpc>
                <a:spcPct val="100000"/>
              </a:lnSpc>
              <a:spcBef>
                <a:spcPts val="500"/>
              </a:spcBef>
            </a:pPr>
            <a:r>
              <a:rPr lang="en-US" sz="1800" dirty="0"/>
              <a:t>Inhalation – Dust (0.1 – 150 micron)</a:t>
            </a:r>
          </a:p>
          <a:p>
            <a:pPr algn="l">
              <a:lnSpc>
                <a:spcPct val="100000"/>
              </a:lnSpc>
              <a:spcBef>
                <a:spcPts val="500"/>
              </a:spcBef>
            </a:pPr>
            <a:r>
              <a:rPr lang="en-US" sz="1800" b="0" i="0" u="none" strike="noStrike" baseline="0" dirty="0"/>
              <a:t>Crushing, grinding, abrading, loading and unloading operations. </a:t>
            </a:r>
          </a:p>
          <a:p>
            <a:pPr algn="l">
              <a:lnSpc>
                <a:spcPct val="100000"/>
              </a:lnSpc>
              <a:spcBef>
                <a:spcPts val="500"/>
              </a:spcBef>
            </a:pPr>
            <a:r>
              <a:rPr lang="en-US" sz="1800" b="0" i="0" u="none" strike="noStrike" baseline="0" dirty="0"/>
              <a:t>Dusts are produced in a number of industries - mines, foundry, quarry, pottery, textile, wood or stone working industries.</a:t>
            </a:r>
          </a:p>
          <a:p>
            <a:pPr algn="l">
              <a:lnSpc>
                <a:spcPct val="100000"/>
              </a:lnSpc>
              <a:spcBef>
                <a:spcPts val="500"/>
              </a:spcBef>
            </a:pPr>
            <a:r>
              <a:rPr lang="en-US" sz="1800" b="0" i="0" u="none" strike="noStrike" baseline="0" dirty="0"/>
              <a:t>Dust particles larger than 10 microns settle down from the air rapidly, while the smaller ones remain suspended indefinitely. </a:t>
            </a:r>
          </a:p>
          <a:p>
            <a:pPr algn="l">
              <a:lnSpc>
                <a:spcPct val="100000"/>
              </a:lnSpc>
              <a:spcBef>
                <a:spcPts val="500"/>
              </a:spcBef>
            </a:pPr>
            <a:r>
              <a:rPr lang="en-US" sz="1800" b="0" i="0" u="none" strike="noStrike" baseline="0" dirty="0"/>
              <a:t>Particles smaller than 5 microns are directly inhaled into the lungs and are retained there. This fraction of the dust is called “respirable dust”, and is mainly responsible for pneumoconiosis.</a:t>
            </a:r>
          </a:p>
          <a:p>
            <a:pPr algn="l">
              <a:lnSpc>
                <a:spcPct val="100000"/>
              </a:lnSpc>
              <a:spcBef>
                <a:spcPts val="500"/>
              </a:spcBef>
            </a:pPr>
            <a:r>
              <a:rPr lang="en-US" sz="1800" b="0" i="1" u="none" strike="noStrike" baseline="0" dirty="0"/>
              <a:t>Types - Inorganic </a:t>
            </a:r>
            <a:r>
              <a:rPr lang="en-US" sz="1800" b="0" i="0" u="none" strike="noStrike" baseline="0" dirty="0"/>
              <a:t>and </a:t>
            </a:r>
            <a:r>
              <a:rPr lang="en-US" sz="1800" b="0" i="1" u="none" strike="noStrike" baseline="0" dirty="0"/>
              <a:t>organic </a:t>
            </a:r>
            <a:r>
              <a:rPr lang="en-US" sz="1800" b="0" i="0" u="none" strike="noStrike" baseline="0" dirty="0"/>
              <a:t>dusts; </a:t>
            </a:r>
            <a:r>
              <a:rPr lang="en-US" sz="1800" b="0" i="1" u="none" strike="noStrike" baseline="0" dirty="0"/>
              <a:t>soluble </a:t>
            </a:r>
            <a:r>
              <a:rPr lang="en-US" sz="1800" b="0" i="0" u="none" strike="noStrike" baseline="0" dirty="0"/>
              <a:t>and </a:t>
            </a:r>
            <a:r>
              <a:rPr lang="en-US" sz="1800" b="0" i="1" u="none" strike="noStrike" baseline="0" dirty="0"/>
              <a:t>insoluble dusts.</a:t>
            </a:r>
          </a:p>
          <a:p>
            <a:pPr algn="l">
              <a:lnSpc>
                <a:spcPct val="100000"/>
              </a:lnSpc>
              <a:spcBef>
                <a:spcPts val="500"/>
              </a:spcBef>
            </a:pPr>
            <a:r>
              <a:rPr lang="en-US" sz="1800" b="0" i="0" u="none" strike="noStrike" baseline="0" dirty="0"/>
              <a:t>The inorganic dusts are silica, mica, coal, asbestos dust, etc.; the organic dusts are cotton, jute and the like. </a:t>
            </a:r>
          </a:p>
          <a:p>
            <a:pPr algn="l">
              <a:lnSpc>
                <a:spcPct val="100000"/>
              </a:lnSpc>
              <a:spcBef>
                <a:spcPts val="500"/>
              </a:spcBef>
            </a:pPr>
            <a:r>
              <a:rPr lang="en-US" sz="1800" b="0" i="0" u="none" strike="noStrike" baseline="0" dirty="0"/>
              <a:t>The most common dust diseases in this country are silicosis and anthracosis,</a:t>
            </a:r>
            <a:endParaRPr lang="en-US" sz="1800" dirty="0"/>
          </a:p>
        </p:txBody>
      </p:sp>
    </p:spTree>
    <p:extLst>
      <p:ext uri="{BB962C8B-B14F-4D97-AF65-F5344CB8AC3E}">
        <p14:creationId xmlns:p14="http://schemas.microsoft.com/office/powerpoint/2010/main" val="1775510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50BFBC-C39B-5DD7-C17C-0F37828252C7}"/>
              </a:ext>
            </a:extLst>
          </p:cNvPr>
          <p:cNvSpPr>
            <a:spLocks noGrp="1"/>
          </p:cNvSpPr>
          <p:nvPr>
            <p:ph idx="4294967295"/>
          </p:nvPr>
        </p:nvSpPr>
        <p:spPr>
          <a:xfrm>
            <a:off x="200526" y="138112"/>
            <a:ext cx="11790947" cy="6581775"/>
          </a:xfrm>
        </p:spPr>
        <p:txBody>
          <a:bodyPr>
            <a:normAutofit lnSpcReduction="10000"/>
          </a:bodyPr>
          <a:lstStyle/>
          <a:p>
            <a:r>
              <a:rPr lang="en-US" dirty="0"/>
              <a:t>Inhalation – gases</a:t>
            </a:r>
          </a:p>
          <a:p>
            <a:pPr algn="l"/>
            <a:r>
              <a:rPr lang="en-US" sz="1800" b="0" i="0" u="none" strike="noStrike" baseline="0" dirty="0"/>
              <a:t>Classified as </a:t>
            </a:r>
            <a:r>
              <a:rPr lang="en-US" sz="1800" b="0" i="1" u="none" strike="noStrike" baseline="0" dirty="0"/>
              <a:t>simple gases </a:t>
            </a:r>
            <a:r>
              <a:rPr lang="en-US" sz="1800" b="0" i="0" u="none" strike="noStrike" baseline="0" dirty="0"/>
              <a:t>(e.g., oxygen, hydrogen), </a:t>
            </a:r>
            <a:r>
              <a:rPr lang="en-US" sz="1800" b="0" i="1" u="none" strike="noStrike" baseline="0" dirty="0"/>
              <a:t>asphyxiating gases </a:t>
            </a:r>
            <a:r>
              <a:rPr lang="en-US" sz="1800" b="0" i="0" u="none" strike="noStrike" baseline="0" dirty="0"/>
              <a:t>(e.g. carbon monoxide, cyanide gas, </a:t>
            </a:r>
            <a:r>
              <a:rPr lang="en-US" sz="1800" b="0" i="0" u="none" strike="noStrike" baseline="0" dirty="0" err="1"/>
              <a:t>sulphur</a:t>
            </a:r>
            <a:r>
              <a:rPr lang="en-US" sz="1800" b="0" i="0" u="none" strike="noStrike" baseline="0" dirty="0"/>
              <a:t> dioxide, chlorine) and </a:t>
            </a:r>
            <a:r>
              <a:rPr lang="en-US" sz="1800" b="0" i="1" u="none" strike="noStrike" baseline="0" dirty="0" err="1"/>
              <a:t>anaesthetic</a:t>
            </a:r>
            <a:r>
              <a:rPr lang="en-US" sz="1800" b="0" i="1" u="none" strike="noStrike" baseline="0" dirty="0"/>
              <a:t> gases (e.g., </a:t>
            </a:r>
            <a:r>
              <a:rPr lang="en-US" sz="1800" b="0" i="0" u="none" strike="noStrike" baseline="0" dirty="0"/>
              <a:t>chloroform, ether, trichlorethylene).</a:t>
            </a:r>
          </a:p>
          <a:p>
            <a:pPr algn="l"/>
            <a:r>
              <a:rPr lang="en-US" sz="1800" b="0" i="0" u="none" strike="noStrike" baseline="0" dirty="0"/>
              <a:t>Carbon monoxide hazard is frequently reported in coal-gas manufacturing plants and steel industry</a:t>
            </a:r>
          </a:p>
          <a:p>
            <a:r>
              <a:rPr lang="en-US" dirty="0"/>
              <a:t>Inhalation - Metals &amp; their compounds</a:t>
            </a:r>
          </a:p>
          <a:p>
            <a:pPr algn="l"/>
            <a:r>
              <a:rPr lang="en-US" sz="1800" b="0" i="0" u="none" strike="noStrike" baseline="0" dirty="0"/>
              <a:t>Chief mode of entry of some of them is by inhalation as dust or fumes. </a:t>
            </a:r>
          </a:p>
          <a:p>
            <a:pPr algn="l"/>
            <a:r>
              <a:rPr lang="en-US" sz="1800" b="0" i="0" u="none" strike="noStrike" baseline="0" dirty="0"/>
              <a:t>The industrial physician should be aware of the toxic effects of lead, antimony, arsenic, beryllium, cadmium, cobalt, manganese, mercury, phosphorus, chromium, zinc and others. </a:t>
            </a:r>
          </a:p>
          <a:p>
            <a:pPr algn="l"/>
            <a:r>
              <a:rPr lang="en-US" sz="1800" b="0" i="0" u="none" strike="noStrike" baseline="0" dirty="0"/>
              <a:t>The ill-effects depend upon the duration of exposure and the dose or concentration of exposure. Unlike the pneumoconiosis, most chemical intoxications respond </a:t>
            </a:r>
            <a:r>
              <a:rPr lang="en-US" sz="1800" b="0" i="0" u="none" strike="noStrike" baseline="0" dirty="0" err="1"/>
              <a:t>favourably</a:t>
            </a:r>
            <a:r>
              <a:rPr lang="en-US" sz="1800" b="0" i="0" u="none" strike="noStrike" baseline="0" dirty="0"/>
              <a:t> to cessation, exposure and medical treatment.</a:t>
            </a:r>
          </a:p>
          <a:p>
            <a:pPr algn="l"/>
            <a:r>
              <a:rPr lang="en-US" dirty="0"/>
              <a:t>Ingestion</a:t>
            </a:r>
          </a:p>
          <a:p>
            <a:pPr algn="l"/>
            <a:r>
              <a:rPr lang="en-US" sz="1800" b="0" i="0" u="none" strike="noStrike" baseline="0" dirty="0"/>
              <a:t>Lead, mercury, arsenic, zinc, chromium, cadmium, phosphorus etc. </a:t>
            </a:r>
          </a:p>
          <a:p>
            <a:pPr algn="l"/>
            <a:r>
              <a:rPr lang="en-US" sz="1800" b="0" i="0" u="none" strike="noStrike" baseline="0" dirty="0"/>
              <a:t>Usually these substances are swallowed in minute amounts through contaminated hands, food or cigarettes. </a:t>
            </a:r>
          </a:p>
          <a:p>
            <a:pPr algn="l"/>
            <a:r>
              <a:rPr lang="en-US" sz="1800" b="0" i="0" u="none" strike="noStrike" baseline="0" dirty="0"/>
              <a:t>Much of the ingested material is excreted through </a:t>
            </a:r>
            <a:r>
              <a:rPr lang="en-US" sz="1800" b="0" i="0" u="none" strike="noStrike" baseline="0" dirty="0" err="1"/>
              <a:t>faeces</a:t>
            </a:r>
            <a:r>
              <a:rPr lang="en-US" sz="1800" b="0" i="0" u="none" strike="noStrike" baseline="0" dirty="0"/>
              <a:t> and only a small proportion may reach the general blood circulation.</a:t>
            </a:r>
            <a:endParaRPr lang="en-US" dirty="0"/>
          </a:p>
          <a:p>
            <a:pPr algn="l"/>
            <a:endParaRPr lang="en-US" dirty="0"/>
          </a:p>
        </p:txBody>
      </p:sp>
    </p:spTree>
    <p:extLst>
      <p:ext uri="{BB962C8B-B14F-4D97-AF65-F5344CB8AC3E}">
        <p14:creationId xmlns:p14="http://schemas.microsoft.com/office/powerpoint/2010/main" val="2723885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F5D083-5035-3259-FD12-9C24D2FDA658}"/>
              </a:ext>
            </a:extLst>
          </p:cNvPr>
          <p:cNvSpPr>
            <a:spLocks noGrp="1"/>
          </p:cNvSpPr>
          <p:nvPr>
            <p:ph type="title"/>
          </p:nvPr>
        </p:nvSpPr>
        <p:spPr>
          <a:xfrm>
            <a:off x="635000" y="634029"/>
            <a:ext cx="10921640" cy="1314698"/>
          </a:xfrm>
        </p:spPr>
        <p:txBody>
          <a:bodyPr anchor="ctr">
            <a:normAutofit/>
          </a:bodyPr>
          <a:lstStyle/>
          <a:p>
            <a:pPr algn="ctr"/>
            <a:r>
              <a:rPr lang="en-US" sz="7200" dirty="0"/>
              <a:t>Biological Hazard</a:t>
            </a:r>
          </a:p>
        </p:txBody>
      </p:sp>
      <p:sp>
        <p:nvSpPr>
          <p:cNvPr id="11" name="Rectangle 22">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48305" y="2241737"/>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rgbClr val="C34D5F"/>
          </a:solidFill>
          <a:ln w="34925">
            <a:solidFill>
              <a:srgbClr val="C34D5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35355CD-5ADA-8F52-E831-7482C76DC41F}"/>
              </a:ext>
            </a:extLst>
          </p:cNvPr>
          <p:cNvGraphicFramePr>
            <a:graphicFrameLocks noGrp="1"/>
          </p:cNvGraphicFramePr>
          <p:nvPr>
            <p:ph idx="1"/>
            <p:extLst>
              <p:ext uri="{D42A27DB-BD31-4B8C-83A1-F6EECF244321}">
                <p14:modId xmlns:p14="http://schemas.microsoft.com/office/powerpoint/2010/main" val="1709890588"/>
              </p:ext>
            </p:extLst>
          </p:nvPr>
        </p:nvGraphicFramePr>
        <p:xfrm>
          <a:off x="632647" y="2805098"/>
          <a:ext cx="10915869" cy="34789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1130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3D1512-3321-0308-0BFE-FE5720A91E26}"/>
              </a:ext>
            </a:extLst>
          </p:cNvPr>
          <p:cNvSpPr>
            <a:spLocks noGrp="1"/>
          </p:cNvSpPr>
          <p:nvPr>
            <p:ph type="title"/>
          </p:nvPr>
        </p:nvSpPr>
        <p:spPr>
          <a:xfrm>
            <a:off x="640080" y="325369"/>
            <a:ext cx="4368602" cy="1956841"/>
          </a:xfrm>
        </p:spPr>
        <p:txBody>
          <a:bodyPr anchor="b">
            <a:normAutofit/>
          </a:bodyPr>
          <a:lstStyle/>
          <a:p>
            <a:pPr>
              <a:lnSpc>
                <a:spcPct val="90000"/>
              </a:lnSpc>
            </a:pPr>
            <a:r>
              <a:rPr lang="en-US" sz="6600"/>
              <a:t>Mechanical Hazard</a:t>
            </a:r>
          </a:p>
        </p:txBody>
      </p:sp>
      <p:sp>
        <p:nvSpPr>
          <p:cNvPr id="11"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093" y="2563839"/>
            <a:ext cx="3931920" cy="27432"/>
          </a:xfrm>
          <a:custGeom>
            <a:avLst/>
            <a:gdLst>
              <a:gd name="connsiteX0" fmla="*/ 0 w 3931920"/>
              <a:gd name="connsiteY0" fmla="*/ 0 h 27432"/>
              <a:gd name="connsiteX1" fmla="*/ 733958 w 3931920"/>
              <a:gd name="connsiteY1" fmla="*/ 0 h 27432"/>
              <a:gd name="connsiteX2" fmla="*/ 1428598 w 3931920"/>
              <a:gd name="connsiteY2" fmla="*/ 0 h 27432"/>
              <a:gd name="connsiteX3" fmla="*/ 2123237 w 3931920"/>
              <a:gd name="connsiteY3" fmla="*/ 0 h 27432"/>
              <a:gd name="connsiteX4" fmla="*/ 2660599 w 3931920"/>
              <a:gd name="connsiteY4" fmla="*/ 0 h 27432"/>
              <a:gd name="connsiteX5" fmla="*/ 3237281 w 3931920"/>
              <a:gd name="connsiteY5" fmla="*/ 0 h 27432"/>
              <a:gd name="connsiteX6" fmla="*/ 3931920 w 3931920"/>
              <a:gd name="connsiteY6" fmla="*/ 0 h 27432"/>
              <a:gd name="connsiteX7" fmla="*/ 3931920 w 3931920"/>
              <a:gd name="connsiteY7" fmla="*/ 27432 h 27432"/>
              <a:gd name="connsiteX8" fmla="*/ 3276600 w 3931920"/>
              <a:gd name="connsiteY8" fmla="*/ 27432 h 27432"/>
              <a:gd name="connsiteX9" fmla="*/ 2739238 w 3931920"/>
              <a:gd name="connsiteY9" fmla="*/ 27432 h 27432"/>
              <a:gd name="connsiteX10" fmla="*/ 2201875 w 3931920"/>
              <a:gd name="connsiteY10" fmla="*/ 27432 h 27432"/>
              <a:gd name="connsiteX11" fmla="*/ 1507236 w 3931920"/>
              <a:gd name="connsiteY11" fmla="*/ 27432 h 27432"/>
              <a:gd name="connsiteX12" fmla="*/ 930554 w 3931920"/>
              <a:gd name="connsiteY12" fmla="*/ 27432 h 27432"/>
              <a:gd name="connsiteX13" fmla="*/ 0 w 3931920"/>
              <a:gd name="connsiteY13" fmla="*/ 27432 h 27432"/>
              <a:gd name="connsiteX14" fmla="*/ 0 w 3931920"/>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1920" h="27432" fill="none" extrusionOk="0">
                <a:moveTo>
                  <a:pt x="0" y="0"/>
                </a:moveTo>
                <a:cubicBezTo>
                  <a:pt x="245351" y="16874"/>
                  <a:pt x="509174" y="13736"/>
                  <a:pt x="733958" y="0"/>
                </a:cubicBezTo>
                <a:cubicBezTo>
                  <a:pt x="958742" y="-13736"/>
                  <a:pt x="1245406" y="-17215"/>
                  <a:pt x="1428598" y="0"/>
                </a:cubicBezTo>
                <a:cubicBezTo>
                  <a:pt x="1611790" y="17215"/>
                  <a:pt x="1930525" y="20562"/>
                  <a:pt x="2123237" y="0"/>
                </a:cubicBezTo>
                <a:cubicBezTo>
                  <a:pt x="2315949" y="-20562"/>
                  <a:pt x="2485508" y="11332"/>
                  <a:pt x="2660599" y="0"/>
                </a:cubicBezTo>
                <a:cubicBezTo>
                  <a:pt x="2835690" y="-11332"/>
                  <a:pt x="3075198" y="-14809"/>
                  <a:pt x="3237281" y="0"/>
                </a:cubicBezTo>
                <a:cubicBezTo>
                  <a:pt x="3399364" y="14809"/>
                  <a:pt x="3745084" y="-4992"/>
                  <a:pt x="3931920" y="0"/>
                </a:cubicBezTo>
                <a:cubicBezTo>
                  <a:pt x="3930963" y="8431"/>
                  <a:pt x="3931571" y="14612"/>
                  <a:pt x="3931920" y="27432"/>
                </a:cubicBezTo>
                <a:cubicBezTo>
                  <a:pt x="3765435" y="40792"/>
                  <a:pt x="3452398" y="38703"/>
                  <a:pt x="3276600" y="27432"/>
                </a:cubicBezTo>
                <a:cubicBezTo>
                  <a:pt x="3100802" y="16161"/>
                  <a:pt x="2914889" y="26998"/>
                  <a:pt x="2739238" y="27432"/>
                </a:cubicBezTo>
                <a:cubicBezTo>
                  <a:pt x="2563587" y="27866"/>
                  <a:pt x="2395484" y="39154"/>
                  <a:pt x="2201875" y="27432"/>
                </a:cubicBezTo>
                <a:cubicBezTo>
                  <a:pt x="2008266" y="15710"/>
                  <a:pt x="1781367" y="4899"/>
                  <a:pt x="1507236" y="27432"/>
                </a:cubicBezTo>
                <a:cubicBezTo>
                  <a:pt x="1233105" y="49965"/>
                  <a:pt x="1075495" y="47542"/>
                  <a:pt x="930554" y="27432"/>
                </a:cubicBezTo>
                <a:cubicBezTo>
                  <a:pt x="785613" y="7322"/>
                  <a:pt x="268930" y="30433"/>
                  <a:pt x="0" y="27432"/>
                </a:cubicBezTo>
                <a:cubicBezTo>
                  <a:pt x="226" y="18208"/>
                  <a:pt x="-648" y="12891"/>
                  <a:pt x="0" y="0"/>
                </a:cubicBezTo>
                <a:close/>
              </a:path>
              <a:path w="3931920" h="27432" stroke="0" extrusionOk="0">
                <a:moveTo>
                  <a:pt x="0" y="0"/>
                </a:moveTo>
                <a:cubicBezTo>
                  <a:pt x="278269" y="4786"/>
                  <a:pt x="349028" y="-10422"/>
                  <a:pt x="616001" y="0"/>
                </a:cubicBezTo>
                <a:cubicBezTo>
                  <a:pt x="882974" y="10422"/>
                  <a:pt x="931617" y="-15515"/>
                  <a:pt x="1153363" y="0"/>
                </a:cubicBezTo>
                <a:cubicBezTo>
                  <a:pt x="1375109" y="15515"/>
                  <a:pt x="1704089" y="-3631"/>
                  <a:pt x="1887322" y="0"/>
                </a:cubicBezTo>
                <a:cubicBezTo>
                  <a:pt x="2070555" y="3631"/>
                  <a:pt x="2344155" y="2213"/>
                  <a:pt x="2503322" y="0"/>
                </a:cubicBezTo>
                <a:cubicBezTo>
                  <a:pt x="2662489" y="-2213"/>
                  <a:pt x="2976859" y="26691"/>
                  <a:pt x="3119323" y="0"/>
                </a:cubicBezTo>
                <a:cubicBezTo>
                  <a:pt x="3261787" y="-26691"/>
                  <a:pt x="3588171" y="-28651"/>
                  <a:pt x="3931920" y="0"/>
                </a:cubicBezTo>
                <a:cubicBezTo>
                  <a:pt x="3930565" y="9524"/>
                  <a:pt x="3930718" y="13975"/>
                  <a:pt x="3931920" y="27432"/>
                </a:cubicBezTo>
                <a:cubicBezTo>
                  <a:pt x="3664329" y="4021"/>
                  <a:pt x="3437686" y="14511"/>
                  <a:pt x="3276600" y="27432"/>
                </a:cubicBezTo>
                <a:cubicBezTo>
                  <a:pt x="3115514" y="40353"/>
                  <a:pt x="2913592" y="48967"/>
                  <a:pt x="2739238" y="27432"/>
                </a:cubicBezTo>
                <a:cubicBezTo>
                  <a:pt x="2564884" y="5897"/>
                  <a:pt x="2294049" y="39820"/>
                  <a:pt x="2083918" y="27432"/>
                </a:cubicBezTo>
                <a:cubicBezTo>
                  <a:pt x="1873787" y="15044"/>
                  <a:pt x="1718903" y="21388"/>
                  <a:pt x="1428598" y="27432"/>
                </a:cubicBezTo>
                <a:cubicBezTo>
                  <a:pt x="1138293" y="33476"/>
                  <a:pt x="952209" y="50441"/>
                  <a:pt x="812597" y="27432"/>
                </a:cubicBezTo>
                <a:cubicBezTo>
                  <a:pt x="672985" y="4423"/>
                  <a:pt x="305800" y="28240"/>
                  <a:pt x="0" y="27432"/>
                </a:cubicBezTo>
                <a:cubicBezTo>
                  <a:pt x="-800" y="16780"/>
                  <a:pt x="-583" y="12910"/>
                  <a:pt x="0" y="0"/>
                </a:cubicBezTo>
                <a:close/>
              </a:path>
            </a:pathLst>
          </a:custGeom>
          <a:solidFill>
            <a:srgbClr val="C34D5F"/>
          </a:solidFill>
          <a:ln w="38100" cap="rnd">
            <a:solidFill>
              <a:srgbClr val="C34D5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FD4E4A-1070-0253-7FD0-A48E799468C3}"/>
              </a:ext>
            </a:extLst>
          </p:cNvPr>
          <p:cNvSpPr>
            <a:spLocks noGrp="1"/>
          </p:cNvSpPr>
          <p:nvPr>
            <p:ph idx="1"/>
          </p:nvPr>
        </p:nvSpPr>
        <p:spPr>
          <a:xfrm>
            <a:off x="640080" y="2872899"/>
            <a:ext cx="4243589" cy="3320668"/>
          </a:xfrm>
        </p:spPr>
        <p:txBody>
          <a:bodyPr>
            <a:normAutofit/>
          </a:bodyPr>
          <a:lstStyle/>
          <a:p>
            <a:pPr>
              <a:lnSpc>
                <a:spcPct val="100000"/>
              </a:lnSpc>
            </a:pPr>
            <a:r>
              <a:rPr lang="en-US" sz="2400" b="0" i="0" u="none" strike="noStrike" baseline="0" dirty="0"/>
              <a:t>The mechanical hazards in industry </a:t>
            </a:r>
            <a:r>
              <a:rPr lang="en-US" sz="2400" b="0" i="0" u="none" strike="noStrike" baseline="0" dirty="0" err="1"/>
              <a:t>centre</a:t>
            </a:r>
            <a:r>
              <a:rPr lang="en-US" sz="2400" b="0" i="0" u="none" strike="noStrike" baseline="0" dirty="0"/>
              <a:t> around machinery, protruding and moving parts and the like.</a:t>
            </a:r>
          </a:p>
          <a:p>
            <a:pPr>
              <a:lnSpc>
                <a:spcPct val="100000"/>
              </a:lnSpc>
            </a:pPr>
            <a:r>
              <a:rPr lang="en-US" sz="2400" b="0" i="0" u="none" strike="noStrike" baseline="0" dirty="0"/>
              <a:t>About 10 per cent of accidents in industry are said to be due to mechanical causes.</a:t>
            </a:r>
            <a:endParaRPr lang="en-US" sz="2400" dirty="0"/>
          </a:p>
        </p:txBody>
      </p:sp>
      <p:pic>
        <p:nvPicPr>
          <p:cNvPr id="5" name="Picture 4" descr="Used machine parts">
            <a:extLst>
              <a:ext uri="{FF2B5EF4-FFF2-40B4-BE49-F238E27FC236}">
                <a16:creationId xmlns:a16="http://schemas.microsoft.com/office/drawing/2014/main" id="{689A3E91-EB86-1B10-2B1E-971F2D50EF52}"/>
              </a:ext>
            </a:extLst>
          </p:cNvPr>
          <p:cNvPicPr>
            <a:picLocks noChangeAspect="1"/>
          </p:cNvPicPr>
          <p:nvPr/>
        </p:nvPicPr>
        <p:blipFill rotWithShape="1">
          <a:blip r:embed="rId2"/>
          <a:srcRect l="26642" r="6405"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091690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914D-1B5C-2AD2-034C-34C1A54EC2A8}"/>
              </a:ext>
            </a:extLst>
          </p:cNvPr>
          <p:cNvSpPr>
            <a:spLocks noGrp="1"/>
          </p:cNvSpPr>
          <p:nvPr>
            <p:ph type="title"/>
          </p:nvPr>
        </p:nvSpPr>
        <p:spPr/>
        <p:txBody>
          <a:bodyPr/>
          <a:lstStyle/>
          <a:p>
            <a:r>
              <a:rPr lang="en-US" dirty="0"/>
              <a:t>Psychological hazard</a:t>
            </a:r>
          </a:p>
        </p:txBody>
      </p:sp>
      <p:sp>
        <p:nvSpPr>
          <p:cNvPr id="3" name="Content Placeholder 2">
            <a:extLst>
              <a:ext uri="{FF2B5EF4-FFF2-40B4-BE49-F238E27FC236}">
                <a16:creationId xmlns:a16="http://schemas.microsoft.com/office/drawing/2014/main" id="{5126DC8C-5DDA-0DF7-994F-724F7413948A}"/>
              </a:ext>
            </a:extLst>
          </p:cNvPr>
          <p:cNvSpPr>
            <a:spLocks noGrp="1"/>
          </p:cNvSpPr>
          <p:nvPr>
            <p:ph idx="1"/>
          </p:nvPr>
        </p:nvSpPr>
        <p:spPr>
          <a:xfrm>
            <a:off x="366129" y="1929383"/>
            <a:ext cx="11521071" cy="4563492"/>
          </a:xfrm>
        </p:spPr>
        <p:txBody>
          <a:bodyPr>
            <a:noAutofit/>
          </a:bodyPr>
          <a:lstStyle/>
          <a:p>
            <a:pPr algn="l">
              <a:spcBef>
                <a:spcPts val="500"/>
              </a:spcBef>
            </a:pPr>
            <a:r>
              <a:rPr lang="en-US" sz="1800" b="0" i="0" u="none" strike="noStrike" baseline="0" dirty="0"/>
              <a:t>Workers’ failure to adapt to an alien psychosocial environment. Frustration, lack of job satisfaction, insecurity, poor human relationships’, emotional tension are some of the psychosocial factors which may undermine both physical and mental health of the workers. </a:t>
            </a:r>
          </a:p>
          <a:p>
            <a:pPr algn="l">
              <a:spcBef>
                <a:spcPts val="500"/>
              </a:spcBef>
            </a:pPr>
            <a:r>
              <a:rPr lang="en-US" sz="1800" b="0" i="0" u="none" strike="noStrike" baseline="0" dirty="0"/>
              <a:t>The capacity to adapt to different working environments is influenced by many factors such as education, cultural background, family life, social habits and what the worker expects from employment.</a:t>
            </a:r>
          </a:p>
          <a:p>
            <a:pPr lvl="1"/>
            <a:r>
              <a:rPr lang="en-US" sz="1400" b="0" i="0" u="none" strike="noStrike" baseline="0" dirty="0"/>
              <a:t>Psychological and </a:t>
            </a:r>
            <a:r>
              <a:rPr lang="en-US" sz="1400" b="0" i="0" u="none" strike="noStrike" baseline="0" dirty="0" err="1"/>
              <a:t>behavioural</a:t>
            </a:r>
            <a:r>
              <a:rPr lang="en-US" sz="1400" b="0" i="0" u="none" strike="noStrike" baseline="0" dirty="0"/>
              <a:t> changes : including hostility, aggressiveness, anxiety, depression, tardiness, alcoholism, drug abuse, sickness, absenteeism;</a:t>
            </a:r>
          </a:p>
          <a:p>
            <a:pPr lvl="1"/>
            <a:r>
              <a:rPr lang="en-US" sz="1400" b="0" i="0" u="none" strike="noStrike" baseline="0" dirty="0"/>
              <a:t>Psychosomatic ill health : including fatigue, headache; pain in the shoulders, neck and back; propensity to peptic ulcer, hypertension, heart disease and rapid aging.</a:t>
            </a:r>
          </a:p>
          <a:p>
            <a:pPr algn="l">
              <a:spcBef>
                <a:spcPts val="500"/>
              </a:spcBef>
            </a:pPr>
            <a:r>
              <a:rPr lang="en-US" sz="1800" b="0" i="0" u="none" strike="noStrike" baseline="0" dirty="0"/>
              <a:t>Reports from various parts of the world indicate that physical factors (heat, noise, poor lighting) also play a major role in adding to or precipitating mental disorders among workers. </a:t>
            </a:r>
          </a:p>
          <a:p>
            <a:pPr algn="l">
              <a:spcBef>
                <a:spcPts val="500"/>
              </a:spcBef>
            </a:pPr>
            <a:r>
              <a:rPr lang="en-US" sz="1800" b="0" i="0" u="none" strike="noStrike" baseline="0" dirty="0"/>
              <a:t>The increasing stress on automation, electronic operations and nuclear energy may introduce newer psychosocial health problems in industry. </a:t>
            </a:r>
          </a:p>
          <a:p>
            <a:pPr algn="l">
              <a:spcBef>
                <a:spcPts val="500"/>
              </a:spcBef>
            </a:pPr>
            <a:r>
              <a:rPr lang="en-US" sz="1800" b="0" i="0" u="none" strike="noStrike" baseline="0" dirty="0"/>
              <a:t>Psychosocial hazards are therefore, assuming more importance than physical or chemical hazards</a:t>
            </a:r>
            <a:endParaRPr lang="en-US" sz="1800" dirty="0"/>
          </a:p>
        </p:txBody>
      </p:sp>
    </p:spTree>
    <p:extLst>
      <p:ext uri="{BB962C8B-B14F-4D97-AF65-F5344CB8AC3E}">
        <p14:creationId xmlns:p14="http://schemas.microsoft.com/office/powerpoint/2010/main" val="2926436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descr="Pies on a table">
            <a:extLst>
              <a:ext uri="{FF2B5EF4-FFF2-40B4-BE49-F238E27FC236}">
                <a16:creationId xmlns:a16="http://schemas.microsoft.com/office/drawing/2014/main" id="{4BC1A628-8E25-1C49-CA6A-9C52D698B6D7}"/>
              </a:ext>
            </a:extLst>
          </p:cNvPr>
          <p:cNvPicPr>
            <a:picLocks noChangeAspect="1"/>
          </p:cNvPicPr>
          <p:nvPr/>
        </p:nvPicPr>
        <p:blipFill rotWithShape="1">
          <a:blip r:embed="rId2"/>
          <a:srcRect t="15730"/>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3323345"/>
          </a:xfrm>
          <a:prstGeom prst="rect">
            <a:avLst/>
          </a:prstGeom>
          <a:gradFill flip="none" rotWithShape="1">
            <a:gsLst>
              <a:gs pos="57000">
                <a:schemeClr val="tx1">
                  <a:alpha val="3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AF7483-4232-B76D-0943-1D27DB104924}"/>
              </a:ext>
            </a:extLst>
          </p:cNvPr>
          <p:cNvSpPr>
            <a:spLocks noGrp="1"/>
          </p:cNvSpPr>
          <p:nvPr>
            <p:ph type="title"/>
          </p:nvPr>
        </p:nvSpPr>
        <p:spPr>
          <a:xfrm>
            <a:off x="321733" y="321733"/>
            <a:ext cx="11548532" cy="4229305"/>
          </a:xfrm>
        </p:spPr>
        <p:txBody>
          <a:bodyPr vert="horz" lIns="91440" tIns="45720" rIns="91440" bIns="45720" rtlCol="0" anchor="t">
            <a:normAutofit/>
          </a:bodyPr>
          <a:lstStyle/>
          <a:p>
            <a:r>
              <a:rPr lang="en-US" sz="11500">
                <a:solidFill>
                  <a:schemeClr val="bg1"/>
                </a:solidFill>
              </a:rPr>
              <a:t>Thanks</a:t>
            </a:r>
          </a:p>
        </p:txBody>
      </p:sp>
      <p:sp>
        <p:nvSpPr>
          <p:cNvPr id="12" name="Rectangle 11">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095" y="4702516"/>
            <a:ext cx="12191999" cy="2155484"/>
          </a:xfrm>
          <a:prstGeom prst="rect">
            <a:avLst/>
          </a:prstGeom>
          <a:gradFill flip="none" rotWithShape="1">
            <a:gsLst>
              <a:gs pos="59000">
                <a:schemeClr val="tx1">
                  <a:alpha val="30000"/>
                </a:schemeClr>
              </a:gs>
              <a:gs pos="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304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SketchyVTI">
  <a:themeElements>
    <a:clrScheme name="AnalogousFromDarkSeedLeftStep">
      <a:dk1>
        <a:srgbClr val="000000"/>
      </a:dk1>
      <a:lt1>
        <a:srgbClr val="FFFFFF"/>
      </a:lt1>
      <a:dk2>
        <a:srgbClr val="301B27"/>
      </a:dk2>
      <a:lt2>
        <a:srgbClr val="F0F3F3"/>
      </a:lt2>
      <a:accent1>
        <a:srgbClr val="C34D5F"/>
      </a:accent1>
      <a:accent2>
        <a:srgbClr val="B13B7F"/>
      </a:accent2>
      <a:accent3>
        <a:srgbClr val="C34DC2"/>
      </a:accent3>
      <a:accent4>
        <a:srgbClr val="813BB1"/>
      </a:accent4>
      <a:accent5>
        <a:srgbClr val="614DC3"/>
      </a:accent5>
      <a:accent6>
        <a:srgbClr val="3B57B1"/>
      </a:accent6>
      <a:hlink>
        <a:srgbClr val="7C55C6"/>
      </a:hlink>
      <a:folHlink>
        <a:srgbClr val="7F7F7F"/>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otalTime>141</TotalTime>
  <Words>1702</Words>
  <Application>Microsoft Office PowerPoint</Application>
  <PresentationFormat>Widescreen</PresentationFormat>
  <Paragraphs>120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Times New Roman</vt:lpstr>
      <vt:lpstr>Wingdings</vt:lpstr>
      <vt:lpstr>SketchyVTI</vt:lpstr>
      <vt:lpstr>Occupational health</vt:lpstr>
      <vt:lpstr>Definition</vt:lpstr>
      <vt:lpstr>Ergonomics</vt:lpstr>
      <vt:lpstr>Occupational environment</vt:lpstr>
      <vt:lpstr>Physical, chemical and biological agents</vt:lpstr>
      <vt:lpstr>Machine</vt:lpstr>
      <vt:lpstr>Human</vt:lpstr>
      <vt:lpstr>Occupational Hazard</vt:lpstr>
      <vt:lpstr>Physical Hazard – Heat &amp; Cold</vt:lpstr>
      <vt:lpstr>PowerPoint Presentation</vt:lpstr>
      <vt:lpstr>Radiation</vt:lpstr>
      <vt:lpstr>Chemical</vt:lpstr>
      <vt:lpstr>PowerPoint Presentation</vt:lpstr>
      <vt:lpstr>Biological Hazard</vt:lpstr>
      <vt:lpstr>Mechanical Hazard</vt:lpstr>
      <vt:lpstr>Psychological hazard</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Occupational health</dc:title>
  <dc:creator>mukul maheshwari</dc:creator>
  <cp:lastModifiedBy>mukul maheshwari</cp:lastModifiedBy>
  <cp:revision>2</cp:revision>
  <dcterms:created xsi:type="dcterms:W3CDTF">2023-08-21T19:05:32Z</dcterms:created>
  <dcterms:modified xsi:type="dcterms:W3CDTF">2023-08-22T07:58:03Z</dcterms:modified>
</cp:coreProperties>
</file>