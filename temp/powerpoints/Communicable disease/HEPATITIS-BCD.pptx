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7" r:id="rId2"/>
    <p:sldId id="278" r:id="rId3"/>
    <p:sldId id="279"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 id="308" r:id="rId33"/>
    <p:sldId id="309" r:id="rId34"/>
    <p:sldId id="311" r:id="rId35"/>
    <p:sldId id="310" r:id="rId36"/>
    <p:sldId id="312" r:id="rId37"/>
    <p:sldId id="313" r:id="rId38"/>
    <p:sldId id="314" r:id="rId39"/>
    <p:sldId id="315" r:id="rId40"/>
    <p:sldId id="317" r:id="rId41"/>
    <p:sldId id="318" r:id="rId42"/>
    <p:sldId id="319"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 id="334" r:id="rId58"/>
    <p:sldId id="335" r:id="rId59"/>
    <p:sldId id="336" r:id="rId60"/>
    <p:sldId id="337" r:id="rId61"/>
    <p:sldId id="339" r:id="rId62"/>
    <p:sldId id="340" r:id="rId63"/>
    <p:sldId id="341" r:id="rId64"/>
    <p:sldId id="342" r:id="rId65"/>
    <p:sldId id="343" r:id="rId66"/>
    <p:sldId id="344" r:id="rId67"/>
    <p:sldId id="338" r:id="rId68"/>
    <p:sldId id="345" r:id="rId69"/>
    <p:sldId id="346" r:id="rId70"/>
    <p:sldId id="347" r:id="rId71"/>
    <p:sldId id="348" r:id="rId72"/>
    <p:sldId id="349" r:id="rId73"/>
    <p:sldId id="350" r:id="rId74"/>
    <p:sldId id="351" r:id="rId75"/>
    <p:sldId id="352" r:id="rId76"/>
    <p:sldId id="353" r:id="rId77"/>
    <p:sldId id="316"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428FCD-9FCA-4C85-821E-844C06AD840D}" v="2" dt="2024-11-06T16:27:21.7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viatwork@gmail.com" userId="951164a6f91b2256" providerId="LiveId" clId="{CA428FCD-9FCA-4C85-821E-844C06AD840D}"/>
    <pc:docChg chg="undo custSel addSld delSld modSld">
      <pc:chgData name="manviatwork@gmail.com" userId="951164a6f91b2256" providerId="LiveId" clId="{CA428FCD-9FCA-4C85-821E-844C06AD840D}" dt="2024-11-06T16:27:59.187" v="2079" actId="2696"/>
      <pc:docMkLst>
        <pc:docMk/>
      </pc:docMkLst>
      <pc:sldChg chg="delSp modSp new mod">
        <pc:chgData name="manviatwork@gmail.com" userId="951164a6f91b2256" providerId="LiveId" clId="{CA428FCD-9FCA-4C85-821E-844C06AD840D}" dt="2024-11-06T13:51:11.088" v="13" actId="21"/>
        <pc:sldMkLst>
          <pc:docMk/>
          <pc:sldMk cId="477103078" sldId="317"/>
        </pc:sldMkLst>
        <pc:spChg chg="mod">
          <ac:chgData name="manviatwork@gmail.com" userId="951164a6f91b2256" providerId="LiveId" clId="{CA428FCD-9FCA-4C85-821E-844C06AD840D}" dt="2024-11-06T13:51:04.999" v="12" actId="122"/>
          <ac:spMkLst>
            <pc:docMk/>
            <pc:sldMk cId="477103078" sldId="317"/>
            <ac:spMk id="2" creationId="{DF9010CB-E1D4-45CE-65B2-CA1D47066999}"/>
          </ac:spMkLst>
        </pc:spChg>
        <pc:spChg chg="del">
          <ac:chgData name="manviatwork@gmail.com" userId="951164a6f91b2256" providerId="LiveId" clId="{CA428FCD-9FCA-4C85-821E-844C06AD840D}" dt="2024-11-06T13:51:11.088" v="13" actId="21"/>
          <ac:spMkLst>
            <pc:docMk/>
            <pc:sldMk cId="477103078" sldId="317"/>
            <ac:spMk id="3" creationId="{5B0C430B-BEE4-001F-ADC2-AA9D924241A1}"/>
          </ac:spMkLst>
        </pc:spChg>
      </pc:sldChg>
      <pc:sldChg chg="delSp modSp new mod">
        <pc:chgData name="manviatwork@gmail.com" userId="951164a6f91b2256" providerId="LiveId" clId="{CA428FCD-9FCA-4C85-821E-844C06AD840D}" dt="2024-11-06T13:54:52.699" v="71" actId="20577"/>
        <pc:sldMkLst>
          <pc:docMk/>
          <pc:sldMk cId="1036880459" sldId="318"/>
        </pc:sldMkLst>
        <pc:spChg chg="del">
          <ac:chgData name="manviatwork@gmail.com" userId="951164a6f91b2256" providerId="LiveId" clId="{CA428FCD-9FCA-4C85-821E-844C06AD840D}" dt="2024-11-06T13:53:57.928" v="63" actId="21"/>
          <ac:spMkLst>
            <pc:docMk/>
            <pc:sldMk cId="1036880459" sldId="318"/>
            <ac:spMk id="2" creationId="{E376CE55-DE52-5139-03A5-ABC1FDA6A8F7}"/>
          </ac:spMkLst>
        </pc:spChg>
        <pc:spChg chg="mod">
          <ac:chgData name="manviatwork@gmail.com" userId="951164a6f91b2256" providerId="LiveId" clId="{CA428FCD-9FCA-4C85-821E-844C06AD840D}" dt="2024-11-06T13:54:52.699" v="71" actId="20577"/>
          <ac:spMkLst>
            <pc:docMk/>
            <pc:sldMk cId="1036880459" sldId="318"/>
            <ac:spMk id="3" creationId="{377AB6DB-0C4B-F44D-71A7-E2B55D62C320}"/>
          </ac:spMkLst>
        </pc:spChg>
      </pc:sldChg>
      <pc:sldChg chg="modSp new mod">
        <pc:chgData name="manviatwork@gmail.com" userId="951164a6f91b2256" providerId="LiveId" clId="{CA428FCD-9FCA-4C85-821E-844C06AD840D}" dt="2024-11-06T13:56:55.608" v="110" actId="2711"/>
        <pc:sldMkLst>
          <pc:docMk/>
          <pc:sldMk cId="4196907680" sldId="319"/>
        </pc:sldMkLst>
        <pc:spChg chg="mod">
          <ac:chgData name="manviatwork@gmail.com" userId="951164a6f91b2256" providerId="LiveId" clId="{CA428FCD-9FCA-4C85-821E-844C06AD840D}" dt="2024-11-06T13:55:11.781" v="84" actId="20577"/>
          <ac:spMkLst>
            <pc:docMk/>
            <pc:sldMk cId="4196907680" sldId="319"/>
            <ac:spMk id="2" creationId="{8F89D2A4-37B7-3DCB-038E-D0F4F2A5B6C9}"/>
          </ac:spMkLst>
        </pc:spChg>
        <pc:spChg chg="mod">
          <ac:chgData name="manviatwork@gmail.com" userId="951164a6f91b2256" providerId="LiveId" clId="{CA428FCD-9FCA-4C85-821E-844C06AD840D}" dt="2024-11-06T13:56:55.608" v="110" actId="2711"/>
          <ac:spMkLst>
            <pc:docMk/>
            <pc:sldMk cId="4196907680" sldId="319"/>
            <ac:spMk id="3" creationId="{BEF3C2ED-B0F5-F44D-B387-F0D45F6C54E7}"/>
          </ac:spMkLst>
        </pc:spChg>
      </pc:sldChg>
      <pc:sldChg chg="modSp new del mod">
        <pc:chgData name="manviatwork@gmail.com" userId="951164a6f91b2256" providerId="LiveId" clId="{CA428FCD-9FCA-4C85-821E-844C06AD840D}" dt="2024-11-06T13:57:36.865" v="116" actId="680"/>
        <pc:sldMkLst>
          <pc:docMk/>
          <pc:sldMk cId="148329265" sldId="320"/>
        </pc:sldMkLst>
        <pc:spChg chg="mod">
          <ac:chgData name="manviatwork@gmail.com" userId="951164a6f91b2256" providerId="LiveId" clId="{CA428FCD-9FCA-4C85-821E-844C06AD840D}" dt="2024-11-06T13:57:36.300" v="115"/>
          <ac:spMkLst>
            <pc:docMk/>
            <pc:sldMk cId="148329265" sldId="320"/>
            <ac:spMk id="2" creationId="{AA38DFCF-E647-3B9A-BA58-C40F77C9E001}"/>
          </ac:spMkLst>
        </pc:spChg>
      </pc:sldChg>
      <pc:sldChg chg="modSp new mod">
        <pc:chgData name="manviatwork@gmail.com" userId="951164a6f91b2256" providerId="LiveId" clId="{CA428FCD-9FCA-4C85-821E-844C06AD840D}" dt="2024-11-06T13:58:54.082" v="147" actId="255"/>
        <pc:sldMkLst>
          <pc:docMk/>
          <pc:sldMk cId="4070664214" sldId="320"/>
        </pc:sldMkLst>
        <pc:spChg chg="mod">
          <ac:chgData name="manviatwork@gmail.com" userId="951164a6f91b2256" providerId="LiveId" clId="{CA428FCD-9FCA-4C85-821E-844C06AD840D}" dt="2024-11-06T13:57:50.860" v="134" actId="20577"/>
          <ac:spMkLst>
            <pc:docMk/>
            <pc:sldMk cId="4070664214" sldId="320"/>
            <ac:spMk id="2" creationId="{9349E416-3950-9770-D513-E43C574ABC4B}"/>
          </ac:spMkLst>
        </pc:spChg>
        <pc:spChg chg="mod">
          <ac:chgData name="manviatwork@gmail.com" userId="951164a6f91b2256" providerId="LiveId" clId="{CA428FCD-9FCA-4C85-821E-844C06AD840D}" dt="2024-11-06T13:58:54.082" v="147" actId="255"/>
          <ac:spMkLst>
            <pc:docMk/>
            <pc:sldMk cId="4070664214" sldId="320"/>
            <ac:spMk id="3" creationId="{A8245211-4915-2D75-33B5-B40186905719}"/>
          </ac:spMkLst>
        </pc:spChg>
      </pc:sldChg>
      <pc:sldChg chg="modSp new mod">
        <pc:chgData name="manviatwork@gmail.com" userId="951164a6f91b2256" providerId="LiveId" clId="{CA428FCD-9FCA-4C85-821E-844C06AD840D}" dt="2024-11-06T14:01:24.213" v="187" actId="1076"/>
        <pc:sldMkLst>
          <pc:docMk/>
          <pc:sldMk cId="1639348594" sldId="321"/>
        </pc:sldMkLst>
        <pc:spChg chg="mod">
          <ac:chgData name="manviatwork@gmail.com" userId="951164a6f91b2256" providerId="LiveId" clId="{CA428FCD-9FCA-4C85-821E-844C06AD840D}" dt="2024-11-06T14:00:06.700" v="156" actId="20577"/>
          <ac:spMkLst>
            <pc:docMk/>
            <pc:sldMk cId="1639348594" sldId="321"/>
            <ac:spMk id="2" creationId="{D31271E9-F8E4-4017-0B25-846270787830}"/>
          </ac:spMkLst>
        </pc:spChg>
        <pc:spChg chg="mod">
          <ac:chgData name="manviatwork@gmail.com" userId="951164a6f91b2256" providerId="LiveId" clId="{CA428FCD-9FCA-4C85-821E-844C06AD840D}" dt="2024-11-06T14:01:24.213" v="187" actId="1076"/>
          <ac:spMkLst>
            <pc:docMk/>
            <pc:sldMk cId="1639348594" sldId="321"/>
            <ac:spMk id="3" creationId="{D668364D-779A-F3E4-4A51-1FA5B727692D}"/>
          </ac:spMkLst>
        </pc:spChg>
      </pc:sldChg>
      <pc:sldChg chg="delSp modSp new mod">
        <pc:chgData name="manviatwork@gmail.com" userId="951164a6f91b2256" providerId="LiveId" clId="{CA428FCD-9FCA-4C85-821E-844C06AD840D}" dt="2024-11-06T14:04:11.042" v="219" actId="1076"/>
        <pc:sldMkLst>
          <pc:docMk/>
          <pc:sldMk cId="4181368482" sldId="322"/>
        </pc:sldMkLst>
        <pc:spChg chg="del">
          <ac:chgData name="manviatwork@gmail.com" userId="951164a6f91b2256" providerId="LiveId" clId="{CA428FCD-9FCA-4C85-821E-844C06AD840D}" dt="2024-11-06T14:04:05.337" v="218" actId="21"/>
          <ac:spMkLst>
            <pc:docMk/>
            <pc:sldMk cId="4181368482" sldId="322"/>
            <ac:spMk id="2" creationId="{A1BCDA97-118C-5D8F-666A-409C409A3AD0}"/>
          </ac:spMkLst>
        </pc:spChg>
        <pc:spChg chg="mod">
          <ac:chgData name="manviatwork@gmail.com" userId="951164a6f91b2256" providerId="LiveId" clId="{CA428FCD-9FCA-4C85-821E-844C06AD840D}" dt="2024-11-06T14:04:11.042" v="219" actId="1076"/>
          <ac:spMkLst>
            <pc:docMk/>
            <pc:sldMk cId="4181368482" sldId="322"/>
            <ac:spMk id="3" creationId="{AE5EF035-A0FB-86E7-C4FD-A798431A6745}"/>
          </ac:spMkLst>
        </pc:spChg>
      </pc:sldChg>
      <pc:sldChg chg="modSp new mod">
        <pc:chgData name="manviatwork@gmail.com" userId="951164a6f91b2256" providerId="LiveId" clId="{CA428FCD-9FCA-4C85-821E-844C06AD840D}" dt="2024-11-06T14:11:57.187" v="250" actId="20577"/>
        <pc:sldMkLst>
          <pc:docMk/>
          <pc:sldMk cId="1611656807" sldId="323"/>
        </pc:sldMkLst>
        <pc:spChg chg="mod">
          <ac:chgData name="manviatwork@gmail.com" userId="951164a6f91b2256" providerId="LiveId" clId="{CA428FCD-9FCA-4C85-821E-844C06AD840D}" dt="2024-11-06T14:11:47.220" v="249" actId="20577"/>
          <ac:spMkLst>
            <pc:docMk/>
            <pc:sldMk cId="1611656807" sldId="323"/>
            <ac:spMk id="2" creationId="{D42BCE40-C4AF-7DBA-C0A5-09E5691B6026}"/>
          </ac:spMkLst>
        </pc:spChg>
        <pc:spChg chg="mod">
          <ac:chgData name="manviatwork@gmail.com" userId="951164a6f91b2256" providerId="LiveId" clId="{CA428FCD-9FCA-4C85-821E-844C06AD840D}" dt="2024-11-06T14:11:57.187" v="250" actId="20577"/>
          <ac:spMkLst>
            <pc:docMk/>
            <pc:sldMk cId="1611656807" sldId="323"/>
            <ac:spMk id="3" creationId="{820CD988-C4E8-B43A-F45D-E1209B17A1C3}"/>
          </ac:spMkLst>
        </pc:spChg>
      </pc:sldChg>
      <pc:sldChg chg="modSp new mod">
        <pc:chgData name="manviatwork@gmail.com" userId="951164a6f91b2256" providerId="LiveId" clId="{CA428FCD-9FCA-4C85-821E-844C06AD840D}" dt="2024-11-06T14:21:13.165" v="280" actId="1076"/>
        <pc:sldMkLst>
          <pc:docMk/>
          <pc:sldMk cId="822062183" sldId="324"/>
        </pc:sldMkLst>
        <pc:spChg chg="mod">
          <ac:chgData name="manviatwork@gmail.com" userId="951164a6f91b2256" providerId="LiveId" clId="{CA428FCD-9FCA-4C85-821E-844C06AD840D}" dt="2024-11-06T14:21:13.165" v="280" actId="1076"/>
          <ac:spMkLst>
            <pc:docMk/>
            <pc:sldMk cId="822062183" sldId="324"/>
            <ac:spMk id="2" creationId="{A6EABA46-EACB-B9BC-DE64-D85748A7B1F4}"/>
          </ac:spMkLst>
        </pc:spChg>
        <pc:spChg chg="mod">
          <ac:chgData name="manviatwork@gmail.com" userId="951164a6f91b2256" providerId="LiveId" clId="{CA428FCD-9FCA-4C85-821E-844C06AD840D}" dt="2024-11-06T14:20:54.226" v="270" actId="2711"/>
          <ac:spMkLst>
            <pc:docMk/>
            <pc:sldMk cId="822062183" sldId="324"/>
            <ac:spMk id="3" creationId="{7461B9B6-64F9-8295-1C12-325FC62DDE55}"/>
          </ac:spMkLst>
        </pc:spChg>
      </pc:sldChg>
      <pc:sldChg chg="modSp new mod">
        <pc:chgData name="manviatwork@gmail.com" userId="951164a6f91b2256" providerId="LiveId" clId="{CA428FCD-9FCA-4C85-821E-844C06AD840D}" dt="2024-11-06T14:24:48.279" v="318" actId="1076"/>
        <pc:sldMkLst>
          <pc:docMk/>
          <pc:sldMk cId="1216136207" sldId="325"/>
        </pc:sldMkLst>
        <pc:spChg chg="mod">
          <ac:chgData name="manviatwork@gmail.com" userId="951164a6f91b2256" providerId="LiveId" clId="{CA428FCD-9FCA-4C85-821E-844C06AD840D}" dt="2024-11-06T14:24:42.348" v="317" actId="20577"/>
          <ac:spMkLst>
            <pc:docMk/>
            <pc:sldMk cId="1216136207" sldId="325"/>
            <ac:spMk id="2" creationId="{FAFA84FB-57A2-3E3B-2283-E4004C1AB8B3}"/>
          </ac:spMkLst>
        </pc:spChg>
        <pc:spChg chg="mod">
          <ac:chgData name="manviatwork@gmail.com" userId="951164a6f91b2256" providerId="LiveId" clId="{CA428FCD-9FCA-4C85-821E-844C06AD840D}" dt="2024-11-06T14:24:48.279" v="318" actId="1076"/>
          <ac:spMkLst>
            <pc:docMk/>
            <pc:sldMk cId="1216136207" sldId="325"/>
            <ac:spMk id="3" creationId="{5615DF03-6102-D117-F83E-FB3E55B45051}"/>
          </ac:spMkLst>
        </pc:spChg>
      </pc:sldChg>
      <pc:sldChg chg="delSp modSp new mod">
        <pc:chgData name="manviatwork@gmail.com" userId="951164a6f91b2256" providerId="LiveId" clId="{CA428FCD-9FCA-4C85-821E-844C06AD840D}" dt="2024-11-06T14:26:55.477" v="332" actId="21"/>
        <pc:sldMkLst>
          <pc:docMk/>
          <pc:sldMk cId="771659660" sldId="326"/>
        </pc:sldMkLst>
        <pc:spChg chg="mod">
          <ac:chgData name="manviatwork@gmail.com" userId="951164a6f91b2256" providerId="LiveId" clId="{CA428FCD-9FCA-4C85-821E-844C06AD840D}" dt="2024-11-06T14:26:37.101" v="331" actId="20577"/>
          <ac:spMkLst>
            <pc:docMk/>
            <pc:sldMk cId="771659660" sldId="326"/>
            <ac:spMk id="2" creationId="{13D69C37-ABFB-CFE1-6A24-CF6BAF4A3B85}"/>
          </ac:spMkLst>
        </pc:spChg>
        <pc:spChg chg="del">
          <ac:chgData name="manviatwork@gmail.com" userId="951164a6f91b2256" providerId="LiveId" clId="{CA428FCD-9FCA-4C85-821E-844C06AD840D}" dt="2024-11-06T14:26:55.477" v="332" actId="21"/>
          <ac:spMkLst>
            <pc:docMk/>
            <pc:sldMk cId="771659660" sldId="326"/>
            <ac:spMk id="3" creationId="{D73FD52E-70EA-3CA3-DFB4-6133535FA82D}"/>
          </ac:spMkLst>
        </pc:spChg>
      </pc:sldChg>
      <pc:sldChg chg="delSp modSp new mod">
        <pc:chgData name="manviatwork@gmail.com" userId="951164a6f91b2256" providerId="LiveId" clId="{CA428FCD-9FCA-4C85-821E-844C06AD840D}" dt="2024-11-06T16:22:02.229" v="2039" actId="2711"/>
        <pc:sldMkLst>
          <pc:docMk/>
          <pc:sldMk cId="2360483557" sldId="327"/>
        </pc:sldMkLst>
        <pc:spChg chg="del">
          <ac:chgData name="manviatwork@gmail.com" userId="951164a6f91b2256" providerId="LiveId" clId="{CA428FCD-9FCA-4C85-821E-844C06AD840D}" dt="2024-11-06T14:31:04.181" v="347" actId="21"/>
          <ac:spMkLst>
            <pc:docMk/>
            <pc:sldMk cId="2360483557" sldId="327"/>
            <ac:spMk id="2" creationId="{6772E93D-0A59-B799-FF62-E087B4ABE75D}"/>
          </ac:spMkLst>
        </pc:spChg>
        <pc:spChg chg="mod">
          <ac:chgData name="manviatwork@gmail.com" userId="951164a6f91b2256" providerId="LiveId" clId="{CA428FCD-9FCA-4C85-821E-844C06AD840D}" dt="2024-11-06T16:22:02.229" v="2039" actId="2711"/>
          <ac:spMkLst>
            <pc:docMk/>
            <pc:sldMk cId="2360483557" sldId="327"/>
            <ac:spMk id="3" creationId="{9E7875A2-B187-DA57-F225-59B2A817874D}"/>
          </ac:spMkLst>
        </pc:spChg>
      </pc:sldChg>
      <pc:sldChg chg="delSp modSp new mod">
        <pc:chgData name="manviatwork@gmail.com" userId="951164a6f91b2256" providerId="LiveId" clId="{CA428FCD-9FCA-4C85-821E-844C06AD840D}" dt="2024-11-06T14:32:12.866" v="375" actId="21"/>
        <pc:sldMkLst>
          <pc:docMk/>
          <pc:sldMk cId="1591251432" sldId="328"/>
        </pc:sldMkLst>
        <pc:spChg chg="mod">
          <ac:chgData name="manviatwork@gmail.com" userId="951164a6f91b2256" providerId="LiveId" clId="{CA428FCD-9FCA-4C85-821E-844C06AD840D}" dt="2024-11-06T14:32:03.609" v="374" actId="20577"/>
          <ac:spMkLst>
            <pc:docMk/>
            <pc:sldMk cId="1591251432" sldId="328"/>
            <ac:spMk id="2" creationId="{32CF687C-43A3-15F6-A86F-AD52B4A061B4}"/>
          </ac:spMkLst>
        </pc:spChg>
        <pc:spChg chg="del">
          <ac:chgData name="manviatwork@gmail.com" userId="951164a6f91b2256" providerId="LiveId" clId="{CA428FCD-9FCA-4C85-821E-844C06AD840D}" dt="2024-11-06T14:32:12.866" v="375" actId="21"/>
          <ac:spMkLst>
            <pc:docMk/>
            <pc:sldMk cId="1591251432" sldId="328"/>
            <ac:spMk id="3" creationId="{D3F1A605-E6FF-2CB9-7763-2C0FA98E4062}"/>
          </ac:spMkLst>
        </pc:spChg>
      </pc:sldChg>
      <pc:sldChg chg="modSp new mod">
        <pc:chgData name="manviatwork@gmail.com" userId="951164a6f91b2256" providerId="LiveId" clId="{CA428FCD-9FCA-4C85-821E-844C06AD840D}" dt="2024-11-06T14:36:35.225" v="421" actId="2711"/>
        <pc:sldMkLst>
          <pc:docMk/>
          <pc:sldMk cId="350874119" sldId="329"/>
        </pc:sldMkLst>
        <pc:spChg chg="mod">
          <ac:chgData name="manviatwork@gmail.com" userId="951164a6f91b2256" providerId="LiveId" clId="{CA428FCD-9FCA-4C85-821E-844C06AD840D}" dt="2024-11-06T14:33:10.572" v="379" actId="255"/>
          <ac:spMkLst>
            <pc:docMk/>
            <pc:sldMk cId="350874119" sldId="329"/>
            <ac:spMk id="2" creationId="{567D7A05-30A2-0CF0-1045-DAF66F19211E}"/>
          </ac:spMkLst>
        </pc:spChg>
        <pc:spChg chg="mod">
          <ac:chgData name="manviatwork@gmail.com" userId="951164a6f91b2256" providerId="LiveId" clId="{CA428FCD-9FCA-4C85-821E-844C06AD840D}" dt="2024-11-06T14:36:35.225" v="421" actId="2711"/>
          <ac:spMkLst>
            <pc:docMk/>
            <pc:sldMk cId="350874119" sldId="329"/>
            <ac:spMk id="3" creationId="{E707C356-41D7-18F0-D78A-828C2AAE8E39}"/>
          </ac:spMkLst>
        </pc:spChg>
      </pc:sldChg>
      <pc:sldChg chg="delSp modSp new mod">
        <pc:chgData name="manviatwork@gmail.com" userId="951164a6f91b2256" providerId="LiveId" clId="{CA428FCD-9FCA-4C85-821E-844C06AD840D}" dt="2024-11-06T14:38:18.423" v="454" actId="1076"/>
        <pc:sldMkLst>
          <pc:docMk/>
          <pc:sldMk cId="2707369290" sldId="330"/>
        </pc:sldMkLst>
        <pc:spChg chg="del">
          <ac:chgData name="manviatwork@gmail.com" userId="951164a6f91b2256" providerId="LiveId" clId="{CA428FCD-9FCA-4C85-821E-844C06AD840D}" dt="2024-11-06T14:36:48.056" v="423" actId="21"/>
          <ac:spMkLst>
            <pc:docMk/>
            <pc:sldMk cId="2707369290" sldId="330"/>
            <ac:spMk id="2" creationId="{E39245DE-596C-2453-6C17-512E5ACB350E}"/>
          </ac:spMkLst>
        </pc:spChg>
        <pc:spChg chg="mod">
          <ac:chgData name="manviatwork@gmail.com" userId="951164a6f91b2256" providerId="LiveId" clId="{CA428FCD-9FCA-4C85-821E-844C06AD840D}" dt="2024-11-06T14:38:18.423" v="454" actId="1076"/>
          <ac:spMkLst>
            <pc:docMk/>
            <pc:sldMk cId="2707369290" sldId="330"/>
            <ac:spMk id="3" creationId="{14F799F3-9524-AB4C-5126-89DE061E593D}"/>
          </ac:spMkLst>
        </pc:spChg>
      </pc:sldChg>
      <pc:sldChg chg="delSp modSp new mod">
        <pc:chgData name="manviatwork@gmail.com" userId="951164a6f91b2256" providerId="LiveId" clId="{CA428FCD-9FCA-4C85-821E-844C06AD840D}" dt="2024-11-06T14:42:06.559" v="475" actId="1076"/>
        <pc:sldMkLst>
          <pc:docMk/>
          <pc:sldMk cId="187826096" sldId="331"/>
        </pc:sldMkLst>
        <pc:spChg chg="del">
          <ac:chgData name="manviatwork@gmail.com" userId="951164a6f91b2256" providerId="LiveId" clId="{CA428FCD-9FCA-4C85-821E-844C06AD840D}" dt="2024-11-06T14:42:02.667" v="474" actId="21"/>
          <ac:spMkLst>
            <pc:docMk/>
            <pc:sldMk cId="187826096" sldId="331"/>
            <ac:spMk id="2" creationId="{683B304E-6D7A-56F2-F000-DD2A8EDFE86F}"/>
          </ac:spMkLst>
        </pc:spChg>
        <pc:spChg chg="mod">
          <ac:chgData name="manviatwork@gmail.com" userId="951164a6f91b2256" providerId="LiveId" clId="{CA428FCD-9FCA-4C85-821E-844C06AD840D}" dt="2024-11-06T14:42:06.559" v="475" actId="1076"/>
          <ac:spMkLst>
            <pc:docMk/>
            <pc:sldMk cId="187826096" sldId="331"/>
            <ac:spMk id="3" creationId="{72D9ACDE-586B-5E4F-C5EB-11814CE1C2AB}"/>
          </ac:spMkLst>
        </pc:spChg>
      </pc:sldChg>
      <pc:sldChg chg="delSp modSp new mod">
        <pc:chgData name="manviatwork@gmail.com" userId="951164a6f91b2256" providerId="LiveId" clId="{CA428FCD-9FCA-4C85-821E-844C06AD840D}" dt="2024-11-06T15:01:10.724" v="613" actId="1076"/>
        <pc:sldMkLst>
          <pc:docMk/>
          <pc:sldMk cId="4256177052" sldId="332"/>
        </pc:sldMkLst>
        <pc:spChg chg="del">
          <ac:chgData name="manviatwork@gmail.com" userId="951164a6f91b2256" providerId="LiveId" clId="{CA428FCD-9FCA-4C85-821E-844C06AD840D}" dt="2024-11-06T14:42:53.469" v="479" actId="21"/>
          <ac:spMkLst>
            <pc:docMk/>
            <pc:sldMk cId="4256177052" sldId="332"/>
            <ac:spMk id="2" creationId="{80DEAE9C-FCE6-F559-4784-E492BCAEDD59}"/>
          </ac:spMkLst>
        </pc:spChg>
        <pc:spChg chg="mod">
          <ac:chgData name="manviatwork@gmail.com" userId="951164a6f91b2256" providerId="LiveId" clId="{CA428FCD-9FCA-4C85-821E-844C06AD840D}" dt="2024-11-06T15:01:10.724" v="613" actId="1076"/>
          <ac:spMkLst>
            <pc:docMk/>
            <pc:sldMk cId="4256177052" sldId="332"/>
            <ac:spMk id="3" creationId="{71FAD71D-C278-2B4B-81D1-FECC9FA22851}"/>
          </ac:spMkLst>
        </pc:spChg>
      </pc:sldChg>
      <pc:sldChg chg="delSp modSp new mod">
        <pc:chgData name="manviatwork@gmail.com" userId="951164a6f91b2256" providerId="LiveId" clId="{CA428FCD-9FCA-4C85-821E-844C06AD840D}" dt="2024-11-06T15:03:38.225" v="625" actId="255"/>
        <pc:sldMkLst>
          <pc:docMk/>
          <pc:sldMk cId="944742660" sldId="333"/>
        </pc:sldMkLst>
        <pc:spChg chg="del">
          <ac:chgData name="manviatwork@gmail.com" userId="951164a6f91b2256" providerId="LiveId" clId="{CA428FCD-9FCA-4C85-821E-844C06AD840D}" dt="2024-11-06T15:03:08.417" v="623" actId="21"/>
          <ac:spMkLst>
            <pc:docMk/>
            <pc:sldMk cId="944742660" sldId="333"/>
            <ac:spMk id="2" creationId="{D2ADDBE8-48D6-9635-4D2C-8FE97A9D8A54}"/>
          </ac:spMkLst>
        </pc:spChg>
        <pc:spChg chg="mod">
          <ac:chgData name="manviatwork@gmail.com" userId="951164a6f91b2256" providerId="LiveId" clId="{CA428FCD-9FCA-4C85-821E-844C06AD840D}" dt="2024-11-06T15:03:38.225" v="625" actId="255"/>
          <ac:spMkLst>
            <pc:docMk/>
            <pc:sldMk cId="944742660" sldId="333"/>
            <ac:spMk id="3" creationId="{B84B8A23-EE23-864E-13CD-3F35A7BE42DB}"/>
          </ac:spMkLst>
        </pc:spChg>
      </pc:sldChg>
      <pc:sldChg chg="delSp modSp new mod">
        <pc:chgData name="manviatwork@gmail.com" userId="951164a6f91b2256" providerId="LiveId" clId="{CA428FCD-9FCA-4C85-821E-844C06AD840D}" dt="2024-11-06T16:22:17.553" v="2040" actId="21"/>
        <pc:sldMkLst>
          <pc:docMk/>
          <pc:sldMk cId="1457990854" sldId="334"/>
        </pc:sldMkLst>
        <pc:spChg chg="del">
          <ac:chgData name="manviatwork@gmail.com" userId="951164a6f91b2256" providerId="LiveId" clId="{CA428FCD-9FCA-4C85-821E-844C06AD840D}" dt="2024-11-06T16:22:17.553" v="2040" actId="21"/>
          <ac:spMkLst>
            <pc:docMk/>
            <pc:sldMk cId="1457990854" sldId="334"/>
            <ac:spMk id="2" creationId="{5768CF7A-9CF1-1995-5E55-413F7DF88757}"/>
          </ac:spMkLst>
        </pc:spChg>
        <pc:spChg chg="mod">
          <ac:chgData name="manviatwork@gmail.com" userId="951164a6f91b2256" providerId="LiveId" clId="{CA428FCD-9FCA-4C85-821E-844C06AD840D}" dt="2024-11-06T15:05:39.798" v="655" actId="255"/>
          <ac:spMkLst>
            <pc:docMk/>
            <pc:sldMk cId="1457990854" sldId="334"/>
            <ac:spMk id="3" creationId="{A8175028-7D95-4E34-BEE4-7FD458E95AC3}"/>
          </ac:spMkLst>
        </pc:spChg>
      </pc:sldChg>
      <pc:sldChg chg="modSp new mod">
        <pc:chgData name="manviatwork@gmail.com" userId="951164a6f91b2256" providerId="LiveId" clId="{CA428FCD-9FCA-4C85-821E-844C06AD840D}" dt="2024-11-06T15:11:22.288" v="690" actId="255"/>
        <pc:sldMkLst>
          <pc:docMk/>
          <pc:sldMk cId="1178951304" sldId="335"/>
        </pc:sldMkLst>
        <pc:spChg chg="mod">
          <ac:chgData name="manviatwork@gmail.com" userId="951164a6f91b2256" providerId="LiveId" clId="{CA428FCD-9FCA-4C85-821E-844C06AD840D}" dt="2024-11-06T15:11:10.578" v="689" actId="2711"/>
          <ac:spMkLst>
            <pc:docMk/>
            <pc:sldMk cId="1178951304" sldId="335"/>
            <ac:spMk id="2" creationId="{B3A3EBFB-216F-326E-B9C0-A7F85E74F041}"/>
          </ac:spMkLst>
        </pc:spChg>
        <pc:spChg chg="mod">
          <ac:chgData name="manviatwork@gmail.com" userId="951164a6f91b2256" providerId="LiveId" clId="{CA428FCD-9FCA-4C85-821E-844C06AD840D}" dt="2024-11-06T15:11:22.288" v="690" actId="255"/>
          <ac:spMkLst>
            <pc:docMk/>
            <pc:sldMk cId="1178951304" sldId="335"/>
            <ac:spMk id="3" creationId="{3FBA33A4-42DF-0B3E-55D0-EE7772F643D2}"/>
          </ac:spMkLst>
        </pc:spChg>
      </pc:sldChg>
      <pc:sldChg chg="delSp modSp new mod">
        <pc:chgData name="manviatwork@gmail.com" userId="951164a6f91b2256" providerId="LiveId" clId="{CA428FCD-9FCA-4C85-821E-844C06AD840D}" dt="2024-11-06T15:12:21.665" v="700" actId="27636"/>
        <pc:sldMkLst>
          <pc:docMk/>
          <pc:sldMk cId="754621397" sldId="336"/>
        </pc:sldMkLst>
        <pc:spChg chg="del">
          <ac:chgData name="manviatwork@gmail.com" userId="951164a6f91b2256" providerId="LiveId" clId="{CA428FCD-9FCA-4C85-821E-844C06AD840D}" dt="2024-11-06T15:12:17.597" v="698" actId="21"/>
          <ac:spMkLst>
            <pc:docMk/>
            <pc:sldMk cId="754621397" sldId="336"/>
            <ac:spMk id="2" creationId="{2B6EADD8-9124-31F0-D05E-958B60B49D77}"/>
          </ac:spMkLst>
        </pc:spChg>
        <pc:spChg chg="mod">
          <ac:chgData name="manviatwork@gmail.com" userId="951164a6f91b2256" providerId="LiveId" clId="{CA428FCD-9FCA-4C85-821E-844C06AD840D}" dt="2024-11-06T15:12:21.665" v="700" actId="27636"/>
          <ac:spMkLst>
            <pc:docMk/>
            <pc:sldMk cId="754621397" sldId="336"/>
            <ac:spMk id="3" creationId="{D383FFC8-2319-46DE-1DB9-5784F7305DD0}"/>
          </ac:spMkLst>
        </pc:spChg>
      </pc:sldChg>
      <pc:sldChg chg="delSp modSp new mod">
        <pc:chgData name="manviatwork@gmail.com" userId="951164a6f91b2256" providerId="LiveId" clId="{CA428FCD-9FCA-4C85-821E-844C06AD840D}" dt="2024-11-06T15:17:41.666" v="1347" actId="20577"/>
        <pc:sldMkLst>
          <pc:docMk/>
          <pc:sldMk cId="653355241" sldId="337"/>
        </pc:sldMkLst>
        <pc:spChg chg="del">
          <ac:chgData name="manviatwork@gmail.com" userId="951164a6f91b2256" providerId="LiveId" clId="{CA428FCD-9FCA-4C85-821E-844C06AD840D}" dt="2024-11-06T15:13:16.499" v="706" actId="21"/>
          <ac:spMkLst>
            <pc:docMk/>
            <pc:sldMk cId="653355241" sldId="337"/>
            <ac:spMk id="2" creationId="{DB8A5AC8-9951-B885-3741-5CDDA98F835A}"/>
          </ac:spMkLst>
        </pc:spChg>
        <pc:spChg chg="mod">
          <ac:chgData name="manviatwork@gmail.com" userId="951164a6f91b2256" providerId="LiveId" clId="{CA428FCD-9FCA-4C85-821E-844C06AD840D}" dt="2024-11-06T15:17:41.666" v="1347" actId="20577"/>
          <ac:spMkLst>
            <pc:docMk/>
            <pc:sldMk cId="653355241" sldId="337"/>
            <ac:spMk id="3" creationId="{C2B29BE8-0987-FAC6-D5C8-0CB239C170BF}"/>
          </ac:spMkLst>
        </pc:spChg>
      </pc:sldChg>
      <pc:sldChg chg="delSp modSp new mod">
        <pc:chgData name="manviatwork@gmail.com" userId="951164a6f91b2256" providerId="LiveId" clId="{CA428FCD-9FCA-4C85-821E-844C06AD840D}" dt="2024-11-06T15:43:03.761" v="1631" actId="1076"/>
        <pc:sldMkLst>
          <pc:docMk/>
          <pc:sldMk cId="1526727455" sldId="338"/>
        </pc:sldMkLst>
        <pc:spChg chg="del">
          <ac:chgData name="manviatwork@gmail.com" userId="951164a6f91b2256" providerId="LiveId" clId="{CA428FCD-9FCA-4C85-821E-844C06AD840D}" dt="2024-11-06T15:43:00.990" v="1630" actId="21"/>
          <ac:spMkLst>
            <pc:docMk/>
            <pc:sldMk cId="1526727455" sldId="338"/>
            <ac:spMk id="2" creationId="{228E2940-4930-4DE8-22B4-FDA6F32B07C0}"/>
          </ac:spMkLst>
        </pc:spChg>
        <pc:spChg chg="mod">
          <ac:chgData name="manviatwork@gmail.com" userId="951164a6f91b2256" providerId="LiveId" clId="{CA428FCD-9FCA-4C85-821E-844C06AD840D}" dt="2024-11-06T15:43:03.761" v="1631" actId="1076"/>
          <ac:spMkLst>
            <pc:docMk/>
            <pc:sldMk cId="1526727455" sldId="338"/>
            <ac:spMk id="3" creationId="{2F800C50-57FF-E1B6-A03E-7BD86262E740}"/>
          </ac:spMkLst>
        </pc:spChg>
      </pc:sldChg>
      <pc:sldChg chg="delSp modSp new mod">
        <pc:chgData name="manviatwork@gmail.com" userId="951164a6f91b2256" providerId="LiveId" clId="{CA428FCD-9FCA-4C85-821E-844C06AD840D}" dt="2024-11-06T15:20:26.898" v="1357" actId="113"/>
        <pc:sldMkLst>
          <pc:docMk/>
          <pc:sldMk cId="336129964" sldId="339"/>
        </pc:sldMkLst>
        <pc:spChg chg="del">
          <ac:chgData name="manviatwork@gmail.com" userId="951164a6f91b2256" providerId="LiveId" clId="{CA428FCD-9FCA-4C85-821E-844C06AD840D}" dt="2024-11-06T15:18:16.589" v="1349" actId="21"/>
          <ac:spMkLst>
            <pc:docMk/>
            <pc:sldMk cId="336129964" sldId="339"/>
            <ac:spMk id="2" creationId="{52DB822E-7707-04FC-232C-05E94388939F}"/>
          </ac:spMkLst>
        </pc:spChg>
        <pc:spChg chg="mod">
          <ac:chgData name="manviatwork@gmail.com" userId="951164a6f91b2256" providerId="LiveId" clId="{CA428FCD-9FCA-4C85-821E-844C06AD840D}" dt="2024-11-06T15:20:26.898" v="1357" actId="113"/>
          <ac:spMkLst>
            <pc:docMk/>
            <pc:sldMk cId="336129964" sldId="339"/>
            <ac:spMk id="3" creationId="{1CAE259B-3F90-ACC4-C8D5-89ECD8539FB0}"/>
          </ac:spMkLst>
        </pc:spChg>
      </pc:sldChg>
      <pc:sldChg chg="delSp modSp new mod">
        <pc:chgData name="manviatwork@gmail.com" userId="951164a6f91b2256" providerId="LiveId" clId="{CA428FCD-9FCA-4C85-821E-844C06AD840D}" dt="2024-11-06T15:26:40.823" v="1407" actId="27636"/>
        <pc:sldMkLst>
          <pc:docMk/>
          <pc:sldMk cId="350413449" sldId="340"/>
        </pc:sldMkLst>
        <pc:spChg chg="del">
          <ac:chgData name="manviatwork@gmail.com" userId="951164a6f91b2256" providerId="LiveId" clId="{CA428FCD-9FCA-4C85-821E-844C06AD840D}" dt="2024-11-06T15:26:35.159" v="1404" actId="21"/>
          <ac:spMkLst>
            <pc:docMk/>
            <pc:sldMk cId="350413449" sldId="340"/>
            <ac:spMk id="2" creationId="{75E45959-0CCA-35B5-C939-912F2AA5CCDA}"/>
          </ac:spMkLst>
        </pc:spChg>
        <pc:spChg chg="mod">
          <ac:chgData name="manviatwork@gmail.com" userId="951164a6f91b2256" providerId="LiveId" clId="{CA428FCD-9FCA-4C85-821E-844C06AD840D}" dt="2024-11-06T15:26:40.823" v="1407" actId="27636"/>
          <ac:spMkLst>
            <pc:docMk/>
            <pc:sldMk cId="350413449" sldId="340"/>
            <ac:spMk id="3" creationId="{955480DC-6A0D-FAD9-9A0C-6C1D9537F079}"/>
          </ac:spMkLst>
        </pc:spChg>
      </pc:sldChg>
      <pc:sldChg chg="delSp modSp new mod">
        <pc:chgData name="manviatwork@gmail.com" userId="951164a6f91b2256" providerId="LiveId" clId="{CA428FCD-9FCA-4C85-821E-844C06AD840D}" dt="2024-11-06T15:28:51.562" v="1447" actId="14100"/>
        <pc:sldMkLst>
          <pc:docMk/>
          <pc:sldMk cId="3430625779" sldId="341"/>
        </pc:sldMkLst>
        <pc:spChg chg="del">
          <ac:chgData name="manviatwork@gmail.com" userId="951164a6f91b2256" providerId="LiveId" clId="{CA428FCD-9FCA-4C85-821E-844C06AD840D}" dt="2024-11-06T15:28:37.643" v="1444" actId="21"/>
          <ac:spMkLst>
            <pc:docMk/>
            <pc:sldMk cId="3430625779" sldId="341"/>
            <ac:spMk id="2" creationId="{05BB9CE1-008B-C92E-26ED-40AECC689D1B}"/>
          </ac:spMkLst>
        </pc:spChg>
        <pc:spChg chg="mod">
          <ac:chgData name="manviatwork@gmail.com" userId="951164a6f91b2256" providerId="LiveId" clId="{CA428FCD-9FCA-4C85-821E-844C06AD840D}" dt="2024-11-06T15:28:51.562" v="1447" actId="14100"/>
          <ac:spMkLst>
            <pc:docMk/>
            <pc:sldMk cId="3430625779" sldId="341"/>
            <ac:spMk id="3" creationId="{872A048B-95E3-28B8-6CDF-694949FCEAA2}"/>
          </ac:spMkLst>
        </pc:spChg>
      </pc:sldChg>
      <pc:sldChg chg="delSp modSp new mod">
        <pc:chgData name="manviatwork@gmail.com" userId="951164a6f91b2256" providerId="LiveId" clId="{CA428FCD-9FCA-4C85-821E-844C06AD840D}" dt="2024-11-06T15:32:27.197" v="1504" actId="2711"/>
        <pc:sldMkLst>
          <pc:docMk/>
          <pc:sldMk cId="3091652445" sldId="342"/>
        </pc:sldMkLst>
        <pc:spChg chg="del">
          <ac:chgData name="manviatwork@gmail.com" userId="951164a6f91b2256" providerId="LiveId" clId="{CA428FCD-9FCA-4C85-821E-844C06AD840D}" dt="2024-11-06T15:32:09.996" v="1501" actId="21"/>
          <ac:spMkLst>
            <pc:docMk/>
            <pc:sldMk cId="3091652445" sldId="342"/>
            <ac:spMk id="2" creationId="{92773DC4-45D7-20EA-CB0B-EED05CE32D7D}"/>
          </ac:spMkLst>
        </pc:spChg>
        <pc:spChg chg="mod">
          <ac:chgData name="manviatwork@gmail.com" userId="951164a6f91b2256" providerId="LiveId" clId="{CA428FCD-9FCA-4C85-821E-844C06AD840D}" dt="2024-11-06T15:32:27.197" v="1504" actId="2711"/>
          <ac:spMkLst>
            <pc:docMk/>
            <pc:sldMk cId="3091652445" sldId="342"/>
            <ac:spMk id="3" creationId="{DDD04C8D-8443-568F-9C7B-3858F3723ECD}"/>
          </ac:spMkLst>
        </pc:spChg>
      </pc:sldChg>
      <pc:sldChg chg="delSp modSp new mod">
        <pc:chgData name="manviatwork@gmail.com" userId="951164a6f91b2256" providerId="LiveId" clId="{CA428FCD-9FCA-4C85-821E-844C06AD840D}" dt="2024-11-06T15:35:31.643" v="1551" actId="20577"/>
        <pc:sldMkLst>
          <pc:docMk/>
          <pc:sldMk cId="1491339617" sldId="343"/>
        </pc:sldMkLst>
        <pc:spChg chg="del">
          <ac:chgData name="manviatwork@gmail.com" userId="951164a6f91b2256" providerId="LiveId" clId="{CA428FCD-9FCA-4C85-821E-844C06AD840D}" dt="2024-11-06T15:32:47.752" v="1506" actId="21"/>
          <ac:spMkLst>
            <pc:docMk/>
            <pc:sldMk cId="1491339617" sldId="343"/>
            <ac:spMk id="2" creationId="{749D2143-2EDB-0637-C03F-0CBD33B44484}"/>
          </ac:spMkLst>
        </pc:spChg>
        <pc:spChg chg="mod">
          <ac:chgData name="manviatwork@gmail.com" userId="951164a6f91b2256" providerId="LiveId" clId="{CA428FCD-9FCA-4C85-821E-844C06AD840D}" dt="2024-11-06T15:35:31.643" v="1551" actId="20577"/>
          <ac:spMkLst>
            <pc:docMk/>
            <pc:sldMk cId="1491339617" sldId="343"/>
            <ac:spMk id="3" creationId="{4ED62BF2-B9BC-90FF-DFC5-F373352A1AC7}"/>
          </ac:spMkLst>
        </pc:spChg>
      </pc:sldChg>
      <pc:sldChg chg="delSp modSp new mod">
        <pc:chgData name="manviatwork@gmail.com" userId="951164a6f91b2256" providerId="LiveId" clId="{CA428FCD-9FCA-4C85-821E-844C06AD840D}" dt="2024-11-06T15:41:00.151" v="1598" actId="1076"/>
        <pc:sldMkLst>
          <pc:docMk/>
          <pc:sldMk cId="4065465846" sldId="344"/>
        </pc:sldMkLst>
        <pc:spChg chg="del">
          <ac:chgData name="manviatwork@gmail.com" userId="951164a6f91b2256" providerId="LiveId" clId="{CA428FCD-9FCA-4C85-821E-844C06AD840D}" dt="2024-11-06T15:40:57.281" v="1597" actId="21"/>
          <ac:spMkLst>
            <pc:docMk/>
            <pc:sldMk cId="4065465846" sldId="344"/>
            <ac:spMk id="2" creationId="{F7DDB439-8740-B7CC-B6EA-810DEC46B9C7}"/>
          </ac:spMkLst>
        </pc:spChg>
        <pc:spChg chg="mod">
          <ac:chgData name="manviatwork@gmail.com" userId="951164a6f91b2256" providerId="LiveId" clId="{CA428FCD-9FCA-4C85-821E-844C06AD840D}" dt="2024-11-06T15:41:00.151" v="1598" actId="1076"/>
          <ac:spMkLst>
            <pc:docMk/>
            <pc:sldMk cId="4065465846" sldId="344"/>
            <ac:spMk id="3" creationId="{C3684F60-965F-C302-347D-5E78F9055C70}"/>
          </ac:spMkLst>
        </pc:spChg>
      </pc:sldChg>
      <pc:sldChg chg="modSp new mod">
        <pc:chgData name="manviatwork@gmail.com" userId="951164a6f91b2256" providerId="LiveId" clId="{CA428FCD-9FCA-4C85-821E-844C06AD840D}" dt="2024-11-06T15:52:14.134" v="1726" actId="20577"/>
        <pc:sldMkLst>
          <pc:docMk/>
          <pc:sldMk cId="3069005130" sldId="345"/>
        </pc:sldMkLst>
        <pc:spChg chg="mod">
          <ac:chgData name="manviatwork@gmail.com" userId="951164a6f91b2256" providerId="LiveId" clId="{CA428FCD-9FCA-4C85-821E-844C06AD840D}" dt="2024-11-06T15:43:45.857" v="1655" actId="313"/>
          <ac:spMkLst>
            <pc:docMk/>
            <pc:sldMk cId="3069005130" sldId="345"/>
            <ac:spMk id="2" creationId="{F0BCB8A2-C14C-1861-647F-63637BC33272}"/>
          </ac:spMkLst>
        </pc:spChg>
        <pc:spChg chg="mod">
          <ac:chgData name="manviatwork@gmail.com" userId="951164a6f91b2256" providerId="LiveId" clId="{CA428FCD-9FCA-4C85-821E-844C06AD840D}" dt="2024-11-06T15:52:14.134" v="1726" actId="20577"/>
          <ac:spMkLst>
            <pc:docMk/>
            <pc:sldMk cId="3069005130" sldId="345"/>
            <ac:spMk id="3" creationId="{74074DC6-9E52-0AF5-A7B9-CF665E06A725}"/>
          </ac:spMkLst>
        </pc:spChg>
      </pc:sldChg>
      <pc:sldChg chg="modSp new mod">
        <pc:chgData name="manviatwork@gmail.com" userId="951164a6f91b2256" providerId="LiveId" clId="{CA428FCD-9FCA-4C85-821E-844C06AD840D}" dt="2024-11-06T15:55:28.749" v="1798" actId="27636"/>
        <pc:sldMkLst>
          <pc:docMk/>
          <pc:sldMk cId="2826989813" sldId="346"/>
        </pc:sldMkLst>
        <pc:spChg chg="mod">
          <ac:chgData name="manviatwork@gmail.com" userId="951164a6f91b2256" providerId="LiveId" clId="{CA428FCD-9FCA-4C85-821E-844C06AD840D}" dt="2024-11-06T15:55:19.390" v="1794" actId="1076"/>
          <ac:spMkLst>
            <pc:docMk/>
            <pc:sldMk cId="2826989813" sldId="346"/>
            <ac:spMk id="2" creationId="{A82FF3DF-63D4-6E67-CAC6-806B3BD34F26}"/>
          </ac:spMkLst>
        </pc:spChg>
        <pc:spChg chg="mod">
          <ac:chgData name="manviatwork@gmail.com" userId="951164a6f91b2256" providerId="LiveId" clId="{CA428FCD-9FCA-4C85-821E-844C06AD840D}" dt="2024-11-06T15:55:28.749" v="1798" actId="27636"/>
          <ac:spMkLst>
            <pc:docMk/>
            <pc:sldMk cId="2826989813" sldId="346"/>
            <ac:spMk id="3" creationId="{037D72CA-511D-4676-38DD-39E25ADEE2D4}"/>
          </ac:spMkLst>
        </pc:spChg>
      </pc:sldChg>
      <pc:sldChg chg="modSp new mod">
        <pc:chgData name="manviatwork@gmail.com" userId="951164a6f91b2256" providerId="LiveId" clId="{CA428FCD-9FCA-4C85-821E-844C06AD840D}" dt="2024-11-06T15:58:49.524" v="1857" actId="1076"/>
        <pc:sldMkLst>
          <pc:docMk/>
          <pc:sldMk cId="1009465937" sldId="347"/>
        </pc:sldMkLst>
        <pc:spChg chg="mod">
          <ac:chgData name="manviatwork@gmail.com" userId="951164a6f91b2256" providerId="LiveId" clId="{CA428FCD-9FCA-4C85-821E-844C06AD840D}" dt="2024-11-06T15:58:44.928" v="1856" actId="1076"/>
          <ac:spMkLst>
            <pc:docMk/>
            <pc:sldMk cId="1009465937" sldId="347"/>
            <ac:spMk id="2" creationId="{8D31F60C-8DBF-1350-81F8-C5AD205EB4DC}"/>
          </ac:spMkLst>
        </pc:spChg>
        <pc:spChg chg="mod">
          <ac:chgData name="manviatwork@gmail.com" userId="951164a6f91b2256" providerId="LiveId" clId="{CA428FCD-9FCA-4C85-821E-844C06AD840D}" dt="2024-11-06T15:58:49.524" v="1857" actId="1076"/>
          <ac:spMkLst>
            <pc:docMk/>
            <pc:sldMk cId="1009465937" sldId="347"/>
            <ac:spMk id="3" creationId="{02BFFEC8-C7D9-E33E-1445-74A05061D253}"/>
          </ac:spMkLst>
        </pc:spChg>
      </pc:sldChg>
      <pc:sldChg chg="modSp new mod">
        <pc:chgData name="manviatwork@gmail.com" userId="951164a6f91b2256" providerId="LiveId" clId="{CA428FCD-9FCA-4C85-821E-844C06AD840D}" dt="2024-11-06T16:09:26.248" v="1898" actId="2711"/>
        <pc:sldMkLst>
          <pc:docMk/>
          <pc:sldMk cId="3308466699" sldId="348"/>
        </pc:sldMkLst>
        <pc:spChg chg="mod">
          <ac:chgData name="manviatwork@gmail.com" userId="951164a6f91b2256" providerId="LiveId" clId="{CA428FCD-9FCA-4C85-821E-844C06AD840D}" dt="2024-11-06T15:59:19.459" v="1878" actId="20577"/>
          <ac:spMkLst>
            <pc:docMk/>
            <pc:sldMk cId="3308466699" sldId="348"/>
            <ac:spMk id="2" creationId="{ED4A050D-2CC0-785F-B41E-3BD3B9EA482B}"/>
          </ac:spMkLst>
        </pc:spChg>
        <pc:spChg chg="mod">
          <ac:chgData name="manviatwork@gmail.com" userId="951164a6f91b2256" providerId="LiveId" clId="{CA428FCD-9FCA-4C85-821E-844C06AD840D}" dt="2024-11-06T16:09:26.248" v="1898" actId="2711"/>
          <ac:spMkLst>
            <pc:docMk/>
            <pc:sldMk cId="3308466699" sldId="348"/>
            <ac:spMk id="3" creationId="{DCDBB37B-24B3-5440-E088-3F5F91023027}"/>
          </ac:spMkLst>
        </pc:spChg>
      </pc:sldChg>
      <pc:sldChg chg="modSp new mod">
        <pc:chgData name="manviatwork@gmail.com" userId="951164a6f91b2256" providerId="LiveId" clId="{CA428FCD-9FCA-4C85-821E-844C06AD840D}" dt="2024-11-06T16:22:36.151" v="2042" actId="2711"/>
        <pc:sldMkLst>
          <pc:docMk/>
          <pc:sldMk cId="690931187" sldId="349"/>
        </pc:sldMkLst>
        <pc:spChg chg="mod">
          <ac:chgData name="manviatwork@gmail.com" userId="951164a6f91b2256" providerId="LiveId" clId="{CA428FCD-9FCA-4C85-821E-844C06AD840D}" dt="2024-11-06T16:09:43.939" v="1906" actId="20577"/>
          <ac:spMkLst>
            <pc:docMk/>
            <pc:sldMk cId="690931187" sldId="349"/>
            <ac:spMk id="2" creationId="{9BBFB15C-6329-315E-597B-C57D4CFBED27}"/>
          </ac:spMkLst>
        </pc:spChg>
        <pc:spChg chg="mod">
          <ac:chgData name="manviatwork@gmail.com" userId="951164a6f91b2256" providerId="LiveId" clId="{CA428FCD-9FCA-4C85-821E-844C06AD840D}" dt="2024-11-06T16:22:36.151" v="2042" actId="2711"/>
          <ac:spMkLst>
            <pc:docMk/>
            <pc:sldMk cId="690931187" sldId="349"/>
            <ac:spMk id="3" creationId="{368753A4-72C3-8619-39F8-A1393FED0A77}"/>
          </ac:spMkLst>
        </pc:spChg>
      </pc:sldChg>
      <pc:sldChg chg="modSp new mod">
        <pc:chgData name="manviatwork@gmail.com" userId="951164a6f91b2256" providerId="LiveId" clId="{CA428FCD-9FCA-4C85-821E-844C06AD840D}" dt="2024-11-06T16:15:06.816" v="1997" actId="2711"/>
        <pc:sldMkLst>
          <pc:docMk/>
          <pc:sldMk cId="1298362459" sldId="350"/>
        </pc:sldMkLst>
        <pc:spChg chg="mod">
          <ac:chgData name="manviatwork@gmail.com" userId="951164a6f91b2256" providerId="LiveId" clId="{CA428FCD-9FCA-4C85-821E-844C06AD840D}" dt="2024-11-06T16:14:56.472" v="1995" actId="1076"/>
          <ac:spMkLst>
            <pc:docMk/>
            <pc:sldMk cId="1298362459" sldId="350"/>
            <ac:spMk id="2" creationId="{C9AFFBCF-D2FB-2607-28C4-27C7FB8B41FC}"/>
          </ac:spMkLst>
        </pc:spChg>
        <pc:spChg chg="mod">
          <ac:chgData name="manviatwork@gmail.com" userId="951164a6f91b2256" providerId="LiveId" clId="{CA428FCD-9FCA-4C85-821E-844C06AD840D}" dt="2024-11-06T16:15:06.816" v="1997" actId="2711"/>
          <ac:spMkLst>
            <pc:docMk/>
            <pc:sldMk cId="1298362459" sldId="350"/>
            <ac:spMk id="3" creationId="{61BD1943-16CD-8E3B-9D1E-098F04D8FC2C}"/>
          </ac:spMkLst>
        </pc:spChg>
      </pc:sldChg>
      <pc:sldChg chg="delSp modSp new mod">
        <pc:chgData name="manviatwork@gmail.com" userId="951164a6f91b2256" providerId="LiveId" clId="{CA428FCD-9FCA-4C85-821E-844C06AD840D}" dt="2024-11-06T16:21:25.831" v="2037" actId="1076"/>
        <pc:sldMkLst>
          <pc:docMk/>
          <pc:sldMk cId="4111485196" sldId="351"/>
        </pc:sldMkLst>
        <pc:spChg chg="del">
          <ac:chgData name="manviatwork@gmail.com" userId="951164a6f91b2256" providerId="LiveId" clId="{CA428FCD-9FCA-4C85-821E-844C06AD840D}" dt="2024-11-06T16:21:19.829" v="2036" actId="21"/>
          <ac:spMkLst>
            <pc:docMk/>
            <pc:sldMk cId="4111485196" sldId="351"/>
            <ac:spMk id="2" creationId="{C83DF2E9-9334-CBDC-A312-A35B63149165}"/>
          </ac:spMkLst>
        </pc:spChg>
        <pc:spChg chg="mod">
          <ac:chgData name="manviatwork@gmail.com" userId="951164a6f91b2256" providerId="LiveId" clId="{CA428FCD-9FCA-4C85-821E-844C06AD840D}" dt="2024-11-06T16:21:25.831" v="2037" actId="1076"/>
          <ac:spMkLst>
            <pc:docMk/>
            <pc:sldMk cId="4111485196" sldId="351"/>
            <ac:spMk id="3" creationId="{2275B549-24AE-A097-6C73-19022BB9B7B7}"/>
          </ac:spMkLst>
        </pc:spChg>
      </pc:sldChg>
      <pc:sldChg chg="addSp delSp modSp new mod">
        <pc:chgData name="manviatwork@gmail.com" userId="951164a6f91b2256" providerId="LiveId" clId="{CA428FCD-9FCA-4C85-821E-844C06AD840D}" dt="2024-11-06T16:25:34.066" v="2049" actId="14100"/>
        <pc:sldMkLst>
          <pc:docMk/>
          <pc:sldMk cId="3834353902" sldId="352"/>
        </pc:sldMkLst>
        <pc:spChg chg="del">
          <ac:chgData name="manviatwork@gmail.com" userId="951164a6f91b2256" providerId="LiveId" clId="{CA428FCD-9FCA-4C85-821E-844C06AD840D}" dt="2024-11-06T16:25:26.486" v="2047" actId="21"/>
          <ac:spMkLst>
            <pc:docMk/>
            <pc:sldMk cId="3834353902" sldId="352"/>
            <ac:spMk id="2" creationId="{64775972-67D2-83C6-CD75-16AD9D498301}"/>
          </ac:spMkLst>
        </pc:spChg>
        <pc:spChg chg="del">
          <ac:chgData name="manviatwork@gmail.com" userId="951164a6f91b2256" providerId="LiveId" clId="{CA428FCD-9FCA-4C85-821E-844C06AD840D}" dt="2024-11-06T16:25:18.185" v="2044" actId="931"/>
          <ac:spMkLst>
            <pc:docMk/>
            <pc:sldMk cId="3834353902" sldId="352"/>
            <ac:spMk id="3" creationId="{B3F8C4FB-6176-92E2-5F13-3A3DC2D4BFFD}"/>
          </ac:spMkLst>
        </pc:spChg>
        <pc:picChg chg="add mod">
          <ac:chgData name="manviatwork@gmail.com" userId="951164a6f91b2256" providerId="LiveId" clId="{CA428FCD-9FCA-4C85-821E-844C06AD840D}" dt="2024-11-06T16:25:34.066" v="2049" actId="14100"/>
          <ac:picMkLst>
            <pc:docMk/>
            <pc:sldMk cId="3834353902" sldId="352"/>
            <ac:picMk id="5" creationId="{670355CF-C9D1-CC9D-B564-D6A6ECDB40C6}"/>
          </ac:picMkLst>
        </pc:picChg>
      </pc:sldChg>
      <pc:sldChg chg="addSp delSp modSp new mod">
        <pc:chgData name="manviatwork@gmail.com" userId="951164a6f91b2256" providerId="LiveId" clId="{CA428FCD-9FCA-4C85-821E-844C06AD840D}" dt="2024-11-06T16:27:30.640" v="2077" actId="14100"/>
        <pc:sldMkLst>
          <pc:docMk/>
          <pc:sldMk cId="1316777649" sldId="353"/>
        </pc:sldMkLst>
        <pc:spChg chg="mod">
          <ac:chgData name="manviatwork@gmail.com" userId="951164a6f91b2256" providerId="LiveId" clId="{CA428FCD-9FCA-4C85-821E-844C06AD840D}" dt="2024-11-06T16:27:10.661" v="2073" actId="20577"/>
          <ac:spMkLst>
            <pc:docMk/>
            <pc:sldMk cId="1316777649" sldId="353"/>
            <ac:spMk id="2" creationId="{58258213-ECD1-48FB-CEAB-807F553EC711}"/>
          </ac:spMkLst>
        </pc:spChg>
        <pc:spChg chg="del">
          <ac:chgData name="manviatwork@gmail.com" userId="951164a6f91b2256" providerId="LiveId" clId="{CA428FCD-9FCA-4C85-821E-844C06AD840D}" dt="2024-11-06T16:27:21.715" v="2074" actId="931"/>
          <ac:spMkLst>
            <pc:docMk/>
            <pc:sldMk cId="1316777649" sldId="353"/>
            <ac:spMk id="3" creationId="{FC25D559-0F85-015A-577A-8B683157A0CC}"/>
          </ac:spMkLst>
        </pc:spChg>
        <pc:picChg chg="add mod">
          <ac:chgData name="manviatwork@gmail.com" userId="951164a6f91b2256" providerId="LiveId" clId="{CA428FCD-9FCA-4C85-821E-844C06AD840D}" dt="2024-11-06T16:27:30.640" v="2077" actId="14100"/>
          <ac:picMkLst>
            <pc:docMk/>
            <pc:sldMk cId="1316777649" sldId="353"/>
            <ac:picMk id="5" creationId="{86EEF311-583D-3209-BD46-6F30E8E12D64}"/>
          </ac:picMkLst>
        </pc:picChg>
      </pc:sldChg>
      <pc:sldChg chg="new del">
        <pc:chgData name="manviatwork@gmail.com" userId="951164a6f91b2256" providerId="LiveId" clId="{CA428FCD-9FCA-4C85-821E-844C06AD840D}" dt="2024-11-06T16:27:59.187" v="2079" actId="2696"/>
        <pc:sldMkLst>
          <pc:docMk/>
          <pc:sldMk cId="3514917512" sldId="354"/>
        </pc:sldMkLst>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18E195-4DC5-4489-B00C-6692A90A8C27}"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AF57C4F3-E83E-444E-92EC-DC737A760B63}" type="slidenum">
              <a:rPr lang="en-IN" smtClean="0"/>
              <a:t>‹#›</a:t>
            </a:fld>
            <a:endParaRPr lang="en-IN"/>
          </a:p>
        </p:txBody>
      </p:sp>
    </p:spTree>
    <p:extLst>
      <p:ext uri="{BB962C8B-B14F-4D97-AF65-F5344CB8AC3E}">
        <p14:creationId xmlns:p14="http://schemas.microsoft.com/office/powerpoint/2010/main" val="1667769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18E195-4DC5-4489-B00C-6692A90A8C27}"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57C4F3-E83E-444E-92EC-DC737A760B63}" type="slidenum">
              <a:rPr lang="en-IN" smtClean="0"/>
              <a:t>‹#›</a:t>
            </a:fld>
            <a:endParaRPr lang="en-IN"/>
          </a:p>
        </p:txBody>
      </p:sp>
    </p:spTree>
    <p:extLst>
      <p:ext uri="{BB962C8B-B14F-4D97-AF65-F5344CB8AC3E}">
        <p14:creationId xmlns:p14="http://schemas.microsoft.com/office/powerpoint/2010/main" val="1514372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218E195-4DC5-4489-B00C-6692A90A8C27}" type="datetimeFigureOut">
              <a:rPr lang="en-IN" smtClean="0"/>
              <a:t>06-11-2024</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AF57C4F3-E83E-444E-92EC-DC737A760B63}" type="slidenum">
              <a:rPr lang="en-IN" smtClean="0"/>
              <a:t>‹#›</a:t>
            </a:fld>
            <a:endParaRPr lang="en-IN"/>
          </a:p>
        </p:txBody>
      </p:sp>
    </p:spTree>
    <p:extLst>
      <p:ext uri="{BB962C8B-B14F-4D97-AF65-F5344CB8AC3E}">
        <p14:creationId xmlns:p14="http://schemas.microsoft.com/office/powerpoint/2010/main" val="2071934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18E195-4DC5-4489-B00C-6692A90A8C27}"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F57C4F3-E83E-444E-92EC-DC737A760B63}" type="slidenum">
              <a:rPr lang="en-IN" smtClean="0"/>
              <a:t>‹#›</a:t>
            </a:fld>
            <a:endParaRPr lang="en-IN"/>
          </a:p>
        </p:txBody>
      </p:sp>
    </p:spTree>
    <p:extLst>
      <p:ext uri="{BB962C8B-B14F-4D97-AF65-F5344CB8AC3E}">
        <p14:creationId xmlns:p14="http://schemas.microsoft.com/office/powerpoint/2010/main" val="2487486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18E195-4DC5-4489-B00C-6692A90A8C27}" type="datetimeFigureOut">
              <a:rPr lang="en-IN" smtClean="0"/>
              <a:t>06-11-2024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F57C4F3-E83E-444E-92EC-DC737A760B63}" type="slidenum">
              <a:rPr lang="en-IN" smtClean="0"/>
              <a:t>‹#›</a:t>
            </a:fld>
            <a:endParaRPr lang="en-IN"/>
          </a:p>
        </p:txBody>
      </p:sp>
    </p:spTree>
    <p:extLst>
      <p:ext uri="{BB962C8B-B14F-4D97-AF65-F5344CB8AC3E}">
        <p14:creationId xmlns:p14="http://schemas.microsoft.com/office/powerpoint/2010/main" val="3922959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18E195-4DC5-4489-B00C-6692A90A8C27}" type="datetimeFigureOut">
              <a:rPr lang="en-IN" smtClean="0"/>
              <a:t>06-11-2024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F57C4F3-E83E-444E-92EC-DC737A760B63}" type="slidenum">
              <a:rPr lang="en-IN" smtClean="0"/>
              <a:t>‹#›</a:t>
            </a:fld>
            <a:endParaRPr lang="en-IN"/>
          </a:p>
        </p:txBody>
      </p:sp>
    </p:spTree>
    <p:extLst>
      <p:ext uri="{BB962C8B-B14F-4D97-AF65-F5344CB8AC3E}">
        <p14:creationId xmlns:p14="http://schemas.microsoft.com/office/powerpoint/2010/main" val="2720765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8E195-4DC5-4489-B00C-6692A90A8C27}" type="datetimeFigureOut">
              <a:rPr lang="en-IN" smtClean="0"/>
              <a:t>06-11-2024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F57C4F3-E83E-444E-92EC-DC737A760B63}" type="slidenum">
              <a:rPr lang="en-IN" smtClean="0"/>
              <a:t>‹#›</a:t>
            </a:fld>
            <a:endParaRPr lang="en-IN"/>
          </a:p>
        </p:txBody>
      </p:sp>
    </p:spTree>
    <p:extLst>
      <p:ext uri="{BB962C8B-B14F-4D97-AF65-F5344CB8AC3E}">
        <p14:creationId xmlns:p14="http://schemas.microsoft.com/office/powerpoint/2010/main" val="2126102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18E195-4DC5-4489-B00C-6692A90A8C27}" type="datetimeFigureOut">
              <a:rPr lang="en-IN" smtClean="0"/>
              <a:t>06-11-2024</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AF57C4F3-E83E-444E-92EC-DC737A760B63}" type="slidenum">
              <a:rPr lang="en-IN" smtClean="0"/>
              <a:t>‹#›</a:t>
            </a:fld>
            <a:endParaRPr lang="en-IN"/>
          </a:p>
        </p:txBody>
      </p:sp>
    </p:spTree>
    <p:extLst>
      <p:ext uri="{BB962C8B-B14F-4D97-AF65-F5344CB8AC3E}">
        <p14:creationId xmlns:p14="http://schemas.microsoft.com/office/powerpoint/2010/main" val="4053180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18E195-4DC5-4489-B00C-6692A90A8C27}" type="datetimeFigureOut">
              <a:rPr lang="en-IN" smtClean="0"/>
              <a:t>06-11-2024</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AF57C4F3-E83E-444E-92EC-DC737A760B63}" type="slidenum">
              <a:rPr lang="en-IN" smtClean="0"/>
              <a:t>‹#›</a:t>
            </a:fld>
            <a:endParaRPr lang="en-IN"/>
          </a:p>
        </p:txBody>
      </p:sp>
    </p:spTree>
    <p:extLst>
      <p:ext uri="{BB962C8B-B14F-4D97-AF65-F5344CB8AC3E}">
        <p14:creationId xmlns:p14="http://schemas.microsoft.com/office/powerpoint/2010/main" val="68662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18E195-4DC5-4489-B00C-6692A90A8C27}"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57C4F3-E83E-444E-92EC-DC737A760B63}" type="slidenum">
              <a:rPr lang="en-IN" smtClean="0"/>
              <a:t>‹#›</a:t>
            </a:fld>
            <a:endParaRPr lang="en-IN"/>
          </a:p>
        </p:txBody>
      </p:sp>
    </p:spTree>
    <p:extLst>
      <p:ext uri="{BB962C8B-B14F-4D97-AF65-F5344CB8AC3E}">
        <p14:creationId xmlns:p14="http://schemas.microsoft.com/office/powerpoint/2010/main" val="3619800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18E195-4DC5-4489-B00C-6692A90A8C27}" type="datetimeFigureOut">
              <a:rPr lang="en-IN" smtClean="0"/>
              <a:t>06-11-2024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57C4F3-E83E-444E-92EC-DC737A760B63}" type="slidenum">
              <a:rPr lang="en-IN" smtClean="0"/>
              <a:t>‹#›</a:t>
            </a:fld>
            <a:endParaRPr lang="en-IN"/>
          </a:p>
        </p:txBody>
      </p:sp>
    </p:spTree>
    <p:extLst>
      <p:ext uri="{BB962C8B-B14F-4D97-AF65-F5344CB8AC3E}">
        <p14:creationId xmlns:p14="http://schemas.microsoft.com/office/powerpoint/2010/main" val="2560973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218E195-4DC5-4489-B00C-6692A90A8C27}" type="datetimeFigureOut">
              <a:rPr lang="en-IN" smtClean="0"/>
              <a:t>06-11-2024</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AF57C4F3-E83E-444E-92EC-DC737A760B63}" type="slidenum">
              <a:rPr lang="en-IN" smtClean="0"/>
              <a:t>‹#›</a:t>
            </a:fld>
            <a:endParaRPr lang="en-IN"/>
          </a:p>
        </p:txBody>
      </p:sp>
    </p:spTree>
    <p:extLst>
      <p:ext uri="{BB962C8B-B14F-4D97-AF65-F5344CB8AC3E}">
        <p14:creationId xmlns:p14="http://schemas.microsoft.com/office/powerpoint/2010/main" val="1467478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1B2A-DCA4-20B4-D560-3F6BB7792AB2}"/>
              </a:ext>
            </a:extLst>
          </p:cNvPr>
          <p:cNvSpPr>
            <a:spLocks noGrp="1"/>
          </p:cNvSpPr>
          <p:nvPr>
            <p:ph type="ctrTitle"/>
          </p:nvPr>
        </p:nvSpPr>
        <p:spPr/>
        <p:txBody>
          <a:bodyPr/>
          <a:lstStyle/>
          <a:p>
            <a:pPr algn="ctr"/>
            <a:r>
              <a:rPr lang="en-US" dirty="0"/>
              <a:t>HEPATITIS-B</a:t>
            </a:r>
            <a:endParaRPr lang="en-IN" dirty="0"/>
          </a:p>
        </p:txBody>
      </p:sp>
    </p:spTree>
    <p:extLst>
      <p:ext uri="{BB962C8B-B14F-4D97-AF65-F5344CB8AC3E}">
        <p14:creationId xmlns:p14="http://schemas.microsoft.com/office/powerpoint/2010/main" val="3543140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910AE4-54AB-04B0-E8D6-8BCC993A6743}"/>
              </a:ext>
            </a:extLst>
          </p:cNvPr>
          <p:cNvSpPr>
            <a:spLocks noGrp="1"/>
          </p:cNvSpPr>
          <p:nvPr>
            <p:ph idx="1"/>
          </p:nvPr>
        </p:nvSpPr>
        <p:spPr>
          <a:xfrm>
            <a:off x="838200" y="1307692"/>
            <a:ext cx="10515600" cy="4060721"/>
          </a:xfrm>
        </p:spPr>
        <p:txBody>
          <a:bodyPr>
            <a:normAutofit/>
          </a:bodyPr>
          <a:lstStyle/>
          <a:p>
            <a:r>
              <a:rPr lang="en-US" sz="2400" dirty="0"/>
              <a:t>Hepatitis B (formerly known as “serum” hepatitis) is an acute systemic infection with major pathology in the liver, caused by hepatitis B virus (HBV).</a:t>
            </a:r>
          </a:p>
          <a:p>
            <a:r>
              <a:rPr lang="en-US" sz="2400" dirty="0"/>
              <a:t> HBV infection can be either acute or chronic, and may range from asymptomatic infection or mild disease, to severe, or rarely fulminant hepatitis. </a:t>
            </a:r>
          </a:p>
          <a:p>
            <a:r>
              <a:rPr lang="en-US" sz="2400" dirty="0"/>
              <a:t>Acute hepatitis B is usually a self-limiting disease marked by acute inflammation and hepatocellular necrosis with case fatality rate of 0.5 to 1 per cent. </a:t>
            </a:r>
          </a:p>
        </p:txBody>
      </p:sp>
    </p:spTree>
    <p:extLst>
      <p:ext uri="{BB962C8B-B14F-4D97-AF65-F5344CB8AC3E}">
        <p14:creationId xmlns:p14="http://schemas.microsoft.com/office/powerpoint/2010/main" val="3661307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BA64F6-BC63-D784-1F4A-F970FAB97561}"/>
              </a:ext>
            </a:extLst>
          </p:cNvPr>
          <p:cNvSpPr>
            <a:spLocks noGrp="1"/>
          </p:cNvSpPr>
          <p:nvPr>
            <p:ph idx="1"/>
          </p:nvPr>
        </p:nvSpPr>
        <p:spPr>
          <a:xfrm>
            <a:off x="838200" y="1098038"/>
            <a:ext cx="10515600" cy="4351338"/>
          </a:xfrm>
        </p:spPr>
        <p:txBody>
          <a:bodyPr/>
          <a:lstStyle/>
          <a:p>
            <a:r>
              <a:rPr lang="en-US" sz="2400" dirty="0"/>
              <a:t>Chronic hepatitis B infection encompasses a spectrum of disease and is defined as persistent HBV infection with or without associated active viral replication and evidence of hepatocellular injury and inflammation. </a:t>
            </a:r>
          </a:p>
          <a:p>
            <a:r>
              <a:rPr lang="en-US" sz="2400" dirty="0"/>
              <a:t>Age is a key factor in determining the risk of chronic infection. </a:t>
            </a:r>
          </a:p>
          <a:p>
            <a:r>
              <a:rPr lang="en-US" sz="2400" dirty="0"/>
              <a:t>Worldwide, the majority of persons with CHB were infected at birth or in early childhood (13). </a:t>
            </a:r>
          </a:p>
          <a:p>
            <a:r>
              <a:rPr lang="en-US" sz="2400" dirty="0"/>
              <a:t>Hepatitis B virus can form a dangerous alliance with delta virus and produce a new form of virulent hepatitis which is considered to be widespread threat for much of the world.</a:t>
            </a:r>
            <a:endParaRPr lang="en-IN" sz="2400" dirty="0"/>
          </a:p>
          <a:p>
            <a:endParaRPr lang="en-IN" dirty="0"/>
          </a:p>
        </p:txBody>
      </p:sp>
    </p:spTree>
    <p:extLst>
      <p:ext uri="{BB962C8B-B14F-4D97-AF65-F5344CB8AC3E}">
        <p14:creationId xmlns:p14="http://schemas.microsoft.com/office/powerpoint/2010/main" val="868753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9E23E-5003-35EE-35CD-82D366976FBF}"/>
              </a:ext>
            </a:extLst>
          </p:cNvPr>
          <p:cNvSpPr>
            <a:spLocks noGrp="1"/>
          </p:cNvSpPr>
          <p:nvPr>
            <p:ph type="title"/>
          </p:nvPr>
        </p:nvSpPr>
        <p:spPr>
          <a:xfrm>
            <a:off x="609600" y="0"/>
            <a:ext cx="10515600" cy="1609344"/>
          </a:xfrm>
        </p:spPr>
        <p:txBody>
          <a:bodyPr/>
          <a:lstStyle/>
          <a:p>
            <a:r>
              <a:rPr lang="en-US" dirty="0">
                <a:latin typeface="Times New Roman" panose="02020603050405020304" pitchFamily="18" charset="0"/>
                <a:cs typeface="Times New Roman" panose="02020603050405020304" pitchFamily="18" charset="0"/>
              </a:rPr>
              <a:t>Agent factors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FEA1B8-42AF-6A7C-FACC-A6243FBC85CF}"/>
              </a:ext>
            </a:extLst>
          </p:cNvPr>
          <p:cNvSpPr>
            <a:spLocks noGrp="1"/>
          </p:cNvSpPr>
          <p:nvPr>
            <p:ph idx="1"/>
          </p:nvPr>
        </p:nvSpPr>
        <p:spPr>
          <a:xfrm>
            <a:off x="769374" y="1317523"/>
            <a:ext cx="10515600" cy="4643131"/>
          </a:xfrm>
        </p:spPr>
        <p:txBody>
          <a:bodyPr>
            <a:noAutofit/>
          </a:bodyPr>
          <a:lstStyle/>
          <a:p>
            <a:pPr marL="0" indent="0">
              <a:buNone/>
            </a:pPr>
            <a:r>
              <a:rPr lang="en-US" sz="2400" dirty="0"/>
              <a:t>AGENT:</a:t>
            </a:r>
          </a:p>
          <a:p>
            <a:r>
              <a:rPr lang="en-US" sz="2400" dirty="0"/>
              <a:t>Hepatitis B virus was discovered by Blumberg in 1963. Efforts to grow this virus have been so far unsuccessful.</a:t>
            </a:r>
          </a:p>
          <a:p>
            <a:r>
              <a:rPr lang="en-US" sz="2400" dirty="0"/>
              <a:t>HBV is a complex, 42-nm. double shelled DNA virus, originally known as the Dane particle.</a:t>
            </a:r>
          </a:p>
          <a:p>
            <a:r>
              <a:rPr lang="en-US" sz="2400" dirty="0"/>
              <a:t>It replicates in the liver cells, it occurs in three morphological forms in the serum of the patient,</a:t>
            </a:r>
          </a:p>
          <a:p>
            <a:pPr marL="514350" indent="-514350">
              <a:buFont typeface="+mj-lt"/>
              <a:buAutoNum type="arabicPeriod"/>
            </a:pPr>
            <a:r>
              <a:rPr lang="en-IN" sz="2400" dirty="0"/>
              <a:t>small spherical particles with an average diameter of 22-nm. These are antigenic and stimulate production of surface antigens.</a:t>
            </a:r>
          </a:p>
          <a:p>
            <a:pPr marL="514350" indent="-514350">
              <a:buFont typeface="+mj-lt"/>
              <a:buAutoNum type="arabicPeriod"/>
            </a:pPr>
            <a:r>
              <a:rPr lang="en-IN" sz="2400" dirty="0"/>
              <a:t>tubules of varying length and diameter.</a:t>
            </a:r>
          </a:p>
          <a:p>
            <a:pPr marL="514350" indent="-514350">
              <a:buFont typeface="+mj-lt"/>
              <a:buAutoNum type="arabicPeriod"/>
            </a:pPr>
            <a:r>
              <a:rPr lang="en-IN" sz="2400" dirty="0"/>
              <a:t>The Dane particle that morphologically corresponds to Hepatitis-B virus.</a:t>
            </a:r>
          </a:p>
        </p:txBody>
      </p:sp>
    </p:spTree>
    <p:extLst>
      <p:ext uri="{BB962C8B-B14F-4D97-AF65-F5344CB8AC3E}">
        <p14:creationId xmlns:p14="http://schemas.microsoft.com/office/powerpoint/2010/main" val="262175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11D02-9743-C5F2-5B94-5FCFD7464E6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RESERVOIR OF INFECTION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01E152C-2038-9F07-1B8F-040BF3A6ADA1}"/>
              </a:ext>
            </a:extLst>
          </p:cNvPr>
          <p:cNvSpPr>
            <a:spLocks noGrp="1"/>
          </p:cNvSpPr>
          <p:nvPr>
            <p:ph idx="1"/>
          </p:nvPr>
        </p:nvSpPr>
        <p:spPr/>
        <p:txBody>
          <a:bodyPr>
            <a:normAutofit/>
          </a:bodyPr>
          <a:lstStyle/>
          <a:p>
            <a:r>
              <a:rPr lang="en-US" sz="2400" dirty="0"/>
              <a:t>Man is the only reservoir of infection which can be spread either from carriers or from cases. The continued survival of infection is due to the large number of individuals who carriers of the virus. </a:t>
            </a:r>
          </a:p>
          <a:p>
            <a:r>
              <a:rPr lang="en-US" sz="2400" dirty="0"/>
              <a:t>The persistent carrier state has been defined as the Presence of HBsAg (with or without concurrent </a:t>
            </a:r>
            <a:r>
              <a:rPr lang="en-US" sz="2400" dirty="0" err="1"/>
              <a:t>HBeAg</a:t>
            </a:r>
            <a:r>
              <a:rPr lang="en-US" sz="2400" dirty="0"/>
              <a:t>) for more than 6 months. Cases may range from inapparent to symptomatic cases.</a:t>
            </a:r>
            <a:endParaRPr lang="en-IN" sz="2400" dirty="0"/>
          </a:p>
        </p:txBody>
      </p:sp>
    </p:spTree>
    <p:extLst>
      <p:ext uri="{BB962C8B-B14F-4D97-AF65-F5344CB8AC3E}">
        <p14:creationId xmlns:p14="http://schemas.microsoft.com/office/powerpoint/2010/main" val="1745293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863697-A0DF-AFB5-7A72-A94AE40ECA81}"/>
              </a:ext>
            </a:extLst>
          </p:cNvPr>
          <p:cNvSpPr>
            <a:spLocks noGrp="1"/>
          </p:cNvSpPr>
          <p:nvPr>
            <p:ph idx="1"/>
          </p:nvPr>
        </p:nvSpPr>
        <p:spPr>
          <a:xfrm>
            <a:off x="936522" y="1402839"/>
            <a:ext cx="10515600" cy="4351338"/>
          </a:xfrm>
        </p:spPr>
        <p:txBody>
          <a:bodyPr>
            <a:normAutofit/>
          </a:bodyPr>
          <a:lstStyle/>
          <a:p>
            <a:pPr marL="0" indent="0">
              <a:buNone/>
            </a:pPr>
            <a:r>
              <a:rPr lang="en-US" sz="2400" dirty="0"/>
              <a:t>INFECTIVE MATERIAL : </a:t>
            </a:r>
          </a:p>
          <a:p>
            <a:r>
              <a:rPr lang="en-US" sz="2400" dirty="0"/>
              <a:t>Contaminated blood is the main source of infection, although the virus has been found in body secretions such as saliva, vaginal secretions and semen of infected persons. </a:t>
            </a:r>
          </a:p>
          <a:p>
            <a:pPr marL="0" indent="0">
              <a:buNone/>
            </a:pPr>
            <a:r>
              <a:rPr lang="en-US" sz="2400" dirty="0"/>
              <a:t>RESISTANCE :</a:t>
            </a:r>
          </a:p>
          <a:p>
            <a:r>
              <a:rPr lang="en-US" sz="2400" dirty="0"/>
              <a:t>The virus is quite stable and capable of surviving for at least 7 days on environmental surfaces. It can be readily destroyed by sodium </a:t>
            </a:r>
            <a:r>
              <a:rPr lang="en-US" sz="2400" dirty="0" err="1"/>
              <a:t>hypoclorite</a:t>
            </a:r>
            <a:r>
              <a:rPr lang="en-US" sz="2400" dirty="0"/>
              <a:t>, as is by heat sterilization in an autoclave for 30 to 60 minutes.</a:t>
            </a:r>
            <a:endParaRPr lang="en-IN" sz="2400" dirty="0"/>
          </a:p>
        </p:txBody>
      </p:sp>
    </p:spTree>
    <p:extLst>
      <p:ext uri="{BB962C8B-B14F-4D97-AF65-F5344CB8AC3E}">
        <p14:creationId xmlns:p14="http://schemas.microsoft.com/office/powerpoint/2010/main" val="3146731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A308E-207F-180E-97A1-926961FF39C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PERIOD OF COMMUNICABILITY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BAAE35-E0D1-7229-6AB7-C83D04727E36}"/>
              </a:ext>
            </a:extLst>
          </p:cNvPr>
          <p:cNvSpPr>
            <a:spLocks noGrp="1"/>
          </p:cNvSpPr>
          <p:nvPr>
            <p:ph idx="1"/>
          </p:nvPr>
        </p:nvSpPr>
        <p:spPr>
          <a:xfrm>
            <a:off x="951861" y="2613021"/>
            <a:ext cx="10058400" cy="4050792"/>
          </a:xfrm>
        </p:spPr>
        <p:txBody>
          <a:bodyPr>
            <a:normAutofit/>
          </a:bodyPr>
          <a:lstStyle/>
          <a:p>
            <a:r>
              <a:rPr lang="en-US" sz="2400" dirty="0"/>
              <a:t>The virus is present in the blood during the incubation period (for a month before jaundice) and acute phase of the disease. </a:t>
            </a:r>
          </a:p>
          <a:p>
            <a:r>
              <a:rPr lang="en-US" sz="2400" dirty="0"/>
              <a:t>Period of communicability is usually several months (occasionally years in chronic carriers) or until disappearance of HBsAg and appearance of surface antibody.</a:t>
            </a:r>
            <a:endParaRPr lang="en-IN" sz="2400" dirty="0"/>
          </a:p>
        </p:txBody>
      </p:sp>
    </p:spTree>
    <p:extLst>
      <p:ext uri="{BB962C8B-B14F-4D97-AF65-F5344CB8AC3E}">
        <p14:creationId xmlns:p14="http://schemas.microsoft.com/office/powerpoint/2010/main" val="310138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E5C73-8AD0-16E3-5E6B-5683074E8E56}"/>
              </a:ext>
            </a:extLst>
          </p:cNvPr>
          <p:cNvSpPr>
            <a:spLocks noGrp="1"/>
          </p:cNvSpPr>
          <p:nvPr>
            <p:ph type="title"/>
          </p:nvPr>
        </p:nvSpPr>
        <p:spPr>
          <a:xfrm>
            <a:off x="838200" y="484632"/>
            <a:ext cx="10290048" cy="1609344"/>
          </a:xfrm>
        </p:spPr>
        <p:txBody>
          <a:bodyPr/>
          <a:lstStyle/>
          <a:p>
            <a:r>
              <a:rPr lang="en-US" dirty="0">
                <a:latin typeface="Times New Roman" panose="02020603050405020304" pitchFamily="18" charset="0"/>
                <a:cs typeface="Times New Roman" panose="02020603050405020304" pitchFamily="18" charset="0"/>
              </a:rPr>
              <a:t>HOST FACTORS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1C1F23-D143-E203-BD11-5CB836C43D0E}"/>
              </a:ext>
            </a:extLst>
          </p:cNvPr>
          <p:cNvSpPr>
            <a:spLocks noGrp="1"/>
          </p:cNvSpPr>
          <p:nvPr>
            <p:ph idx="1"/>
          </p:nvPr>
        </p:nvSpPr>
        <p:spPr>
          <a:xfrm>
            <a:off x="838200" y="1995948"/>
            <a:ext cx="10515600" cy="4761118"/>
          </a:xfrm>
        </p:spPr>
        <p:txBody>
          <a:bodyPr>
            <a:normAutofit/>
          </a:bodyPr>
          <a:lstStyle/>
          <a:p>
            <a:pPr marL="0" indent="0">
              <a:buNone/>
            </a:pPr>
            <a:r>
              <a:rPr lang="en-US" sz="2400" dirty="0"/>
              <a:t>AGE : </a:t>
            </a:r>
          </a:p>
          <a:p>
            <a:r>
              <a:rPr lang="en-US" sz="2400" dirty="0"/>
              <a:t>The outcomes of HBV infection are age-dependent. </a:t>
            </a:r>
          </a:p>
          <a:p>
            <a:r>
              <a:rPr lang="en-US" sz="2400" dirty="0"/>
              <a:t>Acute </a:t>
            </a:r>
            <a:r>
              <a:rPr lang="en-US" sz="2400" dirty="0" err="1"/>
              <a:t>Hepatits</a:t>
            </a:r>
            <a:r>
              <a:rPr lang="en-US" sz="2400" dirty="0"/>
              <a:t>-B occurs in approximately 1 per cent of perinatal, 10 per cent of early childhood (1-5 years of age), and 30 per cent of late (&gt;5 years age) HBV infections. </a:t>
            </a:r>
          </a:p>
          <a:p>
            <a:r>
              <a:rPr lang="en-US" sz="2400" dirty="0"/>
              <a:t>Mortality from fulminant hepatitis B is approximately 70 per cent. </a:t>
            </a:r>
          </a:p>
          <a:p>
            <a:r>
              <a:rPr lang="en-US" sz="2400" dirty="0"/>
              <a:t>The development of chronic HBV infection is inversely related to age and occurs in approximately 80-90 per cent of persons infected perinatally in 30-50 per cent infected in early childhood (less than 6 years of age).</a:t>
            </a:r>
            <a:endParaRPr lang="en-IN" sz="2400" dirty="0"/>
          </a:p>
        </p:txBody>
      </p:sp>
    </p:spTree>
    <p:extLst>
      <p:ext uri="{BB962C8B-B14F-4D97-AF65-F5344CB8AC3E}">
        <p14:creationId xmlns:p14="http://schemas.microsoft.com/office/powerpoint/2010/main" val="1508061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B8123-20BA-64F9-655E-4DB7F0E52AE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HIGH-RISK GROUPS: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2766D7-69F5-8743-9F5D-E80E8ABB4DB9}"/>
              </a:ext>
            </a:extLst>
          </p:cNvPr>
          <p:cNvSpPr>
            <a:spLocks noGrp="1"/>
          </p:cNvSpPr>
          <p:nvPr>
            <p:ph idx="1"/>
          </p:nvPr>
        </p:nvSpPr>
        <p:spPr>
          <a:xfrm>
            <a:off x="848031" y="2093976"/>
            <a:ext cx="10704871" cy="4593969"/>
          </a:xfrm>
        </p:spPr>
        <p:txBody>
          <a:bodyPr>
            <a:normAutofit/>
          </a:bodyPr>
          <a:lstStyle/>
          <a:p>
            <a:r>
              <a:rPr lang="en-US" sz="2400" dirty="0"/>
              <a:t>Certain groups carry higher risks. </a:t>
            </a:r>
          </a:p>
          <a:p>
            <a:r>
              <a:rPr lang="en-US" sz="2400" dirty="0"/>
              <a:t>The annual incidence of HBV infection in surgeons is estimated to be 50 times greater than that in the general population, and is more than twice that of other physicians. </a:t>
            </a:r>
          </a:p>
          <a:p>
            <a:r>
              <a:rPr lang="en-US" sz="2400" dirty="0"/>
              <a:t>Other high risk groups comprise recipients of blood transfusions, health care and laboratory personnel, homosexuals, prostitutes, percutaneous drug abusers, infants of HBV carrier mothers, recipients of solid organ transplants and patients who are immunocompromised. </a:t>
            </a:r>
          </a:p>
          <a:p>
            <a:r>
              <a:rPr lang="en-US" sz="2400" dirty="0"/>
              <a:t>Serological screening and vaccination of high-risk groups is highly recommended.</a:t>
            </a:r>
            <a:endParaRPr lang="en-IN" sz="2400" dirty="0"/>
          </a:p>
        </p:txBody>
      </p:sp>
    </p:spTree>
    <p:extLst>
      <p:ext uri="{BB962C8B-B14F-4D97-AF65-F5344CB8AC3E}">
        <p14:creationId xmlns:p14="http://schemas.microsoft.com/office/powerpoint/2010/main" val="1733013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1D415-41FB-0F49-63A0-88EA1675868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HEPATITIS B AND HIV INFECTION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DD42D3-5C9A-B800-1EF8-B859CE49E8EF}"/>
              </a:ext>
            </a:extLst>
          </p:cNvPr>
          <p:cNvSpPr>
            <a:spLocks noGrp="1"/>
          </p:cNvSpPr>
          <p:nvPr>
            <p:ph idx="1"/>
          </p:nvPr>
        </p:nvSpPr>
        <p:spPr/>
        <p:txBody>
          <a:bodyPr>
            <a:normAutofit/>
          </a:bodyPr>
          <a:lstStyle/>
          <a:p>
            <a:r>
              <a:rPr lang="en-US" sz="2400" dirty="0"/>
              <a:t>It is estimated that 10 per cent of the 40 million people infected with HIV worldwide are coinfected with HBV. </a:t>
            </a:r>
          </a:p>
          <a:p>
            <a:r>
              <a:rPr lang="en-US" sz="2400" dirty="0"/>
              <a:t>Although HBV infection appears to have a minimal effect on the progression of HIV, the presence of HIV markedly increases the risk of developing HBV-associated liver cirrhosis and hepatocellular carcinoma. </a:t>
            </a:r>
          </a:p>
          <a:p>
            <a:r>
              <a:rPr lang="en-US" sz="2400" dirty="0"/>
              <a:t>The mortality rate increases among HIV-positive people due to HBV coinfection both before and after commencement of highly active anti-retroviral therapy.</a:t>
            </a:r>
            <a:endParaRPr lang="en-IN" sz="2400" dirty="0"/>
          </a:p>
        </p:txBody>
      </p:sp>
    </p:spTree>
    <p:extLst>
      <p:ext uri="{BB962C8B-B14F-4D97-AF65-F5344CB8AC3E}">
        <p14:creationId xmlns:p14="http://schemas.microsoft.com/office/powerpoint/2010/main" val="2398444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0E60-FBD6-5FFB-E1A9-D1A44D17CB4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HUMORAL AND CELLULAR RESPONSES</a:t>
            </a:r>
          </a:p>
        </p:txBody>
      </p:sp>
      <p:sp>
        <p:nvSpPr>
          <p:cNvPr id="3" name="Content Placeholder 2">
            <a:extLst>
              <a:ext uri="{FF2B5EF4-FFF2-40B4-BE49-F238E27FC236}">
                <a16:creationId xmlns:a16="http://schemas.microsoft.com/office/drawing/2014/main" id="{65D9F83C-0601-8728-A9AF-CB88725D9BA7}"/>
              </a:ext>
            </a:extLst>
          </p:cNvPr>
          <p:cNvSpPr>
            <a:spLocks noGrp="1"/>
          </p:cNvSpPr>
          <p:nvPr>
            <p:ph idx="1"/>
          </p:nvPr>
        </p:nvSpPr>
        <p:spPr/>
        <p:txBody>
          <a:bodyPr>
            <a:normAutofit/>
          </a:bodyPr>
          <a:lstStyle/>
          <a:p>
            <a:r>
              <a:rPr lang="en-IN" sz="2400" dirty="0"/>
              <a:t>Hepatitis B virus has three distinct antigens - a surface antigen, also known as ‘’Australia antigen” (HBsAg), a core antigen (</a:t>
            </a:r>
            <a:r>
              <a:rPr lang="en-IN" sz="2400" dirty="0" err="1"/>
              <a:t>HBeAg</a:t>
            </a:r>
            <a:r>
              <a:rPr lang="en-IN" sz="2400" dirty="0"/>
              <a:t>), and an “e” antigen (</a:t>
            </a:r>
            <a:r>
              <a:rPr lang="en-IN" sz="2400" dirty="0" err="1"/>
              <a:t>HBeAg</a:t>
            </a:r>
            <a:r>
              <a:rPr lang="en-IN" sz="2400" dirty="0"/>
              <a:t>). </a:t>
            </a:r>
          </a:p>
          <a:p>
            <a:r>
              <a:rPr lang="en-IN" sz="2400" dirty="0"/>
              <a:t>They stimulate the production of corresponding antibodies e.g., surface antibody (anti-HBs), core antibody (anti-HBc) and “e” antibody (anti- </a:t>
            </a:r>
            <a:r>
              <a:rPr lang="en-IN" sz="2400" dirty="0" err="1"/>
              <a:t>HBe</a:t>
            </a:r>
            <a:r>
              <a:rPr lang="en-IN" sz="2400" dirty="0"/>
              <a:t>). </a:t>
            </a:r>
          </a:p>
          <a:p>
            <a:r>
              <a:rPr lang="en-IN" sz="2400" dirty="0"/>
              <a:t>These antibodies and their antigens constitute very useful markers of HBV infection. Patients with HBV infection are expected to have one or more HBV markers.</a:t>
            </a:r>
          </a:p>
        </p:txBody>
      </p:sp>
    </p:spTree>
    <p:extLst>
      <p:ext uri="{BB962C8B-B14F-4D97-AF65-F5344CB8AC3E}">
        <p14:creationId xmlns:p14="http://schemas.microsoft.com/office/powerpoint/2010/main" val="1096635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28367-7FEA-486E-980B-FF2115EC1835}"/>
              </a:ext>
            </a:extLst>
          </p:cNvPr>
          <p:cNvSpPr>
            <a:spLocks noGrp="1"/>
          </p:cNvSpPr>
          <p:nvPr>
            <p:ph type="title"/>
          </p:nvPr>
        </p:nvSpPr>
        <p:spPr>
          <a:xfrm>
            <a:off x="853538" y="111006"/>
            <a:ext cx="10058400" cy="1609344"/>
          </a:xfrm>
        </p:spPr>
        <p:txBody>
          <a:bodyPr/>
          <a:lstStyle/>
          <a:p>
            <a:r>
              <a:rPr lang="en-IN" dirty="0"/>
              <a:t>Modes of transmission</a:t>
            </a:r>
          </a:p>
        </p:txBody>
      </p:sp>
      <p:sp>
        <p:nvSpPr>
          <p:cNvPr id="3" name="Content Placeholder 2">
            <a:extLst>
              <a:ext uri="{FF2B5EF4-FFF2-40B4-BE49-F238E27FC236}">
                <a16:creationId xmlns:a16="http://schemas.microsoft.com/office/drawing/2014/main" id="{363D75D6-C935-1F93-FCBD-AF283115E2E8}"/>
              </a:ext>
            </a:extLst>
          </p:cNvPr>
          <p:cNvSpPr>
            <a:spLocks noGrp="1"/>
          </p:cNvSpPr>
          <p:nvPr>
            <p:ph idx="1"/>
          </p:nvPr>
        </p:nvSpPr>
        <p:spPr>
          <a:xfrm>
            <a:off x="922365" y="1541305"/>
            <a:ext cx="10058400" cy="4908656"/>
          </a:xfrm>
        </p:spPr>
        <p:txBody>
          <a:bodyPr>
            <a:normAutofit/>
          </a:bodyPr>
          <a:lstStyle/>
          <a:p>
            <a:r>
              <a:rPr lang="en-US" sz="2400" b="1" u="sng" dirty="0"/>
              <a:t>Parenteral route: </a:t>
            </a:r>
            <a:r>
              <a:rPr lang="en-US" sz="2400" dirty="0"/>
              <a:t>Hepatitis B is essentially a blood-borne infection. It is transmitted by infected blood and blood products through transfusions, dialysis, contaminated syringes and needles, pricks of skin, handling of infected blood, accidental inoculation of minute quantities of blood such as may occur during surgical and dental procedures, immunization, traditional tattooing, ear piercing, nose piercing, ritual circumcision, </a:t>
            </a:r>
            <a:r>
              <a:rPr lang="en-US" sz="2400" dirty="0" err="1"/>
              <a:t>accupuncture</a:t>
            </a:r>
            <a:r>
              <a:rPr lang="en-US" sz="2400" dirty="0"/>
              <a:t>, etc. </a:t>
            </a:r>
          </a:p>
          <a:p>
            <a:r>
              <a:rPr lang="en-US" sz="2400" b="1" u="sng" dirty="0"/>
              <a:t>Perinatal transmission: </a:t>
            </a:r>
            <a:r>
              <a:rPr lang="en-US" sz="2400" dirty="0"/>
              <a:t>Spread of infection from HBV carrier mothers to their babies appears to be an important factor for the high prevalence of HBV infection in some regions, particularly China and SE Asia. The risk of infection varies from country to country and unless vaccinated at birth, the majority of children born to mothers who are </a:t>
            </a:r>
            <a:r>
              <a:rPr lang="en-US" sz="2400" dirty="0" err="1"/>
              <a:t>HBeAg-posilive</a:t>
            </a:r>
            <a:r>
              <a:rPr lang="en-US" sz="2400" dirty="0"/>
              <a:t> become chronically infected. The mechanism of perinatal infection is uncertain. </a:t>
            </a:r>
            <a:endParaRPr lang="en-IN" sz="2400" dirty="0"/>
          </a:p>
        </p:txBody>
      </p:sp>
    </p:spTree>
    <p:extLst>
      <p:ext uri="{BB962C8B-B14F-4D97-AF65-F5344CB8AC3E}">
        <p14:creationId xmlns:p14="http://schemas.microsoft.com/office/powerpoint/2010/main" val="1369469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21C9F-4B84-7984-6F46-B00BC7656A79}"/>
              </a:ext>
            </a:extLst>
          </p:cNvPr>
          <p:cNvSpPr>
            <a:spLocks noGrp="1"/>
          </p:cNvSpPr>
          <p:nvPr>
            <p:ph idx="1"/>
          </p:nvPr>
        </p:nvSpPr>
        <p:spPr>
          <a:xfrm>
            <a:off x="942028" y="1059525"/>
            <a:ext cx="10058400" cy="4050792"/>
          </a:xfrm>
        </p:spPr>
        <p:txBody>
          <a:bodyPr>
            <a:normAutofit/>
          </a:bodyPr>
          <a:lstStyle/>
          <a:p>
            <a:r>
              <a:rPr lang="en-US" sz="2400" b="1" u="sng" dirty="0"/>
              <a:t>Sexual transmission: </a:t>
            </a:r>
            <a:r>
              <a:rPr lang="en-US" sz="2400" dirty="0"/>
              <a:t>There is ample evidence for the spread of infection by intimate contact or by sexual route. Various body fluids including saliva, vaginal, menstrual and seminal fluids have been implicated as vehicles of human transmission. The sexually promiscuous, particularly male homosexuals, are at very high risk of infection with hepatitis B.</a:t>
            </a:r>
          </a:p>
          <a:p>
            <a:r>
              <a:rPr lang="en-US" sz="2400" b="1" u="sng" dirty="0"/>
              <a:t>Other routes :</a:t>
            </a:r>
            <a:r>
              <a:rPr lang="en-US" sz="2400" dirty="0"/>
              <a:t> Transmission from child-to—child, often called horizontal transmission, is responsible for a majority of HBV infections and carriers in parts of the world other than Asia. The researchers believe that the spread occurs through physical contact between children with skin conditions such as cuts or grazes. </a:t>
            </a:r>
            <a:endParaRPr lang="en-IN" sz="2400" dirty="0"/>
          </a:p>
        </p:txBody>
      </p:sp>
    </p:spTree>
    <p:extLst>
      <p:ext uri="{BB962C8B-B14F-4D97-AF65-F5344CB8AC3E}">
        <p14:creationId xmlns:p14="http://schemas.microsoft.com/office/powerpoint/2010/main" val="3209564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74893-48BF-5A7C-1D44-AF919D058C41}"/>
              </a:ext>
            </a:extLst>
          </p:cNvPr>
          <p:cNvSpPr>
            <a:spLocks noGrp="1"/>
          </p:cNvSpPr>
          <p:nvPr>
            <p:ph type="title"/>
          </p:nvPr>
        </p:nvSpPr>
        <p:spPr/>
        <p:txBody>
          <a:bodyPr/>
          <a:lstStyle/>
          <a:p>
            <a:r>
              <a:rPr lang="en-IN" dirty="0"/>
              <a:t>Incubation period</a:t>
            </a:r>
          </a:p>
        </p:txBody>
      </p:sp>
      <p:sp>
        <p:nvSpPr>
          <p:cNvPr id="3" name="Content Placeholder 2">
            <a:extLst>
              <a:ext uri="{FF2B5EF4-FFF2-40B4-BE49-F238E27FC236}">
                <a16:creationId xmlns:a16="http://schemas.microsoft.com/office/drawing/2014/main" id="{3DE91EBB-1287-1A79-50AA-72A6F2AC1C19}"/>
              </a:ext>
            </a:extLst>
          </p:cNvPr>
          <p:cNvSpPr>
            <a:spLocks noGrp="1"/>
          </p:cNvSpPr>
          <p:nvPr>
            <p:ph idx="1"/>
          </p:nvPr>
        </p:nvSpPr>
        <p:spPr/>
        <p:txBody>
          <a:bodyPr/>
          <a:lstStyle/>
          <a:p>
            <a:r>
              <a:rPr lang="en-US" dirty="0"/>
              <a:t>30 to 180 days. Lower doses of the virus result often in longer incubation period. The average incubation period is about 75 days.</a:t>
            </a:r>
            <a:endParaRPr lang="en-IN" dirty="0"/>
          </a:p>
        </p:txBody>
      </p:sp>
    </p:spTree>
    <p:extLst>
      <p:ext uri="{BB962C8B-B14F-4D97-AF65-F5344CB8AC3E}">
        <p14:creationId xmlns:p14="http://schemas.microsoft.com/office/powerpoint/2010/main" val="616194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DD9E9-B370-5437-0CA8-4D577A223488}"/>
              </a:ext>
            </a:extLst>
          </p:cNvPr>
          <p:cNvSpPr>
            <a:spLocks noGrp="1"/>
          </p:cNvSpPr>
          <p:nvPr>
            <p:ph type="title"/>
          </p:nvPr>
        </p:nvSpPr>
        <p:spPr>
          <a:xfrm>
            <a:off x="725719" y="0"/>
            <a:ext cx="10058400" cy="1609344"/>
          </a:xfrm>
        </p:spPr>
        <p:txBody>
          <a:bodyPr/>
          <a:lstStyle/>
          <a:p>
            <a:r>
              <a:rPr lang="en-IN" dirty="0"/>
              <a:t>Clinical picture</a:t>
            </a:r>
          </a:p>
        </p:txBody>
      </p:sp>
      <p:sp>
        <p:nvSpPr>
          <p:cNvPr id="3" name="Content Placeholder 2">
            <a:extLst>
              <a:ext uri="{FF2B5EF4-FFF2-40B4-BE49-F238E27FC236}">
                <a16:creationId xmlns:a16="http://schemas.microsoft.com/office/drawing/2014/main" id="{3DC725F2-0DFF-B4B3-1A87-0BF0464E5456}"/>
              </a:ext>
            </a:extLst>
          </p:cNvPr>
          <p:cNvSpPr>
            <a:spLocks noGrp="1"/>
          </p:cNvSpPr>
          <p:nvPr>
            <p:ph idx="1"/>
          </p:nvPr>
        </p:nvSpPr>
        <p:spPr>
          <a:xfrm>
            <a:off x="725719" y="1492095"/>
            <a:ext cx="10058400" cy="4050792"/>
          </a:xfrm>
        </p:spPr>
        <p:txBody>
          <a:bodyPr>
            <a:noAutofit/>
          </a:bodyPr>
          <a:lstStyle/>
          <a:p>
            <a:r>
              <a:rPr lang="en-US" sz="2400" dirty="0"/>
              <a:t>The symptoms and manifestations of hepatitis B are similar to those of other types of viral hepatitis. </a:t>
            </a:r>
          </a:p>
          <a:p>
            <a:r>
              <a:rPr lang="en-US" sz="2400" dirty="0"/>
              <a:t>The picture is complicated by the carrier state and by chronic liver disease, which may follow the infection. </a:t>
            </a:r>
          </a:p>
          <a:p>
            <a:r>
              <a:rPr lang="en-US" sz="2400" dirty="0"/>
              <a:t>The spectrum of disease and natural history of chronic HBV infection are diverse. In some people, CHB is inactive and does not lead to significant liver disease. </a:t>
            </a:r>
          </a:p>
          <a:p>
            <a:r>
              <a:rPr lang="en-US" sz="2400" dirty="0"/>
              <a:t>In others, it may cause progressive liver fibrosis, leading to cirrhosis with end-stage liver disease, and markedly increased risk of hepatocellular carcinoma, independent of the presence of cirrhosis - usually many years after initial infection.</a:t>
            </a:r>
          </a:p>
          <a:p>
            <a:r>
              <a:rPr lang="en-US" sz="2400" dirty="0"/>
              <a:t> Longitudinal studies of untreated persons with CHB show 8-20 per cent cumulation risk of developing cirrhosis over 5 years</a:t>
            </a:r>
            <a:endParaRPr lang="en-IN" sz="2400" dirty="0"/>
          </a:p>
        </p:txBody>
      </p:sp>
    </p:spTree>
    <p:extLst>
      <p:ext uri="{BB962C8B-B14F-4D97-AF65-F5344CB8AC3E}">
        <p14:creationId xmlns:p14="http://schemas.microsoft.com/office/powerpoint/2010/main" val="4048793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F7A292-ED59-A512-02CD-B4BC4D4B2704}"/>
              </a:ext>
            </a:extLst>
          </p:cNvPr>
          <p:cNvSpPr>
            <a:spLocks noGrp="1"/>
          </p:cNvSpPr>
          <p:nvPr>
            <p:ph idx="1"/>
          </p:nvPr>
        </p:nvSpPr>
        <p:spPr>
          <a:xfrm>
            <a:off x="892867" y="1089021"/>
            <a:ext cx="10058400" cy="4050792"/>
          </a:xfrm>
        </p:spPr>
        <p:txBody>
          <a:bodyPr>
            <a:normAutofit/>
          </a:bodyPr>
          <a:lstStyle/>
          <a:p>
            <a:r>
              <a:rPr lang="en-US" sz="2400" dirty="0"/>
              <a:t>In those with cirrhosis, there is an approximately 20 per cent annual risk of hepatic decompensation and the annual incidence of hepatic B related HCC is high, ranging from 1 to 5 per cent. </a:t>
            </a:r>
          </a:p>
          <a:p>
            <a:r>
              <a:rPr lang="en-US" sz="2400" dirty="0"/>
              <a:t>Untreated patients with decompensated cirrhosis have poor prognosis, with 15-40 per cent survival at 5 years.</a:t>
            </a:r>
          </a:p>
          <a:p>
            <a:r>
              <a:rPr lang="en-US" sz="2400" dirty="0"/>
              <a:t>Several host and viral factors, especially coinfections HIV, HCV and hepatitis D virus together with other cofactors such as alcohol use, may increase the rate of disease progression and risk of developing HCC.</a:t>
            </a:r>
            <a:endParaRPr lang="en-IN" sz="2400" dirty="0"/>
          </a:p>
        </p:txBody>
      </p:sp>
    </p:spTree>
    <p:extLst>
      <p:ext uri="{BB962C8B-B14F-4D97-AF65-F5344CB8AC3E}">
        <p14:creationId xmlns:p14="http://schemas.microsoft.com/office/powerpoint/2010/main" val="2402885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A998E-FEEC-D560-115C-4CBA98011948}"/>
              </a:ext>
            </a:extLst>
          </p:cNvPr>
          <p:cNvSpPr>
            <a:spLocks noGrp="1"/>
          </p:cNvSpPr>
          <p:nvPr>
            <p:ph type="title"/>
          </p:nvPr>
        </p:nvSpPr>
        <p:spPr/>
        <p:txBody>
          <a:bodyPr/>
          <a:lstStyle/>
          <a:p>
            <a:r>
              <a:rPr lang="en-IN" dirty="0"/>
              <a:t>Diagnosis</a:t>
            </a:r>
          </a:p>
        </p:txBody>
      </p:sp>
      <p:sp>
        <p:nvSpPr>
          <p:cNvPr id="3" name="Content Placeholder 2">
            <a:extLst>
              <a:ext uri="{FF2B5EF4-FFF2-40B4-BE49-F238E27FC236}">
                <a16:creationId xmlns:a16="http://schemas.microsoft.com/office/drawing/2014/main" id="{86FE99B0-92CC-67B2-1B57-33DB4BE70D59}"/>
              </a:ext>
            </a:extLst>
          </p:cNvPr>
          <p:cNvSpPr>
            <a:spLocks noGrp="1"/>
          </p:cNvSpPr>
          <p:nvPr>
            <p:ph idx="1"/>
          </p:nvPr>
        </p:nvSpPr>
        <p:spPr/>
        <p:txBody>
          <a:bodyPr>
            <a:normAutofit/>
          </a:bodyPr>
          <a:lstStyle/>
          <a:p>
            <a:r>
              <a:rPr lang="en-IN" sz="2400" dirty="0"/>
              <a:t>There are three distinct antigen antibody systems that relate to HBV infection and a variety of circulating markers that are useful in diagnosis. </a:t>
            </a:r>
          </a:p>
          <a:p>
            <a:r>
              <a:rPr lang="en-IN" sz="2400" dirty="0"/>
              <a:t>The assays that detect the presence of either antigens or antibodies, typically in serum or plasma but also in capillary blood and oral fluid. </a:t>
            </a:r>
          </a:p>
          <a:p>
            <a:r>
              <a:rPr lang="en-IN" sz="2400" dirty="0"/>
              <a:t>These include rapid diagnostic tests (RDTs), and laboratory-based immunoassays, e.g. enzyme immunoassays (EIAs), chemiluminescence immunoassays (CLIAs), and electro chemiluminescence immunoassays (ECLs).</a:t>
            </a:r>
          </a:p>
        </p:txBody>
      </p:sp>
    </p:spTree>
    <p:extLst>
      <p:ext uri="{BB962C8B-B14F-4D97-AF65-F5344CB8AC3E}">
        <p14:creationId xmlns:p14="http://schemas.microsoft.com/office/powerpoint/2010/main" val="4161143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802B9-2CD4-9996-1DC1-F057D36182C3}"/>
              </a:ext>
            </a:extLst>
          </p:cNvPr>
          <p:cNvSpPr>
            <a:spLocks noGrp="1"/>
          </p:cNvSpPr>
          <p:nvPr>
            <p:ph type="title"/>
          </p:nvPr>
        </p:nvSpPr>
        <p:spPr/>
        <p:txBody>
          <a:bodyPr/>
          <a:lstStyle/>
          <a:p>
            <a:r>
              <a:rPr lang="en-IN" dirty="0"/>
              <a:t>PREVENTION AND CONTAINMENT</a:t>
            </a:r>
          </a:p>
        </p:txBody>
      </p:sp>
      <p:sp>
        <p:nvSpPr>
          <p:cNvPr id="3" name="Content Placeholder 2">
            <a:extLst>
              <a:ext uri="{FF2B5EF4-FFF2-40B4-BE49-F238E27FC236}">
                <a16:creationId xmlns:a16="http://schemas.microsoft.com/office/drawing/2014/main" id="{B57E524E-5B0D-6CB1-A0A0-B74176C28A98}"/>
              </a:ext>
            </a:extLst>
          </p:cNvPr>
          <p:cNvSpPr>
            <a:spLocks noGrp="1"/>
          </p:cNvSpPr>
          <p:nvPr>
            <p:ph idx="1"/>
          </p:nvPr>
        </p:nvSpPr>
        <p:spPr/>
        <p:txBody>
          <a:bodyPr/>
          <a:lstStyle/>
          <a:p>
            <a:r>
              <a:rPr lang="en-US" sz="2400" dirty="0"/>
              <a:t>Since there is no specific treatment, prevention has been the major aim in managing viral hepatitis B.</a:t>
            </a:r>
          </a:p>
          <a:p>
            <a:r>
              <a:rPr lang="en-US" sz="2400" b="1" u="sng" dirty="0"/>
              <a:t>Hepatitis B vaccine: </a:t>
            </a:r>
            <a:r>
              <a:rPr lang="en-US" sz="2400" dirty="0"/>
              <a:t>The recombinant hepatitis B vaccine was introduced in 1986 and has gradually replaced the plasma-derived hepatitis B vaccine. The active substance in recombinant hepatitis B vaccine is HBsAg.</a:t>
            </a:r>
          </a:p>
          <a:p>
            <a:r>
              <a:rPr lang="en-US" sz="2400" dirty="0"/>
              <a:t>Hepatitis B vaccine is available as monovalent formulation, or in fixed combination with other vaccines, including DPT, Hib, hepatitis A and inactivated polio.</a:t>
            </a:r>
          </a:p>
          <a:p>
            <a:endParaRPr lang="en-IN" dirty="0"/>
          </a:p>
        </p:txBody>
      </p:sp>
    </p:spTree>
    <p:extLst>
      <p:ext uri="{BB962C8B-B14F-4D97-AF65-F5344CB8AC3E}">
        <p14:creationId xmlns:p14="http://schemas.microsoft.com/office/powerpoint/2010/main" val="1683197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F7E296-F7CB-18E8-CFE0-0B6D5104D7EC}"/>
              </a:ext>
            </a:extLst>
          </p:cNvPr>
          <p:cNvSpPr>
            <a:spLocks noGrp="1"/>
          </p:cNvSpPr>
          <p:nvPr>
            <p:ph idx="1"/>
          </p:nvPr>
        </p:nvSpPr>
        <p:spPr>
          <a:xfrm>
            <a:off x="1066800" y="1275833"/>
            <a:ext cx="10058400" cy="4050792"/>
          </a:xfrm>
        </p:spPr>
        <p:txBody>
          <a:bodyPr>
            <a:noAutofit/>
          </a:bodyPr>
          <a:lstStyle/>
          <a:p>
            <a:r>
              <a:rPr lang="en-US" sz="2400" dirty="0"/>
              <a:t>The dose for adults is 10-20 micrograms initially (depending on the formulation) and again at 1 and 6 months. </a:t>
            </a:r>
          </a:p>
          <a:p>
            <a:r>
              <a:rPr lang="en-US" sz="2400" dirty="0"/>
              <a:t>Children under 10 years of age should be given half of the adult dose at the same time intervals. </a:t>
            </a:r>
          </a:p>
          <a:p>
            <a:r>
              <a:rPr lang="en-US" sz="2400" dirty="0"/>
              <a:t>For greatest reliability of absorption, the deltoid muscle is preferred for injection as gluteal injection often results in deposition of vaccine in fat rather than muscle, with fewer serologic conversion. </a:t>
            </a:r>
          </a:p>
          <a:p>
            <a:r>
              <a:rPr lang="en-US" sz="2400" dirty="0"/>
              <a:t>For infants and children under 2 years, anterolateral aspect of thigh is used as vaccination site. Intradermal administration is not recommended because the immune response is less reliable particularly in children.</a:t>
            </a:r>
            <a:endParaRPr lang="en-IN" sz="2400" dirty="0"/>
          </a:p>
        </p:txBody>
      </p:sp>
    </p:spTree>
    <p:extLst>
      <p:ext uri="{BB962C8B-B14F-4D97-AF65-F5344CB8AC3E}">
        <p14:creationId xmlns:p14="http://schemas.microsoft.com/office/powerpoint/2010/main" val="657497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E1722B-B17C-E489-9F41-9291C845033C}"/>
              </a:ext>
            </a:extLst>
          </p:cNvPr>
          <p:cNvSpPr>
            <a:spLocks noGrp="1"/>
          </p:cNvSpPr>
          <p:nvPr>
            <p:ph idx="1"/>
          </p:nvPr>
        </p:nvSpPr>
        <p:spPr>
          <a:xfrm>
            <a:off x="1069848" y="875071"/>
            <a:ext cx="10058400" cy="5297129"/>
          </a:xfrm>
        </p:spPr>
        <p:txBody>
          <a:bodyPr>
            <a:normAutofit/>
          </a:bodyPr>
          <a:lstStyle/>
          <a:p>
            <a:r>
              <a:rPr lang="en-US" sz="2400" b="1" u="sng" dirty="0"/>
              <a:t>Pentavalent Vaccine :</a:t>
            </a:r>
            <a:r>
              <a:rPr lang="en-US" sz="2400" dirty="0"/>
              <a:t> It is a combined vaccine giving protection against diphtheria, pertussis, tetanus, hepatitis B and Hib. </a:t>
            </a:r>
          </a:p>
          <a:p>
            <a:r>
              <a:rPr lang="en-US" sz="2400" b="1" u="sng" dirty="0"/>
              <a:t>Hepatitis B immunoglobulin (HBIG):</a:t>
            </a:r>
            <a:r>
              <a:rPr lang="en-US" sz="2400" dirty="0"/>
              <a:t> For immediate protection, HBIG is used for those acutely exposed to HBsAg-positive blood, for example,</a:t>
            </a:r>
          </a:p>
          <a:p>
            <a:r>
              <a:rPr lang="en-US" sz="2400" dirty="0"/>
              <a:t>(a) surgeons, nurses or laboratory workers </a:t>
            </a:r>
          </a:p>
          <a:p>
            <a:r>
              <a:rPr lang="en-US" sz="2400" dirty="0"/>
              <a:t>(b) newborn infants of carrier mothers </a:t>
            </a:r>
          </a:p>
          <a:p>
            <a:r>
              <a:rPr lang="en-US" sz="2400" dirty="0"/>
              <a:t>(c) sexual contacts of acute hepatitis B patients, and </a:t>
            </a:r>
          </a:p>
          <a:p>
            <a:r>
              <a:rPr lang="en-US" sz="2400" dirty="0"/>
              <a:t>(d) patients who need protection against HBV infection after liver transplantation. </a:t>
            </a:r>
          </a:p>
          <a:p>
            <a:r>
              <a:rPr lang="en-US" sz="2400" dirty="0"/>
              <a:t>The HBIG should be given as soon as possible after an accidental inoculation (ideally within 6 hours and preferably not later than 48 hours).</a:t>
            </a:r>
            <a:endParaRPr lang="en-IN" sz="2400" dirty="0"/>
          </a:p>
        </p:txBody>
      </p:sp>
    </p:spTree>
    <p:extLst>
      <p:ext uri="{BB962C8B-B14F-4D97-AF65-F5344CB8AC3E}">
        <p14:creationId xmlns:p14="http://schemas.microsoft.com/office/powerpoint/2010/main" val="1035833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1CE9B-B6D3-6F53-7382-1BDBE096AC5E}"/>
              </a:ext>
            </a:extLst>
          </p:cNvPr>
          <p:cNvSpPr>
            <a:spLocks noGrp="1"/>
          </p:cNvSpPr>
          <p:nvPr>
            <p:ph idx="1"/>
          </p:nvPr>
        </p:nvSpPr>
        <p:spPr>
          <a:xfrm>
            <a:off x="1066800" y="1108685"/>
            <a:ext cx="10058400" cy="4050792"/>
          </a:xfrm>
        </p:spPr>
        <p:txBody>
          <a:bodyPr>
            <a:noAutofit/>
          </a:bodyPr>
          <a:lstStyle/>
          <a:p>
            <a:r>
              <a:rPr lang="en-US" sz="2400" b="1" u="sng" dirty="0"/>
              <a:t>Passive-active immunization: </a:t>
            </a:r>
            <a:r>
              <a:rPr lang="en-US" sz="2400" dirty="0"/>
              <a:t>The simultaneous administration of HBIG and hepatitis B vaccine is more efficacious than HBIG alone. </a:t>
            </a:r>
          </a:p>
          <a:p>
            <a:r>
              <a:rPr lang="en-US" sz="2400" dirty="0"/>
              <a:t>HBIG does not interfere with the antibody response to the hepatitis B vaccine. </a:t>
            </a:r>
          </a:p>
          <a:p>
            <a:r>
              <a:rPr lang="en-US" sz="2400" dirty="0"/>
              <a:t>This combined procedure is ideal both for prophylaxis of persons accidentally exposed to blood known to contain hepatitis B virus, and for prevention of the carrier state in the newborn babies of carrier mothers. </a:t>
            </a:r>
          </a:p>
          <a:p>
            <a:r>
              <a:rPr lang="en-US" sz="2400" dirty="0"/>
              <a:t>HBIG (0.05-0.07 ml/kg) should be given as soon as possible and within 24 hours, if possible. Hepatitis B virus vaccine 1.0 ml (20 mcg/1.0 ml) should be given intramuscularly within 7 days of exposure, and second and third doses should be given one and six months, respectively, after the first dose.</a:t>
            </a:r>
            <a:endParaRPr lang="en-IN" sz="2400" dirty="0"/>
          </a:p>
        </p:txBody>
      </p:sp>
    </p:spTree>
    <p:extLst>
      <p:ext uri="{BB962C8B-B14F-4D97-AF65-F5344CB8AC3E}">
        <p14:creationId xmlns:p14="http://schemas.microsoft.com/office/powerpoint/2010/main" val="2789049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573AE1-CE91-25E4-21EB-C9C696723320}"/>
              </a:ext>
            </a:extLst>
          </p:cNvPr>
          <p:cNvSpPr>
            <a:spLocks noGrp="1"/>
          </p:cNvSpPr>
          <p:nvPr>
            <p:ph idx="1"/>
          </p:nvPr>
        </p:nvSpPr>
        <p:spPr>
          <a:xfrm>
            <a:off x="1066800" y="980866"/>
            <a:ext cx="10058400" cy="4050792"/>
          </a:xfrm>
        </p:spPr>
        <p:txBody>
          <a:bodyPr>
            <a:normAutofit/>
          </a:bodyPr>
          <a:lstStyle/>
          <a:p>
            <a:r>
              <a:rPr lang="en-US" sz="2400" b="1" u="sng" dirty="0"/>
              <a:t>Other measures: </a:t>
            </a:r>
            <a:r>
              <a:rPr lang="en-US" sz="2400" dirty="0"/>
              <a:t>All blood donors should be screened for HBV infection, and those positive for HBsAg also known as Australia antigen should be rejected.</a:t>
            </a:r>
          </a:p>
          <a:p>
            <a:r>
              <a:rPr lang="en-US" sz="2400" dirty="0"/>
              <a:t> Voluntary blood donation should be encouraged because purchased blood has shown a higher risk of post-transfusion hepatitis. </a:t>
            </a:r>
          </a:p>
          <a:p>
            <a:r>
              <a:rPr lang="en-US" sz="2400" dirty="0"/>
              <a:t>Health personnel should be alerted to the importance of adequate sterilization of all instruments and to the practice of simple hygienic measures. </a:t>
            </a:r>
          </a:p>
          <a:p>
            <a:r>
              <a:rPr lang="en-US" sz="2400" dirty="0"/>
              <a:t>Carriers should be told not to share razors or tooth brushes and use barrier methods of contraception: they should not donate blood.</a:t>
            </a:r>
            <a:endParaRPr lang="en-IN" sz="2400" dirty="0"/>
          </a:p>
        </p:txBody>
      </p:sp>
    </p:spTree>
    <p:extLst>
      <p:ext uri="{BB962C8B-B14F-4D97-AF65-F5344CB8AC3E}">
        <p14:creationId xmlns:p14="http://schemas.microsoft.com/office/powerpoint/2010/main" val="1375437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06DDB-0EFD-8200-FCD0-42F924A2DCC5}"/>
              </a:ext>
            </a:extLst>
          </p:cNvPr>
          <p:cNvSpPr>
            <a:spLocks noGrp="1"/>
          </p:cNvSpPr>
          <p:nvPr>
            <p:ph type="ctrTitle"/>
          </p:nvPr>
        </p:nvSpPr>
        <p:spPr/>
        <p:txBody>
          <a:bodyPr/>
          <a:lstStyle/>
          <a:p>
            <a:pPr algn="ctr"/>
            <a:r>
              <a:rPr lang="en-IN" dirty="0"/>
              <a:t>HEPATITIS C</a:t>
            </a:r>
          </a:p>
        </p:txBody>
      </p:sp>
    </p:spTree>
    <p:extLst>
      <p:ext uri="{BB962C8B-B14F-4D97-AF65-F5344CB8AC3E}">
        <p14:creationId xmlns:p14="http://schemas.microsoft.com/office/powerpoint/2010/main" val="2831514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57B80-8A65-0ED4-B8E5-B942E4023774}"/>
              </a:ext>
            </a:extLst>
          </p:cNvPr>
          <p:cNvSpPr>
            <a:spLocks noGrp="1"/>
          </p:cNvSpPr>
          <p:nvPr>
            <p:ph type="title"/>
          </p:nvPr>
        </p:nvSpPr>
        <p:spPr>
          <a:xfrm>
            <a:off x="627396" y="0"/>
            <a:ext cx="10058400" cy="1609344"/>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9113E333-6AFE-7A15-D099-5313F4929519}"/>
              </a:ext>
            </a:extLst>
          </p:cNvPr>
          <p:cNvSpPr>
            <a:spLocks noGrp="1"/>
          </p:cNvSpPr>
          <p:nvPr>
            <p:ph idx="1"/>
          </p:nvPr>
        </p:nvSpPr>
        <p:spPr>
          <a:xfrm>
            <a:off x="853539" y="1403604"/>
            <a:ext cx="10058400" cy="4050792"/>
          </a:xfrm>
        </p:spPr>
        <p:txBody>
          <a:bodyPr>
            <a:noAutofit/>
          </a:bodyPr>
          <a:lstStyle/>
          <a:p>
            <a:r>
              <a:rPr lang="en-US" sz="2400" dirty="0"/>
              <a:t>Hepatitis C is a contagious liver disease that results from infection with the hepatitis C virus. </a:t>
            </a:r>
          </a:p>
          <a:p>
            <a:r>
              <a:rPr lang="en-US" sz="2400" dirty="0"/>
              <a:t>It can range in severity from a mild illness lasting a few weeks to a serious, lifelong illness. </a:t>
            </a:r>
          </a:p>
          <a:p>
            <a:r>
              <a:rPr lang="en-US" sz="2400" dirty="0"/>
              <a:t>It is among the most common virus that infect the liver and it has been shown to be a major cause of parenterally transmitted hepatitis. </a:t>
            </a:r>
          </a:p>
          <a:p>
            <a:r>
              <a:rPr lang="en-US" sz="2400" dirty="0"/>
              <a:t>Every year, 3-4 million people are infected with the hepatitis C virus. About 110 million people are HCV anti-body positive and 71 million are chronically infected and are at risk of developing liver cirrhosis and/or liver cancer. </a:t>
            </a:r>
          </a:p>
          <a:p>
            <a:r>
              <a:rPr lang="en-US" sz="2400" dirty="0"/>
              <a:t>More than 3.99,000 people died from hepatitis C - related liver diseases in 2016. It is estimated that about 2.3 million people were co-infected with HCV and HIV.</a:t>
            </a:r>
            <a:endParaRPr lang="en-IN" sz="2400" dirty="0"/>
          </a:p>
        </p:txBody>
      </p:sp>
    </p:spTree>
    <p:extLst>
      <p:ext uri="{BB962C8B-B14F-4D97-AF65-F5344CB8AC3E}">
        <p14:creationId xmlns:p14="http://schemas.microsoft.com/office/powerpoint/2010/main" val="40875726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4BF1F-5EFE-93DC-2CFA-E213C9950AB8}"/>
              </a:ext>
            </a:extLst>
          </p:cNvPr>
          <p:cNvSpPr>
            <a:spLocks noGrp="1"/>
          </p:cNvSpPr>
          <p:nvPr>
            <p:ph type="title"/>
          </p:nvPr>
        </p:nvSpPr>
        <p:spPr>
          <a:xfrm>
            <a:off x="745383" y="0"/>
            <a:ext cx="10058400" cy="1609344"/>
          </a:xfrm>
        </p:spPr>
        <p:txBody>
          <a:bodyPr/>
          <a:lstStyle/>
          <a:p>
            <a:r>
              <a:rPr lang="en-IN" dirty="0"/>
              <a:t>Transmission</a:t>
            </a:r>
          </a:p>
        </p:txBody>
      </p:sp>
      <p:sp>
        <p:nvSpPr>
          <p:cNvPr id="3" name="Content Placeholder 2">
            <a:extLst>
              <a:ext uri="{FF2B5EF4-FFF2-40B4-BE49-F238E27FC236}">
                <a16:creationId xmlns:a16="http://schemas.microsoft.com/office/drawing/2014/main" id="{0CA54874-5E2F-A56C-37B7-C4D0349C8164}"/>
              </a:ext>
            </a:extLst>
          </p:cNvPr>
          <p:cNvSpPr>
            <a:spLocks noGrp="1"/>
          </p:cNvSpPr>
          <p:nvPr>
            <p:ph idx="1"/>
          </p:nvPr>
        </p:nvSpPr>
        <p:spPr>
          <a:xfrm>
            <a:off x="873202" y="1347019"/>
            <a:ext cx="10058400" cy="4412226"/>
          </a:xfrm>
        </p:spPr>
        <p:txBody>
          <a:bodyPr>
            <a:noAutofit/>
          </a:bodyPr>
          <a:lstStyle/>
          <a:p>
            <a:r>
              <a:rPr lang="en-US" sz="2400" dirty="0"/>
              <a:t>The hepatitis C virus is most commonly transmitted through exposure to infectious blood. This can occur through:</a:t>
            </a:r>
          </a:p>
          <a:p>
            <a:r>
              <a:rPr lang="en-US" sz="2400" dirty="0"/>
              <a:t>(a) receipt of contaminated blood transfusions, blood products and organ transplants.</a:t>
            </a:r>
          </a:p>
          <a:p>
            <a:r>
              <a:rPr lang="en-US" sz="2400" dirty="0"/>
              <a:t>(b) injections given with contaminated syringes and needle-stick injuries in health-care settings.</a:t>
            </a:r>
          </a:p>
          <a:p>
            <a:r>
              <a:rPr lang="en-US" sz="2400" dirty="0"/>
              <a:t>(c) injection drug use. </a:t>
            </a:r>
          </a:p>
          <a:p>
            <a:r>
              <a:rPr lang="en-US" sz="2400" dirty="0"/>
              <a:t>(d) being born to a hepatitis C-infected mother. </a:t>
            </a:r>
          </a:p>
          <a:p>
            <a:r>
              <a:rPr lang="en-US" sz="2400" dirty="0"/>
              <a:t>Hepatitis C may be transmitted through sex with an infected person or sharing of personal items contaminated with infectious blood, but these are less common. Hepatitis C is not spread through breast milk, food or water, or by casual contact such as hugging, kissing and sharing food or drinks with an infected person.</a:t>
            </a:r>
            <a:endParaRPr lang="en-IN" sz="2400" dirty="0"/>
          </a:p>
        </p:txBody>
      </p:sp>
    </p:spTree>
    <p:extLst>
      <p:ext uri="{BB962C8B-B14F-4D97-AF65-F5344CB8AC3E}">
        <p14:creationId xmlns:p14="http://schemas.microsoft.com/office/powerpoint/2010/main" val="354274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E8405-77F1-2B4A-FB90-2F995232D5BB}"/>
              </a:ext>
            </a:extLst>
          </p:cNvPr>
          <p:cNvSpPr>
            <a:spLocks noGrp="1"/>
          </p:cNvSpPr>
          <p:nvPr>
            <p:ph type="title"/>
          </p:nvPr>
        </p:nvSpPr>
        <p:spPr/>
        <p:txBody>
          <a:bodyPr/>
          <a:lstStyle/>
          <a:p>
            <a:r>
              <a:rPr lang="en-US" dirty="0"/>
              <a:t>Incubation period</a:t>
            </a:r>
            <a:endParaRPr lang="en-IN" dirty="0"/>
          </a:p>
        </p:txBody>
      </p:sp>
      <p:sp>
        <p:nvSpPr>
          <p:cNvPr id="3" name="Content Placeholder 2">
            <a:extLst>
              <a:ext uri="{FF2B5EF4-FFF2-40B4-BE49-F238E27FC236}">
                <a16:creationId xmlns:a16="http://schemas.microsoft.com/office/drawing/2014/main" id="{36989BBE-EDE3-6FF6-D594-CE2881D6AF9C}"/>
              </a:ext>
            </a:extLst>
          </p:cNvPr>
          <p:cNvSpPr>
            <a:spLocks noGrp="1"/>
          </p:cNvSpPr>
          <p:nvPr>
            <p:ph idx="1"/>
          </p:nvPr>
        </p:nvSpPr>
        <p:spPr/>
        <p:txBody>
          <a:bodyPr>
            <a:normAutofit/>
          </a:bodyPr>
          <a:lstStyle/>
          <a:p>
            <a:r>
              <a:rPr lang="en-US" sz="2400" dirty="0"/>
              <a:t>The incubation period for hepatitis C is 2 weeks to 6 months.</a:t>
            </a:r>
            <a:endParaRPr lang="en-IN" sz="2400" dirty="0"/>
          </a:p>
        </p:txBody>
      </p:sp>
    </p:spTree>
    <p:extLst>
      <p:ext uri="{BB962C8B-B14F-4D97-AF65-F5344CB8AC3E}">
        <p14:creationId xmlns:p14="http://schemas.microsoft.com/office/powerpoint/2010/main" val="1160790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F0C02-BCB4-2A8E-10B1-BE2163D11291}"/>
              </a:ext>
            </a:extLst>
          </p:cNvPr>
          <p:cNvSpPr>
            <a:spLocks noGrp="1"/>
          </p:cNvSpPr>
          <p:nvPr>
            <p:ph type="title"/>
          </p:nvPr>
        </p:nvSpPr>
        <p:spPr>
          <a:xfrm>
            <a:off x="1063752" y="185928"/>
            <a:ext cx="10058400" cy="1609344"/>
          </a:xfrm>
        </p:spPr>
        <p:txBody>
          <a:bodyPr/>
          <a:lstStyle/>
          <a:p>
            <a:r>
              <a:rPr lang="en-US" dirty="0"/>
              <a:t>Symptoms</a:t>
            </a:r>
            <a:endParaRPr lang="en-IN" dirty="0"/>
          </a:p>
        </p:txBody>
      </p:sp>
      <p:sp>
        <p:nvSpPr>
          <p:cNvPr id="3" name="Content Placeholder 2">
            <a:extLst>
              <a:ext uri="{FF2B5EF4-FFF2-40B4-BE49-F238E27FC236}">
                <a16:creationId xmlns:a16="http://schemas.microsoft.com/office/drawing/2014/main" id="{3F4AE282-61A0-E0AE-DC8D-A94CCC865B1D}"/>
              </a:ext>
            </a:extLst>
          </p:cNvPr>
          <p:cNvSpPr>
            <a:spLocks noGrp="1"/>
          </p:cNvSpPr>
          <p:nvPr>
            <p:ph idx="1"/>
          </p:nvPr>
        </p:nvSpPr>
        <p:spPr>
          <a:xfrm>
            <a:off x="1063752" y="1816608"/>
            <a:ext cx="10058400" cy="4050792"/>
          </a:xfrm>
        </p:spPr>
        <p:txBody>
          <a:bodyPr>
            <a:noAutofit/>
          </a:bodyPr>
          <a:lstStyle/>
          <a:p>
            <a:r>
              <a:rPr lang="en-US" sz="2400" dirty="0"/>
              <a:t>Following initial infection, approximately 80 per cent of people do not exhibit any symptoms. </a:t>
            </a:r>
          </a:p>
          <a:p>
            <a:r>
              <a:rPr lang="en-US" sz="2400" dirty="0"/>
              <a:t>Those people who are acutely symptomatic may exhibit fever, fatigue, decreased appetite, nausea, vomiting, abdominal pain, dark urine, grey </a:t>
            </a:r>
            <a:r>
              <a:rPr lang="en-US" sz="2400" dirty="0" err="1"/>
              <a:t>coloured</a:t>
            </a:r>
            <a:r>
              <a:rPr lang="en-US" sz="2400" dirty="0"/>
              <a:t> </a:t>
            </a:r>
            <a:r>
              <a:rPr lang="en-US" sz="2400" dirty="0" err="1"/>
              <a:t>faeces</a:t>
            </a:r>
            <a:r>
              <a:rPr lang="en-US" sz="2400" dirty="0"/>
              <a:t>, joint pain and jaundice. </a:t>
            </a:r>
          </a:p>
          <a:p>
            <a:r>
              <a:rPr lang="en-US" sz="2400" dirty="0"/>
              <a:t>About 15-45 per cent of infected persons spontaneously clear the virus within 6 months of infection without any treatment. </a:t>
            </a:r>
          </a:p>
          <a:p>
            <a:r>
              <a:rPr lang="en-US" sz="2400" dirty="0"/>
              <a:t>The remaining 55-85 per cent of persons will develop chronic HCV infection. </a:t>
            </a:r>
          </a:p>
          <a:p>
            <a:r>
              <a:rPr lang="en-US" sz="2400" dirty="0"/>
              <a:t>Of those with chronic HCV infection, the risk of cirrhosis of liver is 15-30 per cent within 20 years</a:t>
            </a:r>
            <a:endParaRPr lang="en-IN" sz="2400" dirty="0"/>
          </a:p>
        </p:txBody>
      </p:sp>
    </p:spTree>
    <p:extLst>
      <p:ext uri="{BB962C8B-B14F-4D97-AF65-F5344CB8AC3E}">
        <p14:creationId xmlns:p14="http://schemas.microsoft.com/office/powerpoint/2010/main" val="13425467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07EEE-B94C-D483-0878-7A7735F153E9}"/>
              </a:ext>
            </a:extLst>
          </p:cNvPr>
          <p:cNvSpPr>
            <a:spLocks noGrp="1"/>
          </p:cNvSpPr>
          <p:nvPr>
            <p:ph type="title"/>
          </p:nvPr>
        </p:nvSpPr>
        <p:spPr/>
        <p:txBody>
          <a:bodyPr/>
          <a:lstStyle/>
          <a:p>
            <a:r>
              <a:rPr lang="en-US" dirty="0"/>
              <a:t>Diagnosis</a:t>
            </a:r>
            <a:endParaRPr lang="en-IN" dirty="0"/>
          </a:p>
        </p:txBody>
      </p:sp>
      <p:sp>
        <p:nvSpPr>
          <p:cNvPr id="3" name="Content Placeholder 2">
            <a:extLst>
              <a:ext uri="{FF2B5EF4-FFF2-40B4-BE49-F238E27FC236}">
                <a16:creationId xmlns:a16="http://schemas.microsoft.com/office/drawing/2014/main" id="{F5782A7D-D7EB-BA07-10A3-E4D9A7A20F0A}"/>
              </a:ext>
            </a:extLst>
          </p:cNvPr>
          <p:cNvSpPr>
            <a:spLocks noGrp="1"/>
          </p:cNvSpPr>
          <p:nvPr>
            <p:ph idx="1"/>
          </p:nvPr>
        </p:nvSpPr>
        <p:spPr>
          <a:xfrm>
            <a:off x="991190" y="1875602"/>
            <a:ext cx="10058400" cy="4050792"/>
          </a:xfrm>
        </p:spPr>
        <p:txBody>
          <a:bodyPr>
            <a:normAutofit/>
          </a:bodyPr>
          <a:lstStyle/>
          <a:p>
            <a:r>
              <a:rPr lang="en-US" sz="2400" dirty="0"/>
              <a:t>Diagnosis of acute infection is often missed because a majority of infected people have no symptoms. </a:t>
            </a:r>
          </a:p>
          <a:p>
            <a:r>
              <a:rPr lang="en-US" sz="2400" dirty="0"/>
              <a:t>Common methods of antibody detection cannot differentiate between acute and chronic infection. </a:t>
            </a:r>
          </a:p>
          <a:p>
            <a:r>
              <a:rPr lang="en-US" sz="2400" dirty="0"/>
              <a:t>The presence of antibodies against the hepatitis C virus indicates that a person is or has been infected. </a:t>
            </a:r>
          </a:p>
          <a:p>
            <a:r>
              <a:rPr lang="en-US" sz="2400" dirty="0"/>
              <a:t>The hepatitis C virus recombinant immunoblot assay (RIBA) and hepatitis C virus RNA testing are used to confirm the diagnosis. </a:t>
            </a:r>
          </a:p>
          <a:p>
            <a:r>
              <a:rPr lang="en-US" sz="2400" dirty="0"/>
              <a:t>Diagnosis of chronic infection is made when antibodies to the hepatitis C virus are present in the blood for more than six months. </a:t>
            </a:r>
            <a:endParaRPr lang="en-IN" sz="2400" dirty="0"/>
          </a:p>
        </p:txBody>
      </p:sp>
    </p:spTree>
    <p:extLst>
      <p:ext uri="{BB962C8B-B14F-4D97-AF65-F5344CB8AC3E}">
        <p14:creationId xmlns:p14="http://schemas.microsoft.com/office/powerpoint/2010/main" val="3134094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1805D7-1F62-C309-B8DC-F8C4EFBCDF48}"/>
              </a:ext>
            </a:extLst>
          </p:cNvPr>
          <p:cNvSpPr>
            <a:spLocks noGrp="1"/>
          </p:cNvSpPr>
          <p:nvPr>
            <p:ph idx="1"/>
          </p:nvPr>
        </p:nvSpPr>
        <p:spPr>
          <a:xfrm>
            <a:off x="961693" y="676065"/>
            <a:ext cx="10058400" cy="5695237"/>
          </a:xfrm>
        </p:spPr>
        <p:txBody>
          <a:bodyPr>
            <a:normAutofit/>
          </a:bodyPr>
          <a:lstStyle/>
          <a:p>
            <a:r>
              <a:rPr lang="en-US" dirty="0"/>
              <a:t>Early diagnosis can prevent health problems that may result from infection and prevent transmission to family members and other close contacts. </a:t>
            </a:r>
          </a:p>
          <a:p>
            <a:r>
              <a:rPr lang="en-US" dirty="0"/>
              <a:t>Some countries recommend screening for people who may be at risk for infection. These include: </a:t>
            </a:r>
          </a:p>
          <a:p>
            <a:r>
              <a:rPr lang="en-US" dirty="0"/>
              <a:t>(a) people who </a:t>
            </a:r>
            <a:r>
              <a:rPr lang="en-US" dirty="0" err="1"/>
              <a:t>recevied</a:t>
            </a:r>
            <a:r>
              <a:rPr lang="en-US" dirty="0"/>
              <a:t> blood, blood products or organs before screening for hepatitis C virus was implemented, or where screening was not yet widespread </a:t>
            </a:r>
          </a:p>
          <a:p>
            <a:r>
              <a:rPr lang="en-US" dirty="0"/>
              <a:t>(b) current or former injecting drug users (even those who injected drugs once many years ago); </a:t>
            </a:r>
          </a:p>
          <a:p>
            <a:r>
              <a:rPr lang="en-US" dirty="0"/>
              <a:t>(c) people on long-term </a:t>
            </a:r>
            <a:r>
              <a:rPr lang="en-US" dirty="0" err="1"/>
              <a:t>haemodialysis</a:t>
            </a:r>
            <a:r>
              <a:rPr lang="en-US" dirty="0"/>
              <a:t>; </a:t>
            </a:r>
          </a:p>
          <a:p>
            <a:r>
              <a:rPr lang="en-US" dirty="0"/>
              <a:t>(d) health- care workers; </a:t>
            </a:r>
          </a:p>
          <a:p>
            <a:r>
              <a:rPr lang="en-US" dirty="0"/>
              <a:t>(e) people living with HIV; </a:t>
            </a:r>
          </a:p>
          <a:p>
            <a:r>
              <a:rPr lang="en-US" dirty="0"/>
              <a:t>(f) people with abnormal liver tests or liver disease, and </a:t>
            </a:r>
          </a:p>
          <a:p>
            <a:r>
              <a:rPr lang="en-US" dirty="0"/>
              <a:t>(g) infants born to infected mothers; people having </a:t>
            </a:r>
            <a:r>
              <a:rPr lang="en-US" dirty="0" err="1"/>
              <a:t>invasiv</a:t>
            </a:r>
            <a:r>
              <a:rPr lang="en-US" dirty="0"/>
              <a:t> procedures in health care facilities with inadequate infection control; people who have had tattoos and piercings; and people with sexual partners who are HCV infected.</a:t>
            </a:r>
            <a:endParaRPr lang="en-IN" dirty="0"/>
          </a:p>
        </p:txBody>
      </p:sp>
    </p:spTree>
    <p:extLst>
      <p:ext uri="{BB962C8B-B14F-4D97-AF65-F5344CB8AC3E}">
        <p14:creationId xmlns:p14="http://schemas.microsoft.com/office/powerpoint/2010/main" val="25582379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B9CCC-5144-0C81-16ED-71C341AAF51D}"/>
              </a:ext>
            </a:extLst>
          </p:cNvPr>
          <p:cNvSpPr>
            <a:spLocks noGrp="1"/>
          </p:cNvSpPr>
          <p:nvPr>
            <p:ph type="title"/>
          </p:nvPr>
        </p:nvSpPr>
        <p:spPr/>
        <p:txBody>
          <a:bodyPr/>
          <a:lstStyle/>
          <a:p>
            <a:r>
              <a:rPr lang="en-US" dirty="0"/>
              <a:t>Treatment</a:t>
            </a:r>
            <a:endParaRPr lang="en-IN" dirty="0"/>
          </a:p>
        </p:txBody>
      </p:sp>
      <p:sp>
        <p:nvSpPr>
          <p:cNvPr id="3" name="Content Placeholder 2">
            <a:extLst>
              <a:ext uri="{FF2B5EF4-FFF2-40B4-BE49-F238E27FC236}">
                <a16:creationId xmlns:a16="http://schemas.microsoft.com/office/drawing/2014/main" id="{B3D4B2D0-4D10-B1C8-7367-8354E71492FF}"/>
              </a:ext>
            </a:extLst>
          </p:cNvPr>
          <p:cNvSpPr>
            <a:spLocks noGrp="1"/>
          </p:cNvSpPr>
          <p:nvPr>
            <p:ph idx="1"/>
          </p:nvPr>
        </p:nvSpPr>
        <p:spPr>
          <a:xfrm>
            <a:off x="1063752" y="1865768"/>
            <a:ext cx="10058400" cy="4507599"/>
          </a:xfrm>
        </p:spPr>
        <p:txBody>
          <a:bodyPr>
            <a:normAutofit/>
          </a:bodyPr>
          <a:lstStyle/>
          <a:p>
            <a:r>
              <a:rPr lang="en-US" dirty="0"/>
              <a:t> </a:t>
            </a:r>
            <a:r>
              <a:rPr lang="en-US" sz="2400" dirty="0"/>
              <a:t>Hepatitis C does not always require treatment as the immune response in some people will clear the infection, and some people with chronic infection do not develop liver damage. </a:t>
            </a:r>
          </a:p>
          <a:p>
            <a:r>
              <a:rPr lang="en-US" sz="2400" dirty="0"/>
              <a:t>When treatment is necessary, the goal of hepatitis C treatment is cure. </a:t>
            </a:r>
          </a:p>
          <a:p>
            <a:r>
              <a:rPr lang="en-US" sz="2400" dirty="0"/>
              <a:t>The cure rate depends on several factors including the strain of the virus and the type of treatment given. </a:t>
            </a:r>
          </a:p>
          <a:p>
            <a:r>
              <a:rPr lang="en-US" sz="2400" dirty="0"/>
              <a:t>The standard of care for hepatitis C is changing rapidly. </a:t>
            </a:r>
          </a:p>
          <a:p>
            <a:r>
              <a:rPr lang="en-US" sz="2400" dirty="0"/>
              <a:t>Until recently, hepatitis C treatment was based on therapy with interferon and ribavirin, which required weekly injections for 48 weeks, cured approximately half of treated patients, but caused frequent and sometimes life-threatening adverse reactions. </a:t>
            </a:r>
            <a:endParaRPr lang="en-IN" sz="2400" dirty="0"/>
          </a:p>
        </p:txBody>
      </p:sp>
    </p:spTree>
    <p:extLst>
      <p:ext uri="{BB962C8B-B14F-4D97-AF65-F5344CB8AC3E}">
        <p14:creationId xmlns:p14="http://schemas.microsoft.com/office/powerpoint/2010/main" val="3870563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559E33-9BF8-A780-498C-2253091D1CE0}"/>
              </a:ext>
            </a:extLst>
          </p:cNvPr>
          <p:cNvSpPr>
            <a:spLocks noGrp="1"/>
          </p:cNvSpPr>
          <p:nvPr>
            <p:ph idx="1"/>
          </p:nvPr>
        </p:nvSpPr>
        <p:spPr>
          <a:xfrm>
            <a:off x="1066800" y="1590466"/>
            <a:ext cx="10058400" cy="4050792"/>
          </a:xfrm>
        </p:spPr>
        <p:txBody>
          <a:bodyPr>
            <a:normAutofit/>
          </a:bodyPr>
          <a:lstStyle/>
          <a:p>
            <a:r>
              <a:rPr lang="en-US" sz="2400" dirty="0"/>
              <a:t>Recently, new antiviral drugs have been developed. </a:t>
            </a:r>
          </a:p>
          <a:p>
            <a:r>
              <a:rPr lang="en-US" sz="2400" dirty="0"/>
              <a:t>These medicines, called direct antiviral agents (DAA) are much more effective, safer and better-tolerated than the older therapies. </a:t>
            </a:r>
          </a:p>
          <a:p>
            <a:r>
              <a:rPr lang="en-US" sz="2400" dirty="0"/>
              <a:t>Therapy with DAAs can cure most persons with HCV infection and treatment is shorter (usually 12 weeks) and safer. </a:t>
            </a:r>
          </a:p>
          <a:p>
            <a:r>
              <a:rPr lang="en-US" sz="2400" dirty="0"/>
              <a:t>Although the production cost of DAAs is low, these medicines remain very expensive in many high- and middle-income countries. </a:t>
            </a:r>
          </a:p>
          <a:p>
            <a:r>
              <a:rPr lang="en-US" sz="2400" dirty="0"/>
              <a:t>The cost of generic version of these medicines are low.</a:t>
            </a:r>
            <a:endParaRPr lang="en-IN" sz="2400" dirty="0"/>
          </a:p>
        </p:txBody>
      </p:sp>
    </p:spTree>
    <p:extLst>
      <p:ext uri="{BB962C8B-B14F-4D97-AF65-F5344CB8AC3E}">
        <p14:creationId xmlns:p14="http://schemas.microsoft.com/office/powerpoint/2010/main" val="3568632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9B924-5812-0A82-D57E-1F947C1C3119}"/>
              </a:ext>
            </a:extLst>
          </p:cNvPr>
          <p:cNvSpPr>
            <a:spLocks noGrp="1"/>
          </p:cNvSpPr>
          <p:nvPr>
            <p:ph type="title"/>
          </p:nvPr>
        </p:nvSpPr>
        <p:spPr>
          <a:xfrm>
            <a:off x="1066800" y="219161"/>
            <a:ext cx="10058400" cy="1609344"/>
          </a:xfrm>
        </p:spPr>
        <p:txBody>
          <a:bodyPr/>
          <a:lstStyle/>
          <a:p>
            <a:r>
              <a:rPr lang="en-US" dirty="0"/>
              <a:t>Prevention</a:t>
            </a:r>
            <a:endParaRPr lang="en-IN" dirty="0"/>
          </a:p>
        </p:txBody>
      </p:sp>
      <p:sp>
        <p:nvSpPr>
          <p:cNvPr id="3" name="Content Placeholder 2">
            <a:extLst>
              <a:ext uri="{FF2B5EF4-FFF2-40B4-BE49-F238E27FC236}">
                <a16:creationId xmlns:a16="http://schemas.microsoft.com/office/drawing/2014/main" id="{6843D633-7231-09D2-5FC7-CEE448C20F67}"/>
              </a:ext>
            </a:extLst>
          </p:cNvPr>
          <p:cNvSpPr>
            <a:spLocks noGrp="1"/>
          </p:cNvSpPr>
          <p:nvPr>
            <p:ph idx="1"/>
          </p:nvPr>
        </p:nvSpPr>
        <p:spPr>
          <a:xfrm>
            <a:off x="1069848" y="1681316"/>
            <a:ext cx="10058400" cy="4490884"/>
          </a:xfrm>
        </p:spPr>
        <p:txBody>
          <a:bodyPr>
            <a:normAutofit/>
          </a:bodyPr>
          <a:lstStyle/>
          <a:p>
            <a:r>
              <a:rPr lang="en-US" sz="2400" b="1" dirty="0"/>
              <a:t>Primary prevention: </a:t>
            </a:r>
          </a:p>
          <a:p>
            <a:r>
              <a:rPr lang="en-US" sz="2400" dirty="0"/>
              <a:t>1- Hand hygiene: including surgical hand preparation, hand washing and use of gloves.</a:t>
            </a:r>
          </a:p>
          <a:p>
            <a:r>
              <a:rPr lang="en-US" sz="2400" dirty="0"/>
              <a:t>2. Safe and appropriate use of health care injections.</a:t>
            </a:r>
          </a:p>
          <a:p>
            <a:r>
              <a:rPr lang="en-US" sz="2400" dirty="0"/>
              <a:t>3. Safe handling and disposal of sharps and waste.</a:t>
            </a:r>
          </a:p>
          <a:p>
            <a:r>
              <a:rPr lang="en-US" sz="2400" dirty="0"/>
              <a:t>4. Provision of comprehensive harm-reduction services to people who inject drugs including sterile injecting equipment.</a:t>
            </a:r>
          </a:p>
          <a:p>
            <a:r>
              <a:rPr lang="en-US" sz="2400" dirty="0"/>
              <a:t>5. Testing of donated blood for hepatitis B and C.</a:t>
            </a:r>
          </a:p>
          <a:p>
            <a:r>
              <a:rPr lang="en-US" sz="2400" dirty="0"/>
              <a:t>6. Training of health personnel.</a:t>
            </a:r>
          </a:p>
          <a:p>
            <a:r>
              <a:rPr lang="en-US" sz="2400" dirty="0"/>
              <a:t>7- Promotion of correct and consistent use of condoms.</a:t>
            </a:r>
            <a:endParaRPr lang="en-IN" sz="2400" dirty="0"/>
          </a:p>
        </p:txBody>
      </p:sp>
    </p:spTree>
    <p:extLst>
      <p:ext uri="{BB962C8B-B14F-4D97-AF65-F5344CB8AC3E}">
        <p14:creationId xmlns:p14="http://schemas.microsoft.com/office/powerpoint/2010/main" val="242786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8DE3C1-ECF9-3751-4E16-B62F98D591A6}"/>
              </a:ext>
            </a:extLst>
          </p:cNvPr>
          <p:cNvSpPr>
            <a:spLocks noGrp="1"/>
          </p:cNvSpPr>
          <p:nvPr>
            <p:ph idx="1"/>
          </p:nvPr>
        </p:nvSpPr>
        <p:spPr>
          <a:xfrm>
            <a:off x="981358" y="1501976"/>
            <a:ext cx="10058400" cy="4050792"/>
          </a:xfrm>
        </p:spPr>
        <p:txBody>
          <a:bodyPr>
            <a:normAutofit/>
          </a:bodyPr>
          <a:lstStyle/>
          <a:p>
            <a:r>
              <a:rPr lang="en-US" sz="2400" b="1" dirty="0"/>
              <a:t>Secondary and tertiary prevention: </a:t>
            </a:r>
          </a:p>
          <a:p>
            <a:r>
              <a:rPr lang="en-US" sz="2400" dirty="0"/>
              <a:t>For people infected with the hepatitis C virus, WHO recommends: </a:t>
            </a:r>
          </a:p>
          <a:p>
            <a:r>
              <a:rPr lang="en-US" sz="2400" dirty="0"/>
              <a:t>1. education and counselling on options for care and treatment. </a:t>
            </a:r>
          </a:p>
          <a:p>
            <a:r>
              <a:rPr lang="en-US" sz="2400" dirty="0"/>
              <a:t>2. immunization with the hepatitis A and B vaccines to Prevent coinfection from these hepatitis viruses to Protect their liver. </a:t>
            </a:r>
          </a:p>
          <a:p>
            <a:r>
              <a:rPr lang="en-US" sz="2400" dirty="0"/>
              <a:t>3. early and appropriate medical management including antiviral therapy if appropriate.</a:t>
            </a:r>
          </a:p>
          <a:p>
            <a:r>
              <a:rPr lang="en-US" sz="2400" dirty="0"/>
              <a:t>4. regular monitoring for early diagnosis of chronic liver disease.</a:t>
            </a:r>
            <a:endParaRPr lang="en-IN" sz="2400" dirty="0"/>
          </a:p>
        </p:txBody>
      </p:sp>
    </p:spTree>
    <p:extLst>
      <p:ext uri="{BB962C8B-B14F-4D97-AF65-F5344CB8AC3E}">
        <p14:creationId xmlns:p14="http://schemas.microsoft.com/office/powerpoint/2010/main" val="23316802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69329-40BB-2B87-7CBD-011547C472B8}"/>
              </a:ext>
            </a:extLst>
          </p:cNvPr>
          <p:cNvSpPr>
            <a:spLocks noGrp="1"/>
          </p:cNvSpPr>
          <p:nvPr>
            <p:ph type="ctrTitle"/>
          </p:nvPr>
        </p:nvSpPr>
        <p:spPr/>
        <p:txBody>
          <a:bodyPr/>
          <a:lstStyle/>
          <a:p>
            <a:pPr algn="ctr"/>
            <a:r>
              <a:rPr lang="en-IN" dirty="0"/>
              <a:t>HEPATITIS D </a:t>
            </a:r>
          </a:p>
        </p:txBody>
      </p:sp>
    </p:spTree>
    <p:extLst>
      <p:ext uri="{BB962C8B-B14F-4D97-AF65-F5344CB8AC3E}">
        <p14:creationId xmlns:p14="http://schemas.microsoft.com/office/powerpoint/2010/main" val="430289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5E3BE-B752-FAEB-0999-ECC1412E31B0}"/>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68461221-4ADA-0AB0-BFAC-DAB3F344D1BD}"/>
              </a:ext>
            </a:extLst>
          </p:cNvPr>
          <p:cNvSpPr>
            <a:spLocks noGrp="1"/>
          </p:cNvSpPr>
          <p:nvPr>
            <p:ph idx="1"/>
          </p:nvPr>
        </p:nvSpPr>
        <p:spPr>
          <a:xfrm>
            <a:off x="1066800" y="1836273"/>
            <a:ext cx="10058400" cy="4050792"/>
          </a:xfrm>
        </p:spPr>
        <p:txBody>
          <a:bodyPr>
            <a:noAutofit/>
          </a:bodyPr>
          <a:lstStyle/>
          <a:p>
            <a:r>
              <a:rPr lang="en-US" sz="2400" dirty="0"/>
              <a:t>Hepatitis D is caused by hepatitis D virus that requires HBV for its replication. Hepatitis D cannot occur in the absence of HBV. </a:t>
            </a:r>
          </a:p>
          <a:p>
            <a:r>
              <a:rPr lang="en-US" sz="2400" dirty="0"/>
              <a:t>The coinfection or super infection of HDV with HBV causes a more severe disease than HBV </a:t>
            </a:r>
            <a:r>
              <a:rPr lang="en-US" sz="2400" dirty="0" err="1"/>
              <a:t>monoinfection</a:t>
            </a:r>
            <a:r>
              <a:rPr lang="en-US" sz="2400" dirty="0"/>
              <a:t>.</a:t>
            </a:r>
          </a:p>
          <a:p>
            <a:r>
              <a:rPr lang="en-US" sz="2400" dirty="0"/>
              <a:t>It is estimated that globally, 5% of HBsAg positive people are coinfected with HDV and the distribution is resulting in a total of 15-20 million persons infected with HDV world wide. </a:t>
            </a:r>
          </a:p>
          <a:p>
            <a:r>
              <a:rPr lang="en-US" sz="2400" dirty="0"/>
              <a:t>High-prevalence areas include the Mediterranean, Middle East, Pakistan, Central and Northern Asia. Japan. Taiwan, Greenland and parts of Africa (mainly the horn of Africa and West Africa), the Amazon Basin and certain areas of the Pacific. </a:t>
            </a:r>
            <a:endParaRPr lang="en-IN" sz="2400" dirty="0"/>
          </a:p>
        </p:txBody>
      </p:sp>
    </p:spTree>
    <p:extLst>
      <p:ext uri="{BB962C8B-B14F-4D97-AF65-F5344CB8AC3E}">
        <p14:creationId xmlns:p14="http://schemas.microsoft.com/office/powerpoint/2010/main" val="744674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E5959-24BE-A12F-7D6E-E029993A5232}"/>
              </a:ext>
            </a:extLst>
          </p:cNvPr>
          <p:cNvSpPr>
            <a:spLocks noGrp="1"/>
          </p:cNvSpPr>
          <p:nvPr>
            <p:ph type="title"/>
          </p:nvPr>
        </p:nvSpPr>
        <p:spPr/>
        <p:txBody>
          <a:bodyPr/>
          <a:lstStyle/>
          <a:p>
            <a:r>
              <a:rPr lang="en-US" dirty="0"/>
              <a:t>Route of transmission</a:t>
            </a:r>
            <a:endParaRPr lang="en-IN" dirty="0"/>
          </a:p>
        </p:txBody>
      </p:sp>
      <p:sp>
        <p:nvSpPr>
          <p:cNvPr id="3" name="Content Placeholder 2">
            <a:extLst>
              <a:ext uri="{FF2B5EF4-FFF2-40B4-BE49-F238E27FC236}">
                <a16:creationId xmlns:a16="http://schemas.microsoft.com/office/drawing/2014/main" id="{C1E8E397-C71A-F1F5-9A00-AD3B071C453E}"/>
              </a:ext>
            </a:extLst>
          </p:cNvPr>
          <p:cNvSpPr>
            <a:spLocks noGrp="1"/>
          </p:cNvSpPr>
          <p:nvPr>
            <p:ph idx="1"/>
          </p:nvPr>
        </p:nvSpPr>
        <p:spPr/>
        <p:txBody>
          <a:bodyPr>
            <a:normAutofit/>
          </a:bodyPr>
          <a:lstStyle/>
          <a:p>
            <a:r>
              <a:rPr lang="en-US" sz="2400" dirty="0"/>
              <a:t>The route of HDV transmission are the same as for HBV: percutaneously or sexually through contact with infected blood or blood products. </a:t>
            </a:r>
          </a:p>
          <a:p>
            <a:r>
              <a:rPr lang="en-US" sz="2400" dirty="0"/>
              <a:t>Vertical transmission is possible but rare. </a:t>
            </a:r>
          </a:p>
          <a:p>
            <a:r>
              <a:rPr lang="en-US" sz="2400" dirty="0"/>
              <a:t>•Vaccination against HBV prevents HDV coinfection, and hence expansion of childhood HBV immunization </a:t>
            </a:r>
            <a:r>
              <a:rPr lang="en-US" sz="2400" dirty="0" err="1"/>
              <a:t>programmes</a:t>
            </a:r>
            <a:r>
              <a:rPr lang="en-US" sz="2400" dirty="0"/>
              <a:t> has resulted in a decline in hepatitis D incidence worldwide. </a:t>
            </a:r>
          </a:p>
          <a:p>
            <a:r>
              <a:rPr lang="en-US" sz="2400" dirty="0"/>
              <a:t>However, in some settings, the increase of hepatitis D prevalence has been observed in people who inject drugs, or as a result of migration from areas where HDV is endemic.</a:t>
            </a:r>
            <a:endParaRPr lang="en-IN" sz="2400" dirty="0"/>
          </a:p>
        </p:txBody>
      </p:sp>
    </p:spTree>
    <p:extLst>
      <p:ext uri="{BB962C8B-B14F-4D97-AF65-F5344CB8AC3E}">
        <p14:creationId xmlns:p14="http://schemas.microsoft.com/office/powerpoint/2010/main" val="35520136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088E8-7FAE-511E-9237-31046ADBCCDE}"/>
              </a:ext>
            </a:extLst>
          </p:cNvPr>
          <p:cNvSpPr>
            <a:spLocks noGrp="1"/>
          </p:cNvSpPr>
          <p:nvPr>
            <p:ph type="title"/>
          </p:nvPr>
        </p:nvSpPr>
        <p:spPr/>
        <p:txBody>
          <a:bodyPr/>
          <a:lstStyle/>
          <a:p>
            <a:r>
              <a:rPr lang="en-IN" dirty="0"/>
              <a:t>Diagnosis</a:t>
            </a:r>
          </a:p>
        </p:txBody>
      </p:sp>
      <p:sp>
        <p:nvSpPr>
          <p:cNvPr id="3" name="Content Placeholder 2">
            <a:extLst>
              <a:ext uri="{FF2B5EF4-FFF2-40B4-BE49-F238E27FC236}">
                <a16:creationId xmlns:a16="http://schemas.microsoft.com/office/drawing/2014/main" id="{12CBA126-0D0E-BA1D-CAA2-7929D2506C69}"/>
              </a:ext>
            </a:extLst>
          </p:cNvPr>
          <p:cNvSpPr>
            <a:spLocks noGrp="1"/>
          </p:cNvSpPr>
          <p:nvPr>
            <p:ph idx="1"/>
          </p:nvPr>
        </p:nvSpPr>
        <p:spPr/>
        <p:txBody>
          <a:bodyPr>
            <a:normAutofit/>
          </a:bodyPr>
          <a:lstStyle/>
          <a:p>
            <a:r>
              <a:rPr lang="en-IN" sz="2400" dirty="0"/>
              <a:t>HDV infection is diagnosed by high titres of Immunoglobulin G (IgG) and Immunoglobulin M (IgM) anti- HDV, and confirmed by detection of HDV RNA in serum. </a:t>
            </a:r>
          </a:p>
          <a:p>
            <a:r>
              <a:rPr lang="en-IN" sz="2400" dirty="0"/>
              <a:t>However, HDV diagnostics are not widely available and there is no standardization for HDV RNA assays, which are used for monitoring response to antiviral therapy.</a:t>
            </a:r>
          </a:p>
        </p:txBody>
      </p:sp>
    </p:spTree>
    <p:extLst>
      <p:ext uri="{BB962C8B-B14F-4D97-AF65-F5344CB8AC3E}">
        <p14:creationId xmlns:p14="http://schemas.microsoft.com/office/powerpoint/2010/main" val="5662338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6ED3-6FD3-760F-3706-E827663ED6A1}"/>
              </a:ext>
            </a:extLst>
          </p:cNvPr>
          <p:cNvSpPr>
            <a:spLocks noGrp="1"/>
          </p:cNvSpPr>
          <p:nvPr>
            <p:ph type="title"/>
          </p:nvPr>
        </p:nvSpPr>
        <p:spPr>
          <a:xfrm>
            <a:off x="796413" y="0"/>
            <a:ext cx="10328787" cy="1609344"/>
          </a:xfrm>
        </p:spPr>
        <p:txBody>
          <a:bodyPr/>
          <a:lstStyle/>
          <a:p>
            <a:r>
              <a:rPr lang="en-US" dirty="0"/>
              <a:t>Treatment</a:t>
            </a:r>
            <a:endParaRPr lang="en-IN" dirty="0"/>
          </a:p>
        </p:txBody>
      </p:sp>
      <p:sp>
        <p:nvSpPr>
          <p:cNvPr id="3" name="Content Placeholder 2">
            <a:extLst>
              <a:ext uri="{FF2B5EF4-FFF2-40B4-BE49-F238E27FC236}">
                <a16:creationId xmlns:a16="http://schemas.microsoft.com/office/drawing/2014/main" id="{42D57483-E28A-8407-0D17-1DF6F27F7C6F}"/>
              </a:ext>
            </a:extLst>
          </p:cNvPr>
          <p:cNvSpPr>
            <a:spLocks noGrp="1"/>
          </p:cNvSpPr>
          <p:nvPr>
            <p:ph idx="1"/>
          </p:nvPr>
        </p:nvSpPr>
        <p:spPr>
          <a:xfrm>
            <a:off x="796413" y="1219200"/>
            <a:ext cx="10328787" cy="4785852"/>
          </a:xfrm>
        </p:spPr>
        <p:txBody>
          <a:bodyPr>
            <a:noAutofit/>
          </a:bodyPr>
          <a:lstStyle/>
          <a:p>
            <a:r>
              <a:rPr lang="en-US" sz="2400" dirty="0"/>
              <a:t>There is no specific treatment for acute or chronic HDV infection. </a:t>
            </a:r>
          </a:p>
          <a:p>
            <a:r>
              <a:rPr lang="en-US" sz="2400" dirty="0"/>
              <a:t>Persistent HDV replication is the most important predictor of mortality and the need for antiviral therapy. </a:t>
            </a:r>
          </a:p>
          <a:p>
            <a:r>
              <a:rPr lang="en-US" sz="2400" dirty="0"/>
              <a:t>Pegylated interferon alpha is the only drug effective against HDV; antiviral nucleotide analogues for HBV have no or limited effect on HDV replication. </a:t>
            </a:r>
          </a:p>
          <a:p>
            <a:r>
              <a:rPr lang="en-US" sz="2400" dirty="0"/>
              <a:t>The optimal duration of therapy is not well defined, nor how long patients need to be HDV RNA negative after the end of therapy to achieve a sustained virological response. More than 1 year of therapy may be necessary.</a:t>
            </a:r>
          </a:p>
          <a:p>
            <a:r>
              <a:rPr lang="en-US" sz="2400" dirty="0"/>
              <a:t>The overall rate of sustained virological response remains low, including in children, and most patients relapse after discontinuation of therapy. Liver transplantation may be considered for cases of fulminant hepatitis and end-stage liver disease.</a:t>
            </a:r>
            <a:endParaRPr lang="en-IN" sz="2400" dirty="0"/>
          </a:p>
        </p:txBody>
      </p:sp>
    </p:spTree>
    <p:extLst>
      <p:ext uri="{BB962C8B-B14F-4D97-AF65-F5344CB8AC3E}">
        <p14:creationId xmlns:p14="http://schemas.microsoft.com/office/powerpoint/2010/main" val="3981285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7E4D8-073D-3151-0BA8-085132ECAD68}"/>
              </a:ext>
            </a:extLst>
          </p:cNvPr>
          <p:cNvSpPr>
            <a:spLocks noGrp="1"/>
          </p:cNvSpPr>
          <p:nvPr>
            <p:ph type="title"/>
          </p:nvPr>
        </p:nvSpPr>
        <p:spPr/>
        <p:txBody>
          <a:bodyPr/>
          <a:lstStyle/>
          <a:p>
            <a:r>
              <a:rPr lang="en-US" dirty="0"/>
              <a:t>Prevention</a:t>
            </a:r>
            <a:endParaRPr lang="en-IN" dirty="0"/>
          </a:p>
        </p:txBody>
      </p:sp>
      <p:sp>
        <p:nvSpPr>
          <p:cNvPr id="3" name="Content Placeholder 2">
            <a:extLst>
              <a:ext uri="{FF2B5EF4-FFF2-40B4-BE49-F238E27FC236}">
                <a16:creationId xmlns:a16="http://schemas.microsoft.com/office/drawing/2014/main" id="{D97B3D66-F106-5877-FBE1-379E9B7018A5}"/>
              </a:ext>
            </a:extLst>
          </p:cNvPr>
          <p:cNvSpPr>
            <a:spLocks noGrp="1"/>
          </p:cNvSpPr>
          <p:nvPr>
            <p:ph idx="1"/>
          </p:nvPr>
        </p:nvSpPr>
        <p:spPr/>
        <p:txBody>
          <a:bodyPr>
            <a:normAutofit/>
          </a:bodyPr>
          <a:lstStyle/>
          <a:p>
            <a:r>
              <a:rPr lang="en-US" sz="2400" dirty="0"/>
              <a:t>Prevention and control of HDV infection requires prevention of HBV transmission through hepatitis B immunization, blood safety, injection safety, and harm reduction services. </a:t>
            </a:r>
          </a:p>
          <a:p>
            <a:r>
              <a:rPr lang="en-US" sz="2400" dirty="0"/>
              <a:t>Hepatitis B immunization does not provide protection against HDV for those already HBV infected.</a:t>
            </a:r>
            <a:endParaRPr lang="en-IN" sz="2400" dirty="0"/>
          </a:p>
        </p:txBody>
      </p:sp>
    </p:spTree>
    <p:extLst>
      <p:ext uri="{BB962C8B-B14F-4D97-AF65-F5344CB8AC3E}">
        <p14:creationId xmlns:p14="http://schemas.microsoft.com/office/powerpoint/2010/main" val="2610558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010CB-E1D4-45CE-65B2-CA1D47066999}"/>
              </a:ext>
            </a:extLst>
          </p:cNvPr>
          <p:cNvSpPr>
            <a:spLocks noGrp="1"/>
          </p:cNvSpPr>
          <p:nvPr>
            <p:ph type="ctrTitle"/>
          </p:nvPr>
        </p:nvSpPr>
        <p:spPr/>
        <p:txBody>
          <a:bodyPr/>
          <a:lstStyle/>
          <a:p>
            <a:pPr algn="ctr"/>
            <a:r>
              <a:rPr lang="en-US" dirty="0"/>
              <a:t>HEPATITIS-E</a:t>
            </a:r>
            <a:endParaRPr lang="en-IN" dirty="0"/>
          </a:p>
        </p:txBody>
      </p:sp>
    </p:spTree>
    <p:extLst>
      <p:ext uri="{BB962C8B-B14F-4D97-AF65-F5344CB8AC3E}">
        <p14:creationId xmlns:p14="http://schemas.microsoft.com/office/powerpoint/2010/main" val="477103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7AB6DB-0C4B-F44D-71A7-E2B55D62C320}"/>
              </a:ext>
            </a:extLst>
          </p:cNvPr>
          <p:cNvSpPr>
            <a:spLocks noGrp="1"/>
          </p:cNvSpPr>
          <p:nvPr>
            <p:ph idx="1"/>
          </p:nvPr>
        </p:nvSpPr>
        <p:spPr>
          <a:xfrm>
            <a:off x="991190" y="816076"/>
            <a:ext cx="10058400" cy="5070987"/>
          </a:xfrm>
        </p:spPr>
        <p:txBody>
          <a:bodyPr>
            <a:normAutofit lnSpcReduction="10000"/>
          </a:bodyPr>
          <a:lstStyle/>
          <a:p>
            <a:pPr algn="l"/>
            <a:r>
              <a:rPr lang="en-US" sz="2400" b="0" i="0" u="none" strike="noStrike" baseline="0" dirty="0"/>
              <a:t>The infection caused by the hepatitis E virus (HEV) which was discovered in 1980, is essentially a water-borne disease.</a:t>
            </a:r>
          </a:p>
          <a:p>
            <a:pPr algn="l"/>
            <a:r>
              <a:rPr lang="en-US" sz="2400" b="0" i="0" u="none" strike="noStrike" baseline="0" dirty="0"/>
              <a:t>Formerly termed enterically transmitted hepatitis non-A, non-B (HNANB), HEV is a 29-nm to 32-nm RNA virus with4 genotypes (type 1, 2, 3 and 4).</a:t>
            </a:r>
          </a:p>
          <a:p>
            <a:pPr algn="l"/>
            <a:r>
              <a:rPr lang="en-US" sz="2400" b="0" i="0" u="none" strike="noStrike" baseline="0" dirty="0"/>
              <a:t>Hepatitis E is found worldwide and different genotypes of the hepatitis E virus determine differences in epidemiology.</a:t>
            </a:r>
          </a:p>
          <a:p>
            <a:pPr algn="l"/>
            <a:r>
              <a:rPr lang="en-US" sz="2400" b="0" i="0" u="none" strike="noStrike" baseline="0" dirty="0"/>
              <a:t>For example, genotype 1 is usually seen in developing countries and causes community-level outbreaks while genotype 3 is usually seen in the developed countries, and does not cause outbreaks. </a:t>
            </a:r>
          </a:p>
          <a:p>
            <a:pPr algn="l"/>
            <a:r>
              <a:rPr lang="en-US" sz="2400" b="0" i="0" u="none" strike="noStrike" baseline="0" dirty="0"/>
              <a:t>Hepatitis E prevalence is highest in East and South Asia with genotype 1 most commonly found in India.</a:t>
            </a:r>
          </a:p>
          <a:p>
            <a:pPr algn="l"/>
            <a:r>
              <a:rPr lang="en-US" sz="2400" b="0" i="0" u="none" strike="noStrike" baseline="0" dirty="0"/>
              <a:t>Countries with limited resources, i.e., limited access to essential water, sanitation, hygiene and health </a:t>
            </a:r>
            <a:r>
              <a:rPr lang="en-IN" sz="2400" b="0" i="0" u="none" strike="noStrike" baseline="0" dirty="0"/>
              <a:t>services are frequently affected.</a:t>
            </a:r>
          </a:p>
          <a:p>
            <a:pPr algn="l"/>
            <a:endParaRPr lang="en-IN" dirty="0"/>
          </a:p>
        </p:txBody>
      </p:sp>
    </p:spTree>
    <p:extLst>
      <p:ext uri="{BB962C8B-B14F-4D97-AF65-F5344CB8AC3E}">
        <p14:creationId xmlns:p14="http://schemas.microsoft.com/office/powerpoint/2010/main" val="1036880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9D2A4-37B7-3DCB-038E-D0F4F2A5B6C9}"/>
              </a:ext>
            </a:extLst>
          </p:cNvPr>
          <p:cNvSpPr>
            <a:spLocks noGrp="1"/>
          </p:cNvSpPr>
          <p:nvPr>
            <p:ph type="title"/>
          </p:nvPr>
        </p:nvSpPr>
        <p:spPr/>
        <p:txBody>
          <a:bodyPr/>
          <a:lstStyle/>
          <a:p>
            <a:r>
              <a:rPr lang="en-US" dirty="0"/>
              <a:t>TRANSMISSION</a:t>
            </a:r>
            <a:endParaRPr lang="en-IN" dirty="0"/>
          </a:p>
        </p:txBody>
      </p:sp>
      <p:sp>
        <p:nvSpPr>
          <p:cNvPr id="3" name="Content Placeholder 2">
            <a:extLst>
              <a:ext uri="{FF2B5EF4-FFF2-40B4-BE49-F238E27FC236}">
                <a16:creationId xmlns:a16="http://schemas.microsoft.com/office/drawing/2014/main" id="{BEF3C2ED-B0F5-F44D-B387-F0D45F6C54E7}"/>
              </a:ext>
            </a:extLst>
          </p:cNvPr>
          <p:cNvSpPr>
            <a:spLocks noGrp="1"/>
          </p:cNvSpPr>
          <p:nvPr>
            <p:ph idx="1"/>
          </p:nvPr>
        </p:nvSpPr>
        <p:spPr/>
        <p:txBody>
          <a:bodyPr>
            <a:normAutofit/>
          </a:bodyPr>
          <a:lstStyle/>
          <a:p>
            <a:pPr algn="l"/>
            <a:r>
              <a:rPr lang="en-US" sz="2400" b="0" i="0" u="none" strike="noStrike" baseline="0" dirty="0"/>
              <a:t>The hepatitis E virus is transmitted mainly through the </a:t>
            </a:r>
            <a:r>
              <a:rPr lang="en-US" sz="2400" b="0" i="0" u="none" strike="noStrike" baseline="0" dirty="0" err="1"/>
              <a:t>faecal</a:t>
            </a:r>
            <a:r>
              <a:rPr lang="en-US" sz="2400" b="0" i="0" u="none" strike="noStrike" baseline="0" dirty="0"/>
              <a:t>-oral route, due io </a:t>
            </a:r>
            <a:r>
              <a:rPr lang="en-US" sz="2400" b="0" i="0" u="none" strike="noStrike" baseline="0" dirty="0" err="1"/>
              <a:t>faecal</a:t>
            </a:r>
            <a:r>
              <a:rPr lang="en-US" sz="2400" b="0" i="0" u="none" strike="noStrike" baseline="0" dirty="0"/>
              <a:t> contamination of drinking water.</a:t>
            </a:r>
          </a:p>
          <a:p>
            <a:pPr algn="l"/>
            <a:r>
              <a:rPr lang="en-US" sz="2400" b="0" i="0" u="none" strike="noStrike" baseline="0" dirty="0"/>
              <a:t>Other transmission routes have been identified, which include : </a:t>
            </a:r>
          </a:p>
          <a:p>
            <a:pPr algn="l"/>
            <a:r>
              <a:rPr lang="en-US" sz="2400" b="0" i="0" u="none" strike="noStrike" baseline="0" dirty="0"/>
              <a:t>(a) food-borne transmission from ingestion of products derived from infected animals; </a:t>
            </a:r>
          </a:p>
          <a:p>
            <a:pPr algn="l"/>
            <a:r>
              <a:rPr lang="en-US" sz="2400" b="0" i="0" u="none" strike="noStrike" baseline="0" dirty="0"/>
              <a:t>(b) transfusion of infected blood products; and </a:t>
            </a:r>
          </a:p>
          <a:p>
            <a:pPr algn="l"/>
            <a:r>
              <a:rPr lang="en-US" sz="2400" b="0" i="0" u="none" strike="noStrike" baseline="0" dirty="0"/>
              <a:t>(c) vertical transmission from a pregnant woman to her </a:t>
            </a:r>
            <a:r>
              <a:rPr lang="en-US" sz="2400" b="0" i="0" u="none" strike="noStrike" baseline="0" dirty="0" err="1"/>
              <a:t>foetus</a:t>
            </a:r>
            <a:r>
              <a:rPr lang="en-US" sz="2400" b="0" i="0" u="none" strike="noStrike" baseline="0" dirty="0"/>
              <a:t>.</a:t>
            </a:r>
            <a:endParaRPr lang="en-IN" sz="2400" dirty="0"/>
          </a:p>
        </p:txBody>
      </p:sp>
    </p:spTree>
    <p:extLst>
      <p:ext uri="{BB962C8B-B14F-4D97-AF65-F5344CB8AC3E}">
        <p14:creationId xmlns:p14="http://schemas.microsoft.com/office/powerpoint/2010/main" val="41969076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9E416-3950-9770-D513-E43C574ABC4B}"/>
              </a:ext>
            </a:extLst>
          </p:cNvPr>
          <p:cNvSpPr>
            <a:spLocks noGrp="1"/>
          </p:cNvSpPr>
          <p:nvPr>
            <p:ph type="title"/>
          </p:nvPr>
        </p:nvSpPr>
        <p:spPr/>
        <p:txBody>
          <a:bodyPr/>
          <a:lstStyle/>
          <a:p>
            <a:r>
              <a:rPr lang="en-US" dirty="0"/>
              <a:t>INCUBATION PERIOD</a:t>
            </a:r>
            <a:endParaRPr lang="en-IN" dirty="0"/>
          </a:p>
        </p:txBody>
      </p:sp>
      <p:sp>
        <p:nvSpPr>
          <p:cNvPr id="3" name="Content Placeholder 2">
            <a:extLst>
              <a:ext uri="{FF2B5EF4-FFF2-40B4-BE49-F238E27FC236}">
                <a16:creationId xmlns:a16="http://schemas.microsoft.com/office/drawing/2014/main" id="{A8245211-4915-2D75-33B5-B40186905719}"/>
              </a:ext>
            </a:extLst>
          </p:cNvPr>
          <p:cNvSpPr>
            <a:spLocks noGrp="1"/>
          </p:cNvSpPr>
          <p:nvPr>
            <p:ph idx="1"/>
          </p:nvPr>
        </p:nvSpPr>
        <p:spPr/>
        <p:txBody>
          <a:bodyPr>
            <a:normAutofit/>
          </a:bodyPr>
          <a:lstStyle/>
          <a:p>
            <a:pPr algn="l"/>
            <a:r>
              <a:rPr lang="en-US" sz="2400" b="0" i="0" u="none" strike="noStrike" baseline="0" dirty="0"/>
              <a:t>The incubation period following exposure to the hepatitis E virus ranges from three to eight weeks, with a mean of 40 days</a:t>
            </a:r>
            <a:r>
              <a:rPr lang="en-US" sz="2400" dirty="0"/>
              <a:t>.</a:t>
            </a:r>
          </a:p>
          <a:p>
            <a:pPr algn="l"/>
            <a:r>
              <a:rPr lang="en-US" sz="2400" b="0" i="0" u="none" strike="noStrike" baseline="0" dirty="0"/>
              <a:t>The period of communicability is unknown.</a:t>
            </a:r>
            <a:endParaRPr lang="en-IN" sz="2400" dirty="0"/>
          </a:p>
        </p:txBody>
      </p:sp>
    </p:spTree>
    <p:extLst>
      <p:ext uri="{BB962C8B-B14F-4D97-AF65-F5344CB8AC3E}">
        <p14:creationId xmlns:p14="http://schemas.microsoft.com/office/powerpoint/2010/main" val="4070664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271E9-F8E4-4017-0B25-846270787830}"/>
              </a:ext>
            </a:extLst>
          </p:cNvPr>
          <p:cNvSpPr>
            <a:spLocks noGrp="1"/>
          </p:cNvSpPr>
          <p:nvPr>
            <p:ph type="title"/>
          </p:nvPr>
        </p:nvSpPr>
        <p:spPr/>
        <p:txBody>
          <a:bodyPr/>
          <a:lstStyle/>
          <a:p>
            <a:r>
              <a:rPr lang="en-US" dirty="0"/>
              <a:t>Symptoms</a:t>
            </a:r>
            <a:endParaRPr lang="en-IN" dirty="0"/>
          </a:p>
        </p:txBody>
      </p:sp>
      <p:sp>
        <p:nvSpPr>
          <p:cNvPr id="3" name="Content Placeholder 2">
            <a:extLst>
              <a:ext uri="{FF2B5EF4-FFF2-40B4-BE49-F238E27FC236}">
                <a16:creationId xmlns:a16="http://schemas.microsoft.com/office/drawing/2014/main" id="{D668364D-779A-F3E4-4A51-1FA5B727692D}"/>
              </a:ext>
            </a:extLst>
          </p:cNvPr>
          <p:cNvSpPr>
            <a:spLocks noGrp="1"/>
          </p:cNvSpPr>
          <p:nvPr>
            <p:ph idx="1"/>
          </p:nvPr>
        </p:nvSpPr>
        <p:spPr>
          <a:xfrm>
            <a:off x="1066800" y="1905099"/>
            <a:ext cx="10058400" cy="4050792"/>
          </a:xfrm>
        </p:spPr>
        <p:txBody>
          <a:bodyPr>
            <a:noAutofit/>
          </a:bodyPr>
          <a:lstStyle/>
          <a:p>
            <a:pPr algn="l"/>
            <a:r>
              <a:rPr lang="en-US" sz="2400" b="0" i="0" u="none" strike="noStrike" baseline="0" dirty="0"/>
              <a:t>Symptomatic infection is more common in young adults aged 15-40 years. </a:t>
            </a:r>
          </a:p>
          <a:p>
            <a:pPr algn="l"/>
            <a:r>
              <a:rPr lang="en-US" sz="2400" b="0" i="0" u="none" strike="noStrike" baseline="0" dirty="0"/>
              <a:t>Although infection is frequent in children, the disease is mostly asymptomatic or causes a very mild illness without jaundice that goes undiagnosed. </a:t>
            </a:r>
          </a:p>
          <a:p>
            <a:pPr algn="l"/>
            <a:r>
              <a:rPr lang="en-US" sz="2400" b="0" i="0" u="none" strike="noStrike" baseline="0" dirty="0"/>
              <a:t>The typical symptoms are jaundice, loss of appetite, abdominal pain and tenderness, nausea and vomiting, fever and enlarged and tender liver. </a:t>
            </a:r>
          </a:p>
          <a:p>
            <a:pPr algn="l"/>
            <a:r>
              <a:rPr lang="en-US" sz="2400" b="0" i="0" u="none" strike="noStrike" baseline="0" dirty="0"/>
              <a:t>The symptoms are largely indistinguishable from those experienced during any acute phase of hepatic illness and last for one or two weeks.</a:t>
            </a:r>
            <a:endParaRPr lang="en-IN" sz="2400" dirty="0"/>
          </a:p>
        </p:txBody>
      </p:sp>
    </p:spTree>
    <p:extLst>
      <p:ext uri="{BB962C8B-B14F-4D97-AF65-F5344CB8AC3E}">
        <p14:creationId xmlns:p14="http://schemas.microsoft.com/office/powerpoint/2010/main" val="16393485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5EF035-A0FB-86E7-C4FD-A798431A6745}"/>
              </a:ext>
            </a:extLst>
          </p:cNvPr>
          <p:cNvSpPr>
            <a:spLocks noGrp="1"/>
          </p:cNvSpPr>
          <p:nvPr>
            <p:ph idx="1"/>
          </p:nvPr>
        </p:nvSpPr>
        <p:spPr>
          <a:xfrm>
            <a:off x="1066800" y="1256169"/>
            <a:ext cx="10058400" cy="4050792"/>
          </a:xfrm>
        </p:spPr>
        <p:txBody>
          <a:bodyPr>
            <a:normAutofit/>
          </a:bodyPr>
          <a:lstStyle/>
          <a:p>
            <a:pPr algn="l"/>
            <a:r>
              <a:rPr lang="en-US" sz="2400" b="0" i="0" u="none" strike="noStrike" baseline="0" dirty="0"/>
              <a:t>In rare cases, acute hepatitis E can result in fulminant hepatitis (acute liver failure) and death. </a:t>
            </a:r>
          </a:p>
          <a:p>
            <a:pPr algn="l"/>
            <a:r>
              <a:rPr lang="en-US" sz="2400" b="0" i="0" u="none" strike="noStrike" baseline="0" dirty="0"/>
              <a:t>Fulminant hepatitis occurs more frequently during pregnancy. </a:t>
            </a:r>
          </a:p>
          <a:p>
            <a:pPr algn="l"/>
            <a:r>
              <a:rPr lang="en-US" sz="2400" b="0" i="0" u="none" strike="noStrike" baseline="0" dirty="0"/>
              <a:t>Pregnant women are at greater risk of obstetrical complications and mortality from hepatitis E, which can induce a mortality rate of 20 per cent among pregnant women in their third trimester.</a:t>
            </a:r>
          </a:p>
          <a:p>
            <a:pPr algn="l"/>
            <a:r>
              <a:rPr lang="en-US" sz="2400" b="0" i="0" u="none" strike="noStrike" baseline="0" dirty="0"/>
              <a:t>Cases of chronic </a:t>
            </a:r>
            <a:r>
              <a:rPr lang="en-US" sz="2400" b="0" i="0" u="none" strike="noStrike" baseline="0" dirty="0" err="1"/>
              <a:t>hepaitits</a:t>
            </a:r>
            <a:r>
              <a:rPr lang="en-US" sz="2400" b="0" i="0" u="none" strike="noStrike" baseline="0" dirty="0"/>
              <a:t> E infection have been reported in immunosuppressed people.</a:t>
            </a:r>
          </a:p>
          <a:p>
            <a:pPr algn="l"/>
            <a:r>
              <a:rPr lang="en-US" sz="2400" b="0" i="0" u="none" strike="noStrike" baseline="0" dirty="0"/>
              <a:t> Reactivation of hepatitis E infection has also been reported in immunocompromised </a:t>
            </a:r>
            <a:r>
              <a:rPr lang="en-IN" sz="2400" b="0" i="0" u="none" strike="noStrike" baseline="0" dirty="0"/>
              <a:t>people.</a:t>
            </a:r>
            <a:endParaRPr lang="en-IN" sz="2400" dirty="0"/>
          </a:p>
        </p:txBody>
      </p:sp>
    </p:spTree>
    <p:extLst>
      <p:ext uri="{BB962C8B-B14F-4D97-AF65-F5344CB8AC3E}">
        <p14:creationId xmlns:p14="http://schemas.microsoft.com/office/powerpoint/2010/main" val="4181368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BCE40-C4AF-7DBA-C0A5-09E5691B6026}"/>
              </a:ext>
            </a:extLst>
          </p:cNvPr>
          <p:cNvSpPr>
            <a:spLocks noGrp="1"/>
          </p:cNvSpPr>
          <p:nvPr>
            <p:ph type="title"/>
          </p:nvPr>
        </p:nvSpPr>
        <p:spPr/>
        <p:txBody>
          <a:bodyPr/>
          <a:lstStyle/>
          <a:p>
            <a:r>
              <a:rPr lang="en-US" dirty="0"/>
              <a:t>DIAGNOSIS</a:t>
            </a:r>
            <a:endParaRPr lang="en-IN" dirty="0"/>
          </a:p>
        </p:txBody>
      </p:sp>
      <p:sp>
        <p:nvSpPr>
          <p:cNvPr id="3" name="Content Placeholder 2">
            <a:extLst>
              <a:ext uri="{FF2B5EF4-FFF2-40B4-BE49-F238E27FC236}">
                <a16:creationId xmlns:a16="http://schemas.microsoft.com/office/drawing/2014/main" id="{820CD988-C4E8-B43A-F45D-E1209B17A1C3}"/>
              </a:ext>
            </a:extLst>
          </p:cNvPr>
          <p:cNvSpPr>
            <a:spLocks noGrp="1"/>
          </p:cNvSpPr>
          <p:nvPr>
            <p:ph idx="1"/>
          </p:nvPr>
        </p:nvSpPr>
        <p:spPr/>
        <p:txBody>
          <a:bodyPr>
            <a:normAutofit/>
          </a:bodyPr>
          <a:lstStyle/>
          <a:p>
            <a:pPr algn="l"/>
            <a:r>
              <a:rPr lang="en-US" sz="2400" b="0" i="0" u="none" strike="noStrike" baseline="0" dirty="0"/>
              <a:t>Cases of hepatitis E are not clinically distinguishable from other types of acute viral hepatitis. Diagnosis of hepatitis E infection is, therefore, usually based on the detection of specific IgM and IgG antibodies to the virus in the blood.</a:t>
            </a:r>
          </a:p>
          <a:p>
            <a:pPr algn="l"/>
            <a:r>
              <a:rPr lang="en-US" sz="2400" b="0" i="0" u="none" strike="noStrike" baseline="0" dirty="0"/>
              <a:t>Additional tests include reverse transcriptase polymerase chain reaction (RT-PCR) to detect the hepatitis E virus RNA in blood and/or stool, but this assay may require specialized </a:t>
            </a:r>
            <a:r>
              <a:rPr lang="en-IN" sz="2400" b="0" i="0" u="none" strike="noStrike" baseline="0" dirty="0"/>
              <a:t>laboratory facilities.</a:t>
            </a:r>
            <a:endParaRPr lang="en-IN" sz="2400" dirty="0"/>
          </a:p>
        </p:txBody>
      </p:sp>
    </p:spTree>
    <p:extLst>
      <p:ext uri="{BB962C8B-B14F-4D97-AF65-F5344CB8AC3E}">
        <p14:creationId xmlns:p14="http://schemas.microsoft.com/office/powerpoint/2010/main" val="16116568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ABA46-EACB-B9BC-DE64-D85748A7B1F4}"/>
              </a:ext>
            </a:extLst>
          </p:cNvPr>
          <p:cNvSpPr>
            <a:spLocks noGrp="1"/>
          </p:cNvSpPr>
          <p:nvPr>
            <p:ph type="title"/>
          </p:nvPr>
        </p:nvSpPr>
        <p:spPr>
          <a:xfrm>
            <a:off x="1236996" y="396142"/>
            <a:ext cx="10058400" cy="1609344"/>
          </a:xfrm>
        </p:spPr>
        <p:txBody>
          <a:bodyPr/>
          <a:lstStyle/>
          <a:p>
            <a:r>
              <a:rPr lang="en-US" dirty="0"/>
              <a:t>TREATMENT</a:t>
            </a:r>
            <a:endParaRPr lang="en-IN" dirty="0"/>
          </a:p>
        </p:txBody>
      </p:sp>
      <p:sp>
        <p:nvSpPr>
          <p:cNvPr id="3" name="Content Placeholder 2">
            <a:extLst>
              <a:ext uri="{FF2B5EF4-FFF2-40B4-BE49-F238E27FC236}">
                <a16:creationId xmlns:a16="http://schemas.microsoft.com/office/drawing/2014/main" id="{7461B9B6-64F9-8295-1C12-325FC62DDE55}"/>
              </a:ext>
            </a:extLst>
          </p:cNvPr>
          <p:cNvSpPr>
            <a:spLocks noGrp="1"/>
          </p:cNvSpPr>
          <p:nvPr>
            <p:ph idx="1"/>
          </p:nvPr>
        </p:nvSpPr>
        <p:spPr/>
        <p:txBody>
          <a:bodyPr>
            <a:normAutofit/>
          </a:bodyPr>
          <a:lstStyle/>
          <a:p>
            <a:pPr algn="l"/>
            <a:r>
              <a:rPr lang="en-US" sz="2400" b="0" i="0" u="none" strike="noStrike" baseline="0" dirty="0"/>
              <a:t>Hepatitis E is usually self-limiting</a:t>
            </a:r>
            <a:r>
              <a:rPr lang="en-US" sz="2400" dirty="0"/>
              <a:t>.</a:t>
            </a:r>
            <a:r>
              <a:rPr lang="en-US" sz="2400" b="0" i="0" u="none" strike="noStrike" baseline="0" dirty="0"/>
              <a:t> </a:t>
            </a:r>
          </a:p>
          <a:p>
            <a:pPr algn="l"/>
            <a:r>
              <a:rPr lang="en-US" sz="2400" b="0" i="0" u="none" strike="noStrike" baseline="0" dirty="0"/>
              <a:t>Prevention is the most effective approach against the disease as there is no specific treatment for altering the course of acute hepatitis.</a:t>
            </a:r>
          </a:p>
          <a:p>
            <a:pPr algn="l"/>
            <a:r>
              <a:rPr lang="en-US" sz="2400" b="0" i="0" u="none" strike="noStrike" baseline="0" dirty="0"/>
              <a:t>Hospitalization is required for fulminant cases and in symptomatic pregnant women. Recovery from disease is always complete. </a:t>
            </a:r>
          </a:p>
          <a:p>
            <a:pPr algn="l"/>
            <a:r>
              <a:rPr lang="en-US" sz="2400" b="0" i="0" u="none" strike="noStrike" baseline="0" dirty="0"/>
              <a:t>No specific immunoglobulin prophylaxis is available.</a:t>
            </a:r>
            <a:endParaRPr lang="en-IN" sz="2400" dirty="0"/>
          </a:p>
        </p:txBody>
      </p:sp>
    </p:spTree>
    <p:extLst>
      <p:ext uri="{BB962C8B-B14F-4D97-AF65-F5344CB8AC3E}">
        <p14:creationId xmlns:p14="http://schemas.microsoft.com/office/powerpoint/2010/main" val="8220621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A84FB-57A2-3E3B-2283-E4004C1AB8B3}"/>
              </a:ext>
            </a:extLst>
          </p:cNvPr>
          <p:cNvSpPr>
            <a:spLocks noGrp="1"/>
          </p:cNvSpPr>
          <p:nvPr>
            <p:ph type="title"/>
          </p:nvPr>
        </p:nvSpPr>
        <p:spPr/>
        <p:txBody>
          <a:bodyPr/>
          <a:lstStyle/>
          <a:p>
            <a:r>
              <a:rPr lang="en-US" dirty="0"/>
              <a:t>PREVENTION</a:t>
            </a:r>
            <a:endParaRPr lang="en-IN" dirty="0"/>
          </a:p>
        </p:txBody>
      </p:sp>
      <p:sp>
        <p:nvSpPr>
          <p:cNvPr id="3" name="Content Placeholder 2">
            <a:extLst>
              <a:ext uri="{FF2B5EF4-FFF2-40B4-BE49-F238E27FC236}">
                <a16:creationId xmlns:a16="http://schemas.microsoft.com/office/drawing/2014/main" id="{5615DF03-6102-D117-F83E-FB3E55B45051}"/>
              </a:ext>
            </a:extLst>
          </p:cNvPr>
          <p:cNvSpPr>
            <a:spLocks noGrp="1"/>
          </p:cNvSpPr>
          <p:nvPr>
            <p:ph idx="1"/>
          </p:nvPr>
        </p:nvSpPr>
        <p:spPr>
          <a:xfrm>
            <a:off x="1066800" y="1855937"/>
            <a:ext cx="10058400" cy="4050792"/>
          </a:xfrm>
        </p:spPr>
        <p:txBody>
          <a:bodyPr>
            <a:noAutofit/>
          </a:bodyPr>
          <a:lstStyle/>
          <a:p>
            <a:pPr algn="l"/>
            <a:r>
              <a:rPr lang="en-US" sz="2400" b="0" i="0" u="none" strike="noStrike" baseline="0" dirty="0"/>
              <a:t>The risk of infection and transmission can be reduced by maintaining quality standards for public water supplies and establishing proper disposal systems to eliminate sanitary waste. </a:t>
            </a:r>
          </a:p>
          <a:p>
            <a:pPr algn="l"/>
            <a:r>
              <a:rPr lang="en-US" sz="2400" b="0" i="0" u="none" strike="noStrike" baseline="0" dirty="0"/>
              <a:t>On an individual level, infection risk can be reduced by : </a:t>
            </a:r>
          </a:p>
          <a:p>
            <a:pPr algn="l"/>
            <a:r>
              <a:rPr lang="en-US" sz="2400" b="0" i="0" u="none" strike="noStrike" baseline="0" dirty="0"/>
              <a:t>(a) maintaining hygienic practices such as hand washing with safe water, particularly before handling food;</a:t>
            </a:r>
          </a:p>
          <a:p>
            <a:pPr algn="l"/>
            <a:r>
              <a:rPr lang="en-US" sz="2400" b="0" i="0" u="none" strike="noStrike" baseline="0" dirty="0"/>
              <a:t>(b) avoiding drinking water and/or ice of unknown purity;</a:t>
            </a:r>
          </a:p>
          <a:p>
            <a:pPr algn="l"/>
            <a:r>
              <a:rPr lang="en-US" sz="2400" b="0" i="0" u="none" strike="noStrike" baseline="0" dirty="0"/>
              <a:t>(c) adhering to WHO safe food practices.</a:t>
            </a:r>
          </a:p>
          <a:p>
            <a:pPr algn="l"/>
            <a:r>
              <a:rPr lang="en-US" sz="2400" b="0" i="0" u="none" strike="noStrike" baseline="0" dirty="0"/>
              <a:t>In 2011, the first vaccine to prevent hepatitis E infection was registered in China, although it is not available globally.</a:t>
            </a:r>
            <a:endParaRPr lang="en-IN" sz="2400" dirty="0"/>
          </a:p>
        </p:txBody>
      </p:sp>
    </p:spTree>
    <p:extLst>
      <p:ext uri="{BB962C8B-B14F-4D97-AF65-F5344CB8AC3E}">
        <p14:creationId xmlns:p14="http://schemas.microsoft.com/office/powerpoint/2010/main" val="12161362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69C37-ABFB-CFE1-6A24-CF6BAF4A3B85}"/>
              </a:ext>
            </a:extLst>
          </p:cNvPr>
          <p:cNvSpPr>
            <a:spLocks noGrp="1"/>
          </p:cNvSpPr>
          <p:nvPr>
            <p:ph type="ctrTitle"/>
          </p:nvPr>
        </p:nvSpPr>
        <p:spPr/>
        <p:txBody>
          <a:bodyPr/>
          <a:lstStyle/>
          <a:p>
            <a:pPr algn="ctr"/>
            <a:r>
              <a:rPr lang="en-US" dirty="0"/>
              <a:t>HEPATITIS-G</a:t>
            </a:r>
            <a:endParaRPr lang="en-IN" dirty="0"/>
          </a:p>
        </p:txBody>
      </p:sp>
    </p:spTree>
    <p:extLst>
      <p:ext uri="{BB962C8B-B14F-4D97-AF65-F5344CB8AC3E}">
        <p14:creationId xmlns:p14="http://schemas.microsoft.com/office/powerpoint/2010/main" val="771659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7875A2-B187-DA57-F225-59B2A817874D}"/>
              </a:ext>
            </a:extLst>
          </p:cNvPr>
          <p:cNvSpPr>
            <a:spLocks noGrp="1"/>
          </p:cNvSpPr>
          <p:nvPr>
            <p:ph idx="1"/>
          </p:nvPr>
        </p:nvSpPr>
        <p:spPr/>
        <p:txBody>
          <a:bodyPr>
            <a:normAutofit/>
          </a:bodyPr>
          <a:lstStyle/>
          <a:p>
            <a:pPr algn="l"/>
            <a:r>
              <a:rPr lang="en-US" sz="2400" b="0" i="0" u="none" strike="noStrike" baseline="0" dirty="0"/>
              <a:t>Hepatitis G virus HGV was discovered in 1996. </a:t>
            </a:r>
          </a:p>
          <a:p>
            <a:pPr algn="l"/>
            <a:r>
              <a:rPr lang="en-US" sz="2400" b="0" i="0" u="none" strike="noStrike" baseline="0" dirty="0"/>
              <a:t>The prevalence of this infection is still not known. </a:t>
            </a:r>
          </a:p>
          <a:p>
            <a:pPr algn="l"/>
            <a:r>
              <a:rPr lang="en-US" sz="2400" b="0" i="0" u="none" strike="noStrike" baseline="0" dirty="0"/>
              <a:t>A few publications provide information on the association of this infection with blood transfusion in India.</a:t>
            </a:r>
            <a:endParaRPr lang="en-IN" sz="2400" dirty="0"/>
          </a:p>
        </p:txBody>
      </p:sp>
    </p:spTree>
    <p:extLst>
      <p:ext uri="{BB962C8B-B14F-4D97-AF65-F5344CB8AC3E}">
        <p14:creationId xmlns:p14="http://schemas.microsoft.com/office/powerpoint/2010/main" val="23604835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F687C-43A3-15F6-A86F-AD52B4A061B4}"/>
              </a:ext>
            </a:extLst>
          </p:cNvPr>
          <p:cNvSpPr>
            <a:spLocks noGrp="1"/>
          </p:cNvSpPr>
          <p:nvPr>
            <p:ph type="ctrTitle"/>
          </p:nvPr>
        </p:nvSpPr>
        <p:spPr/>
        <p:txBody>
          <a:bodyPr/>
          <a:lstStyle/>
          <a:p>
            <a:pPr algn="ctr"/>
            <a:r>
              <a:rPr lang="en-US" dirty="0"/>
              <a:t>ACUTE DIARRHOEAL DISEASES</a:t>
            </a:r>
            <a:endParaRPr lang="en-IN" dirty="0"/>
          </a:p>
        </p:txBody>
      </p:sp>
    </p:spTree>
    <p:extLst>
      <p:ext uri="{BB962C8B-B14F-4D97-AF65-F5344CB8AC3E}">
        <p14:creationId xmlns:p14="http://schemas.microsoft.com/office/powerpoint/2010/main" val="15912514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D7A05-30A2-0CF0-1045-DAF66F19211E}"/>
              </a:ext>
            </a:extLst>
          </p:cNvPr>
          <p:cNvSpPr>
            <a:spLocks noGrp="1"/>
          </p:cNvSpPr>
          <p:nvPr>
            <p:ph type="title"/>
          </p:nvPr>
        </p:nvSpPr>
        <p:spPr/>
        <p:txBody>
          <a:bodyPr>
            <a:normAutofit/>
          </a:bodyPr>
          <a:lstStyle/>
          <a:p>
            <a:r>
              <a:rPr lang="en-US" b="0" i="0" u="none" strike="noStrike" baseline="0" dirty="0"/>
              <a:t>CLINICAL TYPES OF DIARRHOEAL DISEASE</a:t>
            </a:r>
            <a:endParaRPr lang="en-IN" dirty="0"/>
          </a:p>
        </p:txBody>
      </p:sp>
      <p:sp>
        <p:nvSpPr>
          <p:cNvPr id="3" name="Content Placeholder 2">
            <a:extLst>
              <a:ext uri="{FF2B5EF4-FFF2-40B4-BE49-F238E27FC236}">
                <a16:creationId xmlns:a16="http://schemas.microsoft.com/office/drawing/2014/main" id="{E707C356-41D7-18F0-D78A-828C2AAE8E39}"/>
              </a:ext>
            </a:extLst>
          </p:cNvPr>
          <p:cNvSpPr>
            <a:spLocks noGrp="1"/>
          </p:cNvSpPr>
          <p:nvPr>
            <p:ph idx="1"/>
          </p:nvPr>
        </p:nvSpPr>
        <p:spPr/>
        <p:txBody>
          <a:bodyPr>
            <a:normAutofit/>
          </a:bodyPr>
          <a:lstStyle/>
          <a:p>
            <a:pPr algn="l"/>
            <a:r>
              <a:rPr lang="en-US" sz="2400" b="1" i="1" u="none" strike="noStrike" baseline="0" dirty="0"/>
              <a:t>Acute watery </a:t>
            </a:r>
            <a:r>
              <a:rPr lang="en-US" sz="2400" b="1" i="1" u="none" strike="noStrike" baseline="0" dirty="0" err="1"/>
              <a:t>diarrhoea</a:t>
            </a:r>
            <a:r>
              <a:rPr lang="en-US" sz="2400" b="1" i="1" u="none" strike="noStrike" baseline="0" dirty="0"/>
              <a:t> </a:t>
            </a:r>
            <a:r>
              <a:rPr lang="en-US" sz="2400" b="0" i="1" u="none" strike="noStrike" baseline="0" dirty="0"/>
              <a:t>— </a:t>
            </a:r>
            <a:r>
              <a:rPr lang="en-US" sz="2400" b="0" i="0" u="none" strike="noStrike" baseline="0" dirty="0"/>
              <a:t>which lasts several hours to days; the main danger is dehydration, weight loss also occurs if feeding is not continued. The pathogens that usually cause acute </a:t>
            </a:r>
            <a:r>
              <a:rPr lang="en-US" sz="2400" b="0" i="0" u="none" strike="noStrike" baseline="0" dirty="0" err="1"/>
              <a:t>diarrhoea</a:t>
            </a:r>
            <a:r>
              <a:rPr lang="en-US" sz="2400" b="0" i="0" u="none" strike="noStrike" baseline="0" dirty="0"/>
              <a:t> include V. </a:t>
            </a:r>
            <a:r>
              <a:rPr lang="en-US" sz="2400" b="0" i="1" u="none" strike="noStrike" baseline="0" dirty="0"/>
              <a:t>cholerae </a:t>
            </a:r>
            <a:r>
              <a:rPr lang="en-US" sz="2400" b="0" i="0" u="none" strike="noStrike" baseline="0" dirty="0"/>
              <a:t>or </a:t>
            </a:r>
            <a:r>
              <a:rPr lang="en-IN" sz="2400" b="0" i="1" u="none" strike="noStrike" baseline="0" dirty="0"/>
              <a:t>E. coli </a:t>
            </a:r>
            <a:r>
              <a:rPr lang="en-IN" sz="2400" b="0" i="0" u="none" strike="noStrike" baseline="0" dirty="0"/>
              <a:t>bacteria, as well as rotavirus.</a:t>
            </a:r>
          </a:p>
          <a:p>
            <a:pPr algn="l"/>
            <a:r>
              <a:rPr lang="en-US" sz="2400" b="1" i="1" u="none" strike="noStrike" baseline="0" dirty="0"/>
              <a:t>Acute bloody </a:t>
            </a:r>
            <a:r>
              <a:rPr lang="en-US" sz="2400" b="1" i="1" u="none" strike="noStrike" baseline="0" dirty="0" err="1"/>
              <a:t>diarrhoea</a:t>
            </a:r>
            <a:r>
              <a:rPr lang="en-US" sz="2400" b="1" i="1" u="none" strike="noStrike" baseline="0" dirty="0"/>
              <a:t> </a:t>
            </a:r>
            <a:r>
              <a:rPr lang="en-US" sz="2400" b="0" i="1" u="none" strike="noStrike" baseline="0" dirty="0"/>
              <a:t>- </a:t>
            </a:r>
            <a:r>
              <a:rPr lang="en-US" sz="2400" b="0" i="0" u="none" strike="noStrike" baseline="0" dirty="0"/>
              <a:t>which is also called dysentery - the main dangers are damage of the intestinal mucosa, sepsis and malnutrition; other complications including dehydration, may also occur. It is marked by visible blood in the stools. The most common cause of bloody </a:t>
            </a:r>
            <a:r>
              <a:rPr lang="en-US" sz="2400" b="0" i="0" u="none" strike="noStrike" baseline="0" dirty="0" err="1"/>
              <a:t>diarrhoea</a:t>
            </a:r>
            <a:r>
              <a:rPr lang="en-US" sz="2400" b="0" i="0" u="none" strike="noStrike" baseline="0" dirty="0"/>
              <a:t> is </a:t>
            </a:r>
            <a:r>
              <a:rPr lang="en-US" sz="2400" b="0" i="1" u="none" strike="noStrike" baseline="0" dirty="0"/>
              <a:t>shigella, a </a:t>
            </a:r>
            <a:r>
              <a:rPr lang="en-US" sz="2400" b="0" i="0" u="none" strike="noStrike" baseline="0" dirty="0"/>
              <a:t>bacteria that is also a most common cause of severe cases.</a:t>
            </a:r>
            <a:endParaRPr lang="en-IN" sz="2400" dirty="0"/>
          </a:p>
        </p:txBody>
      </p:sp>
    </p:spTree>
    <p:extLst>
      <p:ext uri="{BB962C8B-B14F-4D97-AF65-F5344CB8AC3E}">
        <p14:creationId xmlns:p14="http://schemas.microsoft.com/office/powerpoint/2010/main" val="3508741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799F3-9524-AB4C-5126-89DE061E593D}"/>
              </a:ext>
            </a:extLst>
          </p:cNvPr>
          <p:cNvSpPr>
            <a:spLocks noGrp="1"/>
          </p:cNvSpPr>
          <p:nvPr>
            <p:ph idx="1"/>
          </p:nvPr>
        </p:nvSpPr>
        <p:spPr>
          <a:xfrm>
            <a:off x="1066800" y="1501976"/>
            <a:ext cx="10058400" cy="4050792"/>
          </a:xfrm>
        </p:spPr>
        <p:txBody>
          <a:bodyPr>
            <a:normAutofit/>
          </a:bodyPr>
          <a:lstStyle/>
          <a:p>
            <a:pPr algn="l"/>
            <a:r>
              <a:rPr lang="en-US" sz="2400" b="1" i="1" u="none" strike="noStrike" baseline="0" dirty="0"/>
              <a:t>Persistent </a:t>
            </a:r>
            <a:r>
              <a:rPr lang="en-US" sz="2400" b="1" i="1" u="none" strike="noStrike" baseline="0" dirty="0" err="1"/>
              <a:t>diarrhoea</a:t>
            </a:r>
            <a:r>
              <a:rPr lang="en-US" sz="2400" b="1" i="1" u="none" strike="noStrike" baseline="0" dirty="0"/>
              <a:t> </a:t>
            </a:r>
            <a:r>
              <a:rPr lang="en-US" sz="2400" b="0" i="1" u="none" strike="noStrike" baseline="0" dirty="0"/>
              <a:t>- </a:t>
            </a:r>
            <a:r>
              <a:rPr lang="en-US" sz="2400" b="0" i="0" u="none" strike="noStrike" baseline="0" dirty="0"/>
              <a:t>which lasts 14 days or longer. The main danger is malnutrition and serious non-intestinal infection, dehydration may also occur. Persons with other illness, such as AIDS, are more likely to develop </a:t>
            </a:r>
            <a:r>
              <a:rPr lang="en-IN" sz="2400" b="0" i="0" u="none" strike="noStrike" baseline="0" dirty="0"/>
              <a:t>persistent diarrhoea.</a:t>
            </a:r>
          </a:p>
          <a:p>
            <a:pPr algn="l"/>
            <a:r>
              <a:rPr lang="en-US" sz="2400" b="1" i="1" u="none" strike="noStrike" baseline="0" dirty="0" err="1"/>
              <a:t>Diarrhoea</a:t>
            </a:r>
            <a:r>
              <a:rPr lang="en-US" sz="2400" b="1" i="1" u="none" strike="noStrike" baseline="0" dirty="0"/>
              <a:t> with severe malnutrition </a:t>
            </a:r>
            <a:r>
              <a:rPr lang="en-US" sz="2400" b="0" i="1" u="none" strike="noStrike" baseline="0" dirty="0"/>
              <a:t>(marasmus and Kwashiorkor) - </a:t>
            </a:r>
            <a:r>
              <a:rPr lang="en-US" sz="2400" b="0" i="0" u="none" strike="noStrike" baseline="0" dirty="0"/>
              <a:t>The main dangers are severe systemic infection, dehydration, heart failure, and vitamin and </a:t>
            </a:r>
            <a:r>
              <a:rPr lang="en-IN" sz="2400" b="0" i="0" u="none" strike="noStrike" baseline="0" dirty="0"/>
              <a:t>mineral deficiency.</a:t>
            </a:r>
            <a:endParaRPr lang="en-IN" sz="2400" dirty="0"/>
          </a:p>
        </p:txBody>
      </p:sp>
    </p:spTree>
    <p:extLst>
      <p:ext uri="{BB962C8B-B14F-4D97-AF65-F5344CB8AC3E}">
        <p14:creationId xmlns:p14="http://schemas.microsoft.com/office/powerpoint/2010/main" val="27073692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9ACDE-586B-5E4F-C5EB-11814CE1C2AB}"/>
              </a:ext>
            </a:extLst>
          </p:cNvPr>
          <p:cNvSpPr>
            <a:spLocks noGrp="1"/>
          </p:cNvSpPr>
          <p:nvPr>
            <p:ph idx="1"/>
          </p:nvPr>
        </p:nvSpPr>
        <p:spPr>
          <a:xfrm>
            <a:off x="1066800" y="1266002"/>
            <a:ext cx="10058400" cy="4050792"/>
          </a:xfrm>
        </p:spPr>
        <p:txBody>
          <a:bodyPr>
            <a:normAutofit/>
          </a:bodyPr>
          <a:lstStyle/>
          <a:p>
            <a:pPr algn="l"/>
            <a:r>
              <a:rPr lang="en-IN" sz="2400" b="1" i="0" u="none" strike="noStrike" baseline="0" dirty="0">
                <a:latin typeface="Arial" panose="020B0604020202020204" pitchFamily="34" charset="0"/>
              </a:rPr>
              <a:t>Diarrhoea </a:t>
            </a:r>
            <a:r>
              <a:rPr lang="en-IN" sz="2400" b="1" i="1" u="none" strike="noStrike" baseline="0" dirty="0">
                <a:latin typeface="Arial" panose="020B0604020202020204" pitchFamily="34" charset="0"/>
              </a:rPr>
              <a:t>prevention indicators</a:t>
            </a:r>
          </a:p>
          <a:p>
            <a:pPr algn="l"/>
            <a:r>
              <a:rPr lang="en-US" sz="2400" b="0" i="0" u="none" strike="noStrike" baseline="0" dirty="0">
                <a:latin typeface="Arial" panose="020B0604020202020204" pitchFamily="34" charset="0"/>
              </a:rPr>
              <a:t>(1) Percentage of population using :</a:t>
            </a:r>
          </a:p>
          <a:p>
            <a:pPr algn="l"/>
            <a:r>
              <a:rPr lang="en-US" sz="2400" b="0" i="0" u="none" strike="noStrike" baseline="0" dirty="0">
                <a:latin typeface="Arial" panose="020B0604020202020204" pitchFamily="34" charset="0"/>
              </a:rPr>
              <a:t>(a) improved drinking water sources (urban, </a:t>
            </a:r>
            <a:r>
              <a:rPr lang="en-US" sz="2400" b="0" i="0" u="none" strike="noStrike" baseline="0" dirty="0" err="1">
                <a:latin typeface="Arial" panose="020B0604020202020204" pitchFamily="34" charset="0"/>
              </a:rPr>
              <a:t>rural,total</a:t>
            </a:r>
            <a:r>
              <a:rPr lang="en-US" sz="2400" b="0" i="0" u="none" strike="noStrike" baseline="0" dirty="0">
                <a:latin typeface="Arial" panose="020B0604020202020204" pitchFamily="34" charset="0"/>
              </a:rPr>
              <a:t>); (For India - urban 97%, rural 90% and </a:t>
            </a:r>
            <a:r>
              <a:rPr lang="en-IN" sz="2400" b="0" i="0" u="none" strike="noStrike" baseline="0" dirty="0">
                <a:latin typeface="Arial" panose="020B0604020202020204" pitchFamily="34" charset="0"/>
              </a:rPr>
              <a:t>total 92%)</a:t>
            </a:r>
          </a:p>
          <a:p>
            <a:pPr algn="l"/>
            <a:r>
              <a:rPr lang="en-US" sz="2400" b="0" i="0" u="none" strike="noStrike" baseline="0" dirty="0">
                <a:latin typeface="Arial" panose="020B0604020202020204" pitchFamily="34" charset="0"/>
              </a:rPr>
              <a:t>(b) improved sanitation facilities (urban, rural, total); (For India - urban 58%, rural 23% and total </a:t>
            </a:r>
            <a:r>
              <a:rPr lang="en-IN" sz="2400" b="0" i="0" u="none" strike="noStrike" baseline="0" dirty="0">
                <a:latin typeface="Arial" panose="020B0604020202020204" pitchFamily="34" charset="0"/>
              </a:rPr>
              <a:t>34%)</a:t>
            </a:r>
          </a:p>
          <a:p>
            <a:pPr algn="l"/>
            <a:r>
              <a:rPr lang="en-US" sz="2400" b="0" i="0" u="none" strike="noStrike" baseline="0" dirty="0">
                <a:latin typeface="Arial" panose="020B0604020202020204" pitchFamily="34" charset="0"/>
              </a:rPr>
              <a:t>(2) Percentage of one year old immunized against </a:t>
            </a:r>
            <a:r>
              <a:rPr lang="en-IN" sz="2400" b="0" i="0" u="none" strike="noStrike" baseline="0" dirty="0">
                <a:latin typeface="Arial" panose="020B0604020202020204" pitchFamily="34" charset="0"/>
              </a:rPr>
              <a:t>measles; (India-74%)</a:t>
            </a:r>
            <a:endParaRPr lang="en-IN" sz="2400" dirty="0"/>
          </a:p>
        </p:txBody>
      </p:sp>
    </p:spTree>
    <p:extLst>
      <p:ext uri="{BB962C8B-B14F-4D97-AF65-F5344CB8AC3E}">
        <p14:creationId xmlns:p14="http://schemas.microsoft.com/office/powerpoint/2010/main" val="1878260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FAD71D-C278-2B4B-81D1-FECC9FA22851}"/>
              </a:ext>
            </a:extLst>
          </p:cNvPr>
          <p:cNvSpPr>
            <a:spLocks noGrp="1"/>
          </p:cNvSpPr>
          <p:nvPr>
            <p:ph idx="1"/>
          </p:nvPr>
        </p:nvSpPr>
        <p:spPr>
          <a:xfrm>
            <a:off x="938980" y="639097"/>
            <a:ext cx="10058400" cy="5034116"/>
          </a:xfrm>
        </p:spPr>
        <p:txBody>
          <a:bodyPr>
            <a:noAutofit/>
          </a:bodyPr>
          <a:lstStyle/>
          <a:p>
            <a:pPr algn="l"/>
            <a:r>
              <a:rPr lang="en-US" b="0" i="0" u="none" strike="noStrike" baseline="0" dirty="0"/>
              <a:t>Percentage of children who are :</a:t>
            </a:r>
          </a:p>
          <a:p>
            <a:r>
              <a:rPr lang="en-US" b="0" i="0" u="none" strike="noStrike" baseline="0" dirty="0"/>
              <a:t>- under-weight (moderate and severe) - 0 to 59 </a:t>
            </a:r>
            <a:r>
              <a:rPr lang="en-IN" b="0" i="0" u="none" strike="noStrike" baseline="0" dirty="0"/>
              <a:t>months age</a:t>
            </a:r>
          </a:p>
          <a:p>
            <a:pPr marL="0" indent="0" algn="l">
              <a:buNone/>
            </a:pPr>
            <a:r>
              <a:rPr lang="en-IN" b="0" i="0" u="none" strike="noStrike" baseline="0" dirty="0"/>
              <a:t>      (India-43%) </a:t>
            </a:r>
          </a:p>
          <a:p>
            <a:r>
              <a:rPr lang="en-US" b="0" i="0" u="none" strike="noStrike" baseline="0" dirty="0"/>
              <a:t>- stunted (moderate and severe) - 0 to 59 </a:t>
            </a:r>
            <a:r>
              <a:rPr lang="en-IN" b="0" i="0" u="none" strike="noStrike" baseline="0" dirty="0"/>
              <a:t>months age</a:t>
            </a:r>
          </a:p>
          <a:p>
            <a:pPr marL="0" indent="0" algn="l">
              <a:buNone/>
            </a:pPr>
            <a:r>
              <a:rPr lang="en-IN" b="0" i="0" u="none" strike="noStrike" baseline="0" dirty="0"/>
              <a:t>      (lndia-38.7%) </a:t>
            </a:r>
          </a:p>
          <a:p>
            <a:r>
              <a:rPr lang="en-US" b="0" i="0" u="none" strike="noStrike" baseline="0" dirty="0"/>
              <a:t>- exclusively breast-fed - 0 to 5 </a:t>
            </a:r>
            <a:r>
              <a:rPr lang="en-IN" b="0" i="0" u="none" strike="noStrike" baseline="0" dirty="0"/>
              <a:t>months age</a:t>
            </a:r>
          </a:p>
          <a:p>
            <a:pPr marL="0" indent="0" algn="l">
              <a:buNone/>
            </a:pPr>
            <a:r>
              <a:rPr lang="en-IN" b="0" i="0" u="none" strike="noStrike" baseline="0" dirty="0"/>
              <a:t>      (India-46%) </a:t>
            </a:r>
          </a:p>
          <a:p>
            <a:r>
              <a:rPr lang="en-US" b="0" i="0" u="none" strike="noStrike" baseline="0" dirty="0"/>
              <a:t>- breast-fed with complementary food - 6 to 9 </a:t>
            </a:r>
            <a:r>
              <a:rPr lang="en-IN" b="0" i="0" u="none" strike="noStrike" baseline="0" dirty="0"/>
              <a:t>months age</a:t>
            </a:r>
            <a:endParaRPr lang="en-US" b="0" i="0" u="none" strike="noStrike" baseline="0" dirty="0"/>
          </a:p>
          <a:p>
            <a:pPr marL="0" indent="0">
              <a:buNone/>
            </a:pPr>
            <a:r>
              <a:rPr lang="en-IN" b="0" i="0" u="none" strike="noStrike" baseline="0" dirty="0"/>
              <a:t>      (India-57%)</a:t>
            </a:r>
          </a:p>
          <a:p>
            <a:r>
              <a:rPr lang="en-IN" b="0" i="0" u="none" strike="noStrike" baseline="0" dirty="0"/>
              <a:t> </a:t>
            </a:r>
            <a:r>
              <a:rPr lang="en-US" b="0" i="0" u="none" strike="noStrike" baseline="0" dirty="0"/>
              <a:t>- still breast-feeding - 20 to 23 </a:t>
            </a:r>
            <a:r>
              <a:rPr lang="en-IN" b="0" i="0" u="none" strike="noStrike" baseline="0" dirty="0"/>
              <a:t>food months age</a:t>
            </a:r>
          </a:p>
          <a:p>
            <a:pPr marL="0" indent="0">
              <a:buNone/>
            </a:pPr>
            <a:r>
              <a:rPr lang="en-IN" dirty="0"/>
              <a:t>      </a:t>
            </a:r>
            <a:r>
              <a:rPr lang="en-IN" b="0" i="0" u="none" strike="noStrike" baseline="0" dirty="0"/>
              <a:t>(India-77%)</a:t>
            </a:r>
          </a:p>
          <a:p>
            <a:pPr algn="l"/>
            <a:r>
              <a:rPr lang="en-US" b="0" i="0" u="none" strike="noStrike" baseline="0" dirty="0"/>
              <a:t>(4) Vitamin A supplementation coverage rate (percent full coverage) - 6 to 59 months </a:t>
            </a:r>
          </a:p>
          <a:p>
            <a:pPr marL="0" indent="0" algn="l">
              <a:buNone/>
            </a:pPr>
            <a:r>
              <a:rPr lang="en-US" b="0" i="0" u="none" strike="noStrike" baseline="0" dirty="0"/>
              <a:t>     (India—53%)</a:t>
            </a:r>
            <a:endParaRPr lang="en-IN" dirty="0"/>
          </a:p>
        </p:txBody>
      </p:sp>
    </p:spTree>
    <p:extLst>
      <p:ext uri="{BB962C8B-B14F-4D97-AF65-F5344CB8AC3E}">
        <p14:creationId xmlns:p14="http://schemas.microsoft.com/office/powerpoint/2010/main" val="42561770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B8A23-EE23-864E-13CD-3F35A7BE42DB}"/>
              </a:ext>
            </a:extLst>
          </p:cNvPr>
          <p:cNvSpPr>
            <a:spLocks noGrp="1"/>
          </p:cNvSpPr>
          <p:nvPr>
            <p:ph idx="1"/>
          </p:nvPr>
        </p:nvSpPr>
        <p:spPr>
          <a:xfrm>
            <a:off x="883035" y="1226673"/>
            <a:ext cx="10058400" cy="4050792"/>
          </a:xfrm>
        </p:spPr>
        <p:txBody>
          <a:bodyPr>
            <a:normAutofit/>
          </a:bodyPr>
          <a:lstStyle/>
          <a:p>
            <a:pPr algn="l"/>
            <a:r>
              <a:rPr lang="en-IN" sz="2400" b="1" i="0" u="none" strike="noStrike" baseline="0" dirty="0"/>
              <a:t>Diarrhoea </a:t>
            </a:r>
            <a:r>
              <a:rPr lang="en-IN" sz="2400" b="1" i="1" u="none" strike="noStrike" baseline="0" dirty="0"/>
              <a:t>treatment Indicators</a:t>
            </a:r>
          </a:p>
          <a:p>
            <a:pPr algn="l"/>
            <a:r>
              <a:rPr lang="en-US" sz="2400" i="0" u="none" strike="noStrike" baseline="0" dirty="0"/>
              <a:t>Percentage of children under-five years with </a:t>
            </a:r>
            <a:r>
              <a:rPr lang="en-US" sz="2400" i="0" u="none" strike="noStrike" baseline="0" dirty="0" err="1"/>
              <a:t>diarrhoea</a:t>
            </a:r>
            <a:r>
              <a:rPr lang="en-US" sz="2400" dirty="0"/>
              <a:t> </a:t>
            </a:r>
            <a:r>
              <a:rPr lang="en-IN" sz="2400" i="0" u="none" strike="noStrike" baseline="0" dirty="0"/>
              <a:t>receiving:</a:t>
            </a:r>
          </a:p>
          <a:p>
            <a:pPr algn="l"/>
            <a:r>
              <a:rPr lang="en-US" sz="2400" i="0" u="none" strike="noStrike" baseline="0" dirty="0"/>
              <a:t>(1) ORT with continuous feeding (India 33%)</a:t>
            </a:r>
          </a:p>
          <a:p>
            <a:pPr algn="l"/>
            <a:r>
              <a:rPr lang="sv-SE" sz="2400" i="0" u="none" strike="noStrike" baseline="0" dirty="0"/>
              <a:t>(2) ORS packet (India 26%)</a:t>
            </a:r>
          </a:p>
          <a:p>
            <a:pPr algn="l"/>
            <a:r>
              <a:rPr lang="en-US" sz="2400" i="0" u="none" strike="noStrike" baseline="0" dirty="0"/>
              <a:t>(3) Recommended home made fluids (India 20%)</a:t>
            </a:r>
          </a:p>
          <a:p>
            <a:pPr algn="l"/>
            <a:r>
              <a:rPr lang="en-US" sz="2400" i="0" u="none" strike="noStrike" baseline="0" dirty="0"/>
              <a:t>(4) Increased fluids (India 10%)</a:t>
            </a:r>
          </a:p>
          <a:p>
            <a:pPr algn="l"/>
            <a:r>
              <a:rPr lang="en-US" sz="2400" i="0" u="none" strike="noStrike" baseline="0" dirty="0"/>
              <a:t>(5) Continued feeding (India 70%)</a:t>
            </a:r>
            <a:endParaRPr lang="en-IN" sz="2400" dirty="0"/>
          </a:p>
        </p:txBody>
      </p:sp>
    </p:spTree>
    <p:extLst>
      <p:ext uri="{BB962C8B-B14F-4D97-AF65-F5344CB8AC3E}">
        <p14:creationId xmlns:p14="http://schemas.microsoft.com/office/powerpoint/2010/main" val="9447426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175028-7D95-4E34-BEE4-7FD458E95AC3}"/>
              </a:ext>
            </a:extLst>
          </p:cNvPr>
          <p:cNvSpPr>
            <a:spLocks noGrp="1"/>
          </p:cNvSpPr>
          <p:nvPr>
            <p:ph idx="1"/>
          </p:nvPr>
        </p:nvSpPr>
        <p:spPr/>
        <p:txBody>
          <a:bodyPr>
            <a:normAutofit/>
          </a:bodyPr>
          <a:lstStyle/>
          <a:p>
            <a:pPr algn="l"/>
            <a:r>
              <a:rPr lang="en-US" sz="2400" b="0" i="1" u="none" strike="noStrike" baseline="0" dirty="0"/>
              <a:t>Use of oral rehydration therapy</a:t>
            </a:r>
          </a:p>
          <a:p>
            <a:pPr algn="l"/>
            <a:r>
              <a:rPr lang="en-US" sz="2400" b="0" i="0" u="none" strike="noStrike" baseline="0" dirty="0"/>
              <a:t>Percentage of children under-five years with </a:t>
            </a:r>
            <a:r>
              <a:rPr lang="en-US" sz="2400" b="0" i="0" u="none" strike="noStrike" baseline="0" dirty="0" err="1"/>
              <a:t>diarrhoea</a:t>
            </a:r>
            <a:r>
              <a:rPr lang="en-US" sz="2400" b="0" i="0" u="none" strike="noStrike" baseline="0" dirty="0"/>
              <a:t> receiving oral rehydration therapy (ORS packet or recommended home-made fluids or increased fluids with </a:t>
            </a:r>
            <a:r>
              <a:rPr lang="en-IN" sz="2400" b="0" i="0" u="none" strike="noStrike" baseline="0" dirty="0"/>
              <a:t>continued feeding)</a:t>
            </a:r>
          </a:p>
          <a:p>
            <a:pPr algn="l"/>
            <a:r>
              <a:rPr lang="en-IN" sz="2400" b="0" i="0" u="none" strike="noStrike" baseline="0" dirty="0"/>
              <a:t>(1) Gender - male, female </a:t>
            </a:r>
            <a:r>
              <a:rPr lang="it-IT" sz="2400" b="0" i="0" u="none" strike="noStrike" baseline="0" dirty="0"/>
              <a:t>(India - male 34%, female 31%)</a:t>
            </a:r>
          </a:p>
          <a:p>
            <a:pPr algn="l"/>
            <a:r>
              <a:rPr lang="en-IN" sz="2400" b="0" i="0" u="none" strike="noStrike" baseline="0" dirty="0"/>
              <a:t>(2) Residence - Urban, rural </a:t>
            </a:r>
            <a:r>
              <a:rPr lang="pt-BR" sz="2400" b="0" i="0" u="none" strike="noStrike" baseline="0" dirty="0"/>
              <a:t>(India - urban 38%, rural 31%)</a:t>
            </a:r>
          </a:p>
          <a:p>
            <a:pPr algn="l"/>
            <a:r>
              <a:rPr lang="en-US" sz="2400" b="0" i="0" u="none" strike="noStrike" baseline="0" dirty="0"/>
              <a:t>(3) Wealth index quintiles - poorest, second, middle,</a:t>
            </a:r>
            <a:r>
              <a:rPr lang="en-IN" sz="2400" b="0" i="0" u="none" strike="noStrike" baseline="0" dirty="0" err="1"/>
              <a:t>ourth</a:t>
            </a:r>
            <a:r>
              <a:rPr lang="en-IN" sz="2400" b="0" i="0" u="none" strike="noStrike" baseline="0" dirty="0"/>
              <a:t>, richest </a:t>
            </a:r>
            <a:r>
              <a:rPr lang="en-US" sz="2400" b="0" i="0" u="none" strike="noStrike" baseline="0" dirty="0"/>
              <a:t>(India - 29%, 29%, 31%, 35% and 45%).</a:t>
            </a:r>
            <a:endParaRPr lang="en-IN" sz="2400" dirty="0"/>
          </a:p>
        </p:txBody>
      </p:sp>
    </p:spTree>
    <p:extLst>
      <p:ext uri="{BB962C8B-B14F-4D97-AF65-F5344CB8AC3E}">
        <p14:creationId xmlns:p14="http://schemas.microsoft.com/office/powerpoint/2010/main" val="14579908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EBFB-216F-326E-B9C0-A7F85E74F041}"/>
              </a:ext>
            </a:extLst>
          </p:cNvPr>
          <p:cNvSpPr>
            <a:spLocks noGrp="1"/>
          </p:cNvSpPr>
          <p:nvPr>
            <p:ph type="title"/>
          </p:nvPr>
        </p:nvSpPr>
        <p:spPr/>
        <p:txBody>
          <a:bodyPr>
            <a:normAutofit/>
          </a:bodyPr>
          <a:lstStyle/>
          <a:p>
            <a:r>
              <a:rPr lang="en-IN" b="1" i="0" u="none" strike="noStrike" baseline="0" dirty="0">
                <a:solidFill>
                  <a:schemeClr val="tx1"/>
                </a:solidFill>
                <a:latin typeface="Rockwell Condensed" panose="02060603050405020104" pitchFamily="18" charset="0"/>
              </a:rPr>
              <a:t>Epidemiological determinants</a:t>
            </a:r>
            <a:endParaRPr lang="en-IN" dirty="0">
              <a:solidFill>
                <a:schemeClr val="tx1"/>
              </a:solidFill>
              <a:latin typeface="Rockwell Condensed" panose="02060603050405020104" pitchFamily="18" charset="0"/>
            </a:endParaRPr>
          </a:p>
        </p:txBody>
      </p:sp>
      <p:sp>
        <p:nvSpPr>
          <p:cNvPr id="3" name="Content Placeholder 2">
            <a:extLst>
              <a:ext uri="{FF2B5EF4-FFF2-40B4-BE49-F238E27FC236}">
                <a16:creationId xmlns:a16="http://schemas.microsoft.com/office/drawing/2014/main" id="{3FBA33A4-42DF-0B3E-55D0-EE7772F643D2}"/>
              </a:ext>
            </a:extLst>
          </p:cNvPr>
          <p:cNvSpPr>
            <a:spLocks noGrp="1"/>
          </p:cNvSpPr>
          <p:nvPr>
            <p:ph idx="1"/>
          </p:nvPr>
        </p:nvSpPr>
        <p:spPr/>
        <p:txBody>
          <a:bodyPr/>
          <a:lstStyle/>
          <a:p>
            <a:pPr algn="l"/>
            <a:r>
              <a:rPr lang="en-IN" sz="2800" b="1" i="0" u="none" strike="noStrike" baseline="0" dirty="0">
                <a:solidFill>
                  <a:srgbClr val="79212B"/>
                </a:solidFill>
                <a:latin typeface="Times New Roman" panose="02020603050405020304" pitchFamily="18" charset="0"/>
              </a:rPr>
              <a:t>Agent factors</a:t>
            </a:r>
          </a:p>
          <a:p>
            <a:pPr algn="l"/>
            <a:r>
              <a:rPr lang="en-US" sz="2400" b="0" i="0" u="none" strike="noStrike" baseline="0" dirty="0">
                <a:solidFill>
                  <a:srgbClr val="000000"/>
                </a:solidFill>
              </a:rPr>
              <a:t>In developing countries, </a:t>
            </a:r>
            <a:r>
              <a:rPr lang="en-US" sz="2400" b="0" i="0" u="none" strike="noStrike" baseline="0" dirty="0" err="1">
                <a:solidFill>
                  <a:srgbClr val="000000"/>
                </a:solidFill>
              </a:rPr>
              <a:t>diarrhoea</a:t>
            </a:r>
            <a:r>
              <a:rPr lang="en-US" sz="2400" b="0" i="0" u="none" strike="noStrike" baseline="0" dirty="0">
                <a:solidFill>
                  <a:srgbClr val="000000"/>
                </a:solidFill>
              </a:rPr>
              <a:t> is almost universally infectious in origin. A wide assortment of organisms cause acute </a:t>
            </a:r>
            <a:r>
              <a:rPr lang="en-US" sz="2400" b="0" i="0" u="none" strike="noStrike" baseline="0" dirty="0" err="1">
                <a:solidFill>
                  <a:srgbClr val="000000"/>
                </a:solidFill>
              </a:rPr>
              <a:t>diarrhoea</a:t>
            </a:r>
            <a:r>
              <a:rPr lang="en-US" sz="2400" b="0" i="0" u="none" strike="noStrike" baseline="0" dirty="0">
                <a:solidFill>
                  <a:srgbClr val="000000"/>
                </a:solidFill>
              </a:rPr>
              <a:t>, and many of them have been discovered only in recent years such as rotaviruses and Campylobacters.</a:t>
            </a:r>
          </a:p>
          <a:p>
            <a:pPr algn="l"/>
            <a:r>
              <a:rPr lang="en-US" sz="2400" b="0" i="0" u="none" strike="noStrike" baseline="0" dirty="0"/>
              <a:t>Until recent years, the identification of pathogens in the stool was only feasible in about 25 per cent of patients with </a:t>
            </a:r>
            <a:r>
              <a:rPr lang="en-IN" sz="2400" b="0" i="0" u="none" strike="noStrike" baseline="0" dirty="0"/>
              <a:t>acute diarrhoea. At present, new techniques enable </a:t>
            </a:r>
            <a:r>
              <a:rPr lang="en-US" sz="2400" b="0" i="0" u="none" strike="noStrike" baseline="0" dirty="0"/>
              <a:t>competent laboratories to identify these pathogens in about 75 per cent of cases.</a:t>
            </a:r>
            <a:endParaRPr lang="en-IN" sz="2400" dirty="0"/>
          </a:p>
        </p:txBody>
      </p:sp>
    </p:spTree>
    <p:extLst>
      <p:ext uri="{BB962C8B-B14F-4D97-AF65-F5344CB8AC3E}">
        <p14:creationId xmlns:p14="http://schemas.microsoft.com/office/powerpoint/2010/main" val="11789513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83FFC8-2319-46DE-1DB9-5784F7305DD0}"/>
              </a:ext>
            </a:extLst>
          </p:cNvPr>
          <p:cNvSpPr>
            <a:spLocks noGrp="1"/>
          </p:cNvSpPr>
          <p:nvPr>
            <p:ph idx="1"/>
          </p:nvPr>
        </p:nvSpPr>
        <p:spPr>
          <a:xfrm>
            <a:off x="1069848" y="1238865"/>
            <a:ext cx="10058400" cy="4933335"/>
          </a:xfrm>
        </p:spPr>
        <p:txBody>
          <a:bodyPr>
            <a:normAutofit/>
          </a:bodyPr>
          <a:lstStyle/>
          <a:p>
            <a:pPr algn="l"/>
            <a:r>
              <a:rPr lang="en-IN" sz="2800" b="1" i="0" u="none" strike="noStrike" baseline="0" dirty="0"/>
              <a:t>Viruses:</a:t>
            </a:r>
          </a:p>
          <a:p>
            <a:pPr algn="l"/>
            <a:r>
              <a:rPr lang="en-IN" sz="2400" b="0" i="0" u="none" strike="noStrike" baseline="0" dirty="0"/>
              <a:t>Rotaviruses</a:t>
            </a:r>
          </a:p>
          <a:p>
            <a:pPr algn="l"/>
            <a:r>
              <a:rPr lang="en-IN" sz="2400" b="0" i="0" u="none" strike="noStrike" baseline="0" dirty="0"/>
              <a:t>Astroviruses</a:t>
            </a:r>
          </a:p>
          <a:p>
            <a:pPr algn="l"/>
            <a:r>
              <a:rPr lang="en-IN" sz="2400" b="0" i="0" u="none" strike="noStrike" baseline="0" dirty="0"/>
              <a:t>Adenoviruses</a:t>
            </a:r>
          </a:p>
          <a:p>
            <a:pPr algn="l"/>
            <a:r>
              <a:rPr lang="en-IN" sz="2400" b="0" i="0" u="none" strike="noStrike" baseline="0" dirty="0" err="1"/>
              <a:t>Calciviruses</a:t>
            </a:r>
            <a:endParaRPr lang="en-IN" sz="2400" b="0" i="0" u="none" strike="noStrike" baseline="0" dirty="0"/>
          </a:p>
          <a:p>
            <a:pPr algn="l"/>
            <a:r>
              <a:rPr lang="en-IN" sz="2400" b="0" i="0" u="none" strike="noStrike" baseline="0" dirty="0"/>
              <a:t>Coronaviruses</a:t>
            </a:r>
          </a:p>
          <a:p>
            <a:pPr algn="l"/>
            <a:r>
              <a:rPr lang="en-IN" sz="2400" b="0" i="0" u="none" strike="noStrike" baseline="0" dirty="0"/>
              <a:t>Norwalk group viruses</a:t>
            </a:r>
          </a:p>
          <a:p>
            <a:pPr algn="l"/>
            <a:r>
              <a:rPr lang="en-IN" sz="2400" b="0" i="0" u="none" strike="noStrike" baseline="0" dirty="0"/>
              <a:t>Enteroviruses</a:t>
            </a:r>
          </a:p>
          <a:p>
            <a:pPr algn="l"/>
            <a:r>
              <a:rPr lang="en-IN" sz="2400" b="0" i="0" u="none" strike="noStrike" baseline="0" dirty="0"/>
              <a:t>Cytomegalovirus</a:t>
            </a:r>
            <a:endParaRPr lang="en-IN" sz="2400" dirty="0"/>
          </a:p>
        </p:txBody>
      </p:sp>
    </p:spTree>
    <p:extLst>
      <p:ext uri="{BB962C8B-B14F-4D97-AF65-F5344CB8AC3E}">
        <p14:creationId xmlns:p14="http://schemas.microsoft.com/office/powerpoint/2010/main" val="7546213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B29BE8-0987-FAC6-D5C8-0CB239C170BF}"/>
              </a:ext>
            </a:extLst>
          </p:cNvPr>
          <p:cNvSpPr>
            <a:spLocks noGrp="1"/>
          </p:cNvSpPr>
          <p:nvPr>
            <p:ph idx="1"/>
          </p:nvPr>
        </p:nvSpPr>
        <p:spPr>
          <a:xfrm>
            <a:off x="1069848" y="727587"/>
            <a:ext cx="10058400" cy="5444613"/>
          </a:xfrm>
        </p:spPr>
        <p:txBody>
          <a:bodyPr>
            <a:normAutofit/>
          </a:bodyPr>
          <a:lstStyle/>
          <a:p>
            <a:pPr algn="l"/>
            <a:endParaRPr lang="en-IN" sz="1800" b="0" i="0" u="none" strike="noStrike" baseline="0" dirty="0">
              <a:latin typeface="Arial" panose="020B0604020202020204" pitchFamily="34" charset="0"/>
            </a:endParaRPr>
          </a:p>
          <a:p>
            <a:pPr algn="l"/>
            <a:r>
              <a:rPr lang="en-IN" sz="2300" b="1" i="0" u="none" strike="noStrike" baseline="0" dirty="0"/>
              <a:t>Bacteria:</a:t>
            </a:r>
          </a:p>
          <a:p>
            <a:pPr algn="l"/>
            <a:r>
              <a:rPr lang="en-IN" sz="1800" b="0" u="none" strike="noStrike" baseline="0" dirty="0"/>
              <a:t>Campylobacter </a:t>
            </a:r>
            <a:r>
              <a:rPr lang="en-IN" sz="1800" b="0" u="none" strike="noStrike" baseline="0" dirty="0" err="1"/>
              <a:t>jejuni</a:t>
            </a:r>
            <a:r>
              <a:rPr lang="en-IN" sz="1800" b="0" u="none" strike="noStrike" baseline="0" dirty="0"/>
              <a:t>                                             Enterotoxigenic Escherichia coli</a:t>
            </a:r>
          </a:p>
          <a:p>
            <a:pPr algn="l"/>
            <a:r>
              <a:rPr lang="en-IN" sz="1800" b="0" u="none" strike="noStrike" baseline="0" dirty="0"/>
              <a:t>Shigella                                                                      Salmonella</a:t>
            </a:r>
          </a:p>
          <a:p>
            <a:pPr algn="l"/>
            <a:r>
              <a:rPr lang="en-IN" sz="1800" b="0" u="none" strike="noStrike" baseline="0" dirty="0"/>
              <a:t>Vibrio cholerae                                                        Vibrio parahaemolyticus</a:t>
            </a:r>
          </a:p>
          <a:p>
            <a:pPr algn="l"/>
            <a:r>
              <a:rPr lang="en-IN" sz="1800" b="0" u="none" strike="noStrike" baseline="0" dirty="0"/>
              <a:t>Bacillus cereus                                                          Staphylococcus aureus</a:t>
            </a:r>
          </a:p>
          <a:p>
            <a:pPr algn="l"/>
            <a:r>
              <a:rPr lang="en-IN" sz="1800" b="0" u="none" strike="noStrike" baseline="0" dirty="0"/>
              <a:t>Clostridium perfringens                                         Enterohaemorrhagic E. coli</a:t>
            </a:r>
          </a:p>
          <a:p>
            <a:pPr algn="l"/>
            <a:r>
              <a:rPr lang="en-IN" sz="1800" b="0" u="none" strike="noStrike" baseline="0" dirty="0"/>
              <a:t>Clostridium difficile                                                 </a:t>
            </a:r>
            <a:r>
              <a:rPr lang="en-IN" sz="1800" b="0" u="none" strike="noStrike" baseline="0" dirty="0" err="1"/>
              <a:t>Enteroinuasive</a:t>
            </a:r>
            <a:r>
              <a:rPr lang="en-IN" sz="1800" b="0" u="none" strike="noStrike" baseline="0" dirty="0"/>
              <a:t> E. coli</a:t>
            </a:r>
          </a:p>
          <a:p>
            <a:pPr algn="l"/>
            <a:r>
              <a:rPr lang="en-IN" sz="1800" b="0" u="none" strike="noStrike" baseline="0" dirty="0"/>
              <a:t>Aeromonas                                                                 Yersinia enterocolitica</a:t>
            </a:r>
          </a:p>
          <a:p>
            <a:pPr algn="l"/>
            <a:r>
              <a:rPr lang="en-IN" sz="1800" b="0" u="none" strike="noStrike" baseline="0" dirty="0"/>
              <a:t>Chlamydia                                                                  Neisseria gonorrhoeae</a:t>
            </a:r>
            <a:endParaRPr lang="en-IN" sz="1800" dirty="0"/>
          </a:p>
        </p:txBody>
      </p:sp>
    </p:spTree>
    <p:extLst>
      <p:ext uri="{BB962C8B-B14F-4D97-AF65-F5344CB8AC3E}">
        <p14:creationId xmlns:p14="http://schemas.microsoft.com/office/powerpoint/2010/main" val="6533552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AE259B-3F90-ACC4-C8D5-89ECD8539FB0}"/>
              </a:ext>
            </a:extLst>
          </p:cNvPr>
          <p:cNvSpPr>
            <a:spLocks noGrp="1"/>
          </p:cNvSpPr>
          <p:nvPr>
            <p:ph idx="1"/>
          </p:nvPr>
        </p:nvSpPr>
        <p:spPr>
          <a:xfrm>
            <a:off x="1066800" y="1275834"/>
            <a:ext cx="10058400" cy="4050792"/>
          </a:xfrm>
        </p:spPr>
        <p:txBody>
          <a:bodyPr>
            <a:normAutofit/>
          </a:bodyPr>
          <a:lstStyle/>
          <a:p>
            <a:pPr algn="l"/>
            <a:r>
              <a:rPr lang="en-IN" sz="2400" b="1" i="0" u="none" strike="noStrike" baseline="0" dirty="0"/>
              <a:t>Others:</a:t>
            </a:r>
          </a:p>
          <a:p>
            <a:pPr algn="l"/>
            <a:r>
              <a:rPr lang="en-IN" sz="2400" b="0" i="0" u="none" strike="noStrike" baseline="0" dirty="0"/>
              <a:t>E. histolytica</a:t>
            </a:r>
          </a:p>
          <a:p>
            <a:pPr algn="l"/>
            <a:r>
              <a:rPr lang="en-IN" sz="2400" b="0" i="0" u="none" strike="noStrike" baseline="0" dirty="0"/>
              <a:t>Giardia intestinalis</a:t>
            </a:r>
          </a:p>
          <a:p>
            <a:pPr algn="l"/>
            <a:r>
              <a:rPr lang="en-IN" sz="2400" b="0" i="0" u="none" strike="noStrike" baseline="0" dirty="0" err="1"/>
              <a:t>Trichuriasis</a:t>
            </a:r>
            <a:endParaRPr lang="en-IN" sz="2400" b="0" i="0" u="none" strike="noStrike" baseline="0" dirty="0"/>
          </a:p>
          <a:p>
            <a:pPr algn="l"/>
            <a:r>
              <a:rPr lang="en-IN" sz="2400" b="0" i="0" u="none" strike="noStrike" baseline="0" dirty="0"/>
              <a:t>Cryptosporidium SPP</a:t>
            </a:r>
          </a:p>
          <a:p>
            <a:pPr algn="l"/>
            <a:r>
              <a:rPr lang="en-IN" sz="2400" b="0" i="0" u="none" strike="noStrike" baseline="0" dirty="0"/>
              <a:t>Intestinal worms</a:t>
            </a:r>
          </a:p>
          <a:p>
            <a:pPr algn="l"/>
            <a:r>
              <a:rPr lang="en-IN" sz="2400" b="0" i="1" u="none" strike="noStrike" baseline="0" dirty="0"/>
              <a:t>Cyclospora</a:t>
            </a:r>
            <a:endParaRPr lang="en-IN" sz="2400" dirty="0"/>
          </a:p>
        </p:txBody>
      </p:sp>
    </p:spTree>
    <p:extLst>
      <p:ext uri="{BB962C8B-B14F-4D97-AF65-F5344CB8AC3E}">
        <p14:creationId xmlns:p14="http://schemas.microsoft.com/office/powerpoint/2010/main" val="3361299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5480DC-6A0D-FAD9-9A0C-6C1D9537F079}"/>
              </a:ext>
            </a:extLst>
          </p:cNvPr>
          <p:cNvSpPr>
            <a:spLocks noGrp="1"/>
          </p:cNvSpPr>
          <p:nvPr>
            <p:ph idx="1"/>
          </p:nvPr>
        </p:nvSpPr>
        <p:spPr>
          <a:xfrm>
            <a:off x="951861" y="1167679"/>
            <a:ext cx="10058400" cy="4879160"/>
          </a:xfrm>
        </p:spPr>
        <p:txBody>
          <a:bodyPr>
            <a:normAutofit/>
          </a:bodyPr>
          <a:lstStyle/>
          <a:p>
            <a:pPr algn="l"/>
            <a:r>
              <a:rPr lang="en-US" sz="2400" b="0" i="0" u="none" strike="noStrike" baseline="0" dirty="0"/>
              <a:t>ROTAVIRUSES : </a:t>
            </a:r>
          </a:p>
          <a:p>
            <a:pPr algn="l"/>
            <a:r>
              <a:rPr lang="en-US" sz="2400" b="0" i="0" u="none" strike="noStrike" baseline="0" dirty="0"/>
              <a:t>The rotavirus, first discovered in 1973, has emerged as the leading cause of severe, dehydrating </a:t>
            </a:r>
            <a:r>
              <a:rPr lang="en-US" sz="2400" b="0" i="0" u="none" strike="noStrike" baseline="0" dirty="0" err="1"/>
              <a:t>diarrhoea</a:t>
            </a:r>
            <a:r>
              <a:rPr lang="en-US" sz="2400" b="0" i="0" u="none" strike="noStrike" baseline="0" dirty="0"/>
              <a:t> in children aged &lt;5 years globally, with an estimated more than 25 million out-patient visits and more than 2 million hospitalizations attributable to rotavirus infections each year. </a:t>
            </a:r>
          </a:p>
          <a:p>
            <a:pPr algn="l"/>
            <a:r>
              <a:rPr lang="en-US" sz="2400" b="0" i="0" u="none" strike="noStrike" baseline="0" dirty="0"/>
              <a:t>In developing countries, three-quarters of children acquire their first episode of rotavirus </a:t>
            </a:r>
            <a:r>
              <a:rPr lang="en-US" sz="2400" b="0" i="0" u="none" strike="noStrike" baseline="0" dirty="0" err="1"/>
              <a:t>diarrhoea</a:t>
            </a:r>
            <a:r>
              <a:rPr lang="en-US" sz="2400" b="0" i="0" u="none" strike="noStrike" baseline="0" dirty="0"/>
              <a:t> before the age of 12 months, whereas in developed countries. </a:t>
            </a:r>
          </a:p>
          <a:p>
            <a:pPr algn="l"/>
            <a:r>
              <a:rPr lang="en-US" sz="2400" b="0" i="0" u="none" strike="noStrike" baseline="0" dirty="0"/>
              <a:t>The first episode is frequently delayed until the age of 2-5 years. Severe rotavirus gastroenteritis is largely limited to </a:t>
            </a:r>
            <a:r>
              <a:rPr lang="en-IN" sz="2400" b="0" i="0" u="none" strike="noStrike" baseline="0" dirty="0"/>
              <a:t>children aged 6-24 months.</a:t>
            </a:r>
            <a:endParaRPr lang="en-IN" sz="2400" dirty="0"/>
          </a:p>
        </p:txBody>
      </p:sp>
    </p:spTree>
    <p:extLst>
      <p:ext uri="{BB962C8B-B14F-4D97-AF65-F5344CB8AC3E}">
        <p14:creationId xmlns:p14="http://schemas.microsoft.com/office/powerpoint/2010/main" val="3504134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2A048B-95E3-28B8-6CDF-694949FCEAA2}"/>
              </a:ext>
            </a:extLst>
          </p:cNvPr>
          <p:cNvSpPr>
            <a:spLocks noGrp="1"/>
          </p:cNvSpPr>
          <p:nvPr>
            <p:ph idx="1"/>
          </p:nvPr>
        </p:nvSpPr>
        <p:spPr>
          <a:xfrm>
            <a:off x="1069848" y="1356852"/>
            <a:ext cx="10058400" cy="3824748"/>
          </a:xfrm>
        </p:spPr>
        <p:txBody>
          <a:bodyPr>
            <a:normAutofit/>
          </a:bodyPr>
          <a:lstStyle/>
          <a:p>
            <a:pPr algn="l"/>
            <a:r>
              <a:rPr lang="en-IN" sz="2400" b="0" i="0" u="none" strike="noStrike" baseline="0" dirty="0"/>
              <a:t>Fatal outcomes in children, </a:t>
            </a:r>
            <a:r>
              <a:rPr lang="en-US" sz="2400" b="0" i="0" u="none" strike="noStrike" baseline="0" dirty="0"/>
              <a:t>estimated to be approximately 420,000-494,000 in 2008</a:t>
            </a:r>
            <a:r>
              <a:rPr lang="en-US" sz="2400" b="0" i="1" u="none" strike="noStrike" baseline="0" dirty="0"/>
              <a:t>,</a:t>
            </a:r>
            <a:r>
              <a:rPr lang="en-US" sz="2400" i="1" dirty="0"/>
              <a:t> </a:t>
            </a:r>
            <a:r>
              <a:rPr lang="en-US" sz="2400" b="0" i="0" u="none" strike="noStrike" baseline="0" dirty="0"/>
              <a:t>occur predominantly in low-income countries.</a:t>
            </a:r>
          </a:p>
          <a:p>
            <a:pPr algn="l"/>
            <a:r>
              <a:rPr lang="en-US" sz="2400" b="0" i="0" u="none" strike="noStrike" baseline="0" dirty="0"/>
              <a:t> Rotavirus reinfection is common, although the primary infection is usually the most significant clinically. </a:t>
            </a:r>
          </a:p>
          <a:p>
            <a:pPr algn="l"/>
            <a:r>
              <a:rPr lang="en-US" sz="2400" b="0" i="0" u="none" strike="noStrike" baseline="0" dirty="0"/>
              <a:t>In temperate climates, the incidence of rotavirus gastroenteritis typically peaks during the winter season, whereas in tropical settings rotavirus occurs year round and a marked seasonality may be masked by high background levels.</a:t>
            </a:r>
            <a:endParaRPr lang="en-IN" sz="2400" dirty="0"/>
          </a:p>
        </p:txBody>
      </p:sp>
    </p:spTree>
    <p:extLst>
      <p:ext uri="{BB962C8B-B14F-4D97-AF65-F5344CB8AC3E}">
        <p14:creationId xmlns:p14="http://schemas.microsoft.com/office/powerpoint/2010/main" val="34306257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D04C8D-8443-568F-9C7B-3858F3723ECD}"/>
              </a:ext>
            </a:extLst>
          </p:cNvPr>
          <p:cNvSpPr>
            <a:spLocks noGrp="1"/>
          </p:cNvSpPr>
          <p:nvPr>
            <p:ph idx="1"/>
          </p:nvPr>
        </p:nvSpPr>
        <p:spPr>
          <a:xfrm>
            <a:off x="1069848" y="1229032"/>
            <a:ext cx="10058400" cy="4943168"/>
          </a:xfrm>
        </p:spPr>
        <p:txBody>
          <a:bodyPr>
            <a:normAutofit/>
          </a:bodyPr>
          <a:lstStyle/>
          <a:p>
            <a:r>
              <a:rPr lang="en-IN" sz="2400" b="0" i="1" u="none" strike="noStrike" baseline="0" dirty="0"/>
              <a:t>BACTERIAL CAUSES</a:t>
            </a:r>
          </a:p>
          <a:p>
            <a:pPr algn="l"/>
            <a:r>
              <a:rPr lang="en-US" sz="2400" b="0" i="0" u="none" strike="noStrike" baseline="0" dirty="0"/>
              <a:t>Besides the well-known bacterial causes of enteric infections and </a:t>
            </a:r>
            <a:r>
              <a:rPr lang="en-US" sz="2400" b="0" i="0" u="none" strike="noStrike" baseline="0" dirty="0" err="1"/>
              <a:t>diarrhoeal</a:t>
            </a:r>
            <a:r>
              <a:rPr lang="en-US" sz="2400" b="0" i="0" u="none" strike="noStrike" baseline="0" dirty="0"/>
              <a:t> diseases such as V </a:t>
            </a:r>
            <a:r>
              <a:rPr lang="en-US" sz="2400" b="0" i="1" u="none" strike="noStrike" baseline="0" dirty="0"/>
              <a:t>cholerae </a:t>
            </a:r>
            <a:r>
              <a:rPr lang="en-US" sz="2400" b="0" i="0" u="none" strike="noStrike" baseline="0" dirty="0"/>
              <a:t>01. </a:t>
            </a:r>
            <a:r>
              <a:rPr lang="en-IN" sz="2400" b="0" i="0" u="none" strike="noStrike" baseline="0" dirty="0"/>
              <a:t>Salmonella, </a:t>
            </a:r>
            <a:r>
              <a:rPr lang="en-IN" sz="2400" b="0" i="1" u="none" strike="noStrike" baseline="0" dirty="0"/>
              <a:t>Shigella, </a:t>
            </a:r>
            <a:r>
              <a:rPr lang="en-IN" sz="2400" b="0" i="0" u="none" strike="noStrike" baseline="0" dirty="0"/>
              <a:t>enterotoxigenic </a:t>
            </a:r>
            <a:r>
              <a:rPr lang="en-IN" sz="2400" b="0" i="1" u="none" strike="noStrike" baseline="0" dirty="0"/>
              <a:t>E.coli </a:t>
            </a:r>
            <a:r>
              <a:rPr lang="en-IN" sz="2400" b="0" i="0" u="none" strike="noStrike" baseline="0" dirty="0"/>
              <a:t>and </a:t>
            </a:r>
            <a:r>
              <a:rPr lang="en-US" sz="2400" b="0" i="1" u="none" strike="noStrike" baseline="0" dirty="0"/>
              <a:t>Campylobacter </a:t>
            </a:r>
            <a:r>
              <a:rPr lang="en-US" sz="2400" b="0" i="1" u="none" strike="noStrike" baseline="0" dirty="0" err="1"/>
              <a:t>jejuni</a:t>
            </a:r>
            <a:r>
              <a:rPr lang="en-US" sz="2400" b="0" i="1" u="none" strike="noStrike" baseline="0" dirty="0"/>
              <a:t> </a:t>
            </a:r>
            <a:r>
              <a:rPr lang="en-US" sz="2400" b="0" i="0" u="none" strike="noStrike" baseline="0" dirty="0"/>
              <a:t>are the most frequent cause of </a:t>
            </a:r>
            <a:r>
              <a:rPr lang="en-US" sz="2400" b="0" i="0" u="none" strike="noStrike" baseline="0" dirty="0" err="1"/>
              <a:t>diarrhoea</a:t>
            </a:r>
            <a:r>
              <a:rPr lang="en-US" sz="2400" b="0" i="0" u="none" strike="noStrike" baseline="0" dirty="0"/>
              <a:t>. They produce a potent enterotoxin similar to that produced by V. </a:t>
            </a:r>
            <a:r>
              <a:rPr lang="en-US" sz="2400" b="0" i="1" u="none" strike="noStrike" baseline="0" dirty="0"/>
              <a:t>cholerae. </a:t>
            </a:r>
            <a:r>
              <a:rPr lang="en-US" sz="2400" b="0" i="0" u="none" strike="noStrike" baseline="0" dirty="0"/>
              <a:t>The less-known pathogens which </a:t>
            </a:r>
            <a:r>
              <a:rPr lang="en-IN" sz="2400" b="0" i="0" u="none" strike="noStrike" baseline="0" dirty="0"/>
              <a:t>cause diarrhoea are Yersinia </a:t>
            </a:r>
            <a:r>
              <a:rPr lang="en-IN" sz="2400" b="0" i="1" u="none" strike="noStrike" baseline="0" dirty="0"/>
              <a:t>enterocolitica, </a:t>
            </a:r>
            <a:r>
              <a:rPr lang="en-IN" sz="2400" b="0" i="0" u="none" strike="noStrike" baseline="0" dirty="0"/>
              <a:t>and V </a:t>
            </a:r>
            <a:r>
              <a:rPr lang="en-IN" sz="2400" b="0" i="1" u="none" strike="noStrike" baseline="0" dirty="0"/>
              <a:t>parahaemolyticus.</a:t>
            </a:r>
          </a:p>
          <a:p>
            <a:pPr algn="l"/>
            <a:r>
              <a:rPr lang="it-IT" sz="2400" b="0" i="0" u="none" strike="noStrike" baseline="0" dirty="0"/>
              <a:t>Enterotoxigenic </a:t>
            </a:r>
            <a:r>
              <a:rPr lang="it-IT" sz="2400" b="0" i="1" u="none" strike="noStrike" baseline="0" dirty="0"/>
              <a:t>Escherichia coli </a:t>
            </a:r>
            <a:r>
              <a:rPr lang="it-IT" sz="2400" b="0" i="0" u="none" strike="noStrike" baseline="0" dirty="0"/>
              <a:t>(ETEC) is an important </a:t>
            </a:r>
            <a:r>
              <a:rPr lang="en-US" sz="2400" b="0" i="0" u="none" strike="noStrike" baseline="0" dirty="0"/>
              <a:t>cause of acute watery </a:t>
            </a:r>
            <a:r>
              <a:rPr lang="en-US" sz="2400" b="0" i="0" u="none" strike="noStrike" baseline="0" dirty="0" err="1"/>
              <a:t>diarrhoea</a:t>
            </a:r>
            <a:r>
              <a:rPr lang="en-US" sz="2400" b="0" i="0" u="none" strike="noStrike" baseline="0" dirty="0"/>
              <a:t> in adults and children in developing countries causing annually 280-400 million </a:t>
            </a:r>
            <a:r>
              <a:rPr lang="en-US" sz="2400" b="0" i="0" u="none" strike="noStrike" baseline="0" dirty="0" err="1"/>
              <a:t>diarrhoeal</a:t>
            </a:r>
            <a:r>
              <a:rPr lang="en-US" sz="2400" b="0" i="0" u="none" strike="noStrike" baseline="0" dirty="0"/>
              <a:t> episodes in children under 5 years of age, and an additional 100 million episodes in children aged 5-14 years. In adults it causes substantial disease (about 400 million </a:t>
            </a:r>
            <a:r>
              <a:rPr lang="en-IN" sz="2400" b="0" i="0" u="none" strike="noStrike" baseline="0" dirty="0"/>
              <a:t>cases per year).</a:t>
            </a:r>
            <a:endParaRPr lang="en-IN" sz="2400" dirty="0"/>
          </a:p>
        </p:txBody>
      </p:sp>
    </p:spTree>
    <p:extLst>
      <p:ext uri="{BB962C8B-B14F-4D97-AF65-F5344CB8AC3E}">
        <p14:creationId xmlns:p14="http://schemas.microsoft.com/office/powerpoint/2010/main" val="30916524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D62BF2-B9BC-90FF-DFC5-F373352A1AC7}"/>
              </a:ext>
            </a:extLst>
          </p:cNvPr>
          <p:cNvSpPr>
            <a:spLocks noGrp="1"/>
          </p:cNvSpPr>
          <p:nvPr>
            <p:ph idx="1"/>
          </p:nvPr>
        </p:nvSpPr>
        <p:spPr>
          <a:xfrm>
            <a:off x="1069848" y="973394"/>
            <a:ext cx="10058400" cy="5198806"/>
          </a:xfrm>
        </p:spPr>
        <p:txBody>
          <a:bodyPr>
            <a:normAutofit/>
          </a:bodyPr>
          <a:lstStyle/>
          <a:p>
            <a:pPr algn="l"/>
            <a:r>
              <a:rPr lang="en-US" sz="2400" b="0" i="0" u="none" strike="noStrike" baseline="0" dirty="0"/>
              <a:t>It is also the most common cause of </a:t>
            </a:r>
            <a:r>
              <a:rPr lang="en-US" sz="2400" b="0" i="0" u="none" strike="noStrike" baseline="0" dirty="0" err="1"/>
              <a:t>traveller’s</a:t>
            </a:r>
            <a:r>
              <a:rPr lang="en-US" sz="2400" b="0" i="0" u="none" strike="noStrike" baseline="0" dirty="0"/>
              <a:t> </a:t>
            </a:r>
            <a:r>
              <a:rPr lang="en-US" sz="2400" b="0" i="0" u="none" strike="noStrike" baseline="0" dirty="0" err="1"/>
              <a:t>diarrhoea</a:t>
            </a:r>
            <a:r>
              <a:rPr lang="en-US" sz="2400" b="0" i="0" u="none" strike="noStrike" baseline="0" dirty="0"/>
              <a:t>. Being responsible for one-third to one half</a:t>
            </a:r>
            <a:r>
              <a:rPr lang="en-US" sz="2400" dirty="0"/>
              <a:t> </a:t>
            </a:r>
            <a:r>
              <a:rPr lang="en-US" sz="2400" b="0" i="0" u="none" strike="noStrike" baseline="0" dirty="0"/>
              <a:t>of all </a:t>
            </a:r>
            <a:r>
              <a:rPr lang="en-US" sz="2400" b="0" i="0" u="none" strike="noStrike" baseline="0" dirty="0" err="1"/>
              <a:t>diarrhoeal</a:t>
            </a:r>
            <a:r>
              <a:rPr lang="en-US" sz="2400" b="0" i="0" u="none" strike="noStrike" baseline="0" dirty="0"/>
              <a:t> episodes in </a:t>
            </a:r>
            <a:r>
              <a:rPr lang="en-US" sz="2400" b="0" i="0" u="none" strike="noStrike" baseline="0" dirty="0" err="1"/>
              <a:t>travellers</a:t>
            </a:r>
            <a:r>
              <a:rPr lang="en-US" sz="2400" b="0" i="0" u="none" strike="noStrike" baseline="0" dirty="0"/>
              <a:t> to Africa, Asia and Latin America, the illness results in 0.3 to 0.5 million deaths per year mostly in young children. </a:t>
            </a:r>
          </a:p>
          <a:p>
            <a:pPr algn="l"/>
            <a:r>
              <a:rPr lang="en-US" sz="2400" b="0" i="0" u="none" strike="noStrike" baseline="0" dirty="0"/>
              <a:t>ETEC does not invade the bowel mucosa and the </a:t>
            </a:r>
            <a:r>
              <a:rPr lang="en-US" sz="2400" b="0" i="0" u="none" strike="noStrike" baseline="0" dirty="0" err="1"/>
              <a:t>diarrhoea</a:t>
            </a:r>
            <a:r>
              <a:rPr lang="en-US" sz="2400" b="0" i="0" u="none" strike="noStrike" baseline="0" dirty="0"/>
              <a:t> it causes is mediated by toxins. </a:t>
            </a:r>
          </a:p>
          <a:p>
            <a:pPr algn="l"/>
            <a:r>
              <a:rPr lang="en-US" sz="2400" b="0" i="0" u="none" strike="noStrike" baseline="0" dirty="0"/>
              <a:t>There are two ETEC toxins, heat labile (LT) and heat stable (ST). </a:t>
            </a:r>
          </a:p>
          <a:p>
            <a:pPr algn="l"/>
            <a:r>
              <a:rPr lang="en-US" sz="2400" b="0" i="0" u="none" strike="noStrike" baseline="0" dirty="0"/>
              <a:t>Some strains produce only one type of toxin, some both. The LT toxin is closely related to cholera toxin.</a:t>
            </a:r>
          </a:p>
          <a:p>
            <a:pPr algn="l"/>
            <a:r>
              <a:rPr lang="en-US" sz="2400" b="0" i="0" u="none" strike="noStrike" baseline="0" dirty="0"/>
              <a:t>ETEC is spread mostly by means of </a:t>
            </a:r>
            <a:r>
              <a:rPr lang="en-IN" sz="2400" b="0" i="0" u="none" strike="noStrike" baseline="0" dirty="0"/>
              <a:t>contaminated food and water.</a:t>
            </a:r>
            <a:endParaRPr lang="en-IN" sz="2400" dirty="0"/>
          </a:p>
        </p:txBody>
      </p:sp>
    </p:spTree>
    <p:extLst>
      <p:ext uri="{BB962C8B-B14F-4D97-AF65-F5344CB8AC3E}">
        <p14:creationId xmlns:p14="http://schemas.microsoft.com/office/powerpoint/2010/main" val="14913396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684F60-965F-C302-347D-5E78F9055C70}"/>
              </a:ext>
            </a:extLst>
          </p:cNvPr>
          <p:cNvSpPr>
            <a:spLocks noGrp="1"/>
          </p:cNvSpPr>
          <p:nvPr>
            <p:ph idx="1"/>
          </p:nvPr>
        </p:nvSpPr>
        <p:spPr>
          <a:xfrm>
            <a:off x="1066800" y="1138182"/>
            <a:ext cx="10058400" cy="4050792"/>
          </a:xfrm>
        </p:spPr>
        <p:txBody>
          <a:bodyPr>
            <a:noAutofit/>
          </a:bodyPr>
          <a:lstStyle/>
          <a:p>
            <a:pPr algn="l"/>
            <a:r>
              <a:rPr lang="en-US" sz="2400" b="0" i="0" u="none" strike="noStrike" baseline="0" dirty="0"/>
              <a:t>Salmonella cause inflammation of the bowel epithelium; </a:t>
            </a:r>
            <a:r>
              <a:rPr lang="en-US" sz="2400" b="0" i="1" u="none" strike="noStrike" baseline="0" dirty="0"/>
              <a:t>Vibrio cholerae </a:t>
            </a:r>
            <a:r>
              <a:rPr lang="en-US" sz="2400" b="0" i="0" u="none" strike="noStrike" baseline="0" dirty="0"/>
              <a:t>01 do not. Both are endemic diseases in India. </a:t>
            </a:r>
          </a:p>
          <a:p>
            <a:pPr algn="l"/>
            <a:r>
              <a:rPr lang="en-US" sz="2400" b="0" i="0" u="none" strike="noStrike" baseline="0" dirty="0"/>
              <a:t>In cholera-endemic areas, cholera probably accounts for not more than 5 to 10 per cent of all acute </a:t>
            </a:r>
            <a:r>
              <a:rPr lang="en-US" sz="2400" b="0" i="0" u="none" strike="noStrike" baseline="0" dirty="0" err="1"/>
              <a:t>diarrhoeas</a:t>
            </a:r>
            <a:r>
              <a:rPr lang="en-US" sz="2400" dirty="0"/>
              <a:t> </a:t>
            </a:r>
            <a:r>
              <a:rPr lang="en-US" sz="2400" b="0" i="0" u="none" strike="noStrike" baseline="0" dirty="0"/>
              <a:t>yearly, and in more than 90 per cent of instances is clinically indistinguishable from other acute </a:t>
            </a:r>
            <a:r>
              <a:rPr lang="en-US" sz="2400" b="0" i="0" u="none" strike="noStrike" baseline="0" dirty="0" err="1"/>
              <a:t>diarrhoeas</a:t>
            </a:r>
            <a:r>
              <a:rPr lang="en-US" sz="2400" b="0" i="0" u="none" strike="noStrike" baseline="0" dirty="0"/>
              <a:t>.</a:t>
            </a:r>
          </a:p>
          <a:p>
            <a:pPr algn="l"/>
            <a:r>
              <a:rPr lang="en-US" sz="2400" b="0" i="1" u="none" strike="noStrike" baseline="0" dirty="0"/>
              <a:t>Campylobacters </a:t>
            </a:r>
            <a:r>
              <a:rPr lang="en-US" sz="2400" b="0" i="0" u="none" strike="noStrike" baseline="0" dirty="0"/>
              <a:t>are slim, highly motile, S-shaped, </a:t>
            </a:r>
            <a:r>
              <a:rPr lang="en-US" sz="2400" b="0" i="0" u="none" strike="noStrike" baseline="0" dirty="0" err="1"/>
              <a:t>gramnegative</a:t>
            </a:r>
            <a:r>
              <a:rPr lang="en-US" sz="2400" dirty="0"/>
              <a:t> </a:t>
            </a:r>
            <a:r>
              <a:rPr lang="en-US" sz="2400" b="0" i="0" u="none" strike="noStrike" baseline="0" dirty="0"/>
              <a:t>rods, formerly classed as </a:t>
            </a:r>
            <a:r>
              <a:rPr lang="en-US" sz="2400" b="0" i="0" u="none" strike="noStrike" baseline="0" dirty="0" err="1"/>
              <a:t>vibrios</a:t>
            </a:r>
            <a:r>
              <a:rPr lang="en-US" sz="2400" b="0" i="0" u="none" strike="noStrike" baseline="0" dirty="0"/>
              <a:t>. They are one of the commonest causes of enteritis. </a:t>
            </a:r>
          </a:p>
          <a:p>
            <a:pPr algn="l"/>
            <a:r>
              <a:rPr lang="en-US" sz="2400" b="0" i="0" u="none" strike="noStrike" baseline="0" dirty="0"/>
              <a:t>They do not seem to produce any toxin. It is not clear how they cause </a:t>
            </a:r>
            <a:r>
              <a:rPr lang="en-IN" sz="2400" b="0" i="0" u="none" strike="noStrike" baseline="0" dirty="0"/>
              <a:t>diarrhoea.</a:t>
            </a:r>
            <a:endParaRPr lang="en-IN" sz="2400" dirty="0"/>
          </a:p>
        </p:txBody>
      </p:sp>
    </p:spTree>
    <p:extLst>
      <p:ext uri="{BB962C8B-B14F-4D97-AF65-F5344CB8AC3E}">
        <p14:creationId xmlns:p14="http://schemas.microsoft.com/office/powerpoint/2010/main" val="40654658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800C50-57FF-E1B6-A03E-7BD86262E740}"/>
              </a:ext>
            </a:extLst>
          </p:cNvPr>
          <p:cNvSpPr>
            <a:spLocks noGrp="1"/>
          </p:cNvSpPr>
          <p:nvPr>
            <p:ph idx="1"/>
          </p:nvPr>
        </p:nvSpPr>
        <p:spPr>
          <a:xfrm>
            <a:off x="1066800" y="1511808"/>
            <a:ext cx="10058400" cy="4050792"/>
          </a:xfrm>
        </p:spPr>
        <p:txBody>
          <a:bodyPr/>
          <a:lstStyle/>
          <a:p>
            <a:pPr algn="l"/>
            <a:r>
              <a:rPr lang="en-US" sz="2400" b="0" i="1" u="none" strike="noStrike" baseline="0" dirty="0"/>
              <a:t>Shigella </a:t>
            </a:r>
            <a:r>
              <a:rPr lang="en-US" sz="2400" b="0" i="0" u="none" strike="noStrike" baseline="0" dirty="0"/>
              <a:t>accounts for a high percentage of mortality due to </a:t>
            </a:r>
            <a:r>
              <a:rPr lang="en-US" sz="2400" b="0" i="0" u="none" strike="noStrike" baseline="0" dirty="0" err="1"/>
              <a:t>diarrhoeal</a:t>
            </a:r>
            <a:r>
              <a:rPr lang="en-US" sz="2400" b="0" i="0" u="none" strike="noStrike" baseline="0" dirty="0"/>
              <a:t> disease. </a:t>
            </a:r>
          </a:p>
          <a:p>
            <a:pPr algn="l"/>
            <a:r>
              <a:rPr lang="en-US" sz="2400" b="0" i="0" u="none" strike="noStrike" baseline="0" dirty="0"/>
              <a:t>The estimates suggest that it causes about 1 million deaths every year in children aged under-5 years, mostly in the developing countries. </a:t>
            </a:r>
          </a:p>
          <a:p>
            <a:pPr algn="l"/>
            <a:r>
              <a:rPr lang="en-US" sz="2400" b="0" i="0" u="none" strike="noStrike" baseline="0" dirty="0"/>
              <a:t>In addition about 164.7 million </a:t>
            </a:r>
            <a:r>
              <a:rPr lang="en-US" sz="2400" b="0" i="1" u="none" strike="noStrike" baseline="0" dirty="0"/>
              <a:t>Shigella </a:t>
            </a:r>
            <a:r>
              <a:rPr lang="en-US" sz="2400" b="0" i="0" u="none" strike="noStrike" baseline="0" dirty="0"/>
              <a:t>episodes are estimated worldwide, with 69 per cent of all episodes in young children.</a:t>
            </a:r>
            <a:r>
              <a:rPr lang="en-US" sz="2400" b="0" i="1" u="none" strike="noStrike" baseline="0" dirty="0"/>
              <a:t> </a:t>
            </a:r>
          </a:p>
          <a:p>
            <a:pPr algn="l"/>
            <a:r>
              <a:rPr lang="en-US" sz="2400" b="0" i="0" u="none" strike="noStrike" baseline="0" dirty="0"/>
              <a:t>It is a major cause of </a:t>
            </a:r>
            <a:r>
              <a:rPr lang="en-US" sz="2400" b="0" i="0" u="none" strike="noStrike" baseline="0" dirty="0" err="1"/>
              <a:t>diarrhoea</a:t>
            </a:r>
            <a:r>
              <a:rPr lang="en-US" sz="2400" b="0" i="0" u="none" strike="noStrike" baseline="0" dirty="0"/>
              <a:t> in India</a:t>
            </a:r>
            <a:r>
              <a:rPr lang="en-US" sz="1800" b="0" i="0" u="none" strike="noStrike" baseline="0" dirty="0">
                <a:latin typeface="Arial" panose="020B0604020202020204" pitchFamily="34" charset="0"/>
              </a:rPr>
              <a:t>.</a:t>
            </a:r>
            <a:endParaRPr lang="en-IN" dirty="0"/>
          </a:p>
        </p:txBody>
      </p:sp>
    </p:spTree>
    <p:extLst>
      <p:ext uri="{BB962C8B-B14F-4D97-AF65-F5344CB8AC3E}">
        <p14:creationId xmlns:p14="http://schemas.microsoft.com/office/powerpoint/2010/main" val="15267274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CB8A2-C14C-1861-647F-63637BC33272}"/>
              </a:ext>
            </a:extLst>
          </p:cNvPr>
          <p:cNvSpPr>
            <a:spLocks noGrp="1"/>
          </p:cNvSpPr>
          <p:nvPr>
            <p:ph type="title"/>
          </p:nvPr>
        </p:nvSpPr>
        <p:spPr/>
        <p:txBody>
          <a:bodyPr/>
          <a:lstStyle/>
          <a:p>
            <a:r>
              <a:rPr lang="en-US" dirty="0"/>
              <a:t>Reservoir of infection</a:t>
            </a:r>
            <a:endParaRPr lang="en-IN" dirty="0"/>
          </a:p>
        </p:txBody>
      </p:sp>
      <p:sp>
        <p:nvSpPr>
          <p:cNvPr id="3" name="Content Placeholder 2">
            <a:extLst>
              <a:ext uri="{FF2B5EF4-FFF2-40B4-BE49-F238E27FC236}">
                <a16:creationId xmlns:a16="http://schemas.microsoft.com/office/drawing/2014/main" id="{74074DC6-9E52-0AF5-A7B9-CF665E06A725}"/>
              </a:ext>
            </a:extLst>
          </p:cNvPr>
          <p:cNvSpPr>
            <a:spLocks noGrp="1"/>
          </p:cNvSpPr>
          <p:nvPr>
            <p:ph idx="1"/>
          </p:nvPr>
        </p:nvSpPr>
        <p:spPr/>
        <p:txBody>
          <a:bodyPr>
            <a:normAutofit/>
          </a:bodyPr>
          <a:lstStyle/>
          <a:p>
            <a:pPr algn="l"/>
            <a:r>
              <a:rPr lang="en-US" sz="2400" b="0" i="0" u="none" strike="noStrike" baseline="0" dirty="0"/>
              <a:t>For some enteric pathogens, man is the principal reservoir and thus most transmission originates from human factors ; examples are enterotoxigenic E. </a:t>
            </a:r>
            <a:r>
              <a:rPr lang="en-US" sz="2400" b="0" i="1" u="none" strike="noStrike" baseline="0" dirty="0"/>
              <a:t>coli, shigella </a:t>
            </a:r>
            <a:r>
              <a:rPr lang="en-US" sz="2400" b="0" i="1" u="none" strike="noStrike" baseline="0" dirty="0" err="1"/>
              <a:t>spp</a:t>
            </a:r>
            <a:r>
              <a:rPr lang="en-US" sz="2400" b="0" i="1" u="none" strike="noStrike" baseline="0" dirty="0"/>
              <a:t>.,V. cholerae, Giardia lamblia </a:t>
            </a:r>
            <a:r>
              <a:rPr lang="en-US" sz="2400" b="0" i="0" u="none" strike="noStrike" baseline="0" dirty="0"/>
              <a:t>and E. </a:t>
            </a:r>
            <a:r>
              <a:rPr lang="en-US" sz="2400" b="0" i="1" u="none" strike="noStrike" baseline="0" dirty="0"/>
              <a:t>histolytica. </a:t>
            </a:r>
          </a:p>
          <a:p>
            <a:pPr algn="l"/>
            <a:r>
              <a:rPr lang="en-US" sz="2400" b="0" i="0" u="none" strike="noStrike" baseline="0" dirty="0"/>
              <a:t>For other enteric pathogens, animals are important reservoirs and transmission originates from both human and animal </a:t>
            </a:r>
            <a:r>
              <a:rPr lang="en-US" sz="2400" b="0" i="0" u="none" strike="noStrike" baseline="0" dirty="0" err="1"/>
              <a:t>faeces</a:t>
            </a:r>
            <a:r>
              <a:rPr lang="en-US" sz="2400" b="0" i="0" u="none" strike="noStrike" baseline="0" dirty="0"/>
              <a:t>; examples are </a:t>
            </a:r>
            <a:r>
              <a:rPr lang="en-US" sz="2400" b="0" i="1" u="none" strike="noStrike" baseline="0" dirty="0"/>
              <a:t>Campylobacter </a:t>
            </a:r>
            <a:r>
              <a:rPr lang="en-US" sz="2400" b="0" i="1" u="none" strike="noStrike" baseline="0" dirty="0" err="1"/>
              <a:t>jejuni</a:t>
            </a:r>
            <a:r>
              <a:rPr lang="en-US" sz="2400" b="0" i="1" u="none" strike="noStrike" baseline="0" dirty="0"/>
              <a:t>, Salmonella </a:t>
            </a:r>
            <a:r>
              <a:rPr lang="en-US" sz="2400" b="0" i="1" u="none" strike="noStrike" baseline="0" dirty="0" err="1"/>
              <a:t>spp</a:t>
            </a:r>
            <a:r>
              <a:rPr lang="en-US" sz="2400" b="0" i="1" u="none" strike="noStrike" baseline="0" dirty="0"/>
              <a:t> </a:t>
            </a:r>
            <a:r>
              <a:rPr lang="en-US" sz="2400" b="0" i="0" u="none" strike="noStrike" baseline="0" dirty="0"/>
              <a:t>and Y </a:t>
            </a:r>
            <a:r>
              <a:rPr lang="en-US" sz="2400" b="0" i="1" u="none" strike="noStrike" baseline="0" dirty="0"/>
              <a:t>enterocolitica. </a:t>
            </a:r>
          </a:p>
          <a:p>
            <a:pPr algn="l"/>
            <a:r>
              <a:rPr lang="en-US" sz="2400" b="0" i="0" u="none" strike="noStrike" baseline="0" dirty="0"/>
              <a:t>For viral agents of </a:t>
            </a:r>
            <a:r>
              <a:rPr lang="en-US" sz="2400" b="0" i="0" u="none" strike="noStrike" baseline="0" dirty="0" err="1"/>
              <a:t>diarrhoea</a:t>
            </a:r>
            <a:r>
              <a:rPr lang="en-US" sz="2400" b="0" i="0" u="none" strike="noStrike" baseline="0" dirty="0"/>
              <a:t>, the role </a:t>
            </a:r>
            <a:r>
              <a:rPr lang="en-US" sz="2400" b="0" i="1" u="none" strike="noStrike" baseline="0" dirty="0"/>
              <a:t>of </a:t>
            </a:r>
            <a:r>
              <a:rPr lang="en-US" sz="2400" b="0" i="0" u="none" strike="noStrike" baseline="0" dirty="0"/>
              <a:t>animal reservoirs in human disease remains uncertain.</a:t>
            </a:r>
            <a:endParaRPr lang="en-IN" sz="2400" dirty="0"/>
          </a:p>
        </p:txBody>
      </p:sp>
    </p:spTree>
    <p:extLst>
      <p:ext uri="{BB962C8B-B14F-4D97-AF65-F5344CB8AC3E}">
        <p14:creationId xmlns:p14="http://schemas.microsoft.com/office/powerpoint/2010/main" val="30690051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FF3DF-63D4-6E67-CAC6-806B3BD34F26}"/>
              </a:ext>
            </a:extLst>
          </p:cNvPr>
          <p:cNvSpPr>
            <a:spLocks noGrp="1"/>
          </p:cNvSpPr>
          <p:nvPr>
            <p:ph type="title"/>
          </p:nvPr>
        </p:nvSpPr>
        <p:spPr>
          <a:xfrm>
            <a:off x="1069848" y="0"/>
            <a:ext cx="10058400" cy="1609344"/>
          </a:xfrm>
        </p:spPr>
        <p:txBody>
          <a:bodyPr/>
          <a:lstStyle/>
          <a:p>
            <a:r>
              <a:rPr lang="en-US" dirty="0"/>
              <a:t>HOST FACTORS</a:t>
            </a:r>
            <a:endParaRPr lang="en-IN" dirty="0"/>
          </a:p>
        </p:txBody>
      </p:sp>
      <p:sp>
        <p:nvSpPr>
          <p:cNvPr id="3" name="Content Placeholder 2">
            <a:extLst>
              <a:ext uri="{FF2B5EF4-FFF2-40B4-BE49-F238E27FC236}">
                <a16:creationId xmlns:a16="http://schemas.microsoft.com/office/drawing/2014/main" id="{037D72CA-511D-4676-38DD-39E25ADEE2D4}"/>
              </a:ext>
            </a:extLst>
          </p:cNvPr>
          <p:cNvSpPr>
            <a:spLocks noGrp="1"/>
          </p:cNvSpPr>
          <p:nvPr>
            <p:ph idx="1"/>
          </p:nvPr>
        </p:nvSpPr>
        <p:spPr>
          <a:xfrm>
            <a:off x="1069848" y="1337187"/>
            <a:ext cx="10058400" cy="5378245"/>
          </a:xfrm>
        </p:spPr>
        <p:txBody>
          <a:bodyPr>
            <a:normAutofit fontScale="92500" lnSpcReduction="10000"/>
          </a:bodyPr>
          <a:lstStyle/>
          <a:p>
            <a:pPr algn="l"/>
            <a:r>
              <a:rPr lang="en-US" sz="2400" b="0" i="0" u="none" strike="noStrike" baseline="0" dirty="0" err="1"/>
              <a:t>Diarrhoea</a:t>
            </a:r>
            <a:r>
              <a:rPr lang="en-US" sz="2400" b="0" i="0" u="none" strike="noStrike" baseline="0" dirty="0"/>
              <a:t> is most common in children especially those between 6 months and 2 years. </a:t>
            </a:r>
          </a:p>
          <a:p>
            <a:pPr algn="l"/>
            <a:r>
              <a:rPr lang="en-US" sz="2400" b="0" i="0" u="none" strike="noStrike" baseline="0" dirty="0"/>
              <a:t>Incidence is highest in the age group 6-11 months, when weaning occurs. </a:t>
            </a:r>
          </a:p>
          <a:p>
            <a:pPr algn="l"/>
            <a:r>
              <a:rPr lang="en-US" sz="2400" b="0" i="0" u="none" strike="noStrike" baseline="0" dirty="0"/>
              <a:t>It reflects the combined effects of declining levels of maternally acquired antibodies, the lack of active immunity in the infant, the introduction of contaminated food, and direct contact with human or animal </a:t>
            </a:r>
            <a:r>
              <a:rPr lang="en-US" sz="2400" b="0" i="0" u="none" strike="noStrike" baseline="0" dirty="0" err="1"/>
              <a:t>faeces</a:t>
            </a:r>
            <a:r>
              <a:rPr lang="en-US" sz="2400" b="0" i="0" u="none" strike="noStrike" baseline="0" dirty="0"/>
              <a:t> when the infant starts to crawl. </a:t>
            </a:r>
          </a:p>
          <a:p>
            <a:pPr algn="l"/>
            <a:r>
              <a:rPr lang="en-US" sz="2400" b="0" i="0" u="none" strike="noStrike" baseline="0" dirty="0"/>
              <a:t>It is also common in babies under 6 months of age fed on cow’s milk or infant feeding formulas</a:t>
            </a:r>
            <a:r>
              <a:rPr lang="en-US" sz="2400" b="0" i="1" u="none" strike="noStrike" baseline="0" dirty="0"/>
              <a:t>. </a:t>
            </a:r>
          </a:p>
          <a:p>
            <a:pPr algn="l"/>
            <a:r>
              <a:rPr lang="en-US" sz="2400" b="0" i="0" u="none" strike="noStrike" baseline="0" dirty="0" err="1"/>
              <a:t>Diarrhoea</a:t>
            </a:r>
            <a:r>
              <a:rPr lang="en-US" sz="2400" b="0" i="0" u="none" strike="noStrike" baseline="0" dirty="0"/>
              <a:t> is more common in persons with malnutrition. </a:t>
            </a:r>
          </a:p>
          <a:p>
            <a:pPr algn="l"/>
            <a:r>
              <a:rPr lang="en-US" sz="2400" b="0" i="0" u="none" strike="noStrike" baseline="0" dirty="0"/>
              <a:t>Malnutrition leads to infection and infection to </a:t>
            </a:r>
            <a:r>
              <a:rPr lang="en-US" sz="2400" b="0" i="0" u="none" strike="noStrike" baseline="0" dirty="0" err="1"/>
              <a:t>diarrhoea</a:t>
            </a:r>
            <a:r>
              <a:rPr lang="en-US" sz="2400" b="0" i="0" u="none" strike="noStrike" baseline="0" dirty="0"/>
              <a:t> which is a well known vicious circle. </a:t>
            </a:r>
          </a:p>
          <a:p>
            <a:pPr algn="l"/>
            <a:r>
              <a:rPr lang="en-US" sz="2400" b="0" i="0" u="none" strike="noStrike" baseline="0" dirty="0"/>
              <a:t>Poverty, prematurity, reduced gastric acidity, immunodeficiency, lack of personal and domestic hygiene and incorrect feeding practices are all contributory factors.</a:t>
            </a:r>
            <a:endParaRPr lang="en-IN" sz="2400" dirty="0"/>
          </a:p>
        </p:txBody>
      </p:sp>
    </p:spTree>
    <p:extLst>
      <p:ext uri="{BB962C8B-B14F-4D97-AF65-F5344CB8AC3E}">
        <p14:creationId xmlns:p14="http://schemas.microsoft.com/office/powerpoint/2010/main" val="28269898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1F60C-8DBF-1350-81F8-C5AD205EB4DC}"/>
              </a:ext>
            </a:extLst>
          </p:cNvPr>
          <p:cNvSpPr>
            <a:spLocks noGrp="1"/>
          </p:cNvSpPr>
          <p:nvPr>
            <p:ph type="title"/>
          </p:nvPr>
        </p:nvSpPr>
        <p:spPr>
          <a:xfrm>
            <a:off x="1066800" y="91341"/>
            <a:ext cx="10058400" cy="1609344"/>
          </a:xfrm>
        </p:spPr>
        <p:txBody>
          <a:bodyPr/>
          <a:lstStyle/>
          <a:p>
            <a:r>
              <a:rPr lang="en-US" dirty="0"/>
              <a:t>Environmental factors</a:t>
            </a:r>
            <a:endParaRPr lang="en-IN" dirty="0"/>
          </a:p>
        </p:txBody>
      </p:sp>
      <p:sp>
        <p:nvSpPr>
          <p:cNvPr id="3" name="Content Placeholder 2">
            <a:extLst>
              <a:ext uri="{FF2B5EF4-FFF2-40B4-BE49-F238E27FC236}">
                <a16:creationId xmlns:a16="http://schemas.microsoft.com/office/drawing/2014/main" id="{02BFFEC8-C7D9-E33E-1445-74A05061D253}"/>
              </a:ext>
            </a:extLst>
          </p:cNvPr>
          <p:cNvSpPr>
            <a:spLocks noGrp="1"/>
          </p:cNvSpPr>
          <p:nvPr>
            <p:ph idx="1"/>
          </p:nvPr>
        </p:nvSpPr>
        <p:spPr>
          <a:xfrm>
            <a:off x="1066800" y="1700685"/>
            <a:ext cx="10058400" cy="4353232"/>
          </a:xfrm>
        </p:spPr>
        <p:txBody>
          <a:bodyPr>
            <a:normAutofit/>
          </a:bodyPr>
          <a:lstStyle/>
          <a:p>
            <a:pPr algn="l"/>
            <a:r>
              <a:rPr lang="en-US" sz="2400" b="0" i="0" u="none" strike="noStrike" baseline="0" dirty="0"/>
              <a:t>Distinct seasonal patterns of </a:t>
            </a:r>
            <a:r>
              <a:rPr lang="en-US" sz="2400" b="0" i="0" u="none" strike="noStrike" baseline="0" dirty="0" err="1"/>
              <a:t>diarrhoea</a:t>
            </a:r>
            <a:r>
              <a:rPr lang="en-US" sz="2400" b="0" i="0" u="none" strike="noStrike" baseline="0" dirty="0"/>
              <a:t> occur in many geographical areas. </a:t>
            </a:r>
          </a:p>
          <a:p>
            <a:pPr algn="l"/>
            <a:r>
              <a:rPr lang="en-US" sz="2400" b="0" i="0" u="none" strike="noStrike" baseline="0" dirty="0"/>
              <a:t>In temperature climates, bacterial </a:t>
            </a:r>
            <a:r>
              <a:rPr lang="en-US" sz="2400" b="0" i="0" u="none" strike="noStrike" baseline="0" dirty="0" err="1"/>
              <a:t>diarrhoea</a:t>
            </a:r>
            <a:r>
              <a:rPr lang="en-US" sz="2400" b="0" i="0" u="none" strike="noStrike" baseline="0" dirty="0"/>
              <a:t> occur more frequently during the warm season, whereas viral </a:t>
            </a:r>
            <a:r>
              <a:rPr lang="en-US" sz="2400" b="0" i="0" u="none" strike="noStrike" baseline="0" dirty="0" err="1"/>
              <a:t>diarrhoea</a:t>
            </a:r>
            <a:r>
              <a:rPr lang="en-US" sz="2400" b="0" i="0" u="none" strike="noStrike" baseline="0" dirty="0"/>
              <a:t>, particularly </a:t>
            </a:r>
            <a:r>
              <a:rPr lang="en-US" sz="2400" b="0" i="0" u="none" strike="noStrike" baseline="0" dirty="0" err="1"/>
              <a:t>diarrhoea</a:t>
            </a:r>
            <a:r>
              <a:rPr lang="en-US" sz="2400" b="0" i="0" u="none" strike="noStrike" baseline="0" dirty="0"/>
              <a:t> caused by rotavirus peak during the winter. </a:t>
            </a:r>
          </a:p>
          <a:p>
            <a:pPr algn="l"/>
            <a:r>
              <a:rPr lang="en-US" sz="2400" b="0" i="0" u="none" strike="noStrike" baseline="0" dirty="0"/>
              <a:t>In tropical areas, rotavirus </a:t>
            </a:r>
            <a:r>
              <a:rPr lang="en-US" sz="2400" b="0" i="0" u="none" strike="noStrike" baseline="0" dirty="0" err="1"/>
              <a:t>diarrhoea</a:t>
            </a:r>
            <a:r>
              <a:rPr lang="en-US" sz="2400" b="0" i="0" u="none" strike="noStrike" baseline="0" dirty="0"/>
              <a:t> occurs throughout the year, increasing in frequency during the drier, cool months, whereas bacterial </a:t>
            </a:r>
            <a:r>
              <a:rPr lang="en-US" sz="2400" b="0" i="0" u="none" strike="noStrike" baseline="0" dirty="0" err="1"/>
              <a:t>diarrhoeas</a:t>
            </a:r>
            <a:r>
              <a:rPr lang="en-US" sz="2400" b="0" i="0" u="none" strike="noStrike" baseline="0" dirty="0"/>
              <a:t> peak during the warmer, rainy season. </a:t>
            </a:r>
          </a:p>
          <a:p>
            <a:pPr algn="l"/>
            <a:r>
              <a:rPr lang="en-US" sz="2400" b="0" i="0" u="none" strike="noStrike" baseline="0" dirty="0"/>
              <a:t>The incidence of persistent </a:t>
            </a:r>
            <a:r>
              <a:rPr lang="en-US" sz="2400" b="0" i="0" u="none" strike="noStrike" baseline="0" dirty="0" err="1"/>
              <a:t>diarrhoea</a:t>
            </a:r>
            <a:r>
              <a:rPr lang="en-US" sz="2400" b="0" i="0" u="none" strike="noStrike" baseline="0" dirty="0"/>
              <a:t> follows the same seasonal patterns as that of acute watery </a:t>
            </a:r>
            <a:r>
              <a:rPr lang="en-US" sz="2400" b="0" i="0" u="none" strike="noStrike" baseline="0" dirty="0" err="1"/>
              <a:t>diarrhoea</a:t>
            </a:r>
            <a:r>
              <a:rPr lang="en-US" sz="2400" b="0" i="0" u="none" strike="noStrike" baseline="0" dirty="0"/>
              <a:t>.</a:t>
            </a:r>
            <a:endParaRPr lang="en-IN" sz="2400" dirty="0"/>
          </a:p>
        </p:txBody>
      </p:sp>
    </p:spTree>
    <p:extLst>
      <p:ext uri="{BB962C8B-B14F-4D97-AF65-F5344CB8AC3E}">
        <p14:creationId xmlns:p14="http://schemas.microsoft.com/office/powerpoint/2010/main" val="10094659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A050D-2CC0-785F-B41E-3BD3B9EA482B}"/>
              </a:ext>
            </a:extLst>
          </p:cNvPr>
          <p:cNvSpPr>
            <a:spLocks noGrp="1"/>
          </p:cNvSpPr>
          <p:nvPr>
            <p:ph type="title"/>
          </p:nvPr>
        </p:nvSpPr>
        <p:spPr/>
        <p:txBody>
          <a:bodyPr/>
          <a:lstStyle/>
          <a:p>
            <a:r>
              <a:rPr lang="en-US" dirty="0"/>
              <a:t>MODE OF TRANSMISSION</a:t>
            </a:r>
            <a:endParaRPr lang="en-IN" dirty="0"/>
          </a:p>
        </p:txBody>
      </p:sp>
      <p:sp>
        <p:nvSpPr>
          <p:cNvPr id="3" name="Content Placeholder 2">
            <a:extLst>
              <a:ext uri="{FF2B5EF4-FFF2-40B4-BE49-F238E27FC236}">
                <a16:creationId xmlns:a16="http://schemas.microsoft.com/office/drawing/2014/main" id="{DCDBB37B-24B3-5440-E088-3F5F91023027}"/>
              </a:ext>
            </a:extLst>
          </p:cNvPr>
          <p:cNvSpPr>
            <a:spLocks noGrp="1"/>
          </p:cNvSpPr>
          <p:nvPr>
            <p:ph idx="1"/>
          </p:nvPr>
        </p:nvSpPr>
        <p:spPr/>
        <p:txBody>
          <a:bodyPr>
            <a:normAutofit/>
          </a:bodyPr>
          <a:lstStyle/>
          <a:p>
            <a:pPr algn="l"/>
            <a:r>
              <a:rPr lang="en-US" sz="2400" b="0" i="0" u="none" strike="noStrike" baseline="0" dirty="0"/>
              <a:t>Most of the pathogenic organisms that cause </a:t>
            </a:r>
            <a:r>
              <a:rPr lang="en-US" sz="2400" b="0" i="0" u="none" strike="noStrike" baseline="0" dirty="0" err="1"/>
              <a:t>diarrhoea</a:t>
            </a:r>
            <a:r>
              <a:rPr lang="en-US" sz="2400" dirty="0"/>
              <a:t> </a:t>
            </a:r>
            <a:r>
              <a:rPr lang="en-US" sz="2400" b="0" i="0" u="none" strike="noStrike" baseline="0" dirty="0"/>
              <a:t>and all the pathogens that are known to be major causes of </a:t>
            </a:r>
            <a:r>
              <a:rPr lang="en-US" sz="2400" b="0" i="0" u="none" strike="noStrike" baseline="0" dirty="0" err="1"/>
              <a:t>diarrhoea</a:t>
            </a:r>
            <a:r>
              <a:rPr lang="en-US" sz="2400" b="0" i="0" u="none" strike="noStrike" baseline="0" dirty="0"/>
              <a:t> in many countries, are transmitted primarily or exclusively by the </a:t>
            </a:r>
            <a:r>
              <a:rPr lang="en-US" sz="2400" b="1" i="0" u="none" strike="noStrike" baseline="0" dirty="0" err="1"/>
              <a:t>faecal</a:t>
            </a:r>
            <a:r>
              <a:rPr lang="en-US" sz="2400" b="1" i="0" u="none" strike="noStrike" baseline="0" dirty="0"/>
              <a:t>-oral route. </a:t>
            </a:r>
            <a:r>
              <a:rPr lang="en-US" sz="2400" b="0" i="0" u="none" strike="noStrike" baseline="0" dirty="0" err="1"/>
              <a:t>Faecal</a:t>
            </a:r>
            <a:r>
              <a:rPr lang="en-US" sz="2400" b="0" i="0" u="none" strike="noStrike" baseline="0" dirty="0"/>
              <a:t>-oral transmission may be water-borne; food-borne, or direct</a:t>
            </a:r>
          </a:p>
          <a:p>
            <a:pPr algn="l"/>
            <a:r>
              <a:rPr lang="en-US" sz="2400" b="0" i="0" u="none" strike="noStrike" baseline="0" dirty="0"/>
              <a:t>transmission which implies an array of other </a:t>
            </a:r>
            <a:r>
              <a:rPr lang="en-US" sz="2400" b="0" i="0" u="none" strike="noStrike" baseline="0" dirty="0" err="1"/>
              <a:t>faecal</a:t>
            </a:r>
            <a:r>
              <a:rPr lang="en-US" sz="2400" b="0" i="0" u="none" strike="noStrike" baseline="0" dirty="0"/>
              <a:t>-oral</a:t>
            </a:r>
          </a:p>
          <a:p>
            <a:pPr algn="l"/>
            <a:r>
              <a:rPr lang="en-US" sz="2400" b="0" i="0" u="none" strike="noStrike" baseline="0" dirty="0"/>
              <a:t>routes such as </a:t>
            </a:r>
            <a:r>
              <a:rPr lang="en-US" sz="2400" b="0" i="1" u="none" strike="noStrike" baseline="0" dirty="0" err="1"/>
              <a:t>uia</a:t>
            </a:r>
            <a:r>
              <a:rPr lang="en-US" sz="2400" b="0" i="1" u="none" strike="noStrike" baseline="0" dirty="0"/>
              <a:t> </a:t>
            </a:r>
            <a:r>
              <a:rPr lang="en-US" sz="2400" b="0" i="0" u="none" strike="noStrike" baseline="0" dirty="0"/>
              <a:t>fingers, or fomites, or dirt which may be</a:t>
            </a:r>
          </a:p>
          <a:p>
            <a:pPr algn="l"/>
            <a:r>
              <a:rPr lang="en-IN" sz="2400" b="0" i="0" u="none" strike="noStrike" baseline="0" dirty="0"/>
              <a:t>ingested by young children.</a:t>
            </a:r>
            <a:endParaRPr lang="en-IN" sz="2400" dirty="0"/>
          </a:p>
        </p:txBody>
      </p:sp>
    </p:spTree>
    <p:extLst>
      <p:ext uri="{BB962C8B-B14F-4D97-AF65-F5344CB8AC3E}">
        <p14:creationId xmlns:p14="http://schemas.microsoft.com/office/powerpoint/2010/main" val="33084666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FB15C-6329-315E-597B-C57D4CFBED27}"/>
              </a:ext>
            </a:extLst>
          </p:cNvPr>
          <p:cNvSpPr>
            <a:spLocks noGrp="1"/>
          </p:cNvSpPr>
          <p:nvPr>
            <p:ph type="title"/>
          </p:nvPr>
        </p:nvSpPr>
        <p:spPr/>
        <p:txBody>
          <a:bodyPr/>
          <a:lstStyle/>
          <a:p>
            <a:r>
              <a:rPr lang="en-US" dirty="0"/>
              <a:t>CONTROL</a:t>
            </a:r>
            <a:endParaRPr lang="en-IN" dirty="0"/>
          </a:p>
        </p:txBody>
      </p:sp>
      <p:sp>
        <p:nvSpPr>
          <p:cNvPr id="3" name="Content Placeholder 2">
            <a:extLst>
              <a:ext uri="{FF2B5EF4-FFF2-40B4-BE49-F238E27FC236}">
                <a16:creationId xmlns:a16="http://schemas.microsoft.com/office/drawing/2014/main" id="{368753A4-72C3-8619-39F8-A1393FED0A77}"/>
              </a:ext>
            </a:extLst>
          </p:cNvPr>
          <p:cNvSpPr>
            <a:spLocks noGrp="1"/>
          </p:cNvSpPr>
          <p:nvPr>
            <p:ph idx="1"/>
          </p:nvPr>
        </p:nvSpPr>
        <p:spPr>
          <a:xfrm>
            <a:off x="1069848" y="1740310"/>
            <a:ext cx="10058400" cy="4431890"/>
          </a:xfrm>
        </p:spPr>
        <p:txBody>
          <a:bodyPr>
            <a:normAutofit/>
          </a:bodyPr>
          <a:lstStyle/>
          <a:p>
            <a:pPr algn="l"/>
            <a:r>
              <a:rPr lang="en-US" sz="2400" dirty="0"/>
              <a:t>Com</a:t>
            </a:r>
            <a:r>
              <a:rPr lang="en-US" sz="2400" b="0" i="0" u="none" strike="noStrike" baseline="0" dirty="0"/>
              <a:t>ponents </a:t>
            </a:r>
            <a:r>
              <a:rPr lang="en-US" sz="2400" b="0" i="1" u="none" strike="noStrike" baseline="0" dirty="0"/>
              <a:t>of a </a:t>
            </a:r>
            <a:r>
              <a:rPr lang="en-US" sz="2400" b="0" i="1" u="none" strike="noStrike" baseline="0" dirty="0" err="1"/>
              <a:t>Diarrhoeal</a:t>
            </a:r>
            <a:r>
              <a:rPr lang="en-US" sz="2400" b="0" i="1" u="none" strike="noStrike" baseline="0" dirty="0"/>
              <a:t> Diseases Control </a:t>
            </a:r>
            <a:r>
              <a:rPr lang="en-IN" sz="2400" b="0" i="1" u="none" strike="noStrike" baseline="0" dirty="0"/>
              <a:t>Programme</a:t>
            </a:r>
          </a:p>
          <a:p>
            <a:pPr algn="l"/>
            <a:r>
              <a:rPr lang="en-US" sz="2400" b="0" i="0" u="none" strike="noStrike" baseline="0" dirty="0"/>
              <a:t>The intervention measures recommended by WHO </a:t>
            </a:r>
            <a:r>
              <a:rPr lang="en-IN" sz="2400" b="0" i="0" u="none" strike="noStrike" baseline="0" dirty="0"/>
              <a:t>be classified as below :</a:t>
            </a:r>
          </a:p>
          <a:p>
            <a:pPr algn="l"/>
            <a:r>
              <a:rPr lang="en-IN" sz="2400" b="0" i="0" u="none" strike="noStrike" baseline="0" dirty="0"/>
              <a:t>Short-term</a:t>
            </a:r>
          </a:p>
          <a:p>
            <a:pPr algn="l"/>
            <a:r>
              <a:rPr lang="en-IN" sz="2400" b="0" i="0" u="none" strike="noStrike" baseline="0" dirty="0"/>
              <a:t> Appropriate clinical management.</a:t>
            </a:r>
          </a:p>
          <a:p>
            <a:pPr algn="l"/>
            <a:r>
              <a:rPr lang="en-IN" sz="2400" b="0" i="1" u="none" strike="noStrike" baseline="0" dirty="0"/>
              <a:t>Long-term</a:t>
            </a:r>
          </a:p>
          <a:p>
            <a:pPr algn="l"/>
            <a:r>
              <a:rPr lang="en-US" sz="2400" b="0" i="0" u="none" strike="noStrike" baseline="0" dirty="0"/>
              <a:t>Better MCH care practices.</a:t>
            </a:r>
          </a:p>
          <a:p>
            <a:pPr algn="l"/>
            <a:r>
              <a:rPr lang="en-IN" sz="2400" b="0" i="0" u="none" strike="noStrike" baseline="0" dirty="0"/>
              <a:t>Preventive strategies.</a:t>
            </a:r>
          </a:p>
          <a:p>
            <a:pPr algn="l"/>
            <a:r>
              <a:rPr lang="en-IN" sz="2400" b="0" i="0" u="none" strike="noStrike" baseline="0" dirty="0"/>
              <a:t>Preventing diarrhoeal epidemics.</a:t>
            </a:r>
            <a:endParaRPr lang="en-IN" sz="2400" dirty="0"/>
          </a:p>
        </p:txBody>
      </p:sp>
    </p:spTree>
    <p:extLst>
      <p:ext uri="{BB962C8B-B14F-4D97-AF65-F5344CB8AC3E}">
        <p14:creationId xmlns:p14="http://schemas.microsoft.com/office/powerpoint/2010/main" val="6909311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FBCF-D2FB-2607-28C4-27C7FB8B41FC}"/>
              </a:ext>
            </a:extLst>
          </p:cNvPr>
          <p:cNvSpPr>
            <a:spLocks noGrp="1"/>
          </p:cNvSpPr>
          <p:nvPr>
            <p:ph type="title"/>
          </p:nvPr>
        </p:nvSpPr>
        <p:spPr>
          <a:xfrm>
            <a:off x="1066800" y="0"/>
            <a:ext cx="10058400" cy="1609344"/>
          </a:xfrm>
        </p:spPr>
        <p:txBody>
          <a:bodyPr>
            <a:normAutofit/>
          </a:bodyPr>
          <a:lstStyle/>
          <a:p>
            <a:r>
              <a:rPr lang="en-IN" sz="3600" b="1" i="0" u="none" strike="noStrike" baseline="0" dirty="0">
                <a:solidFill>
                  <a:srgbClr val="79212B"/>
                </a:solidFill>
              </a:rPr>
              <a:t>Appropriate clinical management</a:t>
            </a:r>
            <a:endParaRPr lang="en-IN" sz="3600" dirty="0"/>
          </a:p>
        </p:txBody>
      </p:sp>
      <p:sp>
        <p:nvSpPr>
          <p:cNvPr id="3" name="Content Placeholder 2">
            <a:extLst>
              <a:ext uri="{FF2B5EF4-FFF2-40B4-BE49-F238E27FC236}">
                <a16:creationId xmlns:a16="http://schemas.microsoft.com/office/drawing/2014/main" id="{61BD1943-16CD-8E3B-9D1E-098F04D8FC2C}"/>
              </a:ext>
            </a:extLst>
          </p:cNvPr>
          <p:cNvSpPr>
            <a:spLocks noGrp="1"/>
          </p:cNvSpPr>
          <p:nvPr>
            <p:ph idx="1"/>
          </p:nvPr>
        </p:nvSpPr>
        <p:spPr>
          <a:xfrm>
            <a:off x="1066800" y="1403604"/>
            <a:ext cx="10058400" cy="4050792"/>
          </a:xfrm>
        </p:spPr>
        <p:txBody>
          <a:bodyPr>
            <a:noAutofit/>
          </a:bodyPr>
          <a:lstStyle/>
          <a:p>
            <a:pPr algn="l"/>
            <a:r>
              <a:rPr lang="en-US" sz="2400" b="0" i="0" u="none" strike="noStrike" baseline="0" dirty="0"/>
              <a:t>ORAL REHYDRATION THERAPY : </a:t>
            </a:r>
          </a:p>
          <a:p>
            <a:pPr algn="l"/>
            <a:r>
              <a:rPr lang="en-US" sz="2400" b="0" i="0" u="none" strike="noStrike" baseline="0" dirty="0"/>
              <a:t>With introduction of oral rehydration by WHO it is now firmly established that oral rehydration treatment can be safely and successfully used in treating acute </a:t>
            </a:r>
            <a:r>
              <a:rPr lang="en-US" sz="2400" b="0" i="0" u="none" strike="noStrike" baseline="0" dirty="0" err="1"/>
              <a:t>diarrhoeas</a:t>
            </a:r>
            <a:r>
              <a:rPr lang="en-US" sz="2400" b="0" i="0" u="none" strike="noStrike" baseline="0" dirty="0"/>
              <a:t> due to all </a:t>
            </a:r>
            <a:r>
              <a:rPr lang="en-US" sz="2400" b="0" i="0" u="none" strike="noStrike" baseline="0" dirty="0" err="1"/>
              <a:t>aetiologies</a:t>
            </a:r>
            <a:r>
              <a:rPr lang="en-US" sz="2400" b="0" i="0" u="none" strike="noStrike" baseline="0" dirty="0"/>
              <a:t>, in all age groups, and in all countries.</a:t>
            </a:r>
          </a:p>
          <a:p>
            <a:pPr algn="l"/>
            <a:r>
              <a:rPr lang="en-US" sz="2400" b="0" i="0" u="none" strike="noStrike" baseline="0" dirty="0"/>
              <a:t>The aim of oral fluid therapy is to prevent dehydration and reduce mortality. </a:t>
            </a:r>
          </a:p>
          <a:p>
            <a:pPr algn="l"/>
            <a:r>
              <a:rPr lang="en-US" sz="2400" b="0" i="0" u="none" strike="noStrike" baseline="0" dirty="0"/>
              <a:t>It has been the experience of workers at Kolkata that as many as 90-95 per cent of all cases of cholera and acute </a:t>
            </a:r>
            <a:r>
              <a:rPr lang="en-US" sz="2400" b="0" i="0" u="none" strike="noStrike" baseline="0" dirty="0" err="1"/>
              <a:t>diarrhoea</a:t>
            </a:r>
            <a:r>
              <a:rPr lang="en-US" sz="2400" b="0" i="0" u="none" strike="noStrike" baseline="0" dirty="0"/>
              <a:t> can be treated by oral fluids alone.</a:t>
            </a:r>
          </a:p>
          <a:p>
            <a:pPr algn="l"/>
            <a:r>
              <a:rPr lang="en-US" sz="2400" b="0" i="0" u="none" strike="noStrike" baseline="0" dirty="0"/>
              <a:t>Oral fluid therapy is based on the observation that glucose given orally enhances the intestinal absorption of salt and water, and is capable of correcting the electrolyte and water deficit.</a:t>
            </a:r>
            <a:endParaRPr lang="en-IN" sz="2400" dirty="0"/>
          </a:p>
        </p:txBody>
      </p:sp>
    </p:spTree>
    <p:extLst>
      <p:ext uri="{BB962C8B-B14F-4D97-AF65-F5344CB8AC3E}">
        <p14:creationId xmlns:p14="http://schemas.microsoft.com/office/powerpoint/2010/main" val="12983624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75B549-24AE-A097-6C73-19022BB9B7B7}"/>
              </a:ext>
            </a:extLst>
          </p:cNvPr>
          <p:cNvSpPr>
            <a:spLocks noGrp="1"/>
          </p:cNvSpPr>
          <p:nvPr>
            <p:ph idx="1"/>
          </p:nvPr>
        </p:nvSpPr>
        <p:spPr>
          <a:xfrm>
            <a:off x="1138674" y="1403604"/>
            <a:ext cx="10058400" cy="4050792"/>
          </a:xfrm>
        </p:spPr>
        <p:txBody>
          <a:bodyPr>
            <a:normAutofit/>
          </a:bodyPr>
          <a:lstStyle/>
          <a:p>
            <a:pPr algn="l"/>
            <a:r>
              <a:rPr lang="en-US" sz="2400" b="0" i="0" u="none" strike="noStrike" baseline="0" dirty="0"/>
              <a:t>More recently an improved ORS formulation has been developed which is as safe and effective as the original in preventing and treating </a:t>
            </a:r>
            <a:r>
              <a:rPr lang="en-US" sz="2400" b="0" i="0" u="none" strike="noStrike" baseline="0" dirty="0" err="1"/>
              <a:t>diarrhoeal</a:t>
            </a:r>
            <a:r>
              <a:rPr lang="en-US" sz="2400" b="0" i="0" u="none" strike="noStrike" baseline="0" dirty="0"/>
              <a:t> dehydration but also reduced stool output or offers additional clinical benefit or both. </a:t>
            </a:r>
          </a:p>
          <a:p>
            <a:pPr algn="l"/>
            <a:r>
              <a:rPr lang="en-US" sz="2400" b="0" i="0" u="none" strike="noStrike" baseline="0" dirty="0"/>
              <a:t>It is </a:t>
            </a:r>
            <a:r>
              <a:rPr lang="en-US" sz="2400" b="0" i="0" u="none" strike="noStrike" baseline="0" dirty="0" err="1"/>
              <a:t>focussed</a:t>
            </a:r>
            <a:r>
              <a:rPr lang="en-US" sz="2400" b="0" i="0" u="none" strike="noStrike" baseline="0" dirty="0"/>
              <a:t> on reducing the osmolarity of ORS solution to avoid possible adverse effects of hypertonicity on net fluid absorption by reducing the concentration of glucose and sodium chloride in the solution. </a:t>
            </a:r>
          </a:p>
          <a:p>
            <a:pPr algn="l"/>
            <a:r>
              <a:rPr lang="en-US" sz="2400" b="0" i="0" u="none" strike="noStrike" baseline="0" dirty="0"/>
              <a:t>Decreasing the sodium concentration of ORS solution to 75 </a:t>
            </a:r>
            <a:r>
              <a:rPr lang="en-US" sz="2400" b="0" i="0" u="none" strike="noStrike" baseline="0" dirty="0" err="1"/>
              <a:t>mOsm</a:t>
            </a:r>
            <a:r>
              <a:rPr lang="en-US" sz="2400" b="0" i="0" u="none" strike="noStrike" baseline="0" dirty="0"/>
              <a:t>/1 improved the efficacy of the ORS regimen for children with </a:t>
            </a:r>
            <a:r>
              <a:rPr lang="en-IN" sz="2400" b="0" i="0" u="none" strike="noStrike" baseline="0" dirty="0"/>
              <a:t>acute non-cholera diarrhoea.</a:t>
            </a:r>
            <a:endParaRPr lang="en-IN" sz="2400" dirty="0"/>
          </a:p>
        </p:txBody>
      </p:sp>
    </p:spTree>
    <p:extLst>
      <p:ext uri="{BB962C8B-B14F-4D97-AF65-F5344CB8AC3E}">
        <p14:creationId xmlns:p14="http://schemas.microsoft.com/office/powerpoint/2010/main" val="41114851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70355CF-C9D1-CC9D-B564-D6A6ECDB40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6787" y="570271"/>
            <a:ext cx="8160773" cy="5810864"/>
          </a:xfrm>
        </p:spPr>
      </p:pic>
    </p:spTree>
    <p:extLst>
      <p:ext uri="{BB962C8B-B14F-4D97-AF65-F5344CB8AC3E}">
        <p14:creationId xmlns:p14="http://schemas.microsoft.com/office/powerpoint/2010/main" val="38343539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58213-ECD1-48FB-CEAB-807F553EC711}"/>
              </a:ext>
            </a:extLst>
          </p:cNvPr>
          <p:cNvSpPr>
            <a:spLocks noGrp="1"/>
          </p:cNvSpPr>
          <p:nvPr>
            <p:ph type="title"/>
          </p:nvPr>
        </p:nvSpPr>
        <p:spPr/>
        <p:txBody>
          <a:bodyPr/>
          <a:lstStyle/>
          <a:p>
            <a:r>
              <a:rPr lang="en-US" dirty="0"/>
              <a:t>Grades of Dehydration</a:t>
            </a:r>
            <a:endParaRPr lang="en-IN" dirty="0"/>
          </a:p>
        </p:txBody>
      </p:sp>
      <p:pic>
        <p:nvPicPr>
          <p:cNvPr id="5" name="Content Placeholder 4">
            <a:extLst>
              <a:ext uri="{FF2B5EF4-FFF2-40B4-BE49-F238E27FC236}">
                <a16:creationId xmlns:a16="http://schemas.microsoft.com/office/drawing/2014/main" id="{86EEF311-583D-3209-BD46-6F30E8E12D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9535" y="1956619"/>
            <a:ext cx="10127226" cy="3585915"/>
          </a:xfrm>
        </p:spPr>
      </p:pic>
    </p:spTree>
    <p:extLst>
      <p:ext uri="{BB962C8B-B14F-4D97-AF65-F5344CB8AC3E}">
        <p14:creationId xmlns:p14="http://schemas.microsoft.com/office/powerpoint/2010/main" val="13167776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3D9E8-3428-1F1B-6F96-BFBD3A876724}"/>
              </a:ext>
            </a:extLst>
          </p:cNvPr>
          <p:cNvSpPr>
            <a:spLocks noGrp="1"/>
          </p:cNvSpPr>
          <p:nvPr>
            <p:ph type="ctrTitle"/>
          </p:nvPr>
        </p:nvSpPr>
        <p:spPr/>
        <p:txBody>
          <a:bodyPr/>
          <a:lstStyle/>
          <a:p>
            <a:pPr algn="ctr"/>
            <a:r>
              <a:rPr lang="en-US" dirty="0"/>
              <a:t>THANK YOU</a:t>
            </a:r>
            <a:endParaRPr lang="en-IN" dirty="0"/>
          </a:p>
        </p:txBody>
      </p:sp>
    </p:spTree>
    <p:extLst>
      <p:ext uri="{BB962C8B-B14F-4D97-AF65-F5344CB8AC3E}">
        <p14:creationId xmlns:p14="http://schemas.microsoft.com/office/powerpoint/2010/main" val="26110604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219</TotalTime>
  <Words>6101</Words>
  <Application>Microsoft Office PowerPoint</Application>
  <PresentationFormat>Widescreen</PresentationFormat>
  <Paragraphs>350</Paragraphs>
  <Slides>77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Arial</vt:lpstr>
      <vt:lpstr>Rockwell</vt:lpstr>
      <vt:lpstr>Rockwell Condensed</vt:lpstr>
      <vt:lpstr>Times New Roman</vt:lpstr>
      <vt:lpstr>Wingdings</vt:lpstr>
      <vt:lpstr>Wood Type</vt:lpstr>
      <vt:lpstr>HEPATITIS-B</vt:lpstr>
      <vt:lpstr>PowerPoint Presentation</vt:lpstr>
      <vt:lpstr>PowerPoint Presentation</vt:lpstr>
      <vt:lpstr>Agent factors</vt:lpstr>
      <vt:lpstr>RESERVOIR OF INFECTION :</vt:lpstr>
      <vt:lpstr>PowerPoint Presentation</vt:lpstr>
      <vt:lpstr>PERIOD OF COMMUNICABILITY :</vt:lpstr>
      <vt:lpstr>HOST FACTORS</vt:lpstr>
      <vt:lpstr>HIGH-RISK GROUPS:</vt:lpstr>
      <vt:lpstr>HEPATITIS B AND HIV INFECTION :</vt:lpstr>
      <vt:lpstr>HUMORAL AND CELLULAR RESPONSES</vt:lpstr>
      <vt:lpstr>Modes of transmission</vt:lpstr>
      <vt:lpstr>PowerPoint Presentation</vt:lpstr>
      <vt:lpstr>Incubation period</vt:lpstr>
      <vt:lpstr>Clinical picture</vt:lpstr>
      <vt:lpstr>PowerPoint Presentation</vt:lpstr>
      <vt:lpstr>Diagnosis</vt:lpstr>
      <vt:lpstr>PREVENTION AND CONTAINMENT</vt:lpstr>
      <vt:lpstr>PowerPoint Presentation</vt:lpstr>
      <vt:lpstr>PowerPoint Presentation</vt:lpstr>
      <vt:lpstr>PowerPoint Presentation</vt:lpstr>
      <vt:lpstr>PowerPoint Presentation</vt:lpstr>
      <vt:lpstr>HEPATITIS C</vt:lpstr>
      <vt:lpstr>introduction</vt:lpstr>
      <vt:lpstr>Transmission</vt:lpstr>
      <vt:lpstr>Incubation period</vt:lpstr>
      <vt:lpstr>Symptoms</vt:lpstr>
      <vt:lpstr>Diagnosis</vt:lpstr>
      <vt:lpstr>PowerPoint Presentation</vt:lpstr>
      <vt:lpstr>Treatment</vt:lpstr>
      <vt:lpstr>PowerPoint Presentation</vt:lpstr>
      <vt:lpstr>Prevention</vt:lpstr>
      <vt:lpstr>PowerPoint Presentation</vt:lpstr>
      <vt:lpstr>HEPATITIS D </vt:lpstr>
      <vt:lpstr>INTRODUCTION</vt:lpstr>
      <vt:lpstr>Route of transmission</vt:lpstr>
      <vt:lpstr>Diagnosis</vt:lpstr>
      <vt:lpstr>Treatment</vt:lpstr>
      <vt:lpstr>Prevention</vt:lpstr>
      <vt:lpstr>HEPATITIS-E</vt:lpstr>
      <vt:lpstr>PowerPoint Presentation</vt:lpstr>
      <vt:lpstr>TRANSMISSION</vt:lpstr>
      <vt:lpstr>INCUBATION PERIOD</vt:lpstr>
      <vt:lpstr>Symptoms</vt:lpstr>
      <vt:lpstr>PowerPoint Presentation</vt:lpstr>
      <vt:lpstr>DIAGNOSIS</vt:lpstr>
      <vt:lpstr>TREATMENT</vt:lpstr>
      <vt:lpstr>PREVENTION</vt:lpstr>
      <vt:lpstr>HEPATITIS-G</vt:lpstr>
      <vt:lpstr>PowerPoint Presentation</vt:lpstr>
      <vt:lpstr>ACUTE DIARRHOEAL DISEASES</vt:lpstr>
      <vt:lpstr>CLINICAL TYPES OF DIARRHOEAL DISEASE</vt:lpstr>
      <vt:lpstr>PowerPoint Presentation</vt:lpstr>
      <vt:lpstr>PowerPoint Presentation</vt:lpstr>
      <vt:lpstr>PowerPoint Presentation</vt:lpstr>
      <vt:lpstr>PowerPoint Presentation</vt:lpstr>
      <vt:lpstr>PowerPoint Presentation</vt:lpstr>
      <vt:lpstr>Epidemiological determinants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Reservoir of infection</vt:lpstr>
      <vt:lpstr>HOST FACTORS</vt:lpstr>
      <vt:lpstr>Environmental factors</vt:lpstr>
      <vt:lpstr>MODE OF TRANSMISSION</vt:lpstr>
      <vt:lpstr>CONTROL</vt:lpstr>
      <vt:lpstr>Appropriate clinical management</vt:lpstr>
      <vt:lpstr>PowerPoint Presentation</vt:lpstr>
      <vt:lpstr>PowerPoint Presentation</vt:lpstr>
      <vt:lpstr>Grades of Dehydration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manviatwork@gmail.com</dc:creator>
  <cp:lastModifiedBy>manviatwork@gmail.com</cp:lastModifiedBy>
  <cp:revision>3</cp:revision>
  <dcterms:created xsi:type="dcterms:W3CDTF">2024-09-30T17:26:42Z</dcterms:created>
  <dcterms:modified xsi:type="dcterms:W3CDTF">2024-11-06T16:28:08Z</dcterms:modified>
</cp:coreProperties>
</file>