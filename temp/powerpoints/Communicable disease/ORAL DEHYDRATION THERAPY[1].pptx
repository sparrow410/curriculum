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92" r:id="rId36"/>
    <p:sldId id="293" r:id="rId37"/>
    <p:sldId id="291"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36" y="1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11/19/2024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11/19/2024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11/19/2024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11/19/2024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11/19/2024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9DD5-8722-8347-8AA4-5D679A35AFD1}"/>
              </a:ext>
            </a:extLst>
          </p:cNvPr>
          <p:cNvSpPr>
            <a:spLocks noGrp="1"/>
          </p:cNvSpPr>
          <p:nvPr>
            <p:ph type="ctrTitle"/>
          </p:nvPr>
        </p:nvSpPr>
        <p:spPr/>
        <p:txBody>
          <a:bodyPr/>
          <a:lstStyle/>
          <a:p>
            <a:r>
              <a:rPr lang="en-US" dirty="0"/>
              <a:t>ORAL DEHYDRATION THERAPY</a:t>
            </a:r>
            <a:endParaRPr lang="en-IN" dirty="0"/>
          </a:p>
        </p:txBody>
      </p:sp>
      <p:sp>
        <p:nvSpPr>
          <p:cNvPr id="3" name="Subtitle 2">
            <a:extLst>
              <a:ext uri="{FF2B5EF4-FFF2-40B4-BE49-F238E27FC236}">
                <a16:creationId xmlns:a16="http://schemas.microsoft.com/office/drawing/2014/main" id="{94603CF7-4D0E-1212-335E-B5BB54B1FB70}"/>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33291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2A24-5039-B243-392F-6C8A6423675F}"/>
              </a:ext>
            </a:extLst>
          </p:cNvPr>
          <p:cNvSpPr>
            <a:spLocks noGrp="1"/>
          </p:cNvSpPr>
          <p:nvPr>
            <p:ph type="title"/>
          </p:nvPr>
        </p:nvSpPr>
        <p:spPr>
          <a:xfrm>
            <a:off x="1061884" y="374756"/>
            <a:ext cx="9891252" cy="1188720"/>
          </a:xfrm>
        </p:spPr>
        <p:txBody>
          <a:bodyPr/>
          <a:lstStyle/>
          <a:p>
            <a:r>
              <a:rPr lang="en-US" dirty="0"/>
              <a:t>GUIDELINES FOR ORAL DEHYDRATION THERAPY</a:t>
            </a:r>
            <a:endParaRPr lang="en-IN" dirty="0"/>
          </a:p>
        </p:txBody>
      </p:sp>
      <p:sp>
        <p:nvSpPr>
          <p:cNvPr id="3" name="Content Placeholder 2">
            <a:extLst>
              <a:ext uri="{FF2B5EF4-FFF2-40B4-BE49-F238E27FC236}">
                <a16:creationId xmlns:a16="http://schemas.microsoft.com/office/drawing/2014/main" id="{669B6D2D-E297-0A0A-483E-1B30D16270AB}"/>
              </a:ext>
            </a:extLst>
          </p:cNvPr>
          <p:cNvSpPr>
            <a:spLocks noGrp="1"/>
          </p:cNvSpPr>
          <p:nvPr>
            <p:ph idx="1"/>
          </p:nvPr>
        </p:nvSpPr>
        <p:spPr>
          <a:xfrm>
            <a:off x="1130710" y="1986116"/>
            <a:ext cx="9822426" cy="4188542"/>
          </a:xfrm>
        </p:spPr>
        <p:txBody>
          <a:bodyPr>
            <a:normAutofit/>
          </a:bodyPr>
          <a:lstStyle/>
          <a:p>
            <a:r>
              <a:rPr lang="en-US" sz="2400" dirty="0"/>
              <a:t>When obvious signs of dehydration exist, the water deficit is somewhere between 50 and 100 ml per kg of body weight. </a:t>
            </a:r>
          </a:p>
          <a:p>
            <a:r>
              <a:rPr lang="en-US" sz="2400" dirty="0"/>
              <a:t>If the child’s weight is known, the amount of ORS solution required for rehydration during the first four hours may be calculated by setting the deficit at approximately 75 ml/kg. </a:t>
            </a:r>
          </a:p>
          <a:p>
            <a:r>
              <a:rPr lang="en-US" sz="2400" dirty="0"/>
              <a:t>If the child’s weight is not known, the approximate deficit may be determined on the basis of age, although this procedure is less accurate.</a:t>
            </a:r>
            <a:endParaRPr lang="en-IN" sz="2400" dirty="0"/>
          </a:p>
        </p:txBody>
      </p:sp>
    </p:spTree>
    <p:extLst>
      <p:ext uri="{BB962C8B-B14F-4D97-AF65-F5344CB8AC3E}">
        <p14:creationId xmlns:p14="http://schemas.microsoft.com/office/powerpoint/2010/main" val="3995699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00DF5-EF8F-2177-1AB9-3BA820812CD1}"/>
              </a:ext>
            </a:extLst>
          </p:cNvPr>
          <p:cNvSpPr>
            <a:spLocks noGrp="1"/>
          </p:cNvSpPr>
          <p:nvPr>
            <p:ph type="title"/>
          </p:nvPr>
        </p:nvSpPr>
        <p:spPr>
          <a:xfrm>
            <a:off x="1278193" y="609600"/>
            <a:ext cx="9773267" cy="1543812"/>
          </a:xfrm>
        </p:spPr>
        <p:txBody>
          <a:bodyPr>
            <a:normAutofit/>
          </a:bodyPr>
          <a:lstStyle/>
          <a:p>
            <a:r>
              <a:rPr lang="en-US" dirty="0"/>
              <a:t>Guidelines for oral rehydration therapy (for all ages) during the first four hours</a:t>
            </a:r>
            <a:endParaRPr lang="en-IN" dirty="0"/>
          </a:p>
        </p:txBody>
      </p:sp>
      <p:graphicFrame>
        <p:nvGraphicFramePr>
          <p:cNvPr id="4" name="Content Placeholder 3">
            <a:extLst>
              <a:ext uri="{FF2B5EF4-FFF2-40B4-BE49-F238E27FC236}">
                <a16:creationId xmlns:a16="http://schemas.microsoft.com/office/drawing/2014/main" id="{EFD7DDA4-468C-05B3-E7E6-92AB00E170B6}"/>
              </a:ext>
            </a:extLst>
          </p:cNvPr>
          <p:cNvGraphicFramePr>
            <a:graphicFrameLocks noGrp="1"/>
          </p:cNvGraphicFramePr>
          <p:nvPr>
            <p:ph idx="1"/>
            <p:extLst>
              <p:ext uri="{D42A27DB-BD31-4B8C-83A1-F6EECF244321}">
                <p14:modId xmlns:p14="http://schemas.microsoft.com/office/powerpoint/2010/main" val="2576385453"/>
              </p:ext>
            </p:extLst>
          </p:nvPr>
        </p:nvGraphicFramePr>
        <p:xfrm>
          <a:off x="894735" y="2638425"/>
          <a:ext cx="10589340" cy="2670993"/>
        </p:xfrm>
        <a:graphic>
          <a:graphicData uri="http://schemas.openxmlformats.org/drawingml/2006/table">
            <a:tbl>
              <a:tblPr firstRow="1" bandRow="1">
                <a:tableStyleId>{8799B23B-EC83-4686-B30A-512413B5E67A}</a:tableStyleId>
              </a:tblPr>
              <a:tblGrid>
                <a:gridCol w="1576236">
                  <a:extLst>
                    <a:ext uri="{9D8B030D-6E8A-4147-A177-3AD203B41FA5}">
                      <a16:colId xmlns:a16="http://schemas.microsoft.com/office/drawing/2014/main" val="1394188754"/>
                    </a:ext>
                  </a:extLst>
                </a:gridCol>
                <a:gridCol w="1502184">
                  <a:extLst>
                    <a:ext uri="{9D8B030D-6E8A-4147-A177-3AD203B41FA5}">
                      <a16:colId xmlns:a16="http://schemas.microsoft.com/office/drawing/2014/main" val="2146715474"/>
                    </a:ext>
                  </a:extLst>
                </a:gridCol>
                <a:gridCol w="1502184">
                  <a:extLst>
                    <a:ext uri="{9D8B030D-6E8A-4147-A177-3AD203B41FA5}">
                      <a16:colId xmlns:a16="http://schemas.microsoft.com/office/drawing/2014/main" val="2433523175"/>
                    </a:ext>
                  </a:extLst>
                </a:gridCol>
                <a:gridCol w="1502184">
                  <a:extLst>
                    <a:ext uri="{9D8B030D-6E8A-4147-A177-3AD203B41FA5}">
                      <a16:colId xmlns:a16="http://schemas.microsoft.com/office/drawing/2014/main" val="2439353880"/>
                    </a:ext>
                  </a:extLst>
                </a:gridCol>
                <a:gridCol w="1502184">
                  <a:extLst>
                    <a:ext uri="{9D8B030D-6E8A-4147-A177-3AD203B41FA5}">
                      <a16:colId xmlns:a16="http://schemas.microsoft.com/office/drawing/2014/main" val="489735728"/>
                    </a:ext>
                  </a:extLst>
                </a:gridCol>
                <a:gridCol w="1502184">
                  <a:extLst>
                    <a:ext uri="{9D8B030D-6E8A-4147-A177-3AD203B41FA5}">
                      <a16:colId xmlns:a16="http://schemas.microsoft.com/office/drawing/2014/main" val="788177407"/>
                    </a:ext>
                  </a:extLst>
                </a:gridCol>
                <a:gridCol w="1502184">
                  <a:extLst>
                    <a:ext uri="{9D8B030D-6E8A-4147-A177-3AD203B41FA5}">
                      <a16:colId xmlns:a16="http://schemas.microsoft.com/office/drawing/2014/main" val="401935781"/>
                    </a:ext>
                  </a:extLst>
                </a:gridCol>
              </a:tblGrid>
              <a:tr h="890331">
                <a:tc>
                  <a:txBody>
                    <a:bodyPr/>
                    <a:lstStyle/>
                    <a:p>
                      <a:pPr algn="ctr"/>
                      <a:endParaRPr lang="en-US" dirty="0"/>
                    </a:p>
                    <a:p>
                      <a:pPr algn="ctr"/>
                      <a:r>
                        <a:rPr lang="en-US" dirty="0"/>
                        <a:t>AGE</a:t>
                      </a:r>
                      <a:endParaRPr lang="en-IN" dirty="0"/>
                    </a:p>
                  </a:txBody>
                  <a:tcPr/>
                </a:tc>
                <a:tc>
                  <a:txBody>
                    <a:bodyPr/>
                    <a:lstStyle/>
                    <a:p>
                      <a:pPr algn="ctr"/>
                      <a:r>
                        <a:rPr lang="en-US" dirty="0"/>
                        <a:t>UNDER 4 MONTHS</a:t>
                      </a:r>
                      <a:endParaRPr lang="en-IN" dirty="0"/>
                    </a:p>
                  </a:txBody>
                  <a:tcPr/>
                </a:tc>
                <a:tc>
                  <a:txBody>
                    <a:bodyPr/>
                    <a:lstStyle/>
                    <a:p>
                      <a:r>
                        <a:rPr lang="en-US" dirty="0"/>
                        <a:t>4-11 MONTHS</a:t>
                      </a:r>
                      <a:endParaRPr lang="en-IN" dirty="0"/>
                    </a:p>
                  </a:txBody>
                  <a:tcPr/>
                </a:tc>
                <a:tc>
                  <a:txBody>
                    <a:bodyPr/>
                    <a:lstStyle/>
                    <a:p>
                      <a:r>
                        <a:rPr lang="en-US" dirty="0"/>
                        <a:t>1 TO 2 YEARS</a:t>
                      </a:r>
                      <a:endParaRPr lang="en-IN" dirty="0"/>
                    </a:p>
                  </a:txBody>
                  <a:tcPr/>
                </a:tc>
                <a:tc>
                  <a:txBody>
                    <a:bodyPr/>
                    <a:lstStyle/>
                    <a:p>
                      <a:r>
                        <a:rPr lang="en-US" dirty="0"/>
                        <a:t>2 TO 4 YEARS</a:t>
                      </a:r>
                      <a:endParaRPr lang="en-IN" dirty="0"/>
                    </a:p>
                  </a:txBody>
                  <a:tcPr/>
                </a:tc>
                <a:tc>
                  <a:txBody>
                    <a:bodyPr/>
                    <a:lstStyle/>
                    <a:p>
                      <a:r>
                        <a:rPr lang="en-US" dirty="0"/>
                        <a:t>5-14 YEARS</a:t>
                      </a:r>
                      <a:endParaRPr lang="en-IN" dirty="0"/>
                    </a:p>
                  </a:txBody>
                  <a:tcPr/>
                </a:tc>
                <a:tc>
                  <a:txBody>
                    <a:bodyPr/>
                    <a:lstStyle/>
                    <a:p>
                      <a:r>
                        <a:rPr lang="en-US" dirty="0"/>
                        <a:t>15 YEARS OR ABOVE</a:t>
                      </a:r>
                      <a:endParaRPr lang="en-IN" dirty="0"/>
                    </a:p>
                  </a:txBody>
                  <a:tcPr/>
                </a:tc>
                <a:extLst>
                  <a:ext uri="{0D108BD9-81ED-4DB2-BD59-A6C34878D82A}">
                    <a16:rowId xmlns:a16="http://schemas.microsoft.com/office/drawing/2014/main" val="1388128416"/>
                  </a:ext>
                </a:extLst>
              </a:tr>
              <a:tr h="890331">
                <a:tc>
                  <a:txBody>
                    <a:bodyPr/>
                    <a:lstStyle/>
                    <a:p>
                      <a:pPr algn="ctr"/>
                      <a:r>
                        <a:rPr lang="en-US" b="1" dirty="0"/>
                        <a:t>WEIGHT </a:t>
                      </a:r>
                    </a:p>
                    <a:p>
                      <a:pPr algn="ctr"/>
                      <a:r>
                        <a:rPr lang="en-US" b="1" dirty="0"/>
                        <a:t>(IN KG)</a:t>
                      </a:r>
                      <a:endParaRPr lang="en-IN" b="1" dirty="0"/>
                    </a:p>
                  </a:txBody>
                  <a:tcPr/>
                </a:tc>
                <a:tc>
                  <a:txBody>
                    <a:bodyPr/>
                    <a:lstStyle/>
                    <a:p>
                      <a:pPr algn="ctr"/>
                      <a:r>
                        <a:rPr lang="en-US" sz="2000" dirty="0"/>
                        <a:t>UNDER 5 KG</a:t>
                      </a:r>
                      <a:endParaRPr lang="en-IN" sz="2000" dirty="0"/>
                    </a:p>
                  </a:txBody>
                  <a:tcPr/>
                </a:tc>
                <a:tc>
                  <a:txBody>
                    <a:bodyPr/>
                    <a:lstStyle/>
                    <a:p>
                      <a:pPr algn="ctr"/>
                      <a:r>
                        <a:rPr lang="en-US" sz="2000" dirty="0"/>
                        <a:t>5-7.9</a:t>
                      </a:r>
                      <a:endParaRPr lang="en-IN" sz="2000" dirty="0"/>
                    </a:p>
                  </a:txBody>
                  <a:tcPr/>
                </a:tc>
                <a:tc>
                  <a:txBody>
                    <a:bodyPr/>
                    <a:lstStyle/>
                    <a:p>
                      <a:pPr algn="ctr"/>
                      <a:r>
                        <a:rPr lang="en-US" sz="2000" dirty="0"/>
                        <a:t>2-10.9</a:t>
                      </a:r>
                      <a:endParaRPr lang="en-IN" sz="2000" dirty="0"/>
                    </a:p>
                  </a:txBody>
                  <a:tcPr/>
                </a:tc>
                <a:tc>
                  <a:txBody>
                    <a:bodyPr/>
                    <a:lstStyle/>
                    <a:p>
                      <a:r>
                        <a:rPr lang="en-US" sz="2000" dirty="0"/>
                        <a:t>11-15.9</a:t>
                      </a:r>
                      <a:endParaRPr lang="en-IN" sz="2000" dirty="0"/>
                    </a:p>
                  </a:txBody>
                  <a:tcPr/>
                </a:tc>
                <a:tc>
                  <a:txBody>
                    <a:bodyPr/>
                    <a:lstStyle/>
                    <a:p>
                      <a:pPr algn="ctr"/>
                      <a:r>
                        <a:rPr lang="en-US" sz="2000" dirty="0"/>
                        <a:t>16-29.9</a:t>
                      </a:r>
                      <a:endParaRPr lang="en-IN" sz="2000" dirty="0"/>
                    </a:p>
                  </a:txBody>
                  <a:tcPr/>
                </a:tc>
                <a:tc>
                  <a:txBody>
                    <a:bodyPr/>
                    <a:lstStyle/>
                    <a:p>
                      <a:pPr algn="ctr"/>
                      <a:r>
                        <a:rPr lang="en-US" sz="2000" dirty="0"/>
                        <a:t>30 OR ABOVE</a:t>
                      </a:r>
                      <a:endParaRPr lang="en-IN" sz="2000" dirty="0"/>
                    </a:p>
                  </a:txBody>
                  <a:tcPr/>
                </a:tc>
                <a:extLst>
                  <a:ext uri="{0D108BD9-81ED-4DB2-BD59-A6C34878D82A}">
                    <a16:rowId xmlns:a16="http://schemas.microsoft.com/office/drawing/2014/main" val="2922241781"/>
                  </a:ext>
                </a:extLst>
              </a:tr>
              <a:tr h="890331">
                <a:tc>
                  <a:txBody>
                    <a:bodyPr/>
                    <a:lstStyle/>
                    <a:p>
                      <a:pPr algn="ctr"/>
                      <a:r>
                        <a:rPr lang="en-US" b="1" dirty="0"/>
                        <a:t>ORS SOLUTION</a:t>
                      </a:r>
                      <a:endParaRPr lang="en-IN" b="1" dirty="0"/>
                    </a:p>
                  </a:txBody>
                  <a:tcPr/>
                </a:tc>
                <a:tc>
                  <a:txBody>
                    <a:bodyPr/>
                    <a:lstStyle/>
                    <a:p>
                      <a:pPr algn="ctr"/>
                      <a:r>
                        <a:rPr lang="en-US" sz="2000" dirty="0"/>
                        <a:t>200-400 ML</a:t>
                      </a:r>
                      <a:endParaRPr lang="en-IN" sz="2000" dirty="0"/>
                    </a:p>
                  </a:txBody>
                  <a:tcPr/>
                </a:tc>
                <a:tc>
                  <a:txBody>
                    <a:bodyPr/>
                    <a:lstStyle/>
                    <a:p>
                      <a:pPr algn="ctr"/>
                      <a:r>
                        <a:rPr lang="en-US" sz="2000" dirty="0"/>
                        <a:t>400-600 ML</a:t>
                      </a:r>
                      <a:endParaRPr lang="en-IN" sz="2000" dirty="0"/>
                    </a:p>
                  </a:txBody>
                  <a:tcPr/>
                </a:tc>
                <a:tc>
                  <a:txBody>
                    <a:bodyPr/>
                    <a:lstStyle/>
                    <a:p>
                      <a:pPr algn="ctr"/>
                      <a:r>
                        <a:rPr lang="en-US" sz="2000" dirty="0"/>
                        <a:t>600-800 ML</a:t>
                      </a:r>
                      <a:endParaRPr lang="en-IN" sz="2000" dirty="0"/>
                    </a:p>
                  </a:txBody>
                  <a:tcPr/>
                </a:tc>
                <a:tc>
                  <a:txBody>
                    <a:bodyPr/>
                    <a:lstStyle/>
                    <a:p>
                      <a:pPr algn="ctr"/>
                      <a:r>
                        <a:rPr lang="en-US" sz="2000" dirty="0"/>
                        <a:t>800-1200 ML</a:t>
                      </a:r>
                      <a:endParaRPr lang="en-IN" sz="2000" dirty="0"/>
                    </a:p>
                  </a:txBody>
                  <a:tcPr/>
                </a:tc>
                <a:tc>
                  <a:txBody>
                    <a:bodyPr/>
                    <a:lstStyle/>
                    <a:p>
                      <a:pPr algn="ctr"/>
                      <a:r>
                        <a:rPr lang="en-US" sz="2000" dirty="0"/>
                        <a:t>1200-2200 ML</a:t>
                      </a:r>
                      <a:endParaRPr lang="en-IN" sz="2000" dirty="0"/>
                    </a:p>
                  </a:txBody>
                  <a:tcPr/>
                </a:tc>
                <a:tc>
                  <a:txBody>
                    <a:bodyPr/>
                    <a:lstStyle/>
                    <a:p>
                      <a:pPr algn="ctr"/>
                      <a:r>
                        <a:rPr lang="en-US" sz="2000" dirty="0"/>
                        <a:t>2200-4000 ML</a:t>
                      </a:r>
                      <a:endParaRPr lang="en-IN" sz="2000" dirty="0"/>
                    </a:p>
                  </a:txBody>
                  <a:tcPr/>
                </a:tc>
                <a:extLst>
                  <a:ext uri="{0D108BD9-81ED-4DB2-BD59-A6C34878D82A}">
                    <a16:rowId xmlns:a16="http://schemas.microsoft.com/office/drawing/2014/main" val="1381337133"/>
                  </a:ext>
                </a:extLst>
              </a:tr>
            </a:tbl>
          </a:graphicData>
        </a:graphic>
      </p:graphicFrame>
      <p:sp>
        <p:nvSpPr>
          <p:cNvPr id="5" name="TextBox 4">
            <a:extLst>
              <a:ext uri="{FF2B5EF4-FFF2-40B4-BE49-F238E27FC236}">
                <a16:creationId xmlns:a16="http://schemas.microsoft.com/office/drawing/2014/main" id="{18D1791B-6A8C-140A-9BF8-29EF9D4DE7AD}"/>
              </a:ext>
            </a:extLst>
          </p:cNvPr>
          <p:cNvSpPr txBox="1"/>
          <p:nvPr/>
        </p:nvSpPr>
        <p:spPr>
          <a:xfrm>
            <a:off x="894736" y="5425099"/>
            <a:ext cx="9989574" cy="369332"/>
          </a:xfrm>
          <a:prstGeom prst="rect">
            <a:avLst/>
          </a:prstGeom>
          <a:noFill/>
        </p:spPr>
        <p:txBody>
          <a:bodyPr wrap="square" rtlCol="0">
            <a:spAutoFit/>
          </a:bodyPr>
          <a:lstStyle/>
          <a:p>
            <a:r>
              <a:rPr lang="en-US" b="1" dirty="0"/>
              <a:t>Amount of ORS Solution= weight of child (in kg) X 75 ml/kg</a:t>
            </a:r>
            <a:endParaRPr lang="en-IN" b="1" dirty="0"/>
          </a:p>
        </p:txBody>
      </p:sp>
    </p:spTree>
    <p:extLst>
      <p:ext uri="{BB962C8B-B14F-4D97-AF65-F5344CB8AC3E}">
        <p14:creationId xmlns:p14="http://schemas.microsoft.com/office/powerpoint/2010/main" val="330134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E189F6-F46B-7F99-1B2D-D8B469F632E7}"/>
              </a:ext>
            </a:extLst>
          </p:cNvPr>
          <p:cNvSpPr>
            <a:spLocks noGrp="1"/>
          </p:cNvSpPr>
          <p:nvPr>
            <p:ph idx="1"/>
          </p:nvPr>
        </p:nvSpPr>
        <p:spPr>
          <a:xfrm>
            <a:off x="993058" y="835742"/>
            <a:ext cx="10343536" cy="5112774"/>
          </a:xfrm>
        </p:spPr>
        <p:txBody>
          <a:bodyPr>
            <a:normAutofit/>
          </a:bodyPr>
          <a:lstStyle/>
          <a:p>
            <a:r>
              <a:rPr lang="en-US" sz="2400" dirty="0"/>
              <a:t>The actual amount given will depend on the patients desire to drink and by surveillance of signs of dehydration, keeping in mind the fact that greater amounts should be given to heavier patients, those with greater signs of dehydration and those who still have watery </a:t>
            </a:r>
            <a:r>
              <a:rPr lang="en-US" sz="2400" dirty="0" err="1"/>
              <a:t>diarrhoea</a:t>
            </a:r>
            <a:r>
              <a:rPr lang="en-US" sz="2400" dirty="0"/>
              <a:t> during rehydration. </a:t>
            </a:r>
          </a:p>
          <a:p>
            <a:r>
              <a:rPr lang="en-US" sz="2400" dirty="0"/>
              <a:t>The general rule is that patients should be given as much ORS solution as they want, and that signs of dehydration should be checked until they subside. </a:t>
            </a:r>
          </a:p>
          <a:p>
            <a:r>
              <a:rPr lang="en-US" sz="2400" dirty="0"/>
              <a:t>Older children and adults should be given as much water as they want, in addition to the ORS solution.</a:t>
            </a:r>
          </a:p>
          <a:p>
            <a:endParaRPr lang="en-IN" sz="2400" dirty="0"/>
          </a:p>
        </p:txBody>
      </p:sp>
    </p:spTree>
    <p:extLst>
      <p:ext uri="{BB962C8B-B14F-4D97-AF65-F5344CB8AC3E}">
        <p14:creationId xmlns:p14="http://schemas.microsoft.com/office/powerpoint/2010/main" val="3067408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CBB6F-8223-395D-09D9-EC00DE913A41}"/>
              </a:ext>
            </a:extLst>
          </p:cNvPr>
          <p:cNvSpPr>
            <a:spLocks noGrp="1"/>
          </p:cNvSpPr>
          <p:nvPr>
            <p:ph type="title"/>
          </p:nvPr>
        </p:nvSpPr>
        <p:spPr>
          <a:xfrm>
            <a:off x="1091381" y="433750"/>
            <a:ext cx="9930579" cy="1188720"/>
          </a:xfrm>
        </p:spPr>
        <p:txBody>
          <a:bodyPr/>
          <a:lstStyle/>
          <a:p>
            <a:pPr algn="l"/>
            <a:r>
              <a:rPr lang="en-US" dirty="0"/>
              <a:t>Mothers should be taught-</a:t>
            </a:r>
            <a:endParaRPr lang="en-IN" dirty="0"/>
          </a:p>
        </p:txBody>
      </p:sp>
      <p:sp>
        <p:nvSpPr>
          <p:cNvPr id="3" name="Content Placeholder 2">
            <a:extLst>
              <a:ext uri="{FF2B5EF4-FFF2-40B4-BE49-F238E27FC236}">
                <a16:creationId xmlns:a16="http://schemas.microsoft.com/office/drawing/2014/main" id="{D0997EB1-406E-42F2-C950-4C64936F6C1D}"/>
              </a:ext>
            </a:extLst>
          </p:cNvPr>
          <p:cNvSpPr>
            <a:spLocks noGrp="1"/>
          </p:cNvSpPr>
          <p:nvPr>
            <p:ph idx="1"/>
          </p:nvPr>
        </p:nvSpPr>
        <p:spPr>
          <a:xfrm>
            <a:off x="875071" y="2005782"/>
            <a:ext cx="10363200" cy="4168876"/>
          </a:xfrm>
        </p:spPr>
        <p:txBody>
          <a:bodyPr>
            <a:normAutofit fontScale="92500" lnSpcReduction="20000"/>
          </a:bodyPr>
          <a:lstStyle/>
          <a:p>
            <a:r>
              <a:rPr lang="en-US" sz="2000" dirty="0"/>
              <a:t>How to administer ORS solution to their children. It is best for a demonstration to be given by a nurse or by a health worker following which the mother feeds the solution to her child under their supervision respecting the following rules :- </a:t>
            </a:r>
          </a:p>
          <a:p>
            <a:r>
              <a:rPr lang="en-US" sz="2000" dirty="0"/>
              <a:t>For children under age 2 years, give a teaspoon every 1 to 2 minutes, and offer frequent sips out of a cup for older children. </a:t>
            </a:r>
          </a:p>
          <a:p>
            <a:r>
              <a:rPr lang="en-US" sz="2000" dirty="0"/>
              <a:t>Adults may drink as much as they like. Try to give the estimated required amount within a 4-hour period. </a:t>
            </a:r>
          </a:p>
          <a:p>
            <a:r>
              <a:rPr lang="en-US" sz="2000" dirty="0"/>
              <a:t>As a general guide, after each loose stool, give — </a:t>
            </a:r>
          </a:p>
          <a:p>
            <a:pPr lvl="1"/>
            <a:r>
              <a:rPr lang="en-US" sz="1800" dirty="0"/>
              <a:t>Children under 2 years of age : 50-100 ml (a quarter to half a large cup) of fluid; </a:t>
            </a:r>
          </a:p>
          <a:p>
            <a:pPr lvl="1"/>
            <a:r>
              <a:rPr lang="en-US" sz="1800" dirty="0"/>
              <a:t>Children aged 2 up to 10 years : 100-200 ml (a half to one large cup); </a:t>
            </a:r>
          </a:p>
          <a:p>
            <a:pPr lvl="1"/>
            <a:r>
              <a:rPr lang="en-US" sz="1800" dirty="0"/>
              <a:t>Older children and adults : as much fluid as they want.</a:t>
            </a:r>
          </a:p>
          <a:p>
            <a:r>
              <a:rPr lang="en-US" sz="2000" dirty="0"/>
              <a:t>If the child vomits, wait for 10 minutes, then try again, giving the solution slowly — a spoonful every 2 to 3 minutes.</a:t>
            </a:r>
            <a:endParaRPr lang="en-IN" sz="2000" dirty="0"/>
          </a:p>
        </p:txBody>
      </p:sp>
    </p:spTree>
    <p:extLst>
      <p:ext uri="{BB962C8B-B14F-4D97-AF65-F5344CB8AC3E}">
        <p14:creationId xmlns:p14="http://schemas.microsoft.com/office/powerpoint/2010/main" val="235724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0EFA9-93D1-41BD-324A-6D1F44759D95}"/>
              </a:ext>
            </a:extLst>
          </p:cNvPr>
          <p:cNvSpPr>
            <a:spLocks noGrp="1"/>
          </p:cNvSpPr>
          <p:nvPr>
            <p:ph idx="1"/>
          </p:nvPr>
        </p:nvSpPr>
        <p:spPr>
          <a:xfrm>
            <a:off x="1160206" y="806246"/>
            <a:ext cx="9979742" cy="4933782"/>
          </a:xfrm>
        </p:spPr>
        <p:txBody>
          <a:bodyPr>
            <a:normAutofit/>
          </a:bodyPr>
          <a:lstStyle/>
          <a:p>
            <a:r>
              <a:rPr lang="en-US" sz="2000" dirty="0"/>
              <a:t>If the child wants to drink more ORS solution than the estimated amount, and does not vomit, there can be no harm in feeding him/her more. If the child refuses to drink the required amount and signs of dehydration have disappeared, rehydration is completed. The treatment plan for non-dehydrated </a:t>
            </a:r>
            <a:r>
              <a:rPr lang="en-US" sz="2000" dirty="0" err="1"/>
              <a:t>diarrhoeic</a:t>
            </a:r>
            <a:r>
              <a:rPr lang="en-US" sz="2000" dirty="0"/>
              <a:t> children is then resumed. </a:t>
            </a:r>
          </a:p>
          <a:p>
            <a:r>
              <a:rPr lang="en-US" sz="2000" dirty="0"/>
              <a:t>If the child is breast-fed, nursing should be pursued during treatment with ORS solution.</a:t>
            </a:r>
          </a:p>
          <a:p>
            <a:r>
              <a:rPr lang="en-US" sz="2000" dirty="0"/>
              <a:t>The introduction of oral rehydration fluid has not only reduced the cost of treatment, but also made possible treatment of patients in their own homes by primary health workers or relatives of patient. </a:t>
            </a:r>
          </a:p>
          <a:p>
            <a:r>
              <a:rPr lang="en-US" sz="2000" dirty="0"/>
              <a:t>The ingredients required for the preparation of oral fluid are inexpensive and readily available, and the solution can be prepared with ordinary drinking water. </a:t>
            </a:r>
          </a:p>
          <a:p>
            <a:r>
              <a:rPr lang="en-US" sz="2000" dirty="0"/>
              <a:t>The development of oral rehydration therapy is a major breakthrough in the fight against cholera and other </a:t>
            </a:r>
            <a:r>
              <a:rPr lang="en-US" sz="2000" dirty="0" err="1"/>
              <a:t>diarrhoeal</a:t>
            </a:r>
            <a:r>
              <a:rPr lang="en-US" sz="2000" dirty="0"/>
              <a:t> diseases.</a:t>
            </a:r>
            <a:endParaRPr lang="en-IN" sz="2000" dirty="0"/>
          </a:p>
        </p:txBody>
      </p:sp>
    </p:spTree>
    <p:extLst>
      <p:ext uri="{BB962C8B-B14F-4D97-AF65-F5344CB8AC3E}">
        <p14:creationId xmlns:p14="http://schemas.microsoft.com/office/powerpoint/2010/main" val="3234029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8D93F-970F-D6AA-850E-13E610719753}"/>
              </a:ext>
            </a:extLst>
          </p:cNvPr>
          <p:cNvSpPr>
            <a:spLocks noGrp="1"/>
          </p:cNvSpPr>
          <p:nvPr>
            <p:ph idx="1"/>
          </p:nvPr>
        </p:nvSpPr>
        <p:spPr>
          <a:xfrm>
            <a:off x="963561" y="904568"/>
            <a:ext cx="10205884" cy="4835459"/>
          </a:xfrm>
        </p:spPr>
        <p:txBody>
          <a:bodyPr/>
          <a:lstStyle/>
          <a:p>
            <a:r>
              <a:rPr lang="en-US" sz="2000" dirty="0"/>
              <a:t>The infant’s usual diet of cereals, vegetables and other foods should be continued during </a:t>
            </a:r>
            <a:r>
              <a:rPr lang="en-US" sz="2000" dirty="0" err="1"/>
              <a:t>diarrhoea</a:t>
            </a:r>
            <a:r>
              <a:rPr lang="en-US" sz="2000" dirty="0"/>
              <a:t>, and increased afterwards. </a:t>
            </a:r>
          </a:p>
          <a:p>
            <a:r>
              <a:rPr lang="en-US" sz="2000" dirty="0"/>
              <a:t>Food should never be </a:t>
            </a:r>
            <a:r>
              <a:rPr lang="en-US" sz="2000" dirty="0" err="1"/>
              <a:t>witheld</a:t>
            </a:r>
            <a:r>
              <a:rPr lang="en-US" sz="2000" dirty="0"/>
              <a:t> and the child's usual food should never be diluted. </a:t>
            </a:r>
          </a:p>
          <a:p>
            <a:r>
              <a:rPr lang="en-US" sz="2000" dirty="0"/>
              <a:t>The aim is to give as much nutrient rich food as the child will accept. </a:t>
            </a:r>
          </a:p>
          <a:p>
            <a:r>
              <a:rPr lang="en-US" sz="2000" dirty="0"/>
              <a:t>Most children with watery </a:t>
            </a:r>
            <a:r>
              <a:rPr lang="en-US" sz="2000" dirty="0" err="1"/>
              <a:t>diarrhoea</a:t>
            </a:r>
            <a:r>
              <a:rPr lang="en-US" sz="2000" dirty="0"/>
              <a:t> regain their appetite after dehydration is corrected, whereas those with bloody </a:t>
            </a:r>
            <a:r>
              <a:rPr lang="en-US" sz="2000" dirty="0" err="1"/>
              <a:t>diarrhoea</a:t>
            </a:r>
            <a:r>
              <a:rPr lang="en-US" sz="2000" dirty="0"/>
              <a:t> often eat poorly until the illness resolves. </a:t>
            </a:r>
          </a:p>
          <a:p>
            <a:r>
              <a:rPr lang="en-US" sz="2000" dirty="0"/>
              <a:t>These children should be encouraged to resume normal feeding as soon as possible.</a:t>
            </a:r>
          </a:p>
          <a:p>
            <a:endParaRPr lang="en-IN" dirty="0"/>
          </a:p>
        </p:txBody>
      </p:sp>
    </p:spTree>
    <p:extLst>
      <p:ext uri="{BB962C8B-B14F-4D97-AF65-F5344CB8AC3E}">
        <p14:creationId xmlns:p14="http://schemas.microsoft.com/office/powerpoint/2010/main" val="2762620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EC86-4AC9-12F5-6A94-0A4222CA6795}"/>
              </a:ext>
            </a:extLst>
          </p:cNvPr>
          <p:cNvSpPr>
            <a:spLocks noGrp="1"/>
          </p:cNvSpPr>
          <p:nvPr>
            <p:ph type="title"/>
          </p:nvPr>
        </p:nvSpPr>
        <p:spPr>
          <a:xfrm>
            <a:off x="835741" y="523613"/>
            <a:ext cx="10422193" cy="1188720"/>
          </a:xfrm>
        </p:spPr>
        <p:txBody>
          <a:bodyPr/>
          <a:lstStyle/>
          <a:p>
            <a:r>
              <a:rPr lang="en-US" dirty="0"/>
              <a:t>INTRAVENOUS REHYDRATION</a:t>
            </a:r>
            <a:endParaRPr lang="en-IN" dirty="0"/>
          </a:p>
        </p:txBody>
      </p:sp>
      <p:sp>
        <p:nvSpPr>
          <p:cNvPr id="3" name="Content Placeholder 2">
            <a:extLst>
              <a:ext uri="{FF2B5EF4-FFF2-40B4-BE49-F238E27FC236}">
                <a16:creationId xmlns:a16="http://schemas.microsoft.com/office/drawing/2014/main" id="{0BC3092D-B3B2-84C8-163F-8670D6ECAC0D}"/>
              </a:ext>
            </a:extLst>
          </p:cNvPr>
          <p:cNvSpPr>
            <a:spLocks noGrp="1"/>
          </p:cNvSpPr>
          <p:nvPr>
            <p:ph idx="1"/>
          </p:nvPr>
        </p:nvSpPr>
        <p:spPr>
          <a:xfrm>
            <a:off x="835741" y="2123768"/>
            <a:ext cx="10422193" cy="4210619"/>
          </a:xfrm>
        </p:spPr>
        <p:txBody>
          <a:bodyPr>
            <a:noAutofit/>
          </a:bodyPr>
          <a:lstStyle/>
          <a:p>
            <a:r>
              <a:rPr lang="en-US" sz="2000" dirty="0"/>
              <a:t>Intravenous infusion is usually required only for the initial rehydration of severely dehydrated patients who are in shock or unable to drink. Such patients are best transferred to the nearest hospital or treatment </a:t>
            </a:r>
            <a:r>
              <a:rPr lang="en-US" sz="2000" dirty="0" err="1"/>
              <a:t>centre</a:t>
            </a:r>
            <a:r>
              <a:rPr lang="en-US" sz="2000" dirty="0"/>
              <a:t>. The solutions recommended by WHO for intravenous infusion are: </a:t>
            </a:r>
          </a:p>
          <a:p>
            <a:r>
              <a:rPr lang="en-US" sz="2000" dirty="0"/>
              <a:t>(a</a:t>
            </a:r>
            <a:r>
              <a:rPr lang="en-US" sz="2000" b="1" i="1" dirty="0"/>
              <a:t>) Ringer's lactate solution (also called Hartmann’s solution for injection) : </a:t>
            </a:r>
            <a:r>
              <a:rPr lang="en-US" sz="2000" dirty="0"/>
              <a:t>It is the best commercially available solution. It supplies adequate concentrations of sodium and potassium and the lactate yields bicarbonate for correction of the acidosis. It can be used to correct dehydration due to acute </a:t>
            </a:r>
            <a:r>
              <a:rPr lang="en-US" sz="2000" dirty="0" err="1"/>
              <a:t>diarrhoea</a:t>
            </a:r>
            <a:r>
              <a:rPr lang="en-US" sz="2000" dirty="0"/>
              <a:t> of all causes.</a:t>
            </a:r>
          </a:p>
          <a:p>
            <a:r>
              <a:rPr lang="en-IN" sz="2000" dirty="0"/>
              <a:t>(b) </a:t>
            </a:r>
            <a:r>
              <a:rPr lang="en-IN" sz="2000" b="1" i="1" dirty="0"/>
              <a:t>Diarrhoea Treatment Solution (DTS): </a:t>
            </a:r>
            <a:r>
              <a:rPr lang="en-IN" sz="2000" dirty="0"/>
              <a:t>Also recommended by WHO as an ideal polyelectrolyte solution for intravenous infusion. It contains in one litre, sodium chloride 4 g sodium acetate 6.5 g potassium chloride 1 g and glucose 10 g . It must meet purity and sterility requirements of fluid for injection.</a:t>
            </a:r>
          </a:p>
        </p:txBody>
      </p:sp>
    </p:spTree>
    <p:extLst>
      <p:ext uri="{BB962C8B-B14F-4D97-AF65-F5344CB8AC3E}">
        <p14:creationId xmlns:p14="http://schemas.microsoft.com/office/powerpoint/2010/main" val="10573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4115EB-466A-6230-F356-14EDE7BEB715}"/>
              </a:ext>
            </a:extLst>
          </p:cNvPr>
          <p:cNvSpPr>
            <a:spLocks noGrp="1"/>
          </p:cNvSpPr>
          <p:nvPr>
            <p:ph idx="1"/>
          </p:nvPr>
        </p:nvSpPr>
        <p:spPr>
          <a:xfrm>
            <a:off x="884903" y="639098"/>
            <a:ext cx="10255045" cy="5100930"/>
          </a:xfrm>
        </p:spPr>
        <p:txBody>
          <a:bodyPr/>
          <a:lstStyle/>
          <a:p>
            <a:r>
              <a:rPr lang="en-US" sz="2000" dirty="0"/>
              <a:t>If nothing else is available, normal saline can be given because it is often readily available. </a:t>
            </a:r>
          </a:p>
          <a:p>
            <a:r>
              <a:rPr lang="en-US" sz="2000" dirty="0"/>
              <a:t>Normal saline is the poorest fluid because it will not correct the acidosis and will not replace potassium losses. It should be replaced by the above solutions as early as possible. </a:t>
            </a:r>
          </a:p>
          <a:p>
            <a:r>
              <a:rPr lang="en-US" sz="2000" dirty="0"/>
              <a:t>Plain glucose and dextrose solutions should not be used as they provide only water and glucose.</a:t>
            </a:r>
          </a:p>
          <a:p>
            <a:pPr marL="0" indent="0" algn="ctr">
              <a:buNone/>
            </a:pPr>
            <a:r>
              <a:rPr lang="en-US" sz="2400" b="1" i="1" dirty="0"/>
              <a:t>Treatment plan for rehydration therapy</a:t>
            </a:r>
          </a:p>
          <a:p>
            <a:pPr marL="0" indent="0">
              <a:buNone/>
            </a:pPr>
            <a:endParaRPr lang="en-IN" sz="2400" b="1" i="1" dirty="0"/>
          </a:p>
        </p:txBody>
      </p:sp>
      <p:graphicFrame>
        <p:nvGraphicFramePr>
          <p:cNvPr id="4" name="Table 3">
            <a:extLst>
              <a:ext uri="{FF2B5EF4-FFF2-40B4-BE49-F238E27FC236}">
                <a16:creationId xmlns:a16="http://schemas.microsoft.com/office/drawing/2014/main" id="{3B181DAF-0E4E-5BCD-E366-7D48863A8851}"/>
              </a:ext>
            </a:extLst>
          </p:cNvPr>
          <p:cNvGraphicFramePr>
            <a:graphicFrameLocks noGrp="1"/>
          </p:cNvGraphicFramePr>
          <p:nvPr>
            <p:extLst>
              <p:ext uri="{D42A27DB-BD31-4B8C-83A1-F6EECF244321}">
                <p14:modId xmlns:p14="http://schemas.microsoft.com/office/powerpoint/2010/main" val="2560723875"/>
              </p:ext>
            </p:extLst>
          </p:nvPr>
        </p:nvGraphicFramePr>
        <p:xfrm>
          <a:off x="1130709" y="3429000"/>
          <a:ext cx="9763431" cy="2783940"/>
        </p:xfrm>
        <a:graphic>
          <a:graphicData uri="http://schemas.openxmlformats.org/drawingml/2006/table">
            <a:tbl>
              <a:tblPr firstRow="1" bandRow="1">
                <a:tableStyleId>{8799B23B-EC83-4686-B30A-512413B5E67A}</a:tableStyleId>
              </a:tblPr>
              <a:tblGrid>
                <a:gridCol w="3254477">
                  <a:extLst>
                    <a:ext uri="{9D8B030D-6E8A-4147-A177-3AD203B41FA5}">
                      <a16:colId xmlns:a16="http://schemas.microsoft.com/office/drawing/2014/main" val="2234845717"/>
                    </a:ext>
                  </a:extLst>
                </a:gridCol>
                <a:gridCol w="3254477">
                  <a:extLst>
                    <a:ext uri="{9D8B030D-6E8A-4147-A177-3AD203B41FA5}">
                      <a16:colId xmlns:a16="http://schemas.microsoft.com/office/drawing/2014/main" val="3918625650"/>
                    </a:ext>
                  </a:extLst>
                </a:gridCol>
                <a:gridCol w="3254477">
                  <a:extLst>
                    <a:ext uri="{9D8B030D-6E8A-4147-A177-3AD203B41FA5}">
                      <a16:colId xmlns:a16="http://schemas.microsoft.com/office/drawing/2014/main" val="3795097413"/>
                    </a:ext>
                  </a:extLst>
                </a:gridCol>
              </a:tblGrid>
              <a:tr h="889050">
                <a:tc>
                  <a:txBody>
                    <a:bodyPr/>
                    <a:lstStyle/>
                    <a:p>
                      <a:pPr algn="ctr"/>
                      <a:endParaRPr lang="en-US" sz="2000" dirty="0"/>
                    </a:p>
                    <a:p>
                      <a:pPr algn="ctr"/>
                      <a:r>
                        <a:rPr lang="en-US" sz="2000" dirty="0"/>
                        <a:t>AGE</a:t>
                      </a:r>
                      <a:endParaRPr lang="en-IN" sz="2000" dirty="0"/>
                    </a:p>
                  </a:txBody>
                  <a:tcPr/>
                </a:tc>
                <a:tc>
                  <a:txBody>
                    <a:bodyPr/>
                    <a:lstStyle/>
                    <a:p>
                      <a:pPr algn="ctr"/>
                      <a:r>
                        <a:rPr lang="en-US" sz="2000" dirty="0"/>
                        <a:t>First give 30 ml/kg in</a:t>
                      </a:r>
                      <a:endParaRPr lang="en-IN" sz="2000" dirty="0"/>
                    </a:p>
                  </a:txBody>
                  <a:tcPr/>
                </a:tc>
                <a:tc>
                  <a:txBody>
                    <a:bodyPr/>
                    <a:lstStyle/>
                    <a:p>
                      <a:pPr algn="ctr"/>
                      <a:r>
                        <a:rPr lang="en-US" sz="2000" dirty="0"/>
                        <a:t>Then give 70 ml/kg in</a:t>
                      </a:r>
                      <a:endParaRPr lang="en-IN" sz="2000" dirty="0"/>
                    </a:p>
                  </a:txBody>
                  <a:tcPr/>
                </a:tc>
                <a:extLst>
                  <a:ext uri="{0D108BD9-81ED-4DB2-BD59-A6C34878D82A}">
                    <a16:rowId xmlns:a16="http://schemas.microsoft.com/office/drawing/2014/main" val="2388077370"/>
                  </a:ext>
                </a:extLst>
              </a:tr>
              <a:tr h="955805">
                <a:tc>
                  <a:txBody>
                    <a:bodyPr/>
                    <a:lstStyle/>
                    <a:p>
                      <a:pPr algn="ctr"/>
                      <a:endParaRPr lang="en-US" sz="2000" b="1" dirty="0"/>
                    </a:p>
                    <a:p>
                      <a:pPr algn="ctr"/>
                      <a:r>
                        <a:rPr lang="en-US" sz="2000" b="1" dirty="0"/>
                        <a:t>INFANTS (UNDER 12 MONTHS)</a:t>
                      </a:r>
                      <a:endParaRPr lang="en-IN" sz="2000" b="1" dirty="0"/>
                    </a:p>
                  </a:txBody>
                  <a:tcPr/>
                </a:tc>
                <a:tc>
                  <a:txBody>
                    <a:bodyPr/>
                    <a:lstStyle/>
                    <a:p>
                      <a:pPr algn="ctr"/>
                      <a:endParaRPr lang="en-US" sz="2000" b="1" dirty="0"/>
                    </a:p>
                    <a:p>
                      <a:pPr algn="ctr"/>
                      <a:r>
                        <a:rPr lang="en-US" sz="2000" b="1" dirty="0"/>
                        <a:t>1 hour</a:t>
                      </a:r>
                      <a:endParaRPr lang="en-IN" sz="2000" b="1" dirty="0"/>
                    </a:p>
                  </a:txBody>
                  <a:tcPr/>
                </a:tc>
                <a:tc>
                  <a:txBody>
                    <a:bodyPr/>
                    <a:lstStyle/>
                    <a:p>
                      <a:pPr algn="ctr"/>
                      <a:endParaRPr lang="en-US" sz="2000" b="1" dirty="0"/>
                    </a:p>
                    <a:p>
                      <a:pPr algn="ctr"/>
                      <a:r>
                        <a:rPr lang="en-US" sz="2000" b="1" dirty="0"/>
                        <a:t>5 hours</a:t>
                      </a:r>
                      <a:endParaRPr lang="en-IN" sz="2000" b="1" dirty="0"/>
                    </a:p>
                  </a:txBody>
                  <a:tcPr/>
                </a:tc>
                <a:extLst>
                  <a:ext uri="{0D108BD9-81ED-4DB2-BD59-A6C34878D82A}">
                    <a16:rowId xmlns:a16="http://schemas.microsoft.com/office/drawing/2014/main" val="449489681"/>
                  </a:ext>
                </a:extLst>
              </a:tr>
              <a:tr h="889050">
                <a:tc>
                  <a:txBody>
                    <a:bodyPr/>
                    <a:lstStyle/>
                    <a:p>
                      <a:pPr algn="ctr"/>
                      <a:endParaRPr lang="en-US" sz="2000" b="1" dirty="0"/>
                    </a:p>
                    <a:p>
                      <a:pPr algn="ctr"/>
                      <a:r>
                        <a:rPr lang="en-US" sz="2000" b="1" dirty="0"/>
                        <a:t>OLDER</a:t>
                      </a:r>
                      <a:endParaRPr lang="en-IN" sz="2000" b="1" dirty="0"/>
                    </a:p>
                  </a:txBody>
                  <a:tcPr/>
                </a:tc>
                <a:tc>
                  <a:txBody>
                    <a:bodyPr/>
                    <a:lstStyle/>
                    <a:p>
                      <a:pPr algn="ctr"/>
                      <a:endParaRPr lang="en-US" sz="2000" b="1" dirty="0"/>
                    </a:p>
                    <a:p>
                      <a:pPr algn="ctr"/>
                      <a:r>
                        <a:rPr lang="en-US" sz="2000" b="1" dirty="0"/>
                        <a:t>30 minutes</a:t>
                      </a:r>
                      <a:endParaRPr lang="en-IN" sz="2000" b="1" dirty="0"/>
                    </a:p>
                  </a:txBody>
                  <a:tcPr/>
                </a:tc>
                <a:tc>
                  <a:txBody>
                    <a:bodyPr/>
                    <a:lstStyle/>
                    <a:p>
                      <a:pPr algn="ctr"/>
                      <a:endParaRPr lang="en-US" sz="2000" b="1" dirty="0"/>
                    </a:p>
                    <a:p>
                      <a:pPr algn="ctr"/>
                      <a:r>
                        <a:rPr lang="en-US" sz="2000" b="1" dirty="0"/>
                        <a:t>2 ½ hours</a:t>
                      </a:r>
                      <a:endParaRPr lang="en-IN" sz="2000" b="1" dirty="0"/>
                    </a:p>
                  </a:txBody>
                  <a:tcPr/>
                </a:tc>
                <a:extLst>
                  <a:ext uri="{0D108BD9-81ED-4DB2-BD59-A6C34878D82A}">
                    <a16:rowId xmlns:a16="http://schemas.microsoft.com/office/drawing/2014/main" val="2444021040"/>
                  </a:ext>
                </a:extLst>
              </a:tr>
            </a:tbl>
          </a:graphicData>
        </a:graphic>
      </p:graphicFrame>
    </p:spTree>
    <p:extLst>
      <p:ext uri="{BB962C8B-B14F-4D97-AF65-F5344CB8AC3E}">
        <p14:creationId xmlns:p14="http://schemas.microsoft.com/office/powerpoint/2010/main" val="2580984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FA9EF-F53E-DAF7-015E-0A3F295F56B9}"/>
              </a:ext>
            </a:extLst>
          </p:cNvPr>
          <p:cNvSpPr>
            <a:spLocks noGrp="1"/>
          </p:cNvSpPr>
          <p:nvPr>
            <p:ph type="title"/>
          </p:nvPr>
        </p:nvSpPr>
        <p:spPr>
          <a:xfrm>
            <a:off x="953729" y="404253"/>
            <a:ext cx="10196052" cy="1188720"/>
          </a:xfrm>
        </p:spPr>
        <p:txBody>
          <a:bodyPr/>
          <a:lstStyle/>
          <a:p>
            <a:r>
              <a:rPr lang="en-IN" dirty="0"/>
              <a:t>maintenance therapy</a:t>
            </a:r>
          </a:p>
        </p:txBody>
      </p:sp>
      <p:sp>
        <p:nvSpPr>
          <p:cNvPr id="3" name="Content Placeholder 2">
            <a:extLst>
              <a:ext uri="{FF2B5EF4-FFF2-40B4-BE49-F238E27FC236}">
                <a16:creationId xmlns:a16="http://schemas.microsoft.com/office/drawing/2014/main" id="{3C39E9AB-911A-7562-614B-ECECAF070431}"/>
              </a:ext>
            </a:extLst>
          </p:cNvPr>
          <p:cNvSpPr>
            <a:spLocks noGrp="1"/>
          </p:cNvSpPr>
          <p:nvPr>
            <p:ph idx="1"/>
          </p:nvPr>
        </p:nvSpPr>
        <p:spPr>
          <a:xfrm>
            <a:off x="953729" y="1750142"/>
            <a:ext cx="10284542" cy="4375355"/>
          </a:xfrm>
        </p:spPr>
        <p:txBody>
          <a:bodyPr/>
          <a:lstStyle/>
          <a:p>
            <a:r>
              <a:rPr lang="en-US" sz="2000" dirty="0"/>
              <a:t>After the initial fluid and electrolyte deficit has been corrected and older children, thirst is an adequate guide for fluid needs; they can be told to drink as much as they want to satisfy their thirst. </a:t>
            </a:r>
          </a:p>
          <a:p>
            <a:r>
              <a:rPr lang="en-US" sz="2000" dirty="0"/>
              <a:t>The general principle is that the oral fluid intake should equal the rate of continuing stool loss, which should be measured. </a:t>
            </a:r>
          </a:p>
          <a:p>
            <a:r>
              <a:rPr lang="en-US" sz="2000" dirty="0"/>
              <a:t>Diarrhea usually lasts for 1 or 2 days.</a:t>
            </a:r>
          </a:p>
          <a:p>
            <a:pPr marL="0" indent="0" algn="ctr">
              <a:buNone/>
            </a:pPr>
            <a:r>
              <a:rPr lang="en-IN" sz="2000" dirty="0"/>
              <a:t>Maintenance therapy</a:t>
            </a:r>
            <a:endParaRPr lang="en-US" sz="2000" dirty="0"/>
          </a:p>
          <a:p>
            <a:pPr marL="0" indent="0" algn="ctr">
              <a:buNone/>
            </a:pPr>
            <a:endParaRPr lang="en-IN" dirty="0"/>
          </a:p>
        </p:txBody>
      </p:sp>
      <p:graphicFrame>
        <p:nvGraphicFramePr>
          <p:cNvPr id="4" name="Table 3">
            <a:extLst>
              <a:ext uri="{FF2B5EF4-FFF2-40B4-BE49-F238E27FC236}">
                <a16:creationId xmlns:a16="http://schemas.microsoft.com/office/drawing/2014/main" id="{B25D697F-94AB-CA0F-D4D6-8B2955B2BBC5}"/>
              </a:ext>
            </a:extLst>
          </p:cNvPr>
          <p:cNvGraphicFramePr>
            <a:graphicFrameLocks noGrp="1"/>
          </p:cNvGraphicFramePr>
          <p:nvPr>
            <p:extLst>
              <p:ext uri="{D42A27DB-BD31-4B8C-83A1-F6EECF244321}">
                <p14:modId xmlns:p14="http://schemas.microsoft.com/office/powerpoint/2010/main" val="3184340343"/>
              </p:ext>
            </p:extLst>
          </p:nvPr>
        </p:nvGraphicFramePr>
        <p:xfrm>
          <a:off x="953729" y="4478593"/>
          <a:ext cx="10196052" cy="1809301"/>
        </p:xfrm>
        <a:graphic>
          <a:graphicData uri="http://schemas.openxmlformats.org/drawingml/2006/table">
            <a:tbl>
              <a:tblPr firstRow="1" bandRow="1">
                <a:tableStyleId>{8799B23B-EC83-4686-B30A-512413B5E67A}</a:tableStyleId>
              </a:tblPr>
              <a:tblGrid>
                <a:gridCol w="5098026">
                  <a:extLst>
                    <a:ext uri="{9D8B030D-6E8A-4147-A177-3AD203B41FA5}">
                      <a16:colId xmlns:a16="http://schemas.microsoft.com/office/drawing/2014/main" val="952884462"/>
                    </a:ext>
                  </a:extLst>
                </a:gridCol>
                <a:gridCol w="5098026">
                  <a:extLst>
                    <a:ext uri="{9D8B030D-6E8A-4147-A177-3AD203B41FA5}">
                      <a16:colId xmlns:a16="http://schemas.microsoft.com/office/drawing/2014/main" val="3279225065"/>
                    </a:ext>
                  </a:extLst>
                </a:gridCol>
              </a:tblGrid>
              <a:tr h="360532">
                <a:tc>
                  <a:txBody>
                    <a:bodyPr/>
                    <a:lstStyle/>
                    <a:p>
                      <a:r>
                        <a:rPr lang="en-US" dirty="0"/>
                        <a:t>Amount of Diarrhea</a:t>
                      </a:r>
                      <a:endParaRPr lang="en-IN" dirty="0"/>
                    </a:p>
                  </a:txBody>
                  <a:tcPr/>
                </a:tc>
                <a:tc>
                  <a:txBody>
                    <a:bodyPr/>
                    <a:lstStyle/>
                    <a:p>
                      <a:r>
                        <a:rPr lang="en-US" dirty="0"/>
                        <a:t>Amount of Oral Fluid</a:t>
                      </a:r>
                      <a:endParaRPr lang="en-IN" dirty="0"/>
                    </a:p>
                  </a:txBody>
                  <a:tcPr/>
                </a:tc>
                <a:extLst>
                  <a:ext uri="{0D108BD9-81ED-4DB2-BD59-A6C34878D82A}">
                    <a16:rowId xmlns:a16="http://schemas.microsoft.com/office/drawing/2014/main" val="2096052942"/>
                  </a:ext>
                </a:extLst>
              </a:tr>
              <a:tr h="788928">
                <a:tc>
                  <a:txBody>
                    <a:bodyPr/>
                    <a:lstStyle/>
                    <a:p>
                      <a:r>
                        <a:rPr lang="en-US" dirty="0"/>
                        <a:t>Mild diarrhea (not more than one stool every 2 hours or longer, or less than 5 ml stool per kg per hour)</a:t>
                      </a:r>
                      <a:endParaRPr lang="en-IN" dirty="0"/>
                    </a:p>
                  </a:txBody>
                  <a:tcPr/>
                </a:tc>
                <a:tc>
                  <a:txBody>
                    <a:bodyPr/>
                    <a:lstStyle/>
                    <a:p>
                      <a:r>
                        <a:rPr lang="en-US" dirty="0"/>
                        <a:t>100 ml/kg body weight per day until diarrhea stops</a:t>
                      </a:r>
                      <a:endParaRPr lang="en-IN" dirty="0"/>
                    </a:p>
                  </a:txBody>
                  <a:tcPr/>
                </a:tc>
                <a:extLst>
                  <a:ext uri="{0D108BD9-81ED-4DB2-BD59-A6C34878D82A}">
                    <a16:rowId xmlns:a16="http://schemas.microsoft.com/office/drawing/2014/main" val="2057457441"/>
                  </a:ext>
                </a:extLst>
              </a:tr>
              <a:tr h="654613">
                <a:tc>
                  <a:txBody>
                    <a:bodyPr/>
                    <a:lstStyle/>
                    <a:p>
                      <a:r>
                        <a:rPr lang="en-US" dirty="0"/>
                        <a:t>Severe Diarrhea (more than one stool every two hours, or more than 5 ml of stool per kg per hour)</a:t>
                      </a:r>
                      <a:endParaRPr lang="en-IN" dirty="0"/>
                    </a:p>
                  </a:txBody>
                  <a:tcPr/>
                </a:tc>
                <a:tc>
                  <a:txBody>
                    <a:bodyPr/>
                    <a:lstStyle/>
                    <a:p>
                      <a:r>
                        <a:rPr lang="en-US" dirty="0"/>
                        <a:t>Replace stool losses volume for volume; if not measurable give 10-15 ml/kg body weight per hour</a:t>
                      </a:r>
                      <a:endParaRPr lang="en-IN" dirty="0"/>
                    </a:p>
                  </a:txBody>
                  <a:tcPr/>
                </a:tc>
                <a:extLst>
                  <a:ext uri="{0D108BD9-81ED-4DB2-BD59-A6C34878D82A}">
                    <a16:rowId xmlns:a16="http://schemas.microsoft.com/office/drawing/2014/main" val="1941779544"/>
                  </a:ext>
                </a:extLst>
              </a:tr>
            </a:tbl>
          </a:graphicData>
        </a:graphic>
      </p:graphicFrame>
    </p:spTree>
    <p:extLst>
      <p:ext uri="{BB962C8B-B14F-4D97-AF65-F5344CB8AC3E}">
        <p14:creationId xmlns:p14="http://schemas.microsoft.com/office/powerpoint/2010/main" val="3711211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6E599D-6FE7-E7AF-96D3-377478F78F80}"/>
              </a:ext>
            </a:extLst>
          </p:cNvPr>
          <p:cNvSpPr>
            <a:spLocks noGrp="1"/>
          </p:cNvSpPr>
          <p:nvPr>
            <p:ph idx="1"/>
          </p:nvPr>
        </p:nvSpPr>
        <p:spPr>
          <a:xfrm>
            <a:off x="963561" y="1582994"/>
            <a:ext cx="10255045" cy="4454012"/>
          </a:xfrm>
        </p:spPr>
        <p:txBody>
          <a:bodyPr>
            <a:normAutofit/>
          </a:bodyPr>
          <a:lstStyle/>
          <a:p>
            <a:r>
              <a:rPr lang="en-US" sz="2000" b="1" dirty="0"/>
              <a:t>APPROPRIATE FEEDING : </a:t>
            </a:r>
            <a:r>
              <a:rPr lang="en-US" sz="2000" dirty="0"/>
              <a:t>The current view is that during episodes of diarrhea, normal food intake should be promoted as soon as the child whatever its age, is able to eat. </a:t>
            </a:r>
          </a:p>
          <a:p>
            <a:r>
              <a:rPr lang="en-US" sz="2000" dirty="0"/>
              <a:t>This is especially relevant for the exclusively breast-fed infants. Newborn infants with diarrhea who show little or no signs of dehydration can be treated by breast-feeding alone. </a:t>
            </a:r>
          </a:p>
          <a:p>
            <a:r>
              <a:rPr lang="en-US" sz="2000" dirty="0"/>
              <a:t>Those with moderate or severe dehydration should receive oral rehydration solution. Breast-feeding is continued along with oral rehydration solution given after each liquid stool. </a:t>
            </a:r>
          </a:p>
          <a:p>
            <a:r>
              <a:rPr lang="en-US" sz="2000" dirty="0"/>
              <a:t>Not only breast milk helps the infant to recover from an attack of diarrhea both in terms of the nutrients it supplies, and its rehydrating effect, but it helps to prevent further infection because it has protective properties.</a:t>
            </a:r>
            <a:endParaRPr lang="en-IN" sz="2000" dirty="0"/>
          </a:p>
        </p:txBody>
      </p:sp>
    </p:spTree>
    <p:extLst>
      <p:ext uri="{BB962C8B-B14F-4D97-AF65-F5344CB8AC3E}">
        <p14:creationId xmlns:p14="http://schemas.microsoft.com/office/powerpoint/2010/main" val="2448831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918246-DBAC-B499-B5EB-720B3B3454D7}"/>
              </a:ext>
            </a:extLst>
          </p:cNvPr>
          <p:cNvSpPr>
            <a:spLocks noGrp="1"/>
          </p:cNvSpPr>
          <p:nvPr>
            <p:ph idx="1"/>
          </p:nvPr>
        </p:nvSpPr>
        <p:spPr>
          <a:xfrm>
            <a:off x="894735" y="747252"/>
            <a:ext cx="10441859" cy="5407742"/>
          </a:xfrm>
        </p:spPr>
        <p:txBody>
          <a:bodyPr/>
          <a:lstStyle/>
          <a:p>
            <a:r>
              <a:rPr lang="en-US" sz="2000" b="1" dirty="0"/>
              <a:t>CHEMOTHERAPY : </a:t>
            </a:r>
            <a:r>
              <a:rPr lang="en-US" sz="2000" dirty="0"/>
              <a:t>Unnecessary prescription of antibiotics and other drugs will do more harm than good in the treatment of </a:t>
            </a:r>
            <a:r>
              <a:rPr lang="en-US" sz="2000" dirty="0" err="1"/>
              <a:t>diarrhoea</a:t>
            </a:r>
            <a:r>
              <a:rPr lang="en-US" sz="2000" dirty="0"/>
              <a:t>.  </a:t>
            </a:r>
          </a:p>
          <a:p>
            <a:r>
              <a:rPr lang="en-US" sz="2000" dirty="0"/>
              <a:t>Antibiotics should be considered where the cause of </a:t>
            </a:r>
            <a:r>
              <a:rPr lang="en-US" sz="2000" dirty="0" err="1"/>
              <a:t>diarrhoea</a:t>
            </a:r>
            <a:r>
              <a:rPr lang="en-US" sz="2000" dirty="0"/>
              <a:t> has been clearly identified as shigella, typhoid or cholera.</a:t>
            </a:r>
          </a:p>
          <a:p>
            <a:pPr marL="0" indent="0" algn="ctr">
              <a:buNone/>
            </a:pPr>
            <a:r>
              <a:rPr lang="en-US" sz="2000" b="1" dirty="0"/>
              <a:t>Symptomatic differential diagnosis of shigella and cholera</a:t>
            </a:r>
          </a:p>
          <a:p>
            <a:pPr marL="0" indent="0">
              <a:buNone/>
            </a:pPr>
            <a:endParaRPr lang="en-IN" dirty="0"/>
          </a:p>
        </p:txBody>
      </p:sp>
      <p:graphicFrame>
        <p:nvGraphicFramePr>
          <p:cNvPr id="4" name="Table 3">
            <a:extLst>
              <a:ext uri="{FF2B5EF4-FFF2-40B4-BE49-F238E27FC236}">
                <a16:creationId xmlns:a16="http://schemas.microsoft.com/office/drawing/2014/main" id="{73310929-C1BE-C635-A84D-9983DEB110B3}"/>
              </a:ext>
            </a:extLst>
          </p:cNvPr>
          <p:cNvGraphicFramePr>
            <a:graphicFrameLocks noGrp="1"/>
          </p:cNvGraphicFramePr>
          <p:nvPr>
            <p:extLst>
              <p:ext uri="{D42A27DB-BD31-4B8C-83A1-F6EECF244321}">
                <p14:modId xmlns:p14="http://schemas.microsoft.com/office/powerpoint/2010/main" val="4213389417"/>
              </p:ext>
            </p:extLst>
          </p:nvPr>
        </p:nvGraphicFramePr>
        <p:xfrm>
          <a:off x="2032000" y="2801647"/>
          <a:ext cx="8127999" cy="30784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494783040"/>
                    </a:ext>
                  </a:extLst>
                </a:gridCol>
                <a:gridCol w="2709333">
                  <a:extLst>
                    <a:ext uri="{9D8B030D-6E8A-4147-A177-3AD203B41FA5}">
                      <a16:colId xmlns:a16="http://schemas.microsoft.com/office/drawing/2014/main" val="1365063878"/>
                    </a:ext>
                  </a:extLst>
                </a:gridCol>
                <a:gridCol w="2709333">
                  <a:extLst>
                    <a:ext uri="{9D8B030D-6E8A-4147-A177-3AD203B41FA5}">
                      <a16:colId xmlns:a16="http://schemas.microsoft.com/office/drawing/2014/main" val="2652975097"/>
                    </a:ext>
                  </a:extLst>
                </a:gridCol>
              </a:tblGrid>
              <a:tr h="370840">
                <a:tc>
                  <a:txBody>
                    <a:bodyPr/>
                    <a:lstStyle/>
                    <a:p>
                      <a:pPr algn="ctr"/>
                      <a:r>
                        <a:rPr lang="en-US" sz="2000" dirty="0"/>
                        <a:t>Symptoms</a:t>
                      </a:r>
                      <a:endParaRPr lang="en-IN" sz="2000" dirty="0"/>
                    </a:p>
                  </a:txBody>
                  <a:tcPr/>
                </a:tc>
                <a:tc>
                  <a:txBody>
                    <a:bodyPr/>
                    <a:lstStyle/>
                    <a:p>
                      <a:pPr algn="ctr"/>
                      <a:r>
                        <a:rPr lang="en-US" sz="2000" dirty="0"/>
                        <a:t>Cholera</a:t>
                      </a:r>
                      <a:endParaRPr lang="en-IN" sz="2000" dirty="0"/>
                    </a:p>
                  </a:txBody>
                  <a:tcPr/>
                </a:tc>
                <a:tc>
                  <a:txBody>
                    <a:bodyPr/>
                    <a:lstStyle/>
                    <a:p>
                      <a:pPr algn="ctr"/>
                      <a:r>
                        <a:rPr lang="en-US" sz="2000" dirty="0"/>
                        <a:t>Shigella</a:t>
                      </a:r>
                      <a:endParaRPr lang="en-IN" sz="2000" dirty="0"/>
                    </a:p>
                  </a:txBody>
                  <a:tcPr/>
                </a:tc>
                <a:extLst>
                  <a:ext uri="{0D108BD9-81ED-4DB2-BD59-A6C34878D82A}">
                    <a16:rowId xmlns:a16="http://schemas.microsoft.com/office/drawing/2014/main" val="1249520379"/>
                  </a:ext>
                </a:extLst>
              </a:tr>
              <a:tr h="370840">
                <a:tc>
                  <a:txBody>
                    <a:bodyPr/>
                    <a:lstStyle/>
                    <a:p>
                      <a:pPr algn="ctr"/>
                      <a:r>
                        <a:rPr lang="en-US" sz="2000" dirty="0" err="1"/>
                        <a:t>Diarrhoea</a:t>
                      </a:r>
                      <a:endParaRPr lang="en-IN" sz="2000" dirty="0"/>
                    </a:p>
                  </a:txBody>
                  <a:tcPr/>
                </a:tc>
                <a:tc>
                  <a:txBody>
                    <a:bodyPr/>
                    <a:lstStyle/>
                    <a:p>
                      <a:pPr algn="ctr"/>
                      <a:r>
                        <a:rPr lang="en-US" sz="2000" dirty="0"/>
                        <a:t>Acute watery diarrhea</a:t>
                      </a:r>
                      <a:endParaRPr lang="en-IN" sz="2000" dirty="0"/>
                    </a:p>
                  </a:txBody>
                  <a:tcPr/>
                </a:tc>
                <a:tc>
                  <a:txBody>
                    <a:bodyPr/>
                    <a:lstStyle/>
                    <a:p>
                      <a:pPr algn="ctr"/>
                      <a:r>
                        <a:rPr lang="en-US" sz="2000" dirty="0"/>
                        <a:t>Acute Bloody diarrhea</a:t>
                      </a:r>
                      <a:endParaRPr lang="en-IN" sz="2000" dirty="0"/>
                    </a:p>
                  </a:txBody>
                  <a:tcPr/>
                </a:tc>
                <a:extLst>
                  <a:ext uri="{0D108BD9-81ED-4DB2-BD59-A6C34878D82A}">
                    <a16:rowId xmlns:a16="http://schemas.microsoft.com/office/drawing/2014/main" val="302815518"/>
                  </a:ext>
                </a:extLst>
              </a:tr>
              <a:tr h="370840">
                <a:tc>
                  <a:txBody>
                    <a:bodyPr/>
                    <a:lstStyle/>
                    <a:p>
                      <a:pPr algn="ctr"/>
                      <a:r>
                        <a:rPr lang="en-US" sz="2000" dirty="0"/>
                        <a:t>Fever</a:t>
                      </a:r>
                      <a:endParaRPr lang="en-IN" sz="2000" dirty="0"/>
                    </a:p>
                  </a:txBody>
                  <a:tcPr/>
                </a:tc>
                <a:tc>
                  <a:txBody>
                    <a:bodyPr/>
                    <a:lstStyle/>
                    <a:p>
                      <a:pPr algn="ctr"/>
                      <a:r>
                        <a:rPr lang="en-US" sz="2000" dirty="0"/>
                        <a:t>No</a:t>
                      </a:r>
                      <a:endParaRPr lang="en-IN" sz="2000" dirty="0"/>
                    </a:p>
                  </a:txBody>
                  <a:tcPr/>
                </a:tc>
                <a:tc>
                  <a:txBody>
                    <a:bodyPr/>
                    <a:lstStyle/>
                    <a:p>
                      <a:pPr algn="ctr"/>
                      <a:r>
                        <a:rPr lang="en-US" sz="2000" dirty="0"/>
                        <a:t>Yes</a:t>
                      </a:r>
                      <a:endParaRPr lang="en-IN" sz="2000" dirty="0"/>
                    </a:p>
                  </a:txBody>
                  <a:tcPr/>
                </a:tc>
                <a:extLst>
                  <a:ext uri="{0D108BD9-81ED-4DB2-BD59-A6C34878D82A}">
                    <a16:rowId xmlns:a16="http://schemas.microsoft.com/office/drawing/2014/main" val="1901563161"/>
                  </a:ext>
                </a:extLst>
              </a:tr>
              <a:tr h="370840">
                <a:tc>
                  <a:txBody>
                    <a:bodyPr/>
                    <a:lstStyle/>
                    <a:p>
                      <a:pPr algn="ctr"/>
                      <a:r>
                        <a:rPr lang="en-US" sz="2000" dirty="0"/>
                        <a:t>Abdominal cramps</a:t>
                      </a:r>
                      <a:endParaRPr lang="en-IN" sz="2000" dirty="0"/>
                    </a:p>
                  </a:txBody>
                  <a:tcPr/>
                </a:tc>
                <a:tc>
                  <a:txBody>
                    <a:bodyPr/>
                    <a:lstStyle/>
                    <a:p>
                      <a:pPr algn="ctr"/>
                      <a:r>
                        <a:rPr lang="en-US" sz="2000" dirty="0"/>
                        <a:t>Yes</a:t>
                      </a:r>
                      <a:endParaRPr lang="en-IN" sz="2000" dirty="0"/>
                    </a:p>
                  </a:txBody>
                  <a:tcPr/>
                </a:tc>
                <a:tc>
                  <a:txBody>
                    <a:bodyPr/>
                    <a:lstStyle/>
                    <a:p>
                      <a:pPr algn="ctr"/>
                      <a:r>
                        <a:rPr lang="en-US" sz="2000" dirty="0"/>
                        <a:t>Yes</a:t>
                      </a:r>
                      <a:endParaRPr lang="en-IN" sz="2000" dirty="0"/>
                    </a:p>
                  </a:txBody>
                  <a:tcPr/>
                </a:tc>
                <a:extLst>
                  <a:ext uri="{0D108BD9-81ED-4DB2-BD59-A6C34878D82A}">
                    <a16:rowId xmlns:a16="http://schemas.microsoft.com/office/drawing/2014/main" val="3029978937"/>
                  </a:ext>
                </a:extLst>
              </a:tr>
              <a:tr h="370840">
                <a:tc>
                  <a:txBody>
                    <a:bodyPr/>
                    <a:lstStyle/>
                    <a:p>
                      <a:pPr algn="ctr"/>
                      <a:r>
                        <a:rPr lang="en-US" sz="2000" dirty="0"/>
                        <a:t>Vomiting</a:t>
                      </a:r>
                      <a:endParaRPr lang="en-IN" sz="2000" dirty="0"/>
                    </a:p>
                  </a:txBody>
                  <a:tcPr/>
                </a:tc>
                <a:tc>
                  <a:txBody>
                    <a:bodyPr/>
                    <a:lstStyle/>
                    <a:p>
                      <a:pPr algn="ctr"/>
                      <a:r>
                        <a:rPr lang="en-US" sz="2000" dirty="0"/>
                        <a:t>Yes</a:t>
                      </a:r>
                      <a:endParaRPr lang="en-IN" sz="2000" dirty="0"/>
                    </a:p>
                  </a:txBody>
                  <a:tcPr/>
                </a:tc>
                <a:tc>
                  <a:txBody>
                    <a:bodyPr/>
                    <a:lstStyle/>
                    <a:p>
                      <a:pPr algn="ctr"/>
                      <a:r>
                        <a:rPr lang="en-US" sz="2000" dirty="0"/>
                        <a:t>No</a:t>
                      </a:r>
                      <a:endParaRPr lang="en-IN" sz="2000" dirty="0"/>
                    </a:p>
                  </a:txBody>
                  <a:tcPr/>
                </a:tc>
                <a:extLst>
                  <a:ext uri="{0D108BD9-81ED-4DB2-BD59-A6C34878D82A}">
                    <a16:rowId xmlns:a16="http://schemas.microsoft.com/office/drawing/2014/main" val="23068088"/>
                  </a:ext>
                </a:extLst>
              </a:tr>
              <a:tr h="370840">
                <a:tc>
                  <a:txBody>
                    <a:bodyPr/>
                    <a:lstStyle/>
                    <a:p>
                      <a:pPr algn="ctr"/>
                      <a:r>
                        <a:rPr lang="en-US" sz="2000" dirty="0"/>
                        <a:t>Rectal Pain</a:t>
                      </a:r>
                      <a:endParaRPr lang="en-IN" sz="2000" dirty="0"/>
                    </a:p>
                  </a:txBody>
                  <a:tcPr/>
                </a:tc>
                <a:tc>
                  <a:txBody>
                    <a:bodyPr/>
                    <a:lstStyle/>
                    <a:p>
                      <a:pPr algn="ctr"/>
                      <a:r>
                        <a:rPr lang="en-US" sz="2000" dirty="0"/>
                        <a:t>No</a:t>
                      </a:r>
                      <a:endParaRPr lang="en-IN" sz="2000" dirty="0"/>
                    </a:p>
                  </a:txBody>
                  <a:tcPr/>
                </a:tc>
                <a:tc>
                  <a:txBody>
                    <a:bodyPr/>
                    <a:lstStyle/>
                    <a:p>
                      <a:pPr algn="ctr"/>
                      <a:r>
                        <a:rPr lang="en-US" sz="2000" dirty="0"/>
                        <a:t>Yes</a:t>
                      </a:r>
                      <a:endParaRPr lang="en-IN" sz="2000" dirty="0"/>
                    </a:p>
                  </a:txBody>
                  <a:tcPr/>
                </a:tc>
                <a:extLst>
                  <a:ext uri="{0D108BD9-81ED-4DB2-BD59-A6C34878D82A}">
                    <a16:rowId xmlns:a16="http://schemas.microsoft.com/office/drawing/2014/main" val="3970281863"/>
                  </a:ext>
                </a:extLst>
              </a:tr>
              <a:tr h="370840">
                <a:tc>
                  <a:txBody>
                    <a:bodyPr/>
                    <a:lstStyle/>
                    <a:p>
                      <a:pPr algn="ctr"/>
                      <a:r>
                        <a:rPr lang="en-US" sz="2000" dirty="0"/>
                        <a:t>Stool</a:t>
                      </a:r>
                      <a:endParaRPr lang="en-IN" sz="2000" dirty="0"/>
                    </a:p>
                  </a:txBody>
                  <a:tcPr/>
                </a:tc>
                <a:tc>
                  <a:txBody>
                    <a:bodyPr/>
                    <a:lstStyle/>
                    <a:p>
                      <a:pPr algn="ctr"/>
                      <a:r>
                        <a:rPr lang="en-US" sz="2000" dirty="0"/>
                        <a:t>&gt;3 loose stools per day, water like rice water</a:t>
                      </a:r>
                      <a:endParaRPr lang="en-IN" sz="2000" dirty="0"/>
                    </a:p>
                  </a:txBody>
                  <a:tcPr/>
                </a:tc>
                <a:tc>
                  <a:txBody>
                    <a:bodyPr/>
                    <a:lstStyle/>
                    <a:p>
                      <a:pPr algn="ctr"/>
                      <a:r>
                        <a:rPr lang="en-US" sz="2000" dirty="0"/>
                        <a:t>&gt;3 Stools per day, with blood or pus</a:t>
                      </a:r>
                      <a:endParaRPr lang="en-IN" sz="2000" dirty="0"/>
                    </a:p>
                  </a:txBody>
                  <a:tcPr/>
                </a:tc>
                <a:extLst>
                  <a:ext uri="{0D108BD9-81ED-4DB2-BD59-A6C34878D82A}">
                    <a16:rowId xmlns:a16="http://schemas.microsoft.com/office/drawing/2014/main" val="850099099"/>
                  </a:ext>
                </a:extLst>
              </a:tr>
            </a:tbl>
          </a:graphicData>
        </a:graphic>
      </p:graphicFrame>
    </p:spTree>
    <p:extLst>
      <p:ext uri="{BB962C8B-B14F-4D97-AF65-F5344CB8AC3E}">
        <p14:creationId xmlns:p14="http://schemas.microsoft.com/office/powerpoint/2010/main" val="346338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71F00A-5B4B-7EE5-D3C2-E97BD3A3A501}"/>
              </a:ext>
            </a:extLst>
          </p:cNvPr>
          <p:cNvSpPr>
            <a:spLocks noGrp="1"/>
          </p:cNvSpPr>
          <p:nvPr>
            <p:ph idx="1"/>
          </p:nvPr>
        </p:nvSpPr>
        <p:spPr>
          <a:xfrm>
            <a:off x="1160206" y="1651820"/>
            <a:ext cx="9871587" cy="4933782"/>
          </a:xfrm>
        </p:spPr>
        <p:txBody>
          <a:bodyPr>
            <a:normAutofit/>
          </a:bodyPr>
          <a:lstStyle/>
          <a:p>
            <a:r>
              <a:rPr lang="en-IN" sz="2000" dirty="0"/>
              <a:t>For diarrhoea due to cholera the drug of choice is </a:t>
            </a:r>
            <a:r>
              <a:rPr lang="en-IN" sz="2000" dirty="0" err="1"/>
              <a:t>doxicycline</a:t>
            </a:r>
            <a:r>
              <a:rPr lang="en-IN" sz="2000" dirty="0"/>
              <a:t>, tetracycline, TMP-SMX and erythromycin. For diarrhoea due to shigella, the drug of choice is ciprofloxacin as shigella is usually resistant to ampicillin and TMP-SMX.</a:t>
            </a:r>
          </a:p>
          <a:p>
            <a:r>
              <a:rPr lang="en-US" sz="2000" b="1" dirty="0"/>
              <a:t>ZINC SUPPLEMENTATION : </a:t>
            </a:r>
            <a:r>
              <a:rPr lang="en-US" sz="2000" dirty="0"/>
              <a:t>When a zinc supplement is given during an episode of acute </a:t>
            </a:r>
            <a:r>
              <a:rPr lang="en-US" sz="2000" dirty="0" err="1"/>
              <a:t>diarrhoea</a:t>
            </a:r>
            <a:r>
              <a:rPr lang="en-US" sz="2000" dirty="0"/>
              <a:t>, it reduces the episode's duration and severity. </a:t>
            </a:r>
          </a:p>
          <a:p>
            <a:r>
              <a:rPr lang="en-US" sz="2000" dirty="0"/>
              <a:t>In addition, zinc supplements given for 10 to 14 days lower the incidence of </a:t>
            </a:r>
            <a:r>
              <a:rPr lang="en-US" sz="2000" dirty="0" err="1"/>
              <a:t>diarrhoea</a:t>
            </a:r>
            <a:r>
              <a:rPr lang="en-US" sz="2000" dirty="0"/>
              <a:t> in the following 2 to 3 months. </a:t>
            </a:r>
          </a:p>
          <a:p>
            <a:r>
              <a:rPr lang="en-US" sz="2000" dirty="0"/>
              <a:t>WHO and UNICEF therefore recommend daily 10 mg of zinc for infants under 6 months of age, and 20 mg for children older than 6 months for 10-14 days.</a:t>
            </a:r>
            <a:endParaRPr lang="en-IN" sz="2000" dirty="0"/>
          </a:p>
        </p:txBody>
      </p:sp>
    </p:spTree>
    <p:extLst>
      <p:ext uri="{BB962C8B-B14F-4D97-AF65-F5344CB8AC3E}">
        <p14:creationId xmlns:p14="http://schemas.microsoft.com/office/powerpoint/2010/main" val="550340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F15F6-2826-D1E9-FF88-E9F6D91445F4}"/>
              </a:ext>
            </a:extLst>
          </p:cNvPr>
          <p:cNvSpPr>
            <a:spLocks noGrp="1"/>
          </p:cNvSpPr>
          <p:nvPr>
            <p:ph type="title"/>
          </p:nvPr>
        </p:nvSpPr>
        <p:spPr>
          <a:xfrm>
            <a:off x="875071" y="394421"/>
            <a:ext cx="10491019" cy="1188720"/>
          </a:xfrm>
        </p:spPr>
        <p:txBody>
          <a:bodyPr/>
          <a:lstStyle/>
          <a:p>
            <a:r>
              <a:rPr lang="en-IN" dirty="0"/>
              <a:t>Better MCH care practices</a:t>
            </a:r>
          </a:p>
        </p:txBody>
      </p:sp>
      <p:sp>
        <p:nvSpPr>
          <p:cNvPr id="3" name="Content Placeholder 2">
            <a:extLst>
              <a:ext uri="{FF2B5EF4-FFF2-40B4-BE49-F238E27FC236}">
                <a16:creationId xmlns:a16="http://schemas.microsoft.com/office/drawing/2014/main" id="{55AEFAEE-13FB-0364-CB2C-BC87B5A5AA0F}"/>
              </a:ext>
            </a:extLst>
          </p:cNvPr>
          <p:cNvSpPr>
            <a:spLocks noGrp="1"/>
          </p:cNvSpPr>
          <p:nvPr>
            <p:ph idx="1"/>
          </p:nvPr>
        </p:nvSpPr>
        <p:spPr>
          <a:xfrm>
            <a:off x="875071" y="1897626"/>
            <a:ext cx="10412361" cy="4565953"/>
          </a:xfrm>
        </p:spPr>
        <p:txBody>
          <a:bodyPr>
            <a:normAutofit/>
          </a:bodyPr>
          <a:lstStyle/>
          <a:p>
            <a:r>
              <a:rPr lang="en-US" sz="2000" b="1" dirty="0"/>
              <a:t>MATERNAL NUTRITION : </a:t>
            </a:r>
            <a:r>
              <a:rPr lang="en-US" sz="2000" dirty="0"/>
              <a:t>Improving prenatal nutrition will reduce the low birth weight problem. Prenatal and postnatal nutrition will improve the quality of breast milk.</a:t>
            </a:r>
          </a:p>
          <a:p>
            <a:r>
              <a:rPr lang="en-US" sz="2000" b="1" dirty="0"/>
              <a:t>CHILD NUTRITION : </a:t>
            </a:r>
          </a:p>
          <a:p>
            <a:r>
              <a:rPr lang="en-US" sz="2000" i="1" u="sng" dirty="0"/>
              <a:t>(</a:t>
            </a:r>
            <a:r>
              <a:rPr lang="en-US" sz="2000" i="1" u="sng" dirty="0" err="1"/>
              <a:t>i</a:t>
            </a:r>
            <a:r>
              <a:rPr lang="en-US" sz="2000" i="1" u="sng" dirty="0"/>
              <a:t>) Promotion of breast-feeding : </a:t>
            </a:r>
          </a:p>
          <a:p>
            <a:r>
              <a:rPr lang="en-US" sz="2000" dirty="0"/>
              <a:t>Any measures to promote breast-feeding are likely to reduce the </a:t>
            </a:r>
            <a:r>
              <a:rPr lang="en-US" sz="2000" dirty="0" err="1"/>
              <a:t>diarrhoeal</a:t>
            </a:r>
            <a:r>
              <a:rPr lang="en-US" sz="2000" dirty="0"/>
              <a:t> diseases in infants. </a:t>
            </a:r>
          </a:p>
          <a:p>
            <a:r>
              <a:rPr lang="en-US" sz="2000" dirty="0"/>
              <a:t>The breast-fed child is at very much less risk of severe </a:t>
            </a:r>
            <a:r>
              <a:rPr lang="en-US" sz="2000" dirty="0" err="1"/>
              <a:t>diarrhoea</a:t>
            </a:r>
            <a:r>
              <a:rPr lang="en-US" sz="2000" dirty="0"/>
              <a:t> and death than the </a:t>
            </a:r>
            <a:r>
              <a:rPr lang="en-US" sz="2000" dirty="0" err="1"/>
              <a:t>bottlefed</a:t>
            </a:r>
            <a:r>
              <a:rPr lang="en-US" sz="2000" dirty="0"/>
              <a:t> child. </a:t>
            </a:r>
          </a:p>
          <a:p>
            <a:r>
              <a:rPr lang="en-US" sz="2000" dirty="0"/>
              <a:t>Promotion of breast-feeding should include strong efforts to limit the use of commercial and artificial formulas. Breast-feeding should be continued as long as possible, </a:t>
            </a:r>
          </a:p>
        </p:txBody>
      </p:sp>
    </p:spTree>
    <p:extLst>
      <p:ext uri="{BB962C8B-B14F-4D97-AF65-F5344CB8AC3E}">
        <p14:creationId xmlns:p14="http://schemas.microsoft.com/office/powerpoint/2010/main" val="744898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54A4A0-94CD-24EF-3447-4769F63157D2}"/>
              </a:ext>
            </a:extLst>
          </p:cNvPr>
          <p:cNvSpPr>
            <a:spLocks noGrp="1"/>
          </p:cNvSpPr>
          <p:nvPr>
            <p:ph idx="1"/>
          </p:nvPr>
        </p:nvSpPr>
        <p:spPr>
          <a:xfrm>
            <a:off x="560438" y="511277"/>
            <a:ext cx="10864645" cy="6046839"/>
          </a:xfrm>
        </p:spPr>
        <p:txBody>
          <a:bodyPr>
            <a:normAutofit/>
          </a:bodyPr>
          <a:lstStyle/>
          <a:p>
            <a:r>
              <a:rPr lang="en-US" sz="2000" i="1" u="sng" dirty="0"/>
              <a:t>(ii) Appropriate weaning practices : </a:t>
            </a:r>
          </a:p>
          <a:p>
            <a:r>
              <a:rPr lang="en-US" sz="2000" dirty="0"/>
              <a:t>Poor weaning practices are a major risk factor for </a:t>
            </a:r>
            <a:r>
              <a:rPr lang="en-US" sz="2000" dirty="0" err="1"/>
              <a:t>diarrhoea</a:t>
            </a:r>
            <a:r>
              <a:rPr lang="en-US" sz="2000" dirty="0"/>
              <a:t>. </a:t>
            </a:r>
          </a:p>
          <a:p>
            <a:r>
              <a:rPr lang="en-US" sz="2000" dirty="0"/>
              <a:t>The child should be weaned neither too soon, nor too late, in any case not earlier than the sixth month of life using nutritious and locally available foods, and the foods should be hygienically prepared and given, </a:t>
            </a:r>
          </a:p>
          <a:p>
            <a:r>
              <a:rPr lang="en-US" sz="2000" i="1" u="sng" dirty="0"/>
              <a:t>(iii) Supplementary feeding :</a:t>
            </a:r>
          </a:p>
          <a:p>
            <a:r>
              <a:rPr lang="en-US" sz="2000" dirty="0"/>
              <a:t> This is necessary to improve the nutritional status of children aged 6-59 months. </a:t>
            </a:r>
          </a:p>
          <a:p>
            <a:r>
              <a:rPr lang="en-US" sz="2000" dirty="0"/>
              <a:t>As soon as the supplementary food is introduced, the child enters the high-risk category. </a:t>
            </a:r>
          </a:p>
          <a:p>
            <a:r>
              <a:rPr lang="en-US" sz="2000" i="1" u="sng" dirty="0"/>
              <a:t>(iv) Vitamin A supplementation : </a:t>
            </a:r>
          </a:p>
          <a:p>
            <a:r>
              <a:rPr lang="en-US" sz="2000" dirty="0"/>
              <a:t>Vitamin A supplementation is a critical preventive measure, and studies have shown mortality reductions ranging from 19 per cent to 54 per cent in children receiving supplements. </a:t>
            </a:r>
          </a:p>
          <a:p>
            <a:r>
              <a:rPr lang="en-US" sz="2000" dirty="0"/>
              <a:t>This reduction is associated in large part with decline in deaths due to </a:t>
            </a:r>
            <a:r>
              <a:rPr lang="en-US" sz="2000" dirty="0" err="1"/>
              <a:t>diarrhoeal</a:t>
            </a:r>
            <a:r>
              <a:rPr lang="en-US" sz="2000" dirty="0"/>
              <a:t> diseases and measles. </a:t>
            </a:r>
          </a:p>
          <a:p>
            <a:r>
              <a:rPr lang="en-US" sz="2000" dirty="0"/>
              <a:t>It also reduces the duration, severity and complications associated with </a:t>
            </a:r>
            <a:r>
              <a:rPr lang="en-US" sz="2000" dirty="0" err="1"/>
              <a:t>diarrhoea</a:t>
            </a:r>
            <a:r>
              <a:rPr lang="en-US" sz="2000" dirty="0"/>
              <a:t>.</a:t>
            </a:r>
            <a:endParaRPr lang="en-IN" sz="2000" dirty="0"/>
          </a:p>
          <a:p>
            <a:endParaRPr lang="en-IN" dirty="0"/>
          </a:p>
        </p:txBody>
      </p:sp>
    </p:spTree>
    <p:extLst>
      <p:ext uri="{BB962C8B-B14F-4D97-AF65-F5344CB8AC3E}">
        <p14:creationId xmlns:p14="http://schemas.microsoft.com/office/powerpoint/2010/main" val="426376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117D0-E095-B620-0E30-6A315AB2D945}"/>
              </a:ext>
            </a:extLst>
          </p:cNvPr>
          <p:cNvSpPr>
            <a:spLocks noGrp="1"/>
          </p:cNvSpPr>
          <p:nvPr>
            <p:ph type="title"/>
          </p:nvPr>
        </p:nvSpPr>
        <p:spPr>
          <a:xfrm>
            <a:off x="875071" y="523613"/>
            <a:ext cx="10461523" cy="1188720"/>
          </a:xfrm>
        </p:spPr>
        <p:txBody>
          <a:bodyPr/>
          <a:lstStyle/>
          <a:p>
            <a:r>
              <a:rPr lang="en-IN" dirty="0"/>
              <a:t>Preventive strategies</a:t>
            </a:r>
          </a:p>
        </p:txBody>
      </p:sp>
      <p:sp>
        <p:nvSpPr>
          <p:cNvPr id="3" name="Content Placeholder 2">
            <a:extLst>
              <a:ext uri="{FF2B5EF4-FFF2-40B4-BE49-F238E27FC236}">
                <a16:creationId xmlns:a16="http://schemas.microsoft.com/office/drawing/2014/main" id="{9C96DFEA-9CA3-0255-B4F4-CB09A8BECDC9}"/>
              </a:ext>
            </a:extLst>
          </p:cNvPr>
          <p:cNvSpPr>
            <a:spLocks noGrp="1"/>
          </p:cNvSpPr>
          <p:nvPr>
            <p:ph idx="1"/>
          </p:nvPr>
        </p:nvSpPr>
        <p:spPr>
          <a:xfrm>
            <a:off x="747252" y="2064774"/>
            <a:ext cx="10589342" cy="4198373"/>
          </a:xfrm>
        </p:spPr>
        <p:txBody>
          <a:bodyPr>
            <a:normAutofit/>
          </a:bodyPr>
          <a:lstStyle/>
          <a:p>
            <a:r>
              <a:rPr lang="en-US" sz="2000" b="1" dirty="0"/>
              <a:t>(</a:t>
            </a:r>
            <a:r>
              <a:rPr lang="en-US" sz="2000" b="1" dirty="0" err="1"/>
              <a:t>i</a:t>
            </a:r>
            <a:r>
              <a:rPr lang="en-US" sz="2000" b="1" dirty="0"/>
              <a:t>) SANITATION : </a:t>
            </a:r>
          </a:p>
          <a:p>
            <a:r>
              <a:rPr lang="en-US" sz="2000" dirty="0"/>
              <a:t>Measures to reduce transmission emphasize the traditional improved water supply, improved excreta disposal and improved domestic and food hygiene.</a:t>
            </a:r>
          </a:p>
          <a:p>
            <a:r>
              <a:rPr lang="en-US" sz="2000" dirty="0"/>
              <a:t> Without an adequate supply of clean water close to their homes, it is extremely difficult to promote personal and domestic hygiene. </a:t>
            </a:r>
          </a:p>
          <a:p>
            <a:r>
              <a:rPr lang="en-US" sz="2000" dirty="0"/>
              <a:t>Simple hygienic measures like hand washing with soap before preparing food, before eating, before feeding a child, after defecation, after cleaning a child who has defecated, and after disposing off a child’s stool should be promoted. </a:t>
            </a:r>
          </a:p>
        </p:txBody>
      </p:sp>
    </p:spTree>
    <p:extLst>
      <p:ext uri="{BB962C8B-B14F-4D97-AF65-F5344CB8AC3E}">
        <p14:creationId xmlns:p14="http://schemas.microsoft.com/office/powerpoint/2010/main" val="2855710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DA7411-2A91-9301-5D42-D3214497EDB6}"/>
              </a:ext>
            </a:extLst>
          </p:cNvPr>
          <p:cNvSpPr>
            <a:spLocks noGrp="1"/>
          </p:cNvSpPr>
          <p:nvPr>
            <p:ph idx="1"/>
          </p:nvPr>
        </p:nvSpPr>
        <p:spPr>
          <a:xfrm>
            <a:off x="934065" y="737420"/>
            <a:ext cx="10314038" cy="5002608"/>
          </a:xfrm>
        </p:spPr>
        <p:txBody>
          <a:bodyPr/>
          <a:lstStyle/>
          <a:p>
            <a:r>
              <a:rPr lang="en-US" sz="2000" dirty="0"/>
              <a:t>All families should have a clean and functioning latrine. </a:t>
            </a:r>
          </a:p>
          <a:p>
            <a:r>
              <a:rPr lang="en-US" sz="2000" dirty="0"/>
              <a:t>The latrine should be kept clean by regular washing of dirty surface. </a:t>
            </a:r>
          </a:p>
          <a:p>
            <a:r>
              <a:rPr lang="en-US" sz="2000" dirty="0"/>
              <a:t>If there is no latrine, family members should defecate at a distance from the house, paths or areas where children play and at least 10 </a:t>
            </a:r>
            <a:r>
              <a:rPr lang="en-US" sz="2000" dirty="0" err="1"/>
              <a:t>metres</a:t>
            </a:r>
            <a:r>
              <a:rPr lang="en-US" sz="2000" dirty="0"/>
              <a:t> away from the water supply source. </a:t>
            </a:r>
          </a:p>
          <a:p>
            <a:r>
              <a:rPr lang="en-US" sz="2000" dirty="0"/>
              <a:t>It should be recognized that in many communities, young children are often permitted to defecate indiscriminately. </a:t>
            </a:r>
            <a:endParaRPr lang="en-IN" sz="2000" dirty="0"/>
          </a:p>
          <a:p>
            <a:r>
              <a:rPr lang="en-US" sz="2000" dirty="0"/>
              <a:t>Because </a:t>
            </a:r>
            <a:r>
              <a:rPr lang="en-US" sz="2000" dirty="0" err="1"/>
              <a:t>diarrhoea</a:t>
            </a:r>
            <a:r>
              <a:rPr lang="en-US" sz="2000" dirty="0"/>
              <a:t> attack rates are higher among children, it is the defecation in this age group that deserves the most attention. </a:t>
            </a:r>
          </a:p>
          <a:p>
            <a:r>
              <a:rPr lang="en-US" sz="2000" dirty="0"/>
              <a:t>Contaminated foods of all sorts have been identified as major vehicles for the transmission of </a:t>
            </a:r>
            <a:r>
              <a:rPr lang="en-US" sz="2000" dirty="0" err="1"/>
              <a:t>faecal</a:t>
            </a:r>
            <a:r>
              <a:rPr lang="en-US" sz="2000" dirty="0"/>
              <a:t> pathogens during early infancy, e.g., diluted milk, cereal gruels, etc. </a:t>
            </a:r>
          </a:p>
          <a:p>
            <a:r>
              <a:rPr lang="en-US" sz="2000" dirty="0"/>
              <a:t>Delays in consumption add to the problem.</a:t>
            </a:r>
            <a:endParaRPr lang="en-IN" sz="2000" dirty="0"/>
          </a:p>
        </p:txBody>
      </p:sp>
    </p:spTree>
    <p:extLst>
      <p:ext uri="{BB962C8B-B14F-4D97-AF65-F5344CB8AC3E}">
        <p14:creationId xmlns:p14="http://schemas.microsoft.com/office/powerpoint/2010/main" val="2920933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33CC8-192E-80D4-BF0F-F026FC1DA9ED}"/>
              </a:ext>
            </a:extLst>
          </p:cNvPr>
          <p:cNvSpPr>
            <a:spLocks noGrp="1"/>
          </p:cNvSpPr>
          <p:nvPr>
            <p:ph idx="1"/>
          </p:nvPr>
        </p:nvSpPr>
        <p:spPr>
          <a:xfrm>
            <a:off x="1052051" y="1582994"/>
            <a:ext cx="10028903" cy="4157034"/>
          </a:xfrm>
        </p:spPr>
        <p:txBody>
          <a:bodyPr>
            <a:normAutofit/>
          </a:bodyPr>
          <a:lstStyle/>
          <a:p>
            <a:r>
              <a:rPr lang="en-US" sz="2000" dirty="0"/>
              <a:t>(ii) HEALTH EDUCATION : Environmental sanitation measures require educational support, to ensure their proper use and maintenance of such facilities. </a:t>
            </a:r>
          </a:p>
          <a:p>
            <a:r>
              <a:rPr lang="en-US" sz="2000" dirty="0"/>
              <a:t>An important part of health worker’s job is to help prevent </a:t>
            </a:r>
            <a:r>
              <a:rPr lang="en-US" sz="2000" dirty="0" err="1"/>
              <a:t>diarrhoea</a:t>
            </a:r>
            <a:r>
              <a:rPr lang="en-US" sz="2000" dirty="0"/>
              <a:t> by convincing and helping community members to adopt and maintain certain preventive practices such as breast-feeding, improved weaning, clean drinking water, use of plenty of water for hygiene, use of latrine, proper disposal of stools of young children etc. </a:t>
            </a:r>
          </a:p>
          <a:p>
            <a:r>
              <a:rPr lang="en-US" sz="2000" dirty="0"/>
              <a:t>(iii) IMMUNIZATION : Immunization against measles is a potential intervention for </a:t>
            </a:r>
            <a:r>
              <a:rPr lang="en-US" sz="2000" dirty="0" err="1"/>
              <a:t>diarrhoea</a:t>
            </a:r>
            <a:r>
              <a:rPr lang="en-US" sz="2000" dirty="0"/>
              <a:t> control. When administered at the recommended age, the measles vaccine can prevent </a:t>
            </a:r>
            <a:r>
              <a:rPr lang="en-US" sz="2000" dirty="0" err="1"/>
              <a:t>upto</a:t>
            </a:r>
            <a:r>
              <a:rPr lang="en-US" sz="2000" dirty="0"/>
              <a:t> 25 per cent of </a:t>
            </a:r>
            <a:r>
              <a:rPr lang="en-US" sz="2000" dirty="0" err="1"/>
              <a:t>diarrhoeal</a:t>
            </a:r>
            <a:r>
              <a:rPr lang="en-US" sz="2000" dirty="0"/>
              <a:t> deaths in children under 5 years of age.</a:t>
            </a:r>
            <a:endParaRPr lang="en-IN" sz="2000" dirty="0"/>
          </a:p>
        </p:txBody>
      </p:sp>
    </p:spTree>
    <p:extLst>
      <p:ext uri="{BB962C8B-B14F-4D97-AF65-F5344CB8AC3E}">
        <p14:creationId xmlns:p14="http://schemas.microsoft.com/office/powerpoint/2010/main" val="2197394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538BD-0C85-8A1F-11E9-977DB2D3F3F4}"/>
              </a:ext>
            </a:extLst>
          </p:cNvPr>
          <p:cNvSpPr>
            <a:spLocks noGrp="1"/>
          </p:cNvSpPr>
          <p:nvPr>
            <p:ph type="title"/>
          </p:nvPr>
        </p:nvSpPr>
        <p:spPr>
          <a:xfrm>
            <a:off x="796413" y="523613"/>
            <a:ext cx="10599174" cy="1188720"/>
          </a:xfrm>
        </p:spPr>
        <p:txBody>
          <a:bodyPr/>
          <a:lstStyle/>
          <a:p>
            <a:r>
              <a:rPr lang="en-IN" dirty="0"/>
              <a:t>Rotavirus vaccine</a:t>
            </a:r>
          </a:p>
        </p:txBody>
      </p:sp>
      <p:sp>
        <p:nvSpPr>
          <p:cNvPr id="3" name="Content Placeholder 2">
            <a:extLst>
              <a:ext uri="{FF2B5EF4-FFF2-40B4-BE49-F238E27FC236}">
                <a16:creationId xmlns:a16="http://schemas.microsoft.com/office/drawing/2014/main" id="{C66A877D-CC17-9465-40B7-69A15C9AF450}"/>
              </a:ext>
            </a:extLst>
          </p:cNvPr>
          <p:cNvSpPr>
            <a:spLocks noGrp="1"/>
          </p:cNvSpPr>
          <p:nvPr>
            <p:ph idx="1"/>
          </p:nvPr>
        </p:nvSpPr>
        <p:spPr>
          <a:xfrm>
            <a:off x="796413" y="2163098"/>
            <a:ext cx="10599174" cy="3576930"/>
          </a:xfrm>
        </p:spPr>
        <p:txBody>
          <a:bodyPr>
            <a:normAutofit/>
          </a:bodyPr>
          <a:lstStyle/>
          <a:p>
            <a:r>
              <a:rPr lang="en-US" sz="2000" dirty="0"/>
              <a:t>The Rotarix™ vaccine is administered orally in a 2-dose schedule to infants of approximately 2 and 4 months of age. </a:t>
            </a:r>
          </a:p>
          <a:p>
            <a:r>
              <a:rPr lang="en-US" sz="2000" dirty="0"/>
              <a:t>The first dose can already be administered at the age of 6 weeks and should be given no later than at the age of 12 weeks. </a:t>
            </a:r>
          </a:p>
          <a:p>
            <a:r>
              <a:rPr lang="en-US" sz="2000" dirty="0"/>
              <a:t>The interval between the 2 doses should be at least 4 weeks. </a:t>
            </a:r>
          </a:p>
          <a:p>
            <a:r>
              <a:rPr lang="en-US" sz="2000" dirty="0"/>
              <a:t>The 2-dose schedule should be completed by age 16 weeks, and no later than by 24 weeks of age.</a:t>
            </a:r>
            <a:endParaRPr lang="en-IN" sz="2000" dirty="0"/>
          </a:p>
        </p:txBody>
      </p:sp>
    </p:spTree>
    <p:extLst>
      <p:ext uri="{BB962C8B-B14F-4D97-AF65-F5344CB8AC3E}">
        <p14:creationId xmlns:p14="http://schemas.microsoft.com/office/powerpoint/2010/main" val="2703133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58163-B7F1-0BD7-F621-4C2B7AB70145}"/>
              </a:ext>
            </a:extLst>
          </p:cNvPr>
          <p:cNvSpPr>
            <a:spLocks noGrp="1"/>
          </p:cNvSpPr>
          <p:nvPr>
            <p:ph idx="1"/>
          </p:nvPr>
        </p:nvSpPr>
        <p:spPr>
          <a:xfrm>
            <a:off x="1101212" y="1582993"/>
            <a:ext cx="9989575" cy="3871899"/>
          </a:xfrm>
        </p:spPr>
        <p:txBody>
          <a:bodyPr>
            <a:normAutofit lnSpcReduction="10000"/>
          </a:bodyPr>
          <a:lstStyle/>
          <a:p>
            <a:r>
              <a:rPr lang="en-US" sz="2000" dirty="0"/>
              <a:t>For RotaTeq™, the recommended schedule is 3 oral doses at ages 2, 4 and 6 months. </a:t>
            </a:r>
          </a:p>
          <a:p>
            <a:r>
              <a:rPr lang="en-US" sz="2000" dirty="0"/>
              <a:t>The first dose should be administered between ages 6-12 weeks and subsequent doses at intervals of 4-10 weeks. </a:t>
            </a:r>
          </a:p>
          <a:p>
            <a:r>
              <a:rPr lang="en-US" sz="2000" dirty="0"/>
              <a:t>Vaccination should not be initiated for infants aged &gt;12 weeks. All 3 doses should be administered before the age of 32 weeks. </a:t>
            </a:r>
          </a:p>
          <a:p>
            <a:r>
              <a:rPr lang="en-US" sz="2000" dirty="0"/>
              <a:t>There is a potentially higher risk of intussusception when the first dose of these vaccines is given to infants aged &gt;12 weeks; consequently, current rotavirus vaccines should not be used in catch-up vaccination campaigns, where the exact age of the vaccinees may be difficult to ascertain.</a:t>
            </a:r>
          </a:p>
          <a:p>
            <a:r>
              <a:rPr lang="en-US" sz="2000" dirty="0"/>
              <a:t>FLY CONTROL : Flies breeding in association with human or animal </a:t>
            </a:r>
            <a:r>
              <a:rPr lang="en-US" sz="2000" dirty="0" err="1"/>
              <a:t>faeces</a:t>
            </a:r>
            <a:r>
              <a:rPr lang="en-US" sz="2000" dirty="0"/>
              <a:t> should be controlled.</a:t>
            </a:r>
            <a:endParaRPr lang="en-IN" sz="2000" dirty="0"/>
          </a:p>
        </p:txBody>
      </p:sp>
    </p:spTree>
    <p:extLst>
      <p:ext uri="{BB962C8B-B14F-4D97-AF65-F5344CB8AC3E}">
        <p14:creationId xmlns:p14="http://schemas.microsoft.com/office/powerpoint/2010/main" val="3060066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3F18-55DC-A203-C014-02CC4A40810D}"/>
              </a:ext>
            </a:extLst>
          </p:cNvPr>
          <p:cNvSpPr>
            <a:spLocks noGrp="1"/>
          </p:cNvSpPr>
          <p:nvPr>
            <p:ph type="title"/>
          </p:nvPr>
        </p:nvSpPr>
        <p:spPr>
          <a:xfrm>
            <a:off x="1022555" y="964692"/>
            <a:ext cx="10028903" cy="1188720"/>
          </a:xfrm>
        </p:spPr>
        <p:txBody>
          <a:bodyPr/>
          <a:lstStyle/>
          <a:p>
            <a:r>
              <a:rPr lang="en-US" dirty="0" err="1"/>
              <a:t>Diarrhoeal</a:t>
            </a:r>
            <a:r>
              <a:rPr lang="en-US" dirty="0"/>
              <a:t> Diseases Control </a:t>
            </a:r>
            <a:r>
              <a:rPr lang="en-US" dirty="0" err="1"/>
              <a:t>Programme</a:t>
            </a:r>
            <a:r>
              <a:rPr lang="en-US" dirty="0"/>
              <a:t> in India</a:t>
            </a:r>
            <a:endParaRPr lang="en-IN" dirty="0"/>
          </a:p>
        </p:txBody>
      </p:sp>
      <p:sp>
        <p:nvSpPr>
          <p:cNvPr id="3" name="Content Placeholder 2">
            <a:extLst>
              <a:ext uri="{FF2B5EF4-FFF2-40B4-BE49-F238E27FC236}">
                <a16:creationId xmlns:a16="http://schemas.microsoft.com/office/drawing/2014/main" id="{0FD75E8C-A892-B3DD-A764-4E38ECA6B51B}"/>
              </a:ext>
            </a:extLst>
          </p:cNvPr>
          <p:cNvSpPr>
            <a:spLocks noGrp="1"/>
          </p:cNvSpPr>
          <p:nvPr>
            <p:ph idx="1"/>
          </p:nvPr>
        </p:nvSpPr>
        <p:spPr>
          <a:xfrm>
            <a:off x="1022555" y="2638044"/>
            <a:ext cx="10028903" cy="3595608"/>
          </a:xfrm>
        </p:spPr>
        <p:txBody>
          <a:bodyPr>
            <a:normAutofit/>
          </a:bodyPr>
          <a:lstStyle/>
          <a:p>
            <a:r>
              <a:rPr lang="en-US" sz="2000" dirty="0"/>
              <a:t>The </a:t>
            </a:r>
            <a:r>
              <a:rPr lang="en-US" sz="2000" dirty="0" err="1"/>
              <a:t>Diarrhoeal</a:t>
            </a:r>
            <a:r>
              <a:rPr lang="en-US" sz="2000" dirty="0"/>
              <a:t> Disease Control </a:t>
            </a:r>
            <a:r>
              <a:rPr lang="en-US" sz="2000" dirty="0" err="1"/>
              <a:t>Programme</a:t>
            </a:r>
            <a:r>
              <a:rPr lang="en-US" sz="2000" dirty="0"/>
              <a:t> was </a:t>
            </a:r>
            <a:r>
              <a:rPr lang="en-US" sz="2000" dirty="0" err="1"/>
              <a:t>Strated</a:t>
            </a:r>
            <a:r>
              <a:rPr lang="en-US" sz="2000" dirty="0"/>
              <a:t> in 1978 with the objective of reducing the mortality and morbidity due to </a:t>
            </a:r>
            <a:r>
              <a:rPr lang="en-US" sz="2000" dirty="0" err="1"/>
              <a:t>diarrhoeal</a:t>
            </a:r>
            <a:r>
              <a:rPr lang="en-US" sz="2000" dirty="0"/>
              <a:t> diseases.</a:t>
            </a:r>
          </a:p>
          <a:p>
            <a:r>
              <a:rPr lang="en-US" sz="2000" dirty="0"/>
              <a:t>Since 1985-86, with the inception of the National Oral Rehydration therapy </a:t>
            </a:r>
            <a:r>
              <a:rPr lang="en-US" sz="2000" dirty="0" err="1"/>
              <a:t>programme</a:t>
            </a:r>
            <a:r>
              <a:rPr lang="en-US" sz="2000" dirty="0"/>
              <a:t>, the focus of activities has been on strengthening case management of </a:t>
            </a:r>
            <a:r>
              <a:rPr lang="en-US" sz="2000" dirty="0" err="1"/>
              <a:t>diarrhoea</a:t>
            </a:r>
            <a:r>
              <a:rPr lang="en-US" sz="2000" dirty="0"/>
              <a:t> for children under the age of 5 years and improving maternal knowledge related to use of home available fluids, use of ORS and continued feeding.</a:t>
            </a:r>
            <a:endParaRPr lang="en-IN" sz="2000" dirty="0"/>
          </a:p>
        </p:txBody>
      </p:sp>
    </p:spTree>
    <p:extLst>
      <p:ext uri="{BB962C8B-B14F-4D97-AF65-F5344CB8AC3E}">
        <p14:creationId xmlns:p14="http://schemas.microsoft.com/office/powerpoint/2010/main" val="2784642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EA2AE-7195-74F4-D141-DBE06F9A6836}"/>
              </a:ext>
            </a:extLst>
          </p:cNvPr>
          <p:cNvSpPr>
            <a:spLocks noGrp="1"/>
          </p:cNvSpPr>
          <p:nvPr>
            <p:ph type="ctrTitle"/>
          </p:nvPr>
        </p:nvSpPr>
        <p:spPr/>
        <p:txBody>
          <a:bodyPr/>
          <a:lstStyle/>
          <a:p>
            <a:r>
              <a:rPr lang="en-US" dirty="0"/>
              <a:t>CHOLERA</a:t>
            </a:r>
            <a:endParaRPr lang="en-IN" dirty="0"/>
          </a:p>
        </p:txBody>
      </p:sp>
      <p:sp>
        <p:nvSpPr>
          <p:cNvPr id="3" name="Subtitle 2">
            <a:extLst>
              <a:ext uri="{FF2B5EF4-FFF2-40B4-BE49-F238E27FC236}">
                <a16:creationId xmlns:a16="http://schemas.microsoft.com/office/drawing/2014/main" id="{8B173FC5-0A0C-A966-4E71-DB269AA7F40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46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2347E2-53C0-0691-02BB-5E7B68CA6028}"/>
              </a:ext>
            </a:extLst>
          </p:cNvPr>
          <p:cNvSpPr>
            <a:spLocks noGrp="1"/>
          </p:cNvSpPr>
          <p:nvPr>
            <p:ph idx="1"/>
          </p:nvPr>
        </p:nvSpPr>
        <p:spPr>
          <a:xfrm>
            <a:off x="1199535" y="1673941"/>
            <a:ext cx="9615949" cy="4582479"/>
          </a:xfrm>
        </p:spPr>
        <p:txBody>
          <a:bodyPr>
            <a:normAutofit/>
          </a:bodyPr>
          <a:lstStyle/>
          <a:p>
            <a:r>
              <a:rPr lang="en-US" sz="2400" dirty="0"/>
              <a:t>Cholera is an acute </a:t>
            </a:r>
            <a:r>
              <a:rPr lang="en-US" sz="2400" dirty="0" err="1"/>
              <a:t>diarrhoeal</a:t>
            </a:r>
            <a:r>
              <a:rPr lang="en-US" sz="2400" dirty="0"/>
              <a:t> disease caused by V Cholerae O1 (classical or El Tor) and 0139. It is now commonly due to the El Tor biotype and 0139. </a:t>
            </a:r>
          </a:p>
          <a:p>
            <a:r>
              <a:rPr lang="en-US" sz="2400" dirty="0"/>
              <a:t>Cases range from symptomless to severe infections.</a:t>
            </a:r>
          </a:p>
          <a:p>
            <a:r>
              <a:rPr lang="en-US" sz="2400" dirty="0"/>
              <a:t> The majority of infections are mild or asymptomatic. </a:t>
            </a:r>
          </a:p>
          <a:p>
            <a:r>
              <a:rPr lang="en-US" sz="2400" dirty="0"/>
              <a:t>Typical cases are characterized by the sudden onset of profuse, effortless, watery </a:t>
            </a:r>
            <a:r>
              <a:rPr lang="en-US" sz="2400" dirty="0" err="1"/>
              <a:t>diarrhoea</a:t>
            </a:r>
            <a:r>
              <a:rPr lang="en-US" sz="2400" dirty="0"/>
              <a:t> followed by vomiting, rapid dehydration, muscular cramps and suppression of urine. </a:t>
            </a:r>
          </a:p>
          <a:p>
            <a:r>
              <a:rPr lang="en-US" sz="2400" dirty="0"/>
              <a:t>Unless there is rapid replacement of fluid and electrolytes, the case fatality may be as high as 30 to 40 per cent.</a:t>
            </a:r>
            <a:endParaRPr lang="en-IN" sz="2400" dirty="0"/>
          </a:p>
        </p:txBody>
      </p:sp>
    </p:spTree>
    <p:extLst>
      <p:ext uri="{BB962C8B-B14F-4D97-AF65-F5344CB8AC3E}">
        <p14:creationId xmlns:p14="http://schemas.microsoft.com/office/powerpoint/2010/main" val="4226017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4B31-A913-C1FA-CDD9-96FE20A5E03D}"/>
              </a:ext>
            </a:extLst>
          </p:cNvPr>
          <p:cNvSpPr>
            <a:spLocks noGrp="1"/>
          </p:cNvSpPr>
          <p:nvPr>
            <p:ph type="title"/>
          </p:nvPr>
        </p:nvSpPr>
        <p:spPr>
          <a:xfrm>
            <a:off x="776748" y="523613"/>
            <a:ext cx="10589342" cy="1188720"/>
          </a:xfrm>
        </p:spPr>
        <p:txBody>
          <a:bodyPr/>
          <a:lstStyle/>
          <a:p>
            <a:r>
              <a:rPr lang="en-IN" dirty="0"/>
              <a:t>Epidemiological features</a:t>
            </a:r>
          </a:p>
        </p:txBody>
      </p:sp>
      <p:sp>
        <p:nvSpPr>
          <p:cNvPr id="3" name="Content Placeholder 2">
            <a:extLst>
              <a:ext uri="{FF2B5EF4-FFF2-40B4-BE49-F238E27FC236}">
                <a16:creationId xmlns:a16="http://schemas.microsoft.com/office/drawing/2014/main" id="{7C210CED-56CD-BF76-9C15-BDDB59607E79}"/>
              </a:ext>
            </a:extLst>
          </p:cNvPr>
          <p:cNvSpPr>
            <a:spLocks noGrp="1"/>
          </p:cNvSpPr>
          <p:nvPr>
            <p:ph idx="1"/>
          </p:nvPr>
        </p:nvSpPr>
        <p:spPr>
          <a:xfrm>
            <a:off x="776748" y="2241754"/>
            <a:ext cx="10589342" cy="3765755"/>
          </a:xfrm>
        </p:spPr>
        <p:txBody>
          <a:bodyPr>
            <a:normAutofit/>
          </a:bodyPr>
          <a:lstStyle/>
          <a:p>
            <a:r>
              <a:rPr lang="en-US" sz="2000" dirty="0"/>
              <a:t>Cholera is both an epidemic and endemic disease. </a:t>
            </a:r>
          </a:p>
          <a:p>
            <a:r>
              <a:rPr lang="en-US" sz="2000" dirty="0"/>
              <a:t>The </a:t>
            </a:r>
            <a:r>
              <a:rPr lang="en-US" sz="2000" dirty="0" err="1"/>
              <a:t>epidemicity</a:t>
            </a:r>
            <a:r>
              <a:rPr lang="en-US" sz="2000" dirty="0"/>
              <a:t> and endemicity of a disease will depend on the characteristics of the agent, and those of the system (environment). </a:t>
            </a:r>
          </a:p>
          <a:p>
            <a:r>
              <a:rPr lang="en-US" sz="2000" dirty="0"/>
              <a:t>Characteristics of the agent which influence its distribution include its ability to survive in a given environment, its virulence, the average number of organisms required to cause infection, etc. </a:t>
            </a:r>
          </a:p>
          <a:p>
            <a:r>
              <a:rPr lang="en-US" sz="2000" dirty="0"/>
              <a:t>Global experience has shown that the introduction of cholera into any country cannot be prevented, but cholera can create a problem only in areas where sanitation is defective.</a:t>
            </a:r>
          </a:p>
          <a:p>
            <a:r>
              <a:rPr lang="en-US" sz="2000" dirty="0"/>
              <a:t>Epidemics of cholera are characteristically abrupt and often create an acute public health problem.</a:t>
            </a:r>
            <a:endParaRPr lang="en-IN" sz="2000" dirty="0"/>
          </a:p>
        </p:txBody>
      </p:sp>
    </p:spTree>
    <p:extLst>
      <p:ext uri="{BB962C8B-B14F-4D97-AF65-F5344CB8AC3E}">
        <p14:creationId xmlns:p14="http://schemas.microsoft.com/office/powerpoint/2010/main" val="1383837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238B8B-ABC1-8E1B-7801-50A673D830D9}"/>
              </a:ext>
            </a:extLst>
          </p:cNvPr>
          <p:cNvSpPr>
            <a:spLocks noGrp="1"/>
          </p:cNvSpPr>
          <p:nvPr>
            <p:ph idx="1"/>
          </p:nvPr>
        </p:nvSpPr>
        <p:spPr>
          <a:xfrm>
            <a:off x="914400" y="1111044"/>
            <a:ext cx="10304206" cy="4628983"/>
          </a:xfrm>
        </p:spPr>
        <p:txBody>
          <a:bodyPr>
            <a:normAutofit/>
          </a:bodyPr>
          <a:lstStyle/>
          <a:p>
            <a:r>
              <a:rPr lang="en-US" sz="2000" dirty="0"/>
              <a:t>They have a high potential to spread fast and cause deaths. The epidemic reaches a peak and subsides gradually as the “force of infection" declines. </a:t>
            </a:r>
          </a:p>
          <a:p>
            <a:r>
              <a:rPr lang="en-US" sz="2000" dirty="0"/>
              <a:t>Often-times, by the time control measures are instituted the epidemic has already reached its peak and is waning. </a:t>
            </a:r>
          </a:p>
          <a:p>
            <a:r>
              <a:rPr lang="en-US" sz="2000" dirty="0"/>
              <a:t>Thus, cholera epidemic in a community is self-limiting. </a:t>
            </a:r>
          </a:p>
          <a:p>
            <a:r>
              <a:rPr lang="en-US" sz="2000" dirty="0"/>
              <a:t>This is attributed to the acquisition of temporary immunity, as well as due to the occurrence of a large number of subclinical cases.</a:t>
            </a:r>
          </a:p>
          <a:p>
            <a:r>
              <a:rPr lang="en-US" sz="2000" dirty="0"/>
              <a:t>The force of infection” is composed of 2 components, namely the force of infection through water and the force of infection through contacts. It is well-known that the elimination of contaminated water does not immediately bring an outbreak to an end, but a so-called “tail” of the epidemic is produced. This is due to the continuation of transmission through contacts. </a:t>
            </a:r>
            <a:endParaRPr lang="en-IN" sz="2000" dirty="0"/>
          </a:p>
        </p:txBody>
      </p:sp>
    </p:spTree>
    <p:extLst>
      <p:ext uri="{BB962C8B-B14F-4D97-AF65-F5344CB8AC3E}">
        <p14:creationId xmlns:p14="http://schemas.microsoft.com/office/powerpoint/2010/main" val="622334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01D027-6254-AD49-81D8-E01C2E523B49}"/>
              </a:ext>
            </a:extLst>
          </p:cNvPr>
          <p:cNvSpPr>
            <a:spLocks noGrp="1"/>
          </p:cNvSpPr>
          <p:nvPr>
            <p:ph idx="1"/>
          </p:nvPr>
        </p:nvSpPr>
        <p:spPr>
          <a:xfrm>
            <a:off x="855405" y="904568"/>
            <a:ext cx="10776155" cy="4835459"/>
          </a:xfrm>
        </p:spPr>
        <p:txBody>
          <a:bodyPr>
            <a:normAutofit/>
          </a:bodyPr>
          <a:lstStyle/>
          <a:p>
            <a:r>
              <a:rPr lang="en-US" sz="2000" dirty="0"/>
              <a:t>In areas where cholera is endemic, it does not show a stable endemicity like typhoid fever. </a:t>
            </a:r>
          </a:p>
          <a:p>
            <a:r>
              <a:rPr lang="en-US" sz="2000" dirty="0"/>
              <a:t>It undergoes seasonal fluctuations as well as epidemic outbreaks. </a:t>
            </a:r>
          </a:p>
          <a:p>
            <a:r>
              <a:rPr lang="en-US" sz="2000" dirty="0"/>
              <a:t>The seasonal variation differs between countries and even between regions of the same country. </a:t>
            </a:r>
          </a:p>
          <a:p>
            <a:r>
              <a:rPr lang="en-US" sz="2000" dirty="0"/>
              <a:t>The seasonal incidence is also subject to change. For example, the disease used to be most common in the summer in Kolkata and m the early winter in Bangladesh; now- in both places, it is most frequent in the autumn. In some parts of India, the peak incidence is in August.</a:t>
            </a:r>
          </a:p>
          <a:p>
            <a:r>
              <a:rPr lang="en-US" sz="2000" dirty="0"/>
              <a:t>The El Tor biotype, wherever it has spread, has become endemic with periodic outbreaks. It appears to have greater “endemic tendency” than its classical counterpart in that it causes a higher infection—to—case ratio.</a:t>
            </a:r>
          </a:p>
          <a:p>
            <a:endParaRPr lang="en-IN" sz="2000" dirty="0"/>
          </a:p>
        </p:txBody>
      </p:sp>
    </p:spTree>
    <p:extLst>
      <p:ext uri="{BB962C8B-B14F-4D97-AF65-F5344CB8AC3E}">
        <p14:creationId xmlns:p14="http://schemas.microsoft.com/office/powerpoint/2010/main" val="145250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0DF35-F7E4-A1A0-F51F-A24F29D2711F}"/>
              </a:ext>
            </a:extLst>
          </p:cNvPr>
          <p:cNvSpPr>
            <a:spLocks noGrp="1"/>
          </p:cNvSpPr>
          <p:nvPr>
            <p:ph idx="1"/>
          </p:nvPr>
        </p:nvSpPr>
        <p:spPr>
          <a:xfrm>
            <a:off x="707922" y="1160208"/>
            <a:ext cx="10451691" cy="4943614"/>
          </a:xfrm>
        </p:spPr>
        <p:txBody>
          <a:bodyPr>
            <a:normAutofit/>
          </a:bodyPr>
          <a:lstStyle/>
          <a:p>
            <a:r>
              <a:rPr lang="en-US" sz="2000" dirty="0"/>
              <a:t>Cholera occurs at intervals even in endemic areas. </a:t>
            </a:r>
          </a:p>
          <a:p>
            <a:r>
              <a:rPr lang="en-US" sz="2000" dirty="0"/>
              <a:t>A question that is frequently asked is about the fate of V cholerae in the inter-epidemic periods. Three explanations are offered : </a:t>
            </a:r>
          </a:p>
          <a:p>
            <a:r>
              <a:rPr lang="en-US" sz="2000" dirty="0"/>
              <a:t>(a) the existence of long-term carriers. </a:t>
            </a:r>
          </a:p>
          <a:p>
            <a:r>
              <a:rPr lang="en-US" sz="2000" dirty="0"/>
              <a:t>(b) the existence of diminished but continuous transmission involving asymptomatic cases. </a:t>
            </a:r>
          </a:p>
          <a:p>
            <a:r>
              <a:rPr lang="en-US" sz="2000" dirty="0"/>
              <a:t>(c) the persistence of the organism in a free-living, perhaps altered form in the environment.</a:t>
            </a:r>
          </a:p>
          <a:p>
            <a:r>
              <a:rPr lang="en-US" sz="2000" dirty="0"/>
              <a:t> The existence of a free-living cycle may explain why cholera became endemic for varying periods in certain areas after introduction of the current pandemic strains. </a:t>
            </a:r>
          </a:p>
          <a:p>
            <a:r>
              <a:rPr lang="en-US" sz="2000" dirty="0"/>
              <a:t>Atypical non-toxigenic V. cholerae 01 of the El Tor biotype have sometimes been found in surface waters in endemic and non-endemic areas without any related human infection or disease. </a:t>
            </a:r>
            <a:endParaRPr lang="en-IN" sz="2000" dirty="0"/>
          </a:p>
        </p:txBody>
      </p:sp>
    </p:spTree>
    <p:extLst>
      <p:ext uri="{BB962C8B-B14F-4D97-AF65-F5344CB8AC3E}">
        <p14:creationId xmlns:p14="http://schemas.microsoft.com/office/powerpoint/2010/main" val="990574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FD080-2021-B05A-F77A-174739B7CA77}"/>
              </a:ext>
            </a:extLst>
          </p:cNvPr>
          <p:cNvSpPr>
            <a:spLocks noGrp="1"/>
          </p:cNvSpPr>
          <p:nvPr>
            <p:ph type="title"/>
          </p:nvPr>
        </p:nvSpPr>
        <p:spPr>
          <a:xfrm>
            <a:off x="688258" y="523613"/>
            <a:ext cx="10618839" cy="1188720"/>
          </a:xfrm>
        </p:spPr>
        <p:txBody>
          <a:bodyPr/>
          <a:lstStyle/>
          <a:p>
            <a:r>
              <a:rPr lang="en-IN" dirty="0"/>
              <a:t>Epidemiological determinants</a:t>
            </a:r>
          </a:p>
        </p:txBody>
      </p:sp>
      <p:sp>
        <p:nvSpPr>
          <p:cNvPr id="3" name="Content Placeholder 2">
            <a:extLst>
              <a:ext uri="{FF2B5EF4-FFF2-40B4-BE49-F238E27FC236}">
                <a16:creationId xmlns:a16="http://schemas.microsoft.com/office/drawing/2014/main" id="{9C21FDFA-468C-68BB-1346-0D19E8426CA0}"/>
              </a:ext>
            </a:extLst>
          </p:cNvPr>
          <p:cNvSpPr>
            <a:spLocks noGrp="1"/>
          </p:cNvSpPr>
          <p:nvPr>
            <p:ph idx="1"/>
          </p:nvPr>
        </p:nvSpPr>
        <p:spPr>
          <a:xfrm>
            <a:off x="688257" y="1939367"/>
            <a:ext cx="10618839" cy="4395020"/>
          </a:xfrm>
        </p:spPr>
        <p:txBody>
          <a:bodyPr>
            <a:normAutofit/>
          </a:bodyPr>
          <a:lstStyle/>
          <a:p>
            <a:pPr marL="0" indent="0">
              <a:buNone/>
            </a:pPr>
            <a:r>
              <a:rPr lang="en-US" sz="2400" b="1" u="sng" dirty="0"/>
              <a:t>Agent factors </a:t>
            </a:r>
          </a:p>
          <a:p>
            <a:r>
              <a:rPr lang="en-US" sz="2000" b="1" i="1" dirty="0"/>
              <a:t>AGENT : </a:t>
            </a:r>
            <a:r>
              <a:rPr lang="en-US" sz="2000" dirty="0"/>
              <a:t>The organism that causes cholera is labelled as V cholerae 0 Group 1 or Vibrio cholerae 01 and 0139. </a:t>
            </a:r>
          </a:p>
          <a:p>
            <a:r>
              <a:rPr lang="en-US" sz="2000" dirty="0"/>
              <a:t>The term “epidemic strain” has also been used for these </a:t>
            </a:r>
            <a:r>
              <a:rPr lang="en-US" sz="2000" dirty="0" err="1"/>
              <a:t>vibrios</a:t>
            </a:r>
            <a:r>
              <a:rPr lang="en-US" sz="2000" dirty="0"/>
              <a:t>. </a:t>
            </a:r>
          </a:p>
          <a:p>
            <a:r>
              <a:rPr lang="en-US" sz="2000" dirty="0" err="1"/>
              <a:t>Vibrios</a:t>
            </a:r>
            <a:r>
              <a:rPr lang="en-US" sz="2000" dirty="0"/>
              <a:t> that are biochemically similar to the epidemic strains (V. cholerae 01 and 0139) but do not agglutinate in V. cholerae 01 and 0139 antiserum have been referred to in the past as non-agglutinating (NAG) </a:t>
            </a:r>
            <a:r>
              <a:rPr lang="en-US" sz="2000" dirty="0" err="1"/>
              <a:t>vibrios</a:t>
            </a:r>
            <a:r>
              <a:rPr lang="en-US" sz="2000" dirty="0"/>
              <a:t> or as non-cholera </a:t>
            </a:r>
            <a:r>
              <a:rPr lang="en-US" sz="2000" dirty="0" err="1"/>
              <a:t>vibrios</a:t>
            </a:r>
            <a:r>
              <a:rPr lang="en-US" sz="2000" dirty="0"/>
              <a:t> (NCV). </a:t>
            </a:r>
          </a:p>
          <a:p>
            <a:r>
              <a:rPr lang="en-US" sz="2000" dirty="0"/>
              <a:t>These are now included in the species V. cholerae and are referred to as non-0 Group IV/ 0139 cholerae (non-epidemic strains).</a:t>
            </a:r>
          </a:p>
          <a:p>
            <a:r>
              <a:rPr lang="en-US" sz="2000" dirty="0"/>
              <a:t>It is now recognized that the NCV/NAG </a:t>
            </a:r>
            <a:r>
              <a:rPr lang="en-US" sz="2000" dirty="0" err="1"/>
              <a:t>vibrios</a:t>
            </a:r>
            <a:r>
              <a:rPr lang="en-US" sz="2000" dirty="0"/>
              <a:t> include some species that are pathogenic for humans (e g., Vibrio parahaemolyticus) which have caused outbreaks of cholera like </a:t>
            </a:r>
            <a:r>
              <a:rPr lang="en-US" sz="2000" dirty="0" err="1"/>
              <a:t>diarrhoea</a:t>
            </a:r>
            <a:r>
              <a:rPr lang="en-US" sz="2000" dirty="0"/>
              <a:t>. </a:t>
            </a:r>
            <a:endParaRPr lang="en-IN" sz="2000" dirty="0"/>
          </a:p>
        </p:txBody>
      </p:sp>
    </p:spTree>
    <p:extLst>
      <p:ext uri="{BB962C8B-B14F-4D97-AF65-F5344CB8AC3E}">
        <p14:creationId xmlns:p14="http://schemas.microsoft.com/office/powerpoint/2010/main" val="569298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B748CC-56D8-A434-1E26-19601FDB2994}"/>
              </a:ext>
            </a:extLst>
          </p:cNvPr>
          <p:cNvSpPr>
            <a:spLocks noGrp="1"/>
          </p:cNvSpPr>
          <p:nvPr>
            <p:ph idx="1"/>
          </p:nvPr>
        </p:nvSpPr>
        <p:spPr>
          <a:xfrm>
            <a:off x="884903" y="983226"/>
            <a:ext cx="10117394" cy="4756801"/>
          </a:xfrm>
        </p:spPr>
        <p:txBody>
          <a:bodyPr>
            <a:normAutofit/>
          </a:bodyPr>
          <a:lstStyle/>
          <a:p>
            <a:r>
              <a:rPr lang="en-US" sz="2000" b="1" i="1" dirty="0"/>
              <a:t>RESISTANCE : </a:t>
            </a:r>
            <a:r>
              <a:rPr lang="en-US" sz="2000" dirty="0"/>
              <a:t>V. cholerae are killed within 30 Routes by heating at 56 </a:t>
            </a:r>
            <a:r>
              <a:rPr lang="en-US" sz="2000" dirty="0" err="1"/>
              <a:t>deg.C</a:t>
            </a:r>
            <a:r>
              <a:rPr lang="en-US" sz="2000" dirty="0"/>
              <a:t> or within a few seconds by °</a:t>
            </a:r>
            <a:r>
              <a:rPr lang="en-US" sz="2000" dirty="0" err="1"/>
              <a:t>uing</a:t>
            </a:r>
            <a:r>
              <a:rPr lang="en-US" sz="2000" dirty="0"/>
              <a:t>. They remain in ice for 4-6 weeks or longer. </a:t>
            </a:r>
          </a:p>
          <a:p>
            <a:r>
              <a:rPr lang="en-US" sz="2000" dirty="0"/>
              <a:t>Drying and sunshine will kill them in a few hours. </a:t>
            </a:r>
          </a:p>
          <a:p>
            <a:r>
              <a:rPr lang="en-US" sz="2000" dirty="0"/>
              <a:t>They are easily destroyed by coal tar disinfectants such as cresol. Bleaching powder is another good disinfectant which kills </a:t>
            </a:r>
            <a:r>
              <a:rPr lang="en-US" sz="2000" dirty="0" err="1"/>
              <a:t>vibrios</a:t>
            </a:r>
            <a:r>
              <a:rPr lang="en-US" sz="2000" dirty="0"/>
              <a:t> instantly at 6 mg/</a:t>
            </a:r>
            <a:r>
              <a:rPr lang="en-US" sz="2000" dirty="0" err="1"/>
              <a:t>litre</a:t>
            </a:r>
            <a:r>
              <a:rPr lang="en-US" sz="2000" dirty="0"/>
              <a:t>. </a:t>
            </a:r>
          </a:p>
          <a:p>
            <a:r>
              <a:rPr lang="en-US" sz="2000" dirty="0"/>
              <a:t>The El Tor biotype tends to be more resistant than do classical </a:t>
            </a:r>
            <a:r>
              <a:rPr lang="en-US" sz="2000" dirty="0" err="1"/>
              <a:t>vibrios</a:t>
            </a:r>
            <a:r>
              <a:rPr lang="en-US" sz="2000" dirty="0"/>
              <a:t>.</a:t>
            </a:r>
          </a:p>
          <a:p>
            <a:r>
              <a:rPr lang="en-US" sz="2000" b="1" i="1" dirty="0"/>
              <a:t>TOXIN PRODUCTION : </a:t>
            </a:r>
            <a:r>
              <a:rPr lang="en-US" sz="2000" dirty="0"/>
              <a:t>The </a:t>
            </a:r>
            <a:r>
              <a:rPr lang="en-US" sz="2000" dirty="0" err="1"/>
              <a:t>vibrios</a:t>
            </a:r>
            <a:r>
              <a:rPr lang="en-US" sz="2000" dirty="0"/>
              <a:t> multiply in the lumen of the small intestine and produce an exotoxin (enterotoxin). </a:t>
            </a:r>
          </a:p>
          <a:p>
            <a:r>
              <a:rPr lang="en-US" sz="2000" dirty="0"/>
              <a:t>This toxin produces </a:t>
            </a:r>
            <a:r>
              <a:rPr lang="en-US" sz="2000" dirty="0" err="1"/>
              <a:t>diarrhoea</a:t>
            </a:r>
            <a:r>
              <a:rPr lang="en-US" sz="2000" dirty="0"/>
              <a:t> through its effect on the adenylate cyclase-cyclic AMP system of mucosal cells of the small intestine. </a:t>
            </a:r>
          </a:p>
          <a:p>
            <a:r>
              <a:rPr lang="en-US" sz="2000" dirty="0"/>
              <a:t>The exotoxin has no effect on any other tissue except the intestinal epithelial cells.</a:t>
            </a:r>
            <a:endParaRPr lang="en-IN" sz="2000" dirty="0"/>
          </a:p>
        </p:txBody>
      </p:sp>
    </p:spTree>
    <p:extLst>
      <p:ext uri="{BB962C8B-B14F-4D97-AF65-F5344CB8AC3E}">
        <p14:creationId xmlns:p14="http://schemas.microsoft.com/office/powerpoint/2010/main" val="298418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AEEC7-0B45-EDE7-E9D8-ECE8CABECD38}"/>
              </a:ext>
            </a:extLst>
          </p:cNvPr>
          <p:cNvSpPr>
            <a:spLocks noGrp="1"/>
          </p:cNvSpPr>
          <p:nvPr>
            <p:ph idx="1"/>
          </p:nvPr>
        </p:nvSpPr>
        <p:spPr>
          <a:xfrm>
            <a:off x="727586" y="245806"/>
            <a:ext cx="10864645" cy="5712541"/>
          </a:xfrm>
        </p:spPr>
        <p:txBody>
          <a:bodyPr>
            <a:noAutofit/>
          </a:bodyPr>
          <a:lstStyle/>
          <a:p>
            <a:r>
              <a:rPr lang="en-US" sz="2000" b="1" i="1" dirty="0"/>
              <a:t>RESERVOIR OF INFECTION: </a:t>
            </a:r>
          </a:p>
          <a:p>
            <a:r>
              <a:rPr lang="en-US" sz="2000" dirty="0"/>
              <a:t>The human being is the only known reservoir of cholera infection. He may be a case or carrier, </a:t>
            </a:r>
          </a:p>
          <a:p>
            <a:r>
              <a:rPr lang="en-US" sz="2000" b="1" dirty="0"/>
              <a:t>(</a:t>
            </a:r>
            <a:r>
              <a:rPr lang="en-US" sz="2000" b="1" dirty="0" err="1"/>
              <a:t>i</a:t>
            </a:r>
            <a:r>
              <a:rPr lang="en-US" sz="2000" b="1" dirty="0"/>
              <a:t>) Cases : </a:t>
            </a:r>
          </a:p>
          <a:p>
            <a:r>
              <a:rPr lang="en-US" sz="2000" dirty="0"/>
              <a:t>Cases range from inapparent infections to severe ones.</a:t>
            </a:r>
          </a:p>
          <a:p>
            <a:r>
              <a:rPr lang="en-US" sz="2000" dirty="0"/>
              <a:t> About 75 per cent of people infected with V. cholerae do not develop any symptoms, although the bacteria are present in their </a:t>
            </a:r>
            <a:r>
              <a:rPr lang="en-US" sz="2000" dirty="0" err="1"/>
              <a:t>faeces</a:t>
            </a:r>
            <a:r>
              <a:rPr lang="en-US" sz="2000" dirty="0"/>
              <a:t> for 7-14 days after infection and are shed back into the environment, potentially infecting other people. </a:t>
            </a:r>
          </a:p>
          <a:p>
            <a:r>
              <a:rPr lang="en-US" sz="2000" dirty="0"/>
              <a:t>Among people who develop symptoms, about 20 per cent develop acute watery </a:t>
            </a:r>
            <a:r>
              <a:rPr lang="en-US" sz="2000" dirty="0" err="1"/>
              <a:t>diarrhoea</a:t>
            </a:r>
            <a:r>
              <a:rPr lang="en-US" sz="2000" dirty="0"/>
              <a:t> with severe dehydration. People with low immunity, e.g., malnourished children and people living with HIV are at a greater risk of death if infected. </a:t>
            </a:r>
          </a:p>
          <a:p>
            <a:r>
              <a:rPr lang="en-US" sz="2000" dirty="0"/>
              <a:t>It is the mild and asymptomatic cases that play a significant role in maintaining endemic reservoir, </a:t>
            </a:r>
          </a:p>
          <a:p>
            <a:r>
              <a:rPr lang="en-US" sz="2000" b="1" dirty="0"/>
              <a:t>(ii) Carriers :</a:t>
            </a:r>
          </a:p>
          <a:p>
            <a:r>
              <a:rPr lang="en-US" sz="2000" dirty="0"/>
              <a:t>The carriers are usually temporary, rarely chronic. They also make an important contribution to the reservoir of infection. </a:t>
            </a:r>
          </a:p>
          <a:p>
            <a:r>
              <a:rPr lang="en-US" sz="2000" dirty="0"/>
              <a:t>Since carriers excrete fewer </a:t>
            </a:r>
            <a:r>
              <a:rPr lang="en-US" sz="2000" dirty="0" err="1"/>
              <a:t>vibrios</a:t>
            </a:r>
            <a:r>
              <a:rPr lang="en-US" sz="2000" dirty="0"/>
              <a:t> than clinical cases, carriers are best detected by bacteriological examination of the purged stool induced by the administration of 30-60 gram of magnesium sulphate in 100 mi of water by mouth.</a:t>
            </a:r>
            <a:endParaRPr lang="en-IN" sz="2000" dirty="0"/>
          </a:p>
        </p:txBody>
      </p:sp>
    </p:spTree>
    <p:extLst>
      <p:ext uri="{BB962C8B-B14F-4D97-AF65-F5344CB8AC3E}">
        <p14:creationId xmlns:p14="http://schemas.microsoft.com/office/powerpoint/2010/main" val="3078991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DD13C-F0F4-DC77-DECE-41F033947927}"/>
              </a:ext>
            </a:extLst>
          </p:cNvPr>
          <p:cNvSpPr>
            <a:spLocks noGrp="1"/>
          </p:cNvSpPr>
          <p:nvPr>
            <p:ph idx="1"/>
          </p:nvPr>
        </p:nvSpPr>
        <p:spPr>
          <a:xfrm>
            <a:off x="953729" y="688258"/>
            <a:ext cx="10107561" cy="5447071"/>
          </a:xfrm>
        </p:spPr>
        <p:txBody>
          <a:bodyPr>
            <a:normAutofit/>
          </a:bodyPr>
          <a:lstStyle/>
          <a:p>
            <a:r>
              <a:rPr lang="en-US" sz="2000" b="1" i="1" dirty="0"/>
              <a:t>INFECTIVE MATERIAL : </a:t>
            </a:r>
          </a:p>
          <a:p>
            <a:r>
              <a:rPr lang="en-US" sz="2000" dirty="0"/>
              <a:t>The immediate sources of infection are the stools and vomit of cases and carriers. </a:t>
            </a:r>
          </a:p>
          <a:p>
            <a:r>
              <a:rPr lang="en-US" sz="2000" dirty="0"/>
              <a:t>Large numbers of </a:t>
            </a:r>
            <a:r>
              <a:rPr lang="en-US" sz="2000" dirty="0" err="1"/>
              <a:t>vibrios</a:t>
            </a:r>
            <a:r>
              <a:rPr lang="en-US" sz="2000" dirty="0"/>
              <a:t> (about 107-109 </a:t>
            </a:r>
            <a:r>
              <a:rPr lang="en-US" sz="2000" dirty="0" err="1"/>
              <a:t>vibrios</a:t>
            </a:r>
            <a:r>
              <a:rPr lang="en-US" sz="2000" dirty="0"/>
              <a:t> per ml of fluid) are present in the watery stools of cholera patients; and an average patient excretes 10-20 </a:t>
            </a:r>
            <a:r>
              <a:rPr lang="en-US" sz="2000" dirty="0" err="1"/>
              <a:t>litres</a:t>
            </a:r>
            <a:r>
              <a:rPr lang="en-US" sz="2000" dirty="0"/>
              <a:t> of fluid. </a:t>
            </a:r>
          </a:p>
          <a:p>
            <a:r>
              <a:rPr lang="en-US" sz="2000" dirty="0"/>
              <a:t>Carriers excrete fewer </a:t>
            </a:r>
            <a:r>
              <a:rPr lang="en-US" sz="2000" dirty="0" err="1"/>
              <a:t>vibrios</a:t>
            </a:r>
            <a:r>
              <a:rPr lang="en-US" sz="2000" dirty="0"/>
              <a:t> than cases, 102-105 </a:t>
            </a:r>
            <a:r>
              <a:rPr lang="en-US" sz="2000" dirty="0" err="1"/>
              <a:t>vibrios</a:t>
            </a:r>
            <a:r>
              <a:rPr lang="en-US" sz="2000" dirty="0"/>
              <a:t> per gram of stools.</a:t>
            </a:r>
          </a:p>
          <a:p>
            <a:r>
              <a:rPr lang="en-US" sz="2000" b="1" i="1" dirty="0"/>
              <a:t>INFECTIVE DOSE : </a:t>
            </a:r>
          </a:p>
          <a:p>
            <a:r>
              <a:rPr lang="en-US" sz="2000" dirty="0"/>
              <a:t>Cholera is dose-related. Infection occurs when the number of </a:t>
            </a:r>
            <a:r>
              <a:rPr lang="en-US" sz="2000" dirty="0" err="1"/>
              <a:t>vibrios</a:t>
            </a:r>
            <a:r>
              <a:rPr lang="en-US" sz="2000" dirty="0"/>
              <a:t> ingested exceeds the dose that is infective for the individual. </a:t>
            </a:r>
          </a:p>
          <a:p>
            <a:r>
              <a:rPr lang="en-US" sz="2000" dirty="0"/>
              <a:t>Experimental work suggests that in the normal person a very high dose-something like 10^11 organisms - is required to produce the clinical disease.</a:t>
            </a:r>
            <a:endParaRPr lang="en-IN" sz="2000" dirty="0"/>
          </a:p>
        </p:txBody>
      </p:sp>
    </p:spTree>
    <p:extLst>
      <p:ext uri="{BB962C8B-B14F-4D97-AF65-F5344CB8AC3E}">
        <p14:creationId xmlns:p14="http://schemas.microsoft.com/office/powerpoint/2010/main" val="871756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7A9D49-E97C-E242-3C22-FA80C4E06FBF}"/>
              </a:ext>
            </a:extLst>
          </p:cNvPr>
          <p:cNvSpPr>
            <a:spLocks noGrp="1"/>
          </p:cNvSpPr>
          <p:nvPr>
            <p:ph idx="1"/>
          </p:nvPr>
        </p:nvSpPr>
        <p:spPr>
          <a:xfrm>
            <a:off x="1101213" y="2638044"/>
            <a:ext cx="10009239" cy="3101983"/>
          </a:xfrm>
        </p:spPr>
        <p:txBody>
          <a:bodyPr>
            <a:normAutofit/>
          </a:bodyPr>
          <a:lstStyle/>
          <a:p>
            <a:r>
              <a:rPr lang="en-US" sz="2000" b="1" i="1" dirty="0"/>
              <a:t>PERIOD OF COMMUNICABILITY : </a:t>
            </a:r>
            <a:r>
              <a:rPr lang="en-US" sz="2000" dirty="0"/>
              <a:t>A case of cholera is infectious for a period of 7-10 days. Convalescent carriers are infectious for 2-3 weeks. The chronic carrier state may last from a month up to 10 years or more.</a:t>
            </a:r>
            <a:endParaRPr lang="en-IN" sz="2000" dirty="0"/>
          </a:p>
        </p:txBody>
      </p:sp>
    </p:spTree>
    <p:extLst>
      <p:ext uri="{BB962C8B-B14F-4D97-AF65-F5344CB8AC3E}">
        <p14:creationId xmlns:p14="http://schemas.microsoft.com/office/powerpoint/2010/main" val="439691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285D3-801C-514B-2599-33572F1D5D77}"/>
              </a:ext>
            </a:extLst>
          </p:cNvPr>
          <p:cNvSpPr>
            <a:spLocks noGrp="1"/>
          </p:cNvSpPr>
          <p:nvPr>
            <p:ph type="title"/>
          </p:nvPr>
        </p:nvSpPr>
        <p:spPr>
          <a:xfrm>
            <a:off x="344905" y="323008"/>
            <a:ext cx="11502189" cy="1188720"/>
          </a:xfrm>
        </p:spPr>
        <p:txBody>
          <a:bodyPr/>
          <a:lstStyle/>
          <a:p>
            <a:r>
              <a:rPr lang="en-US" dirty="0"/>
              <a:t>Carriers</a:t>
            </a:r>
          </a:p>
        </p:txBody>
      </p:sp>
      <p:sp>
        <p:nvSpPr>
          <p:cNvPr id="3" name="Content Placeholder 2">
            <a:extLst>
              <a:ext uri="{FF2B5EF4-FFF2-40B4-BE49-F238E27FC236}">
                <a16:creationId xmlns:a16="http://schemas.microsoft.com/office/drawing/2014/main" id="{8D75A312-D6FB-C842-2075-A6AEE14EA507}"/>
              </a:ext>
            </a:extLst>
          </p:cNvPr>
          <p:cNvSpPr>
            <a:spLocks noGrp="1"/>
          </p:cNvSpPr>
          <p:nvPr>
            <p:ph idx="1"/>
          </p:nvPr>
        </p:nvSpPr>
        <p:spPr>
          <a:xfrm>
            <a:off x="344904" y="1878008"/>
            <a:ext cx="11502189" cy="4656984"/>
          </a:xfrm>
        </p:spPr>
        <p:txBody>
          <a:bodyPr>
            <a:normAutofit fontScale="85000" lnSpcReduction="20000"/>
          </a:bodyPr>
          <a:lstStyle/>
          <a:p>
            <a:r>
              <a:rPr lang="en-US" dirty="0"/>
              <a:t>Apparently healthy person who is excreting V. cholerae 01 (classical or El Tor) in stools. </a:t>
            </a:r>
          </a:p>
          <a:p>
            <a:r>
              <a:rPr lang="en-US" dirty="0"/>
              <a:t>PRECLINICAL OR INCUBATORY CARRIERS : Since the incubation period of cholera is short (1-5 days), incubatory carriage is of short duration.</a:t>
            </a:r>
          </a:p>
          <a:p>
            <a:pPr lvl="1"/>
            <a:r>
              <a:rPr lang="en-US" dirty="0"/>
              <a:t>The incubatory carriers are potential patients,</a:t>
            </a:r>
          </a:p>
          <a:p>
            <a:r>
              <a:rPr lang="en-US" dirty="0"/>
              <a:t>CONVALESCENT CARRIER : The patient who has recovered from an attack of cholera may continue to excrete </a:t>
            </a:r>
            <a:r>
              <a:rPr lang="en-US" dirty="0" err="1"/>
              <a:t>vibrios</a:t>
            </a:r>
            <a:r>
              <a:rPr lang="en-US" dirty="0"/>
              <a:t>, during his convalescence for 2-3 weeks.</a:t>
            </a:r>
          </a:p>
          <a:p>
            <a:pPr lvl="1"/>
            <a:r>
              <a:rPr lang="en-US" dirty="0"/>
              <a:t>Convalescent state has been found to occur in patients who have not received effective antibiotic treatment. </a:t>
            </a:r>
          </a:p>
          <a:p>
            <a:pPr lvl="1"/>
            <a:r>
              <a:rPr lang="en-US" dirty="0"/>
              <a:t>The convalescent carriers can often become chronic or long-term carriers,</a:t>
            </a:r>
          </a:p>
          <a:p>
            <a:r>
              <a:rPr lang="en-US" dirty="0"/>
              <a:t>CONTACT OR HEALTHY CARRIER : This is the result of subclinical infection contracted through association with a source of infection, be it a case or infected environment. </a:t>
            </a:r>
          </a:p>
          <a:p>
            <a:pPr lvl="1"/>
            <a:r>
              <a:rPr lang="en-US" dirty="0"/>
              <a:t>The duration of contact carrier state is usually less than 10 days; the gall bladder is not infected, and the stool culture is frequently positive for V cholerae 01. </a:t>
            </a:r>
          </a:p>
          <a:p>
            <a:pPr lvl="1"/>
            <a:r>
              <a:rPr lang="en-US" dirty="0"/>
              <a:t>Contact carriers probably play an important role in the spread of cholera, </a:t>
            </a:r>
          </a:p>
          <a:p>
            <a:r>
              <a:rPr lang="en-US" dirty="0"/>
              <a:t>CHRONIC CARRIER : A chronic carrier state occurs infrequently. The longest carrier state was found to be over 10 years (16). </a:t>
            </a:r>
          </a:p>
          <a:p>
            <a:pPr lvl="1"/>
            <a:r>
              <a:rPr lang="en-US" dirty="0"/>
              <a:t>Studies indicate that gall bladder is infected in chronic carriers. Since carriers excrete fewer </a:t>
            </a:r>
            <a:r>
              <a:rPr lang="en-US" dirty="0" err="1"/>
              <a:t>vibrios</a:t>
            </a:r>
            <a:r>
              <a:rPr lang="en-US" dirty="0"/>
              <a:t> than cases, selective media and proper enrichment are important for their diagnosis. </a:t>
            </a:r>
          </a:p>
          <a:p>
            <a:r>
              <a:rPr lang="en-US" dirty="0"/>
              <a:t>In carriers, the antibody </a:t>
            </a:r>
            <a:r>
              <a:rPr lang="en-US" dirty="0" err="1"/>
              <a:t>titre</a:t>
            </a:r>
            <a:r>
              <a:rPr lang="en-US" dirty="0"/>
              <a:t> against V. cholerae 01 rises and remains positive as long as the person </a:t>
            </a:r>
            <a:r>
              <a:rPr lang="en-US" dirty="0" err="1"/>
              <a:t>harbours</a:t>
            </a:r>
            <a:r>
              <a:rPr lang="en-US" dirty="0"/>
              <a:t> the organism.</a:t>
            </a:r>
          </a:p>
        </p:txBody>
      </p:sp>
    </p:spTree>
    <p:extLst>
      <p:ext uri="{BB962C8B-B14F-4D97-AF65-F5344CB8AC3E}">
        <p14:creationId xmlns:p14="http://schemas.microsoft.com/office/powerpoint/2010/main" val="8684524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262C-31BF-C0E1-2681-9C524FE42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3D458-CAF7-C3C8-51AE-8F29EED637E9}"/>
              </a:ext>
            </a:extLst>
          </p:cNvPr>
          <p:cNvSpPr>
            <a:spLocks noGrp="1"/>
          </p:cNvSpPr>
          <p:nvPr>
            <p:ph type="title"/>
          </p:nvPr>
        </p:nvSpPr>
        <p:spPr>
          <a:xfrm>
            <a:off x="344905" y="323008"/>
            <a:ext cx="11502189" cy="1188720"/>
          </a:xfrm>
        </p:spPr>
        <p:txBody>
          <a:bodyPr/>
          <a:lstStyle/>
          <a:p>
            <a:r>
              <a:rPr lang="en-US" dirty="0"/>
              <a:t>Host Factors</a:t>
            </a:r>
          </a:p>
        </p:txBody>
      </p:sp>
      <p:sp>
        <p:nvSpPr>
          <p:cNvPr id="3" name="Content Placeholder 2">
            <a:extLst>
              <a:ext uri="{FF2B5EF4-FFF2-40B4-BE49-F238E27FC236}">
                <a16:creationId xmlns:a16="http://schemas.microsoft.com/office/drawing/2014/main" id="{C9E24AF6-FA16-9D57-24C4-78734D053CEA}"/>
              </a:ext>
            </a:extLst>
          </p:cNvPr>
          <p:cNvSpPr>
            <a:spLocks noGrp="1"/>
          </p:cNvSpPr>
          <p:nvPr>
            <p:ph idx="1"/>
          </p:nvPr>
        </p:nvSpPr>
        <p:spPr>
          <a:xfrm>
            <a:off x="344904" y="1878008"/>
            <a:ext cx="11502189" cy="4656984"/>
          </a:xfrm>
        </p:spPr>
        <p:txBody>
          <a:bodyPr>
            <a:normAutofit/>
          </a:bodyPr>
          <a:lstStyle/>
          <a:p>
            <a:r>
              <a:rPr lang="en-US" dirty="0"/>
              <a:t>AGE AND SEX : Cholera affects all ages and both sexes. </a:t>
            </a:r>
          </a:p>
          <a:p>
            <a:pPr lvl="1"/>
            <a:r>
              <a:rPr lang="en-US" dirty="0"/>
              <a:t>In endemic areas, attack rate is highest in children,</a:t>
            </a:r>
          </a:p>
          <a:p>
            <a:r>
              <a:rPr lang="en-US" dirty="0"/>
              <a:t>GASTRIC ACIDITY : An effective barrier. The vibrio is destroyed in an acidity of pH 5 or lower. </a:t>
            </a:r>
          </a:p>
          <a:p>
            <a:r>
              <a:rPr lang="en-US" dirty="0"/>
              <a:t>POPULATION MOBILITY : Movement of population (e.g., pilgrimages, marriages, fairs and festivals) results in increased risk of exposure to infection. </a:t>
            </a:r>
          </a:p>
          <a:p>
            <a:pPr lvl="1"/>
            <a:r>
              <a:rPr lang="en-US" dirty="0"/>
              <a:t>In this jet age, cases and carriers can easily transfer infection to other countries</a:t>
            </a:r>
          </a:p>
          <a:p>
            <a:r>
              <a:rPr lang="en-US" dirty="0"/>
              <a:t>ECONOMIC STATUS : The incidence of cholera tends to be the highest in the lower socio-economic groups, and this is attributable mainly to poor hygiene,</a:t>
            </a:r>
          </a:p>
          <a:p>
            <a:r>
              <a:rPr lang="en-US" dirty="0"/>
              <a:t>IMMUNITY : An attack of cholera is followed by immunity to reinfection, but the duration and degree of immunity are not known. </a:t>
            </a:r>
          </a:p>
          <a:p>
            <a:pPr lvl="1"/>
            <a:r>
              <a:rPr lang="en-US" dirty="0" err="1"/>
              <a:t>Vibriocidal</a:t>
            </a:r>
            <a:r>
              <a:rPr lang="en-US" dirty="0"/>
              <a:t> antibodies in serum (titer &gt; 1:20) have been associated with protection against colonization and disease.</a:t>
            </a:r>
          </a:p>
          <a:p>
            <a:pPr lvl="1"/>
            <a:r>
              <a:rPr lang="en-US" dirty="0"/>
              <a:t>The presence of antitoxin antibodies has not been associated with protection. </a:t>
            </a:r>
          </a:p>
          <a:p>
            <a:pPr lvl="1"/>
            <a:r>
              <a:rPr lang="en-US" dirty="0"/>
              <a:t>Vaccination gives only temporary, partial immunity for 3-6 months.</a:t>
            </a:r>
          </a:p>
        </p:txBody>
      </p:sp>
    </p:spTree>
    <p:extLst>
      <p:ext uri="{BB962C8B-B14F-4D97-AF65-F5344CB8AC3E}">
        <p14:creationId xmlns:p14="http://schemas.microsoft.com/office/powerpoint/2010/main" val="3476455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A84C-F6FD-58E3-7ECF-54DF62898C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4F5049-C60E-259D-F334-C94A36555722}"/>
              </a:ext>
            </a:extLst>
          </p:cNvPr>
          <p:cNvSpPr>
            <a:spLocks noGrp="1"/>
          </p:cNvSpPr>
          <p:nvPr>
            <p:ph type="title"/>
          </p:nvPr>
        </p:nvSpPr>
        <p:spPr>
          <a:xfrm>
            <a:off x="344905" y="323008"/>
            <a:ext cx="11502189" cy="1188720"/>
          </a:xfrm>
        </p:spPr>
        <p:txBody>
          <a:bodyPr/>
          <a:lstStyle/>
          <a:p>
            <a:r>
              <a:rPr lang="en-US" dirty="0"/>
              <a:t>Environmental Factors</a:t>
            </a:r>
          </a:p>
        </p:txBody>
      </p:sp>
      <p:sp>
        <p:nvSpPr>
          <p:cNvPr id="3" name="Content Placeholder 2">
            <a:extLst>
              <a:ext uri="{FF2B5EF4-FFF2-40B4-BE49-F238E27FC236}">
                <a16:creationId xmlns:a16="http://schemas.microsoft.com/office/drawing/2014/main" id="{2D0BE5A7-05E9-5B2D-B377-E5543F4CF388}"/>
              </a:ext>
            </a:extLst>
          </p:cNvPr>
          <p:cNvSpPr>
            <a:spLocks noGrp="1"/>
          </p:cNvSpPr>
          <p:nvPr>
            <p:ph idx="1"/>
          </p:nvPr>
        </p:nvSpPr>
        <p:spPr>
          <a:xfrm>
            <a:off x="344904" y="1878008"/>
            <a:ext cx="11502189" cy="4656984"/>
          </a:xfrm>
        </p:spPr>
        <p:txBody>
          <a:bodyPr>
            <a:normAutofit/>
          </a:bodyPr>
          <a:lstStyle/>
          <a:p>
            <a:r>
              <a:rPr lang="en-US" sz="2800" dirty="0"/>
              <a:t>Poor environmental sanitation. </a:t>
            </a:r>
          </a:p>
          <a:p>
            <a:r>
              <a:rPr lang="en-US" sz="2800" dirty="0"/>
              <a:t>Contaminated water and food.</a:t>
            </a:r>
          </a:p>
          <a:p>
            <a:r>
              <a:rPr lang="en-US" sz="2800" dirty="0"/>
              <a:t>Flies may carry V cholerae but not vectors of proven importance. </a:t>
            </a:r>
          </a:p>
          <a:p>
            <a:r>
              <a:rPr lang="en-US" sz="2800" dirty="0"/>
              <a:t>Social factors - </a:t>
            </a:r>
          </a:p>
          <a:p>
            <a:pPr lvl="1"/>
            <a:r>
              <a:rPr lang="en-US" sz="2400" dirty="0"/>
              <a:t>Certain human habits favoring water and soil pollution, </a:t>
            </a:r>
          </a:p>
          <a:p>
            <a:pPr lvl="1"/>
            <a:r>
              <a:rPr lang="en-US" sz="2400" dirty="0"/>
              <a:t>Low standards of personal hygiene, </a:t>
            </a:r>
          </a:p>
          <a:p>
            <a:pPr lvl="1"/>
            <a:r>
              <a:rPr lang="en-US" sz="2400" dirty="0"/>
              <a:t>Lack of education </a:t>
            </a:r>
          </a:p>
          <a:p>
            <a:pPr lvl="1"/>
            <a:r>
              <a:rPr lang="en-US" sz="2400" dirty="0"/>
              <a:t>Poor quality of life.</a:t>
            </a:r>
          </a:p>
        </p:txBody>
      </p:sp>
    </p:spTree>
    <p:extLst>
      <p:ext uri="{BB962C8B-B14F-4D97-AF65-F5344CB8AC3E}">
        <p14:creationId xmlns:p14="http://schemas.microsoft.com/office/powerpoint/2010/main" val="36452535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F00F-C36B-AB2C-D04D-1B056CC0A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31EE7-622F-9144-4805-5741B3017BBF}"/>
              </a:ext>
            </a:extLst>
          </p:cNvPr>
          <p:cNvSpPr>
            <a:spLocks noGrp="1"/>
          </p:cNvSpPr>
          <p:nvPr>
            <p:ph type="title"/>
          </p:nvPr>
        </p:nvSpPr>
        <p:spPr>
          <a:xfrm>
            <a:off x="344905" y="323008"/>
            <a:ext cx="11502189" cy="1188720"/>
          </a:xfrm>
        </p:spPr>
        <p:txBody>
          <a:bodyPr/>
          <a:lstStyle/>
          <a:p>
            <a:r>
              <a:rPr lang="en-US" dirty="0"/>
              <a:t>Mode of transmission</a:t>
            </a:r>
          </a:p>
        </p:txBody>
      </p:sp>
      <p:sp>
        <p:nvSpPr>
          <p:cNvPr id="3" name="Content Placeholder 2">
            <a:extLst>
              <a:ext uri="{FF2B5EF4-FFF2-40B4-BE49-F238E27FC236}">
                <a16:creationId xmlns:a16="http://schemas.microsoft.com/office/drawing/2014/main" id="{FDF54B19-EFCF-475D-8E8E-E3119B4109A4}"/>
              </a:ext>
            </a:extLst>
          </p:cNvPr>
          <p:cNvSpPr>
            <a:spLocks noGrp="1"/>
          </p:cNvSpPr>
          <p:nvPr>
            <p:ph idx="1"/>
          </p:nvPr>
        </p:nvSpPr>
        <p:spPr>
          <a:xfrm>
            <a:off x="344904" y="1735133"/>
            <a:ext cx="11502189" cy="4656984"/>
          </a:xfrm>
        </p:spPr>
        <p:txBody>
          <a:bodyPr>
            <a:normAutofit fontScale="92500" lnSpcReduction="20000"/>
          </a:bodyPr>
          <a:lstStyle/>
          <a:p>
            <a:r>
              <a:rPr lang="en-US" sz="2800" dirty="0"/>
              <a:t>FAECALLY CONTAMINATED WATER : Uncontrolled water sources such as wells, lakes, ponds, streams and rivers pose a great threat,</a:t>
            </a:r>
          </a:p>
          <a:p>
            <a:r>
              <a:rPr lang="en-US" sz="2800" dirty="0"/>
              <a:t>CONTAMINATED FOOD AND DRINKS : Ingestion of contaminated food and drinks have been associated with outbreaks of cholera. </a:t>
            </a:r>
          </a:p>
          <a:p>
            <a:pPr lvl="1"/>
            <a:r>
              <a:rPr lang="en-US" sz="2600" dirty="0"/>
              <a:t>Bottle feeding could be a significant risk factor for infants. </a:t>
            </a:r>
          </a:p>
          <a:p>
            <a:pPr lvl="1"/>
            <a:r>
              <a:rPr lang="en-US" sz="2600" dirty="0"/>
              <a:t>Fruits and vegetables washed with contaminated water can be a source of infection. </a:t>
            </a:r>
          </a:p>
          <a:p>
            <a:pPr lvl="1"/>
            <a:r>
              <a:rPr lang="en-US" sz="2600" dirty="0"/>
              <a:t>After preparation, cooked food may be contaminated through contaminated hands and flies. </a:t>
            </a:r>
          </a:p>
          <a:p>
            <a:r>
              <a:rPr lang="en-US" sz="2800" dirty="0"/>
              <a:t>DIRECT CONTACT : In developing countries, a considerable proportion of cases may result from secondary transmission, i.e., person to person transmission through contaminated fingers while carelessly handling excreta and vomit of patients and contaminated linen and fomites.</a:t>
            </a:r>
          </a:p>
        </p:txBody>
      </p:sp>
    </p:spTree>
    <p:extLst>
      <p:ext uri="{BB962C8B-B14F-4D97-AF65-F5344CB8AC3E}">
        <p14:creationId xmlns:p14="http://schemas.microsoft.com/office/powerpoint/2010/main" val="1893324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Bright modern kitchen">
            <a:extLst>
              <a:ext uri="{FF2B5EF4-FFF2-40B4-BE49-F238E27FC236}">
                <a16:creationId xmlns:a16="http://schemas.microsoft.com/office/drawing/2014/main" id="{AFD622EB-A9A0-4DBE-22CA-46B8C90917B1}"/>
              </a:ext>
            </a:extLst>
          </p:cNvPr>
          <p:cNvPicPr>
            <a:picLocks noChangeAspect="1"/>
          </p:cNvPicPr>
          <p:nvPr/>
        </p:nvPicPr>
        <p:blipFill>
          <a:blip r:embed="rId2"/>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AE319540-70BE-6884-C321-ABA89FC90F8A}"/>
              </a:ext>
            </a:extLst>
          </p:cNvPr>
          <p:cNvSpPr>
            <a:spLocks noGrp="1"/>
          </p:cNvSpPr>
          <p:nvPr>
            <p:ph type="title"/>
          </p:nvPr>
        </p:nvSpPr>
        <p:spPr>
          <a:xfrm>
            <a:off x="2231136" y="2958103"/>
            <a:ext cx="7729728" cy="941796"/>
          </a:xfrm>
          <a:solidFill>
            <a:srgbClr val="000000">
              <a:alpha val="70000"/>
            </a:srgbClr>
          </a:solidFill>
          <a:ln>
            <a:solidFill>
              <a:srgbClr val="FFFFFF"/>
            </a:solidFill>
          </a:ln>
        </p:spPr>
        <p:txBody>
          <a:bodyPr vert="horz" lIns="182880" tIns="182880" rIns="182880" bIns="182880" rtlCol="0" anchor="ctr">
            <a:normAutofit/>
          </a:bodyPr>
          <a:lstStyle/>
          <a:p>
            <a:r>
              <a:rPr lang="en-US" kern="1200" cap="all" spc="200" baseline="0" dirty="0">
                <a:solidFill>
                  <a:srgbClr val="FFFFFF"/>
                </a:solidFill>
                <a:latin typeface="+mj-lt"/>
                <a:ea typeface="+mj-ea"/>
                <a:cs typeface="+mj-cs"/>
              </a:rPr>
              <a:t>Thank you</a:t>
            </a:r>
          </a:p>
        </p:txBody>
      </p:sp>
    </p:spTree>
    <p:extLst>
      <p:ext uri="{BB962C8B-B14F-4D97-AF65-F5344CB8AC3E}">
        <p14:creationId xmlns:p14="http://schemas.microsoft.com/office/powerpoint/2010/main" val="5262868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Custom 3">
      <a:majorFont>
        <a:latin typeface="Times New Roman"/>
        <a:ea typeface=""/>
        <a:cs typeface=""/>
      </a:majorFont>
      <a:minorFont>
        <a:latin typeface="Times New Roman"/>
        <a:ea typeface=""/>
        <a:cs typeface=""/>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220</TotalTime>
  <Words>4316</Words>
  <Application>Microsoft Office PowerPoint</Application>
  <PresentationFormat>Widescreen</PresentationFormat>
  <Paragraphs>266</Paragraphs>
  <Slides>37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Times New Roman</vt:lpstr>
      <vt:lpstr>Parcel</vt:lpstr>
      <vt:lpstr>ORAL DEHYDRATION THERAPY</vt:lpstr>
      <vt:lpstr>GUIDELINES FOR ORAL DEHYDRATION THERAPY</vt:lpstr>
      <vt:lpstr>Guidelines for oral rehydration therapy (for all ages) during the first four hours</vt:lpstr>
      <vt:lpstr>PowerPoint Presentation</vt:lpstr>
      <vt:lpstr>Mothers should be taught-</vt:lpstr>
      <vt:lpstr>PowerPoint Presentation</vt:lpstr>
      <vt:lpstr>PowerPoint Presentation</vt:lpstr>
      <vt:lpstr>INTRAVENOUS REHYDRATION</vt:lpstr>
      <vt:lpstr>PowerPoint Presentation</vt:lpstr>
      <vt:lpstr>maintenance therapy</vt:lpstr>
      <vt:lpstr>PowerPoint Presentation</vt:lpstr>
      <vt:lpstr>PowerPoint Presentation</vt:lpstr>
      <vt:lpstr>PowerPoint Presentation</vt:lpstr>
      <vt:lpstr>Better MCH care practices</vt:lpstr>
      <vt:lpstr>PowerPoint Presentation</vt:lpstr>
      <vt:lpstr>Preventive strategies</vt:lpstr>
      <vt:lpstr>PowerPoint Presentation</vt:lpstr>
      <vt:lpstr>PowerPoint Presentation</vt:lpstr>
      <vt:lpstr>Rotavirus vaccine</vt:lpstr>
      <vt:lpstr>PowerPoint Presentation</vt:lpstr>
      <vt:lpstr>Diarrhoeal Diseases Control Programme in India</vt:lpstr>
      <vt:lpstr>CHOLERA</vt:lpstr>
      <vt:lpstr>PowerPoint Presentation</vt:lpstr>
      <vt:lpstr>Epidemiological features</vt:lpstr>
      <vt:lpstr>PowerPoint Presentation</vt:lpstr>
      <vt:lpstr>PowerPoint Presentation</vt:lpstr>
      <vt:lpstr>PowerPoint Presentation</vt:lpstr>
      <vt:lpstr>Epidemiological determinants</vt:lpstr>
      <vt:lpstr>PowerPoint Presentation</vt:lpstr>
      <vt:lpstr>PowerPoint Presentation</vt:lpstr>
      <vt:lpstr>PowerPoint Presentation</vt:lpstr>
      <vt:lpstr>PowerPoint Presentation</vt:lpstr>
      <vt:lpstr>Carriers</vt:lpstr>
      <vt:lpstr>Host Factors</vt:lpstr>
      <vt:lpstr>Environmental Factors</vt:lpstr>
      <vt:lpstr>Mode of transmission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Manvi Singh</dc:creator>
  <cp:lastModifiedBy>mukul maheshwari</cp:lastModifiedBy>
  <cp:revision>2</cp:revision>
  <dcterms:created xsi:type="dcterms:W3CDTF">2024-11-18T15:01:36Z</dcterms:created>
  <dcterms:modified xsi:type="dcterms:W3CDTF">2024-11-19T07:17:11Z</dcterms:modified>
</cp:coreProperties>
</file>