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0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</p:sldIdLst>
  <p:sldSz cx="6070600" cy="3422650"/>
  <p:notesSz cx="6070600" cy="34226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9" Type="http://schemas.openxmlformats.org/officeDocument/2006/relationships/slide" Target="slides/slide38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slide" Target="slides/slide33.xml" /><Relationship Id="rId42" Type="http://schemas.openxmlformats.org/officeDocument/2006/relationships/slide" Target="slides/slide41.xml" /><Relationship Id="rId47" Type="http://schemas.openxmlformats.org/officeDocument/2006/relationships/presProps" Target="presProps.xml" /><Relationship Id="rId50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46" Type="http://schemas.openxmlformats.org/officeDocument/2006/relationships/slide" Target="slides/slide45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41" Type="http://schemas.openxmlformats.org/officeDocument/2006/relationships/slide" Target="slides/slide40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43" Type="http://schemas.openxmlformats.org/officeDocument/2006/relationships/slide" Target="slides/slide42.xml" /><Relationship Id="rId48" Type="http://schemas.openxmlformats.org/officeDocument/2006/relationships/viewProps" Target="viewProps.xml" /><Relationship Id="rId8" Type="http://schemas.openxmlformats.org/officeDocument/2006/relationships/slide" Target="slides/slide7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0392" y="295275"/>
            <a:ext cx="2159000" cy="358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0062A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11542" y="1916684"/>
            <a:ext cx="4253865" cy="855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0062A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0062A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3847" y="787209"/>
            <a:ext cx="2643473" cy="22589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129629" y="787209"/>
            <a:ext cx="2643473" cy="22589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742950"/>
            <a:ext cx="3114675" cy="21907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rgbClr val="0062A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theme" Target="../theme/theme1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3704" y="275034"/>
            <a:ext cx="2828196" cy="394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rgbClr val="0062A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7662" y="828939"/>
            <a:ext cx="5148580" cy="2199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66163" y="3183064"/>
            <a:ext cx="1944624" cy="1711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03847" y="3183064"/>
            <a:ext cx="1397698" cy="1711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75404" y="3183064"/>
            <a:ext cx="1397698" cy="1711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 /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5.pn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 /><Relationship Id="rId2" Type="http://schemas.openxmlformats.org/officeDocument/2006/relationships/image" Target="../media/image7.jpg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image" Target="../media/image11.jpg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3.pn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 /><Relationship Id="rId3" Type="http://schemas.openxmlformats.org/officeDocument/2006/relationships/image" Target="../media/image21.jpg" /><Relationship Id="rId7" Type="http://schemas.openxmlformats.org/officeDocument/2006/relationships/image" Target="../media/image25.jpg" /><Relationship Id="rId2" Type="http://schemas.openxmlformats.org/officeDocument/2006/relationships/image" Target="../media/image20.jp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24.jpg" /><Relationship Id="rId5" Type="http://schemas.openxmlformats.org/officeDocument/2006/relationships/image" Target="../media/image23.png" /><Relationship Id="rId4" Type="http://schemas.openxmlformats.org/officeDocument/2006/relationships/image" Target="../media/image22.png" /><Relationship Id="rId9" Type="http://schemas.openxmlformats.org/officeDocument/2006/relationships/image" Target="../media/image27.png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 /><Relationship Id="rId2" Type="http://schemas.openxmlformats.org/officeDocument/2006/relationships/image" Target="../media/image34.png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 /><Relationship Id="rId2" Type="http://schemas.openxmlformats.org/officeDocument/2006/relationships/image" Target="../media/image37.jpg" /><Relationship Id="rId1" Type="http://schemas.openxmlformats.org/officeDocument/2006/relationships/slideLayout" Target="../slideLayouts/slideLayout5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 /><Relationship Id="rId1" Type="http://schemas.openxmlformats.org/officeDocument/2006/relationships/slideLayout" Target="../slideLayouts/slideLayout2.xml" 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jpg" /><Relationship Id="rId3" Type="http://schemas.openxmlformats.org/officeDocument/2006/relationships/image" Target="../media/image42.png" /><Relationship Id="rId7" Type="http://schemas.openxmlformats.org/officeDocument/2006/relationships/image" Target="../media/image46.jpg" /><Relationship Id="rId2" Type="http://schemas.openxmlformats.org/officeDocument/2006/relationships/image" Target="../media/image41.png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45.jpg" /><Relationship Id="rId5" Type="http://schemas.openxmlformats.org/officeDocument/2006/relationships/image" Target="../media/image44.png" /><Relationship Id="rId10" Type="http://schemas.openxmlformats.org/officeDocument/2006/relationships/image" Target="../media/image49.png" /><Relationship Id="rId4" Type="http://schemas.openxmlformats.org/officeDocument/2006/relationships/image" Target="../media/image43.png" /><Relationship Id="rId9" Type="http://schemas.openxmlformats.org/officeDocument/2006/relationships/image" Target="../media/image48.png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 /><Relationship Id="rId2" Type="http://schemas.openxmlformats.org/officeDocument/2006/relationships/image" Target="../media/image50.png" /><Relationship Id="rId1" Type="http://schemas.openxmlformats.org/officeDocument/2006/relationships/slideLayout" Target="../slideLayouts/slideLayout2.xml" 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 /><Relationship Id="rId1" Type="http://schemas.openxmlformats.org/officeDocument/2006/relationships/slideLayout" Target="../slideLayouts/slideLayout2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 /><Relationship Id="rId1" Type="http://schemas.openxmlformats.org/officeDocument/2006/relationships/slideLayout" Target="../slideLayouts/slideLayout2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 /><Relationship Id="rId1" Type="http://schemas.openxmlformats.org/officeDocument/2006/relationships/slideLayout" Target="../slideLayouts/slideLayout2.xml" 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 /><Relationship Id="rId1" Type="http://schemas.openxmlformats.org/officeDocument/2006/relationships/slideLayout" Target="../slideLayouts/slideLayout2.xml" 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 /><Relationship Id="rId1" Type="http://schemas.openxmlformats.org/officeDocument/2006/relationships/slideLayout" Target="../slideLayouts/slideLayout2.xml" 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 /><Relationship Id="rId1" Type="http://schemas.openxmlformats.org/officeDocument/2006/relationships/slideLayout" Target="../slideLayouts/slideLayout2.xml" 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 /><Relationship Id="rId2" Type="http://schemas.openxmlformats.org/officeDocument/2006/relationships/image" Target="../media/image58.jpg" /><Relationship Id="rId1" Type="http://schemas.openxmlformats.org/officeDocument/2006/relationships/slideLayout" Target="../slideLayouts/slideLayout2.xml" 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 /><Relationship Id="rId1" Type="http://schemas.openxmlformats.org/officeDocument/2006/relationships/slideLayout" Target="../slideLayouts/slideLayout2.xml" 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 /><Relationship Id="rId1" Type="http://schemas.openxmlformats.org/officeDocument/2006/relationships/slideLayout" Target="../slideLayouts/slideLayout2.xml" 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 /><Relationship Id="rId1" Type="http://schemas.openxmlformats.org/officeDocument/2006/relationships/slideLayout" Target="../slideLayouts/slideLayout2.xml" 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 /><Relationship Id="rId2" Type="http://schemas.openxmlformats.org/officeDocument/2006/relationships/image" Target="../media/image63.jpg" /><Relationship Id="rId1" Type="http://schemas.openxmlformats.org/officeDocument/2006/relationships/slideLayout" Target="../slideLayouts/slideLayout2.xml" 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 /><Relationship Id="rId2" Type="http://schemas.openxmlformats.org/officeDocument/2006/relationships/image" Target="../media/image65.jpg" /><Relationship Id="rId1" Type="http://schemas.openxmlformats.org/officeDocument/2006/relationships/slideLayout" Target="../slideLayouts/slideLayout2.xml" 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 /><Relationship Id="rId1" Type="http://schemas.openxmlformats.org/officeDocument/2006/relationships/slideLayout" Target="../slideLayouts/slideLayout2.xml" 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 /><Relationship Id="rId2" Type="http://schemas.openxmlformats.org/officeDocument/2006/relationships/image" Target="../media/image68.jpg" /><Relationship Id="rId1" Type="http://schemas.openxmlformats.org/officeDocument/2006/relationships/slideLayout" Target="../slideLayouts/slideLayout2.xml" 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 /><Relationship Id="rId1" Type="http://schemas.openxmlformats.org/officeDocument/2006/relationships/slideLayout" Target="../slideLayouts/slideLayout2.xml" 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 /><Relationship Id="rId1" Type="http://schemas.openxmlformats.org/officeDocument/2006/relationships/slideLayout" Target="../slideLayouts/slideLayout2.xml" 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 /><Relationship Id="rId1" Type="http://schemas.openxmlformats.org/officeDocument/2006/relationships/slideLayout" Target="../slideLayouts/slideLayout2.xml" 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 /><Relationship Id="rId1" Type="http://schemas.openxmlformats.org/officeDocument/2006/relationships/slideLayout" Target="../slideLayouts/slideLayout5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599210-7658-FD39-374C-245526431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6570" y="1116685"/>
            <a:ext cx="5437460" cy="1189279"/>
          </a:xfrm>
        </p:spPr>
        <p:txBody>
          <a:bodyPr/>
          <a:lstStyle/>
          <a:p>
            <a:r>
              <a:rPr lang="en-IN" sz="6600" dirty="0"/>
              <a:t>     </a:t>
            </a:r>
            <a:r>
              <a:rPr lang="en-IN" sz="6600" b="1" i="1" dirty="0"/>
              <a:t>Minerals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2319026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14"/>
              </a:spcBef>
            </a:pPr>
            <a:r>
              <a:rPr sz="2250" spc="-75" dirty="0">
                <a:solidFill>
                  <a:srgbClr val="07528C"/>
                </a:solidFill>
              </a:rPr>
              <a:t>Introduction</a:t>
            </a:r>
            <a:endParaRPr sz="2250"/>
          </a:p>
        </p:txBody>
      </p:sp>
      <p:sp>
        <p:nvSpPr>
          <p:cNvPr id="3" name="object 3"/>
          <p:cNvSpPr txBox="1"/>
          <p:nvPr/>
        </p:nvSpPr>
        <p:spPr>
          <a:xfrm>
            <a:off x="446720" y="880268"/>
            <a:ext cx="5142865" cy="14683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4935" marR="5080" indent="-114935" algn="r">
              <a:lnSpc>
                <a:spcPts val="1605"/>
              </a:lnSpc>
              <a:spcBef>
                <a:spcPts val="105"/>
              </a:spcBef>
              <a:buClr>
                <a:srgbClr val="568231"/>
              </a:buClr>
              <a:buChar char="•"/>
              <a:tabLst>
                <a:tab pos="114935" algn="l"/>
              </a:tabLst>
            </a:pPr>
            <a:r>
              <a:rPr sz="1400" dirty="0">
                <a:solidFill>
                  <a:srgbClr val="8CA179"/>
                </a:solidFill>
                <a:latin typeface="Calibri"/>
                <a:cs typeface="Calibri"/>
              </a:rPr>
              <a:t>More</a:t>
            </a:r>
            <a:r>
              <a:rPr sz="1400" spc="-10" dirty="0">
                <a:solidFill>
                  <a:srgbClr val="8CA179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598042"/>
                </a:solidFill>
                <a:latin typeface="Calibri"/>
                <a:cs typeface="Calibri"/>
              </a:rPr>
              <a:t>than</a:t>
            </a:r>
            <a:r>
              <a:rPr sz="1400" spc="10" dirty="0">
                <a:solidFill>
                  <a:srgbClr val="598042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8AA382"/>
                </a:solidFill>
                <a:latin typeface="Calibri"/>
                <a:cs typeface="Calibri"/>
              </a:rPr>
              <a:t>50</a:t>
            </a:r>
            <a:r>
              <a:rPr sz="1400" spc="-30" dirty="0">
                <a:solidFill>
                  <a:srgbClr val="8AA382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8A9E80"/>
                </a:solidFill>
                <a:latin typeface="Calibri"/>
                <a:cs typeface="Calibri"/>
              </a:rPr>
              <a:t>chemical</a:t>
            </a:r>
            <a:r>
              <a:rPr sz="1400" spc="-35" dirty="0">
                <a:solidFill>
                  <a:srgbClr val="8A9E80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799C67"/>
                </a:solidFill>
                <a:latin typeface="Calibri"/>
                <a:cs typeface="Calibri"/>
              </a:rPr>
              <a:t>elements</a:t>
            </a:r>
            <a:r>
              <a:rPr sz="1400" spc="45" dirty="0">
                <a:solidFill>
                  <a:srgbClr val="799C67"/>
                </a:solidFill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found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human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body,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which</a:t>
            </a:r>
            <a:endParaRPr sz="1400">
              <a:latin typeface="Calibri"/>
              <a:cs typeface="Calibri"/>
            </a:endParaRPr>
          </a:p>
          <a:p>
            <a:pPr marR="46355" algn="r">
              <a:lnSpc>
                <a:spcPts val="1664"/>
              </a:lnSpc>
            </a:pPr>
            <a:r>
              <a:rPr sz="1450" spc="-35" dirty="0">
                <a:latin typeface="Calibri"/>
                <a:cs typeface="Calibri"/>
              </a:rPr>
              <a:t>are</a:t>
            </a:r>
            <a:r>
              <a:rPr sz="1450" spc="-50" dirty="0">
                <a:latin typeface="Calibri"/>
                <a:cs typeface="Calibri"/>
              </a:rPr>
              <a:t> </a:t>
            </a:r>
            <a:r>
              <a:rPr sz="1450" spc="-30" dirty="0">
                <a:latin typeface="Calibri"/>
                <a:cs typeface="Calibri"/>
              </a:rPr>
              <a:t>required</a:t>
            </a:r>
            <a:r>
              <a:rPr sz="1450" spc="-20" dirty="0">
                <a:latin typeface="Calibri"/>
                <a:cs typeface="Calibri"/>
              </a:rPr>
              <a:t> for</a:t>
            </a:r>
            <a:r>
              <a:rPr sz="1450" spc="-50" dirty="0">
                <a:latin typeface="Calibri"/>
                <a:cs typeface="Calibri"/>
              </a:rPr>
              <a:t> </a:t>
            </a:r>
            <a:r>
              <a:rPr sz="1450" spc="-30" dirty="0">
                <a:latin typeface="Calibri"/>
                <a:cs typeface="Calibri"/>
              </a:rPr>
              <a:t>growth,</a:t>
            </a:r>
            <a:r>
              <a:rPr sz="1450" spc="-10" dirty="0">
                <a:latin typeface="Calibri"/>
                <a:cs typeface="Calibri"/>
              </a:rPr>
              <a:t> </a:t>
            </a:r>
            <a:r>
              <a:rPr sz="1450" spc="-35" dirty="0">
                <a:latin typeface="Calibri"/>
                <a:cs typeface="Calibri"/>
              </a:rPr>
              <a:t>repair</a:t>
            </a:r>
            <a:r>
              <a:rPr sz="1450" spc="-30" dirty="0"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and</a:t>
            </a:r>
            <a:r>
              <a:rPr sz="1450" spc="-45" dirty="0">
                <a:latin typeface="Calibri"/>
                <a:cs typeface="Calibri"/>
              </a:rPr>
              <a:t> regulation</a:t>
            </a:r>
            <a:r>
              <a:rPr sz="1450" spc="10" dirty="0"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F0F0F"/>
                </a:solidFill>
                <a:latin typeface="Calibri"/>
                <a:cs typeface="Calibri"/>
              </a:rPr>
              <a:t>of</a:t>
            </a:r>
            <a:r>
              <a:rPr sz="1450" spc="-7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450" spc="-30" dirty="0">
                <a:latin typeface="Calibri"/>
                <a:cs typeface="Calibri"/>
              </a:rPr>
              <a:t>vital</a:t>
            </a:r>
            <a:r>
              <a:rPr sz="1450" spc="-40" dirty="0">
                <a:latin typeface="Calibri"/>
                <a:cs typeface="Calibri"/>
              </a:rPr>
              <a:t> </a:t>
            </a:r>
            <a:r>
              <a:rPr sz="1450" spc="-20" dirty="0">
                <a:latin typeface="Calibri"/>
                <a:cs typeface="Calibri"/>
              </a:rPr>
              <a:t>body</a:t>
            </a:r>
            <a:r>
              <a:rPr sz="1450" spc="-15" dirty="0"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functions.</a:t>
            </a:r>
            <a:endParaRPr sz="1450">
              <a:latin typeface="Calibri"/>
              <a:cs typeface="Calibri"/>
            </a:endParaRPr>
          </a:p>
          <a:p>
            <a:pPr marL="127635" indent="-114935">
              <a:lnSpc>
                <a:spcPct val="100000"/>
              </a:lnSpc>
              <a:spcBef>
                <a:spcPts val="260"/>
              </a:spcBef>
              <a:buChar char="•"/>
              <a:tabLst>
                <a:tab pos="127635" algn="l"/>
              </a:tabLst>
            </a:pPr>
            <a:r>
              <a:rPr sz="1400" spc="-10" dirty="0">
                <a:latin typeface="Calibri"/>
                <a:cs typeface="Calibri"/>
              </a:rPr>
              <a:t>Minerals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can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categorized</a:t>
            </a:r>
            <a:r>
              <a:rPr sz="1400" spc="11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into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31313"/>
                </a:solidFill>
                <a:latin typeface="Calibri"/>
                <a:cs typeface="Calibri"/>
              </a:rPr>
              <a:t>3</a:t>
            </a:r>
            <a:r>
              <a:rPr sz="1400" spc="-8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groups:</a:t>
            </a:r>
            <a:endParaRPr sz="1400">
              <a:latin typeface="Calibri"/>
              <a:cs typeface="Calibri"/>
            </a:endParaRPr>
          </a:p>
          <a:p>
            <a:pPr marL="349885" lvl="1" indent="-116205">
              <a:lnSpc>
                <a:spcPct val="100000"/>
              </a:lnSpc>
              <a:spcBef>
                <a:spcPts val="170"/>
              </a:spcBef>
              <a:buChar char="•"/>
              <a:tabLst>
                <a:tab pos="349885" algn="l"/>
              </a:tabLst>
            </a:pPr>
            <a:r>
              <a:rPr sz="1200" dirty="0">
                <a:latin typeface="Calibri"/>
                <a:cs typeface="Calibri"/>
              </a:rPr>
              <a:t>Major</a:t>
            </a:r>
            <a:r>
              <a:rPr sz="1200" spc="8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minerals</a:t>
            </a:r>
            <a:endParaRPr sz="1200">
              <a:latin typeface="Calibri"/>
              <a:cs typeface="Calibri"/>
            </a:endParaRPr>
          </a:p>
          <a:p>
            <a:pPr marL="361315" lvl="1" indent="-126364">
              <a:lnSpc>
                <a:spcPct val="100000"/>
              </a:lnSpc>
              <a:spcBef>
                <a:spcPts val="160"/>
              </a:spcBef>
              <a:buChar char="•"/>
              <a:tabLst>
                <a:tab pos="361315" algn="l"/>
              </a:tabLst>
            </a:pPr>
            <a:r>
              <a:rPr sz="1100" dirty="0">
                <a:latin typeface="Calibri"/>
                <a:cs typeface="Calibri"/>
              </a:rPr>
              <a:t>Tface</a:t>
            </a:r>
            <a:r>
              <a:rPr sz="1100" spc="16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minerals</a:t>
            </a:r>
            <a:endParaRPr sz="1100">
              <a:latin typeface="Calibri"/>
              <a:cs typeface="Calibri"/>
            </a:endParaRPr>
          </a:p>
          <a:p>
            <a:pPr marL="360045" marR="512445" lvl="1" indent="-127000">
              <a:lnSpc>
                <a:spcPts val="1310"/>
              </a:lnSpc>
              <a:spcBef>
                <a:spcPts val="270"/>
              </a:spcBef>
              <a:buChar char="•"/>
              <a:tabLst>
                <a:tab pos="360045" algn="l"/>
                <a:tab pos="361950" algn="l"/>
              </a:tabLst>
            </a:pPr>
            <a:r>
              <a:rPr sz="1250" dirty="0">
                <a:latin typeface="Calibri"/>
                <a:cs typeface="Calibri"/>
              </a:rPr>
              <a:t>	</a:t>
            </a:r>
            <a:r>
              <a:rPr sz="1250" spc="-45" dirty="0">
                <a:latin typeface="Calibri"/>
                <a:cs typeface="Calibri"/>
              </a:rPr>
              <a:t>Trace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spc="-35" dirty="0">
                <a:latin typeface="Calibri"/>
                <a:cs typeface="Calibri"/>
              </a:rPr>
              <a:t>contaminants</a:t>
            </a:r>
            <a:r>
              <a:rPr sz="1250" spc="15" dirty="0">
                <a:latin typeface="Calibri"/>
                <a:cs typeface="Calibri"/>
              </a:rPr>
              <a:t> </a:t>
            </a:r>
            <a:r>
              <a:rPr sz="1250" spc="-20" dirty="0">
                <a:latin typeface="Calibri"/>
                <a:cs typeface="Calibri"/>
              </a:rPr>
              <a:t>without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spc="-45" dirty="0">
                <a:latin typeface="Calibri"/>
                <a:cs typeface="Calibri"/>
              </a:rPr>
              <a:t>known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spc="-35" dirty="0">
                <a:solidFill>
                  <a:srgbClr val="0A0A0A"/>
                </a:solidFill>
                <a:latin typeface="Calibri"/>
                <a:cs typeface="Calibri"/>
              </a:rPr>
              <a:t>function:</a:t>
            </a:r>
            <a:r>
              <a:rPr sz="1250" spc="-10" dirty="0">
                <a:solidFill>
                  <a:srgbClr val="0A0A0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1A04F"/>
                </a:solidFill>
                <a:latin typeface="Calibri"/>
                <a:cs typeface="Calibri"/>
              </a:rPr>
              <a:t>Lead, </a:t>
            </a:r>
            <a:r>
              <a:rPr sz="1250" spc="-35" dirty="0">
                <a:solidFill>
                  <a:srgbClr val="62AA7E"/>
                </a:solidFill>
                <a:latin typeface="Calibri"/>
                <a:cs typeface="Calibri"/>
              </a:rPr>
              <a:t>mercury,</a:t>
            </a:r>
            <a:r>
              <a:rPr sz="1250" spc="-20" dirty="0">
                <a:solidFill>
                  <a:srgbClr val="62AA7E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42B174"/>
                </a:solidFill>
                <a:latin typeface="Calibri"/>
                <a:cs typeface="Calibri"/>
              </a:rPr>
              <a:t> </a:t>
            </a:r>
            <a:r>
              <a:rPr sz="1250" spc="-30" dirty="0">
                <a:solidFill>
                  <a:srgbClr val="2AB169"/>
                </a:solidFill>
                <a:latin typeface="Calibri"/>
                <a:cs typeface="Calibri"/>
              </a:rPr>
              <a:t>boron,</a:t>
            </a:r>
            <a:r>
              <a:rPr sz="1250" spc="35" dirty="0">
                <a:solidFill>
                  <a:srgbClr val="2AB169"/>
                </a:solidFill>
                <a:latin typeface="Calibri"/>
                <a:cs typeface="Calibri"/>
              </a:rPr>
              <a:t> </a:t>
            </a:r>
            <a:r>
              <a:rPr sz="1250" spc="-35" dirty="0">
                <a:solidFill>
                  <a:srgbClr val="7CD69A"/>
                </a:solidFill>
                <a:latin typeface="Calibri"/>
                <a:cs typeface="Calibri"/>
              </a:rPr>
              <a:t>and </a:t>
            </a:r>
            <a:r>
              <a:rPr sz="1250" spc="-10" dirty="0">
                <a:solidFill>
                  <a:srgbClr val="4BD180"/>
                </a:solidFill>
                <a:latin typeface="Calibri"/>
                <a:cs typeface="Calibri"/>
              </a:rPr>
              <a:t>aluminum</a:t>
            </a:r>
            <a:endParaRPr sz="12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" y="2730500"/>
            <a:ext cx="210820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0" y="1743075"/>
            <a:ext cx="2647950" cy="1600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14700" y="190500"/>
            <a:ext cx="2657475" cy="128587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25"/>
              </a:spcBef>
            </a:pPr>
            <a:r>
              <a:rPr spc="-55" dirty="0">
                <a:solidFill>
                  <a:srgbClr val="0F5287"/>
                </a:solidFill>
              </a:rPr>
              <a:t>Introduction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82977" y="702405"/>
            <a:ext cx="3706495" cy="2081339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0" indent="-114300">
              <a:lnSpc>
                <a:spcPct val="100000"/>
              </a:lnSpc>
              <a:spcBef>
                <a:spcPts val="450"/>
              </a:spcBef>
              <a:buClr>
                <a:srgbClr val="1867A7"/>
              </a:buClr>
              <a:buChar char="•"/>
              <a:tabLst>
                <a:tab pos="127000" algn="l"/>
              </a:tabLst>
            </a:pPr>
            <a:r>
              <a:rPr sz="1350" dirty="0">
                <a:solidFill>
                  <a:srgbClr val="1D66A0"/>
                </a:solidFill>
                <a:latin typeface="Calibri"/>
                <a:cs typeface="Calibri"/>
              </a:rPr>
              <a:t>Major</a:t>
            </a:r>
            <a:r>
              <a:rPr sz="1350" spc="180" dirty="0">
                <a:solidFill>
                  <a:srgbClr val="1D66A0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66DAA"/>
                </a:solidFill>
                <a:latin typeface="Calibri"/>
                <a:cs typeface="Calibri"/>
              </a:rPr>
              <a:t>Minerals</a:t>
            </a:r>
            <a:endParaRPr sz="1350">
              <a:latin typeface="Calibri"/>
              <a:cs typeface="Calibri"/>
            </a:endParaRPr>
          </a:p>
          <a:p>
            <a:pPr marL="20320">
              <a:lnSpc>
                <a:spcPct val="100000"/>
              </a:lnSpc>
              <a:spcBef>
                <a:spcPts val="355"/>
              </a:spcBef>
            </a:pPr>
            <a:r>
              <a:rPr sz="1400" dirty="0">
                <a:latin typeface="Calibri"/>
                <a:cs typeface="Calibri"/>
              </a:rPr>
              <a:t>°</a:t>
            </a:r>
            <a:r>
              <a:rPr sz="1400" spc="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Also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known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31313"/>
                </a:solidFill>
                <a:latin typeface="Calibri"/>
                <a:cs typeface="Calibri"/>
              </a:rPr>
              <a:t>as</a:t>
            </a:r>
            <a:r>
              <a:rPr sz="1400" spc="-6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69359"/>
                </a:solidFill>
                <a:latin typeface="Calibri"/>
                <a:cs typeface="Calibri"/>
              </a:rPr>
              <a:t>Macro-</a:t>
            </a:r>
            <a:r>
              <a:rPr sz="1400" spc="-10" dirty="0">
                <a:solidFill>
                  <a:srgbClr val="269359"/>
                </a:solidFill>
                <a:latin typeface="Calibri"/>
                <a:cs typeface="Calibri"/>
              </a:rPr>
              <a:t>minerals</a:t>
            </a:r>
            <a:endParaRPr sz="1400">
              <a:latin typeface="Calibri"/>
              <a:cs typeface="Calibri"/>
            </a:endParaRPr>
          </a:p>
          <a:p>
            <a:pPr marL="130175" indent="-117475">
              <a:lnSpc>
                <a:spcPct val="100000"/>
              </a:lnSpc>
              <a:spcBef>
                <a:spcPts val="395"/>
              </a:spcBef>
              <a:buClr>
                <a:srgbClr val="000000"/>
              </a:buClr>
              <a:buChar char="•"/>
              <a:tabLst>
                <a:tab pos="130175" algn="l"/>
              </a:tabLst>
            </a:pPr>
            <a:r>
              <a:rPr sz="1350" dirty="0">
                <a:solidFill>
                  <a:srgbClr val="0F0F0F"/>
                </a:solidFill>
                <a:latin typeface="Calibri"/>
                <a:cs typeface="Calibri"/>
              </a:rPr>
              <a:t>They</a:t>
            </a:r>
            <a:r>
              <a:rPr sz="1350" spc="-1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are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vita!</a:t>
            </a:r>
            <a:r>
              <a:rPr sz="1350" spc="10" dirty="0">
                <a:latin typeface="Calibri"/>
                <a:cs typeface="Calibri"/>
              </a:rPr>
              <a:t> </a:t>
            </a:r>
            <a:r>
              <a:rPr sz="1350" spc="-30" dirty="0">
                <a:solidFill>
                  <a:srgbClr val="0E0E0E"/>
                </a:solidFill>
                <a:latin typeface="Calibri"/>
                <a:cs typeface="Calibri"/>
              </a:rPr>
              <a:t>tD</a:t>
            </a:r>
            <a:r>
              <a:rPr sz="1350" spc="-3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C1C1C"/>
                </a:solidFill>
                <a:latin typeface="Calibri"/>
                <a:cs typeface="Calibri"/>
              </a:rPr>
              <a:t>health</a:t>
            </a:r>
            <a:endParaRPr sz="1350">
              <a:latin typeface="Calibri"/>
              <a:cs typeface="Calibri"/>
            </a:endParaRPr>
          </a:p>
          <a:p>
            <a:pPr marL="127000" indent="-114300">
              <a:lnSpc>
                <a:spcPct val="100000"/>
              </a:lnSpc>
              <a:spcBef>
                <a:spcPts val="370"/>
              </a:spcBef>
              <a:buChar char="•"/>
              <a:tabLst>
                <a:tab pos="127000" algn="l"/>
              </a:tabLst>
            </a:pPr>
            <a:r>
              <a:rPr sz="1350" dirty="0">
                <a:latin typeface="Calibri"/>
                <a:cs typeface="Calibri"/>
              </a:rPr>
              <a:t>Required</a:t>
            </a:r>
            <a:r>
              <a:rPr sz="1350" spc="110" dirty="0"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C1C1C"/>
                </a:solidFill>
                <a:latin typeface="Calibri"/>
                <a:cs typeface="Calibri"/>
              </a:rPr>
              <a:t>in</a:t>
            </a:r>
            <a:r>
              <a:rPr sz="1350" spc="1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</a:t>
            </a:r>
            <a:r>
              <a:rPr sz="1350" spc="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diet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31313"/>
                </a:solidFill>
                <a:latin typeface="Calibri"/>
                <a:cs typeface="Calibri"/>
              </a:rPr>
              <a:t>by</a:t>
            </a:r>
            <a:r>
              <a:rPr sz="1350" spc="3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18E59"/>
                </a:solidFill>
                <a:latin typeface="Calibri"/>
                <a:cs typeface="Calibri"/>
              </a:rPr>
              <a:t>more</a:t>
            </a:r>
            <a:r>
              <a:rPr sz="1350" spc="160" dirty="0">
                <a:solidFill>
                  <a:srgbClr val="318E59"/>
                </a:solidFill>
                <a:latin typeface="Calibri"/>
                <a:cs typeface="Calibri"/>
              </a:rPr>
              <a:t> </a:t>
            </a:r>
            <a:r>
              <a:rPr sz="1350" spc="-45" dirty="0">
                <a:solidFill>
                  <a:srgbClr val="48A574"/>
                </a:solidFill>
                <a:latin typeface="Calibri"/>
                <a:cs typeface="Calibri"/>
              </a:rPr>
              <a:t>t</a:t>
            </a:r>
            <a:r>
              <a:rPr lang="en-IN" sz="1350" spc="-45" dirty="0">
                <a:solidFill>
                  <a:srgbClr val="48A574"/>
                </a:solidFill>
                <a:latin typeface="Calibri"/>
                <a:cs typeface="Calibri"/>
              </a:rPr>
              <a:t>h</a:t>
            </a:r>
            <a:r>
              <a:rPr sz="1350" spc="-45" dirty="0">
                <a:solidFill>
                  <a:srgbClr val="48A574"/>
                </a:solidFill>
                <a:latin typeface="Calibri"/>
                <a:cs typeface="Calibri"/>
              </a:rPr>
              <a:t>an</a:t>
            </a:r>
            <a:r>
              <a:rPr sz="1350" spc="60" dirty="0">
                <a:solidFill>
                  <a:srgbClr val="48A574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FA55E"/>
                </a:solidFill>
                <a:latin typeface="Calibri"/>
                <a:cs typeface="Calibri"/>
              </a:rPr>
              <a:t>100mg</a:t>
            </a:r>
            <a:r>
              <a:rPr sz="1350" spc="120" dirty="0">
                <a:solidFill>
                  <a:srgbClr val="2FA55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C9050"/>
                </a:solidFill>
                <a:latin typeface="Calibri"/>
                <a:cs typeface="Calibri"/>
              </a:rPr>
              <a:t>per</a:t>
            </a:r>
            <a:r>
              <a:rPr sz="1350" spc="5" dirty="0">
                <a:solidFill>
                  <a:srgbClr val="1C9050"/>
                </a:solidFill>
                <a:latin typeface="Calibri"/>
                <a:cs typeface="Calibri"/>
              </a:rPr>
              <a:t> </a:t>
            </a:r>
            <a:r>
              <a:rPr sz="1350" spc="-25" dirty="0">
                <a:solidFill>
                  <a:srgbClr val="2F9C62"/>
                </a:solidFill>
                <a:latin typeface="Calibri"/>
                <a:cs typeface="Calibri"/>
              </a:rPr>
              <a:t>day</a:t>
            </a:r>
            <a:endParaRPr sz="1350">
              <a:latin typeface="Calibri"/>
              <a:cs typeface="Calibri"/>
            </a:endParaRPr>
          </a:p>
          <a:p>
            <a:pPr marL="130175" indent="-117475">
              <a:lnSpc>
                <a:spcPct val="100000"/>
              </a:lnSpc>
              <a:spcBef>
                <a:spcPts val="365"/>
              </a:spcBef>
              <a:buClr>
                <a:srgbClr val="1160A3"/>
              </a:buClr>
              <a:buChar char="•"/>
              <a:tabLst>
                <a:tab pos="130175" algn="l"/>
              </a:tabLst>
            </a:pPr>
            <a:r>
              <a:rPr sz="1350" dirty="0">
                <a:solidFill>
                  <a:srgbClr val="1D598E"/>
                </a:solidFill>
                <a:latin typeface="Calibri"/>
                <a:cs typeface="Calibri"/>
              </a:rPr>
              <a:t>Trace</a:t>
            </a:r>
            <a:r>
              <a:rPr sz="1350" spc="-40" dirty="0">
                <a:solidFill>
                  <a:srgbClr val="1D598E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66EAF"/>
                </a:solidFill>
                <a:latin typeface="Calibri"/>
                <a:cs typeface="Calibri"/>
              </a:rPr>
              <a:t>Minerals</a:t>
            </a:r>
            <a:endParaRPr sz="1350">
              <a:latin typeface="Calibri"/>
              <a:cs typeface="Calibri"/>
            </a:endParaRPr>
          </a:p>
          <a:p>
            <a:pPr marL="20320">
              <a:lnSpc>
                <a:spcPct val="100000"/>
              </a:lnSpc>
              <a:spcBef>
                <a:spcPts val="355"/>
              </a:spcBef>
            </a:pPr>
            <a:r>
              <a:rPr sz="1400" dirty="0">
                <a:latin typeface="Calibri"/>
                <a:cs typeface="Calibri"/>
              </a:rPr>
              <a:t>°</a:t>
            </a:r>
            <a:r>
              <a:rPr sz="1400" spc="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Also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Known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4976B"/>
                </a:solidFill>
                <a:latin typeface="Calibri"/>
                <a:cs typeface="Calibri"/>
              </a:rPr>
              <a:t>Micro-</a:t>
            </a:r>
            <a:r>
              <a:rPr sz="1400" spc="-10" dirty="0">
                <a:solidFill>
                  <a:srgbClr val="44976B"/>
                </a:solidFill>
                <a:latin typeface="Calibri"/>
                <a:cs typeface="Calibri"/>
              </a:rPr>
              <a:t>minerals</a:t>
            </a:r>
            <a:endParaRPr sz="1400">
              <a:latin typeface="Calibri"/>
              <a:cs typeface="Calibri"/>
            </a:endParaRPr>
          </a:p>
          <a:p>
            <a:pPr marL="131445" indent="-118745">
              <a:lnSpc>
                <a:spcPct val="100000"/>
              </a:lnSpc>
              <a:spcBef>
                <a:spcPts val="345"/>
              </a:spcBef>
              <a:buChar char="•"/>
              <a:tabLst>
                <a:tab pos="131445" algn="l"/>
              </a:tabLst>
            </a:pPr>
            <a:r>
              <a:rPr sz="1400" spc="-10" dirty="0">
                <a:latin typeface="Calibri"/>
                <a:cs typeface="Calibri"/>
              </a:rPr>
              <a:t>They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Vital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1C1C"/>
                </a:solidFill>
                <a:latin typeface="Calibri"/>
                <a:cs typeface="Calibri"/>
              </a:rPr>
              <a:t>to</a:t>
            </a:r>
            <a:r>
              <a:rPr sz="1400" spc="-7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health</a:t>
            </a:r>
            <a:endParaRPr sz="1400">
              <a:latin typeface="Calibri"/>
              <a:cs typeface="Calibri"/>
            </a:endParaRPr>
          </a:p>
          <a:p>
            <a:pPr marL="130175" indent="-116839">
              <a:lnSpc>
                <a:spcPct val="100000"/>
              </a:lnSpc>
              <a:spcBef>
                <a:spcPts val="370"/>
              </a:spcBef>
              <a:buChar char="•"/>
              <a:tabLst>
                <a:tab pos="130175" algn="l"/>
              </a:tabLst>
            </a:pPr>
            <a:r>
              <a:rPr sz="1300" dirty="0">
                <a:latin typeface="Calibri"/>
                <a:cs typeface="Calibri"/>
              </a:rPr>
              <a:t>Required</a:t>
            </a:r>
            <a:r>
              <a:rPr sz="1300" spc="210" dirty="0"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D9159"/>
                </a:solidFill>
                <a:latin typeface="Calibri"/>
                <a:cs typeface="Calibri"/>
              </a:rPr>
              <a:t>less</a:t>
            </a:r>
            <a:r>
              <a:rPr sz="1300" spc="200" dirty="0">
                <a:solidFill>
                  <a:srgbClr val="2D9159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6A76D"/>
                </a:solidFill>
                <a:latin typeface="Calibri"/>
                <a:cs typeface="Calibri"/>
              </a:rPr>
              <a:t>than</a:t>
            </a:r>
            <a:r>
              <a:rPr sz="1300" spc="185" dirty="0">
                <a:solidFill>
                  <a:srgbClr val="36A76D"/>
                </a:solidFill>
                <a:latin typeface="Calibri"/>
                <a:cs typeface="Calibri"/>
              </a:rPr>
              <a:t> </a:t>
            </a:r>
            <a:r>
              <a:rPr sz="1300" spc="65" dirty="0">
                <a:solidFill>
                  <a:srgbClr val="16904B"/>
                </a:solidFill>
                <a:latin typeface="Calibri"/>
                <a:cs typeface="Calibri"/>
              </a:rPr>
              <a:t>20</a:t>
            </a:r>
            <a:r>
              <a:rPr lang="en-IN" sz="1300" spc="65" dirty="0">
                <a:solidFill>
                  <a:srgbClr val="16904B"/>
                </a:solidFill>
                <a:latin typeface="Calibri"/>
                <a:cs typeface="Calibri"/>
              </a:rPr>
              <a:t>m</a:t>
            </a:r>
            <a:r>
              <a:rPr sz="1300" spc="65" dirty="0">
                <a:solidFill>
                  <a:srgbClr val="16904B"/>
                </a:solidFill>
                <a:latin typeface="Calibri"/>
                <a:cs typeface="Calibri"/>
              </a:rPr>
              <a:t>cg</a:t>
            </a:r>
            <a:r>
              <a:rPr sz="1300" spc="135" dirty="0">
                <a:solidFill>
                  <a:srgbClr val="16904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68954"/>
                </a:solidFill>
                <a:latin typeface="Calibri"/>
                <a:cs typeface="Calibri"/>
              </a:rPr>
              <a:t>per</a:t>
            </a:r>
            <a:r>
              <a:rPr sz="1300" spc="190" dirty="0">
                <a:solidFill>
                  <a:srgbClr val="268954"/>
                </a:solidFill>
                <a:latin typeface="Calibri"/>
                <a:cs typeface="Calibri"/>
              </a:rPr>
              <a:t> </a:t>
            </a:r>
            <a:r>
              <a:rPr lang="en-IN" sz="1300" spc="-20" dirty="0">
                <a:solidFill>
                  <a:srgbClr val="46B87C"/>
                </a:solidFill>
                <a:latin typeface="Calibri"/>
                <a:cs typeface="Calibri"/>
              </a:rPr>
              <a:t>day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0500" y="3098800"/>
            <a:ext cx="10795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25"/>
              </a:spcBef>
            </a:pPr>
            <a:r>
              <a:rPr spc="-35" dirty="0">
                <a:solidFill>
                  <a:srgbClr val="005EAA"/>
                </a:solidFill>
              </a:rPr>
              <a:t>Function</a:t>
            </a:r>
            <a:r>
              <a:rPr spc="-30" dirty="0">
                <a:solidFill>
                  <a:srgbClr val="005EAA"/>
                </a:solidFill>
              </a:rPr>
              <a:t> </a:t>
            </a:r>
            <a:r>
              <a:rPr dirty="0">
                <a:solidFill>
                  <a:srgbClr val="137BC6"/>
                </a:solidFill>
              </a:rPr>
              <a:t>of</a:t>
            </a:r>
            <a:r>
              <a:rPr spc="-125" dirty="0">
                <a:solidFill>
                  <a:srgbClr val="137BC6"/>
                </a:solidFill>
              </a:rPr>
              <a:t> </a:t>
            </a:r>
            <a:r>
              <a:rPr spc="-45" dirty="0">
                <a:solidFill>
                  <a:srgbClr val="0372BA"/>
                </a:solidFill>
              </a:rPr>
              <a:t>Minerals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9845">
              <a:lnSpc>
                <a:spcPct val="100000"/>
              </a:lnSpc>
              <a:spcBef>
                <a:spcPts val="500"/>
              </a:spcBef>
            </a:pPr>
            <a:r>
              <a:rPr sz="1350" dirty="0"/>
              <a:t>°</a:t>
            </a:r>
            <a:r>
              <a:rPr sz="1350" spc="210" dirty="0"/>
              <a:t> </a:t>
            </a:r>
            <a:r>
              <a:rPr sz="1350" dirty="0"/>
              <a:t>As</a:t>
            </a:r>
            <a:r>
              <a:rPr sz="1350" spc="100" dirty="0"/>
              <a:t> </a:t>
            </a:r>
            <a:r>
              <a:rPr sz="1350" dirty="0"/>
              <a:t>Constituents</a:t>
            </a:r>
            <a:r>
              <a:rPr sz="1350" spc="145" dirty="0"/>
              <a:t> </a:t>
            </a:r>
            <a:r>
              <a:rPr sz="1350" dirty="0"/>
              <a:t>of</a:t>
            </a:r>
            <a:r>
              <a:rPr sz="1350" spc="40" dirty="0"/>
              <a:t> </a:t>
            </a:r>
            <a:r>
              <a:rPr sz="1350" dirty="0"/>
              <a:t>bones</a:t>
            </a:r>
            <a:r>
              <a:rPr sz="1350" spc="55" dirty="0"/>
              <a:t> </a:t>
            </a:r>
            <a:r>
              <a:rPr sz="1350" dirty="0"/>
              <a:t>and</a:t>
            </a:r>
            <a:r>
              <a:rPr sz="1350" spc="10" dirty="0"/>
              <a:t> </a:t>
            </a:r>
            <a:r>
              <a:rPr sz="1350" dirty="0"/>
              <a:t>teeth:</a:t>
            </a:r>
            <a:r>
              <a:rPr sz="1350" spc="185" dirty="0"/>
              <a:t> </a:t>
            </a:r>
            <a:r>
              <a:rPr sz="1350" dirty="0"/>
              <a:t>Ca,</a:t>
            </a:r>
            <a:r>
              <a:rPr sz="1350" spc="85" dirty="0"/>
              <a:t> </a:t>
            </a:r>
            <a:r>
              <a:rPr sz="1350" spc="-90" dirty="0"/>
              <a:t>P,</a:t>
            </a:r>
            <a:r>
              <a:rPr sz="1350" spc="120" dirty="0"/>
              <a:t> </a:t>
            </a:r>
            <a:r>
              <a:rPr sz="1350" spc="-35" dirty="0"/>
              <a:t>Mg</a:t>
            </a:r>
            <a:endParaRPr sz="1350"/>
          </a:p>
          <a:p>
            <a:pPr marL="29845">
              <a:lnSpc>
                <a:spcPct val="100000"/>
              </a:lnSpc>
              <a:spcBef>
                <a:spcPts val="405"/>
              </a:spcBef>
            </a:pPr>
            <a:r>
              <a:rPr sz="1350" dirty="0"/>
              <a:t>°</a:t>
            </a:r>
            <a:r>
              <a:rPr sz="1350" spc="215" dirty="0"/>
              <a:t> </a:t>
            </a:r>
            <a:r>
              <a:rPr sz="1350" dirty="0">
                <a:solidFill>
                  <a:srgbClr val="0F0F0F"/>
                </a:solidFill>
              </a:rPr>
              <a:t>As</a:t>
            </a:r>
            <a:r>
              <a:rPr sz="1350" spc="105" dirty="0">
                <a:solidFill>
                  <a:srgbClr val="0F0F0F"/>
                </a:solidFill>
              </a:rPr>
              <a:t> </a:t>
            </a:r>
            <a:r>
              <a:rPr sz="1350" dirty="0"/>
              <a:t>Constituents</a:t>
            </a:r>
            <a:r>
              <a:rPr sz="1350" spc="155" dirty="0"/>
              <a:t> </a:t>
            </a:r>
            <a:r>
              <a:rPr sz="1350" dirty="0"/>
              <a:t>of</a:t>
            </a:r>
            <a:r>
              <a:rPr sz="1350" spc="10" dirty="0"/>
              <a:t> </a:t>
            </a:r>
            <a:r>
              <a:rPr sz="1350" dirty="0"/>
              <a:t>soft</a:t>
            </a:r>
            <a:r>
              <a:rPr sz="1350" spc="95" dirty="0"/>
              <a:t> </a:t>
            </a:r>
            <a:r>
              <a:rPr sz="1350" dirty="0"/>
              <a:t>tissues</a:t>
            </a:r>
            <a:r>
              <a:rPr sz="1350" spc="110" dirty="0"/>
              <a:t> </a:t>
            </a:r>
            <a:r>
              <a:rPr sz="1350" dirty="0"/>
              <a:t>(liver):</a:t>
            </a:r>
            <a:r>
              <a:rPr sz="1350" spc="145" dirty="0"/>
              <a:t> </a:t>
            </a:r>
            <a:r>
              <a:rPr sz="1350" spc="-50" dirty="0">
                <a:solidFill>
                  <a:srgbClr val="232323"/>
                </a:solidFill>
              </a:rPr>
              <a:t>P</a:t>
            </a:r>
            <a:endParaRPr sz="1350"/>
          </a:p>
          <a:p>
            <a:pPr marL="135255" marR="519430" indent="-113664">
              <a:lnSpc>
                <a:spcPts val="1500"/>
              </a:lnSpc>
              <a:spcBef>
                <a:spcPts val="555"/>
              </a:spcBef>
              <a:buChar char="•"/>
              <a:tabLst>
                <a:tab pos="135255" algn="l"/>
                <a:tab pos="137795" algn="l"/>
              </a:tabLst>
            </a:pPr>
            <a:r>
              <a:rPr sz="1350" dirty="0"/>
              <a:t>	</a:t>
            </a:r>
            <a:r>
              <a:rPr sz="1350" dirty="0">
                <a:solidFill>
                  <a:srgbClr val="1F1F1F"/>
                </a:solidFill>
              </a:rPr>
              <a:t>As</a:t>
            </a:r>
            <a:r>
              <a:rPr sz="1350" spc="55" dirty="0">
                <a:solidFill>
                  <a:srgbClr val="1F1F1F"/>
                </a:solidFill>
              </a:rPr>
              <a:t> </a:t>
            </a:r>
            <a:r>
              <a:rPr sz="1350" dirty="0">
                <a:solidFill>
                  <a:srgbClr val="0F0F0F"/>
                </a:solidFill>
              </a:rPr>
              <a:t>soluble</a:t>
            </a:r>
            <a:r>
              <a:rPr sz="1350" spc="85" dirty="0">
                <a:solidFill>
                  <a:srgbClr val="0F0F0F"/>
                </a:solidFill>
              </a:rPr>
              <a:t> </a:t>
            </a:r>
            <a:r>
              <a:rPr sz="1350" dirty="0"/>
              <a:t>salts</a:t>
            </a:r>
            <a:r>
              <a:rPr sz="1350" spc="30" dirty="0"/>
              <a:t> </a:t>
            </a:r>
            <a:r>
              <a:rPr sz="1350" dirty="0"/>
              <a:t>that</a:t>
            </a:r>
            <a:r>
              <a:rPr sz="1350" spc="40" dirty="0"/>
              <a:t> </a:t>
            </a:r>
            <a:r>
              <a:rPr sz="1350" dirty="0"/>
              <a:t>give</a:t>
            </a:r>
            <a:r>
              <a:rPr sz="1350" spc="5" dirty="0"/>
              <a:t> </a:t>
            </a:r>
            <a:r>
              <a:rPr sz="1350" dirty="0">
                <a:solidFill>
                  <a:srgbClr val="181818"/>
                </a:solidFill>
              </a:rPr>
              <a:t>to</a:t>
            </a:r>
            <a:r>
              <a:rPr sz="1350" spc="-5" dirty="0">
                <a:solidFill>
                  <a:srgbClr val="181818"/>
                </a:solidFill>
              </a:rPr>
              <a:t> </a:t>
            </a:r>
            <a:r>
              <a:rPr sz="1350" dirty="0"/>
              <a:t>body</a:t>
            </a:r>
            <a:r>
              <a:rPr sz="1350" spc="70" dirty="0"/>
              <a:t> </a:t>
            </a:r>
            <a:r>
              <a:rPr sz="1350" dirty="0"/>
              <a:t>fluid</a:t>
            </a:r>
            <a:r>
              <a:rPr sz="1350" spc="100" dirty="0"/>
              <a:t> </a:t>
            </a:r>
            <a:r>
              <a:rPr sz="1350" dirty="0"/>
              <a:t>and</a:t>
            </a:r>
            <a:r>
              <a:rPr sz="1350" spc="25" dirty="0"/>
              <a:t> </a:t>
            </a:r>
            <a:r>
              <a:rPr sz="1350" dirty="0"/>
              <a:t>cell</a:t>
            </a:r>
            <a:r>
              <a:rPr sz="1350" spc="-5" dirty="0"/>
              <a:t> </a:t>
            </a:r>
            <a:r>
              <a:rPr sz="1350" dirty="0"/>
              <a:t>content,</a:t>
            </a:r>
            <a:r>
              <a:rPr sz="1350" spc="135" dirty="0"/>
              <a:t> </a:t>
            </a:r>
            <a:r>
              <a:rPr sz="1350" spc="-10" dirty="0"/>
              <a:t>their </a:t>
            </a:r>
            <a:r>
              <a:rPr sz="1350" dirty="0"/>
              <a:t>composition</a:t>
            </a:r>
            <a:r>
              <a:rPr sz="1350" spc="90" dirty="0"/>
              <a:t> </a:t>
            </a:r>
            <a:r>
              <a:rPr sz="1350" dirty="0"/>
              <a:t>and</a:t>
            </a:r>
            <a:r>
              <a:rPr sz="1350" spc="35" dirty="0"/>
              <a:t> </a:t>
            </a:r>
            <a:r>
              <a:rPr sz="1350" dirty="0"/>
              <a:t>Stability</a:t>
            </a:r>
            <a:r>
              <a:rPr sz="1350" spc="95" dirty="0"/>
              <a:t> </a:t>
            </a:r>
            <a:r>
              <a:rPr sz="1350" dirty="0"/>
              <a:t>that</a:t>
            </a:r>
            <a:r>
              <a:rPr sz="1350" spc="95" dirty="0"/>
              <a:t> </a:t>
            </a:r>
            <a:r>
              <a:rPr sz="1350" dirty="0"/>
              <a:t>are</a:t>
            </a:r>
            <a:r>
              <a:rPr sz="1350" spc="60" dirty="0"/>
              <a:t> </a:t>
            </a:r>
            <a:r>
              <a:rPr sz="1350" dirty="0"/>
              <a:t>essential</a:t>
            </a:r>
            <a:r>
              <a:rPr sz="1350" spc="95" dirty="0"/>
              <a:t> </a:t>
            </a:r>
            <a:r>
              <a:rPr sz="1350" dirty="0"/>
              <a:t>for</a:t>
            </a:r>
            <a:r>
              <a:rPr sz="1350" spc="55" dirty="0"/>
              <a:t> </a:t>
            </a:r>
            <a:r>
              <a:rPr sz="1350" spc="-114" dirty="0"/>
              <a:t>life—</a:t>
            </a:r>
            <a:r>
              <a:rPr sz="1350" spc="30" dirty="0"/>
              <a:t> </a:t>
            </a:r>
            <a:r>
              <a:rPr sz="1350" dirty="0"/>
              <a:t>Na,</a:t>
            </a:r>
            <a:r>
              <a:rPr sz="1350" spc="50" dirty="0"/>
              <a:t> </a:t>
            </a:r>
            <a:r>
              <a:rPr sz="1350" dirty="0"/>
              <a:t>K,</a:t>
            </a:r>
            <a:r>
              <a:rPr sz="1350" spc="-10" dirty="0"/>
              <a:t> </a:t>
            </a:r>
            <a:r>
              <a:rPr sz="1350" dirty="0"/>
              <a:t>Cl,</a:t>
            </a:r>
            <a:r>
              <a:rPr sz="1350" spc="-40" dirty="0"/>
              <a:t> </a:t>
            </a:r>
            <a:r>
              <a:rPr sz="1350" spc="-50" dirty="0"/>
              <a:t>P</a:t>
            </a:r>
            <a:endParaRPr sz="1350"/>
          </a:p>
          <a:p>
            <a:pPr marL="135890" indent="-113664">
              <a:lnSpc>
                <a:spcPct val="100000"/>
              </a:lnSpc>
              <a:spcBef>
                <a:spcPts val="375"/>
              </a:spcBef>
              <a:buChar char="•"/>
              <a:tabLst>
                <a:tab pos="135890" algn="l"/>
              </a:tabLst>
            </a:pPr>
            <a:r>
              <a:rPr sz="1350" dirty="0"/>
              <a:t>Specific</a:t>
            </a:r>
            <a:r>
              <a:rPr sz="1350" spc="110" dirty="0"/>
              <a:t> </a:t>
            </a:r>
            <a:r>
              <a:rPr sz="1350" spc="-10" dirty="0"/>
              <a:t>functions:</a:t>
            </a:r>
            <a:endParaRPr sz="1350"/>
          </a:p>
          <a:p>
            <a:pPr marL="368300" lvl="1" indent="-125730">
              <a:lnSpc>
                <a:spcPct val="100000"/>
              </a:lnSpc>
              <a:spcBef>
                <a:spcPts val="55"/>
              </a:spcBef>
              <a:buChar char="•"/>
              <a:tabLst>
                <a:tab pos="368300" algn="l"/>
              </a:tabLst>
            </a:pPr>
            <a:r>
              <a:rPr sz="1250" spc="-40" dirty="0">
                <a:latin typeface="Calibri"/>
                <a:cs typeface="Calibri"/>
              </a:rPr>
              <a:t>Formation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spc="-30" dirty="0">
                <a:latin typeface="Calibri"/>
                <a:cs typeface="Calibri"/>
              </a:rPr>
              <a:t>of</a:t>
            </a:r>
            <a:r>
              <a:rPr sz="1250" spc="-60" dirty="0">
                <a:latin typeface="Calibri"/>
                <a:cs typeface="Calibri"/>
              </a:rPr>
              <a:t> </a:t>
            </a:r>
            <a:r>
              <a:rPr sz="1250" spc="-30" dirty="0">
                <a:latin typeface="Calibri"/>
                <a:cs typeface="Calibri"/>
              </a:rPr>
              <a:t>Haemoglobin-</a:t>
            </a:r>
            <a:r>
              <a:rPr sz="1250" spc="65" dirty="0">
                <a:latin typeface="Calibri"/>
                <a:cs typeface="Calibri"/>
              </a:rPr>
              <a:t> </a:t>
            </a:r>
            <a:r>
              <a:rPr sz="1250" spc="-25" dirty="0">
                <a:latin typeface="Calibri"/>
                <a:cs typeface="Calibri"/>
              </a:rPr>
              <a:t>Fe</a:t>
            </a:r>
            <a:endParaRPr sz="1250">
              <a:latin typeface="Calibri"/>
              <a:cs typeface="Calibri"/>
            </a:endParaRPr>
          </a:p>
          <a:p>
            <a:pPr marL="368300" lvl="1" indent="-125730">
              <a:lnSpc>
                <a:spcPct val="100000"/>
              </a:lnSpc>
              <a:spcBef>
                <a:spcPts val="75"/>
              </a:spcBef>
              <a:buChar char="•"/>
              <a:tabLst>
                <a:tab pos="368300" algn="l"/>
              </a:tabLst>
            </a:pPr>
            <a:r>
              <a:rPr sz="1250" spc="-40" dirty="0">
                <a:latin typeface="Calibri"/>
                <a:cs typeface="Calibri"/>
              </a:rPr>
              <a:t>Formation</a:t>
            </a:r>
            <a:r>
              <a:rPr sz="1250" spc="-10" dirty="0">
                <a:latin typeface="Calibri"/>
                <a:cs typeface="Calibri"/>
              </a:rPr>
              <a:t> </a:t>
            </a:r>
            <a:r>
              <a:rPr sz="1250" spc="-35" dirty="0">
                <a:latin typeface="Calibri"/>
                <a:cs typeface="Calibri"/>
              </a:rPr>
              <a:t>of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spc="-30" dirty="0">
                <a:latin typeface="Calibri"/>
                <a:cs typeface="Calibri"/>
              </a:rPr>
              <a:t>thyroxine-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Iodine</a:t>
            </a:r>
            <a:endParaRPr sz="1250">
              <a:latin typeface="Calibri"/>
              <a:cs typeface="Calibri"/>
            </a:endParaRPr>
          </a:p>
          <a:p>
            <a:pPr marL="364490" lvl="1" indent="-121920">
              <a:lnSpc>
                <a:spcPct val="100000"/>
              </a:lnSpc>
              <a:spcBef>
                <a:spcPts val="50"/>
              </a:spcBef>
              <a:buChar char="•"/>
              <a:tabLst>
                <a:tab pos="364490" algn="l"/>
              </a:tabLst>
            </a:pPr>
            <a:r>
              <a:rPr sz="1200" spc="-10" dirty="0">
                <a:latin typeface="Calibri"/>
                <a:cs typeface="Calibri"/>
              </a:rPr>
              <a:t>Constitution</a:t>
            </a:r>
            <a:r>
              <a:rPr sz="1200" spc="100" dirty="0">
                <a:latin typeface="Calibri"/>
                <a:cs typeface="Calibri"/>
              </a:rPr>
              <a:t> </a:t>
            </a:r>
            <a:r>
              <a:rPr sz="1200" spc="-30" dirty="0">
                <a:latin typeface="Calibri"/>
                <a:cs typeface="Calibri"/>
              </a:rPr>
              <a:t>of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enzymes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hormones:</a:t>
            </a:r>
            <a:r>
              <a:rPr sz="1200" spc="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Zn</a:t>
            </a:r>
            <a:r>
              <a:rPr sz="1200" spc="-70" dirty="0"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0C0C0C"/>
                </a:solidFill>
                <a:latin typeface="Calibri"/>
                <a:cs typeface="Calibri"/>
              </a:rPr>
              <a:t>in</a:t>
            </a:r>
            <a:r>
              <a:rPr sz="1200" spc="2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Carbonic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Anhydrase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31313"/>
                </a:solidFill>
                <a:latin typeface="Calibri"/>
                <a:cs typeface="Calibri"/>
              </a:rPr>
              <a:t>and</a:t>
            </a:r>
            <a:r>
              <a:rPr sz="1200" spc="-1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Insulin</a:t>
            </a:r>
            <a:endParaRPr sz="1200">
              <a:latin typeface="Calibri"/>
              <a:cs typeface="Calibri"/>
            </a:endParaRPr>
          </a:p>
          <a:p>
            <a:pPr marL="365125" lvl="1" indent="-122555">
              <a:lnSpc>
                <a:spcPct val="100000"/>
              </a:lnSpc>
              <a:spcBef>
                <a:spcPts val="85"/>
              </a:spcBef>
              <a:buClr>
                <a:srgbClr val="000000"/>
              </a:buClr>
              <a:buChar char="•"/>
              <a:tabLst>
                <a:tab pos="365125" algn="l"/>
              </a:tabLst>
            </a:pPr>
            <a:r>
              <a:rPr sz="1250" dirty="0">
                <a:solidFill>
                  <a:srgbClr val="111111"/>
                </a:solidFill>
                <a:latin typeface="Calibri"/>
                <a:cs typeface="Calibri"/>
              </a:rPr>
              <a:t>Cobalt-</a:t>
            </a:r>
            <a:r>
              <a:rPr sz="1250" spc="-4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250" spc="-20" dirty="0">
                <a:latin typeface="Calibri"/>
                <a:cs typeface="Calibri"/>
              </a:rPr>
              <a:t>constituent</a:t>
            </a:r>
            <a:r>
              <a:rPr sz="1250" spc="4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of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spc="-40" dirty="0">
                <a:latin typeface="Calibri"/>
                <a:cs typeface="Calibri"/>
              </a:rPr>
              <a:t>Vit-</a:t>
            </a:r>
            <a:r>
              <a:rPr sz="1250" spc="-25" dirty="0">
                <a:latin typeface="Calibri"/>
                <a:cs typeface="Calibri"/>
              </a:rPr>
              <a:t>B12</a:t>
            </a:r>
            <a:endParaRPr sz="12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3073400"/>
            <a:ext cx="4699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06400" y="1209675"/>
            <a:ext cx="5232400" cy="2181225"/>
            <a:chOff x="406400" y="1209675"/>
            <a:chExt cx="5232400" cy="21812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1209675"/>
              <a:ext cx="5181600" cy="214312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400" y="3111500"/>
              <a:ext cx="444500" cy="2794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923" y="285353"/>
            <a:ext cx="885190" cy="3708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50" spc="-65" dirty="0">
                <a:solidFill>
                  <a:srgbClr val="0E568C"/>
                </a:solidFill>
              </a:rPr>
              <a:t>Calcium</a:t>
            </a:r>
            <a:endParaRPr sz="2250"/>
          </a:p>
        </p:txBody>
      </p:sp>
      <p:sp>
        <p:nvSpPr>
          <p:cNvPr id="3" name="object 3"/>
          <p:cNvSpPr txBox="1"/>
          <p:nvPr/>
        </p:nvSpPr>
        <p:spPr>
          <a:xfrm>
            <a:off x="393700" y="992639"/>
            <a:ext cx="4953635" cy="176971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64465" indent="-151765">
              <a:lnSpc>
                <a:spcPct val="100000"/>
              </a:lnSpc>
              <a:spcBef>
                <a:spcPts val="500"/>
              </a:spcBef>
              <a:buChar char="•"/>
              <a:tabLst>
                <a:tab pos="164465" algn="l"/>
              </a:tabLst>
            </a:pPr>
            <a:r>
              <a:rPr sz="1350" spc="-10" dirty="0">
                <a:latin typeface="Calibri"/>
                <a:cs typeface="Calibri"/>
              </a:rPr>
              <a:t>Macro-mineral</a:t>
            </a:r>
            <a:endParaRPr sz="1350">
              <a:latin typeface="Calibri"/>
              <a:cs typeface="Calibri"/>
            </a:endParaRPr>
          </a:p>
          <a:p>
            <a:pPr marL="123825" indent="-111125">
              <a:lnSpc>
                <a:spcPct val="100000"/>
              </a:lnSpc>
              <a:spcBef>
                <a:spcPts val="405"/>
              </a:spcBef>
              <a:buChar char="•"/>
              <a:tabLst>
                <a:tab pos="123825" algn="l"/>
              </a:tabLst>
            </a:pPr>
            <a:r>
              <a:rPr sz="1350" dirty="0">
                <a:latin typeface="Calibri"/>
                <a:cs typeface="Calibri"/>
              </a:rPr>
              <a:t>Constitutes</a:t>
            </a:r>
            <a:r>
              <a:rPr sz="1350" spc="170" dirty="0"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4A572"/>
                </a:solidFill>
                <a:latin typeface="Calibri"/>
                <a:cs typeface="Calibri"/>
              </a:rPr>
              <a:t>1.5-2%</a:t>
            </a:r>
            <a:r>
              <a:rPr sz="1350" spc="120" dirty="0">
                <a:solidFill>
                  <a:srgbClr val="44A57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19357"/>
                </a:solidFill>
                <a:latin typeface="Calibri"/>
                <a:cs typeface="Calibri"/>
              </a:rPr>
              <a:t>of</a:t>
            </a:r>
            <a:r>
              <a:rPr sz="1350" spc="105" dirty="0">
                <a:solidFill>
                  <a:srgbClr val="319357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8A377"/>
                </a:solidFill>
                <a:latin typeface="Calibri"/>
                <a:cs typeface="Calibri"/>
              </a:rPr>
              <a:t>the</a:t>
            </a:r>
            <a:r>
              <a:rPr sz="1350" spc="100" dirty="0">
                <a:solidFill>
                  <a:srgbClr val="48A377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DA36B"/>
                </a:solidFill>
                <a:latin typeface="Calibri"/>
                <a:cs typeface="Calibri"/>
              </a:rPr>
              <a:t>body</a:t>
            </a:r>
            <a:r>
              <a:rPr sz="1350" spc="75" dirty="0">
                <a:solidFill>
                  <a:srgbClr val="3DA36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39049"/>
                </a:solidFill>
                <a:latin typeface="Calibri"/>
                <a:cs typeface="Calibri"/>
              </a:rPr>
              <a:t>weight</a:t>
            </a:r>
            <a:r>
              <a:rPr sz="1350" spc="145" dirty="0">
                <a:solidFill>
                  <a:srgbClr val="13904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0F0F0F"/>
                </a:solidFill>
                <a:latin typeface="Calibri"/>
                <a:cs typeface="Calibri"/>
              </a:rPr>
              <a:t>of</a:t>
            </a:r>
            <a:r>
              <a:rPr sz="1350" spc="6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</a:t>
            </a:r>
            <a:r>
              <a:rPr sz="1350" spc="2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adult</a:t>
            </a:r>
            <a:r>
              <a:rPr sz="1350" spc="14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human.</a:t>
            </a:r>
            <a:endParaRPr sz="1350">
              <a:latin typeface="Calibri"/>
              <a:cs typeface="Calibri"/>
            </a:endParaRPr>
          </a:p>
          <a:p>
            <a:pPr marL="128905" indent="-116205">
              <a:lnSpc>
                <a:spcPts val="1560"/>
              </a:lnSpc>
              <a:spcBef>
                <a:spcPts val="405"/>
              </a:spcBef>
              <a:buClr>
                <a:srgbClr val="000000"/>
              </a:buClr>
              <a:buChar char="•"/>
              <a:tabLst>
                <a:tab pos="128905" algn="l"/>
              </a:tabLst>
            </a:pPr>
            <a:r>
              <a:rPr sz="1350" dirty="0">
                <a:solidFill>
                  <a:srgbClr val="1F1F1F"/>
                </a:solidFill>
                <a:latin typeface="Calibri"/>
                <a:cs typeface="Calibri"/>
              </a:rPr>
              <a:t>An </a:t>
            </a:r>
            <a:r>
              <a:rPr sz="1350" dirty="0">
                <a:latin typeface="Calibri"/>
                <a:cs typeface="Calibri"/>
              </a:rPr>
              <a:t>average</a:t>
            </a:r>
            <a:r>
              <a:rPr sz="1350" spc="10" dirty="0"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11111"/>
                </a:solidFill>
                <a:latin typeface="Calibri"/>
                <a:cs typeface="Calibri"/>
              </a:rPr>
              <a:t>adult</a:t>
            </a:r>
            <a:r>
              <a:rPr sz="1350" spc="6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body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contains</a:t>
            </a:r>
            <a:r>
              <a:rPr sz="1350" spc="9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about</a:t>
            </a:r>
            <a:r>
              <a:rPr sz="1350" spc="114" dirty="0"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3A35D"/>
                </a:solidFill>
                <a:latin typeface="Calibri"/>
                <a:cs typeface="Calibri"/>
              </a:rPr>
              <a:t>1200</a:t>
            </a:r>
            <a:r>
              <a:rPr sz="1350" spc="105" dirty="0">
                <a:solidFill>
                  <a:srgbClr val="23A35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1804B"/>
                </a:solidFill>
                <a:latin typeface="Calibri"/>
                <a:cs typeface="Calibri"/>
              </a:rPr>
              <a:t>gm</a:t>
            </a:r>
            <a:r>
              <a:rPr sz="1350" spc="10" dirty="0">
                <a:solidFill>
                  <a:srgbClr val="21804B"/>
                </a:solidFill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of</a:t>
            </a:r>
            <a:r>
              <a:rPr sz="1350" spc="40" dirty="0"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F1F1F"/>
                </a:solidFill>
                <a:latin typeface="Calibri"/>
                <a:cs typeface="Calibri"/>
              </a:rPr>
              <a:t>calcium</a:t>
            </a:r>
            <a:r>
              <a:rPr sz="1350" spc="1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of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which</a:t>
            </a:r>
            <a:endParaRPr sz="1350">
              <a:latin typeface="Calibri"/>
              <a:cs typeface="Calibri"/>
            </a:endParaRPr>
          </a:p>
          <a:p>
            <a:pPr marL="125730">
              <a:lnSpc>
                <a:spcPts val="1560"/>
              </a:lnSpc>
            </a:pPr>
            <a:r>
              <a:rPr sz="1350" dirty="0">
                <a:latin typeface="Calibri"/>
                <a:cs typeface="Calibri"/>
              </a:rPr>
              <a:t>&gt;98%</a:t>
            </a:r>
            <a:r>
              <a:rPr sz="1350" spc="1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present</a:t>
            </a:r>
            <a:r>
              <a:rPr sz="1350" spc="17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in</a:t>
            </a:r>
            <a:r>
              <a:rPr sz="1350" spc="9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bones.</a:t>
            </a:r>
            <a:endParaRPr sz="1350">
              <a:latin typeface="Calibri"/>
              <a:cs typeface="Calibri"/>
            </a:endParaRPr>
          </a:p>
          <a:p>
            <a:pPr marL="175260" indent="-161925">
              <a:lnSpc>
                <a:spcPct val="100000"/>
              </a:lnSpc>
              <a:spcBef>
                <a:spcPts val="420"/>
              </a:spcBef>
              <a:buClr>
                <a:srgbClr val="000000"/>
              </a:buClr>
              <a:buChar char="•"/>
              <a:tabLst>
                <a:tab pos="175260" algn="l"/>
              </a:tabLst>
            </a:pPr>
            <a:r>
              <a:rPr sz="1300" dirty="0">
                <a:solidFill>
                  <a:srgbClr val="0E0E0E"/>
                </a:solidFill>
                <a:latin typeface="Calibri"/>
                <a:cs typeface="Calibri"/>
              </a:rPr>
              <a:t>Calcium</a:t>
            </a:r>
            <a:r>
              <a:rPr sz="1300" spc="22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in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D1D1D"/>
                </a:solidFill>
                <a:latin typeface="Calibri"/>
                <a:cs typeface="Calibri"/>
              </a:rPr>
              <a:t>blood:</a:t>
            </a:r>
            <a:r>
              <a:rPr sz="1300" spc="26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89A54"/>
                </a:solidFill>
                <a:latin typeface="Calibri"/>
                <a:cs typeface="Calibri"/>
              </a:rPr>
              <a:t>10</a:t>
            </a:r>
            <a:r>
              <a:rPr sz="1300" spc="114" dirty="0">
                <a:solidFill>
                  <a:srgbClr val="289A54"/>
                </a:solidFill>
                <a:latin typeface="Calibri"/>
                <a:cs typeface="Calibri"/>
              </a:rPr>
              <a:t> </a:t>
            </a:r>
            <a:r>
              <a:rPr sz="1300" spc="70" dirty="0">
                <a:solidFill>
                  <a:srgbClr val="2B9359"/>
                </a:solidFill>
                <a:latin typeface="Calibri"/>
                <a:cs typeface="Calibri"/>
              </a:rPr>
              <a:t>mg</a:t>
            </a:r>
            <a:endParaRPr sz="1300">
              <a:latin typeface="Calibri"/>
              <a:cs typeface="Calibri"/>
            </a:endParaRPr>
          </a:p>
          <a:p>
            <a:pPr marL="131445" indent="-118745">
              <a:lnSpc>
                <a:spcPct val="100000"/>
              </a:lnSpc>
              <a:spcBef>
                <a:spcPts val="365"/>
              </a:spcBef>
              <a:buClr>
                <a:srgbClr val="000000"/>
              </a:buClr>
              <a:buChar char="•"/>
              <a:tabLst>
                <a:tab pos="131445" algn="l"/>
              </a:tabLst>
            </a:pPr>
            <a:r>
              <a:rPr sz="1400" dirty="0">
                <a:solidFill>
                  <a:srgbClr val="111111"/>
                </a:solidFill>
                <a:latin typeface="Calibri"/>
                <a:cs typeface="Calibri"/>
              </a:rPr>
              <a:t>The</a:t>
            </a:r>
            <a:r>
              <a:rPr sz="1400" spc="-3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developing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fetus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requires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about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30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g</a:t>
            </a:r>
            <a:r>
              <a:rPr sz="1400" spc="-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calcium.</a:t>
            </a:r>
            <a:endParaRPr sz="1400">
              <a:latin typeface="Calibri"/>
              <a:cs typeface="Calibri"/>
            </a:endParaRPr>
          </a:p>
          <a:p>
            <a:pPr marL="20320">
              <a:lnSpc>
                <a:spcPct val="100000"/>
              </a:lnSpc>
              <a:spcBef>
                <a:spcPts val="355"/>
              </a:spcBef>
            </a:pPr>
            <a:r>
              <a:rPr lang="en-IN" sz="1350" dirty="0">
                <a:latin typeface="Calibri"/>
                <a:cs typeface="Calibri"/>
              </a:rPr>
              <a:t>°</a:t>
            </a:r>
            <a:r>
              <a:rPr lang="en-IN" sz="1350" spc="100" dirty="0">
                <a:latin typeface="Calibri"/>
                <a:cs typeface="Calibri"/>
              </a:rPr>
              <a:t> </a:t>
            </a:r>
            <a:r>
              <a:rPr lang="en-IN" sz="1350" dirty="0">
                <a:latin typeface="Calibri"/>
                <a:cs typeface="Calibri"/>
              </a:rPr>
              <a:t>Severe</a:t>
            </a:r>
            <a:r>
              <a:rPr lang="en-IN" sz="1350" spc="75" dirty="0">
                <a:latin typeface="Calibri"/>
                <a:cs typeface="Calibri"/>
              </a:rPr>
              <a:t> </a:t>
            </a:r>
            <a:r>
              <a:rPr lang="en-IN" sz="1350" spc="-55" dirty="0">
                <a:latin typeface="Calibri"/>
                <a:cs typeface="Calibri"/>
              </a:rPr>
              <a:t>Sweating—</a:t>
            </a:r>
            <a:r>
              <a:rPr lang="en-IN" sz="1350" spc="45" dirty="0">
                <a:latin typeface="Calibri"/>
                <a:cs typeface="Calibri"/>
              </a:rPr>
              <a:t> </a:t>
            </a:r>
            <a:r>
              <a:rPr lang="en-IN" sz="1350" dirty="0">
                <a:solidFill>
                  <a:srgbClr val="4FA075"/>
                </a:solidFill>
                <a:latin typeface="Calibri"/>
                <a:cs typeface="Calibri"/>
              </a:rPr>
              <a:t>loss</a:t>
            </a:r>
            <a:r>
              <a:rPr lang="en-IN" sz="1350" spc="50" dirty="0">
                <a:solidFill>
                  <a:srgbClr val="4FA075"/>
                </a:solidFill>
                <a:latin typeface="Calibri"/>
                <a:cs typeface="Calibri"/>
              </a:rPr>
              <a:t> </a:t>
            </a:r>
            <a:r>
              <a:rPr lang="en-IN" sz="1350" dirty="0">
                <a:solidFill>
                  <a:srgbClr val="288E56"/>
                </a:solidFill>
                <a:latin typeface="Calibri"/>
                <a:cs typeface="Calibri"/>
              </a:rPr>
              <a:t>of</a:t>
            </a:r>
            <a:r>
              <a:rPr lang="en-IN" sz="1350" spc="50" dirty="0">
                <a:solidFill>
                  <a:srgbClr val="288E56"/>
                </a:solidFill>
                <a:latin typeface="Calibri"/>
                <a:cs typeface="Calibri"/>
              </a:rPr>
              <a:t> </a:t>
            </a:r>
            <a:r>
              <a:rPr lang="en-IN" sz="1350" dirty="0">
                <a:solidFill>
                  <a:srgbClr val="189A4B"/>
                </a:solidFill>
                <a:latin typeface="Calibri"/>
                <a:cs typeface="Calibri"/>
              </a:rPr>
              <a:t>42-</a:t>
            </a:r>
            <a:r>
              <a:rPr lang="en-IN" sz="1350" spc="-10" dirty="0">
                <a:solidFill>
                  <a:srgbClr val="189A4B"/>
                </a:solidFill>
                <a:latin typeface="Calibri"/>
                <a:cs typeface="Calibri"/>
              </a:rPr>
              <a:t>121mg/day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3098800"/>
            <a:ext cx="4572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25"/>
              </a:spcBef>
            </a:pPr>
            <a:r>
              <a:rPr spc="-30" dirty="0">
                <a:solidFill>
                  <a:srgbClr val="2D7EBA"/>
                </a:solidFill>
              </a:rPr>
              <a:t>Calcium-</a:t>
            </a:r>
            <a:r>
              <a:rPr spc="-40" dirty="0">
                <a:solidFill>
                  <a:srgbClr val="2D7EBA"/>
                </a:solidFill>
              </a:rPr>
              <a:t> </a:t>
            </a:r>
            <a:r>
              <a:rPr spc="-55" dirty="0">
                <a:solidFill>
                  <a:srgbClr val="2372B5"/>
                </a:solidFill>
              </a:rPr>
              <a:t>Absorption</a:t>
            </a: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5600" y="3098800"/>
            <a:ext cx="482600" cy="3206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927322E-39D1-B748-629E-A1513C1CEDBD}"/>
              </a:ext>
            </a:extLst>
          </p:cNvPr>
          <p:cNvSpPr txBox="1"/>
          <p:nvPr/>
        </p:nvSpPr>
        <p:spPr>
          <a:xfrm>
            <a:off x="296209" y="616117"/>
            <a:ext cx="481637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+mj-lt"/>
              <a:buAutoNum type="arabicPeriod"/>
            </a:pPr>
            <a:r>
              <a:rPr lang="en-IN" b="0" i="0">
                <a:solidFill>
                  <a:schemeClr val="tx1"/>
                </a:solidFill>
                <a:effectLst/>
                <a:latin typeface="Söhne"/>
              </a:rPr>
              <a:t>Vitami</a:t>
            </a:r>
            <a:r>
              <a:rPr lang="en-IN" b="1" i="0">
                <a:solidFill>
                  <a:schemeClr val="tx1"/>
                </a:solidFill>
                <a:effectLst/>
                <a:latin typeface="Söhne"/>
              </a:rPr>
              <a:t>n D crucial for absorption.</a:t>
            </a:r>
          </a:p>
          <a:p>
            <a:pPr algn="l">
              <a:buFont typeface="+mj-lt"/>
              <a:buAutoNum type="arabicPeriod"/>
            </a:pPr>
            <a:r>
              <a:rPr lang="en-IN" b="1" i="0">
                <a:solidFill>
                  <a:schemeClr val="tx1"/>
                </a:solidFill>
                <a:effectLst/>
                <a:latin typeface="Söhne"/>
              </a:rPr>
              <a:t>Diet: Some substances hinder absorption.</a:t>
            </a:r>
          </a:p>
          <a:p>
            <a:pPr algn="l">
              <a:buFont typeface="+mj-lt"/>
              <a:buAutoNum type="arabicPeriod"/>
            </a:pPr>
            <a:r>
              <a:rPr lang="en-IN" b="1" i="0">
                <a:solidFill>
                  <a:schemeClr val="tx1"/>
                </a:solidFill>
                <a:effectLst/>
                <a:latin typeface="Söhne"/>
              </a:rPr>
              <a:t>Calcium source affects absorption rate.</a:t>
            </a:r>
          </a:p>
          <a:p>
            <a:pPr algn="l">
              <a:buFont typeface="+mj-lt"/>
              <a:buAutoNum type="arabicPeriod"/>
            </a:pPr>
            <a:r>
              <a:rPr lang="en-IN" b="1" i="0">
                <a:solidFill>
                  <a:schemeClr val="tx1"/>
                </a:solidFill>
                <a:effectLst/>
                <a:latin typeface="Söhne"/>
              </a:rPr>
              <a:t>Age impacts absorption efficiency.</a:t>
            </a:r>
          </a:p>
          <a:p>
            <a:pPr algn="l">
              <a:buFont typeface="+mj-lt"/>
              <a:buAutoNum type="arabicPeriod"/>
            </a:pPr>
            <a:r>
              <a:rPr lang="en-IN" b="1" i="0">
                <a:solidFill>
                  <a:schemeClr val="tx1"/>
                </a:solidFill>
                <a:effectLst/>
                <a:latin typeface="Söhne"/>
              </a:rPr>
              <a:t>Hormones regulate absorption.</a:t>
            </a:r>
          </a:p>
          <a:p>
            <a:pPr algn="l">
              <a:buFont typeface="+mj-lt"/>
              <a:buAutoNum type="arabicPeriod"/>
            </a:pPr>
            <a:r>
              <a:rPr lang="en-IN" b="1" i="0">
                <a:solidFill>
                  <a:schemeClr val="tx1"/>
                </a:solidFill>
                <a:effectLst/>
                <a:latin typeface="Söhne"/>
              </a:rPr>
              <a:t>Calcium-binding proteins facilitate transport.</a:t>
            </a:r>
          </a:p>
          <a:p>
            <a:pPr algn="l">
              <a:buFont typeface="+mj-lt"/>
              <a:buAutoNum type="arabicPeriod"/>
            </a:pPr>
            <a:r>
              <a:rPr lang="en-IN" b="1" i="0">
                <a:solidFill>
                  <a:schemeClr val="tx1"/>
                </a:solidFill>
                <a:effectLst/>
                <a:latin typeface="Söhne"/>
              </a:rPr>
              <a:t>Stomach acid needed for breakdown.</a:t>
            </a:r>
          </a:p>
          <a:p>
            <a:pPr algn="l">
              <a:buFont typeface="+mj-lt"/>
              <a:buAutoNum type="arabicPeriod"/>
            </a:pPr>
            <a:r>
              <a:rPr lang="en-IN" b="1" i="0">
                <a:solidFill>
                  <a:schemeClr val="tx1"/>
                </a:solidFill>
                <a:effectLst/>
                <a:latin typeface="Söhne"/>
              </a:rPr>
              <a:t>Certain meds may affect absorption.</a:t>
            </a:r>
          </a:p>
          <a:p>
            <a:pPr algn="l">
              <a:buFont typeface="+mj-lt"/>
              <a:buAutoNum type="arabicPeriod"/>
            </a:pPr>
            <a:r>
              <a:rPr lang="en-IN" b="1" i="0">
                <a:solidFill>
                  <a:schemeClr val="tx1"/>
                </a:solidFill>
                <a:effectLst/>
                <a:latin typeface="Söhne"/>
              </a:rPr>
              <a:t>Exercise enhances absorption.</a:t>
            </a:r>
          </a:p>
          <a:p>
            <a:pPr algn="l">
              <a:buFont typeface="+mj-lt"/>
              <a:buAutoNum type="arabicPeriod"/>
            </a:pPr>
            <a:r>
              <a:rPr lang="en-IN" b="1" i="0">
                <a:solidFill>
                  <a:schemeClr val="tx1"/>
                </a:solidFill>
                <a:effectLst/>
                <a:latin typeface="Söhne"/>
              </a:rPr>
              <a:t>Medical conditions can impair absorption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7600" y="971550"/>
            <a:ext cx="2324100" cy="19145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81650" y="342900"/>
            <a:ext cx="133350" cy="4762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25"/>
              </a:spcBef>
            </a:pPr>
            <a:r>
              <a:rPr spc="-40" dirty="0">
                <a:solidFill>
                  <a:srgbClr val="1A5D87"/>
                </a:solidFill>
              </a:rPr>
              <a:t>Calcium-</a:t>
            </a:r>
            <a:r>
              <a:rPr spc="-20" dirty="0">
                <a:solidFill>
                  <a:srgbClr val="1A5D87"/>
                </a:solidFill>
              </a:rPr>
              <a:t>Sources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6252" y="899715"/>
            <a:ext cx="3140075" cy="182181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30810" indent="-116839">
              <a:lnSpc>
                <a:spcPct val="100000"/>
              </a:lnSpc>
              <a:spcBef>
                <a:spcPts val="125"/>
              </a:spcBef>
              <a:buChar char="•"/>
              <a:tabLst>
                <a:tab pos="130810" algn="l"/>
              </a:tabLst>
            </a:pPr>
            <a:r>
              <a:rPr sz="1300" dirty="0">
                <a:latin typeface="Calibri"/>
                <a:cs typeface="Calibri"/>
              </a:rPr>
              <a:t>Milk</a:t>
            </a:r>
            <a:r>
              <a:rPr sz="1300" spc="1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17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milk</a:t>
            </a:r>
            <a:r>
              <a:rPr sz="1300" spc="16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Products</a:t>
            </a:r>
            <a:endParaRPr sz="1300">
              <a:latin typeface="Calibri"/>
              <a:cs typeface="Calibri"/>
            </a:endParaRPr>
          </a:p>
          <a:p>
            <a:pPr marL="355600" lvl="1" indent="-120650">
              <a:lnSpc>
                <a:spcPct val="100000"/>
              </a:lnSpc>
              <a:spcBef>
                <a:spcPts val="65"/>
              </a:spcBef>
              <a:buChar char="•"/>
              <a:tabLst>
                <a:tab pos="355600" algn="l"/>
              </a:tabLst>
            </a:pPr>
            <a:r>
              <a:rPr sz="1100" spc="60" dirty="0">
                <a:latin typeface="Calibri"/>
                <a:cs typeface="Calibri"/>
              </a:rPr>
              <a:t>Cow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mllk-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1200mg</a:t>
            </a:r>
            <a:endParaRPr sz="1100">
              <a:latin typeface="Calibri"/>
              <a:cs typeface="Calibri"/>
            </a:endParaRPr>
          </a:p>
          <a:p>
            <a:pPr marL="350520" lvl="1" indent="-115570">
              <a:lnSpc>
                <a:spcPct val="100000"/>
              </a:lnSpc>
              <a:spcBef>
                <a:spcPts val="105"/>
              </a:spcBef>
              <a:buChar char="•"/>
              <a:tabLst>
                <a:tab pos="350520" algn="l"/>
              </a:tabLst>
            </a:pPr>
            <a:r>
              <a:rPr sz="1100" spc="70" dirty="0">
                <a:latin typeface="Calibri"/>
                <a:cs typeface="Calibri"/>
              </a:rPr>
              <a:t>Human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spc="55" dirty="0">
                <a:latin typeface="Calibri"/>
                <a:cs typeface="Calibri"/>
              </a:rPr>
              <a:t>Milk-</a:t>
            </a:r>
            <a:r>
              <a:rPr sz="1100" spc="6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300mg</a:t>
            </a:r>
            <a:endParaRPr sz="1100">
              <a:latin typeface="Calibri"/>
              <a:cs typeface="Calibri"/>
            </a:endParaRPr>
          </a:p>
          <a:p>
            <a:pPr marL="127635" indent="-114935">
              <a:lnSpc>
                <a:spcPct val="100000"/>
              </a:lnSpc>
              <a:spcBef>
                <a:spcPts val="180"/>
              </a:spcBef>
              <a:buChar char="•"/>
              <a:tabLst>
                <a:tab pos="127635" algn="l"/>
              </a:tabLst>
            </a:pPr>
            <a:r>
              <a:rPr sz="1400" dirty="0">
                <a:latin typeface="Calibri"/>
                <a:cs typeface="Calibri"/>
              </a:rPr>
              <a:t>Egg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A2A2A"/>
                </a:solidFill>
                <a:latin typeface="Calibri"/>
                <a:cs typeface="Calibri"/>
              </a:rPr>
              <a:t>and</a:t>
            </a:r>
            <a:r>
              <a:rPr sz="1400" spc="-1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Fish</a:t>
            </a:r>
            <a:endParaRPr sz="1400">
              <a:latin typeface="Calibri"/>
              <a:cs typeface="Calibri"/>
            </a:endParaRPr>
          </a:p>
          <a:p>
            <a:pPr marL="20955">
              <a:lnSpc>
                <a:spcPts val="1639"/>
              </a:lnSpc>
              <a:spcBef>
                <a:spcPts val="120"/>
              </a:spcBef>
            </a:pPr>
            <a:r>
              <a:rPr sz="1400" dirty="0">
                <a:latin typeface="Calibri"/>
                <a:cs typeface="Calibri"/>
              </a:rPr>
              <a:t>° </a:t>
            </a:r>
            <a:r>
              <a:rPr sz="1400" spc="-20" dirty="0">
                <a:latin typeface="Calibri"/>
                <a:cs typeface="Calibri"/>
              </a:rPr>
              <a:t>Cheapest</a:t>
            </a:r>
            <a:r>
              <a:rPr sz="1400" spc="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dietary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sources:</a:t>
            </a:r>
            <a:endParaRPr sz="1400">
              <a:latin typeface="Calibri"/>
              <a:cs typeface="Calibri"/>
            </a:endParaRPr>
          </a:p>
          <a:p>
            <a:pPr marL="356235" lvl="1" indent="-123189">
              <a:lnSpc>
                <a:spcPts val="1520"/>
              </a:lnSpc>
              <a:buChar char="•"/>
              <a:tabLst>
                <a:tab pos="356235" algn="l"/>
              </a:tabLst>
            </a:pPr>
            <a:r>
              <a:rPr sz="1300" spc="-60" dirty="0">
                <a:latin typeface="Calibri"/>
                <a:cs typeface="Calibri"/>
              </a:rPr>
              <a:t>Green</a:t>
            </a:r>
            <a:r>
              <a:rPr sz="1300" spc="-5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leafy</a:t>
            </a:r>
            <a:r>
              <a:rPr sz="1300" spc="-55" dirty="0">
                <a:latin typeface="Calibri"/>
                <a:cs typeface="Calibri"/>
              </a:rPr>
              <a:t> </a:t>
            </a:r>
            <a:r>
              <a:rPr sz="1300" spc="-50" dirty="0">
                <a:latin typeface="Calibri"/>
                <a:cs typeface="Calibri"/>
              </a:rPr>
              <a:t>vegetables</a:t>
            </a:r>
            <a:r>
              <a:rPr sz="1300" spc="-10" dirty="0">
                <a:latin typeface="Calibri"/>
                <a:cs typeface="Calibri"/>
              </a:rPr>
              <a:t> </a:t>
            </a:r>
            <a:r>
              <a:rPr sz="1300" spc="-60" dirty="0">
                <a:latin typeface="Calibri"/>
                <a:cs typeface="Calibri"/>
              </a:rPr>
              <a:t>(presence</a:t>
            </a:r>
            <a:r>
              <a:rPr sz="1300" spc="40" dirty="0">
                <a:latin typeface="Calibri"/>
                <a:cs typeface="Calibri"/>
              </a:rPr>
              <a:t> </a:t>
            </a:r>
            <a:r>
              <a:rPr sz="1300" spc="-50" dirty="0">
                <a:solidFill>
                  <a:srgbClr val="282828"/>
                </a:solidFill>
                <a:latin typeface="Calibri"/>
                <a:cs typeface="Calibri"/>
              </a:rPr>
              <a:t>of</a:t>
            </a:r>
            <a:r>
              <a:rPr sz="1300" spc="-2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300" spc="-40" dirty="0">
                <a:latin typeface="Calibri"/>
                <a:cs typeface="Calibri"/>
              </a:rPr>
              <a:t>oxalates</a:t>
            </a:r>
            <a:endParaRPr sz="1300">
              <a:latin typeface="Calibri"/>
              <a:cs typeface="Calibri"/>
            </a:endParaRPr>
          </a:p>
          <a:p>
            <a:pPr marL="355600" lvl="1" indent="-122555">
              <a:lnSpc>
                <a:spcPct val="100000"/>
              </a:lnSpc>
              <a:spcBef>
                <a:spcPts val="1265"/>
              </a:spcBef>
              <a:buChar char="•"/>
              <a:tabLst>
                <a:tab pos="355600" algn="l"/>
              </a:tabLst>
            </a:pPr>
            <a:r>
              <a:rPr sz="1250" spc="-25" dirty="0">
                <a:latin typeface="Calibri"/>
                <a:cs typeface="Calibri"/>
              </a:rPr>
              <a:t>Cereals</a:t>
            </a:r>
            <a:r>
              <a:rPr sz="1250" spc="25" dirty="0">
                <a:latin typeface="Calibri"/>
                <a:cs typeface="Calibri"/>
              </a:rPr>
              <a:t> </a:t>
            </a:r>
            <a:r>
              <a:rPr sz="1250" spc="-35" dirty="0">
                <a:latin typeface="Calibri"/>
                <a:cs typeface="Calibri"/>
              </a:rPr>
              <a:t>(bioavailability</a:t>
            </a:r>
            <a:r>
              <a:rPr sz="1250" spc="-50" dirty="0">
                <a:latin typeface="Calibri"/>
                <a:cs typeface="Calibri"/>
              </a:rPr>
              <a:t> </a:t>
            </a:r>
            <a:r>
              <a:rPr sz="1250" spc="-30" dirty="0">
                <a:latin typeface="Calibri"/>
                <a:cs typeface="Calibri"/>
              </a:rPr>
              <a:t>reduces</a:t>
            </a:r>
            <a:r>
              <a:rPr sz="1250" spc="35" dirty="0">
                <a:latin typeface="Calibri"/>
                <a:cs typeface="Calibri"/>
              </a:rPr>
              <a:t> </a:t>
            </a:r>
            <a:r>
              <a:rPr sz="1250" spc="-45" dirty="0">
                <a:solidFill>
                  <a:srgbClr val="1A1A1A"/>
                </a:solidFill>
                <a:latin typeface="Calibri"/>
                <a:cs typeface="Calibri"/>
              </a:rPr>
              <a:t>by</a:t>
            </a:r>
            <a:r>
              <a:rPr sz="1250" spc="-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Phytate)</a:t>
            </a:r>
            <a:endParaRPr sz="1250">
              <a:latin typeface="Calibri"/>
              <a:cs typeface="Calibri"/>
            </a:endParaRPr>
          </a:p>
          <a:p>
            <a:pPr marL="128270" indent="-115570">
              <a:lnSpc>
                <a:spcPct val="100000"/>
              </a:lnSpc>
              <a:spcBef>
                <a:spcPts val="100"/>
              </a:spcBef>
              <a:buChar char="•"/>
              <a:tabLst>
                <a:tab pos="128270" algn="l"/>
              </a:tabLst>
            </a:pPr>
            <a:r>
              <a:rPr sz="1450" spc="-45" dirty="0">
                <a:latin typeface="Calibri"/>
                <a:cs typeface="Calibri"/>
              </a:rPr>
              <a:t>Water-</a:t>
            </a:r>
            <a:r>
              <a:rPr sz="1450" spc="-20" dirty="0"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200mg/day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6400" y="3136900"/>
            <a:ext cx="4572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700" y="781050"/>
            <a:ext cx="5791200" cy="23812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35"/>
              </a:spcBef>
            </a:pPr>
            <a:r>
              <a:rPr sz="2150" spc="-35" dirty="0">
                <a:solidFill>
                  <a:srgbClr val="0060B6"/>
                </a:solidFill>
                <a:latin typeface="Times New Roman"/>
                <a:cs typeface="Times New Roman"/>
              </a:rPr>
              <a:t>Calcium-</a:t>
            </a:r>
            <a:r>
              <a:rPr sz="2150" spc="-20" dirty="0">
                <a:solidFill>
                  <a:srgbClr val="0060B6"/>
                </a:solidFill>
                <a:latin typeface="Times New Roman"/>
                <a:cs typeface="Times New Roman"/>
              </a:rPr>
              <a:t>Requirement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8816" y="697309"/>
            <a:ext cx="507555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dirty="0">
                <a:latin typeface="Times New Roman"/>
                <a:cs typeface="Times New Roman"/>
              </a:rPr>
              <a:t>ICMR</a:t>
            </a:r>
            <a:r>
              <a:rPr sz="1800" spc="25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recommended</a:t>
            </a:r>
            <a:r>
              <a:rPr sz="1800" spc="3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dietary</a:t>
            </a:r>
            <a:r>
              <a:rPr sz="1800" spc="1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allowances</a:t>
            </a:r>
            <a:r>
              <a:rPr sz="1800" spc="22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 </a:t>
            </a:r>
            <a:r>
              <a:rPr sz="1800" spc="-10" dirty="0">
                <a:latin typeface="Times New Roman"/>
                <a:cs typeface="Times New Roman"/>
              </a:rPr>
              <a:t>Calcium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9877" y="1502171"/>
            <a:ext cx="1625600" cy="1787541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 marR="704850" indent="-635">
              <a:lnSpc>
                <a:spcPct val="101400"/>
              </a:lnSpc>
              <a:spcBef>
                <a:spcPts val="65"/>
              </a:spcBef>
            </a:pPr>
            <a:r>
              <a:rPr sz="1800" spc="-10" dirty="0">
                <a:latin typeface="Times New Roman"/>
                <a:cs typeface="Times New Roman"/>
              </a:rPr>
              <a:t>Children </a:t>
            </a:r>
            <a:r>
              <a:rPr sz="1700" spc="-10" dirty="0">
                <a:latin typeface="Times New Roman"/>
                <a:cs typeface="Times New Roman"/>
              </a:rPr>
              <a:t>Children </a:t>
            </a:r>
            <a:r>
              <a:rPr sz="1750" spc="-35" dirty="0">
                <a:latin typeface="Times New Roman"/>
                <a:cs typeface="Times New Roman"/>
              </a:rPr>
              <a:t>Adolesent </a:t>
            </a:r>
            <a:r>
              <a:rPr sz="1750" spc="-10" dirty="0">
                <a:latin typeface="Times New Roman"/>
                <a:cs typeface="Times New Roman"/>
              </a:rPr>
              <a:t>Adult</a:t>
            </a:r>
            <a:endParaRPr sz="1750">
              <a:latin typeface="Times New Roman"/>
              <a:cs typeface="Times New Roman"/>
            </a:endParaRPr>
          </a:p>
          <a:p>
            <a:pPr marL="52069">
              <a:lnSpc>
                <a:spcPct val="100000"/>
              </a:lnSpc>
              <a:spcBef>
                <a:spcPts val="50"/>
              </a:spcBef>
            </a:pPr>
            <a:r>
              <a:rPr sz="1700" dirty="0">
                <a:latin typeface="Times New Roman"/>
                <a:cs typeface="Times New Roman"/>
              </a:rPr>
              <a:t>Pregnant</a:t>
            </a:r>
            <a:r>
              <a:rPr sz="1700" spc="19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wo</a:t>
            </a:r>
            <a:r>
              <a:rPr lang="en-IN" sz="1700" spc="-10" dirty="0">
                <a:latin typeface="Times New Roman"/>
                <a:cs typeface="Times New Roman"/>
              </a:rPr>
              <a:t>men</a:t>
            </a:r>
            <a:endParaRPr sz="17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50"/>
              </a:spcBef>
            </a:pPr>
            <a:r>
              <a:rPr sz="2625" spc="644" baseline="-7936" dirty="0">
                <a:latin typeface="Times New Roman"/>
                <a:cs typeface="Times New Roman"/>
              </a:rPr>
              <a:t> 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17410" y="968970"/>
            <a:ext cx="2258060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90600" marR="5080" indent="-978535">
              <a:lnSpc>
                <a:spcPct val="100000"/>
              </a:lnSpc>
              <a:spcBef>
                <a:spcPts val="105"/>
              </a:spcBef>
            </a:pPr>
            <a:r>
              <a:rPr sz="1750" spc="70" dirty="0">
                <a:latin typeface="Cambria"/>
                <a:cs typeface="Cambria"/>
              </a:rPr>
              <a:t>RDA</a:t>
            </a:r>
            <a:r>
              <a:rPr sz="1750" spc="95" dirty="0">
                <a:latin typeface="Cambria"/>
                <a:cs typeface="Cambria"/>
              </a:rPr>
              <a:t> </a:t>
            </a:r>
            <a:r>
              <a:rPr sz="1750" spc="-25" dirty="0">
                <a:latin typeface="Cambria"/>
                <a:cs typeface="Cambria"/>
              </a:rPr>
              <a:t>for</a:t>
            </a:r>
            <a:r>
              <a:rPr sz="1750" dirty="0">
                <a:latin typeface="Cambria"/>
                <a:cs typeface="Cambria"/>
              </a:rPr>
              <a:t> </a:t>
            </a:r>
            <a:r>
              <a:rPr sz="1750" spc="-50" dirty="0">
                <a:latin typeface="Cambria"/>
                <a:cs typeface="Cambria"/>
              </a:rPr>
              <a:t>calcium</a:t>
            </a:r>
            <a:r>
              <a:rPr sz="1750" spc="120" dirty="0">
                <a:latin typeface="Cambria"/>
                <a:cs typeface="Cambria"/>
              </a:rPr>
              <a:t> </a:t>
            </a:r>
            <a:r>
              <a:rPr sz="1750" spc="-125" dirty="0">
                <a:latin typeface="Cambria"/>
                <a:cs typeface="Cambria"/>
              </a:rPr>
              <a:t>ing/day </a:t>
            </a:r>
            <a:r>
              <a:rPr sz="1750" spc="-20" dirty="0">
                <a:latin typeface="Cambria"/>
                <a:cs typeface="Cambria"/>
              </a:rPr>
              <a:t>5</a:t>
            </a:r>
            <a:r>
              <a:rPr lang="en-IN" sz="1750" spc="-20" dirty="0">
                <a:latin typeface="Cambria"/>
                <a:cs typeface="Cambria"/>
              </a:rPr>
              <a:t>00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4044" y="968970"/>
            <a:ext cx="1289050" cy="8267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50" dirty="0">
                <a:latin typeface="Cambria"/>
                <a:cs typeface="Cambria"/>
              </a:rPr>
              <a:t>Age</a:t>
            </a:r>
            <a:r>
              <a:rPr sz="1750" spc="-15" dirty="0">
                <a:latin typeface="Cambria"/>
                <a:cs typeface="Cambria"/>
              </a:rPr>
              <a:t> </a:t>
            </a:r>
            <a:r>
              <a:rPr sz="1750" spc="-10" dirty="0">
                <a:latin typeface="Cambria"/>
                <a:cs typeface="Cambria"/>
              </a:rPr>
              <a:t>Group</a:t>
            </a:r>
            <a:endParaRPr sz="1750">
              <a:latin typeface="Cambria"/>
              <a:cs typeface="Cambria"/>
            </a:endParaRPr>
          </a:p>
          <a:p>
            <a:pPr marL="28575" marR="5080" indent="336550">
              <a:lnSpc>
                <a:spcPct val="100000"/>
              </a:lnSpc>
            </a:pPr>
            <a:r>
              <a:rPr sz="1750" spc="-160" dirty="0">
                <a:latin typeface="Cambria"/>
                <a:cs typeface="Cambria"/>
              </a:rPr>
              <a:t>12</a:t>
            </a:r>
            <a:r>
              <a:rPr sz="1750" spc="65" dirty="0">
                <a:latin typeface="Cambria"/>
                <a:cs typeface="Cambria"/>
              </a:rPr>
              <a:t> </a:t>
            </a:r>
            <a:r>
              <a:rPr sz="1750" spc="-105" dirty="0">
                <a:latin typeface="Cambria"/>
                <a:cs typeface="Cambria"/>
              </a:rPr>
              <a:t>months </a:t>
            </a:r>
            <a:r>
              <a:rPr sz="1750" dirty="0">
                <a:latin typeface="Cambria"/>
                <a:cs typeface="Cambria"/>
              </a:rPr>
              <a:t>I</a:t>
            </a:r>
            <a:r>
              <a:rPr sz="1750" spc="114" dirty="0">
                <a:latin typeface="Cambria"/>
                <a:cs typeface="Cambria"/>
              </a:rPr>
              <a:t> </a:t>
            </a:r>
            <a:r>
              <a:rPr sz="1750" spc="-805" dirty="0">
                <a:solidFill>
                  <a:srgbClr val="494949"/>
                </a:solidFill>
                <a:latin typeface="Cambria"/>
                <a:cs typeface="Cambria"/>
              </a:rPr>
              <a:t>—</a:t>
            </a:r>
            <a:r>
              <a:rPr sz="1750" spc="80" dirty="0">
                <a:solidFill>
                  <a:srgbClr val="494949"/>
                </a:solidFill>
                <a:latin typeface="Cambria"/>
                <a:cs typeface="Cambria"/>
              </a:rPr>
              <a:t> </a:t>
            </a:r>
            <a:r>
              <a:rPr sz="1750" dirty="0">
                <a:latin typeface="Cambria"/>
                <a:cs typeface="Cambria"/>
              </a:rPr>
              <a:t>9</a:t>
            </a:r>
            <a:r>
              <a:rPr sz="1750" spc="55" dirty="0">
                <a:latin typeface="Cambria"/>
                <a:cs typeface="Cambria"/>
              </a:rPr>
              <a:t> </a:t>
            </a:r>
            <a:r>
              <a:rPr sz="1750" spc="-10" dirty="0">
                <a:latin typeface="Cambria"/>
                <a:cs typeface="Cambria"/>
              </a:rPr>
              <a:t>years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53870" y="1778595"/>
            <a:ext cx="1208405" cy="5600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29944" algn="l"/>
              </a:tabLst>
            </a:pPr>
            <a:r>
              <a:rPr sz="1750" spc="-180" dirty="0">
                <a:latin typeface="Cambria"/>
                <a:cs typeface="Cambria"/>
              </a:rPr>
              <a:t>10</a:t>
            </a:r>
            <a:r>
              <a:rPr sz="1750" spc="25" dirty="0">
                <a:latin typeface="Cambria"/>
                <a:cs typeface="Cambria"/>
              </a:rPr>
              <a:t> </a:t>
            </a:r>
            <a:r>
              <a:rPr sz="1750" spc="-894" dirty="0">
                <a:solidFill>
                  <a:srgbClr val="747474"/>
                </a:solidFill>
                <a:latin typeface="Cambria"/>
                <a:cs typeface="Cambria"/>
              </a:rPr>
              <a:t>—</a:t>
            </a:r>
            <a:r>
              <a:rPr sz="1750" spc="330" dirty="0">
                <a:solidFill>
                  <a:srgbClr val="747474"/>
                </a:solidFill>
                <a:latin typeface="Cambria"/>
                <a:cs typeface="Cambria"/>
              </a:rPr>
              <a:t> </a:t>
            </a:r>
            <a:r>
              <a:rPr sz="1750" spc="-25" dirty="0">
                <a:latin typeface="Cambria"/>
                <a:cs typeface="Cambria"/>
              </a:rPr>
              <a:t>15</a:t>
            </a:r>
            <a:r>
              <a:rPr sz="1750" dirty="0">
                <a:latin typeface="Cambria"/>
                <a:cs typeface="Cambria"/>
              </a:rPr>
              <a:t>	</a:t>
            </a:r>
            <a:r>
              <a:rPr sz="1750" spc="-70" dirty="0">
                <a:latin typeface="Cambria"/>
                <a:cs typeface="Cambria"/>
              </a:rPr>
              <a:t>ears</a:t>
            </a:r>
            <a:endParaRPr sz="17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tabLst>
                <a:tab pos="829944" algn="l"/>
              </a:tabLst>
            </a:pPr>
            <a:r>
              <a:rPr sz="1750" spc="-25" dirty="0">
                <a:solidFill>
                  <a:srgbClr val="0F0F0F"/>
                </a:solidFill>
                <a:latin typeface="Cambria"/>
                <a:cs typeface="Cambria"/>
              </a:rPr>
              <a:t>1</a:t>
            </a:r>
            <a:r>
              <a:rPr sz="1750" spc="-25" dirty="0">
                <a:latin typeface="Cambria"/>
                <a:cs typeface="Cambria"/>
              </a:rPr>
              <a:t>6</a:t>
            </a:r>
            <a:r>
              <a:rPr sz="1750" dirty="0">
                <a:latin typeface="Cambria"/>
                <a:cs typeface="Cambria"/>
              </a:rPr>
              <a:t>	</a:t>
            </a:r>
            <a:r>
              <a:rPr sz="1750" spc="-70" dirty="0">
                <a:latin typeface="Cambria"/>
                <a:cs typeface="Cambria"/>
              </a:rPr>
              <a:t>ears</a:t>
            </a:r>
            <a:endParaRPr sz="17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37854" y="1778595"/>
            <a:ext cx="459105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7785">
              <a:lnSpc>
                <a:spcPts val="2130"/>
              </a:lnSpc>
              <a:spcBef>
                <a:spcPts val="95"/>
              </a:spcBef>
            </a:pPr>
            <a:r>
              <a:rPr sz="1800" spc="-25" dirty="0">
                <a:latin typeface="Times New Roman"/>
                <a:cs typeface="Times New Roman"/>
              </a:rPr>
              <a:t>600</a:t>
            </a:r>
            <a:endParaRPr sz="1800">
              <a:latin typeface="Times New Roman"/>
              <a:cs typeface="Times New Roman"/>
            </a:endParaRPr>
          </a:p>
          <a:p>
            <a:pPr marL="56515">
              <a:lnSpc>
                <a:spcPts val="2100"/>
              </a:lnSpc>
            </a:pPr>
            <a:r>
              <a:rPr sz="1800" spc="-25" dirty="0">
                <a:latin typeface="Times New Roman"/>
                <a:cs typeface="Times New Roman"/>
              </a:rPr>
              <a:t>500</a:t>
            </a:r>
            <a:endParaRPr sz="1800">
              <a:latin typeface="Times New Roman"/>
              <a:cs typeface="Times New Roman"/>
            </a:endParaRPr>
          </a:p>
          <a:p>
            <a:pPr marL="64135">
              <a:lnSpc>
                <a:spcPts val="2100"/>
              </a:lnSpc>
            </a:pPr>
            <a:r>
              <a:rPr sz="1800" spc="-25" dirty="0">
                <a:latin typeface="Times New Roman"/>
                <a:cs typeface="Times New Roman"/>
              </a:rPr>
              <a:t>400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100"/>
              </a:lnSpc>
            </a:pPr>
            <a:r>
              <a:rPr sz="1800" spc="-40" dirty="0">
                <a:latin typeface="Times New Roman"/>
                <a:cs typeface="Times New Roman"/>
              </a:rPr>
              <a:t>1000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130"/>
              </a:lnSpc>
            </a:pPr>
            <a:r>
              <a:rPr sz="1800" spc="-40" dirty="0">
                <a:latin typeface="Times New Roman"/>
                <a:cs typeface="Times New Roman"/>
              </a:rPr>
              <a:t>1000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6400" y="3162300"/>
            <a:ext cx="4572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35"/>
              </a:spcBef>
            </a:pPr>
            <a:r>
              <a:rPr sz="2150" spc="-10" dirty="0">
                <a:solidFill>
                  <a:srgbClr val="1A7ECA"/>
                </a:solidFill>
              </a:rPr>
              <a:t>Calcium-</a:t>
            </a:r>
            <a:r>
              <a:rPr sz="2150" spc="-55" dirty="0">
                <a:solidFill>
                  <a:srgbClr val="1A7ECA"/>
                </a:solidFill>
              </a:rPr>
              <a:t> </a:t>
            </a:r>
            <a:r>
              <a:rPr sz="2150" spc="-20" dirty="0">
                <a:solidFill>
                  <a:srgbClr val="216BA8"/>
                </a:solidFill>
              </a:rPr>
              <a:t>Function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446720" y="836414"/>
            <a:ext cx="5128895" cy="1939289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64465" indent="-151765">
              <a:lnSpc>
                <a:spcPct val="100000"/>
              </a:lnSpc>
              <a:spcBef>
                <a:spcPts val="500"/>
              </a:spcBef>
              <a:buChar char="•"/>
              <a:tabLst>
                <a:tab pos="164465" algn="l"/>
              </a:tabLst>
            </a:pPr>
            <a:r>
              <a:rPr sz="1350" dirty="0">
                <a:latin typeface="Calibri"/>
                <a:cs typeface="Calibri"/>
              </a:rPr>
              <a:t>Bone</a:t>
            </a:r>
            <a:r>
              <a:rPr sz="1350" spc="13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formation</a:t>
            </a:r>
            <a:endParaRPr sz="1350">
              <a:latin typeface="Calibri"/>
              <a:cs typeface="Calibri"/>
            </a:endParaRPr>
          </a:p>
          <a:p>
            <a:pPr marL="130175" indent="-117475">
              <a:lnSpc>
                <a:spcPct val="100000"/>
              </a:lnSpc>
              <a:spcBef>
                <a:spcPts val="405"/>
              </a:spcBef>
              <a:buChar char="•"/>
              <a:tabLst>
                <a:tab pos="130175" algn="l"/>
              </a:tabLst>
            </a:pPr>
            <a:r>
              <a:rPr sz="1350" spc="-10" dirty="0">
                <a:latin typeface="Calibri"/>
                <a:cs typeface="Calibri"/>
              </a:rPr>
              <a:t>Teeth</a:t>
            </a:r>
            <a:r>
              <a:rPr sz="1350" spc="12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Formation:</a:t>
            </a:r>
            <a:r>
              <a:rPr sz="1350" spc="21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formation</a:t>
            </a:r>
            <a:r>
              <a:rPr sz="1350" spc="12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of dentin</a:t>
            </a:r>
            <a:r>
              <a:rPr sz="1350" spc="8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and</a:t>
            </a:r>
            <a:r>
              <a:rPr sz="1350" spc="6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enamel</a:t>
            </a:r>
            <a:endParaRPr sz="1350">
              <a:latin typeface="Calibri"/>
              <a:cs typeface="Calibri"/>
            </a:endParaRPr>
          </a:p>
          <a:p>
            <a:pPr marL="127635" indent="-114935">
              <a:lnSpc>
                <a:spcPct val="100000"/>
              </a:lnSpc>
              <a:spcBef>
                <a:spcPts val="355"/>
              </a:spcBef>
              <a:buChar char="•"/>
              <a:tabLst>
                <a:tab pos="127635" algn="l"/>
              </a:tabLst>
            </a:pPr>
            <a:r>
              <a:rPr sz="1400" spc="-10" dirty="0">
                <a:latin typeface="Calibri"/>
                <a:cs typeface="Calibri"/>
              </a:rPr>
              <a:t>Physiological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Process.</a:t>
            </a:r>
            <a:endParaRPr sz="1400">
              <a:latin typeface="Calibri"/>
              <a:cs typeface="Calibri"/>
            </a:endParaRPr>
          </a:p>
          <a:p>
            <a:pPr marL="359410" lvl="1" indent="-116205">
              <a:lnSpc>
                <a:spcPct val="100000"/>
              </a:lnSpc>
              <a:spcBef>
                <a:spcPts val="95"/>
              </a:spcBef>
              <a:buChar char="•"/>
              <a:tabLst>
                <a:tab pos="359410" algn="l"/>
              </a:tabLst>
            </a:pPr>
            <a:r>
              <a:rPr sz="1200" spc="-10" dirty="0">
                <a:latin typeface="Calibri"/>
                <a:cs typeface="Calibri"/>
              </a:rPr>
              <a:t>Essential</a:t>
            </a:r>
            <a:r>
              <a:rPr sz="1200" spc="10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for</a:t>
            </a:r>
            <a:r>
              <a:rPr sz="1200" spc="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clotting</a:t>
            </a:r>
            <a:r>
              <a:rPr sz="1200" spc="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blood</a:t>
            </a:r>
            <a:r>
              <a:rPr sz="1200" spc="35" dirty="0"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2A2A2A"/>
                </a:solidFill>
                <a:latin typeface="Calibri"/>
                <a:cs typeface="Calibri"/>
              </a:rPr>
              <a:t>as</a:t>
            </a:r>
            <a:r>
              <a:rPr sz="1200" spc="-4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63636"/>
                </a:solidFill>
                <a:latin typeface="Calibri"/>
                <a:cs typeface="Calibri"/>
              </a:rPr>
              <a:t>it</a:t>
            </a:r>
            <a:r>
              <a:rPr sz="1200" spc="-4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151515"/>
                </a:solidFill>
                <a:latin typeface="Calibri"/>
                <a:cs typeface="Calibri"/>
              </a:rPr>
              <a:t>is</a:t>
            </a:r>
            <a:r>
              <a:rPr sz="1200" spc="-55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required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prothrombin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activation</a:t>
            </a:r>
            <a:endParaRPr sz="1200">
              <a:latin typeface="Calibri"/>
              <a:cs typeface="Calibri"/>
            </a:endParaRPr>
          </a:p>
          <a:p>
            <a:pPr marL="360045" marR="196215" lvl="1" indent="-116205">
              <a:lnSpc>
                <a:spcPct val="100000"/>
              </a:lnSpc>
              <a:spcBef>
                <a:spcPts val="200"/>
              </a:spcBef>
              <a:buChar char="•"/>
              <a:tabLst>
                <a:tab pos="360045" algn="l"/>
              </a:tabLst>
            </a:pPr>
            <a:r>
              <a:rPr sz="1100" spc="10" dirty="0">
                <a:latin typeface="Calibri"/>
                <a:cs typeface="Calibri"/>
              </a:rPr>
              <a:t>Regulates</a:t>
            </a:r>
            <a:r>
              <a:rPr sz="1100" spc="285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the</a:t>
            </a:r>
            <a:r>
              <a:rPr sz="1100" spc="14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permeability</a:t>
            </a:r>
            <a:r>
              <a:rPr sz="1100" spc="315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of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the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capillary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walls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131313"/>
                </a:solidFill>
                <a:latin typeface="Calibri"/>
                <a:cs typeface="Calibri"/>
              </a:rPr>
              <a:t>and</a:t>
            </a:r>
            <a:r>
              <a:rPr sz="1100" spc="21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ion</a:t>
            </a:r>
            <a:r>
              <a:rPr sz="1100" spc="305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transport</a:t>
            </a:r>
            <a:r>
              <a:rPr sz="1100" spc="30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across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90" dirty="0"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E0E0E"/>
                </a:solidFill>
                <a:latin typeface="Calibri"/>
                <a:cs typeface="Calibri"/>
              </a:rPr>
              <a:t>cell</a:t>
            </a:r>
            <a:r>
              <a:rPr sz="1100" spc="2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membranes</a:t>
            </a:r>
            <a:endParaRPr sz="1100">
              <a:latin typeface="Calibri"/>
              <a:cs typeface="Calibri"/>
            </a:endParaRPr>
          </a:p>
          <a:p>
            <a:pPr marL="355600" lvl="1" indent="-120650">
              <a:lnSpc>
                <a:spcPct val="100000"/>
              </a:lnSpc>
              <a:spcBef>
                <a:spcPts val="170"/>
              </a:spcBef>
              <a:buChar char="•"/>
              <a:tabLst>
                <a:tab pos="355600" algn="l"/>
              </a:tabLst>
            </a:pPr>
            <a:r>
              <a:rPr sz="1100" spc="10" dirty="0">
                <a:latin typeface="Calibri"/>
                <a:cs typeface="Calibri"/>
              </a:rPr>
              <a:t>Contraction</a:t>
            </a:r>
            <a:r>
              <a:rPr sz="1100" spc="204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of</a:t>
            </a:r>
            <a:r>
              <a:rPr sz="1100" spc="175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the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spc="55" dirty="0">
                <a:latin typeface="Calibri"/>
                <a:cs typeface="Calibri"/>
              </a:rPr>
              <a:t>heart</a:t>
            </a:r>
            <a:r>
              <a:rPr sz="1100" spc="85" dirty="0">
                <a:latin typeface="Calibri"/>
                <a:cs typeface="Calibri"/>
              </a:rPr>
              <a:t> </a:t>
            </a:r>
            <a:r>
              <a:rPr sz="1100" spc="65" dirty="0">
                <a:latin typeface="Calibri"/>
                <a:cs typeface="Calibri"/>
              </a:rPr>
              <a:t>and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spc="10" dirty="0">
                <a:latin typeface="Calibri"/>
                <a:cs typeface="Calibri"/>
              </a:rPr>
              <a:t>skeletal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muscle</a:t>
            </a:r>
            <a:endParaRPr sz="1100">
              <a:latin typeface="Calibri"/>
              <a:cs typeface="Calibri"/>
            </a:endParaRPr>
          </a:p>
          <a:p>
            <a:pPr marL="359410" lvl="1" indent="-114935">
              <a:lnSpc>
                <a:spcPct val="100000"/>
              </a:lnSpc>
              <a:spcBef>
                <a:spcPts val="254"/>
              </a:spcBef>
              <a:buChar char="•"/>
              <a:tabLst>
                <a:tab pos="359410" algn="l"/>
              </a:tabLst>
            </a:pPr>
            <a:r>
              <a:rPr sz="1100" spc="20" dirty="0">
                <a:latin typeface="Calibri"/>
                <a:cs typeface="Calibri"/>
              </a:rPr>
              <a:t>Reg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spc="20" dirty="0">
                <a:latin typeface="Calibri"/>
                <a:cs typeface="Calibri"/>
              </a:rPr>
              <a:t>dates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spc="20" dirty="0">
                <a:latin typeface="Calibri"/>
                <a:cs typeface="Calibri"/>
              </a:rPr>
              <a:t>the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spc="20" dirty="0">
                <a:latin typeface="Calibri"/>
                <a:cs typeface="Calibri"/>
              </a:rPr>
              <a:t>excitability</a:t>
            </a:r>
            <a:r>
              <a:rPr sz="1100" spc="130" dirty="0">
                <a:latin typeface="Calibri"/>
                <a:cs typeface="Calibri"/>
              </a:rPr>
              <a:t> </a:t>
            </a:r>
            <a:r>
              <a:rPr sz="1100" spc="20" dirty="0">
                <a:latin typeface="Calibri"/>
                <a:cs typeface="Calibri"/>
              </a:rPr>
              <a:t>of</a:t>
            </a:r>
            <a:r>
              <a:rPr sz="1100" spc="125" dirty="0">
                <a:latin typeface="Calibri"/>
                <a:cs typeface="Calibri"/>
              </a:rPr>
              <a:t> </a:t>
            </a:r>
            <a:r>
              <a:rPr sz="1100" spc="20" dirty="0">
                <a:latin typeface="Calibri"/>
                <a:cs typeface="Calibri"/>
              </a:rPr>
              <a:t>the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spc="20" dirty="0">
                <a:latin typeface="Calibri"/>
                <a:cs typeface="Calibri"/>
              </a:rPr>
              <a:t>nerve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fibres</a:t>
            </a:r>
            <a:endParaRPr sz="1100">
              <a:latin typeface="Calibri"/>
              <a:cs typeface="Calibri"/>
            </a:endParaRPr>
          </a:p>
          <a:p>
            <a:pPr marL="360045" lvl="1" indent="-115570">
              <a:lnSpc>
                <a:spcPct val="100000"/>
              </a:lnSpc>
              <a:spcBef>
                <a:spcPts val="219"/>
              </a:spcBef>
              <a:buClr>
                <a:srgbClr val="000000"/>
              </a:buClr>
              <a:buChar char="•"/>
              <a:tabLst>
                <a:tab pos="360045" algn="l"/>
              </a:tabLst>
            </a:pPr>
            <a:r>
              <a:rPr sz="1100" dirty="0">
                <a:solidFill>
                  <a:srgbClr val="1F1F1F"/>
                </a:solidFill>
                <a:latin typeface="Calibri"/>
                <a:cs typeface="Calibri"/>
              </a:rPr>
              <a:t>Acts</a:t>
            </a:r>
            <a:r>
              <a:rPr sz="1100" spc="18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100" spc="50" dirty="0">
                <a:solidFill>
                  <a:srgbClr val="1F1F1F"/>
                </a:solidFill>
                <a:latin typeface="Calibri"/>
                <a:cs typeface="Calibri"/>
              </a:rPr>
              <a:t>as</a:t>
            </a:r>
            <a:r>
              <a:rPr sz="1100" spc="14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A1A1A"/>
                </a:solidFill>
                <a:latin typeface="Calibri"/>
                <a:cs typeface="Calibri"/>
              </a:rPr>
              <a:t>an</a:t>
            </a:r>
            <a:r>
              <a:rPr sz="1100" spc="114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activator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95" dirty="0">
                <a:latin typeface="Calibri"/>
                <a:cs typeface="Calibri"/>
              </a:rPr>
              <a:t> </a:t>
            </a:r>
            <a:r>
              <a:rPr sz="1100" spc="50" dirty="0">
                <a:latin typeface="Calibri"/>
                <a:cs typeface="Calibri"/>
              </a:rPr>
              <a:t>enzymes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82828"/>
                </a:solidFill>
                <a:latin typeface="Calibri"/>
                <a:cs typeface="Calibri"/>
              </a:rPr>
              <a:t>such</a:t>
            </a:r>
            <a:r>
              <a:rPr sz="1100" spc="12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D1D1D"/>
                </a:solidFill>
                <a:latin typeface="Calibri"/>
                <a:cs typeface="Calibri"/>
              </a:rPr>
              <a:t>as</a:t>
            </a:r>
            <a:r>
              <a:rPr sz="1100" spc="22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rennin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81818"/>
                </a:solidFill>
                <a:latin typeface="Calibri"/>
                <a:cs typeface="Calibri"/>
              </a:rPr>
              <a:t>and</a:t>
            </a:r>
            <a:r>
              <a:rPr sz="1100" spc="17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pancreatic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lipase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800" y="3162300"/>
            <a:ext cx="4318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125"/>
              </a:spcBef>
            </a:pPr>
            <a:r>
              <a:rPr spc="-30" dirty="0">
                <a:solidFill>
                  <a:srgbClr val="0E5D97"/>
                </a:solidFill>
              </a:rPr>
              <a:t>Calcium-</a:t>
            </a:r>
            <a:r>
              <a:rPr spc="-40" dirty="0">
                <a:solidFill>
                  <a:srgbClr val="0E5D97"/>
                </a:solidFill>
              </a:rPr>
              <a:t> </a:t>
            </a:r>
            <a:r>
              <a:rPr spc="-40" dirty="0">
                <a:solidFill>
                  <a:srgbClr val="165D8A"/>
                </a:solidFill>
              </a:rPr>
              <a:t>Disorder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720" y="836414"/>
            <a:ext cx="3098165" cy="138366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3825" indent="-111125">
              <a:lnSpc>
                <a:spcPct val="100000"/>
              </a:lnSpc>
              <a:spcBef>
                <a:spcPts val="500"/>
              </a:spcBef>
              <a:buChar char="•"/>
              <a:tabLst>
                <a:tab pos="123825" algn="l"/>
              </a:tabLst>
            </a:pPr>
            <a:r>
              <a:rPr sz="1350" dirty="0">
                <a:latin typeface="Calibri"/>
                <a:cs typeface="Calibri"/>
              </a:rPr>
              <a:t>Calcium</a:t>
            </a:r>
            <a:r>
              <a:rPr sz="1350" spc="16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Deficiency</a:t>
            </a:r>
            <a:endParaRPr sz="1350">
              <a:latin typeface="Calibri"/>
              <a:cs typeface="Calibri"/>
            </a:endParaRPr>
          </a:p>
          <a:p>
            <a:pPr marL="127000" indent="-114300">
              <a:lnSpc>
                <a:spcPct val="100000"/>
              </a:lnSpc>
              <a:spcBef>
                <a:spcPts val="405"/>
              </a:spcBef>
              <a:buChar char="•"/>
              <a:tabLst>
                <a:tab pos="127000" algn="l"/>
              </a:tabLst>
            </a:pPr>
            <a:r>
              <a:rPr sz="1350" dirty="0">
                <a:latin typeface="Calibri"/>
                <a:cs typeface="Calibri"/>
              </a:rPr>
              <a:t>Effects</a:t>
            </a:r>
            <a:r>
              <a:rPr sz="1350" spc="10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in</a:t>
            </a:r>
            <a:r>
              <a:rPr sz="1350" spc="7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Adults:</a:t>
            </a:r>
            <a:endParaRPr sz="1350">
              <a:latin typeface="Calibri"/>
              <a:cs typeface="Calibri"/>
            </a:endParaRPr>
          </a:p>
          <a:p>
            <a:pPr marL="364490" lvl="1" indent="-120014">
              <a:lnSpc>
                <a:spcPct val="100000"/>
              </a:lnSpc>
              <a:spcBef>
                <a:spcPts val="204"/>
              </a:spcBef>
              <a:buClr>
                <a:srgbClr val="2B9054"/>
              </a:buClr>
              <a:buChar char="•"/>
              <a:tabLst>
                <a:tab pos="364490" algn="l"/>
              </a:tabLst>
            </a:pPr>
            <a:r>
              <a:rPr sz="1100" spc="-10" dirty="0">
                <a:solidFill>
                  <a:srgbClr val="59A574"/>
                </a:solidFill>
                <a:latin typeface="Calibri"/>
                <a:cs typeface="Calibri"/>
              </a:rPr>
              <a:t>Osteoporosis</a:t>
            </a:r>
            <a:endParaRPr sz="1100">
              <a:latin typeface="Calibri"/>
              <a:cs typeface="Calibri"/>
            </a:endParaRPr>
          </a:p>
          <a:p>
            <a:pPr marL="245745" lvl="1">
              <a:lnSpc>
                <a:spcPct val="100000"/>
              </a:lnSpc>
              <a:spcBef>
                <a:spcPts val="320"/>
              </a:spcBef>
              <a:buClr>
                <a:srgbClr val="156D44"/>
              </a:buClr>
              <a:tabLst>
                <a:tab pos="360045" algn="l"/>
              </a:tabLst>
            </a:pPr>
            <a:endParaRPr sz="1000">
              <a:latin typeface="Calibri"/>
              <a:cs typeface="Calibri"/>
            </a:endParaRPr>
          </a:p>
          <a:p>
            <a:pPr marL="127635" indent="-114935">
              <a:lnSpc>
                <a:spcPct val="100000"/>
              </a:lnSpc>
              <a:spcBef>
                <a:spcPts val="385"/>
              </a:spcBef>
              <a:buChar char="•"/>
              <a:tabLst>
                <a:tab pos="127635" algn="l"/>
              </a:tabLst>
            </a:pPr>
            <a:r>
              <a:rPr sz="1400" dirty="0">
                <a:latin typeface="Calibri"/>
                <a:cs typeface="Calibri"/>
              </a:rPr>
              <a:t>Effects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Children:</a:t>
            </a:r>
            <a:endParaRPr sz="1400">
              <a:latin typeface="Calibri"/>
              <a:cs typeface="Calibri"/>
            </a:endParaRPr>
          </a:p>
          <a:p>
            <a:pPr marL="359410" lvl="1" indent="-125730">
              <a:lnSpc>
                <a:spcPct val="100000"/>
              </a:lnSpc>
              <a:spcBef>
                <a:spcPts val="95"/>
              </a:spcBef>
              <a:buChar char="•"/>
              <a:tabLst>
                <a:tab pos="359410" algn="l"/>
              </a:tabLst>
            </a:pPr>
            <a:r>
              <a:rPr sz="1200" spc="-10" dirty="0">
                <a:latin typeface="Calibri"/>
                <a:cs typeface="Calibri"/>
              </a:rPr>
              <a:t>Decreased</a:t>
            </a:r>
            <a:r>
              <a:rPr sz="1200" dirty="0">
                <a:latin typeface="Calibri"/>
                <a:cs typeface="Calibri"/>
              </a:rPr>
              <a:t> rate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growth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8600" y="2197510"/>
            <a:ext cx="4351655" cy="61150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37795" indent="-125095">
              <a:lnSpc>
                <a:spcPct val="100000"/>
              </a:lnSpc>
              <a:spcBef>
                <a:spcPts val="259"/>
              </a:spcBef>
              <a:buChar char="•"/>
              <a:tabLst>
                <a:tab pos="137795" algn="l"/>
              </a:tabLst>
            </a:pPr>
            <a:r>
              <a:rPr sz="1150" b="1" dirty="0">
                <a:latin typeface="Calibri"/>
                <a:cs typeface="Calibri"/>
              </a:rPr>
              <a:t>Loss</a:t>
            </a:r>
            <a:r>
              <a:rPr sz="1150" b="1" spc="135" dirty="0">
                <a:latin typeface="Calibri"/>
                <a:cs typeface="Calibri"/>
              </a:rPr>
              <a:t> </a:t>
            </a:r>
            <a:r>
              <a:rPr sz="1150" b="1" dirty="0">
                <a:latin typeface="Calibri"/>
                <a:cs typeface="Calibri"/>
              </a:rPr>
              <a:t>of</a:t>
            </a:r>
            <a:r>
              <a:rPr sz="1150" b="1" spc="105" dirty="0">
                <a:latin typeface="Calibri"/>
                <a:cs typeface="Calibri"/>
              </a:rPr>
              <a:t> </a:t>
            </a:r>
            <a:r>
              <a:rPr sz="1150" b="1" dirty="0">
                <a:latin typeface="Calibri"/>
                <a:cs typeface="Calibri"/>
              </a:rPr>
              <a:t>Calcium</a:t>
            </a:r>
            <a:r>
              <a:rPr sz="1150" b="1" spc="210" dirty="0">
                <a:latin typeface="Calibri"/>
                <a:cs typeface="Calibri"/>
              </a:rPr>
              <a:t> </a:t>
            </a:r>
            <a:r>
              <a:rPr sz="1150" b="1" dirty="0">
                <a:latin typeface="Calibri"/>
                <a:cs typeface="Calibri"/>
              </a:rPr>
              <a:t>from</a:t>
            </a:r>
            <a:r>
              <a:rPr sz="1150" b="1" spc="50" dirty="0">
                <a:latin typeface="Calibri"/>
                <a:cs typeface="Calibri"/>
              </a:rPr>
              <a:t> </a:t>
            </a:r>
            <a:r>
              <a:rPr sz="1150" b="1" dirty="0">
                <a:latin typeface="Calibri"/>
                <a:cs typeface="Calibri"/>
              </a:rPr>
              <a:t>Bone</a:t>
            </a:r>
            <a:r>
              <a:rPr sz="1150" b="1" spc="110" dirty="0">
                <a:latin typeface="Calibri"/>
                <a:cs typeface="Calibri"/>
              </a:rPr>
              <a:t> </a:t>
            </a:r>
            <a:r>
              <a:rPr sz="1150" b="1" dirty="0">
                <a:latin typeface="Calibri"/>
                <a:cs typeface="Calibri"/>
              </a:rPr>
              <a:t>leading</a:t>
            </a:r>
            <a:r>
              <a:rPr sz="1150" b="1" spc="140" dirty="0">
                <a:latin typeface="Calibri"/>
                <a:cs typeface="Calibri"/>
              </a:rPr>
              <a:t> </a:t>
            </a:r>
            <a:r>
              <a:rPr sz="1150" b="1" dirty="0">
                <a:latin typeface="Calibri"/>
                <a:cs typeface="Calibri"/>
              </a:rPr>
              <a:t>to</a:t>
            </a:r>
            <a:r>
              <a:rPr sz="1150" b="1" spc="110" dirty="0">
                <a:latin typeface="Calibri"/>
                <a:cs typeface="Calibri"/>
              </a:rPr>
              <a:t> </a:t>
            </a:r>
            <a:r>
              <a:rPr sz="1150" b="1" dirty="0">
                <a:latin typeface="Calibri"/>
                <a:cs typeface="Calibri"/>
              </a:rPr>
              <a:t>development</a:t>
            </a:r>
            <a:r>
              <a:rPr sz="1150" b="1" spc="145" dirty="0">
                <a:latin typeface="Calibri"/>
                <a:cs typeface="Calibri"/>
              </a:rPr>
              <a:t> </a:t>
            </a:r>
            <a:r>
              <a:rPr sz="1150" b="1" dirty="0">
                <a:latin typeface="Calibri"/>
                <a:cs typeface="Calibri"/>
              </a:rPr>
              <a:t>of</a:t>
            </a:r>
            <a:r>
              <a:rPr sz="1150" b="1" spc="200" dirty="0">
                <a:latin typeface="Calibri"/>
                <a:cs typeface="Calibri"/>
              </a:rPr>
              <a:t> </a:t>
            </a:r>
            <a:r>
              <a:rPr sz="1150" b="1" spc="-10" dirty="0">
                <a:latin typeface="Calibri"/>
                <a:cs typeface="Calibri"/>
              </a:rPr>
              <a:t>Osteoporosis</a:t>
            </a:r>
            <a:endParaRPr sz="1150" b="1">
              <a:latin typeface="Calibri"/>
              <a:cs typeface="Calibri"/>
            </a:endParaRPr>
          </a:p>
          <a:p>
            <a:pPr marL="137795" indent="-125095">
              <a:lnSpc>
                <a:spcPct val="100000"/>
              </a:lnSpc>
              <a:spcBef>
                <a:spcPts val="170"/>
              </a:spcBef>
              <a:buChar char="•"/>
              <a:tabLst>
                <a:tab pos="137795" algn="l"/>
              </a:tabLst>
            </a:pPr>
            <a:r>
              <a:rPr sz="1100" b="1" spc="20" dirty="0">
                <a:latin typeface="Calibri"/>
                <a:cs typeface="Calibri"/>
              </a:rPr>
              <a:t>Hyperplasia</a:t>
            </a:r>
            <a:r>
              <a:rPr sz="1100" b="1" spc="229" dirty="0">
                <a:latin typeface="Calibri"/>
                <a:cs typeface="Calibri"/>
              </a:rPr>
              <a:t> </a:t>
            </a:r>
            <a:r>
              <a:rPr sz="1100" b="1" spc="20" dirty="0">
                <a:latin typeface="Calibri"/>
                <a:cs typeface="Calibri"/>
              </a:rPr>
              <a:t>of</a:t>
            </a:r>
            <a:r>
              <a:rPr sz="1100" b="1" spc="215" dirty="0">
                <a:latin typeface="Calibri"/>
                <a:cs typeface="Calibri"/>
              </a:rPr>
              <a:t> </a:t>
            </a:r>
            <a:r>
              <a:rPr sz="1100" b="1" spc="20" dirty="0">
                <a:latin typeface="Calibri"/>
                <a:cs typeface="Calibri"/>
              </a:rPr>
              <a:t>parathyroid</a:t>
            </a:r>
            <a:r>
              <a:rPr sz="1100" b="1" spc="315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gland</a:t>
            </a:r>
            <a:endParaRPr sz="1100" b="1">
              <a:latin typeface="Calibri"/>
              <a:cs typeface="Calibri"/>
            </a:endParaRPr>
          </a:p>
          <a:p>
            <a:pPr marL="137795" indent="-125095">
              <a:lnSpc>
                <a:spcPct val="100000"/>
              </a:lnSpc>
              <a:spcBef>
                <a:spcPts val="254"/>
              </a:spcBef>
              <a:buChar char="•"/>
              <a:tabLst>
                <a:tab pos="137795" algn="l"/>
              </a:tabLst>
            </a:pPr>
            <a:r>
              <a:rPr sz="1100" b="1" spc="55" dirty="0">
                <a:latin typeface="Calibri"/>
                <a:cs typeface="Calibri"/>
              </a:rPr>
              <a:t>Hyper-</a:t>
            </a:r>
            <a:r>
              <a:rPr sz="1100" b="1" spc="20" dirty="0">
                <a:latin typeface="Calibri"/>
                <a:cs typeface="Calibri"/>
              </a:rPr>
              <a:t>irritability</a:t>
            </a:r>
            <a:r>
              <a:rPr sz="1100" b="1" spc="50" dirty="0">
                <a:latin typeface="Calibri"/>
                <a:cs typeface="Calibri"/>
              </a:rPr>
              <a:t> </a:t>
            </a:r>
            <a:r>
              <a:rPr sz="1100" b="1" spc="60" dirty="0">
                <a:latin typeface="Calibri"/>
                <a:cs typeface="Calibri"/>
              </a:rPr>
              <a:t>and</a:t>
            </a:r>
            <a:r>
              <a:rPr sz="1100" b="1" spc="170" dirty="0">
                <a:latin typeface="Calibri"/>
                <a:cs typeface="Calibri"/>
              </a:rPr>
              <a:t> </a:t>
            </a:r>
            <a:r>
              <a:rPr sz="1100" b="1" spc="20" dirty="0">
                <a:latin typeface="Calibri"/>
                <a:cs typeface="Calibri"/>
              </a:rPr>
              <a:t>tetany</a:t>
            </a:r>
            <a:r>
              <a:rPr sz="1100" b="1" spc="175" dirty="0">
                <a:latin typeface="Calibri"/>
                <a:cs typeface="Calibri"/>
              </a:rPr>
              <a:t> </a:t>
            </a:r>
            <a:r>
              <a:rPr sz="1100" b="1" spc="20" dirty="0">
                <a:latin typeface="Calibri"/>
                <a:cs typeface="Calibri"/>
              </a:rPr>
              <a:t>leading</a:t>
            </a:r>
            <a:r>
              <a:rPr sz="1100" b="1" spc="260" dirty="0">
                <a:latin typeface="Calibri"/>
                <a:cs typeface="Calibri"/>
              </a:rPr>
              <a:t> </a:t>
            </a:r>
            <a:r>
              <a:rPr sz="1100" b="1" spc="20" dirty="0">
                <a:latin typeface="Calibri"/>
                <a:cs typeface="Calibri"/>
              </a:rPr>
              <a:t>to</a:t>
            </a:r>
            <a:r>
              <a:rPr sz="1100" b="1" spc="30" dirty="0">
                <a:latin typeface="Calibri"/>
                <a:cs typeface="Calibri"/>
              </a:rPr>
              <a:t> </a:t>
            </a:r>
            <a:r>
              <a:rPr sz="1100" b="1" spc="-10" dirty="0">
                <a:latin typeface="Calibri"/>
                <a:cs typeface="Calibri"/>
              </a:rPr>
              <a:t>death</a:t>
            </a:r>
            <a:endParaRPr sz="1100" b="1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400" y="3149600"/>
            <a:ext cx="4445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spc="-10" dirty="0">
                <a:solidFill>
                  <a:srgbClr val="0060B1"/>
                </a:solidFill>
              </a:rPr>
              <a:t>Calcium-</a:t>
            </a:r>
            <a:r>
              <a:rPr sz="2150" spc="-110" dirty="0">
                <a:solidFill>
                  <a:srgbClr val="0060B1"/>
                </a:solidFill>
              </a:rPr>
              <a:t> </a:t>
            </a:r>
            <a:r>
              <a:rPr sz="2150" spc="-40" dirty="0">
                <a:solidFill>
                  <a:srgbClr val="005DBA"/>
                </a:solidFill>
              </a:rPr>
              <a:t>Treatment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454567" y="880268"/>
            <a:ext cx="493649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°</a:t>
            </a:r>
            <a:r>
              <a:rPr sz="1400" spc="30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Giving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diet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containing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1-</a:t>
            </a:r>
            <a:r>
              <a:rPr sz="1400" dirty="0">
                <a:latin typeface="Calibri"/>
                <a:cs typeface="Calibri"/>
              </a:rPr>
              <a:t>1.5gm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calcium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along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with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400-</a:t>
            </a:r>
            <a:r>
              <a:rPr sz="1400" dirty="0">
                <a:latin typeface="Calibri"/>
                <a:cs typeface="Calibri"/>
              </a:rPr>
              <a:t>800IU</a:t>
            </a:r>
            <a:r>
              <a:rPr sz="1400" spc="10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Vit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D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3124200"/>
            <a:ext cx="4572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3704" y="275034"/>
            <a:ext cx="2828196" cy="3609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14"/>
              </a:spcBef>
            </a:pPr>
            <a:r>
              <a:rPr lang="en-IN" sz="2250" spc="-85" dirty="0">
                <a:solidFill>
                  <a:srgbClr val="035290"/>
                </a:solidFill>
              </a:rPr>
              <a:t>Phosphorus</a:t>
            </a:r>
            <a:endParaRPr sz="2250"/>
          </a:p>
        </p:txBody>
      </p:sp>
      <p:sp>
        <p:nvSpPr>
          <p:cNvPr id="3" name="object 3"/>
          <p:cNvSpPr txBox="1"/>
          <p:nvPr/>
        </p:nvSpPr>
        <p:spPr>
          <a:xfrm>
            <a:off x="447187" y="859767"/>
            <a:ext cx="4545965" cy="211074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9539" indent="-116839">
              <a:lnSpc>
                <a:spcPct val="100000"/>
              </a:lnSpc>
              <a:spcBef>
                <a:spcPts val="215"/>
              </a:spcBef>
              <a:buChar char="•"/>
              <a:tabLst>
                <a:tab pos="129539" algn="l"/>
              </a:tabLst>
            </a:pPr>
            <a:r>
              <a:rPr sz="1300" spc="-10" dirty="0">
                <a:latin typeface="Calibri"/>
                <a:cs typeface="Calibri"/>
              </a:rPr>
              <a:t>Phosphorus</a:t>
            </a:r>
            <a:r>
              <a:rPr sz="1300" spc="-1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makes</a:t>
            </a:r>
            <a:r>
              <a:rPr sz="1300" spc="-50" dirty="0"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C1C1C"/>
                </a:solidFill>
                <a:latin typeface="Calibri"/>
                <a:cs typeface="Calibri"/>
              </a:rPr>
              <a:t>up</a:t>
            </a:r>
            <a:r>
              <a:rPr sz="1300" spc="-2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about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spc="-90" dirty="0">
                <a:latin typeface="Calibri"/>
                <a:cs typeface="Calibri"/>
              </a:rPr>
              <a:t>0.6</a:t>
            </a:r>
            <a:r>
              <a:rPr lang="en-IN" sz="1300" spc="-90" dirty="0">
                <a:latin typeface="Calibri"/>
                <a:cs typeface="Calibri"/>
              </a:rPr>
              <a:t>5</a:t>
            </a:r>
            <a:r>
              <a:rPr sz="1300" spc="-90" dirty="0">
                <a:latin typeface="Calibri"/>
                <a:cs typeface="Calibri"/>
              </a:rPr>
              <a:t>—</a:t>
            </a:r>
            <a:r>
              <a:rPr sz="1300" spc="-40" dirty="0">
                <a:latin typeface="Calibri"/>
                <a:cs typeface="Calibri"/>
              </a:rPr>
              <a:t>1.1%</a:t>
            </a:r>
            <a:r>
              <a:rPr sz="1300" spc="6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1A1A1A"/>
                </a:solidFill>
                <a:latin typeface="Calibri"/>
                <a:cs typeface="Calibri"/>
              </a:rPr>
              <a:t>the</a:t>
            </a:r>
            <a:r>
              <a:rPr sz="1300" spc="-5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51515"/>
                </a:solidFill>
                <a:latin typeface="Calibri"/>
                <a:cs typeface="Calibri"/>
              </a:rPr>
              <a:t>adult</a:t>
            </a:r>
            <a:r>
              <a:rPr sz="1300" spc="-15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body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35" dirty="0">
                <a:solidFill>
                  <a:srgbClr val="1C1C1C"/>
                </a:solidFill>
                <a:latin typeface="Calibri"/>
                <a:cs typeface="Calibri"/>
              </a:rPr>
              <a:t>1-</a:t>
            </a:r>
            <a:r>
              <a:rPr sz="1300" dirty="0">
                <a:solidFill>
                  <a:srgbClr val="1C1C1C"/>
                </a:solidFill>
                <a:latin typeface="Calibri"/>
                <a:cs typeface="Calibri"/>
              </a:rPr>
              <a:t>600</a:t>
            </a:r>
            <a:r>
              <a:rPr sz="1300" spc="-20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82828"/>
                </a:solidFill>
                <a:latin typeface="Calibri"/>
                <a:cs typeface="Calibri"/>
              </a:rPr>
              <a:t>g)</a:t>
            </a:r>
            <a:endParaRPr sz="1300">
              <a:latin typeface="Calibri"/>
              <a:cs typeface="Calibri"/>
            </a:endParaRPr>
          </a:p>
          <a:p>
            <a:pPr marL="125095" indent="-112395">
              <a:lnSpc>
                <a:spcPct val="100000"/>
              </a:lnSpc>
              <a:spcBef>
                <a:spcPts val="114"/>
              </a:spcBef>
              <a:buChar char="•"/>
              <a:tabLst>
                <a:tab pos="125095" algn="l"/>
              </a:tabLst>
            </a:pPr>
            <a:r>
              <a:rPr sz="1350" spc="-55" dirty="0">
                <a:latin typeface="Calibri"/>
                <a:cs typeface="Calibri"/>
              </a:rPr>
              <a:t>85%-</a:t>
            </a:r>
            <a:r>
              <a:rPr sz="1350" spc="-25" dirty="0">
                <a:latin typeface="Calibri"/>
                <a:cs typeface="Calibri"/>
              </a:rPr>
              <a:t>Bones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30" dirty="0">
                <a:solidFill>
                  <a:srgbClr val="1A1A1A"/>
                </a:solidFill>
                <a:latin typeface="Calibri"/>
                <a:cs typeface="Calibri"/>
              </a:rPr>
              <a:t>and</a:t>
            </a:r>
            <a:r>
              <a:rPr sz="1350" spc="-4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teeth,</a:t>
            </a:r>
            <a:r>
              <a:rPr sz="1350" spc="-4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1</a:t>
            </a:r>
            <a:r>
              <a:rPr lang="en-IN" sz="1350" spc="-10" dirty="0">
                <a:latin typeface="Calibri"/>
                <a:cs typeface="Calibri"/>
              </a:rPr>
              <a:t>5</a:t>
            </a:r>
            <a:r>
              <a:rPr sz="1350" spc="-10" dirty="0">
                <a:latin typeface="Calibri"/>
                <a:cs typeface="Calibri"/>
              </a:rPr>
              <a:t>%-</a:t>
            </a:r>
            <a:r>
              <a:rPr sz="1350" spc="-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soft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tissue</a:t>
            </a:r>
            <a:endParaRPr sz="1350">
              <a:latin typeface="Calibri"/>
              <a:cs typeface="Calibri"/>
            </a:endParaRPr>
          </a:p>
          <a:p>
            <a:pPr marL="129539" indent="-116205">
              <a:lnSpc>
                <a:spcPct val="100000"/>
              </a:lnSpc>
              <a:spcBef>
                <a:spcPts val="204"/>
              </a:spcBef>
              <a:buChar char="•"/>
              <a:tabLst>
                <a:tab pos="129539" algn="l"/>
              </a:tabLst>
            </a:pPr>
            <a:r>
              <a:rPr sz="1250" dirty="0">
                <a:latin typeface="Calibri"/>
                <a:cs typeface="Calibri"/>
              </a:rPr>
              <a:t>Exist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61616"/>
                </a:solidFill>
                <a:latin typeface="Calibri"/>
                <a:cs typeface="Calibri"/>
              </a:rPr>
              <a:t>in</a:t>
            </a:r>
            <a:r>
              <a:rPr sz="1250" spc="-1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31313"/>
                </a:solidFill>
                <a:latin typeface="Calibri"/>
                <a:cs typeface="Calibri"/>
              </a:rPr>
              <a:t>2</a:t>
            </a:r>
            <a:r>
              <a:rPr sz="1250" spc="8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forms:</a:t>
            </a:r>
            <a:endParaRPr sz="1250">
              <a:latin typeface="Calibri"/>
              <a:cs typeface="Calibri"/>
            </a:endParaRPr>
          </a:p>
          <a:p>
            <a:pPr marL="131445" indent="-118110">
              <a:lnSpc>
                <a:spcPct val="100000"/>
              </a:lnSpc>
              <a:spcBef>
                <a:spcPts val="225"/>
              </a:spcBef>
              <a:buClr>
                <a:srgbClr val="132867"/>
              </a:buClr>
              <a:buChar char="•"/>
              <a:tabLst>
                <a:tab pos="131445" algn="l"/>
              </a:tabLst>
            </a:pPr>
            <a:r>
              <a:rPr sz="1250" dirty="0">
                <a:solidFill>
                  <a:srgbClr val="283352"/>
                </a:solidFill>
                <a:latin typeface="Calibri"/>
                <a:cs typeface="Calibri"/>
              </a:rPr>
              <a:t>As</a:t>
            </a:r>
            <a:r>
              <a:rPr sz="1250" spc="10" dirty="0">
                <a:solidFill>
                  <a:srgbClr val="283352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3A445E"/>
                </a:solidFill>
                <a:latin typeface="Calibri"/>
                <a:cs typeface="Calibri"/>
              </a:rPr>
              <a:t>I</a:t>
            </a:r>
            <a:r>
              <a:rPr sz="1250" dirty="0">
                <a:solidFill>
                  <a:srgbClr val="3D3D3D"/>
                </a:solidFill>
                <a:latin typeface="Calibri"/>
                <a:cs typeface="Calibri"/>
              </a:rPr>
              <a:t>norganic</a:t>
            </a:r>
            <a:r>
              <a:rPr sz="1250" spc="14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F3454"/>
                </a:solidFill>
                <a:latin typeface="Calibri"/>
                <a:cs typeface="Calibri"/>
              </a:rPr>
              <a:t>salts</a:t>
            </a:r>
            <a:r>
              <a:rPr sz="1250" spc="25" dirty="0">
                <a:solidFill>
                  <a:srgbClr val="2F3454"/>
                </a:solidFill>
                <a:latin typeface="Calibri"/>
                <a:cs typeface="Calibri"/>
              </a:rPr>
              <a:t> </a:t>
            </a:r>
            <a:r>
              <a:rPr sz="1250" spc="-50" dirty="0">
                <a:solidFill>
                  <a:srgbClr val="282828"/>
                </a:solidFill>
                <a:latin typeface="Calibri"/>
                <a:cs typeface="Calibri"/>
              </a:rPr>
              <a:t>:</a:t>
            </a:r>
            <a:endParaRPr sz="1250">
              <a:latin typeface="Calibri"/>
              <a:cs typeface="Calibri"/>
            </a:endParaRPr>
          </a:p>
          <a:p>
            <a:pPr marL="354965" lvl="1" indent="-120650">
              <a:lnSpc>
                <a:spcPts val="1310"/>
              </a:lnSpc>
              <a:buChar char="•"/>
              <a:tabLst>
                <a:tab pos="354965" algn="l"/>
              </a:tabLst>
            </a:pPr>
            <a:r>
              <a:rPr sz="1100" dirty="0">
                <a:latin typeface="Calibri"/>
                <a:cs typeface="Calibri"/>
              </a:rPr>
              <a:t>Calcium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Phosphates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Bones</a:t>
            </a:r>
            <a:r>
              <a:rPr sz="1100" spc="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teeth</a:t>
            </a:r>
            <a:endParaRPr sz="1100">
              <a:latin typeface="Calibri"/>
              <a:cs typeface="Calibri"/>
            </a:endParaRPr>
          </a:p>
          <a:p>
            <a:pPr marL="358775" lvl="1" indent="-125095">
              <a:lnSpc>
                <a:spcPts val="1370"/>
              </a:lnSpc>
              <a:buChar char="•"/>
              <a:tabLst>
                <a:tab pos="358775" algn="l"/>
              </a:tabLst>
            </a:pPr>
            <a:r>
              <a:rPr sz="1150" spc="-30" dirty="0">
                <a:latin typeface="Calibri"/>
                <a:cs typeface="Calibri"/>
              </a:rPr>
              <a:t>Phosphates</a:t>
            </a:r>
            <a:r>
              <a:rPr sz="1150" spc="55" dirty="0">
                <a:latin typeface="Calibri"/>
                <a:cs typeface="Calibri"/>
              </a:rPr>
              <a:t> </a:t>
            </a:r>
            <a:r>
              <a:rPr sz="1150" spc="-20" dirty="0">
                <a:solidFill>
                  <a:srgbClr val="181818"/>
                </a:solidFill>
                <a:latin typeface="Calibri"/>
                <a:cs typeface="Calibri"/>
              </a:rPr>
              <a:t>of</a:t>
            </a:r>
            <a:r>
              <a:rPr sz="1150" spc="1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Na</a:t>
            </a:r>
            <a:r>
              <a:rPr sz="1150" spc="-7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and</a:t>
            </a:r>
            <a:r>
              <a:rPr sz="1150" spc="-6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K</a:t>
            </a:r>
            <a:r>
              <a:rPr sz="1150" spc="-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in</a:t>
            </a:r>
            <a:r>
              <a:rPr sz="1150" spc="-40" dirty="0">
                <a:latin typeface="Calibri"/>
                <a:cs typeface="Calibri"/>
              </a:rPr>
              <a:t> </a:t>
            </a:r>
            <a:r>
              <a:rPr sz="1150" spc="-20" dirty="0">
                <a:latin typeface="Calibri"/>
                <a:cs typeface="Calibri"/>
              </a:rPr>
              <a:t>soft</a:t>
            </a:r>
            <a:r>
              <a:rPr sz="1150" spc="-10" dirty="0">
                <a:latin typeface="Calibri"/>
                <a:cs typeface="Calibri"/>
              </a:rPr>
              <a:t> tissues</a:t>
            </a:r>
            <a:endParaRPr sz="1150">
              <a:latin typeface="Calibri"/>
              <a:cs typeface="Calibri"/>
            </a:endParaRPr>
          </a:p>
          <a:p>
            <a:pPr marL="129539" indent="-116205">
              <a:lnSpc>
                <a:spcPct val="100000"/>
              </a:lnSpc>
              <a:spcBef>
                <a:spcPts val="170"/>
              </a:spcBef>
              <a:buClr>
                <a:srgbClr val="00114D"/>
              </a:buClr>
              <a:buChar char="•"/>
              <a:tabLst>
                <a:tab pos="129539" algn="l"/>
              </a:tabLst>
            </a:pPr>
            <a:r>
              <a:rPr sz="1250" dirty="0">
                <a:solidFill>
                  <a:srgbClr val="677E9E"/>
                </a:solidFill>
                <a:latin typeface="Calibri"/>
                <a:cs typeface="Calibri"/>
              </a:rPr>
              <a:t>In</a:t>
            </a:r>
            <a:r>
              <a:rPr sz="1250" spc="5" dirty="0">
                <a:solidFill>
                  <a:srgbClr val="677E9E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F214D"/>
                </a:solidFill>
                <a:latin typeface="Calibri"/>
                <a:cs typeface="Calibri"/>
              </a:rPr>
              <a:t>combination</a:t>
            </a:r>
            <a:r>
              <a:rPr sz="1250" spc="135" dirty="0">
                <a:solidFill>
                  <a:srgbClr val="0F214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F1F4B"/>
                </a:solidFill>
                <a:latin typeface="Calibri"/>
                <a:cs typeface="Calibri"/>
              </a:rPr>
              <a:t>with</a:t>
            </a:r>
            <a:r>
              <a:rPr sz="1250" spc="35" dirty="0">
                <a:solidFill>
                  <a:srgbClr val="0F1F4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B2B2B"/>
                </a:solidFill>
                <a:latin typeface="Calibri"/>
                <a:cs typeface="Calibri"/>
              </a:rPr>
              <a:t>organic</a:t>
            </a:r>
            <a:r>
              <a:rPr sz="1250" spc="6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282F62"/>
                </a:solidFill>
                <a:latin typeface="Calibri"/>
                <a:cs typeface="Calibri"/>
              </a:rPr>
              <a:t>compounds</a:t>
            </a:r>
            <a:endParaRPr sz="1250">
              <a:latin typeface="Calibri"/>
              <a:cs typeface="Calibri"/>
            </a:endParaRPr>
          </a:p>
          <a:p>
            <a:pPr marL="360045" lvl="1" indent="-115570">
              <a:lnSpc>
                <a:spcPts val="1310"/>
              </a:lnSpc>
              <a:buChar char="•"/>
              <a:tabLst>
                <a:tab pos="360045" algn="l"/>
              </a:tabLst>
            </a:pPr>
            <a:r>
              <a:rPr sz="1100" dirty="0">
                <a:latin typeface="Calibri"/>
                <a:cs typeface="Calibri"/>
              </a:rPr>
              <a:t>Phospholipids-lecithin,</a:t>
            </a:r>
            <a:r>
              <a:rPr sz="1100" spc="18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Cephalin</a:t>
            </a:r>
            <a:endParaRPr sz="1100">
              <a:latin typeface="Calibri"/>
              <a:cs typeface="Calibri"/>
            </a:endParaRPr>
          </a:p>
          <a:p>
            <a:pPr marL="359410" lvl="1" indent="-116205">
              <a:lnSpc>
                <a:spcPts val="1345"/>
              </a:lnSpc>
              <a:buChar char="•"/>
              <a:tabLst>
                <a:tab pos="359410" algn="l"/>
              </a:tabLst>
            </a:pPr>
            <a:r>
              <a:rPr sz="1150" spc="-20" dirty="0">
                <a:latin typeface="Calibri"/>
                <a:cs typeface="Calibri"/>
              </a:rPr>
              <a:t>Nucleoproteins</a:t>
            </a:r>
            <a:r>
              <a:rPr sz="1150" spc="-9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and</a:t>
            </a:r>
            <a:r>
              <a:rPr sz="1150" spc="-55" dirty="0">
                <a:latin typeface="Calibri"/>
                <a:cs typeface="Calibri"/>
              </a:rPr>
              <a:t> </a:t>
            </a:r>
            <a:r>
              <a:rPr sz="1150" spc="-25" dirty="0">
                <a:latin typeface="Calibri"/>
                <a:cs typeface="Calibri"/>
              </a:rPr>
              <a:t>Nucleic</a:t>
            </a:r>
            <a:r>
              <a:rPr sz="1150" spc="50" dirty="0"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Acids</a:t>
            </a:r>
            <a:endParaRPr sz="1150">
              <a:latin typeface="Calibri"/>
              <a:cs typeface="Calibri"/>
            </a:endParaRPr>
          </a:p>
          <a:p>
            <a:pPr marL="355600" lvl="1" indent="-120650">
              <a:lnSpc>
                <a:spcPts val="1270"/>
              </a:lnSpc>
              <a:buChar char="•"/>
              <a:tabLst>
                <a:tab pos="355600" algn="l"/>
              </a:tabLst>
            </a:pPr>
            <a:r>
              <a:rPr sz="1100" dirty="0">
                <a:latin typeface="Calibri"/>
                <a:cs typeface="Calibri"/>
              </a:rPr>
              <a:t>Creatine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15" dirty="0">
                <a:latin typeface="Calibri"/>
                <a:cs typeface="Calibri"/>
              </a:rPr>
              <a:t>Phosphates-</a:t>
            </a:r>
            <a:r>
              <a:rPr sz="1100" dirty="0">
                <a:latin typeface="Calibri"/>
                <a:cs typeface="Calibri"/>
              </a:rPr>
              <a:t>ATP,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ADP,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NADP</a:t>
            </a:r>
            <a:endParaRPr sz="1100">
              <a:latin typeface="Calibri"/>
              <a:cs typeface="Calibri"/>
            </a:endParaRPr>
          </a:p>
          <a:p>
            <a:pPr marL="359410" lvl="1" indent="-125095">
              <a:lnSpc>
                <a:spcPts val="1300"/>
              </a:lnSpc>
              <a:buChar char="•"/>
              <a:tabLst>
                <a:tab pos="359410" algn="l"/>
              </a:tabLst>
            </a:pPr>
            <a:r>
              <a:rPr sz="1100" dirty="0">
                <a:latin typeface="Calibri"/>
                <a:cs typeface="Calibri"/>
              </a:rPr>
              <a:t>Hexose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Phosphates</a:t>
            </a:r>
            <a:r>
              <a:rPr sz="1100" spc="3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etc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400" y="3111500"/>
            <a:ext cx="4572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10200" y="2352675"/>
            <a:ext cx="409575" cy="190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86175" y="895350"/>
            <a:ext cx="1828800" cy="10763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53075" y="333375"/>
            <a:ext cx="161925" cy="571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52875" y="1847850"/>
            <a:ext cx="66675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10200" y="1524000"/>
            <a:ext cx="533400" cy="2381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86200" y="2343150"/>
            <a:ext cx="1695450" cy="54292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952875" y="1657350"/>
            <a:ext cx="95250" cy="18097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14"/>
              </a:spcBef>
            </a:pPr>
            <a:r>
              <a:rPr sz="2250" spc="-75" dirty="0">
                <a:solidFill>
                  <a:srgbClr val="075493"/>
                </a:solidFill>
              </a:rPr>
              <a:t>Phosphorus-</a:t>
            </a:r>
            <a:r>
              <a:rPr sz="2250" spc="-40" dirty="0">
                <a:solidFill>
                  <a:srgbClr val="075493"/>
                </a:solidFill>
              </a:rPr>
              <a:t>Sources</a:t>
            </a:r>
            <a:endParaRPr sz="2250"/>
          </a:p>
        </p:txBody>
      </p:sp>
      <p:sp>
        <p:nvSpPr>
          <p:cNvPr id="10" name="object 10"/>
          <p:cNvSpPr txBox="1"/>
          <p:nvPr/>
        </p:nvSpPr>
        <p:spPr>
          <a:xfrm>
            <a:off x="436260" y="866973"/>
            <a:ext cx="3079115" cy="1693412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37160" indent="-114935">
              <a:lnSpc>
                <a:spcPct val="100000"/>
              </a:lnSpc>
              <a:spcBef>
                <a:spcPts val="385"/>
              </a:spcBef>
              <a:buChar char="•"/>
              <a:tabLst>
                <a:tab pos="137160" algn="l"/>
              </a:tabLst>
            </a:pPr>
            <a:r>
              <a:rPr sz="1450" spc="-40" dirty="0">
                <a:latin typeface="Calibri"/>
                <a:cs typeface="Calibri"/>
              </a:rPr>
              <a:t>Important</a:t>
            </a:r>
            <a:r>
              <a:rPr sz="1450" spc="70" dirty="0">
                <a:latin typeface="Calibri"/>
                <a:cs typeface="Calibri"/>
              </a:rPr>
              <a:t> </a:t>
            </a:r>
            <a:r>
              <a:rPr sz="1450" spc="-40" dirty="0">
                <a:latin typeface="Calibri"/>
                <a:cs typeface="Calibri"/>
              </a:rPr>
              <a:t>sources: </a:t>
            </a:r>
            <a:r>
              <a:rPr sz="1450" dirty="0">
                <a:solidFill>
                  <a:srgbClr val="21A357"/>
                </a:solidFill>
                <a:latin typeface="Calibri"/>
                <a:cs typeface="Calibri"/>
              </a:rPr>
              <a:t>Milk,</a:t>
            </a:r>
            <a:r>
              <a:rPr sz="1450" spc="-25" dirty="0">
                <a:solidFill>
                  <a:srgbClr val="21A357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58E49"/>
                </a:solidFill>
                <a:latin typeface="Calibri"/>
                <a:cs typeface="Calibri"/>
              </a:rPr>
              <a:t>Egg,</a:t>
            </a:r>
            <a:r>
              <a:rPr sz="1450" spc="-25" dirty="0">
                <a:solidFill>
                  <a:srgbClr val="158E49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139352"/>
                </a:solidFill>
                <a:latin typeface="Calibri"/>
                <a:cs typeface="Calibri"/>
              </a:rPr>
              <a:t>Meat, </a:t>
            </a:r>
            <a:r>
              <a:rPr sz="1450" spc="-20" dirty="0">
                <a:solidFill>
                  <a:srgbClr val="168948"/>
                </a:solidFill>
                <a:latin typeface="Calibri"/>
                <a:cs typeface="Calibri"/>
              </a:rPr>
              <a:t>Fish</a:t>
            </a:r>
            <a:endParaRPr sz="1450">
              <a:latin typeface="Calibri"/>
              <a:cs typeface="Calibri"/>
            </a:endParaRPr>
          </a:p>
          <a:p>
            <a:pPr marL="137795" indent="-125095">
              <a:lnSpc>
                <a:spcPct val="100000"/>
              </a:lnSpc>
              <a:spcBef>
                <a:spcPts val="285"/>
              </a:spcBef>
              <a:buChar char="•"/>
              <a:tabLst>
                <a:tab pos="137795" algn="l"/>
              </a:tabLst>
            </a:pPr>
            <a:r>
              <a:rPr sz="1450" spc="-30" dirty="0">
                <a:latin typeface="Calibri"/>
                <a:cs typeface="Calibri"/>
              </a:rPr>
              <a:t>Fair</a:t>
            </a:r>
            <a:r>
              <a:rPr sz="1450" spc="-50" dirty="0">
                <a:latin typeface="Calibri"/>
                <a:cs typeface="Calibri"/>
              </a:rPr>
              <a:t> </a:t>
            </a:r>
            <a:r>
              <a:rPr sz="1450" spc="-30" dirty="0">
                <a:latin typeface="Calibri"/>
                <a:cs typeface="Calibri"/>
              </a:rPr>
              <a:t>sources:</a:t>
            </a:r>
            <a:r>
              <a:rPr sz="1450" spc="20" dirty="0"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6934D"/>
                </a:solidFill>
                <a:latin typeface="Calibri"/>
                <a:cs typeface="Calibri"/>
              </a:rPr>
              <a:t>vegetables</a:t>
            </a:r>
            <a:endParaRPr sz="1450">
              <a:latin typeface="Calibri"/>
              <a:cs typeface="Calibri"/>
            </a:endParaRPr>
          </a:p>
          <a:p>
            <a:pPr marL="134620" marR="490220" indent="-112395">
              <a:lnSpc>
                <a:spcPts val="1500"/>
              </a:lnSpc>
              <a:spcBef>
                <a:spcPts val="459"/>
              </a:spcBef>
              <a:buClr>
                <a:srgbClr val="139C52"/>
              </a:buClr>
              <a:buChar char="•"/>
              <a:tabLst>
                <a:tab pos="136525" algn="l"/>
              </a:tabLst>
            </a:pPr>
            <a:r>
              <a:rPr sz="1400" dirty="0">
                <a:solidFill>
                  <a:srgbClr val="36A767"/>
                </a:solidFill>
                <a:latin typeface="Calibri"/>
                <a:cs typeface="Calibri"/>
              </a:rPr>
              <a:t>Cereals,</a:t>
            </a:r>
            <a:r>
              <a:rPr sz="1400" spc="75" dirty="0">
                <a:solidFill>
                  <a:srgbClr val="36A767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89A54"/>
                </a:solidFill>
                <a:latin typeface="Calibri"/>
                <a:cs typeface="Calibri"/>
              </a:rPr>
              <a:t>Pulses,</a:t>
            </a:r>
            <a:r>
              <a:rPr sz="1400" spc="60" dirty="0">
                <a:solidFill>
                  <a:srgbClr val="289A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48E70"/>
                </a:solidFill>
                <a:latin typeface="Calibri"/>
                <a:cs typeface="Calibri"/>
              </a:rPr>
              <a:t>nuts</a:t>
            </a:r>
            <a:r>
              <a:rPr sz="1400" spc="-35" dirty="0">
                <a:solidFill>
                  <a:srgbClr val="448E7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914F"/>
                </a:solidFill>
                <a:latin typeface="Calibri"/>
                <a:cs typeface="Calibri"/>
              </a:rPr>
              <a:t>and</a:t>
            </a:r>
            <a:r>
              <a:rPr sz="1400" spc="-25" dirty="0">
                <a:solidFill>
                  <a:srgbClr val="23914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834B"/>
                </a:solidFill>
                <a:latin typeface="Calibri"/>
                <a:cs typeface="Calibri"/>
              </a:rPr>
              <a:t>Oil</a:t>
            </a:r>
            <a:r>
              <a:rPr sz="1400" spc="55" dirty="0">
                <a:solidFill>
                  <a:srgbClr val="1A834B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72BF8E"/>
                </a:solidFill>
                <a:latin typeface="Calibri"/>
                <a:cs typeface="Calibri"/>
              </a:rPr>
              <a:t>seed 	</a:t>
            </a:r>
            <a:r>
              <a:rPr sz="1400" spc="-10" dirty="0">
                <a:latin typeface="Calibri"/>
                <a:cs typeface="Calibri"/>
              </a:rPr>
              <a:t>contains</a:t>
            </a:r>
            <a:r>
              <a:rPr sz="1400" spc="75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A772"/>
                </a:solidFill>
                <a:latin typeface="Calibri"/>
                <a:cs typeface="Calibri"/>
              </a:rPr>
              <a:t>Phytic</a:t>
            </a:r>
            <a:r>
              <a:rPr sz="1400" spc="40" dirty="0">
                <a:solidFill>
                  <a:srgbClr val="59A772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6834B"/>
                </a:solidFill>
                <a:latin typeface="Calibri"/>
                <a:cs typeface="Calibri"/>
              </a:rPr>
              <a:t>acid</a:t>
            </a:r>
            <a:r>
              <a:rPr sz="1400" spc="-25" dirty="0">
                <a:solidFill>
                  <a:srgbClr val="26834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F9060"/>
                </a:solidFill>
                <a:latin typeface="Calibri"/>
                <a:cs typeface="Calibri"/>
              </a:rPr>
              <a:t>or</a:t>
            </a:r>
            <a:r>
              <a:rPr sz="1400" spc="-10" dirty="0">
                <a:solidFill>
                  <a:srgbClr val="2F906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8249"/>
                </a:solidFill>
                <a:latin typeface="Calibri"/>
                <a:cs typeface="Calibri"/>
              </a:rPr>
              <a:t>phytin</a:t>
            </a:r>
            <a:endParaRPr sz="1400">
              <a:latin typeface="Calibri"/>
              <a:cs typeface="Calibri"/>
            </a:endParaRPr>
          </a:p>
          <a:p>
            <a:pPr marL="136525" marR="141605" indent="-113664">
              <a:lnSpc>
                <a:spcPts val="1500"/>
              </a:lnSpc>
              <a:spcBef>
                <a:spcPts val="525"/>
              </a:spcBef>
              <a:buClr>
                <a:srgbClr val="139C4D"/>
              </a:buClr>
              <a:buChar char="•"/>
              <a:tabLst>
                <a:tab pos="136525" algn="l"/>
              </a:tabLst>
            </a:pPr>
            <a:r>
              <a:rPr sz="1350" dirty="0">
                <a:solidFill>
                  <a:srgbClr val="118248"/>
                </a:solidFill>
                <a:latin typeface="Calibri"/>
                <a:cs typeface="Calibri"/>
              </a:rPr>
              <a:t>Phytic</a:t>
            </a:r>
            <a:r>
              <a:rPr sz="1350" spc="110" dirty="0">
                <a:solidFill>
                  <a:srgbClr val="118248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4BF80"/>
                </a:solidFill>
                <a:latin typeface="Calibri"/>
                <a:cs typeface="Calibri"/>
              </a:rPr>
              <a:t>acid</a:t>
            </a:r>
            <a:r>
              <a:rPr sz="1350" spc="50" dirty="0">
                <a:solidFill>
                  <a:srgbClr val="44BF8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13131"/>
                </a:solidFill>
                <a:latin typeface="Calibri"/>
                <a:cs typeface="Calibri"/>
              </a:rPr>
              <a:t>is</a:t>
            </a:r>
            <a:r>
              <a:rPr sz="1350" spc="-1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11111"/>
                </a:solidFill>
                <a:latin typeface="Calibri"/>
                <a:cs typeface="Calibri"/>
              </a:rPr>
              <a:t>the</a:t>
            </a:r>
            <a:r>
              <a:rPr sz="1350" spc="4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lang="en-IN" sz="1350" spc="45" dirty="0">
                <a:solidFill>
                  <a:srgbClr val="111111"/>
                </a:solidFill>
                <a:latin typeface="Calibri"/>
                <a:cs typeface="Calibri"/>
              </a:rPr>
              <a:t>compound </a:t>
            </a:r>
            <a:r>
              <a:rPr lang="en-IN" sz="1350" spc="45" dirty="0">
                <a:solidFill>
                  <a:srgbClr val="1D1D1D"/>
                </a:solidFill>
                <a:latin typeface="Calibri"/>
                <a:cs typeface="Calibri"/>
              </a:rPr>
              <a:t>o</a:t>
            </a:r>
            <a:r>
              <a:rPr sz="1350" dirty="0">
                <a:solidFill>
                  <a:srgbClr val="1D1D1D"/>
                </a:solidFill>
                <a:latin typeface="Calibri"/>
                <a:cs typeface="Calibri"/>
              </a:rPr>
              <a:t>f</a:t>
            </a:r>
            <a:r>
              <a:rPr sz="1350" spc="2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inositol </a:t>
            </a:r>
            <a:r>
              <a:rPr sz="1350" dirty="0">
                <a:latin typeface="Calibri"/>
                <a:cs typeface="Calibri"/>
              </a:rPr>
              <a:t>and phosphoric</a:t>
            </a:r>
            <a:r>
              <a:rPr sz="1350" spc="180" dirty="0"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111111"/>
                </a:solidFill>
                <a:latin typeface="Calibri"/>
                <a:cs typeface="Calibri"/>
              </a:rPr>
              <a:t>acid</a:t>
            </a:r>
            <a:endParaRPr sz="1400">
              <a:latin typeface="Calibri"/>
              <a:cs typeface="Calibri"/>
            </a:endParaRPr>
          </a:p>
          <a:p>
            <a:pPr marL="134620" indent="-121920">
              <a:lnSpc>
                <a:spcPct val="100000"/>
              </a:lnSpc>
              <a:spcBef>
                <a:spcPts val="295"/>
              </a:spcBef>
              <a:buChar char="•"/>
              <a:tabLst>
                <a:tab pos="134620" algn="l"/>
              </a:tabLst>
            </a:pPr>
            <a:r>
              <a:rPr sz="1450" spc="-20" dirty="0">
                <a:latin typeface="Calibri"/>
                <a:cs typeface="Calibri"/>
              </a:rPr>
              <a:t>Only </a:t>
            </a:r>
            <a:r>
              <a:rPr sz="1450" spc="-50" dirty="0">
                <a:latin typeface="Calibri"/>
                <a:cs typeface="Calibri"/>
              </a:rPr>
              <a:t>40-</a:t>
            </a:r>
            <a:r>
              <a:rPr sz="1450" spc="-40" dirty="0">
                <a:latin typeface="Calibri"/>
                <a:cs typeface="Calibri"/>
              </a:rPr>
              <a:t>50%</a:t>
            </a:r>
            <a:r>
              <a:rPr sz="1450" spc="-35" dirty="0">
                <a:latin typeface="Calibri"/>
                <a:cs typeface="Calibri"/>
              </a:rPr>
              <a:t> </a:t>
            </a:r>
            <a:r>
              <a:rPr sz="1450" spc="-40" dirty="0">
                <a:latin typeface="Calibri"/>
                <a:cs typeface="Calibri"/>
              </a:rPr>
              <a:t>available</a:t>
            </a:r>
            <a:r>
              <a:rPr sz="1450" spc="5" dirty="0">
                <a:latin typeface="Calibri"/>
                <a:cs typeface="Calibri"/>
              </a:rPr>
              <a:t> </a:t>
            </a:r>
            <a:r>
              <a:rPr sz="1450" spc="-20" dirty="0">
                <a:latin typeface="Calibri"/>
                <a:cs typeface="Calibri"/>
              </a:rPr>
              <a:t>for</a:t>
            </a:r>
            <a:r>
              <a:rPr sz="1450" spc="-60" dirty="0">
                <a:latin typeface="Calibri"/>
                <a:cs typeface="Calibri"/>
              </a:rPr>
              <a:t> </a:t>
            </a:r>
            <a:r>
              <a:rPr sz="1450" spc="-20" dirty="0">
                <a:latin typeface="Calibri"/>
                <a:cs typeface="Calibri"/>
              </a:rPr>
              <a:t>body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37751" y="1632148"/>
            <a:ext cx="1451610" cy="4006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50" spc="-55" dirty="0">
                <a:solidFill>
                  <a:srgbClr val="2A3674"/>
                </a:solidFill>
                <a:latin typeface="Calibri"/>
                <a:cs typeface="Calibri"/>
              </a:rPr>
              <a:t>Phosphorus</a:t>
            </a:r>
            <a:endParaRPr sz="245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06400" y="3111500"/>
            <a:ext cx="4318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25"/>
              </a:spcBef>
            </a:pPr>
            <a:r>
              <a:rPr spc="-55" dirty="0">
                <a:solidFill>
                  <a:srgbClr val="005DA5"/>
                </a:solidFill>
              </a:rPr>
              <a:t>Phosphorus-</a:t>
            </a:r>
            <a:r>
              <a:rPr spc="-40" dirty="0">
                <a:solidFill>
                  <a:srgbClr val="005DA5"/>
                </a:solidFill>
              </a:rPr>
              <a:t>Requirement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889" y="1248698"/>
            <a:ext cx="5122545" cy="671338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0" marR="189865" indent="-114300">
              <a:lnSpc>
                <a:spcPts val="1540"/>
              </a:lnSpc>
              <a:spcBef>
                <a:spcPts val="235"/>
              </a:spcBef>
              <a:buChar char="•"/>
              <a:tabLst>
                <a:tab pos="128905" algn="l"/>
              </a:tabLst>
            </a:pPr>
            <a:r>
              <a:rPr sz="1350" dirty="0">
                <a:latin typeface="Calibri"/>
                <a:cs typeface="Calibri"/>
              </a:rPr>
              <a:t>Phosphorus</a:t>
            </a:r>
            <a:r>
              <a:rPr sz="1350" spc="14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requirements</a:t>
            </a:r>
            <a:r>
              <a:rPr sz="1350" spc="1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have not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been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specifically</a:t>
            </a:r>
            <a:r>
              <a:rPr sz="1350" spc="1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considered</a:t>
            </a:r>
            <a:r>
              <a:rPr sz="1350" spc="80" dirty="0">
                <a:latin typeface="Calibri"/>
                <a:cs typeface="Calibri"/>
              </a:rPr>
              <a:t> </a:t>
            </a:r>
            <a:r>
              <a:rPr sz="1350" spc="-25" dirty="0">
                <a:latin typeface="Calibri"/>
                <a:cs typeface="Calibri"/>
              </a:rPr>
              <a:t>by 	</a:t>
            </a:r>
            <a:r>
              <a:rPr sz="1350" dirty="0">
                <a:latin typeface="Calibri"/>
                <a:cs typeface="Calibri"/>
              </a:rPr>
              <a:t>FAO/WHO</a:t>
            </a:r>
            <a:r>
              <a:rPr sz="1350" spc="8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Commit</a:t>
            </a:r>
            <a:r>
              <a:rPr lang="en-IN" sz="1350" spc="-10" dirty="0">
                <a:latin typeface="Calibri"/>
                <a:cs typeface="Calibri"/>
              </a:rPr>
              <a:t>tees</a:t>
            </a:r>
            <a:endParaRPr lang="en-IN" sz="1400" spc="-25" dirty="0">
              <a:latin typeface="Calibri"/>
              <a:cs typeface="Calibri"/>
            </a:endParaRPr>
          </a:p>
          <a:p>
            <a:pPr marL="12065" marR="5080">
              <a:lnSpc>
                <a:spcPts val="1500"/>
              </a:lnSpc>
              <a:spcBef>
                <a:spcPts val="545"/>
              </a:spcBef>
              <a:tabLst>
                <a:tab pos="127000" algn="l"/>
              </a:tabLst>
            </a:pPr>
            <a:endParaRPr lang="en-IN" sz="1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400" y="3136900"/>
            <a:ext cx="4445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326" y="290314"/>
            <a:ext cx="2406650" cy="365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45" dirty="0">
                <a:solidFill>
                  <a:srgbClr val="05579C"/>
                </a:solidFill>
              </a:rPr>
              <a:t>Phosphorus-</a:t>
            </a:r>
            <a:r>
              <a:rPr spc="15" dirty="0">
                <a:solidFill>
                  <a:srgbClr val="05579C"/>
                </a:solidFill>
              </a:rPr>
              <a:t> </a:t>
            </a:r>
            <a:r>
              <a:rPr spc="-35" dirty="0">
                <a:solidFill>
                  <a:srgbClr val="4D7C9A"/>
                </a:solidFill>
              </a:rPr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9326" y="1058922"/>
            <a:ext cx="4984115" cy="1423147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0" indent="-114300">
              <a:lnSpc>
                <a:spcPct val="100000"/>
              </a:lnSpc>
              <a:spcBef>
                <a:spcPts val="500"/>
              </a:spcBef>
              <a:buChar char="•"/>
              <a:tabLst>
                <a:tab pos="127000" algn="l"/>
              </a:tabLst>
            </a:pPr>
            <a:r>
              <a:rPr sz="1350" dirty="0">
                <a:latin typeface="Calibri"/>
                <a:cs typeface="Calibri"/>
              </a:rPr>
              <a:t>Bone</a:t>
            </a:r>
            <a:r>
              <a:rPr sz="1350" spc="4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and</a:t>
            </a:r>
            <a:r>
              <a:rPr sz="1350" spc="7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Teeth</a:t>
            </a:r>
            <a:r>
              <a:rPr sz="1350" spc="6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Formation:</a:t>
            </a:r>
            <a:r>
              <a:rPr sz="1350" spc="215" dirty="0"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BA76E"/>
                </a:solidFill>
                <a:latin typeface="Calibri"/>
                <a:cs typeface="Calibri"/>
              </a:rPr>
              <a:t>formation</a:t>
            </a:r>
            <a:r>
              <a:rPr sz="1350" spc="105" dirty="0">
                <a:solidFill>
                  <a:srgbClr val="3BA76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5BA585"/>
                </a:solidFill>
                <a:latin typeface="Calibri"/>
                <a:cs typeface="Calibri"/>
              </a:rPr>
              <a:t>of</a:t>
            </a:r>
            <a:r>
              <a:rPr sz="1350" spc="110" dirty="0">
                <a:solidFill>
                  <a:srgbClr val="5BA585"/>
                </a:solidFill>
                <a:latin typeface="Calibri"/>
                <a:cs typeface="Calibri"/>
              </a:rPr>
              <a:t> </a:t>
            </a:r>
            <a:r>
              <a:rPr sz="1350" spc="-25" dirty="0">
                <a:solidFill>
                  <a:srgbClr val="4FB37E"/>
                </a:solidFill>
                <a:latin typeface="Calibri"/>
                <a:cs typeface="Calibri"/>
              </a:rPr>
              <a:t>dent</a:t>
            </a:r>
            <a:r>
              <a:rPr sz="1350" spc="-150" dirty="0">
                <a:solidFill>
                  <a:srgbClr val="4FB37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48560"/>
                </a:solidFill>
                <a:latin typeface="Calibri"/>
                <a:cs typeface="Calibri"/>
              </a:rPr>
              <a:t>in</a:t>
            </a:r>
            <a:r>
              <a:rPr sz="1350" spc="75" dirty="0">
                <a:solidFill>
                  <a:srgbClr val="448560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68950"/>
                </a:solidFill>
                <a:latin typeface="Calibri"/>
                <a:cs typeface="Calibri"/>
              </a:rPr>
              <a:t>and</a:t>
            </a:r>
            <a:r>
              <a:rPr sz="1350" spc="90" dirty="0">
                <a:solidFill>
                  <a:srgbClr val="268950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41976B"/>
                </a:solidFill>
                <a:latin typeface="Calibri"/>
                <a:cs typeface="Calibri"/>
              </a:rPr>
              <a:t>enamel</a:t>
            </a:r>
            <a:endParaRPr sz="1350">
              <a:latin typeface="Calibri"/>
              <a:cs typeface="Calibri"/>
            </a:endParaRPr>
          </a:p>
          <a:p>
            <a:pPr marL="126364" marR="393065" indent="-106680">
              <a:lnSpc>
                <a:spcPts val="1500"/>
              </a:lnSpc>
              <a:spcBef>
                <a:spcPts val="555"/>
              </a:spcBef>
            </a:pPr>
            <a:r>
              <a:rPr sz="1350" dirty="0">
                <a:latin typeface="Calibri"/>
                <a:cs typeface="Calibri"/>
              </a:rPr>
              <a:t>°</a:t>
            </a:r>
            <a:r>
              <a:rPr sz="1350" spc="17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Required</a:t>
            </a:r>
            <a:r>
              <a:rPr sz="1350" spc="2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for</a:t>
            </a:r>
            <a:r>
              <a:rPr sz="1350" spc="85" dirty="0"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19352"/>
                </a:solidFill>
                <a:latin typeface="Calibri"/>
                <a:cs typeface="Calibri"/>
              </a:rPr>
              <a:t>formation</a:t>
            </a:r>
            <a:r>
              <a:rPr sz="1350" spc="105" dirty="0">
                <a:solidFill>
                  <a:srgbClr val="11935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BB57E"/>
                </a:solidFill>
                <a:latin typeface="Calibri"/>
                <a:cs typeface="Calibri"/>
              </a:rPr>
              <a:t>of</a:t>
            </a:r>
            <a:r>
              <a:rPr sz="1350" spc="100" dirty="0">
                <a:solidFill>
                  <a:srgbClr val="4BB57E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62626"/>
                </a:solidFill>
                <a:latin typeface="Calibri"/>
                <a:cs typeface="Calibri"/>
              </a:rPr>
              <a:t>Phospholipids—integral</a:t>
            </a:r>
            <a:r>
              <a:rPr sz="1350" spc="6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part</a:t>
            </a:r>
            <a:r>
              <a:rPr sz="1350" spc="4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of</a:t>
            </a:r>
            <a:r>
              <a:rPr sz="1350" spc="80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cell </a:t>
            </a:r>
            <a:r>
              <a:rPr sz="1350" dirty="0">
                <a:latin typeface="Calibri"/>
                <a:cs typeface="Calibri"/>
              </a:rPr>
              <a:t>structure,</a:t>
            </a:r>
            <a:r>
              <a:rPr sz="1350" spc="7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act</a:t>
            </a:r>
            <a:r>
              <a:rPr sz="1350" spc="5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as</a:t>
            </a:r>
            <a:r>
              <a:rPr sz="1350" spc="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intermediate</a:t>
            </a:r>
            <a:r>
              <a:rPr sz="1350" spc="80" dirty="0"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11111"/>
                </a:solidFill>
                <a:latin typeface="Calibri"/>
                <a:cs typeface="Calibri"/>
              </a:rPr>
              <a:t>in</a:t>
            </a:r>
            <a:r>
              <a:rPr sz="1350" spc="1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fat</a:t>
            </a:r>
            <a:r>
              <a:rPr sz="1350" spc="2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transport</a:t>
            </a:r>
            <a:r>
              <a:rPr sz="1350" spc="12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and</a:t>
            </a:r>
            <a:r>
              <a:rPr sz="1350" spc="3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metabolism</a:t>
            </a:r>
            <a:endParaRPr sz="1350">
              <a:latin typeface="Calibri"/>
              <a:cs typeface="Calibri"/>
            </a:endParaRPr>
          </a:p>
          <a:p>
            <a:pPr marL="126364" marR="5080" indent="-114300">
              <a:lnSpc>
                <a:spcPts val="1500"/>
              </a:lnSpc>
              <a:spcBef>
                <a:spcPts val="525"/>
              </a:spcBef>
              <a:buChar char="•"/>
              <a:tabLst>
                <a:tab pos="130175" algn="l"/>
              </a:tabLst>
            </a:pPr>
            <a:r>
              <a:rPr sz="1350" dirty="0">
                <a:latin typeface="Calibri"/>
                <a:cs typeface="Calibri"/>
              </a:rPr>
              <a:t>Required</a:t>
            </a:r>
            <a:r>
              <a:rPr sz="1350" spc="5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for</a:t>
            </a:r>
            <a:r>
              <a:rPr sz="1350" spc="25" dirty="0"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4B175"/>
                </a:solidFill>
                <a:latin typeface="Calibri"/>
                <a:cs typeface="Calibri"/>
              </a:rPr>
              <a:t>carbohydrate</a:t>
            </a:r>
            <a:r>
              <a:rPr sz="1350" spc="130" dirty="0">
                <a:solidFill>
                  <a:srgbClr val="44B175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metabolism—</a:t>
            </a:r>
            <a:r>
              <a:rPr sz="1350" spc="4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Glycogen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phosphorylation 	</a:t>
            </a:r>
            <a:r>
              <a:rPr sz="1350" dirty="0">
                <a:latin typeface="Calibri"/>
                <a:cs typeface="Calibri"/>
              </a:rPr>
              <a:t>by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inorganic</a:t>
            </a:r>
            <a:r>
              <a:rPr sz="1350" spc="6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phosphorus</a:t>
            </a:r>
            <a:endParaRPr sz="1350">
              <a:latin typeface="Calibri"/>
              <a:cs typeface="Calibri"/>
            </a:endParaRPr>
          </a:p>
          <a:p>
            <a:pPr marL="128905" marR="25400" indent="-116205">
              <a:lnSpc>
                <a:spcPct val="102499"/>
              </a:lnSpc>
              <a:spcBef>
                <a:spcPts val="400"/>
              </a:spcBef>
              <a:buChar char="•"/>
              <a:tabLst>
                <a:tab pos="130810" algn="l"/>
              </a:tabLst>
            </a:pPr>
            <a:r>
              <a:rPr sz="1250" dirty="0">
                <a:latin typeface="Calibri"/>
                <a:cs typeface="Calibri"/>
              </a:rPr>
              <a:t>Required</a:t>
            </a:r>
            <a:r>
              <a:rPr sz="1250" spc="18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for</a:t>
            </a:r>
            <a:r>
              <a:rPr sz="1250" spc="110" dirty="0"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C9E56"/>
                </a:solidFill>
                <a:latin typeface="Calibri"/>
                <a:cs typeface="Calibri"/>
              </a:rPr>
              <a:t>fa</a:t>
            </a:r>
            <a:r>
              <a:rPr sz="1250" spc="-125" dirty="0">
                <a:solidFill>
                  <a:srgbClr val="1C9E56"/>
                </a:solidFill>
                <a:latin typeface="Calibri"/>
                <a:cs typeface="Calibri"/>
              </a:rPr>
              <a:t> </a:t>
            </a:r>
            <a:r>
              <a:rPr sz="1250" spc="65" dirty="0">
                <a:solidFill>
                  <a:srgbClr val="56AA79"/>
                </a:solidFill>
                <a:latin typeface="Calibri"/>
                <a:cs typeface="Calibri"/>
              </a:rPr>
              <a:t>rmation</a:t>
            </a:r>
            <a:r>
              <a:rPr sz="1250" spc="114" dirty="0">
                <a:solidFill>
                  <a:srgbClr val="56AA79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D8E5B"/>
                </a:solidFill>
                <a:latin typeface="Calibri"/>
                <a:cs typeface="Calibri"/>
              </a:rPr>
              <a:t>of</a:t>
            </a:r>
            <a:r>
              <a:rPr sz="1250" spc="150" dirty="0">
                <a:solidFill>
                  <a:srgbClr val="2D8E5B"/>
                </a:solidFill>
                <a:latin typeface="Calibri"/>
                <a:cs typeface="Calibri"/>
              </a:rPr>
              <a:t> </a:t>
            </a:r>
            <a:r>
              <a:rPr sz="1250" spc="50" dirty="0">
                <a:solidFill>
                  <a:srgbClr val="56A87E"/>
                </a:solidFill>
                <a:latin typeface="Calibri"/>
                <a:cs typeface="Calibri"/>
              </a:rPr>
              <a:t>n</a:t>
            </a:r>
            <a:r>
              <a:rPr sz="1250" spc="50" dirty="0">
                <a:solidFill>
                  <a:srgbClr val="3BA162"/>
                </a:solidFill>
                <a:latin typeface="Calibri"/>
                <a:cs typeface="Calibri"/>
              </a:rPr>
              <a:t>u</a:t>
            </a:r>
            <a:r>
              <a:rPr lang="en-IN" sz="1250" spc="50" dirty="0">
                <a:solidFill>
                  <a:srgbClr val="3BA162"/>
                </a:solidFill>
                <a:latin typeface="Calibri"/>
                <a:cs typeface="Calibri"/>
              </a:rPr>
              <a:t>cleic acid</a:t>
            </a:r>
            <a:endParaRPr sz="12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" y="3086100"/>
            <a:ext cx="4445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25"/>
              </a:spcBef>
            </a:pPr>
            <a:r>
              <a:rPr spc="-60" dirty="0">
                <a:solidFill>
                  <a:srgbClr val="1870B3"/>
                </a:solidFill>
              </a:rPr>
              <a:t>Magnesium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720" y="837406"/>
            <a:ext cx="5161280" cy="79248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30175" indent="-117475">
              <a:lnSpc>
                <a:spcPct val="100000"/>
              </a:lnSpc>
              <a:spcBef>
                <a:spcPts val="440"/>
              </a:spcBef>
              <a:buChar char="•"/>
              <a:tabLst>
                <a:tab pos="130175" algn="l"/>
              </a:tabLst>
            </a:pPr>
            <a:r>
              <a:rPr sz="1400" spc="-10" dirty="0">
                <a:latin typeface="Calibri"/>
                <a:cs typeface="Calibri"/>
              </a:rPr>
              <a:t>Adult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human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body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contains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3874B"/>
                </a:solidFill>
                <a:latin typeface="Calibri"/>
                <a:cs typeface="Calibri"/>
              </a:rPr>
              <a:t>25gm</a:t>
            </a:r>
            <a:r>
              <a:rPr sz="1400" spc="20" dirty="0">
                <a:solidFill>
                  <a:srgbClr val="13874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69560"/>
                </a:solidFill>
                <a:latin typeface="Calibri"/>
                <a:cs typeface="Calibri"/>
              </a:rPr>
              <a:t>of</a:t>
            </a:r>
            <a:r>
              <a:rPr sz="1400" spc="-25" dirty="0">
                <a:solidFill>
                  <a:srgbClr val="369560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0F9C4F"/>
                </a:solidFill>
                <a:latin typeface="Calibri"/>
                <a:cs typeface="Calibri"/>
              </a:rPr>
              <a:t>Mg</a:t>
            </a:r>
            <a:endParaRPr sz="1400">
              <a:latin typeface="Calibri"/>
              <a:cs typeface="Calibri"/>
            </a:endParaRPr>
          </a:p>
          <a:p>
            <a:pPr marL="23495">
              <a:lnSpc>
                <a:spcPct val="100000"/>
              </a:lnSpc>
              <a:spcBef>
                <a:spcPts val="345"/>
              </a:spcBef>
            </a:pPr>
            <a:r>
              <a:rPr sz="1400" dirty="0">
                <a:solidFill>
                  <a:srgbClr val="13A152"/>
                </a:solidFill>
                <a:latin typeface="Calibri"/>
                <a:cs typeface="Calibri"/>
              </a:rPr>
              <a:t>-</a:t>
            </a:r>
            <a:r>
              <a:rPr sz="1400" spc="80" dirty="0">
                <a:solidFill>
                  <a:srgbClr val="13A152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FA175"/>
                </a:solidFill>
                <a:latin typeface="Calibri"/>
                <a:cs typeface="Calibri"/>
              </a:rPr>
              <a:t>50%</a:t>
            </a:r>
            <a:r>
              <a:rPr sz="1400" spc="-25" dirty="0">
                <a:solidFill>
                  <a:srgbClr val="3FA17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3A152"/>
                </a:solidFill>
                <a:latin typeface="Calibri"/>
                <a:cs typeface="Calibri"/>
              </a:rPr>
              <a:t>present</a:t>
            </a:r>
            <a:r>
              <a:rPr sz="1400" spc="60" dirty="0">
                <a:solidFill>
                  <a:srgbClr val="13A152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69A72"/>
                </a:solidFill>
                <a:latin typeface="Calibri"/>
                <a:cs typeface="Calibri"/>
              </a:rPr>
              <a:t>in</a:t>
            </a:r>
            <a:r>
              <a:rPr sz="1400" spc="-55" dirty="0">
                <a:solidFill>
                  <a:srgbClr val="569A72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8C56"/>
                </a:solidFill>
                <a:latin typeface="Calibri"/>
                <a:cs typeface="Calibri"/>
              </a:rPr>
              <a:t>bones</a:t>
            </a:r>
            <a:r>
              <a:rPr sz="1400" spc="-25" dirty="0">
                <a:solidFill>
                  <a:srgbClr val="238C56"/>
                </a:solidFill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combination</a:t>
            </a:r>
            <a:r>
              <a:rPr sz="1400" spc="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Phosphorus</a:t>
            </a:r>
            <a:r>
              <a:rPr sz="1400" spc="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carbDnate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  <a:buClr>
                <a:srgbClr val="1A9959"/>
              </a:buClr>
              <a:tabLst>
                <a:tab pos="127635" algn="l"/>
              </a:tabLst>
            </a:pPr>
            <a:endParaRPr sz="1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3098800"/>
            <a:ext cx="457200" cy="3206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25"/>
              </a:spcBef>
            </a:pPr>
            <a:r>
              <a:rPr spc="-45" dirty="0">
                <a:solidFill>
                  <a:srgbClr val="1870B3"/>
                </a:solidFill>
              </a:rPr>
              <a:t>Magnesium-</a:t>
            </a:r>
            <a:r>
              <a:rPr spc="40" dirty="0">
                <a:solidFill>
                  <a:srgbClr val="1870B3"/>
                </a:solidFill>
              </a:rPr>
              <a:t> </a:t>
            </a:r>
            <a:r>
              <a:rPr spc="-55" dirty="0">
                <a:solidFill>
                  <a:srgbClr val="1A69A8"/>
                </a:solidFill>
              </a:rPr>
              <a:t>Absorption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4012" y="770731"/>
            <a:ext cx="3813175" cy="104775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440"/>
              </a:spcBef>
            </a:pPr>
            <a:r>
              <a:rPr sz="1400" dirty="0">
                <a:latin typeface="Calibri"/>
                <a:cs typeface="Calibri"/>
              </a:rPr>
              <a:t>°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Average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diet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contains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300-</a:t>
            </a:r>
            <a:r>
              <a:rPr sz="1400" dirty="0">
                <a:latin typeface="Calibri"/>
                <a:cs typeface="Calibri"/>
              </a:rPr>
              <a:t>400mg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magnesium</a:t>
            </a:r>
            <a:endParaRPr sz="1400">
              <a:latin typeface="Calibri"/>
              <a:cs typeface="Calibri"/>
            </a:endParaRPr>
          </a:p>
          <a:p>
            <a:pPr marL="32384">
              <a:lnSpc>
                <a:spcPct val="100000"/>
              </a:lnSpc>
              <a:spcBef>
                <a:spcPts val="345"/>
              </a:spcBef>
            </a:pPr>
            <a:r>
              <a:rPr sz="1400" dirty="0">
                <a:latin typeface="Calibri"/>
                <a:cs typeface="Calibri"/>
              </a:rPr>
              <a:t>°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spc="-45" dirty="0">
                <a:latin typeface="Calibri"/>
                <a:cs typeface="Calibri"/>
              </a:rPr>
              <a:t>4</a:t>
            </a:r>
            <a:r>
              <a:rPr lang="en-IN" sz="1400" spc="-45" dirty="0">
                <a:latin typeface="Calibri"/>
                <a:cs typeface="Calibri"/>
              </a:rPr>
              <a:t>0</a:t>
            </a:r>
            <a:r>
              <a:rPr sz="1400" spc="-45" dirty="0">
                <a:latin typeface="Calibri"/>
                <a:cs typeface="Calibri"/>
              </a:rPr>
              <a:t>-</a:t>
            </a:r>
            <a:r>
              <a:rPr sz="1400" spc="-10" dirty="0">
                <a:latin typeface="Calibri"/>
                <a:cs typeface="Calibri"/>
              </a:rPr>
              <a:t>50%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61616"/>
                </a:solidFill>
                <a:latin typeface="Calibri"/>
                <a:cs typeface="Calibri"/>
              </a:rPr>
              <a:t>not</a:t>
            </a:r>
            <a:r>
              <a:rPr sz="1400" spc="-1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absorbed</a:t>
            </a:r>
            <a:endParaRPr sz="1400">
              <a:latin typeface="Calibri"/>
              <a:cs typeface="Calibri"/>
            </a:endParaRPr>
          </a:p>
          <a:p>
            <a:pPr marL="139700" indent="-114300">
              <a:lnSpc>
                <a:spcPct val="100000"/>
              </a:lnSpc>
              <a:spcBef>
                <a:spcPts val="395"/>
              </a:spcBef>
              <a:buChar char="•"/>
              <a:tabLst>
                <a:tab pos="139700" algn="l"/>
              </a:tabLst>
            </a:pPr>
            <a:r>
              <a:rPr sz="1350" dirty="0">
                <a:latin typeface="Calibri"/>
                <a:cs typeface="Calibri"/>
              </a:rPr>
              <a:t>1/5</a:t>
            </a:r>
            <a:r>
              <a:rPr lang="en-IN" sz="1350" baseline="27777" dirty="0">
                <a:latin typeface="Calibri"/>
                <a:cs typeface="Calibri"/>
              </a:rPr>
              <a:t> th </a:t>
            </a:r>
            <a:r>
              <a:rPr lang="en-IN" sz="1350" baseline="27777" dirty="0">
                <a:solidFill>
                  <a:srgbClr val="282828"/>
                </a:solidFill>
                <a:latin typeface="Calibri"/>
                <a:cs typeface="Calibri"/>
              </a:rPr>
              <a:t>  </a:t>
            </a:r>
            <a:r>
              <a:rPr sz="1350" spc="5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Magnesium</a:t>
            </a:r>
            <a:r>
              <a:rPr sz="1350" spc="135" dirty="0"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0E0E0E"/>
                </a:solidFill>
                <a:latin typeface="Calibri"/>
                <a:cs typeface="Calibri"/>
              </a:rPr>
              <a:t>is</a:t>
            </a:r>
            <a:r>
              <a:rPr sz="1350" spc="2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excreted</a:t>
            </a:r>
            <a:r>
              <a:rPr sz="1350" spc="7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in</a:t>
            </a:r>
            <a:r>
              <a:rPr sz="1350" spc="20" dirty="0"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31313"/>
                </a:solidFill>
                <a:latin typeface="Calibri"/>
                <a:cs typeface="Calibri"/>
              </a:rPr>
              <a:t>urine</a:t>
            </a:r>
            <a:endParaRPr sz="1350">
              <a:latin typeface="Calibri"/>
              <a:cs typeface="Calibri"/>
            </a:endParaRPr>
          </a:p>
          <a:p>
            <a:pPr marL="25401">
              <a:lnSpc>
                <a:spcPct val="100000"/>
              </a:lnSpc>
              <a:spcBef>
                <a:spcPts val="420"/>
              </a:spcBef>
              <a:tabLst>
                <a:tab pos="142240" algn="l"/>
              </a:tabLst>
            </a:pPr>
            <a:endParaRPr sz="13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3086100"/>
            <a:ext cx="469900" cy="33337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25"/>
              </a:spcBef>
            </a:pPr>
            <a:r>
              <a:rPr spc="-55" dirty="0">
                <a:solidFill>
                  <a:srgbClr val="0572C4"/>
                </a:solidFill>
              </a:rPr>
              <a:t>Magnesium-</a:t>
            </a:r>
            <a:r>
              <a:rPr spc="-40" dirty="0">
                <a:solidFill>
                  <a:srgbClr val="0572C4"/>
                </a:solidFill>
              </a:rPr>
              <a:t>Requirement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720" y="837406"/>
            <a:ext cx="3583304" cy="79692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440"/>
              </a:spcBef>
            </a:pPr>
            <a:r>
              <a:rPr sz="1400" dirty="0">
                <a:latin typeface="Calibri"/>
                <a:cs typeface="Calibri"/>
              </a:rPr>
              <a:t>°</a:t>
            </a:r>
            <a:r>
              <a:rPr sz="1400" spc="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Adult: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200-</a:t>
            </a:r>
            <a:r>
              <a:rPr sz="1400" spc="-10" dirty="0">
                <a:latin typeface="Calibri"/>
                <a:cs typeface="Calibri"/>
              </a:rPr>
              <a:t>300mg/day</a:t>
            </a:r>
            <a:endParaRPr sz="1400">
              <a:latin typeface="Calibri"/>
              <a:cs typeface="Calibri"/>
            </a:endParaRPr>
          </a:p>
          <a:p>
            <a:pPr marL="20320">
              <a:lnSpc>
                <a:spcPct val="100000"/>
              </a:lnSpc>
              <a:spcBef>
                <a:spcPts val="345"/>
              </a:spcBef>
            </a:pPr>
            <a:r>
              <a:rPr sz="1400" dirty="0">
                <a:latin typeface="Calibri"/>
                <a:cs typeface="Calibri"/>
              </a:rPr>
              <a:t>°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Older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Children: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150-</a:t>
            </a:r>
            <a:r>
              <a:rPr sz="1400" spc="-10" dirty="0">
                <a:latin typeface="Calibri"/>
                <a:cs typeface="Calibri"/>
              </a:rPr>
              <a:t>200mg/day</a:t>
            </a:r>
            <a:endParaRPr sz="1400">
              <a:latin typeface="Calibri"/>
              <a:cs typeface="Calibri"/>
            </a:endParaRPr>
          </a:p>
          <a:p>
            <a:pPr marL="127635" indent="-114935">
              <a:lnSpc>
                <a:spcPct val="100000"/>
              </a:lnSpc>
              <a:spcBef>
                <a:spcPts val="345"/>
              </a:spcBef>
              <a:buChar char="•"/>
              <a:tabLst>
                <a:tab pos="127635" algn="l"/>
              </a:tabLst>
            </a:pPr>
            <a:r>
              <a:rPr sz="1400" spc="-10" dirty="0">
                <a:latin typeface="Calibri"/>
                <a:cs typeface="Calibri"/>
              </a:rPr>
              <a:t>Infants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40" dirty="0">
                <a:latin typeface="Calibri"/>
                <a:cs typeface="Calibri"/>
              </a:rPr>
              <a:t>pre-</a:t>
            </a:r>
            <a:r>
              <a:rPr sz="1400" spc="-20" dirty="0">
                <a:latin typeface="Calibri"/>
                <a:cs typeface="Calibri"/>
              </a:rPr>
              <a:t>scho</a:t>
            </a:r>
            <a:r>
              <a:rPr lang="en-IN" sz="1400" spc="-20" dirty="0">
                <a:latin typeface="Calibri"/>
                <a:cs typeface="Calibri"/>
              </a:rPr>
              <a:t>o</a:t>
            </a:r>
            <a:r>
              <a:rPr sz="1400" spc="-20" dirty="0">
                <a:latin typeface="Calibri"/>
                <a:cs typeface="Calibri"/>
              </a:rPr>
              <a:t>l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Children:</a:t>
            </a:r>
            <a:r>
              <a:rPr sz="1400" spc="95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100-</a:t>
            </a:r>
            <a:r>
              <a:rPr sz="1400" spc="-10" dirty="0">
                <a:latin typeface="Calibri"/>
                <a:cs typeface="Calibri"/>
              </a:rPr>
              <a:t>150mg/day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" y="3098800"/>
            <a:ext cx="4572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25"/>
              </a:spcBef>
            </a:pPr>
            <a:r>
              <a:rPr spc="-45" dirty="0">
                <a:solidFill>
                  <a:srgbClr val="1870B3"/>
                </a:solidFill>
              </a:rPr>
              <a:t>Magnesium-</a:t>
            </a:r>
            <a:r>
              <a:rPr spc="45" dirty="0">
                <a:solidFill>
                  <a:srgbClr val="1870B3"/>
                </a:solidFill>
              </a:rPr>
              <a:t> </a:t>
            </a:r>
            <a:r>
              <a:rPr spc="-40" dirty="0">
                <a:solidFill>
                  <a:srgbClr val="115989"/>
                </a:solidFill>
              </a:rPr>
              <a:t>Disorder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720" y="856748"/>
            <a:ext cx="4916170" cy="211772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0" indent="-114300">
              <a:lnSpc>
                <a:spcPct val="100000"/>
              </a:lnSpc>
              <a:spcBef>
                <a:spcPts val="415"/>
              </a:spcBef>
              <a:buChar char="•"/>
              <a:tabLst>
                <a:tab pos="127000" algn="l"/>
              </a:tabLst>
            </a:pPr>
            <a:r>
              <a:rPr sz="1350" dirty="0">
                <a:latin typeface="Calibri"/>
                <a:cs typeface="Calibri"/>
              </a:rPr>
              <a:t>Magnesium</a:t>
            </a:r>
            <a:r>
              <a:rPr sz="1350" spc="32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Deficiency:</a:t>
            </a:r>
            <a:endParaRPr sz="1350">
              <a:latin typeface="Calibri"/>
              <a:cs typeface="Calibri"/>
            </a:endParaRPr>
          </a:p>
          <a:p>
            <a:pPr marL="127000" marR="5080" indent="-114935">
              <a:lnSpc>
                <a:spcPct val="90400"/>
              </a:lnSpc>
              <a:spcBef>
                <a:spcPts val="480"/>
              </a:spcBef>
              <a:buClr>
                <a:srgbClr val="000000"/>
              </a:buClr>
              <a:buChar char="•"/>
              <a:tabLst>
                <a:tab pos="130175" algn="l"/>
              </a:tabLst>
            </a:pP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It</a:t>
            </a:r>
            <a:r>
              <a:rPr sz="1400" spc="-3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D1D1D"/>
                </a:solidFill>
                <a:latin typeface="Calibri"/>
                <a:cs typeface="Calibri"/>
              </a:rPr>
              <a:t>is</a:t>
            </a:r>
            <a:r>
              <a:rPr sz="1400" spc="-8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characterized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42424"/>
                </a:solidFill>
                <a:latin typeface="Calibri"/>
                <a:cs typeface="Calibri"/>
              </a:rPr>
              <a:t>by</a:t>
            </a:r>
            <a:r>
              <a:rPr sz="1400" spc="100" dirty="0">
                <a:solidFill>
                  <a:srgbClr val="26995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854B"/>
                </a:solidFill>
                <a:latin typeface="Calibri"/>
                <a:cs typeface="Calibri"/>
              </a:rPr>
              <a:t>Muscular</a:t>
            </a:r>
            <a:r>
              <a:rPr sz="1400" spc="100" dirty="0">
                <a:solidFill>
                  <a:srgbClr val="23854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69A5D"/>
                </a:solidFill>
                <a:latin typeface="Calibri"/>
                <a:cs typeface="Calibri"/>
              </a:rPr>
              <a:t>weakness,</a:t>
            </a:r>
            <a:r>
              <a:rPr sz="1400" spc="95" dirty="0">
                <a:solidFill>
                  <a:srgbClr val="269A5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AC5E"/>
                </a:solidFill>
                <a:latin typeface="Calibri"/>
                <a:cs typeface="Calibri"/>
              </a:rPr>
              <a:t>vertigo</a:t>
            </a:r>
            <a:r>
              <a:rPr sz="1400" spc="105" dirty="0">
                <a:solidFill>
                  <a:srgbClr val="1AAC5E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4DA875"/>
                </a:solidFill>
                <a:latin typeface="Calibri"/>
                <a:cs typeface="Calibri"/>
              </a:rPr>
              <a:t>and 	</a:t>
            </a:r>
            <a:r>
              <a:rPr sz="1400" dirty="0">
                <a:solidFill>
                  <a:srgbClr val="339E64"/>
                </a:solidFill>
                <a:latin typeface="Calibri"/>
                <a:cs typeface="Calibri"/>
              </a:rPr>
              <a:t>liability</a:t>
            </a:r>
            <a:r>
              <a:rPr sz="1400" spc="114" dirty="0">
                <a:solidFill>
                  <a:srgbClr val="339E6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AA6B"/>
                </a:solidFill>
                <a:latin typeface="Calibri"/>
                <a:cs typeface="Calibri"/>
              </a:rPr>
              <a:t>to </a:t>
            </a:r>
            <a:r>
              <a:rPr sz="1400" dirty="0">
                <a:solidFill>
                  <a:srgbClr val="49A772"/>
                </a:solidFill>
                <a:latin typeface="Calibri"/>
                <a:cs typeface="Calibri"/>
              </a:rPr>
              <a:t>convulsion,</a:t>
            </a:r>
            <a:r>
              <a:rPr sz="1400" spc="105" dirty="0">
                <a:solidFill>
                  <a:srgbClr val="49A772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87E4D"/>
                </a:solidFill>
                <a:latin typeface="Calibri"/>
                <a:cs typeface="Calibri"/>
              </a:rPr>
              <a:t>irritability,</a:t>
            </a:r>
            <a:r>
              <a:rPr sz="1400" spc="125" dirty="0">
                <a:solidFill>
                  <a:srgbClr val="287E4D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A36E"/>
                </a:solidFill>
                <a:latin typeface="Calibri"/>
                <a:cs typeface="Calibri"/>
              </a:rPr>
              <a:t>tetany,</a:t>
            </a:r>
            <a:r>
              <a:rPr sz="1400" spc="40" dirty="0">
                <a:solidFill>
                  <a:srgbClr val="33A36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19C64"/>
                </a:solidFill>
                <a:latin typeface="Calibri"/>
                <a:cs typeface="Calibri"/>
              </a:rPr>
              <a:t>hyper-reflexia</a:t>
            </a:r>
            <a:r>
              <a:rPr sz="1400" spc="20" dirty="0">
                <a:solidFill>
                  <a:srgbClr val="319C64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599A77"/>
                </a:solidFill>
                <a:latin typeface="Calibri"/>
                <a:cs typeface="Calibri"/>
              </a:rPr>
              <a:t>and 	</a:t>
            </a:r>
            <a:r>
              <a:rPr sz="1400" spc="-10" dirty="0">
                <a:solidFill>
                  <a:srgbClr val="4BAC7C"/>
                </a:solidFill>
                <a:latin typeface="Calibri"/>
                <a:cs typeface="Calibri"/>
              </a:rPr>
              <a:t>occasionally</a:t>
            </a:r>
            <a:r>
              <a:rPr sz="1400" spc="175" dirty="0">
                <a:solidFill>
                  <a:srgbClr val="4BAC7C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42A872"/>
                </a:solidFill>
                <a:latin typeface="Calibri"/>
                <a:cs typeface="Calibri"/>
              </a:rPr>
              <a:t>hypo-</a:t>
            </a:r>
            <a:r>
              <a:rPr sz="1400" spc="-10" dirty="0">
                <a:solidFill>
                  <a:srgbClr val="42A872"/>
                </a:solidFill>
                <a:latin typeface="Calibri"/>
                <a:cs typeface="Calibri"/>
              </a:rPr>
              <a:t>re</a:t>
            </a:r>
            <a:r>
              <a:rPr lang="en-IN" sz="1400" spc="-10" dirty="0">
                <a:solidFill>
                  <a:srgbClr val="42A872"/>
                </a:solidFill>
                <a:latin typeface="Calibri"/>
                <a:cs typeface="Calibri"/>
              </a:rPr>
              <a:t>flexia</a:t>
            </a:r>
            <a:endParaRPr lang="en-IN" sz="1400">
              <a:latin typeface="Calibri"/>
              <a:cs typeface="Calibri"/>
            </a:endParaRPr>
          </a:p>
          <a:p>
            <a:pPr marL="127635" marR="10160" indent="-113664">
              <a:lnSpc>
                <a:spcPct val="100000"/>
              </a:lnSpc>
              <a:spcBef>
                <a:spcPts val="495"/>
              </a:spcBef>
              <a:buChar char="•"/>
              <a:tabLst>
                <a:tab pos="127635" algn="l"/>
                <a:tab pos="130175" algn="l"/>
              </a:tabLst>
            </a:pPr>
            <a:r>
              <a:rPr lang="en-IN" sz="1250" dirty="0">
                <a:latin typeface="Calibri"/>
                <a:cs typeface="Calibri"/>
              </a:rPr>
              <a:t>	</a:t>
            </a:r>
            <a:r>
              <a:rPr lang="en-IN" sz="1250" dirty="0">
                <a:solidFill>
                  <a:srgbClr val="242424"/>
                </a:solidFill>
                <a:latin typeface="Calibri"/>
                <a:cs typeface="Calibri"/>
              </a:rPr>
              <a:t>It</a:t>
            </a:r>
            <a:r>
              <a:rPr lang="en-IN" sz="1250" spc="40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lang="en-IN" sz="1250" dirty="0">
                <a:solidFill>
                  <a:srgbClr val="1F1F1F"/>
                </a:solidFill>
                <a:latin typeface="Calibri"/>
                <a:cs typeface="Calibri"/>
              </a:rPr>
              <a:t>is</a:t>
            </a:r>
            <a:r>
              <a:rPr lang="en-IN" sz="1250" spc="38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lang="en-IN" sz="1250" spc="55" dirty="0">
                <a:solidFill>
                  <a:srgbClr val="181818"/>
                </a:solidFill>
                <a:latin typeface="Calibri"/>
                <a:cs typeface="Calibri"/>
              </a:rPr>
              <a:t>seen</a:t>
            </a:r>
            <a:r>
              <a:rPr lang="en-IN" sz="1250" spc="8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lang="en-IN" sz="1250" spc="60" dirty="0">
                <a:solidFill>
                  <a:srgbClr val="181818"/>
                </a:solidFill>
                <a:latin typeface="Calibri"/>
                <a:cs typeface="Calibri"/>
              </a:rPr>
              <a:t>i</a:t>
            </a:r>
            <a:r>
              <a:rPr lang="en-IN" sz="1250" spc="60" dirty="0">
                <a:latin typeface="Calibri"/>
                <a:cs typeface="Calibri"/>
              </a:rPr>
              <a:t>n </a:t>
            </a:r>
            <a:r>
              <a:rPr lang="en-IN" sz="1250" spc="50" dirty="0">
                <a:latin typeface="Calibri"/>
                <a:cs typeface="Calibri"/>
              </a:rPr>
              <a:t>Chronic</a:t>
            </a:r>
            <a:r>
              <a:rPr lang="en-IN" sz="1250" spc="114" dirty="0">
                <a:latin typeface="Calibri"/>
                <a:cs typeface="Calibri"/>
              </a:rPr>
              <a:t> </a:t>
            </a:r>
            <a:r>
              <a:rPr lang="en-IN" sz="1250" dirty="0">
                <a:latin typeface="Calibri"/>
                <a:cs typeface="Calibri"/>
              </a:rPr>
              <a:t>alcoholics,</a:t>
            </a:r>
            <a:r>
              <a:rPr lang="en-IN" sz="1250" spc="250" dirty="0">
                <a:latin typeface="Calibri"/>
                <a:cs typeface="Calibri"/>
              </a:rPr>
              <a:t> liver</a:t>
            </a:r>
            <a:r>
              <a:rPr lang="en-IN" sz="1250" spc="185" dirty="0">
                <a:latin typeface="Calibri"/>
                <a:cs typeface="Calibri"/>
              </a:rPr>
              <a:t> </a:t>
            </a:r>
            <a:r>
              <a:rPr lang="en-IN" sz="1250" dirty="0">
                <a:latin typeface="Calibri"/>
                <a:cs typeface="Calibri"/>
              </a:rPr>
              <a:t>cirrhosis,</a:t>
            </a:r>
            <a:r>
              <a:rPr lang="en-IN" sz="1250" spc="180" dirty="0">
                <a:latin typeface="Calibri"/>
                <a:cs typeface="Calibri"/>
              </a:rPr>
              <a:t> </a:t>
            </a:r>
            <a:r>
              <a:rPr lang="en-IN" sz="1250" dirty="0">
                <a:latin typeface="Calibri"/>
                <a:cs typeface="Calibri"/>
              </a:rPr>
              <a:t>PEM,</a:t>
            </a:r>
            <a:r>
              <a:rPr lang="en-IN" sz="1250" spc="170" dirty="0">
                <a:latin typeface="Calibri"/>
                <a:cs typeface="Calibri"/>
              </a:rPr>
              <a:t> </a:t>
            </a:r>
            <a:r>
              <a:rPr lang="en-IN" sz="1250" dirty="0">
                <a:latin typeface="Calibri"/>
                <a:cs typeface="Calibri"/>
              </a:rPr>
              <a:t>mal</a:t>
            </a:r>
            <a:r>
              <a:rPr lang="en-IN" sz="1250" spc="-145" dirty="0">
                <a:latin typeface="Calibri"/>
                <a:cs typeface="Calibri"/>
              </a:rPr>
              <a:t> </a:t>
            </a:r>
            <a:r>
              <a:rPr lang="en-IN" sz="1250" dirty="0">
                <a:latin typeface="Calibri"/>
                <a:cs typeface="Calibri"/>
              </a:rPr>
              <a:t>-</a:t>
            </a:r>
            <a:r>
              <a:rPr lang="en-IN" sz="1250" spc="-10" dirty="0">
                <a:latin typeface="Calibri"/>
                <a:cs typeface="Calibri"/>
              </a:rPr>
              <a:t>absorbtion </a:t>
            </a:r>
            <a:r>
              <a:rPr lang="en-IN" sz="1250" spc="55" dirty="0">
                <a:solidFill>
                  <a:srgbClr val="0C0C0C"/>
                </a:solidFill>
                <a:latin typeface="Calibri"/>
                <a:cs typeface="Calibri"/>
              </a:rPr>
              <a:t>synd</a:t>
            </a:r>
            <a:r>
              <a:rPr lang="en-IN" sz="1250" spc="55" dirty="0">
                <a:latin typeface="Calibri"/>
                <a:cs typeface="Calibri"/>
              </a:rPr>
              <a:t>rome</a:t>
            </a:r>
            <a:r>
              <a:rPr lang="en-IN" sz="1250" spc="220" dirty="0">
                <a:latin typeface="Calibri"/>
                <a:cs typeface="Calibri"/>
              </a:rPr>
              <a:t> </a:t>
            </a:r>
            <a:r>
              <a:rPr lang="en-IN" sz="1250" spc="10" dirty="0">
                <a:solidFill>
                  <a:srgbClr val="262626"/>
                </a:solidFill>
                <a:latin typeface="Calibri"/>
                <a:cs typeface="Calibri"/>
              </a:rPr>
              <a:t>and</a:t>
            </a:r>
            <a:r>
              <a:rPr lang="en-IN" sz="1250" spc="18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lang="en-IN" sz="1250" spc="10" dirty="0">
                <a:solidFill>
                  <a:srgbClr val="0F0F0F"/>
                </a:solidFill>
                <a:latin typeface="Calibri"/>
                <a:cs typeface="Calibri"/>
              </a:rPr>
              <a:t>toxemias</a:t>
            </a:r>
            <a:r>
              <a:rPr lang="en-IN" sz="1250" spc="16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lang="en-IN" sz="1250" spc="10" dirty="0">
                <a:latin typeface="Calibri"/>
                <a:cs typeface="Calibri"/>
              </a:rPr>
              <a:t>of</a:t>
            </a:r>
            <a:r>
              <a:rPr lang="en-IN" sz="1250" spc="235" dirty="0">
                <a:latin typeface="Calibri"/>
                <a:cs typeface="Calibri"/>
              </a:rPr>
              <a:t> </a:t>
            </a:r>
            <a:r>
              <a:rPr lang="en-IN" sz="1250" spc="-10" dirty="0">
                <a:latin typeface="Calibri"/>
                <a:cs typeface="Calibri"/>
              </a:rPr>
              <a:t>Pregnancy</a:t>
            </a:r>
            <a:endParaRPr lang="en-IN" sz="12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4"/>
              </a:spcBef>
              <a:buFont typeface="Calibri"/>
              <a:buChar char="•"/>
            </a:pPr>
            <a:endParaRPr sz="1250">
              <a:latin typeface="Calibri"/>
              <a:cs typeface="Calibri"/>
            </a:endParaRPr>
          </a:p>
          <a:p>
            <a:pPr marL="133350" indent="-119380">
              <a:lnSpc>
                <a:spcPct val="100000"/>
              </a:lnSpc>
              <a:spcBef>
                <a:spcPts val="5"/>
              </a:spcBef>
              <a:buChar char="•"/>
              <a:tabLst>
                <a:tab pos="133350" algn="l"/>
              </a:tabLst>
            </a:pPr>
            <a:r>
              <a:rPr sz="1250" spc="40" dirty="0">
                <a:latin typeface="Calibri"/>
                <a:cs typeface="Calibri"/>
              </a:rPr>
              <a:t>Treatment:</a:t>
            </a:r>
            <a:endParaRPr sz="1250">
              <a:latin typeface="Calibri"/>
              <a:cs typeface="Calibri"/>
            </a:endParaRPr>
          </a:p>
          <a:p>
            <a:pPr marL="132080" indent="-118110">
              <a:lnSpc>
                <a:spcPct val="100000"/>
              </a:lnSpc>
              <a:spcBef>
                <a:spcPts val="525"/>
              </a:spcBef>
              <a:buChar char="•"/>
              <a:tabLst>
                <a:tab pos="132080" algn="l"/>
              </a:tabLst>
            </a:pPr>
            <a:r>
              <a:rPr sz="1250" spc="45" dirty="0">
                <a:latin typeface="Calibri"/>
                <a:cs typeface="Calibri"/>
              </a:rPr>
              <a:t>Administration</a:t>
            </a:r>
            <a:r>
              <a:rPr sz="1250" spc="18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of</a:t>
            </a:r>
            <a:r>
              <a:rPr sz="1250" spc="175" dirty="0">
                <a:latin typeface="Calibri"/>
                <a:cs typeface="Calibri"/>
              </a:rPr>
              <a:t> </a:t>
            </a:r>
            <a:r>
              <a:rPr sz="1250" spc="55" dirty="0">
                <a:latin typeface="Calibri"/>
                <a:cs typeface="Calibri"/>
              </a:rPr>
              <a:t>Magnesium</a:t>
            </a:r>
            <a:r>
              <a:rPr sz="1250" spc="26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salts(</a:t>
            </a:r>
            <a:r>
              <a:rPr sz="1250" spc="180" dirty="0">
                <a:latin typeface="Calibri"/>
                <a:cs typeface="Calibri"/>
              </a:rPr>
              <a:t> </a:t>
            </a:r>
            <a:r>
              <a:rPr sz="1250" spc="55" dirty="0">
                <a:latin typeface="Calibri"/>
                <a:cs typeface="Calibri"/>
              </a:rPr>
              <a:t>100mg</a:t>
            </a:r>
            <a:r>
              <a:rPr sz="1250" spc="145" dirty="0">
                <a:latin typeface="Calibri"/>
                <a:cs typeface="Calibri"/>
              </a:rPr>
              <a:t> </a:t>
            </a:r>
            <a:r>
              <a:rPr sz="1250" spc="55" dirty="0">
                <a:latin typeface="Calibri"/>
                <a:cs typeface="Calibri"/>
              </a:rPr>
              <a:t>MgCl)</a:t>
            </a:r>
            <a:r>
              <a:rPr sz="1250" spc="18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within</a:t>
            </a:r>
            <a:r>
              <a:rPr sz="1250" spc="17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4</a:t>
            </a:r>
            <a:r>
              <a:rPr sz="1250" spc="12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hours</a:t>
            </a:r>
            <a:endParaRPr sz="12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800" y="3124200"/>
            <a:ext cx="4318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3075" y="333375"/>
            <a:ext cx="161925" cy="5715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437662" y="828939"/>
            <a:ext cx="5148580" cy="18801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41605" indent="-128905">
              <a:lnSpc>
                <a:spcPct val="100000"/>
              </a:lnSpc>
              <a:spcBef>
                <a:spcPts val="535"/>
              </a:spcBef>
              <a:buClr>
                <a:srgbClr val="000000"/>
              </a:buClr>
              <a:buChar char="•"/>
              <a:tabLst>
                <a:tab pos="141605" algn="l"/>
              </a:tabLst>
            </a:pPr>
            <a:r>
              <a:rPr sz="1300" spc="-10" dirty="0">
                <a:solidFill>
                  <a:srgbClr val="0C0C0C"/>
                </a:solidFill>
              </a:rPr>
              <a:t>The</a:t>
            </a:r>
            <a:r>
              <a:rPr sz="1300" spc="-45" dirty="0">
                <a:solidFill>
                  <a:srgbClr val="0C0C0C"/>
                </a:solidFill>
              </a:rPr>
              <a:t> </a:t>
            </a:r>
            <a:r>
              <a:rPr sz="1300" dirty="0"/>
              <a:t>adult</a:t>
            </a:r>
            <a:r>
              <a:rPr sz="1300" spc="25" dirty="0"/>
              <a:t> </a:t>
            </a:r>
            <a:r>
              <a:rPr sz="1300" spc="-10" dirty="0"/>
              <a:t>human</a:t>
            </a:r>
            <a:r>
              <a:rPr sz="1300" spc="-5" dirty="0"/>
              <a:t> </a:t>
            </a:r>
            <a:r>
              <a:rPr sz="1300" spc="-10" dirty="0"/>
              <a:t>body</a:t>
            </a:r>
            <a:r>
              <a:rPr sz="1300" spc="-60" dirty="0"/>
              <a:t> </a:t>
            </a:r>
            <a:r>
              <a:rPr sz="1300" spc="-10" dirty="0"/>
              <a:t>contains</a:t>
            </a:r>
            <a:r>
              <a:rPr sz="1300" spc="5" dirty="0"/>
              <a:t> </a:t>
            </a:r>
            <a:r>
              <a:rPr sz="1300" dirty="0">
                <a:solidFill>
                  <a:srgbClr val="218756"/>
                </a:solidFill>
              </a:rPr>
              <a:t>about</a:t>
            </a:r>
            <a:r>
              <a:rPr sz="1300" spc="15" dirty="0">
                <a:solidFill>
                  <a:srgbClr val="218756"/>
                </a:solidFill>
              </a:rPr>
              <a:t> </a:t>
            </a:r>
            <a:r>
              <a:rPr sz="1300" dirty="0">
                <a:solidFill>
                  <a:srgbClr val="16A34D"/>
                </a:solidFill>
              </a:rPr>
              <a:t>100</a:t>
            </a:r>
            <a:r>
              <a:rPr sz="1300" spc="-75" dirty="0">
                <a:solidFill>
                  <a:srgbClr val="16A34D"/>
                </a:solidFill>
              </a:rPr>
              <a:t> </a:t>
            </a:r>
            <a:r>
              <a:rPr sz="1300" spc="55" dirty="0">
                <a:solidFill>
                  <a:srgbClr val="69BC93"/>
                </a:solidFill>
              </a:rPr>
              <a:t>g</a:t>
            </a:r>
            <a:r>
              <a:rPr sz="1300" spc="-55" dirty="0">
                <a:solidFill>
                  <a:srgbClr val="69BC93"/>
                </a:solidFill>
              </a:rPr>
              <a:t> </a:t>
            </a:r>
            <a:r>
              <a:rPr sz="1300" dirty="0">
                <a:solidFill>
                  <a:srgbClr val="49C180"/>
                </a:solidFill>
              </a:rPr>
              <a:t>of</a:t>
            </a:r>
            <a:r>
              <a:rPr sz="1300" spc="-55" dirty="0">
                <a:solidFill>
                  <a:srgbClr val="49C180"/>
                </a:solidFill>
              </a:rPr>
              <a:t> </a:t>
            </a:r>
            <a:r>
              <a:rPr sz="1300" dirty="0">
                <a:solidFill>
                  <a:srgbClr val="54A577"/>
                </a:solidFill>
              </a:rPr>
              <a:t>sodium </a:t>
            </a:r>
            <a:r>
              <a:rPr sz="1300" spc="-20" dirty="0"/>
              <a:t>ion.</a:t>
            </a:r>
            <a:endParaRPr sz="1300"/>
          </a:p>
          <a:p>
            <a:pPr marL="137160" marR="5080" indent="-123825">
              <a:lnSpc>
                <a:spcPts val="1350"/>
              </a:lnSpc>
              <a:spcBef>
                <a:spcPts val="610"/>
              </a:spcBef>
              <a:buChar char="•"/>
              <a:tabLst>
                <a:tab pos="140970" algn="l"/>
              </a:tabLst>
            </a:pPr>
            <a:r>
              <a:rPr sz="1250" dirty="0"/>
              <a:t>Sodium</a:t>
            </a:r>
            <a:r>
              <a:rPr sz="1250" spc="100" dirty="0"/>
              <a:t> </a:t>
            </a:r>
            <a:r>
              <a:rPr sz="1250" dirty="0"/>
              <a:t>is</a:t>
            </a:r>
            <a:r>
              <a:rPr sz="1250" spc="-35" dirty="0"/>
              <a:t> </a:t>
            </a:r>
            <a:r>
              <a:rPr sz="1250" dirty="0">
                <a:solidFill>
                  <a:srgbClr val="181818"/>
                </a:solidFill>
              </a:rPr>
              <a:t>lost</a:t>
            </a:r>
            <a:r>
              <a:rPr sz="1250" spc="75" dirty="0">
                <a:solidFill>
                  <a:srgbClr val="181818"/>
                </a:solidFill>
              </a:rPr>
              <a:t> </a:t>
            </a:r>
            <a:r>
              <a:rPr sz="1250" dirty="0"/>
              <a:t>from</a:t>
            </a:r>
            <a:r>
              <a:rPr sz="1250" spc="40" dirty="0"/>
              <a:t> </a:t>
            </a:r>
            <a:r>
              <a:rPr sz="1250" dirty="0">
                <a:solidFill>
                  <a:srgbClr val="0F0F0F"/>
                </a:solidFill>
              </a:rPr>
              <a:t>the</a:t>
            </a:r>
            <a:r>
              <a:rPr sz="1250" spc="65" dirty="0">
                <a:solidFill>
                  <a:srgbClr val="0F0F0F"/>
                </a:solidFill>
              </a:rPr>
              <a:t> </a:t>
            </a:r>
            <a:r>
              <a:rPr sz="1250" dirty="0"/>
              <a:t>body</a:t>
            </a:r>
            <a:r>
              <a:rPr sz="1250" spc="40" dirty="0"/>
              <a:t> </a:t>
            </a:r>
            <a:r>
              <a:rPr sz="1250" dirty="0"/>
              <a:t>through</a:t>
            </a:r>
            <a:r>
              <a:rPr sz="1250" spc="85" dirty="0"/>
              <a:t> </a:t>
            </a:r>
            <a:r>
              <a:rPr sz="1250" dirty="0"/>
              <a:t>urine</a:t>
            </a:r>
            <a:r>
              <a:rPr sz="1250" spc="25" dirty="0"/>
              <a:t> </a:t>
            </a:r>
            <a:r>
              <a:rPr sz="1250" dirty="0"/>
              <a:t>and</a:t>
            </a:r>
            <a:r>
              <a:rPr sz="1250" spc="-5" dirty="0"/>
              <a:t> </a:t>
            </a:r>
            <a:r>
              <a:rPr sz="1250" spc="95" dirty="0"/>
              <a:t>sweat4</a:t>
            </a:r>
            <a:r>
              <a:rPr sz="1250" spc="130" dirty="0"/>
              <a:t> </a:t>
            </a:r>
            <a:r>
              <a:rPr sz="1250" dirty="0">
                <a:solidFill>
                  <a:srgbClr val="0F0F0F"/>
                </a:solidFill>
              </a:rPr>
              <a:t>that</a:t>
            </a:r>
            <a:r>
              <a:rPr sz="1250" spc="100" dirty="0">
                <a:solidFill>
                  <a:srgbClr val="0F0F0F"/>
                </a:solidFill>
              </a:rPr>
              <a:t> </a:t>
            </a:r>
            <a:r>
              <a:rPr sz="1250" dirty="0"/>
              <a:t>passed</a:t>
            </a:r>
            <a:r>
              <a:rPr sz="1250" spc="90" dirty="0"/>
              <a:t> </a:t>
            </a:r>
            <a:r>
              <a:rPr sz="1250" dirty="0">
                <a:solidFill>
                  <a:srgbClr val="0C0C0C"/>
                </a:solidFill>
              </a:rPr>
              <a:t>out</a:t>
            </a:r>
            <a:r>
              <a:rPr sz="1250" spc="95" dirty="0">
                <a:solidFill>
                  <a:srgbClr val="0C0C0C"/>
                </a:solidFill>
              </a:rPr>
              <a:t> </a:t>
            </a:r>
            <a:r>
              <a:rPr sz="1250" spc="-25" dirty="0">
                <a:solidFill>
                  <a:srgbClr val="1A1A1A"/>
                </a:solidFill>
              </a:rPr>
              <a:t>in 	</a:t>
            </a:r>
            <a:r>
              <a:rPr sz="1250" dirty="0"/>
              <a:t>urine</a:t>
            </a:r>
            <a:r>
              <a:rPr sz="1250" spc="-5" dirty="0"/>
              <a:t> </a:t>
            </a:r>
            <a:r>
              <a:rPr sz="1250" dirty="0"/>
              <a:t>is</a:t>
            </a:r>
            <a:r>
              <a:rPr sz="1250" spc="45" dirty="0"/>
              <a:t> </a:t>
            </a:r>
            <a:r>
              <a:rPr sz="1250" dirty="0"/>
              <a:t>regulated</a:t>
            </a:r>
            <a:r>
              <a:rPr sz="1250" spc="70" dirty="0"/>
              <a:t> </a:t>
            </a:r>
            <a:r>
              <a:rPr sz="1250" dirty="0"/>
              <a:t>by</a:t>
            </a:r>
            <a:r>
              <a:rPr sz="1250" spc="90" dirty="0"/>
              <a:t> </a:t>
            </a:r>
            <a:r>
              <a:rPr sz="1250" dirty="0"/>
              <a:t>the</a:t>
            </a:r>
            <a:r>
              <a:rPr sz="1250" spc="60" dirty="0"/>
              <a:t> </a:t>
            </a:r>
            <a:r>
              <a:rPr sz="1250" dirty="0"/>
              <a:t>kidney</a:t>
            </a:r>
            <a:r>
              <a:rPr sz="1250" spc="55" dirty="0"/>
              <a:t> </a:t>
            </a:r>
            <a:r>
              <a:rPr sz="1250" dirty="0"/>
              <a:t>but</a:t>
            </a:r>
            <a:r>
              <a:rPr sz="1250" spc="-10" dirty="0"/>
              <a:t> </a:t>
            </a:r>
            <a:r>
              <a:rPr sz="1250" dirty="0"/>
              <a:t>that</a:t>
            </a:r>
            <a:r>
              <a:rPr sz="1250" spc="100" dirty="0"/>
              <a:t> </a:t>
            </a:r>
            <a:r>
              <a:rPr sz="1250" dirty="0"/>
              <a:t>lost</a:t>
            </a:r>
            <a:r>
              <a:rPr sz="1250" spc="-10" dirty="0"/>
              <a:t> </a:t>
            </a:r>
            <a:r>
              <a:rPr sz="1250" dirty="0"/>
              <a:t>by</a:t>
            </a:r>
            <a:r>
              <a:rPr sz="1250" spc="55" dirty="0"/>
              <a:t> </a:t>
            </a:r>
            <a:r>
              <a:rPr sz="1250" dirty="0"/>
              <a:t>sweating</a:t>
            </a:r>
            <a:r>
              <a:rPr sz="1250" spc="85" dirty="0"/>
              <a:t> </a:t>
            </a:r>
            <a:r>
              <a:rPr sz="1250" dirty="0"/>
              <a:t>is</a:t>
            </a:r>
            <a:r>
              <a:rPr sz="1250" spc="45" dirty="0"/>
              <a:t> </a:t>
            </a:r>
            <a:r>
              <a:rPr sz="1250" dirty="0">
                <a:solidFill>
                  <a:srgbClr val="0E0E0E"/>
                </a:solidFill>
              </a:rPr>
              <a:t>not</a:t>
            </a:r>
            <a:r>
              <a:rPr sz="1250" spc="45" dirty="0">
                <a:solidFill>
                  <a:srgbClr val="0E0E0E"/>
                </a:solidFill>
              </a:rPr>
              <a:t> </a:t>
            </a:r>
            <a:r>
              <a:rPr sz="1250" spc="-10" dirty="0"/>
              <a:t>controlled.</a:t>
            </a:r>
            <a:endParaRPr sz="1250"/>
          </a:p>
          <a:p>
            <a:pPr marL="137160" indent="-124460">
              <a:lnSpc>
                <a:spcPct val="100000"/>
              </a:lnSpc>
              <a:spcBef>
                <a:spcPts val="330"/>
              </a:spcBef>
              <a:buChar char="•"/>
              <a:tabLst>
                <a:tab pos="137160" algn="l"/>
              </a:tabLst>
            </a:pPr>
            <a:r>
              <a:rPr sz="1350" spc="-35" dirty="0"/>
              <a:t>Depletion</a:t>
            </a:r>
            <a:r>
              <a:rPr sz="1350" spc="-25" dirty="0"/>
              <a:t> </a:t>
            </a:r>
            <a:r>
              <a:rPr sz="1350" dirty="0"/>
              <a:t>of</a:t>
            </a:r>
            <a:r>
              <a:rPr sz="1350" spc="-60" dirty="0"/>
              <a:t> </a:t>
            </a:r>
            <a:r>
              <a:rPr sz="1350" spc="-40" dirty="0"/>
              <a:t>NaCI</a:t>
            </a:r>
            <a:r>
              <a:rPr sz="1350" spc="-30" dirty="0"/>
              <a:t> </a:t>
            </a:r>
            <a:r>
              <a:rPr sz="1350" spc="-40" dirty="0">
                <a:solidFill>
                  <a:srgbClr val="1C1C1C"/>
                </a:solidFill>
              </a:rPr>
              <a:t>causes</a:t>
            </a:r>
            <a:r>
              <a:rPr sz="1350" spc="5" dirty="0">
                <a:solidFill>
                  <a:srgbClr val="1C1C1C"/>
                </a:solidFill>
              </a:rPr>
              <a:t> </a:t>
            </a:r>
            <a:r>
              <a:rPr sz="1350" spc="-40" dirty="0"/>
              <a:t>muscular</a:t>
            </a:r>
            <a:r>
              <a:rPr sz="1350" spc="-25" dirty="0"/>
              <a:t> </a:t>
            </a:r>
            <a:r>
              <a:rPr sz="1350" spc="-10" dirty="0">
                <a:solidFill>
                  <a:srgbClr val="131313"/>
                </a:solidFill>
              </a:rPr>
              <a:t>cramps.</a:t>
            </a:r>
            <a:endParaRPr sz="1350"/>
          </a:p>
          <a:p>
            <a:pPr marL="132080" indent="-118110">
              <a:lnSpc>
                <a:spcPts val="1450"/>
              </a:lnSpc>
              <a:spcBef>
                <a:spcPts val="355"/>
              </a:spcBef>
              <a:buChar char="•"/>
              <a:tabLst>
                <a:tab pos="132080" algn="l"/>
              </a:tabLst>
            </a:pPr>
            <a:r>
              <a:rPr sz="1250" dirty="0"/>
              <a:t>The</a:t>
            </a:r>
            <a:r>
              <a:rPr sz="1250" spc="100" dirty="0"/>
              <a:t> </a:t>
            </a:r>
            <a:r>
              <a:rPr sz="1250" dirty="0"/>
              <a:t>requirement</a:t>
            </a:r>
            <a:r>
              <a:rPr sz="1250" spc="175" dirty="0"/>
              <a:t> </a:t>
            </a:r>
            <a:r>
              <a:rPr sz="1250" dirty="0">
                <a:solidFill>
                  <a:srgbClr val="161616"/>
                </a:solidFill>
              </a:rPr>
              <a:t>of</a:t>
            </a:r>
            <a:r>
              <a:rPr sz="1250" spc="45" dirty="0">
                <a:solidFill>
                  <a:srgbClr val="161616"/>
                </a:solidFill>
              </a:rPr>
              <a:t> </a:t>
            </a:r>
            <a:r>
              <a:rPr sz="1250" dirty="0"/>
              <a:t>sodium</a:t>
            </a:r>
            <a:r>
              <a:rPr sz="1250" spc="155" dirty="0"/>
              <a:t> </a:t>
            </a:r>
            <a:r>
              <a:rPr sz="1250" dirty="0">
                <a:solidFill>
                  <a:srgbClr val="181818"/>
                </a:solidFill>
              </a:rPr>
              <a:t>chloride</a:t>
            </a:r>
            <a:r>
              <a:rPr sz="1250" spc="85" dirty="0">
                <a:solidFill>
                  <a:srgbClr val="181818"/>
                </a:solidFill>
              </a:rPr>
              <a:t> </a:t>
            </a:r>
            <a:r>
              <a:rPr sz="1250" dirty="0"/>
              <a:t>depends</a:t>
            </a:r>
            <a:r>
              <a:rPr sz="1250" spc="85" dirty="0"/>
              <a:t> </a:t>
            </a:r>
            <a:r>
              <a:rPr sz="1250" dirty="0"/>
              <a:t>upon</a:t>
            </a:r>
            <a:r>
              <a:rPr sz="1250" spc="35" dirty="0"/>
              <a:t> </a:t>
            </a:r>
            <a:r>
              <a:rPr sz="1250" dirty="0">
                <a:solidFill>
                  <a:srgbClr val="41A16E"/>
                </a:solidFill>
              </a:rPr>
              <a:t>climate,</a:t>
            </a:r>
            <a:r>
              <a:rPr sz="1250" spc="45" dirty="0">
                <a:solidFill>
                  <a:srgbClr val="41A16E"/>
                </a:solidFill>
              </a:rPr>
              <a:t> </a:t>
            </a:r>
            <a:r>
              <a:rPr sz="1250" spc="-10" dirty="0">
                <a:solidFill>
                  <a:srgbClr val="3D9A62"/>
                </a:solidFill>
              </a:rPr>
              <a:t>occupation</a:t>
            </a:r>
            <a:endParaRPr sz="1250"/>
          </a:p>
          <a:p>
            <a:pPr marL="135890">
              <a:lnSpc>
                <a:spcPts val="1390"/>
              </a:lnSpc>
            </a:pPr>
            <a:r>
              <a:rPr sz="1200" dirty="0">
                <a:solidFill>
                  <a:srgbClr val="2A8E56"/>
                </a:solidFill>
              </a:rPr>
              <a:t>and</a:t>
            </a:r>
            <a:r>
              <a:rPr sz="1200" spc="385" dirty="0">
                <a:solidFill>
                  <a:srgbClr val="2A8E56"/>
                </a:solidFill>
              </a:rPr>
              <a:t> </a:t>
            </a:r>
            <a:r>
              <a:rPr sz="1200" dirty="0">
                <a:solidFill>
                  <a:srgbClr val="489E74"/>
                </a:solidFill>
              </a:rPr>
              <a:t>physical</a:t>
            </a:r>
            <a:r>
              <a:rPr sz="1200" spc="265" dirty="0">
                <a:solidFill>
                  <a:srgbClr val="489E74"/>
                </a:solidFill>
              </a:rPr>
              <a:t> </a:t>
            </a:r>
            <a:r>
              <a:rPr sz="1200" spc="-10" dirty="0">
                <a:solidFill>
                  <a:srgbClr val="49AC77"/>
                </a:solidFill>
              </a:rPr>
              <a:t>activity.</a:t>
            </a:r>
            <a:endParaRPr sz="1200"/>
          </a:p>
          <a:p>
            <a:pPr marL="139065" indent="-126364">
              <a:lnSpc>
                <a:spcPct val="100000"/>
              </a:lnSpc>
              <a:spcBef>
                <a:spcPts val="360"/>
              </a:spcBef>
              <a:buChar char="•"/>
              <a:tabLst>
                <a:tab pos="139065" algn="l"/>
              </a:tabLst>
            </a:pPr>
            <a:r>
              <a:rPr sz="1350" spc="-45" dirty="0"/>
              <a:t>Adult</a:t>
            </a:r>
            <a:r>
              <a:rPr sz="1350" spc="-30" dirty="0"/>
              <a:t> </a:t>
            </a:r>
            <a:r>
              <a:rPr sz="1350" spc="-45" dirty="0"/>
              <a:t>requirement</a:t>
            </a:r>
            <a:r>
              <a:rPr sz="1350" spc="20" dirty="0"/>
              <a:t> </a:t>
            </a:r>
            <a:r>
              <a:rPr sz="1350" spc="-10" dirty="0">
                <a:solidFill>
                  <a:srgbClr val="0F0F0F"/>
                </a:solidFill>
              </a:rPr>
              <a:t>is</a:t>
            </a:r>
            <a:r>
              <a:rPr sz="1350" spc="-60" dirty="0">
                <a:solidFill>
                  <a:srgbClr val="0F0F0F"/>
                </a:solidFill>
              </a:rPr>
              <a:t> </a:t>
            </a:r>
            <a:r>
              <a:rPr sz="1350" spc="-20" dirty="0"/>
              <a:t>about</a:t>
            </a:r>
            <a:r>
              <a:rPr sz="1350" spc="10" dirty="0"/>
              <a:t> </a:t>
            </a:r>
            <a:r>
              <a:rPr lang="en-IN" sz="1350" spc="10" dirty="0">
                <a:solidFill>
                  <a:srgbClr val="3D9064"/>
                </a:solidFill>
              </a:rPr>
              <a:t>5</a:t>
            </a:r>
            <a:r>
              <a:rPr sz="1350" spc="-40" dirty="0">
                <a:solidFill>
                  <a:srgbClr val="3D9064"/>
                </a:solidFill>
              </a:rPr>
              <a:t> </a:t>
            </a:r>
            <a:r>
              <a:rPr sz="1350" dirty="0">
                <a:solidFill>
                  <a:srgbClr val="44B67B"/>
                </a:solidFill>
              </a:rPr>
              <a:t>gm</a:t>
            </a:r>
            <a:r>
              <a:rPr sz="1350" spc="-50" dirty="0">
                <a:solidFill>
                  <a:srgbClr val="44B67B"/>
                </a:solidFill>
              </a:rPr>
              <a:t> </a:t>
            </a:r>
            <a:r>
              <a:rPr sz="1350" dirty="0">
                <a:solidFill>
                  <a:srgbClr val="249157"/>
                </a:solidFill>
              </a:rPr>
              <a:t>per</a:t>
            </a:r>
            <a:r>
              <a:rPr sz="1350" spc="-20" dirty="0">
                <a:solidFill>
                  <a:srgbClr val="249157"/>
                </a:solidFill>
              </a:rPr>
              <a:t> </a:t>
            </a:r>
            <a:r>
              <a:rPr sz="1350" spc="-20" dirty="0">
                <a:solidFill>
                  <a:srgbClr val="31915B"/>
                </a:solidFill>
              </a:rPr>
              <a:t>day.</a:t>
            </a:r>
            <a:endParaRPr sz="1350"/>
          </a:p>
          <a:p>
            <a:pPr marL="12700" marR="31750">
              <a:lnSpc>
                <a:spcPct val="88400"/>
              </a:lnSpc>
              <a:spcBef>
                <a:spcPts val="484"/>
              </a:spcBef>
              <a:tabLst>
                <a:tab pos="139700" algn="l"/>
              </a:tabLst>
            </a:pPr>
            <a:endParaRPr sz="130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9100" y="3162300"/>
            <a:ext cx="406400" cy="2032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1B82ECE-A079-BCBD-AC4F-BEA08719D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3704" y="275034"/>
            <a:ext cx="2828196" cy="338554"/>
          </a:xfrm>
        </p:spPr>
        <p:txBody>
          <a:bodyPr/>
          <a:lstStyle/>
          <a:p>
            <a:r>
              <a:rPr lang="en-IN"/>
              <a:t>Sodium</a:t>
            </a:r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5"/>
              </a:spcBef>
            </a:pPr>
            <a:r>
              <a:rPr sz="2300" spc="-110" dirty="0">
                <a:solidFill>
                  <a:srgbClr val="1A4F7E"/>
                </a:solidFill>
              </a:rPr>
              <a:t>Potassium</a:t>
            </a:r>
            <a:endParaRPr sz="2300"/>
          </a:p>
        </p:txBody>
      </p:sp>
      <p:sp>
        <p:nvSpPr>
          <p:cNvPr id="3" name="object 3"/>
          <p:cNvSpPr txBox="1"/>
          <p:nvPr/>
        </p:nvSpPr>
        <p:spPr>
          <a:xfrm>
            <a:off x="436260" y="827664"/>
            <a:ext cx="5114290" cy="2028189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32715" indent="-119380">
              <a:lnSpc>
                <a:spcPct val="100000"/>
              </a:lnSpc>
              <a:spcBef>
                <a:spcPts val="520"/>
              </a:spcBef>
              <a:buChar char="•"/>
              <a:tabLst>
                <a:tab pos="132715" algn="l"/>
              </a:tabLst>
            </a:pPr>
            <a:r>
              <a:rPr sz="1400" spc="-25" dirty="0">
                <a:latin typeface="Calibri"/>
                <a:cs typeface="Calibri"/>
              </a:rPr>
              <a:t>The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40" dirty="0">
                <a:latin typeface="Calibri"/>
                <a:cs typeface="Calibri"/>
              </a:rPr>
              <a:t>adult </a:t>
            </a:r>
            <a:r>
              <a:rPr sz="1400" spc="-45" dirty="0">
                <a:latin typeface="Calibri"/>
                <a:cs typeface="Calibri"/>
              </a:rPr>
              <a:t>human</a:t>
            </a:r>
            <a:r>
              <a:rPr sz="1400" spc="-25" dirty="0">
                <a:latin typeface="Calibri"/>
                <a:cs typeface="Calibri"/>
              </a:rPr>
              <a:t> body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contains</a:t>
            </a:r>
            <a:r>
              <a:rPr sz="1400" spc="70" dirty="0">
                <a:latin typeface="Calibri"/>
                <a:cs typeface="Calibri"/>
              </a:rPr>
              <a:t> </a:t>
            </a:r>
            <a:r>
              <a:rPr sz="1400" spc="-55" dirty="0">
                <a:latin typeface="Calibri"/>
                <a:cs typeface="Calibri"/>
              </a:rPr>
              <a:t>about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69957"/>
                </a:solidFill>
                <a:latin typeface="Calibri"/>
                <a:cs typeface="Calibri"/>
              </a:rPr>
              <a:t>250</a:t>
            </a:r>
            <a:r>
              <a:rPr sz="1400" spc="-70" dirty="0">
                <a:solidFill>
                  <a:srgbClr val="269957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8E5B"/>
                </a:solidFill>
                <a:latin typeface="Calibri"/>
                <a:cs typeface="Calibri"/>
              </a:rPr>
              <a:t>g</a:t>
            </a:r>
            <a:r>
              <a:rPr sz="1400" spc="-50" dirty="0">
                <a:solidFill>
                  <a:srgbClr val="2D8E5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8E4D"/>
                </a:solidFill>
                <a:latin typeface="Calibri"/>
                <a:cs typeface="Calibri"/>
              </a:rPr>
              <a:t>of</a:t>
            </a:r>
            <a:r>
              <a:rPr sz="1400" spc="-25" dirty="0">
                <a:solidFill>
                  <a:srgbClr val="1C8E4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81818"/>
                </a:solidFill>
                <a:latin typeface="Calibri"/>
                <a:cs typeface="Calibri"/>
              </a:rPr>
              <a:t>potassium.</a:t>
            </a:r>
            <a:endParaRPr sz="1400">
              <a:latin typeface="Calibri"/>
              <a:cs typeface="Calibri"/>
            </a:endParaRPr>
          </a:p>
          <a:p>
            <a:pPr marL="140335" indent="-125730">
              <a:lnSpc>
                <a:spcPts val="1465"/>
              </a:lnSpc>
              <a:spcBef>
                <a:spcPts val="420"/>
              </a:spcBef>
              <a:buChar char="•"/>
              <a:tabLst>
                <a:tab pos="140335" algn="l"/>
              </a:tabLst>
            </a:pPr>
            <a:r>
              <a:rPr sz="1250" spc="-10" dirty="0">
                <a:latin typeface="Calibri"/>
                <a:cs typeface="Calibri"/>
              </a:rPr>
              <a:t>P</a:t>
            </a:r>
            <a:r>
              <a:rPr lang="en-IN" sz="1250" spc="-10" dirty="0">
                <a:latin typeface="Calibri"/>
                <a:cs typeface="Calibri"/>
              </a:rPr>
              <a:t>otassium is vasoactive </a:t>
            </a:r>
            <a:r>
              <a:rPr sz="1250" dirty="0">
                <a:solidFill>
                  <a:srgbClr val="5DA37E"/>
                </a:solidFill>
                <a:latin typeface="Calibri"/>
                <a:cs typeface="Calibri"/>
              </a:rPr>
              <a:t>,</a:t>
            </a:r>
            <a:r>
              <a:rPr sz="1250" spc="215" dirty="0">
                <a:solidFill>
                  <a:srgbClr val="5DA37E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5BA07B"/>
                </a:solidFill>
                <a:latin typeface="Calibri"/>
                <a:cs typeface="Calibri"/>
              </a:rPr>
              <a:t>increases</a:t>
            </a:r>
            <a:r>
              <a:rPr sz="1250" spc="170" dirty="0">
                <a:solidFill>
                  <a:srgbClr val="5BA07B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2D774D"/>
                </a:solidFill>
                <a:latin typeface="Calibri"/>
                <a:cs typeface="Calibri"/>
              </a:rPr>
              <a:t>blood</a:t>
            </a:r>
            <a:r>
              <a:rPr sz="1250" spc="185" dirty="0">
                <a:solidFill>
                  <a:srgbClr val="2D774D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6BAF8C"/>
                </a:solidFill>
                <a:latin typeface="Calibri"/>
                <a:cs typeface="Calibri"/>
              </a:rPr>
              <a:t>flow</a:t>
            </a:r>
            <a:r>
              <a:rPr sz="1250" spc="125" dirty="0">
                <a:solidFill>
                  <a:srgbClr val="6BAF8C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95DDB5"/>
                </a:solidFill>
                <a:latin typeface="Calibri"/>
                <a:cs typeface="Calibri"/>
              </a:rPr>
              <a:t>and</a:t>
            </a:r>
            <a:r>
              <a:rPr sz="1250" spc="40" dirty="0">
                <a:solidFill>
                  <a:srgbClr val="95DDB5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8CCFA8"/>
                </a:solidFill>
                <a:latin typeface="Calibri"/>
                <a:cs typeface="Calibri"/>
              </a:rPr>
              <a:t>sustai</a:t>
            </a:r>
            <a:r>
              <a:rPr sz="1250" dirty="0">
                <a:solidFill>
                  <a:srgbClr val="79C69E"/>
                </a:solidFill>
                <a:latin typeface="Calibri"/>
                <a:cs typeface="Calibri"/>
              </a:rPr>
              <a:t>ns</a:t>
            </a:r>
            <a:r>
              <a:rPr sz="1250" spc="110" dirty="0">
                <a:solidFill>
                  <a:srgbClr val="79C69E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82AA97"/>
                </a:solidFill>
                <a:latin typeface="Calibri"/>
                <a:cs typeface="Calibri"/>
              </a:rPr>
              <a:t>metabolic</a:t>
            </a:r>
            <a:endParaRPr sz="1250">
              <a:latin typeface="Calibri"/>
              <a:cs typeface="Calibri"/>
            </a:endParaRPr>
          </a:p>
          <a:p>
            <a:pPr marL="142240">
              <a:lnSpc>
                <a:spcPts val="1465"/>
              </a:lnSpc>
            </a:pPr>
            <a:r>
              <a:rPr sz="1250" dirty="0">
                <a:solidFill>
                  <a:srgbClr val="679980"/>
                </a:solidFill>
                <a:latin typeface="Calibri"/>
                <a:cs typeface="Calibri"/>
              </a:rPr>
              <a:t>needs</a:t>
            </a:r>
            <a:r>
              <a:rPr sz="1250" spc="90" dirty="0">
                <a:solidFill>
                  <a:srgbClr val="679980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2BA95"/>
                </a:solidFill>
                <a:latin typeface="Calibri"/>
                <a:cs typeface="Calibri"/>
              </a:rPr>
              <a:t>of</a:t>
            </a:r>
            <a:r>
              <a:rPr sz="1250" spc="195" dirty="0">
                <a:solidFill>
                  <a:srgbClr val="72BA95"/>
                </a:solidFill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70B191"/>
                </a:solidFill>
                <a:latin typeface="Calibri"/>
                <a:cs typeface="Calibri"/>
              </a:rPr>
              <a:t>the</a:t>
            </a:r>
            <a:r>
              <a:rPr sz="1250" spc="110" dirty="0">
                <a:solidFill>
                  <a:srgbClr val="70B191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tissue.</a:t>
            </a:r>
            <a:endParaRPr sz="1250">
              <a:latin typeface="Calibri"/>
              <a:cs typeface="Calibri"/>
            </a:endParaRPr>
          </a:p>
          <a:p>
            <a:pPr marL="137795" indent="-125095">
              <a:lnSpc>
                <a:spcPts val="1625"/>
              </a:lnSpc>
              <a:spcBef>
                <a:spcPts val="285"/>
              </a:spcBef>
              <a:buChar char="•"/>
              <a:tabLst>
                <a:tab pos="137795" algn="l"/>
              </a:tabLst>
            </a:pPr>
            <a:r>
              <a:rPr sz="1450" spc="-65" dirty="0">
                <a:latin typeface="Calibri"/>
                <a:cs typeface="Calibri"/>
              </a:rPr>
              <a:t>Potassium</a:t>
            </a:r>
            <a:r>
              <a:rPr sz="1450" spc="80" dirty="0">
                <a:latin typeface="Calibri"/>
                <a:cs typeface="Calibri"/>
              </a:rPr>
              <a:t> </a:t>
            </a:r>
            <a:r>
              <a:rPr sz="1450" spc="-75" dirty="0">
                <a:latin typeface="Calibri"/>
                <a:cs typeface="Calibri"/>
              </a:rPr>
              <a:t>supplements</a:t>
            </a:r>
            <a:r>
              <a:rPr sz="1450" spc="5" dirty="0">
                <a:latin typeface="Calibri"/>
                <a:cs typeface="Calibri"/>
              </a:rPr>
              <a:t> </a:t>
            </a:r>
            <a:r>
              <a:rPr sz="1450" spc="-60" dirty="0">
                <a:latin typeface="Calibri"/>
                <a:cs typeface="Calibri"/>
              </a:rPr>
              <a:t>lower</a:t>
            </a:r>
            <a:r>
              <a:rPr sz="1450" spc="-100" dirty="0">
                <a:latin typeface="Calibri"/>
                <a:cs typeface="Calibri"/>
              </a:rPr>
              <a:t> </a:t>
            </a:r>
            <a:r>
              <a:rPr sz="1450" spc="-65" dirty="0">
                <a:latin typeface="Calibri"/>
                <a:cs typeface="Calibri"/>
              </a:rPr>
              <a:t>blood</a:t>
            </a:r>
            <a:r>
              <a:rPr sz="1450" spc="-10" dirty="0">
                <a:latin typeface="Calibri"/>
                <a:cs typeface="Calibri"/>
              </a:rPr>
              <a:t> </a:t>
            </a:r>
            <a:r>
              <a:rPr sz="1450" spc="-55" dirty="0">
                <a:latin typeface="Calibri"/>
                <a:cs typeface="Calibri"/>
              </a:rPr>
              <a:t>pressure,</a:t>
            </a:r>
            <a:r>
              <a:rPr sz="1450" spc="35" dirty="0">
                <a:latin typeface="Calibri"/>
                <a:cs typeface="Calibri"/>
              </a:rPr>
              <a:t> </a:t>
            </a:r>
            <a:r>
              <a:rPr sz="1450" spc="-70" dirty="0">
                <a:latin typeface="Calibri"/>
                <a:cs typeface="Calibri"/>
              </a:rPr>
              <a:t>although</a:t>
            </a:r>
            <a:r>
              <a:rPr sz="1450" spc="60" dirty="0">
                <a:latin typeface="Calibri"/>
                <a:cs typeface="Calibri"/>
              </a:rPr>
              <a:t> </a:t>
            </a:r>
            <a:r>
              <a:rPr sz="1450" spc="-45" dirty="0">
                <a:latin typeface="Calibri"/>
                <a:cs typeface="Calibri"/>
              </a:rPr>
              <a:t>the</a:t>
            </a:r>
            <a:r>
              <a:rPr sz="1450" spc="-5" dirty="0">
                <a:latin typeface="Calibri"/>
                <a:cs typeface="Calibri"/>
              </a:rPr>
              <a:t> </a:t>
            </a:r>
            <a:r>
              <a:rPr sz="1450" spc="-70" dirty="0">
                <a:latin typeface="Calibri"/>
                <a:cs typeface="Calibri"/>
              </a:rPr>
              <a:t>response</a:t>
            </a:r>
            <a:r>
              <a:rPr sz="1450" spc="70" dirty="0">
                <a:latin typeface="Calibri"/>
                <a:cs typeface="Calibri"/>
              </a:rPr>
              <a:t> </a:t>
            </a:r>
            <a:r>
              <a:rPr sz="1450" spc="-25" dirty="0">
                <a:latin typeface="Calibri"/>
                <a:cs typeface="Calibri"/>
              </a:rPr>
              <a:t>is</a:t>
            </a:r>
            <a:endParaRPr sz="1450">
              <a:latin typeface="Calibri"/>
              <a:cs typeface="Calibri"/>
            </a:endParaRPr>
          </a:p>
          <a:p>
            <a:pPr marL="137160">
              <a:lnSpc>
                <a:spcPts val="1565"/>
              </a:lnSpc>
            </a:pPr>
            <a:r>
              <a:rPr sz="1400" spc="-10" dirty="0">
                <a:latin typeface="Calibri"/>
                <a:cs typeface="Calibri"/>
              </a:rPr>
              <a:t>slow.</a:t>
            </a:r>
            <a:endParaRPr sz="1400">
              <a:latin typeface="Calibri"/>
              <a:cs typeface="Calibri"/>
            </a:endParaRPr>
          </a:p>
          <a:p>
            <a:pPr marL="136525" marR="5080" indent="-123189">
              <a:lnSpc>
                <a:spcPct val="85800"/>
              </a:lnSpc>
              <a:spcBef>
                <a:spcPts val="509"/>
              </a:spcBef>
              <a:buChar char="•"/>
              <a:tabLst>
                <a:tab pos="136525" algn="l"/>
                <a:tab pos="137795" algn="l"/>
              </a:tabLst>
            </a:pPr>
            <a:r>
              <a:rPr sz="1400" dirty="0">
                <a:latin typeface="Calibri"/>
                <a:cs typeface="Calibri"/>
              </a:rPr>
              <a:t>	</a:t>
            </a:r>
            <a:r>
              <a:rPr sz="1400" spc="-40" dirty="0">
                <a:latin typeface="Calibri"/>
                <a:cs typeface="Calibri"/>
              </a:rPr>
              <a:t>High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dietary</a:t>
            </a:r>
            <a:r>
              <a:rPr sz="1400" spc="-40" dirty="0">
                <a:latin typeface="Calibri"/>
                <a:cs typeface="Calibri"/>
              </a:rPr>
              <a:t> sodium,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low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spc="-35" dirty="0">
                <a:latin typeface="Calibri"/>
                <a:cs typeface="Calibri"/>
              </a:rPr>
              <a:t>dietary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35" dirty="0">
                <a:latin typeface="Calibri"/>
                <a:cs typeface="Calibri"/>
              </a:rPr>
              <a:t>potassium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spc="-35" dirty="0">
                <a:latin typeface="Calibri"/>
                <a:cs typeface="Calibri"/>
              </a:rPr>
              <a:t>have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35" dirty="0">
                <a:latin typeface="Calibri"/>
                <a:cs typeface="Calibri"/>
              </a:rPr>
              <a:t>been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40" dirty="0">
                <a:latin typeface="Calibri"/>
                <a:cs typeface="Calibri"/>
              </a:rPr>
              <a:t>implicated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lang="en-IN" sz="1400" spc="-65" dirty="0">
                <a:latin typeface="Calibri"/>
                <a:cs typeface="Calibri"/>
              </a:rPr>
              <a:t>i</a:t>
            </a:r>
            <a:r>
              <a:rPr sz="1400" spc="-65" dirty="0">
                <a:latin typeface="Calibri"/>
                <a:cs typeface="Calibri"/>
              </a:rPr>
              <a:t>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spc="-40" dirty="0">
                <a:latin typeface="Calibri"/>
                <a:cs typeface="Calibri"/>
              </a:rPr>
              <a:t>aetiology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40" dirty="0">
                <a:latin typeface="Calibri"/>
                <a:cs typeface="Calibri"/>
              </a:rPr>
              <a:t>hypertension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35" dirty="0">
                <a:latin typeface="Calibri"/>
                <a:cs typeface="Calibri"/>
              </a:rPr>
              <a:t>evidenced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by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epidemiological</a:t>
            </a:r>
            <a:r>
              <a:rPr sz="1400" spc="-1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clinical </a:t>
            </a:r>
            <a:r>
              <a:rPr sz="1450" spc="-10" dirty="0">
                <a:latin typeface="Calibri"/>
                <a:cs typeface="Calibri"/>
              </a:rPr>
              <a:t>studies</a:t>
            </a:r>
            <a:endParaRPr sz="1450">
              <a:latin typeface="Calibri"/>
              <a:cs typeface="Calibri"/>
            </a:endParaRPr>
          </a:p>
          <a:p>
            <a:pPr marL="132715" indent="-120014">
              <a:lnSpc>
                <a:spcPct val="100000"/>
              </a:lnSpc>
              <a:spcBef>
                <a:spcPts val="210"/>
              </a:spcBef>
              <a:buChar char="•"/>
              <a:tabLst>
                <a:tab pos="132715" algn="l"/>
              </a:tabLst>
            </a:pPr>
            <a:r>
              <a:rPr sz="1450" spc="-45" dirty="0">
                <a:latin typeface="Calibri"/>
                <a:cs typeface="Calibri"/>
              </a:rPr>
              <a:t>The</a:t>
            </a:r>
            <a:r>
              <a:rPr sz="1450" spc="-40" dirty="0">
                <a:latin typeface="Calibri"/>
                <a:cs typeface="Calibri"/>
              </a:rPr>
              <a:t> </a:t>
            </a:r>
            <a:r>
              <a:rPr sz="1450" spc="-65" dirty="0">
                <a:latin typeface="Calibri"/>
                <a:cs typeface="Calibri"/>
              </a:rPr>
              <a:t>ideel </a:t>
            </a:r>
            <a:r>
              <a:rPr sz="1450" spc="-60" dirty="0">
                <a:latin typeface="Calibri"/>
                <a:cs typeface="Calibri"/>
              </a:rPr>
              <a:t>desirable</a:t>
            </a:r>
            <a:r>
              <a:rPr sz="1450" spc="-40" dirty="0">
                <a:latin typeface="Calibri"/>
                <a:cs typeface="Calibri"/>
              </a:rPr>
              <a:t> </a:t>
            </a:r>
            <a:r>
              <a:rPr sz="1450" spc="-55" dirty="0">
                <a:latin typeface="Calibri"/>
                <a:cs typeface="Calibri"/>
              </a:rPr>
              <a:t>sodium</a:t>
            </a:r>
            <a:r>
              <a:rPr sz="1450" spc="-25" dirty="0"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61616"/>
                </a:solidFill>
                <a:latin typeface="Calibri"/>
                <a:cs typeface="Calibri"/>
              </a:rPr>
              <a:t>: </a:t>
            </a:r>
            <a:r>
              <a:rPr sz="1450" spc="-60" dirty="0">
                <a:latin typeface="Calibri"/>
                <a:cs typeface="Calibri"/>
              </a:rPr>
              <a:t>potassium</a:t>
            </a:r>
            <a:r>
              <a:rPr sz="1450" spc="45" dirty="0">
                <a:latin typeface="Calibri"/>
                <a:cs typeface="Calibri"/>
              </a:rPr>
              <a:t> </a:t>
            </a:r>
            <a:r>
              <a:rPr sz="1450" spc="-60" dirty="0">
                <a:latin typeface="Calibri"/>
                <a:cs typeface="Calibri"/>
              </a:rPr>
              <a:t>ratio</a:t>
            </a:r>
            <a:r>
              <a:rPr sz="1450" spc="25" dirty="0">
                <a:latin typeface="Calibri"/>
                <a:cs typeface="Calibri"/>
              </a:rPr>
              <a:t> </a:t>
            </a:r>
            <a:r>
              <a:rPr sz="1450" spc="-25" dirty="0">
                <a:latin typeface="Calibri"/>
                <a:cs typeface="Calibri"/>
              </a:rPr>
              <a:t>in</a:t>
            </a:r>
            <a:r>
              <a:rPr sz="1450" spc="-135" dirty="0">
                <a:latin typeface="Calibri"/>
                <a:cs typeface="Calibri"/>
              </a:rPr>
              <a:t> </a:t>
            </a:r>
            <a:r>
              <a:rPr sz="1450" spc="-50" dirty="0">
                <a:solidFill>
                  <a:srgbClr val="0F0F0F"/>
                </a:solidFill>
                <a:latin typeface="Calibri"/>
                <a:cs typeface="Calibri"/>
              </a:rPr>
              <a:t>the</a:t>
            </a:r>
            <a:r>
              <a:rPr sz="1450" spc="-5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450" spc="-45" dirty="0">
                <a:latin typeface="Calibri"/>
                <a:cs typeface="Calibri"/>
              </a:rPr>
              <a:t>diet </a:t>
            </a:r>
            <a:r>
              <a:rPr sz="1450" dirty="0">
                <a:latin typeface="Calibri"/>
                <a:cs typeface="Calibri"/>
              </a:rPr>
              <a:t>is</a:t>
            </a:r>
            <a:r>
              <a:rPr sz="1450" spc="-50" dirty="0">
                <a:latin typeface="Calibri"/>
                <a:cs typeface="Calibri"/>
              </a:rPr>
              <a:t> </a:t>
            </a:r>
            <a:r>
              <a:rPr sz="1450" spc="-60" dirty="0">
                <a:latin typeface="Calibri"/>
                <a:cs typeface="Calibri"/>
              </a:rPr>
              <a:t>1:1</a:t>
            </a:r>
            <a:r>
              <a:rPr sz="1450" spc="-80" dirty="0">
                <a:latin typeface="Calibri"/>
                <a:cs typeface="Calibri"/>
              </a:rPr>
              <a:t> </a:t>
            </a:r>
            <a:r>
              <a:rPr sz="1450" spc="-20" dirty="0">
                <a:latin typeface="Calibri"/>
                <a:cs typeface="Calibri"/>
              </a:rPr>
              <a:t>(in</a:t>
            </a:r>
            <a:r>
              <a:rPr sz="1450" spc="-65" dirty="0"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mmol).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" y="3162300"/>
            <a:ext cx="508000" cy="2159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9100" y="1228726"/>
            <a:ext cx="5232400" cy="2082902"/>
            <a:chOff x="406400" y="1209675"/>
            <a:chExt cx="5232400" cy="21939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1209675"/>
              <a:ext cx="5181600" cy="214312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06400" y="3149600"/>
              <a:ext cx="431800" cy="254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9743" y="295275"/>
            <a:ext cx="457200" cy="3587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spc="-25" dirty="0">
                <a:solidFill>
                  <a:srgbClr val="07528C"/>
                </a:solidFill>
              </a:rPr>
              <a:t>Iron</a:t>
            </a:r>
            <a:endParaRPr sz="2150"/>
          </a:p>
        </p:txBody>
      </p:sp>
      <p:sp>
        <p:nvSpPr>
          <p:cNvPr id="3" name="object 3"/>
          <p:cNvSpPr txBox="1"/>
          <p:nvPr/>
        </p:nvSpPr>
        <p:spPr>
          <a:xfrm>
            <a:off x="454567" y="880268"/>
            <a:ext cx="4985385" cy="87820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3825" marR="5080" indent="-111760">
              <a:lnSpc>
                <a:spcPct val="90400"/>
              </a:lnSpc>
              <a:spcBef>
                <a:spcPts val="265"/>
              </a:spcBef>
            </a:pPr>
            <a:r>
              <a:rPr sz="1400" dirty="0">
                <a:latin typeface="Calibri"/>
                <a:cs typeface="Calibri"/>
              </a:rPr>
              <a:t>°</a:t>
            </a:r>
            <a:r>
              <a:rPr sz="1400" spc="65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31313"/>
                </a:solidFill>
                <a:latin typeface="Calibri"/>
                <a:cs typeface="Calibri"/>
              </a:rPr>
              <a:t>The</a:t>
            </a:r>
            <a:r>
              <a:rPr sz="1400" spc="-1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adult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human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body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35" dirty="0">
                <a:latin typeface="Calibri"/>
                <a:cs typeface="Calibri"/>
              </a:rPr>
              <a:t>Contains</a:t>
            </a:r>
            <a:r>
              <a:rPr sz="1400" spc="5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between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3-</a:t>
            </a:r>
            <a:r>
              <a:rPr sz="1400" dirty="0">
                <a:latin typeface="Calibri"/>
                <a:cs typeface="Calibri"/>
              </a:rPr>
              <a:t>4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iron,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which </a:t>
            </a:r>
            <a:r>
              <a:rPr sz="1400" spc="-20" dirty="0">
                <a:latin typeface="Calibri"/>
                <a:cs typeface="Calibri"/>
              </a:rPr>
              <a:t>about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60-</a:t>
            </a:r>
            <a:r>
              <a:rPr sz="1400" dirty="0">
                <a:latin typeface="Calibri"/>
                <a:cs typeface="Calibri"/>
              </a:rPr>
              <a:t>70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per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cent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present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10" dirty="0">
                <a:latin typeface="Calibri"/>
                <a:cs typeface="Calibri"/>
              </a:rPr>
              <a:t> 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blond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(Hb</a:t>
            </a:r>
            <a:r>
              <a:rPr sz="1400" spc="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iron)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31313"/>
                </a:solidFill>
                <a:latin typeface="Calibri"/>
                <a:cs typeface="Calibri"/>
              </a:rPr>
              <a:t>as</a:t>
            </a:r>
            <a:r>
              <a:rPr sz="1400" spc="-6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circulating iron,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the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rest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(1 to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1.</a:t>
            </a:r>
            <a:r>
              <a:rPr lang="en-IN" sz="1400" dirty="0">
                <a:latin typeface="Calibri"/>
                <a:cs typeface="Calibri"/>
              </a:rPr>
              <a:t>5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31313"/>
                </a:solidFill>
                <a:latin typeface="Calibri"/>
                <a:cs typeface="Calibri"/>
              </a:rPr>
              <a:t>g)</a:t>
            </a:r>
            <a:r>
              <a:rPr sz="1400" spc="2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storage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iron.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400" dirty="0">
                <a:latin typeface="Calibri"/>
                <a:cs typeface="Calibri"/>
              </a:rPr>
              <a:t>°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F0F0F"/>
                </a:solidFill>
                <a:latin typeface="Calibri"/>
                <a:cs typeface="Calibri"/>
              </a:rPr>
              <a:t>Each</a:t>
            </a:r>
            <a:r>
              <a:rPr sz="1400" spc="-2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131313"/>
                </a:solidFill>
                <a:latin typeface="Calibri"/>
                <a:cs typeface="Calibri"/>
              </a:rPr>
              <a:t>gram</a:t>
            </a:r>
            <a:r>
              <a:rPr sz="1400" spc="2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hemoglobin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contains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about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3.34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C0C0C"/>
                </a:solidFill>
                <a:latin typeface="Calibri"/>
                <a:cs typeface="Calibri"/>
              </a:rPr>
              <a:t>of</a:t>
            </a:r>
            <a:r>
              <a:rPr sz="1400" spc="-1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iron.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3086100"/>
            <a:ext cx="469900" cy="317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14"/>
              </a:spcBef>
            </a:pPr>
            <a:r>
              <a:rPr sz="2250" spc="-55" dirty="0">
                <a:solidFill>
                  <a:srgbClr val="07528C"/>
                </a:solidFill>
              </a:rPr>
              <a:t>Iron-</a:t>
            </a:r>
            <a:r>
              <a:rPr sz="2250" spc="-45" dirty="0">
                <a:solidFill>
                  <a:srgbClr val="07528C"/>
                </a:solidFill>
              </a:rPr>
              <a:t> </a:t>
            </a:r>
            <a:r>
              <a:rPr sz="2250" spc="-75" dirty="0">
                <a:solidFill>
                  <a:srgbClr val="005BAC"/>
                </a:solidFill>
              </a:rPr>
              <a:t>Absorption</a:t>
            </a:r>
            <a:endParaRPr sz="22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37662" y="828939"/>
            <a:ext cx="5148580" cy="1766522"/>
          </a:xfrm>
          <a:prstGeom prst="rect">
            <a:avLst/>
          </a:prstGeom>
        </p:spPr>
        <p:txBody>
          <a:bodyPr vert="horz" wrap="square" lIns="0" tIns="85738" rIns="0" bIns="0" rtlCol="0">
            <a:spAutoFit/>
          </a:bodyPr>
          <a:lstStyle/>
          <a:p>
            <a:pPr marL="138430" marR="5080" indent="-109855">
              <a:lnSpc>
                <a:spcPts val="1540"/>
              </a:lnSpc>
              <a:spcBef>
                <a:spcPts val="310"/>
              </a:spcBef>
            </a:pPr>
            <a:r>
              <a:rPr sz="1450" dirty="0"/>
              <a:t>°</a:t>
            </a:r>
            <a:r>
              <a:rPr sz="1450" spc="-50" dirty="0"/>
              <a:t> </a:t>
            </a:r>
            <a:r>
              <a:rPr sz="1450" spc="-10" dirty="0"/>
              <a:t>Iron</a:t>
            </a:r>
            <a:r>
              <a:rPr sz="1450" spc="-30" dirty="0"/>
              <a:t> </a:t>
            </a:r>
            <a:r>
              <a:rPr sz="1450" spc="-45" dirty="0"/>
              <a:t>ingested</a:t>
            </a:r>
            <a:r>
              <a:rPr sz="1450" spc="20" dirty="0"/>
              <a:t> </a:t>
            </a:r>
            <a:r>
              <a:rPr sz="1450" spc="-10" dirty="0"/>
              <a:t>is</a:t>
            </a:r>
            <a:r>
              <a:rPr sz="1450" spc="-40" dirty="0"/>
              <a:t> converted</a:t>
            </a:r>
            <a:r>
              <a:rPr sz="1450" spc="15" dirty="0"/>
              <a:t> </a:t>
            </a:r>
            <a:r>
              <a:rPr sz="1450" spc="-35" dirty="0"/>
              <a:t>to</a:t>
            </a:r>
            <a:r>
              <a:rPr sz="1450" spc="-45" dirty="0"/>
              <a:t> </a:t>
            </a:r>
            <a:r>
              <a:rPr sz="1450" spc="-30" dirty="0"/>
              <a:t>F</a:t>
            </a:r>
            <a:r>
              <a:rPr lang="en-IN" sz="1450" spc="-30" dirty="0"/>
              <a:t>errous </a:t>
            </a:r>
            <a:r>
              <a:rPr sz="1450" spc="-35" dirty="0"/>
              <a:t>(absorbable)</a:t>
            </a:r>
            <a:r>
              <a:rPr sz="1450" spc="30" dirty="0"/>
              <a:t> </a:t>
            </a:r>
            <a:r>
              <a:rPr sz="1450" spc="-30" dirty="0"/>
              <a:t>form</a:t>
            </a:r>
            <a:r>
              <a:rPr sz="1450" spc="-20" dirty="0"/>
              <a:t> </a:t>
            </a:r>
            <a:r>
              <a:rPr sz="1450" spc="-30" dirty="0"/>
              <a:t>by</a:t>
            </a:r>
            <a:r>
              <a:rPr sz="1450" spc="-40" dirty="0"/>
              <a:t> </a:t>
            </a:r>
            <a:r>
              <a:rPr sz="1450" spc="-45" dirty="0"/>
              <a:t>the</a:t>
            </a:r>
            <a:r>
              <a:rPr sz="1450" spc="-35" dirty="0"/>
              <a:t> </a:t>
            </a:r>
            <a:r>
              <a:rPr sz="1450" spc="-20" dirty="0"/>
              <a:t>help</a:t>
            </a:r>
            <a:r>
              <a:rPr sz="1450" spc="-25" dirty="0"/>
              <a:t> of </a:t>
            </a:r>
            <a:r>
              <a:rPr sz="1450" spc="-35" dirty="0"/>
              <a:t>reducing</a:t>
            </a:r>
            <a:r>
              <a:rPr sz="1450" spc="-30" dirty="0"/>
              <a:t> </a:t>
            </a:r>
            <a:r>
              <a:rPr sz="1450" spc="-10" dirty="0"/>
              <a:t>substances.</a:t>
            </a:r>
            <a:endParaRPr sz="1450"/>
          </a:p>
          <a:p>
            <a:pPr marL="29209">
              <a:lnSpc>
                <a:spcPct val="100000"/>
              </a:lnSpc>
              <a:spcBef>
                <a:spcPts val="280"/>
              </a:spcBef>
            </a:pPr>
            <a:r>
              <a:rPr sz="1400" dirty="0"/>
              <a:t>°</a:t>
            </a:r>
            <a:r>
              <a:rPr sz="1400" spc="15" dirty="0"/>
              <a:t> </a:t>
            </a:r>
            <a:r>
              <a:rPr sz="1400" spc="-10" dirty="0"/>
              <a:t>Absorption</a:t>
            </a:r>
            <a:r>
              <a:rPr sz="1400" spc="10" dirty="0"/>
              <a:t> </a:t>
            </a:r>
            <a:r>
              <a:rPr sz="1400" spc="-20" dirty="0"/>
              <a:t>takes</a:t>
            </a:r>
            <a:r>
              <a:rPr sz="1400" spc="-15" dirty="0"/>
              <a:t> </a:t>
            </a:r>
            <a:r>
              <a:rPr sz="1400" dirty="0"/>
              <a:t>place</a:t>
            </a:r>
            <a:r>
              <a:rPr sz="1400" spc="-70" dirty="0"/>
              <a:t> </a:t>
            </a:r>
            <a:r>
              <a:rPr sz="1400" dirty="0"/>
              <a:t>from</a:t>
            </a:r>
            <a:r>
              <a:rPr sz="1400" spc="-55" dirty="0"/>
              <a:t> </a:t>
            </a:r>
            <a:r>
              <a:rPr sz="1400" spc="-10" dirty="0"/>
              <a:t>Duodenum</a:t>
            </a:r>
            <a:r>
              <a:rPr sz="1400" spc="25" dirty="0"/>
              <a:t> </a:t>
            </a:r>
            <a:r>
              <a:rPr sz="1400" dirty="0"/>
              <a:t>and</a:t>
            </a:r>
            <a:r>
              <a:rPr sz="1400" spc="-40" dirty="0"/>
              <a:t> </a:t>
            </a:r>
            <a:r>
              <a:rPr sz="1400" dirty="0"/>
              <a:t>upper</a:t>
            </a:r>
            <a:r>
              <a:rPr sz="1400" spc="20" dirty="0"/>
              <a:t> </a:t>
            </a:r>
            <a:r>
              <a:rPr sz="1400" spc="-10" dirty="0"/>
              <a:t>jejunum</a:t>
            </a:r>
            <a:endParaRPr sz="1400"/>
          </a:p>
          <a:p>
            <a:pPr marL="137795" indent="-116205">
              <a:lnSpc>
                <a:spcPct val="100000"/>
              </a:lnSpc>
              <a:spcBef>
                <a:spcPts val="395"/>
              </a:spcBef>
              <a:buChar char="•"/>
              <a:tabLst>
                <a:tab pos="138430" algn="l"/>
              </a:tabLst>
            </a:pPr>
            <a:r>
              <a:rPr sz="1350" dirty="0"/>
              <a:t>Absorption</a:t>
            </a:r>
            <a:r>
              <a:rPr sz="1350" spc="55" dirty="0"/>
              <a:t> </a:t>
            </a:r>
            <a:r>
              <a:rPr sz="1350" dirty="0"/>
              <a:t>affected</a:t>
            </a:r>
            <a:r>
              <a:rPr sz="1350" spc="90" dirty="0"/>
              <a:t> </a:t>
            </a:r>
            <a:r>
              <a:rPr sz="1350" spc="-25" dirty="0"/>
              <a:t>by:</a:t>
            </a:r>
            <a:endParaRPr sz="1350"/>
          </a:p>
          <a:p>
            <a:pPr marL="135890" indent="-114935">
              <a:lnSpc>
                <a:spcPct val="100000"/>
              </a:lnSpc>
              <a:spcBef>
                <a:spcPts val="355"/>
              </a:spcBef>
              <a:buChar char="•"/>
              <a:tabLst>
                <a:tab pos="136525" algn="l"/>
              </a:tabLst>
            </a:pPr>
            <a:r>
              <a:rPr sz="1400" spc="-10" dirty="0"/>
              <a:t>Whether</a:t>
            </a:r>
            <a:r>
              <a:rPr sz="1400" spc="-5" dirty="0"/>
              <a:t> </a:t>
            </a:r>
            <a:r>
              <a:rPr sz="1400" dirty="0">
                <a:solidFill>
                  <a:srgbClr val="0E0E0E"/>
                </a:solidFill>
              </a:rPr>
              <a:t>it</a:t>
            </a:r>
            <a:r>
              <a:rPr sz="1400" spc="-40" dirty="0">
                <a:solidFill>
                  <a:srgbClr val="0E0E0E"/>
                </a:solidFill>
              </a:rPr>
              <a:t> </a:t>
            </a:r>
            <a:r>
              <a:rPr sz="1400" dirty="0">
                <a:solidFill>
                  <a:srgbClr val="181818"/>
                </a:solidFill>
              </a:rPr>
              <a:t>is</a:t>
            </a:r>
            <a:r>
              <a:rPr sz="1400" spc="-75" dirty="0">
                <a:solidFill>
                  <a:srgbClr val="181818"/>
                </a:solidFill>
              </a:rPr>
              <a:t> </a:t>
            </a:r>
            <a:r>
              <a:rPr sz="1400" dirty="0"/>
              <a:t>Haeme</a:t>
            </a:r>
            <a:r>
              <a:rPr sz="1400" spc="-5" dirty="0"/>
              <a:t> </a:t>
            </a:r>
            <a:r>
              <a:rPr sz="1400" dirty="0">
                <a:solidFill>
                  <a:srgbClr val="262626"/>
                </a:solidFill>
              </a:rPr>
              <a:t>Fe</a:t>
            </a:r>
            <a:r>
              <a:rPr sz="1400" spc="-15" dirty="0">
                <a:solidFill>
                  <a:srgbClr val="262626"/>
                </a:solidFill>
              </a:rPr>
              <a:t> </a:t>
            </a:r>
            <a:r>
              <a:rPr sz="1400" dirty="0"/>
              <a:t>or</a:t>
            </a:r>
            <a:r>
              <a:rPr sz="1400" spc="285" dirty="0"/>
              <a:t> </a:t>
            </a:r>
            <a:r>
              <a:rPr sz="1400" spc="-10" dirty="0"/>
              <a:t>Non</a:t>
            </a:r>
            <a:r>
              <a:rPr sz="1400" dirty="0"/>
              <a:t> </a:t>
            </a:r>
            <a:r>
              <a:rPr sz="1400" spc="-20" dirty="0">
                <a:solidFill>
                  <a:srgbClr val="111111"/>
                </a:solidFill>
              </a:rPr>
              <a:t>haem</a:t>
            </a:r>
            <a:endParaRPr sz="1400"/>
          </a:p>
          <a:p>
            <a:pPr marL="135890" indent="-114935">
              <a:lnSpc>
                <a:spcPct val="100000"/>
              </a:lnSpc>
              <a:spcBef>
                <a:spcPts val="254"/>
              </a:spcBef>
              <a:buChar char="•"/>
              <a:tabLst>
                <a:tab pos="136525" algn="l"/>
              </a:tabLst>
            </a:pPr>
            <a:r>
              <a:rPr sz="1450" spc="-40" dirty="0"/>
              <a:t>Presence</a:t>
            </a:r>
            <a:r>
              <a:rPr sz="1450" spc="5" dirty="0"/>
              <a:t> </a:t>
            </a:r>
            <a:r>
              <a:rPr sz="1450" dirty="0"/>
              <a:t>of</a:t>
            </a:r>
            <a:r>
              <a:rPr sz="1450" spc="-50" dirty="0"/>
              <a:t> </a:t>
            </a:r>
            <a:r>
              <a:rPr sz="1450" spc="-100" dirty="0"/>
              <a:t>Vit-</a:t>
            </a:r>
            <a:r>
              <a:rPr sz="1450" spc="-185" dirty="0"/>
              <a:t>C—</a:t>
            </a:r>
            <a:r>
              <a:rPr sz="1450" spc="-20" dirty="0"/>
              <a:t> </a:t>
            </a:r>
            <a:r>
              <a:rPr sz="1450" spc="-40" dirty="0"/>
              <a:t>Increases</a:t>
            </a:r>
            <a:r>
              <a:rPr sz="1450" spc="10" dirty="0"/>
              <a:t> </a:t>
            </a:r>
            <a:r>
              <a:rPr sz="1450" spc="-55" dirty="0"/>
              <a:t>be</a:t>
            </a:r>
            <a:r>
              <a:rPr sz="1450" spc="-15" dirty="0"/>
              <a:t> </a:t>
            </a:r>
            <a:r>
              <a:rPr sz="1450" spc="-10" dirty="0"/>
              <a:t>absorption</a:t>
            </a:r>
            <a:endParaRPr sz="1450"/>
          </a:p>
          <a:p>
            <a:pPr marL="29209">
              <a:lnSpc>
                <a:spcPct val="100000"/>
              </a:lnSpc>
              <a:spcBef>
                <a:spcPts val="300"/>
              </a:spcBef>
            </a:pPr>
            <a:r>
              <a:rPr sz="1400" dirty="0"/>
              <a:t>°</a:t>
            </a:r>
            <a:r>
              <a:rPr sz="1400" spc="-10" dirty="0"/>
              <a:t> </a:t>
            </a:r>
            <a:r>
              <a:rPr sz="1400" spc="-20" dirty="0"/>
              <a:t>Phytate,</a:t>
            </a:r>
            <a:r>
              <a:rPr sz="1400" spc="70" dirty="0"/>
              <a:t> </a:t>
            </a:r>
            <a:r>
              <a:rPr sz="1400" spc="-90" dirty="0"/>
              <a:t>Oxalates—</a:t>
            </a:r>
            <a:r>
              <a:rPr sz="1400" spc="-25" dirty="0"/>
              <a:t> </a:t>
            </a:r>
            <a:r>
              <a:rPr sz="1400" dirty="0"/>
              <a:t>reduces</a:t>
            </a:r>
            <a:r>
              <a:rPr sz="1400" spc="-15" dirty="0"/>
              <a:t> </a:t>
            </a:r>
            <a:r>
              <a:rPr sz="1400" dirty="0"/>
              <a:t>Fe</a:t>
            </a:r>
            <a:r>
              <a:rPr sz="1400" spc="-25" dirty="0"/>
              <a:t> </a:t>
            </a:r>
            <a:r>
              <a:rPr sz="1400" spc="-10" dirty="0"/>
              <a:t>absorption</a:t>
            </a:r>
            <a:endParaRPr sz="1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800" y="3111500"/>
            <a:ext cx="4191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950" y="2524125"/>
            <a:ext cx="9525" cy="37147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28800" y="1809750"/>
            <a:ext cx="9525" cy="2000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52850" y="2466975"/>
            <a:ext cx="133350" cy="9525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52850" y="2771775"/>
            <a:ext cx="133350" cy="9525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19100" y="2324100"/>
            <a:ext cx="590550" cy="9525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95475" y="1590675"/>
            <a:ext cx="752475" cy="13335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95475" y="1914525"/>
            <a:ext cx="476250" cy="9525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752850" y="1762125"/>
            <a:ext cx="133350" cy="9525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z="2150" spc="-90" dirty="0">
                <a:solidFill>
                  <a:srgbClr val="135285"/>
                </a:solidFill>
                <a:latin typeface="Arial MT"/>
                <a:cs typeface="Arial MT"/>
              </a:rPr>
              <a:t>Iron-Requirement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5832" y="867370"/>
            <a:ext cx="3850004" cy="1981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00" dirty="0">
                <a:solidFill>
                  <a:srgbClr val="0C0C0C"/>
                </a:solidFill>
                <a:latin typeface="Arial MT"/>
                <a:cs typeface="Arial MT"/>
              </a:rPr>
              <a:t>Ifon</a:t>
            </a:r>
            <a:r>
              <a:rPr sz="1100" spc="-16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Intake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0C0C0C"/>
                </a:solidFill>
                <a:latin typeface="Arial MT"/>
                <a:cs typeface="Arial MT"/>
              </a:rPr>
              <a:t>Recommended</a:t>
            </a:r>
            <a:r>
              <a:rPr sz="1100" spc="45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100" spc="-110" dirty="0">
                <a:latin typeface="Arial MT"/>
                <a:cs typeface="Arial MT"/>
              </a:rPr>
              <a:t>(RDA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E0E0E"/>
                </a:solidFill>
                <a:latin typeface="Arial MT"/>
                <a:cs typeface="Arial MT"/>
              </a:rPr>
              <a:t>in</a:t>
            </a:r>
            <a:r>
              <a:rPr sz="1100" spc="13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F0F0F"/>
                </a:solidFill>
                <a:latin typeface="Arial MT"/>
                <a:cs typeface="Arial MT"/>
              </a:rPr>
              <a:t>mg</a:t>
            </a:r>
            <a:r>
              <a:rPr sz="1100" spc="-19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30" dirty="0">
                <a:latin typeface="Arial MT"/>
                <a:cs typeface="Arial MT"/>
              </a:rPr>
              <a:t>day)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55" dirty="0">
                <a:solidFill>
                  <a:srgbClr val="232323"/>
                </a:solidFill>
                <a:latin typeface="Arial MT"/>
                <a:cs typeface="Arial MT"/>
              </a:rPr>
              <a:t>[New</a:t>
            </a:r>
            <a:r>
              <a:rPr sz="1100" spc="-6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Guidelines]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06596" y="1295201"/>
            <a:ext cx="690245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1000"/>
              </a:lnSpc>
              <a:spcBef>
                <a:spcPts val="95"/>
              </a:spcBef>
            </a:pPr>
            <a:r>
              <a:rPr sz="1050" spc="-65" dirty="0">
                <a:solidFill>
                  <a:srgbClr val="424242"/>
                </a:solidFill>
                <a:latin typeface="Arial MT"/>
                <a:cs typeface="Arial MT"/>
              </a:rPr>
              <a:t>Adult</a:t>
            </a:r>
            <a:r>
              <a:rPr sz="1050" spc="1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4D4D4D"/>
                </a:solidFill>
                <a:latin typeface="Arial MT"/>
                <a:cs typeface="Arial MT"/>
              </a:rPr>
              <a:t>males </a:t>
            </a:r>
            <a:r>
              <a:rPr sz="1050" spc="-45" dirty="0">
                <a:solidFill>
                  <a:srgbClr val="64727B"/>
                </a:solidFill>
                <a:latin typeface="Arial MT"/>
                <a:cs typeface="Arial MT"/>
              </a:rPr>
              <a:t>Adult</a:t>
            </a:r>
            <a:r>
              <a:rPr sz="1050" spc="-25" dirty="0">
                <a:solidFill>
                  <a:srgbClr val="64727B"/>
                </a:solidFill>
                <a:latin typeface="Arial MT"/>
                <a:cs typeface="Arial MT"/>
              </a:rPr>
              <a:t> </a:t>
            </a:r>
            <a:r>
              <a:rPr sz="1050" spc="-65" dirty="0">
                <a:solidFill>
                  <a:srgbClr val="5B5B5B"/>
                </a:solidFill>
                <a:latin typeface="Arial MT"/>
                <a:cs typeface="Arial MT"/>
              </a:rPr>
              <a:t>femeB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2969" y="2053431"/>
            <a:ext cx="327660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solidFill>
                  <a:srgbClr val="2F2F2F"/>
                </a:solidFill>
                <a:latin typeface="Arial MT"/>
                <a:cs typeface="Arial MT"/>
              </a:rPr>
              <a:t>Infant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72439" y="1696442"/>
            <a:ext cx="6553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70" dirty="0">
                <a:solidFill>
                  <a:srgbClr val="525252"/>
                </a:solidFill>
                <a:latin typeface="Arial MT"/>
                <a:cs typeface="Arial MT"/>
              </a:rPr>
              <a:t>Pregnant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788791" y="2021709"/>
            <a:ext cx="1136650" cy="88138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92075" algn="just">
              <a:lnSpc>
                <a:spcPct val="100000"/>
              </a:lnSpc>
              <a:spcBef>
                <a:spcPts val="440"/>
              </a:spcBef>
            </a:pPr>
            <a:r>
              <a:rPr sz="1000" dirty="0">
                <a:solidFill>
                  <a:srgbClr val="4B4B4B"/>
                </a:solidFill>
                <a:latin typeface="Arial MT"/>
                <a:cs typeface="Arial MT"/>
              </a:rPr>
              <a:t>6</a:t>
            </a:r>
            <a:r>
              <a:rPr sz="1000" spc="-80" dirty="0">
                <a:solidFill>
                  <a:srgbClr val="4B4B4B"/>
                </a:solidFill>
                <a:latin typeface="Arial MT"/>
                <a:cs typeface="Arial MT"/>
              </a:rPr>
              <a:t> </a:t>
            </a:r>
            <a:r>
              <a:rPr sz="1000" spc="-430" dirty="0">
                <a:solidFill>
                  <a:srgbClr val="797979"/>
                </a:solidFill>
                <a:latin typeface="Arial MT"/>
                <a:cs typeface="Arial MT"/>
              </a:rPr>
              <a:t>—</a:t>
            </a:r>
            <a:r>
              <a:rPr sz="1000" spc="-50" dirty="0">
                <a:solidFill>
                  <a:srgbClr val="797979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494949"/>
                </a:solidFill>
                <a:latin typeface="Arial MT"/>
                <a:cs typeface="Arial MT"/>
              </a:rPr>
              <a:t>12</a:t>
            </a:r>
            <a:r>
              <a:rPr sz="1000" spc="-60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1F1F1F"/>
                </a:solidFill>
                <a:latin typeface="Arial MT"/>
                <a:cs typeface="Arial MT"/>
              </a:rPr>
              <a:t>rronths</a:t>
            </a:r>
            <a:endParaRPr sz="1000">
              <a:latin typeface="Arial MT"/>
              <a:cs typeface="Arial MT"/>
            </a:endParaRPr>
          </a:p>
          <a:p>
            <a:pPr marL="95885" marR="5080" indent="-83820" algn="just">
              <a:lnSpc>
                <a:spcPct val="90400"/>
              </a:lnSpc>
              <a:spcBef>
                <a:spcPts val="480"/>
              </a:spcBef>
            </a:pPr>
            <a:r>
              <a:rPr sz="1100" spc="495" dirty="0">
                <a:solidFill>
                  <a:srgbClr val="95C6D1"/>
                </a:solidFill>
                <a:latin typeface="Arial MT"/>
                <a:cs typeface="Arial MT"/>
              </a:rPr>
              <a:t>!</a:t>
            </a:r>
            <a:r>
              <a:rPr sz="1100" spc="-130" dirty="0">
                <a:solidFill>
                  <a:srgbClr val="343434"/>
                </a:solidFill>
                <a:latin typeface="Arial MT"/>
                <a:cs typeface="Arial MT"/>
              </a:rPr>
              <a:t>Boys</a:t>
            </a:r>
            <a:r>
              <a:rPr sz="1100" spc="-4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1100" spc="-110" dirty="0">
                <a:solidFill>
                  <a:srgbClr val="282828"/>
                </a:solidFill>
                <a:latin typeface="Arial MT"/>
                <a:cs typeface="Arial MT"/>
              </a:rPr>
              <a:t>13</a:t>
            </a:r>
            <a:r>
              <a:rPr sz="1100" spc="-4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A1B1BD"/>
                </a:solidFill>
                <a:latin typeface="Arial MT"/>
                <a:cs typeface="Arial MT"/>
              </a:rPr>
              <a:t>-</a:t>
            </a:r>
            <a:r>
              <a:rPr sz="1100" spc="125" dirty="0">
                <a:solidFill>
                  <a:srgbClr val="A1B1BD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4D4D4D"/>
                </a:solidFill>
                <a:latin typeface="Arial MT"/>
                <a:cs typeface="Arial MT"/>
              </a:rPr>
              <a:t>15</a:t>
            </a:r>
            <a:r>
              <a:rPr sz="1100" spc="-4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1100" spc="-80" dirty="0">
                <a:solidFill>
                  <a:srgbClr val="333333"/>
                </a:solidFill>
                <a:latin typeface="Arial MT"/>
                <a:cs typeface="Arial MT"/>
              </a:rPr>
              <a:t>years</a:t>
            </a:r>
            <a:r>
              <a:rPr sz="1100" spc="-4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50" spc="-50" dirty="0">
                <a:solidFill>
                  <a:srgbClr val="4D4D4D"/>
                </a:solidFill>
                <a:latin typeface="Arial MT"/>
                <a:cs typeface="Arial MT"/>
              </a:rPr>
              <a:t>Girls</a:t>
            </a:r>
            <a:r>
              <a:rPr sz="1050" spc="-30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1050" spc="-85" dirty="0">
                <a:solidFill>
                  <a:srgbClr val="8C9AA3"/>
                </a:solidFill>
                <a:latin typeface="Arial MT"/>
                <a:cs typeface="Arial MT"/>
              </a:rPr>
              <a:t>15</a:t>
            </a:r>
            <a:r>
              <a:rPr sz="1050" spc="-75" dirty="0">
                <a:solidFill>
                  <a:srgbClr val="8C9AA3"/>
                </a:solidFill>
                <a:latin typeface="Arial MT"/>
                <a:cs typeface="Arial MT"/>
              </a:rPr>
              <a:t> </a:t>
            </a:r>
            <a:r>
              <a:rPr sz="1050" spc="-475" dirty="0">
                <a:solidFill>
                  <a:srgbClr val="BFBFBF"/>
                </a:solidFill>
                <a:latin typeface="Arial MT"/>
                <a:cs typeface="Arial MT"/>
              </a:rPr>
              <a:t>—</a:t>
            </a:r>
            <a:r>
              <a:rPr sz="1050" spc="-15" dirty="0">
                <a:solidFill>
                  <a:srgbClr val="BFBFBF"/>
                </a:solidFill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4F4F4F"/>
                </a:solidFill>
                <a:latin typeface="Arial MT"/>
                <a:cs typeface="Arial MT"/>
              </a:rPr>
              <a:t>1ti</a:t>
            </a:r>
            <a:r>
              <a:rPr sz="1050" spc="-55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1050" spc="-70" dirty="0">
                <a:solidFill>
                  <a:srgbClr val="5B5B5B"/>
                </a:solidFill>
                <a:latin typeface="Arial MT"/>
                <a:cs typeface="Arial MT"/>
              </a:rPr>
              <a:t>years</a:t>
            </a:r>
            <a:r>
              <a:rPr sz="1050" spc="-40" dirty="0">
                <a:solidFill>
                  <a:srgbClr val="5B5B5B"/>
                </a:solidFill>
                <a:latin typeface="Arial MT"/>
                <a:cs typeface="Arial MT"/>
              </a:rPr>
              <a:t> </a:t>
            </a:r>
            <a:r>
              <a:rPr sz="1100" spc="-95" dirty="0">
                <a:solidFill>
                  <a:srgbClr val="464646"/>
                </a:solidFill>
                <a:latin typeface="Arial MT"/>
                <a:cs typeface="Arial MT"/>
              </a:rPr>
              <a:t>Boys</a:t>
            </a:r>
            <a:r>
              <a:rPr sz="11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100" spc="-110" dirty="0">
                <a:solidFill>
                  <a:srgbClr val="282828"/>
                </a:solidFill>
                <a:latin typeface="Arial MT"/>
                <a:cs typeface="Arial MT"/>
              </a:rPr>
              <a:t>16</a:t>
            </a:r>
            <a:r>
              <a:rPr sz="1100" spc="-1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100" spc="-585" dirty="0">
                <a:solidFill>
                  <a:srgbClr val="677983"/>
                </a:solidFill>
                <a:latin typeface="Arial MT"/>
                <a:cs typeface="Arial MT"/>
              </a:rPr>
              <a:t>—</a:t>
            </a:r>
            <a:r>
              <a:rPr sz="1100" spc="65" dirty="0">
                <a:solidFill>
                  <a:srgbClr val="677983"/>
                </a:solidFill>
                <a:latin typeface="Arial MT"/>
                <a:cs typeface="Arial MT"/>
              </a:rPr>
              <a:t> </a:t>
            </a:r>
            <a:r>
              <a:rPr sz="1100" spc="5" dirty="0">
                <a:solidFill>
                  <a:srgbClr val="444444"/>
                </a:solidFill>
                <a:latin typeface="Arial MT"/>
                <a:cs typeface="Arial MT"/>
              </a:rPr>
              <a:t>\6</a:t>
            </a:r>
            <a:r>
              <a:rPr sz="1100" spc="-6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100" spc="-80" dirty="0">
                <a:solidFill>
                  <a:srgbClr val="424242"/>
                </a:solidFill>
                <a:latin typeface="Arial MT"/>
                <a:cs typeface="Arial MT"/>
              </a:rPr>
              <a:t>years</a:t>
            </a:r>
            <a:r>
              <a:rPr sz="1100" spc="-4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1100" spc="-75" dirty="0">
                <a:solidFill>
                  <a:srgbClr val="484848"/>
                </a:solidFill>
                <a:latin typeface="Arial MT"/>
                <a:cs typeface="Arial MT"/>
              </a:rPr>
              <a:t>Girls</a:t>
            </a:r>
            <a:r>
              <a:rPr sz="1100" spc="-30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1100" spc="-110" dirty="0">
                <a:solidFill>
                  <a:srgbClr val="232323"/>
                </a:solidFill>
                <a:latin typeface="Arial MT"/>
                <a:cs typeface="Arial MT"/>
              </a:rPr>
              <a:t>16</a:t>
            </a:r>
            <a:r>
              <a:rPr sz="1100" spc="-45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B8B8B8"/>
                </a:solidFill>
                <a:latin typeface="Arial MT"/>
                <a:cs typeface="Arial MT"/>
              </a:rPr>
              <a:t>-</a:t>
            </a:r>
            <a:r>
              <a:rPr sz="1100" spc="125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1100" spc="-65" dirty="0">
                <a:solidFill>
                  <a:srgbClr val="484848"/>
                </a:solidFill>
                <a:latin typeface="Arial MT"/>
                <a:cs typeface="Arial MT"/>
              </a:rPr>
              <a:t>16</a:t>
            </a:r>
            <a:r>
              <a:rPr sz="1100" spc="-40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1100" spc="-95" dirty="0">
                <a:solidFill>
                  <a:srgbClr val="9A9A9A"/>
                </a:solidFill>
                <a:latin typeface="Arial MT"/>
                <a:cs typeface="Arial MT"/>
              </a:rPr>
              <a:t>years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35630" y="1294209"/>
            <a:ext cx="166370" cy="44450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000" spc="-25" dirty="0">
                <a:solidFill>
                  <a:srgbClr val="565656"/>
                </a:solidFill>
                <a:latin typeface="Arial MT"/>
                <a:cs typeface="Arial MT"/>
              </a:rPr>
              <a:t>17</a:t>
            </a:r>
            <a:endParaRPr sz="100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450"/>
              </a:spcBef>
            </a:pPr>
            <a:r>
              <a:rPr sz="1000" spc="-25" dirty="0">
                <a:solidFill>
                  <a:srgbClr val="343434"/>
                </a:solidFill>
                <a:latin typeface="Arial MT"/>
                <a:cs typeface="Arial MT"/>
              </a:rPr>
              <a:t>21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34578" y="1791684"/>
            <a:ext cx="169545" cy="66103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605"/>
              </a:spcBef>
            </a:pPr>
            <a:r>
              <a:rPr sz="1000" spc="-25" dirty="0">
                <a:solidFill>
                  <a:srgbClr val="3B3B3B"/>
                </a:solidFill>
                <a:latin typeface="Arial MT"/>
                <a:cs typeface="Arial MT"/>
              </a:rPr>
              <a:t>21</a:t>
            </a:r>
            <a:endParaRPr sz="1000">
              <a:latin typeface="Arial MT"/>
              <a:cs typeface="Arial MT"/>
            </a:endParaRPr>
          </a:p>
          <a:p>
            <a:pPr marL="12700" marR="5080" indent="-635">
              <a:lnSpc>
                <a:spcPts val="1650"/>
              </a:lnSpc>
              <a:spcBef>
                <a:spcPts val="95"/>
              </a:spcBef>
            </a:pPr>
            <a:r>
              <a:rPr sz="950" spc="-50" dirty="0">
                <a:solidFill>
                  <a:srgbClr val="494949"/>
                </a:solidFill>
                <a:latin typeface="Arial MT"/>
                <a:cs typeface="Arial MT"/>
              </a:rPr>
              <a:t>S </a:t>
            </a:r>
            <a:r>
              <a:rPr sz="950" spc="-25" dirty="0">
                <a:solidFill>
                  <a:srgbClr val="3A3A3A"/>
                </a:solidFill>
                <a:latin typeface="Arial MT"/>
                <a:cs typeface="Arial MT"/>
              </a:rPr>
              <a:t>32</a:t>
            </a:r>
            <a:endParaRPr sz="95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36035" y="2558256"/>
            <a:ext cx="164465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4F4F4F"/>
                </a:solidFill>
                <a:latin typeface="Arial MT"/>
                <a:cs typeface="Arial MT"/>
              </a:rPr>
              <a:t>28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06400" y="3098800"/>
            <a:ext cx="4445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53075" y="333375"/>
            <a:ext cx="190500" cy="571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25"/>
              </a:spcBef>
            </a:pPr>
            <a:r>
              <a:rPr spc="-55" dirty="0">
                <a:solidFill>
                  <a:srgbClr val="215D8A"/>
                </a:solidFill>
              </a:rPr>
              <a:t>Iron-</a:t>
            </a:r>
            <a:r>
              <a:rPr spc="-40" dirty="0">
                <a:solidFill>
                  <a:srgbClr val="215D8A"/>
                </a:solidFill>
              </a:rPr>
              <a:t>Function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7110" y="965925"/>
            <a:ext cx="4742180" cy="1020792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38430" indent="-125730">
              <a:lnSpc>
                <a:spcPct val="100000"/>
              </a:lnSpc>
              <a:spcBef>
                <a:spcPts val="380"/>
              </a:spcBef>
              <a:buChar char="•"/>
              <a:tabLst>
                <a:tab pos="138430" algn="l"/>
              </a:tabLst>
            </a:pPr>
            <a:r>
              <a:rPr sz="1300" dirty="0">
                <a:latin typeface="Calibri"/>
                <a:cs typeface="Calibri"/>
              </a:rPr>
              <a:t>Biological</a:t>
            </a:r>
            <a:r>
              <a:rPr sz="1300" spc="27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importance-</a:t>
            </a:r>
            <a:endParaRPr sz="1300">
              <a:latin typeface="Calibri"/>
              <a:cs typeface="Calibri"/>
            </a:endParaRPr>
          </a:p>
          <a:p>
            <a:pPr marL="368300" lvl="1" indent="-125095">
              <a:lnSpc>
                <a:spcPct val="100000"/>
              </a:lnSpc>
              <a:spcBef>
                <a:spcPts val="250"/>
              </a:spcBef>
              <a:buClr>
                <a:srgbClr val="26905B"/>
              </a:buClr>
              <a:buChar char="•"/>
              <a:tabLst>
                <a:tab pos="368300" algn="l"/>
              </a:tabLst>
            </a:pPr>
            <a:r>
              <a:rPr sz="1100" spc="20" dirty="0">
                <a:solidFill>
                  <a:srgbClr val="64B689"/>
                </a:solidFill>
                <a:latin typeface="Calibri"/>
                <a:cs typeface="Calibri"/>
              </a:rPr>
              <a:t>Iron</a:t>
            </a:r>
            <a:r>
              <a:rPr sz="1100" spc="130" dirty="0">
                <a:solidFill>
                  <a:srgbClr val="64B689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44AA7B"/>
                </a:solidFill>
                <a:latin typeface="Calibri"/>
                <a:cs typeface="Calibri"/>
              </a:rPr>
              <a:t>porphyrin</a:t>
            </a:r>
            <a:r>
              <a:rPr sz="1100" spc="204" dirty="0">
                <a:solidFill>
                  <a:srgbClr val="44AA7B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solidFill>
                  <a:srgbClr val="4B8C69"/>
                </a:solidFill>
                <a:latin typeface="Calibri"/>
                <a:cs typeface="Calibri"/>
              </a:rPr>
              <a:t>(Elem</a:t>
            </a:r>
            <a:r>
              <a:rPr sz="1100" spc="20" dirty="0">
                <a:solidFill>
                  <a:srgbClr val="4F976D"/>
                </a:solidFill>
                <a:latin typeface="Calibri"/>
                <a:cs typeface="Calibri"/>
              </a:rPr>
              <a:t>e]</a:t>
            </a:r>
            <a:r>
              <a:rPr sz="1100" spc="114" dirty="0">
                <a:solidFill>
                  <a:srgbClr val="4F976D"/>
                </a:solidFill>
                <a:latin typeface="Calibri"/>
                <a:cs typeface="Calibri"/>
              </a:rPr>
              <a:t> </a:t>
            </a:r>
            <a:r>
              <a:rPr sz="1100" spc="65" dirty="0">
                <a:solidFill>
                  <a:srgbClr val="49A874"/>
                </a:solidFill>
                <a:latin typeface="Calibri"/>
                <a:cs typeface="Calibri"/>
              </a:rPr>
              <a:t>compeunds-</a:t>
            </a:r>
            <a:r>
              <a:rPr sz="1100" spc="170" dirty="0">
                <a:solidFill>
                  <a:srgbClr val="49A874"/>
                </a:solidFill>
                <a:latin typeface="Calibri"/>
                <a:cs typeface="Calibri"/>
              </a:rPr>
              <a:t> </a:t>
            </a:r>
            <a:r>
              <a:rPr sz="1100" spc="20" dirty="0">
                <a:latin typeface="Calibri"/>
                <a:cs typeface="Calibri"/>
              </a:rPr>
              <a:t>Haemoglobìn,</a:t>
            </a:r>
            <a:r>
              <a:rPr sz="1100" spc="10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Myoglobin</a:t>
            </a:r>
            <a:endParaRPr sz="1100">
              <a:latin typeface="Calibri"/>
              <a:cs typeface="Calibri"/>
            </a:endParaRPr>
          </a:p>
          <a:p>
            <a:pPr marL="424180" lvl="1" indent="-171450">
              <a:lnSpc>
                <a:spcPts val="1260"/>
              </a:lnSpc>
              <a:spcBef>
                <a:spcPts val="219"/>
              </a:spcBef>
              <a:buClr>
                <a:srgbClr val="1F834D"/>
              </a:buClr>
              <a:buFont typeface="Arial" panose="020B0604020202020204" pitchFamily="34" charset="0"/>
              <a:buChar char="•"/>
              <a:tabLst>
                <a:tab pos="358140" algn="l"/>
              </a:tabLst>
            </a:pPr>
            <a:r>
              <a:rPr lang="en-IN" sz="1100" i="1" spc="145" dirty="0">
                <a:solidFill>
                  <a:srgbClr val="3B8967"/>
                </a:solidFill>
                <a:latin typeface="Calibri"/>
                <a:cs typeface="Calibri"/>
              </a:rPr>
              <a:t> ENZYMES</a:t>
            </a:r>
            <a:r>
              <a:rPr sz="1100" i="1" spc="75" dirty="0">
                <a:solidFill>
                  <a:srgbClr val="232323"/>
                </a:solidFill>
                <a:latin typeface="Calibri"/>
                <a:cs typeface="Calibri"/>
              </a:rPr>
              <a:t>-</a:t>
            </a:r>
            <a:r>
              <a:rPr sz="1100" i="1" spc="19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Mitochondrial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cytochromes,</a:t>
            </a:r>
            <a:r>
              <a:rPr sz="1100" spc="2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Microsomal</a:t>
            </a:r>
            <a:r>
              <a:rPr sz="1100" spc="229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cytochrome,</a:t>
            </a:r>
            <a:endParaRPr sz="1100">
              <a:latin typeface="Calibri"/>
              <a:cs typeface="Calibri"/>
            </a:endParaRPr>
          </a:p>
          <a:p>
            <a:pPr marL="364490">
              <a:lnSpc>
                <a:spcPts val="1440"/>
              </a:lnSpc>
            </a:pPr>
            <a:r>
              <a:rPr sz="1250" spc="-35" dirty="0">
                <a:solidFill>
                  <a:srgbClr val="0E0E0E"/>
                </a:solidFill>
                <a:latin typeface="Calibri"/>
                <a:cs typeface="Calibri"/>
              </a:rPr>
              <a:t>catalase,</a:t>
            </a:r>
            <a:r>
              <a:rPr sz="125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peroxidase</a:t>
            </a:r>
            <a:endParaRPr sz="1100">
              <a:latin typeface="Calibri"/>
              <a:cs typeface="Calibri"/>
            </a:endParaRPr>
          </a:p>
          <a:p>
            <a:pPr marL="368935" lvl="1" indent="-114935">
              <a:lnSpc>
                <a:spcPct val="100000"/>
              </a:lnSpc>
              <a:spcBef>
                <a:spcPts val="315"/>
              </a:spcBef>
              <a:buClr>
                <a:srgbClr val="1A7E4D"/>
              </a:buClr>
              <a:buChar char="•"/>
              <a:tabLst>
                <a:tab pos="368935" algn="l"/>
              </a:tabLst>
            </a:pPr>
            <a:r>
              <a:rPr sz="1000" spc="70" dirty="0">
                <a:solidFill>
                  <a:srgbClr val="6EA782"/>
                </a:solidFill>
                <a:latin typeface="Calibri"/>
                <a:cs typeface="Calibri"/>
              </a:rPr>
              <a:t>Transport</a:t>
            </a:r>
            <a:r>
              <a:rPr sz="1000" spc="60" dirty="0">
                <a:solidFill>
                  <a:srgbClr val="6EA782"/>
                </a:solidFill>
                <a:latin typeface="Calibri"/>
                <a:cs typeface="Calibri"/>
              </a:rPr>
              <a:t> </a:t>
            </a:r>
            <a:r>
              <a:rPr sz="1000" spc="90" dirty="0">
                <a:solidFill>
                  <a:srgbClr val="2A8756"/>
                </a:solidFill>
                <a:latin typeface="Calibri"/>
                <a:cs typeface="Calibri"/>
              </a:rPr>
              <a:t>and</a:t>
            </a:r>
            <a:r>
              <a:rPr sz="1000" spc="155" dirty="0">
                <a:solidFill>
                  <a:srgbClr val="2A8756"/>
                </a:solidFill>
                <a:latin typeface="Calibri"/>
                <a:cs typeface="Calibri"/>
              </a:rPr>
              <a:t> </a:t>
            </a:r>
            <a:r>
              <a:rPr sz="1000" spc="65" dirty="0">
                <a:solidFill>
                  <a:srgbClr val="44A172"/>
                </a:solidFill>
                <a:latin typeface="Calibri"/>
                <a:cs typeface="Calibri"/>
              </a:rPr>
              <a:t>storage</a:t>
            </a:r>
            <a:r>
              <a:rPr sz="1000" spc="155" dirty="0">
                <a:solidFill>
                  <a:srgbClr val="44A172"/>
                </a:solidFill>
                <a:latin typeface="Calibri"/>
                <a:cs typeface="Calibri"/>
              </a:rPr>
              <a:t> </a:t>
            </a:r>
            <a:r>
              <a:rPr sz="1000" spc="80" dirty="0">
                <a:solidFill>
                  <a:srgbClr val="3DA172"/>
                </a:solidFill>
                <a:latin typeface="Calibri"/>
                <a:cs typeface="Calibri"/>
              </a:rPr>
              <a:t>form- </a:t>
            </a:r>
            <a:r>
              <a:rPr sz="1000" spc="60" dirty="0">
                <a:latin typeface="Calibri"/>
                <a:cs typeface="Calibri"/>
              </a:rPr>
              <a:t>Transferrin</a:t>
            </a:r>
            <a:r>
              <a:rPr sz="1000" spc="135" dirty="0"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0E0E0E"/>
                </a:solidFill>
                <a:latin typeface="Calibri"/>
                <a:cs typeface="Calibri"/>
              </a:rPr>
              <a:t>,</a:t>
            </a:r>
            <a:r>
              <a:rPr sz="1000" spc="3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1000" spc="55" dirty="0">
                <a:latin typeface="Calibri"/>
                <a:cs typeface="Calibri"/>
              </a:rPr>
              <a:t>Ferritin,</a:t>
            </a:r>
            <a:r>
              <a:rPr sz="1000" spc="125" dirty="0">
                <a:latin typeface="Calibri"/>
                <a:cs typeface="Calibri"/>
              </a:rPr>
              <a:t> </a:t>
            </a:r>
            <a:r>
              <a:rPr sz="1000" spc="65" dirty="0">
                <a:solidFill>
                  <a:srgbClr val="161616"/>
                </a:solidFill>
                <a:latin typeface="Calibri"/>
                <a:cs typeface="Calibri"/>
              </a:rPr>
              <a:t>Hemosiderin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6400" y="3048000"/>
            <a:ext cx="495300" cy="330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14"/>
              </a:spcBef>
            </a:pPr>
            <a:r>
              <a:rPr sz="2250" spc="-85" dirty="0">
                <a:solidFill>
                  <a:srgbClr val="15609A"/>
                </a:solidFill>
              </a:rPr>
              <a:t>Iron-</a:t>
            </a:r>
            <a:r>
              <a:rPr sz="2250" spc="-70" dirty="0">
                <a:solidFill>
                  <a:srgbClr val="15609A"/>
                </a:solidFill>
              </a:rPr>
              <a:t>Sources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436727" y="824379"/>
            <a:ext cx="4562475" cy="1259205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32715" indent="-120014">
              <a:lnSpc>
                <a:spcPct val="100000"/>
              </a:lnSpc>
              <a:spcBef>
                <a:spcPts val="545"/>
              </a:spcBef>
              <a:buChar char="•"/>
              <a:tabLst>
                <a:tab pos="132715" algn="l"/>
              </a:tabLst>
            </a:pPr>
            <a:r>
              <a:rPr sz="1400" dirty="0">
                <a:latin typeface="Calibri"/>
                <a:cs typeface="Calibri"/>
              </a:rPr>
              <a:t>2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sources:</a:t>
            </a:r>
            <a:endParaRPr sz="1400">
              <a:latin typeface="Calibri"/>
              <a:cs typeface="Calibri"/>
            </a:endParaRPr>
          </a:p>
          <a:p>
            <a:pPr marL="139700" indent="-125730">
              <a:lnSpc>
                <a:spcPct val="100000"/>
              </a:lnSpc>
              <a:spcBef>
                <a:spcPts val="445"/>
              </a:spcBef>
              <a:buChar char="•"/>
              <a:tabLst>
                <a:tab pos="139700" algn="l"/>
              </a:tabLst>
            </a:pPr>
            <a:r>
              <a:rPr sz="1300" dirty="0">
                <a:latin typeface="Calibri"/>
                <a:cs typeface="Calibri"/>
              </a:rPr>
              <a:t>Heme</a:t>
            </a:r>
            <a:r>
              <a:rPr sz="1300" spc="160" dirty="0">
                <a:latin typeface="Calibri"/>
                <a:cs typeface="Calibri"/>
              </a:rPr>
              <a:t> </a:t>
            </a:r>
            <a:r>
              <a:rPr sz="1300" spc="-40" dirty="0">
                <a:latin typeface="Calibri"/>
                <a:cs typeface="Calibri"/>
              </a:rPr>
              <a:t>sources—</a:t>
            </a:r>
            <a:r>
              <a:rPr sz="1300" spc="15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liver,</a:t>
            </a:r>
            <a:r>
              <a:rPr sz="1300" spc="15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meat,</a:t>
            </a:r>
            <a:r>
              <a:rPr sz="1300" spc="1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poultry</a:t>
            </a:r>
            <a:r>
              <a:rPr sz="1300" spc="12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120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fish</a:t>
            </a:r>
            <a:endParaRPr sz="1300">
              <a:latin typeface="Calibri"/>
              <a:cs typeface="Calibri"/>
            </a:endParaRPr>
          </a:p>
          <a:p>
            <a:pPr marL="137160" marR="5080" indent="-125095">
              <a:lnSpc>
                <a:spcPts val="1500"/>
              </a:lnSpc>
              <a:spcBef>
                <a:spcPts val="565"/>
              </a:spcBef>
              <a:buChar char="•"/>
              <a:tabLst>
                <a:tab pos="140970" algn="l"/>
              </a:tabLst>
            </a:pPr>
            <a:r>
              <a:rPr sz="1450" spc="-55" dirty="0">
                <a:latin typeface="Calibri"/>
                <a:cs typeface="Calibri"/>
              </a:rPr>
              <a:t>Non-</a:t>
            </a:r>
            <a:r>
              <a:rPr sz="1450" spc="-25" dirty="0">
                <a:latin typeface="Calibri"/>
                <a:cs typeface="Calibri"/>
              </a:rPr>
              <a:t>Heme</a:t>
            </a:r>
            <a:r>
              <a:rPr sz="1450" spc="35" dirty="0"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Source-</a:t>
            </a:r>
            <a:r>
              <a:rPr sz="1450" spc="-65" dirty="0">
                <a:latin typeface="Calibri"/>
                <a:cs typeface="Calibri"/>
              </a:rPr>
              <a:t> </a:t>
            </a:r>
            <a:r>
              <a:rPr sz="1450" spc="-40" dirty="0">
                <a:latin typeface="Calibri"/>
                <a:cs typeface="Calibri"/>
              </a:rPr>
              <a:t>vegetable </a:t>
            </a:r>
            <a:r>
              <a:rPr sz="1450" spc="-20" dirty="0">
                <a:latin typeface="Calibri"/>
                <a:cs typeface="Calibri"/>
              </a:rPr>
              <a:t>origin,</a:t>
            </a:r>
            <a:r>
              <a:rPr sz="1450" spc="25" dirty="0">
                <a:latin typeface="Calibri"/>
                <a:cs typeface="Calibri"/>
              </a:rPr>
              <a:t> </a:t>
            </a:r>
            <a:r>
              <a:rPr sz="1450" spc="-25" dirty="0">
                <a:latin typeface="Calibri"/>
                <a:cs typeface="Calibri"/>
              </a:rPr>
              <a:t>e.g.,</a:t>
            </a:r>
            <a:r>
              <a:rPr sz="1450" spc="-50" dirty="0">
                <a:latin typeface="Calibri"/>
                <a:cs typeface="Calibri"/>
              </a:rPr>
              <a:t> </a:t>
            </a:r>
            <a:r>
              <a:rPr sz="1450" spc="-30" dirty="0">
                <a:latin typeface="Calibri"/>
                <a:cs typeface="Calibri"/>
              </a:rPr>
              <a:t>cereals,</a:t>
            </a:r>
            <a:r>
              <a:rPr sz="1450" spc="5" dirty="0">
                <a:latin typeface="Calibri"/>
                <a:cs typeface="Calibri"/>
              </a:rPr>
              <a:t> </a:t>
            </a:r>
            <a:r>
              <a:rPr sz="1450" spc="-40" dirty="0">
                <a:solidFill>
                  <a:srgbClr val="0F0F0F"/>
                </a:solidFill>
                <a:latin typeface="Calibri"/>
                <a:cs typeface="Calibri"/>
              </a:rPr>
              <a:t>green</a:t>
            </a:r>
            <a:r>
              <a:rPr sz="1450" spc="-1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l</a:t>
            </a:r>
            <a:r>
              <a:rPr lang="en-IN" sz="1450" spc="-10" dirty="0">
                <a:latin typeface="Calibri"/>
                <a:cs typeface="Calibri"/>
              </a:rPr>
              <a:t>eafy </a:t>
            </a:r>
            <a:r>
              <a:rPr sz="1450" spc="-10" dirty="0">
                <a:latin typeface="Calibri"/>
                <a:cs typeface="Calibri"/>
              </a:rPr>
              <a:t>	</a:t>
            </a:r>
            <a:r>
              <a:rPr sz="1450" spc="-45" dirty="0">
                <a:latin typeface="Calibri"/>
                <a:cs typeface="Calibri"/>
              </a:rPr>
              <a:t>vegetables,</a:t>
            </a:r>
            <a:r>
              <a:rPr sz="1450" spc="-10" dirty="0">
                <a:latin typeface="Calibri"/>
                <a:cs typeface="Calibri"/>
              </a:rPr>
              <a:t> </a:t>
            </a:r>
            <a:r>
              <a:rPr sz="1450" spc="-40" dirty="0">
                <a:latin typeface="Calibri"/>
                <a:cs typeface="Calibri"/>
              </a:rPr>
              <a:t>legum</a:t>
            </a:r>
            <a:r>
              <a:rPr lang="en-IN" sz="1450" spc="-40" dirty="0">
                <a:latin typeface="Calibri"/>
                <a:cs typeface="Calibri"/>
              </a:rPr>
              <a:t>es</a:t>
            </a:r>
            <a:r>
              <a:rPr sz="1450" spc="-40" dirty="0">
                <a:latin typeface="Calibri"/>
                <a:cs typeface="Calibri"/>
              </a:rPr>
              <a:t>,</a:t>
            </a:r>
            <a:r>
              <a:rPr sz="1450" spc="45" dirty="0">
                <a:latin typeface="Calibri"/>
                <a:cs typeface="Calibri"/>
              </a:rPr>
              <a:t> </a:t>
            </a:r>
            <a:r>
              <a:rPr sz="1450" spc="-30" dirty="0">
                <a:latin typeface="Calibri"/>
                <a:cs typeface="Calibri"/>
              </a:rPr>
              <a:t>nuts</a:t>
            </a:r>
            <a:r>
              <a:rPr sz="1450" spc="-70" dirty="0">
                <a:latin typeface="Calibri"/>
                <a:cs typeface="Calibri"/>
              </a:rPr>
              <a:t>,</a:t>
            </a:r>
            <a:r>
              <a:rPr sz="1450" spc="25" dirty="0">
                <a:latin typeface="Calibri"/>
                <a:cs typeface="Calibri"/>
              </a:rPr>
              <a:t> </a:t>
            </a:r>
            <a:r>
              <a:rPr sz="1450" spc="-35" dirty="0">
                <a:latin typeface="Calibri"/>
                <a:cs typeface="Calibri"/>
              </a:rPr>
              <a:t>jaggery</a:t>
            </a:r>
            <a:r>
              <a:rPr sz="1450" dirty="0"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and</a:t>
            </a:r>
            <a:r>
              <a:rPr sz="1450" spc="-50" dirty="0">
                <a:latin typeface="Calibri"/>
                <a:cs typeface="Calibri"/>
              </a:rPr>
              <a:t> </a:t>
            </a:r>
            <a:r>
              <a:rPr sz="1450" spc="-30" dirty="0">
                <a:latin typeface="Calibri"/>
                <a:cs typeface="Calibri"/>
              </a:rPr>
              <a:t>dried</a:t>
            </a:r>
            <a:r>
              <a:rPr sz="1450" spc="-50" dirty="0"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fruits.</a:t>
            </a:r>
            <a:endParaRPr sz="1450">
              <a:latin typeface="Calibri"/>
              <a:cs typeface="Calibri"/>
            </a:endParaRPr>
          </a:p>
          <a:p>
            <a:pPr marL="137795" indent="-125095">
              <a:lnSpc>
                <a:spcPct val="100000"/>
              </a:lnSpc>
              <a:spcBef>
                <a:spcPts val="275"/>
              </a:spcBef>
              <a:buChar char="•"/>
              <a:tabLst>
                <a:tab pos="137795" algn="l"/>
              </a:tabLst>
            </a:pPr>
            <a:r>
              <a:rPr sz="1450" spc="-35" dirty="0">
                <a:latin typeface="Calibri"/>
                <a:cs typeface="Calibri"/>
              </a:rPr>
              <a:t>Fortified</a:t>
            </a:r>
            <a:r>
              <a:rPr sz="1450" spc="20" dirty="0">
                <a:latin typeface="Calibri"/>
                <a:cs typeface="Calibri"/>
              </a:rPr>
              <a:t> </a:t>
            </a:r>
            <a:r>
              <a:rPr sz="1450" spc="-30" dirty="0">
                <a:latin typeface="Calibri"/>
                <a:cs typeface="Calibri"/>
              </a:rPr>
              <a:t>foods:</a:t>
            </a:r>
            <a:r>
              <a:rPr sz="1450" spc="-10" dirty="0">
                <a:latin typeface="Calibri"/>
                <a:cs typeface="Calibri"/>
              </a:rPr>
              <a:t> </a:t>
            </a:r>
            <a:r>
              <a:rPr sz="1450" spc="-30" dirty="0">
                <a:latin typeface="Calibri"/>
                <a:cs typeface="Calibri"/>
              </a:rPr>
              <a:t>Salts(India,</a:t>
            </a:r>
            <a:r>
              <a:rPr sz="1450" spc="-10" dirty="0">
                <a:latin typeface="Calibri"/>
                <a:cs typeface="Calibri"/>
              </a:rPr>
              <a:t> </a:t>
            </a:r>
            <a:r>
              <a:rPr sz="1450" spc="-30" dirty="0">
                <a:latin typeface="Calibri"/>
                <a:cs typeface="Calibri"/>
              </a:rPr>
              <a:t>Thailand),</a:t>
            </a:r>
            <a:r>
              <a:rPr sz="1450" spc="45" dirty="0">
                <a:latin typeface="Calibri"/>
                <a:cs typeface="Calibri"/>
              </a:rPr>
              <a:t> </a:t>
            </a:r>
            <a:r>
              <a:rPr sz="1450" spc="-35" dirty="0">
                <a:latin typeface="Calibri"/>
                <a:cs typeface="Calibri"/>
              </a:rPr>
              <a:t>flour(US,</a:t>
            </a:r>
            <a:r>
              <a:rPr sz="1450" spc="25" dirty="0">
                <a:latin typeface="Calibri"/>
                <a:cs typeface="Calibri"/>
              </a:rPr>
              <a:t> </a:t>
            </a:r>
            <a:r>
              <a:rPr sz="1450" spc="-45" dirty="0">
                <a:latin typeface="Calibri"/>
                <a:cs typeface="Calibri"/>
              </a:rPr>
              <a:t>Sweden,</a:t>
            </a:r>
            <a:r>
              <a:rPr sz="1450" dirty="0">
                <a:latin typeface="Calibri"/>
                <a:cs typeface="Calibri"/>
              </a:rPr>
              <a:t> </a:t>
            </a:r>
            <a:r>
              <a:rPr sz="1450" spc="-25" dirty="0">
                <a:solidFill>
                  <a:srgbClr val="161616"/>
                </a:solidFill>
                <a:latin typeface="Calibri"/>
                <a:cs typeface="Calibri"/>
              </a:rPr>
              <a:t>UK)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3700" y="3111500"/>
            <a:ext cx="4445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20"/>
              </a:spcBef>
            </a:pPr>
            <a:r>
              <a:rPr sz="2050" spc="-65" dirty="0">
                <a:solidFill>
                  <a:srgbClr val="07528C"/>
                </a:solidFill>
                <a:latin typeface="Arial MT"/>
                <a:cs typeface="Arial MT"/>
              </a:rPr>
              <a:t>Iron-</a:t>
            </a:r>
            <a:r>
              <a:rPr sz="2050" spc="-55" dirty="0">
                <a:solidFill>
                  <a:srgbClr val="07528C"/>
                </a:solidFill>
                <a:latin typeface="Arial MT"/>
                <a:cs typeface="Arial MT"/>
              </a:rPr>
              <a:t>Disorder</a:t>
            </a:r>
            <a:endParaRPr sz="20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0581" y="862524"/>
            <a:ext cx="5095240" cy="1425575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1400" dirty="0">
                <a:latin typeface="Arial MT"/>
                <a:cs typeface="Arial MT"/>
              </a:rPr>
              <a:t>°</a:t>
            </a:r>
            <a:r>
              <a:rPr sz="1400" spc="125" dirty="0">
                <a:latin typeface="Arial MT"/>
                <a:cs typeface="Arial MT"/>
              </a:rPr>
              <a:t> </a:t>
            </a:r>
            <a:r>
              <a:rPr sz="1400" spc="-165" dirty="0">
                <a:latin typeface="Arial MT"/>
                <a:cs typeface="Arial MT"/>
              </a:rPr>
              <a:t>Excess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Iron</a:t>
            </a:r>
            <a:endParaRPr sz="1400">
              <a:latin typeface="Arial MT"/>
              <a:cs typeface="Arial MT"/>
            </a:endParaRPr>
          </a:p>
          <a:p>
            <a:pPr marL="372110" indent="-115570">
              <a:lnSpc>
                <a:spcPct val="100000"/>
              </a:lnSpc>
              <a:spcBef>
                <a:spcPts val="130"/>
              </a:spcBef>
              <a:buChar char="•"/>
              <a:tabLst>
                <a:tab pos="372110" algn="l"/>
              </a:tabLst>
            </a:pPr>
            <a:r>
              <a:rPr sz="1200" spc="-40" dirty="0">
                <a:latin typeface="Arial MT"/>
                <a:cs typeface="Arial MT"/>
              </a:rPr>
              <a:t>Siderosis-</a:t>
            </a:r>
            <a:r>
              <a:rPr sz="1200" spc="-4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Iron</a:t>
            </a:r>
            <a:r>
              <a:rPr sz="1200" spc="-65" dirty="0">
                <a:latin typeface="Arial MT"/>
                <a:cs typeface="Arial MT"/>
              </a:rPr>
              <a:t> </a:t>
            </a:r>
            <a:r>
              <a:rPr sz="1200" spc="-100" dirty="0">
                <a:solidFill>
                  <a:srgbClr val="0F0F0F"/>
                </a:solidFill>
                <a:latin typeface="Arial MT"/>
                <a:cs typeface="Arial MT"/>
              </a:rPr>
              <a:t>is</a:t>
            </a:r>
            <a:r>
              <a:rPr sz="1200" dirty="0">
                <a:solidFill>
                  <a:srgbClr val="0F0F0F"/>
                </a:solidFill>
                <a:latin typeface="Arial MT"/>
                <a:cs typeface="Arial MT"/>
              </a:rPr>
              <a:t> </a:t>
            </a:r>
            <a:r>
              <a:rPr sz="1200" spc="-55" dirty="0">
                <a:latin typeface="Arial MT"/>
                <a:cs typeface="Arial MT"/>
              </a:rPr>
              <a:t>stored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0C0C0C"/>
                </a:solidFill>
                <a:latin typeface="Arial MT"/>
                <a:cs typeface="Arial MT"/>
              </a:rPr>
              <a:t>in</a:t>
            </a:r>
            <a:r>
              <a:rPr sz="1200" spc="-70" dirty="0">
                <a:solidFill>
                  <a:srgbClr val="0C0C0C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the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50" dirty="0">
                <a:latin typeface="Arial MT"/>
                <a:cs typeface="Arial MT"/>
              </a:rPr>
              <a:t>hemosiderin</a:t>
            </a:r>
            <a:r>
              <a:rPr sz="1200" spc="20" dirty="0"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94949"/>
                </a:solidFill>
                <a:latin typeface="Arial MT"/>
                <a:cs typeface="Arial MT"/>
              </a:rPr>
              <a:t>-</a:t>
            </a:r>
            <a:r>
              <a:rPr sz="1200" spc="105" dirty="0">
                <a:solidFill>
                  <a:srgbClr val="49494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62626"/>
                </a:solidFill>
                <a:latin typeface="Arial MT"/>
                <a:cs typeface="Arial MT"/>
              </a:rPr>
              <a:t>not</a:t>
            </a:r>
            <a:r>
              <a:rPr sz="1200" spc="-2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200" spc="-65" dirty="0">
                <a:latin typeface="Arial MT"/>
                <a:cs typeface="Arial MT"/>
              </a:rPr>
              <a:t>available</a:t>
            </a:r>
            <a:r>
              <a:rPr sz="1200" spc="35" dirty="0">
                <a:latin typeface="Arial MT"/>
                <a:cs typeface="Arial MT"/>
              </a:rPr>
              <a:t> </a:t>
            </a:r>
            <a:r>
              <a:rPr sz="1200" spc="-20" dirty="0">
                <a:latin typeface="Arial MT"/>
                <a:cs typeface="Arial MT"/>
              </a:rPr>
              <a:t>form</a:t>
            </a:r>
            <a:endParaRPr sz="1200">
              <a:latin typeface="Arial MT"/>
              <a:cs typeface="Arial MT"/>
            </a:endParaRPr>
          </a:p>
          <a:p>
            <a:pPr marL="374015" marR="5080" indent="-107314">
              <a:lnSpc>
                <a:spcPct val="104700"/>
              </a:lnSpc>
              <a:spcBef>
                <a:spcPts val="190"/>
              </a:spcBef>
              <a:buChar char="•"/>
              <a:tabLst>
                <a:tab pos="374015" algn="l"/>
                <a:tab pos="375920" algn="l"/>
              </a:tabLst>
            </a:pPr>
            <a:r>
              <a:rPr sz="1050" dirty="0">
                <a:latin typeface="Arial MT"/>
                <a:cs typeface="Arial MT"/>
              </a:rPr>
              <a:t>	Haemochromatosis—</a:t>
            </a:r>
            <a:r>
              <a:rPr sz="1050" spc="-80" dirty="0">
                <a:latin typeface="Arial MT"/>
                <a:cs typeface="Arial MT"/>
              </a:rPr>
              <a:t> </a:t>
            </a:r>
            <a:r>
              <a:rPr sz="1050" spc="-55" dirty="0">
                <a:latin typeface="Arial MT"/>
                <a:cs typeface="Arial MT"/>
              </a:rPr>
              <a:t>Excess</a:t>
            </a:r>
            <a:r>
              <a:rPr sz="1050" spc="95" dirty="0"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0E0E0E"/>
                </a:solidFill>
                <a:latin typeface="Arial MT"/>
                <a:cs typeface="Arial MT"/>
              </a:rPr>
              <a:t>iron</a:t>
            </a:r>
            <a:r>
              <a:rPr sz="1050" spc="100" dirty="0">
                <a:solidFill>
                  <a:srgbClr val="0E0E0E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262626"/>
                </a:solidFill>
                <a:latin typeface="Arial MT"/>
                <a:cs typeface="Arial MT"/>
              </a:rPr>
              <a:t>is</a:t>
            </a:r>
            <a:r>
              <a:rPr sz="1050" spc="8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absorbed</a:t>
            </a:r>
            <a:r>
              <a:rPr sz="1050" spc="16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from</a:t>
            </a:r>
            <a:r>
              <a:rPr sz="1050" spc="10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intestine</a:t>
            </a:r>
            <a:r>
              <a:rPr sz="1050" spc="150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and</a:t>
            </a:r>
            <a:r>
              <a:rPr sz="1050" spc="45" dirty="0">
                <a:latin typeface="Arial MT"/>
                <a:cs typeface="Arial MT"/>
              </a:rPr>
              <a:t> </a:t>
            </a:r>
            <a:r>
              <a:rPr sz="1050" dirty="0">
                <a:latin typeface="Arial MT"/>
                <a:cs typeface="Arial MT"/>
              </a:rPr>
              <a:t>deposited</a:t>
            </a:r>
            <a:r>
              <a:rPr sz="1050" spc="160" dirty="0">
                <a:latin typeface="Arial MT"/>
                <a:cs typeface="Arial MT"/>
              </a:rPr>
              <a:t> </a:t>
            </a:r>
            <a:r>
              <a:rPr sz="1050" spc="-25" dirty="0">
                <a:solidFill>
                  <a:srgbClr val="2F2F2F"/>
                </a:solidFill>
                <a:latin typeface="Arial MT"/>
                <a:cs typeface="Arial MT"/>
              </a:rPr>
              <a:t>in </a:t>
            </a:r>
            <a:r>
              <a:rPr sz="1000" dirty="0">
                <a:latin typeface="Arial MT"/>
                <a:cs typeface="Arial MT"/>
              </a:rPr>
              <a:t>liver,</a:t>
            </a:r>
            <a:r>
              <a:rPr sz="1000" spc="1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spleen,</a:t>
            </a:r>
            <a:r>
              <a:rPr sz="1000" spc="2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pancreas,</a:t>
            </a:r>
            <a:r>
              <a:rPr sz="1000" spc="185" dirty="0">
                <a:latin typeface="Arial MT"/>
                <a:cs typeface="Arial MT"/>
              </a:rPr>
              <a:t> </a:t>
            </a:r>
            <a:r>
              <a:rPr sz="1000" spc="75" dirty="0">
                <a:latin typeface="Arial MT"/>
                <a:cs typeface="Arial MT"/>
              </a:rPr>
              <a:t>skin-</a:t>
            </a:r>
            <a:r>
              <a:rPr sz="1000" spc="16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leading</a:t>
            </a:r>
            <a:r>
              <a:rPr sz="1000" spc="235" dirty="0"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1D1D1D"/>
                </a:solidFill>
                <a:latin typeface="Arial MT"/>
                <a:cs typeface="Arial MT"/>
              </a:rPr>
              <a:t>to</a:t>
            </a:r>
            <a:r>
              <a:rPr sz="1000" spc="24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diabetes,</a:t>
            </a:r>
            <a:r>
              <a:rPr sz="1000" spc="24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liver</a:t>
            </a:r>
            <a:r>
              <a:rPr sz="1000" spc="254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cirrhosis,</a:t>
            </a:r>
            <a:r>
              <a:rPr sz="1000" spc="295" dirty="0">
                <a:latin typeface="Arial MT"/>
                <a:cs typeface="Arial MT"/>
              </a:rPr>
              <a:t> </a:t>
            </a:r>
            <a:r>
              <a:rPr sz="1000" spc="-20" dirty="0">
                <a:latin typeface="Arial MT"/>
                <a:cs typeface="Arial MT"/>
              </a:rPr>
              <a:t>skin </a:t>
            </a:r>
            <a:r>
              <a:rPr sz="1100" spc="-10" dirty="0">
                <a:latin typeface="Arial MT"/>
                <a:cs typeface="Arial MT"/>
              </a:rPr>
              <a:t>discoloration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70"/>
              </a:spcBef>
            </a:pPr>
            <a:endParaRPr sz="1050">
              <a:latin typeface="Arial MT"/>
              <a:cs typeface="Arial MT"/>
            </a:endParaRPr>
          </a:p>
          <a:p>
            <a:pPr marL="144780" indent="-107950">
              <a:lnSpc>
                <a:spcPct val="100000"/>
              </a:lnSpc>
              <a:spcBef>
                <a:spcPts val="5"/>
              </a:spcBef>
              <a:buChar char="•"/>
              <a:tabLst>
                <a:tab pos="144780" algn="l"/>
              </a:tabLst>
            </a:pPr>
            <a:r>
              <a:rPr sz="1250" dirty="0">
                <a:latin typeface="Arial MT"/>
                <a:cs typeface="Arial MT"/>
              </a:rPr>
              <a:t>Iron</a:t>
            </a:r>
            <a:r>
              <a:rPr sz="1250" spc="100" dirty="0">
                <a:latin typeface="Arial MT"/>
                <a:cs typeface="Arial MT"/>
              </a:rPr>
              <a:t> </a:t>
            </a:r>
            <a:r>
              <a:rPr sz="1250" spc="-10" dirty="0">
                <a:latin typeface="Arial MT"/>
                <a:cs typeface="Arial MT"/>
              </a:rPr>
              <a:t>Deficiency</a:t>
            </a:r>
            <a:endParaRPr sz="125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400" y="3098800"/>
            <a:ext cx="4318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25"/>
              </a:spcBef>
            </a:pPr>
            <a:r>
              <a:rPr spc="-65" dirty="0">
                <a:solidFill>
                  <a:srgbClr val="07528C"/>
                </a:solidFill>
              </a:rPr>
              <a:t>Iron-</a:t>
            </a:r>
            <a:r>
              <a:rPr spc="-55" dirty="0">
                <a:solidFill>
                  <a:srgbClr val="07528C"/>
                </a:solidFill>
              </a:rPr>
              <a:t>Disorder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6730" y="812955"/>
            <a:ext cx="5057140" cy="2142894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  <a:tabLst>
                <a:tab pos="2856230" algn="l"/>
                <a:tab pos="3618865" algn="l"/>
              </a:tabLst>
            </a:pPr>
            <a:r>
              <a:rPr sz="1400" dirty="0">
                <a:latin typeface="Calibri"/>
                <a:cs typeface="Calibri"/>
              </a:rPr>
              <a:t>°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Iron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deficiency</a:t>
            </a:r>
            <a:r>
              <a:rPr sz="1400" spc="1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Anemia</a:t>
            </a:r>
            <a:r>
              <a:rPr sz="1400" dirty="0">
                <a:latin typeface="Calibri"/>
                <a:cs typeface="Calibri"/>
              </a:rPr>
              <a:t>	</a:t>
            </a:r>
            <a:endParaRPr sz="1400">
              <a:latin typeface="Calibri"/>
              <a:cs typeface="Calibri"/>
            </a:endParaRPr>
          </a:p>
          <a:p>
            <a:pPr marL="347345" marR="5080" indent="-120650">
              <a:lnSpc>
                <a:spcPct val="100000"/>
              </a:lnSpc>
              <a:spcBef>
                <a:spcPts val="235"/>
              </a:spcBef>
              <a:buChar char="•"/>
              <a:tabLst>
                <a:tab pos="349250" algn="l"/>
              </a:tabLst>
            </a:pPr>
            <a:r>
              <a:rPr sz="1100" dirty="0">
                <a:latin typeface="Calibri"/>
                <a:cs typeface="Calibri"/>
              </a:rPr>
              <a:t>Characterized</a:t>
            </a:r>
            <a:r>
              <a:rPr sz="1100" spc="254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by</a:t>
            </a:r>
            <a:r>
              <a:rPr sz="1100" spc="120" dirty="0"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C0C0C"/>
                </a:solidFill>
                <a:latin typeface="Calibri"/>
                <a:cs typeface="Calibri"/>
              </a:rPr>
              <a:t>low</a:t>
            </a:r>
            <a:r>
              <a:rPr sz="1100" spc="16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oxygen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Carryi</a:t>
            </a:r>
            <a:r>
              <a:rPr sz="1100" spc="-95" dirty="0"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42424"/>
                </a:solidFill>
                <a:latin typeface="Calibri"/>
                <a:cs typeface="Calibri"/>
              </a:rPr>
              <a:t>ng</a:t>
            </a:r>
            <a:r>
              <a:rPr sz="1100" spc="10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power</a:t>
            </a:r>
            <a:r>
              <a:rPr sz="1100" spc="215" dirty="0"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11111"/>
                </a:solidFill>
                <a:latin typeface="Calibri"/>
                <a:cs typeface="Calibri"/>
              </a:rPr>
              <a:t>and</a:t>
            </a:r>
            <a:r>
              <a:rPr sz="1100" spc="15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low</a:t>
            </a:r>
            <a:r>
              <a:rPr sz="1100" spc="110" dirty="0">
                <a:latin typeface="Calibri"/>
                <a:cs typeface="Calibri"/>
              </a:rPr>
              <a:t> </a:t>
            </a:r>
            <a:r>
              <a:rPr sz="1100" spc="70" dirty="0">
                <a:solidFill>
                  <a:srgbClr val="313131"/>
                </a:solidFill>
                <a:latin typeface="Calibri"/>
                <a:cs typeface="Calibri"/>
              </a:rPr>
              <a:t>Hb</a:t>
            </a:r>
            <a:r>
              <a:rPr sz="1100" spc="10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12121"/>
                </a:solidFill>
                <a:latin typeface="Calibri"/>
                <a:cs typeface="Calibri"/>
              </a:rPr>
              <a:t>content</a:t>
            </a:r>
            <a:r>
              <a:rPr sz="1100" spc="27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51515"/>
                </a:solidFill>
                <a:latin typeface="Calibri"/>
                <a:cs typeface="Calibri"/>
              </a:rPr>
              <a:t>in</a:t>
            </a:r>
            <a:r>
              <a:rPr sz="1100" spc="140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blood(</a:t>
            </a:r>
            <a:r>
              <a:rPr sz="1100" spc="225" dirty="0"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151515"/>
                </a:solidFill>
                <a:latin typeface="Calibri"/>
                <a:cs typeface="Calibri"/>
              </a:rPr>
              <a:t>5- 	</a:t>
            </a:r>
            <a:r>
              <a:rPr sz="1100" dirty="0">
                <a:solidFill>
                  <a:srgbClr val="0F0F0F"/>
                </a:solidFill>
                <a:latin typeface="Calibri"/>
                <a:cs typeface="Calibri"/>
              </a:rPr>
              <a:t>9gm/100ml</a:t>
            </a:r>
            <a:r>
              <a:rPr sz="1100" spc="36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hlood)</a:t>
            </a:r>
            <a:endParaRPr sz="1100">
              <a:latin typeface="Calibri"/>
              <a:cs typeface="Calibri"/>
            </a:endParaRPr>
          </a:p>
          <a:p>
            <a:pPr marL="351155" indent="-114935">
              <a:lnSpc>
                <a:spcPts val="1295"/>
              </a:lnSpc>
              <a:spcBef>
                <a:spcPts val="120"/>
              </a:spcBef>
              <a:buChar char="•"/>
              <a:tabLst>
                <a:tab pos="351155" algn="l"/>
              </a:tabLst>
            </a:pPr>
            <a:r>
              <a:rPr sz="1150" dirty="0">
                <a:latin typeface="Calibri"/>
                <a:cs typeface="Calibri"/>
              </a:rPr>
              <a:t>Women</a:t>
            </a:r>
            <a:r>
              <a:rPr sz="1150" spc="55" dirty="0"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2B2B2B"/>
                </a:solidFill>
                <a:latin typeface="Calibri"/>
                <a:cs typeface="Calibri"/>
              </a:rPr>
              <a:t>of</a:t>
            </a:r>
            <a:r>
              <a:rPr sz="1150" spc="9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Child</a:t>
            </a:r>
            <a:r>
              <a:rPr sz="1150" spc="-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bearing</a:t>
            </a:r>
            <a:r>
              <a:rPr sz="1150" spc="120" dirty="0">
                <a:latin typeface="Calibri"/>
                <a:cs typeface="Calibri"/>
              </a:rPr>
              <a:t> </a:t>
            </a:r>
            <a:r>
              <a:rPr sz="1150" spc="50" dirty="0">
                <a:solidFill>
                  <a:srgbClr val="1A1A1A"/>
                </a:solidFill>
                <a:latin typeface="Calibri"/>
                <a:cs typeface="Calibri"/>
              </a:rPr>
              <a:t>age- </a:t>
            </a:r>
            <a:r>
              <a:rPr sz="1150" dirty="0">
                <a:latin typeface="Calibri"/>
                <a:cs typeface="Calibri"/>
              </a:rPr>
              <a:t>CLINICAL</a:t>
            </a:r>
            <a:r>
              <a:rPr sz="1150" spc="10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FEATURE-</a:t>
            </a:r>
            <a:r>
              <a:rPr sz="1150" spc="15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Fatigue,</a:t>
            </a:r>
            <a:r>
              <a:rPr sz="1150" spc="120" dirty="0">
                <a:latin typeface="Calibri"/>
                <a:cs typeface="Calibri"/>
              </a:rPr>
              <a:t> </a:t>
            </a:r>
            <a:r>
              <a:rPr sz="1150" dirty="0">
                <a:solidFill>
                  <a:srgbClr val="0F0F0F"/>
                </a:solidFill>
                <a:latin typeface="Calibri"/>
                <a:cs typeface="Calibri"/>
              </a:rPr>
              <a:t>lassitude,</a:t>
            </a:r>
            <a:r>
              <a:rPr sz="1150" spc="11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latin typeface="Calibri"/>
                <a:cs typeface="Calibri"/>
              </a:rPr>
              <a:t>pallor</a:t>
            </a:r>
            <a:endParaRPr sz="1150">
              <a:latin typeface="Calibri"/>
              <a:cs typeface="Calibri"/>
            </a:endParaRPr>
          </a:p>
          <a:p>
            <a:pPr marL="348615">
              <a:lnSpc>
                <a:spcPts val="1415"/>
              </a:lnSpc>
            </a:pPr>
            <a:r>
              <a:rPr sz="1250" spc="-20" dirty="0">
                <a:latin typeface="Calibri"/>
                <a:cs typeface="Calibri"/>
              </a:rPr>
              <a:t>skin,</a:t>
            </a:r>
            <a:r>
              <a:rPr sz="1250" spc="-3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giddiness</a:t>
            </a:r>
            <a:endParaRPr sz="1250">
              <a:latin typeface="Calibri"/>
              <a:cs typeface="Calibri"/>
            </a:endParaRPr>
          </a:p>
          <a:p>
            <a:pPr marL="347345" marR="22860" indent="-113030">
              <a:lnSpc>
                <a:spcPts val="1280"/>
              </a:lnSpc>
              <a:spcBef>
                <a:spcPts val="265"/>
              </a:spcBef>
              <a:buChar char="•"/>
              <a:tabLst>
                <a:tab pos="347345" algn="l"/>
                <a:tab pos="349885" algn="l"/>
              </a:tabLst>
            </a:pPr>
            <a:r>
              <a:rPr sz="1250" dirty="0">
                <a:latin typeface="Calibri"/>
                <a:cs typeface="Calibri"/>
              </a:rPr>
              <a:t>	</a:t>
            </a:r>
            <a:r>
              <a:rPr sz="1250" spc="-55" dirty="0">
                <a:latin typeface="Calibri"/>
                <a:cs typeface="Calibri"/>
              </a:rPr>
              <a:t>Weaned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spc="-35" dirty="0">
                <a:latin typeface="Calibri"/>
                <a:cs typeface="Calibri"/>
              </a:rPr>
              <a:t>infant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spc="-10" dirty="0">
                <a:solidFill>
                  <a:srgbClr val="161616"/>
                </a:solidFill>
                <a:latin typeface="Calibri"/>
                <a:cs typeface="Calibri"/>
              </a:rPr>
              <a:t>and</a:t>
            </a:r>
            <a:r>
              <a:rPr sz="1250" spc="-4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250" spc="-55" dirty="0">
                <a:solidFill>
                  <a:srgbClr val="0E0E0E"/>
                </a:solidFill>
                <a:latin typeface="Calibri"/>
                <a:cs typeface="Calibri"/>
              </a:rPr>
              <a:t>young</a:t>
            </a:r>
            <a:r>
              <a:rPr sz="1250" spc="-1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1250" spc="-85" dirty="0">
                <a:latin typeface="Calibri"/>
                <a:cs typeface="Calibri"/>
              </a:rPr>
              <a:t>children—</a:t>
            </a:r>
            <a:r>
              <a:rPr sz="1250" spc="15" dirty="0">
                <a:latin typeface="Calibri"/>
                <a:cs typeface="Calibri"/>
              </a:rPr>
              <a:t> </a:t>
            </a:r>
            <a:r>
              <a:rPr sz="1250" spc="-40" dirty="0">
                <a:latin typeface="Calibri"/>
                <a:cs typeface="Calibri"/>
              </a:rPr>
              <a:t>there</a:t>
            </a:r>
            <a:r>
              <a:rPr sz="1250" spc="5" dirty="0"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313131"/>
                </a:solidFill>
                <a:latin typeface="Calibri"/>
                <a:cs typeface="Calibri"/>
              </a:rPr>
              <a:t>is</a:t>
            </a:r>
            <a:r>
              <a:rPr sz="1250" spc="-1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250" spc="-50" dirty="0">
                <a:latin typeface="Calibri"/>
                <a:cs typeface="Calibri"/>
              </a:rPr>
              <a:t>tendency</a:t>
            </a:r>
            <a:r>
              <a:rPr sz="1250" spc="-2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of</a:t>
            </a:r>
            <a:r>
              <a:rPr sz="1250" spc="-65" dirty="0">
                <a:latin typeface="Calibri"/>
                <a:cs typeface="Calibri"/>
              </a:rPr>
              <a:t> </a:t>
            </a:r>
            <a:r>
              <a:rPr sz="1250" spc="-35" dirty="0">
                <a:latin typeface="Calibri"/>
                <a:cs typeface="Calibri"/>
              </a:rPr>
              <a:t>children</a:t>
            </a:r>
            <a:r>
              <a:rPr sz="1250" spc="5" dirty="0">
                <a:latin typeface="Calibri"/>
                <a:cs typeface="Calibri"/>
              </a:rPr>
              <a:t> </a:t>
            </a:r>
            <a:r>
              <a:rPr sz="1250" spc="-35" dirty="0">
                <a:latin typeface="Calibri"/>
                <a:cs typeface="Calibri"/>
              </a:rPr>
              <a:t>below</a:t>
            </a:r>
            <a:r>
              <a:rPr sz="1250" spc="10" dirty="0"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31313"/>
                </a:solidFill>
                <a:latin typeface="Calibri"/>
                <a:cs typeface="Calibri"/>
              </a:rPr>
              <a:t>3</a:t>
            </a:r>
            <a:r>
              <a:rPr sz="1250" spc="-40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131313"/>
                </a:solidFill>
                <a:latin typeface="Calibri"/>
                <a:cs typeface="Calibri"/>
              </a:rPr>
              <a:t>to </a:t>
            </a:r>
            <a:r>
              <a:rPr sz="1250" spc="-10" dirty="0">
                <a:latin typeface="Calibri"/>
                <a:cs typeface="Calibri"/>
              </a:rPr>
              <a:t>eat</a:t>
            </a:r>
            <a:r>
              <a:rPr sz="1250" spc="-65" dirty="0">
                <a:latin typeface="Calibri"/>
                <a:cs typeface="Calibri"/>
              </a:rPr>
              <a:t> </a:t>
            </a:r>
            <a:r>
              <a:rPr sz="1250" spc="-25" dirty="0">
                <a:latin typeface="Calibri"/>
                <a:cs typeface="Calibri"/>
              </a:rPr>
              <a:t>mud</a:t>
            </a:r>
            <a:endParaRPr sz="1250">
              <a:latin typeface="Calibri"/>
              <a:cs typeface="Calibri"/>
            </a:endParaRPr>
          </a:p>
          <a:p>
            <a:pPr marL="353695" indent="-127000">
              <a:lnSpc>
                <a:spcPct val="100000"/>
              </a:lnSpc>
              <a:spcBef>
                <a:spcPts val="165"/>
              </a:spcBef>
              <a:buChar char="•"/>
              <a:tabLst>
                <a:tab pos="353695" algn="l"/>
              </a:tabLst>
            </a:pPr>
            <a:r>
              <a:rPr sz="1150" spc="-10" dirty="0">
                <a:latin typeface="Calibri"/>
                <a:cs typeface="Calibri"/>
              </a:rPr>
              <a:t>Treatment:</a:t>
            </a:r>
            <a:endParaRPr sz="1150">
              <a:latin typeface="Calibri"/>
              <a:cs typeface="Calibri"/>
            </a:endParaRPr>
          </a:p>
          <a:p>
            <a:pPr marL="351790" indent="-115570">
              <a:lnSpc>
                <a:spcPct val="100000"/>
              </a:lnSpc>
              <a:spcBef>
                <a:spcPts val="204"/>
              </a:spcBef>
              <a:buChar char="•"/>
              <a:tabLst>
                <a:tab pos="351790" algn="l"/>
              </a:tabLst>
            </a:pPr>
            <a:r>
              <a:rPr sz="1100" dirty="0">
                <a:latin typeface="Calibri"/>
                <a:cs typeface="Calibri"/>
              </a:rPr>
              <a:t>Anemic</a:t>
            </a:r>
            <a:r>
              <a:rPr sz="1100" spc="160" dirty="0"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31313"/>
                </a:solidFill>
                <a:latin typeface="Calibri"/>
                <a:cs typeface="Calibri"/>
              </a:rPr>
              <a:t>women:</a:t>
            </a:r>
            <a:r>
              <a:rPr sz="1100" spc="19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Ferrous</a:t>
            </a:r>
            <a:r>
              <a:rPr sz="1100" spc="1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tablet</a:t>
            </a:r>
            <a:r>
              <a:rPr sz="1100" spc="19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(0.2g</a:t>
            </a:r>
            <a:r>
              <a:rPr sz="1100" spc="229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x3</a:t>
            </a:r>
            <a:r>
              <a:rPr sz="1100" spc="280" dirty="0"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31313"/>
                </a:solidFill>
                <a:latin typeface="Calibri"/>
                <a:cs typeface="Calibri"/>
              </a:rPr>
              <a:t>times</a:t>
            </a:r>
            <a:r>
              <a:rPr sz="1100" spc="18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100" spc="55" dirty="0">
                <a:solidFill>
                  <a:srgbClr val="282828"/>
                </a:solidFill>
                <a:latin typeface="Calibri"/>
                <a:cs typeface="Calibri"/>
              </a:rPr>
              <a:t>a</a:t>
            </a:r>
            <a:r>
              <a:rPr sz="1100" spc="7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day</a:t>
            </a:r>
            <a:endParaRPr sz="1100">
              <a:latin typeface="Calibri"/>
              <a:cs typeface="Calibri"/>
            </a:endParaRPr>
          </a:p>
          <a:p>
            <a:pPr marL="347345" indent="-111125">
              <a:lnSpc>
                <a:spcPct val="100000"/>
              </a:lnSpc>
              <a:spcBef>
                <a:spcPts val="220"/>
              </a:spcBef>
              <a:buClr>
                <a:srgbClr val="000000"/>
              </a:buClr>
              <a:buChar char="•"/>
              <a:tabLst>
                <a:tab pos="347345" algn="l"/>
              </a:tabLst>
            </a:pPr>
            <a:r>
              <a:rPr sz="1100" dirty="0">
                <a:solidFill>
                  <a:srgbClr val="111111"/>
                </a:solidFill>
                <a:latin typeface="Calibri"/>
                <a:cs typeface="Calibri"/>
              </a:rPr>
              <a:t>Children</a:t>
            </a:r>
            <a:r>
              <a:rPr sz="1100" spc="26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below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</a:t>
            </a:r>
            <a:r>
              <a:rPr lang="en-IN" sz="1100" dirty="0">
                <a:latin typeface="Calibri"/>
                <a:cs typeface="Calibri"/>
              </a:rPr>
              <a:t>2</a:t>
            </a:r>
            <a:r>
              <a:rPr sz="1100" spc="2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months:</a:t>
            </a:r>
            <a:r>
              <a:rPr sz="1100" spc="235" dirty="0"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C0C0C"/>
                </a:solidFill>
                <a:latin typeface="Calibri"/>
                <a:cs typeface="Calibri"/>
              </a:rPr>
              <a:t>0.</a:t>
            </a:r>
            <a:r>
              <a:rPr sz="1100" spc="-6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lang="en-IN" sz="1100" spc="-65" dirty="0">
                <a:solidFill>
                  <a:srgbClr val="0C0C0C"/>
                </a:solidFill>
                <a:latin typeface="Calibri"/>
                <a:cs typeface="Calibri"/>
              </a:rPr>
              <a:t>2</a:t>
            </a:r>
            <a:r>
              <a:rPr sz="1100" dirty="0">
                <a:latin typeface="Calibri"/>
                <a:cs typeface="Calibri"/>
              </a:rPr>
              <a:t>g</a:t>
            </a:r>
            <a:r>
              <a:rPr sz="1100" spc="3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ferrous</a:t>
            </a:r>
            <a:r>
              <a:rPr sz="1100" spc="2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ammonium</a:t>
            </a:r>
            <a:r>
              <a:rPr sz="1100" spc="2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citrate+glycer</a:t>
            </a:r>
            <a:r>
              <a:rPr sz="1100" dirty="0">
                <a:solidFill>
                  <a:srgbClr val="242424"/>
                </a:solidFill>
                <a:latin typeface="Calibri"/>
                <a:cs typeface="Calibri"/>
              </a:rPr>
              <a:t>in</a:t>
            </a:r>
            <a:r>
              <a:rPr sz="1100" spc="17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x3times</a:t>
            </a:r>
            <a:endParaRPr sz="1100">
              <a:latin typeface="Calibri"/>
              <a:cs typeface="Calibri"/>
            </a:endParaRPr>
          </a:p>
          <a:p>
            <a:pPr marL="236856">
              <a:lnSpc>
                <a:spcPct val="100000"/>
              </a:lnSpc>
              <a:spcBef>
                <a:spcPts val="215"/>
              </a:spcBef>
              <a:tabLst>
                <a:tab pos="363220" algn="l"/>
                <a:tab pos="590550" algn="l"/>
              </a:tabLst>
            </a:pP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800" y="3098800"/>
            <a:ext cx="4318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8909" y="285353"/>
            <a:ext cx="701675" cy="3708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250" spc="-70" dirty="0">
                <a:solidFill>
                  <a:srgbClr val="0C548E"/>
                </a:solidFill>
              </a:rPr>
              <a:t>Iodine</a:t>
            </a:r>
            <a:endParaRPr sz="2250"/>
          </a:p>
        </p:txBody>
      </p:sp>
      <p:sp>
        <p:nvSpPr>
          <p:cNvPr id="3" name="object 3"/>
          <p:cNvSpPr txBox="1"/>
          <p:nvPr/>
        </p:nvSpPr>
        <p:spPr>
          <a:xfrm>
            <a:off x="454317" y="843391"/>
            <a:ext cx="4666615" cy="725805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5"/>
              </a:spcBef>
            </a:pPr>
            <a:r>
              <a:rPr sz="1400" dirty="0">
                <a:latin typeface="Calibri"/>
                <a:cs typeface="Calibri"/>
              </a:rPr>
              <a:t>°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Essential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trace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element</a:t>
            </a:r>
            <a:endParaRPr sz="1400">
              <a:latin typeface="Calibri"/>
              <a:cs typeface="Calibri"/>
            </a:endParaRPr>
          </a:p>
          <a:p>
            <a:pPr marL="121920" marR="5080" indent="-109855">
              <a:lnSpc>
                <a:spcPts val="1500"/>
              </a:lnSpc>
              <a:spcBef>
                <a:spcPts val="545"/>
              </a:spcBef>
            </a:pPr>
            <a:r>
              <a:rPr sz="1450" dirty="0">
                <a:latin typeface="Calibri"/>
                <a:cs typeface="Calibri"/>
              </a:rPr>
              <a:t>°</a:t>
            </a:r>
            <a:r>
              <a:rPr sz="1450" spc="-5" dirty="0">
                <a:latin typeface="Calibri"/>
                <a:cs typeface="Calibri"/>
              </a:rPr>
              <a:t> </a:t>
            </a:r>
            <a:r>
              <a:rPr sz="1450" spc="-30" dirty="0">
                <a:latin typeface="Calibri"/>
                <a:cs typeface="Calibri"/>
              </a:rPr>
              <a:t>The</a:t>
            </a:r>
            <a:r>
              <a:rPr sz="1450" spc="-40" dirty="0">
                <a:latin typeface="Calibri"/>
                <a:cs typeface="Calibri"/>
              </a:rPr>
              <a:t> </a:t>
            </a:r>
            <a:r>
              <a:rPr sz="1450" spc="-45" dirty="0">
                <a:latin typeface="Calibri"/>
                <a:cs typeface="Calibri"/>
              </a:rPr>
              <a:t>adult</a:t>
            </a:r>
            <a:r>
              <a:rPr sz="1450" spc="-35" dirty="0">
                <a:latin typeface="Calibri"/>
                <a:cs typeface="Calibri"/>
              </a:rPr>
              <a:t> </a:t>
            </a:r>
            <a:r>
              <a:rPr sz="1450" spc="-25" dirty="0">
                <a:latin typeface="Calibri"/>
                <a:cs typeface="Calibri"/>
              </a:rPr>
              <a:t>human</a:t>
            </a:r>
            <a:r>
              <a:rPr sz="1450" spc="-20" dirty="0">
                <a:latin typeface="Calibri"/>
                <a:cs typeface="Calibri"/>
              </a:rPr>
              <a:t> </a:t>
            </a:r>
            <a:r>
              <a:rPr sz="1450" spc="-45" dirty="0">
                <a:latin typeface="Calibri"/>
                <a:cs typeface="Calibri"/>
              </a:rPr>
              <a:t>body</a:t>
            </a:r>
            <a:r>
              <a:rPr sz="1450" spc="-35" dirty="0">
                <a:latin typeface="Calibri"/>
                <a:cs typeface="Calibri"/>
              </a:rPr>
              <a:t> contains</a:t>
            </a:r>
            <a:r>
              <a:rPr sz="1450" spc="10" dirty="0">
                <a:latin typeface="Calibri"/>
                <a:cs typeface="Calibri"/>
              </a:rPr>
              <a:t> </a:t>
            </a:r>
            <a:r>
              <a:rPr sz="1450" spc="-30" dirty="0">
                <a:latin typeface="Calibri"/>
                <a:cs typeface="Calibri"/>
              </a:rPr>
              <a:t>about</a:t>
            </a:r>
            <a:r>
              <a:rPr sz="1450" spc="5" dirty="0">
                <a:latin typeface="Calibri"/>
                <a:cs typeface="Calibri"/>
              </a:rPr>
              <a:t> </a:t>
            </a:r>
            <a:r>
              <a:rPr sz="1450" spc="-50" dirty="0">
                <a:solidFill>
                  <a:srgbClr val="0F0F0F"/>
                </a:solidFill>
                <a:latin typeface="Calibri"/>
                <a:cs typeface="Calibri"/>
              </a:rPr>
              <a:t>50</a:t>
            </a:r>
            <a:r>
              <a:rPr sz="1450" spc="-3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mg</a:t>
            </a:r>
            <a:r>
              <a:rPr sz="1450" spc="-25" dirty="0"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of</a:t>
            </a:r>
            <a:r>
              <a:rPr sz="1450" spc="-15" dirty="0">
                <a:latin typeface="Calibri"/>
                <a:cs typeface="Calibri"/>
              </a:rPr>
              <a:t> </a:t>
            </a:r>
            <a:r>
              <a:rPr sz="1450" spc="-35" dirty="0">
                <a:latin typeface="Calibri"/>
                <a:cs typeface="Calibri"/>
              </a:rPr>
              <a:t>iodine,</a:t>
            </a:r>
            <a:r>
              <a:rPr sz="1450" spc="-30" dirty="0"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and</a:t>
            </a:r>
            <a:r>
              <a:rPr sz="1450" spc="-35" dirty="0">
                <a:latin typeface="Calibri"/>
                <a:cs typeface="Calibri"/>
              </a:rPr>
              <a:t> </a:t>
            </a:r>
            <a:r>
              <a:rPr sz="1450" spc="-25" dirty="0">
                <a:solidFill>
                  <a:srgbClr val="161616"/>
                </a:solidFill>
                <a:latin typeface="Calibri"/>
                <a:cs typeface="Calibri"/>
              </a:rPr>
              <a:t>the </a:t>
            </a:r>
            <a:r>
              <a:rPr sz="1450" spc="-25" dirty="0">
                <a:latin typeface="Calibri"/>
                <a:cs typeface="Calibri"/>
              </a:rPr>
              <a:t>blood</a:t>
            </a:r>
            <a:r>
              <a:rPr sz="1450" spc="-35" dirty="0">
                <a:latin typeface="Calibri"/>
                <a:cs typeface="Calibri"/>
              </a:rPr>
              <a:t> </a:t>
            </a:r>
            <a:r>
              <a:rPr sz="1450" spc="-30" dirty="0">
                <a:latin typeface="Calibri"/>
                <a:cs typeface="Calibri"/>
              </a:rPr>
              <a:t>level</a:t>
            </a:r>
            <a:r>
              <a:rPr sz="1450" spc="-40" dirty="0"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is</a:t>
            </a:r>
            <a:r>
              <a:rPr sz="1450" spc="-60" dirty="0">
                <a:latin typeface="Calibri"/>
                <a:cs typeface="Calibri"/>
              </a:rPr>
              <a:t> </a:t>
            </a:r>
            <a:r>
              <a:rPr sz="1450" spc="-30" dirty="0">
                <a:latin typeface="Calibri"/>
                <a:cs typeface="Calibri"/>
              </a:rPr>
              <a:t>about</a:t>
            </a:r>
            <a:r>
              <a:rPr sz="1450" spc="-5" dirty="0">
                <a:latin typeface="Calibri"/>
                <a:cs typeface="Calibri"/>
              </a:rPr>
              <a:t> </a:t>
            </a:r>
            <a:r>
              <a:rPr sz="1450" spc="-90" dirty="0">
                <a:latin typeface="Calibri"/>
                <a:cs typeface="Calibri"/>
              </a:rPr>
              <a:t>8-</a:t>
            </a:r>
            <a:r>
              <a:rPr sz="1450" spc="-10" dirty="0">
                <a:latin typeface="Calibri"/>
                <a:cs typeface="Calibri"/>
              </a:rPr>
              <a:t>12mg/d</a:t>
            </a:r>
            <a:r>
              <a:rPr lang="en-IN" sz="1450" spc="-10" dirty="0">
                <a:latin typeface="Calibri"/>
                <a:cs typeface="Calibri"/>
              </a:rPr>
              <a:t>l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400" y="3086100"/>
            <a:ext cx="4572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25"/>
              </a:spcBef>
            </a:pPr>
            <a:r>
              <a:rPr spc="-35" dirty="0">
                <a:solidFill>
                  <a:srgbClr val="0C548E"/>
                </a:solidFill>
              </a:rPr>
              <a:t>Iodine-</a:t>
            </a:r>
            <a:r>
              <a:rPr spc="-65" dirty="0">
                <a:solidFill>
                  <a:srgbClr val="0C548E"/>
                </a:solidFill>
              </a:rPr>
              <a:t> </a:t>
            </a:r>
            <a:r>
              <a:rPr spc="-45" dirty="0">
                <a:solidFill>
                  <a:srgbClr val="0067B1"/>
                </a:solidFill>
              </a:rPr>
              <a:t>Absorption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43704" y="828939"/>
            <a:ext cx="5148580" cy="97975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40335" indent="-118745">
              <a:lnSpc>
                <a:spcPct val="100000"/>
              </a:lnSpc>
              <a:spcBef>
                <a:spcPts val="440"/>
              </a:spcBef>
              <a:buChar char="•"/>
              <a:tabLst>
                <a:tab pos="140335" algn="l"/>
              </a:tabLst>
            </a:pPr>
            <a:r>
              <a:rPr sz="1400" spc="-55" dirty="0"/>
              <a:t>Takes</a:t>
            </a:r>
            <a:r>
              <a:rPr sz="1400" spc="5" dirty="0"/>
              <a:t> </a:t>
            </a:r>
            <a:r>
              <a:rPr sz="1400" dirty="0"/>
              <a:t>place</a:t>
            </a:r>
            <a:r>
              <a:rPr sz="1400" spc="-10" dirty="0"/>
              <a:t> </a:t>
            </a:r>
            <a:r>
              <a:rPr sz="1400" dirty="0"/>
              <a:t>in</a:t>
            </a:r>
            <a:r>
              <a:rPr sz="1400" spc="-80" dirty="0"/>
              <a:t> </a:t>
            </a:r>
            <a:r>
              <a:rPr sz="1400" spc="-10" dirty="0"/>
              <a:t>intestine</a:t>
            </a:r>
            <a:endParaRPr sz="1400"/>
          </a:p>
          <a:p>
            <a:pPr marL="133985" indent="-112395">
              <a:lnSpc>
                <a:spcPts val="1565"/>
              </a:lnSpc>
              <a:spcBef>
                <a:spcPts val="345"/>
              </a:spcBef>
              <a:buChar char="•"/>
              <a:tabLst>
                <a:tab pos="133985" algn="l"/>
              </a:tabLst>
            </a:pPr>
            <a:r>
              <a:rPr sz="1400" spc="-10" dirty="0"/>
              <a:t>Goitrogens </a:t>
            </a:r>
            <a:r>
              <a:rPr sz="1400" spc="-25" dirty="0"/>
              <a:t>interfere</a:t>
            </a:r>
            <a:r>
              <a:rPr sz="1400" spc="25" dirty="0"/>
              <a:t> </a:t>
            </a:r>
            <a:r>
              <a:rPr sz="1400" dirty="0"/>
              <a:t>its</a:t>
            </a:r>
            <a:r>
              <a:rPr sz="1400" spc="-75" dirty="0"/>
              <a:t> </a:t>
            </a:r>
            <a:r>
              <a:rPr sz="1400" spc="-10" dirty="0"/>
              <a:t>absorption</a:t>
            </a:r>
            <a:r>
              <a:rPr sz="1400" spc="60" dirty="0"/>
              <a:t> </a:t>
            </a:r>
            <a:r>
              <a:rPr sz="1400" dirty="0"/>
              <a:t>and </a:t>
            </a:r>
            <a:r>
              <a:rPr sz="1400" spc="-20" dirty="0"/>
              <a:t>utilization</a:t>
            </a:r>
            <a:r>
              <a:rPr sz="1400" spc="20" dirty="0"/>
              <a:t> </a:t>
            </a:r>
            <a:r>
              <a:rPr sz="1400" dirty="0"/>
              <a:t>of</a:t>
            </a:r>
            <a:r>
              <a:rPr sz="1400" spc="-55" dirty="0"/>
              <a:t> </a:t>
            </a:r>
            <a:r>
              <a:rPr sz="1400" spc="-95" dirty="0"/>
              <a:t>Iodine—</a:t>
            </a:r>
            <a:r>
              <a:rPr sz="1400" spc="-15" dirty="0"/>
              <a:t> </a:t>
            </a:r>
            <a:r>
              <a:rPr sz="1400" dirty="0"/>
              <a:t>may</a:t>
            </a:r>
            <a:r>
              <a:rPr sz="1400" spc="5" dirty="0"/>
              <a:t> </a:t>
            </a:r>
            <a:r>
              <a:rPr sz="1400" spc="-20" dirty="0"/>
              <a:t>lead</a:t>
            </a:r>
            <a:endParaRPr sz="1400"/>
          </a:p>
          <a:p>
            <a:pPr marL="139700">
              <a:lnSpc>
                <a:spcPts val="1625"/>
              </a:lnSpc>
            </a:pPr>
            <a:r>
              <a:rPr sz="1450" spc="-40" dirty="0"/>
              <a:t>to</a:t>
            </a:r>
            <a:r>
              <a:rPr sz="1450" spc="-50" dirty="0"/>
              <a:t> </a:t>
            </a:r>
            <a:r>
              <a:rPr sz="1450" spc="-10" dirty="0"/>
              <a:t>Goiter</a:t>
            </a:r>
            <a:endParaRPr sz="1350"/>
          </a:p>
          <a:p>
            <a:pPr marL="133350" indent="-111760">
              <a:lnSpc>
                <a:spcPct val="100000"/>
              </a:lnSpc>
              <a:spcBef>
                <a:spcPts val="405"/>
              </a:spcBef>
              <a:buChar char="•"/>
              <a:tabLst>
                <a:tab pos="133350" algn="l"/>
              </a:tabLst>
            </a:pPr>
            <a:r>
              <a:rPr sz="1350" dirty="0"/>
              <a:t>Goitrogens</a:t>
            </a:r>
            <a:r>
              <a:rPr sz="1350" spc="55" dirty="0"/>
              <a:t> </a:t>
            </a:r>
            <a:r>
              <a:rPr sz="1350" dirty="0"/>
              <a:t>containing</a:t>
            </a:r>
            <a:r>
              <a:rPr sz="1350" spc="90" dirty="0"/>
              <a:t> </a:t>
            </a:r>
            <a:r>
              <a:rPr sz="1350" dirty="0"/>
              <a:t>foods</a:t>
            </a:r>
            <a:r>
              <a:rPr sz="1350" spc="65" dirty="0"/>
              <a:t> </a:t>
            </a:r>
            <a:r>
              <a:rPr sz="1350" dirty="0">
                <a:solidFill>
                  <a:srgbClr val="111111"/>
                </a:solidFill>
              </a:rPr>
              <a:t>are-</a:t>
            </a:r>
            <a:r>
              <a:rPr sz="1350" spc="-40" dirty="0">
                <a:solidFill>
                  <a:srgbClr val="111111"/>
                </a:solidFill>
              </a:rPr>
              <a:t> </a:t>
            </a:r>
            <a:r>
              <a:rPr sz="1350" dirty="0"/>
              <a:t>Cabbage,</a:t>
            </a:r>
            <a:r>
              <a:rPr sz="1350" spc="70" dirty="0"/>
              <a:t> </a:t>
            </a:r>
            <a:r>
              <a:rPr sz="1350" dirty="0"/>
              <a:t>Cauliflower,</a:t>
            </a:r>
            <a:r>
              <a:rPr sz="1350" spc="95" dirty="0"/>
              <a:t> </a:t>
            </a:r>
            <a:r>
              <a:rPr sz="1350" spc="-20" dirty="0"/>
              <a:t>Yarn</a:t>
            </a:r>
            <a:endParaRPr sz="13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300" y="3098800"/>
            <a:ext cx="5207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25"/>
              </a:spcBef>
            </a:pPr>
            <a:r>
              <a:rPr spc="-40" dirty="0">
                <a:solidFill>
                  <a:srgbClr val="0C548E"/>
                </a:solidFill>
              </a:rPr>
              <a:t>Iodine-</a:t>
            </a:r>
            <a:r>
              <a:rPr spc="-20" dirty="0">
                <a:solidFill>
                  <a:srgbClr val="0C548E"/>
                </a:solidFill>
              </a:rPr>
              <a:t>Function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655" y="851155"/>
            <a:ext cx="4958715" cy="99314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35255" indent="-122555">
              <a:lnSpc>
                <a:spcPct val="100000"/>
              </a:lnSpc>
              <a:spcBef>
                <a:spcPts val="434"/>
              </a:spcBef>
              <a:buChar char="•"/>
              <a:tabLst>
                <a:tab pos="135255" algn="l"/>
              </a:tabLst>
            </a:pPr>
            <a:r>
              <a:rPr sz="1300" dirty="0">
                <a:latin typeface="Calibri"/>
                <a:cs typeface="Calibri"/>
              </a:rPr>
              <a:t>Constituent</a:t>
            </a:r>
            <a:r>
              <a:rPr sz="1300" spc="26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17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T3</a:t>
            </a:r>
            <a:r>
              <a:rPr sz="1300" spc="9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140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T4—</a:t>
            </a:r>
            <a:endParaRPr sz="1300">
              <a:latin typeface="Calibri"/>
              <a:cs typeface="Calibri"/>
            </a:endParaRPr>
          </a:p>
          <a:p>
            <a:pPr marL="358775" lvl="1" indent="-124460">
              <a:lnSpc>
                <a:spcPct val="100000"/>
              </a:lnSpc>
              <a:spcBef>
                <a:spcPts val="250"/>
              </a:spcBef>
              <a:buChar char="•"/>
              <a:tabLst>
                <a:tab pos="358775" algn="l"/>
              </a:tabLst>
            </a:pPr>
            <a:r>
              <a:rPr sz="1100" dirty="0">
                <a:latin typeface="Calibri"/>
                <a:cs typeface="Calibri"/>
              </a:rPr>
              <a:t>Required</a:t>
            </a:r>
            <a:r>
              <a:rPr sz="1100" spc="2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150" dirty="0"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C0C0C"/>
                </a:solidFill>
                <a:latin typeface="Calibri"/>
                <a:cs typeface="Calibri"/>
              </a:rPr>
              <a:t>growth</a:t>
            </a:r>
            <a:r>
              <a:rPr sz="1100" spc="21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282828"/>
                </a:solidFill>
                <a:latin typeface="Calibri"/>
                <a:cs typeface="Calibri"/>
              </a:rPr>
              <a:t>and</a:t>
            </a:r>
            <a:r>
              <a:rPr sz="1100" spc="13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development</a:t>
            </a:r>
            <a:endParaRPr sz="1100">
              <a:latin typeface="Calibri"/>
              <a:cs typeface="Calibri"/>
            </a:endParaRPr>
          </a:p>
          <a:p>
            <a:pPr marL="354965" marR="5080" lvl="1" indent="-113030">
              <a:lnSpc>
                <a:spcPct val="91800"/>
              </a:lnSpc>
              <a:spcBef>
                <a:spcPts val="235"/>
              </a:spcBef>
              <a:buChar char="•"/>
              <a:tabLst>
                <a:tab pos="354965" algn="l"/>
              </a:tabLst>
            </a:pPr>
            <a:r>
              <a:rPr sz="1200" spc="-10" dirty="0">
                <a:latin typeface="Calibri"/>
                <a:cs typeface="Calibri"/>
              </a:rPr>
              <a:t>Stimulate</a:t>
            </a:r>
            <a:r>
              <a:rPr sz="1200" spc="5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enzyme</a:t>
            </a:r>
            <a:r>
              <a:rPr sz="1200" spc="55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synthesis,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oxygen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consumption</a:t>
            </a:r>
            <a:r>
              <a:rPr sz="1200" dirty="0">
                <a:latin typeface="Calibri"/>
                <a:cs typeface="Calibri"/>
              </a:rPr>
              <a:t> and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basal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metabolic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rate </a:t>
            </a:r>
            <a:r>
              <a:rPr sz="1150" dirty="0">
                <a:solidFill>
                  <a:srgbClr val="111111"/>
                </a:solidFill>
                <a:latin typeface="Calibri"/>
                <a:cs typeface="Calibri"/>
              </a:rPr>
              <a:t>and,</a:t>
            </a:r>
            <a:r>
              <a:rPr sz="1150" spc="4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thereby,</a:t>
            </a:r>
            <a:r>
              <a:rPr sz="1150" spc="3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affect</a:t>
            </a:r>
            <a:r>
              <a:rPr sz="1150" spc="2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the</a:t>
            </a:r>
            <a:r>
              <a:rPr sz="1150" spc="-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heart</a:t>
            </a:r>
            <a:r>
              <a:rPr sz="1150" spc="10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rate,</a:t>
            </a:r>
            <a:r>
              <a:rPr sz="1150" spc="6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respiratory</a:t>
            </a:r>
            <a:r>
              <a:rPr sz="1150" spc="90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rate,</a:t>
            </a:r>
            <a:r>
              <a:rPr sz="1150" spc="45" dirty="0">
                <a:latin typeface="Calibri"/>
                <a:cs typeface="Calibri"/>
              </a:rPr>
              <a:t> </a:t>
            </a:r>
            <a:r>
              <a:rPr sz="1150" dirty="0">
                <a:latin typeface="Calibri"/>
                <a:cs typeface="Calibri"/>
              </a:rPr>
              <a:t>mobilization,</a:t>
            </a:r>
            <a:r>
              <a:rPr sz="1150" spc="110" dirty="0">
                <a:latin typeface="Calibri"/>
                <a:cs typeface="Calibri"/>
              </a:rPr>
              <a:t> </a:t>
            </a:r>
            <a:r>
              <a:rPr sz="1150" spc="-25" dirty="0">
                <a:latin typeface="Calibri"/>
                <a:cs typeface="Calibri"/>
              </a:rPr>
              <a:t>and </a:t>
            </a:r>
            <a:r>
              <a:rPr sz="1200" spc="-45" dirty="0">
                <a:latin typeface="Calibri"/>
                <a:cs typeface="Calibri"/>
              </a:rPr>
              <a:t>metabo|ism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2A2A2A"/>
                </a:solidFill>
                <a:latin typeface="Calibri"/>
                <a:cs typeface="Calibri"/>
              </a:rPr>
              <a:t>of </a:t>
            </a:r>
            <a:r>
              <a:rPr sz="1200" spc="-35" dirty="0">
                <a:latin typeface="Calibri"/>
                <a:cs typeface="Calibri"/>
              </a:rPr>
              <a:t>carbohyd</a:t>
            </a:r>
            <a:r>
              <a:rPr sz="1200" spc="-110" dirty="0">
                <a:latin typeface="Calibri"/>
                <a:cs typeface="Calibri"/>
              </a:rPr>
              <a:t> </a:t>
            </a:r>
            <a:r>
              <a:rPr sz="1200" spc="-25" dirty="0">
                <a:latin typeface="Calibri"/>
                <a:cs typeface="Calibri"/>
              </a:rPr>
              <a:t>rates,</a:t>
            </a:r>
            <a:r>
              <a:rPr sz="1200" spc="60" dirty="0"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0F0F0F"/>
                </a:solidFill>
                <a:latin typeface="Calibri"/>
                <a:cs typeface="Calibri"/>
              </a:rPr>
              <a:t>lipogenesis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" y="3136900"/>
            <a:ext cx="431800" cy="2794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250" y="1257300"/>
            <a:ext cx="5210175" cy="10572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5"/>
              </a:spcBef>
            </a:pPr>
            <a:r>
              <a:rPr sz="2150" spc="-95" dirty="0">
                <a:solidFill>
                  <a:srgbClr val="155782"/>
                </a:solidFill>
                <a:latin typeface="Arial MT"/>
                <a:cs typeface="Arial MT"/>
              </a:rPr>
              <a:t>Iodine-</a:t>
            </a:r>
            <a:r>
              <a:rPr sz="2150" spc="-90" dirty="0">
                <a:solidFill>
                  <a:srgbClr val="155782"/>
                </a:solidFill>
                <a:latin typeface="Arial MT"/>
                <a:cs typeface="Arial MT"/>
              </a:rPr>
              <a:t>Requirement</a:t>
            </a:r>
            <a:endParaRPr sz="21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08433" y="1300956"/>
            <a:ext cx="107950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solidFill>
                  <a:srgbClr val="9CDBFF"/>
                </a:solidFill>
                <a:latin typeface="Arial MT"/>
                <a:cs typeface="Arial MT"/>
              </a:rPr>
              <a:t>..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5544" y="1286668"/>
            <a:ext cx="1988185" cy="103060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  <a:tabLst>
                <a:tab pos="424815" algn="l"/>
                <a:tab pos="1224915" algn="l"/>
              </a:tabLst>
            </a:pPr>
            <a:r>
              <a:rPr sz="1100" spc="-25" dirty="0">
                <a:solidFill>
                  <a:srgbClr val="95DDFD"/>
                </a:solidFill>
                <a:latin typeface="Arial MT"/>
                <a:cs typeface="Arial MT"/>
              </a:rPr>
              <a:t>'.</a:t>
            </a:r>
            <a:r>
              <a:rPr sz="1100" dirty="0">
                <a:solidFill>
                  <a:srgbClr val="95DDFD"/>
                </a:solidFill>
                <a:latin typeface="Arial MT"/>
                <a:cs typeface="Arial MT"/>
              </a:rPr>
              <a:t>	</a:t>
            </a:r>
            <a:r>
              <a:rPr sz="1100" spc="-114" dirty="0">
                <a:solidFill>
                  <a:srgbClr val="9CDBFD"/>
                </a:solidFill>
                <a:latin typeface="Arial MT"/>
                <a:cs typeface="Arial MT"/>
              </a:rPr>
              <a:t>.....</a:t>
            </a:r>
            <a:r>
              <a:rPr sz="1100" spc="-80" dirty="0">
                <a:solidFill>
                  <a:srgbClr val="9CDBFD"/>
                </a:solidFill>
                <a:latin typeface="Arial MT"/>
                <a:cs typeface="Arial MT"/>
              </a:rPr>
              <a:t> </a:t>
            </a:r>
            <a:r>
              <a:rPr sz="1100" spc="-165" dirty="0">
                <a:solidFill>
                  <a:srgbClr val="9CDBFF"/>
                </a:solidFill>
                <a:latin typeface="Arial MT"/>
                <a:cs typeface="Arial MT"/>
              </a:rPr>
              <a:t>.......</a:t>
            </a:r>
            <a:r>
              <a:rPr sz="1100" spc="140" dirty="0">
                <a:solidFill>
                  <a:srgbClr val="9CDBFF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9EDAFD"/>
                </a:solidFill>
                <a:latin typeface="Arial MT"/>
                <a:cs typeface="Arial MT"/>
              </a:rPr>
              <a:t>.</a:t>
            </a:r>
            <a:r>
              <a:rPr sz="1100" dirty="0">
                <a:solidFill>
                  <a:srgbClr val="9EDAFD"/>
                </a:solidFill>
                <a:latin typeface="Arial MT"/>
                <a:cs typeface="Arial MT"/>
              </a:rPr>
              <a:t>	</a:t>
            </a:r>
            <a:r>
              <a:rPr sz="1100" spc="-20" dirty="0">
                <a:solidFill>
                  <a:srgbClr val="9CDAFF"/>
                </a:solidFill>
                <a:latin typeface="Arial MT"/>
                <a:cs typeface="Arial MT"/>
              </a:rPr>
              <a:t>....</a:t>
            </a:r>
            <a:endParaRPr sz="1100">
              <a:latin typeface="Arial MT"/>
              <a:cs typeface="Arial MT"/>
            </a:endParaRPr>
          </a:p>
          <a:p>
            <a:pPr marL="36195">
              <a:lnSpc>
                <a:spcPct val="100000"/>
              </a:lnSpc>
              <a:spcBef>
                <a:spcPts val="105"/>
              </a:spcBef>
            </a:pPr>
            <a:r>
              <a:rPr sz="1100" spc="-65" dirty="0">
                <a:solidFill>
                  <a:srgbClr val="383838"/>
                </a:solidFill>
                <a:latin typeface="Arial MT"/>
                <a:cs typeface="Arial MT"/>
              </a:rPr>
              <a:t>Preschool</a:t>
            </a:r>
            <a:r>
              <a:rPr sz="1100" spc="-3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4D4D4D"/>
                </a:solidFill>
                <a:latin typeface="Arial MT"/>
                <a:cs typeface="Arial MT"/>
              </a:rPr>
              <a:t>children</a:t>
            </a:r>
            <a:r>
              <a:rPr sz="1100" spc="1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1100" spc="-35" dirty="0">
                <a:solidFill>
                  <a:srgbClr val="606060"/>
                </a:solidFill>
                <a:latin typeface="Arial MT"/>
                <a:cs typeface="Arial MT"/>
              </a:rPr>
              <a:t>(0</a:t>
            </a:r>
            <a:r>
              <a:rPr sz="1100" spc="-65" dirty="0">
                <a:solidFill>
                  <a:srgbClr val="606060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696969"/>
                </a:solidFill>
                <a:latin typeface="Arial MT"/>
                <a:cs typeface="Arial MT"/>
              </a:rPr>
              <a:t>-</a:t>
            </a:r>
            <a:r>
              <a:rPr sz="1100" spc="165" dirty="0">
                <a:solidFill>
                  <a:srgbClr val="696969"/>
                </a:solidFill>
                <a:latin typeface="Arial MT"/>
                <a:cs typeface="Arial MT"/>
              </a:rPr>
              <a:t> </a:t>
            </a:r>
            <a:r>
              <a:rPr sz="1100" spc="-60" dirty="0">
                <a:solidFill>
                  <a:srgbClr val="595959"/>
                </a:solidFill>
                <a:latin typeface="Arial MT"/>
                <a:cs typeface="Arial MT"/>
              </a:rPr>
              <a:t>59</a:t>
            </a:r>
            <a:r>
              <a:rPr sz="11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100" spc="-45" dirty="0">
                <a:solidFill>
                  <a:srgbClr val="444444"/>
                </a:solidFill>
                <a:latin typeface="Arial MT"/>
                <a:cs typeface="Arial MT"/>
              </a:rPr>
              <a:t>months)</a:t>
            </a:r>
            <a:endParaRPr sz="1100">
              <a:latin typeface="Arial MT"/>
              <a:cs typeface="Arial MT"/>
            </a:endParaRPr>
          </a:p>
          <a:p>
            <a:pPr marL="41275">
              <a:lnSpc>
                <a:spcPct val="100000"/>
              </a:lnSpc>
              <a:spcBef>
                <a:spcPts val="380"/>
              </a:spcBef>
            </a:pPr>
            <a:r>
              <a:rPr sz="1050" dirty="0">
                <a:solidFill>
                  <a:srgbClr val="3F3F3F"/>
                </a:solidFill>
                <a:latin typeface="Arial MT"/>
                <a:cs typeface="Arial MT"/>
              </a:rPr>
              <a:t>Sckod</a:t>
            </a:r>
            <a:r>
              <a:rPr sz="1050" spc="2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050" spc="-40" dirty="0">
                <a:solidFill>
                  <a:srgbClr val="3D3D3D"/>
                </a:solidFill>
                <a:latin typeface="Arial MT"/>
                <a:cs typeface="Arial MT"/>
              </a:rPr>
              <a:t>children</a:t>
            </a:r>
            <a:r>
              <a:rPr sz="1050" spc="4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464646"/>
                </a:solidFill>
                <a:latin typeface="Arial MT"/>
                <a:cs typeface="Arial MT"/>
              </a:rPr>
              <a:t>(6</a:t>
            </a:r>
            <a:r>
              <a:rPr sz="1050" spc="-1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B8B8B8"/>
                </a:solidFill>
                <a:latin typeface="Arial MT"/>
                <a:cs typeface="Arial MT"/>
              </a:rPr>
              <a:t>-</a:t>
            </a:r>
            <a:r>
              <a:rPr sz="1050" spc="254" dirty="0">
                <a:solidFill>
                  <a:srgbClr val="B8B8B8"/>
                </a:solidFill>
                <a:latin typeface="Arial MT"/>
                <a:cs typeface="Arial MT"/>
              </a:rPr>
              <a:t> </a:t>
            </a:r>
            <a:r>
              <a:rPr sz="1050" spc="-45" dirty="0">
                <a:solidFill>
                  <a:srgbClr val="212121"/>
                </a:solidFill>
                <a:latin typeface="Arial MT"/>
                <a:cs typeface="Arial MT"/>
              </a:rPr>
              <a:t>12</a:t>
            </a:r>
            <a:r>
              <a:rPr sz="1050" spc="-35" dirty="0">
                <a:solidFill>
                  <a:srgbClr val="212121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525252"/>
                </a:solidFill>
                <a:latin typeface="Arial MT"/>
                <a:cs typeface="Arial MT"/>
              </a:rPr>
              <a:t>years)</a:t>
            </a:r>
            <a:endParaRPr sz="1050">
              <a:latin typeface="Arial MT"/>
              <a:cs typeface="Arial MT"/>
            </a:endParaRPr>
          </a:p>
          <a:p>
            <a:pPr marL="46990">
              <a:lnSpc>
                <a:spcPct val="100000"/>
              </a:lnSpc>
              <a:spcBef>
                <a:spcPts val="490"/>
              </a:spcBef>
            </a:pPr>
            <a:r>
              <a:rPr sz="950" dirty="0">
                <a:solidFill>
                  <a:srgbClr val="545454"/>
                </a:solidFill>
                <a:latin typeface="Arial MT"/>
                <a:cs typeface="Arial MT"/>
              </a:rPr>
              <a:t>Adull6</a:t>
            </a:r>
            <a:r>
              <a:rPr sz="950" spc="110" dirty="0">
                <a:solidFill>
                  <a:srgbClr val="545454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181818"/>
                </a:solidFill>
                <a:latin typeface="Arial MT"/>
                <a:cs typeface="Arial MT"/>
              </a:rPr>
              <a:t>(s12</a:t>
            </a:r>
            <a:r>
              <a:rPr sz="950" spc="120" dirty="0">
                <a:solidFill>
                  <a:srgbClr val="181818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2A2A2A"/>
                </a:solidFill>
                <a:latin typeface="Arial MT"/>
                <a:cs typeface="Arial MT"/>
              </a:rPr>
              <a:t>yeer6)</a:t>
            </a:r>
            <a:endParaRPr sz="950">
              <a:latin typeface="Arial MT"/>
              <a:cs typeface="Arial MT"/>
            </a:endParaRPr>
          </a:p>
          <a:p>
            <a:pPr marL="36195">
              <a:lnSpc>
                <a:spcPct val="100000"/>
              </a:lnSpc>
              <a:spcBef>
                <a:spcPts val="470"/>
              </a:spcBef>
            </a:pPr>
            <a:r>
              <a:rPr sz="1100" spc="-65" dirty="0">
                <a:solidFill>
                  <a:srgbClr val="3A3A3A"/>
                </a:solidFill>
                <a:latin typeface="Arial MT"/>
                <a:cs typeface="Arial MT"/>
              </a:rPr>
              <a:t>Pregnency</a:t>
            </a:r>
            <a:r>
              <a:rPr sz="1100" dirty="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4F4F4F"/>
                </a:solidFill>
                <a:latin typeface="Arial MT"/>
                <a:cs typeface="Arial MT"/>
              </a:rPr>
              <a:t>and</a:t>
            </a:r>
            <a:r>
              <a:rPr sz="1100" spc="-140" dirty="0">
                <a:solidFill>
                  <a:srgbClr val="4F4F4F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525252"/>
                </a:solidFill>
                <a:latin typeface="Arial MT"/>
                <a:cs typeface="Arial MT"/>
              </a:rPr>
              <a:t>IgcteLion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75242" y="1436602"/>
            <a:ext cx="509270" cy="875665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509"/>
              </a:spcBef>
            </a:pPr>
            <a:r>
              <a:rPr sz="1000" dirty="0">
                <a:solidFill>
                  <a:srgbClr val="545454"/>
                </a:solidFill>
                <a:latin typeface="Calibri"/>
                <a:cs typeface="Calibri"/>
              </a:rPr>
              <a:t>90</a:t>
            </a:r>
            <a:r>
              <a:rPr sz="1000" spc="125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000" spc="30" dirty="0">
                <a:solidFill>
                  <a:srgbClr val="525252"/>
                </a:solidFill>
                <a:latin typeface="Calibri"/>
                <a:cs typeface="Calibri"/>
              </a:rPr>
              <a:t>mcg</a:t>
            </a:r>
            <a:endParaRPr sz="1000">
              <a:latin typeface="Calibri"/>
              <a:cs typeface="Calibri"/>
            </a:endParaRPr>
          </a:p>
          <a:p>
            <a:pPr marL="17780">
              <a:lnSpc>
                <a:spcPct val="100000"/>
              </a:lnSpc>
              <a:spcBef>
                <a:spcPts val="425"/>
              </a:spcBef>
            </a:pPr>
            <a:r>
              <a:rPr sz="1100" spc="-10" dirty="0">
                <a:solidFill>
                  <a:srgbClr val="2F2F2F"/>
                </a:solidFill>
                <a:latin typeface="Calibri"/>
                <a:cs typeface="Calibri"/>
              </a:rPr>
              <a:t>120</a:t>
            </a:r>
            <a:r>
              <a:rPr sz="1100" spc="-4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6B7B82"/>
                </a:solidFill>
                <a:latin typeface="Calibri"/>
                <a:cs typeface="Calibri"/>
              </a:rPr>
              <a:t>m‹g</a:t>
            </a:r>
            <a:endParaRPr sz="1100">
              <a:latin typeface="Calibri"/>
              <a:cs typeface="Calibri"/>
            </a:endParaRPr>
          </a:p>
          <a:p>
            <a:pPr marL="19050">
              <a:lnSpc>
                <a:spcPct val="100000"/>
              </a:lnSpc>
              <a:spcBef>
                <a:spcPts val="445"/>
              </a:spcBef>
            </a:pPr>
            <a:r>
              <a:rPr sz="950" dirty="0">
                <a:solidFill>
                  <a:srgbClr val="484848"/>
                </a:solidFill>
                <a:latin typeface="Calibri"/>
                <a:cs typeface="Calibri"/>
              </a:rPr>
              <a:t>150</a:t>
            </a:r>
            <a:r>
              <a:rPr sz="950" spc="18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950" spc="-25" dirty="0">
                <a:solidFill>
                  <a:srgbClr val="545454"/>
                </a:solidFill>
                <a:latin typeface="Calibri"/>
                <a:cs typeface="Calibri"/>
              </a:rPr>
              <a:t>mcg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solidFill>
                  <a:srgbClr val="525252"/>
                </a:solidFill>
                <a:latin typeface="Calibri"/>
                <a:cs typeface="Calibri"/>
              </a:rPr>
              <a:t>250</a:t>
            </a:r>
            <a:r>
              <a:rPr sz="1100" spc="-3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solidFill>
                  <a:srgbClr val="677079"/>
                </a:solidFill>
                <a:latin typeface="Calibri"/>
                <a:cs typeface="Calibri"/>
              </a:rPr>
              <a:t>mog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700" y="3136900"/>
            <a:ext cx="4572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25"/>
              </a:spcBef>
            </a:pPr>
            <a:r>
              <a:rPr spc="-40" dirty="0">
                <a:solidFill>
                  <a:srgbClr val="0C548E"/>
                </a:solidFill>
              </a:rPr>
              <a:t>Iodine-</a:t>
            </a:r>
            <a:r>
              <a:rPr spc="-20" dirty="0">
                <a:solidFill>
                  <a:srgbClr val="0C548E"/>
                </a:solidFill>
              </a:rPr>
              <a:t>Sources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8122" y="857051"/>
            <a:ext cx="5125720" cy="202692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32080" indent="-119380">
              <a:lnSpc>
                <a:spcPts val="1265"/>
              </a:lnSpc>
              <a:spcBef>
                <a:spcPts val="140"/>
              </a:spcBef>
              <a:buChar char="•"/>
              <a:tabLst>
                <a:tab pos="132080" algn="l"/>
              </a:tabLst>
            </a:pPr>
            <a:r>
              <a:rPr sz="1250" dirty="0">
                <a:latin typeface="Calibri"/>
                <a:cs typeface="Calibri"/>
              </a:rPr>
              <a:t>The</a:t>
            </a:r>
            <a:r>
              <a:rPr sz="1250" spc="3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best</a:t>
            </a:r>
            <a:r>
              <a:rPr sz="1250" spc="40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s</a:t>
            </a:r>
            <a:r>
              <a:rPr lang="en-IN" sz="1250" spc="-10" dirty="0">
                <a:latin typeface="Calibri"/>
                <a:cs typeface="Calibri"/>
              </a:rPr>
              <a:t>ources </a:t>
            </a:r>
            <a:r>
              <a:rPr sz="1250" dirty="0">
                <a:solidFill>
                  <a:srgbClr val="1A1A1A"/>
                </a:solidFill>
                <a:latin typeface="Calibri"/>
                <a:cs typeface="Calibri"/>
              </a:rPr>
              <a:t>of</a:t>
            </a:r>
            <a:r>
              <a:rPr sz="1250" spc="3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iodine</a:t>
            </a:r>
            <a:r>
              <a:rPr sz="1250" spc="20" dirty="0"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E0E0E"/>
                </a:solidFill>
                <a:latin typeface="Calibri"/>
                <a:cs typeface="Calibri"/>
              </a:rPr>
              <a:t>are</a:t>
            </a:r>
            <a:r>
              <a:rPr sz="1250" spc="8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sea</a:t>
            </a:r>
            <a:r>
              <a:rPr sz="1250" spc="-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foods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(e.g.,</a:t>
            </a:r>
            <a:r>
              <a:rPr sz="1250" spc="5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sea</a:t>
            </a:r>
            <a:r>
              <a:rPr sz="1250" spc="8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fish,</a:t>
            </a:r>
            <a:endParaRPr sz="1250">
              <a:latin typeface="Calibri"/>
              <a:cs typeface="Calibri"/>
            </a:endParaRPr>
          </a:p>
          <a:p>
            <a:pPr marL="125730">
              <a:lnSpc>
                <a:spcPts val="1360"/>
              </a:lnSpc>
            </a:pPr>
            <a:r>
              <a:rPr sz="1350" dirty="0">
                <a:latin typeface="Calibri"/>
                <a:cs typeface="Calibri"/>
              </a:rPr>
              <a:t>sea</a:t>
            </a:r>
            <a:r>
              <a:rPr sz="1350" spc="-75" dirty="0"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161616"/>
                </a:solidFill>
                <a:latin typeface="Calibri"/>
                <a:cs typeface="Calibri"/>
              </a:rPr>
              <a:t>salt)</a:t>
            </a:r>
            <a:r>
              <a:rPr sz="1350" spc="-2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350" spc="-45" dirty="0">
                <a:solidFill>
                  <a:srgbClr val="111111"/>
                </a:solidFill>
                <a:latin typeface="Calibri"/>
                <a:cs typeface="Calibri"/>
              </a:rPr>
              <a:t>and</a:t>
            </a:r>
            <a:r>
              <a:rPr sz="1350" spc="-3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350" spc="-25" dirty="0">
                <a:latin typeface="Calibri"/>
                <a:cs typeface="Calibri"/>
              </a:rPr>
              <a:t>cod</a:t>
            </a:r>
            <a:r>
              <a:rPr sz="1350" spc="-50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liver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spc="-25" dirty="0">
                <a:solidFill>
                  <a:srgbClr val="232323"/>
                </a:solidFill>
                <a:latin typeface="Calibri"/>
                <a:cs typeface="Calibri"/>
              </a:rPr>
              <a:t>oil</a:t>
            </a:r>
            <a:endParaRPr sz="1350">
              <a:latin typeface="Calibri"/>
              <a:cs typeface="Calibri"/>
            </a:endParaRPr>
          </a:p>
          <a:p>
            <a:pPr marL="19050">
              <a:lnSpc>
                <a:spcPts val="1340"/>
              </a:lnSpc>
            </a:pPr>
            <a:r>
              <a:rPr sz="1350" dirty="0">
                <a:latin typeface="Calibri"/>
                <a:cs typeface="Calibri"/>
              </a:rPr>
              <a:t>°</a:t>
            </a:r>
            <a:r>
              <a:rPr sz="1350" spc="10" dirty="0">
                <a:latin typeface="Calibri"/>
                <a:cs typeface="Calibri"/>
              </a:rPr>
              <a:t> </a:t>
            </a:r>
            <a:r>
              <a:rPr sz="1350" spc="-35" dirty="0">
                <a:latin typeface="Calibri"/>
                <a:cs typeface="Calibri"/>
              </a:rPr>
              <a:t>Smaller</a:t>
            </a:r>
            <a:r>
              <a:rPr sz="1350" spc="25" dirty="0">
                <a:latin typeface="Calibri"/>
                <a:cs typeface="Calibri"/>
              </a:rPr>
              <a:t> </a:t>
            </a:r>
            <a:r>
              <a:rPr sz="1350" spc="-40" dirty="0">
                <a:latin typeface="Calibri"/>
                <a:cs typeface="Calibri"/>
              </a:rPr>
              <a:t>amounts</a:t>
            </a:r>
            <a:r>
              <a:rPr sz="1350" spc="70" dirty="0">
                <a:latin typeface="Calibri"/>
                <a:cs typeface="Calibri"/>
              </a:rPr>
              <a:t> </a:t>
            </a:r>
            <a:r>
              <a:rPr sz="1350" spc="-40" dirty="0">
                <a:latin typeface="Calibri"/>
                <a:cs typeface="Calibri"/>
              </a:rPr>
              <a:t>occur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in</a:t>
            </a:r>
            <a:r>
              <a:rPr sz="1350" spc="-70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other</a:t>
            </a:r>
            <a:r>
              <a:rPr sz="1350" spc="20" dirty="0">
                <a:latin typeface="Calibri"/>
                <a:cs typeface="Calibri"/>
              </a:rPr>
              <a:t> </a:t>
            </a:r>
            <a:r>
              <a:rPr sz="1350" spc="-40" dirty="0">
                <a:latin typeface="Calibri"/>
                <a:cs typeface="Calibri"/>
              </a:rPr>
              <a:t>foods,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e.g.,</a:t>
            </a:r>
            <a:r>
              <a:rPr sz="1350" spc="-55" dirty="0"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181818"/>
                </a:solidFill>
                <a:latin typeface="Calibri"/>
                <a:cs typeface="Calibri"/>
              </a:rPr>
              <a:t>milk,</a:t>
            </a:r>
            <a:r>
              <a:rPr sz="1350" spc="-5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meat,</a:t>
            </a:r>
            <a:r>
              <a:rPr sz="1350" spc="-40" dirty="0">
                <a:latin typeface="Calibri"/>
                <a:cs typeface="Calibri"/>
              </a:rPr>
              <a:t> </a:t>
            </a:r>
            <a:r>
              <a:rPr sz="1350" spc="-45" dirty="0">
                <a:latin typeface="Calibri"/>
                <a:cs typeface="Calibri"/>
              </a:rPr>
              <a:t>vegetables,</a:t>
            </a:r>
            <a:r>
              <a:rPr sz="1350" spc="7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cereals,</a:t>
            </a:r>
            <a:endParaRPr sz="1350">
              <a:latin typeface="Calibri"/>
              <a:cs typeface="Calibri"/>
            </a:endParaRPr>
          </a:p>
          <a:p>
            <a:pPr marL="125095">
              <a:lnSpc>
                <a:spcPts val="1300"/>
              </a:lnSpc>
            </a:pPr>
            <a:r>
              <a:rPr sz="1300" spc="-20" dirty="0">
                <a:latin typeface="Calibri"/>
                <a:cs typeface="Calibri"/>
              </a:rPr>
              <a:t>etc.</a:t>
            </a:r>
            <a:endParaRPr sz="1300">
              <a:latin typeface="Calibri"/>
              <a:cs typeface="Calibri"/>
            </a:endParaRPr>
          </a:p>
          <a:p>
            <a:pPr marL="130175" marR="251460" indent="-118110">
              <a:lnSpc>
                <a:spcPct val="75000"/>
              </a:lnSpc>
              <a:spcBef>
                <a:spcPts val="439"/>
              </a:spcBef>
              <a:buChar char="•"/>
              <a:tabLst>
                <a:tab pos="130175" algn="l"/>
                <a:tab pos="131445" algn="l"/>
              </a:tabLst>
            </a:pPr>
            <a:r>
              <a:rPr sz="1250" dirty="0">
                <a:latin typeface="Calibri"/>
                <a:cs typeface="Calibri"/>
              </a:rPr>
              <a:t>	The</a:t>
            </a:r>
            <a:r>
              <a:rPr sz="1250" spc="6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iodine</a:t>
            </a:r>
            <a:r>
              <a:rPr sz="1250" spc="3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content</a:t>
            </a:r>
            <a:r>
              <a:rPr sz="1250" spc="8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of</a:t>
            </a:r>
            <a:r>
              <a:rPr sz="1250" spc="10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fresh</a:t>
            </a:r>
            <a:r>
              <a:rPr sz="1250" spc="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water</a:t>
            </a:r>
            <a:r>
              <a:rPr sz="1250" spc="5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is</a:t>
            </a:r>
            <a:r>
              <a:rPr sz="1250" spc="8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small</a:t>
            </a:r>
            <a:r>
              <a:rPr sz="1250" spc="-5" dirty="0"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31313"/>
                </a:solidFill>
                <a:latin typeface="Calibri"/>
                <a:cs typeface="Calibri"/>
              </a:rPr>
              <a:t>and</a:t>
            </a:r>
            <a:r>
              <a:rPr sz="1250" spc="1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very</a:t>
            </a:r>
            <a:r>
              <a:rPr sz="1250" spc="90" dirty="0">
                <a:latin typeface="Calibri"/>
                <a:cs typeface="Calibri"/>
              </a:rPr>
              <a:t> </a:t>
            </a:r>
            <a:r>
              <a:rPr sz="1250" spc="-25" dirty="0">
                <a:latin typeface="Calibri"/>
                <a:cs typeface="Calibri"/>
              </a:rPr>
              <a:t>variab</a:t>
            </a:r>
            <a:r>
              <a:rPr sz="1250" spc="-14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Ie,</a:t>
            </a:r>
            <a:r>
              <a:rPr sz="1250" spc="6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about</a:t>
            </a:r>
            <a:r>
              <a:rPr sz="1250" spc="70" dirty="0">
                <a:latin typeface="Calibri"/>
                <a:cs typeface="Calibri"/>
              </a:rPr>
              <a:t> </a:t>
            </a:r>
            <a:r>
              <a:rPr sz="1250" spc="-20" dirty="0">
                <a:latin typeface="Calibri"/>
                <a:cs typeface="Calibri"/>
              </a:rPr>
              <a:t>1-</a:t>
            </a:r>
            <a:r>
              <a:rPr sz="1250" spc="-25" dirty="0">
                <a:latin typeface="Calibri"/>
                <a:cs typeface="Calibri"/>
              </a:rPr>
              <a:t>50 </a:t>
            </a:r>
            <a:r>
              <a:rPr sz="1250" spc="-10" dirty="0">
                <a:latin typeface="Calibri"/>
                <a:cs typeface="Calibri"/>
              </a:rPr>
              <a:t>micrograms/L</a:t>
            </a:r>
            <a:endParaRPr sz="1250">
              <a:latin typeface="Calibri"/>
              <a:cs typeface="Calibri"/>
            </a:endParaRPr>
          </a:p>
          <a:p>
            <a:pPr marL="130810" indent="-118110">
              <a:lnSpc>
                <a:spcPts val="1270"/>
              </a:lnSpc>
              <a:spcBef>
                <a:spcPts val="75"/>
              </a:spcBef>
              <a:buChar char="•"/>
              <a:tabLst>
                <a:tab pos="130810" algn="l"/>
              </a:tabLst>
            </a:pPr>
            <a:r>
              <a:rPr sz="1250" spc="-50" dirty="0">
                <a:latin typeface="Calibri"/>
                <a:cs typeface="Calibri"/>
              </a:rPr>
              <a:t>Ab</a:t>
            </a:r>
            <a:r>
              <a:rPr lang="en-IN" sz="1250" spc="-50" dirty="0">
                <a:latin typeface="Calibri"/>
                <a:cs typeface="Calibri"/>
              </a:rPr>
              <a:t>out</a:t>
            </a:r>
            <a:r>
              <a:rPr sz="1250" spc="35" dirty="0"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51515"/>
                </a:solidFill>
                <a:latin typeface="Calibri"/>
                <a:cs typeface="Calibri"/>
              </a:rPr>
              <a:t>90</a:t>
            </a:r>
            <a:r>
              <a:rPr sz="1250" spc="-45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per</a:t>
            </a:r>
            <a:r>
              <a:rPr sz="1250" spc="2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cent</a:t>
            </a:r>
            <a:r>
              <a:rPr sz="1250" spc="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of</a:t>
            </a:r>
            <a:r>
              <a:rPr sz="1250" spc="1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</a:t>
            </a:r>
            <a:r>
              <a:rPr lang="en-IN" sz="1250" dirty="0">
                <a:latin typeface="Calibri"/>
                <a:cs typeface="Calibri"/>
              </a:rPr>
              <a:t>o</a:t>
            </a:r>
            <a:r>
              <a:rPr sz="1250" dirty="0">
                <a:latin typeface="Calibri"/>
                <a:cs typeface="Calibri"/>
              </a:rPr>
              <a:t>dine</a:t>
            </a:r>
            <a:r>
              <a:rPr sz="1250" spc="10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comes</a:t>
            </a:r>
            <a:r>
              <a:rPr sz="1250" spc="6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from</a:t>
            </a:r>
            <a:r>
              <a:rPr sz="1250" spc="-1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foods</a:t>
            </a:r>
            <a:r>
              <a:rPr sz="1250" spc="75" dirty="0"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0C0C0C"/>
                </a:solidFill>
                <a:latin typeface="Calibri"/>
                <a:cs typeface="Calibri"/>
              </a:rPr>
              <a:t>eaten;</a:t>
            </a:r>
            <a:r>
              <a:rPr sz="1250" spc="7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latin typeface="Calibri"/>
                <a:cs typeface="Calibri"/>
              </a:rPr>
              <a:t>the</a:t>
            </a:r>
            <a:endParaRPr sz="1250">
              <a:latin typeface="Calibri"/>
              <a:cs typeface="Calibri"/>
            </a:endParaRPr>
          </a:p>
          <a:p>
            <a:pPr marL="129539">
              <a:lnSpc>
                <a:spcPts val="1330"/>
              </a:lnSpc>
            </a:pPr>
            <a:r>
              <a:rPr sz="1300" spc="-25" dirty="0">
                <a:latin typeface="Calibri"/>
                <a:cs typeface="Calibri"/>
              </a:rPr>
              <a:t>remainder</a:t>
            </a:r>
            <a:r>
              <a:rPr sz="1300" spc="85" dirty="0"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82828"/>
                </a:solidFill>
                <a:latin typeface="Calibri"/>
                <a:cs typeface="Calibri"/>
              </a:rPr>
              <a:t>from</a:t>
            </a:r>
            <a:r>
              <a:rPr sz="1300" spc="-7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drinking</a:t>
            </a:r>
            <a:r>
              <a:rPr sz="1300" spc="2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water.</a:t>
            </a:r>
            <a:endParaRPr sz="1300">
              <a:latin typeface="Calibri"/>
              <a:cs typeface="Calibri"/>
            </a:endParaRPr>
          </a:p>
          <a:p>
            <a:pPr marL="19050">
              <a:lnSpc>
                <a:spcPts val="1535"/>
              </a:lnSpc>
            </a:pPr>
            <a:r>
              <a:rPr sz="1350" dirty="0">
                <a:latin typeface="Calibri"/>
                <a:cs typeface="Calibri"/>
              </a:rPr>
              <a:t>°</a:t>
            </a:r>
            <a:r>
              <a:rPr sz="1350" spc="55" dirty="0">
                <a:latin typeface="Calibri"/>
                <a:cs typeface="Calibri"/>
              </a:rPr>
              <a:t> </a:t>
            </a:r>
            <a:r>
              <a:rPr sz="1350" spc="-35" dirty="0">
                <a:latin typeface="Calibri"/>
                <a:cs typeface="Calibri"/>
              </a:rPr>
              <a:t>Fortified</a:t>
            </a:r>
            <a:r>
              <a:rPr sz="1350" spc="35" dirty="0">
                <a:latin typeface="Calibri"/>
                <a:cs typeface="Calibri"/>
              </a:rPr>
              <a:t> </a:t>
            </a:r>
            <a:r>
              <a:rPr sz="1350" spc="-40" dirty="0">
                <a:latin typeface="Calibri"/>
                <a:cs typeface="Calibri"/>
              </a:rPr>
              <a:t>Salts—</a:t>
            </a:r>
            <a:r>
              <a:rPr sz="1350" spc="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lodiled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0F0F0F"/>
                </a:solidFill>
                <a:latin typeface="Calibri"/>
                <a:cs typeface="Calibri"/>
              </a:rPr>
              <a:t>salts</a:t>
            </a:r>
            <a:r>
              <a:rPr sz="1350" spc="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350" spc="-40" dirty="0">
                <a:latin typeface="Calibri"/>
                <a:cs typeface="Calibri"/>
              </a:rPr>
              <a:t>(prophylactic)</a:t>
            </a:r>
            <a:r>
              <a:rPr sz="1350" spc="-35" dirty="0">
                <a:latin typeface="Calibri"/>
                <a:cs typeface="Calibri"/>
              </a:rPr>
              <a:t> [iodized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spc="-35" dirty="0">
                <a:latin typeface="Calibri"/>
                <a:cs typeface="Calibri"/>
              </a:rPr>
              <a:t>bread,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60" dirty="0">
                <a:latin typeface="Calibri"/>
                <a:cs typeface="Calibri"/>
              </a:rPr>
              <a:t>iodi</a:t>
            </a:r>
            <a:r>
              <a:rPr lang="en-IN" sz="1350" spc="-60" dirty="0">
                <a:latin typeface="Calibri"/>
                <a:cs typeface="Calibri"/>
              </a:rPr>
              <a:t>ze</a:t>
            </a:r>
            <a:r>
              <a:rPr sz="1350" spc="-60" dirty="0">
                <a:latin typeface="Calibri"/>
                <a:cs typeface="Calibri"/>
              </a:rPr>
              <a:t>d</a:t>
            </a:r>
            <a:r>
              <a:rPr sz="1350" spc="15" dirty="0"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161616"/>
                </a:solidFill>
                <a:latin typeface="Calibri"/>
                <a:cs typeface="Calibri"/>
              </a:rPr>
              <a:t>oil]</a:t>
            </a:r>
            <a:endParaRPr sz="1350">
              <a:latin typeface="Calibri"/>
              <a:cs typeface="Calibri"/>
            </a:endParaRPr>
          </a:p>
          <a:p>
            <a:pPr marL="363220" lvl="1" indent="-120014">
              <a:lnSpc>
                <a:spcPts val="1155"/>
              </a:lnSpc>
              <a:buClr>
                <a:srgbClr val="000000"/>
              </a:buClr>
              <a:buChar char="•"/>
              <a:tabLst>
                <a:tab pos="363220" algn="l"/>
              </a:tabLst>
            </a:pPr>
            <a:r>
              <a:rPr sz="1100" spc="-10" dirty="0">
                <a:solidFill>
                  <a:srgbClr val="2F2F2F"/>
                </a:solidFill>
                <a:latin typeface="Calibri"/>
                <a:cs typeface="Calibri"/>
              </a:rPr>
              <a:t>50</a:t>
            </a:r>
            <a:r>
              <a:rPr sz="1100" spc="-3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ppm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D1D1D"/>
                </a:solidFill>
                <a:latin typeface="Calibri"/>
                <a:cs typeface="Calibri"/>
              </a:rPr>
              <a:t>at</a:t>
            </a:r>
            <a:r>
              <a:rPr sz="1100" spc="-30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production</a:t>
            </a:r>
            <a:r>
              <a:rPr sz="1100" spc="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level</a:t>
            </a:r>
            <a:endParaRPr sz="1100">
              <a:latin typeface="Calibri"/>
              <a:cs typeface="Calibri"/>
            </a:endParaRPr>
          </a:p>
          <a:p>
            <a:pPr marL="353060" lvl="1" indent="-110489">
              <a:lnSpc>
                <a:spcPts val="1165"/>
              </a:lnSpc>
              <a:buClr>
                <a:srgbClr val="000000"/>
              </a:buClr>
              <a:buChar char="•"/>
              <a:tabLst>
                <a:tab pos="353060" algn="l"/>
              </a:tabLst>
            </a:pPr>
            <a:r>
              <a:rPr sz="1100" dirty="0">
                <a:solidFill>
                  <a:srgbClr val="212121"/>
                </a:solidFill>
                <a:latin typeface="Calibri"/>
                <a:cs typeface="Calibri"/>
              </a:rPr>
              <a:t>30</a:t>
            </a:r>
            <a:r>
              <a:rPr sz="1100" spc="-1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94949"/>
                </a:solidFill>
                <a:latin typeface="Calibri"/>
                <a:cs typeface="Calibri"/>
              </a:rPr>
              <a:t>ppm</a:t>
            </a:r>
            <a:r>
              <a:rPr sz="1100" spc="-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F0F0F"/>
                </a:solidFill>
                <a:latin typeface="Calibri"/>
                <a:cs typeface="Calibri"/>
              </a:rPr>
              <a:t>in</a:t>
            </a:r>
            <a:r>
              <a:rPr sz="1100" spc="-5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retailer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level</a:t>
            </a:r>
            <a:endParaRPr sz="1100">
              <a:latin typeface="Calibri"/>
              <a:cs typeface="Calibri"/>
            </a:endParaRPr>
          </a:p>
          <a:p>
            <a:pPr marL="358140" lvl="1" indent="-124460">
              <a:lnSpc>
                <a:spcPts val="1240"/>
              </a:lnSpc>
              <a:buChar char="•"/>
              <a:tabLst>
                <a:tab pos="358140" algn="l"/>
              </a:tabLst>
            </a:pPr>
            <a:r>
              <a:rPr sz="1100" dirty="0">
                <a:latin typeface="Calibri"/>
                <a:cs typeface="Calibri"/>
              </a:rPr>
              <a:t>15 </a:t>
            </a:r>
            <a:r>
              <a:rPr sz="1100" dirty="0">
                <a:solidFill>
                  <a:srgbClr val="424242"/>
                </a:solidFill>
                <a:latin typeface="Calibri"/>
                <a:cs typeface="Calibri"/>
              </a:rPr>
              <a:t>ppm</a:t>
            </a:r>
            <a:r>
              <a:rPr sz="1100" spc="-3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51515"/>
                </a:solidFill>
                <a:latin typeface="Calibri"/>
                <a:cs typeface="Calibri"/>
              </a:rPr>
              <a:t>at</a:t>
            </a:r>
            <a:r>
              <a:rPr sz="1100" spc="-10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consumer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0F0F0F"/>
                </a:solidFill>
                <a:latin typeface="Calibri"/>
                <a:cs typeface="Calibri"/>
              </a:rPr>
              <a:t>level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800" y="3124200"/>
            <a:ext cx="3937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35"/>
              </a:spcBef>
            </a:pPr>
            <a:r>
              <a:rPr sz="2150" spc="-30" dirty="0">
                <a:solidFill>
                  <a:srgbClr val="0C548E"/>
                </a:solidFill>
              </a:rPr>
              <a:t>Iodine-</a:t>
            </a:r>
            <a:r>
              <a:rPr sz="2150" spc="-10" dirty="0">
                <a:solidFill>
                  <a:srgbClr val="0C548E"/>
                </a:solidFill>
              </a:rPr>
              <a:t>Disorder</a:t>
            </a:r>
            <a:endParaRPr sz="215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37662" y="828939"/>
            <a:ext cx="5148580" cy="1180450"/>
          </a:xfrm>
          <a:prstGeom prst="rect">
            <a:avLst/>
          </a:prstGeom>
        </p:spPr>
        <p:txBody>
          <a:bodyPr vert="horz" wrap="square" lIns="0" tIns="59054" rIns="0" bIns="0" rtlCol="0">
            <a:spAutoFit/>
          </a:bodyPr>
          <a:lstStyle/>
          <a:p>
            <a:pPr marL="136525" indent="-114300">
              <a:lnSpc>
                <a:spcPct val="100000"/>
              </a:lnSpc>
              <a:spcBef>
                <a:spcPts val="464"/>
              </a:spcBef>
              <a:buChar char="•"/>
              <a:tabLst>
                <a:tab pos="136525" algn="l"/>
              </a:tabLst>
            </a:pPr>
            <a:r>
              <a:rPr sz="1350" dirty="0"/>
              <a:t>Excess</a:t>
            </a:r>
            <a:r>
              <a:rPr sz="1350" spc="90" dirty="0"/>
              <a:t> </a:t>
            </a:r>
            <a:r>
              <a:rPr sz="1350" spc="-10" dirty="0"/>
              <a:t>Iodine</a:t>
            </a:r>
            <a:r>
              <a:rPr lang="en-IN" sz="1350" spc="-10" dirty="0"/>
              <a:t> </a:t>
            </a:r>
            <a:r>
              <a:rPr sz="1350" spc="-10" dirty="0"/>
              <a:t>Thyrotox</a:t>
            </a:r>
            <a:r>
              <a:rPr lang="en-IN" sz="1350" spc="-10" dirty="0"/>
              <a:t>i</a:t>
            </a:r>
            <a:r>
              <a:rPr sz="1350" spc="-10" dirty="0"/>
              <a:t>cos</a:t>
            </a:r>
            <a:r>
              <a:rPr lang="en-IN" sz="1350" spc="-10" dirty="0"/>
              <a:t>is</a:t>
            </a:r>
            <a:endParaRPr sz="1350"/>
          </a:p>
          <a:p>
            <a:pPr marL="136525" indent="-114300">
              <a:lnSpc>
                <a:spcPct val="100000"/>
              </a:lnSpc>
              <a:spcBef>
                <a:spcPts val="365"/>
              </a:spcBef>
              <a:buClr>
                <a:srgbClr val="000000"/>
              </a:buClr>
              <a:buChar char="•"/>
              <a:tabLst>
                <a:tab pos="136525" algn="l"/>
              </a:tabLst>
            </a:pPr>
            <a:r>
              <a:rPr sz="1350" dirty="0">
                <a:solidFill>
                  <a:srgbClr val="0F0F0F"/>
                </a:solidFill>
              </a:rPr>
              <a:t>It</a:t>
            </a:r>
            <a:r>
              <a:rPr sz="1350" spc="-20" dirty="0">
                <a:solidFill>
                  <a:srgbClr val="0F0F0F"/>
                </a:solidFill>
              </a:rPr>
              <a:t> </a:t>
            </a:r>
            <a:r>
              <a:rPr sz="1350" dirty="0"/>
              <a:t>may</a:t>
            </a:r>
            <a:r>
              <a:rPr sz="1350" spc="50" dirty="0"/>
              <a:t> </a:t>
            </a:r>
            <a:r>
              <a:rPr sz="1350" dirty="0"/>
              <a:t>result</a:t>
            </a:r>
            <a:r>
              <a:rPr sz="1350" spc="114" dirty="0"/>
              <a:t> </a:t>
            </a:r>
            <a:r>
              <a:rPr sz="1350" dirty="0"/>
              <a:t>from</a:t>
            </a:r>
            <a:r>
              <a:rPr sz="1350" spc="40" dirty="0"/>
              <a:t> </a:t>
            </a:r>
            <a:r>
              <a:rPr sz="1350" spc="-10" dirty="0"/>
              <a:t>prophylaxis</a:t>
            </a:r>
            <a:endParaRPr sz="1350"/>
          </a:p>
          <a:p>
            <a:pPr marL="138430" marR="5080" indent="-116839">
              <a:lnSpc>
                <a:spcPts val="1500"/>
              </a:lnSpc>
              <a:spcBef>
                <a:spcPts val="555"/>
              </a:spcBef>
              <a:buChar char="•"/>
              <a:tabLst>
                <a:tab pos="138430" algn="l"/>
                <a:tab pos="139700" algn="l"/>
                <a:tab pos="1226820" algn="l"/>
              </a:tabLst>
            </a:pPr>
            <a:r>
              <a:rPr sz="1350" dirty="0"/>
              <a:t>	iodine</a:t>
            </a:r>
            <a:r>
              <a:rPr sz="1350" spc="75" dirty="0"/>
              <a:t> </a:t>
            </a:r>
            <a:r>
              <a:rPr sz="1350" dirty="0"/>
              <a:t>induced</a:t>
            </a:r>
            <a:r>
              <a:rPr sz="1350" spc="65" dirty="0"/>
              <a:t> </a:t>
            </a:r>
            <a:r>
              <a:rPr sz="1350" dirty="0"/>
              <a:t>thyrotoxicosis</a:t>
            </a:r>
            <a:r>
              <a:rPr sz="1350" spc="-35" dirty="0"/>
              <a:t> </a:t>
            </a:r>
            <a:r>
              <a:rPr sz="1350" dirty="0">
                <a:solidFill>
                  <a:srgbClr val="0F0F0F"/>
                </a:solidFill>
              </a:rPr>
              <a:t>affecting</a:t>
            </a:r>
            <a:r>
              <a:rPr sz="1350" spc="30" dirty="0">
                <a:solidFill>
                  <a:srgbClr val="0F0F0F"/>
                </a:solidFill>
              </a:rPr>
              <a:t> </a:t>
            </a:r>
            <a:r>
              <a:rPr sz="1350" dirty="0">
                <a:solidFill>
                  <a:srgbClr val="0C0C0C"/>
                </a:solidFill>
              </a:rPr>
              <a:t>mainly</a:t>
            </a:r>
            <a:r>
              <a:rPr sz="1350" spc="100" dirty="0">
                <a:solidFill>
                  <a:srgbClr val="0C0C0C"/>
                </a:solidFill>
              </a:rPr>
              <a:t> </a:t>
            </a:r>
            <a:r>
              <a:rPr sz="1350" spc="-10" dirty="0"/>
              <a:t>elderly </a:t>
            </a:r>
            <a:r>
              <a:rPr sz="1350" dirty="0"/>
              <a:t>who</a:t>
            </a:r>
            <a:r>
              <a:rPr sz="1350" spc="15" dirty="0"/>
              <a:t> </a:t>
            </a:r>
            <a:r>
              <a:rPr sz="1350" dirty="0"/>
              <a:t>lived</a:t>
            </a:r>
            <a:r>
              <a:rPr sz="1350" spc="25" dirty="0"/>
              <a:t> </a:t>
            </a:r>
            <a:r>
              <a:rPr sz="1350" dirty="0">
                <a:solidFill>
                  <a:srgbClr val="131313"/>
                </a:solidFill>
              </a:rPr>
              <a:t>most</a:t>
            </a:r>
            <a:r>
              <a:rPr sz="1350" spc="10" dirty="0">
                <a:solidFill>
                  <a:srgbClr val="131313"/>
                </a:solidFill>
              </a:rPr>
              <a:t> </a:t>
            </a:r>
            <a:r>
              <a:rPr lang="en-IN" sz="1350" spc="10" dirty="0">
                <a:solidFill>
                  <a:srgbClr val="131313"/>
                </a:solidFill>
              </a:rPr>
              <a:t>o</a:t>
            </a:r>
            <a:r>
              <a:rPr sz="1350" dirty="0"/>
              <a:t>f</a:t>
            </a:r>
            <a:r>
              <a:rPr sz="1350" spc="70" dirty="0"/>
              <a:t> </a:t>
            </a:r>
            <a:r>
              <a:rPr sz="1350" dirty="0"/>
              <a:t>their</a:t>
            </a:r>
            <a:r>
              <a:rPr sz="1350" spc="45" dirty="0"/>
              <a:t> </a:t>
            </a:r>
            <a:r>
              <a:rPr sz="1350" dirty="0"/>
              <a:t>life</a:t>
            </a:r>
            <a:r>
              <a:rPr sz="1350" spc="5" dirty="0"/>
              <a:t> </a:t>
            </a:r>
            <a:r>
              <a:rPr sz="1350" dirty="0">
                <a:solidFill>
                  <a:srgbClr val="181818"/>
                </a:solidFill>
              </a:rPr>
              <a:t>in</a:t>
            </a:r>
            <a:r>
              <a:rPr sz="1350" spc="-55" dirty="0">
                <a:solidFill>
                  <a:srgbClr val="181818"/>
                </a:solidFill>
              </a:rPr>
              <a:t> </a:t>
            </a:r>
            <a:r>
              <a:rPr sz="1350" dirty="0"/>
              <a:t>iodine</a:t>
            </a:r>
            <a:r>
              <a:rPr sz="1350" spc="60" dirty="0"/>
              <a:t> </a:t>
            </a:r>
            <a:r>
              <a:rPr sz="1350" dirty="0"/>
              <a:t>deficient</a:t>
            </a:r>
            <a:r>
              <a:rPr sz="1350" spc="114" dirty="0"/>
              <a:t> </a:t>
            </a:r>
            <a:r>
              <a:rPr sz="1350" dirty="0"/>
              <a:t>area</a:t>
            </a:r>
            <a:r>
              <a:rPr sz="1350" spc="285" dirty="0"/>
              <a:t> </a:t>
            </a:r>
            <a:r>
              <a:rPr sz="1350" dirty="0"/>
              <a:t>and</a:t>
            </a:r>
            <a:r>
              <a:rPr sz="1350" spc="20" dirty="0"/>
              <a:t> </a:t>
            </a:r>
            <a:r>
              <a:rPr sz="1350" dirty="0"/>
              <a:t>who</a:t>
            </a:r>
            <a:r>
              <a:rPr sz="1350" spc="85" dirty="0"/>
              <a:t> </a:t>
            </a:r>
            <a:r>
              <a:rPr sz="1350" dirty="0"/>
              <a:t>have</a:t>
            </a:r>
            <a:r>
              <a:rPr sz="1350" spc="80" dirty="0"/>
              <a:t> </a:t>
            </a:r>
            <a:r>
              <a:rPr sz="1350" spc="-25" dirty="0"/>
              <a:t>had </a:t>
            </a:r>
            <a:r>
              <a:rPr sz="1350" dirty="0"/>
              <a:t>goiter</a:t>
            </a:r>
            <a:r>
              <a:rPr sz="1350" spc="45" dirty="0"/>
              <a:t> </a:t>
            </a:r>
            <a:r>
              <a:rPr sz="1350" dirty="0"/>
              <a:t>for</a:t>
            </a:r>
            <a:r>
              <a:rPr sz="1350" spc="10" dirty="0"/>
              <a:t> </a:t>
            </a:r>
            <a:r>
              <a:rPr sz="1350" dirty="0"/>
              <a:t>long</a:t>
            </a:r>
            <a:r>
              <a:rPr sz="1350" spc="50" dirty="0"/>
              <a:t> </a:t>
            </a:r>
            <a:r>
              <a:rPr sz="1350" spc="-10" dirty="0"/>
              <a:t>duration</a:t>
            </a:r>
            <a:endParaRPr sz="135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" y="3124200"/>
            <a:ext cx="4318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95"/>
              </a:spcBef>
            </a:pPr>
            <a:r>
              <a:rPr sz="2150" spc="-30" dirty="0">
                <a:solidFill>
                  <a:srgbClr val="0C548E"/>
                </a:solidFill>
              </a:rPr>
              <a:t>Iodine-</a:t>
            </a:r>
            <a:r>
              <a:rPr sz="2150" spc="-10" dirty="0">
                <a:solidFill>
                  <a:srgbClr val="0C548E"/>
                </a:solidFill>
              </a:rPr>
              <a:t>Disorder</a:t>
            </a:r>
            <a:endParaRPr sz="2150"/>
          </a:p>
        </p:txBody>
      </p:sp>
      <p:sp>
        <p:nvSpPr>
          <p:cNvPr id="22" name="object 22"/>
          <p:cNvSpPr txBox="1"/>
          <p:nvPr/>
        </p:nvSpPr>
        <p:spPr>
          <a:xfrm>
            <a:off x="677124" y="763000"/>
            <a:ext cx="3165475" cy="180784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38430" indent="-125730">
              <a:lnSpc>
                <a:spcPct val="100000"/>
              </a:lnSpc>
              <a:spcBef>
                <a:spcPts val="500"/>
              </a:spcBef>
              <a:buChar char="•"/>
              <a:tabLst>
                <a:tab pos="138430" algn="l"/>
              </a:tabLst>
            </a:pPr>
            <a:r>
              <a:rPr sz="1350" dirty="0">
                <a:latin typeface="Calibri"/>
                <a:cs typeface="Calibri"/>
              </a:rPr>
              <a:t>lodine</a:t>
            </a:r>
            <a:r>
              <a:rPr sz="1350" spc="16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Deficiency:</a:t>
            </a:r>
            <a:endParaRPr sz="1350">
              <a:latin typeface="Calibri"/>
              <a:cs typeface="Calibri"/>
            </a:endParaRPr>
          </a:p>
          <a:p>
            <a:pPr marL="135890" indent="-123189">
              <a:lnSpc>
                <a:spcPct val="100000"/>
              </a:lnSpc>
              <a:spcBef>
                <a:spcPts val="405"/>
              </a:spcBef>
              <a:buChar char="•"/>
              <a:tabLst>
                <a:tab pos="135890" algn="l"/>
              </a:tabLst>
            </a:pPr>
            <a:r>
              <a:rPr sz="1350" dirty="0">
                <a:latin typeface="Calibri"/>
                <a:cs typeface="Calibri"/>
              </a:rPr>
              <a:t>Simple</a:t>
            </a:r>
            <a:r>
              <a:rPr sz="1350" spc="240" dirty="0">
                <a:latin typeface="Calibri"/>
                <a:cs typeface="Calibri"/>
              </a:rPr>
              <a:t> </a:t>
            </a:r>
            <a:r>
              <a:rPr lang="en-IN" sz="1350" spc="240" dirty="0">
                <a:latin typeface="Calibri"/>
                <a:cs typeface="Calibri"/>
              </a:rPr>
              <a:t>goitre </a:t>
            </a:r>
            <a:endParaRPr sz="1350">
              <a:latin typeface="Calibri"/>
              <a:cs typeface="Calibri"/>
            </a:endParaRPr>
          </a:p>
          <a:p>
            <a:pPr marL="134620" marR="5080" indent="-122555">
              <a:lnSpc>
                <a:spcPct val="89100"/>
              </a:lnSpc>
              <a:spcBef>
                <a:spcPts val="464"/>
              </a:spcBef>
              <a:buChar char="•"/>
              <a:tabLst>
                <a:tab pos="134620" algn="l"/>
                <a:tab pos="136525" algn="l"/>
              </a:tabLst>
            </a:pPr>
            <a:r>
              <a:rPr sz="1400" dirty="0">
                <a:latin typeface="Calibri"/>
                <a:cs typeface="Calibri"/>
              </a:rPr>
              <a:t>	</a:t>
            </a:r>
            <a:r>
              <a:rPr sz="1400" spc="-75" dirty="0">
                <a:latin typeface="Calibri"/>
                <a:cs typeface="Calibri"/>
              </a:rPr>
              <a:t>Myxoedema—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Progressive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destruction</a:t>
            </a:r>
            <a:r>
              <a:rPr sz="1400" spc="65" dirty="0"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0E0E0E"/>
                </a:solidFill>
                <a:latin typeface="Calibri"/>
                <a:cs typeface="Calibri"/>
              </a:rPr>
              <a:t>of </a:t>
            </a:r>
            <a:r>
              <a:rPr sz="1400" spc="-10" dirty="0">
                <a:latin typeface="Calibri"/>
                <a:cs typeface="Calibri"/>
              </a:rPr>
              <a:t>epithelial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Elements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overgrowth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non- </a:t>
            </a:r>
            <a:r>
              <a:rPr sz="1400" spc="-10" dirty="0">
                <a:latin typeface="Calibri"/>
                <a:cs typeface="Calibri"/>
              </a:rPr>
              <a:t>cellular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component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formation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cyst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large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colloid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spaces</a:t>
            </a:r>
            <a:r>
              <a:rPr sz="1400" spc="-120" dirty="0">
                <a:latin typeface="Calibri"/>
                <a:cs typeface="Calibri"/>
              </a:rPr>
              <a:t> </a:t>
            </a:r>
            <a:r>
              <a:rPr sz="1400" spc="-405" dirty="0">
                <a:solidFill>
                  <a:srgbClr val="363636"/>
                </a:solidFill>
                <a:latin typeface="Calibri"/>
                <a:cs typeface="Calibri"/>
              </a:rPr>
              <a:t>—</a:t>
            </a:r>
            <a:r>
              <a:rPr sz="1400" spc="-6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reducing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gland </a:t>
            </a:r>
            <a:r>
              <a:rPr sz="1500" spc="-10" dirty="0">
                <a:latin typeface="Calibri"/>
                <a:cs typeface="Calibri"/>
              </a:rPr>
              <a:t>efficie</a:t>
            </a:r>
            <a:r>
              <a:rPr lang="en-IN" sz="1500" spc="-10" dirty="0">
                <a:latin typeface="Calibri"/>
                <a:cs typeface="Calibri"/>
              </a:rPr>
              <a:t>ncy</a:t>
            </a:r>
          </a:p>
          <a:p>
            <a:pPr marL="12700">
              <a:lnSpc>
                <a:spcPct val="100000"/>
              </a:lnSpc>
              <a:spcBef>
                <a:spcPts val="250"/>
              </a:spcBef>
              <a:tabLst>
                <a:tab pos="137160" algn="l"/>
              </a:tabLst>
            </a:pPr>
            <a:endParaRPr lang="en-IN" sz="1400">
              <a:latin typeface="Calibri"/>
              <a:cs typeface="Calibri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800" y="3124200"/>
            <a:ext cx="4064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90975" y="1657350"/>
            <a:ext cx="1971675" cy="15144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125"/>
              </a:spcBef>
            </a:pPr>
            <a:r>
              <a:rPr spc="-45" dirty="0">
                <a:solidFill>
                  <a:srgbClr val="016093"/>
                </a:solidFill>
              </a:rPr>
              <a:t>Flourine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47187" y="829871"/>
            <a:ext cx="4420870" cy="1816100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25095" indent="-112395">
              <a:lnSpc>
                <a:spcPct val="100000"/>
              </a:lnSpc>
              <a:spcBef>
                <a:spcPts val="550"/>
              </a:spcBef>
              <a:buChar char="•"/>
              <a:tabLst>
                <a:tab pos="125095" algn="l"/>
              </a:tabLst>
            </a:pPr>
            <a:r>
              <a:rPr sz="1350" dirty="0">
                <a:latin typeface="Calibri"/>
                <a:cs typeface="Calibri"/>
              </a:rPr>
              <a:t>96%</a:t>
            </a:r>
            <a:r>
              <a:rPr sz="1350" spc="7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of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</a:t>
            </a:r>
            <a:r>
              <a:rPr sz="1350" spc="7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fluoride</a:t>
            </a:r>
            <a:r>
              <a:rPr sz="1350" spc="65" dirty="0"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0F0F0F"/>
                </a:solidFill>
                <a:latin typeface="Calibri"/>
                <a:cs typeface="Calibri"/>
              </a:rPr>
              <a:t>in</a:t>
            </a:r>
            <a:r>
              <a:rPr sz="1350" spc="1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the</a:t>
            </a:r>
            <a:r>
              <a:rPr sz="1350" spc="7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body</a:t>
            </a:r>
            <a:r>
              <a:rPr sz="1350" spc="7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is</a:t>
            </a:r>
            <a:r>
              <a:rPr sz="1350" spc="7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found</a:t>
            </a:r>
            <a:r>
              <a:rPr sz="1350" spc="70" dirty="0"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81818"/>
                </a:solidFill>
                <a:latin typeface="Calibri"/>
                <a:cs typeface="Calibri"/>
              </a:rPr>
              <a:t>in</a:t>
            </a:r>
            <a:r>
              <a:rPr sz="1350" spc="1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bones</a:t>
            </a:r>
            <a:r>
              <a:rPr sz="1350" spc="9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and</a:t>
            </a:r>
            <a:r>
              <a:rPr sz="1350" spc="4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teeth</a:t>
            </a:r>
            <a:endParaRPr sz="1350">
              <a:latin typeface="Calibri"/>
              <a:cs typeface="Calibri"/>
            </a:endParaRPr>
          </a:p>
          <a:p>
            <a:pPr marL="129539" indent="-116839">
              <a:lnSpc>
                <a:spcPct val="100000"/>
              </a:lnSpc>
              <a:spcBef>
                <a:spcPts val="455"/>
              </a:spcBef>
              <a:buChar char="•"/>
              <a:tabLst>
                <a:tab pos="129539" algn="l"/>
              </a:tabLst>
            </a:pPr>
            <a:r>
              <a:rPr sz="1300" dirty="0">
                <a:latin typeface="Calibri"/>
                <a:cs typeface="Calibri"/>
              </a:rPr>
              <a:t>Required</a:t>
            </a:r>
            <a:r>
              <a:rPr sz="1300" spc="31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for</a:t>
            </a:r>
            <a:r>
              <a:rPr sz="1300" spc="1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mineralization</a:t>
            </a:r>
            <a:r>
              <a:rPr sz="1300" spc="1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</a:t>
            </a:r>
            <a:r>
              <a:rPr sz="1300" spc="8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b</a:t>
            </a:r>
            <a:r>
              <a:rPr lang="en-IN" sz="1300" dirty="0">
                <a:latin typeface="Calibri"/>
                <a:cs typeface="Calibri"/>
              </a:rPr>
              <a:t>ones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20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enamel</a:t>
            </a:r>
            <a:r>
              <a:rPr sz="1300" spc="19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formation</a:t>
            </a:r>
            <a:endParaRPr sz="1300">
              <a:latin typeface="Calibri"/>
              <a:cs typeface="Calibri"/>
            </a:endParaRPr>
          </a:p>
          <a:p>
            <a:pPr marL="128270" indent="-114935">
              <a:lnSpc>
                <a:spcPct val="100000"/>
              </a:lnSpc>
              <a:spcBef>
                <a:spcPts val="515"/>
              </a:spcBef>
              <a:buClr>
                <a:srgbClr val="000000"/>
              </a:buClr>
              <a:buChar char="•"/>
              <a:tabLst>
                <a:tab pos="128270" algn="l"/>
              </a:tabLst>
            </a:pPr>
            <a:r>
              <a:rPr sz="1250" dirty="0">
                <a:solidFill>
                  <a:srgbClr val="0F0F0F"/>
                </a:solidFill>
                <a:latin typeface="Calibri"/>
                <a:cs typeface="Calibri"/>
              </a:rPr>
              <a:t>Sources:</a:t>
            </a:r>
            <a:r>
              <a:rPr sz="1250" spc="28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Water</a:t>
            </a:r>
            <a:r>
              <a:rPr sz="1250" spc="170" dirty="0">
                <a:latin typeface="Calibri"/>
                <a:cs typeface="Calibri"/>
              </a:rPr>
              <a:t> </a:t>
            </a:r>
            <a:r>
              <a:rPr sz="1250" spc="50" dirty="0">
                <a:solidFill>
                  <a:srgbClr val="111111"/>
                </a:solidFill>
                <a:latin typeface="Calibri"/>
                <a:cs typeface="Calibri"/>
              </a:rPr>
              <a:t>(major</a:t>
            </a:r>
            <a:r>
              <a:rPr sz="1250" spc="229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sources),</a:t>
            </a:r>
            <a:r>
              <a:rPr sz="1250" spc="295" dirty="0">
                <a:latin typeface="Calibri"/>
                <a:cs typeface="Calibri"/>
              </a:rPr>
              <a:t> </a:t>
            </a:r>
            <a:r>
              <a:rPr sz="1250" dirty="0">
                <a:solidFill>
                  <a:srgbClr val="161616"/>
                </a:solidFill>
                <a:latin typeface="Calibri"/>
                <a:cs typeface="Calibri"/>
              </a:rPr>
              <a:t>F</a:t>
            </a:r>
            <a:r>
              <a:rPr lang="en-IN" sz="1250" dirty="0">
                <a:solidFill>
                  <a:srgbClr val="161616"/>
                </a:solidFill>
                <a:latin typeface="Calibri"/>
                <a:cs typeface="Calibri"/>
              </a:rPr>
              <a:t>ood </a:t>
            </a:r>
            <a:r>
              <a:rPr sz="1250" dirty="0">
                <a:solidFill>
                  <a:srgbClr val="0F0F0F"/>
                </a:solidFill>
                <a:latin typeface="Calibri"/>
                <a:cs typeface="Calibri"/>
              </a:rPr>
              <a:t>(sea</a:t>
            </a:r>
            <a:r>
              <a:rPr sz="1250" spc="22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fish,</a:t>
            </a:r>
            <a:r>
              <a:rPr sz="1250" spc="195" dirty="0">
                <a:latin typeface="Calibri"/>
                <a:cs typeface="Calibri"/>
              </a:rPr>
              <a:t> </a:t>
            </a:r>
            <a:r>
              <a:rPr sz="1250" spc="55" dirty="0">
                <a:latin typeface="Calibri"/>
                <a:cs typeface="Calibri"/>
              </a:rPr>
              <a:t>cheese,</a:t>
            </a:r>
            <a:r>
              <a:rPr sz="1250" spc="165" dirty="0">
                <a:latin typeface="Calibri"/>
                <a:cs typeface="Calibri"/>
              </a:rPr>
              <a:t> </a:t>
            </a:r>
            <a:r>
              <a:rPr sz="1250" spc="35" dirty="0">
                <a:solidFill>
                  <a:srgbClr val="131313"/>
                </a:solidFill>
                <a:latin typeface="Calibri"/>
                <a:cs typeface="Calibri"/>
              </a:rPr>
              <a:t>tea)</a:t>
            </a:r>
            <a:endParaRPr sz="1250">
              <a:latin typeface="Calibri"/>
              <a:cs typeface="Calibri"/>
            </a:endParaRPr>
          </a:p>
          <a:p>
            <a:pPr marL="129539" indent="-116205">
              <a:lnSpc>
                <a:spcPct val="100000"/>
              </a:lnSpc>
              <a:spcBef>
                <a:spcPts val="490"/>
              </a:spcBef>
              <a:buClr>
                <a:srgbClr val="1C9E57"/>
              </a:buClr>
              <a:buChar char="•"/>
              <a:tabLst>
                <a:tab pos="129539" algn="l"/>
              </a:tabLst>
            </a:pPr>
            <a:r>
              <a:rPr sz="1250" spc="45" dirty="0">
                <a:solidFill>
                  <a:srgbClr val="2D9159"/>
                </a:solidFill>
                <a:latin typeface="Calibri"/>
                <a:cs typeface="Calibri"/>
              </a:rPr>
              <a:t>Require</a:t>
            </a:r>
            <a:r>
              <a:rPr sz="1250" spc="-90" dirty="0">
                <a:solidFill>
                  <a:srgbClr val="2D9159"/>
                </a:solidFill>
                <a:latin typeface="Calibri"/>
                <a:cs typeface="Calibri"/>
              </a:rPr>
              <a:t> </a:t>
            </a:r>
            <a:r>
              <a:rPr sz="1250" spc="60" dirty="0">
                <a:solidFill>
                  <a:srgbClr val="0F0F0F"/>
                </a:solidFill>
                <a:latin typeface="Calibri"/>
                <a:cs typeface="Calibri"/>
              </a:rPr>
              <a:t>ment:</a:t>
            </a:r>
            <a:r>
              <a:rPr sz="1250" spc="17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0.5-0.8</a:t>
            </a:r>
            <a:r>
              <a:rPr sz="1250" spc="275" dirty="0">
                <a:latin typeface="Calibri"/>
                <a:cs typeface="Calibri"/>
              </a:rPr>
              <a:t> </a:t>
            </a:r>
            <a:r>
              <a:rPr sz="1250" spc="50" dirty="0">
                <a:latin typeface="Calibri"/>
                <a:cs typeface="Calibri"/>
              </a:rPr>
              <a:t>mg/L</a:t>
            </a:r>
            <a:endParaRPr sz="1250">
              <a:latin typeface="Calibri"/>
              <a:cs typeface="Calibri"/>
            </a:endParaRPr>
          </a:p>
          <a:p>
            <a:pPr marL="129539" indent="-116839">
              <a:lnSpc>
                <a:spcPct val="100000"/>
              </a:lnSpc>
              <a:spcBef>
                <a:spcPts val="434"/>
              </a:spcBef>
              <a:buChar char="•"/>
              <a:tabLst>
                <a:tab pos="129539" algn="l"/>
              </a:tabLst>
            </a:pPr>
            <a:r>
              <a:rPr sz="1300" dirty="0">
                <a:latin typeface="Calibri"/>
                <a:cs typeface="Calibri"/>
              </a:rPr>
              <a:t>Fluorine</a:t>
            </a:r>
            <a:r>
              <a:rPr sz="1300" spc="17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is</a:t>
            </a:r>
            <a:r>
              <a:rPr sz="1300" spc="4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often</a:t>
            </a:r>
            <a:r>
              <a:rPr sz="1300" spc="16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called</a:t>
            </a:r>
            <a:r>
              <a:rPr sz="1300" spc="250" dirty="0">
                <a:latin typeface="Calibri"/>
                <a:cs typeface="Calibri"/>
              </a:rPr>
              <a:t> </a:t>
            </a:r>
            <a:r>
              <a:rPr sz="1300" spc="55" dirty="0">
                <a:solidFill>
                  <a:srgbClr val="131313"/>
                </a:solidFill>
                <a:latin typeface="Calibri"/>
                <a:cs typeface="Calibri"/>
              </a:rPr>
              <a:t>a</a:t>
            </a:r>
            <a:r>
              <a:rPr sz="1300" spc="3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two-edged</a:t>
            </a:r>
            <a:r>
              <a:rPr sz="1300" spc="34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sword</a:t>
            </a:r>
            <a:endParaRPr sz="1300">
              <a:latin typeface="Calibri"/>
              <a:cs typeface="Calibri"/>
            </a:endParaRPr>
          </a:p>
          <a:p>
            <a:pPr marL="129539" indent="-116839">
              <a:lnSpc>
                <a:spcPct val="100000"/>
              </a:lnSpc>
              <a:spcBef>
                <a:spcPts val="465"/>
              </a:spcBef>
              <a:buClr>
                <a:srgbClr val="1DA35B"/>
              </a:buClr>
              <a:buChar char="•"/>
              <a:tabLst>
                <a:tab pos="129539" algn="l"/>
              </a:tabLst>
            </a:pPr>
            <a:r>
              <a:rPr sz="1300" dirty="0">
                <a:solidFill>
                  <a:srgbClr val="319760"/>
                </a:solidFill>
                <a:latin typeface="Calibri"/>
                <a:cs typeface="Calibri"/>
              </a:rPr>
              <a:t>Excess</a:t>
            </a:r>
            <a:r>
              <a:rPr sz="1300" spc="200" dirty="0">
                <a:solidFill>
                  <a:srgbClr val="319760"/>
                </a:solidFill>
                <a:latin typeface="Calibri"/>
                <a:cs typeface="Calibri"/>
              </a:rPr>
              <a:t>  </a:t>
            </a:r>
            <a:r>
              <a:rPr sz="1300" dirty="0">
                <a:latin typeface="Calibri"/>
                <a:cs typeface="Calibri"/>
              </a:rPr>
              <a:t>dental</a:t>
            </a:r>
            <a:r>
              <a:rPr sz="1300" spc="204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9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skeletal</a:t>
            </a:r>
            <a:r>
              <a:rPr sz="1300" spc="16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fluorosis</a:t>
            </a:r>
            <a:endParaRPr sz="1300">
              <a:latin typeface="Calibri"/>
              <a:cs typeface="Calibri"/>
            </a:endParaRPr>
          </a:p>
          <a:p>
            <a:pPr marL="129539" indent="-116205">
              <a:lnSpc>
                <a:spcPct val="100000"/>
              </a:lnSpc>
              <a:spcBef>
                <a:spcPts val="480"/>
              </a:spcBef>
              <a:buClr>
                <a:srgbClr val="23A157"/>
              </a:buClr>
              <a:buChar char="•"/>
              <a:tabLst>
                <a:tab pos="129539" algn="l"/>
              </a:tabLst>
            </a:pPr>
            <a:r>
              <a:rPr sz="1250" spc="30" dirty="0">
                <a:solidFill>
                  <a:srgbClr val="219554"/>
                </a:solidFill>
                <a:latin typeface="Calibri"/>
                <a:cs typeface="Calibri"/>
              </a:rPr>
              <a:t>Deficien</a:t>
            </a:r>
            <a:r>
              <a:rPr sz="1250" spc="-110" dirty="0">
                <a:solidFill>
                  <a:srgbClr val="219554"/>
                </a:solidFill>
                <a:latin typeface="Calibri"/>
                <a:cs typeface="Calibri"/>
              </a:rPr>
              <a:t> </a:t>
            </a:r>
            <a:r>
              <a:rPr sz="1250" spc="30" dirty="0">
                <a:solidFill>
                  <a:srgbClr val="3B3B3B"/>
                </a:solidFill>
                <a:latin typeface="Calibri"/>
                <a:cs typeface="Calibri"/>
              </a:rPr>
              <a:t>cy-</a:t>
            </a:r>
            <a:r>
              <a:rPr sz="1250" spc="16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250" spc="30" dirty="0">
                <a:latin typeface="Calibri"/>
                <a:cs typeface="Calibri"/>
              </a:rPr>
              <a:t>Dental</a:t>
            </a:r>
            <a:r>
              <a:rPr sz="1250" spc="215" dirty="0">
                <a:latin typeface="Calibri"/>
                <a:cs typeface="Calibri"/>
              </a:rPr>
              <a:t> </a:t>
            </a:r>
            <a:r>
              <a:rPr sz="1250" spc="-10" dirty="0">
                <a:latin typeface="Calibri"/>
                <a:cs typeface="Calibri"/>
              </a:rPr>
              <a:t>caries</a:t>
            </a:r>
            <a:endParaRPr sz="12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6400" y="3111500"/>
            <a:ext cx="4191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38625" y="0"/>
            <a:ext cx="1819275" cy="11715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14"/>
              </a:spcBef>
            </a:pPr>
            <a:r>
              <a:rPr sz="2250" spc="-75" dirty="0">
                <a:solidFill>
                  <a:srgbClr val="0A5EA1"/>
                </a:solidFill>
              </a:rPr>
              <a:t>Copper</a:t>
            </a:r>
            <a:endParaRPr sz="2250"/>
          </a:p>
        </p:txBody>
      </p:sp>
      <p:sp>
        <p:nvSpPr>
          <p:cNvPr id="4" name="object 4"/>
          <p:cNvSpPr txBox="1"/>
          <p:nvPr/>
        </p:nvSpPr>
        <p:spPr>
          <a:xfrm>
            <a:off x="435792" y="843607"/>
            <a:ext cx="5046345" cy="211709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40970" indent="-128270">
              <a:lnSpc>
                <a:spcPct val="100000"/>
              </a:lnSpc>
              <a:spcBef>
                <a:spcPts val="219"/>
              </a:spcBef>
              <a:buChar char="•"/>
              <a:tabLst>
                <a:tab pos="140970" algn="l"/>
              </a:tabLst>
            </a:pPr>
            <a:r>
              <a:rPr sz="1500" spc="-60" dirty="0">
                <a:latin typeface="Calibri"/>
                <a:cs typeface="Calibri"/>
              </a:rPr>
              <a:t>Adult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60" dirty="0">
                <a:latin typeface="Calibri"/>
                <a:cs typeface="Calibri"/>
              </a:rPr>
              <a:t>body</a:t>
            </a:r>
            <a:r>
              <a:rPr sz="1500" spc="-25" dirty="0">
                <a:latin typeface="Calibri"/>
                <a:cs typeface="Calibri"/>
              </a:rPr>
              <a:t> </a:t>
            </a:r>
            <a:r>
              <a:rPr sz="1500" spc="-35" dirty="0">
                <a:solidFill>
                  <a:srgbClr val="282828"/>
                </a:solidFill>
                <a:latin typeface="Calibri"/>
                <a:cs typeface="Calibri"/>
              </a:rPr>
              <a:t>is</a:t>
            </a:r>
            <a:r>
              <a:rPr sz="1500" spc="-7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500" spc="-55" dirty="0">
                <a:latin typeface="Calibri"/>
                <a:cs typeface="Calibri"/>
              </a:rPr>
              <a:t>contains</a:t>
            </a:r>
            <a:r>
              <a:rPr sz="1500" spc="10" dirty="0">
                <a:latin typeface="Calibri"/>
                <a:cs typeface="Calibri"/>
              </a:rPr>
              <a:t> </a:t>
            </a:r>
            <a:r>
              <a:rPr sz="1500" spc="-70" dirty="0">
                <a:latin typeface="Calibri"/>
                <a:cs typeface="Calibri"/>
              </a:rPr>
              <a:t>about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60" dirty="0">
                <a:solidFill>
                  <a:srgbClr val="0C0C0C"/>
                </a:solidFill>
                <a:latin typeface="Calibri"/>
                <a:cs typeface="Calibri"/>
              </a:rPr>
              <a:t>100-</a:t>
            </a:r>
            <a:r>
              <a:rPr sz="1500" spc="-25" dirty="0">
                <a:solidFill>
                  <a:srgbClr val="0C0C0C"/>
                </a:solidFill>
                <a:latin typeface="Calibri"/>
                <a:cs typeface="Calibri"/>
              </a:rPr>
              <a:t>150</a:t>
            </a:r>
            <a:r>
              <a:rPr sz="1500" spc="1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500" spc="-85" dirty="0">
                <a:latin typeface="Calibri"/>
                <a:cs typeface="Calibri"/>
              </a:rPr>
              <a:t>mg</a:t>
            </a:r>
            <a:r>
              <a:rPr sz="1500" spc="-35" dirty="0"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0E0E0E"/>
                </a:solidFill>
                <a:latin typeface="Calibri"/>
                <a:cs typeface="Calibri"/>
              </a:rPr>
              <a:t>Cu.</a:t>
            </a:r>
            <a:endParaRPr sz="1500">
              <a:latin typeface="Calibri"/>
              <a:cs typeface="Calibri"/>
            </a:endParaRPr>
          </a:p>
          <a:p>
            <a:pPr marL="138430" indent="-114935">
              <a:lnSpc>
                <a:spcPct val="100000"/>
              </a:lnSpc>
              <a:spcBef>
                <a:spcPts val="100"/>
              </a:spcBef>
              <a:buChar char="•"/>
              <a:tabLst>
                <a:tab pos="138430" algn="l"/>
              </a:tabLst>
            </a:pPr>
            <a:r>
              <a:rPr sz="1400" dirty="0">
                <a:latin typeface="Calibri"/>
                <a:cs typeface="Calibri"/>
              </a:rPr>
              <a:t>Blood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Contains: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0.11gmg/100ml</a:t>
            </a:r>
            <a:endParaRPr sz="1400">
              <a:latin typeface="Calibri"/>
              <a:cs typeface="Calibri"/>
            </a:endParaRPr>
          </a:p>
          <a:p>
            <a:pPr marL="137795" indent="-114935">
              <a:lnSpc>
                <a:spcPts val="1520"/>
              </a:lnSpc>
              <a:spcBef>
                <a:spcPts val="145"/>
              </a:spcBef>
              <a:buChar char="•"/>
              <a:tabLst>
                <a:tab pos="137795" algn="l"/>
              </a:tabLst>
            </a:pPr>
            <a:r>
              <a:rPr sz="1450" spc="-40" dirty="0">
                <a:latin typeface="Calibri"/>
                <a:cs typeface="Calibri"/>
              </a:rPr>
              <a:t>Required</a:t>
            </a:r>
            <a:r>
              <a:rPr sz="1450" spc="-30" dirty="0">
                <a:latin typeface="Calibri"/>
                <a:cs typeface="Calibri"/>
              </a:rPr>
              <a:t> </a:t>
            </a:r>
            <a:r>
              <a:rPr sz="1450" spc="-20" dirty="0">
                <a:latin typeface="Calibri"/>
                <a:cs typeface="Calibri"/>
              </a:rPr>
              <a:t>for</a:t>
            </a:r>
            <a:r>
              <a:rPr sz="1450" spc="-30" dirty="0">
                <a:latin typeface="Calibri"/>
                <a:cs typeface="Calibri"/>
              </a:rPr>
              <a:t> </a:t>
            </a:r>
            <a:r>
              <a:rPr sz="1450" spc="-35" dirty="0">
                <a:solidFill>
                  <a:srgbClr val="0C0C0C"/>
                </a:solidFill>
                <a:latin typeface="Calibri"/>
                <a:cs typeface="Calibri"/>
              </a:rPr>
              <a:t>bone</a:t>
            </a:r>
            <a:r>
              <a:rPr sz="1450" spc="-45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450" spc="-45" dirty="0">
                <a:latin typeface="Calibri"/>
                <a:cs typeface="Calibri"/>
              </a:rPr>
              <a:t>development,</a:t>
            </a:r>
            <a:r>
              <a:rPr sz="1450" spc="95" dirty="0">
                <a:latin typeface="Calibri"/>
                <a:cs typeface="Calibri"/>
              </a:rPr>
              <a:t> </a:t>
            </a:r>
            <a:r>
              <a:rPr sz="1450" spc="-35" dirty="0">
                <a:latin typeface="Calibri"/>
                <a:cs typeface="Calibri"/>
              </a:rPr>
              <a:t>Elastin</a:t>
            </a:r>
            <a:r>
              <a:rPr sz="1450" spc="-45" dirty="0">
                <a:latin typeface="Calibri"/>
                <a:cs typeface="Calibri"/>
              </a:rPr>
              <a:t> </a:t>
            </a:r>
            <a:r>
              <a:rPr sz="1450" spc="-35" dirty="0">
                <a:latin typeface="Calibri"/>
                <a:cs typeface="Calibri"/>
              </a:rPr>
              <a:t>formation,</a:t>
            </a:r>
            <a:r>
              <a:rPr sz="1450" spc="10" dirty="0"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cytochrome</a:t>
            </a:r>
            <a:endParaRPr sz="1450">
              <a:latin typeface="Calibri"/>
              <a:cs typeface="Calibri"/>
            </a:endParaRPr>
          </a:p>
          <a:p>
            <a:pPr marL="136525">
              <a:lnSpc>
                <a:spcPts val="1580"/>
              </a:lnSpc>
            </a:pPr>
            <a:r>
              <a:rPr sz="1500" spc="-60" dirty="0">
                <a:latin typeface="Calibri"/>
                <a:cs typeface="Calibri"/>
              </a:rPr>
              <a:t>oxidase</a:t>
            </a:r>
            <a:r>
              <a:rPr sz="1500" spc="-15" dirty="0">
                <a:latin typeface="Calibri"/>
                <a:cs typeface="Calibri"/>
              </a:rPr>
              <a:t> </a:t>
            </a:r>
            <a:r>
              <a:rPr sz="1500" spc="-55" dirty="0">
                <a:latin typeface="Calibri"/>
                <a:cs typeface="Calibri"/>
              </a:rPr>
              <a:t>function,</a:t>
            </a:r>
            <a:r>
              <a:rPr sz="1500" spc="40" dirty="0">
                <a:latin typeface="Calibri"/>
                <a:cs typeface="Calibri"/>
              </a:rPr>
              <a:t> </a:t>
            </a:r>
            <a:r>
              <a:rPr sz="1500" spc="-55" dirty="0">
                <a:latin typeface="Calibri"/>
                <a:cs typeface="Calibri"/>
              </a:rPr>
              <a:t>Iron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55" dirty="0">
                <a:latin typeface="Calibri"/>
                <a:cs typeface="Calibri"/>
              </a:rPr>
              <a:t>absorption,</a:t>
            </a:r>
            <a:r>
              <a:rPr sz="1500" spc="80" dirty="0">
                <a:latin typeface="Calibri"/>
                <a:cs typeface="Calibri"/>
              </a:rPr>
              <a:t> </a:t>
            </a:r>
            <a:r>
              <a:rPr sz="1500" spc="-60" dirty="0">
                <a:latin typeface="Calibri"/>
                <a:cs typeface="Calibri"/>
              </a:rPr>
              <a:t>tyrosinase</a:t>
            </a:r>
            <a:r>
              <a:rPr sz="1500" spc="25" dirty="0">
                <a:latin typeface="Calibri"/>
                <a:cs typeface="Calibri"/>
              </a:rPr>
              <a:t> </a:t>
            </a:r>
            <a:r>
              <a:rPr sz="1500" spc="-55" dirty="0">
                <a:latin typeface="Calibri"/>
                <a:cs typeface="Calibri"/>
              </a:rPr>
              <a:t>(melanin</a:t>
            </a:r>
            <a:r>
              <a:rPr sz="1500" spc="-30" dirty="0">
                <a:latin typeface="Calibri"/>
                <a:cs typeface="Calibri"/>
              </a:rPr>
              <a:t> </a:t>
            </a:r>
            <a:r>
              <a:rPr sz="1500" spc="-10" dirty="0">
                <a:latin typeface="Calibri"/>
                <a:cs typeface="Calibri"/>
              </a:rPr>
              <a:t>formation)</a:t>
            </a:r>
            <a:endParaRPr sz="1500">
              <a:latin typeface="Calibri"/>
              <a:cs typeface="Calibri"/>
            </a:endParaRPr>
          </a:p>
          <a:p>
            <a:pPr marL="138430" marR="645160" indent="-114935">
              <a:lnSpc>
                <a:spcPts val="1350"/>
              </a:lnSpc>
              <a:spcBef>
                <a:spcPts val="420"/>
              </a:spcBef>
              <a:buClr>
                <a:srgbClr val="00AC49"/>
              </a:buClr>
              <a:buChar char="•"/>
              <a:tabLst>
                <a:tab pos="139700" algn="l"/>
              </a:tabLst>
            </a:pPr>
            <a:r>
              <a:rPr sz="1400" spc="-10" dirty="0">
                <a:latin typeface="Calibri"/>
                <a:cs typeface="Calibri"/>
              </a:rPr>
              <a:t>Deficiency-</a:t>
            </a:r>
            <a:r>
              <a:rPr sz="1400" dirty="0">
                <a:latin typeface="Calibri"/>
                <a:cs typeface="Calibri"/>
              </a:rPr>
              <a:t>Cardiac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Hypertrophy,</a:t>
            </a:r>
            <a:r>
              <a:rPr sz="1400" spc="1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Aortic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Aneurysm,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Cerebral 	D</a:t>
            </a:r>
            <a:r>
              <a:rPr lang="en-IN" sz="1400" spc="-10" dirty="0">
                <a:latin typeface="Calibri"/>
                <a:cs typeface="Calibri"/>
              </a:rPr>
              <a:t>emyelination</a:t>
            </a:r>
            <a:r>
              <a:rPr sz="1400" spc="-10" dirty="0">
                <a:latin typeface="Calibri"/>
                <a:cs typeface="Calibri"/>
              </a:rPr>
              <a:t>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30" dirty="0">
                <a:latin typeface="Calibri"/>
                <a:cs typeface="Calibri"/>
              </a:rPr>
              <a:t>Ataxia,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impaired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bone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formation</a:t>
            </a:r>
            <a:endParaRPr sz="1400">
              <a:latin typeface="Calibri"/>
              <a:cs typeface="Calibri"/>
            </a:endParaRPr>
          </a:p>
          <a:p>
            <a:pPr marL="137795" marR="5080" indent="-114935" algn="just">
              <a:lnSpc>
                <a:spcPct val="76500"/>
              </a:lnSpc>
              <a:spcBef>
                <a:spcPts val="525"/>
              </a:spcBef>
              <a:buClr>
                <a:srgbClr val="00A53F"/>
              </a:buClr>
              <a:buChar char="•"/>
              <a:tabLst>
                <a:tab pos="140970" algn="l"/>
              </a:tabLst>
            </a:pPr>
            <a:r>
              <a:rPr sz="1450" spc="-20" dirty="0">
                <a:solidFill>
                  <a:srgbClr val="009C42"/>
                </a:solidFill>
                <a:latin typeface="Calibri"/>
                <a:cs typeface="Calibri"/>
              </a:rPr>
              <a:t>Excess</a:t>
            </a:r>
            <a:r>
              <a:rPr sz="1450" spc="45" dirty="0">
                <a:solidFill>
                  <a:srgbClr val="009C42"/>
                </a:solidFill>
                <a:latin typeface="Calibri"/>
                <a:cs typeface="Calibri"/>
              </a:rPr>
              <a:t> </a:t>
            </a:r>
            <a:r>
              <a:rPr sz="1450" spc="-25" dirty="0">
                <a:latin typeface="Calibri"/>
                <a:cs typeface="Calibri"/>
              </a:rPr>
              <a:t>absorption</a:t>
            </a:r>
            <a:r>
              <a:rPr lang="en-IN" sz="1450" spc="-25" dirty="0">
                <a:latin typeface="Calibri"/>
                <a:cs typeface="Calibri"/>
              </a:rPr>
              <a:t>:</a:t>
            </a:r>
            <a:r>
              <a:rPr lang="en-IN" sz="1450" spc="15" dirty="0"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Copper is</a:t>
            </a:r>
            <a:r>
              <a:rPr sz="1450" spc="-75" dirty="0">
                <a:latin typeface="Calibri"/>
                <a:cs typeface="Calibri"/>
              </a:rPr>
              <a:t> </a:t>
            </a:r>
            <a:r>
              <a:rPr sz="1450" spc="-35" dirty="0">
                <a:latin typeface="Calibri"/>
                <a:cs typeface="Calibri"/>
              </a:rPr>
              <a:t>deposited</a:t>
            </a:r>
            <a:r>
              <a:rPr sz="1450" spc="-45" dirty="0">
                <a:latin typeface="Calibri"/>
                <a:cs typeface="Calibri"/>
              </a:rPr>
              <a:t> </a:t>
            </a:r>
            <a:r>
              <a:rPr sz="1450" spc="-30" dirty="0">
                <a:latin typeface="Calibri"/>
                <a:cs typeface="Calibri"/>
              </a:rPr>
              <a:t>in</a:t>
            </a:r>
            <a:r>
              <a:rPr sz="1450" spc="-50" dirty="0">
                <a:latin typeface="Calibri"/>
                <a:cs typeface="Calibri"/>
              </a:rPr>
              <a:t> </a:t>
            </a:r>
            <a:r>
              <a:rPr sz="1450" spc="-20" dirty="0">
                <a:latin typeface="Calibri"/>
                <a:cs typeface="Calibri"/>
              </a:rPr>
              <a:t>brain,</a:t>
            </a:r>
            <a:r>
              <a:rPr sz="1450" spc="20" dirty="0">
                <a:latin typeface="Calibri"/>
                <a:cs typeface="Calibri"/>
              </a:rPr>
              <a:t> </a:t>
            </a:r>
            <a:r>
              <a:rPr sz="1450" spc="-45" dirty="0">
                <a:latin typeface="Calibri"/>
                <a:cs typeface="Calibri"/>
              </a:rPr>
              <a:t>descendent</a:t>
            </a:r>
            <a:r>
              <a:rPr sz="1450" spc="20" dirty="0">
                <a:latin typeface="Calibri"/>
                <a:cs typeface="Calibri"/>
              </a:rPr>
              <a:t> </a:t>
            </a:r>
            <a:r>
              <a:rPr sz="1450" spc="-35" dirty="0">
                <a:latin typeface="Calibri"/>
                <a:cs typeface="Calibri"/>
              </a:rPr>
              <a:t>membrane</a:t>
            </a:r>
            <a:r>
              <a:rPr sz="1450" spc="30" dirty="0"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of</a:t>
            </a:r>
            <a:r>
              <a:rPr sz="1450" spc="-40" dirty="0">
                <a:latin typeface="Calibri"/>
                <a:cs typeface="Calibri"/>
              </a:rPr>
              <a:t> </a:t>
            </a:r>
            <a:r>
              <a:rPr sz="1450" spc="-50" dirty="0">
                <a:latin typeface="Calibri"/>
                <a:cs typeface="Calibri"/>
              </a:rPr>
              <a:t>eyes</a:t>
            </a:r>
            <a:r>
              <a:rPr sz="1450" spc="-30" dirty="0">
                <a:latin typeface="Calibri"/>
                <a:cs typeface="Calibri"/>
              </a:rPr>
              <a:t> </a:t>
            </a:r>
            <a:r>
              <a:rPr sz="1450" spc="-40" dirty="0">
                <a:latin typeface="Calibri"/>
                <a:cs typeface="Calibri"/>
              </a:rPr>
              <a:t>(Kayser-</a:t>
            </a:r>
            <a:r>
              <a:rPr sz="1450" spc="-10" dirty="0">
                <a:latin typeface="Calibri"/>
                <a:cs typeface="Calibri"/>
              </a:rPr>
              <a:t>Feisher 	</a:t>
            </a:r>
            <a:r>
              <a:rPr sz="1450" spc="-25" dirty="0">
                <a:latin typeface="Calibri"/>
                <a:cs typeface="Calibri"/>
              </a:rPr>
              <a:t>ring)</a:t>
            </a:r>
            <a:r>
              <a:rPr sz="1450" spc="-40" dirty="0"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0F0F0F"/>
                </a:solidFill>
                <a:latin typeface="Calibri"/>
                <a:cs typeface="Calibri"/>
              </a:rPr>
              <a:t>,</a:t>
            </a:r>
            <a:r>
              <a:rPr sz="1450" spc="-5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450" spc="-55" dirty="0">
                <a:latin typeface="Calibri"/>
                <a:cs typeface="Calibri"/>
              </a:rPr>
              <a:t>liver,</a:t>
            </a:r>
            <a:r>
              <a:rPr sz="1450" spc="-25" dirty="0">
                <a:latin typeface="Calibri"/>
                <a:cs typeface="Calibri"/>
              </a:rPr>
              <a:t> kidney</a:t>
            </a:r>
            <a:r>
              <a:rPr sz="1450" spc="-15" dirty="0"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and</a:t>
            </a:r>
            <a:r>
              <a:rPr sz="1450" spc="-50" dirty="0">
                <a:latin typeface="Calibri"/>
                <a:cs typeface="Calibri"/>
              </a:rPr>
              <a:t> </a:t>
            </a:r>
            <a:r>
              <a:rPr sz="1450" spc="-45" dirty="0">
                <a:latin typeface="Calibri"/>
                <a:cs typeface="Calibri"/>
              </a:rPr>
              <a:t>damaged</a:t>
            </a:r>
            <a:r>
              <a:rPr sz="1450" spc="-35" dirty="0"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them.</a:t>
            </a:r>
            <a:endParaRPr sz="1450">
              <a:latin typeface="Calibri"/>
              <a:cs typeface="Calibri"/>
            </a:endParaRPr>
          </a:p>
          <a:p>
            <a:pPr marL="135255" indent="-113030" algn="just">
              <a:lnSpc>
                <a:spcPct val="100000"/>
              </a:lnSpc>
              <a:spcBef>
                <a:spcPts val="135"/>
              </a:spcBef>
              <a:buChar char="•"/>
              <a:tabLst>
                <a:tab pos="135255" algn="l"/>
              </a:tabLst>
            </a:pPr>
            <a:r>
              <a:rPr sz="1450" dirty="0">
                <a:latin typeface="Calibri"/>
                <a:cs typeface="Calibri"/>
              </a:rPr>
              <a:t>Cu</a:t>
            </a:r>
            <a:r>
              <a:rPr sz="1450" spc="-65" dirty="0">
                <a:latin typeface="Calibri"/>
                <a:cs typeface="Calibri"/>
              </a:rPr>
              <a:t> </a:t>
            </a:r>
            <a:r>
              <a:rPr sz="1450" spc="-40" dirty="0">
                <a:latin typeface="Calibri"/>
                <a:cs typeface="Calibri"/>
              </a:rPr>
              <a:t>requirement</a:t>
            </a:r>
            <a:r>
              <a:rPr sz="1450" spc="40" dirty="0">
                <a:latin typeface="Calibri"/>
                <a:cs typeface="Calibri"/>
              </a:rPr>
              <a:t> </a:t>
            </a:r>
            <a:r>
              <a:rPr sz="1450" spc="-40" dirty="0">
                <a:latin typeface="Calibri"/>
                <a:cs typeface="Calibri"/>
              </a:rPr>
              <a:t>for </a:t>
            </a:r>
            <a:r>
              <a:rPr sz="1450" spc="-30" dirty="0">
                <a:latin typeface="Calibri"/>
                <a:cs typeface="Calibri"/>
              </a:rPr>
              <a:t>adults:</a:t>
            </a:r>
            <a:r>
              <a:rPr sz="1450" spc="35" dirty="0">
                <a:latin typeface="Calibri"/>
                <a:cs typeface="Calibri"/>
              </a:rPr>
              <a:t> </a:t>
            </a:r>
            <a:r>
              <a:rPr sz="1450" spc="-20" dirty="0">
                <a:latin typeface="Calibri"/>
                <a:cs typeface="Calibri"/>
              </a:rPr>
              <a:t>2.0</a:t>
            </a:r>
            <a:r>
              <a:rPr sz="1450" spc="-55" dirty="0"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111111"/>
                </a:solidFill>
                <a:latin typeface="Calibri"/>
                <a:cs typeface="Calibri"/>
              </a:rPr>
              <a:t>mg</a:t>
            </a:r>
            <a:r>
              <a:rPr sz="1450" spc="-3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latin typeface="Calibri"/>
                <a:cs typeface="Calibri"/>
              </a:rPr>
              <a:t>per</a:t>
            </a:r>
            <a:r>
              <a:rPr sz="1450" spc="-55" dirty="0">
                <a:latin typeface="Calibri"/>
                <a:cs typeface="Calibri"/>
              </a:rPr>
              <a:t> </a:t>
            </a:r>
            <a:r>
              <a:rPr sz="1450" spc="-20" dirty="0">
                <a:latin typeface="Calibri"/>
                <a:cs typeface="Calibri"/>
              </a:rPr>
              <a:t>day.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9100" y="3136900"/>
            <a:ext cx="4572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5877" y="290314"/>
            <a:ext cx="471805" cy="365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0" dirty="0">
                <a:solidFill>
                  <a:srgbClr val="034F89"/>
                </a:solidFill>
              </a:rPr>
              <a:t>Zinc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37662" y="828939"/>
            <a:ext cx="5148580" cy="1891543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35255" indent="-111125">
              <a:lnSpc>
                <a:spcPct val="100000"/>
              </a:lnSpc>
              <a:spcBef>
                <a:spcPts val="270"/>
              </a:spcBef>
              <a:buChar char="•"/>
              <a:tabLst>
                <a:tab pos="135255" algn="l"/>
              </a:tabLst>
            </a:pPr>
            <a:r>
              <a:rPr dirty="0"/>
              <a:t>Component</a:t>
            </a:r>
            <a:r>
              <a:rPr spc="360" dirty="0"/>
              <a:t> </a:t>
            </a:r>
            <a:r>
              <a:rPr dirty="0">
                <a:solidFill>
                  <a:srgbClr val="212121"/>
                </a:solidFill>
              </a:rPr>
              <a:t>of</a:t>
            </a:r>
            <a:r>
              <a:rPr spc="145" dirty="0">
                <a:solidFill>
                  <a:srgbClr val="212121"/>
                </a:solidFill>
              </a:rPr>
              <a:t> </a:t>
            </a:r>
            <a:r>
              <a:rPr dirty="0"/>
              <a:t>&gt;300</a:t>
            </a:r>
            <a:r>
              <a:rPr spc="235" dirty="0"/>
              <a:t> </a:t>
            </a:r>
            <a:r>
              <a:rPr spc="-10" dirty="0"/>
              <a:t>enzymes.</a:t>
            </a:r>
          </a:p>
          <a:p>
            <a:pPr marL="139700" indent="-125095">
              <a:lnSpc>
                <a:spcPct val="100000"/>
              </a:lnSpc>
              <a:spcBef>
                <a:spcPts val="180"/>
              </a:spcBef>
              <a:buChar char="•"/>
              <a:tabLst>
                <a:tab pos="139700" algn="l"/>
              </a:tabLst>
            </a:pPr>
            <a:r>
              <a:rPr dirty="0"/>
              <a:t>It</a:t>
            </a:r>
            <a:r>
              <a:rPr spc="135" dirty="0"/>
              <a:t> </a:t>
            </a:r>
            <a:r>
              <a:rPr dirty="0"/>
              <a:t>is</a:t>
            </a:r>
            <a:r>
              <a:rPr spc="295" dirty="0"/>
              <a:t> </a:t>
            </a:r>
            <a:r>
              <a:rPr dirty="0"/>
              <a:t>active</a:t>
            </a:r>
            <a:r>
              <a:rPr spc="150" dirty="0"/>
              <a:t> </a:t>
            </a:r>
            <a:r>
              <a:rPr dirty="0">
                <a:solidFill>
                  <a:srgbClr val="151515"/>
                </a:solidFill>
              </a:rPr>
              <a:t>in</a:t>
            </a:r>
            <a:r>
              <a:rPr spc="145" dirty="0">
                <a:solidFill>
                  <a:srgbClr val="151515"/>
                </a:solidFill>
              </a:rPr>
              <a:t> </a:t>
            </a:r>
            <a:r>
              <a:rPr dirty="0"/>
              <a:t>the</a:t>
            </a:r>
            <a:r>
              <a:rPr spc="105" dirty="0"/>
              <a:t> </a:t>
            </a:r>
            <a:r>
              <a:rPr dirty="0"/>
              <a:t>metabolism</a:t>
            </a:r>
            <a:r>
              <a:rPr spc="250" dirty="0"/>
              <a:t> </a:t>
            </a:r>
            <a:r>
              <a:rPr dirty="0"/>
              <a:t>of</a:t>
            </a:r>
            <a:r>
              <a:rPr spc="165" dirty="0"/>
              <a:t> </a:t>
            </a:r>
            <a:r>
              <a:rPr dirty="0"/>
              <a:t>glucides</a:t>
            </a:r>
            <a:r>
              <a:rPr spc="120" dirty="0"/>
              <a:t> </a:t>
            </a:r>
            <a:r>
              <a:rPr dirty="0"/>
              <a:t>and</a:t>
            </a:r>
            <a:r>
              <a:rPr spc="180" dirty="0"/>
              <a:t> </a:t>
            </a:r>
            <a:r>
              <a:rPr spc="-10" dirty="0"/>
              <a:t>proteins</a:t>
            </a:r>
          </a:p>
          <a:p>
            <a:pPr marL="140335" indent="-116205">
              <a:lnSpc>
                <a:spcPts val="1165"/>
              </a:lnSpc>
              <a:spcBef>
                <a:spcPts val="130"/>
              </a:spcBef>
              <a:buChar char="•"/>
              <a:tabLst>
                <a:tab pos="140335" algn="l"/>
              </a:tabLst>
            </a:pPr>
            <a:r>
              <a:rPr sz="1150" dirty="0"/>
              <a:t>Required</a:t>
            </a:r>
            <a:r>
              <a:rPr sz="1150" spc="75" dirty="0"/>
              <a:t> </a:t>
            </a:r>
            <a:r>
              <a:rPr sz="1150" dirty="0"/>
              <a:t>for</a:t>
            </a:r>
            <a:r>
              <a:rPr sz="1150" spc="25" dirty="0"/>
              <a:t> </a:t>
            </a:r>
            <a:r>
              <a:rPr sz="1150" dirty="0">
                <a:solidFill>
                  <a:srgbClr val="0E0E0E"/>
                </a:solidFill>
              </a:rPr>
              <a:t>the</a:t>
            </a:r>
            <a:r>
              <a:rPr sz="1150" spc="50" dirty="0">
                <a:solidFill>
                  <a:srgbClr val="0E0E0E"/>
                </a:solidFill>
              </a:rPr>
              <a:t> </a:t>
            </a:r>
            <a:r>
              <a:rPr sz="1150" dirty="0"/>
              <a:t>synthesis</a:t>
            </a:r>
            <a:r>
              <a:rPr sz="1150" spc="10" dirty="0"/>
              <a:t> </a:t>
            </a:r>
            <a:r>
              <a:rPr sz="1150" dirty="0"/>
              <a:t>of</a:t>
            </a:r>
            <a:r>
              <a:rPr sz="1150" spc="80" dirty="0"/>
              <a:t> </a:t>
            </a:r>
            <a:r>
              <a:rPr sz="1150" dirty="0"/>
              <a:t>insulin</a:t>
            </a:r>
            <a:r>
              <a:rPr sz="1150" spc="75" dirty="0"/>
              <a:t> </a:t>
            </a:r>
            <a:r>
              <a:rPr sz="1150" dirty="0"/>
              <a:t>by</a:t>
            </a:r>
            <a:r>
              <a:rPr sz="1150" spc="25" dirty="0"/>
              <a:t> </a:t>
            </a:r>
            <a:r>
              <a:rPr sz="1150" dirty="0">
                <a:solidFill>
                  <a:srgbClr val="0C0C0C"/>
                </a:solidFill>
              </a:rPr>
              <a:t>the</a:t>
            </a:r>
            <a:r>
              <a:rPr sz="1150" spc="5" dirty="0">
                <a:solidFill>
                  <a:srgbClr val="0C0C0C"/>
                </a:solidFill>
              </a:rPr>
              <a:t> </a:t>
            </a:r>
            <a:r>
              <a:rPr sz="1150" dirty="0">
                <a:solidFill>
                  <a:srgbClr val="181818"/>
                </a:solidFill>
              </a:rPr>
              <a:t>pancreas</a:t>
            </a:r>
            <a:r>
              <a:rPr sz="1150" spc="90" dirty="0">
                <a:solidFill>
                  <a:srgbClr val="181818"/>
                </a:solidFill>
              </a:rPr>
              <a:t> </a:t>
            </a:r>
            <a:r>
              <a:rPr sz="1150" dirty="0">
                <a:solidFill>
                  <a:srgbClr val="0F0F0F"/>
                </a:solidFill>
              </a:rPr>
              <a:t>and</a:t>
            </a:r>
            <a:r>
              <a:rPr sz="1150" spc="125" dirty="0">
                <a:solidFill>
                  <a:srgbClr val="0F0F0F"/>
                </a:solidFill>
              </a:rPr>
              <a:t> </a:t>
            </a:r>
            <a:r>
              <a:rPr sz="1150" dirty="0">
                <a:solidFill>
                  <a:srgbClr val="111111"/>
                </a:solidFill>
              </a:rPr>
              <a:t>for</a:t>
            </a:r>
            <a:r>
              <a:rPr sz="1150" spc="120" dirty="0">
                <a:solidFill>
                  <a:srgbClr val="111111"/>
                </a:solidFill>
              </a:rPr>
              <a:t> </a:t>
            </a:r>
            <a:r>
              <a:rPr sz="1150" dirty="0">
                <a:solidFill>
                  <a:srgbClr val="0F0F0F"/>
                </a:solidFill>
              </a:rPr>
              <a:t>the</a:t>
            </a:r>
            <a:r>
              <a:rPr sz="1150" spc="20" dirty="0">
                <a:solidFill>
                  <a:srgbClr val="0F0F0F"/>
                </a:solidFill>
              </a:rPr>
              <a:t> </a:t>
            </a:r>
            <a:r>
              <a:rPr sz="1150" spc="-10" dirty="0"/>
              <a:t>immunity</a:t>
            </a:r>
            <a:endParaRPr sz="1150"/>
          </a:p>
          <a:p>
            <a:pPr marL="149225">
              <a:lnSpc>
                <a:spcPts val="1285"/>
              </a:lnSpc>
            </a:pPr>
            <a:r>
              <a:rPr sz="1250" spc="-10" dirty="0"/>
              <a:t>function.</a:t>
            </a:r>
            <a:endParaRPr sz="1250"/>
          </a:p>
          <a:p>
            <a:pPr marL="177800" indent="-164465">
              <a:lnSpc>
                <a:spcPts val="1240"/>
              </a:lnSpc>
              <a:buChar char="•"/>
              <a:tabLst>
                <a:tab pos="177800" algn="l"/>
              </a:tabLst>
            </a:pPr>
            <a:r>
              <a:rPr sz="1250" spc="-40" dirty="0"/>
              <a:t>Zinc</a:t>
            </a:r>
            <a:r>
              <a:rPr sz="1250" spc="-35" dirty="0"/>
              <a:t> </a:t>
            </a:r>
            <a:r>
              <a:rPr sz="1250" spc="-45" dirty="0">
                <a:solidFill>
                  <a:srgbClr val="212121"/>
                </a:solidFill>
              </a:rPr>
              <a:t>is</a:t>
            </a:r>
            <a:r>
              <a:rPr sz="1250" spc="-25" dirty="0">
                <a:solidFill>
                  <a:srgbClr val="212121"/>
                </a:solidFill>
              </a:rPr>
              <a:t> </a:t>
            </a:r>
            <a:r>
              <a:rPr sz="1250" spc="-30" dirty="0"/>
              <a:t>present</a:t>
            </a:r>
            <a:r>
              <a:rPr sz="1250" spc="-5" dirty="0"/>
              <a:t> </a:t>
            </a:r>
            <a:r>
              <a:rPr sz="1250" spc="-20" dirty="0">
                <a:solidFill>
                  <a:srgbClr val="464646"/>
                </a:solidFill>
              </a:rPr>
              <a:t>in</a:t>
            </a:r>
            <a:r>
              <a:rPr sz="1250" spc="-50" dirty="0">
                <a:solidFill>
                  <a:srgbClr val="464646"/>
                </a:solidFill>
              </a:rPr>
              <a:t> </a:t>
            </a:r>
            <a:r>
              <a:rPr sz="1250" spc="-45" dirty="0">
                <a:solidFill>
                  <a:srgbClr val="111111"/>
                </a:solidFill>
              </a:rPr>
              <a:t>small</a:t>
            </a:r>
            <a:r>
              <a:rPr sz="1250" spc="-25" dirty="0">
                <a:solidFill>
                  <a:srgbClr val="111111"/>
                </a:solidFill>
              </a:rPr>
              <a:t> </a:t>
            </a:r>
            <a:r>
              <a:rPr sz="1250" spc="-40" dirty="0">
                <a:solidFill>
                  <a:srgbClr val="0E0E0E"/>
                </a:solidFill>
              </a:rPr>
              <a:t>amounts</a:t>
            </a:r>
            <a:r>
              <a:rPr sz="1250" spc="20" dirty="0">
                <a:solidFill>
                  <a:srgbClr val="0E0E0E"/>
                </a:solidFill>
              </a:rPr>
              <a:t> </a:t>
            </a:r>
            <a:r>
              <a:rPr sz="1250" spc="-30" dirty="0">
                <a:solidFill>
                  <a:srgbClr val="424242"/>
                </a:solidFill>
              </a:rPr>
              <a:t>in</a:t>
            </a:r>
            <a:r>
              <a:rPr sz="1250" spc="-40" dirty="0">
                <a:solidFill>
                  <a:srgbClr val="424242"/>
                </a:solidFill>
              </a:rPr>
              <a:t> </a:t>
            </a:r>
            <a:r>
              <a:rPr sz="1250" dirty="0">
                <a:solidFill>
                  <a:srgbClr val="1C1C1C"/>
                </a:solidFill>
              </a:rPr>
              <a:t>all</a:t>
            </a:r>
            <a:r>
              <a:rPr sz="1250" spc="-40" dirty="0">
                <a:solidFill>
                  <a:srgbClr val="1C1C1C"/>
                </a:solidFill>
              </a:rPr>
              <a:t> </a:t>
            </a:r>
            <a:r>
              <a:rPr sz="1250" spc="-35" dirty="0">
                <a:solidFill>
                  <a:srgbClr val="262626"/>
                </a:solidFill>
              </a:rPr>
              <a:t>tissues.</a:t>
            </a:r>
            <a:endParaRPr lang="en-IN" sz="1250" spc="-10" dirty="0">
              <a:solidFill>
                <a:srgbClr val="262626"/>
              </a:solidFill>
            </a:endParaRPr>
          </a:p>
          <a:p>
            <a:pPr marL="177800" indent="-164465">
              <a:lnSpc>
                <a:spcPts val="1240"/>
              </a:lnSpc>
              <a:buChar char="•"/>
              <a:tabLst>
                <a:tab pos="177800" algn="l"/>
              </a:tabLst>
            </a:pPr>
            <a:endParaRPr sz="1250"/>
          </a:p>
          <a:p>
            <a:pPr marL="27305">
              <a:lnSpc>
                <a:spcPct val="100000"/>
              </a:lnSpc>
              <a:spcBef>
                <a:spcPts val="50"/>
              </a:spcBef>
            </a:pPr>
            <a:r>
              <a:rPr sz="1200" dirty="0"/>
              <a:t>'</a:t>
            </a:r>
            <a:r>
              <a:rPr sz="1200" spc="254" dirty="0"/>
              <a:t> </a:t>
            </a:r>
            <a:r>
              <a:rPr sz="1200" dirty="0"/>
              <a:t>The</a:t>
            </a:r>
            <a:r>
              <a:rPr sz="1200" spc="-25" dirty="0"/>
              <a:t> </a:t>
            </a:r>
            <a:r>
              <a:rPr sz="1200" spc="-10" dirty="0"/>
              <a:t>average</a:t>
            </a:r>
            <a:r>
              <a:rPr sz="1200" spc="10" dirty="0"/>
              <a:t> </a:t>
            </a:r>
            <a:r>
              <a:rPr sz="1200" dirty="0"/>
              <a:t>adult</a:t>
            </a:r>
            <a:r>
              <a:rPr sz="1200" spc="-15" dirty="0"/>
              <a:t> </a:t>
            </a:r>
            <a:r>
              <a:rPr sz="1200" spc="-10" dirty="0"/>
              <a:t>body</a:t>
            </a:r>
            <a:r>
              <a:rPr sz="1200" spc="20" dirty="0"/>
              <a:t> </a:t>
            </a:r>
            <a:r>
              <a:rPr sz="1200" spc="-10" dirty="0"/>
              <a:t>contains</a:t>
            </a:r>
            <a:r>
              <a:rPr sz="1200" spc="45" dirty="0"/>
              <a:t> </a:t>
            </a:r>
            <a:r>
              <a:rPr sz="1200" spc="-10" dirty="0"/>
              <a:t>1.4</a:t>
            </a:r>
            <a:r>
              <a:rPr sz="1200" spc="-40" dirty="0"/>
              <a:t> </a:t>
            </a:r>
            <a:r>
              <a:rPr sz="1200" dirty="0"/>
              <a:t>to</a:t>
            </a:r>
            <a:r>
              <a:rPr sz="1200" spc="-40" dirty="0"/>
              <a:t> </a:t>
            </a:r>
            <a:r>
              <a:rPr sz="1200" dirty="0"/>
              <a:t>2.3</a:t>
            </a:r>
            <a:r>
              <a:rPr sz="1200" spc="-15" dirty="0"/>
              <a:t> </a:t>
            </a:r>
            <a:r>
              <a:rPr sz="1200" dirty="0">
                <a:solidFill>
                  <a:srgbClr val="282828"/>
                </a:solidFill>
              </a:rPr>
              <a:t>g</a:t>
            </a:r>
            <a:r>
              <a:rPr sz="1200" spc="-25" dirty="0">
                <a:solidFill>
                  <a:srgbClr val="282828"/>
                </a:solidFill>
              </a:rPr>
              <a:t> </a:t>
            </a:r>
            <a:r>
              <a:rPr sz="1200" spc="-35" dirty="0"/>
              <a:t>of </a:t>
            </a:r>
            <a:r>
              <a:rPr lang="en-IN" sz="1200" spc="-10" dirty="0"/>
              <a:t>z</a:t>
            </a:r>
            <a:r>
              <a:rPr sz="1200" spc="-10" dirty="0"/>
              <a:t>inc.</a:t>
            </a:r>
            <a:endParaRPr sz="1200"/>
          </a:p>
          <a:p>
            <a:pPr marL="139065" indent="-125095">
              <a:lnSpc>
                <a:spcPts val="1220"/>
              </a:lnSpc>
              <a:spcBef>
                <a:spcPts val="60"/>
              </a:spcBef>
              <a:buChar char="•"/>
              <a:tabLst>
                <a:tab pos="139065" algn="l"/>
              </a:tabLst>
            </a:pPr>
            <a:r>
              <a:rPr sz="1200" dirty="0"/>
              <a:t>Zinc</a:t>
            </a:r>
            <a:r>
              <a:rPr sz="1200" spc="-20" dirty="0"/>
              <a:t> </a:t>
            </a:r>
            <a:r>
              <a:rPr sz="1200" spc="-10" dirty="0"/>
              <a:t>deficiency</a:t>
            </a:r>
            <a:r>
              <a:rPr sz="1200" spc="10" dirty="0"/>
              <a:t> </a:t>
            </a:r>
            <a:r>
              <a:rPr sz="1200" spc="-20" dirty="0">
                <a:solidFill>
                  <a:srgbClr val="1F1F1F"/>
                </a:solidFill>
              </a:rPr>
              <a:t>has</a:t>
            </a:r>
            <a:r>
              <a:rPr sz="1200" spc="-50" dirty="0">
                <a:solidFill>
                  <a:srgbClr val="1F1F1F"/>
                </a:solidFill>
              </a:rPr>
              <a:t> </a:t>
            </a:r>
            <a:r>
              <a:rPr sz="1200" dirty="0"/>
              <a:t>been</a:t>
            </a:r>
            <a:r>
              <a:rPr sz="1200" spc="-10" dirty="0"/>
              <a:t> reported</a:t>
            </a:r>
            <a:r>
              <a:rPr sz="1200" spc="5" dirty="0"/>
              <a:t> </a:t>
            </a:r>
            <a:r>
              <a:rPr sz="1200" dirty="0"/>
              <a:t>to</a:t>
            </a:r>
            <a:r>
              <a:rPr sz="1200" spc="-10" dirty="0"/>
              <a:t> </a:t>
            </a:r>
            <a:r>
              <a:rPr sz="1200" dirty="0"/>
              <a:t>result</a:t>
            </a:r>
            <a:r>
              <a:rPr sz="1200" spc="-15" dirty="0"/>
              <a:t> </a:t>
            </a:r>
            <a:r>
              <a:rPr sz="1200" dirty="0">
                <a:solidFill>
                  <a:srgbClr val="161616"/>
                </a:solidFill>
              </a:rPr>
              <a:t>in</a:t>
            </a:r>
            <a:r>
              <a:rPr sz="1200" spc="-45" dirty="0">
                <a:solidFill>
                  <a:srgbClr val="161616"/>
                </a:solidFill>
              </a:rPr>
              <a:t> </a:t>
            </a:r>
            <a:r>
              <a:rPr sz="1200" dirty="0"/>
              <a:t>growth</a:t>
            </a:r>
            <a:r>
              <a:rPr sz="1200" spc="-10" dirty="0"/>
              <a:t> failure</a:t>
            </a:r>
            <a:r>
              <a:rPr sz="1200" spc="5" dirty="0"/>
              <a:t> </a:t>
            </a:r>
            <a:r>
              <a:rPr sz="1200" dirty="0"/>
              <a:t>and</a:t>
            </a:r>
            <a:r>
              <a:rPr sz="1200" spc="-50" dirty="0"/>
              <a:t> </a:t>
            </a:r>
            <a:r>
              <a:rPr sz="1200" spc="-10" dirty="0"/>
              <a:t>sexual</a:t>
            </a:r>
            <a:endParaRPr sz="1200"/>
          </a:p>
          <a:p>
            <a:pPr marL="142240">
              <a:lnSpc>
                <a:spcPts val="1280"/>
              </a:lnSpc>
            </a:pPr>
            <a:r>
              <a:rPr sz="1250" spc="-45" dirty="0"/>
              <a:t>infantilism</a:t>
            </a:r>
            <a:r>
              <a:rPr sz="1250" spc="-20" dirty="0"/>
              <a:t> </a:t>
            </a:r>
            <a:r>
              <a:rPr sz="1250" spc="-30" dirty="0"/>
              <a:t>in</a:t>
            </a:r>
            <a:r>
              <a:rPr sz="1250" spc="-40" dirty="0"/>
              <a:t> </a:t>
            </a:r>
            <a:r>
              <a:rPr sz="1250" spc="-40" dirty="0">
                <a:solidFill>
                  <a:srgbClr val="161616"/>
                </a:solidFill>
              </a:rPr>
              <a:t>adolescents,</a:t>
            </a:r>
            <a:r>
              <a:rPr sz="1250" spc="10" dirty="0">
                <a:solidFill>
                  <a:srgbClr val="161616"/>
                </a:solidFill>
              </a:rPr>
              <a:t> </a:t>
            </a:r>
            <a:r>
              <a:rPr sz="1250" spc="-10" dirty="0">
                <a:solidFill>
                  <a:srgbClr val="111111"/>
                </a:solidFill>
              </a:rPr>
              <a:t>and</a:t>
            </a:r>
            <a:r>
              <a:rPr sz="1250" spc="-15" dirty="0">
                <a:solidFill>
                  <a:srgbClr val="111111"/>
                </a:solidFill>
              </a:rPr>
              <a:t> </a:t>
            </a:r>
            <a:r>
              <a:rPr sz="1250" spc="-40" dirty="0"/>
              <a:t>in</a:t>
            </a:r>
            <a:r>
              <a:rPr sz="1250" spc="-80" dirty="0"/>
              <a:t> </a:t>
            </a:r>
            <a:r>
              <a:rPr lang="en-IN" sz="1250" spc="-125" dirty="0"/>
              <a:t>loss </a:t>
            </a:r>
            <a:r>
              <a:rPr sz="1250" spc="50" dirty="0"/>
              <a:t> </a:t>
            </a:r>
            <a:r>
              <a:rPr sz="1250" dirty="0">
                <a:solidFill>
                  <a:srgbClr val="2F2F2F"/>
                </a:solidFill>
              </a:rPr>
              <a:t>of</a:t>
            </a:r>
            <a:r>
              <a:rPr sz="1250" spc="-15" dirty="0">
                <a:solidFill>
                  <a:srgbClr val="2F2F2F"/>
                </a:solidFill>
              </a:rPr>
              <a:t> </a:t>
            </a:r>
            <a:r>
              <a:rPr sz="1250" spc="-30" dirty="0">
                <a:solidFill>
                  <a:srgbClr val="424242"/>
                </a:solidFill>
              </a:rPr>
              <a:t>taste</a:t>
            </a:r>
            <a:r>
              <a:rPr sz="1250" spc="-5" dirty="0">
                <a:solidFill>
                  <a:srgbClr val="424242"/>
                </a:solidFill>
              </a:rPr>
              <a:t> </a:t>
            </a:r>
            <a:r>
              <a:rPr sz="1250" spc="-30" dirty="0">
                <a:solidFill>
                  <a:srgbClr val="111111"/>
                </a:solidFill>
              </a:rPr>
              <a:t>and</a:t>
            </a:r>
            <a:r>
              <a:rPr sz="1250" spc="10" dirty="0">
                <a:solidFill>
                  <a:srgbClr val="111111"/>
                </a:solidFill>
              </a:rPr>
              <a:t> </a:t>
            </a:r>
            <a:r>
              <a:rPr sz="1250" spc="-40" dirty="0"/>
              <a:t>delayed</a:t>
            </a:r>
            <a:r>
              <a:rPr sz="1250" spc="15" dirty="0"/>
              <a:t> </a:t>
            </a:r>
            <a:r>
              <a:rPr sz="1250" spc="-45" dirty="0"/>
              <a:t>wound</a:t>
            </a:r>
            <a:r>
              <a:rPr sz="1250" spc="10" dirty="0"/>
              <a:t> </a:t>
            </a:r>
            <a:r>
              <a:rPr sz="1250" spc="-10" dirty="0"/>
              <a:t>healing</a:t>
            </a:r>
            <a:endParaRPr sz="1250"/>
          </a:p>
          <a:p>
            <a:pPr marL="141605" marR="198755" indent="-127000">
              <a:lnSpc>
                <a:spcPct val="73900"/>
              </a:lnSpc>
              <a:spcBef>
                <a:spcPts val="495"/>
              </a:spcBef>
              <a:buChar char="•"/>
              <a:tabLst>
                <a:tab pos="141605" algn="l"/>
              </a:tabLst>
            </a:pPr>
            <a:r>
              <a:rPr dirty="0"/>
              <a:t>There</a:t>
            </a:r>
            <a:r>
              <a:rPr spc="200" dirty="0"/>
              <a:t> </a:t>
            </a:r>
            <a:r>
              <a:rPr dirty="0">
                <a:solidFill>
                  <a:srgbClr val="1F1F1F"/>
                </a:solidFill>
              </a:rPr>
              <a:t>are</a:t>
            </a:r>
            <a:r>
              <a:rPr spc="190" dirty="0">
                <a:solidFill>
                  <a:srgbClr val="1F1F1F"/>
                </a:solidFill>
              </a:rPr>
              <a:t> </a:t>
            </a:r>
            <a:r>
              <a:rPr dirty="0">
                <a:solidFill>
                  <a:srgbClr val="1C1C1C"/>
                </a:solidFill>
              </a:rPr>
              <a:t>also</a:t>
            </a:r>
            <a:r>
              <a:rPr spc="140" dirty="0">
                <a:solidFill>
                  <a:srgbClr val="1C1C1C"/>
                </a:solidFill>
              </a:rPr>
              <a:t> </a:t>
            </a:r>
            <a:r>
              <a:rPr dirty="0"/>
              <a:t>reports</a:t>
            </a:r>
            <a:r>
              <a:rPr spc="265" dirty="0"/>
              <a:t> </a:t>
            </a:r>
            <a:r>
              <a:rPr dirty="0">
                <a:solidFill>
                  <a:srgbClr val="2A2A2A"/>
                </a:solidFill>
              </a:rPr>
              <a:t>of</a:t>
            </a:r>
            <a:r>
              <a:rPr spc="210" dirty="0">
                <a:solidFill>
                  <a:srgbClr val="2A2A2A"/>
                </a:solidFill>
              </a:rPr>
              <a:t> </a:t>
            </a:r>
            <a:r>
              <a:rPr dirty="0">
                <a:solidFill>
                  <a:srgbClr val="468966"/>
                </a:solidFill>
              </a:rPr>
              <a:t>low</a:t>
            </a:r>
            <a:r>
              <a:rPr spc="229" dirty="0">
                <a:solidFill>
                  <a:srgbClr val="468966"/>
                </a:solidFill>
              </a:rPr>
              <a:t> </a:t>
            </a:r>
            <a:r>
              <a:rPr dirty="0">
                <a:solidFill>
                  <a:srgbClr val="339362"/>
                </a:solidFill>
              </a:rPr>
              <a:t>circulating</a:t>
            </a:r>
            <a:r>
              <a:rPr spc="320" dirty="0">
                <a:solidFill>
                  <a:srgbClr val="339362"/>
                </a:solidFill>
              </a:rPr>
              <a:t> </a:t>
            </a:r>
            <a:r>
              <a:rPr dirty="0">
                <a:solidFill>
                  <a:srgbClr val="489775"/>
                </a:solidFill>
              </a:rPr>
              <a:t>zi</a:t>
            </a:r>
            <a:r>
              <a:rPr dirty="0">
                <a:solidFill>
                  <a:srgbClr val="3A8962"/>
                </a:solidFill>
              </a:rPr>
              <a:t>nc</a:t>
            </a:r>
            <a:r>
              <a:rPr spc="155" dirty="0">
                <a:solidFill>
                  <a:srgbClr val="3A8962"/>
                </a:solidFill>
              </a:rPr>
              <a:t> </a:t>
            </a:r>
            <a:r>
              <a:rPr dirty="0">
                <a:solidFill>
                  <a:srgbClr val="488062"/>
                </a:solidFill>
              </a:rPr>
              <a:t>levels</a:t>
            </a:r>
            <a:r>
              <a:rPr spc="305" dirty="0">
                <a:solidFill>
                  <a:srgbClr val="488062"/>
                </a:solidFill>
              </a:rPr>
              <a:t> </a:t>
            </a:r>
            <a:r>
              <a:rPr dirty="0">
                <a:solidFill>
                  <a:srgbClr val="161616"/>
                </a:solidFill>
              </a:rPr>
              <a:t>in</a:t>
            </a:r>
            <a:r>
              <a:rPr spc="114" dirty="0">
                <a:solidFill>
                  <a:srgbClr val="161616"/>
                </a:solidFill>
              </a:rPr>
              <a:t> </a:t>
            </a:r>
            <a:r>
              <a:rPr dirty="0"/>
              <a:t>clinical</a:t>
            </a:r>
            <a:r>
              <a:rPr spc="185" dirty="0"/>
              <a:t> </a:t>
            </a:r>
            <a:r>
              <a:rPr dirty="0">
                <a:solidFill>
                  <a:srgbClr val="161616"/>
                </a:solidFill>
              </a:rPr>
              <a:t>disorders</a:t>
            </a:r>
            <a:r>
              <a:rPr spc="260" dirty="0">
                <a:solidFill>
                  <a:srgbClr val="161616"/>
                </a:solidFill>
              </a:rPr>
              <a:t> </a:t>
            </a:r>
            <a:r>
              <a:rPr dirty="0">
                <a:solidFill>
                  <a:srgbClr val="2F2F2F"/>
                </a:solidFill>
              </a:rPr>
              <a:t>such</a:t>
            </a:r>
            <a:r>
              <a:rPr spc="150" dirty="0">
                <a:solidFill>
                  <a:srgbClr val="2F2F2F"/>
                </a:solidFill>
              </a:rPr>
              <a:t> </a:t>
            </a:r>
            <a:r>
              <a:rPr spc="25" dirty="0">
                <a:solidFill>
                  <a:srgbClr val="2F2F2F"/>
                </a:solidFill>
              </a:rPr>
              <a:t>as </a:t>
            </a:r>
            <a:r>
              <a:rPr dirty="0">
                <a:solidFill>
                  <a:srgbClr val="669E80"/>
                </a:solidFill>
              </a:rPr>
              <a:t>liver</a:t>
            </a:r>
            <a:r>
              <a:rPr spc="254" dirty="0">
                <a:solidFill>
                  <a:srgbClr val="669E80"/>
                </a:solidFill>
              </a:rPr>
              <a:t> </a:t>
            </a:r>
            <a:r>
              <a:rPr spc="-10" dirty="0">
                <a:solidFill>
                  <a:srgbClr val="319766"/>
                </a:solidFill>
              </a:rPr>
              <a:t>d</a:t>
            </a:r>
            <a:r>
              <a:rPr spc="-10" dirty="0">
                <a:solidFill>
                  <a:srgbClr val="529374"/>
                </a:solidFill>
              </a:rPr>
              <a:t>i</a:t>
            </a:r>
            <a:r>
              <a:rPr lang="en-IN" spc="-10" dirty="0">
                <a:solidFill>
                  <a:srgbClr val="529374"/>
                </a:solidFill>
              </a:rPr>
              <a:t>sea</a:t>
            </a:r>
            <a:r>
              <a:rPr dirty="0">
                <a:solidFill>
                  <a:srgbClr val="49936D"/>
                </a:solidFill>
              </a:rPr>
              <a:t>se,</a:t>
            </a:r>
            <a:r>
              <a:rPr spc="285" dirty="0">
                <a:solidFill>
                  <a:srgbClr val="49936D"/>
                </a:solidFill>
              </a:rPr>
              <a:t> </a:t>
            </a:r>
            <a:r>
              <a:rPr dirty="0">
                <a:solidFill>
                  <a:srgbClr val="52A57C"/>
                </a:solidFill>
              </a:rPr>
              <a:t>per</a:t>
            </a:r>
            <a:r>
              <a:rPr dirty="0">
                <a:solidFill>
                  <a:srgbClr val="3FA06B"/>
                </a:solidFill>
              </a:rPr>
              <a:t>niciou</a:t>
            </a:r>
            <a:r>
              <a:rPr lang="en-IN" dirty="0">
                <a:solidFill>
                  <a:srgbClr val="3FA06B"/>
                </a:solidFill>
              </a:rPr>
              <a:t>s </a:t>
            </a:r>
            <a:r>
              <a:rPr spc="45" dirty="0">
                <a:solidFill>
                  <a:srgbClr val="1A8C52"/>
                </a:solidFill>
              </a:rPr>
              <a:t>a</a:t>
            </a:r>
            <a:r>
              <a:rPr lang="en-IN" spc="45" dirty="0">
                <a:solidFill>
                  <a:srgbClr val="1A8C52"/>
                </a:solidFill>
              </a:rPr>
              <a:t>nemia </a:t>
            </a:r>
            <a:r>
              <a:rPr spc="275" dirty="0">
                <a:solidFill>
                  <a:srgbClr val="3D9067"/>
                </a:solidFill>
              </a:rPr>
              <a:t> </a:t>
            </a:r>
            <a:r>
              <a:rPr dirty="0">
                <a:solidFill>
                  <a:srgbClr val="4BAA75"/>
                </a:solidFill>
              </a:rPr>
              <a:t>and</a:t>
            </a:r>
            <a:r>
              <a:rPr spc="225" dirty="0">
                <a:solidFill>
                  <a:srgbClr val="4BAA75"/>
                </a:solidFill>
              </a:rPr>
              <a:t> </a:t>
            </a:r>
            <a:r>
              <a:rPr dirty="0">
                <a:solidFill>
                  <a:srgbClr val="549075"/>
                </a:solidFill>
              </a:rPr>
              <a:t>myocardial</a:t>
            </a:r>
            <a:r>
              <a:rPr spc="250" dirty="0">
                <a:solidFill>
                  <a:srgbClr val="549075"/>
                </a:solidFill>
              </a:rPr>
              <a:t> </a:t>
            </a:r>
            <a:r>
              <a:rPr dirty="0">
                <a:solidFill>
                  <a:srgbClr val="268E5B"/>
                </a:solidFill>
              </a:rPr>
              <a:t>infarctio</a:t>
            </a:r>
            <a:r>
              <a:rPr lang="en-IN" spc="-25" dirty="0">
                <a:solidFill>
                  <a:srgbClr val="268E5B"/>
                </a:solidFill>
              </a:rPr>
              <a:t>n.</a:t>
            </a:r>
            <a:endParaRPr spc="-25" dirty="0">
              <a:solidFill>
                <a:srgbClr val="494949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6400" y="3136900"/>
            <a:ext cx="431800" cy="28257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14850" y="619125"/>
            <a:ext cx="1552575" cy="11811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5877" y="290314"/>
            <a:ext cx="471805" cy="365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-20" dirty="0">
                <a:solidFill>
                  <a:srgbClr val="0F64A3"/>
                </a:solidFill>
              </a:rPr>
              <a:t>Zinc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37662" y="852090"/>
            <a:ext cx="5059045" cy="21094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47955" indent="-125730">
              <a:lnSpc>
                <a:spcPct val="100000"/>
              </a:lnSpc>
              <a:spcBef>
                <a:spcPts val="125"/>
              </a:spcBef>
              <a:buClr>
                <a:srgbClr val="0E854B"/>
              </a:buClr>
              <a:buChar char="•"/>
              <a:tabLst>
                <a:tab pos="147955" algn="l"/>
              </a:tabLst>
            </a:pPr>
            <a:r>
              <a:rPr sz="1300" dirty="0">
                <a:solidFill>
                  <a:srgbClr val="529777"/>
                </a:solidFill>
                <a:latin typeface="Calibri"/>
                <a:cs typeface="Calibri"/>
              </a:rPr>
              <a:t>Zn</a:t>
            </a:r>
            <a:r>
              <a:rPr sz="1300" spc="-55" dirty="0">
                <a:solidFill>
                  <a:srgbClr val="529777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D9560"/>
                </a:solidFill>
                <a:latin typeface="Calibri"/>
                <a:cs typeface="Calibri"/>
              </a:rPr>
              <a:t>deficiency</a:t>
            </a:r>
            <a:endParaRPr sz="1300">
              <a:latin typeface="Calibri"/>
              <a:cs typeface="Calibri"/>
            </a:endParaRPr>
          </a:p>
          <a:p>
            <a:pPr marL="142240" indent="-119380">
              <a:lnSpc>
                <a:spcPts val="1445"/>
              </a:lnSpc>
              <a:spcBef>
                <a:spcPts val="65"/>
              </a:spcBef>
              <a:buChar char="•"/>
              <a:tabLst>
                <a:tab pos="142240" algn="l"/>
              </a:tabLst>
            </a:pPr>
            <a:r>
              <a:rPr sz="1250" dirty="0">
                <a:latin typeface="Calibri"/>
                <a:cs typeface="Calibri"/>
              </a:rPr>
              <a:t>is</a:t>
            </a:r>
            <a:r>
              <a:rPr sz="1250" spc="-1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common</a:t>
            </a:r>
            <a:r>
              <a:rPr sz="1250" spc="9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in</a:t>
            </a:r>
            <a:r>
              <a:rPr sz="1250" spc="2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children</a:t>
            </a:r>
            <a:r>
              <a:rPr sz="1250" spc="8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from</a:t>
            </a:r>
            <a:r>
              <a:rPr sz="1250" spc="60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developing</a:t>
            </a:r>
            <a:r>
              <a:rPr sz="1250" spc="6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countries</a:t>
            </a:r>
            <a:r>
              <a:rPr sz="1250" spc="65" dirty="0">
                <a:latin typeface="Calibri"/>
                <a:cs typeface="Calibri"/>
              </a:rPr>
              <a:t> </a:t>
            </a:r>
            <a:r>
              <a:rPr sz="1250" dirty="0">
                <a:latin typeface="Calibri"/>
                <a:cs typeface="Calibri"/>
              </a:rPr>
              <a:t>due</a:t>
            </a:r>
            <a:r>
              <a:rPr sz="1250" spc="55" dirty="0">
                <a:latin typeface="Calibri"/>
                <a:cs typeface="Calibri"/>
              </a:rPr>
              <a:t> </a:t>
            </a:r>
            <a:r>
              <a:rPr sz="1250" spc="-25" dirty="0">
                <a:latin typeface="Calibri"/>
                <a:cs typeface="Calibri"/>
              </a:rPr>
              <a:t>to</a:t>
            </a:r>
            <a:endParaRPr sz="1250">
              <a:latin typeface="Calibri"/>
              <a:cs typeface="Calibri"/>
            </a:endParaRPr>
          </a:p>
          <a:p>
            <a:pPr marL="360680" lvl="1" indent="-116839">
              <a:lnSpc>
                <a:spcPts val="1185"/>
              </a:lnSpc>
              <a:buClr>
                <a:srgbClr val="000000"/>
              </a:buClr>
              <a:buChar char="•"/>
              <a:tabLst>
                <a:tab pos="360680" algn="l"/>
              </a:tabLst>
            </a:pPr>
            <a:r>
              <a:rPr sz="1100" dirty="0">
                <a:solidFill>
                  <a:srgbClr val="181818"/>
                </a:solidFill>
                <a:latin typeface="Calibri"/>
                <a:cs typeface="Calibri"/>
              </a:rPr>
              <a:t>lack</a:t>
            </a:r>
            <a:r>
              <a:rPr sz="1100" spc="-15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51515"/>
                </a:solidFill>
                <a:latin typeface="Calibri"/>
                <a:cs typeface="Calibri"/>
              </a:rPr>
              <a:t>intake</a:t>
            </a:r>
            <a:r>
              <a:rPr sz="1100" spc="-5" dirty="0">
                <a:solidFill>
                  <a:srgbClr val="151515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10" dirty="0"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0F0F0F"/>
                </a:solidFill>
                <a:latin typeface="Calibri"/>
                <a:cs typeface="Calibri"/>
              </a:rPr>
              <a:t>animal</a:t>
            </a:r>
            <a:r>
              <a:rPr sz="1100" spc="-3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100" spc="-20" dirty="0">
                <a:solidFill>
                  <a:srgbClr val="0F0F0F"/>
                </a:solidFill>
                <a:latin typeface="Calibri"/>
                <a:cs typeface="Calibri"/>
              </a:rPr>
              <a:t>food</a:t>
            </a:r>
            <a:endParaRPr sz="1100">
              <a:latin typeface="Calibri"/>
              <a:cs typeface="Calibri"/>
            </a:endParaRPr>
          </a:p>
          <a:p>
            <a:pPr marL="361315" lvl="1" indent="-116839">
              <a:lnSpc>
                <a:spcPts val="1155"/>
              </a:lnSpc>
              <a:buClr>
                <a:srgbClr val="000000"/>
              </a:buClr>
              <a:buChar char="•"/>
              <a:tabLst>
                <a:tab pos="361315" algn="l"/>
              </a:tabLst>
            </a:pPr>
            <a:r>
              <a:rPr sz="1100" dirty="0">
                <a:solidFill>
                  <a:srgbClr val="2B2B2B"/>
                </a:solidFill>
                <a:latin typeface="Calibri"/>
                <a:cs typeface="Calibri"/>
              </a:rPr>
              <a:t>high</a:t>
            </a:r>
            <a:r>
              <a:rPr sz="1100" spc="-1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dietary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phytate</a:t>
            </a:r>
            <a:r>
              <a:rPr sz="1100" spc="45" dirty="0"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1A1A1A"/>
                </a:solidFill>
                <a:latin typeface="Calibri"/>
                <a:cs typeface="Calibri"/>
              </a:rPr>
              <a:t>content</a:t>
            </a:r>
            <a:endParaRPr sz="1100">
              <a:latin typeface="Calibri"/>
              <a:cs typeface="Calibri"/>
            </a:endParaRPr>
          </a:p>
          <a:p>
            <a:pPr marL="361950" lvl="1" indent="-118745">
              <a:lnSpc>
                <a:spcPts val="1195"/>
              </a:lnSpc>
              <a:buChar char="•"/>
              <a:tabLst>
                <a:tab pos="361950" algn="l"/>
              </a:tabLst>
            </a:pPr>
            <a:r>
              <a:rPr sz="1150" spc="-40" dirty="0">
                <a:latin typeface="Calibri"/>
                <a:cs typeface="Calibri"/>
              </a:rPr>
              <a:t>inadequate</a:t>
            </a:r>
            <a:r>
              <a:rPr sz="1150" spc="55" dirty="0">
                <a:latin typeface="Calibri"/>
                <a:cs typeface="Calibri"/>
              </a:rPr>
              <a:t> </a:t>
            </a:r>
            <a:r>
              <a:rPr sz="1150" spc="-50" dirty="0">
                <a:solidFill>
                  <a:srgbClr val="1A1A1A"/>
                </a:solidFill>
                <a:latin typeface="Calibri"/>
                <a:cs typeface="Calibri"/>
              </a:rPr>
              <a:t>food</a:t>
            </a:r>
            <a:r>
              <a:rPr sz="115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150" spc="-10" dirty="0">
                <a:solidFill>
                  <a:srgbClr val="0C0C0C"/>
                </a:solidFill>
                <a:latin typeface="Calibri"/>
                <a:cs typeface="Calibri"/>
              </a:rPr>
              <a:t>intake</a:t>
            </a:r>
            <a:endParaRPr sz="1150">
              <a:latin typeface="Calibri"/>
              <a:cs typeface="Calibri"/>
            </a:endParaRPr>
          </a:p>
          <a:p>
            <a:pPr marL="362585" lvl="1" indent="-118110">
              <a:lnSpc>
                <a:spcPts val="1215"/>
              </a:lnSpc>
              <a:buChar char="•"/>
              <a:tabLst>
                <a:tab pos="362585" algn="l"/>
              </a:tabLst>
            </a:pPr>
            <a:r>
              <a:rPr sz="1100" spc="-10" dirty="0">
                <a:latin typeface="Calibri"/>
                <a:cs typeface="Calibri"/>
              </a:rPr>
              <a:t>increased faecal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181818"/>
                </a:solidFill>
                <a:latin typeface="Calibri"/>
                <a:cs typeface="Calibri"/>
              </a:rPr>
              <a:t>losses</a:t>
            </a:r>
            <a:r>
              <a:rPr sz="1100" spc="-30" dirty="0">
                <a:solidFill>
                  <a:srgbClr val="181818"/>
                </a:solidFill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during </a:t>
            </a:r>
            <a:r>
              <a:rPr sz="1100" spc="-10" dirty="0">
                <a:latin typeface="Calibri"/>
                <a:cs typeface="Calibri"/>
              </a:rPr>
              <a:t>diarrhoea.</a:t>
            </a:r>
            <a:endParaRPr sz="1100">
              <a:latin typeface="Calibri"/>
              <a:cs typeface="Calibri"/>
            </a:endParaRPr>
          </a:p>
          <a:p>
            <a:pPr marL="136525" marR="5080" indent="-124460">
              <a:lnSpc>
                <a:spcPct val="68400"/>
              </a:lnSpc>
              <a:spcBef>
                <a:spcPts val="520"/>
              </a:spcBef>
              <a:buChar char="•"/>
              <a:tabLst>
                <a:tab pos="139700" algn="l"/>
              </a:tabLst>
            </a:pPr>
            <a:r>
              <a:rPr sz="1350" spc="-20" dirty="0">
                <a:latin typeface="Calibri"/>
                <a:cs typeface="Calibri"/>
              </a:rPr>
              <a:t>Zinc</a:t>
            </a:r>
            <a:r>
              <a:rPr sz="1350" spc="-35" dirty="0">
                <a:latin typeface="Calibri"/>
                <a:cs typeface="Calibri"/>
              </a:rPr>
              <a:t> </a:t>
            </a:r>
            <a:r>
              <a:rPr sz="1350" spc="-45" dirty="0">
                <a:latin typeface="Calibri"/>
                <a:cs typeface="Calibri"/>
              </a:rPr>
              <a:t>supplementation</a:t>
            </a:r>
            <a:r>
              <a:rPr sz="1350" spc="-13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in</a:t>
            </a:r>
            <a:r>
              <a:rPr sz="1350" spc="-15" dirty="0">
                <a:latin typeface="Calibri"/>
                <a:cs typeface="Calibri"/>
              </a:rPr>
              <a:t> </a:t>
            </a:r>
            <a:r>
              <a:rPr sz="1350" spc="-45" dirty="0">
                <a:latin typeface="Calibri"/>
                <a:cs typeface="Calibri"/>
              </a:rPr>
              <a:t>combination</a:t>
            </a:r>
            <a:r>
              <a:rPr sz="1350" spc="80" dirty="0">
                <a:latin typeface="Calibri"/>
                <a:cs typeface="Calibri"/>
              </a:rPr>
              <a:t> </a:t>
            </a:r>
            <a:r>
              <a:rPr sz="1350" spc="-30" dirty="0">
                <a:latin typeface="Calibri"/>
                <a:cs typeface="Calibri"/>
              </a:rPr>
              <a:t>with</a:t>
            </a:r>
            <a:r>
              <a:rPr sz="1350" spc="-50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oral</a:t>
            </a:r>
            <a:r>
              <a:rPr sz="1350" spc="-25" dirty="0">
                <a:latin typeface="Calibri"/>
                <a:cs typeface="Calibri"/>
              </a:rPr>
              <a:t> </a:t>
            </a:r>
            <a:r>
              <a:rPr sz="1350" spc="-50" dirty="0">
                <a:latin typeface="Calibri"/>
                <a:cs typeface="Calibri"/>
              </a:rPr>
              <a:t>rehydration</a:t>
            </a:r>
            <a:r>
              <a:rPr sz="1350" spc="80" dirty="0">
                <a:latin typeface="Calibri"/>
                <a:cs typeface="Calibri"/>
              </a:rPr>
              <a:t> </a:t>
            </a:r>
            <a:r>
              <a:rPr sz="1350" spc="-40" dirty="0">
                <a:latin typeface="Calibri"/>
                <a:cs typeface="Calibri"/>
              </a:rPr>
              <a:t>therapy</a:t>
            </a:r>
            <a:r>
              <a:rPr sz="1350" dirty="0">
                <a:latin typeface="Calibri"/>
                <a:cs typeface="Calibri"/>
              </a:rPr>
              <a:t> </a:t>
            </a:r>
            <a:r>
              <a:rPr sz="1350" spc="-25" dirty="0">
                <a:latin typeface="Calibri"/>
                <a:cs typeface="Calibri"/>
              </a:rPr>
              <a:t>has 	</a:t>
            </a:r>
            <a:r>
              <a:rPr sz="1300" spc="-10" dirty="0">
                <a:latin typeface="Calibri"/>
                <a:cs typeface="Calibri"/>
              </a:rPr>
              <a:t>been</a:t>
            </a:r>
            <a:r>
              <a:rPr sz="1300" spc="-6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shown</a:t>
            </a:r>
            <a:r>
              <a:rPr sz="1300" spc="-7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to</a:t>
            </a:r>
            <a:r>
              <a:rPr sz="1300" spc="-7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significantly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reduce</a:t>
            </a:r>
            <a:r>
              <a:rPr sz="1300" dirty="0">
                <a:latin typeface="Calibri"/>
                <a:cs typeface="Calibri"/>
              </a:rPr>
              <a:t> the</a:t>
            </a:r>
            <a:r>
              <a:rPr sz="1300" spc="-7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duration</a:t>
            </a:r>
            <a:r>
              <a:rPr sz="1300" spc="10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and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severity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11111"/>
                </a:solidFill>
                <a:latin typeface="Calibri"/>
                <a:cs typeface="Calibri"/>
              </a:rPr>
              <a:t>of</a:t>
            </a:r>
            <a:r>
              <a:rPr sz="1300" spc="-7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acute</a:t>
            </a:r>
            <a:r>
              <a:rPr sz="1300" spc="-55" dirty="0">
                <a:latin typeface="Calibri"/>
                <a:cs typeface="Calibri"/>
              </a:rPr>
              <a:t> </a:t>
            </a:r>
            <a:r>
              <a:rPr sz="1300" spc="-25" dirty="0">
                <a:latin typeface="Calibri"/>
                <a:cs typeface="Calibri"/>
              </a:rPr>
              <a:t>and 	</a:t>
            </a:r>
            <a:r>
              <a:rPr sz="1350" spc="-35" dirty="0">
                <a:latin typeface="Calibri"/>
                <a:cs typeface="Calibri"/>
              </a:rPr>
              <a:t>persistent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diarrhoea</a:t>
            </a:r>
            <a:endParaRPr sz="1350">
              <a:latin typeface="Calibri"/>
              <a:cs typeface="Calibri"/>
            </a:endParaRPr>
          </a:p>
          <a:p>
            <a:pPr marL="140335" indent="-118110">
              <a:lnSpc>
                <a:spcPct val="100000"/>
              </a:lnSpc>
              <a:spcBef>
                <a:spcPts val="5"/>
              </a:spcBef>
              <a:buChar char="•"/>
              <a:tabLst>
                <a:tab pos="140335" algn="l"/>
              </a:tabLst>
            </a:pPr>
            <a:r>
              <a:rPr sz="1300" spc="-20" dirty="0">
                <a:latin typeface="Calibri"/>
                <a:cs typeface="Calibri"/>
              </a:rPr>
              <a:t>Acrodermatitis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enteropathies</a:t>
            </a:r>
            <a:r>
              <a:rPr sz="1300" spc="170" dirty="0">
                <a:latin typeface="Calibri"/>
                <a:cs typeface="Calibri"/>
              </a:rPr>
              <a:t> </a:t>
            </a:r>
            <a:r>
              <a:rPr sz="1300" spc="-20" dirty="0">
                <a:solidFill>
                  <a:srgbClr val="0E0E0E"/>
                </a:solidFill>
                <a:latin typeface="Calibri"/>
                <a:cs typeface="Calibri"/>
              </a:rPr>
              <a:t>(AE)</a:t>
            </a:r>
            <a:endParaRPr sz="1300">
              <a:latin typeface="Calibri"/>
              <a:cs typeface="Calibri"/>
            </a:endParaRPr>
          </a:p>
          <a:p>
            <a:pPr marL="138430" indent="-125730">
              <a:lnSpc>
                <a:spcPct val="100000"/>
              </a:lnSpc>
              <a:spcBef>
                <a:spcPts val="15"/>
              </a:spcBef>
              <a:buChar char="•"/>
              <a:tabLst>
                <a:tab pos="138430" algn="l"/>
              </a:tabLst>
            </a:pPr>
            <a:r>
              <a:rPr sz="1300" dirty="0">
                <a:latin typeface="Calibri"/>
                <a:cs typeface="Calibri"/>
              </a:rPr>
              <a:t>Loss</a:t>
            </a:r>
            <a:r>
              <a:rPr sz="1300" spc="-35" dirty="0"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0C0C0C"/>
                </a:solidFill>
                <a:latin typeface="Calibri"/>
                <a:cs typeface="Calibri"/>
              </a:rPr>
              <a:t>of</a:t>
            </a:r>
            <a:r>
              <a:rPr sz="1300" spc="-20" dirty="0">
                <a:solidFill>
                  <a:srgbClr val="0C0C0C"/>
                </a:solidFill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taste</a:t>
            </a:r>
            <a:r>
              <a:rPr sz="1300" spc="-50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Acuity(hypogeusia)</a:t>
            </a:r>
            <a:endParaRPr sz="1300">
              <a:latin typeface="Calibri"/>
              <a:cs typeface="Calibri"/>
            </a:endParaRPr>
          </a:p>
          <a:p>
            <a:pPr marL="139065" indent="-116839">
              <a:lnSpc>
                <a:spcPct val="100000"/>
              </a:lnSpc>
              <a:spcBef>
                <a:spcPts val="50"/>
              </a:spcBef>
              <a:buChar char="•"/>
              <a:tabLst>
                <a:tab pos="139065" algn="l"/>
              </a:tabLst>
            </a:pPr>
            <a:r>
              <a:rPr sz="1300" spc="-25" dirty="0">
                <a:latin typeface="Calibri"/>
                <a:cs typeface="Calibri"/>
              </a:rPr>
              <a:t>Retardation</a:t>
            </a:r>
            <a:r>
              <a:rPr sz="1300" spc="5" dirty="0"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pf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spc="-20" dirty="0">
                <a:latin typeface="Calibri"/>
                <a:cs typeface="Calibri"/>
              </a:rPr>
              <a:t>growth</a:t>
            </a:r>
            <a:r>
              <a:rPr sz="1300" spc="15" dirty="0"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131313"/>
                </a:solidFill>
                <a:latin typeface="Calibri"/>
                <a:cs typeface="Calibri"/>
              </a:rPr>
              <a:t>and</a:t>
            </a:r>
            <a:r>
              <a:rPr sz="1300" spc="-7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300" dirty="0">
                <a:latin typeface="Calibri"/>
                <a:cs typeface="Calibri"/>
              </a:rPr>
              <a:t>Genital</a:t>
            </a:r>
            <a:r>
              <a:rPr sz="1300" spc="-5" dirty="0">
                <a:latin typeface="Calibri"/>
                <a:cs typeface="Calibri"/>
              </a:rPr>
              <a:t> </a:t>
            </a:r>
            <a:r>
              <a:rPr sz="1300" spc="-10" dirty="0">
                <a:latin typeface="Calibri"/>
                <a:cs typeface="Calibri"/>
              </a:rPr>
              <a:t>development</a:t>
            </a:r>
            <a:endParaRPr sz="13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700" y="3124200"/>
            <a:ext cx="4699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5162" y="275034"/>
            <a:ext cx="470534" cy="3949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spc="-105" dirty="0">
                <a:solidFill>
                  <a:srgbClr val="076BC1"/>
                </a:solidFill>
              </a:rPr>
              <a:t>Zinc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436260" y="831078"/>
            <a:ext cx="5120640" cy="1443990"/>
          </a:xfrm>
          <a:prstGeom prst="rect">
            <a:avLst/>
          </a:prstGeom>
        </p:spPr>
        <p:txBody>
          <a:bodyPr vert="horz" wrap="square" lIns="0" tIns="6223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490"/>
              </a:spcBef>
            </a:pPr>
            <a:r>
              <a:rPr sz="1400" dirty="0">
                <a:solidFill>
                  <a:srgbClr val="00A148"/>
                </a:solidFill>
                <a:latin typeface="Calibri"/>
                <a:cs typeface="Calibri"/>
              </a:rPr>
              <a:t>°</a:t>
            </a:r>
            <a:r>
              <a:rPr sz="1400" spc="30" dirty="0">
                <a:solidFill>
                  <a:srgbClr val="00A14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AA350"/>
                </a:solidFill>
                <a:latin typeface="Calibri"/>
                <a:cs typeface="Calibri"/>
              </a:rPr>
              <a:t>Excess</a:t>
            </a:r>
            <a:r>
              <a:rPr sz="1400" spc="-30" dirty="0">
                <a:solidFill>
                  <a:srgbClr val="0AA350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03A146"/>
                </a:solidFill>
                <a:latin typeface="Calibri"/>
                <a:cs typeface="Calibri"/>
              </a:rPr>
              <a:t>Zn</a:t>
            </a:r>
            <a:endParaRPr sz="1400">
              <a:latin typeface="Calibri"/>
              <a:cs typeface="Calibri"/>
            </a:endParaRPr>
          </a:p>
          <a:p>
            <a:pPr marL="138430" indent="-124460">
              <a:lnSpc>
                <a:spcPts val="1570"/>
              </a:lnSpc>
              <a:spcBef>
                <a:spcPts val="395"/>
              </a:spcBef>
              <a:buChar char="•"/>
              <a:tabLst>
                <a:tab pos="138430" algn="l"/>
              </a:tabLst>
            </a:pPr>
            <a:r>
              <a:rPr sz="1350" dirty="0">
                <a:latin typeface="Calibri"/>
                <a:cs typeface="Calibri"/>
              </a:rPr>
              <a:t>High</a:t>
            </a:r>
            <a:r>
              <a:rPr sz="1350" spc="-25" dirty="0">
                <a:latin typeface="Calibri"/>
                <a:cs typeface="Calibri"/>
              </a:rPr>
              <a:t> </a:t>
            </a:r>
            <a:r>
              <a:rPr sz="1350" spc="55" dirty="0">
                <a:latin typeface="Calibri"/>
                <a:cs typeface="Calibri"/>
              </a:rPr>
              <a:t>Zn</a:t>
            </a:r>
            <a:r>
              <a:rPr sz="1350" spc="-2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intake</a:t>
            </a:r>
            <a:r>
              <a:rPr sz="1350" spc="9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interferes</a:t>
            </a:r>
            <a:r>
              <a:rPr sz="1350" spc="8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with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utilization</a:t>
            </a:r>
            <a:r>
              <a:rPr sz="1350" spc="8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and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retention</a:t>
            </a:r>
            <a:r>
              <a:rPr sz="1350" spc="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of</a:t>
            </a:r>
            <a:r>
              <a:rPr sz="1350" spc="-2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Cu</a:t>
            </a:r>
            <a:r>
              <a:rPr sz="1350" spc="2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and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spc="-20" dirty="0">
                <a:latin typeface="Calibri"/>
                <a:cs typeface="Calibri"/>
              </a:rPr>
              <a:t>thus</a:t>
            </a:r>
            <a:endParaRPr sz="1350">
              <a:latin typeface="Calibri"/>
              <a:cs typeface="Calibri"/>
            </a:endParaRPr>
          </a:p>
          <a:p>
            <a:pPr marL="136525">
              <a:lnSpc>
                <a:spcPts val="1635"/>
              </a:lnSpc>
            </a:pPr>
            <a:r>
              <a:rPr sz="1400" dirty="0">
                <a:latin typeface="Calibri"/>
                <a:cs typeface="Calibri"/>
              </a:rPr>
              <a:t>cause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anemia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400">
              <a:latin typeface="Calibri"/>
              <a:cs typeface="Calibri"/>
            </a:endParaRPr>
          </a:p>
          <a:p>
            <a:pPr marL="137795" marR="93345" indent="-125730">
              <a:lnSpc>
                <a:spcPts val="1500"/>
              </a:lnSpc>
              <a:spcBef>
                <a:spcPts val="5"/>
              </a:spcBef>
              <a:buClr>
                <a:srgbClr val="009E3F"/>
              </a:buClr>
              <a:buChar char="•"/>
              <a:tabLst>
                <a:tab pos="137795" algn="l"/>
              </a:tabLst>
            </a:pPr>
            <a:r>
              <a:rPr sz="1450" dirty="0">
                <a:solidFill>
                  <a:srgbClr val="0AAA4D"/>
                </a:solidFill>
                <a:latin typeface="Calibri"/>
                <a:cs typeface="Calibri"/>
              </a:rPr>
              <a:t>Zn</a:t>
            </a:r>
            <a:r>
              <a:rPr sz="1450" spc="-85" dirty="0">
                <a:solidFill>
                  <a:srgbClr val="0AAA4D"/>
                </a:solidFill>
                <a:latin typeface="Calibri"/>
                <a:cs typeface="Calibri"/>
              </a:rPr>
              <a:t> </a:t>
            </a:r>
            <a:r>
              <a:rPr sz="1450" spc="-25" dirty="0">
                <a:solidFill>
                  <a:srgbClr val="111111"/>
                </a:solidFill>
                <a:latin typeface="Calibri"/>
                <a:cs typeface="Calibri"/>
              </a:rPr>
              <a:t>Requirement:</a:t>
            </a:r>
            <a:r>
              <a:rPr sz="1450" spc="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450" spc="-35" dirty="0">
                <a:latin typeface="Calibri"/>
                <a:cs typeface="Calibri"/>
              </a:rPr>
              <a:t>Infants:</a:t>
            </a:r>
            <a:r>
              <a:rPr sz="1450" spc="5" dirty="0">
                <a:latin typeface="Calibri"/>
                <a:cs typeface="Calibri"/>
              </a:rPr>
              <a:t> </a:t>
            </a:r>
            <a:r>
              <a:rPr sz="1450" spc="-50" dirty="0">
                <a:latin typeface="Calibri"/>
                <a:cs typeface="Calibri"/>
              </a:rPr>
              <a:t>3-</a:t>
            </a:r>
            <a:r>
              <a:rPr sz="1450" spc="-10" dirty="0">
                <a:latin typeface="Calibri"/>
                <a:cs typeface="Calibri"/>
              </a:rPr>
              <a:t>5mg,</a:t>
            </a:r>
            <a:r>
              <a:rPr sz="1450" spc="45" dirty="0">
                <a:latin typeface="Calibri"/>
                <a:cs typeface="Calibri"/>
              </a:rPr>
              <a:t> </a:t>
            </a:r>
            <a:r>
              <a:rPr sz="1450" spc="-40" dirty="0">
                <a:latin typeface="Calibri"/>
                <a:cs typeface="Calibri"/>
              </a:rPr>
              <a:t>Children:</a:t>
            </a:r>
            <a:r>
              <a:rPr sz="1450" spc="5" dirty="0">
                <a:latin typeface="Calibri"/>
                <a:cs typeface="Calibri"/>
              </a:rPr>
              <a:t> </a:t>
            </a:r>
            <a:r>
              <a:rPr sz="1450" spc="-35" dirty="0">
                <a:latin typeface="Calibri"/>
                <a:cs typeface="Calibri"/>
              </a:rPr>
              <a:t>10mg,</a:t>
            </a:r>
            <a:r>
              <a:rPr sz="1450" spc="-50" dirty="0"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Adolescent/Adult: </a:t>
            </a:r>
            <a:r>
              <a:rPr sz="1450" spc="-55" dirty="0">
                <a:latin typeface="Calibri"/>
                <a:cs typeface="Calibri"/>
              </a:rPr>
              <a:t>15mg</a:t>
            </a:r>
            <a:r>
              <a:rPr sz="1450" spc="-50" dirty="0">
                <a:latin typeface="Calibri"/>
                <a:cs typeface="Calibri"/>
              </a:rPr>
              <a:t> </a:t>
            </a:r>
            <a:r>
              <a:rPr sz="1450" spc="-40" dirty="0">
                <a:latin typeface="Calibri"/>
                <a:cs typeface="Calibri"/>
              </a:rPr>
              <a:t>pregnancy:</a:t>
            </a:r>
            <a:r>
              <a:rPr sz="1450" spc="40" dirty="0">
                <a:latin typeface="Calibri"/>
                <a:cs typeface="Calibri"/>
              </a:rPr>
              <a:t> </a:t>
            </a:r>
            <a:r>
              <a:rPr sz="1450" spc="-35" dirty="0">
                <a:latin typeface="Calibri"/>
                <a:cs typeface="Calibri"/>
              </a:rPr>
              <a:t>20mg,</a:t>
            </a:r>
            <a:r>
              <a:rPr sz="1450" spc="-45" dirty="0">
                <a:latin typeface="Calibri"/>
                <a:cs typeface="Calibri"/>
              </a:rPr>
              <a:t> </a:t>
            </a:r>
            <a:r>
              <a:rPr sz="1450" spc="-40" dirty="0">
                <a:latin typeface="Calibri"/>
                <a:cs typeface="Calibri"/>
              </a:rPr>
              <a:t>Lactation:</a:t>
            </a:r>
            <a:r>
              <a:rPr sz="1450" spc="65" dirty="0">
                <a:latin typeface="Calibri"/>
                <a:cs typeface="Calibri"/>
              </a:rPr>
              <a:t> </a:t>
            </a:r>
            <a:r>
              <a:rPr sz="1450" spc="-20" dirty="0">
                <a:latin typeface="Calibri"/>
                <a:cs typeface="Calibri"/>
              </a:rPr>
              <a:t>25mg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" y="3136900"/>
            <a:ext cx="4064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25"/>
              </a:spcBef>
            </a:pPr>
            <a:r>
              <a:rPr spc="-20" dirty="0">
                <a:solidFill>
                  <a:srgbClr val="1160A5"/>
                </a:solidFill>
              </a:rPr>
              <a:t>Other</a:t>
            </a:r>
            <a:r>
              <a:rPr spc="-85" dirty="0">
                <a:solidFill>
                  <a:srgbClr val="1160A5"/>
                </a:solidFill>
              </a:rPr>
              <a:t> </a:t>
            </a:r>
            <a:r>
              <a:rPr spc="-30" dirty="0">
                <a:solidFill>
                  <a:srgbClr val="0569B5"/>
                </a:solidFill>
              </a:rPr>
              <a:t>traces</a:t>
            </a:r>
            <a:r>
              <a:rPr spc="-80" dirty="0">
                <a:solidFill>
                  <a:srgbClr val="0569B5"/>
                </a:solidFill>
              </a:rPr>
              <a:t> </a:t>
            </a:r>
            <a:r>
              <a:rPr spc="-50" dirty="0">
                <a:solidFill>
                  <a:srgbClr val="0060AA"/>
                </a:solidFill>
              </a:rPr>
              <a:t>minerals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9587" y="811252"/>
            <a:ext cx="5051425" cy="2197100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440"/>
              </a:spcBef>
            </a:pPr>
            <a:r>
              <a:rPr sz="1400" dirty="0">
                <a:latin typeface="Calibri"/>
                <a:cs typeface="Calibri"/>
              </a:rPr>
              <a:t>°</a:t>
            </a:r>
            <a:r>
              <a:rPr sz="1400" spc="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Cobalt</a:t>
            </a:r>
            <a:endParaRPr sz="1400">
              <a:latin typeface="Calibri"/>
              <a:cs typeface="Calibri"/>
            </a:endParaRPr>
          </a:p>
          <a:p>
            <a:pPr marL="20955">
              <a:lnSpc>
                <a:spcPct val="100000"/>
              </a:lnSpc>
              <a:spcBef>
                <a:spcPts val="345"/>
              </a:spcBef>
            </a:pPr>
            <a:r>
              <a:rPr sz="1400" dirty="0">
                <a:latin typeface="Calibri"/>
                <a:cs typeface="Calibri"/>
              </a:rPr>
              <a:t>°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F0F0F"/>
                </a:solidFill>
                <a:latin typeface="Calibri"/>
                <a:cs typeface="Calibri"/>
              </a:rPr>
              <a:t>a</a:t>
            </a:r>
            <a:r>
              <a:rPr sz="1400" spc="-6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part of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31313"/>
                </a:solidFill>
                <a:latin typeface="Calibri"/>
                <a:cs typeface="Calibri"/>
              </a:rPr>
              <a:t>the </a:t>
            </a:r>
            <a:r>
              <a:rPr sz="1400" spc="-10" dirty="0">
                <a:latin typeface="Calibri"/>
                <a:cs typeface="Calibri"/>
              </a:rPr>
              <a:t>vitamin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B12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molecule</a:t>
            </a:r>
            <a:endParaRPr sz="1400">
              <a:latin typeface="Calibri"/>
              <a:cs typeface="Calibri"/>
            </a:endParaRPr>
          </a:p>
          <a:p>
            <a:pPr marL="127635" indent="-114935">
              <a:lnSpc>
                <a:spcPct val="100000"/>
              </a:lnSpc>
              <a:spcBef>
                <a:spcPts val="345"/>
              </a:spcBef>
              <a:buClr>
                <a:srgbClr val="000000"/>
              </a:buClr>
              <a:buChar char="•"/>
              <a:tabLst>
                <a:tab pos="127635" algn="l"/>
              </a:tabLst>
            </a:pPr>
            <a:r>
              <a:rPr sz="1400" dirty="0">
                <a:solidFill>
                  <a:srgbClr val="0E0E0E"/>
                </a:solidFill>
                <a:latin typeface="Calibri"/>
                <a:cs typeface="Calibri"/>
              </a:rPr>
              <a:t>No</a:t>
            </a:r>
            <a:r>
              <a:rPr sz="1400" spc="-80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evidence</a:t>
            </a:r>
            <a:r>
              <a:rPr sz="1400" spc="60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D1D1D"/>
                </a:solidFill>
                <a:latin typeface="Calibri"/>
                <a:cs typeface="Calibri"/>
              </a:rPr>
              <a:t>of</a:t>
            </a:r>
            <a:r>
              <a:rPr sz="1400" spc="-35" dirty="0">
                <a:solidFill>
                  <a:srgbClr val="1D1D1D"/>
                </a:solidFill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deficiency</a:t>
            </a:r>
            <a:endParaRPr sz="1400">
              <a:latin typeface="Calibri"/>
              <a:cs typeface="Calibri"/>
            </a:endParaRPr>
          </a:p>
          <a:p>
            <a:pPr marL="127635" indent="-114935">
              <a:lnSpc>
                <a:spcPts val="1645"/>
              </a:lnSpc>
              <a:spcBef>
                <a:spcPts val="295"/>
              </a:spcBef>
              <a:buChar char="•"/>
              <a:tabLst>
                <a:tab pos="127635" algn="l"/>
              </a:tabLst>
            </a:pPr>
            <a:r>
              <a:rPr sz="1450" spc="-40" dirty="0">
                <a:latin typeface="Calibri"/>
                <a:cs typeface="Calibri"/>
              </a:rPr>
              <a:t>Recently</a:t>
            </a:r>
            <a:r>
              <a:rPr sz="1450" spc="-30" dirty="0">
                <a:latin typeface="Calibri"/>
                <a:cs typeface="Calibri"/>
              </a:rPr>
              <a:t> cobalt</a:t>
            </a:r>
            <a:r>
              <a:rPr sz="1450" spc="-50" dirty="0">
                <a:latin typeface="Calibri"/>
                <a:cs typeface="Calibri"/>
              </a:rPr>
              <a:t> </a:t>
            </a:r>
            <a:r>
              <a:rPr sz="1450" spc="-35" dirty="0">
                <a:latin typeface="Calibri"/>
                <a:cs typeface="Calibri"/>
              </a:rPr>
              <a:t>deficiency</a:t>
            </a:r>
            <a:r>
              <a:rPr sz="1450" spc="85" dirty="0">
                <a:latin typeface="Calibri"/>
                <a:cs typeface="Calibri"/>
              </a:rPr>
              <a:t> </a:t>
            </a:r>
            <a:r>
              <a:rPr sz="1450" spc="-45" dirty="0">
                <a:solidFill>
                  <a:srgbClr val="131313"/>
                </a:solidFill>
                <a:latin typeface="Calibri"/>
                <a:cs typeface="Calibri"/>
              </a:rPr>
              <a:t>and</a:t>
            </a:r>
            <a:r>
              <a:rPr sz="1450" spc="-35" dirty="0">
                <a:solidFill>
                  <a:srgbClr val="131313"/>
                </a:solidFill>
                <a:latin typeface="Calibri"/>
                <a:cs typeface="Calibri"/>
              </a:rPr>
              <a:t> </a:t>
            </a:r>
            <a:r>
              <a:rPr sz="1450" spc="-20" dirty="0">
                <a:latin typeface="Calibri"/>
                <a:cs typeface="Calibri"/>
              </a:rPr>
              <a:t>cobalt</a:t>
            </a:r>
            <a:r>
              <a:rPr sz="1450" spc="-15" dirty="0">
                <a:latin typeface="Calibri"/>
                <a:cs typeface="Calibri"/>
              </a:rPr>
              <a:t> </a:t>
            </a:r>
            <a:r>
              <a:rPr sz="1450" spc="-35" dirty="0">
                <a:latin typeface="Calibri"/>
                <a:cs typeface="Calibri"/>
              </a:rPr>
              <a:t>iodine</a:t>
            </a:r>
            <a:r>
              <a:rPr sz="1450" spc="-50" dirty="0">
                <a:latin typeface="Calibri"/>
                <a:cs typeface="Calibri"/>
              </a:rPr>
              <a:t> </a:t>
            </a:r>
            <a:r>
              <a:rPr sz="1450" spc="-35" dirty="0">
                <a:latin typeface="Calibri"/>
                <a:cs typeface="Calibri"/>
              </a:rPr>
              <a:t>ratio</a:t>
            </a:r>
            <a:r>
              <a:rPr sz="1450" spc="-30" dirty="0"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in</a:t>
            </a:r>
            <a:r>
              <a:rPr sz="1450" spc="-45" dirty="0"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161616"/>
                </a:solidFill>
                <a:latin typeface="Calibri"/>
                <a:cs typeface="Calibri"/>
              </a:rPr>
              <a:t>the </a:t>
            </a:r>
            <a:r>
              <a:rPr sz="1450" spc="-25" dirty="0">
                <a:latin typeface="Calibri"/>
                <a:cs typeface="Calibri"/>
              </a:rPr>
              <a:t>soil</a:t>
            </a:r>
            <a:r>
              <a:rPr sz="1450" spc="-40" dirty="0">
                <a:latin typeface="Calibri"/>
                <a:cs typeface="Calibri"/>
              </a:rPr>
              <a:t> </a:t>
            </a:r>
            <a:r>
              <a:rPr sz="1450" spc="-20" dirty="0">
                <a:latin typeface="Calibri"/>
                <a:cs typeface="Calibri"/>
              </a:rPr>
              <a:t>have</a:t>
            </a:r>
            <a:endParaRPr sz="1450">
              <a:latin typeface="Calibri"/>
              <a:cs typeface="Calibri"/>
            </a:endParaRPr>
          </a:p>
          <a:p>
            <a:pPr marL="127635">
              <a:lnSpc>
                <a:spcPts val="1585"/>
              </a:lnSpc>
            </a:pPr>
            <a:r>
              <a:rPr sz="1400" dirty="0">
                <a:latin typeface="Calibri"/>
                <a:cs typeface="Calibri"/>
              </a:rPr>
              <a:t>shown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A2A2A"/>
                </a:solidFill>
                <a:latin typeface="Calibri"/>
                <a:cs typeface="Calibri"/>
              </a:rPr>
              <a:t>to</a:t>
            </a:r>
            <a:r>
              <a:rPr sz="1400" spc="-6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produce</a:t>
            </a:r>
            <a:r>
              <a:rPr sz="1400" spc="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goiter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C0C0C"/>
                </a:solidFill>
                <a:latin typeface="Calibri"/>
                <a:cs typeface="Calibri"/>
              </a:rPr>
              <a:t>humans.</a:t>
            </a:r>
            <a:endParaRPr sz="1400">
              <a:latin typeface="Calibri"/>
              <a:cs typeface="Calibri"/>
            </a:endParaRPr>
          </a:p>
          <a:p>
            <a:pPr marL="127635" indent="-114935">
              <a:lnSpc>
                <a:spcPct val="100000"/>
              </a:lnSpc>
              <a:spcBef>
                <a:spcPts val="295"/>
              </a:spcBef>
              <a:buChar char="•"/>
              <a:tabLst>
                <a:tab pos="127635" algn="l"/>
              </a:tabLst>
            </a:pPr>
            <a:r>
              <a:rPr sz="1450" spc="-10" dirty="0">
                <a:latin typeface="Calibri"/>
                <a:cs typeface="Calibri"/>
              </a:rPr>
              <a:t>Selenium</a:t>
            </a:r>
            <a:endParaRPr sz="1450">
              <a:latin typeface="Calibri"/>
              <a:cs typeface="Calibri"/>
            </a:endParaRPr>
          </a:p>
          <a:p>
            <a:pPr marL="130175" marR="5080" indent="-117475">
              <a:lnSpc>
                <a:spcPts val="1500"/>
              </a:lnSpc>
              <a:spcBef>
                <a:spcPts val="459"/>
              </a:spcBef>
              <a:buChar char="•"/>
              <a:tabLst>
                <a:tab pos="132715" algn="l"/>
              </a:tabLst>
            </a:pPr>
            <a:r>
              <a:rPr sz="1350" dirty="0">
                <a:latin typeface="Calibri"/>
                <a:cs typeface="Calibri"/>
              </a:rPr>
              <a:t>The</a:t>
            </a:r>
            <a:r>
              <a:rPr sz="1350" spc="5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first</a:t>
            </a:r>
            <a:r>
              <a:rPr sz="1350" spc="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rep</a:t>
            </a:r>
            <a:r>
              <a:rPr lang="en-IN" sz="1350" dirty="0">
                <a:latin typeface="Calibri"/>
                <a:cs typeface="Calibri"/>
              </a:rPr>
              <a:t>ort </a:t>
            </a:r>
            <a:r>
              <a:rPr sz="1350" dirty="0">
                <a:latin typeface="Calibri"/>
                <a:cs typeface="Calibri"/>
              </a:rPr>
              <a:t>that</a:t>
            </a:r>
            <a:r>
              <a:rPr sz="1350" spc="70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se</a:t>
            </a:r>
            <a:r>
              <a:rPr lang="en-IN" sz="1350" spc="-10" dirty="0">
                <a:latin typeface="Calibri"/>
                <a:cs typeface="Calibri"/>
              </a:rPr>
              <a:t>l</a:t>
            </a:r>
            <a:r>
              <a:rPr sz="1350" spc="-10" dirty="0">
                <a:latin typeface="Calibri"/>
                <a:cs typeface="Calibri"/>
              </a:rPr>
              <a:t>enium</a:t>
            </a:r>
            <a:r>
              <a:rPr sz="1350" spc="14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deficiency</a:t>
            </a:r>
            <a:r>
              <a:rPr sz="1350" spc="114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may occur</a:t>
            </a:r>
            <a:r>
              <a:rPr sz="1350" spc="-1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in</a:t>
            </a:r>
            <a:r>
              <a:rPr sz="1350" spc="-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man</a:t>
            </a:r>
            <a:r>
              <a:rPr sz="1350" spc="-10" dirty="0">
                <a:latin typeface="Calibri"/>
                <a:cs typeface="Calibri"/>
              </a:rPr>
              <a:t> appeared 	</a:t>
            </a:r>
            <a:r>
              <a:rPr sz="1350" dirty="0">
                <a:latin typeface="Calibri"/>
                <a:cs typeface="Calibri"/>
              </a:rPr>
              <a:t>in</a:t>
            </a:r>
            <a:r>
              <a:rPr sz="1350" spc="2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1961,</a:t>
            </a:r>
            <a:r>
              <a:rPr sz="1350" spc="130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and</a:t>
            </a:r>
            <a:r>
              <a:rPr sz="1350" spc="20" dirty="0"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11111"/>
                </a:solidFill>
                <a:latin typeface="Calibri"/>
                <a:cs typeface="Calibri"/>
              </a:rPr>
              <a:t>a</a:t>
            </a:r>
            <a:r>
              <a:rPr sz="1350" spc="-5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similar</a:t>
            </a:r>
            <a:r>
              <a:rPr sz="1350" spc="7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report</a:t>
            </a:r>
            <a:r>
              <a:rPr sz="1350" spc="75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in</a:t>
            </a:r>
            <a:r>
              <a:rPr sz="1350" spc="5" dirty="0">
                <a:latin typeface="Calibri"/>
                <a:cs typeface="Calibri"/>
              </a:rPr>
              <a:t> </a:t>
            </a:r>
            <a:r>
              <a:rPr sz="1350" spc="-10" dirty="0">
                <a:latin typeface="Calibri"/>
                <a:cs typeface="Calibri"/>
              </a:rPr>
              <a:t>1967.</a:t>
            </a:r>
            <a:endParaRPr sz="1350">
              <a:latin typeface="Calibri"/>
              <a:cs typeface="Calibri"/>
            </a:endParaRPr>
          </a:p>
          <a:p>
            <a:pPr marL="20955">
              <a:lnSpc>
                <a:spcPct val="100000"/>
              </a:lnSpc>
              <a:spcBef>
                <a:spcPts val="325"/>
              </a:spcBef>
            </a:pPr>
            <a:r>
              <a:rPr sz="1400" dirty="0">
                <a:latin typeface="Calibri"/>
                <a:cs typeface="Calibri"/>
              </a:rPr>
              <a:t>°</a:t>
            </a:r>
            <a:r>
              <a:rPr sz="1400" spc="1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Deficiency:-3'protein-</a:t>
            </a:r>
            <a:r>
              <a:rPr sz="1400" dirty="0">
                <a:latin typeface="Calibri"/>
                <a:cs typeface="Calibri"/>
              </a:rPr>
              <a:t>energy</a:t>
            </a:r>
            <a:r>
              <a:rPr sz="1400" spc="114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malnutrition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9100" y="3149600"/>
            <a:ext cx="4318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25"/>
              </a:spcBef>
            </a:pPr>
            <a:r>
              <a:rPr spc="-20" dirty="0">
                <a:solidFill>
                  <a:srgbClr val="1160A5"/>
                </a:solidFill>
              </a:rPr>
              <a:t>Other</a:t>
            </a:r>
            <a:r>
              <a:rPr spc="-85" dirty="0">
                <a:solidFill>
                  <a:srgbClr val="1160A5"/>
                </a:solidFill>
              </a:rPr>
              <a:t> </a:t>
            </a:r>
            <a:r>
              <a:rPr spc="-30" dirty="0">
                <a:solidFill>
                  <a:srgbClr val="0569B5"/>
                </a:solidFill>
              </a:rPr>
              <a:t>traces</a:t>
            </a:r>
            <a:r>
              <a:rPr spc="-80" dirty="0">
                <a:solidFill>
                  <a:srgbClr val="0569B5"/>
                </a:solidFill>
              </a:rPr>
              <a:t> </a:t>
            </a:r>
            <a:r>
              <a:rPr spc="-50" dirty="0"/>
              <a:t>minerals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6252" y="870743"/>
            <a:ext cx="4281805" cy="19177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635" indent="-114935">
              <a:lnSpc>
                <a:spcPct val="100000"/>
              </a:lnSpc>
              <a:spcBef>
                <a:spcPts val="105"/>
              </a:spcBef>
              <a:buChar char="•"/>
              <a:tabLst>
                <a:tab pos="127635" algn="l"/>
              </a:tabLst>
            </a:pPr>
            <a:r>
              <a:rPr sz="1400" spc="-10" dirty="0">
                <a:latin typeface="Calibri"/>
                <a:cs typeface="Calibri"/>
              </a:rPr>
              <a:t>Molybdenum:</a:t>
            </a:r>
            <a:endParaRPr sz="1400">
              <a:latin typeface="Calibri"/>
              <a:cs typeface="Calibri"/>
            </a:endParaRPr>
          </a:p>
          <a:p>
            <a:pPr marL="130175" marR="277495" indent="-109855">
              <a:lnSpc>
                <a:spcPct val="77600"/>
              </a:lnSpc>
              <a:spcBef>
                <a:spcPts val="459"/>
              </a:spcBef>
            </a:pPr>
            <a:r>
              <a:rPr sz="1450" dirty="0">
                <a:latin typeface="Calibri"/>
                <a:cs typeface="Calibri"/>
              </a:rPr>
              <a:t>°</a:t>
            </a:r>
            <a:r>
              <a:rPr sz="1450" spc="10" dirty="0">
                <a:latin typeface="Calibri"/>
                <a:cs typeface="Calibri"/>
              </a:rPr>
              <a:t> </a:t>
            </a:r>
            <a:r>
              <a:rPr sz="1450" spc="-35" dirty="0">
                <a:latin typeface="Calibri"/>
                <a:cs typeface="Calibri"/>
              </a:rPr>
              <a:t>Excess</a:t>
            </a:r>
            <a:r>
              <a:rPr sz="1450" spc="-15" dirty="0">
                <a:latin typeface="Calibri"/>
                <a:cs typeface="Calibri"/>
              </a:rPr>
              <a:t> </a:t>
            </a:r>
            <a:r>
              <a:rPr sz="1450" spc="-35" dirty="0">
                <a:latin typeface="Calibri"/>
                <a:cs typeface="Calibri"/>
              </a:rPr>
              <a:t>absorption</a:t>
            </a:r>
            <a:r>
              <a:rPr sz="1450" spc="-10" dirty="0"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161616"/>
                </a:solidFill>
                <a:latin typeface="Calibri"/>
                <a:cs typeface="Calibri"/>
              </a:rPr>
              <a:t>of</a:t>
            </a:r>
            <a:r>
              <a:rPr sz="1450" spc="-70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450" spc="-45" dirty="0">
                <a:latin typeface="Calibri"/>
                <a:cs typeface="Calibri"/>
              </a:rPr>
              <a:t>molybdenum</a:t>
            </a:r>
            <a:r>
              <a:rPr sz="1450" spc="40" dirty="0">
                <a:latin typeface="Calibri"/>
                <a:cs typeface="Calibri"/>
              </a:rPr>
              <a:t> </a:t>
            </a:r>
            <a:r>
              <a:rPr sz="1450" spc="-25" dirty="0">
                <a:latin typeface="Calibri"/>
                <a:cs typeface="Calibri"/>
              </a:rPr>
              <a:t>has</a:t>
            </a:r>
            <a:r>
              <a:rPr sz="1450" spc="-55" dirty="0">
                <a:latin typeface="Calibri"/>
                <a:cs typeface="Calibri"/>
              </a:rPr>
              <a:t> </a:t>
            </a:r>
            <a:r>
              <a:rPr sz="1450" spc="-20" dirty="0">
                <a:solidFill>
                  <a:srgbClr val="0E0E0E"/>
                </a:solidFill>
                <a:latin typeface="Calibri"/>
                <a:cs typeface="Calibri"/>
              </a:rPr>
              <a:t>been</a:t>
            </a:r>
            <a:r>
              <a:rPr sz="1450" spc="-35" dirty="0">
                <a:solidFill>
                  <a:srgbClr val="0E0E0E"/>
                </a:solidFill>
                <a:latin typeface="Calibri"/>
                <a:cs typeface="Calibri"/>
              </a:rPr>
              <a:t> </a:t>
            </a:r>
            <a:r>
              <a:rPr sz="1450" spc="-30" dirty="0">
                <a:latin typeface="Calibri"/>
                <a:cs typeface="Calibri"/>
              </a:rPr>
              <a:t>shown</a:t>
            </a:r>
            <a:r>
              <a:rPr sz="1450" spc="-5" dirty="0">
                <a:latin typeface="Calibri"/>
                <a:cs typeface="Calibri"/>
              </a:rPr>
              <a:t> </a:t>
            </a:r>
            <a:r>
              <a:rPr lang="en-IN" sz="1450" spc="-25" dirty="0">
                <a:solidFill>
                  <a:srgbClr val="0F0F0F"/>
                </a:solidFill>
                <a:latin typeface="Calibri"/>
                <a:cs typeface="Calibri"/>
              </a:rPr>
              <a:t>to</a:t>
            </a:r>
            <a:r>
              <a:rPr sz="1450" spc="-25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450" spc="-40" dirty="0">
                <a:latin typeface="Calibri"/>
                <a:cs typeface="Calibri"/>
              </a:rPr>
              <a:t>produce</a:t>
            </a:r>
            <a:r>
              <a:rPr sz="1450" dirty="0">
                <a:latin typeface="Calibri"/>
                <a:cs typeface="Calibri"/>
              </a:rPr>
              <a:t> </a:t>
            </a:r>
            <a:r>
              <a:rPr sz="1450" spc="-40" dirty="0">
                <a:latin typeface="Calibri"/>
                <a:cs typeface="Calibri"/>
              </a:rPr>
              <a:t>bony</a:t>
            </a:r>
            <a:r>
              <a:rPr sz="1450" spc="-15" dirty="0"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deformities.</a:t>
            </a:r>
            <a:endParaRPr sz="1450">
              <a:latin typeface="Calibri"/>
              <a:cs typeface="Calibri"/>
            </a:endParaRPr>
          </a:p>
          <a:p>
            <a:pPr marL="125095" indent="-112395">
              <a:lnSpc>
                <a:spcPts val="1525"/>
              </a:lnSpc>
              <a:spcBef>
                <a:spcPts val="95"/>
              </a:spcBef>
              <a:buChar char="•"/>
              <a:tabLst>
                <a:tab pos="125095" algn="l"/>
              </a:tabLst>
            </a:pPr>
            <a:r>
              <a:rPr sz="1450" dirty="0">
                <a:latin typeface="Calibri"/>
                <a:cs typeface="Calibri"/>
              </a:rPr>
              <a:t>On</a:t>
            </a:r>
            <a:r>
              <a:rPr sz="1450" spc="-80" dirty="0">
                <a:latin typeface="Calibri"/>
                <a:cs typeface="Calibri"/>
              </a:rPr>
              <a:t> </a:t>
            </a:r>
            <a:r>
              <a:rPr sz="1450" spc="-20" dirty="0">
                <a:latin typeface="Calibri"/>
                <a:cs typeface="Calibri"/>
              </a:rPr>
              <a:t>the</a:t>
            </a:r>
            <a:r>
              <a:rPr sz="1450" spc="-35" dirty="0">
                <a:latin typeface="Calibri"/>
                <a:cs typeface="Calibri"/>
              </a:rPr>
              <a:t> </a:t>
            </a:r>
            <a:r>
              <a:rPr sz="1450" spc="-40" dirty="0">
                <a:latin typeface="Calibri"/>
                <a:cs typeface="Calibri"/>
              </a:rPr>
              <a:t>other</a:t>
            </a:r>
            <a:r>
              <a:rPr sz="1450" spc="-45" dirty="0">
                <a:latin typeface="Calibri"/>
                <a:cs typeface="Calibri"/>
              </a:rPr>
              <a:t> </a:t>
            </a:r>
            <a:r>
              <a:rPr sz="1450" spc="-20" dirty="0">
                <a:latin typeface="Calibri"/>
                <a:cs typeface="Calibri"/>
              </a:rPr>
              <a:t>hand,</a:t>
            </a:r>
            <a:r>
              <a:rPr sz="1450" spc="-30" dirty="0">
                <a:latin typeface="Calibri"/>
                <a:cs typeface="Calibri"/>
              </a:rPr>
              <a:t> </a:t>
            </a:r>
            <a:r>
              <a:rPr sz="1450" spc="-35" dirty="0">
                <a:latin typeface="Calibri"/>
                <a:cs typeface="Calibri"/>
              </a:rPr>
              <a:t>deficiency</a:t>
            </a:r>
            <a:r>
              <a:rPr sz="1450" spc="70" dirty="0">
                <a:latin typeface="Calibri"/>
                <a:cs typeface="Calibri"/>
              </a:rPr>
              <a:t> </a:t>
            </a:r>
            <a:r>
              <a:rPr sz="1450" spc="-25" dirty="0">
                <a:solidFill>
                  <a:srgbClr val="181818"/>
                </a:solidFill>
                <a:latin typeface="Calibri"/>
                <a:cs typeface="Calibri"/>
              </a:rPr>
              <a:t>of</a:t>
            </a:r>
            <a:endParaRPr sz="1450">
              <a:latin typeface="Calibri"/>
              <a:cs typeface="Calibri"/>
            </a:endParaRPr>
          </a:p>
          <a:p>
            <a:pPr marL="126364" marR="116205" indent="3810">
              <a:lnSpc>
                <a:spcPct val="77600"/>
              </a:lnSpc>
              <a:spcBef>
                <a:spcPts val="180"/>
              </a:spcBef>
            </a:pPr>
            <a:r>
              <a:rPr sz="1450" spc="-45" dirty="0">
                <a:latin typeface="Calibri"/>
                <a:cs typeface="Calibri"/>
              </a:rPr>
              <a:t>molybdenum</a:t>
            </a:r>
            <a:r>
              <a:rPr sz="1450" spc="35" dirty="0"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is</a:t>
            </a:r>
            <a:r>
              <a:rPr sz="1450" spc="-55" dirty="0">
                <a:latin typeface="Calibri"/>
                <a:cs typeface="Calibri"/>
              </a:rPr>
              <a:t> </a:t>
            </a:r>
            <a:r>
              <a:rPr sz="1450" spc="-40" dirty="0">
                <a:latin typeface="Calibri"/>
                <a:cs typeface="Calibri"/>
              </a:rPr>
              <a:t>associated</a:t>
            </a:r>
            <a:r>
              <a:rPr sz="1450" spc="15" dirty="0">
                <a:latin typeface="Calibri"/>
                <a:cs typeface="Calibri"/>
              </a:rPr>
              <a:t> </a:t>
            </a:r>
            <a:r>
              <a:rPr sz="1450" spc="-20" dirty="0">
                <a:latin typeface="Calibri"/>
                <a:cs typeface="Calibri"/>
              </a:rPr>
              <a:t>with</a:t>
            </a:r>
            <a:r>
              <a:rPr sz="1450" spc="-35" dirty="0">
                <a:latin typeface="Calibri"/>
                <a:cs typeface="Calibri"/>
              </a:rPr>
              <a:t> mouth</a:t>
            </a:r>
            <a:r>
              <a:rPr sz="1450" spc="-45" dirty="0"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0F0F0F"/>
                </a:solidFill>
                <a:latin typeface="Calibri"/>
                <a:cs typeface="Calibri"/>
              </a:rPr>
              <a:t>and</a:t>
            </a:r>
            <a:r>
              <a:rPr sz="1450" spc="-2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450" spc="-30" dirty="0">
                <a:latin typeface="Calibri"/>
                <a:cs typeface="Calibri"/>
              </a:rPr>
              <a:t>oesophageal </a:t>
            </a:r>
            <a:r>
              <a:rPr sz="1450" spc="-10" dirty="0">
                <a:latin typeface="Calibri"/>
                <a:cs typeface="Calibri"/>
              </a:rPr>
              <a:t>cancer</a:t>
            </a:r>
            <a:endParaRPr sz="1450">
              <a:latin typeface="Calibri"/>
              <a:cs typeface="Calibri"/>
            </a:endParaRPr>
          </a:p>
          <a:p>
            <a:pPr marL="125095" indent="-112395">
              <a:lnSpc>
                <a:spcPct val="100000"/>
              </a:lnSpc>
              <a:spcBef>
                <a:spcPts val="135"/>
              </a:spcBef>
              <a:buChar char="•"/>
              <a:tabLst>
                <a:tab pos="125095" algn="l"/>
              </a:tabLst>
            </a:pPr>
            <a:r>
              <a:rPr sz="1450" spc="-10" dirty="0">
                <a:latin typeface="Calibri"/>
                <a:cs typeface="Calibri"/>
              </a:rPr>
              <a:t>Chromium</a:t>
            </a:r>
            <a:endParaRPr sz="1450">
              <a:latin typeface="Calibri"/>
              <a:cs typeface="Calibri"/>
            </a:endParaRPr>
          </a:p>
          <a:p>
            <a:pPr marL="20320">
              <a:lnSpc>
                <a:spcPct val="100000"/>
              </a:lnSpc>
              <a:spcBef>
                <a:spcPts val="60"/>
              </a:spcBef>
            </a:pPr>
            <a:r>
              <a:rPr sz="1450" dirty="0">
                <a:latin typeface="Calibri"/>
                <a:cs typeface="Calibri"/>
              </a:rPr>
              <a:t>°</a:t>
            </a:r>
            <a:r>
              <a:rPr sz="1450" spc="-5" dirty="0">
                <a:latin typeface="Calibri"/>
                <a:cs typeface="Calibri"/>
              </a:rPr>
              <a:t> </a:t>
            </a:r>
            <a:r>
              <a:rPr sz="1450" spc="-75" dirty="0">
                <a:latin typeface="Calibri"/>
                <a:cs typeface="Calibri"/>
              </a:rPr>
              <a:t>Total</a:t>
            </a:r>
            <a:r>
              <a:rPr sz="1450" spc="-25" dirty="0">
                <a:latin typeface="Calibri"/>
                <a:cs typeface="Calibri"/>
              </a:rPr>
              <a:t> </a:t>
            </a:r>
            <a:r>
              <a:rPr sz="1450" spc="-20" dirty="0">
                <a:latin typeface="Calibri"/>
                <a:cs typeface="Calibri"/>
              </a:rPr>
              <a:t>body</a:t>
            </a:r>
            <a:r>
              <a:rPr sz="1450" spc="-35" dirty="0">
                <a:latin typeface="Calibri"/>
                <a:cs typeface="Calibri"/>
              </a:rPr>
              <a:t> content</a:t>
            </a:r>
            <a:r>
              <a:rPr sz="1450" spc="35" dirty="0">
                <a:latin typeface="Calibri"/>
                <a:cs typeface="Calibri"/>
              </a:rPr>
              <a:t> </a:t>
            </a:r>
            <a:r>
              <a:rPr sz="1450" spc="-35" dirty="0">
                <a:latin typeface="Calibri"/>
                <a:cs typeface="Calibri"/>
              </a:rPr>
              <a:t>of</a:t>
            </a:r>
            <a:r>
              <a:rPr sz="1450" spc="-30" dirty="0">
                <a:latin typeface="Calibri"/>
                <a:cs typeface="Calibri"/>
              </a:rPr>
              <a:t> </a:t>
            </a:r>
            <a:r>
              <a:rPr sz="1450" spc="-45" dirty="0">
                <a:latin typeface="Calibri"/>
                <a:cs typeface="Calibri"/>
              </a:rPr>
              <a:t>chromium</a:t>
            </a:r>
            <a:r>
              <a:rPr sz="1450" spc="50" dirty="0"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is</a:t>
            </a:r>
            <a:r>
              <a:rPr sz="1450" spc="-35" dirty="0">
                <a:latin typeface="Calibri"/>
                <a:cs typeface="Calibri"/>
              </a:rPr>
              <a:t> </a:t>
            </a:r>
            <a:r>
              <a:rPr sz="1450" spc="-40" dirty="0">
                <a:latin typeface="Calibri"/>
                <a:cs typeface="Calibri"/>
              </a:rPr>
              <a:t>small, </a:t>
            </a:r>
            <a:r>
              <a:rPr sz="1450" dirty="0">
                <a:latin typeface="Calibri"/>
                <a:cs typeface="Calibri"/>
              </a:rPr>
              <a:t>less</a:t>
            </a:r>
            <a:r>
              <a:rPr sz="1450" spc="-55" dirty="0">
                <a:latin typeface="Calibri"/>
                <a:cs typeface="Calibri"/>
              </a:rPr>
              <a:t> </a:t>
            </a:r>
            <a:r>
              <a:rPr sz="1450" spc="-25" dirty="0">
                <a:solidFill>
                  <a:srgbClr val="0F0F0F"/>
                </a:solidFill>
                <a:latin typeface="Calibri"/>
                <a:cs typeface="Calibri"/>
              </a:rPr>
              <a:t>then</a:t>
            </a:r>
            <a:r>
              <a:rPr sz="1450" dirty="0">
                <a:solidFill>
                  <a:srgbClr val="0F0F0F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111111"/>
                </a:solidFill>
                <a:latin typeface="Calibri"/>
                <a:cs typeface="Calibri"/>
              </a:rPr>
              <a:t>6</a:t>
            </a:r>
            <a:r>
              <a:rPr sz="1450" spc="-80" dirty="0">
                <a:solidFill>
                  <a:srgbClr val="111111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mg</a:t>
            </a:r>
            <a:r>
              <a:rPr sz="1450" spc="-35" dirty="0">
                <a:latin typeface="Calibri"/>
                <a:cs typeface="Calibri"/>
              </a:rPr>
              <a:t> </a:t>
            </a:r>
            <a:r>
              <a:rPr sz="1450" spc="-50" dirty="0">
                <a:solidFill>
                  <a:srgbClr val="111111"/>
                </a:solidFill>
                <a:latin typeface="Calibri"/>
                <a:cs typeface="Calibri"/>
              </a:rPr>
              <a:t>A</a:t>
            </a:r>
            <a:endParaRPr sz="1450">
              <a:latin typeface="Calibri"/>
              <a:cs typeface="Calibri"/>
            </a:endParaRPr>
          </a:p>
          <a:p>
            <a:pPr marL="165735" indent="-153035">
              <a:lnSpc>
                <a:spcPct val="100000"/>
              </a:lnSpc>
              <a:spcBef>
                <a:spcPts val="135"/>
              </a:spcBef>
              <a:buChar char="•"/>
              <a:tabLst>
                <a:tab pos="165735" algn="l"/>
              </a:tabLst>
            </a:pPr>
            <a:r>
              <a:rPr sz="1450" spc="-30" dirty="0">
                <a:latin typeface="Calibri"/>
                <a:cs typeface="Calibri"/>
              </a:rPr>
              <a:t>Role</a:t>
            </a:r>
            <a:r>
              <a:rPr sz="1450" spc="-55" dirty="0"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in</a:t>
            </a:r>
            <a:r>
              <a:rPr sz="1450" spc="-65" dirty="0">
                <a:latin typeface="Calibri"/>
                <a:cs typeface="Calibri"/>
              </a:rPr>
              <a:t> </a:t>
            </a:r>
            <a:r>
              <a:rPr sz="1450" spc="-40" dirty="0">
                <a:latin typeface="Calibri"/>
                <a:cs typeface="Calibri"/>
              </a:rPr>
              <a:t>relation </a:t>
            </a:r>
            <a:r>
              <a:rPr sz="1450" dirty="0">
                <a:solidFill>
                  <a:srgbClr val="161616"/>
                </a:solidFill>
                <a:latin typeface="Calibri"/>
                <a:cs typeface="Calibri"/>
              </a:rPr>
              <a:t>to</a:t>
            </a:r>
            <a:r>
              <a:rPr sz="1450" spc="-45" dirty="0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sz="1450" spc="-50" dirty="0">
                <a:latin typeface="Calibri"/>
                <a:cs typeface="Calibri"/>
              </a:rPr>
              <a:t>carbohydrate</a:t>
            </a:r>
            <a:r>
              <a:rPr sz="1450" spc="45" dirty="0">
                <a:latin typeface="Calibri"/>
                <a:cs typeface="Calibri"/>
              </a:rPr>
              <a:t> </a:t>
            </a:r>
            <a:r>
              <a:rPr sz="1450" dirty="0">
                <a:latin typeface="Calibri"/>
                <a:cs typeface="Calibri"/>
              </a:rPr>
              <a:t>and</a:t>
            </a:r>
            <a:r>
              <a:rPr sz="1450" spc="-25" dirty="0">
                <a:latin typeface="Calibri"/>
                <a:cs typeface="Calibri"/>
              </a:rPr>
              <a:t> </a:t>
            </a:r>
            <a:r>
              <a:rPr sz="1450" spc="-35" dirty="0">
                <a:latin typeface="Calibri"/>
                <a:cs typeface="Calibri"/>
              </a:rPr>
              <a:t>insulin</a:t>
            </a:r>
            <a:r>
              <a:rPr sz="1450" dirty="0">
                <a:latin typeface="Calibri"/>
                <a:cs typeface="Calibri"/>
              </a:rPr>
              <a:t> </a:t>
            </a:r>
            <a:r>
              <a:rPr sz="1450" spc="-10" dirty="0">
                <a:latin typeface="Calibri"/>
                <a:cs typeface="Calibri"/>
              </a:rPr>
              <a:t>function</a:t>
            </a:r>
            <a:endParaRPr sz="14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3149600"/>
            <a:ext cx="46990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6076950" cy="3419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45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6" baseType="lpstr">
      <vt:lpstr>Office Theme</vt:lpstr>
      <vt:lpstr>PowerPoint Presentation</vt:lpstr>
      <vt:lpstr>Introduction</vt:lpstr>
      <vt:lpstr>Introduction</vt:lpstr>
      <vt:lpstr>Function of Minerals</vt:lpstr>
      <vt:lpstr>PowerPoint Presentation</vt:lpstr>
      <vt:lpstr>Calcium</vt:lpstr>
      <vt:lpstr>Calcium- Absorption</vt:lpstr>
      <vt:lpstr>Calcium-Sources</vt:lpstr>
      <vt:lpstr>Calcium-Requirement</vt:lpstr>
      <vt:lpstr>Calcium- Function</vt:lpstr>
      <vt:lpstr>Calcium- Disorder</vt:lpstr>
      <vt:lpstr>Calcium- Treatment</vt:lpstr>
      <vt:lpstr>Phosphorus</vt:lpstr>
      <vt:lpstr>Phosphorus-Sources</vt:lpstr>
      <vt:lpstr>Phosphorus-Requirement</vt:lpstr>
      <vt:lpstr>Phosphorus- Function</vt:lpstr>
      <vt:lpstr>Magnesium</vt:lpstr>
      <vt:lpstr>Magnesium- Absorption</vt:lpstr>
      <vt:lpstr>Magnesium-Requirement</vt:lpstr>
      <vt:lpstr>Magnesium- Disorder</vt:lpstr>
      <vt:lpstr>Sodium</vt:lpstr>
      <vt:lpstr>Potassium</vt:lpstr>
      <vt:lpstr>PowerPoint Presentation</vt:lpstr>
      <vt:lpstr>Iron</vt:lpstr>
      <vt:lpstr>Iron- Absorption</vt:lpstr>
      <vt:lpstr>Iron-Requirement</vt:lpstr>
      <vt:lpstr>Iron-Function</vt:lpstr>
      <vt:lpstr>Iron-Sources</vt:lpstr>
      <vt:lpstr>Iron-Disorder</vt:lpstr>
      <vt:lpstr>Iron-Disorder</vt:lpstr>
      <vt:lpstr>Iodine</vt:lpstr>
      <vt:lpstr>Iodine- Absorption</vt:lpstr>
      <vt:lpstr>Iodine-Function</vt:lpstr>
      <vt:lpstr>Iodine-Requirement</vt:lpstr>
      <vt:lpstr>Iodine-Sources</vt:lpstr>
      <vt:lpstr>Iodine-Disorder</vt:lpstr>
      <vt:lpstr>Iodine-Disorder</vt:lpstr>
      <vt:lpstr>Flourine</vt:lpstr>
      <vt:lpstr>Copper</vt:lpstr>
      <vt:lpstr>Zinc</vt:lpstr>
      <vt:lpstr>Zinc</vt:lpstr>
      <vt:lpstr>Zinc</vt:lpstr>
      <vt:lpstr>Other traces minerals</vt:lpstr>
      <vt:lpstr>Other traces minerals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Guest User</cp:lastModifiedBy>
  <cp:revision>2</cp:revision>
  <dcterms:created xsi:type="dcterms:W3CDTF">2023-10-17T18:12:45Z</dcterms:created>
  <dcterms:modified xsi:type="dcterms:W3CDTF">2023-10-17T20:13:38Z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LastSaved">
    <vt:filetime>2023-10-17T00:00:00Z</vt:filetime>
  </property>
  <property fmtid="{D5CDD505-2E9C-101B-9397-08002B2CF9AE}" pid="4" name="Producer">
    <vt:lpwstr>iOS Version 17.0.3 (Build 21A360) Quartz PDFContext, AppendMode 1.1</vt:lpwstr>
  </property>
</Properties>
</file>