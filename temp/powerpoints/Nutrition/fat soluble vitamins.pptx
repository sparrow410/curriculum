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0" r:id="rId3"/>
    <p:sldId id="291" r:id="rId4"/>
    <p:sldId id="305" r:id="rId5"/>
    <p:sldId id="303" r:id="rId6"/>
    <p:sldId id="292" r:id="rId7"/>
    <p:sldId id="293" r:id="rId8"/>
    <p:sldId id="294" r:id="rId9"/>
    <p:sldId id="295" r:id="rId10"/>
    <p:sldId id="296" r:id="rId11"/>
    <p:sldId id="308" r:id="rId12"/>
    <p:sldId id="309" r:id="rId13"/>
    <p:sldId id="297" r:id="rId14"/>
    <p:sldId id="298" r:id="rId15"/>
    <p:sldId id="311" r:id="rId16"/>
    <p:sldId id="299" r:id="rId17"/>
    <p:sldId id="314" r:id="rId18"/>
    <p:sldId id="313" r:id="rId19"/>
    <p:sldId id="300" r:id="rId20"/>
    <p:sldId id="316" r:id="rId21"/>
    <p:sldId id="318" r:id="rId22"/>
    <p:sldId id="301" r:id="rId23"/>
  </p:sldIdLst>
  <p:sldSz cx="6070600" cy="4552950"/>
  <p:notesSz cx="6070600" cy="4552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40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3705225"/>
            <a:ext cx="914400" cy="4762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2675" y="2390775"/>
            <a:ext cx="933450" cy="4762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3150" y="466725"/>
            <a:ext cx="952500" cy="4953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343150" y="466725"/>
            <a:ext cx="942975" cy="485775"/>
          </a:xfrm>
          <a:custGeom>
            <a:avLst/>
            <a:gdLst/>
            <a:ahLst/>
            <a:cxnLst/>
            <a:rect l="l" t="t" r="r" b="b"/>
            <a:pathLst>
              <a:path w="942975" h="485775">
                <a:moveTo>
                  <a:pt x="942975" y="485775"/>
                </a:moveTo>
                <a:lnTo>
                  <a:pt x="0" y="485775"/>
                </a:lnTo>
                <a:lnTo>
                  <a:pt x="0" y="0"/>
                </a:lnTo>
                <a:lnTo>
                  <a:pt x="942975" y="0"/>
                </a:lnTo>
                <a:lnTo>
                  <a:pt x="942975" y="485775"/>
                </a:lnTo>
                <a:close/>
              </a:path>
            </a:pathLst>
          </a:custGeom>
          <a:solidFill>
            <a:srgbClr val="BF8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150" y="1647825"/>
            <a:ext cx="952500" cy="4953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343150" y="1647825"/>
            <a:ext cx="942975" cy="485775"/>
          </a:xfrm>
          <a:custGeom>
            <a:avLst/>
            <a:gdLst/>
            <a:ahLst/>
            <a:cxnLst/>
            <a:rect l="l" t="t" r="r" b="b"/>
            <a:pathLst>
              <a:path w="942975" h="485775">
                <a:moveTo>
                  <a:pt x="942975" y="485775"/>
                </a:moveTo>
                <a:lnTo>
                  <a:pt x="0" y="485775"/>
                </a:lnTo>
                <a:lnTo>
                  <a:pt x="0" y="0"/>
                </a:lnTo>
                <a:lnTo>
                  <a:pt x="942975" y="0"/>
                </a:lnTo>
                <a:lnTo>
                  <a:pt x="942975" y="485775"/>
                </a:lnTo>
                <a:close/>
              </a:path>
            </a:pathLst>
          </a:custGeom>
          <a:solidFill>
            <a:srgbClr val="5B2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8125" y="4105275"/>
            <a:ext cx="762000" cy="104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253" y="1989137"/>
            <a:ext cx="1675764" cy="381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2549652"/>
            <a:ext cx="4253865" cy="1138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38527" y="2829305"/>
            <a:ext cx="424180" cy="0"/>
          </a:xfrm>
          <a:custGeom>
            <a:avLst/>
            <a:gdLst/>
            <a:ahLst/>
            <a:cxnLst/>
            <a:rect l="l" t="t" r="r" b="b"/>
            <a:pathLst>
              <a:path w="424180">
                <a:moveTo>
                  <a:pt x="0" y="0"/>
                </a:moveTo>
                <a:lnTo>
                  <a:pt x="423672" y="0"/>
                </a:lnTo>
              </a:path>
            </a:pathLst>
          </a:custGeom>
          <a:ln w="21336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02844" y="1198562"/>
            <a:ext cx="1837689" cy="289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75003" y="1198562"/>
            <a:ext cx="1846579" cy="3129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9320" y="34925"/>
            <a:ext cx="2198309" cy="23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6651" y="1850163"/>
            <a:ext cx="5443220" cy="2084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4234243"/>
            <a:ext cx="1944624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12" Type="http://schemas.openxmlformats.org/officeDocument/2006/relationships/image" Target="../media/image34.png"/><Relationship Id="rId2" Type="http://schemas.openxmlformats.org/officeDocument/2006/relationships/image" Target="../media/image24.jpg"/><Relationship Id="rId16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11" Type="http://schemas.openxmlformats.org/officeDocument/2006/relationships/image" Target="../media/image33.jpg"/><Relationship Id="rId5" Type="http://schemas.openxmlformats.org/officeDocument/2006/relationships/image" Target="../media/image27.jpg"/><Relationship Id="rId15" Type="http://schemas.openxmlformats.org/officeDocument/2006/relationships/image" Target="../media/image37.jpg"/><Relationship Id="rId10" Type="http://schemas.openxmlformats.org/officeDocument/2006/relationships/image" Target="../media/image32.jp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2162175"/>
            <a:ext cx="371475" cy="2238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25" y="2152650"/>
            <a:ext cx="371475" cy="22383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76300" y="1609725"/>
            <a:ext cx="4448175" cy="409575"/>
            <a:chOff x="876300" y="1609725"/>
            <a:chExt cx="4448175" cy="4095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3050" y="1733550"/>
              <a:ext cx="3114675" cy="1809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76300" y="1609725"/>
              <a:ext cx="4448175" cy="409575"/>
            </a:xfrm>
            <a:custGeom>
              <a:avLst/>
              <a:gdLst/>
              <a:ahLst/>
              <a:cxnLst/>
              <a:rect l="l" t="t" r="r" b="b"/>
              <a:pathLst>
                <a:path w="4448175" h="409575">
                  <a:moveTo>
                    <a:pt x="4448175" y="409575"/>
                  </a:moveTo>
                  <a:lnTo>
                    <a:pt x="0" y="409575"/>
                  </a:lnTo>
                  <a:lnTo>
                    <a:pt x="0" y="0"/>
                  </a:lnTo>
                  <a:lnTo>
                    <a:pt x="4448175" y="0"/>
                  </a:lnTo>
                  <a:lnTo>
                    <a:pt x="4448175" y="409575"/>
                  </a:lnTo>
                  <a:close/>
                </a:path>
              </a:pathLst>
            </a:custGeom>
            <a:solidFill>
              <a:srgbClr val="C3D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665" y="101600"/>
            <a:ext cx="5875655" cy="13036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40029" marR="5080" indent="-227965" algn="just">
              <a:lnSpc>
                <a:spcPts val="1910"/>
              </a:lnSpc>
              <a:spcBef>
                <a:spcPts val="220"/>
              </a:spcBef>
              <a:buChar char="•"/>
              <a:tabLst>
                <a:tab pos="241935" algn="l"/>
              </a:tabLst>
            </a:pPr>
            <a:r>
              <a:rPr sz="1650" spc="-60" dirty="0">
                <a:latin typeface="Times New Roman"/>
                <a:cs typeface="Times New Roman"/>
              </a:rPr>
              <a:t>Vitamins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are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organic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35" dirty="0">
                <a:latin typeface="Times New Roman"/>
                <a:cs typeface="Times New Roman"/>
              </a:rPr>
              <a:t>compounds</a:t>
            </a:r>
            <a:r>
              <a:rPr sz="1650" spc="-6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that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people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need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8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small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quantities. 	</a:t>
            </a:r>
            <a:r>
              <a:rPr sz="1600" dirty="0">
                <a:latin typeface="Times New Roman"/>
                <a:cs typeface="Times New Roman"/>
              </a:rPr>
              <a:t>Most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vitamins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food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body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either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does 	</a:t>
            </a:r>
            <a:r>
              <a:rPr sz="1700" spc="-20" dirty="0">
                <a:latin typeface="Times New Roman"/>
                <a:cs typeface="Times New Roman"/>
              </a:rPr>
              <a:t>not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produce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95" dirty="0">
                <a:latin typeface="Times New Roman"/>
                <a:cs typeface="Times New Roman"/>
              </a:rPr>
              <a:t>them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produces</a:t>
            </a:r>
            <a:r>
              <a:rPr sz="1700" spc="-30" dirty="0">
                <a:latin typeface="Times New Roman"/>
                <a:cs typeface="Times New Roman"/>
              </a:rPr>
              <a:t> very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little.</a:t>
            </a:r>
            <a:endParaRPr sz="1700">
              <a:latin typeface="Times New Roman"/>
              <a:cs typeface="Times New Roman"/>
            </a:endParaRPr>
          </a:p>
          <a:p>
            <a:pPr marL="248285" indent="-235585" algn="just">
              <a:lnSpc>
                <a:spcPts val="1914"/>
              </a:lnSpc>
              <a:spcBef>
                <a:spcPts val="260"/>
              </a:spcBef>
              <a:buChar char="•"/>
              <a:tabLst>
                <a:tab pos="248285" algn="l"/>
              </a:tabLst>
            </a:pPr>
            <a:r>
              <a:rPr sz="1650" spc="-30" dirty="0">
                <a:latin typeface="Times New Roman"/>
                <a:cs typeface="Times New Roman"/>
              </a:rPr>
              <a:t>Different</a:t>
            </a:r>
            <a:r>
              <a:rPr sz="1650" spc="28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vitamins</a:t>
            </a:r>
            <a:r>
              <a:rPr sz="1650" spc="3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play</a:t>
            </a:r>
            <a:r>
              <a:rPr sz="1650" spc="250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different</a:t>
            </a:r>
            <a:r>
              <a:rPr sz="1650" spc="3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roles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2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270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body,</a:t>
            </a:r>
            <a:r>
              <a:rPr sz="1650" spc="2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260" dirty="0"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sz="1650" spc="229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person</a:t>
            </a:r>
            <a:endParaRPr sz="1650">
              <a:latin typeface="Times New Roman"/>
              <a:cs typeface="Times New Roman"/>
            </a:endParaRPr>
          </a:p>
          <a:p>
            <a:pPr marL="241300" algn="just">
              <a:lnSpc>
                <a:spcPts val="2035"/>
              </a:lnSpc>
            </a:pPr>
            <a:r>
              <a:rPr sz="1750" spc="-85" dirty="0">
                <a:latin typeface="Times New Roman"/>
                <a:cs typeface="Times New Roman"/>
              </a:rPr>
              <a:t>requires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110" dirty="0">
                <a:latin typeface="Times New Roman"/>
                <a:cs typeface="Times New Roman"/>
              </a:rPr>
              <a:t> </a:t>
            </a:r>
            <a:r>
              <a:rPr sz="1750" spc="-85" dirty="0">
                <a:latin typeface="Times New Roman"/>
                <a:cs typeface="Times New Roman"/>
              </a:rPr>
              <a:t>different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0" dirty="0">
                <a:latin typeface="Times New Roman"/>
                <a:cs typeface="Times New Roman"/>
              </a:rPr>
              <a:t>amount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of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65" dirty="0">
                <a:latin typeface="Times New Roman"/>
                <a:cs typeface="Times New Roman"/>
              </a:rPr>
              <a:t>each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-85" dirty="0">
                <a:latin typeface="Times New Roman"/>
                <a:cs typeface="Times New Roman"/>
              </a:rPr>
              <a:t>vitamin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spc="-70" dirty="0">
                <a:latin typeface="Times New Roman"/>
                <a:cs typeface="Times New Roman"/>
              </a:rPr>
              <a:t>to</a:t>
            </a:r>
            <a:r>
              <a:rPr sz="1750" spc="-110" dirty="0">
                <a:latin typeface="Times New Roman"/>
                <a:cs typeface="Times New Roman"/>
              </a:rPr>
              <a:t> </a:t>
            </a:r>
            <a:r>
              <a:rPr sz="1750" spc="-55" dirty="0">
                <a:latin typeface="Times New Roman"/>
                <a:cs typeface="Times New Roman"/>
              </a:rPr>
              <a:t>stay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healthy.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511" y="306733"/>
            <a:ext cx="4205998" cy="254309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7" dirty="0"/>
              <a:t>Definition</a:t>
            </a:r>
            <a:r>
              <a:rPr dirty="0"/>
              <a:t> </a:t>
            </a:r>
            <a:r>
              <a:rPr spc="-3" dirty="0"/>
              <a:t>and</a:t>
            </a:r>
            <a:r>
              <a:rPr dirty="0"/>
              <a:t> </a:t>
            </a:r>
            <a:r>
              <a:rPr spc="-7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05" y="999870"/>
            <a:ext cx="5347608" cy="2000313"/>
          </a:xfrm>
          <a:prstGeom prst="rect">
            <a:avLst/>
          </a:prstGeom>
        </p:spPr>
        <p:txBody>
          <a:bodyPr vert="horz" wrap="square" lIns="0" tIns="75460" rIns="0" bIns="0" rtlCol="0">
            <a:spAutoFit/>
          </a:bodyPr>
          <a:lstStyle/>
          <a:p>
            <a:pPr marL="235661" indent="-227651">
              <a:spcBef>
                <a:spcPts val="594"/>
              </a:spcBef>
              <a:buFont typeface="Arial MT"/>
              <a:buChar char="•"/>
              <a:tabLst>
                <a:tab pos="235661" algn="l"/>
                <a:tab pos="236083" algn="l"/>
              </a:tabLst>
            </a:pPr>
            <a:r>
              <a:rPr sz="2124" spc="-30" dirty="0">
                <a:latin typeface="Calibri"/>
                <a:cs typeface="Calibri"/>
              </a:rPr>
              <a:t>Fat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soluble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vitamins</a:t>
            </a:r>
            <a:endParaRPr sz="2124">
              <a:latin typeface="Calibri"/>
              <a:cs typeface="Calibri"/>
            </a:endParaRPr>
          </a:p>
          <a:p>
            <a:pPr marL="501676" lvl="1" indent="-189709">
              <a:spcBef>
                <a:spcPts val="465"/>
              </a:spcBef>
              <a:buFont typeface="Arial MT"/>
              <a:buChar char="–"/>
              <a:tabLst>
                <a:tab pos="501676" algn="l"/>
              </a:tabLst>
            </a:pPr>
            <a:r>
              <a:rPr sz="1859" spc="-7" dirty="0">
                <a:latin typeface="Calibri"/>
                <a:cs typeface="Calibri"/>
              </a:rPr>
              <a:t>Found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in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the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17" dirty="0">
                <a:latin typeface="Calibri"/>
                <a:cs typeface="Calibri"/>
              </a:rPr>
              <a:t>fats</a:t>
            </a:r>
            <a:r>
              <a:rPr sz="1859" spc="-3" dirty="0">
                <a:latin typeface="Calibri"/>
                <a:cs typeface="Calibri"/>
              </a:rPr>
              <a:t> and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oils</a:t>
            </a:r>
            <a:r>
              <a:rPr sz="1859" spc="-7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of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13" dirty="0">
                <a:latin typeface="Calibri"/>
                <a:cs typeface="Calibri"/>
              </a:rPr>
              <a:t>food.</a:t>
            </a:r>
            <a:endParaRPr sz="1859">
              <a:latin typeface="Calibri"/>
              <a:cs typeface="Calibri"/>
            </a:endParaRPr>
          </a:p>
          <a:p>
            <a:pPr marL="502098" marR="3373" lvl="1" indent="-190131">
              <a:spcBef>
                <a:spcPts val="445"/>
              </a:spcBef>
              <a:buFont typeface="Arial MT"/>
              <a:buChar char="–"/>
              <a:tabLst>
                <a:tab pos="502098" algn="l"/>
              </a:tabLst>
            </a:pPr>
            <a:r>
              <a:rPr sz="1859" spc="-3" dirty="0">
                <a:latin typeface="Calibri"/>
                <a:cs typeface="Calibri"/>
              </a:rPr>
              <a:t>Absorbed</a:t>
            </a:r>
            <a:r>
              <a:rPr sz="1859" spc="-7" dirty="0">
                <a:latin typeface="Calibri"/>
                <a:cs typeface="Calibri"/>
              </a:rPr>
              <a:t> </a:t>
            </a:r>
            <a:r>
              <a:rPr sz="1859" spc="-13" dirty="0">
                <a:latin typeface="Calibri"/>
                <a:cs typeface="Calibri"/>
              </a:rPr>
              <a:t>into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the lymph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and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carried</a:t>
            </a:r>
            <a:r>
              <a:rPr sz="1859" spc="-10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in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blood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with </a:t>
            </a:r>
            <a:r>
              <a:rPr sz="1859" spc="-412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protein</a:t>
            </a:r>
            <a:r>
              <a:rPr sz="1859" spc="-3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transporters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dirty="0">
                <a:latin typeface="Calibri"/>
                <a:cs typeface="Calibri"/>
              </a:rPr>
              <a:t>=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chylomicrons</a:t>
            </a:r>
            <a:r>
              <a:rPr sz="1859" spc="-10" dirty="0">
                <a:latin typeface="Calibri"/>
                <a:cs typeface="Calibri"/>
              </a:rPr>
              <a:t>.</a:t>
            </a:r>
            <a:endParaRPr sz="1859">
              <a:latin typeface="Calibri"/>
              <a:cs typeface="Calibri"/>
            </a:endParaRPr>
          </a:p>
          <a:p>
            <a:pPr marL="501676" marR="3373" lvl="1" indent="-190131">
              <a:spcBef>
                <a:spcPts val="448"/>
              </a:spcBef>
              <a:buFont typeface="Arial MT"/>
              <a:buChar char="–"/>
              <a:tabLst>
                <a:tab pos="501676" algn="l"/>
              </a:tabLst>
            </a:pPr>
            <a:r>
              <a:rPr sz="1859" spc="-10" dirty="0">
                <a:latin typeface="Calibri"/>
                <a:cs typeface="Calibri"/>
              </a:rPr>
              <a:t>*Stored</a:t>
            </a:r>
            <a:r>
              <a:rPr sz="1859" spc="-7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in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liver</a:t>
            </a:r>
            <a:r>
              <a:rPr sz="1859" spc="-3" dirty="0">
                <a:latin typeface="Calibri"/>
                <a:cs typeface="Calibri"/>
              </a:rPr>
              <a:t> and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body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20" dirty="0">
                <a:latin typeface="Calibri"/>
                <a:cs typeface="Calibri"/>
              </a:rPr>
              <a:t>fat</a:t>
            </a:r>
            <a:r>
              <a:rPr sz="1859" spc="-10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and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can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become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13" dirty="0">
                <a:latin typeface="Calibri"/>
                <a:cs typeface="Calibri"/>
              </a:rPr>
              <a:t>toxic </a:t>
            </a:r>
            <a:r>
              <a:rPr sz="1859" spc="-412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if</a:t>
            </a:r>
            <a:r>
              <a:rPr sz="1859" spc="-13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large</a:t>
            </a:r>
            <a:r>
              <a:rPr sz="1859" spc="-17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amounts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are</a:t>
            </a:r>
            <a:r>
              <a:rPr sz="1859" spc="-13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consumed.</a:t>
            </a:r>
            <a:endParaRPr sz="1859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442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804" y="169639"/>
            <a:ext cx="5272569" cy="1111892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900487" marR="3373" indent="-892477">
              <a:spcBef>
                <a:spcPts val="66"/>
              </a:spcBef>
            </a:pPr>
            <a:r>
              <a:rPr sz="2390" spc="-7" dirty="0"/>
              <a:t>What </a:t>
            </a:r>
            <a:r>
              <a:rPr sz="2390" dirty="0"/>
              <a:t>is </a:t>
            </a:r>
            <a:r>
              <a:rPr sz="2390" spc="-3" dirty="0"/>
              <a:t>the </a:t>
            </a:r>
            <a:r>
              <a:rPr sz="2390" spc="-13" dirty="0"/>
              <a:t>difference </a:t>
            </a:r>
            <a:r>
              <a:rPr sz="2390" spc="-7" dirty="0"/>
              <a:t>between </a:t>
            </a:r>
            <a:r>
              <a:rPr sz="2390" spc="-10" dirty="0"/>
              <a:t>fat‐soluble </a:t>
            </a:r>
            <a:r>
              <a:rPr sz="2390" spc="-534" dirty="0"/>
              <a:t> </a:t>
            </a:r>
            <a:r>
              <a:rPr sz="2390" spc="-3" dirty="0"/>
              <a:t>and</a:t>
            </a:r>
            <a:r>
              <a:rPr sz="2390" spc="-13" dirty="0"/>
              <a:t> </a:t>
            </a:r>
            <a:r>
              <a:rPr sz="2390" spc="-10" dirty="0"/>
              <a:t>water‐soluble</a:t>
            </a:r>
            <a:r>
              <a:rPr sz="2390" spc="-17" dirty="0"/>
              <a:t> </a:t>
            </a:r>
            <a:r>
              <a:rPr sz="2390" spc="-7" dirty="0"/>
              <a:t>vitamins?</a:t>
            </a:r>
            <a:endParaRPr sz="2390"/>
          </a:p>
        </p:txBody>
      </p:sp>
      <p:sp>
        <p:nvSpPr>
          <p:cNvPr id="3" name="object 3"/>
          <p:cNvSpPr txBox="1"/>
          <p:nvPr/>
        </p:nvSpPr>
        <p:spPr>
          <a:xfrm>
            <a:off x="962325" y="1471784"/>
            <a:ext cx="4968617" cy="2360399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236083" marR="79677" indent="-227651">
              <a:spcBef>
                <a:spcPts val="63"/>
              </a:spcBef>
              <a:buFont typeface="Arial MT"/>
              <a:buChar char="•"/>
              <a:tabLst>
                <a:tab pos="236504" algn="l"/>
                <a:tab pos="236926" algn="l"/>
                <a:tab pos="1171560" algn="l"/>
              </a:tabLst>
            </a:pPr>
            <a:r>
              <a:rPr sz="2124" spc="-10" dirty="0">
                <a:latin typeface="Calibri"/>
                <a:cs typeface="Calibri"/>
              </a:rPr>
              <a:t>Fat‐soluble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are</a:t>
            </a:r>
            <a:r>
              <a:rPr sz="2124" spc="-7" dirty="0">
                <a:latin typeface="Calibri"/>
                <a:cs typeface="Calibri"/>
              </a:rPr>
              <a:t> </a:t>
            </a:r>
            <a:r>
              <a:rPr sz="2124" spc="-17" dirty="0">
                <a:latin typeface="Calibri"/>
                <a:cs typeface="Calibri"/>
              </a:rPr>
              <a:t>stored</a:t>
            </a:r>
            <a:r>
              <a:rPr sz="2124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in</a:t>
            </a:r>
            <a:r>
              <a:rPr sz="2124" spc="7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the </a:t>
            </a:r>
            <a:r>
              <a:rPr sz="2124" spc="-7" dirty="0">
                <a:latin typeface="Calibri"/>
                <a:cs typeface="Calibri"/>
              </a:rPr>
              <a:t>liver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and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20" dirty="0">
                <a:latin typeface="Calibri"/>
                <a:cs typeface="Calibri"/>
              </a:rPr>
              <a:t>fatty </a:t>
            </a:r>
            <a:r>
              <a:rPr sz="2124" spc="-468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tissues.	</a:t>
            </a:r>
            <a:r>
              <a:rPr sz="2124" spc="-3" dirty="0">
                <a:latin typeface="Calibri"/>
                <a:cs typeface="Calibri"/>
              </a:rPr>
              <a:t>These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are</a:t>
            </a:r>
            <a:r>
              <a:rPr sz="2124" spc="-7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not</a:t>
            </a:r>
            <a:r>
              <a:rPr sz="2124" spc="7" dirty="0">
                <a:latin typeface="Calibri"/>
                <a:cs typeface="Calibri"/>
              </a:rPr>
              <a:t> </a:t>
            </a:r>
            <a:r>
              <a:rPr sz="2124" spc="-10" dirty="0">
                <a:latin typeface="Calibri"/>
                <a:cs typeface="Calibri"/>
              </a:rPr>
              <a:t>readily</a:t>
            </a:r>
            <a:r>
              <a:rPr sz="2124" dirty="0">
                <a:latin typeface="Calibri"/>
                <a:cs typeface="Calibri"/>
              </a:rPr>
              <a:t> </a:t>
            </a:r>
            <a:r>
              <a:rPr sz="2124" spc="-20" dirty="0">
                <a:latin typeface="Calibri"/>
                <a:cs typeface="Calibri"/>
              </a:rPr>
              <a:t>excreted </a:t>
            </a:r>
            <a:r>
              <a:rPr sz="2124" spc="-17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from</a:t>
            </a:r>
            <a:r>
              <a:rPr sz="2124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the</a:t>
            </a:r>
            <a:r>
              <a:rPr sz="2124" dirty="0">
                <a:latin typeface="Calibri"/>
                <a:cs typeface="Calibri"/>
              </a:rPr>
              <a:t> </a:t>
            </a:r>
            <a:r>
              <a:rPr sz="2124" spc="-33" dirty="0">
                <a:latin typeface="Calibri"/>
                <a:cs typeface="Calibri"/>
              </a:rPr>
              <a:t>body.</a:t>
            </a:r>
            <a:endParaRPr sz="2124">
              <a:latin typeface="Calibri"/>
              <a:cs typeface="Calibri"/>
            </a:endParaRPr>
          </a:p>
          <a:p>
            <a:pPr marL="235661" marR="3373" indent="-227651">
              <a:spcBef>
                <a:spcPts val="511"/>
              </a:spcBef>
              <a:buFont typeface="Arial MT"/>
              <a:buChar char="•"/>
              <a:tabLst>
                <a:tab pos="235661" algn="l"/>
                <a:tab pos="236083" algn="l"/>
                <a:tab pos="4135244" algn="l"/>
              </a:tabLst>
            </a:pPr>
            <a:r>
              <a:rPr sz="2124" spc="-13" dirty="0">
                <a:latin typeface="Calibri"/>
                <a:cs typeface="Calibri"/>
              </a:rPr>
              <a:t>Water‐soluble</a:t>
            </a:r>
            <a:r>
              <a:rPr sz="2124" spc="17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vitamins</a:t>
            </a:r>
            <a:r>
              <a:rPr sz="2124" spc="13" dirty="0">
                <a:latin typeface="Calibri"/>
                <a:cs typeface="Calibri"/>
              </a:rPr>
              <a:t> </a:t>
            </a:r>
            <a:r>
              <a:rPr sz="2124" spc="-20" dirty="0">
                <a:latin typeface="Calibri"/>
                <a:cs typeface="Calibri"/>
              </a:rPr>
              <a:t>travel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in</a:t>
            </a:r>
            <a:r>
              <a:rPr sz="2124" spc="13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the</a:t>
            </a:r>
            <a:r>
              <a:rPr sz="2124" spc="7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blood </a:t>
            </a:r>
            <a:r>
              <a:rPr sz="2124" spc="-3" dirty="0">
                <a:latin typeface="Calibri"/>
                <a:cs typeface="Calibri"/>
              </a:rPr>
              <a:t> and</a:t>
            </a:r>
            <a:r>
              <a:rPr sz="2124" spc="17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are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17" dirty="0">
                <a:latin typeface="Calibri"/>
                <a:cs typeface="Calibri"/>
              </a:rPr>
              <a:t>stored</a:t>
            </a:r>
            <a:r>
              <a:rPr sz="2124" spc="7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in</a:t>
            </a:r>
            <a:r>
              <a:rPr sz="2124" spc="13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limited</a:t>
            </a:r>
            <a:r>
              <a:rPr sz="2124" spc="27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amounts.	These </a:t>
            </a:r>
            <a:r>
              <a:rPr sz="2124" spc="-3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are</a:t>
            </a:r>
            <a:r>
              <a:rPr sz="2124" spc="-10" dirty="0">
                <a:latin typeface="Calibri"/>
                <a:cs typeface="Calibri"/>
              </a:rPr>
              <a:t> readily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20" dirty="0">
                <a:latin typeface="Calibri"/>
                <a:cs typeface="Calibri"/>
              </a:rPr>
              <a:t>excreted</a:t>
            </a:r>
            <a:r>
              <a:rPr sz="2124" spc="-7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from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the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body</a:t>
            </a:r>
            <a:r>
              <a:rPr sz="2124" spc="17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through </a:t>
            </a:r>
            <a:r>
              <a:rPr sz="2124" spc="-471" dirty="0">
                <a:latin typeface="Calibri"/>
                <a:cs typeface="Calibri"/>
              </a:rPr>
              <a:t> </a:t>
            </a:r>
            <a:r>
              <a:rPr sz="2124" spc="-7" dirty="0">
                <a:latin typeface="Calibri"/>
                <a:cs typeface="Calibri"/>
              </a:rPr>
              <a:t>urine.</a:t>
            </a:r>
            <a:endParaRPr sz="2124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433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2450" y="1285875"/>
            <a:ext cx="1352550" cy="13525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52575" y="38100"/>
            <a:ext cx="3209925" cy="371475"/>
            <a:chOff x="1552575" y="38100"/>
            <a:chExt cx="3209925" cy="3714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2125" y="142875"/>
              <a:ext cx="2819400" cy="2000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52575" y="38100"/>
              <a:ext cx="3209925" cy="371475"/>
            </a:xfrm>
            <a:custGeom>
              <a:avLst/>
              <a:gdLst/>
              <a:ahLst/>
              <a:cxnLst/>
              <a:rect l="l" t="t" r="r" b="b"/>
              <a:pathLst>
                <a:path w="3209925" h="371475">
                  <a:moveTo>
                    <a:pt x="3209925" y="371475"/>
                  </a:moveTo>
                  <a:lnTo>
                    <a:pt x="0" y="371475"/>
                  </a:lnTo>
                  <a:lnTo>
                    <a:pt x="0" y="0"/>
                  </a:lnTo>
                  <a:lnTo>
                    <a:pt x="3209925" y="0"/>
                  </a:lnTo>
                  <a:lnTo>
                    <a:pt x="3209925" y="371475"/>
                  </a:lnTo>
                  <a:close/>
                </a:path>
              </a:pathLst>
            </a:custGeom>
            <a:solidFill>
              <a:srgbClr val="75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891" y="465137"/>
            <a:ext cx="5650865" cy="375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2530">
              <a:lnSpc>
                <a:spcPts val="1910"/>
              </a:lnSpc>
              <a:spcBef>
                <a:spcPts val="100"/>
              </a:spcBef>
            </a:pPr>
            <a:r>
              <a:rPr sz="1600" spc="-10" dirty="0">
                <a:solidFill>
                  <a:srgbClr val="0A1D59"/>
                </a:solidFill>
                <a:latin typeface="Cambria"/>
                <a:cs typeface="Cambria"/>
              </a:rPr>
              <a:t>Vitamin-</a:t>
            </a:r>
            <a:r>
              <a:rPr sz="1600" spc="-50" dirty="0">
                <a:solidFill>
                  <a:srgbClr val="0A1D59"/>
                </a:solidFill>
                <a:latin typeface="Cambria"/>
                <a:cs typeface="Cambria"/>
              </a:rPr>
              <a:t>A</a:t>
            </a:r>
            <a:endParaRPr sz="1600">
              <a:latin typeface="Cambria"/>
              <a:cs typeface="Cambria"/>
            </a:endParaRPr>
          </a:p>
          <a:p>
            <a:pPr marL="239395" indent="-226695">
              <a:lnSpc>
                <a:spcPts val="1775"/>
              </a:lnSpc>
              <a:buChar char="•"/>
              <a:tabLst>
                <a:tab pos="239395" algn="l"/>
              </a:tabLst>
            </a:pPr>
            <a:r>
              <a:rPr sz="1500" spc="-40" dirty="0">
                <a:latin typeface="Cambria"/>
                <a:cs typeface="Cambria"/>
              </a:rPr>
              <a:t>The </a:t>
            </a:r>
            <a:r>
              <a:rPr sz="1500" spc="-70" dirty="0">
                <a:latin typeface="Cambria"/>
                <a:cs typeface="Cambria"/>
              </a:rPr>
              <a:t>chemical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-110" dirty="0">
                <a:latin typeface="Cambria"/>
                <a:cs typeface="Cambria"/>
              </a:rPr>
              <a:t>name</a:t>
            </a:r>
            <a:r>
              <a:rPr sz="1500" spc="30" dirty="0"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0A0A0A"/>
                </a:solidFill>
                <a:latin typeface="Cambria"/>
                <a:cs typeface="Cambria"/>
              </a:rPr>
              <a:t>is</a:t>
            </a:r>
            <a:r>
              <a:rPr sz="1500" spc="-7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Retinol.</a:t>
            </a:r>
            <a:endParaRPr sz="1500">
              <a:latin typeface="Cambria"/>
              <a:cs typeface="Cambria"/>
            </a:endParaRPr>
          </a:p>
          <a:p>
            <a:pPr marL="243840" indent="-231140">
              <a:lnSpc>
                <a:spcPts val="1725"/>
              </a:lnSpc>
              <a:buChar char="•"/>
              <a:tabLst>
                <a:tab pos="243840" algn="l"/>
              </a:tabLst>
            </a:pPr>
            <a:r>
              <a:rPr sz="1450" spc="-45" dirty="0">
                <a:latin typeface="Cambria"/>
                <a:cs typeface="Cambria"/>
              </a:rPr>
              <a:t>Found</a:t>
            </a:r>
            <a:r>
              <a:rPr sz="1450" spc="75" dirty="0">
                <a:latin typeface="Cambria"/>
                <a:cs typeface="Cambria"/>
              </a:rPr>
              <a:t> </a:t>
            </a:r>
            <a:r>
              <a:rPr sz="1450" spc="-50" dirty="0">
                <a:latin typeface="Cambria"/>
                <a:cs typeface="Cambria"/>
              </a:rPr>
              <a:t>in</a:t>
            </a:r>
            <a:r>
              <a:rPr sz="1450" spc="-30" dirty="0">
                <a:latin typeface="Cambria"/>
                <a:cs typeface="Cambria"/>
              </a:rPr>
              <a:t> </a:t>
            </a:r>
            <a:r>
              <a:rPr sz="1450" spc="-30" dirty="0">
                <a:solidFill>
                  <a:srgbClr val="0A0A0A"/>
                </a:solidFill>
                <a:latin typeface="Cambria"/>
                <a:cs typeface="Cambria"/>
              </a:rPr>
              <a:t>foods</a:t>
            </a:r>
            <a:r>
              <a:rPr sz="1450" spc="-2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-45" dirty="0">
                <a:latin typeface="Cambria"/>
                <a:cs typeface="Cambria"/>
              </a:rPr>
              <a:t>both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-60" dirty="0">
                <a:latin typeface="Cambria"/>
                <a:cs typeface="Cambria"/>
              </a:rPr>
              <a:t>plant</a:t>
            </a:r>
            <a:r>
              <a:rPr sz="1450" spc="50" dirty="0">
                <a:latin typeface="Cambria"/>
                <a:cs typeface="Cambria"/>
              </a:rPr>
              <a:t> </a:t>
            </a:r>
            <a:r>
              <a:rPr sz="1450" spc="-65" dirty="0">
                <a:latin typeface="Cambria"/>
                <a:cs typeface="Cambria"/>
              </a:rPr>
              <a:t>and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-55" dirty="0">
                <a:latin typeface="Cambria"/>
                <a:cs typeface="Cambria"/>
              </a:rPr>
              <a:t>animal</a:t>
            </a:r>
            <a:r>
              <a:rPr sz="1450" spc="65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origin.</a:t>
            </a:r>
            <a:endParaRPr sz="1450">
              <a:latin typeface="Cambria"/>
              <a:cs typeface="Cambria"/>
            </a:endParaRPr>
          </a:p>
          <a:p>
            <a:pPr marL="243840" indent="-231140">
              <a:lnSpc>
                <a:spcPct val="100000"/>
              </a:lnSpc>
              <a:spcBef>
                <a:spcPts val="20"/>
              </a:spcBef>
              <a:buChar char="•"/>
              <a:tabLst>
                <a:tab pos="243840" algn="l"/>
              </a:tabLst>
            </a:pPr>
            <a:r>
              <a:rPr sz="1450" dirty="0">
                <a:latin typeface="Cambria"/>
                <a:cs typeface="Cambria"/>
              </a:rPr>
              <a:t>Function: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It</a:t>
            </a:r>
            <a:r>
              <a:rPr sz="1450" spc="40" dirty="0"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0F0F0F"/>
                </a:solidFill>
                <a:latin typeface="Cambria"/>
                <a:cs typeface="Cambria"/>
              </a:rPr>
              <a:t>is</a:t>
            </a:r>
            <a:r>
              <a:rPr sz="1450" spc="-7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450" spc="-50" dirty="0">
                <a:latin typeface="Cambria"/>
                <a:cs typeface="Cambria"/>
              </a:rPr>
              <a:t>essential</a:t>
            </a:r>
            <a:r>
              <a:rPr sz="1450" spc="135" dirty="0">
                <a:latin typeface="Cambria"/>
                <a:cs typeface="Cambria"/>
              </a:rPr>
              <a:t> </a:t>
            </a:r>
            <a:r>
              <a:rPr sz="1450" spc="-40" dirty="0">
                <a:solidFill>
                  <a:srgbClr val="0C0C0C"/>
                </a:solidFill>
                <a:latin typeface="Cambria"/>
                <a:cs typeface="Cambria"/>
              </a:rPr>
              <a:t>for </a:t>
            </a:r>
            <a:r>
              <a:rPr sz="1450" spc="-10" dirty="0">
                <a:latin typeface="Cambria"/>
                <a:cs typeface="Cambria"/>
              </a:rPr>
              <a:t>eye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health.</a:t>
            </a:r>
            <a:endParaRPr sz="1450">
              <a:latin typeface="Cambria"/>
              <a:cs typeface="Cambria"/>
            </a:endParaRPr>
          </a:p>
          <a:p>
            <a:pPr marL="2402840">
              <a:lnSpc>
                <a:spcPct val="100000"/>
              </a:lnSpc>
              <a:spcBef>
                <a:spcPts val="1600"/>
              </a:spcBef>
            </a:pPr>
            <a:r>
              <a:rPr sz="2050" spc="-10" dirty="0">
                <a:latin typeface="Times New Roman"/>
                <a:cs typeface="Times New Roman"/>
              </a:rPr>
              <a:t>Deficiency</a:t>
            </a:r>
            <a:endParaRPr sz="20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40"/>
              </a:spcBef>
            </a:pPr>
            <a:r>
              <a:rPr sz="1500" dirty="0">
                <a:latin typeface="Cambria"/>
                <a:cs typeface="Cambria"/>
              </a:rPr>
              <a:t>Deficiency</a:t>
            </a:r>
            <a:r>
              <a:rPr sz="1500" spc="40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Syndrome</a:t>
            </a:r>
            <a:endParaRPr sz="1500">
              <a:latin typeface="Cambria"/>
              <a:cs typeface="Cambria"/>
            </a:endParaRPr>
          </a:p>
          <a:p>
            <a:pPr marL="243204" marR="2745105">
              <a:lnSpc>
                <a:spcPts val="1950"/>
              </a:lnSpc>
              <a:spcBef>
                <a:spcPts val="15"/>
              </a:spcBef>
            </a:pPr>
            <a:r>
              <a:rPr sz="1550" spc="-35" dirty="0">
                <a:latin typeface="Cambria"/>
                <a:cs typeface="Cambria"/>
              </a:rPr>
              <a:t>Decreased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spc="-50" dirty="0">
                <a:latin typeface="Cambria"/>
                <a:cs typeface="Cambria"/>
              </a:rPr>
              <a:t>resistance</a:t>
            </a:r>
            <a:r>
              <a:rPr sz="1550" spc="10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io</a:t>
            </a:r>
            <a:r>
              <a:rPr sz="1550" spc="30" dirty="0">
                <a:latin typeface="Cambria"/>
                <a:cs typeface="Cambria"/>
              </a:rPr>
              <a:t> </a:t>
            </a:r>
            <a:r>
              <a:rPr sz="1550" spc="-35" dirty="0">
                <a:latin typeface="Cambria"/>
                <a:cs typeface="Cambria"/>
              </a:rPr>
              <a:t>infection </a:t>
            </a:r>
            <a:r>
              <a:rPr sz="1550" dirty="0">
                <a:latin typeface="Cambria"/>
                <a:cs typeface="Cambria"/>
              </a:rPr>
              <a:t>Dry</a:t>
            </a:r>
            <a:r>
              <a:rPr sz="1550" spc="1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scaly</a:t>
            </a:r>
            <a:r>
              <a:rPr sz="1550" spc="30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skin</a:t>
            </a:r>
            <a:endParaRPr sz="1550">
              <a:latin typeface="Cambria"/>
              <a:cs typeface="Cambria"/>
            </a:endParaRPr>
          </a:p>
          <a:p>
            <a:pPr marL="234315">
              <a:lnSpc>
                <a:spcPts val="1795"/>
              </a:lnSpc>
            </a:pPr>
            <a:r>
              <a:rPr sz="1550" dirty="0">
                <a:latin typeface="Cambria"/>
                <a:cs typeface="Cambria"/>
              </a:rPr>
              <a:t>Night</a:t>
            </a:r>
            <a:r>
              <a:rPr sz="1550" spc="55" dirty="0">
                <a:latin typeface="Cambria"/>
                <a:cs typeface="Cambria"/>
              </a:rPr>
              <a:t> </a:t>
            </a:r>
            <a:r>
              <a:rPr sz="1550" spc="-45" dirty="0">
                <a:latin typeface="Cambria"/>
                <a:cs typeface="Cambria"/>
              </a:rPr>
              <a:t>blindness</a:t>
            </a:r>
            <a:r>
              <a:rPr sz="1550" spc="-5" dirty="0">
                <a:latin typeface="Cambria"/>
                <a:cs typeface="Cambria"/>
              </a:rPr>
              <a:t> </a:t>
            </a:r>
            <a:r>
              <a:rPr sz="1550" spc="-25" dirty="0">
                <a:solidFill>
                  <a:srgbClr val="131313"/>
                </a:solidFill>
                <a:latin typeface="Cambria"/>
                <a:cs typeface="Cambria"/>
              </a:rPr>
              <a:t>(Inability</a:t>
            </a:r>
            <a:r>
              <a:rPr sz="1550" spc="11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to </a:t>
            </a:r>
            <a:r>
              <a:rPr sz="1550" spc="-10" dirty="0">
                <a:latin typeface="Cambria"/>
                <a:cs typeface="Cambria"/>
              </a:rPr>
              <a:t>see</a:t>
            </a:r>
            <a:r>
              <a:rPr sz="1550" spc="2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in</a:t>
            </a:r>
            <a:r>
              <a:rPr sz="1550" spc="-7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dim</a:t>
            </a:r>
            <a:r>
              <a:rPr sz="1550" spc="3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light)</a:t>
            </a:r>
            <a:endParaRPr sz="1550">
              <a:latin typeface="Cambria"/>
              <a:cs typeface="Cambria"/>
            </a:endParaRPr>
          </a:p>
          <a:p>
            <a:pPr marL="243204" marR="289560">
              <a:lnSpc>
                <a:spcPct val="102800"/>
              </a:lnSpc>
              <a:spcBef>
                <a:spcPts val="35"/>
              </a:spcBef>
            </a:pPr>
            <a:r>
              <a:rPr sz="1550" dirty="0">
                <a:latin typeface="Cambria"/>
                <a:cs typeface="Cambria"/>
              </a:rPr>
              <a:t>Bitot's</a:t>
            </a:r>
            <a:r>
              <a:rPr sz="1550" spc="15" dirty="0">
                <a:latin typeface="Cambria"/>
                <a:cs typeface="Cambria"/>
              </a:rPr>
              <a:t> </a:t>
            </a:r>
            <a:r>
              <a:rPr sz="1550" spc="-35" dirty="0">
                <a:latin typeface="Cambria"/>
                <a:cs typeface="Cambria"/>
              </a:rPr>
              <a:t>spots-</a:t>
            </a:r>
            <a:r>
              <a:rPr sz="1550" spc="-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Greyish,</a:t>
            </a:r>
            <a:r>
              <a:rPr sz="1550" spc="20" dirty="0">
                <a:latin typeface="Cambria"/>
                <a:cs typeface="Cambria"/>
              </a:rPr>
              <a:t> </a:t>
            </a:r>
            <a:r>
              <a:rPr sz="1550" spc="-40" dirty="0">
                <a:latin typeface="Cambria"/>
                <a:cs typeface="Cambria"/>
              </a:rPr>
              <a:t>rough</a:t>
            </a:r>
            <a:r>
              <a:rPr sz="1550" spc="40" dirty="0">
                <a:latin typeface="Cambria"/>
                <a:cs typeface="Cambria"/>
              </a:rPr>
              <a:t> </a:t>
            </a:r>
            <a:r>
              <a:rPr sz="1550" spc="-50" dirty="0">
                <a:latin typeface="Cambria"/>
                <a:cs typeface="Cambria"/>
              </a:rPr>
              <a:t>and</a:t>
            </a:r>
            <a:r>
              <a:rPr sz="1550" spc="5" dirty="0">
                <a:latin typeface="Cambria"/>
                <a:cs typeface="Cambria"/>
              </a:rPr>
              <a:t> </a:t>
            </a:r>
            <a:r>
              <a:rPr sz="1550" spc="-50" dirty="0">
                <a:latin typeface="Cambria"/>
                <a:cs typeface="Cambria"/>
              </a:rPr>
              <a:t>raised</a:t>
            </a:r>
            <a:r>
              <a:rPr sz="1550" spc="40" dirty="0">
                <a:latin typeface="Cambria"/>
                <a:cs typeface="Cambria"/>
              </a:rPr>
              <a:t> </a:t>
            </a:r>
            <a:r>
              <a:rPr sz="1550" spc="-45" dirty="0">
                <a:latin typeface="Cambria"/>
                <a:cs typeface="Cambria"/>
              </a:rPr>
              <a:t>patches</a:t>
            </a:r>
            <a:r>
              <a:rPr sz="1550" spc="5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on </a:t>
            </a:r>
            <a:r>
              <a:rPr sz="1550" spc="-10" dirty="0">
                <a:latin typeface="Cambria"/>
                <a:cs typeface="Cambria"/>
              </a:rPr>
              <a:t>conjunctiva </a:t>
            </a:r>
            <a:r>
              <a:rPr sz="1550" spc="-25" dirty="0">
                <a:latin typeface="Cambria"/>
                <a:cs typeface="Cambria"/>
              </a:rPr>
              <a:t>Keratomalacia-</a:t>
            </a:r>
            <a:r>
              <a:rPr sz="1550" spc="-2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Softening</a:t>
            </a:r>
            <a:r>
              <a:rPr sz="1550" spc="12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of</a:t>
            </a:r>
            <a:r>
              <a:rPr sz="1550" spc="55" dirty="0">
                <a:latin typeface="Cambria"/>
                <a:cs typeface="Cambria"/>
              </a:rPr>
              <a:t> </a:t>
            </a:r>
            <a:r>
              <a:rPr sz="1550" spc="-65" dirty="0">
                <a:latin typeface="Cambria"/>
                <a:cs typeface="Cambria"/>
              </a:rPr>
              <a:t>the</a:t>
            </a:r>
            <a:r>
              <a:rPr sz="1550" spc="1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cornea.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550">
              <a:latin typeface="Cambria"/>
              <a:cs typeface="Cambria"/>
            </a:endParaRPr>
          </a:p>
          <a:p>
            <a:pPr marL="243204" marR="5080" indent="-227965" algn="just">
              <a:lnSpc>
                <a:spcPct val="80300"/>
              </a:lnSpc>
              <a:buChar char="•"/>
              <a:tabLst>
                <a:tab pos="243204" algn="l"/>
                <a:tab pos="250825" algn="l"/>
              </a:tabLst>
            </a:pPr>
            <a:r>
              <a:rPr sz="1500" dirty="0">
                <a:latin typeface="Times New Roman"/>
                <a:cs typeface="Times New Roman"/>
              </a:rPr>
              <a:t>	Daily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requirements:</a:t>
            </a:r>
            <a:r>
              <a:rPr sz="1500" spc="2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0.4-1</a:t>
            </a:r>
            <a:r>
              <a:rPr sz="1500" spc="2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mg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Sources.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leafy</a:t>
            </a:r>
            <a:r>
              <a:rPr sz="1500" spc="2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vegetables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and </a:t>
            </a:r>
            <a:r>
              <a:rPr sz="1650" spc="-60" dirty="0">
                <a:latin typeface="Cambria"/>
                <a:cs typeface="Cambria"/>
              </a:rPr>
              <a:t>yellow</a:t>
            </a:r>
            <a:r>
              <a:rPr sz="1650" spc="-35" dirty="0">
                <a:latin typeface="Cambria"/>
                <a:cs typeface="Cambria"/>
              </a:rPr>
              <a:t> </a:t>
            </a:r>
            <a:r>
              <a:rPr sz="1650" spc="-95" dirty="0">
                <a:latin typeface="Cambria"/>
                <a:cs typeface="Cambria"/>
              </a:rPr>
              <a:t>orange</a:t>
            </a:r>
            <a:r>
              <a:rPr sz="1650" spc="35" dirty="0">
                <a:latin typeface="Cambria"/>
                <a:cs typeface="Cambria"/>
              </a:rPr>
              <a:t> </a:t>
            </a:r>
            <a:r>
              <a:rPr sz="1650" spc="-85" dirty="0">
                <a:latin typeface="Cambria"/>
                <a:cs typeface="Cambria"/>
              </a:rPr>
              <a:t>fruits</a:t>
            </a:r>
            <a:r>
              <a:rPr sz="1650" spc="-5" dirty="0">
                <a:latin typeface="Cambria"/>
                <a:cs typeface="Cambria"/>
              </a:rPr>
              <a:t> </a:t>
            </a:r>
            <a:r>
              <a:rPr sz="1650" spc="-95" dirty="0">
                <a:latin typeface="Cambria"/>
                <a:cs typeface="Cambria"/>
              </a:rPr>
              <a:t>and</a:t>
            </a:r>
            <a:r>
              <a:rPr sz="1650" spc="5" dirty="0">
                <a:latin typeface="Cambria"/>
                <a:cs typeface="Cambria"/>
              </a:rPr>
              <a:t> </a:t>
            </a:r>
            <a:r>
              <a:rPr sz="1650" spc="-80" dirty="0">
                <a:latin typeface="Cambria"/>
                <a:cs typeface="Cambria"/>
              </a:rPr>
              <a:t>vegetables</a:t>
            </a:r>
            <a:r>
              <a:rPr sz="1650" spc="95" dirty="0">
                <a:latin typeface="Cambria"/>
                <a:cs typeface="Cambria"/>
              </a:rPr>
              <a:t> </a:t>
            </a:r>
            <a:r>
              <a:rPr sz="1650" spc="-60" dirty="0">
                <a:latin typeface="Cambria"/>
                <a:cs typeface="Cambria"/>
              </a:rPr>
              <a:t>like</a:t>
            </a:r>
            <a:r>
              <a:rPr sz="1650" spc="-30" dirty="0">
                <a:latin typeface="Cambria"/>
                <a:cs typeface="Cambria"/>
              </a:rPr>
              <a:t> </a:t>
            </a:r>
            <a:r>
              <a:rPr sz="1650" spc="-70" dirty="0">
                <a:latin typeface="Cambria"/>
                <a:cs typeface="Cambria"/>
              </a:rPr>
              <a:t>mango,</a:t>
            </a:r>
            <a:r>
              <a:rPr sz="1650" spc="20" dirty="0">
                <a:latin typeface="Cambria"/>
                <a:cs typeface="Cambria"/>
              </a:rPr>
              <a:t> </a:t>
            </a:r>
            <a:r>
              <a:rPr sz="1650" spc="-75" dirty="0">
                <a:latin typeface="Cambria"/>
                <a:cs typeface="Cambria"/>
              </a:rPr>
              <a:t>papaya,</a:t>
            </a:r>
            <a:r>
              <a:rPr sz="1650" spc="35" dirty="0">
                <a:latin typeface="Cambria"/>
                <a:cs typeface="Cambria"/>
              </a:rPr>
              <a:t> </a:t>
            </a:r>
            <a:r>
              <a:rPr sz="1650" spc="-80" dirty="0">
                <a:latin typeface="Cambria"/>
                <a:cs typeface="Cambria"/>
              </a:rPr>
              <a:t>pumpkins </a:t>
            </a:r>
            <a:r>
              <a:rPr sz="1550" spc="-50" dirty="0">
                <a:latin typeface="Cambria"/>
                <a:cs typeface="Cambria"/>
              </a:rPr>
              <a:t>and</a:t>
            </a:r>
            <a:r>
              <a:rPr sz="1550" spc="15" dirty="0">
                <a:latin typeface="Cambria"/>
                <a:cs typeface="Cambria"/>
              </a:rPr>
              <a:t> </a:t>
            </a:r>
            <a:r>
              <a:rPr sz="1550" spc="-60" dirty="0">
                <a:latin typeface="Cambria"/>
                <a:cs typeface="Cambria"/>
              </a:rPr>
              <a:t>carrots</a:t>
            </a:r>
            <a:r>
              <a:rPr sz="1550" spc="50" dirty="0">
                <a:latin typeface="Cambria"/>
                <a:cs typeface="Cambria"/>
              </a:rPr>
              <a:t> </a:t>
            </a:r>
            <a:r>
              <a:rPr sz="1550" spc="-45" dirty="0">
                <a:latin typeface="Cambria"/>
                <a:cs typeface="Cambria"/>
              </a:rPr>
              <a:t>are</a:t>
            </a:r>
            <a:r>
              <a:rPr sz="1550" spc="-15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good</a:t>
            </a:r>
            <a:r>
              <a:rPr sz="1550" spc="35" dirty="0">
                <a:latin typeface="Cambria"/>
                <a:cs typeface="Cambria"/>
              </a:rPr>
              <a:t> </a:t>
            </a:r>
            <a:r>
              <a:rPr sz="1550" spc="-45" dirty="0">
                <a:latin typeface="Cambria"/>
                <a:cs typeface="Cambria"/>
              </a:rPr>
              <a:t>sources</a:t>
            </a:r>
            <a:r>
              <a:rPr sz="1550" spc="5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of</a:t>
            </a:r>
            <a:r>
              <a:rPr sz="1550" spc="-30" dirty="0">
                <a:latin typeface="Cambria"/>
                <a:cs typeface="Cambria"/>
              </a:rPr>
              <a:t> </a:t>
            </a:r>
            <a:r>
              <a:rPr sz="1550" spc="-60" dirty="0">
                <a:latin typeface="Cambria"/>
                <a:cs typeface="Cambria"/>
              </a:rPr>
              <a:t>b-</a:t>
            </a:r>
            <a:r>
              <a:rPr sz="1550" spc="-10" dirty="0">
                <a:latin typeface="Cambria"/>
                <a:cs typeface="Cambria"/>
              </a:rPr>
              <a:t>carotene.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8700" y="485775"/>
            <a:ext cx="600075" cy="5619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8875" y="285750"/>
            <a:ext cx="1209675" cy="190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179" y="514667"/>
            <a:ext cx="5887720" cy="3773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630805" indent="-1905">
              <a:lnSpc>
                <a:spcPct val="120700"/>
              </a:lnSpc>
              <a:spcBef>
                <a:spcPts val="100"/>
              </a:spcBef>
              <a:tabLst>
                <a:tab pos="243840" algn="l"/>
              </a:tabLst>
            </a:pPr>
            <a:r>
              <a:rPr sz="1450" spc="-50" dirty="0">
                <a:latin typeface="Times New Roman"/>
                <a:cs typeface="Times New Roman"/>
              </a:rPr>
              <a:t>4</a:t>
            </a:r>
            <a:r>
              <a:rPr sz="1450" dirty="0">
                <a:latin typeface="Times New Roman"/>
                <a:cs typeface="Times New Roman"/>
              </a:rPr>
              <a:t>	Vitamin</a:t>
            </a:r>
            <a:r>
              <a:rPr sz="1450" spc="459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161616"/>
                </a:solidFill>
                <a:latin typeface="Times New Roman"/>
                <a:cs typeface="Times New Roman"/>
              </a:rPr>
              <a:t>D</a:t>
            </a:r>
            <a:r>
              <a:rPr sz="1450" spc="35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26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synthesized</a:t>
            </a:r>
            <a:r>
              <a:rPr sz="1450" spc="40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by</a:t>
            </a:r>
            <a:r>
              <a:rPr sz="1450" spc="30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sunlight. n-</a:t>
            </a:r>
            <a:r>
              <a:rPr sz="1450" spc="26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Vitamin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151515"/>
                </a:solidFill>
                <a:latin typeface="Times New Roman"/>
                <a:cs typeface="Times New Roman"/>
              </a:rPr>
              <a:t>D</a:t>
            </a:r>
            <a:r>
              <a:rPr sz="1450" spc="-5" dirty="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essential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for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bone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growth.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sz="1450" spc="10" dirty="0">
                <a:latin typeface="Times New Roman"/>
                <a:cs typeface="Times New Roman"/>
              </a:rPr>
              <a:t>Daily</a:t>
            </a:r>
            <a:r>
              <a:rPr sz="1450" spc="220" dirty="0">
                <a:latin typeface="Times New Roman"/>
                <a:cs typeface="Times New Roman"/>
              </a:rPr>
              <a:t> </a:t>
            </a:r>
            <a:r>
              <a:rPr sz="1450" spc="10" dirty="0">
                <a:latin typeface="Times New Roman"/>
                <a:cs typeface="Times New Roman"/>
              </a:rPr>
              <a:t>requirements:</a:t>
            </a:r>
            <a:r>
              <a:rPr sz="1450" spc="270" dirty="0">
                <a:latin typeface="Times New Roman"/>
                <a:cs typeface="Times New Roman"/>
              </a:rPr>
              <a:t> </a:t>
            </a:r>
            <a:r>
              <a:rPr sz="1450" spc="10" dirty="0">
                <a:latin typeface="Times New Roman"/>
                <a:cs typeface="Times New Roman"/>
              </a:rPr>
              <a:t>400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spc="10" dirty="0">
                <a:latin typeface="Times New Roman"/>
                <a:cs typeface="Times New Roman"/>
              </a:rPr>
              <a:t>IU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Sources</a:t>
            </a:r>
            <a:endParaRPr sz="145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450"/>
              </a:spcBef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15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Generated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skin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 action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ultra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violet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rays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sunlight</a:t>
            </a:r>
            <a:endParaRPr sz="1400">
              <a:latin typeface="Times New Roman"/>
              <a:cs typeface="Times New Roman"/>
            </a:endParaRPr>
          </a:p>
          <a:p>
            <a:pPr marL="243204" marR="5080" indent="-224154">
              <a:lnSpc>
                <a:spcPts val="1760"/>
              </a:lnSpc>
              <a:spcBef>
                <a:spcPts val="409"/>
              </a:spcBef>
            </a:pPr>
            <a:r>
              <a:rPr sz="1500" dirty="0">
                <a:latin typeface="Cambria"/>
                <a:cs typeface="Cambria"/>
              </a:rPr>
              <a:t>4</a:t>
            </a:r>
            <a:r>
              <a:rPr sz="1500" spc="325" dirty="0">
                <a:latin typeface="Cambria"/>
                <a:cs typeface="Cambria"/>
              </a:rPr>
              <a:t> </a:t>
            </a:r>
            <a:r>
              <a:rPr sz="1500" spc="-50" dirty="0">
                <a:latin typeface="Cambria"/>
                <a:cs typeface="Cambria"/>
              </a:rPr>
              <a:t>Food</a:t>
            </a:r>
            <a:r>
              <a:rPr sz="1500" spc="10" dirty="0">
                <a:latin typeface="Cambria"/>
                <a:cs typeface="Cambria"/>
              </a:rPr>
              <a:t> </a:t>
            </a:r>
            <a:r>
              <a:rPr sz="1500" spc="-90" dirty="0">
                <a:latin typeface="Cambria"/>
                <a:cs typeface="Cambria"/>
              </a:rPr>
              <a:t>sources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-100" dirty="0">
                <a:latin typeface="Cambria"/>
                <a:cs typeface="Cambria"/>
              </a:rPr>
              <a:t>are</a:t>
            </a:r>
            <a:r>
              <a:rPr sz="1500" spc="20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milk,</a:t>
            </a:r>
            <a:r>
              <a:rPr sz="1500" spc="35" dirty="0">
                <a:latin typeface="Cambria"/>
                <a:cs typeface="Cambria"/>
              </a:rPr>
              <a:t> </a:t>
            </a:r>
            <a:r>
              <a:rPr sz="1500" spc="-100" dirty="0">
                <a:latin typeface="Cambria"/>
                <a:cs typeface="Cambria"/>
              </a:rPr>
              <a:t>butter,</a:t>
            </a:r>
            <a:r>
              <a:rPr sz="1500" spc="25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cheese,</a:t>
            </a:r>
            <a:r>
              <a:rPr sz="1500" spc="1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egg,</a:t>
            </a:r>
            <a:r>
              <a:rPr sz="1500" spc="-5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fish</a:t>
            </a:r>
            <a:r>
              <a:rPr sz="1500" spc="15" dirty="0">
                <a:latin typeface="Cambria"/>
                <a:cs typeface="Cambria"/>
              </a:rPr>
              <a:t> </a:t>
            </a:r>
            <a:r>
              <a:rPr sz="1500" spc="-114" dirty="0">
                <a:latin typeface="Cambria"/>
                <a:cs typeface="Cambria"/>
              </a:rPr>
              <a:t>and</a:t>
            </a:r>
            <a:r>
              <a:rPr sz="1500" spc="3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fish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-70" dirty="0">
                <a:latin typeface="Cambria"/>
                <a:cs typeface="Cambria"/>
              </a:rPr>
              <a:t>liver</a:t>
            </a:r>
            <a:r>
              <a:rPr sz="1500" spc="-10" dirty="0">
                <a:latin typeface="Cambria"/>
                <a:cs typeface="Cambria"/>
              </a:rPr>
              <a:t> oils, </a:t>
            </a:r>
            <a:r>
              <a:rPr sz="1500" spc="-114" dirty="0">
                <a:latin typeface="Cambria"/>
                <a:cs typeface="Cambria"/>
              </a:rPr>
              <a:t>and</a:t>
            </a:r>
            <a:r>
              <a:rPr sz="1500" spc="3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foods </a:t>
            </a:r>
            <a:r>
              <a:rPr sz="1500" spc="-75" dirty="0">
                <a:latin typeface="Cambria"/>
                <a:cs typeface="Cambria"/>
              </a:rPr>
              <a:t>which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-60" dirty="0">
                <a:latin typeface="Cambria"/>
                <a:cs typeface="Cambria"/>
              </a:rPr>
              <a:t>have</a:t>
            </a:r>
            <a:r>
              <a:rPr sz="1500" spc="35" dirty="0">
                <a:latin typeface="Cambria"/>
                <a:cs typeface="Cambria"/>
              </a:rPr>
              <a:t> </a:t>
            </a:r>
            <a:r>
              <a:rPr sz="1500" spc="-100" dirty="0">
                <a:latin typeface="Cambria"/>
                <a:cs typeface="Cambria"/>
              </a:rPr>
              <a:t>been</a:t>
            </a:r>
            <a:r>
              <a:rPr sz="1500" spc="25" dirty="0">
                <a:latin typeface="Cambria"/>
                <a:cs typeface="Cambria"/>
              </a:rPr>
              <a:t> </a:t>
            </a:r>
            <a:r>
              <a:rPr sz="1500" spc="-65" dirty="0">
                <a:latin typeface="Cambria"/>
                <a:cs typeface="Cambria"/>
              </a:rPr>
              <a:t>fortified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by</a:t>
            </a:r>
            <a:r>
              <a:rPr sz="1500" spc="40" dirty="0">
                <a:latin typeface="Cambria"/>
                <a:cs typeface="Cambria"/>
              </a:rPr>
              <a:t> </a:t>
            </a:r>
            <a:r>
              <a:rPr sz="1500" spc="-100" dirty="0">
                <a:latin typeface="Cambria"/>
                <a:cs typeface="Cambria"/>
              </a:rPr>
              <a:t>addition</a:t>
            </a:r>
            <a:r>
              <a:rPr sz="1500" spc="20" dirty="0"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5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vitamin</a:t>
            </a:r>
            <a:r>
              <a:rPr sz="1500" spc="15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D.</a:t>
            </a:r>
            <a:endParaRPr sz="1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500">
              <a:latin typeface="Cambria"/>
              <a:cs typeface="Cambria"/>
            </a:endParaRPr>
          </a:p>
          <a:p>
            <a:pPr marL="2557780">
              <a:lnSpc>
                <a:spcPct val="100000"/>
              </a:lnSpc>
            </a:pPr>
            <a:r>
              <a:rPr sz="1650" spc="-10" dirty="0">
                <a:latin typeface="Cambria"/>
                <a:cs typeface="Cambria"/>
              </a:rPr>
              <a:t>Functions</a:t>
            </a:r>
            <a:endParaRPr sz="1650">
              <a:latin typeface="Cambria"/>
              <a:cs typeface="Cambria"/>
            </a:endParaRPr>
          </a:p>
          <a:p>
            <a:pPr marL="19050">
              <a:lnSpc>
                <a:spcPct val="100000"/>
              </a:lnSpc>
              <a:spcBef>
                <a:spcPts val="395"/>
              </a:spcBef>
            </a:pPr>
            <a:r>
              <a:rPr sz="1600" spc="-155" dirty="0">
                <a:latin typeface="Cambria"/>
                <a:cs typeface="Cambria"/>
              </a:rPr>
              <a:t>4•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Increases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70" dirty="0">
                <a:latin typeface="Cambria"/>
                <a:cs typeface="Cambria"/>
              </a:rPr>
              <a:t>intestinal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85" dirty="0">
                <a:latin typeface="Cambria"/>
                <a:cs typeface="Cambria"/>
              </a:rPr>
              <a:t>absorption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of</a:t>
            </a:r>
            <a:r>
              <a:rPr sz="1600" spc="-85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calcium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5" dirty="0">
                <a:latin typeface="Cambria"/>
                <a:cs typeface="Cambria"/>
              </a:rPr>
              <a:t>and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phosphates.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550" spc="-229" dirty="0">
                <a:latin typeface="Cambria"/>
                <a:cs typeface="Cambria"/>
              </a:rPr>
              <a:t>•t•</a:t>
            </a:r>
            <a:r>
              <a:rPr sz="1550" spc="180" dirty="0">
                <a:latin typeface="Cambria"/>
                <a:cs typeface="Cambria"/>
              </a:rPr>
              <a:t> </a:t>
            </a:r>
            <a:r>
              <a:rPr sz="1550" spc="-25" dirty="0">
                <a:latin typeface="Cambria"/>
                <a:cs typeface="Cambria"/>
              </a:rPr>
              <a:t>Mineralization</a:t>
            </a:r>
            <a:r>
              <a:rPr sz="1550" spc="-5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of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bones.</a:t>
            </a:r>
            <a:endParaRPr sz="1550">
              <a:latin typeface="Cambria"/>
              <a:cs typeface="Cambria"/>
            </a:endParaRPr>
          </a:p>
          <a:p>
            <a:pPr marL="234950" marR="388620" indent="-216535" algn="just">
              <a:lnSpc>
                <a:spcPct val="97300"/>
              </a:lnSpc>
              <a:spcBef>
                <a:spcPts val="525"/>
              </a:spcBef>
            </a:pPr>
            <a:r>
              <a:rPr sz="1500" dirty="0">
                <a:latin typeface="Cambria"/>
                <a:cs typeface="Cambria"/>
              </a:rPr>
              <a:t>n•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Vitamin</a:t>
            </a:r>
            <a:r>
              <a:rPr sz="1500" spc="-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</a:t>
            </a:r>
            <a:r>
              <a:rPr sz="1500" spc="1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is</a:t>
            </a:r>
            <a:r>
              <a:rPr sz="1500" spc="-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also</a:t>
            </a:r>
            <a:r>
              <a:rPr sz="1500" spc="-7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essential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for</a:t>
            </a:r>
            <a:r>
              <a:rPr sz="1500" spc="-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the</a:t>
            </a:r>
            <a:r>
              <a:rPr sz="1500" spc="-75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dental </a:t>
            </a:r>
            <a:r>
              <a:rPr sz="1500" dirty="0">
                <a:latin typeface="Cambria"/>
                <a:cs typeface="Cambria"/>
              </a:rPr>
              <a:t>health.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It</a:t>
            </a:r>
            <a:r>
              <a:rPr sz="1500" spc="-15" dirty="0">
                <a:latin typeface="Cambria"/>
                <a:cs typeface="Cambria"/>
              </a:rPr>
              <a:t> </a:t>
            </a:r>
            <a:r>
              <a:rPr sz="1500" spc="-35" dirty="0">
                <a:latin typeface="Cambria"/>
                <a:cs typeface="Cambria"/>
              </a:rPr>
              <a:t>prevents</a:t>
            </a:r>
            <a:r>
              <a:rPr sz="1500" spc="2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tooth </a:t>
            </a:r>
            <a:r>
              <a:rPr sz="1650" spc="-65" dirty="0">
                <a:latin typeface="Cambria"/>
                <a:cs typeface="Cambria"/>
              </a:rPr>
              <a:t>decay</a:t>
            </a:r>
            <a:r>
              <a:rPr sz="1650" spc="-5" dirty="0">
                <a:latin typeface="Cambria"/>
                <a:cs typeface="Cambria"/>
              </a:rPr>
              <a:t> </a:t>
            </a:r>
            <a:r>
              <a:rPr sz="1650" spc="-110" dirty="0">
                <a:latin typeface="Cambria"/>
                <a:cs typeface="Cambria"/>
              </a:rPr>
              <a:t>and</a:t>
            </a:r>
            <a:r>
              <a:rPr sz="1650" spc="20" dirty="0">
                <a:latin typeface="Cambria"/>
                <a:cs typeface="Cambria"/>
              </a:rPr>
              <a:t> </a:t>
            </a:r>
            <a:r>
              <a:rPr sz="1650" spc="-35" dirty="0">
                <a:latin typeface="Cambria"/>
                <a:cs typeface="Cambria"/>
              </a:rPr>
              <a:t>loss,</a:t>
            </a:r>
            <a:r>
              <a:rPr sz="1650" spc="30" dirty="0">
                <a:latin typeface="Cambria"/>
                <a:cs typeface="Cambria"/>
              </a:rPr>
              <a:t> </a:t>
            </a:r>
            <a:r>
              <a:rPr sz="1650" spc="-125" dirty="0">
                <a:latin typeface="Cambria"/>
                <a:cs typeface="Cambria"/>
              </a:rPr>
              <a:t>strengthen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-140" dirty="0">
                <a:latin typeface="Cambria"/>
                <a:cs typeface="Cambria"/>
              </a:rPr>
              <a:t>the</a:t>
            </a:r>
            <a:r>
              <a:rPr sz="1650" spc="50" dirty="0">
                <a:latin typeface="Cambria"/>
                <a:cs typeface="Cambria"/>
              </a:rPr>
              <a:t> </a:t>
            </a:r>
            <a:r>
              <a:rPr sz="1650" spc="-85" dirty="0">
                <a:latin typeface="Cambria"/>
                <a:cs typeface="Cambria"/>
              </a:rPr>
              <a:t>gums</a:t>
            </a:r>
            <a:r>
              <a:rPr sz="1650" spc="45" dirty="0">
                <a:latin typeface="Cambria"/>
                <a:cs typeface="Cambria"/>
              </a:rPr>
              <a:t> </a:t>
            </a:r>
            <a:r>
              <a:rPr sz="1650" spc="-120" dirty="0">
                <a:latin typeface="Cambria"/>
                <a:cs typeface="Cambria"/>
              </a:rPr>
              <a:t>and</a:t>
            </a:r>
            <a:r>
              <a:rPr sz="1650" spc="30" dirty="0">
                <a:latin typeface="Cambria"/>
                <a:cs typeface="Cambria"/>
              </a:rPr>
              <a:t> </a:t>
            </a:r>
            <a:r>
              <a:rPr sz="1650" spc="-105" dirty="0">
                <a:latin typeface="Cambria"/>
                <a:cs typeface="Cambria"/>
              </a:rPr>
              <a:t>reduces</a:t>
            </a:r>
            <a:r>
              <a:rPr sz="1650" spc="15" dirty="0">
                <a:latin typeface="Cambria"/>
                <a:cs typeface="Cambria"/>
              </a:rPr>
              <a:t> </a:t>
            </a:r>
            <a:r>
              <a:rPr sz="1650" spc="-100" dirty="0">
                <a:latin typeface="Cambria"/>
                <a:cs typeface="Cambria"/>
              </a:rPr>
              <a:t>risk</a:t>
            </a:r>
            <a:r>
              <a:rPr sz="1650" spc="1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-90" dirty="0">
                <a:latin typeface="Cambria"/>
                <a:cs typeface="Cambria"/>
              </a:rPr>
              <a:t> </a:t>
            </a:r>
            <a:r>
              <a:rPr sz="1650" spc="-100" dirty="0">
                <a:latin typeface="Cambria"/>
                <a:cs typeface="Cambria"/>
              </a:rPr>
              <a:t>any</a:t>
            </a:r>
            <a:r>
              <a:rPr sz="1650" spc="20" dirty="0">
                <a:latin typeface="Cambria"/>
                <a:cs typeface="Cambria"/>
              </a:rPr>
              <a:t> </a:t>
            </a:r>
            <a:r>
              <a:rPr sz="1650" spc="-20" dirty="0">
                <a:latin typeface="Cambria"/>
                <a:cs typeface="Cambria"/>
              </a:rPr>
              <a:t>oral </a:t>
            </a:r>
            <a:r>
              <a:rPr sz="1650" spc="-10" dirty="0">
                <a:latin typeface="Cambria"/>
                <a:cs typeface="Cambria"/>
              </a:rPr>
              <a:t>infection.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0" y="2571750"/>
            <a:ext cx="990600" cy="866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6950" y="342900"/>
            <a:ext cx="1571625" cy="1057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95825" y="2714625"/>
            <a:ext cx="714375" cy="752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" y="1600200"/>
            <a:ext cx="1181100" cy="133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7000" y="3905250"/>
            <a:ext cx="800100" cy="114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4425" y="1562100"/>
            <a:ext cx="95250" cy="114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14525" y="2009775"/>
            <a:ext cx="2266950" cy="247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4000500"/>
            <a:ext cx="914400" cy="3048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6299" y="3519487"/>
            <a:ext cx="1388110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60"/>
              </a:lnSpc>
              <a:spcBef>
                <a:spcPts val="100"/>
              </a:spcBef>
            </a:pPr>
            <a:r>
              <a:rPr sz="1100" spc="-55" dirty="0">
                <a:solidFill>
                  <a:srgbClr val="1D1D1D"/>
                </a:solidFill>
                <a:latin typeface="Arial MT"/>
                <a:cs typeface="Arial MT"/>
              </a:rPr>
              <a:t>Supports</a:t>
            </a:r>
            <a:r>
              <a:rPr sz="110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F2F2F"/>
                </a:solidFill>
                <a:latin typeface="Arial MT"/>
                <a:cs typeface="Arial MT"/>
              </a:rPr>
              <a:t>neuromuscular</a:t>
            </a:r>
            <a:endParaRPr sz="1100">
              <a:latin typeface="Arial MT"/>
              <a:cs typeface="Arial MT"/>
            </a:endParaRPr>
          </a:p>
          <a:p>
            <a:pPr marL="48260" algn="ctr">
              <a:lnSpc>
                <a:spcPts val="1220"/>
              </a:lnSpc>
            </a:pPr>
            <a:r>
              <a:rPr sz="1150" spc="-10" dirty="0">
                <a:latin typeface="Arial MT"/>
                <a:cs typeface="Arial MT"/>
              </a:rPr>
              <a:t>funcclon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3269" y="1522412"/>
            <a:ext cx="127698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30" dirty="0">
                <a:solidFill>
                  <a:srgbClr val="232323"/>
                </a:solidFill>
                <a:latin typeface="Arial MT"/>
                <a:cs typeface="Arial MT"/>
              </a:rPr>
              <a:t>Reduces</a:t>
            </a:r>
            <a:r>
              <a:rPr sz="1150" spc="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150" spc="-55" dirty="0">
                <a:solidFill>
                  <a:srgbClr val="131313"/>
                </a:solidFill>
                <a:latin typeface="Arial MT"/>
                <a:cs typeface="Arial MT"/>
              </a:rPr>
              <a:t>inflammation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4377" y="3556000"/>
            <a:ext cx="1220470" cy="6070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78740" marR="56515" indent="-34925">
              <a:lnSpc>
                <a:spcPct val="78800"/>
              </a:lnSpc>
              <a:spcBef>
                <a:spcPts val="390"/>
              </a:spcBef>
            </a:pPr>
            <a:r>
              <a:rPr sz="1150" spc="-100" dirty="0">
                <a:solidFill>
                  <a:srgbClr val="383838"/>
                </a:solidFill>
                <a:latin typeface="Arial MT"/>
                <a:cs typeface="Arial MT"/>
              </a:rPr>
              <a:t>Studies</a:t>
            </a:r>
            <a:r>
              <a:rPr sz="1150" spc="-2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150" spc="-90" dirty="0">
                <a:solidFill>
                  <a:srgbClr val="282828"/>
                </a:solidFill>
                <a:latin typeface="Arial MT"/>
                <a:cs typeface="Arial MT"/>
              </a:rPr>
              <a:t>have</a:t>
            </a:r>
            <a:r>
              <a:rPr sz="1150" spc="-1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150" spc="-80" dirty="0">
                <a:solidFill>
                  <a:srgbClr val="161616"/>
                </a:solidFill>
                <a:latin typeface="Arial MT"/>
                <a:cs typeface="Arial MT"/>
              </a:rPr>
              <a:t>shown </a:t>
            </a:r>
            <a:r>
              <a:rPr sz="1150" spc="-70" dirty="0">
                <a:solidFill>
                  <a:srgbClr val="262626"/>
                </a:solidFill>
                <a:latin typeface="Arial MT"/>
                <a:cs typeface="Arial MT"/>
              </a:rPr>
              <a:t>Vitamin</a:t>
            </a:r>
            <a:r>
              <a:rPr sz="1150" spc="-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150" spc="-125" dirty="0">
                <a:solidFill>
                  <a:srgbClr val="363636"/>
                </a:solidFill>
                <a:latin typeface="Arial MT"/>
                <a:cs typeface="Arial MT"/>
              </a:rPr>
              <a:t>D</a:t>
            </a:r>
            <a:r>
              <a:rPr sz="1150" spc="-8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150" spc="-105" dirty="0">
                <a:solidFill>
                  <a:srgbClr val="282828"/>
                </a:solidFill>
                <a:latin typeface="Arial MT"/>
                <a:cs typeface="Arial MT"/>
              </a:rPr>
              <a:t>can</a:t>
            </a:r>
            <a:r>
              <a:rPr sz="1150" spc="-1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150" spc="-20" dirty="0">
                <a:solidFill>
                  <a:srgbClr val="313131"/>
                </a:solidFill>
                <a:latin typeface="Arial MT"/>
                <a:cs typeface="Arial MT"/>
              </a:rPr>
              <a:t>help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200" spc="-90" dirty="0">
                <a:latin typeface="Arial MT"/>
                <a:cs typeface="Arial MT"/>
              </a:rPr>
              <a:t>rgspiratory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solidFill>
                  <a:srgbClr val="1D1D1D"/>
                </a:solidFill>
                <a:latin typeface="Arial MT"/>
                <a:cs typeface="Arial MT"/>
              </a:rPr>
              <a:t>InfectierI¿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65666" y="1695450"/>
            <a:ext cx="128079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295"/>
              </a:lnSpc>
              <a:spcBef>
                <a:spcPts val="100"/>
              </a:spcBef>
            </a:pPr>
            <a:r>
              <a:rPr sz="1250" spc="-210" dirty="0">
                <a:solidFill>
                  <a:srgbClr val="3F3F3F"/>
                </a:solidFill>
                <a:latin typeface="Arial MT"/>
                <a:cs typeface="Arial MT"/>
              </a:rPr>
              <a:t>Can</a:t>
            </a:r>
            <a:r>
              <a:rPr sz="1250" spc="-12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250" spc="-145" dirty="0">
                <a:solidFill>
                  <a:srgbClr val="494949"/>
                </a:solidFill>
                <a:latin typeface="Arial MT"/>
                <a:cs typeface="Arial MT"/>
              </a:rPr>
              <a:t>be</a:t>
            </a:r>
            <a:r>
              <a:rPr sz="1250" spc="-4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250" spc="-130" dirty="0">
                <a:solidFill>
                  <a:srgbClr val="2A2A2A"/>
                </a:solidFill>
                <a:latin typeface="Arial MT"/>
                <a:cs typeface="Arial MT"/>
              </a:rPr>
              <a:t>found</a:t>
            </a:r>
            <a:r>
              <a:rPr sz="1250" spc="-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250" spc="-130" dirty="0">
                <a:solidFill>
                  <a:srgbClr val="2B2B2B"/>
                </a:solidFill>
                <a:latin typeface="Arial MT"/>
                <a:cs typeface="Arial MT"/>
              </a:rPr>
              <a:t>In</a:t>
            </a:r>
            <a:r>
              <a:rPr sz="1250" spc="-6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2B2B2B"/>
                </a:solidFill>
                <a:latin typeface="Arial MT"/>
                <a:cs typeface="Arial MT"/>
              </a:rPr>
              <a:t>foods</a:t>
            </a:r>
            <a:endParaRPr sz="1250">
              <a:latin typeface="Arial MT"/>
              <a:cs typeface="Arial MT"/>
            </a:endParaRPr>
          </a:p>
          <a:p>
            <a:pPr marL="129539" marR="142240" algn="ctr">
              <a:lnSpc>
                <a:spcPct val="70000"/>
              </a:lnSpc>
              <a:spcBef>
                <a:spcPts val="240"/>
              </a:spcBef>
            </a:pPr>
            <a:r>
              <a:rPr sz="1250" spc="-145" dirty="0">
                <a:solidFill>
                  <a:srgbClr val="1A1A1A"/>
                </a:solidFill>
                <a:latin typeface="Arial MT"/>
                <a:cs typeface="Arial MT"/>
              </a:rPr>
              <a:t>supplements,</a:t>
            </a:r>
            <a:r>
              <a:rPr sz="125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250" spc="-110" dirty="0">
                <a:solidFill>
                  <a:srgbClr val="3D3D3D"/>
                </a:solidFill>
                <a:latin typeface="Arial MT"/>
                <a:cs typeface="Arial MT"/>
              </a:rPr>
              <a:t>and </a:t>
            </a:r>
            <a:r>
              <a:rPr sz="1250" spc="-155" dirty="0">
                <a:solidFill>
                  <a:srgbClr val="1C1C1C"/>
                </a:solidFill>
                <a:latin typeface="Arial MT"/>
                <a:cs typeface="Arial MT"/>
              </a:rPr>
              <a:t>exposure</a:t>
            </a:r>
            <a:r>
              <a:rPr sz="125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7B7057"/>
                </a:solidFill>
                <a:latin typeface="Arial MT"/>
                <a:cs typeface="Arial MT"/>
              </a:rPr>
              <a:t>to</a:t>
            </a:r>
            <a:r>
              <a:rPr sz="1250" spc="-90" dirty="0">
                <a:solidFill>
                  <a:srgbClr val="7B7057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B1A889"/>
                </a:solidFill>
                <a:latin typeface="Arial MT"/>
                <a:cs typeface="Arial MT"/>
              </a:rPr>
              <a:t>sun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5679" y="3665537"/>
            <a:ext cx="1111885" cy="32956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39090" marR="5080" indent="-327025">
              <a:lnSpc>
                <a:spcPct val="73400"/>
              </a:lnSpc>
              <a:spcBef>
                <a:spcPts val="465"/>
              </a:spcBef>
            </a:pPr>
            <a:r>
              <a:rPr sz="1150" spc="-75" dirty="0">
                <a:solidFill>
                  <a:srgbClr val="242424"/>
                </a:solidFill>
                <a:latin typeface="Arial MT"/>
                <a:cs typeface="Arial MT"/>
              </a:rPr>
              <a:t>Influences</a:t>
            </a:r>
            <a:r>
              <a:rPr sz="1150" spc="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150" spc="-75" dirty="0">
                <a:solidFill>
                  <a:srgbClr val="262626"/>
                </a:solidFill>
                <a:latin typeface="Arial MT"/>
                <a:cs typeface="Arial MT"/>
              </a:rPr>
              <a:t>immune </a:t>
            </a:r>
            <a:r>
              <a:rPr sz="1150" spc="-10" dirty="0">
                <a:solidFill>
                  <a:srgbClr val="1F1F1F"/>
                </a:solidFill>
                <a:latin typeface="Arial MT"/>
                <a:cs typeface="Arial MT"/>
              </a:rPr>
              <a:t>function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7075" y="2686050"/>
            <a:ext cx="685800" cy="1181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9575" y="2362200"/>
            <a:ext cx="1809750" cy="2143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5" y="190500"/>
            <a:ext cx="2114550" cy="1200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14950" y="409575"/>
            <a:ext cx="600075" cy="7810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81225" y="2667000"/>
            <a:ext cx="885825" cy="16002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7625" y="3028950"/>
            <a:ext cx="2085975" cy="1219200"/>
            <a:chOff x="47625" y="3028950"/>
            <a:chExt cx="2085975" cy="121920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25" y="3028950"/>
              <a:ext cx="2085975" cy="1219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00" y="3762375"/>
              <a:ext cx="1990725" cy="29527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38375" y="3581400"/>
            <a:ext cx="114300" cy="2476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324100" y="400050"/>
            <a:ext cx="1600200" cy="1590675"/>
            <a:chOff x="2324100" y="400050"/>
            <a:chExt cx="1600200" cy="159067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4100" y="400050"/>
              <a:ext cx="1600200" cy="11239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00300" y="1524000"/>
              <a:ext cx="1266825" cy="46672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57500" y="3638550"/>
            <a:ext cx="161925" cy="17145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152900" y="428625"/>
            <a:ext cx="1028700" cy="1562100"/>
            <a:chOff x="4152900" y="428625"/>
            <a:chExt cx="1028700" cy="1562100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48150" y="1666875"/>
              <a:ext cx="838200" cy="3238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52900" y="428625"/>
              <a:ext cx="1028700" cy="12192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76200" y="2990850"/>
            <a:ext cx="2943225" cy="638175"/>
            <a:chOff x="76200" y="2990850"/>
            <a:chExt cx="2943225" cy="638175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200" y="2990850"/>
              <a:ext cx="2943225" cy="457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775" y="3467100"/>
              <a:ext cx="2000250" cy="16192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975" y="3586162"/>
            <a:ext cx="20402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solidFill>
                  <a:srgbClr val="FDC1C1"/>
                </a:solidFill>
                <a:latin typeface="Times New Roman"/>
                <a:cs typeface="Times New Roman"/>
              </a:rPr>
              <a:t>''calcium</a:t>
            </a:r>
            <a:r>
              <a:rPr sz="1100" spc="75" dirty="0">
                <a:solidFill>
                  <a:srgbClr val="FDC1C1"/>
                </a:solidFill>
                <a:latin typeface="Times New Roman"/>
                <a:cs typeface="Times New Roman"/>
              </a:rPr>
              <a:t> </a:t>
            </a:r>
            <a:r>
              <a:rPr sz="1100" spc="-90" dirty="0">
                <a:solidFill>
                  <a:srgbClr val="C18E90"/>
                </a:solidFill>
                <a:latin typeface="Times New Roman"/>
                <a:cs typeface="Times New Roman"/>
              </a:rPr>
              <a:t>in</a:t>
            </a:r>
            <a:r>
              <a:rPr sz="1100" spc="-114" dirty="0">
                <a:solidFill>
                  <a:srgbClr val="C18E90"/>
                </a:solidFill>
                <a:latin typeface="Times New Roman"/>
                <a:cs typeface="Times New Roman"/>
              </a:rPr>
              <a:t> </a:t>
            </a:r>
            <a:r>
              <a:rPr sz="1100" spc="-65" dirty="0">
                <a:solidFill>
                  <a:srgbClr val="FFBDC1"/>
                </a:solidFill>
                <a:latin typeface="Times New Roman"/>
                <a:cs typeface="Times New Roman"/>
              </a:rPr>
              <a:t>.iíić</a:t>
            </a:r>
            <a:r>
              <a:rPr sz="1100" spc="20" dirty="0">
                <a:solidFill>
                  <a:srgbClr val="FFBDC1"/>
                </a:solidFill>
                <a:latin typeface="Times New Roman"/>
                <a:cs typeface="Times New Roman"/>
              </a:rPr>
              <a:t> </a:t>
            </a:r>
            <a:r>
              <a:rPr sz="1100" spc="-105" dirty="0">
                <a:solidFill>
                  <a:srgbClr val="FFC8C6"/>
                </a:solidFill>
                <a:latin typeface="Times New Roman"/>
                <a:cs typeface="Times New Roman"/>
              </a:rPr>
              <a:t>1iody.1cndirig</a:t>
            </a:r>
            <a:r>
              <a:rPr sz="1100" spc="85" dirty="0">
                <a:solidFill>
                  <a:srgbClr val="FFC8C6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B18783"/>
                </a:solidFill>
                <a:latin typeface="Times New Roman"/>
                <a:cs typeface="Times New Roman"/>
              </a:rPr>
              <a:t>to</a:t>
            </a:r>
            <a:r>
              <a:rPr sz="1100" spc="-5" dirty="0">
                <a:solidFill>
                  <a:srgbClr val="B18783"/>
                </a:solidFill>
                <a:latin typeface="Times New Roman"/>
                <a:cs typeface="Times New Roman"/>
              </a:rPr>
              <a:t> </a:t>
            </a:r>
            <a:r>
              <a:rPr sz="1100" spc="-80" dirty="0">
                <a:solidFill>
                  <a:srgbClr val="FFCACA"/>
                </a:solidFill>
                <a:latin typeface="Times New Roman"/>
                <a:cs typeface="Times New Roman"/>
              </a:rPr>
              <a:t>sort</a:t>
            </a:r>
            <a:r>
              <a:rPr sz="1100" spc="-45" dirty="0">
                <a:solidFill>
                  <a:srgbClr val="FFCACA"/>
                </a:solidFill>
                <a:latin typeface="Times New Roman"/>
                <a:cs typeface="Times New Roman"/>
              </a:rPr>
              <a:t> </a:t>
            </a:r>
            <a:r>
              <a:rPr sz="1100" spc="-45" dirty="0">
                <a:solidFill>
                  <a:srgbClr val="FFC6C8"/>
                </a:solidFill>
                <a:latin typeface="Times New Roman"/>
                <a:cs typeface="Times New Roman"/>
              </a:rPr>
              <a:t>'niid'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4811" y="96837"/>
            <a:ext cx="9747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10" dirty="0">
                <a:solidFill>
                  <a:srgbClr val="808080"/>
                </a:solidFill>
                <a:latin typeface="Consolas"/>
                <a:cs typeface="Consolas"/>
              </a:rPr>
              <a:t>NORMAL</a:t>
            </a:r>
            <a:r>
              <a:rPr sz="1350" spc="-8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350" spc="-125" dirty="0">
                <a:solidFill>
                  <a:srgbClr val="878787"/>
                </a:solidFill>
                <a:latin typeface="Consolas"/>
                <a:cs typeface="Consolas"/>
              </a:rPr>
              <a:t>b0NtS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83192" y="92075"/>
            <a:ext cx="546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50" dirty="0">
                <a:solidFill>
                  <a:srgbClr val="7E7E7E"/>
                </a:solidFill>
                <a:latin typeface="Consolas"/>
                <a:cs typeface="Consolas"/>
              </a:rPr>
              <a:t>RICKtTS</a:t>
            </a:r>
            <a:endParaRPr sz="135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367" y="18212"/>
            <a:ext cx="2826370" cy="45170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11779" y="4314848"/>
            <a:ext cx="761354" cy="141307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863" b="1" dirty="0">
                <a:latin typeface="Times New Roman"/>
                <a:cs typeface="Times New Roman"/>
              </a:rPr>
              <a:t>Fig.</a:t>
            </a:r>
            <a:r>
              <a:rPr sz="863" b="1" spc="-23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7-5a,</a:t>
            </a:r>
            <a:r>
              <a:rPr sz="863" b="1" spc="-2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p.</a:t>
            </a:r>
            <a:r>
              <a:rPr sz="863" b="1" spc="-2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222</a:t>
            </a:r>
            <a:endParaRPr sz="86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825" y="2746610"/>
            <a:ext cx="1033267" cy="989038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>
              <a:spcBef>
                <a:spcPts val="66"/>
              </a:spcBef>
            </a:pPr>
            <a:r>
              <a:rPr sz="1593" spc="-3" dirty="0">
                <a:latin typeface="Times New Roman"/>
                <a:cs typeface="Times New Roman"/>
              </a:rPr>
              <a:t>Bowed</a:t>
            </a:r>
            <a:r>
              <a:rPr sz="1593" spc="-27" dirty="0">
                <a:latin typeface="Times New Roman"/>
                <a:cs typeface="Times New Roman"/>
              </a:rPr>
              <a:t> </a:t>
            </a:r>
            <a:r>
              <a:rPr sz="1593" spc="-3" dirty="0">
                <a:latin typeface="Times New Roman"/>
                <a:cs typeface="Times New Roman"/>
              </a:rPr>
              <a:t>legs</a:t>
            </a:r>
            <a:endParaRPr sz="159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593" dirty="0">
                <a:latin typeface="Times New Roman"/>
                <a:cs typeface="Times New Roman"/>
              </a:rPr>
              <a:t>–</a:t>
            </a:r>
            <a:endParaRPr sz="159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593" spc="-3" dirty="0">
                <a:latin typeface="Times New Roman"/>
                <a:cs typeface="Times New Roman"/>
              </a:rPr>
              <a:t>Characteristi  </a:t>
            </a:r>
            <a:r>
              <a:rPr sz="1593" dirty="0">
                <a:latin typeface="Times New Roman"/>
                <a:cs typeface="Times New Roman"/>
              </a:rPr>
              <a:t>c</a:t>
            </a:r>
            <a:r>
              <a:rPr sz="1593" spc="-20" dirty="0">
                <a:latin typeface="Times New Roman"/>
                <a:cs typeface="Times New Roman"/>
              </a:rPr>
              <a:t> </a:t>
            </a:r>
            <a:r>
              <a:rPr sz="1593" dirty="0">
                <a:latin typeface="Times New Roman"/>
                <a:cs typeface="Times New Roman"/>
              </a:rPr>
              <a:t>of</a:t>
            </a:r>
            <a:r>
              <a:rPr sz="1593" spc="-20" dirty="0">
                <a:latin typeface="Times New Roman"/>
                <a:cs typeface="Times New Roman"/>
              </a:rPr>
              <a:t> </a:t>
            </a:r>
            <a:r>
              <a:rPr sz="1593" dirty="0">
                <a:latin typeface="Times New Roman"/>
                <a:cs typeface="Times New Roman"/>
              </a:rPr>
              <a:t>rickets</a:t>
            </a:r>
            <a:endParaRPr sz="159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156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2238" y="18212"/>
            <a:ext cx="3106629" cy="45170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05708" y="4314848"/>
            <a:ext cx="767678" cy="141307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863" b="1" dirty="0">
                <a:latin typeface="Times New Roman"/>
                <a:cs typeface="Times New Roman"/>
              </a:rPr>
              <a:t>Fig.</a:t>
            </a:r>
            <a:r>
              <a:rPr sz="863" b="1" spc="-23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7-5b,</a:t>
            </a:r>
            <a:r>
              <a:rPr sz="863" b="1" spc="-2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p.</a:t>
            </a:r>
            <a:r>
              <a:rPr sz="863" b="1" spc="-2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222</a:t>
            </a:r>
            <a:endParaRPr sz="86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824" y="2847786"/>
            <a:ext cx="978041" cy="989038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>
              <a:spcBef>
                <a:spcPts val="66"/>
              </a:spcBef>
            </a:pPr>
            <a:r>
              <a:rPr sz="1593" dirty="0">
                <a:latin typeface="Times New Roman"/>
                <a:cs typeface="Times New Roman"/>
              </a:rPr>
              <a:t>Beaded</a:t>
            </a:r>
            <a:r>
              <a:rPr sz="1593" spc="-73" dirty="0">
                <a:latin typeface="Times New Roman"/>
                <a:cs typeface="Times New Roman"/>
              </a:rPr>
              <a:t> </a:t>
            </a:r>
            <a:r>
              <a:rPr sz="1593" spc="-3" dirty="0">
                <a:latin typeface="Times New Roman"/>
                <a:cs typeface="Times New Roman"/>
              </a:rPr>
              <a:t>ribs</a:t>
            </a:r>
            <a:endParaRPr sz="159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593" dirty="0">
                <a:latin typeface="Times New Roman"/>
                <a:cs typeface="Times New Roman"/>
              </a:rPr>
              <a:t>–</a:t>
            </a:r>
            <a:endParaRPr sz="159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593" dirty="0">
                <a:latin typeface="Times New Roman"/>
                <a:cs typeface="Times New Roman"/>
              </a:rPr>
              <a:t>Characterist  ic</a:t>
            </a:r>
            <a:r>
              <a:rPr sz="1593" spc="-37" dirty="0">
                <a:latin typeface="Times New Roman"/>
                <a:cs typeface="Times New Roman"/>
              </a:rPr>
              <a:t> </a:t>
            </a:r>
            <a:r>
              <a:rPr sz="1593" dirty="0">
                <a:latin typeface="Times New Roman"/>
                <a:cs typeface="Times New Roman"/>
              </a:rPr>
              <a:t>of</a:t>
            </a:r>
            <a:r>
              <a:rPr sz="1593" spc="-33" dirty="0">
                <a:latin typeface="Times New Roman"/>
                <a:cs typeface="Times New Roman"/>
              </a:rPr>
              <a:t> </a:t>
            </a:r>
            <a:r>
              <a:rPr sz="1593" dirty="0">
                <a:latin typeface="Times New Roman"/>
                <a:cs typeface="Times New Roman"/>
              </a:rPr>
              <a:t>rickets</a:t>
            </a:r>
            <a:endParaRPr sz="159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6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504825"/>
            <a:ext cx="5838825" cy="3781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55390" y="49212"/>
            <a:ext cx="141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Cambria"/>
                <a:cs typeface="Cambria"/>
              </a:rPr>
              <a:t>OSTIOPOROSIS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3483" y="1946275"/>
            <a:ext cx="10521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Calibri"/>
                <a:cs typeface="Calibri"/>
              </a:rPr>
              <a:t>Normal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bone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63207" y="1703387"/>
            <a:ext cx="1016635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02870">
              <a:lnSpc>
                <a:spcPct val="101600"/>
              </a:lnSpc>
              <a:spcBef>
                <a:spcPts val="70"/>
              </a:spcBef>
            </a:pPr>
            <a:r>
              <a:rPr spc="-90" dirty="0"/>
              <a:t>Bone</a:t>
            </a:r>
            <a:r>
              <a:rPr spc="15" dirty="0"/>
              <a:t> </a:t>
            </a:r>
            <a:r>
              <a:rPr spc="-20" dirty="0"/>
              <a:t>with </a:t>
            </a:r>
            <a:r>
              <a:rPr spc="-90" dirty="0"/>
              <a:t>osteoporosis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57400" y="647700"/>
            <a:ext cx="2590800" cy="1809750"/>
            <a:chOff x="2057400" y="647700"/>
            <a:chExt cx="2590800" cy="1809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647700"/>
              <a:ext cx="2590800" cy="18097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1362075"/>
              <a:ext cx="876300" cy="1809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dirty="0"/>
              <a:t>Vitamin</a:t>
            </a:r>
            <a:r>
              <a:rPr spc="80" dirty="0"/>
              <a:t> </a:t>
            </a:r>
            <a:r>
              <a:rPr spc="-50" dirty="0"/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192" y="285919"/>
            <a:ext cx="5527040" cy="52260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95"/>
              </a:spcBef>
              <a:buChar char="•"/>
              <a:tabLst>
                <a:tab pos="253365" algn="l"/>
              </a:tabLst>
            </a:pPr>
            <a:r>
              <a:rPr sz="1600" spc="-55" dirty="0">
                <a:latin typeface="Cambria"/>
                <a:cs typeface="Cambria"/>
              </a:rPr>
              <a:t>Vitamin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E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65" dirty="0">
                <a:latin typeface="Cambria"/>
                <a:cs typeface="Cambria"/>
              </a:rPr>
              <a:t>is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an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120" dirty="0">
                <a:latin typeface="Cambria"/>
                <a:cs typeface="Cambria"/>
              </a:rPr>
              <a:t>aiTtioxidant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-85" dirty="0">
                <a:latin typeface="Cambria"/>
                <a:cs typeface="Cambria"/>
              </a:rPr>
              <a:t>and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-80" dirty="0">
                <a:latin typeface="Cambria"/>
                <a:cs typeface="Cambria"/>
              </a:rPr>
              <a:t>formed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op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chemical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substance</a:t>
            </a:r>
            <a:endParaRPr sz="1600">
              <a:latin typeface="Cambria"/>
              <a:cs typeface="Cambria"/>
            </a:endParaRPr>
          </a:p>
          <a:p>
            <a:pPr marL="245745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latin typeface="Cambria"/>
                <a:cs typeface="Cambria"/>
              </a:rPr>
              <a:t>called</a:t>
            </a:r>
            <a:r>
              <a:rPr sz="1500" spc="-1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Tocopherols.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2120" y="1516062"/>
            <a:ext cx="911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62626"/>
                </a:solidFill>
                <a:latin typeface="Cambria"/>
                <a:cs typeface="Cambria"/>
              </a:rPr>
              <a:t>Pick</a:t>
            </a:r>
            <a:r>
              <a:rPr sz="1500" spc="15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500" spc="-20" dirty="0">
                <a:solidFill>
                  <a:srgbClr val="232323"/>
                </a:solidFill>
                <a:latin typeface="Cambria"/>
                <a:cs typeface="Cambria"/>
              </a:rPr>
              <a:t>Foods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1511" y="2493962"/>
            <a:ext cx="15233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0" dirty="0">
                <a:latin typeface="Arial MT"/>
                <a:cs typeface="Arial MT"/>
              </a:rPr>
              <a:t>Daily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requirements: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5611" y="2701312"/>
            <a:ext cx="4738370" cy="179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13055" indent="-250190">
              <a:lnSpc>
                <a:spcPct val="100000"/>
              </a:lnSpc>
              <a:spcBef>
                <a:spcPts val="440"/>
              </a:spcBef>
              <a:buClr>
                <a:srgbClr val="000000"/>
              </a:buClr>
              <a:buChar char="•"/>
              <a:tabLst>
                <a:tab pos="313055" algn="l"/>
              </a:tabLst>
            </a:pPr>
            <a:r>
              <a:rPr sz="1350" spc="-170" dirty="0">
                <a:solidFill>
                  <a:srgbClr val="161616"/>
                </a:solidFill>
                <a:latin typeface="Arial MT"/>
                <a:cs typeface="Arial MT"/>
              </a:rPr>
              <a:t>I</a:t>
            </a:r>
            <a:r>
              <a:rPr sz="1350" spc="-170" dirty="0">
                <a:solidFill>
                  <a:srgbClr val="0A0A0A"/>
                </a:solidFill>
                <a:latin typeface="Arial MT"/>
                <a:cs typeface="Arial MT"/>
              </a:rPr>
              <a:t>EUR</a:t>
            </a:r>
            <a:r>
              <a:rPr sz="1350" spc="7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pci</a:t>
            </a:r>
            <a:r>
              <a:rPr sz="1350" spc="55" dirty="0"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0C0C0C"/>
                </a:solidFill>
                <a:latin typeface="Arial MT"/>
                <a:cs typeface="Arial MT"/>
              </a:rPr>
              <a:t>day.</a:t>
            </a:r>
            <a:endParaRPr sz="1350">
              <a:latin typeface="Arial MT"/>
              <a:cs typeface="Arial MT"/>
            </a:endParaRPr>
          </a:p>
          <a:p>
            <a:pPr marL="2750185">
              <a:lnSpc>
                <a:spcPct val="100000"/>
              </a:lnSpc>
              <a:spcBef>
                <a:spcPts val="355"/>
              </a:spcBef>
            </a:pPr>
            <a:r>
              <a:rPr sz="1400" spc="-10" dirty="0">
                <a:latin typeface="Arial MT"/>
                <a:cs typeface="Arial MT"/>
              </a:rPr>
              <a:t>Sources</a:t>
            </a:r>
            <a:endParaRPr sz="1400">
              <a:latin typeface="Arial MT"/>
              <a:cs typeface="Arial MT"/>
            </a:endParaRPr>
          </a:p>
          <a:p>
            <a:pPr marL="297815" indent="-234315">
              <a:lnSpc>
                <a:spcPct val="100000"/>
              </a:lnSpc>
              <a:spcBef>
                <a:spcPts val="409"/>
              </a:spcBef>
              <a:buChar char="•"/>
              <a:tabLst>
                <a:tab pos="297815" algn="l"/>
              </a:tabLst>
            </a:pPr>
            <a:r>
              <a:rPr sz="1300" spc="-10" dirty="0">
                <a:latin typeface="Arial MT"/>
                <a:cs typeface="Arial MT"/>
              </a:rPr>
              <a:t>Mick,</a:t>
            </a:r>
            <a:r>
              <a:rPr sz="1300" spc="-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oils, </a:t>
            </a:r>
            <a:r>
              <a:rPr sz="1950" baseline="-10683" dirty="0">
                <a:latin typeface="Arial MT"/>
                <a:cs typeface="Arial MT"/>
              </a:rPr>
              <a:t>•s</a:t>
            </a:r>
            <a:r>
              <a:rPr sz="1950" spc="742" baseline="-10683" dirty="0">
                <a:latin typeface="Arial MT"/>
                <a:cs typeface="Arial MT"/>
              </a:rPr>
              <a:t> </a:t>
            </a:r>
            <a:r>
              <a:rPr sz="1950" spc="97" baseline="-6410" dirty="0">
                <a:latin typeface="Arial MT"/>
                <a:cs typeface="Arial MT"/>
              </a:rPr>
              <a:t>•</a:t>
            </a:r>
            <a:r>
              <a:rPr sz="1950" spc="97" baseline="6410" dirty="0">
                <a:latin typeface="Arial MT"/>
                <a:cs typeface="Arial MT"/>
              </a:rPr>
              <a:t>,</a:t>
            </a:r>
            <a:r>
              <a:rPr sz="1950" spc="-89" baseline="6410" dirty="0">
                <a:latin typeface="Arial MT"/>
                <a:cs typeface="Arial MT"/>
              </a:rPr>
              <a:t> </a:t>
            </a:r>
            <a:r>
              <a:rPr sz="1300" spc="-90" dirty="0">
                <a:latin typeface="Arial MT"/>
                <a:cs typeface="Arial MT"/>
              </a:rPr>
              <a:t>lea</a:t>
            </a:r>
            <a:r>
              <a:rPr sz="1300" spc="-1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fy</a:t>
            </a:r>
            <a:r>
              <a:rPr sz="1300" spc="65" dirty="0">
                <a:latin typeface="Arial MT"/>
                <a:cs typeface="Arial MT"/>
              </a:rPr>
              <a:t> </a:t>
            </a:r>
            <a:r>
              <a:rPr sz="1300" spc="-55" dirty="0">
                <a:latin typeface="Arial MT"/>
                <a:cs typeface="Arial MT"/>
              </a:rPr>
              <a:t>vegetables,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papaya,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30" dirty="0">
                <a:latin typeface="Arial MT"/>
                <a:cs typeface="Arial MT"/>
              </a:rPr>
              <a:t>drains, </a:t>
            </a:r>
            <a:r>
              <a:rPr sz="1300" spc="-10" dirty="0">
                <a:latin typeface="Arial MT"/>
                <a:cs typeface="Arial MT"/>
              </a:rPr>
              <a:t>nuts.</a:t>
            </a:r>
            <a:endParaRPr sz="1300">
              <a:latin typeface="Arial MT"/>
              <a:cs typeface="Arial MT"/>
            </a:endParaRPr>
          </a:p>
          <a:p>
            <a:pPr marL="2667635">
              <a:lnSpc>
                <a:spcPct val="100000"/>
              </a:lnSpc>
              <a:spcBef>
                <a:spcPts val="375"/>
              </a:spcBef>
            </a:pPr>
            <a:r>
              <a:rPr sz="1350" spc="-10" dirty="0">
                <a:latin typeface="Arial MT"/>
                <a:cs typeface="Arial MT"/>
              </a:rPr>
              <a:t>Functions</a:t>
            </a:r>
            <a:endParaRPr sz="1350">
              <a:latin typeface="Arial MT"/>
              <a:cs typeface="Arial MT"/>
            </a:endParaRPr>
          </a:p>
          <a:p>
            <a:pPr marL="300990" indent="-237490">
              <a:lnSpc>
                <a:spcPct val="100000"/>
              </a:lnSpc>
              <a:spcBef>
                <a:spcPts val="455"/>
              </a:spcBef>
              <a:buChar char="•"/>
              <a:tabLst>
                <a:tab pos="300990" algn="l"/>
              </a:tabLst>
            </a:pPr>
            <a:r>
              <a:rPr sz="1300" dirty="0">
                <a:latin typeface="Arial MT"/>
                <a:cs typeface="Arial MT"/>
              </a:rPr>
              <a:t>Antioxidant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(Prcvcnts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spc="-45" dirty="0">
                <a:latin typeface="Arial MT"/>
                <a:cs typeface="Arial MT"/>
              </a:rPr>
              <a:t>the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formation </a:t>
            </a:r>
            <a:r>
              <a:rPr sz="1300" dirty="0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sz="1300" spc="1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axidativc</a:t>
            </a:r>
            <a:r>
              <a:rPr sz="1300" spc="65" dirty="0">
                <a:latin typeface="Arial MT"/>
                <a:cs typeface="Arial MT"/>
              </a:rPr>
              <a:t> </a:t>
            </a:r>
            <a:r>
              <a:rPr sz="1300" spc="-55" dirty="0">
                <a:latin typeface="Arial MT"/>
                <a:cs typeface="Arial MT"/>
              </a:rPr>
              <a:t>free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mdical)</a:t>
            </a:r>
            <a:endParaRPr sz="1300">
              <a:latin typeface="Arial MT"/>
              <a:cs typeface="Arial MT"/>
            </a:endParaRPr>
          </a:p>
          <a:p>
            <a:pPr marL="292100" indent="-228600">
              <a:lnSpc>
                <a:spcPct val="100000"/>
              </a:lnSpc>
              <a:spcBef>
                <a:spcPts val="465"/>
              </a:spcBef>
              <a:buChar char="•"/>
              <a:tabLst>
                <a:tab pos="292100" algn="l"/>
              </a:tabLst>
            </a:pPr>
            <a:r>
              <a:rPr sz="1300" dirty="0">
                <a:latin typeface="Arial MT"/>
                <a:cs typeface="Arial MT"/>
              </a:rPr>
              <a:t>Co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factor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clcctron</a:t>
            </a:r>
            <a:r>
              <a:rPr sz="1300" spc="70" dirty="0">
                <a:latin typeface="Arial MT"/>
                <a:cs typeface="Arial MT"/>
              </a:rPr>
              <a:t> </a:t>
            </a:r>
            <a:r>
              <a:rPr sz="1300" spc="-70" dirty="0">
                <a:latin typeface="Arial MT"/>
                <a:cs typeface="Arial MT"/>
              </a:rPr>
              <a:t>transpo</a:t>
            </a:r>
            <a:r>
              <a:rPr sz="1300" spc="-7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  <a:p>
            <a:pPr marL="299085" indent="-234950">
              <a:lnSpc>
                <a:spcPct val="100000"/>
              </a:lnSpc>
              <a:spcBef>
                <a:spcPts val="540"/>
              </a:spcBef>
              <a:buChar char="•"/>
              <a:tabLst>
                <a:tab pos="299085" algn="l"/>
              </a:tabLst>
            </a:pPr>
            <a:r>
              <a:rPr sz="1150" dirty="0">
                <a:latin typeface="Arial MT"/>
                <a:cs typeface="Arial MT"/>
              </a:rPr>
              <a:t>Prevents</a:t>
            </a:r>
            <a:r>
              <a:rPr sz="1150" spc="18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ur</a:t>
            </a:r>
            <a:r>
              <a:rPr sz="1150" spc="28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dcluys</a:t>
            </a:r>
            <a:r>
              <a:rPr sz="1150" spc="235" dirty="0">
                <a:latin typeface="Arial MT"/>
                <a:cs typeface="Arial MT"/>
              </a:rPr>
              <a:t> </a:t>
            </a:r>
            <a:r>
              <a:rPr sz="1150" spc="50" dirty="0">
                <a:latin typeface="Arial MT"/>
                <a:cs typeface="Arial MT"/>
              </a:rPr>
              <a:t>tile</a:t>
            </a:r>
            <a:r>
              <a:rPr sz="1150" spc="60" dirty="0">
                <a:latin typeface="Arial MT"/>
                <a:cs typeface="Arial MT"/>
              </a:rPr>
              <a:t> </a:t>
            </a:r>
            <a:r>
              <a:rPr sz="1150" spc="45" dirty="0">
                <a:latin typeface="Arial MT"/>
                <a:cs typeface="Arial MT"/>
              </a:rPr>
              <a:t>ageing.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607" y="306733"/>
            <a:ext cx="3070290" cy="254309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40" dirty="0"/>
              <a:t>Fat</a:t>
            </a:r>
            <a:r>
              <a:rPr spc="-3" dirty="0"/>
              <a:t> </a:t>
            </a:r>
            <a:r>
              <a:rPr spc="-7" dirty="0"/>
              <a:t>Soluble</a:t>
            </a:r>
            <a:r>
              <a:rPr spc="10" dirty="0"/>
              <a:t> </a:t>
            </a:r>
            <a:r>
              <a:rPr spc="-10" dirty="0"/>
              <a:t>Vitamins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05" y="1067076"/>
            <a:ext cx="4525969" cy="2146494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235661" marR="3373" indent="-227651">
              <a:spcBef>
                <a:spcPts val="63"/>
              </a:spcBef>
              <a:buFont typeface="Arial MT"/>
              <a:buChar char="•"/>
              <a:tabLst>
                <a:tab pos="235661" algn="l"/>
                <a:tab pos="236083" algn="l"/>
              </a:tabLst>
            </a:pPr>
            <a:r>
              <a:rPr sz="2124" spc="-7" dirty="0">
                <a:latin typeface="Calibri"/>
                <a:cs typeface="Calibri"/>
              </a:rPr>
              <a:t>Vitamin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E –</a:t>
            </a:r>
            <a:r>
              <a:rPr sz="2124" spc="3" dirty="0">
                <a:latin typeface="Calibri"/>
                <a:cs typeface="Calibri"/>
              </a:rPr>
              <a:t> </a:t>
            </a:r>
            <a:r>
              <a:rPr sz="2124" spc="-10" dirty="0">
                <a:latin typeface="Calibri"/>
                <a:cs typeface="Calibri"/>
              </a:rPr>
              <a:t>tocopherol,</a:t>
            </a:r>
            <a:r>
              <a:rPr sz="2124" spc="13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*alpha‐,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13" dirty="0">
                <a:latin typeface="Calibri"/>
                <a:cs typeface="Calibri"/>
              </a:rPr>
              <a:t>beta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‐, </a:t>
            </a:r>
            <a:r>
              <a:rPr sz="2124" spc="-471" dirty="0">
                <a:latin typeface="Calibri"/>
                <a:cs typeface="Calibri"/>
              </a:rPr>
              <a:t> </a:t>
            </a:r>
            <a:r>
              <a:rPr sz="2124" spc="-10" dirty="0">
                <a:latin typeface="Calibri"/>
                <a:cs typeface="Calibri"/>
              </a:rPr>
              <a:t>gamma‐,</a:t>
            </a:r>
            <a:r>
              <a:rPr sz="2124" spc="10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and</a:t>
            </a:r>
            <a:r>
              <a:rPr sz="2124" spc="13" dirty="0">
                <a:latin typeface="Calibri"/>
                <a:cs typeface="Calibri"/>
              </a:rPr>
              <a:t> </a:t>
            </a:r>
            <a:r>
              <a:rPr sz="2124" spc="-10" dirty="0">
                <a:latin typeface="Calibri"/>
                <a:cs typeface="Calibri"/>
              </a:rPr>
              <a:t>delta‐</a:t>
            </a:r>
            <a:endParaRPr sz="2124">
              <a:latin typeface="Calibri"/>
              <a:cs typeface="Calibri"/>
            </a:endParaRPr>
          </a:p>
          <a:p>
            <a:pPr marL="501676" lvl="1" indent="-189709">
              <a:spcBef>
                <a:spcPts val="465"/>
              </a:spcBef>
              <a:buFont typeface="Arial MT"/>
              <a:buChar char="–"/>
              <a:tabLst>
                <a:tab pos="501676" algn="l"/>
              </a:tabLst>
            </a:pPr>
            <a:r>
              <a:rPr sz="1859" spc="-10" dirty="0">
                <a:latin typeface="Calibri"/>
                <a:cs typeface="Calibri"/>
              </a:rPr>
              <a:t>Roles:</a:t>
            </a:r>
            <a:endParaRPr sz="1859">
              <a:latin typeface="Calibri"/>
              <a:cs typeface="Calibri"/>
            </a:endParaRPr>
          </a:p>
          <a:p>
            <a:pPr marL="767269" lvl="2" indent="-151768">
              <a:spcBef>
                <a:spcPts val="398"/>
              </a:spcBef>
              <a:buFont typeface="Arial MT"/>
              <a:buChar char="•"/>
              <a:tabLst>
                <a:tab pos="767269" algn="l"/>
              </a:tabLst>
            </a:pPr>
            <a:r>
              <a:rPr sz="1593" spc="-10" dirty="0">
                <a:latin typeface="Calibri"/>
                <a:cs typeface="Calibri"/>
              </a:rPr>
              <a:t>Antioxidant</a:t>
            </a:r>
            <a:r>
              <a:rPr sz="1593" spc="-7" dirty="0">
                <a:latin typeface="Calibri"/>
                <a:cs typeface="Calibri"/>
              </a:rPr>
              <a:t> (protects</a:t>
            </a:r>
            <a:r>
              <a:rPr sz="1593" spc="-10" dirty="0">
                <a:latin typeface="Calibri"/>
                <a:cs typeface="Calibri"/>
              </a:rPr>
              <a:t> polyunsaturated</a:t>
            </a:r>
            <a:r>
              <a:rPr sz="1593" spc="3" dirty="0">
                <a:latin typeface="Calibri"/>
                <a:cs typeface="Calibri"/>
              </a:rPr>
              <a:t> </a:t>
            </a:r>
            <a:r>
              <a:rPr sz="1593" spc="-13" dirty="0">
                <a:latin typeface="Calibri"/>
                <a:cs typeface="Calibri"/>
              </a:rPr>
              <a:t>fats)</a:t>
            </a:r>
            <a:endParaRPr sz="1593">
              <a:latin typeface="Calibri"/>
              <a:cs typeface="Calibri"/>
            </a:endParaRPr>
          </a:p>
          <a:p>
            <a:pPr marL="767269" marR="172846" lvl="2" indent="-152189">
              <a:spcBef>
                <a:spcPts val="382"/>
              </a:spcBef>
              <a:buFont typeface="Arial MT"/>
              <a:buChar char="•"/>
              <a:tabLst>
                <a:tab pos="767269" algn="l"/>
              </a:tabLst>
            </a:pPr>
            <a:r>
              <a:rPr sz="1593" spc="-7" dirty="0">
                <a:latin typeface="Calibri"/>
                <a:cs typeface="Calibri"/>
              </a:rPr>
              <a:t>Prevention </a:t>
            </a:r>
            <a:r>
              <a:rPr sz="1593" spc="-3" dirty="0">
                <a:latin typeface="Calibri"/>
                <a:cs typeface="Calibri"/>
              </a:rPr>
              <a:t>of damage </a:t>
            </a:r>
            <a:r>
              <a:rPr sz="1593" spc="-10" dirty="0">
                <a:latin typeface="Calibri"/>
                <a:cs typeface="Calibri"/>
              </a:rPr>
              <a:t>to </a:t>
            </a:r>
            <a:r>
              <a:rPr sz="1593" spc="-3" dirty="0">
                <a:latin typeface="Calibri"/>
                <a:cs typeface="Calibri"/>
              </a:rPr>
              <a:t>lungs, RBCs, </a:t>
            </a:r>
            <a:r>
              <a:rPr sz="1593" dirty="0">
                <a:latin typeface="Calibri"/>
                <a:cs typeface="Calibri"/>
              </a:rPr>
              <a:t>WBCs </a:t>
            </a:r>
            <a:r>
              <a:rPr sz="1593" spc="-355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(immunity),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heart</a:t>
            </a:r>
            <a:endParaRPr sz="1593">
              <a:latin typeface="Calibri"/>
              <a:cs typeface="Calibri"/>
            </a:endParaRPr>
          </a:p>
          <a:p>
            <a:pPr marL="767269" lvl="2" indent="-152189">
              <a:spcBef>
                <a:spcPts val="382"/>
              </a:spcBef>
              <a:buFont typeface="Arial MT"/>
              <a:buChar char="•"/>
              <a:tabLst>
                <a:tab pos="767691" algn="l"/>
              </a:tabLst>
            </a:pPr>
            <a:r>
              <a:rPr sz="1593" dirty="0">
                <a:latin typeface="Calibri"/>
                <a:cs typeface="Calibri"/>
              </a:rPr>
              <a:t>Necessary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spc="-13" dirty="0">
                <a:latin typeface="Calibri"/>
                <a:cs typeface="Calibri"/>
              </a:rPr>
              <a:t>for</a:t>
            </a:r>
            <a:r>
              <a:rPr sz="1593" spc="-1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normal</a:t>
            </a:r>
            <a:r>
              <a:rPr sz="1593" spc="-2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nerve</a:t>
            </a:r>
            <a:r>
              <a:rPr sz="1593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development</a:t>
            </a:r>
            <a:endParaRPr sz="159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065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607" y="306733"/>
            <a:ext cx="3070290" cy="254309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40" dirty="0"/>
              <a:t>Fat</a:t>
            </a:r>
            <a:r>
              <a:rPr spc="-3" dirty="0"/>
              <a:t> </a:t>
            </a:r>
            <a:r>
              <a:rPr spc="-7" dirty="0"/>
              <a:t>Soluble</a:t>
            </a:r>
            <a:r>
              <a:rPr spc="10" dirty="0"/>
              <a:t> </a:t>
            </a:r>
            <a:r>
              <a:rPr spc="-10" dirty="0"/>
              <a:t>Vitamins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05" y="999870"/>
            <a:ext cx="5216922" cy="2511222"/>
          </a:xfrm>
          <a:prstGeom prst="rect">
            <a:avLst/>
          </a:prstGeom>
        </p:spPr>
        <p:txBody>
          <a:bodyPr vert="horz" wrap="square" lIns="0" tIns="75460" rIns="0" bIns="0" rtlCol="0">
            <a:spAutoFit/>
          </a:bodyPr>
          <a:lstStyle/>
          <a:p>
            <a:pPr marL="235661" indent="-227651">
              <a:spcBef>
                <a:spcPts val="594"/>
              </a:spcBef>
              <a:buFont typeface="Arial MT"/>
              <a:buChar char="•"/>
              <a:tabLst>
                <a:tab pos="235661" algn="l"/>
                <a:tab pos="236083" algn="l"/>
              </a:tabLst>
            </a:pPr>
            <a:r>
              <a:rPr sz="2124" spc="-7" dirty="0">
                <a:latin typeface="Calibri"/>
                <a:cs typeface="Calibri"/>
              </a:rPr>
              <a:t>Vitamin</a:t>
            </a:r>
            <a:r>
              <a:rPr sz="2124" spc="-10" dirty="0">
                <a:latin typeface="Calibri"/>
                <a:cs typeface="Calibri"/>
              </a:rPr>
              <a:t> </a:t>
            </a:r>
            <a:r>
              <a:rPr sz="2124" spc="-3" dirty="0">
                <a:latin typeface="Calibri"/>
                <a:cs typeface="Calibri"/>
              </a:rPr>
              <a:t>E</a:t>
            </a:r>
            <a:endParaRPr sz="2124">
              <a:latin typeface="Calibri"/>
              <a:cs typeface="Calibri"/>
            </a:endParaRPr>
          </a:p>
          <a:p>
            <a:pPr marL="501676" marR="170317" lvl="1" indent="-190131">
              <a:spcBef>
                <a:spcPts val="465"/>
              </a:spcBef>
              <a:buFont typeface="Arial MT"/>
              <a:buChar char="–"/>
              <a:tabLst>
                <a:tab pos="501676" algn="l"/>
              </a:tabLst>
            </a:pPr>
            <a:r>
              <a:rPr sz="1859" spc="-7" dirty="0">
                <a:latin typeface="Calibri"/>
                <a:cs typeface="Calibri"/>
              </a:rPr>
              <a:t>Deficiencies</a:t>
            </a:r>
            <a:r>
              <a:rPr sz="1859" spc="-3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(decreased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absorption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of</a:t>
            </a:r>
            <a:r>
              <a:rPr sz="1859" spc="7" dirty="0">
                <a:latin typeface="Calibri"/>
                <a:cs typeface="Calibri"/>
              </a:rPr>
              <a:t> </a:t>
            </a:r>
            <a:r>
              <a:rPr sz="1859" spc="-13" dirty="0">
                <a:latin typeface="Calibri"/>
                <a:cs typeface="Calibri"/>
              </a:rPr>
              <a:t>fats‐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liver </a:t>
            </a:r>
            <a:r>
              <a:rPr sz="1859" spc="-408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disease,</a:t>
            </a:r>
            <a:r>
              <a:rPr sz="1859" spc="-7" dirty="0">
                <a:latin typeface="Calibri"/>
                <a:cs typeface="Calibri"/>
              </a:rPr>
              <a:t> low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20" dirty="0">
                <a:latin typeface="Calibri"/>
                <a:cs typeface="Calibri"/>
              </a:rPr>
              <a:t>fat</a:t>
            </a:r>
            <a:r>
              <a:rPr sz="1859" spc="-7" dirty="0">
                <a:latin typeface="Calibri"/>
                <a:cs typeface="Calibri"/>
              </a:rPr>
              <a:t> diets)</a:t>
            </a:r>
            <a:endParaRPr sz="1859">
              <a:latin typeface="Calibri"/>
              <a:cs typeface="Calibri"/>
            </a:endParaRPr>
          </a:p>
          <a:p>
            <a:pPr marL="767269" lvl="2" indent="-151768">
              <a:spcBef>
                <a:spcPts val="395"/>
              </a:spcBef>
              <a:buFont typeface="Arial MT"/>
              <a:buChar char="•"/>
              <a:tabLst>
                <a:tab pos="767269" algn="l"/>
              </a:tabLst>
            </a:pPr>
            <a:r>
              <a:rPr sz="1593" spc="-7" dirty="0">
                <a:latin typeface="Calibri"/>
                <a:cs typeface="Calibri"/>
              </a:rPr>
              <a:t>Premature</a:t>
            </a:r>
            <a:r>
              <a:rPr sz="1593" spc="-2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babies</a:t>
            </a:r>
            <a:r>
              <a:rPr sz="1593" dirty="0">
                <a:latin typeface="Calibri"/>
                <a:cs typeface="Calibri"/>
              </a:rPr>
              <a:t> –</a:t>
            </a:r>
            <a:r>
              <a:rPr sz="1593" spc="-3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fragile</a:t>
            </a:r>
            <a:r>
              <a:rPr sz="1593" spc="-1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RBCs</a:t>
            </a:r>
            <a:r>
              <a:rPr sz="1593" spc="-20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(hemolysis)</a:t>
            </a:r>
            <a:endParaRPr sz="1593">
              <a:latin typeface="Calibri"/>
              <a:cs typeface="Calibri"/>
            </a:endParaRPr>
          </a:p>
          <a:p>
            <a:pPr marL="766848" lvl="2" indent="-152189">
              <a:spcBef>
                <a:spcPts val="385"/>
              </a:spcBef>
              <a:buFont typeface="Arial MT"/>
              <a:buChar char="•"/>
              <a:tabLst>
                <a:tab pos="767269" algn="l"/>
              </a:tabLst>
            </a:pPr>
            <a:r>
              <a:rPr sz="1593" spc="-3" dirty="0">
                <a:latin typeface="Calibri"/>
                <a:cs typeface="Calibri"/>
              </a:rPr>
              <a:t>Loss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of</a:t>
            </a:r>
            <a:r>
              <a:rPr sz="1593" spc="-10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muscle</a:t>
            </a:r>
            <a:r>
              <a:rPr sz="1593" spc="-13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coordination,</a:t>
            </a:r>
            <a:r>
              <a:rPr sz="1593" spc="-13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vision,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immune</a:t>
            </a:r>
            <a:r>
              <a:rPr sz="1593" spc="-1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functions</a:t>
            </a:r>
            <a:endParaRPr sz="1593">
              <a:latin typeface="Calibri"/>
              <a:cs typeface="Calibri"/>
            </a:endParaRPr>
          </a:p>
          <a:p>
            <a:pPr marL="501676" lvl="1" indent="-189709">
              <a:spcBef>
                <a:spcPts val="432"/>
              </a:spcBef>
              <a:buFont typeface="Arial MT"/>
              <a:buChar char="–"/>
              <a:tabLst>
                <a:tab pos="501676" algn="l"/>
              </a:tabLst>
            </a:pPr>
            <a:r>
              <a:rPr sz="1859" spc="-23" dirty="0">
                <a:latin typeface="Calibri"/>
                <a:cs typeface="Calibri"/>
              </a:rPr>
              <a:t>Toxicities</a:t>
            </a:r>
            <a:r>
              <a:rPr sz="1859" spc="-10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(more</a:t>
            </a:r>
            <a:r>
              <a:rPr sz="1859" spc="-10" dirty="0">
                <a:latin typeface="Calibri"/>
                <a:cs typeface="Calibri"/>
              </a:rPr>
              <a:t> </a:t>
            </a:r>
            <a:r>
              <a:rPr sz="1859" spc="-3" dirty="0">
                <a:latin typeface="Calibri"/>
                <a:cs typeface="Calibri"/>
              </a:rPr>
              <a:t>than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dirty="0">
                <a:latin typeface="Calibri"/>
                <a:cs typeface="Calibri"/>
              </a:rPr>
              <a:t>1000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milligrams/day)</a:t>
            </a:r>
            <a:endParaRPr sz="1859">
              <a:latin typeface="Calibri"/>
              <a:cs typeface="Calibri"/>
            </a:endParaRPr>
          </a:p>
          <a:p>
            <a:pPr marL="767269" marR="308172" lvl="2" indent="-152189">
              <a:spcBef>
                <a:spcPts val="395"/>
              </a:spcBef>
              <a:buFont typeface="Arial MT"/>
              <a:buChar char="•"/>
              <a:tabLst>
                <a:tab pos="767269" algn="l"/>
              </a:tabLst>
            </a:pPr>
            <a:r>
              <a:rPr sz="1593" spc="-7" dirty="0">
                <a:latin typeface="Calibri"/>
                <a:cs typeface="Calibri"/>
              </a:rPr>
              <a:t>Increases</a:t>
            </a:r>
            <a:r>
              <a:rPr sz="1593" spc="-3" dirty="0">
                <a:latin typeface="Calibri"/>
                <a:cs typeface="Calibri"/>
              </a:rPr>
              <a:t> the</a:t>
            </a:r>
            <a:r>
              <a:rPr sz="1593" spc="3" dirty="0">
                <a:latin typeface="Calibri"/>
                <a:cs typeface="Calibri"/>
              </a:rPr>
              <a:t> </a:t>
            </a:r>
            <a:r>
              <a:rPr sz="1593" spc="-13" dirty="0">
                <a:latin typeface="Calibri"/>
                <a:cs typeface="Calibri"/>
              </a:rPr>
              <a:t>effects</a:t>
            </a:r>
            <a:r>
              <a:rPr sz="1593" spc="1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of</a:t>
            </a:r>
            <a:r>
              <a:rPr sz="1593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anticoagulants</a:t>
            </a:r>
            <a:r>
              <a:rPr sz="1593" spc="-10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(Coumadin, </a:t>
            </a:r>
            <a:r>
              <a:rPr sz="1593" spc="-349" dirty="0">
                <a:latin typeface="Calibri"/>
                <a:cs typeface="Calibri"/>
              </a:rPr>
              <a:t> </a:t>
            </a:r>
            <a:r>
              <a:rPr sz="1593" spc="-13" dirty="0">
                <a:latin typeface="Calibri"/>
                <a:cs typeface="Calibri"/>
              </a:rPr>
              <a:t>Warfarin)</a:t>
            </a:r>
            <a:endParaRPr sz="159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324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89" y="633872"/>
            <a:ext cx="5951717" cy="32370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13472" y="4314848"/>
            <a:ext cx="959914" cy="141307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863" b="1" dirty="0">
                <a:latin typeface="Times New Roman"/>
                <a:cs typeface="Times New Roman"/>
              </a:rPr>
              <a:t>Snapshot</a:t>
            </a:r>
            <a:r>
              <a:rPr sz="863" b="1" spc="-3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7-3,</a:t>
            </a:r>
            <a:r>
              <a:rPr sz="863" b="1" spc="-17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p,</a:t>
            </a:r>
            <a:r>
              <a:rPr sz="863" b="1" spc="-17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226</a:t>
            </a:r>
            <a:endParaRPr sz="86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439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5675" y="2314575"/>
            <a:ext cx="2476500" cy="2143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9666" y="-14287"/>
            <a:ext cx="10795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imes New Roman"/>
                <a:cs typeface="Times New Roman"/>
              </a:rPr>
              <a:t>Vitamin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11607" y="322262"/>
            <a:ext cx="6064250" cy="281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indent="-244475">
              <a:lnSpc>
                <a:spcPts val="2065"/>
              </a:lnSpc>
              <a:spcBef>
                <a:spcPts val="100"/>
              </a:spcBef>
              <a:buChar char="•"/>
              <a:tabLst>
                <a:tab pos="310515" algn="l"/>
              </a:tabLst>
            </a:pPr>
            <a:r>
              <a:rPr sz="1750" spc="-80" dirty="0">
                <a:latin typeface="Times New Roman"/>
                <a:cs typeface="Times New Roman"/>
              </a:rPr>
              <a:t>It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is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65" dirty="0">
                <a:latin typeface="Times New Roman"/>
                <a:cs typeface="Times New Roman"/>
              </a:rPr>
              <a:t>called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95" dirty="0">
                <a:latin typeface="Times New Roman"/>
                <a:cs typeface="Times New Roman"/>
              </a:rPr>
              <a:t>as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Antihemorrhagic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75" dirty="0">
                <a:latin typeface="Times New Roman"/>
                <a:cs typeface="Times New Roman"/>
              </a:rPr>
              <a:t>vitamin.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spc="-80" dirty="0">
                <a:latin typeface="Times New Roman"/>
                <a:cs typeface="Times New Roman"/>
              </a:rPr>
              <a:t>It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is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spc="-90" dirty="0">
                <a:latin typeface="Times New Roman"/>
                <a:cs typeface="Times New Roman"/>
              </a:rPr>
              <a:t>required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for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5" dirty="0">
                <a:latin typeface="Times New Roman"/>
                <a:cs typeface="Times New Roman"/>
              </a:rPr>
              <a:t>the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ftomation</a:t>
            </a:r>
            <a:endParaRPr sz="1750">
              <a:latin typeface="Times New Roman"/>
              <a:cs typeface="Times New Roman"/>
            </a:endParaRPr>
          </a:p>
          <a:p>
            <a:pPr marL="299720">
              <a:lnSpc>
                <a:spcPts val="1880"/>
              </a:lnSpc>
            </a:pP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Prothrombin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liver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A0A0A"/>
                </a:solidFill>
                <a:latin typeface="Times New Roman"/>
                <a:cs typeface="Times New Roman"/>
              </a:rPr>
              <a:t>2"</a:t>
            </a:r>
            <a:r>
              <a:rPr sz="1725" baseline="21739" dirty="0">
                <a:solidFill>
                  <a:srgbClr val="0A0A0A"/>
                </a:solidFill>
                <a:latin typeface="Times New Roman"/>
                <a:cs typeface="Times New Roman"/>
              </a:rPr>
              <a:t>d</a:t>
            </a:r>
            <a:r>
              <a:rPr sz="1725" spc="7" baseline="21739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factor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600" spc="-1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coagulation.</a:t>
            </a:r>
            <a:endParaRPr sz="1600">
              <a:latin typeface="Times New Roman"/>
              <a:cs typeface="Times New Roman"/>
            </a:endParaRPr>
          </a:p>
          <a:p>
            <a:pPr marL="294640" marR="55880" indent="-231775">
              <a:lnSpc>
                <a:spcPct val="100000"/>
              </a:lnSpc>
              <a:spcBef>
                <a:spcPts val="405"/>
              </a:spcBef>
              <a:buClr>
                <a:srgbClr val="0C0C0C"/>
              </a:buClr>
              <a:buChar char="•"/>
              <a:tabLst>
                <a:tab pos="302895" algn="l"/>
              </a:tabLst>
            </a:pPr>
            <a:r>
              <a:rPr sz="1600" dirty="0">
                <a:latin typeface="Cambria"/>
                <a:cs typeface="Cambria"/>
              </a:rPr>
              <a:t>Due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5" dirty="0">
                <a:latin typeface="Cambria"/>
                <a:cs typeface="Cambria"/>
              </a:rPr>
              <a:t>to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deficiency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of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Vit.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100" dirty="0">
                <a:latin typeface="Cambria"/>
                <a:cs typeface="Cambria"/>
              </a:rPr>
              <a:t>the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prothronibin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70" dirty="0">
                <a:latin typeface="Cambria"/>
                <a:cs typeface="Cambria"/>
              </a:rPr>
              <a:t>content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blood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may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lead 	</a:t>
            </a:r>
            <a:r>
              <a:rPr sz="1600" spc="-30" dirty="0">
                <a:solidFill>
                  <a:srgbClr val="0A0A0A"/>
                </a:solidFill>
                <a:latin typeface="Cambria"/>
                <a:cs typeface="Cambria"/>
              </a:rPr>
              <a:t>to</a:t>
            </a:r>
            <a:r>
              <a:rPr sz="1600" spc="-25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bleeding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disorder.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Times New Roman"/>
              <a:buChar char="•"/>
            </a:pPr>
            <a:endParaRPr sz="1600">
              <a:latin typeface="Cambria"/>
              <a:cs typeface="Cambria"/>
            </a:endParaRPr>
          </a:p>
          <a:p>
            <a:pPr marL="74295">
              <a:lnSpc>
                <a:spcPct val="100000"/>
              </a:lnSpc>
              <a:spcBef>
                <a:spcPts val="5"/>
              </a:spcBef>
            </a:pPr>
            <a:r>
              <a:rPr sz="1750" spc="-45" dirty="0">
                <a:latin typeface="Times New Roman"/>
                <a:cs typeface="Times New Roman"/>
              </a:rPr>
              <a:t>Daily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requirements</a:t>
            </a:r>
            <a:endParaRPr sz="1750">
              <a:latin typeface="Times New Roman"/>
              <a:cs typeface="Times New Roman"/>
            </a:endParaRPr>
          </a:p>
          <a:p>
            <a:pPr marL="303530" indent="-236854">
              <a:lnSpc>
                <a:spcPct val="100000"/>
              </a:lnSpc>
              <a:spcBef>
                <a:spcPts val="300"/>
              </a:spcBef>
              <a:buChar char="•"/>
              <a:tabLst>
                <a:tab pos="303530" algn="l"/>
              </a:tabLst>
            </a:pPr>
            <a:r>
              <a:rPr sz="1600" dirty="0">
                <a:latin typeface="Times New Roman"/>
                <a:cs typeface="Times New Roman"/>
              </a:rPr>
              <a:t>WHO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suggested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RDA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A0A0A"/>
                </a:solidFill>
                <a:latin typeface="Times New Roman"/>
                <a:cs typeface="Times New Roman"/>
              </a:rPr>
              <a:t>of</a:t>
            </a:r>
            <a:r>
              <a:rPr sz="1600" spc="-55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55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adults.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Font typeface="Times New Roman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latin typeface="Cambria"/>
                <a:cs typeface="Cambria"/>
              </a:rPr>
              <a:t>S0UfiC8S</a:t>
            </a:r>
            <a:endParaRPr sz="1300">
              <a:latin typeface="Cambria"/>
              <a:cs typeface="Cambria"/>
            </a:endParaRPr>
          </a:p>
          <a:p>
            <a:pPr marL="299085" indent="-232410">
              <a:lnSpc>
                <a:spcPct val="100000"/>
              </a:lnSpc>
              <a:spcBef>
                <a:spcPts val="390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Green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leafy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vegetables,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cereals,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fruits.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607" y="306733"/>
            <a:ext cx="3070290" cy="254309"/>
          </a:xfrm>
          <a:prstGeom prst="rect">
            <a:avLst/>
          </a:prstGeom>
        </p:spPr>
        <p:txBody>
          <a:bodyPr vert="horz" wrap="square" lIns="0" tIns="8010" rIns="0" bIns="0" rtlCol="0">
            <a:spAutoFit/>
          </a:bodyPr>
          <a:lstStyle/>
          <a:p>
            <a:pPr marL="8432">
              <a:spcBef>
                <a:spcPts val="63"/>
              </a:spcBef>
            </a:pPr>
            <a:r>
              <a:rPr spc="-40" dirty="0"/>
              <a:t>Fat</a:t>
            </a:r>
            <a:r>
              <a:rPr spc="-3" dirty="0"/>
              <a:t> </a:t>
            </a:r>
            <a:r>
              <a:rPr spc="-7" dirty="0"/>
              <a:t>Soluble</a:t>
            </a:r>
            <a:r>
              <a:rPr spc="10" dirty="0"/>
              <a:t> </a:t>
            </a:r>
            <a:r>
              <a:rPr spc="-10" dirty="0"/>
              <a:t>Vitamins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05" y="1010275"/>
            <a:ext cx="5138510" cy="2423755"/>
          </a:xfrm>
          <a:prstGeom prst="rect">
            <a:avLst/>
          </a:prstGeom>
        </p:spPr>
        <p:txBody>
          <a:bodyPr vert="horz" wrap="square" lIns="0" tIns="67451" rIns="0" bIns="0" rtlCol="0">
            <a:spAutoFit/>
          </a:bodyPr>
          <a:lstStyle/>
          <a:p>
            <a:pPr marL="236083" indent="-228073">
              <a:spcBef>
                <a:spcPts val="531"/>
              </a:spcBef>
              <a:buFont typeface="Arial MT"/>
              <a:buChar char="•"/>
              <a:tabLst>
                <a:tab pos="236083" algn="l"/>
                <a:tab pos="236504" algn="l"/>
              </a:tabLst>
            </a:pPr>
            <a:r>
              <a:rPr sz="1859" spc="-7" dirty="0">
                <a:latin typeface="Calibri"/>
                <a:cs typeface="Calibri"/>
              </a:rPr>
              <a:t>Vitamin</a:t>
            </a:r>
            <a:r>
              <a:rPr sz="1859" spc="-10" dirty="0">
                <a:latin typeface="Calibri"/>
                <a:cs typeface="Calibri"/>
              </a:rPr>
              <a:t> </a:t>
            </a:r>
            <a:r>
              <a:rPr sz="1859" dirty="0">
                <a:latin typeface="Calibri"/>
                <a:cs typeface="Calibri"/>
              </a:rPr>
              <a:t>K</a:t>
            </a:r>
            <a:r>
              <a:rPr sz="1859" spc="-3" dirty="0">
                <a:latin typeface="Calibri"/>
                <a:cs typeface="Calibri"/>
              </a:rPr>
              <a:t> </a:t>
            </a:r>
            <a:r>
              <a:rPr sz="1859" dirty="0">
                <a:latin typeface="Calibri"/>
                <a:cs typeface="Calibri"/>
              </a:rPr>
              <a:t>–</a:t>
            </a:r>
            <a:r>
              <a:rPr sz="1859" spc="3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produced</a:t>
            </a:r>
            <a:r>
              <a:rPr sz="1859" spc="17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by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7" dirty="0">
                <a:latin typeface="Calibri"/>
                <a:cs typeface="Calibri"/>
              </a:rPr>
              <a:t>bacteria</a:t>
            </a:r>
            <a:r>
              <a:rPr sz="1859" spc="-3" dirty="0">
                <a:latin typeface="Calibri"/>
                <a:cs typeface="Calibri"/>
              </a:rPr>
              <a:t> in</a:t>
            </a:r>
            <a:r>
              <a:rPr sz="1859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large</a:t>
            </a:r>
            <a:r>
              <a:rPr sz="1859" spc="-20" dirty="0">
                <a:latin typeface="Calibri"/>
                <a:cs typeface="Calibri"/>
              </a:rPr>
              <a:t> </a:t>
            </a:r>
            <a:r>
              <a:rPr sz="1859" spc="-10" dirty="0">
                <a:latin typeface="Calibri"/>
                <a:cs typeface="Calibri"/>
              </a:rPr>
              <a:t>intestine</a:t>
            </a:r>
            <a:endParaRPr sz="1859">
              <a:latin typeface="Calibri"/>
              <a:cs typeface="Calibri"/>
            </a:endParaRPr>
          </a:p>
          <a:p>
            <a:pPr marL="501254" lvl="1" indent="-189709">
              <a:spcBef>
                <a:spcPts val="395"/>
              </a:spcBef>
              <a:buFont typeface="Arial MT"/>
              <a:buChar char="–"/>
              <a:tabLst>
                <a:tab pos="501676" algn="l"/>
              </a:tabLst>
            </a:pPr>
            <a:r>
              <a:rPr sz="1593" spc="-10" dirty="0">
                <a:latin typeface="Calibri"/>
                <a:cs typeface="Calibri"/>
              </a:rPr>
              <a:t>Roles</a:t>
            </a:r>
            <a:endParaRPr sz="1593">
              <a:latin typeface="Calibri"/>
              <a:cs typeface="Calibri"/>
            </a:endParaRPr>
          </a:p>
          <a:p>
            <a:pPr marL="766848" marR="3373" lvl="2" indent="-151768">
              <a:spcBef>
                <a:spcPts val="338"/>
              </a:spcBef>
              <a:buFont typeface="Arial MT"/>
              <a:buChar char="•"/>
              <a:tabLst>
                <a:tab pos="766848" algn="l"/>
                <a:tab pos="767691" algn="l"/>
              </a:tabLst>
            </a:pPr>
            <a:r>
              <a:rPr sz="1328" spc="-7" dirty="0">
                <a:latin typeface="Calibri"/>
                <a:cs typeface="Calibri"/>
              </a:rPr>
              <a:t>Promotes</a:t>
            </a:r>
            <a:r>
              <a:rPr sz="1328" spc="3" dirty="0">
                <a:latin typeface="Calibri"/>
                <a:cs typeface="Calibri"/>
              </a:rPr>
              <a:t> </a:t>
            </a:r>
            <a:r>
              <a:rPr sz="1328" spc="-7" dirty="0">
                <a:latin typeface="Calibri"/>
                <a:cs typeface="Calibri"/>
              </a:rPr>
              <a:t>synthesis</a:t>
            </a:r>
            <a:r>
              <a:rPr sz="1328" spc="13" dirty="0">
                <a:latin typeface="Calibri"/>
                <a:cs typeface="Calibri"/>
              </a:rPr>
              <a:t> </a:t>
            </a:r>
            <a:r>
              <a:rPr sz="1328" spc="-3" dirty="0">
                <a:latin typeface="Calibri"/>
                <a:cs typeface="Calibri"/>
              </a:rPr>
              <a:t>of</a:t>
            </a:r>
            <a:r>
              <a:rPr sz="1328" spc="-7" dirty="0">
                <a:latin typeface="Calibri"/>
                <a:cs typeface="Calibri"/>
              </a:rPr>
              <a:t> </a:t>
            </a:r>
            <a:r>
              <a:rPr sz="1328" spc="-3" dirty="0">
                <a:latin typeface="Calibri"/>
                <a:cs typeface="Calibri"/>
              </a:rPr>
              <a:t>blood</a:t>
            </a:r>
            <a:r>
              <a:rPr sz="1328" spc="-7" dirty="0">
                <a:latin typeface="Calibri"/>
                <a:cs typeface="Calibri"/>
              </a:rPr>
              <a:t> </a:t>
            </a:r>
            <a:r>
              <a:rPr sz="1328" spc="-3" dirty="0">
                <a:latin typeface="Calibri"/>
                <a:cs typeface="Calibri"/>
              </a:rPr>
              <a:t>clotting</a:t>
            </a:r>
            <a:r>
              <a:rPr sz="1328" spc="3" dirty="0">
                <a:latin typeface="Calibri"/>
                <a:cs typeface="Calibri"/>
              </a:rPr>
              <a:t> </a:t>
            </a:r>
            <a:r>
              <a:rPr sz="1328" spc="-7" dirty="0">
                <a:latin typeface="Calibri"/>
                <a:cs typeface="Calibri"/>
              </a:rPr>
              <a:t>proteins</a:t>
            </a:r>
            <a:r>
              <a:rPr sz="1328" spc="7" dirty="0">
                <a:latin typeface="Calibri"/>
                <a:cs typeface="Calibri"/>
              </a:rPr>
              <a:t> </a:t>
            </a:r>
            <a:r>
              <a:rPr sz="1328" spc="-7" dirty="0">
                <a:latin typeface="Calibri"/>
                <a:cs typeface="Calibri"/>
              </a:rPr>
              <a:t>(**Interferes</a:t>
            </a:r>
            <a:r>
              <a:rPr sz="1328" spc="10" dirty="0">
                <a:latin typeface="Calibri"/>
                <a:cs typeface="Calibri"/>
              </a:rPr>
              <a:t> </a:t>
            </a:r>
            <a:r>
              <a:rPr sz="1328" spc="-3" dirty="0">
                <a:latin typeface="Calibri"/>
                <a:cs typeface="Calibri"/>
              </a:rPr>
              <a:t>with </a:t>
            </a:r>
            <a:r>
              <a:rPr sz="1328" spc="-292" dirty="0">
                <a:latin typeface="Calibri"/>
                <a:cs typeface="Calibri"/>
              </a:rPr>
              <a:t> </a:t>
            </a:r>
            <a:r>
              <a:rPr sz="1328" spc="-3" dirty="0">
                <a:latin typeface="Calibri"/>
                <a:cs typeface="Calibri"/>
              </a:rPr>
              <a:t>Coumadin)</a:t>
            </a:r>
            <a:endParaRPr sz="1328">
              <a:latin typeface="Calibri"/>
              <a:cs typeface="Calibri"/>
            </a:endParaRPr>
          </a:p>
          <a:p>
            <a:pPr marL="766848" lvl="2" indent="-152189">
              <a:spcBef>
                <a:spcPts val="319"/>
              </a:spcBef>
              <a:buFont typeface="Arial MT"/>
              <a:buChar char="•"/>
              <a:tabLst>
                <a:tab pos="766848" algn="l"/>
                <a:tab pos="767269" algn="l"/>
              </a:tabLst>
            </a:pPr>
            <a:r>
              <a:rPr sz="1328" spc="-3" dirty="0">
                <a:latin typeface="Calibri"/>
                <a:cs typeface="Calibri"/>
              </a:rPr>
              <a:t>Bone</a:t>
            </a:r>
            <a:r>
              <a:rPr sz="1328" spc="-27" dirty="0">
                <a:latin typeface="Calibri"/>
                <a:cs typeface="Calibri"/>
              </a:rPr>
              <a:t> </a:t>
            </a:r>
            <a:r>
              <a:rPr sz="1328" spc="-7" dirty="0">
                <a:latin typeface="Calibri"/>
                <a:cs typeface="Calibri"/>
              </a:rPr>
              <a:t>formation</a:t>
            </a:r>
            <a:endParaRPr sz="1328">
              <a:latin typeface="Calibri"/>
              <a:cs typeface="Calibri"/>
            </a:endParaRPr>
          </a:p>
          <a:p>
            <a:pPr marL="501254" marR="22765" lvl="1" indent="-189709">
              <a:spcBef>
                <a:spcPts val="362"/>
              </a:spcBef>
              <a:buFont typeface="Arial MT"/>
              <a:buChar char="–"/>
              <a:tabLst>
                <a:tab pos="501676" algn="l"/>
              </a:tabLst>
            </a:pPr>
            <a:r>
              <a:rPr sz="1593" spc="-7" dirty="0">
                <a:latin typeface="Calibri"/>
                <a:cs typeface="Calibri"/>
              </a:rPr>
              <a:t>Deficiencies</a:t>
            </a:r>
            <a:r>
              <a:rPr sz="1593" spc="7" dirty="0">
                <a:latin typeface="Calibri"/>
                <a:cs typeface="Calibri"/>
              </a:rPr>
              <a:t> </a:t>
            </a:r>
            <a:r>
              <a:rPr sz="1593" spc="-10" dirty="0">
                <a:latin typeface="Calibri"/>
                <a:cs typeface="Calibri"/>
              </a:rPr>
              <a:t>are</a:t>
            </a:r>
            <a:r>
              <a:rPr sz="1593" dirty="0">
                <a:latin typeface="Calibri"/>
                <a:cs typeface="Calibri"/>
              </a:rPr>
              <a:t> </a:t>
            </a:r>
            <a:r>
              <a:rPr sz="1593" spc="-17" dirty="0">
                <a:latin typeface="Calibri"/>
                <a:cs typeface="Calibri"/>
              </a:rPr>
              <a:t>rare</a:t>
            </a:r>
            <a:r>
              <a:rPr sz="1593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but</a:t>
            </a:r>
            <a:r>
              <a:rPr sz="1593" spc="-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seen</a:t>
            </a:r>
            <a:r>
              <a:rPr sz="1593" spc="10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in</a:t>
            </a:r>
            <a:r>
              <a:rPr sz="1593" spc="-7" dirty="0">
                <a:latin typeface="Calibri"/>
                <a:cs typeface="Calibri"/>
              </a:rPr>
              <a:t> </a:t>
            </a:r>
            <a:r>
              <a:rPr sz="1593" spc="-10" dirty="0">
                <a:latin typeface="Calibri"/>
                <a:cs typeface="Calibri"/>
              </a:rPr>
              <a:t>infants,</a:t>
            </a:r>
            <a:r>
              <a:rPr sz="1593" spc="7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after prolonged </a:t>
            </a:r>
            <a:r>
              <a:rPr sz="1593" spc="-349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antibiotic </a:t>
            </a:r>
            <a:r>
              <a:rPr sz="1593" spc="-20" dirty="0">
                <a:latin typeface="Calibri"/>
                <a:cs typeface="Calibri"/>
              </a:rPr>
              <a:t>therapy, </a:t>
            </a:r>
            <a:r>
              <a:rPr sz="1593" dirty="0">
                <a:latin typeface="Calibri"/>
                <a:cs typeface="Calibri"/>
              </a:rPr>
              <a:t>and in </a:t>
            </a:r>
            <a:r>
              <a:rPr sz="1593" spc="-7" dirty="0">
                <a:latin typeface="Calibri"/>
                <a:cs typeface="Calibri"/>
              </a:rPr>
              <a:t>patients </a:t>
            </a:r>
            <a:r>
              <a:rPr sz="1593" dirty="0">
                <a:latin typeface="Calibri"/>
                <a:cs typeface="Calibri"/>
              </a:rPr>
              <a:t>with </a:t>
            </a:r>
            <a:r>
              <a:rPr sz="1593" spc="-7" dirty="0">
                <a:latin typeface="Calibri"/>
                <a:cs typeface="Calibri"/>
              </a:rPr>
              <a:t>decreased </a:t>
            </a:r>
            <a:r>
              <a:rPr sz="1593" spc="-3" dirty="0">
                <a:latin typeface="Calibri"/>
                <a:cs typeface="Calibri"/>
              </a:rPr>
              <a:t>bile </a:t>
            </a:r>
            <a:r>
              <a:rPr sz="1593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production.</a:t>
            </a:r>
            <a:endParaRPr sz="1593">
              <a:latin typeface="Calibri"/>
              <a:cs typeface="Calibri"/>
            </a:endParaRPr>
          </a:p>
          <a:p>
            <a:pPr marL="501676" lvl="1" indent="-190131">
              <a:spcBef>
                <a:spcPts val="385"/>
              </a:spcBef>
              <a:buFont typeface="Arial MT"/>
              <a:buChar char="–"/>
              <a:tabLst>
                <a:tab pos="502098" algn="l"/>
              </a:tabLst>
            </a:pPr>
            <a:r>
              <a:rPr sz="1593" spc="-20" dirty="0">
                <a:latin typeface="Calibri"/>
                <a:cs typeface="Calibri"/>
              </a:rPr>
              <a:t>Toxicities</a:t>
            </a:r>
            <a:r>
              <a:rPr sz="1593" spc="-7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(&gt;1000</a:t>
            </a:r>
            <a:r>
              <a:rPr sz="1593" spc="-20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mg/day):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spc="-7" dirty="0">
                <a:latin typeface="Calibri"/>
                <a:cs typeface="Calibri"/>
              </a:rPr>
              <a:t>rupture</a:t>
            </a:r>
            <a:r>
              <a:rPr sz="1593" spc="-3" dirty="0">
                <a:latin typeface="Calibri"/>
                <a:cs typeface="Calibri"/>
              </a:rPr>
              <a:t> of</a:t>
            </a:r>
            <a:r>
              <a:rPr sz="1593" spc="-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RBCs</a:t>
            </a:r>
            <a:r>
              <a:rPr sz="1593" spc="-17" dirty="0">
                <a:latin typeface="Calibri"/>
                <a:cs typeface="Calibri"/>
              </a:rPr>
              <a:t> </a:t>
            </a:r>
            <a:r>
              <a:rPr sz="1593" dirty="0">
                <a:latin typeface="Calibri"/>
                <a:cs typeface="Calibri"/>
              </a:rPr>
              <a:t>and</a:t>
            </a:r>
            <a:r>
              <a:rPr sz="1593" spc="-7" dirty="0">
                <a:latin typeface="Calibri"/>
                <a:cs typeface="Calibri"/>
              </a:rPr>
              <a:t> </a:t>
            </a:r>
            <a:r>
              <a:rPr sz="1593" spc="-3" dirty="0">
                <a:latin typeface="Calibri"/>
                <a:cs typeface="Calibri"/>
              </a:rPr>
              <a:t>jaundice</a:t>
            </a:r>
            <a:endParaRPr sz="159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02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89" y="440624"/>
            <a:ext cx="5951717" cy="36186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13472" y="4314848"/>
            <a:ext cx="959914" cy="141307"/>
          </a:xfrm>
          <a:prstGeom prst="rect">
            <a:avLst/>
          </a:prstGeom>
        </p:spPr>
        <p:txBody>
          <a:bodyPr vert="horz" wrap="square" lIns="0" tIns="8431" rIns="0" bIns="0" rtlCol="0">
            <a:spAutoFit/>
          </a:bodyPr>
          <a:lstStyle/>
          <a:p>
            <a:pPr marL="8432">
              <a:spcBef>
                <a:spcPts val="66"/>
              </a:spcBef>
            </a:pPr>
            <a:r>
              <a:rPr sz="863" b="1" dirty="0">
                <a:latin typeface="Times New Roman"/>
                <a:cs typeface="Times New Roman"/>
              </a:rPr>
              <a:t>Snapshot</a:t>
            </a:r>
            <a:r>
              <a:rPr sz="863" b="1" spc="-30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7-4,</a:t>
            </a:r>
            <a:r>
              <a:rPr sz="863" b="1" spc="-17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p,</a:t>
            </a:r>
            <a:r>
              <a:rPr sz="863" b="1" spc="-17" dirty="0">
                <a:latin typeface="Times New Roman"/>
                <a:cs typeface="Times New Roman"/>
              </a:rPr>
              <a:t> </a:t>
            </a:r>
            <a:r>
              <a:rPr sz="863" b="1" dirty="0">
                <a:latin typeface="Times New Roman"/>
                <a:cs typeface="Times New Roman"/>
              </a:rPr>
              <a:t>228</a:t>
            </a:r>
            <a:endParaRPr sz="86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684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488</Words>
  <Application>Microsoft Office PowerPoint</Application>
  <PresentationFormat>Custom</PresentationFormat>
  <Paragraphs>98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 MT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Definition and Classification</vt:lpstr>
      <vt:lpstr>What is the difference between fat‐soluble  and water‐soluble vitamins?</vt:lpstr>
      <vt:lpstr>PowerPoint Presentation</vt:lpstr>
      <vt:lpstr>PowerPoint Presentation</vt:lpstr>
      <vt:lpstr>PowerPoint Presentation</vt:lpstr>
      <vt:lpstr>Can be found In foods supplements, and exposure to sun</vt:lpstr>
      <vt:lpstr>PowerPoint Presentation</vt:lpstr>
      <vt:lpstr>PowerPoint Presentation</vt:lpstr>
      <vt:lpstr>PowerPoint Presentation</vt:lpstr>
      <vt:lpstr>Bone with osteoporosis</vt:lpstr>
      <vt:lpstr>Vitamin E</vt:lpstr>
      <vt:lpstr>Fat Soluble Vitamins</vt:lpstr>
      <vt:lpstr>PowerPoint Presentation</vt:lpstr>
      <vt:lpstr>Fat Soluble Vitamins</vt:lpstr>
      <vt:lpstr>PowerPoint Presentation</vt:lpstr>
      <vt:lpstr>Vitamin K</vt:lpstr>
      <vt:lpstr>Fat Soluble Vitamins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Dr.Aishwarya</dc:creator>
  <cp:lastModifiedBy>Microsoft account</cp:lastModifiedBy>
  <cp:revision>3</cp:revision>
  <dcterms:created xsi:type="dcterms:W3CDTF">2023-10-10T14:53:19Z</dcterms:created>
  <dcterms:modified xsi:type="dcterms:W3CDTF">2023-10-10T15:14:42Z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2023-10-10T00:00:00Z</vt:filetime>
  </property>
  <property fmtid="{D5CDD505-2E9C-101B-9397-08002B2CF9AE}" pid="3" name="LastSaved">
    <vt:filetime>2023-10-10T00:00:00Z</vt:filetime>
  </property>
</Properties>
</file>