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48"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2D86-DA25-4063-0122-0B012DDE38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BF8AC6-E736-F03A-95AF-4D03977DC2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4145BC-3F39-CAFB-4696-8C9A225F25F4}"/>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5" name="Footer Placeholder 4">
            <a:extLst>
              <a:ext uri="{FF2B5EF4-FFF2-40B4-BE49-F238E27FC236}">
                <a16:creationId xmlns:a16="http://schemas.microsoft.com/office/drawing/2014/main" id="{17513DF7-459C-107C-2C12-EC1614B97C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B432A7-9DD6-FE3C-87A0-7868BDEA3F28}"/>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3725131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1DEE-4D5C-B698-2DF3-B6E08799BE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DC7958-F48A-C538-8FD1-641B9CAD2D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39D007-1405-0081-249F-F551755062B7}"/>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5" name="Footer Placeholder 4">
            <a:extLst>
              <a:ext uri="{FF2B5EF4-FFF2-40B4-BE49-F238E27FC236}">
                <a16:creationId xmlns:a16="http://schemas.microsoft.com/office/drawing/2014/main" id="{76EBD8C7-31C9-DBD4-A702-9A901181B1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97C47-83D7-EC4F-1A2D-DA4E8CABDA56}"/>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67085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4D81-AC93-DE7C-0B19-394AA53A3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EBE238-0468-2499-BAFA-6E89A54BF5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8DB744-C5C3-D883-1065-27DD5CCE356B}"/>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5" name="Footer Placeholder 4">
            <a:extLst>
              <a:ext uri="{FF2B5EF4-FFF2-40B4-BE49-F238E27FC236}">
                <a16:creationId xmlns:a16="http://schemas.microsoft.com/office/drawing/2014/main" id="{ADB04821-1A88-B400-E1EB-AE00579B6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B492C-FF45-9C57-9823-CC8550C25A88}"/>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1237817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B6F6-8ED0-9F32-74EA-77CDC31F0D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B23C19-B784-810A-D713-0735C4C7A0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D0E4C3-1467-7FCD-0A0A-396E93810A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3CA9F5-7C94-DE5A-4C50-0B131DC5E81A}"/>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6" name="Footer Placeholder 5">
            <a:extLst>
              <a:ext uri="{FF2B5EF4-FFF2-40B4-BE49-F238E27FC236}">
                <a16:creationId xmlns:a16="http://schemas.microsoft.com/office/drawing/2014/main" id="{93383053-628F-1900-212F-E1D7580800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506C42-AA57-F785-7A00-0F22B74DF7D7}"/>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87134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A77D4-4417-1553-BA2E-81B39AC586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55C14E-E7DD-397C-7B2C-3F955261CB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E749B6-06F0-8A32-D977-30F96F7E2A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69EF52-AE12-32D1-7167-66DA789B73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ACF361-2BEF-BBDB-75FA-5C66B1B451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54FCCE-E073-6F8B-CA6D-EC29474569E5}"/>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8" name="Footer Placeholder 7">
            <a:extLst>
              <a:ext uri="{FF2B5EF4-FFF2-40B4-BE49-F238E27FC236}">
                <a16:creationId xmlns:a16="http://schemas.microsoft.com/office/drawing/2014/main" id="{3B090ACB-0D44-739D-8745-01549EE084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8E1B0D-5ECE-85B7-C705-09359CC7B6ED}"/>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2800073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C8EB-E71C-81E4-E026-226A9E83D6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AD7F5F-BC43-4DCC-AE81-CF4C37D8EF5A}"/>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4" name="Footer Placeholder 3">
            <a:extLst>
              <a:ext uri="{FF2B5EF4-FFF2-40B4-BE49-F238E27FC236}">
                <a16:creationId xmlns:a16="http://schemas.microsoft.com/office/drawing/2014/main" id="{A21DFB28-EFF7-1289-B1FD-1A16DC0C6F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58B4A8-8759-ECCE-3A52-40FA026A758C}"/>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13208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91A048-31CD-EBC2-39FB-877FCB34ED88}"/>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3" name="Footer Placeholder 2">
            <a:extLst>
              <a:ext uri="{FF2B5EF4-FFF2-40B4-BE49-F238E27FC236}">
                <a16:creationId xmlns:a16="http://schemas.microsoft.com/office/drawing/2014/main" id="{C39B6BB9-8596-4A34-40A0-2AD318FC14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7D6F35-153E-BD44-D4F2-898C89D6E105}"/>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2989802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010D8-29DA-83DE-A8EE-4EA4D7FEFA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F43D46-608F-F0BA-1E4C-0923770419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FB9F90-A679-9B08-3578-CE1693A996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59C5F-20F6-123C-902C-B1C6CBA2C6B4}"/>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6" name="Footer Placeholder 5">
            <a:extLst>
              <a:ext uri="{FF2B5EF4-FFF2-40B4-BE49-F238E27FC236}">
                <a16:creationId xmlns:a16="http://schemas.microsoft.com/office/drawing/2014/main" id="{0CD20CB7-A333-C895-7C7D-B32D83A47D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89BE5-E6A1-280D-8C56-8D097E627AE1}"/>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258813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CB047-6F7B-FA6E-F23D-4C7752728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141224-E868-44AC-7C08-B26208AD8D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2B283C-FE76-C8A8-587D-B5283A9F4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961AC-59E1-138B-D7D4-62E7C5BAAB4D}"/>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6" name="Footer Placeholder 5">
            <a:extLst>
              <a:ext uri="{FF2B5EF4-FFF2-40B4-BE49-F238E27FC236}">
                <a16:creationId xmlns:a16="http://schemas.microsoft.com/office/drawing/2014/main" id="{E5001A95-9D7E-740F-F22B-797E3F162C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15891C-D2E0-5197-B04E-CD04883E2CD5}"/>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256311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2143E-4451-1EF9-1111-53B9436D45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002085-744F-A45B-9553-73B814651B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08D0E8-07B7-7AAE-2FBD-0AD78CAAC79D}"/>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5" name="Footer Placeholder 4">
            <a:extLst>
              <a:ext uri="{FF2B5EF4-FFF2-40B4-BE49-F238E27FC236}">
                <a16:creationId xmlns:a16="http://schemas.microsoft.com/office/drawing/2014/main" id="{358B1E78-E485-219F-A8B3-3416826C5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1B7E30-364C-EAB8-87FB-E9EA1E3794A6}"/>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786345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02BAB-507B-A9FF-803D-F3710ECC7F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112DA2-A1E4-56BC-FF94-C6F70C1C33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876DBF-274C-2B26-348C-3F41A2EB998A}"/>
              </a:ext>
            </a:extLst>
          </p:cNvPr>
          <p:cNvSpPr>
            <a:spLocks noGrp="1"/>
          </p:cNvSpPr>
          <p:nvPr>
            <p:ph type="dt" sz="half" idx="10"/>
          </p:nvPr>
        </p:nvSpPr>
        <p:spPr/>
        <p:txBody>
          <a:bodyPr/>
          <a:lstStyle/>
          <a:p>
            <a:fld id="{A44EC1DB-877B-47E3-8F7A-ED98C28A5165}" type="datetimeFigureOut">
              <a:rPr lang="en-US" smtClean="0"/>
              <a:t>9/26/2023</a:t>
            </a:fld>
            <a:endParaRPr lang="en-US"/>
          </a:p>
        </p:txBody>
      </p:sp>
      <p:sp>
        <p:nvSpPr>
          <p:cNvPr id="5" name="Footer Placeholder 4">
            <a:extLst>
              <a:ext uri="{FF2B5EF4-FFF2-40B4-BE49-F238E27FC236}">
                <a16:creationId xmlns:a16="http://schemas.microsoft.com/office/drawing/2014/main" id="{E2EEE54F-CF39-D081-8DA4-5BF9FD426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499EBB-7273-267C-20D0-63972A3F861E}"/>
              </a:ext>
            </a:extLst>
          </p:cNvPr>
          <p:cNvSpPr>
            <a:spLocks noGrp="1"/>
          </p:cNvSpPr>
          <p:nvPr>
            <p:ph type="sldNum" sz="quarter" idx="12"/>
          </p:nvPr>
        </p:nvSpPr>
        <p:spPr/>
        <p:txBody>
          <a:bodyPr/>
          <a:lstStyle/>
          <a:p>
            <a:fld id="{40F11B51-686A-4B83-B0E2-77D26F01F749}" type="slidenum">
              <a:rPr lang="en-US" smtClean="0"/>
              <a:t>‹#›</a:t>
            </a:fld>
            <a:endParaRPr lang="en-US"/>
          </a:p>
        </p:txBody>
      </p:sp>
    </p:spTree>
    <p:extLst>
      <p:ext uri="{BB962C8B-B14F-4D97-AF65-F5344CB8AC3E}">
        <p14:creationId xmlns:p14="http://schemas.microsoft.com/office/powerpoint/2010/main" val="2397493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2581DB-4871-37A2-D0E2-CC29AF3100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C7079C-03AA-F542-1B66-547C5FBA4F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1DA1AE-DC64-4A75-732E-4908891B19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4EC1DB-877B-47E3-8F7A-ED98C28A5165}" type="datetimeFigureOut">
              <a:rPr lang="en-US" smtClean="0"/>
              <a:t>9/26/2023</a:t>
            </a:fld>
            <a:endParaRPr lang="en-US"/>
          </a:p>
        </p:txBody>
      </p:sp>
      <p:sp>
        <p:nvSpPr>
          <p:cNvPr id="5" name="Footer Placeholder 4">
            <a:extLst>
              <a:ext uri="{FF2B5EF4-FFF2-40B4-BE49-F238E27FC236}">
                <a16:creationId xmlns:a16="http://schemas.microsoft.com/office/drawing/2014/main" id="{878CF383-C871-0F1E-CABA-9B0111475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6551545-A273-50C6-3DE4-C98F861CE5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F11B51-686A-4B83-B0E2-77D26F01F749}" type="slidenum">
              <a:rPr lang="en-US" smtClean="0"/>
              <a:t>‹#›</a:t>
            </a:fld>
            <a:endParaRPr lang="en-US"/>
          </a:p>
        </p:txBody>
      </p:sp>
    </p:spTree>
    <p:extLst>
      <p:ext uri="{BB962C8B-B14F-4D97-AF65-F5344CB8AC3E}">
        <p14:creationId xmlns:p14="http://schemas.microsoft.com/office/powerpoint/2010/main" val="1563037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ruit and vegetables in heart shape">
            <a:extLst>
              <a:ext uri="{FF2B5EF4-FFF2-40B4-BE49-F238E27FC236}">
                <a16:creationId xmlns:a16="http://schemas.microsoft.com/office/drawing/2014/main" id="{FA82AED5-7C13-F21A-DE84-C800954B6422}"/>
              </a:ext>
            </a:extLst>
          </p:cNvPr>
          <p:cNvPicPr>
            <a:picLocks noChangeAspect="1"/>
          </p:cNvPicPr>
          <p:nvPr/>
        </p:nvPicPr>
        <p:blipFill rotWithShape="1">
          <a:blip r:embed="rId2">
            <a:extLst>
              <a:ext uri="{28A0092B-C50C-407E-A947-70E740481C1C}">
                <a14:useLocalDpi xmlns:a14="http://schemas.microsoft.com/office/drawing/2010/main" val="0"/>
              </a:ext>
            </a:extLst>
          </a:blip>
          <a:srcRect t="24663" b="27997"/>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96D9D6-597A-0EDA-B0EB-A20ADB4B36E7}"/>
              </a:ext>
            </a:extLst>
          </p:cNvPr>
          <p:cNvSpPr>
            <a:spLocks noGrp="1"/>
          </p:cNvSpPr>
          <p:nvPr>
            <p:ph type="ctrTitle"/>
          </p:nvPr>
        </p:nvSpPr>
        <p:spPr>
          <a:xfrm>
            <a:off x="7935402" y="743447"/>
            <a:ext cx="3445765" cy="3692028"/>
          </a:xfrm>
          <a:noFill/>
        </p:spPr>
        <p:txBody>
          <a:bodyPr>
            <a:normAutofit/>
          </a:bodyPr>
          <a:lstStyle/>
          <a:p>
            <a:pPr algn="l"/>
            <a:r>
              <a:rPr lang="en-US" sz="5200"/>
              <a:t>Nutrition</a:t>
            </a:r>
          </a:p>
        </p:txBody>
      </p:sp>
    </p:spTree>
    <p:extLst>
      <p:ext uri="{BB962C8B-B14F-4D97-AF65-F5344CB8AC3E}">
        <p14:creationId xmlns:p14="http://schemas.microsoft.com/office/powerpoint/2010/main" val="3203991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ssorted piles of beans and legumes">
            <a:extLst>
              <a:ext uri="{FF2B5EF4-FFF2-40B4-BE49-F238E27FC236}">
                <a16:creationId xmlns:a16="http://schemas.microsoft.com/office/drawing/2014/main" id="{7C3134AB-9A8A-2973-4BCD-67718DF45498}"/>
              </a:ext>
            </a:extLst>
          </p:cNvPr>
          <p:cNvPicPr>
            <a:picLocks noChangeAspect="1"/>
          </p:cNvPicPr>
          <p:nvPr/>
        </p:nvPicPr>
        <p:blipFill rotWithShape="1">
          <a:blip r:embed="rId2"/>
          <a:srcRect l="35462" r="23427" b="-1"/>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3B0650AE-FE50-C99C-2CD3-69FF6AB6EE85}"/>
              </a:ext>
            </a:extLst>
          </p:cNvPr>
          <p:cNvSpPr>
            <a:spLocks noGrp="1"/>
          </p:cNvSpPr>
          <p:nvPr>
            <p:ph type="title"/>
          </p:nvPr>
        </p:nvSpPr>
        <p:spPr>
          <a:xfrm>
            <a:off x="1137034" y="-1"/>
            <a:ext cx="6831188" cy="1240974"/>
          </a:xfrm>
        </p:spPr>
        <p:txBody>
          <a:bodyPr>
            <a:normAutofit/>
          </a:bodyPr>
          <a:lstStyle/>
          <a:p>
            <a:r>
              <a:rPr lang="en-US" dirty="0"/>
              <a:t>Nutrients</a:t>
            </a:r>
          </a:p>
        </p:txBody>
      </p:sp>
      <p:sp>
        <p:nvSpPr>
          <p:cNvPr id="19" name="Content Placeholder 2">
            <a:extLst>
              <a:ext uri="{FF2B5EF4-FFF2-40B4-BE49-F238E27FC236}">
                <a16:creationId xmlns:a16="http://schemas.microsoft.com/office/drawing/2014/main" id="{22F86E4E-FB32-37F5-88AE-65DA7A705FFB}"/>
              </a:ext>
            </a:extLst>
          </p:cNvPr>
          <p:cNvSpPr>
            <a:spLocks noGrp="1"/>
          </p:cNvSpPr>
          <p:nvPr>
            <p:ph idx="1"/>
          </p:nvPr>
        </p:nvSpPr>
        <p:spPr>
          <a:xfrm>
            <a:off x="140858" y="1596572"/>
            <a:ext cx="7624285" cy="4905828"/>
          </a:xfrm>
        </p:spPr>
        <p:txBody>
          <a:bodyPr>
            <a:normAutofit fontScale="92500" lnSpcReduction="10000"/>
          </a:bodyPr>
          <a:lstStyle/>
          <a:p>
            <a:r>
              <a:rPr lang="en-US" sz="2400" dirty="0"/>
              <a:t>Nutrients are organic and inorganic complexes contained in food. There are about 50 different nutrients which are normally supplied through the foods we eat. Each nutrient has specific functions in the body. Most natural foods contain more than one nutrient. </a:t>
            </a:r>
          </a:p>
          <a:p>
            <a:r>
              <a:rPr lang="en-US" sz="2400" dirty="0"/>
              <a:t>Macronutrients : These are proteins, fats and carbohydrates which are often called “proximate principles because they form the main bulk of food. In the Indian dietary, they contribute to the total energy intake in the following proportions.</a:t>
            </a:r>
          </a:p>
          <a:p>
            <a:pPr lvl="1"/>
            <a:r>
              <a:rPr lang="en-US" dirty="0"/>
              <a:t>Proteins: 10 to 15 percent</a:t>
            </a:r>
          </a:p>
          <a:p>
            <a:pPr lvl="1"/>
            <a:r>
              <a:rPr lang="en-US" dirty="0"/>
              <a:t>Fats: 15 to 30 per cent</a:t>
            </a:r>
          </a:p>
          <a:p>
            <a:pPr lvl="1"/>
            <a:r>
              <a:rPr lang="en-US" dirty="0"/>
              <a:t>Carbohydrates: 50 to 80 per cent</a:t>
            </a:r>
          </a:p>
          <a:p>
            <a:r>
              <a:rPr lang="en-US" sz="2400" dirty="0"/>
              <a:t>Micronutrients : These are vitamins and minerals.</a:t>
            </a:r>
          </a:p>
          <a:p>
            <a:pPr lvl="1"/>
            <a:r>
              <a:rPr lang="en-US" dirty="0"/>
              <a:t>They are called micronutrients because they are required in small amounts which may vary from a fraction of a milligram to several grams. </a:t>
            </a:r>
          </a:p>
        </p:txBody>
      </p:sp>
    </p:spTree>
    <p:extLst>
      <p:ext uri="{BB962C8B-B14F-4D97-AF65-F5344CB8AC3E}">
        <p14:creationId xmlns:p14="http://schemas.microsoft.com/office/powerpoint/2010/main" val="609798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E8C531C-0475-E788-DED6-2B48468205C7}"/>
              </a:ext>
            </a:extLst>
          </p:cNvPr>
          <p:cNvPicPr>
            <a:picLocks noChangeAspect="1"/>
          </p:cNvPicPr>
          <p:nvPr/>
        </p:nvPicPr>
        <p:blipFill rotWithShape="1">
          <a:blip r:embed="rId2"/>
          <a:srcRect l="20935" r="44422"/>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0A0CFF87-BEA6-2594-4A53-5E2661D0BF15}"/>
              </a:ext>
            </a:extLst>
          </p:cNvPr>
          <p:cNvSpPr>
            <a:spLocks noGrp="1"/>
          </p:cNvSpPr>
          <p:nvPr>
            <p:ph type="title"/>
          </p:nvPr>
        </p:nvSpPr>
        <p:spPr>
          <a:xfrm>
            <a:off x="1137034" y="609600"/>
            <a:ext cx="6831188" cy="899885"/>
          </a:xfrm>
        </p:spPr>
        <p:txBody>
          <a:bodyPr>
            <a:normAutofit/>
          </a:bodyPr>
          <a:lstStyle/>
          <a:p>
            <a:r>
              <a:rPr lang="en-US" dirty="0"/>
              <a:t>Proteins</a:t>
            </a:r>
          </a:p>
        </p:txBody>
      </p:sp>
      <p:sp>
        <p:nvSpPr>
          <p:cNvPr id="3" name="Content Placeholder 2">
            <a:extLst>
              <a:ext uri="{FF2B5EF4-FFF2-40B4-BE49-F238E27FC236}">
                <a16:creationId xmlns:a16="http://schemas.microsoft.com/office/drawing/2014/main" id="{B1AF04AE-9869-E6BA-304B-491C42DFBCB9}"/>
              </a:ext>
            </a:extLst>
          </p:cNvPr>
          <p:cNvSpPr>
            <a:spLocks noGrp="1"/>
          </p:cNvSpPr>
          <p:nvPr>
            <p:ph idx="1"/>
          </p:nvPr>
        </p:nvSpPr>
        <p:spPr>
          <a:xfrm>
            <a:off x="80526" y="1509486"/>
            <a:ext cx="7572725" cy="4593201"/>
          </a:xfrm>
        </p:spPr>
        <p:txBody>
          <a:bodyPr>
            <a:normAutofit fontScale="85000" lnSpcReduction="20000"/>
          </a:bodyPr>
          <a:lstStyle/>
          <a:p>
            <a:r>
              <a:rPr lang="en-US" dirty="0"/>
              <a:t>Proteins are complex organic nitrogenous compounds. </a:t>
            </a:r>
          </a:p>
          <a:p>
            <a:r>
              <a:rPr lang="en-US" dirty="0"/>
              <a:t>They are composed of carbon, hydrogen, oxygen, nitrogen and Sulphur in varying amounts. Some proteins also contain phosphorus and iron and occasionally other elements. </a:t>
            </a:r>
          </a:p>
          <a:p>
            <a:r>
              <a:rPr lang="en-US" dirty="0"/>
              <a:t>Proteins differ from carbohydrates and fats in that they contain nitrogen, this usually amounts to about 16 per cent. </a:t>
            </a:r>
          </a:p>
          <a:p>
            <a:r>
              <a:rPr lang="en-US" dirty="0"/>
              <a:t>Proteins constitute about 20 per cent of the body weight in an adult.</a:t>
            </a:r>
          </a:p>
          <a:p>
            <a:r>
              <a:rPr lang="en-US" dirty="0"/>
              <a:t>The Indian Council of Medical Research in 2020 recommended 0.83 g protein/kg body weight per day as a safe intake for an Indian adult, assuming a median obligatory nitrogen loss of 48 mg/kg body weight.</a:t>
            </a:r>
          </a:p>
        </p:txBody>
      </p:sp>
    </p:spTree>
    <p:extLst>
      <p:ext uri="{BB962C8B-B14F-4D97-AF65-F5344CB8AC3E}">
        <p14:creationId xmlns:p14="http://schemas.microsoft.com/office/powerpoint/2010/main" val="3386071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C27DBF0-0B9C-8972-3093-1F30443C35BF}"/>
              </a:ext>
            </a:extLst>
          </p:cNvPr>
          <p:cNvPicPr>
            <a:picLocks noChangeAspect="1"/>
          </p:cNvPicPr>
          <p:nvPr/>
        </p:nvPicPr>
        <p:blipFill rotWithShape="1">
          <a:blip r:embed="rId2"/>
          <a:srcRect l="20935" r="44422"/>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C96D5C3F-0F1A-B185-F21D-37E28FCE99E2}"/>
              </a:ext>
            </a:extLst>
          </p:cNvPr>
          <p:cNvSpPr>
            <a:spLocks noGrp="1"/>
          </p:cNvSpPr>
          <p:nvPr>
            <p:ph type="title"/>
          </p:nvPr>
        </p:nvSpPr>
        <p:spPr>
          <a:xfrm>
            <a:off x="1137034" y="609600"/>
            <a:ext cx="6831188" cy="1322887"/>
          </a:xfrm>
        </p:spPr>
        <p:txBody>
          <a:bodyPr>
            <a:normAutofit/>
          </a:bodyPr>
          <a:lstStyle/>
          <a:p>
            <a:r>
              <a:rPr lang="en-US" dirty="0"/>
              <a:t>Essential amino acids</a:t>
            </a:r>
          </a:p>
        </p:txBody>
      </p:sp>
      <p:sp>
        <p:nvSpPr>
          <p:cNvPr id="3" name="Content Placeholder 2">
            <a:extLst>
              <a:ext uri="{FF2B5EF4-FFF2-40B4-BE49-F238E27FC236}">
                <a16:creationId xmlns:a16="http://schemas.microsoft.com/office/drawing/2014/main" id="{CB570BB7-802D-4B19-0CEF-5A5B11C9B8F2}"/>
              </a:ext>
            </a:extLst>
          </p:cNvPr>
          <p:cNvSpPr>
            <a:spLocks noGrp="1"/>
          </p:cNvSpPr>
          <p:nvPr>
            <p:ph idx="1"/>
          </p:nvPr>
        </p:nvSpPr>
        <p:spPr>
          <a:xfrm>
            <a:off x="80526" y="1596571"/>
            <a:ext cx="7771703" cy="5036457"/>
          </a:xfrm>
        </p:spPr>
        <p:txBody>
          <a:bodyPr>
            <a:normAutofit/>
          </a:bodyPr>
          <a:lstStyle/>
          <a:p>
            <a:r>
              <a:rPr lang="en-US" sz="2400" dirty="0"/>
              <a:t>Some 20 amino acids are stated to be needed by the human body, of which 9 are called “essential” because the body cannot synthesize them in amounts corresponding to its needs, and therefore, they must be obtained from dietary proteins. </a:t>
            </a:r>
          </a:p>
          <a:p>
            <a:r>
              <a:rPr lang="en-US" sz="2400" dirty="0"/>
              <a:t>They are : leucine, isoleucine, lysine, methionine, phenylalanine, threonine, valine, tryptophan and histidine.</a:t>
            </a:r>
          </a:p>
          <a:p>
            <a:r>
              <a:rPr lang="en-US" sz="2400" dirty="0"/>
              <a:t>Some of the essential amino acids have important biological functions, e.g., formation of niacin from tryptophan; the action of methionine as a donor of methyl groups for the synthesis of choline, folates and nucleic acids.</a:t>
            </a:r>
          </a:p>
          <a:p>
            <a:r>
              <a:rPr lang="en-US" sz="2400" dirty="0"/>
              <a:t>A protein is said to be “biologically complete” if it contains all the EAA in amounts corresponding to human needs.</a:t>
            </a:r>
          </a:p>
        </p:txBody>
      </p:sp>
    </p:spTree>
    <p:extLst>
      <p:ext uri="{BB962C8B-B14F-4D97-AF65-F5344CB8AC3E}">
        <p14:creationId xmlns:p14="http://schemas.microsoft.com/office/powerpoint/2010/main" val="287850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3AC79C-7383-2BFF-535C-CAD5D2CF6BCA}"/>
              </a:ext>
            </a:extLst>
          </p:cNvPr>
          <p:cNvSpPr>
            <a:spLocks noGrp="1"/>
          </p:cNvSpPr>
          <p:nvPr>
            <p:ph type="title"/>
          </p:nvPr>
        </p:nvSpPr>
        <p:spPr>
          <a:xfrm>
            <a:off x="4572001" y="601744"/>
            <a:ext cx="6781800" cy="1338696"/>
          </a:xfrm>
        </p:spPr>
        <p:txBody>
          <a:bodyPr>
            <a:normAutofit/>
          </a:bodyPr>
          <a:lstStyle/>
          <a:p>
            <a:r>
              <a:rPr lang="en-US" dirty="0"/>
              <a:t>Functions</a:t>
            </a:r>
          </a:p>
        </p:txBody>
      </p:sp>
      <p:pic>
        <p:nvPicPr>
          <p:cNvPr id="5" name="Picture 4" descr="Chemical formulae are written on paper">
            <a:extLst>
              <a:ext uri="{FF2B5EF4-FFF2-40B4-BE49-F238E27FC236}">
                <a16:creationId xmlns:a16="http://schemas.microsoft.com/office/drawing/2014/main" id="{D98E320F-0780-CBD4-3940-CD3503C67468}"/>
              </a:ext>
            </a:extLst>
          </p:cNvPr>
          <p:cNvPicPr>
            <a:picLocks noChangeAspect="1"/>
          </p:cNvPicPr>
          <p:nvPr/>
        </p:nvPicPr>
        <p:blipFill rotWithShape="1">
          <a:blip r:embed="rId2"/>
          <a:srcRect l="34374" r="34830"/>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58159CD1-B1D6-8BFD-6F65-B6912BA59302}"/>
              </a:ext>
            </a:extLst>
          </p:cNvPr>
          <p:cNvSpPr>
            <a:spLocks noGrp="1"/>
          </p:cNvSpPr>
          <p:nvPr>
            <p:ph idx="1"/>
          </p:nvPr>
        </p:nvSpPr>
        <p:spPr>
          <a:xfrm>
            <a:off x="4034971" y="1654629"/>
            <a:ext cx="7964524" cy="4986803"/>
          </a:xfrm>
        </p:spPr>
        <p:txBody>
          <a:bodyPr anchor="t">
            <a:normAutofit fontScale="92500"/>
          </a:bodyPr>
          <a:lstStyle/>
          <a:p>
            <a:r>
              <a:rPr lang="en-US" sz="2400" dirty="0"/>
              <a:t>Body building, - this component is small compared with the maintenance component, except in the very young child and infant</a:t>
            </a:r>
          </a:p>
          <a:p>
            <a:r>
              <a:rPr lang="en-US" sz="2400" dirty="0"/>
              <a:t>Repair and maintenance of body tissues</a:t>
            </a:r>
          </a:p>
          <a:p>
            <a:r>
              <a:rPr lang="en-US" sz="2400" dirty="0"/>
              <a:t>Maintenance of osmotic pressure; </a:t>
            </a:r>
          </a:p>
          <a:p>
            <a:r>
              <a:rPr lang="en-US" sz="2400" dirty="0"/>
              <a:t>Synthesis of certain substances like antibodies, plasma proteins, </a:t>
            </a:r>
            <a:r>
              <a:rPr lang="en-US" sz="2400" dirty="0" err="1"/>
              <a:t>haemoglobin</a:t>
            </a:r>
            <a:r>
              <a:rPr lang="en-US" sz="2400" dirty="0"/>
              <a:t>, enzymes, hormones and coagulation factors. </a:t>
            </a:r>
          </a:p>
          <a:p>
            <a:r>
              <a:rPr lang="en-US" sz="2400" dirty="0"/>
              <a:t>The cell mediated immune response and the bactericidal activity of leucocyte have been found to be lowered in severe forms of protein energy malnutrition. </a:t>
            </a:r>
          </a:p>
          <a:p>
            <a:r>
              <a:rPr lang="en-US" sz="2400" dirty="0"/>
              <a:t>Proteins can also supply energy (4 kcal per one gram) when the calorie intake is inadequate, but this is not their primary function. It is considered wasteful if proteins were used for such a purpose.</a:t>
            </a:r>
          </a:p>
        </p:txBody>
      </p:sp>
    </p:spTree>
    <p:extLst>
      <p:ext uri="{BB962C8B-B14F-4D97-AF65-F5344CB8AC3E}">
        <p14:creationId xmlns:p14="http://schemas.microsoft.com/office/powerpoint/2010/main" val="3538240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76B581F-0EDD-A6B1-7631-7E3DA7E526FA}"/>
              </a:ext>
            </a:extLst>
          </p:cNvPr>
          <p:cNvPicPr>
            <a:picLocks noChangeAspect="1"/>
          </p:cNvPicPr>
          <p:nvPr/>
        </p:nvPicPr>
        <p:blipFill rotWithShape="1">
          <a:blip r:embed="rId2"/>
          <a:srcRect r="6787" b="1"/>
          <a:stretch/>
        </p:blipFill>
        <p:spPr>
          <a:xfrm>
            <a:off x="20" y="1666568"/>
            <a:ext cx="6106195" cy="5191432"/>
          </a:xfrm>
          <a:prstGeom prst="rect">
            <a:avLst/>
          </a:prstGeom>
        </p:spPr>
      </p:pic>
      <p:sp useBgFill="1">
        <p:nvSpPr>
          <p:cNvPr id="12" name="Rectangle 11">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06588E-DD0F-2BB5-61BD-AACEAF1ECA6C}"/>
              </a:ext>
            </a:extLst>
          </p:cNvPr>
          <p:cNvSpPr>
            <a:spLocks noGrp="1"/>
          </p:cNvSpPr>
          <p:nvPr>
            <p:ph type="title"/>
          </p:nvPr>
        </p:nvSpPr>
        <p:spPr>
          <a:xfrm>
            <a:off x="761801" y="352766"/>
            <a:ext cx="10591999" cy="1023584"/>
          </a:xfrm>
        </p:spPr>
        <p:txBody>
          <a:bodyPr>
            <a:normAutofit/>
          </a:bodyPr>
          <a:lstStyle/>
          <a:p>
            <a:r>
              <a:rPr lang="en-US" sz="4000"/>
              <a:t>Sources</a:t>
            </a:r>
          </a:p>
        </p:txBody>
      </p:sp>
      <p:sp>
        <p:nvSpPr>
          <p:cNvPr id="3" name="Content Placeholder 2">
            <a:extLst>
              <a:ext uri="{FF2B5EF4-FFF2-40B4-BE49-F238E27FC236}">
                <a16:creationId xmlns:a16="http://schemas.microsoft.com/office/drawing/2014/main" id="{73B6C828-9FA7-EEB6-B31F-079AC2BF47E2}"/>
              </a:ext>
            </a:extLst>
          </p:cNvPr>
          <p:cNvSpPr>
            <a:spLocks noGrp="1"/>
          </p:cNvSpPr>
          <p:nvPr>
            <p:ph idx="1"/>
          </p:nvPr>
        </p:nvSpPr>
        <p:spPr>
          <a:xfrm>
            <a:off x="6106215" y="352766"/>
            <a:ext cx="6009385" cy="6505234"/>
          </a:xfrm>
        </p:spPr>
        <p:txBody>
          <a:bodyPr anchor="ctr">
            <a:normAutofit/>
          </a:bodyPr>
          <a:lstStyle/>
          <a:p>
            <a:r>
              <a:rPr lang="en-US" dirty="0"/>
              <a:t>Egg proteins are considered to be the best among food proteins because of their high biological value and digestibility. They are used in nutrition studies as a “reference protein”.</a:t>
            </a:r>
          </a:p>
          <a:p>
            <a:r>
              <a:rPr lang="en-US" dirty="0"/>
              <a:t>Vegetable proteins are found in pulses (legumes), cereals, beans, nuts, oil-seed cakes, etc. They are poor in EAA. In developing countries such as India, cereals and pulses are the main sources of dietary protein because they are cheap, easily available and consumed in bulk</a:t>
            </a:r>
          </a:p>
        </p:txBody>
      </p:sp>
    </p:spTree>
    <p:extLst>
      <p:ext uri="{BB962C8B-B14F-4D97-AF65-F5344CB8AC3E}">
        <p14:creationId xmlns:p14="http://schemas.microsoft.com/office/powerpoint/2010/main" val="3270000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333D1-08EE-8A3F-E29D-7C8DF04A0888}"/>
              </a:ext>
            </a:extLst>
          </p:cNvPr>
          <p:cNvSpPr>
            <a:spLocks noGrp="1"/>
          </p:cNvSpPr>
          <p:nvPr>
            <p:ph type="title"/>
          </p:nvPr>
        </p:nvSpPr>
        <p:spPr/>
        <p:txBody>
          <a:bodyPr/>
          <a:lstStyle/>
          <a:p>
            <a:r>
              <a:rPr lang="en-US" dirty="0"/>
              <a:t>Supplementary action</a:t>
            </a:r>
          </a:p>
        </p:txBody>
      </p:sp>
      <p:sp>
        <p:nvSpPr>
          <p:cNvPr id="3" name="Content Placeholder 2">
            <a:extLst>
              <a:ext uri="{FF2B5EF4-FFF2-40B4-BE49-F238E27FC236}">
                <a16:creationId xmlns:a16="http://schemas.microsoft.com/office/drawing/2014/main" id="{CD054BCB-8E47-BBE7-BBEC-20C085C3EB3B}"/>
              </a:ext>
            </a:extLst>
          </p:cNvPr>
          <p:cNvSpPr>
            <a:spLocks noGrp="1"/>
          </p:cNvSpPr>
          <p:nvPr>
            <p:ph idx="1"/>
          </p:nvPr>
        </p:nvSpPr>
        <p:spPr/>
        <p:txBody>
          <a:bodyPr>
            <a:normAutofit/>
          </a:bodyPr>
          <a:lstStyle/>
          <a:p>
            <a:r>
              <a:rPr lang="en-US" dirty="0"/>
              <a:t>Man derives protein not from a single source, but from a variety of food sources, animal and vegetable. </a:t>
            </a:r>
          </a:p>
          <a:p>
            <a:r>
              <a:rPr lang="en-US" dirty="0"/>
              <a:t>Cereal proteins are deficient in lysine and threonine; and pulse proteins in methionine. These are known as “limiting” amino acids. </a:t>
            </a:r>
          </a:p>
          <a:p>
            <a:r>
              <a:rPr lang="en-US" dirty="0"/>
              <a:t>When two or more of vegetarian foods are eaten together (as for example, rice-dhal combination in India) their proteins supplement one another and provide a protein comparable to animal protein in respect of EAA.</a:t>
            </a:r>
          </a:p>
          <a:p>
            <a:r>
              <a:rPr lang="en-US" dirty="0"/>
              <a:t>This is known as supplementary action of proteins, and is the basis of counselling people to eat mixed diets.</a:t>
            </a:r>
          </a:p>
        </p:txBody>
      </p:sp>
    </p:spTree>
    <p:extLst>
      <p:ext uri="{BB962C8B-B14F-4D97-AF65-F5344CB8AC3E}">
        <p14:creationId xmlns:p14="http://schemas.microsoft.com/office/powerpoint/2010/main" val="2095374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524CBD-983A-5081-C60F-4C17B2F2AD70}"/>
              </a:ext>
            </a:extLst>
          </p:cNvPr>
          <p:cNvSpPr>
            <a:spLocks noGrp="1"/>
          </p:cNvSpPr>
          <p:nvPr>
            <p:ph type="title"/>
          </p:nvPr>
        </p:nvSpPr>
        <p:spPr>
          <a:xfrm>
            <a:off x="3193517" y="479813"/>
            <a:ext cx="5801917" cy="673046"/>
          </a:xfrm>
        </p:spPr>
        <p:txBody>
          <a:bodyPr anchor="b">
            <a:normAutofit/>
          </a:bodyPr>
          <a:lstStyle/>
          <a:p>
            <a:r>
              <a:rPr lang="en-US" sz="4000" dirty="0"/>
              <a:t>Protein metabolism</a:t>
            </a:r>
          </a:p>
        </p:txBody>
      </p:sp>
      <p:pic>
        <p:nvPicPr>
          <p:cNvPr id="7" name="Graphic 6" descr="DNA">
            <a:extLst>
              <a:ext uri="{FF2B5EF4-FFF2-40B4-BE49-F238E27FC236}">
                <a16:creationId xmlns:a16="http://schemas.microsoft.com/office/drawing/2014/main" id="{07BD0103-DF01-5721-A8C2-A89B74A53A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B8C0D839-67A5-1EA8-4B5C-76ABB6B54BC2}"/>
              </a:ext>
            </a:extLst>
          </p:cNvPr>
          <p:cNvSpPr>
            <a:spLocks noGrp="1"/>
          </p:cNvSpPr>
          <p:nvPr>
            <p:ph idx="1"/>
          </p:nvPr>
        </p:nvSpPr>
        <p:spPr>
          <a:xfrm>
            <a:off x="1935480" y="1489383"/>
            <a:ext cx="9318674" cy="4888803"/>
          </a:xfrm>
        </p:spPr>
        <p:txBody>
          <a:bodyPr>
            <a:normAutofit fontScale="92500" lnSpcReduction="10000"/>
          </a:bodyPr>
          <a:lstStyle/>
          <a:p>
            <a:r>
              <a:rPr lang="en-US" dirty="0"/>
              <a:t>Proteins are not stored in the human body in the way that energy is stored in adipose tissue, they have to be replaced every day.</a:t>
            </a:r>
          </a:p>
          <a:p>
            <a:r>
              <a:rPr lang="en-US" dirty="0"/>
              <a:t>The body proteins are constantly being broken down into their constituent amino acids and then reused for protein synthesis. </a:t>
            </a:r>
          </a:p>
          <a:p>
            <a:pPr lvl="1"/>
            <a:r>
              <a:rPr lang="en-US" sz="2800" dirty="0"/>
              <a:t>The rates of turnover vary from tissue to tissue. The reutilization of amino acids is a major contributory factor to the economy of protein metabolism. </a:t>
            </a:r>
          </a:p>
          <a:p>
            <a:pPr lvl="1"/>
            <a:r>
              <a:rPr lang="en-US" sz="2800" dirty="0"/>
              <a:t>The overall rate of turnover in adult man is equivalent to replacement between 1-2 per cent of body protein each day.</a:t>
            </a:r>
          </a:p>
          <a:p>
            <a:r>
              <a:rPr lang="en-US" dirty="0"/>
              <a:t>It is not only the amount of protein that is maintained constant, but also the pattern of specific protein in body. </a:t>
            </a:r>
          </a:p>
          <a:p>
            <a:r>
              <a:rPr lang="en-US" dirty="0"/>
              <a:t>For maximum utilization of dietary proteins, the calorie intake should be adequate.</a:t>
            </a:r>
          </a:p>
        </p:txBody>
      </p:sp>
      <p:pic>
        <p:nvPicPr>
          <p:cNvPr id="9" name="Graphic 8" descr="DNA">
            <a:extLst>
              <a:ext uri="{FF2B5EF4-FFF2-40B4-BE49-F238E27FC236}">
                <a16:creationId xmlns:a16="http://schemas.microsoft.com/office/drawing/2014/main" id="{68E41A79-3908-4091-9CBD-DC5B576E06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008004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C0B2C-1484-D758-19BC-E0B0B9C3EF88}"/>
              </a:ext>
            </a:extLst>
          </p:cNvPr>
          <p:cNvSpPr>
            <a:spLocks noGrp="1"/>
          </p:cNvSpPr>
          <p:nvPr>
            <p:ph type="title"/>
          </p:nvPr>
        </p:nvSpPr>
        <p:spPr/>
        <p:txBody>
          <a:bodyPr/>
          <a:lstStyle/>
          <a:p>
            <a:r>
              <a:rPr lang="en-US" dirty="0"/>
              <a:t>Evaluation and assessment</a:t>
            </a:r>
          </a:p>
        </p:txBody>
      </p:sp>
      <p:sp>
        <p:nvSpPr>
          <p:cNvPr id="3" name="Content Placeholder 2">
            <a:extLst>
              <a:ext uri="{FF2B5EF4-FFF2-40B4-BE49-F238E27FC236}">
                <a16:creationId xmlns:a16="http://schemas.microsoft.com/office/drawing/2014/main" id="{980210A0-BBA6-920B-FB4B-EF4DCE8076EB}"/>
              </a:ext>
            </a:extLst>
          </p:cNvPr>
          <p:cNvSpPr>
            <a:spLocks noGrp="1"/>
          </p:cNvSpPr>
          <p:nvPr>
            <p:ph idx="1"/>
          </p:nvPr>
        </p:nvSpPr>
        <p:spPr>
          <a:xfrm>
            <a:off x="304799" y="1379621"/>
            <a:ext cx="11470105" cy="5113254"/>
          </a:xfrm>
        </p:spPr>
        <p:txBody>
          <a:bodyPr>
            <a:normAutofit lnSpcReduction="10000"/>
          </a:bodyPr>
          <a:lstStyle/>
          <a:p>
            <a:r>
              <a:rPr lang="en-US" dirty="0"/>
              <a:t>The parameters used for evaluation include the estimation of the biological value, digestibility coefficient, protein efficiency ratio and net protein utilization.</a:t>
            </a:r>
          </a:p>
          <a:p>
            <a:pPr lvl="1"/>
            <a:r>
              <a:rPr lang="en-US" dirty="0"/>
              <a:t>The net protein utilization (NPU) is considered of more practical value because it is the product of biological value and digestibility coefficient divided by 100. In exact terms, it is the “proportion of ingested protein that is retained in the body under specified conditions for the maintenance and/or growth of the tissues.</a:t>
            </a:r>
          </a:p>
          <a:p>
            <a:r>
              <a:rPr lang="en-US" dirty="0"/>
              <a:t>A battery of tests have been suggested to assess the state of protein nutrition. </a:t>
            </a:r>
          </a:p>
          <a:p>
            <a:r>
              <a:rPr lang="en-US" dirty="0"/>
              <a:t>These include : arm muscle circumference, the creatinine - height index, serum albumin and transferrin, total body nitrogen, etc.</a:t>
            </a:r>
          </a:p>
          <a:p>
            <a:pPr lvl="1"/>
            <a:r>
              <a:rPr lang="en-US" dirty="0"/>
              <a:t>At the present time the best measure of the state of protein nutrition is probably serum albumin concentration. It should be more than 3.5 g/dl, a level of 3.5 g/dl is considered mild degree of malnutrition; a level of 3.0 g/dl severe malnutrition. </a:t>
            </a:r>
          </a:p>
          <a:p>
            <a:pPr lvl="1"/>
            <a:r>
              <a:rPr lang="en-US" dirty="0"/>
              <a:t>Serum albumin and transferrin assess the ability of the liver to synthesize proteins.</a:t>
            </a:r>
          </a:p>
        </p:txBody>
      </p:sp>
    </p:spTree>
    <p:extLst>
      <p:ext uri="{BB962C8B-B14F-4D97-AF65-F5344CB8AC3E}">
        <p14:creationId xmlns:p14="http://schemas.microsoft.com/office/powerpoint/2010/main" val="2597184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Oil lamps with sweets, coins, and spices">
            <a:extLst>
              <a:ext uri="{FF2B5EF4-FFF2-40B4-BE49-F238E27FC236}">
                <a16:creationId xmlns:a16="http://schemas.microsoft.com/office/drawing/2014/main" id="{51BA9D1E-FA82-E15C-DC0B-C7E66FD3337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6284" b="9447"/>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9F947A-5FE0-5707-EB29-4424FA86630C}"/>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FATS</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8104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E5A22-A526-0DE8-3650-3B6A62848344}"/>
              </a:ext>
            </a:extLst>
          </p:cNvPr>
          <p:cNvSpPr>
            <a:spLocks noGrp="1"/>
          </p:cNvSpPr>
          <p:nvPr>
            <p:ph type="title"/>
          </p:nvPr>
        </p:nvSpPr>
        <p:spPr/>
        <p:txBody>
          <a:bodyPr/>
          <a:lstStyle/>
          <a:p>
            <a:r>
              <a:rPr lang="en-US" dirty="0"/>
              <a:t>Fats</a:t>
            </a:r>
          </a:p>
        </p:txBody>
      </p:sp>
      <p:sp>
        <p:nvSpPr>
          <p:cNvPr id="3" name="Content Placeholder 2">
            <a:extLst>
              <a:ext uri="{FF2B5EF4-FFF2-40B4-BE49-F238E27FC236}">
                <a16:creationId xmlns:a16="http://schemas.microsoft.com/office/drawing/2014/main" id="{25A822F8-7B18-D789-8510-A6CCABBC5159}"/>
              </a:ext>
            </a:extLst>
          </p:cNvPr>
          <p:cNvSpPr>
            <a:spLocks noGrp="1"/>
          </p:cNvSpPr>
          <p:nvPr>
            <p:ph idx="1"/>
          </p:nvPr>
        </p:nvSpPr>
        <p:spPr/>
        <p:txBody>
          <a:bodyPr>
            <a:normAutofit fontScale="85000" lnSpcReduction="20000"/>
          </a:bodyPr>
          <a:lstStyle/>
          <a:p>
            <a:r>
              <a:rPr lang="en-US" dirty="0"/>
              <a:t>Fats are solid at 20 deg. C; they are called “oils” if they are liquid at that temperature. </a:t>
            </a:r>
          </a:p>
          <a:p>
            <a:r>
              <a:rPr lang="en-US" dirty="0"/>
              <a:t>Fats and oils are concentrated sources of energy. </a:t>
            </a:r>
          </a:p>
          <a:p>
            <a:r>
              <a:rPr lang="en-US" dirty="0"/>
              <a:t>They are classified as :</a:t>
            </a:r>
          </a:p>
          <a:p>
            <a:pPr lvl="1"/>
            <a:r>
              <a:rPr lang="en-US" dirty="0"/>
              <a:t>Simple lipids, e.g., triglycerides</a:t>
            </a:r>
          </a:p>
          <a:p>
            <a:pPr lvl="1"/>
            <a:r>
              <a:rPr lang="en-US" dirty="0"/>
              <a:t>Compound lipids, e.g., phospholipids</a:t>
            </a:r>
          </a:p>
          <a:p>
            <a:pPr lvl="1"/>
            <a:r>
              <a:rPr lang="en-US" dirty="0"/>
              <a:t>Derived lipids, e.g., cholesterol</a:t>
            </a:r>
          </a:p>
          <a:p>
            <a:r>
              <a:rPr lang="en-US" dirty="0"/>
              <a:t>The human body can synthesize triglycerides and cholesterol endogenously. </a:t>
            </a:r>
          </a:p>
          <a:p>
            <a:r>
              <a:rPr lang="en-US" dirty="0"/>
              <a:t>Most of the body fat (99 per cent) in the adipose tissue is in the form of triglycerides. </a:t>
            </a:r>
          </a:p>
          <a:p>
            <a:r>
              <a:rPr lang="en-US" dirty="0"/>
              <a:t>In normal human subjects, adipose tissue constitutes between 10 to 15 per cent of body weight. The accumulation of one kilogram of adipose tissue corresponds to 7,700 kcal of energy</a:t>
            </a:r>
          </a:p>
        </p:txBody>
      </p:sp>
    </p:spTree>
    <p:extLst>
      <p:ext uri="{BB962C8B-B14F-4D97-AF65-F5344CB8AC3E}">
        <p14:creationId xmlns:p14="http://schemas.microsoft.com/office/powerpoint/2010/main" val="1084116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2663-577F-CB2E-787E-95542FFC1396}"/>
              </a:ext>
            </a:extLst>
          </p:cNvPr>
          <p:cNvSpPr>
            <a:spLocks noGrp="1"/>
          </p:cNvSpPr>
          <p:nvPr>
            <p:ph type="title"/>
          </p:nvPr>
        </p:nvSpPr>
        <p:spPr/>
        <p:txBody>
          <a:bodyPr/>
          <a:lstStyle/>
          <a:p>
            <a:r>
              <a:rPr lang="en-US" dirty="0"/>
              <a:t>Fatty acids</a:t>
            </a:r>
          </a:p>
        </p:txBody>
      </p:sp>
      <p:sp>
        <p:nvSpPr>
          <p:cNvPr id="3" name="Content Placeholder 2">
            <a:extLst>
              <a:ext uri="{FF2B5EF4-FFF2-40B4-BE49-F238E27FC236}">
                <a16:creationId xmlns:a16="http://schemas.microsoft.com/office/drawing/2014/main" id="{B6EDA2DA-4B93-E65D-FE5F-D82B26AA55F8}"/>
              </a:ext>
            </a:extLst>
          </p:cNvPr>
          <p:cNvSpPr>
            <a:spLocks noGrp="1"/>
          </p:cNvSpPr>
          <p:nvPr>
            <p:ph idx="1"/>
          </p:nvPr>
        </p:nvSpPr>
        <p:spPr>
          <a:xfrm>
            <a:off x="208547" y="1379620"/>
            <a:ext cx="11839074" cy="5358063"/>
          </a:xfrm>
        </p:spPr>
        <p:txBody>
          <a:bodyPr>
            <a:normAutofit fontScale="92500" lnSpcReduction="10000"/>
          </a:bodyPr>
          <a:lstStyle/>
          <a:p>
            <a:r>
              <a:rPr lang="en-US" sz="3200" dirty="0"/>
              <a:t>Fats </a:t>
            </a:r>
            <a:r>
              <a:rPr lang="en-US" sz="3200" dirty="0">
                <a:sym typeface="Wingdings" panose="05000000000000000000" pitchFamily="2" charset="2"/>
              </a:rPr>
              <a:t></a:t>
            </a:r>
            <a:r>
              <a:rPr lang="en-US" sz="3200" dirty="0"/>
              <a:t> fatty acids + glycerol</a:t>
            </a:r>
          </a:p>
          <a:p>
            <a:r>
              <a:rPr lang="en-US" sz="3200" dirty="0"/>
              <a:t>Fatty acids: Saturated – lauric, palmitic and stearic acids</a:t>
            </a:r>
          </a:p>
          <a:p>
            <a:pPr lvl="1"/>
            <a:r>
              <a:rPr lang="en-US" sz="2800" dirty="0"/>
              <a:t>Unsaturated: MUFA – oleic acid</a:t>
            </a:r>
          </a:p>
          <a:p>
            <a:pPr lvl="2"/>
            <a:r>
              <a:rPr lang="en-US" sz="2400" dirty="0"/>
              <a:t>PUFA – linoleic and α-linolenic acid</a:t>
            </a:r>
          </a:p>
          <a:p>
            <a:r>
              <a:rPr lang="en-US" sz="3200" dirty="0"/>
              <a:t>The PUFA are mostly found in vegetable oils, and the saturated fatty acids mainly in animal fats. However, there are exceptions, as for example, coconut and palm oils, although vegetable oils, have an extremely high percentage of saturated fatty acids. On the other hand, fish oils, although they are not vegetable oils, contain poly and mono-unsaturated fatty acids.</a:t>
            </a:r>
          </a:p>
          <a:p>
            <a:r>
              <a:rPr lang="en-US" sz="3200" dirty="0"/>
              <a:t>EFA - The most important essential fatty acid (EFA) is linoleic acid, which serves as a basis for the production of other essential fatty acids (e.g., linolenic and arachidonic acids). </a:t>
            </a:r>
          </a:p>
          <a:p>
            <a:pPr lvl="1"/>
            <a:r>
              <a:rPr lang="en-US" sz="2800" dirty="0"/>
              <a:t>Linoleic acid is abundantly found in vegetable oils.</a:t>
            </a:r>
          </a:p>
        </p:txBody>
      </p:sp>
    </p:spTree>
    <p:extLst>
      <p:ext uri="{BB962C8B-B14F-4D97-AF65-F5344CB8AC3E}">
        <p14:creationId xmlns:p14="http://schemas.microsoft.com/office/powerpoint/2010/main" val="3952539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up of a list of food&#10;&#10;Description automatically generated">
            <a:extLst>
              <a:ext uri="{FF2B5EF4-FFF2-40B4-BE49-F238E27FC236}">
                <a16:creationId xmlns:a16="http://schemas.microsoft.com/office/drawing/2014/main" id="{CB12A28A-65A0-C138-6777-57B6708CE5FE}"/>
              </a:ext>
            </a:extLst>
          </p:cNvPr>
          <p:cNvPicPr>
            <a:picLocks noChangeAspect="1"/>
          </p:cNvPicPr>
          <p:nvPr/>
        </p:nvPicPr>
        <p:blipFill>
          <a:blip r:embed="rId2"/>
          <a:stretch>
            <a:fillRect/>
          </a:stretch>
        </p:blipFill>
        <p:spPr>
          <a:xfrm>
            <a:off x="851959" y="643467"/>
            <a:ext cx="4874682" cy="5571066"/>
          </a:xfrm>
          <a:prstGeom prst="rect">
            <a:avLst/>
          </a:prstGeom>
        </p:spPr>
      </p:pic>
      <p:pic>
        <p:nvPicPr>
          <p:cNvPr id="7" name="Picture 6" descr="A table with a list of fatty acids&#10;&#10;Description automatically generated">
            <a:extLst>
              <a:ext uri="{FF2B5EF4-FFF2-40B4-BE49-F238E27FC236}">
                <a16:creationId xmlns:a16="http://schemas.microsoft.com/office/drawing/2014/main" id="{4A9D3305-D77A-0C0F-D79A-0403FE42CB10}"/>
              </a:ext>
            </a:extLst>
          </p:cNvPr>
          <p:cNvPicPr>
            <a:picLocks noChangeAspect="1"/>
          </p:cNvPicPr>
          <p:nvPr/>
        </p:nvPicPr>
        <p:blipFill>
          <a:blip r:embed="rId3"/>
          <a:stretch>
            <a:fillRect/>
          </a:stretch>
        </p:blipFill>
        <p:spPr>
          <a:xfrm>
            <a:off x="6256865" y="1457854"/>
            <a:ext cx="5291667" cy="3942291"/>
          </a:xfrm>
          <a:prstGeom prst="rect">
            <a:avLst/>
          </a:prstGeom>
        </p:spPr>
      </p:pic>
    </p:spTree>
    <p:extLst>
      <p:ext uri="{BB962C8B-B14F-4D97-AF65-F5344CB8AC3E}">
        <p14:creationId xmlns:p14="http://schemas.microsoft.com/office/powerpoint/2010/main" val="1720723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FD72-033D-D31D-D3FF-6B4CE4035AA0}"/>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CB35C5F6-5193-C5C1-0AAF-14E9B606C687}"/>
              </a:ext>
            </a:extLst>
          </p:cNvPr>
          <p:cNvSpPr>
            <a:spLocks noGrp="1"/>
          </p:cNvSpPr>
          <p:nvPr>
            <p:ph idx="1"/>
          </p:nvPr>
        </p:nvSpPr>
        <p:spPr/>
        <p:txBody>
          <a:bodyPr>
            <a:normAutofit fontScale="92500" lnSpcReduction="10000"/>
          </a:bodyPr>
          <a:lstStyle/>
          <a:p>
            <a:r>
              <a:rPr lang="en-US" dirty="0"/>
              <a:t>ANIMAL FATS : The major sources of animal fats are ghee, butter, milk, cheese, eggs, and fat of meat and fish. </a:t>
            </a:r>
          </a:p>
          <a:p>
            <a:pPr lvl="1"/>
            <a:r>
              <a:rPr lang="en-US" dirty="0"/>
              <a:t>Animal fats with few exceptions like cod liver oil and sardine oil are mostly saturated fats.</a:t>
            </a:r>
          </a:p>
          <a:p>
            <a:r>
              <a:rPr lang="en-US" dirty="0"/>
              <a:t>VEGETABLE FATS : Some plants store fat in their seeds, e.g.. groundnut, mustard, sesame, coconut, etc. They are sources of vegetable oils.</a:t>
            </a:r>
          </a:p>
          <a:p>
            <a:r>
              <a:rPr lang="en-US" dirty="0"/>
              <a:t>OTHER SOURCES : Small quantities of fat (invisible fat) are found in most other foods such as cereals, pulses, nuts and vegetables. For example, rice carries 3 per cent </a:t>
            </a:r>
            <a:r>
              <a:rPr lang="en-US" dirty="0" err="1"/>
              <a:t>offat</a:t>
            </a:r>
            <a:r>
              <a:rPr lang="en-US" dirty="0"/>
              <a:t>, wheat 3 per cent, jowar 4 per cent and bajra 6.5 per cent. Large cereal consumption, as in India, provides considerable amounts of “invisible fat”. Moreover, the body can convert carbohydrate into fat.</a:t>
            </a:r>
          </a:p>
        </p:txBody>
      </p:sp>
    </p:spTree>
    <p:extLst>
      <p:ext uri="{BB962C8B-B14F-4D97-AF65-F5344CB8AC3E}">
        <p14:creationId xmlns:p14="http://schemas.microsoft.com/office/powerpoint/2010/main" val="4062995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5D7A-4988-BD11-7F91-DB92E47B8B95}"/>
              </a:ext>
            </a:extLst>
          </p:cNvPr>
          <p:cNvSpPr>
            <a:spLocks noGrp="1"/>
          </p:cNvSpPr>
          <p:nvPr>
            <p:ph type="title"/>
          </p:nvPr>
        </p:nvSpPr>
        <p:spPr/>
        <p:txBody>
          <a:bodyPr/>
          <a:lstStyle/>
          <a:p>
            <a:r>
              <a:rPr lang="en-US" dirty="0"/>
              <a:t>Visible and Invisible fats</a:t>
            </a:r>
          </a:p>
        </p:txBody>
      </p:sp>
      <p:sp>
        <p:nvSpPr>
          <p:cNvPr id="3" name="Content Placeholder 2">
            <a:extLst>
              <a:ext uri="{FF2B5EF4-FFF2-40B4-BE49-F238E27FC236}">
                <a16:creationId xmlns:a16="http://schemas.microsoft.com/office/drawing/2014/main" id="{4D8B9514-A02B-A4DF-5239-692FBDA42AE7}"/>
              </a:ext>
            </a:extLst>
          </p:cNvPr>
          <p:cNvSpPr>
            <a:spLocks noGrp="1"/>
          </p:cNvSpPr>
          <p:nvPr>
            <p:ph idx="1"/>
          </p:nvPr>
        </p:nvSpPr>
        <p:spPr>
          <a:xfrm>
            <a:off x="144379" y="1395663"/>
            <a:ext cx="11903242" cy="5097212"/>
          </a:xfrm>
        </p:spPr>
        <p:txBody>
          <a:bodyPr>
            <a:normAutofit fontScale="85000" lnSpcReduction="20000"/>
          </a:bodyPr>
          <a:lstStyle/>
          <a:p>
            <a:r>
              <a:rPr lang="en-US" dirty="0"/>
              <a:t>Edible plant foods have a low content of fat and saturated fatty acids but they are good source of monounsaturated fatty acids and poly-unsaturated fatty acids. </a:t>
            </a:r>
          </a:p>
          <a:p>
            <a:r>
              <a:rPr lang="en-US" dirty="0"/>
              <a:t>In most cereals, millets, pulses and legumes, fat content ranges between 1.5 to 3 per cent. In cereals, millets and most oil seeds, linoleic acid is the major fatty acid whereas pulses, legumes, green leafy vegetables and some oil seeds (e.g. soyabean, rapeseed/mustard and flaxseed) and fenugreek are good sources of both linoleic acid and alpha-linolenic acid. </a:t>
            </a:r>
          </a:p>
          <a:p>
            <a:r>
              <a:rPr lang="en-US" dirty="0"/>
              <a:t>Animal foods like butter, ghee, whole milk cream, fatty cheese and fatty meats provide cholesterol and high amount of saturated fatty acids, and are natural source of trans-fatty acids. </a:t>
            </a:r>
          </a:p>
          <a:p>
            <a:r>
              <a:rPr lang="en-US" dirty="0"/>
              <a:t>Lean meats have a fairly high content of long chain poly-unsaturated fatty acids (PUFA). </a:t>
            </a:r>
          </a:p>
          <a:p>
            <a:r>
              <a:rPr lang="en-US" dirty="0"/>
              <a:t>Poultry meat contains less fat and cholesterol and have high amount of PUFA including long chain PUFA. </a:t>
            </a:r>
          </a:p>
          <a:p>
            <a:r>
              <a:rPr lang="en-US" dirty="0"/>
              <a:t>Egg has high cholesterol but are good source of linoleic acid, alpha-linolenic acid and docosahexaenoic acid (DHA). </a:t>
            </a:r>
          </a:p>
          <a:p>
            <a:r>
              <a:rPr lang="en-US" dirty="0"/>
              <a:t>Fish has less fat, saturated fatty acids and cholesterol but are good source of PUFAs. </a:t>
            </a:r>
          </a:p>
        </p:txBody>
      </p:sp>
    </p:spTree>
    <p:extLst>
      <p:ext uri="{BB962C8B-B14F-4D97-AF65-F5344CB8AC3E}">
        <p14:creationId xmlns:p14="http://schemas.microsoft.com/office/powerpoint/2010/main" val="1326886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04AAA-CFF1-FEF7-A6F5-B71FC0EFBA75}"/>
              </a:ext>
            </a:extLst>
          </p:cNvPr>
          <p:cNvSpPr>
            <a:spLocks noGrp="1"/>
          </p:cNvSpPr>
          <p:nvPr>
            <p:ph type="title"/>
          </p:nvPr>
        </p:nvSpPr>
        <p:spPr/>
        <p:txBody>
          <a:bodyPr/>
          <a:lstStyle/>
          <a:p>
            <a:r>
              <a:rPr lang="en-US" dirty="0"/>
              <a:t>Functions</a:t>
            </a:r>
          </a:p>
        </p:txBody>
      </p:sp>
      <p:sp>
        <p:nvSpPr>
          <p:cNvPr id="3" name="Content Placeholder 2">
            <a:extLst>
              <a:ext uri="{FF2B5EF4-FFF2-40B4-BE49-F238E27FC236}">
                <a16:creationId xmlns:a16="http://schemas.microsoft.com/office/drawing/2014/main" id="{4D16E810-46D0-E89B-9D30-A27F180BAE51}"/>
              </a:ext>
            </a:extLst>
          </p:cNvPr>
          <p:cNvSpPr>
            <a:spLocks noGrp="1"/>
          </p:cNvSpPr>
          <p:nvPr>
            <p:ph idx="1"/>
          </p:nvPr>
        </p:nvSpPr>
        <p:spPr>
          <a:xfrm>
            <a:off x="838199" y="1567543"/>
            <a:ext cx="11194143" cy="4609420"/>
          </a:xfrm>
        </p:spPr>
        <p:txBody>
          <a:bodyPr>
            <a:normAutofit fontScale="92500" lnSpcReduction="20000"/>
          </a:bodyPr>
          <a:lstStyle/>
          <a:p>
            <a:r>
              <a:rPr lang="en-US" sz="2000" dirty="0"/>
              <a:t>Fats have always been equated with calories. They are high energy foods, providing as much as 9 kcal for every gram. </a:t>
            </a:r>
          </a:p>
          <a:p>
            <a:r>
              <a:rPr lang="en-US" sz="2000" dirty="0"/>
              <a:t>By supplying energy, fats spare proteins from being used for energy. </a:t>
            </a:r>
          </a:p>
          <a:p>
            <a:r>
              <a:rPr lang="en-US" sz="2000" dirty="0"/>
              <a:t>Besides providing energy, fats serve as vehicles for fat-soluble vitamins. </a:t>
            </a:r>
          </a:p>
          <a:p>
            <a:r>
              <a:rPr lang="en-US" sz="2000" dirty="0"/>
              <a:t>Fats in the body support viscera such as heart, kidney and intestine; </a:t>
            </a:r>
          </a:p>
          <a:p>
            <a:r>
              <a:rPr lang="en-US" sz="2000" dirty="0"/>
              <a:t>Fat beneath the skin provides insulation against cold. </a:t>
            </a:r>
          </a:p>
          <a:p>
            <a:r>
              <a:rPr lang="en-US" sz="2000" dirty="0"/>
              <a:t>Without fat, food is limited in palatability.</a:t>
            </a:r>
          </a:p>
          <a:p>
            <a:r>
              <a:rPr lang="en-US" sz="2000" dirty="0"/>
              <a:t>EFA are needed by the body for growth, for structural integrity of the cell membrane and decreased platelet adhesiveness. </a:t>
            </a:r>
          </a:p>
          <a:p>
            <a:r>
              <a:rPr lang="en-US" sz="2000" dirty="0"/>
              <a:t>Diets rich in EFA have been reported to reduce serum cholesterol and low-density lipoproteins. </a:t>
            </a:r>
          </a:p>
          <a:p>
            <a:r>
              <a:rPr lang="en-US" sz="2000" dirty="0"/>
              <a:t>Poly-unsaturated fatty acids are precursors of prostaglandin - a group of compounds, now recognized as “local hormones”; they play a major role in controlling many of the physiological functions of the body such as vascular </a:t>
            </a:r>
            <a:r>
              <a:rPr lang="en-US" sz="2000" dirty="0" err="1"/>
              <a:t>haemostasis</a:t>
            </a:r>
            <a:r>
              <a:rPr lang="en-US" sz="2000" dirty="0"/>
              <a:t>, kidney function, acid secretion in stomach, gastro-intestinal motility, lung physiology and reproduction. </a:t>
            </a:r>
          </a:p>
          <a:p>
            <a:r>
              <a:rPr lang="en-US" sz="2000" dirty="0"/>
              <a:t>Cholesterol is essential as a component of membranes and nervous tissue and is a precursor for the synthesis of steroid hormones and bile acids.</a:t>
            </a:r>
          </a:p>
        </p:txBody>
      </p:sp>
    </p:spTree>
    <p:extLst>
      <p:ext uri="{BB962C8B-B14F-4D97-AF65-F5344CB8AC3E}">
        <p14:creationId xmlns:p14="http://schemas.microsoft.com/office/powerpoint/2010/main" val="1652974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F6F7D-4ACF-81AB-7BEC-BCCD34586DF9}"/>
              </a:ext>
            </a:extLst>
          </p:cNvPr>
          <p:cNvSpPr>
            <a:spLocks noGrp="1"/>
          </p:cNvSpPr>
          <p:nvPr>
            <p:ph type="title"/>
          </p:nvPr>
        </p:nvSpPr>
        <p:spPr/>
        <p:txBody>
          <a:bodyPr/>
          <a:lstStyle/>
          <a:p>
            <a:r>
              <a:rPr lang="en-US" dirty="0"/>
              <a:t>Hydrogenation and trans fatty acids</a:t>
            </a:r>
          </a:p>
        </p:txBody>
      </p:sp>
      <p:sp>
        <p:nvSpPr>
          <p:cNvPr id="3" name="Content Placeholder 2">
            <a:extLst>
              <a:ext uri="{FF2B5EF4-FFF2-40B4-BE49-F238E27FC236}">
                <a16:creationId xmlns:a16="http://schemas.microsoft.com/office/drawing/2014/main" id="{B0CC7543-7EE6-AF89-78C1-7F70C6F582F0}"/>
              </a:ext>
            </a:extLst>
          </p:cNvPr>
          <p:cNvSpPr>
            <a:spLocks noGrp="1"/>
          </p:cNvSpPr>
          <p:nvPr>
            <p:ph idx="1"/>
          </p:nvPr>
        </p:nvSpPr>
        <p:spPr>
          <a:xfrm>
            <a:off x="228600" y="1409700"/>
            <a:ext cx="11811000" cy="5083175"/>
          </a:xfrm>
        </p:spPr>
        <p:txBody>
          <a:bodyPr>
            <a:normAutofit fontScale="92500" lnSpcReduction="20000"/>
          </a:bodyPr>
          <a:lstStyle/>
          <a:p>
            <a:r>
              <a:rPr lang="en-US" dirty="0"/>
              <a:t>Hydrogenation - unsaturated fatty acids are converted into saturated acids and the EFA content is drastically reduced. </a:t>
            </a:r>
          </a:p>
          <a:p>
            <a:pPr lvl="1"/>
            <a:r>
              <a:rPr lang="en-US" dirty="0"/>
              <a:t>The main advantage of vanaspati is its ghee-like consistency and its keeping quality even in hot humid climates. </a:t>
            </a:r>
          </a:p>
          <a:p>
            <a:pPr lvl="1"/>
            <a:r>
              <a:rPr lang="en-US" dirty="0"/>
              <a:t>Vanaspati is lacking in fat-soluble vitamins, it is fortified with vitamins A and D by government regulation to the extent of 2500 IU of vitamin A and 175 IU of vitamin D per 100 grams.</a:t>
            </a:r>
          </a:p>
          <a:p>
            <a:r>
              <a:rPr lang="en-US" dirty="0"/>
              <a:t>Trans Fatty acids - Partial hydrogenation, the process used to increase shelf-</a:t>
            </a:r>
            <a:r>
              <a:rPr lang="en-US" dirty="0" err="1"/>
              <a:t>lFfe</a:t>
            </a:r>
            <a:r>
              <a:rPr lang="en-US" dirty="0"/>
              <a:t> of poly-unsaturated fatty acids (PUFAs) create trans fatty acids and also removes the critical double bonds in essential fatty acids. </a:t>
            </a:r>
          </a:p>
          <a:p>
            <a:pPr lvl="1"/>
            <a:r>
              <a:rPr lang="en-US" dirty="0"/>
              <a:t>Metabolic studies have demonstrated that trans-fatty acids render the plasma lipid profile even more atherogenic than saturated fatty acids, by not only elevating LDL cholesterol but also by decreasing HDL cholesterol.</a:t>
            </a:r>
          </a:p>
          <a:p>
            <a:pPr lvl="1"/>
            <a:r>
              <a:rPr lang="en-US" dirty="0"/>
              <a:t>It takes years for trans fatty acids to be flushed from the body. </a:t>
            </a:r>
          </a:p>
          <a:p>
            <a:pPr lvl="1"/>
            <a:r>
              <a:rPr lang="en-US" dirty="0"/>
              <a:t>Deep fried fast foods, cake mixes, cereals and energy bars, chips and crackers and whipped toppings, packaged cookies and candy, packaged doughnuts, pies and cakes are major sources of trans-fatty acids. </a:t>
            </a:r>
          </a:p>
          <a:p>
            <a:pPr lvl="1"/>
            <a:r>
              <a:rPr lang="en-US" dirty="0"/>
              <a:t>It is better to look for “partially hydrogenated oil” on the label of any packaged food.</a:t>
            </a:r>
          </a:p>
        </p:txBody>
      </p:sp>
    </p:spTree>
    <p:extLst>
      <p:ext uri="{BB962C8B-B14F-4D97-AF65-F5344CB8AC3E}">
        <p14:creationId xmlns:p14="http://schemas.microsoft.com/office/powerpoint/2010/main" val="4254015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ECDDE-5B2E-F310-E3E9-436A7F5F0864}"/>
              </a:ext>
            </a:extLst>
          </p:cNvPr>
          <p:cNvSpPr>
            <a:spLocks noGrp="1"/>
          </p:cNvSpPr>
          <p:nvPr>
            <p:ph type="title"/>
          </p:nvPr>
        </p:nvSpPr>
        <p:spPr/>
        <p:txBody>
          <a:bodyPr/>
          <a:lstStyle/>
          <a:p>
            <a:r>
              <a:rPr lang="en-US" dirty="0"/>
              <a:t>Refined oil</a:t>
            </a:r>
          </a:p>
        </p:txBody>
      </p:sp>
      <p:sp>
        <p:nvSpPr>
          <p:cNvPr id="3" name="Content Placeholder 2">
            <a:extLst>
              <a:ext uri="{FF2B5EF4-FFF2-40B4-BE49-F238E27FC236}">
                <a16:creationId xmlns:a16="http://schemas.microsoft.com/office/drawing/2014/main" id="{611A02DD-BCD6-516F-82C5-7A777F5E4D89}"/>
              </a:ext>
            </a:extLst>
          </p:cNvPr>
          <p:cNvSpPr>
            <a:spLocks noGrp="1"/>
          </p:cNvSpPr>
          <p:nvPr>
            <p:ph idx="1"/>
          </p:nvPr>
        </p:nvSpPr>
        <p:spPr/>
        <p:txBody>
          <a:bodyPr/>
          <a:lstStyle/>
          <a:p>
            <a:r>
              <a:rPr lang="en-US" dirty="0"/>
              <a:t>Refining is usually done by treatment with steam, alkali, etc. </a:t>
            </a:r>
          </a:p>
          <a:p>
            <a:r>
              <a:rPr lang="en-US" dirty="0"/>
              <a:t>Refining and </a:t>
            </a:r>
            <a:r>
              <a:rPr lang="en-US" dirty="0" err="1"/>
              <a:t>deodourization</a:t>
            </a:r>
            <a:r>
              <a:rPr lang="en-US" dirty="0"/>
              <a:t> of raw oils is done mainly to remove the free fatty acids and rancid materials which may be present in them. </a:t>
            </a:r>
          </a:p>
          <a:p>
            <a:r>
              <a:rPr lang="en-US" dirty="0"/>
              <a:t>Refining does not bring about any change in the unsaturated fatty acid content of the oil. </a:t>
            </a:r>
          </a:p>
          <a:p>
            <a:r>
              <a:rPr lang="en-US" dirty="0"/>
              <a:t>It only improves the quality and taste of oils. </a:t>
            </a:r>
          </a:p>
          <a:p>
            <a:r>
              <a:rPr lang="en-US" dirty="0"/>
              <a:t>Refined oils are costly.</a:t>
            </a:r>
          </a:p>
        </p:txBody>
      </p:sp>
    </p:spTree>
    <p:extLst>
      <p:ext uri="{BB962C8B-B14F-4D97-AF65-F5344CB8AC3E}">
        <p14:creationId xmlns:p14="http://schemas.microsoft.com/office/powerpoint/2010/main" val="607817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C239C-9BDA-7C9E-B55B-1F516751DF62}"/>
              </a:ext>
            </a:extLst>
          </p:cNvPr>
          <p:cNvSpPr>
            <a:spLocks noGrp="1"/>
          </p:cNvSpPr>
          <p:nvPr>
            <p:ph type="title"/>
          </p:nvPr>
        </p:nvSpPr>
        <p:spPr/>
        <p:txBody>
          <a:bodyPr/>
          <a:lstStyle/>
          <a:p>
            <a:r>
              <a:rPr lang="en-US" dirty="0"/>
              <a:t>Choice of cooking oil</a:t>
            </a:r>
          </a:p>
        </p:txBody>
      </p:sp>
      <p:sp>
        <p:nvSpPr>
          <p:cNvPr id="3" name="Content Placeholder 2">
            <a:extLst>
              <a:ext uri="{FF2B5EF4-FFF2-40B4-BE49-F238E27FC236}">
                <a16:creationId xmlns:a16="http://schemas.microsoft.com/office/drawing/2014/main" id="{479942A6-1B00-0DDD-A5AA-C50D3A9EFD23}"/>
              </a:ext>
            </a:extLst>
          </p:cNvPr>
          <p:cNvSpPr>
            <a:spLocks noGrp="1"/>
          </p:cNvSpPr>
          <p:nvPr>
            <p:ph idx="1"/>
          </p:nvPr>
        </p:nvSpPr>
        <p:spPr/>
        <p:txBody>
          <a:bodyPr>
            <a:normAutofit fontScale="70000" lnSpcReduction="20000"/>
          </a:bodyPr>
          <a:lstStyle/>
          <a:p>
            <a:r>
              <a:rPr lang="en-US" dirty="0"/>
              <a:t>Use correct combination/blend of 2 or more vegetable oils (1:1)</a:t>
            </a:r>
          </a:p>
          <a:p>
            <a:r>
              <a:rPr lang="en-US" dirty="0"/>
              <a:t>Oil containing LA + oil containing both LA and ALA</a:t>
            </a:r>
          </a:p>
          <a:p>
            <a:pPr lvl="1"/>
            <a:r>
              <a:rPr lang="en-US" dirty="0"/>
              <a:t>Groundnut/Sesame/Rice bran/Cottonseed 4- Mustard/ Rapeseed</a:t>
            </a:r>
          </a:p>
          <a:p>
            <a:pPr lvl="1"/>
            <a:r>
              <a:rPr lang="en-US" dirty="0"/>
              <a:t>Groundnut/Sesame/Rice bran/Cottonseed + Canola</a:t>
            </a:r>
          </a:p>
          <a:p>
            <a:pPr lvl="1"/>
            <a:r>
              <a:rPr lang="en-US" dirty="0"/>
              <a:t>Groundnut/Sesame/Rice bran/Cottonseed + Soyabean</a:t>
            </a:r>
          </a:p>
          <a:p>
            <a:pPr lvl="1"/>
            <a:r>
              <a:rPr lang="en-US" dirty="0" err="1"/>
              <a:t>Palmolein</a:t>
            </a:r>
            <a:r>
              <a:rPr lang="en-US" dirty="0"/>
              <a:t> + Soyabean</a:t>
            </a:r>
          </a:p>
          <a:p>
            <a:pPr lvl="1"/>
            <a:r>
              <a:rPr lang="en-US" dirty="0"/>
              <a:t>Safflower/Sunflower + Palm oil/</a:t>
            </a:r>
            <a:r>
              <a:rPr lang="en-US" dirty="0" err="1"/>
              <a:t>Palmolein</a:t>
            </a:r>
            <a:r>
              <a:rPr lang="en-US" dirty="0"/>
              <a:t> + Mustard/Rapeseed.</a:t>
            </a:r>
          </a:p>
          <a:p>
            <a:r>
              <a:rPr lang="en-US" dirty="0"/>
              <a:t>Oil containing high LA + oil containing moderate or low LA</a:t>
            </a:r>
          </a:p>
          <a:p>
            <a:pPr lvl="1"/>
            <a:r>
              <a:rPr lang="en-US" dirty="0"/>
              <a:t>Sunflower/Safflower + </a:t>
            </a:r>
            <a:r>
              <a:rPr lang="en-US" dirty="0" err="1"/>
              <a:t>Palmolein</a:t>
            </a:r>
            <a:r>
              <a:rPr lang="en-US" dirty="0"/>
              <a:t>/Palm oil/Olive</a:t>
            </a:r>
          </a:p>
          <a:p>
            <a:pPr lvl="1"/>
            <a:r>
              <a:rPr lang="en-US" dirty="0"/>
              <a:t>Safflower/Sunflower + Groundnut/Sesame/</a:t>
            </a:r>
            <a:r>
              <a:rPr lang="en-US" dirty="0" err="1"/>
              <a:t>Ricebran</a:t>
            </a:r>
            <a:r>
              <a:rPr lang="en-US" dirty="0"/>
              <a:t>/ Cottonseed.</a:t>
            </a:r>
          </a:p>
          <a:p>
            <a:r>
              <a:rPr lang="en-US" dirty="0"/>
              <a:t>Limit use of butter/ghee.</a:t>
            </a:r>
          </a:p>
          <a:p>
            <a:r>
              <a:rPr lang="en-US" dirty="0"/>
              <a:t>Avoid use of PHVO as medium for cooking/frying.</a:t>
            </a:r>
          </a:p>
          <a:p>
            <a:r>
              <a:rPr lang="en-US" dirty="0"/>
              <a:t>Replacements for PHVO</a:t>
            </a:r>
          </a:p>
          <a:p>
            <a:r>
              <a:rPr lang="en-US" dirty="0"/>
              <a:t>Frying : oils which have higher thermal stability – palm oil/</a:t>
            </a:r>
            <a:r>
              <a:rPr lang="en-US" dirty="0" err="1"/>
              <a:t>palmolein</a:t>
            </a:r>
            <a:r>
              <a:rPr lang="en-US" dirty="0"/>
              <a:t>, sesame, </a:t>
            </a:r>
            <a:r>
              <a:rPr lang="en-US" dirty="0" err="1"/>
              <a:t>ricebran</a:t>
            </a:r>
            <a:r>
              <a:rPr lang="en-US" dirty="0"/>
              <a:t>, cottonseed - single/blends (home/commercial)</a:t>
            </a:r>
          </a:p>
        </p:txBody>
      </p:sp>
    </p:spTree>
    <p:extLst>
      <p:ext uri="{BB962C8B-B14F-4D97-AF65-F5344CB8AC3E}">
        <p14:creationId xmlns:p14="http://schemas.microsoft.com/office/powerpoint/2010/main" val="2670989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0FD136-BC4F-8506-07BA-52AB8EFD5E06}"/>
              </a:ext>
            </a:extLst>
          </p:cNvPr>
          <p:cNvSpPr>
            <a:spLocks noGrp="1"/>
          </p:cNvSpPr>
          <p:nvPr>
            <p:ph type="title"/>
          </p:nvPr>
        </p:nvSpPr>
        <p:spPr>
          <a:xfrm>
            <a:off x="804672" y="4267832"/>
            <a:ext cx="4805996" cy="1297115"/>
          </a:xfrm>
        </p:spPr>
        <p:txBody>
          <a:bodyPr vert="horz" lIns="91440" tIns="45720" rIns="91440" bIns="45720" rtlCol="0" anchor="t">
            <a:normAutofit/>
          </a:bodyPr>
          <a:lstStyle/>
          <a:p>
            <a:r>
              <a:rPr lang="en-US" sz="4000" kern="1200" dirty="0">
                <a:solidFill>
                  <a:schemeClr val="tx2"/>
                </a:solidFill>
                <a:latin typeface="+mj-lt"/>
                <a:ea typeface="+mj-ea"/>
                <a:cs typeface="+mj-cs"/>
              </a:rPr>
              <a:t>Thanks</a:t>
            </a:r>
          </a:p>
        </p:txBody>
      </p:sp>
      <p:grpSp>
        <p:nvGrpSpPr>
          <p:cNvPr id="14" name="Group 13">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15" name="Freeform: Shape 14">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Smiling Face with No Fill">
            <a:extLst>
              <a:ext uri="{FF2B5EF4-FFF2-40B4-BE49-F238E27FC236}">
                <a16:creationId xmlns:a16="http://schemas.microsoft.com/office/drawing/2014/main" id="{2B75D8AB-2288-6658-3F76-742F70D560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9652" y="1859078"/>
            <a:ext cx="3821102" cy="3821102"/>
          </a:xfrm>
          <a:prstGeom prst="rect">
            <a:avLst/>
          </a:prstGeom>
          <a:ln>
            <a:noFill/>
          </a:ln>
        </p:spPr>
      </p:pic>
    </p:spTree>
    <p:extLst>
      <p:ext uri="{BB962C8B-B14F-4D97-AF65-F5344CB8AC3E}">
        <p14:creationId xmlns:p14="http://schemas.microsoft.com/office/powerpoint/2010/main" val="2420890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2316</Words>
  <Application>Microsoft Office PowerPoint</Application>
  <PresentationFormat>Widescreen</PresentationFormat>
  <Paragraphs>123</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Office Theme</vt:lpstr>
      <vt:lpstr>Nutrition</vt:lpstr>
      <vt:lpstr>Nutrients</vt:lpstr>
      <vt:lpstr>Proteins</vt:lpstr>
      <vt:lpstr>Essential amino acids</vt:lpstr>
      <vt:lpstr>Functions</vt:lpstr>
      <vt:lpstr>Sources</vt:lpstr>
      <vt:lpstr>Supplementary action</vt:lpstr>
      <vt:lpstr>Protein metabolism</vt:lpstr>
      <vt:lpstr>Evaluation and assessment</vt:lpstr>
      <vt:lpstr>FATS</vt:lpstr>
      <vt:lpstr>Fats</vt:lpstr>
      <vt:lpstr>Fatty acids</vt:lpstr>
      <vt:lpstr>PowerPoint Presentation</vt:lpstr>
      <vt:lpstr>Sources</vt:lpstr>
      <vt:lpstr>Visible and Invisible fats</vt:lpstr>
      <vt:lpstr>Functions</vt:lpstr>
      <vt:lpstr>Hydrogenation and trans fatty acids</vt:lpstr>
      <vt:lpstr>Refined oil</vt:lpstr>
      <vt:lpstr>Choice of cooking oil</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Nutrition</dc:title>
  <dc:creator>mukul maheshwari</dc:creator>
  <cp:lastModifiedBy>mukul maheshwari</cp:lastModifiedBy>
  <cp:revision>1</cp:revision>
  <dcterms:created xsi:type="dcterms:W3CDTF">2023-09-26T14:42:39Z</dcterms:created>
  <dcterms:modified xsi:type="dcterms:W3CDTF">2023-09-26T17:30:20Z</dcterms:modified>
</cp:coreProperties>
</file>