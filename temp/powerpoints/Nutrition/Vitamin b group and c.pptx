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57705" y="2729230"/>
            <a:ext cx="8644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800" b="1">
                <a:latin typeface="Times New Roman" panose="02020603050405020304" charset="0"/>
                <a:cs typeface="Times New Roman" panose="02020603050405020304" charset="0"/>
              </a:rPr>
              <a:t>Vitamin </a:t>
            </a:r>
            <a:r>
              <a:rPr lang="en-US" sz="4800" b="1">
                <a:latin typeface="Times New Roman Regular" panose="02020603050405020304" charset="0"/>
                <a:cs typeface="Times New Roman Regular" panose="02020603050405020304" charset="0"/>
              </a:rPr>
              <a:t>B Group &amp; Vitamin C</a:t>
            </a:r>
            <a:endParaRPr lang="en-US" sz="4800" b="1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6525" y="204470"/>
            <a:ext cx="11918315" cy="6308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THIAMINE (B1)</a:t>
            </a:r>
            <a:endParaRPr lang="en-US" sz="2000" b="1" u="sng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sz="2000" b="1" u="sng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Thiamine (vitamin B1) is a water-soluble vitamin.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essential for the utilization of carbohydrates.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Thiamine pyrophosphate (TPP), the coenzyme of cocarboxylase plays a part in activating transketolase, an enzyme involved in the direct oxidative pathway for glucose.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 thiamine deficiency, there is accumulation of pyruvic and lactic acids in the tissues and body fluids.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Sources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Thiamine occurs in all natural foods, although in small amounts.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Important sources are : whole grain cereals, wheat, gram, yeast, pulses, oilseeds and nuts, especially groundnut.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Meat, fish, eggs, vegetables and fruits contain smaller amounts.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Milk is an important source of thiamine for infants, provided the thiamine status of their mothers is satisfactory.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main source of thiamine in the diet of Indian people is cereals (rice and wheat) which contribute from 60-85 % of the total supply.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just">
              <a:buFont typeface="Wingdings" panose="05000000000000000000" charset="0"/>
              <a:buChar char="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Thiamine losses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Thiamine is readily lost from rice during the process of milling.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Being a water-soluble vitamin, further losses take place during washing and cooking of rice.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is the basis for advising people to eschew highly polished rice and eat parboiled or under-milled rice.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Much of thiamine in fruits and vegetables is generally lost durinq prolonged storage.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Thiamine is also destroyed in toast and in cereals cooked with baking soda.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just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occurrence or absence of beriberi is determined by the local customs and cultural practices concerning the processing and cooking of rice and other food stuffs.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3195" y="187325"/>
            <a:ext cx="11924665" cy="7108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Deficiency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The two principal deficiency diseases are </a:t>
            </a:r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</a:rPr>
              <a:t>B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eriberi and Wernick’s encephalopathy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Beriberi may occur in three main forms :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indent="0" algn="l">
              <a:buFont typeface="Wingdings" panose="05000000000000000000" charset="0"/>
              <a:buNone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(a) the dry form characterized by nerve involvement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(peripheral neuritis)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indent="0" algn="l">
              <a:buFont typeface="Wingdings" panose="05000000000000000000" charset="0"/>
              <a:buNone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(b) the wet form characterized by heart involvement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(cardiac beriberi)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indent="0" algn="l">
              <a:buFont typeface="Wingdings" panose="05000000000000000000" charset="0"/>
              <a:buNone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(c)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infantile beriberi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, seen in infants between 2 and 4 months of age.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affected baby is usually breast-fed by a thiamine-deficient mother who commonly shows signs of peripheral neuropathy.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Wernick’s encephalopathy (seen often in alcoholics) is characterized by ophthalmoplegia, polyneuritis, ataxia and mental deterioration. It occurs occasionally in people who fast.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few short decades ago, frank cases of beriberi used to be frequently seen in the coastal districts of Andhra Pradesh where people eat highly polished rice.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Prevention: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Beriberi can be eliminated by educating people to eat well-balanced, mixed diets containing thiamine-rich foods (e.g., parboiled and undermilled rice) and to stop all alcohol.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Direct supplementation of high risk groups (e.g., lactating mothers) is another approach.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Beriberi tends to disappear as economic conditions improve and diets become more varied.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Recommended allowances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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body content of thiamine is placed at 30 mg, and if more than this is given it is merely lost in the urine.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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Patients on regular haemodialysis should routinely be given supplements of thiamine.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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Thiamine should also be given prophylactically to people with persistent vomiting or prolonged gastric aspiration and those who go on long fasts.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/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0670" y="274320"/>
            <a:ext cx="11779885" cy="6308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RIBOFLAVIN (B2)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Riboflavin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(Vitamin B2) is a member of the B-group vitamins, It has a fundamental role in cellular oxidation.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plays an important role in maintaining the integrity of mucocutaneous structure &amp; it is a co-factor in a number of enzymes involved with energy metabolism.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also involved in antioxidant activity, being a co-factor for the enzymes like glutathione reductace and is required for the metabolism of other vitamins like vitamin B6, niacin and vitamin K.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Sources:</a:t>
            </a:r>
            <a:endParaRPr lang="en-US" sz="2000" b="1" u="sng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Richest natural sources are milk, eggs, liver, kidney and green leafy vegetables.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Meat and fish contain small amount &amp; Cereals (whether whole or milled) and pulses are relatively poor sources but because of the bulk in which they are consumed, they contribute much of the riboflavin to Indian diets.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Germination increases the riboflavin content of pulses and cereals.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Deficiency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most common lesion associated with riboflavin deficiency is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angular stomatitis,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which occurs frequently in malnourished children.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Other clinical signs suggestive (but not specific) include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cheilosis, glossitis, nasolabial dyssebacia, etc.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Hypo riboflavinosis, even when severe, seldom incapacitates the individual, but it may have subtle functional effects such as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impaired neuromotor function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wound healing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and perhaps increased susceptibility to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cataract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Requirement: 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are no real body stores of riboflavin. Daily requirement is 1.96 mg per 1000 kcal of energy intake.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7955" y="244475"/>
            <a:ext cx="1189609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NIACIN (B3)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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Niacin or nicotinic acid (B3) is essential for the metabolism of carbohydrate, fat and protein.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also essential for the normal functioning of the skin, intestinal and nervous systems.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vitamin differs from the other vitamins of the B-complex group in that an essential amino acid, tryptophan serves as its precursor.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Another characteristic of niacin is that it is not excreted in urine as such, but is metabolized to at least 2 major methylated derivatives :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N-methyl-nicotinamide and N-methyl pyridones.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Sources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657350" lvl="3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Foods rich in niacin and/or tryptophan are liver, kidney, meat, poultry, fish, legumes and groundnut.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657350" lvl="3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Milk is a poor source of niacin but its proteins are rich in tryptophan which Is converted in the body into niacin (about 60 mg of byptophan is required to result in 1 mg of niacin).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657350" lvl="3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 many cereals, especially maize, niacin occurs in “bound1 form unavailable to the consumer.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Deficiency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Niacin deficiency results in pellagra, the disease is characterized by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3 D's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714500" lvl="3" indent="-342900" algn="l">
              <a:buFont typeface="+mj-lt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Diarrhoea.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714500" lvl="3" indent="-342900" algn="l">
              <a:buFont typeface="+mj-lt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Dermatitis.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714500" lvl="3" indent="-342900" algn="l">
              <a:buFont typeface="+mj-lt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Dementia.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96215" y="228600"/>
            <a:ext cx="11799570" cy="6400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>
              <a:buFont typeface="Wingdings" panose="05000000000000000000" charset="0"/>
              <a:buNone/>
            </a:pPr>
            <a:r>
              <a:rPr lang="en-US" sz="24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CONT....</a:t>
            </a:r>
            <a:endParaRPr lang="en-US" sz="24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 addition glossitis and stomatitis usually occur.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The dermatitis is bilaterally symmetrical and is found only on those surfaces of the body exposed to sunlight, such as back of the hands, lower legs, face and neck.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Mental changes may also occur which include depression, irritability and delirium.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Once a formidable and widespread deficiency disease among malnourished population subsisting mainly on maize diets, pellagra has declined in all parts of the world.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Regular" panose="02020603050405020304" charset="0"/>
                <a:cs typeface="Times New Roman Regular" panose="02020603050405020304" charset="0"/>
              </a:rPr>
              <a:t>Prevention</a:t>
            </a:r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</a:rPr>
              <a:t>: </a:t>
            </a: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Pellagra is a preventable disease.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good mixed diet containing milk and/or meat is universally regarded as an essential part of prevention and treatment.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Avoidance of total dependence on maize or sorghum is an important preventive measure.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Pellagra is a disease of poverty.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Given modern knowledge and opportunities for economic, agricultural and social development, there is every reason to hope that this disease could be eliminated.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Requirement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recommended daily allowance is 12 mg per day of energy intake.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78130" y="250190"/>
            <a:ext cx="1161161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"/>
            </a:pPr>
            <a:r>
              <a:rPr lang="en-US" b="1" u="sng">
                <a:latin typeface="Times New Roman Bold" panose="02020603050405020304" charset="0"/>
                <a:cs typeface="Times New Roman Bold" panose="02020603050405020304" charset="0"/>
              </a:rPr>
              <a:t>PYRIDOXINE (B6)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"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Pyridoxine (vitamin B6) exists in three forms :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Pyridoxine.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Pyridoxal.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AutoNum type="arabicPeriod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Pyridoxamine. 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AutoNum type="arabicPeriod"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plays an important role in the metabolism of amino-acids, fats and carbohydrate.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widely distributed in foods, e.g.. milk, liver, meat, egg yolk, fish, whole grain cereals, legumes and vegetables.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Pyridoxine deficiency is associated with peripheral neuritis.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Riboflavin deficiency impairs the optimal utilization of pyridoxine.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INH, an antituberculosis drug is a recognized antagonist, and patients receiving INH are provided with a supplement of pyridoxine (10 mg/day).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requirements of adults vary directly with protein intake.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Adults may need 2 mg/day &amp; during pregnancy and lactation 2.5 mg/day.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Balanced diets usually contain pyridoxine, therefore deficiency is rare.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6550" y="675005"/>
            <a:ext cx="1151890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PANTOTHENIC ACID (B5)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is a long standing evidence for a relation between pantothenic acid and adrenal cortical function. Work indicates a more specific role for Pantothenic acid in the biosynthesis of corticosteroids.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Human blood normally contains 18 to 35 mg of pantothenic acid per 100 ml, mostly present in the cells as coenzyme A.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daily requirement is set at 5 mg.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All foods contribute to dietary intake.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About 3 mg are excreted daily in urine.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0025" y="230505"/>
            <a:ext cx="11697335" cy="6647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FOLATE (B9)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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Folic acid occurs in food in two forms :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free folates and bound folates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 man, free folate is rapidly absorbed, primarily from the proximal part of small intestine. The availability of bound folate is uncertain.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Folic acid plays a role in the synthesis of the nucleic acids (which constitute the chromosomes).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also needed for the normal development of blood cells in the marrow.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Sources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name comes from the latin folia (= leaf) but foods such as liver, meat, dairy products, eggs, milk, fruits and cereals are as good dietary sources as leafy vegetables.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Overcooking destroys much of folic acid and thus contributes to folate deficiency in man.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Folate deficiency has been reported in babies given milk foods subjected to heat sterilization.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Deficiency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Folate deficiency may occur simply from a poor diet.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commonly found in pregnancy and lactation, where requirements are increased.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results in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megaloblastic anaemia, glossitis, cheilosis and gastrointestinal disturbances such as diarrhoea, distension and flatulence.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Severe folate deficiency may cause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infertility or even sterility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3205" y="490220"/>
            <a:ext cx="11704955" cy="5877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>
              <a:buFont typeface="Wingdings" panose="05000000000000000000" charset="0"/>
              <a:buNone/>
            </a:pPr>
            <a:r>
              <a:rPr lang="en-US" sz="24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CONT....</a:t>
            </a:r>
            <a:endParaRPr lang="en-US" sz="24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0" indent="0" algn="l">
              <a:buFont typeface="Wingdings" panose="05000000000000000000" charset="0"/>
              <a:buNone/>
            </a:pPr>
            <a:endParaRPr lang="en-US" sz="24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There is also evidence that the administration of folic acid antagonists (e.g., alcohol, pyrimethamine, and cotrimoxazole) in early pregnancy may produce abortions or congenital malformations.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The laboratory diagnosis of folate deficiency is based on measurement of serum and red cell folate concentrations, usually by microbiological assay.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Requirement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Body stores of folate are not large, about 5-10 mg, and therefore, folate deficiency can develop quickly.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RDA for Sedentary men 300mcg/day, as prophylaxis for pregnant &amp; lactating mother 500 to 570mcg/day.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Folic acid requirements are greatest in conditions where there is rapid cell multiplication, such as during growth in young children and during pregnancy.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Folic acid supplementation during pregnancy has been found to increase the birth weight of infants and decrease the incidence of low birth weight babies.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32410" y="161925"/>
            <a:ext cx="11727815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VITAMIN B12:</a:t>
            </a:r>
            <a:endParaRPr lang="en-US" sz="2000" b="1" u="sng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"/>
            </a:pPr>
            <a:endParaRPr lang="en-US" sz="2000" b="1" u="sng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B12 is complex organo-metallic compound with a cobalt atom.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preparation which is therapeutically used is cyanocobalmin, which is relatively cheap.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B12 cooperates with folate in the synthesis of DNA, so deficiency of either leads to megaloblastosis.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BI2 has a separate biochemical role, unrelated to folate, in synthesis of fatty acids in myelin.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physiological mechanism for its absorption requires intrinsic factor from the stomach, and the complex is absorbed only at a special site in the terminal ileum.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Sources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Good sources are liver, kidney, meat, fish, eggs, milk and cheese.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BI2 is not found in foods of vegetable origin It is also synthesized by bacteria in colon.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Unlike folic acid vitamin B12 is relatively heat stable.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Liver is the main storage site of vitamin B12, about 2 mg are stored in liver, and another 2 mg elsewhere in the body.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These stores are sufficient to tide over any deficiency for one to three years. Because of these reserves, deficiency of vitamin B12 appears to be rare.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6700" y="538480"/>
            <a:ext cx="11658600" cy="5723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Deficiency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: </a:t>
            </a:r>
            <a:endParaRPr lang="en-US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lvl="1" indent="0" algn="l">
              <a:buFont typeface="Wingdings" panose="05000000000000000000" charset="0"/>
              <a:buNone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Vitamin B12 deficiency is associated with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megaloblastic anaemia (pernicious anaemia), demyelinating neurological lesions in the spinal cord and infertility (in animal species)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; which is rarely seen in India.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While clinical deficiency of B9 is not manifested, sub-clinical deficiency is reported to exist in India.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Reports indicate that there exist more than 30 per cent deficiency in adults and children in the country.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It is not surprising that blood levels of vitamin B12 are low, since a large proportion of population depends on plant food for nutrients.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Requirement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Intake values recommended by ICMR (2020) are as below.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657350" lvl="3" indent="-285750" algn="l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Normal adults 2.2 mcg/day.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657350" lvl="3" indent="-285750" algn="l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Pregnancy +0.25 mcg/day.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657350" lvl="3" indent="-285750" algn="l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Lactation + 1.0 mcg/day.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657350" lvl="3" indent="-285750" algn="l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Infants &amp; children 2.2 mcg/day.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0990" y="289560"/>
            <a:ext cx="11414760" cy="60312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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VITAMIN C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 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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C (ascorbic acid) is a water-soluble vitamin.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the most sensitive of all vitamins to heat.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Man, monkey and guinea pig are perhaps the only species known to require vitamin C in their diet.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Functions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742950" lvl="1" indent="-28575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C is a potent antioxidant and has an important role to play in tissue oxidation.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needed for the formation of collagen, which accounts for 25 per cent of total body protein.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Collagen provides a supporting matrix for the blood vessels and connective tissue, and for bones and cartilage.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That explains why in vitamin C deficiency this support fails, with the result that local haemorrhages occur and the bones fracture easily.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Vitamin C, by reducing ferric iron to ferrous iron, facilitates the absorption of iron from vegetable foods.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inhibits nitrosamine formation by the intestinal mucosa.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32410" y="223520"/>
            <a:ext cx="1176972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indent="0" algn="l">
              <a:buFont typeface="Wingdings" panose="05000000000000000000" charset="0"/>
              <a:buNone/>
            </a:pPr>
            <a:endParaRPr lang="en-US" sz="20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Regular" panose="02020603050405020304" charset="0"/>
                <a:cs typeface="Times New Roman Regular" panose="02020603050405020304" charset="0"/>
              </a:rPr>
              <a:t>Sources</a:t>
            </a:r>
            <a:r>
              <a:rPr lang="en-US" sz="2000" b="1">
                <a:latin typeface="Times New Roman Regular" panose="02020603050405020304" charset="0"/>
                <a:cs typeface="Times New Roman Regular" panose="02020603050405020304" charset="0"/>
              </a:rPr>
              <a:t>:</a:t>
            </a:r>
            <a:endParaRPr lang="en-US" sz="20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The main dietary sources of vitamin C are fresh fruits and green leafy vegetables, traces of vitamin C occur in fresh meat and fish but scarcely in cereals.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Germinating pulses contain good amounts, Roots and tubers contain small amounts.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Amla or the Indian gooseberry is one of the richest sources of vitamin C both in the fresh as well as in the dry condition, Guavas are another cheap but rich source of this vitamin.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742950" lvl="1" indent="-28575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The dietary sources of vitamin C are as follow:</a:t>
            </a:r>
            <a:endParaRPr lang="en-US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lvl="2" indent="0" algn="l">
              <a:buFont typeface="Wingdings" panose="05000000000000000000" charset="0"/>
              <a:buNone/>
            </a:pP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Fruits:                                                                    Vegetables: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Amla 600mg/100gm                                               Cabbage 124mg/100gm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Guava 212mg/100gm                                             Amaranth 99mg/100gm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Lime 63mg/100gm                                                 Cauliflower 56mg/100gm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Orange 30mg/100gm                                              Spinach 28mg/100gm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Tomato 27mg/100gm                                             Brinjal 12mg/100gm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Germinated pulses:</a:t>
            </a: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                                Potatoes 17mg/100gm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Bengal gram 16mg/100gm                                     Raddish 15mg/100gm</a:t>
            </a: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00150" lvl="2" indent="-285750" algn="l">
              <a:buFont typeface="Wingdings" panose="05000000000000000000" charset="0"/>
              <a:buChar char=""/>
            </a:pPr>
            <a:endParaRPr lang="en-US" sz="2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0365" y="923290"/>
            <a:ext cx="1143063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Deficiency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Deficiency of vitamin C results in scurvy, the signs of which are swollen and bleeding gums, subcutaneous bruising or bleeding into the skin or joints, delayed wound healing, anaemia and weakness.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Scurvy which was once an important deficiency disease is no longer a disease of world importance.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r>
              <a:rPr lang="en-US" sz="2000" b="1" u="sng">
                <a:latin typeface="Times New Roman Bold" panose="02020603050405020304" charset="0"/>
                <a:cs typeface="Times New Roman Bold" panose="02020603050405020304" charset="0"/>
              </a:rPr>
              <a:t>Requirement</a:t>
            </a:r>
            <a:r>
              <a:rPr lang="en-US" sz="2000" b="1">
                <a:latin typeface="Times New Roman Bold" panose="02020603050405020304" charset="0"/>
                <a:cs typeface="Times New Roman Bold" panose="02020603050405020304" charset="0"/>
              </a:rPr>
              <a:t>: </a:t>
            </a: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00100" lvl="1" indent="-342900" algn="l">
              <a:buFont typeface="Wingdings" panose="05000000000000000000" charset="0"/>
              <a:buChar char=""/>
            </a:pPr>
            <a:endParaRPr lang="en-US" sz="20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estimated requirement for vitamin C is 40 mg per day for adults.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normal body when fully saturated contains about 5g of vitamin C.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1257300" lvl="2" indent="-342900" algn="l">
              <a:buFont typeface="Wingdings" panose="05000000000000000000" charset="0"/>
              <a:buChar char="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Daily intakes recommended 80mg/day, pregnant women +15, Lactation +50.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14156</Words>
  <Application>WPS Spreadsheets</Application>
  <PresentationFormat>Widescreen</PresentationFormat>
  <Paragraphs>262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Times New Roman Regular</vt:lpstr>
      <vt:lpstr>Times New Roman Bold</vt:lpstr>
      <vt:lpstr>Times New Roman</vt:lpstr>
      <vt:lpstr>Microsoft Sans Serif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yets</dc:creator>
  <cp:lastModifiedBy>yets</cp:lastModifiedBy>
  <cp:revision>26</cp:revision>
  <dcterms:created xsi:type="dcterms:W3CDTF">2023-10-17T13:41:03Z</dcterms:created>
  <dcterms:modified xsi:type="dcterms:W3CDTF">2023-10-17T13:41:03Z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1033-5.4.4.8063</vt:lpwstr>
  </property>
</Properties>
</file>