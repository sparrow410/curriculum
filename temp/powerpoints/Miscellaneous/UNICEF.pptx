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6" r:id="rId23"/>
    <p:sldId id="277" r:id="rId24"/>
    <p:sldId id="278" r:id="rId25"/>
    <p:sldId id="279" r:id="rId26"/>
    <p:sldId id="280" r:id="rId27"/>
    <p:sldId id="281" r:id="rId28"/>
    <p:sldId id="282" r:id="rId29"/>
    <p:sldId id="283" r:id="rId30"/>
    <p:sldId id="284" r:id="rId31"/>
    <p:sldId id="285"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6E8DF-265D-4890-9801-0E0EBE4B69D7}" v="4" dt="2025-06-11T19:48:18.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7" d="100"/>
          <a:sy n="107" d="100"/>
        </p:scale>
        <p:origin x="7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0896E8DF-265D-4890-9801-0E0EBE4B69D7}"/>
    <pc:docChg chg="undo custSel addSld modSld">
      <pc:chgData name="mukul maheshwari" userId="12cb43e2ca5f0d2c" providerId="LiveId" clId="{0896E8DF-265D-4890-9801-0E0EBE4B69D7}" dt="2025-06-11T20:07:03.094" v="241" actId="20577"/>
      <pc:docMkLst>
        <pc:docMk/>
      </pc:docMkLst>
      <pc:sldChg chg="modSp mod">
        <pc:chgData name="mukul maheshwari" userId="12cb43e2ca5f0d2c" providerId="LiveId" clId="{0896E8DF-265D-4890-9801-0E0EBE4B69D7}" dt="2025-06-11T19:16:24.426" v="22" actId="13926"/>
        <pc:sldMkLst>
          <pc:docMk/>
          <pc:sldMk cId="456513563" sldId="257"/>
        </pc:sldMkLst>
        <pc:spChg chg="mod">
          <ac:chgData name="mukul maheshwari" userId="12cb43e2ca5f0d2c" providerId="LiveId" clId="{0896E8DF-265D-4890-9801-0E0EBE4B69D7}" dt="2025-06-11T19:16:24.426" v="22" actId="13926"/>
          <ac:spMkLst>
            <pc:docMk/>
            <pc:sldMk cId="456513563" sldId="257"/>
            <ac:spMk id="3" creationId="{76A577ED-FE75-EF21-08C5-B8934500D94E}"/>
          </ac:spMkLst>
        </pc:spChg>
      </pc:sldChg>
      <pc:sldChg chg="modSp mod">
        <pc:chgData name="mukul maheshwari" userId="12cb43e2ca5f0d2c" providerId="LiveId" clId="{0896E8DF-265D-4890-9801-0E0EBE4B69D7}" dt="2025-06-11T19:19:28.285" v="29" actId="13926"/>
        <pc:sldMkLst>
          <pc:docMk/>
          <pc:sldMk cId="2979686289" sldId="258"/>
        </pc:sldMkLst>
        <pc:spChg chg="mod">
          <ac:chgData name="mukul maheshwari" userId="12cb43e2ca5f0d2c" providerId="LiveId" clId="{0896E8DF-265D-4890-9801-0E0EBE4B69D7}" dt="2025-06-11T19:19:28.285" v="29" actId="13926"/>
          <ac:spMkLst>
            <pc:docMk/>
            <pc:sldMk cId="2979686289" sldId="258"/>
            <ac:spMk id="3" creationId="{501136DF-601B-395D-F4B2-A1C929B6F216}"/>
          </ac:spMkLst>
        </pc:spChg>
      </pc:sldChg>
      <pc:sldChg chg="modSp mod">
        <pc:chgData name="mukul maheshwari" userId="12cb43e2ca5f0d2c" providerId="LiveId" clId="{0896E8DF-265D-4890-9801-0E0EBE4B69D7}" dt="2025-06-11T19:23:15.477" v="39" actId="20578"/>
        <pc:sldMkLst>
          <pc:docMk/>
          <pc:sldMk cId="389126078" sldId="259"/>
        </pc:sldMkLst>
        <pc:spChg chg="mod">
          <ac:chgData name="mukul maheshwari" userId="12cb43e2ca5f0d2c" providerId="LiveId" clId="{0896E8DF-265D-4890-9801-0E0EBE4B69D7}" dt="2025-06-11T19:23:15.477" v="39" actId="20578"/>
          <ac:spMkLst>
            <pc:docMk/>
            <pc:sldMk cId="389126078" sldId="259"/>
            <ac:spMk id="3" creationId="{B3E0C50B-7967-42ED-5646-D0A61E0FFB6C}"/>
          </ac:spMkLst>
        </pc:spChg>
      </pc:sldChg>
      <pc:sldChg chg="modSp mod">
        <pc:chgData name="mukul maheshwari" userId="12cb43e2ca5f0d2c" providerId="LiveId" clId="{0896E8DF-265D-4890-9801-0E0EBE4B69D7}" dt="2025-06-11T19:27:21.598" v="51" actId="20577"/>
        <pc:sldMkLst>
          <pc:docMk/>
          <pc:sldMk cId="4118636805" sldId="260"/>
        </pc:sldMkLst>
        <pc:spChg chg="mod">
          <ac:chgData name="mukul maheshwari" userId="12cb43e2ca5f0d2c" providerId="LiveId" clId="{0896E8DF-265D-4890-9801-0E0EBE4B69D7}" dt="2025-06-11T19:27:21.598" v="51" actId="20577"/>
          <ac:spMkLst>
            <pc:docMk/>
            <pc:sldMk cId="4118636805" sldId="260"/>
            <ac:spMk id="3" creationId="{9AA6A68F-6E28-E92A-8FB0-C928A42F68F6}"/>
          </ac:spMkLst>
        </pc:spChg>
      </pc:sldChg>
      <pc:sldChg chg="modSp mod">
        <pc:chgData name="mukul maheshwari" userId="12cb43e2ca5f0d2c" providerId="LiveId" clId="{0896E8DF-265D-4890-9801-0E0EBE4B69D7}" dt="2025-06-11T19:28:30.008" v="56" actId="113"/>
        <pc:sldMkLst>
          <pc:docMk/>
          <pc:sldMk cId="3530512126" sldId="261"/>
        </pc:sldMkLst>
        <pc:spChg chg="mod">
          <ac:chgData name="mukul maheshwari" userId="12cb43e2ca5f0d2c" providerId="LiveId" clId="{0896E8DF-265D-4890-9801-0E0EBE4B69D7}" dt="2025-06-11T19:28:30.008" v="56" actId="113"/>
          <ac:spMkLst>
            <pc:docMk/>
            <pc:sldMk cId="3530512126" sldId="261"/>
            <ac:spMk id="3" creationId="{B5561C7C-3C33-577F-AAAA-9F0FA291A15F}"/>
          </ac:spMkLst>
        </pc:spChg>
      </pc:sldChg>
      <pc:sldChg chg="modSp mod">
        <pc:chgData name="mukul maheshwari" userId="12cb43e2ca5f0d2c" providerId="LiveId" clId="{0896E8DF-265D-4890-9801-0E0EBE4B69D7}" dt="2025-06-11T19:29:54.613" v="59" actId="113"/>
        <pc:sldMkLst>
          <pc:docMk/>
          <pc:sldMk cId="2466404251" sldId="262"/>
        </pc:sldMkLst>
        <pc:spChg chg="mod">
          <ac:chgData name="mukul maheshwari" userId="12cb43e2ca5f0d2c" providerId="LiveId" clId="{0896E8DF-265D-4890-9801-0E0EBE4B69D7}" dt="2025-06-11T19:29:54.613" v="59" actId="113"/>
          <ac:spMkLst>
            <pc:docMk/>
            <pc:sldMk cId="2466404251" sldId="262"/>
            <ac:spMk id="3" creationId="{204E5575-3714-94C6-B5FD-8CE64462DD78}"/>
          </ac:spMkLst>
        </pc:spChg>
      </pc:sldChg>
      <pc:sldChg chg="modSp mod">
        <pc:chgData name="mukul maheshwari" userId="12cb43e2ca5f0d2c" providerId="LiveId" clId="{0896E8DF-265D-4890-9801-0E0EBE4B69D7}" dt="2025-06-11T19:31:58.497" v="72" actId="20577"/>
        <pc:sldMkLst>
          <pc:docMk/>
          <pc:sldMk cId="3482750858" sldId="263"/>
        </pc:sldMkLst>
        <pc:spChg chg="mod">
          <ac:chgData name="mukul maheshwari" userId="12cb43e2ca5f0d2c" providerId="LiveId" clId="{0896E8DF-265D-4890-9801-0E0EBE4B69D7}" dt="2025-06-11T19:31:58.497" v="72" actId="20577"/>
          <ac:spMkLst>
            <pc:docMk/>
            <pc:sldMk cId="3482750858" sldId="263"/>
            <ac:spMk id="3" creationId="{DEC253EF-4A38-BFFE-AB74-00307925E58A}"/>
          </ac:spMkLst>
        </pc:spChg>
      </pc:sldChg>
      <pc:sldChg chg="modSp mod">
        <pc:chgData name="mukul maheshwari" userId="12cb43e2ca5f0d2c" providerId="LiveId" clId="{0896E8DF-265D-4890-9801-0E0EBE4B69D7}" dt="2025-06-11T19:33:22.730" v="82" actId="113"/>
        <pc:sldMkLst>
          <pc:docMk/>
          <pc:sldMk cId="1884782592" sldId="264"/>
        </pc:sldMkLst>
        <pc:spChg chg="mod">
          <ac:chgData name="mukul maheshwari" userId="12cb43e2ca5f0d2c" providerId="LiveId" clId="{0896E8DF-265D-4890-9801-0E0EBE4B69D7}" dt="2025-06-11T19:33:22.730" v="82" actId="113"/>
          <ac:spMkLst>
            <pc:docMk/>
            <pc:sldMk cId="1884782592" sldId="264"/>
            <ac:spMk id="3" creationId="{22738388-EFC1-01DC-C2DF-22121CFF2BC5}"/>
          </ac:spMkLst>
        </pc:spChg>
      </pc:sldChg>
      <pc:sldChg chg="modSp mod">
        <pc:chgData name="mukul maheshwari" userId="12cb43e2ca5f0d2c" providerId="LiveId" clId="{0896E8DF-265D-4890-9801-0E0EBE4B69D7}" dt="2025-06-11T19:35:18.738" v="91" actId="13926"/>
        <pc:sldMkLst>
          <pc:docMk/>
          <pc:sldMk cId="1263704458" sldId="265"/>
        </pc:sldMkLst>
        <pc:spChg chg="mod">
          <ac:chgData name="mukul maheshwari" userId="12cb43e2ca5f0d2c" providerId="LiveId" clId="{0896E8DF-265D-4890-9801-0E0EBE4B69D7}" dt="2025-06-11T19:35:18.738" v="91" actId="13926"/>
          <ac:spMkLst>
            <pc:docMk/>
            <pc:sldMk cId="1263704458" sldId="265"/>
            <ac:spMk id="3" creationId="{9355B395-E13B-C7DB-284D-635438DB32BF}"/>
          </ac:spMkLst>
        </pc:spChg>
      </pc:sldChg>
      <pc:sldChg chg="modSp mod">
        <pc:chgData name="mukul maheshwari" userId="12cb43e2ca5f0d2c" providerId="LiveId" clId="{0896E8DF-265D-4890-9801-0E0EBE4B69D7}" dt="2025-06-11T19:36:09.142" v="98" actId="13926"/>
        <pc:sldMkLst>
          <pc:docMk/>
          <pc:sldMk cId="3786963872" sldId="266"/>
        </pc:sldMkLst>
        <pc:spChg chg="mod">
          <ac:chgData name="mukul maheshwari" userId="12cb43e2ca5f0d2c" providerId="LiveId" clId="{0896E8DF-265D-4890-9801-0E0EBE4B69D7}" dt="2025-06-11T19:36:09.142" v="98" actId="13926"/>
          <ac:spMkLst>
            <pc:docMk/>
            <pc:sldMk cId="3786963872" sldId="266"/>
            <ac:spMk id="3" creationId="{B0D47C5A-602C-693C-C2A2-D0AD129A7962}"/>
          </ac:spMkLst>
        </pc:spChg>
      </pc:sldChg>
      <pc:sldChg chg="modSp mod">
        <pc:chgData name="mukul maheshwari" userId="12cb43e2ca5f0d2c" providerId="LiveId" clId="{0896E8DF-265D-4890-9801-0E0EBE4B69D7}" dt="2025-06-11T19:36:46.036" v="102" actId="13926"/>
        <pc:sldMkLst>
          <pc:docMk/>
          <pc:sldMk cId="2787829648" sldId="267"/>
        </pc:sldMkLst>
        <pc:spChg chg="mod">
          <ac:chgData name="mukul maheshwari" userId="12cb43e2ca5f0d2c" providerId="LiveId" clId="{0896E8DF-265D-4890-9801-0E0EBE4B69D7}" dt="2025-06-11T19:36:46.036" v="102" actId="13926"/>
          <ac:spMkLst>
            <pc:docMk/>
            <pc:sldMk cId="2787829648" sldId="267"/>
            <ac:spMk id="3" creationId="{571E0045-4D30-2A4A-3C4B-C45BC5776DC6}"/>
          </ac:spMkLst>
        </pc:spChg>
      </pc:sldChg>
      <pc:sldChg chg="modSp mod">
        <pc:chgData name="mukul maheshwari" userId="12cb43e2ca5f0d2c" providerId="LiveId" clId="{0896E8DF-265D-4890-9801-0E0EBE4B69D7}" dt="2025-06-11T19:37:58.191" v="108" actId="115"/>
        <pc:sldMkLst>
          <pc:docMk/>
          <pc:sldMk cId="86372119" sldId="268"/>
        </pc:sldMkLst>
        <pc:spChg chg="mod">
          <ac:chgData name="mukul maheshwari" userId="12cb43e2ca5f0d2c" providerId="LiveId" clId="{0896E8DF-265D-4890-9801-0E0EBE4B69D7}" dt="2025-06-11T19:37:58.191" v="108" actId="115"/>
          <ac:spMkLst>
            <pc:docMk/>
            <pc:sldMk cId="86372119" sldId="268"/>
            <ac:spMk id="3" creationId="{B8B7F658-9B20-0865-C66E-F57E616424C0}"/>
          </ac:spMkLst>
        </pc:spChg>
      </pc:sldChg>
      <pc:sldChg chg="modSp mod">
        <pc:chgData name="mukul maheshwari" userId="12cb43e2ca5f0d2c" providerId="LiveId" clId="{0896E8DF-265D-4890-9801-0E0EBE4B69D7}" dt="2025-06-11T19:39:09.320" v="115" actId="20577"/>
        <pc:sldMkLst>
          <pc:docMk/>
          <pc:sldMk cId="600782846" sldId="269"/>
        </pc:sldMkLst>
        <pc:spChg chg="mod">
          <ac:chgData name="mukul maheshwari" userId="12cb43e2ca5f0d2c" providerId="LiveId" clId="{0896E8DF-265D-4890-9801-0E0EBE4B69D7}" dt="2025-06-11T19:08:58.613" v="1" actId="27636"/>
          <ac:spMkLst>
            <pc:docMk/>
            <pc:sldMk cId="600782846" sldId="269"/>
            <ac:spMk id="2" creationId="{A7513B15-5ED6-14AD-BB5D-0CF095B6D933}"/>
          </ac:spMkLst>
        </pc:spChg>
        <pc:spChg chg="mod">
          <ac:chgData name="mukul maheshwari" userId="12cb43e2ca5f0d2c" providerId="LiveId" clId="{0896E8DF-265D-4890-9801-0E0EBE4B69D7}" dt="2025-06-11T19:39:09.320" v="115" actId="20577"/>
          <ac:spMkLst>
            <pc:docMk/>
            <pc:sldMk cId="600782846" sldId="269"/>
            <ac:spMk id="3" creationId="{67572814-36C9-4926-7A72-5C59DF80FCC5}"/>
          </ac:spMkLst>
        </pc:spChg>
      </pc:sldChg>
      <pc:sldChg chg="modSp mod">
        <pc:chgData name="mukul maheshwari" userId="12cb43e2ca5f0d2c" providerId="LiveId" clId="{0896E8DF-265D-4890-9801-0E0EBE4B69D7}" dt="2025-06-11T19:39:25.335" v="116" actId="15"/>
        <pc:sldMkLst>
          <pc:docMk/>
          <pc:sldMk cId="2261789566" sldId="270"/>
        </pc:sldMkLst>
        <pc:spChg chg="mod">
          <ac:chgData name="mukul maheshwari" userId="12cb43e2ca5f0d2c" providerId="LiveId" clId="{0896E8DF-265D-4890-9801-0E0EBE4B69D7}" dt="2025-06-11T19:39:25.335" v="116" actId="15"/>
          <ac:spMkLst>
            <pc:docMk/>
            <pc:sldMk cId="2261789566" sldId="270"/>
            <ac:spMk id="3" creationId="{017B4232-80AB-CEC5-278D-3130C549D859}"/>
          </ac:spMkLst>
        </pc:spChg>
      </pc:sldChg>
      <pc:sldChg chg="modSp mod">
        <pc:chgData name="mukul maheshwari" userId="12cb43e2ca5f0d2c" providerId="LiveId" clId="{0896E8DF-265D-4890-9801-0E0EBE4B69D7}" dt="2025-06-11T19:39:54.926" v="118" actId="13926"/>
        <pc:sldMkLst>
          <pc:docMk/>
          <pc:sldMk cId="1555415453" sldId="271"/>
        </pc:sldMkLst>
        <pc:spChg chg="mod">
          <ac:chgData name="mukul maheshwari" userId="12cb43e2ca5f0d2c" providerId="LiveId" clId="{0896E8DF-265D-4890-9801-0E0EBE4B69D7}" dt="2025-06-11T19:39:54.926" v="118" actId="13926"/>
          <ac:spMkLst>
            <pc:docMk/>
            <pc:sldMk cId="1555415453" sldId="271"/>
            <ac:spMk id="3" creationId="{D1E927FB-C601-102F-F586-B7D38C2D4502}"/>
          </ac:spMkLst>
        </pc:spChg>
      </pc:sldChg>
      <pc:sldChg chg="modSp mod">
        <pc:chgData name="mukul maheshwari" userId="12cb43e2ca5f0d2c" providerId="LiveId" clId="{0896E8DF-265D-4890-9801-0E0EBE4B69D7}" dt="2025-06-11T19:40:40.570" v="122" actId="13926"/>
        <pc:sldMkLst>
          <pc:docMk/>
          <pc:sldMk cId="887838630" sldId="272"/>
        </pc:sldMkLst>
        <pc:spChg chg="mod">
          <ac:chgData name="mukul maheshwari" userId="12cb43e2ca5f0d2c" providerId="LiveId" clId="{0896E8DF-265D-4890-9801-0E0EBE4B69D7}" dt="2025-06-11T19:40:40.570" v="122" actId="13926"/>
          <ac:spMkLst>
            <pc:docMk/>
            <pc:sldMk cId="887838630" sldId="272"/>
            <ac:spMk id="3" creationId="{ACECB20B-1383-919C-99BA-FBA18CAFEDED}"/>
          </ac:spMkLst>
        </pc:spChg>
      </pc:sldChg>
      <pc:sldChg chg="modSp mod">
        <pc:chgData name="mukul maheshwari" userId="12cb43e2ca5f0d2c" providerId="LiveId" clId="{0896E8DF-265D-4890-9801-0E0EBE4B69D7}" dt="2025-06-11T19:41:42.747" v="126" actId="113"/>
        <pc:sldMkLst>
          <pc:docMk/>
          <pc:sldMk cId="1029316980" sldId="273"/>
        </pc:sldMkLst>
        <pc:spChg chg="mod">
          <ac:chgData name="mukul maheshwari" userId="12cb43e2ca5f0d2c" providerId="LiveId" clId="{0896E8DF-265D-4890-9801-0E0EBE4B69D7}" dt="2025-06-11T19:41:42.747" v="126" actId="113"/>
          <ac:spMkLst>
            <pc:docMk/>
            <pc:sldMk cId="1029316980" sldId="273"/>
            <ac:spMk id="3" creationId="{0C2617CF-59EF-FF75-2BC3-50EDC675BBD7}"/>
          </ac:spMkLst>
        </pc:spChg>
      </pc:sldChg>
      <pc:sldChg chg="modSp mod">
        <pc:chgData name="mukul maheshwari" userId="12cb43e2ca5f0d2c" providerId="LiveId" clId="{0896E8DF-265D-4890-9801-0E0EBE4B69D7}" dt="2025-06-11T19:42:56.221" v="129" actId="113"/>
        <pc:sldMkLst>
          <pc:docMk/>
          <pc:sldMk cId="506167710" sldId="274"/>
        </pc:sldMkLst>
        <pc:spChg chg="mod">
          <ac:chgData name="mukul maheshwari" userId="12cb43e2ca5f0d2c" providerId="LiveId" clId="{0896E8DF-265D-4890-9801-0E0EBE4B69D7}" dt="2025-06-11T19:42:56.221" v="129" actId="113"/>
          <ac:spMkLst>
            <pc:docMk/>
            <pc:sldMk cId="506167710" sldId="274"/>
            <ac:spMk id="3" creationId="{6924EDA9-F0C6-89C6-3EA1-AB6DCC95D179}"/>
          </ac:spMkLst>
        </pc:spChg>
      </pc:sldChg>
      <pc:sldChg chg="modSp mod">
        <pc:chgData name="mukul maheshwari" userId="12cb43e2ca5f0d2c" providerId="LiveId" clId="{0896E8DF-265D-4890-9801-0E0EBE4B69D7}" dt="2025-06-11T19:44:28.438" v="134" actId="13926"/>
        <pc:sldMkLst>
          <pc:docMk/>
          <pc:sldMk cId="928090743" sldId="275"/>
        </pc:sldMkLst>
        <pc:spChg chg="mod">
          <ac:chgData name="mukul maheshwari" userId="12cb43e2ca5f0d2c" providerId="LiveId" clId="{0896E8DF-265D-4890-9801-0E0EBE4B69D7}" dt="2025-06-11T19:44:28.438" v="134" actId="13926"/>
          <ac:spMkLst>
            <pc:docMk/>
            <pc:sldMk cId="928090743" sldId="275"/>
            <ac:spMk id="3" creationId="{89C936EF-F382-F490-51EC-0A57A76A4073}"/>
          </ac:spMkLst>
        </pc:spChg>
      </pc:sldChg>
      <pc:sldChg chg="modSp mod">
        <pc:chgData name="mukul maheshwari" userId="12cb43e2ca5f0d2c" providerId="LiveId" clId="{0896E8DF-265D-4890-9801-0E0EBE4B69D7}" dt="2025-06-11T19:46:56.592" v="142" actId="114"/>
        <pc:sldMkLst>
          <pc:docMk/>
          <pc:sldMk cId="2782606060" sldId="276"/>
        </pc:sldMkLst>
        <pc:spChg chg="mod">
          <ac:chgData name="mukul maheshwari" userId="12cb43e2ca5f0d2c" providerId="LiveId" clId="{0896E8DF-265D-4890-9801-0E0EBE4B69D7}" dt="2025-06-11T19:46:56.592" v="142" actId="114"/>
          <ac:spMkLst>
            <pc:docMk/>
            <pc:sldMk cId="2782606060" sldId="276"/>
            <ac:spMk id="4" creationId="{1BFC9272-EA02-8670-EA6B-D14F0C0F2233}"/>
          </ac:spMkLst>
        </pc:spChg>
      </pc:sldChg>
      <pc:sldChg chg="modSp mod">
        <pc:chgData name="mukul maheshwari" userId="12cb43e2ca5f0d2c" providerId="LiveId" clId="{0896E8DF-265D-4890-9801-0E0EBE4B69D7}" dt="2025-06-11T19:51:21.435" v="174" actId="13926"/>
        <pc:sldMkLst>
          <pc:docMk/>
          <pc:sldMk cId="1295069806" sldId="277"/>
        </pc:sldMkLst>
        <pc:spChg chg="mod">
          <ac:chgData name="mukul maheshwari" userId="12cb43e2ca5f0d2c" providerId="LiveId" clId="{0896E8DF-265D-4890-9801-0E0EBE4B69D7}" dt="2025-06-11T19:51:21.435" v="174" actId="13926"/>
          <ac:spMkLst>
            <pc:docMk/>
            <pc:sldMk cId="1295069806" sldId="277"/>
            <ac:spMk id="3" creationId="{E7A1BBB2-4952-822C-89E3-BBACD645846B}"/>
          </ac:spMkLst>
        </pc:spChg>
      </pc:sldChg>
      <pc:sldChg chg="modSp mod">
        <pc:chgData name="mukul maheshwari" userId="12cb43e2ca5f0d2c" providerId="LiveId" clId="{0896E8DF-265D-4890-9801-0E0EBE4B69D7}" dt="2025-06-11T19:52:11.954" v="180" actId="115"/>
        <pc:sldMkLst>
          <pc:docMk/>
          <pc:sldMk cId="1220224801" sldId="278"/>
        </pc:sldMkLst>
        <pc:spChg chg="mod">
          <ac:chgData name="mukul maheshwari" userId="12cb43e2ca5f0d2c" providerId="LiveId" clId="{0896E8DF-265D-4890-9801-0E0EBE4B69D7}" dt="2025-06-11T19:52:11.954" v="180" actId="115"/>
          <ac:spMkLst>
            <pc:docMk/>
            <pc:sldMk cId="1220224801" sldId="278"/>
            <ac:spMk id="3" creationId="{8F3568D1-D588-9308-A89C-43D5C2AA3D6B}"/>
          </ac:spMkLst>
        </pc:spChg>
      </pc:sldChg>
      <pc:sldChg chg="modSp mod">
        <pc:chgData name="mukul maheshwari" userId="12cb43e2ca5f0d2c" providerId="LiveId" clId="{0896E8DF-265D-4890-9801-0E0EBE4B69D7}" dt="2025-06-11T19:54:50.690" v="186" actId="13926"/>
        <pc:sldMkLst>
          <pc:docMk/>
          <pc:sldMk cId="3978116660" sldId="279"/>
        </pc:sldMkLst>
        <pc:spChg chg="mod">
          <ac:chgData name="mukul maheshwari" userId="12cb43e2ca5f0d2c" providerId="LiveId" clId="{0896E8DF-265D-4890-9801-0E0EBE4B69D7}" dt="2025-06-11T19:54:50.690" v="186" actId="13926"/>
          <ac:spMkLst>
            <pc:docMk/>
            <pc:sldMk cId="3978116660" sldId="279"/>
            <ac:spMk id="3" creationId="{B1EE6553-3C69-95D2-BF38-906C7D46E817}"/>
          </ac:spMkLst>
        </pc:spChg>
      </pc:sldChg>
      <pc:sldChg chg="modSp mod">
        <pc:chgData name="mukul maheshwari" userId="12cb43e2ca5f0d2c" providerId="LiveId" clId="{0896E8DF-265D-4890-9801-0E0EBE4B69D7}" dt="2025-06-11T19:58:01.199" v="207" actId="20577"/>
        <pc:sldMkLst>
          <pc:docMk/>
          <pc:sldMk cId="1864237667" sldId="280"/>
        </pc:sldMkLst>
        <pc:spChg chg="mod">
          <ac:chgData name="mukul maheshwari" userId="12cb43e2ca5f0d2c" providerId="LiveId" clId="{0896E8DF-265D-4890-9801-0E0EBE4B69D7}" dt="2025-06-11T19:58:01.199" v="207" actId="20577"/>
          <ac:spMkLst>
            <pc:docMk/>
            <pc:sldMk cId="1864237667" sldId="280"/>
            <ac:spMk id="3" creationId="{22BCBA5F-45B6-72A6-DDAD-67454CD1A9E4}"/>
          </ac:spMkLst>
        </pc:spChg>
      </pc:sldChg>
      <pc:sldChg chg="modSp mod">
        <pc:chgData name="mukul maheshwari" userId="12cb43e2ca5f0d2c" providerId="LiveId" clId="{0896E8DF-265D-4890-9801-0E0EBE4B69D7}" dt="2025-06-11T19:59:04.754" v="215" actId="13926"/>
        <pc:sldMkLst>
          <pc:docMk/>
          <pc:sldMk cId="987252649" sldId="281"/>
        </pc:sldMkLst>
        <pc:spChg chg="mod">
          <ac:chgData name="mukul maheshwari" userId="12cb43e2ca5f0d2c" providerId="LiveId" clId="{0896E8DF-265D-4890-9801-0E0EBE4B69D7}" dt="2025-06-11T19:59:04.754" v="215" actId="13926"/>
          <ac:spMkLst>
            <pc:docMk/>
            <pc:sldMk cId="987252649" sldId="281"/>
            <ac:spMk id="3" creationId="{D51AE5C2-9DBF-8E00-E488-CFA4A4F3F04F}"/>
          </ac:spMkLst>
        </pc:spChg>
      </pc:sldChg>
      <pc:sldChg chg="modSp mod">
        <pc:chgData name="mukul maheshwari" userId="12cb43e2ca5f0d2c" providerId="LiveId" clId="{0896E8DF-265D-4890-9801-0E0EBE4B69D7}" dt="2025-06-11T20:01:15.183" v="222" actId="13926"/>
        <pc:sldMkLst>
          <pc:docMk/>
          <pc:sldMk cId="3483804190" sldId="282"/>
        </pc:sldMkLst>
        <pc:spChg chg="mod">
          <ac:chgData name="mukul maheshwari" userId="12cb43e2ca5f0d2c" providerId="LiveId" clId="{0896E8DF-265D-4890-9801-0E0EBE4B69D7}" dt="2025-06-11T20:01:15.183" v="222" actId="13926"/>
          <ac:spMkLst>
            <pc:docMk/>
            <pc:sldMk cId="3483804190" sldId="282"/>
            <ac:spMk id="3" creationId="{67AF5498-928F-75DF-3689-43425016C412}"/>
          </ac:spMkLst>
        </pc:spChg>
      </pc:sldChg>
      <pc:sldChg chg="modSp mod">
        <pc:chgData name="mukul maheshwari" userId="12cb43e2ca5f0d2c" providerId="LiveId" clId="{0896E8DF-265D-4890-9801-0E0EBE4B69D7}" dt="2025-06-11T20:04:28.849" v="226" actId="13926"/>
        <pc:sldMkLst>
          <pc:docMk/>
          <pc:sldMk cId="1189877414" sldId="283"/>
        </pc:sldMkLst>
        <pc:spChg chg="mod">
          <ac:chgData name="mukul maheshwari" userId="12cb43e2ca5f0d2c" providerId="LiveId" clId="{0896E8DF-265D-4890-9801-0E0EBE4B69D7}" dt="2025-06-11T20:04:28.849" v="226" actId="13926"/>
          <ac:spMkLst>
            <pc:docMk/>
            <pc:sldMk cId="1189877414" sldId="283"/>
            <ac:spMk id="3" creationId="{14E7564E-804E-C75C-0C5C-9635DFCB3A7D}"/>
          </ac:spMkLst>
        </pc:spChg>
      </pc:sldChg>
      <pc:sldChg chg="modSp mod">
        <pc:chgData name="mukul maheshwari" userId="12cb43e2ca5f0d2c" providerId="LiveId" clId="{0896E8DF-265D-4890-9801-0E0EBE4B69D7}" dt="2025-06-11T20:06:33.660" v="232" actId="13926"/>
        <pc:sldMkLst>
          <pc:docMk/>
          <pc:sldMk cId="2066659967" sldId="284"/>
        </pc:sldMkLst>
        <pc:spChg chg="mod">
          <ac:chgData name="mukul maheshwari" userId="12cb43e2ca5f0d2c" providerId="LiveId" clId="{0896E8DF-265D-4890-9801-0E0EBE4B69D7}" dt="2025-06-11T20:06:33.660" v="232" actId="13926"/>
          <ac:spMkLst>
            <pc:docMk/>
            <pc:sldMk cId="2066659967" sldId="284"/>
            <ac:spMk id="3" creationId="{DA6C46B9-570B-72AB-B303-DB432DB3F560}"/>
          </ac:spMkLst>
        </pc:spChg>
      </pc:sldChg>
      <pc:sldChg chg="modSp mod">
        <pc:chgData name="mukul maheshwari" userId="12cb43e2ca5f0d2c" providerId="LiveId" clId="{0896E8DF-265D-4890-9801-0E0EBE4B69D7}" dt="2025-06-11T20:06:56.756" v="234" actId="13926"/>
        <pc:sldMkLst>
          <pc:docMk/>
          <pc:sldMk cId="3771278253" sldId="285"/>
        </pc:sldMkLst>
        <pc:spChg chg="mod">
          <ac:chgData name="mukul maheshwari" userId="12cb43e2ca5f0d2c" providerId="LiveId" clId="{0896E8DF-265D-4890-9801-0E0EBE4B69D7}" dt="2025-06-11T20:06:56.756" v="234" actId="13926"/>
          <ac:spMkLst>
            <pc:docMk/>
            <pc:sldMk cId="3771278253" sldId="285"/>
            <ac:spMk id="3" creationId="{F8622DAD-F6A1-9D91-A23A-EA9A61F4FFDD}"/>
          </ac:spMkLst>
        </pc:spChg>
      </pc:sldChg>
      <pc:sldChg chg="modSp add mod">
        <pc:chgData name="mukul maheshwari" userId="12cb43e2ca5f0d2c" providerId="LiveId" clId="{0896E8DF-265D-4890-9801-0E0EBE4B69D7}" dt="2025-06-11T19:49:15.980" v="169" actId="20577"/>
        <pc:sldMkLst>
          <pc:docMk/>
          <pc:sldMk cId="4180233908" sldId="286"/>
        </pc:sldMkLst>
        <pc:spChg chg="mod">
          <ac:chgData name="mukul maheshwari" userId="12cb43e2ca5f0d2c" providerId="LiveId" clId="{0896E8DF-265D-4890-9801-0E0EBE4B69D7}" dt="2025-06-11T19:49:15.980" v="169" actId="20577"/>
          <ac:spMkLst>
            <pc:docMk/>
            <pc:sldMk cId="4180233908" sldId="286"/>
            <ac:spMk id="4" creationId="{2401F06A-EF4C-A41F-0222-828922CFA30C}"/>
          </ac:spMkLst>
        </pc:spChg>
      </pc:sldChg>
      <pc:sldChg chg="modSp new mod">
        <pc:chgData name="mukul maheshwari" userId="12cb43e2ca5f0d2c" providerId="LiveId" clId="{0896E8DF-265D-4890-9801-0E0EBE4B69D7}" dt="2025-06-11T20:07:03.094" v="241" actId="20577"/>
        <pc:sldMkLst>
          <pc:docMk/>
          <pc:sldMk cId="681330503" sldId="287"/>
        </pc:sldMkLst>
        <pc:spChg chg="mod">
          <ac:chgData name="mukul maheshwari" userId="12cb43e2ca5f0d2c" providerId="LiveId" clId="{0896E8DF-265D-4890-9801-0E0EBE4B69D7}" dt="2025-06-11T20:07:03.094" v="241" actId="20577"/>
          <ac:spMkLst>
            <pc:docMk/>
            <pc:sldMk cId="681330503" sldId="287"/>
            <ac:spMk id="2" creationId="{818F65EE-657F-6921-D840-B0C25FF0C93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6/12/2025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6/12/2025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6/12/2025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6/12/2025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6/12/2025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6/12/2025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6/12/2025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6/12/2025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6/12/2025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6E498-89DD-4FA1-2676-B1EE1976FCEC}"/>
              </a:ext>
            </a:extLst>
          </p:cNvPr>
          <p:cNvSpPr>
            <a:spLocks noGrp="1"/>
          </p:cNvSpPr>
          <p:nvPr>
            <p:ph type="ctrTitle"/>
          </p:nvPr>
        </p:nvSpPr>
        <p:spPr>
          <a:xfrm>
            <a:off x="1915385" y="1569480"/>
            <a:ext cx="8361229" cy="1204440"/>
          </a:xfrm>
        </p:spPr>
        <p:txBody>
          <a:bodyPr/>
          <a:lstStyle/>
          <a:p>
            <a:r>
              <a:rPr lang="en-US" dirty="0"/>
              <a:t>UNICEF</a:t>
            </a:r>
            <a:endParaRPr lang="en-IN" dirty="0"/>
          </a:p>
        </p:txBody>
      </p:sp>
      <p:pic>
        <p:nvPicPr>
          <p:cNvPr id="5" name="Picture 4">
            <a:extLst>
              <a:ext uri="{FF2B5EF4-FFF2-40B4-BE49-F238E27FC236}">
                <a16:creationId xmlns:a16="http://schemas.microsoft.com/office/drawing/2014/main" id="{7E13E00B-1B44-ABB0-B5D0-9700D76D2AEA}"/>
              </a:ext>
            </a:extLst>
          </p:cNvPr>
          <p:cNvPicPr>
            <a:picLocks noChangeAspect="1"/>
          </p:cNvPicPr>
          <p:nvPr/>
        </p:nvPicPr>
        <p:blipFill>
          <a:blip r:embed="rId2"/>
          <a:stretch>
            <a:fillRect/>
          </a:stretch>
        </p:blipFill>
        <p:spPr>
          <a:xfrm>
            <a:off x="5100320" y="3103878"/>
            <a:ext cx="2174240" cy="2184642"/>
          </a:xfrm>
          <a:prstGeom prst="rect">
            <a:avLst/>
          </a:prstGeom>
        </p:spPr>
      </p:pic>
    </p:spTree>
    <p:extLst>
      <p:ext uri="{BB962C8B-B14F-4D97-AF65-F5344CB8AC3E}">
        <p14:creationId xmlns:p14="http://schemas.microsoft.com/office/powerpoint/2010/main" val="991601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5F322-8A01-50D6-E0AF-AFB7579A42FD}"/>
              </a:ext>
            </a:extLst>
          </p:cNvPr>
          <p:cNvSpPr>
            <a:spLocks noGrp="1"/>
          </p:cNvSpPr>
          <p:nvPr>
            <p:ph type="title"/>
          </p:nvPr>
        </p:nvSpPr>
        <p:spPr>
          <a:xfrm>
            <a:off x="1371600" y="685800"/>
            <a:ext cx="9601200" cy="777240"/>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76A577ED-FE75-EF21-08C5-B8934500D94E}"/>
              </a:ext>
            </a:extLst>
          </p:cNvPr>
          <p:cNvSpPr>
            <a:spLocks noGrp="1"/>
          </p:cNvSpPr>
          <p:nvPr>
            <p:ph idx="1"/>
          </p:nvPr>
        </p:nvSpPr>
        <p:spPr>
          <a:xfrm>
            <a:off x="1371600" y="1615440"/>
            <a:ext cx="10271760" cy="4947920"/>
          </a:xfrm>
        </p:spPr>
        <p:txBody>
          <a:bodyPr>
            <a:normAutofit/>
          </a:bodyPr>
          <a:lstStyle/>
          <a:p>
            <a:r>
              <a:rPr lang="en-US" sz="2400" dirty="0"/>
              <a:t>UNICEF (</a:t>
            </a:r>
            <a:r>
              <a:rPr lang="en-US" sz="2400" dirty="0">
                <a:highlight>
                  <a:srgbClr val="FFFF00"/>
                </a:highlight>
              </a:rPr>
              <a:t>United Nations International Children’s Emergency Fund</a:t>
            </a:r>
            <a:r>
              <a:rPr lang="en-US" sz="2400" dirty="0"/>
              <a:t>) is one of the specialized agencies of the United Nations. </a:t>
            </a:r>
          </a:p>
          <a:p>
            <a:r>
              <a:rPr lang="en-US" sz="2400" dirty="0"/>
              <a:t>It was established in 1946 by the United Nations General Assembly to deal with </a:t>
            </a:r>
            <a:r>
              <a:rPr lang="en-US" sz="2400" dirty="0">
                <a:highlight>
                  <a:srgbClr val="FFFF00"/>
                </a:highlight>
              </a:rPr>
              <a:t>rehabilitation of children in war ravaged countries</a:t>
            </a:r>
            <a:r>
              <a:rPr lang="en-US" sz="2400" dirty="0"/>
              <a:t>.</a:t>
            </a:r>
          </a:p>
          <a:p>
            <a:r>
              <a:rPr lang="en-US" sz="2400" dirty="0"/>
              <a:t>In </a:t>
            </a:r>
            <a:r>
              <a:rPr lang="en-US" sz="2400" dirty="0">
                <a:highlight>
                  <a:srgbClr val="FFFF00"/>
                </a:highlight>
              </a:rPr>
              <a:t>1953</a:t>
            </a:r>
            <a:r>
              <a:rPr lang="en-US" sz="2400" dirty="0"/>
              <a:t>, when the emergency functions were over, the General Assembly gave it a new name “</a:t>
            </a:r>
            <a:r>
              <a:rPr lang="en-US" sz="2400" dirty="0">
                <a:highlight>
                  <a:srgbClr val="FFFF00"/>
                </a:highlight>
              </a:rPr>
              <a:t>U.N. Children’s Fund</a:t>
            </a:r>
            <a:r>
              <a:rPr lang="en-US" sz="2400" dirty="0"/>
              <a:t>" but retained the initials, UNICEF. </a:t>
            </a:r>
          </a:p>
          <a:p>
            <a:r>
              <a:rPr lang="en-US" sz="2400" dirty="0"/>
              <a:t>UNICEF’s regional office is in </a:t>
            </a:r>
            <a:r>
              <a:rPr lang="en-US" sz="2400" dirty="0">
                <a:highlight>
                  <a:srgbClr val="FFFF00"/>
                </a:highlight>
              </a:rPr>
              <a:t>Kathmandu, Nepal</a:t>
            </a:r>
            <a:r>
              <a:rPr lang="en-US" sz="2400" dirty="0"/>
              <a:t>; the region is known as the South-Central Asian Region which covers </a:t>
            </a:r>
            <a:r>
              <a:rPr lang="en-US" sz="2400" dirty="0">
                <a:highlight>
                  <a:srgbClr val="00FFFF"/>
                </a:highlight>
              </a:rPr>
              <a:t>Afghanistan, Sri Lanka, India, the Maldives. Pakistan, Bhutan, Bangladesh and Nepal</a:t>
            </a:r>
            <a:r>
              <a:rPr lang="en-US" sz="2400" dirty="0"/>
              <a:t>. </a:t>
            </a:r>
          </a:p>
          <a:p>
            <a:r>
              <a:rPr lang="en-US" sz="2400" dirty="0"/>
              <a:t>UNICEF is governed by a </a:t>
            </a:r>
            <a:r>
              <a:rPr lang="en-US" sz="2400" dirty="0">
                <a:highlight>
                  <a:srgbClr val="00FF00"/>
                </a:highlight>
              </a:rPr>
              <a:t>thirty-six nation Executive Board </a:t>
            </a:r>
            <a:r>
              <a:rPr lang="en-US" sz="2400" dirty="0"/>
              <a:t>as in 2010. The headquarters of the UNICEF is at </a:t>
            </a:r>
            <a:r>
              <a:rPr lang="en-US" sz="2400" dirty="0">
                <a:highlight>
                  <a:srgbClr val="00FF00"/>
                </a:highlight>
              </a:rPr>
              <a:t>United Nations, New York</a:t>
            </a:r>
            <a:r>
              <a:rPr lang="en-US" sz="2400" dirty="0">
                <a:highlight>
                  <a:srgbClr val="00FFFF"/>
                </a:highlight>
              </a:rPr>
              <a:t>.</a:t>
            </a:r>
            <a:endParaRPr lang="en-IN" sz="2400" dirty="0">
              <a:highlight>
                <a:srgbClr val="00FFFF"/>
              </a:highlight>
            </a:endParaRPr>
          </a:p>
        </p:txBody>
      </p:sp>
    </p:spTree>
    <p:extLst>
      <p:ext uri="{BB962C8B-B14F-4D97-AF65-F5344CB8AC3E}">
        <p14:creationId xmlns:p14="http://schemas.microsoft.com/office/powerpoint/2010/main" val="456513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1136DF-601B-395D-F4B2-A1C929B6F216}"/>
              </a:ext>
            </a:extLst>
          </p:cNvPr>
          <p:cNvSpPr>
            <a:spLocks noGrp="1"/>
          </p:cNvSpPr>
          <p:nvPr>
            <p:ph idx="1"/>
          </p:nvPr>
        </p:nvSpPr>
        <p:spPr>
          <a:xfrm>
            <a:off x="1295400" y="965200"/>
            <a:ext cx="10317480" cy="5267960"/>
          </a:xfrm>
        </p:spPr>
        <p:txBody>
          <a:bodyPr>
            <a:normAutofit/>
          </a:bodyPr>
          <a:lstStyle/>
          <a:p>
            <a:r>
              <a:rPr lang="en-US" sz="2400" dirty="0"/>
              <a:t>UNICEF works in close collaboration with WHO, and the other specialized agencies of the United Nations like UNDP, FAO and UNESCO. </a:t>
            </a:r>
          </a:p>
          <a:p>
            <a:r>
              <a:rPr lang="en-US" sz="2400" dirty="0"/>
              <a:t>In the early years, </a:t>
            </a:r>
            <a:r>
              <a:rPr lang="en-US" sz="2400" dirty="0">
                <a:highlight>
                  <a:srgbClr val="FFFF00"/>
                </a:highlight>
              </a:rPr>
              <a:t>UNICEF and WHO worked together on urgent problems such as malaria, tuberculosis and venereal diseases</a:t>
            </a:r>
            <a:r>
              <a:rPr lang="en-US" sz="2400" dirty="0"/>
              <a:t>. </a:t>
            </a:r>
          </a:p>
          <a:p>
            <a:r>
              <a:rPr lang="en-US" sz="2400" dirty="0"/>
              <a:t>Later, its assistance to countries covered such fields as </a:t>
            </a:r>
            <a:r>
              <a:rPr lang="en-US" sz="2400" b="1" i="1" u="sng" dirty="0"/>
              <a:t>maternal and child health, nutrition, environmental sanitation (especially the provision of water supplies to rural communities), health </a:t>
            </a:r>
            <a:r>
              <a:rPr lang="en-US" sz="2400" b="1" i="1" u="sng" dirty="0" err="1"/>
              <a:t>centres</a:t>
            </a:r>
            <a:r>
              <a:rPr lang="en-US" sz="2400" b="1" i="1" u="sng" dirty="0"/>
              <a:t> and health education and </a:t>
            </a:r>
            <a:r>
              <a:rPr lang="en-US" sz="2400" b="1" i="1" u="sng" dirty="0" err="1"/>
              <a:t>programmes</a:t>
            </a:r>
            <a:r>
              <a:rPr lang="en-US" sz="2400" b="1" i="1" u="sng" dirty="0"/>
              <a:t> which would directly or indirectly, benefit child health</a:t>
            </a:r>
            <a:r>
              <a:rPr lang="en-US" sz="2400" dirty="0"/>
              <a:t>.</a:t>
            </a:r>
          </a:p>
          <a:p>
            <a:r>
              <a:rPr lang="en-US" sz="2400" dirty="0"/>
              <a:t>Greater attention is being given to the concept of the “whole child" meaning that assistance should hence forward be geared </a:t>
            </a:r>
            <a:r>
              <a:rPr lang="en-US" sz="2400" dirty="0">
                <a:highlight>
                  <a:srgbClr val="FFFF00"/>
                </a:highlight>
              </a:rPr>
              <a:t>not only to health and nutrition,</a:t>
            </a:r>
            <a:r>
              <a:rPr lang="en-US" sz="2400" dirty="0"/>
              <a:t> as before, </a:t>
            </a:r>
            <a:r>
              <a:rPr lang="en-US" sz="2400" dirty="0">
                <a:highlight>
                  <a:srgbClr val="FFFF00"/>
                </a:highlight>
              </a:rPr>
              <a:t>which are of immediate benefit to children</a:t>
            </a:r>
            <a:r>
              <a:rPr lang="en-US" sz="2400" dirty="0"/>
              <a:t>, but also </a:t>
            </a:r>
            <a:r>
              <a:rPr lang="en-US" sz="2400" dirty="0">
                <a:highlight>
                  <a:srgbClr val="00FF00"/>
                </a:highlight>
              </a:rPr>
              <a:t>to their long-term personnel development and to the development of the countries in which they live</a:t>
            </a:r>
            <a:r>
              <a:rPr lang="en-US" sz="2400" dirty="0"/>
              <a:t>. </a:t>
            </a:r>
            <a:endParaRPr lang="en-IN" sz="2400" dirty="0"/>
          </a:p>
        </p:txBody>
      </p:sp>
    </p:spTree>
    <p:extLst>
      <p:ext uri="{BB962C8B-B14F-4D97-AF65-F5344CB8AC3E}">
        <p14:creationId xmlns:p14="http://schemas.microsoft.com/office/powerpoint/2010/main" val="2979686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10E09-93E7-F404-E0D9-0ECDB1A172A0}"/>
              </a:ext>
            </a:extLst>
          </p:cNvPr>
          <p:cNvSpPr>
            <a:spLocks noGrp="1"/>
          </p:cNvSpPr>
          <p:nvPr>
            <p:ph type="title"/>
          </p:nvPr>
        </p:nvSpPr>
        <p:spPr>
          <a:xfrm>
            <a:off x="1008380" y="363220"/>
            <a:ext cx="9601200" cy="828040"/>
          </a:xfrm>
        </p:spPr>
        <p:txBody>
          <a:bodyPr/>
          <a:lstStyle/>
          <a:p>
            <a:r>
              <a:rPr lang="en-US" dirty="0"/>
              <a:t>Content of services</a:t>
            </a:r>
            <a:endParaRPr lang="en-IN" dirty="0"/>
          </a:p>
        </p:txBody>
      </p:sp>
      <p:sp>
        <p:nvSpPr>
          <p:cNvPr id="3" name="Content Placeholder 2">
            <a:extLst>
              <a:ext uri="{FF2B5EF4-FFF2-40B4-BE49-F238E27FC236}">
                <a16:creationId xmlns:a16="http://schemas.microsoft.com/office/drawing/2014/main" id="{B3E0C50B-7967-42ED-5646-D0A61E0FFB6C}"/>
              </a:ext>
            </a:extLst>
          </p:cNvPr>
          <p:cNvSpPr>
            <a:spLocks noGrp="1"/>
          </p:cNvSpPr>
          <p:nvPr>
            <p:ph idx="1"/>
          </p:nvPr>
        </p:nvSpPr>
        <p:spPr>
          <a:xfrm>
            <a:off x="1076960" y="1099820"/>
            <a:ext cx="10789920" cy="5161280"/>
          </a:xfrm>
        </p:spPr>
        <p:txBody>
          <a:bodyPr>
            <a:noAutofit/>
          </a:bodyPr>
          <a:lstStyle/>
          <a:p>
            <a:r>
              <a:rPr lang="en-US" sz="2400" b="1" u="sng" dirty="0"/>
              <a:t>Child health:</a:t>
            </a:r>
            <a:r>
              <a:rPr lang="en-US" sz="2400" dirty="0"/>
              <a:t> UNICEF has provided substantial aid for the production of </a:t>
            </a:r>
            <a:r>
              <a:rPr lang="en-US" sz="2400" dirty="0">
                <a:highlight>
                  <a:srgbClr val="FFFF00"/>
                </a:highlight>
              </a:rPr>
              <a:t>vaccines and sera in many countries</a:t>
            </a:r>
            <a:r>
              <a:rPr lang="en-US" sz="2400" dirty="0"/>
              <a:t>. </a:t>
            </a:r>
          </a:p>
          <a:p>
            <a:pPr lvl="1"/>
            <a:r>
              <a:rPr lang="en-US" sz="2400" dirty="0"/>
              <a:t>UNICEF has supported </a:t>
            </a:r>
            <a:r>
              <a:rPr lang="en-US" sz="2400" dirty="0">
                <a:highlight>
                  <a:srgbClr val="FFFF00"/>
                </a:highlight>
              </a:rPr>
              <a:t>India’s BCG vaccination </a:t>
            </a:r>
            <a:r>
              <a:rPr lang="en-US" sz="2400" dirty="0" err="1">
                <a:highlight>
                  <a:srgbClr val="FFFF00"/>
                </a:highlight>
              </a:rPr>
              <a:t>programme</a:t>
            </a:r>
            <a:r>
              <a:rPr lang="en-US" sz="2400" dirty="0">
                <a:highlight>
                  <a:srgbClr val="FFFF00"/>
                </a:highlight>
              </a:rPr>
              <a:t> </a:t>
            </a:r>
            <a:r>
              <a:rPr lang="en-US" sz="2400" dirty="0"/>
              <a:t>from its inception. </a:t>
            </a:r>
          </a:p>
          <a:p>
            <a:pPr lvl="1"/>
            <a:r>
              <a:rPr lang="en-US" sz="2400" dirty="0"/>
              <a:t>It has also assisted in the </a:t>
            </a:r>
            <a:r>
              <a:rPr lang="en-US" sz="2400" u="sng" dirty="0"/>
              <a:t>penicillin plant, near Pune; donated a DDT plant; two plants for the manufacture of triple vaccine and iodized salt. </a:t>
            </a:r>
          </a:p>
          <a:p>
            <a:pPr lvl="1"/>
            <a:r>
              <a:rPr lang="en-US" sz="2400" dirty="0"/>
              <a:t>UNICEF has also assisted </a:t>
            </a:r>
            <a:r>
              <a:rPr lang="en-US" sz="2400" u="sng" dirty="0"/>
              <a:t>environmental sanitation </a:t>
            </a:r>
            <a:r>
              <a:rPr lang="en-US" sz="2400" u="sng" dirty="0" err="1"/>
              <a:t>programmes</a:t>
            </a:r>
            <a:r>
              <a:rPr lang="en-US" sz="2400" dirty="0"/>
              <a:t> emphasizing safe and sufficient water for drinking and household use in rural areas. </a:t>
            </a:r>
          </a:p>
          <a:p>
            <a:pPr lvl="1"/>
            <a:r>
              <a:rPr lang="en-US" sz="2400" dirty="0"/>
              <a:t>The purpose is </a:t>
            </a:r>
            <a:r>
              <a:rPr lang="en-US" sz="2400" dirty="0">
                <a:highlight>
                  <a:srgbClr val="FF00FF"/>
                </a:highlight>
              </a:rPr>
              <a:t>not only to reduce child illness and death</a:t>
            </a:r>
            <a:r>
              <a:rPr lang="en-US" sz="2400" dirty="0"/>
              <a:t>, but </a:t>
            </a:r>
            <a:r>
              <a:rPr lang="en-US" sz="2400" dirty="0">
                <a:highlight>
                  <a:srgbClr val="00FF00"/>
                </a:highlight>
              </a:rPr>
              <a:t>to improve the quality of life in the villages. </a:t>
            </a:r>
          </a:p>
          <a:p>
            <a:pPr lvl="1"/>
            <a:r>
              <a:rPr lang="en-US" sz="2400" dirty="0"/>
              <a:t>Currently, UNICEF is</a:t>
            </a:r>
            <a:endParaRPr lang="en-US" sz="2400" b="1" dirty="0"/>
          </a:p>
          <a:p>
            <a:pPr lvl="1"/>
            <a:r>
              <a:rPr lang="en-US" sz="2400" dirty="0"/>
              <a:t>Emphasis is placed </a:t>
            </a:r>
            <a:r>
              <a:rPr lang="en-US" sz="2400" dirty="0" err="1"/>
              <a:t>o</a:t>
            </a:r>
            <a:r>
              <a:rPr lang="en-US" sz="2400" b="1" dirty="0" err="1"/>
              <a:t>focusing</a:t>
            </a:r>
            <a:r>
              <a:rPr lang="en-US" sz="2400" b="1" dirty="0"/>
              <a:t> attention on providing primary health care to mothers and children. </a:t>
            </a:r>
            <a:r>
              <a:rPr lang="en-US" sz="2400" dirty="0"/>
              <a:t>n immunization; infant and young child care; family planning aspects of family health; safe water and adequate sanitation. </a:t>
            </a:r>
            <a:endParaRPr lang="en-IN" sz="2400" dirty="0"/>
          </a:p>
        </p:txBody>
      </p:sp>
    </p:spTree>
    <p:extLst>
      <p:ext uri="{BB962C8B-B14F-4D97-AF65-F5344CB8AC3E}">
        <p14:creationId xmlns:p14="http://schemas.microsoft.com/office/powerpoint/2010/main" val="389126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A6A68F-6E28-E92A-8FB0-C928A42F68F6}"/>
              </a:ext>
            </a:extLst>
          </p:cNvPr>
          <p:cNvSpPr>
            <a:spLocks noGrp="1"/>
          </p:cNvSpPr>
          <p:nvPr>
            <p:ph idx="1"/>
          </p:nvPr>
        </p:nvSpPr>
        <p:spPr>
          <a:xfrm>
            <a:off x="1168400" y="433070"/>
            <a:ext cx="10566400" cy="5646420"/>
          </a:xfrm>
        </p:spPr>
        <p:txBody>
          <a:bodyPr>
            <a:noAutofit/>
          </a:bodyPr>
          <a:lstStyle/>
          <a:p>
            <a:r>
              <a:rPr lang="en-US" sz="2400" b="1" u="sng" dirty="0"/>
              <a:t>Child nutrition: </a:t>
            </a:r>
            <a:r>
              <a:rPr lang="en-US" sz="2400" dirty="0"/>
              <a:t>UNICEF gives high priority to improving child nutrition. </a:t>
            </a:r>
          </a:p>
          <a:p>
            <a:pPr lvl="1"/>
            <a:r>
              <a:rPr lang="en-US" sz="2400" dirty="0"/>
              <a:t>Its </a:t>
            </a:r>
            <a:r>
              <a:rPr lang="en-US" sz="2400" b="1" dirty="0"/>
              <a:t>aid for child nutrition</a:t>
            </a:r>
            <a:r>
              <a:rPr lang="en-US" sz="2400" dirty="0"/>
              <a:t>, which first took the form of supplementing child feeding began to </a:t>
            </a:r>
            <a:r>
              <a:rPr lang="en-US" sz="2400" u="sng" dirty="0"/>
              <a:t>expand in mid-1950s </a:t>
            </a:r>
            <a:r>
              <a:rPr lang="en-US" sz="2400" dirty="0"/>
              <a:t>with the development of </a:t>
            </a:r>
            <a:r>
              <a:rPr lang="en-US" sz="2400" dirty="0">
                <a:highlight>
                  <a:srgbClr val="00FF00"/>
                </a:highlight>
              </a:rPr>
              <a:t>low-cost protein-rich food mixtures. </a:t>
            </a:r>
          </a:p>
          <a:p>
            <a:pPr lvl="1"/>
            <a:r>
              <a:rPr lang="en-US" sz="2400" dirty="0">
                <a:highlight>
                  <a:srgbClr val="FF00FF"/>
                </a:highlight>
              </a:rPr>
              <a:t>In collaboration with FAO, UNICEF also began aiding “applied nutrition</a:t>
            </a:r>
            <a:r>
              <a:rPr lang="en-US" sz="2400" dirty="0"/>
              <a:t>” </a:t>
            </a:r>
            <a:r>
              <a:rPr lang="en-US" sz="2400" dirty="0" err="1"/>
              <a:t>programmes</a:t>
            </a:r>
            <a:r>
              <a:rPr lang="en-US" sz="2400" dirty="0"/>
              <a:t> through such channels as </a:t>
            </a:r>
            <a:r>
              <a:rPr lang="en-US" sz="2400" dirty="0">
                <a:highlight>
                  <a:srgbClr val="FFFF00"/>
                </a:highlight>
              </a:rPr>
              <a:t>community development, agricultural extension, schools and health services</a:t>
            </a:r>
            <a:r>
              <a:rPr lang="en-US" sz="2400" dirty="0"/>
              <a:t> so as to stimulate and help the rural population to </a:t>
            </a:r>
            <a:r>
              <a:rPr lang="en-US" sz="2400" u="sng" dirty="0"/>
              <a:t>grow and eat the foods it required for better child nutrition</a:t>
            </a:r>
            <a:r>
              <a:rPr lang="en-US" sz="2400" dirty="0"/>
              <a:t>. </a:t>
            </a:r>
          </a:p>
          <a:p>
            <a:pPr lvl="1"/>
            <a:r>
              <a:rPr lang="en-US" sz="2400" dirty="0"/>
              <a:t>Specific aid is also given for intervention against nutritional deficiency diseases, viz. provision of </a:t>
            </a:r>
            <a:r>
              <a:rPr lang="en-US" sz="2400" dirty="0">
                <a:highlight>
                  <a:srgbClr val="00FF00"/>
                </a:highlight>
              </a:rPr>
              <a:t>large doses of vitamin A</a:t>
            </a:r>
            <a:r>
              <a:rPr lang="en-US" sz="2400" dirty="0"/>
              <a:t> in areas where xerophthalmia is prevalent; </a:t>
            </a:r>
            <a:r>
              <a:rPr lang="en-US" sz="2400" dirty="0">
                <a:highlight>
                  <a:srgbClr val="00FF00"/>
                </a:highlight>
              </a:rPr>
              <a:t>enrichment of salt with iodine</a:t>
            </a:r>
            <a:r>
              <a:rPr lang="en-US" sz="2400" dirty="0"/>
              <a:t> in areas of endemic </a:t>
            </a:r>
            <a:r>
              <a:rPr lang="en-US" sz="2400" dirty="0" err="1"/>
              <a:t>goitre</a:t>
            </a:r>
            <a:r>
              <a:rPr lang="en-US" sz="2400" dirty="0"/>
              <a:t>; provision of </a:t>
            </a:r>
            <a:r>
              <a:rPr lang="en-US" sz="2400" dirty="0">
                <a:highlight>
                  <a:srgbClr val="00FF00"/>
                </a:highlight>
              </a:rPr>
              <a:t>iron and folate supplements </a:t>
            </a:r>
            <a:r>
              <a:rPr lang="en-US" sz="2400" dirty="0"/>
              <a:t>to combat </a:t>
            </a:r>
            <a:r>
              <a:rPr lang="en-US" sz="2400" dirty="0" err="1"/>
              <a:t>anaemia</a:t>
            </a:r>
            <a:r>
              <a:rPr lang="en-US" sz="2400" dirty="0"/>
              <a:t> and enrichment of foods. </a:t>
            </a:r>
          </a:p>
          <a:p>
            <a:pPr lvl="1"/>
            <a:r>
              <a:rPr lang="en-US" sz="2400" dirty="0"/>
              <a:t>More recently, FAO, UNICEF and WHO have been encouraging the development of national food and nutrition policies that make provision for child nutrition.</a:t>
            </a:r>
            <a:endParaRPr lang="en-IN" sz="2400" dirty="0"/>
          </a:p>
        </p:txBody>
      </p:sp>
    </p:spTree>
    <p:extLst>
      <p:ext uri="{BB962C8B-B14F-4D97-AF65-F5344CB8AC3E}">
        <p14:creationId xmlns:p14="http://schemas.microsoft.com/office/powerpoint/2010/main" val="4118636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61C7C-3C33-577F-AAAA-9F0FA291A15F}"/>
              </a:ext>
            </a:extLst>
          </p:cNvPr>
          <p:cNvSpPr>
            <a:spLocks noGrp="1"/>
          </p:cNvSpPr>
          <p:nvPr>
            <p:ph idx="1"/>
          </p:nvPr>
        </p:nvSpPr>
        <p:spPr>
          <a:xfrm>
            <a:off x="1295400" y="431800"/>
            <a:ext cx="10398760" cy="5826760"/>
          </a:xfrm>
        </p:spPr>
        <p:txBody>
          <a:bodyPr>
            <a:normAutofit/>
          </a:bodyPr>
          <a:lstStyle/>
          <a:p>
            <a:r>
              <a:rPr lang="en-US" sz="2400" b="1" u="sng" dirty="0"/>
              <a:t>Education (formal and non-formal): </a:t>
            </a:r>
            <a:r>
              <a:rPr lang="en-US" sz="2400" dirty="0"/>
              <a:t>In collaboration with UNESCO, UNICEF is assisting India in the </a:t>
            </a:r>
            <a:r>
              <a:rPr lang="en-US" sz="2400" dirty="0">
                <a:highlight>
                  <a:srgbClr val="00FF00"/>
                </a:highlight>
              </a:rPr>
              <a:t>expansion and improvement of teaching science in India.</a:t>
            </a:r>
          </a:p>
          <a:p>
            <a:pPr lvl="1"/>
            <a:r>
              <a:rPr lang="en-US" sz="2400" dirty="0"/>
              <a:t> Science l</a:t>
            </a:r>
            <a:r>
              <a:rPr lang="en-US" sz="2400" b="1" dirty="0"/>
              <a:t>aboratories’ equipment, workshop tools, library books, audiovisual aids </a:t>
            </a:r>
            <a:r>
              <a:rPr lang="en-US" sz="2400" dirty="0"/>
              <a:t>are being made available to educational institutions. Emphasis is placed on the kind of </a:t>
            </a:r>
            <a:r>
              <a:rPr lang="en-US" sz="2400" b="1" dirty="0"/>
              <a:t>schooling relevant to the environment and future life of the children.</a:t>
            </a:r>
          </a:p>
          <a:p>
            <a:pPr lvl="1"/>
            <a:r>
              <a:rPr lang="en-US" sz="2400" dirty="0"/>
              <a:t>The UNICEF is promoting a campaign known as GOBI campaign to encourage 4 strategies for a “child health revolution” :- </a:t>
            </a:r>
          </a:p>
          <a:p>
            <a:pPr lvl="2"/>
            <a:r>
              <a:rPr lang="en-US" sz="2200" dirty="0"/>
              <a:t>G for growth charts to better monitor child development. </a:t>
            </a:r>
          </a:p>
          <a:p>
            <a:pPr lvl="2"/>
            <a:r>
              <a:rPr lang="en-US" sz="2200" dirty="0"/>
              <a:t>O for oral rehydration to treat all mild and moderate dehydration.</a:t>
            </a:r>
          </a:p>
          <a:p>
            <a:pPr lvl="2"/>
            <a:r>
              <a:rPr lang="en-US" sz="2200" dirty="0"/>
              <a:t>B for breast feeding.</a:t>
            </a:r>
          </a:p>
          <a:p>
            <a:pPr lvl="2"/>
            <a:r>
              <a:rPr lang="en-US" sz="2200" dirty="0"/>
              <a:t>I for immunization against measles, diphtheria, polio, pertussis, tetanus and tuberculosis.</a:t>
            </a:r>
            <a:endParaRPr lang="en-IN" sz="2200" dirty="0"/>
          </a:p>
        </p:txBody>
      </p:sp>
    </p:spTree>
    <p:extLst>
      <p:ext uri="{BB962C8B-B14F-4D97-AF65-F5344CB8AC3E}">
        <p14:creationId xmlns:p14="http://schemas.microsoft.com/office/powerpoint/2010/main" val="3530512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57B0-EFC6-5F6C-D81D-553926913D58}"/>
              </a:ext>
            </a:extLst>
          </p:cNvPr>
          <p:cNvSpPr>
            <a:spLocks noGrp="1"/>
          </p:cNvSpPr>
          <p:nvPr>
            <p:ph type="title"/>
          </p:nvPr>
        </p:nvSpPr>
        <p:spPr>
          <a:xfrm>
            <a:off x="1371600" y="685800"/>
            <a:ext cx="9601200" cy="787400"/>
          </a:xfrm>
        </p:spPr>
        <p:txBody>
          <a:bodyPr/>
          <a:lstStyle/>
          <a:p>
            <a:r>
              <a:rPr lang="en-US" dirty="0"/>
              <a:t>UNDP</a:t>
            </a:r>
            <a:endParaRPr lang="en-IN" dirty="0"/>
          </a:p>
        </p:txBody>
      </p:sp>
      <p:sp>
        <p:nvSpPr>
          <p:cNvPr id="3" name="Content Placeholder 2">
            <a:extLst>
              <a:ext uri="{FF2B5EF4-FFF2-40B4-BE49-F238E27FC236}">
                <a16:creationId xmlns:a16="http://schemas.microsoft.com/office/drawing/2014/main" id="{204E5575-3714-94C6-B5FD-8CE64462DD78}"/>
              </a:ext>
            </a:extLst>
          </p:cNvPr>
          <p:cNvSpPr>
            <a:spLocks noGrp="1"/>
          </p:cNvSpPr>
          <p:nvPr>
            <p:ph idx="1"/>
          </p:nvPr>
        </p:nvSpPr>
        <p:spPr>
          <a:xfrm>
            <a:off x="1371600" y="2286000"/>
            <a:ext cx="10088880" cy="4947920"/>
          </a:xfrm>
        </p:spPr>
        <p:txBody>
          <a:bodyPr>
            <a:normAutofit/>
          </a:bodyPr>
          <a:lstStyle/>
          <a:p>
            <a:r>
              <a:rPr lang="en-US" sz="2400" dirty="0"/>
              <a:t>The </a:t>
            </a:r>
            <a:r>
              <a:rPr lang="en-US" sz="2400" b="1" dirty="0"/>
              <a:t>United Nations Development </a:t>
            </a:r>
            <a:r>
              <a:rPr lang="en-US" sz="2400" b="1" dirty="0" err="1"/>
              <a:t>Programme</a:t>
            </a:r>
            <a:r>
              <a:rPr lang="en-US" sz="2400" b="1" dirty="0"/>
              <a:t> (UNDP)</a:t>
            </a:r>
            <a:r>
              <a:rPr lang="en-US" sz="2400" dirty="0"/>
              <a:t> was established in 1966. </a:t>
            </a:r>
          </a:p>
          <a:p>
            <a:r>
              <a:rPr lang="en-US" sz="2400" dirty="0"/>
              <a:t>It is the main source of funds for technical assistance. </a:t>
            </a:r>
          </a:p>
          <a:p>
            <a:r>
              <a:rPr lang="en-US" sz="2400" dirty="0"/>
              <a:t>The member countries - rich and poor - of the United Nations meet annually and pledge contributions to the UNDP. </a:t>
            </a:r>
          </a:p>
          <a:p>
            <a:r>
              <a:rPr lang="en-US" sz="2400" dirty="0"/>
              <a:t>The basic objective of the UNDP is to </a:t>
            </a:r>
            <a:r>
              <a:rPr lang="en-US" sz="2400" dirty="0">
                <a:highlight>
                  <a:srgbClr val="00FF00"/>
                </a:highlight>
              </a:rPr>
              <a:t>help poorer nations develop their human and natural resources more fully. </a:t>
            </a:r>
          </a:p>
          <a:p>
            <a:r>
              <a:rPr lang="en-US" sz="2400" dirty="0"/>
              <a:t>The UNDP projects cover virtually </a:t>
            </a:r>
            <a:r>
              <a:rPr lang="en-US" sz="2400" b="1" dirty="0"/>
              <a:t>every economic and social sector - agriculture, industry, education and science, health, social welfare, etc.</a:t>
            </a:r>
            <a:endParaRPr lang="en-IN" sz="2400" b="1" dirty="0"/>
          </a:p>
        </p:txBody>
      </p:sp>
      <p:pic>
        <p:nvPicPr>
          <p:cNvPr id="5" name="Picture 4">
            <a:extLst>
              <a:ext uri="{FF2B5EF4-FFF2-40B4-BE49-F238E27FC236}">
                <a16:creationId xmlns:a16="http://schemas.microsoft.com/office/drawing/2014/main" id="{BE24EEDF-E863-0B7F-F0F3-905664CEDB22}"/>
              </a:ext>
            </a:extLst>
          </p:cNvPr>
          <p:cNvPicPr>
            <a:picLocks noChangeAspect="1"/>
          </p:cNvPicPr>
          <p:nvPr/>
        </p:nvPicPr>
        <p:blipFill>
          <a:blip r:embed="rId2"/>
          <a:stretch>
            <a:fillRect/>
          </a:stretch>
        </p:blipFill>
        <p:spPr>
          <a:xfrm>
            <a:off x="8239760" y="302260"/>
            <a:ext cx="2926079" cy="1818640"/>
          </a:xfrm>
          <a:prstGeom prst="rect">
            <a:avLst/>
          </a:prstGeom>
        </p:spPr>
      </p:pic>
    </p:spTree>
    <p:extLst>
      <p:ext uri="{BB962C8B-B14F-4D97-AF65-F5344CB8AC3E}">
        <p14:creationId xmlns:p14="http://schemas.microsoft.com/office/powerpoint/2010/main" val="2466404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5EE68-1596-C30C-582B-42B472AC901B}"/>
              </a:ext>
            </a:extLst>
          </p:cNvPr>
          <p:cNvSpPr>
            <a:spLocks noGrp="1"/>
          </p:cNvSpPr>
          <p:nvPr>
            <p:ph type="title"/>
          </p:nvPr>
        </p:nvSpPr>
        <p:spPr>
          <a:xfrm>
            <a:off x="1371600" y="685800"/>
            <a:ext cx="9601200" cy="777240"/>
          </a:xfrm>
        </p:spPr>
        <p:txBody>
          <a:bodyPr/>
          <a:lstStyle/>
          <a:p>
            <a:r>
              <a:rPr lang="en-US" dirty="0"/>
              <a:t>UN Fund for Population Activities</a:t>
            </a:r>
            <a:endParaRPr lang="en-IN" dirty="0"/>
          </a:p>
        </p:txBody>
      </p:sp>
      <p:sp>
        <p:nvSpPr>
          <p:cNvPr id="3" name="Content Placeholder 2">
            <a:extLst>
              <a:ext uri="{FF2B5EF4-FFF2-40B4-BE49-F238E27FC236}">
                <a16:creationId xmlns:a16="http://schemas.microsoft.com/office/drawing/2014/main" id="{DEC253EF-4A38-BFFE-AB74-00307925E58A}"/>
              </a:ext>
            </a:extLst>
          </p:cNvPr>
          <p:cNvSpPr>
            <a:spLocks noGrp="1"/>
          </p:cNvSpPr>
          <p:nvPr>
            <p:ph idx="1"/>
          </p:nvPr>
        </p:nvSpPr>
        <p:spPr>
          <a:xfrm>
            <a:off x="1066800" y="1534160"/>
            <a:ext cx="10383520" cy="4795520"/>
          </a:xfrm>
        </p:spPr>
        <p:txBody>
          <a:bodyPr>
            <a:normAutofit/>
          </a:bodyPr>
          <a:lstStyle/>
          <a:p>
            <a:r>
              <a:rPr lang="en-US" sz="2400" dirty="0"/>
              <a:t>The </a:t>
            </a:r>
            <a:r>
              <a:rPr lang="en-US" sz="2400" dirty="0">
                <a:highlight>
                  <a:srgbClr val="00FF00"/>
                </a:highlight>
              </a:rPr>
              <a:t>United Nations Fund for Population Activities (UNFPA)</a:t>
            </a:r>
            <a:r>
              <a:rPr lang="en-US" sz="2400" dirty="0"/>
              <a:t> has been providing assistance to India since 1974. </a:t>
            </a:r>
          </a:p>
          <a:p>
            <a:r>
              <a:rPr lang="en-US" sz="2400" dirty="0"/>
              <a:t>In addition to </a:t>
            </a:r>
            <a:r>
              <a:rPr lang="en-US" sz="2400" dirty="0">
                <a:highlight>
                  <a:srgbClr val="00FF00"/>
                </a:highlight>
              </a:rPr>
              <a:t>funding national level schemes,</a:t>
            </a:r>
            <a:r>
              <a:rPr lang="en-US" sz="2400" dirty="0"/>
              <a:t> Area Projects for intensive </a:t>
            </a:r>
            <a:r>
              <a:rPr lang="en-US" sz="2400" dirty="0">
                <a:highlight>
                  <a:srgbClr val="FFFF00"/>
                </a:highlight>
              </a:rPr>
              <a:t>development of health and family welfare infrastructure</a:t>
            </a:r>
            <a:r>
              <a:rPr lang="en-US" sz="2400" dirty="0"/>
              <a:t> and improvement in the availability of services in the rural areas have been under implementation in </a:t>
            </a:r>
            <a:r>
              <a:rPr lang="en-US" sz="2400" dirty="0">
                <a:highlight>
                  <a:srgbClr val="FFFF00"/>
                </a:highlight>
              </a:rPr>
              <a:t>eleven districts of Bihar and 4 districts of Rajasthan. </a:t>
            </a:r>
          </a:p>
          <a:p>
            <a:r>
              <a:rPr lang="en-US" sz="2400" dirty="0"/>
              <a:t>The UNFPA inputs are designed to develop national capability for the </a:t>
            </a:r>
            <a:r>
              <a:rPr lang="en-US" sz="2400" b="1" dirty="0"/>
              <a:t>manufacture of contraceptives</a:t>
            </a:r>
            <a:r>
              <a:rPr lang="en-US" sz="2400" dirty="0"/>
              <a:t>, to develop </a:t>
            </a:r>
            <a:r>
              <a:rPr lang="en-US" sz="2400" b="1" dirty="0"/>
              <a:t>population education </a:t>
            </a:r>
            <a:r>
              <a:rPr lang="en-US" sz="2400" b="1" dirty="0" err="1"/>
              <a:t>programmes</a:t>
            </a:r>
            <a:r>
              <a:rPr lang="en-US" sz="2400" dirty="0"/>
              <a:t>, to undertake </a:t>
            </a:r>
            <a:r>
              <a:rPr lang="en-US" sz="2400" b="1" dirty="0"/>
              <a:t>organized sector projects</a:t>
            </a:r>
            <a:r>
              <a:rPr lang="en-US" sz="2400" dirty="0"/>
              <a:t>, to strengthen </a:t>
            </a:r>
            <a:r>
              <a:rPr lang="en-US" sz="2400" dirty="0" err="1"/>
              <a:t>programme</a:t>
            </a:r>
            <a:r>
              <a:rPr lang="en-US" sz="2400" dirty="0"/>
              <a:t> management as well as to </a:t>
            </a:r>
            <a:r>
              <a:rPr lang="en-US" sz="2400" b="1" dirty="0"/>
              <a:t>improve output of grass-root level health workers and introduction of innovative approaches to family planning and MCH care</a:t>
            </a:r>
            <a:r>
              <a:rPr lang="en-US" sz="2400" dirty="0"/>
              <a:t>.</a:t>
            </a:r>
            <a:endParaRPr lang="en-IN" sz="2400" dirty="0"/>
          </a:p>
        </p:txBody>
      </p:sp>
      <p:pic>
        <p:nvPicPr>
          <p:cNvPr id="5" name="Picture 4">
            <a:extLst>
              <a:ext uri="{FF2B5EF4-FFF2-40B4-BE49-F238E27FC236}">
                <a16:creationId xmlns:a16="http://schemas.microsoft.com/office/drawing/2014/main" id="{D1E5BD9E-4E4D-EE57-64E2-69AC97094D29}"/>
              </a:ext>
            </a:extLst>
          </p:cNvPr>
          <p:cNvPicPr>
            <a:picLocks noChangeAspect="1"/>
          </p:cNvPicPr>
          <p:nvPr/>
        </p:nvPicPr>
        <p:blipFill>
          <a:blip r:embed="rId2"/>
          <a:stretch>
            <a:fillRect/>
          </a:stretch>
        </p:blipFill>
        <p:spPr>
          <a:xfrm>
            <a:off x="9384291" y="0"/>
            <a:ext cx="2807709" cy="1618615"/>
          </a:xfrm>
          <a:prstGeom prst="rect">
            <a:avLst/>
          </a:prstGeom>
        </p:spPr>
      </p:pic>
    </p:spTree>
    <p:extLst>
      <p:ext uri="{BB962C8B-B14F-4D97-AF65-F5344CB8AC3E}">
        <p14:creationId xmlns:p14="http://schemas.microsoft.com/office/powerpoint/2010/main" val="3482750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CAF7C-4C10-B83E-DD13-5B058D286726}"/>
              </a:ext>
            </a:extLst>
          </p:cNvPr>
          <p:cNvSpPr>
            <a:spLocks noGrp="1"/>
          </p:cNvSpPr>
          <p:nvPr>
            <p:ph type="title"/>
          </p:nvPr>
        </p:nvSpPr>
        <p:spPr>
          <a:xfrm>
            <a:off x="1371600" y="853440"/>
            <a:ext cx="9601200" cy="726440"/>
          </a:xfrm>
        </p:spPr>
        <p:txBody>
          <a:bodyPr/>
          <a:lstStyle/>
          <a:p>
            <a:r>
              <a:rPr lang="en-US" dirty="0"/>
              <a:t>FAO</a:t>
            </a:r>
            <a:endParaRPr lang="en-IN" dirty="0"/>
          </a:p>
        </p:txBody>
      </p:sp>
      <p:sp>
        <p:nvSpPr>
          <p:cNvPr id="3" name="Content Placeholder 2">
            <a:extLst>
              <a:ext uri="{FF2B5EF4-FFF2-40B4-BE49-F238E27FC236}">
                <a16:creationId xmlns:a16="http://schemas.microsoft.com/office/drawing/2014/main" id="{22738388-EFC1-01DC-C2DF-22121CFF2BC5}"/>
              </a:ext>
            </a:extLst>
          </p:cNvPr>
          <p:cNvSpPr>
            <a:spLocks noGrp="1"/>
          </p:cNvSpPr>
          <p:nvPr>
            <p:ph idx="1"/>
          </p:nvPr>
        </p:nvSpPr>
        <p:spPr>
          <a:xfrm>
            <a:off x="985520" y="1706880"/>
            <a:ext cx="10861040" cy="4828540"/>
          </a:xfrm>
        </p:spPr>
        <p:txBody>
          <a:bodyPr>
            <a:noAutofit/>
          </a:bodyPr>
          <a:lstStyle/>
          <a:p>
            <a:r>
              <a:rPr lang="en-US" sz="2400" dirty="0"/>
              <a:t>The </a:t>
            </a:r>
            <a:r>
              <a:rPr lang="en-US" sz="2400" dirty="0">
                <a:highlight>
                  <a:srgbClr val="FFFF00"/>
                </a:highlight>
              </a:rPr>
              <a:t>Food and Agriculture Organization (FAO)</a:t>
            </a:r>
            <a:r>
              <a:rPr lang="en-US" sz="2400" dirty="0"/>
              <a:t> was formed in 1945 with </a:t>
            </a:r>
            <a:r>
              <a:rPr lang="en-US" sz="2400" b="1" u="sng" dirty="0"/>
              <a:t>headquarters in Rome</a:t>
            </a:r>
            <a:r>
              <a:rPr lang="en-US" sz="2400" dirty="0"/>
              <a:t>. It was the </a:t>
            </a:r>
            <a:r>
              <a:rPr lang="en-US" sz="2400" dirty="0">
                <a:highlight>
                  <a:srgbClr val="FFFF00"/>
                </a:highlight>
              </a:rPr>
              <a:t>first United Nations Organization </a:t>
            </a:r>
            <a:r>
              <a:rPr lang="en-US" sz="2400" dirty="0"/>
              <a:t>specialized agency created to look after </a:t>
            </a:r>
            <a:r>
              <a:rPr lang="en-US" sz="2400" dirty="0">
                <a:highlight>
                  <a:srgbClr val="FFFF00"/>
                </a:highlight>
              </a:rPr>
              <a:t>several areas of world cooperation</a:t>
            </a:r>
            <a:r>
              <a:rPr lang="en-US" sz="2400" dirty="0"/>
              <a:t>. </a:t>
            </a:r>
          </a:p>
          <a:p>
            <a:r>
              <a:rPr lang="en-US" sz="2400" dirty="0"/>
              <a:t>The chief aims of FAO are : </a:t>
            </a:r>
          </a:p>
          <a:p>
            <a:pPr lvl="1"/>
            <a:r>
              <a:rPr lang="en-US" sz="2400" dirty="0"/>
              <a:t>(1) to help nations </a:t>
            </a:r>
            <a:r>
              <a:rPr lang="en-US" sz="2400" b="1" dirty="0"/>
              <a:t>raise living standards </a:t>
            </a:r>
          </a:p>
          <a:p>
            <a:pPr lvl="1"/>
            <a:r>
              <a:rPr lang="en-US" sz="2400" dirty="0"/>
              <a:t>(2) to </a:t>
            </a:r>
            <a:r>
              <a:rPr lang="en-US" sz="2400" b="1" dirty="0"/>
              <a:t>improve nutrition</a:t>
            </a:r>
            <a:r>
              <a:rPr lang="en-US" sz="2400" dirty="0"/>
              <a:t> of the people of all countries </a:t>
            </a:r>
          </a:p>
          <a:p>
            <a:pPr lvl="1"/>
            <a:r>
              <a:rPr lang="en-US" sz="2400" dirty="0"/>
              <a:t>(3) to </a:t>
            </a:r>
            <a:r>
              <a:rPr lang="en-US" sz="2400" b="1" dirty="0"/>
              <a:t>increase the efficiency of farming, forestry and fisheries </a:t>
            </a:r>
          </a:p>
          <a:p>
            <a:pPr lvl="1"/>
            <a:r>
              <a:rPr lang="en-US" sz="2400" dirty="0"/>
              <a:t>(4) to </a:t>
            </a:r>
            <a:r>
              <a:rPr lang="en-US" sz="2400" b="1" dirty="0"/>
              <a:t>better the condition of rural people </a:t>
            </a:r>
            <a:r>
              <a:rPr lang="en-US" sz="2400" dirty="0"/>
              <a:t>and, through all these means, to widen the opportunity of all people for productive work. </a:t>
            </a:r>
          </a:p>
        </p:txBody>
      </p:sp>
      <p:pic>
        <p:nvPicPr>
          <p:cNvPr id="5" name="Picture 4">
            <a:extLst>
              <a:ext uri="{FF2B5EF4-FFF2-40B4-BE49-F238E27FC236}">
                <a16:creationId xmlns:a16="http://schemas.microsoft.com/office/drawing/2014/main" id="{3809C1DA-BB3A-A27E-161A-73D1880D9893}"/>
              </a:ext>
            </a:extLst>
          </p:cNvPr>
          <p:cNvPicPr>
            <a:picLocks noChangeAspect="1"/>
          </p:cNvPicPr>
          <p:nvPr/>
        </p:nvPicPr>
        <p:blipFill>
          <a:blip r:embed="rId2"/>
          <a:stretch>
            <a:fillRect/>
          </a:stretch>
        </p:blipFill>
        <p:spPr>
          <a:xfrm>
            <a:off x="10222932" y="0"/>
            <a:ext cx="1967096" cy="2001520"/>
          </a:xfrm>
          <a:prstGeom prst="rect">
            <a:avLst/>
          </a:prstGeom>
        </p:spPr>
      </p:pic>
    </p:spTree>
    <p:extLst>
      <p:ext uri="{BB962C8B-B14F-4D97-AF65-F5344CB8AC3E}">
        <p14:creationId xmlns:p14="http://schemas.microsoft.com/office/powerpoint/2010/main" val="188478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55B395-E13B-C7DB-284D-635438DB32BF}"/>
              </a:ext>
            </a:extLst>
          </p:cNvPr>
          <p:cNvSpPr>
            <a:spLocks noGrp="1"/>
          </p:cNvSpPr>
          <p:nvPr>
            <p:ph idx="1"/>
          </p:nvPr>
        </p:nvSpPr>
        <p:spPr>
          <a:xfrm>
            <a:off x="1371600" y="426720"/>
            <a:ext cx="10383520" cy="6126480"/>
          </a:xfrm>
        </p:spPr>
        <p:txBody>
          <a:bodyPr>
            <a:normAutofit/>
          </a:bodyPr>
          <a:lstStyle/>
          <a:p>
            <a:r>
              <a:rPr lang="en-US" sz="2400" dirty="0"/>
              <a:t>FAO’s </a:t>
            </a:r>
            <a:r>
              <a:rPr lang="en-US" sz="2400" dirty="0">
                <a:highlight>
                  <a:srgbClr val="FFFF00"/>
                </a:highlight>
              </a:rPr>
              <a:t>prime concern is the increased production of food </a:t>
            </a:r>
            <a:r>
              <a:rPr lang="en-US" sz="2400" dirty="0"/>
              <a:t>to keep pace with the ever-growing world population. </a:t>
            </a:r>
          </a:p>
          <a:p>
            <a:r>
              <a:rPr lang="en-US" sz="2400" dirty="0"/>
              <a:t>The most important aspect of FAO’s work is towards </a:t>
            </a:r>
            <a:r>
              <a:rPr lang="en-US" sz="2400" dirty="0">
                <a:highlight>
                  <a:srgbClr val="FFFF00"/>
                </a:highlight>
              </a:rPr>
              <a:t>ensuring that the food is consumed by the people who need it, in sufficient quantities and in right proportions</a:t>
            </a:r>
            <a:r>
              <a:rPr lang="en-US" sz="2400" dirty="0"/>
              <a:t>, to develop and maintain a better state of nutrition throughout the world. </a:t>
            </a:r>
          </a:p>
          <a:p>
            <a:r>
              <a:rPr lang="en-US" sz="2400" dirty="0"/>
              <a:t>In this context, the FAO has organized a </a:t>
            </a:r>
            <a:r>
              <a:rPr lang="en-US" sz="2400" dirty="0">
                <a:highlight>
                  <a:srgbClr val="FFFF00"/>
                </a:highlight>
              </a:rPr>
              <a:t>World Freedom from Hunger Campaign (FFHC) in 1960. </a:t>
            </a:r>
          </a:p>
          <a:p>
            <a:pPr lvl="1"/>
            <a:r>
              <a:rPr lang="en-US" sz="2400" dirty="0"/>
              <a:t>The main object of the Campaign is to </a:t>
            </a:r>
            <a:r>
              <a:rPr lang="en-US" sz="2400" dirty="0">
                <a:highlight>
                  <a:srgbClr val="FFFF00"/>
                </a:highlight>
              </a:rPr>
              <a:t>combat malnutrition and to disseminate information and education</a:t>
            </a:r>
            <a:r>
              <a:rPr lang="en-US" sz="2400" dirty="0"/>
              <a:t>. </a:t>
            </a:r>
          </a:p>
          <a:p>
            <a:r>
              <a:rPr lang="en-US" sz="2400" dirty="0"/>
              <a:t>The FAO is also collaborating with other international agencies in the Applied Nutrition </a:t>
            </a:r>
            <a:r>
              <a:rPr lang="en-US" sz="2400" dirty="0" err="1"/>
              <a:t>Programmes</a:t>
            </a:r>
            <a:r>
              <a:rPr lang="en-US" sz="2400" dirty="0"/>
              <a:t>. </a:t>
            </a:r>
          </a:p>
          <a:p>
            <a:r>
              <a:rPr lang="en-US" sz="2400" dirty="0"/>
              <a:t>The joint WHO/FAO expert committees have provided the basis for many cooperative activities - </a:t>
            </a:r>
            <a:r>
              <a:rPr lang="en-US" sz="2400" dirty="0">
                <a:highlight>
                  <a:srgbClr val="FFFF00"/>
                </a:highlight>
              </a:rPr>
              <a:t>nutritional surveys, training courses, seminars and the coordination of research </a:t>
            </a:r>
            <a:r>
              <a:rPr lang="en-US" sz="2400" dirty="0" err="1">
                <a:highlight>
                  <a:srgbClr val="FFFF00"/>
                </a:highlight>
              </a:rPr>
              <a:t>programmes</a:t>
            </a:r>
            <a:r>
              <a:rPr lang="en-US" sz="2400" dirty="0">
                <a:highlight>
                  <a:srgbClr val="FFFF00"/>
                </a:highlight>
              </a:rPr>
              <a:t> on brucellosis and other zoonoses</a:t>
            </a:r>
            <a:r>
              <a:rPr lang="en-US" sz="2400" dirty="0"/>
              <a:t>.</a:t>
            </a:r>
            <a:endParaRPr lang="en-IN" sz="2400" dirty="0"/>
          </a:p>
          <a:p>
            <a:endParaRPr lang="en-IN" dirty="0"/>
          </a:p>
        </p:txBody>
      </p:sp>
    </p:spTree>
    <p:extLst>
      <p:ext uri="{BB962C8B-B14F-4D97-AF65-F5344CB8AC3E}">
        <p14:creationId xmlns:p14="http://schemas.microsoft.com/office/powerpoint/2010/main" val="1263704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A4614-B2F0-CEB7-E800-E34ED9B093D8}"/>
              </a:ext>
            </a:extLst>
          </p:cNvPr>
          <p:cNvSpPr>
            <a:spLocks noGrp="1"/>
          </p:cNvSpPr>
          <p:nvPr>
            <p:ph type="title"/>
          </p:nvPr>
        </p:nvSpPr>
        <p:spPr>
          <a:xfrm>
            <a:off x="1371600" y="685800"/>
            <a:ext cx="9601200" cy="695960"/>
          </a:xfrm>
        </p:spPr>
        <p:txBody>
          <a:bodyPr/>
          <a:lstStyle/>
          <a:p>
            <a:r>
              <a:rPr lang="en-US" dirty="0"/>
              <a:t>ILO</a:t>
            </a:r>
            <a:endParaRPr lang="en-IN" dirty="0"/>
          </a:p>
        </p:txBody>
      </p:sp>
      <p:sp>
        <p:nvSpPr>
          <p:cNvPr id="3" name="Content Placeholder 2">
            <a:extLst>
              <a:ext uri="{FF2B5EF4-FFF2-40B4-BE49-F238E27FC236}">
                <a16:creationId xmlns:a16="http://schemas.microsoft.com/office/drawing/2014/main" id="{B0D47C5A-602C-693C-C2A2-D0AD129A7962}"/>
              </a:ext>
            </a:extLst>
          </p:cNvPr>
          <p:cNvSpPr>
            <a:spLocks noGrp="1"/>
          </p:cNvSpPr>
          <p:nvPr>
            <p:ph idx="1"/>
          </p:nvPr>
        </p:nvSpPr>
        <p:spPr>
          <a:xfrm>
            <a:off x="1036320" y="1468120"/>
            <a:ext cx="10698480" cy="5049520"/>
          </a:xfrm>
        </p:spPr>
        <p:txBody>
          <a:bodyPr>
            <a:noAutofit/>
          </a:bodyPr>
          <a:lstStyle/>
          <a:p>
            <a:r>
              <a:rPr lang="en-US" sz="2400" dirty="0"/>
              <a:t>Soon after the First World War, it was recognized that problems of industry, like disease, know no frontiers. </a:t>
            </a:r>
          </a:p>
          <a:p>
            <a:r>
              <a:rPr lang="en-US" sz="2400" dirty="0"/>
              <a:t>In </a:t>
            </a:r>
            <a:r>
              <a:rPr lang="en-US" sz="2400" dirty="0">
                <a:highlight>
                  <a:srgbClr val="FFFF00"/>
                </a:highlight>
              </a:rPr>
              <a:t>1919, the International </a:t>
            </a:r>
            <a:r>
              <a:rPr lang="en-US" sz="2400" dirty="0" err="1">
                <a:highlight>
                  <a:srgbClr val="FFFF00"/>
                </a:highlight>
              </a:rPr>
              <a:t>Labour</a:t>
            </a:r>
            <a:r>
              <a:rPr lang="en-US" sz="2400" dirty="0">
                <a:highlight>
                  <a:srgbClr val="FFFF00"/>
                </a:highlight>
              </a:rPr>
              <a:t> Organization (</a:t>
            </a:r>
            <a:r>
              <a:rPr lang="en-US" sz="2400" dirty="0" err="1">
                <a:highlight>
                  <a:srgbClr val="FFFF00"/>
                </a:highlight>
              </a:rPr>
              <a:t>l.L.O</a:t>
            </a:r>
            <a:r>
              <a:rPr lang="en-US" sz="2400" dirty="0">
                <a:highlight>
                  <a:srgbClr val="FFFF00"/>
                </a:highlight>
              </a:rPr>
              <a:t>.) </a:t>
            </a:r>
            <a:r>
              <a:rPr lang="en-US" sz="2400" dirty="0"/>
              <a:t>was established as an affiliate of the League of Nations to improve the working and living conditions of the working population all over the world. </a:t>
            </a:r>
          </a:p>
          <a:p>
            <a:r>
              <a:rPr lang="en-US" sz="2400" dirty="0"/>
              <a:t>The purposes of ILO are : </a:t>
            </a:r>
          </a:p>
          <a:p>
            <a:pPr lvl="1"/>
            <a:r>
              <a:rPr lang="en-US" sz="2400" dirty="0"/>
              <a:t>(1) to contribute to the </a:t>
            </a:r>
            <a:r>
              <a:rPr lang="en-US" sz="2400" dirty="0">
                <a:highlight>
                  <a:srgbClr val="FFFF00"/>
                </a:highlight>
              </a:rPr>
              <a:t>establishment of lasting peace </a:t>
            </a:r>
            <a:r>
              <a:rPr lang="en-US" sz="2400" dirty="0"/>
              <a:t>by promoting social justice </a:t>
            </a:r>
          </a:p>
          <a:p>
            <a:pPr lvl="1"/>
            <a:r>
              <a:rPr lang="en-US" sz="2400" dirty="0"/>
              <a:t>(2) to improve, through international action</a:t>
            </a:r>
            <a:r>
              <a:rPr lang="en-US" sz="2400" dirty="0">
                <a:highlight>
                  <a:srgbClr val="FFFF00"/>
                </a:highlight>
              </a:rPr>
              <a:t>, </a:t>
            </a:r>
            <a:r>
              <a:rPr lang="en-US" sz="2400" dirty="0" err="1">
                <a:highlight>
                  <a:srgbClr val="FFFF00"/>
                </a:highlight>
              </a:rPr>
              <a:t>labour</a:t>
            </a:r>
            <a:r>
              <a:rPr lang="en-US" sz="2400" dirty="0">
                <a:highlight>
                  <a:srgbClr val="FFFF00"/>
                </a:highlight>
              </a:rPr>
              <a:t> conditions, and living standards </a:t>
            </a:r>
          </a:p>
          <a:p>
            <a:pPr lvl="1"/>
            <a:r>
              <a:rPr lang="en-US" sz="2400" dirty="0"/>
              <a:t>(3) to promote </a:t>
            </a:r>
            <a:r>
              <a:rPr lang="en-US" sz="2400" dirty="0">
                <a:highlight>
                  <a:srgbClr val="FFFF00"/>
                </a:highlight>
              </a:rPr>
              <a:t>economic and social stability. </a:t>
            </a:r>
          </a:p>
        </p:txBody>
      </p:sp>
      <p:pic>
        <p:nvPicPr>
          <p:cNvPr id="5" name="Picture 4">
            <a:extLst>
              <a:ext uri="{FF2B5EF4-FFF2-40B4-BE49-F238E27FC236}">
                <a16:creationId xmlns:a16="http://schemas.microsoft.com/office/drawing/2014/main" id="{2CD556C6-F1B0-5A7E-5F91-827A47FB0D1C}"/>
              </a:ext>
            </a:extLst>
          </p:cNvPr>
          <p:cNvPicPr>
            <a:picLocks noChangeAspect="1"/>
          </p:cNvPicPr>
          <p:nvPr/>
        </p:nvPicPr>
        <p:blipFill>
          <a:blip r:embed="rId2"/>
          <a:stretch>
            <a:fillRect/>
          </a:stretch>
        </p:blipFill>
        <p:spPr>
          <a:xfrm>
            <a:off x="9032240" y="0"/>
            <a:ext cx="3159760" cy="1506397"/>
          </a:xfrm>
          <a:prstGeom prst="rect">
            <a:avLst/>
          </a:prstGeom>
        </p:spPr>
      </p:pic>
    </p:spTree>
    <p:extLst>
      <p:ext uri="{BB962C8B-B14F-4D97-AF65-F5344CB8AC3E}">
        <p14:creationId xmlns:p14="http://schemas.microsoft.com/office/powerpoint/2010/main" val="3786963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1E0045-4D30-2A4A-3C4B-C45BC5776DC6}"/>
              </a:ext>
            </a:extLst>
          </p:cNvPr>
          <p:cNvSpPr>
            <a:spLocks noGrp="1"/>
          </p:cNvSpPr>
          <p:nvPr>
            <p:ph idx="1"/>
          </p:nvPr>
        </p:nvSpPr>
        <p:spPr>
          <a:xfrm>
            <a:off x="1097280" y="1554480"/>
            <a:ext cx="10292080" cy="3718560"/>
          </a:xfrm>
        </p:spPr>
        <p:txBody>
          <a:bodyPr/>
          <a:lstStyle/>
          <a:p>
            <a:r>
              <a:rPr lang="en-US" sz="2400" dirty="0"/>
              <a:t>The International </a:t>
            </a:r>
            <a:r>
              <a:rPr lang="en-US" sz="2400" dirty="0" err="1"/>
              <a:t>Labour</a:t>
            </a:r>
            <a:r>
              <a:rPr lang="en-US" sz="2400" dirty="0"/>
              <a:t> Code is a collection of international minimum standards related to </a:t>
            </a:r>
            <a:r>
              <a:rPr lang="en-US" sz="2400" dirty="0">
                <a:highlight>
                  <a:srgbClr val="FFFF00"/>
                </a:highlight>
              </a:rPr>
              <a:t>health, welfare, living and working conditions of workers all over the world. </a:t>
            </a:r>
          </a:p>
          <a:p>
            <a:r>
              <a:rPr lang="en-US" sz="2400" dirty="0"/>
              <a:t>The ILO also provides assistance to organizations </a:t>
            </a:r>
            <a:r>
              <a:rPr lang="en-US" sz="2400" dirty="0">
                <a:highlight>
                  <a:srgbClr val="FFFF00"/>
                </a:highlight>
              </a:rPr>
              <a:t>interested in the betterment of living and employment standards. </a:t>
            </a:r>
          </a:p>
          <a:p>
            <a:r>
              <a:rPr lang="en-US" sz="2400" dirty="0"/>
              <a:t>There is a close collaboration between ILO and WHO in the field of health and </a:t>
            </a:r>
            <a:r>
              <a:rPr lang="en-US" sz="2400" dirty="0" err="1"/>
              <a:t>labour</a:t>
            </a:r>
            <a:r>
              <a:rPr lang="en-US" sz="2400" dirty="0"/>
              <a:t>. </a:t>
            </a:r>
          </a:p>
          <a:p>
            <a:r>
              <a:rPr lang="en-US" sz="2400" dirty="0"/>
              <a:t>The headquarters of ILO is in </a:t>
            </a:r>
            <a:r>
              <a:rPr lang="en-US" sz="2400" dirty="0">
                <a:highlight>
                  <a:srgbClr val="FFFF00"/>
                </a:highlight>
              </a:rPr>
              <a:t>Geneva, Switzerland.</a:t>
            </a:r>
            <a:endParaRPr lang="en-IN" sz="2400" dirty="0">
              <a:highlight>
                <a:srgbClr val="FFFF00"/>
              </a:highlight>
            </a:endParaRPr>
          </a:p>
          <a:p>
            <a:pPr marL="0" indent="0">
              <a:buNone/>
            </a:pPr>
            <a:endParaRPr lang="en-IN" dirty="0"/>
          </a:p>
        </p:txBody>
      </p:sp>
    </p:spTree>
    <p:extLst>
      <p:ext uri="{BB962C8B-B14F-4D97-AF65-F5344CB8AC3E}">
        <p14:creationId xmlns:p14="http://schemas.microsoft.com/office/powerpoint/2010/main" val="2787829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FB3D3-CF36-1133-3DC7-56BDCAD47310}"/>
              </a:ext>
            </a:extLst>
          </p:cNvPr>
          <p:cNvSpPr>
            <a:spLocks noGrp="1"/>
          </p:cNvSpPr>
          <p:nvPr>
            <p:ph type="title"/>
          </p:nvPr>
        </p:nvSpPr>
        <p:spPr>
          <a:xfrm>
            <a:off x="1371600" y="309880"/>
            <a:ext cx="9601200" cy="817880"/>
          </a:xfrm>
        </p:spPr>
        <p:txBody>
          <a:bodyPr/>
          <a:lstStyle/>
          <a:p>
            <a:r>
              <a:rPr lang="en-US" dirty="0"/>
              <a:t>WORLD BANK</a:t>
            </a:r>
            <a:endParaRPr lang="en-IN" dirty="0"/>
          </a:p>
        </p:txBody>
      </p:sp>
      <p:sp>
        <p:nvSpPr>
          <p:cNvPr id="3" name="Content Placeholder 2">
            <a:extLst>
              <a:ext uri="{FF2B5EF4-FFF2-40B4-BE49-F238E27FC236}">
                <a16:creationId xmlns:a16="http://schemas.microsoft.com/office/drawing/2014/main" id="{B8B7F658-9B20-0865-C66E-F57E616424C0}"/>
              </a:ext>
            </a:extLst>
          </p:cNvPr>
          <p:cNvSpPr>
            <a:spLocks noGrp="1"/>
          </p:cNvSpPr>
          <p:nvPr>
            <p:ph idx="1"/>
          </p:nvPr>
        </p:nvSpPr>
        <p:spPr>
          <a:xfrm>
            <a:off x="1046480" y="1330960"/>
            <a:ext cx="10393680" cy="5364480"/>
          </a:xfrm>
        </p:spPr>
        <p:txBody>
          <a:bodyPr>
            <a:noAutofit/>
          </a:bodyPr>
          <a:lstStyle/>
          <a:p>
            <a:r>
              <a:rPr lang="en-US" sz="2400" dirty="0"/>
              <a:t>World Bank is a specialized agency of the United Nations. It was established with the purpose of </a:t>
            </a:r>
            <a:r>
              <a:rPr lang="en-US" sz="2400" dirty="0">
                <a:highlight>
                  <a:srgbClr val="FFFF00"/>
                </a:highlight>
              </a:rPr>
              <a:t>helping less developed countries raise their living standards</a:t>
            </a:r>
            <a:r>
              <a:rPr lang="en-US" sz="2400" dirty="0"/>
              <a:t>. </a:t>
            </a:r>
          </a:p>
          <a:p>
            <a:r>
              <a:rPr lang="en-US" sz="2400" dirty="0"/>
              <a:t>The powers of the Bank are vested in a Board of Governors. </a:t>
            </a:r>
          </a:p>
          <a:p>
            <a:r>
              <a:rPr lang="en-US" sz="2400" dirty="0"/>
              <a:t>The Bank gives </a:t>
            </a:r>
            <a:r>
              <a:rPr lang="en-US" sz="2400" b="1" dirty="0"/>
              <a:t>loans for projects that will lead to economic growth </a:t>
            </a:r>
            <a:r>
              <a:rPr lang="en-US" sz="2400" dirty="0"/>
              <a:t>(e.g.. India’s Population Projects). </a:t>
            </a:r>
          </a:p>
          <a:p>
            <a:r>
              <a:rPr lang="en-US" sz="2400" dirty="0"/>
              <a:t>The projects are usually </a:t>
            </a:r>
            <a:r>
              <a:rPr lang="en-US" sz="2400" dirty="0">
                <a:highlight>
                  <a:srgbClr val="FFFF00"/>
                </a:highlight>
              </a:rPr>
              <a:t>concerned with electric power, roads, railways, agriculture, water supply, education, family planning, etc. </a:t>
            </a:r>
          </a:p>
          <a:p>
            <a:r>
              <a:rPr lang="en-US" sz="2400" dirty="0"/>
              <a:t>Health and environmental components have been added to many projects. Cooperative </a:t>
            </a:r>
            <a:r>
              <a:rPr lang="en-US" sz="2400" dirty="0" err="1"/>
              <a:t>programmes</a:t>
            </a:r>
            <a:r>
              <a:rPr lang="en-US" sz="2400" dirty="0"/>
              <a:t> exist between WHO and the Bank, e.g., projects for water supply, </a:t>
            </a:r>
          </a:p>
          <a:p>
            <a:r>
              <a:rPr lang="en-US" sz="2400" i="1" u="sng" dirty="0"/>
              <a:t>World Food </a:t>
            </a:r>
            <a:r>
              <a:rPr lang="en-US" sz="2400" i="1" u="sng" dirty="0" err="1"/>
              <a:t>Programme</a:t>
            </a:r>
            <a:r>
              <a:rPr lang="en-US" sz="2400" i="1" u="sng" dirty="0"/>
              <a:t>, Population Control, and the control of onchocerciasis </a:t>
            </a:r>
            <a:r>
              <a:rPr lang="en-US" sz="2400" i="1" u="sng" dirty="0" err="1"/>
              <a:t>programme</a:t>
            </a:r>
            <a:r>
              <a:rPr lang="en-US" sz="2400" i="1" u="sng" dirty="0"/>
              <a:t> in West Africa.</a:t>
            </a:r>
            <a:endParaRPr lang="en-IN" sz="2400" i="1" u="sng" dirty="0"/>
          </a:p>
        </p:txBody>
      </p:sp>
      <p:pic>
        <p:nvPicPr>
          <p:cNvPr id="5" name="Picture 4">
            <a:extLst>
              <a:ext uri="{FF2B5EF4-FFF2-40B4-BE49-F238E27FC236}">
                <a16:creationId xmlns:a16="http://schemas.microsoft.com/office/drawing/2014/main" id="{6CD896E3-2C17-6C90-DB6D-D9441CF41FEF}"/>
              </a:ext>
            </a:extLst>
          </p:cNvPr>
          <p:cNvPicPr>
            <a:picLocks noChangeAspect="1"/>
          </p:cNvPicPr>
          <p:nvPr/>
        </p:nvPicPr>
        <p:blipFill>
          <a:blip r:embed="rId2"/>
          <a:stretch>
            <a:fillRect/>
          </a:stretch>
        </p:blipFill>
        <p:spPr>
          <a:xfrm>
            <a:off x="9773920" y="0"/>
            <a:ext cx="2418080" cy="1362298"/>
          </a:xfrm>
          <a:prstGeom prst="rect">
            <a:avLst/>
          </a:prstGeom>
        </p:spPr>
      </p:pic>
    </p:spTree>
    <p:extLst>
      <p:ext uri="{BB962C8B-B14F-4D97-AF65-F5344CB8AC3E}">
        <p14:creationId xmlns:p14="http://schemas.microsoft.com/office/powerpoint/2010/main" val="86372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13B15-5ED6-14AD-BB5D-0CF095B6D933}"/>
              </a:ext>
            </a:extLst>
          </p:cNvPr>
          <p:cNvSpPr>
            <a:spLocks noGrp="1"/>
          </p:cNvSpPr>
          <p:nvPr>
            <p:ph type="title"/>
          </p:nvPr>
        </p:nvSpPr>
        <p:spPr>
          <a:xfrm>
            <a:off x="1371600" y="685800"/>
            <a:ext cx="9814560" cy="939800"/>
          </a:xfrm>
        </p:spPr>
        <p:txBody>
          <a:bodyPr>
            <a:normAutofit fontScale="90000"/>
          </a:bodyPr>
          <a:lstStyle/>
          <a:p>
            <a:r>
              <a:rPr lang="en-US" dirty="0"/>
              <a:t>HEALTH WORK OF BILATERAL AGENCIES</a:t>
            </a:r>
            <a:endParaRPr lang="en-IN" dirty="0"/>
          </a:p>
        </p:txBody>
      </p:sp>
      <p:sp>
        <p:nvSpPr>
          <p:cNvPr id="3" name="Content Placeholder 2">
            <a:extLst>
              <a:ext uri="{FF2B5EF4-FFF2-40B4-BE49-F238E27FC236}">
                <a16:creationId xmlns:a16="http://schemas.microsoft.com/office/drawing/2014/main" id="{67572814-36C9-4926-7A72-5C59DF80FCC5}"/>
              </a:ext>
            </a:extLst>
          </p:cNvPr>
          <p:cNvSpPr>
            <a:spLocks noGrp="1"/>
          </p:cNvSpPr>
          <p:nvPr>
            <p:ph idx="1"/>
          </p:nvPr>
        </p:nvSpPr>
        <p:spPr>
          <a:xfrm>
            <a:off x="1005840" y="2199341"/>
            <a:ext cx="9966960" cy="4241800"/>
          </a:xfrm>
        </p:spPr>
        <p:txBody>
          <a:bodyPr>
            <a:normAutofit/>
          </a:bodyPr>
          <a:lstStyle/>
          <a:p>
            <a:r>
              <a:rPr lang="en-US" sz="2400" dirty="0"/>
              <a:t>The US Government presently extends aid to India through three agencies : </a:t>
            </a:r>
          </a:p>
          <a:p>
            <a:pPr lvl="1"/>
            <a:r>
              <a:rPr lang="en-US" sz="2400" dirty="0"/>
              <a:t>(1) United States Agency for International Development (USAID); </a:t>
            </a:r>
          </a:p>
          <a:p>
            <a:pPr lvl="1"/>
            <a:r>
              <a:rPr lang="en-US" sz="2400" dirty="0"/>
              <a:t>(2) The Public Law 480 (Food for Peace) </a:t>
            </a:r>
            <a:r>
              <a:rPr lang="en-US" sz="2400" dirty="0" err="1"/>
              <a:t>Programme</a:t>
            </a:r>
            <a:r>
              <a:rPr lang="en-US" sz="2400" dirty="0"/>
              <a:t>; </a:t>
            </a:r>
          </a:p>
          <a:p>
            <a:pPr lvl="1"/>
            <a:r>
              <a:rPr lang="en-US" sz="2400" dirty="0"/>
              <a:t>(3) The US Export- Import Bank. </a:t>
            </a:r>
          </a:p>
          <a:p>
            <a:r>
              <a:rPr lang="en-US" sz="2400" dirty="0"/>
              <a:t>The USAID was created in 1961; it is in charge of activities previously administered by the Technical Cooperation Mission (TCM). </a:t>
            </a:r>
          </a:p>
        </p:txBody>
      </p:sp>
    </p:spTree>
    <p:extLst>
      <p:ext uri="{BB962C8B-B14F-4D97-AF65-F5344CB8AC3E}">
        <p14:creationId xmlns:p14="http://schemas.microsoft.com/office/powerpoint/2010/main" val="600782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7B4232-80AB-CEC5-278D-3130C549D859}"/>
              </a:ext>
            </a:extLst>
          </p:cNvPr>
          <p:cNvSpPr>
            <a:spLocks noGrp="1"/>
          </p:cNvSpPr>
          <p:nvPr>
            <p:ph idx="1"/>
          </p:nvPr>
        </p:nvSpPr>
        <p:spPr>
          <a:xfrm>
            <a:off x="1097280" y="685800"/>
            <a:ext cx="10375900" cy="5740400"/>
          </a:xfrm>
        </p:spPr>
        <p:txBody>
          <a:bodyPr/>
          <a:lstStyle/>
          <a:p>
            <a:r>
              <a:rPr lang="en-US" sz="2400" dirty="0"/>
              <a:t>A USAID mission functions in New Delhi. Both grants and loans are extended by the Agency. The US has been assisting in a number of projects designed to improve the health of India’s people. </a:t>
            </a:r>
          </a:p>
          <a:p>
            <a:r>
              <a:rPr lang="en-US" sz="2400" dirty="0"/>
              <a:t>These are : </a:t>
            </a:r>
          </a:p>
          <a:p>
            <a:pPr lvl="1"/>
            <a:r>
              <a:rPr lang="en-US" sz="2400" dirty="0"/>
              <a:t>(1) malaria eradication </a:t>
            </a:r>
          </a:p>
          <a:p>
            <a:pPr lvl="1"/>
            <a:r>
              <a:rPr lang="en-US" sz="2400" dirty="0"/>
              <a:t>(2) medical education </a:t>
            </a:r>
          </a:p>
          <a:p>
            <a:pPr lvl="1"/>
            <a:r>
              <a:rPr lang="en-US" sz="2400" dirty="0"/>
              <a:t>(3) nursing education </a:t>
            </a:r>
          </a:p>
          <a:p>
            <a:pPr lvl="1"/>
            <a:r>
              <a:rPr lang="en-US" sz="2400" dirty="0"/>
              <a:t>(4) health education</a:t>
            </a:r>
          </a:p>
          <a:p>
            <a:pPr lvl="1"/>
            <a:r>
              <a:rPr lang="en-US" sz="2400" dirty="0"/>
              <a:t>(5) water supply and sanitation</a:t>
            </a:r>
          </a:p>
          <a:p>
            <a:pPr lvl="1"/>
            <a:r>
              <a:rPr lang="en-US" sz="2400" dirty="0"/>
              <a:t>(6) control of communicable diseases </a:t>
            </a:r>
          </a:p>
          <a:p>
            <a:pPr lvl="1"/>
            <a:r>
              <a:rPr lang="en-US" sz="2400" dirty="0"/>
              <a:t>(7) nutrition </a:t>
            </a:r>
          </a:p>
          <a:p>
            <a:pPr lvl="1"/>
            <a:r>
              <a:rPr lang="en-US" sz="2400" dirty="0"/>
              <a:t>(8) family planning. </a:t>
            </a:r>
          </a:p>
          <a:p>
            <a:pPr marL="0" indent="0">
              <a:buNone/>
            </a:pPr>
            <a:endParaRPr lang="en-IN" dirty="0"/>
          </a:p>
          <a:p>
            <a:endParaRPr lang="en-IN" dirty="0"/>
          </a:p>
        </p:txBody>
      </p:sp>
    </p:spTree>
    <p:extLst>
      <p:ext uri="{BB962C8B-B14F-4D97-AF65-F5344CB8AC3E}">
        <p14:creationId xmlns:p14="http://schemas.microsoft.com/office/powerpoint/2010/main" val="2261789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927FB-C601-102F-F586-B7D38C2D4502}"/>
              </a:ext>
            </a:extLst>
          </p:cNvPr>
          <p:cNvSpPr>
            <a:spLocks noGrp="1"/>
          </p:cNvSpPr>
          <p:nvPr>
            <p:ph idx="1"/>
          </p:nvPr>
        </p:nvSpPr>
        <p:spPr>
          <a:xfrm>
            <a:off x="1371600" y="2286000"/>
            <a:ext cx="9601200" cy="3581400"/>
          </a:xfrm>
        </p:spPr>
        <p:txBody>
          <a:bodyPr/>
          <a:lstStyle/>
          <a:p>
            <a:r>
              <a:rPr lang="en-IN" sz="2400" dirty="0"/>
              <a:t>The recent trend </a:t>
            </a:r>
            <a:r>
              <a:rPr lang="en-US" sz="2400" dirty="0"/>
              <a:t>in assistance from the USA is </a:t>
            </a:r>
            <a:r>
              <a:rPr lang="en-US" sz="2400" dirty="0">
                <a:highlight>
                  <a:srgbClr val="FFFF00"/>
                </a:highlight>
              </a:rPr>
              <a:t>increasingly in the support of agricultural and family planning </a:t>
            </a:r>
            <a:r>
              <a:rPr lang="en-US" sz="2400" dirty="0" err="1">
                <a:highlight>
                  <a:srgbClr val="FFFF00"/>
                </a:highlight>
              </a:rPr>
              <a:t>programmes</a:t>
            </a:r>
            <a:r>
              <a:rPr lang="en-US" sz="2400" dirty="0"/>
              <a:t>, with </a:t>
            </a:r>
            <a:r>
              <a:rPr lang="en-US" sz="2400" dirty="0">
                <a:highlight>
                  <a:srgbClr val="FFFF00"/>
                </a:highlight>
              </a:rPr>
              <a:t>some reduction in aid in the general public health field.</a:t>
            </a:r>
          </a:p>
          <a:p>
            <a:endParaRPr lang="en-IN" dirty="0"/>
          </a:p>
        </p:txBody>
      </p:sp>
    </p:spTree>
    <p:extLst>
      <p:ext uri="{BB962C8B-B14F-4D97-AF65-F5344CB8AC3E}">
        <p14:creationId xmlns:p14="http://schemas.microsoft.com/office/powerpoint/2010/main" val="1555415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2891-4C9E-7695-0392-410F928E00F9}"/>
              </a:ext>
            </a:extLst>
          </p:cNvPr>
          <p:cNvSpPr>
            <a:spLocks noGrp="1"/>
          </p:cNvSpPr>
          <p:nvPr>
            <p:ph type="title"/>
          </p:nvPr>
        </p:nvSpPr>
        <p:spPr>
          <a:xfrm>
            <a:off x="1371600" y="1153160"/>
            <a:ext cx="9601200" cy="756920"/>
          </a:xfrm>
        </p:spPr>
        <p:txBody>
          <a:bodyPr/>
          <a:lstStyle/>
          <a:p>
            <a:r>
              <a:rPr lang="en-IN" dirty="0"/>
              <a:t>THE COLOMBO PLAN</a:t>
            </a:r>
          </a:p>
        </p:txBody>
      </p:sp>
      <p:sp>
        <p:nvSpPr>
          <p:cNvPr id="3" name="Content Placeholder 2">
            <a:extLst>
              <a:ext uri="{FF2B5EF4-FFF2-40B4-BE49-F238E27FC236}">
                <a16:creationId xmlns:a16="http://schemas.microsoft.com/office/drawing/2014/main" id="{ACECB20B-1383-919C-99BA-FBA18CAFEDED}"/>
              </a:ext>
            </a:extLst>
          </p:cNvPr>
          <p:cNvSpPr>
            <a:spLocks noGrp="1"/>
          </p:cNvSpPr>
          <p:nvPr>
            <p:ph idx="1"/>
          </p:nvPr>
        </p:nvSpPr>
        <p:spPr>
          <a:xfrm>
            <a:off x="965200" y="2171700"/>
            <a:ext cx="10769600" cy="4371340"/>
          </a:xfrm>
        </p:spPr>
        <p:txBody>
          <a:bodyPr>
            <a:normAutofit/>
          </a:bodyPr>
          <a:lstStyle/>
          <a:p>
            <a:r>
              <a:rPr lang="en-US" sz="2400" dirty="0"/>
              <a:t>At a meeting of the commonwealth, Foreign Ministers at Colombo in January 1950, a </a:t>
            </a:r>
            <a:r>
              <a:rPr lang="en-US" sz="2400" dirty="0" err="1"/>
              <a:t>programme</a:t>
            </a:r>
            <a:r>
              <a:rPr lang="en-US" sz="2400" dirty="0"/>
              <a:t> was drawn up for </a:t>
            </a:r>
            <a:r>
              <a:rPr lang="en-US" sz="2400" dirty="0">
                <a:highlight>
                  <a:srgbClr val="FFFF00"/>
                </a:highlight>
              </a:rPr>
              <a:t>cooperative economic development in South and South East Asia. </a:t>
            </a:r>
          </a:p>
          <a:p>
            <a:r>
              <a:rPr lang="en-US" sz="2400" dirty="0"/>
              <a:t>Membership comprises </a:t>
            </a:r>
            <a:r>
              <a:rPr lang="en-US" sz="2400" dirty="0">
                <a:highlight>
                  <a:srgbClr val="FFFF00"/>
                </a:highlight>
              </a:rPr>
              <a:t>20 developing countries within the region and 6 non-regional members - Australia, Canada, Japan, New Zealand, UK and USA. </a:t>
            </a:r>
          </a:p>
          <a:p>
            <a:r>
              <a:rPr lang="en-US" sz="2400" dirty="0"/>
              <a:t>The bulk of Colombo Plan assistance goes into </a:t>
            </a:r>
            <a:r>
              <a:rPr lang="en-US" sz="2400" dirty="0">
                <a:highlight>
                  <a:srgbClr val="FFFF00"/>
                </a:highlight>
              </a:rPr>
              <a:t>industrial and agricultural development, but some support has also been given to health promotion, mostly through fellowships</a:t>
            </a:r>
            <a:r>
              <a:rPr lang="en-US" dirty="0">
                <a:highlight>
                  <a:srgbClr val="FFFF00"/>
                </a:highlight>
              </a:rPr>
              <a:t>. </a:t>
            </a:r>
          </a:p>
        </p:txBody>
      </p:sp>
    </p:spTree>
    <p:extLst>
      <p:ext uri="{BB962C8B-B14F-4D97-AF65-F5344CB8AC3E}">
        <p14:creationId xmlns:p14="http://schemas.microsoft.com/office/powerpoint/2010/main" val="887838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2617CF-59EF-FF75-2BC3-50EDC675BBD7}"/>
              </a:ext>
            </a:extLst>
          </p:cNvPr>
          <p:cNvSpPr>
            <a:spLocks noGrp="1"/>
          </p:cNvSpPr>
          <p:nvPr>
            <p:ph idx="1"/>
          </p:nvPr>
        </p:nvSpPr>
        <p:spPr>
          <a:xfrm>
            <a:off x="1371600" y="1432560"/>
            <a:ext cx="10068560" cy="5151120"/>
          </a:xfrm>
        </p:spPr>
        <p:txBody>
          <a:bodyPr/>
          <a:lstStyle/>
          <a:p>
            <a:r>
              <a:rPr lang="en-US" sz="2400" dirty="0"/>
              <a:t>The </a:t>
            </a:r>
            <a:r>
              <a:rPr lang="en-US" sz="2400" b="1" dirty="0"/>
              <a:t>All-India Institute of Medical Sciences at New Delhi </a:t>
            </a:r>
            <a:r>
              <a:rPr lang="en-US" sz="2400" dirty="0"/>
              <a:t>was established with </a:t>
            </a:r>
            <a:r>
              <a:rPr lang="en-US" sz="2400" b="1" dirty="0"/>
              <a:t>financial assistance from New Zealand</a:t>
            </a:r>
            <a:r>
              <a:rPr lang="en-US" sz="2400" dirty="0"/>
              <a:t>. </a:t>
            </a:r>
          </a:p>
          <a:p>
            <a:r>
              <a:rPr lang="en-US" sz="2400" dirty="0"/>
              <a:t>The Plan provides for </a:t>
            </a:r>
            <a:r>
              <a:rPr lang="en-US" sz="2400" dirty="0">
                <a:highlight>
                  <a:srgbClr val="FFFF00"/>
                </a:highlight>
              </a:rPr>
              <a:t>visits to countries by experts who can offer advice on local problems and train the local people. </a:t>
            </a:r>
          </a:p>
          <a:p>
            <a:r>
              <a:rPr lang="en-US" sz="2400" dirty="0"/>
              <a:t>The contribution of Canada in </a:t>
            </a:r>
            <a:r>
              <a:rPr lang="en-US" sz="2400" dirty="0">
                <a:highlight>
                  <a:srgbClr val="FFFF00"/>
                </a:highlight>
              </a:rPr>
              <a:t>supplying Cobalt Therapy Units to medical institutions in India was an important item of aid under the Colombo plan. </a:t>
            </a:r>
          </a:p>
          <a:p>
            <a:r>
              <a:rPr lang="en-US" sz="2400" dirty="0"/>
              <a:t>Colombo plan seeks to improve living standards of the people of the area by reviewing developmental plans and coordinating development assistance. </a:t>
            </a:r>
            <a:endParaRPr lang="en-IN" sz="2400" dirty="0"/>
          </a:p>
          <a:p>
            <a:endParaRPr lang="en-IN" dirty="0"/>
          </a:p>
        </p:txBody>
      </p:sp>
    </p:spTree>
    <p:extLst>
      <p:ext uri="{BB962C8B-B14F-4D97-AF65-F5344CB8AC3E}">
        <p14:creationId xmlns:p14="http://schemas.microsoft.com/office/powerpoint/2010/main" val="1029316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24EDA9-F0C6-89C6-3EA1-AB6DCC95D179}"/>
              </a:ext>
            </a:extLst>
          </p:cNvPr>
          <p:cNvSpPr>
            <a:spLocks noGrp="1"/>
          </p:cNvSpPr>
          <p:nvPr>
            <p:ph idx="1"/>
          </p:nvPr>
        </p:nvSpPr>
        <p:spPr>
          <a:xfrm>
            <a:off x="1371600" y="1290320"/>
            <a:ext cx="9601200" cy="5115560"/>
          </a:xfrm>
        </p:spPr>
        <p:txBody>
          <a:bodyPr>
            <a:normAutofit/>
          </a:bodyPr>
          <a:lstStyle/>
          <a:p>
            <a:r>
              <a:rPr lang="en-US" sz="2400" dirty="0"/>
              <a:t>SIDA </a:t>
            </a:r>
          </a:p>
          <a:p>
            <a:r>
              <a:rPr lang="en-US" sz="2400" dirty="0"/>
              <a:t>The </a:t>
            </a:r>
            <a:r>
              <a:rPr lang="en-US" sz="2400" dirty="0">
                <a:highlight>
                  <a:srgbClr val="FFFF00"/>
                </a:highlight>
              </a:rPr>
              <a:t>Swedish International Development Agency </a:t>
            </a:r>
            <a:r>
              <a:rPr lang="en-US" sz="2400" dirty="0"/>
              <a:t>is assisting the National Tuberculosis Control </a:t>
            </a:r>
            <a:r>
              <a:rPr lang="en-US" sz="2400" dirty="0" err="1"/>
              <a:t>Programme</a:t>
            </a:r>
            <a:r>
              <a:rPr lang="en-US" sz="2400" dirty="0"/>
              <a:t> since 1979. The </a:t>
            </a:r>
            <a:r>
              <a:rPr lang="en-US" sz="2400" b="1" dirty="0"/>
              <a:t>SIDA assistance is usually spent on procurement of supplies like X-ray unit, microscopes and anti tuberculosis drugs.</a:t>
            </a:r>
          </a:p>
          <a:p>
            <a:pPr marL="0" indent="0">
              <a:buNone/>
            </a:pPr>
            <a:endParaRPr lang="en-US" sz="2400" dirty="0"/>
          </a:p>
          <a:p>
            <a:r>
              <a:rPr lang="en-US" sz="2400" dirty="0"/>
              <a:t> DANIDA </a:t>
            </a:r>
          </a:p>
          <a:p>
            <a:r>
              <a:rPr lang="en-US" sz="2400" dirty="0"/>
              <a:t>The Government of Denmark is providing assistance for the development of services under </a:t>
            </a:r>
            <a:r>
              <a:rPr lang="en-US" sz="2400" b="1" dirty="0"/>
              <a:t>National Blindness Control </a:t>
            </a:r>
            <a:r>
              <a:rPr lang="en-US" sz="2400" b="1" dirty="0" err="1"/>
              <a:t>Programme</a:t>
            </a:r>
            <a:r>
              <a:rPr lang="en-US" sz="2400" b="1" dirty="0"/>
              <a:t> since 1978.</a:t>
            </a:r>
            <a:endParaRPr lang="en-IN" sz="2400" b="1" dirty="0"/>
          </a:p>
        </p:txBody>
      </p:sp>
    </p:spTree>
    <p:extLst>
      <p:ext uri="{BB962C8B-B14F-4D97-AF65-F5344CB8AC3E}">
        <p14:creationId xmlns:p14="http://schemas.microsoft.com/office/powerpoint/2010/main" val="506167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95999-1268-39EC-F0F2-5CCBF82F36C1}"/>
              </a:ext>
            </a:extLst>
          </p:cNvPr>
          <p:cNvSpPr>
            <a:spLocks noGrp="1"/>
          </p:cNvSpPr>
          <p:nvPr>
            <p:ph type="title"/>
          </p:nvPr>
        </p:nvSpPr>
        <p:spPr>
          <a:xfrm>
            <a:off x="1371600" y="685800"/>
            <a:ext cx="9601200" cy="848360"/>
          </a:xfrm>
        </p:spPr>
        <p:txBody>
          <a:bodyPr/>
          <a:lstStyle/>
          <a:p>
            <a:r>
              <a:rPr lang="en-IN" dirty="0"/>
              <a:t>Rockefeller Foundation</a:t>
            </a:r>
          </a:p>
        </p:txBody>
      </p:sp>
      <p:sp>
        <p:nvSpPr>
          <p:cNvPr id="3" name="Content Placeholder 2">
            <a:extLst>
              <a:ext uri="{FF2B5EF4-FFF2-40B4-BE49-F238E27FC236}">
                <a16:creationId xmlns:a16="http://schemas.microsoft.com/office/drawing/2014/main" id="{89C936EF-F382-F490-51EC-0A57A76A4073}"/>
              </a:ext>
            </a:extLst>
          </p:cNvPr>
          <p:cNvSpPr>
            <a:spLocks noGrp="1"/>
          </p:cNvSpPr>
          <p:nvPr>
            <p:ph idx="1"/>
          </p:nvPr>
        </p:nvSpPr>
        <p:spPr>
          <a:xfrm>
            <a:off x="1371600" y="1534160"/>
            <a:ext cx="9834880" cy="4333240"/>
          </a:xfrm>
        </p:spPr>
        <p:txBody>
          <a:bodyPr>
            <a:normAutofit/>
          </a:bodyPr>
          <a:lstStyle/>
          <a:p>
            <a:r>
              <a:rPr lang="en-US" sz="2400" dirty="0"/>
              <a:t>The Rockefeller Foundation is a </a:t>
            </a:r>
            <a:r>
              <a:rPr lang="en-US" sz="2400" dirty="0">
                <a:highlight>
                  <a:srgbClr val="FFFF00"/>
                </a:highlight>
              </a:rPr>
              <a:t>philanthropic organization </a:t>
            </a:r>
            <a:r>
              <a:rPr lang="en-US" sz="2400" dirty="0"/>
              <a:t>chartered in 1913 and endowed by </a:t>
            </a:r>
            <a:r>
              <a:rPr lang="en-US" sz="2400" dirty="0">
                <a:highlight>
                  <a:srgbClr val="FFFF00"/>
                </a:highlight>
              </a:rPr>
              <a:t>Mr. John D. Rockefeller.</a:t>
            </a:r>
            <a:r>
              <a:rPr lang="en-US" sz="2400" dirty="0"/>
              <a:t> </a:t>
            </a:r>
          </a:p>
          <a:p>
            <a:r>
              <a:rPr lang="en-US" sz="2400" dirty="0"/>
              <a:t>Its purpose is to promote the </a:t>
            </a:r>
            <a:r>
              <a:rPr lang="en-US" sz="2400" b="1" dirty="0"/>
              <a:t>well-being of mankind throughout the world</a:t>
            </a:r>
            <a:r>
              <a:rPr lang="en-US" sz="2400" dirty="0"/>
              <a:t>. </a:t>
            </a:r>
          </a:p>
          <a:p>
            <a:r>
              <a:rPr lang="en-US" sz="2400" dirty="0"/>
              <a:t>In its early years, the Foundation was </a:t>
            </a:r>
            <a:r>
              <a:rPr lang="en-US" sz="2400" dirty="0">
                <a:highlight>
                  <a:srgbClr val="FFFF00"/>
                </a:highlight>
              </a:rPr>
              <a:t>active chiefly in public health and medical education. </a:t>
            </a:r>
          </a:p>
          <a:p>
            <a:r>
              <a:rPr lang="en-US" sz="2400" dirty="0"/>
              <a:t>Subsequently, its interest was expanded to include the </a:t>
            </a:r>
            <a:r>
              <a:rPr lang="en-US" sz="2400" dirty="0">
                <a:highlight>
                  <a:srgbClr val="FFFF00"/>
                </a:highlight>
              </a:rPr>
              <a:t>advancement of life sciences, the social sciences, the humanities and the agricultural sciences. </a:t>
            </a:r>
            <a:endParaRPr lang="en-IN" sz="2400" dirty="0">
              <a:highlight>
                <a:srgbClr val="FFFF00"/>
              </a:highlight>
            </a:endParaRPr>
          </a:p>
        </p:txBody>
      </p:sp>
    </p:spTree>
    <p:extLst>
      <p:ext uri="{BB962C8B-B14F-4D97-AF65-F5344CB8AC3E}">
        <p14:creationId xmlns:p14="http://schemas.microsoft.com/office/powerpoint/2010/main" val="92809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FC9272-EA02-8670-EA6B-D14F0C0F2233}"/>
              </a:ext>
            </a:extLst>
          </p:cNvPr>
          <p:cNvSpPr>
            <a:spLocks noGrp="1"/>
          </p:cNvSpPr>
          <p:nvPr>
            <p:ph idx="1"/>
          </p:nvPr>
        </p:nvSpPr>
        <p:spPr>
          <a:xfrm>
            <a:off x="1192306" y="838200"/>
            <a:ext cx="10322560" cy="5181600"/>
          </a:xfrm>
        </p:spPr>
        <p:txBody>
          <a:bodyPr>
            <a:noAutofit/>
          </a:bodyPr>
          <a:lstStyle/>
          <a:p>
            <a:r>
              <a:rPr lang="en-US" sz="2400" dirty="0"/>
              <a:t>The work of the Rockefeller Foundation in India </a:t>
            </a:r>
            <a:r>
              <a:rPr lang="en-US" sz="2400" dirty="0">
                <a:highlight>
                  <a:srgbClr val="FFFF00"/>
                </a:highlight>
              </a:rPr>
              <a:t>began in 1920 with a scheme for the control of hookworm disease in the then Madras Presidency</a:t>
            </a:r>
            <a:r>
              <a:rPr lang="en-US" sz="2400" dirty="0"/>
              <a:t>. </a:t>
            </a:r>
          </a:p>
          <a:p>
            <a:r>
              <a:rPr lang="en-US" sz="2400" dirty="0"/>
              <a:t>The establishment of the </a:t>
            </a:r>
            <a:r>
              <a:rPr lang="en-US" sz="2400" b="1" i="1" dirty="0"/>
              <a:t>All India Institute of Hygiene and Public Health at Kolkata</a:t>
            </a:r>
            <a:r>
              <a:rPr lang="en-US" sz="2400" dirty="0"/>
              <a:t> was in a large measure due to the cooperation of the Rockefeller Foundation. </a:t>
            </a:r>
          </a:p>
        </p:txBody>
      </p:sp>
    </p:spTree>
    <p:extLst>
      <p:ext uri="{BB962C8B-B14F-4D97-AF65-F5344CB8AC3E}">
        <p14:creationId xmlns:p14="http://schemas.microsoft.com/office/powerpoint/2010/main" val="2782606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BA0F0-4A81-F827-59D5-A5697FDB0E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401F06A-EF4C-A41F-0222-828922CFA30C}"/>
              </a:ext>
            </a:extLst>
          </p:cNvPr>
          <p:cNvSpPr>
            <a:spLocks noGrp="1"/>
          </p:cNvSpPr>
          <p:nvPr>
            <p:ph idx="1"/>
          </p:nvPr>
        </p:nvSpPr>
        <p:spPr>
          <a:xfrm>
            <a:off x="1371600" y="411480"/>
            <a:ext cx="10322560" cy="5181600"/>
          </a:xfrm>
        </p:spPr>
        <p:txBody>
          <a:bodyPr>
            <a:noAutofit/>
          </a:bodyPr>
          <a:lstStyle/>
          <a:p>
            <a:r>
              <a:rPr lang="en-US" sz="2400" dirty="0"/>
              <a:t>The Foundation’s </a:t>
            </a:r>
            <a:r>
              <a:rPr lang="en-US" sz="2400" dirty="0" err="1"/>
              <a:t>programme</a:t>
            </a:r>
            <a:r>
              <a:rPr lang="en-US" sz="2400" dirty="0"/>
              <a:t> included the </a:t>
            </a:r>
          </a:p>
          <a:p>
            <a:pPr lvl="1"/>
            <a:r>
              <a:rPr lang="en-US" sz="2400" dirty="0"/>
              <a:t>Training of competent teachers and research workers; </a:t>
            </a:r>
          </a:p>
          <a:p>
            <a:pPr lvl="1"/>
            <a:r>
              <a:rPr lang="en-US" sz="2400" dirty="0"/>
              <a:t>Training abroad of candidates from India through fellowships and travel grants; </a:t>
            </a:r>
          </a:p>
          <a:p>
            <a:pPr lvl="1"/>
            <a:r>
              <a:rPr lang="en-US" sz="2400" dirty="0"/>
              <a:t>The sponsoring of visits of a large number of medical specialists from the USA; </a:t>
            </a:r>
          </a:p>
          <a:p>
            <a:pPr lvl="1"/>
            <a:r>
              <a:rPr lang="en-US" sz="2400" dirty="0"/>
              <a:t>Providing grants-in-aid to selected institutions: </a:t>
            </a:r>
          </a:p>
          <a:p>
            <a:pPr lvl="1"/>
            <a:r>
              <a:rPr lang="en-US" sz="2400" dirty="0"/>
              <a:t>Development of medical college libraries; </a:t>
            </a:r>
          </a:p>
          <a:p>
            <a:pPr lvl="1"/>
            <a:r>
              <a:rPr lang="en-US" sz="2400" dirty="0"/>
              <a:t>Population studies; </a:t>
            </a:r>
          </a:p>
          <a:p>
            <a:pPr lvl="1"/>
            <a:r>
              <a:rPr lang="en-US" sz="2400" dirty="0"/>
              <a:t>Assistance to research projects and institutions </a:t>
            </a:r>
          </a:p>
          <a:p>
            <a:r>
              <a:rPr lang="en-US" sz="2400" dirty="0"/>
              <a:t>National Institute of Virology at Pune </a:t>
            </a:r>
          </a:p>
          <a:p>
            <a:r>
              <a:rPr lang="en-US" sz="2400" dirty="0"/>
              <a:t>Field demonstration area (</a:t>
            </a:r>
            <a:r>
              <a:rPr lang="en-US" sz="2400" dirty="0" err="1"/>
              <a:t>Ballabhgarh</a:t>
            </a:r>
            <a:r>
              <a:rPr lang="en-US" sz="2400" dirty="0"/>
              <a:t>) in connection with a department of preventive and social medicine, as well as to the All India Institute of Medical Sciences. </a:t>
            </a:r>
            <a:endParaRPr lang="en-IN" sz="2400" dirty="0"/>
          </a:p>
        </p:txBody>
      </p:sp>
    </p:spTree>
    <p:extLst>
      <p:ext uri="{BB962C8B-B14F-4D97-AF65-F5344CB8AC3E}">
        <p14:creationId xmlns:p14="http://schemas.microsoft.com/office/powerpoint/2010/main" val="4180233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206E1-DD65-1C7C-0FE1-256DCF3A3392}"/>
              </a:ext>
            </a:extLst>
          </p:cNvPr>
          <p:cNvSpPr>
            <a:spLocks noGrp="1"/>
          </p:cNvSpPr>
          <p:nvPr>
            <p:ph type="title"/>
          </p:nvPr>
        </p:nvSpPr>
        <p:spPr>
          <a:xfrm>
            <a:off x="1371600" y="467360"/>
            <a:ext cx="9601200" cy="838200"/>
          </a:xfrm>
        </p:spPr>
        <p:txBody>
          <a:bodyPr/>
          <a:lstStyle/>
          <a:p>
            <a:r>
              <a:rPr lang="en-IN" dirty="0"/>
              <a:t>Ford Foundation</a:t>
            </a:r>
          </a:p>
        </p:txBody>
      </p:sp>
      <p:sp>
        <p:nvSpPr>
          <p:cNvPr id="3" name="Content Placeholder 2">
            <a:extLst>
              <a:ext uri="{FF2B5EF4-FFF2-40B4-BE49-F238E27FC236}">
                <a16:creationId xmlns:a16="http://schemas.microsoft.com/office/drawing/2014/main" id="{E7A1BBB2-4952-822C-89E3-BBACD645846B}"/>
              </a:ext>
            </a:extLst>
          </p:cNvPr>
          <p:cNvSpPr>
            <a:spLocks noGrp="1"/>
          </p:cNvSpPr>
          <p:nvPr>
            <p:ph idx="1"/>
          </p:nvPr>
        </p:nvSpPr>
        <p:spPr>
          <a:xfrm>
            <a:off x="1371600" y="1305560"/>
            <a:ext cx="10302240" cy="4704080"/>
          </a:xfrm>
        </p:spPr>
        <p:txBody>
          <a:bodyPr>
            <a:normAutofit lnSpcReduction="10000"/>
          </a:bodyPr>
          <a:lstStyle/>
          <a:p>
            <a:r>
              <a:rPr lang="en-US" sz="2400" dirty="0"/>
              <a:t>Whereas the Rockefeller Foundation earlier concentrated most of its assistance on universities and post-graduate institutions, on professional education and on research, the Ford Foundation has been </a:t>
            </a:r>
            <a:r>
              <a:rPr lang="en-US" sz="2400" dirty="0">
                <a:highlight>
                  <a:srgbClr val="FFFF00"/>
                </a:highlight>
              </a:rPr>
              <a:t>active in the development of rural health services and family planning.</a:t>
            </a:r>
          </a:p>
          <a:p>
            <a:r>
              <a:rPr lang="en-US" sz="2400" dirty="0"/>
              <a:t>The Ford Foundation has helped India in the following projects : </a:t>
            </a:r>
          </a:p>
          <a:p>
            <a:pPr lvl="1"/>
            <a:r>
              <a:rPr lang="en-US" sz="2400" dirty="0"/>
              <a:t>(1) </a:t>
            </a:r>
            <a:r>
              <a:rPr lang="en-US" sz="2400" b="1" dirty="0"/>
              <a:t>Orientation training </a:t>
            </a:r>
            <a:r>
              <a:rPr lang="en-US" sz="2400" b="1" dirty="0" err="1"/>
              <a:t>centres</a:t>
            </a:r>
            <a:r>
              <a:rPr lang="en-US" sz="2400" b="1" dirty="0"/>
              <a:t> :</a:t>
            </a:r>
            <a:r>
              <a:rPr lang="en-US" sz="2400" dirty="0"/>
              <a:t> The orientation training </a:t>
            </a:r>
            <a:r>
              <a:rPr lang="en-US" sz="2400" dirty="0" err="1"/>
              <a:t>centres</a:t>
            </a:r>
            <a:r>
              <a:rPr lang="en-US" sz="2400" dirty="0"/>
              <a:t> at Singur, </a:t>
            </a:r>
            <a:r>
              <a:rPr lang="en-US" sz="2400" dirty="0" err="1"/>
              <a:t>Poonamalle</a:t>
            </a:r>
            <a:r>
              <a:rPr lang="en-US" sz="2400" dirty="0"/>
              <a:t> and Najafgarh were set up with help from the Ford Foundation. The </a:t>
            </a:r>
            <a:r>
              <a:rPr lang="en-US" sz="2400" dirty="0" err="1"/>
              <a:t>centres</a:t>
            </a:r>
            <a:r>
              <a:rPr lang="en-US" sz="2400" dirty="0"/>
              <a:t> provide </a:t>
            </a:r>
            <a:r>
              <a:rPr lang="en-US" sz="2400" dirty="0">
                <a:highlight>
                  <a:srgbClr val="FFFF00"/>
                </a:highlight>
              </a:rPr>
              <a:t>training courses in public health for medical and paramedical personnel from all over India.</a:t>
            </a:r>
          </a:p>
          <a:p>
            <a:pPr lvl="1"/>
            <a:r>
              <a:rPr lang="en-US" sz="2400" dirty="0"/>
              <a:t>(2) </a:t>
            </a:r>
            <a:r>
              <a:rPr lang="en-US" sz="2400" b="1" dirty="0"/>
              <a:t>Research- cum—action projects : </a:t>
            </a:r>
            <a:r>
              <a:rPr lang="en-US" sz="2400" dirty="0"/>
              <a:t>These projects were aimed at solving some of the basic problems in environmental sanitation, e.g., </a:t>
            </a:r>
            <a:r>
              <a:rPr lang="en-US" sz="2400" dirty="0">
                <a:highlight>
                  <a:srgbClr val="FFFF00"/>
                </a:highlight>
              </a:rPr>
              <a:t>designing and construction of hand-flushed acceptable sanitary latrines in rural areas.</a:t>
            </a:r>
            <a:endParaRPr lang="en-IN" sz="2400" dirty="0">
              <a:highlight>
                <a:srgbClr val="FFFF00"/>
              </a:highlight>
            </a:endParaRPr>
          </a:p>
        </p:txBody>
      </p:sp>
    </p:spTree>
    <p:extLst>
      <p:ext uri="{BB962C8B-B14F-4D97-AF65-F5344CB8AC3E}">
        <p14:creationId xmlns:p14="http://schemas.microsoft.com/office/powerpoint/2010/main" val="1295069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3568D1-D588-9308-A89C-43D5C2AA3D6B}"/>
              </a:ext>
            </a:extLst>
          </p:cNvPr>
          <p:cNvSpPr>
            <a:spLocks noGrp="1"/>
          </p:cNvSpPr>
          <p:nvPr>
            <p:ph idx="1"/>
          </p:nvPr>
        </p:nvSpPr>
        <p:spPr>
          <a:xfrm>
            <a:off x="1198880" y="685800"/>
            <a:ext cx="10383520" cy="5725160"/>
          </a:xfrm>
        </p:spPr>
        <p:txBody>
          <a:bodyPr>
            <a:noAutofit/>
          </a:bodyPr>
          <a:lstStyle/>
          <a:p>
            <a:pPr lvl="1"/>
            <a:r>
              <a:rPr lang="en-US" sz="2400" b="1" dirty="0"/>
              <a:t>(3) Pilot project in rural health services, </a:t>
            </a:r>
            <a:r>
              <a:rPr lang="en-US" sz="2400" b="1" dirty="0" err="1"/>
              <a:t>Gandhigram</a:t>
            </a:r>
            <a:r>
              <a:rPr lang="en-US" sz="2400" b="1" dirty="0"/>
              <a:t> (Tamil Nadu) :</a:t>
            </a:r>
            <a:r>
              <a:rPr lang="en-US" sz="2400" dirty="0"/>
              <a:t> Among a rural population of 100,000 people, an attempt was made to develop and operate a coordinated type of health service which will provide a </a:t>
            </a:r>
            <a:r>
              <a:rPr lang="en-US" sz="2400" dirty="0">
                <a:highlight>
                  <a:srgbClr val="FFFF00"/>
                </a:highlight>
              </a:rPr>
              <a:t>useful model for health administrators in the country. </a:t>
            </a:r>
          </a:p>
          <a:p>
            <a:pPr lvl="1"/>
            <a:r>
              <a:rPr lang="en-US" sz="2400" b="1" dirty="0"/>
              <a:t>(4) Establishment of NIHAE:</a:t>
            </a:r>
            <a:r>
              <a:rPr lang="en-US" sz="2400" dirty="0"/>
              <a:t> In the last few years, the Ford Foundation has supported the establishment of the </a:t>
            </a:r>
            <a:r>
              <a:rPr lang="en-US" sz="2400" dirty="0">
                <a:highlight>
                  <a:srgbClr val="FFFF00"/>
                </a:highlight>
              </a:rPr>
              <a:t>National Institute of Health Administration and Education at Delhi.</a:t>
            </a:r>
            <a:r>
              <a:rPr lang="en-US" sz="2400" dirty="0"/>
              <a:t> The Institute provides a </a:t>
            </a:r>
            <a:r>
              <a:rPr lang="en-US" sz="2400" u="sng" dirty="0"/>
              <a:t>senior staff college type training for health administrators. </a:t>
            </a:r>
          </a:p>
          <a:p>
            <a:pPr lvl="1"/>
            <a:r>
              <a:rPr lang="en-US" sz="2400" b="1" dirty="0"/>
              <a:t>(5) Calcutta water supply and drainage scheme : </a:t>
            </a:r>
            <a:r>
              <a:rPr lang="en-US" sz="2400" dirty="0"/>
              <a:t>The Foundation has helped in the preparation of a master plan for water supply, sewerage and drainage for the city of Calcutta in collaboration with other international agencies. </a:t>
            </a:r>
          </a:p>
          <a:p>
            <a:pPr lvl="1"/>
            <a:r>
              <a:rPr lang="en-US" sz="2400" b="1" dirty="0"/>
              <a:t>(6) Family planning </a:t>
            </a:r>
            <a:r>
              <a:rPr lang="en-US" sz="2400" b="1" dirty="0" err="1"/>
              <a:t>programme</a:t>
            </a:r>
            <a:r>
              <a:rPr lang="en-US" sz="2400" b="1" dirty="0"/>
              <a:t> :</a:t>
            </a:r>
            <a:r>
              <a:rPr lang="en-US" sz="2400" dirty="0"/>
              <a:t> The Foundation is supporting research in reproductive biology and in the family planning fellowship </a:t>
            </a:r>
            <a:r>
              <a:rPr lang="en-US" sz="2400" dirty="0" err="1"/>
              <a:t>programmes</a:t>
            </a:r>
            <a:r>
              <a:rPr lang="en-US" sz="2400" dirty="0"/>
              <a:t>.</a:t>
            </a:r>
            <a:endParaRPr lang="en-IN" sz="2400" dirty="0"/>
          </a:p>
        </p:txBody>
      </p:sp>
    </p:spTree>
    <p:extLst>
      <p:ext uri="{BB962C8B-B14F-4D97-AF65-F5344CB8AC3E}">
        <p14:creationId xmlns:p14="http://schemas.microsoft.com/office/powerpoint/2010/main" val="1220224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BF89-C7FC-0B67-344D-CE231105F9B1}"/>
              </a:ext>
            </a:extLst>
          </p:cNvPr>
          <p:cNvSpPr>
            <a:spLocks noGrp="1"/>
          </p:cNvSpPr>
          <p:nvPr>
            <p:ph type="title"/>
          </p:nvPr>
        </p:nvSpPr>
        <p:spPr>
          <a:xfrm>
            <a:off x="1371600" y="589280"/>
            <a:ext cx="9601200" cy="873760"/>
          </a:xfrm>
        </p:spPr>
        <p:txBody>
          <a:bodyPr/>
          <a:lstStyle/>
          <a:p>
            <a:r>
              <a:rPr lang="en-US" dirty="0"/>
              <a:t>CARE</a:t>
            </a:r>
            <a:endParaRPr lang="en-IN" dirty="0"/>
          </a:p>
        </p:txBody>
      </p:sp>
      <p:sp>
        <p:nvSpPr>
          <p:cNvPr id="3" name="Content Placeholder 2">
            <a:extLst>
              <a:ext uri="{FF2B5EF4-FFF2-40B4-BE49-F238E27FC236}">
                <a16:creationId xmlns:a16="http://schemas.microsoft.com/office/drawing/2014/main" id="{B1EE6553-3C69-95D2-BF38-906C7D46E817}"/>
              </a:ext>
            </a:extLst>
          </p:cNvPr>
          <p:cNvSpPr>
            <a:spLocks noGrp="1"/>
          </p:cNvSpPr>
          <p:nvPr>
            <p:ph idx="1"/>
          </p:nvPr>
        </p:nvSpPr>
        <p:spPr>
          <a:xfrm>
            <a:off x="1371600" y="2202180"/>
            <a:ext cx="10220960" cy="3911600"/>
          </a:xfrm>
        </p:spPr>
        <p:txBody>
          <a:bodyPr>
            <a:noAutofit/>
          </a:bodyPr>
          <a:lstStyle/>
          <a:p>
            <a:r>
              <a:rPr lang="en-US" sz="2400" dirty="0"/>
              <a:t>CARE </a:t>
            </a:r>
            <a:r>
              <a:rPr lang="en-US" sz="2400" dirty="0">
                <a:highlight>
                  <a:srgbClr val="FFFF00"/>
                </a:highlight>
              </a:rPr>
              <a:t>(Cooperative for Assistance and Relief Everywhere</a:t>
            </a:r>
            <a:r>
              <a:rPr lang="en-US" sz="2400" dirty="0"/>
              <a:t>) was founded in </a:t>
            </a:r>
            <a:r>
              <a:rPr lang="en-US" sz="2400" b="1" u="sng" dirty="0"/>
              <a:t>North America in the wake of the Second World War in the year 1945. </a:t>
            </a:r>
          </a:p>
          <a:p>
            <a:r>
              <a:rPr lang="en-US" sz="2400" dirty="0"/>
              <a:t>It is one of the world's largest </a:t>
            </a:r>
            <a:r>
              <a:rPr lang="en-US" sz="2400" dirty="0">
                <a:highlight>
                  <a:srgbClr val="FFFF00"/>
                </a:highlight>
              </a:rPr>
              <a:t>independent, non-profit, non-sectarian international relief and development organization. </a:t>
            </a:r>
          </a:p>
          <a:p>
            <a:r>
              <a:rPr lang="en-US" sz="2400" dirty="0"/>
              <a:t>CARE provides emergency aid and long-term development assistance. </a:t>
            </a:r>
          </a:p>
          <a:p>
            <a:r>
              <a:rPr lang="en-US" sz="2400" dirty="0"/>
              <a:t>CARE began its operation in India in 1950. </a:t>
            </a:r>
          </a:p>
          <a:p>
            <a:r>
              <a:rPr lang="en-US" sz="2400" dirty="0"/>
              <a:t>Till the end of 1980s, the primary objective of CARE - India was to provide </a:t>
            </a:r>
            <a:r>
              <a:rPr lang="en-US" sz="2400" dirty="0">
                <a:highlight>
                  <a:srgbClr val="00FF00"/>
                </a:highlight>
              </a:rPr>
              <a:t>food for children in the age group of 6-11 years. </a:t>
            </a:r>
          </a:p>
        </p:txBody>
      </p:sp>
      <p:pic>
        <p:nvPicPr>
          <p:cNvPr id="5" name="Picture 4">
            <a:extLst>
              <a:ext uri="{FF2B5EF4-FFF2-40B4-BE49-F238E27FC236}">
                <a16:creationId xmlns:a16="http://schemas.microsoft.com/office/drawing/2014/main" id="{4D293A61-2787-1786-49E6-DFAA10E885DA}"/>
              </a:ext>
            </a:extLst>
          </p:cNvPr>
          <p:cNvPicPr>
            <a:picLocks noChangeAspect="1"/>
          </p:cNvPicPr>
          <p:nvPr/>
        </p:nvPicPr>
        <p:blipFill>
          <a:blip r:embed="rId2"/>
          <a:stretch>
            <a:fillRect/>
          </a:stretch>
        </p:blipFill>
        <p:spPr>
          <a:xfrm>
            <a:off x="10474960" y="53279"/>
            <a:ext cx="1717040" cy="2148901"/>
          </a:xfrm>
          <a:prstGeom prst="rect">
            <a:avLst/>
          </a:prstGeom>
        </p:spPr>
      </p:pic>
    </p:spTree>
    <p:extLst>
      <p:ext uri="{BB962C8B-B14F-4D97-AF65-F5344CB8AC3E}">
        <p14:creationId xmlns:p14="http://schemas.microsoft.com/office/powerpoint/2010/main" val="3978116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BCBA5F-45B6-72A6-DDAD-67454CD1A9E4}"/>
              </a:ext>
            </a:extLst>
          </p:cNvPr>
          <p:cNvSpPr>
            <a:spLocks noGrp="1"/>
          </p:cNvSpPr>
          <p:nvPr>
            <p:ph idx="1"/>
          </p:nvPr>
        </p:nvSpPr>
        <p:spPr>
          <a:xfrm>
            <a:off x="1371600" y="792480"/>
            <a:ext cx="10027920" cy="5074920"/>
          </a:xfrm>
        </p:spPr>
        <p:txBody>
          <a:bodyPr>
            <a:normAutofit fontScale="92500" lnSpcReduction="20000"/>
          </a:bodyPr>
          <a:lstStyle/>
          <a:p>
            <a:r>
              <a:rPr lang="en-US" sz="2400" dirty="0"/>
              <a:t>From </a:t>
            </a:r>
            <a:r>
              <a:rPr lang="en-US" sz="2400" dirty="0">
                <a:highlight>
                  <a:srgbClr val="00FF00"/>
                </a:highlight>
              </a:rPr>
              <a:t>mid 1980</a:t>
            </a:r>
            <a:r>
              <a:rPr lang="en-US" sz="2400" dirty="0"/>
              <a:t>s, CARE-</a:t>
            </a:r>
            <a:r>
              <a:rPr lang="en-US" sz="2400" dirty="0" err="1"/>
              <a:t>lndia</a:t>
            </a:r>
            <a:r>
              <a:rPr lang="en-US" sz="2400" dirty="0"/>
              <a:t> focused its </a:t>
            </a:r>
            <a:r>
              <a:rPr lang="en-US" sz="2400" dirty="0">
                <a:highlight>
                  <a:srgbClr val="FFFF00"/>
                </a:highlight>
              </a:rPr>
              <a:t>food support in the ICDS </a:t>
            </a:r>
            <a:r>
              <a:rPr lang="en-US" sz="2400" dirty="0" err="1">
                <a:highlight>
                  <a:srgbClr val="FFFF00"/>
                </a:highlight>
              </a:rPr>
              <a:t>programme</a:t>
            </a:r>
            <a:r>
              <a:rPr lang="en-US" sz="2400" dirty="0">
                <a:highlight>
                  <a:srgbClr val="FFFF00"/>
                </a:highlight>
              </a:rPr>
              <a:t> </a:t>
            </a:r>
            <a:r>
              <a:rPr lang="en-US" sz="2400" dirty="0"/>
              <a:t>and in development of </a:t>
            </a:r>
            <a:r>
              <a:rPr lang="en-US" sz="2400" dirty="0" err="1"/>
              <a:t>programmes</a:t>
            </a:r>
            <a:r>
              <a:rPr lang="en-US" sz="2400" dirty="0"/>
              <a:t> in the areas of health and income supplementation. </a:t>
            </a:r>
          </a:p>
          <a:p>
            <a:r>
              <a:rPr lang="en-US" sz="2400" dirty="0"/>
              <a:t>It’s helping in the following projects : </a:t>
            </a:r>
          </a:p>
          <a:p>
            <a:pPr lvl="1"/>
            <a:r>
              <a:rPr lang="en-US" sz="2400" dirty="0"/>
              <a:t>Integrated Nutrition and Health Project; </a:t>
            </a:r>
          </a:p>
          <a:p>
            <a:pPr lvl="1"/>
            <a:r>
              <a:rPr lang="en-US" sz="2400" dirty="0"/>
              <a:t>Better Health and Nutrition Project, </a:t>
            </a:r>
          </a:p>
          <a:p>
            <a:pPr lvl="1"/>
            <a:r>
              <a:rPr lang="en-US" sz="2400" dirty="0" err="1"/>
              <a:t>Anaemia</a:t>
            </a:r>
            <a:r>
              <a:rPr lang="en-US" sz="2400" dirty="0"/>
              <a:t> Control Project; </a:t>
            </a:r>
          </a:p>
          <a:p>
            <a:pPr lvl="1"/>
            <a:r>
              <a:rPr lang="en-US" sz="2400" dirty="0"/>
              <a:t>Improving Women's Health Project; </a:t>
            </a:r>
          </a:p>
          <a:p>
            <a:pPr lvl="1"/>
            <a:r>
              <a:rPr lang="en-US" sz="2400" dirty="0"/>
              <a:t>Improved Health Care for Adolescent Girl's Project, </a:t>
            </a:r>
          </a:p>
          <a:p>
            <a:pPr lvl="1"/>
            <a:r>
              <a:rPr lang="en-US" sz="2400" dirty="0"/>
              <a:t>Child Survival Project; </a:t>
            </a:r>
          </a:p>
          <a:p>
            <a:pPr lvl="1"/>
            <a:r>
              <a:rPr lang="en-US" sz="2400" dirty="0"/>
              <a:t>Improving Women's Reproductive Health and Family Spacing Project; </a:t>
            </a:r>
          </a:p>
          <a:p>
            <a:pPr lvl="1"/>
            <a:r>
              <a:rPr lang="en-US" sz="2400" dirty="0"/>
              <a:t>Konkan Integrate Development Project etc.</a:t>
            </a:r>
          </a:p>
          <a:p>
            <a:r>
              <a:rPr lang="en-IN" sz="2400" dirty="0"/>
              <a:t>CARE-</a:t>
            </a:r>
            <a:r>
              <a:rPr lang="en-IN" sz="2400" dirty="0" err="1"/>
              <a:t>lndia</a:t>
            </a:r>
            <a:r>
              <a:rPr lang="en-IN" sz="2400" dirty="0"/>
              <a:t> works in partnership with the Government of India, State Governments, NGOs etc. </a:t>
            </a:r>
          </a:p>
          <a:p>
            <a:r>
              <a:rPr lang="en-IN" sz="2400" dirty="0"/>
              <a:t>Currently it has projects in Andhra Pradesh, Bihar, Madhya Pradesh, Maharashtra, Orissa, Rajasthan, Uttar Pradesh and West Bengal.</a:t>
            </a:r>
          </a:p>
          <a:p>
            <a:endParaRPr lang="en-IN" dirty="0"/>
          </a:p>
        </p:txBody>
      </p:sp>
    </p:spTree>
    <p:extLst>
      <p:ext uri="{BB962C8B-B14F-4D97-AF65-F5344CB8AC3E}">
        <p14:creationId xmlns:p14="http://schemas.microsoft.com/office/powerpoint/2010/main" val="1864237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3BCE-1243-DCDD-3EAF-5C5134B808A6}"/>
              </a:ext>
            </a:extLst>
          </p:cNvPr>
          <p:cNvSpPr>
            <a:spLocks noGrp="1"/>
          </p:cNvSpPr>
          <p:nvPr>
            <p:ph type="title"/>
          </p:nvPr>
        </p:nvSpPr>
        <p:spPr>
          <a:xfrm>
            <a:off x="1371600" y="685800"/>
            <a:ext cx="9601200" cy="838200"/>
          </a:xfrm>
        </p:spPr>
        <p:txBody>
          <a:bodyPr/>
          <a:lstStyle/>
          <a:p>
            <a:r>
              <a:rPr lang="en-IN" dirty="0"/>
              <a:t>International Red Cross</a:t>
            </a:r>
          </a:p>
        </p:txBody>
      </p:sp>
      <p:sp>
        <p:nvSpPr>
          <p:cNvPr id="3" name="Content Placeholder 2">
            <a:extLst>
              <a:ext uri="{FF2B5EF4-FFF2-40B4-BE49-F238E27FC236}">
                <a16:creationId xmlns:a16="http://schemas.microsoft.com/office/drawing/2014/main" id="{D51AE5C2-9DBF-8E00-E488-CFA4A4F3F04F}"/>
              </a:ext>
            </a:extLst>
          </p:cNvPr>
          <p:cNvSpPr>
            <a:spLocks noGrp="1"/>
          </p:cNvSpPr>
          <p:nvPr>
            <p:ph idx="1"/>
          </p:nvPr>
        </p:nvSpPr>
        <p:spPr>
          <a:xfrm>
            <a:off x="1371600" y="1524000"/>
            <a:ext cx="9601200" cy="4343400"/>
          </a:xfrm>
        </p:spPr>
        <p:txBody>
          <a:bodyPr>
            <a:noAutofit/>
          </a:bodyPr>
          <a:lstStyle/>
          <a:p>
            <a:r>
              <a:rPr lang="en-US" sz="2400" dirty="0"/>
              <a:t>The Red Cross is a </a:t>
            </a:r>
            <a:r>
              <a:rPr lang="en-US" sz="2400" dirty="0">
                <a:highlight>
                  <a:srgbClr val="FFFF00"/>
                </a:highlight>
              </a:rPr>
              <a:t>non-political non-official international humanitarian organization </a:t>
            </a:r>
            <a:r>
              <a:rPr lang="en-US" sz="2400" dirty="0"/>
              <a:t>devoted to the </a:t>
            </a:r>
            <a:r>
              <a:rPr lang="en-US" sz="2400" dirty="0">
                <a:highlight>
                  <a:srgbClr val="FFFF00"/>
                </a:highlight>
              </a:rPr>
              <a:t>service of mankind in peace and war</a:t>
            </a:r>
            <a:r>
              <a:rPr lang="en-US" sz="2400" dirty="0"/>
              <a:t>.</a:t>
            </a:r>
          </a:p>
          <a:p>
            <a:r>
              <a:rPr lang="en-US" sz="2400" dirty="0"/>
              <a:t>It was founded by </a:t>
            </a:r>
            <a:r>
              <a:rPr lang="en-US" sz="2400" dirty="0">
                <a:highlight>
                  <a:srgbClr val="FFFF00"/>
                </a:highlight>
              </a:rPr>
              <a:t>Henry Dunant</a:t>
            </a:r>
            <a:r>
              <a:rPr lang="en-US" sz="2400" dirty="0"/>
              <a:t>, a young Swiss businessman, who when travelling through North Italy in 1859 happened to be on the scene of one of the most savage battles of history </a:t>
            </a:r>
            <a:r>
              <a:rPr lang="en-US" sz="2400" dirty="0">
                <a:highlight>
                  <a:srgbClr val="FFFF00"/>
                </a:highlight>
              </a:rPr>
              <a:t>the battle of Solferino</a:t>
            </a:r>
            <a:r>
              <a:rPr lang="en-US" sz="2400" dirty="0"/>
              <a:t>.</a:t>
            </a:r>
          </a:p>
          <a:p>
            <a:r>
              <a:rPr lang="en-US" sz="2400" dirty="0"/>
              <a:t>Appalled by the neglect, of thousands of wounded and dying soldiers, Dunant recruited volunteers from nearby villages to help relieve their suffering. Later in his book “Un Souvenir de Solferino" and in countless interviews with eminent persons, throughout Europe, Dunant urged that </a:t>
            </a:r>
            <a:r>
              <a:rPr lang="en-US" sz="2400" dirty="0">
                <a:highlight>
                  <a:srgbClr val="FFFF00"/>
                </a:highlight>
              </a:rPr>
              <a:t>voluntary national societies be founded -which in time of war would render aid to the wounded without distinction of nationality”.  </a:t>
            </a:r>
            <a:endParaRPr lang="en-IN" sz="2400" dirty="0">
              <a:highlight>
                <a:srgbClr val="FFFF00"/>
              </a:highlight>
            </a:endParaRPr>
          </a:p>
        </p:txBody>
      </p:sp>
      <p:pic>
        <p:nvPicPr>
          <p:cNvPr id="5" name="Picture 4">
            <a:extLst>
              <a:ext uri="{FF2B5EF4-FFF2-40B4-BE49-F238E27FC236}">
                <a16:creationId xmlns:a16="http://schemas.microsoft.com/office/drawing/2014/main" id="{C2091FE1-AC42-6B30-3B03-90653C8F739F}"/>
              </a:ext>
            </a:extLst>
          </p:cNvPr>
          <p:cNvPicPr>
            <a:picLocks noChangeAspect="1"/>
          </p:cNvPicPr>
          <p:nvPr/>
        </p:nvPicPr>
        <p:blipFill>
          <a:blip r:embed="rId2"/>
          <a:stretch>
            <a:fillRect/>
          </a:stretch>
        </p:blipFill>
        <p:spPr>
          <a:xfrm>
            <a:off x="10820400" y="35560"/>
            <a:ext cx="1333338" cy="1566672"/>
          </a:xfrm>
          <a:prstGeom prst="rect">
            <a:avLst/>
          </a:prstGeom>
        </p:spPr>
      </p:pic>
    </p:spTree>
    <p:extLst>
      <p:ext uri="{BB962C8B-B14F-4D97-AF65-F5344CB8AC3E}">
        <p14:creationId xmlns:p14="http://schemas.microsoft.com/office/powerpoint/2010/main" val="98725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AF5498-928F-75DF-3689-43425016C412}"/>
              </a:ext>
            </a:extLst>
          </p:cNvPr>
          <p:cNvSpPr>
            <a:spLocks noGrp="1"/>
          </p:cNvSpPr>
          <p:nvPr>
            <p:ph idx="1"/>
          </p:nvPr>
        </p:nvSpPr>
        <p:spPr>
          <a:xfrm>
            <a:off x="1371600" y="685800"/>
            <a:ext cx="10139680" cy="5532120"/>
          </a:xfrm>
        </p:spPr>
        <p:txBody>
          <a:bodyPr>
            <a:noAutofit/>
          </a:bodyPr>
          <a:lstStyle/>
          <a:p>
            <a:r>
              <a:rPr lang="en-US" sz="2400" dirty="0"/>
              <a:t>He proposed further that these societies should have a </a:t>
            </a:r>
            <a:r>
              <a:rPr lang="en-US" sz="2400" dirty="0">
                <a:highlight>
                  <a:srgbClr val="FFFF00"/>
                </a:highlight>
              </a:rPr>
              <a:t>protective emblem and trained workers and their services to the wounded should be protected by international treaty</a:t>
            </a:r>
            <a:r>
              <a:rPr lang="en-US" sz="2400" dirty="0"/>
              <a:t>. Dunant’s plea met with success. </a:t>
            </a:r>
          </a:p>
          <a:p>
            <a:r>
              <a:rPr lang="en-US" sz="2400" dirty="0"/>
              <a:t>The First Geneva Convention took place in 1864 and a treaty was signed for the relief of the wounded and the sick of the armies in the field. </a:t>
            </a:r>
          </a:p>
          <a:p>
            <a:r>
              <a:rPr lang="en-US" sz="2400" dirty="0"/>
              <a:t>Thus, came into being the International Committee of the Red Cross (ICRC), </a:t>
            </a:r>
            <a:r>
              <a:rPr lang="en-US" sz="2400" dirty="0">
                <a:highlight>
                  <a:srgbClr val="FFFF00"/>
                </a:highlight>
              </a:rPr>
              <a:t>an independent, neutral institution, the founder organization of the Red Cross</a:t>
            </a:r>
            <a:r>
              <a:rPr lang="en-US" sz="2400" dirty="0"/>
              <a:t>. </a:t>
            </a:r>
          </a:p>
          <a:p>
            <a:r>
              <a:rPr lang="en-US" sz="2400" dirty="0"/>
              <a:t>It has since grown into a mighty mission with branches all over the world </a:t>
            </a:r>
            <a:r>
              <a:rPr lang="en-US" sz="2400" dirty="0" err="1"/>
              <a:t>symbolising</a:t>
            </a:r>
            <a:r>
              <a:rPr lang="en-US" sz="2400" dirty="0"/>
              <a:t> the </a:t>
            </a:r>
            <a:r>
              <a:rPr lang="en-US" sz="2400" dirty="0">
                <a:highlight>
                  <a:srgbClr val="FFFF00"/>
                </a:highlight>
              </a:rPr>
              <a:t>spirit of compassion and universal brotherhood</a:t>
            </a:r>
            <a:r>
              <a:rPr lang="en-US" sz="2400" dirty="0"/>
              <a:t>. </a:t>
            </a:r>
          </a:p>
          <a:p>
            <a:r>
              <a:rPr lang="en-US" sz="2400" dirty="0"/>
              <a:t>In 1919, the League of the Red Cross Society was created with </a:t>
            </a:r>
            <a:r>
              <a:rPr lang="en-US" sz="2400" dirty="0">
                <a:highlight>
                  <a:srgbClr val="FFFF00"/>
                </a:highlight>
              </a:rPr>
              <a:t>headquarters in Geneva to coordinate the work of the national societies, which now number more than 90.</a:t>
            </a:r>
            <a:endParaRPr lang="en-IN" sz="2400" dirty="0">
              <a:highlight>
                <a:srgbClr val="FFFF00"/>
              </a:highlight>
            </a:endParaRPr>
          </a:p>
        </p:txBody>
      </p:sp>
    </p:spTree>
    <p:extLst>
      <p:ext uri="{BB962C8B-B14F-4D97-AF65-F5344CB8AC3E}">
        <p14:creationId xmlns:p14="http://schemas.microsoft.com/office/powerpoint/2010/main" val="3483804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4C7F-C17F-92C2-205A-041668CB42AF}"/>
              </a:ext>
            </a:extLst>
          </p:cNvPr>
          <p:cNvSpPr>
            <a:spLocks noGrp="1"/>
          </p:cNvSpPr>
          <p:nvPr>
            <p:ph type="title"/>
          </p:nvPr>
        </p:nvSpPr>
        <p:spPr>
          <a:xfrm>
            <a:off x="1371600" y="685800"/>
            <a:ext cx="9601200" cy="848360"/>
          </a:xfrm>
        </p:spPr>
        <p:txBody>
          <a:bodyPr/>
          <a:lstStyle/>
          <a:p>
            <a:r>
              <a:rPr lang="en-IN" dirty="0"/>
              <a:t>Role of Red Cross</a:t>
            </a:r>
          </a:p>
        </p:txBody>
      </p:sp>
      <p:sp>
        <p:nvSpPr>
          <p:cNvPr id="3" name="Content Placeholder 2">
            <a:extLst>
              <a:ext uri="{FF2B5EF4-FFF2-40B4-BE49-F238E27FC236}">
                <a16:creationId xmlns:a16="http://schemas.microsoft.com/office/drawing/2014/main" id="{14E7564E-804E-C75C-0C5C-9635DFCB3A7D}"/>
              </a:ext>
            </a:extLst>
          </p:cNvPr>
          <p:cNvSpPr>
            <a:spLocks noGrp="1"/>
          </p:cNvSpPr>
          <p:nvPr>
            <p:ph idx="1"/>
          </p:nvPr>
        </p:nvSpPr>
        <p:spPr>
          <a:xfrm>
            <a:off x="1371600" y="1635760"/>
            <a:ext cx="9987280" cy="4231640"/>
          </a:xfrm>
        </p:spPr>
        <p:txBody>
          <a:bodyPr>
            <a:normAutofit/>
          </a:bodyPr>
          <a:lstStyle/>
          <a:p>
            <a:r>
              <a:rPr lang="en-US" sz="2400" dirty="0"/>
              <a:t>In the beginning, the role of the Red Cross, as conceived by Dunant, was largely </a:t>
            </a:r>
            <a:r>
              <a:rPr lang="en-US" sz="2400" dirty="0">
                <a:highlight>
                  <a:srgbClr val="FFFF00"/>
                </a:highlight>
              </a:rPr>
              <a:t>confined to humanitarian service on behalf of the victims of war</a:t>
            </a:r>
            <a:r>
              <a:rPr lang="en-US" sz="2400" dirty="0"/>
              <a:t>. </a:t>
            </a:r>
          </a:p>
          <a:p>
            <a:r>
              <a:rPr lang="en-US" sz="2400" dirty="0"/>
              <a:t>Soon thereafter, it was </a:t>
            </a:r>
            <a:r>
              <a:rPr lang="en-US" sz="2400" dirty="0" err="1"/>
              <a:t>realised</a:t>
            </a:r>
            <a:r>
              <a:rPr lang="en-US" sz="2400" dirty="0"/>
              <a:t> that </a:t>
            </a:r>
            <a:r>
              <a:rPr lang="en-US" sz="2400" dirty="0">
                <a:highlight>
                  <a:srgbClr val="FFFF00"/>
                </a:highlight>
              </a:rPr>
              <a:t>natural disasters </a:t>
            </a:r>
            <a:r>
              <a:rPr lang="en-US" sz="2400" dirty="0"/>
              <a:t>too bring in their wake great human suffering and that on such occasions there is equally great need for </a:t>
            </a:r>
            <a:r>
              <a:rPr lang="en-US" sz="2400" dirty="0">
                <a:highlight>
                  <a:srgbClr val="FFFF00"/>
                </a:highlight>
              </a:rPr>
              <a:t>help among nations “as good </a:t>
            </a:r>
            <a:r>
              <a:rPr lang="en-US" sz="2400" dirty="0" err="1">
                <a:highlight>
                  <a:srgbClr val="FFFF00"/>
                </a:highlight>
              </a:rPr>
              <a:t>neighbours</a:t>
            </a:r>
            <a:r>
              <a:rPr lang="en-US" sz="2400" dirty="0"/>
              <a:t>’. </a:t>
            </a:r>
          </a:p>
          <a:p>
            <a:r>
              <a:rPr lang="en-US" sz="2400" dirty="0"/>
              <a:t>Later on, the work of the Red Cross was extended to other </a:t>
            </a:r>
            <a:r>
              <a:rPr lang="en-US" sz="2400" dirty="0" err="1"/>
              <a:t>programmes</a:t>
            </a:r>
            <a:r>
              <a:rPr lang="en-US" sz="2400" dirty="0"/>
              <a:t> which would prevent human suffering. </a:t>
            </a:r>
          </a:p>
          <a:p>
            <a:r>
              <a:rPr lang="en-US" sz="2400" dirty="0"/>
              <a:t>These comprise </a:t>
            </a:r>
            <a:r>
              <a:rPr lang="en-US" sz="2400" dirty="0">
                <a:highlight>
                  <a:srgbClr val="FFFF00"/>
                </a:highlight>
              </a:rPr>
              <a:t>service to armed forces, service to war veterans, disaster service, first aid and nursing, health education and maternity and child welfare services.</a:t>
            </a:r>
            <a:endParaRPr lang="en-IN" sz="2400" dirty="0">
              <a:highlight>
                <a:srgbClr val="FFFF00"/>
              </a:highlight>
            </a:endParaRPr>
          </a:p>
        </p:txBody>
      </p:sp>
    </p:spTree>
    <p:extLst>
      <p:ext uri="{BB962C8B-B14F-4D97-AF65-F5344CB8AC3E}">
        <p14:creationId xmlns:p14="http://schemas.microsoft.com/office/powerpoint/2010/main" val="1189877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8A20E-B633-C59D-5DD4-73C411DCF85F}"/>
              </a:ext>
            </a:extLst>
          </p:cNvPr>
          <p:cNvSpPr>
            <a:spLocks noGrp="1"/>
          </p:cNvSpPr>
          <p:nvPr>
            <p:ph type="title"/>
          </p:nvPr>
        </p:nvSpPr>
        <p:spPr>
          <a:xfrm>
            <a:off x="1371600" y="441960"/>
            <a:ext cx="9601200" cy="777240"/>
          </a:xfrm>
        </p:spPr>
        <p:txBody>
          <a:bodyPr/>
          <a:lstStyle/>
          <a:p>
            <a:r>
              <a:rPr lang="en-IN" dirty="0"/>
              <a:t>Indian Red Cross</a:t>
            </a:r>
          </a:p>
        </p:txBody>
      </p:sp>
      <p:sp>
        <p:nvSpPr>
          <p:cNvPr id="3" name="Content Placeholder 2">
            <a:extLst>
              <a:ext uri="{FF2B5EF4-FFF2-40B4-BE49-F238E27FC236}">
                <a16:creationId xmlns:a16="http://schemas.microsoft.com/office/drawing/2014/main" id="{DA6C46B9-570B-72AB-B303-DB432DB3F560}"/>
              </a:ext>
            </a:extLst>
          </p:cNvPr>
          <p:cNvSpPr>
            <a:spLocks noGrp="1"/>
          </p:cNvSpPr>
          <p:nvPr>
            <p:ph idx="1"/>
          </p:nvPr>
        </p:nvSpPr>
        <p:spPr>
          <a:xfrm>
            <a:off x="1036320" y="1219200"/>
            <a:ext cx="10647680" cy="5334000"/>
          </a:xfrm>
        </p:spPr>
        <p:txBody>
          <a:bodyPr/>
          <a:lstStyle/>
          <a:p>
            <a:r>
              <a:rPr lang="en-US" sz="2400" dirty="0"/>
              <a:t>The Red Cross Society of India was established by an </a:t>
            </a:r>
            <a:r>
              <a:rPr lang="en-US" sz="2400" dirty="0">
                <a:highlight>
                  <a:srgbClr val="FFFF00"/>
                </a:highlight>
              </a:rPr>
              <a:t>Act of the Indian Legislature in 1920 </a:t>
            </a:r>
            <a:r>
              <a:rPr lang="en-US" sz="2400" dirty="0"/>
              <a:t>with the three objectives of the </a:t>
            </a:r>
            <a:r>
              <a:rPr lang="en-US" sz="2400" b="1" u="sng" dirty="0"/>
              <a:t>improvement of health, prevention of disease and mitigation of suffering. </a:t>
            </a:r>
          </a:p>
          <a:p>
            <a:r>
              <a:rPr lang="en-US" sz="2400" dirty="0"/>
              <a:t>In peacetime, the Society provides </a:t>
            </a:r>
            <a:r>
              <a:rPr lang="en-US" sz="2400" dirty="0">
                <a:highlight>
                  <a:srgbClr val="FFFF00"/>
                </a:highlight>
              </a:rPr>
              <a:t>military hospitals with such amenities as newspapers, periodicals, musical instruments and other comfort goods</a:t>
            </a:r>
            <a:r>
              <a:rPr lang="en-US" sz="2400" dirty="0"/>
              <a:t>. </a:t>
            </a:r>
          </a:p>
          <a:p>
            <a:r>
              <a:rPr lang="en-US" sz="2400" dirty="0"/>
              <a:t>The Red Cross Home at </a:t>
            </a:r>
            <a:r>
              <a:rPr lang="en-US" sz="2400" dirty="0">
                <a:highlight>
                  <a:srgbClr val="FFFF00"/>
                </a:highlight>
              </a:rPr>
              <a:t>Bangalore for disabled ex-servicemen is one of the pioneer institutions of its kind in Asia. </a:t>
            </a:r>
          </a:p>
          <a:p>
            <a:r>
              <a:rPr lang="en-US" sz="2400" dirty="0"/>
              <a:t>Disaster services comprise </a:t>
            </a:r>
            <a:r>
              <a:rPr lang="en-US" sz="2400" dirty="0">
                <a:highlight>
                  <a:srgbClr val="FFFF00"/>
                </a:highlight>
              </a:rPr>
              <a:t>distribution of milk, medicines, Vitamin tablets, </a:t>
            </a:r>
            <a:r>
              <a:rPr lang="en-US" sz="2400" dirty="0" err="1">
                <a:highlight>
                  <a:srgbClr val="FFFF00"/>
                </a:highlight>
              </a:rPr>
              <a:t>codliver</a:t>
            </a:r>
            <a:r>
              <a:rPr lang="en-US" sz="2400" dirty="0">
                <a:highlight>
                  <a:srgbClr val="FFFF00"/>
                </a:highlight>
              </a:rPr>
              <a:t> oil and hundred other items to the famine-stricken people and to those who have been hit by the floods. </a:t>
            </a:r>
          </a:p>
          <a:p>
            <a:r>
              <a:rPr lang="en-US" sz="2400" dirty="0"/>
              <a:t>In the development of maternity and child welfare services, the Society has done pioneering work and has functioned as an auxiliary of the country’s health services.</a:t>
            </a:r>
          </a:p>
          <a:p>
            <a:endParaRPr lang="en-IN" dirty="0"/>
          </a:p>
        </p:txBody>
      </p:sp>
      <p:pic>
        <p:nvPicPr>
          <p:cNvPr id="5" name="Picture 4">
            <a:extLst>
              <a:ext uri="{FF2B5EF4-FFF2-40B4-BE49-F238E27FC236}">
                <a16:creationId xmlns:a16="http://schemas.microsoft.com/office/drawing/2014/main" id="{72FBA9BB-E180-7EAB-BBBA-A1D45E14EE75}"/>
              </a:ext>
            </a:extLst>
          </p:cNvPr>
          <p:cNvPicPr>
            <a:picLocks noChangeAspect="1"/>
          </p:cNvPicPr>
          <p:nvPr/>
        </p:nvPicPr>
        <p:blipFill>
          <a:blip r:embed="rId2"/>
          <a:stretch>
            <a:fillRect/>
          </a:stretch>
        </p:blipFill>
        <p:spPr>
          <a:xfrm>
            <a:off x="10556240" y="58420"/>
            <a:ext cx="1544320" cy="1544320"/>
          </a:xfrm>
          <a:prstGeom prst="rect">
            <a:avLst/>
          </a:prstGeom>
        </p:spPr>
      </p:pic>
    </p:spTree>
    <p:extLst>
      <p:ext uri="{BB962C8B-B14F-4D97-AF65-F5344CB8AC3E}">
        <p14:creationId xmlns:p14="http://schemas.microsoft.com/office/powerpoint/2010/main" val="2066659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22DAD-F6A1-9D91-A23A-EA9A61F4FFDD}"/>
              </a:ext>
            </a:extLst>
          </p:cNvPr>
          <p:cNvSpPr>
            <a:spLocks noGrp="1"/>
          </p:cNvSpPr>
          <p:nvPr>
            <p:ph idx="1"/>
          </p:nvPr>
        </p:nvSpPr>
        <p:spPr>
          <a:xfrm>
            <a:off x="1371600" y="1788160"/>
            <a:ext cx="9601200" cy="3581400"/>
          </a:xfrm>
        </p:spPr>
        <p:txBody>
          <a:bodyPr>
            <a:normAutofit/>
          </a:bodyPr>
          <a:lstStyle/>
          <a:p>
            <a:r>
              <a:rPr lang="en-US" sz="2400" dirty="0"/>
              <a:t>The </a:t>
            </a:r>
            <a:r>
              <a:rPr lang="en-US" sz="2400" dirty="0">
                <a:highlight>
                  <a:srgbClr val="FFFF00"/>
                </a:highlight>
              </a:rPr>
              <a:t>JUNIOR RED CROSS </a:t>
            </a:r>
            <a:r>
              <a:rPr lang="en-US" sz="2400" dirty="0"/>
              <a:t>is one of the most active sections of the Society. </a:t>
            </a:r>
          </a:p>
          <a:p>
            <a:r>
              <a:rPr lang="en-US" sz="2400" dirty="0"/>
              <a:t>It gives an opportunity to </a:t>
            </a:r>
            <a:r>
              <a:rPr lang="en-US" sz="2400" dirty="0">
                <a:highlight>
                  <a:srgbClr val="FFFF00"/>
                </a:highlight>
              </a:rPr>
              <a:t>lakhs of boys and girls all over India to be associated with activities like the village uplift, first aid, </a:t>
            </a:r>
            <a:r>
              <a:rPr lang="en-US" sz="2400" dirty="0" err="1">
                <a:highlight>
                  <a:srgbClr val="FFFF00"/>
                </a:highlight>
              </a:rPr>
              <a:t>antiepidemic</a:t>
            </a:r>
            <a:r>
              <a:rPr lang="en-US" sz="2400" dirty="0">
                <a:highlight>
                  <a:srgbClr val="FFFF00"/>
                </a:highlight>
              </a:rPr>
              <a:t> work and building up of an international fraternity of youth, thus promoting international friendliness, understanding </a:t>
            </a:r>
            <a:r>
              <a:rPr lang="en-US" sz="2400" dirty="0"/>
              <a:t>and cooperation.</a:t>
            </a:r>
            <a:endParaRPr lang="en-IN" sz="2400" dirty="0"/>
          </a:p>
        </p:txBody>
      </p:sp>
    </p:spTree>
    <p:extLst>
      <p:ext uri="{BB962C8B-B14F-4D97-AF65-F5344CB8AC3E}">
        <p14:creationId xmlns:p14="http://schemas.microsoft.com/office/powerpoint/2010/main" val="3771278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F65EE-657F-6921-D840-B0C25FF0C93A}"/>
              </a:ext>
            </a:extLst>
          </p:cNvPr>
          <p:cNvSpPr>
            <a:spLocks noGrp="1"/>
          </p:cNvSpPr>
          <p:nvPr>
            <p:ph type="title"/>
          </p:nvPr>
        </p:nvSpPr>
        <p:spPr/>
        <p:txBody>
          <a:bodyPr/>
          <a:lstStyle/>
          <a:p>
            <a:r>
              <a:rPr lang="en-US" dirty="0"/>
              <a:t>Thanks</a:t>
            </a:r>
          </a:p>
        </p:txBody>
      </p:sp>
      <p:sp>
        <p:nvSpPr>
          <p:cNvPr id="3" name="Content Placeholder 2">
            <a:extLst>
              <a:ext uri="{FF2B5EF4-FFF2-40B4-BE49-F238E27FC236}">
                <a16:creationId xmlns:a16="http://schemas.microsoft.com/office/drawing/2014/main" id="{1CD82C8F-5A61-71CD-FC46-012D5DEF56C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8133050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ustom 1">
      <a:majorFont>
        <a:latin typeface="Times New Roman"/>
        <a:ea typeface=""/>
        <a:cs typeface=""/>
      </a:majorFont>
      <a:minorFont>
        <a:latin typeface="Times New Roman"/>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{BE58C112-4556-48E9-9849-44C6C352308A}tf10001105</Template>
  <TotalTime>178</TotalTime>
  <Words>3295</Words>
  <Application>Microsoft Office PowerPoint</Application>
  <PresentationFormat>Widescreen</PresentationFormat>
  <Paragraphs>169</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Franklin Gothic Book</vt:lpstr>
      <vt:lpstr>Times New Roman</vt:lpstr>
      <vt:lpstr>Crop</vt:lpstr>
      <vt:lpstr>UNICEF</vt:lpstr>
      <vt:lpstr>Introduction</vt:lpstr>
      <vt:lpstr>PowerPoint Presentation</vt:lpstr>
      <vt:lpstr>Content of services</vt:lpstr>
      <vt:lpstr>PowerPoint Presentation</vt:lpstr>
      <vt:lpstr>PowerPoint Presentation</vt:lpstr>
      <vt:lpstr>UNDP</vt:lpstr>
      <vt:lpstr>UN Fund for Population Activities</vt:lpstr>
      <vt:lpstr>FAO</vt:lpstr>
      <vt:lpstr>PowerPoint Presentation</vt:lpstr>
      <vt:lpstr>ILO</vt:lpstr>
      <vt:lpstr>PowerPoint Presentation</vt:lpstr>
      <vt:lpstr>WORLD BANK</vt:lpstr>
      <vt:lpstr>HEALTH WORK OF BILATERAL AGENCIES</vt:lpstr>
      <vt:lpstr>PowerPoint Presentation</vt:lpstr>
      <vt:lpstr>PowerPoint Presentation</vt:lpstr>
      <vt:lpstr>THE COLOMBO PLAN</vt:lpstr>
      <vt:lpstr>PowerPoint Presentation</vt:lpstr>
      <vt:lpstr>PowerPoint Presentation</vt:lpstr>
      <vt:lpstr>Rockefeller Foundation</vt:lpstr>
      <vt:lpstr>PowerPoint Presentation</vt:lpstr>
      <vt:lpstr>PowerPoint Presentation</vt:lpstr>
      <vt:lpstr>Ford Foundation</vt:lpstr>
      <vt:lpstr>PowerPoint Presentation</vt:lpstr>
      <vt:lpstr>CARE</vt:lpstr>
      <vt:lpstr>PowerPoint Presentation</vt:lpstr>
      <vt:lpstr>International Red Cross</vt:lpstr>
      <vt:lpstr>PowerPoint Presentation</vt:lpstr>
      <vt:lpstr>Role of Red Cross</vt:lpstr>
      <vt:lpstr>Indian Red Cross</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 Singh</dc:creator>
  <cp:lastModifiedBy>mukul maheshwari</cp:lastModifiedBy>
  <cp:revision>4</cp:revision>
  <dcterms:created xsi:type="dcterms:W3CDTF">2025-06-11T14:39:19Z</dcterms:created>
  <dcterms:modified xsi:type="dcterms:W3CDTF">2025-06-11T20:07:05Z</dcterms:modified>
</cp:coreProperties>
</file>