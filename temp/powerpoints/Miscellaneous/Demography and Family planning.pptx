
<file path=[Content_Types].xml><?xml version="1.0" encoding="utf-8"?>
<Types xmlns="http://schemas.openxmlformats.org/package/2006/content-types">
  <Default Extension="jpeg" ContentType="image/jpeg"/>
  <Default Extension="net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60" r:id="rId3"/>
    <p:sldId id="266" r:id="rId4"/>
    <p:sldId id="274" r:id="rId5"/>
    <p:sldId id="287" r:id="rId6"/>
    <p:sldId id="293" r:id="rId7"/>
    <p:sldId id="257" r:id="rId8"/>
    <p:sldId id="263" r:id="rId9"/>
    <p:sldId id="264" r:id="rId10"/>
    <p:sldId id="265" r:id="rId11"/>
    <p:sldId id="267" r:id="rId12"/>
    <p:sldId id="268" r:id="rId13"/>
    <p:sldId id="259" r:id="rId14"/>
    <p:sldId id="258" r:id="rId15"/>
    <p:sldId id="262" r:id="rId16"/>
    <p:sldId id="269" r:id="rId17"/>
    <p:sldId id="270" r:id="rId18"/>
    <p:sldId id="271" r:id="rId19"/>
    <p:sldId id="272" r:id="rId20"/>
    <p:sldId id="261" r:id="rId21"/>
    <p:sldId id="273" r:id="rId22"/>
    <p:sldId id="275" r:id="rId23"/>
    <p:sldId id="276" r:id="rId24"/>
    <p:sldId id="277" r:id="rId25"/>
    <p:sldId id="280" r:id="rId26"/>
    <p:sldId id="281" r:id="rId27"/>
    <p:sldId id="279" r:id="rId28"/>
    <p:sldId id="278" r:id="rId29"/>
    <p:sldId id="282" r:id="rId30"/>
    <p:sldId id="283" r:id="rId31"/>
    <p:sldId id="284" r:id="rId32"/>
    <p:sldId id="286" r:id="rId33"/>
    <p:sldId id="285" r:id="rId34"/>
    <p:sldId id="288" r:id="rId35"/>
    <p:sldId id="289" r:id="rId36"/>
    <p:sldId id="290" r:id="rId37"/>
    <p:sldId id="291" r:id="rId38"/>
    <p:sldId id="292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D2F275-F9C3-4C8A-96C7-9822727684A8}" v="39" dt="2026-07-16T02:19:30.984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ul maheshwari" userId="12cb43e2ca5f0d2c" providerId="LiveId" clId="{771D35AD-4715-4301-979B-0CEBFD3D1244}"/>
    <pc:docChg chg="undo custSel addSld delSld modSld">
      <pc:chgData name="mukul maheshwari" userId="12cb43e2ca5f0d2c" providerId="LiveId" clId="{771D35AD-4715-4301-979B-0CEBFD3D1244}" dt="2026-07-16T02:20:08.913" v="2545" actId="26606"/>
      <pc:docMkLst>
        <pc:docMk/>
      </pc:docMkLst>
      <pc:sldChg chg="modSp add mod">
        <pc:chgData name="mukul maheshwari" userId="12cb43e2ca5f0d2c" providerId="LiveId" clId="{771D35AD-4715-4301-979B-0CEBFD3D1244}" dt="2026-07-16T00:56:10.506" v="7" actId="20577"/>
        <pc:sldMkLst>
          <pc:docMk/>
          <pc:sldMk cId="2554117227" sldId="274"/>
        </pc:sldMkLst>
        <pc:spChg chg="mod">
          <ac:chgData name="mukul maheshwari" userId="12cb43e2ca5f0d2c" providerId="LiveId" clId="{771D35AD-4715-4301-979B-0CEBFD3D1244}" dt="2026-07-16T00:56:10.506" v="7" actId="20577"/>
          <ac:spMkLst>
            <pc:docMk/>
            <pc:sldMk cId="2554117227" sldId="274"/>
            <ac:spMk id="3" creationId="{16068E49-AB91-C945-0F0A-6F8F5A20C6DD}"/>
          </ac:spMkLst>
        </pc:spChg>
      </pc:sldChg>
      <pc:sldChg chg="modSp new mod">
        <pc:chgData name="mukul maheshwari" userId="12cb43e2ca5f0d2c" providerId="LiveId" clId="{771D35AD-4715-4301-979B-0CEBFD3D1244}" dt="2026-07-16T00:57:52.506" v="52" actId="27636"/>
        <pc:sldMkLst>
          <pc:docMk/>
          <pc:sldMk cId="3005710907" sldId="275"/>
        </pc:sldMkLst>
        <pc:spChg chg="mod">
          <ac:chgData name="mukul maheshwari" userId="12cb43e2ca5f0d2c" providerId="LiveId" clId="{771D35AD-4715-4301-979B-0CEBFD3D1244}" dt="2026-07-16T00:56:58.448" v="30" actId="20577"/>
          <ac:spMkLst>
            <pc:docMk/>
            <pc:sldMk cId="3005710907" sldId="275"/>
            <ac:spMk id="2" creationId="{D6B2DA4E-B7F5-0F46-2145-567750EB7343}"/>
          </ac:spMkLst>
        </pc:spChg>
        <pc:spChg chg="mod">
          <ac:chgData name="mukul maheshwari" userId="12cb43e2ca5f0d2c" providerId="LiveId" clId="{771D35AD-4715-4301-979B-0CEBFD3D1244}" dt="2026-07-16T00:57:52.506" v="52" actId="27636"/>
          <ac:spMkLst>
            <pc:docMk/>
            <pc:sldMk cId="3005710907" sldId="275"/>
            <ac:spMk id="3" creationId="{C87BAE33-780A-0F95-4BC2-13895A388570}"/>
          </ac:spMkLst>
        </pc:spChg>
      </pc:sldChg>
      <pc:sldChg chg="modSp new mod">
        <pc:chgData name="mukul maheshwari" userId="12cb43e2ca5f0d2c" providerId="LiveId" clId="{771D35AD-4715-4301-979B-0CEBFD3D1244}" dt="2026-07-16T01:24:11.707" v="1632" actId="27636"/>
        <pc:sldMkLst>
          <pc:docMk/>
          <pc:sldMk cId="3651051813" sldId="276"/>
        </pc:sldMkLst>
        <pc:spChg chg="mod">
          <ac:chgData name="mukul maheshwari" userId="12cb43e2ca5f0d2c" providerId="LiveId" clId="{771D35AD-4715-4301-979B-0CEBFD3D1244}" dt="2026-07-16T00:58:37.979" v="60" actId="27636"/>
          <ac:spMkLst>
            <pc:docMk/>
            <pc:sldMk cId="3651051813" sldId="276"/>
            <ac:spMk id="2" creationId="{D042A7BB-181D-3996-DE40-A39FB1402016}"/>
          </ac:spMkLst>
        </pc:spChg>
        <pc:spChg chg="mod">
          <ac:chgData name="mukul maheshwari" userId="12cb43e2ca5f0d2c" providerId="LiveId" clId="{771D35AD-4715-4301-979B-0CEBFD3D1244}" dt="2026-07-16T01:24:11.707" v="1632" actId="27636"/>
          <ac:spMkLst>
            <pc:docMk/>
            <pc:sldMk cId="3651051813" sldId="276"/>
            <ac:spMk id="3" creationId="{AD41F046-2BBB-1974-70E7-0D3CDD6247AE}"/>
          </ac:spMkLst>
        </pc:spChg>
      </pc:sldChg>
      <pc:sldChg chg="addSp delSp modSp new mod">
        <pc:chgData name="mukul maheshwari" userId="12cb43e2ca5f0d2c" providerId="LiveId" clId="{771D35AD-4715-4301-979B-0CEBFD3D1244}" dt="2026-07-16T01:13:36.454" v="1457" actId="9"/>
        <pc:sldMkLst>
          <pc:docMk/>
          <pc:sldMk cId="300234230" sldId="277"/>
        </pc:sldMkLst>
        <pc:spChg chg="mod">
          <ac:chgData name="mukul maheshwari" userId="12cb43e2ca5f0d2c" providerId="LiveId" clId="{771D35AD-4715-4301-979B-0CEBFD3D1244}" dt="2026-07-16T00:59:26.446" v="96" actId="20577"/>
          <ac:spMkLst>
            <pc:docMk/>
            <pc:sldMk cId="300234230" sldId="277"/>
            <ac:spMk id="2" creationId="{82C1CC42-0711-39B9-AFBE-036FEC696D28}"/>
          </ac:spMkLst>
        </pc:spChg>
        <pc:spChg chg="del">
          <ac:chgData name="mukul maheshwari" userId="12cb43e2ca5f0d2c" providerId="LiveId" clId="{771D35AD-4715-4301-979B-0CEBFD3D1244}" dt="2026-07-16T01:00:22.678" v="98"/>
          <ac:spMkLst>
            <pc:docMk/>
            <pc:sldMk cId="300234230" sldId="277"/>
            <ac:spMk id="3" creationId="{04D8FF64-CD35-49BB-2DC2-57DF0D0B5985}"/>
          </ac:spMkLst>
        </pc:spChg>
        <pc:spChg chg="add del mod">
          <ac:chgData name="mukul maheshwari" userId="12cb43e2ca5f0d2c" providerId="LiveId" clId="{771D35AD-4715-4301-979B-0CEBFD3D1244}" dt="2026-07-16T01:08:38.823" v="243" actId="478"/>
          <ac:spMkLst>
            <pc:docMk/>
            <pc:sldMk cId="300234230" sldId="277"/>
            <ac:spMk id="6" creationId="{E20C5BD2-E568-21BD-E193-5474426028A6}"/>
          </ac:spMkLst>
        </pc:spChg>
        <pc:spChg chg="add mod">
          <ac:chgData name="mukul maheshwari" userId="12cb43e2ca5f0d2c" providerId="LiveId" clId="{771D35AD-4715-4301-979B-0CEBFD3D1244}" dt="2026-07-16T01:13:36.454" v="1457" actId="9"/>
          <ac:spMkLst>
            <pc:docMk/>
            <pc:sldMk cId="300234230" sldId="277"/>
            <ac:spMk id="8" creationId="{28EA73D3-F016-DBCD-9A56-8D543239075C}"/>
          </ac:spMkLst>
        </pc:spChg>
        <pc:graphicFrameChg chg="add del mod">
          <ac:chgData name="mukul maheshwari" userId="12cb43e2ca5f0d2c" providerId="LiveId" clId="{771D35AD-4715-4301-979B-0CEBFD3D1244}" dt="2026-07-16T01:08:27.392" v="241" actId="478"/>
          <ac:graphicFrameMkLst>
            <pc:docMk/>
            <pc:sldMk cId="300234230" sldId="277"/>
            <ac:graphicFrameMk id="4" creationId="{1EBB13C0-D749-EC5B-4EEA-BDA99893659D}"/>
          </ac:graphicFrameMkLst>
        </pc:graphicFrameChg>
      </pc:sldChg>
      <pc:sldChg chg="modSp new mod">
        <pc:chgData name="mukul maheshwari" userId="12cb43e2ca5f0d2c" providerId="LiveId" clId="{771D35AD-4715-4301-979B-0CEBFD3D1244}" dt="2026-07-16T01:24:41.141" v="1652" actId="27636"/>
        <pc:sldMkLst>
          <pc:docMk/>
          <pc:sldMk cId="1431973171" sldId="278"/>
        </pc:sldMkLst>
        <pc:spChg chg="mod">
          <ac:chgData name="mukul maheshwari" userId="12cb43e2ca5f0d2c" providerId="LiveId" clId="{771D35AD-4715-4301-979B-0CEBFD3D1244}" dt="2026-07-16T01:24:28.371" v="1648" actId="20577"/>
          <ac:spMkLst>
            <pc:docMk/>
            <pc:sldMk cId="1431973171" sldId="278"/>
            <ac:spMk id="2" creationId="{27FC29C4-AF34-A1A9-E2AA-E06D732F5411}"/>
          </ac:spMkLst>
        </pc:spChg>
        <pc:spChg chg="mod">
          <ac:chgData name="mukul maheshwari" userId="12cb43e2ca5f0d2c" providerId="LiveId" clId="{771D35AD-4715-4301-979B-0CEBFD3D1244}" dt="2026-07-16T01:24:41.141" v="1652" actId="27636"/>
          <ac:spMkLst>
            <pc:docMk/>
            <pc:sldMk cId="1431973171" sldId="278"/>
            <ac:spMk id="3" creationId="{126C0CDB-8771-2023-BC8D-1E3BE65A0482}"/>
          </ac:spMkLst>
        </pc:spChg>
      </pc:sldChg>
      <pc:sldChg chg="modSp add mod">
        <pc:chgData name="mukul maheshwari" userId="12cb43e2ca5f0d2c" providerId="LiveId" clId="{771D35AD-4715-4301-979B-0CEBFD3D1244}" dt="2026-07-16T01:21:06.880" v="1576" actId="27636"/>
        <pc:sldMkLst>
          <pc:docMk/>
          <pc:sldMk cId="3819547155" sldId="279"/>
        </pc:sldMkLst>
        <pc:spChg chg="mod">
          <ac:chgData name="mukul maheshwari" userId="12cb43e2ca5f0d2c" providerId="LiveId" clId="{771D35AD-4715-4301-979B-0CEBFD3D1244}" dt="2026-07-16T01:21:06.880" v="1576" actId="27636"/>
          <ac:spMkLst>
            <pc:docMk/>
            <pc:sldMk cId="3819547155" sldId="279"/>
            <ac:spMk id="8" creationId="{C781EBEE-1711-599C-6E1A-F1428A16B945}"/>
          </ac:spMkLst>
        </pc:spChg>
      </pc:sldChg>
      <pc:sldChg chg="modSp add mod">
        <pc:chgData name="mukul maheshwari" userId="12cb43e2ca5f0d2c" providerId="LiveId" clId="{771D35AD-4715-4301-979B-0CEBFD3D1244}" dt="2026-07-16T01:15:18.605" v="1498" actId="404"/>
        <pc:sldMkLst>
          <pc:docMk/>
          <pc:sldMk cId="3861104968" sldId="280"/>
        </pc:sldMkLst>
        <pc:spChg chg="mod">
          <ac:chgData name="mukul maheshwari" userId="12cb43e2ca5f0d2c" providerId="LiveId" clId="{771D35AD-4715-4301-979B-0CEBFD3D1244}" dt="2026-07-16T01:15:01.795" v="1492" actId="20577"/>
          <ac:spMkLst>
            <pc:docMk/>
            <pc:sldMk cId="3861104968" sldId="280"/>
            <ac:spMk id="2" creationId="{6444F5C0-60D3-A4F6-4B77-E6B924BDB3D1}"/>
          </ac:spMkLst>
        </pc:spChg>
        <pc:spChg chg="mod">
          <ac:chgData name="mukul maheshwari" userId="12cb43e2ca5f0d2c" providerId="LiveId" clId="{771D35AD-4715-4301-979B-0CEBFD3D1244}" dt="2026-07-16T01:15:18.605" v="1498" actId="404"/>
          <ac:spMkLst>
            <pc:docMk/>
            <pc:sldMk cId="3861104968" sldId="280"/>
            <ac:spMk id="8" creationId="{275D075A-E56A-CD41-45C8-5EDFE0A44BF4}"/>
          </ac:spMkLst>
        </pc:spChg>
      </pc:sldChg>
      <pc:sldChg chg="modSp add mod">
        <pc:chgData name="mukul maheshwari" userId="12cb43e2ca5f0d2c" providerId="LiveId" clId="{771D35AD-4715-4301-979B-0CEBFD3D1244}" dt="2026-07-16T01:17:58.075" v="1523" actId="404"/>
        <pc:sldMkLst>
          <pc:docMk/>
          <pc:sldMk cId="2290588090" sldId="281"/>
        </pc:sldMkLst>
        <pc:spChg chg="mod">
          <ac:chgData name="mukul maheshwari" userId="12cb43e2ca5f0d2c" providerId="LiveId" clId="{771D35AD-4715-4301-979B-0CEBFD3D1244}" dt="2026-07-16T01:17:58.075" v="1523" actId="404"/>
          <ac:spMkLst>
            <pc:docMk/>
            <pc:sldMk cId="2290588090" sldId="281"/>
            <ac:spMk id="8" creationId="{3917190E-BF29-E3D1-2A0E-4C7FF427205C}"/>
          </ac:spMkLst>
        </pc:spChg>
      </pc:sldChg>
      <pc:sldChg chg="modSp new mod">
        <pc:chgData name="mukul maheshwari" userId="12cb43e2ca5f0d2c" providerId="LiveId" clId="{771D35AD-4715-4301-979B-0CEBFD3D1244}" dt="2026-07-16T01:32:59.727" v="1833" actId="27636"/>
        <pc:sldMkLst>
          <pc:docMk/>
          <pc:sldMk cId="1949079672" sldId="282"/>
        </pc:sldMkLst>
        <pc:spChg chg="mod">
          <ac:chgData name="mukul maheshwari" userId="12cb43e2ca5f0d2c" providerId="LiveId" clId="{771D35AD-4715-4301-979B-0CEBFD3D1244}" dt="2026-07-16T01:26:26.862" v="1669" actId="20577"/>
          <ac:spMkLst>
            <pc:docMk/>
            <pc:sldMk cId="1949079672" sldId="282"/>
            <ac:spMk id="2" creationId="{923D51A7-6556-7704-3142-08AB8E0E25CD}"/>
          </ac:spMkLst>
        </pc:spChg>
        <pc:spChg chg="mod">
          <ac:chgData name="mukul maheshwari" userId="12cb43e2ca5f0d2c" providerId="LiveId" clId="{771D35AD-4715-4301-979B-0CEBFD3D1244}" dt="2026-07-16T01:32:59.727" v="1833" actId="27636"/>
          <ac:spMkLst>
            <pc:docMk/>
            <pc:sldMk cId="1949079672" sldId="282"/>
            <ac:spMk id="3" creationId="{CE1BE86E-2F27-FF8A-6CD1-A957908A26AC}"/>
          </ac:spMkLst>
        </pc:spChg>
      </pc:sldChg>
      <pc:sldChg chg="modSp new mod">
        <pc:chgData name="mukul maheshwari" userId="12cb43e2ca5f0d2c" providerId="LiveId" clId="{771D35AD-4715-4301-979B-0CEBFD3D1244}" dt="2026-07-16T01:35:06.045" v="1861" actId="6549"/>
        <pc:sldMkLst>
          <pc:docMk/>
          <pc:sldMk cId="489258941" sldId="283"/>
        </pc:sldMkLst>
        <pc:spChg chg="mod">
          <ac:chgData name="mukul maheshwari" userId="12cb43e2ca5f0d2c" providerId="LiveId" clId="{771D35AD-4715-4301-979B-0CEBFD3D1244}" dt="2026-07-16T01:35:06.045" v="1861" actId="6549"/>
          <ac:spMkLst>
            <pc:docMk/>
            <pc:sldMk cId="489258941" sldId="283"/>
            <ac:spMk id="2" creationId="{1BD31A8D-13B5-8C62-3097-32FE25E220FE}"/>
          </ac:spMkLst>
        </pc:spChg>
        <pc:spChg chg="mod">
          <ac:chgData name="mukul maheshwari" userId="12cb43e2ca5f0d2c" providerId="LiveId" clId="{771D35AD-4715-4301-979B-0CEBFD3D1244}" dt="2026-07-16T01:35:03.270" v="1860" actId="27636"/>
          <ac:spMkLst>
            <pc:docMk/>
            <pc:sldMk cId="489258941" sldId="283"/>
            <ac:spMk id="3" creationId="{2231469C-5652-4F51-DD46-E79DA0122932}"/>
          </ac:spMkLst>
        </pc:spChg>
      </pc:sldChg>
      <pc:sldChg chg="modSp new mod">
        <pc:chgData name="mukul maheshwari" userId="12cb43e2ca5f0d2c" providerId="LiveId" clId="{771D35AD-4715-4301-979B-0CEBFD3D1244}" dt="2026-07-16T01:40:20.872" v="1967" actId="27636"/>
        <pc:sldMkLst>
          <pc:docMk/>
          <pc:sldMk cId="3541489766" sldId="284"/>
        </pc:sldMkLst>
        <pc:spChg chg="mod">
          <ac:chgData name="mukul maheshwari" userId="12cb43e2ca5f0d2c" providerId="LiveId" clId="{771D35AD-4715-4301-979B-0CEBFD3D1244}" dt="2026-07-16T01:36:29.886" v="1882" actId="20577"/>
          <ac:spMkLst>
            <pc:docMk/>
            <pc:sldMk cId="3541489766" sldId="284"/>
            <ac:spMk id="2" creationId="{7F234CB6-4239-2166-627D-9741BB6EAD14}"/>
          </ac:spMkLst>
        </pc:spChg>
        <pc:spChg chg="mod">
          <ac:chgData name="mukul maheshwari" userId="12cb43e2ca5f0d2c" providerId="LiveId" clId="{771D35AD-4715-4301-979B-0CEBFD3D1244}" dt="2026-07-16T01:40:20.872" v="1967" actId="27636"/>
          <ac:spMkLst>
            <pc:docMk/>
            <pc:sldMk cId="3541489766" sldId="284"/>
            <ac:spMk id="3" creationId="{46468BBA-7AAF-8809-72F8-5A4F07303FD3}"/>
          </ac:spMkLst>
        </pc:spChg>
      </pc:sldChg>
      <pc:sldChg chg="modSp new mod">
        <pc:chgData name="mukul maheshwari" userId="12cb43e2ca5f0d2c" providerId="LiveId" clId="{771D35AD-4715-4301-979B-0CEBFD3D1244}" dt="2026-07-16T02:02:50.267" v="2120" actId="27636"/>
        <pc:sldMkLst>
          <pc:docMk/>
          <pc:sldMk cId="2351867280" sldId="285"/>
        </pc:sldMkLst>
        <pc:spChg chg="mod">
          <ac:chgData name="mukul maheshwari" userId="12cb43e2ca5f0d2c" providerId="LiveId" clId="{771D35AD-4715-4301-979B-0CEBFD3D1244}" dt="2026-07-16T02:02:22.675" v="2110" actId="20577"/>
          <ac:spMkLst>
            <pc:docMk/>
            <pc:sldMk cId="2351867280" sldId="285"/>
            <ac:spMk id="2" creationId="{F4CB6B02-ACEA-CB22-B7D9-1D4057091C2E}"/>
          </ac:spMkLst>
        </pc:spChg>
        <pc:spChg chg="mod">
          <ac:chgData name="mukul maheshwari" userId="12cb43e2ca5f0d2c" providerId="LiveId" clId="{771D35AD-4715-4301-979B-0CEBFD3D1244}" dt="2026-07-16T02:02:50.267" v="2120" actId="27636"/>
          <ac:spMkLst>
            <pc:docMk/>
            <pc:sldMk cId="2351867280" sldId="285"/>
            <ac:spMk id="3" creationId="{7691D2A6-591F-BFDC-F952-D04D27582413}"/>
          </ac:spMkLst>
        </pc:spChg>
      </pc:sldChg>
      <pc:sldChg chg="modSp add mod">
        <pc:chgData name="mukul maheshwari" userId="12cb43e2ca5f0d2c" providerId="LiveId" clId="{771D35AD-4715-4301-979B-0CEBFD3D1244}" dt="2026-07-16T01:44:31.068" v="2090" actId="5793"/>
        <pc:sldMkLst>
          <pc:docMk/>
          <pc:sldMk cId="286321784" sldId="286"/>
        </pc:sldMkLst>
        <pc:spChg chg="mod">
          <ac:chgData name="mukul maheshwari" userId="12cb43e2ca5f0d2c" providerId="LiveId" clId="{771D35AD-4715-4301-979B-0CEBFD3D1244}" dt="2026-07-16T01:44:31.068" v="2090" actId="5793"/>
          <ac:spMkLst>
            <pc:docMk/>
            <pc:sldMk cId="286321784" sldId="286"/>
            <ac:spMk id="3" creationId="{9426BEE8-76DC-5E39-59EB-94FC38182974}"/>
          </ac:spMkLst>
        </pc:spChg>
      </pc:sldChg>
      <pc:sldChg chg="modSp add mod">
        <pc:chgData name="mukul maheshwari" userId="12cb43e2ca5f0d2c" providerId="LiveId" clId="{771D35AD-4715-4301-979B-0CEBFD3D1244}" dt="2026-07-16T02:07:47.775" v="2255" actId="27636"/>
        <pc:sldMkLst>
          <pc:docMk/>
          <pc:sldMk cId="2542379814" sldId="287"/>
        </pc:sldMkLst>
        <pc:spChg chg="mod">
          <ac:chgData name="mukul maheshwari" userId="12cb43e2ca5f0d2c" providerId="LiveId" clId="{771D35AD-4715-4301-979B-0CEBFD3D1244}" dt="2026-07-16T02:07:47.775" v="2255" actId="27636"/>
          <ac:spMkLst>
            <pc:docMk/>
            <pc:sldMk cId="2542379814" sldId="287"/>
            <ac:spMk id="3" creationId="{05907BE3-0295-746D-4010-FCDA00BD4567}"/>
          </ac:spMkLst>
        </pc:spChg>
      </pc:sldChg>
      <pc:sldChg chg="addSp delSp modSp new mod setBg">
        <pc:chgData name="mukul maheshwari" userId="12cb43e2ca5f0d2c" providerId="LiveId" clId="{771D35AD-4715-4301-979B-0CEBFD3D1244}" dt="2026-07-16T02:04:28.833" v="2156" actId="15"/>
        <pc:sldMkLst>
          <pc:docMk/>
          <pc:sldMk cId="2888748198" sldId="288"/>
        </pc:sldMkLst>
        <pc:spChg chg="mod">
          <ac:chgData name="mukul maheshwari" userId="12cb43e2ca5f0d2c" providerId="LiveId" clId="{771D35AD-4715-4301-979B-0CEBFD3D1244}" dt="2026-07-16T02:04:14.592" v="2151" actId="26606"/>
          <ac:spMkLst>
            <pc:docMk/>
            <pc:sldMk cId="2888748198" sldId="288"/>
            <ac:spMk id="2" creationId="{D283FE6E-0359-3076-A182-35984E1648C4}"/>
          </ac:spMkLst>
        </pc:spChg>
        <pc:spChg chg="del">
          <ac:chgData name="mukul maheshwari" userId="12cb43e2ca5f0d2c" providerId="LiveId" clId="{771D35AD-4715-4301-979B-0CEBFD3D1244}" dt="2026-07-16T02:03:31.360" v="2146"/>
          <ac:spMkLst>
            <pc:docMk/>
            <pc:sldMk cId="2888748198" sldId="288"/>
            <ac:spMk id="3" creationId="{5892494B-0AB6-276D-A4F6-FD04921DB827}"/>
          </ac:spMkLst>
        </pc:spChg>
        <pc:spChg chg="add mod">
          <ac:chgData name="mukul maheshwari" userId="12cb43e2ca5f0d2c" providerId="LiveId" clId="{771D35AD-4715-4301-979B-0CEBFD3D1244}" dt="2026-07-16T02:04:28.833" v="2156" actId="15"/>
          <ac:spMkLst>
            <pc:docMk/>
            <pc:sldMk cId="2888748198" sldId="288"/>
            <ac:spMk id="6" creationId="{0296B03A-2965-D426-BA85-84F825162A76}"/>
          </ac:spMkLst>
        </pc:spChg>
        <pc:spChg chg="add del">
          <ac:chgData name="mukul maheshwari" userId="12cb43e2ca5f0d2c" providerId="LiveId" clId="{771D35AD-4715-4301-979B-0CEBFD3D1244}" dt="2026-07-16T02:04:14.592" v="2151" actId="26606"/>
          <ac:spMkLst>
            <pc:docMk/>
            <pc:sldMk cId="2888748198" sldId="288"/>
            <ac:spMk id="11" creationId="{19F9BF86-FE94-4517-B97D-026C7515E589}"/>
          </ac:spMkLst>
        </pc:spChg>
        <pc:spChg chg="add">
          <ac:chgData name="mukul maheshwari" userId="12cb43e2ca5f0d2c" providerId="LiveId" clId="{771D35AD-4715-4301-979B-0CEBFD3D1244}" dt="2026-07-16T02:04:14.592" v="2151" actId="26606"/>
          <ac:spMkLst>
            <pc:docMk/>
            <pc:sldMk cId="2888748198" sldId="288"/>
            <ac:spMk id="18" creationId="{DBDA151C-5770-45E4-AAFF-59E7F403866D}"/>
          </ac:spMkLst>
        </pc:spChg>
        <pc:graphicFrameChg chg="add mod ord modGraphic">
          <ac:chgData name="mukul maheshwari" userId="12cb43e2ca5f0d2c" providerId="LiveId" clId="{771D35AD-4715-4301-979B-0CEBFD3D1244}" dt="2026-07-16T02:04:14.592" v="2151" actId="26606"/>
          <ac:graphicFrameMkLst>
            <pc:docMk/>
            <pc:sldMk cId="2888748198" sldId="288"/>
            <ac:graphicFrameMk id="4" creationId="{6C676038-715E-95C7-80C1-E79A475C5DBC}"/>
          </ac:graphicFrameMkLst>
        </pc:graphicFrameChg>
        <pc:cxnChg chg="add del">
          <ac:chgData name="mukul maheshwari" userId="12cb43e2ca5f0d2c" providerId="LiveId" clId="{771D35AD-4715-4301-979B-0CEBFD3D1244}" dt="2026-07-16T02:04:14.592" v="2151" actId="26606"/>
          <ac:cxnSpMkLst>
            <pc:docMk/>
            <pc:sldMk cId="2888748198" sldId="288"/>
            <ac:cxnSpMk id="9" creationId="{118E06E4-607B-144B-382B-AD3D06B1EE8C}"/>
          </ac:cxnSpMkLst>
        </pc:cxnChg>
        <pc:cxnChg chg="add del">
          <ac:chgData name="mukul maheshwari" userId="12cb43e2ca5f0d2c" providerId="LiveId" clId="{771D35AD-4715-4301-979B-0CEBFD3D1244}" dt="2026-07-16T02:04:14.592" v="2151" actId="26606"/>
          <ac:cxnSpMkLst>
            <pc:docMk/>
            <pc:sldMk cId="2888748198" sldId="288"/>
            <ac:cxnSpMk id="13" creationId="{59D7B6BE-A4E0-4483-BEC5-493AC3E5D2AD}"/>
          </ac:cxnSpMkLst>
        </pc:cxnChg>
        <pc:cxnChg chg="add">
          <ac:chgData name="mukul maheshwari" userId="12cb43e2ca5f0d2c" providerId="LiveId" clId="{771D35AD-4715-4301-979B-0CEBFD3D1244}" dt="2026-07-16T02:04:14.592" v="2151" actId="26606"/>
          <ac:cxnSpMkLst>
            <pc:docMk/>
            <pc:sldMk cId="2888748198" sldId="288"/>
            <ac:cxnSpMk id="20" creationId="{B209265E-E0D7-493B-97CE-2263D50C3F0A}"/>
          </ac:cxnSpMkLst>
        </pc:cxnChg>
      </pc:sldChg>
      <pc:sldChg chg="modSp new mod">
        <pc:chgData name="mukul maheshwari" userId="12cb43e2ca5f0d2c" providerId="LiveId" clId="{771D35AD-4715-4301-979B-0CEBFD3D1244}" dt="2026-07-16T02:05:16.890" v="2182" actId="15"/>
        <pc:sldMkLst>
          <pc:docMk/>
          <pc:sldMk cId="2057389023" sldId="289"/>
        </pc:sldMkLst>
        <pc:spChg chg="mod">
          <ac:chgData name="mukul maheshwari" userId="12cb43e2ca5f0d2c" providerId="LiveId" clId="{771D35AD-4715-4301-979B-0CEBFD3D1244}" dt="2026-07-16T02:04:55.493" v="2177" actId="20577"/>
          <ac:spMkLst>
            <pc:docMk/>
            <pc:sldMk cId="2057389023" sldId="289"/>
            <ac:spMk id="2" creationId="{12D334F8-B0DE-A84C-CF37-A572E20A11CA}"/>
          </ac:spMkLst>
        </pc:spChg>
        <pc:spChg chg="mod">
          <ac:chgData name="mukul maheshwari" userId="12cb43e2ca5f0d2c" providerId="LiveId" clId="{771D35AD-4715-4301-979B-0CEBFD3D1244}" dt="2026-07-16T02:05:16.890" v="2182" actId="15"/>
          <ac:spMkLst>
            <pc:docMk/>
            <pc:sldMk cId="2057389023" sldId="289"/>
            <ac:spMk id="3" creationId="{4CED4317-F240-119B-A8D9-0A52E72D6C57}"/>
          </ac:spMkLst>
        </pc:spChg>
      </pc:sldChg>
      <pc:sldChg chg="modSp new mod">
        <pc:chgData name="mukul maheshwari" userId="12cb43e2ca5f0d2c" providerId="LiveId" clId="{771D35AD-4715-4301-979B-0CEBFD3D1244}" dt="2026-07-16T02:05:59.984" v="2209" actId="15"/>
        <pc:sldMkLst>
          <pc:docMk/>
          <pc:sldMk cId="2671011566" sldId="290"/>
        </pc:sldMkLst>
        <pc:spChg chg="mod">
          <ac:chgData name="mukul maheshwari" userId="12cb43e2ca5f0d2c" providerId="LiveId" clId="{771D35AD-4715-4301-979B-0CEBFD3D1244}" dt="2026-07-16T02:05:43.190" v="2204" actId="20577"/>
          <ac:spMkLst>
            <pc:docMk/>
            <pc:sldMk cId="2671011566" sldId="290"/>
            <ac:spMk id="2" creationId="{DB23CE48-8711-88A6-52D8-76585C896A1F}"/>
          </ac:spMkLst>
        </pc:spChg>
        <pc:spChg chg="mod">
          <ac:chgData name="mukul maheshwari" userId="12cb43e2ca5f0d2c" providerId="LiveId" clId="{771D35AD-4715-4301-979B-0CEBFD3D1244}" dt="2026-07-16T02:05:59.984" v="2209" actId="15"/>
          <ac:spMkLst>
            <pc:docMk/>
            <pc:sldMk cId="2671011566" sldId="290"/>
            <ac:spMk id="3" creationId="{7A1C1FAC-B3F9-970E-7B35-2E0FBF9EEE6B}"/>
          </ac:spMkLst>
        </pc:spChg>
      </pc:sldChg>
      <pc:sldChg chg="modSp new mod">
        <pc:chgData name="mukul maheshwari" userId="12cb43e2ca5f0d2c" providerId="LiveId" clId="{771D35AD-4715-4301-979B-0CEBFD3D1244}" dt="2026-07-16T02:06:54.316" v="2249" actId="313"/>
        <pc:sldMkLst>
          <pc:docMk/>
          <pc:sldMk cId="1883518917" sldId="291"/>
        </pc:sldMkLst>
        <pc:spChg chg="mod">
          <ac:chgData name="mukul maheshwari" userId="12cb43e2ca5f0d2c" providerId="LiveId" clId="{771D35AD-4715-4301-979B-0CEBFD3D1244}" dt="2026-07-16T02:06:54.316" v="2249" actId="313"/>
          <ac:spMkLst>
            <pc:docMk/>
            <pc:sldMk cId="1883518917" sldId="291"/>
            <ac:spMk id="2" creationId="{089D97D7-3460-B28A-69C6-F7C38DE1DFFD}"/>
          </ac:spMkLst>
        </pc:spChg>
        <pc:spChg chg="mod">
          <ac:chgData name="mukul maheshwari" userId="12cb43e2ca5f0d2c" providerId="LiveId" clId="{771D35AD-4715-4301-979B-0CEBFD3D1244}" dt="2026-07-16T02:06:49.200" v="2248" actId="20577"/>
          <ac:spMkLst>
            <pc:docMk/>
            <pc:sldMk cId="1883518917" sldId="291"/>
            <ac:spMk id="3" creationId="{620FEA09-D83A-9DC3-FD4F-9E591FACBB46}"/>
          </ac:spMkLst>
        </pc:spChg>
      </pc:sldChg>
      <pc:sldChg chg="addSp delSp modSp new mod setBg">
        <pc:chgData name="mukul maheshwari" userId="12cb43e2ca5f0d2c" providerId="LiveId" clId="{771D35AD-4715-4301-979B-0CEBFD3D1244}" dt="2026-07-16T02:09:22.346" v="2291" actId="26606"/>
        <pc:sldMkLst>
          <pc:docMk/>
          <pc:sldMk cId="3253271315" sldId="292"/>
        </pc:sldMkLst>
        <pc:spChg chg="mod">
          <ac:chgData name="mukul maheshwari" userId="12cb43e2ca5f0d2c" providerId="LiveId" clId="{771D35AD-4715-4301-979B-0CEBFD3D1244}" dt="2026-07-16T02:09:22.346" v="2291" actId="26606"/>
          <ac:spMkLst>
            <pc:docMk/>
            <pc:sldMk cId="3253271315" sldId="292"/>
            <ac:spMk id="2" creationId="{A1FB8F20-D5FA-D846-43E4-D34FAC3C8AA0}"/>
          </ac:spMkLst>
        </pc:spChg>
        <pc:spChg chg="del">
          <ac:chgData name="mukul maheshwari" userId="12cb43e2ca5f0d2c" providerId="LiveId" clId="{771D35AD-4715-4301-979B-0CEBFD3D1244}" dt="2026-07-16T02:08:50.691" v="2283"/>
          <ac:spMkLst>
            <pc:docMk/>
            <pc:sldMk cId="3253271315" sldId="292"/>
            <ac:spMk id="3" creationId="{6AB62251-BAFD-6494-B9B2-86066151CABD}"/>
          </ac:spMkLst>
        </pc:spChg>
        <pc:spChg chg="add mod">
          <ac:chgData name="mukul maheshwari" userId="12cb43e2ca5f0d2c" providerId="LiveId" clId="{771D35AD-4715-4301-979B-0CEBFD3D1244}" dt="2026-07-16T02:09:22.346" v="2291" actId="26606"/>
          <ac:spMkLst>
            <pc:docMk/>
            <pc:sldMk cId="3253271315" sldId="292"/>
            <ac:spMk id="6" creationId="{E75AF9EB-3416-6695-61C0-DBEF45C18E99}"/>
          </ac:spMkLst>
        </pc:spChg>
        <pc:spChg chg="add del">
          <ac:chgData name="mukul maheshwari" userId="12cb43e2ca5f0d2c" providerId="LiveId" clId="{771D35AD-4715-4301-979B-0CEBFD3D1244}" dt="2026-07-16T02:09:22.263" v="2290" actId="26606"/>
          <ac:spMkLst>
            <pc:docMk/>
            <pc:sldMk cId="3253271315" sldId="292"/>
            <ac:spMk id="11" creationId="{DBDA151C-5770-45E4-AAFF-59E7F403866D}"/>
          </ac:spMkLst>
        </pc:spChg>
        <pc:spChg chg="add">
          <ac:chgData name="mukul maheshwari" userId="12cb43e2ca5f0d2c" providerId="LiveId" clId="{771D35AD-4715-4301-979B-0CEBFD3D1244}" dt="2026-07-16T02:09:22.346" v="2291" actId="26606"/>
          <ac:spMkLst>
            <pc:docMk/>
            <pc:sldMk cId="3253271315" sldId="292"/>
            <ac:spMk id="17" creationId="{19F9BF86-FE94-4517-B97D-026C7515E589}"/>
          </ac:spMkLst>
        </pc:spChg>
        <pc:graphicFrameChg chg="add mod ord modGraphic">
          <ac:chgData name="mukul maheshwari" userId="12cb43e2ca5f0d2c" providerId="LiveId" clId="{771D35AD-4715-4301-979B-0CEBFD3D1244}" dt="2026-07-16T02:09:22.346" v="2291" actId="26606"/>
          <ac:graphicFrameMkLst>
            <pc:docMk/>
            <pc:sldMk cId="3253271315" sldId="292"/>
            <ac:graphicFrameMk id="4" creationId="{EE84C75B-8CF3-3BDE-8205-1970B2297707}"/>
          </ac:graphicFrameMkLst>
        </pc:graphicFrameChg>
        <pc:cxnChg chg="add del">
          <ac:chgData name="mukul maheshwari" userId="12cb43e2ca5f0d2c" providerId="LiveId" clId="{771D35AD-4715-4301-979B-0CEBFD3D1244}" dt="2026-07-16T02:09:22.263" v="2290" actId="26606"/>
          <ac:cxnSpMkLst>
            <pc:docMk/>
            <pc:sldMk cId="3253271315" sldId="292"/>
            <ac:cxnSpMk id="13" creationId="{B209265E-E0D7-493B-97CE-2263D50C3F0A}"/>
          </ac:cxnSpMkLst>
        </pc:cxnChg>
        <pc:cxnChg chg="add">
          <ac:chgData name="mukul maheshwari" userId="12cb43e2ca5f0d2c" providerId="LiveId" clId="{771D35AD-4715-4301-979B-0CEBFD3D1244}" dt="2026-07-16T02:09:22.346" v="2291" actId="26606"/>
          <ac:cxnSpMkLst>
            <pc:docMk/>
            <pc:sldMk cId="3253271315" sldId="292"/>
            <ac:cxnSpMk id="15" creationId="{750527CE-FCD0-40C8-B37A-39331C2A4FDF}"/>
          </ac:cxnSpMkLst>
        </pc:cxnChg>
        <pc:cxnChg chg="add">
          <ac:chgData name="mukul maheshwari" userId="12cb43e2ca5f0d2c" providerId="LiveId" clId="{771D35AD-4715-4301-979B-0CEBFD3D1244}" dt="2026-07-16T02:09:22.346" v="2291" actId="26606"/>
          <ac:cxnSpMkLst>
            <pc:docMk/>
            <pc:sldMk cId="3253271315" sldId="292"/>
            <ac:cxnSpMk id="16" creationId="{118E06E4-607B-144B-382B-AD3D06B1EE8C}"/>
          </ac:cxnSpMkLst>
        </pc:cxnChg>
      </pc:sldChg>
      <pc:sldChg chg="modSp add mod">
        <pc:chgData name="mukul maheshwari" userId="12cb43e2ca5f0d2c" providerId="LiveId" clId="{771D35AD-4715-4301-979B-0CEBFD3D1244}" dt="2026-07-16T02:08:50.908" v="2284" actId="27636"/>
        <pc:sldMkLst>
          <pc:docMk/>
          <pc:sldMk cId="87132375" sldId="293"/>
        </pc:sldMkLst>
        <pc:spChg chg="mod">
          <ac:chgData name="mukul maheshwari" userId="12cb43e2ca5f0d2c" providerId="LiveId" clId="{771D35AD-4715-4301-979B-0CEBFD3D1244}" dt="2026-07-16T02:08:50.908" v="2284" actId="27636"/>
          <ac:spMkLst>
            <pc:docMk/>
            <pc:sldMk cId="87132375" sldId="293"/>
            <ac:spMk id="3" creationId="{9C0EEC9E-1087-E284-BF06-BA7A2ACA9049}"/>
          </ac:spMkLst>
        </pc:spChg>
      </pc:sldChg>
      <pc:sldChg chg="new del">
        <pc:chgData name="mukul maheshwari" userId="12cb43e2ca5f0d2c" providerId="LiveId" clId="{771D35AD-4715-4301-979B-0CEBFD3D1244}" dt="2026-07-16T02:07:56.860" v="2257" actId="47"/>
        <pc:sldMkLst>
          <pc:docMk/>
          <pc:sldMk cId="3964297885" sldId="293"/>
        </pc:sldMkLst>
      </pc:sldChg>
      <pc:sldChg chg="modSp new mod">
        <pc:chgData name="mukul maheshwari" userId="12cb43e2ca5f0d2c" providerId="LiveId" clId="{771D35AD-4715-4301-979B-0CEBFD3D1244}" dt="2026-07-16T02:10:50.583" v="2338" actId="20577"/>
        <pc:sldMkLst>
          <pc:docMk/>
          <pc:sldMk cId="1035071491" sldId="294"/>
        </pc:sldMkLst>
        <pc:spChg chg="mod">
          <ac:chgData name="mukul maheshwari" userId="12cb43e2ca5f0d2c" providerId="LiveId" clId="{771D35AD-4715-4301-979B-0CEBFD3D1244}" dt="2026-07-16T02:10:01.750" v="2309" actId="20577"/>
          <ac:spMkLst>
            <pc:docMk/>
            <pc:sldMk cId="1035071491" sldId="294"/>
            <ac:spMk id="2" creationId="{F0F42045-BC3F-A0FE-3E3A-88B3761155F7}"/>
          </ac:spMkLst>
        </pc:spChg>
        <pc:spChg chg="mod">
          <ac:chgData name="mukul maheshwari" userId="12cb43e2ca5f0d2c" providerId="LiveId" clId="{771D35AD-4715-4301-979B-0CEBFD3D1244}" dt="2026-07-16T02:10:50.583" v="2338" actId="20577"/>
          <ac:spMkLst>
            <pc:docMk/>
            <pc:sldMk cId="1035071491" sldId="294"/>
            <ac:spMk id="3" creationId="{B6F7E566-5259-2CFD-108E-EA304C127523}"/>
          </ac:spMkLst>
        </pc:spChg>
      </pc:sldChg>
      <pc:sldChg chg="modSp new mod">
        <pc:chgData name="mukul maheshwari" userId="12cb43e2ca5f0d2c" providerId="LiveId" clId="{771D35AD-4715-4301-979B-0CEBFD3D1244}" dt="2026-07-16T02:14:27.219" v="2352" actId="15"/>
        <pc:sldMkLst>
          <pc:docMk/>
          <pc:sldMk cId="148020861" sldId="295"/>
        </pc:sldMkLst>
        <pc:spChg chg="mod">
          <ac:chgData name="mukul maheshwari" userId="12cb43e2ca5f0d2c" providerId="LiveId" clId="{771D35AD-4715-4301-979B-0CEBFD3D1244}" dt="2026-07-16T02:14:07.906" v="2346" actId="20577"/>
          <ac:spMkLst>
            <pc:docMk/>
            <pc:sldMk cId="148020861" sldId="295"/>
            <ac:spMk id="2" creationId="{96C79F43-83B6-FD54-6C4F-0FC67DC09E60}"/>
          </ac:spMkLst>
        </pc:spChg>
        <pc:spChg chg="mod">
          <ac:chgData name="mukul maheshwari" userId="12cb43e2ca5f0d2c" providerId="LiveId" clId="{771D35AD-4715-4301-979B-0CEBFD3D1244}" dt="2026-07-16T02:14:27.219" v="2352" actId="15"/>
          <ac:spMkLst>
            <pc:docMk/>
            <pc:sldMk cId="148020861" sldId="295"/>
            <ac:spMk id="3" creationId="{0A0EB36C-E9B3-A3BC-9637-E38773116F19}"/>
          </ac:spMkLst>
        </pc:spChg>
      </pc:sldChg>
      <pc:sldChg chg="modSp new mod">
        <pc:chgData name="mukul maheshwari" userId="12cb43e2ca5f0d2c" providerId="LiveId" clId="{771D35AD-4715-4301-979B-0CEBFD3D1244}" dt="2026-07-16T02:15:50.759" v="2406" actId="1076"/>
        <pc:sldMkLst>
          <pc:docMk/>
          <pc:sldMk cId="13705417" sldId="296"/>
        </pc:sldMkLst>
        <pc:spChg chg="mod">
          <ac:chgData name="mukul maheshwari" userId="12cb43e2ca5f0d2c" providerId="LiveId" clId="{771D35AD-4715-4301-979B-0CEBFD3D1244}" dt="2026-07-16T02:15:50.759" v="2406" actId="1076"/>
          <ac:spMkLst>
            <pc:docMk/>
            <pc:sldMk cId="13705417" sldId="296"/>
            <ac:spMk id="2" creationId="{9DA18CED-70A9-259F-B9BD-4A9100D270C7}"/>
          </ac:spMkLst>
        </pc:spChg>
        <pc:spChg chg="mod">
          <ac:chgData name="mukul maheshwari" userId="12cb43e2ca5f0d2c" providerId="LiveId" clId="{771D35AD-4715-4301-979B-0CEBFD3D1244}" dt="2026-07-16T02:15:46.364" v="2405" actId="27636"/>
          <ac:spMkLst>
            <pc:docMk/>
            <pc:sldMk cId="13705417" sldId="296"/>
            <ac:spMk id="3" creationId="{59C2E6B5-0A0E-B0E9-F512-389A638C1ED1}"/>
          </ac:spMkLst>
        </pc:spChg>
      </pc:sldChg>
      <pc:sldChg chg="modSp new mod">
        <pc:chgData name="mukul maheshwari" userId="12cb43e2ca5f0d2c" providerId="LiveId" clId="{771D35AD-4715-4301-979B-0CEBFD3D1244}" dt="2026-07-16T02:16:44.279" v="2412"/>
        <pc:sldMkLst>
          <pc:docMk/>
          <pc:sldMk cId="766404209" sldId="297"/>
        </pc:sldMkLst>
        <pc:spChg chg="mod">
          <ac:chgData name="mukul maheshwari" userId="12cb43e2ca5f0d2c" providerId="LiveId" clId="{771D35AD-4715-4301-979B-0CEBFD3D1244}" dt="2026-07-16T02:16:34.762" v="2411" actId="27636"/>
          <ac:spMkLst>
            <pc:docMk/>
            <pc:sldMk cId="766404209" sldId="297"/>
            <ac:spMk id="2" creationId="{E0A23CA2-1C10-40B1-5152-DFA73454112A}"/>
          </ac:spMkLst>
        </pc:spChg>
        <pc:spChg chg="mod">
          <ac:chgData name="mukul maheshwari" userId="12cb43e2ca5f0d2c" providerId="LiveId" clId="{771D35AD-4715-4301-979B-0CEBFD3D1244}" dt="2026-07-16T02:16:44.279" v="2412"/>
          <ac:spMkLst>
            <pc:docMk/>
            <pc:sldMk cId="766404209" sldId="297"/>
            <ac:spMk id="3" creationId="{699420B0-5302-D97D-1AFD-479CFAFD2327}"/>
          </ac:spMkLst>
        </pc:spChg>
      </pc:sldChg>
      <pc:sldChg chg="modSp new mod">
        <pc:chgData name="mukul maheshwari" userId="12cb43e2ca5f0d2c" providerId="LiveId" clId="{771D35AD-4715-4301-979B-0CEBFD3D1244}" dt="2026-07-16T02:18:26.943" v="2486" actId="20577"/>
        <pc:sldMkLst>
          <pc:docMk/>
          <pc:sldMk cId="3658181640" sldId="298"/>
        </pc:sldMkLst>
        <pc:spChg chg="mod">
          <ac:chgData name="mukul maheshwari" userId="12cb43e2ca5f0d2c" providerId="LiveId" clId="{771D35AD-4715-4301-979B-0CEBFD3D1244}" dt="2026-07-16T02:17:06.379" v="2440" actId="20577"/>
          <ac:spMkLst>
            <pc:docMk/>
            <pc:sldMk cId="3658181640" sldId="298"/>
            <ac:spMk id="2" creationId="{D027B439-E158-543B-4B68-5EC6720AE89A}"/>
          </ac:spMkLst>
        </pc:spChg>
        <pc:spChg chg="mod">
          <ac:chgData name="mukul maheshwari" userId="12cb43e2ca5f0d2c" providerId="LiveId" clId="{771D35AD-4715-4301-979B-0CEBFD3D1244}" dt="2026-07-16T02:18:26.943" v="2486" actId="20577"/>
          <ac:spMkLst>
            <pc:docMk/>
            <pc:sldMk cId="3658181640" sldId="298"/>
            <ac:spMk id="3" creationId="{9F2E29E5-65F9-B3C6-16F8-DC290DBCDA2D}"/>
          </ac:spMkLst>
        </pc:spChg>
      </pc:sldChg>
      <pc:sldChg chg="modSp new mod">
        <pc:chgData name="mukul maheshwari" userId="12cb43e2ca5f0d2c" providerId="LiveId" clId="{771D35AD-4715-4301-979B-0CEBFD3D1244}" dt="2026-07-16T02:19:08.674" v="2509" actId="27636"/>
        <pc:sldMkLst>
          <pc:docMk/>
          <pc:sldMk cId="2297450362" sldId="299"/>
        </pc:sldMkLst>
        <pc:spChg chg="mod">
          <ac:chgData name="mukul maheshwari" userId="12cb43e2ca5f0d2c" providerId="LiveId" clId="{771D35AD-4715-4301-979B-0CEBFD3D1244}" dt="2026-07-16T02:18:39.768" v="2493" actId="20577"/>
          <ac:spMkLst>
            <pc:docMk/>
            <pc:sldMk cId="2297450362" sldId="299"/>
            <ac:spMk id="2" creationId="{08C4A4B3-6131-F884-C431-FB9E4E91EFEC}"/>
          </ac:spMkLst>
        </pc:spChg>
        <pc:spChg chg="mod">
          <ac:chgData name="mukul maheshwari" userId="12cb43e2ca5f0d2c" providerId="LiveId" clId="{771D35AD-4715-4301-979B-0CEBFD3D1244}" dt="2026-07-16T02:19:08.674" v="2509" actId="27636"/>
          <ac:spMkLst>
            <pc:docMk/>
            <pc:sldMk cId="2297450362" sldId="299"/>
            <ac:spMk id="3" creationId="{C2F74AD2-AA8E-0850-B902-723C0439E5AA}"/>
          </ac:spMkLst>
        </pc:spChg>
      </pc:sldChg>
      <pc:sldChg chg="modSp new mod">
        <pc:chgData name="mukul maheshwari" userId="12cb43e2ca5f0d2c" providerId="LiveId" clId="{771D35AD-4715-4301-979B-0CEBFD3D1244}" dt="2026-07-16T02:19:54.359" v="2537" actId="27636"/>
        <pc:sldMkLst>
          <pc:docMk/>
          <pc:sldMk cId="124811052" sldId="300"/>
        </pc:sldMkLst>
        <pc:spChg chg="mod">
          <ac:chgData name="mukul maheshwari" userId="12cb43e2ca5f0d2c" providerId="LiveId" clId="{771D35AD-4715-4301-979B-0CEBFD3D1244}" dt="2026-07-16T02:19:22.203" v="2523" actId="20577"/>
          <ac:spMkLst>
            <pc:docMk/>
            <pc:sldMk cId="124811052" sldId="300"/>
            <ac:spMk id="2" creationId="{C925C85F-E2A0-3878-E603-1CCF8A73CC85}"/>
          </ac:spMkLst>
        </pc:spChg>
        <pc:spChg chg="mod">
          <ac:chgData name="mukul maheshwari" userId="12cb43e2ca5f0d2c" providerId="LiveId" clId="{771D35AD-4715-4301-979B-0CEBFD3D1244}" dt="2026-07-16T02:19:54.359" v="2537" actId="27636"/>
          <ac:spMkLst>
            <pc:docMk/>
            <pc:sldMk cId="124811052" sldId="300"/>
            <ac:spMk id="3" creationId="{4099492E-0D03-BDB5-D7B1-10A49C8F86D1}"/>
          </ac:spMkLst>
        </pc:spChg>
      </pc:sldChg>
      <pc:sldChg chg="addSp delSp modSp new mod setBg">
        <pc:chgData name="mukul maheshwari" userId="12cb43e2ca5f0d2c" providerId="LiveId" clId="{771D35AD-4715-4301-979B-0CEBFD3D1244}" dt="2026-07-16T02:20:08.913" v="2545" actId="26606"/>
        <pc:sldMkLst>
          <pc:docMk/>
          <pc:sldMk cId="4250569590" sldId="301"/>
        </pc:sldMkLst>
        <pc:spChg chg="mod">
          <ac:chgData name="mukul maheshwari" userId="12cb43e2ca5f0d2c" providerId="LiveId" clId="{771D35AD-4715-4301-979B-0CEBFD3D1244}" dt="2026-07-16T02:20:08.913" v="2545" actId="26606"/>
          <ac:spMkLst>
            <pc:docMk/>
            <pc:sldMk cId="4250569590" sldId="301"/>
            <ac:spMk id="2" creationId="{16036614-2B57-A8B0-4E71-738E0E31C799}"/>
          </ac:spMkLst>
        </pc:spChg>
        <pc:spChg chg="del">
          <ac:chgData name="mukul maheshwari" userId="12cb43e2ca5f0d2c" providerId="LiveId" clId="{771D35AD-4715-4301-979B-0CEBFD3D1244}" dt="2026-07-16T02:20:08.913" v="2545" actId="26606"/>
          <ac:spMkLst>
            <pc:docMk/>
            <pc:sldMk cId="4250569590" sldId="301"/>
            <ac:spMk id="3" creationId="{BFAD7AAD-6B4C-E42C-88A8-51A57E0C9C70}"/>
          </ac:spMkLst>
        </pc:spChg>
        <pc:spChg chg="add">
          <ac:chgData name="mukul maheshwari" userId="12cb43e2ca5f0d2c" providerId="LiveId" clId="{771D35AD-4715-4301-979B-0CEBFD3D1244}" dt="2026-07-16T02:20:08.913" v="2545" actId="26606"/>
          <ac:spMkLst>
            <pc:docMk/>
            <pc:sldMk cId="4250569590" sldId="301"/>
            <ac:spMk id="12" creationId="{19F9BF86-FE94-4517-B97D-026C7515E589}"/>
          </ac:spMkLst>
        </pc:spChg>
        <pc:picChg chg="add">
          <ac:chgData name="mukul maheshwari" userId="12cb43e2ca5f0d2c" providerId="LiveId" clId="{771D35AD-4715-4301-979B-0CEBFD3D1244}" dt="2026-07-16T02:20:08.913" v="2545" actId="26606"/>
          <ac:picMkLst>
            <pc:docMk/>
            <pc:sldMk cId="4250569590" sldId="301"/>
            <ac:picMk id="7" creationId="{A921C89C-D0ED-B461-06EC-93330262EB90}"/>
          </ac:picMkLst>
        </pc:picChg>
        <pc:cxnChg chg="add">
          <ac:chgData name="mukul maheshwari" userId="12cb43e2ca5f0d2c" providerId="LiveId" clId="{771D35AD-4715-4301-979B-0CEBFD3D1244}" dt="2026-07-16T02:20:08.913" v="2545" actId="26606"/>
          <ac:cxnSpMkLst>
            <pc:docMk/>
            <pc:sldMk cId="4250569590" sldId="301"/>
            <ac:cxnSpMk id="10" creationId="{118E06E4-607B-144B-382B-AD3D06B1EE8C}"/>
          </ac:cxnSpMkLst>
        </pc:cxnChg>
        <pc:cxnChg chg="add">
          <ac:chgData name="mukul maheshwari" userId="12cb43e2ca5f0d2c" providerId="LiveId" clId="{771D35AD-4715-4301-979B-0CEBFD3D1244}" dt="2026-07-16T02:20:08.913" v="2545" actId="26606"/>
          <ac:cxnSpMkLst>
            <pc:docMk/>
            <pc:sldMk cId="4250569590" sldId="301"/>
            <ac:cxnSpMk id="14" creationId="{503FCC9E-47A2-69B7-68E7-7FA95EAD538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80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01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5070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784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49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1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51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823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941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70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530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8724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2" r:id="rId6"/>
    <p:sldLayoutId id="2147483738" r:id="rId7"/>
    <p:sldLayoutId id="2147483739" r:id="rId8"/>
    <p:sldLayoutId id="2147483740" r:id="rId9"/>
    <p:sldLayoutId id="2147483741" r:id="rId10"/>
    <p:sldLayoutId id="214748374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net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35C4BD3-AE96-D26F-4AA5-304F47A7B2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3020" b="739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2DC487-EC5D-7FF5-487C-CCE22F150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Demography and Family planning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5393A-0B21-CB7C-DB01-2B431A11E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anchor="t">
            <a:normAutofit/>
          </a:bodyPr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702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A5B7B-904F-3F7D-2436-7BEBE9AB5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Frequently asked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78313-C4B5-D652-C243-571E4B5A1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>
            <a:normAutofit fontScale="85000" lnSpcReduction="10000"/>
          </a:bodyPr>
          <a:lstStyle/>
          <a:p>
            <a:r>
              <a:rPr lang="en-US" b="1" dirty="0"/>
              <a:t>Long Questions (10 Marks)</a:t>
            </a:r>
          </a:p>
          <a:p>
            <a:pPr lvl="0"/>
            <a:r>
              <a:rPr lang="en-US" dirty="0"/>
              <a:t>Define demography. Discuss demographic cycle. </a:t>
            </a:r>
          </a:p>
          <a:p>
            <a:pPr lvl="0"/>
            <a:r>
              <a:rPr lang="en-US" dirty="0"/>
              <a:t>Explain sources of demographic data in India. </a:t>
            </a:r>
          </a:p>
          <a:p>
            <a:pPr lvl="0"/>
            <a:r>
              <a:rPr lang="en-US" dirty="0"/>
              <a:t>Discuss demographic indicators. </a:t>
            </a:r>
          </a:p>
          <a:p>
            <a:pPr lvl="0"/>
            <a:r>
              <a:rPr lang="en-US" dirty="0"/>
              <a:t>Explain demographic transition and its importance.</a:t>
            </a:r>
          </a:p>
          <a:p>
            <a:endParaRPr lang="en-US" b="1" dirty="0"/>
          </a:p>
          <a:p>
            <a:r>
              <a:rPr lang="en-US" b="1" dirty="0"/>
              <a:t>Short Notes (5 Marks)</a:t>
            </a:r>
          </a:p>
          <a:p>
            <a:pPr lvl="0"/>
            <a:r>
              <a:rPr lang="en-US" dirty="0"/>
              <a:t>Census </a:t>
            </a:r>
          </a:p>
          <a:p>
            <a:pPr lvl="0"/>
            <a:r>
              <a:rPr lang="en-US" dirty="0"/>
              <a:t>Sample Registration System </a:t>
            </a:r>
          </a:p>
          <a:p>
            <a:pPr lvl="0"/>
            <a:r>
              <a:rPr lang="en-US" dirty="0"/>
              <a:t>Civil Registration System </a:t>
            </a:r>
          </a:p>
          <a:p>
            <a:pPr lvl="0"/>
            <a:r>
              <a:rPr lang="en-US" dirty="0"/>
              <a:t>NFHS </a:t>
            </a:r>
          </a:p>
          <a:p>
            <a:pPr lvl="0"/>
            <a:r>
              <a:rPr lang="en-US" dirty="0"/>
              <a:t>Population pyramid </a:t>
            </a:r>
          </a:p>
          <a:p>
            <a:pPr lvl="0"/>
            <a:r>
              <a:rPr lang="en-US" dirty="0"/>
              <a:t>Dependency ratio </a:t>
            </a:r>
          </a:p>
          <a:p>
            <a:pPr lvl="0"/>
            <a:r>
              <a:rPr lang="en-US" dirty="0"/>
              <a:t>Population explosion </a:t>
            </a:r>
          </a:p>
          <a:p>
            <a:r>
              <a:rPr lang="en-US" b="1" dirty="0"/>
              <a:t>Viva Questions</a:t>
            </a:r>
          </a:p>
          <a:p>
            <a:pPr lvl="0"/>
            <a:r>
              <a:rPr lang="en-US" dirty="0"/>
              <a:t>Who conducts Census? </a:t>
            </a:r>
          </a:p>
          <a:p>
            <a:pPr lvl="0"/>
            <a:r>
              <a:rPr lang="en-US" dirty="0"/>
              <a:t>Difference between Census and SRS? </a:t>
            </a:r>
          </a:p>
          <a:p>
            <a:pPr lvl="0"/>
            <a:r>
              <a:rPr lang="en-US" dirty="0"/>
              <a:t>Which survey provides fertility data? </a:t>
            </a:r>
          </a:p>
          <a:p>
            <a:pPr lvl="0"/>
            <a:r>
              <a:rPr lang="en-US" dirty="0"/>
              <a:t>Full form of CRS? </a:t>
            </a:r>
          </a:p>
          <a:p>
            <a:pPr lvl="0"/>
            <a:r>
              <a:rPr lang="en-US" dirty="0"/>
              <a:t>Which survey provides family planning indicators?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261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9C17F-A4C4-C939-4BF3-627350ED5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5A934-3862-E524-953F-6ADAEA9A0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Frequently asked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21A7E-8FF2-3F79-A3AB-FB5D6611B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>
            <a:normAutofit/>
          </a:bodyPr>
          <a:lstStyle/>
          <a:p>
            <a:r>
              <a:rPr lang="en-US" b="1" dirty="0"/>
              <a:t>Long Questions</a:t>
            </a:r>
          </a:p>
          <a:p>
            <a:pPr lvl="0"/>
            <a:r>
              <a:rPr lang="en-US" dirty="0"/>
              <a:t>Explain demographic cycle with suitable diagram. </a:t>
            </a:r>
          </a:p>
          <a:p>
            <a:pPr lvl="0"/>
            <a:r>
              <a:rPr lang="en-US" dirty="0"/>
              <a:t>Discuss demographic transition in India. </a:t>
            </a:r>
          </a:p>
          <a:p>
            <a:pPr lvl="0"/>
            <a:r>
              <a:rPr lang="en-US" dirty="0"/>
              <a:t>Explain demographic dividend. </a:t>
            </a:r>
          </a:p>
          <a:p>
            <a:pPr lvl="0"/>
            <a:r>
              <a:rPr lang="en-US" dirty="0"/>
              <a:t>Describe population trends in India. </a:t>
            </a:r>
          </a:p>
          <a:p>
            <a:r>
              <a:rPr lang="en-US" b="1" dirty="0"/>
              <a:t>Short Notes</a:t>
            </a:r>
          </a:p>
          <a:p>
            <a:pPr lvl="0"/>
            <a:r>
              <a:rPr lang="en-US" dirty="0"/>
              <a:t>Population explosion </a:t>
            </a:r>
          </a:p>
          <a:p>
            <a:pPr lvl="0"/>
            <a:r>
              <a:rPr lang="en-US" dirty="0"/>
              <a:t>Replacement fertility </a:t>
            </a:r>
          </a:p>
          <a:p>
            <a:pPr lvl="0"/>
            <a:r>
              <a:rPr lang="en-US" dirty="0"/>
              <a:t>Population momentum </a:t>
            </a:r>
          </a:p>
          <a:p>
            <a:pPr lvl="0"/>
            <a:r>
              <a:rPr lang="en-US" dirty="0"/>
              <a:t>Demographic dividend </a:t>
            </a:r>
          </a:p>
          <a:p>
            <a:pPr lvl="0"/>
            <a:r>
              <a:rPr lang="en-US" dirty="0"/>
              <a:t>Population stabilization </a:t>
            </a:r>
          </a:p>
          <a:p>
            <a:endParaRPr lang="en-US" dirty="0"/>
          </a:p>
          <a:p>
            <a:r>
              <a:rPr lang="en-US" b="1" dirty="0"/>
              <a:t>Viva</a:t>
            </a:r>
          </a:p>
          <a:p>
            <a:pPr lvl="0"/>
            <a:r>
              <a:rPr lang="en-US" dirty="0"/>
              <a:t>Which stage is India in? </a:t>
            </a:r>
          </a:p>
          <a:p>
            <a:pPr lvl="0"/>
            <a:r>
              <a:rPr lang="en-US" dirty="0"/>
              <a:t>Define replacement fertility. </a:t>
            </a:r>
          </a:p>
          <a:p>
            <a:pPr lvl="0"/>
            <a:r>
              <a:rPr lang="en-US" dirty="0"/>
              <a:t>What is demographic dividend? </a:t>
            </a:r>
          </a:p>
          <a:p>
            <a:pPr lvl="0"/>
            <a:r>
              <a:rPr lang="en-US" dirty="0"/>
              <a:t>Why does population continue to grow after fertility declines?</a:t>
            </a:r>
          </a:p>
        </p:txBody>
      </p:sp>
    </p:spTree>
    <p:extLst>
      <p:ext uri="{BB962C8B-B14F-4D97-AF65-F5344CB8AC3E}">
        <p14:creationId xmlns:p14="http://schemas.microsoft.com/office/powerpoint/2010/main" val="1395589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08237-DC2C-691A-B44C-5489260C3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2F84F-5DB3-0F81-A547-A975812F2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Frequently asked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68E49-AB91-C945-0F0A-6F8F5A20C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>
            <a:normAutofit lnSpcReduction="10000"/>
          </a:bodyPr>
          <a:lstStyle/>
          <a:p>
            <a:r>
              <a:rPr lang="en-US" b="1" dirty="0"/>
              <a:t>Long Questions</a:t>
            </a:r>
          </a:p>
          <a:p>
            <a:pPr lvl="0"/>
            <a:r>
              <a:rPr lang="en-US" dirty="0"/>
              <a:t>Discuss demographic indicators in detail. </a:t>
            </a:r>
          </a:p>
          <a:p>
            <a:pPr lvl="0"/>
            <a:r>
              <a:rPr lang="en-US" dirty="0"/>
              <a:t>Explain vital statistics. </a:t>
            </a:r>
          </a:p>
          <a:p>
            <a:pPr lvl="0"/>
            <a:r>
              <a:rPr lang="en-US" dirty="0"/>
              <a:t>Describe population statistics. </a:t>
            </a:r>
          </a:p>
          <a:p>
            <a:pPr lvl="0"/>
            <a:r>
              <a:rPr lang="en-US" dirty="0"/>
              <a:t>Explain dependency ratio. </a:t>
            </a:r>
            <a:br>
              <a:rPr lang="en-US" dirty="0"/>
            </a:br>
            <a:endParaRPr lang="en-US" dirty="0"/>
          </a:p>
          <a:p>
            <a:pPr lvl="0"/>
            <a:endParaRPr lang="en-US" dirty="0"/>
          </a:p>
          <a:p>
            <a:r>
              <a:rPr lang="en-US" b="1" dirty="0"/>
              <a:t>Short Notes</a:t>
            </a:r>
          </a:p>
          <a:p>
            <a:pPr lvl="0"/>
            <a:r>
              <a:rPr lang="en-US" dirty="0"/>
              <a:t>Sex ratio </a:t>
            </a:r>
          </a:p>
          <a:p>
            <a:pPr lvl="0"/>
            <a:r>
              <a:rPr lang="en-US" dirty="0"/>
              <a:t>Density of population </a:t>
            </a:r>
          </a:p>
          <a:p>
            <a:pPr lvl="0"/>
            <a:r>
              <a:rPr lang="en-US" dirty="0"/>
              <a:t>Dependency ratio </a:t>
            </a:r>
          </a:p>
          <a:p>
            <a:pPr lvl="0"/>
            <a:r>
              <a:rPr lang="en-US" dirty="0"/>
              <a:t>Literacy rate </a:t>
            </a:r>
          </a:p>
          <a:p>
            <a:pPr lvl="0"/>
            <a:r>
              <a:rPr lang="en-US" dirty="0"/>
              <a:t>Population pyramid </a:t>
            </a:r>
          </a:p>
          <a:p>
            <a:pPr lvl="0"/>
            <a:r>
              <a:rPr lang="en-US" dirty="0"/>
              <a:t>Life expectancy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Viva</a:t>
            </a:r>
          </a:p>
          <a:p>
            <a:pPr lvl="0"/>
            <a:r>
              <a:rPr lang="en-US" dirty="0"/>
              <a:t>Define density. </a:t>
            </a:r>
          </a:p>
          <a:p>
            <a:pPr lvl="0"/>
            <a:r>
              <a:rPr lang="en-US" dirty="0"/>
              <a:t>Formula of dependency ratio. </a:t>
            </a:r>
          </a:p>
          <a:p>
            <a:pPr lvl="0"/>
            <a:r>
              <a:rPr lang="en-US" dirty="0"/>
              <a:t>Sex ratio definition. </a:t>
            </a:r>
          </a:p>
          <a:p>
            <a:pPr lvl="0"/>
            <a:r>
              <a:rPr lang="en-US" dirty="0"/>
              <a:t>Difference between crude and effective literacy.</a:t>
            </a:r>
          </a:p>
        </p:txBody>
      </p:sp>
    </p:spTree>
    <p:extLst>
      <p:ext uri="{BB962C8B-B14F-4D97-AF65-F5344CB8AC3E}">
        <p14:creationId xmlns:p14="http://schemas.microsoft.com/office/powerpoint/2010/main" val="2554117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071CC-B0A6-48F7-5FD5-231A22104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AA358-D224-785F-45A0-1C2637AE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Frequently asked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07BE3-0295-746D-4010-FCDA00BD4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>
            <a:normAutofit fontScale="92500"/>
          </a:bodyPr>
          <a:lstStyle/>
          <a:p>
            <a:r>
              <a:rPr lang="en-US" b="1" dirty="0"/>
              <a:t>Long Questions</a:t>
            </a:r>
          </a:p>
          <a:p>
            <a:pPr lvl="0"/>
            <a:r>
              <a:rPr lang="en-US" dirty="0"/>
              <a:t>Discuss family planning </a:t>
            </a:r>
            <a:r>
              <a:rPr lang="en-US" dirty="0" err="1"/>
              <a:t>programme</a:t>
            </a:r>
            <a:r>
              <a:rPr lang="en-US" dirty="0"/>
              <a:t> in India. </a:t>
            </a:r>
          </a:p>
          <a:p>
            <a:pPr lvl="0"/>
            <a:r>
              <a:rPr lang="en-US" dirty="0"/>
              <a:t>Classify contraceptive methods. </a:t>
            </a:r>
          </a:p>
          <a:p>
            <a:pPr lvl="0"/>
            <a:r>
              <a:rPr lang="en-US" dirty="0"/>
              <a:t>Explain spacing and limiting methods.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Short Notes</a:t>
            </a:r>
          </a:p>
          <a:p>
            <a:pPr lvl="0"/>
            <a:r>
              <a:rPr lang="en-US" dirty="0"/>
              <a:t>Family planning </a:t>
            </a:r>
          </a:p>
          <a:p>
            <a:pPr lvl="0"/>
            <a:r>
              <a:rPr lang="en-US" dirty="0"/>
              <a:t>Contraceptive prevalence rate </a:t>
            </a:r>
          </a:p>
          <a:p>
            <a:pPr lvl="0"/>
            <a:r>
              <a:rPr lang="en-US" dirty="0"/>
              <a:t>Antara </a:t>
            </a:r>
          </a:p>
          <a:p>
            <a:pPr lvl="0"/>
            <a:r>
              <a:rPr lang="en-US" dirty="0"/>
              <a:t>Chhaya </a:t>
            </a:r>
          </a:p>
          <a:p>
            <a:pPr lvl="0"/>
            <a:r>
              <a:rPr lang="en-US" dirty="0"/>
              <a:t>PPIUCD </a:t>
            </a:r>
          </a:p>
          <a:p>
            <a:pPr lvl="0"/>
            <a:r>
              <a:rPr lang="en-US" dirty="0"/>
              <a:t>Emergency contraception 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Viva</a:t>
            </a:r>
          </a:p>
          <a:p>
            <a:pPr lvl="0"/>
            <a:r>
              <a:rPr lang="en-US" dirty="0"/>
              <a:t>What is the cafeteria approach? </a:t>
            </a:r>
          </a:p>
          <a:p>
            <a:pPr lvl="0"/>
            <a:r>
              <a:rPr lang="en-US" dirty="0"/>
              <a:t>Name temporary contraceptive methods. </a:t>
            </a:r>
          </a:p>
          <a:p>
            <a:pPr lvl="0"/>
            <a:r>
              <a:rPr lang="en-US" dirty="0"/>
              <a:t>Which methods are suitable during breastfeeding? </a:t>
            </a:r>
          </a:p>
          <a:p>
            <a:pPr lvl="0"/>
            <a:r>
              <a:rPr lang="en-US" dirty="0"/>
              <a:t>What is the mechanism of IUCD?</a:t>
            </a:r>
          </a:p>
        </p:txBody>
      </p:sp>
    </p:spTree>
    <p:extLst>
      <p:ext uri="{BB962C8B-B14F-4D97-AF65-F5344CB8AC3E}">
        <p14:creationId xmlns:p14="http://schemas.microsoft.com/office/powerpoint/2010/main" val="2542379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95901-6E9E-B454-7F0C-EDD291A8A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258CE-73B9-512A-CC86-CAA71B0C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Frequently asked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EEC9E-1087-E284-BF06-BA7A2ACA9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>
            <a:normAutofit fontScale="92500" lnSpcReduction="10000"/>
          </a:bodyPr>
          <a:lstStyle/>
          <a:p>
            <a:r>
              <a:rPr lang="en-US" b="1" dirty="0"/>
              <a:t>Long Questions</a:t>
            </a:r>
          </a:p>
          <a:p>
            <a:pPr lvl="0"/>
            <a:r>
              <a:rPr lang="en-US" dirty="0"/>
              <a:t>Discuss MTP Act. </a:t>
            </a:r>
          </a:p>
          <a:p>
            <a:pPr lvl="0"/>
            <a:r>
              <a:rPr lang="en-US" dirty="0"/>
              <a:t>Explain MTP Amendment Act 2021. </a:t>
            </a:r>
          </a:p>
          <a:p>
            <a:pPr lvl="0"/>
            <a:r>
              <a:rPr lang="en-US" dirty="0"/>
              <a:t>Discuss National Population Policy 2000. </a:t>
            </a:r>
          </a:p>
          <a:p>
            <a:pPr lvl="0"/>
            <a:r>
              <a:rPr lang="en-US" dirty="0"/>
              <a:t>Explain PCPNDT Act.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Short Notes</a:t>
            </a:r>
          </a:p>
          <a:p>
            <a:pPr lvl="0"/>
            <a:r>
              <a:rPr lang="en-US" dirty="0"/>
              <a:t>MTP </a:t>
            </a:r>
          </a:p>
          <a:p>
            <a:pPr lvl="0"/>
            <a:r>
              <a:rPr lang="en-US" dirty="0"/>
              <a:t>Medical abortion </a:t>
            </a:r>
          </a:p>
          <a:p>
            <a:pPr lvl="0"/>
            <a:r>
              <a:rPr lang="en-US" dirty="0"/>
              <a:t>PCPNDT Act </a:t>
            </a:r>
          </a:p>
          <a:p>
            <a:pPr lvl="0"/>
            <a:r>
              <a:rPr lang="en-US" dirty="0"/>
              <a:t>Consent for MTP </a:t>
            </a:r>
          </a:p>
          <a:p>
            <a:pPr lvl="0"/>
            <a:r>
              <a:rPr lang="en-US" dirty="0"/>
              <a:t>Confidentiality </a:t>
            </a:r>
          </a:p>
          <a:p>
            <a:pPr lvl="0"/>
            <a:r>
              <a:rPr lang="en-US" dirty="0"/>
              <a:t>Medical Board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b="1" dirty="0"/>
              <a:t>Viva</a:t>
            </a:r>
          </a:p>
          <a:p>
            <a:pPr lvl="0"/>
            <a:r>
              <a:rPr lang="en-US" dirty="0"/>
              <a:t>Maximum gestational age? </a:t>
            </a:r>
          </a:p>
          <a:p>
            <a:pPr lvl="0"/>
            <a:r>
              <a:rPr lang="en-US" dirty="0"/>
              <a:t>Who can give consent? </a:t>
            </a:r>
          </a:p>
          <a:p>
            <a:pPr lvl="0"/>
            <a:r>
              <a:rPr lang="en-US" dirty="0"/>
              <a:t>Is husband's consent required? </a:t>
            </a:r>
          </a:p>
          <a:p>
            <a:pPr lvl="0"/>
            <a:r>
              <a:rPr lang="en-US" dirty="0"/>
              <a:t>Is MTP a family planning method?</a:t>
            </a:r>
          </a:p>
        </p:txBody>
      </p:sp>
    </p:spTree>
    <p:extLst>
      <p:ext uri="{BB962C8B-B14F-4D97-AF65-F5344CB8AC3E}">
        <p14:creationId xmlns:p14="http://schemas.microsoft.com/office/powerpoint/2010/main" val="87132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FC279-A84E-9FF7-B423-B77A4A36D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569E7-5155-C7FA-1345-B46B33C54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44436"/>
            <a:ext cx="10890928" cy="3955196"/>
          </a:xfrm>
        </p:spPr>
        <p:txBody>
          <a:bodyPr>
            <a:normAutofit/>
          </a:bodyPr>
          <a:lstStyle/>
          <a:p>
            <a:r>
              <a:rPr lang="en-US" sz="2800" dirty="0"/>
              <a:t>Scientific study of human population.</a:t>
            </a:r>
          </a:p>
          <a:p>
            <a:r>
              <a:rPr lang="en-US" sz="2800" dirty="0"/>
              <a:t>It focuses on: (a) changes in population size (growth or decline); </a:t>
            </a:r>
          </a:p>
          <a:p>
            <a:pPr lvl="1"/>
            <a:r>
              <a:rPr lang="en-US" sz="2400" dirty="0"/>
              <a:t>(b) the composition of the population; </a:t>
            </a:r>
          </a:p>
          <a:p>
            <a:pPr lvl="1"/>
            <a:r>
              <a:rPr lang="en-US" sz="2400" dirty="0"/>
              <a:t>(c) the distribution of population in space. </a:t>
            </a:r>
          </a:p>
          <a:p>
            <a:r>
              <a:rPr lang="en-US" sz="2800" dirty="0"/>
              <a:t>It deals with five “demographic processes”</a:t>
            </a:r>
          </a:p>
          <a:p>
            <a:pPr lvl="1"/>
            <a:r>
              <a:rPr lang="en-US" sz="2400" dirty="0">
                <a:solidFill>
                  <a:schemeClr val="accent2"/>
                </a:solidFill>
              </a:rPr>
              <a:t>Fertility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mortality</a:t>
            </a:r>
            <a:r>
              <a:rPr lang="en-US" sz="2400" dirty="0"/>
              <a:t>, </a:t>
            </a:r>
            <a:r>
              <a:rPr lang="en-US" sz="24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marriage</a:t>
            </a:r>
            <a:r>
              <a:rPr lang="en-US" sz="2400" dirty="0"/>
              <a:t>, migration and social mobility</a:t>
            </a:r>
          </a:p>
        </p:txBody>
      </p:sp>
    </p:spTree>
    <p:extLst>
      <p:ext uri="{BB962C8B-B14F-4D97-AF65-F5344CB8AC3E}">
        <p14:creationId xmlns:p14="http://schemas.microsoft.com/office/powerpoint/2010/main" val="2751078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643F55-EC63-890E-3865-7DBAF310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Importance of demography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F7A2F-D361-5384-126A-82ACE2FF5D9C}"/>
              </a:ext>
            </a:extLst>
          </p:cNvPr>
          <p:cNvSpPr txBox="1"/>
          <p:nvPr/>
        </p:nvSpPr>
        <p:spPr>
          <a:xfrm>
            <a:off x="6915150" y="2256287"/>
            <a:ext cx="4563618" cy="376045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400" b="1" dirty="0"/>
              <a:t>Applications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400" dirty="0"/>
              <a:t>Assess population health needs 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400" dirty="0"/>
              <a:t>Estimate disease burden 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400" dirty="0"/>
              <a:t>Plan health infrastructure 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400" dirty="0"/>
              <a:t>Monitor national health </a:t>
            </a:r>
            <a:r>
              <a:rPr lang="en-US" sz="2400" dirty="0" err="1"/>
              <a:t>programmes</a:t>
            </a:r>
            <a:r>
              <a:rPr lang="en-US" sz="2400" dirty="0"/>
              <a:t> 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400" dirty="0"/>
              <a:t>Allocate manpower and resources 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400" dirty="0"/>
              <a:t>Evaluate health interventions 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400" dirty="0"/>
              <a:t>Support policy formulation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AD97EA6-9EDD-FD4A-8A8E-8FF0A44449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8587042"/>
              </p:ext>
            </p:extLst>
          </p:nvPr>
        </p:nvGraphicFramePr>
        <p:xfrm>
          <a:off x="713232" y="2256287"/>
          <a:ext cx="5648194" cy="3275976"/>
        </p:xfrm>
        <a:graphic>
          <a:graphicData uri="http://schemas.openxmlformats.org/drawingml/2006/table">
            <a:tbl>
              <a:tblPr firstRow="1" firstCol="1">
                <a:tableStyleId>{793D81CF-94F2-401A-BA57-92F5A7B2D0C5}</a:tableStyleId>
              </a:tblPr>
              <a:tblGrid>
                <a:gridCol w="2390863">
                  <a:extLst>
                    <a:ext uri="{9D8B030D-6E8A-4147-A177-3AD203B41FA5}">
                      <a16:colId xmlns:a16="http://schemas.microsoft.com/office/drawing/2014/main" val="3861779692"/>
                    </a:ext>
                  </a:extLst>
                </a:gridCol>
                <a:gridCol w="3257331">
                  <a:extLst>
                    <a:ext uri="{9D8B030D-6E8A-4147-A177-3AD203B41FA5}">
                      <a16:colId xmlns:a16="http://schemas.microsoft.com/office/drawing/2014/main" val="3893732411"/>
                    </a:ext>
                  </a:extLst>
                </a:gridCol>
              </a:tblGrid>
              <a:tr h="5459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u="none" strike="noStrike">
                          <a:effectLst/>
                        </a:rPr>
                        <a:t>Programme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738" marR="105738" marT="52869" marB="5286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u="none" strike="noStrike">
                          <a:effectLst/>
                        </a:rPr>
                        <a:t>Demographic Data Used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738" marR="105738" marT="52869" marB="52869" anchor="ctr"/>
                </a:tc>
                <a:extLst>
                  <a:ext uri="{0D108BD9-81ED-4DB2-BD59-A6C34878D82A}">
                    <a16:rowId xmlns:a16="http://schemas.microsoft.com/office/drawing/2014/main" val="2518719627"/>
                  </a:ext>
                </a:extLst>
              </a:tr>
              <a:tr h="5459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u="none" strike="noStrike">
                          <a:effectLst/>
                        </a:rPr>
                        <a:t>UIP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738" marR="105738" marT="52869" marB="5286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u="none" strike="noStrike">
                          <a:effectLst/>
                        </a:rPr>
                        <a:t>Population &lt;1 year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738" marR="105738" marT="52869" marB="52869" anchor="ctr"/>
                </a:tc>
                <a:extLst>
                  <a:ext uri="{0D108BD9-81ED-4DB2-BD59-A6C34878D82A}">
                    <a16:rowId xmlns:a16="http://schemas.microsoft.com/office/drawing/2014/main" val="3634002625"/>
                  </a:ext>
                </a:extLst>
              </a:tr>
              <a:tr h="5459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u="none" strike="noStrike">
                          <a:effectLst/>
                        </a:rPr>
                        <a:t>RCH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738" marR="105738" marT="52869" marB="5286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u="none" strike="noStrike">
                          <a:effectLst/>
                        </a:rPr>
                        <a:t>Women (15–49 years)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738" marR="105738" marT="52869" marB="52869" anchor="ctr"/>
                </a:tc>
                <a:extLst>
                  <a:ext uri="{0D108BD9-81ED-4DB2-BD59-A6C34878D82A}">
                    <a16:rowId xmlns:a16="http://schemas.microsoft.com/office/drawing/2014/main" val="133447894"/>
                  </a:ext>
                </a:extLst>
              </a:tr>
              <a:tr h="5459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u="none" strike="noStrike">
                          <a:effectLst/>
                        </a:rPr>
                        <a:t>TB Programme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738" marR="105738" marT="52869" marB="5286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u="none" strike="noStrike">
                          <a:effectLst/>
                        </a:rPr>
                        <a:t>Population denominator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738" marR="105738" marT="52869" marB="52869" anchor="ctr"/>
                </a:tc>
                <a:extLst>
                  <a:ext uri="{0D108BD9-81ED-4DB2-BD59-A6C34878D82A}">
                    <a16:rowId xmlns:a16="http://schemas.microsoft.com/office/drawing/2014/main" val="805381884"/>
                  </a:ext>
                </a:extLst>
              </a:tr>
              <a:tr h="5459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u="none" strike="noStrike">
                          <a:effectLst/>
                        </a:rPr>
                        <a:t>Family Planning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738" marR="105738" marT="52869" marB="5286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u="none" strike="noStrike">
                          <a:effectLst/>
                        </a:rPr>
                        <a:t>Eligible couples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738" marR="105738" marT="52869" marB="52869" anchor="ctr"/>
                </a:tc>
                <a:extLst>
                  <a:ext uri="{0D108BD9-81ED-4DB2-BD59-A6C34878D82A}">
                    <a16:rowId xmlns:a16="http://schemas.microsoft.com/office/drawing/2014/main" val="2889803754"/>
                  </a:ext>
                </a:extLst>
              </a:tr>
              <a:tr h="54599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u="none" strike="noStrike">
                          <a:effectLst/>
                        </a:rPr>
                        <a:t>NCD Programme</a:t>
                      </a:r>
                      <a:endParaRPr lang="en-US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738" marR="105738" marT="52869" marB="52869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100" b="0" u="none" strike="noStrike" dirty="0">
                          <a:effectLst/>
                        </a:rPr>
                        <a:t>Adult population</a:t>
                      </a:r>
                      <a:endParaRPr lang="en-US" sz="2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738" marR="105738" marT="52869" marB="52869" anchor="ctr"/>
                </a:tc>
                <a:extLst>
                  <a:ext uri="{0D108BD9-81ED-4DB2-BD59-A6C34878D82A}">
                    <a16:rowId xmlns:a16="http://schemas.microsoft.com/office/drawing/2014/main" val="3595303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9892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B0053-4E7E-34F6-CF4F-96713FDCF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157E0-FD8E-29C2-A2DD-0C65CEA51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Major Sources</a:t>
            </a:r>
          </a:p>
          <a:p>
            <a:pPr lvl="1"/>
            <a:r>
              <a:rPr lang="en-US" dirty="0"/>
              <a:t>Population Census </a:t>
            </a:r>
          </a:p>
          <a:p>
            <a:pPr lvl="1"/>
            <a:r>
              <a:rPr lang="en-US" dirty="0"/>
              <a:t>Civil Registration System (CRS) </a:t>
            </a:r>
          </a:p>
          <a:p>
            <a:pPr lvl="1"/>
            <a:r>
              <a:rPr lang="en-US" dirty="0"/>
              <a:t>Sample Registration System (SRS) – best source of annual birth rate and death rate</a:t>
            </a:r>
          </a:p>
          <a:p>
            <a:pPr lvl="1"/>
            <a:r>
              <a:rPr lang="en-US" dirty="0"/>
              <a:t>National Family Health Survey (NFHS) </a:t>
            </a:r>
          </a:p>
          <a:p>
            <a:pPr lvl="1"/>
            <a:r>
              <a:rPr lang="en-US" dirty="0"/>
              <a:t>Health Management Information System (HMIS) </a:t>
            </a:r>
          </a:p>
          <a:p>
            <a:pPr lvl="1"/>
            <a:r>
              <a:rPr lang="en-US" dirty="0"/>
              <a:t>National Sample Survey (NSS) </a:t>
            </a:r>
          </a:p>
          <a:p>
            <a:pPr lvl="1"/>
            <a:r>
              <a:rPr lang="en-US" dirty="0"/>
              <a:t>Population projections (Technical Group/NITI Aayog)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776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D6A26-4E65-193D-9DA7-E56B2192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Comparison between sources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6C14A9-A369-33A0-C4C5-C79A47DFFA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9575303"/>
              </p:ext>
            </p:extLst>
          </p:nvPr>
        </p:nvGraphicFramePr>
        <p:xfrm>
          <a:off x="640079" y="2563336"/>
          <a:ext cx="10890931" cy="3730296"/>
        </p:xfrm>
        <a:graphic>
          <a:graphicData uri="http://schemas.openxmlformats.org/drawingml/2006/table">
            <a:tbl>
              <a:tblPr firstRow="1" firstCol="1">
                <a:tableStyleId>{793D81CF-94F2-401A-BA57-92F5A7B2D0C5}</a:tableStyleId>
              </a:tblPr>
              <a:tblGrid>
                <a:gridCol w="1806402">
                  <a:extLst>
                    <a:ext uri="{9D8B030D-6E8A-4147-A177-3AD203B41FA5}">
                      <a16:colId xmlns:a16="http://schemas.microsoft.com/office/drawing/2014/main" val="2091810041"/>
                    </a:ext>
                  </a:extLst>
                </a:gridCol>
                <a:gridCol w="3013706">
                  <a:extLst>
                    <a:ext uri="{9D8B030D-6E8A-4147-A177-3AD203B41FA5}">
                      <a16:colId xmlns:a16="http://schemas.microsoft.com/office/drawing/2014/main" val="2894977185"/>
                    </a:ext>
                  </a:extLst>
                </a:gridCol>
                <a:gridCol w="3052262">
                  <a:extLst>
                    <a:ext uri="{9D8B030D-6E8A-4147-A177-3AD203B41FA5}">
                      <a16:colId xmlns:a16="http://schemas.microsoft.com/office/drawing/2014/main" val="13555549"/>
                    </a:ext>
                  </a:extLst>
                </a:gridCol>
                <a:gridCol w="3018561">
                  <a:extLst>
                    <a:ext uri="{9D8B030D-6E8A-4147-A177-3AD203B41FA5}">
                      <a16:colId xmlns:a16="http://schemas.microsoft.com/office/drawing/2014/main" val="366987235"/>
                    </a:ext>
                  </a:extLst>
                </a:gridCol>
              </a:tblGrid>
              <a:tr h="446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Source</a:t>
                      </a:r>
                    </a:p>
                  </a:txBody>
                  <a:tcPr marL="101367" marR="101367" marT="50683" marB="50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Frequency</a:t>
                      </a:r>
                    </a:p>
                  </a:txBody>
                  <a:tcPr marL="101367" marR="101367" marT="50683" marB="50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Best Used For</a:t>
                      </a:r>
                    </a:p>
                  </a:txBody>
                  <a:tcPr marL="101367" marR="101367" marT="50683" marB="50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Limitation</a:t>
                      </a:r>
                    </a:p>
                  </a:txBody>
                  <a:tcPr marL="101367" marR="101367" marT="50683" marB="50683" anchor="ctr"/>
                </a:tc>
                <a:extLst>
                  <a:ext uri="{0D108BD9-81ED-4DB2-BD59-A6C34878D82A}">
                    <a16:rowId xmlns:a16="http://schemas.microsoft.com/office/drawing/2014/main" val="4037444899"/>
                  </a:ext>
                </a:extLst>
              </a:tr>
              <a:tr h="446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Census</a:t>
                      </a:r>
                    </a:p>
                  </a:txBody>
                  <a:tcPr marL="101367" marR="101367" marT="50683" marB="50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Every 10 years</a:t>
                      </a:r>
                    </a:p>
                  </a:txBody>
                  <a:tcPr marL="101367" marR="101367" marT="50683" marB="50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Population count</a:t>
                      </a:r>
                    </a:p>
                  </a:txBody>
                  <a:tcPr marL="101367" marR="101367" marT="50683" marB="50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Infrequent</a:t>
                      </a:r>
                    </a:p>
                  </a:txBody>
                  <a:tcPr marL="101367" marR="101367" marT="50683" marB="50683" anchor="ctr"/>
                </a:tc>
                <a:extLst>
                  <a:ext uri="{0D108BD9-81ED-4DB2-BD59-A6C34878D82A}">
                    <a16:rowId xmlns:a16="http://schemas.microsoft.com/office/drawing/2014/main" val="1246997172"/>
                  </a:ext>
                </a:extLst>
              </a:tr>
              <a:tr h="750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CRS</a:t>
                      </a:r>
                    </a:p>
                  </a:txBody>
                  <a:tcPr marL="101367" marR="101367" marT="50683" marB="50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Continuous</a:t>
                      </a:r>
                    </a:p>
                  </a:txBody>
                  <a:tcPr marL="101367" marR="101367" marT="50683" marB="50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Legal registration</a:t>
                      </a:r>
                    </a:p>
                  </a:txBody>
                  <a:tcPr marL="101367" marR="101367" marT="50683" marB="50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Incomplete registration in some areas</a:t>
                      </a:r>
                    </a:p>
                  </a:txBody>
                  <a:tcPr marL="101367" marR="101367" marT="50683" marB="50683" anchor="ctr"/>
                </a:tc>
                <a:extLst>
                  <a:ext uri="{0D108BD9-81ED-4DB2-BD59-A6C34878D82A}">
                    <a16:rowId xmlns:a16="http://schemas.microsoft.com/office/drawing/2014/main" val="1819835677"/>
                  </a:ext>
                </a:extLst>
              </a:tr>
              <a:tr h="446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SRS</a:t>
                      </a:r>
                    </a:p>
                  </a:txBody>
                  <a:tcPr marL="101367" marR="101367" marT="50683" marB="50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Continuous</a:t>
                      </a:r>
                    </a:p>
                  </a:txBody>
                  <a:tcPr marL="101367" marR="101367" marT="50683" marB="50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Birth &amp; death rates</a:t>
                      </a:r>
                    </a:p>
                  </a:txBody>
                  <a:tcPr marL="101367" marR="101367" marT="50683" marB="50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Sample-based</a:t>
                      </a:r>
                    </a:p>
                  </a:txBody>
                  <a:tcPr marL="101367" marR="101367" marT="50683" marB="50683" anchor="ctr"/>
                </a:tc>
                <a:extLst>
                  <a:ext uri="{0D108BD9-81ED-4DB2-BD59-A6C34878D82A}">
                    <a16:rowId xmlns:a16="http://schemas.microsoft.com/office/drawing/2014/main" val="171211891"/>
                  </a:ext>
                </a:extLst>
              </a:tr>
              <a:tr h="446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NFHS</a:t>
                      </a:r>
                    </a:p>
                  </a:txBody>
                  <a:tcPr marL="101367" marR="101367" marT="50683" marB="50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Periodic</a:t>
                      </a:r>
                    </a:p>
                  </a:txBody>
                  <a:tcPr marL="101367" marR="101367" marT="50683" marB="50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Fertility, health, nutrition</a:t>
                      </a:r>
                    </a:p>
                  </a:txBody>
                  <a:tcPr marL="101367" marR="101367" marT="50683" marB="50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Survey-based</a:t>
                      </a:r>
                    </a:p>
                  </a:txBody>
                  <a:tcPr marL="101367" marR="101367" marT="50683" marB="50683" anchor="ctr"/>
                </a:tc>
                <a:extLst>
                  <a:ext uri="{0D108BD9-81ED-4DB2-BD59-A6C34878D82A}">
                    <a16:rowId xmlns:a16="http://schemas.microsoft.com/office/drawing/2014/main" val="2206375503"/>
                  </a:ext>
                </a:extLst>
              </a:tr>
              <a:tr h="446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HMIS</a:t>
                      </a:r>
                    </a:p>
                  </a:txBody>
                  <a:tcPr marL="101367" marR="101367" marT="50683" marB="50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Continuous</a:t>
                      </a:r>
                    </a:p>
                  </a:txBody>
                  <a:tcPr marL="101367" marR="101367" marT="50683" marB="50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Health service statistics</a:t>
                      </a:r>
                    </a:p>
                  </a:txBody>
                  <a:tcPr marL="101367" marR="101367" marT="50683" marB="50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Facility-based</a:t>
                      </a:r>
                    </a:p>
                  </a:txBody>
                  <a:tcPr marL="101367" marR="101367" marT="50683" marB="50683" anchor="ctr"/>
                </a:tc>
                <a:extLst>
                  <a:ext uri="{0D108BD9-81ED-4DB2-BD59-A6C34878D82A}">
                    <a16:rowId xmlns:a16="http://schemas.microsoft.com/office/drawing/2014/main" val="1747584677"/>
                  </a:ext>
                </a:extLst>
              </a:tr>
              <a:tr h="750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NSS</a:t>
                      </a:r>
                    </a:p>
                  </a:txBody>
                  <a:tcPr marL="101367" marR="101367" marT="50683" marB="50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Periodic</a:t>
                      </a:r>
                    </a:p>
                  </a:txBody>
                  <a:tcPr marL="101367" marR="101367" marT="50683" marB="50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Socio-economic indicators</a:t>
                      </a:r>
                    </a:p>
                  </a:txBody>
                  <a:tcPr marL="101367" marR="101367" marT="50683" marB="5068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Sample survey</a:t>
                      </a:r>
                    </a:p>
                  </a:txBody>
                  <a:tcPr marL="101367" marR="101367" marT="50683" marB="50683" anchor="ctr"/>
                </a:tc>
                <a:extLst>
                  <a:ext uri="{0D108BD9-81ED-4DB2-BD59-A6C34878D82A}">
                    <a16:rowId xmlns:a16="http://schemas.microsoft.com/office/drawing/2014/main" val="3390237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2755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DD68B-FEDE-B979-FF49-E5C628B10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Demographic transition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F586F-E0F4-377D-A7D1-05C119258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Demographic Transition Theory explains how populations change from high fertility and high mortality to low fertility and low mortality with socioeconomic development.</a:t>
            </a:r>
          </a:p>
          <a:p>
            <a:r>
              <a:rPr lang="en-US" dirty="0"/>
              <a:t>High Birth Rate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Death Rate Falls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Birth Rate Falls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Population Stabilizes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Population Ages</a:t>
            </a:r>
          </a:p>
        </p:txBody>
      </p:sp>
    </p:spTree>
    <p:extLst>
      <p:ext uri="{BB962C8B-B14F-4D97-AF65-F5344CB8AC3E}">
        <p14:creationId xmlns:p14="http://schemas.microsoft.com/office/powerpoint/2010/main" val="2610057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B3713D-5003-26FB-A859-76D282B69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442" y="4474103"/>
            <a:ext cx="7031117" cy="93390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/>
              <a:t>Summary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3FCC9E-47A2-69B7-68E7-7FA95EAD5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1680" y="5662526"/>
            <a:ext cx="548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F48899-5DDA-0FE5-A8BB-135661784B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2174590"/>
              </p:ext>
            </p:extLst>
          </p:nvPr>
        </p:nvGraphicFramePr>
        <p:xfrm>
          <a:off x="2972232" y="966771"/>
          <a:ext cx="6247538" cy="2784641"/>
        </p:xfrm>
        <a:graphic>
          <a:graphicData uri="http://schemas.openxmlformats.org/drawingml/2006/table">
            <a:tbl>
              <a:tblPr firstRow="1" firstCol="1">
                <a:noFill/>
                <a:tableStyleId>{B301B821-A1FF-4177-AEE7-76D212191A09}</a:tableStyleId>
              </a:tblPr>
              <a:tblGrid>
                <a:gridCol w="1026615">
                  <a:extLst>
                    <a:ext uri="{9D8B030D-6E8A-4147-A177-3AD203B41FA5}">
                      <a16:colId xmlns:a16="http://schemas.microsoft.com/office/drawing/2014/main" val="2865878557"/>
                    </a:ext>
                  </a:extLst>
                </a:gridCol>
                <a:gridCol w="1659988">
                  <a:extLst>
                    <a:ext uri="{9D8B030D-6E8A-4147-A177-3AD203B41FA5}">
                      <a16:colId xmlns:a16="http://schemas.microsoft.com/office/drawing/2014/main" val="1875483216"/>
                    </a:ext>
                  </a:extLst>
                </a:gridCol>
                <a:gridCol w="1788499">
                  <a:extLst>
                    <a:ext uri="{9D8B030D-6E8A-4147-A177-3AD203B41FA5}">
                      <a16:colId xmlns:a16="http://schemas.microsoft.com/office/drawing/2014/main" val="632351835"/>
                    </a:ext>
                  </a:extLst>
                </a:gridCol>
                <a:gridCol w="1772436">
                  <a:extLst>
                    <a:ext uri="{9D8B030D-6E8A-4147-A177-3AD203B41FA5}">
                      <a16:colId xmlns:a16="http://schemas.microsoft.com/office/drawing/2014/main" val="3482395020"/>
                    </a:ext>
                  </a:extLst>
                </a:gridCol>
              </a:tblGrid>
              <a:tr h="5375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cap="none" spc="30">
                          <a:solidFill>
                            <a:schemeClr val="tx1"/>
                          </a:solidFill>
                        </a:rPr>
                        <a:t>Stage</a:t>
                      </a:r>
                    </a:p>
                  </a:txBody>
                  <a:tcPr marL="0" marR="13218" marT="66091" marB="6609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cap="none" spc="30">
                          <a:solidFill>
                            <a:schemeClr val="tx1"/>
                          </a:solidFill>
                        </a:rPr>
                        <a:t>Birth Rate</a:t>
                      </a:r>
                    </a:p>
                  </a:txBody>
                  <a:tcPr marL="0" marR="13218" marT="66091" marB="6609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cap="none" spc="30">
                          <a:solidFill>
                            <a:schemeClr val="tx1"/>
                          </a:solidFill>
                        </a:rPr>
                        <a:t>Death Rate</a:t>
                      </a:r>
                    </a:p>
                  </a:txBody>
                  <a:tcPr marL="0" marR="13218" marT="66091" marB="6609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300" b="1" cap="none" spc="30">
                          <a:solidFill>
                            <a:schemeClr val="tx1"/>
                          </a:solidFill>
                        </a:rPr>
                        <a:t>Population</a:t>
                      </a:r>
                    </a:p>
                  </a:txBody>
                  <a:tcPr marL="0" marR="13218" marT="66091" marB="66091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50985"/>
                  </a:ext>
                </a:extLst>
              </a:tr>
              <a:tr h="449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I</a:t>
                      </a:r>
                    </a:p>
                  </a:txBody>
                  <a:tcPr marL="0" marR="132182" marT="66091" marB="660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0" marR="132182" marT="66091" marB="660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0" marR="132182" marT="66091" marB="660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Stable</a:t>
                      </a:r>
                    </a:p>
                  </a:txBody>
                  <a:tcPr marL="0" marR="132182" marT="66091" marB="660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8492205"/>
                  </a:ext>
                </a:extLst>
              </a:tr>
              <a:tr h="449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II</a:t>
                      </a:r>
                    </a:p>
                  </a:txBody>
                  <a:tcPr marL="0" marR="132182" marT="66091" marB="660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0" marR="132182" marT="66091" marB="660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Falling</a:t>
                      </a:r>
                    </a:p>
                  </a:txBody>
                  <a:tcPr marL="0" marR="132182" marT="66091" marB="660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Rapid increase</a:t>
                      </a:r>
                    </a:p>
                  </a:txBody>
                  <a:tcPr marL="0" marR="132182" marT="66091" marB="660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776497"/>
                  </a:ext>
                </a:extLst>
              </a:tr>
              <a:tr h="449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III</a:t>
                      </a:r>
                    </a:p>
                  </a:txBody>
                  <a:tcPr marL="0" marR="132182" marT="66091" marB="660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Falling</a:t>
                      </a:r>
                    </a:p>
                  </a:txBody>
                  <a:tcPr marL="0" marR="132182" marT="66091" marB="660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0" marR="132182" marT="66091" marB="660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Increasing</a:t>
                      </a:r>
                    </a:p>
                  </a:txBody>
                  <a:tcPr marL="0" marR="132182" marT="66091" marB="660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774811"/>
                  </a:ext>
                </a:extLst>
              </a:tr>
              <a:tr h="449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IV</a:t>
                      </a:r>
                    </a:p>
                  </a:txBody>
                  <a:tcPr marL="0" marR="132182" marT="66091" marB="660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0" marR="132182" marT="66091" marB="660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0" marR="132182" marT="66091" marB="660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Stable</a:t>
                      </a:r>
                    </a:p>
                  </a:txBody>
                  <a:tcPr marL="0" marR="132182" marT="66091" marB="660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435463"/>
                  </a:ext>
                </a:extLst>
              </a:tr>
              <a:tr h="4494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cap="none" spc="0">
                          <a:solidFill>
                            <a:schemeClr val="tx1"/>
                          </a:solidFill>
                        </a:rPr>
                        <a:t>V</a:t>
                      </a:r>
                    </a:p>
                  </a:txBody>
                  <a:tcPr marL="0" marR="132182" marT="66091" marB="660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Very Low</a:t>
                      </a:r>
                    </a:p>
                  </a:txBody>
                  <a:tcPr marL="0" marR="132182" marT="66091" marB="660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marL="0" marR="132182" marT="66091" marB="660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cap="none" spc="0">
                          <a:solidFill>
                            <a:schemeClr val="tx1"/>
                          </a:solidFill>
                        </a:rPr>
                        <a:t>Declining</a:t>
                      </a:r>
                    </a:p>
                  </a:txBody>
                  <a:tcPr marL="0" marR="132182" marT="66091" marB="660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6840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763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8A07D-4606-77A5-01FF-0E0B23CA5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Demographic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89093-9272-DA48-C8C4-704B30572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177935"/>
            <a:ext cx="10890928" cy="402169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First Stage (High stationary): High birth and death rates cancel each other out; population remains stationary (India until 1920).  </a:t>
            </a:r>
          </a:p>
          <a:p>
            <a:r>
              <a:rPr lang="en-US" dirty="0"/>
              <a:t>Second Stage (Early expanding): Death rate declines while the birth rate remains unchanged (Many countries in South Asia and Africa).  </a:t>
            </a:r>
          </a:p>
          <a:p>
            <a:r>
              <a:rPr lang="en-US" dirty="0"/>
              <a:t>Third Stage (Late expanding): Death rate declines further, and birth rate tends to fall, but population grows because births exceed deaths (India has entered this phase).  </a:t>
            </a:r>
          </a:p>
          <a:p>
            <a:r>
              <a:rPr lang="en-US" dirty="0"/>
              <a:t>Fourth Stage (Low stationary): Low birth and death rates lead to a stationary population (Most industrialized countries).  </a:t>
            </a:r>
          </a:p>
          <a:p>
            <a:r>
              <a:rPr lang="en-US" dirty="0"/>
              <a:t>Fifth Stage (Declining): Population declines because the birth rate is lower than the death rate (Some East European countries).</a:t>
            </a:r>
          </a:p>
        </p:txBody>
      </p:sp>
    </p:spTree>
    <p:extLst>
      <p:ext uri="{BB962C8B-B14F-4D97-AF65-F5344CB8AC3E}">
        <p14:creationId xmlns:p14="http://schemas.microsoft.com/office/powerpoint/2010/main" val="419852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49F9F0F-FB8C-5565-247C-BDCC156B5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0D3F1E-031C-67E8-B86D-7397949845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1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144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2A8771-17C7-4F6B-F832-BA2867037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434438"/>
            <a:ext cx="2983229" cy="26129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Population growth rate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79770A-2B93-B4C5-3704-4291257F41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383" y="990201"/>
            <a:ext cx="6834081" cy="481802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26B4E86-32C4-273A-1ADF-6B442435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300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BD6F-6CA1-3284-AE3F-897E685E4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explosion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1BD52-46D8-61A4-B378-21301212A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10000"/>
          </a:bodyPr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Rapid increase in population beyond the carrying capacity of available resources.</a:t>
            </a:r>
          </a:p>
          <a:p>
            <a:r>
              <a:rPr lang="en-US" b="1" dirty="0"/>
              <a:t>Causes</a:t>
            </a:r>
          </a:p>
          <a:p>
            <a:pPr lvl="0"/>
            <a:r>
              <a:rPr lang="en-US" dirty="0"/>
              <a:t>Declining mortality </a:t>
            </a:r>
          </a:p>
          <a:p>
            <a:pPr lvl="0"/>
            <a:r>
              <a:rPr lang="en-US" dirty="0"/>
              <a:t>High fertility </a:t>
            </a:r>
          </a:p>
          <a:p>
            <a:pPr lvl="0"/>
            <a:r>
              <a:rPr lang="en-US" dirty="0"/>
              <a:t>Population momentum </a:t>
            </a:r>
          </a:p>
          <a:p>
            <a:pPr lvl="0"/>
            <a:r>
              <a:rPr lang="en-US" dirty="0"/>
              <a:t>Improved health services </a:t>
            </a:r>
          </a:p>
          <a:p>
            <a:pPr lvl="0"/>
            <a:r>
              <a:rPr lang="en-US" dirty="0"/>
              <a:t>Early marriage </a:t>
            </a:r>
          </a:p>
          <a:p>
            <a:r>
              <a:rPr lang="en-US" b="1" dirty="0"/>
              <a:t>Consequences</a:t>
            </a:r>
          </a:p>
          <a:p>
            <a:pPr lvl="0"/>
            <a:r>
              <a:rPr lang="en-US" dirty="0"/>
              <a:t>Poverty </a:t>
            </a:r>
          </a:p>
          <a:p>
            <a:pPr lvl="0"/>
            <a:r>
              <a:rPr lang="en-US" dirty="0"/>
              <a:t>Unemployment </a:t>
            </a:r>
          </a:p>
          <a:p>
            <a:pPr lvl="0"/>
            <a:r>
              <a:rPr lang="en-US" dirty="0"/>
              <a:t>Malnutrition </a:t>
            </a:r>
          </a:p>
          <a:p>
            <a:pPr lvl="0"/>
            <a:r>
              <a:rPr lang="en-US" dirty="0"/>
              <a:t>Housing shortage </a:t>
            </a:r>
          </a:p>
          <a:p>
            <a:pPr lvl="0"/>
            <a:r>
              <a:rPr lang="en-US" dirty="0"/>
              <a:t>Environmental degradation </a:t>
            </a:r>
          </a:p>
          <a:p>
            <a:pPr lvl="0"/>
            <a:r>
              <a:rPr lang="en-US" dirty="0"/>
              <a:t>Pressure on health services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252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5E62B-06FB-1C73-D33A-B40267DE2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333506"/>
            <a:ext cx="5852160" cy="496441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2400" b="1" dirty="0"/>
              <a:t>Population Momentum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Continued population growth </a:t>
            </a:r>
            <a:r>
              <a:rPr lang="en-US" sz="2400" b="1" dirty="0"/>
              <a:t>despite declining fertility</a:t>
            </a:r>
            <a:r>
              <a:rPr lang="en-US" sz="2400" dirty="0"/>
              <a:t>, due to a large proportion of people in the reproductive age group</a:t>
            </a:r>
          </a:p>
          <a:p>
            <a:pPr>
              <a:lnSpc>
                <a:spcPct val="110000"/>
              </a:lnSpc>
            </a:pPr>
            <a:r>
              <a:rPr lang="en-US" sz="2400" b="1" dirty="0"/>
              <a:t>Replacement Fertility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Average number of children required for a generation to replace itself.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≈ </a:t>
            </a:r>
            <a:r>
              <a:rPr lang="en-US" sz="2400" b="1" dirty="0"/>
              <a:t>2.1 children per woman</a:t>
            </a:r>
            <a:endParaRPr lang="en-US" sz="2400" dirty="0"/>
          </a:p>
          <a:p>
            <a:pPr>
              <a:lnSpc>
                <a:spcPct val="110000"/>
              </a:lnSpc>
            </a:pPr>
            <a:r>
              <a:rPr lang="en-US" sz="2400" b="1" dirty="0"/>
              <a:t>Why Not Exactly Two?</a:t>
            </a:r>
          </a:p>
          <a:p>
            <a:pPr>
              <a:lnSpc>
                <a:spcPct val="110000"/>
              </a:lnSpc>
            </a:pPr>
            <a:r>
              <a:rPr lang="en-US" sz="2400" dirty="0"/>
              <a:t>Additional births compensate for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Child mortality </a:t>
            </a:r>
          </a:p>
          <a:p>
            <a:pPr lvl="1">
              <a:lnSpc>
                <a:spcPct val="110000"/>
              </a:lnSpc>
            </a:pPr>
            <a:r>
              <a:rPr lang="en-US" sz="2400" dirty="0"/>
              <a:t>Female mortality before reproduction</a:t>
            </a:r>
          </a:p>
          <a:p>
            <a:pPr>
              <a:lnSpc>
                <a:spcPct val="110000"/>
              </a:lnSpc>
            </a:pPr>
            <a:endParaRPr lang="en-US" sz="2400" dirty="0"/>
          </a:p>
        </p:txBody>
      </p:sp>
      <p:pic>
        <p:nvPicPr>
          <p:cNvPr id="6" name="Picture 5" descr="Chalk drawing of people representing different genders">
            <a:extLst>
              <a:ext uri="{FF2B5EF4-FFF2-40B4-BE49-F238E27FC236}">
                <a16:creationId xmlns:a16="http://schemas.microsoft.com/office/drawing/2014/main" id="{BA8CE130-3FC5-242D-D566-E0BBCD0EF2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49" r="28480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066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B2B2-8486-8E47-09E4-1374825FD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stabilization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71EE3-720D-8DCF-5283-B29D1FBA0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057400"/>
            <a:ext cx="10890928" cy="4142232"/>
          </a:xfrm>
        </p:spPr>
        <p:txBody>
          <a:bodyPr numCol="2">
            <a:normAutofit fontScale="92500" lnSpcReduction="20000"/>
          </a:bodyPr>
          <a:lstStyle/>
          <a:p>
            <a:r>
              <a:rPr lang="en-US" sz="3200" dirty="0"/>
              <a:t>Population stabilization occurs when births approximately equal deaths and migration has minimal effect, resulting in little or no long-term population growth.</a:t>
            </a:r>
          </a:p>
          <a:p>
            <a:r>
              <a:rPr lang="en-US" sz="3200" b="1" dirty="0"/>
              <a:t>Achieved By</a:t>
            </a:r>
          </a:p>
          <a:p>
            <a:pPr lvl="1"/>
            <a:r>
              <a:rPr lang="en-US" sz="2800" dirty="0"/>
              <a:t>Female education </a:t>
            </a:r>
          </a:p>
          <a:p>
            <a:pPr lvl="1"/>
            <a:r>
              <a:rPr lang="en-US" sz="2800" dirty="0"/>
              <a:t>Delayed marriage </a:t>
            </a:r>
          </a:p>
          <a:p>
            <a:pPr lvl="1"/>
            <a:r>
              <a:rPr lang="en-US" sz="2800" dirty="0"/>
              <a:t>Family planning </a:t>
            </a:r>
          </a:p>
          <a:p>
            <a:pPr lvl="1"/>
            <a:r>
              <a:rPr lang="en-US" sz="2800" dirty="0"/>
              <a:t>Improved child survival </a:t>
            </a:r>
          </a:p>
          <a:p>
            <a:pPr lvl="1"/>
            <a:r>
              <a:rPr lang="en-US" sz="2800" dirty="0"/>
              <a:t>Economic development </a:t>
            </a:r>
          </a:p>
          <a:p>
            <a:r>
              <a:rPr lang="en-US" sz="3200" b="1" dirty="0"/>
              <a:t>Government Goal</a:t>
            </a:r>
          </a:p>
          <a:p>
            <a:r>
              <a:rPr lang="en-US" sz="3200" dirty="0"/>
              <a:t>Population stabilization through voluntary and informed choice.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3067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38FF7-5920-8A7B-7217-1FC4CD940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Population Pyramid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2365D-5EB8-DDF9-3A60-DE7650B11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66950"/>
            <a:ext cx="10890928" cy="3932682"/>
          </a:xfrm>
        </p:spPr>
        <p:txBody>
          <a:bodyPr numCol="2">
            <a:normAutofit/>
          </a:bodyPr>
          <a:lstStyle/>
          <a:p>
            <a:r>
              <a:rPr lang="en-US" b="1" dirty="0"/>
              <a:t>Definition</a:t>
            </a:r>
          </a:p>
          <a:p>
            <a:r>
              <a:rPr lang="en-US" dirty="0"/>
              <a:t>Graphical representation of the age and sex distribution of a population.</a:t>
            </a:r>
          </a:p>
          <a:p>
            <a:r>
              <a:rPr lang="en-US" b="1" dirty="0"/>
              <a:t>Types</a:t>
            </a:r>
          </a:p>
          <a:p>
            <a:pPr lvl="0"/>
            <a:r>
              <a:rPr lang="en-US" dirty="0"/>
              <a:t>Expansive </a:t>
            </a:r>
          </a:p>
          <a:p>
            <a:pPr lvl="0"/>
            <a:r>
              <a:rPr lang="en-US" dirty="0"/>
              <a:t>Stationary </a:t>
            </a:r>
          </a:p>
          <a:p>
            <a:pPr lvl="0"/>
            <a:r>
              <a:rPr lang="en-US" dirty="0"/>
              <a:t>Constrictive </a:t>
            </a:r>
          </a:p>
          <a:p>
            <a:pPr lvl="0"/>
            <a:endParaRPr lang="en-US" dirty="0"/>
          </a:p>
          <a:p>
            <a:r>
              <a:rPr lang="en-US" b="1" dirty="0"/>
              <a:t>Uses</a:t>
            </a:r>
          </a:p>
          <a:p>
            <a:pPr lvl="0"/>
            <a:r>
              <a:rPr lang="en-US" dirty="0"/>
              <a:t>Assess dependency </a:t>
            </a:r>
          </a:p>
          <a:p>
            <a:pPr lvl="0"/>
            <a:r>
              <a:rPr lang="en-US" dirty="0"/>
              <a:t>Predict future growth </a:t>
            </a:r>
          </a:p>
          <a:p>
            <a:pPr lvl="0"/>
            <a:r>
              <a:rPr lang="en-US" dirty="0"/>
              <a:t>Health planning </a:t>
            </a:r>
          </a:p>
          <a:p>
            <a:pPr lvl="0"/>
            <a:r>
              <a:rPr lang="en-US" dirty="0"/>
              <a:t>Compare countries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497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14FCDA-514E-857E-2783-E08F5829D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Population pyramid - India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E3958C-1E1C-06D6-3CAD-BD9671C9B0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3232" y="2256288"/>
            <a:ext cx="3650440" cy="36873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1D8806-282F-83C3-3438-5F169ACAD0F4}"/>
              </a:ext>
            </a:extLst>
          </p:cNvPr>
          <p:cNvSpPr txBox="1"/>
          <p:nvPr/>
        </p:nvSpPr>
        <p:spPr>
          <a:xfrm>
            <a:off x="5546521" y="1927110"/>
            <a:ext cx="4563618" cy="376045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400" b="1" dirty="0"/>
              <a:t>Characteristics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400" dirty="0"/>
              <a:t>Broad base (gradually narrowing) 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400" dirty="0"/>
              <a:t>Large working-age population 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400" dirty="0"/>
              <a:t>Increasing elderly population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400" b="1" dirty="0"/>
              <a:t>Interpretation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400" dirty="0"/>
              <a:t>Declining fertility 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400" dirty="0"/>
              <a:t>Demographic dividend 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400" dirty="0"/>
              <a:t>Future ageing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73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CE154-AF01-22AF-F12B-F0B767F34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728"/>
            <a:ext cx="10890929" cy="1097280"/>
          </a:xfrm>
        </p:spPr>
        <p:txBody>
          <a:bodyPr/>
          <a:lstStyle/>
          <a:p>
            <a:r>
              <a:rPr lang="en-US" dirty="0"/>
              <a:t>Demographic dividend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766BA-CC88-5CB5-C0B4-F515C0072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335314"/>
            <a:ext cx="10890928" cy="4864318"/>
          </a:xfrm>
        </p:spPr>
        <p:txBody>
          <a:bodyPr numCol="2">
            <a:normAutofit lnSpcReduction="10000"/>
          </a:bodyPr>
          <a:lstStyle/>
          <a:p>
            <a:r>
              <a:rPr lang="en-US" dirty="0"/>
              <a:t>Economic growth resulting from an increasing proportion of working-age population.</a:t>
            </a:r>
          </a:p>
          <a:p>
            <a:r>
              <a:rPr lang="en-US" b="1" dirty="0"/>
              <a:t>Requirements</a:t>
            </a:r>
          </a:p>
          <a:p>
            <a:pPr lvl="1"/>
            <a:r>
              <a:rPr lang="en-US" dirty="0"/>
              <a:t>Education </a:t>
            </a:r>
          </a:p>
          <a:p>
            <a:pPr lvl="1"/>
            <a:r>
              <a:rPr lang="en-US" dirty="0"/>
              <a:t>Skill development </a:t>
            </a:r>
          </a:p>
          <a:p>
            <a:pPr lvl="1"/>
            <a:r>
              <a:rPr lang="en-US" dirty="0"/>
              <a:t>Employment </a:t>
            </a:r>
          </a:p>
          <a:p>
            <a:pPr lvl="1"/>
            <a:r>
              <a:rPr lang="en-US" dirty="0"/>
              <a:t>Women's workforce participation </a:t>
            </a:r>
          </a:p>
          <a:p>
            <a:pPr lvl="1"/>
            <a:r>
              <a:rPr lang="en-US" dirty="0"/>
              <a:t>Good health</a:t>
            </a:r>
          </a:p>
          <a:p>
            <a:r>
              <a:rPr lang="en-US" b="1" dirty="0"/>
              <a:t>Opportunity</a:t>
            </a:r>
          </a:p>
          <a:p>
            <a:pPr lvl="1"/>
            <a:r>
              <a:rPr lang="en-US" dirty="0"/>
              <a:t>Time-limited "window of opportunity."</a:t>
            </a:r>
          </a:p>
          <a:p>
            <a:r>
              <a:rPr lang="en-US" dirty="0"/>
              <a:t>Demographic dividend is </a:t>
            </a:r>
            <a:r>
              <a:rPr lang="en-US" b="1" dirty="0"/>
              <a:t>not automatic</a:t>
            </a:r>
            <a:r>
              <a:rPr lang="en-US" dirty="0"/>
              <a:t>; it requires investment in human capital.</a:t>
            </a:r>
            <a:br>
              <a:rPr lang="en-US" dirty="0"/>
            </a:br>
            <a:r>
              <a:rPr lang="en-US" b="1" dirty="0"/>
              <a:t>Challenges to India's Demographic Dividend</a:t>
            </a:r>
          </a:p>
          <a:p>
            <a:pPr lvl="1"/>
            <a:r>
              <a:rPr lang="en-US" dirty="0"/>
              <a:t>Youth unemployment </a:t>
            </a:r>
          </a:p>
          <a:p>
            <a:pPr lvl="1"/>
            <a:r>
              <a:rPr lang="en-US" dirty="0"/>
              <a:t>Skill mismatch </a:t>
            </a:r>
          </a:p>
          <a:p>
            <a:pPr lvl="1"/>
            <a:r>
              <a:rPr lang="en-US" dirty="0"/>
              <a:t>Gender inequality </a:t>
            </a:r>
          </a:p>
          <a:p>
            <a:pPr lvl="1"/>
            <a:r>
              <a:rPr lang="en-US" dirty="0"/>
              <a:t>Poor </a:t>
            </a:r>
            <a:r>
              <a:rPr lang="en-US" dirty="0" err="1"/>
              <a:t>labour</a:t>
            </a:r>
            <a:r>
              <a:rPr lang="en-US" dirty="0"/>
              <a:t>-force participation of women </a:t>
            </a:r>
          </a:p>
          <a:p>
            <a:pPr lvl="1"/>
            <a:r>
              <a:rPr lang="en-US" dirty="0"/>
              <a:t>Regional disparities </a:t>
            </a:r>
          </a:p>
          <a:p>
            <a:pPr lvl="1"/>
            <a:r>
              <a:rPr lang="en-US" dirty="0"/>
              <a:t>Population ageing </a:t>
            </a:r>
            <a:br>
              <a:rPr lang="en-US" dirty="0"/>
            </a:br>
            <a:endParaRPr lang="en-US" dirty="0"/>
          </a:p>
          <a:p>
            <a:r>
              <a:rPr lang="en-US" dirty="0"/>
              <a:t>Demographic dividend can become a </a:t>
            </a:r>
            <a:r>
              <a:rPr lang="en-US" b="1" dirty="0"/>
              <a:t>demographic burden</a:t>
            </a:r>
            <a:r>
              <a:rPr lang="en-US" dirty="0"/>
              <a:t> if adequate jobs are not created.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284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2DA4E-B7F5-0F46-2145-567750EB7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Demographic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BAE33-780A-0F95-4BC2-13895A388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177143"/>
            <a:ext cx="10890928" cy="4022489"/>
          </a:xfrm>
        </p:spPr>
        <p:txBody>
          <a:bodyPr numCol="2">
            <a:normAutofit/>
          </a:bodyPr>
          <a:lstStyle/>
          <a:p>
            <a:r>
              <a:rPr lang="en-US" dirty="0"/>
              <a:t>Demographic indicators are </a:t>
            </a:r>
            <a:r>
              <a:rPr lang="en-US" b="1" dirty="0"/>
              <a:t>statistical measures</a:t>
            </a:r>
            <a:r>
              <a:rPr lang="en-US" dirty="0"/>
              <a:t> that describe the size, composition, distribution and health status of a population.</a:t>
            </a:r>
          </a:p>
          <a:p>
            <a:r>
              <a:rPr lang="en-US" b="1" dirty="0"/>
              <a:t>Uses</a:t>
            </a:r>
          </a:p>
          <a:p>
            <a:pPr lvl="1"/>
            <a:r>
              <a:rPr lang="en-US" dirty="0"/>
              <a:t>Compare populations </a:t>
            </a:r>
          </a:p>
          <a:p>
            <a:pPr lvl="1"/>
            <a:r>
              <a:rPr lang="en-US" dirty="0"/>
              <a:t>Monitor health </a:t>
            </a:r>
            <a:r>
              <a:rPr lang="en-US" dirty="0" err="1"/>
              <a:t>programmes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Assess development </a:t>
            </a:r>
          </a:p>
          <a:p>
            <a:pPr lvl="1"/>
            <a:r>
              <a:rPr lang="en-US" dirty="0"/>
              <a:t>Evaluate policies </a:t>
            </a:r>
          </a:p>
          <a:p>
            <a:pPr lvl="1"/>
            <a:r>
              <a:rPr lang="en-US" dirty="0"/>
              <a:t>Plan health services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Classification</a:t>
            </a:r>
          </a:p>
          <a:p>
            <a:pPr lvl="1"/>
            <a:r>
              <a:rPr lang="en-US" dirty="0"/>
              <a:t>Population Statistics </a:t>
            </a:r>
          </a:p>
          <a:p>
            <a:pPr lvl="1"/>
            <a:r>
              <a:rPr lang="en-US" dirty="0"/>
              <a:t>Vital Statistics </a:t>
            </a:r>
          </a:p>
          <a:p>
            <a:r>
              <a:rPr lang="en-US" dirty="0"/>
              <a:t>Population statistics describe </a:t>
            </a:r>
            <a:r>
              <a:rPr lang="en-US" b="1" dirty="0"/>
              <a:t>who the people are</a:t>
            </a:r>
            <a:r>
              <a:rPr lang="en-US" dirty="0"/>
              <a:t>.</a:t>
            </a:r>
          </a:p>
          <a:p>
            <a:r>
              <a:rPr lang="en-US" dirty="0"/>
              <a:t>Vital statistics describe </a:t>
            </a:r>
            <a:r>
              <a:rPr lang="en-US" b="1" dirty="0"/>
              <a:t>events occurring in the population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7109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2A7BB-181D-3996-DE40-A39FB1402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Classification of Demographic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1F046-2BBB-1974-70E7-0D3CDD624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sz="2400" b="1" dirty="0"/>
              <a:t>Population Statistics</a:t>
            </a:r>
          </a:p>
          <a:p>
            <a:pPr lvl="1"/>
            <a:r>
              <a:rPr lang="en-US" sz="2000" dirty="0"/>
              <a:t>Population size </a:t>
            </a:r>
          </a:p>
          <a:p>
            <a:pPr lvl="1"/>
            <a:r>
              <a:rPr lang="en-US" sz="2000" dirty="0"/>
              <a:t>Age </a:t>
            </a:r>
          </a:p>
          <a:p>
            <a:pPr lvl="1"/>
            <a:r>
              <a:rPr lang="en-US" sz="2000" dirty="0"/>
              <a:t>Sex </a:t>
            </a:r>
          </a:p>
          <a:p>
            <a:pPr lvl="1"/>
            <a:r>
              <a:rPr lang="en-US" sz="2000" dirty="0"/>
              <a:t>Density </a:t>
            </a:r>
          </a:p>
          <a:p>
            <a:pPr lvl="1"/>
            <a:r>
              <a:rPr lang="en-US" sz="2000" dirty="0"/>
              <a:t>Literacy </a:t>
            </a:r>
          </a:p>
          <a:p>
            <a:pPr lvl="1"/>
            <a:r>
              <a:rPr lang="en-US" sz="2000" dirty="0"/>
              <a:t>Urbanization </a:t>
            </a:r>
          </a:p>
          <a:p>
            <a:pPr lvl="1"/>
            <a:r>
              <a:rPr lang="en-US" sz="2000" dirty="0"/>
              <a:t>Dependency </a:t>
            </a:r>
          </a:p>
          <a:p>
            <a:pPr lvl="1"/>
            <a:r>
              <a:rPr lang="en-US" sz="2000" dirty="0"/>
              <a:t>Life expectancy</a:t>
            </a:r>
            <a:br>
              <a:rPr lang="en-US" sz="2000" dirty="0"/>
            </a:br>
            <a:endParaRPr lang="en-US" sz="2000" dirty="0"/>
          </a:p>
          <a:p>
            <a:r>
              <a:rPr lang="en-US" sz="2400" b="1" dirty="0"/>
              <a:t>Vital Statistics</a:t>
            </a:r>
          </a:p>
          <a:p>
            <a:pPr lvl="1"/>
            <a:r>
              <a:rPr lang="en-US" sz="2000" dirty="0"/>
              <a:t>Birth rate </a:t>
            </a:r>
          </a:p>
          <a:p>
            <a:pPr lvl="1"/>
            <a:r>
              <a:rPr lang="en-US" sz="2000" dirty="0"/>
              <a:t>Death rate </a:t>
            </a:r>
          </a:p>
          <a:p>
            <a:pPr lvl="1"/>
            <a:r>
              <a:rPr lang="en-US" sz="2000" dirty="0"/>
              <a:t>Fertility </a:t>
            </a:r>
          </a:p>
          <a:p>
            <a:pPr lvl="1"/>
            <a:r>
              <a:rPr lang="en-US" sz="2000" dirty="0"/>
              <a:t>Mortality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51051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1CC42-0711-39B9-AFBE-036FEC696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statistics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8EA73D3-F016-DBCD-9A56-8D5432390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190750"/>
            <a:ext cx="10890928" cy="4008882"/>
          </a:xfrm>
        </p:spPr>
        <p:txBody>
          <a:bodyPr numCol="1">
            <a:noAutofit/>
          </a:bodyPr>
          <a:lstStyle/>
          <a:p>
            <a:pPr>
              <a:buNone/>
            </a:pPr>
            <a:r>
              <a:rPr lang="en-US" sz="1800" b="1" dirty="0"/>
              <a:t>Population Size</a:t>
            </a:r>
          </a:p>
          <a:p>
            <a:pPr lvl="1">
              <a:buNone/>
            </a:pPr>
            <a:r>
              <a:rPr lang="en-US" sz="1600" dirty="0"/>
              <a:t>Total number of people living in a defined geographical area at a specified point in time.</a:t>
            </a:r>
          </a:p>
          <a:p>
            <a:pPr lvl="1">
              <a:buNone/>
            </a:pPr>
            <a:r>
              <a:rPr lang="en-US" sz="1600" dirty="0"/>
              <a:t>India is currently the </a:t>
            </a:r>
            <a:r>
              <a:rPr lang="en-US" sz="1600" b="1" dirty="0"/>
              <a:t>most populous country in the world</a:t>
            </a:r>
            <a:r>
              <a:rPr lang="en-US" sz="1600" dirty="0"/>
              <a:t>, having surpassed China according to recent UN estimates.</a:t>
            </a:r>
          </a:p>
          <a:p>
            <a:pPr>
              <a:buNone/>
            </a:pPr>
            <a:r>
              <a:rPr lang="en-US" sz="1800" b="1" dirty="0"/>
              <a:t>Age Composition</a:t>
            </a:r>
          </a:p>
          <a:p>
            <a:pPr lvl="1">
              <a:buNone/>
            </a:pPr>
            <a:r>
              <a:rPr lang="en-US" sz="1600" dirty="0"/>
              <a:t>Distribution of population according to age groups.</a:t>
            </a:r>
          </a:p>
          <a:p>
            <a:pPr lvl="1">
              <a:buNone/>
            </a:pPr>
            <a:r>
              <a:rPr lang="en-US" sz="1600" b="1" dirty="0"/>
              <a:t>Common Age Groups</a:t>
            </a:r>
          </a:p>
          <a:p>
            <a:pPr lvl="2">
              <a:buNone/>
            </a:pPr>
            <a:r>
              <a:rPr lang="en-US" sz="1400" dirty="0"/>
              <a:t>0 – 14 </a:t>
            </a:r>
            <a:r>
              <a:rPr lang="en-US" sz="1400" dirty="0">
                <a:sym typeface="Wingdings" panose="05000000000000000000" pitchFamily="2" charset="2"/>
              </a:rPr>
              <a:t> Children</a:t>
            </a:r>
          </a:p>
          <a:p>
            <a:pPr lvl="2">
              <a:buNone/>
            </a:pPr>
            <a:r>
              <a:rPr lang="en-US" sz="1400" dirty="0">
                <a:sym typeface="Wingdings" panose="05000000000000000000" pitchFamily="2" charset="2"/>
              </a:rPr>
              <a:t>15 – 64  working</a:t>
            </a:r>
          </a:p>
          <a:p>
            <a:pPr lvl="2">
              <a:buNone/>
            </a:pPr>
            <a:r>
              <a:rPr lang="en-US" sz="1400" dirty="0">
                <a:sym typeface="Wingdings" panose="05000000000000000000" pitchFamily="2" charset="2"/>
              </a:rPr>
              <a:t>&gt;= 65  Elderly</a:t>
            </a:r>
            <a:endParaRPr lang="en-US" sz="14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0234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38F3A-844A-89FF-BECC-776FED171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4F5C0-60D3-A4F6-4B77-E6B924BDB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728"/>
            <a:ext cx="10890929" cy="1097280"/>
          </a:xfrm>
        </p:spPr>
        <p:txBody>
          <a:bodyPr/>
          <a:lstStyle/>
          <a:p>
            <a:r>
              <a:rPr lang="en-US" dirty="0"/>
              <a:t>Sex Composition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75D075A-E56A-CD41-45C8-5EDFE0A44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030778"/>
            <a:ext cx="10890928" cy="5168854"/>
          </a:xfrm>
        </p:spPr>
        <p:txBody>
          <a:bodyPr numCol="3">
            <a:noAutofit/>
          </a:bodyPr>
          <a:lstStyle/>
          <a:p>
            <a:pPr>
              <a:buNone/>
            </a:pPr>
            <a:r>
              <a:rPr lang="en-US" sz="2400" dirty="0"/>
              <a:t>Distribution of males and females in a population.</a:t>
            </a:r>
          </a:p>
          <a:p>
            <a:pPr>
              <a:buNone/>
            </a:pPr>
            <a:r>
              <a:rPr lang="en-US" sz="2400" b="1" dirty="0"/>
              <a:t>Sex Ratio</a:t>
            </a:r>
            <a:endParaRPr lang="en-US" sz="2400" dirty="0"/>
          </a:p>
          <a:p>
            <a:pPr>
              <a:buNone/>
            </a:pPr>
            <a:r>
              <a:rPr lang="en-US" sz="2400" dirty="0"/>
              <a:t>Females per 1000 males</a:t>
            </a:r>
          </a:p>
          <a:p>
            <a:pPr>
              <a:buNone/>
            </a:pPr>
            <a:r>
              <a:rPr lang="en-US" sz="2400" dirty="0"/>
              <a:t>Reflects</a:t>
            </a:r>
          </a:p>
          <a:p>
            <a:pPr marL="608076" lvl="1" indent="-342900"/>
            <a:r>
              <a:rPr lang="en-US" sz="2000" dirty="0"/>
              <a:t>Women's status </a:t>
            </a:r>
          </a:p>
          <a:p>
            <a:pPr marL="608076" lvl="1" indent="-342900"/>
            <a:r>
              <a:rPr lang="en-US" sz="2000" dirty="0"/>
              <a:t>Gender discrimination </a:t>
            </a:r>
          </a:p>
          <a:p>
            <a:pPr marL="608076" lvl="1" indent="-342900"/>
            <a:r>
              <a:rPr lang="en-US" sz="2000" dirty="0"/>
              <a:t>Female survival </a:t>
            </a:r>
          </a:p>
          <a:p>
            <a:pPr marL="608076" lvl="1" indent="-342900"/>
            <a:r>
              <a:rPr lang="en-US" sz="2000" dirty="0"/>
              <a:t>Health system performance </a:t>
            </a:r>
          </a:p>
          <a:p>
            <a:pPr>
              <a:buNone/>
            </a:pPr>
            <a:r>
              <a:rPr lang="en-US" sz="2400" b="1" dirty="0"/>
              <a:t>Causes of Low Sex Ratio</a:t>
            </a:r>
          </a:p>
          <a:p>
            <a:pPr marL="608076" lvl="1" indent="-342900"/>
            <a:r>
              <a:rPr lang="en-US" sz="2000" dirty="0"/>
              <a:t>Sex-selective practices </a:t>
            </a:r>
          </a:p>
          <a:p>
            <a:pPr marL="608076" lvl="1" indent="-342900"/>
            <a:r>
              <a:rPr lang="en-US" sz="2000" dirty="0"/>
              <a:t>Female </a:t>
            </a:r>
            <a:r>
              <a:rPr lang="en-US" sz="2000" dirty="0" err="1"/>
              <a:t>foeticide</a:t>
            </a:r>
            <a:r>
              <a:rPr lang="en-US" sz="2000" dirty="0"/>
              <a:t> </a:t>
            </a:r>
          </a:p>
          <a:p>
            <a:pPr marL="608076" lvl="1" indent="-342900"/>
            <a:r>
              <a:rPr lang="en-US" sz="2000" dirty="0"/>
              <a:t>Poor female nutrition </a:t>
            </a:r>
          </a:p>
          <a:p>
            <a:pPr marL="608076" lvl="1" indent="-342900"/>
            <a:r>
              <a:rPr lang="en-US" sz="2000" dirty="0"/>
              <a:t>Gender bias </a:t>
            </a:r>
          </a:p>
          <a:p>
            <a:pPr marL="608076" lvl="1" indent="-342900"/>
            <a:r>
              <a:rPr lang="en-US" sz="2000" dirty="0"/>
              <a:t>Migration</a:t>
            </a:r>
          </a:p>
          <a:p>
            <a:pPr>
              <a:buNone/>
            </a:pPr>
            <a:r>
              <a:rPr lang="en-US" sz="2400" b="1" dirty="0"/>
              <a:t>Child Sex Ratio</a:t>
            </a:r>
          </a:p>
          <a:p>
            <a:pPr>
              <a:buNone/>
            </a:pPr>
            <a:r>
              <a:rPr lang="en-US" sz="2400" dirty="0"/>
              <a:t>Number of girls (0–6 years) per 1000 boys (0–6 years)</a:t>
            </a:r>
          </a:p>
          <a:p>
            <a:pPr>
              <a:buNone/>
            </a:pPr>
            <a:r>
              <a:rPr lang="en-US" sz="2400" dirty="0"/>
              <a:t>Sensitive indicator of</a:t>
            </a:r>
          </a:p>
          <a:p>
            <a:pPr marL="608076" lvl="1" indent="-342900"/>
            <a:r>
              <a:rPr lang="en-US" sz="2000" dirty="0"/>
              <a:t>Sex selection </a:t>
            </a:r>
          </a:p>
          <a:p>
            <a:pPr marL="608076" lvl="1" indent="-342900"/>
            <a:r>
              <a:rPr lang="en-US" sz="2000" dirty="0"/>
              <a:t>Gender discrimination </a:t>
            </a:r>
          </a:p>
          <a:p>
            <a:pPr marL="608076" lvl="1" indent="-342900"/>
            <a:r>
              <a:rPr lang="en-US" sz="2000" dirty="0"/>
              <a:t>Future demographic imbalance </a:t>
            </a:r>
            <a:endParaRPr lang="en-US" sz="2400" dirty="0"/>
          </a:p>
          <a:p>
            <a:pPr>
              <a:buNone/>
            </a:pPr>
            <a:r>
              <a:rPr lang="en-US" sz="2400" b="1" dirty="0"/>
              <a:t>Causes of Decline</a:t>
            </a:r>
          </a:p>
          <a:p>
            <a:pPr marL="608076" lvl="1" indent="-342900"/>
            <a:r>
              <a:rPr lang="en-US" sz="2000" dirty="0"/>
              <a:t>Prenatal sex determination </a:t>
            </a:r>
          </a:p>
          <a:p>
            <a:pPr marL="608076" lvl="1" indent="-342900"/>
            <a:r>
              <a:rPr lang="en-US" sz="2000" dirty="0"/>
              <a:t>Female </a:t>
            </a:r>
            <a:r>
              <a:rPr lang="en-US" sz="2000" dirty="0" err="1"/>
              <a:t>foeticide</a:t>
            </a:r>
            <a:r>
              <a:rPr lang="en-US" sz="2000" dirty="0"/>
              <a:t> </a:t>
            </a:r>
          </a:p>
          <a:p>
            <a:pPr marL="608076" lvl="1" indent="-342900"/>
            <a:r>
              <a:rPr lang="en-US" sz="2000" dirty="0"/>
              <a:t>Neglect of girl child </a:t>
            </a:r>
          </a:p>
          <a:p>
            <a:pPr>
              <a:buNone/>
            </a:pPr>
            <a:br>
              <a:rPr lang="en-US" sz="2400" dirty="0"/>
            </a:br>
            <a:r>
              <a:rPr lang="en-US" sz="2400" dirty="0"/>
              <a:t>Closely linked with implementation of the </a:t>
            </a:r>
            <a:r>
              <a:rPr lang="en-US" sz="2400" b="1" dirty="0"/>
              <a:t>PCPNDT Act</a:t>
            </a:r>
            <a:r>
              <a:rPr lang="en-US" sz="2400" dirty="0"/>
              <a:t>.</a:t>
            </a:r>
          </a:p>
          <a:p>
            <a:pPr>
              <a:buNone/>
            </a:pPr>
            <a:br>
              <a:rPr lang="en-US" sz="2400" dirty="0"/>
            </a:b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611049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BAE1C-D587-8668-41F5-40F0BF49E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FFB68-F4EF-4E9B-CC09-5DAD0D52E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statistics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917190E-BF29-E3D1-2A0E-4C7FF4272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190750"/>
            <a:ext cx="10890928" cy="4008882"/>
          </a:xfrm>
        </p:spPr>
        <p:txBody>
          <a:bodyPr numCol="3">
            <a:noAutofit/>
          </a:bodyPr>
          <a:lstStyle/>
          <a:p>
            <a:pPr>
              <a:buNone/>
            </a:pPr>
            <a:r>
              <a:rPr lang="en-US" sz="2400" b="1" dirty="0"/>
              <a:t>Population Density</a:t>
            </a:r>
          </a:p>
          <a:p>
            <a:pPr>
              <a:buNone/>
            </a:pPr>
            <a:r>
              <a:rPr lang="en-US" sz="2400" dirty="0"/>
              <a:t>Number of persons living per square </a:t>
            </a:r>
            <a:r>
              <a:rPr lang="en-US" sz="2400" dirty="0" err="1"/>
              <a:t>kilometre</a:t>
            </a:r>
            <a:r>
              <a:rPr lang="en-US" sz="2400" dirty="0"/>
              <a:t>.</a:t>
            </a:r>
          </a:p>
          <a:p>
            <a:pPr>
              <a:buNone/>
            </a:pPr>
            <a:r>
              <a:rPr lang="en-US" sz="2400" b="1" dirty="0"/>
              <a:t>Formula</a:t>
            </a:r>
          </a:p>
          <a:p>
            <a:pPr>
              <a:buNone/>
            </a:pPr>
            <a:r>
              <a:rPr lang="en-US" sz="2400" dirty="0"/>
              <a:t>Population / Land Area</a:t>
            </a:r>
          </a:p>
          <a:p>
            <a:pPr>
              <a:buNone/>
            </a:pPr>
            <a:r>
              <a:rPr lang="en-US" sz="2400" dirty="0"/>
              <a:t>Higher density increases risk of rapid spread of communicable diseases.</a:t>
            </a:r>
          </a:p>
          <a:p>
            <a:pPr>
              <a:buNone/>
            </a:pPr>
            <a:r>
              <a:rPr lang="en-US" sz="2400" b="1" dirty="0"/>
              <a:t>Dependency Ratio</a:t>
            </a:r>
          </a:p>
          <a:p>
            <a:pPr lvl="1">
              <a:buNone/>
            </a:pPr>
            <a:r>
              <a:rPr lang="en-US" sz="2000" dirty="0"/>
              <a:t>Ratio of dependent population to working-age population.</a:t>
            </a:r>
          </a:p>
          <a:p>
            <a:pPr>
              <a:buNone/>
            </a:pPr>
            <a:r>
              <a:rPr lang="en-US" sz="2400" b="1" dirty="0"/>
              <a:t>Formula</a:t>
            </a:r>
          </a:p>
          <a:p>
            <a:r>
              <a:rPr lang="en-US" sz="2400" dirty="0">
                <a:latin typeface="Courier New" panose="02070309020205020404" pitchFamily="49" charset="0"/>
              </a:rPr>
              <a:t>(0–14 years + ≥65 years)*100/ 15–64 years</a:t>
            </a:r>
          </a:p>
          <a:p>
            <a:pPr>
              <a:buNone/>
            </a:pPr>
            <a:r>
              <a:rPr lang="en-US" sz="2400" b="1" dirty="0"/>
              <a:t>Types</a:t>
            </a:r>
          </a:p>
          <a:p>
            <a:pPr marL="608076" lvl="1" indent="-342900"/>
            <a:r>
              <a:rPr lang="en-US" sz="2000" dirty="0"/>
              <a:t>Total dependency ratio </a:t>
            </a:r>
          </a:p>
          <a:p>
            <a:pPr marL="608076" lvl="1" indent="-342900"/>
            <a:r>
              <a:rPr lang="en-US" sz="2000" dirty="0"/>
              <a:t>Young dependency ratio </a:t>
            </a:r>
          </a:p>
          <a:p>
            <a:pPr marL="608076" lvl="1" indent="-342900"/>
            <a:r>
              <a:rPr lang="en-US" sz="2000" dirty="0"/>
              <a:t>Old-age dependency ratio </a:t>
            </a:r>
            <a:endParaRPr lang="en-US" sz="2400" dirty="0"/>
          </a:p>
          <a:p>
            <a:pPr>
              <a:buNone/>
            </a:pPr>
            <a:r>
              <a:rPr lang="en-US" sz="2400" b="1" dirty="0"/>
              <a:t>Clinical Importance</a:t>
            </a:r>
          </a:p>
          <a:p>
            <a:pPr marL="342900" lvl="0" indent="-342900"/>
            <a:r>
              <a:rPr lang="en-US" sz="2400" dirty="0"/>
              <a:t>Pension planning </a:t>
            </a:r>
          </a:p>
          <a:p>
            <a:pPr marL="342900" lvl="0" indent="-342900"/>
            <a:r>
              <a:rPr lang="en-US" sz="2400" dirty="0"/>
              <a:t>Elderly care </a:t>
            </a:r>
          </a:p>
          <a:p>
            <a:pPr marL="342900" lvl="0" indent="-342900"/>
            <a:r>
              <a:rPr lang="en-US" sz="2400" dirty="0"/>
              <a:t>Child welfare </a:t>
            </a:r>
            <a:r>
              <a:rPr lang="en-US" sz="2400" dirty="0" err="1"/>
              <a:t>programmes</a:t>
            </a:r>
            <a:r>
              <a:rPr lang="en-US" sz="2400" dirty="0"/>
              <a:t>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90588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2E1AE-7B4E-DA9F-5078-70A8E66E0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5E4ED-8E12-EE40-39F2-98661E87C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statistics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81EBEE-1711-599C-6E1A-F1428A16B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042160"/>
            <a:ext cx="10890928" cy="4157472"/>
          </a:xfrm>
        </p:spPr>
        <p:txBody>
          <a:bodyPr numCol="3">
            <a:normAutofit fontScale="92500" lnSpcReduction="10000"/>
          </a:bodyPr>
          <a:lstStyle/>
          <a:p>
            <a:pPr>
              <a:buNone/>
            </a:pPr>
            <a:r>
              <a:rPr lang="en-US" sz="1800" b="1" dirty="0"/>
              <a:t>Literacy Rate</a:t>
            </a:r>
          </a:p>
          <a:p>
            <a:pPr>
              <a:buNone/>
            </a:pPr>
            <a:r>
              <a:rPr lang="en-US" sz="1800" dirty="0"/>
              <a:t>	Percentage of persons aged </a:t>
            </a:r>
            <a:r>
              <a:rPr lang="en-US" sz="1800" b="1" dirty="0"/>
              <a:t>7 years and above</a:t>
            </a:r>
            <a:r>
              <a:rPr lang="en-US" sz="1800" dirty="0"/>
              <a:t> who can read and write with understanding.</a:t>
            </a:r>
          </a:p>
          <a:p>
            <a:pPr>
              <a:buNone/>
            </a:pPr>
            <a:r>
              <a:rPr lang="en-US" sz="1800" b="1" dirty="0"/>
              <a:t>Types</a:t>
            </a:r>
          </a:p>
          <a:p>
            <a:pPr lvl="1">
              <a:buNone/>
            </a:pPr>
            <a:r>
              <a:rPr lang="en-US" sz="1600" dirty="0"/>
              <a:t>Crude Literacy Rate</a:t>
            </a:r>
          </a:p>
          <a:p>
            <a:pPr lvl="1">
              <a:buNone/>
            </a:pPr>
            <a:r>
              <a:rPr lang="en-US" sz="1600" dirty="0"/>
              <a:t>Effective Literacy Rate</a:t>
            </a:r>
          </a:p>
          <a:p>
            <a:pPr>
              <a:buNone/>
            </a:pPr>
            <a:r>
              <a:rPr lang="en-US" sz="1800" b="1" dirty="0"/>
              <a:t>Literacy and Health</a:t>
            </a:r>
          </a:p>
          <a:p>
            <a:pPr>
              <a:buNone/>
            </a:pPr>
            <a:r>
              <a:rPr lang="en-US" sz="1800" dirty="0"/>
              <a:t>Higher literacy is associated with</a:t>
            </a:r>
          </a:p>
          <a:p>
            <a:pPr lvl="1">
              <a:buNone/>
            </a:pPr>
            <a:r>
              <a:rPr lang="en-US" sz="1600" dirty="0"/>
              <a:t>Lower fertility</a:t>
            </a:r>
          </a:p>
          <a:p>
            <a:pPr lvl="1">
              <a:buNone/>
            </a:pPr>
            <a:r>
              <a:rPr lang="en-US" sz="1600" dirty="0"/>
              <a:t>Better immunization</a:t>
            </a:r>
          </a:p>
          <a:p>
            <a:pPr lvl="1">
              <a:buNone/>
            </a:pPr>
            <a:r>
              <a:rPr lang="en-US" sz="1600" dirty="0"/>
              <a:t>Lower maternal mortality</a:t>
            </a:r>
          </a:p>
          <a:p>
            <a:pPr lvl="1">
              <a:buNone/>
            </a:pPr>
            <a:r>
              <a:rPr lang="en-US" sz="1600" dirty="0"/>
              <a:t>Better sanitation</a:t>
            </a:r>
          </a:p>
          <a:p>
            <a:pPr lvl="1">
              <a:buNone/>
            </a:pPr>
            <a:r>
              <a:rPr lang="en-US" sz="1600" dirty="0"/>
              <a:t>Improved nutrition</a:t>
            </a:r>
          </a:p>
          <a:p>
            <a:pPr lvl="1">
              <a:buNone/>
            </a:pPr>
            <a:r>
              <a:rPr lang="en-US" sz="1600" dirty="0"/>
              <a:t>Better health awareness</a:t>
            </a:r>
          </a:p>
          <a:p>
            <a:pPr>
              <a:buNone/>
            </a:pPr>
            <a:br>
              <a:rPr lang="en-US" sz="1800" dirty="0"/>
            </a:br>
            <a:r>
              <a:rPr lang="en-US" sz="1800" b="1" dirty="0"/>
              <a:t>Female literacy is one of the strongest determinants of fertility decline.</a:t>
            </a:r>
            <a:endParaRPr lang="en-US" sz="1800" dirty="0"/>
          </a:p>
          <a:p>
            <a:pPr>
              <a:buNone/>
            </a:pPr>
            <a:r>
              <a:rPr lang="en-US" sz="1800" b="1" dirty="0"/>
              <a:t>Urbanization</a:t>
            </a:r>
          </a:p>
          <a:p>
            <a:pPr>
              <a:buNone/>
            </a:pPr>
            <a:r>
              <a:rPr lang="en-US" sz="1800" dirty="0"/>
              <a:t>Increase in proportion of population living in urban areas.</a:t>
            </a:r>
          </a:p>
          <a:p>
            <a:pPr>
              <a:buNone/>
            </a:pPr>
            <a:r>
              <a:rPr lang="en-US" sz="1800" b="1" dirty="0"/>
              <a:t>Advantages</a:t>
            </a:r>
          </a:p>
          <a:p>
            <a:pPr marL="342900" lvl="0" indent="-342900"/>
            <a:r>
              <a:rPr lang="en-US" sz="1800" dirty="0"/>
              <a:t>Better education </a:t>
            </a:r>
          </a:p>
          <a:p>
            <a:pPr marL="342900" lvl="0" indent="-342900"/>
            <a:r>
              <a:rPr lang="en-US" sz="1800" dirty="0"/>
              <a:t>Better healthcare </a:t>
            </a:r>
          </a:p>
          <a:p>
            <a:pPr marL="342900" lvl="0" indent="-342900"/>
            <a:r>
              <a:rPr lang="en-US" sz="1800" dirty="0"/>
              <a:t>Employment </a:t>
            </a:r>
          </a:p>
          <a:p>
            <a:pPr>
              <a:buNone/>
            </a:pPr>
            <a:r>
              <a:rPr lang="en-US" sz="1800" b="1" dirty="0"/>
              <a:t>Challenges</a:t>
            </a:r>
          </a:p>
          <a:p>
            <a:pPr marL="608076" lvl="1" indent="-342900"/>
            <a:r>
              <a:rPr lang="en-US" sz="1600" dirty="0"/>
              <a:t>Slums </a:t>
            </a:r>
          </a:p>
          <a:p>
            <a:pPr marL="608076" lvl="1" indent="-342900"/>
            <a:r>
              <a:rPr lang="en-US" sz="1600" dirty="0"/>
              <a:t>Pollution </a:t>
            </a:r>
          </a:p>
          <a:p>
            <a:pPr marL="608076" lvl="1" indent="-342900"/>
            <a:r>
              <a:rPr lang="en-US" sz="1600" dirty="0"/>
              <a:t>Overcrowding </a:t>
            </a:r>
          </a:p>
          <a:p>
            <a:pPr marL="608076" lvl="1" indent="-342900"/>
            <a:r>
              <a:rPr lang="en-US" sz="1600" dirty="0"/>
              <a:t>Lifestyle diseases </a:t>
            </a:r>
          </a:p>
          <a:p>
            <a:pPr>
              <a:buNone/>
            </a:pPr>
            <a:br>
              <a:rPr lang="en-US" sz="1800" dirty="0"/>
            </a:br>
            <a:br>
              <a:rPr lang="en-US" sz="1800" dirty="0"/>
            </a:br>
            <a:endParaRPr lang="en-US" sz="1800" dirty="0"/>
          </a:p>
          <a:p>
            <a:pPr>
              <a:buNone/>
            </a:pP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195471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C29C4-AF34-A1A9-E2AA-E06D732F5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 expectancy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C0CDB-8771-2023-BC8D-1E3BE65A0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>
              <a:buNone/>
            </a:pPr>
            <a:r>
              <a:rPr lang="en-US" dirty="0"/>
              <a:t>Average number of years a newborn is expected to live if current mortality patterns continue.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Indicator of</a:t>
            </a:r>
          </a:p>
          <a:p>
            <a:pPr marL="342900" lvl="0" indent="-342900"/>
            <a:r>
              <a:rPr lang="en-US" dirty="0"/>
              <a:t>Health status </a:t>
            </a:r>
          </a:p>
          <a:p>
            <a:pPr marL="342900" lvl="0" indent="-342900"/>
            <a:r>
              <a:rPr lang="en-US" dirty="0"/>
              <a:t>Development </a:t>
            </a:r>
          </a:p>
          <a:p>
            <a:pPr marL="342900" lvl="0" indent="-342900"/>
            <a:r>
              <a:rPr lang="en-US" dirty="0"/>
              <a:t>Quality of healthcare </a:t>
            </a:r>
          </a:p>
          <a:p>
            <a:pPr>
              <a:buNone/>
            </a:pPr>
            <a:r>
              <a:rPr lang="en-US" b="1" dirty="0"/>
              <a:t>Factors Affecting</a:t>
            </a:r>
          </a:p>
          <a:p>
            <a:pPr marL="342900" lvl="0" indent="-342900"/>
            <a:r>
              <a:rPr lang="en-US" dirty="0"/>
              <a:t>Nutrition </a:t>
            </a:r>
          </a:p>
          <a:p>
            <a:pPr marL="342900" lvl="0" indent="-342900"/>
            <a:r>
              <a:rPr lang="en-US" dirty="0"/>
              <a:t>Healthcare </a:t>
            </a:r>
          </a:p>
          <a:p>
            <a:pPr marL="342900" lvl="0" indent="-342900"/>
            <a:r>
              <a:rPr lang="en-US" dirty="0"/>
              <a:t>Sanitation </a:t>
            </a:r>
          </a:p>
          <a:p>
            <a:pPr marL="342900" lvl="0" indent="-342900"/>
            <a:r>
              <a:rPr lang="en-US" dirty="0"/>
              <a:t>Income </a:t>
            </a:r>
          </a:p>
          <a:p>
            <a:pPr marL="342900" lvl="0" indent="-342900"/>
            <a:r>
              <a:rPr lang="en-US" dirty="0"/>
              <a:t>Education</a:t>
            </a:r>
          </a:p>
        </p:txBody>
      </p:sp>
    </p:spTree>
    <p:extLst>
      <p:ext uri="{BB962C8B-B14F-4D97-AF65-F5344CB8AC3E}">
        <p14:creationId xmlns:p14="http://schemas.microsoft.com/office/powerpoint/2010/main" val="14319731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D51A7-6556-7704-3142-08AB8E0E2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Vital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BE86E-2F27-FF8A-6CD1-A957908A2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468881"/>
            <a:ext cx="10890928" cy="3730751"/>
          </a:xfrm>
        </p:spPr>
        <p:txBody>
          <a:bodyPr numCol="2">
            <a:normAutofit fontScale="92500"/>
          </a:bodyPr>
          <a:lstStyle/>
          <a:p>
            <a:r>
              <a:rPr lang="en-US" sz="2800" b="1" dirty="0"/>
              <a:t>Birth rate (crude birth rate) </a:t>
            </a:r>
          </a:p>
          <a:p>
            <a:r>
              <a:rPr lang="en-US" sz="2800" dirty="0"/>
              <a:t>Number of </a:t>
            </a:r>
            <a:r>
              <a:rPr lang="en-US" sz="2800" b="1" dirty="0"/>
              <a:t>live births</a:t>
            </a:r>
            <a:r>
              <a:rPr lang="en-US" sz="2800" dirty="0"/>
              <a:t> occurring during one year per </a:t>
            </a:r>
            <a:r>
              <a:rPr lang="en-US" sz="2800" b="1" dirty="0"/>
              <a:t>1000 mid-year population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r>
              <a:rPr lang="en-US" sz="2800" b="1" dirty="0"/>
              <a:t>Death Rate (Crude Death Rate)</a:t>
            </a:r>
          </a:p>
          <a:p>
            <a:pPr lvl="1"/>
            <a:r>
              <a:rPr lang="en-US" sz="2800" dirty="0"/>
              <a:t>Number of deaths occurring during one year per </a:t>
            </a:r>
            <a:r>
              <a:rPr lang="en-US" sz="2800" b="1" dirty="0"/>
              <a:t>1000 mid-year population</a:t>
            </a:r>
            <a:r>
              <a:rPr lang="en-US" sz="2800" dirty="0"/>
              <a:t>.</a:t>
            </a:r>
          </a:p>
          <a:p>
            <a:r>
              <a:rPr lang="en-US" sz="2800" b="1" dirty="0"/>
              <a:t>Natural Growth Rate</a:t>
            </a:r>
          </a:p>
          <a:p>
            <a:r>
              <a:rPr lang="en-US" sz="2800" dirty="0"/>
              <a:t>Difference between birth rate and death rate.</a:t>
            </a:r>
          </a:p>
          <a:p>
            <a:r>
              <a:rPr lang="en-US" sz="2800" dirty="0"/>
              <a:t>Natural Growth Rate = Birth Rate − Death Rate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490796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31A8D-13B5-8C62-3097-32FE25E22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Fertility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1469C-5652-4F51-DD46-E79DA0122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Influenced By</a:t>
            </a:r>
          </a:p>
          <a:p>
            <a:pPr lvl="1"/>
            <a:r>
              <a:rPr lang="en-US" dirty="0"/>
              <a:t>Age at marriage </a:t>
            </a:r>
          </a:p>
          <a:p>
            <a:pPr lvl="1"/>
            <a:r>
              <a:rPr lang="en-US" dirty="0"/>
              <a:t>Education </a:t>
            </a:r>
          </a:p>
          <a:p>
            <a:pPr lvl="1"/>
            <a:r>
              <a:rPr lang="en-US" dirty="0"/>
              <a:t>Contraception </a:t>
            </a:r>
          </a:p>
          <a:p>
            <a:pPr lvl="1"/>
            <a:r>
              <a:rPr lang="en-US" dirty="0"/>
              <a:t>Breastfeeding </a:t>
            </a:r>
          </a:p>
          <a:p>
            <a:pPr lvl="1"/>
            <a:r>
              <a:rPr lang="en-US" dirty="0"/>
              <a:t>Nutrition </a:t>
            </a:r>
          </a:p>
          <a:p>
            <a:pPr lvl="1"/>
            <a:r>
              <a:rPr lang="en-US" dirty="0"/>
              <a:t>Religion </a:t>
            </a:r>
          </a:p>
          <a:p>
            <a:pPr lvl="1"/>
            <a:r>
              <a:rPr lang="en-US" dirty="0"/>
              <a:t>Socioeconomic status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2589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34CB6-4239-2166-627D-9741BB6EA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Fertility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68BBA-7AAF-8809-72F8-5A4F07303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General Fertility Rate (GFR)</a:t>
            </a:r>
          </a:p>
          <a:p>
            <a:pPr lvl="1"/>
            <a:r>
              <a:rPr lang="en-US" dirty="0"/>
              <a:t>Number of live births per </a:t>
            </a:r>
            <a:r>
              <a:rPr lang="en-US" b="1" dirty="0"/>
              <a:t>1000 women aged 15–49 years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Live births*1000 / Women aged 15–49 years</a:t>
            </a:r>
          </a:p>
          <a:p>
            <a:r>
              <a:rPr lang="en-US" b="1" dirty="0"/>
              <a:t>Advantage</a:t>
            </a:r>
          </a:p>
          <a:p>
            <a:pPr lvl="1"/>
            <a:r>
              <a:rPr lang="en-US" dirty="0"/>
              <a:t>Better indicator than CBR because only women of reproductive age are included.</a:t>
            </a:r>
          </a:p>
          <a:p>
            <a:r>
              <a:rPr lang="en-US" b="1" dirty="0"/>
              <a:t>Limitation</a:t>
            </a:r>
          </a:p>
          <a:p>
            <a:pPr lvl="1"/>
            <a:r>
              <a:rPr lang="en-US" dirty="0"/>
              <a:t>Includes all women 15–49 years, irrespective of marital status.</a:t>
            </a:r>
          </a:p>
          <a:p>
            <a:pPr marL="0" indent="0">
              <a:buNone/>
            </a:pPr>
            <a:r>
              <a:rPr lang="en-US" b="1" dirty="0"/>
              <a:t>General Marital Fertility Rate (GMFR)</a:t>
            </a:r>
          </a:p>
          <a:p>
            <a:pPr lvl="1"/>
            <a:r>
              <a:rPr lang="en-US" dirty="0"/>
              <a:t>Number of live births per </a:t>
            </a:r>
            <a:r>
              <a:rPr lang="en-US" b="1" dirty="0"/>
              <a:t>1000 married women aged 15–49 years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Live births *1000 / Married women (15–49 years)</a:t>
            </a:r>
          </a:p>
          <a:p>
            <a:r>
              <a:rPr lang="en-US" b="1" dirty="0"/>
              <a:t>Importance</a:t>
            </a:r>
          </a:p>
          <a:p>
            <a:pPr lvl="1"/>
            <a:r>
              <a:rPr lang="en-US" dirty="0"/>
              <a:t>Better estimate of fertility where childbirth mainly occurs within marriage.</a:t>
            </a:r>
          </a:p>
          <a:p>
            <a:pPr marL="0" indent="0">
              <a:buNone/>
            </a:pPr>
            <a:r>
              <a:rPr lang="en-US" b="1" dirty="0"/>
              <a:t>Age-Specific Fertility Rate (ASFR)</a:t>
            </a:r>
          </a:p>
          <a:p>
            <a:pPr lvl="1"/>
            <a:r>
              <a:rPr lang="en-US" dirty="0"/>
              <a:t>Number of live births among women in a specific age group per </a:t>
            </a:r>
            <a:r>
              <a:rPr lang="en-US" b="1" dirty="0"/>
              <a:t>1000 women</a:t>
            </a:r>
            <a:r>
              <a:rPr lang="en-US" dirty="0"/>
              <a:t> of the same age group.</a:t>
            </a:r>
          </a:p>
          <a:p>
            <a:pPr lvl="1"/>
            <a:r>
              <a:rPr lang="en-US" dirty="0"/>
              <a:t>Identifies high-risk reproductive ages. </a:t>
            </a:r>
          </a:p>
          <a:p>
            <a:pPr lvl="1"/>
            <a:r>
              <a:rPr lang="en-US" dirty="0"/>
              <a:t>Used to calculate TFR. </a:t>
            </a:r>
          </a:p>
          <a:p>
            <a:pPr lvl="1"/>
            <a:r>
              <a:rPr lang="en-US" dirty="0"/>
              <a:t>Evaluates family planning </a:t>
            </a:r>
            <a:r>
              <a:rPr lang="en-US" dirty="0" err="1"/>
              <a:t>programmes</a:t>
            </a:r>
            <a:r>
              <a:rPr lang="en-US" dirty="0"/>
              <a:t>. 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4897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A1305-A6F5-E49E-C21A-BCF16A764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9F152-8962-0C44-0919-9FB835031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Fertility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6BEE8-76DC-5E39-59EB-94FC38182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Total Fertility Rate (TFR)</a:t>
            </a:r>
          </a:p>
          <a:p>
            <a:r>
              <a:rPr lang="en-US" dirty="0"/>
              <a:t>Average number of children a woman would have during her reproductive life if current age-specific fertility rates remain constant.</a:t>
            </a:r>
          </a:p>
          <a:p>
            <a:r>
              <a:rPr lang="en-US" b="1" dirty="0"/>
              <a:t>Importance</a:t>
            </a:r>
          </a:p>
          <a:p>
            <a:pPr lvl="1"/>
            <a:r>
              <a:rPr lang="en-US" dirty="0"/>
              <a:t>Most useful indicator of fertility.</a:t>
            </a:r>
          </a:p>
          <a:p>
            <a:r>
              <a:rPr lang="en-US" dirty="0"/>
              <a:t>India has achieved </a:t>
            </a:r>
            <a:r>
              <a:rPr lang="en-US" b="1" dirty="0"/>
              <a:t>replacement-level fertility nationally</a:t>
            </a:r>
            <a:r>
              <a:rPr lang="en-US" dirty="0"/>
              <a:t>, though state-level differences persist.</a:t>
            </a:r>
          </a:p>
          <a:p>
            <a:pPr marL="0" indent="0">
              <a:buNone/>
            </a:pPr>
            <a:r>
              <a:rPr lang="en-US" b="1" dirty="0"/>
              <a:t>Gross Reproduction Rate (GRR)</a:t>
            </a:r>
          </a:p>
          <a:p>
            <a:r>
              <a:rPr lang="en-US" dirty="0"/>
              <a:t>Average number of </a:t>
            </a:r>
            <a:r>
              <a:rPr lang="en-US" b="1" dirty="0"/>
              <a:t>daughters</a:t>
            </a:r>
            <a:r>
              <a:rPr lang="en-US" dirty="0"/>
              <a:t> born to a woman during her reproductive life, assuming </a:t>
            </a:r>
            <a:r>
              <a:rPr lang="en-US" b="1" dirty="0"/>
              <a:t>no female mortality</a:t>
            </a:r>
            <a:r>
              <a:rPr lang="en-US" dirty="0"/>
              <a:t>.</a:t>
            </a:r>
          </a:p>
          <a:p>
            <a:r>
              <a:rPr lang="en-US" dirty="0"/>
              <a:t>Measures replacement of mothers by daughters.</a:t>
            </a:r>
          </a:p>
          <a:p>
            <a:pPr lvl="1"/>
            <a:r>
              <a:rPr lang="en-US" dirty="0"/>
              <a:t>GRR considers only </a:t>
            </a:r>
            <a:r>
              <a:rPr lang="en-US" b="1" dirty="0"/>
              <a:t>female births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Mortality </a:t>
            </a:r>
            <a:r>
              <a:rPr lang="en-US" b="1" dirty="0"/>
              <a:t>not considered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Net Reproduction Rate (NRR)</a:t>
            </a:r>
          </a:p>
          <a:p>
            <a:r>
              <a:rPr lang="en-US" dirty="0"/>
              <a:t>Average number of daughters born to a newborn girl during her lifetime after considering </a:t>
            </a:r>
            <a:r>
              <a:rPr lang="en-US" b="1" dirty="0"/>
              <a:t>female mortality</a:t>
            </a:r>
            <a:r>
              <a:rPr lang="en-US" dirty="0"/>
              <a:t>.</a:t>
            </a:r>
          </a:p>
          <a:p>
            <a:r>
              <a:rPr lang="en-US" b="1" dirty="0"/>
              <a:t>Interpretation</a:t>
            </a:r>
          </a:p>
          <a:p>
            <a:pPr lvl="1"/>
            <a:r>
              <a:rPr lang="en-US" dirty="0"/>
              <a:t>NRR = 1 </a:t>
            </a:r>
            <a:r>
              <a:rPr lang="en-US" dirty="0">
                <a:sym typeface="Wingdings" panose="05000000000000000000" pitchFamily="2" charset="2"/>
              </a:rPr>
              <a:t> replacement achieved</a:t>
            </a:r>
          </a:p>
          <a:p>
            <a:pPr lvl="1"/>
            <a:r>
              <a:rPr lang="en-US" dirty="0"/>
              <a:t>NRR &gt;1 </a:t>
            </a:r>
            <a:r>
              <a:rPr lang="en-US" dirty="0">
                <a:sym typeface="Wingdings" panose="05000000000000000000" pitchFamily="2" charset="2"/>
              </a:rPr>
              <a:t> Population </a:t>
            </a:r>
            <a:r>
              <a:rPr lang="en-US" dirty="0" err="1">
                <a:sym typeface="Wingdings" panose="05000000000000000000" pitchFamily="2" charset="2"/>
              </a:rPr>
              <a:t>inc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/>
              <a:t>NRR &lt;1 </a:t>
            </a:r>
            <a:r>
              <a:rPr lang="en-US" dirty="0">
                <a:sym typeface="Wingdings" panose="05000000000000000000" pitchFamily="2" charset="2"/>
              </a:rPr>
              <a:t> Population dec</a:t>
            </a:r>
          </a:p>
          <a:p>
            <a:r>
              <a:rPr lang="en-US" b="1" dirty="0"/>
              <a:t>NRR = 1 corresponds approximately to replacement fertility.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217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B6B02-ACEA-CB22-B7D9-1D4057091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Family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1D2A6-591F-BFDC-F952-D04D27582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Family planning means the ability of individuals and couples to anticipate and attain their desired number of children and the spacing and timing of births.</a:t>
            </a:r>
          </a:p>
          <a:p>
            <a:r>
              <a:rPr lang="en-US" b="1" dirty="0"/>
              <a:t>Objectives</a:t>
            </a:r>
          </a:p>
          <a:p>
            <a:pPr lvl="0"/>
            <a:r>
              <a:rPr lang="en-US" dirty="0"/>
              <a:t>Improve maternal health </a:t>
            </a:r>
          </a:p>
          <a:p>
            <a:pPr lvl="0"/>
            <a:r>
              <a:rPr lang="en-US" dirty="0"/>
              <a:t>Reduce infant mortality </a:t>
            </a:r>
          </a:p>
          <a:p>
            <a:pPr lvl="0"/>
            <a:r>
              <a:rPr lang="en-US" dirty="0"/>
              <a:t>Prevent unintended pregnancy </a:t>
            </a:r>
          </a:p>
          <a:p>
            <a:pPr lvl="0"/>
            <a:r>
              <a:rPr lang="en-US" dirty="0"/>
              <a:t>Promote small family norm </a:t>
            </a:r>
          </a:p>
          <a:p>
            <a:pPr lvl="0"/>
            <a:r>
              <a:rPr lang="en-US" dirty="0"/>
              <a:t>Support population stabilization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8672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83FE6E-0359-3076-A182-35984E164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635365"/>
            <a:ext cx="5358392" cy="129847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Evolution of the program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209265E-E0D7-493B-97CE-2263D50C3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62720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296B03A-2965-D426-BA85-84F825162A76}"/>
              </a:ext>
            </a:extLst>
          </p:cNvPr>
          <p:cNvSpPr txBox="1"/>
          <p:nvPr/>
        </p:nvSpPr>
        <p:spPr>
          <a:xfrm>
            <a:off x="6767622" y="914400"/>
            <a:ext cx="4763387" cy="53835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500" b="1" dirty="0" err="1"/>
              <a:t>Programme</a:t>
            </a:r>
            <a:r>
              <a:rPr lang="en-US" sz="1500" b="1" dirty="0"/>
              <a:t> Goals</a:t>
            </a:r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500" b="1" dirty="0"/>
              <a:t>Short-Term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500" dirty="0"/>
              <a:t>Reduce unmet need 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500" dirty="0"/>
              <a:t>Improve access to contraceptives 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500" dirty="0"/>
              <a:t>Promote spacing methods </a:t>
            </a:r>
            <a:br>
              <a:rPr lang="en-US" sz="1500" dirty="0"/>
            </a:br>
            <a:endParaRPr lang="en-US" sz="1500" dirty="0"/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500" b="1" dirty="0"/>
              <a:t>Long-Term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500" dirty="0"/>
              <a:t>Achieve replacement-level fertility 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500" dirty="0"/>
              <a:t>Improve maternal and child health </a:t>
            </a:r>
          </a:p>
          <a:p>
            <a:pPr marL="342900" lvl="0" indent="-342900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500" dirty="0"/>
              <a:t>Stabilize population </a:t>
            </a:r>
            <a:br>
              <a:rPr lang="en-US" sz="1500" dirty="0"/>
            </a:br>
            <a:endParaRPr lang="en-US" sz="1500" dirty="0"/>
          </a:p>
          <a:p>
            <a:pPr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500" b="1" dirty="0"/>
              <a:t>Strategy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1500" b="1" dirty="0"/>
              <a:t>Voluntary, informed choice through a cafeteria approach</a:t>
            </a:r>
            <a:endParaRPr lang="en-US" sz="15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C676038-715E-95C7-80C1-E79A475C5D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8543827"/>
              </p:ext>
            </p:extLst>
          </p:nvPr>
        </p:nvGraphicFramePr>
        <p:xfrm>
          <a:off x="713232" y="956895"/>
          <a:ext cx="5295902" cy="3135209"/>
        </p:xfrm>
        <a:graphic>
          <a:graphicData uri="http://schemas.openxmlformats.org/drawingml/2006/table">
            <a:tbl>
              <a:tblPr firstRow="1">
                <a:noFill/>
                <a:tableStyleId>{7E9639D4-E3E2-4D34-9284-5A2195B3D0D7}</a:tableStyleId>
              </a:tblPr>
              <a:tblGrid>
                <a:gridCol w="1391528">
                  <a:extLst>
                    <a:ext uri="{9D8B030D-6E8A-4147-A177-3AD203B41FA5}">
                      <a16:colId xmlns:a16="http://schemas.microsoft.com/office/drawing/2014/main" val="1946175870"/>
                    </a:ext>
                  </a:extLst>
                </a:gridCol>
                <a:gridCol w="3904374">
                  <a:extLst>
                    <a:ext uri="{9D8B030D-6E8A-4147-A177-3AD203B41FA5}">
                      <a16:colId xmlns:a16="http://schemas.microsoft.com/office/drawing/2014/main" val="4024604825"/>
                    </a:ext>
                  </a:extLst>
                </a:gridCol>
              </a:tblGrid>
              <a:tr h="486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 cap="none" spc="60">
                          <a:solidFill>
                            <a:schemeClr val="bg1"/>
                          </a:solidFill>
                        </a:rPr>
                        <a:t>Phase</a:t>
                      </a:r>
                    </a:p>
                  </a:txBody>
                  <a:tcPr marL="108991" marR="108991" marT="108991" marB="544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0" cap="none" spc="60">
                          <a:solidFill>
                            <a:schemeClr val="bg1"/>
                          </a:solidFill>
                        </a:rPr>
                        <a:t>Major Features</a:t>
                      </a:r>
                    </a:p>
                  </a:txBody>
                  <a:tcPr marL="108991" marR="108991" marT="108991" marB="54495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273036"/>
                  </a:ext>
                </a:extLst>
              </a:tr>
              <a:tr h="441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1952</a:t>
                      </a:r>
                    </a:p>
                  </a:txBody>
                  <a:tcPr marL="108991" marR="108991" marT="108991" marB="54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First national programme launched</a:t>
                      </a:r>
                    </a:p>
                  </a:txBody>
                  <a:tcPr marL="108991" marR="108991" marT="108991" marB="54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854307"/>
                  </a:ext>
                </a:extLst>
              </a:tr>
              <a:tr h="441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1960s–70s</a:t>
                      </a:r>
                    </a:p>
                  </a:txBody>
                  <a:tcPr marL="108991" marR="108991" marT="108991" marB="54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Target-oriented approach</a:t>
                      </a:r>
                    </a:p>
                  </a:txBody>
                  <a:tcPr marL="108991" marR="108991" marT="108991" marB="54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6456273"/>
                  </a:ext>
                </a:extLst>
              </a:tr>
              <a:tr h="441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1970s–80s</a:t>
                      </a:r>
                    </a:p>
                  </a:txBody>
                  <a:tcPr marL="108991" marR="108991" marT="108991" marB="54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Sterilization emphasis</a:t>
                      </a:r>
                    </a:p>
                  </a:txBody>
                  <a:tcPr marL="108991" marR="108991" marT="108991" marB="54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1427695"/>
                  </a:ext>
                </a:extLst>
              </a:tr>
              <a:tr h="441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1996</a:t>
                      </a:r>
                    </a:p>
                  </a:txBody>
                  <a:tcPr marL="108991" marR="108991" marT="108991" marB="54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Reproductive and Child Health (RCH)</a:t>
                      </a:r>
                    </a:p>
                  </a:txBody>
                  <a:tcPr marL="108991" marR="108991" marT="108991" marB="54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592500"/>
                  </a:ext>
                </a:extLst>
              </a:tr>
              <a:tr h="441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2005</a:t>
                      </a:r>
                    </a:p>
                  </a:txBody>
                  <a:tcPr marL="108991" marR="108991" marT="108991" marB="54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National Rural Health Mission</a:t>
                      </a:r>
                    </a:p>
                  </a:txBody>
                  <a:tcPr marL="108991" marR="108991" marT="108991" marB="54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699605"/>
                  </a:ext>
                </a:extLst>
              </a:tr>
              <a:tr h="441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Present</a:t>
                      </a:r>
                    </a:p>
                  </a:txBody>
                  <a:tcPr marL="108991" marR="108991" marT="108991" marB="54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RMNCH+A and Mission Parivar Vikas</a:t>
                      </a:r>
                    </a:p>
                  </a:txBody>
                  <a:tcPr marL="108991" marR="108991" marT="108991" marB="544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186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87481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334F8-B0DE-A84C-CF37-A572E20A1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Cafeteria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D4317-F240-119B-A8D9-0A52E72D6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contraceptive service delivery approach in which a wide range of methods is offered so that couples can choose the method best suited to them.</a:t>
            </a:r>
          </a:p>
          <a:p>
            <a:pPr lvl="1"/>
            <a:r>
              <a:rPr lang="en-US" dirty="0"/>
              <a:t>Respects client choice </a:t>
            </a:r>
          </a:p>
          <a:p>
            <a:pPr lvl="1"/>
            <a:r>
              <a:rPr lang="en-US" dirty="0"/>
              <a:t>Improves acceptance </a:t>
            </a:r>
          </a:p>
          <a:p>
            <a:pPr lvl="1"/>
            <a:r>
              <a:rPr lang="en-US" dirty="0"/>
              <a:t>Increases continuation </a:t>
            </a:r>
          </a:p>
          <a:p>
            <a:pPr lvl="1"/>
            <a:r>
              <a:rPr lang="en-US" dirty="0"/>
              <a:t>Reduces unmet need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3890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CE48-8711-88A6-52D8-76585C896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 Parivar </a:t>
            </a:r>
            <a:r>
              <a:rPr lang="en-US" dirty="0" err="1"/>
              <a:t>vikas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C1FAC-B3F9-970E-7B35-2E0FBF9EE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improve access to contraceptives and family planning services in high-fertility districts.</a:t>
            </a:r>
          </a:p>
          <a:p>
            <a:pPr lvl="1"/>
            <a:r>
              <a:rPr lang="en-US" dirty="0"/>
              <a:t>High-fertility districts </a:t>
            </a:r>
          </a:p>
          <a:p>
            <a:pPr lvl="1"/>
            <a:r>
              <a:rPr lang="en-US" dirty="0"/>
              <a:t>Improved spacing methods </a:t>
            </a:r>
          </a:p>
          <a:p>
            <a:pPr lvl="1"/>
            <a:r>
              <a:rPr lang="en-US" dirty="0"/>
              <a:t>Counseling </a:t>
            </a:r>
          </a:p>
          <a:p>
            <a:pPr lvl="1"/>
            <a:r>
              <a:rPr lang="en-US" dirty="0"/>
              <a:t>Quality services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0115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D97D7-3460-B28A-69C6-F7C38DE1D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Counselling for contraception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FEA09-D83A-9DC3-FD4F-9E591FACB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b="1" dirty="0"/>
              <a:t>Principles</a:t>
            </a:r>
          </a:p>
          <a:p>
            <a:pPr lvl="1"/>
            <a:r>
              <a:rPr lang="en-US" dirty="0"/>
              <a:t>Respect privacy </a:t>
            </a:r>
          </a:p>
          <a:p>
            <a:pPr lvl="1"/>
            <a:r>
              <a:rPr lang="en-US" dirty="0"/>
              <a:t>Give complete information </a:t>
            </a:r>
          </a:p>
          <a:p>
            <a:pPr lvl="1"/>
            <a:r>
              <a:rPr lang="en-US" dirty="0"/>
              <a:t>Offer method choice </a:t>
            </a:r>
          </a:p>
          <a:p>
            <a:pPr lvl="1"/>
            <a:r>
              <a:rPr lang="en-US" dirty="0"/>
              <a:t>Discuss side effects </a:t>
            </a:r>
          </a:p>
          <a:p>
            <a:pPr lvl="1"/>
            <a:r>
              <a:rPr lang="en-US" dirty="0"/>
              <a:t>Encourage follow-up </a:t>
            </a:r>
            <a:br>
              <a:rPr lang="en-US" dirty="0"/>
            </a:br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Counsel on</a:t>
            </a:r>
          </a:p>
          <a:p>
            <a:pPr lvl="1"/>
            <a:r>
              <a:rPr lang="en-US" dirty="0"/>
              <a:t>Effectiveness </a:t>
            </a:r>
          </a:p>
          <a:p>
            <a:pPr lvl="1"/>
            <a:r>
              <a:rPr lang="en-US" dirty="0"/>
              <a:t>Reversibility </a:t>
            </a:r>
          </a:p>
          <a:p>
            <a:pPr lvl="1"/>
            <a:r>
              <a:rPr lang="en-US" dirty="0"/>
              <a:t>Side effects </a:t>
            </a:r>
          </a:p>
          <a:p>
            <a:pPr lvl="1"/>
            <a:r>
              <a:rPr lang="en-US" dirty="0"/>
              <a:t>STI protection </a:t>
            </a:r>
          </a:p>
          <a:p>
            <a:pPr lvl="1"/>
            <a:r>
              <a:rPr lang="en-US" dirty="0"/>
              <a:t>When to return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5189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B8F20-D5FA-D846-43E4-D34FAC3C8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21842"/>
            <a:ext cx="3156857" cy="26426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Abortion terminology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5AF9EB-3416-6695-61C0-DBEF45C18E99}"/>
              </a:ext>
            </a:extLst>
          </p:cNvPr>
          <p:cNvSpPr txBox="1"/>
          <p:nvPr/>
        </p:nvSpPr>
        <p:spPr>
          <a:xfrm>
            <a:off x="640079" y="4304538"/>
            <a:ext cx="3156857" cy="136245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buSzPct val="87000"/>
            </a:pPr>
            <a:r>
              <a:rPr lang="en-US" sz="1700" b="1" cap="all" spc="300" dirty="0"/>
              <a:t>MTP refers only to legally permitted induced abortion.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0527CE-FCD0-40C8-B37A-39331C2A4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011930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E84C75B-8CF3-3BDE-8205-1970B22977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3250111"/>
              </p:ext>
            </p:extLst>
          </p:nvPr>
        </p:nvGraphicFramePr>
        <p:xfrm>
          <a:off x="4604641" y="1920062"/>
          <a:ext cx="6876289" cy="3086459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927818">
                  <a:extLst>
                    <a:ext uri="{9D8B030D-6E8A-4147-A177-3AD203B41FA5}">
                      <a16:colId xmlns:a16="http://schemas.microsoft.com/office/drawing/2014/main" val="605015095"/>
                    </a:ext>
                  </a:extLst>
                </a:gridCol>
                <a:gridCol w="3948471">
                  <a:extLst>
                    <a:ext uri="{9D8B030D-6E8A-4147-A177-3AD203B41FA5}">
                      <a16:colId xmlns:a16="http://schemas.microsoft.com/office/drawing/2014/main" val="393484228"/>
                    </a:ext>
                  </a:extLst>
                </a:gridCol>
              </a:tblGrid>
              <a:tr h="461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Term</a:t>
                      </a:r>
                    </a:p>
                  </a:txBody>
                  <a:tcPr marL="104981" marR="104981" marT="52491" marB="524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Meaning</a:t>
                      </a:r>
                    </a:p>
                  </a:txBody>
                  <a:tcPr marL="104981" marR="104981" marT="52491" marB="52491" anchor="ctr"/>
                </a:tc>
                <a:extLst>
                  <a:ext uri="{0D108BD9-81ED-4DB2-BD59-A6C34878D82A}">
                    <a16:rowId xmlns:a16="http://schemas.microsoft.com/office/drawing/2014/main" val="744799897"/>
                  </a:ext>
                </a:extLst>
              </a:tr>
              <a:tr h="776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Abortion</a:t>
                      </a:r>
                    </a:p>
                  </a:txBody>
                  <a:tcPr marL="104981" marR="104981" marT="52491" marB="524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Expulsion of products of conception before fetal viability</a:t>
                      </a:r>
                    </a:p>
                  </a:txBody>
                  <a:tcPr marL="104981" marR="104981" marT="52491" marB="52491" anchor="ctr"/>
                </a:tc>
                <a:extLst>
                  <a:ext uri="{0D108BD9-81ED-4DB2-BD59-A6C34878D82A}">
                    <a16:rowId xmlns:a16="http://schemas.microsoft.com/office/drawing/2014/main" val="155713575"/>
                  </a:ext>
                </a:extLst>
              </a:tr>
              <a:tr h="461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Spontaneous abortion</a:t>
                      </a:r>
                    </a:p>
                  </a:txBody>
                  <a:tcPr marL="104981" marR="104981" marT="52491" marB="524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Miscarriage</a:t>
                      </a:r>
                    </a:p>
                  </a:txBody>
                  <a:tcPr marL="104981" marR="104981" marT="52491" marB="52491" anchor="ctr"/>
                </a:tc>
                <a:extLst>
                  <a:ext uri="{0D108BD9-81ED-4DB2-BD59-A6C34878D82A}">
                    <a16:rowId xmlns:a16="http://schemas.microsoft.com/office/drawing/2014/main" val="4112485215"/>
                  </a:ext>
                </a:extLst>
              </a:tr>
              <a:tr h="461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Induced abortion</a:t>
                      </a:r>
                    </a:p>
                  </a:txBody>
                  <a:tcPr marL="104981" marR="104981" marT="52491" marB="524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Intentional termination</a:t>
                      </a:r>
                    </a:p>
                  </a:txBody>
                  <a:tcPr marL="104981" marR="104981" marT="52491" marB="52491" anchor="ctr"/>
                </a:tc>
                <a:extLst>
                  <a:ext uri="{0D108BD9-81ED-4DB2-BD59-A6C34878D82A}">
                    <a16:rowId xmlns:a16="http://schemas.microsoft.com/office/drawing/2014/main" val="533350978"/>
                  </a:ext>
                </a:extLst>
              </a:tr>
              <a:tr h="461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Medical abortion</a:t>
                      </a:r>
                    </a:p>
                  </a:txBody>
                  <a:tcPr marL="104981" marR="104981" marT="52491" marB="524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Drugs used</a:t>
                      </a:r>
                    </a:p>
                  </a:txBody>
                  <a:tcPr marL="104981" marR="104981" marT="52491" marB="52491" anchor="ctr"/>
                </a:tc>
                <a:extLst>
                  <a:ext uri="{0D108BD9-81ED-4DB2-BD59-A6C34878D82A}">
                    <a16:rowId xmlns:a16="http://schemas.microsoft.com/office/drawing/2014/main" val="2594135247"/>
                  </a:ext>
                </a:extLst>
              </a:tr>
              <a:tr h="4619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Surgical abortion</a:t>
                      </a:r>
                    </a:p>
                  </a:txBody>
                  <a:tcPr marL="104981" marR="104981" marT="52491" marB="524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Instrumental evacuation</a:t>
                      </a:r>
                    </a:p>
                  </a:txBody>
                  <a:tcPr marL="104981" marR="104981" marT="52491" marB="52491" anchor="ctr"/>
                </a:tc>
                <a:extLst>
                  <a:ext uri="{0D108BD9-81ED-4DB2-BD59-A6C34878D82A}">
                    <a16:rowId xmlns:a16="http://schemas.microsoft.com/office/drawing/2014/main" val="2260675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32713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42045-BC3F-A0FE-3E3A-88B376115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 Abortion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7E566-5259-2CFD-108E-EA304C127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r>
              <a:rPr lang="en-US" dirty="0"/>
              <a:t>Unsafe abortion contributes to</a:t>
            </a:r>
          </a:p>
          <a:p>
            <a:pPr lvl="1"/>
            <a:r>
              <a:rPr lang="en-US" dirty="0"/>
              <a:t>Maternal mortality </a:t>
            </a:r>
          </a:p>
          <a:p>
            <a:pPr lvl="1"/>
            <a:r>
              <a:rPr lang="en-US" dirty="0"/>
              <a:t>Hemorrhage </a:t>
            </a:r>
          </a:p>
          <a:p>
            <a:pPr lvl="1"/>
            <a:r>
              <a:rPr lang="en-US" dirty="0"/>
              <a:t>Sepsis </a:t>
            </a:r>
          </a:p>
          <a:p>
            <a:pPr lvl="1"/>
            <a:r>
              <a:rPr lang="en-US" dirty="0"/>
              <a:t>Infertility </a:t>
            </a:r>
          </a:p>
          <a:p>
            <a:pPr lvl="1"/>
            <a:r>
              <a:rPr lang="en-US" dirty="0"/>
              <a:t>Uterine injury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Public Health Goal</a:t>
            </a:r>
          </a:p>
          <a:p>
            <a:pPr lvl="1"/>
            <a:r>
              <a:rPr lang="en-US" dirty="0"/>
              <a:t>Provide</a:t>
            </a:r>
          </a:p>
          <a:p>
            <a:pPr lvl="1"/>
            <a:r>
              <a:rPr lang="en-US" dirty="0"/>
              <a:t>Safe</a:t>
            </a:r>
          </a:p>
          <a:p>
            <a:pPr lvl="1"/>
            <a:r>
              <a:rPr lang="en-US" dirty="0"/>
              <a:t>Legal</a:t>
            </a:r>
          </a:p>
          <a:p>
            <a:pPr lvl="1"/>
            <a:r>
              <a:rPr lang="en-US" dirty="0"/>
              <a:t>Accessible</a:t>
            </a:r>
          </a:p>
          <a:p>
            <a:pPr lvl="1"/>
            <a:r>
              <a:rPr lang="en-US" dirty="0"/>
              <a:t>Respectful abortion care</a:t>
            </a:r>
          </a:p>
          <a:p>
            <a:r>
              <a:rPr lang="en-US" dirty="0"/>
              <a:t>Safe abortion is an important component of reproductive healthcare.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0714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79F43-83B6-FD54-6C4F-0FC67DC09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MTP 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EB36C-E9B3-A3BC-9637-E38773116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Up to 20 weeks</a:t>
            </a:r>
          </a:p>
          <a:p>
            <a:pPr lvl="1"/>
            <a:r>
              <a:rPr lang="en-US" dirty="0"/>
              <a:t>Opinion of </a:t>
            </a:r>
            <a:r>
              <a:rPr lang="en-US" b="1" dirty="0"/>
              <a:t>one Registered Medical Practitioner (RMP)</a:t>
            </a:r>
            <a:r>
              <a:rPr lang="en-US" dirty="0"/>
              <a:t> is required for eligible cases.</a:t>
            </a:r>
          </a:p>
          <a:p>
            <a:r>
              <a:rPr lang="en-US" b="1" dirty="0"/>
              <a:t>20–24 weeks</a:t>
            </a:r>
          </a:p>
          <a:p>
            <a:pPr lvl="1"/>
            <a:r>
              <a:rPr lang="en-US" dirty="0"/>
              <a:t>Opinion of </a:t>
            </a:r>
            <a:r>
              <a:rPr lang="en-US" b="1" dirty="0"/>
              <a:t>two Registered Medical Practitioners (RMPs)</a:t>
            </a:r>
            <a:r>
              <a:rPr lang="en-US" dirty="0"/>
              <a:t> is required for specified categories of women.</a:t>
            </a:r>
          </a:p>
          <a:p>
            <a:r>
              <a:rPr lang="en-US" b="1" dirty="0"/>
              <a:t>Beyond 24 weeks</a:t>
            </a:r>
          </a:p>
          <a:p>
            <a:pPr lvl="1"/>
            <a:r>
              <a:rPr lang="en-US" dirty="0"/>
              <a:t>Allowed only for </a:t>
            </a:r>
            <a:r>
              <a:rPr lang="en-US" b="1" dirty="0"/>
              <a:t>substantial fetal abnormalities</a:t>
            </a:r>
            <a:r>
              <a:rPr lang="en-US" dirty="0"/>
              <a:t>, as diagnosed by a </a:t>
            </a:r>
            <a:r>
              <a:rPr lang="en-US" b="1" dirty="0"/>
              <a:t>Medical Board</a:t>
            </a:r>
            <a:r>
              <a:rPr lang="en-US" dirty="0"/>
              <a:t>, according to the Act and applicable rules.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208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18CED-70A9-259F-B9BD-4A9100D27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79170"/>
            <a:ext cx="10890929" cy="1097280"/>
          </a:xfrm>
        </p:spPr>
        <p:txBody>
          <a:bodyPr/>
          <a:lstStyle/>
          <a:p>
            <a:r>
              <a:rPr lang="en-US" dirty="0"/>
              <a:t>Indications of MTP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2E6B5-0A0E-B0E9-F512-389A638C1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076450"/>
            <a:ext cx="10890928" cy="4123182"/>
          </a:xfrm>
        </p:spPr>
        <p:txBody>
          <a:bodyPr numCol="2">
            <a:normAutofit lnSpcReduction="10000"/>
          </a:bodyPr>
          <a:lstStyle/>
          <a:p>
            <a:r>
              <a:rPr lang="en-US" sz="3200" b="1" dirty="0"/>
              <a:t>Therapeutic</a:t>
            </a:r>
          </a:p>
          <a:p>
            <a:pPr lvl="1"/>
            <a:r>
              <a:rPr lang="en-US" sz="2800" dirty="0"/>
              <a:t>Continuation endangers mother's life.</a:t>
            </a:r>
          </a:p>
          <a:p>
            <a:r>
              <a:rPr lang="en-US" sz="3200" b="1" dirty="0"/>
              <a:t>Eugenic</a:t>
            </a:r>
          </a:p>
          <a:p>
            <a:pPr lvl="1"/>
            <a:r>
              <a:rPr lang="en-US" sz="2800" dirty="0"/>
              <a:t>Substantial fetal abnormalities.</a:t>
            </a:r>
          </a:p>
          <a:p>
            <a:r>
              <a:rPr lang="en-US" sz="3200" b="1" dirty="0"/>
              <a:t>Humanitarian</a:t>
            </a:r>
          </a:p>
          <a:p>
            <a:pPr lvl="1"/>
            <a:r>
              <a:rPr lang="en-US" sz="2800" dirty="0"/>
              <a:t>Pregnancy due to rape or incest.</a:t>
            </a:r>
          </a:p>
          <a:p>
            <a:r>
              <a:rPr lang="en-US" sz="3200" b="1" dirty="0"/>
              <a:t>Social</a:t>
            </a:r>
          </a:p>
          <a:p>
            <a:pPr lvl="1"/>
            <a:r>
              <a:rPr lang="en-US" sz="2800" dirty="0"/>
              <a:t>Failure of contraception causing mental distress in eligible women as recognized under the Act.</a:t>
            </a:r>
          </a:p>
          <a:p>
            <a:r>
              <a:rPr lang="en-US" sz="3200" b="1" dirty="0"/>
              <a:t>Public Health Importance</a:t>
            </a:r>
          </a:p>
          <a:p>
            <a:pPr lvl="1"/>
            <a:r>
              <a:rPr lang="en-US" sz="2800" dirty="0"/>
              <a:t>Reduces unsafe abortion.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7054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23CA2-1C10-40B1-5152-DFA734541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Eligible Categories (20–24 Weeks)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420B0-5302-D97D-1AFD-479CFAFD2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Survivors of rape </a:t>
            </a:r>
          </a:p>
          <a:p>
            <a:pPr lvl="0"/>
            <a:r>
              <a:rPr lang="en-US" dirty="0"/>
              <a:t>Minors </a:t>
            </a:r>
          </a:p>
          <a:p>
            <a:pPr lvl="0"/>
            <a:r>
              <a:rPr lang="en-US" dirty="0"/>
              <a:t>Change in marital status during pregnancy (e.g., widowhood or divorce) </a:t>
            </a:r>
          </a:p>
          <a:p>
            <a:pPr lvl="0"/>
            <a:r>
              <a:rPr lang="en-US" dirty="0"/>
              <a:t>Women with physical disabilities </a:t>
            </a:r>
          </a:p>
          <a:p>
            <a:pPr lvl="0"/>
            <a:r>
              <a:rPr lang="en-US" dirty="0"/>
              <a:t>Women with mental illness </a:t>
            </a:r>
          </a:p>
          <a:p>
            <a:pPr lvl="0"/>
            <a:r>
              <a:rPr lang="en-US" dirty="0"/>
              <a:t>Cases of fetal anomalies </a:t>
            </a:r>
          </a:p>
          <a:p>
            <a:pPr lvl="0"/>
            <a:r>
              <a:rPr lang="en-US" dirty="0"/>
              <a:t>Humanitarian/disaster situations as notified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4042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B439-E158-543B-4B68-5EC6720AE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Consent and confidentiality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E29E5-65F9-B3C6-16F8-DC290DBCD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Adult Woman (≥18 years)</a:t>
            </a:r>
          </a:p>
          <a:p>
            <a:pPr lvl="1"/>
            <a:r>
              <a:rPr lang="en-US" dirty="0"/>
              <a:t>Only </a:t>
            </a:r>
            <a:r>
              <a:rPr lang="en-US" b="1" dirty="0"/>
              <a:t>her own written consent</a:t>
            </a:r>
            <a:r>
              <a:rPr lang="en-US" dirty="0"/>
              <a:t> is required.</a:t>
            </a:r>
          </a:p>
          <a:p>
            <a:r>
              <a:rPr lang="en-US" b="1" dirty="0"/>
              <a:t>Minor (&lt;18 years)</a:t>
            </a:r>
          </a:p>
          <a:p>
            <a:pPr lvl="1"/>
            <a:r>
              <a:rPr lang="en-US" dirty="0"/>
              <a:t>Consent of </a:t>
            </a:r>
            <a:r>
              <a:rPr lang="en-US" b="1" dirty="0"/>
              <a:t>guardian</a:t>
            </a:r>
            <a:r>
              <a:rPr lang="en-US" dirty="0"/>
              <a:t>.</a:t>
            </a:r>
          </a:p>
          <a:p>
            <a:r>
              <a:rPr lang="en-US" b="1" dirty="0"/>
              <a:t>Woman with Mental Illness (where applicable under the law)</a:t>
            </a:r>
          </a:p>
          <a:p>
            <a:pPr lvl="1"/>
            <a:r>
              <a:rPr lang="en-US" dirty="0"/>
              <a:t>Guardian's consent.</a:t>
            </a:r>
          </a:p>
          <a:p>
            <a:r>
              <a:rPr lang="en-US" b="1" dirty="0"/>
              <a:t>The Act mandates confidentiality.</a:t>
            </a:r>
          </a:p>
          <a:p>
            <a:r>
              <a:rPr lang="en-US" dirty="0"/>
              <a:t>Identity of the woman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Cannot be disclosed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Except as permitted by law.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1816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4A4B3-6131-F884-C431-FB9E4E91E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74AD2-AA8E-0850-B902-723C0439E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Medical</a:t>
            </a:r>
          </a:p>
          <a:p>
            <a:pPr lvl="1"/>
            <a:r>
              <a:rPr lang="en-US" dirty="0"/>
              <a:t>Mifepristone </a:t>
            </a:r>
          </a:p>
          <a:p>
            <a:pPr lvl="1"/>
            <a:r>
              <a:rPr lang="en-US" dirty="0"/>
              <a:t>Misoprostol </a:t>
            </a:r>
          </a:p>
          <a:p>
            <a:r>
              <a:rPr lang="en-US" b="1" dirty="0"/>
              <a:t>Surgical</a:t>
            </a:r>
          </a:p>
          <a:p>
            <a:pPr lvl="1"/>
            <a:r>
              <a:rPr lang="en-US" dirty="0"/>
              <a:t>Vacuum aspiration </a:t>
            </a:r>
          </a:p>
          <a:p>
            <a:pPr lvl="1"/>
            <a:r>
              <a:rPr lang="en-US" dirty="0"/>
              <a:t>Dilatation and evacuation (D&amp;E), depending on gestational age and clinical indication </a:t>
            </a:r>
          </a:p>
          <a:p>
            <a:r>
              <a:rPr lang="en-US" b="1" dirty="0"/>
              <a:t>Choice Depends On</a:t>
            </a:r>
          </a:p>
          <a:p>
            <a:pPr lvl="1"/>
            <a:r>
              <a:rPr lang="en-US" dirty="0"/>
              <a:t>Gestational age </a:t>
            </a:r>
          </a:p>
          <a:p>
            <a:pPr lvl="1"/>
            <a:r>
              <a:rPr lang="en-US" dirty="0"/>
              <a:t>Clinical condition </a:t>
            </a:r>
          </a:p>
          <a:p>
            <a:pPr lvl="1"/>
            <a:r>
              <a:rPr lang="en-US" dirty="0"/>
              <a:t>Facility </a:t>
            </a:r>
          </a:p>
          <a:p>
            <a:pPr lvl="1"/>
            <a:r>
              <a:rPr lang="en-US" dirty="0"/>
              <a:t>Provider expertise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4503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5C85F-E2A0-3878-E603-1CCF8A73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9492E-0D03-BDB5-D7B1-10A49C8F8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Immediate</a:t>
            </a:r>
          </a:p>
          <a:p>
            <a:pPr lvl="1"/>
            <a:r>
              <a:rPr lang="en-US" dirty="0"/>
              <a:t>Bleeding </a:t>
            </a:r>
          </a:p>
          <a:p>
            <a:pPr lvl="1"/>
            <a:r>
              <a:rPr lang="en-US" dirty="0"/>
              <a:t>Infection </a:t>
            </a:r>
          </a:p>
          <a:p>
            <a:pPr lvl="1"/>
            <a:r>
              <a:rPr lang="en-US" dirty="0"/>
              <a:t>Incomplete abortion </a:t>
            </a:r>
          </a:p>
          <a:p>
            <a:pPr lvl="1"/>
            <a:r>
              <a:rPr lang="en-US" dirty="0"/>
              <a:t>Uterine injury </a:t>
            </a:r>
          </a:p>
          <a:p>
            <a:r>
              <a:rPr lang="en-US" b="1" dirty="0"/>
              <a:t>Late</a:t>
            </a:r>
          </a:p>
          <a:p>
            <a:pPr lvl="1"/>
            <a:r>
              <a:rPr lang="en-US" dirty="0"/>
              <a:t>Asherman syndrome (rare) </a:t>
            </a:r>
          </a:p>
          <a:p>
            <a:pPr lvl="1"/>
            <a:r>
              <a:rPr lang="en-US" dirty="0"/>
              <a:t>Infertility (rare after safe abortion) </a:t>
            </a:r>
          </a:p>
          <a:p>
            <a:r>
              <a:rPr lang="en-US" b="1" dirty="0"/>
              <a:t>Prevention</a:t>
            </a:r>
          </a:p>
          <a:p>
            <a:pPr lvl="1"/>
            <a:r>
              <a:rPr lang="en-US" dirty="0"/>
              <a:t>Safe abortion by trained providers.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1105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36614-2B57-A8B0-4E71-738E0E31C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0442" y="4474103"/>
            <a:ext cx="7031117" cy="93390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dirty="0"/>
              <a:t>Thanks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A921C89C-D0ED-B461-06EC-93330262EB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46210" y="409300"/>
            <a:ext cx="3899580" cy="389958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3FCC9E-47A2-69B7-68E7-7FA95EAD5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1680" y="5662526"/>
            <a:ext cx="548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56959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2384</Words>
  <Application>Microsoft Office PowerPoint</Application>
  <PresentationFormat>Widescreen</PresentationFormat>
  <Paragraphs>599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Courier New</vt:lpstr>
      <vt:lpstr>Times New Roman</vt:lpstr>
      <vt:lpstr>Wingdings</vt:lpstr>
      <vt:lpstr>DashVTI</vt:lpstr>
      <vt:lpstr>Demography and Family planning</vt:lpstr>
      <vt:lpstr>Frequently asked questions</vt:lpstr>
      <vt:lpstr>Frequently asked questions</vt:lpstr>
      <vt:lpstr>Frequently asked questions</vt:lpstr>
      <vt:lpstr>Frequently asked questions</vt:lpstr>
      <vt:lpstr>Frequently asked questions</vt:lpstr>
      <vt:lpstr>Definition</vt:lpstr>
      <vt:lpstr>Importance of demography</vt:lpstr>
      <vt:lpstr>Sources of data</vt:lpstr>
      <vt:lpstr>Comparison between sources</vt:lpstr>
      <vt:lpstr>Demographic transition</vt:lpstr>
      <vt:lpstr>Summary</vt:lpstr>
      <vt:lpstr>Demographic cycle</vt:lpstr>
      <vt:lpstr>PowerPoint Presentation</vt:lpstr>
      <vt:lpstr>Population growth rate</vt:lpstr>
      <vt:lpstr>Population explosion</vt:lpstr>
      <vt:lpstr>PowerPoint Presentation</vt:lpstr>
      <vt:lpstr>Population stabilization</vt:lpstr>
      <vt:lpstr>Population Pyramid </vt:lpstr>
      <vt:lpstr>Population pyramid - India</vt:lpstr>
      <vt:lpstr>Demographic dividend</vt:lpstr>
      <vt:lpstr>Demographic indicators</vt:lpstr>
      <vt:lpstr>Classification of Demographic Indicators</vt:lpstr>
      <vt:lpstr>Population statistics</vt:lpstr>
      <vt:lpstr>Sex Composition</vt:lpstr>
      <vt:lpstr>Population statistics</vt:lpstr>
      <vt:lpstr>Population statistics</vt:lpstr>
      <vt:lpstr>Life expectancy</vt:lpstr>
      <vt:lpstr>Vital statistics</vt:lpstr>
      <vt:lpstr>Fertility</vt:lpstr>
      <vt:lpstr>Fertility Indicators</vt:lpstr>
      <vt:lpstr>Fertility Indicators</vt:lpstr>
      <vt:lpstr>Family Planning</vt:lpstr>
      <vt:lpstr>Evolution of the program</vt:lpstr>
      <vt:lpstr>Cafeteria approach</vt:lpstr>
      <vt:lpstr>Mission Parivar vikas</vt:lpstr>
      <vt:lpstr>Counselling for contraception</vt:lpstr>
      <vt:lpstr>Abortion terminology</vt:lpstr>
      <vt:lpstr>Safe Abortion</vt:lpstr>
      <vt:lpstr>MTP act</vt:lpstr>
      <vt:lpstr>Indications of MTP</vt:lpstr>
      <vt:lpstr>Eligible Categories (20–24 Weeks)</vt:lpstr>
      <vt:lpstr>Consent and confidentiality</vt:lpstr>
      <vt:lpstr>Method</vt:lpstr>
      <vt:lpstr>Complications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mukul maheshwari</dc:creator>
  <cp:lastModifiedBy>mukul maheshwari</cp:lastModifiedBy>
  <cp:revision>1</cp:revision>
  <dcterms:created xsi:type="dcterms:W3CDTF">2026-07-15T21:36:59Z</dcterms:created>
  <dcterms:modified xsi:type="dcterms:W3CDTF">2026-07-16T02:20:12Z</dcterms:modified>
</cp:coreProperties>
</file>