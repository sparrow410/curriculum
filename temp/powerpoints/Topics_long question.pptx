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59" r:id="rId13"/>
    <p:sldId id="260" r:id="rId14"/>
    <p:sldId id="262" r:id="rId15"/>
    <p:sldId id="257" r:id="rId16"/>
    <p:sldId id="258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kul maheshwari" initials="mm" lastIdx="1" clrIdx="0">
    <p:extLst>
      <p:ext uri="{19B8F6BF-5375-455C-9EA6-DF929625EA0E}">
        <p15:presenceInfo xmlns:p15="http://schemas.microsoft.com/office/powerpoint/2012/main" userId="12cb43e2ca5f0d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FD064-1B36-466A-83E2-004836E5F21B}" v="33" dt="2025-09-05T16:04:00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7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Windows Live" clId="Web-{47334FD1-1B07-EDF6-2A64-49B36ACE93AF}"/>
    <pc:docChg chg="modSld">
      <pc:chgData name="mukul maheshwari" userId="12cb43e2ca5f0d2c" providerId="Windows Live" clId="Web-{47334FD1-1B07-EDF6-2A64-49B36ACE93AF}" dt="2025-08-30T02:40:12.525" v="25" actId="20577"/>
      <pc:docMkLst>
        <pc:docMk/>
      </pc:docMkLst>
      <pc:sldChg chg="modSp">
        <pc:chgData name="mukul maheshwari" userId="12cb43e2ca5f0d2c" providerId="Windows Live" clId="Web-{47334FD1-1B07-EDF6-2A64-49B36ACE93AF}" dt="2025-08-30T02:40:12.525" v="25" actId="20577"/>
        <pc:sldMkLst>
          <pc:docMk/>
          <pc:sldMk cId="0" sldId="256"/>
        </pc:sldMkLst>
        <pc:spChg chg="mod">
          <ac:chgData name="mukul maheshwari" userId="12cb43e2ca5f0d2c" providerId="Windows Live" clId="Web-{47334FD1-1B07-EDF6-2A64-49B36ACE93AF}" dt="2025-08-30T02:40:12.525" v="2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mukul maheshwari" userId="12cb43e2ca5f0d2c" providerId="Windows Live" clId="Web-{47334FD1-1B07-EDF6-2A64-49B36ACE93AF}" dt="2025-08-30T02:39:18.181" v="11" actId="20577"/>
        <pc:sldMkLst>
          <pc:docMk/>
          <pc:sldMk cId="0" sldId="257"/>
        </pc:sldMkLst>
        <pc:spChg chg="mod">
          <ac:chgData name="mukul maheshwari" userId="12cb43e2ca5f0d2c" providerId="Windows Live" clId="Web-{47334FD1-1B07-EDF6-2A64-49B36ACE93AF}" dt="2025-08-30T02:39:18.181" v="11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mukul maheshwari" userId="12cb43e2ca5f0d2c" providerId="LiveId" clId="{771D35AD-4715-4301-979B-0CEBFD3D1244}"/>
    <pc:docChg chg="undo custSel addSld delSld modSld sldOrd">
      <pc:chgData name="mukul maheshwari" userId="12cb43e2ca5f0d2c" providerId="LiveId" clId="{771D35AD-4715-4301-979B-0CEBFD3D1244}" dt="2025-09-05T16:04:01.128" v="319" actId="27636"/>
      <pc:docMkLst>
        <pc:docMk/>
      </pc:docMkLst>
      <pc:sldChg chg="modSp mod">
        <pc:chgData name="mukul maheshwari" userId="12cb43e2ca5f0d2c" providerId="LiveId" clId="{771D35AD-4715-4301-979B-0CEBFD3D1244}" dt="2025-09-05T15:03:52.879" v="13" actId="20577"/>
        <pc:sldMkLst>
          <pc:docMk/>
          <pc:sldMk cId="0" sldId="256"/>
        </pc:sldMkLst>
        <pc:spChg chg="mod">
          <ac:chgData name="mukul maheshwari" userId="12cb43e2ca5f0d2c" providerId="LiveId" clId="{771D35AD-4715-4301-979B-0CEBFD3D1244}" dt="2025-09-05T15:03:52.879" v="1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kul maheshwari" userId="12cb43e2ca5f0d2c" providerId="LiveId" clId="{771D35AD-4715-4301-979B-0CEBFD3D1244}" dt="2025-09-05T15:03:44.538" v="1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ukul maheshwari" userId="12cb43e2ca5f0d2c" providerId="LiveId" clId="{771D35AD-4715-4301-979B-0CEBFD3D1244}" dt="2025-09-05T15:20:27.587" v="99" actId="27636"/>
        <pc:sldMkLst>
          <pc:docMk/>
          <pc:sldMk cId="0" sldId="257"/>
        </pc:sldMkLst>
        <pc:spChg chg="mod">
          <ac:chgData name="mukul maheshwari" userId="12cb43e2ca5f0d2c" providerId="LiveId" clId="{771D35AD-4715-4301-979B-0CEBFD3D1244}" dt="2025-09-05T15:20:27.587" v="99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ukul maheshwari" userId="12cb43e2ca5f0d2c" providerId="LiveId" clId="{771D35AD-4715-4301-979B-0CEBFD3D1244}" dt="2025-09-05T15:04:59.660" v="24" actId="27636"/>
        <pc:sldMkLst>
          <pc:docMk/>
          <pc:sldMk cId="0" sldId="258"/>
        </pc:sldMkLst>
        <pc:spChg chg="mod">
          <ac:chgData name="mukul maheshwari" userId="12cb43e2ca5f0d2c" providerId="LiveId" clId="{771D35AD-4715-4301-979B-0CEBFD3D1244}" dt="2025-09-05T15:04:59.660" v="24" actId="27636"/>
          <ac:spMkLst>
            <pc:docMk/>
            <pc:sldMk cId="0" sldId="258"/>
            <ac:spMk id="3" creationId="{00000000-0000-0000-0000-000000000000}"/>
          </ac:spMkLst>
        </pc:spChg>
      </pc:sldChg>
      <pc:sldChg chg="delSp modSp new mod">
        <pc:chgData name="mukul maheshwari" userId="12cb43e2ca5f0d2c" providerId="LiveId" clId="{771D35AD-4715-4301-979B-0CEBFD3D1244}" dt="2025-09-05T16:04:01.128" v="319" actId="27636"/>
        <pc:sldMkLst>
          <pc:docMk/>
          <pc:sldMk cId="3120866502" sldId="259"/>
        </pc:sldMkLst>
        <pc:spChg chg="del">
          <ac:chgData name="mukul maheshwari" userId="12cb43e2ca5f0d2c" providerId="LiveId" clId="{771D35AD-4715-4301-979B-0CEBFD3D1244}" dt="2025-09-05T15:09:24.655" v="34" actId="478"/>
          <ac:spMkLst>
            <pc:docMk/>
            <pc:sldMk cId="3120866502" sldId="259"/>
            <ac:spMk id="2" creationId="{5587289F-3EC5-6531-2955-182243537319}"/>
          </ac:spMkLst>
        </pc:spChg>
        <pc:spChg chg="mod">
          <ac:chgData name="mukul maheshwari" userId="12cb43e2ca5f0d2c" providerId="LiveId" clId="{771D35AD-4715-4301-979B-0CEBFD3D1244}" dt="2025-09-05T16:04:01.128" v="319" actId="27636"/>
          <ac:spMkLst>
            <pc:docMk/>
            <pc:sldMk cId="3120866502" sldId="259"/>
            <ac:spMk id="3" creationId="{5E5DD2DA-CF0D-0766-6EF0-8157D772842B}"/>
          </ac:spMkLst>
        </pc:spChg>
      </pc:sldChg>
      <pc:sldChg chg="delSp modSp new mod ord">
        <pc:chgData name="mukul maheshwari" userId="12cb43e2ca5f0d2c" providerId="LiveId" clId="{771D35AD-4715-4301-979B-0CEBFD3D1244}" dt="2025-09-05T15:23:02.476" v="128"/>
        <pc:sldMkLst>
          <pc:docMk/>
          <pc:sldMk cId="1522381850" sldId="260"/>
        </pc:sldMkLst>
        <pc:spChg chg="del mod">
          <ac:chgData name="mukul maheshwari" userId="12cb43e2ca5f0d2c" providerId="LiveId" clId="{771D35AD-4715-4301-979B-0CEBFD3D1244}" dt="2025-09-05T15:22:00.818" v="108" actId="478"/>
          <ac:spMkLst>
            <pc:docMk/>
            <pc:sldMk cId="1522381850" sldId="260"/>
            <ac:spMk id="2" creationId="{8DE55449-29CD-A9D1-6793-D21A6CD1E6BD}"/>
          </ac:spMkLst>
        </pc:spChg>
        <pc:spChg chg="mod">
          <ac:chgData name="mukul maheshwari" userId="12cb43e2ca5f0d2c" providerId="LiveId" clId="{771D35AD-4715-4301-979B-0CEBFD3D1244}" dt="2025-09-05T15:22:04.198" v="110" actId="27636"/>
          <ac:spMkLst>
            <pc:docMk/>
            <pc:sldMk cId="1522381850" sldId="260"/>
            <ac:spMk id="3" creationId="{7FC93CC6-0E91-4BF9-BA9E-95E40786C4C9}"/>
          </ac:spMkLst>
        </pc:spChg>
      </pc:sldChg>
      <pc:sldChg chg="modSp new mod">
        <pc:chgData name="mukul maheshwari" userId="12cb43e2ca5f0d2c" providerId="LiveId" clId="{771D35AD-4715-4301-979B-0CEBFD3D1244}" dt="2025-09-05T15:19:00.181" v="76" actId="27636"/>
        <pc:sldMkLst>
          <pc:docMk/>
          <pc:sldMk cId="885743476" sldId="261"/>
        </pc:sldMkLst>
        <pc:spChg chg="mod">
          <ac:chgData name="mukul maheshwari" userId="12cb43e2ca5f0d2c" providerId="LiveId" clId="{771D35AD-4715-4301-979B-0CEBFD3D1244}" dt="2025-09-05T15:19:00.181" v="76" actId="27636"/>
          <ac:spMkLst>
            <pc:docMk/>
            <pc:sldMk cId="885743476" sldId="261"/>
            <ac:spMk id="3" creationId="{61B68F2D-FD63-627E-146C-CEA400E24D33}"/>
          </ac:spMkLst>
        </pc:spChg>
      </pc:sldChg>
      <pc:sldChg chg="delSp modSp new mod">
        <pc:chgData name="mukul maheshwari" userId="12cb43e2ca5f0d2c" providerId="LiveId" clId="{771D35AD-4715-4301-979B-0CEBFD3D1244}" dt="2025-09-05T15:22:39.732" v="123" actId="20577"/>
        <pc:sldMkLst>
          <pc:docMk/>
          <pc:sldMk cId="2140315303" sldId="262"/>
        </pc:sldMkLst>
        <pc:spChg chg="del">
          <ac:chgData name="mukul maheshwari" userId="12cb43e2ca5f0d2c" providerId="LiveId" clId="{771D35AD-4715-4301-979B-0CEBFD3D1244}" dt="2025-09-05T15:22:13.536" v="111" actId="478"/>
          <ac:spMkLst>
            <pc:docMk/>
            <pc:sldMk cId="2140315303" sldId="262"/>
            <ac:spMk id="2" creationId="{678CE5D6-FC2C-BFFD-9B79-95C9E0024645}"/>
          </ac:spMkLst>
        </pc:spChg>
        <pc:spChg chg="mod">
          <ac:chgData name="mukul maheshwari" userId="12cb43e2ca5f0d2c" providerId="LiveId" clId="{771D35AD-4715-4301-979B-0CEBFD3D1244}" dt="2025-09-05T15:22:39.732" v="123" actId="20577"/>
          <ac:spMkLst>
            <pc:docMk/>
            <pc:sldMk cId="2140315303" sldId="262"/>
            <ac:spMk id="3" creationId="{0DDB257C-4422-49BC-1B0C-C6ABEB7D0DFD}"/>
          </ac:spMkLst>
        </pc:spChg>
      </pc:sldChg>
      <pc:sldChg chg="modSp new mod">
        <pc:chgData name="mukul maheshwari" userId="12cb43e2ca5f0d2c" providerId="LiveId" clId="{771D35AD-4715-4301-979B-0CEBFD3D1244}" dt="2025-09-05T15:35:07.445" v="138" actId="207"/>
        <pc:sldMkLst>
          <pc:docMk/>
          <pc:sldMk cId="3310783711" sldId="263"/>
        </pc:sldMkLst>
        <pc:spChg chg="mod">
          <ac:chgData name="mukul maheshwari" userId="12cb43e2ca5f0d2c" providerId="LiveId" clId="{771D35AD-4715-4301-979B-0CEBFD3D1244}" dt="2025-09-05T15:32:53.457" v="132" actId="27636"/>
          <ac:spMkLst>
            <pc:docMk/>
            <pc:sldMk cId="3310783711" sldId="263"/>
            <ac:spMk id="2" creationId="{18090336-F3E2-7F4E-5379-C5243C630A5F}"/>
          </ac:spMkLst>
        </pc:spChg>
        <pc:spChg chg="mod">
          <ac:chgData name="mukul maheshwari" userId="12cb43e2ca5f0d2c" providerId="LiveId" clId="{771D35AD-4715-4301-979B-0CEBFD3D1244}" dt="2025-09-05T15:35:07.445" v="138" actId="207"/>
          <ac:spMkLst>
            <pc:docMk/>
            <pc:sldMk cId="3310783711" sldId="263"/>
            <ac:spMk id="3" creationId="{39F0C761-14CC-1B9C-C349-3A49BEE0736C}"/>
          </ac:spMkLst>
        </pc:spChg>
      </pc:sldChg>
      <pc:sldChg chg="modSp new del mod">
        <pc:chgData name="mukul maheshwari" userId="12cb43e2ca5f0d2c" providerId="LiveId" clId="{771D35AD-4715-4301-979B-0CEBFD3D1244}" dt="2025-09-05T15:22:42.004" v="124" actId="47"/>
        <pc:sldMkLst>
          <pc:docMk/>
          <pc:sldMk cId="3513042271" sldId="263"/>
        </pc:sldMkLst>
        <pc:spChg chg="mod">
          <ac:chgData name="mukul maheshwari" userId="12cb43e2ca5f0d2c" providerId="LiveId" clId="{771D35AD-4715-4301-979B-0CEBFD3D1244}" dt="2025-09-05T15:22:26.852" v="114" actId="21"/>
          <ac:spMkLst>
            <pc:docMk/>
            <pc:sldMk cId="3513042271" sldId="263"/>
            <ac:spMk id="3" creationId="{90E9314C-0F4F-DFB7-F093-034AC396DE61}"/>
          </ac:spMkLst>
        </pc:spChg>
      </pc:sldChg>
      <pc:sldChg chg="modSp new mod">
        <pc:chgData name="mukul maheshwari" userId="12cb43e2ca5f0d2c" providerId="LiveId" clId="{771D35AD-4715-4301-979B-0CEBFD3D1244}" dt="2025-09-05T15:36:17.820" v="179" actId="113"/>
        <pc:sldMkLst>
          <pc:docMk/>
          <pc:sldMk cId="1871081850" sldId="264"/>
        </pc:sldMkLst>
        <pc:spChg chg="mod">
          <ac:chgData name="mukul maheshwari" userId="12cb43e2ca5f0d2c" providerId="LiveId" clId="{771D35AD-4715-4301-979B-0CEBFD3D1244}" dt="2025-09-05T15:35:18.357" v="167" actId="20577"/>
          <ac:spMkLst>
            <pc:docMk/>
            <pc:sldMk cId="1871081850" sldId="264"/>
            <ac:spMk id="2" creationId="{A9745E88-4FF0-C5E7-E30E-7209BA572B72}"/>
          </ac:spMkLst>
        </pc:spChg>
        <pc:spChg chg="mod">
          <ac:chgData name="mukul maheshwari" userId="12cb43e2ca5f0d2c" providerId="LiveId" clId="{771D35AD-4715-4301-979B-0CEBFD3D1244}" dt="2025-09-05T15:36:17.820" v="179" actId="113"/>
          <ac:spMkLst>
            <pc:docMk/>
            <pc:sldMk cId="1871081850" sldId="264"/>
            <ac:spMk id="3" creationId="{36E58E2B-40FD-8ED3-0731-BB2E672CAD7F}"/>
          </ac:spMkLst>
        </pc:spChg>
      </pc:sldChg>
      <pc:sldChg chg="modSp new mod ord">
        <pc:chgData name="mukul maheshwari" userId="12cb43e2ca5f0d2c" providerId="LiveId" clId="{771D35AD-4715-4301-979B-0CEBFD3D1244}" dt="2025-09-05T15:39:04.618" v="188"/>
        <pc:sldMkLst>
          <pc:docMk/>
          <pc:sldMk cId="1165992509" sldId="265"/>
        </pc:sldMkLst>
        <pc:spChg chg="mod">
          <ac:chgData name="mukul maheshwari" userId="12cb43e2ca5f0d2c" providerId="LiveId" clId="{771D35AD-4715-4301-979B-0CEBFD3D1244}" dt="2025-09-05T15:38:50.304" v="184" actId="27636"/>
          <ac:spMkLst>
            <pc:docMk/>
            <pc:sldMk cId="1165992509" sldId="265"/>
            <ac:spMk id="2" creationId="{57E7571E-8121-EDDB-D8D2-1A33EE73BD04}"/>
          </ac:spMkLst>
        </pc:spChg>
        <pc:spChg chg="mod">
          <ac:chgData name="mukul maheshwari" userId="12cb43e2ca5f0d2c" providerId="LiveId" clId="{771D35AD-4715-4301-979B-0CEBFD3D1244}" dt="2025-09-05T15:38:53.244" v="186" actId="27636"/>
          <ac:spMkLst>
            <pc:docMk/>
            <pc:sldMk cId="1165992509" sldId="265"/>
            <ac:spMk id="3" creationId="{26C65AB5-0784-AF4D-C8DF-B0FB8FF796C9}"/>
          </ac:spMkLst>
        </pc:spChg>
      </pc:sldChg>
      <pc:sldChg chg="addSp delSp modSp new mod setBg">
        <pc:chgData name="mukul maheshwari" userId="12cb43e2ca5f0d2c" providerId="LiveId" clId="{771D35AD-4715-4301-979B-0CEBFD3D1244}" dt="2025-09-05T15:49:06.968" v="211" actId="403"/>
        <pc:sldMkLst>
          <pc:docMk/>
          <pc:sldMk cId="875195749" sldId="266"/>
        </pc:sldMkLst>
        <pc:spChg chg="del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2" creationId="{93AD589D-BC35-DB30-43B7-3EA499670506}"/>
          </ac:spMkLst>
        </pc:spChg>
        <pc:spChg chg="del">
          <ac:chgData name="mukul maheshwari" userId="12cb43e2ca5f0d2c" providerId="LiveId" clId="{771D35AD-4715-4301-979B-0CEBFD3D1244}" dt="2025-09-05T15:46:49.072" v="190"/>
          <ac:spMkLst>
            <pc:docMk/>
            <pc:sldMk cId="875195749" sldId="266"/>
            <ac:spMk id="3" creationId="{13FC0D84-80E1-8E64-1592-FDD52447D55A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9" creationId="{F3060C83-F051-4F0E-ABAD-AA0DFC48B218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11" creationId="{83C98ABE-055B-441F-B07E-44F97F083C39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13" creationId="{29FDB030-9B49-4CED-8CCD-4D99382388AC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15" creationId="{3783CA14-24A1-485C-8B30-D6A5D87987AD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17" creationId="{9A97C86A-04D6-40F7-AE84-31AB43E6A846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19" creationId="{FF9F2414-84E8-453E-B1F3-389FDE8192D9}"/>
          </ac:spMkLst>
        </pc:spChg>
        <pc:spChg chg="add">
          <ac:chgData name="mukul maheshwari" userId="12cb43e2ca5f0d2c" providerId="LiveId" clId="{771D35AD-4715-4301-979B-0CEBFD3D1244}" dt="2025-09-05T15:48:21.890" v="200" actId="26606"/>
          <ac:spMkLst>
            <pc:docMk/>
            <pc:sldMk cId="875195749" sldId="266"/>
            <ac:spMk id="21" creationId="{3ECA69A1-7536-43AC-85EF-C7106179F5ED}"/>
          </ac:spMkLst>
        </pc:spChg>
        <pc:graphicFrameChg chg="add mod modGraphic">
          <ac:chgData name="mukul maheshwari" userId="12cb43e2ca5f0d2c" providerId="LiveId" clId="{771D35AD-4715-4301-979B-0CEBFD3D1244}" dt="2025-09-05T15:49:06.968" v="211" actId="403"/>
          <ac:graphicFrameMkLst>
            <pc:docMk/>
            <pc:sldMk cId="875195749" sldId="266"/>
            <ac:graphicFrameMk id="4" creationId="{77F18765-1DCE-5B6D-A0D2-1D362155DFE9}"/>
          </ac:graphicFrameMkLst>
        </pc:graphicFrameChg>
      </pc:sldChg>
      <pc:sldChg chg="addSp delSp modSp new mod">
        <pc:chgData name="mukul maheshwari" userId="12cb43e2ca5f0d2c" providerId="LiveId" clId="{771D35AD-4715-4301-979B-0CEBFD3D1244}" dt="2025-09-05T15:47:56.418" v="197" actId="12385"/>
        <pc:sldMkLst>
          <pc:docMk/>
          <pc:sldMk cId="155013238" sldId="267"/>
        </pc:sldMkLst>
        <pc:spChg chg="del">
          <ac:chgData name="mukul maheshwari" userId="12cb43e2ca5f0d2c" providerId="LiveId" clId="{771D35AD-4715-4301-979B-0CEBFD3D1244}" dt="2025-09-05T15:47:22.201" v="194"/>
          <ac:spMkLst>
            <pc:docMk/>
            <pc:sldMk cId="155013238" sldId="267"/>
            <ac:spMk id="3" creationId="{C2FE945E-5C97-A961-6580-FC12FCC6059B}"/>
          </ac:spMkLst>
        </pc:spChg>
        <pc:graphicFrameChg chg="add mod modGraphic">
          <ac:chgData name="mukul maheshwari" userId="12cb43e2ca5f0d2c" providerId="LiveId" clId="{771D35AD-4715-4301-979B-0CEBFD3D1244}" dt="2025-09-05T15:47:56.418" v="197" actId="12385"/>
          <ac:graphicFrameMkLst>
            <pc:docMk/>
            <pc:sldMk cId="155013238" sldId="267"/>
            <ac:graphicFrameMk id="4" creationId="{E9E00F5C-C200-98CD-77A4-1C7704DCC405}"/>
          </ac:graphicFrameMkLst>
        </pc:graphicFrameChg>
      </pc:sldChg>
      <pc:sldChg chg="modSp new mod">
        <pc:chgData name="mukul maheshwari" userId="12cb43e2ca5f0d2c" providerId="LiveId" clId="{771D35AD-4715-4301-979B-0CEBFD3D1244}" dt="2025-09-05T15:52:30.921" v="241" actId="27636"/>
        <pc:sldMkLst>
          <pc:docMk/>
          <pc:sldMk cId="191145231" sldId="268"/>
        </pc:sldMkLst>
        <pc:spChg chg="mod">
          <ac:chgData name="mukul maheshwari" userId="12cb43e2ca5f0d2c" providerId="LiveId" clId="{771D35AD-4715-4301-979B-0CEBFD3D1244}" dt="2025-09-05T15:52:30.921" v="241" actId="27636"/>
          <ac:spMkLst>
            <pc:docMk/>
            <pc:sldMk cId="191145231" sldId="268"/>
            <ac:spMk id="2" creationId="{B569793A-A9B0-BD3D-DAB1-941D288C8A66}"/>
          </ac:spMkLst>
        </pc:spChg>
        <pc:spChg chg="mod">
          <ac:chgData name="mukul maheshwari" userId="12cb43e2ca5f0d2c" providerId="LiveId" clId="{771D35AD-4715-4301-979B-0CEBFD3D1244}" dt="2025-09-05T15:51:31.649" v="234" actId="27636"/>
          <ac:spMkLst>
            <pc:docMk/>
            <pc:sldMk cId="191145231" sldId="268"/>
            <ac:spMk id="3" creationId="{1441BEBE-8467-9F0A-40E2-B931269CE649}"/>
          </ac:spMkLst>
        </pc:spChg>
      </pc:sldChg>
      <pc:sldChg chg="delSp modSp new mod ord">
        <pc:chgData name="mukul maheshwari" userId="12cb43e2ca5f0d2c" providerId="LiveId" clId="{771D35AD-4715-4301-979B-0CEBFD3D1244}" dt="2025-09-05T15:51:14.386" v="232" actId="27636"/>
        <pc:sldMkLst>
          <pc:docMk/>
          <pc:sldMk cId="401654358" sldId="269"/>
        </pc:sldMkLst>
        <pc:spChg chg="del">
          <ac:chgData name="mukul maheshwari" userId="12cb43e2ca5f0d2c" providerId="LiveId" clId="{771D35AD-4715-4301-979B-0CEBFD3D1244}" dt="2025-09-05T15:50:36.959" v="220" actId="478"/>
          <ac:spMkLst>
            <pc:docMk/>
            <pc:sldMk cId="401654358" sldId="269"/>
            <ac:spMk id="2" creationId="{C35E0C36-9C29-1C89-7493-883B010FCB27}"/>
          </ac:spMkLst>
        </pc:spChg>
        <pc:spChg chg="mod">
          <ac:chgData name="mukul maheshwari" userId="12cb43e2ca5f0d2c" providerId="LiveId" clId="{771D35AD-4715-4301-979B-0CEBFD3D1244}" dt="2025-09-05T15:51:14.386" v="232" actId="27636"/>
          <ac:spMkLst>
            <pc:docMk/>
            <pc:sldMk cId="401654358" sldId="269"/>
            <ac:spMk id="3" creationId="{7ADAC184-60F8-1458-5964-6B08A361F3DE}"/>
          </ac:spMkLst>
        </pc:spChg>
      </pc:sldChg>
      <pc:sldChg chg="modSp new mod">
        <pc:chgData name="mukul maheshwari" userId="12cb43e2ca5f0d2c" providerId="LiveId" clId="{771D35AD-4715-4301-979B-0CEBFD3D1244}" dt="2025-09-05T15:52:56.841" v="246" actId="27636"/>
        <pc:sldMkLst>
          <pc:docMk/>
          <pc:sldMk cId="6970292" sldId="270"/>
        </pc:sldMkLst>
        <pc:spChg chg="mod">
          <ac:chgData name="mukul maheshwari" userId="12cb43e2ca5f0d2c" providerId="LiveId" clId="{771D35AD-4715-4301-979B-0CEBFD3D1244}" dt="2025-09-05T15:52:15.687" v="238" actId="20577"/>
          <ac:spMkLst>
            <pc:docMk/>
            <pc:sldMk cId="6970292" sldId="270"/>
            <ac:spMk id="2" creationId="{21732F74-C5AA-F0DC-CBA4-47D0A24835A2}"/>
          </ac:spMkLst>
        </pc:spChg>
        <pc:spChg chg="mod">
          <ac:chgData name="mukul maheshwari" userId="12cb43e2ca5f0d2c" providerId="LiveId" clId="{771D35AD-4715-4301-979B-0CEBFD3D1244}" dt="2025-09-05T15:52:56.841" v="246" actId="27636"/>
          <ac:spMkLst>
            <pc:docMk/>
            <pc:sldMk cId="6970292" sldId="270"/>
            <ac:spMk id="3" creationId="{1D1BDBEE-925B-4B08-BF37-7397783A3EA1}"/>
          </ac:spMkLst>
        </pc:spChg>
      </pc:sldChg>
      <pc:sldChg chg="addSp delSp modSp new mod">
        <pc:chgData name="mukul maheshwari" userId="12cb43e2ca5f0d2c" providerId="LiveId" clId="{771D35AD-4715-4301-979B-0CEBFD3D1244}" dt="2025-09-05T16:02:21.148" v="309" actId="27636"/>
        <pc:sldMkLst>
          <pc:docMk/>
          <pc:sldMk cId="1672061647" sldId="271"/>
        </pc:sldMkLst>
        <pc:spChg chg="add del mod">
          <ac:chgData name="mukul maheshwari" userId="12cb43e2ca5f0d2c" providerId="LiveId" clId="{771D35AD-4715-4301-979B-0CEBFD3D1244}" dt="2025-09-05T15:59:40.811" v="272" actId="20577"/>
          <ac:spMkLst>
            <pc:docMk/>
            <pc:sldMk cId="1672061647" sldId="271"/>
            <ac:spMk id="2" creationId="{C3B34BE2-ED85-5695-B105-E1C2F0108ADF}"/>
          </ac:spMkLst>
        </pc:spChg>
        <pc:spChg chg="mod">
          <ac:chgData name="mukul maheshwari" userId="12cb43e2ca5f0d2c" providerId="LiveId" clId="{771D35AD-4715-4301-979B-0CEBFD3D1244}" dt="2025-09-05T16:02:21.148" v="309" actId="27636"/>
          <ac:spMkLst>
            <pc:docMk/>
            <pc:sldMk cId="1672061647" sldId="271"/>
            <ac:spMk id="3" creationId="{48340245-CFD4-110C-2CD7-18128B986B10}"/>
          </ac:spMkLst>
        </pc:spChg>
      </pc:sldChg>
      <pc:sldChg chg="modSp new mod">
        <pc:chgData name="mukul maheshwari" userId="12cb43e2ca5f0d2c" providerId="LiveId" clId="{771D35AD-4715-4301-979B-0CEBFD3D1244}" dt="2025-09-05T16:03:29.218" v="318" actId="27636"/>
        <pc:sldMkLst>
          <pc:docMk/>
          <pc:sldMk cId="3218595454" sldId="272"/>
        </pc:sldMkLst>
        <pc:spChg chg="mod">
          <ac:chgData name="mukul maheshwari" userId="12cb43e2ca5f0d2c" providerId="LiveId" clId="{771D35AD-4715-4301-979B-0CEBFD3D1244}" dt="2025-09-05T16:03:20.156" v="316" actId="27636"/>
          <ac:spMkLst>
            <pc:docMk/>
            <pc:sldMk cId="3218595454" sldId="272"/>
            <ac:spMk id="2" creationId="{09A98ABD-F08E-2F3A-72C0-AA5E09EE73B3}"/>
          </ac:spMkLst>
        </pc:spChg>
        <pc:spChg chg="mod">
          <ac:chgData name="mukul maheshwari" userId="12cb43e2ca5f0d2c" providerId="LiveId" clId="{771D35AD-4715-4301-979B-0CEBFD3D1244}" dt="2025-09-05T16:03:29.218" v="318" actId="27636"/>
          <ac:spMkLst>
            <pc:docMk/>
            <pc:sldMk cId="3218595454" sldId="272"/>
            <ac:spMk id="3" creationId="{B3B20753-8C9C-EDA2-6EB7-FB26FF68FB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Topics 1 to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200" dirty="0"/>
              <a:t>Define Maternal Mortality Rate. What are the causes for maternal mortality? </a:t>
            </a:r>
            <a:r>
              <a:rPr lang="en-US" sz="2200" dirty="0"/>
              <a:t>3+7</a:t>
            </a:r>
          </a:p>
          <a:p>
            <a:r>
              <a:rPr sz="2200" dirty="0"/>
              <a:t>Discuss the measures taken to reduce and prevent maternal mortality.</a:t>
            </a:r>
            <a:r>
              <a:rPr lang="en-US" sz="2200" dirty="0"/>
              <a:t> 10</a:t>
            </a:r>
            <a:endParaRPr lang="en-US" sz="2200" dirty="0">
              <a:ea typeface="Calibri"/>
              <a:cs typeface="Calibri"/>
            </a:endParaRPr>
          </a:p>
          <a:p>
            <a:r>
              <a:rPr sz="2200" dirty="0"/>
              <a:t>Discuss the magnitude of problem of cancer in India and world.</a:t>
            </a:r>
            <a:r>
              <a:rPr lang="en-US" sz="2200" dirty="0"/>
              <a:t> 10</a:t>
            </a:r>
          </a:p>
          <a:p>
            <a:r>
              <a:rPr sz="2200" dirty="0"/>
              <a:t>Discuss the risk factors, and prevention and control strategy for cervical cancer.</a:t>
            </a:r>
            <a:r>
              <a:rPr lang="en-US" sz="2200" dirty="0"/>
              <a:t> 10</a:t>
            </a:r>
            <a:endParaRPr sz="2200" dirty="0">
              <a:ea typeface="Calibri"/>
              <a:cs typeface="Calibri"/>
            </a:endParaRPr>
          </a:p>
          <a:p>
            <a:endParaRPr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0336-F3E2-7F4E-5379-C5243C63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Maternal Mortality Rate. What are the causes for maternal mortality?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F0C761-14CC-1B9C-C349-3A49BEE073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Definition of Maternal Mortality Rate (MMR) (3 marks)</a:t>
                </a:r>
                <a:endParaRPr lang="en-US" dirty="0"/>
              </a:p>
              <a:p>
                <a:pPr lvl="1"/>
                <a:r>
                  <a:rPr lang="en-US" dirty="0"/>
                  <a:t>Standard definition</a:t>
                </a:r>
              </a:p>
              <a:p>
                <a:pPr lvl="1"/>
                <a:r>
                  <a:rPr lang="en-US" dirty="0"/>
                  <a:t>Formula</a:t>
                </a:r>
              </a:p>
              <a:p>
                <a:pPr lvl="1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Importance in public health</a:t>
                </a:r>
              </a:p>
              <a:p>
                <a:r>
                  <a:rPr lang="en-US" dirty="0"/>
                  <a:t>Maternal Mortality Ratio (MMR) is defined by the World Health Organization (WHO) as the number of maternal deaths during a given time period per 100,000 live births within the same time period. It reflects the risk of death associated with each pregnancy or childbirth.</a:t>
                </a:r>
              </a:p>
              <a:p>
                <a:r>
                  <a:rPr lang="en-US" dirty="0"/>
                  <a:t>Maternal death is the death of a woman while pregnant or within 42 days of termination of pregnancy, from any cause related to or aggravated by the pregnancy or its management (excluding accidental or incidental causes).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MMR</m:t>
                    </m:r>
                    <m:r>
                      <a:rPr lang="en-US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i="1"/>
                              <m:t>Number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maternal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deaths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in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given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period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1"/>
                              <m:t>Number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live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births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in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same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period</m:t>
                            </m:r>
                          </m:den>
                        </m:f>
                      </m:e>
                    </m:d>
                    <m:r>
                      <a:rPr lang="ar-AE"/>
                      <m:t>×</m:t>
                    </m:r>
                    <m:r>
                      <a:rPr lang="ar-AE"/>
                      <m:t>100</m:t>
                    </m:r>
                    <m:r>
                      <a:rPr lang="ar-AE"/>
                      <m:t>,</m:t>
                    </m:r>
                    <m:r>
                      <a:rPr lang="ar-AE"/>
                      <m:t>000</m:t>
                    </m:r>
                  </m:oMath>
                </a14:m>
                <a:endParaRPr lang="ar-AE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F0C761-14CC-1B9C-C349-3A49BEE07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156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78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5E88-4FF0-C5E7-E30E-7209BA57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in public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58E2B-40FD-8ED3-0731-BB2E672C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Indicator of Health System Performance</a:t>
            </a:r>
          </a:p>
          <a:p>
            <a:r>
              <a:rPr lang="en-US" dirty="0"/>
              <a:t>Guides Resource Allocation and Policy</a:t>
            </a:r>
          </a:p>
          <a:p>
            <a:r>
              <a:rPr lang="en-US" dirty="0"/>
              <a:t>Tracking Progress towards Global Goals</a:t>
            </a:r>
          </a:p>
          <a:p>
            <a:r>
              <a:rPr lang="en-US" dirty="0"/>
              <a:t>Focus on Equity</a:t>
            </a:r>
          </a:p>
          <a:p>
            <a:r>
              <a:rPr lang="en-US" dirty="0"/>
              <a:t>Public Awareness and Advocacy</a:t>
            </a:r>
          </a:p>
          <a:p>
            <a:r>
              <a:rPr lang="en-US" dirty="0"/>
              <a:t>Epidemiological Surveillance</a:t>
            </a:r>
          </a:p>
        </p:txBody>
      </p:sp>
    </p:spTree>
    <p:extLst>
      <p:ext uri="{BB962C8B-B14F-4D97-AF65-F5344CB8AC3E}">
        <p14:creationId xmlns:p14="http://schemas.microsoft.com/office/powerpoint/2010/main" val="187108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571E-8121-EDDB-D8D2-1A33EE73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of maternal mortality (7 marks):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65AB5-0784-AF4D-C8DF-B0FB8FF79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Medical causes (</a:t>
            </a:r>
            <a:r>
              <a:rPr lang="en-US" dirty="0" err="1"/>
              <a:t>haemorrhage</a:t>
            </a:r>
            <a:r>
              <a:rPr lang="en-US" dirty="0"/>
              <a:t>, infection, hypertension, obstructed labor, unsafe abortion)</a:t>
            </a:r>
          </a:p>
          <a:p>
            <a:r>
              <a:rPr lang="en-US" dirty="0"/>
              <a:t>Socioeconomic factors (poverty, poor access, malnutrition, education)</a:t>
            </a:r>
          </a:p>
          <a:p>
            <a:r>
              <a:rPr lang="en-US" b="1" dirty="0"/>
              <a:t>Include Three Delays Model:</a:t>
            </a:r>
            <a:endParaRPr lang="en-US" dirty="0"/>
          </a:p>
          <a:p>
            <a:pPr lvl="1"/>
            <a:r>
              <a:rPr lang="en-US" dirty="0"/>
              <a:t>Delay in seeking care</a:t>
            </a:r>
          </a:p>
          <a:p>
            <a:pPr lvl="1"/>
            <a:r>
              <a:rPr lang="en-US" dirty="0"/>
              <a:t>Delay in reaching care</a:t>
            </a:r>
          </a:p>
          <a:p>
            <a:pPr lvl="1"/>
            <a:r>
              <a:rPr lang="en-US" dirty="0"/>
              <a:t>Delay in receiving appropriate care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9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F18765-1DCE-5B6D-A0D2-1D362155D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961057"/>
              </p:ext>
            </p:extLst>
          </p:nvPr>
        </p:nvGraphicFramePr>
        <p:xfrm>
          <a:off x="482600" y="775264"/>
          <a:ext cx="8178800" cy="5915832"/>
        </p:xfrm>
        <a:graphic>
          <a:graphicData uri="http://schemas.openxmlformats.org/drawingml/2006/table">
            <a:tbl>
              <a:tblPr firstRow="1" firstCol="1">
                <a:noFill/>
                <a:tableStyleId>{5C22544A-7EE6-4342-B048-85BDC9FD1C3A}</a:tableStyleId>
              </a:tblPr>
              <a:tblGrid>
                <a:gridCol w="2202234">
                  <a:extLst>
                    <a:ext uri="{9D8B030D-6E8A-4147-A177-3AD203B41FA5}">
                      <a16:colId xmlns:a16="http://schemas.microsoft.com/office/drawing/2014/main" val="2402951115"/>
                    </a:ext>
                  </a:extLst>
                </a:gridCol>
                <a:gridCol w="5976566">
                  <a:extLst>
                    <a:ext uri="{9D8B030D-6E8A-4147-A177-3AD203B41FA5}">
                      <a16:colId xmlns:a16="http://schemas.microsoft.com/office/drawing/2014/main" val="306819017"/>
                    </a:ext>
                  </a:extLst>
                </a:gridCol>
              </a:tblGrid>
              <a:tr h="3767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Period</a:t>
                      </a:r>
                      <a:endParaRPr lang="en-US" sz="24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Common Causes of Maternal Mortality</a:t>
                      </a:r>
                      <a:endParaRPr lang="en-US" sz="24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733128"/>
                  </a:ext>
                </a:extLst>
              </a:tr>
              <a:tr h="318635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Antenatal Period (ANC)</a:t>
                      </a:r>
                      <a:endParaRPr lang="en-US" sz="14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19050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C7C6C1"/>
                      </a:solidFill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Ectopic pregnancy rupture (early first trimester)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559319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Severe anemia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20376"/>
                  </a:ext>
                </a:extLst>
              </a:tr>
              <a:tr h="4698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Hypertensive disorders (pre-eclampsia, eclampsia) (2nd and 3rd trimester)</a:t>
                      </a:r>
                      <a:endParaRPr lang="en-US" sz="14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1122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Infections/sepsis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61319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Unsafe abortion complications (first trimester)</a:t>
                      </a:r>
                      <a:endParaRPr lang="en-US" sz="14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164806"/>
                  </a:ext>
                </a:extLst>
              </a:tr>
              <a:tr h="318635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Natal Period (Labor &amp; Delivery)</a:t>
                      </a:r>
                      <a:endParaRPr lang="en-US" sz="14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19050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C7C6C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Postpartum hemorrhage (PPH)</a:t>
                      </a:r>
                      <a:endParaRPr lang="en-US" sz="14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25811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Obstructed labor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78394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Uterine rupture</a:t>
                      </a:r>
                      <a:endParaRPr lang="en-US" sz="14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72424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Sepsis/infections</a:t>
                      </a:r>
                      <a:endParaRPr lang="en-US" sz="14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12115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Complications of cesarean section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5111"/>
                  </a:ext>
                </a:extLst>
              </a:tr>
              <a:tr h="318635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Postnatal Period (PNC)</a:t>
                      </a:r>
                      <a:endParaRPr lang="en-US" sz="14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19050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C7C6C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Postpartum hemorrhage (within 24 hours)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24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Sepsis (puerperal)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529033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Thromboembolism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1902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Hypertensive complications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048203"/>
                  </a:ext>
                </a:extLst>
              </a:tr>
              <a:tr h="318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 Delayed or inadequate postpartum care</a:t>
                      </a:r>
                      <a:endParaRPr lang="en-US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9548" marR="104661" marT="69774" marB="69774" anchor="ctr">
                    <a:lnL w="9525" cap="flat" cmpd="sng" algn="ctr">
                      <a:solidFill>
                        <a:srgbClr val="C7C6C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52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9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413F-7EA1-2902-31CB-83956ADC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00F5C-C200-98CD-77A4-1C7704DCC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321826"/>
              </p:ext>
            </p:extLst>
          </p:nvPr>
        </p:nvGraphicFramePr>
        <p:xfrm>
          <a:off x="1400398" y="1600200"/>
          <a:ext cx="6343204" cy="4525962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1585801">
                  <a:extLst>
                    <a:ext uri="{9D8B030D-6E8A-4147-A177-3AD203B41FA5}">
                      <a16:colId xmlns:a16="http://schemas.microsoft.com/office/drawing/2014/main" val="3215897135"/>
                    </a:ext>
                  </a:extLst>
                </a:gridCol>
                <a:gridCol w="1585801">
                  <a:extLst>
                    <a:ext uri="{9D8B030D-6E8A-4147-A177-3AD203B41FA5}">
                      <a16:colId xmlns:a16="http://schemas.microsoft.com/office/drawing/2014/main" val="2676900106"/>
                    </a:ext>
                  </a:extLst>
                </a:gridCol>
                <a:gridCol w="1585801">
                  <a:extLst>
                    <a:ext uri="{9D8B030D-6E8A-4147-A177-3AD203B41FA5}">
                      <a16:colId xmlns:a16="http://schemas.microsoft.com/office/drawing/2014/main" val="4054667725"/>
                    </a:ext>
                  </a:extLst>
                </a:gridCol>
                <a:gridCol w="1585801">
                  <a:extLst>
                    <a:ext uri="{9D8B030D-6E8A-4147-A177-3AD203B41FA5}">
                      <a16:colId xmlns:a16="http://schemas.microsoft.com/office/drawing/2014/main" val="2642027274"/>
                    </a:ext>
                  </a:extLst>
                </a:gridCol>
              </a:tblGrid>
              <a:tr h="82290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0">
                          <a:effectLst/>
                        </a:rPr>
                        <a:t>Delay / Pregnancy Period</a:t>
                      </a:r>
                    </a:p>
                  </a:txBody>
                  <a:tcPr marL="82290" marR="82290" marT="41145" marB="4114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0">
                          <a:effectLst/>
                        </a:rPr>
                        <a:t>Antenatal Period (ANC)</a:t>
                      </a:r>
                    </a:p>
                  </a:txBody>
                  <a:tcPr marL="82290" marR="82290" marT="41145" marB="4114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0">
                          <a:effectLst/>
                        </a:rPr>
                        <a:t>Natal Period (Labor &amp; Delivery)</a:t>
                      </a:r>
                    </a:p>
                  </a:txBody>
                  <a:tcPr marL="82290" marR="82290" marT="41145" marB="4114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0">
                          <a:effectLst/>
                        </a:rPr>
                        <a:t>Postnatal Period (PNC)</a:t>
                      </a:r>
                    </a:p>
                  </a:txBody>
                  <a:tcPr marL="82290" marR="82290" marT="41145" marB="41145"/>
                </a:tc>
                <a:extLst>
                  <a:ext uri="{0D108BD9-81ED-4DB2-BD59-A6C34878D82A}">
                    <a16:rowId xmlns:a16="http://schemas.microsoft.com/office/drawing/2014/main" val="2541742453"/>
                  </a:ext>
                </a:extLst>
              </a:tr>
              <a:tr h="15635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b="1">
                          <a:effectLst/>
                        </a:rPr>
                        <a:t>Delay 1: Decision to Seek Care</a:t>
                      </a:r>
                      <a:endParaRPr lang="en-US" sz="160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Lack of awareness of danger signs; cultural beliefs; financial constraints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Delay in recognizing labor complications; choosing place of delivery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Ignorance of postpartum danger signs; traditional practices</a:t>
                      </a:r>
                    </a:p>
                  </a:txBody>
                  <a:tcPr marL="82290" marR="82290" marT="41145" marB="41145" anchor="ctr"/>
                </a:tc>
                <a:extLst>
                  <a:ext uri="{0D108BD9-81ED-4DB2-BD59-A6C34878D82A}">
                    <a16:rowId xmlns:a16="http://schemas.microsoft.com/office/drawing/2014/main" val="3146347393"/>
                  </a:ext>
                </a:extLst>
              </a:tr>
              <a:tr h="106977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b="1">
                          <a:effectLst/>
                        </a:rPr>
                        <a:t>Delay 2: Delay in Reaching Care</a:t>
                      </a:r>
                      <a:endParaRPr lang="en-US" sz="160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Transportation barriers; distance to facility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Lack of transport during labor emergencies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Accessibility to postnatal care centers</a:t>
                      </a:r>
                    </a:p>
                  </a:txBody>
                  <a:tcPr marL="82290" marR="82290" marT="41145" marB="41145" anchor="ctr"/>
                </a:tc>
                <a:extLst>
                  <a:ext uri="{0D108BD9-81ED-4DB2-BD59-A6C34878D82A}">
                    <a16:rowId xmlns:a16="http://schemas.microsoft.com/office/drawing/2014/main" val="255297017"/>
                  </a:ext>
                </a:extLst>
              </a:tr>
              <a:tr h="106977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b="1">
                          <a:effectLst/>
                        </a:rPr>
                        <a:t>Delay 3: Delay in Receiving Adequate Care</a:t>
                      </a:r>
                      <a:endParaRPr lang="en-US" sz="160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Inadequate ANC services; poor staff training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</a:rPr>
                        <a:t>Inadequate skilled birth attendance; lack of EmOC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</a:rPr>
                        <a:t>Poor postnatal follow-up; insufficient monitoring</a:t>
                      </a:r>
                    </a:p>
                  </a:txBody>
                  <a:tcPr marL="82290" marR="82290" marT="41145" marB="41145" anchor="ctr"/>
                </a:tc>
                <a:extLst>
                  <a:ext uri="{0D108BD9-81ED-4DB2-BD59-A6C34878D82A}">
                    <a16:rowId xmlns:a16="http://schemas.microsoft.com/office/drawing/2014/main" val="128067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1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793A-A9B0-BD3D-DAB1-941D288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Discuss the measures taken to reduce and prevent maternal mortality. (10 marks)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BEBE-8467-9F0A-40E2-B931269C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Introduction to maternal mortality prevention</a:t>
            </a:r>
          </a:p>
          <a:p>
            <a:r>
              <a:rPr lang="en-US" b="1" dirty="0"/>
              <a:t>Measures addressing the Three Delays:</a:t>
            </a:r>
            <a:endParaRPr lang="en-US" dirty="0"/>
          </a:p>
          <a:p>
            <a:pPr lvl="1"/>
            <a:r>
              <a:rPr lang="en-US" dirty="0"/>
              <a:t>Community education and early recognition (Delay in seeking care)</a:t>
            </a:r>
          </a:p>
          <a:p>
            <a:pPr lvl="1"/>
            <a:r>
              <a:rPr lang="en-US" dirty="0"/>
              <a:t>Emergency transportation, better roads, referral systems (Delay in reaching care)</a:t>
            </a:r>
          </a:p>
          <a:p>
            <a:pPr lvl="1"/>
            <a:r>
              <a:rPr lang="en-US" dirty="0"/>
              <a:t>Improving facility quality, staff training, equipment, supplies (Delay in receiving care)</a:t>
            </a:r>
          </a:p>
          <a:p>
            <a:r>
              <a:rPr lang="en-US" dirty="0"/>
              <a:t>Safe delivery and antenatal care</a:t>
            </a:r>
          </a:p>
          <a:p>
            <a:r>
              <a:rPr lang="en-US" dirty="0"/>
              <a:t>Family planning and postnatal care</a:t>
            </a:r>
          </a:p>
          <a:p>
            <a:r>
              <a:rPr lang="en-US" dirty="0"/>
              <a:t>Role of government schemes and frontline workers (ASHAs, ANMs, etc.)</a:t>
            </a:r>
          </a:p>
          <a:p>
            <a:r>
              <a:rPr lang="en-US" dirty="0"/>
              <a:t>Health system strengthening and policy interventions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C184-60F8-1458-5964-6B08A361F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4256"/>
            <a:ext cx="8229600" cy="5601907"/>
          </a:xfrm>
        </p:spPr>
        <p:txBody>
          <a:bodyPr numCol="2">
            <a:normAutofit lnSpcReduction="10000"/>
          </a:bodyPr>
          <a:lstStyle/>
          <a:p>
            <a:r>
              <a:rPr lang="en-US" sz="2000" b="1" dirty="0"/>
              <a:t>Antenatal Care (ANC):</a:t>
            </a:r>
            <a:endParaRPr lang="en-US" sz="2000" dirty="0"/>
          </a:p>
          <a:p>
            <a:pPr lvl="1"/>
            <a:r>
              <a:rPr lang="en-US" sz="1600" dirty="0"/>
              <a:t>Early pregnancy booking and registration</a:t>
            </a:r>
          </a:p>
          <a:p>
            <a:pPr lvl="1"/>
            <a:r>
              <a:rPr lang="en-US" sz="1600" dirty="0"/>
              <a:t>At least 4 ANC visits for monitoring</a:t>
            </a:r>
          </a:p>
          <a:p>
            <a:pPr lvl="1"/>
            <a:r>
              <a:rPr lang="en-US" sz="1600" dirty="0"/>
              <a:t>Identification and management of high-risk pregnancies, nutrition, supplementation (iron, folic acid)</a:t>
            </a:r>
          </a:p>
          <a:p>
            <a:pPr lvl="1"/>
            <a:r>
              <a:rPr lang="en-US" sz="1600" dirty="0"/>
              <a:t>Screening and treatment of infections, blood pressure monitoring</a:t>
            </a:r>
          </a:p>
          <a:p>
            <a:pPr lvl="1"/>
            <a:r>
              <a:rPr lang="en-US" sz="1600" dirty="0"/>
              <a:t>Health education about danger signs</a:t>
            </a:r>
          </a:p>
          <a:p>
            <a:r>
              <a:rPr lang="en-US" sz="2000" b="1" dirty="0"/>
              <a:t>Natal Care (Intrapartum):</a:t>
            </a:r>
            <a:endParaRPr lang="en-US" sz="2000" dirty="0"/>
          </a:p>
          <a:p>
            <a:pPr lvl="1"/>
            <a:r>
              <a:rPr lang="en-US" sz="1600" dirty="0"/>
              <a:t>Skilled birth attendance (SBA) at delivery</a:t>
            </a:r>
          </a:p>
          <a:p>
            <a:pPr lvl="1"/>
            <a:r>
              <a:rPr lang="en-US" sz="1600" dirty="0"/>
              <a:t>Availability of emergency obstetric care (</a:t>
            </a:r>
            <a:r>
              <a:rPr lang="en-US" sz="1600" dirty="0" err="1"/>
              <a:t>EmOC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Use of </a:t>
            </a:r>
            <a:r>
              <a:rPr lang="en-US" sz="1600" dirty="0" err="1"/>
              <a:t>oxytocics</a:t>
            </a:r>
            <a:r>
              <a:rPr lang="en-US" sz="1600" dirty="0"/>
              <a:t> to prevent postpartum hemorrhage</a:t>
            </a:r>
          </a:p>
          <a:p>
            <a:pPr lvl="1"/>
            <a:r>
              <a:rPr lang="en-US" sz="1600" dirty="0"/>
              <a:t>Safe delivery practices and hygiene</a:t>
            </a:r>
          </a:p>
          <a:p>
            <a:pPr lvl="1"/>
            <a:r>
              <a:rPr lang="en-US" sz="1600" dirty="0"/>
              <a:t>Immediate newborn care</a:t>
            </a:r>
          </a:p>
          <a:p>
            <a:r>
              <a:rPr lang="en-US" sz="2000" b="1" dirty="0"/>
              <a:t>Postnatal Care (PNC):</a:t>
            </a:r>
            <a:endParaRPr lang="en-US" sz="2000" dirty="0"/>
          </a:p>
          <a:p>
            <a:pPr lvl="1"/>
            <a:r>
              <a:rPr lang="en-US" sz="1600" dirty="0"/>
              <a:t>Early postnatal checkup within 24-48 hours</a:t>
            </a:r>
          </a:p>
          <a:p>
            <a:pPr lvl="1"/>
            <a:r>
              <a:rPr lang="en-US" sz="1600" dirty="0"/>
              <a:t>Monitoring for postpartum hemorrhage, sepsis, eclampsia</a:t>
            </a:r>
          </a:p>
          <a:p>
            <a:pPr lvl="1"/>
            <a:r>
              <a:rPr lang="en-US" sz="1600" dirty="0"/>
              <a:t>Counseling on breastfeeding, nutrition, family planning</a:t>
            </a:r>
          </a:p>
          <a:p>
            <a:pPr lvl="1"/>
            <a:r>
              <a:rPr lang="en-US" sz="1600" dirty="0"/>
              <a:t>Identification and referral of complications</a:t>
            </a:r>
          </a:p>
          <a:p>
            <a:r>
              <a:rPr lang="en-US" sz="2000" b="1" dirty="0"/>
              <a:t>Addressing Three Delays:</a:t>
            </a:r>
            <a:endParaRPr lang="en-US" sz="2000" dirty="0"/>
          </a:p>
          <a:p>
            <a:pPr lvl="1"/>
            <a:r>
              <a:rPr lang="en-US" sz="1600" dirty="0"/>
              <a:t>Community awareness and education (seeking care)</a:t>
            </a:r>
          </a:p>
          <a:p>
            <a:pPr lvl="1"/>
            <a:r>
              <a:rPr lang="en-US" sz="1600" dirty="0"/>
              <a:t>Transport systems and referral networks (reaching care)</a:t>
            </a:r>
          </a:p>
          <a:p>
            <a:pPr lvl="1"/>
            <a:r>
              <a:rPr lang="en-US" sz="1600" dirty="0"/>
              <a:t>Improving health facility readiness, staff training, supplies (receiving care)</a:t>
            </a:r>
          </a:p>
          <a:p>
            <a:r>
              <a:rPr lang="en-US" sz="2000" b="1" dirty="0"/>
              <a:t>Program and Policy Measures:</a:t>
            </a:r>
            <a:endParaRPr lang="en-US" sz="2000" dirty="0"/>
          </a:p>
          <a:p>
            <a:pPr lvl="1"/>
            <a:r>
              <a:rPr lang="en-US" sz="1600" dirty="0"/>
              <a:t>Role of government schemes (Janani Suraksha Yojana, National Health Mission)</a:t>
            </a:r>
          </a:p>
          <a:p>
            <a:pPr lvl="1"/>
            <a:r>
              <a:rPr lang="en-US" sz="1600" dirty="0"/>
              <a:t>Involvement of frontline workers (ASHA, ANM) in maternal health services</a:t>
            </a:r>
          </a:p>
        </p:txBody>
      </p:sp>
    </p:spTree>
    <p:extLst>
      <p:ext uri="{BB962C8B-B14F-4D97-AF65-F5344CB8AC3E}">
        <p14:creationId xmlns:p14="http://schemas.microsoft.com/office/powerpoint/2010/main" val="40165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2F74-C5AA-F0DC-CBA4-47D0A248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Magnitude of the Problem of Cancer in India and the World (10 marks)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BDBEE-925B-4B08-BF37-7397783A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1. Global Cancer Burden</a:t>
            </a:r>
          </a:p>
          <a:p>
            <a:pPr lvl="1"/>
            <a:r>
              <a:rPr lang="en-US" dirty="0"/>
              <a:t>Estimated 20 million new cancer cases worldwide in 2022, projected to rise to 32.6 million by 2045.</a:t>
            </a:r>
          </a:p>
          <a:p>
            <a:pPr lvl="1"/>
            <a:r>
              <a:rPr lang="en-US" dirty="0"/>
              <a:t>Cancer is a leading cause of morbidity and mortality globally, causing approx. 10 million deaths per year.</a:t>
            </a:r>
          </a:p>
          <a:p>
            <a:pPr lvl="1"/>
            <a:r>
              <a:rPr lang="en-US" dirty="0"/>
              <a:t>Common global cancers: Lung, colorectal, breast, prostate, cervical, stomach.</a:t>
            </a:r>
          </a:p>
          <a:p>
            <a:r>
              <a:rPr lang="en-US" b="1" dirty="0"/>
              <a:t>2. Cancer Burden in India</a:t>
            </a:r>
          </a:p>
          <a:p>
            <a:pPr lvl="1"/>
            <a:r>
              <a:rPr lang="en-US" dirty="0"/>
              <a:t>Estimated 1.46 million new cancer cases in India in 2022; projected to increase to about 1.57 million by 2025.</a:t>
            </a:r>
          </a:p>
          <a:p>
            <a:pPr lvl="1"/>
            <a:r>
              <a:rPr lang="en-US" dirty="0"/>
              <a:t>Lifetime risk of developing cancer about 1 in 9 people in India.</a:t>
            </a:r>
          </a:p>
          <a:p>
            <a:pPr lvl="1"/>
            <a:r>
              <a:rPr lang="en-US" dirty="0"/>
              <a:t>Most common cancers: Lung (males), breast (females), oral cavity, cervix.</a:t>
            </a:r>
          </a:p>
          <a:p>
            <a:pPr lvl="1"/>
            <a:r>
              <a:rPr lang="en-US" dirty="0"/>
              <a:t>Incidence and mortality rates vary across regions with higher rates in urban areas and specific states.</a:t>
            </a:r>
          </a:p>
          <a:p>
            <a:pPr lvl="1"/>
            <a:r>
              <a:rPr lang="en-US" dirty="0"/>
              <a:t>High proportion of late-stage diagnosis due to poor awareness and limited screening.</a:t>
            </a:r>
          </a:p>
          <a:p>
            <a:pPr lvl="1"/>
            <a:r>
              <a:rPr lang="en-US" dirty="0"/>
              <a:t>Economic burden: Productivity loss, premature mortality, estimated billions of USD impact on GDP.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0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4BE2-ED85-5695-B105-E1C2F0108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Cancer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0245-CFD4-110C-2CD7-18128B986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lvl="1"/>
            <a:r>
              <a:rPr lang="en-US" sz="1800" dirty="0"/>
              <a:t>Accurate Data Collection for Measuring Cancer Burden</a:t>
            </a:r>
          </a:p>
          <a:p>
            <a:pPr lvl="1"/>
            <a:r>
              <a:rPr lang="en-US" sz="1800" dirty="0"/>
              <a:t>Identification of Trends and High-Risk Populations</a:t>
            </a:r>
          </a:p>
          <a:p>
            <a:pPr lvl="1"/>
            <a:r>
              <a:rPr lang="en-US" sz="1800" dirty="0"/>
              <a:t>Informing Public Health Policies and Targeted Interventions</a:t>
            </a:r>
          </a:p>
          <a:p>
            <a:r>
              <a:rPr lang="en-US" sz="1800" b="1" dirty="0"/>
              <a:t>Strengths of Cancer Registries in India</a:t>
            </a:r>
          </a:p>
          <a:p>
            <a:pPr lvl="1"/>
            <a:r>
              <a:rPr lang="en-US" sz="1800" dirty="0"/>
              <a:t>Systematic Data Collection</a:t>
            </a:r>
          </a:p>
          <a:p>
            <a:pPr lvl="1"/>
            <a:r>
              <a:rPr lang="en-US" sz="1800" dirty="0"/>
              <a:t>Crucial Data for Planning and Research</a:t>
            </a:r>
          </a:p>
          <a:p>
            <a:pPr lvl="1"/>
            <a:r>
              <a:rPr lang="en-US" sz="1800" dirty="0"/>
              <a:t>Trend Analysis Capability</a:t>
            </a:r>
          </a:p>
          <a:p>
            <a:pPr lvl="1"/>
            <a:r>
              <a:rPr lang="en-US" sz="1800" dirty="0"/>
              <a:t>Support for National Cancer Control Program</a:t>
            </a:r>
          </a:p>
          <a:p>
            <a:pPr lvl="1"/>
            <a:r>
              <a:rPr lang="en-US" sz="1800" dirty="0"/>
              <a:t>Regional Focus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Challenges and Limitations of Cancer Registries in India</a:t>
            </a:r>
          </a:p>
          <a:p>
            <a:pPr lvl="1"/>
            <a:r>
              <a:rPr lang="en-US" sz="1800" dirty="0"/>
              <a:t>Limited Population Coverage</a:t>
            </a:r>
          </a:p>
          <a:p>
            <a:pPr lvl="1"/>
            <a:r>
              <a:rPr lang="en-US" sz="1800" dirty="0"/>
              <a:t>Data Quality Issues</a:t>
            </a:r>
          </a:p>
          <a:p>
            <a:pPr lvl="1"/>
            <a:r>
              <a:rPr lang="en-US" sz="1800" dirty="0"/>
              <a:t>Infrastructural and Resource Constraints</a:t>
            </a:r>
          </a:p>
          <a:p>
            <a:pPr lvl="1"/>
            <a:r>
              <a:rPr lang="en-US" sz="1800" dirty="0"/>
              <a:t>Delayed Data Reporting</a:t>
            </a:r>
          </a:p>
          <a:p>
            <a:pPr lvl="1"/>
            <a:r>
              <a:rPr lang="en-US" sz="1800" dirty="0"/>
              <a:t>Lack of Integration with Other Health Systems</a:t>
            </a:r>
          </a:p>
          <a:p>
            <a:pPr lvl="1"/>
            <a:r>
              <a:rPr lang="en-US" sz="1800" dirty="0"/>
              <a:t>Awareness and Reporting Barriers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7206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8ABD-F08E-2F3A-72C0-AA5E09EE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Discuss the risk factors, and prevention and control strategy for cervical cancer. (10 marks)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20753-8C9C-EDA2-6EB7-FB26FF68F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Risk factors: HPV infection, sexual behavior, smoking, immune status, poverty</a:t>
            </a:r>
          </a:p>
          <a:p>
            <a:r>
              <a:rPr lang="en-US" b="1" dirty="0"/>
              <a:t>Prevention and control strategies:</a:t>
            </a:r>
            <a:endParaRPr lang="en-US" dirty="0"/>
          </a:p>
          <a:p>
            <a:pPr lvl="1"/>
            <a:r>
              <a:rPr lang="en-US" b="1" dirty="0"/>
              <a:t>Vaccination:</a:t>
            </a:r>
            <a:r>
              <a:rPr lang="en-US" dirty="0"/>
              <a:t> HPV vaccine candidates, schedule, target groups</a:t>
            </a:r>
          </a:p>
          <a:p>
            <a:pPr lvl="1"/>
            <a:r>
              <a:rPr lang="en-US" b="1" dirty="0"/>
              <a:t>Early screening:</a:t>
            </a:r>
            <a:r>
              <a:rPr lang="en-US" dirty="0"/>
              <a:t> Pap smear, VIA, age groups, frequency</a:t>
            </a:r>
          </a:p>
          <a:p>
            <a:pPr lvl="1"/>
            <a:r>
              <a:rPr lang="en-US" dirty="0"/>
              <a:t>Health education and awareness</a:t>
            </a:r>
          </a:p>
          <a:p>
            <a:pPr lvl="1"/>
            <a:r>
              <a:rPr lang="en-US" dirty="0"/>
              <a:t>Safe sexual practices and hygiene</a:t>
            </a:r>
          </a:p>
          <a:p>
            <a:pPr lvl="1"/>
            <a:r>
              <a:rPr lang="en-US" b="1" dirty="0"/>
              <a:t>Role of frontline workers:</a:t>
            </a:r>
            <a:r>
              <a:rPr lang="en-US" dirty="0"/>
              <a:t> Outreach, education, community screening, referral</a:t>
            </a:r>
          </a:p>
          <a:p>
            <a:pPr lvl="1"/>
            <a:r>
              <a:rPr lang="en-US" dirty="0"/>
              <a:t>Government programs and integration with other health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9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DD2DA-CF0D-0766-6EF0-8157D7728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12064"/>
            <a:ext cx="8229600" cy="561409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1. a) </a:t>
            </a:r>
            <a:r>
              <a:rPr lang="en-US" b="1" dirty="0"/>
              <a:t>Define the following types of plots used in epidemiological studies and give one example of when each would be most appropriate:</a:t>
            </a:r>
            <a:r>
              <a:rPr lang="en-US" dirty="0"/>
              <a:t> (5 marks)</a:t>
            </a:r>
          </a:p>
          <a:p>
            <a:pPr lvl="1"/>
            <a:r>
              <a:rPr lang="en-US" dirty="0"/>
              <a:t>Histogram</a:t>
            </a:r>
          </a:p>
          <a:p>
            <a:pPr lvl="1"/>
            <a:r>
              <a:rPr lang="en-US" dirty="0"/>
              <a:t>Scatter plot</a:t>
            </a:r>
          </a:p>
          <a:p>
            <a:pPr lvl="1"/>
            <a:r>
              <a:rPr lang="en-US" dirty="0"/>
              <a:t>Line graph</a:t>
            </a:r>
          </a:p>
          <a:p>
            <a:pPr lvl="1"/>
            <a:r>
              <a:rPr lang="en-US" dirty="0"/>
              <a:t>Pie chart</a:t>
            </a:r>
          </a:p>
          <a:p>
            <a:pPr lvl="1"/>
            <a:r>
              <a:rPr lang="en-US" dirty="0"/>
              <a:t>Box plot</a:t>
            </a:r>
          </a:p>
          <a:p>
            <a:r>
              <a:rPr lang="en-US" dirty="0"/>
              <a:t>b) </a:t>
            </a:r>
            <a:r>
              <a:rPr lang="en-US" b="1" dirty="0"/>
              <a:t>Explain the concept of "epidemic curve" (epi-curve) in outbreak investigations. What are the three main patterns of epidemic curves and what does each pattern suggest about the mode of disease transmission?</a:t>
            </a:r>
            <a:r>
              <a:rPr lang="en-US" dirty="0"/>
              <a:t> (3 marks)</a:t>
            </a:r>
          </a:p>
          <a:p>
            <a:r>
              <a:rPr lang="en-US" dirty="0"/>
              <a:t>c) </a:t>
            </a:r>
            <a:r>
              <a:rPr lang="en-US" b="1" dirty="0"/>
              <a:t>A health researcher wants to display the following data visually:</a:t>
            </a:r>
            <a:endParaRPr lang="en-US" dirty="0"/>
          </a:p>
          <a:p>
            <a:pPr lvl="1"/>
            <a:r>
              <a:rPr lang="en-US" dirty="0"/>
              <a:t>Comparison of vaccination coverage rates across 5 different districts</a:t>
            </a:r>
          </a:p>
          <a:p>
            <a:pPr lvl="1"/>
            <a:r>
              <a:rPr lang="en-US" dirty="0"/>
              <a:t>Trend of malaria cases over 12 months in a community</a:t>
            </a:r>
          </a:p>
          <a:p>
            <a:pPr lvl="1"/>
            <a:r>
              <a:rPr lang="en-US" dirty="0"/>
              <a:t>Distribution of BMI values in a population sample</a:t>
            </a:r>
          </a:p>
          <a:p>
            <a:r>
              <a:rPr lang="en-US" b="1" dirty="0"/>
              <a:t>For each scenario, recommend the most suitable type of plot and justify your choice.</a:t>
            </a:r>
            <a:r>
              <a:rPr lang="en-US" dirty="0"/>
              <a:t> (2 marks)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866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3CC6-0E91-4BF9-BA9E-95E40786C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90144"/>
            <a:ext cx="8229600" cy="57360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2. a) Define "Test of Significance" and explain why it is important in epidemiological research. (3 marks)</a:t>
            </a:r>
          </a:p>
          <a:p>
            <a:pPr lvl="1"/>
            <a:r>
              <a:rPr lang="en-US" dirty="0"/>
              <a:t>b) List any four common tests of significance used in community medicine and classify them based on the type of data they analyze (qualitative or quantitative). (4 marks)</a:t>
            </a:r>
          </a:p>
          <a:p>
            <a:pPr lvl="1"/>
            <a:r>
              <a:rPr lang="en-US" dirty="0"/>
              <a:t>c) For two of the tests you listed, mention a community medicine scenario where each would be appropriately used. (3 marks)</a:t>
            </a:r>
          </a:p>
          <a:p>
            <a:r>
              <a:rPr lang="en-US" dirty="0"/>
              <a:t>3. Discuss iceberg phenomenon and explain Hypertension as lifestyle disorder. Add a note on stroke. (3+5+2)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8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257C-4422-49BC-1B0C-C6ABEB7D0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"/>
            <a:ext cx="8229600" cy="588232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4. a) Define herd immunity and explain the principle behind it. (3 marks)</a:t>
            </a:r>
          </a:p>
          <a:p>
            <a:pPr lvl="1"/>
            <a:r>
              <a:rPr lang="en-US" dirty="0"/>
              <a:t>b) Describe how herd immunity is achieved in a population. (3 marks)</a:t>
            </a:r>
          </a:p>
          <a:p>
            <a:pPr lvl="1"/>
            <a:r>
              <a:rPr lang="en-US" dirty="0"/>
              <a:t>c) Discuss the importance of herd immunity in controlling infectious diseases with suitable examples. (2 marks)</a:t>
            </a:r>
          </a:p>
          <a:p>
            <a:pPr lvl="1"/>
            <a:r>
              <a:rPr lang="en-US" dirty="0"/>
              <a:t>d) Explain challenges and limitations associated with achieving herd immunity through natural infection or vaccination. (2 marks)</a:t>
            </a:r>
          </a:p>
          <a:p>
            <a:r>
              <a:rPr lang="en-US" dirty="0"/>
              <a:t>5. a) Define Disability-Adjusted Life Year (DALY) and explain its components. (4 marks)</a:t>
            </a:r>
          </a:p>
          <a:p>
            <a:pPr lvl="1"/>
            <a:r>
              <a:rPr lang="en-US" dirty="0"/>
              <a:t>b) Describe the significance of DALY as a health indicator in epidemiology and public health. (3 marks)</a:t>
            </a:r>
          </a:p>
          <a:p>
            <a:pPr lvl="1"/>
            <a:r>
              <a:rPr lang="en-US" dirty="0"/>
              <a:t>c) Explain how DALY can be used to prioritize health interventions in a community with an example. (3 marks)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1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7 to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What is the scope of Employees state Insurance (ESI) act and discuss the benefits available under this act. 10</a:t>
            </a:r>
          </a:p>
          <a:p>
            <a:r>
              <a:rPr lang="en-US" dirty="0"/>
              <a:t>Tests of Significance. 10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sz="2200" dirty="0">
                <a:ea typeface="Calibri"/>
                <a:cs typeface="Calibri"/>
              </a:rPr>
              <a:t>Define WHO definition of health. What are the dimensions of health and discuss the concept of well being.</a:t>
            </a:r>
            <a:endParaRPr lang="en-US" dirty="0"/>
          </a:p>
          <a:p>
            <a:r>
              <a:rPr lang="en-US" sz="2600" dirty="0">
                <a:ea typeface="Calibri"/>
                <a:cs typeface="Calibri"/>
              </a:rPr>
              <a:t>Health Planning cycle</a:t>
            </a:r>
            <a:endParaRPr lang="en-US" sz="2200" dirty="0"/>
          </a:p>
          <a:p>
            <a:r>
              <a:rPr dirty="0"/>
              <a:t>- Retrospective study Vs prospective study.</a:t>
            </a:r>
            <a:endParaRPr dirty="0">
              <a:ea typeface="Calibri"/>
              <a:cs typeface="Calibri"/>
            </a:endParaRPr>
          </a:p>
          <a:p>
            <a:r>
              <a:rPr dirty="0"/>
              <a:t>- Sentinel Surveillance</a:t>
            </a:r>
            <a:endParaRPr dirty="0">
              <a:ea typeface="Calibri"/>
              <a:cs typeface="Calibri"/>
            </a:endParaRPr>
          </a:p>
          <a:p>
            <a:r>
              <a:rPr dirty="0"/>
              <a:t>- Disability-Adjusted Life Year (DALY)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13 to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- Define Health. Describe the various indicators of health. Mention their uses.</a:t>
            </a:r>
          </a:p>
          <a:p>
            <a:r>
              <a:rPr dirty="0"/>
              <a:t>- Define </a:t>
            </a:r>
            <a:r>
              <a:rPr dirty="0" err="1"/>
              <a:t>'cause</a:t>
            </a:r>
            <a:r>
              <a:rPr dirty="0"/>
              <a:t>' of a disease. Enlist models of causation and describe the health belief model.</a:t>
            </a:r>
          </a:p>
          <a:p>
            <a:r>
              <a:rPr dirty="0"/>
              <a:t>- Enumerate Sustainable Development Goals (SDGs). Discuss the indicators under Goal 3.</a:t>
            </a:r>
          </a:p>
          <a:p>
            <a:r>
              <a:rPr dirty="0"/>
              <a:t>- Differentiate between </a:t>
            </a:r>
            <a:r>
              <a:rPr dirty="0" err="1"/>
              <a:t>Ujjawala</a:t>
            </a:r>
            <a:r>
              <a:rPr dirty="0"/>
              <a:t> Scheme, Ujjwala Yojana, and UJALA Scheme in terms of objective and target group.</a:t>
            </a:r>
            <a:endParaRPr lang="en-US" dirty="0"/>
          </a:p>
          <a:p>
            <a:r>
              <a:rPr lang="en-US" dirty="0"/>
              <a:t>Describe briefly the National AIDS Control </a:t>
            </a:r>
            <a:r>
              <a:rPr lang="en-US" dirty="0" err="1"/>
              <a:t>Programme</a:t>
            </a:r>
            <a:r>
              <a:rPr lang="en-US" dirty="0"/>
              <a:t> in India.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3995-7450-7F9C-59A4-78B784F1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68F2D-FD63-627E-146C-CEA400E2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a) </a:t>
            </a:r>
            <a:r>
              <a:rPr lang="en-US" b="1" dirty="0"/>
              <a:t>Define "Test of Significance" and explain its importance in epidemiological research. State the steps involved in conducting any test of significance.</a:t>
            </a:r>
            <a:r>
              <a:rPr lang="en-US" dirty="0"/>
              <a:t> (3 marks)</a:t>
            </a:r>
          </a:p>
          <a:p>
            <a:r>
              <a:rPr lang="en-US" dirty="0"/>
              <a:t>b) </a:t>
            </a:r>
            <a:r>
              <a:rPr lang="en-US" b="1" dirty="0"/>
              <a:t>Differentiate between the following with examples relevant to community medicine:</a:t>
            </a:r>
            <a:r>
              <a:rPr lang="en-US" dirty="0"/>
              <a:t> (4 marks)</a:t>
            </a:r>
          </a:p>
          <a:p>
            <a:pPr lvl="1"/>
            <a:r>
              <a:rPr lang="en-US" b="1" dirty="0"/>
              <a:t>Null hypothesis (H₀) and Alternative hypothesis (H₁)</a:t>
            </a:r>
            <a:endParaRPr lang="en-US" dirty="0"/>
          </a:p>
          <a:p>
            <a:pPr lvl="1"/>
            <a:r>
              <a:rPr lang="en-US" b="1" dirty="0"/>
              <a:t>Type I error and Type II error</a:t>
            </a:r>
            <a:endParaRPr lang="en-US" dirty="0"/>
          </a:p>
          <a:p>
            <a:pPr lvl="1"/>
            <a:r>
              <a:rPr lang="en-US" b="1" dirty="0"/>
              <a:t>One-tailed test and Two-tailed test</a:t>
            </a:r>
            <a:endParaRPr lang="en-US" dirty="0"/>
          </a:p>
          <a:p>
            <a:pPr lvl="1"/>
            <a:r>
              <a:rPr lang="en-US" b="1" dirty="0"/>
              <a:t>p-value and significance level (α)</a:t>
            </a:r>
            <a:endParaRPr lang="en-US" dirty="0"/>
          </a:p>
          <a:p>
            <a:r>
              <a:rPr lang="en-US" dirty="0"/>
              <a:t>c) </a:t>
            </a:r>
            <a:r>
              <a:rPr lang="en-US" b="1" dirty="0"/>
              <a:t>Classify tests of significance into Parametric and Non-parametric tests. For each category:</a:t>
            </a:r>
            <a:r>
              <a:rPr lang="en-US" dirty="0"/>
              <a:t> (3 marks)</a:t>
            </a:r>
          </a:p>
          <a:p>
            <a:pPr lvl="1"/>
            <a:r>
              <a:rPr lang="en-US" dirty="0"/>
              <a:t>List </a:t>
            </a:r>
            <a:r>
              <a:rPr lang="en-US" b="1" dirty="0"/>
              <a:t>two examples</a:t>
            </a:r>
            <a:r>
              <a:rPr lang="en-US" dirty="0"/>
              <a:t> of tests</a:t>
            </a:r>
          </a:p>
          <a:p>
            <a:pPr lvl="1"/>
            <a:r>
              <a:rPr lang="en-US" dirty="0"/>
              <a:t>State </a:t>
            </a:r>
            <a:r>
              <a:rPr lang="en-US" b="1" dirty="0"/>
              <a:t>when each category is used</a:t>
            </a:r>
            <a:r>
              <a:rPr lang="en-US" dirty="0"/>
              <a:t> (mention the type of data and distribution)</a:t>
            </a:r>
          </a:p>
          <a:p>
            <a:pPr lvl="1"/>
            <a:r>
              <a:rPr lang="en-US" dirty="0"/>
              <a:t>Give </a:t>
            </a:r>
            <a:r>
              <a:rPr lang="en-US" b="1" dirty="0"/>
              <a:t>one clinical scenario</a:t>
            </a:r>
            <a:r>
              <a:rPr lang="en-US" dirty="0"/>
              <a:t> from community medicine where each category would be appropriate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Office PowerPoint</Application>
  <PresentationFormat>On-screen Show (4:3)</PresentationFormat>
  <Paragraphs>184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Segoe UI</vt:lpstr>
      <vt:lpstr>Times New Roman</vt:lpstr>
      <vt:lpstr>Office Theme</vt:lpstr>
      <vt:lpstr>Topics 1 to 4</vt:lpstr>
      <vt:lpstr>Define Maternal Mortality Rate. What are the causes for maternal mortality?</vt:lpstr>
      <vt:lpstr>Importance in public health</vt:lpstr>
      <vt:lpstr>Causes of maternal mortality (7 marks): </vt:lpstr>
      <vt:lpstr>PowerPoint Presentation</vt:lpstr>
      <vt:lpstr>PowerPoint Presentation</vt:lpstr>
      <vt:lpstr>Discuss the measures taken to reduce and prevent maternal mortality. (10 marks)</vt:lpstr>
      <vt:lpstr>PowerPoint Presentation</vt:lpstr>
      <vt:lpstr>Magnitude of the Problem of Cancer in India and the World (10 marks)</vt:lpstr>
      <vt:lpstr>Cancer registries</vt:lpstr>
      <vt:lpstr>Discuss the risk factors, and prevention and control strategy for cervical cancer. (10 marks)</vt:lpstr>
      <vt:lpstr>PowerPoint Presentation</vt:lpstr>
      <vt:lpstr>PowerPoint Presentation</vt:lpstr>
      <vt:lpstr>PowerPoint Presentation</vt:lpstr>
      <vt:lpstr>Topics 7 to 12</vt:lpstr>
      <vt:lpstr>Topics 13 to 16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Topics 1 to 6</dc:title>
  <dc:subject/>
  <dc:creator/>
  <cp:keywords/>
  <dc:description>generated using python-pptx</dc:description>
  <cp:lastModifiedBy>mukul maheshwari</cp:lastModifiedBy>
  <cp:revision>1</cp:revision>
  <dcterms:created xsi:type="dcterms:W3CDTF">2013-01-27T09:14:16Z</dcterms:created>
  <dcterms:modified xsi:type="dcterms:W3CDTF">2025-09-05T16:04:09Z</dcterms:modified>
  <cp:category/>
</cp:coreProperties>
</file>