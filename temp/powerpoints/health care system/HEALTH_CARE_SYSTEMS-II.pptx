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83" r:id="rId4"/>
  </p:sldMasterIdLst>
  <p:notesMasterIdLst>
    <p:notesMasterId r:id="rId82"/>
  </p:notesMasterIdLst>
  <p:handoutMasterIdLst>
    <p:handoutMasterId r:id="rId83"/>
  </p:handoutMasterIdLst>
  <p:sldIdLst>
    <p:sldId id="325" r:id="rId5"/>
    <p:sldId id="286" r:id="rId6"/>
    <p:sldId id="287" r:id="rId7"/>
    <p:sldId id="288" r:id="rId8"/>
    <p:sldId id="377" r:id="rId9"/>
    <p:sldId id="289" r:id="rId10"/>
    <p:sldId id="290" r:id="rId11"/>
    <p:sldId id="291" r:id="rId12"/>
    <p:sldId id="379" r:id="rId13"/>
    <p:sldId id="292" r:id="rId14"/>
    <p:sldId id="293" r:id="rId15"/>
    <p:sldId id="380" r:id="rId16"/>
    <p:sldId id="378" r:id="rId17"/>
    <p:sldId id="294" r:id="rId18"/>
    <p:sldId id="381" r:id="rId19"/>
    <p:sldId id="383" r:id="rId20"/>
    <p:sldId id="384" r:id="rId21"/>
    <p:sldId id="385" r:id="rId22"/>
    <p:sldId id="398" r:id="rId23"/>
    <p:sldId id="399" r:id="rId24"/>
    <p:sldId id="400" r:id="rId25"/>
    <p:sldId id="401" r:id="rId26"/>
    <p:sldId id="382" r:id="rId27"/>
    <p:sldId id="386" r:id="rId28"/>
    <p:sldId id="387" r:id="rId29"/>
    <p:sldId id="388" r:id="rId30"/>
    <p:sldId id="389" r:id="rId31"/>
    <p:sldId id="390" r:id="rId32"/>
    <p:sldId id="391" r:id="rId33"/>
    <p:sldId id="392" r:id="rId34"/>
    <p:sldId id="393" r:id="rId35"/>
    <p:sldId id="395" r:id="rId36"/>
    <p:sldId id="396" r:id="rId37"/>
    <p:sldId id="397" r:id="rId38"/>
    <p:sldId id="394" r:id="rId39"/>
    <p:sldId id="307" r:id="rId40"/>
    <p:sldId id="324" r:id="rId41"/>
    <p:sldId id="338" r:id="rId42"/>
    <p:sldId id="343" r:id="rId43"/>
    <p:sldId id="344" r:id="rId44"/>
    <p:sldId id="312" r:id="rId45"/>
    <p:sldId id="342" r:id="rId46"/>
    <p:sldId id="345" r:id="rId47"/>
    <p:sldId id="346" r:id="rId48"/>
    <p:sldId id="347" r:id="rId49"/>
    <p:sldId id="348" r:id="rId50"/>
    <p:sldId id="349" r:id="rId51"/>
    <p:sldId id="341" r:id="rId52"/>
    <p:sldId id="350" r:id="rId53"/>
    <p:sldId id="339" r:id="rId54"/>
    <p:sldId id="351" r:id="rId55"/>
    <p:sldId id="352" r:id="rId56"/>
    <p:sldId id="353" r:id="rId57"/>
    <p:sldId id="354" r:id="rId58"/>
    <p:sldId id="355" r:id="rId59"/>
    <p:sldId id="356" r:id="rId60"/>
    <p:sldId id="357" r:id="rId61"/>
    <p:sldId id="358" r:id="rId62"/>
    <p:sldId id="359" r:id="rId63"/>
    <p:sldId id="360" r:id="rId64"/>
    <p:sldId id="361" r:id="rId65"/>
    <p:sldId id="362" r:id="rId66"/>
    <p:sldId id="363" r:id="rId67"/>
    <p:sldId id="364" r:id="rId68"/>
    <p:sldId id="365" r:id="rId69"/>
    <p:sldId id="366" r:id="rId70"/>
    <p:sldId id="367" r:id="rId71"/>
    <p:sldId id="368" r:id="rId72"/>
    <p:sldId id="369" r:id="rId73"/>
    <p:sldId id="370" r:id="rId74"/>
    <p:sldId id="371" r:id="rId75"/>
    <p:sldId id="372" r:id="rId76"/>
    <p:sldId id="373" r:id="rId77"/>
    <p:sldId id="374" r:id="rId78"/>
    <p:sldId id="375" r:id="rId79"/>
    <p:sldId id="376" r:id="rId80"/>
    <p:sldId id="321"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1BCBA7-3D12-4064-8BD9-E0B3AD08EFCF}" v="3" dt="2025-07-16T22:45:41.280"/>
  </p1510:revLst>
</p1510:revInfo>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394" autoAdjust="0"/>
  </p:normalViewPr>
  <p:slideViewPr>
    <p:cSldViewPr snapToGrid="0">
      <p:cViewPr varScale="1">
        <p:scale>
          <a:sx n="60" d="100"/>
          <a:sy n="60" d="100"/>
        </p:scale>
        <p:origin x="96" y="1242"/>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handoutMaster" Target="handoutMasters/handoutMaster1.xml"/><Relationship Id="rId88"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notesMaster" Target="notesMasters/notesMaster1.xml"/><Relationship Id="rId19"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111BCBA7-3D12-4064-8BD9-E0B3AD08EFCF}"/>
    <pc:docChg chg="custSel modSld">
      <pc:chgData name="mukul maheshwari" userId="12cb43e2ca5f0d2c" providerId="LiveId" clId="{111BCBA7-3D12-4064-8BD9-E0B3AD08EFCF}" dt="2025-07-16T22:45:47.754" v="43" actId="20577"/>
      <pc:docMkLst>
        <pc:docMk/>
      </pc:docMkLst>
      <pc:sldChg chg="modSp">
        <pc:chgData name="mukul maheshwari" userId="12cb43e2ca5f0d2c" providerId="LiveId" clId="{111BCBA7-3D12-4064-8BD9-E0B3AD08EFCF}" dt="2025-07-16T22:44:31.053" v="1" actId="115"/>
        <pc:sldMkLst>
          <pc:docMk/>
          <pc:sldMk cId="4074627999" sldId="286"/>
        </pc:sldMkLst>
        <pc:graphicFrameChg chg="mod">
          <ac:chgData name="mukul maheshwari" userId="12cb43e2ca5f0d2c" providerId="LiveId" clId="{111BCBA7-3D12-4064-8BD9-E0B3AD08EFCF}" dt="2025-07-16T22:44:31.053" v="1" actId="115"/>
          <ac:graphicFrameMkLst>
            <pc:docMk/>
            <pc:sldMk cId="4074627999" sldId="286"/>
            <ac:graphicFrameMk id="5" creationId="{B0290F6F-83C6-25DC-9F06-85781AE0AD46}"/>
          </ac:graphicFrameMkLst>
        </pc:graphicFrameChg>
      </pc:sldChg>
      <pc:sldChg chg="modSp mod">
        <pc:chgData name="mukul maheshwari" userId="12cb43e2ca5f0d2c" providerId="LiveId" clId="{111BCBA7-3D12-4064-8BD9-E0B3AD08EFCF}" dt="2025-07-16T22:45:47.754" v="43" actId="20577"/>
        <pc:sldMkLst>
          <pc:docMk/>
          <pc:sldMk cId="3688957185" sldId="289"/>
        </pc:sldMkLst>
        <pc:graphicFrameChg chg="mod modGraphic">
          <ac:chgData name="mukul maheshwari" userId="12cb43e2ca5f0d2c" providerId="LiveId" clId="{111BCBA7-3D12-4064-8BD9-E0B3AD08EFCF}" dt="2025-07-16T22:45:47.754" v="43" actId="20577"/>
          <ac:graphicFrameMkLst>
            <pc:docMk/>
            <pc:sldMk cId="3688957185" sldId="289"/>
            <ac:graphicFrameMk id="11" creationId="{51065CF8-67E6-66E2-1B4A-2B699D9B0373}"/>
          </ac:graphicFrameMkLst>
        </pc:graphicFrameChg>
      </pc:sldChg>
    </pc:docChg>
  </pc:docChgLst>
</pc:chgInfo>
</file>

<file path=ppt/diagrams/_rels/data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ata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13.svg"/></Relationships>
</file>

<file path=ppt/diagrams/_rels/data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_rels/data20.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13.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_rels/drawing20.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3523F6-B21E-412C-BEF4-90B051A29D8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CDDCD9C-B47A-4104-9136-3B062CFAC1EC}">
      <dgm:prSet/>
      <dgm:spPr/>
      <dgm:t>
        <a:bodyPr/>
        <a:lstStyle/>
        <a:p>
          <a:r>
            <a:rPr lang="en-US" dirty="0">
              <a:solidFill>
                <a:schemeClr val="tx1"/>
              </a:solidFill>
            </a:rPr>
            <a:t>Many countries struggle to ensure universal access and utilization of health care services</a:t>
          </a:r>
        </a:p>
      </dgm:t>
    </dgm:pt>
    <dgm:pt modelId="{2B99ADFF-CC75-4E2F-A0CB-EE8479E030B9}" type="parTrans" cxnId="{33C836C0-7700-40A5-A214-D15C2BAE0883}">
      <dgm:prSet/>
      <dgm:spPr/>
      <dgm:t>
        <a:bodyPr/>
        <a:lstStyle/>
        <a:p>
          <a:endParaRPr lang="en-US">
            <a:solidFill>
              <a:schemeClr val="tx1"/>
            </a:solidFill>
          </a:endParaRPr>
        </a:p>
      </dgm:t>
    </dgm:pt>
    <dgm:pt modelId="{A7093D78-D47E-4785-A136-FA8D6346DA1B}" type="sibTrans" cxnId="{33C836C0-7700-40A5-A214-D15C2BAE0883}">
      <dgm:prSet/>
      <dgm:spPr/>
      <dgm:t>
        <a:bodyPr/>
        <a:lstStyle/>
        <a:p>
          <a:endParaRPr lang="en-US">
            <a:solidFill>
              <a:schemeClr val="tx1"/>
            </a:solidFill>
          </a:endParaRPr>
        </a:p>
      </dgm:t>
    </dgm:pt>
    <dgm:pt modelId="{D18B32C6-5DF2-4FAD-9CAC-26BE36B90DED}">
      <dgm:prSet/>
      <dgm:spPr/>
      <dgm:t>
        <a:bodyPr/>
        <a:lstStyle/>
        <a:p>
          <a:r>
            <a:rPr lang="en-US">
              <a:solidFill>
                <a:schemeClr val="tx1"/>
              </a:solidFill>
            </a:rPr>
            <a:t>Traditional reliance on large hospitals has major limitations:</a:t>
          </a:r>
        </a:p>
      </dgm:t>
    </dgm:pt>
    <dgm:pt modelId="{96349D77-84FD-4FAB-BED4-9EB1A0B777F5}" type="parTrans" cxnId="{14F71492-036A-4C6F-809D-9A3CCF48C616}">
      <dgm:prSet/>
      <dgm:spPr/>
      <dgm:t>
        <a:bodyPr/>
        <a:lstStyle/>
        <a:p>
          <a:endParaRPr lang="en-US">
            <a:solidFill>
              <a:schemeClr val="tx1"/>
            </a:solidFill>
          </a:endParaRPr>
        </a:p>
      </dgm:t>
    </dgm:pt>
    <dgm:pt modelId="{66F7D2F2-8346-4453-9845-DDB6178F09DC}" type="sibTrans" cxnId="{14F71492-036A-4C6F-809D-9A3CCF48C616}">
      <dgm:prSet/>
      <dgm:spPr/>
      <dgm:t>
        <a:bodyPr/>
        <a:lstStyle/>
        <a:p>
          <a:endParaRPr lang="en-US">
            <a:solidFill>
              <a:schemeClr val="tx1"/>
            </a:solidFill>
          </a:endParaRPr>
        </a:p>
      </dgm:t>
    </dgm:pt>
    <dgm:pt modelId="{B8965A3F-5792-46FC-82B4-93F6954725C4}">
      <dgm:prSet/>
      <dgm:spPr/>
      <dgm:t>
        <a:bodyPr/>
        <a:lstStyle/>
        <a:p>
          <a:r>
            <a:rPr lang="en-US">
              <a:solidFill>
                <a:schemeClr val="tx1"/>
              </a:solidFill>
            </a:rPr>
            <a:t>Serve only a small urban population within limited radius</a:t>
          </a:r>
        </a:p>
      </dgm:t>
    </dgm:pt>
    <dgm:pt modelId="{B718A671-6756-498F-B2CD-BC21290A692C}" type="parTrans" cxnId="{CDF10F2F-DDD5-42E5-98FA-5D93E51364F8}">
      <dgm:prSet/>
      <dgm:spPr/>
      <dgm:t>
        <a:bodyPr/>
        <a:lstStyle/>
        <a:p>
          <a:endParaRPr lang="en-US">
            <a:solidFill>
              <a:schemeClr val="tx1"/>
            </a:solidFill>
          </a:endParaRPr>
        </a:p>
      </dgm:t>
    </dgm:pt>
    <dgm:pt modelId="{0EECF5F8-A542-4FE0-B819-F6BCE8D63497}" type="sibTrans" cxnId="{CDF10F2F-DDD5-42E5-98FA-5D93E51364F8}">
      <dgm:prSet/>
      <dgm:spPr/>
      <dgm:t>
        <a:bodyPr/>
        <a:lstStyle/>
        <a:p>
          <a:endParaRPr lang="en-US">
            <a:solidFill>
              <a:schemeClr val="tx1"/>
            </a:solidFill>
          </a:endParaRPr>
        </a:p>
      </dgm:t>
    </dgm:pt>
    <dgm:pt modelId="{B8328195-FFF1-4B88-831F-81671A2859E9}">
      <dgm:prSet/>
      <dgm:spPr/>
      <dgm:t>
        <a:bodyPr/>
        <a:lstStyle/>
        <a:p>
          <a:r>
            <a:rPr lang="en-US">
              <a:solidFill>
                <a:schemeClr val="tx1"/>
              </a:solidFill>
            </a:rPr>
            <a:t>Services are largely curative, not comprehensive</a:t>
          </a:r>
        </a:p>
      </dgm:t>
    </dgm:pt>
    <dgm:pt modelId="{41F09984-F33E-41EC-B5C0-CB6887062579}" type="parTrans" cxnId="{EA5D885F-580B-485F-A219-6F28F1E1C90E}">
      <dgm:prSet/>
      <dgm:spPr/>
      <dgm:t>
        <a:bodyPr/>
        <a:lstStyle/>
        <a:p>
          <a:endParaRPr lang="en-US">
            <a:solidFill>
              <a:schemeClr val="tx1"/>
            </a:solidFill>
          </a:endParaRPr>
        </a:p>
      </dgm:t>
    </dgm:pt>
    <dgm:pt modelId="{B3213D1E-3FFC-4931-BA73-A14CB2369EC7}" type="sibTrans" cxnId="{EA5D885F-580B-485F-A219-6F28F1E1C90E}">
      <dgm:prSet/>
      <dgm:spPr/>
      <dgm:t>
        <a:bodyPr/>
        <a:lstStyle/>
        <a:p>
          <a:endParaRPr lang="en-US">
            <a:solidFill>
              <a:schemeClr val="tx1"/>
            </a:solidFill>
          </a:endParaRPr>
        </a:p>
      </dgm:t>
    </dgm:pt>
    <dgm:pt modelId="{291AF37C-6C4A-440B-B1B7-3D37822FEF80}">
      <dgm:prSet/>
      <dgm:spPr/>
      <dgm:t>
        <a:bodyPr/>
        <a:lstStyle/>
        <a:p>
          <a:r>
            <a:rPr lang="en-US">
              <a:solidFill>
                <a:schemeClr val="tx1"/>
              </a:solidFill>
            </a:rPr>
            <a:t>High maintenance costs with limited community impact</a:t>
          </a:r>
        </a:p>
      </dgm:t>
    </dgm:pt>
    <dgm:pt modelId="{629DC7A2-A2C0-4BC3-9B15-1528F4C1AFD3}" type="parTrans" cxnId="{0A1D2023-97AD-4C0F-8F0F-99F513BAC4D7}">
      <dgm:prSet/>
      <dgm:spPr/>
      <dgm:t>
        <a:bodyPr/>
        <a:lstStyle/>
        <a:p>
          <a:endParaRPr lang="en-US">
            <a:solidFill>
              <a:schemeClr val="tx1"/>
            </a:solidFill>
          </a:endParaRPr>
        </a:p>
      </dgm:t>
    </dgm:pt>
    <dgm:pt modelId="{72434873-D63B-47A1-83C2-D62220C32C89}" type="sibTrans" cxnId="{0A1D2023-97AD-4C0F-8F0F-99F513BAC4D7}">
      <dgm:prSet/>
      <dgm:spPr/>
      <dgm:t>
        <a:bodyPr/>
        <a:lstStyle/>
        <a:p>
          <a:endParaRPr lang="en-US">
            <a:solidFill>
              <a:schemeClr val="tx1"/>
            </a:solidFill>
          </a:endParaRPr>
        </a:p>
      </dgm:t>
    </dgm:pt>
    <dgm:pt modelId="{2A95AFD6-A83D-489C-B413-F201B7E4BAD5}">
      <dgm:prSet/>
      <dgm:spPr/>
      <dgm:t>
        <a:bodyPr/>
        <a:lstStyle/>
        <a:p>
          <a:r>
            <a:rPr lang="en-US" b="1" dirty="0">
              <a:solidFill>
                <a:schemeClr val="tx1"/>
              </a:solidFill>
            </a:rPr>
            <a:t>Critique: </a:t>
          </a:r>
          <a:r>
            <a:rPr lang="en-US" dirty="0">
              <a:solidFill>
                <a:schemeClr val="tx1"/>
              </a:solidFill>
            </a:rPr>
            <a:t>These hospitals have </a:t>
          </a:r>
          <a:r>
            <a:rPr lang="en-US" dirty="0">
              <a:solidFill>
                <a:schemeClr val="tx1"/>
              </a:solidFill>
              <a:highlight>
                <a:srgbClr val="FFFF00"/>
              </a:highlight>
            </a:rPr>
            <a:t>become “ivory towers of disease,” </a:t>
          </a:r>
          <a:r>
            <a:rPr lang="en-US" dirty="0">
              <a:solidFill>
                <a:schemeClr val="tx1"/>
              </a:solidFill>
            </a:rPr>
            <a:t>not effective public health institutions</a:t>
          </a:r>
        </a:p>
      </dgm:t>
    </dgm:pt>
    <dgm:pt modelId="{DAE63961-E635-41B1-A1C7-1B471A33FD5B}" type="parTrans" cxnId="{A1F315B2-E037-46AF-AD9C-3502E8715E94}">
      <dgm:prSet/>
      <dgm:spPr/>
      <dgm:t>
        <a:bodyPr/>
        <a:lstStyle/>
        <a:p>
          <a:endParaRPr lang="en-US">
            <a:solidFill>
              <a:schemeClr val="tx1"/>
            </a:solidFill>
          </a:endParaRPr>
        </a:p>
      </dgm:t>
    </dgm:pt>
    <dgm:pt modelId="{80E3147B-4766-4FFC-8291-5D2E2D34EB57}" type="sibTrans" cxnId="{A1F315B2-E037-46AF-AD9C-3502E8715E94}">
      <dgm:prSet/>
      <dgm:spPr/>
      <dgm:t>
        <a:bodyPr/>
        <a:lstStyle/>
        <a:p>
          <a:endParaRPr lang="en-US">
            <a:solidFill>
              <a:schemeClr val="tx1"/>
            </a:solidFill>
          </a:endParaRPr>
        </a:p>
      </dgm:t>
    </dgm:pt>
    <dgm:pt modelId="{7AF62411-FCF6-457D-BFEF-27DE83397631}">
      <dgm:prSet/>
      <dgm:spPr/>
      <dgm:t>
        <a:bodyPr/>
        <a:lstStyle/>
        <a:p>
          <a:r>
            <a:rPr lang="en-US" dirty="0">
              <a:solidFill>
                <a:schemeClr val="tx1"/>
              </a:solidFill>
            </a:rPr>
            <a:t>Solution: </a:t>
          </a:r>
          <a:r>
            <a:rPr lang="en-US" u="sng" dirty="0">
              <a:solidFill>
                <a:schemeClr val="tx1"/>
              </a:solidFill>
            </a:rPr>
            <a:t>Explore alternative, cost-effective, community-based models tailored to rural needs</a:t>
          </a:r>
        </a:p>
      </dgm:t>
    </dgm:pt>
    <dgm:pt modelId="{F97C4217-93CF-4E29-B8DF-04F227EBFDBC}" type="parTrans" cxnId="{E4A0FDB2-CF68-45C9-881C-969AC4D84812}">
      <dgm:prSet/>
      <dgm:spPr/>
      <dgm:t>
        <a:bodyPr/>
        <a:lstStyle/>
        <a:p>
          <a:endParaRPr lang="en-US">
            <a:solidFill>
              <a:schemeClr val="tx1"/>
            </a:solidFill>
          </a:endParaRPr>
        </a:p>
      </dgm:t>
    </dgm:pt>
    <dgm:pt modelId="{7EBD8CB0-8561-4E7F-8C83-1CBDB863C011}" type="sibTrans" cxnId="{E4A0FDB2-CF68-45C9-881C-969AC4D84812}">
      <dgm:prSet/>
      <dgm:spPr/>
      <dgm:t>
        <a:bodyPr/>
        <a:lstStyle/>
        <a:p>
          <a:endParaRPr lang="en-US">
            <a:solidFill>
              <a:schemeClr val="tx1"/>
            </a:solidFill>
          </a:endParaRPr>
        </a:p>
      </dgm:t>
    </dgm:pt>
    <dgm:pt modelId="{2833B25B-CCB9-4F3F-9AAB-CA038DE63E6B}" type="pres">
      <dgm:prSet presAssocID="{BF3523F6-B21E-412C-BEF4-90B051A29D8A}" presName="linear" presStyleCnt="0">
        <dgm:presLayoutVars>
          <dgm:animLvl val="lvl"/>
          <dgm:resizeHandles val="exact"/>
        </dgm:presLayoutVars>
      </dgm:prSet>
      <dgm:spPr/>
    </dgm:pt>
    <dgm:pt modelId="{E530913E-4E58-43E3-A48E-CAB80F8E9566}" type="pres">
      <dgm:prSet presAssocID="{8CDDCD9C-B47A-4104-9136-3B062CFAC1EC}" presName="parentText" presStyleLbl="node1" presStyleIdx="0" presStyleCnt="4">
        <dgm:presLayoutVars>
          <dgm:chMax val="0"/>
          <dgm:bulletEnabled val="1"/>
        </dgm:presLayoutVars>
      </dgm:prSet>
      <dgm:spPr/>
    </dgm:pt>
    <dgm:pt modelId="{A67805A2-0383-4F5A-AEF7-4BF381E62936}" type="pres">
      <dgm:prSet presAssocID="{A7093D78-D47E-4785-A136-FA8D6346DA1B}" presName="spacer" presStyleCnt="0"/>
      <dgm:spPr/>
    </dgm:pt>
    <dgm:pt modelId="{B44382F3-4374-4BBB-A20B-DD9CF43F6B32}" type="pres">
      <dgm:prSet presAssocID="{D18B32C6-5DF2-4FAD-9CAC-26BE36B90DED}" presName="parentText" presStyleLbl="node1" presStyleIdx="1" presStyleCnt="4">
        <dgm:presLayoutVars>
          <dgm:chMax val="0"/>
          <dgm:bulletEnabled val="1"/>
        </dgm:presLayoutVars>
      </dgm:prSet>
      <dgm:spPr/>
    </dgm:pt>
    <dgm:pt modelId="{795D1864-69B9-43D5-9DF0-FA9D6AF00170}" type="pres">
      <dgm:prSet presAssocID="{D18B32C6-5DF2-4FAD-9CAC-26BE36B90DED}" presName="childText" presStyleLbl="revTx" presStyleIdx="0" presStyleCnt="1">
        <dgm:presLayoutVars>
          <dgm:bulletEnabled val="1"/>
        </dgm:presLayoutVars>
      </dgm:prSet>
      <dgm:spPr/>
    </dgm:pt>
    <dgm:pt modelId="{7F15923B-64D9-48A3-8688-CF7FE24D72E5}" type="pres">
      <dgm:prSet presAssocID="{2A95AFD6-A83D-489C-B413-F201B7E4BAD5}" presName="parentText" presStyleLbl="node1" presStyleIdx="2" presStyleCnt="4">
        <dgm:presLayoutVars>
          <dgm:chMax val="0"/>
          <dgm:bulletEnabled val="1"/>
        </dgm:presLayoutVars>
      </dgm:prSet>
      <dgm:spPr/>
    </dgm:pt>
    <dgm:pt modelId="{E22F2704-A7F5-4EB4-87F4-54D2C07C4C5A}" type="pres">
      <dgm:prSet presAssocID="{80E3147B-4766-4FFC-8291-5D2E2D34EB57}" presName="spacer" presStyleCnt="0"/>
      <dgm:spPr/>
    </dgm:pt>
    <dgm:pt modelId="{0D7B5866-EA4E-4B95-A33B-4D1119B520AA}" type="pres">
      <dgm:prSet presAssocID="{7AF62411-FCF6-457D-BFEF-27DE83397631}" presName="parentText" presStyleLbl="node1" presStyleIdx="3" presStyleCnt="4">
        <dgm:presLayoutVars>
          <dgm:chMax val="0"/>
          <dgm:bulletEnabled val="1"/>
        </dgm:presLayoutVars>
      </dgm:prSet>
      <dgm:spPr/>
    </dgm:pt>
  </dgm:ptLst>
  <dgm:cxnLst>
    <dgm:cxn modelId="{0A1D2023-97AD-4C0F-8F0F-99F513BAC4D7}" srcId="{D18B32C6-5DF2-4FAD-9CAC-26BE36B90DED}" destId="{291AF37C-6C4A-440B-B1B7-3D37822FEF80}" srcOrd="2" destOrd="0" parTransId="{629DC7A2-A2C0-4BC3-9B15-1528F4C1AFD3}" sibTransId="{72434873-D63B-47A1-83C2-D62220C32C89}"/>
    <dgm:cxn modelId="{CCB0082C-46F4-48E2-AEE2-55B0A346CBB3}" type="presOf" srcId="{BF3523F6-B21E-412C-BEF4-90B051A29D8A}" destId="{2833B25B-CCB9-4F3F-9AAB-CA038DE63E6B}" srcOrd="0" destOrd="0" presId="urn:microsoft.com/office/officeart/2005/8/layout/vList2"/>
    <dgm:cxn modelId="{CDF10F2F-DDD5-42E5-98FA-5D93E51364F8}" srcId="{D18B32C6-5DF2-4FAD-9CAC-26BE36B90DED}" destId="{B8965A3F-5792-46FC-82B4-93F6954725C4}" srcOrd="0" destOrd="0" parTransId="{B718A671-6756-498F-B2CD-BC21290A692C}" sibTransId="{0EECF5F8-A542-4FE0-B819-F6BCE8D63497}"/>
    <dgm:cxn modelId="{EA5D885F-580B-485F-A219-6F28F1E1C90E}" srcId="{D18B32C6-5DF2-4FAD-9CAC-26BE36B90DED}" destId="{B8328195-FFF1-4B88-831F-81671A2859E9}" srcOrd="1" destOrd="0" parTransId="{41F09984-F33E-41EC-B5C0-CB6887062579}" sibTransId="{B3213D1E-3FFC-4931-BA73-A14CB2369EC7}"/>
    <dgm:cxn modelId="{4BFE4162-EAE4-4FB8-8E18-19B6C9B898C7}" type="presOf" srcId="{B8965A3F-5792-46FC-82B4-93F6954725C4}" destId="{795D1864-69B9-43D5-9DF0-FA9D6AF00170}" srcOrd="0" destOrd="0" presId="urn:microsoft.com/office/officeart/2005/8/layout/vList2"/>
    <dgm:cxn modelId="{C04CE763-2A1C-441D-BE8C-3D03C5B64C4D}" type="presOf" srcId="{D18B32C6-5DF2-4FAD-9CAC-26BE36B90DED}" destId="{B44382F3-4374-4BBB-A20B-DD9CF43F6B32}" srcOrd="0" destOrd="0" presId="urn:microsoft.com/office/officeart/2005/8/layout/vList2"/>
    <dgm:cxn modelId="{14F71492-036A-4C6F-809D-9A3CCF48C616}" srcId="{BF3523F6-B21E-412C-BEF4-90B051A29D8A}" destId="{D18B32C6-5DF2-4FAD-9CAC-26BE36B90DED}" srcOrd="1" destOrd="0" parTransId="{96349D77-84FD-4FAB-BED4-9EB1A0B777F5}" sibTransId="{66F7D2F2-8346-4453-9845-DDB6178F09DC}"/>
    <dgm:cxn modelId="{C5FA159D-4264-4CAF-9F88-387F216D5ECB}" type="presOf" srcId="{B8328195-FFF1-4B88-831F-81671A2859E9}" destId="{795D1864-69B9-43D5-9DF0-FA9D6AF00170}" srcOrd="0" destOrd="1" presId="urn:microsoft.com/office/officeart/2005/8/layout/vList2"/>
    <dgm:cxn modelId="{1DE15EAD-F4FB-4F3A-AE25-19E52BF6367D}" type="presOf" srcId="{291AF37C-6C4A-440B-B1B7-3D37822FEF80}" destId="{795D1864-69B9-43D5-9DF0-FA9D6AF00170}" srcOrd="0" destOrd="2" presId="urn:microsoft.com/office/officeart/2005/8/layout/vList2"/>
    <dgm:cxn modelId="{A1F315B2-E037-46AF-AD9C-3502E8715E94}" srcId="{BF3523F6-B21E-412C-BEF4-90B051A29D8A}" destId="{2A95AFD6-A83D-489C-B413-F201B7E4BAD5}" srcOrd="2" destOrd="0" parTransId="{DAE63961-E635-41B1-A1C7-1B471A33FD5B}" sibTransId="{80E3147B-4766-4FFC-8291-5D2E2D34EB57}"/>
    <dgm:cxn modelId="{E4A0FDB2-CF68-45C9-881C-969AC4D84812}" srcId="{BF3523F6-B21E-412C-BEF4-90B051A29D8A}" destId="{7AF62411-FCF6-457D-BFEF-27DE83397631}" srcOrd="3" destOrd="0" parTransId="{F97C4217-93CF-4E29-B8DF-04F227EBFDBC}" sibTransId="{7EBD8CB0-8561-4E7F-8C83-1CBDB863C011}"/>
    <dgm:cxn modelId="{33C836C0-7700-40A5-A214-D15C2BAE0883}" srcId="{BF3523F6-B21E-412C-BEF4-90B051A29D8A}" destId="{8CDDCD9C-B47A-4104-9136-3B062CFAC1EC}" srcOrd="0" destOrd="0" parTransId="{2B99ADFF-CC75-4E2F-A0CB-EE8479E030B9}" sibTransId="{A7093D78-D47E-4785-A136-FA8D6346DA1B}"/>
    <dgm:cxn modelId="{729C5CD1-E2F7-463B-BFA0-8FACF70E5C63}" type="presOf" srcId="{2A95AFD6-A83D-489C-B413-F201B7E4BAD5}" destId="{7F15923B-64D9-48A3-8688-CF7FE24D72E5}" srcOrd="0" destOrd="0" presId="urn:microsoft.com/office/officeart/2005/8/layout/vList2"/>
    <dgm:cxn modelId="{82D5DFDA-B286-4D4E-9768-5249A7132F0F}" type="presOf" srcId="{8CDDCD9C-B47A-4104-9136-3B062CFAC1EC}" destId="{E530913E-4E58-43E3-A48E-CAB80F8E9566}" srcOrd="0" destOrd="0" presId="urn:microsoft.com/office/officeart/2005/8/layout/vList2"/>
    <dgm:cxn modelId="{95B5B3DC-92C4-4AED-A8B5-7B4E5923690C}" type="presOf" srcId="{7AF62411-FCF6-457D-BFEF-27DE83397631}" destId="{0D7B5866-EA4E-4B95-A33B-4D1119B520AA}" srcOrd="0" destOrd="0" presId="urn:microsoft.com/office/officeart/2005/8/layout/vList2"/>
    <dgm:cxn modelId="{D57F551E-5486-453B-8EE1-6D9CE994B924}" type="presParOf" srcId="{2833B25B-CCB9-4F3F-9AAB-CA038DE63E6B}" destId="{E530913E-4E58-43E3-A48E-CAB80F8E9566}" srcOrd="0" destOrd="0" presId="urn:microsoft.com/office/officeart/2005/8/layout/vList2"/>
    <dgm:cxn modelId="{07F57A7C-CA44-41EC-9AB2-9E38F8038BF0}" type="presParOf" srcId="{2833B25B-CCB9-4F3F-9AAB-CA038DE63E6B}" destId="{A67805A2-0383-4F5A-AEF7-4BF381E62936}" srcOrd="1" destOrd="0" presId="urn:microsoft.com/office/officeart/2005/8/layout/vList2"/>
    <dgm:cxn modelId="{F2A8BFFC-4693-4C3B-AD69-206239C76941}" type="presParOf" srcId="{2833B25B-CCB9-4F3F-9AAB-CA038DE63E6B}" destId="{B44382F3-4374-4BBB-A20B-DD9CF43F6B32}" srcOrd="2" destOrd="0" presId="urn:microsoft.com/office/officeart/2005/8/layout/vList2"/>
    <dgm:cxn modelId="{389C0269-B3A1-44EE-851F-E81B1317509E}" type="presParOf" srcId="{2833B25B-CCB9-4F3F-9AAB-CA038DE63E6B}" destId="{795D1864-69B9-43D5-9DF0-FA9D6AF00170}" srcOrd="3" destOrd="0" presId="urn:microsoft.com/office/officeart/2005/8/layout/vList2"/>
    <dgm:cxn modelId="{FA1F506E-9803-40A1-B993-3BD259A29560}" type="presParOf" srcId="{2833B25B-CCB9-4F3F-9AAB-CA038DE63E6B}" destId="{7F15923B-64D9-48A3-8688-CF7FE24D72E5}" srcOrd="4" destOrd="0" presId="urn:microsoft.com/office/officeart/2005/8/layout/vList2"/>
    <dgm:cxn modelId="{51D6E13A-687E-4333-82F9-CFEFA12CE634}" type="presParOf" srcId="{2833B25B-CCB9-4F3F-9AAB-CA038DE63E6B}" destId="{E22F2704-A7F5-4EB4-87F4-54D2C07C4C5A}" srcOrd="5" destOrd="0" presId="urn:microsoft.com/office/officeart/2005/8/layout/vList2"/>
    <dgm:cxn modelId="{CF318820-2E51-48C6-909E-EF47488637D5}" type="presParOf" srcId="{2833B25B-CCB9-4F3F-9AAB-CA038DE63E6B}" destId="{0D7B5866-EA4E-4B95-A33B-4D1119B520A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80694AA-BDA4-43D9-A0CF-DA7762A544D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4E0C402-47D6-4B94-AF4A-1D41EC4A0B05}">
      <dgm:prSet/>
      <dgm:spPr/>
      <dgm:t>
        <a:bodyPr/>
        <a:lstStyle/>
        <a:p>
          <a:r>
            <a:rPr lang="en-US" dirty="0">
              <a:solidFill>
                <a:schemeClr val="tx1"/>
              </a:solidFill>
            </a:rPr>
            <a:t>Rising costs and inequitable access necessitate new models</a:t>
          </a:r>
        </a:p>
      </dgm:t>
    </dgm:pt>
    <dgm:pt modelId="{4BFC0D8D-453F-4063-A8E4-30D14DBA8A94}" type="parTrans" cxnId="{559EBFCA-CEE1-4337-9EA6-2C76D4E63540}">
      <dgm:prSet/>
      <dgm:spPr/>
      <dgm:t>
        <a:bodyPr/>
        <a:lstStyle/>
        <a:p>
          <a:endParaRPr lang="en-US"/>
        </a:p>
      </dgm:t>
    </dgm:pt>
    <dgm:pt modelId="{697DC393-FD56-411D-9FD9-B7A00F69B274}" type="sibTrans" cxnId="{559EBFCA-CEE1-4337-9EA6-2C76D4E63540}">
      <dgm:prSet/>
      <dgm:spPr/>
      <dgm:t>
        <a:bodyPr/>
        <a:lstStyle/>
        <a:p>
          <a:endParaRPr lang="en-US"/>
        </a:p>
      </dgm:t>
    </dgm:pt>
    <dgm:pt modelId="{C75B46AD-BA01-4B04-874F-844B01CBD24E}">
      <dgm:prSet/>
      <dgm:spPr/>
      <dgm:t>
        <a:bodyPr/>
        <a:lstStyle/>
        <a:p>
          <a:r>
            <a:rPr lang="en-US"/>
            <a:t>Objectives of alternative models:</a:t>
          </a:r>
        </a:p>
      </dgm:t>
    </dgm:pt>
    <dgm:pt modelId="{418435ED-788B-443A-B942-E2A7359B8C12}" type="parTrans" cxnId="{5031EBE1-F2B6-42C4-9618-DD3466E515E5}">
      <dgm:prSet/>
      <dgm:spPr/>
      <dgm:t>
        <a:bodyPr/>
        <a:lstStyle/>
        <a:p>
          <a:endParaRPr lang="en-US"/>
        </a:p>
      </dgm:t>
    </dgm:pt>
    <dgm:pt modelId="{27F6A0F0-8275-46A3-B6C8-282D0EDBD89C}" type="sibTrans" cxnId="{5031EBE1-F2B6-42C4-9618-DD3466E515E5}">
      <dgm:prSet/>
      <dgm:spPr/>
      <dgm:t>
        <a:bodyPr/>
        <a:lstStyle/>
        <a:p>
          <a:endParaRPr lang="en-US"/>
        </a:p>
      </dgm:t>
    </dgm:pt>
    <dgm:pt modelId="{B94D7EAF-B5D8-46C5-B052-1D0E666A97CD}">
      <dgm:prSet/>
      <dgm:spPr/>
      <dgm:t>
        <a:bodyPr/>
        <a:lstStyle/>
        <a:p>
          <a:r>
            <a:rPr lang="en-US" dirty="0"/>
            <a:t>Be </a:t>
          </a:r>
          <a:r>
            <a:rPr lang="en-US" b="1" dirty="0"/>
            <a:t>inexpensive yet effective</a:t>
          </a:r>
        </a:p>
      </dgm:t>
    </dgm:pt>
    <dgm:pt modelId="{AA2C2570-0576-4758-A958-A7ADE872D3F6}" type="parTrans" cxnId="{BF4A897C-2102-4499-BE01-C5524BB231EA}">
      <dgm:prSet/>
      <dgm:spPr/>
      <dgm:t>
        <a:bodyPr/>
        <a:lstStyle/>
        <a:p>
          <a:endParaRPr lang="en-US"/>
        </a:p>
      </dgm:t>
    </dgm:pt>
    <dgm:pt modelId="{81CD2545-661E-4CE2-AE9D-15D5229A12BE}" type="sibTrans" cxnId="{BF4A897C-2102-4499-BE01-C5524BB231EA}">
      <dgm:prSet/>
      <dgm:spPr/>
      <dgm:t>
        <a:bodyPr/>
        <a:lstStyle/>
        <a:p>
          <a:endParaRPr lang="en-US"/>
        </a:p>
      </dgm:t>
    </dgm:pt>
    <dgm:pt modelId="{252D7EED-3276-4E18-ACE0-3BF7040C1677}">
      <dgm:prSet/>
      <dgm:spPr/>
      <dgm:t>
        <a:bodyPr/>
        <a:lstStyle/>
        <a:p>
          <a:r>
            <a:rPr lang="en-US"/>
            <a:t>Provide essential care suited to rural populations</a:t>
          </a:r>
        </a:p>
      </dgm:t>
    </dgm:pt>
    <dgm:pt modelId="{6699DF3C-6EA2-4CA8-9EFB-2E8BA1DA7923}" type="parTrans" cxnId="{29DA1424-FE03-46FC-BD05-A4FF0CEE4608}">
      <dgm:prSet/>
      <dgm:spPr/>
      <dgm:t>
        <a:bodyPr/>
        <a:lstStyle/>
        <a:p>
          <a:endParaRPr lang="en-US"/>
        </a:p>
      </dgm:t>
    </dgm:pt>
    <dgm:pt modelId="{A2AA7033-D2FA-49D3-B5B2-0BF3428CA78F}" type="sibTrans" cxnId="{29DA1424-FE03-46FC-BD05-A4FF0CEE4608}">
      <dgm:prSet/>
      <dgm:spPr/>
      <dgm:t>
        <a:bodyPr/>
        <a:lstStyle/>
        <a:p>
          <a:endParaRPr lang="en-US"/>
        </a:p>
      </dgm:t>
    </dgm:pt>
    <dgm:pt modelId="{791C9DDF-0BF2-44AB-9CE8-A707F85F189B}">
      <dgm:prSet/>
      <dgm:spPr/>
      <dgm:t>
        <a:bodyPr/>
        <a:lstStyle/>
        <a:p>
          <a:r>
            <a:rPr lang="en-US"/>
            <a:t>Address comprehensive needs, not just curative ones</a:t>
          </a:r>
        </a:p>
      </dgm:t>
    </dgm:pt>
    <dgm:pt modelId="{C81406E4-9F14-49EA-90B6-8D490C2B44F9}" type="parTrans" cxnId="{ECE2FC1D-2A8D-4DD9-9BD4-53CF1CD7B7A7}">
      <dgm:prSet/>
      <dgm:spPr/>
      <dgm:t>
        <a:bodyPr/>
        <a:lstStyle/>
        <a:p>
          <a:endParaRPr lang="en-US"/>
        </a:p>
      </dgm:t>
    </dgm:pt>
    <dgm:pt modelId="{B63B313D-3EFF-4F52-9521-C63E76789AF4}" type="sibTrans" cxnId="{ECE2FC1D-2A8D-4DD9-9BD4-53CF1CD7B7A7}">
      <dgm:prSet/>
      <dgm:spPr/>
      <dgm:t>
        <a:bodyPr/>
        <a:lstStyle/>
        <a:p>
          <a:endParaRPr lang="en-US"/>
        </a:p>
      </dgm:t>
    </dgm:pt>
    <dgm:pt modelId="{859A2FC4-75A5-4FB2-BCB8-5E77F0FC3693}">
      <dgm:prSet/>
      <dgm:spPr/>
      <dgm:t>
        <a:bodyPr/>
        <a:lstStyle/>
        <a:p>
          <a:r>
            <a:rPr lang="en-US"/>
            <a:t>Models should be:</a:t>
          </a:r>
        </a:p>
      </dgm:t>
    </dgm:pt>
    <dgm:pt modelId="{652DEBF8-F9A9-45AA-BEEE-6E518EFC66B6}" type="parTrans" cxnId="{77D44739-C372-4FD3-B59D-5CF9CDF60853}">
      <dgm:prSet/>
      <dgm:spPr/>
      <dgm:t>
        <a:bodyPr/>
        <a:lstStyle/>
        <a:p>
          <a:endParaRPr lang="en-US"/>
        </a:p>
      </dgm:t>
    </dgm:pt>
    <dgm:pt modelId="{8AE06862-7218-4DF8-AFF0-9557AFB4CF96}" type="sibTrans" cxnId="{77D44739-C372-4FD3-B59D-5CF9CDF60853}">
      <dgm:prSet/>
      <dgm:spPr/>
      <dgm:t>
        <a:bodyPr/>
        <a:lstStyle/>
        <a:p>
          <a:endParaRPr lang="en-US"/>
        </a:p>
      </dgm:t>
    </dgm:pt>
    <dgm:pt modelId="{C6E29057-F5BE-40EF-BD0C-B63B6FFC4BCE}">
      <dgm:prSet/>
      <dgm:spPr/>
      <dgm:t>
        <a:bodyPr/>
        <a:lstStyle/>
        <a:p>
          <a:r>
            <a:rPr lang="en-US" dirty="0"/>
            <a:t>Planned </a:t>
          </a:r>
          <a:r>
            <a:rPr lang="en-US" b="1" dirty="0"/>
            <a:t>based on community needs</a:t>
          </a:r>
        </a:p>
      </dgm:t>
    </dgm:pt>
    <dgm:pt modelId="{66785F69-1188-4EB5-876E-1A70C6F39FBD}" type="parTrans" cxnId="{53FB02B2-96DE-4D0B-B1D6-3CDFB6D6BFD5}">
      <dgm:prSet/>
      <dgm:spPr/>
      <dgm:t>
        <a:bodyPr/>
        <a:lstStyle/>
        <a:p>
          <a:endParaRPr lang="en-US"/>
        </a:p>
      </dgm:t>
    </dgm:pt>
    <dgm:pt modelId="{C097D460-A0E0-4F6D-8AD6-092A5B550F7E}" type="sibTrans" cxnId="{53FB02B2-96DE-4D0B-B1D6-3CDFB6D6BFD5}">
      <dgm:prSet/>
      <dgm:spPr/>
      <dgm:t>
        <a:bodyPr/>
        <a:lstStyle/>
        <a:p>
          <a:endParaRPr lang="en-US"/>
        </a:p>
      </dgm:t>
    </dgm:pt>
    <dgm:pt modelId="{76DE28D1-4AC3-4765-9526-1C4D84F12086}">
      <dgm:prSet/>
      <dgm:spPr/>
      <dgm:t>
        <a:bodyPr/>
        <a:lstStyle/>
        <a:p>
          <a:r>
            <a:rPr lang="en-US"/>
            <a:t>Use available knowledge &amp; resources efficiently</a:t>
          </a:r>
        </a:p>
      </dgm:t>
    </dgm:pt>
    <dgm:pt modelId="{5F880FEA-7297-41F6-ADDB-9CD0F643358D}" type="parTrans" cxnId="{D3910D17-BA45-4EC1-8D8C-033D7CF6FFB9}">
      <dgm:prSet/>
      <dgm:spPr/>
      <dgm:t>
        <a:bodyPr/>
        <a:lstStyle/>
        <a:p>
          <a:endParaRPr lang="en-US"/>
        </a:p>
      </dgm:t>
    </dgm:pt>
    <dgm:pt modelId="{79EA539F-8203-40A4-BD83-1BDE3BC8DA1A}" type="sibTrans" cxnId="{D3910D17-BA45-4EC1-8D8C-033D7CF6FFB9}">
      <dgm:prSet/>
      <dgm:spPr/>
      <dgm:t>
        <a:bodyPr/>
        <a:lstStyle/>
        <a:p>
          <a:endParaRPr lang="en-US"/>
        </a:p>
      </dgm:t>
    </dgm:pt>
    <dgm:pt modelId="{27DCA89B-1A6E-4B72-AD2E-A59DF90F82C5}">
      <dgm:prSet/>
      <dgm:spPr/>
      <dgm:t>
        <a:bodyPr/>
        <a:lstStyle/>
        <a:p>
          <a:r>
            <a:rPr lang="en-US"/>
            <a:t>Ensure equitable distribution and accessibility of services</a:t>
          </a:r>
        </a:p>
      </dgm:t>
    </dgm:pt>
    <dgm:pt modelId="{AC2D4151-A0B2-438E-B868-59D52B0DF2D6}" type="parTrans" cxnId="{25D8BAE8-F342-4534-B65A-DB1AEFE745B1}">
      <dgm:prSet/>
      <dgm:spPr/>
      <dgm:t>
        <a:bodyPr/>
        <a:lstStyle/>
        <a:p>
          <a:endParaRPr lang="en-US"/>
        </a:p>
      </dgm:t>
    </dgm:pt>
    <dgm:pt modelId="{173963C6-1BC5-4633-B1E0-6DDCFA687BE7}" type="sibTrans" cxnId="{25D8BAE8-F342-4534-B65A-DB1AEFE745B1}">
      <dgm:prSet/>
      <dgm:spPr/>
      <dgm:t>
        <a:bodyPr/>
        <a:lstStyle/>
        <a:p>
          <a:endParaRPr lang="en-US"/>
        </a:p>
      </dgm:t>
    </dgm:pt>
    <dgm:pt modelId="{CC96E7F4-AF89-4871-B619-9C356C1FE061}" type="pres">
      <dgm:prSet presAssocID="{580694AA-BDA4-43D9-A0CF-DA7762A544DF}" presName="linear" presStyleCnt="0">
        <dgm:presLayoutVars>
          <dgm:animLvl val="lvl"/>
          <dgm:resizeHandles val="exact"/>
        </dgm:presLayoutVars>
      </dgm:prSet>
      <dgm:spPr/>
    </dgm:pt>
    <dgm:pt modelId="{AA2B0D4D-B249-4D84-B3CD-ADA75F9A82F1}" type="pres">
      <dgm:prSet presAssocID="{14E0C402-47D6-4B94-AF4A-1D41EC4A0B05}" presName="parentText" presStyleLbl="node1" presStyleIdx="0" presStyleCnt="3">
        <dgm:presLayoutVars>
          <dgm:chMax val="0"/>
          <dgm:bulletEnabled val="1"/>
        </dgm:presLayoutVars>
      </dgm:prSet>
      <dgm:spPr/>
    </dgm:pt>
    <dgm:pt modelId="{B55C0043-A2FC-41B1-BF38-51EB19CAB665}" type="pres">
      <dgm:prSet presAssocID="{697DC393-FD56-411D-9FD9-B7A00F69B274}" presName="spacer" presStyleCnt="0"/>
      <dgm:spPr/>
    </dgm:pt>
    <dgm:pt modelId="{4C25CC78-DDCD-41A3-A4CF-8F4332929938}" type="pres">
      <dgm:prSet presAssocID="{C75B46AD-BA01-4B04-874F-844B01CBD24E}" presName="parentText" presStyleLbl="node1" presStyleIdx="1" presStyleCnt="3">
        <dgm:presLayoutVars>
          <dgm:chMax val="0"/>
          <dgm:bulletEnabled val="1"/>
        </dgm:presLayoutVars>
      </dgm:prSet>
      <dgm:spPr/>
    </dgm:pt>
    <dgm:pt modelId="{9DC76547-B6A1-444B-8833-5377708D4C18}" type="pres">
      <dgm:prSet presAssocID="{C75B46AD-BA01-4B04-874F-844B01CBD24E}" presName="childText" presStyleLbl="revTx" presStyleIdx="0" presStyleCnt="2">
        <dgm:presLayoutVars>
          <dgm:bulletEnabled val="1"/>
        </dgm:presLayoutVars>
      </dgm:prSet>
      <dgm:spPr/>
    </dgm:pt>
    <dgm:pt modelId="{F35FB896-20DC-4D55-9A27-6BB135D98CA8}" type="pres">
      <dgm:prSet presAssocID="{859A2FC4-75A5-4FB2-BCB8-5E77F0FC3693}" presName="parentText" presStyleLbl="node1" presStyleIdx="2" presStyleCnt="3">
        <dgm:presLayoutVars>
          <dgm:chMax val="0"/>
          <dgm:bulletEnabled val="1"/>
        </dgm:presLayoutVars>
      </dgm:prSet>
      <dgm:spPr/>
    </dgm:pt>
    <dgm:pt modelId="{5990D458-D131-48C8-91C4-DF535B4AAAF4}" type="pres">
      <dgm:prSet presAssocID="{859A2FC4-75A5-4FB2-BCB8-5E77F0FC3693}" presName="childText" presStyleLbl="revTx" presStyleIdx="1" presStyleCnt="2">
        <dgm:presLayoutVars>
          <dgm:bulletEnabled val="1"/>
        </dgm:presLayoutVars>
      </dgm:prSet>
      <dgm:spPr/>
    </dgm:pt>
  </dgm:ptLst>
  <dgm:cxnLst>
    <dgm:cxn modelId="{A7257309-4119-4903-A43D-A71784ED9D24}" type="presOf" srcId="{C6E29057-F5BE-40EF-BD0C-B63B6FFC4BCE}" destId="{5990D458-D131-48C8-91C4-DF535B4AAAF4}" srcOrd="0" destOrd="0" presId="urn:microsoft.com/office/officeart/2005/8/layout/vList2"/>
    <dgm:cxn modelId="{5EB27409-2BC0-4269-B09B-70157A6D98B3}" type="presOf" srcId="{859A2FC4-75A5-4FB2-BCB8-5E77F0FC3693}" destId="{F35FB896-20DC-4D55-9A27-6BB135D98CA8}" srcOrd="0" destOrd="0" presId="urn:microsoft.com/office/officeart/2005/8/layout/vList2"/>
    <dgm:cxn modelId="{D3910D17-BA45-4EC1-8D8C-033D7CF6FFB9}" srcId="{859A2FC4-75A5-4FB2-BCB8-5E77F0FC3693}" destId="{76DE28D1-4AC3-4765-9526-1C4D84F12086}" srcOrd="1" destOrd="0" parTransId="{5F880FEA-7297-41F6-ADDB-9CD0F643358D}" sibTransId="{79EA539F-8203-40A4-BD83-1BDE3BC8DA1A}"/>
    <dgm:cxn modelId="{ECE2FC1D-2A8D-4DD9-9BD4-53CF1CD7B7A7}" srcId="{C75B46AD-BA01-4B04-874F-844B01CBD24E}" destId="{791C9DDF-0BF2-44AB-9CE8-A707F85F189B}" srcOrd="2" destOrd="0" parTransId="{C81406E4-9F14-49EA-90B6-8D490C2B44F9}" sibTransId="{B63B313D-3EFF-4F52-9521-C63E76789AF4}"/>
    <dgm:cxn modelId="{29DA1424-FE03-46FC-BD05-A4FF0CEE4608}" srcId="{C75B46AD-BA01-4B04-874F-844B01CBD24E}" destId="{252D7EED-3276-4E18-ACE0-3BF7040C1677}" srcOrd="1" destOrd="0" parTransId="{6699DF3C-6EA2-4CA8-9EFB-2E8BA1DA7923}" sibTransId="{A2AA7033-D2FA-49D3-B5B2-0BF3428CA78F}"/>
    <dgm:cxn modelId="{6CD51F36-3C9A-4755-A095-7A2DE0A2F0AA}" type="presOf" srcId="{580694AA-BDA4-43D9-A0CF-DA7762A544DF}" destId="{CC96E7F4-AF89-4871-B619-9C356C1FE061}" srcOrd="0" destOrd="0" presId="urn:microsoft.com/office/officeart/2005/8/layout/vList2"/>
    <dgm:cxn modelId="{77D44739-C372-4FD3-B59D-5CF9CDF60853}" srcId="{580694AA-BDA4-43D9-A0CF-DA7762A544DF}" destId="{859A2FC4-75A5-4FB2-BCB8-5E77F0FC3693}" srcOrd="2" destOrd="0" parTransId="{652DEBF8-F9A9-45AA-BEEE-6E518EFC66B6}" sibTransId="{8AE06862-7218-4DF8-AFF0-9557AFB4CF96}"/>
    <dgm:cxn modelId="{6BF75E67-FC75-4047-9347-E00E15B7B02B}" type="presOf" srcId="{14E0C402-47D6-4B94-AF4A-1D41EC4A0B05}" destId="{AA2B0D4D-B249-4D84-B3CD-ADA75F9A82F1}" srcOrd="0" destOrd="0" presId="urn:microsoft.com/office/officeart/2005/8/layout/vList2"/>
    <dgm:cxn modelId="{8176D34F-2F00-47B7-A83F-2B9373E1C125}" type="presOf" srcId="{C75B46AD-BA01-4B04-874F-844B01CBD24E}" destId="{4C25CC78-DDCD-41A3-A4CF-8F4332929938}" srcOrd="0" destOrd="0" presId="urn:microsoft.com/office/officeart/2005/8/layout/vList2"/>
    <dgm:cxn modelId="{B95DCD73-EDBB-45C8-BB31-80FFDAD7B762}" type="presOf" srcId="{252D7EED-3276-4E18-ACE0-3BF7040C1677}" destId="{9DC76547-B6A1-444B-8833-5377708D4C18}" srcOrd="0" destOrd="1" presId="urn:microsoft.com/office/officeart/2005/8/layout/vList2"/>
    <dgm:cxn modelId="{BF4A897C-2102-4499-BE01-C5524BB231EA}" srcId="{C75B46AD-BA01-4B04-874F-844B01CBD24E}" destId="{B94D7EAF-B5D8-46C5-B052-1D0E666A97CD}" srcOrd="0" destOrd="0" parTransId="{AA2C2570-0576-4758-A958-A7ADE872D3F6}" sibTransId="{81CD2545-661E-4CE2-AE9D-15D5229A12BE}"/>
    <dgm:cxn modelId="{B4E3689D-4C09-487E-BB96-9E364FEC4758}" type="presOf" srcId="{791C9DDF-0BF2-44AB-9CE8-A707F85F189B}" destId="{9DC76547-B6A1-444B-8833-5377708D4C18}" srcOrd="0" destOrd="2" presId="urn:microsoft.com/office/officeart/2005/8/layout/vList2"/>
    <dgm:cxn modelId="{53FB02B2-96DE-4D0B-B1D6-3CDFB6D6BFD5}" srcId="{859A2FC4-75A5-4FB2-BCB8-5E77F0FC3693}" destId="{C6E29057-F5BE-40EF-BD0C-B63B6FFC4BCE}" srcOrd="0" destOrd="0" parTransId="{66785F69-1188-4EB5-876E-1A70C6F39FBD}" sibTransId="{C097D460-A0E0-4F6D-8AD6-092A5B550F7E}"/>
    <dgm:cxn modelId="{1D5DB3BF-4B0F-4ACA-BC94-C0F8612601E6}" type="presOf" srcId="{B94D7EAF-B5D8-46C5-B052-1D0E666A97CD}" destId="{9DC76547-B6A1-444B-8833-5377708D4C18}" srcOrd="0" destOrd="0" presId="urn:microsoft.com/office/officeart/2005/8/layout/vList2"/>
    <dgm:cxn modelId="{49B14AC7-CE62-4659-A90F-83B01BF0D98B}" type="presOf" srcId="{76DE28D1-4AC3-4765-9526-1C4D84F12086}" destId="{5990D458-D131-48C8-91C4-DF535B4AAAF4}" srcOrd="0" destOrd="1" presId="urn:microsoft.com/office/officeart/2005/8/layout/vList2"/>
    <dgm:cxn modelId="{559EBFCA-CEE1-4337-9EA6-2C76D4E63540}" srcId="{580694AA-BDA4-43D9-A0CF-DA7762A544DF}" destId="{14E0C402-47D6-4B94-AF4A-1D41EC4A0B05}" srcOrd="0" destOrd="0" parTransId="{4BFC0D8D-453F-4063-A8E4-30D14DBA8A94}" sibTransId="{697DC393-FD56-411D-9FD9-B7A00F69B274}"/>
    <dgm:cxn modelId="{5031EBE1-F2B6-42C4-9618-DD3466E515E5}" srcId="{580694AA-BDA4-43D9-A0CF-DA7762A544DF}" destId="{C75B46AD-BA01-4B04-874F-844B01CBD24E}" srcOrd="1" destOrd="0" parTransId="{418435ED-788B-443A-B942-E2A7359B8C12}" sibTransId="{27F6A0F0-8275-46A3-B6C8-282D0EDBD89C}"/>
    <dgm:cxn modelId="{62F5CAE7-3C0B-48FD-8248-F6A5364A731A}" type="presOf" srcId="{27DCA89B-1A6E-4B72-AD2E-A59DF90F82C5}" destId="{5990D458-D131-48C8-91C4-DF535B4AAAF4}" srcOrd="0" destOrd="2" presId="urn:microsoft.com/office/officeart/2005/8/layout/vList2"/>
    <dgm:cxn modelId="{25D8BAE8-F342-4534-B65A-DB1AEFE745B1}" srcId="{859A2FC4-75A5-4FB2-BCB8-5E77F0FC3693}" destId="{27DCA89B-1A6E-4B72-AD2E-A59DF90F82C5}" srcOrd="2" destOrd="0" parTransId="{AC2D4151-A0B2-438E-B868-59D52B0DF2D6}" sibTransId="{173963C6-1BC5-4633-B1E0-6DDCFA687BE7}"/>
    <dgm:cxn modelId="{841A9727-E092-4907-95A6-EDCB22F440DE}" type="presParOf" srcId="{CC96E7F4-AF89-4871-B619-9C356C1FE061}" destId="{AA2B0D4D-B249-4D84-B3CD-ADA75F9A82F1}" srcOrd="0" destOrd="0" presId="urn:microsoft.com/office/officeart/2005/8/layout/vList2"/>
    <dgm:cxn modelId="{0EADADC3-0280-4AA6-8755-4B12963F7F14}" type="presParOf" srcId="{CC96E7F4-AF89-4871-B619-9C356C1FE061}" destId="{B55C0043-A2FC-41B1-BF38-51EB19CAB665}" srcOrd="1" destOrd="0" presId="urn:microsoft.com/office/officeart/2005/8/layout/vList2"/>
    <dgm:cxn modelId="{77FF8085-F754-4D97-96C7-BE4045C82729}" type="presParOf" srcId="{CC96E7F4-AF89-4871-B619-9C356C1FE061}" destId="{4C25CC78-DDCD-41A3-A4CF-8F4332929938}" srcOrd="2" destOrd="0" presId="urn:microsoft.com/office/officeart/2005/8/layout/vList2"/>
    <dgm:cxn modelId="{5B665641-D477-48C5-A860-B90B9E375533}" type="presParOf" srcId="{CC96E7F4-AF89-4871-B619-9C356C1FE061}" destId="{9DC76547-B6A1-444B-8833-5377708D4C18}" srcOrd="3" destOrd="0" presId="urn:microsoft.com/office/officeart/2005/8/layout/vList2"/>
    <dgm:cxn modelId="{66E7C827-37E5-4D1B-9F33-EC16986B4BE5}" type="presParOf" srcId="{CC96E7F4-AF89-4871-B619-9C356C1FE061}" destId="{F35FB896-20DC-4D55-9A27-6BB135D98CA8}" srcOrd="4" destOrd="0" presId="urn:microsoft.com/office/officeart/2005/8/layout/vList2"/>
    <dgm:cxn modelId="{BBEA2E73-71FA-49AE-9547-62BCD2883987}" type="presParOf" srcId="{CC96E7F4-AF89-4871-B619-9C356C1FE061}" destId="{5990D458-D131-48C8-91C4-DF535B4AAAF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DB4008-34C1-4A28-ADBA-E7C22C1FE910}"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F01C4D31-C1CA-403D-8382-E83B6CBC5ADC}">
      <dgm:prSet custT="1"/>
      <dgm:spPr/>
      <dgm:t>
        <a:bodyPr/>
        <a:lstStyle/>
        <a:p>
          <a:r>
            <a:rPr lang="en-US" sz="3200" b="1" i="0" baseline="0">
              <a:solidFill>
                <a:schemeClr val="tx1"/>
              </a:solidFill>
            </a:rPr>
            <a:t>Inputs</a:t>
          </a:r>
          <a:endParaRPr lang="en-US" sz="3200">
            <a:solidFill>
              <a:schemeClr val="tx1"/>
            </a:solidFill>
          </a:endParaRPr>
        </a:p>
      </dgm:t>
    </dgm:pt>
    <dgm:pt modelId="{76D069A4-6469-442D-A701-09BFB27FF426}" type="parTrans" cxnId="{436305D1-9509-4FEE-94E6-1EE777B25393}">
      <dgm:prSet/>
      <dgm:spPr/>
      <dgm:t>
        <a:bodyPr/>
        <a:lstStyle/>
        <a:p>
          <a:endParaRPr lang="en-US" sz="2400">
            <a:solidFill>
              <a:schemeClr val="tx1"/>
            </a:solidFill>
          </a:endParaRPr>
        </a:p>
      </dgm:t>
    </dgm:pt>
    <dgm:pt modelId="{B4246F89-4E2E-4F7C-BD45-0C81150B18B4}" type="sibTrans" cxnId="{436305D1-9509-4FEE-94E6-1EE777B25393}">
      <dgm:prSet/>
      <dgm:spPr/>
      <dgm:t>
        <a:bodyPr/>
        <a:lstStyle/>
        <a:p>
          <a:endParaRPr lang="en-US" sz="2400">
            <a:solidFill>
              <a:schemeClr val="tx1"/>
            </a:solidFill>
          </a:endParaRPr>
        </a:p>
      </dgm:t>
    </dgm:pt>
    <dgm:pt modelId="{BF624D0D-521D-40B6-BE62-4B01B16AA729}">
      <dgm:prSet custT="1"/>
      <dgm:spPr/>
      <dgm:t>
        <a:bodyPr/>
        <a:lstStyle/>
        <a:p>
          <a:r>
            <a:rPr lang="en-US" sz="2800" b="0" i="0" baseline="0">
              <a:solidFill>
                <a:schemeClr val="tx1"/>
              </a:solidFill>
            </a:rPr>
            <a:t>Health needs and demands of the community</a:t>
          </a:r>
          <a:endParaRPr lang="en-US" sz="2800">
            <a:solidFill>
              <a:schemeClr val="tx1"/>
            </a:solidFill>
          </a:endParaRPr>
        </a:p>
      </dgm:t>
    </dgm:pt>
    <dgm:pt modelId="{1A8BD289-3643-41B1-966A-BA5E21055229}" type="parTrans" cxnId="{98DE25C2-85FD-446C-A564-BD5027651B4D}">
      <dgm:prSet/>
      <dgm:spPr/>
      <dgm:t>
        <a:bodyPr/>
        <a:lstStyle/>
        <a:p>
          <a:endParaRPr lang="en-US" sz="2400">
            <a:solidFill>
              <a:schemeClr val="tx1"/>
            </a:solidFill>
          </a:endParaRPr>
        </a:p>
      </dgm:t>
    </dgm:pt>
    <dgm:pt modelId="{2757E54F-428C-4F28-B76D-BA538F0DA6E2}" type="sibTrans" cxnId="{98DE25C2-85FD-446C-A564-BD5027651B4D}">
      <dgm:prSet/>
      <dgm:spPr/>
      <dgm:t>
        <a:bodyPr/>
        <a:lstStyle/>
        <a:p>
          <a:endParaRPr lang="en-US" sz="2400">
            <a:solidFill>
              <a:schemeClr val="tx1"/>
            </a:solidFill>
          </a:endParaRPr>
        </a:p>
      </dgm:t>
    </dgm:pt>
    <dgm:pt modelId="{2E54D6F8-C8B7-4D63-ADF4-BBC4AA53ED1E}">
      <dgm:prSet custT="1"/>
      <dgm:spPr/>
      <dgm:t>
        <a:bodyPr/>
        <a:lstStyle/>
        <a:p>
          <a:r>
            <a:rPr lang="en-US" sz="2800" b="0" i="0" baseline="0" dirty="0">
              <a:solidFill>
                <a:schemeClr val="tx1"/>
              </a:solidFill>
            </a:rPr>
            <a:t>Require setting </a:t>
          </a:r>
          <a:r>
            <a:rPr lang="en-US" sz="2800" b="1" i="0" baseline="0" dirty="0">
              <a:solidFill>
                <a:schemeClr val="tx1"/>
              </a:solidFill>
            </a:rPr>
            <a:t>priorities</a:t>
          </a:r>
          <a:r>
            <a:rPr lang="en-US" sz="2800" b="0" i="0" baseline="0" dirty="0">
              <a:solidFill>
                <a:schemeClr val="tx1"/>
              </a:solidFill>
            </a:rPr>
            <a:t> due to limited resources</a:t>
          </a:r>
          <a:endParaRPr lang="en-US" sz="2800" dirty="0">
            <a:solidFill>
              <a:schemeClr val="tx1"/>
            </a:solidFill>
          </a:endParaRPr>
        </a:p>
      </dgm:t>
    </dgm:pt>
    <dgm:pt modelId="{B6484311-05B5-4F27-AD4E-9B594FBB7636}" type="parTrans" cxnId="{F434D05B-3A13-4884-96EE-EF509E1579E5}">
      <dgm:prSet/>
      <dgm:spPr/>
      <dgm:t>
        <a:bodyPr/>
        <a:lstStyle/>
        <a:p>
          <a:endParaRPr lang="en-US" sz="2400">
            <a:solidFill>
              <a:schemeClr val="tx1"/>
            </a:solidFill>
          </a:endParaRPr>
        </a:p>
      </dgm:t>
    </dgm:pt>
    <dgm:pt modelId="{77517AC3-4122-49C9-85AF-F65AC3AF045D}" type="sibTrans" cxnId="{F434D05B-3A13-4884-96EE-EF509E1579E5}">
      <dgm:prSet/>
      <dgm:spPr/>
      <dgm:t>
        <a:bodyPr/>
        <a:lstStyle/>
        <a:p>
          <a:endParaRPr lang="en-US" sz="2400">
            <a:solidFill>
              <a:schemeClr val="tx1"/>
            </a:solidFill>
          </a:endParaRPr>
        </a:p>
      </dgm:t>
    </dgm:pt>
    <dgm:pt modelId="{AD892F2C-C61A-41C4-946C-95FAAC19E807}">
      <dgm:prSet custT="1"/>
      <dgm:spPr/>
      <dgm:t>
        <a:bodyPr/>
        <a:lstStyle/>
        <a:p>
          <a:r>
            <a:rPr lang="en-US" sz="3200" b="1" i="0" baseline="0">
              <a:solidFill>
                <a:schemeClr val="tx1"/>
              </a:solidFill>
            </a:rPr>
            <a:t>Health Care Services</a:t>
          </a:r>
          <a:endParaRPr lang="en-US" sz="3200">
            <a:solidFill>
              <a:schemeClr val="tx1"/>
            </a:solidFill>
          </a:endParaRPr>
        </a:p>
      </dgm:t>
    </dgm:pt>
    <dgm:pt modelId="{2C3A65D3-8B45-406B-B769-6072EA73F077}" type="parTrans" cxnId="{D2535723-8A8F-422A-B80D-D2B7B57F41C3}">
      <dgm:prSet/>
      <dgm:spPr/>
      <dgm:t>
        <a:bodyPr/>
        <a:lstStyle/>
        <a:p>
          <a:endParaRPr lang="en-US" sz="2400">
            <a:solidFill>
              <a:schemeClr val="tx1"/>
            </a:solidFill>
          </a:endParaRPr>
        </a:p>
      </dgm:t>
    </dgm:pt>
    <dgm:pt modelId="{705757CC-2968-4F7E-A863-5F40C4A782FF}" type="sibTrans" cxnId="{D2535723-8A8F-422A-B80D-D2B7B57F41C3}">
      <dgm:prSet/>
      <dgm:spPr/>
      <dgm:t>
        <a:bodyPr/>
        <a:lstStyle/>
        <a:p>
          <a:endParaRPr lang="en-US" sz="2400">
            <a:solidFill>
              <a:schemeClr val="tx1"/>
            </a:solidFill>
          </a:endParaRPr>
        </a:p>
      </dgm:t>
    </dgm:pt>
    <dgm:pt modelId="{531C9033-EBEC-41BA-9CC7-133DC3983F34}">
      <dgm:prSet custT="1"/>
      <dgm:spPr/>
      <dgm:t>
        <a:bodyPr/>
        <a:lstStyle/>
        <a:p>
          <a:r>
            <a:rPr lang="en-US" sz="2800" b="0" i="0" baseline="0">
              <a:solidFill>
                <a:schemeClr val="tx1"/>
              </a:solidFill>
            </a:rPr>
            <a:t>Should be </a:t>
          </a:r>
          <a:r>
            <a:rPr lang="en-US" sz="2800" b="1" i="0" baseline="0">
              <a:solidFill>
                <a:schemeClr val="tx1"/>
              </a:solidFill>
            </a:rPr>
            <a:t>comprehensive</a:t>
          </a:r>
          <a:r>
            <a:rPr lang="en-US" sz="2800" b="0" i="0" baseline="0">
              <a:solidFill>
                <a:schemeClr val="tx1"/>
              </a:solidFill>
            </a:rPr>
            <a:t> and </a:t>
          </a:r>
          <a:r>
            <a:rPr lang="en-US" sz="2800" b="1" i="0" baseline="0">
              <a:solidFill>
                <a:schemeClr val="tx1"/>
              </a:solidFill>
            </a:rPr>
            <a:t>community-based</a:t>
          </a:r>
          <a:endParaRPr lang="en-US" sz="2800">
            <a:solidFill>
              <a:schemeClr val="tx1"/>
            </a:solidFill>
          </a:endParaRPr>
        </a:p>
      </dgm:t>
    </dgm:pt>
    <dgm:pt modelId="{BBC38C0F-23E7-4CFF-8093-088CEDF43493}" type="parTrans" cxnId="{9D3C5793-F8A3-40F2-8512-7AAA1B864D43}">
      <dgm:prSet/>
      <dgm:spPr/>
      <dgm:t>
        <a:bodyPr/>
        <a:lstStyle/>
        <a:p>
          <a:endParaRPr lang="en-US" sz="2400">
            <a:solidFill>
              <a:schemeClr val="tx1"/>
            </a:solidFill>
          </a:endParaRPr>
        </a:p>
      </dgm:t>
    </dgm:pt>
    <dgm:pt modelId="{F624806E-0565-4989-8ABD-6E0BC462D3DA}" type="sibTrans" cxnId="{9D3C5793-F8A3-40F2-8512-7AAA1B864D43}">
      <dgm:prSet/>
      <dgm:spPr/>
      <dgm:t>
        <a:bodyPr/>
        <a:lstStyle/>
        <a:p>
          <a:endParaRPr lang="en-US" sz="2400">
            <a:solidFill>
              <a:schemeClr val="tx1"/>
            </a:solidFill>
          </a:endParaRPr>
        </a:p>
      </dgm:t>
    </dgm:pt>
    <dgm:pt modelId="{DFFC8CF8-0A54-4F45-B1B4-AC65F42D4AD9}">
      <dgm:prSet custT="1"/>
      <dgm:spPr/>
      <dgm:t>
        <a:bodyPr/>
        <a:lstStyle/>
        <a:p>
          <a:r>
            <a:rPr lang="en-US" sz="2800" b="0" i="0" baseline="0">
              <a:solidFill>
                <a:schemeClr val="tx1"/>
              </a:solidFill>
            </a:rPr>
            <a:t>Designed using </a:t>
          </a:r>
          <a:r>
            <a:rPr lang="en-US" sz="2800" b="1" i="0" baseline="0">
              <a:solidFill>
                <a:schemeClr val="tx1"/>
              </a:solidFill>
            </a:rPr>
            <a:t>available resources and local knowledge</a:t>
          </a:r>
          <a:endParaRPr lang="en-US" sz="2800">
            <a:solidFill>
              <a:schemeClr val="tx1"/>
            </a:solidFill>
          </a:endParaRPr>
        </a:p>
      </dgm:t>
    </dgm:pt>
    <dgm:pt modelId="{DA779BEC-6995-4247-8C99-83A94BEF229C}" type="parTrans" cxnId="{8059BDB0-0426-4939-B007-F7091A240153}">
      <dgm:prSet/>
      <dgm:spPr/>
      <dgm:t>
        <a:bodyPr/>
        <a:lstStyle/>
        <a:p>
          <a:endParaRPr lang="en-US" sz="2400">
            <a:solidFill>
              <a:schemeClr val="tx1"/>
            </a:solidFill>
          </a:endParaRPr>
        </a:p>
      </dgm:t>
    </dgm:pt>
    <dgm:pt modelId="{74F8A7A4-601D-4C77-949A-CB797697FC5F}" type="sibTrans" cxnId="{8059BDB0-0426-4939-B007-F7091A240153}">
      <dgm:prSet/>
      <dgm:spPr/>
      <dgm:t>
        <a:bodyPr/>
        <a:lstStyle/>
        <a:p>
          <a:endParaRPr lang="en-US" sz="2400">
            <a:solidFill>
              <a:schemeClr val="tx1"/>
            </a:solidFill>
          </a:endParaRPr>
        </a:p>
      </dgm:t>
    </dgm:pt>
    <dgm:pt modelId="{C76A1AB9-8ABA-4F5A-9FAE-6881EB0EC520}" type="pres">
      <dgm:prSet presAssocID="{AFDB4008-34C1-4A28-ADBA-E7C22C1FE910}" presName="linear" presStyleCnt="0">
        <dgm:presLayoutVars>
          <dgm:animLvl val="lvl"/>
          <dgm:resizeHandles val="exact"/>
        </dgm:presLayoutVars>
      </dgm:prSet>
      <dgm:spPr/>
    </dgm:pt>
    <dgm:pt modelId="{BBFB46AC-FE14-4B73-BB68-42C238E03833}" type="pres">
      <dgm:prSet presAssocID="{F01C4D31-C1CA-403D-8382-E83B6CBC5ADC}" presName="parentText" presStyleLbl="node1" presStyleIdx="0" presStyleCnt="2" custScaleY="51341">
        <dgm:presLayoutVars>
          <dgm:chMax val="0"/>
          <dgm:bulletEnabled val="1"/>
        </dgm:presLayoutVars>
      </dgm:prSet>
      <dgm:spPr/>
    </dgm:pt>
    <dgm:pt modelId="{41A75F79-1E59-473C-A784-C69320E56985}" type="pres">
      <dgm:prSet presAssocID="{F01C4D31-C1CA-403D-8382-E83B6CBC5ADC}" presName="childText" presStyleLbl="revTx" presStyleIdx="0" presStyleCnt="2">
        <dgm:presLayoutVars>
          <dgm:bulletEnabled val="1"/>
        </dgm:presLayoutVars>
      </dgm:prSet>
      <dgm:spPr/>
    </dgm:pt>
    <dgm:pt modelId="{2034EB9F-9677-4472-928D-1F117604DD56}" type="pres">
      <dgm:prSet presAssocID="{AD892F2C-C61A-41C4-946C-95FAAC19E807}" presName="parentText" presStyleLbl="node1" presStyleIdx="1" presStyleCnt="2" custScaleY="51341">
        <dgm:presLayoutVars>
          <dgm:chMax val="0"/>
          <dgm:bulletEnabled val="1"/>
        </dgm:presLayoutVars>
      </dgm:prSet>
      <dgm:spPr/>
    </dgm:pt>
    <dgm:pt modelId="{22AE9DE5-F061-4CAA-9367-A7E556B7CCC2}" type="pres">
      <dgm:prSet presAssocID="{AD892F2C-C61A-41C4-946C-95FAAC19E807}" presName="childText" presStyleLbl="revTx" presStyleIdx="1" presStyleCnt="2">
        <dgm:presLayoutVars>
          <dgm:bulletEnabled val="1"/>
        </dgm:presLayoutVars>
      </dgm:prSet>
      <dgm:spPr/>
    </dgm:pt>
  </dgm:ptLst>
  <dgm:cxnLst>
    <dgm:cxn modelId="{02C1BC03-A04C-4756-ABD1-B175B8A150CB}" type="presOf" srcId="{2E54D6F8-C8B7-4D63-ADF4-BBC4AA53ED1E}" destId="{41A75F79-1E59-473C-A784-C69320E56985}" srcOrd="0" destOrd="1" presId="urn:microsoft.com/office/officeart/2005/8/layout/vList2"/>
    <dgm:cxn modelId="{FB601406-8629-45F3-840B-F76057DEB68C}" type="presOf" srcId="{AFDB4008-34C1-4A28-ADBA-E7C22C1FE910}" destId="{C76A1AB9-8ABA-4F5A-9FAE-6881EB0EC520}" srcOrd="0" destOrd="0" presId="urn:microsoft.com/office/officeart/2005/8/layout/vList2"/>
    <dgm:cxn modelId="{D2535723-8A8F-422A-B80D-D2B7B57F41C3}" srcId="{AFDB4008-34C1-4A28-ADBA-E7C22C1FE910}" destId="{AD892F2C-C61A-41C4-946C-95FAAC19E807}" srcOrd="1" destOrd="0" parTransId="{2C3A65D3-8B45-406B-B769-6072EA73F077}" sibTransId="{705757CC-2968-4F7E-A863-5F40C4A782FF}"/>
    <dgm:cxn modelId="{F434D05B-3A13-4884-96EE-EF509E1579E5}" srcId="{F01C4D31-C1CA-403D-8382-E83B6CBC5ADC}" destId="{2E54D6F8-C8B7-4D63-ADF4-BBC4AA53ED1E}" srcOrd="1" destOrd="0" parTransId="{B6484311-05B5-4F27-AD4E-9B594FBB7636}" sibTransId="{77517AC3-4122-49C9-85AF-F65AC3AF045D}"/>
    <dgm:cxn modelId="{CA3C335C-057A-4C83-93C1-5820BFB9FD6D}" type="presOf" srcId="{AD892F2C-C61A-41C4-946C-95FAAC19E807}" destId="{2034EB9F-9677-4472-928D-1F117604DD56}" srcOrd="0" destOrd="0" presId="urn:microsoft.com/office/officeart/2005/8/layout/vList2"/>
    <dgm:cxn modelId="{29122641-0478-49F9-A242-FF0B932240FA}" type="presOf" srcId="{F01C4D31-C1CA-403D-8382-E83B6CBC5ADC}" destId="{BBFB46AC-FE14-4B73-BB68-42C238E03833}" srcOrd="0" destOrd="0" presId="urn:microsoft.com/office/officeart/2005/8/layout/vList2"/>
    <dgm:cxn modelId="{2038738D-007C-4E6D-8D05-86973B281596}" type="presOf" srcId="{531C9033-EBEC-41BA-9CC7-133DC3983F34}" destId="{22AE9DE5-F061-4CAA-9367-A7E556B7CCC2}" srcOrd="0" destOrd="0" presId="urn:microsoft.com/office/officeart/2005/8/layout/vList2"/>
    <dgm:cxn modelId="{9D3C5793-F8A3-40F2-8512-7AAA1B864D43}" srcId="{AD892F2C-C61A-41C4-946C-95FAAC19E807}" destId="{531C9033-EBEC-41BA-9CC7-133DC3983F34}" srcOrd="0" destOrd="0" parTransId="{BBC38C0F-23E7-4CFF-8093-088CEDF43493}" sibTransId="{F624806E-0565-4989-8ABD-6E0BC462D3DA}"/>
    <dgm:cxn modelId="{8059BDB0-0426-4939-B007-F7091A240153}" srcId="{AD892F2C-C61A-41C4-946C-95FAAC19E807}" destId="{DFFC8CF8-0A54-4F45-B1B4-AC65F42D4AD9}" srcOrd="1" destOrd="0" parTransId="{DA779BEC-6995-4247-8C99-83A94BEF229C}" sibTransId="{74F8A7A4-601D-4C77-949A-CB797697FC5F}"/>
    <dgm:cxn modelId="{98DE25C2-85FD-446C-A564-BD5027651B4D}" srcId="{F01C4D31-C1CA-403D-8382-E83B6CBC5ADC}" destId="{BF624D0D-521D-40B6-BE62-4B01B16AA729}" srcOrd="0" destOrd="0" parTransId="{1A8BD289-3643-41B1-966A-BA5E21055229}" sibTransId="{2757E54F-428C-4F28-B76D-BA538F0DA6E2}"/>
    <dgm:cxn modelId="{180A90CE-F71B-4544-A1A2-D5CDFAEFF15C}" type="presOf" srcId="{BF624D0D-521D-40B6-BE62-4B01B16AA729}" destId="{41A75F79-1E59-473C-A784-C69320E56985}" srcOrd="0" destOrd="0" presId="urn:microsoft.com/office/officeart/2005/8/layout/vList2"/>
    <dgm:cxn modelId="{436305D1-9509-4FEE-94E6-1EE777B25393}" srcId="{AFDB4008-34C1-4A28-ADBA-E7C22C1FE910}" destId="{F01C4D31-C1CA-403D-8382-E83B6CBC5ADC}" srcOrd="0" destOrd="0" parTransId="{76D069A4-6469-442D-A701-09BFB27FF426}" sibTransId="{B4246F89-4E2E-4F7C-BD45-0C81150B18B4}"/>
    <dgm:cxn modelId="{78EA13F6-8C53-424F-9B98-A7B0583950D2}" type="presOf" srcId="{DFFC8CF8-0A54-4F45-B1B4-AC65F42D4AD9}" destId="{22AE9DE5-F061-4CAA-9367-A7E556B7CCC2}" srcOrd="0" destOrd="1" presId="urn:microsoft.com/office/officeart/2005/8/layout/vList2"/>
    <dgm:cxn modelId="{53EF6CF6-CF87-4923-9CA5-32DED7FD3B25}" type="presParOf" srcId="{C76A1AB9-8ABA-4F5A-9FAE-6881EB0EC520}" destId="{BBFB46AC-FE14-4B73-BB68-42C238E03833}" srcOrd="0" destOrd="0" presId="urn:microsoft.com/office/officeart/2005/8/layout/vList2"/>
    <dgm:cxn modelId="{8B7A887B-BC8A-4B7B-82C9-F9DC3DA30648}" type="presParOf" srcId="{C76A1AB9-8ABA-4F5A-9FAE-6881EB0EC520}" destId="{41A75F79-1E59-473C-A784-C69320E56985}" srcOrd="1" destOrd="0" presId="urn:microsoft.com/office/officeart/2005/8/layout/vList2"/>
    <dgm:cxn modelId="{C9104840-347D-447D-BB35-311BC1D6ECB5}" type="presParOf" srcId="{C76A1AB9-8ABA-4F5A-9FAE-6881EB0EC520}" destId="{2034EB9F-9677-4472-928D-1F117604DD56}" srcOrd="2" destOrd="0" presId="urn:microsoft.com/office/officeart/2005/8/layout/vList2"/>
    <dgm:cxn modelId="{ADF9F3E5-D24C-4302-B010-97C6B7BB33BF}" type="presParOf" srcId="{C76A1AB9-8ABA-4F5A-9FAE-6881EB0EC520}" destId="{22AE9DE5-F061-4CAA-9367-A7E556B7CCC2}"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DB4008-34C1-4A28-ADBA-E7C22C1FE910}"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965DDD63-C403-4DDE-A54C-ABFDD7E55716}">
      <dgm:prSet/>
      <dgm:spPr/>
      <dgm:t>
        <a:bodyPr/>
        <a:lstStyle/>
        <a:p>
          <a:r>
            <a:rPr lang="en-US" b="1" i="0" baseline="0" dirty="0">
              <a:solidFill>
                <a:schemeClr val="tx1"/>
              </a:solidFill>
            </a:rPr>
            <a:t>Health Care System</a:t>
          </a:r>
          <a:endParaRPr lang="en-US" dirty="0">
            <a:solidFill>
              <a:schemeClr val="tx1"/>
            </a:solidFill>
          </a:endParaRPr>
        </a:p>
      </dgm:t>
    </dgm:pt>
    <dgm:pt modelId="{DEB9F2BE-5FFB-421A-99A9-239617F16521}" type="parTrans" cxnId="{2990CB14-E257-43BD-8A1B-53231A024558}">
      <dgm:prSet/>
      <dgm:spPr/>
      <dgm:t>
        <a:bodyPr/>
        <a:lstStyle/>
        <a:p>
          <a:endParaRPr lang="en-US">
            <a:solidFill>
              <a:schemeClr val="tx1"/>
            </a:solidFill>
          </a:endParaRPr>
        </a:p>
      </dgm:t>
    </dgm:pt>
    <dgm:pt modelId="{B850FDD8-3C48-47CF-AB5E-B1374B544B13}" type="sibTrans" cxnId="{2990CB14-E257-43BD-8A1B-53231A024558}">
      <dgm:prSet/>
      <dgm:spPr/>
      <dgm:t>
        <a:bodyPr/>
        <a:lstStyle/>
        <a:p>
          <a:endParaRPr lang="en-US">
            <a:solidFill>
              <a:schemeClr val="tx1"/>
            </a:solidFill>
          </a:endParaRPr>
        </a:p>
      </dgm:t>
    </dgm:pt>
    <dgm:pt modelId="{7617446B-E8B3-4DFE-A1BB-F769AB3ED012}">
      <dgm:prSet/>
      <dgm:spPr/>
      <dgm:t>
        <a:bodyPr/>
        <a:lstStyle/>
        <a:p>
          <a:r>
            <a:rPr lang="en-US" b="0" i="0" baseline="0">
              <a:solidFill>
                <a:schemeClr val="tx1"/>
              </a:solidFill>
            </a:rPr>
            <a:t>The </a:t>
          </a:r>
          <a:r>
            <a:rPr lang="en-US" b="1" i="0" baseline="0">
              <a:solidFill>
                <a:schemeClr val="tx1"/>
              </a:solidFill>
            </a:rPr>
            <a:t>management/organizational</a:t>
          </a:r>
          <a:r>
            <a:rPr lang="en-US" b="0" i="0" baseline="0">
              <a:solidFill>
                <a:schemeClr val="tx1"/>
              </a:solidFill>
            </a:rPr>
            <a:t> sector</a:t>
          </a:r>
          <a:endParaRPr lang="en-US">
            <a:solidFill>
              <a:schemeClr val="tx1"/>
            </a:solidFill>
          </a:endParaRPr>
        </a:p>
      </dgm:t>
    </dgm:pt>
    <dgm:pt modelId="{6EA29AD6-6B49-488B-96B7-AFFCFF71E114}" type="parTrans" cxnId="{DEBDE923-FC9B-4B4B-88E7-DE51431F49DE}">
      <dgm:prSet/>
      <dgm:spPr/>
      <dgm:t>
        <a:bodyPr/>
        <a:lstStyle/>
        <a:p>
          <a:endParaRPr lang="en-US">
            <a:solidFill>
              <a:schemeClr val="tx1"/>
            </a:solidFill>
          </a:endParaRPr>
        </a:p>
      </dgm:t>
    </dgm:pt>
    <dgm:pt modelId="{0B502051-95AB-4262-A4FA-D8640C033F6E}" type="sibTrans" cxnId="{DEBDE923-FC9B-4B4B-88E7-DE51431F49DE}">
      <dgm:prSet/>
      <dgm:spPr/>
      <dgm:t>
        <a:bodyPr/>
        <a:lstStyle/>
        <a:p>
          <a:endParaRPr lang="en-US">
            <a:solidFill>
              <a:schemeClr val="tx1"/>
            </a:solidFill>
          </a:endParaRPr>
        </a:p>
      </dgm:t>
    </dgm:pt>
    <dgm:pt modelId="{81B2823B-877E-461A-BF0C-730F07E3828E}">
      <dgm:prSet/>
      <dgm:spPr/>
      <dgm:t>
        <a:bodyPr/>
        <a:lstStyle/>
        <a:p>
          <a:r>
            <a:rPr lang="en-US" b="0" i="0" baseline="0">
              <a:solidFill>
                <a:schemeClr val="tx1"/>
              </a:solidFill>
            </a:rPr>
            <a:t>Responsible for </a:t>
          </a:r>
          <a:r>
            <a:rPr lang="en-US" b="1" i="0" baseline="0">
              <a:solidFill>
                <a:schemeClr val="tx1"/>
              </a:solidFill>
            </a:rPr>
            <a:t>delivering services effectively</a:t>
          </a:r>
          <a:endParaRPr lang="en-US">
            <a:solidFill>
              <a:schemeClr val="tx1"/>
            </a:solidFill>
          </a:endParaRPr>
        </a:p>
      </dgm:t>
    </dgm:pt>
    <dgm:pt modelId="{1B1D4AF2-6A69-4ED1-AAAA-49D3572FA245}" type="parTrans" cxnId="{BF421C71-8F9C-4FA0-85E5-A2F5686EE620}">
      <dgm:prSet/>
      <dgm:spPr/>
      <dgm:t>
        <a:bodyPr/>
        <a:lstStyle/>
        <a:p>
          <a:endParaRPr lang="en-US">
            <a:solidFill>
              <a:schemeClr val="tx1"/>
            </a:solidFill>
          </a:endParaRPr>
        </a:p>
      </dgm:t>
    </dgm:pt>
    <dgm:pt modelId="{2AE4458A-4882-46F4-828B-FD5BC63CE33C}" type="sibTrans" cxnId="{BF421C71-8F9C-4FA0-85E5-A2F5686EE620}">
      <dgm:prSet/>
      <dgm:spPr/>
      <dgm:t>
        <a:bodyPr/>
        <a:lstStyle/>
        <a:p>
          <a:endParaRPr lang="en-US">
            <a:solidFill>
              <a:schemeClr val="tx1"/>
            </a:solidFill>
          </a:endParaRPr>
        </a:p>
      </dgm:t>
    </dgm:pt>
    <dgm:pt modelId="{D46F2FBF-522D-4E8D-9892-C8BC022E8583}">
      <dgm:prSet/>
      <dgm:spPr/>
      <dgm:t>
        <a:bodyPr/>
        <a:lstStyle/>
        <a:p>
          <a:r>
            <a:rPr lang="en-US" b="1" i="0" baseline="0">
              <a:solidFill>
                <a:schemeClr val="tx1"/>
              </a:solidFill>
            </a:rPr>
            <a:t>Outputs</a:t>
          </a:r>
          <a:endParaRPr lang="en-US">
            <a:solidFill>
              <a:schemeClr val="tx1"/>
            </a:solidFill>
          </a:endParaRPr>
        </a:p>
      </dgm:t>
    </dgm:pt>
    <dgm:pt modelId="{A44826F5-08D5-4E27-8E62-5C85951D831E}" type="parTrans" cxnId="{F5BC4A7D-209E-44BF-B6EC-CED8AC4B9859}">
      <dgm:prSet/>
      <dgm:spPr/>
      <dgm:t>
        <a:bodyPr/>
        <a:lstStyle/>
        <a:p>
          <a:endParaRPr lang="en-US">
            <a:solidFill>
              <a:schemeClr val="tx1"/>
            </a:solidFill>
          </a:endParaRPr>
        </a:p>
      </dgm:t>
    </dgm:pt>
    <dgm:pt modelId="{E745082E-B501-4107-B71B-5C92C704EFF2}" type="sibTrans" cxnId="{F5BC4A7D-209E-44BF-B6EC-CED8AC4B9859}">
      <dgm:prSet/>
      <dgm:spPr/>
      <dgm:t>
        <a:bodyPr/>
        <a:lstStyle/>
        <a:p>
          <a:endParaRPr lang="en-US">
            <a:solidFill>
              <a:schemeClr val="tx1"/>
            </a:solidFill>
          </a:endParaRPr>
        </a:p>
      </dgm:t>
    </dgm:pt>
    <dgm:pt modelId="{F54A33DB-3850-4C3C-9EE1-9029E641773E}">
      <dgm:prSet/>
      <dgm:spPr/>
      <dgm:t>
        <a:bodyPr/>
        <a:lstStyle/>
        <a:p>
          <a:r>
            <a:rPr lang="en-US" b="0" i="0" baseline="0">
              <a:solidFill>
                <a:schemeClr val="tx1"/>
              </a:solidFill>
            </a:rPr>
            <a:t>Improved health indicators:</a:t>
          </a:r>
          <a:endParaRPr lang="en-US">
            <a:solidFill>
              <a:schemeClr val="tx1"/>
            </a:solidFill>
          </a:endParaRPr>
        </a:p>
      </dgm:t>
    </dgm:pt>
    <dgm:pt modelId="{0F146A3B-A561-48BC-9D65-7D9829B7386F}" type="parTrans" cxnId="{511B3FED-8668-45AA-9586-B7AE72724A72}">
      <dgm:prSet/>
      <dgm:spPr/>
      <dgm:t>
        <a:bodyPr/>
        <a:lstStyle/>
        <a:p>
          <a:endParaRPr lang="en-US">
            <a:solidFill>
              <a:schemeClr val="tx1"/>
            </a:solidFill>
          </a:endParaRPr>
        </a:p>
      </dgm:t>
    </dgm:pt>
    <dgm:pt modelId="{121DAC39-6BD1-4841-8D5C-CDD3ABDB72A7}" type="sibTrans" cxnId="{511B3FED-8668-45AA-9586-B7AE72724A72}">
      <dgm:prSet/>
      <dgm:spPr/>
      <dgm:t>
        <a:bodyPr/>
        <a:lstStyle/>
        <a:p>
          <a:endParaRPr lang="en-US">
            <a:solidFill>
              <a:schemeClr val="tx1"/>
            </a:solidFill>
          </a:endParaRPr>
        </a:p>
      </dgm:t>
    </dgm:pt>
    <dgm:pt modelId="{D0C89923-1F2E-415B-BB88-F9D4EB5DBB8D}">
      <dgm:prSet/>
      <dgm:spPr/>
      <dgm:t>
        <a:bodyPr/>
        <a:lstStyle/>
        <a:p>
          <a:r>
            <a:rPr lang="en-US" b="1" i="0" baseline="0">
              <a:solidFill>
                <a:schemeClr val="tx1"/>
              </a:solidFill>
            </a:rPr>
            <a:t>Lives saved</a:t>
          </a:r>
          <a:r>
            <a:rPr lang="en-US" b="0" i="0" baseline="0">
              <a:solidFill>
                <a:schemeClr val="tx1"/>
              </a:solidFill>
            </a:rPr>
            <a:t>, </a:t>
          </a:r>
          <a:r>
            <a:rPr lang="en-US" b="1" i="0" baseline="0">
              <a:solidFill>
                <a:schemeClr val="tx1"/>
              </a:solidFill>
            </a:rPr>
            <a:t>diseases prevented</a:t>
          </a:r>
          <a:r>
            <a:rPr lang="en-US" b="0" i="0" baseline="0">
              <a:solidFill>
                <a:schemeClr val="tx1"/>
              </a:solidFill>
            </a:rPr>
            <a:t>, </a:t>
          </a:r>
          <a:r>
            <a:rPr lang="en-US" b="1" i="0" baseline="0">
              <a:solidFill>
                <a:schemeClr val="tx1"/>
              </a:solidFill>
            </a:rPr>
            <a:t>cases treated</a:t>
          </a:r>
          <a:r>
            <a:rPr lang="en-US" b="0" i="0" baseline="0">
              <a:solidFill>
                <a:schemeClr val="tx1"/>
              </a:solidFill>
            </a:rPr>
            <a:t>,</a:t>
          </a:r>
          <a:endParaRPr lang="en-US">
            <a:solidFill>
              <a:schemeClr val="tx1"/>
            </a:solidFill>
          </a:endParaRPr>
        </a:p>
      </dgm:t>
    </dgm:pt>
    <dgm:pt modelId="{8D3193CF-9BF7-421B-94CE-673A0A14E9F9}" type="parTrans" cxnId="{69187C66-3249-4F10-8AD5-D1C629B5E0BD}">
      <dgm:prSet/>
      <dgm:spPr/>
      <dgm:t>
        <a:bodyPr/>
        <a:lstStyle/>
        <a:p>
          <a:endParaRPr lang="en-US">
            <a:solidFill>
              <a:schemeClr val="tx1"/>
            </a:solidFill>
          </a:endParaRPr>
        </a:p>
      </dgm:t>
    </dgm:pt>
    <dgm:pt modelId="{8E1E5CE3-2903-420F-8B3A-7DC548AA9571}" type="sibTrans" cxnId="{69187C66-3249-4F10-8AD5-D1C629B5E0BD}">
      <dgm:prSet/>
      <dgm:spPr/>
      <dgm:t>
        <a:bodyPr/>
        <a:lstStyle/>
        <a:p>
          <a:endParaRPr lang="en-US">
            <a:solidFill>
              <a:schemeClr val="tx1"/>
            </a:solidFill>
          </a:endParaRPr>
        </a:p>
      </dgm:t>
    </dgm:pt>
    <dgm:pt modelId="{5621DF93-5672-4F7C-8027-B42C7B67E651}">
      <dgm:prSet/>
      <dgm:spPr/>
      <dgm:t>
        <a:bodyPr/>
        <a:lstStyle/>
        <a:p>
          <a:r>
            <a:rPr lang="en-US" b="1" i="0" baseline="0">
              <a:solidFill>
                <a:schemeClr val="tx1"/>
              </a:solidFill>
            </a:rPr>
            <a:t>Mortality reduced</a:t>
          </a:r>
          <a:r>
            <a:rPr lang="en-US" b="0" i="0" baseline="0">
              <a:solidFill>
                <a:schemeClr val="tx1"/>
              </a:solidFill>
            </a:rPr>
            <a:t>, </a:t>
          </a:r>
          <a:r>
            <a:rPr lang="en-US" b="1" i="0" baseline="0">
              <a:solidFill>
                <a:schemeClr val="tx1"/>
              </a:solidFill>
            </a:rPr>
            <a:t>life expectancy increased</a:t>
          </a:r>
          <a:endParaRPr lang="en-US">
            <a:solidFill>
              <a:schemeClr val="tx1"/>
            </a:solidFill>
          </a:endParaRPr>
        </a:p>
      </dgm:t>
    </dgm:pt>
    <dgm:pt modelId="{9B7EDD8A-F2FC-4AF1-B858-FFF03D79F93D}" type="parTrans" cxnId="{B406FE88-AE7F-4C55-8765-8D1E60CC4348}">
      <dgm:prSet/>
      <dgm:spPr/>
      <dgm:t>
        <a:bodyPr/>
        <a:lstStyle/>
        <a:p>
          <a:endParaRPr lang="en-US">
            <a:solidFill>
              <a:schemeClr val="tx1"/>
            </a:solidFill>
          </a:endParaRPr>
        </a:p>
      </dgm:t>
    </dgm:pt>
    <dgm:pt modelId="{02E7D5A5-98E5-490C-B618-0E6F2B87128C}" type="sibTrans" cxnId="{B406FE88-AE7F-4C55-8765-8D1E60CC4348}">
      <dgm:prSet/>
      <dgm:spPr/>
      <dgm:t>
        <a:bodyPr/>
        <a:lstStyle/>
        <a:p>
          <a:endParaRPr lang="en-US">
            <a:solidFill>
              <a:schemeClr val="tx1"/>
            </a:solidFill>
          </a:endParaRPr>
        </a:p>
      </dgm:t>
    </dgm:pt>
    <dgm:pt modelId="{E36BF209-39D2-413F-85BA-EA2311EDCA05}">
      <dgm:prSet/>
      <dgm:spPr/>
      <dgm:t>
        <a:bodyPr/>
        <a:lstStyle/>
        <a:p>
          <a:r>
            <a:rPr lang="en-US" b="0" i="0" baseline="0">
              <a:solidFill>
                <a:schemeClr val="tx1"/>
              </a:solidFill>
            </a:rPr>
            <a:t>These models are actively employed to improve health care planning and delivery in both developing and developed contexts.</a:t>
          </a:r>
          <a:endParaRPr lang="en-US">
            <a:solidFill>
              <a:schemeClr val="tx1"/>
            </a:solidFill>
          </a:endParaRPr>
        </a:p>
      </dgm:t>
    </dgm:pt>
    <dgm:pt modelId="{E4351B03-C3CB-4FDC-A961-8CA93B222606}" type="parTrans" cxnId="{3C4D3FEE-C797-40D2-BED1-3F4F5C0C6BC9}">
      <dgm:prSet/>
      <dgm:spPr/>
      <dgm:t>
        <a:bodyPr/>
        <a:lstStyle/>
        <a:p>
          <a:endParaRPr lang="en-US">
            <a:solidFill>
              <a:schemeClr val="tx1"/>
            </a:solidFill>
          </a:endParaRPr>
        </a:p>
      </dgm:t>
    </dgm:pt>
    <dgm:pt modelId="{A755B0C4-9C04-4F72-B939-69EDDB7A0776}" type="sibTrans" cxnId="{3C4D3FEE-C797-40D2-BED1-3F4F5C0C6BC9}">
      <dgm:prSet/>
      <dgm:spPr/>
      <dgm:t>
        <a:bodyPr/>
        <a:lstStyle/>
        <a:p>
          <a:endParaRPr lang="en-US">
            <a:solidFill>
              <a:schemeClr val="tx1"/>
            </a:solidFill>
          </a:endParaRPr>
        </a:p>
      </dgm:t>
    </dgm:pt>
    <dgm:pt modelId="{C76A1AB9-8ABA-4F5A-9FAE-6881EB0EC520}" type="pres">
      <dgm:prSet presAssocID="{AFDB4008-34C1-4A28-ADBA-E7C22C1FE910}" presName="linear" presStyleCnt="0">
        <dgm:presLayoutVars>
          <dgm:animLvl val="lvl"/>
          <dgm:resizeHandles val="exact"/>
        </dgm:presLayoutVars>
      </dgm:prSet>
      <dgm:spPr/>
    </dgm:pt>
    <dgm:pt modelId="{2B3E8B02-F3DF-44E0-9A21-E008B724F895}" type="pres">
      <dgm:prSet presAssocID="{965DDD63-C403-4DDE-A54C-ABFDD7E55716}" presName="parentText" presStyleLbl="node1" presStyleIdx="0" presStyleCnt="3" custScaleY="51341">
        <dgm:presLayoutVars>
          <dgm:chMax val="0"/>
          <dgm:bulletEnabled val="1"/>
        </dgm:presLayoutVars>
      </dgm:prSet>
      <dgm:spPr/>
    </dgm:pt>
    <dgm:pt modelId="{A2E523E2-C3BD-41D7-A2D7-0422B2C4214A}" type="pres">
      <dgm:prSet presAssocID="{965DDD63-C403-4DDE-A54C-ABFDD7E55716}" presName="childText" presStyleLbl="revTx" presStyleIdx="0" presStyleCnt="2">
        <dgm:presLayoutVars>
          <dgm:bulletEnabled val="1"/>
        </dgm:presLayoutVars>
      </dgm:prSet>
      <dgm:spPr/>
    </dgm:pt>
    <dgm:pt modelId="{C01613F4-26AC-446C-8356-00576EC9E387}" type="pres">
      <dgm:prSet presAssocID="{D46F2FBF-522D-4E8D-9892-C8BC022E8583}" presName="parentText" presStyleLbl="node1" presStyleIdx="1" presStyleCnt="3" custScaleY="51341">
        <dgm:presLayoutVars>
          <dgm:chMax val="0"/>
          <dgm:bulletEnabled val="1"/>
        </dgm:presLayoutVars>
      </dgm:prSet>
      <dgm:spPr/>
    </dgm:pt>
    <dgm:pt modelId="{561152FE-0AAD-46A9-872D-3FF89EB997A1}" type="pres">
      <dgm:prSet presAssocID="{D46F2FBF-522D-4E8D-9892-C8BC022E8583}" presName="childText" presStyleLbl="revTx" presStyleIdx="1" presStyleCnt="2">
        <dgm:presLayoutVars>
          <dgm:bulletEnabled val="1"/>
        </dgm:presLayoutVars>
      </dgm:prSet>
      <dgm:spPr/>
    </dgm:pt>
    <dgm:pt modelId="{9314D7AF-6939-48C7-BAD6-83159DA8AA21}" type="pres">
      <dgm:prSet presAssocID="{E36BF209-39D2-413F-85BA-EA2311EDCA05}" presName="parentText" presStyleLbl="node1" presStyleIdx="2" presStyleCnt="3">
        <dgm:presLayoutVars>
          <dgm:chMax val="0"/>
          <dgm:bulletEnabled val="1"/>
        </dgm:presLayoutVars>
      </dgm:prSet>
      <dgm:spPr/>
    </dgm:pt>
  </dgm:ptLst>
  <dgm:cxnLst>
    <dgm:cxn modelId="{FB601406-8629-45F3-840B-F76057DEB68C}" type="presOf" srcId="{AFDB4008-34C1-4A28-ADBA-E7C22C1FE910}" destId="{C76A1AB9-8ABA-4F5A-9FAE-6881EB0EC520}" srcOrd="0" destOrd="0" presId="urn:microsoft.com/office/officeart/2005/8/layout/vList2"/>
    <dgm:cxn modelId="{2990CB14-E257-43BD-8A1B-53231A024558}" srcId="{AFDB4008-34C1-4A28-ADBA-E7C22C1FE910}" destId="{965DDD63-C403-4DDE-A54C-ABFDD7E55716}" srcOrd="0" destOrd="0" parTransId="{DEB9F2BE-5FFB-421A-99A9-239617F16521}" sibTransId="{B850FDD8-3C48-47CF-AB5E-B1374B544B13}"/>
    <dgm:cxn modelId="{FFB7FF1A-C908-42D1-AD13-66BC263BC608}" type="presOf" srcId="{81B2823B-877E-461A-BF0C-730F07E3828E}" destId="{A2E523E2-C3BD-41D7-A2D7-0422B2C4214A}" srcOrd="0" destOrd="1" presId="urn:microsoft.com/office/officeart/2005/8/layout/vList2"/>
    <dgm:cxn modelId="{DEBDE923-FC9B-4B4B-88E7-DE51431F49DE}" srcId="{965DDD63-C403-4DDE-A54C-ABFDD7E55716}" destId="{7617446B-E8B3-4DFE-A1BB-F769AB3ED012}" srcOrd="0" destOrd="0" parTransId="{6EA29AD6-6B49-488B-96B7-AFFCFF71E114}" sibTransId="{0B502051-95AB-4262-A4FA-D8640C033F6E}"/>
    <dgm:cxn modelId="{EBB1CA27-0CC0-44D4-B5D6-C41A644D3858}" type="presOf" srcId="{D0C89923-1F2E-415B-BB88-F9D4EB5DBB8D}" destId="{561152FE-0AAD-46A9-872D-3FF89EB997A1}" srcOrd="0" destOrd="1" presId="urn:microsoft.com/office/officeart/2005/8/layout/vList2"/>
    <dgm:cxn modelId="{7D39C433-7C62-4CD2-95C2-FC0E2D24B097}" type="presOf" srcId="{D46F2FBF-522D-4E8D-9892-C8BC022E8583}" destId="{C01613F4-26AC-446C-8356-00576EC9E387}" srcOrd="0" destOrd="0" presId="urn:microsoft.com/office/officeart/2005/8/layout/vList2"/>
    <dgm:cxn modelId="{BDF1485E-1EF4-4BCB-9378-C41728C7AB9A}" type="presOf" srcId="{965DDD63-C403-4DDE-A54C-ABFDD7E55716}" destId="{2B3E8B02-F3DF-44E0-9A21-E008B724F895}" srcOrd="0" destOrd="0" presId="urn:microsoft.com/office/officeart/2005/8/layout/vList2"/>
    <dgm:cxn modelId="{69187C66-3249-4F10-8AD5-D1C629B5E0BD}" srcId="{F54A33DB-3850-4C3C-9EE1-9029E641773E}" destId="{D0C89923-1F2E-415B-BB88-F9D4EB5DBB8D}" srcOrd="0" destOrd="0" parTransId="{8D3193CF-9BF7-421B-94CE-673A0A14E9F9}" sibTransId="{8E1E5CE3-2903-420F-8B3A-7DC548AA9571}"/>
    <dgm:cxn modelId="{B60DD850-14BC-4544-BE7C-FEEFD256539B}" type="presOf" srcId="{7617446B-E8B3-4DFE-A1BB-F769AB3ED012}" destId="{A2E523E2-C3BD-41D7-A2D7-0422B2C4214A}" srcOrd="0" destOrd="0" presId="urn:microsoft.com/office/officeart/2005/8/layout/vList2"/>
    <dgm:cxn modelId="{BF421C71-8F9C-4FA0-85E5-A2F5686EE620}" srcId="{965DDD63-C403-4DDE-A54C-ABFDD7E55716}" destId="{81B2823B-877E-461A-BF0C-730F07E3828E}" srcOrd="1" destOrd="0" parTransId="{1B1D4AF2-6A69-4ED1-AAAA-49D3572FA245}" sibTransId="{2AE4458A-4882-46F4-828B-FD5BC63CE33C}"/>
    <dgm:cxn modelId="{F5BC4A7D-209E-44BF-B6EC-CED8AC4B9859}" srcId="{AFDB4008-34C1-4A28-ADBA-E7C22C1FE910}" destId="{D46F2FBF-522D-4E8D-9892-C8BC022E8583}" srcOrd="1" destOrd="0" parTransId="{A44826F5-08D5-4E27-8E62-5C85951D831E}" sibTransId="{E745082E-B501-4107-B71B-5C92C704EFF2}"/>
    <dgm:cxn modelId="{B406FE88-AE7F-4C55-8765-8D1E60CC4348}" srcId="{F54A33DB-3850-4C3C-9EE1-9029E641773E}" destId="{5621DF93-5672-4F7C-8027-B42C7B67E651}" srcOrd="1" destOrd="0" parTransId="{9B7EDD8A-F2FC-4AF1-B858-FFF03D79F93D}" sibTransId="{02E7D5A5-98E5-490C-B618-0E6F2B87128C}"/>
    <dgm:cxn modelId="{58F43989-D0DA-4819-8AC3-67B1D701B566}" type="presOf" srcId="{5621DF93-5672-4F7C-8027-B42C7B67E651}" destId="{561152FE-0AAD-46A9-872D-3FF89EB997A1}" srcOrd="0" destOrd="2" presId="urn:microsoft.com/office/officeart/2005/8/layout/vList2"/>
    <dgm:cxn modelId="{06561993-3E5D-4AFA-A990-48E7AC319C50}" type="presOf" srcId="{F54A33DB-3850-4C3C-9EE1-9029E641773E}" destId="{561152FE-0AAD-46A9-872D-3FF89EB997A1}" srcOrd="0" destOrd="0" presId="urn:microsoft.com/office/officeart/2005/8/layout/vList2"/>
    <dgm:cxn modelId="{9063F0EA-8BAA-4F1E-8F96-80460CBF6409}" type="presOf" srcId="{E36BF209-39D2-413F-85BA-EA2311EDCA05}" destId="{9314D7AF-6939-48C7-BAD6-83159DA8AA21}" srcOrd="0" destOrd="0" presId="urn:microsoft.com/office/officeart/2005/8/layout/vList2"/>
    <dgm:cxn modelId="{511B3FED-8668-45AA-9586-B7AE72724A72}" srcId="{D46F2FBF-522D-4E8D-9892-C8BC022E8583}" destId="{F54A33DB-3850-4C3C-9EE1-9029E641773E}" srcOrd="0" destOrd="0" parTransId="{0F146A3B-A561-48BC-9D65-7D9829B7386F}" sibTransId="{121DAC39-6BD1-4841-8D5C-CDD3ABDB72A7}"/>
    <dgm:cxn modelId="{3C4D3FEE-C797-40D2-BED1-3F4F5C0C6BC9}" srcId="{AFDB4008-34C1-4A28-ADBA-E7C22C1FE910}" destId="{E36BF209-39D2-413F-85BA-EA2311EDCA05}" srcOrd="2" destOrd="0" parTransId="{E4351B03-C3CB-4FDC-A961-8CA93B222606}" sibTransId="{A755B0C4-9C04-4F72-B939-69EDDB7A0776}"/>
    <dgm:cxn modelId="{CDD84BA7-BB95-439B-B149-6801AA2078FC}" type="presParOf" srcId="{C76A1AB9-8ABA-4F5A-9FAE-6881EB0EC520}" destId="{2B3E8B02-F3DF-44E0-9A21-E008B724F895}" srcOrd="0" destOrd="0" presId="urn:microsoft.com/office/officeart/2005/8/layout/vList2"/>
    <dgm:cxn modelId="{777E5827-84AE-4CA3-8D35-E902AA68747F}" type="presParOf" srcId="{C76A1AB9-8ABA-4F5A-9FAE-6881EB0EC520}" destId="{A2E523E2-C3BD-41D7-A2D7-0422B2C4214A}" srcOrd="1" destOrd="0" presId="urn:microsoft.com/office/officeart/2005/8/layout/vList2"/>
    <dgm:cxn modelId="{EA24C402-17C6-48DE-A607-A46A8F200B97}" type="presParOf" srcId="{C76A1AB9-8ABA-4F5A-9FAE-6881EB0EC520}" destId="{C01613F4-26AC-446C-8356-00576EC9E387}" srcOrd="2" destOrd="0" presId="urn:microsoft.com/office/officeart/2005/8/layout/vList2"/>
    <dgm:cxn modelId="{D36D804F-09D6-4C18-B4B3-FF01BD3E1A14}" type="presParOf" srcId="{C76A1AB9-8ABA-4F5A-9FAE-6881EB0EC520}" destId="{561152FE-0AAD-46A9-872D-3FF89EB997A1}" srcOrd="3" destOrd="0" presId="urn:microsoft.com/office/officeart/2005/8/layout/vList2"/>
    <dgm:cxn modelId="{CB552C94-2A06-444A-83E0-4D3C8377B44F}" type="presParOf" srcId="{C76A1AB9-8ABA-4F5A-9FAE-6881EB0EC520}" destId="{9314D7AF-6939-48C7-BAD6-83159DA8AA21}"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B83B079-6229-4127-8D4C-71ECCD9A7F9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7F47BE4-AB16-46CD-AE3F-F9BAD7E8FEBB}">
      <dgm:prSet/>
      <dgm:spPr/>
      <dgm:t>
        <a:bodyPr/>
        <a:lstStyle/>
        <a:p>
          <a:r>
            <a:rPr lang="en-US" b="1" dirty="0">
              <a:solidFill>
                <a:schemeClr val="tx1"/>
              </a:solidFill>
            </a:rPr>
            <a:t>Community Diagnosis – Assessing Health Status (not just data but </a:t>
          </a:r>
          <a:r>
            <a:rPr lang="en-US" b="1">
              <a:solidFill>
                <a:schemeClr val="tx1"/>
              </a:solidFill>
            </a:rPr>
            <a:t>also decision making</a:t>
          </a:r>
          <a:endParaRPr lang="en-US">
            <a:solidFill>
              <a:schemeClr val="tx1"/>
            </a:solidFill>
          </a:endParaRPr>
        </a:p>
      </dgm:t>
    </dgm:pt>
    <dgm:pt modelId="{6407BCA3-1B09-4A12-BE5D-C7B4C5C0B5CB}" type="parTrans" cxnId="{66649918-0448-4403-AC52-56F0C84953FE}">
      <dgm:prSet/>
      <dgm:spPr/>
      <dgm:t>
        <a:bodyPr/>
        <a:lstStyle/>
        <a:p>
          <a:endParaRPr lang="en-US">
            <a:solidFill>
              <a:schemeClr val="tx1"/>
            </a:solidFill>
          </a:endParaRPr>
        </a:p>
      </dgm:t>
    </dgm:pt>
    <dgm:pt modelId="{1DA2DF3F-C572-4120-B64F-596CB6AB4F2B}" type="sibTrans" cxnId="{66649918-0448-4403-AC52-56F0C84953FE}">
      <dgm:prSet/>
      <dgm:spPr/>
      <dgm:t>
        <a:bodyPr/>
        <a:lstStyle/>
        <a:p>
          <a:endParaRPr lang="en-US">
            <a:solidFill>
              <a:schemeClr val="tx1"/>
            </a:solidFill>
          </a:endParaRPr>
        </a:p>
      </dgm:t>
    </dgm:pt>
    <dgm:pt modelId="{2DACEC81-BEA2-415F-866B-6F364098241B}">
      <dgm:prSet/>
      <dgm:spPr/>
      <dgm:t>
        <a:bodyPr/>
        <a:lstStyle/>
        <a:p>
          <a:r>
            <a:rPr lang="en-US">
              <a:solidFill>
                <a:schemeClr val="tx1"/>
              </a:solidFill>
            </a:rPr>
            <a:t>Definition: Community diagnosis is the first step in planning health services — involves assessing the health status and health problems of a population.</a:t>
          </a:r>
        </a:p>
      </dgm:t>
    </dgm:pt>
    <dgm:pt modelId="{ADA78D99-8CDA-47E2-95BE-9086FD7D5517}" type="parTrans" cxnId="{872FBEA7-72B6-4724-B620-31CE32057265}">
      <dgm:prSet/>
      <dgm:spPr/>
      <dgm:t>
        <a:bodyPr/>
        <a:lstStyle/>
        <a:p>
          <a:endParaRPr lang="en-US">
            <a:solidFill>
              <a:schemeClr val="tx1"/>
            </a:solidFill>
          </a:endParaRPr>
        </a:p>
      </dgm:t>
    </dgm:pt>
    <dgm:pt modelId="{C011FB4A-0888-46BE-8D0D-0D0B8CDCCFA5}" type="sibTrans" cxnId="{872FBEA7-72B6-4724-B620-31CE32057265}">
      <dgm:prSet/>
      <dgm:spPr/>
      <dgm:t>
        <a:bodyPr/>
        <a:lstStyle/>
        <a:p>
          <a:endParaRPr lang="en-US">
            <a:solidFill>
              <a:schemeClr val="tx1"/>
            </a:solidFill>
          </a:endParaRPr>
        </a:p>
      </dgm:t>
    </dgm:pt>
    <dgm:pt modelId="{794276E9-28F4-46DF-A9F3-2F7088799021}">
      <dgm:prSet/>
      <dgm:spPr/>
      <dgm:t>
        <a:bodyPr/>
        <a:lstStyle/>
        <a:p>
          <a:r>
            <a:rPr lang="en-US">
              <a:solidFill>
                <a:schemeClr val="tx1"/>
              </a:solidFill>
            </a:rPr>
            <a:t>Purpose:</a:t>
          </a:r>
        </a:p>
      </dgm:t>
    </dgm:pt>
    <dgm:pt modelId="{C7FEDCA4-7B92-488D-B30B-EFA45D159FC1}" type="parTrans" cxnId="{C2CACB71-FDD3-485C-A2A5-1148EADA5386}">
      <dgm:prSet/>
      <dgm:spPr/>
      <dgm:t>
        <a:bodyPr/>
        <a:lstStyle/>
        <a:p>
          <a:endParaRPr lang="en-US">
            <a:solidFill>
              <a:schemeClr val="tx1"/>
            </a:solidFill>
          </a:endParaRPr>
        </a:p>
      </dgm:t>
    </dgm:pt>
    <dgm:pt modelId="{501413D3-6720-44D2-A68F-192309C18938}" type="sibTrans" cxnId="{C2CACB71-FDD3-485C-A2A5-1148EADA5386}">
      <dgm:prSet/>
      <dgm:spPr/>
      <dgm:t>
        <a:bodyPr/>
        <a:lstStyle/>
        <a:p>
          <a:endParaRPr lang="en-US">
            <a:solidFill>
              <a:schemeClr val="tx1"/>
            </a:solidFill>
          </a:endParaRPr>
        </a:p>
      </dgm:t>
    </dgm:pt>
    <dgm:pt modelId="{4022BF99-F868-4137-8628-17C6CD81BD8C}">
      <dgm:prSet/>
      <dgm:spPr/>
      <dgm:t>
        <a:bodyPr/>
        <a:lstStyle/>
        <a:p>
          <a:r>
            <a:rPr lang="en-US">
              <a:solidFill>
                <a:schemeClr val="tx1"/>
              </a:solidFill>
            </a:rPr>
            <a:t>Identify priority health problems</a:t>
          </a:r>
        </a:p>
      </dgm:t>
    </dgm:pt>
    <dgm:pt modelId="{7F9FA9B3-C586-41D2-B3F3-07F19701EE15}" type="parTrans" cxnId="{355D67B0-3F7D-44F0-B6F5-B25303B1B425}">
      <dgm:prSet/>
      <dgm:spPr/>
      <dgm:t>
        <a:bodyPr/>
        <a:lstStyle/>
        <a:p>
          <a:endParaRPr lang="en-US">
            <a:solidFill>
              <a:schemeClr val="tx1"/>
            </a:solidFill>
          </a:endParaRPr>
        </a:p>
      </dgm:t>
    </dgm:pt>
    <dgm:pt modelId="{6518BF48-2125-49E3-AC7A-9C6372A5D107}" type="sibTrans" cxnId="{355D67B0-3F7D-44F0-B6F5-B25303B1B425}">
      <dgm:prSet/>
      <dgm:spPr/>
      <dgm:t>
        <a:bodyPr/>
        <a:lstStyle/>
        <a:p>
          <a:endParaRPr lang="en-US">
            <a:solidFill>
              <a:schemeClr val="tx1"/>
            </a:solidFill>
          </a:endParaRPr>
        </a:p>
      </dgm:t>
    </dgm:pt>
    <dgm:pt modelId="{488239CA-C269-4532-81B9-090AD7F5AE6F}">
      <dgm:prSet/>
      <dgm:spPr/>
      <dgm:t>
        <a:bodyPr/>
        <a:lstStyle/>
        <a:p>
          <a:r>
            <a:rPr lang="en-US">
              <a:solidFill>
                <a:schemeClr val="tx1"/>
              </a:solidFill>
            </a:rPr>
            <a:t>Guide resource allocation and intervention planning</a:t>
          </a:r>
        </a:p>
      </dgm:t>
    </dgm:pt>
    <dgm:pt modelId="{8F25EAFB-DB6C-48E1-8B18-BD2A2B499B0E}" type="parTrans" cxnId="{E16448A4-E707-4DF4-925A-A541E4EB7205}">
      <dgm:prSet/>
      <dgm:spPr/>
      <dgm:t>
        <a:bodyPr/>
        <a:lstStyle/>
        <a:p>
          <a:endParaRPr lang="en-US">
            <a:solidFill>
              <a:schemeClr val="tx1"/>
            </a:solidFill>
          </a:endParaRPr>
        </a:p>
      </dgm:t>
    </dgm:pt>
    <dgm:pt modelId="{CE86E02F-809B-4096-8B2A-516BC60BB3D3}" type="sibTrans" cxnId="{E16448A4-E707-4DF4-925A-A541E4EB7205}">
      <dgm:prSet/>
      <dgm:spPr/>
      <dgm:t>
        <a:bodyPr/>
        <a:lstStyle/>
        <a:p>
          <a:endParaRPr lang="en-US">
            <a:solidFill>
              <a:schemeClr val="tx1"/>
            </a:solidFill>
          </a:endParaRPr>
        </a:p>
      </dgm:t>
    </dgm:pt>
    <dgm:pt modelId="{9FB8350C-8B71-4EDD-84C5-50C54323BC86}">
      <dgm:prSet/>
      <dgm:spPr/>
      <dgm:t>
        <a:bodyPr/>
        <a:lstStyle/>
        <a:p>
          <a:r>
            <a:rPr lang="en-US">
              <a:solidFill>
                <a:schemeClr val="tx1"/>
              </a:solidFill>
            </a:rPr>
            <a:t>Data Required for Analysis:</a:t>
          </a:r>
        </a:p>
      </dgm:t>
    </dgm:pt>
    <dgm:pt modelId="{7FAFC888-EC59-4896-A715-6150D918D663}" type="parTrans" cxnId="{9B3F3CAE-EEF7-4D77-AA36-FBA0E825F27F}">
      <dgm:prSet/>
      <dgm:spPr/>
      <dgm:t>
        <a:bodyPr/>
        <a:lstStyle/>
        <a:p>
          <a:endParaRPr lang="en-US">
            <a:solidFill>
              <a:schemeClr val="tx1"/>
            </a:solidFill>
          </a:endParaRPr>
        </a:p>
      </dgm:t>
    </dgm:pt>
    <dgm:pt modelId="{09383ED3-BB50-4045-BACF-2CE09663CFE9}" type="sibTrans" cxnId="{9B3F3CAE-EEF7-4D77-AA36-FBA0E825F27F}">
      <dgm:prSet/>
      <dgm:spPr/>
      <dgm:t>
        <a:bodyPr/>
        <a:lstStyle/>
        <a:p>
          <a:endParaRPr lang="en-US">
            <a:solidFill>
              <a:schemeClr val="tx1"/>
            </a:solidFill>
          </a:endParaRPr>
        </a:p>
      </dgm:t>
    </dgm:pt>
    <dgm:pt modelId="{361E6EC8-5D2F-44CC-AFCC-F24EDFA64BBD}">
      <dgm:prSet/>
      <dgm:spPr/>
      <dgm:t>
        <a:bodyPr/>
        <a:lstStyle/>
        <a:p>
          <a:r>
            <a:rPr lang="en-US">
              <a:solidFill>
                <a:schemeClr val="tx1"/>
              </a:solidFill>
            </a:rPr>
            <a:t>Morbidity and mortality statistics</a:t>
          </a:r>
        </a:p>
      </dgm:t>
    </dgm:pt>
    <dgm:pt modelId="{D97A5676-9D28-4667-882E-E6B9F360C9EC}" type="parTrans" cxnId="{465A5882-A3D2-4649-9190-9CE6A53F8EF9}">
      <dgm:prSet/>
      <dgm:spPr/>
      <dgm:t>
        <a:bodyPr/>
        <a:lstStyle/>
        <a:p>
          <a:endParaRPr lang="en-US">
            <a:solidFill>
              <a:schemeClr val="tx1"/>
            </a:solidFill>
          </a:endParaRPr>
        </a:p>
      </dgm:t>
    </dgm:pt>
    <dgm:pt modelId="{131253D9-8229-4568-A1A7-1010166A1544}" type="sibTrans" cxnId="{465A5882-A3D2-4649-9190-9CE6A53F8EF9}">
      <dgm:prSet/>
      <dgm:spPr/>
      <dgm:t>
        <a:bodyPr/>
        <a:lstStyle/>
        <a:p>
          <a:endParaRPr lang="en-US">
            <a:solidFill>
              <a:schemeClr val="tx1"/>
            </a:solidFill>
          </a:endParaRPr>
        </a:p>
      </dgm:t>
    </dgm:pt>
    <dgm:pt modelId="{776149DC-D7B7-41BC-AB47-FB8D9D8AA649}">
      <dgm:prSet/>
      <dgm:spPr/>
      <dgm:t>
        <a:bodyPr/>
        <a:lstStyle/>
        <a:p>
          <a:r>
            <a:rPr lang="en-US">
              <a:solidFill>
                <a:schemeClr val="tx1"/>
              </a:solidFill>
            </a:rPr>
            <a:t>Demographic profile (age, sex, population growth, etc.)</a:t>
          </a:r>
        </a:p>
      </dgm:t>
    </dgm:pt>
    <dgm:pt modelId="{562C128C-4BB2-4A9F-AEA4-5612D5E431CB}" type="parTrans" cxnId="{53823D51-CFE8-4EC4-81DE-5AB6753CFAC5}">
      <dgm:prSet/>
      <dgm:spPr/>
      <dgm:t>
        <a:bodyPr/>
        <a:lstStyle/>
        <a:p>
          <a:endParaRPr lang="en-US">
            <a:solidFill>
              <a:schemeClr val="tx1"/>
            </a:solidFill>
          </a:endParaRPr>
        </a:p>
      </dgm:t>
    </dgm:pt>
    <dgm:pt modelId="{EECFCE45-37FA-46A0-8717-697514EAB3E7}" type="sibTrans" cxnId="{53823D51-CFE8-4EC4-81DE-5AB6753CFAC5}">
      <dgm:prSet/>
      <dgm:spPr/>
      <dgm:t>
        <a:bodyPr/>
        <a:lstStyle/>
        <a:p>
          <a:endParaRPr lang="en-US">
            <a:solidFill>
              <a:schemeClr val="tx1"/>
            </a:solidFill>
          </a:endParaRPr>
        </a:p>
      </dgm:t>
    </dgm:pt>
    <dgm:pt modelId="{53D1DB63-AAA7-422C-899E-B08CD7AD63F9}">
      <dgm:prSet/>
      <dgm:spPr/>
      <dgm:t>
        <a:bodyPr/>
        <a:lstStyle/>
        <a:p>
          <a:r>
            <a:rPr lang="en-US">
              <a:solidFill>
                <a:schemeClr val="tx1"/>
              </a:solidFill>
            </a:rPr>
            <a:t>Environmental conditions affecting health (water, sanitation, pollution)</a:t>
          </a:r>
        </a:p>
      </dgm:t>
    </dgm:pt>
    <dgm:pt modelId="{1E038CE6-3BCC-4B49-B816-B1B63E019568}" type="parTrans" cxnId="{E607D29B-A17D-49B4-A313-16572C302C7E}">
      <dgm:prSet/>
      <dgm:spPr/>
      <dgm:t>
        <a:bodyPr/>
        <a:lstStyle/>
        <a:p>
          <a:endParaRPr lang="en-US">
            <a:solidFill>
              <a:schemeClr val="tx1"/>
            </a:solidFill>
          </a:endParaRPr>
        </a:p>
      </dgm:t>
    </dgm:pt>
    <dgm:pt modelId="{769D0EF7-07F8-4676-BFF8-20A738CCF79A}" type="sibTrans" cxnId="{E607D29B-A17D-49B4-A313-16572C302C7E}">
      <dgm:prSet/>
      <dgm:spPr/>
      <dgm:t>
        <a:bodyPr/>
        <a:lstStyle/>
        <a:p>
          <a:endParaRPr lang="en-US">
            <a:solidFill>
              <a:schemeClr val="tx1"/>
            </a:solidFill>
          </a:endParaRPr>
        </a:p>
      </dgm:t>
    </dgm:pt>
    <dgm:pt modelId="{CFBEFE95-8F2C-4FDB-B929-86E37A80ACED}">
      <dgm:prSet/>
      <dgm:spPr/>
      <dgm:t>
        <a:bodyPr/>
        <a:lstStyle/>
        <a:p>
          <a:r>
            <a:rPr lang="en-US">
              <a:solidFill>
                <a:schemeClr val="tx1"/>
              </a:solidFill>
            </a:rPr>
            <a:t>Socio-economic factors (income, education, occupation)</a:t>
          </a:r>
        </a:p>
      </dgm:t>
    </dgm:pt>
    <dgm:pt modelId="{C2CBB452-7302-446D-BBF1-94897D80A21C}" type="parTrans" cxnId="{DA4EF62F-7161-468B-9F15-41A3636632AA}">
      <dgm:prSet/>
      <dgm:spPr/>
      <dgm:t>
        <a:bodyPr/>
        <a:lstStyle/>
        <a:p>
          <a:endParaRPr lang="en-US">
            <a:solidFill>
              <a:schemeClr val="tx1"/>
            </a:solidFill>
          </a:endParaRPr>
        </a:p>
      </dgm:t>
    </dgm:pt>
    <dgm:pt modelId="{CCE45FD0-0D87-4787-8312-EAA0E36EDA5A}" type="sibTrans" cxnId="{DA4EF62F-7161-468B-9F15-41A3636632AA}">
      <dgm:prSet/>
      <dgm:spPr/>
      <dgm:t>
        <a:bodyPr/>
        <a:lstStyle/>
        <a:p>
          <a:endParaRPr lang="en-US">
            <a:solidFill>
              <a:schemeClr val="tx1"/>
            </a:solidFill>
          </a:endParaRPr>
        </a:p>
      </dgm:t>
    </dgm:pt>
    <dgm:pt modelId="{4D46AA8A-CF73-454A-BCD7-C9CE1D6AE3AB}" type="pres">
      <dgm:prSet presAssocID="{5B83B079-6229-4127-8D4C-71ECCD9A7F96}" presName="linear" presStyleCnt="0">
        <dgm:presLayoutVars>
          <dgm:animLvl val="lvl"/>
          <dgm:resizeHandles val="exact"/>
        </dgm:presLayoutVars>
      </dgm:prSet>
      <dgm:spPr/>
    </dgm:pt>
    <dgm:pt modelId="{F1C03A2E-7823-4B6C-ACDA-C7684C1727C4}" type="pres">
      <dgm:prSet presAssocID="{27F47BE4-AB16-46CD-AE3F-F9BAD7E8FEBB}" presName="parentText" presStyleLbl="node1" presStyleIdx="0" presStyleCnt="4">
        <dgm:presLayoutVars>
          <dgm:chMax val="0"/>
          <dgm:bulletEnabled val="1"/>
        </dgm:presLayoutVars>
      </dgm:prSet>
      <dgm:spPr/>
    </dgm:pt>
    <dgm:pt modelId="{D736BF0A-141A-47C3-ADC3-7D522EBC4CE2}" type="pres">
      <dgm:prSet presAssocID="{1DA2DF3F-C572-4120-B64F-596CB6AB4F2B}" presName="spacer" presStyleCnt="0"/>
      <dgm:spPr/>
    </dgm:pt>
    <dgm:pt modelId="{3A82A3BD-431B-48F6-8CC6-5ED31C9624C9}" type="pres">
      <dgm:prSet presAssocID="{2DACEC81-BEA2-415F-866B-6F364098241B}" presName="parentText" presStyleLbl="node1" presStyleIdx="1" presStyleCnt="4">
        <dgm:presLayoutVars>
          <dgm:chMax val="0"/>
          <dgm:bulletEnabled val="1"/>
        </dgm:presLayoutVars>
      </dgm:prSet>
      <dgm:spPr/>
    </dgm:pt>
    <dgm:pt modelId="{26694001-AC5B-4A44-BBB4-15A82CFDD853}" type="pres">
      <dgm:prSet presAssocID="{C011FB4A-0888-46BE-8D0D-0D0B8CDCCFA5}" presName="spacer" presStyleCnt="0"/>
      <dgm:spPr/>
    </dgm:pt>
    <dgm:pt modelId="{89A57D59-8131-498E-8239-9C0A8A8B22CB}" type="pres">
      <dgm:prSet presAssocID="{794276E9-28F4-46DF-A9F3-2F7088799021}" presName="parentText" presStyleLbl="node1" presStyleIdx="2" presStyleCnt="4">
        <dgm:presLayoutVars>
          <dgm:chMax val="0"/>
          <dgm:bulletEnabled val="1"/>
        </dgm:presLayoutVars>
      </dgm:prSet>
      <dgm:spPr/>
    </dgm:pt>
    <dgm:pt modelId="{CDC49A4A-E695-4774-9D99-98CDE92D684E}" type="pres">
      <dgm:prSet presAssocID="{794276E9-28F4-46DF-A9F3-2F7088799021}" presName="childText" presStyleLbl="revTx" presStyleIdx="0" presStyleCnt="2">
        <dgm:presLayoutVars>
          <dgm:bulletEnabled val="1"/>
        </dgm:presLayoutVars>
      </dgm:prSet>
      <dgm:spPr/>
    </dgm:pt>
    <dgm:pt modelId="{D4C3B46F-1EEE-47E6-9F51-7964C9C1F690}" type="pres">
      <dgm:prSet presAssocID="{9FB8350C-8B71-4EDD-84C5-50C54323BC86}" presName="parentText" presStyleLbl="node1" presStyleIdx="3" presStyleCnt="4">
        <dgm:presLayoutVars>
          <dgm:chMax val="0"/>
          <dgm:bulletEnabled val="1"/>
        </dgm:presLayoutVars>
      </dgm:prSet>
      <dgm:spPr/>
    </dgm:pt>
    <dgm:pt modelId="{48A302C7-9F39-4EB9-8BF1-93F66F6492FA}" type="pres">
      <dgm:prSet presAssocID="{9FB8350C-8B71-4EDD-84C5-50C54323BC86}" presName="childText" presStyleLbl="revTx" presStyleIdx="1" presStyleCnt="2">
        <dgm:presLayoutVars>
          <dgm:bulletEnabled val="1"/>
        </dgm:presLayoutVars>
      </dgm:prSet>
      <dgm:spPr/>
    </dgm:pt>
  </dgm:ptLst>
  <dgm:cxnLst>
    <dgm:cxn modelId="{EA916F13-7FC9-4A67-A2A2-18846BC78936}" type="presOf" srcId="{4022BF99-F868-4137-8628-17C6CD81BD8C}" destId="{CDC49A4A-E695-4774-9D99-98CDE92D684E}" srcOrd="0" destOrd="0" presId="urn:microsoft.com/office/officeart/2005/8/layout/vList2"/>
    <dgm:cxn modelId="{66649918-0448-4403-AC52-56F0C84953FE}" srcId="{5B83B079-6229-4127-8D4C-71ECCD9A7F96}" destId="{27F47BE4-AB16-46CD-AE3F-F9BAD7E8FEBB}" srcOrd="0" destOrd="0" parTransId="{6407BCA3-1B09-4A12-BE5D-C7B4C5C0B5CB}" sibTransId="{1DA2DF3F-C572-4120-B64F-596CB6AB4F2B}"/>
    <dgm:cxn modelId="{DA4EF62F-7161-468B-9F15-41A3636632AA}" srcId="{9FB8350C-8B71-4EDD-84C5-50C54323BC86}" destId="{CFBEFE95-8F2C-4FDB-B929-86E37A80ACED}" srcOrd="3" destOrd="0" parTransId="{C2CBB452-7302-446D-BBF1-94897D80A21C}" sibTransId="{CCE45FD0-0D87-4787-8312-EAA0E36EDA5A}"/>
    <dgm:cxn modelId="{DA4E3165-7424-4513-A0E9-A8E009440AA6}" type="presOf" srcId="{27F47BE4-AB16-46CD-AE3F-F9BAD7E8FEBB}" destId="{F1C03A2E-7823-4B6C-ACDA-C7684C1727C4}" srcOrd="0" destOrd="0" presId="urn:microsoft.com/office/officeart/2005/8/layout/vList2"/>
    <dgm:cxn modelId="{C38D866F-60CC-468D-B37D-B146CDBE0FE2}" type="presOf" srcId="{361E6EC8-5D2F-44CC-AFCC-F24EDFA64BBD}" destId="{48A302C7-9F39-4EB9-8BF1-93F66F6492FA}" srcOrd="0" destOrd="0" presId="urn:microsoft.com/office/officeart/2005/8/layout/vList2"/>
    <dgm:cxn modelId="{53823D51-CFE8-4EC4-81DE-5AB6753CFAC5}" srcId="{9FB8350C-8B71-4EDD-84C5-50C54323BC86}" destId="{776149DC-D7B7-41BC-AB47-FB8D9D8AA649}" srcOrd="1" destOrd="0" parTransId="{562C128C-4BB2-4A9F-AEA4-5612D5E431CB}" sibTransId="{EECFCE45-37FA-46A0-8717-697514EAB3E7}"/>
    <dgm:cxn modelId="{C2CACB71-FDD3-485C-A2A5-1148EADA5386}" srcId="{5B83B079-6229-4127-8D4C-71ECCD9A7F96}" destId="{794276E9-28F4-46DF-A9F3-2F7088799021}" srcOrd="2" destOrd="0" parTransId="{C7FEDCA4-7B92-488D-B30B-EFA45D159FC1}" sibTransId="{501413D3-6720-44D2-A68F-192309C18938}"/>
    <dgm:cxn modelId="{465A5882-A3D2-4649-9190-9CE6A53F8EF9}" srcId="{9FB8350C-8B71-4EDD-84C5-50C54323BC86}" destId="{361E6EC8-5D2F-44CC-AFCC-F24EDFA64BBD}" srcOrd="0" destOrd="0" parTransId="{D97A5676-9D28-4667-882E-E6B9F360C9EC}" sibTransId="{131253D9-8229-4568-A1A7-1010166A1544}"/>
    <dgm:cxn modelId="{85F8128C-052F-46EE-B50B-680B12E6CB0E}" type="presOf" srcId="{53D1DB63-AAA7-422C-899E-B08CD7AD63F9}" destId="{48A302C7-9F39-4EB9-8BF1-93F66F6492FA}" srcOrd="0" destOrd="2" presId="urn:microsoft.com/office/officeart/2005/8/layout/vList2"/>
    <dgm:cxn modelId="{403F388F-3E11-4CB7-9391-A2D7A551E8EF}" type="presOf" srcId="{794276E9-28F4-46DF-A9F3-2F7088799021}" destId="{89A57D59-8131-498E-8239-9C0A8A8B22CB}" srcOrd="0" destOrd="0" presId="urn:microsoft.com/office/officeart/2005/8/layout/vList2"/>
    <dgm:cxn modelId="{E607D29B-A17D-49B4-A313-16572C302C7E}" srcId="{9FB8350C-8B71-4EDD-84C5-50C54323BC86}" destId="{53D1DB63-AAA7-422C-899E-B08CD7AD63F9}" srcOrd="2" destOrd="0" parTransId="{1E038CE6-3BCC-4B49-B816-B1B63E019568}" sibTransId="{769D0EF7-07F8-4676-BFF8-20A738CCF79A}"/>
    <dgm:cxn modelId="{0549AEA0-CA55-4B1A-B908-11544DF59B6A}" type="presOf" srcId="{5B83B079-6229-4127-8D4C-71ECCD9A7F96}" destId="{4D46AA8A-CF73-454A-BCD7-C9CE1D6AE3AB}" srcOrd="0" destOrd="0" presId="urn:microsoft.com/office/officeart/2005/8/layout/vList2"/>
    <dgm:cxn modelId="{E16448A4-E707-4DF4-925A-A541E4EB7205}" srcId="{794276E9-28F4-46DF-A9F3-2F7088799021}" destId="{488239CA-C269-4532-81B9-090AD7F5AE6F}" srcOrd="1" destOrd="0" parTransId="{8F25EAFB-DB6C-48E1-8B18-BD2A2B499B0E}" sibTransId="{CE86E02F-809B-4096-8B2A-516BC60BB3D3}"/>
    <dgm:cxn modelId="{872FBEA7-72B6-4724-B620-31CE32057265}" srcId="{5B83B079-6229-4127-8D4C-71ECCD9A7F96}" destId="{2DACEC81-BEA2-415F-866B-6F364098241B}" srcOrd="1" destOrd="0" parTransId="{ADA78D99-8CDA-47E2-95BE-9086FD7D5517}" sibTransId="{C011FB4A-0888-46BE-8D0D-0D0B8CDCCFA5}"/>
    <dgm:cxn modelId="{9B3F3CAE-EEF7-4D77-AA36-FBA0E825F27F}" srcId="{5B83B079-6229-4127-8D4C-71ECCD9A7F96}" destId="{9FB8350C-8B71-4EDD-84C5-50C54323BC86}" srcOrd="3" destOrd="0" parTransId="{7FAFC888-EC59-4896-A715-6150D918D663}" sibTransId="{09383ED3-BB50-4045-BACF-2CE09663CFE9}"/>
    <dgm:cxn modelId="{7E91C1AF-79C6-42CD-B301-4D8F59691E4A}" type="presOf" srcId="{776149DC-D7B7-41BC-AB47-FB8D9D8AA649}" destId="{48A302C7-9F39-4EB9-8BF1-93F66F6492FA}" srcOrd="0" destOrd="1" presId="urn:microsoft.com/office/officeart/2005/8/layout/vList2"/>
    <dgm:cxn modelId="{355D67B0-3F7D-44F0-B6F5-B25303B1B425}" srcId="{794276E9-28F4-46DF-A9F3-2F7088799021}" destId="{4022BF99-F868-4137-8628-17C6CD81BD8C}" srcOrd="0" destOrd="0" parTransId="{7F9FA9B3-C586-41D2-B3F3-07F19701EE15}" sibTransId="{6518BF48-2125-49E3-AC7A-9C6372A5D107}"/>
    <dgm:cxn modelId="{AC88C1B4-EA66-4508-B842-91D24A24C16A}" type="presOf" srcId="{488239CA-C269-4532-81B9-090AD7F5AE6F}" destId="{CDC49A4A-E695-4774-9D99-98CDE92D684E}" srcOrd="0" destOrd="1" presId="urn:microsoft.com/office/officeart/2005/8/layout/vList2"/>
    <dgm:cxn modelId="{4DEBF0B9-E8AD-4A9B-8329-9BC5A30738B9}" type="presOf" srcId="{CFBEFE95-8F2C-4FDB-B929-86E37A80ACED}" destId="{48A302C7-9F39-4EB9-8BF1-93F66F6492FA}" srcOrd="0" destOrd="3" presId="urn:microsoft.com/office/officeart/2005/8/layout/vList2"/>
    <dgm:cxn modelId="{B10A4CDD-51CF-4C0C-B38D-0C7E45F94C7F}" type="presOf" srcId="{9FB8350C-8B71-4EDD-84C5-50C54323BC86}" destId="{D4C3B46F-1EEE-47E6-9F51-7964C9C1F690}" srcOrd="0" destOrd="0" presId="urn:microsoft.com/office/officeart/2005/8/layout/vList2"/>
    <dgm:cxn modelId="{96BD94F5-3A36-4D38-8167-2C0CC1A2151F}" type="presOf" srcId="{2DACEC81-BEA2-415F-866B-6F364098241B}" destId="{3A82A3BD-431B-48F6-8CC6-5ED31C9624C9}" srcOrd="0" destOrd="0" presId="urn:microsoft.com/office/officeart/2005/8/layout/vList2"/>
    <dgm:cxn modelId="{CE9BD8CB-F901-4B6E-9BA7-04AC226902F3}" type="presParOf" srcId="{4D46AA8A-CF73-454A-BCD7-C9CE1D6AE3AB}" destId="{F1C03A2E-7823-4B6C-ACDA-C7684C1727C4}" srcOrd="0" destOrd="0" presId="urn:microsoft.com/office/officeart/2005/8/layout/vList2"/>
    <dgm:cxn modelId="{167F28C3-91CD-42C8-B81C-05180D87D8B7}" type="presParOf" srcId="{4D46AA8A-CF73-454A-BCD7-C9CE1D6AE3AB}" destId="{D736BF0A-141A-47C3-ADC3-7D522EBC4CE2}" srcOrd="1" destOrd="0" presId="urn:microsoft.com/office/officeart/2005/8/layout/vList2"/>
    <dgm:cxn modelId="{4A3AAB79-279E-450E-B32D-46D9352A3DD9}" type="presParOf" srcId="{4D46AA8A-CF73-454A-BCD7-C9CE1D6AE3AB}" destId="{3A82A3BD-431B-48F6-8CC6-5ED31C9624C9}" srcOrd="2" destOrd="0" presId="urn:microsoft.com/office/officeart/2005/8/layout/vList2"/>
    <dgm:cxn modelId="{DFE3260C-72C4-4B79-878B-CAC9D95C9F96}" type="presParOf" srcId="{4D46AA8A-CF73-454A-BCD7-C9CE1D6AE3AB}" destId="{26694001-AC5B-4A44-BBB4-15A82CFDD853}" srcOrd="3" destOrd="0" presId="urn:microsoft.com/office/officeart/2005/8/layout/vList2"/>
    <dgm:cxn modelId="{5B29A159-82B6-4F89-9721-C598330CF17F}" type="presParOf" srcId="{4D46AA8A-CF73-454A-BCD7-C9CE1D6AE3AB}" destId="{89A57D59-8131-498E-8239-9C0A8A8B22CB}" srcOrd="4" destOrd="0" presId="urn:microsoft.com/office/officeart/2005/8/layout/vList2"/>
    <dgm:cxn modelId="{DF9F06CA-6843-4CF4-8321-C2120B72E902}" type="presParOf" srcId="{4D46AA8A-CF73-454A-BCD7-C9CE1D6AE3AB}" destId="{CDC49A4A-E695-4774-9D99-98CDE92D684E}" srcOrd="5" destOrd="0" presId="urn:microsoft.com/office/officeart/2005/8/layout/vList2"/>
    <dgm:cxn modelId="{A88F7860-9EA8-4229-8A15-F31C2DD8743C}" type="presParOf" srcId="{4D46AA8A-CF73-454A-BCD7-C9CE1D6AE3AB}" destId="{D4C3B46F-1EEE-47E6-9F51-7964C9C1F690}" srcOrd="6" destOrd="0" presId="urn:microsoft.com/office/officeart/2005/8/layout/vList2"/>
    <dgm:cxn modelId="{4E76F13A-EEDC-43D1-BEA5-8E403E2C1CD2}" type="presParOf" srcId="{4D46AA8A-CF73-454A-BCD7-C9CE1D6AE3AB}" destId="{48A302C7-9F39-4EB9-8BF1-93F66F6492FA}"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74D07DD-478A-4469-9BFA-2982B68C08AD}"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en-US"/>
        </a:p>
      </dgm:t>
    </dgm:pt>
    <dgm:pt modelId="{F48984F9-76E1-4683-96BD-7F7D4579499F}">
      <dgm:prSet/>
      <dgm:spPr/>
      <dgm:t>
        <a:bodyPr/>
        <a:lstStyle/>
        <a:p>
          <a:r>
            <a:rPr lang="en-US">
              <a:solidFill>
                <a:schemeClr val="tx1"/>
              </a:solidFill>
            </a:rPr>
            <a:t>Additional Determinants:</a:t>
          </a:r>
        </a:p>
      </dgm:t>
    </dgm:pt>
    <dgm:pt modelId="{14309BAC-9A07-4AAD-B199-4A19D5402887}" type="parTrans" cxnId="{EE2A73CF-1C41-41C2-B51C-AD787699A82A}">
      <dgm:prSet/>
      <dgm:spPr/>
      <dgm:t>
        <a:bodyPr/>
        <a:lstStyle/>
        <a:p>
          <a:endParaRPr lang="en-US"/>
        </a:p>
      </dgm:t>
    </dgm:pt>
    <dgm:pt modelId="{005D3D16-5E9C-4D8C-A263-8EA965410386}" type="sibTrans" cxnId="{EE2A73CF-1C41-41C2-B51C-AD787699A82A}">
      <dgm:prSet/>
      <dgm:spPr/>
      <dgm:t>
        <a:bodyPr/>
        <a:lstStyle/>
        <a:p>
          <a:endParaRPr lang="en-US"/>
        </a:p>
      </dgm:t>
    </dgm:pt>
    <dgm:pt modelId="{D3AFE05C-B18D-4EB5-8478-91F4277FC23E}">
      <dgm:prSet/>
      <dgm:spPr/>
      <dgm:t>
        <a:bodyPr/>
        <a:lstStyle/>
        <a:p>
          <a:r>
            <a:rPr lang="en-US"/>
            <a:t>Cultural practices, attitudes, beliefs impacting health behavior</a:t>
          </a:r>
        </a:p>
      </dgm:t>
    </dgm:pt>
    <dgm:pt modelId="{B6920472-2883-49C7-A23A-88C2C1C0ACA6}" type="parTrans" cxnId="{5DCB4823-16A7-4509-AE93-C88DFF80F418}">
      <dgm:prSet/>
      <dgm:spPr/>
      <dgm:t>
        <a:bodyPr/>
        <a:lstStyle/>
        <a:p>
          <a:endParaRPr lang="en-US"/>
        </a:p>
      </dgm:t>
    </dgm:pt>
    <dgm:pt modelId="{DBE4B1FE-7197-4EC0-B826-8A5AE3D9CA70}" type="sibTrans" cxnId="{5DCB4823-16A7-4509-AE93-C88DFF80F418}">
      <dgm:prSet/>
      <dgm:spPr/>
      <dgm:t>
        <a:bodyPr/>
        <a:lstStyle/>
        <a:p>
          <a:endParaRPr lang="en-US"/>
        </a:p>
      </dgm:t>
    </dgm:pt>
    <dgm:pt modelId="{1222A7A3-7F4F-4B2A-A201-79734D4AC89C}">
      <dgm:prSet/>
      <dgm:spPr/>
      <dgm:t>
        <a:bodyPr/>
        <a:lstStyle/>
        <a:p>
          <a:r>
            <a:rPr lang="en-US"/>
            <a:t>Availability of medical and health services</a:t>
          </a:r>
        </a:p>
      </dgm:t>
    </dgm:pt>
    <dgm:pt modelId="{ABE56518-5DE4-45D3-A4A1-BEE204FDEF6F}" type="parTrans" cxnId="{7F521148-0F89-4166-9382-F4EE63352705}">
      <dgm:prSet/>
      <dgm:spPr/>
      <dgm:t>
        <a:bodyPr/>
        <a:lstStyle/>
        <a:p>
          <a:endParaRPr lang="en-US"/>
        </a:p>
      </dgm:t>
    </dgm:pt>
    <dgm:pt modelId="{EB062AD3-E39B-4402-8F57-A1DE86C83303}" type="sibTrans" cxnId="{7F521148-0F89-4166-9382-F4EE63352705}">
      <dgm:prSet/>
      <dgm:spPr/>
      <dgm:t>
        <a:bodyPr/>
        <a:lstStyle/>
        <a:p>
          <a:endParaRPr lang="en-US"/>
        </a:p>
      </dgm:t>
    </dgm:pt>
    <dgm:pt modelId="{E85B9F82-EB2A-4EE1-B080-8A0035D68109}">
      <dgm:prSet/>
      <dgm:spPr/>
      <dgm:t>
        <a:bodyPr/>
        <a:lstStyle/>
        <a:p>
          <a:r>
            <a:rPr lang="en-US"/>
            <a:t>Availability of other support services (e.g., transportation, education)</a:t>
          </a:r>
        </a:p>
      </dgm:t>
    </dgm:pt>
    <dgm:pt modelId="{B1962D2B-3EA1-42D7-9A2D-2268482D963D}" type="parTrans" cxnId="{52C79EED-994D-498F-8826-92AB38C81D5B}">
      <dgm:prSet/>
      <dgm:spPr/>
      <dgm:t>
        <a:bodyPr/>
        <a:lstStyle/>
        <a:p>
          <a:endParaRPr lang="en-US"/>
        </a:p>
      </dgm:t>
    </dgm:pt>
    <dgm:pt modelId="{50C4C95F-20D1-470B-AF52-CA1C8CF398E8}" type="sibTrans" cxnId="{52C79EED-994D-498F-8826-92AB38C81D5B}">
      <dgm:prSet/>
      <dgm:spPr/>
      <dgm:t>
        <a:bodyPr/>
        <a:lstStyle/>
        <a:p>
          <a:endParaRPr lang="en-US"/>
        </a:p>
      </dgm:t>
    </dgm:pt>
    <dgm:pt modelId="{3B5C079D-F0DE-4E8E-A201-2D869D72E5F2}">
      <dgm:prSet/>
      <dgm:spPr/>
      <dgm:t>
        <a:bodyPr/>
        <a:lstStyle/>
        <a:p>
          <a:r>
            <a:rPr lang="en-US" dirty="0">
              <a:solidFill>
                <a:schemeClr val="tx1"/>
              </a:solidFill>
            </a:rPr>
            <a:t>Outcome of Community Diagnosis:</a:t>
          </a:r>
        </a:p>
      </dgm:t>
    </dgm:pt>
    <dgm:pt modelId="{479C8007-E397-49C4-BE9C-61E1573D144E}" type="parTrans" cxnId="{3255042D-EADC-47CF-A387-50A155C61E60}">
      <dgm:prSet/>
      <dgm:spPr/>
      <dgm:t>
        <a:bodyPr/>
        <a:lstStyle/>
        <a:p>
          <a:endParaRPr lang="en-US"/>
        </a:p>
      </dgm:t>
    </dgm:pt>
    <dgm:pt modelId="{70A3F97A-FE42-4EBE-AF87-E0DF9CEAED5F}" type="sibTrans" cxnId="{3255042D-EADC-47CF-A387-50A155C61E60}">
      <dgm:prSet/>
      <dgm:spPr/>
      <dgm:t>
        <a:bodyPr/>
        <a:lstStyle/>
        <a:p>
          <a:endParaRPr lang="en-US"/>
        </a:p>
      </dgm:t>
    </dgm:pt>
    <dgm:pt modelId="{784320C6-662C-41BA-94B4-3B1D6597AF75}">
      <dgm:prSet/>
      <dgm:spPr/>
      <dgm:t>
        <a:bodyPr/>
        <a:lstStyle/>
        <a:p>
          <a:r>
            <a:rPr lang="en-US"/>
            <a:t>Holistic picture of the community’s health situation</a:t>
          </a:r>
        </a:p>
      </dgm:t>
    </dgm:pt>
    <dgm:pt modelId="{53FEEBDA-3F35-40E9-B2C3-17ABF64C4762}" type="parTrans" cxnId="{C9D53F94-86B6-4287-876B-3717B69A4428}">
      <dgm:prSet/>
      <dgm:spPr/>
      <dgm:t>
        <a:bodyPr/>
        <a:lstStyle/>
        <a:p>
          <a:endParaRPr lang="en-US"/>
        </a:p>
      </dgm:t>
    </dgm:pt>
    <dgm:pt modelId="{501B53AE-F828-456B-9048-067E3ECDDBC0}" type="sibTrans" cxnId="{C9D53F94-86B6-4287-876B-3717B69A4428}">
      <dgm:prSet/>
      <dgm:spPr/>
      <dgm:t>
        <a:bodyPr/>
        <a:lstStyle/>
        <a:p>
          <a:endParaRPr lang="en-US"/>
        </a:p>
      </dgm:t>
    </dgm:pt>
    <dgm:pt modelId="{D023FB59-1D73-4C0E-9E24-E0CBAF3671B3}">
      <dgm:prSet/>
      <dgm:spPr/>
      <dgm:t>
        <a:bodyPr/>
        <a:lstStyle/>
        <a:p>
          <a:r>
            <a:rPr lang="en-US"/>
            <a:t>Enables prioritization of problems based on:</a:t>
          </a:r>
        </a:p>
      </dgm:t>
    </dgm:pt>
    <dgm:pt modelId="{5A0AABC1-8DD7-4996-864D-FE861EC473FF}" type="parTrans" cxnId="{CD1B0410-F7F2-4DC8-863D-2859F35AA343}">
      <dgm:prSet/>
      <dgm:spPr/>
      <dgm:t>
        <a:bodyPr/>
        <a:lstStyle/>
        <a:p>
          <a:endParaRPr lang="en-US"/>
        </a:p>
      </dgm:t>
    </dgm:pt>
    <dgm:pt modelId="{CDDC9610-627D-4052-B7EE-27DCD54B9D70}" type="sibTrans" cxnId="{CD1B0410-F7F2-4DC8-863D-2859F35AA343}">
      <dgm:prSet/>
      <dgm:spPr/>
      <dgm:t>
        <a:bodyPr/>
        <a:lstStyle/>
        <a:p>
          <a:endParaRPr lang="en-US"/>
        </a:p>
      </dgm:t>
    </dgm:pt>
    <dgm:pt modelId="{FA1B05CD-C986-4A3C-9FB9-3B50D6FD7967}">
      <dgm:prSet/>
      <dgm:spPr/>
      <dgm:t>
        <a:bodyPr/>
        <a:lstStyle/>
        <a:p>
          <a:r>
            <a:rPr lang="en-US"/>
            <a:t>Severity</a:t>
          </a:r>
        </a:p>
      </dgm:t>
    </dgm:pt>
    <dgm:pt modelId="{023B67E2-232B-40BA-80C1-4BD505E47424}" type="parTrans" cxnId="{0E231416-48D3-4005-8F9B-07A7E15E5DD5}">
      <dgm:prSet/>
      <dgm:spPr/>
      <dgm:t>
        <a:bodyPr/>
        <a:lstStyle/>
        <a:p>
          <a:endParaRPr lang="en-US"/>
        </a:p>
      </dgm:t>
    </dgm:pt>
    <dgm:pt modelId="{6E1C5EDB-CED1-4C01-86FD-BCD670F6D5B5}" type="sibTrans" cxnId="{0E231416-48D3-4005-8F9B-07A7E15E5DD5}">
      <dgm:prSet/>
      <dgm:spPr/>
      <dgm:t>
        <a:bodyPr/>
        <a:lstStyle/>
        <a:p>
          <a:endParaRPr lang="en-US"/>
        </a:p>
      </dgm:t>
    </dgm:pt>
    <dgm:pt modelId="{43455B35-959B-4540-9923-7A07619D798B}">
      <dgm:prSet/>
      <dgm:spPr/>
      <dgm:t>
        <a:bodyPr/>
        <a:lstStyle/>
        <a:p>
          <a:r>
            <a:rPr lang="en-US"/>
            <a:t>Size of affected population</a:t>
          </a:r>
        </a:p>
      </dgm:t>
    </dgm:pt>
    <dgm:pt modelId="{2C667124-1FF0-44E2-AED1-A0AE006EB36D}" type="parTrans" cxnId="{ED38D5F1-5408-488F-8ED0-BD1B2D904312}">
      <dgm:prSet/>
      <dgm:spPr/>
      <dgm:t>
        <a:bodyPr/>
        <a:lstStyle/>
        <a:p>
          <a:endParaRPr lang="en-US"/>
        </a:p>
      </dgm:t>
    </dgm:pt>
    <dgm:pt modelId="{54FEAA01-B5C0-4B89-BAC4-BB0C3D71B40D}" type="sibTrans" cxnId="{ED38D5F1-5408-488F-8ED0-BD1B2D904312}">
      <dgm:prSet/>
      <dgm:spPr/>
      <dgm:t>
        <a:bodyPr/>
        <a:lstStyle/>
        <a:p>
          <a:endParaRPr lang="en-US"/>
        </a:p>
      </dgm:t>
    </dgm:pt>
    <dgm:pt modelId="{77EFCD24-8315-432B-ABF0-1827450D7867}">
      <dgm:prSet/>
      <dgm:spPr/>
      <dgm:t>
        <a:bodyPr/>
        <a:lstStyle/>
        <a:p>
          <a:r>
            <a:rPr lang="en-US"/>
            <a:t>Feasibility of intervention</a:t>
          </a:r>
        </a:p>
      </dgm:t>
    </dgm:pt>
    <dgm:pt modelId="{5371244C-2418-4CD7-9975-58D6A81D26BD}" type="parTrans" cxnId="{4E613689-61E3-42C3-A20B-F2C2719568FA}">
      <dgm:prSet/>
      <dgm:spPr/>
      <dgm:t>
        <a:bodyPr/>
        <a:lstStyle/>
        <a:p>
          <a:endParaRPr lang="en-US"/>
        </a:p>
      </dgm:t>
    </dgm:pt>
    <dgm:pt modelId="{E8606C40-0A6B-460E-A0D1-1AD4A7EA93C4}" type="sibTrans" cxnId="{4E613689-61E3-42C3-A20B-F2C2719568FA}">
      <dgm:prSet/>
      <dgm:spPr/>
      <dgm:t>
        <a:bodyPr/>
        <a:lstStyle/>
        <a:p>
          <a:endParaRPr lang="en-US"/>
        </a:p>
      </dgm:t>
    </dgm:pt>
    <dgm:pt modelId="{F7844A2B-BBA2-4C2D-9241-B984357D0D0C}">
      <dgm:prSet/>
      <dgm:spPr/>
      <dgm:t>
        <a:bodyPr/>
        <a:lstStyle/>
        <a:p>
          <a:r>
            <a:rPr lang="en-US"/>
            <a:t>Availability of resources</a:t>
          </a:r>
        </a:p>
      </dgm:t>
    </dgm:pt>
    <dgm:pt modelId="{3F4BEC02-6EBD-4161-B5C2-6DB59B70BE68}" type="parTrans" cxnId="{A2D222BF-4892-4A8B-B39A-DD177F6E9877}">
      <dgm:prSet/>
      <dgm:spPr/>
      <dgm:t>
        <a:bodyPr/>
        <a:lstStyle/>
        <a:p>
          <a:endParaRPr lang="en-US"/>
        </a:p>
      </dgm:t>
    </dgm:pt>
    <dgm:pt modelId="{85E5EACA-2478-42F4-8FDD-427DA9B48D57}" type="sibTrans" cxnId="{A2D222BF-4892-4A8B-B39A-DD177F6E9877}">
      <dgm:prSet/>
      <dgm:spPr/>
      <dgm:t>
        <a:bodyPr/>
        <a:lstStyle/>
        <a:p>
          <a:endParaRPr lang="en-US"/>
        </a:p>
      </dgm:t>
    </dgm:pt>
    <dgm:pt modelId="{7C413079-430C-4730-AA1F-E85AD8723CA9}" type="pres">
      <dgm:prSet presAssocID="{474D07DD-478A-4469-9BFA-2982B68C08AD}" presName="Name0" presStyleCnt="0">
        <dgm:presLayoutVars>
          <dgm:dir/>
          <dgm:animLvl val="lvl"/>
          <dgm:resizeHandles val="exact"/>
        </dgm:presLayoutVars>
      </dgm:prSet>
      <dgm:spPr/>
    </dgm:pt>
    <dgm:pt modelId="{7E8EA276-3CFB-4AC8-B959-20251EDF03F2}" type="pres">
      <dgm:prSet presAssocID="{F48984F9-76E1-4683-96BD-7F7D4579499F}" presName="composite" presStyleCnt="0"/>
      <dgm:spPr/>
    </dgm:pt>
    <dgm:pt modelId="{E3BED453-7E24-4D79-B191-08C484271B8E}" type="pres">
      <dgm:prSet presAssocID="{F48984F9-76E1-4683-96BD-7F7D4579499F}" presName="parTx" presStyleLbl="alignNode1" presStyleIdx="0" presStyleCnt="2">
        <dgm:presLayoutVars>
          <dgm:chMax val="0"/>
          <dgm:chPref val="0"/>
          <dgm:bulletEnabled val="1"/>
        </dgm:presLayoutVars>
      </dgm:prSet>
      <dgm:spPr/>
    </dgm:pt>
    <dgm:pt modelId="{1B44EF2A-0529-4C43-B076-4E6A5A705EDB}" type="pres">
      <dgm:prSet presAssocID="{F48984F9-76E1-4683-96BD-7F7D4579499F}" presName="desTx" presStyleLbl="alignAccFollowNode1" presStyleIdx="0" presStyleCnt="2">
        <dgm:presLayoutVars>
          <dgm:bulletEnabled val="1"/>
        </dgm:presLayoutVars>
      </dgm:prSet>
      <dgm:spPr/>
    </dgm:pt>
    <dgm:pt modelId="{D70457A2-E1A7-493E-8566-FCAC4121313A}" type="pres">
      <dgm:prSet presAssocID="{005D3D16-5E9C-4D8C-A263-8EA965410386}" presName="space" presStyleCnt="0"/>
      <dgm:spPr/>
    </dgm:pt>
    <dgm:pt modelId="{3E241DBA-8431-4033-AAA3-E9893BA2E723}" type="pres">
      <dgm:prSet presAssocID="{3B5C079D-F0DE-4E8E-A201-2D869D72E5F2}" presName="composite" presStyleCnt="0"/>
      <dgm:spPr/>
    </dgm:pt>
    <dgm:pt modelId="{83E0A819-88DB-4393-ABD9-816C90849FD4}" type="pres">
      <dgm:prSet presAssocID="{3B5C079D-F0DE-4E8E-A201-2D869D72E5F2}" presName="parTx" presStyleLbl="alignNode1" presStyleIdx="1" presStyleCnt="2">
        <dgm:presLayoutVars>
          <dgm:chMax val="0"/>
          <dgm:chPref val="0"/>
          <dgm:bulletEnabled val="1"/>
        </dgm:presLayoutVars>
      </dgm:prSet>
      <dgm:spPr/>
    </dgm:pt>
    <dgm:pt modelId="{DA14E193-4CAA-49A6-88D1-FD4C6CB91E2F}" type="pres">
      <dgm:prSet presAssocID="{3B5C079D-F0DE-4E8E-A201-2D869D72E5F2}" presName="desTx" presStyleLbl="alignAccFollowNode1" presStyleIdx="1" presStyleCnt="2">
        <dgm:presLayoutVars>
          <dgm:bulletEnabled val="1"/>
        </dgm:presLayoutVars>
      </dgm:prSet>
      <dgm:spPr/>
    </dgm:pt>
  </dgm:ptLst>
  <dgm:cxnLst>
    <dgm:cxn modelId="{CD1B0410-F7F2-4DC8-863D-2859F35AA343}" srcId="{3B5C079D-F0DE-4E8E-A201-2D869D72E5F2}" destId="{D023FB59-1D73-4C0E-9E24-E0CBAF3671B3}" srcOrd="1" destOrd="0" parTransId="{5A0AABC1-8DD7-4996-864D-FE861EC473FF}" sibTransId="{CDDC9610-627D-4052-B7EE-27DCD54B9D70}"/>
    <dgm:cxn modelId="{B863E511-2829-41ED-AF15-1632A70E2170}" type="presOf" srcId="{D3AFE05C-B18D-4EB5-8478-91F4277FC23E}" destId="{1B44EF2A-0529-4C43-B076-4E6A5A705EDB}" srcOrd="0" destOrd="0" presId="urn:microsoft.com/office/officeart/2005/8/layout/hList1"/>
    <dgm:cxn modelId="{0E231416-48D3-4005-8F9B-07A7E15E5DD5}" srcId="{D023FB59-1D73-4C0E-9E24-E0CBAF3671B3}" destId="{FA1B05CD-C986-4A3C-9FB9-3B50D6FD7967}" srcOrd="0" destOrd="0" parTransId="{023B67E2-232B-40BA-80C1-4BD505E47424}" sibTransId="{6E1C5EDB-CED1-4C01-86FD-BCD670F6D5B5}"/>
    <dgm:cxn modelId="{6C44A920-A418-41F4-9064-9AB34629C394}" type="presOf" srcId="{D023FB59-1D73-4C0E-9E24-E0CBAF3671B3}" destId="{DA14E193-4CAA-49A6-88D1-FD4C6CB91E2F}" srcOrd="0" destOrd="1" presId="urn:microsoft.com/office/officeart/2005/8/layout/hList1"/>
    <dgm:cxn modelId="{5DCB4823-16A7-4509-AE93-C88DFF80F418}" srcId="{F48984F9-76E1-4683-96BD-7F7D4579499F}" destId="{D3AFE05C-B18D-4EB5-8478-91F4277FC23E}" srcOrd="0" destOrd="0" parTransId="{B6920472-2883-49C7-A23A-88C2C1C0ACA6}" sibTransId="{DBE4B1FE-7197-4EC0-B826-8A5AE3D9CA70}"/>
    <dgm:cxn modelId="{3255042D-EADC-47CF-A387-50A155C61E60}" srcId="{474D07DD-478A-4469-9BFA-2982B68C08AD}" destId="{3B5C079D-F0DE-4E8E-A201-2D869D72E5F2}" srcOrd="1" destOrd="0" parTransId="{479C8007-E397-49C4-BE9C-61E1573D144E}" sibTransId="{70A3F97A-FE42-4EBE-AF87-E0DF9CEAED5F}"/>
    <dgm:cxn modelId="{9BB4142D-AE5C-45EB-9E78-EF3C05A8D3D8}" type="presOf" srcId="{3B5C079D-F0DE-4E8E-A201-2D869D72E5F2}" destId="{83E0A819-88DB-4393-ABD9-816C90849FD4}" srcOrd="0" destOrd="0" presId="urn:microsoft.com/office/officeart/2005/8/layout/hList1"/>
    <dgm:cxn modelId="{D2E9D637-97C7-4E05-8734-254DE0A084BB}" type="presOf" srcId="{F7844A2B-BBA2-4C2D-9241-B984357D0D0C}" destId="{DA14E193-4CAA-49A6-88D1-FD4C6CB91E2F}" srcOrd="0" destOrd="5" presId="urn:microsoft.com/office/officeart/2005/8/layout/hList1"/>
    <dgm:cxn modelId="{7F521148-0F89-4166-9382-F4EE63352705}" srcId="{F48984F9-76E1-4683-96BD-7F7D4579499F}" destId="{1222A7A3-7F4F-4B2A-A201-79734D4AC89C}" srcOrd="1" destOrd="0" parTransId="{ABE56518-5DE4-45D3-A4A1-BEE204FDEF6F}" sibTransId="{EB062AD3-E39B-4402-8F57-A1DE86C83303}"/>
    <dgm:cxn modelId="{EBCD6D88-CA13-4F37-B7F8-93A1FAC91B6A}" type="presOf" srcId="{1222A7A3-7F4F-4B2A-A201-79734D4AC89C}" destId="{1B44EF2A-0529-4C43-B076-4E6A5A705EDB}" srcOrd="0" destOrd="1" presId="urn:microsoft.com/office/officeart/2005/8/layout/hList1"/>
    <dgm:cxn modelId="{4E613689-61E3-42C3-A20B-F2C2719568FA}" srcId="{D023FB59-1D73-4C0E-9E24-E0CBAF3671B3}" destId="{77EFCD24-8315-432B-ABF0-1827450D7867}" srcOrd="2" destOrd="0" parTransId="{5371244C-2418-4CD7-9975-58D6A81D26BD}" sibTransId="{E8606C40-0A6B-460E-A0D1-1AD4A7EA93C4}"/>
    <dgm:cxn modelId="{8F7FA090-0A4C-493A-8088-73A142285831}" type="presOf" srcId="{474D07DD-478A-4469-9BFA-2982B68C08AD}" destId="{7C413079-430C-4730-AA1F-E85AD8723CA9}" srcOrd="0" destOrd="0" presId="urn:microsoft.com/office/officeart/2005/8/layout/hList1"/>
    <dgm:cxn modelId="{C9D53F94-86B6-4287-876B-3717B69A4428}" srcId="{3B5C079D-F0DE-4E8E-A201-2D869D72E5F2}" destId="{784320C6-662C-41BA-94B4-3B1D6597AF75}" srcOrd="0" destOrd="0" parTransId="{53FEEBDA-3F35-40E9-B2C3-17ABF64C4762}" sibTransId="{501B53AE-F828-456B-9048-067E3ECDDBC0}"/>
    <dgm:cxn modelId="{622279A1-D366-4AC4-9B67-BF65C6059E8A}" type="presOf" srcId="{784320C6-662C-41BA-94B4-3B1D6597AF75}" destId="{DA14E193-4CAA-49A6-88D1-FD4C6CB91E2F}" srcOrd="0" destOrd="0" presId="urn:microsoft.com/office/officeart/2005/8/layout/hList1"/>
    <dgm:cxn modelId="{59D0B5A9-EBD3-48C4-90E8-DD22ED3D544E}" type="presOf" srcId="{43455B35-959B-4540-9923-7A07619D798B}" destId="{DA14E193-4CAA-49A6-88D1-FD4C6CB91E2F}" srcOrd="0" destOrd="3" presId="urn:microsoft.com/office/officeart/2005/8/layout/hList1"/>
    <dgm:cxn modelId="{C578E7BB-3387-4222-A2D8-A859E763C0A7}" type="presOf" srcId="{FA1B05CD-C986-4A3C-9FB9-3B50D6FD7967}" destId="{DA14E193-4CAA-49A6-88D1-FD4C6CB91E2F}" srcOrd="0" destOrd="2" presId="urn:microsoft.com/office/officeart/2005/8/layout/hList1"/>
    <dgm:cxn modelId="{A2D222BF-4892-4A8B-B39A-DD177F6E9877}" srcId="{D023FB59-1D73-4C0E-9E24-E0CBAF3671B3}" destId="{F7844A2B-BBA2-4C2D-9241-B984357D0D0C}" srcOrd="3" destOrd="0" parTransId="{3F4BEC02-6EBD-4161-B5C2-6DB59B70BE68}" sibTransId="{85E5EACA-2478-42F4-8FDD-427DA9B48D57}"/>
    <dgm:cxn modelId="{EE2A73CF-1C41-41C2-B51C-AD787699A82A}" srcId="{474D07DD-478A-4469-9BFA-2982B68C08AD}" destId="{F48984F9-76E1-4683-96BD-7F7D4579499F}" srcOrd="0" destOrd="0" parTransId="{14309BAC-9A07-4AAD-B199-4A19D5402887}" sibTransId="{005D3D16-5E9C-4D8C-A263-8EA965410386}"/>
    <dgm:cxn modelId="{3D2600D7-E836-4B42-8870-A15DD2DE2925}" type="presOf" srcId="{E85B9F82-EB2A-4EE1-B080-8A0035D68109}" destId="{1B44EF2A-0529-4C43-B076-4E6A5A705EDB}" srcOrd="0" destOrd="2" presId="urn:microsoft.com/office/officeart/2005/8/layout/hList1"/>
    <dgm:cxn modelId="{456B31DD-0BDF-4336-82BE-C1676590073F}" type="presOf" srcId="{F48984F9-76E1-4683-96BD-7F7D4579499F}" destId="{E3BED453-7E24-4D79-B191-08C484271B8E}" srcOrd="0" destOrd="0" presId="urn:microsoft.com/office/officeart/2005/8/layout/hList1"/>
    <dgm:cxn modelId="{1389A2E1-DBBB-47D8-B765-904DD4627589}" type="presOf" srcId="{77EFCD24-8315-432B-ABF0-1827450D7867}" destId="{DA14E193-4CAA-49A6-88D1-FD4C6CB91E2F}" srcOrd="0" destOrd="4" presId="urn:microsoft.com/office/officeart/2005/8/layout/hList1"/>
    <dgm:cxn modelId="{52C79EED-994D-498F-8826-92AB38C81D5B}" srcId="{F48984F9-76E1-4683-96BD-7F7D4579499F}" destId="{E85B9F82-EB2A-4EE1-B080-8A0035D68109}" srcOrd="2" destOrd="0" parTransId="{B1962D2B-3EA1-42D7-9A2D-2268482D963D}" sibTransId="{50C4C95F-20D1-470B-AF52-CA1C8CF398E8}"/>
    <dgm:cxn modelId="{ED38D5F1-5408-488F-8ED0-BD1B2D904312}" srcId="{D023FB59-1D73-4C0E-9E24-E0CBAF3671B3}" destId="{43455B35-959B-4540-9923-7A07619D798B}" srcOrd="1" destOrd="0" parTransId="{2C667124-1FF0-44E2-AED1-A0AE006EB36D}" sibTransId="{54FEAA01-B5C0-4B89-BAC4-BB0C3D71B40D}"/>
    <dgm:cxn modelId="{D978553F-BA0B-4246-909D-A4EE29F072EB}" type="presParOf" srcId="{7C413079-430C-4730-AA1F-E85AD8723CA9}" destId="{7E8EA276-3CFB-4AC8-B959-20251EDF03F2}" srcOrd="0" destOrd="0" presId="urn:microsoft.com/office/officeart/2005/8/layout/hList1"/>
    <dgm:cxn modelId="{396AA451-7987-492B-97A0-76E3E8B3CE89}" type="presParOf" srcId="{7E8EA276-3CFB-4AC8-B959-20251EDF03F2}" destId="{E3BED453-7E24-4D79-B191-08C484271B8E}" srcOrd="0" destOrd="0" presId="urn:microsoft.com/office/officeart/2005/8/layout/hList1"/>
    <dgm:cxn modelId="{C93E91F7-B5AA-4F3E-AA77-3C4E82F8AB2E}" type="presParOf" srcId="{7E8EA276-3CFB-4AC8-B959-20251EDF03F2}" destId="{1B44EF2A-0529-4C43-B076-4E6A5A705EDB}" srcOrd="1" destOrd="0" presId="urn:microsoft.com/office/officeart/2005/8/layout/hList1"/>
    <dgm:cxn modelId="{BC410370-3C8B-47C1-AD87-0B43BD9343BA}" type="presParOf" srcId="{7C413079-430C-4730-AA1F-E85AD8723CA9}" destId="{D70457A2-E1A7-493E-8566-FCAC4121313A}" srcOrd="1" destOrd="0" presId="urn:microsoft.com/office/officeart/2005/8/layout/hList1"/>
    <dgm:cxn modelId="{5600035B-E569-4AA6-B964-71F3570280A4}" type="presParOf" srcId="{7C413079-430C-4730-AA1F-E85AD8723CA9}" destId="{3E241DBA-8431-4033-AAA3-E9893BA2E723}" srcOrd="2" destOrd="0" presId="urn:microsoft.com/office/officeart/2005/8/layout/hList1"/>
    <dgm:cxn modelId="{6E58A816-2FEC-4ED1-9661-F25CA64306AB}" type="presParOf" srcId="{3E241DBA-8431-4033-AAA3-E9893BA2E723}" destId="{83E0A819-88DB-4393-ABD9-816C90849FD4}" srcOrd="0" destOrd="0" presId="urn:microsoft.com/office/officeart/2005/8/layout/hList1"/>
    <dgm:cxn modelId="{87519EE5-CB30-4D65-AC83-570FFDE39D4B}" type="presParOf" srcId="{3E241DBA-8431-4033-AAA3-E9893BA2E723}" destId="{DA14E193-4CAA-49A6-88D1-FD4C6CB91E2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5C3DC9C-000C-4AB5-BAAF-B2AE695D202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8845796-A273-4D6E-80E1-49A28F263494}">
      <dgm:prSet/>
      <dgm:spPr/>
      <dgm:t>
        <a:bodyPr/>
        <a:lstStyle/>
        <a:p>
          <a:r>
            <a:rPr lang="en-US" i="0" baseline="0">
              <a:solidFill>
                <a:schemeClr val="tx1"/>
              </a:solidFill>
            </a:rPr>
            <a:t>Infant Mortality Rate (IMR), 2018:</a:t>
          </a:r>
          <a:endParaRPr lang="en-US">
            <a:solidFill>
              <a:schemeClr val="tx1"/>
            </a:solidFill>
          </a:endParaRPr>
        </a:p>
      </dgm:t>
    </dgm:pt>
    <dgm:pt modelId="{901E9CED-0BC1-4674-B589-76806A1316E5}" type="parTrans" cxnId="{A456C31F-9658-4C3A-A459-82FA4055C4F2}">
      <dgm:prSet/>
      <dgm:spPr/>
      <dgm:t>
        <a:bodyPr/>
        <a:lstStyle/>
        <a:p>
          <a:endParaRPr lang="en-US">
            <a:solidFill>
              <a:schemeClr val="tx1"/>
            </a:solidFill>
          </a:endParaRPr>
        </a:p>
      </dgm:t>
    </dgm:pt>
    <dgm:pt modelId="{6C628C24-A835-460C-98AD-61B1547FE346}" type="sibTrans" cxnId="{A456C31F-9658-4C3A-A459-82FA4055C4F2}">
      <dgm:prSet/>
      <dgm:spPr/>
      <dgm:t>
        <a:bodyPr/>
        <a:lstStyle/>
        <a:p>
          <a:endParaRPr lang="en-US">
            <a:solidFill>
              <a:schemeClr val="tx1"/>
            </a:solidFill>
          </a:endParaRPr>
        </a:p>
      </dgm:t>
    </dgm:pt>
    <dgm:pt modelId="{B946CADC-37E7-4FF9-9E52-09C673B7E30E}">
      <dgm:prSet/>
      <dgm:spPr/>
      <dgm:t>
        <a:bodyPr/>
        <a:lstStyle/>
        <a:p>
          <a:r>
            <a:rPr lang="en-US" i="0" baseline="0">
              <a:solidFill>
                <a:schemeClr val="tx1"/>
              </a:solidFill>
            </a:rPr>
            <a:t>India: 32 per 1000 live births</a:t>
          </a:r>
          <a:endParaRPr lang="en-US">
            <a:solidFill>
              <a:schemeClr val="tx1"/>
            </a:solidFill>
          </a:endParaRPr>
        </a:p>
      </dgm:t>
    </dgm:pt>
    <dgm:pt modelId="{2C6F91EF-94F9-49F7-B165-1DCCCDA71F67}" type="parTrans" cxnId="{C2EE57FE-970A-4342-80B8-7AA5BFBA046B}">
      <dgm:prSet/>
      <dgm:spPr/>
      <dgm:t>
        <a:bodyPr/>
        <a:lstStyle/>
        <a:p>
          <a:endParaRPr lang="en-US">
            <a:solidFill>
              <a:schemeClr val="tx1"/>
            </a:solidFill>
          </a:endParaRPr>
        </a:p>
      </dgm:t>
    </dgm:pt>
    <dgm:pt modelId="{978A9977-A2F5-41DC-BD0E-720F4576DDD5}" type="sibTrans" cxnId="{C2EE57FE-970A-4342-80B8-7AA5BFBA046B}">
      <dgm:prSet/>
      <dgm:spPr/>
      <dgm:t>
        <a:bodyPr/>
        <a:lstStyle/>
        <a:p>
          <a:endParaRPr lang="en-US">
            <a:solidFill>
              <a:schemeClr val="tx1"/>
            </a:solidFill>
          </a:endParaRPr>
        </a:p>
      </dgm:t>
    </dgm:pt>
    <dgm:pt modelId="{DBEE2C36-4E24-4CDD-A8EE-E42725517AE4}">
      <dgm:prSet/>
      <dgm:spPr/>
      <dgm:t>
        <a:bodyPr/>
        <a:lstStyle/>
        <a:p>
          <a:r>
            <a:rPr lang="en-US" i="0" baseline="0">
              <a:solidFill>
                <a:schemeClr val="tx1"/>
              </a:solidFill>
            </a:rPr>
            <a:t>World average: 29</a:t>
          </a:r>
          <a:endParaRPr lang="en-US">
            <a:solidFill>
              <a:schemeClr val="tx1"/>
            </a:solidFill>
          </a:endParaRPr>
        </a:p>
      </dgm:t>
    </dgm:pt>
    <dgm:pt modelId="{DB649D5E-9233-4D82-BC65-705DC0153552}" type="parTrans" cxnId="{228FA4FD-6786-4C1D-ADD3-33F42F14D72F}">
      <dgm:prSet/>
      <dgm:spPr/>
      <dgm:t>
        <a:bodyPr/>
        <a:lstStyle/>
        <a:p>
          <a:endParaRPr lang="en-US">
            <a:solidFill>
              <a:schemeClr val="tx1"/>
            </a:solidFill>
          </a:endParaRPr>
        </a:p>
      </dgm:t>
    </dgm:pt>
    <dgm:pt modelId="{3BBDF2AF-3699-4563-81E4-C45E5B79663A}" type="sibTrans" cxnId="{228FA4FD-6786-4C1D-ADD3-33F42F14D72F}">
      <dgm:prSet/>
      <dgm:spPr/>
      <dgm:t>
        <a:bodyPr/>
        <a:lstStyle/>
        <a:p>
          <a:endParaRPr lang="en-US">
            <a:solidFill>
              <a:schemeClr val="tx1"/>
            </a:solidFill>
          </a:endParaRPr>
        </a:p>
      </dgm:t>
    </dgm:pt>
    <dgm:pt modelId="{C8EE31EC-4DB0-4E65-8939-7EF02C29DF95}">
      <dgm:prSet/>
      <dgm:spPr/>
      <dgm:t>
        <a:bodyPr/>
        <a:lstStyle/>
        <a:p>
          <a:r>
            <a:rPr lang="en-US" i="0" baseline="0">
              <a:solidFill>
                <a:schemeClr val="tx1"/>
              </a:solidFill>
            </a:rPr>
            <a:t>Developed countries: as low as 5</a:t>
          </a:r>
          <a:endParaRPr lang="en-US">
            <a:solidFill>
              <a:schemeClr val="tx1"/>
            </a:solidFill>
          </a:endParaRPr>
        </a:p>
      </dgm:t>
    </dgm:pt>
    <dgm:pt modelId="{D516945E-1AD7-4DEE-BA44-4BAED29B9AB9}" type="parTrans" cxnId="{992861C4-1D2B-44B2-87E4-A59503B948EB}">
      <dgm:prSet/>
      <dgm:spPr/>
      <dgm:t>
        <a:bodyPr/>
        <a:lstStyle/>
        <a:p>
          <a:endParaRPr lang="en-US">
            <a:solidFill>
              <a:schemeClr val="tx1"/>
            </a:solidFill>
          </a:endParaRPr>
        </a:p>
      </dgm:t>
    </dgm:pt>
    <dgm:pt modelId="{B080E438-6925-41AB-8082-60CD4A660723}" type="sibTrans" cxnId="{992861C4-1D2B-44B2-87E4-A59503B948EB}">
      <dgm:prSet/>
      <dgm:spPr/>
      <dgm:t>
        <a:bodyPr/>
        <a:lstStyle/>
        <a:p>
          <a:endParaRPr lang="en-US">
            <a:solidFill>
              <a:schemeClr val="tx1"/>
            </a:solidFill>
          </a:endParaRPr>
        </a:p>
      </dgm:t>
    </dgm:pt>
    <dgm:pt modelId="{09F45653-C17D-47C7-82BB-9C8533BF210D}">
      <dgm:prSet/>
      <dgm:spPr/>
      <dgm:t>
        <a:bodyPr/>
        <a:lstStyle/>
        <a:p>
          <a:r>
            <a:rPr lang="en-US" i="0" baseline="0" dirty="0">
              <a:solidFill>
                <a:schemeClr val="tx1"/>
              </a:solidFill>
            </a:rPr>
            <a:t>State-wise IMR (2018):</a:t>
          </a:r>
          <a:endParaRPr lang="en-US" dirty="0">
            <a:solidFill>
              <a:schemeClr val="tx1"/>
            </a:solidFill>
          </a:endParaRPr>
        </a:p>
      </dgm:t>
    </dgm:pt>
    <dgm:pt modelId="{74755909-3039-4A1F-B8E3-32E22D33B63D}" type="parTrans" cxnId="{80A842E6-FF90-445F-89AF-D41AC9988D88}">
      <dgm:prSet/>
      <dgm:spPr/>
      <dgm:t>
        <a:bodyPr/>
        <a:lstStyle/>
        <a:p>
          <a:endParaRPr lang="en-US">
            <a:solidFill>
              <a:schemeClr val="tx1"/>
            </a:solidFill>
          </a:endParaRPr>
        </a:p>
      </dgm:t>
    </dgm:pt>
    <dgm:pt modelId="{6AC45A02-1C73-4B62-94F8-850BAFB4FB8F}" type="sibTrans" cxnId="{80A842E6-FF90-445F-89AF-D41AC9988D88}">
      <dgm:prSet/>
      <dgm:spPr/>
      <dgm:t>
        <a:bodyPr/>
        <a:lstStyle/>
        <a:p>
          <a:endParaRPr lang="en-US">
            <a:solidFill>
              <a:schemeClr val="tx1"/>
            </a:solidFill>
          </a:endParaRPr>
        </a:p>
      </dgm:t>
    </dgm:pt>
    <dgm:pt modelId="{7B7850E3-2356-4E07-8E2D-9A0B189B625D}">
      <dgm:prSet/>
      <dgm:spPr/>
      <dgm:t>
        <a:bodyPr/>
        <a:lstStyle/>
        <a:p>
          <a:r>
            <a:rPr lang="en-US" i="0" baseline="0">
              <a:solidFill>
                <a:schemeClr val="tx1"/>
              </a:solidFill>
            </a:rPr>
            <a:t>Kerala: Lowest – 7 per 1000</a:t>
          </a:r>
          <a:endParaRPr lang="en-US">
            <a:solidFill>
              <a:schemeClr val="tx1"/>
            </a:solidFill>
          </a:endParaRPr>
        </a:p>
      </dgm:t>
    </dgm:pt>
    <dgm:pt modelId="{15DE6556-B463-420F-90AB-50D99A3EC19E}" type="parTrans" cxnId="{BB85CB31-7020-494F-89F4-CEFDBA4A2E1D}">
      <dgm:prSet/>
      <dgm:spPr/>
      <dgm:t>
        <a:bodyPr/>
        <a:lstStyle/>
        <a:p>
          <a:endParaRPr lang="en-US">
            <a:solidFill>
              <a:schemeClr val="tx1"/>
            </a:solidFill>
          </a:endParaRPr>
        </a:p>
      </dgm:t>
    </dgm:pt>
    <dgm:pt modelId="{32400B26-F682-4EAB-9433-A64ABE58EC9A}" type="sibTrans" cxnId="{BB85CB31-7020-494F-89F4-CEFDBA4A2E1D}">
      <dgm:prSet/>
      <dgm:spPr/>
      <dgm:t>
        <a:bodyPr/>
        <a:lstStyle/>
        <a:p>
          <a:endParaRPr lang="en-US">
            <a:solidFill>
              <a:schemeClr val="tx1"/>
            </a:solidFill>
          </a:endParaRPr>
        </a:p>
      </dgm:t>
    </dgm:pt>
    <dgm:pt modelId="{6DE0E70C-FC52-4A4A-A8F0-FE03F53C5673}">
      <dgm:prSet/>
      <dgm:spPr/>
      <dgm:t>
        <a:bodyPr/>
        <a:lstStyle/>
        <a:p>
          <a:r>
            <a:rPr lang="en-US" i="0" baseline="0">
              <a:solidFill>
                <a:schemeClr val="tx1"/>
              </a:solidFill>
            </a:rPr>
            <a:t>Madhya Pradesh: Highest – 48 per 1000</a:t>
          </a:r>
          <a:endParaRPr lang="en-US">
            <a:solidFill>
              <a:schemeClr val="tx1"/>
            </a:solidFill>
          </a:endParaRPr>
        </a:p>
      </dgm:t>
    </dgm:pt>
    <dgm:pt modelId="{D25B051B-6131-451E-9840-65655A91251E}" type="parTrans" cxnId="{E2798A17-B585-4155-9E1F-736F01E23DBD}">
      <dgm:prSet/>
      <dgm:spPr/>
      <dgm:t>
        <a:bodyPr/>
        <a:lstStyle/>
        <a:p>
          <a:endParaRPr lang="en-US">
            <a:solidFill>
              <a:schemeClr val="tx1"/>
            </a:solidFill>
          </a:endParaRPr>
        </a:p>
      </dgm:t>
    </dgm:pt>
    <dgm:pt modelId="{FF6A182D-6936-4D09-A775-D37AF07D18E4}" type="sibTrans" cxnId="{E2798A17-B585-4155-9E1F-736F01E23DBD}">
      <dgm:prSet/>
      <dgm:spPr/>
      <dgm:t>
        <a:bodyPr/>
        <a:lstStyle/>
        <a:p>
          <a:endParaRPr lang="en-US">
            <a:solidFill>
              <a:schemeClr val="tx1"/>
            </a:solidFill>
          </a:endParaRPr>
        </a:p>
      </dgm:t>
    </dgm:pt>
    <dgm:pt modelId="{50F5FB5C-0883-44C0-B474-EC667E2A1002}" type="pres">
      <dgm:prSet presAssocID="{55C3DC9C-000C-4AB5-BAAF-B2AE695D202D}" presName="linear" presStyleCnt="0">
        <dgm:presLayoutVars>
          <dgm:animLvl val="lvl"/>
          <dgm:resizeHandles val="exact"/>
        </dgm:presLayoutVars>
      </dgm:prSet>
      <dgm:spPr/>
    </dgm:pt>
    <dgm:pt modelId="{AAAEDC05-7712-4F74-A922-D36A4ADD9A51}" type="pres">
      <dgm:prSet presAssocID="{78845796-A273-4D6E-80E1-49A28F263494}" presName="parentText" presStyleLbl="node1" presStyleIdx="0" presStyleCnt="2">
        <dgm:presLayoutVars>
          <dgm:chMax val="0"/>
          <dgm:bulletEnabled val="1"/>
        </dgm:presLayoutVars>
      </dgm:prSet>
      <dgm:spPr/>
    </dgm:pt>
    <dgm:pt modelId="{6026765B-5026-4975-89B7-5F693F5ACD2F}" type="pres">
      <dgm:prSet presAssocID="{78845796-A273-4D6E-80E1-49A28F263494}" presName="childText" presStyleLbl="revTx" presStyleIdx="0" presStyleCnt="2">
        <dgm:presLayoutVars>
          <dgm:bulletEnabled val="1"/>
        </dgm:presLayoutVars>
      </dgm:prSet>
      <dgm:spPr/>
    </dgm:pt>
    <dgm:pt modelId="{1C0286FB-CD75-4E66-8438-3BAC460066D1}" type="pres">
      <dgm:prSet presAssocID="{09F45653-C17D-47C7-82BB-9C8533BF210D}" presName="parentText" presStyleLbl="node1" presStyleIdx="1" presStyleCnt="2">
        <dgm:presLayoutVars>
          <dgm:chMax val="0"/>
          <dgm:bulletEnabled val="1"/>
        </dgm:presLayoutVars>
      </dgm:prSet>
      <dgm:spPr/>
    </dgm:pt>
    <dgm:pt modelId="{81CE39B5-9323-4612-B4FA-7FE7D55CD9A6}" type="pres">
      <dgm:prSet presAssocID="{09F45653-C17D-47C7-82BB-9C8533BF210D}" presName="childText" presStyleLbl="revTx" presStyleIdx="1" presStyleCnt="2">
        <dgm:presLayoutVars>
          <dgm:bulletEnabled val="1"/>
        </dgm:presLayoutVars>
      </dgm:prSet>
      <dgm:spPr/>
    </dgm:pt>
  </dgm:ptLst>
  <dgm:cxnLst>
    <dgm:cxn modelId="{E2798A17-B585-4155-9E1F-736F01E23DBD}" srcId="{09F45653-C17D-47C7-82BB-9C8533BF210D}" destId="{6DE0E70C-FC52-4A4A-A8F0-FE03F53C5673}" srcOrd="1" destOrd="0" parTransId="{D25B051B-6131-451E-9840-65655A91251E}" sibTransId="{FF6A182D-6936-4D09-A775-D37AF07D18E4}"/>
    <dgm:cxn modelId="{688F6018-4B22-43D2-ADF1-515C604E20F7}" type="presOf" srcId="{DBEE2C36-4E24-4CDD-A8EE-E42725517AE4}" destId="{6026765B-5026-4975-89B7-5F693F5ACD2F}" srcOrd="0" destOrd="1" presId="urn:microsoft.com/office/officeart/2005/8/layout/vList2"/>
    <dgm:cxn modelId="{A456C31F-9658-4C3A-A459-82FA4055C4F2}" srcId="{55C3DC9C-000C-4AB5-BAAF-B2AE695D202D}" destId="{78845796-A273-4D6E-80E1-49A28F263494}" srcOrd="0" destOrd="0" parTransId="{901E9CED-0BC1-4674-B589-76806A1316E5}" sibTransId="{6C628C24-A835-460C-98AD-61B1547FE346}"/>
    <dgm:cxn modelId="{BB85CB31-7020-494F-89F4-CEFDBA4A2E1D}" srcId="{09F45653-C17D-47C7-82BB-9C8533BF210D}" destId="{7B7850E3-2356-4E07-8E2D-9A0B189B625D}" srcOrd="0" destOrd="0" parTransId="{15DE6556-B463-420F-90AB-50D99A3EC19E}" sibTransId="{32400B26-F682-4EAB-9433-A64ABE58EC9A}"/>
    <dgm:cxn modelId="{576DA74A-5DD7-4C97-AFF3-C750D31AC518}" type="presOf" srcId="{09F45653-C17D-47C7-82BB-9C8533BF210D}" destId="{1C0286FB-CD75-4E66-8438-3BAC460066D1}" srcOrd="0" destOrd="0" presId="urn:microsoft.com/office/officeart/2005/8/layout/vList2"/>
    <dgm:cxn modelId="{6C83C275-13A4-445B-B142-582C7A80B7D6}" type="presOf" srcId="{55C3DC9C-000C-4AB5-BAAF-B2AE695D202D}" destId="{50F5FB5C-0883-44C0-B474-EC667E2A1002}" srcOrd="0" destOrd="0" presId="urn:microsoft.com/office/officeart/2005/8/layout/vList2"/>
    <dgm:cxn modelId="{D8ED4898-952A-4283-A905-2299FABCD761}" type="presOf" srcId="{7B7850E3-2356-4E07-8E2D-9A0B189B625D}" destId="{81CE39B5-9323-4612-B4FA-7FE7D55CD9A6}" srcOrd="0" destOrd="0" presId="urn:microsoft.com/office/officeart/2005/8/layout/vList2"/>
    <dgm:cxn modelId="{024BB9AB-7C82-42ED-9D14-AFC3CA8BABDF}" type="presOf" srcId="{C8EE31EC-4DB0-4E65-8939-7EF02C29DF95}" destId="{6026765B-5026-4975-89B7-5F693F5ACD2F}" srcOrd="0" destOrd="2" presId="urn:microsoft.com/office/officeart/2005/8/layout/vList2"/>
    <dgm:cxn modelId="{45A7A8B0-B5D8-4E8D-A8B5-1CBE1D8BBC50}" type="presOf" srcId="{78845796-A273-4D6E-80E1-49A28F263494}" destId="{AAAEDC05-7712-4F74-A922-D36A4ADD9A51}" srcOrd="0" destOrd="0" presId="urn:microsoft.com/office/officeart/2005/8/layout/vList2"/>
    <dgm:cxn modelId="{992861C4-1D2B-44B2-87E4-A59503B948EB}" srcId="{78845796-A273-4D6E-80E1-49A28F263494}" destId="{C8EE31EC-4DB0-4E65-8939-7EF02C29DF95}" srcOrd="2" destOrd="0" parTransId="{D516945E-1AD7-4DEE-BA44-4BAED29B9AB9}" sibTransId="{B080E438-6925-41AB-8082-60CD4A660723}"/>
    <dgm:cxn modelId="{FE9303DC-EE35-4D30-A5D6-F6E229772B07}" type="presOf" srcId="{6DE0E70C-FC52-4A4A-A8F0-FE03F53C5673}" destId="{81CE39B5-9323-4612-B4FA-7FE7D55CD9A6}" srcOrd="0" destOrd="1" presId="urn:microsoft.com/office/officeart/2005/8/layout/vList2"/>
    <dgm:cxn modelId="{80A842E6-FF90-445F-89AF-D41AC9988D88}" srcId="{55C3DC9C-000C-4AB5-BAAF-B2AE695D202D}" destId="{09F45653-C17D-47C7-82BB-9C8533BF210D}" srcOrd="1" destOrd="0" parTransId="{74755909-3039-4A1F-B8E3-32E22D33B63D}" sibTransId="{6AC45A02-1C73-4B62-94F8-850BAFB4FB8F}"/>
    <dgm:cxn modelId="{62C1B2F9-A2F2-4A07-80E6-4B815CAD884E}" type="presOf" srcId="{B946CADC-37E7-4FF9-9E52-09C673B7E30E}" destId="{6026765B-5026-4975-89B7-5F693F5ACD2F}" srcOrd="0" destOrd="0" presId="urn:microsoft.com/office/officeart/2005/8/layout/vList2"/>
    <dgm:cxn modelId="{228FA4FD-6786-4C1D-ADD3-33F42F14D72F}" srcId="{78845796-A273-4D6E-80E1-49A28F263494}" destId="{DBEE2C36-4E24-4CDD-A8EE-E42725517AE4}" srcOrd="1" destOrd="0" parTransId="{DB649D5E-9233-4D82-BC65-705DC0153552}" sibTransId="{3BBDF2AF-3699-4563-81E4-C45E5B79663A}"/>
    <dgm:cxn modelId="{C2EE57FE-970A-4342-80B8-7AA5BFBA046B}" srcId="{78845796-A273-4D6E-80E1-49A28F263494}" destId="{B946CADC-37E7-4FF9-9E52-09C673B7E30E}" srcOrd="0" destOrd="0" parTransId="{2C6F91EF-94F9-49F7-B165-1DCCCDA71F67}" sibTransId="{978A9977-A2F5-41DC-BD0E-720F4576DDD5}"/>
    <dgm:cxn modelId="{749D86D0-8516-4525-8D2F-4758AA144E99}" type="presParOf" srcId="{50F5FB5C-0883-44C0-B474-EC667E2A1002}" destId="{AAAEDC05-7712-4F74-A922-D36A4ADD9A51}" srcOrd="0" destOrd="0" presId="urn:microsoft.com/office/officeart/2005/8/layout/vList2"/>
    <dgm:cxn modelId="{3C6E2419-9F61-42FE-A65B-C400768A3A13}" type="presParOf" srcId="{50F5FB5C-0883-44C0-B474-EC667E2A1002}" destId="{6026765B-5026-4975-89B7-5F693F5ACD2F}" srcOrd="1" destOrd="0" presId="urn:microsoft.com/office/officeart/2005/8/layout/vList2"/>
    <dgm:cxn modelId="{B2CCFD7A-448F-4EDA-AED6-B24F06ABB1A5}" type="presParOf" srcId="{50F5FB5C-0883-44C0-B474-EC667E2A1002}" destId="{1C0286FB-CD75-4E66-8438-3BAC460066D1}" srcOrd="2" destOrd="0" presId="urn:microsoft.com/office/officeart/2005/8/layout/vList2"/>
    <dgm:cxn modelId="{34AB367F-6D67-425C-975A-E342FB8855A3}" type="presParOf" srcId="{50F5FB5C-0883-44C0-B474-EC667E2A1002}" destId="{81CE39B5-9323-4612-B4FA-7FE7D55CD9A6}"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5C3DC9C-000C-4AB5-BAAF-B2AE695D202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85D3454-C1C2-4210-A253-DCC39C8A2633}">
      <dgm:prSet/>
      <dgm:spPr/>
      <dgm:t>
        <a:bodyPr/>
        <a:lstStyle/>
        <a:p>
          <a:r>
            <a:rPr lang="en-US" i="0" baseline="0">
              <a:solidFill>
                <a:schemeClr val="tx1"/>
              </a:solidFill>
            </a:rPr>
            <a:t>Global Comparison:</a:t>
          </a:r>
          <a:endParaRPr lang="en-US">
            <a:solidFill>
              <a:schemeClr val="tx1"/>
            </a:solidFill>
          </a:endParaRPr>
        </a:p>
      </dgm:t>
    </dgm:pt>
    <dgm:pt modelId="{C8CDB495-BD2E-4BB6-8633-E59F732D1C10}" type="parTrans" cxnId="{458FAD58-BAC8-4DEB-BB34-E80CCD9433FE}">
      <dgm:prSet/>
      <dgm:spPr/>
      <dgm:t>
        <a:bodyPr/>
        <a:lstStyle/>
        <a:p>
          <a:endParaRPr lang="en-US">
            <a:solidFill>
              <a:schemeClr val="tx1"/>
            </a:solidFill>
          </a:endParaRPr>
        </a:p>
      </dgm:t>
    </dgm:pt>
    <dgm:pt modelId="{A8590232-6F88-47C7-99FB-AEC3FA377B82}" type="sibTrans" cxnId="{458FAD58-BAC8-4DEB-BB34-E80CCD9433FE}">
      <dgm:prSet/>
      <dgm:spPr/>
      <dgm:t>
        <a:bodyPr/>
        <a:lstStyle/>
        <a:p>
          <a:endParaRPr lang="en-US">
            <a:solidFill>
              <a:schemeClr val="tx1"/>
            </a:solidFill>
          </a:endParaRPr>
        </a:p>
      </dgm:t>
    </dgm:pt>
    <dgm:pt modelId="{4E7147DF-5739-4093-B1EE-5F6801030145}">
      <dgm:prSet/>
      <dgm:spPr/>
      <dgm:t>
        <a:bodyPr/>
        <a:lstStyle/>
        <a:p>
          <a:r>
            <a:rPr lang="en-US" i="0" baseline="0">
              <a:solidFill>
                <a:schemeClr val="tx1"/>
              </a:solidFill>
            </a:rPr>
            <a:t>India’s life expectancy (~68 years) lags 12–15 years behind developed nations (71–80 years)</a:t>
          </a:r>
          <a:endParaRPr lang="en-US">
            <a:solidFill>
              <a:schemeClr val="tx1"/>
            </a:solidFill>
          </a:endParaRPr>
        </a:p>
      </dgm:t>
    </dgm:pt>
    <dgm:pt modelId="{B47A34E5-8294-4FFC-B3AD-A3FE8A7A0BAC}" type="parTrans" cxnId="{D7D24A39-F66C-4B4F-867F-F62F64356B40}">
      <dgm:prSet/>
      <dgm:spPr/>
      <dgm:t>
        <a:bodyPr/>
        <a:lstStyle/>
        <a:p>
          <a:endParaRPr lang="en-US">
            <a:solidFill>
              <a:schemeClr val="tx1"/>
            </a:solidFill>
          </a:endParaRPr>
        </a:p>
      </dgm:t>
    </dgm:pt>
    <dgm:pt modelId="{193A19A8-F6AC-4290-ADC2-D8DA13AA88B6}" type="sibTrans" cxnId="{D7D24A39-F66C-4B4F-867F-F62F64356B40}">
      <dgm:prSet/>
      <dgm:spPr/>
      <dgm:t>
        <a:bodyPr/>
        <a:lstStyle/>
        <a:p>
          <a:endParaRPr lang="en-US">
            <a:solidFill>
              <a:schemeClr val="tx1"/>
            </a:solidFill>
          </a:endParaRPr>
        </a:p>
      </dgm:t>
    </dgm:pt>
    <dgm:pt modelId="{06A9A72B-531A-4474-A746-26F65448BB5E}">
      <dgm:prSet/>
      <dgm:spPr/>
      <dgm:t>
        <a:bodyPr/>
        <a:lstStyle/>
        <a:p>
          <a:r>
            <a:rPr lang="en-US" i="0" baseline="0">
              <a:solidFill>
                <a:schemeClr val="tx1"/>
              </a:solidFill>
            </a:rPr>
            <a:t>Despite improvements, India's mortality indicators highlight disparities and unmet needs, particularly in rural areas and less developed states.</a:t>
          </a:r>
          <a:endParaRPr lang="en-US">
            <a:solidFill>
              <a:schemeClr val="tx1"/>
            </a:solidFill>
          </a:endParaRPr>
        </a:p>
      </dgm:t>
    </dgm:pt>
    <dgm:pt modelId="{9B93086D-CF6B-40F9-9AB3-ABCE36430198}" type="parTrans" cxnId="{2E483223-293F-4794-9395-9C211D5A56E2}">
      <dgm:prSet/>
      <dgm:spPr/>
      <dgm:t>
        <a:bodyPr/>
        <a:lstStyle/>
        <a:p>
          <a:endParaRPr lang="en-US">
            <a:solidFill>
              <a:schemeClr val="tx1"/>
            </a:solidFill>
          </a:endParaRPr>
        </a:p>
      </dgm:t>
    </dgm:pt>
    <dgm:pt modelId="{9ED9251A-A415-42A5-8F6D-92739FFB59A9}" type="sibTrans" cxnId="{2E483223-293F-4794-9395-9C211D5A56E2}">
      <dgm:prSet/>
      <dgm:spPr/>
      <dgm:t>
        <a:bodyPr/>
        <a:lstStyle/>
        <a:p>
          <a:endParaRPr lang="en-US">
            <a:solidFill>
              <a:schemeClr val="tx1"/>
            </a:solidFill>
          </a:endParaRPr>
        </a:p>
      </dgm:t>
    </dgm:pt>
    <dgm:pt modelId="{50F5FB5C-0883-44C0-B474-EC667E2A1002}" type="pres">
      <dgm:prSet presAssocID="{55C3DC9C-000C-4AB5-BAAF-B2AE695D202D}" presName="linear" presStyleCnt="0">
        <dgm:presLayoutVars>
          <dgm:animLvl val="lvl"/>
          <dgm:resizeHandles val="exact"/>
        </dgm:presLayoutVars>
      </dgm:prSet>
      <dgm:spPr/>
    </dgm:pt>
    <dgm:pt modelId="{E6B58621-FBC6-48A0-B30D-D5BA22A0EFFB}" type="pres">
      <dgm:prSet presAssocID="{585D3454-C1C2-4210-A253-DCC39C8A2633}" presName="parentText" presStyleLbl="node1" presStyleIdx="0" presStyleCnt="2">
        <dgm:presLayoutVars>
          <dgm:chMax val="0"/>
          <dgm:bulletEnabled val="1"/>
        </dgm:presLayoutVars>
      </dgm:prSet>
      <dgm:spPr/>
    </dgm:pt>
    <dgm:pt modelId="{1F07440E-C0F2-45CE-97F5-7EC52A2891E8}" type="pres">
      <dgm:prSet presAssocID="{585D3454-C1C2-4210-A253-DCC39C8A2633}" presName="childText" presStyleLbl="revTx" presStyleIdx="0" presStyleCnt="1">
        <dgm:presLayoutVars>
          <dgm:bulletEnabled val="1"/>
        </dgm:presLayoutVars>
      </dgm:prSet>
      <dgm:spPr/>
    </dgm:pt>
    <dgm:pt modelId="{D67DCD3F-9C0C-4EF3-B26E-7F848F3076B7}" type="pres">
      <dgm:prSet presAssocID="{06A9A72B-531A-4474-A746-26F65448BB5E}" presName="parentText" presStyleLbl="node1" presStyleIdx="1" presStyleCnt="2">
        <dgm:presLayoutVars>
          <dgm:chMax val="0"/>
          <dgm:bulletEnabled val="1"/>
        </dgm:presLayoutVars>
      </dgm:prSet>
      <dgm:spPr/>
    </dgm:pt>
  </dgm:ptLst>
  <dgm:cxnLst>
    <dgm:cxn modelId="{7C396D18-CCE7-4114-B6C7-F4C8CEE56930}" type="presOf" srcId="{585D3454-C1C2-4210-A253-DCC39C8A2633}" destId="{E6B58621-FBC6-48A0-B30D-D5BA22A0EFFB}" srcOrd="0" destOrd="0" presId="urn:microsoft.com/office/officeart/2005/8/layout/vList2"/>
    <dgm:cxn modelId="{2E483223-293F-4794-9395-9C211D5A56E2}" srcId="{55C3DC9C-000C-4AB5-BAAF-B2AE695D202D}" destId="{06A9A72B-531A-4474-A746-26F65448BB5E}" srcOrd="1" destOrd="0" parTransId="{9B93086D-CF6B-40F9-9AB3-ABCE36430198}" sibTransId="{9ED9251A-A415-42A5-8F6D-92739FFB59A9}"/>
    <dgm:cxn modelId="{D7D24A39-F66C-4B4F-867F-F62F64356B40}" srcId="{585D3454-C1C2-4210-A253-DCC39C8A2633}" destId="{4E7147DF-5739-4093-B1EE-5F6801030145}" srcOrd="0" destOrd="0" parTransId="{B47A34E5-8294-4FFC-B3AD-A3FE8A7A0BAC}" sibTransId="{193A19A8-F6AC-4290-ADC2-D8DA13AA88B6}"/>
    <dgm:cxn modelId="{6C83C275-13A4-445B-B142-582C7A80B7D6}" type="presOf" srcId="{55C3DC9C-000C-4AB5-BAAF-B2AE695D202D}" destId="{50F5FB5C-0883-44C0-B474-EC667E2A1002}" srcOrd="0" destOrd="0" presId="urn:microsoft.com/office/officeart/2005/8/layout/vList2"/>
    <dgm:cxn modelId="{458FAD58-BAC8-4DEB-BB34-E80CCD9433FE}" srcId="{55C3DC9C-000C-4AB5-BAAF-B2AE695D202D}" destId="{585D3454-C1C2-4210-A253-DCC39C8A2633}" srcOrd="0" destOrd="0" parTransId="{C8CDB495-BD2E-4BB6-8633-E59F732D1C10}" sibTransId="{A8590232-6F88-47C7-99FB-AEC3FA377B82}"/>
    <dgm:cxn modelId="{DCFE2D80-05AA-4E2E-B9BC-A1C924EB8A0F}" type="presOf" srcId="{06A9A72B-531A-4474-A746-26F65448BB5E}" destId="{D67DCD3F-9C0C-4EF3-B26E-7F848F3076B7}" srcOrd="0" destOrd="0" presId="urn:microsoft.com/office/officeart/2005/8/layout/vList2"/>
    <dgm:cxn modelId="{09AB4BD5-BAFC-453B-A655-32F315C41763}" type="presOf" srcId="{4E7147DF-5739-4093-B1EE-5F6801030145}" destId="{1F07440E-C0F2-45CE-97F5-7EC52A2891E8}" srcOrd="0" destOrd="0" presId="urn:microsoft.com/office/officeart/2005/8/layout/vList2"/>
    <dgm:cxn modelId="{04F95A4D-FEAF-4746-82D2-933D2B8CDB12}" type="presParOf" srcId="{50F5FB5C-0883-44C0-B474-EC667E2A1002}" destId="{E6B58621-FBC6-48A0-B30D-D5BA22A0EFFB}" srcOrd="0" destOrd="0" presId="urn:microsoft.com/office/officeart/2005/8/layout/vList2"/>
    <dgm:cxn modelId="{877E9A1E-2580-4D07-AC9A-91B3D8381C56}" type="presParOf" srcId="{50F5FB5C-0883-44C0-B474-EC667E2A1002}" destId="{1F07440E-C0F2-45CE-97F5-7EC52A2891E8}" srcOrd="1" destOrd="0" presId="urn:microsoft.com/office/officeart/2005/8/layout/vList2"/>
    <dgm:cxn modelId="{32B29F28-FB67-4312-B37E-9E50B226EDD3}" type="presParOf" srcId="{50F5FB5C-0883-44C0-B474-EC667E2A1002}" destId="{D67DCD3F-9C0C-4EF3-B26E-7F848F3076B7}"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107F58E-2A20-46E8-934F-CBF292EA75EE}"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en-US"/>
        </a:p>
      </dgm:t>
    </dgm:pt>
    <dgm:pt modelId="{C8B15039-89F8-4AE4-9287-5F50A2BA84A0}">
      <dgm:prSet/>
      <dgm:spPr/>
      <dgm:t>
        <a:bodyPr/>
        <a:lstStyle/>
        <a:p>
          <a:r>
            <a:rPr lang="en-US" dirty="0">
              <a:solidFill>
                <a:schemeClr val="tx1"/>
              </a:solidFill>
            </a:rPr>
            <a:t>1. Communicable disease problems; </a:t>
          </a:r>
        </a:p>
      </dgm:t>
    </dgm:pt>
    <dgm:pt modelId="{1C4F9E4B-F40B-424A-B916-85EDBFDB361F}" type="parTrans" cxnId="{298158C7-549C-4862-A659-FA2593A8F1C7}">
      <dgm:prSet/>
      <dgm:spPr/>
      <dgm:t>
        <a:bodyPr/>
        <a:lstStyle/>
        <a:p>
          <a:endParaRPr lang="en-US">
            <a:solidFill>
              <a:schemeClr val="tx1"/>
            </a:solidFill>
          </a:endParaRPr>
        </a:p>
      </dgm:t>
    </dgm:pt>
    <dgm:pt modelId="{140131A4-2006-4554-959F-113B5CCB0A17}" type="sibTrans" cxnId="{298158C7-549C-4862-A659-FA2593A8F1C7}">
      <dgm:prSet/>
      <dgm:spPr/>
      <dgm:t>
        <a:bodyPr/>
        <a:lstStyle/>
        <a:p>
          <a:endParaRPr lang="en-US">
            <a:solidFill>
              <a:schemeClr val="tx1"/>
            </a:solidFill>
          </a:endParaRPr>
        </a:p>
      </dgm:t>
    </dgm:pt>
    <dgm:pt modelId="{FBC26199-C2F0-4149-A086-23E5335D70FD}">
      <dgm:prSet/>
      <dgm:spPr/>
      <dgm:t>
        <a:bodyPr/>
        <a:lstStyle/>
        <a:p>
          <a:r>
            <a:rPr lang="en-US">
              <a:solidFill>
                <a:schemeClr val="tx1"/>
              </a:solidFill>
            </a:rPr>
            <a:t>2. Non-communicable disease problems; </a:t>
          </a:r>
        </a:p>
      </dgm:t>
    </dgm:pt>
    <dgm:pt modelId="{28BCC175-1803-4DB2-98E3-968BFBBE750E}" type="parTrans" cxnId="{33C042BF-A9A6-402A-AF03-239B53FACCC0}">
      <dgm:prSet/>
      <dgm:spPr/>
      <dgm:t>
        <a:bodyPr/>
        <a:lstStyle/>
        <a:p>
          <a:endParaRPr lang="en-US">
            <a:solidFill>
              <a:schemeClr val="tx1"/>
            </a:solidFill>
          </a:endParaRPr>
        </a:p>
      </dgm:t>
    </dgm:pt>
    <dgm:pt modelId="{85EF9082-900C-4789-9A2F-24EC676CC607}" type="sibTrans" cxnId="{33C042BF-A9A6-402A-AF03-239B53FACCC0}">
      <dgm:prSet/>
      <dgm:spPr/>
      <dgm:t>
        <a:bodyPr/>
        <a:lstStyle/>
        <a:p>
          <a:endParaRPr lang="en-US">
            <a:solidFill>
              <a:schemeClr val="tx1"/>
            </a:solidFill>
          </a:endParaRPr>
        </a:p>
      </dgm:t>
    </dgm:pt>
    <dgm:pt modelId="{7CFA8F23-FDF4-4E9E-8627-3604B079D532}">
      <dgm:prSet/>
      <dgm:spPr/>
      <dgm:t>
        <a:bodyPr/>
        <a:lstStyle/>
        <a:p>
          <a:r>
            <a:rPr lang="en-US">
              <a:solidFill>
                <a:schemeClr val="tx1"/>
              </a:solidFill>
            </a:rPr>
            <a:t>3. Nutritional problems; </a:t>
          </a:r>
        </a:p>
      </dgm:t>
    </dgm:pt>
    <dgm:pt modelId="{465608C8-97D9-4AE6-9B87-DC4448DFEAD1}" type="parTrans" cxnId="{3F27A942-46B5-4252-9841-87BE78AF425A}">
      <dgm:prSet/>
      <dgm:spPr/>
      <dgm:t>
        <a:bodyPr/>
        <a:lstStyle/>
        <a:p>
          <a:endParaRPr lang="en-US">
            <a:solidFill>
              <a:schemeClr val="tx1"/>
            </a:solidFill>
          </a:endParaRPr>
        </a:p>
      </dgm:t>
    </dgm:pt>
    <dgm:pt modelId="{39452F0A-DB78-4443-BF89-91FCFE638151}" type="sibTrans" cxnId="{3F27A942-46B5-4252-9841-87BE78AF425A}">
      <dgm:prSet/>
      <dgm:spPr/>
      <dgm:t>
        <a:bodyPr/>
        <a:lstStyle/>
        <a:p>
          <a:endParaRPr lang="en-US">
            <a:solidFill>
              <a:schemeClr val="tx1"/>
            </a:solidFill>
          </a:endParaRPr>
        </a:p>
      </dgm:t>
    </dgm:pt>
    <dgm:pt modelId="{CF701AAE-8C15-4A55-A4ED-665A7D4BA934}">
      <dgm:prSet/>
      <dgm:spPr/>
      <dgm:t>
        <a:bodyPr/>
        <a:lstStyle/>
        <a:p>
          <a:r>
            <a:rPr lang="en-US">
              <a:solidFill>
                <a:schemeClr val="tx1"/>
              </a:solidFill>
            </a:rPr>
            <a:t>4. Environmental sanitation problems; </a:t>
          </a:r>
        </a:p>
      </dgm:t>
    </dgm:pt>
    <dgm:pt modelId="{04872955-3300-40C8-8FD8-E791EE2BB624}" type="parTrans" cxnId="{7ED92534-D1EE-459F-9A6D-1F2C5571CF86}">
      <dgm:prSet/>
      <dgm:spPr/>
      <dgm:t>
        <a:bodyPr/>
        <a:lstStyle/>
        <a:p>
          <a:endParaRPr lang="en-US">
            <a:solidFill>
              <a:schemeClr val="tx1"/>
            </a:solidFill>
          </a:endParaRPr>
        </a:p>
      </dgm:t>
    </dgm:pt>
    <dgm:pt modelId="{3DF1059E-54C7-4A43-B84B-CF18110BF902}" type="sibTrans" cxnId="{7ED92534-D1EE-459F-9A6D-1F2C5571CF86}">
      <dgm:prSet/>
      <dgm:spPr/>
      <dgm:t>
        <a:bodyPr/>
        <a:lstStyle/>
        <a:p>
          <a:endParaRPr lang="en-US">
            <a:solidFill>
              <a:schemeClr val="tx1"/>
            </a:solidFill>
          </a:endParaRPr>
        </a:p>
      </dgm:t>
    </dgm:pt>
    <dgm:pt modelId="{711772FF-CBE9-4145-9329-FF3F29E84919}">
      <dgm:prSet/>
      <dgm:spPr/>
      <dgm:t>
        <a:bodyPr/>
        <a:lstStyle/>
        <a:p>
          <a:r>
            <a:rPr lang="en-US">
              <a:solidFill>
                <a:schemeClr val="tx1"/>
              </a:solidFill>
            </a:rPr>
            <a:t>5. Medical care problems; </a:t>
          </a:r>
        </a:p>
      </dgm:t>
    </dgm:pt>
    <dgm:pt modelId="{B8415E4D-FEA3-4489-A063-0DD56D533929}" type="parTrans" cxnId="{DEE9C3A3-87B9-41A6-847B-7E8D1486264A}">
      <dgm:prSet/>
      <dgm:spPr/>
      <dgm:t>
        <a:bodyPr/>
        <a:lstStyle/>
        <a:p>
          <a:endParaRPr lang="en-US">
            <a:solidFill>
              <a:schemeClr val="tx1"/>
            </a:solidFill>
          </a:endParaRPr>
        </a:p>
      </dgm:t>
    </dgm:pt>
    <dgm:pt modelId="{C25E5E03-2A54-4EE1-848E-E61051B826D3}" type="sibTrans" cxnId="{DEE9C3A3-87B9-41A6-847B-7E8D1486264A}">
      <dgm:prSet/>
      <dgm:spPr/>
      <dgm:t>
        <a:bodyPr/>
        <a:lstStyle/>
        <a:p>
          <a:endParaRPr lang="en-US">
            <a:solidFill>
              <a:schemeClr val="tx1"/>
            </a:solidFill>
          </a:endParaRPr>
        </a:p>
      </dgm:t>
    </dgm:pt>
    <dgm:pt modelId="{F5F10C1E-8BEB-41F8-A131-F1E1D899A3A8}">
      <dgm:prSet/>
      <dgm:spPr/>
      <dgm:t>
        <a:bodyPr/>
        <a:lstStyle/>
        <a:p>
          <a:r>
            <a:rPr lang="en-US">
              <a:solidFill>
                <a:schemeClr val="tx1"/>
              </a:solidFill>
            </a:rPr>
            <a:t>6. Population problems.</a:t>
          </a:r>
        </a:p>
      </dgm:t>
    </dgm:pt>
    <dgm:pt modelId="{A11479A1-C4F5-453B-8286-268F399B47DD}" type="parTrans" cxnId="{0C1028ED-BFBB-4570-B977-932602DC575B}">
      <dgm:prSet/>
      <dgm:spPr/>
      <dgm:t>
        <a:bodyPr/>
        <a:lstStyle/>
        <a:p>
          <a:endParaRPr lang="en-US">
            <a:solidFill>
              <a:schemeClr val="tx1"/>
            </a:solidFill>
          </a:endParaRPr>
        </a:p>
      </dgm:t>
    </dgm:pt>
    <dgm:pt modelId="{F5175710-78C4-4E5A-BB4E-7D0DFBDA7F11}" type="sibTrans" cxnId="{0C1028ED-BFBB-4570-B977-932602DC575B}">
      <dgm:prSet/>
      <dgm:spPr/>
      <dgm:t>
        <a:bodyPr/>
        <a:lstStyle/>
        <a:p>
          <a:endParaRPr lang="en-US">
            <a:solidFill>
              <a:schemeClr val="tx1"/>
            </a:solidFill>
          </a:endParaRPr>
        </a:p>
      </dgm:t>
    </dgm:pt>
    <dgm:pt modelId="{70EA656E-330B-420D-9A88-1A4568D8A92C}" type="pres">
      <dgm:prSet presAssocID="{3107F58E-2A20-46E8-934F-CBF292EA75EE}" presName="linear" presStyleCnt="0">
        <dgm:presLayoutVars>
          <dgm:animLvl val="lvl"/>
          <dgm:resizeHandles val="exact"/>
        </dgm:presLayoutVars>
      </dgm:prSet>
      <dgm:spPr/>
    </dgm:pt>
    <dgm:pt modelId="{22ABFD4F-A7C3-492E-8E86-086417EA09C4}" type="pres">
      <dgm:prSet presAssocID="{C8B15039-89F8-4AE4-9287-5F50A2BA84A0}" presName="parentText" presStyleLbl="node1" presStyleIdx="0" presStyleCnt="6">
        <dgm:presLayoutVars>
          <dgm:chMax val="0"/>
          <dgm:bulletEnabled val="1"/>
        </dgm:presLayoutVars>
      </dgm:prSet>
      <dgm:spPr/>
    </dgm:pt>
    <dgm:pt modelId="{3DF17917-0F56-45EF-9A4F-A5AEEE94E9FA}" type="pres">
      <dgm:prSet presAssocID="{140131A4-2006-4554-959F-113B5CCB0A17}" presName="spacer" presStyleCnt="0"/>
      <dgm:spPr/>
    </dgm:pt>
    <dgm:pt modelId="{C962EBA7-D7A7-455D-9E7B-C42F45B41763}" type="pres">
      <dgm:prSet presAssocID="{FBC26199-C2F0-4149-A086-23E5335D70FD}" presName="parentText" presStyleLbl="node1" presStyleIdx="1" presStyleCnt="6">
        <dgm:presLayoutVars>
          <dgm:chMax val="0"/>
          <dgm:bulletEnabled val="1"/>
        </dgm:presLayoutVars>
      </dgm:prSet>
      <dgm:spPr/>
    </dgm:pt>
    <dgm:pt modelId="{A9D5F118-FCB5-4E21-8F50-9B4B8D4C0D73}" type="pres">
      <dgm:prSet presAssocID="{85EF9082-900C-4789-9A2F-24EC676CC607}" presName="spacer" presStyleCnt="0"/>
      <dgm:spPr/>
    </dgm:pt>
    <dgm:pt modelId="{744CF8B0-43DD-4877-B1C5-E698E9276CD8}" type="pres">
      <dgm:prSet presAssocID="{7CFA8F23-FDF4-4E9E-8627-3604B079D532}" presName="parentText" presStyleLbl="node1" presStyleIdx="2" presStyleCnt="6">
        <dgm:presLayoutVars>
          <dgm:chMax val="0"/>
          <dgm:bulletEnabled val="1"/>
        </dgm:presLayoutVars>
      </dgm:prSet>
      <dgm:spPr/>
    </dgm:pt>
    <dgm:pt modelId="{55A3BF26-E2F6-4D3A-A814-BC4BA382606D}" type="pres">
      <dgm:prSet presAssocID="{39452F0A-DB78-4443-BF89-91FCFE638151}" presName="spacer" presStyleCnt="0"/>
      <dgm:spPr/>
    </dgm:pt>
    <dgm:pt modelId="{B5B801FC-F1FB-4BF9-8489-EE6816F69521}" type="pres">
      <dgm:prSet presAssocID="{CF701AAE-8C15-4A55-A4ED-665A7D4BA934}" presName="parentText" presStyleLbl="node1" presStyleIdx="3" presStyleCnt="6">
        <dgm:presLayoutVars>
          <dgm:chMax val="0"/>
          <dgm:bulletEnabled val="1"/>
        </dgm:presLayoutVars>
      </dgm:prSet>
      <dgm:spPr/>
    </dgm:pt>
    <dgm:pt modelId="{D3108CDA-D6E2-40D2-AC5B-86B726914E4A}" type="pres">
      <dgm:prSet presAssocID="{3DF1059E-54C7-4A43-B84B-CF18110BF902}" presName="spacer" presStyleCnt="0"/>
      <dgm:spPr/>
    </dgm:pt>
    <dgm:pt modelId="{72790829-CC38-457C-9E47-2BDACEB978A1}" type="pres">
      <dgm:prSet presAssocID="{711772FF-CBE9-4145-9329-FF3F29E84919}" presName="parentText" presStyleLbl="node1" presStyleIdx="4" presStyleCnt="6">
        <dgm:presLayoutVars>
          <dgm:chMax val="0"/>
          <dgm:bulletEnabled val="1"/>
        </dgm:presLayoutVars>
      </dgm:prSet>
      <dgm:spPr/>
    </dgm:pt>
    <dgm:pt modelId="{B2B5D893-028D-44FB-9C31-6E9C7C12715F}" type="pres">
      <dgm:prSet presAssocID="{C25E5E03-2A54-4EE1-848E-E61051B826D3}" presName="spacer" presStyleCnt="0"/>
      <dgm:spPr/>
    </dgm:pt>
    <dgm:pt modelId="{66734B53-888C-485F-82CE-099CDF0B05F7}" type="pres">
      <dgm:prSet presAssocID="{F5F10C1E-8BEB-41F8-A131-F1E1D899A3A8}" presName="parentText" presStyleLbl="node1" presStyleIdx="5" presStyleCnt="6">
        <dgm:presLayoutVars>
          <dgm:chMax val="0"/>
          <dgm:bulletEnabled val="1"/>
        </dgm:presLayoutVars>
      </dgm:prSet>
      <dgm:spPr/>
    </dgm:pt>
  </dgm:ptLst>
  <dgm:cxnLst>
    <dgm:cxn modelId="{51C3B811-527D-4B93-89C7-C65592073A4F}" type="presOf" srcId="{7CFA8F23-FDF4-4E9E-8627-3604B079D532}" destId="{744CF8B0-43DD-4877-B1C5-E698E9276CD8}" srcOrd="0" destOrd="0" presId="urn:microsoft.com/office/officeart/2005/8/layout/vList2"/>
    <dgm:cxn modelId="{071FF124-BFD3-433F-B695-2B0855C0D046}" type="presOf" srcId="{3107F58E-2A20-46E8-934F-CBF292EA75EE}" destId="{70EA656E-330B-420D-9A88-1A4568D8A92C}" srcOrd="0" destOrd="0" presId="urn:microsoft.com/office/officeart/2005/8/layout/vList2"/>
    <dgm:cxn modelId="{7ED92534-D1EE-459F-9A6D-1F2C5571CF86}" srcId="{3107F58E-2A20-46E8-934F-CBF292EA75EE}" destId="{CF701AAE-8C15-4A55-A4ED-665A7D4BA934}" srcOrd="3" destOrd="0" parTransId="{04872955-3300-40C8-8FD8-E791EE2BB624}" sibTransId="{3DF1059E-54C7-4A43-B84B-CF18110BF902}"/>
    <dgm:cxn modelId="{F2BA8934-34FA-428A-972D-FB6D83A81DC7}" type="presOf" srcId="{C8B15039-89F8-4AE4-9287-5F50A2BA84A0}" destId="{22ABFD4F-A7C3-492E-8E86-086417EA09C4}" srcOrd="0" destOrd="0" presId="urn:microsoft.com/office/officeart/2005/8/layout/vList2"/>
    <dgm:cxn modelId="{12D3B534-EEE9-4DA5-AA46-69D4242F5AC0}" type="presOf" srcId="{FBC26199-C2F0-4149-A086-23E5335D70FD}" destId="{C962EBA7-D7A7-455D-9E7B-C42F45B41763}" srcOrd="0" destOrd="0" presId="urn:microsoft.com/office/officeart/2005/8/layout/vList2"/>
    <dgm:cxn modelId="{3F27A942-46B5-4252-9841-87BE78AF425A}" srcId="{3107F58E-2A20-46E8-934F-CBF292EA75EE}" destId="{7CFA8F23-FDF4-4E9E-8627-3604B079D532}" srcOrd="2" destOrd="0" parTransId="{465608C8-97D9-4AE6-9B87-DC4448DFEAD1}" sibTransId="{39452F0A-DB78-4443-BF89-91FCFE638151}"/>
    <dgm:cxn modelId="{0E180451-BB05-467E-89F7-6C668B576D02}" type="presOf" srcId="{F5F10C1E-8BEB-41F8-A131-F1E1D899A3A8}" destId="{66734B53-888C-485F-82CE-099CDF0B05F7}" srcOrd="0" destOrd="0" presId="urn:microsoft.com/office/officeart/2005/8/layout/vList2"/>
    <dgm:cxn modelId="{DEE9C3A3-87B9-41A6-847B-7E8D1486264A}" srcId="{3107F58E-2A20-46E8-934F-CBF292EA75EE}" destId="{711772FF-CBE9-4145-9329-FF3F29E84919}" srcOrd="4" destOrd="0" parTransId="{B8415E4D-FEA3-4489-A063-0DD56D533929}" sibTransId="{C25E5E03-2A54-4EE1-848E-E61051B826D3}"/>
    <dgm:cxn modelId="{98DA61BE-B60E-4CF1-AE21-AC9704F1BE2A}" type="presOf" srcId="{CF701AAE-8C15-4A55-A4ED-665A7D4BA934}" destId="{B5B801FC-F1FB-4BF9-8489-EE6816F69521}" srcOrd="0" destOrd="0" presId="urn:microsoft.com/office/officeart/2005/8/layout/vList2"/>
    <dgm:cxn modelId="{33C042BF-A9A6-402A-AF03-239B53FACCC0}" srcId="{3107F58E-2A20-46E8-934F-CBF292EA75EE}" destId="{FBC26199-C2F0-4149-A086-23E5335D70FD}" srcOrd="1" destOrd="0" parTransId="{28BCC175-1803-4DB2-98E3-968BFBBE750E}" sibTransId="{85EF9082-900C-4789-9A2F-24EC676CC607}"/>
    <dgm:cxn modelId="{298158C7-549C-4862-A659-FA2593A8F1C7}" srcId="{3107F58E-2A20-46E8-934F-CBF292EA75EE}" destId="{C8B15039-89F8-4AE4-9287-5F50A2BA84A0}" srcOrd="0" destOrd="0" parTransId="{1C4F9E4B-F40B-424A-B916-85EDBFDB361F}" sibTransId="{140131A4-2006-4554-959F-113B5CCB0A17}"/>
    <dgm:cxn modelId="{5947C9D3-19FF-4CFC-A51A-9C783C5B12EE}" type="presOf" srcId="{711772FF-CBE9-4145-9329-FF3F29E84919}" destId="{72790829-CC38-457C-9E47-2BDACEB978A1}" srcOrd="0" destOrd="0" presId="urn:microsoft.com/office/officeart/2005/8/layout/vList2"/>
    <dgm:cxn modelId="{0C1028ED-BFBB-4570-B977-932602DC575B}" srcId="{3107F58E-2A20-46E8-934F-CBF292EA75EE}" destId="{F5F10C1E-8BEB-41F8-A131-F1E1D899A3A8}" srcOrd="5" destOrd="0" parTransId="{A11479A1-C4F5-453B-8286-268F399B47DD}" sibTransId="{F5175710-78C4-4E5A-BB4E-7D0DFBDA7F11}"/>
    <dgm:cxn modelId="{1D346780-C015-4362-B22A-11541876C9EF}" type="presParOf" srcId="{70EA656E-330B-420D-9A88-1A4568D8A92C}" destId="{22ABFD4F-A7C3-492E-8E86-086417EA09C4}" srcOrd="0" destOrd="0" presId="urn:microsoft.com/office/officeart/2005/8/layout/vList2"/>
    <dgm:cxn modelId="{7E55D93E-01E6-4618-9892-1B5B1B759EBD}" type="presParOf" srcId="{70EA656E-330B-420D-9A88-1A4568D8A92C}" destId="{3DF17917-0F56-45EF-9A4F-A5AEEE94E9FA}" srcOrd="1" destOrd="0" presId="urn:microsoft.com/office/officeart/2005/8/layout/vList2"/>
    <dgm:cxn modelId="{59B64E56-A3C7-45DE-B2CD-C0DDE802A5CA}" type="presParOf" srcId="{70EA656E-330B-420D-9A88-1A4568D8A92C}" destId="{C962EBA7-D7A7-455D-9E7B-C42F45B41763}" srcOrd="2" destOrd="0" presId="urn:microsoft.com/office/officeart/2005/8/layout/vList2"/>
    <dgm:cxn modelId="{19043CDF-E3B8-495C-A86A-3FE65816F389}" type="presParOf" srcId="{70EA656E-330B-420D-9A88-1A4568D8A92C}" destId="{A9D5F118-FCB5-4E21-8F50-9B4B8D4C0D73}" srcOrd="3" destOrd="0" presId="urn:microsoft.com/office/officeart/2005/8/layout/vList2"/>
    <dgm:cxn modelId="{67CB6362-7E42-4BE7-A53C-635652392C04}" type="presParOf" srcId="{70EA656E-330B-420D-9A88-1A4568D8A92C}" destId="{744CF8B0-43DD-4877-B1C5-E698E9276CD8}" srcOrd="4" destOrd="0" presId="urn:microsoft.com/office/officeart/2005/8/layout/vList2"/>
    <dgm:cxn modelId="{304C1933-63E6-441C-9414-77FF0A88DBD4}" type="presParOf" srcId="{70EA656E-330B-420D-9A88-1A4568D8A92C}" destId="{55A3BF26-E2F6-4D3A-A814-BC4BA382606D}" srcOrd="5" destOrd="0" presId="urn:microsoft.com/office/officeart/2005/8/layout/vList2"/>
    <dgm:cxn modelId="{4E18E498-6180-4C35-AB42-F093656C4D14}" type="presParOf" srcId="{70EA656E-330B-420D-9A88-1A4568D8A92C}" destId="{B5B801FC-F1FB-4BF9-8489-EE6816F69521}" srcOrd="6" destOrd="0" presId="urn:microsoft.com/office/officeart/2005/8/layout/vList2"/>
    <dgm:cxn modelId="{5EFAAC48-59F4-4E8C-AA45-9F8B96BD662B}" type="presParOf" srcId="{70EA656E-330B-420D-9A88-1A4568D8A92C}" destId="{D3108CDA-D6E2-40D2-AC5B-86B726914E4A}" srcOrd="7" destOrd="0" presId="urn:microsoft.com/office/officeart/2005/8/layout/vList2"/>
    <dgm:cxn modelId="{71324C6C-294E-4E7C-8BF5-8A2E8D9AC0A7}" type="presParOf" srcId="{70EA656E-330B-420D-9A88-1A4568D8A92C}" destId="{72790829-CC38-457C-9E47-2BDACEB978A1}" srcOrd="8" destOrd="0" presId="urn:microsoft.com/office/officeart/2005/8/layout/vList2"/>
    <dgm:cxn modelId="{B7B375F6-E73B-49F4-9379-38A6645F06B6}" type="presParOf" srcId="{70EA656E-330B-420D-9A88-1A4568D8A92C}" destId="{B2B5D893-028D-44FB-9C31-6E9C7C12715F}" srcOrd="9" destOrd="0" presId="urn:microsoft.com/office/officeart/2005/8/layout/vList2"/>
    <dgm:cxn modelId="{778658D1-B2E1-47CE-8B90-7AA10E0CD2EE}" type="presParOf" srcId="{70EA656E-330B-420D-9A88-1A4568D8A92C}" destId="{66734B53-888C-485F-82CE-099CDF0B05F7}"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348B09A-DAE6-44CF-A276-5EBBE623DF98}"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497404C-534F-40BD-B4B6-A98AE3856553}">
      <dgm:prSet/>
      <dgm:spPr/>
      <dgm:t>
        <a:bodyPr/>
        <a:lstStyle/>
        <a:p>
          <a:pPr algn="l">
            <a:lnSpc>
              <a:spcPct val="100000"/>
            </a:lnSpc>
            <a:defRPr b="1"/>
          </a:pPr>
          <a:r>
            <a:rPr lang="en-US" b="1"/>
            <a:t>Tuberculosis (TB)</a:t>
          </a:r>
          <a:endParaRPr lang="en-US"/>
        </a:p>
      </dgm:t>
    </dgm:pt>
    <dgm:pt modelId="{D59561D8-A0C8-40BC-9CAC-312B6989827A}" type="parTrans" cxnId="{20EFFD9C-C554-426D-A814-FA23BA529DA3}">
      <dgm:prSet/>
      <dgm:spPr/>
      <dgm:t>
        <a:bodyPr/>
        <a:lstStyle/>
        <a:p>
          <a:pPr algn="l"/>
          <a:endParaRPr lang="en-US"/>
        </a:p>
      </dgm:t>
    </dgm:pt>
    <dgm:pt modelId="{DEE75F45-77BC-4E6F-AE6B-C04290121D34}" type="sibTrans" cxnId="{20EFFD9C-C554-426D-A814-FA23BA529DA3}">
      <dgm:prSet/>
      <dgm:spPr/>
      <dgm:t>
        <a:bodyPr/>
        <a:lstStyle/>
        <a:p>
          <a:pPr algn="l"/>
          <a:endParaRPr lang="en-US"/>
        </a:p>
      </dgm:t>
    </dgm:pt>
    <dgm:pt modelId="{D5221041-F64E-4767-822C-3FC0DEE72E1D}">
      <dgm:prSet custT="1"/>
      <dgm:spPr/>
      <dgm:t>
        <a:bodyPr/>
        <a:lstStyle/>
        <a:p>
          <a:pPr algn="l">
            <a:lnSpc>
              <a:spcPct val="100000"/>
            </a:lnSpc>
            <a:buFont typeface="Arial" panose="020B0604020202020204" pitchFamily="34" charset="0"/>
            <a:buChar char="•"/>
          </a:pPr>
          <a:r>
            <a:rPr lang="en-US" sz="2400" dirty="0"/>
            <a:t>~2.2 million cases/year (India has highest global burden)</a:t>
          </a:r>
        </a:p>
      </dgm:t>
    </dgm:pt>
    <dgm:pt modelId="{704C2F05-EA70-47D6-80C0-539E5AB4C895}" type="parTrans" cxnId="{B6571662-30EB-4D67-8883-E880B0B854DA}">
      <dgm:prSet/>
      <dgm:spPr/>
      <dgm:t>
        <a:bodyPr/>
        <a:lstStyle/>
        <a:p>
          <a:pPr algn="l"/>
          <a:endParaRPr lang="en-US"/>
        </a:p>
      </dgm:t>
    </dgm:pt>
    <dgm:pt modelId="{AAA1D7A8-1C53-4E48-8AA7-A7A536AA66DB}" type="sibTrans" cxnId="{B6571662-30EB-4D67-8883-E880B0B854DA}">
      <dgm:prSet/>
      <dgm:spPr/>
      <dgm:t>
        <a:bodyPr/>
        <a:lstStyle/>
        <a:p>
          <a:pPr algn="l"/>
          <a:endParaRPr lang="en-US"/>
        </a:p>
      </dgm:t>
    </dgm:pt>
    <dgm:pt modelId="{91986580-D9ED-41CA-8C7A-048EFABED786}">
      <dgm:prSet custT="1"/>
      <dgm:spPr/>
      <dgm:t>
        <a:bodyPr/>
        <a:lstStyle/>
        <a:p>
          <a:pPr algn="l">
            <a:lnSpc>
              <a:spcPct val="100000"/>
            </a:lnSpc>
            <a:buFont typeface="Arial" panose="020B0604020202020204" pitchFamily="34" charset="0"/>
            <a:buChar char="•"/>
          </a:pPr>
          <a:r>
            <a:rPr lang="en-US" sz="2400" dirty="0"/>
            <a:t>Rise of MDR-TB and XDR-TB</a:t>
          </a:r>
        </a:p>
      </dgm:t>
    </dgm:pt>
    <dgm:pt modelId="{8D75686C-2035-4AE3-9626-0223E930EE70}" type="parTrans" cxnId="{B2D6EF54-5DC5-4AF5-B494-5DDB3281F80F}">
      <dgm:prSet/>
      <dgm:spPr/>
      <dgm:t>
        <a:bodyPr/>
        <a:lstStyle/>
        <a:p>
          <a:pPr algn="l"/>
          <a:endParaRPr lang="en-US"/>
        </a:p>
      </dgm:t>
    </dgm:pt>
    <dgm:pt modelId="{A098A75C-358D-4469-8790-6DBE28DFBD70}" type="sibTrans" cxnId="{B2D6EF54-5DC5-4AF5-B494-5DDB3281F80F}">
      <dgm:prSet/>
      <dgm:spPr/>
      <dgm:t>
        <a:bodyPr/>
        <a:lstStyle/>
        <a:p>
          <a:pPr algn="l"/>
          <a:endParaRPr lang="en-US"/>
        </a:p>
      </dgm:t>
    </dgm:pt>
    <dgm:pt modelId="{B5635EE4-6424-47A7-8935-8876EF83226D}">
      <dgm:prSet custT="1"/>
      <dgm:spPr/>
      <dgm:t>
        <a:bodyPr/>
        <a:lstStyle/>
        <a:p>
          <a:pPr algn="l">
            <a:lnSpc>
              <a:spcPct val="100000"/>
            </a:lnSpc>
            <a:buFont typeface="Arial" panose="020B0604020202020204" pitchFamily="34" charset="0"/>
            <a:buChar char="•"/>
          </a:pPr>
          <a:r>
            <a:rPr lang="en-US" sz="2400" dirty="0"/>
            <a:t>DOTS strategy, Ni-</a:t>
          </a:r>
          <a:r>
            <a:rPr lang="en-US" sz="2400" dirty="0" err="1"/>
            <a:t>kshay</a:t>
          </a:r>
          <a:r>
            <a:rPr lang="en-US" sz="2400" dirty="0"/>
            <a:t> portal, Poshan Yojana</a:t>
          </a:r>
        </a:p>
      </dgm:t>
    </dgm:pt>
    <dgm:pt modelId="{10AF8777-52CF-4519-A5EF-C7E7A9418CB0}" type="parTrans" cxnId="{D2C08390-D518-402E-A45C-D1AF83DEAF93}">
      <dgm:prSet/>
      <dgm:spPr/>
      <dgm:t>
        <a:bodyPr/>
        <a:lstStyle/>
        <a:p>
          <a:pPr algn="l"/>
          <a:endParaRPr lang="en-US"/>
        </a:p>
      </dgm:t>
    </dgm:pt>
    <dgm:pt modelId="{761F5FB0-6484-4C28-B6E6-F8E781B3B279}" type="sibTrans" cxnId="{D2C08390-D518-402E-A45C-D1AF83DEAF93}">
      <dgm:prSet/>
      <dgm:spPr/>
      <dgm:t>
        <a:bodyPr/>
        <a:lstStyle/>
        <a:p>
          <a:pPr algn="l"/>
          <a:endParaRPr lang="en-US"/>
        </a:p>
      </dgm:t>
    </dgm:pt>
    <dgm:pt modelId="{4603D2BB-DDF4-4EC5-8496-8751F0D7D7A8}">
      <dgm:prSet custT="1"/>
      <dgm:spPr/>
      <dgm:t>
        <a:bodyPr/>
        <a:lstStyle/>
        <a:p>
          <a:pPr algn="l">
            <a:lnSpc>
              <a:spcPct val="100000"/>
            </a:lnSpc>
            <a:buFont typeface="Arial" panose="020B0604020202020204" pitchFamily="34" charset="0"/>
            <a:buChar char="•"/>
          </a:pPr>
          <a:r>
            <a:rPr lang="en-US" sz="2400" dirty="0"/>
            <a:t>2019 guidelines: shorter regimens &amp; universal DST</a:t>
          </a:r>
        </a:p>
      </dgm:t>
    </dgm:pt>
    <dgm:pt modelId="{7B6B9C71-D54A-491C-BDE4-6A281F9616D6}" type="parTrans" cxnId="{65B42EE3-F3CF-4A35-9284-C4E9CF2DA65E}">
      <dgm:prSet/>
      <dgm:spPr/>
      <dgm:t>
        <a:bodyPr/>
        <a:lstStyle/>
        <a:p>
          <a:pPr algn="l"/>
          <a:endParaRPr lang="en-US"/>
        </a:p>
      </dgm:t>
    </dgm:pt>
    <dgm:pt modelId="{FFF9F74F-EA0A-402C-9578-12B9FF1DF395}" type="sibTrans" cxnId="{65B42EE3-F3CF-4A35-9284-C4E9CF2DA65E}">
      <dgm:prSet/>
      <dgm:spPr/>
      <dgm:t>
        <a:bodyPr/>
        <a:lstStyle/>
        <a:p>
          <a:pPr algn="l"/>
          <a:endParaRPr lang="en-US"/>
        </a:p>
      </dgm:t>
    </dgm:pt>
    <dgm:pt modelId="{FADF7649-4A41-459B-9E70-F1819BE5726C}">
      <dgm:prSet/>
      <dgm:spPr/>
      <dgm:t>
        <a:bodyPr/>
        <a:lstStyle/>
        <a:p>
          <a:pPr algn="l">
            <a:lnSpc>
              <a:spcPct val="100000"/>
            </a:lnSpc>
            <a:defRPr b="1"/>
          </a:pPr>
          <a:r>
            <a:rPr lang="en-US" b="1"/>
            <a:t>Leprosy</a:t>
          </a:r>
          <a:endParaRPr lang="en-US"/>
        </a:p>
      </dgm:t>
    </dgm:pt>
    <dgm:pt modelId="{BCEF46A0-D276-4BDA-ADF4-FB5A51287DB1}" type="parTrans" cxnId="{7C59129C-6BE0-4737-9A6A-A2F1A05CA842}">
      <dgm:prSet/>
      <dgm:spPr/>
      <dgm:t>
        <a:bodyPr/>
        <a:lstStyle/>
        <a:p>
          <a:pPr algn="l"/>
          <a:endParaRPr lang="en-US"/>
        </a:p>
      </dgm:t>
    </dgm:pt>
    <dgm:pt modelId="{58208423-82A3-4A89-BAB9-5EF6A1A8CEB7}" type="sibTrans" cxnId="{7C59129C-6BE0-4737-9A6A-A2F1A05CA842}">
      <dgm:prSet/>
      <dgm:spPr/>
      <dgm:t>
        <a:bodyPr/>
        <a:lstStyle/>
        <a:p>
          <a:pPr algn="l"/>
          <a:endParaRPr lang="en-US"/>
        </a:p>
      </dgm:t>
    </dgm:pt>
    <dgm:pt modelId="{AF0A3241-6EED-4F59-937A-791CE34B9CA7}">
      <dgm:prSet custT="1"/>
      <dgm:spPr/>
      <dgm:t>
        <a:bodyPr/>
        <a:lstStyle/>
        <a:p>
          <a:pPr algn="l">
            <a:lnSpc>
              <a:spcPct val="100000"/>
            </a:lnSpc>
            <a:buFont typeface="Arial" panose="020B0604020202020204" pitchFamily="34" charset="0"/>
            <a:buChar char="•"/>
          </a:pPr>
          <a:r>
            <a:rPr lang="en-US" sz="2400"/>
            <a:t>Caused by </a:t>
          </a:r>
          <a:r>
            <a:rPr lang="en-US" sz="2400" i="1"/>
            <a:t>Mycobacterium leprae</a:t>
          </a:r>
          <a:endParaRPr lang="en-US" sz="2400"/>
        </a:p>
      </dgm:t>
    </dgm:pt>
    <dgm:pt modelId="{D8CE4C5F-DB31-44AE-85A4-CDCD9379A39F}" type="parTrans" cxnId="{1B23E987-3BFA-4B9C-80C4-0F521EE90A68}">
      <dgm:prSet/>
      <dgm:spPr/>
      <dgm:t>
        <a:bodyPr/>
        <a:lstStyle/>
        <a:p>
          <a:pPr algn="l"/>
          <a:endParaRPr lang="en-US"/>
        </a:p>
      </dgm:t>
    </dgm:pt>
    <dgm:pt modelId="{36582E42-5551-4634-AE52-C9AFAFA29CE9}" type="sibTrans" cxnId="{1B23E987-3BFA-4B9C-80C4-0F521EE90A68}">
      <dgm:prSet/>
      <dgm:spPr/>
      <dgm:t>
        <a:bodyPr/>
        <a:lstStyle/>
        <a:p>
          <a:pPr algn="l"/>
          <a:endParaRPr lang="en-US"/>
        </a:p>
      </dgm:t>
    </dgm:pt>
    <dgm:pt modelId="{E41FF424-CD8D-4DBA-A484-B049ADB8ECA8}">
      <dgm:prSet custT="1"/>
      <dgm:spPr/>
      <dgm:t>
        <a:bodyPr/>
        <a:lstStyle/>
        <a:p>
          <a:pPr algn="l">
            <a:lnSpc>
              <a:spcPct val="100000"/>
            </a:lnSpc>
            <a:buFont typeface="Arial" panose="020B0604020202020204" pitchFamily="34" charset="0"/>
            <a:buChar char="•"/>
          </a:pPr>
          <a:r>
            <a:rPr lang="en-US" sz="2400"/>
            <a:t>Endemic in pockets; MDT (Rifampicin, Dapsone, Clofazimine)</a:t>
          </a:r>
        </a:p>
      </dgm:t>
    </dgm:pt>
    <dgm:pt modelId="{AB0A9E07-E903-495F-8AD2-39C8C79EC096}" type="parTrans" cxnId="{24025FDD-BEDE-4FBE-860E-EE701C1ED2FD}">
      <dgm:prSet/>
      <dgm:spPr/>
      <dgm:t>
        <a:bodyPr/>
        <a:lstStyle/>
        <a:p>
          <a:pPr algn="l"/>
          <a:endParaRPr lang="en-US"/>
        </a:p>
      </dgm:t>
    </dgm:pt>
    <dgm:pt modelId="{4C782087-47CA-4999-80D1-DE045D07AB18}" type="sibTrans" cxnId="{24025FDD-BEDE-4FBE-860E-EE701C1ED2FD}">
      <dgm:prSet/>
      <dgm:spPr/>
      <dgm:t>
        <a:bodyPr/>
        <a:lstStyle/>
        <a:p>
          <a:pPr algn="l"/>
          <a:endParaRPr lang="en-US"/>
        </a:p>
      </dgm:t>
    </dgm:pt>
    <dgm:pt modelId="{A274B213-FA4A-43C7-8823-9BEFA61FDFF4}">
      <dgm:prSet custT="1"/>
      <dgm:spPr/>
      <dgm:t>
        <a:bodyPr/>
        <a:lstStyle/>
        <a:p>
          <a:pPr algn="l">
            <a:lnSpc>
              <a:spcPct val="100000"/>
            </a:lnSpc>
            <a:buFont typeface="Arial" panose="020B0604020202020204" pitchFamily="34" charset="0"/>
            <a:buChar char="•"/>
          </a:pPr>
          <a:r>
            <a:rPr lang="en-US" sz="2400"/>
            <a:t>Sparsh Campaign for awareness</a:t>
          </a:r>
        </a:p>
      </dgm:t>
    </dgm:pt>
    <dgm:pt modelId="{52D9C60A-D963-48E9-BA2F-12BCBA58874B}" type="parTrans" cxnId="{3C36D59E-5B97-40DC-8921-C1E53A23C17A}">
      <dgm:prSet/>
      <dgm:spPr/>
      <dgm:t>
        <a:bodyPr/>
        <a:lstStyle/>
        <a:p>
          <a:pPr algn="l"/>
          <a:endParaRPr lang="en-US"/>
        </a:p>
      </dgm:t>
    </dgm:pt>
    <dgm:pt modelId="{E9FD4135-9C7F-4CE3-B461-C81D2F8BF97E}" type="sibTrans" cxnId="{3C36D59E-5B97-40DC-8921-C1E53A23C17A}">
      <dgm:prSet/>
      <dgm:spPr/>
      <dgm:t>
        <a:bodyPr/>
        <a:lstStyle/>
        <a:p>
          <a:pPr algn="l"/>
          <a:endParaRPr lang="en-US"/>
        </a:p>
      </dgm:t>
    </dgm:pt>
    <dgm:pt modelId="{8B760750-D69B-4DF8-9DA2-1DBC1CC6A64C}">
      <dgm:prSet custT="1"/>
      <dgm:spPr/>
      <dgm:t>
        <a:bodyPr/>
        <a:lstStyle/>
        <a:p>
          <a:pPr algn="l">
            <a:lnSpc>
              <a:spcPct val="100000"/>
            </a:lnSpc>
            <a:buFont typeface="Arial" panose="020B0604020202020204" pitchFamily="34" charset="0"/>
            <a:buChar char="•"/>
          </a:pPr>
          <a:r>
            <a:rPr lang="en-US" sz="2400"/>
            <a:t>Focus on early detection &amp; disability prevention</a:t>
          </a:r>
        </a:p>
      </dgm:t>
    </dgm:pt>
    <dgm:pt modelId="{00A09645-3B66-41AD-A96F-5ED924CED98D}" type="parTrans" cxnId="{B48FB086-6EAC-4246-B50E-8172F4C4E2D1}">
      <dgm:prSet/>
      <dgm:spPr/>
      <dgm:t>
        <a:bodyPr/>
        <a:lstStyle/>
        <a:p>
          <a:pPr algn="l"/>
          <a:endParaRPr lang="en-US"/>
        </a:p>
      </dgm:t>
    </dgm:pt>
    <dgm:pt modelId="{D3E5D6DD-CC22-49BE-ABC8-E96B12B7B46C}" type="sibTrans" cxnId="{B48FB086-6EAC-4246-B50E-8172F4C4E2D1}">
      <dgm:prSet/>
      <dgm:spPr/>
      <dgm:t>
        <a:bodyPr/>
        <a:lstStyle/>
        <a:p>
          <a:pPr algn="l"/>
          <a:endParaRPr lang="en-US"/>
        </a:p>
      </dgm:t>
    </dgm:pt>
    <dgm:pt modelId="{4867DB40-5EE2-47A9-B1FE-C4028E222C87}" type="pres">
      <dgm:prSet presAssocID="{0348B09A-DAE6-44CF-A276-5EBBE623DF98}" presName="root" presStyleCnt="0">
        <dgm:presLayoutVars>
          <dgm:dir/>
          <dgm:resizeHandles val="exact"/>
        </dgm:presLayoutVars>
      </dgm:prSet>
      <dgm:spPr/>
    </dgm:pt>
    <dgm:pt modelId="{3632F4F8-B741-413E-BFEB-B3506554F54F}" type="pres">
      <dgm:prSet presAssocID="{A497404C-534F-40BD-B4B6-A98AE3856553}" presName="compNode" presStyleCnt="0"/>
      <dgm:spPr/>
    </dgm:pt>
    <dgm:pt modelId="{A2256848-9F35-48A9-8C9D-A853397D5044}" type="pres">
      <dgm:prSet presAssocID="{A497404C-534F-40BD-B4B6-A98AE385655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tor"/>
        </a:ext>
      </dgm:extLst>
    </dgm:pt>
    <dgm:pt modelId="{E86B2CDC-D87C-4FA7-B8B3-C8A0DEE4A4F4}" type="pres">
      <dgm:prSet presAssocID="{A497404C-534F-40BD-B4B6-A98AE3856553}" presName="iconSpace" presStyleCnt="0"/>
      <dgm:spPr/>
    </dgm:pt>
    <dgm:pt modelId="{3AA034FC-F9BB-42CF-B236-AE40D3598F2C}" type="pres">
      <dgm:prSet presAssocID="{A497404C-534F-40BD-B4B6-A98AE3856553}" presName="parTx" presStyleLbl="revTx" presStyleIdx="0" presStyleCnt="4">
        <dgm:presLayoutVars>
          <dgm:chMax val="0"/>
          <dgm:chPref val="0"/>
        </dgm:presLayoutVars>
      </dgm:prSet>
      <dgm:spPr/>
    </dgm:pt>
    <dgm:pt modelId="{D387AE03-0A8D-4BF1-8C99-A25A0CA1B1B0}" type="pres">
      <dgm:prSet presAssocID="{A497404C-534F-40BD-B4B6-A98AE3856553}" presName="txSpace" presStyleCnt="0"/>
      <dgm:spPr/>
    </dgm:pt>
    <dgm:pt modelId="{B0737122-2053-491F-AAFE-2C7D93729726}" type="pres">
      <dgm:prSet presAssocID="{A497404C-534F-40BD-B4B6-A98AE3856553}" presName="desTx" presStyleLbl="revTx" presStyleIdx="1" presStyleCnt="4">
        <dgm:presLayoutVars/>
      </dgm:prSet>
      <dgm:spPr/>
    </dgm:pt>
    <dgm:pt modelId="{8786A714-9610-470F-9B56-28AA9A00DB6C}" type="pres">
      <dgm:prSet presAssocID="{DEE75F45-77BC-4E6F-AE6B-C04290121D34}" presName="sibTrans" presStyleCnt="0"/>
      <dgm:spPr/>
    </dgm:pt>
    <dgm:pt modelId="{27E894B0-AAA6-4D52-B341-7E4B56EF94FF}" type="pres">
      <dgm:prSet presAssocID="{FADF7649-4A41-459B-9E70-F1819BE5726C}" presName="compNode" presStyleCnt="0"/>
      <dgm:spPr/>
    </dgm:pt>
    <dgm:pt modelId="{D53C4939-D4A8-419A-B089-CA813661ACC4}" type="pres">
      <dgm:prSet presAssocID="{FADF7649-4A41-459B-9E70-F1819BE5726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asshopper"/>
        </a:ext>
      </dgm:extLst>
    </dgm:pt>
    <dgm:pt modelId="{DA991B5F-9E63-4D3B-A89E-764535631A01}" type="pres">
      <dgm:prSet presAssocID="{FADF7649-4A41-459B-9E70-F1819BE5726C}" presName="iconSpace" presStyleCnt="0"/>
      <dgm:spPr/>
    </dgm:pt>
    <dgm:pt modelId="{C6F8F996-79E7-4051-A1EE-D9094CABF07A}" type="pres">
      <dgm:prSet presAssocID="{FADF7649-4A41-459B-9E70-F1819BE5726C}" presName="parTx" presStyleLbl="revTx" presStyleIdx="2" presStyleCnt="4">
        <dgm:presLayoutVars>
          <dgm:chMax val="0"/>
          <dgm:chPref val="0"/>
        </dgm:presLayoutVars>
      </dgm:prSet>
      <dgm:spPr/>
    </dgm:pt>
    <dgm:pt modelId="{22EBC3E4-CE9A-44B8-AEED-85ACA6E3B886}" type="pres">
      <dgm:prSet presAssocID="{FADF7649-4A41-459B-9E70-F1819BE5726C}" presName="txSpace" presStyleCnt="0"/>
      <dgm:spPr/>
    </dgm:pt>
    <dgm:pt modelId="{A01E7F00-B4BD-4CBC-88BB-B86E0424F170}" type="pres">
      <dgm:prSet presAssocID="{FADF7649-4A41-459B-9E70-F1819BE5726C}" presName="desTx" presStyleLbl="revTx" presStyleIdx="3" presStyleCnt="4">
        <dgm:presLayoutVars/>
      </dgm:prSet>
      <dgm:spPr/>
    </dgm:pt>
  </dgm:ptLst>
  <dgm:cxnLst>
    <dgm:cxn modelId="{9993832D-EE4C-4158-9545-3DDD79F71440}" type="presOf" srcId="{FADF7649-4A41-459B-9E70-F1819BE5726C}" destId="{C6F8F996-79E7-4051-A1EE-D9094CABF07A}" srcOrd="0" destOrd="0" presId="urn:microsoft.com/office/officeart/2018/5/layout/CenteredIconLabelDescriptionList"/>
    <dgm:cxn modelId="{1E200C33-2820-42FE-A90E-8E75886486CF}" type="presOf" srcId="{8B760750-D69B-4DF8-9DA2-1DBC1CC6A64C}" destId="{A01E7F00-B4BD-4CBC-88BB-B86E0424F170}" srcOrd="0" destOrd="3" presId="urn:microsoft.com/office/officeart/2018/5/layout/CenteredIconLabelDescriptionList"/>
    <dgm:cxn modelId="{B6571662-30EB-4D67-8883-E880B0B854DA}" srcId="{A497404C-534F-40BD-B4B6-A98AE3856553}" destId="{D5221041-F64E-4767-822C-3FC0DEE72E1D}" srcOrd="0" destOrd="0" parTransId="{704C2F05-EA70-47D6-80C0-539E5AB4C895}" sibTransId="{AAA1D7A8-1C53-4E48-8AA7-A7A536AA66DB}"/>
    <dgm:cxn modelId="{537DDD66-EBBC-44FF-A992-A84B0CB7C137}" type="presOf" srcId="{B5635EE4-6424-47A7-8935-8876EF83226D}" destId="{B0737122-2053-491F-AAFE-2C7D93729726}" srcOrd="0" destOrd="2" presId="urn:microsoft.com/office/officeart/2018/5/layout/CenteredIconLabelDescriptionList"/>
    <dgm:cxn modelId="{B2D6EF54-5DC5-4AF5-B494-5DDB3281F80F}" srcId="{A497404C-534F-40BD-B4B6-A98AE3856553}" destId="{91986580-D9ED-41CA-8C7A-048EFABED786}" srcOrd="1" destOrd="0" parTransId="{8D75686C-2035-4AE3-9626-0223E930EE70}" sibTransId="{A098A75C-358D-4469-8790-6DBE28DFBD70}"/>
    <dgm:cxn modelId="{A9646F5A-4934-454D-902A-C0E5B2E0BBED}" type="presOf" srcId="{91986580-D9ED-41CA-8C7A-048EFABED786}" destId="{B0737122-2053-491F-AAFE-2C7D93729726}" srcOrd="0" destOrd="1" presId="urn:microsoft.com/office/officeart/2018/5/layout/CenteredIconLabelDescriptionList"/>
    <dgm:cxn modelId="{F1549B7E-4672-4B07-B2B1-9CFA9B0CEDDF}" type="presOf" srcId="{AF0A3241-6EED-4F59-937A-791CE34B9CA7}" destId="{A01E7F00-B4BD-4CBC-88BB-B86E0424F170}" srcOrd="0" destOrd="0" presId="urn:microsoft.com/office/officeart/2018/5/layout/CenteredIconLabelDescriptionList"/>
    <dgm:cxn modelId="{B48FB086-6EAC-4246-B50E-8172F4C4E2D1}" srcId="{FADF7649-4A41-459B-9E70-F1819BE5726C}" destId="{8B760750-D69B-4DF8-9DA2-1DBC1CC6A64C}" srcOrd="3" destOrd="0" parTransId="{00A09645-3B66-41AD-A96F-5ED924CED98D}" sibTransId="{D3E5D6DD-CC22-49BE-ABC8-E96B12B7B46C}"/>
    <dgm:cxn modelId="{1B23E987-3BFA-4B9C-80C4-0F521EE90A68}" srcId="{FADF7649-4A41-459B-9E70-F1819BE5726C}" destId="{AF0A3241-6EED-4F59-937A-791CE34B9CA7}" srcOrd="0" destOrd="0" parTransId="{D8CE4C5F-DB31-44AE-85A4-CDCD9379A39F}" sibTransId="{36582E42-5551-4634-AE52-C9AFAFA29CE9}"/>
    <dgm:cxn modelId="{D2C08390-D518-402E-A45C-D1AF83DEAF93}" srcId="{A497404C-534F-40BD-B4B6-A98AE3856553}" destId="{B5635EE4-6424-47A7-8935-8876EF83226D}" srcOrd="2" destOrd="0" parTransId="{10AF8777-52CF-4519-A5EF-C7E7A9418CB0}" sibTransId="{761F5FB0-6484-4C28-B6E6-F8E781B3B279}"/>
    <dgm:cxn modelId="{98DBAF99-2843-4D3C-84E1-D81B86E24DB8}" type="presOf" srcId="{D5221041-F64E-4767-822C-3FC0DEE72E1D}" destId="{B0737122-2053-491F-AAFE-2C7D93729726}" srcOrd="0" destOrd="0" presId="urn:microsoft.com/office/officeart/2018/5/layout/CenteredIconLabelDescriptionList"/>
    <dgm:cxn modelId="{67FA709B-7A7F-477C-936D-4859A8791DBE}" type="presOf" srcId="{4603D2BB-DDF4-4EC5-8496-8751F0D7D7A8}" destId="{B0737122-2053-491F-AAFE-2C7D93729726}" srcOrd="0" destOrd="3" presId="urn:microsoft.com/office/officeart/2018/5/layout/CenteredIconLabelDescriptionList"/>
    <dgm:cxn modelId="{7C59129C-6BE0-4737-9A6A-A2F1A05CA842}" srcId="{0348B09A-DAE6-44CF-A276-5EBBE623DF98}" destId="{FADF7649-4A41-459B-9E70-F1819BE5726C}" srcOrd="1" destOrd="0" parTransId="{BCEF46A0-D276-4BDA-ADF4-FB5A51287DB1}" sibTransId="{58208423-82A3-4A89-BAB9-5EF6A1A8CEB7}"/>
    <dgm:cxn modelId="{20EFFD9C-C554-426D-A814-FA23BA529DA3}" srcId="{0348B09A-DAE6-44CF-A276-5EBBE623DF98}" destId="{A497404C-534F-40BD-B4B6-A98AE3856553}" srcOrd="0" destOrd="0" parTransId="{D59561D8-A0C8-40BC-9CAC-312B6989827A}" sibTransId="{DEE75F45-77BC-4E6F-AE6B-C04290121D34}"/>
    <dgm:cxn modelId="{3C36D59E-5B97-40DC-8921-C1E53A23C17A}" srcId="{FADF7649-4A41-459B-9E70-F1819BE5726C}" destId="{A274B213-FA4A-43C7-8823-9BEFA61FDFF4}" srcOrd="2" destOrd="0" parTransId="{52D9C60A-D963-48E9-BA2F-12BCBA58874B}" sibTransId="{E9FD4135-9C7F-4CE3-B461-C81D2F8BF97E}"/>
    <dgm:cxn modelId="{AB1DC1A5-FEA2-4E75-9F47-3904BF8A089E}" type="presOf" srcId="{A497404C-534F-40BD-B4B6-A98AE3856553}" destId="{3AA034FC-F9BB-42CF-B236-AE40D3598F2C}" srcOrd="0" destOrd="0" presId="urn:microsoft.com/office/officeart/2018/5/layout/CenteredIconLabelDescriptionList"/>
    <dgm:cxn modelId="{B46A4BAE-A346-45F8-9FF9-2AF0F8956497}" type="presOf" srcId="{0348B09A-DAE6-44CF-A276-5EBBE623DF98}" destId="{4867DB40-5EE2-47A9-B1FE-C4028E222C87}" srcOrd="0" destOrd="0" presId="urn:microsoft.com/office/officeart/2018/5/layout/CenteredIconLabelDescriptionList"/>
    <dgm:cxn modelId="{9F4F5AC3-12A1-4CB7-98AE-E55E70411C9C}" type="presOf" srcId="{E41FF424-CD8D-4DBA-A484-B049ADB8ECA8}" destId="{A01E7F00-B4BD-4CBC-88BB-B86E0424F170}" srcOrd="0" destOrd="1" presId="urn:microsoft.com/office/officeart/2018/5/layout/CenteredIconLabelDescriptionList"/>
    <dgm:cxn modelId="{95AD0FCC-EEB8-44E0-BA67-38E352B77CD1}" type="presOf" srcId="{A274B213-FA4A-43C7-8823-9BEFA61FDFF4}" destId="{A01E7F00-B4BD-4CBC-88BB-B86E0424F170}" srcOrd="0" destOrd="2" presId="urn:microsoft.com/office/officeart/2018/5/layout/CenteredIconLabelDescriptionList"/>
    <dgm:cxn modelId="{24025FDD-BEDE-4FBE-860E-EE701C1ED2FD}" srcId="{FADF7649-4A41-459B-9E70-F1819BE5726C}" destId="{E41FF424-CD8D-4DBA-A484-B049ADB8ECA8}" srcOrd="1" destOrd="0" parTransId="{AB0A9E07-E903-495F-8AD2-39C8C79EC096}" sibTransId="{4C782087-47CA-4999-80D1-DE045D07AB18}"/>
    <dgm:cxn modelId="{65B42EE3-F3CF-4A35-9284-C4E9CF2DA65E}" srcId="{A497404C-534F-40BD-B4B6-A98AE3856553}" destId="{4603D2BB-DDF4-4EC5-8496-8751F0D7D7A8}" srcOrd="3" destOrd="0" parTransId="{7B6B9C71-D54A-491C-BDE4-6A281F9616D6}" sibTransId="{FFF9F74F-EA0A-402C-9578-12B9FF1DF395}"/>
    <dgm:cxn modelId="{CC2E37AF-6F3B-4F0A-A7E6-B58FF50AA4D0}" type="presParOf" srcId="{4867DB40-5EE2-47A9-B1FE-C4028E222C87}" destId="{3632F4F8-B741-413E-BFEB-B3506554F54F}" srcOrd="0" destOrd="0" presId="urn:microsoft.com/office/officeart/2018/5/layout/CenteredIconLabelDescriptionList"/>
    <dgm:cxn modelId="{A5229134-1949-46A0-852E-61A0B62DE1E4}" type="presParOf" srcId="{3632F4F8-B741-413E-BFEB-B3506554F54F}" destId="{A2256848-9F35-48A9-8C9D-A853397D5044}" srcOrd="0" destOrd="0" presId="urn:microsoft.com/office/officeart/2018/5/layout/CenteredIconLabelDescriptionList"/>
    <dgm:cxn modelId="{51A3DA53-684F-48EC-9F8F-4BC162B8D688}" type="presParOf" srcId="{3632F4F8-B741-413E-BFEB-B3506554F54F}" destId="{E86B2CDC-D87C-4FA7-B8B3-C8A0DEE4A4F4}" srcOrd="1" destOrd="0" presId="urn:microsoft.com/office/officeart/2018/5/layout/CenteredIconLabelDescriptionList"/>
    <dgm:cxn modelId="{DF3C8941-418A-4CB4-860B-D8940AD04899}" type="presParOf" srcId="{3632F4F8-B741-413E-BFEB-B3506554F54F}" destId="{3AA034FC-F9BB-42CF-B236-AE40D3598F2C}" srcOrd="2" destOrd="0" presId="urn:microsoft.com/office/officeart/2018/5/layout/CenteredIconLabelDescriptionList"/>
    <dgm:cxn modelId="{4AA7D421-4170-4727-9C62-1BFE9A06DF11}" type="presParOf" srcId="{3632F4F8-B741-413E-BFEB-B3506554F54F}" destId="{D387AE03-0A8D-4BF1-8C99-A25A0CA1B1B0}" srcOrd="3" destOrd="0" presId="urn:microsoft.com/office/officeart/2018/5/layout/CenteredIconLabelDescriptionList"/>
    <dgm:cxn modelId="{20A33DB7-8C5F-4E94-94CD-3F5208D9C708}" type="presParOf" srcId="{3632F4F8-B741-413E-BFEB-B3506554F54F}" destId="{B0737122-2053-491F-AAFE-2C7D93729726}" srcOrd="4" destOrd="0" presId="urn:microsoft.com/office/officeart/2018/5/layout/CenteredIconLabelDescriptionList"/>
    <dgm:cxn modelId="{64BA0AE3-1BB8-4549-9685-80D58A4CB9EB}" type="presParOf" srcId="{4867DB40-5EE2-47A9-B1FE-C4028E222C87}" destId="{8786A714-9610-470F-9B56-28AA9A00DB6C}" srcOrd="1" destOrd="0" presId="urn:microsoft.com/office/officeart/2018/5/layout/CenteredIconLabelDescriptionList"/>
    <dgm:cxn modelId="{86B12F73-A9AD-4F4F-AE86-56553D2F67B2}" type="presParOf" srcId="{4867DB40-5EE2-47A9-B1FE-C4028E222C87}" destId="{27E894B0-AAA6-4D52-B341-7E4B56EF94FF}" srcOrd="2" destOrd="0" presId="urn:microsoft.com/office/officeart/2018/5/layout/CenteredIconLabelDescriptionList"/>
    <dgm:cxn modelId="{903934F8-9B8E-47B4-852C-8AC33F16F08B}" type="presParOf" srcId="{27E894B0-AAA6-4D52-B341-7E4B56EF94FF}" destId="{D53C4939-D4A8-419A-B089-CA813661ACC4}" srcOrd="0" destOrd="0" presId="urn:microsoft.com/office/officeart/2018/5/layout/CenteredIconLabelDescriptionList"/>
    <dgm:cxn modelId="{9B4A7B6F-43A9-419C-A558-9B764E2AD026}" type="presParOf" srcId="{27E894B0-AAA6-4D52-B341-7E4B56EF94FF}" destId="{DA991B5F-9E63-4D3B-A89E-764535631A01}" srcOrd="1" destOrd="0" presId="urn:microsoft.com/office/officeart/2018/5/layout/CenteredIconLabelDescriptionList"/>
    <dgm:cxn modelId="{3EEECE98-8F54-4C7E-B7B7-1D1D70B822E5}" type="presParOf" srcId="{27E894B0-AAA6-4D52-B341-7E4B56EF94FF}" destId="{C6F8F996-79E7-4051-A1EE-D9094CABF07A}" srcOrd="2" destOrd="0" presId="urn:microsoft.com/office/officeart/2018/5/layout/CenteredIconLabelDescriptionList"/>
    <dgm:cxn modelId="{66D81F44-D793-4497-BCAB-D8D718A8B2B5}" type="presParOf" srcId="{27E894B0-AAA6-4D52-B341-7E4B56EF94FF}" destId="{22EBC3E4-CE9A-44B8-AEED-85ACA6E3B886}" srcOrd="3" destOrd="0" presId="urn:microsoft.com/office/officeart/2018/5/layout/CenteredIconLabelDescriptionList"/>
    <dgm:cxn modelId="{9FFA6085-F059-49DF-A274-5B2DF74DB1E6}" type="presParOf" srcId="{27E894B0-AAA6-4D52-B341-7E4B56EF94FF}" destId="{A01E7F00-B4BD-4CBC-88BB-B86E0424F170}"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D3C35E4-0DBC-40BA-B8DD-C61D3C5570D8}"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1A833D8C-6754-4A1B-A769-23ABB4C5A224}">
      <dgm:prSet/>
      <dgm:spPr/>
      <dgm:t>
        <a:bodyPr/>
        <a:lstStyle/>
        <a:p>
          <a:r>
            <a:rPr lang="en-US" b="1" dirty="0"/>
            <a:t>Acute Respiratory Infections (ARI)</a:t>
          </a:r>
          <a:endParaRPr lang="en-US" dirty="0"/>
        </a:p>
      </dgm:t>
    </dgm:pt>
    <dgm:pt modelId="{E06C0757-DE7A-4CDC-A3FC-B13A7ACF66A5}" type="parTrans" cxnId="{E2B59704-F46E-4D4C-A566-D8AF436CD347}">
      <dgm:prSet/>
      <dgm:spPr/>
      <dgm:t>
        <a:bodyPr/>
        <a:lstStyle/>
        <a:p>
          <a:endParaRPr lang="en-US"/>
        </a:p>
      </dgm:t>
    </dgm:pt>
    <dgm:pt modelId="{48BB7C62-3328-4C6C-9749-A56961CCDF12}" type="sibTrans" cxnId="{E2B59704-F46E-4D4C-A566-D8AF436CD347}">
      <dgm:prSet/>
      <dgm:spPr/>
      <dgm:t>
        <a:bodyPr/>
        <a:lstStyle/>
        <a:p>
          <a:endParaRPr lang="en-US"/>
        </a:p>
      </dgm:t>
    </dgm:pt>
    <dgm:pt modelId="{ABEF2FAA-3E88-460B-A961-8252EA8E2180}">
      <dgm:prSet/>
      <dgm:spPr/>
      <dgm:t>
        <a:bodyPr/>
        <a:lstStyle/>
        <a:p>
          <a:r>
            <a:rPr lang="en-US"/>
            <a:t>Common in children &lt;5; linked to poor nutrition, air pollution</a:t>
          </a:r>
        </a:p>
      </dgm:t>
    </dgm:pt>
    <dgm:pt modelId="{71B629E6-1B73-4A0A-BC6D-D5F858632DDB}" type="parTrans" cxnId="{ABB966BC-EBB1-4ED5-8ABA-7E1E12E356CF}">
      <dgm:prSet/>
      <dgm:spPr/>
      <dgm:t>
        <a:bodyPr/>
        <a:lstStyle/>
        <a:p>
          <a:endParaRPr lang="en-US"/>
        </a:p>
      </dgm:t>
    </dgm:pt>
    <dgm:pt modelId="{3830EA69-91D8-4D9F-9E26-A4629DF8E21D}" type="sibTrans" cxnId="{ABB966BC-EBB1-4ED5-8ABA-7E1E12E356CF}">
      <dgm:prSet/>
      <dgm:spPr/>
      <dgm:t>
        <a:bodyPr/>
        <a:lstStyle/>
        <a:p>
          <a:endParaRPr lang="en-US"/>
        </a:p>
      </dgm:t>
    </dgm:pt>
    <dgm:pt modelId="{4C195C1F-45E0-4A0D-875A-9632367387CC}">
      <dgm:prSet/>
      <dgm:spPr/>
      <dgm:t>
        <a:bodyPr/>
        <a:lstStyle/>
        <a:p>
          <a:r>
            <a:rPr lang="en-US"/>
            <a:t>Prevention: DPT, Hib, PCV vaccines; breastfeeding, hygiene</a:t>
          </a:r>
        </a:p>
      </dgm:t>
    </dgm:pt>
    <dgm:pt modelId="{41E248A2-4325-4FEB-A620-93541DBE734E}" type="parTrans" cxnId="{9BB94FEA-4B4C-4E90-9899-27457B3E1A8D}">
      <dgm:prSet/>
      <dgm:spPr/>
      <dgm:t>
        <a:bodyPr/>
        <a:lstStyle/>
        <a:p>
          <a:endParaRPr lang="en-US"/>
        </a:p>
      </dgm:t>
    </dgm:pt>
    <dgm:pt modelId="{5BBD6FC4-833B-4C1D-B304-56CEE6E1734E}" type="sibTrans" cxnId="{9BB94FEA-4B4C-4E90-9899-27457B3E1A8D}">
      <dgm:prSet/>
      <dgm:spPr/>
      <dgm:t>
        <a:bodyPr/>
        <a:lstStyle/>
        <a:p>
          <a:endParaRPr lang="en-US"/>
        </a:p>
      </dgm:t>
    </dgm:pt>
    <dgm:pt modelId="{28517CC9-9F41-4794-A23F-EAFAD8CA6A88}">
      <dgm:prSet/>
      <dgm:spPr/>
      <dgm:t>
        <a:bodyPr/>
        <a:lstStyle/>
        <a:p>
          <a:r>
            <a:rPr lang="en-US" b="1"/>
            <a:t>COVID-19</a:t>
          </a:r>
          <a:endParaRPr lang="en-US"/>
        </a:p>
      </dgm:t>
    </dgm:pt>
    <dgm:pt modelId="{4F23D57D-6D5C-4AFF-8305-B812E273344F}" type="parTrans" cxnId="{5B797AAA-2C52-46DC-B651-E41406FC8CD1}">
      <dgm:prSet/>
      <dgm:spPr/>
      <dgm:t>
        <a:bodyPr/>
        <a:lstStyle/>
        <a:p>
          <a:endParaRPr lang="en-US"/>
        </a:p>
      </dgm:t>
    </dgm:pt>
    <dgm:pt modelId="{158C1480-D0FA-4998-A7E7-1C5DCD62B66D}" type="sibTrans" cxnId="{5B797AAA-2C52-46DC-B651-E41406FC8CD1}">
      <dgm:prSet/>
      <dgm:spPr/>
      <dgm:t>
        <a:bodyPr/>
        <a:lstStyle/>
        <a:p>
          <a:endParaRPr lang="en-US"/>
        </a:p>
      </dgm:t>
    </dgm:pt>
    <dgm:pt modelId="{19F6DCCB-B180-401B-96B1-D25E80D179BC}">
      <dgm:prSet/>
      <dgm:spPr/>
      <dgm:t>
        <a:bodyPr/>
        <a:lstStyle/>
        <a:p>
          <a:r>
            <a:rPr lang="en-US"/>
            <a:t>Managed via isolation, CoWIN platform, Covaxin &amp; Covishield</a:t>
          </a:r>
        </a:p>
      </dgm:t>
    </dgm:pt>
    <dgm:pt modelId="{7CFF46F6-DEF8-4701-ADA6-343984DFD7B4}" type="parTrans" cxnId="{43887E0C-5F58-45CE-8432-051C41FA278D}">
      <dgm:prSet/>
      <dgm:spPr/>
      <dgm:t>
        <a:bodyPr/>
        <a:lstStyle/>
        <a:p>
          <a:endParaRPr lang="en-US"/>
        </a:p>
      </dgm:t>
    </dgm:pt>
    <dgm:pt modelId="{D24ECE77-CC72-4CBA-B051-4AFC442CCA5F}" type="sibTrans" cxnId="{43887E0C-5F58-45CE-8432-051C41FA278D}">
      <dgm:prSet/>
      <dgm:spPr/>
      <dgm:t>
        <a:bodyPr/>
        <a:lstStyle/>
        <a:p>
          <a:endParaRPr lang="en-US"/>
        </a:p>
      </dgm:t>
    </dgm:pt>
    <dgm:pt modelId="{A47B642B-6097-47DA-A3B2-25D2E2E6C75E}">
      <dgm:prSet/>
      <dgm:spPr/>
      <dgm:t>
        <a:bodyPr/>
        <a:lstStyle/>
        <a:p>
          <a:r>
            <a:rPr lang="en-US"/>
            <a:t>Strengthened ICUs and oxygen infrastructure</a:t>
          </a:r>
        </a:p>
      </dgm:t>
    </dgm:pt>
    <dgm:pt modelId="{20D2017D-6626-4E72-B2F4-69FDF5E14F69}" type="parTrans" cxnId="{0AF76444-EFFC-429D-A4D0-4736651F2934}">
      <dgm:prSet/>
      <dgm:spPr/>
      <dgm:t>
        <a:bodyPr/>
        <a:lstStyle/>
        <a:p>
          <a:endParaRPr lang="en-US"/>
        </a:p>
      </dgm:t>
    </dgm:pt>
    <dgm:pt modelId="{8750C134-9E33-44E7-AB05-6C53AE42ED00}" type="sibTrans" cxnId="{0AF76444-EFFC-429D-A4D0-4736651F2934}">
      <dgm:prSet/>
      <dgm:spPr/>
      <dgm:t>
        <a:bodyPr/>
        <a:lstStyle/>
        <a:p>
          <a:endParaRPr lang="en-US"/>
        </a:p>
      </dgm:t>
    </dgm:pt>
    <dgm:pt modelId="{9B27C2E4-DE5D-41C4-850D-A90747D7C67D}">
      <dgm:prSet/>
      <dgm:spPr/>
      <dgm:t>
        <a:bodyPr/>
        <a:lstStyle/>
        <a:p>
          <a:r>
            <a:rPr lang="en-US"/>
            <a:t>Outreach campaigns for vaccine confidence</a:t>
          </a:r>
        </a:p>
      </dgm:t>
    </dgm:pt>
    <dgm:pt modelId="{55159927-709C-4141-B84E-7BABFA068285}" type="parTrans" cxnId="{B831C2AA-9C1E-4357-A898-2D02C336694D}">
      <dgm:prSet/>
      <dgm:spPr/>
      <dgm:t>
        <a:bodyPr/>
        <a:lstStyle/>
        <a:p>
          <a:endParaRPr lang="en-US"/>
        </a:p>
      </dgm:t>
    </dgm:pt>
    <dgm:pt modelId="{979964B7-0FDD-412A-9447-D3FAAE0E39B2}" type="sibTrans" cxnId="{B831C2AA-9C1E-4357-A898-2D02C336694D}">
      <dgm:prSet/>
      <dgm:spPr/>
      <dgm:t>
        <a:bodyPr/>
        <a:lstStyle/>
        <a:p>
          <a:endParaRPr lang="en-US"/>
        </a:p>
      </dgm:t>
    </dgm:pt>
    <dgm:pt modelId="{913891A4-0289-483C-B982-63BC36E2267D}">
      <dgm:prSet/>
      <dgm:spPr/>
      <dgm:t>
        <a:bodyPr/>
        <a:lstStyle/>
        <a:p>
          <a:r>
            <a:rPr lang="en-US" b="1"/>
            <a:t>Diarrhoeal Diseases</a:t>
          </a:r>
          <a:endParaRPr lang="en-US"/>
        </a:p>
      </dgm:t>
    </dgm:pt>
    <dgm:pt modelId="{30D9A143-97A9-4465-9134-E559CBE1B8C3}" type="parTrans" cxnId="{B4586A4A-C46B-4EB6-8CD4-ED47DA814D2B}">
      <dgm:prSet/>
      <dgm:spPr/>
      <dgm:t>
        <a:bodyPr/>
        <a:lstStyle/>
        <a:p>
          <a:endParaRPr lang="en-US"/>
        </a:p>
      </dgm:t>
    </dgm:pt>
    <dgm:pt modelId="{1CA16425-DB11-4738-921A-CA61420075BF}" type="sibTrans" cxnId="{B4586A4A-C46B-4EB6-8CD4-ED47DA814D2B}">
      <dgm:prSet/>
      <dgm:spPr/>
      <dgm:t>
        <a:bodyPr/>
        <a:lstStyle/>
        <a:p>
          <a:endParaRPr lang="en-US"/>
        </a:p>
      </dgm:t>
    </dgm:pt>
    <dgm:pt modelId="{20BF50DC-9AF4-4032-B6B0-D1E989E27AEA}">
      <dgm:prSet/>
      <dgm:spPr/>
      <dgm:t>
        <a:bodyPr/>
        <a:lstStyle/>
        <a:p>
          <a:r>
            <a:rPr lang="en-US"/>
            <a:t>Major cause of child mortality due to unsafe water</a:t>
          </a:r>
        </a:p>
      </dgm:t>
    </dgm:pt>
    <dgm:pt modelId="{67742011-A317-4DEC-8B4E-2858033BF41C}" type="parTrans" cxnId="{285ECA21-1A6E-4394-894A-4B0CD0B26144}">
      <dgm:prSet/>
      <dgm:spPr/>
      <dgm:t>
        <a:bodyPr/>
        <a:lstStyle/>
        <a:p>
          <a:endParaRPr lang="en-US"/>
        </a:p>
      </dgm:t>
    </dgm:pt>
    <dgm:pt modelId="{300B64D7-8320-4C0C-A222-5D71D37D83AD}" type="sibTrans" cxnId="{285ECA21-1A6E-4394-894A-4B0CD0B26144}">
      <dgm:prSet/>
      <dgm:spPr/>
      <dgm:t>
        <a:bodyPr/>
        <a:lstStyle/>
        <a:p>
          <a:endParaRPr lang="en-US"/>
        </a:p>
      </dgm:t>
    </dgm:pt>
    <dgm:pt modelId="{BF0F13A4-57EB-426B-9642-CF262DC650A1}">
      <dgm:prSet/>
      <dgm:spPr/>
      <dgm:t>
        <a:bodyPr/>
        <a:lstStyle/>
        <a:p>
          <a:r>
            <a:rPr lang="en-US"/>
            <a:t>ORS + Zinc therapy; Rotavirus vaccine</a:t>
          </a:r>
        </a:p>
      </dgm:t>
    </dgm:pt>
    <dgm:pt modelId="{9C6CFD31-A185-40CC-B80B-D04A24134E56}" type="parTrans" cxnId="{DC46B64B-A91B-4F41-8385-81C606C7675E}">
      <dgm:prSet/>
      <dgm:spPr/>
      <dgm:t>
        <a:bodyPr/>
        <a:lstStyle/>
        <a:p>
          <a:endParaRPr lang="en-US"/>
        </a:p>
      </dgm:t>
    </dgm:pt>
    <dgm:pt modelId="{9EB103F5-836A-464D-9DF5-480BAF3DB1E5}" type="sibTrans" cxnId="{DC46B64B-A91B-4F41-8385-81C606C7675E}">
      <dgm:prSet/>
      <dgm:spPr/>
      <dgm:t>
        <a:bodyPr/>
        <a:lstStyle/>
        <a:p>
          <a:endParaRPr lang="en-US"/>
        </a:p>
      </dgm:t>
    </dgm:pt>
    <dgm:pt modelId="{885E3B2E-589B-4B23-B5F3-53350D42475C}">
      <dgm:prSet/>
      <dgm:spPr/>
      <dgm:t>
        <a:bodyPr/>
        <a:lstStyle/>
        <a:p>
          <a:r>
            <a:rPr lang="en-US"/>
            <a:t>Linked to sanitation; Swachh Bharat Mission support</a:t>
          </a:r>
        </a:p>
      </dgm:t>
    </dgm:pt>
    <dgm:pt modelId="{0271925C-AE9A-48F4-99FB-4AF26FAC8F10}" type="parTrans" cxnId="{54427648-2DD6-4BBD-AF3B-DD13A22544FF}">
      <dgm:prSet/>
      <dgm:spPr/>
      <dgm:t>
        <a:bodyPr/>
        <a:lstStyle/>
        <a:p>
          <a:endParaRPr lang="en-US"/>
        </a:p>
      </dgm:t>
    </dgm:pt>
    <dgm:pt modelId="{D240E1FE-927C-4156-B241-98704757BE08}" type="sibTrans" cxnId="{54427648-2DD6-4BBD-AF3B-DD13A22544FF}">
      <dgm:prSet/>
      <dgm:spPr/>
      <dgm:t>
        <a:bodyPr/>
        <a:lstStyle/>
        <a:p>
          <a:endParaRPr lang="en-US"/>
        </a:p>
      </dgm:t>
    </dgm:pt>
    <dgm:pt modelId="{5BBFC928-F71B-47B1-ACC4-07FF99C7DC2F}" type="pres">
      <dgm:prSet presAssocID="{1D3C35E4-0DBC-40BA-B8DD-C61D3C5570D8}" presName="Name0" presStyleCnt="0">
        <dgm:presLayoutVars>
          <dgm:dir/>
          <dgm:animLvl val="lvl"/>
          <dgm:resizeHandles val="exact"/>
        </dgm:presLayoutVars>
      </dgm:prSet>
      <dgm:spPr/>
    </dgm:pt>
    <dgm:pt modelId="{22BDB05D-A99A-4572-B131-FA01ED48712D}" type="pres">
      <dgm:prSet presAssocID="{1A833D8C-6754-4A1B-A769-23ABB4C5A224}" presName="composite" presStyleCnt="0"/>
      <dgm:spPr/>
    </dgm:pt>
    <dgm:pt modelId="{5091CD33-BC2D-4044-B9E4-3F44DEE9D85F}" type="pres">
      <dgm:prSet presAssocID="{1A833D8C-6754-4A1B-A769-23ABB4C5A224}" presName="parTx" presStyleLbl="alignNode1" presStyleIdx="0" presStyleCnt="3">
        <dgm:presLayoutVars>
          <dgm:chMax val="0"/>
          <dgm:chPref val="0"/>
          <dgm:bulletEnabled val="1"/>
        </dgm:presLayoutVars>
      </dgm:prSet>
      <dgm:spPr/>
    </dgm:pt>
    <dgm:pt modelId="{F2EB3D59-D463-4B74-AA54-D85047CBB0AA}" type="pres">
      <dgm:prSet presAssocID="{1A833D8C-6754-4A1B-A769-23ABB4C5A224}" presName="desTx" presStyleLbl="alignAccFollowNode1" presStyleIdx="0" presStyleCnt="3">
        <dgm:presLayoutVars>
          <dgm:bulletEnabled val="1"/>
        </dgm:presLayoutVars>
      </dgm:prSet>
      <dgm:spPr/>
    </dgm:pt>
    <dgm:pt modelId="{DACB17FA-4282-4062-B96B-8A063FC95DD0}" type="pres">
      <dgm:prSet presAssocID="{48BB7C62-3328-4C6C-9749-A56961CCDF12}" presName="space" presStyleCnt="0"/>
      <dgm:spPr/>
    </dgm:pt>
    <dgm:pt modelId="{264E25ED-645B-4A1B-B1BA-345F80DDC443}" type="pres">
      <dgm:prSet presAssocID="{28517CC9-9F41-4794-A23F-EAFAD8CA6A88}" presName="composite" presStyleCnt="0"/>
      <dgm:spPr/>
    </dgm:pt>
    <dgm:pt modelId="{D942FB67-C242-4BED-A81A-24E2CF35E010}" type="pres">
      <dgm:prSet presAssocID="{28517CC9-9F41-4794-A23F-EAFAD8CA6A88}" presName="parTx" presStyleLbl="alignNode1" presStyleIdx="1" presStyleCnt="3">
        <dgm:presLayoutVars>
          <dgm:chMax val="0"/>
          <dgm:chPref val="0"/>
          <dgm:bulletEnabled val="1"/>
        </dgm:presLayoutVars>
      </dgm:prSet>
      <dgm:spPr/>
    </dgm:pt>
    <dgm:pt modelId="{A5CAB621-86CE-49BF-AD3E-6A9122997ED5}" type="pres">
      <dgm:prSet presAssocID="{28517CC9-9F41-4794-A23F-EAFAD8CA6A88}" presName="desTx" presStyleLbl="alignAccFollowNode1" presStyleIdx="1" presStyleCnt="3">
        <dgm:presLayoutVars>
          <dgm:bulletEnabled val="1"/>
        </dgm:presLayoutVars>
      </dgm:prSet>
      <dgm:spPr/>
    </dgm:pt>
    <dgm:pt modelId="{9536E0C8-869B-4316-B6C2-D480796AB28E}" type="pres">
      <dgm:prSet presAssocID="{158C1480-D0FA-4998-A7E7-1C5DCD62B66D}" presName="space" presStyleCnt="0"/>
      <dgm:spPr/>
    </dgm:pt>
    <dgm:pt modelId="{698D0E09-1E2E-46BB-BCA4-A6443C7B7265}" type="pres">
      <dgm:prSet presAssocID="{913891A4-0289-483C-B982-63BC36E2267D}" presName="composite" presStyleCnt="0"/>
      <dgm:spPr/>
    </dgm:pt>
    <dgm:pt modelId="{C98F13F9-FE09-438E-B9AC-358212005ACA}" type="pres">
      <dgm:prSet presAssocID="{913891A4-0289-483C-B982-63BC36E2267D}" presName="parTx" presStyleLbl="alignNode1" presStyleIdx="2" presStyleCnt="3">
        <dgm:presLayoutVars>
          <dgm:chMax val="0"/>
          <dgm:chPref val="0"/>
          <dgm:bulletEnabled val="1"/>
        </dgm:presLayoutVars>
      </dgm:prSet>
      <dgm:spPr/>
    </dgm:pt>
    <dgm:pt modelId="{3643C5F5-1D90-4A76-9353-480C2BD581FB}" type="pres">
      <dgm:prSet presAssocID="{913891A4-0289-483C-B982-63BC36E2267D}" presName="desTx" presStyleLbl="alignAccFollowNode1" presStyleIdx="2" presStyleCnt="3">
        <dgm:presLayoutVars>
          <dgm:bulletEnabled val="1"/>
        </dgm:presLayoutVars>
      </dgm:prSet>
      <dgm:spPr/>
    </dgm:pt>
  </dgm:ptLst>
  <dgm:cxnLst>
    <dgm:cxn modelId="{E2B59704-F46E-4D4C-A566-D8AF436CD347}" srcId="{1D3C35E4-0DBC-40BA-B8DD-C61D3C5570D8}" destId="{1A833D8C-6754-4A1B-A769-23ABB4C5A224}" srcOrd="0" destOrd="0" parTransId="{E06C0757-DE7A-4CDC-A3FC-B13A7ACF66A5}" sibTransId="{48BB7C62-3328-4C6C-9749-A56961CCDF12}"/>
    <dgm:cxn modelId="{43887E0C-5F58-45CE-8432-051C41FA278D}" srcId="{28517CC9-9F41-4794-A23F-EAFAD8CA6A88}" destId="{19F6DCCB-B180-401B-96B1-D25E80D179BC}" srcOrd="0" destOrd="0" parTransId="{7CFF46F6-DEF8-4701-ADA6-343984DFD7B4}" sibTransId="{D24ECE77-CC72-4CBA-B051-4AFC442CCA5F}"/>
    <dgm:cxn modelId="{02A6E11A-6054-492B-A0C5-FA6F4EAB65BA}" type="presOf" srcId="{20BF50DC-9AF4-4032-B6B0-D1E989E27AEA}" destId="{3643C5F5-1D90-4A76-9353-480C2BD581FB}" srcOrd="0" destOrd="0" presId="urn:microsoft.com/office/officeart/2005/8/layout/hList1"/>
    <dgm:cxn modelId="{285ECA21-1A6E-4394-894A-4B0CD0B26144}" srcId="{913891A4-0289-483C-B982-63BC36E2267D}" destId="{20BF50DC-9AF4-4032-B6B0-D1E989E27AEA}" srcOrd="0" destOrd="0" parTransId="{67742011-A317-4DEC-8B4E-2858033BF41C}" sibTransId="{300B64D7-8320-4C0C-A222-5D71D37D83AD}"/>
    <dgm:cxn modelId="{5ABC622B-23C2-4FCB-BC9F-B16D7E1FEE43}" type="presOf" srcId="{4C195C1F-45E0-4A0D-875A-9632367387CC}" destId="{F2EB3D59-D463-4B74-AA54-D85047CBB0AA}" srcOrd="0" destOrd="1" presId="urn:microsoft.com/office/officeart/2005/8/layout/hList1"/>
    <dgm:cxn modelId="{EEE1EA38-AEE8-4222-ACC0-7A313AA8DD75}" type="presOf" srcId="{1D3C35E4-0DBC-40BA-B8DD-C61D3C5570D8}" destId="{5BBFC928-F71B-47B1-ACC4-07FF99C7DC2F}" srcOrd="0" destOrd="0" presId="urn:microsoft.com/office/officeart/2005/8/layout/hList1"/>
    <dgm:cxn modelId="{0AF76444-EFFC-429D-A4D0-4736651F2934}" srcId="{28517CC9-9F41-4794-A23F-EAFAD8CA6A88}" destId="{A47B642B-6097-47DA-A3B2-25D2E2E6C75E}" srcOrd="1" destOrd="0" parTransId="{20D2017D-6626-4E72-B2F4-69FDF5E14F69}" sibTransId="{8750C134-9E33-44E7-AB05-6C53AE42ED00}"/>
    <dgm:cxn modelId="{54427648-2DD6-4BBD-AF3B-DD13A22544FF}" srcId="{913891A4-0289-483C-B982-63BC36E2267D}" destId="{885E3B2E-589B-4B23-B5F3-53350D42475C}" srcOrd="2" destOrd="0" parTransId="{0271925C-AE9A-48F4-99FB-4AF26FAC8F10}" sibTransId="{D240E1FE-927C-4156-B241-98704757BE08}"/>
    <dgm:cxn modelId="{B4586A4A-C46B-4EB6-8CD4-ED47DA814D2B}" srcId="{1D3C35E4-0DBC-40BA-B8DD-C61D3C5570D8}" destId="{913891A4-0289-483C-B982-63BC36E2267D}" srcOrd="2" destOrd="0" parTransId="{30D9A143-97A9-4465-9134-E559CBE1B8C3}" sibTransId="{1CA16425-DB11-4738-921A-CA61420075BF}"/>
    <dgm:cxn modelId="{DC46B64B-A91B-4F41-8385-81C606C7675E}" srcId="{913891A4-0289-483C-B982-63BC36E2267D}" destId="{BF0F13A4-57EB-426B-9642-CF262DC650A1}" srcOrd="1" destOrd="0" parTransId="{9C6CFD31-A185-40CC-B80B-D04A24134E56}" sibTransId="{9EB103F5-836A-464D-9DF5-480BAF3DB1E5}"/>
    <dgm:cxn modelId="{66B62180-983E-434B-8EC3-A61C52EE66CF}" type="presOf" srcId="{A47B642B-6097-47DA-A3B2-25D2E2E6C75E}" destId="{A5CAB621-86CE-49BF-AD3E-6A9122997ED5}" srcOrd="0" destOrd="1" presId="urn:microsoft.com/office/officeart/2005/8/layout/hList1"/>
    <dgm:cxn modelId="{1341C988-769D-448A-B51E-95E985754B34}" type="presOf" srcId="{19F6DCCB-B180-401B-96B1-D25E80D179BC}" destId="{A5CAB621-86CE-49BF-AD3E-6A9122997ED5}" srcOrd="0" destOrd="0" presId="urn:microsoft.com/office/officeart/2005/8/layout/hList1"/>
    <dgm:cxn modelId="{5B797AAA-2C52-46DC-B651-E41406FC8CD1}" srcId="{1D3C35E4-0DBC-40BA-B8DD-C61D3C5570D8}" destId="{28517CC9-9F41-4794-A23F-EAFAD8CA6A88}" srcOrd="1" destOrd="0" parTransId="{4F23D57D-6D5C-4AFF-8305-B812E273344F}" sibTransId="{158C1480-D0FA-4998-A7E7-1C5DCD62B66D}"/>
    <dgm:cxn modelId="{B831C2AA-9C1E-4357-A898-2D02C336694D}" srcId="{28517CC9-9F41-4794-A23F-EAFAD8CA6A88}" destId="{9B27C2E4-DE5D-41C4-850D-A90747D7C67D}" srcOrd="2" destOrd="0" parTransId="{55159927-709C-4141-B84E-7BABFA068285}" sibTransId="{979964B7-0FDD-412A-9447-D3FAAE0E39B2}"/>
    <dgm:cxn modelId="{903ADBB8-FD65-4D66-9502-58E97AFC705D}" type="presOf" srcId="{1A833D8C-6754-4A1B-A769-23ABB4C5A224}" destId="{5091CD33-BC2D-4044-B9E4-3F44DEE9D85F}" srcOrd="0" destOrd="0" presId="urn:microsoft.com/office/officeart/2005/8/layout/hList1"/>
    <dgm:cxn modelId="{ABB966BC-EBB1-4ED5-8ABA-7E1E12E356CF}" srcId="{1A833D8C-6754-4A1B-A769-23ABB4C5A224}" destId="{ABEF2FAA-3E88-460B-A961-8252EA8E2180}" srcOrd="0" destOrd="0" parTransId="{71B629E6-1B73-4A0A-BC6D-D5F858632DDB}" sibTransId="{3830EA69-91D8-4D9F-9E26-A4629DF8E21D}"/>
    <dgm:cxn modelId="{84DA75C4-F4BC-496F-89F4-56EE30279315}" type="presOf" srcId="{9B27C2E4-DE5D-41C4-850D-A90747D7C67D}" destId="{A5CAB621-86CE-49BF-AD3E-6A9122997ED5}" srcOrd="0" destOrd="2" presId="urn:microsoft.com/office/officeart/2005/8/layout/hList1"/>
    <dgm:cxn modelId="{102F75C9-F948-4CA4-B73F-86CD317CDE4B}" type="presOf" srcId="{28517CC9-9F41-4794-A23F-EAFAD8CA6A88}" destId="{D942FB67-C242-4BED-A81A-24E2CF35E010}" srcOrd="0" destOrd="0" presId="urn:microsoft.com/office/officeart/2005/8/layout/hList1"/>
    <dgm:cxn modelId="{867DB9E8-3D35-4AB4-BFDA-CF5410780B84}" type="presOf" srcId="{885E3B2E-589B-4B23-B5F3-53350D42475C}" destId="{3643C5F5-1D90-4A76-9353-480C2BD581FB}" srcOrd="0" destOrd="2" presId="urn:microsoft.com/office/officeart/2005/8/layout/hList1"/>
    <dgm:cxn modelId="{9BB94FEA-4B4C-4E90-9899-27457B3E1A8D}" srcId="{1A833D8C-6754-4A1B-A769-23ABB4C5A224}" destId="{4C195C1F-45E0-4A0D-875A-9632367387CC}" srcOrd="1" destOrd="0" parTransId="{41E248A2-4325-4FEB-A620-93541DBE734E}" sibTransId="{5BBD6FC4-833B-4C1D-B304-56CEE6E1734E}"/>
    <dgm:cxn modelId="{768DFDF9-0B3F-4BBC-A3F9-519CB0F4B274}" type="presOf" srcId="{BF0F13A4-57EB-426B-9642-CF262DC650A1}" destId="{3643C5F5-1D90-4A76-9353-480C2BD581FB}" srcOrd="0" destOrd="1" presId="urn:microsoft.com/office/officeart/2005/8/layout/hList1"/>
    <dgm:cxn modelId="{B6AD78FA-5751-4EDF-B24A-7F1103B3AAAC}" type="presOf" srcId="{913891A4-0289-483C-B982-63BC36E2267D}" destId="{C98F13F9-FE09-438E-B9AC-358212005ACA}" srcOrd="0" destOrd="0" presId="urn:microsoft.com/office/officeart/2005/8/layout/hList1"/>
    <dgm:cxn modelId="{0C6E61FE-03CE-4E59-952A-89D58DA39715}" type="presOf" srcId="{ABEF2FAA-3E88-460B-A961-8252EA8E2180}" destId="{F2EB3D59-D463-4B74-AA54-D85047CBB0AA}" srcOrd="0" destOrd="0" presId="urn:microsoft.com/office/officeart/2005/8/layout/hList1"/>
    <dgm:cxn modelId="{AE0B85A0-0D5D-4FB9-9E77-6351B98E52F0}" type="presParOf" srcId="{5BBFC928-F71B-47B1-ACC4-07FF99C7DC2F}" destId="{22BDB05D-A99A-4572-B131-FA01ED48712D}" srcOrd="0" destOrd="0" presId="urn:microsoft.com/office/officeart/2005/8/layout/hList1"/>
    <dgm:cxn modelId="{FD98CB7E-2125-4821-9411-3BD7C6A15DFF}" type="presParOf" srcId="{22BDB05D-A99A-4572-B131-FA01ED48712D}" destId="{5091CD33-BC2D-4044-B9E4-3F44DEE9D85F}" srcOrd="0" destOrd="0" presId="urn:microsoft.com/office/officeart/2005/8/layout/hList1"/>
    <dgm:cxn modelId="{E2BD3ABA-4671-4CC0-9A6B-D95095449036}" type="presParOf" srcId="{22BDB05D-A99A-4572-B131-FA01ED48712D}" destId="{F2EB3D59-D463-4B74-AA54-D85047CBB0AA}" srcOrd="1" destOrd="0" presId="urn:microsoft.com/office/officeart/2005/8/layout/hList1"/>
    <dgm:cxn modelId="{72724CE7-E06A-46F1-879B-DE559D70B76D}" type="presParOf" srcId="{5BBFC928-F71B-47B1-ACC4-07FF99C7DC2F}" destId="{DACB17FA-4282-4062-B96B-8A063FC95DD0}" srcOrd="1" destOrd="0" presId="urn:microsoft.com/office/officeart/2005/8/layout/hList1"/>
    <dgm:cxn modelId="{B678C3DA-84D6-41D5-9FEA-C63D24AF3DAF}" type="presParOf" srcId="{5BBFC928-F71B-47B1-ACC4-07FF99C7DC2F}" destId="{264E25ED-645B-4A1B-B1BA-345F80DDC443}" srcOrd="2" destOrd="0" presId="urn:microsoft.com/office/officeart/2005/8/layout/hList1"/>
    <dgm:cxn modelId="{19A85011-1B1C-4D43-B7FA-BA5429DF57C9}" type="presParOf" srcId="{264E25ED-645B-4A1B-B1BA-345F80DDC443}" destId="{D942FB67-C242-4BED-A81A-24E2CF35E010}" srcOrd="0" destOrd="0" presId="urn:microsoft.com/office/officeart/2005/8/layout/hList1"/>
    <dgm:cxn modelId="{49E8033B-82E9-43CA-93A1-1905641CD824}" type="presParOf" srcId="{264E25ED-645B-4A1B-B1BA-345F80DDC443}" destId="{A5CAB621-86CE-49BF-AD3E-6A9122997ED5}" srcOrd="1" destOrd="0" presId="urn:microsoft.com/office/officeart/2005/8/layout/hList1"/>
    <dgm:cxn modelId="{5C535577-9F54-4440-98EE-966C88575575}" type="presParOf" srcId="{5BBFC928-F71B-47B1-ACC4-07FF99C7DC2F}" destId="{9536E0C8-869B-4316-B6C2-D480796AB28E}" srcOrd="3" destOrd="0" presId="urn:microsoft.com/office/officeart/2005/8/layout/hList1"/>
    <dgm:cxn modelId="{3E8E9675-D420-4677-AECC-1BB6DCD6E738}" type="presParOf" srcId="{5BBFC928-F71B-47B1-ACC4-07FF99C7DC2F}" destId="{698D0E09-1E2E-46BB-BCA4-A6443C7B7265}" srcOrd="4" destOrd="0" presId="urn:microsoft.com/office/officeart/2005/8/layout/hList1"/>
    <dgm:cxn modelId="{697428FF-A526-4DA5-84E2-17F27EF42EEB}" type="presParOf" srcId="{698D0E09-1E2E-46BB-BCA4-A6443C7B7265}" destId="{C98F13F9-FE09-438E-B9AC-358212005ACA}" srcOrd="0" destOrd="0" presId="urn:microsoft.com/office/officeart/2005/8/layout/hList1"/>
    <dgm:cxn modelId="{0AA8CC75-1935-4C38-9C3C-228431C1C759}" type="presParOf" srcId="{698D0E09-1E2E-46BB-BCA4-A6443C7B7265}" destId="{3643C5F5-1D90-4A76-9353-480C2BD581F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CAC478F-BFAF-4B70-B798-81370453E36B}"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3A333818-7663-4187-B235-48EC1653638C}">
      <dgm:prSet/>
      <dgm:spPr/>
      <dgm:t>
        <a:bodyPr/>
        <a:lstStyle/>
        <a:p>
          <a:r>
            <a:rPr lang="en-US" b="1"/>
            <a:t>HIV/AIDS</a:t>
          </a:r>
          <a:endParaRPr lang="en-US"/>
        </a:p>
      </dgm:t>
    </dgm:pt>
    <dgm:pt modelId="{FFCB78C2-4FDC-48D2-B9FD-CA1F939A75D8}" type="parTrans" cxnId="{D8079A77-CCB3-445D-A9AC-6224B0C4618D}">
      <dgm:prSet/>
      <dgm:spPr/>
      <dgm:t>
        <a:bodyPr/>
        <a:lstStyle/>
        <a:p>
          <a:endParaRPr lang="en-US"/>
        </a:p>
      </dgm:t>
    </dgm:pt>
    <dgm:pt modelId="{BCF5E03D-679C-4288-87C9-8608D7DB00A6}" type="sibTrans" cxnId="{D8079A77-CCB3-445D-A9AC-6224B0C4618D}">
      <dgm:prSet/>
      <dgm:spPr/>
      <dgm:t>
        <a:bodyPr/>
        <a:lstStyle/>
        <a:p>
          <a:endParaRPr lang="en-US"/>
        </a:p>
      </dgm:t>
    </dgm:pt>
    <dgm:pt modelId="{F7E8EE41-427B-42FF-9AED-8CA27C3F3CB1}">
      <dgm:prSet/>
      <dgm:spPr/>
      <dgm:t>
        <a:bodyPr/>
        <a:lstStyle/>
        <a:p>
          <a:r>
            <a:rPr lang="en-US"/>
            <a:t>Free ART rollout via ICTC/PPTCT centers</a:t>
          </a:r>
        </a:p>
      </dgm:t>
    </dgm:pt>
    <dgm:pt modelId="{BBFCEF7E-D021-44F6-AE6E-B7DFE8ED75E7}" type="parTrans" cxnId="{C1483026-3DA1-4D92-B626-05F0F07836E2}">
      <dgm:prSet/>
      <dgm:spPr/>
      <dgm:t>
        <a:bodyPr/>
        <a:lstStyle/>
        <a:p>
          <a:endParaRPr lang="en-US"/>
        </a:p>
      </dgm:t>
    </dgm:pt>
    <dgm:pt modelId="{C2578EF7-D4EC-4F30-8FA2-3B53E559E9E4}" type="sibTrans" cxnId="{C1483026-3DA1-4D92-B626-05F0F07836E2}">
      <dgm:prSet/>
      <dgm:spPr/>
      <dgm:t>
        <a:bodyPr/>
        <a:lstStyle/>
        <a:p>
          <a:endParaRPr lang="en-US"/>
        </a:p>
      </dgm:t>
    </dgm:pt>
    <dgm:pt modelId="{05B9A09B-A715-4F88-863A-D3A0A53697B9}">
      <dgm:prSet/>
      <dgm:spPr/>
      <dgm:t>
        <a:bodyPr/>
        <a:lstStyle/>
        <a:p>
          <a:r>
            <a:rPr lang="en-US" dirty="0"/>
            <a:t>Prevents vertical transmission; reduces stigma</a:t>
          </a:r>
        </a:p>
      </dgm:t>
    </dgm:pt>
    <dgm:pt modelId="{02984D3C-B2B7-4EF2-8851-B4B9B0C23DE9}" type="parTrans" cxnId="{316014F1-5231-4AA1-8555-52DF7DF89D17}">
      <dgm:prSet/>
      <dgm:spPr/>
      <dgm:t>
        <a:bodyPr/>
        <a:lstStyle/>
        <a:p>
          <a:endParaRPr lang="en-US"/>
        </a:p>
      </dgm:t>
    </dgm:pt>
    <dgm:pt modelId="{1EADB5C2-9A22-4F51-8A5B-9180860621C6}" type="sibTrans" cxnId="{316014F1-5231-4AA1-8555-52DF7DF89D17}">
      <dgm:prSet/>
      <dgm:spPr/>
      <dgm:t>
        <a:bodyPr/>
        <a:lstStyle/>
        <a:p>
          <a:endParaRPr lang="en-US"/>
        </a:p>
      </dgm:t>
    </dgm:pt>
    <dgm:pt modelId="{E575FB6B-9400-494D-A135-9E14A969BD01}">
      <dgm:prSet/>
      <dgm:spPr/>
      <dgm:t>
        <a:bodyPr/>
        <a:lstStyle/>
        <a:p>
          <a:r>
            <a:rPr lang="en-US" b="1"/>
            <a:t>Other Diseases</a:t>
          </a:r>
          <a:endParaRPr lang="en-US"/>
        </a:p>
      </dgm:t>
    </dgm:pt>
    <dgm:pt modelId="{7CBC41C0-C9E0-4CD0-90A6-9DC499B29B8D}" type="parTrans" cxnId="{73094C0A-4566-4DA3-B625-34C8BAFBA818}">
      <dgm:prSet/>
      <dgm:spPr/>
      <dgm:t>
        <a:bodyPr/>
        <a:lstStyle/>
        <a:p>
          <a:endParaRPr lang="en-US"/>
        </a:p>
      </dgm:t>
    </dgm:pt>
    <dgm:pt modelId="{B89A964D-0F1D-4448-9B34-3DE6EDAF73CD}" type="sibTrans" cxnId="{73094C0A-4566-4DA3-B625-34C8BAFBA818}">
      <dgm:prSet/>
      <dgm:spPr/>
      <dgm:t>
        <a:bodyPr/>
        <a:lstStyle/>
        <a:p>
          <a:endParaRPr lang="en-US"/>
        </a:p>
      </dgm:t>
    </dgm:pt>
    <dgm:pt modelId="{DFB836B3-2FE8-4F15-A378-977AF35A9B4A}">
      <dgm:prSet/>
      <dgm:spPr/>
      <dgm:t>
        <a:bodyPr/>
        <a:lstStyle/>
        <a:p>
          <a:r>
            <a:rPr lang="en-US"/>
            <a:t>Leptospirosis, Hepatitis, Nipah, JE, Zika</a:t>
          </a:r>
        </a:p>
      </dgm:t>
    </dgm:pt>
    <dgm:pt modelId="{5AAF87C0-4551-4483-B21C-8A1E0814C877}" type="parTrans" cxnId="{2406084F-E81A-4A4D-BDC0-72D888B732F6}">
      <dgm:prSet/>
      <dgm:spPr/>
      <dgm:t>
        <a:bodyPr/>
        <a:lstStyle/>
        <a:p>
          <a:endParaRPr lang="en-US"/>
        </a:p>
      </dgm:t>
    </dgm:pt>
    <dgm:pt modelId="{C5F8C2CD-DB59-40FA-AB31-0BB6192848ED}" type="sibTrans" cxnId="{2406084F-E81A-4A4D-BDC0-72D888B732F6}">
      <dgm:prSet/>
      <dgm:spPr/>
      <dgm:t>
        <a:bodyPr/>
        <a:lstStyle/>
        <a:p>
          <a:endParaRPr lang="en-US"/>
        </a:p>
      </dgm:t>
    </dgm:pt>
    <dgm:pt modelId="{FB0634DA-6DDD-4DCB-878A-A145DB7F88B6}">
      <dgm:prSet/>
      <dgm:spPr/>
      <dgm:t>
        <a:bodyPr/>
        <a:lstStyle/>
        <a:p>
          <a:r>
            <a:rPr lang="en-US"/>
            <a:t>Hospital-acquired infections &amp; AMR threats</a:t>
          </a:r>
        </a:p>
      </dgm:t>
    </dgm:pt>
    <dgm:pt modelId="{A1BE7C22-8828-4F6A-ACDE-879EECFAB385}" type="parTrans" cxnId="{64C9CF9D-1D9A-489B-8430-27A912CB2F10}">
      <dgm:prSet/>
      <dgm:spPr/>
      <dgm:t>
        <a:bodyPr/>
        <a:lstStyle/>
        <a:p>
          <a:endParaRPr lang="en-US"/>
        </a:p>
      </dgm:t>
    </dgm:pt>
    <dgm:pt modelId="{D2B05455-4F54-40B6-830D-46926FB70CAA}" type="sibTrans" cxnId="{64C9CF9D-1D9A-489B-8430-27A912CB2F10}">
      <dgm:prSet/>
      <dgm:spPr/>
      <dgm:t>
        <a:bodyPr/>
        <a:lstStyle/>
        <a:p>
          <a:endParaRPr lang="en-US"/>
        </a:p>
      </dgm:t>
    </dgm:pt>
    <dgm:pt modelId="{8373A984-FF54-432E-8D64-D56B72B5CCB5}">
      <dgm:prSet/>
      <dgm:spPr/>
      <dgm:t>
        <a:bodyPr/>
        <a:lstStyle/>
        <a:p>
          <a:r>
            <a:rPr lang="en-US"/>
            <a:t>One Health approach for emerging zoonoses</a:t>
          </a:r>
        </a:p>
      </dgm:t>
    </dgm:pt>
    <dgm:pt modelId="{189C67A2-81D8-457E-846C-63F7DC66F634}" type="parTrans" cxnId="{D9BCB560-8AA7-41DD-BE59-4F64F776B835}">
      <dgm:prSet/>
      <dgm:spPr/>
      <dgm:t>
        <a:bodyPr/>
        <a:lstStyle/>
        <a:p>
          <a:endParaRPr lang="en-US"/>
        </a:p>
      </dgm:t>
    </dgm:pt>
    <dgm:pt modelId="{C81E3C2D-48F4-4AFA-A349-5E6293E2A514}" type="sibTrans" cxnId="{D9BCB560-8AA7-41DD-BE59-4F64F776B835}">
      <dgm:prSet/>
      <dgm:spPr/>
      <dgm:t>
        <a:bodyPr/>
        <a:lstStyle/>
        <a:p>
          <a:endParaRPr lang="en-US"/>
        </a:p>
      </dgm:t>
    </dgm:pt>
    <dgm:pt modelId="{680C475A-F75E-44BA-AEB5-D1C719083090}" type="pres">
      <dgm:prSet presAssocID="{9CAC478F-BFAF-4B70-B798-81370453E36B}" presName="Name0" presStyleCnt="0">
        <dgm:presLayoutVars>
          <dgm:dir/>
          <dgm:animLvl val="lvl"/>
          <dgm:resizeHandles val="exact"/>
        </dgm:presLayoutVars>
      </dgm:prSet>
      <dgm:spPr/>
    </dgm:pt>
    <dgm:pt modelId="{958578CE-1D8A-4712-B52E-E41628221D0E}" type="pres">
      <dgm:prSet presAssocID="{3A333818-7663-4187-B235-48EC1653638C}" presName="composite" presStyleCnt="0"/>
      <dgm:spPr/>
    </dgm:pt>
    <dgm:pt modelId="{A4C36D35-88A2-45CD-8100-489B01904DB3}" type="pres">
      <dgm:prSet presAssocID="{3A333818-7663-4187-B235-48EC1653638C}" presName="parTx" presStyleLbl="alignNode1" presStyleIdx="0" presStyleCnt="2">
        <dgm:presLayoutVars>
          <dgm:chMax val="0"/>
          <dgm:chPref val="0"/>
          <dgm:bulletEnabled val="1"/>
        </dgm:presLayoutVars>
      </dgm:prSet>
      <dgm:spPr/>
    </dgm:pt>
    <dgm:pt modelId="{A3F92C9D-F5D6-4628-8E04-259621BA60A7}" type="pres">
      <dgm:prSet presAssocID="{3A333818-7663-4187-B235-48EC1653638C}" presName="desTx" presStyleLbl="alignAccFollowNode1" presStyleIdx="0" presStyleCnt="2">
        <dgm:presLayoutVars>
          <dgm:bulletEnabled val="1"/>
        </dgm:presLayoutVars>
      </dgm:prSet>
      <dgm:spPr/>
    </dgm:pt>
    <dgm:pt modelId="{20DBCDFA-255A-4497-919A-874005853946}" type="pres">
      <dgm:prSet presAssocID="{BCF5E03D-679C-4288-87C9-8608D7DB00A6}" presName="space" presStyleCnt="0"/>
      <dgm:spPr/>
    </dgm:pt>
    <dgm:pt modelId="{399FF648-7217-4189-9ECC-852A5D4F7A9A}" type="pres">
      <dgm:prSet presAssocID="{E575FB6B-9400-494D-A135-9E14A969BD01}" presName="composite" presStyleCnt="0"/>
      <dgm:spPr/>
    </dgm:pt>
    <dgm:pt modelId="{397DB002-E78C-4B9B-87AA-40F291188457}" type="pres">
      <dgm:prSet presAssocID="{E575FB6B-9400-494D-A135-9E14A969BD01}" presName="parTx" presStyleLbl="alignNode1" presStyleIdx="1" presStyleCnt="2">
        <dgm:presLayoutVars>
          <dgm:chMax val="0"/>
          <dgm:chPref val="0"/>
          <dgm:bulletEnabled val="1"/>
        </dgm:presLayoutVars>
      </dgm:prSet>
      <dgm:spPr/>
    </dgm:pt>
    <dgm:pt modelId="{616CB3F5-DFFC-48D3-8951-DFE6D3A7A343}" type="pres">
      <dgm:prSet presAssocID="{E575FB6B-9400-494D-A135-9E14A969BD01}" presName="desTx" presStyleLbl="alignAccFollowNode1" presStyleIdx="1" presStyleCnt="2">
        <dgm:presLayoutVars>
          <dgm:bulletEnabled val="1"/>
        </dgm:presLayoutVars>
      </dgm:prSet>
      <dgm:spPr/>
    </dgm:pt>
  </dgm:ptLst>
  <dgm:cxnLst>
    <dgm:cxn modelId="{A5A75800-3428-4960-AEA7-D6CE5852D16C}" type="presOf" srcId="{05B9A09B-A715-4F88-863A-D3A0A53697B9}" destId="{A3F92C9D-F5D6-4628-8E04-259621BA60A7}" srcOrd="0" destOrd="1" presId="urn:microsoft.com/office/officeart/2005/8/layout/hList1"/>
    <dgm:cxn modelId="{73094C0A-4566-4DA3-B625-34C8BAFBA818}" srcId="{9CAC478F-BFAF-4B70-B798-81370453E36B}" destId="{E575FB6B-9400-494D-A135-9E14A969BD01}" srcOrd="1" destOrd="0" parTransId="{7CBC41C0-C9E0-4CD0-90A6-9DC499B29B8D}" sibTransId="{B89A964D-0F1D-4448-9B34-3DE6EDAF73CD}"/>
    <dgm:cxn modelId="{29D43C1E-973C-42AF-A220-D44BCAE96C77}" type="presOf" srcId="{8373A984-FF54-432E-8D64-D56B72B5CCB5}" destId="{616CB3F5-DFFC-48D3-8951-DFE6D3A7A343}" srcOrd="0" destOrd="2" presId="urn:microsoft.com/office/officeart/2005/8/layout/hList1"/>
    <dgm:cxn modelId="{1E94EB24-325C-42D0-892E-9DAA0D02ECCD}" type="presOf" srcId="{DFB836B3-2FE8-4F15-A378-977AF35A9B4A}" destId="{616CB3F5-DFFC-48D3-8951-DFE6D3A7A343}" srcOrd="0" destOrd="0" presId="urn:microsoft.com/office/officeart/2005/8/layout/hList1"/>
    <dgm:cxn modelId="{C1483026-3DA1-4D92-B626-05F0F07836E2}" srcId="{3A333818-7663-4187-B235-48EC1653638C}" destId="{F7E8EE41-427B-42FF-9AED-8CA27C3F3CB1}" srcOrd="0" destOrd="0" parTransId="{BBFCEF7E-D021-44F6-AE6E-B7DFE8ED75E7}" sibTransId="{C2578EF7-D4EC-4F30-8FA2-3B53E559E9E4}"/>
    <dgm:cxn modelId="{D9BCB560-8AA7-41DD-BE59-4F64F776B835}" srcId="{E575FB6B-9400-494D-A135-9E14A969BD01}" destId="{8373A984-FF54-432E-8D64-D56B72B5CCB5}" srcOrd="2" destOrd="0" parTransId="{189C67A2-81D8-457E-846C-63F7DC66F634}" sibTransId="{C81E3C2D-48F4-4AFA-A349-5E6293E2A514}"/>
    <dgm:cxn modelId="{57979868-9EE7-45FA-8856-626809FD3E87}" type="presOf" srcId="{9CAC478F-BFAF-4B70-B798-81370453E36B}" destId="{680C475A-F75E-44BA-AEB5-D1C719083090}" srcOrd="0" destOrd="0" presId="urn:microsoft.com/office/officeart/2005/8/layout/hList1"/>
    <dgm:cxn modelId="{D2B89E4B-3C5A-4F62-8A99-DE76A78EC0DC}" type="presOf" srcId="{E575FB6B-9400-494D-A135-9E14A969BD01}" destId="{397DB002-E78C-4B9B-87AA-40F291188457}" srcOrd="0" destOrd="0" presId="urn:microsoft.com/office/officeart/2005/8/layout/hList1"/>
    <dgm:cxn modelId="{ADA4A74B-ED6C-46F7-B67E-91D281678BF8}" type="presOf" srcId="{FB0634DA-6DDD-4DCB-878A-A145DB7F88B6}" destId="{616CB3F5-DFFC-48D3-8951-DFE6D3A7A343}" srcOrd="0" destOrd="1" presId="urn:microsoft.com/office/officeart/2005/8/layout/hList1"/>
    <dgm:cxn modelId="{2406084F-E81A-4A4D-BDC0-72D888B732F6}" srcId="{E575FB6B-9400-494D-A135-9E14A969BD01}" destId="{DFB836B3-2FE8-4F15-A378-977AF35A9B4A}" srcOrd="0" destOrd="0" parTransId="{5AAF87C0-4551-4483-B21C-8A1E0814C877}" sibTransId="{C5F8C2CD-DB59-40FA-AB31-0BB6192848ED}"/>
    <dgm:cxn modelId="{D8079A77-CCB3-445D-A9AC-6224B0C4618D}" srcId="{9CAC478F-BFAF-4B70-B798-81370453E36B}" destId="{3A333818-7663-4187-B235-48EC1653638C}" srcOrd="0" destOrd="0" parTransId="{FFCB78C2-4FDC-48D2-B9FD-CA1F939A75D8}" sibTransId="{BCF5E03D-679C-4288-87C9-8608D7DB00A6}"/>
    <dgm:cxn modelId="{64C9CF9D-1D9A-489B-8430-27A912CB2F10}" srcId="{E575FB6B-9400-494D-A135-9E14A969BD01}" destId="{FB0634DA-6DDD-4DCB-878A-A145DB7F88B6}" srcOrd="1" destOrd="0" parTransId="{A1BE7C22-8828-4F6A-ACDE-879EECFAB385}" sibTransId="{D2B05455-4F54-40B6-830D-46926FB70CAA}"/>
    <dgm:cxn modelId="{1323F3CD-E3ED-4F06-B172-7EE7526A64A9}" type="presOf" srcId="{F7E8EE41-427B-42FF-9AED-8CA27C3F3CB1}" destId="{A3F92C9D-F5D6-4628-8E04-259621BA60A7}" srcOrd="0" destOrd="0" presId="urn:microsoft.com/office/officeart/2005/8/layout/hList1"/>
    <dgm:cxn modelId="{316014F1-5231-4AA1-8555-52DF7DF89D17}" srcId="{3A333818-7663-4187-B235-48EC1653638C}" destId="{05B9A09B-A715-4F88-863A-D3A0A53697B9}" srcOrd="1" destOrd="0" parTransId="{02984D3C-B2B7-4EF2-8851-B4B9B0C23DE9}" sibTransId="{1EADB5C2-9A22-4F51-8A5B-9180860621C6}"/>
    <dgm:cxn modelId="{35160FFA-7E27-4546-B47C-E3F1BCB9C021}" type="presOf" srcId="{3A333818-7663-4187-B235-48EC1653638C}" destId="{A4C36D35-88A2-45CD-8100-489B01904DB3}" srcOrd="0" destOrd="0" presId="urn:microsoft.com/office/officeart/2005/8/layout/hList1"/>
    <dgm:cxn modelId="{20426531-2713-4527-83D7-6C94F118019D}" type="presParOf" srcId="{680C475A-F75E-44BA-AEB5-D1C719083090}" destId="{958578CE-1D8A-4712-B52E-E41628221D0E}" srcOrd="0" destOrd="0" presId="urn:microsoft.com/office/officeart/2005/8/layout/hList1"/>
    <dgm:cxn modelId="{91FF17CD-0635-4598-B43E-1E6E9C34F029}" type="presParOf" srcId="{958578CE-1D8A-4712-B52E-E41628221D0E}" destId="{A4C36D35-88A2-45CD-8100-489B01904DB3}" srcOrd="0" destOrd="0" presId="urn:microsoft.com/office/officeart/2005/8/layout/hList1"/>
    <dgm:cxn modelId="{DBD51416-2B40-428E-92F4-4B491FDBF8EF}" type="presParOf" srcId="{958578CE-1D8A-4712-B52E-E41628221D0E}" destId="{A3F92C9D-F5D6-4628-8E04-259621BA60A7}" srcOrd="1" destOrd="0" presId="urn:microsoft.com/office/officeart/2005/8/layout/hList1"/>
    <dgm:cxn modelId="{03FB99A4-6B77-47C1-ABE8-D4D73DBEBFC2}" type="presParOf" srcId="{680C475A-F75E-44BA-AEB5-D1C719083090}" destId="{20DBCDFA-255A-4497-919A-874005853946}" srcOrd="1" destOrd="0" presId="urn:microsoft.com/office/officeart/2005/8/layout/hList1"/>
    <dgm:cxn modelId="{06A497BC-822C-4AA2-A9EA-EDEEDA7040F1}" type="presParOf" srcId="{680C475A-F75E-44BA-AEB5-D1C719083090}" destId="{399FF648-7217-4189-9ECC-852A5D4F7A9A}" srcOrd="2" destOrd="0" presId="urn:microsoft.com/office/officeart/2005/8/layout/hList1"/>
    <dgm:cxn modelId="{20510242-BCB4-4BC2-BBEE-9897B9152A87}" type="presParOf" srcId="{399FF648-7217-4189-9ECC-852A5D4F7A9A}" destId="{397DB002-E78C-4B9B-87AA-40F291188457}" srcOrd="0" destOrd="0" presId="urn:microsoft.com/office/officeart/2005/8/layout/hList1"/>
    <dgm:cxn modelId="{1723BC3C-0936-4E64-ADA6-BD9931C69107}" type="presParOf" srcId="{399FF648-7217-4189-9ECC-852A5D4F7A9A}" destId="{616CB3F5-DFFC-48D3-8951-DFE6D3A7A34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D18599B-B830-4429-B58E-E87D4EDF1C60}"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109835F-3B12-49B8-8FF0-4F33FF570551}">
      <dgm:prSet/>
      <dgm:spPr/>
      <dgm:t>
        <a:bodyPr/>
        <a:lstStyle/>
        <a:p>
          <a:pPr>
            <a:defRPr b="1"/>
          </a:pPr>
          <a:r>
            <a:rPr lang="en-US" b="1"/>
            <a:t>Human Health Sector:</a:t>
          </a:r>
          <a:endParaRPr lang="en-US"/>
        </a:p>
      </dgm:t>
    </dgm:pt>
    <dgm:pt modelId="{6146E9D6-C895-41D2-9CF8-F760A87D09C3}" type="parTrans" cxnId="{F0B1D5B4-92D5-4815-A9BF-DD683EE32253}">
      <dgm:prSet/>
      <dgm:spPr/>
      <dgm:t>
        <a:bodyPr/>
        <a:lstStyle/>
        <a:p>
          <a:endParaRPr lang="en-US"/>
        </a:p>
      </dgm:t>
    </dgm:pt>
    <dgm:pt modelId="{8B62BAEF-74D0-4D1A-AEE9-8417F34FAE25}" type="sibTrans" cxnId="{F0B1D5B4-92D5-4815-A9BF-DD683EE32253}">
      <dgm:prSet/>
      <dgm:spPr/>
      <dgm:t>
        <a:bodyPr/>
        <a:lstStyle/>
        <a:p>
          <a:endParaRPr lang="en-US"/>
        </a:p>
      </dgm:t>
    </dgm:pt>
    <dgm:pt modelId="{3E01E568-8EC6-430D-A62B-F11BE7E16BFE}">
      <dgm:prSet custT="1"/>
      <dgm:spPr/>
      <dgm:t>
        <a:bodyPr/>
        <a:lstStyle/>
        <a:p>
          <a:r>
            <a:rPr lang="en-US" sz="2400" dirty="0"/>
            <a:t>Disease surveillance and control</a:t>
          </a:r>
        </a:p>
      </dgm:t>
    </dgm:pt>
    <dgm:pt modelId="{B8F822F6-3216-47BF-9154-5AE1C95BB544}" type="parTrans" cxnId="{E5D921C5-B697-4CEF-B886-BEA250A1126B}">
      <dgm:prSet/>
      <dgm:spPr/>
      <dgm:t>
        <a:bodyPr/>
        <a:lstStyle/>
        <a:p>
          <a:endParaRPr lang="en-US"/>
        </a:p>
      </dgm:t>
    </dgm:pt>
    <dgm:pt modelId="{10744FBF-9B4E-44CA-B02B-46320F5821F4}" type="sibTrans" cxnId="{E5D921C5-B697-4CEF-B886-BEA250A1126B}">
      <dgm:prSet/>
      <dgm:spPr/>
      <dgm:t>
        <a:bodyPr/>
        <a:lstStyle/>
        <a:p>
          <a:endParaRPr lang="en-US"/>
        </a:p>
      </dgm:t>
    </dgm:pt>
    <dgm:pt modelId="{67FA3D9D-17D1-4511-B29B-4F392208C9B3}">
      <dgm:prSet custT="1"/>
      <dgm:spPr/>
      <dgm:t>
        <a:bodyPr/>
        <a:lstStyle/>
        <a:p>
          <a:r>
            <a:rPr lang="en-US" sz="2400" dirty="0"/>
            <a:t>Health education</a:t>
          </a:r>
        </a:p>
      </dgm:t>
    </dgm:pt>
    <dgm:pt modelId="{189872D2-7B47-4F71-8605-067049FF52C7}" type="parTrans" cxnId="{0FE4CECF-C327-4DD6-908A-5E7772646535}">
      <dgm:prSet/>
      <dgm:spPr/>
      <dgm:t>
        <a:bodyPr/>
        <a:lstStyle/>
        <a:p>
          <a:endParaRPr lang="en-US"/>
        </a:p>
      </dgm:t>
    </dgm:pt>
    <dgm:pt modelId="{E1B115DE-8662-4845-97AA-9538384D6818}" type="sibTrans" cxnId="{0FE4CECF-C327-4DD6-908A-5E7772646535}">
      <dgm:prSet/>
      <dgm:spPr/>
      <dgm:t>
        <a:bodyPr/>
        <a:lstStyle/>
        <a:p>
          <a:endParaRPr lang="en-US"/>
        </a:p>
      </dgm:t>
    </dgm:pt>
    <dgm:pt modelId="{24D9CE78-F80C-4B02-9729-86C869944BE5}">
      <dgm:prSet custT="1"/>
      <dgm:spPr/>
      <dgm:t>
        <a:bodyPr/>
        <a:lstStyle/>
        <a:p>
          <a:r>
            <a:rPr lang="en-US" sz="2400"/>
            <a:t>Outbreak response</a:t>
          </a:r>
        </a:p>
      </dgm:t>
    </dgm:pt>
    <dgm:pt modelId="{CA76B280-A9A0-4ED7-9DF9-3498A9193EAE}" type="parTrans" cxnId="{CB985AA3-B3D5-489C-A1B1-93D477609BD4}">
      <dgm:prSet/>
      <dgm:spPr/>
      <dgm:t>
        <a:bodyPr/>
        <a:lstStyle/>
        <a:p>
          <a:endParaRPr lang="en-US"/>
        </a:p>
      </dgm:t>
    </dgm:pt>
    <dgm:pt modelId="{92169536-4CC2-404D-8840-58A473FCD111}" type="sibTrans" cxnId="{CB985AA3-B3D5-489C-A1B1-93D477609BD4}">
      <dgm:prSet/>
      <dgm:spPr/>
      <dgm:t>
        <a:bodyPr/>
        <a:lstStyle/>
        <a:p>
          <a:endParaRPr lang="en-US"/>
        </a:p>
      </dgm:t>
    </dgm:pt>
    <dgm:pt modelId="{CD1D3832-5D72-4035-AFE1-7C5D9011126A}">
      <dgm:prSet/>
      <dgm:spPr/>
      <dgm:t>
        <a:bodyPr/>
        <a:lstStyle/>
        <a:p>
          <a:pPr>
            <a:defRPr b="1"/>
          </a:pPr>
          <a:r>
            <a:rPr lang="en-US" b="1"/>
            <a:t>Animal Health Sector:</a:t>
          </a:r>
          <a:endParaRPr lang="en-US"/>
        </a:p>
      </dgm:t>
    </dgm:pt>
    <dgm:pt modelId="{22A98FFF-2DCA-4874-8FC5-21D8480302A0}" type="parTrans" cxnId="{484EA4A1-F8C6-4089-A4B3-045E164EE487}">
      <dgm:prSet/>
      <dgm:spPr/>
      <dgm:t>
        <a:bodyPr/>
        <a:lstStyle/>
        <a:p>
          <a:endParaRPr lang="en-US"/>
        </a:p>
      </dgm:t>
    </dgm:pt>
    <dgm:pt modelId="{E095C9CB-1A9B-42E0-8F81-BFDCEEC411FA}" type="sibTrans" cxnId="{484EA4A1-F8C6-4089-A4B3-045E164EE487}">
      <dgm:prSet/>
      <dgm:spPr/>
      <dgm:t>
        <a:bodyPr/>
        <a:lstStyle/>
        <a:p>
          <a:endParaRPr lang="en-US"/>
        </a:p>
      </dgm:t>
    </dgm:pt>
    <dgm:pt modelId="{3B08F03D-135B-4A70-9677-E74CC9FB1B14}">
      <dgm:prSet custT="1"/>
      <dgm:spPr/>
      <dgm:t>
        <a:bodyPr/>
        <a:lstStyle/>
        <a:p>
          <a:r>
            <a:rPr lang="en-US" sz="2400"/>
            <a:t>Monitoring livestock and wildlife diseases</a:t>
          </a:r>
        </a:p>
      </dgm:t>
    </dgm:pt>
    <dgm:pt modelId="{8C5F7B01-4F3F-422C-8CA8-6A35B32547AB}" type="parTrans" cxnId="{CA2F3416-C7E2-4F5D-B678-BAB60F31F726}">
      <dgm:prSet/>
      <dgm:spPr/>
      <dgm:t>
        <a:bodyPr/>
        <a:lstStyle/>
        <a:p>
          <a:endParaRPr lang="en-US"/>
        </a:p>
      </dgm:t>
    </dgm:pt>
    <dgm:pt modelId="{20E162A2-55D8-44BE-A439-9F42A5235647}" type="sibTrans" cxnId="{CA2F3416-C7E2-4F5D-B678-BAB60F31F726}">
      <dgm:prSet/>
      <dgm:spPr/>
      <dgm:t>
        <a:bodyPr/>
        <a:lstStyle/>
        <a:p>
          <a:endParaRPr lang="en-US"/>
        </a:p>
      </dgm:t>
    </dgm:pt>
    <dgm:pt modelId="{62DD1B02-7150-4FA7-B2C7-F577FD3E7526}">
      <dgm:prSet custT="1"/>
      <dgm:spPr/>
      <dgm:t>
        <a:bodyPr/>
        <a:lstStyle/>
        <a:p>
          <a:r>
            <a:rPr lang="en-US" sz="2400"/>
            <a:t>Veterinary public health programs</a:t>
          </a:r>
        </a:p>
      </dgm:t>
    </dgm:pt>
    <dgm:pt modelId="{524877C5-280B-4372-8CE2-E7F5471CDF2F}" type="parTrans" cxnId="{8882FFDC-92CC-4494-9BD3-46F7B6D2532F}">
      <dgm:prSet/>
      <dgm:spPr/>
      <dgm:t>
        <a:bodyPr/>
        <a:lstStyle/>
        <a:p>
          <a:endParaRPr lang="en-US"/>
        </a:p>
      </dgm:t>
    </dgm:pt>
    <dgm:pt modelId="{D49F61DA-1AEC-410E-BA7F-025DCFA642F2}" type="sibTrans" cxnId="{8882FFDC-92CC-4494-9BD3-46F7B6D2532F}">
      <dgm:prSet/>
      <dgm:spPr/>
      <dgm:t>
        <a:bodyPr/>
        <a:lstStyle/>
        <a:p>
          <a:endParaRPr lang="en-US"/>
        </a:p>
      </dgm:t>
    </dgm:pt>
    <dgm:pt modelId="{B7F156D4-2B5C-4C60-BB9E-30707B2DA42E}">
      <dgm:prSet custT="1"/>
      <dgm:spPr/>
      <dgm:t>
        <a:bodyPr/>
        <a:lstStyle/>
        <a:p>
          <a:r>
            <a:rPr lang="en-US" sz="2400"/>
            <a:t>Early detection of zoonoses</a:t>
          </a:r>
        </a:p>
      </dgm:t>
    </dgm:pt>
    <dgm:pt modelId="{4746CF00-4951-4E5A-95F5-30AEED94E4A3}" type="parTrans" cxnId="{94EE3E67-834A-45A3-9788-4E1672FEF2FA}">
      <dgm:prSet/>
      <dgm:spPr/>
      <dgm:t>
        <a:bodyPr/>
        <a:lstStyle/>
        <a:p>
          <a:endParaRPr lang="en-US"/>
        </a:p>
      </dgm:t>
    </dgm:pt>
    <dgm:pt modelId="{A8DA9D9A-CCBD-4040-B9F2-72B605E5867C}" type="sibTrans" cxnId="{94EE3E67-834A-45A3-9788-4E1672FEF2FA}">
      <dgm:prSet/>
      <dgm:spPr/>
      <dgm:t>
        <a:bodyPr/>
        <a:lstStyle/>
        <a:p>
          <a:endParaRPr lang="en-US"/>
        </a:p>
      </dgm:t>
    </dgm:pt>
    <dgm:pt modelId="{B93B41CB-E5EE-419B-9A8A-BD5FD463BD91}">
      <dgm:prSet/>
      <dgm:spPr/>
      <dgm:t>
        <a:bodyPr/>
        <a:lstStyle/>
        <a:p>
          <a:pPr>
            <a:defRPr b="1"/>
          </a:pPr>
          <a:r>
            <a:rPr lang="en-US" b="1"/>
            <a:t>Environmental Sector:</a:t>
          </a:r>
          <a:endParaRPr lang="en-US"/>
        </a:p>
      </dgm:t>
    </dgm:pt>
    <dgm:pt modelId="{9589DD31-1E8F-40F5-A470-DE8ADCDB994E}" type="parTrans" cxnId="{5D94C790-F539-48D0-9096-2392828433DE}">
      <dgm:prSet/>
      <dgm:spPr/>
      <dgm:t>
        <a:bodyPr/>
        <a:lstStyle/>
        <a:p>
          <a:endParaRPr lang="en-US"/>
        </a:p>
      </dgm:t>
    </dgm:pt>
    <dgm:pt modelId="{541BB28A-BB60-483F-8DCF-9F601A3269FC}" type="sibTrans" cxnId="{5D94C790-F539-48D0-9096-2392828433DE}">
      <dgm:prSet/>
      <dgm:spPr/>
      <dgm:t>
        <a:bodyPr/>
        <a:lstStyle/>
        <a:p>
          <a:endParaRPr lang="en-US"/>
        </a:p>
      </dgm:t>
    </dgm:pt>
    <dgm:pt modelId="{D2993C38-89D2-4DE6-AA93-DE6ED481D287}">
      <dgm:prSet custT="1"/>
      <dgm:spPr/>
      <dgm:t>
        <a:bodyPr/>
        <a:lstStyle/>
        <a:p>
          <a:r>
            <a:rPr lang="en-US" sz="2400"/>
            <a:t>Ecosystem integrity</a:t>
          </a:r>
        </a:p>
      </dgm:t>
    </dgm:pt>
    <dgm:pt modelId="{083BAACA-21DB-4CA2-8A20-E848C6196BC1}" type="parTrans" cxnId="{5C4778ED-ECE9-4CCF-9D24-ED5D7D455903}">
      <dgm:prSet/>
      <dgm:spPr/>
      <dgm:t>
        <a:bodyPr/>
        <a:lstStyle/>
        <a:p>
          <a:endParaRPr lang="en-US"/>
        </a:p>
      </dgm:t>
    </dgm:pt>
    <dgm:pt modelId="{CD0B5662-5B53-40C4-883F-D18151EFEC40}" type="sibTrans" cxnId="{5C4778ED-ECE9-4CCF-9D24-ED5D7D455903}">
      <dgm:prSet/>
      <dgm:spPr/>
      <dgm:t>
        <a:bodyPr/>
        <a:lstStyle/>
        <a:p>
          <a:endParaRPr lang="en-US"/>
        </a:p>
      </dgm:t>
    </dgm:pt>
    <dgm:pt modelId="{D4F8C192-10A7-46CD-9AB0-90C7BC0330E5}">
      <dgm:prSet custT="1"/>
      <dgm:spPr/>
      <dgm:t>
        <a:bodyPr/>
        <a:lstStyle/>
        <a:p>
          <a:r>
            <a:rPr lang="en-US" sz="2400"/>
            <a:t>Climate change mitigation</a:t>
          </a:r>
        </a:p>
      </dgm:t>
    </dgm:pt>
    <dgm:pt modelId="{5CAB5B22-38BD-4A14-AB96-89B01D5AA7DC}" type="parTrans" cxnId="{8345516F-0B53-405F-B175-B53CF45BFF72}">
      <dgm:prSet/>
      <dgm:spPr/>
      <dgm:t>
        <a:bodyPr/>
        <a:lstStyle/>
        <a:p>
          <a:endParaRPr lang="en-US"/>
        </a:p>
      </dgm:t>
    </dgm:pt>
    <dgm:pt modelId="{2C5B300F-B2E1-48D8-9DEA-37D8E4CBCEEB}" type="sibTrans" cxnId="{8345516F-0B53-405F-B175-B53CF45BFF72}">
      <dgm:prSet/>
      <dgm:spPr/>
      <dgm:t>
        <a:bodyPr/>
        <a:lstStyle/>
        <a:p>
          <a:endParaRPr lang="en-US"/>
        </a:p>
      </dgm:t>
    </dgm:pt>
    <dgm:pt modelId="{4E8F626F-5272-4695-8973-1D69173D9D91}">
      <dgm:prSet custT="1"/>
      <dgm:spPr/>
      <dgm:t>
        <a:bodyPr/>
        <a:lstStyle/>
        <a:p>
          <a:r>
            <a:rPr lang="en-US" sz="2400"/>
            <a:t>Water and vector-borne disease management</a:t>
          </a:r>
        </a:p>
      </dgm:t>
    </dgm:pt>
    <dgm:pt modelId="{D21D7D4B-005E-47F3-AA2D-A9D08BA14E88}" type="parTrans" cxnId="{2D63D44D-FF09-4AC2-B6F2-FEA0B74C9B7A}">
      <dgm:prSet/>
      <dgm:spPr/>
      <dgm:t>
        <a:bodyPr/>
        <a:lstStyle/>
        <a:p>
          <a:endParaRPr lang="en-US"/>
        </a:p>
      </dgm:t>
    </dgm:pt>
    <dgm:pt modelId="{1F948D9E-F3D5-4697-8224-137CF61483A8}" type="sibTrans" cxnId="{2D63D44D-FF09-4AC2-B6F2-FEA0B74C9B7A}">
      <dgm:prSet/>
      <dgm:spPr/>
      <dgm:t>
        <a:bodyPr/>
        <a:lstStyle/>
        <a:p>
          <a:endParaRPr lang="en-US"/>
        </a:p>
      </dgm:t>
    </dgm:pt>
    <dgm:pt modelId="{233553AD-4972-449D-A3B4-28D52AB5C76B}" type="pres">
      <dgm:prSet presAssocID="{DD18599B-B830-4429-B58E-E87D4EDF1C60}" presName="root" presStyleCnt="0">
        <dgm:presLayoutVars>
          <dgm:dir/>
          <dgm:resizeHandles val="exact"/>
        </dgm:presLayoutVars>
      </dgm:prSet>
      <dgm:spPr/>
    </dgm:pt>
    <dgm:pt modelId="{DDFC63AD-66F9-4FE2-9B91-500972B3EF06}" type="pres">
      <dgm:prSet presAssocID="{B109835F-3B12-49B8-8FF0-4F33FF570551}" presName="compNode" presStyleCnt="0"/>
      <dgm:spPr/>
    </dgm:pt>
    <dgm:pt modelId="{8022B481-9FB2-40DF-9559-4B0C774731F1}" type="pres">
      <dgm:prSet presAssocID="{B109835F-3B12-49B8-8FF0-4F33FF57055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dical"/>
        </a:ext>
      </dgm:extLst>
    </dgm:pt>
    <dgm:pt modelId="{78B77E5F-D5F6-49D4-8262-8D7C80A6E049}" type="pres">
      <dgm:prSet presAssocID="{B109835F-3B12-49B8-8FF0-4F33FF570551}" presName="iconSpace" presStyleCnt="0"/>
      <dgm:spPr/>
    </dgm:pt>
    <dgm:pt modelId="{3FF278A9-B26F-49C5-8535-41611C33C9F0}" type="pres">
      <dgm:prSet presAssocID="{B109835F-3B12-49B8-8FF0-4F33FF570551}" presName="parTx" presStyleLbl="revTx" presStyleIdx="0" presStyleCnt="6">
        <dgm:presLayoutVars>
          <dgm:chMax val="0"/>
          <dgm:chPref val="0"/>
        </dgm:presLayoutVars>
      </dgm:prSet>
      <dgm:spPr/>
    </dgm:pt>
    <dgm:pt modelId="{8B10B941-AD45-4BE6-AC7D-A19D0437EADF}" type="pres">
      <dgm:prSet presAssocID="{B109835F-3B12-49B8-8FF0-4F33FF570551}" presName="txSpace" presStyleCnt="0"/>
      <dgm:spPr/>
    </dgm:pt>
    <dgm:pt modelId="{23DD6BEB-A299-441D-91F9-6E18017920DA}" type="pres">
      <dgm:prSet presAssocID="{B109835F-3B12-49B8-8FF0-4F33FF570551}" presName="desTx" presStyleLbl="revTx" presStyleIdx="1" presStyleCnt="6">
        <dgm:presLayoutVars/>
      </dgm:prSet>
      <dgm:spPr/>
    </dgm:pt>
    <dgm:pt modelId="{F6E5DFE5-466D-4A48-9FFF-94FCE37AD363}" type="pres">
      <dgm:prSet presAssocID="{8B62BAEF-74D0-4D1A-AEE9-8417F34FAE25}" presName="sibTrans" presStyleCnt="0"/>
      <dgm:spPr/>
    </dgm:pt>
    <dgm:pt modelId="{59DB10C1-0D8E-4833-B7AB-0E3BB5492E6C}" type="pres">
      <dgm:prSet presAssocID="{CD1D3832-5D72-4035-AFE1-7C5D9011126A}" presName="compNode" presStyleCnt="0"/>
      <dgm:spPr/>
    </dgm:pt>
    <dgm:pt modelId="{E44589B5-B815-473D-B49A-0080E766426B}" type="pres">
      <dgm:prSet presAssocID="{CD1D3832-5D72-4035-AFE1-7C5D9011126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Veterinarian"/>
        </a:ext>
      </dgm:extLst>
    </dgm:pt>
    <dgm:pt modelId="{05F1DB48-0BAC-456C-9E4A-5D30F714223D}" type="pres">
      <dgm:prSet presAssocID="{CD1D3832-5D72-4035-AFE1-7C5D9011126A}" presName="iconSpace" presStyleCnt="0"/>
      <dgm:spPr/>
    </dgm:pt>
    <dgm:pt modelId="{D8626EA6-A2BD-4A48-B5D2-08B78F7F7A62}" type="pres">
      <dgm:prSet presAssocID="{CD1D3832-5D72-4035-AFE1-7C5D9011126A}" presName="parTx" presStyleLbl="revTx" presStyleIdx="2" presStyleCnt="6">
        <dgm:presLayoutVars>
          <dgm:chMax val="0"/>
          <dgm:chPref val="0"/>
        </dgm:presLayoutVars>
      </dgm:prSet>
      <dgm:spPr/>
    </dgm:pt>
    <dgm:pt modelId="{6868E4C2-790F-4EC7-A87D-FC42F15BB95A}" type="pres">
      <dgm:prSet presAssocID="{CD1D3832-5D72-4035-AFE1-7C5D9011126A}" presName="txSpace" presStyleCnt="0"/>
      <dgm:spPr/>
    </dgm:pt>
    <dgm:pt modelId="{85C6E420-4AAB-4C4B-8DF9-2EE17EC06C0F}" type="pres">
      <dgm:prSet presAssocID="{CD1D3832-5D72-4035-AFE1-7C5D9011126A}" presName="desTx" presStyleLbl="revTx" presStyleIdx="3" presStyleCnt="6">
        <dgm:presLayoutVars/>
      </dgm:prSet>
      <dgm:spPr/>
    </dgm:pt>
    <dgm:pt modelId="{363EF97C-E91C-411E-9CC0-09F139D85345}" type="pres">
      <dgm:prSet presAssocID="{E095C9CB-1A9B-42E0-8F81-BFDCEEC411FA}" presName="sibTrans" presStyleCnt="0"/>
      <dgm:spPr/>
    </dgm:pt>
    <dgm:pt modelId="{15109843-00D3-4475-8915-3147223C615A}" type="pres">
      <dgm:prSet presAssocID="{B93B41CB-E5EE-419B-9A8A-BD5FD463BD91}" presName="compNode" presStyleCnt="0"/>
      <dgm:spPr/>
    </dgm:pt>
    <dgm:pt modelId="{C60E187C-BC6B-46D1-85C7-DAF9F0630289}" type="pres">
      <dgm:prSet presAssocID="{B93B41CB-E5EE-419B-9A8A-BD5FD463BD9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eciduous tree"/>
        </a:ext>
      </dgm:extLst>
    </dgm:pt>
    <dgm:pt modelId="{499D3315-C59E-4CE3-AA61-06FD866D3932}" type="pres">
      <dgm:prSet presAssocID="{B93B41CB-E5EE-419B-9A8A-BD5FD463BD91}" presName="iconSpace" presStyleCnt="0"/>
      <dgm:spPr/>
    </dgm:pt>
    <dgm:pt modelId="{4EE4B6B8-4B8A-4FDF-AB09-AA2A59A34E1D}" type="pres">
      <dgm:prSet presAssocID="{B93B41CB-E5EE-419B-9A8A-BD5FD463BD91}" presName="parTx" presStyleLbl="revTx" presStyleIdx="4" presStyleCnt="6">
        <dgm:presLayoutVars>
          <dgm:chMax val="0"/>
          <dgm:chPref val="0"/>
        </dgm:presLayoutVars>
      </dgm:prSet>
      <dgm:spPr/>
    </dgm:pt>
    <dgm:pt modelId="{E8E5776A-B1BC-4F79-824D-367AEEB3EB76}" type="pres">
      <dgm:prSet presAssocID="{B93B41CB-E5EE-419B-9A8A-BD5FD463BD91}" presName="txSpace" presStyleCnt="0"/>
      <dgm:spPr/>
    </dgm:pt>
    <dgm:pt modelId="{B4D04E1E-B4D8-4B9B-B497-AB8821027F50}" type="pres">
      <dgm:prSet presAssocID="{B93B41CB-E5EE-419B-9A8A-BD5FD463BD91}" presName="desTx" presStyleLbl="revTx" presStyleIdx="5" presStyleCnt="6">
        <dgm:presLayoutVars/>
      </dgm:prSet>
      <dgm:spPr/>
    </dgm:pt>
  </dgm:ptLst>
  <dgm:cxnLst>
    <dgm:cxn modelId="{CA2F3416-C7E2-4F5D-B678-BAB60F31F726}" srcId="{CD1D3832-5D72-4035-AFE1-7C5D9011126A}" destId="{3B08F03D-135B-4A70-9677-E74CC9FB1B14}" srcOrd="0" destOrd="0" parTransId="{8C5F7B01-4F3F-422C-8CA8-6A35B32547AB}" sibTransId="{20E162A2-55D8-44BE-A439-9F42A5235647}"/>
    <dgm:cxn modelId="{9BD48734-363B-45D6-92C8-63B0699FBAF2}" type="presOf" srcId="{4E8F626F-5272-4695-8973-1D69173D9D91}" destId="{B4D04E1E-B4D8-4B9B-B497-AB8821027F50}" srcOrd="0" destOrd="2" presId="urn:microsoft.com/office/officeart/2018/2/layout/IconLabelDescriptionList"/>
    <dgm:cxn modelId="{0AD7EF34-9ABA-4793-8CA6-BAB199FCEE96}" type="presOf" srcId="{B93B41CB-E5EE-419B-9A8A-BD5FD463BD91}" destId="{4EE4B6B8-4B8A-4FDF-AB09-AA2A59A34E1D}" srcOrd="0" destOrd="0" presId="urn:microsoft.com/office/officeart/2018/2/layout/IconLabelDescriptionList"/>
    <dgm:cxn modelId="{94EE3E67-834A-45A3-9788-4E1672FEF2FA}" srcId="{CD1D3832-5D72-4035-AFE1-7C5D9011126A}" destId="{B7F156D4-2B5C-4C60-BB9E-30707B2DA42E}" srcOrd="2" destOrd="0" parTransId="{4746CF00-4951-4E5A-95F5-30AEED94E4A3}" sibTransId="{A8DA9D9A-CCBD-4040-B9F2-72B605E5867C}"/>
    <dgm:cxn modelId="{0386F949-68C3-4A07-A4BB-911AB11B0E58}" type="presOf" srcId="{B109835F-3B12-49B8-8FF0-4F33FF570551}" destId="{3FF278A9-B26F-49C5-8535-41611C33C9F0}" srcOrd="0" destOrd="0" presId="urn:microsoft.com/office/officeart/2018/2/layout/IconLabelDescriptionList"/>
    <dgm:cxn modelId="{2D63D44D-FF09-4AC2-B6F2-FEA0B74C9B7A}" srcId="{B93B41CB-E5EE-419B-9A8A-BD5FD463BD91}" destId="{4E8F626F-5272-4695-8973-1D69173D9D91}" srcOrd="2" destOrd="0" parTransId="{D21D7D4B-005E-47F3-AA2D-A9D08BA14E88}" sibTransId="{1F948D9E-F3D5-4697-8224-137CF61483A8}"/>
    <dgm:cxn modelId="{8345516F-0B53-405F-B175-B53CF45BFF72}" srcId="{B93B41CB-E5EE-419B-9A8A-BD5FD463BD91}" destId="{D4F8C192-10A7-46CD-9AB0-90C7BC0330E5}" srcOrd="1" destOrd="0" parTransId="{5CAB5B22-38BD-4A14-AB96-89B01D5AA7DC}" sibTransId="{2C5B300F-B2E1-48D8-9DEA-37D8E4CBCEEB}"/>
    <dgm:cxn modelId="{72CA4D72-DD8C-4802-9F9E-50729009219C}" type="presOf" srcId="{24D9CE78-F80C-4B02-9729-86C869944BE5}" destId="{23DD6BEB-A299-441D-91F9-6E18017920DA}" srcOrd="0" destOrd="2" presId="urn:microsoft.com/office/officeart/2018/2/layout/IconLabelDescriptionList"/>
    <dgm:cxn modelId="{6162C384-6880-4300-AC12-1396C19E491D}" type="presOf" srcId="{D4F8C192-10A7-46CD-9AB0-90C7BC0330E5}" destId="{B4D04E1E-B4D8-4B9B-B497-AB8821027F50}" srcOrd="0" destOrd="1" presId="urn:microsoft.com/office/officeart/2018/2/layout/IconLabelDescriptionList"/>
    <dgm:cxn modelId="{5D94C790-F539-48D0-9096-2392828433DE}" srcId="{DD18599B-B830-4429-B58E-E87D4EDF1C60}" destId="{B93B41CB-E5EE-419B-9A8A-BD5FD463BD91}" srcOrd="2" destOrd="0" parTransId="{9589DD31-1E8F-40F5-A470-DE8ADCDB994E}" sibTransId="{541BB28A-BB60-483F-8DCF-9F601A3269FC}"/>
    <dgm:cxn modelId="{84F1D391-928A-457F-88A1-00FE444B3035}" type="presOf" srcId="{3E01E568-8EC6-430D-A62B-F11BE7E16BFE}" destId="{23DD6BEB-A299-441D-91F9-6E18017920DA}" srcOrd="0" destOrd="0" presId="urn:microsoft.com/office/officeart/2018/2/layout/IconLabelDescriptionList"/>
    <dgm:cxn modelId="{484EA4A1-F8C6-4089-A4B3-045E164EE487}" srcId="{DD18599B-B830-4429-B58E-E87D4EDF1C60}" destId="{CD1D3832-5D72-4035-AFE1-7C5D9011126A}" srcOrd="1" destOrd="0" parTransId="{22A98FFF-2DCA-4874-8FC5-21D8480302A0}" sibTransId="{E095C9CB-1A9B-42E0-8F81-BFDCEEC411FA}"/>
    <dgm:cxn modelId="{CB985AA3-B3D5-489C-A1B1-93D477609BD4}" srcId="{B109835F-3B12-49B8-8FF0-4F33FF570551}" destId="{24D9CE78-F80C-4B02-9729-86C869944BE5}" srcOrd="2" destOrd="0" parTransId="{CA76B280-A9A0-4ED7-9DF9-3498A9193EAE}" sibTransId="{92169536-4CC2-404D-8840-58A473FCD111}"/>
    <dgm:cxn modelId="{E0B82AAA-1B1C-4E25-ABEF-ADF857FF1F2D}" type="presOf" srcId="{DD18599B-B830-4429-B58E-E87D4EDF1C60}" destId="{233553AD-4972-449D-A3B4-28D52AB5C76B}" srcOrd="0" destOrd="0" presId="urn:microsoft.com/office/officeart/2018/2/layout/IconLabelDescriptionList"/>
    <dgm:cxn modelId="{F90E03AE-CCD8-447F-A975-B1D321E72CFE}" type="presOf" srcId="{67FA3D9D-17D1-4511-B29B-4F392208C9B3}" destId="{23DD6BEB-A299-441D-91F9-6E18017920DA}" srcOrd="0" destOrd="1" presId="urn:microsoft.com/office/officeart/2018/2/layout/IconLabelDescriptionList"/>
    <dgm:cxn modelId="{F0B1D5B4-92D5-4815-A9BF-DD683EE32253}" srcId="{DD18599B-B830-4429-B58E-E87D4EDF1C60}" destId="{B109835F-3B12-49B8-8FF0-4F33FF570551}" srcOrd="0" destOrd="0" parTransId="{6146E9D6-C895-41D2-9CF8-F760A87D09C3}" sibTransId="{8B62BAEF-74D0-4D1A-AEE9-8417F34FAE25}"/>
    <dgm:cxn modelId="{872C51BF-2CE6-499B-99B8-901C8E12A3EE}" type="presOf" srcId="{B7F156D4-2B5C-4C60-BB9E-30707B2DA42E}" destId="{85C6E420-4AAB-4C4B-8DF9-2EE17EC06C0F}" srcOrd="0" destOrd="2" presId="urn:microsoft.com/office/officeart/2018/2/layout/IconLabelDescriptionList"/>
    <dgm:cxn modelId="{E5D921C5-B697-4CEF-B886-BEA250A1126B}" srcId="{B109835F-3B12-49B8-8FF0-4F33FF570551}" destId="{3E01E568-8EC6-430D-A62B-F11BE7E16BFE}" srcOrd="0" destOrd="0" parTransId="{B8F822F6-3216-47BF-9154-5AE1C95BB544}" sibTransId="{10744FBF-9B4E-44CA-B02B-46320F5821F4}"/>
    <dgm:cxn modelId="{E934A3C6-E8A2-437C-A8D5-E2F0F9C56795}" type="presOf" srcId="{3B08F03D-135B-4A70-9677-E74CC9FB1B14}" destId="{85C6E420-4AAB-4C4B-8DF9-2EE17EC06C0F}" srcOrd="0" destOrd="0" presId="urn:microsoft.com/office/officeart/2018/2/layout/IconLabelDescriptionList"/>
    <dgm:cxn modelId="{0FE4CECF-C327-4DD6-908A-5E7772646535}" srcId="{B109835F-3B12-49B8-8FF0-4F33FF570551}" destId="{67FA3D9D-17D1-4511-B29B-4F392208C9B3}" srcOrd="1" destOrd="0" parTransId="{189872D2-7B47-4F71-8605-067049FF52C7}" sibTransId="{E1B115DE-8662-4845-97AA-9538384D6818}"/>
    <dgm:cxn modelId="{8882FFDC-92CC-4494-9BD3-46F7B6D2532F}" srcId="{CD1D3832-5D72-4035-AFE1-7C5D9011126A}" destId="{62DD1B02-7150-4FA7-B2C7-F577FD3E7526}" srcOrd="1" destOrd="0" parTransId="{524877C5-280B-4372-8CE2-E7F5471CDF2F}" sibTransId="{D49F61DA-1AEC-410E-BA7F-025DCFA642F2}"/>
    <dgm:cxn modelId="{FC72D4E1-853E-49B2-B0D0-F5CAD423AC96}" type="presOf" srcId="{CD1D3832-5D72-4035-AFE1-7C5D9011126A}" destId="{D8626EA6-A2BD-4A48-B5D2-08B78F7F7A62}" srcOrd="0" destOrd="0" presId="urn:microsoft.com/office/officeart/2018/2/layout/IconLabelDescriptionList"/>
    <dgm:cxn modelId="{5C4778ED-ECE9-4CCF-9D24-ED5D7D455903}" srcId="{B93B41CB-E5EE-419B-9A8A-BD5FD463BD91}" destId="{D2993C38-89D2-4DE6-AA93-DE6ED481D287}" srcOrd="0" destOrd="0" parTransId="{083BAACA-21DB-4CA2-8A20-E848C6196BC1}" sibTransId="{CD0B5662-5B53-40C4-883F-D18151EFEC40}"/>
    <dgm:cxn modelId="{D8EB40F9-5879-4810-8F72-5B1FF80FC26E}" type="presOf" srcId="{D2993C38-89D2-4DE6-AA93-DE6ED481D287}" destId="{B4D04E1E-B4D8-4B9B-B497-AB8821027F50}" srcOrd="0" destOrd="0" presId="urn:microsoft.com/office/officeart/2018/2/layout/IconLabelDescriptionList"/>
    <dgm:cxn modelId="{06A8E7F9-2A80-4269-A673-AA669F429C88}" type="presOf" srcId="{62DD1B02-7150-4FA7-B2C7-F577FD3E7526}" destId="{85C6E420-4AAB-4C4B-8DF9-2EE17EC06C0F}" srcOrd="0" destOrd="1" presId="urn:microsoft.com/office/officeart/2018/2/layout/IconLabelDescriptionList"/>
    <dgm:cxn modelId="{AA21C4B4-B53C-4998-8BC8-BD5A853BA1D6}" type="presParOf" srcId="{233553AD-4972-449D-A3B4-28D52AB5C76B}" destId="{DDFC63AD-66F9-4FE2-9B91-500972B3EF06}" srcOrd="0" destOrd="0" presId="urn:microsoft.com/office/officeart/2018/2/layout/IconLabelDescriptionList"/>
    <dgm:cxn modelId="{59EE42A2-379E-4A49-941A-CA102C54B82F}" type="presParOf" srcId="{DDFC63AD-66F9-4FE2-9B91-500972B3EF06}" destId="{8022B481-9FB2-40DF-9559-4B0C774731F1}" srcOrd="0" destOrd="0" presId="urn:microsoft.com/office/officeart/2018/2/layout/IconLabelDescriptionList"/>
    <dgm:cxn modelId="{68430997-E4DF-44F2-ABE3-5E07CC4A87DC}" type="presParOf" srcId="{DDFC63AD-66F9-4FE2-9B91-500972B3EF06}" destId="{78B77E5F-D5F6-49D4-8262-8D7C80A6E049}" srcOrd="1" destOrd="0" presId="urn:microsoft.com/office/officeart/2018/2/layout/IconLabelDescriptionList"/>
    <dgm:cxn modelId="{6A9D2FFF-24DD-4D60-B686-0C1D7C9022F0}" type="presParOf" srcId="{DDFC63AD-66F9-4FE2-9B91-500972B3EF06}" destId="{3FF278A9-B26F-49C5-8535-41611C33C9F0}" srcOrd="2" destOrd="0" presId="urn:microsoft.com/office/officeart/2018/2/layout/IconLabelDescriptionList"/>
    <dgm:cxn modelId="{D11257B6-3D91-4152-9CE8-31C15AE396DF}" type="presParOf" srcId="{DDFC63AD-66F9-4FE2-9B91-500972B3EF06}" destId="{8B10B941-AD45-4BE6-AC7D-A19D0437EADF}" srcOrd="3" destOrd="0" presId="urn:microsoft.com/office/officeart/2018/2/layout/IconLabelDescriptionList"/>
    <dgm:cxn modelId="{AA914547-9A3A-414F-8FDF-F78DC3BF5773}" type="presParOf" srcId="{DDFC63AD-66F9-4FE2-9B91-500972B3EF06}" destId="{23DD6BEB-A299-441D-91F9-6E18017920DA}" srcOrd="4" destOrd="0" presId="urn:microsoft.com/office/officeart/2018/2/layout/IconLabelDescriptionList"/>
    <dgm:cxn modelId="{F225A108-D0F1-41DD-ACE3-523A8F102FF2}" type="presParOf" srcId="{233553AD-4972-449D-A3B4-28D52AB5C76B}" destId="{F6E5DFE5-466D-4A48-9FFF-94FCE37AD363}" srcOrd="1" destOrd="0" presId="urn:microsoft.com/office/officeart/2018/2/layout/IconLabelDescriptionList"/>
    <dgm:cxn modelId="{5BB6DCC8-F551-44DD-94E1-CEC0B5CE728D}" type="presParOf" srcId="{233553AD-4972-449D-A3B4-28D52AB5C76B}" destId="{59DB10C1-0D8E-4833-B7AB-0E3BB5492E6C}" srcOrd="2" destOrd="0" presId="urn:microsoft.com/office/officeart/2018/2/layout/IconLabelDescriptionList"/>
    <dgm:cxn modelId="{92F6B43F-E6C5-41B7-94B6-FCE1F004EBB9}" type="presParOf" srcId="{59DB10C1-0D8E-4833-B7AB-0E3BB5492E6C}" destId="{E44589B5-B815-473D-B49A-0080E766426B}" srcOrd="0" destOrd="0" presId="urn:microsoft.com/office/officeart/2018/2/layout/IconLabelDescriptionList"/>
    <dgm:cxn modelId="{9BB8BB3F-B967-496F-8ECB-A745C7E490C2}" type="presParOf" srcId="{59DB10C1-0D8E-4833-B7AB-0E3BB5492E6C}" destId="{05F1DB48-0BAC-456C-9E4A-5D30F714223D}" srcOrd="1" destOrd="0" presId="urn:microsoft.com/office/officeart/2018/2/layout/IconLabelDescriptionList"/>
    <dgm:cxn modelId="{206FF1AF-9C83-4AB8-A047-FCA975717DE5}" type="presParOf" srcId="{59DB10C1-0D8E-4833-B7AB-0E3BB5492E6C}" destId="{D8626EA6-A2BD-4A48-B5D2-08B78F7F7A62}" srcOrd="2" destOrd="0" presId="urn:microsoft.com/office/officeart/2018/2/layout/IconLabelDescriptionList"/>
    <dgm:cxn modelId="{5DC9F98D-5994-4F54-9B59-CA13F810F7CD}" type="presParOf" srcId="{59DB10C1-0D8E-4833-B7AB-0E3BB5492E6C}" destId="{6868E4C2-790F-4EC7-A87D-FC42F15BB95A}" srcOrd="3" destOrd="0" presId="urn:microsoft.com/office/officeart/2018/2/layout/IconLabelDescriptionList"/>
    <dgm:cxn modelId="{298C8090-3678-45DB-B639-B86E55A47060}" type="presParOf" srcId="{59DB10C1-0D8E-4833-B7AB-0E3BB5492E6C}" destId="{85C6E420-4AAB-4C4B-8DF9-2EE17EC06C0F}" srcOrd="4" destOrd="0" presId="urn:microsoft.com/office/officeart/2018/2/layout/IconLabelDescriptionList"/>
    <dgm:cxn modelId="{B9F76A90-D4B8-49FC-AFAF-E37B6B7AD7FF}" type="presParOf" srcId="{233553AD-4972-449D-A3B4-28D52AB5C76B}" destId="{363EF97C-E91C-411E-9CC0-09F139D85345}" srcOrd="3" destOrd="0" presId="urn:microsoft.com/office/officeart/2018/2/layout/IconLabelDescriptionList"/>
    <dgm:cxn modelId="{7611B854-3D8A-4301-A41B-3FA8D064B6C8}" type="presParOf" srcId="{233553AD-4972-449D-A3B4-28D52AB5C76B}" destId="{15109843-00D3-4475-8915-3147223C615A}" srcOrd="4" destOrd="0" presId="urn:microsoft.com/office/officeart/2018/2/layout/IconLabelDescriptionList"/>
    <dgm:cxn modelId="{63138A37-2AD8-48FE-8F83-B294921DB3DD}" type="presParOf" srcId="{15109843-00D3-4475-8915-3147223C615A}" destId="{C60E187C-BC6B-46D1-85C7-DAF9F0630289}" srcOrd="0" destOrd="0" presId="urn:microsoft.com/office/officeart/2018/2/layout/IconLabelDescriptionList"/>
    <dgm:cxn modelId="{A36EBF42-E08B-4727-8805-9EFABDCECAEA}" type="presParOf" srcId="{15109843-00D3-4475-8915-3147223C615A}" destId="{499D3315-C59E-4CE3-AA61-06FD866D3932}" srcOrd="1" destOrd="0" presId="urn:microsoft.com/office/officeart/2018/2/layout/IconLabelDescriptionList"/>
    <dgm:cxn modelId="{CB4677B0-6600-4C68-83D0-0FE460CBAA85}" type="presParOf" srcId="{15109843-00D3-4475-8915-3147223C615A}" destId="{4EE4B6B8-4B8A-4FDF-AB09-AA2A59A34E1D}" srcOrd="2" destOrd="0" presId="urn:microsoft.com/office/officeart/2018/2/layout/IconLabelDescriptionList"/>
    <dgm:cxn modelId="{098E6A96-D6D1-416B-BAF4-2305A6FBC46C}" type="presParOf" srcId="{15109843-00D3-4475-8915-3147223C615A}" destId="{E8E5776A-B1BC-4F79-824D-367AEEB3EB76}" srcOrd="3" destOrd="0" presId="urn:microsoft.com/office/officeart/2018/2/layout/IconLabelDescriptionList"/>
    <dgm:cxn modelId="{4BA86E02-B05D-4A86-B3A1-57F315D72D7B}" type="presParOf" srcId="{15109843-00D3-4475-8915-3147223C615A}" destId="{B4D04E1E-B4D8-4B9B-B497-AB8821027F50}"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667B490-8A11-43AF-82DB-6331ECBC5E61}"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F6547C4-BA2E-4CC1-9D31-C6F910A18BAF}">
      <dgm:prSet/>
      <dgm:spPr/>
      <dgm:t>
        <a:bodyPr/>
        <a:lstStyle/>
        <a:p>
          <a:pPr>
            <a:defRPr b="1"/>
          </a:pPr>
          <a:r>
            <a:rPr lang="en-US" b="1"/>
            <a:t>Zoonotic Outbreaks</a:t>
          </a:r>
          <a:r>
            <a:rPr lang="en-US"/>
            <a:t>:</a:t>
          </a:r>
        </a:p>
      </dgm:t>
    </dgm:pt>
    <dgm:pt modelId="{17359BC0-2098-43BA-B6BF-A2276FAB5A1A}" type="parTrans" cxnId="{E6ACB721-6772-4D1D-878D-74B97E4F4BA4}">
      <dgm:prSet/>
      <dgm:spPr/>
      <dgm:t>
        <a:bodyPr/>
        <a:lstStyle/>
        <a:p>
          <a:endParaRPr lang="en-US"/>
        </a:p>
      </dgm:t>
    </dgm:pt>
    <dgm:pt modelId="{12547A4D-D603-4FA2-B658-E2FC3C461B1F}" type="sibTrans" cxnId="{E6ACB721-6772-4D1D-878D-74B97E4F4BA4}">
      <dgm:prSet/>
      <dgm:spPr/>
      <dgm:t>
        <a:bodyPr/>
        <a:lstStyle/>
        <a:p>
          <a:endParaRPr lang="en-US"/>
        </a:p>
      </dgm:t>
    </dgm:pt>
    <dgm:pt modelId="{2B45ED5C-8794-4C62-B3D0-72EEC6FE4DE3}">
      <dgm:prSet custT="1"/>
      <dgm:spPr/>
      <dgm:t>
        <a:bodyPr/>
        <a:lstStyle/>
        <a:p>
          <a:r>
            <a:rPr lang="en-US" sz="2400" i="1" dirty="0"/>
            <a:t>Nipah virus</a:t>
          </a:r>
          <a:r>
            <a:rPr lang="en-US" sz="2400" dirty="0"/>
            <a:t>, </a:t>
          </a:r>
          <a:r>
            <a:rPr lang="en-US" sz="2400" i="1" dirty="0"/>
            <a:t>COVID-19</a:t>
          </a:r>
          <a:r>
            <a:rPr lang="en-US" sz="2400" dirty="0"/>
            <a:t>, </a:t>
          </a:r>
          <a:r>
            <a:rPr lang="en-US" sz="2400" i="1" dirty="0"/>
            <a:t>H5N1 Avian Flu</a:t>
          </a:r>
          <a:r>
            <a:rPr lang="en-US" sz="2400" dirty="0"/>
            <a:t> — highlight ecosystem disruption and wildlife contact.</a:t>
          </a:r>
        </a:p>
      </dgm:t>
    </dgm:pt>
    <dgm:pt modelId="{3CBE49CF-1761-4720-9DA9-D130D27E0005}" type="parTrans" cxnId="{17C83833-13A7-4961-9E30-2CE70E52EF25}">
      <dgm:prSet/>
      <dgm:spPr/>
      <dgm:t>
        <a:bodyPr/>
        <a:lstStyle/>
        <a:p>
          <a:endParaRPr lang="en-US"/>
        </a:p>
      </dgm:t>
    </dgm:pt>
    <dgm:pt modelId="{A3A95E2A-0B60-4A4C-9A9B-A25B409E12FB}" type="sibTrans" cxnId="{17C83833-13A7-4961-9E30-2CE70E52EF25}">
      <dgm:prSet/>
      <dgm:spPr/>
      <dgm:t>
        <a:bodyPr/>
        <a:lstStyle/>
        <a:p>
          <a:endParaRPr lang="en-US"/>
        </a:p>
      </dgm:t>
    </dgm:pt>
    <dgm:pt modelId="{3CFA4BB5-91E8-4EC7-8E2E-787565C1D818}">
      <dgm:prSet/>
      <dgm:spPr/>
      <dgm:t>
        <a:bodyPr/>
        <a:lstStyle/>
        <a:p>
          <a:pPr>
            <a:defRPr b="1"/>
          </a:pPr>
          <a:r>
            <a:rPr lang="en-US" b="1"/>
            <a:t>India-Specific Initiatives</a:t>
          </a:r>
          <a:r>
            <a:rPr lang="en-US"/>
            <a:t>:</a:t>
          </a:r>
        </a:p>
      </dgm:t>
    </dgm:pt>
    <dgm:pt modelId="{B03FA5B3-8B1F-4F1E-8B1C-52203E8FA1B1}" type="parTrans" cxnId="{A783E114-7024-4B1D-9BC3-798499AF5C47}">
      <dgm:prSet/>
      <dgm:spPr/>
      <dgm:t>
        <a:bodyPr/>
        <a:lstStyle/>
        <a:p>
          <a:endParaRPr lang="en-US"/>
        </a:p>
      </dgm:t>
    </dgm:pt>
    <dgm:pt modelId="{278F0687-8A6F-49BA-AD77-5AFCC4E18230}" type="sibTrans" cxnId="{A783E114-7024-4B1D-9BC3-798499AF5C47}">
      <dgm:prSet/>
      <dgm:spPr/>
      <dgm:t>
        <a:bodyPr/>
        <a:lstStyle/>
        <a:p>
          <a:endParaRPr lang="en-US"/>
        </a:p>
      </dgm:t>
    </dgm:pt>
    <dgm:pt modelId="{9576D6FD-1134-477E-9EE6-30000169AF6E}">
      <dgm:prSet custT="1"/>
      <dgm:spPr/>
      <dgm:t>
        <a:bodyPr/>
        <a:lstStyle/>
        <a:p>
          <a:r>
            <a:rPr lang="en-US" sz="2400"/>
            <a:t>Integration under </a:t>
          </a:r>
          <a:r>
            <a:rPr lang="en-US" sz="2400" b="1"/>
            <a:t>National Centre for Disease Control (NCDC)</a:t>
          </a:r>
          <a:endParaRPr lang="en-US" sz="2400"/>
        </a:p>
      </dgm:t>
    </dgm:pt>
    <dgm:pt modelId="{32CCF5ED-CE07-455B-BC41-3769E5C7C9F2}" type="parTrans" cxnId="{D59FE57B-DF95-456D-9AF9-2493C7577D6E}">
      <dgm:prSet/>
      <dgm:spPr/>
      <dgm:t>
        <a:bodyPr/>
        <a:lstStyle/>
        <a:p>
          <a:endParaRPr lang="en-US"/>
        </a:p>
      </dgm:t>
    </dgm:pt>
    <dgm:pt modelId="{77699556-389D-44F7-AF15-A69CE3A9445E}" type="sibTrans" cxnId="{D59FE57B-DF95-456D-9AF9-2493C7577D6E}">
      <dgm:prSet/>
      <dgm:spPr/>
      <dgm:t>
        <a:bodyPr/>
        <a:lstStyle/>
        <a:p>
          <a:endParaRPr lang="en-US"/>
        </a:p>
      </dgm:t>
    </dgm:pt>
    <dgm:pt modelId="{27149BC7-92BC-4607-85C0-E9431EE45165}">
      <dgm:prSet custT="1"/>
      <dgm:spPr/>
      <dgm:t>
        <a:bodyPr/>
        <a:lstStyle/>
        <a:p>
          <a:r>
            <a:rPr lang="en-US" sz="2400"/>
            <a:t>Coordination with </a:t>
          </a:r>
          <a:r>
            <a:rPr lang="en-US" sz="2400" b="1"/>
            <a:t>ICAR</a:t>
          </a:r>
          <a:r>
            <a:rPr lang="en-US" sz="2400"/>
            <a:t>, </a:t>
          </a:r>
          <a:r>
            <a:rPr lang="en-US" sz="2400" b="1"/>
            <a:t>MoEFCC</a:t>
          </a:r>
          <a:r>
            <a:rPr lang="en-US" sz="2400"/>
            <a:t>, and </a:t>
          </a:r>
          <a:r>
            <a:rPr lang="en-US" sz="2400" b="1"/>
            <a:t>WHO SEARO</a:t>
          </a:r>
          <a:endParaRPr lang="en-US" sz="2400"/>
        </a:p>
      </dgm:t>
    </dgm:pt>
    <dgm:pt modelId="{2A221792-FEF0-4145-B4E6-0EEAD45A80E4}" type="parTrans" cxnId="{566B0936-5C94-413A-A123-CC7F4A83AA04}">
      <dgm:prSet/>
      <dgm:spPr/>
      <dgm:t>
        <a:bodyPr/>
        <a:lstStyle/>
        <a:p>
          <a:endParaRPr lang="en-US"/>
        </a:p>
      </dgm:t>
    </dgm:pt>
    <dgm:pt modelId="{A2BF79E8-6695-4B38-A65C-A09494751FE8}" type="sibTrans" cxnId="{566B0936-5C94-413A-A123-CC7F4A83AA04}">
      <dgm:prSet/>
      <dgm:spPr/>
      <dgm:t>
        <a:bodyPr/>
        <a:lstStyle/>
        <a:p>
          <a:endParaRPr lang="en-US"/>
        </a:p>
      </dgm:t>
    </dgm:pt>
    <dgm:pt modelId="{0102AEE5-618C-40A7-A3BD-0FBFCBA7C85C}">
      <dgm:prSet custT="1"/>
      <dgm:spPr/>
      <dgm:t>
        <a:bodyPr/>
        <a:lstStyle/>
        <a:p>
          <a:r>
            <a:rPr lang="en-US" sz="2400"/>
            <a:t>Focus on joint trainings, laboratory networks, and policy convergence</a:t>
          </a:r>
        </a:p>
      </dgm:t>
    </dgm:pt>
    <dgm:pt modelId="{1D44336B-113A-4FBD-99EF-9180721C0D8B}" type="parTrans" cxnId="{E7599F9E-DAA1-4059-AA93-B6CCF90C8BD8}">
      <dgm:prSet/>
      <dgm:spPr/>
      <dgm:t>
        <a:bodyPr/>
        <a:lstStyle/>
        <a:p>
          <a:endParaRPr lang="en-US"/>
        </a:p>
      </dgm:t>
    </dgm:pt>
    <dgm:pt modelId="{47514340-763C-423D-85D0-D1EA174594B8}" type="sibTrans" cxnId="{E7599F9E-DAA1-4059-AA93-B6CCF90C8BD8}">
      <dgm:prSet/>
      <dgm:spPr/>
      <dgm:t>
        <a:bodyPr/>
        <a:lstStyle/>
        <a:p>
          <a:endParaRPr lang="en-US"/>
        </a:p>
      </dgm:t>
    </dgm:pt>
    <dgm:pt modelId="{94C0DC1D-B894-4613-93BF-898AF9DDB375}" type="pres">
      <dgm:prSet presAssocID="{C667B490-8A11-43AF-82DB-6331ECBC5E61}" presName="root" presStyleCnt="0">
        <dgm:presLayoutVars>
          <dgm:dir/>
          <dgm:resizeHandles val="exact"/>
        </dgm:presLayoutVars>
      </dgm:prSet>
      <dgm:spPr/>
    </dgm:pt>
    <dgm:pt modelId="{6280A3EC-14D3-47F0-AAA7-C9FBDB1C5A68}" type="pres">
      <dgm:prSet presAssocID="{4F6547C4-BA2E-4CC1-9D31-C6F910A18BAF}" presName="compNode" presStyleCnt="0"/>
      <dgm:spPr/>
    </dgm:pt>
    <dgm:pt modelId="{21E19DC5-EA14-4419-B7B2-03A46F24DF70}" type="pres">
      <dgm:prSet presAssocID="{4F6547C4-BA2E-4CC1-9D31-C6F910A18BA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asshopper"/>
        </a:ext>
      </dgm:extLst>
    </dgm:pt>
    <dgm:pt modelId="{934558C6-7593-4295-AAA6-30F5F62AADFD}" type="pres">
      <dgm:prSet presAssocID="{4F6547C4-BA2E-4CC1-9D31-C6F910A18BAF}" presName="iconSpace" presStyleCnt="0"/>
      <dgm:spPr/>
    </dgm:pt>
    <dgm:pt modelId="{14DAD4AA-C2C3-480B-AD7C-10A66DE59251}" type="pres">
      <dgm:prSet presAssocID="{4F6547C4-BA2E-4CC1-9D31-C6F910A18BAF}" presName="parTx" presStyleLbl="revTx" presStyleIdx="0" presStyleCnt="4">
        <dgm:presLayoutVars>
          <dgm:chMax val="0"/>
          <dgm:chPref val="0"/>
        </dgm:presLayoutVars>
      </dgm:prSet>
      <dgm:spPr/>
    </dgm:pt>
    <dgm:pt modelId="{8ACC7D65-4F1F-47EC-9502-249DC6868AAA}" type="pres">
      <dgm:prSet presAssocID="{4F6547C4-BA2E-4CC1-9D31-C6F910A18BAF}" presName="txSpace" presStyleCnt="0"/>
      <dgm:spPr/>
    </dgm:pt>
    <dgm:pt modelId="{1806F8FB-9DDC-4074-8981-7C4A64D1E7AD}" type="pres">
      <dgm:prSet presAssocID="{4F6547C4-BA2E-4CC1-9D31-C6F910A18BAF}" presName="desTx" presStyleLbl="revTx" presStyleIdx="1" presStyleCnt="4">
        <dgm:presLayoutVars/>
      </dgm:prSet>
      <dgm:spPr/>
    </dgm:pt>
    <dgm:pt modelId="{CAE72086-FA07-4BA5-AA68-97BE848CA4B5}" type="pres">
      <dgm:prSet presAssocID="{12547A4D-D603-4FA2-B658-E2FC3C461B1F}" presName="sibTrans" presStyleCnt="0"/>
      <dgm:spPr/>
    </dgm:pt>
    <dgm:pt modelId="{09C7E77B-1D8B-41B4-BF8C-16B5B5F6CBD7}" type="pres">
      <dgm:prSet presAssocID="{3CFA4BB5-91E8-4EC7-8E2E-787565C1D818}" presName="compNode" presStyleCnt="0"/>
      <dgm:spPr/>
    </dgm:pt>
    <dgm:pt modelId="{2D476070-293E-4CAA-91EC-33D3209D9650}" type="pres">
      <dgm:prSet presAssocID="{3CFA4BB5-91E8-4EC7-8E2E-787565C1D81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nching Diagram"/>
        </a:ext>
      </dgm:extLst>
    </dgm:pt>
    <dgm:pt modelId="{3CB22F57-621A-4137-8C48-D030401FED15}" type="pres">
      <dgm:prSet presAssocID="{3CFA4BB5-91E8-4EC7-8E2E-787565C1D818}" presName="iconSpace" presStyleCnt="0"/>
      <dgm:spPr/>
    </dgm:pt>
    <dgm:pt modelId="{D65F2581-8E09-4D71-BA14-F83F29BB0CED}" type="pres">
      <dgm:prSet presAssocID="{3CFA4BB5-91E8-4EC7-8E2E-787565C1D818}" presName="parTx" presStyleLbl="revTx" presStyleIdx="2" presStyleCnt="4">
        <dgm:presLayoutVars>
          <dgm:chMax val="0"/>
          <dgm:chPref val="0"/>
        </dgm:presLayoutVars>
      </dgm:prSet>
      <dgm:spPr/>
    </dgm:pt>
    <dgm:pt modelId="{6322B7D2-F6C6-474B-A618-E6B86C3BD35B}" type="pres">
      <dgm:prSet presAssocID="{3CFA4BB5-91E8-4EC7-8E2E-787565C1D818}" presName="txSpace" presStyleCnt="0"/>
      <dgm:spPr/>
    </dgm:pt>
    <dgm:pt modelId="{E4FD3875-4264-4678-B9BD-1DA3D82099C3}" type="pres">
      <dgm:prSet presAssocID="{3CFA4BB5-91E8-4EC7-8E2E-787565C1D818}" presName="desTx" presStyleLbl="revTx" presStyleIdx="3" presStyleCnt="4">
        <dgm:presLayoutVars/>
      </dgm:prSet>
      <dgm:spPr/>
    </dgm:pt>
  </dgm:ptLst>
  <dgm:cxnLst>
    <dgm:cxn modelId="{A783E114-7024-4B1D-9BC3-798499AF5C47}" srcId="{C667B490-8A11-43AF-82DB-6331ECBC5E61}" destId="{3CFA4BB5-91E8-4EC7-8E2E-787565C1D818}" srcOrd="1" destOrd="0" parTransId="{B03FA5B3-8B1F-4F1E-8B1C-52203E8FA1B1}" sibTransId="{278F0687-8A6F-49BA-AD77-5AFCC4E18230}"/>
    <dgm:cxn modelId="{5FFA8518-572A-428A-B21F-17A023230C54}" type="presOf" srcId="{2B45ED5C-8794-4C62-B3D0-72EEC6FE4DE3}" destId="{1806F8FB-9DDC-4074-8981-7C4A64D1E7AD}" srcOrd="0" destOrd="0" presId="urn:microsoft.com/office/officeart/2018/2/layout/IconLabelDescriptionList"/>
    <dgm:cxn modelId="{E6ACB721-6772-4D1D-878D-74B97E4F4BA4}" srcId="{C667B490-8A11-43AF-82DB-6331ECBC5E61}" destId="{4F6547C4-BA2E-4CC1-9D31-C6F910A18BAF}" srcOrd="0" destOrd="0" parTransId="{17359BC0-2098-43BA-B6BF-A2276FAB5A1A}" sibTransId="{12547A4D-D603-4FA2-B658-E2FC3C461B1F}"/>
    <dgm:cxn modelId="{17C83833-13A7-4961-9E30-2CE70E52EF25}" srcId="{4F6547C4-BA2E-4CC1-9D31-C6F910A18BAF}" destId="{2B45ED5C-8794-4C62-B3D0-72EEC6FE4DE3}" srcOrd="0" destOrd="0" parTransId="{3CBE49CF-1761-4720-9DA9-D130D27E0005}" sibTransId="{A3A95E2A-0B60-4A4C-9A9B-A25B409E12FB}"/>
    <dgm:cxn modelId="{566B0936-5C94-413A-A123-CC7F4A83AA04}" srcId="{3CFA4BB5-91E8-4EC7-8E2E-787565C1D818}" destId="{27149BC7-92BC-4607-85C0-E9431EE45165}" srcOrd="1" destOrd="0" parTransId="{2A221792-FEF0-4145-B4E6-0EEAD45A80E4}" sibTransId="{A2BF79E8-6695-4B38-A65C-A09494751FE8}"/>
    <dgm:cxn modelId="{13D60A4E-E793-4B65-8FF6-D87F0DB2C9FD}" type="presOf" srcId="{C667B490-8A11-43AF-82DB-6331ECBC5E61}" destId="{94C0DC1D-B894-4613-93BF-898AF9DDB375}" srcOrd="0" destOrd="0" presId="urn:microsoft.com/office/officeart/2018/2/layout/IconLabelDescriptionList"/>
    <dgm:cxn modelId="{D59FE57B-DF95-456D-9AF9-2493C7577D6E}" srcId="{3CFA4BB5-91E8-4EC7-8E2E-787565C1D818}" destId="{9576D6FD-1134-477E-9EE6-30000169AF6E}" srcOrd="0" destOrd="0" parTransId="{32CCF5ED-CE07-455B-BC41-3769E5C7C9F2}" sibTransId="{77699556-389D-44F7-AF15-A69CE3A9445E}"/>
    <dgm:cxn modelId="{79072284-6EAC-493F-9E7C-1EE9AA304F5A}" type="presOf" srcId="{0102AEE5-618C-40A7-A3BD-0FBFCBA7C85C}" destId="{E4FD3875-4264-4678-B9BD-1DA3D82099C3}" srcOrd="0" destOrd="2" presId="urn:microsoft.com/office/officeart/2018/2/layout/IconLabelDescriptionList"/>
    <dgm:cxn modelId="{E7599F9E-DAA1-4059-AA93-B6CCF90C8BD8}" srcId="{3CFA4BB5-91E8-4EC7-8E2E-787565C1D818}" destId="{0102AEE5-618C-40A7-A3BD-0FBFCBA7C85C}" srcOrd="2" destOrd="0" parTransId="{1D44336B-113A-4FBD-99EF-9180721C0D8B}" sibTransId="{47514340-763C-423D-85D0-D1EA174594B8}"/>
    <dgm:cxn modelId="{D04311AC-D369-40FF-97D2-EF30B1549355}" type="presOf" srcId="{3CFA4BB5-91E8-4EC7-8E2E-787565C1D818}" destId="{D65F2581-8E09-4D71-BA14-F83F29BB0CED}" srcOrd="0" destOrd="0" presId="urn:microsoft.com/office/officeart/2018/2/layout/IconLabelDescriptionList"/>
    <dgm:cxn modelId="{6CBD27B5-AF2A-4D14-9CE5-85DA9745D7E0}" type="presOf" srcId="{4F6547C4-BA2E-4CC1-9D31-C6F910A18BAF}" destId="{14DAD4AA-C2C3-480B-AD7C-10A66DE59251}" srcOrd="0" destOrd="0" presId="urn:microsoft.com/office/officeart/2018/2/layout/IconLabelDescriptionList"/>
    <dgm:cxn modelId="{0284ACBE-C149-4C62-9DEA-9B6208806541}" type="presOf" srcId="{27149BC7-92BC-4607-85C0-E9431EE45165}" destId="{E4FD3875-4264-4678-B9BD-1DA3D82099C3}" srcOrd="0" destOrd="1" presId="urn:microsoft.com/office/officeart/2018/2/layout/IconLabelDescriptionList"/>
    <dgm:cxn modelId="{73EB0EBF-2492-4ACE-A677-040A88A07B60}" type="presOf" srcId="{9576D6FD-1134-477E-9EE6-30000169AF6E}" destId="{E4FD3875-4264-4678-B9BD-1DA3D82099C3}" srcOrd="0" destOrd="0" presId="urn:microsoft.com/office/officeart/2018/2/layout/IconLabelDescriptionList"/>
    <dgm:cxn modelId="{4FCB878B-459A-4724-8E27-B18E6393922F}" type="presParOf" srcId="{94C0DC1D-B894-4613-93BF-898AF9DDB375}" destId="{6280A3EC-14D3-47F0-AAA7-C9FBDB1C5A68}" srcOrd="0" destOrd="0" presId="urn:microsoft.com/office/officeart/2018/2/layout/IconLabelDescriptionList"/>
    <dgm:cxn modelId="{EFBAFEA5-C62F-4A25-89F9-10DE4C899372}" type="presParOf" srcId="{6280A3EC-14D3-47F0-AAA7-C9FBDB1C5A68}" destId="{21E19DC5-EA14-4419-B7B2-03A46F24DF70}" srcOrd="0" destOrd="0" presId="urn:microsoft.com/office/officeart/2018/2/layout/IconLabelDescriptionList"/>
    <dgm:cxn modelId="{EA3F4694-1978-4925-BE16-A8CF78C7F2CB}" type="presParOf" srcId="{6280A3EC-14D3-47F0-AAA7-C9FBDB1C5A68}" destId="{934558C6-7593-4295-AAA6-30F5F62AADFD}" srcOrd="1" destOrd="0" presId="urn:microsoft.com/office/officeart/2018/2/layout/IconLabelDescriptionList"/>
    <dgm:cxn modelId="{705F1A64-414C-4527-A345-4BA5C53C44C3}" type="presParOf" srcId="{6280A3EC-14D3-47F0-AAA7-C9FBDB1C5A68}" destId="{14DAD4AA-C2C3-480B-AD7C-10A66DE59251}" srcOrd="2" destOrd="0" presId="urn:microsoft.com/office/officeart/2018/2/layout/IconLabelDescriptionList"/>
    <dgm:cxn modelId="{0050B523-EBE4-45DC-962F-D0C7EC46D891}" type="presParOf" srcId="{6280A3EC-14D3-47F0-AAA7-C9FBDB1C5A68}" destId="{8ACC7D65-4F1F-47EC-9502-249DC6868AAA}" srcOrd="3" destOrd="0" presId="urn:microsoft.com/office/officeart/2018/2/layout/IconLabelDescriptionList"/>
    <dgm:cxn modelId="{1EF89DE5-235A-446C-88B4-7D5540821A89}" type="presParOf" srcId="{6280A3EC-14D3-47F0-AAA7-C9FBDB1C5A68}" destId="{1806F8FB-9DDC-4074-8981-7C4A64D1E7AD}" srcOrd="4" destOrd="0" presId="urn:microsoft.com/office/officeart/2018/2/layout/IconLabelDescriptionList"/>
    <dgm:cxn modelId="{CB073A83-1C19-49FC-97FF-670D0193485C}" type="presParOf" srcId="{94C0DC1D-B894-4613-93BF-898AF9DDB375}" destId="{CAE72086-FA07-4BA5-AA68-97BE848CA4B5}" srcOrd="1" destOrd="0" presId="urn:microsoft.com/office/officeart/2018/2/layout/IconLabelDescriptionList"/>
    <dgm:cxn modelId="{388ED495-4221-459F-9F9D-3A66C42BB1C6}" type="presParOf" srcId="{94C0DC1D-B894-4613-93BF-898AF9DDB375}" destId="{09C7E77B-1D8B-41B4-BF8C-16B5B5F6CBD7}" srcOrd="2" destOrd="0" presId="urn:microsoft.com/office/officeart/2018/2/layout/IconLabelDescriptionList"/>
    <dgm:cxn modelId="{9C5E1A74-3CE8-496F-8AB7-4012BB822B75}" type="presParOf" srcId="{09C7E77B-1D8B-41B4-BF8C-16B5B5F6CBD7}" destId="{2D476070-293E-4CAA-91EC-33D3209D9650}" srcOrd="0" destOrd="0" presId="urn:microsoft.com/office/officeart/2018/2/layout/IconLabelDescriptionList"/>
    <dgm:cxn modelId="{E28583A0-6C25-4703-BE79-D458CDEE7203}" type="presParOf" srcId="{09C7E77B-1D8B-41B4-BF8C-16B5B5F6CBD7}" destId="{3CB22F57-621A-4137-8C48-D030401FED15}" srcOrd="1" destOrd="0" presId="urn:microsoft.com/office/officeart/2018/2/layout/IconLabelDescriptionList"/>
    <dgm:cxn modelId="{27767522-ABCE-4F28-81CB-7982A36CA2A4}" type="presParOf" srcId="{09C7E77B-1D8B-41B4-BF8C-16B5B5F6CBD7}" destId="{D65F2581-8E09-4D71-BA14-F83F29BB0CED}" srcOrd="2" destOrd="0" presId="urn:microsoft.com/office/officeart/2018/2/layout/IconLabelDescriptionList"/>
    <dgm:cxn modelId="{B659D287-F589-4BDE-9087-1C1885079F69}" type="presParOf" srcId="{09C7E77B-1D8B-41B4-BF8C-16B5B5F6CBD7}" destId="{6322B7D2-F6C6-474B-A618-E6B86C3BD35B}" srcOrd="3" destOrd="0" presId="urn:microsoft.com/office/officeart/2018/2/layout/IconLabelDescriptionList"/>
    <dgm:cxn modelId="{3BDE9F65-169B-4406-A6B0-5C7E562F40ED}" type="presParOf" srcId="{09C7E77B-1D8B-41B4-BF8C-16B5B5F6CBD7}" destId="{E4FD3875-4264-4678-B9BD-1DA3D82099C3}"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5243B45-5BF1-4210-A044-68593625D0BF}"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1211059-67FB-4438-AC73-FBC6A482EC2E}">
      <dgm:prSet/>
      <dgm:spPr/>
      <dgm:t>
        <a:bodyPr/>
        <a:lstStyle/>
        <a:p>
          <a:pPr>
            <a:defRPr b="1"/>
          </a:pPr>
          <a:r>
            <a:rPr lang="en-US" b="1"/>
            <a:t>Challenges</a:t>
          </a:r>
          <a:r>
            <a:rPr lang="en-US"/>
            <a:t>:</a:t>
          </a:r>
        </a:p>
      </dgm:t>
    </dgm:pt>
    <dgm:pt modelId="{B9EEF6E1-39C3-4B49-910F-7CAA7041A78A}" type="parTrans" cxnId="{99E15E54-55D6-4DA0-9336-5E59159C33A0}">
      <dgm:prSet/>
      <dgm:spPr/>
      <dgm:t>
        <a:bodyPr/>
        <a:lstStyle/>
        <a:p>
          <a:endParaRPr lang="en-US"/>
        </a:p>
      </dgm:t>
    </dgm:pt>
    <dgm:pt modelId="{5245F9A1-C76A-45E4-A17C-4DA68EA4F30A}" type="sibTrans" cxnId="{99E15E54-55D6-4DA0-9336-5E59159C33A0}">
      <dgm:prSet/>
      <dgm:spPr/>
      <dgm:t>
        <a:bodyPr/>
        <a:lstStyle/>
        <a:p>
          <a:endParaRPr lang="en-US"/>
        </a:p>
      </dgm:t>
    </dgm:pt>
    <dgm:pt modelId="{691E4C26-1981-4969-80E2-8135865487B8}">
      <dgm:prSet custT="1"/>
      <dgm:spPr/>
      <dgm:t>
        <a:bodyPr/>
        <a:lstStyle/>
        <a:p>
          <a:r>
            <a:rPr lang="en-US" sz="2400" dirty="0"/>
            <a:t>Fragmented infrastructure</a:t>
          </a:r>
        </a:p>
      </dgm:t>
    </dgm:pt>
    <dgm:pt modelId="{6DEE2074-74E3-4520-A23D-529B3B9CE1BD}" type="parTrans" cxnId="{13E87141-9A72-4421-8D03-C270FA699507}">
      <dgm:prSet/>
      <dgm:spPr/>
      <dgm:t>
        <a:bodyPr/>
        <a:lstStyle/>
        <a:p>
          <a:endParaRPr lang="en-US"/>
        </a:p>
      </dgm:t>
    </dgm:pt>
    <dgm:pt modelId="{28202223-329E-4139-8927-C1DC1EF11A27}" type="sibTrans" cxnId="{13E87141-9A72-4421-8D03-C270FA699507}">
      <dgm:prSet/>
      <dgm:spPr/>
      <dgm:t>
        <a:bodyPr/>
        <a:lstStyle/>
        <a:p>
          <a:endParaRPr lang="en-US"/>
        </a:p>
      </dgm:t>
    </dgm:pt>
    <dgm:pt modelId="{3914B98C-4EEE-4CC2-9AE5-B46F929028D1}">
      <dgm:prSet custT="1"/>
      <dgm:spPr/>
      <dgm:t>
        <a:bodyPr/>
        <a:lstStyle/>
        <a:p>
          <a:r>
            <a:rPr lang="en-US" sz="2400"/>
            <a:t>Limited cross-sector data sharing</a:t>
          </a:r>
        </a:p>
      </dgm:t>
    </dgm:pt>
    <dgm:pt modelId="{C48E57FB-9068-4440-95D7-A8C8CF9CD768}" type="parTrans" cxnId="{1899FFF6-EC64-40CE-898F-C5E4E6533D37}">
      <dgm:prSet/>
      <dgm:spPr/>
      <dgm:t>
        <a:bodyPr/>
        <a:lstStyle/>
        <a:p>
          <a:endParaRPr lang="en-US"/>
        </a:p>
      </dgm:t>
    </dgm:pt>
    <dgm:pt modelId="{F1A28920-80DF-4468-8970-BC608FDADDCA}" type="sibTrans" cxnId="{1899FFF6-EC64-40CE-898F-C5E4E6533D37}">
      <dgm:prSet/>
      <dgm:spPr/>
      <dgm:t>
        <a:bodyPr/>
        <a:lstStyle/>
        <a:p>
          <a:endParaRPr lang="en-US"/>
        </a:p>
      </dgm:t>
    </dgm:pt>
    <dgm:pt modelId="{ED5331B9-E4B6-4217-A7D9-6E7C48A92F11}">
      <dgm:prSet custT="1"/>
      <dgm:spPr/>
      <dgm:t>
        <a:bodyPr/>
        <a:lstStyle/>
        <a:p>
          <a:r>
            <a:rPr lang="en-US" sz="2400"/>
            <a:t>Training gaps among frontline workers</a:t>
          </a:r>
        </a:p>
      </dgm:t>
    </dgm:pt>
    <dgm:pt modelId="{89EC293B-E5DA-4D18-8791-B9782D6273A4}" type="parTrans" cxnId="{47D8B1F2-F882-40BA-955D-6AC5DDB3B69B}">
      <dgm:prSet/>
      <dgm:spPr/>
      <dgm:t>
        <a:bodyPr/>
        <a:lstStyle/>
        <a:p>
          <a:endParaRPr lang="en-US"/>
        </a:p>
      </dgm:t>
    </dgm:pt>
    <dgm:pt modelId="{2AB8909C-73B1-4D74-B2CD-78EDE01EA3B8}" type="sibTrans" cxnId="{47D8B1F2-F882-40BA-955D-6AC5DDB3B69B}">
      <dgm:prSet/>
      <dgm:spPr/>
      <dgm:t>
        <a:bodyPr/>
        <a:lstStyle/>
        <a:p>
          <a:endParaRPr lang="en-US"/>
        </a:p>
      </dgm:t>
    </dgm:pt>
    <dgm:pt modelId="{C35C9900-5C9C-47DF-9302-DF4BAE7A4C3E}">
      <dgm:prSet/>
      <dgm:spPr/>
      <dgm:t>
        <a:bodyPr/>
        <a:lstStyle/>
        <a:p>
          <a:pPr>
            <a:defRPr b="1"/>
          </a:pPr>
          <a:r>
            <a:rPr lang="en-US" b="1"/>
            <a:t>Way Forward</a:t>
          </a:r>
          <a:r>
            <a:rPr lang="en-US"/>
            <a:t>:</a:t>
          </a:r>
        </a:p>
      </dgm:t>
    </dgm:pt>
    <dgm:pt modelId="{DC36E0F6-0047-45BA-B6A7-F54978DE4894}" type="parTrans" cxnId="{71A03E12-3186-4A2E-9D6E-750DC04B5E8C}">
      <dgm:prSet/>
      <dgm:spPr/>
      <dgm:t>
        <a:bodyPr/>
        <a:lstStyle/>
        <a:p>
          <a:endParaRPr lang="en-US"/>
        </a:p>
      </dgm:t>
    </dgm:pt>
    <dgm:pt modelId="{848EBC5B-DDE9-406A-890F-5EBB0FF1AF20}" type="sibTrans" cxnId="{71A03E12-3186-4A2E-9D6E-750DC04B5E8C}">
      <dgm:prSet/>
      <dgm:spPr/>
      <dgm:t>
        <a:bodyPr/>
        <a:lstStyle/>
        <a:p>
          <a:endParaRPr lang="en-US"/>
        </a:p>
      </dgm:t>
    </dgm:pt>
    <dgm:pt modelId="{0C46D231-C316-47B4-A01D-72B62DD16EB2}">
      <dgm:prSet custT="1"/>
      <dgm:spPr/>
      <dgm:t>
        <a:bodyPr/>
        <a:lstStyle/>
        <a:p>
          <a:r>
            <a:rPr lang="en-US" sz="2400"/>
            <a:t>Build </a:t>
          </a:r>
          <a:r>
            <a:rPr lang="en-US" sz="2400" b="1"/>
            <a:t>One Health workforce</a:t>
          </a:r>
          <a:r>
            <a:rPr lang="en-US" sz="2400"/>
            <a:t> across medical, veterinary, and ecological domains</a:t>
          </a:r>
        </a:p>
      </dgm:t>
    </dgm:pt>
    <dgm:pt modelId="{388FA35B-A4A3-442D-BA85-6F9E0B0ECC82}" type="parTrans" cxnId="{7E7321D7-5465-4F31-A4EF-06DE0DD0FC3F}">
      <dgm:prSet/>
      <dgm:spPr/>
      <dgm:t>
        <a:bodyPr/>
        <a:lstStyle/>
        <a:p>
          <a:endParaRPr lang="en-US"/>
        </a:p>
      </dgm:t>
    </dgm:pt>
    <dgm:pt modelId="{C891B499-9DF9-4193-8295-35D63664301A}" type="sibTrans" cxnId="{7E7321D7-5465-4F31-A4EF-06DE0DD0FC3F}">
      <dgm:prSet/>
      <dgm:spPr/>
      <dgm:t>
        <a:bodyPr/>
        <a:lstStyle/>
        <a:p>
          <a:endParaRPr lang="en-US"/>
        </a:p>
      </dgm:t>
    </dgm:pt>
    <dgm:pt modelId="{CFE61724-3B64-464E-BA2C-FBB4B6DD7FD6}">
      <dgm:prSet custT="1"/>
      <dgm:spPr/>
      <dgm:t>
        <a:bodyPr/>
        <a:lstStyle/>
        <a:p>
          <a:r>
            <a:rPr lang="en-US" sz="2400"/>
            <a:t>Promote </a:t>
          </a:r>
          <a:r>
            <a:rPr lang="en-US" sz="2400" b="1"/>
            <a:t>community awareness</a:t>
          </a:r>
          <a:r>
            <a:rPr lang="en-US" sz="2400"/>
            <a:t> on zoonotic risk and hygiene</a:t>
          </a:r>
        </a:p>
      </dgm:t>
    </dgm:pt>
    <dgm:pt modelId="{F736912C-8AEE-4DCF-B7AB-5C4B1F1D0575}" type="parTrans" cxnId="{1FA89629-91B0-44CB-9BB5-D5B584D0FEE6}">
      <dgm:prSet/>
      <dgm:spPr/>
      <dgm:t>
        <a:bodyPr/>
        <a:lstStyle/>
        <a:p>
          <a:endParaRPr lang="en-US"/>
        </a:p>
      </dgm:t>
    </dgm:pt>
    <dgm:pt modelId="{132CE79B-AA25-46B9-B446-2FFF3987FEC9}" type="sibTrans" cxnId="{1FA89629-91B0-44CB-9BB5-D5B584D0FEE6}">
      <dgm:prSet/>
      <dgm:spPr/>
      <dgm:t>
        <a:bodyPr/>
        <a:lstStyle/>
        <a:p>
          <a:endParaRPr lang="en-US"/>
        </a:p>
      </dgm:t>
    </dgm:pt>
    <dgm:pt modelId="{EA8B526C-7166-4D57-8E4D-73F706A11022}">
      <dgm:prSet custT="1"/>
      <dgm:spPr/>
      <dgm:t>
        <a:bodyPr/>
        <a:lstStyle/>
        <a:p>
          <a:r>
            <a:rPr lang="en-US" sz="2400"/>
            <a:t>Leverage technology: </a:t>
          </a:r>
          <a:r>
            <a:rPr lang="en-US" sz="2400" b="1"/>
            <a:t>GIS</a:t>
          </a:r>
          <a:r>
            <a:rPr lang="en-US" sz="2400"/>
            <a:t>, </a:t>
          </a:r>
          <a:r>
            <a:rPr lang="en-US" sz="2400" b="1"/>
            <a:t>mobile diagnostics</a:t>
          </a:r>
          <a:r>
            <a:rPr lang="en-US" sz="2400"/>
            <a:t>, </a:t>
          </a:r>
          <a:r>
            <a:rPr lang="en-US" sz="2400" b="1"/>
            <a:t>AI-driven surveillance</a:t>
          </a:r>
          <a:endParaRPr lang="en-US" sz="2400"/>
        </a:p>
      </dgm:t>
    </dgm:pt>
    <dgm:pt modelId="{1A7D1578-AD18-43E0-BF9A-B0F8CF7B9719}" type="parTrans" cxnId="{0122BB28-8C74-46EE-98BC-A08B706C76CD}">
      <dgm:prSet/>
      <dgm:spPr/>
      <dgm:t>
        <a:bodyPr/>
        <a:lstStyle/>
        <a:p>
          <a:endParaRPr lang="en-US"/>
        </a:p>
      </dgm:t>
    </dgm:pt>
    <dgm:pt modelId="{1FD2DAE5-26F5-4533-AA3E-8F0E51994604}" type="sibTrans" cxnId="{0122BB28-8C74-46EE-98BC-A08B706C76CD}">
      <dgm:prSet/>
      <dgm:spPr/>
      <dgm:t>
        <a:bodyPr/>
        <a:lstStyle/>
        <a:p>
          <a:endParaRPr lang="en-US"/>
        </a:p>
      </dgm:t>
    </dgm:pt>
    <dgm:pt modelId="{922F2A64-AD91-488B-B746-10D0A3450D6B}" type="pres">
      <dgm:prSet presAssocID="{95243B45-5BF1-4210-A044-68593625D0BF}" presName="root" presStyleCnt="0">
        <dgm:presLayoutVars>
          <dgm:dir/>
          <dgm:resizeHandles val="exact"/>
        </dgm:presLayoutVars>
      </dgm:prSet>
      <dgm:spPr/>
    </dgm:pt>
    <dgm:pt modelId="{E68CA1F3-F1B3-4AC2-98F3-9D18A3E98D3B}" type="pres">
      <dgm:prSet presAssocID="{91211059-67FB-4438-AC73-FBC6A482EC2E}" presName="compNode" presStyleCnt="0"/>
      <dgm:spPr/>
    </dgm:pt>
    <dgm:pt modelId="{4C9A3A2E-6943-407B-AF41-2602EDD4401F}" type="pres">
      <dgm:prSet presAssocID="{91211059-67FB-4438-AC73-FBC6A482EC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188DC1FC-1323-4F62-8798-8431F860E9FD}" type="pres">
      <dgm:prSet presAssocID="{91211059-67FB-4438-AC73-FBC6A482EC2E}" presName="iconSpace" presStyleCnt="0"/>
      <dgm:spPr/>
    </dgm:pt>
    <dgm:pt modelId="{7F9230F3-5E31-417E-8578-ECBF7F8349E0}" type="pres">
      <dgm:prSet presAssocID="{91211059-67FB-4438-AC73-FBC6A482EC2E}" presName="parTx" presStyleLbl="revTx" presStyleIdx="0" presStyleCnt="4">
        <dgm:presLayoutVars>
          <dgm:chMax val="0"/>
          <dgm:chPref val="0"/>
        </dgm:presLayoutVars>
      </dgm:prSet>
      <dgm:spPr/>
    </dgm:pt>
    <dgm:pt modelId="{0AD789A0-65FE-41E8-A563-1FBD214A7B72}" type="pres">
      <dgm:prSet presAssocID="{91211059-67FB-4438-AC73-FBC6A482EC2E}" presName="txSpace" presStyleCnt="0"/>
      <dgm:spPr/>
    </dgm:pt>
    <dgm:pt modelId="{56BFCA3F-E414-4244-94C2-CD0C9EDF5B8D}" type="pres">
      <dgm:prSet presAssocID="{91211059-67FB-4438-AC73-FBC6A482EC2E}" presName="desTx" presStyleLbl="revTx" presStyleIdx="1" presStyleCnt="4">
        <dgm:presLayoutVars/>
      </dgm:prSet>
      <dgm:spPr/>
    </dgm:pt>
    <dgm:pt modelId="{7C2C7D6E-EF28-45A8-B280-DFC2F1F28F5B}" type="pres">
      <dgm:prSet presAssocID="{5245F9A1-C76A-45E4-A17C-4DA68EA4F30A}" presName="sibTrans" presStyleCnt="0"/>
      <dgm:spPr/>
    </dgm:pt>
    <dgm:pt modelId="{1B4F0171-2CF1-434D-8FF6-001B562F025C}" type="pres">
      <dgm:prSet presAssocID="{C35C9900-5C9C-47DF-9302-DF4BAE7A4C3E}" presName="compNode" presStyleCnt="0"/>
      <dgm:spPr/>
    </dgm:pt>
    <dgm:pt modelId="{D2319F80-CDB8-484A-AD7B-9A92EA641A1C}" type="pres">
      <dgm:prSet presAssocID="{C35C9900-5C9C-47DF-9302-DF4BAE7A4C3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Veterinarian"/>
        </a:ext>
      </dgm:extLst>
    </dgm:pt>
    <dgm:pt modelId="{359678F3-4103-4949-A9A9-98BB33010292}" type="pres">
      <dgm:prSet presAssocID="{C35C9900-5C9C-47DF-9302-DF4BAE7A4C3E}" presName="iconSpace" presStyleCnt="0"/>
      <dgm:spPr/>
    </dgm:pt>
    <dgm:pt modelId="{ACE46A24-DFA6-43B7-8D00-58229040D077}" type="pres">
      <dgm:prSet presAssocID="{C35C9900-5C9C-47DF-9302-DF4BAE7A4C3E}" presName="parTx" presStyleLbl="revTx" presStyleIdx="2" presStyleCnt="4">
        <dgm:presLayoutVars>
          <dgm:chMax val="0"/>
          <dgm:chPref val="0"/>
        </dgm:presLayoutVars>
      </dgm:prSet>
      <dgm:spPr/>
    </dgm:pt>
    <dgm:pt modelId="{CD0F29B2-21F6-4EE8-8BB5-3A1E0BB3DF3D}" type="pres">
      <dgm:prSet presAssocID="{C35C9900-5C9C-47DF-9302-DF4BAE7A4C3E}" presName="txSpace" presStyleCnt="0"/>
      <dgm:spPr/>
    </dgm:pt>
    <dgm:pt modelId="{173041F4-C078-4788-9DF7-545E3C1A262D}" type="pres">
      <dgm:prSet presAssocID="{C35C9900-5C9C-47DF-9302-DF4BAE7A4C3E}" presName="desTx" presStyleLbl="revTx" presStyleIdx="3" presStyleCnt="4">
        <dgm:presLayoutVars/>
      </dgm:prSet>
      <dgm:spPr/>
    </dgm:pt>
  </dgm:ptLst>
  <dgm:cxnLst>
    <dgm:cxn modelId="{E237E102-EB57-4BB8-B07A-B4E76E9E4043}" type="presOf" srcId="{3914B98C-4EEE-4CC2-9AE5-B46F929028D1}" destId="{56BFCA3F-E414-4244-94C2-CD0C9EDF5B8D}" srcOrd="0" destOrd="1" presId="urn:microsoft.com/office/officeart/2018/2/layout/IconLabelDescriptionList"/>
    <dgm:cxn modelId="{9ABD9706-1077-4FB4-A0AD-B6FE8852DDF0}" type="presOf" srcId="{ED5331B9-E4B6-4217-A7D9-6E7C48A92F11}" destId="{56BFCA3F-E414-4244-94C2-CD0C9EDF5B8D}" srcOrd="0" destOrd="2" presId="urn:microsoft.com/office/officeart/2018/2/layout/IconLabelDescriptionList"/>
    <dgm:cxn modelId="{71A03E12-3186-4A2E-9D6E-750DC04B5E8C}" srcId="{95243B45-5BF1-4210-A044-68593625D0BF}" destId="{C35C9900-5C9C-47DF-9302-DF4BAE7A4C3E}" srcOrd="1" destOrd="0" parTransId="{DC36E0F6-0047-45BA-B6A7-F54978DE4894}" sibTransId="{848EBC5B-DDE9-406A-890F-5EBB0FF1AF20}"/>
    <dgm:cxn modelId="{4F74001A-62BB-4156-A000-0E713BD50B92}" type="presOf" srcId="{C35C9900-5C9C-47DF-9302-DF4BAE7A4C3E}" destId="{ACE46A24-DFA6-43B7-8D00-58229040D077}" srcOrd="0" destOrd="0" presId="urn:microsoft.com/office/officeart/2018/2/layout/IconLabelDescriptionList"/>
    <dgm:cxn modelId="{23D0D422-0849-494F-83C2-E8C85DBEC7FA}" type="presOf" srcId="{95243B45-5BF1-4210-A044-68593625D0BF}" destId="{922F2A64-AD91-488B-B746-10D0A3450D6B}" srcOrd="0" destOrd="0" presId="urn:microsoft.com/office/officeart/2018/2/layout/IconLabelDescriptionList"/>
    <dgm:cxn modelId="{0122BB28-8C74-46EE-98BC-A08B706C76CD}" srcId="{C35C9900-5C9C-47DF-9302-DF4BAE7A4C3E}" destId="{EA8B526C-7166-4D57-8E4D-73F706A11022}" srcOrd="2" destOrd="0" parTransId="{1A7D1578-AD18-43E0-BF9A-B0F8CF7B9719}" sibTransId="{1FD2DAE5-26F5-4533-AA3E-8F0E51994604}"/>
    <dgm:cxn modelId="{1FA89629-91B0-44CB-9BB5-D5B584D0FEE6}" srcId="{C35C9900-5C9C-47DF-9302-DF4BAE7A4C3E}" destId="{CFE61724-3B64-464E-BA2C-FBB4B6DD7FD6}" srcOrd="1" destOrd="0" parTransId="{F736912C-8AEE-4DCF-B7AB-5C4B1F1D0575}" sibTransId="{132CE79B-AA25-46B9-B446-2FFF3987FEC9}"/>
    <dgm:cxn modelId="{15F5F52E-CB89-4EBE-B79B-9E4D321838EF}" type="presOf" srcId="{691E4C26-1981-4969-80E2-8135865487B8}" destId="{56BFCA3F-E414-4244-94C2-CD0C9EDF5B8D}" srcOrd="0" destOrd="0" presId="urn:microsoft.com/office/officeart/2018/2/layout/IconLabelDescriptionList"/>
    <dgm:cxn modelId="{13E87141-9A72-4421-8D03-C270FA699507}" srcId="{91211059-67FB-4438-AC73-FBC6A482EC2E}" destId="{691E4C26-1981-4969-80E2-8135865487B8}" srcOrd="0" destOrd="0" parTransId="{6DEE2074-74E3-4520-A23D-529B3B9CE1BD}" sibTransId="{28202223-329E-4139-8927-C1DC1EF11A27}"/>
    <dgm:cxn modelId="{27B13B43-EF80-469D-A617-08CCEF99AA11}" type="presOf" srcId="{0C46D231-C316-47B4-A01D-72B62DD16EB2}" destId="{173041F4-C078-4788-9DF7-545E3C1A262D}" srcOrd="0" destOrd="0" presId="urn:microsoft.com/office/officeart/2018/2/layout/IconLabelDescriptionList"/>
    <dgm:cxn modelId="{28311B71-84BE-44A9-BFB0-DEF666B890D0}" type="presOf" srcId="{91211059-67FB-4438-AC73-FBC6A482EC2E}" destId="{7F9230F3-5E31-417E-8578-ECBF7F8349E0}" srcOrd="0" destOrd="0" presId="urn:microsoft.com/office/officeart/2018/2/layout/IconLabelDescriptionList"/>
    <dgm:cxn modelId="{01AEFC73-E4AE-45E3-977D-9B9707C7D2E3}" type="presOf" srcId="{EA8B526C-7166-4D57-8E4D-73F706A11022}" destId="{173041F4-C078-4788-9DF7-545E3C1A262D}" srcOrd="0" destOrd="2" presId="urn:microsoft.com/office/officeart/2018/2/layout/IconLabelDescriptionList"/>
    <dgm:cxn modelId="{99E15E54-55D6-4DA0-9336-5E59159C33A0}" srcId="{95243B45-5BF1-4210-A044-68593625D0BF}" destId="{91211059-67FB-4438-AC73-FBC6A482EC2E}" srcOrd="0" destOrd="0" parTransId="{B9EEF6E1-39C3-4B49-910F-7CAA7041A78A}" sibTransId="{5245F9A1-C76A-45E4-A17C-4DA68EA4F30A}"/>
    <dgm:cxn modelId="{75E307A5-A69E-4DC7-A272-52F2ED59F5C3}" type="presOf" srcId="{CFE61724-3B64-464E-BA2C-FBB4B6DD7FD6}" destId="{173041F4-C078-4788-9DF7-545E3C1A262D}" srcOrd="0" destOrd="1" presId="urn:microsoft.com/office/officeart/2018/2/layout/IconLabelDescriptionList"/>
    <dgm:cxn modelId="{7E7321D7-5465-4F31-A4EF-06DE0DD0FC3F}" srcId="{C35C9900-5C9C-47DF-9302-DF4BAE7A4C3E}" destId="{0C46D231-C316-47B4-A01D-72B62DD16EB2}" srcOrd="0" destOrd="0" parTransId="{388FA35B-A4A3-442D-BA85-6F9E0B0ECC82}" sibTransId="{C891B499-9DF9-4193-8295-35D63664301A}"/>
    <dgm:cxn modelId="{47D8B1F2-F882-40BA-955D-6AC5DDB3B69B}" srcId="{91211059-67FB-4438-AC73-FBC6A482EC2E}" destId="{ED5331B9-E4B6-4217-A7D9-6E7C48A92F11}" srcOrd="2" destOrd="0" parTransId="{89EC293B-E5DA-4D18-8791-B9782D6273A4}" sibTransId="{2AB8909C-73B1-4D74-B2CD-78EDE01EA3B8}"/>
    <dgm:cxn modelId="{1899FFF6-EC64-40CE-898F-C5E4E6533D37}" srcId="{91211059-67FB-4438-AC73-FBC6A482EC2E}" destId="{3914B98C-4EEE-4CC2-9AE5-B46F929028D1}" srcOrd="1" destOrd="0" parTransId="{C48E57FB-9068-4440-95D7-A8C8CF9CD768}" sibTransId="{F1A28920-80DF-4468-8970-BC608FDADDCA}"/>
    <dgm:cxn modelId="{BACA9498-01E3-4912-A346-735644844509}" type="presParOf" srcId="{922F2A64-AD91-488B-B746-10D0A3450D6B}" destId="{E68CA1F3-F1B3-4AC2-98F3-9D18A3E98D3B}" srcOrd="0" destOrd="0" presId="urn:microsoft.com/office/officeart/2018/2/layout/IconLabelDescriptionList"/>
    <dgm:cxn modelId="{3EDB8C09-8598-4CFC-A621-E220517C1F14}" type="presParOf" srcId="{E68CA1F3-F1B3-4AC2-98F3-9D18A3E98D3B}" destId="{4C9A3A2E-6943-407B-AF41-2602EDD4401F}" srcOrd="0" destOrd="0" presId="urn:microsoft.com/office/officeart/2018/2/layout/IconLabelDescriptionList"/>
    <dgm:cxn modelId="{F5394C9C-46E7-45F8-B85D-3DE8797AB8F9}" type="presParOf" srcId="{E68CA1F3-F1B3-4AC2-98F3-9D18A3E98D3B}" destId="{188DC1FC-1323-4F62-8798-8431F860E9FD}" srcOrd="1" destOrd="0" presId="urn:microsoft.com/office/officeart/2018/2/layout/IconLabelDescriptionList"/>
    <dgm:cxn modelId="{971BDA26-2613-4516-928C-3E2EFDA1038F}" type="presParOf" srcId="{E68CA1F3-F1B3-4AC2-98F3-9D18A3E98D3B}" destId="{7F9230F3-5E31-417E-8578-ECBF7F8349E0}" srcOrd="2" destOrd="0" presId="urn:microsoft.com/office/officeart/2018/2/layout/IconLabelDescriptionList"/>
    <dgm:cxn modelId="{A465561F-0640-4356-9248-518FA6719246}" type="presParOf" srcId="{E68CA1F3-F1B3-4AC2-98F3-9D18A3E98D3B}" destId="{0AD789A0-65FE-41E8-A563-1FBD214A7B72}" srcOrd="3" destOrd="0" presId="urn:microsoft.com/office/officeart/2018/2/layout/IconLabelDescriptionList"/>
    <dgm:cxn modelId="{DE06013A-CA65-4DF1-B4A9-3BB1EE8FB30F}" type="presParOf" srcId="{E68CA1F3-F1B3-4AC2-98F3-9D18A3E98D3B}" destId="{56BFCA3F-E414-4244-94C2-CD0C9EDF5B8D}" srcOrd="4" destOrd="0" presId="urn:microsoft.com/office/officeart/2018/2/layout/IconLabelDescriptionList"/>
    <dgm:cxn modelId="{C516F132-E6EC-4D1E-A33E-25911125F6D8}" type="presParOf" srcId="{922F2A64-AD91-488B-B746-10D0A3450D6B}" destId="{7C2C7D6E-EF28-45A8-B280-DFC2F1F28F5B}" srcOrd="1" destOrd="0" presId="urn:microsoft.com/office/officeart/2018/2/layout/IconLabelDescriptionList"/>
    <dgm:cxn modelId="{3989EFEE-344D-4252-8F8C-620767276E7A}" type="presParOf" srcId="{922F2A64-AD91-488B-B746-10D0A3450D6B}" destId="{1B4F0171-2CF1-434D-8FF6-001B562F025C}" srcOrd="2" destOrd="0" presId="urn:microsoft.com/office/officeart/2018/2/layout/IconLabelDescriptionList"/>
    <dgm:cxn modelId="{1CCEDC65-44F4-4FAD-B095-D847C27029E9}" type="presParOf" srcId="{1B4F0171-2CF1-434D-8FF6-001B562F025C}" destId="{D2319F80-CDB8-484A-AD7B-9A92EA641A1C}" srcOrd="0" destOrd="0" presId="urn:microsoft.com/office/officeart/2018/2/layout/IconLabelDescriptionList"/>
    <dgm:cxn modelId="{D0998F97-7D9E-498D-AF87-8C218E794EC3}" type="presParOf" srcId="{1B4F0171-2CF1-434D-8FF6-001B562F025C}" destId="{359678F3-4103-4949-A9A9-98BB33010292}" srcOrd="1" destOrd="0" presId="urn:microsoft.com/office/officeart/2018/2/layout/IconLabelDescriptionList"/>
    <dgm:cxn modelId="{A4A118C9-AE10-4E14-B0A0-EA31BDD5E0CF}" type="presParOf" srcId="{1B4F0171-2CF1-434D-8FF6-001B562F025C}" destId="{ACE46A24-DFA6-43B7-8D00-58229040D077}" srcOrd="2" destOrd="0" presId="urn:microsoft.com/office/officeart/2018/2/layout/IconLabelDescriptionList"/>
    <dgm:cxn modelId="{B18355E3-D191-4172-B12C-DACD6AE463C1}" type="presParOf" srcId="{1B4F0171-2CF1-434D-8FF6-001B562F025C}" destId="{CD0F29B2-21F6-4EE8-8BB5-3A1E0BB3DF3D}" srcOrd="3" destOrd="0" presId="urn:microsoft.com/office/officeart/2018/2/layout/IconLabelDescriptionList"/>
    <dgm:cxn modelId="{48C3470F-CBAE-4FBF-9F2A-15C29FD3E461}" type="presParOf" srcId="{1B4F0171-2CF1-434D-8FF6-001B562F025C}" destId="{173041F4-C078-4788-9DF7-545E3C1A262D}"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4C84B81D-650D-4F19-A302-629598EBE555}"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8BDB72B4-6347-4958-BBB0-56714F36681B}">
      <dgm:prSet/>
      <dgm:spPr/>
      <dgm:t>
        <a:bodyPr/>
        <a:lstStyle/>
        <a:p>
          <a:r>
            <a:rPr lang="en-US" b="1"/>
            <a:t>NCD Burden</a:t>
          </a:r>
          <a:endParaRPr lang="en-US"/>
        </a:p>
      </dgm:t>
    </dgm:pt>
    <dgm:pt modelId="{A01EE1B4-FFEE-412A-8B60-C7E591D19E90}" type="parTrans" cxnId="{E19036B3-DE60-4F97-9873-644A1A5D86C6}">
      <dgm:prSet/>
      <dgm:spPr/>
      <dgm:t>
        <a:bodyPr/>
        <a:lstStyle/>
        <a:p>
          <a:endParaRPr lang="en-US"/>
        </a:p>
      </dgm:t>
    </dgm:pt>
    <dgm:pt modelId="{0AA8ED94-8DBF-4C0D-99E4-AE7B81E0047B}" type="sibTrans" cxnId="{E19036B3-DE60-4F97-9873-644A1A5D86C6}">
      <dgm:prSet/>
      <dgm:spPr/>
      <dgm:t>
        <a:bodyPr/>
        <a:lstStyle/>
        <a:p>
          <a:endParaRPr lang="en-US"/>
        </a:p>
      </dgm:t>
    </dgm:pt>
    <dgm:pt modelId="{D015D14E-AFA4-47A9-B304-932227967202}">
      <dgm:prSet/>
      <dgm:spPr/>
      <dgm:t>
        <a:bodyPr/>
        <a:lstStyle/>
        <a:p>
          <a:r>
            <a:rPr lang="en-US"/>
            <a:t>Non-Communicable Diseases (NCDs) caused </a:t>
          </a:r>
          <a:r>
            <a:rPr lang="en-US" b="1"/>
            <a:t>63% of all deaths in India (2016)</a:t>
          </a:r>
          <a:endParaRPr lang="en-US"/>
        </a:p>
      </dgm:t>
    </dgm:pt>
    <dgm:pt modelId="{D18AFA7A-90F8-4D16-B4B1-31E022C60A3D}" type="parTrans" cxnId="{C49A71CA-5F5B-4ED0-9CCF-DBB57FEADB2D}">
      <dgm:prSet/>
      <dgm:spPr/>
      <dgm:t>
        <a:bodyPr/>
        <a:lstStyle/>
        <a:p>
          <a:endParaRPr lang="en-US"/>
        </a:p>
      </dgm:t>
    </dgm:pt>
    <dgm:pt modelId="{066F3E0B-7671-4377-86FA-75D6FB142765}" type="sibTrans" cxnId="{C49A71CA-5F5B-4ED0-9CCF-DBB57FEADB2D}">
      <dgm:prSet/>
      <dgm:spPr/>
      <dgm:t>
        <a:bodyPr/>
        <a:lstStyle/>
        <a:p>
          <a:endParaRPr lang="en-US"/>
        </a:p>
      </dgm:t>
    </dgm:pt>
    <dgm:pt modelId="{9D0405A0-6BD8-4F91-BC87-10B8A7A4ED8F}">
      <dgm:prSet/>
      <dgm:spPr/>
      <dgm:t>
        <a:bodyPr/>
        <a:lstStyle/>
        <a:p>
          <a:r>
            <a:rPr lang="en-US"/>
            <a:t>Key contributors: ageing population, urbanization, pollution, lifestyle changes</a:t>
          </a:r>
        </a:p>
      </dgm:t>
    </dgm:pt>
    <dgm:pt modelId="{92EE96A5-02E9-4D80-9C10-DCF9754AD547}" type="parTrans" cxnId="{EF15B084-DD2B-46C7-B295-73A95BD9E474}">
      <dgm:prSet/>
      <dgm:spPr/>
      <dgm:t>
        <a:bodyPr/>
        <a:lstStyle/>
        <a:p>
          <a:endParaRPr lang="en-US"/>
        </a:p>
      </dgm:t>
    </dgm:pt>
    <dgm:pt modelId="{AD195489-9801-4ECA-847C-3DB22228A0D1}" type="sibTrans" cxnId="{EF15B084-DD2B-46C7-B295-73A95BD9E474}">
      <dgm:prSet/>
      <dgm:spPr/>
      <dgm:t>
        <a:bodyPr/>
        <a:lstStyle/>
        <a:p>
          <a:endParaRPr lang="en-US"/>
        </a:p>
      </dgm:t>
    </dgm:pt>
    <dgm:pt modelId="{1D06B513-BCE5-4BA9-9D27-F7F0B81F01E6}">
      <dgm:prSet/>
      <dgm:spPr/>
      <dgm:t>
        <a:bodyPr/>
        <a:lstStyle/>
        <a:p>
          <a:r>
            <a:rPr lang="en-US"/>
            <a:t>Major NCDs:</a:t>
          </a:r>
        </a:p>
      </dgm:t>
    </dgm:pt>
    <dgm:pt modelId="{BCDD0699-CD3F-4782-96A2-A60F1C55208D}" type="parTrans" cxnId="{359FB183-7323-4D08-A8FF-4B5096ACA9FB}">
      <dgm:prSet/>
      <dgm:spPr/>
      <dgm:t>
        <a:bodyPr/>
        <a:lstStyle/>
        <a:p>
          <a:endParaRPr lang="en-US"/>
        </a:p>
      </dgm:t>
    </dgm:pt>
    <dgm:pt modelId="{8782D3C4-3B3A-4CCF-96A1-B4C4E2A3C2FF}" type="sibTrans" cxnId="{359FB183-7323-4D08-A8FF-4B5096ACA9FB}">
      <dgm:prSet/>
      <dgm:spPr/>
      <dgm:t>
        <a:bodyPr/>
        <a:lstStyle/>
        <a:p>
          <a:endParaRPr lang="en-US"/>
        </a:p>
      </dgm:t>
    </dgm:pt>
    <dgm:pt modelId="{B0960DD7-2E33-4838-958A-315CD1890F21}">
      <dgm:prSet/>
      <dgm:spPr/>
      <dgm:t>
        <a:bodyPr/>
        <a:lstStyle/>
        <a:p>
          <a:r>
            <a:rPr lang="en-US" dirty="0"/>
            <a:t>Diabetes Mellitus</a:t>
          </a:r>
        </a:p>
      </dgm:t>
    </dgm:pt>
    <dgm:pt modelId="{0B1ED95B-9A7F-420E-A95B-D6DD80B2AF6E}" type="parTrans" cxnId="{F79D9C8C-6DD1-494A-B6B1-E7C31965E7D9}">
      <dgm:prSet/>
      <dgm:spPr/>
      <dgm:t>
        <a:bodyPr/>
        <a:lstStyle/>
        <a:p>
          <a:endParaRPr lang="en-US"/>
        </a:p>
      </dgm:t>
    </dgm:pt>
    <dgm:pt modelId="{27B62C7E-E5A3-4F34-BF60-19ED12EB874A}" type="sibTrans" cxnId="{F79D9C8C-6DD1-494A-B6B1-E7C31965E7D9}">
      <dgm:prSet/>
      <dgm:spPr/>
      <dgm:t>
        <a:bodyPr/>
        <a:lstStyle/>
        <a:p>
          <a:endParaRPr lang="en-US"/>
        </a:p>
      </dgm:t>
    </dgm:pt>
    <dgm:pt modelId="{DCAF5367-CD27-425E-BE58-F68056DA2A58}">
      <dgm:prSet/>
      <dgm:spPr/>
      <dgm:t>
        <a:bodyPr/>
        <a:lstStyle/>
        <a:p>
          <a:r>
            <a:rPr lang="en-US"/>
            <a:t>Cardiovascular Diseases</a:t>
          </a:r>
        </a:p>
      </dgm:t>
    </dgm:pt>
    <dgm:pt modelId="{7D3D5CD1-90E7-41E6-85B6-7EF1472118C0}" type="parTrans" cxnId="{36E643D4-CF7D-4163-9ECC-50C5E82ACD22}">
      <dgm:prSet/>
      <dgm:spPr/>
      <dgm:t>
        <a:bodyPr/>
        <a:lstStyle/>
        <a:p>
          <a:endParaRPr lang="en-US"/>
        </a:p>
      </dgm:t>
    </dgm:pt>
    <dgm:pt modelId="{D15D754B-395F-438A-871C-9422592E5CA9}" type="sibTrans" cxnId="{36E643D4-CF7D-4163-9ECC-50C5E82ACD22}">
      <dgm:prSet/>
      <dgm:spPr/>
      <dgm:t>
        <a:bodyPr/>
        <a:lstStyle/>
        <a:p>
          <a:endParaRPr lang="en-US"/>
        </a:p>
      </dgm:t>
    </dgm:pt>
    <dgm:pt modelId="{A55E66A2-D1EF-4C30-8909-C4ED518CD32F}">
      <dgm:prSet/>
      <dgm:spPr/>
      <dgm:t>
        <a:bodyPr/>
        <a:lstStyle/>
        <a:p>
          <a:r>
            <a:rPr lang="en-US"/>
            <a:t>Stroke</a:t>
          </a:r>
        </a:p>
      </dgm:t>
    </dgm:pt>
    <dgm:pt modelId="{5FFA8D59-0ABD-4AD3-A675-EDB394B1261B}" type="parTrans" cxnId="{4FCCE043-B671-4623-83B7-44C4409A59D1}">
      <dgm:prSet/>
      <dgm:spPr/>
      <dgm:t>
        <a:bodyPr/>
        <a:lstStyle/>
        <a:p>
          <a:endParaRPr lang="en-US"/>
        </a:p>
      </dgm:t>
    </dgm:pt>
    <dgm:pt modelId="{92EDE941-38D5-4853-A5EE-93CC0100AEDA}" type="sibTrans" cxnId="{4FCCE043-B671-4623-83B7-44C4409A59D1}">
      <dgm:prSet/>
      <dgm:spPr/>
      <dgm:t>
        <a:bodyPr/>
        <a:lstStyle/>
        <a:p>
          <a:endParaRPr lang="en-US"/>
        </a:p>
      </dgm:t>
    </dgm:pt>
    <dgm:pt modelId="{FD0EC926-95AE-4A64-8F23-B94E4D84D0CE}">
      <dgm:prSet/>
      <dgm:spPr/>
      <dgm:t>
        <a:bodyPr/>
        <a:lstStyle/>
        <a:p>
          <a:r>
            <a:rPr lang="en-US"/>
            <a:t>Cancer</a:t>
          </a:r>
        </a:p>
      </dgm:t>
    </dgm:pt>
    <dgm:pt modelId="{6EC541E7-AD6F-437C-BB99-CA1B034AE87D}" type="parTrans" cxnId="{5394D142-A5B5-47DF-BD26-239C7E8C75B4}">
      <dgm:prSet/>
      <dgm:spPr/>
      <dgm:t>
        <a:bodyPr/>
        <a:lstStyle/>
        <a:p>
          <a:endParaRPr lang="en-US"/>
        </a:p>
      </dgm:t>
    </dgm:pt>
    <dgm:pt modelId="{31735C6D-05B1-46E2-9205-60F51C0DA9E0}" type="sibTrans" cxnId="{5394D142-A5B5-47DF-BD26-239C7E8C75B4}">
      <dgm:prSet/>
      <dgm:spPr/>
      <dgm:t>
        <a:bodyPr/>
        <a:lstStyle/>
        <a:p>
          <a:endParaRPr lang="en-US"/>
        </a:p>
      </dgm:t>
    </dgm:pt>
    <dgm:pt modelId="{7D981597-6AC3-4B66-952B-8BA1F67079F1}">
      <dgm:prSet/>
      <dgm:spPr/>
      <dgm:t>
        <a:bodyPr/>
        <a:lstStyle/>
        <a:p>
          <a:r>
            <a:rPr lang="en-US"/>
            <a:t>Chronic Lung Diseases</a:t>
          </a:r>
        </a:p>
      </dgm:t>
    </dgm:pt>
    <dgm:pt modelId="{C56CEDA5-5FB7-4734-88AC-39B973AE37E9}" type="parTrans" cxnId="{2B90614A-AD5C-4387-AF91-A8BFC6B88053}">
      <dgm:prSet/>
      <dgm:spPr/>
      <dgm:t>
        <a:bodyPr/>
        <a:lstStyle/>
        <a:p>
          <a:endParaRPr lang="en-US"/>
        </a:p>
      </dgm:t>
    </dgm:pt>
    <dgm:pt modelId="{F6AA5343-1F2E-4C93-83D5-6DBF71EC240B}" type="sibTrans" cxnId="{2B90614A-AD5C-4387-AF91-A8BFC6B88053}">
      <dgm:prSet/>
      <dgm:spPr/>
      <dgm:t>
        <a:bodyPr/>
        <a:lstStyle/>
        <a:p>
          <a:endParaRPr lang="en-US"/>
        </a:p>
      </dgm:t>
    </dgm:pt>
    <dgm:pt modelId="{A2AC31C1-9168-4951-8274-B9D494729C1B}">
      <dgm:prSet/>
      <dgm:spPr/>
      <dgm:t>
        <a:bodyPr/>
        <a:lstStyle/>
        <a:p>
          <a:r>
            <a:rPr lang="en-US" b="1"/>
            <a:t>Cancer Profile:</a:t>
          </a:r>
          <a:endParaRPr lang="en-US"/>
        </a:p>
      </dgm:t>
    </dgm:pt>
    <dgm:pt modelId="{0BD63F60-DABD-478D-9BC3-962934E9A24C}" type="parTrans" cxnId="{A7847B0F-A4EB-4024-8773-2E0401C4DE54}">
      <dgm:prSet/>
      <dgm:spPr/>
      <dgm:t>
        <a:bodyPr/>
        <a:lstStyle/>
        <a:p>
          <a:endParaRPr lang="en-US"/>
        </a:p>
      </dgm:t>
    </dgm:pt>
    <dgm:pt modelId="{6CD9CEF9-F1F8-460B-9292-D9D1BB8D1E30}" type="sibTrans" cxnId="{A7847B0F-A4EB-4024-8773-2E0401C4DE54}">
      <dgm:prSet/>
      <dgm:spPr/>
      <dgm:t>
        <a:bodyPr/>
        <a:lstStyle/>
        <a:p>
          <a:endParaRPr lang="en-US"/>
        </a:p>
      </dgm:t>
    </dgm:pt>
    <dgm:pt modelId="{F1A181E1-AFE5-46F4-BE5B-3997B8F76ABF}">
      <dgm:prSet/>
      <dgm:spPr/>
      <dgm:t>
        <a:bodyPr/>
        <a:lstStyle/>
        <a:p>
          <a:r>
            <a:rPr lang="en-US"/>
            <a:t>~</a:t>
          </a:r>
          <a:r>
            <a:rPr lang="en-US" b="1"/>
            <a:t>1.1 million new cases/year</a:t>
          </a:r>
          <a:endParaRPr lang="en-US"/>
        </a:p>
      </dgm:t>
    </dgm:pt>
    <dgm:pt modelId="{D247812A-E1A5-498D-8E47-E8079A71B3EF}" type="parTrans" cxnId="{A5F8A2E4-5688-4C4C-8DD1-C11181946C4A}">
      <dgm:prSet/>
      <dgm:spPr/>
      <dgm:t>
        <a:bodyPr/>
        <a:lstStyle/>
        <a:p>
          <a:endParaRPr lang="en-US"/>
        </a:p>
      </dgm:t>
    </dgm:pt>
    <dgm:pt modelId="{A4E341D3-8687-4AF2-920C-34DEFE4A314C}" type="sibTrans" cxnId="{A5F8A2E4-5688-4C4C-8DD1-C11181946C4A}">
      <dgm:prSet/>
      <dgm:spPr/>
      <dgm:t>
        <a:bodyPr/>
        <a:lstStyle/>
        <a:p>
          <a:endParaRPr lang="en-US"/>
        </a:p>
      </dgm:t>
    </dgm:pt>
    <dgm:pt modelId="{479EE2F3-AFF7-46EE-8790-C9EF4D0A3BBD}">
      <dgm:prSet/>
      <dgm:spPr/>
      <dgm:t>
        <a:bodyPr/>
        <a:lstStyle/>
        <a:p>
          <a:r>
            <a:rPr lang="en-US"/>
            <a:t>~</a:t>
          </a:r>
          <a:r>
            <a:rPr lang="en-US" b="1"/>
            <a:t>3.9 million</a:t>
          </a:r>
          <a:r>
            <a:rPr lang="en-US"/>
            <a:t> people living with cancer</a:t>
          </a:r>
        </a:p>
      </dgm:t>
    </dgm:pt>
    <dgm:pt modelId="{F4C27FD8-14B1-455C-9081-0EA18AFC76AE}" type="parTrans" cxnId="{246F650B-ECE5-4FD5-A7BD-71ADA5A79B9F}">
      <dgm:prSet/>
      <dgm:spPr/>
      <dgm:t>
        <a:bodyPr/>
        <a:lstStyle/>
        <a:p>
          <a:endParaRPr lang="en-US"/>
        </a:p>
      </dgm:t>
    </dgm:pt>
    <dgm:pt modelId="{0A65D931-6E8B-428C-A7D7-E47B53F657A3}" type="sibTrans" cxnId="{246F650B-ECE5-4FD5-A7BD-71ADA5A79B9F}">
      <dgm:prSet/>
      <dgm:spPr/>
      <dgm:t>
        <a:bodyPr/>
        <a:lstStyle/>
        <a:p>
          <a:endParaRPr lang="en-US"/>
        </a:p>
      </dgm:t>
    </dgm:pt>
    <dgm:pt modelId="{1251F4CF-D22C-491D-986C-40791C76998E}">
      <dgm:prSet/>
      <dgm:spPr/>
      <dgm:t>
        <a:bodyPr/>
        <a:lstStyle/>
        <a:p>
          <a:r>
            <a:rPr lang="en-US"/>
            <a:t>Tobacco-related cancers:</a:t>
          </a:r>
        </a:p>
      </dgm:t>
    </dgm:pt>
    <dgm:pt modelId="{00170E88-D2EA-4912-8037-E28E99202E20}" type="parTrans" cxnId="{25D3289A-44D0-47E0-8FBF-D944444437DD}">
      <dgm:prSet/>
      <dgm:spPr/>
      <dgm:t>
        <a:bodyPr/>
        <a:lstStyle/>
        <a:p>
          <a:endParaRPr lang="en-US"/>
        </a:p>
      </dgm:t>
    </dgm:pt>
    <dgm:pt modelId="{2CF526EA-52C0-452A-B1DF-32A493E1F9FA}" type="sibTrans" cxnId="{25D3289A-44D0-47E0-8FBF-D944444437DD}">
      <dgm:prSet/>
      <dgm:spPr/>
      <dgm:t>
        <a:bodyPr/>
        <a:lstStyle/>
        <a:p>
          <a:endParaRPr lang="en-US"/>
        </a:p>
      </dgm:t>
    </dgm:pt>
    <dgm:pt modelId="{9DE75E69-C713-4C47-9B84-2D0A85454D80}">
      <dgm:prSet/>
      <dgm:spPr/>
      <dgm:t>
        <a:bodyPr/>
        <a:lstStyle/>
        <a:p>
          <a:r>
            <a:rPr lang="en-US"/>
            <a:t>~</a:t>
          </a:r>
          <a:r>
            <a:rPr lang="en-US" b="1"/>
            <a:t>50% of male cancers</a:t>
          </a:r>
          <a:endParaRPr lang="en-US"/>
        </a:p>
      </dgm:t>
    </dgm:pt>
    <dgm:pt modelId="{360D708A-785D-45BE-93A8-A90AC3FF3D6F}" type="parTrans" cxnId="{EB2D1040-5541-49AB-81E6-25B858EB2ADE}">
      <dgm:prSet/>
      <dgm:spPr/>
      <dgm:t>
        <a:bodyPr/>
        <a:lstStyle/>
        <a:p>
          <a:endParaRPr lang="en-US"/>
        </a:p>
      </dgm:t>
    </dgm:pt>
    <dgm:pt modelId="{A90D722C-1DFD-4AF4-82BB-E05ABDE68739}" type="sibTrans" cxnId="{EB2D1040-5541-49AB-81E6-25B858EB2ADE}">
      <dgm:prSet/>
      <dgm:spPr/>
      <dgm:t>
        <a:bodyPr/>
        <a:lstStyle/>
        <a:p>
          <a:endParaRPr lang="en-US"/>
        </a:p>
      </dgm:t>
    </dgm:pt>
    <dgm:pt modelId="{41EDD908-3D01-4630-8BF4-44E156D4D448}">
      <dgm:prSet/>
      <dgm:spPr/>
      <dgm:t>
        <a:bodyPr/>
        <a:lstStyle/>
        <a:p>
          <a:r>
            <a:rPr lang="en-US"/>
            <a:t>~</a:t>
          </a:r>
          <a:r>
            <a:rPr lang="en-US" b="1"/>
            <a:t>20% of female cancers</a:t>
          </a:r>
          <a:endParaRPr lang="en-US"/>
        </a:p>
      </dgm:t>
    </dgm:pt>
    <dgm:pt modelId="{544D4D15-F988-4498-8691-02CFE86C1D1E}" type="parTrans" cxnId="{64B59814-5FAF-4E0F-8E7D-28ADF13A5174}">
      <dgm:prSet/>
      <dgm:spPr/>
      <dgm:t>
        <a:bodyPr/>
        <a:lstStyle/>
        <a:p>
          <a:endParaRPr lang="en-US"/>
        </a:p>
      </dgm:t>
    </dgm:pt>
    <dgm:pt modelId="{CB0D70BE-6C86-4A1C-A83D-AE7AAD28682F}" type="sibTrans" cxnId="{64B59814-5FAF-4E0F-8E7D-28ADF13A5174}">
      <dgm:prSet/>
      <dgm:spPr/>
      <dgm:t>
        <a:bodyPr/>
        <a:lstStyle/>
        <a:p>
          <a:endParaRPr lang="en-US"/>
        </a:p>
      </dgm:t>
    </dgm:pt>
    <dgm:pt modelId="{D4E4413E-0F3C-4889-90BF-D1421FD5168A}">
      <dgm:prSet/>
      <dgm:spPr/>
      <dgm:t>
        <a:bodyPr/>
        <a:lstStyle/>
        <a:p>
          <a:r>
            <a:rPr lang="en-US"/>
            <a:t>~</a:t>
          </a:r>
          <a:r>
            <a:rPr lang="en-US" b="1"/>
            <a:t>1 million tobacco-related deaths per year</a:t>
          </a:r>
          <a:endParaRPr lang="en-US"/>
        </a:p>
      </dgm:t>
    </dgm:pt>
    <dgm:pt modelId="{55A897F4-8DAC-45E6-B381-FCDDA56713EC}" type="parTrans" cxnId="{8028ADF4-0CD6-48B0-9FFA-29DC0D68C787}">
      <dgm:prSet/>
      <dgm:spPr/>
      <dgm:t>
        <a:bodyPr/>
        <a:lstStyle/>
        <a:p>
          <a:endParaRPr lang="en-US"/>
        </a:p>
      </dgm:t>
    </dgm:pt>
    <dgm:pt modelId="{EC6CDEE1-D105-4828-B768-D51B330692D6}" type="sibTrans" cxnId="{8028ADF4-0CD6-48B0-9FFA-29DC0D68C787}">
      <dgm:prSet/>
      <dgm:spPr/>
      <dgm:t>
        <a:bodyPr/>
        <a:lstStyle/>
        <a:p>
          <a:endParaRPr lang="en-US"/>
        </a:p>
      </dgm:t>
    </dgm:pt>
    <dgm:pt modelId="{85210174-EFAA-499A-9E81-94AE89229B70}" type="pres">
      <dgm:prSet presAssocID="{4C84B81D-650D-4F19-A302-629598EBE555}" presName="Name0" presStyleCnt="0">
        <dgm:presLayoutVars>
          <dgm:dir/>
          <dgm:animLvl val="lvl"/>
          <dgm:resizeHandles val="exact"/>
        </dgm:presLayoutVars>
      </dgm:prSet>
      <dgm:spPr/>
    </dgm:pt>
    <dgm:pt modelId="{352A0E45-0274-45D2-958B-BDBA50AB092D}" type="pres">
      <dgm:prSet presAssocID="{8BDB72B4-6347-4958-BBB0-56714F36681B}" presName="composite" presStyleCnt="0"/>
      <dgm:spPr/>
    </dgm:pt>
    <dgm:pt modelId="{CAB1E34A-58B9-4B8F-8203-93AEFEF367F9}" type="pres">
      <dgm:prSet presAssocID="{8BDB72B4-6347-4958-BBB0-56714F36681B}" presName="parTx" presStyleLbl="alignNode1" presStyleIdx="0" presStyleCnt="2">
        <dgm:presLayoutVars>
          <dgm:chMax val="0"/>
          <dgm:chPref val="0"/>
          <dgm:bulletEnabled val="1"/>
        </dgm:presLayoutVars>
      </dgm:prSet>
      <dgm:spPr/>
    </dgm:pt>
    <dgm:pt modelId="{175A6377-946D-41D2-B069-66E361853962}" type="pres">
      <dgm:prSet presAssocID="{8BDB72B4-6347-4958-BBB0-56714F36681B}" presName="desTx" presStyleLbl="alignAccFollowNode1" presStyleIdx="0" presStyleCnt="2">
        <dgm:presLayoutVars>
          <dgm:bulletEnabled val="1"/>
        </dgm:presLayoutVars>
      </dgm:prSet>
      <dgm:spPr/>
    </dgm:pt>
    <dgm:pt modelId="{0BBFF5E0-9AC8-4BAD-A742-C95E78E52F25}" type="pres">
      <dgm:prSet presAssocID="{0AA8ED94-8DBF-4C0D-99E4-AE7B81E0047B}" presName="space" presStyleCnt="0"/>
      <dgm:spPr/>
    </dgm:pt>
    <dgm:pt modelId="{1FBB2728-F462-4166-947F-A2E23387CB27}" type="pres">
      <dgm:prSet presAssocID="{A2AC31C1-9168-4951-8274-B9D494729C1B}" presName="composite" presStyleCnt="0"/>
      <dgm:spPr/>
    </dgm:pt>
    <dgm:pt modelId="{44430ED7-2CFC-4CA6-B702-A37CBDF76678}" type="pres">
      <dgm:prSet presAssocID="{A2AC31C1-9168-4951-8274-B9D494729C1B}" presName="parTx" presStyleLbl="alignNode1" presStyleIdx="1" presStyleCnt="2">
        <dgm:presLayoutVars>
          <dgm:chMax val="0"/>
          <dgm:chPref val="0"/>
          <dgm:bulletEnabled val="1"/>
        </dgm:presLayoutVars>
      </dgm:prSet>
      <dgm:spPr/>
    </dgm:pt>
    <dgm:pt modelId="{6604A323-563B-4473-B9EE-7FE188720815}" type="pres">
      <dgm:prSet presAssocID="{A2AC31C1-9168-4951-8274-B9D494729C1B}" presName="desTx" presStyleLbl="alignAccFollowNode1" presStyleIdx="1" presStyleCnt="2">
        <dgm:presLayoutVars>
          <dgm:bulletEnabled val="1"/>
        </dgm:presLayoutVars>
      </dgm:prSet>
      <dgm:spPr/>
    </dgm:pt>
  </dgm:ptLst>
  <dgm:cxnLst>
    <dgm:cxn modelId="{F4AAA501-CA4E-4A45-97B4-6290194D5D6C}" type="presOf" srcId="{A55E66A2-D1EF-4C30-8909-C4ED518CD32F}" destId="{175A6377-946D-41D2-B069-66E361853962}" srcOrd="0" destOrd="5" presId="urn:microsoft.com/office/officeart/2005/8/layout/hList1"/>
    <dgm:cxn modelId="{246F650B-ECE5-4FD5-A7BD-71ADA5A79B9F}" srcId="{A2AC31C1-9168-4951-8274-B9D494729C1B}" destId="{479EE2F3-AFF7-46EE-8790-C9EF4D0A3BBD}" srcOrd="1" destOrd="0" parTransId="{F4C27FD8-14B1-455C-9081-0EA18AFC76AE}" sibTransId="{0A65D931-6E8B-428C-A7D7-E47B53F657A3}"/>
    <dgm:cxn modelId="{3EF03B0F-6B73-423C-834D-F15723478B64}" type="presOf" srcId="{7D981597-6AC3-4B66-952B-8BA1F67079F1}" destId="{175A6377-946D-41D2-B069-66E361853962}" srcOrd="0" destOrd="7" presId="urn:microsoft.com/office/officeart/2005/8/layout/hList1"/>
    <dgm:cxn modelId="{A7847B0F-A4EB-4024-8773-2E0401C4DE54}" srcId="{4C84B81D-650D-4F19-A302-629598EBE555}" destId="{A2AC31C1-9168-4951-8274-B9D494729C1B}" srcOrd="1" destOrd="0" parTransId="{0BD63F60-DABD-478D-9BC3-962934E9A24C}" sibTransId="{6CD9CEF9-F1F8-460B-9292-D9D1BB8D1E30}"/>
    <dgm:cxn modelId="{B77F6310-11FF-4B1E-88B7-762D08C49F79}" type="presOf" srcId="{479EE2F3-AFF7-46EE-8790-C9EF4D0A3BBD}" destId="{6604A323-563B-4473-B9EE-7FE188720815}" srcOrd="0" destOrd="1" presId="urn:microsoft.com/office/officeart/2005/8/layout/hList1"/>
    <dgm:cxn modelId="{64B59814-5FAF-4E0F-8E7D-28ADF13A5174}" srcId="{1251F4CF-D22C-491D-986C-40791C76998E}" destId="{41EDD908-3D01-4630-8BF4-44E156D4D448}" srcOrd="1" destOrd="0" parTransId="{544D4D15-F988-4498-8691-02CFE86C1D1E}" sibTransId="{CB0D70BE-6C86-4A1C-A83D-AE7AAD28682F}"/>
    <dgm:cxn modelId="{02DBBA33-75F8-4095-81DE-8726CCE6DE0F}" type="presOf" srcId="{8BDB72B4-6347-4958-BBB0-56714F36681B}" destId="{CAB1E34A-58B9-4B8F-8203-93AEFEF367F9}" srcOrd="0" destOrd="0" presId="urn:microsoft.com/office/officeart/2005/8/layout/hList1"/>
    <dgm:cxn modelId="{D8D42E3F-1677-49DA-A3D7-03AFC48A48E3}" type="presOf" srcId="{41EDD908-3D01-4630-8BF4-44E156D4D448}" destId="{6604A323-563B-4473-B9EE-7FE188720815}" srcOrd="0" destOrd="4" presId="urn:microsoft.com/office/officeart/2005/8/layout/hList1"/>
    <dgm:cxn modelId="{EB2D1040-5541-49AB-81E6-25B858EB2ADE}" srcId="{1251F4CF-D22C-491D-986C-40791C76998E}" destId="{9DE75E69-C713-4C47-9B84-2D0A85454D80}" srcOrd="0" destOrd="0" parTransId="{360D708A-785D-45BE-93A8-A90AC3FF3D6F}" sibTransId="{A90D722C-1DFD-4AF4-82BB-E05ABDE68739}"/>
    <dgm:cxn modelId="{17BD4F41-EF55-440F-A0A7-99BA3AB9455B}" type="presOf" srcId="{1251F4CF-D22C-491D-986C-40791C76998E}" destId="{6604A323-563B-4473-B9EE-7FE188720815}" srcOrd="0" destOrd="2" presId="urn:microsoft.com/office/officeart/2005/8/layout/hList1"/>
    <dgm:cxn modelId="{5394D142-A5B5-47DF-BD26-239C7E8C75B4}" srcId="{1D06B513-BCE5-4BA9-9D27-F7F0B81F01E6}" destId="{FD0EC926-95AE-4A64-8F23-B94E4D84D0CE}" srcOrd="3" destOrd="0" parTransId="{6EC541E7-AD6F-437C-BB99-CA1B034AE87D}" sibTransId="{31735C6D-05B1-46E2-9205-60F51C0DA9E0}"/>
    <dgm:cxn modelId="{4FCCE043-B671-4623-83B7-44C4409A59D1}" srcId="{1D06B513-BCE5-4BA9-9D27-F7F0B81F01E6}" destId="{A55E66A2-D1EF-4C30-8909-C4ED518CD32F}" srcOrd="2" destOrd="0" parTransId="{5FFA8D59-0ABD-4AD3-A675-EDB394B1261B}" sibTransId="{92EDE941-38D5-4853-A5EE-93CC0100AEDA}"/>
    <dgm:cxn modelId="{2E8B9446-49C6-42C3-9325-76E1E6079A83}" type="presOf" srcId="{4C84B81D-650D-4F19-A302-629598EBE555}" destId="{85210174-EFAA-499A-9E81-94AE89229B70}" srcOrd="0" destOrd="0" presId="urn:microsoft.com/office/officeart/2005/8/layout/hList1"/>
    <dgm:cxn modelId="{2B90614A-AD5C-4387-AF91-A8BFC6B88053}" srcId="{1D06B513-BCE5-4BA9-9D27-F7F0B81F01E6}" destId="{7D981597-6AC3-4B66-952B-8BA1F67079F1}" srcOrd="4" destOrd="0" parTransId="{C56CEDA5-5FB7-4734-88AC-39B973AE37E9}" sibTransId="{F6AA5343-1F2E-4C93-83D5-6DBF71EC240B}"/>
    <dgm:cxn modelId="{AFF2796C-0405-415C-A135-B77092B02B71}" type="presOf" srcId="{D015D14E-AFA4-47A9-B304-932227967202}" destId="{175A6377-946D-41D2-B069-66E361853962}" srcOrd="0" destOrd="0" presId="urn:microsoft.com/office/officeart/2005/8/layout/hList1"/>
    <dgm:cxn modelId="{38170758-0C9B-4024-A1D5-AC7B15BBE02B}" type="presOf" srcId="{A2AC31C1-9168-4951-8274-B9D494729C1B}" destId="{44430ED7-2CFC-4CA6-B702-A37CBDF76678}" srcOrd="0" destOrd="0" presId="urn:microsoft.com/office/officeart/2005/8/layout/hList1"/>
    <dgm:cxn modelId="{359FB183-7323-4D08-A8FF-4B5096ACA9FB}" srcId="{8BDB72B4-6347-4958-BBB0-56714F36681B}" destId="{1D06B513-BCE5-4BA9-9D27-F7F0B81F01E6}" srcOrd="2" destOrd="0" parTransId="{BCDD0699-CD3F-4782-96A2-A60F1C55208D}" sibTransId="{8782D3C4-3B3A-4CCF-96A1-B4C4E2A3C2FF}"/>
    <dgm:cxn modelId="{EF15B084-DD2B-46C7-B295-73A95BD9E474}" srcId="{8BDB72B4-6347-4958-BBB0-56714F36681B}" destId="{9D0405A0-6BD8-4F91-BC87-10B8A7A4ED8F}" srcOrd="1" destOrd="0" parTransId="{92EE96A5-02E9-4D80-9C10-DCF9754AD547}" sibTransId="{AD195489-9801-4ECA-847C-3DB22228A0D1}"/>
    <dgm:cxn modelId="{F79D9C8C-6DD1-494A-B6B1-E7C31965E7D9}" srcId="{1D06B513-BCE5-4BA9-9D27-F7F0B81F01E6}" destId="{B0960DD7-2E33-4838-958A-315CD1890F21}" srcOrd="0" destOrd="0" parTransId="{0B1ED95B-9A7F-420E-A95B-D6DD80B2AF6E}" sibTransId="{27B62C7E-E5A3-4F34-BF60-19ED12EB874A}"/>
    <dgm:cxn modelId="{25D3289A-44D0-47E0-8FBF-D944444437DD}" srcId="{A2AC31C1-9168-4951-8274-B9D494729C1B}" destId="{1251F4CF-D22C-491D-986C-40791C76998E}" srcOrd="2" destOrd="0" parTransId="{00170E88-D2EA-4912-8037-E28E99202E20}" sibTransId="{2CF526EA-52C0-452A-B1DF-32A493E1F9FA}"/>
    <dgm:cxn modelId="{E19036B3-DE60-4F97-9873-644A1A5D86C6}" srcId="{4C84B81D-650D-4F19-A302-629598EBE555}" destId="{8BDB72B4-6347-4958-BBB0-56714F36681B}" srcOrd="0" destOrd="0" parTransId="{A01EE1B4-FFEE-412A-8B60-C7E591D19E90}" sibTransId="{0AA8ED94-8DBF-4C0D-99E4-AE7B81E0047B}"/>
    <dgm:cxn modelId="{E79235BF-81AE-4361-BF6C-764BC81AAE6F}" type="presOf" srcId="{B0960DD7-2E33-4838-958A-315CD1890F21}" destId="{175A6377-946D-41D2-B069-66E361853962}" srcOrd="0" destOrd="3" presId="urn:microsoft.com/office/officeart/2005/8/layout/hList1"/>
    <dgm:cxn modelId="{552C91C7-A1D0-4230-8B4B-EAC68C911A60}" type="presOf" srcId="{FD0EC926-95AE-4A64-8F23-B94E4D84D0CE}" destId="{175A6377-946D-41D2-B069-66E361853962}" srcOrd="0" destOrd="6" presId="urn:microsoft.com/office/officeart/2005/8/layout/hList1"/>
    <dgm:cxn modelId="{C49A71CA-5F5B-4ED0-9CCF-DBB57FEADB2D}" srcId="{8BDB72B4-6347-4958-BBB0-56714F36681B}" destId="{D015D14E-AFA4-47A9-B304-932227967202}" srcOrd="0" destOrd="0" parTransId="{D18AFA7A-90F8-4D16-B4B1-31E022C60A3D}" sibTransId="{066F3E0B-7671-4377-86FA-75D6FB142765}"/>
    <dgm:cxn modelId="{604096CC-C929-4D89-82F0-5933E2C99D46}" type="presOf" srcId="{1D06B513-BCE5-4BA9-9D27-F7F0B81F01E6}" destId="{175A6377-946D-41D2-B069-66E361853962}" srcOrd="0" destOrd="2" presId="urn:microsoft.com/office/officeart/2005/8/layout/hList1"/>
    <dgm:cxn modelId="{36E643D4-CF7D-4163-9ECC-50C5E82ACD22}" srcId="{1D06B513-BCE5-4BA9-9D27-F7F0B81F01E6}" destId="{DCAF5367-CD27-425E-BE58-F68056DA2A58}" srcOrd="1" destOrd="0" parTransId="{7D3D5CD1-90E7-41E6-85B6-7EF1472118C0}" sibTransId="{D15D754B-395F-438A-871C-9422592E5CA9}"/>
    <dgm:cxn modelId="{3D05EADA-2B40-40FA-9D17-41D746C35EB5}" type="presOf" srcId="{D4E4413E-0F3C-4889-90BF-D1421FD5168A}" destId="{6604A323-563B-4473-B9EE-7FE188720815}" srcOrd="0" destOrd="5" presId="urn:microsoft.com/office/officeart/2005/8/layout/hList1"/>
    <dgm:cxn modelId="{0273DEDB-63D6-40EB-AA1D-B483ED31ED8E}" type="presOf" srcId="{9DE75E69-C713-4C47-9B84-2D0A85454D80}" destId="{6604A323-563B-4473-B9EE-7FE188720815}" srcOrd="0" destOrd="3" presId="urn:microsoft.com/office/officeart/2005/8/layout/hList1"/>
    <dgm:cxn modelId="{FA092DDF-CB64-4837-81C5-E69777FA45A0}" type="presOf" srcId="{F1A181E1-AFE5-46F4-BE5B-3997B8F76ABF}" destId="{6604A323-563B-4473-B9EE-7FE188720815}" srcOrd="0" destOrd="0" presId="urn:microsoft.com/office/officeart/2005/8/layout/hList1"/>
    <dgm:cxn modelId="{A5F8A2E4-5688-4C4C-8DD1-C11181946C4A}" srcId="{A2AC31C1-9168-4951-8274-B9D494729C1B}" destId="{F1A181E1-AFE5-46F4-BE5B-3997B8F76ABF}" srcOrd="0" destOrd="0" parTransId="{D247812A-E1A5-498D-8E47-E8079A71B3EF}" sibTransId="{A4E341D3-8687-4AF2-920C-34DEFE4A314C}"/>
    <dgm:cxn modelId="{DA6CB6EA-0D22-44B8-9102-A5D67BFF5163}" type="presOf" srcId="{DCAF5367-CD27-425E-BE58-F68056DA2A58}" destId="{175A6377-946D-41D2-B069-66E361853962}" srcOrd="0" destOrd="4" presId="urn:microsoft.com/office/officeart/2005/8/layout/hList1"/>
    <dgm:cxn modelId="{83023CF3-CE40-4180-A3D2-3FDE54C88492}" type="presOf" srcId="{9D0405A0-6BD8-4F91-BC87-10B8A7A4ED8F}" destId="{175A6377-946D-41D2-B069-66E361853962}" srcOrd="0" destOrd="1" presId="urn:microsoft.com/office/officeart/2005/8/layout/hList1"/>
    <dgm:cxn modelId="{8028ADF4-0CD6-48B0-9FFA-29DC0D68C787}" srcId="{A2AC31C1-9168-4951-8274-B9D494729C1B}" destId="{D4E4413E-0F3C-4889-90BF-D1421FD5168A}" srcOrd="3" destOrd="0" parTransId="{55A897F4-8DAC-45E6-B381-FCDDA56713EC}" sibTransId="{EC6CDEE1-D105-4828-B768-D51B330692D6}"/>
    <dgm:cxn modelId="{DEBBA2B1-3B70-42C7-BEF8-042DB85290AD}" type="presParOf" srcId="{85210174-EFAA-499A-9E81-94AE89229B70}" destId="{352A0E45-0274-45D2-958B-BDBA50AB092D}" srcOrd="0" destOrd="0" presId="urn:microsoft.com/office/officeart/2005/8/layout/hList1"/>
    <dgm:cxn modelId="{9842D2B5-A95C-4B1B-B549-10F43B7D1A0A}" type="presParOf" srcId="{352A0E45-0274-45D2-958B-BDBA50AB092D}" destId="{CAB1E34A-58B9-4B8F-8203-93AEFEF367F9}" srcOrd="0" destOrd="0" presId="urn:microsoft.com/office/officeart/2005/8/layout/hList1"/>
    <dgm:cxn modelId="{FED73605-A95B-4D28-9038-CECD24D1B150}" type="presParOf" srcId="{352A0E45-0274-45D2-958B-BDBA50AB092D}" destId="{175A6377-946D-41D2-B069-66E361853962}" srcOrd="1" destOrd="0" presId="urn:microsoft.com/office/officeart/2005/8/layout/hList1"/>
    <dgm:cxn modelId="{C3C8594B-50F0-40CF-8FA7-12038AA30EAB}" type="presParOf" srcId="{85210174-EFAA-499A-9E81-94AE89229B70}" destId="{0BBFF5E0-9AC8-4BAD-A742-C95E78E52F25}" srcOrd="1" destOrd="0" presId="urn:microsoft.com/office/officeart/2005/8/layout/hList1"/>
    <dgm:cxn modelId="{1CBC040E-50EF-46D5-BE58-0BE380629663}" type="presParOf" srcId="{85210174-EFAA-499A-9E81-94AE89229B70}" destId="{1FBB2728-F462-4166-947F-A2E23387CB27}" srcOrd="2" destOrd="0" presId="urn:microsoft.com/office/officeart/2005/8/layout/hList1"/>
    <dgm:cxn modelId="{B88AC2F2-9720-4C4E-8DD8-886A9337343F}" type="presParOf" srcId="{1FBB2728-F462-4166-947F-A2E23387CB27}" destId="{44430ED7-2CFC-4CA6-B702-A37CBDF76678}" srcOrd="0" destOrd="0" presId="urn:microsoft.com/office/officeart/2005/8/layout/hList1"/>
    <dgm:cxn modelId="{9D87D8FB-6C2B-4701-8F8B-0E544001DBB7}" type="presParOf" srcId="{1FBB2728-F462-4166-947F-A2E23387CB27}" destId="{6604A323-563B-4473-B9EE-7FE18872081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B9819F6-2D98-441C-A015-F9EF18F19CFC}"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A4DA914-43AF-45ED-90AA-D527B6E57597}">
      <dgm:prSet/>
      <dgm:spPr/>
      <dgm:t>
        <a:bodyPr/>
        <a:lstStyle/>
        <a:p>
          <a:pPr>
            <a:defRPr b="1"/>
          </a:pPr>
          <a:r>
            <a:rPr lang="en-US" b="1" dirty="0"/>
            <a:t>Blindness Burden:</a:t>
          </a:r>
          <a:endParaRPr lang="en-US" dirty="0"/>
        </a:p>
      </dgm:t>
    </dgm:pt>
    <dgm:pt modelId="{96250FB2-70AC-48C3-B133-32563328C724}" type="parTrans" cxnId="{AA034175-233B-4B64-AD7F-39725BE89ABE}">
      <dgm:prSet/>
      <dgm:spPr/>
      <dgm:t>
        <a:bodyPr/>
        <a:lstStyle/>
        <a:p>
          <a:endParaRPr lang="en-US"/>
        </a:p>
      </dgm:t>
    </dgm:pt>
    <dgm:pt modelId="{38B6DD12-1A8A-4C33-B314-3DA10BA6DF5D}" type="sibTrans" cxnId="{AA034175-233B-4B64-AD7F-39725BE89ABE}">
      <dgm:prSet/>
      <dgm:spPr/>
      <dgm:t>
        <a:bodyPr/>
        <a:lstStyle/>
        <a:p>
          <a:endParaRPr lang="en-US"/>
        </a:p>
      </dgm:t>
    </dgm:pt>
    <dgm:pt modelId="{755EF2F4-A266-4497-88AA-06C35E81A35F}">
      <dgm:prSet custT="1"/>
      <dgm:spPr/>
      <dgm:t>
        <a:bodyPr/>
        <a:lstStyle/>
        <a:p>
          <a:r>
            <a:rPr lang="en-US" sz="2800"/>
            <a:t>Affects ~</a:t>
          </a:r>
          <a:r>
            <a:rPr lang="en-US" sz="2800" b="1"/>
            <a:t>12 million</a:t>
          </a:r>
          <a:r>
            <a:rPr lang="en-US" sz="2800"/>
            <a:t> people</a:t>
          </a:r>
        </a:p>
      </dgm:t>
    </dgm:pt>
    <dgm:pt modelId="{08B04A82-1480-436B-9A67-4479E56FACAB}" type="parTrans" cxnId="{B8C1BA8A-C82D-4C9E-9E9C-80ECBB2F371E}">
      <dgm:prSet/>
      <dgm:spPr/>
      <dgm:t>
        <a:bodyPr/>
        <a:lstStyle/>
        <a:p>
          <a:endParaRPr lang="en-US"/>
        </a:p>
      </dgm:t>
    </dgm:pt>
    <dgm:pt modelId="{47967D18-E5FD-4FB5-B531-36EFECD59195}" type="sibTrans" cxnId="{B8C1BA8A-C82D-4C9E-9E9C-80ECBB2F371E}">
      <dgm:prSet/>
      <dgm:spPr/>
      <dgm:t>
        <a:bodyPr/>
        <a:lstStyle/>
        <a:p>
          <a:endParaRPr lang="en-US"/>
        </a:p>
      </dgm:t>
    </dgm:pt>
    <dgm:pt modelId="{4F807A31-B33A-4DD8-A3CE-8E789885659A}">
      <dgm:prSet custT="1"/>
      <dgm:spPr/>
      <dgm:t>
        <a:bodyPr/>
        <a:lstStyle/>
        <a:p>
          <a:r>
            <a:rPr lang="en-US" sz="2800" dirty="0"/>
            <a:t>Major causes:</a:t>
          </a:r>
        </a:p>
      </dgm:t>
    </dgm:pt>
    <dgm:pt modelId="{B974F87A-22AB-40F9-859B-A2417B5F8FAB}" type="parTrans" cxnId="{1D52C2ED-67A9-428B-990C-9EFC575030F3}">
      <dgm:prSet/>
      <dgm:spPr/>
      <dgm:t>
        <a:bodyPr/>
        <a:lstStyle/>
        <a:p>
          <a:endParaRPr lang="en-US"/>
        </a:p>
      </dgm:t>
    </dgm:pt>
    <dgm:pt modelId="{A9ECC85F-6863-43BF-A1DE-63C2B9B8FAB7}" type="sibTrans" cxnId="{1D52C2ED-67A9-428B-990C-9EFC575030F3}">
      <dgm:prSet/>
      <dgm:spPr/>
      <dgm:t>
        <a:bodyPr/>
        <a:lstStyle/>
        <a:p>
          <a:endParaRPr lang="en-US"/>
        </a:p>
      </dgm:t>
    </dgm:pt>
    <dgm:pt modelId="{792F17EE-E7D8-46F3-8471-73C53ED3429E}">
      <dgm:prSet custT="1"/>
      <dgm:spPr/>
      <dgm:t>
        <a:bodyPr/>
        <a:lstStyle/>
        <a:p>
          <a:r>
            <a:rPr lang="en-US" sz="2800" b="1"/>
            <a:t>Cataract – 62.6%</a:t>
          </a:r>
          <a:endParaRPr lang="en-US" sz="2800"/>
        </a:p>
      </dgm:t>
    </dgm:pt>
    <dgm:pt modelId="{1418E27E-43E2-4646-8051-A74F445C3C6C}" type="parTrans" cxnId="{5FDE4446-7CD0-40A0-BFC4-01DA8EC3E0E6}">
      <dgm:prSet/>
      <dgm:spPr/>
      <dgm:t>
        <a:bodyPr/>
        <a:lstStyle/>
        <a:p>
          <a:endParaRPr lang="en-US"/>
        </a:p>
      </dgm:t>
    </dgm:pt>
    <dgm:pt modelId="{6FD0B55F-1B1E-441F-B258-FA30A4602C03}" type="sibTrans" cxnId="{5FDE4446-7CD0-40A0-BFC4-01DA8EC3E0E6}">
      <dgm:prSet/>
      <dgm:spPr/>
      <dgm:t>
        <a:bodyPr/>
        <a:lstStyle/>
        <a:p>
          <a:endParaRPr lang="en-US"/>
        </a:p>
      </dgm:t>
    </dgm:pt>
    <dgm:pt modelId="{AB6DA255-8342-4A39-AA10-7AEB73AB6C64}">
      <dgm:prSet custT="1"/>
      <dgm:spPr/>
      <dgm:t>
        <a:bodyPr/>
        <a:lstStyle/>
        <a:p>
          <a:r>
            <a:rPr lang="en-US" sz="2800" b="1" dirty="0"/>
            <a:t>Refractive errors – 19.7%</a:t>
          </a:r>
          <a:endParaRPr lang="en-US" sz="2800" dirty="0"/>
        </a:p>
      </dgm:t>
    </dgm:pt>
    <dgm:pt modelId="{059D433D-DFDF-4481-9333-693257D56C5F}" type="parTrans" cxnId="{76A067C8-3C8D-41A9-B4C7-EADDEBED8320}">
      <dgm:prSet/>
      <dgm:spPr/>
      <dgm:t>
        <a:bodyPr/>
        <a:lstStyle/>
        <a:p>
          <a:endParaRPr lang="en-US"/>
        </a:p>
      </dgm:t>
    </dgm:pt>
    <dgm:pt modelId="{2AC95E4B-2A50-40C6-B74C-46517C8DF89C}" type="sibTrans" cxnId="{76A067C8-3C8D-41A9-B4C7-EADDEBED8320}">
      <dgm:prSet/>
      <dgm:spPr/>
      <dgm:t>
        <a:bodyPr/>
        <a:lstStyle/>
        <a:p>
          <a:endParaRPr lang="en-US"/>
        </a:p>
      </dgm:t>
    </dgm:pt>
    <dgm:pt modelId="{9E05987B-C7EA-4550-9A83-064B554403F2}">
      <dgm:prSet custT="1"/>
      <dgm:spPr/>
      <dgm:t>
        <a:bodyPr/>
        <a:lstStyle/>
        <a:p>
          <a:r>
            <a:rPr lang="en-US" sz="2800"/>
            <a:t>Cataract surgery with Intraocular Lens (IOL):</a:t>
          </a:r>
        </a:p>
      </dgm:t>
    </dgm:pt>
    <dgm:pt modelId="{7BEBA4BB-23D8-409A-8C79-51F80B8C2406}" type="parTrans" cxnId="{EB92EC60-DB72-44C8-AC6F-D56C49A5B5FA}">
      <dgm:prSet/>
      <dgm:spPr/>
      <dgm:t>
        <a:bodyPr/>
        <a:lstStyle/>
        <a:p>
          <a:endParaRPr lang="en-US"/>
        </a:p>
      </dgm:t>
    </dgm:pt>
    <dgm:pt modelId="{DC2831F9-0C36-4CD1-A3BD-AFB60131E638}" type="sibTrans" cxnId="{EB92EC60-DB72-44C8-AC6F-D56C49A5B5FA}">
      <dgm:prSet/>
      <dgm:spPr/>
      <dgm:t>
        <a:bodyPr/>
        <a:lstStyle/>
        <a:p>
          <a:endParaRPr lang="en-US"/>
        </a:p>
      </dgm:t>
    </dgm:pt>
    <dgm:pt modelId="{30FA0910-B422-435C-AB76-7079E79943FF}">
      <dgm:prSet custT="1"/>
      <dgm:spPr/>
      <dgm:t>
        <a:bodyPr/>
        <a:lstStyle/>
        <a:p>
          <a:r>
            <a:rPr lang="en-US" sz="2800"/>
            <a:t>&lt;5% in 1994 → </a:t>
          </a:r>
          <a:r>
            <a:rPr lang="en-US" sz="2800" b="1"/>
            <a:t>95% in 2016–17</a:t>
          </a:r>
          <a:endParaRPr lang="en-US" sz="2800"/>
        </a:p>
      </dgm:t>
    </dgm:pt>
    <dgm:pt modelId="{10961684-1998-4D87-BE0B-698DCD8AE6F8}" type="parTrans" cxnId="{6DB2CEE0-A2FF-470A-9F94-481E71473CF3}">
      <dgm:prSet/>
      <dgm:spPr/>
      <dgm:t>
        <a:bodyPr/>
        <a:lstStyle/>
        <a:p>
          <a:endParaRPr lang="en-US"/>
        </a:p>
      </dgm:t>
    </dgm:pt>
    <dgm:pt modelId="{C9E37BC7-5D16-4C57-9A60-87A520E88F2B}" type="sibTrans" cxnId="{6DB2CEE0-A2FF-470A-9F94-481E71473CF3}">
      <dgm:prSet/>
      <dgm:spPr/>
      <dgm:t>
        <a:bodyPr/>
        <a:lstStyle/>
        <a:p>
          <a:endParaRPr lang="en-US"/>
        </a:p>
      </dgm:t>
    </dgm:pt>
    <dgm:pt modelId="{3BB46F61-121E-4A4B-A23B-1AB523128A20}">
      <dgm:prSet/>
      <dgm:spPr/>
      <dgm:t>
        <a:bodyPr/>
        <a:lstStyle/>
        <a:p>
          <a:pPr>
            <a:defRPr b="1"/>
          </a:pPr>
          <a:r>
            <a:rPr lang="en-US" b="1"/>
            <a:t>Oral Health Challenges:</a:t>
          </a:r>
          <a:endParaRPr lang="en-US"/>
        </a:p>
      </dgm:t>
    </dgm:pt>
    <dgm:pt modelId="{756DAD3A-2FC9-42D2-816F-7017EBF0E222}" type="parTrans" cxnId="{4325119A-9E1F-4FF2-B033-58DF1E57A7F2}">
      <dgm:prSet/>
      <dgm:spPr/>
      <dgm:t>
        <a:bodyPr/>
        <a:lstStyle/>
        <a:p>
          <a:endParaRPr lang="en-US"/>
        </a:p>
      </dgm:t>
    </dgm:pt>
    <dgm:pt modelId="{81670318-2284-4776-AE0E-298AF4D4C24E}" type="sibTrans" cxnId="{4325119A-9E1F-4FF2-B033-58DF1E57A7F2}">
      <dgm:prSet/>
      <dgm:spPr/>
      <dgm:t>
        <a:bodyPr/>
        <a:lstStyle/>
        <a:p>
          <a:endParaRPr lang="en-US"/>
        </a:p>
      </dgm:t>
    </dgm:pt>
    <dgm:pt modelId="{CBA7C4C5-A1B3-4DC7-8C0B-ECCE0DECE193}">
      <dgm:prSet custT="1"/>
      <dgm:spPr/>
      <dgm:t>
        <a:bodyPr/>
        <a:lstStyle/>
        <a:p>
          <a:r>
            <a:rPr lang="en-US" sz="2800"/>
            <a:t>District hospitals have dental surgeon posts</a:t>
          </a:r>
        </a:p>
      </dgm:t>
    </dgm:pt>
    <dgm:pt modelId="{D5C9FA2F-3075-4344-ABB2-25B727214744}" type="parTrans" cxnId="{8A99A273-6AA6-4EB0-9AC2-A26C9F0A8B1B}">
      <dgm:prSet/>
      <dgm:spPr/>
      <dgm:t>
        <a:bodyPr/>
        <a:lstStyle/>
        <a:p>
          <a:endParaRPr lang="en-US"/>
        </a:p>
      </dgm:t>
    </dgm:pt>
    <dgm:pt modelId="{F40EC153-1949-409C-9BD5-A52C5B89B1DC}" type="sibTrans" cxnId="{8A99A273-6AA6-4EB0-9AC2-A26C9F0A8B1B}">
      <dgm:prSet/>
      <dgm:spPr/>
      <dgm:t>
        <a:bodyPr/>
        <a:lstStyle/>
        <a:p>
          <a:endParaRPr lang="en-US"/>
        </a:p>
      </dgm:t>
    </dgm:pt>
    <dgm:pt modelId="{414D4494-FC98-4933-BA8B-5EDEDCBF9559}">
      <dgm:prSet custT="1"/>
      <dgm:spPr/>
      <dgm:t>
        <a:bodyPr/>
        <a:lstStyle/>
        <a:p>
          <a:r>
            <a:rPr lang="en-US" sz="2800"/>
            <a:t>Common limitations:</a:t>
          </a:r>
        </a:p>
      </dgm:t>
    </dgm:pt>
    <dgm:pt modelId="{8B33FF25-33EF-44A2-A48A-95F6FB560358}" type="parTrans" cxnId="{8C6D49D1-77D1-4CCA-8542-07BBEB798B22}">
      <dgm:prSet/>
      <dgm:spPr/>
      <dgm:t>
        <a:bodyPr/>
        <a:lstStyle/>
        <a:p>
          <a:endParaRPr lang="en-US"/>
        </a:p>
      </dgm:t>
    </dgm:pt>
    <dgm:pt modelId="{0A604ED5-7DD4-4FDB-9B8F-0CB06E8C05C5}" type="sibTrans" cxnId="{8C6D49D1-77D1-4CCA-8542-07BBEB798B22}">
      <dgm:prSet/>
      <dgm:spPr/>
      <dgm:t>
        <a:bodyPr/>
        <a:lstStyle/>
        <a:p>
          <a:endParaRPr lang="en-US"/>
        </a:p>
      </dgm:t>
    </dgm:pt>
    <dgm:pt modelId="{0E525B7B-E8CD-4E78-B075-FDD351BBF84B}">
      <dgm:prSet custT="1"/>
      <dgm:spPr/>
      <dgm:t>
        <a:bodyPr/>
        <a:lstStyle/>
        <a:p>
          <a:r>
            <a:rPr lang="en-US" sz="2800"/>
            <a:t>Lack of equipment</a:t>
          </a:r>
        </a:p>
      </dgm:t>
    </dgm:pt>
    <dgm:pt modelId="{18A5BBF9-D72A-4783-B4B9-3509688FEFDF}" type="parTrans" cxnId="{0C5E9F8F-8D8E-4A1E-A7A0-0588837228E4}">
      <dgm:prSet/>
      <dgm:spPr/>
      <dgm:t>
        <a:bodyPr/>
        <a:lstStyle/>
        <a:p>
          <a:endParaRPr lang="en-US"/>
        </a:p>
      </dgm:t>
    </dgm:pt>
    <dgm:pt modelId="{52F02A2A-B1A4-4571-A174-0A8E047BD563}" type="sibTrans" cxnId="{0C5E9F8F-8D8E-4A1E-A7A0-0588837228E4}">
      <dgm:prSet/>
      <dgm:spPr/>
      <dgm:t>
        <a:bodyPr/>
        <a:lstStyle/>
        <a:p>
          <a:endParaRPr lang="en-US"/>
        </a:p>
      </dgm:t>
    </dgm:pt>
    <dgm:pt modelId="{304DC7A0-B86D-4994-A496-C2C8B261EF06}">
      <dgm:prSet custT="1"/>
      <dgm:spPr/>
      <dgm:t>
        <a:bodyPr/>
        <a:lstStyle/>
        <a:p>
          <a:r>
            <a:rPr lang="en-US" sz="2800"/>
            <a:t>Poor maintenance</a:t>
          </a:r>
        </a:p>
      </dgm:t>
    </dgm:pt>
    <dgm:pt modelId="{4B960501-10C7-4355-903D-0352B7C0EA73}" type="parTrans" cxnId="{10C417C1-2DA4-4EC1-8A3B-06F99A17FE19}">
      <dgm:prSet/>
      <dgm:spPr/>
      <dgm:t>
        <a:bodyPr/>
        <a:lstStyle/>
        <a:p>
          <a:endParaRPr lang="en-US"/>
        </a:p>
      </dgm:t>
    </dgm:pt>
    <dgm:pt modelId="{5D6A0C69-F463-4DBF-9D9F-ACFCBD995E1A}" type="sibTrans" cxnId="{10C417C1-2DA4-4EC1-8A3B-06F99A17FE19}">
      <dgm:prSet/>
      <dgm:spPr/>
      <dgm:t>
        <a:bodyPr/>
        <a:lstStyle/>
        <a:p>
          <a:endParaRPr lang="en-US"/>
        </a:p>
      </dgm:t>
    </dgm:pt>
    <dgm:pt modelId="{D138FAB6-F732-41B4-9371-9E809FD0C221}">
      <dgm:prSet custT="1"/>
      <dgm:spPr/>
      <dgm:t>
        <a:bodyPr/>
        <a:lstStyle/>
        <a:p>
          <a:r>
            <a:rPr lang="en-US" sz="2800"/>
            <a:t>Weak service delivery</a:t>
          </a:r>
        </a:p>
      </dgm:t>
    </dgm:pt>
    <dgm:pt modelId="{09FCAB40-A2AE-485E-BE01-FA4DB5576C09}" type="parTrans" cxnId="{574C1F45-3623-4686-8354-C57B0E8B7FC9}">
      <dgm:prSet/>
      <dgm:spPr/>
      <dgm:t>
        <a:bodyPr/>
        <a:lstStyle/>
        <a:p>
          <a:endParaRPr lang="en-US"/>
        </a:p>
      </dgm:t>
    </dgm:pt>
    <dgm:pt modelId="{E60D9CC6-AF7C-45BD-A093-36E2C6F8C81E}" type="sibTrans" cxnId="{574C1F45-3623-4686-8354-C57B0E8B7FC9}">
      <dgm:prSet/>
      <dgm:spPr/>
      <dgm:t>
        <a:bodyPr/>
        <a:lstStyle/>
        <a:p>
          <a:endParaRPr lang="en-US"/>
        </a:p>
      </dgm:t>
    </dgm:pt>
    <dgm:pt modelId="{0B821BE8-FABA-4287-8867-ED1FEAD15174}">
      <dgm:prSet custT="1"/>
      <dgm:spPr/>
      <dgm:t>
        <a:bodyPr/>
        <a:lstStyle/>
        <a:p>
          <a:r>
            <a:rPr lang="en-US" sz="2800"/>
            <a:t>Oral health still </a:t>
          </a:r>
          <a:r>
            <a:rPr lang="en-US" sz="2800" b="1"/>
            <a:t>not a public health priority</a:t>
          </a:r>
          <a:endParaRPr lang="en-US" sz="2800"/>
        </a:p>
      </dgm:t>
    </dgm:pt>
    <dgm:pt modelId="{F1B89DBC-9BA6-4618-8E4C-1D189E7ACF31}" type="parTrans" cxnId="{9D86EDEE-F4EC-4D3D-9792-AC9C0A306B3E}">
      <dgm:prSet/>
      <dgm:spPr/>
      <dgm:t>
        <a:bodyPr/>
        <a:lstStyle/>
        <a:p>
          <a:endParaRPr lang="en-US"/>
        </a:p>
      </dgm:t>
    </dgm:pt>
    <dgm:pt modelId="{37DB2B5E-1A00-498C-AD51-AC0E086D3856}" type="sibTrans" cxnId="{9D86EDEE-F4EC-4D3D-9792-AC9C0A306B3E}">
      <dgm:prSet/>
      <dgm:spPr/>
      <dgm:t>
        <a:bodyPr/>
        <a:lstStyle/>
        <a:p>
          <a:endParaRPr lang="en-US"/>
        </a:p>
      </dgm:t>
    </dgm:pt>
    <dgm:pt modelId="{40AF698E-D863-492C-A23D-E8899CCBBE81}" type="pres">
      <dgm:prSet presAssocID="{AB9819F6-2D98-441C-A015-F9EF18F19CFC}" presName="root" presStyleCnt="0">
        <dgm:presLayoutVars>
          <dgm:dir/>
          <dgm:resizeHandles val="exact"/>
        </dgm:presLayoutVars>
      </dgm:prSet>
      <dgm:spPr/>
    </dgm:pt>
    <dgm:pt modelId="{2942AEB4-14CD-4FC1-9F52-E66E7D0BC078}" type="pres">
      <dgm:prSet presAssocID="{4A4DA914-43AF-45ED-90AA-D527B6E57597}" presName="compNode" presStyleCnt="0"/>
      <dgm:spPr/>
    </dgm:pt>
    <dgm:pt modelId="{277C84AB-F4FB-4319-B19F-6118AAF71F46}" type="pres">
      <dgm:prSet presAssocID="{4A4DA914-43AF-45ED-90AA-D527B6E5759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lasses"/>
        </a:ext>
      </dgm:extLst>
    </dgm:pt>
    <dgm:pt modelId="{9C37703F-399E-4B8F-A77A-353324FE7704}" type="pres">
      <dgm:prSet presAssocID="{4A4DA914-43AF-45ED-90AA-D527B6E57597}" presName="iconSpace" presStyleCnt="0"/>
      <dgm:spPr/>
    </dgm:pt>
    <dgm:pt modelId="{20890D87-030E-46DC-8A13-5EE48A66CA06}" type="pres">
      <dgm:prSet presAssocID="{4A4DA914-43AF-45ED-90AA-D527B6E57597}" presName="parTx" presStyleLbl="revTx" presStyleIdx="0" presStyleCnt="4">
        <dgm:presLayoutVars>
          <dgm:chMax val="0"/>
          <dgm:chPref val="0"/>
        </dgm:presLayoutVars>
      </dgm:prSet>
      <dgm:spPr/>
    </dgm:pt>
    <dgm:pt modelId="{CD4F29C6-ED8B-4663-9B85-5C058DE82779}" type="pres">
      <dgm:prSet presAssocID="{4A4DA914-43AF-45ED-90AA-D527B6E57597}" presName="txSpace" presStyleCnt="0"/>
      <dgm:spPr/>
    </dgm:pt>
    <dgm:pt modelId="{2F03A08C-9305-4E26-BC45-C19D039A9699}" type="pres">
      <dgm:prSet presAssocID="{4A4DA914-43AF-45ED-90AA-D527B6E57597}" presName="desTx" presStyleLbl="revTx" presStyleIdx="1" presStyleCnt="4">
        <dgm:presLayoutVars/>
      </dgm:prSet>
      <dgm:spPr/>
    </dgm:pt>
    <dgm:pt modelId="{6F6220BE-B58F-412F-8E11-76976384BAF0}" type="pres">
      <dgm:prSet presAssocID="{38B6DD12-1A8A-4C33-B314-3DA10BA6DF5D}" presName="sibTrans" presStyleCnt="0"/>
      <dgm:spPr/>
    </dgm:pt>
    <dgm:pt modelId="{983C4417-7524-4CC2-A3BD-224872E64F52}" type="pres">
      <dgm:prSet presAssocID="{3BB46F61-121E-4A4B-A23B-1AB523128A20}" presName="compNode" presStyleCnt="0"/>
      <dgm:spPr/>
    </dgm:pt>
    <dgm:pt modelId="{044D895E-3C7D-4495-AC90-1F445F21B637}" type="pres">
      <dgm:prSet presAssocID="{3BB46F61-121E-4A4B-A23B-1AB523128A2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ooth"/>
        </a:ext>
      </dgm:extLst>
    </dgm:pt>
    <dgm:pt modelId="{1EFAEB58-5901-469B-BD54-5878D2176075}" type="pres">
      <dgm:prSet presAssocID="{3BB46F61-121E-4A4B-A23B-1AB523128A20}" presName="iconSpace" presStyleCnt="0"/>
      <dgm:spPr/>
    </dgm:pt>
    <dgm:pt modelId="{D38DE4FF-490A-4187-8AA2-CD6EC75AECFC}" type="pres">
      <dgm:prSet presAssocID="{3BB46F61-121E-4A4B-A23B-1AB523128A20}" presName="parTx" presStyleLbl="revTx" presStyleIdx="2" presStyleCnt="4">
        <dgm:presLayoutVars>
          <dgm:chMax val="0"/>
          <dgm:chPref val="0"/>
        </dgm:presLayoutVars>
      </dgm:prSet>
      <dgm:spPr/>
    </dgm:pt>
    <dgm:pt modelId="{54983C3D-C290-4EA7-ADF9-5E7955898F40}" type="pres">
      <dgm:prSet presAssocID="{3BB46F61-121E-4A4B-A23B-1AB523128A20}" presName="txSpace" presStyleCnt="0"/>
      <dgm:spPr/>
    </dgm:pt>
    <dgm:pt modelId="{0B27EA7D-5901-492A-8201-0FC0905705A2}" type="pres">
      <dgm:prSet presAssocID="{3BB46F61-121E-4A4B-A23B-1AB523128A20}" presName="desTx" presStyleLbl="revTx" presStyleIdx="3" presStyleCnt="4">
        <dgm:presLayoutVars/>
      </dgm:prSet>
      <dgm:spPr/>
    </dgm:pt>
  </dgm:ptLst>
  <dgm:cxnLst>
    <dgm:cxn modelId="{4BFB2122-D6DF-4781-8E2F-A8F456186D9F}" type="presOf" srcId="{755EF2F4-A266-4497-88AA-06C35E81A35F}" destId="{2F03A08C-9305-4E26-BC45-C19D039A9699}" srcOrd="0" destOrd="0" presId="urn:microsoft.com/office/officeart/2018/2/layout/IconLabelDescriptionList"/>
    <dgm:cxn modelId="{62E8C027-32B0-4AD1-A92A-13777758A011}" type="presOf" srcId="{0B821BE8-FABA-4287-8867-ED1FEAD15174}" destId="{0B27EA7D-5901-492A-8201-0FC0905705A2}" srcOrd="0" destOrd="5" presId="urn:microsoft.com/office/officeart/2018/2/layout/IconLabelDescriptionList"/>
    <dgm:cxn modelId="{B53DE72E-B609-499E-BF06-FA3D415FB794}" type="presOf" srcId="{D138FAB6-F732-41B4-9371-9E809FD0C221}" destId="{0B27EA7D-5901-492A-8201-0FC0905705A2}" srcOrd="0" destOrd="4" presId="urn:microsoft.com/office/officeart/2018/2/layout/IconLabelDescriptionList"/>
    <dgm:cxn modelId="{10010E33-C547-4EE4-86DE-013BDE5ED9F3}" type="presOf" srcId="{CBA7C4C5-A1B3-4DC7-8C0B-ECCE0DECE193}" destId="{0B27EA7D-5901-492A-8201-0FC0905705A2}" srcOrd="0" destOrd="0" presId="urn:microsoft.com/office/officeart/2018/2/layout/IconLabelDescriptionList"/>
    <dgm:cxn modelId="{1D6BED36-8B81-4582-8669-BDCD1F413791}" type="presOf" srcId="{4F807A31-B33A-4DD8-A3CE-8E789885659A}" destId="{2F03A08C-9305-4E26-BC45-C19D039A9699}" srcOrd="0" destOrd="1" presId="urn:microsoft.com/office/officeart/2018/2/layout/IconLabelDescriptionList"/>
    <dgm:cxn modelId="{EB92EC60-DB72-44C8-AC6F-D56C49A5B5FA}" srcId="{4A4DA914-43AF-45ED-90AA-D527B6E57597}" destId="{9E05987B-C7EA-4550-9A83-064B554403F2}" srcOrd="2" destOrd="0" parTransId="{7BEBA4BB-23D8-409A-8C79-51F80B8C2406}" sibTransId="{DC2831F9-0C36-4CD1-A3BD-AFB60131E638}"/>
    <dgm:cxn modelId="{3D7C5942-9C40-4256-B92D-209B60E9C05D}" type="presOf" srcId="{9E05987B-C7EA-4550-9A83-064B554403F2}" destId="{2F03A08C-9305-4E26-BC45-C19D039A9699}" srcOrd="0" destOrd="4" presId="urn:microsoft.com/office/officeart/2018/2/layout/IconLabelDescriptionList"/>
    <dgm:cxn modelId="{574C1F45-3623-4686-8354-C57B0E8B7FC9}" srcId="{414D4494-FC98-4933-BA8B-5EDEDCBF9559}" destId="{D138FAB6-F732-41B4-9371-9E809FD0C221}" srcOrd="2" destOrd="0" parTransId="{09FCAB40-A2AE-485E-BE01-FA4DB5576C09}" sibTransId="{E60D9CC6-AF7C-45BD-A093-36E2C6F8C81E}"/>
    <dgm:cxn modelId="{5FDE4446-7CD0-40A0-BFC4-01DA8EC3E0E6}" srcId="{4F807A31-B33A-4DD8-A3CE-8E789885659A}" destId="{792F17EE-E7D8-46F3-8471-73C53ED3429E}" srcOrd="0" destOrd="0" parTransId="{1418E27E-43E2-4646-8051-A74F445C3C6C}" sibTransId="{6FD0B55F-1B1E-441F-B258-FA30A4602C03}"/>
    <dgm:cxn modelId="{58133269-0E45-4665-97E1-271A353E7879}" type="presOf" srcId="{0E525B7B-E8CD-4E78-B075-FDD351BBF84B}" destId="{0B27EA7D-5901-492A-8201-0FC0905705A2}" srcOrd="0" destOrd="2" presId="urn:microsoft.com/office/officeart/2018/2/layout/IconLabelDescriptionList"/>
    <dgm:cxn modelId="{FDDA5A6A-D360-4576-A622-AE84E2940ED7}" type="presOf" srcId="{3BB46F61-121E-4A4B-A23B-1AB523128A20}" destId="{D38DE4FF-490A-4187-8AA2-CD6EC75AECFC}" srcOrd="0" destOrd="0" presId="urn:microsoft.com/office/officeart/2018/2/layout/IconLabelDescriptionList"/>
    <dgm:cxn modelId="{D976814C-5D1D-47DC-970D-BBAC52945809}" type="presOf" srcId="{30FA0910-B422-435C-AB76-7079E79943FF}" destId="{2F03A08C-9305-4E26-BC45-C19D039A9699}" srcOrd="0" destOrd="5" presId="urn:microsoft.com/office/officeart/2018/2/layout/IconLabelDescriptionList"/>
    <dgm:cxn modelId="{8A99A273-6AA6-4EB0-9AC2-A26C9F0A8B1B}" srcId="{3BB46F61-121E-4A4B-A23B-1AB523128A20}" destId="{CBA7C4C5-A1B3-4DC7-8C0B-ECCE0DECE193}" srcOrd="0" destOrd="0" parTransId="{D5C9FA2F-3075-4344-ABB2-25B727214744}" sibTransId="{F40EC153-1949-409C-9BD5-A52C5B89B1DC}"/>
    <dgm:cxn modelId="{AA034175-233B-4B64-AD7F-39725BE89ABE}" srcId="{AB9819F6-2D98-441C-A015-F9EF18F19CFC}" destId="{4A4DA914-43AF-45ED-90AA-D527B6E57597}" srcOrd="0" destOrd="0" parTransId="{96250FB2-70AC-48C3-B133-32563328C724}" sibTransId="{38B6DD12-1A8A-4C33-B314-3DA10BA6DF5D}"/>
    <dgm:cxn modelId="{FEFF3657-1A9F-48D2-AA86-C9B8A27486D5}" type="presOf" srcId="{414D4494-FC98-4933-BA8B-5EDEDCBF9559}" destId="{0B27EA7D-5901-492A-8201-0FC0905705A2}" srcOrd="0" destOrd="1" presId="urn:microsoft.com/office/officeart/2018/2/layout/IconLabelDescriptionList"/>
    <dgm:cxn modelId="{DE442C7E-85AF-4214-93D2-C0DCA4E9A478}" type="presOf" srcId="{AB9819F6-2D98-441C-A015-F9EF18F19CFC}" destId="{40AF698E-D863-492C-A23D-E8899CCBBE81}" srcOrd="0" destOrd="0" presId="urn:microsoft.com/office/officeart/2018/2/layout/IconLabelDescriptionList"/>
    <dgm:cxn modelId="{B59B8E81-D73C-42DE-9A87-3ED9F047B74D}" type="presOf" srcId="{792F17EE-E7D8-46F3-8471-73C53ED3429E}" destId="{2F03A08C-9305-4E26-BC45-C19D039A9699}" srcOrd="0" destOrd="2" presId="urn:microsoft.com/office/officeart/2018/2/layout/IconLabelDescriptionList"/>
    <dgm:cxn modelId="{B8C1BA8A-C82D-4C9E-9E9C-80ECBB2F371E}" srcId="{4A4DA914-43AF-45ED-90AA-D527B6E57597}" destId="{755EF2F4-A266-4497-88AA-06C35E81A35F}" srcOrd="0" destOrd="0" parTransId="{08B04A82-1480-436B-9A67-4479E56FACAB}" sibTransId="{47967D18-E5FD-4FB5-B531-36EFECD59195}"/>
    <dgm:cxn modelId="{0C5E9F8F-8D8E-4A1E-A7A0-0588837228E4}" srcId="{414D4494-FC98-4933-BA8B-5EDEDCBF9559}" destId="{0E525B7B-E8CD-4E78-B075-FDD351BBF84B}" srcOrd="0" destOrd="0" parTransId="{18A5BBF9-D72A-4783-B4B9-3509688FEFDF}" sibTransId="{52F02A2A-B1A4-4571-A174-0A8E047BD563}"/>
    <dgm:cxn modelId="{4325119A-9E1F-4FF2-B033-58DF1E57A7F2}" srcId="{AB9819F6-2D98-441C-A015-F9EF18F19CFC}" destId="{3BB46F61-121E-4A4B-A23B-1AB523128A20}" srcOrd="1" destOrd="0" parTransId="{756DAD3A-2FC9-42D2-816F-7017EBF0E222}" sibTransId="{81670318-2284-4776-AE0E-298AF4D4C24E}"/>
    <dgm:cxn modelId="{EB2458B5-7693-4D7D-869E-D4A09211D034}" type="presOf" srcId="{4A4DA914-43AF-45ED-90AA-D527B6E57597}" destId="{20890D87-030E-46DC-8A13-5EE48A66CA06}" srcOrd="0" destOrd="0" presId="urn:microsoft.com/office/officeart/2018/2/layout/IconLabelDescriptionList"/>
    <dgm:cxn modelId="{59B788B7-5C17-402E-AE55-09A517E32536}" type="presOf" srcId="{AB6DA255-8342-4A39-AA10-7AEB73AB6C64}" destId="{2F03A08C-9305-4E26-BC45-C19D039A9699}" srcOrd="0" destOrd="3" presId="urn:microsoft.com/office/officeart/2018/2/layout/IconLabelDescriptionList"/>
    <dgm:cxn modelId="{CEEDF1BD-4C2E-4072-9A21-D808EA5975AD}" type="presOf" srcId="{304DC7A0-B86D-4994-A496-C2C8B261EF06}" destId="{0B27EA7D-5901-492A-8201-0FC0905705A2}" srcOrd="0" destOrd="3" presId="urn:microsoft.com/office/officeart/2018/2/layout/IconLabelDescriptionList"/>
    <dgm:cxn modelId="{10C417C1-2DA4-4EC1-8A3B-06F99A17FE19}" srcId="{414D4494-FC98-4933-BA8B-5EDEDCBF9559}" destId="{304DC7A0-B86D-4994-A496-C2C8B261EF06}" srcOrd="1" destOrd="0" parTransId="{4B960501-10C7-4355-903D-0352B7C0EA73}" sibTransId="{5D6A0C69-F463-4DBF-9D9F-ACFCBD995E1A}"/>
    <dgm:cxn modelId="{76A067C8-3C8D-41A9-B4C7-EADDEBED8320}" srcId="{4F807A31-B33A-4DD8-A3CE-8E789885659A}" destId="{AB6DA255-8342-4A39-AA10-7AEB73AB6C64}" srcOrd="1" destOrd="0" parTransId="{059D433D-DFDF-4481-9333-693257D56C5F}" sibTransId="{2AC95E4B-2A50-40C6-B74C-46517C8DF89C}"/>
    <dgm:cxn modelId="{8C6D49D1-77D1-4CCA-8542-07BBEB798B22}" srcId="{3BB46F61-121E-4A4B-A23B-1AB523128A20}" destId="{414D4494-FC98-4933-BA8B-5EDEDCBF9559}" srcOrd="1" destOrd="0" parTransId="{8B33FF25-33EF-44A2-A48A-95F6FB560358}" sibTransId="{0A604ED5-7DD4-4FDB-9B8F-0CB06E8C05C5}"/>
    <dgm:cxn modelId="{6DB2CEE0-A2FF-470A-9F94-481E71473CF3}" srcId="{9E05987B-C7EA-4550-9A83-064B554403F2}" destId="{30FA0910-B422-435C-AB76-7079E79943FF}" srcOrd="0" destOrd="0" parTransId="{10961684-1998-4D87-BE0B-698DCD8AE6F8}" sibTransId="{C9E37BC7-5D16-4C57-9A60-87A520E88F2B}"/>
    <dgm:cxn modelId="{1D52C2ED-67A9-428B-990C-9EFC575030F3}" srcId="{4A4DA914-43AF-45ED-90AA-D527B6E57597}" destId="{4F807A31-B33A-4DD8-A3CE-8E789885659A}" srcOrd="1" destOrd="0" parTransId="{B974F87A-22AB-40F9-859B-A2417B5F8FAB}" sibTransId="{A9ECC85F-6863-43BF-A1DE-63C2B9B8FAB7}"/>
    <dgm:cxn modelId="{9D86EDEE-F4EC-4D3D-9792-AC9C0A306B3E}" srcId="{3BB46F61-121E-4A4B-A23B-1AB523128A20}" destId="{0B821BE8-FABA-4287-8867-ED1FEAD15174}" srcOrd="2" destOrd="0" parTransId="{F1B89DBC-9BA6-4618-8E4C-1D189E7ACF31}" sibTransId="{37DB2B5E-1A00-498C-AD51-AC0E086D3856}"/>
    <dgm:cxn modelId="{1C441A07-9129-4D4C-AB84-49AA3BDE37B6}" type="presParOf" srcId="{40AF698E-D863-492C-A23D-E8899CCBBE81}" destId="{2942AEB4-14CD-4FC1-9F52-E66E7D0BC078}" srcOrd="0" destOrd="0" presId="urn:microsoft.com/office/officeart/2018/2/layout/IconLabelDescriptionList"/>
    <dgm:cxn modelId="{E701F40B-6AFE-4731-8202-5A4E5744CB50}" type="presParOf" srcId="{2942AEB4-14CD-4FC1-9F52-E66E7D0BC078}" destId="{277C84AB-F4FB-4319-B19F-6118AAF71F46}" srcOrd="0" destOrd="0" presId="urn:microsoft.com/office/officeart/2018/2/layout/IconLabelDescriptionList"/>
    <dgm:cxn modelId="{5E1C2ACA-FB47-4C84-9B75-B7B9B7173B40}" type="presParOf" srcId="{2942AEB4-14CD-4FC1-9F52-E66E7D0BC078}" destId="{9C37703F-399E-4B8F-A77A-353324FE7704}" srcOrd="1" destOrd="0" presId="urn:microsoft.com/office/officeart/2018/2/layout/IconLabelDescriptionList"/>
    <dgm:cxn modelId="{E52A9646-E08B-4A93-889A-D43B4577C78F}" type="presParOf" srcId="{2942AEB4-14CD-4FC1-9F52-E66E7D0BC078}" destId="{20890D87-030E-46DC-8A13-5EE48A66CA06}" srcOrd="2" destOrd="0" presId="urn:microsoft.com/office/officeart/2018/2/layout/IconLabelDescriptionList"/>
    <dgm:cxn modelId="{0174E2AE-906C-4B96-9405-D16EA9B60871}" type="presParOf" srcId="{2942AEB4-14CD-4FC1-9F52-E66E7D0BC078}" destId="{CD4F29C6-ED8B-4663-9B85-5C058DE82779}" srcOrd="3" destOrd="0" presId="urn:microsoft.com/office/officeart/2018/2/layout/IconLabelDescriptionList"/>
    <dgm:cxn modelId="{5D009DA2-9FCD-481B-9FD2-ACCDEB910318}" type="presParOf" srcId="{2942AEB4-14CD-4FC1-9F52-E66E7D0BC078}" destId="{2F03A08C-9305-4E26-BC45-C19D039A9699}" srcOrd="4" destOrd="0" presId="urn:microsoft.com/office/officeart/2018/2/layout/IconLabelDescriptionList"/>
    <dgm:cxn modelId="{1E6D9C17-BDF2-4E58-9A88-602C26AE1CE3}" type="presParOf" srcId="{40AF698E-D863-492C-A23D-E8899CCBBE81}" destId="{6F6220BE-B58F-412F-8E11-76976384BAF0}" srcOrd="1" destOrd="0" presId="urn:microsoft.com/office/officeart/2018/2/layout/IconLabelDescriptionList"/>
    <dgm:cxn modelId="{B3A733ED-5508-4B5F-9A71-439D68282F5F}" type="presParOf" srcId="{40AF698E-D863-492C-A23D-E8899CCBBE81}" destId="{983C4417-7524-4CC2-A3BD-224872E64F52}" srcOrd="2" destOrd="0" presId="urn:microsoft.com/office/officeart/2018/2/layout/IconLabelDescriptionList"/>
    <dgm:cxn modelId="{9C6DA564-05E0-47E9-9476-47AB9738D96D}" type="presParOf" srcId="{983C4417-7524-4CC2-A3BD-224872E64F52}" destId="{044D895E-3C7D-4495-AC90-1F445F21B637}" srcOrd="0" destOrd="0" presId="urn:microsoft.com/office/officeart/2018/2/layout/IconLabelDescriptionList"/>
    <dgm:cxn modelId="{91D3C316-39F6-430B-8DD3-3CAB2305C464}" type="presParOf" srcId="{983C4417-7524-4CC2-A3BD-224872E64F52}" destId="{1EFAEB58-5901-469B-BD54-5878D2176075}" srcOrd="1" destOrd="0" presId="urn:microsoft.com/office/officeart/2018/2/layout/IconLabelDescriptionList"/>
    <dgm:cxn modelId="{EDDD44AA-EF39-4E18-A06B-72ADFD5473F7}" type="presParOf" srcId="{983C4417-7524-4CC2-A3BD-224872E64F52}" destId="{D38DE4FF-490A-4187-8AA2-CD6EC75AECFC}" srcOrd="2" destOrd="0" presId="urn:microsoft.com/office/officeart/2018/2/layout/IconLabelDescriptionList"/>
    <dgm:cxn modelId="{2E83ABBC-D532-474C-87B5-58A7C77ED857}" type="presParOf" srcId="{983C4417-7524-4CC2-A3BD-224872E64F52}" destId="{54983C3D-C290-4EA7-ADF9-5E7955898F40}" srcOrd="3" destOrd="0" presId="urn:microsoft.com/office/officeart/2018/2/layout/IconLabelDescriptionList"/>
    <dgm:cxn modelId="{6F6FE0FC-9522-4D59-B2F7-3A3BB74BFAEE}" type="presParOf" srcId="{983C4417-7524-4CC2-A3BD-224872E64F52}" destId="{0B27EA7D-5901-492A-8201-0FC0905705A2}"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1CFA774-A8CC-4D2A-97D9-03CB9C33033A}"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CACAD2E5-B4D3-4947-8C2E-23205E01DAC7}">
      <dgm:prSet/>
      <dgm:spPr/>
      <dgm:t>
        <a:bodyPr/>
        <a:lstStyle/>
        <a:p>
          <a:r>
            <a:rPr lang="en-US" dirty="0"/>
            <a:t>India has a </a:t>
          </a:r>
          <a:r>
            <a:rPr lang="en-US" b="1" dirty="0"/>
            <a:t>national health policy</a:t>
          </a:r>
          <a:r>
            <a:rPr lang="en-US" dirty="0"/>
            <a:t>, but </a:t>
          </a:r>
          <a:r>
            <a:rPr lang="en-US" b="1" dirty="0"/>
            <a:t>no national health service</a:t>
          </a:r>
          <a:r>
            <a:rPr lang="en-US" dirty="0"/>
            <a:t> structure.</a:t>
          </a:r>
        </a:p>
      </dgm:t>
    </dgm:pt>
    <dgm:pt modelId="{C3EEDC63-03BA-48B1-AF52-6D80EDC04B90}" type="parTrans" cxnId="{D91F02C8-C5A7-4E9B-8112-F5D86EB857E1}">
      <dgm:prSet/>
      <dgm:spPr/>
      <dgm:t>
        <a:bodyPr/>
        <a:lstStyle/>
        <a:p>
          <a:endParaRPr lang="en-US"/>
        </a:p>
      </dgm:t>
    </dgm:pt>
    <dgm:pt modelId="{E0EB4714-7EBE-4815-ACBC-BFD406185F4C}" type="sibTrans" cxnId="{D91F02C8-C5A7-4E9B-8112-F5D86EB857E1}">
      <dgm:prSet/>
      <dgm:spPr/>
      <dgm:t>
        <a:bodyPr/>
        <a:lstStyle/>
        <a:p>
          <a:endParaRPr lang="en-US"/>
        </a:p>
      </dgm:t>
    </dgm:pt>
    <dgm:pt modelId="{EAE96ED3-E320-47E5-87F6-C5E09E5DCBF0}">
      <dgm:prSet/>
      <dgm:spPr/>
      <dgm:t>
        <a:bodyPr/>
        <a:lstStyle/>
        <a:p>
          <a:r>
            <a:rPr lang="en-US"/>
            <a:t>Financial limitations prevent establishment of universal public healthcare.</a:t>
          </a:r>
        </a:p>
      </dgm:t>
    </dgm:pt>
    <dgm:pt modelId="{7E1EBEC3-1C22-486B-B568-B1A4984B8047}" type="parTrans" cxnId="{02B2DCD9-38C7-474D-B7EB-12356FA9912B}">
      <dgm:prSet/>
      <dgm:spPr/>
      <dgm:t>
        <a:bodyPr/>
        <a:lstStyle/>
        <a:p>
          <a:endParaRPr lang="en-US"/>
        </a:p>
      </dgm:t>
    </dgm:pt>
    <dgm:pt modelId="{1D1A8C63-483E-4A90-A45B-2506CDAFD610}" type="sibTrans" cxnId="{02B2DCD9-38C7-474D-B7EB-12356FA9912B}">
      <dgm:prSet/>
      <dgm:spPr/>
      <dgm:t>
        <a:bodyPr/>
        <a:lstStyle/>
        <a:p>
          <a:endParaRPr lang="en-US"/>
        </a:p>
      </dgm:t>
    </dgm:pt>
    <dgm:pt modelId="{AF776D94-0884-4667-A712-6614DC3A0328}">
      <dgm:prSet/>
      <dgm:spPr/>
      <dgm:t>
        <a:bodyPr/>
        <a:lstStyle/>
        <a:p>
          <a:r>
            <a:rPr lang="en-US"/>
            <a:t>Health system predominantly </a:t>
          </a:r>
          <a:r>
            <a:rPr lang="en-US" b="1"/>
            <a:t>hospital-based</a:t>
          </a:r>
          <a:r>
            <a:rPr lang="en-US"/>
            <a:t> and </a:t>
          </a:r>
          <a:r>
            <a:rPr lang="en-US" b="1"/>
            <a:t>disease-oriented</a:t>
          </a:r>
          <a:r>
            <a:rPr lang="en-US"/>
            <a:t>.</a:t>
          </a:r>
        </a:p>
      </dgm:t>
    </dgm:pt>
    <dgm:pt modelId="{F346ECB1-205F-4958-87DA-879526DC3DC1}" type="parTrans" cxnId="{3EEAA921-6B76-4F10-A96D-A151A053CEA4}">
      <dgm:prSet/>
      <dgm:spPr/>
      <dgm:t>
        <a:bodyPr/>
        <a:lstStyle/>
        <a:p>
          <a:endParaRPr lang="en-US"/>
        </a:p>
      </dgm:t>
    </dgm:pt>
    <dgm:pt modelId="{87F2F78B-08F0-4314-A869-21B8C7A5063A}" type="sibTrans" cxnId="{3EEAA921-6B76-4F10-A96D-A151A053CEA4}">
      <dgm:prSet/>
      <dgm:spPr/>
      <dgm:t>
        <a:bodyPr/>
        <a:lstStyle/>
        <a:p>
          <a:endParaRPr lang="en-US"/>
        </a:p>
      </dgm:t>
    </dgm:pt>
    <dgm:pt modelId="{093FD846-3D8F-40C7-8474-2C9828A784FD}">
      <dgm:prSet/>
      <dgm:spPr/>
      <dgm:t>
        <a:bodyPr/>
        <a:lstStyle/>
        <a:p>
          <a:r>
            <a:rPr lang="en-US"/>
            <a:t>Benefits concentrated among the </a:t>
          </a:r>
          <a:r>
            <a:rPr lang="en-US" b="1"/>
            <a:t>urban elite</a:t>
          </a:r>
          <a:r>
            <a:rPr lang="en-US"/>
            <a:t>; ~</a:t>
          </a:r>
          <a:r>
            <a:rPr lang="en-US" b="1"/>
            <a:t>80% of facilities</a:t>
          </a:r>
          <a:r>
            <a:rPr lang="en-US"/>
            <a:t> are urban.</a:t>
          </a:r>
        </a:p>
      </dgm:t>
    </dgm:pt>
    <dgm:pt modelId="{592C8BEF-D625-4352-9500-6066B6308442}" type="parTrans" cxnId="{A10673A2-5D46-4701-A9D7-F010FE19192F}">
      <dgm:prSet/>
      <dgm:spPr/>
      <dgm:t>
        <a:bodyPr/>
        <a:lstStyle/>
        <a:p>
          <a:endParaRPr lang="en-US"/>
        </a:p>
      </dgm:t>
    </dgm:pt>
    <dgm:pt modelId="{B6BFC224-1908-4636-82B7-1A73ADAB4E08}" type="sibTrans" cxnId="{A10673A2-5D46-4701-A9D7-F010FE19192F}">
      <dgm:prSet/>
      <dgm:spPr/>
      <dgm:t>
        <a:bodyPr/>
        <a:lstStyle/>
        <a:p>
          <a:endParaRPr lang="en-US"/>
        </a:p>
      </dgm:t>
    </dgm:pt>
    <dgm:pt modelId="{686E112C-B7DF-4F6F-AF40-5F95055E8E60}" type="pres">
      <dgm:prSet presAssocID="{81CFA774-A8CC-4D2A-97D9-03CB9C33033A}" presName="vert0" presStyleCnt="0">
        <dgm:presLayoutVars>
          <dgm:dir/>
          <dgm:animOne val="branch"/>
          <dgm:animLvl val="lvl"/>
        </dgm:presLayoutVars>
      </dgm:prSet>
      <dgm:spPr/>
    </dgm:pt>
    <dgm:pt modelId="{75F128A1-23F2-4AD8-814C-26DF96F4F92E}" type="pres">
      <dgm:prSet presAssocID="{CACAD2E5-B4D3-4947-8C2E-23205E01DAC7}" presName="thickLine" presStyleLbl="alignNode1" presStyleIdx="0" presStyleCnt="4"/>
      <dgm:spPr/>
    </dgm:pt>
    <dgm:pt modelId="{63F08EF1-64CB-4FE4-B40D-B48D169E332A}" type="pres">
      <dgm:prSet presAssocID="{CACAD2E5-B4D3-4947-8C2E-23205E01DAC7}" presName="horz1" presStyleCnt="0"/>
      <dgm:spPr/>
    </dgm:pt>
    <dgm:pt modelId="{C199A86F-CCE8-4A08-A739-D1721C00F83C}" type="pres">
      <dgm:prSet presAssocID="{CACAD2E5-B4D3-4947-8C2E-23205E01DAC7}" presName="tx1" presStyleLbl="revTx" presStyleIdx="0" presStyleCnt="4"/>
      <dgm:spPr/>
    </dgm:pt>
    <dgm:pt modelId="{FC36FB0B-7982-4549-80EF-FB1196F7D1C9}" type="pres">
      <dgm:prSet presAssocID="{CACAD2E5-B4D3-4947-8C2E-23205E01DAC7}" presName="vert1" presStyleCnt="0"/>
      <dgm:spPr/>
    </dgm:pt>
    <dgm:pt modelId="{07F24A5A-98B5-4A11-A165-1F903C6658F5}" type="pres">
      <dgm:prSet presAssocID="{EAE96ED3-E320-47E5-87F6-C5E09E5DCBF0}" presName="thickLine" presStyleLbl="alignNode1" presStyleIdx="1" presStyleCnt="4"/>
      <dgm:spPr/>
    </dgm:pt>
    <dgm:pt modelId="{E3E87137-A56D-4613-917C-5C34F0F0CF3C}" type="pres">
      <dgm:prSet presAssocID="{EAE96ED3-E320-47E5-87F6-C5E09E5DCBF0}" presName="horz1" presStyleCnt="0"/>
      <dgm:spPr/>
    </dgm:pt>
    <dgm:pt modelId="{6CBD3442-9657-4BA6-A013-4D63E529F667}" type="pres">
      <dgm:prSet presAssocID="{EAE96ED3-E320-47E5-87F6-C5E09E5DCBF0}" presName="tx1" presStyleLbl="revTx" presStyleIdx="1" presStyleCnt="4"/>
      <dgm:spPr/>
    </dgm:pt>
    <dgm:pt modelId="{4AAB7415-6BA2-4C0F-94B7-F72D9119F872}" type="pres">
      <dgm:prSet presAssocID="{EAE96ED3-E320-47E5-87F6-C5E09E5DCBF0}" presName="vert1" presStyleCnt="0"/>
      <dgm:spPr/>
    </dgm:pt>
    <dgm:pt modelId="{2ABDE087-5248-4844-A621-CC9DE719EC8C}" type="pres">
      <dgm:prSet presAssocID="{AF776D94-0884-4667-A712-6614DC3A0328}" presName="thickLine" presStyleLbl="alignNode1" presStyleIdx="2" presStyleCnt="4"/>
      <dgm:spPr/>
    </dgm:pt>
    <dgm:pt modelId="{5A2A59E1-ABCD-4930-9428-6B2AB0DC9003}" type="pres">
      <dgm:prSet presAssocID="{AF776D94-0884-4667-A712-6614DC3A0328}" presName="horz1" presStyleCnt="0"/>
      <dgm:spPr/>
    </dgm:pt>
    <dgm:pt modelId="{75806950-704F-453F-9DA5-AC4425B14D7C}" type="pres">
      <dgm:prSet presAssocID="{AF776D94-0884-4667-A712-6614DC3A0328}" presName="tx1" presStyleLbl="revTx" presStyleIdx="2" presStyleCnt="4"/>
      <dgm:spPr/>
    </dgm:pt>
    <dgm:pt modelId="{F79F6ABB-73C6-4CE9-AA86-296133F04DEE}" type="pres">
      <dgm:prSet presAssocID="{AF776D94-0884-4667-A712-6614DC3A0328}" presName="vert1" presStyleCnt="0"/>
      <dgm:spPr/>
    </dgm:pt>
    <dgm:pt modelId="{EA3256FC-094B-436C-A92F-4A1A4A8994FC}" type="pres">
      <dgm:prSet presAssocID="{093FD846-3D8F-40C7-8474-2C9828A784FD}" presName="thickLine" presStyleLbl="alignNode1" presStyleIdx="3" presStyleCnt="4"/>
      <dgm:spPr/>
    </dgm:pt>
    <dgm:pt modelId="{E63FC5DF-05CA-48B7-B614-E3FCCF869A38}" type="pres">
      <dgm:prSet presAssocID="{093FD846-3D8F-40C7-8474-2C9828A784FD}" presName="horz1" presStyleCnt="0"/>
      <dgm:spPr/>
    </dgm:pt>
    <dgm:pt modelId="{17CA54BD-DE92-4F1C-BB7E-D0CEF1B5DCB2}" type="pres">
      <dgm:prSet presAssocID="{093FD846-3D8F-40C7-8474-2C9828A784FD}" presName="tx1" presStyleLbl="revTx" presStyleIdx="3" presStyleCnt="4"/>
      <dgm:spPr/>
    </dgm:pt>
    <dgm:pt modelId="{3224FE4B-23E4-425B-BBCE-0EB96FCC90FB}" type="pres">
      <dgm:prSet presAssocID="{093FD846-3D8F-40C7-8474-2C9828A784FD}" presName="vert1" presStyleCnt="0"/>
      <dgm:spPr/>
    </dgm:pt>
  </dgm:ptLst>
  <dgm:cxnLst>
    <dgm:cxn modelId="{3EEAA921-6B76-4F10-A96D-A151A053CEA4}" srcId="{81CFA774-A8CC-4D2A-97D9-03CB9C33033A}" destId="{AF776D94-0884-4667-A712-6614DC3A0328}" srcOrd="2" destOrd="0" parTransId="{F346ECB1-205F-4958-87DA-879526DC3DC1}" sibTransId="{87F2F78B-08F0-4314-A869-21B8C7A5063A}"/>
    <dgm:cxn modelId="{F0B95769-E91D-4A34-B053-5096B1A8343E}" type="presOf" srcId="{81CFA774-A8CC-4D2A-97D9-03CB9C33033A}" destId="{686E112C-B7DF-4F6F-AF40-5F95055E8E60}" srcOrd="0" destOrd="0" presId="urn:microsoft.com/office/officeart/2008/layout/LinedList"/>
    <dgm:cxn modelId="{A996B280-1DB0-4826-9BDF-317918A81DAD}" type="presOf" srcId="{093FD846-3D8F-40C7-8474-2C9828A784FD}" destId="{17CA54BD-DE92-4F1C-BB7E-D0CEF1B5DCB2}" srcOrd="0" destOrd="0" presId="urn:microsoft.com/office/officeart/2008/layout/LinedList"/>
    <dgm:cxn modelId="{9F31519A-D7F1-418B-8D34-22B4407A7A0F}" type="presOf" srcId="{EAE96ED3-E320-47E5-87F6-C5E09E5DCBF0}" destId="{6CBD3442-9657-4BA6-A013-4D63E529F667}" srcOrd="0" destOrd="0" presId="urn:microsoft.com/office/officeart/2008/layout/LinedList"/>
    <dgm:cxn modelId="{A10673A2-5D46-4701-A9D7-F010FE19192F}" srcId="{81CFA774-A8CC-4D2A-97D9-03CB9C33033A}" destId="{093FD846-3D8F-40C7-8474-2C9828A784FD}" srcOrd="3" destOrd="0" parTransId="{592C8BEF-D625-4352-9500-6066B6308442}" sibTransId="{B6BFC224-1908-4636-82B7-1A73ADAB4E08}"/>
    <dgm:cxn modelId="{5E499FBE-E4BD-442A-9084-2C7BF7603CDC}" type="presOf" srcId="{AF776D94-0884-4667-A712-6614DC3A0328}" destId="{75806950-704F-453F-9DA5-AC4425B14D7C}" srcOrd="0" destOrd="0" presId="urn:microsoft.com/office/officeart/2008/layout/LinedList"/>
    <dgm:cxn modelId="{D91F02C8-C5A7-4E9B-8112-F5D86EB857E1}" srcId="{81CFA774-A8CC-4D2A-97D9-03CB9C33033A}" destId="{CACAD2E5-B4D3-4947-8C2E-23205E01DAC7}" srcOrd="0" destOrd="0" parTransId="{C3EEDC63-03BA-48B1-AF52-6D80EDC04B90}" sibTransId="{E0EB4714-7EBE-4815-ACBC-BFD406185F4C}"/>
    <dgm:cxn modelId="{02B2DCD9-38C7-474D-B7EB-12356FA9912B}" srcId="{81CFA774-A8CC-4D2A-97D9-03CB9C33033A}" destId="{EAE96ED3-E320-47E5-87F6-C5E09E5DCBF0}" srcOrd="1" destOrd="0" parTransId="{7E1EBEC3-1C22-486B-B568-B1A4984B8047}" sibTransId="{1D1A8C63-483E-4A90-A45B-2506CDAFD610}"/>
    <dgm:cxn modelId="{1D2278FD-8124-4BC8-9D06-1DB159EC31B2}" type="presOf" srcId="{CACAD2E5-B4D3-4947-8C2E-23205E01DAC7}" destId="{C199A86F-CCE8-4A08-A739-D1721C00F83C}" srcOrd="0" destOrd="0" presId="urn:microsoft.com/office/officeart/2008/layout/LinedList"/>
    <dgm:cxn modelId="{629E9C58-3AD1-4696-9F99-3B971D61D0C9}" type="presParOf" srcId="{686E112C-B7DF-4F6F-AF40-5F95055E8E60}" destId="{75F128A1-23F2-4AD8-814C-26DF96F4F92E}" srcOrd="0" destOrd="0" presId="urn:microsoft.com/office/officeart/2008/layout/LinedList"/>
    <dgm:cxn modelId="{256BC9C3-8F9F-4739-A02D-483F4F520505}" type="presParOf" srcId="{686E112C-B7DF-4F6F-AF40-5F95055E8E60}" destId="{63F08EF1-64CB-4FE4-B40D-B48D169E332A}" srcOrd="1" destOrd="0" presId="urn:microsoft.com/office/officeart/2008/layout/LinedList"/>
    <dgm:cxn modelId="{CBAA3866-1162-411D-873C-0E6AF1081C2A}" type="presParOf" srcId="{63F08EF1-64CB-4FE4-B40D-B48D169E332A}" destId="{C199A86F-CCE8-4A08-A739-D1721C00F83C}" srcOrd="0" destOrd="0" presId="urn:microsoft.com/office/officeart/2008/layout/LinedList"/>
    <dgm:cxn modelId="{52BA236E-9AAA-43E6-8F8C-A7A94BE393A4}" type="presParOf" srcId="{63F08EF1-64CB-4FE4-B40D-B48D169E332A}" destId="{FC36FB0B-7982-4549-80EF-FB1196F7D1C9}" srcOrd="1" destOrd="0" presId="urn:microsoft.com/office/officeart/2008/layout/LinedList"/>
    <dgm:cxn modelId="{7E92DCB8-47AD-4EB0-A8A3-42F09D97FEDA}" type="presParOf" srcId="{686E112C-B7DF-4F6F-AF40-5F95055E8E60}" destId="{07F24A5A-98B5-4A11-A165-1F903C6658F5}" srcOrd="2" destOrd="0" presId="urn:microsoft.com/office/officeart/2008/layout/LinedList"/>
    <dgm:cxn modelId="{C998DA8D-FC1B-499B-987B-5C5270D1D5FE}" type="presParOf" srcId="{686E112C-B7DF-4F6F-AF40-5F95055E8E60}" destId="{E3E87137-A56D-4613-917C-5C34F0F0CF3C}" srcOrd="3" destOrd="0" presId="urn:microsoft.com/office/officeart/2008/layout/LinedList"/>
    <dgm:cxn modelId="{8622EC9F-01A0-4925-A8C2-D7C063181595}" type="presParOf" srcId="{E3E87137-A56D-4613-917C-5C34F0F0CF3C}" destId="{6CBD3442-9657-4BA6-A013-4D63E529F667}" srcOrd="0" destOrd="0" presId="urn:microsoft.com/office/officeart/2008/layout/LinedList"/>
    <dgm:cxn modelId="{77239A7B-4DA7-4411-A6DE-C78034F30BEE}" type="presParOf" srcId="{E3E87137-A56D-4613-917C-5C34F0F0CF3C}" destId="{4AAB7415-6BA2-4C0F-94B7-F72D9119F872}" srcOrd="1" destOrd="0" presId="urn:microsoft.com/office/officeart/2008/layout/LinedList"/>
    <dgm:cxn modelId="{740283E7-0CFE-4E2D-923D-C22876EB021A}" type="presParOf" srcId="{686E112C-B7DF-4F6F-AF40-5F95055E8E60}" destId="{2ABDE087-5248-4844-A621-CC9DE719EC8C}" srcOrd="4" destOrd="0" presId="urn:microsoft.com/office/officeart/2008/layout/LinedList"/>
    <dgm:cxn modelId="{893F5C9B-6696-4035-B580-91EC07B81EA1}" type="presParOf" srcId="{686E112C-B7DF-4F6F-AF40-5F95055E8E60}" destId="{5A2A59E1-ABCD-4930-9428-6B2AB0DC9003}" srcOrd="5" destOrd="0" presId="urn:microsoft.com/office/officeart/2008/layout/LinedList"/>
    <dgm:cxn modelId="{842EC0F1-65D5-42F6-B608-8C245A9A63D0}" type="presParOf" srcId="{5A2A59E1-ABCD-4930-9428-6B2AB0DC9003}" destId="{75806950-704F-453F-9DA5-AC4425B14D7C}" srcOrd="0" destOrd="0" presId="urn:microsoft.com/office/officeart/2008/layout/LinedList"/>
    <dgm:cxn modelId="{402602E3-FE3C-4782-B3E4-1FFDA2D3BED2}" type="presParOf" srcId="{5A2A59E1-ABCD-4930-9428-6B2AB0DC9003}" destId="{F79F6ABB-73C6-4CE9-AA86-296133F04DEE}" srcOrd="1" destOrd="0" presId="urn:microsoft.com/office/officeart/2008/layout/LinedList"/>
    <dgm:cxn modelId="{93F4179C-5AC2-4073-A280-967DD6B04118}" type="presParOf" srcId="{686E112C-B7DF-4F6F-AF40-5F95055E8E60}" destId="{EA3256FC-094B-436C-A92F-4A1A4A8994FC}" srcOrd="6" destOrd="0" presId="urn:microsoft.com/office/officeart/2008/layout/LinedList"/>
    <dgm:cxn modelId="{16140599-BAF1-47D9-929B-CA93F9D06A0B}" type="presParOf" srcId="{686E112C-B7DF-4F6F-AF40-5F95055E8E60}" destId="{E63FC5DF-05CA-48B7-B614-E3FCCF869A38}" srcOrd="7" destOrd="0" presId="urn:microsoft.com/office/officeart/2008/layout/LinedList"/>
    <dgm:cxn modelId="{775EA1F2-BC4A-4E20-8959-C5764CC9B258}" type="presParOf" srcId="{E63FC5DF-05CA-48B7-B614-E3FCCF869A38}" destId="{17CA54BD-DE92-4F1C-BB7E-D0CEF1B5DCB2}" srcOrd="0" destOrd="0" presId="urn:microsoft.com/office/officeart/2008/layout/LinedList"/>
    <dgm:cxn modelId="{32316C63-D704-46DE-B4EA-FC6EA00C9B4B}" type="presParOf" srcId="{E63FC5DF-05CA-48B7-B614-E3FCCF869A38}" destId="{3224FE4B-23E4-425B-BBCE-0EB96FCC90F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4C46031D-310A-49D6-B90C-C8ED7086173F}"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30E10D3D-7DBF-48EE-8339-50B2CA7DB68D}">
      <dgm:prSet/>
      <dgm:spPr/>
      <dgm:t>
        <a:bodyPr/>
        <a:lstStyle/>
        <a:p>
          <a:r>
            <a:rPr lang="en-US" b="1"/>
            <a:t>Core Problem:</a:t>
          </a:r>
          <a:endParaRPr lang="en-US"/>
        </a:p>
      </dgm:t>
    </dgm:pt>
    <dgm:pt modelId="{83AA0F3E-91D6-4B60-90D1-1626E2DD1079}" type="parTrans" cxnId="{7DAED311-8038-40D5-BC19-5E8399A9774C}">
      <dgm:prSet/>
      <dgm:spPr/>
      <dgm:t>
        <a:bodyPr/>
        <a:lstStyle/>
        <a:p>
          <a:endParaRPr lang="en-US"/>
        </a:p>
      </dgm:t>
    </dgm:pt>
    <dgm:pt modelId="{B5EDD628-2775-4B2C-B9BD-CFACED50B3D3}" type="sibTrans" cxnId="{7DAED311-8038-40D5-BC19-5E8399A9774C}">
      <dgm:prSet/>
      <dgm:spPr/>
      <dgm:t>
        <a:bodyPr/>
        <a:lstStyle/>
        <a:p>
          <a:endParaRPr lang="en-US"/>
        </a:p>
      </dgm:t>
    </dgm:pt>
    <dgm:pt modelId="{2A0F2011-8215-4C92-98D2-875488B64EFC}">
      <dgm:prSet/>
      <dgm:spPr/>
      <dgm:t>
        <a:bodyPr/>
        <a:lstStyle/>
        <a:p>
          <a:r>
            <a:rPr lang="en-US" b="1"/>
            <a:t>Inequitable distribution</a:t>
          </a:r>
          <a:r>
            <a:rPr lang="en-US"/>
            <a:t> of health services and infrastructure.</a:t>
          </a:r>
        </a:p>
      </dgm:t>
    </dgm:pt>
    <dgm:pt modelId="{926C2C6C-306D-4944-ABD2-D53C69A9FA7B}" type="parTrans" cxnId="{E22A716F-A594-440B-BCCB-5A4F6B2EB4B7}">
      <dgm:prSet/>
      <dgm:spPr/>
      <dgm:t>
        <a:bodyPr/>
        <a:lstStyle/>
        <a:p>
          <a:endParaRPr lang="en-US"/>
        </a:p>
      </dgm:t>
    </dgm:pt>
    <dgm:pt modelId="{E94B1E3A-713E-4C3C-9E52-040D43ADD1CC}" type="sibTrans" cxnId="{E22A716F-A594-440B-BCCB-5A4F6B2EB4B7}">
      <dgm:prSet/>
      <dgm:spPr/>
      <dgm:t>
        <a:bodyPr/>
        <a:lstStyle/>
        <a:p>
          <a:endParaRPr lang="en-US"/>
        </a:p>
      </dgm:t>
    </dgm:pt>
    <dgm:pt modelId="{D6913828-D91C-4A06-9C96-2C00046BCEE5}">
      <dgm:prSet/>
      <dgm:spPr/>
      <dgm:t>
        <a:bodyPr/>
        <a:lstStyle/>
        <a:p>
          <a:r>
            <a:rPr lang="en-US"/>
            <a:t>Health services have not reached the </a:t>
          </a:r>
          <a:r>
            <a:rPr lang="en-US" b="1"/>
            <a:t>social periphery</a:t>
          </a:r>
          <a:r>
            <a:rPr lang="en-US"/>
            <a:t> effectively.</a:t>
          </a:r>
        </a:p>
      </dgm:t>
    </dgm:pt>
    <dgm:pt modelId="{0B279390-1F46-45D4-BFE8-D3CF5F7C008B}" type="parTrans" cxnId="{1341B633-1636-4F7D-AEDD-8777996E4982}">
      <dgm:prSet/>
      <dgm:spPr/>
      <dgm:t>
        <a:bodyPr/>
        <a:lstStyle/>
        <a:p>
          <a:endParaRPr lang="en-US"/>
        </a:p>
      </dgm:t>
    </dgm:pt>
    <dgm:pt modelId="{822BD77B-399D-4955-8DFB-D1E1ED35B785}" type="sibTrans" cxnId="{1341B633-1636-4F7D-AEDD-8777996E4982}">
      <dgm:prSet/>
      <dgm:spPr/>
      <dgm:t>
        <a:bodyPr/>
        <a:lstStyle/>
        <a:p>
          <a:endParaRPr lang="en-US"/>
        </a:p>
      </dgm:t>
    </dgm:pt>
    <dgm:pt modelId="{AA1FF7E8-A99A-40AC-B064-FA10B220450E}">
      <dgm:prSet/>
      <dgm:spPr/>
      <dgm:t>
        <a:bodyPr/>
        <a:lstStyle/>
        <a:p>
          <a:r>
            <a:rPr lang="en-US" b="1"/>
            <a:t>Corrective Measures:</a:t>
          </a:r>
          <a:endParaRPr lang="en-US"/>
        </a:p>
      </dgm:t>
    </dgm:pt>
    <dgm:pt modelId="{3809DC45-6E74-4DB6-BED4-6339C02CA1B2}" type="parTrans" cxnId="{B5FF5585-97B4-4304-B2BF-A97C74D380A3}">
      <dgm:prSet/>
      <dgm:spPr/>
      <dgm:t>
        <a:bodyPr/>
        <a:lstStyle/>
        <a:p>
          <a:endParaRPr lang="en-US"/>
        </a:p>
      </dgm:t>
    </dgm:pt>
    <dgm:pt modelId="{9770C9AC-6BEA-4F42-9716-3F28149D4824}" type="sibTrans" cxnId="{B5FF5585-97B4-4304-B2BF-A97C74D380A3}">
      <dgm:prSet/>
      <dgm:spPr/>
      <dgm:t>
        <a:bodyPr/>
        <a:lstStyle/>
        <a:p>
          <a:endParaRPr lang="en-US"/>
        </a:p>
      </dgm:t>
    </dgm:pt>
    <dgm:pt modelId="{B3D1C820-B37D-4777-9EF7-6BA76C208F91}">
      <dgm:prSet/>
      <dgm:spPr/>
      <dgm:t>
        <a:bodyPr/>
        <a:lstStyle/>
        <a:p>
          <a:r>
            <a:rPr lang="en-US" dirty="0"/>
            <a:t>Emphasis on </a:t>
          </a:r>
          <a:r>
            <a:rPr lang="en-US" b="1" dirty="0"/>
            <a:t>Health for All (HFA/2000)</a:t>
          </a:r>
          <a:r>
            <a:rPr lang="en-US" dirty="0"/>
            <a:t> strategy.</a:t>
          </a:r>
        </a:p>
      </dgm:t>
    </dgm:pt>
    <dgm:pt modelId="{9F0A650A-D5A4-4605-8904-5FB63AAE8661}" type="parTrans" cxnId="{1E825D5D-FB5C-4952-AE2E-A1FFC22C6A25}">
      <dgm:prSet/>
      <dgm:spPr/>
      <dgm:t>
        <a:bodyPr/>
        <a:lstStyle/>
        <a:p>
          <a:endParaRPr lang="en-US"/>
        </a:p>
      </dgm:t>
    </dgm:pt>
    <dgm:pt modelId="{76F75AFA-C692-482D-B38F-38A1E3FFBD9D}" type="sibTrans" cxnId="{1E825D5D-FB5C-4952-AE2E-A1FFC22C6A25}">
      <dgm:prSet/>
      <dgm:spPr/>
      <dgm:t>
        <a:bodyPr/>
        <a:lstStyle/>
        <a:p>
          <a:endParaRPr lang="en-US"/>
        </a:p>
      </dgm:t>
    </dgm:pt>
    <dgm:pt modelId="{D3DC7F68-62DE-46E2-93AC-4B174C7BEB1D}">
      <dgm:prSet/>
      <dgm:spPr/>
      <dgm:t>
        <a:bodyPr/>
        <a:lstStyle/>
        <a:p>
          <a:r>
            <a:rPr lang="en-US"/>
            <a:t>Shift toward </a:t>
          </a:r>
          <a:r>
            <a:rPr lang="en-US" b="1"/>
            <a:t>Primary Health Care</a:t>
          </a:r>
          <a:r>
            <a:rPr lang="en-US"/>
            <a:t> approach.</a:t>
          </a:r>
        </a:p>
      </dgm:t>
    </dgm:pt>
    <dgm:pt modelId="{C167EAC9-A9E3-40F4-A275-10E14480FF34}" type="parTrans" cxnId="{E8511B13-8D5A-4BD0-A54E-6739D4344D82}">
      <dgm:prSet/>
      <dgm:spPr/>
      <dgm:t>
        <a:bodyPr/>
        <a:lstStyle/>
        <a:p>
          <a:endParaRPr lang="en-US"/>
        </a:p>
      </dgm:t>
    </dgm:pt>
    <dgm:pt modelId="{965151B8-1870-4070-9FA8-455DBBC52524}" type="sibTrans" cxnId="{E8511B13-8D5A-4BD0-A54E-6739D4344D82}">
      <dgm:prSet/>
      <dgm:spPr/>
      <dgm:t>
        <a:bodyPr/>
        <a:lstStyle/>
        <a:p>
          <a:endParaRPr lang="en-US"/>
        </a:p>
      </dgm:t>
    </dgm:pt>
    <dgm:pt modelId="{6EE225EF-C139-4C4C-99C4-8362F50CA4AD}">
      <dgm:prSet/>
      <dgm:spPr/>
      <dgm:t>
        <a:bodyPr/>
        <a:lstStyle/>
        <a:p>
          <a:r>
            <a:rPr lang="en-US"/>
            <a:t>Key principles:</a:t>
          </a:r>
        </a:p>
      </dgm:t>
    </dgm:pt>
    <dgm:pt modelId="{754CE459-C541-45EF-B977-E0C10ADB3958}" type="parTrans" cxnId="{8F638F16-879E-45FF-B379-204F912402E9}">
      <dgm:prSet/>
      <dgm:spPr/>
      <dgm:t>
        <a:bodyPr/>
        <a:lstStyle/>
        <a:p>
          <a:endParaRPr lang="en-US"/>
        </a:p>
      </dgm:t>
    </dgm:pt>
    <dgm:pt modelId="{1F0C49E8-F771-4460-B4F1-C56004C8DFD8}" type="sibTrans" cxnId="{8F638F16-879E-45FF-B379-204F912402E9}">
      <dgm:prSet/>
      <dgm:spPr/>
      <dgm:t>
        <a:bodyPr/>
        <a:lstStyle/>
        <a:p>
          <a:endParaRPr lang="en-US"/>
        </a:p>
      </dgm:t>
    </dgm:pt>
    <dgm:pt modelId="{2819199B-3DBE-4C70-8A7E-76AC2C86F3FA}">
      <dgm:prSet/>
      <dgm:spPr/>
      <dgm:t>
        <a:bodyPr/>
        <a:lstStyle/>
        <a:p>
          <a:r>
            <a:rPr lang="en-US" b="1"/>
            <a:t>Equity in access</a:t>
          </a:r>
          <a:endParaRPr lang="en-US"/>
        </a:p>
      </dgm:t>
    </dgm:pt>
    <dgm:pt modelId="{5873D039-4666-4214-9C2C-E17CF74303A4}" type="parTrans" cxnId="{885942E8-EC79-4EB4-947E-1645B987B0E6}">
      <dgm:prSet/>
      <dgm:spPr/>
      <dgm:t>
        <a:bodyPr/>
        <a:lstStyle/>
        <a:p>
          <a:endParaRPr lang="en-US"/>
        </a:p>
      </dgm:t>
    </dgm:pt>
    <dgm:pt modelId="{A0E8BC09-B464-4A09-B4ED-948F2F203B4D}" type="sibTrans" cxnId="{885942E8-EC79-4EB4-947E-1645B987B0E6}">
      <dgm:prSet/>
      <dgm:spPr/>
      <dgm:t>
        <a:bodyPr/>
        <a:lstStyle/>
        <a:p>
          <a:endParaRPr lang="en-US"/>
        </a:p>
      </dgm:t>
    </dgm:pt>
    <dgm:pt modelId="{C61F8EE8-AC33-4957-9DDA-344D2B7AF21E}">
      <dgm:prSet/>
      <dgm:spPr/>
      <dgm:t>
        <a:bodyPr/>
        <a:lstStyle/>
        <a:p>
          <a:r>
            <a:rPr lang="en-US" b="1"/>
            <a:t>Intersectoral coordination</a:t>
          </a:r>
          <a:endParaRPr lang="en-US"/>
        </a:p>
      </dgm:t>
    </dgm:pt>
    <dgm:pt modelId="{3E0A76B5-80C8-462A-8D4A-EE791B13E49F}" type="parTrans" cxnId="{D6774D39-BFEE-46F7-A8C7-39BDBF58D8E9}">
      <dgm:prSet/>
      <dgm:spPr/>
      <dgm:t>
        <a:bodyPr/>
        <a:lstStyle/>
        <a:p>
          <a:endParaRPr lang="en-US"/>
        </a:p>
      </dgm:t>
    </dgm:pt>
    <dgm:pt modelId="{4B2F7483-2D28-4113-8636-824C3F49E5EB}" type="sibTrans" cxnId="{D6774D39-BFEE-46F7-A8C7-39BDBF58D8E9}">
      <dgm:prSet/>
      <dgm:spPr/>
      <dgm:t>
        <a:bodyPr/>
        <a:lstStyle/>
        <a:p>
          <a:endParaRPr lang="en-US"/>
        </a:p>
      </dgm:t>
    </dgm:pt>
    <dgm:pt modelId="{A5645515-B473-4E84-ACD0-4FBB7F448879}">
      <dgm:prSet/>
      <dgm:spPr/>
      <dgm:t>
        <a:bodyPr/>
        <a:lstStyle/>
        <a:p>
          <a:r>
            <a:rPr lang="en-US" b="1"/>
            <a:t>Community participation</a:t>
          </a:r>
          <a:endParaRPr lang="en-US"/>
        </a:p>
      </dgm:t>
    </dgm:pt>
    <dgm:pt modelId="{60F94A4D-F62F-4035-8BF5-23CEA0B1BD0A}" type="parTrans" cxnId="{0541F02C-4989-4757-BAB8-09EAE0B5B6E4}">
      <dgm:prSet/>
      <dgm:spPr/>
      <dgm:t>
        <a:bodyPr/>
        <a:lstStyle/>
        <a:p>
          <a:endParaRPr lang="en-US"/>
        </a:p>
      </dgm:t>
    </dgm:pt>
    <dgm:pt modelId="{DC6E1ED4-E415-433F-AA3D-B50FDC366378}" type="sibTrans" cxnId="{0541F02C-4989-4757-BAB8-09EAE0B5B6E4}">
      <dgm:prSet/>
      <dgm:spPr/>
      <dgm:t>
        <a:bodyPr/>
        <a:lstStyle/>
        <a:p>
          <a:endParaRPr lang="en-US"/>
        </a:p>
      </dgm:t>
    </dgm:pt>
    <dgm:pt modelId="{270BD7A2-29FD-4D6C-9FB8-DD93DE465496}" type="pres">
      <dgm:prSet presAssocID="{4C46031D-310A-49D6-B90C-C8ED7086173F}" presName="linear" presStyleCnt="0">
        <dgm:presLayoutVars>
          <dgm:dir/>
          <dgm:animLvl val="lvl"/>
          <dgm:resizeHandles val="exact"/>
        </dgm:presLayoutVars>
      </dgm:prSet>
      <dgm:spPr/>
    </dgm:pt>
    <dgm:pt modelId="{9487616A-D3A0-4176-8578-BF6B25E66D01}" type="pres">
      <dgm:prSet presAssocID="{30E10D3D-7DBF-48EE-8339-50B2CA7DB68D}" presName="parentLin" presStyleCnt="0"/>
      <dgm:spPr/>
    </dgm:pt>
    <dgm:pt modelId="{4402825E-4A78-4378-AA34-5C48FF017B94}" type="pres">
      <dgm:prSet presAssocID="{30E10D3D-7DBF-48EE-8339-50B2CA7DB68D}" presName="parentLeftMargin" presStyleLbl="node1" presStyleIdx="0" presStyleCnt="2"/>
      <dgm:spPr/>
    </dgm:pt>
    <dgm:pt modelId="{F43B57F1-DCF7-44D4-86AD-68E9AF79FB4F}" type="pres">
      <dgm:prSet presAssocID="{30E10D3D-7DBF-48EE-8339-50B2CA7DB68D}" presName="parentText" presStyleLbl="node1" presStyleIdx="0" presStyleCnt="2">
        <dgm:presLayoutVars>
          <dgm:chMax val="0"/>
          <dgm:bulletEnabled val="1"/>
        </dgm:presLayoutVars>
      </dgm:prSet>
      <dgm:spPr/>
    </dgm:pt>
    <dgm:pt modelId="{2B3710D8-FD3F-4953-B6BB-CBFEE31F9C32}" type="pres">
      <dgm:prSet presAssocID="{30E10D3D-7DBF-48EE-8339-50B2CA7DB68D}" presName="negativeSpace" presStyleCnt="0"/>
      <dgm:spPr/>
    </dgm:pt>
    <dgm:pt modelId="{7AA4BFC3-D088-482B-818A-AB4CB4427B8E}" type="pres">
      <dgm:prSet presAssocID="{30E10D3D-7DBF-48EE-8339-50B2CA7DB68D}" presName="childText" presStyleLbl="conFgAcc1" presStyleIdx="0" presStyleCnt="2">
        <dgm:presLayoutVars>
          <dgm:bulletEnabled val="1"/>
        </dgm:presLayoutVars>
      </dgm:prSet>
      <dgm:spPr/>
    </dgm:pt>
    <dgm:pt modelId="{2863C333-43C8-483D-9FC4-73792AE5E9EB}" type="pres">
      <dgm:prSet presAssocID="{B5EDD628-2775-4B2C-B9BD-CFACED50B3D3}" presName="spaceBetweenRectangles" presStyleCnt="0"/>
      <dgm:spPr/>
    </dgm:pt>
    <dgm:pt modelId="{FE23A3A3-E5E0-49EF-BB7B-280954D536D6}" type="pres">
      <dgm:prSet presAssocID="{AA1FF7E8-A99A-40AC-B064-FA10B220450E}" presName="parentLin" presStyleCnt="0"/>
      <dgm:spPr/>
    </dgm:pt>
    <dgm:pt modelId="{0FA03EC8-A4A0-43CE-9E61-EDED1FE195C8}" type="pres">
      <dgm:prSet presAssocID="{AA1FF7E8-A99A-40AC-B064-FA10B220450E}" presName="parentLeftMargin" presStyleLbl="node1" presStyleIdx="0" presStyleCnt="2"/>
      <dgm:spPr/>
    </dgm:pt>
    <dgm:pt modelId="{AAB9037B-6D0A-4035-A4CA-CFD0BFC53883}" type="pres">
      <dgm:prSet presAssocID="{AA1FF7E8-A99A-40AC-B064-FA10B220450E}" presName="parentText" presStyleLbl="node1" presStyleIdx="1" presStyleCnt="2">
        <dgm:presLayoutVars>
          <dgm:chMax val="0"/>
          <dgm:bulletEnabled val="1"/>
        </dgm:presLayoutVars>
      </dgm:prSet>
      <dgm:spPr/>
    </dgm:pt>
    <dgm:pt modelId="{6EA7992B-88B7-41CA-9A4E-DCABA2F462B3}" type="pres">
      <dgm:prSet presAssocID="{AA1FF7E8-A99A-40AC-B064-FA10B220450E}" presName="negativeSpace" presStyleCnt="0"/>
      <dgm:spPr/>
    </dgm:pt>
    <dgm:pt modelId="{001B6FE5-EA4B-46AB-9A7D-39694D1C47BD}" type="pres">
      <dgm:prSet presAssocID="{AA1FF7E8-A99A-40AC-B064-FA10B220450E}" presName="childText" presStyleLbl="conFgAcc1" presStyleIdx="1" presStyleCnt="2">
        <dgm:presLayoutVars>
          <dgm:bulletEnabled val="1"/>
        </dgm:presLayoutVars>
      </dgm:prSet>
      <dgm:spPr/>
    </dgm:pt>
  </dgm:ptLst>
  <dgm:cxnLst>
    <dgm:cxn modelId="{7DAED311-8038-40D5-BC19-5E8399A9774C}" srcId="{4C46031D-310A-49D6-B90C-C8ED7086173F}" destId="{30E10D3D-7DBF-48EE-8339-50B2CA7DB68D}" srcOrd="0" destOrd="0" parTransId="{83AA0F3E-91D6-4B60-90D1-1626E2DD1079}" sibTransId="{B5EDD628-2775-4B2C-B9BD-CFACED50B3D3}"/>
    <dgm:cxn modelId="{E8511B13-8D5A-4BD0-A54E-6739D4344D82}" srcId="{AA1FF7E8-A99A-40AC-B064-FA10B220450E}" destId="{D3DC7F68-62DE-46E2-93AC-4B174C7BEB1D}" srcOrd="1" destOrd="0" parTransId="{C167EAC9-A9E3-40F4-A275-10E14480FF34}" sibTransId="{965151B8-1870-4070-9FA8-455DBBC52524}"/>
    <dgm:cxn modelId="{8F638F16-879E-45FF-B379-204F912402E9}" srcId="{AA1FF7E8-A99A-40AC-B064-FA10B220450E}" destId="{6EE225EF-C139-4C4C-99C4-8362F50CA4AD}" srcOrd="2" destOrd="0" parTransId="{754CE459-C541-45EF-B977-E0C10ADB3958}" sibTransId="{1F0C49E8-F771-4460-B4F1-C56004C8DFD8}"/>
    <dgm:cxn modelId="{7AF36A24-849A-43A4-8DEC-5DA5FD920816}" type="presOf" srcId="{6EE225EF-C139-4C4C-99C4-8362F50CA4AD}" destId="{001B6FE5-EA4B-46AB-9A7D-39694D1C47BD}" srcOrd="0" destOrd="2" presId="urn:microsoft.com/office/officeart/2005/8/layout/list1"/>
    <dgm:cxn modelId="{F334152C-D4DB-4F20-B92D-8F245EF36D6C}" type="presOf" srcId="{2A0F2011-8215-4C92-98D2-875488B64EFC}" destId="{7AA4BFC3-D088-482B-818A-AB4CB4427B8E}" srcOrd="0" destOrd="0" presId="urn:microsoft.com/office/officeart/2005/8/layout/list1"/>
    <dgm:cxn modelId="{0541F02C-4989-4757-BAB8-09EAE0B5B6E4}" srcId="{6EE225EF-C139-4C4C-99C4-8362F50CA4AD}" destId="{A5645515-B473-4E84-ACD0-4FBB7F448879}" srcOrd="2" destOrd="0" parTransId="{60F94A4D-F62F-4035-8BF5-23CEA0B1BD0A}" sibTransId="{DC6E1ED4-E415-433F-AA3D-B50FDC366378}"/>
    <dgm:cxn modelId="{F9A2E22F-4A7E-41C6-8791-2DF7F1BC011B}" type="presOf" srcId="{2819199B-3DBE-4C70-8A7E-76AC2C86F3FA}" destId="{001B6FE5-EA4B-46AB-9A7D-39694D1C47BD}" srcOrd="0" destOrd="3" presId="urn:microsoft.com/office/officeart/2005/8/layout/list1"/>
    <dgm:cxn modelId="{04583230-B2F1-4EED-AC36-E105FDC5446C}" type="presOf" srcId="{A5645515-B473-4E84-ACD0-4FBB7F448879}" destId="{001B6FE5-EA4B-46AB-9A7D-39694D1C47BD}" srcOrd="0" destOrd="5" presId="urn:microsoft.com/office/officeart/2005/8/layout/list1"/>
    <dgm:cxn modelId="{1341B633-1636-4F7D-AEDD-8777996E4982}" srcId="{30E10D3D-7DBF-48EE-8339-50B2CA7DB68D}" destId="{D6913828-D91C-4A06-9C96-2C00046BCEE5}" srcOrd="1" destOrd="0" parTransId="{0B279390-1F46-45D4-BFE8-D3CF5F7C008B}" sibTransId="{822BD77B-399D-4955-8DFB-D1E1ED35B785}"/>
    <dgm:cxn modelId="{D6774D39-BFEE-46F7-A8C7-39BDBF58D8E9}" srcId="{6EE225EF-C139-4C4C-99C4-8362F50CA4AD}" destId="{C61F8EE8-AC33-4957-9DDA-344D2B7AF21E}" srcOrd="1" destOrd="0" parTransId="{3E0A76B5-80C8-462A-8D4A-EE791B13E49F}" sibTransId="{4B2F7483-2D28-4113-8636-824C3F49E5EB}"/>
    <dgm:cxn modelId="{1E825D5D-FB5C-4952-AE2E-A1FFC22C6A25}" srcId="{AA1FF7E8-A99A-40AC-B064-FA10B220450E}" destId="{B3D1C820-B37D-4777-9EF7-6BA76C208F91}" srcOrd="0" destOrd="0" parTransId="{9F0A650A-D5A4-4605-8904-5FB63AAE8661}" sibTransId="{76F75AFA-C692-482D-B38F-38A1E3FFBD9D}"/>
    <dgm:cxn modelId="{B71D0269-7D18-417B-BEC7-B7C2DB45EDFA}" type="presOf" srcId="{30E10D3D-7DBF-48EE-8339-50B2CA7DB68D}" destId="{4402825E-4A78-4378-AA34-5C48FF017B94}" srcOrd="0" destOrd="0" presId="urn:microsoft.com/office/officeart/2005/8/layout/list1"/>
    <dgm:cxn modelId="{E22A716F-A594-440B-BCCB-5A4F6B2EB4B7}" srcId="{30E10D3D-7DBF-48EE-8339-50B2CA7DB68D}" destId="{2A0F2011-8215-4C92-98D2-875488B64EFC}" srcOrd="0" destOrd="0" parTransId="{926C2C6C-306D-4944-ABD2-D53C69A9FA7B}" sibTransId="{E94B1E3A-713E-4C3C-9E52-040D43ADD1CC}"/>
    <dgm:cxn modelId="{76579F50-EA22-4E92-A247-10E0F2AB3C28}" type="presOf" srcId="{D6913828-D91C-4A06-9C96-2C00046BCEE5}" destId="{7AA4BFC3-D088-482B-818A-AB4CB4427B8E}" srcOrd="0" destOrd="1" presId="urn:microsoft.com/office/officeart/2005/8/layout/list1"/>
    <dgm:cxn modelId="{5CB43671-1E78-4358-9E0D-A9C7ED7BA2A6}" type="presOf" srcId="{30E10D3D-7DBF-48EE-8339-50B2CA7DB68D}" destId="{F43B57F1-DCF7-44D4-86AD-68E9AF79FB4F}" srcOrd="1" destOrd="0" presId="urn:microsoft.com/office/officeart/2005/8/layout/list1"/>
    <dgm:cxn modelId="{8A89A577-9685-48A5-90CC-F6CBE832E376}" type="presOf" srcId="{AA1FF7E8-A99A-40AC-B064-FA10B220450E}" destId="{0FA03EC8-A4A0-43CE-9E61-EDED1FE195C8}" srcOrd="0" destOrd="0" presId="urn:microsoft.com/office/officeart/2005/8/layout/list1"/>
    <dgm:cxn modelId="{B5FF5585-97B4-4304-B2BF-A97C74D380A3}" srcId="{4C46031D-310A-49D6-B90C-C8ED7086173F}" destId="{AA1FF7E8-A99A-40AC-B064-FA10B220450E}" srcOrd="1" destOrd="0" parTransId="{3809DC45-6E74-4DB6-BED4-6339C02CA1B2}" sibTransId="{9770C9AC-6BEA-4F42-9716-3F28149D4824}"/>
    <dgm:cxn modelId="{755BCFA3-B490-472F-B632-353D3538F403}" type="presOf" srcId="{D3DC7F68-62DE-46E2-93AC-4B174C7BEB1D}" destId="{001B6FE5-EA4B-46AB-9A7D-39694D1C47BD}" srcOrd="0" destOrd="1" presId="urn:microsoft.com/office/officeart/2005/8/layout/list1"/>
    <dgm:cxn modelId="{F48EB5AA-E46F-449A-B407-DD5296B34B14}" type="presOf" srcId="{AA1FF7E8-A99A-40AC-B064-FA10B220450E}" destId="{AAB9037B-6D0A-4035-A4CA-CFD0BFC53883}" srcOrd="1" destOrd="0" presId="urn:microsoft.com/office/officeart/2005/8/layout/list1"/>
    <dgm:cxn modelId="{62AF5AAD-6B59-4B6E-BBCA-C85F79675643}" type="presOf" srcId="{4C46031D-310A-49D6-B90C-C8ED7086173F}" destId="{270BD7A2-29FD-4D6C-9FB8-DD93DE465496}" srcOrd="0" destOrd="0" presId="urn:microsoft.com/office/officeart/2005/8/layout/list1"/>
    <dgm:cxn modelId="{00642BC7-6BFB-4006-8C88-C0018D824F44}" type="presOf" srcId="{B3D1C820-B37D-4777-9EF7-6BA76C208F91}" destId="{001B6FE5-EA4B-46AB-9A7D-39694D1C47BD}" srcOrd="0" destOrd="0" presId="urn:microsoft.com/office/officeart/2005/8/layout/list1"/>
    <dgm:cxn modelId="{0A9FC5D4-E2C9-48BD-B767-75341EB72403}" type="presOf" srcId="{C61F8EE8-AC33-4957-9DDA-344D2B7AF21E}" destId="{001B6FE5-EA4B-46AB-9A7D-39694D1C47BD}" srcOrd="0" destOrd="4" presId="urn:microsoft.com/office/officeart/2005/8/layout/list1"/>
    <dgm:cxn modelId="{885942E8-EC79-4EB4-947E-1645B987B0E6}" srcId="{6EE225EF-C139-4C4C-99C4-8362F50CA4AD}" destId="{2819199B-3DBE-4C70-8A7E-76AC2C86F3FA}" srcOrd="0" destOrd="0" parTransId="{5873D039-4666-4214-9C2C-E17CF74303A4}" sibTransId="{A0E8BC09-B464-4A09-B4ED-948F2F203B4D}"/>
    <dgm:cxn modelId="{443308E7-9E70-4669-8B54-27295E7678CB}" type="presParOf" srcId="{270BD7A2-29FD-4D6C-9FB8-DD93DE465496}" destId="{9487616A-D3A0-4176-8578-BF6B25E66D01}" srcOrd="0" destOrd="0" presId="urn:microsoft.com/office/officeart/2005/8/layout/list1"/>
    <dgm:cxn modelId="{0F849417-19D1-4424-911F-B07B7022F86C}" type="presParOf" srcId="{9487616A-D3A0-4176-8578-BF6B25E66D01}" destId="{4402825E-4A78-4378-AA34-5C48FF017B94}" srcOrd="0" destOrd="0" presId="urn:microsoft.com/office/officeart/2005/8/layout/list1"/>
    <dgm:cxn modelId="{B75D244A-6414-41BE-B743-15FA06A427D9}" type="presParOf" srcId="{9487616A-D3A0-4176-8578-BF6B25E66D01}" destId="{F43B57F1-DCF7-44D4-86AD-68E9AF79FB4F}" srcOrd="1" destOrd="0" presId="urn:microsoft.com/office/officeart/2005/8/layout/list1"/>
    <dgm:cxn modelId="{EBA224A1-6043-4D1A-9D9B-1B387F8D38FD}" type="presParOf" srcId="{270BD7A2-29FD-4D6C-9FB8-DD93DE465496}" destId="{2B3710D8-FD3F-4953-B6BB-CBFEE31F9C32}" srcOrd="1" destOrd="0" presId="urn:microsoft.com/office/officeart/2005/8/layout/list1"/>
    <dgm:cxn modelId="{04F3549C-7AFE-4F8E-A8EE-F085C97A6FF1}" type="presParOf" srcId="{270BD7A2-29FD-4D6C-9FB8-DD93DE465496}" destId="{7AA4BFC3-D088-482B-818A-AB4CB4427B8E}" srcOrd="2" destOrd="0" presId="urn:microsoft.com/office/officeart/2005/8/layout/list1"/>
    <dgm:cxn modelId="{7A4B5FB8-2ED3-4D89-8AA4-165568F1DFCF}" type="presParOf" srcId="{270BD7A2-29FD-4D6C-9FB8-DD93DE465496}" destId="{2863C333-43C8-483D-9FC4-73792AE5E9EB}" srcOrd="3" destOrd="0" presId="urn:microsoft.com/office/officeart/2005/8/layout/list1"/>
    <dgm:cxn modelId="{A09141D7-F24F-4EDF-B4F3-F2FD5C7AA640}" type="presParOf" srcId="{270BD7A2-29FD-4D6C-9FB8-DD93DE465496}" destId="{FE23A3A3-E5E0-49EF-BB7B-280954D536D6}" srcOrd="4" destOrd="0" presId="urn:microsoft.com/office/officeart/2005/8/layout/list1"/>
    <dgm:cxn modelId="{86012EA6-EEFF-48AB-AFAF-FFACE9AF2D7F}" type="presParOf" srcId="{FE23A3A3-E5E0-49EF-BB7B-280954D536D6}" destId="{0FA03EC8-A4A0-43CE-9E61-EDED1FE195C8}" srcOrd="0" destOrd="0" presId="urn:microsoft.com/office/officeart/2005/8/layout/list1"/>
    <dgm:cxn modelId="{7650F97F-A7D9-4365-9727-3B7A92936483}" type="presParOf" srcId="{FE23A3A3-E5E0-49EF-BB7B-280954D536D6}" destId="{AAB9037B-6D0A-4035-A4CA-CFD0BFC53883}" srcOrd="1" destOrd="0" presId="urn:microsoft.com/office/officeart/2005/8/layout/list1"/>
    <dgm:cxn modelId="{9BFCF144-90A0-445E-A4E7-8CE3D479D289}" type="presParOf" srcId="{270BD7A2-29FD-4D6C-9FB8-DD93DE465496}" destId="{6EA7992B-88B7-41CA-9A4E-DCABA2F462B3}" srcOrd="5" destOrd="0" presId="urn:microsoft.com/office/officeart/2005/8/layout/list1"/>
    <dgm:cxn modelId="{E924884D-7660-44FD-9041-D453B05C88F9}" type="presParOf" srcId="{270BD7A2-29FD-4D6C-9FB8-DD93DE465496}" destId="{001B6FE5-EA4B-46AB-9A7D-39694D1C47BD}"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6932863-ACBC-4A9D-A65A-F1524E719FF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2ECEE2F-8CD8-4150-9755-40C20AD8CEAB}">
      <dgm:prSet/>
      <dgm:spPr/>
      <dgm:t>
        <a:bodyPr/>
        <a:lstStyle/>
        <a:p>
          <a:r>
            <a:rPr lang="en-US" b="1"/>
            <a:t>Scale &amp; Impact</a:t>
          </a:r>
          <a:endParaRPr lang="en-US"/>
        </a:p>
      </dgm:t>
    </dgm:pt>
    <dgm:pt modelId="{45411602-7B51-42B0-8927-C282F0F15395}" type="parTrans" cxnId="{1BCB4789-3D72-42C0-9F29-D6CCA479F2FE}">
      <dgm:prSet/>
      <dgm:spPr/>
      <dgm:t>
        <a:bodyPr/>
        <a:lstStyle/>
        <a:p>
          <a:endParaRPr lang="en-US"/>
        </a:p>
      </dgm:t>
    </dgm:pt>
    <dgm:pt modelId="{79DEF006-40CD-4C33-A71A-6A9CBB8D8988}" type="sibTrans" cxnId="{1BCB4789-3D72-42C0-9F29-D6CCA479F2FE}">
      <dgm:prSet/>
      <dgm:spPr/>
      <dgm:t>
        <a:bodyPr/>
        <a:lstStyle/>
        <a:p>
          <a:endParaRPr lang="en-US"/>
        </a:p>
      </dgm:t>
    </dgm:pt>
    <dgm:pt modelId="{C6C73887-EC54-4102-B4C4-2C17FCF7D767}">
      <dgm:prSet/>
      <dgm:spPr/>
      <dgm:t>
        <a:bodyPr/>
        <a:lstStyle/>
        <a:p>
          <a:r>
            <a:rPr lang="en-US"/>
            <a:t>India’s population surpassed </a:t>
          </a:r>
          <a:r>
            <a:rPr lang="en-US" b="1"/>
            <a:t>1 billion by 2000</a:t>
          </a:r>
          <a:r>
            <a:rPr lang="en-US"/>
            <a:t>, contributing to significant strain on resources.</a:t>
          </a:r>
        </a:p>
      </dgm:t>
    </dgm:pt>
    <dgm:pt modelId="{A9A69632-A303-4A22-9B67-A117F1DA7006}" type="parTrans" cxnId="{59AE5BAB-8555-44E1-8305-AEAFD42EF88F}">
      <dgm:prSet/>
      <dgm:spPr/>
      <dgm:t>
        <a:bodyPr/>
        <a:lstStyle/>
        <a:p>
          <a:endParaRPr lang="en-US"/>
        </a:p>
      </dgm:t>
    </dgm:pt>
    <dgm:pt modelId="{0F819B11-D2E4-4C47-86C3-AA907AB357A0}" type="sibTrans" cxnId="{59AE5BAB-8555-44E1-8305-AEAFD42EF88F}">
      <dgm:prSet/>
      <dgm:spPr/>
      <dgm:t>
        <a:bodyPr/>
        <a:lstStyle/>
        <a:p>
          <a:endParaRPr lang="en-US"/>
        </a:p>
      </dgm:t>
    </dgm:pt>
    <dgm:pt modelId="{A45DAC3B-EBCF-495A-B658-FE17748F1DC5}">
      <dgm:prSet/>
      <dgm:spPr/>
      <dgm:t>
        <a:bodyPr/>
        <a:lstStyle/>
        <a:p>
          <a:r>
            <a:rPr lang="en-US" dirty="0"/>
            <a:t>Rapid growth affects:</a:t>
          </a:r>
        </a:p>
      </dgm:t>
    </dgm:pt>
    <dgm:pt modelId="{3D4E7C1C-9EB2-40F9-8CEC-0F15B9038957}" type="parTrans" cxnId="{F992D971-7DEB-4A71-A94B-9F1C365FDA67}">
      <dgm:prSet/>
      <dgm:spPr/>
      <dgm:t>
        <a:bodyPr/>
        <a:lstStyle/>
        <a:p>
          <a:endParaRPr lang="en-US"/>
        </a:p>
      </dgm:t>
    </dgm:pt>
    <dgm:pt modelId="{156E2274-CC9A-4FDD-A501-A2F5E5C09BEC}" type="sibTrans" cxnId="{F992D971-7DEB-4A71-A94B-9F1C365FDA67}">
      <dgm:prSet/>
      <dgm:spPr/>
      <dgm:t>
        <a:bodyPr/>
        <a:lstStyle/>
        <a:p>
          <a:endParaRPr lang="en-US"/>
        </a:p>
      </dgm:t>
    </dgm:pt>
    <dgm:pt modelId="{BE2C617E-E4C7-4A7E-9C42-3C9F8C03F0CF}">
      <dgm:prSet/>
      <dgm:spPr/>
      <dgm:t>
        <a:bodyPr/>
        <a:lstStyle/>
        <a:p>
          <a:r>
            <a:rPr lang="en-US" b="1" dirty="0"/>
            <a:t>Employment</a:t>
          </a:r>
          <a:r>
            <a:rPr lang="en-US" dirty="0"/>
            <a:t>, </a:t>
          </a:r>
          <a:r>
            <a:rPr lang="en-US" b="1" dirty="0"/>
            <a:t>education</a:t>
          </a:r>
          <a:r>
            <a:rPr lang="en-US" dirty="0"/>
            <a:t>, </a:t>
          </a:r>
          <a:r>
            <a:rPr lang="en-US" b="1" dirty="0"/>
            <a:t>housing</a:t>
          </a:r>
          <a:r>
            <a:rPr lang="en-US" dirty="0"/>
            <a:t>, </a:t>
          </a:r>
          <a:r>
            <a:rPr lang="en-US" b="1" dirty="0"/>
            <a:t>healthcare</a:t>
          </a:r>
          <a:r>
            <a:rPr lang="en-US" dirty="0"/>
            <a:t>, and </a:t>
          </a:r>
          <a:r>
            <a:rPr lang="en-US" b="1" dirty="0"/>
            <a:t>sanitation</a:t>
          </a:r>
          <a:r>
            <a:rPr lang="en-US" dirty="0"/>
            <a:t>.</a:t>
          </a:r>
        </a:p>
      </dgm:t>
    </dgm:pt>
    <dgm:pt modelId="{2834E103-55C9-4509-9644-361893511F36}" type="parTrans" cxnId="{E462FC6C-EE28-44F0-BA79-C562B6EA710C}">
      <dgm:prSet/>
      <dgm:spPr/>
      <dgm:t>
        <a:bodyPr/>
        <a:lstStyle/>
        <a:p>
          <a:endParaRPr lang="en-US"/>
        </a:p>
      </dgm:t>
    </dgm:pt>
    <dgm:pt modelId="{D6FC1B8C-289A-46D3-B466-5A9734F4EA54}" type="sibTrans" cxnId="{E462FC6C-EE28-44F0-BA79-C562B6EA710C}">
      <dgm:prSet/>
      <dgm:spPr/>
      <dgm:t>
        <a:bodyPr/>
        <a:lstStyle/>
        <a:p>
          <a:endParaRPr lang="en-US"/>
        </a:p>
      </dgm:t>
    </dgm:pt>
    <dgm:pt modelId="{C4C67124-8801-4E6B-A083-D83BC31AA59D}">
      <dgm:prSet/>
      <dgm:spPr/>
      <dgm:t>
        <a:bodyPr/>
        <a:lstStyle/>
        <a:p>
          <a:r>
            <a:rPr lang="en-US" dirty="0"/>
            <a:t>Puts pressure on the </a:t>
          </a:r>
          <a:r>
            <a:rPr lang="en-US" b="1" dirty="0"/>
            <a:t>environment</a:t>
          </a:r>
          <a:r>
            <a:rPr lang="en-US" dirty="0"/>
            <a:t> and slows socio-economic development.</a:t>
          </a:r>
        </a:p>
      </dgm:t>
    </dgm:pt>
    <dgm:pt modelId="{5DA66CDC-124C-4A42-BFCA-84128527EC11}" type="parTrans" cxnId="{CAAF5142-292C-4BE2-BD6F-F7949BCD646F}">
      <dgm:prSet/>
      <dgm:spPr/>
      <dgm:t>
        <a:bodyPr/>
        <a:lstStyle/>
        <a:p>
          <a:endParaRPr lang="en-US"/>
        </a:p>
      </dgm:t>
    </dgm:pt>
    <dgm:pt modelId="{AFEF01F4-6AFF-4A86-9D3C-6637129CEDED}" type="sibTrans" cxnId="{CAAF5142-292C-4BE2-BD6F-F7949BCD646F}">
      <dgm:prSet/>
      <dgm:spPr/>
      <dgm:t>
        <a:bodyPr/>
        <a:lstStyle/>
        <a:p>
          <a:endParaRPr lang="en-US"/>
        </a:p>
      </dgm:t>
    </dgm:pt>
    <dgm:pt modelId="{66148978-94AD-4D32-BE82-F3A0B6D572EE}">
      <dgm:prSet/>
      <dgm:spPr/>
      <dgm:t>
        <a:bodyPr/>
        <a:lstStyle/>
        <a:p>
          <a:r>
            <a:rPr lang="en-US"/>
            <a:t>Reflects the </a:t>
          </a:r>
          <a:r>
            <a:rPr lang="en-US" b="1"/>
            <a:t>law of diminishing returns</a:t>
          </a:r>
          <a:r>
            <a:rPr lang="en-US"/>
            <a:t>: higher population dilutes development gains.</a:t>
          </a:r>
        </a:p>
      </dgm:t>
    </dgm:pt>
    <dgm:pt modelId="{41B8BA00-A4B8-4393-B4DE-99DE902E0F4C}" type="parTrans" cxnId="{BD96BCD0-156D-4992-A16C-3E6C9095D9E0}">
      <dgm:prSet/>
      <dgm:spPr/>
      <dgm:t>
        <a:bodyPr/>
        <a:lstStyle/>
        <a:p>
          <a:endParaRPr lang="en-US"/>
        </a:p>
      </dgm:t>
    </dgm:pt>
    <dgm:pt modelId="{E1CB81AE-9771-4239-81CB-F71A80811095}" type="sibTrans" cxnId="{BD96BCD0-156D-4992-A16C-3E6C9095D9E0}">
      <dgm:prSet/>
      <dgm:spPr/>
      <dgm:t>
        <a:bodyPr/>
        <a:lstStyle/>
        <a:p>
          <a:endParaRPr lang="en-US"/>
        </a:p>
      </dgm:t>
    </dgm:pt>
    <dgm:pt modelId="{80840796-5A85-46A0-8767-28473BF5F55C}" type="pres">
      <dgm:prSet presAssocID="{C6932863-ACBC-4A9D-A65A-F1524E719FF5}" presName="root" presStyleCnt="0">
        <dgm:presLayoutVars>
          <dgm:dir/>
          <dgm:resizeHandles val="exact"/>
        </dgm:presLayoutVars>
      </dgm:prSet>
      <dgm:spPr/>
    </dgm:pt>
    <dgm:pt modelId="{2EB17F7A-C2E1-488C-A49D-7958DFD0131D}" type="pres">
      <dgm:prSet presAssocID="{B2ECEE2F-8CD8-4150-9755-40C20AD8CEAB}" presName="compNode" presStyleCnt="0"/>
      <dgm:spPr/>
    </dgm:pt>
    <dgm:pt modelId="{647230B2-D9E0-4A04-B08E-A14316B6B327}" type="pres">
      <dgm:prSet presAssocID="{B2ECEE2F-8CD8-4150-9755-40C20AD8CEAB}" presName="bgRect" presStyleLbl="bgShp" presStyleIdx="0" presStyleCnt="4"/>
      <dgm:spPr/>
    </dgm:pt>
    <dgm:pt modelId="{FD3E00ED-086B-463B-9849-4D7B7417D946}" type="pres">
      <dgm:prSet presAssocID="{B2ECEE2F-8CD8-4150-9755-40C20AD8CEA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
        </a:ext>
      </dgm:extLst>
    </dgm:pt>
    <dgm:pt modelId="{57E12296-C48C-4928-AB44-B9E7DD6AEAAB}" type="pres">
      <dgm:prSet presAssocID="{B2ECEE2F-8CD8-4150-9755-40C20AD8CEAB}" presName="spaceRect" presStyleCnt="0"/>
      <dgm:spPr/>
    </dgm:pt>
    <dgm:pt modelId="{93A7DB1C-B8B3-4D00-A2DC-D1C28059D7FC}" type="pres">
      <dgm:prSet presAssocID="{B2ECEE2F-8CD8-4150-9755-40C20AD8CEAB}" presName="parTx" presStyleLbl="revTx" presStyleIdx="0" presStyleCnt="5">
        <dgm:presLayoutVars>
          <dgm:chMax val="0"/>
          <dgm:chPref val="0"/>
        </dgm:presLayoutVars>
      </dgm:prSet>
      <dgm:spPr/>
    </dgm:pt>
    <dgm:pt modelId="{27DC8A74-0D66-4ECD-B37A-FD754A0C4F46}" type="pres">
      <dgm:prSet presAssocID="{79DEF006-40CD-4C33-A71A-6A9CBB8D8988}" presName="sibTrans" presStyleCnt="0"/>
      <dgm:spPr/>
    </dgm:pt>
    <dgm:pt modelId="{1B3ADB41-E976-4903-91DD-2E644FD5CCE8}" type="pres">
      <dgm:prSet presAssocID="{C6C73887-EC54-4102-B4C4-2C17FCF7D767}" presName="compNode" presStyleCnt="0"/>
      <dgm:spPr/>
    </dgm:pt>
    <dgm:pt modelId="{3A05CACF-82DD-437A-9F60-585D27801856}" type="pres">
      <dgm:prSet presAssocID="{C6C73887-EC54-4102-B4C4-2C17FCF7D767}" presName="bgRect" presStyleLbl="bgShp" presStyleIdx="1" presStyleCnt="4"/>
      <dgm:spPr/>
    </dgm:pt>
    <dgm:pt modelId="{ECDBDFD7-A65C-4631-BF14-056D3133DDD0}" type="pres">
      <dgm:prSet presAssocID="{C6C73887-EC54-4102-B4C4-2C17FCF7D76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siness Growth"/>
        </a:ext>
      </dgm:extLst>
    </dgm:pt>
    <dgm:pt modelId="{D7C35A49-D8E7-4404-A7AD-2F085F6F8468}" type="pres">
      <dgm:prSet presAssocID="{C6C73887-EC54-4102-B4C4-2C17FCF7D767}" presName="spaceRect" presStyleCnt="0"/>
      <dgm:spPr/>
    </dgm:pt>
    <dgm:pt modelId="{3777BFC6-E19C-4C00-9368-BE30CDF61A30}" type="pres">
      <dgm:prSet presAssocID="{C6C73887-EC54-4102-B4C4-2C17FCF7D767}" presName="parTx" presStyleLbl="revTx" presStyleIdx="1" presStyleCnt="5">
        <dgm:presLayoutVars>
          <dgm:chMax val="0"/>
          <dgm:chPref val="0"/>
        </dgm:presLayoutVars>
      </dgm:prSet>
      <dgm:spPr/>
    </dgm:pt>
    <dgm:pt modelId="{0D1B2F41-D59D-4829-A9B8-EA6D47A6B782}" type="pres">
      <dgm:prSet presAssocID="{0F819B11-D2E4-4C47-86C3-AA907AB357A0}" presName="sibTrans" presStyleCnt="0"/>
      <dgm:spPr/>
    </dgm:pt>
    <dgm:pt modelId="{5A77D517-60AB-4B2C-968A-20D0FEFEF855}" type="pres">
      <dgm:prSet presAssocID="{A45DAC3B-EBCF-495A-B658-FE17748F1DC5}" presName="compNode" presStyleCnt="0"/>
      <dgm:spPr/>
    </dgm:pt>
    <dgm:pt modelId="{CE70B0BD-C987-455A-BEEE-1BFAEA279404}" type="pres">
      <dgm:prSet presAssocID="{A45DAC3B-EBCF-495A-B658-FE17748F1DC5}" presName="bgRect" presStyleLbl="bgShp" presStyleIdx="2" presStyleCnt="4"/>
      <dgm:spPr/>
    </dgm:pt>
    <dgm:pt modelId="{5CC81AC1-C966-4A64-87DD-DC18177C4F96}" type="pres">
      <dgm:prSet presAssocID="{A45DAC3B-EBCF-495A-B658-FE17748F1DC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ffice Worker"/>
        </a:ext>
      </dgm:extLst>
    </dgm:pt>
    <dgm:pt modelId="{1863B7D5-101B-42A6-B804-94B2A4F46134}" type="pres">
      <dgm:prSet presAssocID="{A45DAC3B-EBCF-495A-B658-FE17748F1DC5}" presName="spaceRect" presStyleCnt="0"/>
      <dgm:spPr/>
    </dgm:pt>
    <dgm:pt modelId="{1F688301-19BC-4D33-AF9C-575CCA0FD3CD}" type="pres">
      <dgm:prSet presAssocID="{A45DAC3B-EBCF-495A-B658-FE17748F1DC5}" presName="parTx" presStyleLbl="revTx" presStyleIdx="2" presStyleCnt="5">
        <dgm:presLayoutVars>
          <dgm:chMax val="0"/>
          <dgm:chPref val="0"/>
        </dgm:presLayoutVars>
      </dgm:prSet>
      <dgm:spPr/>
    </dgm:pt>
    <dgm:pt modelId="{FAA6AAF2-A71D-4D6A-A656-095F004A9663}" type="pres">
      <dgm:prSet presAssocID="{A45DAC3B-EBCF-495A-B658-FE17748F1DC5}" presName="desTx" presStyleLbl="revTx" presStyleIdx="3" presStyleCnt="5" custScaleX="157716">
        <dgm:presLayoutVars/>
      </dgm:prSet>
      <dgm:spPr/>
    </dgm:pt>
    <dgm:pt modelId="{E98A9F6A-F657-4790-930E-A2FB7C20EC50}" type="pres">
      <dgm:prSet presAssocID="{156E2274-CC9A-4FDD-A501-A2F5E5C09BEC}" presName="sibTrans" presStyleCnt="0"/>
      <dgm:spPr/>
    </dgm:pt>
    <dgm:pt modelId="{862E68CC-D664-41C4-8915-88CB4A885A4E}" type="pres">
      <dgm:prSet presAssocID="{66148978-94AD-4D32-BE82-F3A0B6D572EE}" presName="compNode" presStyleCnt="0"/>
      <dgm:spPr/>
    </dgm:pt>
    <dgm:pt modelId="{0A996E61-CE64-4EB7-A78D-7DD683AEC1EF}" type="pres">
      <dgm:prSet presAssocID="{66148978-94AD-4D32-BE82-F3A0B6D572EE}" presName="bgRect" presStyleLbl="bgShp" presStyleIdx="3" presStyleCnt="4"/>
      <dgm:spPr/>
    </dgm:pt>
    <dgm:pt modelId="{971BDBD8-77FB-4C62-B536-A76C041E2B77}" type="pres">
      <dgm:prSet presAssocID="{66148978-94AD-4D32-BE82-F3A0B6D572E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Graph with Upward Trend"/>
        </a:ext>
      </dgm:extLst>
    </dgm:pt>
    <dgm:pt modelId="{B17D82EE-73AD-4D2A-A1BB-7499582AD2B9}" type="pres">
      <dgm:prSet presAssocID="{66148978-94AD-4D32-BE82-F3A0B6D572EE}" presName="spaceRect" presStyleCnt="0"/>
      <dgm:spPr/>
    </dgm:pt>
    <dgm:pt modelId="{6A02EBB9-76C4-4D08-BF1E-0C2363AA0EE4}" type="pres">
      <dgm:prSet presAssocID="{66148978-94AD-4D32-BE82-F3A0B6D572EE}" presName="parTx" presStyleLbl="revTx" presStyleIdx="4" presStyleCnt="5">
        <dgm:presLayoutVars>
          <dgm:chMax val="0"/>
          <dgm:chPref val="0"/>
        </dgm:presLayoutVars>
      </dgm:prSet>
      <dgm:spPr/>
    </dgm:pt>
  </dgm:ptLst>
  <dgm:cxnLst>
    <dgm:cxn modelId="{251B280F-1DD7-4AEF-891C-FAD8B56C6033}" type="presOf" srcId="{C6C73887-EC54-4102-B4C4-2C17FCF7D767}" destId="{3777BFC6-E19C-4C00-9368-BE30CDF61A30}" srcOrd="0" destOrd="0" presId="urn:microsoft.com/office/officeart/2018/2/layout/IconVerticalSolidList"/>
    <dgm:cxn modelId="{5C38F930-71B9-4004-8125-FAD3B55D5B45}" type="presOf" srcId="{B2ECEE2F-8CD8-4150-9755-40C20AD8CEAB}" destId="{93A7DB1C-B8B3-4D00-A2DC-D1C28059D7FC}" srcOrd="0" destOrd="0" presId="urn:microsoft.com/office/officeart/2018/2/layout/IconVerticalSolidList"/>
    <dgm:cxn modelId="{546F265D-6726-40D5-AA28-F6A560BE5ED4}" type="presOf" srcId="{C4C67124-8801-4E6B-A083-D83BC31AA59D}" destId="{FAA6AAF2-A71D-4D6A-A656-095F004A9663}" srcOrd="0" destOrd="1" presId="urn:microsoft.com/office/officeart/2018/2/layout/IconVerticalSolidList"/>
    <dgm:cxn modelId="{EC020A61-D1A0-4843-9C32-B68C8CD5F4B0}" type="presOf" srcId="{C6932863-ACBC-4A9D-A65A-F1524E719FF5}" destId="{80840796-5A85-46A0-8767-28473BF5F55C}" srcOrd="0" destOrd="0" presId="urn:microsoft.com/office/officeart/2018/2/layout/IconVerticalSolidList"/>
    <dgm:cxn modelId="{CAAF5142-292C-4BE2-BD6F-F7949BCD646F}" srcId="{A45DAC3B-EBCF-495A-B658-FE17748F1DC5}" destId="{C4C67124-8801-4E6B-A083-D83BC31AA59D}" srcOrd="1" destOrd="0" parTransId="{5DA66CDC-124C-4A42-BFCA-84128527EC11}" sibTransId="{AFEF01F4-6AFF-4A86-9D3C-6637129CEDED}"/>
    <dgm:cxn modelId="{7BF41A67-71BD-44E5-8165-77EF123A4569}" type="presOf" srcId="{BE2C617E-E4C7-4A7E-9C42-3C9F8C03F0CF}" destId="{FAA6AAF2-A71D-4D6A-A656-095F004A9663}" srcOrd="0" destOrd="0" presId="urn:microsoft.com/office/officeart/2018/2/layout/IconVerticalSolidList"/>
    <dgm:cxn modelId="{E462FC6C-EE28-44F0-BA79-C562B6EA710C}" srcId="{A45DAC3B-EBCF-495A-B658-FE17748F1DC5}" destId="{BE2C617E-E4C7-4A7E-9C42-3C9F8C03F0CF}" srcOrd="0" destOrd="0" parTransId="{2834E103-55C9-4509-9644-361893511F36}" sibTransId="{D6FC1B8C-289A-46D3-B466-5A9734F4EA54}"/>
    <dgm:cxn modelId="{F992D971-7DEB-4A71-A94B-9F1C365FDA67}" srcId="{C6932863-ACBC-4A9D-A65A-F1524E719FF5}" destId="{A45DAC3B-EBCF-495A-B658-FE17748F1DC5}" srcOrd="2" destOrd="0" parTransId="{3D4E7C1C-9EB2-40F9-8CEC-0F15B9038957}" sibTransId="{156E2274-CC9A-4FDD-A501-A2F5E5C09BEC}"/>
    <dgm:cxn modelId="{1BCB4789-3D72-42C0-9F29-D6CCA479F2FE}" srcId="{C6932863-ACBC-4A9D-A65A-F1524E719FF5}" destId="{B2ECEE2F-8CD8-4150-9755-40C20AD8CEAB}" srcOrd="0" destOrd="0" parTransId="{45411602-7B51-42B0-8927-C282F0F15395}" sibTransId="{79DEF006-40CD-4C33-A71A-6A9CBB8D8988}"/>
    <dgm:cxn modelId="{6002E789-D6B7-4A05-945A-854D4E98788B}" type="presOf" srcId="{A45DAC3B-EBCF-495A-B658-FE17748F1DC5}" destId="{1F688301-19BC-4D33-AF9C-575CCA0FD3CD}" srcOrd="0" destOrd="0" presId="urn:microsoft.com/office/officeart/2018/2/layout/IconVerticalSolidList"/>
    <dgm:cxn modelId="{59AE5BAB-8555-44E1-8305-AEAFD42EF88F}" srcId="{C6932863-ACBC-4A9D-A65A-F1524E719FF5}" destId="{C6C73887-EC54-4102-B4C4-2C17FCF7D767}" srcOrd="1" destOrd="0" parTransId="{A9A69632-A303-4A22-9B67-A117F1DA7006}" sibTransId="{0F819B11-D2E4-4C47-86C3-AA907AB357A0}"/>
    <dgm:cxn modelId="{BD96BCD0-156D-4992-A16C-3E6C9095D9E0}" srcId="{C6932863-ACBC-4A9D-A65A-F1524E719FF5}" destId="{66148978-94AD-4D32-BE82-F3A0B6D572EE}" srcOrd="3" destOrd="0" parTransId="{41B8BA00-A4B8-4393-B4DE-99DE902E0F4C}" sibTransId="{E1CB81AE-9771-4239-81CB-F71A80811095}"/>
    <dgm:cxn modelId="{27A868EC-A355-4F6E-8415-3AD470AF5CC7}" type="presOf" srcId="{66148978-94AD-4D32-BE82-F3A0B6D572EE}" destId="{6A02EBB9-76C4-4D08-BF1E-0C2363AA0EE4}" srcOrd="0" destOrd="0" presId="urn:microsoft.com/office/officeart/2018/2/layout/IconVerticalSolidList"/>
    <dgm:cxn modelId="{A503B768-08A2-4565-AD21-94294E1BF330}" type="presParOf" srcId="{80840796-5A85-46A0-8767-28473BF5F55C}" destId="{2EB17F7A-C2E1-488C-A49D-7958DFD0131D}" srcOrd="0" destOrd="0" presId="urn:microsoft.com/office/officeart/2018/2/layout/IconVerticalSolidList"/>
    <dgm:cxn modelId="{A08915AB-E867-420A-A330-3331D54756FD}" type="presParOf" srcId="{2EB17F7A-C2E1-488C-A49D-7958DFD0131D}" destId="{647230B2-D9E0-4A04-B08E-A14316B6B327}" srcOrd="0" destOrd="0" presId="urn:microsoft.com/office/officeart/2018/2/layout/IconVerticalSolidList"/>
    <dgm:cxn modelId="{2401EAC5-762E-4565-9096-69A0A2E64979}" type="presParOf" srcId="{2EB17F7A-C2E1-488C-A49D-7958DFD0131D}" destId="{FD3E00ED-086B-463B-9849-4D7B7417D946}" srcOrd="1" destOrd="0" presId="urn:microsoft.com/office/officeart/2018/2/layout/IconVerticalSolidList"/>
    <dgm:cxn modelId="{E3E0B8BB-68DD-47B8-803D-C0C4A7B38D73}" type="presParOf" srcId="{2EB17F7A-C2E1-488C-A49D-7958DFD0131D}" destId="{57E12296-C48C-4928-AB44-B9E7DD6AEAAB}" srcOrd="2" destOrd="0" presId="urn:microsoft.com/office/officeart/2018/2/layout/IconVerticalSolidList"/>
    <dgm:cxn modelId="{2CB342D7-EB42-4474-A5C3-179D0E82C8AF}" type="presParOf" srcId="{2EB17F7A-C2E1-488C-A49D-7958DFD0131D}" destId="{93A7DB1C-B8B3-4D00-A2DC-D1C28059D7FC}" srcOrd="3" destOrd="0" presId="urn:microsoft.com/office/officeart/2018/2/layout/IconVerticalSolidList"/>
    <dgm:cxn modelId="{EAFA467D-ED93-47B3-A980-60E402ED60BA}" type="presParOf" srcId="{80840796-5A85-46A0-8767-28473BF5F55C}" destId="{27DC8A74-0D66-4ECD-B37A-FD754A0C4F46}" srcOrd="1" destOrd="0" presId="urn:microsoft.com/office/officeart/2018/2/layout/IconVerticalSolidList"/>
    <dgm:cxn modelId="{352720B0-975C-450A-8CD9-E0C57A702E9C}" type="presParOf" srcId="{80840796-5A85-46A0-8767-28473BF5F55C}" destId="{1B3ADB41-E976-4903-91DD-2E644FD5CCE8}" srcOrd="2" destOrd="0" presId="urn:microsoft.com/office/officeart/2018/2/layout/IconVerticalSolidList"/>
    <dgm:cxn modelId="{4C23C534-D58C-424C-B94D-773E9B12357C}" type="presParOf" srcId="{1B3ADB41-E976-4903-91DD-2E644FD5CCE8}" destId="{3A05CACF-82DD-437A-9F60-585D27801856}" srcOrd="0" destOrd="0" presId="urn:microsoft.com/office/officeart/2018/2/layout/IconVerticalSolidList"/>
    <dgm:cxn modelId="{D588BB8D-1A37-4254-81D9-49E10F82BD3D}" type="presParOf" srcId="{1B3ADB41-E976-4903-91DD-2E644FD5CCE8}" destId="{ECDBDFD7-A65C-4631-BF14-056D3133DDD0}" srcOrd="1" destOrd="0" presId="urn:microsoft.com/office/officeart/2018/2/layout/IconVerticalSolidList"/>
    <dgm:cxn modelId="{3213A081-1B77-47FC-B08F-9438A56CF01E}" type="presParOf" srcId="{1B3ADB41-E976-4903-91DD-2E644FD5CCE8}" destId="{D7C35A49-D8E7-4404-A7AD-2F085F6F8468}" srcOrd="2" destOrd="0" presId="urn:microsoft.com/office/officeart/2018/2/layout/IconVerticalSolidList"/>
    <dgm:cxn modelId="{95AC9FB0-06F3-4246-8FF2-34B2EFEFEEEB}" type="presParOf" srcId="{1B3ADB41-E976-4903-91DD-2E644FD5CCE8}" destId="{3777BFC6-E19C-4C00-9368-BE30CDF61A30}" srcOrd="3" destOrd="0" presId="urn:microsoft.com/office/officeart/2018/2/layout/IconVerticalSolidList"/>
    <dgm:cxn modelId="{4B801E65-8248-4206-BA1A-FC94F3E4DAA6}" type="presParOf" srcId="{80840796-5A85-46A0-8767-28473BF5F55C}" destId="{0D1B2F41-D59D-4829-A9B8-EA6D47A6B782}" srcOrd="3" destOrd="0" presId="urn:microsoft.com/office/officeart/2018/2/layout/IconVerticalSolidList"/>
    <dgm:cxn modelId="{36D9F811-6A58-4A6E-B4C7-ADB542DF79AF}" type="presParOf" srcId="{80840796-5A85-46A0-8767-28473BF5F55C}" destId="{5A77D517-60AB-4B2C-968A-20D0FEFEF855}" srcOrd="4" destOrd="0" presId="urn:microsoft.com/office/officeart/2018/2/layout/IconVerticalSolidList"/>
    <dgm:cxn modelId="{C420B111-DA8B-4FCD-BFBA-7DF094C28EBD}" type="presParOf" srcId="{5A77D517-60AB-4B2C-968A-20D0FEFEF855}" destId="{CE70B0BD-C987-455A-BEEE-1BFAEA279404}" srcOrd="0" destOrd="0" presId="urn:microsoft.com/office/officeart/2018/2/layout/IconVerticalSolidList"/>
    <dgm:cxn modelId="{169E5B6D-DF6E-4CB9-9A58-F0D54D8DA386}" type="presParOf" srcId="{5A77D517-60AB-4B2C-968A-20D0FEFEF855}" destId="{5CC81AC1-C966-4A64-87DD-DC18177C4F96}" srcOrd="1" destOrd="0" presId="urn:microsoft.com/office/officeart/2018/2/layout/IconVerticalSolidList"/>
    <dgm:cxn modelId="{48EDE8A1-D8B4-4C02-81CF-14824C7A904F}" type="presParOf" srcId="{5A77D517-60AB-4B2C-968A-20D0FEFEF855}" destId="{1863B7D5-101B-42A6-B804-94B2A4F46134}" srcOrd="2" destOrd="0" presId="urn:microsoft.com/office/officeart/2018/2/layout/IconVerticalSolidList"/>
    <dgm:cxn modelId="{EC7E58E8-BE05-459E-8720-EB0CBC61B196}" type="presParOf" srcId="{5A77D517-60AB-4B2C-968A-20D0FEFEF855}" destId="{1F688301-19BC-4D33-AF9C-575CCA0FD3CD}" srcOrd="3" destOrd="0" presId="urn:microsoft.com/office/officeart/2018/2/layout/IconVerticalSolidList"/>
    <dgm:cxn modelId="{4BF9DE6F-87EC-4732-9188-0D3311DAC5BA}" type="presParOf" srcId="{5A77D517-60AB-4B2C-968A-20D0FEFEF855}" destId="{FAA6AAF2-A71D-4D6A-A656-095F004A9663}" srcOrd="4" destOrd="0" presId="urn:microsoft.com/office/officeart/2018/2/layout/IconVerticalSolidList"/>
    <dgm:cxn modelId="{1575BB4A-07E4-49CD-8808-438B1B53AF96}" type="presParOf" srcId="{80840796-5A85-46A0-8767-28473BF5F55C}" destId="{E98A9F6A-F657-4790-930E-A2FB7C20EC50}" srcOrd="5" destOrd="0" presId="urn:microsoft.com/office/officeart/2018/2/layout/IconVerticalSolidList"/>
    <dgm:cxn modelId="{7448D0F8-32E1-45B6-8564-B058B6C08273}" type="presParOf" srcId="{80840796-5A85-46A0-8767-28473BF5F55C}" destId="{862E68CC-D664-41C4-8915-88CB4A885A4E}" srcOrd="6" destOrd="0" presId="urn:microsoft.com/office/officeart/2018/2/layout/IconVerticalSolidList"/>
    <dgm:cxn modelId="{F7C69310-73A9-4ED2-8665-805235E4B14E}" type="presParOf" srcId="{862E68CC-D664-41C4-8915-88CB4A885A4E}" destId="{0A996E61-CE64-4EB7-A78D-7DD683AEC1EF}" srcOrd="0" destOrd="0" presId="urn:microsoft.com/office/officeart/2018/2/layout/IconVerticalSolidList"/>
    <dgm:cxn modelId="{014F765C-A9B1-4CD7-B265-F6F9A284CA56}" type="presParOf" srcId="{862E68CC-D664-41C4-8915-88CB4A885A4E}" destId="{971BDBD8-77FB-4C62-B536-A76C041E2B77}" srcOrd="1" destOrd="0" presId="urn:microsoft.com/office/officeart/2018/2/layout/IconVerticalSolidList"/>
    <dgm:cxn modelId="{AC5FDB2E-1F73-481A-BE1A-F0E8B08F54F9}" type="presParOf" srcId="{862E68CC-D664-41C4-8915-88CB4A885A4E}" destId="{B17D82EE-73AD-4D2A-A1BB-7499582AD2B9}" srcOrd="2" destOrd="0" presId="urn:microsoft.com/office/officeart/2018/2/layout/IconVerticalSolidList"/>
    <dgm:cxn modelId="{E43CF895-0285-4A90-805F-71C9FDF202BD}" type="presParOf" srcId="{862E68CC-D664-41C4-8915-88CB4A885A4E}" destId="{6A02EBB9-76C4-4D08-BF1E-0C2363AA0EE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30913E-4E58-43E3-A48E-CAB80F8E9566}">
      <dsp:nvSpPr>
        <dsp:cNvPr id="0" name=""/>
        <dsp:cNvSpPr/>
      </dsp:nvSpPr>
      <dsp:spPr>
        <a:xfrm>
          <a:off x="0" y="155"/>
          <a:ext cx="11033760" cy="9652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solidFill>
                <a:schemeClr val="tx1"/>
              </a:solidFill>
            </a:rPr>
            <a:t>Many countries struggle to ensure universal access and utilization of health care services</a:t>
          </a:r>
        </a:p>
      </dsp:txBody>
      <dsp:txXfrm>
        <a:off x="47120" y="47275"/>
        <a:ext cx="10939520" cy="871010"/>
      </dsp:txXfrm>
    </dsp:sp>
    <dsp:sp modelId="{B44382F3-4374-4BBB-A20B-DD9CF43F6B32}">
      <dsp:nvSpPr>
        <dsp:cNvPr id="0" name=""/>
        <dsp:cNvSpPr/>
      </dsp:nvSpPr>
      <dsp:spPr>
        <a:xfrm>
          <a:off x="0" y="1037405"/>
          <a:ext cx="11033760" cy="9652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solidFill>
                <a:schemeClr val="tx1"/>
              </a:solidFill>
            </a:rPr>
            <a:t>Traditional reliance on large hospitals has major limitations:</a:t>
          </a:r>
        </a:p>
      </dsp:txBody>
      <dsp:txXfrm>
        <a:off x="47120" y="1084525"/>
        <a:ext cx="10939520" cy="871010"/>
      </dsp:txXfrm>
    </dsp:sp>
    <dsp:sp modelId="{795D1864-69B9-43D5-9DF0-FA9D6AF00170}">
      <dsp:nvSpPr>
        <dsp:cNvPr id="0" name=""/>
        <dsp:cNvSpPr/>
      </dsp:nvSpPr>
      <dsp:spPr>
        <a:xfrm>
          <a:off x="0" y="2002655"/>
          <a:ext cx="11033760" cy="983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0322"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solidFill>
                <a:schemeClr val="tx1"/>
              </a:solidFill>
            </a:rPr>
            <a:t>Serve only a small urban population within limited radius</a:t>
          </a:r>
        </a:p>
        <a:p>
          <a:pPr marL="228600" lvl="1" indent="-228600" algn="l" defTabSz="889000">
            <a:lnSpc>
              <a:spcPct val="90000"/>
            </a:lnSpc>
            <a:spcBef>
              <a:spcPct val="0"/>
            </a:spcBef>
            <a:spcAft>
              <a:spcPct val="20000"/>
            </a:spcAft>
            <a:buChar char="•"/>
          </a:pPr>
          <a:r>
            <a:rPr lang="en-US" sz="2000" kern="1200">
              <a:solidFill>
                <a:schemeClr val="tx1"/>
              </a:solidFill>
            </a:rPr>
            <a:t>Services are largely curative, not comprehensive</a:t>
          </a:r>
        </a:p>
        <a:p>
          <a:pPr marL="228600" lvl="1" indent="-228600" algn="l" defTabSz="889000">
            <a:lnSpc>
              <a:spcPct val="90000"/>
            </a:lnSpc>
            <a:spcBef>
              <a:spcPct val="0"/>
            </a:spcBef>
            <a:spcAft>
              <a:spcPct val="20000"/>
            </a:spcAft>
            <a:buChar char="•"/>
          </a:pPr>
          <a:r>
            <a:rPr lang="en-US" sz="2000" kern="1200">
              <a:solidFill>
                <a:schemeClr val="tx1"/>
              </a:solidFill>
            </a:rPr>
            <a:t>High maintenance costs with limited community impact</a:t>
          </a:r>
        </a:p>
      </dsp:txBody>
      <dsp:txXfrm>
        <a:off x="0" y="2002655"/>
        <a:ext cx="11033760" cy="983250"/>
      </dsp:txXfrm>
    </dsp:sp>
    <dsp:sp modelId="{7F15923B-64D9-48A3-8688-CF7FE24D72E5}">
      <dsp:nvSpPr>
        <dsp:cNvPr id="0" name=""/>
        <dsp:cNvSpPr/>
      </dsp:nvSpPr>
      <dsp:spPr>
        <a:xfrm>
          <a:off x="0" y="2985905"/>
          <a:ext cx="11033760" cy="9652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dirty="0">
              <a:solidFill>
                <a:schemeClr val="tx1"/>
              </a:solidFill>
            </a:rPr>
            <a:t>Critique: </a:t>
          </a:r>
          <a:r>
            <a:rPr lang="en-US" sz="2500" kern="1200" dirty="0">
              <a:solidFill>
                <a:schemeClr val="tx1"/>
              </a:solidFill>
            </a:rPr>
            <a:t>These hospitals have </a:t>
          </a:r>
          <a:r>
            <a:rPr lang="en-US" sz="2500" kern="1200" dirty="0">
              <a:solidFill>
                <a:schemeClr val="tx1"/>
              </a:solidFill>
              <a:highlight>
                <a:srgbClr val="FFFF00"/>
              </a:highlight>
            </a:rPr>
            <a:t>become “ivory towers of disease,” </a:t>
          </a:r>
          <a:r>
            <a:rPr lang="en-US" sz="2500" kern="1200" dirty="0">
              <a:solidFill>
                <a:schemeClr val="tx1"/>
              </a:solidFill>
            </a:rPr>
            <a:t>not effective public health institutions</a:t>
          </a:r>
        </a:p>
      </dsp:txBody>
      <dsp:txXfrm>
        <a:off x="47120" y="3033025"/>
        <a:ext cx="10939520" cy="871010"/>
      </dsp:txXfrm>
    </dsp:sp>
    <dsp:sp modelId="{0D7B5866-EA4E-4B95-A33B-4D1119B520AA}">
      <dsp:nvSpPr>
        <dsp:cNvPr id="0" name=""/>
        <dsp:cNvSpPr/>
      </dsp:nvSpPr>
      <dsp:spPr>
        <a:xfrm>
          <a:off x="0" y="4023155"/>
          <a:ext cx="11033760" cy="9652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solidFill>
                <a:schemeClr val="tx1"/>
              </a:solidFill>
            </a:rPr>
            <a:t>Solution: </a:t>
          </a:r>
          <a:r>
            <a:rPr lang="en-US" sz="2500" u="sng" kern="1200" dirty="0">
              <a:solidFill>
                <a:schemeClr val="tx1"/>
              </a:solidFill>
            </a:rPr>
            <a:t>Explore alternative, cost-effective, community-based models tailored to rural needs</a:t>
          </a:r>
        </a:p>
      </dsp:txBody>
      <dsp:txXfrm>
        <a:off x="47120" y="4070275"/>
        <a:ext cx="10939520" cy="8710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2B0D4D-B249-4D84-B3CD-ADA75F9A82F1}">
      <dsp:nvSpPr>
        <dsp:cNvPr id="0" name=""/>
        <dsp:cNvSpPr/>
      </dsp:nvSpPr>
      <dsp:spPr>
        <a:xfrm>
          <a:off x="0" y="14218"/>
          <a:ext cx="6949440" cy="10810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rPr>
            <a:t>Rising costs and inequitable access necessitate new models</a:t>
          </a:r>
        </a:p>
      </dsp:txBody>
      <dsp:txXfrm>
        <a:off x="52774" y="66992"/>
        <a:ext cx="6843892" cy="975532"/>
      </dsp:txXfrm>
    </dsp:sp>
    <dsp:sp modelId="{4C25CC78-DDCD-41A3-A4CF-8F4332929938}">
      <dsp:nvSpPr>
        <dsp:cNvPr id="0" name=""/>
        <dsp:cNvSpPr/>
      </dsp:nvSpPr>
      <dsp:spPr>
        <a:xfrm>
          <a:off x="0" y="1175938"/>
          <a:ext cx="6949440" cy="1081080"/>
        </a:xfrm>
        <a:prstGeom prst="roundRect">
          <a:avLst/>
        </a:prstGeom>
        <a:solidFill>
          <a:schemeClr val="accent2">
            <a:hueOff val="-479995"/>
            <a:satOff val="-10387"/>
            <a:lumOff val="-1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Objectives of alternative models:</a:t>
          </a:r>
        </a:p>
      </dsp:txBody>
      <dsp:txXfrm>
        <a:off x="52774" y="1228712"/>
        <a:ext cx="6843892" cy="975532"/>
      </dsp:txXfrm>
    </dsp:sp>
    <dsp:sp modelId="{9DC76547-B6A1-444B-8833-5377708D4C18}">
      <dsp:nvSpPr>
        <dsp:cNvPr id="0" name=""/>
        <dsp:cNvSpPr/>
      </dsp:nvSpPr>
      <dsp:spPr>
        <a:xfrm>
          <a:off x="0" y="2257018"/>
          <a:ext cx="6949440" cy="1072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645"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dirty="0"/>
            <a:t>Be </a:t>
          </a:r>
          <a:r>
            <a:rPr lang="en-US" sz="2200" b="1" kern="1200" dirty="0"/>
            <a:t>inexpensive yet effective</a:t>
          </a:r>
        </a:p>
        <a:p>
          <a:pPr marL="228600" lvl="1" indent="-228600" algn="l" defTabSz="977900">
            <a:lnSpc>
              <a:spcPct val="90000"/>
            </a:lnSpc>
            <a:spcBef>
              <a:spcPct val="0"/>
            </a:spcBef>
            <a:spcAft>
              <a:spcPct val="20000"/>
            </a:spcAft>
            <a:buChar char="•"/>
          </a:pPr>
          <a:r>
            <a:rPr lang="en-US" sz="2200" kern="1200"/>
            <a:t>Provide essential care suited to rural populations</a:t>
          </a:r>
        </a:p>
        <a:p>
          <a:pPr marL="228600" lvl="1" indent="-228600" algn="l" defTabSz="977900">
            <a:lnSpc>
              <a:spcPct val="90000"/>
            </a:lnSpc>
            <a:spcBef>
              <a:spcPct val="0"/>
            </a:spcBef>
            <a:spcAft>
              <a:spcPct val="20000"/>
            </a:spcAft>
            <a:buChar char="•"/>
          </a:pPr>
          <a:r>
            <a:rPr lang="en-US" sz="2200" kern="1200"/>
            <a:t>Address comprehensive needs, not just curative ones</a:t>
          </a:r>
        </a:p>
      </dsp:txBody>
      <dsp:txXfrm>
        <a:off x="0" y="2257018"/>
        <a:ext cx="6949440" cy="1072260"/>
      </dsp:txXfrm>
    </dsp:sp>
    <dsp:sp modelId="{F35FB896-20DC-4D55-9A27-6BB135D98CA8}">
      <dsp:nvSpPr>
        <dsp:cNvPr id="0" name=""/>
        <dsp:cNvSpPr/>
      </dsp:nvSpPr>
      <dsp:spPr>
        <a:xfrm>
          <a:off x="0" y="3329278"/>
          <a:ext cx="6949440" cy="1081080"/>
        </a:xfrm>
        <a:prstGeom prst="roundRect">
          <a:avLst/>
        </a:prstGeom>
        <a:solidFill>
          <a:schemeClr val="accent2">
            <a:hueOff val="-959989"/>
            <a:satOff val="-20774"/>
            <a:lumOff val="-29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Models should be:</a:t>
          </a:r>
        </a:p>
      </dsp:txBody>
      <dsp:txXfrm>
        <a:off x="52774" y="3382052"/>
        <a:ext cx="6843892" cy="975532"/>
      </dsp:txXfrm>
    </dsp:sp>
    <dsp:sp modelId="{5990D458-D131-48C8-91C4-DF535B4AAAF4}">
      <dsp:nvSpPr>
        <dsp:cNvPr id="0" name=""/>
        <dsp:cNvSpPr/>
      </dsp:nvSpPr>
      <dsp:spPr>
        <a:xfrm>
          <a:off x="0" y="4410359"/>
          <a:ext cx="6949440" cy="1362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645"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dirty="0"/>
            <a:t>Planned </a:t>
          </a:r>
          <a:r>
            <a:rPr lang="en-US" sz="2200" b="1" kern="1200" dirty="0"/>
            <a:t>based on community needs</a:t>
          </a:r>
        </a:p>
        <a:p>
          <a:pPr marL="228600" lvl="1" indent="-228600" algn="l" defTabSz="977900">
            <a:lnSpc>
              <a:spcPct val="90000"/>
            </a:lnSpc>
            <a:spcBef>
              <a:spcPct val="0"/>
            </a:spcBef>
            <a:spcAft>
              <a:spcPct val="20000"/>
            </a:spcAft>
            <a:buChar char="•"/>
          </a:pPr>
          <a:r>
            <a:rPr lang="en-US" sz="2200" kern="1200"/>
            <a:t>Use available knowledge &amp; resources efficiently</a:t>
          </a:r>
        </a:p>
        <a:p>
          <a:pPr marL="228600" lvl="1" indent="-228600" algn="l" defTabSz="977900">
            <a:lnSpc>
              <a:spcPct val="90000"/>
            </a:lnSpc>
            <a:spcBef>
              <a:spcPct val="0"/>
            </a:spcBef>
            <a:spcAft>
              <a:spcPct val="20000"/>
            </a:spcAft>
            <a:buChar char="•"/>
          </a:pPr>
          <a:r>
            <a:rPr lang="en-US" sz="2200" kern="1200"/>
            <a:t>Ensure equitable distribution and accessibility of services</a:t>
          </a:r>
        </a:p>
      </dsp:txBody>
      <dsp:txXfrm>
        <a:off x="0" y="4410359"/>
        <a:ext cx="6949440" cy="13620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FB46AC-FE14-4B73-BB68-42C238E03833}">
      <dsp:nvSpPr>
        <dsp:cNvPr id="0" name=""/>
        <dsp:cNvSpPr/>
      </dsp:nvSpPr>
      <dsp:spPr>
        <a:xfrm>
          <a:off x="0" y="1077778"/>
          <a:ext cx="10335350" cy="61510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i="0" kern="1200" baseline="0">
              <a:solidFill>
                <a:schemeClr val="tx1"/>
              </a:solidFill>
            </a:rPr>
            <a:t>Inputs</a:t>
          </a:r>
          <a:endParaRPr lang="en-US" sz="3200" kern="1200">
            <a:solidFill>
              <a:schemeClr val="tx1"/>
            </a:solidFill>
          </a:endParaRPr>
        </a:p>
      </dsp:txBody>
      <dsp:txXfrm>
        <a:off x="30027" y="1107805"/>
        <a:ext cx="10275296" cy="555052"/>
      </dsp:txXfrm>
    </dsp:sp>
    <dsp:sp modelId="{41A75F79-1E59-473C-A784-C69320E56985}">
      <dsp:nvSpPr>
        <dsp:cNvPr id="0" name=""/>
        <dsp:cNvSpPr/>
      </dsp:nvSpPr>
      <dsp:spPr>
        <a:xfrm>
          <a:off x="0" y="1692884"/>
          <a:ext cx="10335350" cy="1059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147" tIns="35560" rIns="199136" bIns="35560" numCol="1" spcCol="1270" anchor="t" anchorCtr="0">
          <a:noAutofit/>
        </a:bodyPr>
        <a:lstStyle/>
        <a:p>
          <a:pPr marL="285750" lvl="1" indent="-285750" algn="l" defTabSz="1244600">
            <a:lnSpc>
              <a:spcPct val="90000"/>
            </a:lnSpc>
            <a:spcBef>
              <a:spcPct val="0"/>
            </a:spcBef>
            <a:spcAft>
              <a:spcPct val="20000"/>
            </a:spcAft>
            <a:buChar char="•"/>
          </a:pPr>
          <a:r>
            <a:rPr lang="en-US" sz="2800" b="0" i="0" kern="1200" baseline="0">
              <a:solidFill>
                <a:schemeClr val="tx1"/>
              </a:solidFill>
            </a:rPr>
            <a:t>Health needs and demands of the community</a:t>
          </a:r>
          <a:endParaRPr lang="en-US" sz="2800" kern="1200">
            <a:solidFill>
              <a:schemeClr val="tx1"/>
            </a:solidFill>
          </a:endParaRPr>
        </a:p>
        <a:p>
          <a:pPr marL="285750" lvl="1" indent="-285750" algn="l" defTabSz="1244600">
            <a:lnSpc>
              <a:spcPct val="90000"/>
            </a:lnSpc>
            <a:spcBef>
              <a:spcPct val="0"/>
            </a:spcBef>
            <a:spcAft>
              <a:spcPct val="20000"/>
            </a:spcAft>
            <a:buChar char="•"/>
          </a:pPr>
          <a:r>
            <a:rPr lang="en-US" sz="2800" b="0" i="0" kern="1200" baseline="0" dirty="0">
              <a:solidFill>
                <a:schemeClr val="tx1"/>
              </a:solidFill>
            </a:rPr>
            <a:t>Require setting </a:t>
          </a:r>
          <a:r>
            <a:rPr lang="en-US" sz="2800" b="1" i="0" kern="1200" baseline="0" dirty="0">
              <a:solidFill>
                <a:schemeClr val="tx1"/>
              </a:solidFill>
            </a:rPr>
            <a:t>priorities</a:t>
          </a:r>
          <a:r>
            <a:rPr lang="en-US" sz="2800" b="0" i="0" kern="1200" baseline="0" dirty="0">
              <a:solidFill>
                <a:schemeClr val="tx1"/>
              </a:solidFill>
            </a:rPr>
            <a:t> due to limited resources</a:t>
          </a:r>
          <a:endParaRPr lang="en-US" sz="2800" kern="1200" dirty="0">
            <a:solidFill>
              <a:schemeClr val="tx1"/>
            </a:solidFill>
          </a:endParaRPr>
        </a:p>
      </dsp:txBody>
      <dsp:txXfrm>
        <a:off x="0" y="1692884"/>
        <a:ext cx="10335350" cy="1059840"/>
      </dsp:txXfrm>
    </dsp:sp>
    <dsp:sp modelId="{2034EB9F-9677-4472-928D-1F117604DD56}">
      <dsp:nvSpPr>
        <dsp:cNvPr id="0" name=""/>
        <dsp:cNvSpPr/>
      </dsp:nvSpPr>
      <dsp:spPr>
        <a:xfrm>
          <a:off x="0" y="2752724"/>
          <a:ext cx="10335350" cy="615106"/>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i="0" kern="1200" baseline="0">
              <a:solidFill>
                <a:schemeClr val="tx1"/>
              </a:solidFill>
            </a:rPr>
            <a:t>Health Care Services</a:t>
          </a:r>
          <a:endParaRPr lang="en-US" sz="3200" kern="1200">
            <a:solidFill>
              <a:schemeClr val="tx1"/>
            </a:solidFill>
          </a:endParaRPr>
        </a:p>
      </dsp:txBody>
      <dsp:txXfrm>
        <a:off x="30027" y="2782751"/>
        <a:ext cx="10275296" cy="555052"/>
      </dsp:txXfrm>
    </dsp:sp>
    <dsp:sp modelId="{22AE9DE5-F061-4CAA-9367-A7E556B7CCC2}">
      <dsp:nvSpPr>
        <dsp:cNvPr id="0" name=""/>
        <dsp:cNvSpPr/>
      </dsp:nvSpPr>
      <dsp:spPr>
        <a:xfrm>
          <a:off x="0" y="3367830"/>
          <a:ext cx="10335350" cy="1059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147" tIns="35560" rIns="199136" bIns="35560" numCol="1" spcCol="1270" anchor="t" anchorCtr="0">
          <a:noAutofit/>
        </a:bodyPr>
        <a:lstStyle/>
        <a:p>
          <a:pPr marL="285750" lvl="1" indent="-285750" algn="l" defTabSz="1244600">
            <a:lnSpc>
              <a:spcPct val="90000"/>
            </a:lnSpc>
            <a:spcBef>
              <a:spcPct val="0"/>
            </a:spcBef>
            <a:spcAft>
              <a:spcPct val="20000"/>
            </a:spcAft>
            <a:buChar char="•"/>
          </a:pPr>
          <a:r>
            <a:rPr lang="en-US" sz="2800" b="0" i="0" kern="1200" baseline="0">
              <a:solidFill>
                <a:schemeClr val="tx1"/>
              </a:solidFill>
            </a:rPr>
            <a:t>Should be </a:t>
          </a:r>
          <a:r>
            <a:rPr lang="en-US" sz="2800" b="1" i="0" kern="1200" baseline="0">
              <a:solidFill>
                <a:schemeClr val="tx1"/>
              </a:solidFill>
            </a:rPr>
            <a:t>comprehensive</a:t>
          </a:r>
          <a:r>
            <a:rPr lang="en-US" sz="2800" b="0" i="0" kern="1200" baseline="0">
              <a:solidFill>
                <a:schemeClr val="tx1"/>
              </a:solidFill>
            </a:rPr>
            <a:t> and </a:t>
          </a:r>
          <a:r>
            <a:rPr lang="en-US" sz="2800" b="1" i="0" kern="1200" baseline="0">
              <a:solidFill>
                <a:schemeClr val="tx1"/>
              </a:solidFill>
            </a:rPr>
            <a:t>community-based</a:t>
          </a:r>
          <a:endParaRPr lang="en-US" sz="2800" kern="1200">
            <a:solidFill>
              <a:schemeClr val="tx1"/>
            </a:solidFill>
          </a:endParaRPr>
        </a:p>
        <a:p>
          <a:pPr marL="285750" lvl="1" indent="-285750" algn="l" defTabSz="1244600">
            <a:lnSpc>
              <a:spcPct val="90000"/>
            </a:lnSpc>
            <a:spcBef>
              <a:spcPct val="0"/>
            </a:spcBef>
            <a:spcAft>
              <a:spcPct val="20000"/>
            </a:spcAft>
            <a:buChar char="•"/>
          </a:pPr>
          <a:r>
            <a:rPr lang="en-US" sz="2800" b="0" i="0" kern="1200" baseline="0">
              <a:solidFill>
                <a:schemeClr val="tx1"/>
              </a:solidFill>
            </a:rPr>
            <a:t>Designed using </a:t>
          </a:r>
          <a:r>
            <a:rPr lang="en-US" sz="2800" b="1" i="0" kern="1200" baseline="0">
              <a:solidFill>
                <a:schemeClr val="tx1"/>
              </a:solidFill>
            </a:rPr>
            <a:t>available resources and local knowledge</a:t>
          </a:r>
          <a:endParaRPr lang="en-US" sz="2800" kern="1200">
            <a:solidFill>
              <a:schemeClr val="tx1"/>
            </a:solidFill>
          </a:endParaRPr>
        </a:p>
      </dsp:txBody>
      <dsp:txXfrm>
        <a:off x="0" y="3367830"/>
        <a:ext cx="10335350" cy="10598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3E8B02-F3DF-44E0-9A21-E008B724F895}">
      <dsp:nvSpPr>
        <dsp:cNvPr id="0" name=""/>
        <dsp:cNvSpPr/>
      </dsp:nvSpPr>
      <dsp:spPr>
        <a:xfrm>
          <a:off x="0" y="18611"/>
          <a:ext cx="10335350" cy="86499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i="0" kern="1200" baseline="0" dirty="0">
              <a:solidFill>
                <a:schemeClr val="tx1"/>
              </a:solidFill>
            </a:rPr>
            <a:t>Health Care System</a:t>
          </a:r>
          <a:endParaRPr lang="en-US" sz="3200" kern="1200" dirty="0">
            <a:solidFill>
              <a:schemeClr val="tx1"/>
            </a:solidFill>
          </a:endParaRPr>
        </a:p>
      </dsp:txBody>
      <dsp:txXfrm>
        <a:off x="42225" y="60836"/>
        <a:ext cx="10250900" cy="780543"/>
      </dsp:txXfrm>
    </dsp:sp>
    <dsp:sp modelId="{A2E523E2-C3BD-41D7-A2D7-0422B2C4214A}">
      <dsp:nvSpPr>
        <dsp:cNvPr id="0" name=""/>
        <dsp:cNvSpPr/>
      </dsp:nvSpPr>
      <dsp:spPr>
        <a:xfrm>
          <a:off x="0" y="883604"/>
          <a:ext cx="10335350"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147"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b="0" i="0" kern="1200" baseline="0">
              <a:solidFill>
                <a:schemeClr val="tx1"/>
              </a:solidFill>
            </a:rPr>
            <a:t>The </a:t>
          </a:r>
          <a:r>
            <a:rPr lang="en-US" sz="2500" b="1" i="0" kern="1200" baseline="0">
              <a:solidFill>
                <a:schemeClr val="tx1"/>
              </a:solidFill>
            </a:rPr>
            <a:t>management/organizational</a:t>
          </a:r>
          <a:r>
            <a:rPr lang="en-US" sz="2500" b="0" i="0" kern="1200" baseline="0">
              <a:solidFill>
                <a:schemeClr val="tx1"/>
              </a:solidFill>
            </a:rPr>
            <a:t> sector</a:t>
          </a:r>
          <a:endParaRPr lang="en-US" sz="2500" kern="1200">
            <a:solidFill>
              <a:schemeClr val="tx1"/>
            </a:solidFill>
          </a:endParaRPr>
        </a:p>
        <a:p>
          <a:pPr marL="228600" lvl="1" indent="-228600" algn="l" defTabSz="1111250">
            <a:lnSpc>
              <a:spcPct val="90000"/>
            </a:lnSpc>
            <a:spcBef>
              <a:spcPct val="0"/>
            </a:spcBef>
            <a:spcAft>
              <a:spcPct val="20000"/>
            </a:spcAft>
            <a:buChar char="•"/>
          </a:pPr>
          <a:r>
            <a:rPr lang="en-US" sz="2500" b="0" i="0" kern="1200" baseline="0">
              <a:solidFill>
                <a:schemeClr val="tx1"/>
              </a:solidFill>
            </a:rPr>
            <a:t>Responsible for </a:t>
          </a:r>
          <a:r>
            <a:rPr lang="en-US" sz="2500" b="1" i="0" kern="1200" baseline="0">
              <a:solidFill>
                <a:schemeClr val="tx1"/>
              </a:solidFill>
            </a:rPr>
            <a:t>delivering services effectively</a:t>
          </a:r>
          <a:endParaRPr lang="en-US" sz="2500" kern="1200">
            <a:solidFill>
              <a:schemeClr val="tx1"/>
            </a:solidFill>
          </a:endParaRPr>
        </a:p>
      </dsp:txBody>
      <dsp:txXfrm>
        <a:off x="0" y="883604"/>
        <a:ext cx="10335350" cy="828000"/>
      </dsp:txXfrm>
    </dsp:sp>
    <dsp:sp modelId="{C01613F4-26AC-446C-8356-00576EC9E387}">
      <dsp:nvSpPr>
        <dsp:cNvPr id="0" name=""/>
        <dsp:cNvSpPr/>
      </dsp:nvSpPr>
      <dsp:spPr>
        <a:xfrm>
          <a:off x="0" y="1711604"/>
          <a:ext cx="10335350" cy="864993"/>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i="0" kern="1200" baseline="0">
              <a:solidFill>
                <a:schemeClr val="tx1"/>
              </a:solidFill>
            </a:rPr>
            <a:t>Outputs</a:t>
          </a:r>
          <a:endParaRPr lang="en-US" sz="3200" kern="1200">
            <a:solidFill>
              <a:schemeClr val="tx1"/>
            </a:solidFill>
          </a:endParaRPr>
        </a:p>
      </dsp:txBody>
      <dsp:txXfrm>
        <a:off x="42225" y="1753829"/>
        <a:ext cx="10250900" cy="780543"/>
      </dsp:txXfrm>
    </dsp:sp>
    <dsp:sp modelId="{561152FE-0AAD-46A9-872D-3FF89EB997A1}">
      <dsp:nvSpPr>
        <dsp:cNvPr id="0" name=""/>
        <dsp:cNvSpPr/>
      </dsp:nvSpPr>
      <dsp:spPr>
        <a:xfrm>
          <a:off x="0" y="2576597"/>
          <a:ext cx="10335350" cy="1225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147"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b="0" i="0" kern="1200" baseline="0">
              <a:solidFill>
                <a:schemeClr val="tx1"/>
              </a:solidFill>
            </a:rPr>
            <a:t>Improved health indicators:</a:t>
          </a:r>
          <a:endParaRPr lang="en-US" sz="2500" kern="1200">
            <a:solidFill>
              <a:schemeClr val="tx1"/>
            </a:solidFill>
          </a:endParaRPr>
        </a:p>
        <a:p>
          <a:pPr marL="457200" lvl="2" indent="-228600" algn="l" defTabSz="1111250">
            <a:lnSpc>
              <a:spcPct val="90000"/>
            </a:lnSpc>
            <a:spcBef>
              <a:spcPct val="0"/>
            </a:spcBef>
            <a:spcAft>
              <a:spcPct val="20000"/>
            </a:spcAft>
            <a:buChar char="•"/>
          </a:pPr>
          <a:r>
            <a:rPr lang="en-US" sz="2500" b="1" i="0" kern="1200" baseline="0">
              <a:solidFill>
                <a:schemeClr val="tx1"/>
              </a:solidFill>
            </a:rPr>
            <a:t>Lives saved</a:t>
          </a:r>
          <a:r>
            <a:rPr lang="en-US" sz="2500" b="0" i="0" kern="1200" baseline="0">
              <a:solidFill>
                <a:schemeClr val="tx1"/>
              </a:solidFill>
            </a:rPr>
            <a:t>, </a:t>
          </a:r>
          <a:r>
            <a:rPr lang="en-US" sz="2500" b="1" i="0" kern="1200" baseline="0">
              <a:solidFill>
                <a:schemeClr val="tx1"/>
              </a:solidFill>
            </a:rPr>
            <a:t>diseases prevented</a:t>
          </a:r>
          <a:r>
            <a:rPr lang="en-US" sz="2500" b="0" i="0" kern="1200" baseline="0">
              <a:solidFill>
                <a:schemeClr val="tx1"/>
              </a:solidFill>
            </a:rPr>
            <a:t>, </a:t>
          </a:r>
          <a:r>
            <a:rPr lang="en-US" sz="2500" b="1" i="0" kern="1200" baseline="0">
              <a:solidFill>
                <a:schemeClr val="tx1"/>
              </a:solidFill>
            </a:rPr>
            <a:t>cases treated</a:t>
          </a:r>
          <a:r>
            <a:rPr lang="en-US" sz="2500" b="0" i="0" kern="1200" baseline="0">
              <a:solidFill>
                <a:schemeClr val="tx1"/>
              </a:solidFill>
            </a:rPr>
            <a:t>,</a:t>
          </a:r>
          <a:endParaRPr lang="en-US" sz="2500" kern="1200">
            <a:solidFill>
              <a:schemeClr val="tx1"/>
            </a:solidFill>
          </a:endParaRPr>
        </a:p>
        <a:p>
          <a:pPr marL="457200" lvl="2" indent="-228600" algn="l" defTabSz="1111250">
            <a:lnSpc>
              <a:spcPct val="90000"/>
            </a:lnSpc>
            <a:spcBef>
              <a:spcPct val="0"/>
            </a:spcBef>
            <a:spcAft>
              <a:spcPct val="20000"/>
            </a:spcAft>
            <a:buChar char="•"/>
          </a:pPr>
          <a:r>
            <a:rPr lang="en-US" sz="2500" b="1" i="0" kern="1200" baseline="0">
              <a:solidFill>
                <a:schemeClr val="tx1"/>
              </a:solidFill>
            </a:rPr>
            <a:t>Mortality reduced</a:t>
          </a:r>
          <a:r>
            <a:rPr lang="en-US" sz="2500" b="0" i="0" kern="1200" baseline="0">
              <a:solidFill>
                <a:schemeClr val="tx1"/>
              </a:solidFill>
            </a:rPr>
            <a:t>, </a:t>
          </a:r>
          <a:r>
            <a:rPr lang="en-US" sz="2500" b="1" i="0" kern="1200" baseline="0">
              <a:solidFill>
                <a:schemeClr val="tx1"/>
              </a:solidFill>
            </a:rPr>
            <a:t>life expectancy increased</a:t>
          </a:r>
          <a:endParaRPr lang="en-US" sz="2500" kern="1200">
            <a:solidFill>
              <a:schemeClr val="tx1"/>
            </a:solidFill>
          </a:endParaRPr>
        </a:p>
      </dsp:txBody>
      <dsp:txXfrm>
        <a:off x="0" y="2576597"/>
        <a:ext cx="10335350" cy="1225440"/>
      </dsp:txXfrm>
    </dsp:sp>
    <dsp:sp modelId="{9314D7AF-6939-48C7-BAD6-83159DA8AA21}">
      <dsp:nvSpPr>
        <dsp:cNvPr id="0" name=""/>
        <dsp:cNvSpPr/>
      </dsp:nvSpPr>
      <dsp:spPr>
        <a:xfrm>
          <a:off x="0" y="3802037"/>
          <a:ext cx="10335350" cy="16848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i="0" kern="1200" baseline="0">
              <a:solidFill>
                <a:schemeClr val="tx1"/>
              </a:solidFill>
            </a:rPr>
            <a:t>These models are actively employed to improve health care planning and delivery in both developing and developed contexts.</a:t>
          </a:r>
          <a:endParaRPr lang="en-US" sz="3200" kern="1200">
            <a:solidFill>
              <a:schemeClr val="tx1"/>
            </a:solidFill>
          </a:endParaRPr>
        </a:p>
      </dsp:txBody>
      <dsp:txXfrm>
        <a:off x="82245" y="3884282"/>
        <a:ext cx="10170860" cy="15203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C03A2E-7823-4B6C-ACDA-C7684C1727C4}">
      <dsp:nvSpPr>
        <dsp:cNvPr id="0" name=""/>
        <dsp:cNvSpPr/>
      </dsp:nvSpPr>
      <dsp:spPr>
        <a:xfrm>
          <a:off x="0" y="18984"/>
          <a:ext cx="11094720" cy="7985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solidFill>
                <a:schemeClr val="tx1"/>
              </a:solidFill>
            </a:rPr>
            <a:t>Community Diagnosis – Assessing Health Status (not just data but </a:t>
          </a:r>
          <a:r>
            <a:rPr lang="en-US" sz="2100" b="1" kern="1200">
              <a:solidFill>
                <a:schemeClr val="tx1"/>
              </a:solidFill>
            </a:rPr>
            <a:t>also decision making</a:t>
          </a:r>
          <a:endParaRPr lang="en-US" sz="2100" kern="1200">
            <a:solidFill>
              <a:schemeClr val="tx1"/>
            </a:solidFill>
          </a:endParaRPr>
        </a:p>
      </dsp:txBody>
      <dsp:txXfrm>
        <a:off x="38981" y="57965"/>
        <a:ext cx="11016758" cy="720562"/>
      </dsp:txXfrm>
    </dsp:sp>
    <dsp:sp modelId="{3A82A3BD-431B-48F6-8CC6-5ED31C9624C9}">
      <dsp:nvSpPr>
        <dsp:cNvPr id="0" name=""/>
        <dsp:cNvSpPr/>
      </dsp:nvSpPr>
      <dsp:spPr>
        <a:xfrm>
          <a:off x="0" y="877989"/>
          <a:ext cx="11094720" cy="7985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solidFill>
                <a:schemeClr val="tx1"/>
              </a:solidFill>
            </a:rPr>
            <a:t>Definition: Community diagnosis is the first step in planning health services — involves assessing the health status and health problems of a population.</a:t>
          </a:r>
        </a:p>
      </dsp:txBody>
      <dsp:txXfrm>
        <a:off x="38981" y="916970"/>
        <a:ext cx="11016758" cy="720562"/>
      </dsp:txXfrm>
    </dsp:sp>
    <dsp:sp modelId="{89A57D59-8131-498E-8239-9C0A8A8B22CB}">
      <dsp:nvSpPr>
        <dsp:cNvPr id="0" name=""/>
        <dsp:cNvSpPr/>
      </dsp:nvSpPr>
      <dsp:spPr>
        <a:xfrm>
          <a:off x="0" y="1736994"/>
          <a:ext cx="11094720" cy="7985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solidFill>
                <a:schemeClr val="tx1"/>
              </a:solidFill>
            </a:rPr>
            <a:t>Purpose:</a:t>
          </a:r>
        </a:p>
      </dsp:txBody>
      <dsp:txXfrm>
        <a:off x="38981" y="1775975"/>
        <a:ext cx="11016758" cy="720562"/>
      </dsp:txXfrm>
    </dsp:sp>
    <dsp:sp modelId="{CDC49A4A-E695-4774-9D99-98CDE92D684E}">
      <dsp:nvSpPr>
        <dsp:cNvPr id="0" name=""/>
        <dsp:cNvSpPr/>
      </dsp:nvSpPr>
      <dsp:spPr>
        <a:xfrm>
          <a:off x="0" y="2535519"/>
          <a:ext cx="11094720" cy="521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2257"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solidFill>
                <a:schemeClr val="tx1"/>
              </a:solidFill>
            </a:rPr>
            <a:t>Identify priority health problems</a:t>
          </a:r>
        </a:p>
        <a:p>
          <a:pPr marL="171450" lvl="1" indent="-171450" algn="l" defTabSz="711200">
            <a:lnSpc>
              <a:spcPct val="90000"/>
            </a:lnSpc>
            <a:spcBef>
              <a:spcPct val="0"/>
            </a:spcBef>
            <a:spcAft>
              <a:spcPct val="20000"/>
            </a:spcAft>
            <a:buChar char="•"/>
          </a:pPr>
          <a:r>
            <a:rPr lang="en-US" sz="1600" kern="1200">
              <a:solidFill>
                <a:schemeClr val="tx1"/>
              </a:solidFill>
            </a:rPr>
            <a:t>Guide resource allocation and intervention planning</a:t>
          </a:r>
        </a:p>
      </dsp:txBody>
      <dsp:txXfrm>
        <a:off x="0" y="2535519"/>
        <a:ext cx="11094720" cy="521640"/>
      </dsp:txXfrm>
    </dsp:sp>
    <dsp:sp modelId="{D4C3B46F-1EEE-47E6-9F51-7964C9C1F690}">
      <dsp:nvSpPr>
        <dsp:cNvPr id="0" name=""/>
        <dsp:cNvSpPr/>
      </dsp:nvSpPr>
      <dsp:spPr>
        <a:xfrm>
          <a:off x="0" y="3057159"/>
          <a:ext cx="11094720" cy="7985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solidFill>
                <a:schemeClr val="tx1"/>
              </a:solidFill>
            </a:rPr>
            <a:t>Data Required for Analysis:</a:t>
          </a:r>
        </a:p>
      </dsp:txBody>
      <dsp:txXfrm>
        <a:off x="38981" y="3096140"/>
        <a:ext cx="11016758" cy="720562"/>
      </dsp:txXfrm>
    </dsp:sp>
    <dsp:sp modelId="{48A302C7-9F39-4EB9-8BF1-93F66F6492FA}">
      <dsp:nvSpPr>
        <dsp:cNvPr id="0" name=""/>
        <dsp:cNvSpPr/>
      </dsp:nvSpPr>
      <dsp:spPr>
        <a:xfrm>
          <a:off x="0" y="3855683"/>
          <a:ext cx="11094720" cy="10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2257"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solidFill>
                <a:schemeClr val="tx1"/>
              </a:solidFill>
            </a:rPr>
            <a:t>Morbidity and mortality statistics</a:t>
          </a:r>
        </a:p>
        <a:p>
          <a:pPr marL="171450" lvl="1" indent="-171450" algn="l" defTabSz="711200">
            <a:lnSpc>
              <a:spcPct val="90000"/>
            </a:lnSpc>
            <a:spcBef>
              <a:spcPct val="0"/>
            </a:spcBef>
            <a:spcAft>
              <a:spcPct val="20000"/>
            </a:spcAft>
            <a:buChar char="•"/>
          </a:pPr>
          <a:r>
            <a:rPr lang="en-US" sz="1600" kern="1200">
              <a:solidFill>
                <a:schemeClr val="tx1"/>
              </a:solidFill>
            </a:rPr>
            <a:t>Demographic profile (age, sex, population growth, etc.)</a:t>
          </a:r>
        </a:p>
        <a:p>
          <a:pPr marL="171450" lvl="1" indent="-171450" algn="l" defTabSz="711200">
            <a:lnSpc>
              <a:spcPct val="90000"/>
            </a:lnSpc>
            <a:spcBef>
              <a:spcPct val="0"/>
            </a:spcBef>
            <a:spcAft>
              <a:spcPct val="20000"/>
            </a:spcAft>
            <a:buChar char="•"/>
          </a:pPr>
          <a:r>
            <a:rPr lang="en-US" sz="1600" kern="1200">
              <a:solidFill>
                <a:schemeClr val="tx1"/>
              </a:solidFill>
            </a:rPr>
            <a:t>Environmental conditions affecting health (water, sanitation, pollution)</a:t>
          </a:r>
        </a:p>
        <a:p>
          <a:pPr marL="171450" lvl="1" indent="-171450" algn="l" defTabSz="711200">
            <a:lnSpc>
              <a:spcPct val="90000"/>
            </a:lnSpc>
            <a:spcBef>
              <a:spcPct val="0"/>
            </a:spcBef>
            <a:spcAft>
              <a:spcPct val="20000"/>
            </a:spcAft>
            <a:buChar char="•"/>
          </a:pPr>
          <a:r>
            <a:rPr lang="en-US" sz="1600" kern="1200">
              <a:solidFill>
                <a:schemeClr val="tx1"/>
              </a:solidFill>
            </a:rPr>
            <a:t>Socio-economic factors (income, education, occupation)</a:t>
          </a:r>
        </a:p>
      </dsp:txBody>
      <dsp:txXfrm>
        <a:off x="0" y="3855683"/>
        <a:ext cx="11094720" cy="10432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BED453-7E24-4D79-B191-08C484271B8E}">
      <dsp:nvSpPr>
        <dsp:cNvPr id="0" name=""/>
        <dsp:cNvSpPr/>
      </dsp:nvSpPr>
      <dsp:spPr>
        <a:xfrm>
          <a:off x="50" y="122965"/>
          <a:ext cx="4829555" cy="691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rPr>
            <a:t>Additional Determinants:</a:t>
          </a:r>
        </a:p>
      </dsp:txBody>
      <dsp:txXfrm>
        <a:off x="50" y="122965"/>
        <a:ext cx="4829555" cy="691200"/>
      </dsp:txXfrm>
    </dsp:sp>
    <dsp:sp modelId="{1B44EF2A-0529-4C43-B076-4E6A5A705EDB}">
      <dsp:nvSpPr>
        <dsp:cNvPr id="0" name=""/>
        <dsp:cNvSpPr/>
      </dsp:nvSpPr>
      <dsp:spPr>
        <a:xfrm>
          <a:off x="50" y="814165"/>
          <a:ext cx="4829555" cy="31293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Cultural practices, attitudes, beliefs impacting health behavior</a:t>
          </a:r>
        </a:p>
        <a:p>
          <a:pPr marL="228600" lvl="1" indent="-228600" algn="l" defTabSz="1066800">
            <a:lnSpc>
              <a:spcPct val="90000"/>
            </a:lnSpc>
            <a:spcBef>
              <a:spcPct val="0"/>
            </a:spcBef>
            <a:spcAft>
              <a:spcPct val="15000"/>
            </a:spcAft>
            <a:buChar char="•"/>
          </a:pPr>
          <a:r>
            <a:rPr lang="en-US" sz="2400" kern="1200"/>
            <a:t>Availability of medical and health services</a:t>
          </a:r>
        </a:p>
        <a:p>
          <a:pPr marL="228600" lvl="1" indent="-228600" algn="l" defTabSz="1066800">
            <a:lnSpc>
              <a:spcPct val="90000"/>
            </a:lnSpc>
            <a:spcBef>
              <a:spcPct val="0"/>
            </a:spcBef>
            <a:spcAft>
              <a:spcPct val="15000"/>
            </a:spcAft>
            <a:buChar char="•"/>
          </a:pPr>
          <a:r>
            <a:rPr lang="en-US" sz="2400" kern="1200"/>
            <a:t>Availability of other support services (e.g., transportation, education)</a:t>
          </a:r>
        </a:p>
      </dsp:txBody>
      <dsp:txXfrm>
        <a:off x="50" y="814165"/>
        <a:ext cx="4829555" cy="3129300"/>
      </dsp:txXfrm>
    </dsp:sp>
    <dsp:sp modelId="{83E0A819-88DB-4393-ABD9-816C90849FD4}">
      <dsp:nvSpPr>
        <dsp:cNvPr id="0" name=""/>
        <dsp:cNvSpPr/>
      </dsp:nvSpPr>
      <dsp:spPr>
        <a:xfrm>
          <a:off x="5505743" y="122965"/>
          <a:ext cx="4829555" cy="691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Outcome of Community Diagnosis:</a:t>
          </a:r>
        </a:p>
      </dsp:txBody>
      <dsp:txXfrm>
        <a:off x="5505743" y="122965"/>
        <a:ext cx="4829555" cy="691200"/>
      </dsp:txXfrm>
    </dsp:sp>
    <dsp:sp modelId="{DA14E193-4CAA-49A6-88D1-FD4C6CB91E2F}">
      <dsp:nvSpPr>
        <dsp:cNvPr id="0" name=""/>
        <dsp:cNvSpPr/>
      </dsp:nvSpPr>
      <dsp:spPr>
        <a:xfrm>
          <a:off x="5505743" y="814165"/>
          <a:ext cx="4829555" cy="31293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Holistic picture of the community’s health situation</a:t>
          </a:r>
        </a:p>
        <a:p>
          <a:pPr marL="228600" lvl="1" indent="-228600" algn="l" defTabSz="1066800">
            <a:lnSpc>
              <a:spcPct val="90000"/>
            </a:lnSpc>
            <a:spcBef>
              <a:spcPct val="0"/>
            </a:spcBef>
            <a:spcAft>
              <a:spcPct val="15000"/>
            </a:spcAft>
            <a:buChar char="•"/>
          </a:pPr>
          <a:r>
            <a:rPr lang="en-US" sz="2400" kern="1200"/>
            <a:t>Enables prioritization of problems based on:</a:t>
          </a:r>
        </a:p>
        <a:p>
          <a:pPr marL="457200" lvl="2" indent="-228600" algn="l" defTabSz="1066800">
            <a:lnSpc>
              <a:spcPct val="90000"/>
            </a:lnSpc>
            <a:spcBef>
              <a:spcPct val="0"/>
            </a:spcBef>
            <a:spcAft>
              <a:spcPct val="15000"/>
            </a:spcAft>
            <a:buChar char="•"/>
          </a:pPr>
          <a:r>
            <a:rPr lang="en-US" sz="2400" kern="1200"/>
            <a:t>Severity</a:t>
          </a:r>
        </a:p>
        <a:p>
          <a:pPr marL="457200" lvl="2" indent="-228600" algn="l" defTabSz="1066800">
            <a:lnSpc>
              <a:spcPct val="90000"/>
            </a:lnSpc>
            <a:spcBef>
              <a:spcPct val="0"/>
            </a:spcBef>
            <a:spcAft>
              <a:spcPct val="15000"/>
            </a:spcAft>
            <a:buChar char="•"/>
          </a:pPr>
          <a:r>
            <a:rPr lang="en-US" sz="2400" kern="1200"/>
            <a:t>Size of affected population</a:t>
          </a:r>
        </a:p>
        <a:p>
          <a:pPr marL="457200" lvl="2" indent="-228600" algn="l" defTabSz="1066800">
            <a:lnSpc>
              <a:spcPct val="90000"/>
            </a:lnSpc>
            <a:spcBef>
              <a:spcPct val="0"/>
            </a:spcBef>
            <a:spcAft>
              <a:spcPct val="15000"/>
            </a:spcAft>
            <a:buChar char="•"/>
          </a:pPr>
          <a:r>
            <a:rPr lang="en-US" sz="2400" kern="1200"/>
            <a:t>Feasibility of intervention</a:t>
          </a:r>
        </a:p>
        <a:p>
          <a:pPr marL="457200" lvl="2" indent="-228600" algn="l" defTabSz="1066800">
            <a:lnSpc>
              <a:spcPct val="90000"/>
            </a:lnSpc>
            <a:spcBef>
              <a:spcPct val="0"/>
            </a:spcBef>
            <a:spcAft>
              <a:spcPct val="15000"/>
            </a:spcAft>
            <a:buChar char="•"/>
          </a:pPr>
          <a:r>
            <a:rPr lang="en-US" sz="2400" kern="1200"/>
            <a:t>Availability of resources</a:t>
          </a:r>
        </a:p>
      </dsp:txBody>
      <dsp:txXfrm>
        <a:off x="5505743" y="814165"/>
        <a:ext cx="4829555" cy="31293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AEDC05-7712-4F74-A922-D36A4ADD9A51}">
      <dsp:nvSpPr>
        <dsp:cNvPr id="0" name=""/>
        <dsp:cNvSpPr/>
      </dsp:nvSpPr>
      <dsp:spPr>
        <a:xfrm>
          <a:off x="0" y="21845"/>
          <a:ext cx="10515600" cy="912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i="0" kern="1200" baseline="0">
              <a:solidFill>
                <a:schemeClr val="tx1"/>
              </a:solidFill>
            </a:rPr>
            <a:t>Infant Mortality Rate (IMR), 2018:</a:t>
          </a:r>
          <a:endParaRPr lang="en-US" sz="3900" kern="1200">
            <a:solidFill>
              <a:schemeClr val="tx1"/>
            </a:solidFill>
          </a:endParaRPr>
        </a:p>
      </dsp:txBody>
      <dsp:txXfrm>
        <a:off x="44549" y="66394"/>
        <a:ext cx="10426502" cy="823502"/>
      </dsp:txXfrm>
    </dsp:sp>
    <dsp:sp modelId="{6026765B-5026-4975-89B7-5F693F5ACD2F}">
      <dsp:nvSpPr>
        <dsp:cNvPr id="0" name=""/>
        <dsp:cNvSpPr/>
      </dsp:nvSpPr>
      <dsp:spPr>
        <a:xfrm>
          <a:off x="0" y="934445"/>
          <a:ext cx="10515600" cy="14935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en-US" sz="3000" i="0" kern="1200" baseline="0">
              <a:solidFill>
                <a:schemeClr val="tx1"/>
              </a:solidFill>
            </a:rPr>
            <a:t>India: 32 per 1000 live births</a:t>
          </a:r>
          <a:endParaRPr lang="en-US" sz="3000" kern="1200">
            <a:solidFill>
              <a:schemeClr val="tx1"/>
            </a:solidFill>
          </a:endParaRPr>
        </a:p>
        <a:p>
          <a:pPr marL="285750" lvl="1" indent="-285750" algn="l" defTabSz="1333500">
            <a:lnSpc>
              <a:spcPct val="90000"/>
            </a:lnSpc>
            <a:spcBef>
              <a:spcPct val="0"/>
            </a:spcBef>
            <a:spcAft>
              <a:spcPct val="20000"/>
            </a:spcAft>
            <a:buChar char="•"/>
          </a:pPr>
          <a:r>
            <a:rPr lang="en-US" sz="3000" i="0" kern="1200" baseline="0">
              <a:solidFill>
                <a:schemeClr val="tx1"/>
              </a:solidFill>
            </a:rPr>
            <a:t>World average: 29</a:t>
          </a:r>
          <a:endParaRPr lang="en-US" sz="3000" kern="1200">
            <a:solidFill>
              <a:schemeClr val="tx1"/>
            </a:solidFill>
          </a:endParaRPr>
        </a:p>
        <a:p>
          <a:pPr marL="285750" lvl="1" indent="-285750" algn="l" defTabSz="1333500">
            <a:lnSpc>
              <a:spcPct val="90000"/>
            </a:lnSpc>
            <a:spcBef>
              <a:spcPct val="0"/>
            </a:spcBef>
            <a:spcAft>
              <a:spcPct val="20000"/>
            </a:spcAft>
            <a:buChar char="•"/>
          </a:pPr>
          <a:r>
            <a:rPr lang="en-US" sz="3000" i="0" kern="1200" baseline="0">
              <a:solidFill>
                <a:schemeClr val="tx1"/>
              </a:solidFill>
            </a:rPr>
            <a:t>Developed countries: as low as 5</a:t>
          </a:r>
          <a:endParaRPr lang="en-US" sz="3000" kern="1200">
            <a:solidFill>
              <a:schemeClr val="tx1"/>
            </a:solidFill>
          </a:endParaRPr>
        </a:p>
      </dsp:txBody>
      <dsp:txXfrm>
        <a:off x="0" y="934445"/>
        <a:ext cx="10515600" cy="1493505"/>
      </dsp:txXfrm>
    </dsp:sp>
    <dsp:sp modelId="{1C0286FB-CD75-4E66-8438-3BAC460066D1}">
      <dsp:nvSpPr>
        <dsp:cNvPr id="0" name=""/>
        <dsp:cNvSpPr/>
      </dsp:nvSpPr>
      <dsp:spPr>
        <a:xfrm>
          <a:off x="0" y="2427950"/>
          <a:ext cx="10515600" cy="912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i="0" kern="1200" baseline="0" dirty="0">
              <a:solidFill>
                <a:schemeClr val="tx1"/>
              </a:solidFill>
            </a:rPr>
            <a:t>State-wise IMR (2018):</a:t>
          </a:r>
          <a:endParaRPr lang="en-US" sz="3900" kern="1200" dirty="0">
            <a:solidFill>
              <a:schemeClr val="tx1"/>
            </a:solidFill>
          </a:endParaRPr>
        </a:p>
      </dsp:txBody>
      <dsp:txXfrm>
        <a:off x="44549" y="2472499"/>
        <a:ext cx="10426502" cy="823502"/>
      </dsp:txXfrm>
    </dsp:sp>
    <dsp:sp modelId="{81CE39B5-9323-4612-B4FA-7FE7D55CD9A6}">
      <dsp:nvSpPr>
        <dsp:cNvPr id="0" name=""/>
        <dsp:cNvSpPr/>
      </dsp:nvSpPr>
      <dsp:spPr>
        <a:xfrm>
          <a:off x="0" y="3340550"/>
          <a:ext cx="10515600" cy="988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en-US" sz="3000" i="0" kern="1200" baseline="0">
              <a:solidFill>
                <a:schemeClr val="tx1"/>
              </a:solidFill>
            </a:rPr>
            <a:t>Kerala: Lowest – 7 per 1000</a:t>
          </a:r>
          <a:endParaRPr lang="en-US" sz="3000" kern="1200">
            <a:solidFill>
              <a:schemeClr val="tx1"/>
            </a:solidFill>
          </a:endParaRPr>
        </a:p>
        <a:p>
          <a:pPr marL="285750" lvl="1" indent="-285750" algn="l" defTabSz="1333500">
            <a:lnSpc>
              <a:spcPct val="90000"/>
            </a:lnSpc>
            <a:spcBef>
              <a:spcPct val="0"/>
            </a:spcBef>
            <a:spcAft>
              <a:spcPct val="20000"/>
            </a:spcAft>
            <a:buChar char="•"/>
          </a:pPr>
          <a:r>
            <a:rPr lang="en-US" sz="3000" i="0" kern="1200" baseline="0">
              <a:solidFill>
                <a:schemeClr val="tx1"/>
              </a:solidFill>
            </a:rPr>
            <a:t>Madhya Pradesh: Highest – 48 per 1000</a:t>
          </a:r>
          <a:endParaRPr lang="en-US" sz="3000" kern="1200">
            <a:solidFill>
              <a:schemeClr val="tx1"/>
            </a:solidFill>
          </a:endParaRPr>
        </a:p>
      </dsp:txBody>
      <dsp:txXfrm>
        <a:off x="0" y="3340550"/>
        <a:ext cx="10515600" cy="98894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58621-FBC6-48A0-B30D-D5BA22A0EFFB}">
      <dsp:nvSpPr>
        <dsp:cNvPr id="0" name=""/>
        <dsp:cNvSpPr/>
      </dsp:nvSpPr>
      <dsp:spPr>
        <a:xfrm>
          <a:off x="0" y="53975"/>
          <a:ext cx="10515600" cy="17374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i="0" kern="1200" baseline="0">
              <a:solidFill>
                <a:schemeClr val="tx1"/>
              </a:solidFill>
            </a:rPr>
            <a:t>Global Comparison:</a:t>
          </a:r>
          <a:endParaRPr lang="en-US" sz="3300" kern="1200">
            <a:solidFill>
              <a:schemeClr val="tx1"/>
            </a:solidFill>
          </a:endParaRPr>
        </a:p>
      </dsp:txBody>
      <dsp:txXfrm>
        <a:off x="84815" y="138790"/>
        <a:ext cx="10345970" cy="1567820"/>
      </dsp:txXfrm>
    </dsp:sp>
    <dsp:sp modelId="{1F07440E-C0F2-45CE-97F5-7EC52A2891E8}">
      <dsp:nvSpPr>
        <dsp:cNvPr id="0" name=""/>
        <dsp:cNvSpPr/>
      </dsp:nvSpPr>
      <dsp:spPr>
        <a:xfrm>
          <a:off x="0" y="1791425"/>
          <a:ext cx="10515600" cy="7684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US" sz="2600" i="0" kern="1200" baseline="0">
              <a:solidFill>
                <a:schemeClr val="tx1"/>
              </a:solidFill>
            </a:rPr>
            <a:t>India’s life expectancy (~68 years) lags 12–15 years behind developed nations (71–80 years)</a:t>
          </a:r>
          <a:endParaRPr lang="en-US" sz="2600" kern="1200">
            <a:solidFill>
              <a:schemeClr val="tx1"/>
            </a:solidFill>
          </a:endParaRPr>
        </a:p>
      </dsp:txBody>
      <dsp:txXfrm>
        <a:off x="0" y="1791425"/>
        <a:ext cx="10515600" cy="768487"/>
      </dsp:txXfrm>
    </dsp:sp>
    <dsp:sp modelId="{D67DCD3F-9C0C-4EF3-B26E-7F848F3076B7}">
      <dsp:nvSpPr>
        <dsp:cNvPr id="0" name=""/>
        <dsp:cNvSpPr/>
      </dsp:nvSpPr>
      <dsp:spPr>
        <a:xfrm>
          <a:off x="0" y="2559912"/>
          <a:ext cx="10515600" cy="17374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i="0" kern="1200" baseline="0">
              <a:solidFill>
                <a:schemeClr val="tx1"/>
              </a:solidFill>
            </a:rPr>
            <a:t>Despite improvements, India's mortality indicators highlight disparities and unmet needs, particularly in rural areas and less developed states.</a:t>
          </a:r>
          <a:endParaRPr lang="en-US" sz="3300" kern="1200">
            <a:solidFill>
              <a:schemeClr val="tx1"/>
            </a:solidFill>
          </a:endParaRPr>
        </a:p>
      </dsp:txBody>
      <dsp:txXfrm>
        <a:off x="84815" y="2644727"/>
        <a:ext cx="10345970" cy="156782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ABFD4F-A7C3-492E-8E86-086417EA09C4}">
      <dsp:nvSpPr>
        <dsp:cNvPr id="0" name=""/>
        <dsp:cNvSpPr/>
      </dsp:nvSpPr>
      <dsp:spPr>
        <a:xfrm>
          <a:off x="0" y="493919"/>
          <a:ext cx="6949440" cy="725399"/>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tx1"/>
              </a:solidFill>
            </a:rPr>
            <a:t>1. Communicable disease problems; </a:t>
          </a:r>
        </a:p>
      </dsp:txBody>
      <dsp:txXfrm>
        <a:off x="35411" y="529330"/>
        <a:ext cx="6878618" cy="654577"/>
      </dsp:txXfrm>
    </dsp:sp>
    <dsp:sp modelId="{C962EBA7-D7A7-455D-9E7B-C42F45B41763}">
      <dsp:nvSpPr>
        <dsp:cNvPr id="0" name=""/>
        <dsp:cNvSpPr/>
      </dsp:nvSpPr>
      <dsp:spPr>
        <a:xfrm>
          <a:off x="0" y="1308599"/>
          <a:ext cx="6949440" cy="725399"/>
        </a:xfrm>
        <a:prstGeom prst="roundRect">
          <a:avLst/>
        </a:prstGeom>
        <a:solidFill>
          <a:schemeClr val="accent4">
            <a:hueOff val="-2113155"/>
            <a:satOff val="10381"/>
            <a:lumOff val="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solidFill>
                <a:schemeClr val="tx1"/>
              </a:solidFill>
            </a:rPr>
            <a:t>2. Non-communicable disease problems; </a:t>
          </a:r>
        </a:p>
      </dsp:txBody>
      <dsp:txXfrm>
        <a:off x="35411" y="1344010"/>
        <a:ext cx="6878618" cy="654577"/>
      </dsp:txXfrm>
    </dsp:sp>
    <dsp:sp modelId="{744CF8B0-43DD-4877-B1C5-E698E9276CD8}">
      <dsp:nvSpPr>
        <dsp:cNvPr id="0" name=""/>
        <dsp:cNvSpPr/>
      </dsp:nvSpPr>
      <dsp:spPr>
        <a:xfrm>
          <a:off x="0" y="2123279"/>
          <a:ext cx="6949440" cy="725399"/>
        </a:xfrm>
        <a:prstGeom prst="roundRect">
          <a:avLst/>
        </a:prstGeom>
        <a:solidFill>
          <a:schemeClr val="accent4">
            <a:hueOff val="-4226311"/>
            <a:satOff val="20762"/>
            <a:lumOff val="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solidFill>
                <a:schemeClr val="tx1"/>
              </a:solidFill>
            </a:rPr>
            <a:t>3. Nutritional problems; </a:t>
          </a:r>
        </a:p>
      </dsp:txBody>
      <dsp:txXfrm>
        <a:off x="35411" y="2158690"/>
        <a:ext cx="6878618" cy="654577"/>
      </dsp:txXfrm>
    </dsp:sp>
    <dsp:sp modelId="{B5B801FC-F1FB-4BF9-8489-EE6816F69521}">
      <dsp:nvSpPr>
        <dsp:cNvPr id="0" name=""/>
        <dsp:cNvSpPr/>
      </dsp:nvSpPr>
      <dsp:spPr>
        <a:xfrm>
          <a:off x="0" y="2937959"/>
          <a:ext cx="6949440" cy="725399"/>
        </a:xfrm>
        <a:prstGeom prst="roundRect">
          <a:avLst/>
        </a:prstGeom>
        <a:solidFill>
          <a:schemeClr val="accent4">
            <a:hueOff val="-6339467"/>
            <a:satOff val="31144"/>
            <a:lumOff val="1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solidFill>
                <a:schemeClr val="tx1"/>
              </a:solidFill>
            </a:rPr>
            <a:t>4. Environmental sanitation problems; </a:t>
          </a:r>
        </a:p>
      </dsp:txBody>
      <dsp:txXfrm>
        <a:off x="35411" y="2973370"/>
        <a:ext cx="6878618" cy="654577"/>
      </dsp:txXfrm>
    </dsp:sp>
    <dsp:sp modelId="{72790829-CC38-457C-9E47-2BDACEB978A1}">
      <dsp:nvSpPr>
        <dsp:cNvPr id="0" name=""/>
        <dsp:cNvSpPr/>
      </dsp:nvSpPr>
      <dsp:spPr>
        <a:xfrm>
          <a:off x="0" y="3752639"/>
          <a:ext cx="6949440" cy="725399"/>
        </a:xfrm>
        <a:prstGeom prst="roundRect">
          <a:avLst/>
        </a:prstGeom>
        <a:solidFill>
          <a:schemeClr val="accent4">
            <a:hueOff val="-8452622"/>
            <a:satOff val="41525"/>
            <a:lumOff val="1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solidFill>
                <a:schemeClr val="tx1"/>
              </a:solidFill>
            </a:rPr>
            <a:t>5. Medical care problems; </a:t>
          </a:r>
        </a:p>
      </dsp:txBody>
      <dsp:txXfrm>
        <a:off x="35411" y="3788050"/>
        <a:ext cx="6878618" cy="654577"/>
      </dsp:txXfrm>
    </dsp:sp>
    <dsp:sp modelId="{66734B53-888C-485F-82CE-099CDF0B05F7}">
      <dsp:nvSpPr>
        <dsp:cNvPr id="0" name=""/>
        <dsp:cNvSpPr/>
      </dsp:nvSpPr>
      <dsp:spPr>
        <a:xfrm>
          <a:off x="0" y="4567319"/>
          <a:ext cx="6949440" cy="725399"/>
        </a:xfrm>
        <a:prstGeom prst="roundRect">
          <a:avLst/>
        </a:prstGeom>
        <a:solidFill>
          <a:schemeClr val="accent4">
            <a:hueOff val="-10565777"/>
            <a:satOff val="51906"/>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solidFill>
                <a:schemeClr val="tx1"/>
              </a:solidFill>
            </a:rPr>
            <a:t>6. Population problems.</a:t>
          </a:r>
        </a:p>
      </dsp:txBody>
      <dsp:txXfrm>
        <a:off x="35411" y="4602730"/>
        <a:ext cx="6878618" cy="65457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256848-9F35-48A9-8C9D-A853397D5044}">
      <dsp:nvSpPr>
        <dsp:cNvPr id="0" name=""/>
        <dsp:cNvSpPr/>
      </dsp:nvSpPr>
      <dsp:spPr>
        <a:xfrm>
          <a:off x="1944829" y="0"/>
          <a:ext cx="1509048" cy="13472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A034FC-F9BB-42CF-B236-AE40D3598F2C}">
      <dsp:nvSpPr>
        <dsp:cNvPr id="0" name=""/>
        <dsp:cNvSpPr/>
      </dsp:nvSpPr>
      <dsp:spPr>
        <a:xfrm>
          <a:off x="543570" y="1530259"/>
          <a:ext cx="4311566" cy="577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a:t>Tuberculosis (TB)</a:t>
          </a:r>
          <a:endParaRPr lang="en-US" sz="3600" kern="1200"/>
        </a:p>
      </dsp:txBody>
      <dsp:txXfrm>
        <a:off x="543570" y="1530259"/>
        <a:ext cx="4311566" cy="577372"/>
      </dsp:txXfrm>
    </dsp:sp>
    <dsp:sp modelId="{B0737122-2053-491F-AAFE-2C7D93729726}">
      <dsp:nvSpPr>
        <dsp:cNvPr id="0" name=""/>
        <dsp:cNvSpPr/>
      </dsp:nvSpPr>
      <dsp:spPr>
        <a:xfrm>
          <a:off x="543570" y="2192774"/>
          <a:ext cx="4311566" cy="2580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Font typeface="Arial" panose="020B0604020202020204" pitchFamily="34" charset="0"/>
            <a:buNone/>
          </a:pPr>
          <a:r>
            <a:rPr lang="en-US" sz="2400" kern="1200" dirty="0"/>
            <a:t>~2.2 million cases/year (India has highest global burden)</a:t>
          </a:r>
        </a:p>
        <a:p>
          <a:pPr marL="0" lvl="0" indent="0" algn="l" defTabSz="1066800">
            <a:lnSpc>
              <a:spcPct val="100000"/>
            </a:lnSpc>
            <a:spcBef>
              <a:spcPct val="0"/>
            </a:spcBef>
            <a:spcAft>
              <a:spcPct val="35000"/>
            </a:spcAft>
            <a:buFont typeface="Arial" panose="020B0604020202020204" pitchFamily="34" charset="0"/>
            <a:buNone/>
          </a:pPr>
          <a:r>
            <a:rPr lang="en-US" sz="2400" kern="1200" dirty="0"/>
            <a:t>Rise of MDR-TB and XDR-TB</a:t>
          </a:r>
        </a:p>
        <a:p>
          <a:pPr marL="0" lvl="0" indent="0" algn="l" defTabSz="1066800">
            <a:lnSpc>
              <a:spcPct val="100000"/>
            </a:lnSpc>
            <a:spcBef>
              <a:spcPct val="0"/>
            </a:spcBef>
            <a:spcAft>
              <a:spcPct val="35000"/>
            </a:spcAft>
            <a:buFont typeface="Arial" panose="020B0604020202020204" pitchFamily="34" charset="0"/>
            <a:buNone/>
          </a:pPr>
          <a:r>
            <a:rPr lang="en-US" sz="2400" kern="1200" dirty="0"/>
            <a:t>DOTS strategy, Ni-</a:t>
          </a:r>
          <a:r>
            <a:rPr lang="en-US" sz="2400" kern="1200" dirty="0" err="1"/>
            <a:t>kshay</a:t>
          </a:r>
          <a:r>
            <a:rPr lang="en-US" sz="2400" kern="1200" dirty="0"/>
            <a:t> portal, Poshan Yojana</a:t>
          </a:r>
        </a:p>
        <a:p>
          <a:pPr marL="0" lvl="0" indent="0" algn="l" defTabSz="1066800">
            <a:lnSpc>
              <a:spcPct val="100000"/>
            </a:lnSpc>
            <a:spcBef>
              <a:spcPct val="0"/>
            </a:spcBef>
            <a:spcAft>
              <a:spcPct val="35000"/>
            </a:spcAft>
            <a:buFont typeface="Arial" panose="020B0604020202020204" pitchFamily="34" charset="0"/>
            <a:buNone/>
          </a:pPr>
          <a:r>
            <a:rPr lang="en-US" sz="2400" kern="1200" dirty="0"/>
            <a:t>2019 guidelines: shorter regimens &amp; universal DST</a:t>
          </a:r>
        </a:p>
      </dsp:txBody>
      <dsp:txXfrm>
        <a:off x="543570" y="2192774"/>
        <a:ext cx="4311566" cy="2580438"/>
      </dsp:txXfrm>
    </dsp:sp>
    <dsp:sp modelId="{D53C4939-D4A8-419A-B089-CA813661ACC4}">
      <dsp:nvSpPr>
        <dsp:cNvPr id="0" name=""/>
        <dsp:cNvSpPr/>
      </dsp:nvSpPr>
      <dsp:spPr>
        <a:xfrm>
          <a:off x="7010920" y="0"/>
          <a:ext cx="1509048" cy="13472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F8F996-79E7-4051-A1EE-D9094CABF07A}">
      <dsp:nvSpPr>
        <dsp:cNvPr id="0" name=""/>
        <dsp:cNvSpPr/>
      </dsp:nvSpPr>
      <dsp:spPr>
        <a:xfrm>
          <a:off x="5609661" y="1530259"/>
          <a:ext cx="4311566" cy="577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a:t>Leprosy</a:t>
          </a:r>
          <a:endParaRPr lang="en-US" sz="3600" kern="1200"/>
        </a:p>
      </dsp:txBody>
      <dsp:txXfrm>
        <a:off x="5609661" y="1530259"/>
        <a:ext cx="4311566" cy="577372"/>
      </dsp:txXfrm>
    </dsp:sp>
    <dsp:sp modelId="{A01E7F00-B4BD-4CBC-88BB-B86E0424F170}">
      <dsp:nvSpPr>
        <dsp:cNvPr id="0" name=""/>
        <dsp:cNvSpPr/>
      </dsp:nvSpPr>
      <dsp:spPr>
        <a:xfrm>
          <a:off x="5609661" y="2192774"/>
          <a:ext cx="4311566" cy="2580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Font typeface="Arial" panose="020B0604020202020204" pitchFamily="34" charset="0"/>
            <a:buNone/>
          </a:pPr>
          <a:r>
            <a:rPr lang="en-US" sz="2400" kern="1200"/>
            <a:t>Caused by </a:t>
          </a:r>
          <a:r>
            <a:rPr lang="en-US" sz="2400" i="1" kern="1200"/>
            <a:t>Mycobacterium leprae</a:t>
          </a:r>
          <a:endParaRPr lang="en-US" sz="2400" kern="1200"/>
        </a:p>
        <a:p>
          <a:pPr marL="0" lvl="0" indent="0" algn="l" defTabSz="1066800">
            <a:lnSpc>
              <a:spcPct val="100000"/>
            </a:lnSpc>
            <a:spcBef>
              <a:spcPct val="0"/>
            </a:spcBef>
            <a:spcAft>
              <a:spcPct val="35000"/>
            </a:spcAft>
            <a:buFont typeface="Arial" panose="020B0604020202020204" pitchFamily="34" charset="0"/>
            <a:buNone/>
          </a:pPr>
          <a:r>
            <a:rPr lang="en-US" sz="2400" kern="1200"/>
            <a:t>Endemic in pockets; MDT (Rifampicin, Dapsone, Clofazimine)</a:t>
          </a:r>
        </a:p>
        <a:p>
          <a:pPr marL="0" lvl="0" indent="0" algn="l" defTabSz="1066800">
            <a:lnSpc>
              <a:spcPct val="100000"/>
            </a:lnSpc>
            <a:spcBef>
              <a:spcPct val="0"/>
            </a:spcBef>
            <a:spcAft>
              <a:spcPct val="35000"/>
            </a:spcAft>
            <a:buFont typeface="Arial" panose="020B0604020202020204" pitchFamily="34" charset="0"/>
            <a:buNone/>
          </a:pPr>
          <a:r>
            <a:rPr lang="en-US" sz="2400" kern="1200"/>
            <a:t>Sparsh Campaign for awareness</a:t>
          </a:r>
        </a:p>
        <a:p>
          <a:pPr marL="0" lvl="0" indent="0" algn="l" defTabSz="1066800">
            <a:lnSpc>
              <a:spcPct val="100000"/>
            </a:lnSpc>
            <a:spcBef>
              <a:spcPct val="0"/>
            </a:spcBef>
            <a:spcAft>
              <a:spcPct val="35000"/>
            </a:spcAft>
            <a:buFont typeface="Arial" panose="020B0604020202020204" pitchFamily="34" charset="0"/>
            <a:buNone/>
          </a:pPr>
          <a:r>
            <a:rPr lang="en-US" sz="2400" kern="1200"/>
            <a:t>Focus on early detection &amp; disability prevention</a:t>
          </a:r>
        </a:p>
      </dsp:txBody>
      <dsp:txXfrm>
        <a:off x="5609661" y="2192774"/>
        <a:ext cx="4311566" cy="258043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1CD33-BC2D-4044-B9E4-3F44DEE9D85F}">
      <dsp:nvSpPr>
        <dsp:cNvPr id="0" name=""/>
        <dsp:cNvSpPr/>
      </dsp:nvSpPr>
      <dsp:spPr>
        <a:xfrm>
          <a:off x="3391" y="71354"/>
          <a:ext cx="3306385" cy="870638"/>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t>Acute Respiratory Infections (ARI)</a:t>
          </a:r>
          <a:endParaRPr lang="en-US" sz="2500" kern="1200" dirty="0"/>
        </a:p>
      </dsp:txBody>
      <dsp:txXfrm>
        <a:off x="3391" y="71354"/>
        <a:ext cx="3306385" cy="870638"/>
      </dsp:txXfrm>
    </dsp:sp>
    <dsp:sp modelId="{F2EB3D59-D463-4B74-AA54-D85047CBB0AA}">
      <dsp:nvSpPr>
        <dsp:cNvPr id="0" name=""/>
        <dsp:cNvSpPr/>
      </dsp:nvSpPr>
      <dsp:spPr>
        <a:xfrm>
          <a:off x="3391" y="941993"/>
          <a:ext cx="3306385" cy="377437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a:t>Common in children &lt;5; linked to poor nutrition, air pollution</a:t>
          </a:r>
        </a:p>
        <a:p>
          <a:pPr marL="228600" lvl="1" indent="-228600" algn="l" defTabSz="1111250">
            <a:lnSpc>
              <a:spcPct val="90000"/>
            </a:lnSpc>
            <a:spcBef>
              <a:spcPct val="0"/>
            </a:spcBef>
            <a:spcAft>
              <a:spcPct val="15000"/>
            </a:spcAft>
            <a:buChar char="•"/>
          </a:pPr>
          <a:r>
            <a:rPr lang="en-US" sz="2500" kern="1200"/>
            <a:t>Prevention: DPT, Hib, PCV vaccines; breastfeeding, hygiene</a:t>
          </a:r>
        </a:p>
      </dsp:txBody>
      <dsp:txXfrm>
        <a:off x="3391" y="941993"/>
        <a:ext cx="3306385" cy="3774375"/>
      </dsp:txXfrm>
    </dsp:sp>
    <dsp:sp modelId="{D942FB67-C242-4BED-A81A-24E2CF35E010}">
      <dsp:nvSpPr>
        <dsp:cNvPr id="0" name=""/>
        <dsp:cNvSpPr/>
      </dsp:nvSpPr>
      <dsp:spPr>
        <a:xfrm>
          <a:off x="3772671" y="71354"/>
          <a:ext cx="3306385" cy="870638"/>
        </a:xfrm>
        <a:prstGeom prst="rect">
          <a:avLst/>
        </a:prstGeom>
        <a:solidFill>
          <a:schemeClr val="accent2">
            <a:hueOff val="-479995"/>
            <a:satOff val="-10387"/>
            <a:lumOff val="-1471"/>
            <a:alphaOff val="0"/>
          </a:schemeClr>
        </a:solidFill>
        <a:ln w="12700" cap="flat" cmpd="sng" algn="ctr">
          <a:solidFill>
            <a:schemeClr val="accent2">
              <a:hueOff val="-479995"/>
              <a:satOff val="-10387"/>
              <a:lumOff val="-1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a:t>COVID-19</a:t>
          </a:r>
          <a:endParaRPr lang="en-US" sz="2500" kern="1200"/>
        </a:p>
      </dsp:txBody>
      <dsp:txXfrm>
        <a:off x="3772671" y="71354"/>
        <a:ext cx="3306385" cy="870638"/>
      </dsp:txXfrm>
    </dsp:sp>
    <dsp:sp modelId="{A5CAB621-86CE-49BF-AD3E-6A9122997ED5}">
      <dsp:nvSpPr>
        <dsp:cNvPr id="0" name=""/>
        <dsp:cNvSpPr/>
      </dsp:nvSpPr>
      <dsp:spPr>
        <a:xfrm>
          <a:off x="3772671" y="941993"/>
          <a:ext cx="3306385" cy="3774375"/>
        </a:xfrm>
        <a:prstGeom prst="rect">
          <a:avLst/>
        </a:prstGeom>
        <a:solidFill>
          <a:schemeClr val="accent2">
            <a:tint val="40000"/>
            <a:alpha val="90000"/>
            <a:hueOff val="-382982"/>
            <a:satOff val="-9652"/>
            <a:lumOff val="-578"/>
            <a:alphaOff val="0"/>
          </a:schemeClr>
        </a:solidFill>
        <a:ln w="12700" cap="flat" cmpd="sng" algn="ctr">
          <a:solidFill>
            <a:schemeClr val="accent2">
              <a:tint val="40000"/>
              <a:alpha val="90000"/>
              <a:hueOff val="-382982"/>
              <a:satOff val="-9652"/>
              <a:lumOff val="-57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a:t>Managed via isolation, CoWIN platform, Covaxin &amp; Covishield</a:t>
          </a:r>
        </a:p>
        <a:p>
          <a:pPr marL="228600" lvl="1" indent="-228600" algn="l" defTabSz="1111250">
            <a:lnSpc>
              <a:spcPct val="90000"/>
            </a:lnSpc>
            <a:spcBef>
              <a:spcPct val="0"/>
            </a:spcBef>
            <a:spcAft>
              <a:spcPct val="15000"/>
            </a:spcAft>
            <a:buChar char="•"/>
          </a:pPr>
          <a:r>
            <a:rPr lang="en-US" sz="2500" kern="1200"/>
            <a:t>Strengthened ICUs and oxygen infrastructure</a:t>
          </a:r>
        </a:p>
        <a:p>
          <a:pPr marL="228600" lvl="1" indent="-228600" algn="l" defTabSz="1111250">
            <a:lnSpc>
              <a:spcPct val="90000"/>
            </a:lnSpc>
            <a:spcBef>
              <a:spcPct val="0"/>
            </a:spcBef>
            <a:spcAft>
              <a:spcPct val="15000"/>
            </a:spcAft>
            <a:buChar char="•"/>
          </a:pPr>
          <a:r>
            <a:rPr lang="en-US" sz="2500" kern="1200"/>
            <a:t>Outreach campaigns for vaccine confidence</a:t>
          </a:r>
        </a:p>
      </dsp:txBody>
      <dsp:txXfrm>
        <a:off x="3772671" y="941993"/>
        <a:ext cx="3306385" cy="3774375"/>
      </dsp:txXfrm>
    </dsp:sp>
    <dsp:sp modelId="{C98F13F9-FE09-438E-B9AC-358212005ACA}">
      <dsp:nvSpPr>
        <dsp:cNvPr id="0" name=""/>
        <dsp:cNvSpPr/>
      </dsp:nvSpPr>
      <dsp:spPr>
        <a:xfrm>
          <a:off x="7541950" y="71354"/>
          <a:ext cx="3306385" cy="870638"/>
        </a:xfrm>
        <a:prstGeom prst="rect">
          <a:avLst/>
        </a:prstGeom>
        <a:solidFill>
          <a:schemeClr val="accent2">
            <a:hueOff val="-959989"/>
            <a:satOff val="-20774"/>
            <a:lumOff val="-2942"/>
            <a:alphaOff val="0"/>
          </a:schemeClr>
        </a:solidFill>
        <a:ln w="12700" cap="flat" cmpd="sng" algn="ctr">
          <a:solidFill>
            <a:schemeClr val="accent2">
              <a:hueOff val="-959989"/>
              <a:satOff val="-20774"/>
              <a:lumOff val="-294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a:t>Diarrhoeal Diseases</a:t>
          </a:r>
          <a:endParaRPr lang="en-US" sz="2500" kern="1200"/>
        </a:p>
      </dsp:txBody>
      <dsp:txXfrm>
        <a:off x="7541950" y="71354"/>
        <a:ext cx="3306385" cy="870638"/>
      </dsp:txXfrm>
    </dsp:sp>
    <dsp:sp modelId="{3643C5F5-1D90-4A76-9353-480C2BD581FB}">
      <dsp:nvSpPr>
        <dsp:cNvPr id="0" name=""/>
        <dsp:cNvSpPr/>
      </dsp:nvSpPr>
      <dsp:spPr>
        <a:xfrm>
          <a:off x="7541950" y="941993"/>
          <a:ext cx="3306385" cy="3774375"/>
        </a:xfrm>
        <a:prstGeom prst="rect">
          <a:avLst/>
        </a:prstGeom>
        <a:solidFill>
          <a:schemeClr val="accent2">
            <a:tint val="40000"/>
            <a:alpha val="90000"/>
            <a:hueOff val="-765964"/>
            <a:satOff val="-19304"/>
            <a:lumOff val="-1156"/>
            <a:alphaOff val="0"/>
          </a:schemeClr>
        </a:solidFill>
        <a:ln w="12700" cap="flat" cmpd="sng" algn="ctr">
          <a:solidFill>
            <a:schemeClr val="accent2">
              <a:tint val="40000"/>
              <a:alpha val="90000"/>
              <a:hueOff val="-765964"/>
              <a:satOff val="-19304"/>
              <a:lumOff val="-11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a:t>Major cause of child mortality due to unsafe water</a:t>
          </a:r>
        </a:p>
        <a:p>
          <a:pPr marL="228600" lvl="1" indent="-228600" algn="l" defTabSz="1111250">
            <a:lnSpc>
              <a:spcPct val="90000"/>
            </a:lnSpc>
            <a:spcBef>
              <a:spcPct val="0"/>
            </a:spcBef>
            <a:spcAft>
              <a:spcPct val="15000"/>
            </a:spcAft>
            <a:buChar char="•"/>
          </a:pPr>
          <a:r>
            <a:rPr lang="en-US" sz="2500" kern="1200"/>
            <a:t>ORS + Zinc therapy; Rotavirus vaccine</a:t>
          </a:r>
        </a:p>
        <a:p>
          <a:pPr marL="228600" lvl="1" indent="-228600" algn="l" defTabSz="1111250">
            <a:lnSpc>
              <a:spcPct val="90000"/>
            </a:lnSpc>
            <a:spcBef>
              <a:spcPct val="0"/>
            </a:spcBef>
            <a:spcAft>
              <a:spcPct val="15000"/>
            </a:spcAft>
            <a:buChar char="•"/>
          </a:pPr>
          <a:r>
            <a:rPr lang="en-US" sz="2500" kern="1200"/>
            <a:t>Linked to sanitation; Swachh Bharat Mission support</a:t>
          </a:r>
        </a:p>
      </dsp:txBody>
      <dsp:txXfrm>
        <a:off x="7541950" y="941993"/>
        <a:ext cx="3306385" cy="377437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C36D35-88A2-45CD-8100-489B01904DB3}">
      <dsp:nvSpPr>
        <dsp:cNvPr id="0" name=""/>
        <dsp:cNvSpPr/>
      </dsp:nvSpPr>
      <dsp:spPr>
        <a:xfrm>
          <a:off x="50" y="243677"/>
          <a:ext cx="4786848" cy="8928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en-US" sz="3100" b="1" kern="1200"/>
            <a:t>HIV/AIDS</a:t>
          </a:r>
          <a:endParaRPr lang="en-US" sz="3100" kern="1200"/>
        </a:p>
      </dsp:txBody>
      <dsp:txXfrm>
        <a:off x="50" y="243677"/>
        <a:ext cx="4786848" cy="892800"/>
      </dsp:txXfrm>
    </dsp:sp>
    <dsp:sp modelId="{A3F92C9D-F5D6-4628-8E04-259621BA60A7}">
      <dsp:nvSpPr>
        <dsp:cNvPr id="0" name=""/>
        <dsp:cNvSpPr/>
      </dsp:nvSpPr>
      <dsp:spPr>
        <a:xfrm>
          <a:off x="50" y="1136477"/>
          <a:ext cx="4786848" cy="3031509"/>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a:lnSpc>
              <a:spcPct val="90000"/>
            </a:lnSpc>
            <a:spcBef>
              <a:spcPct val="0"/>
            </a:spcBef>
            <a:spcAft>
              <a:spcPct val="15000"/>
            </a:spcAft>
            <a:buChar char="•"/>
          </a:pPr>
          <a:r>
            <a:rPr lang="en-US" sz="3100" kern="1200"/>
            <a:t>Free ART rollout via ICTC/PPTCT centers</a:t>
          </a:r>
        </a:p>
        <a:p>
          <a:pPr marL="285750" lvl="1" indent="-285750" algn="l" defTabSz="1377950">
            <a:lnSpc>
              <a:spcPct val="90000"/>
            </a:lnSpc>
            <a:spcBef>
              <a:spcPct val="0"/>
            </a:spcBef>
            <a:spcAft>
              <a:spcPct val="15000"/>
            </a:spcAft>
            <a:buChar char="•"/>
          </a:pPr>
          <a:r>
            <a:rPr lang="en-US" sz="3100" kern="1200" dirty="0"/>
            <a:t>Prevents vertical transmission; reduces stigma</a:t>
          </a:r>
        </a:p>
      </dsp:txBody>
      <dsp:txXfrm>
        <a:off x="50" y="1136477"/>
        <a:ext cx="4786848" cy="3031509"/>
      </dsp:txXfrm>
    </dsp:sp>
    <dsp:sp modelId="{397DB002-E78C-4B9B-87AA-40F291188457}">
      <dsp:nvSpPr>
        <dsp:cNvPr id="0" name=""/>
        <dsp:cNvSpPr/>
      </dsp:nvSpPr>
      <dsp:spPr>
        <a:xfrm>
          <a:off x="5457057" y="243677"/>
          <a:ext cx="4786848" cy="892800"/>
        </a:xfrm>
        <a:prstGeom prst="rect">
          <a:avLst/>
        </a:prstGeom>
        <a:solidFill>
          <a:schemeClr val="accent2">
            <a:hueOff val="-959989"/>
            <a:satOff val="-20774"/>
            <a:lumOff val="-2942"/>
            <a:alphaOff val="0"/>
          </a:schemeClr>
        </a:solidFill>
        <a:ln w="12700" cap="flat" cmpd="sng" algn="ctr">
          <a:solidFill>
            <a:schemeClr val="accent2">
              <a:hueOff val="-959989"/>
              <a:satOff val="-20774"/>
              <a:lumOff val="-294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en-US" sz="3100" b="1" kern="1200"/>
            <a:t>Other Diseases</a:t>
          </a:r>
          <a:endParaRPr lang="en-US" sz="3100" kern="1200"/>
        </a:p>
      </dsp:txBody>
      <dsp:txXfrm>
        <a:off x="5457057" y="243677"/>
        <a:ext cx="4786848" cy="892800"/>
      </dsp:txXfrm>
    </dsp:sp>
    <dsp:sp modelId="{616CB3F5-DFFC-48D3-8951-DFE6D3A7A343}">
      <dsp:nvSpPr>
        <dsp:cNvPr id="0" name=""/>
        <dsp:cNvSpPr/>
      </dsp:nvSpPr>
      <dsp:spPr>
        <a:xfrm>
          <a:off x="5457057" y="1136477"/>
          <a:ext cx="4786848" cy="3031509"/>
        </a:xfrm>
        <a:prstGeom prst="rect">
          <a:avLst/>
        </a:prstGeom>
        <a:solidFill>
          <a:schemeClr val="accent2">
            <a:tint val="40000"/>
            <a:alpha val="90000"/>
            <a:hueOff val="-765964"/>
            <a:satOff val="-19304"/>
            <a:lumOff val="-1156"/>
            <a:alphaOff val="0"/>
          </a:schemeClr>
        </a:solidFill>
        <a:ln w="12700" cap="flat" cmpd="sng" algn="ctr">
          <a:solidFill>
            <a:schemeClr val="accent2">
              <a:tint val="40000"/>
              <a:alpha val="90000"/>
              <a:hueOff val="-765964"/>
              <a:satOff val="-19304"/>
              <a:lumOff val="-11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a:lnSpc>
              <a:spcPct val="90000"/>
            </a:lnSpc>
            <a:spcBef>
              <a:spcPct val="0"/>
            </a:spcBef>
            <a:spcAft>
              <a:spcPct val="15000"/>
            </a:spcAft>
            <a:buChar char="•"/>
          </a:pPr>
          <a:r>
            <a:rPr lang="en-US" sz="3100" kern="1200"/>
            <a:t>Leptospirosis, Hepatitis, Nipah, JE, Zika</a:t>
          </a:r>
        </a:p>
        <a:p>
          <a:pPr marL="285750" lvl="1" indent="-285750" algn="l" defTabSz="1377950">
            <a:lnSpc>
              <a:spcPct val="90000"/>
            </a:lnSpc>
            <a:spcBef>
              <a:spcPct val="0"/>
            </a:spcBef>
            <a:spcAft>
              <a:spcPct val="15000"/>
            </a:spcAft>
            <a:buChar char="•"/>
          </a:pPr>
          <a:r>
            <a:rPr lang="en-US" sz="3100" kern="1200"/>
            <a:t>Hospital-acquired infections &amp; AMR threats</a:t>
          </a:r>
        </a:p>
        <a:p>
          <a:pPr marL="285750" lvl="1" indent="-285750" algn="l" defTabSz="1377950">
            <a:lnSpc>
              <a:spcPct val="90000"/>
            </a:lnSpc>
            <a:spcBef>
              <a:spcPct val="0"/>
            </a:spcBef>
            <a:spcAft>
              <a:spcPct val="15000"/>
            </a:spcAft>
            <a:buChar char="•"/>
          </a:pPr>
          <a:r>
            <a:rPr lang="en-US" sz="3100" kern="1200"/>
            <a:t>One Health approach for emerging zoonoses</a:t>
          </a:r>
        </a:p>
      </dsp:txBody>
      <dsp:txXfrm>
        <a:off x="5457057" y="1136477"/>
        <a:ext cx="4786848" cy="303150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22B481-9FB2-40DF-9559-4B0C774731F1}">
      <dsp:nvSpPr>
        <dsp:cNvPr id="0" name=""/>
        <dsp:cNvSpPr/>
      </dsp:nvSpPr>
      <dsp:spPr>
        <a:xfrm>
          <a:off x="5899" y="199719"/>
          <a:ext cx="1069031" cy="10690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F278A9-B26F-49C5-8535-41611C33C9F0}">
      <dsp:nvSpPr>
        <dsp:cNvPr id="0" name=""/>
        <dsp:cNvSpPr/>
      </dsp:nvSpPr>
      <dsp:spPr>
        <a:xfrm>
          <a:off x="5899" y="1437531"/>
          <a:ext cx="3054375" cy="458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defRPr b="1"/>
          </a:pPr>
          <a:r>
            <a:rPr lang="en-US" sz="2400" b="1" kern="1200"/>
            <a:t>Human Health Sector:</a:t>
          </a:r>
          <a:endParaRPr lang="en-US" sz="2400" kern="1200"/>
        </a:p>
      </dsp:txBody>
      <dsp:txXfrm>
        <a:off x="5899" y="1437531"/>
        <a:ext cx="3054375" cy="458156"/>
      </dsp:txXfrm>
    </dsp:sp>
    <dsp:sp modelId="{23DD6BEB-A299-441D-91F9-6E18017920DA}">
      <dsp:nvSpPr>
        <dsp:cNvPr id="0" name=""/>
        <dsp:cNvSpPr/>
      </dsp:nvSpPr>
      <dsp:spPr>
        <a:xfrm>
          <a:off x="5899" y="1974190"/>
          <a:ext cx="3054375" cy="2150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dirty="0"/>
            <a:t>Disease surveillance and control</a:t>
          </a:r>
        </a:p>
        <a:p>
          <a:pPr marL="0" lvl="0" indent="0" algn="l" defTabSz="1066800">
            <a:lnSpc>
              <a:spcPct val="90000"/>
            </a:lnSpc>
            <a:spcBef>
              <a:spcPct val="0"/>
            </a:spcBef>
            <a:spcAft>
              <a:spcPct val="35000"/>
            </a:spcAft>
            <a:buNone/>
          </a:pPr>
          <a:r>
            <a:rPr lang="en-US" sz="2400" kern="1200" dirty="0"/>
            <a:t>Health education</a:t>
          </a:r>
        </a:p>
        <a:p>
          <a:pPr marL="0" lvl="0" indent="0" algn="l" defTabSz="1066800">
            <a:lnSpc>
              <a:spcPct val="90000"/>
            </a:lnSpc>
            <a:spcBef>
              <a:spcPct val="0"/>
            </a:spcBef>
            <a:spcAft>
              <a:spcPct val="35000"/>
            </a:spcAft>
            <a:buNone/>
          </a:pPr>
          <a:r>
            <a:rPr lang="en-US" sz="2400" kern="1200"/>
            <a:t>Outbreak response</a:t>
          </a:r>
        </a:p>
      </dsp:txBody>
      <dsp:txXfrm>
        <a:off x="5899" y="1974190"/>
        <a:ext cx="3054375" cy="2150667"/>
      </dsp:txXfrm>
    </dsp:sp>
    <dsp:sp modelId="{E44589B5-B815-473D-B49A-0080E766426B}">
      <dsp:nvSpPr>
        <dsp:cNvPr id="0" name=""/>
        <dsp:cNvSpPr/>
      </dsp:nvSpPr>
      <dsp:spPr>
        <a:xfrm>
          <a:off x="3594790" y="199719"/>
          <a:ext cx="1069031" cy="10690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626EA6-A2BD-4A48-B5D2-08B78F7F7A62}">
      <dsp:nvSpPr>
        <dsp:cNvPr id="0" name=""/>
        <dsp:cNvSpPr/>
      </dsp:nvSpPr>
      <dsp:spPr>
        <a:xfrm>
          <a:off x="3594790" y="1437531"/>
          <a:ext cx="3054375" cy="458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defRPr b="1"/>
          </a:pPr>
          <a:r>
            <a:rPr lang="en-US" sz="2400" b="1" kern="1200"/>
            <a:t>Animal Health Sector:</a:t>
          </a:r>
          <a:endParaRPr lang="en-US" sz="2400" kern="1200"/>
        </a:p>
      </dsp:txBody>
      <dsp:txXfrm>
        <a:off x="3594790" y="1437531"/>
        <a:ext cx="3054375" cy="458156"/>
      </dsp:txXfrm>
    </dsp:sp>
    <dsp:sp modelId="{85C6E420-4AAB-4C4B-8DF9-2EE17EC06C0F}">
      <dsp:nvSpPr>
        <dsp:cNvPr id="0" name=""/>
        <dsp:cNvSpPr/>
      </dsp:nvSpPr>
      <dsp:spPr>
        <a:xfrm>
          <a:off x="3594790" y="1974190"/>
          <a:ext cx="3054375" cy="2150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a:t>Monitoring livestock and wildlife diseases</a:t>
          </a:r>
        </a:p>
        <a:p>
          <a:pPr marL="0" lvl="0" indent="0" algn="l" defTabSz="1066800">
            <a:lnSpc>
              <a:spcPct val="90000"/>
            </a:lnSpc>
            <a:spcBef>
              <a:spcPct val="0"/>
            </a:spcBef>
            <a:spcAft>
              <a:spcPct val="35000"/>
            </a:spcAft>
            <a:buNone/>
          </a:pPr>
          <a:r>
            <a:rPr lang="en-US" sz="2400" kern="1200"/>
            <a:t>Veterinary public health programs</a:t>
          </a:r>
        </a:p>
        <a:p>
          <a:pPr marL="0" lvl="0" indent="0" algn="l" defTabSz="1066800">
            <a:lnSpc>
              <a:spcPct val="90000"/>
            </a:lnSpc>
            <a:spcBef>
              <a:spcPct val="0"/>
            </a:spcBef>
            <a:spcAft>
              <a:spcPct val="35000"/>
            </a:spcAft>
            <a:buNone/>
          </a:pPr>
          <a:r>
            <a:rPr lang="en-US" sz="2400" kern="1200"/>
            <a:t>Early detection of zoonoses</a:t>
          </a:r>
        </a:p>
      </dsp:txBody>
      <dsp:txXfrm>
        <a:off x="3594790" y="1974190"/>
        <a:ext cx="3054375" cy="2150667"/>
      </dsp:txXfrm>
    </dsp:sp>
    <dsp:sp modelId="{C60E187C-BC6B-46D1-85C7-DAF9F0630289}">
      <dsp:nvSpPr>
        <dsp:cNvPr id="0" name=""/>
        <dsp:cNvSpPr/>
      </dsp:nvSpPr>
      <dsp:spPr>
        <a:xfrm>
          <a:off x="7183681" y="199719"/>
          <a:ext cx="1069031" cy="10690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E4B6B8-4B8A-4FDF-AB09-AA2A59A34E1D}">
      <dsp:nvSpPr>
        <dsp:cNvPr id="0" name=""/>
        <dsp:cNvSpPr/>
      </dsp:nvSpPr>
      <dsp:spPr>
        <a:xfrm>
          <a:off x="7183681" y="1437531"/>
          <a:ext cx="3054375" cy="458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defRPr b="1"/>
          </a:pPr>
          <a:r>
            <a:rPr lang="en-US" sz="2400" b="1" kern="1200"/>
            <a:t>Environmental Sector:</a:t>
          </a:r>
          <a:endParaRPr lang="en-US" sz="2400" kern="1200"/>
        </a:p>
      </dsp:txBody>
      <dsp:txXfrm>
        <a:off x="7183681" y="1437531"/>
        <a:ext cx="3054375" cy="458156"/>
      </dsp:txXfrm>
    </dsp:sp>
    <dsp:sp modelId="{B4D04E1E-B4D8-4B9B-B497-AB8821027F50}">
      <dsp:nvSpPr>
        <dsp:cNvPr id="0" name=""/>
        <dsp:cNvSpPr/>
      </dsp:nvSpPr>
      <dsp:spPr>
        <a:xfrm>
          <a:off x="7183681" y="1974190"/>
          <a:ext cx="3054375" cy="2150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a:t>Ecosystem integrity</a:t>
          </a:r>
        </a:p>
        <a:p>
          <a:pPr marL="0" lvl="0" indent="0" algn="l" defTabSz="1066800">
            <a:lnSpc>
              <a:spcPct val="90000"/>
            </a:lnSpc>
            <a:spcBef>
              <a:spcPct val="0"/>
            </a:spcBef>
            <a:spcAft>
              <a:spcPct val="35000"/>
            </a:spcAft>
            <a:buNone/>
          </a:pPr>
          <a:r>
            <a:rPr lang="en-US" sz="2400" kern="1200"/>
            <a:t>Climate change mitigation</a:t>
          </a:r>
        </a:p>
        <a:p>
          <a:pPr marL="0" lvl="0" indent="0" algn="l" defTabSz="1066800">
            <a:lnSpc>
              <a:spcPct val="90000"/>
            </a:lnSpc>
            <a:spcBef>
              <a:spcPct val="0"/>
            </a:spcBef>
            <a:spcAft>
              <a:spcPct val="35000"/>
            </a:spcAft>
            <a:buNone/>
          </a:pPr>
          <a:r>
            <a:rPr lang="en-US" sz="2400" kern="1200"/>
            <a:t>Water and vector-borne disease management</a:t>
          </a:r>
        </a:p>
      </dsp:txBody>
      <dsp:txXfrm>
        <a:off x="7183681" y="1974190"/>
        <a:ext cx="3054375" cy="215066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E19DC5-EA14-4419-B7B2-03A46F24DF70}">
      <dsp:nvSpPr>
        <dsp:cNvPr id="0" name=""/>
        <dsp:cNvSpPr/>
      </dsp:nvSpPr>
      <dsp:spPr>
        <a:xfrm>
          <a:off x="291096" y="158449"/>
          <a:ext cx="1510523" cy="13979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DAD4AA-C2C3-480B-AD7C-10A66DE59251}">
      <dsp:nvSpPr>
        <dsp:cNvPr id="0" name=""/>
        <dsp:cNvSpPr/>
      </dsp:nvSpPr>
      <dsp:spPr>
        <a:xfrm>
          <a:off x="291096" y="1725604"/>
          <a:ext cx="4315781" cy="599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77950">
            <a:lnSpc>
              <a:spcPct val="90000"/>
            </a:lnSpc>
            <a:spcBef>
              <a:spcPct val="0"/>
            </a:spcBef>
            <a:spcAft>
              <a:spcPct val="35000"/>
            </a:spcAft>
            <a:buNone/>
            <a:defRPr b="1"/>
          </a:pPr>
          <a:r>
            <a:rPr lang="en-US" sz="3100" b="1" kern="1200"/>
            <a:t>Zoonotic Outbreaks</a:t>
          </a:r>
          <a:r>
            <a:rPr lang="en-US" sz="3100" kern="1200"/>
            <a:t>:</a:t>
          </a:r>
        </a:p>
      </dsp:txBody>
      <dsp:txXfrm>
        <a:off x="291096" y="1725604"/>
        <a:ext cx="4315781" cy="599119"/>
      </dsp:txXfrm>
    </dsp:sp>
    <dsp:sp modelId="{1806F8FB-9DDC-4074-8981-7C4A64D1E7AD}">
      <dsp:nvSpPr>
        <dsp:cNvPr id="0" name=""/>
        <dsp:cNvSpPr/>
      </dsp:nvSpPr>
      <dsp:spPr>
        <a:xfrm>
          <a:off x="291096" y="2403425"/>
          <a:ext cx="4315781" cy="1690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i="1" kern="1200" dirty="0"/>
            <a:t>Nipah virus</a:t>
          </a:r>
          <a:r>
            <a:rPr lang="en-US" sz="2400" kern="1200" dirty="0"/>
            <a:t>, </a:t>
          </a:r>
          <a:r>
            <a:rPr lang="en-US" sz="2400" i="1" kern="1200" dirty="0"/>
            <a:t>COVID-19</a:t>
          </a:r>
          <a:r>
            <a:rPr lang="en-US" sz="2400" kern="1200" dirty="0"/>
            <a:t>, </a:t>
          </a:r>
          <a:r>
            <a:rPr lang="en-US" sz="2400" i="1" kern="1200" dirty="0"/>
            <a:t>H5N1 Avian Flu</a:t>
          </a:r>
          <a:r>
            <a:rPr lang="en-US" sz="2400" kern="1200" dirty="0"/>
            <a:t> — highlight ecosystem disruption and wildlife contact.</a:t>
          </a:r>
        </a:p>
      </dsp:txBody>
      <dsp:txXfrm>
        <a:off x="291096" y="2403425"/>
        <a:ext cx="4315781" cy="1690130"/>
      </dsp:txXfrm>
    </dsp:sp>
    <dsp:sp modelId="{2D476070-293E-4CAA-91EC-33D3209D9650}">
      <dsp:nvSpPr>
        <dsp:cNvPr id="0" name=""/>
        <dsp:cNvSpPr/>
      </dsp:nvSpPr>
      <dsp:spPr>
        <a:xfrm>
          <a:off x="5362139" y="158449"/>
          <a:ext cx="1510523" cy="13979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5F2581-8E09-4D71-BA14-F83F29BB0CED}">
      <dsp:nvSpPr>
        <dsp:cNvPr id="0" name=""/>
        <dsp:cNvSpPr/>
      </dsp:nvSpPr>
      <dsp:spPr>
        <a:xfrm>
          <a:off x="5362139" y="1725604"/>
          <a:ext cx="4315781" cy="599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77950">
            <a:lnSpc>
              <a:spcPct val="90000"/>
            </a:lnSpc>
            <a:spcBef>
              <a:spcPct val="0"/>
            </a:spcBef>
            <a:spcAft>
              <a:spcPct val="35000"/>
            </a:spcAft>
            <a:buNone/>
            <a:defRPr b="1"/>
          </a:pPr>
          <a:r>
            <a:rPr lang="en-US" sz="3100" b="1" kern="1200"/>
            <a:t>India-Specific Initiatives</a:t>
          </a:r>
          <a:r>
            <a:rPr lang="en-US" sz="3100" kern="1200"/>
            <a:t>:</a:t>
          </a:r>
        </a:p>
      </dsp:txBody>
      <dsp:txXfrm>
        <a:off x="5362139" y="1725604"/>
        <a:ext cx="4315781" cy="599119"/>
      </dsp:txXfrm>
    </dsp:sp>
    <dsp:sp modelId="{E4FD3875-4264-4678-B9BD-1DA3D82099C3}">
      <dsp:nvSpPr>
        <dsp:cNvPr id="0" name=""/>
        <dsp:cNvSpPr/>
      </dsp:nvSpPr>
      <dsp:spPr>
        <a:xfrm>
          <a:off x="5362139" y="2403425"/>
          <a:ext cx="4315781" cy="1690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a:t>Integration under </a:t>
          </a:r>
          <a:r>
            <a:rPr lang="en-US" sz="2400" b="1" kern="1200"/>
            <a:t>National Centre for Disease Control (NCDC)</a:t>
          </a:r>
          <a:endParaRPr lang="en-US" sz="2400" kern="1200"/>
        </a:p>
        <a:p>
          <a:pPr marL="0" lvl="0" indent="0" algn="l" defTabSz="1066800">
            <a:lnSpc>
              <a:spcPct val="90000"/>
            </a:lnSpc>
            <a:spcBef>
              <a:spcPct val="0"/>
            </a:spcBef>
            <a:spcAft>
              <a:spcPct val="35000"/>
            </a:spcAft>
            <a:buNone/>
          </a:pPr>
          <a:r>
            <a:rPr lang="en-US" sz="2400" kern="1200"/>
            <a:t>Coordination with </a:t>
          </a:r>
          <a:r>
            <a:rPr lang="en-US" sz="2400" b="1" kern="1200"/>
            <a:t>ICAR</a:t>
          </a:r>
          <a:r>
            <a:rPr lang="en-US" sz="2400" kern="1200"/>
            <a:t>, </a:t>
          </a:r>
          <a:r>
            <a:rPr lang="en-US" sz="2400" b="1" kern="1200"/>
            <a:t>MoEFCC</a:t>
          </a:r>
          <a:r>
            <a:rPr lang="en-US" sz="2400" kern="1200"/>
            <a:t>, and </a:t>
          </a:r>
          <a:r>
            <a:rPr lang="en-US" sz="2400" b="1" kern="1200"/>
            <a:t>WHO SEARO</a:t>
          </a:r>
          <a:endParaRPr lang="en-US" sz="2400" kern="1200"/>
        </a:p>
        <a:p>
          <a:pPr marL="0" lvl="0" indent="0" algn="l" defTabSz="1066800">
            <a:lnSpc>
              <a:spcPct val="90000"/>
            </a:lnSpc>
            <a:spcBef>
              <a:spcPct val="0"/>
            </a:spcBef>
            <a:spcAft>
              <a:spcPct val="35000"/>
            </a:spcAft>
            <a:buNone/>
          </a:pPr>
          <a:r>
            <a:rPr lang="en-US" sz="2400" kern="1200"/>
            <a:t>Focus on joint trainings, laboratory networks, and policy convergence</a:t>
          </a:r>
        </a:p>
      </dsp:txBody>
      <dsp:txXfrm>
        <a:off x="5362139" y="2403425"/>
        <a:ext cx="4315781" cy="169013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9A3A2E-6943-407B-AF41-2602EDD4401F}">
      <dsp:nvSpPr>
        <dsp:cNvPr id="0" name=""/>
        <dsp:cNvSpPr/>
      </dsp:nvSpPr>
      <dsp:spPr>
        <a:xfrm>
          <a:off x="428565" y="288231"/>
          <a:ext cx="1510523" cy="13194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9230F3-5E31-417E-8578-ECBF7F8349E0}">
      <dsp:nvSpPr>
        <dsp:cNvPr id="0" name=""/>
        <dsp:cNvSpPr/>
      </dsp:nvSpPr>
      <dsp:spPr>
        <a:xfrm>
          <a:off x="428565" y="1778819"/>
          <a:ext cx="4315781" cy="565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b="1" kern="1200"/>
            <a:t>Challenges</a:t>
          </a:r>
          <a:r>
            <a:rPr lang="en-US" sz="3600" kern="1200"/>
            <a:t>:</a:t>
          </a:r>
        </a:p>
      </dsp:txBody>
      <dsp:txXfrm>
        <a:off x="428565" y="1778819"/>
        <a:ext cx="4315781" cy="565471"/>
      </dsp:txXfrm>
    </dsp:sp>
    <dsp:sp modelId="{56BFCA3F-E414-4244-94C2-CD0C9EDF5B8D}">
      <dsp:nvSpPr>
        <dsp:cNvPr id="0" name=""/>
        <dsp:cNvSpPr/>
      </dsp:nvSpPr>
      <dsp:spPr>
        <a:xfrm>
          <a:off x="428565" y="2423898"/>
          <a:ext cx="4315781" cy="1844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dirty="0"/>
            <a:t>Fragmented infrastructure</a:t>
          </a:r>
        </a:p>
        <a:p>
          <a:pPr marL="0" lvl="0" indent="0" algn="l" defTabSz="1066800">
            <a:lnSpc>
              <a:spcPct val="90000"/>
            </a:lnSpc>
            <a:spcBef>
              <a:spcPct val="0"/>
            </a:spcBef>
            <a:spcAft>
              <a:spcPct val="35000"/>
            </a:spcAft>
            <a:buNone/>
          </a:pPr>
          <a:r>
            <a:rPr lang="en-US" sz="2400" kern="1200"/>
            <a:t>Limited cross-sector data sharing</a:t>
          </a:r>
        </a:p>
        <a:p>
          <a:pPr marL="0" lvl="0" indent="0" algn="l" defTabSz="1066800">
            <a:lnSpc>
              <a:spcPct val="90000"/>
            </a:lnSpc>
            <a:spcBef>
              <a:spcPct val="0"/>
            </a:spcBef>
            <a:spcAft>
              <a:spcPct val="35000"/>
            </a:spcAft>
            <a:buNone/>
          </a:pPr>
          <a:r>
            <a:rPr lang="en-US" sz="2400" kern="1200"/>
            <a:t>Training gaps among frontline workers</a:t>
          </a:r>
        </a:p>
      </dsp:txBody>
      <dsp:txXfrm>
        <a:off x="428565" y="2423898"/>
        <a:ext cx="4315781" cy="1844679"/>
      </dsp:txXfrm>
    </dsp:sp>
    <dsp:sp modelId="{D2319F80-CDB8-484A-AD7B-9A92EA641A1C}">
      <dsp:nvSpPr>
        <dsp:cNvPr id="0" name=""/>
        <dsp:cNvSpPr/>
      </dsp:nvSpPr>
      <dsp:spPr>
        <a:xfrm>
          <a:off x="5499608" y="288231"/>
          <a:ext cx="1510523" cy="13194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E46A24-DFA6-43B7-8D00-58229040D077}">
      <dsp:nvSpPr>
        <dsp:cNvPr id="0" name=""/>
        <dsp:cNvSpPr/>
      </dsp:nvSpPr>
      <dsp:spPr>
        <a:xfrm>
          <a:off x="5499608" y="1778819"/>
          <a:ext cx="4315781" cy="565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b="1" kern="1200"/>
            <a:t>Way Forward</a:t>
          </a:r>
          <a:r>
            <a:rPr lang="en-US" sz="3600" kern="1200"/>
            <a:t>:</a:t>
          </a:r>
        </a:p>
      </dsp:txBody>
      <dsp:txXfrm>
        <a:off x="5499608" y="1778819"/>
        <a:ext cx="4315781" cy="565471"/>
      </dsp:txXfrm>
    </dsp:sp>
    <dsp:sp modelId="{173041F4-C078-4788-9DF7-545E3C1A262D}">
      <dsp:nvSpPr>
        <dsp:cNvPr id="0" name=""/>
        <dsp:cNvSpPr/>
      </dsp:nvSpPr>
      <dsp:spPr>
        <a:xfrm>
          <a:off x="5499608" y="2423898"/>
          <a:ext cx="4315781" cy="1844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a:t>Build </a:t>
          </a:r>
          <a:r>
            <a:rPr lang="en-US" sz="2400" b="1" kern="1200"/>
            <a:t>One Health workforce</a:t>
          </a:r>
          <a:r>
            <a:rPr lang="en-US" sz="2400" kern="1200"/>
            <a:t> across medical, veterinary, and ecological domains</a:t>
          </a:r>
        </a:p>
        <a:p>
          <a:pPr marL="0" lvl="0" indent="0" algn="l" defTabSz="1066800">
            <a:lnSpc>
              <a:spcPct val="90000"/>
            </a:lnSpc>
            <a:spcBef>
              <a:spcPct val="0"/>
            </a:spcBef>
            <a:spcAft>
              <a:spcPct val="35000"/>
            </a:spcAft>
            <a:buNone/>
          </a:pPr>
          <a:r>
            <a:rPr lang="en-US" sz="2400" kern="1200"/>
            <a:t>Promote </a:t>
          </a:r>
          <a:r>
            <a:rPr lang="en-US" sz="2400" b="1" kern="1200"/>
            <a:t>community awareness</a:t>
          </a:r>
          <a:r>
            <a:rPr lang="en-US" sz="2400" kern="1200"/>
            <a:t> on zoonotic risk and hygiene</a:t>
          </a:r>
        </a:p>
        <a:p>
          <a:pPr marL="0" lvl="0" indent="0" algn="l" defTabSz="1066800">
            <a:lnSpc>
              <a:spcPct val="90000"/>
            </a:lnSpc>
            <a:spcBef>
              <a:spcPct val="0"/>
            </a:spcBef>
            <a:spcAft>
              <a:spcPct val="35000"/>
            </a:spcAft>
            <a:buNone/>
          </a:pPr>
          <a:r>
            <a:rPr lang="en-US" sz="2400" kern="1200"/>
            <a:t>Leverage technology: </a:t>
          </a:r>
          <a:r>
            <a:rPr lang="en-US" sz="2400" b="1" kern="1200"/>
            <a:t>GIS</a:t>
          </a:r>
          <a:r>
            <a:rPr lang="en-US" sz="2400" kern="1200"/>
            <a:t>, </a:t>
          </a:r>
          <a:r>
            <a:rPr lang="en-US" sz="2400" b="1" kern="1200"/>
            <a:t>mobile diagnostics</a:t>
          </a:r>
          <a:r>
            <a:rPr lang="en-US" sz="2400" kern="1200"/>
            <a:t>, </a:t>
          </a:r>
          <a:r>
            <a:rPr lang="en-US" sz="2400" b="1" kern="1200"/>
            <a:t>AI-driven surveillance</a:t>
          </a:r>
          <a:endParaRPr lang="en-US" sz="2400" kern="1200"/>
        </a:p>
      </dsp:txBody>
      <dsp:txXfrm>
        <a:off x="5499608" y="2423898"/>
        <a:ext cx="4315781" cy="184467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B1E34A-58B9-4B8F-8203-93AEFEF367F9}">
      <dsp:nvSpPr>
        <dsp:cNvPr id="0" name=""/>
        <dsp:cNvSpPr/>
      </dsp:nvSpPr>
      <dsp:spPr>
        <a:xfrm>
          <a:off x="54" y="144578"/>
          <a:ext cx="5179294" cy="6336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a:t>NCD Burden</a:t>
          </a:r>
          <a:endParaRPr lang="en-US" sz="2200" kern="1200"/>
        </a:p>
      </dsp:txBody>
      <dsp:txXfrm>
        <a:off x="54" y="144578"/>
        <a:ext cx="5179294" cy="633600"/>
      </dsp:txXfrm>
    </dsp:sp>
    <dsp:sp modelId="{175A6377-946D-41D2-B069-66E361853962}">
      <dsp:nvSpPr>
        <dsp:cNvPr id="0" name=""/>
        <dsp:cNvSpPr/>
      </dsp:nvSpPr>
      <dsp:spPr>
        <a:xfrm>
          <a:off x="54" y="778178"/>
          <a:ext cx="5179294" cy="386496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a:t>Non-Communicable Diseases (NCDs) caused </a:t>
          </a:r>
          <a:r>
            <a:rPr lang="en-US" sz="2200" b="1" kern="1200"/>
            <a:t>63% of all deaths in India (2016)</a:t>
          </a:r>
          <a:endParaRPr lang="en-US" sz="2200" kern="1200"/>
        </a:p>
        <a:p>
          <a:pPr marL="228600" lvl="1" indent="-228600" algn="l" defTabSz="977900">
            <a:lnSpc>
              <a:spcPct val="90000"/>
            </a:lnSpc>
            <a:spcBef>
              <a:spcPct val="0"/>
            </a:spcBef>
            <a:spcAft>
              <a:spcPct val="15000"/>
            </a:spcAft>
            <a:buChar char="•"/>
          </a:pPr>
          <a:r>
            <a:rPr lang="en-US" sz="2200" kern="1200"/>
            <a:t>Key contributors: ageing population, urbanization, pollution, lifestyle changes</a:t>
          </a:r>
        </a:p>
        <a:p>
          <a:pPr marL="228600" lvl="1" indent="-228600" algn="l" defTabSz="977900">
            <a:lnSpc>
              <a:spcPct val="90000"/>
            </a:lnSpc>
            <a:spcBef>
              <a:spcPct val="0"/>
            </a:spcBef>
            <a:spcAft>
              <a:spcPct val="15000"/>
            </a:spcAft>
            <a:buChar char="•"/>
          </a:pPr>
          <a:r>
            <a:rPr lang="en-US" sz="2200" kern="1200"/>
            <a:t>Major NCDs:</a:t>
          </a:r>
        </a:p>
        <a:p>
          <a:pPr marL="457200" lvl="2" indent="-228600" algn="l" defTabSz="977900">
            <a:lnSpc>
              <a:spcPct val="90000"/>
            </a:lnSpc>
            <a:spcBef>
              <a:spcPct val="0"/>
            </a:spcBef>
            <a:spcAft>
              <a:spcPct val="15000"/>
            </a:spcAft>
            <a:buChar char="•"/>
          </a:pPr>
          <a:r>
            <a:rPr lang="en-US" sz="2200" kern="1200" dirty="0"/>
            <a:t>Diabetes Mellitus</a:t>
          </a:r>
        </a:p>
        <a:p>
          <a:pPr marL="457200" lvl="2" indent="-228600" algn="l" defTabSz="977900">
            <a:lnSpc>
              <a:spcPct val="90000"/>
            </a:lnSpc>
            <a:spcBef>
              <a:spcPct val="0"/>
            </a:spcBef>
            <a:spcAft>
              <a:spcPct val="15000"/>
            </a:spcAft>
            <a:buChar char="•"/>
          </a:pPr>
          <a:r>
            <a:rPr lang="en-US" sz="2200" kern="1200"/>
            <a:t>Cardiovascular Diseases</a:t>
          </a:r>
        </a:p>
        <a:p>
          <a:pPr marL="457200" lvl="2" indent="-228600" algn="l" defTabSz="977900">
            <a:lnSpc>
              <a:spcPct val="90000"/>
            </a:lnSpc>
            <a:spcBef>
              <a:spcPct val="0"/>
            </a:spcBef>
            <a:spcAft>
              <a:spcPct val="15000"/>
            </a:spcAft>
            <a:buChar char="•"/>
          </a:pPr>
          <a:r>
            <a:rPr lang="en-US" sz="2200" kern="1200"/>
            <a:t>Stroke</a:t>
          </a:r>
        </a:p>
        <a:p>
          <a:pPr marL="457200" lvl="2" indent="-228600" algn="l" defTabSz="977900">
            <a:lnSpc>
              <a:spcPct val="90000"/>
            </a:lnSpc>
            <a:spcBef>
              <a:spcPct val="0"/>
            </a:spcBef>
            <a:spcAft>
              <a:spcPct val="15000"/>
            </a:spcAft>
            <a:buChar char="•"/>
          </a:pPr>
          <a:r>
            <a:rPr lang="en-US" sz="2200" kern="1200"/>
            <a:t>Cancer</a:t>
          </a:r>
        </a:p>
        <a:p>
          <a:pPr marL="457200" lvl="2" indent="-228600" algn="l" defTabSz="977900">
            <a:lnSpc>
              <a:spcPct val="90000"/>
            </a:lnSpc>
            <a:spcBef>
              <a:spcPct val="0"/>
            </a:spcBef>
            <a:spcAft>
              <a:spcPct val="15000"/>
            </a:spcAft>
            <a:buChar char="•"/>
          </a:pPr>
          <a:r>
            <a:rPr lang="en-US" sz="2200" kern="1200"/>
            <a:t>Chronic Lung Diseases</a:t>
          </a:r>
        </a:p>
      </dsp:txBody>
      <dsp:txXfrm>
        <a:off x="54" y="778178"/>
        <a:ext cx="5179294" cy="3864960"/>
      </dsp:txXfrm>
    </dsp:sp>
    <dsp:sp modelId="{44430ED7-2CFC-4CA6-B702-A37CBDF76678}">
      <dsp:nvSpPr>
        <dsp:cNvPr id="0" name=""/>
        <dsp:cNvSpPr/>
      </dsp:nvSpPr>
      <dsp:spPr>
        <a:xfrm>
          <a:off x="5904450" y="144578"/>
          <a:ext cx="5179294" cy="633600"/>
        </a:xfrm>
        <a:prstGeom prst="rect">
          <a:avLst/>
        </a:prstGeom>
        <a:solidFill>
          <a:schemeClr val="accent2">
            <a:hueOff val="-959989"/>
            <a:satOff val="-20774"/>
            <a:lumOff val="-2942"/>
            <a:alphaOff val="0"/>
          </a:schemeClr>
        </a:solidFill>
        <a:ln w="12700" cap="flat" cmpd="sng" algn="ctr">
          <a:solidFill>
            <a:schemeClr val="accent2">
              <a:hueOff val="-959989"/>
              <a:satOff val="-20774"/>
              <a:lumOff val="-294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a:t>Cancer Profile:</a:t>
          </a:r>
          <a:endParaRPr lang="en-US" sz="2200" kern="1200"/>
        </a:p>
      </dsp:txBody>
      <dsp:txXfrm>
        <a:off x="5904450" y="144578"/>
        <a:ext cx="5179294" cy="633600"/>
      </dsp:txXfrm>
    </dsp:sp>
    <dsp:sp modelId="{6604A323-563B-4473-B9EE-7FE188720815}">
      <dsp:nvSpPr>
        <dsp:cNvPr id="0" name=""/>
        <dsp:cNvSpPr/>
      </dsp:nvSpPr>
      <dsp:spPr>
        <a:xfrm>
          <a:off x="5904450" y="778178"/>
          <a:ext cx="5179294" cy="3864960"/>
        </a:xfrm>
        <a:prstGeom prst="rect">
          <a:avLst/>
        </a:prstGeom>
        <a:solidFill>
          <a:schemeClr val="accent2">
            <a:tint val="40000"/>
            <a:alpha val="90000"/>
            <a:hueOff val="-765964"/>
            <a:satOff val="-19304"/>
            <a:lumOff val="-1156"/>
            <a:alphaOff val="0"/>
          </a:schemeClr>
        </a:solidFill>
        <a:ln w="12700" cap="flat" cmpd="sng" algn="ctr">
          <a:solidFill>
            <a:schemeClr val="accent2">
              <a:tint val="40000"/>
              <a:alpha val="90000"/>
              <a:hueOff val="-765964"/>
              <a:satOff val="-19304"/>
              <a:lumOff val="-11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a:t>~</a:t>
          </a:r>
          <a:r>
            <a:rPr lang="en-US" sz="2200" b="1" kern="1200"/>
            <a:t>1.1 million new cases/year</a:t>
          </a:r>
          <a:endParaRPr lang="en-US" sz="2200" kern="1200"/>
        </a:p>
        <a:p>
          <a:pPr marL="228600" lvl="1" indent="-228600" algn="l" defTabSz="977900">
            <a:lnSpc>
              <a:spcPct val="90000"/>
            </a:lnSpc>
            <a:spcBef>
              <a:spcPct val="0"/>
            </a:spcBef>
            <a:spcAft>
              <a:spcPct val="15000"/>
            </a:spcAft>
            <a:buChar char="•"/>
          </a:pPr>
          <a:r>
            <a:rPr lang="en-US" sz="2200" kern="1200"/>
            <a:t>~</a:t>
          </a:r>
          <a:r>
            <a:rPr lang="en-US" sz="2200" b="1" kern="1200"/>
            <a:t>3.9 million</a:t>
          </a:r>
          <a:r>
            <a:rPr lang="en-US" sz="2200" kern="1200"/>
            <a:t> people living with cancer</a:t>
          </a:r>
        </a:p>
        <a:p>
          <a:pPr marL="228600" lvl="1" indent="-228600" algn="l" defTabSz="977900">
            <a:lnSpc>
              <a:spcPct val="90000"/>
            </a:lnSpc>
            <a:spcBef>
              <a:spcPct val="0"/>
            </a:spcBef>
            <a:spcAft>
              <a:spcPct val="15000"/>
            </a:spcAft>
            <a:buChar char="•"/>
          </a:pPr>
          <a:r>
            <a:rPr lang="en-US" sz="2200" kern="1200"/>
            <a:t>Tobacco-related cancers:</a:t>
          </a:r>
        </a:p>
        <a:p>
          <a:pPr marL="457200" lvl="2" indent="-228600" algn="l" defTabSz="977900">
            <a:lnSpc>
              <a:spcPct val="90000"/>
            </a:lnSpc>
            <a:spcBef>
              <a:spcPct val="0"/>
            </a:spcBef>
            <a:spcAft>
              <a:spcPct val="15000"/>
            </a:spcAft>
            <a:buChar char="•"/>
          </a:pPr>
          <a:r>
            <a:rPr lang="en-US" sz="2200" kern="1200"/>
            <a:t>~</a:t>
          </a:r>
          <a:r>
            <a:rPr lang="en-US" sz="2200" b="1" kern="1200"/>
            <a:t>50% of male cancers</a:t>
          </a:r>
          <a:endParaRPr lang="en-US" sz="2200" kern="1200"/>
        </a:p>
        <a:p>
          <a:pPr marL="457200" lvl="2" indent="-228600" algn="l" defTabSz="977900">
            <a:lnSpc>
              <a:spcPct val="90000"/>
            </a:lnSpc>
            <a:spcBef>
              <a:spcPct val="0"/>
            </a:spcBef>
            <a:spcAft>
              <a:spcPct val="15000"/>
            </a:spcAft>
            <a:buChar char="•"/>
          </a:pPr>
          <a:r>
            <a:rPr lang="en-US" sz="2200" kern="1200"/>
            <a:t>~</a:t>
          </a:r>
          <a:r>
            <a:rPr lang="en-US" sz="2200" b="1" kern="1200"/>
            <a:t>20% of female cancers</a:t>
          </a:r>
          <a:endParaRPr lang="en-US" sz="2200" kern="1200"/>
        </a:p>
        <a:p>
          <a:pPr marL="228600" lvl="1" indent="-228600" algn="l" defTabSz="977900">
            <a:lnSpc>
              <a:spcPct val="90000"/>
            </a:lnSpc>
            <a:spcBef>
              <a:spcPct val="0"/>
            </a:spcBef>
            <a:spcAft>
              <a:spcPct val="15000"/>
            </a:spcAft>
            <a:buChar char="•"/>
          </a:pPr>
          <a:r>
            <a:rPr lang="en-US" sz="2200" kern="1200"/>
            <a:t>~</a:t>
          </a:r>
          <a:r>
            <a:rPr lang="en-US" sz="2200" b="1" kern="1200"/>
            <a:t>1 million tobacco-related deaths per year</a:t>
          </a:r>
          <a:endParaRPr lang="en-US" sz="2200" kern="1200"/>
        </a:p>
      </dsp:txBody>
      <dsp:txXfrm>
        <a:off x="5904450" y="778178"/>
        <a:ext cx="5179294" cy="386496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7C84AB-F4FB-4319-B19F-6118AAF71F46}">
      <dsp:nvSpPr>
        <dsp:cNvPr id="0" name=""/>
        <dsp:cNvSpPr/>
      </dsp:nvSpPr>
      <dsp:spPr>
        <a:xfrm>
          <a:off x="433149" y="0"/>
          <a:ext cx="1509048" cy="11107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890D87-030E-46DC-8A13-5EE48A66CA06}">
      <dsp:nvSpPr>
        <dsp:cNvPr id="0" name=""/>
        <dsp:cNvSpPr/>
      </dsp:nvSpPr>
      <dsp:spPr>
        <a:xfrm>
          <a:off x="433149" y="1248852"/>
          <a:ext cx="4311566" cy="476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22400">
            <a:lnSpc>
              <a:spcPct val="90000"/>
            </a:lnSpc>
            <a:spcBef>
              <a:spcPct val="0"/>
            </a:spcBef>
            <a:spcAft>
              <a:spcPct val="35000"/>
            </a:spcAft>
            <a:buNone/>
            <a:defRPr b="1"/>
          </a:pPr>
          <a:r>
            <a:rPr lang="en-US" sz="3200" b="1" kern="1200" dirty="0"/>
            <a:t>Blindness Burden:</a:t>
          </a:r>
          <a:endParaRPr lang="en-US" sz="3200" kern="1200" dirty="0"/>
        </a:p>
      </dsp:txBody>
      <dsp:txXfrm>
        <a:off x="433149" y="1248852"/>
        <a:ext cx="4311566" cy="476029"/>
      </dsp:txXfrm>
    </dsp:sp>
    <dsp:sp modelId="{2F03A08C-9305-4E26-BC45-C19D039A9699}">
      <dsp:nvSpPr>
        <dsp:cNvPr id="0" name=""/>
        <dsp:cNvSpPr/>
      </dsp:nvSpPr>
      <dsp:spPr>
        <a:xfrm>
          <a:off x="433149" y="1789122"/>
          <a:ext cx="4311566" cy="2578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90000"/>
            </a:lnSpc>
            <a:spcBef>
              <a:spcPct val="0"/>
            </a:spcBef>
            <a:spcAft>
              <a:spcPct val="35000"/>
            </a:spcAft>
            <a:buNone/>
          </a:pPr>
          <a:r>
            <a:rPr lang="en-US" sz="2800" kern="1200"/>
            <a:t>Affects ~</a:t>
          </a:r>
          <a:r>
            <a:rPr lang="en-US" sz="2800" b="1" kern="1200"/>
            <a:t>12 million</a:t>
          </a:r>
          <a:r>
            <a:rPr lang="en-US" sz="2800" kern="1200"/>
            <a:t> people</a:t>
          </a:r>
        </a:p>
        <a:p>
          <a:pPr marL="0" lvl="0" indent="0" algn="l" defTabSz="1244600">
            <a:lnSpc>
              <a:spcPct val="90000"/>
            </a:lnSpc>
            <a:spcBef>
              <a:spcPct val="0"/>
            </a:spcBef>
            <a:spcAft>
              <a:spcPct val="35000"/>
            </a:spcAft>
            <a:buNone/>
          </a:pPr>
          <a:r>
            <a:rPr lang="en-US" sz="2800" kern="1200" dirty="0"/>
            <a:t>Major causes:</a:t>
          </a:r>
        </a:p>
        <a:p>
          <a:pPr marL="285750" lvl="1" indent="-285750" algn="l" defTabSz="1244600">
            <a:lnSpc>
              <a:spcPct val="90000"/>
            </a:lnSpc>
            <a:spcBef>
              <a:spcPct val="0"/>
            </a:spcBef>
            <a:spcAft>
              <a:spcPct val="15000"/>
            </a:spcAft>
            <a:buChar char="•"/>
          </a:pPr>
          <a:r>
            <a:rPr lang="en-US" sz="2800" b="1" kern="1200"/>
            <a:t>Cataract – 62.6%</a:t>
          </a:r>
          <a:endParaRPr lang="en-US" sz="2800" kern="1200"/>
        </a:p>
        <a:p>
          <a:pPr marL="285750" lvl="1" indent="-285750" algn="l" defTabSz="1244600">
            <a:lnSpc>
              <a:spcPct val="90000"/>
            </a:lnSpc>
            <a:spcBef>
              <a:spcPct val="0"/>
            </a:spcBef>
            <a:spcAft>
              <a:spcPct val="15000"/>
            </a:spcAft>
            <a:buChar char="•"/>
          </a:pPr>
          <a:r>
            <a:rPr lang="en-US" sz="2800" b="1" kern="1200" dirty="0"/>
            <a:t>Refractive errors – 19.7%</a:t>
          </a:r>
          <a:endParaRPr lang="en-US" sz="2800" kern="1200" dirty="0"/>
        </a:p>
        <a:p>
          <a:pPr marL="0" lvl="0" indent="0" algn="l" defTabSz="1244600">
            <a:lnSpc>
              <a:spcPct val="90000"/>
            </a:lnSpc>
            <a:spcBef>
              <a:spcPct val="0"/>
            </a:spcBef>
            <a:spcAft>
              <a:spcPct val="35000"/>
            </a:spcAft>
            <a:buNone/>
          </a:pPr>
          <a:r>
            <a:rPr lang="en-US" sz="2800" kern="1200"/>
            <a:t>Cataract surgery with Intraocular Lens (IOL):</a:t>
          </a:r>
        </a:p>
        <a:p>
          <a:pPr marL="285750" lvl="1" indent="-285750" algn="l" defTabSz="1244600">
            <a:lnSpc>
              <a:spcPct val="90000"/>
            </a:lnSpc>
            <a:spcBef>
              <a:spcPct val="0"/>
            </a:spcBef>
            <a:spcAft>
              <a:spcPct val="15000"/>
            </a:spcAft>
            <a:buChar char="•"/>
          </a:pPr>
          <a:r>
            <a:rPr lang="en-US" sz="2800" kern="1200"/>
            <a:t>&lt;5% in 1994 → </a:t>
          </a:r>
          <a:r>
            <a:rPr lang="en-US" sz="2800" b="1" kern="1200"/>
            <a:t>95% in 2016–17</a:t>
          </a:r>
          <a:endParaRPr lang="en-US" sz="2800" kern="1200"/>
        </a:p>
      </dsp:txBody>
      <dsp:txXfrm>
        <a:off x="433149" y="1789122"/>
        <a:ext cx="4311566" cy="2578997"/>
      </dsp:txXfrm>
    </dsp:sp>
    <dsp:sp modelId="{044D895E-3C7D-4495-AC90-1F445F21B637}">
      <dsp:nvSpPr>
        <dsp:cNvPr id="0" name=""/>
        <dsp:cNvSpPr/>
      </dsp:nvSpPr>
      <dsp:spPr>
        <a:xfrm>
          <a:off x="5499240" y="0"/>
          <a:ext cx="1509048" cy="11107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8DE4FF-490A-4187-8AA2-CD6EC75AECFC}">
      <dsp:nvSpPr>
        <dsp:cNvPr id="0" name=""/>
        <dsp:cNvSpPr/>
      </dsp:nvSpPr>
      <dsp:spPr>
        <a:xfrm>
          <a:off x="5499240" y="1248852"/>
          <a:ext cx="4311566" cy="476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22400">
            <a:lnSpc>
              <a:spcPct val="90000"/>
            </a:lnSpc>
            <a:spcBef>
              <a:spcPct val="0"/>
            </a:spcBef>
            <a:spcAft>
              <a:spcPct val="35000"/>
            </a:spcAft>
            <a:buNone/>
            <a:defRPr b="1"/>
          </a:pPr>
          <a:r>
            <a:rPr lang="en-US" sz="3200" b="1" kern="1200"/>
            <a:t>Oral Health Challenges:</a:t>
          </a:r>
          <a:endParaRPr lang="en-US" sz="3200" kern="1200"/>
        </a:p>
      </dsp:txBody>
      <dsp:txXfrm>
        <a:off x="5499240" y="1248852"/>
        <a:ext cx="4311566" cy="476029"/>
      </dsp:txXfrm>
    </dsp:sp>
    <dsp:sp modelId="{0B27EA7D-5901-492A-8201-0FC0905705A2}">
      <dsp:nvSpPr>
        <dsp:cNvPr id="0" name=""/>
        <dsp:cNvSpPr/>
      </dsp:nvSpPr>
      <dsp:spPr>
        <a:xfrm>
          <a:off x="5499240" y="1789122"/>
          <a:ext cx="4311566" cy="2578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90000"/>
            </a:lnSpc>
            <a:spcBef>
              <a:spcPct val="0"/>
            </a:spcBef>
            <a:spcAft>
              <a:spcPct val="35000"/>
            </a:spcAft>
            <a:buNone/>
          </a:pPr>
          <a:r>
            <a:rPr lang="en-US" sz="2800" kern="1200"/>
            <a:t>District hospitals have dental surgeon posts</a:t>
          </a:r>
        </a:p>
        <a:p>
          <a:pPr marL="0" lvl="0" indent="0" algn="l" defTabSz="1244600">
            <a:lnSpc>
              <a:spcPct val="90000"/>
            </a:lnSpc>
            <a:spcBef>
              <a:spcPct val="0"/>
            </a:spcBef>
            <a:spcAft>
              <a:spcPct val="35000"/>
            </a:spcAft>
            <a:buNone/>
          </a:pPr>
          <a:r>
            <a:rPr lang="en-US" sz="2800" kern="1200"/>
            <a:t>Common limitations:</a:t>
          </a:r>
        </a:p>
        <a:p>
          <a:pPr marL="285750" lvl="1" indent="-285750" algn="l" defTabSz="1244600">
            <a:lnSpc>
              <a:spcPct val="90000"/>
            </a:lnSpc>
            <a:spcBef>
              <a:spcPct val="0"/>
            </a:spcBef>
            <a:spcAft>
              <a:spcPct val="15000"/>
            </a:spcAft>
            <a:buChar char="•"/>
          </a:pPr>
          <a:r>
            <a:rPr lang="en-US" sz="2800" kern="1200"/>
            <a:t>Lack of equipment</a:t>
          </a:r>
        </a:p>
        <a:p>
          <a:pPr marL="285750" lvl="1" indent="-285750" algn="l" defTabSz="1244600">
            <a:lnSpc>
              <a:spcPct val="90000"/>
            </a:lnSpc>
            <a:spcBef>
              <a:spcPct val="0"/>
            </a:spcBef>
            <a:spcAft>
              <a:spcPct val="15000"/>
            </a:spcAft>
            <a:buChar char="•"/>
          </a:pPr>
          <a:r>
            <a:rPr lang="en-US" sz="2800" kern="1200"/>
            <a:t>Poor maintenance</a:t>
          </a:r>
        </a:p>
        <a:p>
          <a:pPr marL="285750" lvl="1" indent="-285750" algn="l" defTabSz="1244600">
            <a:lnSpc>
              <a:spcPct val="90000"/>
            </a:lnSpc>
            <a:spcBef>
              <a:spcPct val="0"/>
            </a:spcBef>
            <a:spcAft>
              <a:spcPct val="15000"/>
            </a:spcAft>
            <a:buChar char="•"/>
          </a:pPr>
          <a:r>
            <a:rPr lang="en-US" sz="2800" kern="1200"/>
            <a:t>Weak service delivery</a:t>
          </a:r>
        </a:p>
        <a:p>
          <a:pPr marL="0" lvl="0" indent="0" algn="l" defTabSz="1244600">
            <a:lnSpc>
              <a:spcPct val="90000"/>
            </a:lnSpc>
            <a:spcBef>
              <a:spcPct val="0"/>
            </a:spcBef>
            <a:spcAft>
              <a:spcPct val="35000"/>
            </a:spcAft>
            <a:buNone/>
          </a:pPr>
          <a:r>
            <a:rPr lang="en-US" sz="2800" kern="1200"/>
            <a:t>Oral health still </a:t>
          </a:r>
          <a:r>
            <a:rPr lang="en-US" sz="2800" b="1" kern="1200"/>
            <a:t>not a public health priority</a:t>
          </a:r>
          <a:endParaRPr lang="en-US" sz="2800" kern="1200"/>
        </a:p>
      </dsp:txBody>
      <dsp:txXfrm>
        <a:off x="5499240" y="1789122"/>
        <a:ext cx="4311566" cy="257899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F128A1-23F2-4AD8-814C-26DF96F4F92E}">
      <dsp:nvSpPr>
        <dsp:cNvPr id="0" name=""/>
        <dsp:cNvSpPr/>
      </dsp:nvSpPr>
      <dsp:spPr>
        <a:xfrm>
          <a:off x="0" y="0"/>
          <a:ext cx="871650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99A86F-CCE8-4A08-A739-D1721C00F83C}">
      <dsp:nvSpPr>
        <dsp:cNvPr id="0" name=""/>
        <dsp:cNvSpPr/>
      </dsp:nvSpPr>
      <dsp:spPr>
        <a:xfrm>
          <a:off x="0" y="0"/>
          <a:ext cx="8716504" cy="807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t>India has a </a:t>
          </a:r>
          <a:r>
            <a:rPr lang="en-US" sz="2300" b="1" kern="1200" dirty="0"/>
            <a:t>national health policy</a:t>
          </a:r>
          <a:r>
            <a:rPr lang="en-US" sz="2300" kern="1200" dirty="0"/>
            <a:t>, but </a:t>
          </a:r>
          <a:r>
            <a:rPr lang="en-US" sz="2300" b="1" kern="1200" dirty="0"/>
            <a:t>no national health service</a:t>
          </a:r>
          <a:r>
            <a:rPr lang="en-US" sz="2300" kern="1200" dirty="0"/>
            <a:t> structure.</a:t>
          </a:r>
        </a:p>
      </dsp:txBody>
      <dsp:txXfrm>
        <a:off x="0" y="0"/>
        <a:ext cx="8716504" cy="807807"/>
      </dsp:txXfrm>
    </dsp:sp>
    <dsp:sp modelId="{07F24A5A-98B5-4A11-A165-1F903C6658F5}">
      <dsp:nvSpPr>
        <dsp:cNvPr id="0" name=""/>
        <dsp:cNvSpPr/>
      </dsp:nvSpPr>
      <dsp:spPr>
        <a:xfrm>
          <a:off x="0" y="807807"/>
          <a:ext cx="8716504" cy="0"/>
        </a:xfrm>
        <a:prstGeom prst="line">
          <a:avLst/>
        </a:prstGeom>
        <a:solidFill>
          <a:schemeClr val="accent2">
            <a:hueOff val="-319996"/>
            <a:satOff val="-6925"/>
            <a:lumOff val="-981"/>
            <a:alphaOff val="0"/>
          </a:schemeClr>
        </a:solidFill>
        <a:ln w="12700" cap="flat" cmpd="sng" algn="ctr">
          <a:solidFill>
            <a:schemeClr val="accent2">
              <a:hueOff val="-319996"/>
              <a:satOff val="-6925"/>
              <a:lumOff val="-9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BD3442-9657-4BA6-A013-4D63E529F667}">
      <dsp:nvSpPr>
        <dsp:cNvPr id="0" name=""/>
        <dsp:cNvSpPr/>
      </dsp:nvSpPr>
      <dsp:spPr>
        <a:xfrm>
          <a:off x="0" y="807807"/>
          <a:ext cx="8716504" cy="807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Financial limitations prevent establishment of universal public healthcare.</a:t>
          </a:r>
        </a:p>
      </dsp:txBody>
      <dsp:txXfrm>
        <a:off x="0" y="807807"/>
        <a:ext cx="8716504" cy="807807"/>
      </dsp:txXfrm>
    </dsp:sp>
    <dsp:sp modelId="{2ABDE087-5248-4844-A621-CC9DE719EC8C}">
      <dsp:nvSpPr>
        <dsp:cNvPr id="0" name=""/>
        <dsp:cNvSpPr/>
      </dsp:nvSpPr>
      <dsp:spPr>
        <a:xfrm>
          <a:off x="0" y="1615614"/>
          <a:ext cx="8716504" cy="0"/>
        </a:xfrm>
        <a:prstGeom prst="line">
          <a:avLst/>
        </a:prstGeom>
        <a:solidFill>
          <a:schemeClr val="accent2">
            <a:hueOff val="-639993"/>
            <a:satOff val="-13849"/>
            <a:lumOff val="-1961"/>
            <a:alphaOff val="0"/>
          </a:schemeClr>
        </a:solidFill>
        <a:ln w="12700" cap="flat" cmpd="sng" algn="ctr">
          <a:solidFill>
            <a:schemeClr val="accent2">
              <a:hueOff val="-639993"/>
              <a:satOff val="-13849"/>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806950-704F-453F-9DA5-AC4425B14D7C}">
      <dsp:nvSpPr>
        <dsp:cNvPr id="0" name=""/>
        <dsp:cNvSpPr/>
      </dsp:nvSpPr>
      <dsp:spPr>
        <a:xfrm>
          <a:off x="0" y="1615614"/>
          <a:ext cx="8716504" cy="807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Health system predominantly </a:t>
          </a:r>
          <a:r>
            <a:rPr lang="en-US" sz="2300" b="1" kern="1200"/>
            <a:t>hospital-based</a:t>
          </a:r>
          <a:r>
            <a:rPr lang="en-US" sz="2300" kern="1200"/>
            <a:t> and </a:t>
          </a:r>
          <a:r>
            <a:rPr lang="en-US" sz="2300" b="1" kern="1200"/>
            <a:t>disease-oriented</a:t>
          </a:r>
          <a:r>
            <a:rPr lang="en-US" sz="2300" kern="1200"/>
            <a:t>.</a:t>
          </a:r>
        </a:p>
      </dsp:txBody>
      <dsp:txXfrm>
        <a:off x="0" y="1615614"/>
        <a:ext cx="8716504" cy="807807"/>
      </dsp:txXfrm>
    </dsp:sp>
    <dsp:sp modelId="{EA3256FC-094B-436C-A92F-4A1A4A8994FC}">
      <dsp:nvSpPr>
        <dsp:cNvPr id="0" name=""/>
        <dsp:cNvSpPr/>
      </dsp:nvSpPr>
      <dsp:spPr>
        <a:xfrm>
          <a:off x="0" y="2423421"/>
          <a:ext cx="8716504" cy="0"/>
        </a:xfrm>
        <a:prstGeom prst="line">
          <a:avLst/>
        </a:prstGeom>
        <a:solidFill>
          <a:schemeClr val="accent2">
            <a:hueOff val="-959989"/>
            <a:satOff val="-20774"/>
            <a:lumOff val="-2942"/>
            <a:alphaOff val="0"/>
          </a:schemeClr>
        </a:solidFill>
        <a:ln w="12700" cap="flat" cmpd="sng" algn="ctr">
          <a:solidFill>
            <a:schemeClr val="accent2">
              <a:hueOff val="-959989"/>
              <a:satOff val="-20774"/>
              <a:lumOff val="-294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CA54BD-DE92-4F1C-BB7E-D0CEF1B5DCB2}">
      <dsp:nvSpPr>
        <dsp:cNvPr id="0" name=""/>
        <dsp:cNvSpPr/>
      </dsp:nvSpPr>
      <dsp:spPr>
        <a:xfrm>
          <a:off x="0" y="2423421"/>
          <a:ext cx="8716504" cy="807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Benefits concentrated among the </a:t>
          </a:r>
          <a:r>
            <a:rPr lang="en-US" sz="2300" b="1" kern="1200"/>
            <a:t>urban elite</a:t>
          </a:r>
          <a:r>
            <a:rPr lang="en-US" sz="2300" kern="1200"/>
            <a:t>; ~</a:t>
          </a:r>
          <a:r>
            <a:rPr lang="en-US" sz="2300" b="1" kern="1200"/>
            <a:t>80% of facilities</a:t>
          </a:r>
          <a:r>
            <a:rPr lang="en-US" sz="2300" kern="1200"/>
            <a:t> are urban.</a:t>
          </a:r>
        </a:p>
      </dsp:txBody>
      <dsp:txXfrm>
        <a:off x="0" y="2423421"/>
        <a:ext cx="8716504" cy="80780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A4BFC3-D088-482B-818A-AB4CB4427B8E}">
      <dsp:nvSpPr>
        <dsp:cNvPr id="0" name=""/>
        <dsp:cNvSpPr/>
      </dsp:nvSpPr>
      <dsp:spPr>
        <a:xfrm>
          <a:off x="0" y="403965"/>
          <a:ext cx="11066813" cy="12474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8908" tIns="458216" rIns="858908" bIns="156464" numCol="1" spcCol="1270" anchor="t" anchorCtr="0">
          <a:noAutofit/>
        </a:bodyPr>
        <a:lstStyle/>
        <a:p>
          <a:pPr marL="228600" lvl="1" indent="-228600" algn="l" defTabSz="977900">
            <a:lnSpc>
              <a:spcPct val="90000"/>
            </a:lnSpc>
            <a:spcBef>
              <a:spcPct val="0"/>
            </a:spcBef>
            <a:spcAft>
              <a:spcPct val="15000"/>
            </a:spcAft>
            <a:buChar char="•"/>
          </a:pPr>
          <a:r>
            <a:rPr lang="en-US" sz="2200" b="1" kern="1200"/>
            <a:t>Inequitable distribution</a:t>
          </a:r>
          <a:r>
            <a:rPr lang="en-US" sz="2200" kern="1200"/>
            <a:t> of health services and infrastructure.</a:t>
          </a:r>
        </a:p>
        <a:p>
          <a:pPr marL="228600" lvl="1" indent="-228600" algn="l" defTabSz="977900">
            <a:lnSpc>
              <a:spcPct val="90000"/>
            </a:lnSpc>
            <a:spcBef>
              <a:spcPct val="0"/>
            </a:spcBef>
            <a:spcAft>
              <a:spcPct val="15000"/>
            </a:spcAft>
            <a:buChar char="•"/>
          </a:pPr>
          <a:r>
            <a:rPr lang="en-US" sz="2200" kern="1200"/>
            <a:t>Health services have not reached the </a:t>
          </a:r>
          <a:r>
            <a:rPr lang="en-US" sz="2200" b="1" kern="1200"/>
            <a:t>social periphery</a:t>
          </a:r>
          <a:r>
            <a:rPr lang="en-US" sz="2200" kern="1200"/>
            <a:t> effectively.</a:t>
          </a:r>
        </a:p>
      </dsp:txBody>
      <dsp:txXfrm>
        <a:off x="0" y="403965"/>
        <a:ext cx="11066813" cy="1247400"/>
      </dsp:txXfrm>
    </dsp:sp>
    <dsp:sp modelId="{F43B57F1-DCF7-44D4-86AD-68E9AF79FB4F}">
      <dsp:nvSpPr>
        <dsp:cNvPr id="0" name=""/>
        <dsp:cNvSpPr/>
      </dsp:nvSpPr>
      <dsp:spPr>
        <a:xfrm>
          <a:off x="553340" y="79245"/>
          <a:ext cx="7746769" cy="6494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809" tIns="0" rIns="292809" bIns="0" numCol="1" spcCol="1270" anchor="ctr" anchorCtr="0">
          <a:noAutofit/>
        </a:bodyPr>
        <a:lstStyle/>
        <a:p>
          <a:pPr marL="0" lvl="0" indent="0" algn="l" defTabSz="977900">
            <a:lnSpc>
              <a:spcPct val="90000"/>
            </a:lnSpc>
            <a:spcBef>
              <a:spcPct val="0"/>
            </a:spcBef>
            <a:spcAft>
              <a:spcPct val="35000"/>
            </a:spcAft>
            <a:buNone/>
          </a:pPr>
          <a:r>
            <a:rPr lang="en-US" sz="2200" b="1" kern="1200"/>
            <a:t>Core Problem:</a:t>
          </a:r>
          <a:endParaRPr lang="en-US" sz="2200" kern="1200"/>
        </a:p>
      </dsp:txBody>
      <dsp:txXfrm>
        <a:off x="585043" y="110948"/>
        <a:ext cx="7683363" cy="586034"/>
      </dsp:txXfrm>
    </dsp:sp>
    <dsp:sp modelId="{001B6FE5-EA4B-46AB-9A7D-39694D1C47BD}">
      <dsp:nvSpPr>
        <dsp:cNvPr id="0" name=""/>
        <dsp:cNvSpPr/>
      </dsp:nvSpPr>
      <dsp:spPr>
        <a:xfrm>
          <a:off x="0" y="2094885"/>
          <a:ext cx="11066813" cy="2633399"/>
        </a:xfrm>
        <a:prstGeom prst="rect">
          <a:avLst/>
        </a:prstGeom>
        <a:solidFill>
          <a:schemeClr val="lt1">
            <a:alpha val="90000"/>
            <a:hueOff val="0"/>
            <a:satOff val="0"/>
            <a:lumOff val="0"/>
            <a:alphaOff val="0"/>
          </a:schemeClr>
        </a:solidFill>
        <a:ln w="12700" cap="flat" cmpd="sng" algn="ctr">
          <a:solidFill>
            <a:schemeClr val="accent2">
              <a:hueOff val="-959989"/>
              <a:satOff val="-20774"/>
              <a:lumOff val="-294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8908" tIns="458216" rIns="858908"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dirty="0"/>
            <a:t>Emphasis on </a:t>
          </a:r>
          <a:r>
            <a:rPr lang="en-US" sz="2200" b="1" kern="1200" dirty="0"/>
            <a:t>Health for All (HFA/2000)</a:t>
          </a:r>
          <a:r>
            <a:rPr lang="en-US" sz="2200" kern="1200" dirty="0"/>
            <a:t> strategy.</a:t>
          </a:r>
        </a:p>
        <a:p>
          <a:pPr marL="228600" lvl="1" indent="-228600" algn="l" defTabSz="977900">
            <a:lnSpc>
              <a:spcPct val="90000"/>
            </a:lnSpc>
            <a:spcBef>
              <a:spcPct val="0"/>
            </a:spcBef>
            <a:spcAft>
              <a:spcPct val="15000"/>
            </a:spcAft>
            <a:buChar char="•"/>
          </a:pPr>
          <a:r>
            <a:rPr lang="en-US" sz="2200" kern="1200"/>
            <a:t>Shift toward </a:t>
          </a:r>
          <a:r>
            <a:rPr lang="en-US" sz="2200" b="1" kern="1200"/>
            <a:t>Primary Health Care</a:t>
          </a:r>
          <a:r>
            <a:rPr lang="en-US" sz="2200" kern="1200"/>
            <a:t> approach.</a:t>
          </a:r>
        </a:p>
        <a:p>
          <a:pPr marL="228600" lvl="1" indent="-228600" algn="l" defTabSz="977900">
            <a:lnSpc>
              <a:spcPct val="90000"/>
            </a:lnSpc>
            <a:spcBef>
              <a:spcPct val="0"/>
            </a:spcBef>
            <a:spcAft>
              <a:spcPct val="15000"/>
            </a:spcAft>
            <a:buChar char="•"/>
          </a:pPr>
          <a:r>
            <a:rPr lang="en-US" sz="2200" kern="1200"/>
            <a:t>Key principles:</a:t>
          </a:r>
        </a:p>
        <a:p>
          <a:pPr marL="457200" lvl="2" indent="-228600" algn="l" defTabSz="977900">
            <a:lnSpc>
              <a:spcPct val="90000"/>
            </a:lnSpc>
            <a:spcBef>
              <a:spcPct val="0"/>
            </a:spcBef>
            <a:spcAft>
              <a:spcPct val="15000"/>
            </a:spcAft>
            <a:buChar char="•"/>
          </a:pPr>
          <a:r>
            <a:rPr lang="en-US" sz="2200" b="1" kern="1200"/>
            <a:t>Equity in access</a:t>
          </a:r>
          <a:endParaRPr lang="en-US" sz="2200" kern="1200"/>
        </a:p>
        <a:p>
          <a:pPr marL="457200" lvl="2" indent="-228600" algn="l" defTabSz="977900">
            <a:lnSpc>
              <a:spcPct val="90000"/>
            </a:lnSpc>
            <a:spcBef>
              <a:spcPct val="0"/>
            </a:spcBef>
            <a:spcAft>
              <a:spcPct val="15000"/>
            </a:spcAft>
            <a:buChar char="•"/>
          </a:pPr>
          <a:r>
            <a:rPr lang="en-US" sz="2200" b="1" kern="1200"/>
            <a:t>Intersectoral coordination</a:t>
          </a:r>
          <a:endParaRPr lang="en-US" sz="2200" kern="1200"/>
        </a:p>
        <a:p>
          <a:pPr marL="457200" lvl="2" indent="-228600" algn="l" defTabSz="977900">
            <a:lnSpc>
              <a:spcPct val="90000"/>
            </a:lnSpc>
            <a:spcBef>
              <a:spcPct val="0"/>
            </a:spcBef>
            <a:spcAft>
              <a:spcPct val="15000"/>
            </a:spcAft>
            <a:buChar char="•"/>
          </a:pPr>
          <a:r>
            <a:rPr lang="en-US" sz="2200" b="1" kern="1200"/>
            <a:t>Community participation</a:t>
          </a:r>
          <a:endParaRPr lang="en-US" sz="2200" kern="1200"/>
        </a:p>
      </dsp:txBody>
      <dsp:txXfrm>
        <a:off x="0" y="2094885"/>
        <a:ext cx="11066813" cy="2633399"/>
      </dsp:txXfrm>
    </dsp:sp>
    <dsp:sp modelId="{AAB9037B-6D0A-4035-A4CA-CFD0BFC53883}">
      <dsp:nvSpPr>
        <dsp:cNvPr id="0" name=""/>
        <dsp:cNvSpPr/>
      </dsp:nvSpPr>
      <dsp:spPr>
        <a:xfrm>
          <a:off x="553340" y="1770165"/>
          <a:ext cx="7746769" cy="649440"/>
        </a:xfrm>
        <a:prstGeom prst="roundRect">
          <a:avLst/>
        </a:prstGeom>
        <a:solidFill>
          <a:schemeClr val="accent2">
            <a:hueOff val="-959989"/>
            <a:satOff val="-20774"/>
            <a:lumOff val="-29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809" tIns="0" rIns="292809" bIns="0" numCol="1" spcCol="1270" anchor="ctr" anchorCtr="0">
          <a:noAutofit/>
        </a:bodyPr>
        <a:lstStyle/>
        <a:p>
          <a:pPr marL="0" lvl="0" indent="0" algn="l" defTabSz="977900">
            <a:lnSpc>
              <a:spcPct val="90000"/>
            </a:lnSpc>
            <a:spcBef>
              <a:spcPct val="0"/>
            </a:spcBef>
            <a:spcAft>
              <a:spcPct val="35000"/>
            </a:spcAft>
            <a:buNone/>
          </a:pPr>
          <a:r>
            <a:rPr lang="en-US" sz="2200" b="1" kern="1200"/>
            <a:t>Corrective Measures:</a:t>
          </a:r>
          <a:endParaRPr lang="en-US" sz="2200" kern="1200"/>
        </a:p>
      </dsp:txBody>
      <dsp:txXfrm>
        <a:off x="585043" y="1801868"/>
        <a:ext cx="7683363" cy="58603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7230B2-D9E0-4A04-B08E-A14316B6B327}">
      <dsp:nvSpPr>
        <dsp:cNvPr id="0" name=""/>
        <dsp:cNvSpPr/>
      </dsp:nvSpPr>
      <dsp:spPr>
        <a:xfrm>
          <a:off x="-668340" y="11177"/>
          <a:ext cx="11067064" cy="12488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3E00ED-086B-463B-9849-4D7B7417D946}">
      <dsp:nvSpPr>
        <dsp:cNvPr id="0" name=""/>
        <dsp:cNvSpPr/>
      </dsp:nvSpPr>
      <dsp:spPr>
        <a:xfrm>
          <a:off x="-290577" y="292157"/>
          <a:ext cx="686840" cy="6868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A7DB1C-B8B3-4D00-A2DC-D1C28059D7FC}">
      <dsp:nvSpPr>
        <dsp:cNvPr id="0" name=""/>
        <dsp:cNvSpPr/>
      </dsp:nvSpPr>
      <dsp:spPr>
        <a:xfrm>
          <a:off x="774025" y="11177"/>
          <a:ext cx="9621876" cy="1248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165" tIns="132165" rIns="132165" bIns="132165" numCol="1" spcCol="1270" anchor="ctr" anchorCtr="0">
          <a:noAutofit/>
        </a:bodyPr>
        <a:lstStyle/>
        <a:p>
          <a:pPr marL="0" lvl="0" indent="0" algn="l" defTabSz="977900">
            <a:lnSpc>
              <a:spcPct val="90000"/>
            </a:lnSpc>
            <a:spcBef>
              <a:spcPct val="0"/>
            </a:spcBef>
            <a:spcAft>
              <a:spcPct val="35000"/>
            </a:spcAft>
            <a:buNone/>
          </a:pPr>
          <a:r>
            <a:rPr lang="en-US" sz="2200" b="1" kern="1200"/>
            <a:t>Scale &amp; Impact</a:t>
          </a:r>
          <a:endParaRPr lang="en-US" sz="2200" kern="1200"/>
        </a:p>
      </dsp:txBody>
      <dsp:txXfrm>
        <a:off x="774025" y="11177"/>
        <a:ext cx="9621876" cy="1248801"/>
      </dsp:txXfrm>
    </dsp:sp>
    <dsp:sp modelId="{3A05CACF-82DD-437A-9F60-585D27801856}">
      <dsp:nvSpPr>
        <dsp:cNvPr id="0" name=""/>
        <dsp:cNvSpPr/>
      </dsp:nvSpPr>
      <dsp:spPr>
        <a:xfrm>
          <a:off x="-668340" y="1572179"/>
          <a:ext cx="11067064" cy="12488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DBDFD7-A65C-4631-BF14-056D3133DDD0}">
      <dsp:nvSpPr>
        <dsp:cNvPr id="0" name=""/>
        <dsp:cNvSpPr/>
      </dsp:nvSpPr>
      <dsp:spPr>
        <a:xfrm>
          <a:off x="-290577" y="1853159"/>
          <a:ext cx="686840" cy="6868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77BFC6-E19C-4C00-9368-BE30CDF61A30}">
      <dsp:nvSpPr>
        <dsp:cNvPr id="0" name=""/>
        <dsp:cNvSpPr/>
      </dsp:nvSpPr>
      <dsp:spPr>
        <a:xfrm>
          <a:off x="774025" y="1572179"/>
          <a:ext cx="9621876" cy="1248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165" tIns="132165" rIns="132165" bIns="132165" numCol="1" spcCol="1270" anchor="ctr" anchorCtr="0">
          <a:noAutofit/>
        </a:bodyPr>
        <a:lstStyle/>
        <a:p>
          <a:pPr marL="0" lvl="0" indent="0" algn="l" defTabSz="977900">
            <a:lnSpc>
              <a:spcPct val="90000"/>
            </a:lnSpc>
            <a:spcBef>
              <a:spcPct val="0"/>
            </a:spcBef>
            <a:spcAft>
              <a:spcPct val="35000"/>
            </a:spcAft>
            <a:buNone/>
          </a:pPr>
          <a:r>
            <a:rPr lang="en-US" sz="2200" kern="1200"/>
            <a:t>India’s population surpassed </a:t>
          </a:r>
          <a:r>
            <a:rPr lang="en-US" sz="2200" b="1" kern="1200"/>
            <a:t>1 billion by 2000</a:t>
          </a:r>
          <a:r>
            <a:rPr lang="en-US" sz="2200" kern="1200"/>
            <a:t>, contributing to significant strain on resources.</a:t>
          </a:r>
        </a:p>
      </dsp:txBody>
      <dsp:txXfrm>
        <a:off x="774025" y="1572179"/>
        <a:ext cx="9621876" cy="1248801"/>
      </dsp:txXfrm>
    </dsp:sp>
    <dsp:sp modelId="{CE70B0BD-C987-455A-BEEE-1BFAEA279404}">
      <dsp:nvSpPr>
        <dsp:cNvPr id="0" name=""/>
        <dsp:cNvSpPr/>
      </dsp:nvSpPr>
      <dsp:spPr>
        <a:xfrm>
          <a:off x="-668340" y="3133181"/>
          <a:ext cx="11067064" cy="12488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C81AC1-C966-4A64-87DD-DC18177C4F96}">
      <dsp:nvSpPr>
        <dsp:cNvPr id="0" name=""/>
        <dsp:cNvSpPr/>
      </dsp:nvSpPr>
      <dsp:spPr>
        <a:xfrm>
          <a:off x="-290577" y="3414161"/>
          <a:ext cx="686840" cy="6868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688301-19BC-4D33-AF9C-575CCA0FD3CD}">
      <dsp:nvSpPr>
        <dsp:cNvPr id="0" name=""/>
        <dsp:cNvSpPr/>
      </dsp:nvSpPr>
      <dsp:spPr>
        <a:xfrm>
          <a:off x="774025" y="3133181"/>
          <a:ext cx="4980178" cy="1248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165" tIns="132165" rIns="132165" bIns="132165" numCol="1" spcCol="1270" anchor="ctr" anchorCtr="0">
          <a:noAutofit/>
        </a:bodyPr>
        <a:lstStyle/>
        <a:p>
          <a:pPr marL="0" lvl="0" indent="0" algn="l" defTabSz="977900">
            <a:lnSpc>
              <a:spcPct val="90000"/>
            </a:lnSpc>
            <a:spcBef>
              <a:spcPct val="0"/>
            </a:spcBef>
            <a:spcAft>
              <a:spcPct val="35000"/>
            </a:spcAft>
            <a:buNone/>
          </a:pPr>
          <a:r>
            <a:rPr lang="en-US" sz="2200" kern="1200" dirty="0"/>
            <a:t>Rapid growth affects:</a:t>
          </a:r>
        </a:p>
      </dsp:txBody>
      <dsp:txXfrm>
        <a:off x="774025" y="3133181"/>
        <a:ext cx="4980178" cy="1248801"/>
      </dsp:txXfrm>
    </dsp:sp>
    <dsp:sp modelId="{FAA6AAF2-A71D-4D6A-A656-095F004A9663}">
      <dsp:nvSpPr>
        <dsp:cNvPr id="0" name=""/>
        <dsp:cNvSpPr/>
      </dsp:nvSpPr>
      <dsp:spPr>
        <a:xfrm>
          <a:off x="4414703" y="3133181"/>
          <a:ext cx="7320700" cy="1248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165" tIns="132165" rIns="132165" bIns="132165" numCol="1" spcCol="1270" anchor="ctr" anchorCtr="0">
          <a:noAutofit/>
        </a:bodyPr>
        <a:lstStyle/>
        <a:p>
          <a:pPr marL="0" lvl="0" indent="0" algn="l" defTabSz="755650">
            <a:lnSpc>
              <a:spcPct val="90000"/>
            </a:lnSpc>
            <a:spcBef>
              <a:spcPct val="0"/>
            </a:spcBef>
            <a:spcAft>
              <a:spcPct val="35000"/>
            </a:spcAft>
            <a:buNone/>
          </a:pPr>
          <a:r>
            <a:rPr lang="en-US" sz="1700" b="1" kern="1200" dirty="0"/>
            <a:t>Employment</a:t>
          </a:r>
          <a:r>
            <a:rPr lang="en-US" sz="1700" kern="1200" dirty="0"/>
            <a:t>, </a:t>
          </a:r>
          <a:r>
            <a:rPr lang="en-US" sz="1700" b="1" kern="1200" dirty="0"/>
            <a:t>education</a:t>
          </a:r>
          <a:r>
            <a:rPr lang="en-US" sz="1700" kern="1200" dirty="0"/>
            <a:t>, </a:t>
          </a:r>
          <a:r>
            <a:rPr lang="en-US" sz="1700" b="1" kern="1200" dirty="0"/>
            <a:t>housing</a:t>
          </a:r>
          <a:r>
            <a:rPr lang="en-US" sz="1700" kern="1200" dirty="0"/>
            <a:t>, </a:t>
          </a:r>
          <a:r>
            <a:rPr lang="en-US" sz="1700" b="1" kern="1200" dirty="0"/>
            <a:t>healthcare</a:t>
          </a:r>
          <a:r>
            <a:rPr lang="en-US" sz="1700" kern="1200" dirty="0"/>
            <a:t>, and </a:t>
          </a:r>
          <a:r>
            <a:rPr lang="en-US" sz="1700" b="1" kern="1200" dirty="0"/>
            <a:t>sanitation</a:t>
          </a:r>
          <a:r>
            <a:rPr lang="en-US" sz="1700" kern="1200" dirty="0"/>
            <a:t>.</a:t>
          </a:r>
        </a:p>
        <a:p>
          <a:pPr marL="0" lvl="0" indent="0" algn="l" defTabSz="755650">
            <a:lnSpc>
              <a:spcPct val="90000"/>
            </a:lnSpc>
            <a:spcBef>
              <a:spcPct val="0"/>
            </a:spcBef>
            <a:spcAft>
              <a:spcPct val="35000"/>
            </a:spcAft>
            <a:buNone/>
          </a:pPr>
          <a:r>
            <a:rPr lang="en-US" sz="1700" kern="1200" dirty="0"/>
            <a:t>Puts pressure on the </a:t>
          </a:r>
          <a:r>
            <a:rPr lang="en-US" sz="1700" b="1" kern="1200" dirty="0"/>
            <a:t>environment</a:t>
          </a:r>
          <a:r>
            <a:rPr lang="en-US" sz="1700" kern="1200" dirty="0"/>
            <a:t> and slows socio-economic development.</a:t>
          </a:r>
        </a:p>
      </dsp:txBody>
      <dsp:txXfrm>
        <a:off x="4414703" y="3133181"/>
        <a:ext cx="7320700" cy="1248801"/>
      </dsp:txXfrm>
    </dsp:sp>
    <dsp:sp modelId="{0A996E61-CE64-4EB7-A78D-7DD683AEC1EF}">
      <dsp:nvSpPr>
        <dsp:cNvPr id="0" name=""/>
        <dsp:cNvSpPr/>
      </dsp:nvSpPr>
      <dsp:spPr>
        <a:xfrm>
          <a:off x="-668340" y="4694183"/>
          <a:ext cx="11067064" cy="12488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1BDBD8-77FB-4C62-B536-A76C041E2B77}">
      <dsp:nvSpPr>
        <dsp:cNvPr id="0" name=""/>
        <dsp:cNvSpPr/>
      </dsp:nvSpPr>
      <dsp:spPr>
        <a:xfrm>
          <a:off x="-290577" y="4975163"/>
          <a:ext cx="686840" cy="6868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02EBB9-76C4-4D08-BF1E-0C2363AA0EE4}">
      <dsp:nvSpPr>
        <dsp:cNvPr id="0" name=""/>
        <dsp:cNvSpPr/>
      </dsp:nvSpPr>
      <dsp:spPr>
        <a:xfrm>
          <a:off x="774025" y="4694183"/>
          <a:ext cx="9621876" cy="1248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165" tIns="132165" rIns="132165" bIns="132165" numCol="1" spcCol="1270" anchor="ctr" anchorCtr="0">
          <a:noAutofit/>
        </a:bodyPr>
        <a:lstStyle/>
        <a:p>
          <a:pPr marL="0" lvl="0" indent="0" algn="l" defTabSz="977900">
            <a:lnSpc>
              <a:spcPct val="90000"/>
            </a:lnSpc>
            <a:spcBef>
              <a:spcPct val="0"/>
            </a:spcBef>
            <a:spcAft>
              <a:spcPct val="35000"/>
            </a:spcAft>
            <a:buNone/>
          </a:pPr>
          <a:r>
            <a:rPr lang="en-US" sz="2200" kern="1200"/>
            <a:t>Reflects the </a:t>
          </a:r>
          <a:r>
            <a:rPr lang="en-US" sz="2200" b="1" kern="1200"/>
            <a:t>law of diminishing returns</a:t>
          </a:r>
          <a:r>
            <a:rPr lang="en-US" sz="2200" kern="1200"/>
            <a:t>: higher population dilutes development gains.</a:t>
          </a:r>
        </a:p>
      </dsp:txBody>
      <dsp:txXfrm>
        <a:off x="774025" y="4694183"/>
        <a:ext cx="9621876" cy="124880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7/17/2025</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7/17/2025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a:t>
            </a:fld>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36</a:t>
            </a:fld>
            <a:endParaRPr lang="en-US" dirty="0"/>
          </a:p>
        </p:txBody>
      </p:sp>
    </p:spTree>
    <p:extLst>
      <p:ext uri="{BB962C8B-B14F-4D97-AF65-F5344CB8AC3E}">
        <p14:creationId xmlns:p14="http://schemas.microsoft.com/office/powerpoint/2010/main" val="1441182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37</a:t>
            </a:fld>
            <a:endParaRPr lang="en-US" dirty="0"/>
          </a:p>
        </p:txBody>
      </p:sp>
    </p:spTree>
    <p:extLst>
      <p:ext uri="{BB962C8B-B14F-4D97-AF65-F5344CB8AC3E}">
        <p14:creationId xmlns:p14="http://schemas.microsoft.com/office/powerpoint/2010/main" val="1520219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38</a:t>
            </a:fld>
            <a:endParaRPr lang="en-US" dirty="0"/>
          </a:p>
        </p:txBody>
      </p:sp>
    </p:spTree>
    <p:extLst>
      <p:ext uri="{BB962C8B-B14F-4D97-AF65-F5344CB8AC3E}">
        <p14:creationId xmlns:p14="http://schemas.microsoft.com/office/powerpoint/2010/main" val="3495839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3EB35-A750-B836-BED2-301070134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A588B-42BC-D078-3B74-727753B52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A706B9-CC4C-F814-F903-19F359481A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28D727-EC38-34D3-3BDD-4A601001CED8}"/>
              </a:ext>
            </a:extLst>
          </p:cNvPr>
          <p:cNvSpPr>
            <a:spLocks noGrp="1"/>
          </p:cNvSpPr>
          <p:nvPr>
            <p:ph type="sldNum" sz="quarter" idx="5"/>
          </p:nvPr>
        </p:nvSpPr>
        <p:spPr/>
        <p:txBody>
          <a:bodyPr/>
          <a:lstStyle/>
          <a:p>
            <a:fld id="{0DC92804-03A6-47F6-A893-4DDB8903A808}" type="slidenum">
              <a:rPr lang="en-US" smtClean="0"/>
              <a:t>39</a:t>
            </a:fld>
            <a:endParaRPr lang="en-US" dirty="0"/>
          </a:p>
        </p:txBody>
      </p:sp>
    </p:spTree>
    <p:extLst>
      <p:ext uri="{BB962C8B-B14F-4D97-AF65-F5344CB8AC3E}">
        <p14:creationId xmlns:p14="http://schemas.microsoft.com/office/powerpoint/2010/main" val="3539155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CC17B-8D49-9FFC-6302-4E0C4928CE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4D98D9-1CB2-1692-2526-3BCBD6B6D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7A9A1-66A6-080A-7E53-18FB07920F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AB0D9B-1BB3-2929-77B1-7355CBD26C80}"/>
              </a:ext>
            </a:extLst>
          </p:cNvPr>
          <p:cNvSpPr>
            <a:spLocks noGrp="1"/>
          </p:cNvSpPr>
          <p:nvPr>
            <p:ph type="sldNum" sz="quarter" idx="5"/>
          </p:nvPr>
        </p:nvSpPr>
        <p:spPr/>
        <p:txBody>
          <a:bodyPr/>
          <a:lstStyle/>
          <a:p>
            <a:fld id="{0DC92804-03A6-47F6-A893-4DDB8903A808}" type="slidenum">
              <a:rPr lang="en-US" smtClean="0"/>
              <a:t>40</a:t>
            </a:fld>
            <a:endParaRPr lang="en-US" dirty="0"/>
          </a:p>
        </p:txBody>
      </p:sp>
    </p:spTree>
    <p:extLst>
      <p:ext uri="{BB962C8B-B14F-4D97-AF65-F5344CB8AC3E}">
        <p14:creationId xmlns:p14="http://schemas.microsoft.com/office/powerpoint/2010/main" val="624391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41</a:t>
            </a:fld>
            <a:endParaRPr lang="en-US" dirty="0"/>
          </a:p>
        </p:txBody>
      </p:sp>
    </p:spTree>
    <p:extLst>
      <p:ext uri="{BB962C8B-B14F-4D97-AF65-F5344CB8AC3E}">
        <p14:creationId xmlns:p14="http://schemas.microsoft.com/office/powerpoint/2010/main" val="1838977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74AB6-96B4-6ADB-4FD7-0F9E9445D2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C55C1-A222-02EC-A0A5-02FF08FBC5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9D642D-7A07-D344-AF7A-2F321FBCD0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1FC9F0-730C-C2B8-8000-C5290143676A}"/>
              </a:ext>
            </a:extLst>
          </p:cNvPr>
          <p:cNvSpPr>
            <a:spLocks noGrp="1"/>
          </p:cNvSpPr>
          <p:nvPr>
            <p:ph type="sldNum" sz="quarter" idx="5"/>
          </p:nvPr>
        </p:nvSpPr>
        <p:spPr/>
        <p:txBody>
          <a:bodyPr/>
          <a:lstStyle/>
          <a:p>
            <a:fld id="{0DC92804-03A6-47F6-A893-4DDB8903A808}" type="slidenum">
              <a:rPr lang="en-US" smtClean="0"/>
              <a:t>42</a:t>
            </a:fld>
            <a:endParaRPr lang="en-US" dirty="0"/>
          </a:p>
        </p:txBody>
      </p:sp>
    </p:spTree>
    <p:extLst>
      <p:ext uri="{BB962C8B-B14F-4D97-AF65-F5344CB8AC3E}">
        <p14:creationId xmlns:p14="http://schemas.microsoft.com/office/powerpoint/2010/main" val="2673642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3E9C5-A38A-0D99-DDA2-91AD8826B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E4DAE-2A49-8080-347B-5A69900BD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52128F-A80B-E4FA-6464-87F9B278C7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59A314-AAD4-552C-A25D-BD06C6DE30C5}"/>
              </a:ext>
            </a:extLst>
          </p:cNvPr>
          <p:cNvSpPr>
            <a:spLocks noGrp="1"/>
          </p:cNvSpPr>
          <p:nvPr>
            <p:ph type="sldNum" sz="quarter" idx="5"/>
          </p:nvPr>
        </p:nvSpPr>
        <p:spPr/>
        <p:txBody>
          <a:bodyPr/>
          <a:lstStyle/>
          <a:p>
            <a:fld id="{0DC92804-03A6-47F6-A893-4DDB8903A808}" type="slidenum">
              <a:rPr lang="en-US" smtClean="0"/>
              <a:t>43</a:t>
            </a:fld>
            <a:endParaRPr lang="en-US" dirty="0"/>
          </a:p>
        </p:txBody>
      </p:sp>
    </p:spTree>
    <p:extLst>
      <p:ext uri="{BB962C8B-B14F-4D97-AF65-F5344CB8AC3E}">
        <p14:creationId xmlns:p14="http://schemas.microsoft.com/office/powerpoint/2010/main" val="2127652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9BD07-3776-69E0-DB6A-F904D6099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CB18D-69DE-63D7-5546-2724F4D736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0AEF6-7C92-04C6-566E-DB33168100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885AAD-FAFA-D1AC-2461-24D8C872C235}"/>
              </a:ext>
            </a:extLst>
          </p:cNvPr>
          <p:cNvSpPr>
            <a:spLocks noGrp="1"/>
          </p:cNvSpPr>
          <p:nvPr>
            <p:ph type="sldNum" sz="quarter" idx="5"/>
          </p:nvPr>
        </p:nvSpPr>
        <p:spPr/>
        <p:txBody>
          <a:bodyPr/>
          <a:lstStyle/>
          <a:p>
            <a:fld id="{0DC92804-03A6-47F6-A893-4DDB8903A808}" type="slidenum">
              <a:rPr lang="en-US" smtClean="0"/>
              <a:t>44</a:t>
            </a:fld>
            <a:endParaRPr lang="en-US" dirty="0"/>
          </a:p>
        </p:txBody>
      </p:sp>
    </p:spTree>
    <p:extLst>
      <p:ext uri="{BB962C8B-B14F-4D97-AF65-F5344CB8AC3E}">
        <p14:creationId xmlns:p14="http://schemas.microsoft.com/office/powerpoint/2010/main" val="24157483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8C602-47E9-8613-0340-EB28956613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D0326-7156-FC2E-F3A3-870F36EBF5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BC6D47-AB39-33B1-FAC2-86BC5885D2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AAB3D0-5216-D8C4-3257-362143B5CF81}"/>
              </a:ext>
            </a:extLst>
          </p:cNvPr>
          <p:cNvSpPr>
            <a:spLocks noGrp="1"/>
          </p:cNvSpPr>
          <p:nvPr>
            <p:ph type="sldNum" sz="quarter" idx="5"/>
          </p:nvPr>
        </p:nvSpPr>
        <p:spPr/>
        <p:txBody>
          <a:bodyPr/>
          <a:lstStyle/>
          <a:p>
            <a:fld id="{0DC92804-03A6-47F6-A893-4DDB8903A808}" type="slidenum">
              <a:rPr lang="en-US" smtClean="0"/>
              <a:t>45</a:t>
            </a:fld>
            <a:endParaRPr lang="en-US" dirty="0"/>
          </a:p>
        </p:txBody>
      </p:sp>
    </p:spTree>
    <p:extLst>
      <p:ext uri="{BB962C8B-B14F-4D97-AF65-F5344CB8AC3E}">
        <p14:creationId xmlns:p14="http://schemas.microsoft.com/office/powerpoint/2010/main" val="457327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3772-AE7F-F2B1-1136-7A0B657AFC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B2A56-F621-C8E8-DBDC-4D4008A9D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2B763-E067-7661-B0F5-DD49AB6D3B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C78F54-1359-1AAF-DD37-5844F7DA7F46}"/>
              </a:ext>
            </a:extLst>
          </p:cNvPr>
          <p:cNvSpPr>
            <a:spLocks noGrp="1"/>
          </p:cNvSpPr>
          <p:nvPr>
            <p:ph type="sldNum" sz="quarter" idx="5"/>
          </p:nvPr>
        </p:nvSpPr>
        <p:spPr/>
        <p:txBody>
          <a:bodyPr/>
          <a:lstStyle/>
          <a:p>
            <a:fld id="{0DC92804-03A6-47F6-A893-4DDB8903A808}" type="slidenum">
              <a:rPr lang="en-US" smtClean="0"/>
              <a:t>46</a:t>
            </a:fld>
            <a:endParaRPr lang="en-US" dirty="0"/>
          </a:p>
        </p:txBody>
      </p:sp>
    </p:spTree>
    <p:extLst>
      <p:ext uri="{BB962C8B-B14F-4D97-AF65-F5344CB8AC3E}">
        <p14:creationId xmlns:p14="http://schemas.microsoft.com/office/powerpoint/2010/main" val="3874844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CBD7F-53AA-71DF-DE0D-01BEBB8BD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767338-A875-CFDF-1E71-AAB3D4C306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80835-11C9-2FA8-22F1-EEADF22EB8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118AF4-0DE5-F99B-F0BC-B40A7D7932A5}"/>
              </a:ext>
            </a:extLst>
          </p:cNvPr>
          <p:cNvSpPr>
            <a:spLocks noGrp="1"/>
          </p:cNvSpPr>
          <p:nvPr>
            <p:ph type="sldNum" sz="quarter" idx="5"/>
          </p:nvPr>
        </p:nvSpPr>
        <p:spPr/>
        <p:txBody>
          <a:bodyPr/>
          <a:lstStyle/>
          <a:p>
            <a:fld id="{0DC92804-03A6-47F6-A893-4DDB8903A808}" type="slidenum">
              <a:rPr lang="en-US" smtClean="0"/>
              <a:t>47</a:t>
            </a:fld>
            <a:endParaRPr lang="en-US" dirty="0"/>
          </a:p>
        </p:txBody>
      </p:sp>
    </p:spTree>
    <p:extLst>
      <p:ext uri="{BB962C8B-B14F-4D97-AF65-F5344CB8AC3E}">
        <p14:creationId xmlns:p14="http://schemas.microsoft.com/office/powerpoint/2010/main" val="3891336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50</a:t>
            </a:fld>
            <a:endParaRPr lang="en-US" dirty="0"/>
          </a:p>
        </p:txBody>
      </p:sp>
    </p:spTree>
    <p:extLst>
      <p:ext uri="{BB962C8B-B14F-4D97-AF65-F5344CB8AC3E}">
        <p14:creationId xmlns:p14="http://schemas.microsoft.com/office/powerpoint/2010/main" val="30460343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04943-612F-1C62-B381-CE49008A9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07E0D-5585-3C68-8501-EC94608F5D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60BA99-B8CF-0C51-D4E3-DE5B4CA6E3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DA7B0C-0EB8-1C06-40E8-7F5E7D99F616}"/>
              </a:ext>
            </a:extLst>
          </p:cNvPr>
          <p:cNvSpPr>
            <a:spLocks noGrp="1"/>
          </p:cNvSpPr>
          <p:nvPr>
            <p:ph type="sldNum" sz="quarter" idx="5"/>
          </p:nvPr>
        </p:nvSpPr>
        <p:spPr/>
        <p:txBody>
          <a:bodyPr/>
          <a:lstStyle/>
          <a:p>
            <a:fld id="{0DC92804-03A6-47F6-A893-4DDB8903A808}" type="slidenum">
              <a:rPr lang="en-US" smtClean="0"/>
              <a:t>51</a:t>
            </a:fld>
            <a:endParaRPr lang="en-US" dirty="0"/>
          </a:p>
        </p:txBody>
      </p:sp>
    </p:spTree>
    <p:extLst>
      <p:ext uri="{BB962C8B-B14F-4D97-AF65-F5344CB8AC3E}">
        <p14:creationId xmlns:p14="http://schemas.microsoft.com/office/powerpoint/2010/main" val="3964196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882AE-5D16-9C4C-C7EF-85D71FE31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918AF-55E6-00D2-3003-F8F27B196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2B109-90EC-5CA0-E484-AF7063EDFC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B22273-E751-941F-52E0-6476EE4755B0}"/>
              </a:ext>
            </a:extLst>
          </p:cNvPr>
          <p:cNvSpPr>
            <a:spLocks noGrp="1"/>
          </p:cNvSpPr>
          <p:nvPr>
            <p:ph type="sldNum" sz="quarter" idx="5"/>
          </p:nvPr>
        </p:nvSpPr>
        <p:spPr/>
        <p:txBody>
          <a:bodyPr/>
          <a:lstStyle/>
          <a:p>
            <a:fld id="{0DC92804-03A6-47F6-A893-4DDB8903A808}" type="slidenum">
              <a:rPr lang="en-US" smtClean="0"/>
              <a:t>52</a:t>
            </a:fld>
            <a:endParaRPr lang="en-US" dirty="0"/>
          </a:p>
        </p:txBody>
      </p:sp>
    </p:spTree>
    <p:extLst>
      <p:ext uri="{BB962C8B-B14F-4D97-AF65-F5344CB8AC3E}">
        <p14:creationId xmlns:p14="http://schemas.microsoft.com/office/powerpoint/2010/main" val="30066866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971C-A02D-C2EE-A442-4B60F02296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BDFC6-0EA7-F937-9175-23890A5B2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A346F-ADEE-D042-C9E3-78C41B2998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6711C-22CB-D14D-8C57-28E3DB84375A}"/>
              </a:ext>
            </a:extLst>
          </p:cNvPr>
          <p:cNvSpPr>
            <a:spLocks noGrp="1"/>
          </p:cNvSpPr>
          <p:nvPr>
            <p:ph type="sldNum" sz="quarter" idx="5"/>
          </p:nvPr>
        </p:nvSpPr>
        <p:spPr/>
        <p:txBody>
          <a:bodyPr/>
          <a:lstStyle/>
          <a:p>
            <a:fld id="{0DC92804-03A6-47F6-A893-4DDB8903A808}" type="slidenum">
              <a:rPr lang="en-US" smtClean="0"/>
              <a:t>53</a:t>
            </a:fld>
            <a:endParaRPr lang="en-US" dirty="0"/>
          </a:p>
        </p:txBody>
      </p:sp>
    </p:spTree>
    <p:extLst>
      <p:ext uri="{BB962C8B-B14F-4D97-AF65-F5344CB8AC3E}">
        <p14:creationId xmlns:p14="http://schemas.microsoft.com/office/powerpoint/2010/main" val="19282075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77</a:t>
            </a:fld>
            <a:endParaRPr lang="en-US" dirty="0"/>
          </a:p>
        </p:txBody>
      </p:sp>
    </p:spTree>
    <p:extLst>
      <p:ext uri="{BB962C8B-B14F-4D97-AF65-F5344CB8AC3E}">
        <p14:creationId xmlns:p14="http://schemas.microsoft.com/office/powerpoint/2010/main" val="4255841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27242765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6761272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8492490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US"/>
              <a:t>Click to edit Master text styles</a:t>
            </a:r>
          </a:p>
          <a:p>
            <a:pPr lvl="1">
              <a:buChar char="¬"/>
            </a:pPr>
            <a:r>
              <a:rPr lang="en-US"/>
              <a:t>Second level</a:t>
            </a:r>
          </a:p>
          <a:p>
            <a:pPr lvl="2">
              <a:buChar char="¬"/>
            </a:pPr>
            <a:r>
              <a:rPr lang="en-US"/>
              <a:t>Third level</a:t>
            </a:r>
          </a:p>
          <a:p>
            <a:pPr lvl="3">
              <a:buChar char="¬"/>
            </a:pPr>
            <a:r>
              <a:rPr lang="en-US"/>
              <a:t>Fourth level</a:t>
            </a:r>
          </a:p>
          <a:p>
            <a:pPr lvl="4">
              <a:buChar char="¬"/>
            </a:pPr>
            <a:r>
              <a:rPr lang="en-US"/>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12561204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1914654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43750277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01231472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8105018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r>
              <a:rPr lang="en-US"/>
              <a:t>20XX</a:t>
            </a:r>
            <a:endParaRPr lang="en-US" dirty="0"/>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3463991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9580541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20741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1268248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9E0CFE-F27B-4D50-AA2F-7146CA90E1F0}"/>
              </a:ext>
              <a:ext uri="{C183D7F6-B498-43B3-948B-1728B52AA6E4}">
                <adec:decorative xmlns:adec="http://schemas.microsoft.com/office/drawing/2017/decorative" val="1"/>
              </a:ext>
            </a:extLst>
          </p:cNvPr>
          <p:cNvSpPr/>
          <p:nvPr userDrawn="1"/>
        </p:nvSpPr>
        <p:spPr>
          <a:xfrm>
            <a:off x="3048" y="2138289"/>
            <a:ext cx="12188952" cy="40339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2C488A36-B0CB-7B46-C2A6-BA57D39EC47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7860" r="37853" b="27738"/>
          <a:stretch/>
        </p:blipFill>
        <p:spPr>
          <a:xfrm>
            <a:off x="6962087" y="2143124"/>
            <a:ext cx="5226865" cy="4033839"/>
          </a:xfrm>
          <a:prstGeom prst="rect">
            <a:avLst/>
          </a:prstGeom>
        </p:spPr>
      </p:pic>
      <p:sp>
        <p:nvSpPr>
          <p:cNvPr id="16" name="Title 1">
            <a:extLst>
              <a:ext uri="{FF2B5EF4-FFF2-40B4-BE49-F238E27FC236}">
                <a16:creationId xmlns:a16="http://schemas.microsoft.com/office/drawing/2014/main" id="{A8614BA2-9387-F1B5-B7DB-B34DAE90FEDE}"/>
              </a:ext>
            </a:extLst>
          </p:cNvPr>
          <p:cNvSpPr>
            <a:spLocks noGrp="1"/>
          </p:cNvSpPr>
          <p:nvPr>
            <p:ph type="title" hasCustomPrompt="1"/>
          </p:nvPr>
        </p:nvSpPr>
        <p:spPr>
          <a:xfrm>
            <a:off x="422177" y="365125"/>
            <a:ext cx="10778937" cy="1325563"/>
          </a:xfrm>
        </p:spPr>
        <p:txBody>
          <a:bodyPr>
            <a:normAutofit/>
          </a:bodyPr>
          <a:lstStyle>
            <a:lvl1pPr>
              <a:defRPr sz="4400"/>
            </a:lvl1pPr>
          </a:lstStyle>
          <a:p>
            <a:r>
              <a:rPr lang="en-US" dirty="0"/>
              <a:t>Click to add title</a:t>
            </a:r>
          </a:p>
        </p:txBody>
      </p:sp>
      <p:sp>
        <p:nvSpPr>
          <p:cNvPr id="12" name="Content Placeholder 2">
            <a:extLst>
              <a:ext uri="{FF2B5EF4-FFF2-40B4-BE49-F238E27FC236}">
                <a16:creationId xmlns:a16="http://schemas.microsoft.com/office/drawing/2014/main" id="{6994EC89-4FAE-445C-A6E8-D55E4A34DE4E}"/>
              </a:ext>
            </a:extLst>
          </p:cNvPr>
          <p:cNvSpPr>
            <a:spLocks noGrp="1"/>
          </p:cNvSpPr>
          <p:nvPr>
            <p:ph idx="1" hasCustomPrompt="1"/>
          </p:nvPr>
        </p:nvSpPr>
        <p:spPr>
          <a:xfrm>
            <a:off x="422899" y="2350108"/>
            <a:ext cx="10778221" cy="3609461"/>
          </a:xfrm>
        </p:spPr>
        <p:txBody>
          <a:bodyPr anchor="ctr" anchorCtr="0">
            <a:normAutofit/>
          </a:bodyPr>
          <a:lstStyle>
            <a:lvl1pPr>
              <a:buNone/>
              <a:defRPr sz="2400"/>
            </a:lvl1pPr>
            <a:lvl2pPr>
              <a:defRPr sz="2400"/>
            </a:lvl2pPr>
            <a:lvl3pPr>
              <a:defRPr sz="2400"/>
            </a:lvl3pPr>
            <a:lvl4pPr>
              <a:defRPr sz="24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9ECF93F-3E86-4C44-BAF1-ADE160CADF49}"/>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7A80DA6A-71F3-6286-F60A-EEEC9188718C}"/>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75F98B46-5DFC-3487-EB05-148905CA6507}"/>
              </a:ext>
              <a:ext uri="{C183D7F6-B498-43B3-948B-1728B52AA6E4}">
                <adec:decorative xmlns:adec="http://schemas.microsoft.com/office/drawing/2017/decorative" val="1"/>
              </a:ext>
            </a:extLst>
          </p:cNvPr>
          <p:cNvCxnSpPr>
            <a:cxnSpLocks/>
          </p:cNvCxnSpPr>
          <p:nvPr userDrawn="1"/>
        </p:nvCxnSpPr>
        <p:spPr>
          <a:xfrm>
            <a:off x="0" y="2138288"/>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D768F8E-3DFF-8D92-E3CF-5AE5F6DA5422}"/>
              </a:ext>
              <a:ext uri="{C183D7F6-B498-43B3-948B-1728B52AA6E4}">
                <adec:decorative xmlns:adec="http://schemas.microsoft.com/office/drawing/2017/decorative" val="1"/>
              </a:ext>
            </a:extLst>
          </p:cNvPr>
          <p:cNvCxnSpPr>
            <a:cxnSpLocks/>
          </p:cNvCxnSpPr>
          <p:nvPr userDrawn="1"/>
        </p:nvCxnSpPr>
        <p:spPr>
          <a:xfrm>
            <a:off x="0" y="2045761"/>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83A1EA-5EE3-D81A-D135-860F481F6740}"/>
              </a:ext>
              <a:ext uri="{C183D7F6-B498-43B3-948B-1728B52AA6E4}">
                <adec:decorative xmlns:adec="http://schemas.microsoft.com/office/drawing/2017/decorative" val="1"/>
              </a:ext>
            </a:extLst>
          </p:cNvPr>
          <p:cNvCxnSpPr>
            <a:cxnSpLocks/>
          </p:cNvCxnSpPr>
          <p:nvPr userDrawn="1"/>
        </p:nvCxnSpPr>
        <p:spPr>
          <a:xfrm>
            <a:off x="0" y="626472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EA58FF-2FB1-3B78-FDCF-E5DC2EFE5D57}"/>
              </a:ext>
              <a:ext uri="{C183D7F6-B498-43B3-948B-1728B52AA6E4}">
                <adec:decorative xmlns:adec="http://schemas.microsoft.com/office/drawing/2017/decorative" val="1"/>
              </a:ext>
            </a:extLst>
          </p:cNvPr>
          <p:cNvCxnSpPr>
            <a:cxnSpLocks/>
          </p:cNvCxnSpPr>
          <p:nvPr userDrawn="1"/>
        </p:nvCxnSpPr>
        <p:spPr>
          <a:xfrm>
            <a:off x="0"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326723"/>
      </p:ext>
    </p:extLst>
  </p:cSld>
  <p:clrMapOvr>
    <a:masterClrMapping/>
  </p:clrMapOvr>
  <p:extLst>
    <p:ext uri="{DCECCB84-F9BA-43D5-87BE-67443E8EF086}">
      <p15:sldGuideLst xmlns:p15="http://schemas.microsoft.com/office/powerpoint/2012/main">
        <p15:guide id="1" orient="horz" pos="160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2"/>
            <a:ext cx="5646541" cy="5295371"/>
          </a:xfrm>
        </p:spPr>
        <p:txBody>
          <a:bodyPr anchor="ctr" anchorCtr="0">
            <a:normAutofit/>
          </a:bodyPr>
          <a:lstStyle>
            <a:lvl1pPr>
              <a:defRPr sz="4400"/>
            </a:lvl1pPr>
          </a:lstStyle>
          <a:p>
            <a:pPr algn="l">
              <a:lnSpc>
                <a:spcPts val="5800"/>
              </a:lnSpc>
            </a:pPr>
            <a:r>
              <a:rPr lang="en-US" sz="4800" dirty="0"/>
              <a:t>Click to add title </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Tree>
    <p:extLst>
      <p:ext uri="{BB962C8B-B14F-4D97-AF65-F5344CB8AC3E}">
        <p14:creationId xmlns:p14="http://schemas.microsoft.com/office/powerpoint/2010/main" val="37137688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brea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Rectangle 3">
            <a:extLst>
              <a:ext uri="{FF2B5EF4-FFF2-40B4-BE49-F238E27FC236}">
                <a16:creationId xmlns:a16="http://schemas.microsoft.com/office/drawing/2014/main" id="{39415B1A-CA14-E219-0C7F-0B38B168475A}"/>
              </a:ext>
              <a:ext uri="{C183D7F6-B498-43B3-948B-1728B52AA6E4}">
                <adec:decorative xmlns:adec="http://schemas.microsoft.com/office/drawing/2017/decorative" val="1"/>
              </a:ext>
            </a:extLst>
          </p:cNvPr>
          <p:cNvSpPr/>
          <p:nvPr userDrawn="1"/>
        </p:nvSpPr>
        <p:spPr>
          <a:xfrm>
            <a:off x="6483096" y="1"/>
            <a:ext cx="5013088"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92BA35BB-6689-91C0-7D75-944092B3CDB5}"/>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71949B5-8206-3159-8E9E-E95F2A9AA4EA}"/>
              </a:ext>
              <a:ext uri="{C183D7F6-B498-43B3-948B-1728B52AA6E4}">
                <adec:decorative xmlns:adec="http://schemas.microsoft.com/office/drawing/2017/decorative" val="1"/>
              </a:ext>
            </a:extLst>
          </p:cNvPr>
          <p:cNvCxnSpPr>
            <a:cxnSpLocks/>
          </p:cNvCxnSpPr>
          <p:nvPr userDrawn="1"/>
        </p:nvCxnSpPr>
        <p:spPr>
          <a:xfrm flipV="1">
            <a:off x="6483096"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7BFBC-DA17-6BEB-A937-333E9504DD6D}"/>
              </a:ext>
              <a:ext uri="{C183D7F6-B498-43B3-948B-1728B52AA6E4}">
                <adec:decorative xmlns:adec="http://schemas.microsoft.com/office/drawing/2017/decorative" val="1"/>
              </a:ext>
            </a:extLst>
          </p:cNvPr>
          <p:cNvCxnSpPr>
            <a:cxnSpLocks/>
          </p:cNvCxnSpPr>
          <p:nvPr userDrawn="1"/>
        </p:nvCxnSpPr>
        <p:spPr>
          <a:xfrm flipV="1">
            <a:off x="6363569"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DF9A5C70-EFC4-1BAB-285F-B317FAF4744B}"/>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pic>
        <p:nvPicPr>
          <p:cNvPr id="16" name="Graphic 15">
            <a:extLst>
              <a:ext uri="{FF2B5EF4-FFF2-40B4-BE49-F238E27FC236}">
                <a16:creationId xmlns:a16="http://schemas.microsoft.com/office/drawing/2014/main" id="{C073F905-5A3E-F9EB-B095-7A3A17C1ED33}"/>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2249" t="13424" r="28018" b="11087"/>
          <a:stretch/>
        </p:blipFill>
        <p:spPr>
          <a:xfrm>
            <a:off x="6472427" y="0"/>
            <a:ext cx="5023757" cy="6858000"/>
          </a:xfrm>
          <a:prstGeom prst="rect">
            <a:avLst/>
          </a:prstGeom>
        </p:spPr>
      </p:pic>
    </p:spTree>
    <p:extLst>
      <p:ext uri="{BB962C8B-B14F-4D97-AF65-F5344CB8AC3E}">
        <p14:creationId xmlns:p14="http://schemas.microsoft.com/office/powerpoint/2010/main" val="966301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troduction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77B93E-437F-D9D6-D3D1-6DE5F025A4CD}"/>
              </a:ext>
              <a:ext uri="{C183D7F6-B498-43B3-948B-1728B52AA6E4}">
                <adec:decorative xmlns:adec="http://schemas.microsoft.com/office/drawing/2017/decorative" val="1"/>
              </a:ext>
            </a:extLst>
          </p:cNvPr>
          <p:cNvSpPr/>
          <p:nvPr userDrawn="1"/>
        </p:nvSpPr>
        <p:spPr>
          <a:xfrm>
            <a:off x="10744200" y="1"/>
            <a:ext cx="75198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B74AAE1C-171A-32A3-E6FD-75252CAB875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796" t="12194" r="49125" b="12256"/>
          <a:stretch/>
        </p:blipFill>
        <p:spPr>
          <a:xfrm>
            <a:off x="10732660" y="-5609"/>
            <a:ext cx="763524" cy="6863608"/>
          </a:xfrm>
          <a:prstGeom prst="rect">
            <a:avLst/>
          </a:prstGeom>
        </p:spPr>
      </p:pic>
      <p:sp>
        <p:nvSpPr>
          <p:cNvPr id="13" name="Title 1">
            <a:extLst>
              <a:ext uri="{FF2B5EF4-FFF2-40B4-BE49-F238E27FC236}">
                <a16:creationId xmlns:a16="http://schemas.microsoft.com/office/drawing/2014/main" id="{F581E4B7-6D97-63BF-7E87-5E71F8BD8C58}"/>
              </a:ext>
            </a:extLst>
          </p:cNvPr>
          <p:cNvSpPr>
            <a:spLocks noGrp="1"/>
          </p:cNvSpPr>
          <p:nvPr>
            <p:ph type="title" hasCustomPrompt="1"/>
          </p:nvPr>
        </p:nvSpPr>
        <p:spPr>
          <a:xfrm>
            <a:off x="422178" y="365125"/>
            <a:ext cx="9733538" cy="1325563"/>
          </a:xfrm>
        </p:spPr>
        <p:txBody>
          <a:bodyPr>
            <a:normAutofit/>
          </a:bodyPr>
          <a:lstStyle>
            <a:lvl1pPr>
              <a:defRPr sz="4400"/>
            </a:lvl1pPr>
          </a:lstStyle>
          <a:p>
            <a:r>
              <a:rPr lang="en-US" dirty="0"/>
              <a:t>Click to add title</a:t>
            </a:r>
          </a:p>
        </p:txBody>
      </p:sp>
      <p:sp>
        <p:nvSpPr>
          <p:cNvPr id="9" name="Content Placeholder 2">
            <a:extLst>
              <a:ext uri="{FF2B5EF4-FFF2-40B4-BE49-F238E27FC236}">
                <a16:creationId xmlns:a16="http://schemas.microsoft.com/office/drawing/2014/main" id="{5B630934-DBD2-4535-961F-B198ABA2D05B}"/>
              </a:ext>
            </a:extLst>
          </p:cNvPr>
          <p:cNvSpPr>
            <a:spLocks noGrp="1"/>
          </p:cNvSpPr>
          <p:nvPr>
            <p:ph idx="1" hasCustomPrompt="1"/>
          </p:nvPr>
        </p:nvSpPr>
        <p:spPr>
          <a:xfrm>
            <a:off x="419106" y="2198915"/>
            <a:ext cx="9741183" cy="3345316"/>
          </a:xfrm>
        </p:spPr>
        <p:txBody>
          <a:bodyPr anchor="t" anchorCtr="0">
            <a:normAutofit/>
          </a:bodyPr>
          <a:lstStyle>
            <a:lvl1pPr marL="0" indent="0">
              <a:buNone/>
              <a:defRPr sz="1800" baseline="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020D2A6-7700-487F-AC7E-A5A2C30DC1BF}"/>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C30D6A-6415-42E1-89E9-EF806C3FE339}"/>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E05DBF26-BAB3-D5FD-5EA7-310263D4CA95}"/>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6940584B-2A03-52F7-B667-9CD1A2BD7857}"/>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A3C0872-DC48-53B1-8569-7A913D92D8D1}"/>
              </a:ext>
              <a:ext uri="{C183D7F6-B498-43B3-948B-1728B52AA6E4}">
                <adec:decorative xmlns:adec="http://schemas.microsoft.com/office/drawing/2017/decorative" val="1"/>
              </a:ext>
            </a:extLst>
          </p:cNvPr>
          <p:cNvCxnSpPr>
            <a:cxnSpLocks/>
          </p:cNvCxnSpPr>
          <p:nvPr userDrawn="1"/>
        </p:nvCxnSpPr>
        <p:spPr>
          <a:xfrm flipV="1">
            <a:off x="1074420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35D700-0F05-E0E7-FB42-2FC890C26C08}"/>
              </a:ext>
              <a:ext uri="{C183D7F6-B498-43B3-948B-1728B52AA6E4}">
                <adec:decorative xmlns:adec="http://schemas.microsoft.com/office/drawing/2017/decorative" val="1"/>
              </a:ext>
            </a:extLst>
          </p:cNvPr>
          <p:cNvCxnSpPr>
            <a:cxnSpLocks/>
          </p:cNvCxnSpPr>
          <p:nvPr userDrawn="1"/>
        </p:nvCxnSpPr>
        <p:spPr>
          <a:xfrm flipV="1">
            <a:off x="1063077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5C00B3F-62BE-8535-5239-46279DF1B7E6}"/>
              </a:ext>
              <a:ext uri="{C183D7F6-B498-43B3-948B-1728B52AA6E4}">
                <adec:decorative xmlns:adec="http://schemas.microsoft.com/office/drawing/2017/decorative" val="1"/>
              </a:ext>
            </a:extLst>
          </p:cNvPr>
          <p:cNvCxnSpPr>
            <a:cxnSpLocks/>
          </p:cNvCxnSpPr>
          <p:nvPr userDrawn="1"/>
        </p:nvCxnSpPr>
        <p:spPr>
          <a:xfrm>
            <a:off x="0" y="605245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4541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7AE2FB-B934-16AA-2537-04016B7F1AAB}"/>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Text Placeholder 14">
            <a:extLst>
              <a:ext uri="{FF2B5EF4-FFF2-40B4-BE49-F238E27FC236}">
                <a16:creationId xmlns:a16="http://schemas.microsoft.com/office/drawing/2014/main" id="{B5241927-0828-2C0E-290E-E82A357BC83F}"/>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
        <p:nvSpPr>
          <p:cNvPr id="6" name="Rectangle 5">
            <a:extLst>
              <a:ext uri="{FF2B5EF4-FFF2-40B4-BE49-F238E27FC236}">
                <a16:creationId xmlns:a16="http://schemas.microsoft.com/office/drawing/2014/main" id="{EA4F6DF6-2D97-1E21-15A5-D0E9397E2F2A}"/>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314061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two Content 2 with sub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0624" y="365125"/>
            <a:ext cx="10654936" cy="1325563"/>
          </a:xfrm>
        </p:spPr>
        <p:txBody>
          <a:bodyPr>
            <a:normAutofit/>
          </a:bodyPr>
          <a:lstStyle>
            <a:lvl1pPr>
              <a:defRPr sz="4400"/>
            </a:lvl1pPr>
          </a:lstStyle>
          <a:p>
            <a:r>
              <a:rPr lang="en-US" sz="4400" dirty="0"/>
              <a:t>Click to add title </a:t>
            </a:r>
            <a:endParaRPr lang="en-US" dirty="0"/>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hasCustomPrompt="1"/>
          </p:nvPr>
        </p:nvSpPr>
        <p:spPr>
          <a:xfrm>
            <a:off x="7105342" y="2198914"/>
            <a:ext cx="3970218" cy="3445987"/>
          </a:xfrm>
        </p:spPr>
        <p:txBody>
          <a:bodyPr>
            <a:normAutofit/>
          </a:bodyPr>
          <a:lstStyle>
            <a:lvl1pPr>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B845EA08-ECD8-E8B5-40BF-E899F315098D}"/>
              </a:ext>
            </a:extLst>
          </p:cNvPr>
          <p:cNvSpPr>
            <a:spLocks noGrp="1"/>
          </p:cNvSpPr>
          <p:nvPr>
            <p:ph type="sldNum" sz="quarter" idx="1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
        <p:nvSpPr>
          <p:cNvPr id="12" name="Rectangle 11">
            <a:extLst>
              <a:ext uri="{FF2B5EF4-FFF2-40B4-BE49-F238E27FC236}">
                <a16:creationId xmlns:a16="http://schemas.microsoft.com/office/drawing/2014/main" id="{100C4E27-95CA-78A5-BD7A-6109D75C8AE0}"/>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3" name="Content Placeholder 3">
            <a:extLst>
              <a:ext uri="{FF2B5EF4-FFF2-40B4-BE49-F238E27FC236}">
                <a16:creationId xmlns:a16="http://schemas.microsoft.com/office/drawing/2014/main" id="{8AE4F7BC-B724-2456-4104-1C5E254EEF37}"/>
              </a:ext>
            </a:extLst>
          </p:cNvPr>
          <p:cNvSpPr>
            <a:spLocks noGrp="1"/>
          </p:cNvSpPr>
          <p:nvPr>
            <p:ph sz="half" idx="15" hasCustomPrompt="1"/>
          </p:nvPr>
        </p:nvSpPr>
        <p:spPr>
          <a:xfrm>
            <a:off x="422178" y="2198914"/>
            <a:ext cx="6487908"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32285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Conten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hasCustomPrompt="1"/>
          </p:nvPr>
        </p:nvSpPr>
        <p:spPr>
          <a:xfrm>
            <a:off x="420623" y="365760"/>
            <a:ext cx="11067089" cy="1325880"/>
          </a:xfrm>
        </p:spPr>
        <p:txBody>
          <a:bodyPr anchor="ctr">
            <a:normAutofit/>
          </a:bodyPr>
          <a:lstStyle>
            <a:lvl1pPr>
              <a:lnSpc>
                <a:spcPts val="2800"/>
              </a:lnSpc>
              <a:spcBef>
                <a:spcPts val="1000"/>
              </a:spcBef>
              <a:defRPr sz="4400" b="0" i="0"/>
            </a:lvl1pPr>
          </a:lstStyle>
          <a:p>
            <a:r>
              <a:rPr lang="en-US" sz="4400" dirty="0"/>
              <a:t>Click to add title </a:t>
            </a:r>
            <a:endParaRPr lang="en-US" dirty="0"/>
          </a:p>
        </p:txBody>
      </p:sp>
      <p:sp>
        <p:nvSpPr>
          <p:cNvPr id="14" name="Rectangle 13">
            <a:extLst>
              <a:ext uri="{FF2B5EF4-FFF2-40B4-BE49-F238E27FC236}">
                <a16:creationId xmlns:a16="http://schemas.microsoft.com/office/drawing/2014/main" id="{CA6BF945-F985-4A89-9868-A82E90E1054D}"/>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8" name="Text Placeholder 7">
            <a:extLst>
              <a:ext uri="{FF2B5EF4-FFF2-40B4-BE49-F238E27FC236}">
                <a16:creationId xmlns:a16="http://schemas.microsoft.com/office/drawing/2014/main" id="{8A7B33CF-0773-56F3-9F3B-1619AA66673B}"/>
              </a:ext>
            </a:extLst>
          </p:cNvPr>
          <p:cNvSpPr>
            <a:spLocks noGrp="1"/>
          </p:cNvSpPr>
          <p:nvPr>
            <p:ph type="body" sz="quarter" idx="11" hasCustomPrompt="1"/>
          </p:nvPr>
        </p:nvSpPr>
        <p:spPr>
          <a:xfrm>
            <a:off x="420624" y="2189377"/>
            <a:ext cx="3568990" cy="3517679"/>
          </a:xfrm>
        </p:spPr>
        <p:txBody>
          <a:bodyPr tIns="0" bIns="0">
            <a:normAutofit/>
          </a:bodyPr>
          <a:lstStyle>
            <a:lvl1pPr>
              <a:defRPr sz="180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able Placeholder 3">
            <a:extLst>
              <a:ext uri="{FF2B5EF4-FFF2-40B4-BE49-F238E27FC236}">
                <a16:creationId xmlns:a16="http://schemas.microsoft.com/office/drawing/2014/main" id="{EB4A43A1-5A81-D0D1-BD71-0485EDDD4CC8}"/>
              </a:ext>
            </a:extLst>
          </p:cNvPr>
          <p:cNvSpPr>
            <a:spLocks noGrp="1"/>
          </p:cNvSpPr>
          <p:nvPr>
            <p:ph type="tbl" sz="quarter" idx="10"/>
          </p:nvPr>
        </p:nvSpPr>
        <p:spPr>
          <a:xfrm>
            <a:off x="4501469" y="2189377"/>
            <a:ext cx="6565769" cy="3517686"/>
          </a:xfrm>
        </p:spPr>
        <p:txBody>
          <a:bodyPr/>
          <a:lstStyle>
            <a:lvl1pPr>
              <a:defRPr/>
            </a:lvl1pPr>
          </a:lstStyle>
          <a:p>
            <a:r>
              <a:rPr lang="en-US"/>
              <a:t>Click icon to add table</a:t>
            </a:r>
            <a:endParaRPr lang="en-US" dirty="0"/>
          </a:p>
        </p:txBody>
      </p:sp>
      <p:sp>
        <p:nvSpPr>
          <p:cNvPr id="7" name="Slide Number Placeholder 5">
            <a:extLst>
              <a:ext uri="{FF2B5EF4-FFF2-40B4-BE49-F238E27FC236}">
                <a16:creationId xmlns:a16="http://schemas.microsoft.com/office/drawing/2014/main" id="{E6A39699-E09B-80CC-75A3-1A20865ABB68}"/>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4812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9BDEB7A-D103-487A-8C1B-9145FB24B663}"/>
              </a:ext>
            </a:extLst>
          </p:cNvPr>
          <p:cNvSpPr>
            <a:spLocks noGrp="1"/>
          </p:cNvSpPr>
          <p:nvPr>
            <p:ph type="title" hasCustomPrompt="1"/>
          </p:nvPr>
        </p:nvSpPr>
        <p:spPr>
          <a:xfrm>
            <a:off x="422897" y="539496"/>
            <a:ext cx="5228393" cy="2697190"/>
          </a:xfrm>
        </p:spPr>
        <p:txBody>
          <a:bodyPr anchor="b">
            <a:normAutofit/>
          </a:bodyPr>
          <a:lstStyle>
            <a:lvl1pPr>
              <a:defRPr sz="4400"/>
            </a:lvl1pPr>
          </a:lstStyle>
          <a:p>
            <a:r>
              <a:rPr lang="en-US" sz="4800" dirty="0"/>
              <a:t>Click to add title </a:t>
            </a:r>
          </a:p>
        </p:txBody>
      </p:sp>
      <p:sp>
        <p:nvSpPr>
          <p:cNvPr id="8" name="Content Placeholder 2">
            <a:extLst>
              <a:ext uri="{FF2B5EF4-FFF2-40B4-BE49-F238E27FC236}">
                <a16:creationId xmlns:a16="http://schemas.microsoft.com/office/drawing/2014/main" id="{F3017A3E-25F7-41D5-AABB-24D0E2673A63}"/>
              </a:ext>
            </a:extLst>
          </p:cNvPr>
          <p:cNvSpPr>
            <a:spLocks noGrp="1"/>
          </p:cNvSpPr>
          <p:nvPr>
            <p:ph idx="1" hasCustomPrompt="1"/>
          </p:nvPr>
        </p:nvSpPr>
        <p:spPr>
          <a:xfrm>
            <a:off x="422897" y="3354749"/>
            <a:ext cx="5228392" cy="258247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505C0C26-4C66-47DC-B079-5B94C22F15BD}"/>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07E30B1-7066-9D31-7A11-7B81B65DD8BA}"/>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72E672D-C862-C853-0730-15E3C4953D67}"/>
              </a:ext>
            </a:extLst>
          </p:cNvPr>
          <p:cNvSpPr/>
          <p:nvPr userDrawn="1"/>
        </p:nvSpPr>
        <p:spPr>
          <a:xfrm>
            <a:off x="9884230"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910336ED-3DCB-4524-8A3F-9FBBD0B18E87}"/>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815F86B-1A6A-ECD5-F63A-4280BADEF7C2}"/>
              </a:ext>
              <a:ext uri="{C183D7F6-B498-43B3-948B-1728B52AA6E4}">
                <adec:decorative xmlns:adec="http://schemas.microsoft.com/office/drawing/2017/decorative" val="1"/>
              </a:ext>
            </a:extLst>
          </p:cNvPr>
          <p:cNvCxnSpPr>
            <a:cxnSpLocks/>
          </p:cNvCxnSpPr>
          <p:nvPr userDrawn="1"/>
        </p:nvCxnSpPr>
        <p:spPr>
          <a:xfrm flipV="1">
            <a:off x="988423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5534F0-444E-1FA5-FC8F-F04505FC0F29}"/>
              </a:ext>
              <a:ext uri="{C183D7F6-B498-43B3-948B-1728B52AA6E4}">
                <adec:decorative xmlns:adec="http://schemas.microsoft.com/office/drawing/2017/decorative" val="1"/>
              </a:ext>
            </a:extLst>
          </p:cNvPr>
          <p:cNvCxnSpPr>
            <a:cxnSpLocks/>
          </p:cNvCxnSpPr>
          <p:nvPr userDrawn="1"/>
        </p:nvCxnSpPr>
        <p:spPr>
          <a:xfrm flipV="1">
            <a:off x="976862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119972F-DA18-8749-FF59-A83CA1E1F4A3}"/>
              </a:ext>
              <a:ext uri="{C183D7F6-B498-43B3-948B-1728B52AA6E4}">
                <adec:decorative xmlns:adec="http://schemas.microsoft.com/office/drawing/2017/decorative" val="1"/>
              </a:ext>
            </a:extLst>
          </p:cNvPr>
          <p:cNvCxnSpPr>
            <a:cxnSpLocks/>
          </p:cNvCxnSpPr>
          <p:nvPr userDrawn="1"/>
        </p:nvCxnSpPr>
        <p:spPr>
          <a:xfrm flipV="1">
            <a:off x="9372495"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67D80A1-B7E7-2F80-975E-2E87C591BB67}"/>
              </a:ext>
            </a:extLst>
          </p:cNvPr>
          <p:cNvSpPr/>
          <p:nvPr userDrawn="1"/>
        </p:nvSpPr>
        <p:spPr>
          <a:xfrm>
            <a:off x="7760541"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 name="Straight Connector 30">
            <a:extLst>
              <a:ext uri="{FF2B5EF4-FFF2-40B4-BE49-F238E27FC236}">
                <a16:creationId xmlns:a16="http://schemas.microsoft.com/office/drawing/2014/main" id="{BE88F6AB-6890-F7DE-7C01-CE237F778605}"/>
              </a:ext>
              <a:ext uri="{C183D7F6-B498-43B3-948B-1728B52AA6E4}">
                <adec:decorative xmlns:adec="http://schemas.microsoft.com/office/drawing/2017/decorative" val="1"/>
              </a:ext>
            </a:extLst>
          </p:cNvPr>
          <p:cNvCxnSpPr>
            <a:cxnSpLocks/>
          </p:cNvCxnSpPr>
          <p:nvPr userDrawn="1"/>
        </p:nvCxnSpPr>
        <p:spPr>
          <a:xfrm flipV="1">
            <a:off x="948135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F6575E3-45E3-206E-9037-D8FD562B722A}"/>
              </a:ext>
              <a:ext uri="{C183D7F6-B498-43B3-948B-1728B52AA6E4}">
                <adec:decorative xmlns:adec="http://schemas.microsoft.com/office/drawing/2017/decorative" val="1"/>
              </a:ext>
            </a:extLst>
          </p:cNvPr>
          <p:cNvCxnSpPr>
            <a:cxnSpLocks/>
          </p:cNvCxnSpPr>
          <p:nvPr userDrawn="1"/>
        </p:nvCxnSpPr>
        <p:spPr>
          <a:xfrm flipV="1">
            <a:off x="77605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BE4BC31-600E-ECD3-1E7F-FE4F6F720A6A}"/>
              </a:ext>
              <a:ext uri="{C183D7F6-B498-43B3-948B-1728B52AA6E4}">
                <adec:decorative xmlns:adec="http://schemas.microsoft.com/office/drawing/2017/decorative" val="1"/>
              </a:ext>
            </a:extLst>
          </p:cNvPr>
          <p:cNvCxnSpPr>
            <a:cxnSpLocks/>
          </p:cNvCxnSpPr>
          <p:nvPr userDrawn="1"/>
        </p:nvCxnSpPr>
        <p:spPr>
          <a:xfrm flipV="1">
            <a:off x="7644933"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3F8CA839-B327-1ECD-C35D-02164F5BBDC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706" t="12194" r="49126" b="12256"/>
          <a:stretch/>
        </p:blipFill>
        <p:spPr>
          <a:xfrm>
            <a:off x="9884229" y="-5609"/>
            <a:ext cx="1611955" cy="6863608"/>
          </a:xfrm>
          <a:prstGeom prst="rect">
            <a:avLst/>
          </a:prstGeom>
        </p:spPr>
      </p:pic>
      <p:pic>
        <p:nvPicPr>
          <p:cNvPr id="35" name="Graphic 34">
            <a:extLst>
              <a:ext uri="{FF2B5EF4-FFF2-40B4-BE49-F238E27FC236}">
                <a16:creationId xmlns:a16="http://schemas.microsoft.com/office/drawing/2014/main" id="{E1A97957-D274-4D24-1862-D53BF72826C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790" t="12194" r="70042" b="12256"/>
          <a:stretch/>
        </p:blipFill>
        <p:spPr>
          <a:xfrm>
            <a:off x="7753789" y="5610"/>
            <a:ext cx="1611955" cy="6863608"/>
          </a:xfrm>
          <a:prstGeom prst="rect">
            <a:avLst/>
          </a:prstGeom>
        </p:spPr>
      </p:pic>
    </p:spTree>
    <p:extLst>
      <p:ext uri="{BB962C8B-B14F-4D97-AF65-F5344CB8AC3E}">
        <p14:creationId xmlns:p14="http://schemas.microsoft.com/office/powerpoint/2010/main" val="3746701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64628939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 id="2147483897" r:id="rId14"/>
    <p:sldLayoutId id="2147483898" r:id="rId15"/>
    <p:sldLayoutId id="2147483899" r:id="rId16"/>
    <p:sldLayoutId id="2147483900" r:id="rId17"/>
    <p:sldLayoutId id="2147483902" r:id="rId18"/>
    <p:sldLayoutId id="2147483904" r:id="rId19"/>
    <p:sldLayoutId id="2147483907" r:id="rId20"/>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p:txBody>
          <a:bodyPr/>
          <a:lstStyle/>
          <a:p>
            <a:r>
              <a:rPr lang="en-US" dirty="0"/>
              <a:t>HEALTH CARE SYSTEMS-II</a:t>
            </a:r>
          </a:p>
        </p:txBody>
      </p:sp>
    </p:spTree>
    <p:extLst>
      <p:ext uri="{BB962C8B-B14F-4D97-AF65-F5344CB8AC3E}">
        <p14:creationId xmlns:p14="http://schemas.microsoft.com/office/powerpoint/2010/main" val="3885810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24892-3DB1-5F7D-CC07-0099734072AA}"/>
              </a:ext>
            </a:extLst>
          </p:cNvPr>
          <p:cNvSpPr>
            <a:spLocks noGrp="1"/>
          </p:cNvSpPr>
          <p:nvPr>
            <p:ph type="title"/>
          </p:nvPr>
        </p:nvSpPr>
        <p:spPr>
          <a:xfrm>
            <a:off x="807396" y="324612"/>
            <a:ext cx="9153468" cy="1188720"/>
          </a:xfrm>
        </p:spPr>
        <p:txBody>
          <a:bodyPr>
            <a:normAutofit fontScale="90000"/>
          </a:bodyPr>
          <a:lstStyle/>
          <a:p>
            <a:r>
              <a:rPr lang="en-US" dirty="0"/>
              <a:t>HEALTH CARE DELIVERY: Challenges</a:t>
            </a:r>
            <a:endParaRPr lang="en-IN" dirty="0"/>
          </a:p>
        </p:txBody>
      </p:sp>
      <p:graphicFrame>
        <p:nvGraphicFramePr>
          <p:cNvPr id="5" name="Content Placeholder 2">
            <a:extLst>
              <a:ext uri="{FF2B5EF4-FFF2-40B4-BE49-F238E27FC236}">
                <a16:creationId xmlns:a16="http://schemas.microsoft.com/office/drawing/2014/main" id="{B0290F6F-83C6-25DC-9F06-85781AE0AD46}"/>
              </a:ext>
            </a:extLst>
          </p:cNvPr>
          <p:cNvGraphicFramePr>
            <a:graphicFrameLocks noGrp="1"/>
          </p:cNvGraphicFramePr>
          <p:nvPr>
            <p:ph idx="1"/>
            <p:extLst>
              <p:ext uri="{D42A27DB-BD31-4B8C-83A1-F6EECF244321}">
                <p14:modId xmlns:p14="http://schemas.microsoft.com/office/powerpoint/2010/main" val="1230443515"/>
              </p:ext>
            </p:extLst>
          </p:nvPr>
        </p:nvGraphicFramePr>
        <p:xfrm>
          <a:off x="568960" y="1727200"/>
          <a:ext cx="11033760" cy="49885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4627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28A00-D961-96FC-3618-443D49C30BF3}"/>
              </a:ext>
            </a:extLst>
          </p:cNvPr>
          <p:cNvSpPr>
            <a:spLocks noGrp="1"/>
          </p:cNvSpPr>
          <p:nvPr>
            <p:ph type="title"/>
          </p:nvPr>
        </p:nvSpPr>
        <p:spPr>
          <a:xfrm>
            <a:off x="612649" y="548638"/>
            <a:ext cx="3493008" cy="5788152"/>
          </a:xfrm>
        </p:spPr>
        <p:txBody>
          <a:bodyPr anchor="ctr">
            <a:normAutofit/>
          </a:bodyPr>
          <a:lstStyle/>
          <a:p>
            <a:r>
              <a:rPr lang="en-US" sz="4000" b="1"/>
              <a:t>Need for Alternative Models</a:t>
            </a:r>
            <a:endParaRPr lang="en-US" sz="4000"/>
          </a:p>
        </p:txBody>
      </p:sp>
      <p:graphicFrame>
        <p:nvGraphicFramePr>
          <p:cNvPr id="5" name="Content Placeholder 2">
            <a:extLst>
              <a:ext uri="{FF2B5EF4-FFF2-40B4-BE49-F238E27FC236}">
                <a16:creationId xmlns:a16="http://schemas.microsoft.com/office/drawing/2014/main" id="{9260F4A4-7992-C513-BF67-B1370D25CA98}"/>
              </a:ext>
            </a:extLst>
          </p:cNvPr>
          <p:cNvGraphicFramePr>
            <a:graphicFrameLocks noGrp="1"/>
          </p:cNvGraphicFramePr>
          <p:nvPr>
            <p:ph idx="1"/>
            <p:extLst>
              <p:ext uri="{D42A27DB-BD31-4B8C-83A1-F6EECF244321}">
                <p14:modId xmlns:p14="http://schemas.microsoft.com/office/powerpoint/2010/main" val="2528475415"/>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6230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7F14-E3A5-02DB-90F0-890B48119171}"/>
              </a:ext>
            </a:extLst>
          </p:cNvPr>
          <p:cNvSpPr>
            <a:spLocks noGrp="1"/>
          </p:cNvSpPr>
          <p:nvPr>
            <p:ph type="title"/>
          </p:nvPr>
        </p:nvSpPr>
        <p:spPr>
          <a:xfrm>
            <a:off x="925774" y="604530"/>
            <a:ext cx="9998675" cy="753090"/>
          </a:xfrm>
        </p:spPr>
        <p:txBody>
          <a:bodyPr anchor="ctr">
            <a:normAutofit/>
          </a:bodyPr>
          <a:lstStyle/>
          <a:p>
            <a:pPr algn="ctr"/>
            <a:r>
              <a:rPr lang="en-US" sz="3700" b="1" dirty="0"/>
              <a:t>Health Care Delivery Model – Inputs to Outputs</a:t>
            </a:r>
            <a:endParaRPr lang="en-US" sz="3700" dirty="0"/>
          </a:p>
        </p:txBody>
      </p:sp>
      <p:graphicFrame>
        <p:nvGraphicFramePr>
          <p:cNvPr id="6" name="Rectangle 1">
            <a:extLst>
              <a:ext uri="{FF2B5EF4-FFF2-40B4-BE49-F238E27FC236}">
                <a16:creationId xmlns:a16="http://schemas.microsoft.com/office/drawing/2014/main" id="{8264B845-58C2-4D5E-0AA0-C3DDEF04DEC5}"/>
              </a:ext>
            </a:extLst>
          </p:cNvPr>
          <p:cNvGraphicFramePr>
            <a:graphicFrameLocks noGrp="1"/>
          </p:cNvGraphicFramePr>
          <p:nvPr>
            <p:ph idx="1"/>
            <p:extLst>
              <p:ext uri="{D42A27DB-BD31-4B8C-83A1-F6EECF244321}">
                <p14:modId xmlns:p14="http://schemas.microsoft.com/office/powerpoint/2010/main" val="3046691195"/>
              </p:ext>
            </p:extLst>
          </p:nvPr>
        </p:nvGraphicFramePr>
        <p:xfrm>
          <a:off x="930876" y="981075"/>
          <a:ext cx="10335350" cy="55054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06938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C9B8B-78AD-EDCD-BBDC-F595E79044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B9B81-1821-3020-1B1D-41BF16A904B8}"/>
              </a:ext>
            </a:extLst>
          </p:cNvPr>
          <p:cNvSpPr>
            <a:spLocks noGrp="1"/>
          </p:cNvSpPr>
          <p:nvPr>
            <p:ph type="title"/>
          </p:nvPr>
        </p:nvSpPr>
        <p:spPr>
          <a:xfrm>
            <a:off x="1096662" y="151785"/>
            <a:ext cx="9998675" cy="753090"/>
          </a:xfrm>
        </p:spPr>
        <p:txBody>
          <a:bodyPr anchor="ctr">
            <a:normAutofit/>
          </a:bodyPr>
          <a:lstStyle/>
          <a:p>
            <a:pPr algn="ctr"/>
            <a:r>
              <a:rPr lang="en-US" sz="3700" b="1" dirty="0"/>
              <a:t>Health Care Delivery Model – Inputs to Outputs</a:t>
            </a:r>
            <a:endParaRPr lang="en-US" sz="3700" dirty="0"/>
          </a:p>
        </p:txBody>
      </p:sp>
      <p:graphicFrame>
        <p:nvGraphicFramePr>
          <p:cNvPr id="6" name="Rectangle 1">
            <a:extLst>
              <a:ext uri="{FF2B5EF4-FFF2-40B4-BE49-F238E27FC236}">
                <a16:creationId xmlns:a16="http://schemas.microsoft.com/office/drawing/2014/main" id="{B19D15FC-5823-6CB0-31D5-84AE881C7C50}"/>
              </a:ext>
            </a:extLst>
          </p:cNvPr>
          <p:cNvGraphicFramePr>
            <a:graphicFrameLocks noGrp="1"/>
          </p:cNvGraphicFramePr>
          <p:nvPr>
            <p:ph idx="1"/>
            <p:extLst>
              <p:ext uri="{D42A27DB-BD31-4B8C-83A1-F6EECF244321}">
                <p14:modId xmlns:p14="http://schemas.microsoft.com/office/powerpoint/2010/main" val="1489694178"/>
              </p:ext>
            </p:extLst>
          </p:nvPr>
        </p:nvGraphicFramePr>
        <p:xfrm>
          <a:off x="930876" y="981075"/>
          <a:ext cx="10335350" cy="55054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5968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9E84-4322-3C29-2890-B7F1ADE16FEA}"/>
              </a:ext>
            </a:extLst>
          </p:cNvPr>
          <p:cNvSpPr>
            <a:spLocks noGrp="1"/>
          </p:cNvSpPr>
          <p:nvPr>
            <p:ph type="title"/>
          </p:nvPr>
        </p:nvSpPr>
        <p:spPr>
          <a:xfrm>
            <a:off x="2231136" y="273812"/>
            <a:ext cx="7729728" cy="1188720"/>
          </a:xfrm>
        </p:spPr>
        <p:txBody>
          <a:bodyPr>
            <a:normAutofit fontScale="90000"/>
          </a:bodyPr>
          <a:lstStyle/>
          <a:p>
            <a:r>
              <a:rPr lang="en-US" dirty="0"/>
              <a:t>Health Status and Health Problems</a:t>
            </a:r>
            <a:endParaRPr lang="en-IN" dirty="0"/>
          </a:p>
        </p:txBody>
      </p:sp>
      <p:graphicFrame>
        <p:nvGraphicFramePr>
          <p:cNvPr id="11" name="Content Placeholder 2">
            <a:extLst>
              <a:ext uri="{FF2B5EF4-FFF2-40B4-BE49-F238E27FC236}">
                <a16:creationId xmlns:a16="http://schemas.microsoft.com/office/drawing/2014/main" id="{51065CF8-67E6-66E2-1B4A-2B699D9B0373}"/>
              </a:ext>
            </a:extLst>
          </p:cNvPr>
          <p:cNvGraphicFramePr>
            <a:graphicFrameLocks noGrp="1"/>
          </p:cNvGraphicFramePr>
          <p:nvPr>
            <p:ph idx="1"/>
            <p:extLst>
              <p:ext uri="{D42A27DB-BD31-4B8C-83A1-F6EECF244321}">
                <p14:modId xmlns:p14="http://schemas.microsoft.com/office/powerpoint/2010/main" val="3664097317"/>
              </p:ext>
            </p:extLst>
          </p:nvPr>
        </p:nvGraphicFramePr>
        <p:xfrm>
          <a:off x="508000" y="1666240"/>
          <a:ext cx="11094720" cy="49179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8957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553F3-35E0-CC5E-18BE-B2C98CED98C5}"/>
              </a:ext>
            </a:extLst>
          </p:cNvPr>
          <p:cNvSpPr>
            <a:spLocks noGrp="1"/>
          </p:cNvSpPr>
          <p:nvPr>
            <p:ph type="title"/>
          </p:nvPr>
        </p:nvSpPr>
        <p:spPr>
          <a:xfrm>
            <a:off x="1524000" y="548640"/>
            <a:ext cx="9160475" cy="1132258"/>
          </a:xfrm>
        </p:spPr>
        <p:txBody>
          <a:bodyPr anchor="ctr">
            <a:normAutofit/>
          </a:bodyPr>
          <a:lstStyle/>
          <a:p>
            <a:pPr algn="ctr"/>
            <a:r>
              <a:rPr lang="en-US" sz="3700" b="1"/>
              <a:t>Factors in Community Diagnosis &amp; Priority Setting</a:t>
            </a:r>
            <a:endParaRPr lang="en-US" sz="3700"/>
          </a:p>
        </p:txBody>
      </p:sp>
      <p:graphicFrame>
        <p:nvGraphicFramePr>
          <p:cNvPr id="12" name="Content Placeholder 2">
            <a:extLst>
              <a:ext uri="{FF2B5EF4-FFF2-40B4-BE49-F238E27FC236}">
                <a16:creationId xmlns:a16="http://schemas.microsoft.com/office/drawing/2014/main" id="{F0F1E742-B0A6-1837-3887-4F4D685366B5}"/>
              </a:ext>
            </a:extLst>
          </p:cNvPr>
          <p:cNvGraphicFramePr>
            <a:graphicFrameLocks noGrp="1"/>
          </p:cNvGraphicFramePr>
          <p:nvPr>
            <p:ph idx="1"/>
            <p:extLst>
              <p:ext uri="{D42A27DB-BD31-4B8C-83A1-F6EECF244321}">
                <p14:modId xmlns:p14="http://schemas.microsoft.com/office/powerpoint/2010/main" val="3885835707"/>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2279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8A30C-489C-D25E-36A7-133AEE915840}"/>
              </a:ext>
            </a:extLst>
          </p:cNvPr>
          <p:cNvSpPr>
            <a:spLocks noGrp="1"/>
          </p:cNvSpPr>
          <p:nvPr>
            <p:ph type="title"/>
          </p:nvPr>
        </p:nvSpPr>
        <p:spPr>
          <a:xfrm>
            <a:off x="612648" y="0"/>
            <a:ext cx="8720038" cy="1527048"/>
          </a:xfrm>
        </p:spPr>
        <p:txBody>
          <a:bodyPr anchor="b">
            <a:normAutofit/>
          </a:bodyPr>
          <a:lstStyle/>
          <a:p>
            <a:r>
              <a:rPr lang="en-US" dirty="0"/>
              <a:t>Demographic Profile – India</a:t>
            </a:r>
            <a:endParaRPr lang="en-IN" dirty="0"/>
          </a:p>
        </p:txBody>
      </p:sp>
      <p:sp>
        <p:nvSpPr>
          <p:cNvPr id="3" name="Content Placeholder 2">
            <a:extLst>
              <a:ext uri="{FF2B5EF4-FFF2-40B4-BE49-F238E27FC236}">
                <a16:creationId xmlns:a16="http://schemas.microsoft.com/office/drawing/2014/main" id="{AA0066A6-8120-796B-E51F-ADCA871962E0}"/>
              </a:ext>
            </a:extLst>
          </p:cNvPr>
          <p:cNvSpPr>
            <a:spLocks noGrp="1"/>
          </p:cNvSpPr>
          <p:nvPr>
            <p:ph idx="1"/>
          </p:nvPr>
        </p:nvSpPr>
        <p:spPr>
          <a:xfrm>
            <a:off x="612648" y="1527048"/>
            <a:ext cx="7540752" cy="4930902"/>
          </a:xfrm>
        </p:spPr>
        <p:txBody>
          <a:bodyPr>
            <a:normAutofit/>
          </a:bodyPr>
          <a:lstStyle/>
          <a:p>
            <a:r>
              <a:rPr lang="en-US" sz="2000" b="1" dirty="0"/>
              <a:t>Key Concerns</a:t>
            </a:r>
            <a:r>
              <a:rPr lang="en-US" sz="2000" dirty="0"/>
              <a:t>:</a:t>
            </a:r>
          </a:p>
          <a:p>
            <a:pPr lvl="1"/>
            <a:r>
              <a:rPr lang="en-US" sz="2000" b="1" dirty="0"/>
              <a:t>Population explosion</a:t>
            </a:r>
            <a:r>
              <a:rPr lang="en-US" sz="2000" dirty="0"/>
              <a:t> remains a significant public health and development challenge</a:t>
            </a:r>
          </a:p>
          <a:p>
            <a:r>
              <a:rPr lang="en-US" sz="2000" b="1" dirty="0"/>
              <a:t>Demographic Features</a:t>
            </a:r>
            <a:r>
              <a:rPr lang="en-US" sz="2000" dirty="0"/>
              <a:t>:</a:t>
            </a:r>
          </a:p>
          <a:p>
            <a:pPr lvl="1"/>
            <a:r>
              <a:rPr lang="en-US" sz="2000" b="1" dirty="0"/>
              <a:t>Large population base</a:t>
            </a:r>
          </a:p>
          <a:p>
            <a:pPr lvl="1"/>
            <a:r>
              <a:rPr lang="en-US" sz="2000" b="1" dirty="0"/>
              <a:t>High fertility</a:t>
            </a:r>
            <a:r>
              <a:rPr lang="en-US" sz="2000" dirty="0"/>
              <a:t>: Elevated </a:t>
            </a:r>
            <a:r>
              <a:rPr lang="en-US" sz="2000" b="1" dirty="0"/>
              <a:t>birth rates</a:t>
            </a:r>
            <a:r>
              <a:rPr lang="en-US" sz="2000" dirty="0"/>
              <a:t> and </a:t>
            </a:r>
            <a:r>
              <a:rPr lang="en-US" sz="2000" b="1" dirty="0"/>
              <a:t>large family sizes</a:t>
            </a:r>
          </a:p>
          <a:p>
            <a:pPr lvl="1"/>
            <a:r>
              <a:rPr lang="en-US" sz="2000" b="1" dirty="0"/>
              <a:t>Low or declining mortality</a:t>
            </a:r>
            <a:r>
              <a:rPr lang="en-US" sz="2000" dirty="0"/>
              <a:t>, contributing to population growth</a:t>
            </a:r>
          </a:p>
          <a:p>
            <a:pPr lvl="1"/>
            <a:r>
              <a:rPr lang="en-US" sz="2000" b="1" dirty="0"/>
              <a:t>Youth-dominated population</a:t>
            </a:r>
            <a:r>
              <a:rPr lang="en-US" sz="2000" dirty="0"/>
              <a:t>: ~28% below 15 years of age</a:t>
            </a:r>
          </a:p>
          <a:p>
            <a:pPr lvl="1"/>
            <a:r>
              <a:rPr lang="en-US" sz="2000" b="1" dirty="0"/>
              <a:t>High illiteracy</a:t>
            </a:r>
            <a:r>
              <a:rPr lang="en-US" sz="2000" dirty="0"/>
              <a:t>: ~34.62% are illiterate → slower decline in fertility</a:t>
            </a:r>
          </a:p>
          <a:p>
            <a:pPr lvl="1"/>
            <a:r>
              <a:rPr lang="en-US" sz="2000" b="1" dirty="0"/>
              <a:t>High dependency ratio</a:t>
            </a:r>
            <a:r>
              <a:rPr lang="en-US" sz="2000" dirty="0"/>
              <a:t> (2018): 50.5%</a:t>
            </a:r>
          </a:p>
          <a:p>
            <a:pPr lvl="2"/>
            <a:r>
              <a:rPr lang="en-US" dirty="0"/>
              <a:t>Every working person supports almost </a:t>
            </a:r>
            <a:r>
              <a:rPr lang="en-US" b="1" dirty="0"/>
              <a:t>one dependent</a:t>
            </a:r>
            <a:endParaRPr lang="en-US" dirty="0"/>
          </a:p>
          <a:p>
            <a:endParaRPr lang="en-IN" sz="2000" dirty="0"/>
          </a:p>
        </p:txBody>
      </p:sp>
      <p:pic>
        <p:nvPicPr>
          <p:cNvPr id="14" name="Graphic 13" descr="Explosion">
            <a:extLst>
              <a:ext uri="{FF2B5EF4-FFF2-40B4-BE49-F238E27FC236}">
                <a16:creationId xmlns:a16="http://schemas.microsoft.com/office/drawing/2014/main" id="{7EFC869F-0D18-4B51-66F2-8736E87D26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55715" y="1102440"/>
            <a:ext cx="3517185" cy="3517185"/>
          </a:xfrm>
          <a:prstGeom prst="rect">
            <a:avLst/>
          </a:prstGeom>
        </p:spPr>
      </p:pic>
    </p:spTree>
    <p:extLst>
      <p:ext uri="{BB962C8B-B14F-4D97-AF65-F5344CB8AC3E}">
        <p14:creationId xmlns:p14="http://schemas.microsoft.com/office/powerpoint/2010/main" val="101099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1"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660689-FBF2-2C86-8660-56E7761B04AE}"/>
              </a:ext>
            </a:extLst>
          </p:cNvPr>
          <p:cNvSpPr>
            <a:spLocks noGrp="1"/>
          </p:cNvSpPr>
          <p:nvPr>
            <p:ph type="title"/>
          </p:nvPr>
        </p:nvSpPr>
        <p:spPr>
          <a:xfrm>
            <a:off x="422401" y="603503"/>
            <a:ext cx="10851735" cy="1739267"/>
          </a:xfrm>
        </p:spPr>
        <p:txBody>
          <a:bodyPr vert="horz" lIns="91440" tIns="45720" rIns="91440" bIns="45720" rtlCol="0" anchor="t">
            <a:normAutofit/>
          </a:bodyPr>
          <a:lstStyle/>
          <a:p>
            <a:r>
              <a:rPr lang="en-US"/>
              <a:t>Demographic and economic indicators</a:t>
            </a:r>
          </a:p>
        </p:txBody>
      </p:sp>
      <p:sp>
        <p:nvSpPr>
          <p:cNvPr id="4" name="Slide Number Placeholder 3">
            <a:extLst>
              <a:ext uri="{FF2B5EF4-FFF2-40B4-BE49-F238E27FC236}">
                <a16:creationId xmlns:a16="http://schemas.microsoft.com/office/drawing/2014/main" id="{D0F2AD62-5FFD-C9BA-9433-67F4BE12BC17}"/>
              </a:ext>
            </a:extLst>
          </p:cNvPr>
          <p:cNvSpPr>
            <a:spLocks noGrp="1"/>
          </p:cNvSpPr>
          <p:nvPr>
            <p:ph type="sldNum" sz="quarter" idx="12"/>
          </p:nvPr>
        </p:nvSpPr>
        <p:spPr>
          <a:xfrm>
            <a:off x="11504676" y="-14198"/>
            <a:ext cx="685800" cy="685800"/>
          </a:xfrm>
        </p:spPr>
        <p:txBody>
          <a:bodyPr vert="horz" lIns="91440" tIns="45720" rIns="91440" bIns="45720" rtlCol="0">
            <a:normAutofit/>
          </a:bodyPr>
          <a:lstStyle/>
          <a:p>
            <a:pPr>
              <a:spcAft>
                <a:spcPts val="600"/>
              </a:spcAft>
            </a:pPr>
            <a:fld id="{3A4F6043-7A67-491B-98BC-F933DED7226D}" type="slidenum">
              <a:rPr lang="en-US" smtClean="0"/>
              <a:pPr>
                <a:spcAft>
                  <a:spcPts val="600"/>
                </a:spcAft>
              </a:pPr>
              <a:t>9</a:t>
            </a:fld>
            <a:endParaRPr lang="en-US"/>
          </a:p>
        </p:txBody>
      </p:sp>
      <p:cxnSp>
        <p:nvCxnSpPr>
          <p:cNvPr id="52"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3"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0" name="Content Placeholder 9">
            <a:extLst>
              <a:ext uri="{FF2B5EF4-FFF2-40B4-BE49-F238E27FC236}">
                <a16:creationId xmlns:a16="http://schemas.microsoft.com/office/drawing/2014/main" id="{EA5267E6-FD7F-370D-8D29-1AEE496654F8}"/>
              </a:ext>
            </a:extLst>
          </p:cNvPr>
          <p:cNvGraphicFramePr>
            <a:graphicFrameLocks noGrp="1"/>
          </p:cNvGraphicFramePr>
          <p:nvPr>
            <p:ph idx="1"/>
            <p:extLst>
              <p:ext uri="{D42A27DB-BD31-4B8C-83A1-F6EECF244321}">
                <p14:modId xmlns:p14="http://schemas.microsoft.com/office/powerpoint/2010/main" val="2991971256"/>
              </p:ext>
            </p:extLst>
          </p:nvPr>
        </p:nvGraphicFramePr>
        <p:xfrm>
          <a:off x="420876" y="1314454"/>
          <a:ext cx="11075306" cy="4871940"/>
        </p:xfrm>
        <a:graphic>
          <a:graphicData uri="http://schemas.openxmlformats.org/drawingml/2006/table">
            <a:tbl>
              <a:tblPr firstRow="1" firstCol="1" bandRow="1">
                <a:tableStyleId>{6E25E649-3F16-4E02-A733-19D2CDBF48F0}</a:tableStyleId>
              </a:tblPr>
              <a:tblGrid>
                <a:gridCol w="4295302">
                  <a:extLst>
                    <a:ext uri="{9D8B030D-6E8A-4147-A177-3AD203B41FA5}">
                      <a16:colId xmlns:a16="http://schemas.microsoft.com/office/drawing/2014/main" val="2445855663"/>
                    </a:ext>
                  </a:extLst>
                </a:gridCol>
                <a:gridCol w="2484702">
                  <a:extLst>
                    <a:ext uri="{9D8B030D-6E8A-4147-A177-3AD203B41FA5}">
                      <a16:colId xmlns:a16="http://schemas.microsoft.com/office/drawing/2014/main" val="4090239588"/>
                    </a:ext>
                  </a:extLst>
                </a:gridCol>
                <a:gridCol w="4295302">
                  <a:extLst>
                    <a:ext uri="{9D8B030D-6E8A-4147-A177-3AD203B41FA5}">
                      <a16:colId xmlns:a16="http://schemas.microsoft.com/office/drawing/2014/main" val="4164364549"/>
                    </a:ext>
                  </a:extLst>
                </a:gridCol>
              </a:tblGrid>
              <a:tr h="324730">
                <a:tc>
                  <a:txBody>
                    <a:bodyPr/>
                    <a:lstStyle/>
                    <a:p>
                      <a:pPr algn="l" fontAlgn="b">
                        <a:buNone/>
                      </a:pPr>
                      <a:r>
                        <a:rPr lang="en-US" sz="1800" b="1" u="none" strike="noStrike">
                          <a:solidFill>
                            <a:srgbClr val="000000"/>
                          </a:solidFill>
                          <a:effectLst/>
                        </a:rPr>
                        <a:t>Indicator</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1" u="none" strike="noStrike">
                          <a:solidFill>
                            <a:srgbClr val="000000"/>
                          </a:solidFill>
                          <a:effectLst/>
                        </a:rPr>
                        <a:t>Data (Year)</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1" u="none" strike="noStrike">
                          <a:solidFill>
                            <a:srgbClr val="000000"/>
                          </a:solidFill>
                          <a:effectLst/>
                        </a:rPr>
                        <a:t>Latest Data Available</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1197310513"/>
                  </a:ext>
                </a:extLst>
              </a:tr>
              <a:tr h="324730">
                <a:tc>
                  <a:txBody>
                    <a:bodyPr/>
                    <a:lstStyle/>
                    <a:p>
                      <a:pPr algn="l" fontAlgn="b">
                        <a:buNone/>
                      </a:pPr>
                      <a:r>
                        <a:rPr lang="en-US" sz="1800" b="1" u="none" strike="noStrike">
                          <a:solidFill>
                            <a:srgbClr val="000000"/>
                          </a:solidFill>
                          <a:effectLst/>
                        </a:rPr>
                        <a:t>Total population</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1,400 million (2020)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fr-FR" sz="1800" b="0" u="none" strike="noStrike">
                          <a:solidFill>
                            <a:srgbClr val="000000"/>
                          </a:solidFill>
                          <a:effectLst/>
                        </a:rPr>
                        <a:t>~1,430 million (2024 est., UNDP)</a:t>
                      </a:r>
                      <a:endParaRPr lang="fr-FR"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4222606076"/>
                  </a:ext>
                </a:extLst>
              </a:tr>
              <a:tr h="324730">
                <a:tc>
                  <a:txBody>
                    <a:bodyPr/>
                    <a:lstStyle/>
                    <a:p>
                      <a:pPr algn="l" fontAlgn="b">
                        <a:buNone/>
                      </a:pPr>
                      <a:r>
                        <a:rPr lang="en-US" sz="1800" b="1" u="none" strike="noStrike" dirty="0">
                          <a:solidFill>
                            <a:srgbClr val="000000"/>
                          </a:solidFill>
                          <a:effectLst/>
                        </a:rPr>
                        <a:t>Crude birth rate (per 1000 population)</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20.0 (2020)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~18.3 (2023, Sample Registration System)</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1191842726"/>
                  </a:ext>
                </a:extLst>
              </a:tr>
              <a:tr h="324730">
                <a:tc>
                  <a:txBody>
                    <a:bodyPr/>
                    <a:lstStyle/>
                    <a:p>
                      <a:pPr algn="l" fontAlgn="b">
                        <a:buNone/>
                      </a:pPr>
                      <a:r>
                        <a:rPr lang="en-US" sz="1800" b="1" u="none" strike="noStrike" dirty="0">
                          <a:solidFill>
                            <a:srgbClr val="000000"/>
                          </a:solidFill>
                          <a:effectLst/>
                        </a:rPr>
                        <a:t>Crude death rate (per 1000 population)</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6.0 (2020)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~7.0 (2023, SRS)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4072910571"/>
                  </a:ext>
                </a:extLst>
              </a:tr>
              <a:tr h="324730">
                <a:tc>
                  <a:txBody>
                    <a:bodyPr/>
                    <a:lstStyle/>
                    <a:p>
                      <a:pPr algn="l" fontAlgn="b">
                        <a:buNone/>
                      </a:pPr>
                      <a:r>
                        <a:rPr lang="en-US" sz="1800" b="1" u="none" strike="noStrike">
                          <a:solidFill>
                            <a:srgbClr val="000000"/>
                          </a:solidFill>
                          <a:effectLst/>
                        </a:rPr>
                        <a:t>Annual growth rate (%)</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1.2 (2020)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~0.7% (2023 est., UNFPA)</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3458789297"/>
                  </a:ext>
                </a:extLst>
              </a:tr>
              <a:tr h="324730">
                <a:tc>
                  <a:txBody>
                    <a:bodyPr/>
                    <a:lstStyle/>
                    <a:p>
                      <a:pPr algn="l" fontAlgn="b">
                        <a:buNone/>
                      </a:pPr>
                      <a:r>
                        <a:rPr lang="en-US" sz="1800" b="1" u="none" strike="noStrike">
                          <a:solidFill>
                            <a:srgbClr val="000000"/>
                          </a:solidFill>
                          <a:effectLst/>
                        </a:rPr>
                        <a:t>Population doubling time</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30 years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fr-FR" sz="1800" b="0" u="none" strike="noStrike">
                          <a:solidFill>
                            <a:srgbClr val="000000"/>
                          </a:solidFill>
                          <a:effectLst/>
                        </a:rPr>
                        <a:t>~100+ years (2023 est., UNFPA)</a:t>
                      </a:r>
                      <a:endParaRPr lang="fr-FR"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1936562511"/>
                  </a:ext>
                </a:extLst>
              </a:tr>
              <a:tr h="324730">
                <a:tc>
                  <a:txBody>
                    <a:bodyPr/>
                    <a:lstStyle/>
                    <a:p>
                      <a:pPr algn="l" fontAlgn="b">
                        <a:buNone/>
                      </a:pPr>
                      <a:r>
                        <a:rPr lang="en-US" sz="1800" b="1" u="none" strike="noStrike">
                          <a:solidFill>
                            <a:srgbClr val="000000"/>
                          </a:solidFill>
                          <a:effectLst/>
                        </a:rPr>
                        <a:t>Population rural (%)</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66.5 (2017)</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~63.13% (2024, World Bank)</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2363786287"/>
                  </a:ext>
                </a:extLst>
              </a:tr>
              <a:tr h="324730">
                <a:tc>
                  <a:txBody>
                    <a:bodyPr/>
                    <a:lstStyle/>
                    <a:p>
                      <a:pPr algn="l" fontAlgn="b">
                        <a:buNone/>
                      </a:pPr>
                      <a:r>
                        <a:rPr lang="en-US" sz="1800" b="1" u="none" strike="noStrike">
                          <a:solidFill>
                            <a:srgbClr val="000000"/>
                          </a:solidFill>
                          <a:effectLst/>
                        </a:rPr>
                        <a:t>Adult literacy rate (%)</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74.04 (2011 Census)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fr-FR" sz="1800" b="0" u="none" strike="noStrike">
                          <a:solidFill>
                            <a:srgbClr val="000000"/>
                          </a:solidFill>
                          <a:effectLst/>
                        </a:rPr>
                        <a:t>~77.7% (2023 est., NSO &amp; IHDS)</a:t>
                      </a:r>
                      <a:endParaRPr lang="fr-FR"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537308594"/>
                  </a:ext>
                </a:extLst>
              </a:tr>
              <a:tr h="324730">
                <a:tc>
                  <a:txBody>
                    <a:bodyPr/>
                    <a:lstStyle/>
                    <a:p>
                      <a:pPr algn="l" fontAlgn="b">
                        <a:buNone/>
                      </a:pPr>
                      <a:r>
                        <a:rPr lang="en-US" sz="1800" b="1" u="none" strike="noStrike">
                          <a:solidFill>
                            <a:srgbClr val="000000"/>
                          </a:solidFill>
                          <a:effectLst/>
                        </a:rPr>
                        <a:t>Density of population (per sq.km)</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464 (2020)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dirty="0">
                          <a:solidFill>
                            <a:srgbClr val="000000"/>
                          </a:solidFill>
                          <a:effectLst/>
                        </a:rPr>
                        <a:t>~478 (2024 est., UNDP)</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2465833356"/>
                  </a:ext>
                </a:extLst>
              </a:tr>
              <a:tr h="324730">
                <a:tc>
                  <a:txBody>
                    <a:bodyPr/>
                    <a:lstStyle/>
                    <a:p>
                      <a:pPr algn="l" fontAlgn="b">
                        <a:buNone/>
                      </a:pPr>
                      <a:r>
                        <a:rPr lang="en-US" sz="1800" b="1" u="none" strike="noStrike">
                          <a:solidFill>
                            <a:srgbClr val="000000"/>
                          </a:solidFill>
                          <a:effectLst/>
                        </a:rPr>
                        <a:t>Sex ratio (females per 1000 males)</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899 (2016–18, SRS)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fr-FR" sz="1800" b="0" u="none" strike="noStrike">
                          <a:solidFill>
                            <a:srgbClr val="000000"/>
                          </a:solidFill>
                          <a:effectLst/>
                        </a:rPr>
                        <a:t>~943 (2024, NFHS-5 &amp; UN est.)</a:t>
                      </a:r>
                      <a:endParaRPr lang="fr-FR"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2813903225"/>
                  </a:ext>
                </a:extLst>
              </a:tr>
              <a:tr h="324730">
                <a:tc>
                  <a:txBody>
                    <a:bodyPr/>
                    <a:lstStyle/>
                    <a:p>
                      <a:pPr algn="l" fontAlgn="b">
                        <a:buNone/>
                      </a:pPr>
                      <a:r>
                        <a:rPr lang="en-US" sz="1800" b="1" u="none" strike="noStrike">
                          <a:solidFill>
                            <a:srgbClr val="000000"/>
                          </a:solidFill>
                          <a:effectLst/>
                        </a:rPr>
                        <a:t>Population below 15 years (%)</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25.9 (2020)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~24.3% (2023 est., UNICEF)</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4068501246"/>
                  </a:ext>
                </a:extLst>
              </a:tr>
              <a:tr h="324730">
                <a:tc>
                  <a:txBody>
                    <a:bodyPr/>
                    <a:lstStyle/>
                    <a:p>
                      <a:pPr algn="l" fontAlgn="b">
                        <a:buNone/>
                      </a:pPr>
                      <a:r>
                        <a:rPr lang="en-US" sz="1800" b="1" u="none" strike="noStrike">
                          <a:solidFill>
                            <a:srgbClr val="000000"/>
                          </a:solidFill>
                          <a:effectLst/>
                        </a:rPr>
                        <a:t>Population above 60 years (%)</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dirty="0">
                          <a:solidFill>
                            <a:srgbClr val="000000"/>
                          </a:solidFill>
                          <a:effectLst/>
                        </a:rPr>
                        <a:t>9.0 (2017)</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fr-FR" sz="1800" b="0" u="none" strike="noStrike">
                          <a:solidFill>
                            <a:srgbClr val="000000"/>
                          </a:solidFill>
                          <a:effectLst/>
                        </a:rPr>
                        <a:t>~11.2% (2023 est., HelpAge India)</a:t>
                      </a:r>
                      <a:endParaRPr lang="fr-FR"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142519239"/>
                  </a:ext>
                </a:extLst>
              </a:tr>
              <a:tr h="324730">
                <a:tc>
                  <a:txBody>
                    <a:bodyPr/>
                    <a:lstStyle/>
                    <a:p>
                      <a:pPr algn="l" fontAlgn="b">
                        <a:buNone/>
                      </a:pPr>
                      <a:r>
                        <a:rPr lang="en-US" sz="1800" b="1" u="none" strike="noStrike">
                          <a:solidFill>
                            <a:srgbClr val="000000"/>
                          </a:solidFill>
                          <a:effectLst/>
                        </a:rPr>
                        <a:t>Average family size</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1.8 (2020)</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dirty="0">
                          <a:solidFill>
                            <a:srgbClr val="000000"/>
                          </a:solidFill>
                          <a:effectLst/>
                        </a:rPr>
                        <a:t>~1.9 (2024 est., IHDS)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2941835370"/>
                  </a:ext>
                </a:extLst>
              </a:tr>
              <a:tr h="324730">
                <a:tc>
                  <a:txBody>
                    <a:bodyPr/>
                    <a:lstStyle/>
                    <a:p>
                      <a:pPr algn="l" fontAlgn="b">
                        <a:buNone/>
                      </a:pPr>
                      <a:r>
                        <a:rPr lang="en-US" sz="1800" b="1" u="none" strike="noStrike">
                          <a:solidFill>
                            <a:srgbClr val="000000"/>
                          </a:solidFill>
                          <a:effectLst/>
                        </a:rPr>
                        <a:t>Age at marriage, female</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a:solidFill>
                            <a:srgbClr val="000000"/>
                          </a:solidFill>
                          <a:effectLst/>
                        </a:rPr>
                        <a:t>22.3 years (2018)</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tc>
                  <a:txBody>
                    <a:bodyPr/>
                    <a:lstStyle/>
                    <a:p>
                      <a:pPr algn="l" fontAlgn="b">
                        <a:buNone/>
                      </a:pPr>
                      <a:r>
                        <a:rPr lang="en-US" sz="1800" b="0" u="none" strike="noStrike" dirty="0">
                          <a:solidFill>
                            <a:srgbClr val="000000"/>
                          </a:solidFill>
                          <a:effectLst/>
                        </a:rPr>
                        <a:t>~22.7 years (2022, NFHS-5)</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186" marR="9186" marT="9186" marB="0" anchor="b"/>
                </a:tc>
                <a:extLst>
                  <a:ext uri="{0D108BD9-81ED-4DB2-BD59-A6C34878D82A}">
                    <a16:rowId xmlns:a16="http://schemas.microsoft.com/office/drawing/2014/main" val="3322057691"/>
                  </a:ext>
                </a:extLst>
              </a:tr>
              <a:tr h="325720">
                <a:tc>
                  <a:txBody>
                    <a:bodyPr/>
                    <a:lstStyle/>
                    <a:p>
                      <a:pPr marL="0" algn="l" defTabSz="914400" rtl="0" eaLnBrk="1" fontAlgn="b" latinLnBrk="0" hangingPunct="1">
                        <a:buNone/>
                      </a:pPr>
                      <a:r>
                        <a:rPr lang="en-US" sz="1800" b="1" u="none" strike="noStrike" kern="1200">
                          <a:solidFill>
                            <a:srgbClr val="000000"/>
                          </a:solidFill>
                          <a:effectLst/>
                        </a:rPr>
                        <a:t>Annual per capita GNP (₹, current prices)</a:t>
                      </a:r>
                      <a:endParaRPr lang="en-US" sz="1800" b="1" i="0" u="none" strike="noStrike" kern="1200">
                        <a:solidFill>
                          <a:srgbClr val="000000"/>
                        </a:solidFill>
                        <a:effectLst/>
                        <a:latin typeface="Times New Roman" panose="02020603050405020304" pitchFamily="18" charset="0"/>
                        <a:ea typeface="+mn-ea"/>
                        <a:cs typeface="Times New Roman" panose="02020603050405020304" pitchFamily="18" charset="0"/>
                      </a:endParaRPr>
                    </a:p>
                  </a:txBody>
                  <a:tcPr marL="9807" marR="9807" marT="9807" marB="0" anchor="b"/>
                </a:tc>
                <a:tc>
                  <a:txBody>
                    <a:bodyPr/>
                    <a:lstStyle/>
                    <a:p>
                      <a:pPr marL="0" algn="l" defTabSz="914400" rtl="0" eaLnBrk="1" fontAlgn="b" latinLnBrk="0" hangingPunct="1">
                        <a:buNone/>
                      </a:pPr>
                      <a:r>
                        <a:rPr lang="en-US" sz="1800" b="0" u="none" strike="noStrike" kern="1200" dirty="0">
                          <a:solidFill>
                            <a:srgbClr val="000000"/>
                          </a:solidFill>
                          <a:effectLst/>
                        </a:rPr>
                        <a:t>₹126,521 (2018–19)</a:t>
                      </a:r>
                      <a:endParaRPr lang="en-US" sz="1800" b="0" i="0" u="none" strike="noStrike" kern="1200" dirty="0">
                        <a:solidFill>
                          <a:srgbClr val="000000"/>
                        </a:solidFill>
                        <a:effectLst/>
                        <a:latin typeface="Times New Roman" panose="02020603050405020304" pitchFamily="18" charset="0"/>
                        <a:ea typeface="+mn-ea"/>
                        <a:cs typeface="Times New Roman" panose="02020603050405020304" pitchFamily="18" charset="0"/>
                      </a:endParaRPr>
                    </a:p>
                  </a:txBody>
                  <a:tcPr marL="9807" marR="9807" marT="9807" marB="0" anchor="b"/>
                </a:tc>
                <a:tc>
                  <a:txBody>
                    <a:bodyPr/>
                    <a:lstStyle/>
                    <a:p>
                      <a:pPr marL="0" algn="l" defTabSz="914400" rtl="0" eaLnBrk="1" fontAlgn="b" latinLnBrk="0" hangingPunct="1">
                        <a:buNone/>
                      </a:pPr>
                      <a:r>
                        <a:rPr lang="en-US" sz="1800" b="0" u="none" strike="noStrike" kern="1200" dirty="0">
                          <a:solidFill>
                            <a:srgbClr val="000000"/>
                          </a:solidFill>
                          <a:effectLst/>
                        </a:rPr>
                        <a:t>₹176,472 (2023–24 est., </a:t>
                      </a:r>
                      <a:r>
                        <a:rPr lang="en-US" sz="1800" b="0" u="none" strike="noStrike" kern="1200" dirty="0" err="1">
                          <a:solidFill>
                            <a:srgbClr val="000000"/>
                          </a:solidFill>
                          <a:effectLst/>
                        </a:rPr>
                        <a:t>MoSPI</a:t>
                      </a:r>
                      <a:r>
                        <a:rPr lang="en-US" sz="1800" b="0" u="none" strike="noStrike" kern="1200" dirty="0">
                          <a:solidFill>
                            <a:srgbClr val="000000"/>
                          </a:solidFill>
                          <a:effectLst/>
                        </a:rPr>
                        <a:t>)</a:t>
                      </a:r>
                      <a:endParaRPr lang="en-US" sz="1800" b="0" i="0" u="none" strike="noStrike" kern="1200" dirty="0">
                        <a:solidFill>
                          <a:srgbClr val="000000"/>
                        </a:solidFill>
                        <a:effectLst/>
                        <a:latin typeface="Times New Roman" panose="02020603050405020304" pitchFamily="18" charset="0"/>
                        <a:ea typeface="+mn-ea"/>
                        <a:cs typeface="Times New Roman" panose="02020603050405020304" pitchFamily="18" charset="0"/>
                      </a:endParaRPr>
                    </a:p>
                  </a:txBody>
                  <a:tcPr marL="9807" marR="9807" marT="9807" marB="0" anchor="b"/>
                </a:tc>
                <a:extLst>
                  <a:ext uri="{0D108BD9-81ED-4DB2-BD59-A6C34878D82A}">
                    <a16:rowId xmlns:a16="http://schemas.microsoft.com/office/drawing/2014/main" val="4149005965"/>
                  </a:ext>
                </a:extLst>
              </a:tr>
            </a:tbl>
          </a:graphicData>
        </a:graphic>
      </p:graphicFrame>
    </p:spTree>
    <p:extLst>
      <p:ext uri="{BB962C8B-B14F-4D97-AF65-F5344CB8AC3E}">
        <p14:creationId xmlns:p14="http://schemas.microsoft.com/office/powerpoint/2010/main" val="2683874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32BA4-9D37-A976-ADC3-CC2AFD013DD1}"/>
              </a:ext>
            </a:extLst>
          </p:cNvPr>
          <p:cNvSpPr>
            <a:spLocks noGrp="1"/>
          </p:cNvSpPr>
          <p:nvPr>
            <p:ph type="title"/>
          </p:nvPr>
        </p:nvSpPr>
        <p:spPr>
          <a:xfrm>
            <a:off x="612648" y="603504"/>
            <a:ext cx="11019513" cy="1527048"/>
          </a:xfrm>
        </p:spPr>
        <p:txBody>
          <a:bodyPr anchor="b">
            <a:normAutofit/>
          </a:bodyPr>
          <a:lstStyle/>
          <a:p>
            <a:r>
              <a:rPr lang="en-IN" dirty="0"/>
              <a:t>Mortality Trends in India – Improvements Over Time</a:t>
            </a:r>
          </a:p>
        </p:txBody>
      </p:sp>
      <p:sp>
        <p:nvSpPr>
          <p:cNvPr id="3" name="Content Placeholder 2">
            <a:extLst>
              <a:ext uri="{FF2B5EF4-FFF2-40B4-BE49-F238E27FC236}">
                <a16:creationId xmlns:a16="http://schemas.microsoft.com/office/drawing/2014/main" id="{45DE1852-35CD-D7F7-5F12-5BBDA40CA3A7}"/>
              </a:ext>
            </a:extLst>
          </p:cNvPr>
          <p:cNvSpPr>
            <a:spLocks noGrp="1"/>
          </p:cNvSpPr>
          <p:nvPr>
            <p:ph idx="1"/>
          </p:nvPr>
        </p:nvSpPr>
        <p:spPr>
          <a:xfrm>
            <a:off x="612648" y="2212848"/>
            <a:ext cx="11019514" cy="4096512"/>
          </a:xfrm>
        </p:spPr>
        <p:txBody>
          <a:bodyPr>
            <a:normAutofit/>
          </a:bodyPr>
          <a:lstStyle/>
          <a:p>
            <a:r>
              <a:rPr lang="en-IN" b="1" dirty="0"/>
              <a:t>Significant Progress in Past Decades</a:t>
            </a:r>
            <a:r>
              <a:rPr lang="en-IN" dirty="0"/>
              <a:t>:</a:t>
            </a:r>
            <a:endParaRPr lang="en-IN"/>
          </a:p>
          <a:p>
            <a:pPr lvl="1"/>
            <a:r>
              <a:rPr lang="en-IN" b="1"/>
              <a:t>Crude Death Rate (CDR)</a:t>
            </a:r>
            <a:r>
              <a:rPr lang="en-IN"/>
              <a:t> declined from </a:t>
            </a:r>
            <a:r>
              <a:rPr lang="en-IN" b="1"/>
              <a:t>21 (1965)</a:t>
            </a:r>
            <a:r>
              <a:rPr lang="en-IN"/>
              <a:t> → </a:t>
            </a:r>
            <a:r>
              <a:rPr lang="en-IN" b="1"/>
              <a:t>6.0 (2020)</a:t>
            </a:r>
            <a:endParaRPr lang="en-IN"/>
          </a:p>
          <a:p>
            <a:pPr lvl="1"/>
            <a:r>
              <a:rPr lang="en-IN" b="1"/>
              <a:t>Life Expectancy at Birth</a:t>
            </a:r>
            <a:r>
              <a:rPr lang="en-IN"/>
              <a:t> (2020):</a:t>
            </a:r>
          </a:p>
          <a:p>
            <a:pPr lvl="2"/>
            <a:r>
              <a:rPr lang="en-IN"/>
              <a:t>Males: </a:t>
            </a:r>
            <a:r>
              <a:rPr lang="en-IN" b="1"/>
              <a:t>67 years</a:t>
            </a:r>
            <a:endParaRPr lang="en-IN"/>
          </a:p>
          <a:p>
            <a:pPr lvl="2"/>
            <a:r>
              <a:rPr lang="en-IN"/>
              <a:t>Females: </a:t>
            </a:r>
            <a:r>
              <a:rPr lang="en-IN" b="1"/>
              <a:t>70 years</a:t>
            </a:r>
            <a:endParaRPr lang="en-IN"/>
          </a:p>
          <a:p>
            <a:pPr lvl="2"/>
            <a:r>
              <a:rPr lang="en-IN" b="1"/>
              <a:t>Decline in mortality from major infectious diseases</a:t>
            </a:r>
            <a:r>
              <a:rPr lang="en-IN"/>
              <a:t>: Cholera, Tuberculosis, Malaria</a:t>
            </a:r>
          </a:p>
          <a:p>
            <a:pPr lvl="2"/>
            <a:endParaRPr lang="en-IN"/>
          </a:p>
          <a:p>
            <a:pPr lvl="1"/>
            <a:endParaRPr lang="en-IN"/>
          </a:p>
          <a:p>
            <a:endParaRPr lang="en-IN" dirty="0"/>
          </a:p>
        </p:txBody>
      </p:sp>
    </p:spTree>
    <p:extLst>
      <p:ext uri="{BB962C8B-B14F-4D97-AF65-F5344CB8AC3E}">
        <p14:creationId xmlns:p14="http://schemas.microsoft.com/office/powerpoint/2010/main" val="2978436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08C450-4A5E-6FFA-60E6-1E0868008088}"/>
              </a:ext>
            </a:extLst>
          </p:cNvPr>
          <p:cNvSpPr>
            <a:spLocks noGrp="1"/>
          </p:cNvSpPr>
          <p:nvPr>
            <p:ph type="title"/>
          </p:nvPr>
        </p:nvSpPr>
        <p:spPr/>
        <p:txBody>
          <a:bodyPr>
            <a:normAutofit fontScale="90000"/>
          </a:bodyPr>
          <a:lstStyle/>
          <a:p>
            <a:r>
              <a:rPr lang="en-US" altLang="en-US" b="1" dirty="0"/>
              <a:t>Persisting Mortality Challenges in India</a:t>
            </a:r>
            <a:endParaRPr lang="en-US" dirty="0"/>
          </a:p>
        </p:txBody>
      </p:sp>
      <p:graphicFrame>
        <p:nvGraphicFramePr>
          <p:cNvPr id="34" name="Rectangle 1">
            <a:extLst>
              <a:ext uri="{FF2B5EF4-FFF2-40B4-BE49-F238E27FC236}">
                <a16:creationId xmlns:a16="http://schemas.microsoft.com/office/drawing/2014/main" id="{7537EC57-A8FD-1CB7-AB77-148B0CD6E6C6}"/>
              </a:ext>
            </a:extLst>
          </p:cNvPr>
          <p:cNvGraphicFramePr>
            <a:graphicFrameLocks noGrp="1"/>
          </p:cNvGraphicFramePr>
          <p:nvPr>
            <p:ph idx="1"/>
            <p:extLst>
              <p:ext uri="{D42A27DB-BD31-4B8C-83A1-F6EECF244321}">
                <p14:modId xmlns:p14="http://schemas.microsoft.com/office/powerpoint/2010/main" val="170962541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8046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FD88411-503D-41A0-BB5E-1C5AC7035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Background Gray Rectangle">
            <a:extLst>
              <a:ext uri="{FF2B5EF4-FFF2-40B4-BE49-F238E27FC236}">
                <a16:creationId xmlns:a16="http://schemas.microsoft.com/office/drawing/2014/main" id="{0448CEF0-D07B-484A-9005-35C372FF18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7" name="White Rectangle">
            <a:extLst>
              <a:ext uri="{FF2B5EF4-FFF2-40B4-BE49-F238E27FC236}">
                <a16:creationId xmlns:a16="http://schemas.microsoft.com/office/drawing/2014/main" id="{015CAE92-A031-4F85-8B52-4959DB819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B30F52-6A1F-5F1C-306F-EE13A49F97C8}"/>
              </a:ext>
            </a:extLst>
          </p:cNvPr>
          <p:cNvSpPr>
            <a:spLocks noGrp="1"/>
          </p:cNvSpPr>
          <p:nvPr>
            <p:ph type="title"/>
          </p:nvPr>
        </p:nvSpPr>
        <p:spPr>
          <a:xfrm>
            <a:off x="420623" y="606564"/>
            <a:ext cx="10858705" cy="2110122"/>
          </a:xfrm>
        </p:spPr>
        <p:txBody>
          <a:bodyPr anchor="t">
            <a:normAutofit/>
          </a:bodyPr>
          <a:lstStyle/>
          <a:p>
            <a:r>
              <a:rPr lang="en-US" dirty="0"/>
              <a:t>Infant and under 5 mortality indicators</a:t>
            </a:r>
          </a:p>
        </p:txBody>
      </p:sp>
      <p:sp>
        <p:nvSpPr>
          <p:cNvPr id="4" name="Slide Number Placeholder 3">
            <a:extLst>
              <a:ext uri="{FF2B5EF4-FFF2-40B4-BE49-F238E27FC236}">
                <a16:creationId xmlns:a16="http://schemas.microsoft.com/office/drawing/2014/main" id="{4AB98F10-E92C-BF71-DBAF-FF0E68B99CE8}"/>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12</a:t>
            </a:fld>
            <a:endParaRPr lang="en-US"/>
          </a:p>
        </p:txBody>
      </p:sp>
      <p:cxnSp>
        <p:nvCxnSpPr>
          <p:cNvPr id="29" name="Vertical Connector">
            <a:extLst>
              <a:ext uri="{FF2B5EF4-FFF2-40B4-BE49-F238E27FC236}">
                <a16:creationId xmlns:a16="http://schemas.microsoft.com/office/drawing/2014/main" id="{89A06E1F-9CD9-4689-B2ED-766AD195AF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Horizontal Connector 2">
            <a:extLst>
              <a:ext uri="{FF2B5EF4-FFF2-40B4-BE49-F238E27FC236}">
                <a16:creationId xmlns:a16="http://schemas.microsoft.com/office/drawing/2014/main" id="{7DF25515-8844-4534-AA1D-955AED0A5F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5" name="Content Placeholder 4">
            <a:extLst>
              <a:ext uri="{FF2B5EF4-FFF2-40B4-BE49-F238E27FC236}">
                <a16:creationId xmlns:a16="http://schemas.microsoft.com/office/drawing/2014/main" id="{29F12BF9-F114-F1E2-90AE-FC5A568EAF95}"/>
              </a:ext>
            </a:extLst>
          </p:cNvPr>
          <p:cNvGraphicFramePr>
            <a:graphicFrameLocks noGrp="1"/>
          </p:cNvGraphicFramePr>
          <p:nvPr>
            <p:ph idx="1"/>
            <p:extLst>
              <p:ext uri="{D42A27DB-BD31-4B8C-83A1-F6EECF244321}">
                <p14:modId xmlns:p14="http://schemas.microsoft.com/office/powerpoint/2010/main" val="4146623192"/>
              </p:ext>
            </p:extLst>
          </p:nvPr>
        </p:nvGraphicFramePr>
        <p:xfrm>
          <a:off x="412133" y="1358540"/>
          <a:ext cx="10764630" cy="4879977"/>
        </p:xfrm>
        <a:graphic>
          <a:graphicData uri="http://schemas.openxmlformats.org/drawingml/2006/table">
            <a:tbl>
              <a:tblPr firstRow="1" bandRow="1">
                <a:tableStyleId>{F5AB1C69-6EDB-4FF4-983F-18BD219EF322}</a:tableStyleId>
              </a:tblPr>
              <a:tblGrid>
                <a:gridCol w="4282236">
                  <a:extLst>
                    <a:ext uri="{9D8B030D-6E8A-4147-A177-3AD203B41FA5}">
                      <a16:colId xmlns:a16="http://schemas.microsoft.com/office/drawing/2014/main" val="2923197894"/>
                    </a:ext>
                  </a:extLst>
                </a:gridCol>
                <a:gridCol w="1070223">
                  <a:extLst>
                    <a:ext uri="{9D8B030D-6E8A-4147-A177-3AD203B41FA5}">
                      <a16:colId xmlns:a16="http://schemas.microsoft.com/office/drawing/2014/main" val="2097220926"/>
                    </a:ext>
                  </a:extLst>
                </a:gridCol>
                <a:gridCol w="1134329">
                  <a:extLst>
                    <a:ext uri="{9D8B030D-6E8A-4147-A177-3AD203B41FA5}">
                      <a16:colId xmlns:a16="http://schemas.microsoft.com/office/drawing/2014/main" val="2639841673"/>
                    </a:ext>
                  </a:extLst>
                </a:gridCol>
                <a:gridCol w="1036645">
                  <a:extLst>
                    <a:ext uri="{9D8B030D-6E8A-4147-A177-3AD203B41FA5}">
                      <a16:colId xmlns:a16="http://schemas.microsoft.com/office/drawing/2014/main" val="1424079283"/>
                    </a:ext>
                  </a:extLst>
                </a:gridCol>
                <a:gridCol w="1070223">
                  <a:extLst>
                    <a:ext uri="{9D8B030D-6E8A-4147-A177-3AD203B41FA5}">
                      <a16:colId xmlns:a16="http://schemas.microsoft.com/office/drawing/2014/main" val="878630056"/>
                    </a:ext>
                  </a:extLst>
                </a:gridCol>
                <a:gridCol w="1134329">
                  <a:extLst>
                    <a:ext uri="{9D8B030D-6E8A-4147-A177-3AD203B41FA5}">
                      <a16:colId xmlns:a16="http://schemas.microsoft.com/office/drawing/2014/main" val="3011214908"/>
                    </a:ext>
                  </a:extLst>
                </a:gridCol>
                <a:gridCol w="1036645">
                  <a:extLst>
                    <a:ext uri="{9D8B030D-6E8A-4147-A177-3AD203B41FA5}">
                      <a16:colId xmlns:a16="http://schemas.microsoft.com/office/drawing/2014/main" val="2048207948"/>
                    </a:ext>
                  </a:extLst>
                </a:gridCol>
              </a:tblGrid>
              <a:tr h="757507">
                <a:tc>
                  <a:txBody>
                    <a:bodyPr/>
                    <a:lstStyle/>
                    <a:p>
                      <a:pPr algn="l" fontAlgn="b">
                        <a:buNone/>
                      </a:pPr>
                      <a:r>
                        <a:rPr lang="en-US" sz="2000" u="none" strike="noStrike" dirty="0">
                          <a:solidFill>
                            <a:schemeClr val="tx1"/>
                          </a:solidFill>
                          <a:effectLst/>
                        </a:rPr>
                        <a:t>Indicator</a:t>
                      </a:r>
                      <a:endParaRPr lang="en-US" sz="2000" b="0" i="0" u="none" strike="noStrike" dirty="0">
                        <a:solidFill>
                          <a:schemeClr val="tx1"/>
                        </a:solidFill>
                        <a:effectLst/>
                        <a:latin typeface="Aptos Narrow" panose="020B0004020202020204" pitchFamily="34" charset="0"/>
                      </a:endParaRPr>
                    </a:p>
                  </a:txBody>
                  <a:tcPr marL="7856" marR="7856" marT="7856" marB="0" anchor="b"/>
                </a:tc>
                <a:tc>
                  <a:txBody>
                    <a:bodyPr/>
                    <a:lstStyle/>
                    <a:p>
                      <a:pPr algn="l" fontAlgn="b">
                        <a:buNone/>
                      </a:pPr>
                      <a:r>
                        <a:rPr lang="en-US" sz="2000" u="none" strike="noStrike">
                          <a:solidFill>
                            <a:schemeClr val="tx1"/>
                          </a:solidFill>
                          <a:effectLst/>
                        </a:rPr>
                        <a:t>2018 </a:t>
                      </a:r>
                    </a:p>
                    <a:p>
                      <a:pPr algn="l" fontAlgn="b">
                        <a:buNone/>
                      </a:pPr>
                      <a:r>
                        <a:rPr lang="en-US" sz="2000" u="none" strike="noStrike">
                          <a:solidFill>
                            <a:schemeClr val="tx1"/>
                          </a:solidFill>
                          <a:effectLst/>
                        </a:rPr>
                        <a:t>Rural</a:t>
                      </a:r>
                      <a:endParaRPr lang="en-US" sz="2000" b="0" i="0" u="none" strike="noStrike">
                        <a:solidFill>
                          <a:schemeClr val="tx1"/>
                        </a:solidFill>
                        <a:effectLst/>
                        <a:latin typeface="Aptos Narrow" panose="020B0004020202020204" pitchFamily="34" charset="0"/>
                      </a:endParaRPr>
                    </a:p>
                  </a:txBody>
                  <a:tcPr marL="7856" marR="7856" marT="7856" marB="0" anchor="b"/>
                </a:tc>
                <a:tc>
                  <a:txBody>
                    <a:bodyPr/>
                    <a:lstStyle/>
                    <a:p>
                      <a:pPr algn="l" fontAlgn="b">
                        <a:buNone/>
                      </a:pPr>
                      <a:r>
                        <a:rPr lang="en-US" sz="2000" u="none" strike="noStrike">
                          <a:solidFill>
                            <a:schemeClr val="tx1"/>
                          </a:solidFill>
                          <a:effectLst/>
                        </a:rPr>
                        <a:t>2018 </a:t>
                      </a:r>
                    </a:p>
                    <a:p>
                      <a:pPr algn="l" fontAlgn="b">
                        <a:buNone/>
                      </a:pPr>
                      <a:r>
                        <a:rPr lang="en-US" sz="2000" u="none" strike="noStrike">
                          <a:solidFill>
                            <a:schemeClr val="tx1"/>
                          </a:solidFill>
                          <a:effectLst/>
                        </a:rPr>
                        <a:t>Urban</a:t>
                      </a:r>
                      <a:endParaRPr lang="en-US" sz="2000" b="0" i="0" u="none" strike="noStrike">
                        <a:solidFill>
                          <a:schemeClr val="tx1"/>
                        </a:solidFill>
                        <a:effectLst/>
                        <a:latin typeface="Aptos Narrow" panose="020B0004020202020204" pitchFamily="34" charset="0"/>
                      </a:endParaRPr>
                    </a:p>
                  </a:txBody>
                  <a:tcPr marL="7856" marR="7856" marT="7856" marB="0" anchor="b"/>
                </a:tc>
                <a:tc>
                  <a:txBody>
                    <a:bodyPr/>
                    <a:lstStyle/>
                    <a:p>
                      <a:pPr algn="l" fontAlgn="b">
                        <a:buNone/>
                      </a:pPr>
                      <a:r>
                        <a:rPr lang="en-US" sz="2000" u="none" strike="noStrike" dirty="0">
                          <a:solidFill>
                            <a:schemeClr val="tx1"/>
                          </a:solidFill>
                          <a:effectLst/>
                        </a:rPr>
                        <a:t>2018 </a:t>
                      </a:r>
                    </a:p>
                    <a:p>
                      <a:pPr algn="l" fontAlgn="b">
                        <a:buNone/>
                      </a:pPr>
                      <a:r>
                        <a:rPr lang="en-US" sz="2000" u="none" strike="noStrike" dirty="0">
                          <a:solidFill>
                            <a:schemeClr val="tx1"/>
                          </a:solidFill>
                          <a:effectLst/>
                        </a:rPr>
                        <a:t>Total</a:t>
                      </a:r>
                      <a:endParaRPr lang="en-US" sz="2000" b="0" i="0" u="none" strike="noStrike" dirty="0">
                        <a:solidFill>
                          <a:schemeClr val="tx1"/>
                        </a:solidFill>
                        <a:effectLst/>
                        <a:latin typeface="Aptos Narrow" panose="020B0004020202020204" pitchFamily="34" charset="0"/>
                      </a:endParaRPr>
                    </a:p>
                  </a:txBody>
                  <a:tcPr marL="7856" marR="7856" marT="7856" marB="0" anchor="b"/>
                </a:tc>
                <a:tc>
                  <a:txBody>
                    <a:bodyPr/>
                    <a:lstStyle/>
                    <a:p>
                      <a:pPr algn="l" fontAlgn="b">
                        <a:buNone/>
                      </a:pPr>
                      <a:r>
                        <a:rPr lang="en-US" sz="2000" u="none" strike="noStrike" dirty="0">
                          <a:solidFill>
                            <a:schemeClr val="tx1"/>
                          </a:solidFill>
                          <a:effectLst/>
                        </a:rPr>
                        <a:t>2023 </a:t>
                      </a:r>
                    </a:p>
                    <a:p>
                      <a:pPr algn="l" fontAlgn="b">
                        <a:buNone/>
                      </a:pPr>
                      <a:r>
                        <a:rPr lang="en-US" sz="2000" u="none" strike="noStrike" dirty="0">
                          <a:solidFill>
                            <a:schemeClr val="tx1"/>
                          </a:solidFill>
                          <a:effectLst/>
                        </a:rPr>
                        <a:t>Rural</a:t>
                      </a:r>
                      <a:endParaRPr lang="en-US" sz="2000" b="0" i="0" u="none" strike="noStrike" dirty="0">
                        <a:solidFill>
                          <a:schemeClr val="tx1"/>
                        </a:solidFill>
                        <a:effectLst/>
                        <a:latin typeface="Aptos Narrow" panose="020B0004020202020204" pitchFamily="34" charset="0"/>
                      </a:endParaRPr>
                    </a:p>
                  </a:txBody>
                  <a:tcPr marL="7856" marR="7856" marT="7856" marB="0" anchor="b"/>
                </a:tc>
                <a:tc>
                  <a:txBody>
                    <a:bodyPr/>
                    <a:lstStyle/>
                    <a:p>
                      <a:pPr algn="l" fontAlgn="b">
                        <a:buNone/>
                      </a:pPr>
                      <a:r>
                        <a:rPr lang="en-US" sz="2000" u="none" strike="noStrike" dirty="0">
                          <a:solidFill>
                            <a:schemeClr val="tx1"/>
                          </a:solidFill>
                          <a:effectLst/>
                        </a:rPr>
                        <a:t>2023 </a:t>
                      </a:r>
                    </a:p>
                    <a:p>
                      <a:pPr algn="l" fontAlgn="b">
                        <a:buNone/>
                      </a:pPr>
                      <a:r>
                        <a:rPr lang="en-US" sz="2000" u="none" strike="noStrike" dirty="0">
                          <a:solidFill>
                            <a:schemeClr val="tx1"/>
                          </a:solidFill>
                          <a:effectLst/>
                        </a:rPr>
                        <a:t>Urban</a:t>
                      </a:r>
                      <a:endParaRPr lang="en-US" sz="2000" b="0" i="0" u="none" strike="noStrike" dirty="0">
                        <a:solidFill>
                          <a:schemeClr val="tx1"/>
                        </a:solidFill>
                        <a:effectLst/>
                        <a:latin typeface="Aptos Narrow" panose="020B0004020202020204" pitchFamily="34" charset="0"/>
                      </a:endParaRPr>
                    </a:p>
                  </a:txBody>
                  <a:tcPr marL="7856" marR="7856" marT="7856" marB="0" anchor="b"/>
                </a:tc>
                <a:tc>
                  <a:txBody>
                    <a:bodyPr/>
                    <a:lstStyle/>
                    <a:p>
                      <a:pPr algn="l" fontAlgn="b">
                        <a:buNone/>
                      </a:pPr>
                      <a:r>
                        <a:rPr lang="en-US" sz="2000" u="none" strike="noStrike" dirty="0">
                          <a:solidFill>
                            <a:schemeClr val="tx1"/>
                          </a:solidFill>
                          <a:effectLst/>
                        </a:rPr>
                        <a:t>2023 </a:t>
                      </a:r>
                    </a:p>
                    <a:p>
                      <a:pPr algn="l" fontAlgn="b">
                        <a:buNone/>
                      </a:pPr>
                      <a:r>
                        <a:rPr lang="en-US" sz="2000" u="none" strike="noStrike" dirty="0">
                          <a:solidFill>
                            <a:schemeClr val="tx1"/>
                          </a:solidFill>
                          <a:effectLst/>
                        </a:rPr>
                        <a:t>Total</a:t>
                      </a:r>
                      <a:endParaRPr lang="en-US" sz="2000" b="0" i="0" u="none" strike="noStrike" dirty="0">
                        <a:solidFill>
                          <a:schemeClr val="tx1"/>
                        </a:solidFill>
                        <a:effectLst/>
                        <a:latin typeface="Aptos Narrow" panose="020B0004020202020204" pitchFamily="34" charset="0"/>
                      </a:endParaRPr>
                    </a:p>
                  </a:txBody>
                  <a:tcPr marL="7856" marR="7856" marT="7856" marB="0" anchor="b"/>
                </a:tc>
                <a:extLst>
                  <a:ext uri="{0D108BD9-81ED-4DB2-BD59-A6C34878D82A}">
                    <a16:rowId xmlns:a16="http://schemas.microsoft.com/office/drawing/2014/main" val="2523251927"/>
                  </a:ext>
                </a:extLst>
              </a:tr>
              <a:tr h="757507">
                <a:tc>
                  <a:txBody>
                    <a:bodyPr/>
                    <a:lstStyle/>
                    <a:p>
                      <a:pPr algn="l" fontAlgn="b">
                        <a:buNone/>
                      </a:pPr>
                      <a:r>
                        <a:rPr lang="en-US" sz="2000" u="none" strike="noStrike" dirty="0">
                          <a:effectLst/>
                        </a:rPr>
                        <a:t>Child Mortality Rate (deaths per 1,000 live births)</a:t>
                      </a:r>
                      <a:endParaRPr lang="en-US" sz="2000" b="0" i="0" u="none" strike="noStrike" dirty="0">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dirty="0">
                          <a:effectLst/>
                        </a:rPr>
                        <a:t>40</a:t>
                      </a:r>
                      <a:endParaRPr lang="en-US" sz="2800" b="0" i="0" u="none" strike="noStrike" dirty="0">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dirty="0">
                          <a:effectLst/>
                        </a:rPr>
                        <a:t>26</a:t>
                      </a:r>
                      <a:endParaRPr lang="en-US" sz="2800" b="0" i="0" u="none" strike="noStrike" dirty="0">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36</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dirty="0">
                          <a:effectLst/>
                        </a:rPr>
                        <a:t>33*</a:t>
                      </a:r>
                      <a:endParaRPr lang="en-US" sz="2800" b="0" i="0" u="none" strike="noStrike" dirty="0">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dirty="0">
                          <a:effectLst/>
                        </a:rPr>
                        <a:t>21*</a:t>
                      </a:r>
                      <a:endParaRPr lang="en-US" sz="2800" b="0" i="0" u="none" strike="noStrike" dirty="0">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28*</a:t>
                      </a:r>
                      <a:endParaRPr lang="en-US" sz="2800" b="0" i="0" u="none" strike="noStrike">
                        <a:solidFill>
                          <a:srgbClr val="000000"/>
                        </a:solidFill>
                        <a:effectLst/>
                        <a:latin typeface="Aptos Narrow" panose="020B0004020202020204" pitchFamily="34" charset="0"/>
                      </a:endParaRPr>
                    </a:p>
                  </a:txBody>
                  <a:tcPr marL="7856" marR="7856" marT="7856" marB="0" anchor="b"/>
                </a:tc>
                <a:extLst>
                  <a:ext uri="{0D108BD9-81ED-4DB2-BD59-A6C34878D82A}">
                    <a16:rowId xmlns:a16="http://schemas.microsoft.com/office/drawing/2014/main" val="2026967025"/>
                  </a:ext>
                </a:extLst>
              </a:tr>
              <a:tr h="405488">
                <a:tc>
                  <a:txBody>
                    <a:bodyPr/>
                    <a:lstStyle/>
                    <a:p>
                      <a:pPr algn="l" fontAlgn="b">
                        <a:buNone/>
                      </a:pPr>
                      <a:r>
                        <a:rPr lang="en-US" sz="2000" u="none" strike="noStrike">
                          <a:effectLst/>
                        </a:rPr>
                        <a:t>Infant Mortality Rate (IMR)</a:t>
                      </a:r>
                      <a:endParaRPr lang="en-US" sz="20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36</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23</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32</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31*</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dirty="0">
                          <a:effectLst/>
                        </a:rPr>
                        <a:t>19*</a:t>
                      </a:r>
                      <a:endParaRPr lang="en-US" sz="2800" b="0" i="0" u="none" strike="noStrike" dirty="0">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27*</a:t>
                      </a:r>
                      <a:endParaRPr lang="en-US" sz="2800" b="0" i="0" u="none" strike="noStrike">
                        <a:solidFill>
                          <a:srgbClr val="000000"/>
                        </a:solidFill>
                        <a:effectLst/>
                        <a:latin typeface="Aptos Narrow" panose="020B0004020202020204" pitchFamily="34" charset="0"/>
                      </a:endParaRPr>
                    </a:p>
                  </a:txBody>
                  <a:tcPr marL="7856" marR="7856" marT="7856" marB="0" anchor="b"/>
                </a:tc>
                <a:extLst>
                  <a:ext uri="{0D108BD9-81ED-4DB2-BD59-A6C34878D82A}">
                    <a16:rowId xmlns:a16="http://schemas.microsoft.com/office/drawing/2014/main" val="2109812503"/>
                  </a:ext>
                </a:extLst>
              </a:tr>
              <a:tr h="405488">
                <a:tc>
                  <a:txBody>
                    <a:bodyPr/>
                    <a:lstStyle/>
                    <a:p>
                      <a:pPr algn="l" fontAlgn="b">
                        <a:buNone/>
                      </a:pPr>
                      <a:r>
                        <a:rPr lang="en-US" sz="2000" u="none" strike="noStrike">
                          <a:effectLst/>
                        </a:rPr>
                        <a:t>Neonatal Mortality Rate (NMR)</a:t>
                      </a:r>
                      <a:endParaRPr lang="en-US" sz="20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27</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14</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23</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22*</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dirty="0">
                          <a:effectLst/>
                        </a:rPr>
                        <a:t>13*</a:t>
                      </a:r>
                      <a:endParaRPr lang="en-US" sz="2800" b="0" i="0" u="none" strike="noStrike" dirty="0">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19*</a:t>
                      </a:r>
                      <a:endParaRPr lang="en-US" sz="2800" b="0" i="0" u="none" strike="noStrike">
                        <a:solidFill>
                          <a:srgbClr val="000000"/>
                        </a:solidFill>
                        <a:effectLst/>
                        <a:latin typeface="Aptos Narrow" panose="020B0004020202020204" pitchFamily="34" charset="0"/>
                      </a:endParaRPr>
                    </a:p>
                  </a:txBody>
                  <a:tcPr marL="7856" marR="7856" marT="7856" marB="0" anchor="b"/>
                </a:tc>
                <a:extLst>
                  <a:ext uri="{0D108BD9-81ED-4DB2-BD59-A6C34878D82A}">
                    <a16:rowId xmlns:a16="http://schemas.microsoft.com/office/drawing/2014/main" val="202636978"/>
                  </a:ext>
                </a:extLst>
              </a:tr>
              <a:tr h="757507">
                <a:tc>
                  <a:txBody>
                    <a:bodyPr/>
                    <a:lstStyle/>
                    <a:p>
                      <a:pPr algn="l" fontAlgn="b">
                        <a:buNone/>
                      </a:pPr>
                      <a:r>
                        <a:rPr lang="en-US" sz="2000" u="none" strike="noStrike">
                          <a:effectLst/>
                        </a:rPr>
                        <a:t>Early Neonatal Mortality Rate (ENMR)</a:t>
                      </a:r>
                      <a:endParaRPr lang="en-US" sz="20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20</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12</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18</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17*</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10*</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dirty="0">
                          <a:effectLst/>
                        </a:rPr>
                        <a:t>15*</a:t>
                      </a:r>
                      <a:endParaRPr lang="en-US" sz="2800" b="0" i="0" u="none" strike="noStrike" dirty="0">
                        <a:solidFill>
                          <a:srgbClr val="000000"/>
                        </a:solidFill>
                        <a:effectLst/>
                        <a:latin typeface="Aptos Narrow" panose="020B0004020202020204" pitchFamily="34" charset="0"/>
                      </a:endParaRPr>
                    </a:p>
                  </a:txBody>
                  <a:tcPr marL="7856" marR="7856" marT="7856" marB="0" anchor="b"/>
                </a:tc>
                <a:extLst>
                  <a:ext uri="{0D108BD9-81ED-4DB2-BD59-A6C34878D82A}">
                    <a16:rowId xmlns:a16="http://schemas.microsoft.com/office/drawing/2014/main" val="359050832"/>
                  </a:ext>
                </a:extLst>
              </a:tr>
              <a:tr h="405488">
                <a:tc>
                  <a:txBody>
                    <a:bodyPr/>
                    <a:lstStyle/>
                    <a:p>
                      <a:pPr algn="l" fontAlgn="b">
                        <a:buNone/>
                      </a:pPr>
                      <a:r>
                        <a:rPr lang="en-US" sz="2000" u="none" strike="noStrike">
                          <a:effectLst/>
                        </a:rPr>
                        <a:t>Late Neonatal Mortality Rate (LNMR)</a:t>
                      </a:r>
                      <a:endParaRPr lang="en-US" sz="20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6</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2</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5</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5*</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3*</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dirty="0">
                          <a:effectLst/>
                        </a:rPr>
                        <a:t>4*</a:t>
                      </a:r>
                      <a:endParaRPr lang="en-US" sz="2800" b="0" i="0" u="none" strike="noStrike" dirty="0">
                        <a:solidFill>
                          <a:srgbClr val="000000"/>
                        </a:solidFill>
                        <a:effectLst/>
                        <a:latin typeface="Aptos Narrow" panose="020B0004020202020204" pitchFamily="34" charset="0"/>
                      </a:endParaRPr>
                    </a:p>
                  </a:txBody>
                  <a:tcPr marL="7856" marR="7856" marT="7856" marB="0" anchor="b"/>
                </a:tc>
                <a:extLst>
                  <a:ext uri="{0D108BD9-81ED-4DB2-BD59-A6C34878D82A}">
                    <a16:rowId xmlns:a16="http://schemas.microsoft.com/office/drawing/2014/main" val="124803100"/>
                  </a:ext>
                </a:extLst>
              </a:tr>
              <a:tr h="405488">
                <a:tc>
                  <a:txBody>
                    <a:bodyPr/>
                    <a:lstStyle/>
                    <a:p>
                      <a:pPr algn="l" fontAlgn="b">
                        <a:buNone/>
                      </a:pPr>
                      <a:r>
                        <a:rPr lang="en-US" sz="2000" u="none" strike="noStrike">
                          <a:effectLst/>
                        </a:rPr>
                        <a:t>Post Neonatal Mortality Rate (PNMR)</a:t>
                      </a:r>
                      <a:endParaRPr lang="en-US" sz="20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9</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9</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9</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9*</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6*</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dirty="0">
                          <a:effectLst/>
                        </a:rPr>
                        <a:t>8*</a:t>
                      </a:r>
                      <a:endParaRPr lang="en-US" sz="2800" b="0" i="0" u="none" strike="noStrike" dirty="0">
                        <a:solidFill>
                          <a:srgbClr val="000000"/>
                        </a:solidFill>
                        <a:effectLst/>
                        <a:latin typeface="Aptos Narrow" panose="020B0004020202020204" pitchFamily="34" charset="0"/>
                      </a:endParaRPr>
                    </a:p>
                  </a:txBody>
                  <a:tcPr marL="7856" marR="7856" marT="7856" marB="0" anchor="b"/>
                </a:tc>
                <a:extLst>
                  <a:ext uri="{0D108BD9-81ED-4DB2-BD59-A6C34878D82A}">
                    <a16:rowId xmlns:a16="http://schemas.microsoft.com/office/drawing/2014/main" val="1418525180"/>
                  </a:ext>
                </a:extLst>
              </a:tr>
              <a:tr h="405488">
                <a:tc>
                  <a:txBody>
                    <a:bodyPr/>
                    <a:lstStyle/>
                    <a:p>
                      <a:pPr algn="l" fontAlgn="b">
                        <a:buNone/>
                      </a:pPr>
                      <a:r>
                        <a:rPr lang="en-US" sz="2000" u="none" strike="noStrike">
                          <a:effectLst/>
                        </a:rPr>
                        <a:t>Perinatal Mortality Rate</a:t>
                      </a:r>
                      <a:endParaRPr lang="en-US" sz="20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25</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14</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22</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21*</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13*</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dirty="0">
                          <a:effectLst/>
                        </a:rPr>
                        <a:t>18*</a:t>
                      </a:r>
                      <a:endParaRPr lang="en-US" sz="2800" b="0" i="0" u="none" strike="noStrike" dirty="0">
                        <a:solidFill>
                          <a:srgbClr val="000000"/>
                        </a:solidFill>
                        <a:effectLst/>
                        <a:latin typeface="Aptos Narrow" panose="020B0004020202020204" pitchFamily="34" charset="0"/>
                      </a:endParaRPr>
                    </a:p>
                  </a:txBody>
                  <a:tcPr marL="7856" marR="7856" marT="7856" marB="0" anchor="b"/>
                </a:tc>
                <a:extLst>
                  <a:ext uri="{0D108BD9-81ED-4DB2-BD59-A6C34878D82A}">
                    <a16:rowId xmlns:a16="http://schemas.microsoft.com/office/drawing/2014/main" val="759105860"/>
                  </a:ext>
                </a:extLst>
              </a:tr>
              <a:tr h="405488">
                <a:tc>
                  <a:txBody>
                    <a:bodyPr/>
                    <a:lstStyle/>
                    <a:p>
                      <a:pPr algn="l" fontAlgn="b">
                        <a:buNone/>
                      </a:pPr>
                      <a:r>
                        <a:rPr lang="en-US" sz="2000" u="none" strike="noStrike">
                          <a:effectLst/>
                        </a:rPr>
                        <a:t>Stillbirth Rate</a:t>
                      </a:r>
                      <a:endParaRPr lang="en-US" sz="20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4</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4</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5</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4*</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a:effectLst/>
                        </a:rPr>
                        <a:t>3*</a:t>
                      </a:r>
                      <a:endParaRPr lang="en-US" sz="2800" b="0" i="0" u="none" strike="noStrike">
                        <a:solidFill>
                          <a:srgbClr val="000000"/>
                        </a:solidFill>
                        <a:effectLst/>
                        <a:latin typeface="Aptos Narrow" panose="020B0004020202020204" pitchFamily="34" charset="0"/>
                      </a:endParaRPr>
                    </a:p>
                  </a:txBody>
                  <a:tcPr marL="7856" marR="7856" marT="7856" marB="0" anchor="b"/>
                </a:tc>
                <a:tc>
                  <a:txBody>
                    <a:bodyPr/>
                    <a:lstStyle/>
                    <a:p>
                      <a:pPr algn="ctr" fontAlgn="b">
                        <a:buNone/>
                      </a:pPr>
                      <a:r>
                        <a:rPr lang="en-US" sz="2800" u="none" strike="noStrike" dirty="0">
                          <a:effectLst/>
                        </a:rPr>
                        <a:t>4*</a:t>
                      </a:r>
                      <a:endParaRPr lang="en-US" sz="2800" b="0" i="0" u="none" strike="noStrike" dirty="0">
                        <a:solidFill>
                          <a:srgbClr val="000000"/>
                        </a:solidFill>
                        <a:effectLst/>
                        <a:latin typeface="Aptos Narrow" panose="020B0004020202020204" pitchFamily="34" charset="0"/>
                      </a:endParaRPr>
                    </a:p>
                  </a:txBody>
                  <a:tcPr marL="7856" marR="7856" marT="7856" marB="0" anchor="b"/>
                </a:tc>
                <a:extLst>
                  <a:ext uri="{0D108BD9-81ED-4DB2-BD59-A6C34878D82A}">
                    <a16:rowId xmlns:a16="http://schemas.microsoft.com/office/drawing/2014/main" val="902037569"/>
                  </a:ext>
                </a:extLst>
              </a:tr>
            </a:tbl>
          </a:graphicData>
        </a:graphic>
      </p:graphicFrame>
    </p:spTree>
    <p:extLst>
      <p:ext uri="{BB962C8B-B14F-4D97-AF65-F5344CB8AC3E}">
        <p14:creationId xmlns:p14="http://schemas.microsoft.com/office/powerpoint/2010/main" val="2354725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628C4-686C-F185-3365-A38DA6801EF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A6758A-96D3-31DD-085A-6DDA9348EE73}"/>
              </a:ext>
            </a:extLst>
          </p:cNvPr>
          <p:cNvSpPr>
            <a:spLocks noGrp="1"/>
          </p:cNvSpPr>
          <p:nvPr>
            <p:ph type="title"/>
          </p:nvPr>
        </p:nvSpPr>
        <p:spPr/>
        <p:txBody>
          <a:bodyPr>
            <a:normAutofit fontScale="90000"/>
          </a:bodyPr>
          <a:lstStyle/>
          <a:p>
            <a:r>
              <a:rPr lang="en-US" altLang="en-US" b="1" dirty="0"/>
              <a:t>Persisting Mortality Challenges in India</a:t>
            </a:r>
            <a:endParaRPr lang="en-US" dirty="0"/>
          </a:p>
        </p:txBody>
      </p:sp>
      <p:graphicFrame>
        <p:nvGraphicFramePr>
          <p:cNvPr id="34" name="Rectangle 1">
            <a:extLst>
              <a:ext uri="{FF2B5EF4-FFF2-40B4-BE49-F238E27FC236}">
                <a16:creationId xmlns:a16="http://schemas.microsoft.com/office/drawing/2014/main" id="{286FCF2E-ACEE-59E3-2CFE-704930EFF885}"/>
              </a:ext>
            </a:extLst>
          </p:cNvPr>
          <p:cNvGraphicFramePr>
            <a:graphicFrameLocks noGrp="1"/>
          </p:cNvGraphicFramePr>
          <p:nvPr>
            <p:ph idx="1"/>
            <p:extLst>
              <p:ext uri="{D42A27DB-BD31-4B8C-83A1-F6EECF244321}">
                <p14:modId xmlns:p14="http://schemas.microsoft.com/office/powerpoint/2010/main" val="16397202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5947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77ACC-AE99-3659-0471-FD0B7A8C7793}"/>
              </a:ext>
            </a:extLst>
          </p:cNvPr>
          <p:cNvSpPr>
            <a:spLocks noGrp="1"/>
          </p:cNvSpPr>
          <p:nvPr>
            <p:ph type="title"/>
          </p:nvPr>
        </p:nvSpPr>
        <p:spPr>
          <a:xfrm>
            <a:off x="612649" y="548638"/>
            <a:ext cx="3493008" cy="5788152"/>
          </a:xfrm>
        </p:spPr>
        <p:txBody>
          <a:bodyPr anchor="ctr">
            <a:normAutofit/>
          </a:bodyPr>
          <a:lstStyle/>
          <a:p>
            <a:r>
              <a:rPr lang="en-US" sz="4000"/>
              <a:t>Health problems</a:t>
            </a:r>
            <a:endParaRPr lang="en-IN" sz="4000"/>
          </a:p>
        </p:txBody>
      </p:sp>
      <p:graphicFrame>
        <p:nvGraphicFramePr>
          <p:cNvPr id="7" name="Content Placeholder 2">
            <a:extLst>
              <a:ext uri="{FF2B5EF4-FFF2-40B4-BE49-F238E27FC236}">
                <a16:creationId xmlns:a16="http://schemas.microsoft.com/office/drawing/2014/main" id="{BC4498D6-5C79-D837-F1F3-02A95FF9E7C1}"/>
              </a:ext>
            </a:extLst>
          </p:cNvPr>
          <p:cNvGraphicFramePr>
            <a:graphicFrameLocks noGrp="1"/>
          </p:cNvGraphicFramePr>
          <p:nvPr>
            <p:ph idx="1"/>
            <p:extLst>
              <p:ext uri="{D42A27DB-BD31-4B8C-83A1-F6EECF244321}">
                <p14:modId xmlns:p14="http://schemas.microsoft.com/office/powerpoint/2010/main" val="3153497093"/>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0706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7"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D55250-8CB0-6DD7-C4F9-ACBBC37E47DC}"/>
              </a:ext>
            </a:extLst>
          </p:cNvPr>
          <p:cNvSpPr>
            <a:spLocks noGrp="1"/>
          </p:cNvSpPr>
          <p:nvPr>
            <p:ph type="title"/>
          </p:nvPr>
        </p:nvSpPr>
        <p:spPr>
          <a:xfrm>
            <a:off x="422401" y="603503"/>
            <a:ext cx="10851735" cy="1739267"/>
          </a:xfrm>
        </p:spPr>
        <p:txBody>
          <a:bodyPr anchor="t">
            <a:normAutofit/>
          </a:bodyPr>
          <a:lstStyle/>
          <a:p>
            <a:r>
              <a:rPr lang="en-US" dirty="0"/>
              <a:t>Communicable disease problems</a:t>
            </a:r>
          </a:p>
        </p:txBody>
      </p:sp>
      <p:sp>
        <p:nvSpPr>
          <p:cNvPr id="4" name="Slide Number Placeholder 3">
            <a:extLst>
              <a:ext uri="{FF2B5EF4-FFF2-40B4-BE49-F238E27FC236}">
                <a16:creationId xmlns:a16="http://schemas.microsoft.com/office/drawing/2014/main" id="{FC6F874B-1EDC-46E0-A383-76C9076EE8D0}"/>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15</a:t>
            </a:fld>
            <a:endParaRPr lang="en-US"/>
          </a:p>
        </p:txBody>
      </p:sp>
      <p:cxnSp>
        <p:nvCxnSpPr>
          <p:cNvPr id="29"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1"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78434E16-FACD-8C17-AEA8-97F879B0A6E2}"/>
              </a:ext>
            </a:extLst>
          </p:cNvPr>
          <p:cNvGraphicFramePr>
            <a:graphicFrameLocks noGrp="1"/>
          </p:cNvGraphicFramePr>
          <p:nvPr>
            <p:ph idx="1"/>
            <p:extLst>
              <p:ext uri="{D42A27DB-BD31-4B8C-83A1-F6EECF244321}">
                <p14:modId xmlns:p14="http://schemas.microsoft.com/office/powerpoint/2010/main" val="3772451325"/>
              </p:ext>
            </p:extLst>
          </p:nvPr>
        </p:nvGraphicFramePr>
        <p:xfrm>
          <a:off x="580572" y="1393374"/>
          <a:ext cx="10464798" cy="47732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0193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158BE2-BAEA-0051-3DF8-9FF764E4599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DAC3C5-DEEA-DB95-56DC-FF5E3ED6922E}"/>
              </a:ext>
            </a:extLst>
          </p:cNvPr>
          <p:cNvSpPr>
            <a:spLocks noGrp="1"/>
          </p:cNvSpPr>
          <p:nvPr>
            <p:ph type="title"/>
          </p:nvPr>
        </p:nvSpPr>
        <p:spPr>
          <a:xfrm>
            <a:off x="422401" y="603503"/>
            <a:ext cx="10851735" cy="1739267"/>
          </a:xfrm>
        </p:spPr>
        <p:txBody>
          <a:bodyPr anchor="t">
            <a:normAutofit/>
          </a:bodyPr>
          <a:lstStyle/>
          <a:p>
            <a:r>
              <a:rPr lang="en-US" dirty="0"/>
              <a:t>Communicable disease problems</a:t>
            </a:r>
          </a:p>
        </p:txBody>
      </p:sp>
      <p:sp>
        <p:nvSpPr>
          <p:cNvPr id="4" name="Slide Number Placeholder 3">
            <a:extLst>
              <a:ext uri="{FF2B5EF4-FFF2-40B4-BE49-F238E27FC236}">
                <a16:creationId xmlns:a16="http://schemas.microsoft.com/office/drawing/2014/main" id="{0B457BF0-947A-8143-0BDC-8FDD1E1FB13C}"/>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16</a:t>
            </a:fld>
            <a:endParaRPr lang="en-US"/>
          </a:p>
        </p:txBody>
      </p:sp>
      <p:cxnSp>
        <p:nvCxnSpPr>
          <p:cNvPr id="16"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BFA80CF1-1806-658A-2183-C7ACAA67D4D3}"/>
              </a:ext>
            </a:extLst>
          </p:cNvPr>
          <p:cNvGraphicFramePr>
            <a:graphicFrameLocks noGrp="1"/>
          </p:cNvGraphicFramePr>
          <p:nvPr>
            <p:ph idx="1"/>
            <p:extLst>
              <p:ext uri="{D42A27DB-BD31-4B8C-83A1-F6EECF244321}">
                <p14:modId xmlns:p14="http://schemas.microsoft.com/office/powerpoint/2010/main" val="3616332499"/>
              </p:ext>
            </p:extLst>
          </p:nvPr>
        </p:nvGraphicFramePr>
        <p:xfrm>
          <a:off x="537034" y="1378860"/>
          <a:ext cx="10851728" cy="47877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3761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EFC0B-A6F1-FD43-DEFC-13451FEBC0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8FB18-A5D9-83E4-E713-1EC41FAB9A5A}"/>
              </a:ext>
            </a:extLst>
          </p:cNvPr>
          <p:cNvSpPr>
            <a:spLocks noGrp="1"/>
          </p:cNvSpPr>
          <p:nvPr>
            <p:ph type="title"/>
          </p:nvPr>
        </p:nvSpPr>
        <p:spPr/>
        <p:txBody>
          <a:bodyPr/>
          <a:lstStyle/>
          <a:p>
            <a:r>
              <a:rPr lang="en-US" dirty="0"/>
              <a:t>Communicable disease problems</a:t>
            </a:r>
          </a:p>
        </p:txBody>
      </p:sp>
      <p:sp>
        <p:nvSpPr>
          <p:cNvPr id="3" name="Content Placeholder 2">
            <a:extLst>
              <a:ext uri="{FF2B5EF4-FFF2-40B4-BE49-F238E27FC236}">
                <a16:creationId xmlns:a16="http://schemas.microsoft.com/office/drawing/2014/main" id="{3F0160C3-0BFE-19C9-80C3-015C3192C90C}"/>
              </a:ext>
            </a:extLst>
          </p:cNvPr>
          <p:cNvSpPr>
            <a:spLocks noGrp="1"/>
          </p:cNvSpPr>
          <p:nvPr>
            <p:ph idx="1"/>
          </p:nvPr>
        </p:nvSpPr>
        <p:spPr/>
        <p:txBody>
          <a:bodyPr>
            <a:normAutofit/>
          </a:bodyPr>
          <a:lstStyle/>
          <a:p>
            <a:r>
              <a:rPr lang="en-US" b="1" dirty="0"/>
              <a:t>Malaria</a:t>
            </a:r>
            <a:endParaRPr lang="en-US" dirty="0"/>
          </a:p>
          <a:p>
            <a:pPr lvl="1"/>
            <a:r>
              <a:rPr lang="en-US" i="1" dirty="0"/>
              <a:t>P. falciparum</a:t>
            </a:r>
            <a:r>
              <a:rPr lang="en-US" dirty="0"/>
              <a:t> rising; tribal areas most affected</a:t>
            </a:r>
          </a:p>
          <a:p>
            <a:pPr lvl="1"/>
            <a:r>
              <a:rPr lang="en-US" dirty="0"/>
              <a:t>NVBDCP interventions: ACTs, LLINs, IRS, RDTs</a:t>
            </a:r>
          </a:p>
          <a:p>
            <a:r>
              <a:rPr lang="en-US" b="1" dirty="0"/>
              <a:t>Lymphatic Filariasis</a:t>
            </a:r>
            <a:endParaRPr lang="en-US" dirty="0"/>
          </a:p>
          <a:p>
            <a:pPr lvl="1"/>
            <a:r>
              <a:rPr lang="en-US" dirty="0"/>
              <a:t>Caused by </a:t>
            </a:r>
            <a:r>
              <a:rPr lang="en-US" i="1" dirty="0"/>
              <a:t>W. </a:t>
            </a:r>
            <a:r>
              <a:rPr lang="en-US" i="1" dirty="0" err="1"/>
              <a:t>bancrofti</a:t>
            </a:r>
            <a:r>
              <a:rPr lang="en-US" dirty="0"/>
              <a:t>, </a:t>
            </a:r>
            <a:r>
              <a:rPr lang="en-US" i="1" dirty="0"/>
              <a:t>B. </a:t>
            </a:r>
            <a:r>
              <a:rPr lang="en-US" i="1" dirty="0" err="1"/>
              <a:t>malayi</a:t>
            </a:r>
            <a:endParaRPr lang="en-US" dirty="0"/>
          </a:p>
          <a:p>
            <a:pPr lvl="1"/>
            <a:r>
              <a:rPr lang="en-US" dirty="0"/>
              <a:t>Annual MDA: DEC + Albendazole; IDA in select areas</a:t>
            </a:r>
          </a:p>
          <a:p>
            <a:pPr lvl="1"/>
            <a:r>
              <a:rPr lang="en-US" dirty="0"/>
              <a:t>Focus: transmission elimination &amp; morbidity management</a:t>
            </a:r>
          </a:p>
        </p:txBody>
      </p:sp>
      <p:sp>
        <p:nvSpPr>
          <p:cNvPr id="4" name="Slide Number Placeholder 3">
            <a:extLst>
              <a:ext uri="{FF2B5EF4-FFF2-40B4-BE49-F238E27FC236}">
                <a16:creationId xmlns:a16="http://schemas.microsoft.com/office/drawing/2014/main" id="{0AB432E3-D6B2-D409-4087-7AEC38D34631}"/>
              </a:ext>
            </a:extLst>
          </p:cNvPr>
          <p:cNvSpPr>
            <a:spLocks noGrp="1"/>
          </p:cNvSpPr>
          <p:nvPr>
            <p:ph type="sldNum" sz="quarter" idx="12"/>
          </p:nvPr>
        </p:nvSpPr>
        <p:spPr/>
        <p:txBody>
          <a:bodyPr/>
          <a:lstStyle/>
          <a:p>
            <a:fld id="{3A4F6043-7A67-491B-98BC-F933DED7226D}" type="slidenum">
              <a:rPr lang="en-US" smtClean="0"/>
              <a:pPr/>
              <a:t>17</a:t>
            </a:fld>
            <a:endParaRPr lang="en-US" dirty="0"/>
          </a:p>
        </p:txBody>
      </p:sp>
    </p:spTree>
    <p:extLst>
      <p:ext uri="{BB962C8B-B14F-4D97-AF65-F5344CB8AC3E}">
        <p14:creationId xmlns:p14="http://schemas.microsoft.com/office/powerpoint/2010/main" val="3123101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B4C84B-7597-616C-8DEF-BEF3D7D0ABE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317302-349F-C45F-FB29-098CAB551066}"/>
              </a:ext>
            </a:extLst>
          </p:cNvPr>
          <p:cNvSpPr>
            <a:spLocks noGrp="1"/>
          </p:cNvSpPr>
          <p:nvPr>
            <p:ph type="title"/>
          </p:nvPr>
        </p:nvSpPr>
        <p:spPr>
          <a:xfrm>
            <a:off x="422401" y="603503"/>
            <a:ext cx="10851735" cy="1739267"/>
          </a:xfrm>
        </p:spPr>
        <p:txBody>
          <a:bodyPr anchor="t">
            <a:normAutofit/>
          </a:bodyPr>
          <a:lstStyle/>
          <a:p>
            <a:r>
              <a:rPr lang="en-US" dirty="0"/>
              <a:t>Communicable disease problems</a:t>
            </a:r>
          </a:p>
        </p:txBody>
      </p:sp>
      <p:sp>
        <p:nvSpPr>
          <p:cNvPr id="4" name="Slide Number Placeholder 3">
            <a:extLst>
              <a:ext uri="{FF2B5EF4-FFF2-40B4-BE49-F238E27FC236}">
                <a16:creationId xmlns:a16="http://schemas.microsoft.com/office/drawing/2014/main" id="{7F18EE2E-463A-4469-A1FA-ACE35E2ABED4}"/>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18</a:t>
            </a:fld>
            <a:endParaRPr lang="en-US"/>
          </a:p>
        </p:txBody>
      </p:sp>
      <p:cxnSp>
        <p:nvCxnSpPr>
          <p:cNvPr id="16"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652309C8-1AC3-A69F-4219-40561EB5048F}"/>
              </a:ext>
            </a:extLst>
          </p:cNvPr>
          <p:cNvGraphicFramePr>
            <a:graphicFrameLocks noGrp="1"/>
          </p:cNvGraphicFramePr>
          <p:nvPr>
            <p:ph idx="1"/>
            <p:extLst>
              <p:ext uri="{D42A27DB-BD31-4B8C-83A1-F6EECF244321}">
                <p14:modId xmlns:p14="http://schemas.microsoft.com/office/powerpoint/2010/main" val="1465954473"/>
              </p:ext>
            </p:extLst>
          </p:nvPr>
        </p:nvGraphicFramePr>
        <p:xfrm>
          <a:off x="420877" y="1335317"/>
          <a:ext cx="10243956" cy="4411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13970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404" name="Rectangle 15403">
            <a:extLst>
              <a:ext uri="{FF2B5EF4-FFF2-40B4-BE49-F238E27FC236}">
                <a16:creationId xmlns:a16="http://schemas.microsoft.com/office/drawing/2014/main" id="{6186370A-7D90-48F7-B93A-F5621720A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406" name="Rectangle 15405">
            <a:extLst>
              <a:ext uri="{FF2B5EF4-FFF2-40B4-BE49-F238E27FC236}">
                <a16:creationId xmlns:a16="http://schemas.microsoft.com/office/drawing/2014/main" id="{1A9038BE-6A17-40FF-81FE-AB75B7190E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408" name="Rectangle 15407">
            <a:extLst>
              <a:ext uri="{FF2B5EF4-FFF2-40B4-BE49-F238E27FC236}">
                <a16:creationId xmlns:a16="http://schemas.microsoft.com/office/drawing/2014/main" id="{0B746F1B-EB94-41AF-9BAF-6306744217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C9CA73-DBD8-96F5-F63D-1587ADB722BF}"/>
              </a:ext>
            </a:extLst>
          </p:cNvPr>
          <p:cNvSpPr>
            <a:spLocks noGrp="1"/>
          </p:cNvSpPr>
          <p:nvPr>
            <p:ph type="title"/>
          </p:nvPr>
        </p:nvSpPr>
        <p:spPr>
          <a:xfrm>
            <a:off x="2121071" y="715944"/>
            <a:ext cx="5370576" cy="673089"/>
          </a:xfrm>
        </p:spPr>
        <p:txBody>
          <a:bodyPr anchor="b">
            <a:normAutofit fontScale="90000"/>
          </a:bodyPr>
          <a:lstStyle/>
          <a:p>
            <a:r>
              <a:rPr lang="en-US" sz="4800" dirty="0">
                <a:solidFill>
                  <a:schemeClr val="tx1"/>
                </a:solidFill>
              </a:rPr>
              <a:t>One Health</a:t>
            </a:r>
          </a:p>
        </p:txBody>
      </p:sp>
      <p:sp>
        <p:nvSpPr>
          <p:cNvPr id="4" name="Slide Number Placeholder 3">
            <a:extLst>
              <a:ext uri="{FF2B5EF4-FFF2-40B4-BE49-F238E27FC236}">
                <a16:creationId xmlns:a16="http://schemas.microsoft.com/office/drawing/2014/main" id="{D318C14E-897C-6E22-5AC7-F9B0D612FAF4}"/>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19</a:t>
            </a:fld>
            <a:endParaRPr lang="en-US"/>
          </a:p>
        </p:txBody>
      </p:sp>
      <p:sp>
        <p:nvSpPr>
          <p:cNvPr id="3" name="Content Placeholder 2">
            <a:extLst>
              <a:ext uri="{FF2B5EF4-FFF2-40B4-BE49-F238E27FC236}">
                <a16:creationId xmlns:a16="http://schemas.microsoft.com/office/drawing/2014/main" id="{BE605F2C-D12D-C602-E786-86719B62F4CB}"/>
              </a:ext>
            </a:extLst>
          </p:cNvPr>
          <p:cNvSpPr>
            <a:spLocks noGrp="1"/>
          </p:cNvSpPr>
          <p:nvPr>
            <p:ph idx="1"/>
          </p:nvPr>
        </p:nvSpPr>
        <p:spPr>
          <a:xfrm>
            <a:off x="422899" y="2092267"/>
            <a:ext cx="10094805" cy="3883630"/>
          </a:xfrm>
        </p:spPr>
        <p:txBody>
          <a:bodyPr anchor="t">
            <a:normAutofit lnSpcReduction="10000"/>
          </a:bodyPr>
          <a:lstStyle/>
          <a:p>
            <a:pPr>
              <a:lnSpc>
                <a:spcPct val="100000"/>
              </a:lnSpc>
            </a:pPr>
            <a:r>
              <a:rPr lang="en-US" b="1" dirty="0">
                <a:solidFill>
                  <a:schemeClr val="tx1"/>
                </a:solidFill>
              </a:rPr>
              <a:t>Definition</a:t>
            </a:r>
            <a:r>
              <a:rPr lang="en-US" dirty="0">
                <a:solidFill>
                  <a:schemeClr val="tx1"/>
                </a:solidFill>
              </a:rPr>
              <a:t>: “One Health” is a collaborative approach to achieve optimal health outcomes by recognizing the </a:t>
            </a:r>
            <a:r>
              <a:rPr lang="en-US" b="1" dirty="0">
                <a:solidFill>
                  <a:schemeClr val="tx1"/>
                </a:solidFill>
              </a:rPr>
              <a:t>interconnection between humans, animals, and the environment</a:t>
            </a:r>
            <a:r>
              <a:rPr lang="en-US" dirty="0">
                <a:solidFill>
                  <a:schemeClr val="tx1"/>
                </a:solidFill>
              </a:rPr>
              <a:t>.</a:t>
            </a:r>
          </a:p>
          <a:p>
            <a:pPr>
              <a:lnSpc>
                <a:spcPct val="100000"/>
              </a:lnSpc>
            </a:pPr>
            <a:r>
              <a:rPr lang="en-US" b="1" dirty="0">
                <a:solidFill>
                  <a:schemeClr val="tx1"/>
                </a:solidFill>
              </a:rPr>
              <a:t>Why It Matters</a:t>
            </a:r>
            <a:r>
              <a:rPr lang="en-US" dirty="0">
                <a:solidFill>
                  <a:schemeClr val="tx1"/>
                </a:solidFill>
              </a:rPr>
              <a:t>:</a:t>
            </a:r>
          </a:p>
          <a:p>
            <a:pPr lvl="1">
              <a:lnSpc>
                <a:spcPct val="100000"/>
              </a:lnSpc>
            </a:pPr>
            <a:r>
              <a:rPr lang="en-US" sz="2400" dirty="0">
                <a:solidFill>
                  <a:schemeClr val="tx1"/>
                </a:solidFill>
              </a:rPr>
              <a:t>~75% of emerging infectious diseases are </a:t>
            </a:r>
            <a:r>
              <a:rPr lang="en-US" sz="2400" b="1" dirty="0">
                <a:solidFill>
                  <a:schemeClr val="tx1"/>
                </a:solidFill>
              </a:rPr>
              <a:t>zoonotic</a:t>
            </a:r>
            <a:r>
              <a:rPr lang="en-US" sz="2400" dirty="0">
                <a:solidFill>
                  <a:schemeClr val="tx1"/>
                </a:solidFill>
              </a:rPr>
              <a:t> (e.g., COVID-19, Nipah, Avian Flu).</a:t>
            </a:r>
          </a:p>
          <a:p>
            <a:pPr lvl="1">
              <a:lnSpc>
                <a:spcPct val="100000"/>
              </a:lnSpc>
            </a:pPr>
            <a:r>
              <a:rPr lang="en-US" sz="2400" dirty="0">
                <a:solidFill>
                  <a:schemeClr val="tx1"/>
                </a:solidFill>
              </a:rPr>
              <a:t>Issues like </a:t>
            </a:r>
            <a:r>
              <a:rPr lang="en-US" sz="2400" b="1" dirty="0">
                <a:solidFill>
                  <a:schemeClr val="tx1"/>
                </a:solidFill>
              </a:rPr>
              <a:t>antimicrobial resistance</a:t>
            </a:r>
            <a:r>
              <a:rPr lang="en-US" sz="2400" dirty="0">
                <a:solidFill>
                  <a:schemeClr val="tx1"/>
                </a:solidFill>
              </a:rPr>
              <a:t>, food safety, and climate change require cross-sector efforts.</a:t>
            </a:r>
          </a:p>
          <a:p>
            <a:pPr>
              <a:lnSpc>
                <a:spcPct val="100000"/>
              </a:lnSpc>
            </a:pPr>
            <a:r>
              <a:rPr lang="en-US" b="1" dirty="0">
                <a:solidFill>
                  <a:schemeClr val="tx1"/>
                </a:solidFill>
              </a:rPr>
              <a:t>Key Principle</a:t>
            </a:r>
            <a:r>
              <a:rPr lang="en-US" dirty="0">
                <a:solidFill>
                  <a:schemeClr val="tx1"/>
                </a:solidFill>
              </a:rPr>
              <a:t>: Integrated surveillance, shared action, and intersectoral collaboration.</a:t>
            </a:r>
          </a:p>
        </p:txBody>
      </p:sp>
      <p:sp>
        <p:nvSpPr>
          <p:cNvPr id="15410" name="Rectangle 15409">
            <a:extLst>
              <a:ext uri="{FF2B5EF4-FFF2-40B4-BE49-F238E27FC236}">
                <a16:creationId xmlns:a16="http://schemas.microsoft.com/office/drawing/2014/main" id="{2C8ABDC5-2AC0-4E31-8744-FACDC1B33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96182" y="680186"/>
            <a:ext cx="688785" cy="5477813"/>
          </a:xfrm>
          <a:prstGeom prst="rect">
            <a:avLst/>
          </a:prstGeom>
          <a:solidFill>
            <a:srgbClr val="F56A19">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15362" name="Picture 2" descr="HIOH becomes the new office location of the nationwide One Health ...">
            <a:extLst>
              <a:ext uri="{FF2B5EF4-FFF2-40B4-BE49-F238E27FC236}">
                <a16:creationId xmlns:a16="http://schemas.microsoft.com/office/drawing/2014/main" id="{C17656DF-00D5-445D-0E44-5D2B1B2B949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371981" y="137941"/>
            <a:ext cx="1634962" cy="1758023"/>
          </a:xfrm>
          <a:prstGeom prst="rect">
            <a:avLst/>
          </a:prstGeom>
          <a:noFill/>
          <a:extLst>
            <a:ext uri="{909E8E84-426E-40DD-AFC4-6F175D3DCCD1}">
              <a14:hiddenFill xmlns:a14="http://schemas.microsoft.com/office/drawing/2010/main">
                <a:solidFill>
                  <a:srgbClr val="FFFFFF"/>
                </a:solidFill>
              </a14:hiddenFill>
            </a:ext>
          </a:extLst>
        </p:spPr>
      </p:pic>
      <p:cxnSp>
        <p:nvCxnSpPr>
          <p:cNvPr id="15412" name="Straight Connector 15411">
            <a:extLst>
              <a:ext uri="{FF2B5EF4-FFF2-40B4-BE49-F238E27FC236}">
                <a16:creationId xmlns:a16="http://schemas.microsoft.com/office/drawing/2014/main" id="{A0F0A2E1-1F18-4CF7-A33C-17302F1ADE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F56A19"/>
            </a:solidFill>
            <a:prstDash val="dash"/>
          </a:ln>
        </p:spPr>
        <p:style>
          <a:lnRef idx="1">
            <a:schemeClr val="accent1"/>
          </a:lnRef>
          <a:fillRef idx="0">
            <a:schemeClr val="accent1"/>
          </a:fillRef>
          <a:effectRef idx="0">
            <a:schemeClr val="accent1"/>
          </a:effectRef>
          <a:fontRef idx="minor">
            <a:schemeClr val="tx1"/>
          </a:fontRef>
        </p:style>
      </p:cxnSp>
      <p:cxnSp>
        <p:nvCxnSpPr>
          <p:cNvPr id="15414" name="Straight Connector 15413">
            <a:extLst>
              <a:ext uri="{FF2B5EF4-FFF2-40B4-BE49-F238E27FC236}">
                <a16:creationId xmlns:a16="http://schemas.microsoft.com/office/drawing/2014/main" id="{D100C619-2991-4D0C-8B1F-2CCE3A2823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F56A19"/>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049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09DB9D-FA8D-221C-F7B1-A955F32A1E62}"/>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3D5E6D-62EE-7180-AF80-92C01712B177}"/>
              </a:ext>
            </a:extLst>
          </p:cNvPr>
          <p:cNvSpPr>
            <a:spLocks noGrp="1"/>
          </p:cNvSpPr>
          <p:nvPr>
            <p:ph type="title"/>
          </p:nvPr>
        </p:nvSpPr>
        <p:spPr>
          <a:xfrm>
            <a:off x="422401" y="603503"/>
            <a:ext cx="10851735" cy="1739267"/>
          </a:xfrm>
        </p:spPr>
        <p:txBody>
          <a:bodyPr anchor="t">
            <a:normAutofit/>
          </a:bodyPr>
          <a:lstStyle/>
          <a:p>
            <a:r>
              <a:rPr lang="en-US" dirty="0"/>
              <a:t>One Health - Components</a:t>
            </a:r>
          </a:p>
        </p:txBody>
      </p:sp>
      <p:sp>
        <p:nvSpPr>
          <p:cNvPr id="4" name="Slide Number Placeholder 3">
            <a:extLst>
              <a:ext uri="{FF2B5EF4-FFF2-40B4-BE49-F238E27FC236}">
                <a16:creationId xmlns:a16="http://schemas.microsoft.com/office/drawing/2014/main" id="{744FC1EB-50B9-BD9C-6083-A214326CA262}"/>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20</a:t>
            </a:fld>
            <a:endParaRPr lang="en-US"/>
          </a:p>
        </p:txBody>
      </p:sp>
      <p:cxnSp>
        <p:nvCxnSpPr>
          <p:cNvPr id="19"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1"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9" name="Rectangle 3">
            <a:extLst>
              <a:ext uri="{FF2B5EF4-FFF2-40B4-BE49-F238E27FC236}">
                <a16:creationId xmlns:a16="http://schemas.microsoft.com/office/drawing/2014/main" id="{5F1865C0-4ACE-8886-6B89-C8D350805863}"/>
              </a:ext>
            </a:extLst>
          </p:cNvPr>
          <p:cNvGraphicFramePr>
            <a:graphicFrameLocks noGrp="1"/>
          </p:cNvGraphicFramePr>
          <p:nvPr>
            <p:ph idx="1"/>
            <p:extLst>
              <p:ext uri="{D42A27DB-BD31-4B8C-83A1-F6EECF244321}">
                <p14:modId xmlns:p14="http://schemas.microsoft.com/office/powerpoint/2010/main" val="3992341652"/>
              </p:ext>
            </p:extLst>
          </p:nvPr>
        </p:nvGraphicFramePr>
        <p:xfrm>
          <a:off x="420877" y="1422403"/>
          <a:ext cx="10243956" cy="43245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6447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08EA72-93D8-6045-0CA0-90F091BC5C03}"/>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5B4BE1-931D-1C39-2CE6-03156A395E4B}"/>
              </a:ext>
            </a:extLst>
          </p:cNvPr>
          <p:cNvSpPr>
            <a:spLocks noGrp="1"/>
          </p:cNvSpPr>
          <p:nvPr>
            <p:ph type="title"/>
          </p:nvPr>
        </p:nvSpPr>
        <p:spPr>
          <a:xfrm>
            <a:off x="422401" y="603503"/>
            <a:ext cx="10851735" cy="1739267"/>
          </a:xfrm>
        </p:spPr>
        <p:txBody>
          <a:bodyPr anchor="t">
            <a:normAutofit/>
          </a:bodyPr>
          <a:lstStyle/>
          <a:p>
            <a:r>
              <a:rPr lang="en-US" dirty="0"/>
              <a:t>One Health - Case Examples</a:t>
            </a:r>
            <a:br>
              <a:rPr lang="en-US" dirty="0"/>
            </a:br>
            <a:endParaRPr lang="en-US" dirty="0"/>
          </a:p>
        </p:txBody>
      </p:sp>
      <p:sp>
        <p:nvSpPr>
          <p:cNvPr id="4" name="Slide Number Placeholder 3">
            <a:extLst>
              <a:ext uri="{FF2B5EF4-FFF2-40B4-BE49-F238E27FC236}">
                <a16:creationId xmlns:a16="http://schemas.microsoft.com/office/drawing/2014/main" id="{D0C1F402-C5F4-8822-71EE-17512DB5DD80}"/>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21</a:t>
            </a:fld>
            <a:endParaRPr lang="en-US"/>
          </a:p>
        </p:txBody>
      </p:sp>
      <p:cxnSp>
        <p:nvCxnSpPr>
          <p:cNvPr id="19"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1"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9" name="Rectangle 3">
            <a:extLst>
              <a:ext uri="{FF2B5EF4-FFF2-40B4-BE49-F238E27FC236}">
                <a16:creationId xmlns:a16="http://schemas.microsoft.com/office/drawing/2014/main" id="{D65278E5-5A03-599D-4FE5-58E45B7C31A8}"/>
              </a:ext>
            </a:extLst>
          </p:cNvPr>
          <p:cNvGraphicFramePr>
            <a:graphicFrameLocks noGrp="1"/>
          </p:cNvGraphicFramePr>
          <p:nvPr>
            <p:ph idx="1"/>
            <p:extLst>
              <p:ext uri="{D42A27DB-BD31-4B8C-83A1-F6EECF244321}">
                <p14:modId xmlns:p14="http://schemas.microsoft.com/office/powerpoint/2010/main" val="2615737871"/>
              </p:ext>
            </p:extLst>
          </p:nvPr>
        </p:nvGraphicFramePr>
        <p:xfrm>
          <a:off x="695815" y="1494975"/>
          <a:ext cx="9969018" cy="4252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4767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003DA9-8A51-26CB-BC16-FE4A259C49A5}"/>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6758FE-A75C-A776-27A4-8F3110E77D06}"/>
              </a:ext>
            </a:extLst>
          </p:cNvPr>
          <p:cNvSpPr>
            <a:spLocks noGrp="1"/>
          </p:cNvSpPr>
          <p:nvPr>
            <p:ph type="title"/>
          </p:nvPr>
        </p:nvSpPr>
        <p:spPr>
          <a:xfrm>
            <a:off x="422401" y="603503"/>
            <a:ext cx="10851735" cy="1739267"/>
          </a:xfrm>
        </p:spPr>
        <p:txBody>
          <a:bodyPr anchor="t">
            <a:normAutofit/>
          </a:bodyPr>
          <a:lstStyle/>
          <a:p>
            <a:r>
              <a:rPr lang="en-US" dirty="0"/>
              <a:t>One Health</a:t>
            </a:r>
            <a:br>
              <a:rPr lang="en-US" dirty="0"/>
            </a:br>
            <a:endParaRPr lang="en-US" dirty="0"/>
          </a:p>
        </p:txBody>
      </p:sp>
      <p:sp>
        <p:nvSpPr>
          <p:cNvPr id="4" name="Slide Number Placeholder 3">
            <a:extLst>
              <a:ext uri="{FF2B5EF4-FFF2-40B4-BE49-F238E27FC236}">
                <a16:creationId xmlns:a16="http://schemas.microsoft.com/office/drawing/2014/main" id="{AC47D540-20DE-7497-1B99-A0B8E382D3EB}"/>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22</a:t>
            </a:fld>
            <a:endParaRPr lang="en-US"/>
          </a:p>
        </p:txBody>
      </p:sp>
      <p:cxnSp>
        <p:nvCxnSpPr>
          <p:cNvPr id="19"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1"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9" name="Rectangle 3">
            <a:extLst>
              <a:ext uri="{FF2B5EF4-FFF2-40B4-BE49-F238E27FC236}">
                <a16:creationId xmlns:a16="http://schemas.microsoft.com/office/drawing/2014/main" id="{A18C9DC2-05D4-D03B-707C-FD12AE634928}"/>
              </a:ext>
            </a:extLst>
          </p:cNvPr>
          <p:cNvGraphicFramePr>
            <a:graphicFrameLocks noGrp="1"/>
          </p:cNvGraphicFramePr>
          <p:nvPr>
            <p:ph idx="1"/>
            <p:extLst>
              <p:ext uri="{D42A27DB-BD31-4B8C-83A1-F6EECF244321}">
                <p14:modId xmlns:p14="http://schemas.microsoft.com/office/powerpoint/2010/main" val="3738481642"/>
              </p:ext>
            </p:extLst>
          </p:nvPr>
        </p:nvGraphicFramePr>
        <p:xfrm>
          <a:off x="420877" y="1190171"/>
          <a:ext cx="10243956" cy="4556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2102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BECFF6-D680-BFEC-E3BC-261FAC0416F4}"/>
              </a:ext>
            </a:extLst>
          </p:cNvPr>
          <p:cNvSpPr>
            <a:spLocks noGrp="1"/>
          </p:cNvSpPr>
          <p:nvPr>
            <p:ph type="title"/>
          </p:nvPr>
        </p:nvSpPr>
        <p:spPr>
          <a:xfrm>
            <a:off x="422401" y="603503"/>
            <a:ext cx="10851735" cy="1739267"/>
          </a:xfrm>
        </p:spPr>
        <p:txBody>
          <a:bodyPr anchor="t">
            <a:normAutofit/>
          </a:bodyPr>
          <a:lstStyle/>
          <a:p>
            <a:r>
              <a:rPr lang="en-US" dirty="0"/>
              <a:t>Non-communicable diseases</a:t>
            </a:r>
          </a:p>
        </p:txBody>
      </p:sp>
      <p:sp>
        <p:nvSpPr>
          <p:cNvPr id="4" name="Slide Number Placeholder 3">
            <a:extLst>
              <a:ext uri="{FF2B5EF4-FFF2-40B4-BE49-F238E27FC236}">
                <a16:creationId xmlns:a16="http://schemas.microsoft.com/office/drawing/2014/main" id="{C265C899-A829-3B5A-3594-905B79864F07}"/>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23</a:t>
            </a:fld>
            <a:endParaRPr lang="en-US"/>
          </a:p>
        </p:txBody>
      </p:sp>
      <p:cxnSp>
        <p:nvCxnSpPr>
          <p:cNvPr id="16"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14C4C523-B681-8CD7-4BE9-B4A598B654E8}"/>
              </a:ext>
            </a:extLst>
          </p:cNvPr>
          <p:cNvGraphicFramePr>
            <a:graphicFrameLocks noGrp="1"/>
          </p:cNvGraphicFramePr>
          <p:nvPr>
            <p:ph idx="1"/>
            <p:extLst>
              <p:ext uri="{D42A27DB-BD31-4B8C-83A1-F6EECF244321}">
                <p14:modId xmlns:p14="http://schemas.microsoft.com/office/powerpoint/2010/main" val="1125260240"/>
              </p:ext>
            </p:extLst>
          </p:nvPr>
        </p:nvGraphicFramePr>
        <p:xfrm>
          <a:off x="420876" y="1378862"/>
          <a:ext cx="11083799" cy="47877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7719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711833-BA23-3F9B-9B3D-A8C4303CDB1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FC8197-FA70-6F57-FDD0-91E96637AB54}"/>
              </a:ext>
            </a:extLst>
          </p:cNvPr>
          <p:cNvSpPr>
            <a:spLocks noGrp="1"/>
          </p:cNvSpPr>
          <p:nvPr>
            <p:ph type="title"/>
          </p:nvPr>
        </p:nvSpPr>
        <p:spPr>
          <a:xfrm>
            <a:off x="422401" y="603503"/>
            <a:ext cx="10851735" cy="1739267"/>
          </a:xfrm>
        </p:spPr>
        <p:txBody>
          <a:bodyPr anchor="t">
            <a:normAutofit/>
          </a:bodyPr>
          <a:lstStyle/>
          <a:p>
            <a:r>
              <a:rPr lang="en-US" dirty="0"/>
              <a:t>Non-communicable diseases</a:t>
            </a:r>
          </a:p>
        </p:txBody>
      </p:sp>
      <p:sp>
        <p:nvSpPr>
          <p:cNvPr id="4" name="Slide Number Placeholder 3">
            <a:extLst>
              <a:ext uri="{FF2B5EF4-FFF2-40B4-BE49-F238E27FC236}">
                <a16:creationId xmlns:a16="http://schemas.microsoft.com/office/drawing/2014/main" id="{5707B87A-CFA8-D9E6-2F2E-FF061E8AFEDA}"/>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24</a:t>
            </a:fld>
            <a:endParaRPr lang="en-US"/>
          </a:p>
        </p:txBody>
      </p:sp>
      <p:cxnSp>
        <p:nvCxnSpPr>
          <p:cNvPr id="16"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5A4460A2-D7DA-9443-7A16-BB914F7E141D}"/>
              </a:ext>
            </a:extLst>
          </p:cNvPr>
          <p:cNvGraphicFramePr>
            <a:graphicFrameLocks noGrp="1"/>
          </p:cNvGraphicFramePr>
          <p:nvPr>
            <p:ph idx="1"/>
            <p:extLst>
              <p:ext uri="{D42A27DB-BD31-4B8C-83A1-F6EECF244321}">
                <p14:modId xmlns:p14="http://schemas.microsoft.com/office/powerpoint/2010/main" val="2845698047"/>
              </p:ext>
            </p:extLst>
          </p:nvPr>
        </p:nvGraphicFramePr>
        <p:xfrm>
          <a:off x="420877" y="1378861"/>
          <a:ext cx="10243956" cy="4368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1402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F3F14D-DC3A-026D-94FF-3F8526C71669}"/>
              </a:ext>
            </a:extLst>
          </p:cNvPr>
          <p:cNvPicPr>
            <a:picLocks noChangeAspect="1"/>
          </p:cNvPicPr>
          <p:nvPr/>
        </p:nvPicPr>
        <p:blipFill>
          <a:blip r:embed="rId2">
            <a:alphaModFix amt="35000"/>
          </a:blip>
          <a:srcRect t="28445" r="2" b="7964"/>
          <a:stretch>
            <a:fillRect/>
          </a:stretch>
        </p:blipFill>
        <p:spPr>
          <a:xfrm>
            <a:off x="0" y="10"/>
            <a:ext cx="12192000" cy="6857989"/>
          </a:xfrm>
          <a:prstGeom prst="rect">
            <a:avLst/>
          </a:prstGeom>
        </p:spPr>
      </p:pic>
      <p:sp>
        <p:nvSpPr>
          <p:cNvPr id="2" name="Title 1">
            <a:extLst>
              <a:ext uri="{FF2B5EF4-FFF2-40B4-BE49-F238E27FC236}">
                <a16:creationId xmlns:a16="http://schemas.microsoft.com/office/drawing/2014/main" id="{D023EC8D-8450-F42E-0CBB-39014D70E289}"/>
              </a:ext>
            </a:extLst>
          </p:cNvPr>
          <p:cNvSpPr>
            <a:spLocks noGrp="1"/>
          </p:cNvSpPr>
          <p:nvPr>
            <p:ph type="title"/>
          </p:nvPr>
        </p:nvSpPr>
        <p:spPr>
          <a:xfrm>
            <a:off x="420624" y="365125"/>
            <a:ext cx="10515600" cy="839561"/>
          </a:xfrm>
        </p:spPr>
        <p:txBody>
          <a:bodyPr/>
          <a:lstStyle/>
          <a:p>
            <a:r>
              <a:rPr lang="en-US" dirty="0"/>
              <a:t>Nutritional problems</a:t>
            </a:r>
          </a:p>
        </p:txBody>
      </p:sp>
      <p:sp>
        <p:nvSpPr>
          <p:cNvPr id="3" name="Content Placeholder 2">
            <a:extLst>
              <a:ext uri="{FF2B5EF4-FFF2-40B4-BE49-F238E27FC236}">
                <a16:creationId xmlns:a16="http://schemas.microsoft.com/office/drawing/2014/main" id="{85C32A87-A317-4774-D8FB-F153EC7EFC27}"/>
              </a:ext>
            </a:extLst>
          </p:cNvPr>
          <p:cNvSpPr>
            <a:spLocks noGrp="1"/>
          </p:cNvSpPr>
          <p:nvPr>
            <p:ph idx="1"/>
          </p:nvPr>
        </p:nvSpPr>
        <p:spPr>
          <a:xfrm>
            <a:off x="246743" y="1204687"/>
            <a:ext cx="10689481" cy="4992914"/>
          </a:xfrm>
        </p:spPr>
        <p:txBody>
          <a:bodyPr numCol="2">
            <a:normAutofit fontScale="92500" lnSpcReduction="10000"/>
          </a:bodyPr>
          <a:lstStyle/>
          <a:p>
            <a:r>
              <a:rPr lang="en-US" b="1" dirty="0"/>
              <a:t>Protein-Energy Malnutrition (PEM):</a:t>
            </a:r>
            <a:endParaRPr lang="en-US" dirty="0"/>
          </a:p>
          <a:p>
            <a:pPr lvl="1"/>
            <a:r>
              <a:rPr lang="en-US" sz="2400" dirty="0"/>
              <a:t>Caused primarily by the "food gap" — insufficient intake of calories and protein.</a:t>
            </a:r>
          </a:p>
          <a:p>
            <a:pPr lvl="1"/>
            <a:r>
              <a:rPr lang="en-US" sz="2400" dirty="0"/>
              <a:t>Affects mostly children in their early years.</a:t>
            </a:r>
          </a:p>
          <a:p>
            <a:pPr lvl="1"/>
            <a:r>
              <a:rPr lang="en-US" sz="2400" dirty="0"/>
              <a:t>~80% of cases are mild to moderate; 1–2% are severe in preschool children.</a:t>
            </a:r>
          </a:p>
          <a:p>
            <a:pPr lvl="1"/>
            <a:r>
              <a:rPr lang="en-US" sz="2400" b="1" dirty="0"/>
              <a:t>Marasmus</a:t>
            </a:r>
            <a:r>
              <a:rPr lang="en-US" sz="2400" dirty="0"/>
              <a:t> is more common than </a:t>
            </a:r>
            <a:r>
              <a:rPr lang="en-US" sz="2400" b="1" dirty="0"/>
              <a:t>Kwashiorkor</a:t>
            </a:r>
            <a:r>
              <a:rPr lang="en-US" sz="2400" dirty="0"/>
              <a:t>.</a:t>
            </a:r>
          </a:p>
          <a:p>
            <a:endParaRPr lang="en-US" b="1" dirty="0"/>
          </a:p>
          <a:p>
            <a:endParaRPr lang="en-US" b="1" dirty="0"/>
          </a:p>
          <a:p>
            <a:r>
              <a:rPr lang="en-US" b="1" dirty="0"/>
              <a:t>Nutritional Anemia:</a:t>
            </a:r>
            <a:endParaRPr lang="en-US" dirty="0"/>
          </a:p>
          <a:p>
            <a:pPr lvl="1"/>
            <a:r>
              <a:rPr lang="en-US" sz="2400" dirty="0"/>
              <a:t>Highly prevalent in women and children.</a:t>
            </a:r>
          </a:p>
          <a:p>
            <a:pPr lvl="1"/>
            <a:r>
              <a:rPr lang="en-US" sz="2400" b="1" dirty="0"/>
              <a:t>50.3%</a:t>
            </a:r>
            <a:r>
              <a:rPr lang="en-US" sz="2400" dirty="0"/>
              <a:t> of pregnant women are anemic; contributes to </a:t>
            </a:r>
            <a:r>
              <a:rPr lang="en-US" sz="2400" b="1" dirty="0"/>
              <a:t>19%</a:t>
            </a:r>
            <a:r>
              <a:rPr lang="en-US" sz="2400" dirty="0"/>
              <a:t> of maternal deaths.</a:t>
            </a:r>
          </a:p>
          <a:p>
            <a:pPr lvl="1"/>
            <a:r>
              <a:rPr lang="en-US" sz="2400" dirty="0"/>
              <a:t>NFHS-4:</a:t>
            </a:r>
          </a:p>
          <a:p>
            <a:pPr lvl="2"/>
            <a:r>
              <a:rPr lang="en-US" dirty="0"/>
              <a:t>Urban women: </a:t>
            </a:r>
            <a:r>
              <a:rPr lang="en-US" b="1" dirty="0"/>
              <a:t>53.1%</a:t>
            </a:r>
            <a:r>
              <a:rPr lang="en-US" dirty="0"/>
              <a:t> anemic</a:t>
            </a:r>
          </a:p>
          <a:p>
            <a:pPr lvl="2"/>
            <a:r>
              <a:rPr lang="en-US" dirty="0"/>
              <a:t>Rural women: </a:t>
            </a:r>
            <a:r>
              <a:rPr lang="en-US" b="1" dirty="0"/>
              <a:t>54.3%</a:t>
            </a:r>
            <a:r>
              <a:rPr lang="en-US" dirty="0"/>
              <a:t> anemic</a:t>
            </a:r>
          </a:p>
          <a:p>
            <a:pPr lvl="2"/>
            <a:r>
              <a:rPr lang="en-US" dirty="0"/>
              <a:t>Children (6–59 months): </a:t>
            </a:r>
            <a:r>
              <a:rPr lang="en-US" b="1" dirty="0"/>
              <a:t>58.4%</a:t>
            </a:r>
            <a:r>
              <a:rPr lang="en-US" dirty="0"/>
              <a:t> overall (urban 55.9%, rural 59.4%)</a:t>
            </a:r>
          </a:p>
          <a:p>
            <a:pPr lvl="1"/>
            <a:r>
              <a:rPr lang="en-US" sz="2400" dirty="0"/>
              <a:t>Causes: </a:t>
            </a:r>
            <a:r>
              <a:rPr lang="en-US" sz="2400" b="1" dirty="0"/>
              <a:t>Iron deficiency</a:t>
            </a:r>
            <a:r>
              <a:rPr lang="en-US" sz="2400" dirty="0"/>
              <a:t> most common, followed by folate and vitamin B12 deficiencies.</a:t>
            </a:r>
          </a:p>
        </p:txBody>
      </p:sp>
      <p:sp>
        <p:nvSpPr>
          <p:cNvPr id="4" name="Slide Number Placeholder 3">
            <a:extLst>
              <a:ext uri="{FF2B5EF4-FFF2-40B4-BE49-F238E27FC236}">
                <a16:creationId xmlns:a16="http://schemas.microsoft.com/office/drawing/2014/main" id="{4679F9E0-5DD4-44A6-5703-7B60052C5334}"/>
              </a:ext>
            </a:extLst>
          </p:cNvPr>
          <p:cNvSpPr>
            <a:spLocks noGrp="1"/>
          </p:cNvSpPr>
          <p:nvPr>
            <p:ph type="sldNum" sz="quarter" idx="12"/>
          </p:nvPr>
        </p:nvSpPr>
        <p:spPr/>
        <p:txBody>
          <a:bodyPr/>
          <a:lstStyle/>
          <a:p>
            <a:fld id="{3A4F6043-7A67-491B-98BC-F933DED7226D}" type="slidenum">
              <a:rPr lang="en-US" smtClean="0"/>
              <a:pPr/>
              <a:t>25</a:t>
            </a:fld>
            <a:endParaRPr lang="en-US" dirty="0"/>
          </a:p>
        </p:txBody>
      </p:sp>
    </p:spTree>
    <p:extLst>
      <p:ext uri="{BB962C8B-B14F-4D97-AF65-F5344CB8AC3E}">
        <p14:creationId xmlns:p14="http://schemas.microsoft.com/office/powerpoint/2010/main" val="874138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82490-9C97-9EF6-AC2B-9DEB7EED4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0D671-AC12-48AB-872E-5D561BC574C8}"/>
              </a:ext>
            </a:extLst>
          </p:cNvPr>
          <p:cNvSpPr>
            <a:spLocks noGrp="1"/>
          </p:cNvSpPr>
          <p:nvPr>
            <p:ph type="title"/>
          </p:nvPr>
        </p:nvSpPr>
        <p:spPr>
          <a:xfrm>
            <a:off x="420624" y="365125"/>
            <a:ext cx="10515600" cy="839561"/>
          </a:xfrm>
        </p:spPr>
        <p:txBody>
          <a:bodyPr/>
          <a:lstStyle/>
          <a:p>
            <a:r>
              <a:rPr lang="en-US"/>
              <a:t>Nutritional problems</a:t>
            </a:r>
            <a:endParaRPr lang="en-US" dirty="0"/>
          </a:p>
        </p:txBody>
      </p:sp>
      <p:sp>
        <p:nvSpPr>
          <p:cNvPr id="3" name="Content Placeholder 2">
            <a:extLst>
              <a:ext uri="{FF2B5EF4-FFF2-40B4-BE49-F238E27FC236}">
                <a16:creationId xmlns:a16="http://schemas.microsoft.com/office/drawing/2014/main" id="{F93F5A87-1BF1-3BD7-2DE8-2E5F85AE9632}"/>
              </a:ext>
            </a:extLst>
          </p:cNvPr>
          <p:cNvSpPr>
            <a:spLocks noGrp="1"/>
          </p:cNvSpPr>
          <p:nvPr>
            <p:ph idx="1"/>
          </p:nvPr>
        </p:nvSpPr>
        <p:spPr>
          <a:xfrm>
            <a:off x="246743" y="1204687"/>
            <a:ext cx="10689481" cy="4992914"/>
          </a:xfrm>
        </p:spPr>
        <p:txBody>
          <a:bodyPr numCol="1">
            <a:normAutofit lnSpcReduction="10000"/>
          </a:bodyPr>
          <a:lstStyle/>
          <a:p>
            <a:r>
              <a:rPr lang="en-US" sz="3200" b="1"/>
              <a:t>Low Birth Weight (LBW):</a:t>
            </a:r>
            <a:endParaRPr lang="en-US" sz="3200"/>
          </a:p>
          <a:p>
            <a:pPr lvl="1"/>
            <a:r>
              <a:rPr lang="en-US" sz="2800"/>
              <a:t>Affects </a:t>
            </a:r>
            <a:r>
              <a:rPr lang="en-US" sz="2800" b="1"/>
              <a:t>28%</a:t>
            </a:r>
            <a:r>
              <a:rPr lang="en-US" sz="2800"/>
              <a:t> of newborns (&lt;2.5 kg).</a:t>
            </a:r>
          </a:p>
          <a:p>
            <a:pPr lvl="1"/>
            <a:r>
              <a:rPr lang="en-US" sz="2800"/>
              <a:t>Strongly linked to maternal malnutrition and anemia.</a:t>
            </a:r>
          </a:p>
          <a:p>
            <a:r>
              <a:rPr lang="en-US" sz="3200" b="1"/>
              <a:t>Xerophthalmia (Vitamin A Deficiency):</a:t>
            </a:r>
            <a:endParaRPr lang="en-US" sz="3200"/>
          </a:p>
          <a:p>
            <a:pPr lvl="1"/>
            <a:r>
              <a:rPr lang="en-US" sz="2800"/>
              <a:t>Contributes to </a:t>
            </a:r>
            <a:r>
              <a:rPr lang="en-US" sz="2800" b="1"/>
              <a:t>0.04%</a:t>
            </a:r>
            <a:r>
              <a:rPr lang="en-US" sz="2800"/>
              <a:t> of total blindness in India.</a:t>
            </a:r>
          </a:p>
          <a:p>
            <a:pPr lvl="1"/>
            <a:r>
              <a:rPr lang="en-US" sz="2800" b="1"/>
              <a:t>Keratomalacia</a:t>
            </a:r>
            <a:r>
              <a:rPr lang="en-US" sz="2800"/>
              <a:t> is the leading cause of nutritional blindness in children aged 1–3 years.</a:t>
            </a:r>
          </a:p>
          <a:p>
            <a:pPr lvl="1"/>
            <a:r>
              <a:rPr lang="en-US" sz="2800"/>
              <a:t>Widespread </a:t>
            </a:r>
            <a:r>
              <a:rPr lang="en-US" sz="2800" b="1"/>
              <a:t>subclinical vitamin A deficiency</a:t>
            </a:r>
            <a:r>
              <a:rPr lang="en-US" sz="2800"/>
              <a:t>.</a:t>
            </a:r>
          </a:p>
          <a:p>
            <a:pPr lvl="1"/>
            <a:r>
              <a:rPr lang="en-US" sz="2800"/>
              <a:t>Increases vulnerability to </a:t>
            </a:r>
            <a:r>
              <a:rPr lang="en-US" sz="2800" b="1"/>
              <a:t>respiratory and gastrointestinal infections</a:t>
            </a:r>
            <a:r>
              <a:rPr lang="en-US" sz="2800"/>
              <a:t>.</a:t>
            </a:r>
            <a:endParaRPr lang="en-US" sz="2800" dirty="0"/>
          </a:p>
        </p:txBody>
      </p:sp>
      <p:sp>
        <p:nvSpPr>
          <p:cNvPr id="4" name="Slide Number Placeholder 3">
            <a:extLst>
              <a:ext uri="{FF2B5EF4-FFF2-40B4-BE49-F238E27FC236}">
                <a16:creationId xmlns:a16="http://schemas.microsoft.com/office/drawing/2014/main" id="{FAFE4FF1-72E5-CBFB-ED4D-79F5D2C03122}"/>
              </a:ext>
            </a:extLst>
          </p:cNvPr>
          <p:cNvSpPr>
            <a:spLocks noGrp="1"/>
          </p:cNvSpPr>
          <p:nvPr>
            <p:ph type="sldNum" sz="quarter" idx="12"/>
          </p:nvPr>
        </p:nvSpPr>
        <p:spPr/>
        <p:txBody>
          <a:bodyPr/>
          <a:lstStyle/>
          <a:p>
            <a:fld id="{3A4F6043-7A67-491B-98BC-F933DED7226D}" type="slidenum">
              <a:rPr lang="en-US" smtClean="0"/>
              <a:pPr/>
              <a:t>26</a:t>
            </a:fld>
            <a:endParaRPr lang="en-US" dirty="0"/>
          </a:p>
        </p:txBody>
      </p:sp>
      <p:pic>
        <p:nvPicPr>
          <p:cNvPr id="7" name="Picture 6">
            <a:extLst>
              <a:ext uri="{FF2B5EF4-FFF2-40B4-BE49-F238E27FC236}">
                <a16:creationId xmlns:a16="http://schemas.microsoft.com/office/drawing/2014/main" id="{2AEDF160-4F58-C620-4B85-A7AF759CB5FB}"/>
              </a:ext>
            </a:extLst>
          </p:cNvPr>
          <p:cNvPicPr>
            <a:picLocks noChangeAspect="1"/>
          </p:cNvPicPr>
          <p:nvPr/>
        </p:nvPicPr>
        <p:blipFill>
          <a:blip r:embed="rId2">
            <a:alphaModFix amt="35000"/>
          </a:blip>
          <a:srcRect t="28445" r="2" b="7964"/>
          <a:stretch>
            <a:fillRect/>
          </a:stretch>
        </p:blipFill>
        <p:spPr>
          <a:xfrm>
            <a:off x="0" y="10"/>
            <a:ext cx="12192000" cy="6857989"/>
          </a:xfrm>
          <a:prstGeom prst="rect">
            <a:avLst/>
          </a:prstGeom>
        </p:spPr>
      </p:pic>
    </p:spTree>
    <p:extLst>
      <p:ext uri="{BB962C8B-B14F-4D97-AF65-F5344CB8AC3E}">
        <p14:creationId xmlns:p14="http://schemas.microsoft.com/office/powerpoint/2010/main" val="3223868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23EC4-98B8-DB12-CBF7-E7B6B4224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711156-C124-73BD-9055-C7953751333F}"/>
              </a:ext>
            </a:extLst>
          </p:cNvPr>
          <p:cNvSpPr>
            <a:spLocks noGrp="1"/>
          </p:cNvSpPr>
          <p:nvPr>
            <p:ph type="title"/>
          </p:nvPr>
        </p:nvSpPr>
        <p:spPr>
          <a:xfrm>
            <a:off x="420624" y="365125"/>
            <a:ext cx="10515600" cy="839561"/>
          </a:xfrm>
        </p:spPr>
        <p:txBody>
          <a:bodyPr/>
          <a:lstStyle/>
          <a:p>
            <a:r>
              <a:rPr lang="en-US" dirty="0"/>
              <a:t>Nutritional problems</a:t>
            </a:r>
          </a:p>
        </p:txBody>
      </p:sp>
      <p:sp>
        <p:nvSpPr>
          <p:cNvPr id="3" name="Content Placeholder 2">
            <a:extLst>
              <a:ext uri="{FF2B5EF4-FFF2-40B4-BE49-F238E27FC236}">
                <a16:creationId xmlns:a16="http://schemas.microsoft.com/office/drawing/2014/main" id="{BFD95B7C-7E0C-DC34-A644-2594D620857B}"/>
              </a:ext>
            </a:extLst>
          </p:cNvPr>
          <p:cNvSpPr>
            <a:spLocks noGrp="1"/>
          </p:cNvSpPr>
          <p:nvPr>
            <p:ph idx="1"/>
          </p:nvPr>
        </p:nvSpPr>
        <p:spPr>
          <a:xfrm>
            <a:off x="246743" y="1204687"/>
            <a:ext cx="10689481" cy="4992914"/>
          </a:xfrm>
        </p:spPr>
        <p:txBody>
          <a:bodyPr numCol="1">
            <a:normAutofit fontScale="85000" lnSpcReduction="20000"/>
          </a:bodyPr>
          <a:lstStyle/>
          <a:p>
            <a:r>
              <a:rPr lang="en-US" sz="3200" b="1" dirty="0"/>
              <a:t>Iodine Deficiency Disorders (IDD):</a:t>
            </a:r>
            <a:endParaRPr lang="en-US" sz="3200" dirty="0"/>
          </a:p>
          <a:p>
            <a:pPr lvl="1"/>
            <a:r>
              <a:rPr lang="en-US" sz="3000" dirty="0"/>
              <a:t>Previously confined to the “</a:t>
            </a:r>
            <a:r>
              <a:rPr lang="en-US" sz="3000" dirty="0" err="1"/>
              <a:t>goitre</a:t>
            </a:r>
            <a:r>
              <a:rPr lang="en-US" sz="3000" dirty="0"/>
              <a:t> belt” (sub-Himalayan region), now found nationwide.</a:t>
            </a:r>
          </a:p>
          <a:p>
            <a:pPr lvl="1"/>
            <a:r>
              <a:rPr lang="en-US" sz="3000" b="1" dirty="0"/>
              <a:t>263 out of 324 surveyed districts</a:t>
            </a:r>
            <a:r>
              <a:rPr lang="en-US" sz="3000" dirty="0"/>
              <a:t> in </a:t>
            </a:r>
            <a:r>
              <a:rPr lang="en-US" sz="3000" b="1" dirty="0"/>
              <a:t>29 States/UTs</a:t>
            </a:r>
            <a:r>
              <a:rPr lang="en-US" sz="3000" dirty="0"/>
              <a:t> are endemic.</a:t>
            </a:r>
          </a:p>
          <a:p>
            <a:pPr lvl="1"/>
            <a:r>
              <a:rPr lang="en-US" sz="3000" dirty="0"/>
              <a:t>IDD prevalence exceeds </a:t>
            </a:r>
            <a:r>
              <a:rPr lang="en-US" sz="3000" b="1" dirty="0"/>
              <a:t>10%</a:t>
            </a:r>
            <a:r>
              <a:rPr lang="en-US" sz="3000" dirty="0"/>
              <a:t> in these areas.</a:t>
            </a:r>
          </a:p>
          <a:p>
            <a:pPr lvl="1"/>
            <a:r>
              <a:rPr lang="en-US" sz="3000" dirty="0"/>
              <a:t>Over </a:t>
            </a:r>
            <a:r>
              <a:rPr lang="en-US" sz="3000" b="1" dirty="0"/>
              <a:t>71 million people</a:t>
            </a:r>
            <a:r>
              <a:rPr lang="en-US" sz="3000" dirty="0"/>
              <a:t> estimated to suffer from </a:t>
            </a:r>
            <a:r>
              <a:rPr lang="en-US" sz="3000" dirty="0" err="1"/>
              <a:t>goitre</a:t>
            </a:r>
            <a:r>
              <a:rPr lang="en-US" sz="3000" dirty="0"/>
              <a:t> or related IDDs.</a:t>
            </a:r>
          </a:p>
          <a:p>
            <a:r>
              <a:rPr lang="en-US" sz="3200" b="1" dirty="0"/>
              <a:t>Other Nutritional Issues:</a:t>
            </a:r>
            <a:endParaRPr lang="en-US" sz="3200" dirty="0"/>
          </a:p>
          <a:p>
            <a:pPr lvl="1"/>
            <a:r>
              <a:rPr lang="en-US" sz="3000" b="1" dirty="0"/>
              <a:t>Lathyrism</a:t>
            </a:r>
            <a:r>
              <a:rPr lang="en-US" sz="3000" dirty="0"/>
              <a:t>: Linked to overconsumption of </a:t>
            </a:r>
            <a:r>
              <a:rPr lang="en-US" sz="3000" i="1" dirty="0"/>
              <a:t>Lathyrus sativus</a:t>
            </a:r>
            <a:r>
              <a:rPr lang="en-US" sz="3000" dirty="0"/>
              <a:t> (</a:t>
            </a:r>
            <a:r>
              <a:rPr lang="en-US" sz="3000" dirty="0" err="1"/>
              <a:t>kesari</a:t>
            </a:r>
            <a:r>
              <a:rPr lang="en-US" sz="3000" dirty="0"/>
              <a:t> dal).</a:t>
            </a:r>
          </a:p>
          <a:p>
            <a:pPr lvl="1"/>
            <a:r>
              <a:rPr lang="en-US" sz="3000" b="1" dirty="0"/>
              <a:t>Endemic fluorosis</a:t>
            </a:r>
            <a:r>
              <a:rPr lang="en-US" sz="3000" dirty="0"/>
              <a:t>: From excessive fluoride in water.</a:t>
            </a:r>
          </a:p>
          <a:p>
            <a:pPr lvl="1"/>
            <a:r>
              <a:rPr lang="en-US" sz="3000" b="1" dirty="0"/>
              <a:t>Food safety</a:t>
            </a:r>
            <a:r>
              <a:rPr lang="en-US" sz="3000" dirty="0"/>
              <a:t>: Adulteration and contamination remain important public health concerns.</a:t>
            </a:r>
          </a:p>
        </p:txBody>
      </p:sp>
      <p:sp>
        <p:nvSpPr>
          <p:cNvPr id="4" name="Slide Number Placeholder 3">
            <a:extLst>
              <a:ext uri="{FF2B5EF4-FFF2-40B4-BE49-F238E27FC236}">
                <a16:creationId xmlns:a16="http://schemas.microsoft.com/office/drawing/2014/main" id="{76E78359-B38C-A179-762E-4423BB7A0CF0}"/>
              </a:ext>
            </a:extLst>
          </p:cNvPr>
          <p:cNvSpPr>
            <a:spLocks noGrp="1"/>
          </p:cNvSpPr>
          <p:nvPr>
            <p:ph type="sldNum" sz="quarter" idx="12"/>
          </p:nvPr>
        </p:nvSpPr>
        <p:spPr/>
        <p:txBody>
          <a:bodyPr/>
          <a:lstStyle/>
          <a:p>
            <a:fld id="{3A4F6043-7A67-491B-98BC-F933DED7226D}" type="slidenum">
              <a:rPr lang="en-US" smtClean="0"/>
              <a:pPr/>
              <a:t>27</a:t>
            </a:fld>
            <a:endParaRPr lang="en-US" dirty="0"/>
          </a:p>
        </p:txBody>
      </p:sp>
    </p:spTree>
    <p:extLst>
      <p:ext uri="{BB962C8B-B14F-4D97-AF65-F5344CB8AC3E}">
        <p14:creationId xmlns:p14="http://schemas.microsoft.com/office/powerpoint/2010/main" val="34416256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5342E-636D-A294-3103-BE963C148675}"/>
              </a:ext>
            </a:extLst>
          </p:cNvPr>
          <p:cNvSpPr>
            <a:spLocks noGrp="1"/>
          </p:cNvSpPr>
          <p:nvPr>
            <p:ph type="title"/>
          </p:nvPr>
        </p:nvSpPr>
        <p:spPr/>
        <p:txBody>
          <a:bodyPr/>
          <a:lstStyle/>
          <a:p>
            <a:r>
              <a:rPr lang="en-US" dirty="0"/>
              <a:t>Environmental sanitation</a:t>
            </a:r>
          </a:p>
        </p:txBody>
      </p:sp>
      <p:sp>
        <p:nvSpPr>
          <p:cNvPr id="4" name="Slide Number Placeholder 3">
            <a:extLst>
              <a:ext uri="{FF2B5EF4-FFF2-40B4-BE49-F238E27FC236}">
                <a16:creationId xmlns:a16="http://schemas.microsoft.com/office/drawing/2014/main" id="{386A65DE-CCBE-0310-EC3E-38DB9220F456}"/>
              </a:ext>
            </a:extLst>
          </p:cNvPr>
          <p:cNvSpPr>
            <a:spLocks noGrp="1"/>
          </p:cNvSpPr>
          <p:nvPr>
            <p:ph type="sldNum" sz="quarter" idx="12"/>
          </p:nvPr>
        </p:nvSpPr>
        <p:spPr/>
        <p:txBody>
          <a:bodyPr/>
          <a:lstStyle/>
          <a:p>
            <a:fld id="{3A4F6043-7A67-491B-98BC-F933DED7226D}" type="slidenum">
              <a:rPr lang="en-US" smtClean="0"/>
              <a:pPr/>
              <a:t>28</a:t>
            </a:fld>
            <a:endParaRPr lang="en-US" dirty="0"/>
          </a:p>
        </p:txBody>
      </p:sp>
      <p:sp>
        <p:nvSpPr>
          <p:cNvPr id="5" name="Rectangle 1">
            <a:extLst>
              <a:ext uri="{FF2B5EF4-FFF2-40B4-BE49-F238E27FC236}">
                <a16:creationId xmlns:a16="http://schemas.microsoft.com/office/drawing/2014/main" id="{A87F6CB9-23EF-FBE4-5B8C-C6C2107B812C}"/>
              </a:ext>
            </a:extLst>
          </p:cNvPr>
          <p:cNvSpPr>
            <a:spLocks noGrp="1" noChangeArrowheads="1"/>
          </p:cNvSpPr>
          <p:nvPr>
            <p:ph idx="1"/>
          </p:nvPr>
        </p:nvSpPr>
        <p:spPr bwMode="auto">
          <a:xfrm>
            <a:off x="209878" y="1547994"/>
            <a:ext cx="10726346"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Environmental sanitation issues are </a:t>
            </a:r>
            <a:r>
              <a:rPr kumimoji="0" lang="en-US" altLang="en-US" b="1" i="0" u="none" strike="noStrike" cap="none" normalizeH="0" baseline="0" dirty="0">
                <a:ln>
                  <a:noFill/>
                </a:ln>
                <a:solidFill>
                  <a:schemeClr val="tx1"/>
                </a:solidFill>
                <a:effectLst/>
                <a:latin typeface="+mj-lt"/>
              </a:rPr>
              <a:t>multifaceted and multifactorial</a:t>
            </a:r>
            <a:r>
              <a:rPr kumimoji="0" lang="en-US" altLang="en-US"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Historical reference:</a:t>
            </a:r>
          </a:p>
          <a:p>
            <a:pPr marL="457200" lvl="1" indent="0" eaLnBrk="0" fontAlgn="base" hangingPunct="0">
              <a:lnSpc>
                <a:spcPct val="100000"/>
              </a:lnSpc>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mj-lt"/>
              </a:rPr>
              <a:t>The </a:t>
            </a:r>
            <a:r>
              <a:rPr kumimoji="0" lang="en-US" altLang="en-US" sz="2000" b="1" i="0" u="none" strike="noStrike" cap="none" normalizeH="0" baseline="0" dirty="0">
                <a:ln>
                  <a:noFill/>
                </a:ln>
                <a:solidFill>
                  <a:schemeClr val="tx1"/>
                </a:solidFill>
                <a:effectLst/>
                <a:latin typeface="+mj-lt"/>
              </a:rPr>
              <a:t>Great Sanitary Awakening in England (1840s)</a:t>
            </a:r>
            <a:r>
              <a:rPr kumimoji="0" lang="en-US" altLang="en-US" sz="2000" b="0" i="0" u="none" strike="noStrike" cap="none" normalizeH="0" baseline="0" dirty="0">
                <a:ln>
                  <a:noFill/>
                </a:ln>
                <a:solidFill>
                  <a:schemeClr val="tx1"/>
                </a:solidFill>
                <a:effectLst/>
                <a:latin typeface="+mj-lt"/>
              </a:rPr>
              <a:t> was a turning point for public health reforms.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Key challenges in India</a:t>
            </a:r>
            <a:r>
              <a:rPr kumimoji="0" lang="en-US" altLang="en-US" b="0" i="0" u="none" strike="noStrike" cap="none" normalizeH="0" baseline="0" dirty="0">
                <a:ln>
                  <a:noFill/>
                </a:ln>
                <a:solidFill>
                  <a:schemeClr val="tx1"/>
                </a:solidFill>
                <a:effectLst/>
                <a:latin typeface="+mj-lt"/>
              </a:rPr>
              <a:t>:</a:t>
            </a:r>
          </a:p>
          <a:p>
            <a:pPr marL="457200" lvl="1" indent="0" eaLnBrk="0" fontAlgn="base" hangingPunct="0">
              <a:lnSpc>
                <a:spcPct val="100000"/>
              </a:lnSpc>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mj-lt"/>
              </a:rPr>
              <a:t>Lack of access to </a:t>
            </a:r>
            <a:r>
              <a:rPr kumimoji="0" lang="en-US" altLang="en-US" sz="2000" b="1" i="0" u="none" strike="noStrike" cap="none" normalizeH="0" baseline="0" dirty="0">
                <a:ln>
                  <a:noFill/>
                </a:ln>
                <a:solidFill>
                  <a:schemeClr val="tx1"/>
                </a:solidFill>
                <a:effectLst/>
                <a:latin typeface="+mj-lt"/>
              </a:rPr>
              <a:t>safe water supply</a:t>
            </a:r>
            <a:r>
              <a:rPr kumimoji="0" lang="en-US" altLang="en-US" sz="2000" b="0" i="0" u="none" strike="noStrike" cap="none" normalizeH="0" baseline="0" dirty="0">
                <a:ln>
                  <a:noFill/>
                </a:ln>
                <a:solidFill>
                  <a:schemeClr val="tx1"/>
                </a:solidFill>
                <a:effectLst/>
                <a:latin typeface="+mj-lt"/>
              </a:rPr>
              <a:t> in many regions.</a:t>
            </a:r>
          </a:p>
          <a:p>
            <a:pPr marL="457200" lvl="1" indent="0" eaLnBrk="0" fontAlgn="base" hangingPunct="0">
              <a:lnSpc>
                <a:spcPct val="100000"/>
              </a:lnSpc>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mj-lt"/>
              </a:rPr>
              <a:t>Continued use of </a:t>
            </a:r>
            <a:r>
              <a:rPr kumimoji="0" lang="en-US" altLang="en-US" sz="2000" b="1" i="0" u="none" strike="noStrike" cap="none" normalizeH="0" baseline="0" dirty="0">
                <a:ln>
                  <a:noFill/>
                </a:ln>
                <a:solidFill>
                  <a:schemeClr val="tx1"/>
                </a:solidFill>
                <a:effectLst/>
                <a:latin typeface="+mj-lt"/>
              </a:rPr>
              <a:t>primitive excreta disposal methods</a:t>
            </a:r>
            <a:r>
              <a:rPr kumimoji="0" lang="en-US" altLang="en-US" sz="20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Emerging concerns</a:t>
            </a:r>
            <a:r>
              <a:rPr kumimoji="0" lang="en-US" altLang="en-US" b="0" i="0" u="none" strike="noStrike" cap="none" normalizeH="0" baseline="0" dirty="0">
                <a:ln>
                  <a:noFill/>
                </a:ln>
                <a:solidFill>
                  <a:schemeClr val="tx1"/>
                </a:solidFill>
                <a:effectLst/>
                <a:latin typeface="+mj-lt"/>
              </a:rPr>
              <a:t>:</a:t>
            </a:r>
          </a:p>
          <a:p>
            <a:pPr marL="457200" lvl="1" indent="0" eaLnBrk="0" fontAlgn="base" hangingPunct="0">
              <a:lnSpc>
                <a:spcPct val="100000"/>
              </a:lnSpc>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mj-lt"/>
              </a:rPr>
              <a:t>Driven by </a:t>
            </a:r>
            <a:r>
              <a:rPr kumimoji="0" lang="en-US" altLang="en-US" sz="2000" b="1" i="0" u="none" strike="noStrike" cap="none" normalizeH="0" baseline="0" dirty="0">
                <a:ln>
                  <a:noFill/>
                </a:ln>
                <a:solidFill>
                  <a:schemeClr val="tx1"/>
                </a:solidFill>
                <a:effectLst/>
                <a:latin typeface="+mj-lt"/>
              </a:rPr>
              <a:t>population explosion</a:t>
            </a:r>
            <a:r>
              <a:rPr kumimoji="0" lang="en-US" altLang="en-US" sz="2000" b="0" i="0" u="none" strike="noStrike" cap="none" normalizeH="0" baseline="0" dirty="0">
                <a:ln>
                  <a:noFill/>
                </a:ln>
                <a:solidFill>
                  <a:schemeClr val="tx1"/>
                </a:solidFill>
                <a:effectLst/>
                <a:latin typeface="+mj-lt"/>
              </a:rPr>
              <a:t>, </a:t>
            </a:r>
            <a:r>
              <a:rPr kumimoji="0" lang="en-US" altLang="en-US" sz="2000" b="1" i="0" u="none" strike="noStrike" cap="none" normalizeH="0" baseline="0" dirty="0">
                <a:ln>
                  <a:noFill/>
                </a:ln>
                <a:solidFill>
                  <a:schemeClr val="tx1"/>
                </a:solidFill>
                <a:effectLst/>
                <a:latin typeface="+mj-lt"/>
              </a:rPr>
              <a:t>urbanization</a:t>
            </a:r>
            <a:r>
              <a:rPr kumimoji="0" lang="en-US" altLang="en-US" sz="2000" b="0" i="0" u="none" strike="noStrike" cap="none" normalizeH="0" baseline="0" dirty="0">
                <a:ln>
                  <a:noFill/>
                </a:ln>
                <a:solidFill>
                  <a:schemeClr val="tx1"/>
                </a:solidFill>
                <a:effectLst/>
                <a:latin typeface="+mj-lt"/>
              </a:rPr>
              <a:t>, and </a:t>
            </a:r>
            <a:r>
              <a:rPr kumimoji="0" lang="en-US" altLang="en-US" sz="2000" b="1" i="0" u="none" strike="noStrike" cap="none" normalizeH="0" baseline="0" dirty="0">
                <a:ln>
                  <a:noFill/>
                </a:ln>
                <a:solidFill>
                  <a:schemeClr val="tx1"/>
                </a:solidFill>
                <a:effectLst/>
                <a:latin typeface="+mj-lt"/>
              </a:rPr>
              <a:t>industrialization</a:t>
            </a:r>
            <a:r>
              <a:rPr kumimoji="0" lang="en-US" altLang="en-US" sz="2000" b="0" i="0" u="none" strike="noStrike" cap="none" normalizeH="0" baseline="0" dirty="0">
                <a:ln>
                  <a:noFill/>
                </a:ln>
                <a:solidFill>
                  <a:schemeClr val="tx1"/>
                </a:solidFill>
                <a:effectLst/>
                <a:latin typeface="+mj-lt"/>
              </a:rPr>
              <a:t>.</a:t>
            </a:r>
          </a:p>
          <a:p>
            <a:pPr marL="457200" lvl="1" indent="0" eaLnBrk="0" fontAlgn="base" hangingPunct="0">
              <a:lnSpc>
                <a:spcPct val="100000"/>
              </a:lnSpc>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mj-lt"/>
              </a:rPr>
              <a:t>Resulting hazards affect </a:t>
            </a:r>
            <a:r>
              <a:rPr kumimoji="0" lang="en-US" altLang="en-US" sz="2000" b="1" i="0" u="none" strike="noStrike" cap="none" normalizeH="0" baseline="0" dirty="0">
                <a:ln>
                  <a:noFill/>
                </a:ln>
                <a:solidFill>
                  <a:schemeClr val="tx1"/>
                </a:solidFill>
                <a:effectLst/>
                <a:latin typeface="+mj-lt"/>
              </a:rPr>
              <a:t>air</a:t>
            </a:r>
            <a:r>
              <a:rPr kumimoji="0" lang="en-US" altLang="en-US" sz="2000" b="0" i="0" u="none" strike="noStrike" cap="none" normalizeH="0" baseline="0" dirty="0">
                <a:ln>
                  <a:noFill/>
                </a:ln>
                <a:solidFill>
                  <a:schemeClr val="tx1"/>
                </a:solidFill>
                <a:effectLst/>
                <a:latin typeface="+mj-lt"/>
              </a:rPr>
              <a:t>, </a:t>
            </a:r>
            <a:r>
              <a:rPr kumimoji="0" lang="en-US" altLang="en-US" sz="2000" b="1" i="0" u="none" strike="noStrike" cap="none" normalizeH="0" baseline="0" dirty="0">
                <a:ln>
                  <a:noFill/>
                </a:ln>
                <a:solidFill>
                  <a:schemeClr val="tx1"/>
                </a:solidFill>
                <a:effectLst/>
                <a:latin typeface="+mj-lt"/>
              </a:rPr>
              <a:t>water</a:t>
            </a:r>
            <a:r>
              <a:rPr kumimoji="0" lang="en-US" altLang="en-US" sz="2000" b="0" i="0" u="none" strike="noStrike" cap="none" normalizeH="0" baseline="0" dirty="0">
                <a:ln>
                  <a:noFill/>
                </a:ln>
                <a:solidFill>
                  <a:schemeClr val="tx1"/>
                </a:solidFill>
                <a:effectLst/>
                <a:latin typeface="+mj-lt"/>
              </a:rPr>
              <a:t>, and the </a:t>
            </a:r>
            <a:r>
              <a:rPr kumimoji="0" lang="en-US" altLang="en-US" sz="2000" b="1" i="0" u="none" strike="noStrike" cap="none" normalizeH="0" baseline="0" dirty="0">
                <a:ln>
                  <a:noFill/>
                </a:ln>
                <a:solidFill>
                  <a:schemeClr val="tx1"/>
                </a:solidFill>
                <a:effectLst/>
                <a:latin typeface="+mj-lt"/>
              </a:rPr>
              <a:t>food chain</a:t>
            </a:r>
            <a:r>
              <a:rPr kumimoji="0" lang="en-US" altLang="en-US" sz="2000" b="0" i="0" u="none" strike="noStrike" cap="none" normalizeH="0" baseline="0" dirty="0">
                <a:ln>
                  <a:noFill/>
                </a:ln>
                <a:solidFill>
                  <a:schemeClr val="tx1"/>
                </a:solidFill>
                <a:effectLst/>
                <a:latin typeface="+mj-lt"/>
              </a:rPr>
              <a:t>, threatening public health.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International emphasis:</a:t>
            </a:r>
          </a:p>
          <a:p>
            <a:pPr marL="457200" lvl="1" indent="0" eaLnBrk="0" fontAlgn="base" hangingPunct="0">
              <a:lnSpc>
                <a:spcPct val="100000"/>
              </a:lnSpc>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mj-lt"/>
              </a:rPr>
              <a:t>The </a:t>
            </a:r>
            <a:r>
              <a:rPr kumimoji="0" lang="en-US" altLang="en-US" sz="2000" b="1" i="0" u="none" strike="noStrike" cap="none" normalizeH="0" baseline="0" dirty="0">
                <a:ln>
                  <a:noFill/>
                </a:ln>
                <a:solidFill>
                  <a:schemeClr val="tx1"/>
                </a:solidFill>
                <a:effectLst/>
                <a:latin typeface="+mj-lt"/>
              </a:rPr>
              <a:t>United Nations Water Conference (Argentina, 1977)</a:t>
            </a:r>
            <a:r>
              <a:rPr kumimoji="0" lang="en-US" altLang="en-US" sz="2000" b="0" i="0" u="none" strike="noStrike" cap="none" normalizeH="0" baseline="0" dirty="0">
                <a:ln>
                  <a:noFill/>
                </a:ln>
                <a:solidFill>
                  <a:schemeClr val="tx1"/>
                </a:solidFill>
                <a:effectLst/>
                <a:latin typeface="+mj-lt"/>
              </a:rPr>
              <a:t> prioritized </a:t>
            </a:r>
            <a:r>
              <a:rPr kumimoji="0" lang="en-US" altLang="en-US" sz="2000" b="1" i="0" u="none" strike="noStrike" cap="none" normalizeH="0" baseline="0" dirty="0">
                <a:ln>
                  <a:noFill/>
                </a:ln>
                <a:solidFill>
                  <a:schemeClr val="tx1"/>
                </a:solidFill>
                <a:effectLst/>
                <a:latin typeface="+mj-lt"/>
              </a:rPr>
              <a:t>universal access to safe water and sanitation services</a:t>
            </a:r>
            <a:r>
              <a:rPr kumimoji="0" lang="en-US" altLang="en-US" sz="20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35185256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6D6727-A248-FDF7-F226-07FDEE4BA6E2}"/>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4" name="Rectangle 43">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6" name="Rectangle 45">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8" name="Rectangle 47">
            <a:extLst>
              <a:ext uri="{FF2B5EF4-FFF2-40B4-BE49-F238E27FC236}">
                <a16:creationId xmlns:a16="http://schemas.microsoft.com/office/drawing/2014/main" id="{B28EC6A1-D299-4AFF-AD16-9ADC9A31F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7C0A67-9C55-4E90-F940-81310A461967}"/>
              </a:ext>
            </a:extLst>
          </p:cNvPr>
          <p:cNvSpPr>
            <a:spLocks noGrp="1"/>
          </p:cNvSpPr>
          <p:nvPr>
            <p:ph type="title"/>
          </p:nvPr>
        </p:nvSpPr>
        <p:spPr>
          <a:xfrm>
            <a:off x="457642" y="212698"/>
            <a:ext cx="8271158" cy="949929"/>
          </a:xfrm>
        </p:spPr>
        <p:txBody>
          <a:bodyPr vert="horz" lIns="91440" tIns="45720" rIns="91440" bIns="45720" rtlCol="0" anchor="b">
            <a:normAutofit/>
          </a:bodyPr>
          <a:lstStyle/>
          <a:p>
            <a:r>
              <a:rPr lang="en-US" sz="4800" dirty="0"/>
              <a:t>Environmental sanitation</a:t>
            </a:r>
          </a:p>
        </p:txBody>
      </p:sp>
      <p:sp>
        <p:nvSpPr>
          <p:cNvPr id="4" name="Slide Number Placeholder 3">
            <a:extLst>
              <a:ext uri="{FF2B5EF4-FFF2-40B4-BE49-F238E27FC236}">
                <a16:creationId xmlns:a16="http://schemas.microsoft.com/office/drawing/2014/main" id="{0C997338-F99C-1C13-7A70-F574FE4A8026}"/>
              </a:ext>
            </a:extLst>
          </p:cNvPr>
          <p:cNvSpPr>
            <a:spLocks noGrp="1"/>
          </p:cNvSpPr>
          <p:nvPr>
            <p:ph type="sldNum" sz="quarter" idx="12"/>
          </p:nvPr>
        </p:nvSpPr>
        <p:spPr>
          <a:xfrm>
            <a:off x="11503152" y="-18288"/>
            <a:ext cx="685800" cy="685800"/>
          </a:xfrm>
        </p:spPr>
        <p:txBody>
          <a:bodyPr vert="horz" lIns="91440" tIns="45720" rIns="91440" bIns="45720" rtlCol="0" anchor="ctr">
            <a:normAutofit/>
          </a:bodyPr>
          <a:lstStyle/>
          <a:p>
            <a:pPr>
              <a:spcAft>
                <a:spcPts val="600"/>
              </a:spcAft>
            </a:pPr>
            <a:fld id="{3A4F6043-7A67-491B-98BC-F933DED7226D}" type="slidenum">
              <a:rPr lang="en-US" smtClean="0"/>
              <a:pPr>
                <a:spcAft>
                  <a:spcPts val="600"/>
                </a:spcAft>
              </a:pPr>
              <a:t>29</a:t>
            </a:fld>
            <a:endParaRPr lang="en-US"/>
          </a:p>
        </p:txBody>
      </p:sp>
      <p:sp>
        <p:nvSpPr>
          <p:cNvPr id="50" name="Rectangle 49">
            <a:extLst>
              <a:ext uri="{FF2B5EF4-FFF2-40B4-BE49-F238E27FC236}">
                <a16:creationId xmlns:a16="http://schemas.microsoft.com/office/drawing/2014/main" id="{285EE6CD-C61E-4F22-9787-1ADF1D3EB2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93126" y="699894"/>
            <a:ext cx="698873" cy="5466696"/>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chemeClr val="accent5"/>
              </a:solidFill>
              <a:effectLst/>
              <a:uFillTx/>
              <a:latin typeface="Helvetica Neue Medium"/>
              <a:ea typeface="Helvetica Neue Medium"/>
              <a:cs typeface="Helvetica Neue Medium"/>
              <a:sym typeface="Helvetica Neue Medium"/>
            </a:endParaRPr>
          </a:p>
        </p:txBody>
      </p:sp>
      <p:cxnSp>
        <p:nvCxnSpPr>
          <p:cNvPr id="52" name="Straight Connector 51">
            <a:extLst>
              <a:ext uri="{FF2B5EF4-FFF2-40B4-BE49-F238E27FC236}">
                <a16:creationId xmlns:a16="http://schemas.microsoft.com/office/drawing/2014/main" id="{D060C424-AE6E-4E63-BB6C-303952196E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3A5461B-0FE0-4F7B-B087-D898AA1536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2" name="Content Placeholder 5">
            <a:extLst>
              <a:ext uri="{FF2B5EF4-FFF2-40B4-BE49-F238E27FC236}">
                <a16:creationId xmlns:a16="http://schemas.microsoft.com/office/drawing/2014/main" id="{C4D1C9E3-4954-817B-56C7-0CCAEE7DA8C3}"/>
              </a:ext>
            </a:extLst>
          </p:cNvPr>
          <p:cNvGraphicFramePr>
            <a:graphicFrameLocks/>
          </p:cNvGraphicFramePr>
          <p:nvPr>
            <p:extLst>
              <p:ext uri="{D42A27DB-BD31-4B8C-83A1-F6EECF244321}">
                <p14:modId xmlns:p14="http://schemas.microsoft.com/office/powerpoint/2010/main" val="3907224940"/>
              </p:ext>
            </p:extLst>
          </p:nvPr>
        </p:nvGraphicFramePr>
        <p:xfrm>
          <a:off x="319314" y="1526194"/>
          <a:ext cx="11173818" cy="4387870"/>
        </p:xfrm>
        <a:graphic>
          <a:graphicData uri="http://schemas.openxmlformats.org/drawingml/2006/table">
            <a:tbl>
              <a:tblPr firstRow="1" bandRow="1">
                <a:noFill/>
                <a:tableStyleId>{F5AB1C69-6EDB-4FF4-983F-18BD219EF322}</a:tableStyleId>
              </a:tblPr>
              <a:tblGrid>
                <a:gridCol w="2648605">
                  <a:extLst>
                    <a:ext uri="{9D8B030D-6E8A-4147-A177-3AD203B41FA5}">
                      <a16:colId xmlns:a16="http://schemas.microsoft.com/office/drawing/2014/main" val="625461137"/>
                    </a:ext>
                  </a:extLst>
                </a:gridCol>
                <a:gridCol w="2316052">
                  <a:extLst>
                    <a:ext uri="{9D8B030D-6E8A-4147-A177-3AD203B41FA5}">
                      <a16:colId xmlns:a16="http://schemas.microsoft.com/office/drawing/2014/main" val="139335948"/>
                    </a:ext>
                  </a:extLst>
                </a:gridCol>
                <a:gridCol w="2477185">
                  <a:extLst>
                    <a:ext uri="{9D8B030D-6E8A-4147-A177-3AD203B41FA5}">
                      <a16:colId xmlns:a16="http://schemas.microsoft.com/office/drawing/2014/main" val="3989830210"/>
                    </a:ext>
                  </a:extLst>
                </a:gridCol>
                <a:gridCol w="3731976">
                  <a:extLst>
                    <a:ext uri="{9D8B030D-6E8A-4147-A177-3AD203B41FA5}">
                      <a16:colId xmlns:a16="http://schemas.microsoft.com/office/drawing/2014/main" val="543175637"/>
                    </a:ext>
                  </a:extLst>
                </a:gridCol>
              </a:tblGrid>
              <a:tr h="456708">
                <a:tc>
                  <a:txBody>
                    <a:bodyPr/>
                    <a:lstStyle/>
                    <a:p>
                      <a:pPr algn="ctr" fontAlgn="ctr">
                        <a:buNone/>
                      </a:pPr>
                      <a:r>
                        <a:rPr lang="en-US" sz="1800" b="1" u="none" strike="noStrike">
                          <a:solidFill>
                            <a:schemeClr val="tx1">
                              <a:lumMod val="75000"/>
                              <a:lumOff val="25000"/>
                            </a:schemeClr>
                          </a:solidFill>
                          <a:effectLst/>
                        </a:rPr>
                        <a:t>Indicator</a:t>
                      </a:r>
                      <a:endParaRPr lang="en-US" sz="1800" b="1"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ctr" fontAlgn="ctr">
                        <a:buNone/>
                      </a:pPr>
                      <a:r>
                        <a:rPr lang="en-US" sz="1800" b="1" u="none" strike="noStrike">
                          <a:solidFill>
                            <a:schemeClr val="tx1">
                              <a:lumMod val="75000"/>
                              <a:lumOff val="25000"/>
                            </a:schemeClr>
                          </a:solidFill>
                          <a:effectLst/>
                        </a:rPr>
                        <a:t>2015 Status</a:t>
                      </a:r>
                      <a:endParaRPr lang="en-US" sz="1800" b="1"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ctr" fontAlgn="ctr">
                        <a:buNone/>
                      </a:pPr>
                      <a:r>
                        <a:rPr lang="en-US" sz="1800" b="1" u="none" strike="noStrike">
                          <a:solidFill>
                            <a:schemeClr val="tx1">
                              <a:lumMod val="75000"/>
                              <a:lumOff val="25000"/>
                            </a:schemeClr>
                          </a:solidFill>
                          <a:effectLst/>
                        </a:rPr>
                        <a:t>2025 Estimate</a:t>
                      </a:r>
                      <a:endParaRPr lang="en-US" sz="1800" b="1"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ctr" fontAlgn="ctr">
                        <a:buNone/>
                      </a:pPr>
                      <a:r>
                        <a:rPr lang="en-US" sz="1800" b="1" u="none" strike="noStrike">
                          <a:solidFill>
                            <a:schemeClr val="tx1">
                              <a:lumMod val="75000"/>
                              <a:lumOff val="25000"/>
                            </a:schemeClr>
                          </a:solidFill>
                          <a:effectLst/>
                        </a:rPr>
                        <a:t>Remarks</a:t>
                      </a:r>
                      <a:endParaRPr lang="en-US" sz="1800" b="1"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12700" cmpd="sng">
                      <a:noFill/>
                      <a:prstDash val="solid"/>
                    </a:lnL>
                    <a:lnR w="12700" cmpd="sng">
                      <a:noFill/>
                      <a:prstDash val="solid"/>
                    </a:lnR>
                    <a:lnT w="12700" cmpd="sng">
                      <a:noFill/>
                      <a:prstDash val="solid"/>
                    </a:lnT>
                    <a:lnB w="9525" cap="flat" cmpd="sng" algn="ctr">
                      <a:solidFill>
                        <a:srgbClr val="D8DCDC"/>
                      </a:solidFill>
                      <a:prstDash val="solid"/>
                    </a:lnB>
                    <a:noFill/>
                  </a:tcPr>
                </a:tc>
                <a:extLst>
                  <a:ext uri="{0D108BD9-81ED-4DB2-BD59-A6C34878D82A}">
                    <a16:rowId xmlns:a16="http://schemas.microsoft.com/office/drawing/2014/main" val="1343930310"/>
                  </a:ext>
                </a:extLst>
              </a:tr>
              <a:tr h="921380">
                <a:tc>
                  <a:txBody>
                    <a:bodyPr/>
                    <a:lstStyle/>
                    <a:p>
                      <a:pPr algn="l" fontAlgn="ctr">
                        <a:buNone/>
                      </a:pPr>
                      <a:r>
                        <a:rPr lang="en-US" sz="1800" b="1" u="none" strike="noStrike">
                          <a:solidFill>
                            <a:schemeClr val="tx1">
                              <a:lumMod val="75000"/>
                              <a:lumOff val="25000"/>
                            </a:schemeClr>
                          </a:solidFill>
                          <a:effectLst/>
                        </a:rPr>
                        <a:t>Safe Water Access</a:t>
                      </a:r>
                      <a:endParaRPr lang="en-US" sz="1800" b="1"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l" fontAlgn="ctr">
                        <a:buNone/>
                      </a:pPr>
                      <a:r>
                        <a:rPr lang="en-US" sz="1800" u="none" strike="noStrike" dirty="0">
                          <a:solidFill>
                            <a:schemeClr val="tx1">
                              <a:lumMod val="75000"/>
                              <a:lumOff val="25000"/>
                            </a:schemeClr>
                          </a:solidFill>
                          <a:effectLst/>
                        </a:rPr>
                        <a:t>Urban: 97%</a:t>
                      </a:r>
                    </a:p>
                    <a:p>
                      <a:pPr algn="l" fontAlgn="ctr">
                        <a:buNone/>
                      </a:pPr>
                      <a:r>
                        <a:rPr lang="en-US" sz="1800" u="none" strike="noStrike" dirty="0">
                          <a:solidFill>
                            <a:schemeClr val="tx1">
                              <a:lumMod val="75000"/>
                              <a:lumOff val="25000"/>
                            </a:schemeClr>
                          </a:solidFill>
                          <a:effectLst/>
                        </a:rPr>
                        <a:t>Rural: 93%</a:t>
                      </a:r>
                      <a:endParaRPr lang="en-US" sz="1800" b="0" i="0" u="none" strike="noStrike" dirty="0">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l" fontAlgn="ctr">
                        <a:buNone/>
                      </a:pPr>
                      <a:r>
                        <a:rPr lang="en-US" sz="1800" u="none" strike="noStrike" dirty="0">
                          <a:solidFill>
                            <a:schemeClr val="tx1">
                              <a:lumMod val="75000"/>
                              <a:lumOff val="25000"/>
                            </a:schemeClr>
                          </a:solidFill>
                          <a:effectLst/>
                        </a:rPr>
                        <a:t>Urban: ~99%</a:t>
                      </a:r>
                    </a:p>
                    <a:p>
                      <a:pPr algn="l" fontAlgn="ctr">
                        <a:buNone/>
                      </a:pPr>
                      <a:r>
                        <a:rPr lang="en-US" sz="1800" u="none" strike="noStrike" dirty="0">
                          <a:solidFill>
                            <a:schemeClr val="tx1">
                              <a:lumMod val="75000"/>
                              <a:lumOff val="25000"/>
                            </a:schemeClr>
                          </a:solidFill>
                          <a:effectLst/>
                        </a:rPr>
                        <a:t>Rural: ~95%</a:t>
                      </a:r>
                      <a:endParaRPr lang="en-US" sz="1800" b="0" i="0" u="none" strike="noStrike" dirty="0">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l" fontAlgn="ctr">
                        <a:buNone/>
                      </a:pPr>
                      <a:r>
                        <a:rPr lang="en-US" sz="1800" u="none" strike="noStrike">
                          <a:solidFill>
                            <a:schemeClr val="tx1">
                              <a:lumMod val="75000"/>
                              <a:lumOff val="25000"/>
                            </a:schemeClr>
                          </a:solidFill>
                          <a:effectLst/>
                        </a:rPr>
                        <a:t>Boosted by Jal Jeevan Mission &amp; SBM Phase II</a:t>
                      </a:r>
                      <a:endParaRPr lang="en-US" sz="1800" b="0"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372158781"/>
                  </a:ext>
                </a:extLst>
              </a:tr>
              <a:tr h="921380">
                <a:tc>
                  <a:txBody>
                    <a:bodyPr/>
                    <a:lstStyle/>
                    <a:p>
                      <a:pPr algn="l" fontAlgn="ctr">
                        <a:buNone/>
                      </a:pPr>
                      <a:r>
                        <a:rPr lang="en-US" sz="1800" b="1" u="none" strike="noStrike">
                          <a:solidFill>
                            <a:schemeClr val="tx1">
                              <a:lumMod val="75000"/>
                              <a:lumOff val="25000"/>
                            </a:schemeClr>
                          </a:solidFill>
                          <a:effectLst/>
                        </a:rPr>
                        <a:t>Waste Disposal Facilities</a:t>
                      </a:r>
                      <a:endParaRPr lang="en-US" sz="1800" b="1"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l" fontAlgn="ctr">
                        <a:buNone/>
                      </a:pPr>
                      <a:r>
                        <a:rPr lang="en-US" sz="1800" u="none" strike="noStrike" dirty="0">
                          <a:solidFill>
                            <a:schemeClr val="tx1">
                              <a:lumMod val="75000"/>
                              <a:lumOff val="25000"/>
                            </a:schemeClr>
                          </a:solidFill>
                          <a:effectLst/>
                        </a:rPr>
                        <a:t>Urban: 63%</a:t>
                      </a:r>
                    </a:p>
                    <a:p>
                      <a:pPr algn="l" fontAlgn="ctr">
                        <a:buNone/>
                      </a:pPr>
                      <a:r>
                        <a:rPr lang="en-US" sz="1800" u="none" strike="noStrike" dirty="0">
                          <a:solidFill>
                            <a:schemeClr val="tx1">
                              <a:lumMod val="75000"/>
                              <a:lumOff val="25000"/>
                            </a:schemeClr>
                          </a:solidFill>
                          <a:effectLst/>
                        </a:rPr>
                        <a:t>Rural: 28%</a:t>
                      </a:r>
                      <a:endParaRPr lang="en-US" sz="1800" b="0" i="0" u="none" strike="noStrike" dirty="0">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l" fontAlgn="ctr">
                        <a:buNone/>
                      </a:pPr>
                      <a:r>
                        <a:rPr lang="en-US" sz="1800" u="none" strike="noStrike" dirty="0">
                          <a:solidFill>
                            <a:schemeClr val="tx1">
                              <a:lumMod val="75000"/>
                              <a:lumOff val="25000"/>
                            </a:schemeClr>
                          </a:solidFill>
                          <a:effectLst/>
                        </a:rPr>
                        <a:t>Urban: ~80%</a:t>
                      </a:r>
                    </a:p>
                    <a:p>
                      <a:pPr algn="l" fontAlgn="ctr">
                        <a:buNone/>
                      </a:pPr>
                      <a:r>
                        <a:rPr lang="en-US" sz="1800" u="none" strike="noStrike" dirty="0">
                          <a:solidFill>
                            <a:schemeClr val="tx1">
                              <a:lumMod val="75000"/>
                              <a:lumOff val="25000"/>
                            </a:schemeClr>
                          </a:solidFill>
                          <a:effectLst/>
                        </a:rPr>
                        <a:t>Rural: ~55%</a:t>
                      </a:r>
                      <a:endParaRPr lang="en-US" sz="1800" b="0" i="0" u="none" strike="noStrike" dirty="0">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l" fontAlgn="ctr">
                        <a:buNone/>
                      </a:pPr>
                      <a:r>
                        <a:rPr lang="en-US" sz="1800" u="none" strike="noStrike">
                          <a:solidFill>
                            <a:schemeClr val="tx1">
                              <a:lumMod val="75000"/>
                              <a:lumOff val="25000"/>
                            </a:schemeClr>
                          </a:solidFill>
                          <a:effectLst/>
                        </a:rPr>
                        <a:t>Solid/liquid waste management initiatives</a:t>
                      </a:r>
                      <a:endParaRPr lang="en-US" sz="1800" b="0"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3951642422"/>
                  </a:ext>
                </a:extLst>
              </a:tr>
              <a:tr h="689045">
                <a:tc>
                  <a:txBody>
                    <a:bodyPr/>
                    <a:lstStyle/>
                    <a:p>
                      <a:pPr algn="l" fontAlgn="ctr">
                        <a:buNone/>
                      </a:pPr>
                      <a:r>
                        <a:rPr lang="en-US" sz="1800" b="1" u="none" strike="noStrike">
                          <a:solidFill>
                            <a:schemeClr val="tx1">
                              <a:lumMod val="75000"/>
                              <a:lumOff val="25000"/>
                            </a:schemeClr>
                          </a:solidFill>
                          <a:effectLst/>
                        </a:rPr>
                        <a:t>Open Defecation Reduction</a:t>
                      </a:r>
                      <a:endParaRPr lang="en-US" sz="1800" b="1"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l" fontAlgn="ctr">
                        <a:buNone/>
                      </a:pPr>
                      <a:r>
                        <a:rPr lang="en-US" sz="1800" u="none" strike="noStrike">
                          <a:solidFill>
                            <a:schemeClr val="tx1">
                              <a:lumMod val="75000"/>
                              <a:lumOff val="25000"/>
                            </a:schemeClr>
                          </a:solidFill>
                          <a:effectLst/>
                        </a:rPr>
                        <a:t>N/A</a:t>
                      </a:r>
                      <a:endParaRPr lang="en-US" sz="1800" b="0"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l" fontAlgn="ctr">
                        <a:buNone/>
                      </a:pPr>
                      <a:r>
                        <a:rPr lang="en-US" sz="1800" u="none" strike="noStrike">
                          <a:solidFill>
                            <a:schemeClr val="tx1">
                              <a:lumMod val="75000"/>
                              <a:lumOff val="25000"/>
                            </a:schemeClr>
                          </a:solidFill>
                          <a:effectLst/>
                        </a:rPr>
                        <a:t>~450 million people ↓</a:t>
                      </a:r>
                      <a:endParaRPr lang="en-US" sz="1800" b="0"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l" fontAlgn="ctr">
                        <a:buNone/>
                      </a:pPr>
                      <a:r>
                        <a:rPr lang="en-US" sz="1800" u="none" strike="noStrike">
                          <a:solidFill>
                            <a:schemeClr val="tx1">
                              <a:lumMod val="75000"/>
                              <a:lumOff val="25000"/>
                            </a:schemeClr>
                          </a:solidFill>
                          <a:effectLst/>
                        </a:rPr>
                        <a:t>Most districts declared ODF by 2019</a:t>
                      </a:r>
                      <a:endParaRPr lang="en-US" sz="1800" b="0"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4072188486"/>
                  </a:ext>
                </a:extLst>
              </a:tr>
              <a:tr h="689045">
                <a:tc>
                  <a:txBody>
                    <a:bodyPr/>
                    <a:lstStyle/>
                    <a:p>
                      <a:pPr algn="l" fontAlgn="ctr">
                        <a:buNone/>
                      </a:pPr>
                      <a:r>
                        <a:rPr lang="en-US" sz="1800" b="1" u="none" strike="noStrike">
                          <a:solidFill>
                            <a:schemeClr val="tx1">
                              <a:lumMod val="75000"/>
                              <a:lumOff val="25000"/>
                            </a:schemeClr>
                          </a:solidFill>
                          <a:effectLst/>
                        </a:rPr>
                        <a:t>Safely Managed Drinking Water</a:t>
                      </a:r>
                      <a:endParaRPr lang="en-US" sz="1800" b="1"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l" fontAlgn="ctr">
                        <a:buNone/>
                      </a:pPr>
                      <a:r>
                        <a:rPr lang="en-US" sz="1800" u="none" strike="noStrike">
                          <a:solidFill>
                            <a:schemeClr val="tx1">
                              <a:lumMod val="75000"/>
                              <a:lumOff val="25000"/>
                            </a:schemeClr>
                          </a:solidFill>
                          <a:effectLst/>
                        </a:rPr>
                        <a:t>N/A</a:t>
                      </a:r>
                      <a:endParaRPr lang="en-US" sz="1800" b="0"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l" fontAlgn="ctr">
                        <a:buNone/>
                      </a:pPr>
                      <a:r>
                        <a:rPr lang="en-US" sz="1800" u="none" strike="noStrike">
                          <a:solidFill>
                            <a:schemeClr val="tx1">
                              <a:lumMod val="75000"/>
                              <a:lumOff val="25000"/>
                            </a:schemeClr>
                          </a:solidFill>
                          <a:effectLst/>
                        </a:rPr>
                        <a:t>&lt;50% coverage</a:t>
                      </a:r>
                      <a:endParaRPr lang="en-US" sz="1800" b="0"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l" fontAlgn="ctr">
                        <a:buNone/>
                      </a:pPr>
                      <a:r>
                        <a:rPr lang="en-US" sz="1800" u="none" strike="noStrike">
                          <a:solidFill>
                            <a:schemeClr val="tx1">
                              <a:lumMod val="75000"/>
                              <a:lumOff val="25000"/>
                            </a:schemeClr>
                          </a:solidFill>
                          <a:effectLst/>
                        </a:rPr>
                        <a:t>Major gaps in chemical safety (fluoride, arsenic)</a:t>
                      </a:r>
                      <a:endParaRPr lang="en-US" sz="1800" b="0"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969973748"/>
                  </a:ext>
                </a:extLst>
              </a:tr>
              <a:tr h="689045">
                <a:tc>
                  <a:txBody>
                    <a:bodyPr/>
                    <a:lstStyle/>
                    <a:p>
                      <a:pPr algn="l" fontAlgn="ctr">
                        <a:buNone/>
                      </a:pPr>
                      <a:r>
                        <a:rPr lang="en-US" sz="1800" b="1" u="none" strike="noStrike">
                          <a:solidFill>
                            <a:schemeClr val="tx1">
                              <a:lumMod val="75000"/>
                              <a:lumOff val="25000"/>
                            </a:schemeClr>
                          </a:solidFill>
                          <a:effectLst/>
                        </a:rPr>
                        <a:t>Water Scarcity</a:t>
                      </a:r>
                      <a:endParaRPr lang="en-US" sz="1800" b="1"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l" fontAlgn="ctr">
                        <a:buNone/>
                      </a:pPr>
                      <a:r>
                        <a:rPr lang="en-US" sz="1800" u="none" strike="noStrike">
                          <a:solidFill>
                            <a:schemeClr val="tx1">
                              <a:lumMod val="75000"/>
                              <a:lumOff val="25000"/>
                            </a:schemeClr>
                          </a:solidFill>
                          <a:effectLst/>
                        </a:rPr>
                        <a:t>N/A</a:t>
                      </a:r>
                      <a:endParaRPr lang="en-US" sz="1800" b="0"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l" fontAlgn="ctr">
                        <a:buNone/>
                      </a:pPr>
                      <a:r>
                        <a:rPr lang="en-US" sz="1800" u="none" strike="noStrike">
                          <a:solidFill>
                            <a:schemeClr val="tx1">
                              <a:lumMod val="75000"/>
                              <a:lumOff val="25000"/>
                            </a:schemeClr>
                          </a:solidFill>
                          <a:effectLst/>
                        </a:rPr>
                        <a:t>2/3 districts affected</a:t>
                      </a:r>
                      <a:endParaRPr lang="en-US" sz="1800" b="0" i="0" u="none" strike="noStrike">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l" fontAlgn="ctr">
                        <a:buNone/>
                      </a:pPr>
                      <a:r>
                        <a:rPr lang="en-US" sz="1800" u="none" strike="noStrike" dirty="0">
                          <a:solidFill>
                            <a:schemeClr val="tx1">
                              <a:lumMod val="75000"/>
                              <a:lumOff val="25000"/>
                            </a:schemeClr>
                          </a:solidFill>
                          <a:effectLst/>
                        </a:rPr>
                        <a:t>Groundwater depletion is a critical concern</a:t>
                      </a:r>
                      <a:endParaRPr lang="en-US" sz="1800" b="0" i="0" u="none" strike="noStrike" dirty="0">
                        <a:solidFill>
                          <a:schemeClr val="tx1">
                            <a:lumMod val="75000"/>
                            <a:lumOff val="25000"/>
                          </a:schemeClr>
                        </a:solidFill>
                        <a:effectLst/>
                        <a:latin typeface="Aptos Narrow" panose="020B0004020202020204" pitchFamily="34" charset="0"/>
                      </a:endParaRPr>
                    </a:p>
                  </a:txBody>
                  <a:tcPr marL="147494" marR="7793" marT="73747" marB="73747"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101480825"/>
                  </a:ext>
                </a:extLst>
              </a:tr>
            </a:tbl>
          </a:graphicData>
        </a:graphic>
      </p:graphicFrame>
    </p:spTree>
    <p:extLst>
      <p:ext uri="{BB962C8B-B14F-4D97-AF65-F5344CB8AC3E}">
        <p14:creationId xmlns:p14="http://schemas.microsoft.com/office/powerpoint/2010/main" val="3815317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8F3352-1B7A-2AF8-CE2B-36599D5E6C35}"/>
              </a:ext>
            </a:extLst>
          </p:cNvPr>
          <p:cNvSpPr>
            <a:spLocks noGrp="1"/>
          </p:cNvSpPr>
          <p:nvPr>
            <p:ph type="title"/>
          </p:nvPr>
        </p:nvSpPr>
        <p:spPr>
          <a:xfrm>
            <a:off x="422401" y="603503"/>
            <a:ext cx="10851735" cy="1739267"/>
          </a:xfrm>
        </p:spPr>
        <p:txBody>
          <a:bodyPr anchor="t">
            <a:normAutofit/>
          </a:bodyPr>
          <a:lstStyle/>
          <a:p>
            <a:r>
              <a:rPr lang="en-US" dirty="0"/>
              <a:t>Medical care problems</a:t>
            </a:r>
          </a:p>
        </p:txBody>
      </p:sp>
      <p:sp>
        <p:nvSpPr>
          <p:cNvPr id="4" name="Slide Number Placeholder 3">
            <a:extLst>
              <a:ext uri="{FF2B5EF4-FFF2-40B4-BE49-F238E27FC236}">
                <a16:creationId xmlns:a16="http://schemas.microsoft.com/office/drawing/2014/main" id="{69C1EBD2-AFD7-C83E-926E-D7577E3D6ABC}"/>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30</a:t>
            </a:fld>
            <a:endParaRPr lang="en-US"/>
          </a:p>
        </p:txBody>
      </p:sp>
      <p:cxnSp>
        <p:nvCxnSpPr>
          <p:cNvPr id="16"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9B888FEA-1557-4DD3-F69C-0C1DE54A1A99}"/>
              </a:ext>
            </a:extLst>
          </p:cNvPr>
          <p:cNvGraphicFramePr>
            <a:graphicFrameLocks noGrp="1"/>
          </p:cNvGraphicFramePr>
          <p:nvPr>
            <p:ph idx="1"/>
            <p:extLst>
              <p:ext uri="{D42A27DB-BD31-4B8C-83A1-F6EECF244321}">
                <p14:modId xmlns:p14="http://schemas.microsoft.com/office/powerpoint/2010/main" val="1785429744"/>
              </p:ext>
            </p:extLst>
          </p:nvPr>
        </p:nvGraphicFramePr>
        <p:xfrm>
          <a:off x="1948329" y="2515751"/>
          <a:ext cx="8716504" cy="3231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4555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5DAC1-2FC7-E749-2493-26D444908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94369B-BA70-A7F0-B2C8-B2B894152AD2}"/>
              </a:ext>
            </a:extLst>
          </p:cNvPr>
          <p:cNvSpPr>
            <a:spLocks noGrp="1"/>
          </p:cNvSpPr>
          <p:nvPr>
            <p:ph type="title"/>
          </p:nvPr>
        </p:nvSpPr>
        <p:spPr/>
        <p:txBody>
          <a:bodyPr>
            <a:normAutofit/>
          </a:bodyPr>
          <a:lstStyle/>
          <a:p>
            <a:r>
              <a:rPr lang="en-US" dirty="0"/>
              <a:t>Medical care problems </a:t>
            </a:r>
            <a:br>
              <a:rPr lang="en-US" dirty="0"/>
            </a:br>
            <a:r>
              <a:rPr lang="en-US" sz="2800" b="1" dirty="0"/>
              <a:t>Urban–Rural Imbalance &amp; Resource Distribution</a:t>
            </a:r>
            <a:endParaRPr lang="en-US" dirty="0"/>
          </a:p>
        </p:txBody>
      </p:sp>
      <p:sp>
        <p:nvSpPr>
          <p:cNvPr id="5" name="Text Placeholder 4">
            <a:extLst>
              <a:ext uri="{FF2B5EF4-FFF2-40B4-BE49-F238E27FC236}">
                <a16:creationId xmlns:a16="http://schemas.microsoft.com/office/drawing/2014/main" id="{8D5E0566-BC95-B8FE-97BA-083577C52C9B}"/>
              </a:ext>
            </a:extLst>
          </p:cNvPr>
          <p:cNvSpPr>
            <a:spLocks noGrp="1"/>
          </p:cNvSpPr>
          <p:nvPr>
            <p:ph type="body" idx="1"/>
          </p:nvPr>
        </p:nvSpPr>
        <p:spPr/>
        <p:txBody>
          <a:bodyPr/>
          <a:lstStyle/>
          <a:p>
            <a:r>
              <a:rPr lang="en-US" b="1" dirty="0"/>
              <a:t>Urban Issues:</a:t>
            </a:r>
            <a:endParaRPr lang="en-US" dirty="0"/>
          </a:p>
        </p:txBody>
      </p:sp>
      <p:sp>
        <p:nvSpPr>
          <p:cNvPr id="3" name="Content Placeholder 2">
            <a:extLst>
              <a:ext uri="{FF2B5EF4-FFF2-40B4-BE49-F238E27FC236}">
                <a16:creationId xmlns:a16="http://schemas.microsoft.com/office/drawing/2014/main" id="{B5D9CFEB-9C22-B16F-364E-F0778ED35EB9}"/>
              </a:ext>
            </a:extLst>
          </p:cNvPr>
          <p:cNvSpPr>
            <a:spLocks noGrp="1"/>
          </p:cNvSpPr>
          <p:nvPr>
            <p:ph sz="half" idx="2"/>
          </p:nvPr>
        </p:nvSpPr>
        <p:spPr/>
        <p:txBody>
          <a:bodyPr>
            <a:normAutofit/>
          </a:bodyPr>
          <a:lstStyle/>
          <a:p>
            <a:pPr lvl="1"/>
            <a:r>
              <a:rPr lang="en-US" b="1" dirty="0"/>
              <a:t>Uneven doctor distribution</a:t>
            </a:r>
            <a:r>
              <a:rPr lang="en-US" dirty="0"/>
              <a:t>, especially in cities.</a:t>
            </a:r>
          </a:p>
          <a:p>
            <a:pPr lvl="1"/>
            <a:r>
              <a:rPr lang="en-US" b="1" dirty="0"/>
              <a:t>In-migration from rural areas</a:t>
            </a:r>
            <a:r>
              <a:rPr lang="en-US" dirty="0"/>
              <a:t> worsens urban congestion.</a:t>
            </a:r>
          </a:p>
          <a:p>
            <a:pPr lvl="1"/>
            <a:r>
              <a:rPr lang="en-US" dirty="0"/>
              <a:t>Overcrowded hospitals, inadequate staff, frequent </a:t>
            </a:r>
            <a:r>
              <a:rPr lang="en-US" b="1" dirty="0"/>
              <a:t>drug shortages</a:t>
            </a:r>
            <a:r>
              <a:rPr lang="en-US" dirty="0"/>
              <a:t>.</a:t>
            </a:r>
          </a:p>
        </p:txBody>
      </p:sp>
      <p:sp>
        <p:nvSpPr>
          <p:cNvPr id="6" name="Text Placeholder 5">
            <a:extLst>
              <a:ext uri="{FF2B5EF4-FFF2-40B4-BE49-F238E27FC236}">
                <a16:creationId xmlns:a16="http://schemas.microsoft.com/office/drawing/2014/main" id="{0B80B142-33A8-3E64-6D50-E74E25EEB983}"/>
              </a:ext>
            </a:extLst>
          </p:cNvPr>
          <p:cNvSpPr>
            <a:spLocks noGrp="1"/>
          </p:cNvSpPr>
          <p:nvPr>
            <p:ph type="body" sz="quarter" idx="3"/>
          </p:nvPr>
        </p:nvSpPr>
        <p:spPr>
          <a:xfrm>
            <a:off x="5754590" y="1690687"/>
            <a:ext cx="5183188" cy="814387"/>
          </a:xfrm>
        </p:spPr>
        <p:txBody>
          <a:bodyPr/>
          <a:lstStyle/>
          <a:p>
            <a:r>
              <a:rPr lang="en-US" b="1" dirty="0"/>
              <a:t>Rural Challenges:</a:t>
            </a:r>
            <a:endParaRPr lang="en-US" dirty="0"/>
          </a:p>
        </p:txBody>
      </p:sp>
      <p:sp>
        <p:nvSpPr>
          <p:cNvPr id="7" name="Content Placeholder 6">
            <a:extLst>
              <a:ext uri="{FF2B5EF4-FFF2-40B4-BE49-F238E27FC236}">
                <a16:creationId xmlns:a16="http://schemas.microsoft.com/office/drawing/2014/main" id="{DCB57AE0-33E3-B4F9-2F5B-FAA7509AB8AE}"/>
              </a:ext>
            </a:extLst>
          </p:cNvPr>
          <p:cNvSpPr>
            <a:spLocks noGrp="1"/>
          </p:cNvSpPr>
          <p:nvPr>
            <p:ph sz="quarter" idx="4"/>
          </p:nvPr>
        </p:nvSpPr>
        <p:spPr/>
        <p:txBody>
          <a:bodyPr>
            <a:normAutofit/>
          </a:bodyPr>
          <a:lstStyle/>
          <a:p>
            <a:pPr lvl="1"/>
            <a:r>
              <a:rPr lang="en-US" b="1" dirty="0"/>
              <a:t>72% of India’s population lives in rural areas</a:t>
            </a:r>
            <a:r>
              <a:rPr lang="en-US" dirty="0"/>
              <a:t>, yet lacks access to modern healthcare.</a:t>
            </a:r>
          </a:p>
          <a:p>
            <a:pPr lvl="1"/>
            <a:r>
              <a:rPr lang="en-US" dirty="0"/>
              <a:t>Limited penetration of </a:t>
            </a:r>
            <a:r>
              <a:rPr lang="en-US" b="1" dirty="0"/>
              <a:t>curative and preventive services</a:t>
            </a:r>
            <a:r>
              <a:rPr lang="en-US" dirty="0"/>
              <a:t>.</a:t>
            </a:r>
          </a:p>
          <a:p>
            <a:pPr lvl="1"/>
            <a:r>
              <a:rPr lang="en-US" dirty="0"/>
              <a:t>Heavy reliance on </a:t>
            </a:r>
            <a:r>
              <a:rPr lang="en-US" b="1" dirty="0"/>
              <a:t>indigenous systems of medicine</a:t>
            </a:r>
            <a:r>
              <a:rPr lang="en-US" dirty="0"/>
              <a:t> (Ayurveda, Unani, etc.).</a:t>
            </a:r>
          </a:p>
          <a:p>
            <a:endParaRPr lang="en-US" dirty="0"/>
          </a:p>
        </p:txBody>
      </p:sp>
      <p:sp>
        <p:nvSpPr>
          <p:cNvPr id="4" name="Slide Number Placeholder 3">
            <a:extLst>
              <a:ext uri="{FF2B5EF4-FFF2-40B4-BE49-F238E27FC236}">
                <a16:creationId xmlns:a16="http://schemas.microsoft.com/office/drawing/2014/main" id="{8D2B3401-60A0-DDD8-5E59-FF3CFE8FBA64}"/>
              </a:ext>
            </a:extLst>
          </p:cNvPr>
          <p:cNvSpPr>
            <a:spLocks noGrp="1"/>
          </p:cNvSpPr>
          <p:nvPr>
            <p:ph type="sldNum" sz="quarter" idx="12"/>
          </p:nvPr>
        </p:nvSpPr>
        <p:spPr/>
        <p:txBody>
          <a:bodyPr/>
          <a:lstStyle/>
          <a:p>
            <a:fld id="{3A4F6043-7A67-491B-98BC-F933DED7226D}" type="slidenum">
              <a:rPr lang="en-US" smtClean="0"/>
              <a:pPr/>
              <a:t>31</a:t>
            </a:fld>
            <a:endParaRPr lang="en-US" dirty="0"/>
          </a:p>
        </p:txBody>
      </p:sp>
    </p:spTree>
    <p:extLst>
      <p:ext uri="{BB962C8B-B14F-4D97-AF65-F5344CB8AC3E}">
        <p14:creationId xmlns:p14="http://schemas.microsoft.com/office/powerpoint/2010/main" val="34860773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6B63AE-92EC-EEDB-3612-7559FD425B84}"/>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CE68C35-0307-4DBB-9BB2-51A0BC80F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Background Gray Rectangle">
            <a:extLst>
              <a:ext uri="{FF2B5EF4-FFF2-40B4-BE49-F238E27FC236}">
                <a16:creationId xmlns:a16="http://schemas.microsoft.com/office/drawing/2014/main" id="{B4461734-7A1F-4C43-9DD1-82961A9BC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White Rectangle">
            <a:extLst>
              <a:ext uri="{FF2B5EF4-FFF2-40B4-BE49-F238E27FC236}">
                <a16:creationId xmlns:a16="http://schemas.microsoft.com/office/drawing/2014/main" id="{F76B182E-353C-4F09-98E3-D0D9D09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8F73A-9F81-C998-EDEC-18B320C26AC9}"/>
              </a:ext>
            </a:extLst>
          </p:cNvPr>
          <p:cNvSpPr>
            <a:spLocks noGrp="1"/>
          </p:cNvSpPr>
          <p:nvPr>
            <p:ph type="title"/>
          </p:nvPr>
        </p:nvSpPr>
        <p:spPr>
          <a:xfrm>
            <a:off x="422401" y="603503"/>
            <a:ext cx="10851735" cy="1739267"/>
          </a:xfrm>
        </p:spPr>
        <p:txBody>
          <a:bodyPr anchor="t">
            <a:normAutofit/>
          </a:bodyPr>
          <a:lstStyle/>
          <a:p>
            <a:r>
              <a:rPr lang="en-US" dirty="0"/>
              <a:t>Medical care problems </a:t>
            </a:r>
            <a:br>
              <a:rPr lang="en-US" dirty="0"/>
            </a:br>
            <a:endParaRPr lang="en-US" dirty="0"/>
          </a:p>
        </p:txBody>
      </p:sp>
      <p:sp>
        <p:nvSpPr>
          <p:cNvPr id="4" name="Slide Number Placeholder 3">
            <a:extLst>
              <a:ext uri="{FF2B5EF4-FFF2-40B4-BE49-F238E27FC236}">
                <a16:creationId xmlns:a16="http://schemas.microsoft.com/office/drawing/2014/main" id="{1EB05CE4-2987-4475-E2A2-0229E406288A}"/>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32</a:t>
            </a:fld>
            <a:endParaRPr lang="en-US"/>
          </a:p>
        </p:txBody>
      </p:sp>
      <p:cxnSp>
        <p:nvCxnSpPr>
          <p:cNvPr id="35" name="Vertical Connector">
            <a:extLst>
              <a:ext uri="{FF2B5EF4-FFF2-40B4-BE49-F238E27FC236}">
                <a16:creationId xmlns:a16="http://schemas.microsoft.com/office/drawing/2014/main" id="{A32DD4E3-F3A5-479E-9FC8-93181F7ABF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7" name="Horizontal Connector 2">
            <a:extLst>
              <a:ext uri="{FF2B5EF4-FFF2-40B4-BE49-F238E27FC236}">
                <a16:creationId xmlns:a16="http://schemas.microsoft.com/office/drawing/2014/main" id="{A5C97BEA-9A67-4872-9526-42EECD54C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7">
            <a:extLst>
              <a:ext uri="{FF2B5EF4-FFF2-40B4-BE49-F238E27FC236}">
                <a16:creationId xmlns:a16="http://schemas.microsoft.com/office/drawing/2014/main" id="{5FA559ED-2699-6E33-26C3-14C05B46053D}"/>
              </a:ext>
            </a:extLst>
          </p:cNvPr>
          <p:cNvGraphicFramePr>
            <a:graphicFrameLocks noGrp="1"/>
          </p:cNvGraphicFramePr>
          <p:nvPr>
            <p:ph idx="1"/>
            <p:extLst>
              <p:ext uri="{D42A27DB-BD31-4B8C-83A1-F6EECF244321}">
                <p14:modId xmlns:p14="http://schemas.microsoft.com/office/powerpoint/2010/main" val="627088118"/>
              </p:ext>
            </p:extLst>
          </p:nvPr>
        </p:nvGraphicFramePr>
        <p:xfrm>
          <a:off x="420876" y="1378862"/>
          <a:ext cx="11066813" cy="4807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153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DE6D3A-A0E2-6293-467F-7CF7C253850C}"/>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FAEE5CA-7C4D-BB43-6F46-48953E419E25}"/>
              </a:ext>
            </a:extLst>
          </p:cNvPr>
          <p:cNvSpPr>
            <a:spLocks noGrp="1"/>
          </p:cNvSpPr>
          <p:nvPr>
            <p:ph type="sldNum" sz="quarter" idx="12"/>
          </p:nvPr>
        </p:nvSpPr>
        <p:spPr>
          <a:xfrm>
            <a:off x="11504676" y="-14198"/>
            <a:ext cx="685800" cy="685800"/>
          </a:xfrm>
        </p:spPr>
        <p:txBody>
          <a:bodyPr>
            <a:normAutofit/>
          </a:bodyPr>
          <a:lstStyle/>
          <a:p>
            <a:pPr>
              <a:spcAft>
                <a:spcPts val="600"/>
              </a:spcAft>
            </a:pPr>
            <a:fld id="{3A4F6043-7A67-491B-98BC-F933DED7226D}" type="slidenum">
              <a:rPr lang="en-US" smtClean="0"/>
              <a:pPr>
                <a:spcAft>
                  <a:spcPts val="600"/>
                </a:spcAft>
              </a:pPr>
              <a:t>33</a:t>
            </a:fld>
            <a:endParaRPr lang="en-US"/>
          </a:p>
        </p:txBody>
      </p:sp>
      <p:cxnSp>
        <p:nvCxnSpPr>
          <p:cNvPr id="20"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2"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0" name="Content Placeholder 7">
            <a:extLst>
              <a:ext uri="{FF2B5EF4-FFF2-40B4-BE49-F238E27FC236}">
                <a16:creationId xmlns:a16="http://schemas.microsoft.com/office/drawing/2014/main" id="{299CC18A-29D7-0287-D8A7-FF1EC6172CC3}"/>
              </a:ext>
            </a:extLst>
          </p:cNvPr>
          <p:cNvGraphicFramePr>
            <a:graphicFrameLocks noGrp="1"/>
          </p:cNvGraphicFramePr>
          <p:nvPr>
            <p:ph idx="1"/>
            <p:extLst>
              <p:ext uri="{D42A27DB-BD31-4B8C-83A1-F6EECF244321}">
                <p14:modId xmlns:p14="http://schemas.microsoft.com/office/powerpoint/2010/main" val="43401968"/>
              </p:ext>
            </p:extLst>
          </p:nvPr>
        </p:nvGraphicFramePr>
        <p:xfrm>
          <a:off x="780512" y="218038"/>
          <a:ext cx="11067064" cy="59541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2C6EFD3C-92DB-ED4A-F07B-701964F9C4CF}"/>
              </a:ext>
            </a:extLst>
          </p:cNvPr>
          <p:cNvSpPr>
            <a:spLocks noGrp="1"/>
          </p:cNvSpPr>
          <p:nvPr>
            <p:ph type="title"/>
          </p:nvPr>
        </p:nvSpPr>
        <p:spPr>
          <a:xfrm>
            <a:off x="6818376" y="328702"/>
            <a:ext cx="4471588" cy="1313299"/>
          </a:xfrm>
        </p:spPr>
        <p:txBody>
          <a:bodyPr>
            <a:normAutofit fontScale="90000"/>
          </a:bodyPr>
          <a:lstStyle/>
          <a:p>
            <a:r>
              <a:rPr lang="en-US" dirty="0"/>
              <a:t>Population Problems</a:t>
            </a:r>
            <a:br>
              <a:rPr lang="en-US" dirty="0"/>
            </a:br>
            <a:endParaRPr lang="en-US" dirty="0"/>
          </a:p>
        </p:txBody>
      </p:sp>
    </p:spTree>
    <p:extLst>
      <p:ext uri="{BB962C8B-B14F-4D97-AF65-F5344CB8AC3E}">
        <p14:creationId xmlns:p14="http://schemas.microsoft.com/office/powerpoint/2010/main" val="42217107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0BCE8-413D-E648-7D61-9014EECE40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23C9C-1C2F-7DC8-1A7A-95B132F296C6}"/>
              </a:ext>
            </a:extLst>
          </p:cNvPr>
          <p:cNvSpPr>
            <a:spLocks noGrp="1"/>
          </p:cNvSpPr>
          <p:nvPr>
            <p:ph type="title"/>
          </p:nvPr>
        </p:nvSpPr>
        <p:spPr/>
        <p:txBody>
          <a:bodyPr>
            <a:normAutofit fontScale="90000"/>
          </a:bodyPr>
          <a:lstStyle/>
          <a:p>
            <a:r>
              <a:rPr lang="en-US"/>
              <a:t>Population Problems</a:t>
            </a:r>
            <a:br>
              <a:rPr lang="en-US"/>
            </a:br>
            <a:r>
              <a:rPr lang="en-US" sz="3100" b="1"/>
              <a:t>Growth Rate, Government Strategy &amp; Way Forward</a:t>
            </a:r>
            <a:br>
              <a:rPr lang="en-US"/>
            </a:br>
            <a:endParaRPr lang="en-US" dirty="0"/>
          </a:p>
        </p:txBody>
      </p:sp>
      <p:sp>
        <p:nvSpPr>
          <p:cNvPr id="8" name="Content Placeholder 7">
            <a:extLst>
              <a:ext uri="{FF2B5EF4-FFF2-40B4-BE49-F238E27FC236}">
                <a16:creationId xmlns:a16="http://schemas.microsoft.com/office/drawing/2014/main" id="{B198365C-54C2-A52D-1525-73835F7DF9A1}"/>
              </a:ext>
            </a:extLst>
          </p:cNvPr>
          <p:cNvSpPr>
            <a:spLocks noGrp="1"/>
          </p:cNvSpPr>
          <p:nvPr>
            <p:ph idx="1"/>
          </p:nvPr>
        </p:nvSpPr>
        <p:spPr/>
        <p:txBody>
          <a:bodyPr>
            <a:normAutofit fontScale="92500"/>
          </a:bodyPr>
          <a:lstStyle/>
          <a:p>
            <a:r>
              <a:rPr lang="en-US" b="1" dirty="0"/>
              <a:t>Target growth rate by 2000</a:t>
            </a:r>
            <a:r>
              <a:rPr lang="en-US" dirty="0"/>
              <a:t>: </a:t>
            </a:r>
            <a:r>
              <a:rPr lang="en-US" b="1" dirty="0"/>
              <a:t>1%</a:t>
            </a:r>
            <a:endParaRPr lang="en-US" dirty="0"/>
          </a:p>
          <a:p>
            <a:r>
              <a:rPr lang="en-US" b="1" dirty="0"/>
              <a:t>Actual growth rate</a:t>
            </a:r>
            <a:r>
              <a:rPr lang="en-US" dirty="0"/>
              <a:t>: </a:t>
            </a:r>
            <a:r>
              <a:rPr lang="en-US" b="1" dirty="0"/>
              <a:t>1.6%</a:t>
            </a:r>
            <a:r>
              <a:rPr lang="en-US" dirty="0"/>
              <a:t>, highlighting persistent challenge.</a:t>
            </a:r>
          </a:p>
          <a:p>
            <a:r>
              <a:rPr lang="en-US" dirty="0"/>
              <a:t>Government initiatives:</a:t>
            </a:r>
          </a:p>
          <a:p>
            <a:pPr lvl="1"/>
            <a:r>
              <a:rPr lang="en-US" dirty="0"/>
              <a:t>Promotes </a:t>
            </a:r>
            <a:r>
              <a:rPr lang="en-US" b="1" dirty="0"/>
              <a:t>Two-Child Family Norm</a:t>
            </a:r>
            <a:endParaRPr lang="en-US" dirty="0"/>
          </a:p>
          <a:p>
            <a:pPr lvl="1"/>
            <a:r>
              <a:rPr lang="en-US" dirty="0"/>
              <a:t>Uses population data for </a:t>
            </a:r>
            <a:r>
              <a:rPr lang="en-US" b="1" dirty="0"/>
              <a:t>health planning</a:t>
            </a:r>
            <a:r>
              <a:rPr lang="en-US" dirty="0"/>
              <a:t>, </a:t>
            </a:r>
            <a:r>
              <a:rPr lang="en-US" b="1" dirty="0"/>
              <a:t>manpower deployment</a:t>
            </a:r>
            <a:r>
              <a:rPr lang="en-US" dirty="0"/>
              <a:t>, and </a:t>
            </a:r>
            <a:r>
              <a:rPr lang="en-US" b="1" dirty="0"/>
              <a:t>resource allocation</a:t>
            </a:r>
            <a:endParaRPr lang="en-US" dirty="0"/>
          </a:p>
          <a:p>
            <a:r>
              <a:rPr lang="en-US" dirty="0"/>
              <a:t>Strategic priorities:</a:t>
            </a:r>
          </a:p>
          <a:p>
            <a:pPr lvl="1"/>
            <a:r>
              <a:rPr lang="en-US" b="1" dirty="0"/>
              <a:t>Community education</a:t>
            </a:r>
            <a:r>
              <a:rPr lang="en-US" dirty="0"/>
              <a:t>, especially youth and women</a:t>
            </a:r>
          </a:p>
          <a:p>
            <a:pPr lvl="1"/>
            <a:r>
              <a:rPr lang="en-US" dirty="0"/>
              <a:t>Strengthening </a:t>
            </a:r>
            <a:r>
              <a:rPr lang="en-US" b="1" dirty="0"/>
              <a:t>contraceptive access</a:t>
            </a:r>
            <a:r>
              <a:rPr lang="en-US" dirty="0"/>
              <a:t> and </a:t>
            </a:r>
            <a:r>
              <a:rPr lang="en-US" b="1" dirty="0"/>
              <a:t>primary care services</a:t>
            </a:r>
            <a:endParaRPr lang="en-US" dirty="0"/>
          </a:p>
          <a:p>
            <a:pPr lvl="1"/>
            <a:r>
              <a:rPr lang="en-US" dirty="0"/>
              <a:t>Empowering families through </a:t>
            </a:r>
            <a:r>
              <a:rPr lang="en-US" b="1" dirty="0"/>
              <a:t>awareness and equity-based approaches</a:t>
            </a:r>
            <a:endParaRPr lang="en-US" dirty="0"/>
          </a:p>
        </p:txBody>
      </p:sp>
      <p:sp>
        <p:nvSpPr>
          <p:cNvPr id="4" name="Slide Number Placeholder 3">
            <a:extLst>
              <a:ext uri="{FF2B5EF4-FFF2-40B4-BE49-F238E27FC236}">
                <a16:creationId xmlns:a16="http://schemas.microsoft.com/office/drawing/2014/main" id="{E72EA194-92AB-3255-A6A6-A01597052E2A}"/>
              </a:ext>
            </a:extLst>
          </p:cNvPr>
          <p:cNvSpPr>
            <a:spLocks noGrp="1"/>
          </p:cNvSpPr>
          <p:nvPr>
            <p:ph type="sldNum" sz="quarter" idx="12"/>
          </p:nvPr>
        </p:nvSpPr>
        <p:spPr/>
        <p:txBody>
          <a:bodyPr/>
          <a:lstStyle/>
          <a:p>
            <a:fld id="{3A4F6043-7A67-491B-98BC-F933DED7226D}" type="slidenum">
              <a:rPr lang="en-US" smtClean="0"/>
              <a:pPr/>
              <a:t>34</a:t>
            </a:fld>
            <a:endParaRPr lang="en-US" dirty="0"/>
          </a:p>
        </p:txBody>
      </p:sp>
    </p:spTree>
    <p:extLst>
      <p:ext uri="{BB962C8B-B14F-4D97-AF65-F5344CB8AC3E}">
        <p14:creationId xmlns:p14="http://schemas.microsoft.com/office/powerpoint/2010/main" val="31591530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3FC70-DC07-2E5D-916C-216230AE4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00923-DD84-C03C-2E03-7DE8AA4C3A57}"/>
              </a:ext>
            </a:extLst>
          </p:cNvPr>
          <p:cNvSpPr>
            <a:spLocks noGrp="1"/>
          </p:cNvSpPr>
          <p:nvPr>
            <p:ph type="title"/>
          </p:nvPr>
        </p:nvSpPr>
        <p:spPr/>
        <p:txBody>
          <a:bodyPr/>
          <a:lstStyle/>
          <a:p>
            <a:r>
              <a:rPr lang="en-US" dirty="0"/>
              <a:t>Medical care problems</a:t>
            </a:r>
          </a:p>
        </p:txBody>
      </p:sp>
      <p:sp>
        <p:nvSpPr>
          <p:cNvPr id="3" name="Content Placeholder 2">
            <a:extLst>
              <a:ext uri="{FF2B5EF4-FFF2-40B4-BE49-F238E27FC236}">
                <a16:creationId xmlns:a16="http://schemas.microsoft.com/office/drawing/2014/main" id="{6AEE3F53-C097-19B2-345C-DAAC7B9F7681}"/>
              </a:ext>
            </a:extLst>
          </p:cNvPr>
          <p:cNvSpPr>
            <a:spLocks noGrp="1"/>
          </p:cNvSpPr>
          <p:nvPr>
            <p:ph idx="1"/>
          </p:nvPr>
        </p:nvSpPr>
        <p:spPr/>
        <p:txBody>
          <a:bodyPr>
            <a:normAutofit lnSpcReduction="10000"/>
          </a:bodyPr>
          <a:lstStyle/>
          <a:p>
            <a:r>
              <a:rPr lang="en-US" b="1" dirty="0"/>
              <a:t>Urban–Rural Imbalance &amp; Resource Distribution</a:t>
            </a:r>
            <a:endParaRPr lang="en-US" dirty="0"/>
          </a:p>
          <a:p>
            <a:r>
              <a:rPr lang="en-US" b="1" dirty="0"/>
              <a:t>Urban Issues:</a:t>
            </a:r>
            <a:endParaRPr lang="en-US" dirty="0"/>
          </a:p>
          <a:p>
            <a:pPr lvl="1"/>
            <a:r>
              <a:rPr lang="en-US" b="1" dirty="0"/>
              <a:t>Uneven doctor distribution</a:t>
            </a:r>
            <a:r>
              <a:rPr lang="en-US" dirty="0"/>
              <a:t>, especially in cities.</a:t>
            </a:r>
          </a:p>
          <a:p>
            <a:pPr lvl="1"/>
            <a:r>
              <a:rPr lang="en-US" b="1" dirty="0"/>
              <a:t>In-migration from rural areas</a:t>
            </a:r>
            <a:r>
              <a:rPr lang="en-US" dirty="0"/>
              <a:t> worsens urban congestion.</a:t>
            </a:r>
          </a:p>
          <a:p>
            <a:pPr lvl="1"/>
            <a:r>
              <a:rPr lang="en-US" dirty="0"/>
              <a:t>Overcrowded hospitals, inadequate staff, frequent </a:t>
            </a:r>
            <a:r>
              <a:rPr lang="en-US" b="1" dirty="0"/>
              <a:t>drug shortages</a:t>
            </a:r>
            <a:r>
              <a:rPr lang="en-US" dirty="0"/>
              <a:t>.</a:t>
            </a:r>
          </a:p>
          <a:p>
            <a:r>
              <a:rPr lang="en-US" b="1" dirty="0"/>
              <a:t>Rural Challenges:</a:t>
            </a:r>
            <a:endParaRPr lang="en-US" dirty="0"/>
          </a:p>
          <a:p>
            <a:pPr lvl="1"/>
            <a:r>
              <a:rPr lang="en-US" b="1" dirty="0"/>
              <a:t>72% of India’s population lives in rural areas</a:t>
            </a:r>
            <a:r>
              <a:rPr lang="en-US" dirty="0"/>
              <a:t>, yet lacks access to modern healthcare.</a:t>
            </a:r>
          </a:p>
          <a:p>
            <a:pPr lvl="1"/>
            <a:r>
              <a:rPr lang="en-US" dirty="0"/>
              <a:t>Limited penetration of </a:t>
            </a:r>
            <a:r>
              <a:rPr lang="en-US" b="1" dirty="0"/>
              <a:t>curative and preventive services</a:t>
            </a:r>
            <a:r>
              <a:rPr lang="en-US" dirty="0"/>
              <a:t>.</a:t>
            </a:r>
          </a:p>
          <a:p>
            <a:pPr lvl="1"/>
            <a:r>
              <a:rPr lang="en-US" dirty="0"/>
              <a:t>Heavy reliance on </a:t>
            </a:r>
            <a:r>
              <a:rPr lang="en-US" b="1" dirty="0"/>
              <a:t>indigenous systems of medicine</a:t>
            </a:r>
            <a:r>
              <a:rPr lang="en-US" dirty="0"/>
              <a:t> (Ayurveda, Unani, etc.).</a:t>
            </a:r>
          </a:p>
        </p:txBody>
      </p:sp>
      <p:sp>
        <p:nvSpPr>
          <p:cNvPr id="4" name="Slide Number Placeholder 3">
            <a:extLst>
              <a:ext uri="{FF2B5EF4-FFF2-40B4-BE49-F238E27FC236}">
                <a16:creationId xmlns:a16="http://schemas.microsoft.com/office/drawing/2014/main" id="{B02445D0-CDEE-CBDF-D4BD-108F1597FAA2}"/>
              </a:ext>
            </a:extLst>
          </p:cNvPr>
          <p:cNvSpPr>
            <a:spLocks noGrp="1"/>
          </p:cNvSpPr>
          <p:nvPr>
            <p:ph type="sldNum" sz="quarter" idx="12"/>
          </p:nvPr>
        </p:nvSpPr>
        <p:spPr/>
        <p:txBody>
          <a:bodyPr/>
          <a:lstStyle/>
          <a:p>
            <a:fld id="{3A4F6043-7A67-491B-98BC-F933DED7226D}" type="slidenum">
              <a:rPr lang="en-US" smtClean="0"/>
              <a:pPr/>
              <a:t>35</a:t>
            </a:fld>
            <a:endParaRPr lang="en-US" dirty="0"/>
          </a:p>
        </p:txBody>
      </p:sp>
    </p:spTree>
    <p:extLst>
      <p:ext uri="{BB962C8B-B14F-4D97-AF65-F5344CB8AC3E}">
        <p14:creationId xmlns:p14="http://schemas.microsoft.com/office/powerpoint/2010/main" val="30531383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89D8-CDAC-4215-96CD-8548432CE4D6}"/>
              </a:ext>
            </a:extLst>
          </p:cNvPr>
          <p:cNvSpPr>
            <a:spLocks noGrp="1"/>
          </p:cNvSpPr>
          <p:nvPr>
            <p:ph type="title"/>
          </p:nvPr>
        </p:nvSpPr>
        <p:spPr/>
        <p:txBody>
          <a:bodyPr/>
          <a:lstStyle/>
          <a:p>
            <a:r>
              <a:rPr lang="en-US" dirty="0"/>
              <a:t>RESOURCES</a:t>
            </a:r>
          </a:p>
        </p:txBody>
      </p:sp>
      <p:sp>
        <p:nvSpPr>
          <p:cNvPr id="39" name="Slide Number Placeholder 38">
            <a:extLst>
              <a:ext uri="{FF2B5EF4-FFF2-40B4-BE49-F238E27FC236}">
                <a16:creationId xmlns:a16="http://schemas.microsoft.com/office/drawing/2014/main" id="{86A23B90-D6E2-D980-7780-B6FC54FD8DE3}"/>
              </a:ext>
            </a:extLst>
          </p:cNvPr>
          <p:cNvSpPr>
            <a:spLocks noGrp="1"/>
          </p:cNvSpPr>
          <p:nvPr>
            <p:ph type="sldNum" sz="quarter" idx="4"/>
          </p:nvPr>
        </p:nvSpPr>
        <p:spPr/>
        <p:txBody>
          <a:bodyPr/>
          <a:lstStyle/>
          <a:p>
            <a:fld id="{3A4F6043-7A67-491B-98BC-F933DED7226D}" type="slidenum">
              <a:rPr lang="en-US" smtClean="0"/>
              <a:pPr/>
              <a:t>36</a:t>
            </a:fld>
            <a:endParaRPr lang="en-US" dirty="0"/>
          </a:p>
        </p:txBody>
      </p:sp>
      <p:sp>
        <p:nvSpPr>
          <p:cNvPr id="4" name="Slide Number Placeholder 5">
            <a:extLst>
              <a:ext uri="{FF2B5EF4-FFF2-40B4-BE49-F238E27FC236}">
                <a16:creationId xmlns:a16="http://schemas.microsoft.com/office/drawing/2014/main" id="{6E0FD4B5-4088-0CC7-E6CC-DEA779045EB0}"/>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36</a:t>
            </a:fld>
            <a:endParaRPr lang="en-US" dirty="0"/>
          </a:p>
        </p:txBody>
      </p:sp>
      <p:sp>
        <p:nvSpPr>
          <p:cNvPr id="5" name="TextBox 4">
            <a:extLst>
              <a:ext uri="{FF2B5EF4-FFF2-40B4-BE49-F238E27FC236}">
                <a16:creationId xmlns:a16="http://schemas.microsoft.com/office/drawing/2014/main" id="{6B7853F2-20BC-6194-3121-FD3668D18144}"/>
              </a:ext>
            </a:extLst>
          </p:cNvPr>
          <p:cNvSpPr txBox="1"/>
          <p:nvPr/>
        </p:nvSpPr>
        <p:spPr>
          <a:xfrm>
            <a:off x="538480" y="2286000"/>
            <a:ext cx="10778937" cy="4401205"/>
          </a:xfrm>
          <a:prstGeom prst="rect">
            <a:avLst/>
          </a:prstGeom>
          <a:noFill/>
        </p:spPr>
        <p:txBody>
          <a:bodyPr wrap="square" rtlCol="0">
            <a:spAutoFit/>
          </a:bodyPr>
          <a:lstStyle/>
          <a:p>
            <a:r>
              <a:rPr lang="en-US" sz="2800" dirty="0"/>
              <a:t>Resources are needed to meet the vast health needs of a community. </a:t>
            </a:r>
          </a:p>
          <a:p>
            <a:r>
              <a:rPr lang="en-US" sz="2800" dirty="0"/>
              <a:t>No nation, however rich, has enough resources to meet all the needs for all health care. </a:t>
            </a:r>
          </a:p>
          <a:p>
            <a:r>
              <a:rPr lang="en-US" sz="2800" dirty="0"/>
              <a:t>Therefore, an assessment of the available resources, their proper allocation and efficient utilization are important considerations for providing efficient health care services. </a:t>
            </a:r>
          </a:p>
          <a:p>
            <a:r>
              <a:rPr lang="en-US" sz="2800" dirty="0"/>
              <a:t>The basic resources for providing health care are : </a:t>
            </a:r>
          </a:p>
          <a:p>
            <a:pPr lvl="1"/>
            <a:r>
              <a:rPr lang="en-US" sz="2800" dirty="0"/>
              <a:t>(</a:t>
            </a:r>
            <a:r>
              <a:rPr lang="en-US" sz="2800" dirty="0" err="1"/>
              <a:t>i</a:t>
            </a:r>
            <a:r>
              <a:rPr lang="en-US" sz="2800" dirty="0"/>
              <a:t>)    Health manpower </a:t>
            </a:r>
          </a:p>
          <a:p>
            <a:pPr lvl="1"/>
            <a:r>
              <a:rPr lang="en-US" sz="2800" dirty="0"/>
              <a:t>(ii)   Money and material</a:t>
            </a:r>
          </a:p>
          <a:p>
            <a:pPr lvl="1"/>
            <a:r>
              <a:rPr lang="en-US" sz="2800" dirty="0"/>
              <a:t>(iii) Time</a:t>
            </a:r>
            <a:endParaRPr lang="en-IN" sz="2800" dirty="0"/>
          </a:p>
        </p:txBody>
      </p:sp>
    </p:spTree>
    <p:extLst>
      <p:ext uri="{BB962C8B-B14F-4D97-AF65-F5344CB8AC3E}">
        <p14:creationId xmlns:p14="http://schemas.microsoft.com/office/powerpoint/2010/main" val="14763093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38AD911-1E7F-17CB-95A2-827CEB8D9114}"/>
              </a:ext>
            </a:extLst>
          </p:cNvPr>
          <p:cNvSpPr txBox="1"/>
          <p:nvPr/>
        </p:nvSpPr>
        <p:spPr>
          <a:xfrm>
            <a:off x="589280" y="396240"/>
            <a:ext cx="11054080" cy="6063198"/>
          </a:xfrm>
          <a:prstGeom prst="rect">
            <a:avLst/>
          </a:prstGeom>
          <a:noFill/>
        </p:spPr>
        <p:txBody>
          <a:bodyPr wrap="square" rtlCol="0">
            <a:spAutoFit/>
          </a:bodyPr>
          <a:lstStyle/>
          <a:p>
            <a:r>
              <a:rPr lang="en-US" sz="4000" b="1" dirty="0"/>
              <a:t>Health manpower </a:t>
            </a:r>
          </a:p>
          <a:p>
            <a:endParaRPr lang="en-US" sz="4000" b="1" dirty="0"/>
          </a:p>
          <a:p>
            <a:pPr marL="457200" indent="-457200">
              <a:buFont typeface="Arial" panose="020B0604020202020204" pitchFamily="34" charset="0"/>
              <a:buChar char="•"/>
            </a:pPr>
            <a:r>
              <a:rPr lang="en-US" sz="2800" dirty="0"/>
              <a:t>The term “health manpower” includes both professional and auxiliary health personnel who are needed to provide the health care. </a:t>
            </a:r>
          </a:p>
          <a:p>
            <a:pPr marL="457200" indent="-457200">
              <a:buFont typeface="Arial" panose="020B0604020202020204" pitchFamily="34" charset="0"/>
              <a:buChar char="•"/>
            </a:pPr>
            <a:r>
              <a:rPr lang="en-US" sz="2800" dirty="0"/>
              <a:t>An auxiliary is defined by WHO as “technical worker in a certain field with less than professional training”. </a:t>
            </a:r>
          </a:p>
          <a:p>
            <a:pPr marL="457200" indent="-457200">
              <a:buFont typeface="Arial" panose="020B0604020202020204" pitchFamily="34" charset="0"/>
              <a:buChar char="•"/>
            </a:pPr>
            <a:r>
              <a:rPr lang="en-US" sz="2800" dirty="0"/>
              <a:t>Health manpower requirements of a country are based on:</a:t>
            </a:r>
          </a:p>
          <a:p>
            <a:pPr marL="971550" lvl="1" indent="-514350">
              <a:buFont typeface="+mj-lt"/>
              <a:buAutoNum type="arabicPeriod"/>
            </a:pPr>
            <a:r>
              <a:rPr lang="en-US" sz="2800" dirty="0"/>
              <a:t>Health needs and demands of the population</a:t>
            </a:r>
          </a:p>
          <a:p>
            <a:pPr marL="971550" lvl="1" indent="-514350">
              <a:buFont typeface="+mj-lt"/>
              <a:buAutoNum type="arabicPeriod"/>
            </a:pPr>
            <a:r>
              <a:rPr lang="en-US" sz="2800" dirty="0"/>
              <a:t>Desired outputs. </a:t>
            </a:r>
          </a:p>
          <a:p>
            <a:pPr marL="457200" indent="-457200">
              <a:buFont typeface="Arial" panose="020B0604020202020204" pitchFamily="34" charset="0"/>
              <a:buChar char="•"/>
            </a:pPr>
            <a:r>
              <a:rPr lang="en-US" sz="2800" dirty="0"/>
              <a:t>The health needs in turn are based on the health situation and health problems and aspirations of the people. </a:t>
            </a:r>
          </a:p>
          <a:p>
            <a:pPr marL="457200" indent="-457200">
              <a:buFont typeface="Arial" panose="020B0604020202020204" pitchFamily="34" charset="0"/>
              <a:buChar char="•"/>
            </a:pPr>
            <a:r>
              <a:rPr lang="en-US" sz="2800" dirty="0"/>
              <a:t>Health manpower planning is an important aspect of community health planning. </a:t>
            </a:r>
          </a:p>
        </p:txBody>
      </p:sp>
    </p:spTree>
    <p:extLst>
      <p:ext uri="{BB962C8B-B14F-4D97-AF65-F5344CB8AC3E}">
        <p14:creationId xmlns:p14="http://schemas.microsoft.com/office/powerpoint/2010/main" val="9368988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4552F1CF-68AA-447B-B5B0-C65BB72A5D6D}"/>
              </a:ext>
            </a:extLst>
          </p:cNvPr>
          <p:cNvSpPr>
            <a:spLocks noGrp="1"/>
          </p:cNvSpPr>
          <p:nvPr>
            <p:ph type="body" sz="quarter" idx="10"/>
          </p:nvPr>
        </p:nvSpPr>
        <p:spPr>
          <a:xfrm>
            <a:off x="495617" y="1513840"/>
            <a:ext cx="11200765" cy="4368800"/>
          </a:xfrm>
        </p:spPr>
        <p:txBody>
          <a:bodyPr vert="horz" lIns="91440" tIns="45720" rIns="91440" bIns="45720" rtlCol="0" anchor="t">
            <a:normAutofit/>
          </a:bodyPr>
          <a:lstStyle/>
          <a:p>
            <a:pPr marL="457200" indent="-457200">
              <a:buFont typeface="Arial" panose="020B0604020202020204" pitchFamily="34" charset="0"/>
              <a:buChar char="•"/>
            </a:pPr>
            <a:r>
              <a:rPr lang="en-US" sz="2800" dirty="0"/>
              <a:t>It is based on a series of accepted ratios such as doctor-population ratio, nurse population ratio, bed-population ratio, etc. </a:t>
            </a:r>
          </a:p>
          <a:p>
            <a:pPr marL="457200" indent="-457200">
              <a:buFont typeface="Arial" panose="020B0604020202020204" pitchFamily="34" charset="0"/>
              <a:buChar char="•"/>
            </a:pPr>
            <a:r>
              <a:rPr lang="en-US" sz="2800" dirty="0"/>
              <a:t>The country is producing annually, on an average 31,298 allopathic doctors; 9,865 Ayurvedic graduates; 1525 Unani graduates; 320 Siddha graduates and 12785 Homoeopathic graduates.</a:t>
            </a:r>
            <a:endParaRPr lang="en-IN" sz="2800" dirty="0"/>
          </a:p>
          <a:p>
            <a:pPr marL="457200" indent="-457200">
              <a:buFont typeface="Arial" panose="020B0604020202020204" pitchFamily="34" charset="0"/>
              <a:buChar char="•"/>
            </a:pPr>
            <a:r>
              <a:rPr lang="en-US" sz="2800" dirty="0"/>
              <a:t>Health manpower requirements are subject to change, both qualitatively and quantitatively, as new </a:t>
            </a:r>
            <a:r>
              <a:rPr lang="en-US" sz="2800" dirty="0" err="1"/>
              <a:t>programmes</a:t>
            </a:r>
            <a:r>
              <a:rPr lang="en-US" sz="2800" dirty="0"/>
              <a:t>, projects and philosophies are introduced into the health care system. </a:t>
            </a:r>
          </a:p>
        </p:txBody>
      </p:sp>
    </p:spTree>
    <p:extLst>
      <p:ext uri="{BB962C8B-B14F-4D97-AF65-F5344CB8AC3E}">
        <p14:creationId xmlns:p14="http://schemas.microsoft.com/office/powerpoint/2010/main" val="40456006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032F0-5867-BA73-18D7-D37242161E64}"/>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907FE166-9DCB-4833-1537-03D5F621759D}"/>
              </a:ext>
            </a:extLst>
          </p:cNvPr>
          <p:cNvSpPr>
            <a:spLocks noGrp="1"/>
          </p:cNvSpPr>
          <p:nvPr>
            <p:ph type="body" sz="quarter" idx="10"/>
          </p:nvPr>
        </p:nvSpPr>
        <p:spPr>
          <a:xfrm>
            <a:off x="422274" y="1493520"/>
            <a:ext cx="11200765" cy="3870960"/>
          </a:xfrm>
        </p:spPr>
        <p:txBody>
          <a:bodyPr vert="horz" lIns="91440" tIns="45720" rIns="91440" bIns="45720" rtlCol="0" anchor="t">
            <a:normAutofit/>
          </a:bodyPr>
          <a:lstStyle/>
          <a:p>
            <a:pPr marL="457200" indent="-457200">
              <a:buFont typeface="Arial" panose="020B0604020202020204" pitchFamily="34" charset="0"/>
              <a:buChar char="•"/>
            </a:pPr>
            <a:r>
              <a:rPr lang="en-US" sz="2800" dirty="0"/>
              <a:t>For example, there has been a change from </a:t>
            </a:r>
            <a:r>
              <a:rPr lang="en-US" sz="2800" dirty="0" err="1"/>
              <a:t>unipurpose</a:t>
            </a:r>
            <a:r>
              <a:rPr lang="en-US" sz="2800" dirty="0"/>
              <a:t> to multipurpose strategy. Then came the goal of Health for All. In addition, national health </a:t>
            </a:r>
            <a:r>
              <a:rPr lang="en-US" sz="2800" dirty="0" err="1"/>
              <a:t>programmes</a:t>
            </a:r>
            <a:r>
              <a:rPr lang="en-US" sz="2800" dirty="0"/>
              <a:t> such as tuberculosis control, leprosy eradication and control of blindness needed more trained workers and technicians. </a:t>
            </a:r>
          </a:p>
          <a:p>
            <a:pPr marL="457200" indent="-457200">
              <a:buFont typeface="Arial" panose="020B0604020202020204" pitchFamily="34" charset="0"/>
              <a:buChar char="•"/>
            </a:pPr>
            <a:r>
              <a:rPr lang="en-US" sz="2800" dirty="0"/>
              <a:t>Thus, during the past decade many new categories of health manpower have been introduced. They include village health guides, multipurpose workers, technicians, ophthalmic assistants, etc.</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2251275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3B200-CF9F-E058-4E6F-6BED997C42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A3513A-BC50-9334-96BA-546757128098}"/>
              </a:ext>
            </a:extLst>
          </p:cNvPr>
          <p:cNvSpPr>
            <a:spLocks noGrp="1"/>
          </p:cNvSpPr>
          <p:nvPr>
            <p:ph idx="1"/>
          </p:nvPr>
        </p:nvSpPr>
        <p:spPr>
          <a:xfrm>
            <a:off x="478793" y="820420"/>
            <a:ext cx="11234414" cy="5529580"/>
          </a:xfrm>
        </p:spPr>
        <p:txBody>
          <a:bodyPr>
            <a:normAutofit/>
          </a:bodyPr>
          <a:lstStyle/>
          <a:p>
            <a:r>
              <a:rPr lang="en-US" sz="5200" b="1" dirty="0"/>
              <a:t>Money and material </a:t>
            </a:r>
          </a:p>
          <a:p>
            <a:pPr marL="457200" indent="-457200">
              <a:buFont typeface="Arial" panose="020B0604020202020204" pitchFamily="34" charset="0"/>
              <a:buChar char="•"/>
            </a:pPr>
            <a:r>
              <a:rPr lang="en-US" sz="2800" dirty="0"/>
              <a:t>Money is an important resource for providing health services. </a:t>
            </a:r>
          </a:p>
          <a:p>
            <a:pPr marL="457200" indent="-457200">
              <a:buFont typeface="Arial" panose="020B0604020202020204" pitchFamily="34" charset="0"/>
              <a:buChar char="•"/>
            </a:pPr>
            <a:r>
              <a:rPr lang="en-US" sz="2800" dirty="0"/>
              <a:t>Scarcity of money affects all parts of the health delivery system. In most developed countries, average government expenditure for health is about 18 per cent of GNP. </a:t>
            </a:r>
          </a:p>
          <a:p>
            <a:pPr marL="457200" indent="-457200">
              <a:buFont typeface="Arial" panose="020B0604020202020204" pitchFamily="34" charset="0"/>
              <a:buChar char="•"/>
            </a:pPr>
            <a:r>
              <a:rPr lang="en-US" sz="2800" dirty="0"/>
              <a:t>In developing countries, it is less than 1 per cent of the GNP and it seldom exceeds 2 per cent of the GNP. This translates into an average of a few dollars per person per year in the underdeveloped countries as compared to several hundred dollars in developed ones. </a:t>
            </a:r>
          </a:p>
          <a:p>
            <a:endParaRPr lang="en-US" sz="3300" dirty="0"/>
          </a:p>
        </p:txBody>
      </p:sp>
      <p:sp>
        <p:nvSpPr>
          <p:cNvPr id="35" name="Slide Number Placeholder 34">
            <a:extLst>
              <a:ext uri="{FF2B5EF4-FFF2-40B4-BE49-F238E27FC236}">
                <a16:creationId xmlns:a16="http://schemas.microsoft.com/office/drawing/2014/main" id="{60F88BCA-37AE-AAED-E0F2-CD24597F1052}"/>
              </a:ext>
            </a:extLst>
          </p:cNvPr>
          <p:cNvSpPr>
            <a:spLocks noGrp="1"/>
          </p:cNvSpPr>
          <p:nvPr>
            <p:ph type="sldNum" sz="quarter" idx="4"/>
          </p:nvPr>
        </p:nvSpPr>
        <p:spPr/>
        <p:txBody>
          <a:bodyPr/>
          <a:lstStyle/>
          <a:p>
            <a:fld id="{3A4F6043-7A67-491B-98BC-F933DED7226D}" type="slidenum">
              <a:rPr lang="en-US" smtClean="0"/>
              <a:pPr/>
              <a:t>40</a:t>
            </a:fld>
            <a:endParaRPr lang="en-US" dirty="0"/>
          </a:p>
        </p:txBody>
      </p:sp>
      <p:sp>
        <p:nvSpPr>
          <p:cNvPr id="4" name="Slide Number Placeholder 5">
            <a:extLst>
              <a:ext uri="{FF2B5EF4-FFF2-40B4-BE49-F238E27FC236}">
                <a16:creationId xmlns:a16="http://schemas.microsoft.com/office/drawing/2014/main" id="{13A8BBA7-B7EC-E4A9-5260-71351356E7B2}"/>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40</a:t>
            </a:fld>
            <a:endParaRPr lang="en-US" dirty="0"/>
          </a:p>
        </p:txBody>
      </p:sp>
    </p:spTree>
    <p:extLst>
      <p:ext uri="{BB962C8B-B14F-4D97-AF65-F5344CB8AC3E}">
        <p14:creationId xmlns:p14="http://schemas.microsoft.com/office/powerpoint/2010/main" val="25988791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75403B-F6A5-4855-B204-4A9D1F5B268F}"/>
              </a:ext>
            </a:extLst>
          </p:cNvPr>
          <p:cNvSpPr>
            <a:spLocks noGrp="1"/>
          </p:cNvSpPr>
          <p:nvPr>
            <p:ph idx="1"/>
          </p:nvPr>
        </p:nvSpPr>
        <p:spPr>
          <a:xfrm>
            <a:off x="478793" y="1216660"/>
            <a:ext cx="11234414" cy="4777740"/>
          </a:xfrm>
        </p:spPr>
        <p:txBody>
          <a:bodyPr>
            <a:normAutofit/>
          </a:bodyPr>
          <a:lstStyle/>
          <a:p>
            <a:pPr marL="457200" indent="-457200">
              <a:buFont typeface="Arial" panose="020B0604020202020204" pitchFamily="34" charset="0"/>
              <a:buChar char="•"/>
            </a:pPr>
            <a:r>
              <a:rPr lang="en-US" sz="2800" dirty="0"/>
              <a:t>To make matters worse, much of the spending is for services that reach only a small fraction of the population. </a:t>
            </a:r>
          </a:p>
          <a:p>
            <a:pPr marL="457200" indent="-457200">
              <a:buFont typeface="Arial" panose="020B0604020202020204" pitchFamily="34" charset="0"/>
              <a:buChar char="•"/>
            </a:pPr>
            <a:r>
              <a:rPr lang="en-US" sz="2800" dirty="0"/>
              <a:t>To achieve Health for All, WHO has set as a goal the expenditure of 5 per cent of each country’s GNP on health care. </a:t>
            </a:r>
          </a:p>
          <a:p>
            <a:pPr marL="457200" indent="-457200">
              <a:buFont typeface="Arial" panose="020B0604020202020204" pitchFamily="34" charset="0"/>
              <a:buChar char="•"/>
            </a:pPr>
            <a:r>
              <a:rPr lang="en-US" sz="2800" dirty="0"/>
              <a:t>At present India is spending about 3 per cent of GNP on health and family welfare development. </a:t>
            </a:r>
          </a:p>
          <a:p>
            <a:pPr marL="457200" indent="-457200">
              <a:buFont typeface="Arial" panose="020B0604020202020204" pitchFamily="34" charset="0"/>
              <a:buChar char="•"/>
            </a:pPr>
            <a:r>
              <a:rPr lang="en-US" sz="2800" dirty="0"/>
              <a:t>Since money and material are always scarce resources they must be put to the most effective use, with an eye on maximum output of results for investment.</a:t>
            </a:r>
          </a:p>
          <a:p>
            <a:pPr marL="457200" indent="-457200">
              <a:buFont typeface="Arial" panose="020B0604020202020204" pitchFamily="34" charset="0"/>
              <a:buChar char="•"/>
            </a:pPr>
            <a:endParaRPr lang="en-US" sz="2800" dirty="0"/>
          </a:p>
          <a:p>
            <a:endParaRPr lang="en-US" sz="3300" dirty="0"/>
          </a:p>
        </p:txBody>
      </p:sp>
      <p:sp>
        <p:nvSpPr>
          <p:cNvPr id="35" name="Slide Number Placeholder 34">
            <a:extLst>
              <a:ext uri="{FF2B5EF4-FFF2-40B4-BE49-F238E27FC236}">
                <a16:creationId xmlns:a16="http://schemas.microsoft.com/office/drawing/2014/main" id="{253F77DE-9A00-003D-3E35-AA011DA6A27F}"/>
              </a:ext>
            </a:extLst>
          </p:cNvPr>
          <p:cNvSpPr>
            <a:spLocks noGrp="1"/>
          </p:cNvSpPr>
          <p:nvPr>
            <p:ph type="sldNum" sz="quarter" idx="4"/>
          </p:nvPr>
        </p:nvSpPr>
        <p:spPr/>
        <p:txBody>
          <a:bodyPr/>
          <a:lstStyle/>
          <a:p>
            <a:fld id="{3A4F6043-7A67-491B-98BC-F933DED7226D}" type="slidenum">
              <a:rPr lang="en-US" smtClean="0"/>
              <a:pPr/>
              <a:t>41</a:t>
            </a:fld>
            <a:endParaRPr lang="en-US" dirty="0"/>
          </a:p>
        </p:txBody>
      </p:sp>
      <p:sp>
        <p:nvSpPr>
          <p:cNvPr id="4" name="Slide Number Placeholder 5">
            <a:extLst>
              <a:ext uri="{FF2B5EF4-FFF2-40B4-BE49-F238E27FC236}">
                <a16:creationId xmlns:a16="http://schemas.microsoft.com/office/drawing/2014/main" id="{2AD73156-2390-BB42-48B5-818ECA165475}"/>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41</a:t>
            </a:fld>
            <a:endParaRPr lang="en-US" dirty="0"/>
          </a:p>
        </p:txBody>
      </p:sp>
    </p:spTree>
    <p:extLst>
      <p:ext uri="{BB962C8B-B14F-4D97-AF65-F5344CB8AC3E}">
        <p14:creationId xmlns:p14="http://schemas.microsoft.com/office/powerpoint/2010/main" val="11956282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1F5A0-9994-9B7D-B7ED-51071B18B1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FC1499-2D05-BF0A-6693-0AE89B707672}"/>
              </a:ext>
            </a:extLst>
          </p:cNvPr>
          <p:cNvSpPr>
            <a:spLocks noGrp="1"/>
          </p:cNvSpPr>
          <p:nvPr>
            <p:ph idx="1"/>
          </p:nvPr>
        </p:nvSpPr>
        <p:spPr>
          <a:xfrm>
            <a:off x="478793" y="1064260"/>
            <a:ext cx="11234414" cy="4564380"/>
          </a:xfrm>
        </p:spPr>
        <p:txBody>
          <a:bodyPr>
            <a:normAutofit/>
          </a:bodyPr>
          <a:lstStyle/>
          <a:p>
            <a:pPr marL="457200" indent="-457200">
              <a:buFont typeface="Arial" panose="020B0604020202020204" pitchFamily="34" charset="0"/>
              <a:buChar char="•"/>
            </a:pPr>
            <a:r>
              <a:rPr lang="en-US" sz="2800" dirty="0"/>
              <a:t>Since deaths from preventable diseases such as whooping cough, measles, tuberculosis, tetanus, diphtheria, malnutrition frequently occur in developing countries, the case is strong for investing resources on preventing these diseases rather than spending money on multiplying prestigious medical institutions and other establishments which absorb a large portion of the national health budget.</a:t>
            </a:r>
          </a:p>
          <a:p>
            <a:pPr marL="457200" indent="-457200">
              <a:buFont typeface="Arial" panose="020B0604020202020204" pitchFamily="34" charset="0"/>
              <a:buChar char="•"/>
            </a:pPr>
            <a:r>
              <a:rPr lang="en-US" sz="2800" dirty="0"/>
              <a:t>Management techniques such as cost-effectiveness and cost-benefit analysis are now being used for allocation of resources in the field of community health. </a:t>
            </a:r>
          </a:p>
        </p:txBody>
      </p:sp>
      <p:sp>
        <p:nvSpPr>
          <p:cNvPr id="35" name="Slide Number Placeholder 34">
            <a:extLst>
              <a:ext uri="{FF2B5EF4-FFF2-40B4-BE49-F238E27FC236}">
                <a16:creationId xmlns:a16="http://schemas.microsoft.com/office/drawing/2014/main" id="{A82D6630-E81D-24C1-C9CF-EF4B41429396}"/>
              </a:ext>
            </a:extLst>
          </p:cNvPr>
          <p:cNvSpPr>
            <a:spLocks noGrp="1"/>
          </p:cNvSpPr>
          <p:nvPr>
            <p:ph type="sldNum" sz="quarter" idx="4"/>
          </p:nvPr>
        </p:nvSpPr>
        <p:spPr/>
        <p:txBody>
          <a:bodyPr/>
          <a:lstStyle/>
          <a:p>
            <a:fld id="{3A4F6043-7A67-491B-98BC-F933DED7226D}" type="slidenum">
              <a:rPr lang="en-US" smtClean="0"/>
              <a:pPr/>
              <a:t>42</a:t>
            </a:fld>
            <a:endParaRPr lang="en-US" dirty="0"/>
          </a:p>
        </p:txBody>
      </p:sp>
      <p:sp>
        <p:nvSpPr>
          <p:cNvPr id="4" name="Slide Number Placeholder 5">
            <a:extLst>
              <a:ext uri="{FF2B5EF4-FFF2-40B4-BE49-F238E27FC236}">
                <a16:creationId xmlns:a16="http://schemas.microsoft.com/office/drawing/2014/main" id="{FA4188D4-F234-4ED5-859F-A5238A3CB8E2}"/>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42</a:t>
            </a:fld>
            <a:endParaRPr lang="en-US" dirty="0"/>
          </a:p>
        </p:txBody>
      </p:sp>
    </p:spTree>
    <p:extLst>
      <p:ext uri="{BB962C8B-B14F-4D97-AF65-F5344CB8AC3E}">
        <p14:creationId xmlns:p14="http://schemas.microsoft.com/office/powerpoint/2010/main" val="26731399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8DA00-5153-85E5-0575-A3C67C0F825E}"/>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9A63EB73-138A-F88E-8D3C-B14FAE88452A}"/>
              </a:ext>
            </a:extLst>
          </p:cNvPr>
          <p:cNvSpPr>
            <a:spLocks noGrp="1"/>
          </p:cNvSpPr>
          <p:nvPr>
            <p:ph type="body" sz="quarter" idx="10"/>
          </p:nvPr>
        </p:nvSpPr>
        <p:spPr>
          <a:xfrm>
            <a:off x="495617" y="335280"/>
            <a:ext cx="11200765" cy="6085840"/>
          </a:xfrm>
        </p:spPr>
        <p:txBody>
          <a:bodyPr vert="horz" lIns="91440" tIns="45720" rIns="91440" bIns="45720" rtlCol="0" anchor="t">
            <a:normAutofit fontScale="85000" lnSpcReduction="10000"/>
          </a:bodyPr>
          <a:lstStyle/>
          <a:p>
            <a:r>
              <a:rPr lang="en-US" sz="5200" b="1" dirty="0"/>
              <a:t>Time:</a:t>
            </a:r>
          </a:p>
          <a:p>
            <a:endParaRPr lang="en-US" sz="2800" dirty="0"/>
          </a:p>
          <a:p>
            <a:pPr marL="457200" indent="-457200">
              <a:buFont typeface="Arial" panose="020B0604020202020204" pitchFamily="34" charset="0"/>
              <a:buChar char="•"/>
            </a:pPr>
            <a:r>
              <a:rPr lang="en-US" sz="3300" dirty="0"/>
              <a:t>“Time is money”, someone said. It is an important dimension of health care services. Administrative delays in sanctioning health projects imply loss of time. </a:t>
            </a:r>
          </a:p>
          <a:p>
            <a:pPr marL="457200" indent="-457200">
              <a:buFont typeface="Arial" panose="020B0604020202020204" pitchFamily="34" charset="0"/>
              <a:buChar char="•"/>
            </a:pPr>
            <a:r>
              <a:rPr lang="en-US" sz="3300" dirty="0"/>
              <a:t>Proper use of man-hours is also an important time factor. </a:t>
            </a:r>
          </a:p>
          <a:p>
            <a:pPr marL="457200" indent="-457200">
              <a:buFont typeface="Arial" panose="020B0604020202020204" pitchFamily="34" charset="0"/>
              <a:buChar char="•"/>
            </a:pPr>
            <a:r>
              <a:rPr lang="en-US" sz="3300" dirty="0"/>
              <a:t>For example, a survey by WHO has shown that an Auxiliary Nurse Midwife spends 45 per cent of her time in giving medical care; 40 per cent in travelling; 5 per cent on paper work; and only 10 per cent in performing duties for which she has been trained. </a:t>
            </a:r>
          </a:p>
          <a:p>
            <a:pPr marL="457200" indent="-457200">
              <a:buFont typeface="Arial" panose="020B0604020202020204" pitchFamily="34" charset="0"/>
              <a:buChar char="•"/>
            </a:pPr>
            <a:r>
              <a:rPr lang="en-US" sz="3300" dirty="0"/>
              <a:t>Such studies may be extended to other categories of health personnel with a view to promote better utilization of the time resource.</a:t>
            </a:r>
          </a:p>
        </p:txBody>
      </p:sp>
    </p:spTree>
    <p:extLst>
      <p:ext uri="{BB962C8B-B14F-4D97-AF65-F5344CB8AC3E}">
        <p14:creationId xmlns:p14="http://schemas.microsoft.com/office/powerpoint/2010/main" val="27562283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7881C-9EB8-5388-95D4-3AA6F3C18B25}"/>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548DD29B-C8E2-2C7E-574F-908D0BAAFDC5}"/>
              </a:ext>
            </a:extLst>
          </p:cNvPr>
          <p:cNvSpPr>
            <a:spLocks noGrp="1"/>
          </p:cNvSpPr>
          <p:nvPr>
            <p:ph type="body" sz="quarter" idx="10"/>
          </p:nvPr>
        </p:nvSpPr>
        <p:spPr>
          <a:xfrm>
            <a:off x="495617" y="1859280"/>
            <a:ext cx="11200765" cy="2966720"/>
          </a:xfrm>
        </p:spPr>
        <p:txBody>
          <a:bodyPr vert="horz" lIns="91440" tIns="45720" rIns="91440" bIns="45720" rtlCol="0" anchor="t">
            <a:normAutofit lnSpcReduction="10000"/>
          </a:bodyPr>
          <a:lstStyle/>
          <a:p>
            <a:pPr marL="457200" indent="-457200">
              <a:buFont typeface="Arial" panose="020B0604020202020204" pitchFamily="34" charset="0"/>
              <a:buChar char="•"/>
            </a:pPr>
            <a:r>
              <a:rPr lang="en-US" sz="2800" dirty="0"/>
              <a:t>To summarize, resources are needed to meet the many health needs of a community. </a:t>
            </a:r>
          </a:p>
          <a:p>
            <a:pPr marL="457200" indent="-457200">
              <a:buFont typeface="Arial" panose="020B0604020202020204" pitchFamily="34" charset="0"/>
              <a:buChar char="•"/>
            </a:pPr>
            <a:r>
              <a:rPr lang="en-US" sz="2800" dirty="0"/>
              <a:t>But resources are desperately short in the health sector in all poor countries.</a:t>
            </a:r>
          </a:p>
          <a:p>
            <a:pPr marL="457200" indent="-457200">
              <a:buFont typeface="Arial" panose="020B0604020202020204" pitchFamily="34" charset="0"/>
              <a:buChar char="•"/>
            </a:pPr>
            <a:r>
              <a:rPr lang="en-US" sz="2800" dirty="0"/>
              <a:t>What is important is to employ suitable strategies to get the best out of limited resources.</a:t>
            </a:r>
          </a:p>
        </p:txBody>
      </p:sp>
    </p:spTree>
    <p:extLst>
      <p:ext uri="{BB962C8B-B14F-4D97-AF65-F5344CB8AC3E}">
        <p14:creationId xmlns:p14="http://schemas.microsoft.com/office/powerpoint/2010/main" val="30906086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2179B-C328-3A4D-0433-2C58E2763E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B4917C-4BFF-CC2F-F1F5-B457A0C2EEA0}"/>
              </a:ext>
            </a:extLst>
          </p:cNvPr>
          <p:cNvSpPr>
            <a:spLocks noGrp="1"/>
          </p:cNvSpPr>
          <p:nvPr>
            <p:ph idx="1"/>
          </p:nvPr>
        </p:nvSpPr>
        <p:spPr>
          <a:xfrm>
            <a:off x="478793" y="1064260"/>
            <a:ext cx="11234414" cy="4564380"/>
          </a:xfrm>
        </p:spPr>
        <p:txBody>
          <a:bodyPr>
            <a:normAutofit lnSpcReduction="10000"/>
          </a:bodyPr>
          <a:lstStyle/>
          <a:p>
            <a:r>
              <a:rPr lang="en-US" sz="4000" b="1" dirty="0"/>
              <a:t>Healthcare Services:</a:t>
            </a:r>
          </a:p>
          <a:p>
            <a:pPr marL="457200" indent="-457200">
              <a:buFont typeface="Arial" panose="020B0604020202020204" pitchFamily="34" charset="0"/>
              <a:buChar char="•"/>
            </a:pPr>
            <a:r>
              <a:rPr lang="en-US" sz="2800" dirty="0"/>
              <a:t>The purpose of health care services is to improve the health status of the population. </a:t>
            </a:r>
          </a:p>
          <a:p>
            <a:pPr marL="457200" indent="-457200">
              <a:buFont typeface="Arial" panose="020B0604020202020204" pitchFamily="34" charset="0"/>
              <a:buChar char="•"/>
            </a:pPr>
            <a:r>
              <a:rPr lang="en-US" sz="2800" dirty="0"/>
              <a:t>The goals to be achieved have been fixed in terms of mortality and morbidity reduction, increase in expectation of life, decrease in population growth rate, improvements in nutritional status, provision of basic sanitation, health manpower requirements and resources development and certain other parameters such as food production, literacy rate, reduced levels of poverty, etc. </a:t>
            </a:r>
          </a:p>
        </p:txBody>
      </p:sp>
      <p:sp>
        <p:nvSpPr>
          <p:cNvPr id="35" name="Slide Number Placeholder 34">
            <a:extLst>
              <a:ext uri="{FF2B5EF4-FFF2-40B4-BE49-F238E27FC236}">
                <a16:creationId xmlns:a16="http://schemas.microsoft.com/office/drawing/2014/main" id="{0E86D2E2-9C9C-BC8C-8080-DD4BAA28D5C3}"/>
              </a:ext>
            </a:extLst>
          </p:cNvPr>
          <p:cNvSpPr>
            <a:spLocks noGrp="1"/>
          </p:cNvSpPr>
          <p:nvPr>
            <p:ph type="sldNum" sz="quarter" idx="4"/>
          </p:nvPr>
        </p:nvSpPr>
        <p:spPr/>
        <p:txBody>
          <a:bodyPr/>
          <a:lstStyle/>
          <a:p>
            <a:fld id="{3A4F6043-7A67-491B-98BC-F933DED7226D}" type="slidenum">
              <a:rPr lang="en-US" smtClean="0"/>
              <a:pPr/>
              <a:t>45</a:t>
            </a:fld>
            <a:endParaRPr lang="en-US" dirty="0"/>
          </a:p>
        </p:txBody>
      </p:sp>
      <p:sp>
        <p:nvSpPr>
          <p:cNvPr id="4" name="Slide Number Placeholder 5">
            <a:extLst>
              <a:ext uri="{FF2B5EF4-FFF2-40B4-BE49-F238E27FC236}">
                <a16:creationId xmlns:a16="http://schemas.microsoft.com/office/drawing/2014/main" id="{39C9452F-EA05-2C8A-896D-FB650366AEBD}"/>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45</a:t>
            </a:fld>
            <a:endParaRPr lang="en-US" dirty="0"/>
          </a:p>
        </p:txBody>
      </p:sp>
    </p:spTree>
    <p:extLst>
      <p:ext uri="{BB962C8B-B14F-4D97-AF65-F5344CB8AC3E}">
        <p14:creationId xmlns:p14="http://schemas.microsoft.com/office/powerpoint/2010/main" val="11543475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B1D07-4633-9B0D-6A2E-7B81169B83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36669-C903-4D64-8156-993CFC1DD3D6}"/>
              </a:ext>
            </a:extLst>
          </p:cNvPr>
          <p:cNvSpPr>
            <a:spLocks noGrp="1"/>
          </p:cNvSpPr>
          <p:nvPr>
            <p:ph idx="1"/>
          </p:nvPr>
        </p:nvSpPr>
        <p:spPr>
          <a:xfrm>
            <a:off x="478793" y="558800"/>
            <a:ext cx="11234414" cy="6228080"/>
          </a:xfrm>
        </p:spPr>
        <p:txBody>
          <a:bodyPr>
            <a:normAutofit/>
          </a:bodyPr>
          <a:lstStyle/>
          <a:p>
            <a:pPr marL="457200" indent="-457200">
              <a:buFont typeface="Arial" panose="020B0604020202020204" pitchFamily="34" charset="0"/>
              <a:buChar char="•"/>
            </a:pPr>
            <a:r>
              <a:rPr lang="en-US" sz="2800" dirty="0"/>
              <a:t>The scope of health services varies widely from country to country and influenced by general and ever changing national, state and local health problems, needs and attitudes as well as the available resources to provide these services. </a:t>
            </a:r>
          </a:p>
          <a:p>
            <a:pPr marL="457200" indent="-457200">
              <a:buFont typeface="Arial" panose="020B0604020202020204" pitchFamily="34" charset="0"/>
              <a:buChar char="•"/>
            </a:pPr>
            <a:r>
              <a:rPr lang="en-US" sz="2800" dirty="0"/>
              <a:t>There is now broad agreement that health services should be: </a:t>
            </a:r>
          </a:p>
          <a:p>
            <a:pPr marL="514350" indent="-514350">
              <a:buAutoNum type="alphaLcParenBoth"/>
            </a:pPr>
            <a:r>
              <a:rPr lang="en-US" sz="2800" dirty="0"/>
              <a:t>comprehensive </a:t>
            </a:r>
          </a:p>
          <a:p>
            <a:pPr marL="514350" indent="-514350">
              <a:buAutoNum type="alphaLcParenBoth"/>
            </a:pPr>
            <a:r>
              <a:rPr lang="en-US" sz="2800" dirty="0"/>
              <a:t>accessible </a:t>
            </a:r>
          </a:p>
          <a:p>
            <a:pPr marL="514350" indent="-514350">
              <a:buAutoNum type="alphaLcParenBoth"/>
            </a:pPr>
            <a:r>
              <a:rPr lang="en-US" sz="2800" dirty="0"/>
              <a:t>acceptable </a:t>
            </a:r>
          </a:p>
          <a:p>
            <a:pPr marL="514350" indent="-514350">
              <a:buAutoNum type="alphaLcParenBoth"/>
            </a:pPr>
            <a:r>
              <a:rPr lang="en-US" sz="2800" dirty="0"/>
              <a:t>provide scope for community participation</a:t>
            </a:r>
          </a:p>
          <a:p>
            <a:pPr marL="514350" indent="-514350">
              <a:buAutoNum type="alphaLcParenBoth"/>
            </a:pPr>
            <a:r>
              <a:rPr lang="en-US" sz="2800" dirty="0"/>
              <a:t>available at a cost the community and country can afford. </a:t>
            </a:r>
          </a:p>
        </p:txBody>
      </p:sp>
      <p:sp>
        <p:nvSpPr>
          <p:cNvPr id="35" name="Slide Number Placeholder 34">
            <a:extLst>
              <a:ext uri="{FF2B5EF4-FFF2-40B4-BE49-F238E27FC236}">
                <a16:creationId xmlns:a16="http://schemas.microsoft.com/office/drawing/2014/main" id="{EBA12C44-A5CF-A518-BE30-0B0F19B4E489}"/>
              </a:ext>
            </a:extLst>
          </p:cNvPr>
          <p:cNvSpPr>
            <a:spLocks noGrp="1"/>
          </p:cNvSpPr>
          <p:nvPr>
            <p:ph type="sldNum" sz="quarter" idx="4"/>
          </p:nvPr>
        </p:nvSpPr>
        <p:spPr/>
        <p:txBody>
          <a:bodyPr/>
          <a:lstStyle/>
          <a:p>
            <a:fld id="{3A4F6043-7A67-491B-98BC-F933DED7226D}" type="slidenum">
              <a:rPr lang="en-US" smtClean="0"/>
              <a:pPr/>
              <a:t>46</a:t>
            </a:fld>
            <a:endParaRPr lang="en-US" dirty="0"/>
          </a:p>
        </p:txBody>
      </p:sp>
      <p:sp>
        <p:nvSpPr>
          <p:cNvPr id="4" name="Slide Number Placeholder 5">
            <a:extLst>
              <a:ext uri="{FF2B5EF4-FFF2-40B4-BE49-F238E27FC236}">
                <a16:creationId xmlns:a16="http://schemas.microsoft.com/office/drawing/2014/main" id="{59109753-4AC1-05AE-B33D-BF693C202BBC}"/>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46</a:t>
            </a:fld>
            <a:endParaRPr lang="en-US" dirty="0"/>
          </a:p>
        </p:txBody>
      </p:sp>
    </p:spTree>
    <p:extLst>
      <p:ext uri="{BB962C8B-B14F-4D97-AF65-F5344CB8AC3E}">
        <p14:creationId xmlns:p14="http://schemas.microsoft.com/office/powerpoint/2010/main" val="25395726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8B6F7-DB40-5FED-E759-D88656CCACA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5A6993-BC91-F5A1-8509-DCAEBBC419F6}"/>
              </a:ext>
            </a:extLst>
          </p:cNvPr>
          <p:cNvSpPr>
            <a:spLocks noGrp="1"/>
          </p:cNvSpPr>
          <p:nvPr>
            <p:ph idx="1"/>
          </p:nvPr>
        </p:nvSpPr>
        <p:spPr>
          <a:xfrm>
            <a:off x="611638" y="1371600"/>
            <a:ext cx="11234414" cy="4480560"/>
          </a:xfrm>
        </p:spPr>
        <p:txBody>
          <a:bodyPr>
            <a:normAutofit/>
          </a:bodyPr>
          <a:lstStyle/>
          <a:p>
            <a:r>
              <a:rPr lang="en-US" sz="4000" b="1" dirty="0"/>
              <a:t>Healthcare Systems: </a:t>
            </a:r>
          </a:p>
          <a:p>
            <a:pPr marL="457200" indent="-457200">
              <a:buFont typeface="Arial" panose="020B0604020202020204" pitchFamily="34" charset="0"/>
              <a:buChar char="•"/>
            </a:pPr>
            <a:r>
              <a:rPr lang="en-US" sz="2800" dirty="0"/>
              <a:t>The health care system is intended to deliver the health care services. It constitutes the management sector and involves organizational matters. </a:t>
            </a:r>
          </a:p>
          <a:p>
            <a:pPr marL="457200" indent="-457200">
              <a:buFont typeface="Arial" panose="020B0604020202020204" pitchFamily="34" charset="0"/>
              <a:buChar char="•"/>
            </a:pPr>
            <a:r>
              <a:rPr lang="en-US" sz="2800" dirty="0"/>
              <a:t>It operates in the context of the socioeconomic and political framework of the country. </a:t>
            </a:r>
          </a:p>
          <a:p>
            <a:pPr marL="457200" indent="-457200">
              <a:buFont typeface="Arial" panose="020B0604020202020204" pitchFamily="34" charset="0"/>
              <a:buChar char="•"/>
            </a:pPr>
            <a:r>
              <a:rPr lang="en-US" sz="2800" dirty="0"/>
              <a:t>In India, it is represented by five major sectors or agencies which differ from each other by the health technology applied and by the source of funds for operation.</a:t>
            </a:r>
          </a:p>
        </p:txBody>
      </p:sp>
      <p:sp>
        <p:nvSpPr>
          <p:cNvPr id="35" name="Slide Number Placeholder 34">
            <a:extLst>
              <a:ext uri="{FF2B5EF4-FFF2-40B4-BE49-F238E27FC236}">
                <a16:creationId xmlns:a16="http://schemas.microsoft.com/office/drawing/2014/main" id="{8BB291E3-E3AD-53FC-8D64-5E42C5D384BD}"/>
              </a:ext>
            </a:extLst>
          </p:cNvPr>
          <p:cNvSpPr>
            <a:spLocks noGrp="1"/>
          </p:cNvSpPr>
          <p:nvPr>
            <p:ph type="sldNum" sz="quarter" idx="4"/>
          </p:nvPr>
        </p:nvSpPr>
        <p:spPr/>
        <p:txBody>
          <a:bodyPr/>
          <a:lstStyle/>
          <a:p>
            <a:fld id="{3A4F6043-7A67-491B-98BC-F933DED7226D}" type="slidenum">
              <a:rPr lang="en-US" smtClean="0"/>
              <a:pPr/>
              <a:t>47</a:t>
            </a:fld>
            <a:endParaRPr lang="en-US" dirty="0"/>
          </a:p>
        </p:txBody>
      </p:sp>
      <p:sp>
        <p:nvSpPr>
          <p:cNvPr id="4" name="Slide Number Placeholder 5">
            <a:extLst>
              <a:ext uri="{FF2B5EF4-FFF2-40B4-BE49-F238E27FC236}">
                <a16:creationId xmlns:a16="http://schemas.microsoft.com/office/drawing/2014/main" id="{5A2CCF11-CCF1-A9EB-3280-0D125488E145}"/>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47</a:t>
            </a:fld>
            <a:endParaRPr lang="en-US" dirty="0"/>
          </a:p>
        </p:txBody>
      </p:sp>
    </p:spTree>
    <p:extLst>
      <p:ext uri="{BB962C8B-B14F-4D97-AF65-F5344CB8AC3E}">
        <p14:creationId xmlns:p14="http://schemas.microsoft.com/office/powerpoint/2010/main" val="17229478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3A88EB-9315-82F0-3834-C57CBAC0B5D5}"/>
              </a:ext>
            </a:extLst>
          </p:cNvPr>
          <p:cNvSpPr>
            <a:spLocks noGrp="1"/>
          </p:cNvSpPr>
          <p:nvPr>
            <p:ph idx="1"/>
          </p:nvPr>
        </p:nvSpPr>
        <p:spPr>
          <a:xfrm>
            <a:off x="420624" y="335280"/>
            <a:ext cx="10515600" cy="6339839"/>
          </a:xfrm>
        </p:spPr>
        <p:txBody>
          <a:bodyPr>
            <a:normAutofit/>
          </a:bodyPr>
          <a:lstStyle/>
          <a:p>
            <a:pPr marL="0" indent="0">
              <a:buNone/>
            </a:pPr>
            <a:r>
              <a:rPr lang="en-US" sz="2800" dirty="0"/>
              <a:t>1. PUBLIC HEALTH SECTOR </a:t>
            </a:r>
          </a:p>
          <a:p>
            <a:r>
              <a:rPr lang="en-US" sz="2800" dirty="0"/>
              <a:t>(a) Primary Health Care </a:t>
            </a:r>
          </a:p>
          <a:p>
            <a:pPr marL="457200" indent="-457200">
              <a:buFont typeface="+mj-lt"/>
              <a:buAutoNum type="arabicPeriod"/>
            </a:pPr>
            <a:r>
              <a:rPr lang="en-US" sz="2800" dirty="0"/>
              <a:t>Primary health </a:t>
            </a:r>
            <a:r>
              <a:rPr lang="en-US" sz="2800" dirty="0" err="1"/>
              <a:t>centres</a:t>
            </a:r>
            <a:r>
              <a:rPr lang="en-US" sz="2800" dirty="0"/>
              <a:t> </a:t>
            </a:r>
          </a:p>
          <a:p>
            <a:pPr marL="457200" indent="-457200">
              <a:buFont typeface="+mj-lt"/>
              <a:buAutoNum type="arabicPeriod"/>
            </a:pPr>
            <a:r>
              <a:rPr lang="en-US" sz="2800" dirty="0"/>
              <a:t>Sub- </a:t>
            </a:r>
            <a:r>
              <a:rPr lang="en-US" sz="2800" dirty="0" err="1"/>
              <a:t>centres</a:t>
            </a:r>
            <a:r>
              <a:rPr lang="en-US" sz="2800" dirty="0"/>
              <a:t> </a:t>
            </a:r>
          </a:p>
          <a:p>
            <a:r>
              <a:rPr lang="en-US" sz="2800" dirty="0"/>
              <a:t>(b) Hospitals/Health </a:t>
            </a:r>
            <a:r>
              <a:rPr lang="en-US" sz="2800" dirty="0" err="1"/>
              <a:t>Centres</a:t>
            </a:r>
            <a:r>
              <a:rPr lang="en-US" sz="2800" dirty="0"/>
              <a:t> </a:t>
            </a:r>
          </a:p>
          <a:p>
            <a:pPr marL="457200" indent="-457200">
              <a:buFont typeface="+mj-lt"/>
              <a:buAutoNum type="arabicPeriod"/>
            </a:pPr>
            <a:r>
              <a:rPr lang="en-US" sz="2800" dirty="0"/>
              <a:t>Community health </a:t>
            </a:r>
            <a:r>
              <a:rPr lang="en-US" sz="2800" dirty="0" err="1"/>
              <a:t>centres</a:t>
            </a:r>
            <a:r>
              <a:rPr lang="en-US" sz="2800" dirty="0"/>
              <a:t> </a:t>
            </a:r>
          </a:p>
          <a:p>
            <a:pPr marL="457200" indent="-457200">
              <a:buFont typeface="+mj-lt"/>
              <a:buAutoNum type="arabicPeriod"/>
            </a:pPr>
            <a:r>
              <a:rPr lang="en-US" sz="2800" dirty="0"/>
              <a:t>Rural hospitals </a:t>
            </a:r>
          </a:p>
          <a:p>
            <a:pPr marL="457200" indent="-457200">
              <a:buFont typeface="+mj-lt"/>
              <a:buAutoNum type="arabicPeriod"/>
            </a:pPr>
            <a:r>
              <a:rPr lang="en-US" sz="2800" dirty="0"/>
              <a:t>District hospital/health </a:t>
            </a:r>
            <a:r>
              <a:rPr lang="en-US" sz="2800" dirty="0" err="1"/>
              <a:t>centre</a:t>
            </a:r>
            <a:r>
              <a:rPr lang="en-US" sz="2800" dirty="0"/>
              <a:t> </a:t>
            </a:r>
          </a:p>
          <a:p>
            <a:pPr marL="457200" indent="-457200">
              <a:buFont typeface="+mj-lt"/>
              <a:buAutoNum type="arabicPeriod"/>
            </a:pPr>
            <a:r>
              <a:rPr lang="en-US" sz="2800" dirty="0"/>
              <a:t>Specialist hospitals </a:t>
            </a:r>
          </a:p>
          <a:p>
            <a:pPr marL="457200" indent="-457200">
              <a:buFont typeface="+mj-lt"/>
              <a:buAutoNum type="arabicPeriod"/>
            </a:pPr>
            <a:r>
              <a:rPr lang="en-US" sz="2800" dirty="0"/>
              <a:t>Teaching hospital</a:t>
            </a:r>
            <a:endParaRPr lang="en-IN" sz="2800" dirty="0"/>
          </a:p>
        </p:txBody>
      </p:sp>
      <p:sp>
        <p:nvSpPr>
          <p:cNvPr id="4" name="Slide Number Placeholder 3">
            <a:extLst>
              <a:ext uri="{FF2B5EF4-FFF2-40B4-BE49-F238E27FC236}">
                <a16:creationId xmlns:a16="http://schemas.microsoft.com/office/drawing/2014/main" id="{DCC48CB3-5036-1282-D328-C266559C3A94}"/>
              </a:ext>
            </a:extLst>
          </p:cNvPr>
          <p:cNvSpPr>
            <a:spLocks noGrp="1"/>
          </p:cNvSpPr>
          <p:nvPr>
            <p:ph type="sldNum" sz="quarter" idx="12"/>
          </p:nvPr>
        </p:nvSpPr>
        <p:spPr/>
        <p:txBody>
          <a:bodyPr/>
          <a:lstStyle/>
          <a:p>
            <a:fld id="{3A4F6043-7A67-491B-98BC-F933DED7226D}" type="slidenum">
              <a:rPr lang="en-US" smtClean="0"/>
              <a:pPr/>
              <a:t>48</a:t>
            </a:fld>
            <a:endParaRPr lang="en-US" dirty="0"/>
          </a:p>
        </p:txBody>
      </p:sp>
    </p:spTree>
    <p:extLst>
      <p:ext uri="{BB962C8B-B14F-4D97-AF65-F5344CB8AC3E}">
        <p14:creationId xmlns:p14="http://schemas.microsoft.com/office/powerpoint/2010/main" val="40726877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76A6BF-28A2-144A-C0AD-E15A364C267C}"/>
              </a:ext>
            </a:extLst>
          </p:cNvPr>
          <p:cNvSpPr>
            <a:spLocks noGrp="1"/>
          </p:cNvSpPr>
          <p:nvPr>
            <p:ph idx="1"/>
          </p:nvPr>
        </p:nvSpPr>
        <p:spPr>
          <a:xfrm>
            <a:off x="420624" y="558801"/>
            <a:ext cx="10515600" cy="5473208"/>
          </a:xfrm>
        </p:spPr>
        <p:txBody>
          <a:bodyPr>
            <a:normAutofit/>
          </a:bodyPr>
          <a:lstStyle/>
          <a:p>
            <a:r>
              <a:rPr lang="en-US" sz="2800" dirty="0"/>
              <a:t>(c) Health Insurance Schemes </a:t>
            </a:r>
          </a:p>
          <a:p>
            <a:pPr marL="457200" indent="-457200">
              <a:buFont typeface="+mj-lt"/>
              <a:buAutoNum type="arabicPeriod"/>
            </a:pPr>
            <a:r>
              <a:rPr lang="en-US" sz="2800" dirty="0"/>
              <a:t>Employees State Insurance </a:t>
            </a:r>
          </a:p>
          <a:p>
            <a:pPr marL="457200" indent="-457200">
              <a:buFont typeface="+mj-lt"/>
              <a:buAutoNum type="arabicPeriod"/>
            </a:pPr>
            <a:r>
              <a:rPr lang="en-US" sz="2800" dirty="0"/>
              <a:t>Central Government Health Scheme </a:t>
            </a:r>
          </a:p>
          <a:p>
            <a:r>
              <a:rPr lang="en-US" sz="2800" dirty="0"/>
              <a:t>(d) Other agencies </a:t>
            </a:r>
          </a:p>
          <a:p>
            <a:pPr marL="457200" indent="-457200">
              <a:buFont typeface="+mj-lt"/>
              <a:buAutoNum type="arabicPeriod"/>
            </a:pPr>
            <a:r>
              <a:rPr lang="en-US" sz="2800" dirty="0" err="1"/>
              <a:t>Defence</a:t>
            </a:r>
            <a:r>
              <a:rPr lang="en-US" sz="2800" dirty="0"/>
              <a:t> services </a:t>
            </a:r>
          </a:p>
          <a:p>
            <a:pPr marL="457200" indent="-457200">
              <a:buFont typeface="+mj-lt"/>
              <a:buAutoNum type="arabicPeriod"/>
            </a:pPr>
            <a:r>
              <a:rPr lang="en-US" sz="2800" dirty="0"/>
              <a:t>Railways</a:t>
            </a:r>
          </a:p>
          <a:p>
            <a:pPr marL="0" indent="0">
              <a:buNone/>
            </a:pPr>
            <a:r>
              <a:rPr lang="en-US" sz="2800" dirty="0"/>
              <a:t>2. PRIVATE SECTOR </a:t>
            </a:r>
          </a:p>
          <a:p>
            <a:r>
              <a:rPr lang="en-US" sz="2800" dirty="0"/>
              <a:t>(a) Private hospitals, polyclinics, Nursing homes, and dispensaries </a:t>
            </a:r>
          </a:p>
          <a:p>
            <a:r>
              <a:rPr lang="en-US" sz="2800" dirty="0"/>
              <a:t>(b) General practitioners and clinics</a:t>
            </a:r>
            <a:endParaRPr lang="en-IN" sz="2800" dirty="0"/>
          </a:p>
        </p:txBody>
      </p:sp>
      <p:sp>
        <p:nvSpPr>
          <p:cNvPr id="4" name="Slide Number Placeholder 3">
            <a:extLst>
              <a:ext uri="{FF2B5EF4-FFF2-40B4-BE49-F238E27FC236}">
                <a16:creationId xmlns:a16="http://schemas.microsoft.com/office/drawing/2014/main" id="{413A44F8-9B58-3BDE-DAB8-B91AE40FE6D9}"/>
              </a:ext>
            </a:extLst>
          </p:cNvPr>
          <p:cNvSpPr>
            <a:spLocks noGrp="1"/>
          </p:cNvSpPr>
          <p:nvPr>
            <p:ph type="sldNum" sz="quarter" idx="12"/>
          </p:nvPr>
        </p:nvSpPr>
        <p:spPr/>
        <p:txBody>
          <a:bodyPr/>
          <a:lstStyle/>
          <a:p>
            <a:fld id="{3A4F6043-7A67-491B-98BC-F933DED7226D}" type="slidenum">
              <a:rPr lang="en-US" smtClean="0"/>
              <a:pPr/>
              <a:t>49</a:t>
            </a:fld>
            <a:endParaRPr lang="en-US" dirty="0"/>
          </a:p>
        </p:txBody>
      </p:sp>
    </p:spTree>
    <p:extLst>
      <p:ext uri="{BB962C8B-B14F-4D97-AF65-F5344CB8AC3E}">
        <p14:creationId xmlns:p14="http://schemas.microsoft.com/office/powerpoint/2010/main" val="23706379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DA6A002-1BEB-AE76-169E-13071F90919E}"/>
              </a:ext>
            </a:extLst>
          </p:cNvPr>
          <p:cNvSpPr>
            <a:spLocks noGrp="1"/>
          </p:cNvSpPr>
          <p:nvPr>
            <p:ph type="body" sz="quarter" idx="10"/>
          </p:nvPr>
        </p:nvSpPr>
        <p:spPr>
          <a:xfrm>
            <a:off x="422274" y="775018"/>
            <a:ext cx="11139806" cy="5493702"/>
          </a:xfrm>
        </p:spPr>
        <p:txBody>
          <a:bodyPr>
            <a:normAutofit/>
          </a:bodyPr>
          <a:lstStyle/>
          <a:p>
            <a:r>
              <a:rPr lang="en-IN" sz="2800" dirty="0"/>
              <a:t>3. INDIGENOUS SYSTEMS OF MEDICINE </a:t>
            </a:r>
          </a:p>
          <a:p>
            <a:pPr marL="342900" indent="-342900">
              <a:buFont typeface="Arial" panose="020B0604020202020204" pitchFamily="34" charset="0"/>
              <a:buChar char="•"/>
            </a:pPr>
            <a:r>
              <a:rPr lang="en-IN" sz="2800" dirty="0"/>
              <a:t>Ayurveda and Siddha </a:t>
            </a:r>
          </a:p>
          <a:p>
            <a:pPr marL="342900" indent="-342900">
              <a:buFont typeface="Arial" panose="020B0604020202020204" pitchFamily="34" charset="0"/>
              <a:buChar char="•"/>
            </a:pPr>
            <a:r>
              <a:rPr lang="en-IN" sz="2800" dirty="0"/>
              <a:t>Unani and </a:t>
            </a:r>
            <a:r>
              <a:rPr lang="en-IN" sz="2800" dirty="0" err="1"/>
              <a:t>Tibbi</a:t>
            </a:r>
            <a:r>
              <a:rPr lang="en-IN" sz="2800" dirty="0"/>
              <a:t> </a:t>
            </a:r>
          </a:p>
          <a:p>
            <a:pPr marL="342900" indent="-342900">
              <a:buFont typeface="Arial" panose="020B0604020202020204" pitchFamily="34" charset="0"/>
              <a:buChar char="•"/>
            </a:pPr>
            <a:r>
              <a:rPr lang="en-IN" sz="2800" dirty="0"/>
              <a:t>Homoeopathy </a:t>
            </a:r>
          </a:p>
          <a:p>
            <a:pPr marL="342900" indent="-342900">
              <a:buFont typeface="Arial" panose="020B0604020202020204" pitchFamily="34" charset="0"/>
              <a:buChar char="•"/>
            </a:pPr>
            <a:r>
              <a:rPr lang="en-IN" sz="2800" dirty="0"/>
              <a:t>Unregistered practitioners </a:t>
            </a:r>
          </a:p>
          <a:p>
            <a:r>
              <a:rPr lang="en-IN" sz="2800" dirty="0"/>
              <a:t>4. VOLUNTARY HEALTH AGENCIES </a:t>
            </a:r>
          </a:p>
          <a:p>
            <a:r>
              <a:rPr lang="en-IN" sz="2800" dirty="0"/>
              <a:t>5. NATIONAL HEALTH PROGRAMMES</a:t>
            </a:r>
            <a:endParaRPr lang="en-US" sz="2800" dirty="0"/>
          </a:p>
        </p:txBody>
      </p:sp>
    </p:spTree>
    <p:extLst>
      <p:ext uri="{BB962C8B-B14F-4D97-AF65-F5344CB8AC3E}">
        <p14:creationId xmlns:p14="http://schemas.microsoft.com/office/powerpoint/2010/main" val="38749609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82D22-5938-BC2B-1C1E-5333FF3CD06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9A8ED69-1FDB-1087-18D2-65C83C055EEC}"/>
              </a:ext>
            </a:extLst>
          </p:cNvPr>
          <p:cNvSpPr>
            <a:spLocks noGrp="1"/>
          </p:cNvSpPr>
          <p:nvPr>
            <p:ph type="body" sz="quarter" idx="10"/>
          </p:nvPr>
        </p:nvSpPr>
        <p:spPr>
          <a:xfrm>
            <a:off x="422274" y="775018"/>
            <a:ext cx="11139806" cy="5493702"/>
          </a:xfrm>
        </p:spPr>
        <p:txBody>
          <a:bodyPr>
            <a:normAutofit/>
          </a:bodyPr>
          <a:lstStyle/>
          <a:p>
            <a:r>
              <a:rPr lang="en-US" sz="4000" b="1" dirty="0"/>
              <a:t>Primary Health Care in India </a:t>
            </a:r>
          </a:p>
          <a:p>
            <a:pPr marL="457200" indent="-457200">
              <a:buFont typeface="Arial" panose="020B0604020202020204" pitchFamily="34" charset="0"/>
              <a:buChar char="•"/>
            </a:pPr>
            <a:r>
              <a:rPr lang="en-US" sz="2800" dirty="0"/>
              <a:t>In 1977, the Government of India launched a Rural Health Scheme, based on the principle of “placing people’s health in people’s hands”. </a:t>
            </a:r>
          </a:p>
          <a:p>
            <a:pPr marL="457200" indent="-457200">
              <a:buFont typeface="Arial" panose="020B0604020202020204" pitchFamily="34" charset="0"/>
              <a:buChar char="•"/>
            </a:pPr>
            <a:r>
              <a:rPr lang="en-US" sz="2800" dirty="0"/>
              <a:t>It is a three-tier system of health care delivery in rural areas based on the recommendation of the Shrivastav Committee in 1975. </a:t>
            </a:r>
          </a:p>
          <a:p>
            <a:pPr marL="457200" indent="-457200">
              <a:buFont typeface="Arial" panose="020B0604020202020204" pitchFamily="34" charset="0"/>
              <a:buChar char="•"/>
            </a:pPr>
            <a:r>
              <a:rPr lang="en-US" sz="2800" dirty="0"/>
              <a:t>Close on the heels of these recommendations an International conference at Alma-Ata in 1978, set the goal of an acceptable level of Health for All the people of the world by the year 2000 through primary health care approach. </a:t>
            </a:r>
          </a:p>
        </p:txBody>
      </p:sp>
    </p:spTree>
    <p:extLst>
      <p:ext uri="{BB962C8B-B14F-4D97-AF65-F5344CB8AC3E}">
        <p14:creationId xmlns:p14="http://schemas.microsoft.com/office/powerpoint/2010/main" val="12339118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954E5-B34A-B789-9CBF-DB6E7728C5E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6C04A77-400A-D45A-420F-5AB726FDD9D3}"/>
              </a:ext>
            </a:extLst>
          </p:cNvPr>
          <p:cNvSpPr>
            <a:spLocks noGrp="1"/>
          </p:cNvSpPr>
          <p:nvPr>
            <p:ph type="body" sz="quarter" idx="10"/>
          </p:nvPr>
        </p:nvSpPr>
        <p:spPr>
          <a:xfrm>
            <a:off x="526097" y="1384618"/>
            <a:ext cx="11139806" cy="4274502"/>
          </a:xfrm>
        </p:spPr>
        <p:txBody>
          <a:bodyPr>
            <a:normAutofit/>
          </a:bodyPr>
          <a:lstStyle/>
          <a:p>
            <a:pPr marL="457200" indent="-457200">
              <a:buFont typeface="Arial" panose="020B0604020202020204" pitchFamily="34" charset="0"/>
              <a:buChar char="•"/>
            </a:pPr>
            <a:r>
              <a:rPr lang="en-US" sz="2800" dirty="0"/>
              <a:t>As a signatory to the Alma-Ata Declaration, the Government of India was committed to achieving the goal of Health for All through primary health care approach which seeks to provide universal comprehensive health care at a cost which is affordable. </a:t>
            </a:r>
          </a:p>
          <a:p>
            <a:pPr marL="457200" indent="-457200">
              <a:buFont typeface="Arial" panose="020B0604020202020204" pitchFamily="34" charset="0"/>
              <a:buChar char="•"/>
            </a:pPr>
            <a:r>
              <a:rPr lang="en-US" sz="2800" dirty="0"/>
              <a:t>Keeping in view the WHO goal of “Health for All" by 2000 AD, the Government of India evolved a National Health Policy based on primary health care approach. </a:t>
            </a:r>
          </a:p>
          <a:p>
            <a:pPr marL="457200" indent="-457200">
              <a:buFont typeface="Arial" panose="020B0604020202020204" pitchFamily="34" charset="0"/>
              <a:buChar char="•"/>
            </a:pPr>
            <a:r>
              <a:rPr lang="en-US" sz="2800" dirty="0"/>
              <a:t>It was approved by Parliament in 1983.</a:t>
            </a:r>
          </a:p>
        </p:txBody>
      </p:sp>
    </p:spTree>
    <p:extLst>
      <p:ext uri="{BB962C8B-B14F-4D97-AF65-F5344CB8AC3E}">
        <p14:creationId xmlns:p14="http://schemas.microsoft.com/office/powerpoint/2010/main" val="17514645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38318-9C62-164D-3BEA-E2BA810C0F6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66121ED-19B5-4D70-F188-58F0E5775F5A}"/>
              </a:ext>
            </a:extLst>
          </p:cNvPr>
          <p:cNvSpPr>
            <a:spLocks noGrp="1"/>
          </p:cNvSpPr>
          <p:nvPr>
            <p:ph type="body" sz="quarter" idx="10"/>
          </p:nvPr>
        </p:nvSpPr>
        <p:spPr>
          <a:xfrm>
            <a:off x="526097" y="924560"/>
            <a:ext cx="11139806" cy="5110480"/>
          </a:xfrm>
        </p:spPr>
        <p:txBody>
          <a:bodyPr>
            <a:normAutofit lnSpcReduction="10000"/>
          </a:bodyPr>
          <a:lstStyle/>
          <a:p>
            <a:pPr marL="457200" indent="-457200">
              <a:buFont typeface="Arial" panose="020B0604020202020204" pitchFamily="34" charset="0"/>
              <a:buChar char="•"/>
            </a:pPr>
            <a:r>
              <a:rPr lang="en-US" sz="2800" dirty="0"/>
              <a:t>The National Health Policy laid down a plan of action for reorienting and shaping the existing rural health infrastructure with specific goals to be achieved by 1985, 1990 and 1995 within the framework of the Sixth (1980-85) and Seventh (1985-90) Five Year Plans and the new 20-point </a:t>
            </a:r>
            <a:r>
              <a:rPr lang="en-US" sz="2800" dirty="0" err="1"/>
              <a:t>Programme</a:t>
            </a:r>
            <a:r>
              <a:rPr lang="en-US" sz="2800" dirty="0"/>
              <a:t>. </a:t>
            </a:r>
          </a:p>
          <a:p>
            <a:pPr marL="457200" indent="-457200">
              <a:buFont typeface="Arial" panose="020B0604020202020204" pitchFamily="34" charset="0"/>
              <a:buChar char="•"/>
            </a:pPr>
            <a:r>
              <a:rPr lang="en-US" sz="2800" dirty="0"/>
              <a:t>Steps were taken to implement the National Health Policy objectives towards achieving Health for All by the year 2000. </a:t>
            </a:r>
          </a:p>
          <a:p>
            <a:pPr marL="457200" indent="-457200">
              <a:buFont typeface="Arial" panose="020B0604020202020204" pitchFamily="34" charset="0"/>
              <a:buChar char="•"/>
            </a:pPr>
            <a:r>
              <a:rPr lang="en-US" sz="2800" dirty="0"/>
              <a:t>During the last decade further development of rural health infrastructure took place in view to implement National Health Policy 2002, National Population Policy 2000 and more recently National Rural Health Mission with formulation of Indian Public Health Standards.</a:t>
            </a:r>
          </a:p>
        </p:txBody>
      </p:sp>
    </p:spTree>
    <p:extLst>
      <p:ext uri="{BB962C8B-B14F-4D97-AF65-F5344CB8AC3E}">
        <p14:creationId xmlns:p14="http://schemas.microsoft.com/office/powerpoint/2010/main" val="33846057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2075DF6-8FC6-C036-C9DE-C67FDFC3AEAF}"/>
              </a:ext>
            </a:extLst>
          </p:cNvPr>
          <p:cNvSpPr>
            <a:spLocks noGrp="1"/>
          </p:cNvSpPr>
          <p:nvPr>
            <p:ph type="body" sz="quarter" idx="10"/>
          </p:nvPr>
        </p:nvSpPr>
        <p:spPr>
          <a:xfrm>
            <a:off x="422274" y="568960"/>
            <a:ext cx="11261725" cy="5638800"/>
          </a:xfrm>
        </p:spPr>
        <p:txBody>
          <a:bodyPr/>
          <a:lstStyle/>
          <a:p>
            <a:r>
              <a:rPr lang="en-US" sz="4000" b="1" dirty="0"/>
              <a:t>Village Level: </a:t>
            </a:r>
          </a:p>
          <a:p>
            <a:pPr marL="342900" indent="-342900">
              <a:buFont typeface="Arial" panose="020B0604020202020204" pitchFamily="34" charset="0"/>
              <a:buChar char="•"/>
            </a:pPr>
            <a:r>
              <a:rPr lang="en-US" dirty="0"/>
              <a:t>One of the basic tenets of primary health care is universal coverage and equitable distribution of health resources. </a:t>
            </a:r>
          </a:p>
          <a:p>
            <a:pPr marL="342900" indent="-342900">
              <a:buFont typeface="Arial" panose="020B0604020202020204" pitchFamily="34" charset="0"/>
              <a:buChar char="•"/>
            </a:pPr>
            <a:r>
              <a:rPr lang="en-US" dirty="0"/>
              <a:t>That is, health care must penetrate into the farthest reaches of rural areas, and that everyone should have access to it. </a:t>
            </a:r>
          </a:p>
          <a:p>
            <a:pPr marL="342900" indent="-342900">
              <a:buFont typeface="Arial" panose="020B0604020202020204" pitchFamily="34" charset="0"/>
              <a:buChar char="•"/>
            </a:pPr>
            <a:r>
              <a:rPr lang="en-US" dirty="0"/>
              <a:t>To implement this policy at the village level, the following schemes are in operation : </a:t>
            </a:r>
          </a:p>
          <a:p>
            <a:pPr marL="457200" indent="-457200">
              <a:buAutoNum type="alphaLcPeriod"/>
            </a:pPr>
            <a:r>
              <a:rPr lang="en-US" dirty="0"/>
              <a:t>ASHA Scheme</a:t>
            </a:r>
          </a:p>
          <a:p>
            <a:pPr marL="457200" indent="-457200">
              <a:buAutoNum type="alphaLcPeriod"/>
            </a:pPr>
            <a:r>
              <a:rPr lang="en-US" dirty="0"/>
              <a:t>b. ICDS Scheme</a:t>
            </a:r>
          </a:p>
          <a:p>
            <a:pPr marL="457200" indent="-457200">
              <a:buAutoNum type="alphaLcPeriod"/>
            </a:pPr>
            <a:r>
              <a:rPr lang="en-US" dirty="0"/>
              <a:t>c. Training of Local Dais</a:t>
            </a:r>
          </a:p>
          <a:p>
            <a:pPr marL="457200" indent="-457200">
              <a:buAutoNum type="alphaLcPeriod"/>
            </a:pPr>
            <a:r>
              <a:rPr lang="en-US" dirty="0"/>
              <a:t>ASHA</a:t>
            </a:r>
            <a:endParaRPr lang="en-IN" dirty="0"/>
          </a:p>
        </p:txBody>
      </p:sp>
    </p:spTree>
    <p:extLst>
      <p:ext uri="{BB962C8B-B14F-4D97-AF65-F5344CB8AC3E}">
        <p14:creationId xmlns:p14="http://schemas.microsoft.com/office/powerpoint/2010/main" val="14776858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645CA9A-4C68-CBC1-7308-FDBED0BC1917}"/>
              </a:ext>
            </a:extLst>
          </p:cNvPr>
          <p:cNvSpPr>
            <a:spLocks noGrp="1"/>
          </p:cNvSpPr>
          <p:nvPr>
            <p:ph type="body" sz="quarter" idx="10"/>
          </p:nvPr>
        </p:nvSpPr>
        <p:spPr>
          <a:xfrm>
            <a:off x="422274" y="1066800"/>
            <a:ext cx="11078845" cy="4610100"/>
          </a:xfrm>
        </p:spPr>
        <p:txBody>
          <a:bodyPr>
            <a:normAutofit/>
          </a:bodyPr>
          <a:lstStyle/>
          <a:p>
            <a:pPr marL="342900" indent="-342900">
              <a:buFont typeface="Arial" panose="020B0604020202020204" pitchFamily="34" charset="0"/>
              <a:buChar char="•"/>
            </a:pPr>
            <a:r>
              <a:rPr lang="en-US" sz="2800" dirty="0"/>
              <a:t>ASHA must be resident of the village - a woman (married/ widow/divorced) preferably in the age group of 25 to 45 years with formal education </a:t>
            </a:r>
            <a:r>
              <a:rPr lang="en-US" sz="2800" dirty="0" err="1"/>
              <a:t>upto</a:t>
            </a:r>
            <a:r>
              <a:rPr lang="en-US" sz="2800" dirty="0"/>
              <a:t> eight class, having communication skill and leadership qualities. </a:t>
            </a:r>
          </a:p>
          <a:p>
            <a:pPr marL="342900" indent="-342900">
              <a:buFont typeface="Arial" panose="020B0604020202020204" pitchFamily="34" charset="0"/>
              <a:buChar char="•"/>
            </a:pPr>
            <a:r>
              <a:rPr lang="en-US" sz="2800" dirty="0"/>
              <a:t>Adequate representation from the disadvantaged population group will ensure to serve such groups better. </a:t>
            </a:r>
          </a:p>
          <a:p>
            <a:pPr marL="342900" indent="-342900">
              <a:buFont typeface="Arial" panose="020B0604020202020204" pitchFamily="34" charset="0"/>
              <a:buChar char="•"/>
            </a:pPr>
            <a:r>
              <a:rPr lang="en-US" sz="2800" dirty="0"/>
              <a:t>The general norm of selection is one ASHA for 1000 population. In tribal, hilly and desert areas the norm could be relaxed to one ASHA per habitation.</a:t>
            </a:r>
            <a:endParaRPr lang="en-IN" sz="2800" dirty="0"/>
          </a:p>
        </p:txBody>
      </p:sp>
    </p:spTree>
    <p:extLst>
      <p:ext uri="{BB962C8B-B14F-4D97-AF65-F5344CB8AC3E}">
        <p14:creationId xmlns:p14="http://schemas.microsoft.com/office/powerpoint/2010/main" val="18044627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D7D7D-87BA-3E1C-4BE5-5E410F3E1779}"/>
              </a:ext>
            </a:extLst>
          </p:cNvPr>
          <p:cNvSpPr>
            <a:spLocks noGrp="1"/>
          </p:cNvSpPr>
          <p:nvPr>
            <p:ph type="title"/>
          </p:nvPr>
        </p:nvSpPr>
        <p:spPr>
          <a:xfrm>
            <a:off x="503457" y="525463"/>
            <a:ext cx="10778937" cy="1325563"/>
          </a:xfrm>
        </p:spPr>
        <p:txBody>
          <a:bodyPr>
            <a:normAutofit/>
          </a:bodyPr>
          <a:lstStyle/>
          <a:p>
            <a:r>
              <a:rPr lang="en-US" sz="4000" b="1" dirty="0"/>
              <a:t>Role and responsibilities of ASHA</a:t>
            </a:r>
            <a:endParaRPr lang="en-IN" sz="4000" b="1" dirty="0"/>
          </a:p>
        </p:txBody>
      </p:sp>
      <p:sp>
        <p:nvSpPr>
          <p:cNvPr id="4" name="Slide Number Placeholder 3">
            <a:extLst>
              <a:ext uri="{FF2B5EF4-FFF2-40B4-BE49-F238E27FC236}">
                <a16:creationId xmlns:a16="http://schemas.microsoft.com/office/drawing/2014/main" id="{EFFA2501-4C65-1963-33EA-11EB17ED9D9A}"/>
              </a:ext>
            </a:extLst>
          </p:cNvPr>
          <p:cNvSpPr>
            <a:spLocks noGrp="1"/>
          </p:cNvSpPr>
          <p:nvPr>
            <p:ph type="sldNum" sz="quarter" idx="4"/>
          </p:nvPr>
        </p:nvSpPr>
        <p:spPr/>
        <p:txBody>
          <a:bodyPr/>
          <a:lstStyle/>
          <a:p>
            <a:fld id="{3A4F6043-7A67-491B-98BC-F933DED7226D}" type="slidenum">
              <a:rPr lang="en-US" smtClean="0"/>
              <a:pPr/>
              <a:t>56</a:t>
            </a:fld>
            <a:endParaRPr lang="en-US" dirty="0"/>
          </a:p>
        </p:txBody>
      </p:sp>
      <p:sp>
        <p:nvSpPr>
          <p:cNvPr id="5" name="TextBox 4">
            <a:extLst>
              <a:ext uri="{FF2B5EF4-FFF2-40B4-BE49-F238E27FC236}">
                <a16:creationId xmlns:a16="http://schemas.microsoft.com/office/drawing/2014/main" id="{F47B918C-99E3-C374-7DE3-E5150953934A}"/>
              </a:ext>
            </a:extLst>
          </p:cNvPr>
          <p:cNvSpPr txBox="1"/>
          <p:nvPr/>
        </p:nvSpPr>
        <p:spPr>
          <a:xfrm>
            <a:off x="629920" y="1690688"/>
            <a:ext cx="10873232" cy="4401205"/>
          </a:xfrm>
          <a:prstGeom prst="rect">
            <a:avLst/>
          </a:prstGeom>
          <a:noFill/>
        </p:spPr>
        <p:txBody>
          <a:bodyPr wrap="square" rtlCol="0">
            <a:spAutoFit/>
          </a:bodyPr>
          <a:lstStyle/>
          <a:p>
            <a:pPr marL="457200" indent="-457200">
              <a:buFont typeface="Arial" panose="020B0604020202020204" pitchFamily="34" charset="0"/>
              <a:buChar char="•"/>
            </a:pPr>
            <a:r>
              <a:rPr lang="en-US" sz="2800" dirty="0"/>
              <a:t>ASHA will take steps to create awareness and provide information to the community on determinants of health such as nutrition, basic sanitation and hygienic practices, healthy living and working conditions, information on existing health services, and the need for timely utilization of health and family welfare services. </a:t>
            </a:r>
          </a:p>
          <a:p>
            <a:pPr marL="457200" indent="-457200">
              <a:buFont typeface="Arial" panose="020B0604020202020204" pitchFamily="34" charset="0"/>
              <a:buChar char="•"/>
            </a:pPr>
            <a:r>
              <a:rPr lang="en-US" sz="2800" dirty="0"/>
              <a:t>She will counsel women on birth preparedness, importance of safe delivery, breast-feeding and complementary feeding, immunization, contraception and prevention of common infections including reproductive tract infection/sexually transmitted infection and care of the young child.</a:t>
            </a:r>
            <a:endParaRPr lang="en-IN" sz="2800" dirty="0"/>
          </a:p>
        </p:txBody>
      </p:sp>
    </p:spTree>
    <p:extLst>
      <p:ext uri="{BB962C8B-B14F-4D97-AF65-F5344CB8AC3E}">
        <p14:creationId xmlns:p14="http://schemas.microsoft.com/office/powerpoint/2010/main" val="6705704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251CB5-3D1B-663F-4E5B-E58482ECAC06}"/>
              </a:ext>
            </a:extLst>
          </p:cNvPr>
          <p:cNvSpPr>
            <a:spLocks noGrp="1"/>
          </p:cNvSpPr>
          <p:nvPr>
            <p:ph type="sldNum" sz="quarter" idx="4"/>
          </p:nvPr>
        </p:nvSpPr>
        <p:spPr/>
        <p:txBody>
          <a:bodyPr/>
          <a:lstStyle/>
          <a:p>
            <a:fld id="{3A4F6043-7A67-491B-98BC-F933DED7226D}" type="slidenum">
              <a:rPr lang="en-US" smtClean="0"/>
              <a:pPr/>
              <a:t>57</a:t>
            </a:fld>
            <a:endParaRPr lang="en-US" dirty="0"/>
          </a:p>
        </p:txBody>
      </p:sp>
      <p:sp>
        <p:nvSpPr>
          <p:cNvPr id="6" name="TextBox 5">
            <a:extLst>
              <a:ext uri="{FF2B5EF4-FFF2-40B4-BE49-F238E27FC236}">
                <a16:creationId xmlns:a16="http://schemas.microsoft.com/office/drawing/2014/main" id="{E84D17D9-90D3-7837-17F1-312B4F6E24FA}"/>
              </a:ext>
            </a:extLst>
          </p:cNvPr>
          <p:cNvSpPr txBox="1"/>
          <p:nvPr/>
        </p:nvSpPr>
        <p:spPr>
          <a:xfrm>
            <a:off x="396240" y="894080"/>
            <a:ext cx="11236960" cy="4401205"/>
          </a:xfrm>
          <a:prstGeom prst="rect">
            <a:avLst/>
          </a:prstGeom>
          <a:noFill/>
        </p:spPr>
        <p:txBody>
          <a:bodyPr wrap="square" rtlCol="0">
            <a:spAutoFit/>
          </a:bodyPr>
          <a:lstStyle/>
          <a:p>
            <a:pPr marL="457200" indent="-457200">
              <a:buFont typeface="Arial" panose="020B0604020202020204" pitchFamily="34" charset="0"/>
              <a:buChar char="•"/>
            </a:pPr>
            <a:r>
              <a:rPr lang="en-US" sz="2800" dirty="0"/>
              <a:t>ASHA will mobilize the community and facilitate them in accessing health and health related services available at the </a:t>
            </a:r>
            <a:r>
              <a:rPr lang="en-US" sz="2800" dirty="0" err="1"/>
              <a:t>anganwadi</a:t>
            </a:r>
            <a:r>
              <a:rPr lang="en-US" sz="2800" dirty="0"/>
              <a:t>/</a:t>
            </a:r>
            <a:r>
              <a:rPr lang="en-US" sz="2800" dirty="0" err="1"/>
              <a:t>subcentre</a:t>
            </a:r>
            <a:r>
              <a:rPr lang="en-US" sz="2800" dirty="0"/>
              <a:t>/primary health </a:t>
            </a:r>
            <a:r>
              <a:rPr lang="en-US" sz="2800" dirty="0" err="1"/>
              <a:t>centres</a:t>
            </a:r>
            <a:r>
              <a:rPr lang="en-US" sz="2800" dirty="0"/>
              <a:t>, such as immunization, antenatal check-up, postnatal check-up, supplementary nutrition, sanitation and other services being provided by the government. </a:t>
            </a:r>
          </a:p>
          <a:p>
            <a:pPr marL="457200" indent="-457200">
              <a:buFont typeface="Arial" panose="020B0604020202020204" pitchFamily="34" charset="0"/>
              <a:buChar char="•"/>
            </a:pPr>
            <a:r>
              <a:rPr lang="en-US" sz="2800" dirty="0"/>
              <a:t>She will work with the village health and sanitation committee of the gram panchayat to develop a comprehensive village health plan.</a:t>
            </a:r>
          </a:p>
          <a:p>
            <a:pPr marL="457200" indent="-457200">
              <a:buFont typeface="Arial" panose="020B0604020202020204" pitchFamily="34" charset="0"/>
              <a:buChar char="•"/>
            </a:pPr>
            <a:r>
              <a:rPr lang="en-US" sz="2800" dirty="0"/>
              <a:t>She will arrange escort/accompany pregnant women and children requiring treatment/admission to the nearest pre-identified health facility i.e. primary health </a:t>
            </a:r>
            <a:r>
              <a:rPr lang="en-US" sz="2800" dirty="0" err="1"/>
              <a:t>centre</a:t>
            </a:r>
            <a:r>
              <a:rPr lang="en-US" sz="2800" dirty="0"/>
              <a:t>/community health </a:t>
            </a:r>
            <a:r>
              <a:rPr lang="en-US" sz="2800" dirty="0" err="1"/>
              <a:t>centre</a:t>
            </a:r>
            <a:r>
              <a:rPr lang="en-US" sz="2800" dirty="0"/>
              <a:t>/First Referral Unit.</a:t>
            </a:r>
            <a:endParaRPr lang="en-IN" sz="2800" dirty="0"/>
          </a:p>
        </p:txBody>
      </p:sp>
    </p:spTree>
    <p:extLst>
      <p:ext uri="{BB962C8B-B14F-4D97-AF65-F5344CB8AC3E}">
        <p14:creationId xmlns:p14="http://schemas.microsoft.com/office/powerpoint/2010/main" val="37412027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912285-E1AF-9EEC-165B-40A76865988B}"/>
              </a:ext>
            </a:extLst>
          </p:cNvPr>
          <p:cNvSpPr>
            <a:spLocks noGrp="1"/>
          </p:cNvSpPr>
          <p:nvPr>
            <p:ph type="sldNum" sz="quarter" idx="4"/>
          </p:nvPr>
        </p:nvSpPr>
        <p:spPr/>
        <p:txBody>
          <a:bodyPr/>
          <a:lstStyle/>
          <a:p>
            <a:fld id="{3A4F6043-7A67-491B-98BC-F933DED7226D}" type="slidenum">
              <a:rPr lang="en-US" smtClean="0"/>
              <a:pPr/>
              <a:t>58</a:t>
            </a:fld>
            <a:endParaRPr lang="en-US" dirty="0"/>
          </a:p>
        </p:txBody>
      </p:sp>
      <p:sp>
        <p:nvSpPr>
          <p:cNvPr id="5" name="TextBox 4">
            <a:extLst>
              <a:ext uri="{FF2B5EF4-FFF2-40B4-BE49-F238E27FC236}">
                <a16:creationId xmlns:a16="http://schemas.microsoft.com/office/drawing/2014/main" id="{A42E5B07-68C6-1DA8-3AC6-A1417046790E}"/>
              </a:ext>
            </a:extLst>
          </p:cNvPr>
          <p:cNvSpPr txBox="1"/>
          <p:nvPr/>
        </p:nvSpPr>
        <p:spPr>
          <a:xfrm>
            <a:off x="650240" y="1026160"/>
            <a:ext cx="11033760" cy="4832092"/>
          </a:xfrm>
          <a:prstGeom prst="rect">
            <a:avLst/>
          </a:prstGeom>
          <a:noFill/>
        </p:spPr>
        <p:txBody>
          <a:bodyPr wrap="square" rtlCol="0">
            <a:spAutoFit/>
          </a:bodyPr>
          <a:lstStyle/>
          <a:p>
            <a:pPr marL="457200" indent="-457200">
              <a:buFont typeface="Arial" panose="020B0604020202020204" pitchFamily="34" charset="0"/>
              <a:buChar char="•"/>
            </a:pPr>
            <a:r>
              <a:rPr lang="en-US" sz="2800" dirty="0"/>
              <a:t>ASHA will provide primary medical care for minor ailments such as </a:t>
            </a:r>
            <a:r>
              <a:rPr lang="en-US" sz="2800" dirty="0" err="1"/>
              <a:t>diarrhoea</a:t>
            </a:r>
            <a:r>
              <a:rPr lang="en-US" sz="2800" dirty="0"/>
              <a:t>, fevers, and first-aid for minor injuries. She will be a provider of directly observed treatment short-course (DOTS) under revised national tuberculosis control </a:t>
            </a:r>
            <a:r>
              <a:rPr lang="en-US" sz="2800" dirty="0" err="1"/>
              <a:t>programme</a:t>
            </a:r>
            <a:r>
              <a:rPr lang="en-US" sz="2800" dirty="0"/>
              <a:t>. </a:t>
            </a:r>
          </a:p>
          <a:p>
            <a:pPr marL="457200" indent="-457200">
              <a:buFont typeface="Arial" panose="020B0604020202020204" pitchFamily="34" charset="0"/>
              <a:buChar char="•"/>
            </a:pPr>
            <a:r>
              <a:rPr lang="en-US" sz="2800" dirty="0"/>
              <a:t>She will also act as a depot holder for essential provisions being made available to every habitation like oral rehydration therapy, iron folic acid tablet, chloroquine, disposable delivery kits, oral pills and condoms etc. A drug kit will be provided to each ASHA. Contents of the kit will be based on the recommendations of the expert/technical advisory group set up by the government of India, and include both AYUSH and allopathic formulations.</a:t>
            </a:r>
            <a:endParaRPr lang="en-IN" sz="2800" dirty="0"/>
          </a:p>
        </p:txBody>
      </p:sp>
    </p:spTree>
    <p:extLst>
      <p:ext uri="{BB962C8B-B14F-4D97-AF65-F5344CB8AC3E}">
        <p14:creationId xmlns:p14="http://schemas.microsoft.com/office/powerpoint/2010/main" val="30064546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B16EB8-0721-1D2D-EC81-1F91039059B9}"/>
              </a:ext>
            </a:extLst>
          </p:cNvPr>
          <p:cNvSpPr>
            <a:spLocks noGrp="1"/>
          </p:cNvSpPr>
          <p:nvPr>
            <p:ph type="sldNum" sz="quarter" idx="4"/>
          </p:nvPr>
        </p:nvSpPr>
        <p:spPr/>
        <p:txBody>
          <a:bodyPr/>
          <a:lstStyle/>
          <a:p>
            <a:fld id="{3A4F6043-7A67-491B-98BC-F933DED7226D}" type="slidenum">
              <a:rPr lang="en-US" smtClean="0"/>
              <a:pPr/>
              <a:t>59</a:t>
            </a:fld>
            <a:endParaRPr lang="en-US" dirty="0"/>
          </a:p>
        </p:txBody>
      </p:sp>
      <p:sp>
        <p:nvSpPr>
          <p:cNvPr id="5" name="TextBox 4">
            <a:extLst>
              <a:ext uri="{FF2B5EF4-FFF2-40B4-BE49-F238E27FC236}">
                <a16:creationId xmlns:a16="http://schemas.microsoft.com/office/drawing/2014/main" id="{0DA7ED0C-6716-9AE6-1148-CFCFB1B33CBF}"/>
              </a:ext>
            </a:extLst>
          </p:cNvPr>
          <p:cNvSpPr txBox="1"/>
          <p:nvPr/>
        </p:nvSpPr>
        <p:spPr>
          <a:xfrm>
            <a:off x="680720" y="1127760"/>
            <a:ext cx="10822432"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Her role as a provider can be enhanced subsequently. States can explore the possibility of graded training to her for providing newborn care and management of a range of common ailments, particularly childhood illnesses. </a:t>
            </a:r>
          </a:p>
          <a:p>
            <a:pPr marL="457200" indent="-457200">
              <a:buFont typeface="Arial" panose="020B0604020202020204" pitchFamily="34" charset="0"/>
              <a:buChar char="•"/>
            </a:pPr>
            <a:r>
              <a:rPr lang="en-US" sz="2800" dirty="0"/>
              <a:t>She will inform about the births and deaths in her village and any unusual health problems/disease outbreaks in the community to the sub-</a:t>
            </a:r>
            <a:r>
              <a:rPr lang="en-US" sz="2800" dirty="0" err="1"/>
              <a:t>centre</a:t>
            </a:r>
            <a:r>
              <a:rPr lang="en-US" sz="2800" dirty="0"/>
              <a:t>/primary health </a:t>
            </a:r>
            <a:r>
              <a:rPr lang="en-US" sz="2800" dirty="0" err="1"/>
              <a:t>centre</a:t>
            </a:r>
            <a:endParaRPr lang="en-US" sz="2800" dirty="0"/>
          </a:p>
          <a:p>
            <a:pPr marL="457200" indent="-457200">
              <a:buFont typeface="Arial" panose="020B0604020202020204" pitchFamily="34" charset="0"/>
              <a:buChar char="•"/>
            </a:pPr>
            <a:r>
              <a:rPr lang="en-US" sz="2800" dirty="0"/>
              <a:t>She will promote construction of household toilets under total sanitation campaign.</a:t>
            </a:r>
            <a:endParaRPr lang="en-IN" sz="2800" dirty="0"/>
          </a:p>
        </p:txBody>
      </p:sp>
    </p:spTree>
    <p:extLst>
      <p:ext uri="{BB962C8B-B14F-4D97-AF65-F5344CB8AC3E}">
        <p14:creationId xmlns:p14="http://schemas.microsoft.com/office/powerpoint/2010/main" val="39307873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CD16100-22EA-5BE9-4C70-D9DF89898BB2}"/>
              </a:ext>
            </a:extLst>
          </p:cNvPr>
          <p:cNvSpPr>
            <a:spLocks noGrp="1"/>
          </p:cNvSpPr>
          <p:nvPr>
            <p:ph type="sldNum" sz="quarter" idx="4"/>
          </p:nvPr>
        </p:nvSpPr>
        <p:spPr/>
        <p:txBody>
          <a:bodyPr/>
          <a:lstStyle/>
          <a:p>
            <a:fld id="{3A4F6043-7A67-491B-98BC-F933DED7226D}" type="slidenum">
              <a:rPr lang="en-US" smtClean="0"/>
              <a:pPr/>
              <a:t>60</a:t>
            </a:fld>
            <a:endParaRPr lang="en-US" dirty="0"/>
          </a:p>
        </p:txBody>
      </p:sp>
      <p:sp>
        <p:nvSpPr>
          <p:cNvPr id="6" name="TextBox 5">
            <a:extLst>
              <a:ext uri="{FF2B5EF4-FFF2-40B4-BE49-F238E27FC236}">
                <a16:creationId xmlns:a16="http://schemas.microsoft.com/office/drawing/2014/main" id="{9E9AF708-3D2D-0B00-2B49-59F0E23BCFC4}"/>
              </a:ext>
            </a:extLst>
          </p:cNvPr>
          <p:cNvSpPr txBox="1"/>
          <p:nvPr/>
        </p:nvSpPr>
        <p:spPr>
          <a:xfrm>
            <a:off x="802640" y="1016000"/>
            <a:ext cx="10700512" cy="5016758"/>
          </a:xfrm>
          <a:prstGeom prst="rect">
            <a:avLst/>
          </a:prstGeom>
          <a:noFill/>
        </p:spPr>
        <p:txBody>
          <a:bodyPr wrap="square" rtlCol="0">
            <a:spAutoFit/>
          </a:bodyPr>
          <a:lstStyle/>
          <a:p>
            <a:r>
              <a:rPr lang="en-US" sz="4000" b="1" dirty="0">
                <a:solidFill>
                  <a:schemeClr val="tx1">
                    <a:lumMod val="65000"/>
                    <a:lumOff val="35000"/>
                  </a:schemeClr>
                </a:solidFill>
              </a:rPr>
              <a:t>Role and integration with Anganwadi</a:t>
            </a:r>
          </a:p>
          <a:p>
            <a:r>
              <a:rPr lang="en-US" sz="2800" dirty="0">
                <a:solidFill>
                  <a:schemeClr val="tx1">
                    <a:lumMod val="65000"/>
                    <a:lumOff val="35000"/>
                  </a:schemeClr>
                </a:solidFill>
              </a:rPr>
              <a:t> </a:t>
            </a:r>
          </a:p>
          <a:p>
            <a:pPr marL="457200" indent="-457200">
              <a:buFont typeface="Arial" panose="020B0604020202020204" pitchFamily="34" charset="0"/>
              <a:buChar char="•"/>
            </a:pPr>
            <a:r>
              <a:rPr lang="en-US" sz="2800" dirty="0">
                <a:solidFill>
                  <a:schemeClr val="tx1">
                    <a:lumMod val="65000"/>
                    <a:lumOff val="35000"/>
                  </a:schemeClr>
                </a:solidFill>
              </a:rPr>
              <a:t>Anganwadi worker will guide ASHA in performing following activities : </a:t>
            </a:r>
          </a:p>
          <a:p>
            <a:pPr marL="457200" indent="-457200">
              <a:buFont typeface="Arial" panose="020B0604020202020204" pitchFamily="34" charset="0"/>
              <a:buChar char="•"/>
            </a:pPr>
            <a:endParaRPr lang="en-US" sz="2800" dirty="0">
              <a:solidFill>
                <a:schemeClr val="tx1">
                  <a:lumMod val="65000"/>
                  <a:lumOff val="35000"/>
                </a:schemeClr>
              </a:solidFill>
            </a:endParaRPr>
          </a:p>
          <a:p>
            <a:pPr marL="457200" indent="-457200">
              <a:buFont typeface="Arial" panose="020B0604020202020204" pitchFamily="34" charset="0"/>
              <a:buChar char="•"/>
            </a:pPr>
            <a:r>
              <a:rPr lang="en-US" sz="2800" dirty="0">
                <a:solidFill>
                  <a:schemeClr val="tx1">
                    <a:lumMod val="65000"/>
                    <a:lumOff val="35000"/>
                  </a:schemeClr>
                </a:solidFill>
              </a:rPr>
              <a:t>Organizing Health Day once/twice a month. On health day, the women, adolescent girls and children from the village will be mobilized for orientation on health-related issues such as importance of nutritious food, personal hygiene, care during pregnancy, importance of antenatal check-up and institutional delivery, home remedies for minor ailment and importance of immunization etc. AWWs will inform ANM to participate and guide organizing the Health Days at </a:t>
            </a:r>
            <a:r>
              <a:rPr lang="en-US" sz="2800" dirty="0" err="1">
                <a:solidFill>
                  <a:schemeClr val="tx1">
                    <a:lumMod val="65000"/>
                    <a:lumOff val="35000"/>
                  </a:schemeClr>
                </a:solidFill>
              </a:rPr>
              <a:t>anganwadi</a:t>
            </a:r>
            <a:r>
              <a:rPr lang="en-US" sz="2800" dirty="0">
                <a:solidFill>
                  <a:schemeClr val="tx1">
                    <a:lumMod val="65000"/>
                    <a:lumOff val="35000"/>
                  </a:schemeClr>
                </a:solidFill>
              </a:rPr>
              <a:t> </a:t>
            </a:r>
            <a:r>
              <a:rPr lang="en-US" sz="2800" dirty="0" err="1">
                <a:solidFill>
                  <a:schemeClr val="tx1">
                    <a:lumMod val="65000"/>
                    <a:lumOff val="35000"/>
                  </a:schemeClr>
                </a:solidFill>
              </a:rPr>
              <a:t>centre</a:t>
            </a:r>
            <a:r>
              <a:rPr lang="en-US" sz="2800" dirty="0">
                <a:solidFill>
                  <a:schemeClr val="tx1">
                    <a:lumMod val="65000"/>
                    <a:lumOff val="35000"/>
                  </a:schemeClr>
                </a:solidFill>
              </a:rPr>
              <a:t>;</a:t>
            </a:r>
            <a:endParaRPr lang="en-IN" sz="2800" dirty="0">
              <a:solidFill>
                <a:schemeClr val="tx1">
                  <a:lumMod val="65000"/>
                  <a:lumOff val="35000"/>
                </a:schemeClr>
              </a:solidFill>
            </a:endParaRPr>
          </a:p>
        </p:txBody>
      </p:sp>
    </p:spTree>
    <p:extLst>
      <p:ext uri="{BB962C8B-B14F-4D97-AF65-F5344CB8AC3E}">
        <p14:creationId xmlns:p14="http://schemas.microsoft.com/office/powerpoint/2010/main" val="31611503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FF122D-6413-7CC0-D745-8F28ADB2F462}"/>
              </a:ext>
            </a:extLst>
          </p:cNvPr>
          <p:cNvSpPr>
            <a:spLocks noGrp="1"/>
          </p:cNvSpPr>
          <p:nvPr>
            <p:ph sz="quarter" idx="4"/>
          </p:nvPr>
        </p:nvSpPr>
        <p:spPr>
          <a:xfrm>
            <a:off x="1087120" y="843280"/>
            <a:ext cx="9988440" cy="4801621"/>
          </a:xfrm>
        </p:spPr>
        <p:txBody>
          <a:bodyPr>
            <a:noAutofit/>
          </a:bodyPr>
          <a:lstStyle/>
          <a:p>
            <a:r>
              <a:rPr lang="en-US" sz="2800" dirty="0"/>
              <a:t>AWWs and ANMs will act as resource persons for the training of ASHA; </a:t>
            </a:r>
          </a:p>
          <a:p>
            <a:r>
              <a:rPr lang="en-US" sz="2800" dirty="0"/>
              <a:t>IEC activity through display of posters, folk dances etc. on these days can be undertaken to sensitize the beneficiaries on health related issues; </a:t>
            </a:r>
          </a:p>
          <a:p>
            <a:r>
              <a:rPr lang="en-US" sz="2800" dirty="0"/>
              <a:t>Anganwadi worker will be depot holder for drug kits and will be issuing it to ASHA. The replacement of the consumed drugs can also be done through AWW; </a:t>
            </a:r>
          </a:p>
        </p:txBody>
      </p:sp>
      <p:sp>
        <p:nvSpPr>
          <p:cNvPr id="4" name="Slide Number Placeholder 3">
            <a:extLst>
              <a:ext uri="{FF2B5EF4-FFF2-40B4-BE49-F238E27FC236}">
                <a16:creationId xmlns:a16="http://schemas.microsoft.com/office/drawing/2014/main" id="{1F9E5232-66B5-84BE-A763-5EEACAC18CD4}"/>
              </a:ext>
            </a:extLst>
          </p:cNvPr>
          <p:cNvSpPr>
            <a:spLocks noGrp="1"/>
          </p:cNvSpPr>
          <p:nvPr>
            <p:ph type="sldNum" sz="quarter" idx="14"/>
          </p:nvPr>
        </p:nvSpPr>
        <p:spPr/>
        <p:txBody>
          <a:bodyPr/>
          <a:lstStyle/>
          <a:p>
            <a:fld id="{3A4F6043-7A67-491B-98BC-F933DED7226D}" type="slidenum">
              <a:rPr lang="en-US" smtClean="0"/>
              <a:pPr/>
              <a:t>61</a:t>
            </a:fld>
            <a:endParaRPr lang="en-US" dirty="0"/>
          </a:p>
        </p:txBody>
      </p:sp>
    </p:spTree>
    <p:extLst>
      <p:ext uri="{BB962C8B-B14F-4D97-AF65-F5344CB8AC3E}">
        <p14:creationId xmlns:p14="http://schemas.microsoft.com/office/powerpoint/2010/main" val="22602291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0D549-3929-7583-0388-258A13D45A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FEFD7A-C1CA-050A-B553-30EDE87F4ADD}"/>
              </a:ext>
            </a:extLst>
          </p:cNvPr>
          <p:cNvSpPr>
            <a:spLocks noGrp="1"/>
          </p:cNvSpPr>
          <p:nvPr>
            <p:ph sz="quarter" idx="4"/>
          </p:nvPr>
        </p:nvSpPr>
        <p:spPr>
          <a:xfrm>
            <a:off x="812800" y="1249681"/>
            <a:ext cx="10690352" cy="3850640"/>
          </a:xfrm>
        </p:spPr>
        <p:txBody>
          <a:bodyPr>
            <a:noAutofit/>
          </a:bodyPr>
          <a:lstStyle/>
          <a:p>
            <a:r>
              <a:rPr lang="en-US" sz="2800" dirty="0"/>
              <a:t>AWW will update the list of eligible couples and also the children less than one year of age in the village with the help of ASHA; and </a:t>
            </a:r>
          </a:p>
          <a:p>
            <a:r>
              <a:rPr lang="en-US" sz="2800" dirty="0"/>
              <a:t>ASHA will support the AWW in mobilizing pregnant and lactating women and infants for nutrition supplement. She would also take initiative for bringing the beneficiaries from the village on specific days of immunization, health check-ups/health days etc. to </a:t>
            </a:r>
            <a:r>
              <a:rPr lang="en-US" sz="2800" dirty="0" err="1"/>
              <a:t>anganwadi</a:t>
            </a:r>
            <a:r>
              <a:rPr lang="en-US" sz="2800" dirty="0"/>
              <a:t> </a:t>
            </a:r>
            <a:r>
              <a:rPr lang="en-US" sz="2800" dirty="0" err="1"/>
              <a:t>centres</a:t>
            </a:r>
            <a:r>
              <a:rPr lang="en-US" sz="2800" dirty="0"/>
              <a:t>.</a:t>
            </a:r>
            <a:endParaRPr lang="en-IN" sz="2800" dirty="0"/>
          </a:p>
          <a:p>
            <a:endParaRPr lang="en-US" sz="2800" dirty="0"/>
          </a:p>
        </p:txBody>
      </p:sp>
      <p:sp>
        <p:nvSpPr>
          <p:cNvPr id="4" name="Slide Number Placeholder 3">
            <a:extLst>
              <a:ext uri="{FF2B5EF4-FFF2-40B4-BE49-F238E27FC236}">
                <a16:creationId xmlns:a16="http://schemas.microsoft.com/office/drawing/2014/main" id="{A977DE56-6D1E-7DBA-F64C-EC4E8B1AD210}"/>
              </a:ext>
            </a:extLst>
          </p:cNvPr>
          <p:cNvSpPr>
            <a:spLocks noGrp="1"/>
          </p:cNvSpPr>
          <p:nvPr>
            <p:ph type="sldNum" sz="quarter" idx="14"/>
          </p:nvPr>
        </p:nvSpPr>
        <p:spPr/>
        <p:txBody>
          <a:bodyPr/>
          <a:lstStyle/>
          <a:p>
            <a:fld id="{3A4F6043-7A67-491B-98BC-F933DED7226D}" type="slidenum">
              <a:rPr lang="en-US" smtClean="0"/>
              <a:pPr/>
              <a:t>62</a:t>
            </a:fld>
            <a:endParaRPr lang="en-US" dirty="0"/>
          </a:p>
        </p:txBody>
      </p:sp>
    </p:spTree>
    <p:extLst>
      <p:ext uri="{BB962C8B-B14F-4D97-AF65-F5344CB8AC3E}">
        <p14:creationId xmlns:p14="http://schemas.microsoft.com/office/powerpoint/2010/main" val="5522303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993016-7AEB-7914-48B9-6FA4193CCED4}"/>
              </a:ext>
            </a:extLst>
          </p:cNvPr>
          <p:cNvSpPr>
            <a:spLocks noGrp="1"/>
          </p:cNvSpPr>
          <p:nvPr>
            <p:ph type="sldNum" sz="quarter" idx="14"/>
          </p:nvPr>
        </p:nvSpPr>
        <p:spPr/>
        <p:txBody>
          <a:bodyPr/>
          <a:lstStyle/>
          <a:p>
            <a:fld id="{3A4F6043-7A67-491B-98BC-F933DED7226D}" type="slidenum">
              <a:rPr lang="en-US" smtClean="0"/>
              <a:pPr/>
              <a:t>63</a:t>
            </a:fld>
            <a:endParaRPr lang="en-US" dirty="0"/>
          </a:p>
        </p:txBody>
      </p:sp>
      <p:sp>
        <p:nvSpPr>
          <p:cNvPr id="5" name="Content Placeholder 4">
            <a:extLst>
              <a:ext uri="{FF2B5EF4-FFF2-40B4-BE49-F238E27FC236}">
                <a16:creationId xmlns:a16="http://schemas.microsoft.com/office/drawing/2014/main" id="{70979FC3-A93F-275F-C8A2-0867229B64C8}"/>
              </a:ext>
            </a:extLst>
          </p:cNvPr>
          <p:cNvSpPr>
            <a:spLocks noGrp="1"/>
          </p:cNvSpPr>
          <p:nvPr>
            <p:ph sz="half" idx="15"/>
          </p:nvPr>
        </p:nvSpPr>
        <p:spPr>
          <a:xfrm>
            <a:off x="422178" y="568960"/>
            <a:ext cx="11080974" cy="5415280"/>
          </a:xfrm>
        </p:spPr>
        <p:txBody>
          <a:bodyPr>
            <a:normAutofit fontScale="92500"/>
          </a:bodyPr>
          <a:lstStyle/>
          <a:p>
            <a:r>
              <a:rPr lang="en-US" sz="4000" b="1" dirty="0"/>
              <a:t>Role and integration with ANM </a:t>
            </a:r>
          </a:p>
          <a:p>
            <a:r>
              <a:rPr lang="en-US" sz="2800" dirty="0"/>
              <a:t>Auxiliary Nurse Midwife (ANM) will guide ASHA in performing following activities : </a:t>
            </a:r>
          </a:p>
          <a:p>
            <a:pPr marL="342900" indent="-342900">
              <a:buAutoNum type="alphaLcParenBoth"/>
            </a:pPr>
            <a:r>
              <a:rPr lang="en-US" sz="2800" dirty="0"/>
              <a:t>She will hold weekly/ fortnightly meeting with ASHA and discuss the activities undertaken during the week/fortnight. She will guide her in case ASHA had encountered any problem during the performance of her activity; </a:t>
            </a:r>
          </a:p>
          <a:p>
            <a:pPr marL="342900" indent="-342900">
              <a:buAutoNum type="alphaLcParenBoth"/>
            </a:pPr>
            <a:r>
              <a:rPr lang="en-US" sz="2800" dirty="0"/>
              <a:t>AWWs and ANMs will act as resource persons for the training of ASHA; </a:t>
            </a:r>
          </a:p>
          <a:p>
            <a:pPr marL="342900" indent="-342900">
              <a:buAutoNum type="alphaLcParenBoth"/>
            </a:pPr>
            <a:r>
              <a:rPr lang="en-US" sz="2800" dirty="0"/>
              <a:t>ANMs will inform ASHA regarding date and time of the outreach session and will also guide her for bringing the beneficiary to the outreach session; </a:t>
            </a:r>
            <a:endParaRPr lang="en-IN" sz="2800" dirty="0"/>
          </a:p>
        </p:txBody>
      </p:sp>
    </p:spTree>
    <p:extLst>
      <p:ext uri="{BB962C8B-B14F-4D97-AF65-F5344CB8AC3E}">
        <p14:creationId xmlns:p14="http://schemas.microsoft.com/office/powerpoint/2010/main" val="36967012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73184-A09D-3C33-90B0-BB209F36B05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48A7219-72D3-A7BD-172C-BA364FAE9BF3}"/>
              </a:ext>
            </a:extLst>
          </p:cNvPr>
          <p:cNvSpPr>
            <a:spLocks noGrp="1"/>
          </p:cNvSpPr>
          <p:nvPr>
            <p:ph type="sldNum" sz="quarter" idx="14"/>
          </p:nvPr>
        </p:nvSpPr>
        <p:spPr/>
        <p:txBody>
          <a:bodyPr/>
          <a:lstStyle/>
          <a:p>
            <a:fld id="{3A4F6043-7A67-491B-98BC-F933DED7226D}" type="slidenum">
              <a:rPr lang="en-US" smtClean="0"/>
              <a:pPr/>
              <a:t>64</a:t>
            </a:fld>
            <a:endParaRPr lang="en-US" dirty="0"/>
          </a:p>
        </p:txBody>
      </p:sp>
      <p:sp>
        <p:nvSpPr>
          <p:cNvPr id="5" name="Content Placeholder 4">
            <a:extLst>
              <a:ext uri="{FF2B5EF4-FFF2-40B4-BE49-F238E27FC236}">
                <a16:creationId xmlns:a16="http://schemas.microsoft.com/office/drawing/2014/main" id="{350DD934-21F4-09DC-D88F-2F6E5AD3DC18}"/>
              </a:ext>
            </a:extLst>
          </p:cNvPr>
          <p:cNvSpPr>
            <a:spLocks noGrp="1"/>
          </p:cNvSpPr>
          <p:nvPr>
            <p:ph sz="half" idx="15"/>
          </p:nvPr>
        </p:nvSpPr>
        <p:spPr>
          <a:xfrm>
            <a:off x="802640" y="1026160"/>
            <a:ext cx="10700512" cy="4805680"/>
          </a:xfrm>
        </p:spPr>
        <p:txBody>
          <a:bodyPr>
            <a:normAutofit/>
          </a:bodyPr>
          <a:lstStyle/>
          <a:p>
            <a:r>
              <a:rPr lang="en-US" sz="2800" dirty="0"/>
              <a:t>(d) ANM will participate and guide in organizing the Health Days at Anganwadi-</a:t>
            </a:r>
            <a:r>
              <a:rPr lang="en-US" sz="2800" dirty="0" err="1"/>
              <a:t>centre</a:t>
            </a:r>
            <a:r>
              <a:rPr lang="en-US" sz="2800" dirty="0"/>
              <a:t>. </a:t>
            </a:r>
          </a:p>
          <a:p>
            <a:r>
              <a:rPr lang="en-US" sz="2800" dirty="0"/>
              <a:t>(e) She will take help of ASHA in updating eligible couple register of the village concerned.</a:t>
            </a:r>
          </a:p>
          <a:p>
            <a:r>
              <a:rPr lang="en-US" sz="2800" dirty="0"/>
              <a:t>(f) She will utilize ASHA in motivating the pregnant women for coming to sub-</a:t>
            </a:r>
            <a:r>
              <a:rPr lang="en-US" sz="2800" dirty="0" err="1"/>
              <a:t>centre</a:t>
            </a:r>
            <a:r>
              <a:rPr lang="en-US" sz="2800" dirty="0"/>
              <a:t> for initial check ups. She will also help ANMs in bringing married couples to sub-</a:t>
            </a:r>
            <a:r>
              <a:rPr lang="en-US" sz="2800" dirty="0" err="1"/>
              <a:t>centres</a:t>
            </a:r>
            <a:r>
              <a:rPr lang="en-US" sz="2800" dirty="0"/>
              <a:t> for adopting family planning.</a:t>
            </a:r>
          </a:p>
          <a:p>
            <a:r>
              <a:rPr lang="en-US" sz="2800" dirty="0"/>
              <a:t>(g) ANM will guide ASHA in motivating pregnant women for taking full course of iron and folic acid tablets and tetanus toxoid injections etc.</a:t>
            </a:r>
            <a:endParaRPr lang="en-IN" sz="2800" dirty="0"/>
          </a:p>
        </p:txBody>
      </p:sp>
    </p:spTree>
    <p:extLst>
      <p:ext uri="{BB962C8B-B14F-4D97-AF65-F5344CB8AC3E}">
        <p14:creationId xmlns:p14="http://schemas.microsoft.com/office/powerpoint/2010/main" val="32626291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04CE67-3697-376F-CFC6-6EC031BC3598}"/>
              </a:ext>
            </a:extLst>
          </p:cNvPr>
          <p:cNvSpPr>
            <a:spLocks noGrp="1"/>
          </p:cNvSpPr>
          <p:nvPr>
            <p:ph type="sldNum" sz="quarter" idx="14"/>
          </p:nvPr>
        </p:nvSpPr>
        <p:spPr/>
        <p:txBody>
          <a:bodyPr/>
          <a:lstStyle/>
          <a:p>
            <a:fld id="{3A4F6043-7A67-491B-98BC-F933DED7226D}" type="slidenum">
              <a:rPr lang="en-US" smtClean="0"/>
              <a:pPr/>
              <a:t>65</a:t>
            </a:fld>
            <a:endParaRPr lang="en-US" dirty="0"/>
          </a:p>
        </p:txBody>
      </p:sp>
      <p:sp>
        <p:nvSpPr>
          <p:cNvPr id="5" name="Content Placeholder 4">
            <a:extLst>
              <a:ext uri="{FF2B5EF4-FFF2-40B4-BE49-F238E27FC236}">
                <a16:creationId xmlns:a16="http://schemas.microsoft.com/office/drawing/2014/main" id="{00822D98-3FD1-C858-EB7F-4D3C7DEE58AC}"/>
              </a:ext>
            </a:extLst>
          </p:cNvPr>
          <p:cNvSpPr>
            <a:spLocks noGrp="1"/>
          </p:cNvSpPr>
          <p:nvPr>
            <p:ph sz="half" idx="15"/>
          </p:nvPr>
        </p:nvSpPr>
        <p:spPr>
          <a:xfrm>
            <a:off x="422178" y="1534161"/>
            <a:ext cx="11080974" cy="3637280"/>
          </a:xfrm>
        </p:spPr>
        <p:txBody>
          <a:bodyPr>
            <a:normAutofit fontScale="92500"/>
          </a:bodyPr>
          <a:lstStyle/>
          <a:p>
            <a:r>
              <a:rPr lang="en-US" sz="2800" dirty="0"/>
              <a:t>(h) ANMs will orient ASHA on the dose schedule and side effects of oral pills.</a:t>
            </a:r>
          </a:p>
          <a:p>
            <a:r>
              <a:rPr lang="en-US" sz="2800" dirty="0"/>
              <a:t> (</a:t>
            </a:r>
            <a:r>
              <a:rPr lang="en-US" sz="2800" dirty="0" err="1"/>
              <a:t>i</a:t>
            </a:r>
            <a:r>
              <a:rPr lang="en-US" sz="2800" dirty="0"/>
              <a:t>) ANMs will educate ASHA on danger signs of pregnancy and </a:t>
            </a:r>
            <a:r>
              <a:rPr lang="en-US" sz="2800" dirty="0" err="1"/>
              <a:t>labour</a:t>
            </a:r>
            <a:r>
              <a:rPr lang="en-US" sz="2800" dirty="0"/>
              <a:t> so that she can timely identify and help beneficiary in getting further treatment .</a:t>
            </a:r>
          </a:p>
          <a:p>
            <a:r>
              <a:rPr lang="en-US" sz="2800" dirty="0"/>
              <a:t>(j) ANMs will inform ASHA on date, time and place for initial and periodic training schedule. She will also ensure that during the training ASHA gets the compensation for performance and also TA/DA for attending the training.</a:t>
            </a:r>
            <a:endParaRPr lang="en-IN" sz="2800" dirty="0"/>
          </a:p>
        </p:txBody>
      </p:sp>
    </p:spTree>
    <p:extLst>
      <p:ext uri="{BB962C8B-B14F-4D97-AF65-F5344CB8AC3E}">
        <p14:creationId xmlns:p14="http://schemas.microsoft.com/office/powerpoint/2010/main" val="10785824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9EF46-F7A4-E247-11B3-59F67BD331E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B081CC-0910-3157-B667-F9B5196EAE48}"/>
              </a:ext>
            </a:extLst>
          </p:cNvPr>
          <p:cNvSpPr>
            <a:spLocks noGrp="1"/>
          </p:cNvSpPr>
          <p:nvPr>
            <p:ph type="sldNum" sz="quarter" idx="14"/>
          </p:nvPr>
        </p:nvSpPr>
        <p:spPr/>
        <p:txBody>
          <a:bodyPr/>
          <a:lstStyle/>
          <a:p>
            <a:fld id="{3A4F6043-7A67-491B-98BC-F933DED7226D}" type="slidenum">
              <a:rPr lang="en-US" smtClean="0"/>
              <a:pPr/>
              <a:t>66</a:t>
            </a:fld>
            <a:endParaRPr lang="en-US" dirty="0"/>
          </a:p>
        </p:txBody>
      </p:sp>
      <p:sp>
        <p:nvSpPr>
          <p:cNvPr id="5" name="Content Placeholder 4">
            <a:extLst>
              <a:ext uri="{FF2B5EF4-FFF2-40B4-BE49-F238E27FC236}">
                <a16:creationId xmlns:a16="http://schemas.microsoft.com/office/drawing/2014/main" id="{ED6AFEE8-9109-54B7-8FFC-33BB1E5DBAB0}"/>
              </a:ext>
            </a:extLst>
          </p:cNvPr>
          <p:cNvSpPr>
            <a:spLocks noGrp="1"/>
          </p:cNvSpPr>
          <p:nvPr>
            <p:ph sz="half" idx="15"/>
          </p:nvPr>
        </p:nvSpPr>
        <p:spPr>
          <a:xfrm>
            <a:off x="422178" y="609600"/>
            <a:ext cx="11080974" cy="5283199"/>
          </a:xfrm>
        </p:spPr>
        <p:txBody>
          <a:bodyPr>
            <a:normAutofit lnSpcReduction="10000"/>
          </a:bodyPr>
          <a:lstStyle/>
          <a:p>
            <a:r>
              <a:rPr lang="en-US" sz="4300" b="1" dirty="0"/>
              <a:t>Anganwadi worker </a:t>
            </a:r>
          </a:p>
          <a:p>
            <a:pPr marL="457200" indent="-457200">
              <a:buFont typeface="Arial" panose="020B0604020202020204" pitchFamily="34" charset="0"/>
              <a:buChar char="•"/>
            </a:pPr>
            <a:r>
              <a:rPr lang="en-US" sz="2800" dirty="0" err="1"/>
              <a:t>Angan</a:t>
            </a:r>
            <a:r>
              <a:rPr lang="en-US" sz="2800" dirty="0"/>
              <a:t> literally means a courtyard. Under the ICDS (Integrated Child Development Services) Scheme, there is an </a:t>
            </a:r>
            <a:r>
              <a:rPr lang="en-US" sz="2800" dirty="0" err="1"/>
              <a:t>anganwadi</a:t>
            </a:r>
            <a:r>
              <a:rPr lang="en-US" sz="2800" dirty="0"/>
              <a:t> worker for a population of 400-800. </a:t>
            </a:r>
          </a:p>
          <a:p>
            <a:pPr marL="457200" indent="-457200">
              <a:buFont typeface="Arial" panose="020B0604020202020204" pitchFamily="34" charset="0"/>
              <a:buChar char="•"/>
            </a:pPr>
            <a:r>
              <a:rPr lang="en-US" sz="2800" dirty="0"/>
              <a:t>There are about 100 such workers in each ICDS Project. As of date over 7,067 ICDS blocks are functioning in the country. </a:t>
            </a:r>
          </a:p>
          <a:p>
            <a:pPr marL="457200" indent="-457200">
              <a:buFont typeface="Arial" panose="020B0604020202020204" pitchFamily="34" charset="0"/>
              <a:buChar char="•"/>
            </a:pPr>
            <a:r>
              <a:rPr lang="en-US" sz="2800" dirty="0"/>
              <a:t>The </a:t>
            </a:r>
            <a:r>
              <a:rPr lang="en-US" sz="2800" dirty="0" err="1"/>
              <a:t>anganwadi</a:t>
            </a:r>
            <a:r>
              <a:rPr lang="en-US" sz="2800" dirty="0"/>
              <a:t> worker is selected from the community she is expected to serve. </a:t>
            </a:r>
          </a:p>
          <a:p>
            <a:pPr marL="457200" indent="-457200">
              <a:buFont typeface="Arial" panose="020B0604020202020204" pitchFamily="34" charset="0"/>
              <a:buChar char="•"/>
            </a:pPr>
            <a:r>
              <a:rPr lang="en-US" sz="2800" dirty="0"/>
              <a:t>She undergoes training in various aspects of health, nutrition, and child development for 4 months. </a:t>
            </a:r>
            <a:endParaRPr lang="en-IN" sz="2800" dirty="0"/>
          </a:p>
        </p:txBody>
      </p:sp>
    </p:spTree>
    <p:extLst>
      <p:ext uri="{BB962C8B-B14F-4D97-AF65-F5344CB8AC3E}">
        <p14:creationId xmlns:p14="http://schemas.microsoft.com/office/powerpoint/2010/main" val="40843557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F3813-0717-5B25-DC1E-84C1F25B8B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E946FF-4F4D-342D-9C23-0A74B35E42D7}"/>
              </a:ext>
            </a:extLst>
          </p:cNvPr>
          <p:cNvSpPr>
            <a:spLocks noGrp="1"/>
          </p:cNvSpPr>
          <p:nvPr>
            <p:ph type="sldNum" sz="quarter" idx="14"/>
          </p:nvPr>
        </p:nvSpPr>
        <p:spPr/>
        <p:txBody>
          <a:bodyPr/>
          <a:lstStyle/>
          <a:p>
            <a:fld id="{3A4F6043-7A67-491B-98BC-F933DED7226D}" type="slidenum">
              <a:rPr lang="en-US" smtClean="0"/>
              <a:pPr/>
              <a:t>67</a:t>
            </a:fld>
            <a:endParaRPr lang="en-US" dirty="0"/>
          </a:p>
        </p:txBody>
      </p:sp>
      <p:sp>
        <p:nvSpPr>
          <p:cNvPr id="5" name="Content Placeholder 4">
            <a:extLst>
              <a:ext uri="{FF2B5EF4-FFF2-40B4-BE49-F238E27FC236}">
                <a16:creationId xmlns:a16="http://schemas.microsoft.com/office/drawing/2014/main" id="{F9672BB4-0655-8FD8-AABC-E2DB215B3C2A}"/>
              </a:ext>
            </a:extLst>
          </p:cNvPr>
          <p:cNvSpPr>
            <a:spLocks noGrp="1"/>
          </p:cNvSpPr>
          <p:nvPr>
            <p:ph sz="half" idx="15"/>
          </p:nvPr>
        </p:nvSpPr>
        <p:spPr>
          <a:xfrm>
            <a:off x="422178" y="1097281"/>
            <a:ext cx="11080974" cy="5212080"/>
          </a:xfrm>
        </p:spPr>
        <p:txBody>
          <a:bodyPr>
            <a:normAutofit lnSpcReduction="10000"/>
          </a:bodyPr>
          <a:lstStyle/>
          <a:p>
            <a:pPr marL="457200" indent="-457200">
              <a:buFont typeface="Arial" panose="020B0604020202020204" pitchFamily="34" charset="0"/>
              <a:buChar char="•"/>
            </a:pPr>
            <a:r>
              <a:rPr lang="en-US" sz="2800" dirty="0"/>
              <a:t>She is a part-time worker and is paid an honorarium of Rs. 1500 per month for the services rendered, which include health check-up including maintenance of growth chart, immunization, supplementary nutrition, health education, non-formal pre-school education and referral services. </a:t>
            </a:r>
          </a:p>
          <a:p>
            <a:pPr marL="457200" indent="-457200">
              <a:buFont typeface="Arial" panose="020B0604020202020204" pitchFamily="34" charset="0"/>
              <a:buChar char="•"/>
            </a:pPr>
            <a:r>
              <a:rPr lang="en-US" sz="2800" dirty="0"/>
              <a:t>The beneficiaries are especially nursing mothers, pregnant women, other women (15-45 years), children below the age of 6 years and adolescent girls. </a:t>
            </a:r>
          </a:p>
          <a:p>
            <a:pPr marL="457200" indent="-457200">
              <a:buFont typeface="Arial" panose="020B0604020202020204" pitchFamily="34" charset="0"/>
              <a:buChar char="•"/>
            </a:pPr>
            <a:r>
              <a:rPr lang="en-US" sz="2800" dirty="0"/>
              <a:t>Along with Village Health Guides, the </a:t>
            </a:r>
            <a:r>
              <a:rPr lang="en-US" sz="2800" dirty="0" err="1"/>
              <a:t>anganwadi</a:t>
            </a:r>
            <a:r>
              <a:rPr lang="en-US" sz="2800" dirty="0"/>
              <a:t> workers are the community’s primary link with the health services and all other services for young children.</a:t>
            </a:r>
            <a:endParaRPr lang="en-IN" sz="2800" dirty="0"/>
          </a:p>
        </p:txBody>
      </p:sp>
    </p:spTree>
    <p:extLst>
      <p:ext uri="{BB962C8B-B14F-4D97-AF65-F5344CB8AC3E}">
        <p14:creationId xmlns:p14="http://schemas.microsoft.com/office/powerpoint/2010/main" val="28558461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FE9A6-0119-D497-CEDA-6E03AA434B9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2AA379-9EA3-C47F-854A-4CD8DB9AB5F6}"/>
              </a:ext>
            </a:extLst>
          </p:cNvPr>
          <p:cNvSpPr>
            <a:spLocks noGrp="1"/>
          </p:cNvSpPr>
          <p:nvPr>
            <p:ph type="sldNum" sz="quarter" idx="14"/>
          </p:nvPr>
        </p:nvSpPr>
        <p:spPr/>
        <p:txBody>
          <a:bodyPr/>
          <a:lstStyle/>
          <a:p>
            <a:fld id="{3A4F6043-7A67-491B-98BC-F933DED7226D}" type="slidenum">
              <a:rPr lang="en-US" smtClean="0"/>
              <a:pPr/>
              <a:t>68</a:t>
            </a:fld>
            <a:endParaRPr lang="en-US" dirty="0"/>
          </a:p>
        </p:txBody>
      </p:sp>
      <p:sp>
        <p:nvSpPr>
          <p:cNvPr id="5" name="Content Placeholder 4">
            <a:extLst>
              <a:ext uri="{FF2B5EF4-FFF2-40B4-BE49-F238E27FC236}">
                <a16:creationId xmlns:a16="http://schemas.microsoft.com/office/drawing/2014/main" id="{4F696CCF-CC1C-7666-2558-E58762342DDA}"/>
              </a:ext>
            </a:extLst>
          </p:cNvPr>
          <p:cNvSpPr>
            <a:spLocks noGrp="1"/>
          </p:cNvSpPr>
          <p:nvPr>
            <p:ph sz="half" idx="15"/>
          </p:nvPr>
        </p:nvSpPr>
        <p:spPr>
          <a:xfrm>
            <a:off x="422178" y="1097281"/>
            <a:ext cx="11080974" cy="4846319"/>
          </a:xfrm>
        </p:spPr>
        <p:txBody>
          <a:bodyPr>
            <a:normAutofit/>
          </a:bodyPr>
          <a:lstStyle/>
          <a:p>
            <a:r>
              <a:rPr lang="en-US" sz="4000" b="1" dirty="0"/>
              <a:t>Local dais:</a:t>
            </a:r>
          </a:p>
          <a:p>
            <a:pPr marL="457200" indent="-457200">
              <a:buFont typeface="Arial" panose="020B0604020202020204" pitchFamily="34" charset="0"/>
              <a:buChar char="•"/>
            </a:pPr>
            <a:r>
              <a:rPr lang="en-US" sz="2800" dirty="0"/>
              <a:t>A scheme for training of Dais was initiated during 2001-02. </a:t>
            </a:r>
          </a:p>
          <a:p>
            <a:pPr marL="457200" indent="-457200">
              <a:buFont typeface="Arial" panose="020B0604020202020204" pitchFamily="34" charset="0"/>
              <a:buChar char="•"/>
            </a:pPr>
            <a:r>
              <a:rPr lang="en-US" sz="2800" dirty="0"/>
              <a:t>The scheme was implemented in 156 districts in 18 states/UTs of the country. The districts selected were on the basis of the safe delivery rate being less than 30 per cent. </a:t>
            </a:r>
          </a:p>
          <a:p>
            <a:pPr marL="457200" indent="-457200">
              <a:buFont typeface="Arial" panose="020B0604020202020204" pitchFamily="34" charset="0"/>
              <a:buChar char="•"/>
            </a:pPr>
            <a:r>
              <a:rPr lang="en-US" sz="2800" dirty="0"/>
              <a:t>The scheme was extended to all the districts of EAG states. The aim was to train at least one Dai in every village with the objective of making deliveries safe.</a:t>
            </a:r>
            <a:endParaRPr lang="en-IN" sz="2800" dirty="0"/>
          </a:p>
        </p:txBody>
      </p:sp>
    </p:spTree>
    <p:extLst>
      <p:ext uri="{BB962C8B-B14F-4D97-AF65-F5344CB8AC3E}">
        <p14:creationId xmlns:p14="http://schemas.microsoft.com/office/powerpoint/2010/main" val="28039100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5BD33-5D33-1610-DEE2-4AB581EBA3E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D6B2AD4-CBE4-90BD-DD5A-DF2C056812FF}"/>
              </a:ext>
            </a:extLst>
          </p:cNvPr>
          <p:cNvSpPr>
            <a:spLocks noGrp="1"/>
          </p:cNvSpPr>
          <p:nvPr>
            <p:ph type="sldNum" sz="quarter" idx="14"/>
          </p:nvPr>
        </p:nvSpPr>
        <p:spPr/>
        <p:txBody>
          <a:bodyPr/>
          <a:lstStyle/>
          <a:p>
            <a:fld id="{3A4F6043-7A67-491B-98BC-F933DED7226D}" type="slidenum">
              <a:rPr lang="en-US" smtClean="0"/>
              <a:pPr/>
              <a:t>69</a:t>
            </a:fld>
            <a:endParaRPr lang="en-US" dirty="0"/>
          </a:p>
        </p:txBody>
      </p:sp>
      <p:sp>
        <p:nvSpPr>
          <p:cNvPr id="5" name="Content Placeholder 4">
            <a:extLst>
              <a:ext uri="{FF2B5EF4-FFF2-40B4-BE49-F238E27FC236}">
                <a16:creationId xmlns:a16="http://schemas.microsoft.com/office/drawing/2014/main" id="{0450FA76-ABD2-B51F-DAD2-60CE1DAA3F2D}"/>
              </a:ext>
            </a:extLst>
          </p:cNvPr>
          <p:cNvSpPr>
            <a:spLocks noGrp="1"/>
          </p:cNvSpPr>
          <p:nvPr>
            <p:ph sz="half" idx="15"/>
          </p:nvPr>
        </p:nvSpPr>
        <p:spPr>
          <a:xfrm>
            <a:off x="422178" y="589280"/>
            <a:ext cx="11080974" cy="5831839"/>
          </a:xfrm>
        </p:spPr>
        <p:txBody>
          <a:bodyPr>
            <a:normAutofit lnSpcReduction="10000"/>
          </a:bodyPr>
          <a:lstStyle/>
          <a:p>
            <a:r>
              <a:rPr lang="en-US" sz="4300" b="1" dirty="0"/>
              <a:t>Sub-</a:t>
            </a:r>
            <a:r>
              <a:rPr lang="en-US" sz="4300" b="1" dirty="0" err="1"/>
              <a:t>centre</a:t>
            </a:r>
            <a:r>
              <a:rPr lang="en-US" sz="4300" b="1" dirty="0"/>
              <a:t> Level </a:t>
            </a:r>
          </a:p>
          <a:p>
            <a:pPr marL="457200" indent="-457200">
              <a:buFont typeface="Arial" panose="020B0604020202020204" pitchFamily="34" charset="0"/>
              <a:buChar char="•"/>
            </a:pPr>
            <a:r>
              <a:rPr lang="en-US" sz="2800" dirty="0"/>
              <a:t>The sub-</a:t>
            </a:r>
            <a:r>
              <a:rPr lang="en-US" sz="2800" dirty="0" err="1"/>
              <a:t>centre</a:t>
            </a:r>
            <a:r>
              <a:rPr lang="en-US" sz="2800" dirty="0"/>
              <a:t> is the peripheral outpost of the existing health delivery system in rural areas. </a:t>
            </a:r>
          </a:p>
          <a:p>
            <a:pPr marL="457200" indent="-457200">
              <a:buFont typeface="Arial" panose="020B0604020202020204" pitchFamily="34" charset="0"/>
              <a:buChar char="•"/>
            </a:pPr>
            <a:r>
              <a:rPr lang="en-US" sz="2800" dirty="0"/>
              <a:t>They are being established on the basis of one sub-</a:t>
            </a:r>
            <a:r>
              <a:rPr lang="en-US" sz="2800" dirty="0" err="1"/>
              <a:t>centre</a:t>
            </a:r>
            <a:r>
              <a:rPr lang="en-US" sz="2800" dirty="0"/>
              <a:t> for every 5000 population in general and one for every 3000 population in hilly, tribal and backward areas. </a:t>
            </a:r>
          </a:p>
          <a:p>
            <a:pPr marL="457200" indent="-457200">
              <a:buFont typeface="Arial" panose="020B0604020202020204" pitchFamily="34" charset="0"/>
              <a:buChar char="•"/>
            </a:pPr>
            <a:r>
              <a:rPr lang="en-US" sz="2800" dirty="0"/>
              <a:t>As of March 2017, 25,650 PHCs were working with 6 sub-</a:t>
            </a:r>
            <a:r>
              <a:rPr lang="en-US" sz="2800" dirty="0" err="1"/>
              <a:t>centres</a:t>
            </a:r>
            <a:r>
              <a:rPr lang="en-US" sz="2800" dirty="0"/>
              <a:t> under each. A sub-</a:t>
            </a:r>
            <a:r>
              <a:rPr lang="en-US" sz="2800" dirty="0" err="1"/>
              <a:t>centre</a:t>
            </a:r>
            <a:r>
              <a:rPr lang="en-US" sz="2800" dirty="0"/>
              <a:t> provides interface with the community at the grass-root level, providing all the primary health care services. </a:t>
            </a:r>
          </a:p>
          <a:p>
            <a:pPr marL="457200" indent="-457200">
              <a:buFont typeface="Arial" panose="020B0604020202020204" pitchFamily="34" charset="0"/>
              <a:buChar char="•"/>
            </a:pPr>
            <a:r>
              <a:rPr lang="en-US" sz="2800" dirty="0"/>
              <a:t>One LHV and one health assistant (male) located at PHC are entrusted with the task of supervision of six sub </a:t>
            </a:r>
            <a:r>
              <a:rPr lang="en-US" sz="2800" dirty="0" err="1"/>
              <a:t>centres</a:t>
            </a:r>
            <a:r>
              <a:rPr lang="en-US" sz="2800" dirty="0"/>
              <a:t>.</a:t>
            </a:r>
            <a:endParaRPr lang="en-IN" sz="2800" dirty="0"/>
          </a:p>
        </p:txBody>
      </p:sp>
    </p:spTree>
    <p:extLst>
      <p:ext uri="{BB962C8B-B14F-4D97-AF65-F5344CB8AC3E}">
        <p14:creationId xmlns:p14="http://schemas.microsoft.com/office/powerpoint/2010/main" val="26864208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1271D-4443-2404-C2BF-DF7B2ED512B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E5C136-E530-5692-7FB5-F07B06B74FEF}"/>
              </a:ext>
            </a:extLst>
          </p:cNvPr>
          <p:cNvSpPr>
            <a:spLocks noGrp="1"/>
          </p:cNvSpPr>
          <p:nvPr>
            <p:ph type="sldNum" sz="quarter" idx="14"/>
          </p:nvPr>
        </p:nvSpPr>
        <p:spPr/>
        <p:txBody>
          <a:bodyPr/>
          <a:lstStyle/>
          <a:p>
            <a:fld id="{3A4F6043-7A67-491B-98BC-F933DED7226D}" type="slidenum">
              <a:rPr lang="en-US" smtClean="0"/>
              <a:pPr/>
              <a:t>70</a:t>
            </a:fld>
            <a:endParaRPr lang="en-US" dirty="0"/>
          </a:p>
        </p:txBody>
      </p:sp>
      <p:sp>
        <p:nvSpPr>
          <p:cNvPr id="5" name="Content Placeholder 4">
            <a:extLst>
              <a:ext uri="{FF2B5EF4-FFF2-40B4-BE49-F238E27FC236}">
                <a16:creationId xmlns:a16="http://schemas.microsoft.com/office/drawing/2014/main" id="{4E02305E-C51C-DA92-884C-DD4DB803506A}"/>
              </a:ext>
            </a:extLst>
          </p:cNvPr>
          <p:cNvSpPr>
            <a:spLocks noGrp="1"/>
          </p:cNvSpPr>
          <p:nvPr>
            <p:ph sz="half" idx="15"/>
          </p:nvPr>
        </p:nvSpPr>
        <p:spPr>
          <a:xfrm>
            <a:off x="422178" y="589280"/>
            <a:ext cx="11080974" cy="5831839"/>
          </a:xfrm>
        </p:spPr>
        <p:txBody>
          <a:bodyPr>
            <a:normAutofit/>
          </a:bodyPr>
          <a:lstStyle/>
          <a:p>
            <a:r>
              <a:rPr lang="en-US" sz="4000" b="1" dirty="0"/>
              <a:t>Indian Public Health Standards for sub-</a:t>
            </a:r>
            <a:r>
              <a:rPr lang="en-US" sz="4000" b="1" dirty="0" err="1"/>
              <a:t>centres</a:t>
            </a:r>
            <a:r>
              <a:rPr lang="en-US" sz="4000" b="1" dirty="0"/>
              <a:t> </a:t>
            </a:r>
          </a:p>
          <a:p>
            <a:pPr marL="457200" indent="-457200">
              <a:buFont typeface="Arial" panose="020B0604020202020204" pitchFamily="34" charset="0"/>
              <a:buChar char="•"/>
            </a:pPr>
            <a:r>
              <a:rPr lang="en-US" sz="2800" dirty="0"/>
              <a:t>In order to provide quality care in these sub-</a:t>
            </a:r>
            <a:r>
              <a:rPr lang="en-US" sz="2800" dirty="0" err="1"/>
              <a:t>centres</a:t>
            </a:r>
            <a:r>
              <a:rPr lang="en-US" sz="2800" dirty="0"/>
              <a:t>, Indian Public Health Standards (IPHS) are being prescribed to provide basic promotive, preventive and few curative primary health care services to the community and achieve and maintain an acceptable standard of quality of care. </a:t>
            </a:r>
          </a:p>
          <a:p>
            <a:pPr marL="457200" indent="-457200">
              <a:buFont typeface="Arial" panose="020B0604020202020204" pitchFamily="34" charset="0"/>
              <a:buChar char="•"/>
            </a:pPr>
            <a:r>
              <a:rPr lang="en-US" sz="2800" dirty="0"/>
              <a:t>These standards would help monitor and improve functioning of the sub-</a:t>
            </a:r>
            <a:r>
              <a:rPr lang="en-US" sz="2800" dirty="0" err="1"/>
              <a:t>centres</a:t>
            </a:r>
            <a:r>
              <a:rPr lang="en-US" sz="2800" dirty="0"/>
              <a:t>. Currently, the IPHS for sub </a:t>
            </a:r>
            <a:r>
              <a:rPr lang="en-US" sz="2800" dirty="0" err="1"/>
              <a:t>centre</a:t>
            </a:r>
            <a:r>
              <a:rPr lang="en-US" sz="2800" dirty="0"/>
              <a:t> revised in 2012 is being followed. </a:t>
            </a:r>
          </a:p>
          <a:p>
            <a:pPr marL="457200" indent="-457200">
              <a:buFont typeface="Arial" panose="020B0604020202020204" pitchFamily="34" charset="0"/>
              <a:buChar char="•"/>
            </a:pPr>
            <a:r>
              <a:rPr lang="en-US" sz="2800" dirty="0"/>
              <a:t>The services have been classified on Essential (minimum assured services) or Desirable (that all states/UTs should aspire to achieve).</a:t>
            </a:r>
            <a:endParaRPr lang="en-IN" sz="2800" dirty="0"/>
          </a:p>
        </p:txBody>
      </p:sp>
    </p:spTree>
    <p:extLst>
      <p:ext uri="{BB962C8B-B14F-4D97-AF65-F5344CB8AC3E}">
        <p14:creationId xmlns:p14="http://schemas.microsoft.com/office/powerpoint/2010/main" val="23628755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97BAAE-F718-497F-1947-02A1DE82E090}"/>
              </a:ext>
            </a:extLst>
          </p:cNvPr>
          <p:cNvSpPr>
            <a:spLocks noGrp="1"/>
          </p:cNvSpPr>
          <p:nvPr>
            <p:ph idx="1"/>
          </p:nvPr>
        </p:nvSpPr>
        <p:spPr>
          <a:xfrm>
            <a:off x="422899" y="-375920"/>
            <a:ext cx="10778221" cy="7325360"/>
          </a:xfrm>
        </p:spPr>
        <p:txBody>
          <a:bodyPr/>
          <a:lstStyle/>
          <a:p>
            <a:r>
              <a:rPr lang="en-US" sz="4000" b="1" dirty="0"/>
              <a:t>Categorization of sub-</a:t>
            </a:r>
            <a:r>
              <a:rPr lang="en-US" sz="4000" b="1" dirty="0" err="1"/>
              <a:t>centres</a:t>
            </a:r>
            <a:r>
              <a:rPr lang="en-US" sz="4000" b="1" dirty="0"/>
              <a:t> </a:t>
            </a:r>
          </a:p>
          <a:p>
            <a:pPr marL="342900" indent="-342900" algn="just">
              <a:buFont typeface="Arial" panose="020B0604020202020204" pitchFamily="34" charset="0"/>
              <a:buChar char="•"/>
            </a:pPr>
            <a:r>
              <a:rPr lang="en-US" sz="2800" dirty="0"/>
              <a:t>In view of the current highly variable situation of sub </a:t>
            </a:r>
            <a:r>
              <a:rPr lang="en-US" sz="2800" dirty="0" err="1"/>
              <a:t>centres</a:t>
            </a:r>
            <a:r>
              <a:rPr lang="en-US" sz="2800" dirty="0"/>
              <a:t> in different parts of the country and even within the same state, they have been categorized into two types - Type A and Type B. </a:t>
            </a:r>
          </a:p>
          <a:p>
            <a:pPr marL="342900" indent="-342900" algn="just">
              <a:buFont typeface="Arial" panose="020B0604020202020204" pitchFamily="34" charset="0"/>
              <a:buChar char="•"/>
            </a:pPr>
            <a:r>
              <a:rPr lang="en-US" sz="2800" dirty="0"/>
              <a:t>Categorization has taken into consideration various factors namely catchment area, health seeking </a:t>
            </a:r>
            <a:r>
              <a:rPr lang="en-US" sz="2800" dirty="0" err="1"/>
              <a:t>behaviour</a:t>
            </a:r>
            <a:r>
              <a:rPr lang="en-US" sz="2800" dirty="0"/>
              <a:t>, case load, location of other facilities like PHC/CHC/FRU/Hospitals in the vicinity of the sub-</a:t>
            </a:r>
            <a:r>
              <a:rPr lang="en-US" sz="2800" dirty="0" err="1"/>
              <a:t>centre</a:t>
            </a:r>
            <a:r>
              <a:rPr lang="en-US" sz="2800" dirty="0"/>
              <a:t>. </a:t>
            </a:r>
          </a:p>
          <a:p>
            <a:pPr marL="342900" indent="-342900" algn="just">
              <a:buFont typeface="Arial" panose="020B0604020202020204" pitchFamily="34" charset="0"/>
              <a:buChar char="•"/>
            </a:pPr>
            <a:r>
              <a:rPr lang="en-US" sz="2800" dirty="0"/>
              <a:t>States shall be required to categorize their sub-</a:t>
            </a:r>
            <a:r>
              <a:rPr lang="en-US" sz="2800" dirty="0" err="1"/>
              <a:t>centres</a:t>
            </a:r>
            <a:r>
              <a:rPr lang="en-US" sz="2800" dirty="0"/>
              <a:t> into two types as per the guidelines given below and provide services and infrastructure accordingly. </a:t>
            </a:r>
          </a:p>
          <a:p>
            <a:pPr marL="342900" indent="-342900" algn="just">
              <a:buFont typeface="Arial" panose="020B0604020202020204" pitchFamily="34" charset="0"/>
              <a:buChar char="•"/>
            </a:pPr>
            <a:r>
              <a:rPr lang="en-US" sz="2800" dirty="0"/>
              <a:t>This shall result in optimum use of available resources</a:t>
            </a:r>
            <a:endParaRPr lang="en-IN" sz="2800" dirty="0"/>
          </a:p>
        </p:txBody>
      </p:sp>
      <p:sp>
        <p:nvSpPr>
          <p:cNvPr id="4" name="Slide Number Placeholder 3">
            <a:extLst>
              <a:ext uri="{FF2B5EF4-FFF2-40B4-BE49-F238E27FC236}">
                <a16:creationId xmlns:a16="http://schemas.microsoft.com/office/drawing/2014/main" id="{924BB0F0-C5A5-623F-193B-AD665469AF27}"/>
              </a:ext>
            </a:extLst>
          </p:cNvPr>
          <p:cNvSpPr>
            <a:spLocks noGrp="1"/>
          </p:cNvSpPr>
          <p:nvPr>
            <p:ph type="sldNum" sz="quarter" idx="4"/>
          </p:nvPr>
        </p:nvSpPr>
        <p:spPr/>
        <p:txBody>
          <a:bodyPr/>
          <a:lstStyle/>
          <a:p>
            <a:fld id="{3A4F6043-7A67-491B-98BC-F933DED7226D}" type="slidenum">
              <a:rPr lang="en-US" smtClean="0"/>
              <a:pPr/>
              <a:t>71</a:t>
            </a:fld>
            <a:endParaRPr lang="en-US" dirty="0"/>
          </a:p>
        </p:txBody>
      </p:sp>
    </p:spTree>
    <p:extLst>
      <p:ext uri="{BB962C8B-B14F-4D97-AF65-F5344CB8AC3E}">
        <p14:creationId xmlns:p14="http://schemas.microsoft.com/office/powerpoint/2010/main" val="21587424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C0784D-3AC8-B351-F968-4DB56D4BD7DB}"/>
              </a:ext>
            </a:extLst>
          </p:cNvPr>
          <p:cNvSpPr>
            <a:spLocks noGrp="1"/>
          </p:cNvSpPr>
          <p:nvPr>
            <p:ph type="sldNum" sz="quarter" idx="14"/>
          </p:nvPr>
        </p:nvSpPr>
        <p:spPr/>
        <p:txBody>
          <a:bodyPr/>
          <a:lstStyle/>
          <a:p>
            <a:fld id="{3A4F6043-7A67-491B-98BC-F933DED7226D}" type="slidenum">
              <a:rPr lang="en-US" smtClean="0"/>
              <a:pPr/>
              <a:t>72</a:t>
            </a:fld>
            <a:endParaRPr lang="en-US" dirty="0"/>
          </a:p>
        </p:txBody>
      </p:sp>
      <p:sp>
        <p:nvSpPr>
          <p:cNvPr id="5" name="Content Placeholder 4">
            <a:extLst>
              <a:ext uri="{FF2B5EF4-FFF2-40B4-BE49-F238E27FC236}">
                <a16:creationId xmlns:a16="http://schemas.microsoft.com/office/drawing/2014/main" id="{B00A038A-5BAD-5F4F-AC18-6D08D596EFDF}"/>
              </a:ext>
            </a:extLst>
          </p:cNvPr>
          <p:cNvSpPr>
            <a:spLocks noGrp="1"/>
          </p:cNvSpPr>
          <p:nvPr>
            <p:ph sz="half" idx="15"/>
          </p:nvPr>
        </p:nvSpPr>
        <p:spPr>
          <a:xfrm>
            <a:off x="422178" y="863600"/>
            <a:ext cx="11080974" cy="4791239"/>
          </a:xfrm>
        </p:spPr>
        <p:txBody>
          <a:bodyPr>
            <a:normAutofit lnSpcReduction="10000"/>
          </a:bodyPr>
          <a:lstStyle/>
          <a:p>
            <a:r>
              <a:rPr lang="en-US" sz="4000" dirty="0"/>
              <a:t>Type A </a:t>
            </a:r>
          </a:p>
          <a:p>
            <a:pPr marL="457200" indent="-457200">
              <a:buFont typeface="Arial" panose="020B0604020202020204" pitchFamily="34" charset="0"/>
              <a:buChar char="•"/>
            </a:pPr>
            <a:r>
              <a:rPr lang="en-US" sz="2800" dirty="0"/>
              <a:t>Type A sub-</a:t>
            </a:r>
            <a:r>
              <a:rPr lang="en-US" sz="2800" dirty="0" err="1"/>
              <a:t>centre</a:t>
            </a:r>
            <a:r>
              <a:rPr lang="en-US" sz="2800" dirty="0"/>
              <a:t> will provide all recommended services except that the facilities for conducting delivery will not be available here. </a:t>
            </a:r>
          </a:p>
          <a:p>
            <a:pPr marL="457200" indent="-457200">
              <a:buFont typeface="Arial" panose="020B0604020202020204" pitchFamily="34" charset="0"/>
              <a:buChar char="•"/>
            </a:pPr>
            <a:r>
              <a:rPr lang="en-US" sz="2800" dirty="0"/>
              <a:t>However, the ANMs have been trained in midwifery, they may conduct normal delivery in case of need. </a:t>
            </a:r>
          </a:p>
          <a:p>
            <a:pPr marL="457200" indent="-457200">
              <a:buFont typeface="Arial" panose="020B0604020202020204" pitchFamily="34" charset="0"/>
              <a:buChar char="•"/>
            </a:pPr>
            <a:r>
              <a:rPr lang="en-US" sz="2800" dirty="0"/>
              <a:t>If the requirement for this goes up, the sub </a:t>
            </a:r>
            <a:r>
              <a:rPr lang="en-US" sz="2800" dirty="0" err="1"/>
              <a:t>centre</a:t>
            </a:r>
            <a:r>
              <a:rPr lang="en-US" sz="2800" dirty="0"/>
              <a:t> may be considered for up gradation to Type B. </a:t>
            </a:r>
          </a:p>
          <a:p>
            <a:pPr marL="457200" indent="-457200">
              <a:buFont typeface="Arial" panose="020B0604020202020204" pitchFamily="34" charset="0"/>
              <a:buChar char="•"/>
            </a:pPr>
            <a:r>
              <a:rPr lang="en-US" sz="2800" dirty="0"/>
              <a:t>The sub-</a:t>
            </a:r>
            <a:r>
              <a:rPr lang="en-US" sz="2800" dirty="0" err="1"/>
              <a:t>centres</a:t>
            </a:r>
            <a:r>
              <a:rPr lang="en-US" sz="2800" dirty="0"/>
              <a:t> in the following situations may be included in this category.</a:t>
            </a:r>
            <a:endParaRPr lang="en-IN" sz="2800" dirty="0"/>
          </a:p>
        </p:txBody>
      </p:sp>
    </p:spTree>
    <p:extLst>
      <p:ext uri="{BB962C8B-B14F-4D97-AF65-F5344CB8AC3E}">
        <p14:creationId xmlns:p14="http://schemas.microsoft.com/office/powerpoint/2010/main" val="11736090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0635E-B109-2EE9-28C2-72EFDB3BC73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6A8A8C-B9E9-CCE0-0F75-AC18022DF80B}"/>
              </a:ext>
            </a:extLst>
          </p:cNvPr>
          <p:cNvSpPr>
            <a:spLocks noGrp="1"/>
          </p:cNvSpPr>
          <p:nvPr>
            <p:ph type="sldNum" sz="quarter" idx="14"/>
          </p:nvPr>
        </p:nvSpPr>
        <p:spPr/>
        <p:txBody>
          <a:bodyPr/>
          <a:lstStyle/>
          <a:p>
            <a:fld id="{3A4F6043-7A67-491B-98BC-F933DED7226D}" type="slidenum">
              <a:rPr lang="en-US" smtClean="0"/>
              <a:pPr/>
              <a:t>73</a:t>
            </a:fld>
            <a:endParaRPr lang="en-US" dirty="0"/>
          </a:p>
        </p:txBody>
      </p:sp>
      <p:sp>
        <p:nvSpPr>
          <p:cNvPr id="5" name="Content Placeholder 4">
            <a:extLst>
              <a:ext uri="{FF2B5EF4-FFF2-40B4-BE49-F238E27FC236}">
                <a16:creationId xmlns:a16="http://schemas.microsoft.com/office/drawing/2014/main" id="{710FDC66-8A32-CE87-087B-F664AEADD401}"/>
              </a:ext>
            </a:extLst>
          </p:cNvPr>
          <p:cNvSpPr>
            <a:spLocks noGrp="1"/>
          </p:cNvSpPr>
          <p:nvPr>
            <p:ph sz="half" idx="15"/>
          </p:nvPr>
        </p:nvSpPr>
        <p:spPr>
          <a:xfrm>
            <a:off x="422178" y="1137920"/>
            <a:ext cx="11080974" cy="4791239"/>
          </a:xfrm>
        </p:spPr>
        <p:txBody>
          <a:bodyPr>
            <a:noAutofit/>
          </a:bodyPr>
          <a:lstStyle/>
          <a:p>
            <a:pPr marL="457200" indent="-457200">
              <a:buFont typeface="Arial" panose="020B0604020202020204" pitchFamily="34" charset="0"/>
              <a:buChar char="•"/>
            </a:pPr>
            <a:r>
              <a:rPr lang="en-US" sz="2800" dirty="0"/>
              <a:t>Sub-</a:t>
            </a:r>
            <a:r>
              <a:rPr lang="en-US" sz="2800" dirty="0" err="1"/>
              <a:t>centres</a:t>
            </a:r>
            <a:r>
              <a:rPr lang="en-US" sz="2800" dirty="0"/>
              <a:t> not having adequate space and physical infrastructure for conducting deliveries, due to which providing </a:t>
            </a:r>
            <a:r>
              <a:rPr lang="en-US" sz="2800" dirty="0" err="1"/>
              <a:t>labour</a:t>
            </a:r>
            <a:r>
              <a:rPr lang="en-US" sz="2800" dirty="0"/>
              <a:t> room facilities and equipment at these sub-</a:t>
            </a:r>
            <a:r>
              <a:rPr lang="en-US" sz="2800" dirty="0" err="1"/>
              <a:t>centres</a:t>
            </a:r>
            <a:r>
              <a:rPr lang="en-US" sz="2800" dirty="0"/>
              <a:t> is not possible. </a:t>
            </a:r>
          </a:p>
          <a:p>
            <a:pPr marL="457200" indent="-457200">
              <a:buFont typeface="Arial" panose="020B0604020202020204" pitchFamily="34" charset="0"/>
              <a:buChar char="•"/>
            </a:pPr>
            <a:r>
              <a:rPr lang="en-US" sz="2800" dirty="0"/>
              <a:t>However, there may still be demand for delivery services from the community in these areas e.g., sub-</a:t>
            </a:r>
            <a:r>
              <a:rPr lang="en-US" sz="2800" dirty="0" err="1"/>
              <a:t>centres</a:t>
            </a:r>
            <a:r>
              <a:rPr lang="en-US" sz="2800" dirty="0"/>
              <a:t> located in remote, difficult, hilly, desert or tribal area. In such areas, the transport facility is likely to be poor and the population is still </a:t>
            </a:r>
            <a:r>
              <a:rPr lang="en-US" sz="2800" dirty="0" err="1"/>
              <a:t>dependant</a:t>
            </a:r>
            <a:r>
              <a:rPr lang="en-US" sz="2800" dirty="0"/>
              <a:t> on these sub-</a:t>
            </a:r>
            <a:r>
              <a:rPr lang="en-US" sz="2800" dirty="0" err="1"/>
              <a:t>centres</a:t>
            </a:r>
            <a:r>
              <a:rPr lang="en-US" sz="2800" dirty="0"/>
              <a:t> for availing delivery facilities. </a:t>
            </a:r>
          </a:p>
        </p:txBody>
      </p:sp>
    </p:spTree>
    <p:extLst>
      <p:ext uri="{BB962C8B-B14F-4D97-AF65-F5344CB8AC3E}">
        <p14:creationId xmlns:p14="http://schemas.microsoft.com/office/powerpoint/2010/main" val="11747610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E2296-6B82-00D8-FFA5-E1DBA3423B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7DD8D5-2A8E-5B91-3B41-AF9B966347C9}"/>
              </a:ext>
            </a:extLst>
          </p:cNvPr>
          <p:cNvSpPr>
            <a:spLocks noGrp="1"/>
          </p:cNvSpPr>
          <p:nvPr>
            <p:ph type="sldNum" sz="quarter" idx="14"/>
          </p:nvPr>
        </p:nvSpPr>
        <p:spPr/>
        <p:txBody>
          <a:bodyPr/>
          <a:lstStyle/>
          <a:p>
            <a:fld id="{3A4F6043-7A67-491B-98BC-F933DED7226D}" type="slidenum">
              <a:rPr lang="en-US" smtClean="0"/>
              <a:pPr/>
              <a:t>74</a:t>
            </a:fld>
            <a:endParaRPr lang="en-US" dirty="0"/>
          </a:p>
        </p:txBody>
      </p:sp>
      <p:sp>
        <p:nvSpPr>
          <p:cNvPr id="5" name="Content Placeholder 4">
            <a:extLst>
              <a:ext uri="{FF2B5EF4-FFF2-40B4-BE49-F238E27FC236}">
                <a16:creationId xmlns:a16="http://schemas.microsoft.com/office/drawing/2014/main" id="{6D789BAF-A791-3FFE-02DB-CF5BA57A5DC4}"/>
              </a:ext>
            </a:extLst>
          </p:cNvPr>
          <p:cNvSpPr>
            <a:spLocks noGrp="1"/>
          </p:cNvSpPr>
          <p:nvPr>
            <p:ph sz="half" idx="15"/>
          </p:nvPr>
        </p:nvSpPr>
        <p:spPr>
          <a:xfrm>
            <a:off x="422178" y="1137920"/>
            <a:ext cx="11080974" cy="4791239"/>
          </a:xfrm>
        </p:spPr>
        <p:txBody>
          <a:bodyPr>
            <a:noAutofit/>
          </a:bodyPr>
          <a:lstStyle/>
          <a:p>
            <a:pPr marL="457200" indent="-457200">
              <a:buFont typeface="Arial" panose="020B0604020202020204" pitchFamily="34" charset="0"/>
              <a:buChar char="•"/>
            </a:pPr>
            <a:r>
              <a:rPr lang="en-US" sz="2800" dirty="0"/>
              <a:t>In such situations, ANMs would be required to conduct deliveries at homes and ANMs of these sub </a:t>
            </a:r>
            <a:r>
              <a:rPr lang="en-US" sz="2800" dirty="0" err="1"/>
              <a:t>centres</a:t>
            </a:r>
            <a:r>
              <a:rPr lang="en-US" sz="2800" dirty="0"/>
              <a:t> should mandatorily be Skilled Birth Attendance (SBA) trained. Such sub-</a:t>
            </a:r>
            <a:r>
              <a:rPr lang="en-US" sz="2800" dirty="0" err="1"/>
              <a:t>centres</a:t>
            </a:r>
            <a:r>
              <a:rPr lang="en-US" sz="2800" dirty="0"/>
              <a:t> should be identified for infrastructure up-gradation for conversion to Type B sub </a:t>
            </a:r>
            <a:r>
              <a:rPr lang="en-US" sz="2800" dirty="0" err="1"/>
              <a:t>centres</a:t>
            </a:r>
            <a:r>
              <a:rPr lang="en-US" sz="2800" dirty="0"/>
              <a:t> on priority.</a:t>
            </a:r>
            <a:endParaRPr lang="en-IN" sz="2800" dirty="0"/>
          </a:p>
          <a:p>
            <a:pPr marL="457200" indent="-457200">
              <a:buFont typeface="Arial" panose="020B0604020202020204" pitchFamily="34" charset="0"/>
              <a:buChar char="•"/>
            </a:pPr>
            <a:r>
              <a:rPr lang="en-US" sz="2800" dirty="0"/>
              <a:t>Sub-</a:t>
            </a:r>
            <a:r>
              <a:rPr lang="en-US" sz="2800" dirty="0" err="1"/>
              <a:t>centres</a:t>
            </a:r>
            <a:r>
              <a:rPr lang="en-US" sz="2800" dirty="0"/>
              <a:t> situated in the vicinity of other higher health facilities like PHC/CHC/FRU/Hospital, where delivery facilities are available. </a:t>
            </a:r>
          </a:p>
          <a:p>
            <a:pPr marL="457200" indent="-457200">
              <a:buFont typeface="Arial" panose="020B0604020202020204" pitchFamily="34" charset="0"/>
              <a:buChar char="•"/>
            </a:pPr>
            <a:r>
              <a:rPr lang="en-US" sz="2800" dirty="0"/>
              <a:t>Sub-</a:t>
            </a:r>
            <a:r>
              <a:rPr lang="en-US" sz="2800" dirty="0" err="1"/>
              <a:t>centres</a:t>
            </a:r>
            <a:r>
              <a:rPr lang="en-US" sz="2800" dirty="0"/>
              <a:t> in headquarter area.</a:t>
            </a:r>
          </a:p>
        </p:txBody>
      </p:sp>
    </p:spTree>
    <p:extLst>
      <p:ext uri="{BB962C8B-B14F-4D97-AF65-F5344CB8AC3E}">
        <p14:creationId xmlns:p14="http://schemas.microsoft.com/office/powerpoint/2010/main" val="23052830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32E18-04CB-41B5-88D0-3866E28BE0C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07081B-5AF1-7E90-5227-4613E5364C19}"/>
              </a:ext>
            </a:extLst>
          </p:cNvPr>
          <p:cNvSpPr>
            <a:spLocks noGrp="1"/>
          </p:cNvSpPr>
          <p:nvPr>
            <p:ph type="sldNum" sz="quarter" idx="14"/>
          </p:nvPr>
        </p:nvSpPr>
        <p:spPr/>
        <p:txBody>
          <a:bodyPr/>
          <a:lstStyle/>
          <a:p>
            <a:fld id="{3A4F6043-7A67-491B-98BC-F933DED7226D}" type="slidenum">
              <a:rPr lang="en-US" smtClean="0"/>
              <a:pPr/>
              <a:t>75</a:t>
            </a:fld>
            <a:endParaRPr lang="en-US" dirty="0"/>
          </a:p>
        </p:txBody>
      </p:sp>
      <p:sp>
        <p:nvSpPr>
          <p:cNvPr id="5" name="Content Placeholder 4">
            <a:extLst>
              <a:ext uri="{FF2B5EF4-FFF2-40B4-BE49-F238E27FC236}">
                <a16:creationId xmlns:a16="http://schemas.microsoft.com/office/drawing/2014/main" id="{723753A4-2131-DDAC-D874-1F4A2DB3823D}"/>
              </a:ext>
            </a:extLst>
          </p:cNvPr>
          <p:cNvSpPr>
            <a:spLocks noGrp="1"/>
          </p:cNvSpPr>
          <p:nvPr>
            <p:ph sz="half" idx="15"/>
          </p:nvPr>
        </p:nvSpPr>
        <p:spPr>
          <a:xfrm>
            <a:off x="422178" y="1137920"/>
            <a:ext cx="11080974" cy="4791239"/>
          </a:xfrm>
        </p:spPr>
        <p:txBody>
          <a:bodyPr>
            <a:noAutofit/>
          </a:bodyPr>
          <a:lstStyle/>
          <a:p>
            <a:pPr marL="457200" indent="-457200">
              <a:buFont typeface="Arial" panose="020B0604020202020204" pitchFamily="34" charset="0"/>
              <a:buChar char="•"/>
            </a:pPr>
            <a:r>
              <a:rPr lang="en-US" sz="2800" dirty="0"/>
              <a:t>In such situations, ANMs would be required to conduct deliveries at homes and ANMs of these sub </a:t>
            </a:r>
            <a:r>
              <a:rPr lang="en-US" sz="2800" dirty="0" err="1"/>
              <a:t>centres</a:t>
            </a:r>
            <a:r>
              <a:rPr lang="en-US" sz="2800" dirty="0"/>
              <a:t> should mandatorily be Skilled Birth Attendance (SBA) trained. Such sub-</a:t>
            </a:r>
            <a:r>
              <a:rPr lang="en-US" sz="2800" dirty="0" err="1"/>
              <a:t>centres</a:t>
            </a:r>
            <a:r>
              <a:rPr lang="en-US" sz="2800" dirty="0"/>
              <a:t> should be identified for infrastructure up-gradation for conversion to Type B sub </a:t>
            </a:r>
            <a:r>
              <a:rPr lang="en-US" sz="2800" dirty="0" err="1"/>
              <a:t>centres</a:t>
            </a:r>
            <a:r>
              <a:rPr lang="en-US" sz="2800" dirty="0"/>
              <a:t> on priority.</a:t>
            </a:r>
            <a:endParaRPr lang="en-IN" sz="2800" dirty="0"/>
          </a:p>
          <a:p>
            <a:pPr marL="457200" indent="-457200">
              <a:buFont typeface="Arial" panose="020B0604020202020204" pitchFamily="34" charset="0"/>
              <a:buChar char="•"/>
            </a:pPr>
            <a:r>
              <a:rPr lang="en-US" sz="2800" dirty="0"/>
              <a:t>Sub-</a:t>
            </a:r>
            <a:r>
              <a:rPr lang="en-US" sz="2800" dirty="0" err="1"/>
              <a:t>centres</a:t>
            </a:r>
            <a:r>
              <a:rPr lang="en-US" sz="2800" dirty="0"/>
              <a:t> situated in the vicinity of other higher health facilities like PHC/CHC/FRU/Hospital, where delivery facilities are available. </a:t>
            </a:r>
          </a:p>
          <a:p>
            <a:pPr marL="457200" indent="-457200">
              <a:buFont typeface="Arial" panose="020B0604020202020204" pitchFamily="34" charset="0"/>
              <a:buChar char="•"/>
            </a:pPr>
            <a:r>
              <a:rPr lang="en-US" sz="2800" dirty="0"/>
              <a:t>Sub-</a:t>
            </a:r>
            <a:r>
              <a:rPr lang="en-US" sz="2800" dirty="0" err="1"/>
              <a:t>centres</a:t>
            </a:r>
            <a:r>
              <a:rPr lang="en-US" sz="2800" dirty="0"/>
              <a:t> in headquarter area.</a:t>
            </a:r>
          </a:p>
        </p:txBody>
      </p:sp>
    </p:spTree>
    <p:extLst>
      <p:ext uri="{BB962C8B-B14F-4D97-AF65-F5344CB8AC3E}">
        <p14:creationId xmlns:p14="http://schemas.microsoft.com/office/powerpoint/2010/main" val="31519160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51860-B135-9EFB-459C-C7FC26B088E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0DD3BD-0FEA-F367-B851-48E378FF820E}"/>
              </a:ext>
            </a:extLst>
          </p:cNvPr>
          <p:cNvSpPr>
            <a:spLocks noGrp="1"/>
          </p:cNvSpPr>
          <p:nvPr>
            <p:ph type="sldNum" sz="quarter" idx="14"/>
          </p:nvPr>
        </p:nvSpPr>
        <p:spPr/>
        <p:txBody>
          <a:bodyPr/>
          <a:lstStyle/>
          <a:p>
            <a:fld id="{3A4F6043-7A67-491B-98BC-F933DED7226D}" type="slidenum">
              <a:rPr lang="en-US" smtClean="0"/>
              <a:pPr/>
              <a:t>76</a:t>
            </a:fld>
            <a:endParaRPr lang="en-US" dirty="0"/>
          </a:p>
        </p:txBody>
      </p:sp>
      <p:sp>
        <p:nvSpPr>
          <p:cNvPr id="5" name="Content Placeholder 4">
            <a:extLst>
              <a:ext uri="{FF2B5EF4-FFF2-40B4-BE49-F238E27FC236}">
                <a16:creationId xmlns:a16="http://schemas.microsoft.com/office/drawing/2014/main" id="{E4E633EA-D203-59E2-1B3A-A19EE6640A12}"/>
              </a:ext>
            </a:extLst>
          </p:cNvPr>
          <p:cNvSpPr>
            <a:spLocks noGrp="1"/>
          </p:cNvSpPr>
          <p:nvPr>
            <p:ph sz="half" idx="15"/>
          </p:nvPr>
        </p:nvSpPr>
        <p:spPr>
          <a:xfrm>
            <a:off x="422178" y="741680"/>
            <a:ext cx="11080974" cy="5374640"/>
          </a:xfrm>
        </p:spPr>
        <p:txBody>
          <a:bodyPr>
            <a:noAutofit/>
          </a:bodyPr>
          <a:lstStyle/>
          <a:p>
            <a:r>
              <a:rPr lang="en-US" sz="4000" b="1" dirty="0"/>
              <a:t>Type B (MCH sub-</a:t>
            </a:r>
            <a:r>
              <a:rPr lang="en-US" sz="4000" b="1" dirty="0" err="1"/>
              <a:t>centre</a:t>
            </a:r>
            <a:r>
              <a:rPr lang="en-US" sz="4000" b="1" dirty="0"/>
              <a:t>) </a:t>
            </a:r>
          </a:p>
          <a:p>
            <a:pPr marL="457200" indent="-457200">
              <a:buFont typeface="Arial" panose="020B0604020202020204" pitchFamily="34" charset="0"/>
              <a:buChar char="•"/>
            </a:pPr>
            <a:r>
              <a:rPr lang="en-US" sz="2800" dirty="0"/>
              <a:t>This would include following types of sub-</a:t>
            </a:r>
            <a:r>
              <a:rPr lang="en-US" sz="2800" dirty="0" err="1"/>
              <a:t>centres</a:t>
            </a:r>
            <a:r>
              <a:rPr lang="en-US" sz="2800" dirty="0"/>
              <a:t>. </a:t>
            </a:r>
          </a:p>
          <a:p>
            <a:pPr marL="457200" indent="-457200">
              <a:buFont typeface="Arial" panose="020B0604020202020204" pitchFamily="34" charset="0"/>
              <a:buChar char="•"/>
            </a:pPr>
            <a:r>
              <a:rPr lang="en-US" sz="2800" dirty="0"/>
              <a:t>Centrally or better located sub-</a:t>
            </a:r>
            <a:r>
              <a:rPr lang="en-US" sz="2800" dirty="0" err="1"/>
              <a:t>centres</a:t>
            </a:r>
            <a:r>
              <a:rPr lang="en-US" sz="2800" dirty="0"/>
              <a:t> with good connectivity to catchment areas.</a:t>
            </a:r>
          </a:p>
          <a:p>
            <a:pPr marL="457200" indent="-457200">
              <a:buFont typeface="Arial" panose="020B0604020202020204" pitchFamily="34" charset="0"/>
              <a:buChar char="•"/>
            </a:pPr>
            <a:r>
              <a:rPr lang="en-US" sz="2800" dirty="0"/>
              <a:t>They have good physical infrastructure preferable with own building, adequate space, residential accommodation and </a:t>
            </a:r>
            <a:r>
              <a:rPr lang="en-US" sz="2800" dirty="0" err="1"/>
              <a:t>labour</a:t>
            </a:r>
            <a:r>
              <a:rPr lang="en-US" sz="2800" dirty="0"/>
              <a:t> room facilities. </a:t>
            </a:r>
          </a:p>
          <a:p>
            <a:pPr marL="457200" indent="-457200">
              <a:buFont typeface="Arial" panose="020B0604020202020204" pitchFamily="34" charset="0"/>
              <a:buChar char="•"/>
            </a:pPr>
            <a:r>
              <a:rPr lang="en-US" sz="2800" dirty="0"/>
              <a:t>They already have good case load of deliveries from the catchment areas.</a:t>
            </a:r>
          </a:p>
          <a:p>
            <a:pPr marL="457200" indent="-457200">
              <a:buFont typeface="Arial" panose="020B0604020202020204" pitchFamily="34" charset="0"/>
              <a:buChar char="•"/>
            </a:pPr>
            <a:r>
              <a:rPr lang="en-US" sz="2800" dirty="0"/>
              <a:t>There are no nearby higher-level delivery facilities.</a:t>
            </a:r>
          </a:p>
        </p:txBody>
      </p:sp>
    </p:spTree>
    <p:extLst>
      <p:ext uri="{BB962C8B-B14F-4D97-AF65-F5344CB8AC3E}">
        <p14:creationId xmlns:p14="http://schemas.microsoft.com/office/powerpoint/2010/main" val="35997168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1F15-46F5-4A2B-AF38-34F3B8027144}"/>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360A4C54-B3B2-4B02-A340-C72E57FEE5FE}"/>
              </a:ext>
            </a:extLst>
          </p:cNvPr>
          <p:cNvSpPr>
            <a:spLocks noGrp="1"/>
          </p:cNvSpPr>
          <p:nvPr>
            <p:ph idx="1"/>
          </p:nvPr>
        </p:nvSpPr>
        <p:spPr/>
        <p:txBody>
          <a:bodyPr vert="horz" lIns="91440" tIns="45720" rIns="91440" bIns="45720" rtlCol="0" anchor="t">
            <a:noAutofit/>
          </a:bodyPr>
          <a:lstStyle/>
          <a:p>
            <a:endParaRPr lang="en-US" dirty="0"/>
          </a:p>
        </p:txBody>
      </p:sp>
    </p:spTree>
    <p:extLst>
      <p:ext uri="{BB962C8B-B14F-4D97-AF65-F5344CB8AC3E}">
        <p14:creationId xmlns:p14="http://schemas.microsoft.com/office/powerpoint/2010/main" val="1315345950"/>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B37DAF-AFAF-4561-A80B-C76198EBD31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B665E41-66EB-401D-940D-8E7024721BE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Offset design</Template>
  <TotalTime>183</TotalTime>
  <Words>6188</Words>
  <Application>Microsoft Office PowerPoint</Application>
  <PresentationFormat>Widescreen</PresentationFormat>
  <Paragraphs>705</Paragraphs>
  <Slides>77</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77</vt:i4>
      </vt:variant>
    </vt:vector>
  </HeadingPairs>
  <TitlesOfParts>
    <vt:vector size="85" baseType="lpstr">
      <vt:lpstr>Aptos Narrow</vt:lpstr>
      <vt:lpstr>Arial</vt:lpstr>
      <vt:lpstr>Calibri</vt:lpstr>
      <vt:lpstr>Dante (Headings)2</vt:lpstr>
      <vt:lpstr>Helvetica Neue Medium</vt:lpstr>
      <vt:lpstr>Times New Roman</vt:lpstr>
      <vt:lpstr>Wingdings 2</vt:lpstr>
      <vt:lpstr>OffsetVTI</vt:lpstr>
      <vt:lpstr>HEALTH CARE SYSTEMS-II</vt:lpstr>
      <vt:lpstr>HEALTH CARE DELIVERY: Challenges</vt:lpstr>
      <vt:lpstr>Need for Alternative Models</vt:lpstr>
      <vt:lpstr>Health Care Delivery Model – Inputs to Outputs</vt:lpstr>
      <vt:lpstr>Health Care Delivery Model – Inputs to Outputs</vt:lpstr>
      <vt:lpstr>Health Status and Health Problems</vt:lpstr>
      <vt:lpstr>Factors in Community Diagnosis &amp; Priority Setting</vt:lpstr>
      <vt:lpstr>Demographic Profile – India</vt:lpstr>
      <vt:lpstr>Demographic and economic indicators</vt:lpstr>
      <vt:lpstr>Mortality Trends in India – Improvements Over Time</vt:lpstr>
      <vt:lpstr>Persisting Mortality Challenges in India</vt:lpstr>
      <vt:lpstr>Infant and under 5 mortality indicators</vt:lpstr>
      <vt:lpstr>Persisting Mortality Challenges in India</vt:lpstr>
      <vt:lpstr>Health problems</vt:lpstr>
      <vt:lpstr>Communicable disease problems</vt:lpstr>
      <vt:lpstr>Communicable disease problems</vt:lpstr>
      <vt:lpstr>Communicable disease problems</vt:lpstr>
      <vt:lpstr>Communicable disease problems</vt:lpstr>
      <vt:lpstr>One Health</vt:lpstr>
      <vt:lpstr>One Health - Components</vt:lpstr>
      <vt:lpstr>One Health - Case Examples </vt:lpstr>
      <vt:lpstr>One Health </vt:lpstr>
      <vt:lpstr>Non-communicable diseases</vt:lpstr>
      <vt:lpstr>Non-communicable diseases</vt:lpstr>
      <vt:lpstr>Nutritional problems</vt:lpstr>
      <vt:lpstr>Nutritional problems</vt:lpstr>
      <vt:lpstr>Nutritional problems</vt:lpstr>
      <vt:lpstr>Environmental sanitation</vt:lpstr>
      <vt:lpstr>Environmental sanitation</vt:lpstr>
      <vt:lpstr>Medical care problems</vt:lpstr>
      <vt:lpstr>Medical care problems  Urban–Rural Imbalance &amp; Resource Distribution</vt:lpstr>
      <vt:lpstr>Medical care problems  </vt:lpstr>
      <vt:lpstr>Population Problems </vt:lpstr>
      <vt:lpstr>Population Problems Growth Rate, Government Strategy &amp; Way Forward </vt:lpstr>
      <vt:lpstr>Medical care problems</vt:lpstr>
      <vt:lpstr>RESOURCES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 and responsibilities of ASHA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Manvi Singh</dc:creator>
  <cp:lastModifiedBy>mukul maheshwari</cp:lastModifiedBy>
  <cp:revision>2</cp:revision>
  <dcterms:created xsi:type="dcterms:W3CDTF">2025-07-15T16:51:14Z</dcterms:created>
  <dcterms:modified xsi:type="dcterms:W3CDTF">2025-07-16T22:45:56Z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