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70" r:id="rId7"/>
    <p:sldId id="271" r:id="rId8"/>
    <p:sldId id="272" r:id="rId9"/>
    <p:sldId id="273" r:id="rId10"/>
    <p:sldId id="274" r:id="rId11"/>
    <p:sldId id="262" r:id="rId12"/>
    <p:sldId id="263" r:id="rId13"/>
    <p:sldId id="264" r:id="rId14"/>
    <p:sldId id="265" r:id="rId15"/>
    <p:sldId id="275" r:id="rId16"/>
    <p:sldId id="266" r:id="rId17"/>
    <p:sldId id="276" r:id="rId18"/>
    <p:sldId id="267" r:id="rId19"/>
    <p:sldId id="277" r:id="rId20"/>
    <p:sldId id="268" r:id="rId21"/>
    <p:sldId id="278" r:id="rId22"/>
    <p:sldId id="279" r:id="rId23"/>
    <p:sldId id="283" r:id="rId24"/>
    <p:sldId id="257" r:id="rId25"/>
    <p:sldId id="284" r:id="rId26"/>
    <p:sldId id="285" r:id="rId27"/>
    <p:sldId id="286" r:id="rId28"/>
    <p:sldId id="287" r:id="rId29"/>
    <p:sldId id="288" r:id="rId30"/>
    <p:sldId id="280" r:id="rId31"/>
    <p:sldId id="290" r:id="rId32"/>
    <p:sldId id="289" r:id="rId33"/>
    <p:sldId id="291" r:id="rId34"/>
    <p:sldId id="292" r:id="rId35"/>
    <p:sldId id="281" r:id="rId36"/>
    <p:sldId id="293" r:id="rId37"/>
    <p:sldId id="282" r:id="rId38"/>
    <p:sldId id="294" r:id="rId39"/>
    <p:sldId id="29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maheshwari" userId="12cb43e2ca5f0d2c" providerId="LiveId" clId="{771D35AD-4715-4301-979B-0CEBFD3D1244}"/>
    <pc:docChg chg="undo custSel addSld delSld modSld">
      <pc:chgData name="mukul maheshwari" userId="12cb43e2ca5f0d2c" providerId="LiveId" clId="{771D35AD-4715-4301-979B-0CEBFD3D1244}" dt="2025-08-28T01:37:14.531" v="19" actId="47"/>
      <pc:docMkLst>
        <pc:docMk/>
      </pc:docMkLst>
      <pc:sldChg chg="addSp delSp modSp mod setBg">
        <pc:chgData name="mukul maheshwari" userId="12cb43e2ca5f0d2c" providerId="LiveId" clId="{771D35AD-4715-4301-979B-0CEBFD3D1244}" dt="2025-08-28T01:34:10.095" v="0" actId="26606"/>
        <pc:sldMkLst>
          <pc:docMk/>
          <pc:sldMk cId="0" sldId="258"/>
        </pc:sldMkLst>
        <pc:spChg chg="mod">
          <ac:chgData name="mukul maheshwari" userId="12cb43e2ca5f0d2c" providerId="LiveId" clId="{771D35AD-4715-4301-979B-0CEBFD3D1244}" dt="2025-08-28T01:34:10.095" v="0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mukul maheshwari" userId="12cb43e2ca5f0d2c" providerId="LiveId" clId="{771D35AD-4715-4301-979B-0CEBFD3D1244}" dt="2025-08-28T01:34:10.095" v="0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mukul maheshwari" userId="12cb43e2ca5f0d2c" providerId="LiveId" clId="{771D35AD-4715-4301-979B-0CEBFD3D1244}" dt="2025-08-28T01:34:10.095" v="0" actId="26606"/>
          <ac:spMkLst>
            <pc:docMk/>
            <pc:sldMk cId="0" sldId="258"/>
            <ac:spMk id="9" creationId="{F68B2C62-7648-4430-90D5-AE0F252AF113}"/>
          </ac:spMkLst>
        </pc:spChg>
        <pc:graphicFrameChg chg="add">
          <ac:chgData name="mukul maheshwari" userId="12cb43e2ca5f0d2c" providerId="LiveId" clId="{771D35AD-4715-4301-979B-0CEBFD3D1244}" dt="2025-08-28T01:34:10.095" v="0" actId="26606"/>
          <ac:graphicFrameMkLst>
            <pc:docMk/>
            <pc:sldMk cId="0" sldId="258"/>
            <ac:graphicFrameMk id="5" creationId="{6505965D-81BF-B2FD-B092-49E7346A6837}"/>
          </ac:graphicFrameMkLst>
        </pc:graphicFrameChg>
        <pc:cxnChg chg="add">
          <ac:chgData name="mukul maheshwari" userId="12cb43e2ca5f0d2c" providerId="LiveId" clId="{771D35AD-4715-4301-979B-0CEBFD3D1244}" dt="2025-08-28T01:34:10.095" v="0" actId="26606"/>
          <ac:cxnSpMkLst>
            <pc:docMk/>
            <pc:sldMk cId="0" sldId="258"/>
            <ac:cxnSpMk id="11" creationId="{0ADD27CF-4CE1-2871-1ABA-40FCA4D03214}"/>
          </ac:cxnSpMkLst>
        </pc:cxnChg>
      </pc:sldChg>
      <pc:sldChg chg="addSp delSp modSp mod setBg">
        <pc:chgData name="mukul maheshwari" userId="12cb43e2ca5f0d2c" providerId="LiveId" clId="{771D35AD-4715-4301-979B-0CEBFD3D1244}" dt="2025-08-28T01:34:55.820" v="6" actId="26606"/>
        <pc:sldMkLst>
          <pc:docMk/>
          <pc:sldMk cId="0" sldId="259"/>
        </pc:sldMkLst>
        <pc:spChg chg="mod">
          <ac:chgData name="mukul maheshwari" userId="12cb43e2ca5f0d2c" providerId="LiveId" clId="{771D35AD-4715-4301-979B-0CEBFD3D1244}" dt="2025-08-28T01:34:55.820" v="6" actId="2660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mukul maheshwari" userId="12cb43e2ca5f0d2c" providerId="LiveId" clId="{771D35AD-4715-4301-979B-0CEBFD3D1244}" dt="2025-08-28T01:34:55.820" v="6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mukul maheshwari" userId="12cb43e2ca5f0d2c" providerId="LiveId" clId="{771D35AD-4715-4301-979B-0CEBFD3D1244}" dt="2025-08-28T01:34:55.820" v="6" actId="26606"/>
          <ac:spMkLst>
            <pc:docMk/>
            <pc:sldMk cId="0" sldId="259"/>
            <ac:spMk id="9" creationId="{F68B2C62-7648-4430-90D5-AE0F252AF113}"/>
          </ac:spMkLst>
        </pc:spChg>
        <pc:graphicFrameChg chg="add">
          <ac:chgData name="mukul maheshwari" userId="12cb43e2ca5f0d2c" providerId="LiveId" clId="{771D35AD-4715-4301-979B-0CEBFD3D1244}" dt="2025-08-28T01:34:55.820" v="6" actId="26606"/>
          <ac:graphicFrameMkLst>
            <pc:docMk/>
            <pc:sldMk cId="0" sldId="259"/>
            <ac:graphicFrameMk id="5" creationId="{58DBDA1D-FE2C-0895-443E-18CDD3F99E82}"/>
          </ac:graphicFrameMkLst>
        </pc:graphicFrameChg>
        <pc:cxnChg chg="add">
          <ac:chgData name="mukul maheshwari" userId="12cb43e2ca5f0d2c" providerId="LiveId" clId="{771D35AD-4715-4301-979B-0CEBFD3D1244}" dt="2025-08-28T01:34:55.820" v="6" actId="26606"/>
          <ac:cxnSpMkLst>
            <pc:docMk/>
            <pc:sldMk cId="0" sldId="259"/>
            <ac:cxnSpMk id="11" creationId="{0ADD27CF-4CE1-2871-1ABA-40FCA4D03214}"/>
          </ac:cxnSpMkLst>
        </pc:cxnChg>
      </pc:sldChg>
      <pc:sldChg chg="del">
        <pc:chgData name="mukul maheshwari" userId="12cb43e2ca5f0d2c" providerId="LiveId" clId="{771D35AD-4715-4301-979B-0CEBFD3D1244}" dt="2025-08-28T01:35:10.158" v="7" actId="47"/>
        <pc:sldMkLst>
          <pc:docMk/>
          <pc:sldMk cId="829416265" sldId="269"/>
        </pc:sldMkLst>
      </pc:sldChg>
      <pc:sldChg chg="addSp delSp modSp new mod setBg setClrOvrMap">
        <pc:chgData name="mukul maheshwari" userId="12cb43e2ca5f0d2c" providerId="LiveId" clId="{771D35AD-4715-4301-979B-0CEBFD3D1244}" dt="2025-08-28T01:37:09.975" v="18" actId="26606"/>
        <pc:sldMkLst>
          <pc:docMk/>
          <pc:sldMk cId="2272775522" sldId="295"/>
        </pc:sldMkLst>
        <pc:spChg chg="mod">
          <ac:chgData name="mukul maheshwari" userId="12cb43e2ca5f0d2c" providerId="LiveId" clId="{771D35AD-4715-4301-979B-0CEBFD3D1244}" dt="2025-08-28T01:37:09.975" v="18" actId="26606"/>
          <ac:spMkLst>
            <pc:docMk/>
            <pc:sldMk cId="2272775522" sldId="295"/>
            <ac:spMk id="2" creationId="{62E5BB2A-B07D-9DD2-9D6A-41BB46A383A7}"/>
          </ac:spMkLst>
        </pc:spChg>
        <pc:spChg chg="add del">
          <ac:chgData name="mukul maheshwari" userId="12cb43e2ca5f0d2c" providerId="LiveId" clId="{771D35AD-4715-4301-979B-0CEBFD3D1244}" dt="2025-08-28T01:37:09.975" v="18" actId="26606"/>
          <ac:spMkLst>
            <pc:docMk/>
            <pc:sldMk cId="2272775522" sldId="295"/>
            <ac:spMk id="3" creationId="{B27569DF-A9D2-EBB3-3C69-1CC1F357BD99}"/>
          </ac:spMkLst>
        </pc:spChg>
        <pc:spChg chg="add del">
          <ac:chgData name="mukul maheshwari" userId="12cb43e2ca5f0d2c" providerId="LiveId" clId="{771D35AD-4715-4301-979B-0CEBFD3D1244}" dt="2025-08-28T01:37:09.953" v="17" actId="26606"/>
          <ac:spMkLst>
            <pc:docMk/>
            <pc:sldMk cId="2272775522" sldId="295"/>
            <ac:spMk id="13" creationId="{0EECA69B-4C2A-7F31-8019-E90DB3BD49CB}"/>
          </ac:spMkLst>
        </pc:spChg>
        <pc:spChg chg="add del">
          <ac:chgData name="mukul maheshwari" userId="12cb43e2ca5f0d2c" providerId="LiveId" clId="{771D35AD-4715-4301-979B-0CEBFD3D1244}" dt="2025-08-28T01:37:09.953" v="17" actId="26606"/>
          <ac:spMkLst>
            <pc:docMk/>
            <pc:sldMk cId="2272775522" sldId="295"/>
            <ac:spMk id="15" creationId="{857DEAC1-B3AA-6569-0A44-A191DF2F3C67}"/>
          </ac:spMkLst>
        </pc:spChg>
        <pc:spChg chg="add">
          <ac:chgData name="mukul maheshwari" userId="12cb43e2ca5f0d2c" providerId="LiveId" clId="{771D35AD-4715-4301-979B-0CEBFD3D1244}" dt="2025-08-28T01:37:09.975" v="18" actId="26606"/>
          <ac:spMkLst>
            <pc:docMk/>
            <pc:sldMk cId="2272775522" sldId="295"/>
            <ac:spMk id="20" creationId="{33E93247-6229-44AB-A550-739E971E690B}"/>
          </ac:spMkLst>
        </pc:spChg>
        <pc:spChg chg="add">
          <ac:chgData name="mukul maheshwari" userId="12cb43e2ca5f0d2c" providerId="LiveId" clId="{771D35AD-4715-4301-979B-0CEBFD3D1244}" dt="2025-08-28T01:37:09.975" v="18" actId="26606"/>
          <ac:spMkLst>
            <pc:docMk/>
            <pc:sldMk cId="2272775522" sldId="295"/>
            <ac:spMk id="22" creationId="{6BB6B482-ACCA-4938-8AEA-49D525C17221}"/>
          </ac:spMkLst>
        </pc:spChg>
        <pc:picChg chg="add del">
          <ac:chgData name="mukul maheshwari" userId="12cb43e2ca5f0d2c" providerId="LiveId" clId="{771D35AD-4715-4301-979B-0CEBFD3D1244}" dt="2025-08-28T01:37:09.953" v="17" actId="26606"/>
          <ac:picMkLst>
            <pc:docMk/>
            <pc:sldMk cId="2272775522" sldId="295"/>
            <ac:picMk id="5" creationId="{4B0748F1-4125-E368-9E32-ED399F778DB5}"/>
          </ac:picMkLst>
        </pc:picChg>
        <pc:picChg chg="add">
          <ac:chgData name="mukul maheshwari" userId="12cb43e2ca5f0d2c" providerId="LiveId" clId="{771D35AD-4715-4301-979B-0CEBFD3D1244}" dt="2025-08-28T01:37:09.975" v="18" actId="26606"/>
          <ac:picMkLst>
            <pc:docMk/>
            <pc:sldMk cId="2272775522" sldId="295"/>
            <ac:picMk id="21" creationId="{4CB25204-7747-2868-E53C-987C4BDFA49A}"/>
          </ac:picMkLst>
        </pc:picChg>
        <pc:cxnChg chg="add del">
          <ac:chgData name="mukul maheshwari" userId="12cb43e2ca5f0d2c" providerId="LiveId" clId="{771D35AD-4715-4301-979B-0CEBFD3D1244}" dt="2025-08-28T01:37:09.953" v="17" actId="26606"/>
          <ac:cxnSpMkLst>
            <pc:docMk/>
            <pc:sldMk cId="2272775522" sldId="295"/>
            <ac:cxnSpMk id="9" creationId="{F64F9B95-9045-48D2-B9F3-2927E98F54AA}"/>
          </ac:cxnSpMkLst>
        </pc:cxnChg>
        <pc:cxnChg chg="add del">
          <ac:chgData name="mukul maheshwari" userId="12cb43e2ca5f0d2c" providerId="LiveId" clId="{771D35AD-4715-4301-979B-0CEBFD3D1244}" dt="2025-08-28T01:37:09.953" v="17" actId="26606"/>
          <ac:cxnSpMkLst>
            <pc:docMk/>
            <pc:sldMk cId="2272775522" sldId="295"/>
            <ac:cxnSpMk id="11" creationId="{085AA86F-6A4D-4BCB-A045-D992CDC2959B}"/>
          </ac:cxnSpMkLst>
        </pc:cxnChg>
        <pc:cxnChg chg="add">
          <ac:chgData name="mukul maheshwari" userId="12cb43e2ca5f0d2c" providerId="LiveId" clId="{771D35AD-4715-4301-979B-0CEBFD3D1244}" dt="2025-08-28T01:37:09.975" v="18" actId="26606"/>
          <ac:cxnSpMkLst>
            <pc:docMk/>
            <pc:sldMk cId="2272775522" sldId="295"/>
            <ac:cxnSpMk id="17" creationId="{EE2E603F-4A95-4FE8-BB06-211DFD75DBEF}"/>
          </ac:cxnSpMkLst>
        </pc:cxnChg>
        <pc:cxnChg chg="add">
          <ac:chgData name="mukul maheshwari" userId="12cb43e2ca5f0d2c" providerId="LiveId" clId="{771D35AD-4715-4301-979B-0CEBFD3D1244}" dt="2025-08-28T01:37:09.975" v="18" actId="26606"/>
          <ac:cxnSpMkLst>
            <pc:docMk/>
            <pc:sldMk cId="2272775522" sldId="295"/>
            <ac:cxnSpMk id="18" creationId="{F64F9B95-9045-48D2-B9F3-2927E98F54AA}"/>
          </ac:cxnSpMkLst>
        </pc:cxnChg>
        <pc:cxnChg chg="add">
          <ac:chgData name="mukul maheshwari" userId="12cb43e2ca5f0d2c" providerId="LiveId" clId="{771D35AD-4715-4301-979B-0CEBFD3D1244}" dt="2025-08-28T01:37:09.975" v="18" actId="26606"/>
          <ac:cxnSpMkLst>
            <pc:docMk/>
            <pc:sldMk cId="2272775522" sldId="295"/>
            <ac:cxnSpMk id="19" creationId="{085AA86F-6A4D-4BCB-A045-D992CDC2959B}"/>
          </ac:cxnSpMkLst>
        </pc:cxnChg>
      </pc:sldChg>
      <pc:sldChg chg="new del">
        <pc:chgData name="mukul maheshwari" userId="12cb43e2ca5f0d2c" providerId="LiveId" clId="{771D35AD-4715-4301-979B-0CEBFD3D1244}" dt="2025-08-28T01:37:14.531" v="19" actId="47"/>
        <pc:sldMkLst>
          <pc:docMk/>
          <pc:sldMk cId="1610826029" sldId="29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F72A1F-5708-41D1-8733-22DC1DC2B85F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6EA2401-90A1-4A99-9B7B-22D2C1F31E85}">
      <dgm:prSet/>
      <dgm:spPr/>
      <dgm:t>
        <a:bodyPr/>
        <a:lstStyle/>
        <a:p>
          <a:r>
            <a:rPr lang="en-US"/>
            <a:t>National Health Policy 2017 recommends strengthening primary health care by establishing Health and Wellness Centres (HWCs).</a:t>
          </a:r>
        </a:p>
      </dgm:t>
    </dgm:pt>
    <dgm:pt modelId="{043CDD0F-5E8F-419E-976E-53B99EFF721E}" type="parTrans" cxnId="{9358882F-250C-48FC-907C-123DDF702EA3}">
      <dgm:prSet/>
      <dgm:spPr/>
      <dgm:t>
        <a:bodyPr/>
        <a:lstStyle/>
        <a:p>
          <a:endParaRPr lang="en-US"/>
        </a:p>
      </dgm:t>
    </dgm:pt>
    <dgm:pt modelId="{70D16E70-C6C5-4361-9671-97A7A5635BAC}" type="sibTrans" cxnId="{9358882F-250C-48FC-907C-123DDF702EA3}">
      <dgm:prSet/>
      <dgm:spPr/>
      <dgm:t>
        <a:bodyPr/>
        <a:lstStyle/>
        <a:p>
          <a:endParaRPr lang="en-US"/>
        </a:p>
      </dgm:t>
    </dgm:pt>
    <dgm:pt modelId="{BD5BAC98-9F19-470F-83B9-5570CDD3DE43}">
      <dgm:prSet/>
      <dgm:spPr/>
      <dgm:t>
        <a:bodyPr/>
        <a:lstStyle/>
        <a:p>
          <a:r>
            <a:rPr lang="en-US"/>
            <a:t>1,50,000 HWCs to be created by transforming existing Sub-Centres (SCs) and Primary Health Centres (PHCs) under Ayushman Bharat.</a:t>
          </a:r>
        </a:p>
      </dgm:t>
    </dgm:pt>
    <dgm:pt modelId="{41D3390F-E91B-48F8-8849-C49DC8828139}" type="parTrans" cxnId="{E9B569A7-1054-42AC-B888-0D7B99F34D5B}">
      <dgm:prSet/>
      <dgm:spPr/>
      <dgm:t>
        <a:bodyPr/>
        <a:lstStyle/>
        <a:p>
          <a:endParaRPr lang="en-US"/>
        </a:p>
      </dgm:t>
    </dgm:pt>
    <dgm:pt modelId="{12B35778-DD13-4F04-A33E-6B038202A289}" type="sibTrans" cxnId="{E9B569A7-1054-42AC-B888-0D7B99F34D5B}">
      <dgm:prSet/>
      <dgm:spPr/>
      <dgm:t>
        <a:bodyPr/>
        <a:lstStyle/>
        <a:p>
          <a:endParaRPr lang="en-US"/>
        </a:p>
      </dgm:t>
    </dgm:pt>
    <dgm:pt modelId="{6551C7D6-CF14-47C3-BF32-C5A81C66240F}">
      <dgm:prSet/>
      <dgm:spPr/>
      <dgm:t>
        <a:bodyPr/>
        <a:lstStyle/>
        <a:p>
          <a:r>
            <a:rPr lang="en-US"/>
            <a:t>HWCs aim to deliver Comprehensive Primary Health Care (CPHC):</a:t>
          </a:r>
        </a:p>
      </dgm:t>
    </dgm:pt>
    <dgm:pt modelId="{E25396CF-75FB-41BF-B014-934167296303}" type="parTrans" cxnId="{8CC89386-ED77-4C08-97DD-38A1F7173033}">
      <dgm:prSet/>
      <dgm:spPr/>
      <dgm:t>
        <a:bodyPr/>
        <a:lstStyle/>
        <a:p>
          <a:endParaRPr lang="en-US"/>
        </a:p>
      </dgm:t>
    </dgm:pt>
    <dgm:pt modelId="{F413AA31-BD2C-4898-8E1D-D4CD583AA774}" type="sibTrans" cxnId="{8CC89386-ED77-4C08-97DD-38A1F7173033}">
      <dgm:prSet/>
      <dgm:spPr/>
      <dgm:t>
        <a:bodyPr/>
        <a:lstStyle/>
        <a:p>
          <a:endParaRPr lang="en-US"/>
        </a:p>
      </dgm:t>
    </dgm:pt>
    <dgm:pt modelId="{A712CB4D-3777-4DA7-B4C7-C48A956F6615}">
      <dgm:prSet/>
      <dgm:spPr/>
      <dgm:t>
        <a:bodyPr/>
        <a:lstStyle/>
        <a:p>
          <a:r>
            <a:rPr lang="en-US"/>
            <a:t>Maternal and child health</a:t>
          </a:r>
        </a:p>
      </dgm:t>
    </dgm:pt>
    <dgm:pt modelId="{D91C6FED-7566-4D07-8F5F-D19F561ACF36}" type="parTrans" cxnId="{59EF3449-3ABF-434E-A2AF-FA12796F434E}">
      <dgm:prSet/>
      <dgm:spPr/>
      <dgm:t>
        <a:bodyPr/>
        <a:lstStyle/>
        <a:p>
          <a:endParaRPr lang="en-US"/>
        </a:p>
      </dgm:t>
    </dgm:pt>
    <dgm:pt modelId="{76EE5E6B-4A84-4CC3-A657-9BF713171EE7}" type="sibTrans" cxnId="{59EF3449-3ABF-434E-A2AF-FA12796F434E}">
      <dgm:prSet/>
      <dgm:spPr/>
      <dgm:t>
        <a:bodyPr/>
        <a:lstStyle/>
        <a:p>
          <a:endParaRPr lang="en-US"/>
        </a:p>
      </dgm:t>
    </dgm:pt>
    <dgm:pt modelId="{E2CDA446-46EF-4978-9B70-AAC5A85DF1EC}">
      <dgm:prSet/>
      <dgm:spPr/>
      <dgm:t>
        <a:bodyPr/>
        <a:lstStyle/>
        <a:p>
          <a:r>
            <a:rPr lang="en-US"/>
            <a:t>Non-communicable diseases</a:t>
          </a:r>
        </a:p>
      </dgm:t>
    </dgm:pt>
    <dgm:pt modelId="{273DBA85-4D4F-4BBA-B00F-6CC9BD0DD804}" type="parTrans" cxnId="{728EF072-8CA8-4B0A-A3C9-FEA102FEB3E1}">
      <dgm:prSet/>
      <dgm:spPr/>
      <dgm:t>
        <a:bodyPr/>
        <a:lstStyle/>
        <a:p>
          <a:endParaRPr lang="en-US"/>
        </a:p>
      </dgm:t>
    </dgm:pt>
    <dgm:pt modelId="{46D6BC87-416B-4084-AF9F-4CA96FD62C3C}" type="sibTrans" cxnId="{728EF072-8CA8-4B0A-A3C9-FEA102FEB3E1}">
      <dgm:prSet/>
      <dgm:spPr/>
      <dgm:t>
        <a:bodyPr/>
        <a:lstStyle/>
        <a:p>
          <a:endParaRPr lang="en-US"/>
        </a:p>
      </dgm:t>
    </dgm:pt>
    <dgm:pt modelId="{E1FC7C51-B908-4E2F-A4C6-6366CBEF483F}">
      <dgm:prSet/>
      <dgm:spPr/>
      <dgm:t>
        <a:bodyPr/>
        <a:lstStyle/>
        <a:p>
          <a:r>
            <a:rPr lang="en-US"/>
            <a:t>Free drugs and diagnostics</a:t>
          </a:r>
        </a:p>
      </dgm:t>
    </dgm:pt>
    <dgm:pt modelId="{5D19D68C-6D66-4C69-BD8A-E620F1F6E7DC}" type="parTrans" cxnId="{CE24B346-8A85-4AC4-B325-880296CBE52E}">
      <dgm:prSet/>
      <dgm:spPr/>
      <dgm:t>
        <a:bodyPr/>
        <a:lstStyle/>
        <a:p>
          <a:endParaRPr lang="en-US"/>
        </a:p>
      </dgm:t>
    </dgm:pt>
    <dgm:pt modelId="{CBD745DF-7C2C-419B-A8FA-1B55305E5960}" type="sibTrans" cxnId="{CE24B346-8A85-4AC4-B325-880296CBE52E}">
      <dgm:prSet/>
      <dgm:spPr/>
      <dgm:t>
        <a:bodyPr/>
        <a:lstStyle/>
        <a:p>
          <a:endParaRPr lang="en-US"/>
        </a:p>
      </dgm:t>
    </dgm:pt>
    <dgm:pt modelId="{0788FCBC-7933-4711-B9B7-95EA0243FBAA}">
      <dgm:prSet/>
      <dgm:spPr/>
      <dgm:t>
        <a:bodyPr/>
        <a:lstStyle/>
        <a:p>
          <a:r>
            <a:rPr lang="en-US"/>
            <a:t>Health promotion, disease prevention</a:t>
          </a:r>
        </a:p>
      </dgm:t>
    </dgm:pt>
    <dgm:pt modelId="{D0DC490F-F306-4776-B71A-E1752EFA7825}" type="parTrans" cxnId="{78E60A76-15FD-4B49-B53A-EDEDFA7DE1DE}">
      <dgm:prSet/>
      <dgm:spPr/>
      <dgm:t>
        <a:bodyPr/>
        <a:lstStyle/>
        <a:p>
          <a:endParaRPr lang="en-US"/>
        </a:p>
      </dgm:t>
    </dgm:pt>
    <dgm:pt modelId="{5437168B-3C9C-49F3-A6B5-9171CD56809F}" type="sibTrans" cxnId="{78E60A76-15FD-4B49-B53A-EDEDFA7DE1DE}">
      <dgm:prSet/>
      <dgm:spPr/>
      <dgm:t>
        <a:bodyPr/>
        <a:lstStyle/>
        <a:p>
          <a:endParaRPr lang="en-US"/>
        </a:p>
      </dgm:t>
    </dgm:pt>
    <dgm:pt modelId="{8D681B5E-60F3-4288-8BD4-F15F6BC3B074}" type="pres">
      <dgm:prSet presAssocID="{BFF72A1F-5708-41D1-8733-22DC1DC2B85F}" presName="Name0" presStyleCnt="0">
        <dgm:presLayoutVars>
          <dgm:dir/>
          <dgm:animLvl val="lvl"/>
          <dgm:resizeHandles val="exact"/>
        </dgm:presLayoutVars>
      </dgm:prSet>
      <dgm:spPr/>
    </dgm:pt>
    <dgm:pt modelId="{F292ECDE-AD6E-46D3-82F2-C29001AE453D}" type="pres">
      <dgm:prSet presAssocID="{6551C7D6-CF14-47C3-BF32-C5A81C66240F}" presName="boxAndChildren" presStyleCnt="0"/>
      <dgm:spPr/>
    </dgm:pt>
    <dgm:pt modelId="{C749F84F-0E05-47F5-B59E-1A4693A79834}" type="pres">
      <dgm:prSet presAssocID="{6551C7D6-CF14-47C3-BF32-C5A81C66240F}" presName="parentTextBox" presStyleLbl="node1" presStyleIdx="0" presStyleCnt="3"/>
      <dgm:spPr/>
    </dgm:pt>
    <dgm:pt modelId="{2B7EEE6F-1F3A-4419-B16E-33E0372D8346}" type="pres">
      <dgm:prSet presAssocID="{6551C7D6-CF14-47C3-BF32-C5A81C66240F}" presName="entireBox" presStyleLbl="node1" presStyleIdx="0" presStyleCnt="3"/>
      <dgm:spPr/>
    </dgm:pt>
    <dgm:pt modelId="{76172D59-9285-45BB-8B03-BF30BD02B20C}" type="pres">
      <dgm:prSet presAssocID="{6551C7D6-CF14-47C3-BF32-C5A81C66240F}" presName="descendantBox" presStyleCnt="0"/>
      <dgm:spPr/>
    </dgm:pt>
    <dgm:pt modelId="{155EC9E6-A6AB-4CB4-AE83-B50C0962EE63}" type="pres">
      <dgm:prSet presAssocID="{A712CB4D-3777-4DA7-B4C7-C48A956F6615}" presName="childTextBox" presStyleLbl="fgAccFollowNode1" presStyleIdx="0" presStyleCnt="4">
        <dgm:presLayoutVars>
          <dgm:bulletEnabled val="1"/>
        </dgm:presLayoutVars>
      </dgm:prSet>
      <dgm:spPr/>
    </dgm:pt>
    <dgm:pt modelId="{43CB1C0D-AC49-4689-8E9F-BFA36353390C}" type="pres">
      <dgm:prSet presAssocID="{E2CDA446-46EF-4978-9B70-AAC5A85DF1EC}" presName="childTextBox" presStyleLbl="fgAccFollowNode1" presStyleIdx="1" presStyleCnt="4">
        <dgm:presLayoutVars>
          <dgm:bulletEnabled val="1"/>
        </dgm:presLayoutVars>
      </dgm:prSet>
      <dgm:spPr/>
    </dgm:pt>
    <dgm:pt modelId="{2D2981B9-C085-42DD-A3A2-F998DDA6A83D}" type="pres">
      <dgm:prSet presAssocID="{E1FC7C51-B908-4E2F-A4C6-6366CBEF483F}" presName="childTextBox" presStyleLbl="fgAccFollowNode1" presStyleIdx="2" presStyleCnt="4">
        <dgm:presLayoutVars>
          <dgm:bulletEnabled val="1"/>
        </dgm:presLayoutVars>
      </dgm:prSet>
      <dgm:spPr/>
    </dgm:pt>
    <dgm:pt modelId="{5B2E7DCF-342F-4B17-9388-3DAA09005A75}" type="pres">
      <dgm:prSet presAssocID="{0788FCBC-7933-4711-B9B7-95EA0243FBAA}" presName="childTextBox" presStyleLbl="fgAccFollowNode1" presStyleIdx="3" presStyleCnt="4">
        <dgm:presLayoutVars>
          <dgm:bulletEnabled val="1"/>
        </dgm:presLayoutVars>
      </dgm:prSet>
      <dgm:spPr/>
    </dgm:pt>
    <dgm:pt modelId="{BBBBBD1E-5E81-41EA-9744-17E75633F350}" type="pres">
      <dgm:prSet presAssocID="{12B35778-DD13-4F04-A33E-6B038202A289}" presName="sp" presStyleCnt="0"/>
      <dgm:spPr/>
    </dgm:pt>
    <dgm:pt modelId="{EBA6CE15-D5AB-4B87-A89E-96A439CC121B}" type="pres">
      <dgm:prSet presAssocID="{BD5BAC98-9F19-470F-83B9-5570CDD3DE43}" presName="arrowAndChildren" presStyleCnt="0"/>
      <dgm:spPr/>
    </dgm:pt>
    <dgm:pt modelId="{D750BC2C-7C66-431E-909B-68CA5F61C58C}" type="pres">
      <dgm:prSet presAssocID="{BD5BAC98-9F19-470F-83B9-5570CDD3DE43}" presName="parentTextArrow" presStyleLbl="node1" presStyleIdx="1" presStyleCnt="3"/>
      <dgm:spPr/>
    </dgm:pt>
    <dgm:pt modelId="{14FFCEC8-2ECC-4887-B4CB-DEF858094ACA}" type="pres">
      <dgm:prSet presAssocID="{70D16E70-C6C5-4361-9671-97A7A5635BAC}" presName="sp" presStyleCnt="0"/>
      <dgm:spPr/>
    </dgm:pt>
    <dgm:pt modelId="{9E3EF8A3-F87E-47C4-9A02-E3CACC303D91}" type="pres">
      <dgm:prSet presAssocID="{26EA2401-90A1-4A99-9B7B-22D2C1F31E85}" presName="arrowAndChildren" presStyleCnt="0"/>
      <dgm:spPr/>
    </dgm:pt>
    <dgm:pt modelId="{7DC03232-25CB-4897-9617-0E73B030C020}" type="pres">
      <dgm:prSet presAssocID="{26EA2401-90A1-4A99-9B7B-22D2C1F31E85}" presName="parentTextArrow" presStyleLbl="node1" presStyleIdx="2" presStyleCnt="3"/>
      <dgm:spPr/>
    </dgm:pt>
  </dgm:ptLst>
  <dgm:cxnLst>
    <dgm:cxn modelId="{DCEE800F-070B-45C2-9050-291E9FEC9CA6}" type="presOf" srcId="{26EA2401-90A1-4A99-9B7B-22D2C1F31E85}" destId="{7DC03232-25CB-4897-9617-0E73B030C020}" srcOrd="0" destOrd="0" presId="urn:microsoft.com/office/officeart/2005/8/layout/process4"/>
    <dgm:cxn modelId="{9358882F-250C-48FC-907C-123DDF702EA3}" srcId="{BFF72A1F-5708-41D1-8733-22DC1DC2B85F}" destId="{26EA2401-90A1-4A99-9B7B-22D2C1F31E85}" srcOrd="0" destOrd="0" parTransId="{043CDD0F-5E8F-419E-976E-53B99EFF721E}" sibTransId="{70D16E70-C6C5-4361-9671-97A7A5635BAC}"/>
    <dgm:cxn modelId="{86C5B22F-6DB1-408A-86AD-66833CF0ED53}" type="presOf" srcId="{6551C7D6-CF14-47C3-BF32-C5A81C66240F}" destId="{C749F84F-0E05-47F5-B59E-1A4693A79834}" srcOrd="0" destOrd="0" presId="urn:microsoft.com/office/officeart/2005/8/layout/process4"/>
    <dgm:cxn modelId="{20A67F62-7088-4304-B5E4-DD0BC30B48EB}" type="presOf" srcId="{0788FCBC-7933-4711-B9B7-95EA0243FBAA}" destId="{5B2E7DCF-342F-4B17-9388-3DAA09005A75}" srcOrd="0" destOrd="0" presId="urn:microsoft.com/office/officeart/2005/8/layout/process4"/>
    <dgm:cxn modelId="{CE24B346-8A85-4AC4-B325-880296CBE52E}" srcId="{6551C7D6-CF14-47C3-BF32-C5A81C66240F}" destId="{E1FC7C51-B908-4E2F-A4C6-6366CBEF483F}" srcOrd="2" destOrd="0" parTransId="{5D19D68C-6D66-4C69-BD8A-E620F1F6E7DC}" sibTransId="{CBD745DF-7C2C-419B-A8FA-1B55305E5960}"/>
    <dgm:cxn modelId="{59EF3449-3ABF-434E-A2AF-FA12796F434E}" srcId="{6551C7D6-CF14-47C3-BF32-C5A81C66240F}" destId="{A712CB4D-3777-4DA7-B4C7-C48A956F6615}" srcOrd="0" destOrd="0" parTransId="{D91C6FED-7566-4D07-8F5F-D19F561ACF36}" sibTransId="{76EE5E6B-4A84-4CC3-A657-9BF713171EE7}"/>
    <dgm:cxn modelId="{B7C8DC49-5776-47C1-92D6-5122F714B473}" type="presOf" srcId="{E1FC7C51-B908-4E2F-A4C6-6366CBEF483F}" destId="{2D2981B9-C085-42DD-A3A2-F998DDA6A83D}" srcOrd="0" destOrd="0" presId="urn:microsoft.com/office/officeart/2005/8/layout/process4"/>
    <dgm:cxn modelId="{728EF072-8CA8-4B0A-A3C9-FEA102FEB3E1}" srcId="{6551C7D6-CF14-47C3-BF32-C5A81C66240F}" destId="{E2CDA446-46EF-4978-9B70-AAC5A85DF1EC}" srcOrd="1" destOrd="0" parTransId="{273DBA85-4D4F-4BBA-B00F-6CC9BD0DD804}" sibTransId="{46D6BC87-416B-4084-AF9F-4CA96FD62C3C}"/>
    <dgm:cxn modelId="{78E60A76-15FD-4B49-B53A-EDEDFA7DE1DE}" srcId="{6551C7D6-CF14-47C3-BF32-C5A81C66240F}" destId="{0788FCBC-7933-4711-B9B7-95EA0243FBAA}" srcOrd="3" destOrd="0" parTransId="{D0DC490F-F306-4776-B71A-E1752EFA7825}" sibTransId="{5437168B-3C9C-49F3-A6B5-9171CD56809F}"/>
    <dgm:cxn modelId="{52E38C78-9BA8-4695-A0FE-DD6DF70E38FE}" type="presOf" srcId="{E2CDA446-46EF-4978-9B70-AAC5A85DF1EC}" destId="{43CB1C0D-AC49-4689-8E9F-BFA36353390C}" srcOrd="0" destOrd="0" presId="urn:microsoft.com/office/officeart/2005/8/layout/process4"/>
    <dgm:cxn modelId="{8CC89386-ED77-4C08-97DD-38A1F7173033}" srcId="{BFF72A1F-5708-41D1-8733-22DC1DC2B85F}" destId="{6551C7D6-CF14-47C3-BF32-C5A81C66240F}" srcOrd="2" destOrd="0" parTransId="{E25396CF-75FB-41BF-B014-934167296303}" sibTransId="{F413AA31-BD2C-4898-8E1D-D4CD583AA774}"/>
    <dgm:cxn modelId="{5A1EF6A3-8C63-40D7-95B8-D7FC9770A9E2}" type="presOf" srcId="{6551C7D6-CF14-47C3-BF32-C5A81C66240F}" destId="{2B7EEE6F-1F3A-4419-B16E-33E0372D8346}" srcOrd="1" destOrd="0" presId="urn:microsoft.com/office/officeart/2005/8/layout/process4"/>
    <dgm:cxn modelId="{E9B569A7-1054-42AC-B888-0D7B99F34D5B}" srcId="{BFF72A1F-5708-41D1-8733-22DC1DC2B85F}" destId="{BD5BAC98-9F19-470F-83B9-5570CDD3DE43}" srcOrd="1" destOrd="0" parTransId="{41D3390F-E91B-48F8-8849-C49DC8828139}" sibTransId="{12B35778-DD13-4F04-A33E-6B038202A289}"/>
    <dgm:cxn modelId="{F43200C5-043B-4C2B-9D5F-E3F9C1C71A32}" type="presOf" srcId="{A712CB4D-3777-4DA7-B4C7-C48A956F6615}" destId="{155EC9E6-A6AB-4CB4-AE83-B50C0962EE63}" srcOrd="0" destOrd="0" presId="urn:microsoft.com/office/officeart/2005/8/layout/process4"/>
    <dgm:cxn modelId="{DB2F0AC7-CB3F-4CA9-973B-0ACA2162D04F}" type="presOf" srcId="{BD5BAC98-9F19-470F-83B9-5570CDD3DE43}" destId="{D750BC2C-7C66-431E-909B-68CA5F61C58C}" srcOrd="0" destOrd="0" presId="urn:microsoft.com/office/officeart/2005/8/layout/process4"/>
    <dgm:cxn modelId="{B7F518D5-F65C-413F-9B17-9963B4F2D9AB}" type="presOf" srcId="{BFF72A1F-5708-41D1-8733-22DC1DC2B85F}" destId="{8D681B5E-60F3-4288-8BD4-F15F6BC3B074}" srcOrd="0" destOrd="0" presId="urn:microsoft.com/office/officeart/2005/8/layout/process4"/>
    <dgm:cxn modelId="{A425958B-2874-40C8-BFA7-4E054FD9D134}" type="presParOf" srcId="{8D681B5E-60F3-4288-8BD4-F15F6BC3B074}" destId="{F292ECDE-AD6E-46D3-82F2-C29001AE453D}" srcOrd="0" destOrd="0" presId="urn:microsoft.com/office/officeart/2005/8/layout/process4"/>
    <dgm:cxn modelId="{76A001BE-D08F-4BC5-9E2E-4B3C291BB75C}" type="presParOf" srcId="{F292ECDE-AD6E-46D3-82F2-C29001AE453D}" destId="{C749F84F-0E05-47F5-B59E-1A4693A79834}" srcOrd="0" destOrd="0" presId="urn:microsoft.com/office/officeart/2005/8/layout/process4"/>
    <dgm:cxn modelId="{806705B5-B9EA-4ECA-BB13-BE45C6C05353}" type="presParOf" srcId="{F292ECDE-AD6E-46D3-82F2-C29001AE453D}" destId="{2B7EEE6F-1F3A-4419-B16E-33E0372D8346}" srcOrd="1" destOrd="0" presId="urn:microsoft.com/office/officeart/2005/8/layout/process4"/>
    <dgm:cxn modelId="{30A2B5B2-42C0-4BB5-9D46-366E9F4522D5}" type="presParOf" srcId="{F292ECDE-AD6E-46D3-82F2-C29001AE453D}" destId="{76172D59-9285-45BB-8B03-BF30BD02B20C}" srcOrd="2" destOrd="0" presId="urn:microsoft.com/office/officeart/2005/8/layout/process4"/>
    <dgm:cxn modelId="{0CFEAD5C-7977-480F-A957-E59BAAC4EE6E}" type="presParOf" srcId="{76172D59-9285-45BB-8B03-BF30BD02B20C}" destId="{155EC9E6-A6AB-4CB4-AE83-B50C0962EE63}" srcOrd="0" destOrd="0" presId="urn:microsoft.com/office/officeart/2005/8/layout/process4"/>
    <dgm:cxn modelId="{FFE375FC-18B8-49D8-A03C-6342CEB798BA}" type="presParOf" srcId="{76172D59-9285-45BB-8B03-BF30BD02B20C}" destId="{43CB1C0D-AC49-4689-8E9F-BFA36353390C}" srcOrd="1" destOrd="0" presId="urn:microsoft.com/office/officeart/2005/8/layout/process4"/>
    <dgm:cxn modelId="{01AB3507-7D23-44F6-A2E6-12532F9D2871}" type="presParOf" srcId="{76172D59-9285-45BB-8B03-BF30BD02B20C}" destId="{2D2981B9-C085-42DD-A3A2-F998DDA6A83D}" srcOrd="2" destOrd="0" presId="urn:microsoft.com/office/officeart/2005/8/layout/process4"/>
    <dgm:cxn modelId="{430FB606-B2AE-4077-863B-F7B83DADD4E6}" type="presParOf" srcId="{76172D59-9285-45BB-8B03-BF30BD02B20C}" destId="{5B2E7DCF-342F-4B17-9388-3DAA09005A75}" srcOrd="3" destOrd="0" presId="urn:microsoft.com/office/officeart/2005/8/layout/process4"/>
    <dgm:cxn modelId="{9DFF7B11-3E0D-4377-B1E1-E48C58A3784E}" type="presParOf" srcId="{8D681B5E-60F3-4288-8BD4-F15F6BC3B074}" destId="{BBBBBD1E-5E81-41EA-9744-17E75633F350}" srcOrd="1" destOrd="0" presId="urn:microsoft.com/office/officeart/2005/8/layout/process4"/>
    <dgm:cxn modelId="{38A8971C-2363-40CE-8AEC-909592ACDAC0}" type="presParOf" srcId="{8D681B5E-60F3-4288-8BD4-F15F6BC3B074}" destId="{EBA6CE15-D5AB-4B87-A89E-96A439CC121B}" srcOrd="2" destOrd="0" presId="urn:microsoft.com/office/officeart/2005/8/layout/process4"/>
    <dgm:cxn modelId="{22A4B394-2B01-4218-BCE6-8955AE90F3B6}" type="presParOf" srcId="{EBA6CE15-D5AB-4B87-A89E-96A439CC121B}" destId="{D750BC2C-7C66-431E-909B-68CA5F61C58C}" srcOrd="0" destOrd="0" presId="urn:microsoft.com/office/officeart/2005/8/layout/process4"/>
    <dgm:cxn modelId="{DA6D61A7-F99D-4AF9-85E3-60D5BFB12CE2}" type="presParOf" srcId="{8D681B5E-60F3-4288-8BD4-F15F6BC3B074}" destId="{14FFCEC8-2ECC-4887-B4CB-DEF858094ACA}" srcOrd="3" destOrd="0" presId="urn:microsoft.com/office/officeart/2005/8/layout/process4"/>
    <dgm:cxn modelId="{3BC0A5B1-445A-4187-9965-E1E38FC175D5}" type="presParOf" srcId="{8D681B5E-60F3-4288-8BD4-F15F6BC3B074}" destId="{9E3EF8A3-F87E-47C4-9A02-E3CACC303D91}" srcOrd="4" destOrd="0" presId="urn:microsoft.com/office/officeart/2005/8/layout/process4"/>
    <dgm:cxn modelId="{90F830BC-93EB-46B9-96F8-D2DCC1B26C1F}" type="presParOf" srcId="{9E3EF8A3-F87E-47C4-9A02-E3CACC303D91}" destId="{7DC03232-25CB-4897-9617-0E73B030C02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E71653-CBDA-4DE1-9391-F97353C88974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E5D20DF-D3AB-41D2-803C-F335243E8C02}">
      <dgm:prSet/>
      <dgm:spPr/>
      <dgm:t>
        <a:bodyPr/>
        <a:lstStyle/>
        <a:p>
          <a:r>
            <a:rPr lang="en-US"/>
            <a:t>Serve covering populations of 3,000–5,000 for SC-HWCs.</a:t>
          </a:r>
        </a:p>
      </dgm:t>
    </dgm:pt>
    <dgm:pt modelId="{3E6B9561-E02A-4F65-926C-5E94FA0F32DE}" type="parTrans" cxnId="{78317ABA-4CE3-4CAC-874A-417E510FD3B3}">
      <dgm:prSet/>
      <dgm:spPr/>
      <dgm:t>
        <a:bodyPr/>
        <a:lstStyle/>
        <a:p>
          <a:endParaRPr lang="en-US"/>
        </a:p>
      </dgm:t>
    </dgm:pt>
    <dgm:pt modelId="{A3343CE7-781E-4E77-8B66-63E591EB8C21}" type="sibTrans" cxnId="{78317ABA-4CE3-4CAC-874A-417E510FD3B3}">
      <dgm:prSet/>
      <dgm:spPr/>
      <dgm:t>
        <a:bodyPr/>
        <a:lstStyle/>
        <a:p>
          <a:endParaRPr lang="en-US"/>
        </a:p>
      </dgm:t>
    </dgm:pt>
    <dgm:pt modelId="{43B7479A-980E-41FD-9267-A7EA35445811}">
      <dgm:prSet/>
      <dgm:spPr/>
      <dgm:t>
        <a:bodyPr/>
        <a:lstStyle/>
        <a:p>
          <a:r>
            <a:rPr lang="en-US"/>
            <a:t>PHCs in rural/urban areas also converted to HWCs.</a:t>
          </a:r>
        </a:p>
      </dgm:t>
    </dgm:pt>
    <dgm:pt modelId="{DF0C92C6-1074-4135-9433-9EE55C566DD6}" type="parTrans" cxnId="{9250C598-2C3E-49D9-971D-8E462ABD83B7}">
      <dgm:prSet/>
      <dgm:spPr/>
      <dgm:t>
        <a:bodyPr/>
        <a:lstStyle/>
        <a:p>
          <a:endParaRPr lang="en-US"/>
        </a:p>
      </dgm:t>
    </dgm:pt>
    <dgm:pt modelId="{A6E1BAA1-2AFF-478E-9E4D-6994E597834E}" type="sibTrans" cxnId="{9250C598-2C3E-49D9-971D-8E462ABD83B7}">
      <dgm:prSet/>
      <dgm:spPr/>
      <dgm:t>
        <a:bodyPr/>
        <a:lstStyle/>
        <a:p>
          <a:endParaRPr lang="en-US"/>
        </a:p>
      </dgm:t>
    </dgm:pt>
    <dgm:pt modelId="{B04FD967-924A-4AA8-AE0A-71EE682E8891}">
      <dgm:prSet/>
      <dgm:spPr/>
      <dgm:t>
        <a:bodyPr/>
        <a:lstStyle/>
        <a:p>
          <a:r>
            <a:rPr lang="en-US"/>
            <a:t>Care may also use outreach/mobile units, home, and community-based care.</a:t>
          </a:r>
        </a:p>
      </dgm:t>
    </dgm:pt>
    <dgm:pt modelId="{D3721BCA-F874-48BF-B6BC-C15CDFBF288D}" type="parTrans" cxnId="{504BB312-C187-4DC2-9390-6C4583A02096}">
      <dgm:prSet/>
      <dgm:spPr/>
      <dgm:t>
        <a:bodyPr/>
        <a:lstStyle/>
        <a:p>
          <a:endParaRPr lang="en-US"/>
        </a:p>
      </dgm:t>
    </dgm:pt>
    <dgm:pt modelId="{FF943029-F197-45EF-A130-4BA3F2EE0B91}" type="sibTrans" cxnId="{504BB312-C187-4DC2-9390-6C4583A02096}">
      <dgm:prSet/>
      <dgm:spPr/>
      <dgm:t>
        <a:bodyPr/>
        <a:lstStyle/>
        <a:p>
          <a:endParaRPr lang="en-US"/>
        </a:p>
      </dgm:t>
    </dgm:pt>
    <dgm:pt modelId="{35273C79-47A0-4AB1-B463-C547E9A47B98}">
      <dgm:prSet/>
      <dgm:spPr/>
      <dgm:t>
        <a:bodyPr/>
        <a:lstStyle/>
        <a:p>
          <a:r>
            <a:rPr lang="en-US"/>
            <a:t>Guiding principles: equity, universality, no financial hardship, continuum of care.</a:t>
          </a:r>
        </a:p>
      </dgm:t>
    </dgm:pt>
    <dgm:pt modelId="{69BCB1CC-1D7E-4F33-AC2A-6EFCCEEA84EA}" type="parTrans" cxnId="{970FBA28-08E9-4839-A656-7631EF0E2B38}">
      <dgm:prSet/>
      <dgm:spPr/>
      <dgm:t>
        <a:bodyPr/>
        <a:lstStyle/>
        <a:p>
          <a:endParaRPr lang="en-US"/>
        </a:p>
      </dgm:t>
    </dgm:pt>
    <dgm:pt modelId="{8BFC509C-8B3C-43AD-8E80-C835670CC409}" type="sibTrans" cxnId="{970FBA28-08E9-4839-A656-7631EF0E2B38}">
      <dgm:prSet/>
      <dgm:spPr/>
      <dgm:t>
        <a:bodyPr/>
        <a:lstStyle/>
        <a:p>
          <a:endParaRPr lang="en-US"/>
        </a:p>
      </dgm:t>
    </dgm:pt>
    <dgm:pt modelId="{3EA4B623-80F8-44BA-A15B-10253F9D1FAF}" type="pres">
      <dgm:prSet presAssocID="{5FE71653-CBDA-4DE1-9391-F97353C88974}" presName="vert0" presStyleCnt="0">
        <dgm:presLayoutVars>
          <dgm:dir/>
          <dgm:animOne val="branch"/>
          <dgm:animLvl val="lvl"/>
        </dgm:presLayoutVars>
      </dgm:prSet>
      <dgm:spPr/>
    </dgm:pt>
    <dgm:pt modelId="{B95B1FA8-C40F-4151-8762-F618B67F0E10}" type="pres">
      <dgm:prSet presAssocID="{2E5D20DF-D3AB-41D2-803C-F335243E8C02}" presName="thickLine" presStyleLbl="alignNode1" presStyleIdx="0" presStyleCnt="4"/>
      <dgm:spPr/>
    </dgm:pt>
    <dgm:pt modelId="{70B55596-0EF3-4A4A-A682-596CF5F2AF59}" type="pres">
      <dgm:prSet presAssocID="{2E5D20DF-D3AB-41D2-803C-F335243E8C02}" presName="horz1" presStyleCnt="0"/>
      <dgm:spPr/>
    </dgm:pt>
    <dgm:pt modelId="{6DDF6B35-12C9-4B28-B020-304036730248}" type="pres">
      <dgm:prSet presAssocID="{2E5D20DF-D3AB-41D2-803C-F335243E8C02}" presName="tx1" presStyleLbl="revTx" presStyleIdx="0" presStyleCnt="4"/>
      <dgm:spPr/>
    </dgm:pt>
    <dgm:pt modelId="{96DD29CB-7469-4C57-B34F-7068C513F4DC}" type="pres">
      <dgm:prSet presAssocID="{2E5D20DF-D3AB-41D2-803C-F335243E8C02}" presName="vert1" presStyleCnt="0"/>
      <dgm:spPr/>
    </dgm:pt>
    <dgm:pt modelId="{BDD00198-CC13-42B1-AD88-58962DDFA18A}" type="pres">
      <dgm:prSet presAssocID="{43B7479A-980E-41FD-9267-A7EA35445811}" presName="thickLine" presStyleLbl="alignNode1" presStyleIdx="1" presStyleCnt="4"/>
      <dgm:spPr/>
    </dgm:pt>
    <dgm:pt modelId="{91C789FB-990D-4D4B-AE68-C376984736AE}" type="pres">
      <dgm:prSet presAssocID="{43B7479A-980E-41FD-9267-A7EA35445811}" presName="horz1" presStyleCnt="0"/>
      <dgm:spPr/>
    </dgm:pt>
    <dgm:pt modelId="{B447F35C-CB3A-4F65-A0DA-78B3CE4AA6B0}" type="pres">
      <dgm:prSet presAssocID="{43B7479A-980E-41FD-9267-A7EA35445811}" presName="tx1" presStyleLbl="revTx" presStyleIdx="1" presStyleCnt="4"/>
      <dgm:spPr/>
    </dgm:pt>
    <dgm:pt modelId="{220A686A-AFB8-4679-868F-C488EE44D4B8}" type="pres">
      <dgm:prSet presAssocID="{43B7479A-980E-41FD-9267-A7EA35445811}" presName="vert1" presStyleCnt="0"/>
      <dgm:spPr/>
    </dgm:pt>
    <dgm:pt modelId="{39FEC086-8E88-47EF-958F-3B34630CCEE7}" type="pres">
      <dgm:prSet presAssocID="{B04FD967-924A-4AA8-AE0A-71EE682E8891}" presName="thickLine" presStyleLbl="alignNode1" presStyleIdx="2" presStyleCnt="4"/>
      <dgm:spPr/>
    </dgm:pt>
    <dgm:pt modelId="{0365B64B-50F0-4B04-9EAE-237B86C21859}" type="pres">
      <dgm:prSet presAssocID="{B04FD967-924A-4AA8-AE0A-71EE682E8891}" presName="horz1" presStyleCnt="0"/>
      <dgm:spPr/>
    </dgm:pt>
    <dgm:pt modelId="{44239795-0A48-4353-AE90-517E0E7D90C7}" type="pres">
      <dgm:prSet presAssocID="{B04FD967-924A-4AA8-AE0A-71EE682E8891}" presName="tx1" presStyleLbl="revTx" presStyleIdx="2" presStyleCnt="4"/>
      <dgm:spPr/>
    </dgm:pt>
    <dgm:pt modelId="{D086AA90-F8EA-4AC8-B86C-6EECA81B2A65}" type="pres">
      <dgm:prSet presAssocID="{B04FD967-924A-4AA8-AE0A-71EE682E8891}" presName="vert1" presStyleCnt="0"/>
      <dgm:spPr/>
    </dgm:pt>
    <dgm:pt modelId="{EB7ECB85-10FB-4D7F-A25C-1E35627AD4B1}" type="pres">
      <dgm:prSet presAssocID="{35273C79-47A0-4AB1-B463-C547E9A47B98}" presName="thickLine" presStyleLbl="alignNode1" presStyleIdx="3" presStyleCnt="4"/>
      <dgm:spPr/>
    </dgm:pt>
    <dgm:pt modelId="{B1097813-AE75-437C-AC06-386A7BD951E8}" type="pres">
      <dgm:prSet presAssocID="{35273C79-47A0-4AB1-B463-C547E9A47B98}" presName="horz1" presStyleCnt="0"/>
      <dgm:spPr/>
    </dgm:pt>
    <dgm:pt modelId="{EE366D1B-99FD-4D5E-A8C0-F0B4263262FD}" type="pres">
      <dgm:prSet presAssocID="{35273C79-47A0-4AB1-B463-C547E9A47B98}" presName="tx1" presStyleLbl="revTx" presStyleIdx="3" presStyleCnt="4"/>
      <dgm:spPr/>
    </dgm:pt>
    <dgm:pt modelId="{69D16C3E-D10D-40EE-BE88-A560EFD1150D}" type="pres">
      <dgm:prSet presAssocID="{35273C79-47A0-4AB1-B463-C547E9A47B98}" presName="vert1" presStyleCnt="0"/>
      <dgm:spPr/>
    </dgm:pt>
  </dgm:ptLst>
  <dgm:cxnLst>
    <dgm:cxn modelId="{504BB312-C187-4DC2-9390-6C4583A02096}" srcId="{5FE71653-CBDA-4DE1-9391-F97353C88974}" destId="{B04FD967-924A-4AA8-AE0A-71EE682E8891}" srcOrd="2" destOrd="0" parTransId="{D3721BCA-F874-48BF-B6BC-C15CDFBF288D}" sibTransId="{FF943029-F197-45EF-A130-4BA3F2EE0B91}"/>
    <dgm:cxn modelId="{13639A1D-77BF-40C0-9180-0C54919AA294}" type="presOf" srcId="{2E5D20DF-D3AB-41D2-803C-F335243E8C02}" destId="{6DDF6B35-12C9-4B28-B020-304036730248}" srcOrd="0" destOrd="0" presId="urn:microsoft.com/office/officeart/2008/layout/LinedList"/>
    <dgm:cxn modelId="{970FBA28-08E9-4839-A656-7631EF0E2B38}" srcId="{5FE71653-CBDA-4DE1-9391-F97353C88974}" destId="{35273C79-47A0-4AB1-B463-C547E9A47B98}" srcOrd="3" destOrd="0" parTransId="{69BCB1CC-1D7E-4F33-AC2A-6EFCCEEA84EA}" sibTransId="{8BFC509C-8B3C-43AD-8E80-C835670CC409}"/>
    <dgm:cxn modelId="{C12B242F-F893-437E-9E08-74617C424673}" type="presOf" srcId="{35273C79-47A0-4AB1-B463-C547E9A47B98}" destId="{EE366D1B-99FD-4D5E-A8C0-F0B4263262FD}" srcOrd="0" destOrd="0" presId="urn:microsoft.com/office/officeart/2008/layout/LinedList"/>
    <dgm:cxn modelId="{330F265F-0271-4C55-8B2B-61D0208A8768}" type="presOf" srcId="{5FE71653-CBDA-4DE1-9391-F97353C88974}" destId="{3EA4B623-80F8-44BA-A15B-10253F9D1FAF}" srcOrd="0" destOrd="0" presId="urn:microsoft.com/office/officeart/2008/layout/LinedList"/>
    <dgm:cxn modelId="{9250C598-2C3E-49D9-971D-8E462ABD83B7}" srcId="{5FE71653-CBDA-4DE1-9391-F97353C88974}" destId="{43B7479A-980E-41FD-9267-A7EA35445811}" srcOrd="1" destOrd="0" parTransId="{DF0C92C6-1074-4135-9433-9EE55C566DD6}" sibTransId="{A6E1BAA1-2AFF-478E-9E4D-6994E597834E}"/>
    <dgm:cxn modelId="{48B1DDA9-0801-4A29-82A3-1B8DEDB8C3FA}" type="presOf" srcId="{43B7479A-980E-41FD-9267-A7EA35445811}" destId="{B447F35C-CB3A-4F65-A0DA-78B3CE4AA6B0}" srcOrd="0" destOrd="0" presId="urn:microsoft.com/office/officeart/2008/layout/LinedList"/>
    <dgm:cxn modelId="{78317ABA-4CE3-4CAC-874A-417E510FD3B3}" srcId="{5FE71653-CBDA-4DE1-9391-F97353C88974}" destId="{2E5D20DF-D3AB-41D2-803C-F335243E8C02}" srcOrd="0" destOrd="0" parTransId="{3E6B9561-E02A-4F65-926C-5E94FA0F32DE}" sibTransId="{A3343CE7-781E-4E77-8B66-63E591EB8C21}"/>
    <dgm:cxn modelId="{9BAD6CBF-4852-4164-9EC3-65BFD4D3E724}" type="presOf" srcId="{B04FD967-924A-4AA8-AE0A-71EE682E8891}" destId="{44239795-0A48-4353-AE90-517E0E7D90C7}" srcOrd="0" destOrd="0" presId="urn:microsoft.com/office/officeart/2008/layout/LinedList"/>
    <dgm:cxn modelId="{ED802722-CD50-4B42-9D77-CF05C0FE70D8}" type="presParOf" srcId="{3EA4B623-80F8-44BA-A15B-10253F9D1FAF}" destId="{B95B1FA8-C40F-4151-8762-F618B67F0E10}" srcOrd="0" destOrd="0" presId="urn:microsoft.com/office/officeart/2008/layout/LinedList"/>
    <dgm:cxn modelId="{2443DEF4-313C-499D-8802-82A5E537F8DF}" type="presParOf" srcId="{3EA4B623-80F8-44BA-A15B-10253F9D1FAF}" destId="{70B55596-0EF3-4A4A-A682-596CF5F2AF59}" srcOrd="1" destOrd="0" presId="urn:microsoft.com/office/officeart/2008/layout/LinedList"/>
    <dgm:cxn modelId="{0AB01F9E-F497-4928-85AE-6F0B93EE340A}" type="presParOf" srcId="{70B55596-0EF3-4A4A-A682-596CF5F2AF59}" destId="{6DDF6B35-12C9-4B28-B020-304036730248}" srcOrd="0" destOrd="0" presId="urn:microsoft.com/office/officeart/2008/layout/LinedList"/>
    <dgm:cxn modelId="{0BAF9276-C622-42C7-8E96-3590A548834E}" type="presParOf" srcId="{70B55596-0EF3-4A4A-A682-596CF5F2AF59}" destId="{96DD29CB-7469-4C57-B34F-7068C513F4DC}" srcOrd="1" destOrd="0" presId="urn:microsoft.com/office/officeart/2008/layout/LinedList"/>
    <dgm:cxn modelId="{06561DF2-C80D-4986-8699-EFE05C715299}" type="presParOf" srcId="{3EA4B623-80F8-44BA-A15B-10253F9D1FAF}" destId="{BDD00198-CC13-42B1-AD88-58962DDFA18A}" srcOrd="2" destOrd="0" presId="urn:microsoft.com/office/officeart/2008/layout/LinedList"/>
    <dgm:cxn modelId="{0A50AB5E-7860-465D-8407-1607286508DC}" type="presParOf" srcId="{3EA4B623-80F8-44BA-A15B-10253F9D1FAF}" destId="{91C789FB-990D-4D4B-AE68-C376984736AE}" srcOrd="3" destOrd="0" presId="urn:microsoft.com/office/officeart/2008/layout/LinedList"/>
    <dgm:cxn modelId="{4CD1D2A7-A075-430B-8958-4BF1EFBD7D12}" type="presParOf" srcId="{91C789FB-990D-4D4B-AE68-C376984736AE}" destId="{B447F35C-CB3A-4F65-A0DA-78B3CE4AA6B0}" srcOrd="0" destOrd="0" presId="urn:microsoft.com/office/officeart/2008/layout/LinedList"/>
    <dgm:cxn modelId="{1FF50A18-6D9E-4570-A289-EC941E403856}" type="presParOf" srcId="{91C789FB-990D-4D4B-AE68-C376984736AE}" destId="{220A686A-AFB8-4679-868F-C488EE44D4B8}" srcOrd="1" destOrd="0" presId="urn:microsoft.com/office/officeart/2008/layout/LinedList"/>
    <dgm:cxn modelId="{387D7678-4247-4E91-A08E-57E3C06C7418}" type="presParOf" srcId="{3EA4B623-80F8-44BA-A15B-10253F9D1FAF}" destId="{39FEC086-8E88-47EF-958F-3B34630CCEE7}" srcOrd="4" destOrd="0" presId="urn:microsoft.com/office/officeart/2008/layout/LinedList"/>
    <dgm:cxn modelId="{C86BC02C-827B-4B23-8C87-2CF2B60FB524}" type="presParOf" srcId="{3EA4B623-80F8-44BA-A15B-10253F9D1FAF}" destId="{0365B64B-50F0-4B04-9EAE-237B86C21859}" srcOrd="5" destOrd="0" presId="urn:microsoft.com/office/officeart/2008/layout/LinedList"/>
    <dgm:cxn modelId="{2A8C6457-4C94-4DED-8B05-A0779E09F061}" type="presParOf" srcId="{0365B64B-50F0-4B04-9EAE-237B86C21859}" destId="{44239795-0A48-4353-AE90-517E0E7D90C7}" srcOrd="0" destOrd="0" presId="urn:microsoft.com/office/officeart/2008/layout/LinedList"/>
    <dgm:cxn modelId="{AC4406CD-12CF-4001-8CD2-AFC0182FB7A2}" type="presParOf" srcId="{0365B64B-50F0-4B04-9EAE-237B86C21859}" destId="{D086AA90-F8EA-4AC8-B86C-6EECA81B2A65}" srcOrd="1" destOrd="0" presId="urn:microsoft.com/office/officeart/2008/layout/LinedList"/>
    <dgm:cxn modelId="{FBCD3B9F-683F-4B63-8DB3-43E8E7E01892}" type="presParOf" srcId="{3EA4B623-80F8-44BA-A15B-10253F9D1FAF}" destId="{EB7ECB85-10FB-4D7F-A25C-1E35627AD4B1}" srcOrd="6" destOrd="0" presId="urn:microsoft.com/office/officeart/2008/layout/LinedList"/>
    <dgm:cxn modelId="{EDA43124-91FC-4CD1-A6DE-0CD64850AA92}" type="presParOf" srcId="{3EA4B623-80F8-44BA-A15B-10253F9D1FAF}" destId="{B1097813-AE75-437C-AC06-386A7BD951E8}" srcOrd="7" destOrd="0" presId="urn:microsoft.com/office/officeart/2008/layout/LinedList"/>
    <dgm:cxn modelId="{45D9330D-61B1-4D68-8016-DFC51B42EF65}" type="presParOf" srcId="{B1097813-AE75-437C-AC06-386A7BD951E8}" destId="{EE366D1B-99FD-4D5E-A8C0-F0B4263262FD}" srcOrd="0" destOrd="0" presId="urn:microsoft.com/office/officeart/2008/layout/LinedList"/>
    <dgm:cxn modelId="{09A1F15B-2743-4D45-9507-2DE86548B34F}" type="presParOf" srcId="{B1097813-AE75-437C-AC06-386A7BD951E8}" destId="{69D16C3E-D10D-40EE-BE88-A560EFD1150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7EEE6F-1F3A-4419-B16E-33E0372D8346}">
      <dsp:nvSpPr>
        <dsp:cNvPr id="0" name=""/>
        <dsp:cNvSpPr/>
      </dsp:nvSpPr>
      <dsp:spPr>
        <a:xfrm>
          <a:off x="0" y="4065079"/>
          <a:ext cx="7442201" cy="13342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HWCs aim to deliver Comprehensive Primary Health Care (CPHC):</a:t>
          </a:r>
        </a:p>
      </dsp:txBody>
      <dsp:txXfrm>
        <a:off x="0" y="4065079"/>
        <a:ext cx="7442201" cy="720494"/>
      </dsp:txXfrm>
    </dsp:sp>
    <dsp:sp modelId="{155EC9E6-A6AB-4CB4-AE83-B50C0962EE63}">
      <dsp:nvSpPr>
        <dsp:cNvPr id="0" name=""/>
        <dsp:cNvSpPr/>
      </dsp:nvSpPr>
      <dsp:spPr>
        <a:xfrm>
          <a:off x="0" y="4758889"/>
          <a:ext cx="1860550" cy="61375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Maternal and child health</a:t>
          </a:r>
        </a:p>
      </dsp:txBody>
      <dsp:txXfrm>
        <a:off x="0" y="4758889"/>
        <a:ext cx="1860550" cy="613754"/>
      </dsp:txXfrm>
    </dsp:sp>
    <dsp:sp modelId="{43CB1C0D-AC49-4689-8E9F-BFA36353390C}">
      <dsp:nvSpPr>
        <dsp:cNvPr id="0" name=""/>
        <dsp:cNvSpPr/>
      </dsp:nvSpPr>
      <dsp:spPr>
        <a:xfrm>
          <a:off x="1860550" y="4758889"/>
          <a:ext cx="1860550" cy="613754"/>
        </a:xfrm>
        <a:prstGeom prst="rect">
          <a:avLst/>
        </a:prstGeom>
        <a:solidFill>
          <a:schemeClr val="accent2">
            <a:tint val="40000"/>
            <a:alpha val="90000"/>
            <a:hueOff val="-104898"/>
            <a:satOff val="-3213"/>
            <a:lumOff val="-170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4898"/>
              <a:satOff val="-3213"/>
              <a:lumOff val="-17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Non-communicable diseases</a:t>
          </a:r>
        </a:p>
      </dsp:txBody>
      <dsp:txXfrm>
        <a:off x="1860550" y="4758889"/>
        <a:ext cx="1860550" cy="613754"/>
      </dsp:txXfrm>
    </dsp:sp>
    <dsp:sp modelId="{2D2981B9-C085-42DD-A3A2-F998DDA6A83D}">
      <dsp:nvSpPr>
        <dsp:cNvPr id="0" name=""/>
        <dsp:cNvSpPr/>
      </dsp:nvSpPr>
      <dsp:spPr>
        <a:xfrm>
          <a:off x="3721100" y="4758889"/>
          <a:ext cx="1860550" cy="613754"/>
        </a:xfrm>
        <a:prstGeom prst="rect">
          <a:avLst/>
        </a:prstGeom>
        <a:solidFill>
          <a:schemeClr val="accent2">
            <a:tint val="40000"/>
            <a:alpha val="90000"/>
            <a:hueOff val="-209797"/>
            <a:satOff val="-6425"/>
            <a:lumOff val="-34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09797"/>
              <a:satOff val="-6425"/>
              <a:lumOff val="-34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Free drugs and diagnostics</a:t>
          </a:r>
        </a:p>
      </dsp:txBody>
      <dsp:txXfrm>
        <a:off x="3721100" y="4758889"/>
        <a:ext cx="1860550" cy="613754"/>
      </dsp:txXfrm>
    </dsp:sp>
    <dsp:sp modelId="{5B2E7DCF-342F-4B17-9388-3DAA09005A75}">
      <dsp:nvSpPr>
        <dsp:cNvPr id="0" name=""/>
        <dsp:cNvSpPr/>
      </dsp:nvSpPr>
      <dsp:spPr>
        <a:xfrm>
          <a:off x="5581650" y="4758889"/>
          <a:ext cx="1860550" cy="613754"/>
        </a:xfrm>
        <a:prstGeom prst="rect">
          <a:avLst/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Health promotion, disease prevention</a:t>
          </a:r>
        </a:p>
      </dsp:txBody>
      <dsp:txXfrm>
        <a:off x="5581650" y="4758889"/>
        <a:ext cx="1860550" cy="613754"/>
      </dsp:txXfrm>
    </dsp:sp>
    <dsp:sp modelId="{D750BC2C-7C66-431E-909B-68CA5F61C58C}">
      <dsp:nvSpPr>
        <dsp:cNvPr id="0" name=""/>
        <dsp:cNvSpPr/>
      </dsp:nvSpPr>
      <dsp:spPr>
        <a:xfrm rot="10800000">
          <a:off x="0" y="2033017"/>
          <a:ext cx="7442201" cy="2052076"/>
        </a:xfrm>
        <a:prstGeom prst="upArrowCallou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1,50,000 HWCs to be created by transforming existing Sub-Centres (SCs) and Primary Health Centres (PHCs) under Ayushman Bharat.</a:t>
          </a:r>
        </a:p>
      </dsp:txBody>
      <dsp:txXfrm rot="10800000">
        <a:off x="0" y="2033017"/>
        <a:ext cx="7442201" cy="1333377"/>
      </dsp:txXfrm>
    </dsp:sp>
    <dsp:sp modelId="{7DC03232-25CB-4897-9617-0E73B030C020}">
      <dsp:nvSpPr>
        <dsp:cNvPr id="0" name=""/>
        <dsp:cNvSpPr/>
      </dsp:nvSpPr>
      <dsp:spPr>
        <a:xfrm rot="10800000">
          <a:off x="0" y="954"/>
          <a:ext cx="7442201" cy="2052076"/>
        </a:xfrm>
        <a:prstGeom prst="upArrowCallou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National Health Policy 2017 recommends strengthening primary health care by establishing Health and Wellness Centres (HWCs).</a:t>
          </a:r>
        </a:p>
      </dsp:txBody>
      <dsp:txXfrm rot="10800000">
        <a:off x="0" y="954"/>
        <a:ext cx="7442201" cy="13333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B1FA8-C40F-4151-8762-F618B67F0E10}">
      <dsp:nvSpPr>
        <dsp:cNvPr id="0" name=""/>
        <dsp:cNvSpPr/>
      </dsp:nvSpPr>
      <dsp:spPr>
        <a:xfrm>
          <a:off x="0" y="0"/>
          <a:ext cx="74422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F6B35-12C9-4B28-B020-304036730248}">
      <dsp:nvSpPr>
        <dsp:cNvPr id="0" name=""/>
        <dsp:cNvSpPr/>
      </dsp:nvSpPr>
      <dsp:spPr>
        <a:xfrm>
          <a:off x="0" y="0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Serve covering populations of 3,000–5,000 for SC-HWCs.</a:t>
          </a:r>
        </a:p>
      </dsp:txBody>
      <dsp:txXfrm>
        <a:off x="0" y="0"/>
        <a:ext cx="7442201" cy="1350071"/>
      </dsp:txXfrm>
    </dsp:sp>
    <dsp:sp modelId="{BDD00198-CC13-42B1-AD88-58962DDFA18A}">
      <dsp:nvSpPr>
        <dsp:cNvPr id="0" name=""/>
        <dsp:cNvSpPr/>
      </dsp:nvSpPr>
      <dsp:spPr>
        <a:xfrm>
          <a:off x="0" y="1350071"/>
          <a:ext cx="74422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7F35C-CB3A-4F65-A0DA-78B3CE4AA6B0}">
      <dsp:nvSpPr>
        <dsp:cNvPr id="0" name=""/>
        <dsp:cNvSpPr/>
      </dsp:nvSpPr>
      <dsp:spPr>
        <a:xfrm>
          <a:off x="0" y="1350071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PHCs in rural/urban areas also converted to HWCs.</a:t>
          </a:r>
        </a:p>
      </dsp:txBody>
      <dsp:txXfrm>
        <a:off x="0" y="1350071"/>
        <a:ext cx="7442201" cy="1350071"/>
      </dsp:txXfrm>
    </dsp:sp>
    <dsp:sp modelId="{39FEC086-8E88-47EF-958F-3B34630CCEE7}">
      <dsp:nvSpPr>
        <dsp:cNvPr id="0" name=""/>
        <dsp:cNvSpPr/>
      </dsp:nvSpPr>
      <dsp:spPr>
        <a:xfrm>
          <a:off x="0" y="2700142"/>
          <a:ext cx="74422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39795-0A48-4353-AE90-517E0E7D90C7}">
      <dsp:nvSpPr>
        <dsp:cNvPr id="0" name=""/>
        <dsp:cNvSpPr/>
      </dsp:nvSpPr>
      <dsp:spPr>
        <a:xfrm>
          <a:off x="0" y="2700142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Care may also use outreach/mobile units, home, and community-based care.</a:t>
          </a:r>
        </a:p>
      </dsp:txBody>
      <dsp:txXfrm>
        <a:off x="0" y="2700142"/>
        <a:ext cx="7442201" cy="1350071"/>
      </dsp:txXfrm>
    </dsp:sp>
    <dsp:sp modelId="{EB7ECB85-10FB-4D7F-A25C-1E35627AD4B1}">
      <dsp:nvSpPr>
        <dsp:cNvPr id="0" name=""/>
        <dsp:cNvSpPr/>
      </dsp:nvSpPr>
      <dsp:spPr>
        <a:xfrm>
          <a:off x="0" y="4050213"/>
          <a:ext cx="74422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366D1B-99FD-4D5E-A8C0-F0B4263262FD}">
      <dsp:nvSpPr>
        <dsp:cNvPr id="0" name=""/>
        <dsp:cNvSpPr/>
      </dsp:nvSpPr>
      <dsp:spPr>
        <a:xfrm>
          <a:off x="0" y="4050213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Guiding principles: equity, universality, no financial hardship, continuum of care.</a:t>
          </a:r>
        </a:p>
      </dsp:txBody>
      <dsp:txXfrm>
        <a:off x="0" y="4050213"/>
        <a:ext cx="7442201" cy="1350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7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78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59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3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08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92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4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9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53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1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2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78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ortunejournals.com/articles/the-growth-and-contribution-of-the-indian-private-healthcare-sector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Stack Stones In The River">
            <a:extLst>
              <a:ext uri="{FF2B5EF4-FFF2-40B4-BE49-F238E27FC236}">
                <a16:creationId xmlns:a16="http://schemas.microsoft.com/office/drawing/2014/main" id="{E7152797-693F-FF3C-9996-FD55A69B8F3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D83F1-8FDE-7DFE-0623-9ADD2F41B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Health and Wellness </a:t>
            </a:r>
            <a:r>
              <a:rPr lang="en-US" dirty="0" err="1">
                <a:solidFill>
                  <a:srgbClr val="FFFFFF"/>
                </a:solidFill>
              </a:rPr>
              <a:t>centre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54C38-653C-DEEC-D7D3-E4985156F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5157694"/>
            <a:ext cx="5019676" cy="976406"/>
          </a:xfrm>
        </p:spPr>
        <p:txBody>
          <a:bodyPr anchor="t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448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/>
              <a:t>National Health Policy Vision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05965D-81BF-B2FD-B092-49E7346A68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4352691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000"/>
              <a:t>Principles and Structure of HWCs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DBDA1D-FE2C-0895-443E-18CDD3F99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15424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Expanded Service Package at HWCs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dirty="0"/>
              <a:t>Care in pregnancy and childbirth</a:t>
            </a:r>
          </a:p>
          <a:p>
            <a:r>
              <a:rPr dirty="0"/>
              <a:t>Neonatal/infant health services</a:t>
            </a:r>
          </a:p>
          <a:p>
            <a:r>
              <a:rPr dirty="0"/>
              <a:t>Childhood/adolescent health services</a:t>
            </a:r>
          </a:p>
          <a:p>
            <a:r>
              <a:rPr dirty="0"/>
              <a:t>Family planning and reproductive health</a:t>
            </a:r>
          </a:p>
          <a:p>
            <a:r>
              <a:rPr dirty="0"/>
              <a:t>Communicable disease management (including national health </a:t>
            </a:r>
            <a:r>
              <a:rPr dirty="0" err="1"/>
              <a:t>programmes</a:t>
            </a:r>
            <a:r>
              <a:rPr dirty="0"/>
              <a:t>)</a:t>
            </a:r>
          </a:p>
          <a:p>
            <a:r>
              <a:rPr dirty="0"/>
              <a:t>Outpatient care for common illnesses and minor ailments</a:t>
            </a:r>
          </a:p>
          <a:p>
            <a:r>
              <a:rPr dirty="0"/>
              <a:t>Screening, prevention, control, management of NCDs</a:t>
            </a:r>
          </a:p>
          <a:p>
            <a:r>
              <a:rPr dirty="0"/>
              <a:t>Care for ophthalmic/ENT problems</a:t>
            </a:r>
          </a:p>
          <a:p>
            <a:r>
              <a:rPr dirty="0"/>
              <a:t>Basic oral health care</a:t>
            </a:r>
          </a:p>
          <a:p>
            <a:r>
              <a:rPr dirty="0"/>
              <a:t>Elderly and palliative care</a:t>
            </a:r>
          </a:p>
          <a:p>
            <a:r>
              <a:rPr dirty="0"/>
              <a:t>Emergency medical services</a:t>
            </a:r>
          </a:p>
          <a:p>
            <a:r>
              <a:rPr dirty="0"/>
              <a:t>Mental health screening and basic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Team Structure at Sub-Centre Level HWC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Appropriately trained primary care team:</a:t>
            </a:r>
          </a:p>
          <a:p>
            <a:pPr lvl="1"/>
            <a:r>
              <a:rPr sz="2400" dirty="0"/>
              <a:t>Multi-purpose workers (male &amp; female)</a:t>
            </a:r>
          </a:p>
          <a:p>
            <a:pPr lvl="1"/>
            <a:r>
              <a:rPr sz="2400" dirty="0"/>
              <a:t>Mid-Level Health Provider (MLHP)</a:t>
            </a:r>
          </a:p>
          <a:p>
            <a:r>
              <a:rPr sz="2800" dirty="0"/>
              <a:t>Team jointly delivers expanded range of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DFDA-E857-9FFE-24F4-2C06BCA72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Health officer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FEA20-022E-D2B7-F9F8-24B2972D2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Background</a:t>
            </a:r>
          </a:p>
          <a:p>
            <a:pPr lvl="1"/>
            <a:r>
              <a:rPr lang="en-US" sz="2400" b="1" dirty="0"/>
              <a:t>New cadre introduced under Ayushman Bharat (2018)</a:t>
            </a:r>
            <a:r>
              <a:rPr lang="en-US" sz="2400" dirty="0"/>
              <a:t> to strengthen Health &amp; Wellness </a:t>
            </a:r>
            <a:r>
              <a:rPr lang="en-US" sz="2400" dirty="0" err="1"/>
              <a:t>Centres</a:t>
            </a:r>
            <a:endParaRPr lang="en-US" sz="2400" dirty="0"/>
          </a:p>
          <a:p>
            <a:pPr lvl="1"/>
            <a:r>
              <a:rPr lang="en-US" sz="2400" b="1" dirty="0"/>
              <a:t>Mid-Level Health Provider (MLHP)</a:t>
            </a:r>
            <a:r>
              <a:rPr lang="en-US" sz="2400" dirty="0"/>
              <a:t> designation at HWC level</a:t>
            </a:r>
          </a:p>
          <a:p>
            <a:pPr lvl="1"/>
            <a:r>
              <a:rPr lang="en-US" sz="2400" b="1" dirty="0"/>
              <a:t>Team Leader</a:t>
            </a:r>
            <a:r>
              <a:rPr lang="en-US" sz="2400" dirty="0"/>
              <a:t> of primary care team at Sub-Centre HWCs</a:t>
            </a:r>
          </a:p>
          <a:p>
            <a:pPr lvl="1"/>
            <a:r>
              <a:rPr lang="en-US" sz="2400" b="1" dirty="0"/>
              <a:t>Bridge between community and higher healthcare facilities</a:t>
            </a:r>
            <a:endParaRPr lang="en-US" sz="24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13531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B67A2-10F8-441A-A0AB-8043305A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5A0A-A8B9-5D35-338D-796550CB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Health officer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F7C76-892C-A412-2B42-37A3471E0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Key Features:</a:t>
            </a:r>
            <a:endParaRPr lang="en-US" sz="2800" dirty="0"/>
          </a:p>
          <a:p>
            <a:pPr lvl="1"/>
            <a:r>
              <a:rPr lang="en-US" sz="2400" dirty="0"/>
              <a:t>Provides </a:t>
            </a:r>
            <a:r>
              <a:rPr lang="en-US" sz="2400" b="1" dirty="0"/>
              <a:t>Comprehensive Primary Health Care (CPHC)</a:t>
            </a:r>
            <a:r>
              <a:rPr lang="en-US" sz="2400" dirty="0"/>
              <a:t> services</a:t>
            </a:r>
          </a:p>
          <a:p>
            <a:pPr lvl="1"/>
            <a:r>
              <a:rPr lang="en-US" sz="2400" b="1" dirty="0"/>
              <a:t>First point of contact</a:t>
            </a:r>
            <a:r>
              <a:rPr lang="en-US" sz="2400" dirty="0"/>
              <a:t> for community health needs</a:t>
            </a:r>
          </a:p>
          <a:p>
            <a:pPr lvl="1"/>
            <a:r>
              <a:rPr lang="en-US" sz="2400" dirty="0"/>
              <a:t>Reduces patient load on PHCs and higher-level facilities</a:t>
            </a:r>
          </a:p>
          <a:p>
            <a:pPr lvl="1"/>
            <a:r>
              <a:rPr lang="en-US" sz="2400" b="1" dirty="0"/>
              <a:t>Autonomous decision-making</a:t>
            </a:r>
            <a:r>
              <a:rPr lang="en-US" sz="2400" dirty="0"/>
              <a:t> within defined protocols</a:t>
            </a:r>
          </a:p>
          <a:p>
            <a:pPr lvl="1"/>
            <a:r>
              <a:rPr lang="en-US" sz="2400" b="1" dirty="0"/>
              <a:t>Gate-keeper</a:t>
            </a:r>
            <a:r>
              <a:rPr lang="en-US" sz="2400" dirty="0"/>
              <a:t> for secondary and tertiary care referrals</a:t>
            </a:r>
          </a:p>
        </p:txBody>
      </p:sp>
    </p:spTree>
    <p:extLst>
      <p:ext uri="{BB962C8B-B14F-4D97-AF65-F5344CB8AC3E}">
        <p14:creationId xmlns:p14="http://schemas.microsoft.com/office/powerpoint/2010/main" val="6306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91C1-6C2A-6C9E-877F-971E1CC0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 – Roles and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96DDC-2D84-295C-AB24-985C4752B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Clinical Functions:</a:t>
            </a:r>
            <a:endParaRPr lang="en-US" sz="2800" dirty="0"/>
          </a:p>
          <a:p>
            <a:pPr lvl="1"/>
            <a:r>
              <a:rPr lang="en-US" sz="2400" dirty="0"/>
              <a:t>Early detection, diagnosis &amp; treatment of common ailments</a:t>
            </a:r>
          </a:p>
          <a:p>
            <a:pPr lvl="1"/>
            <a:r>
              <a:rPr lang="en-US" sz="2400" dirty="0"/>
              <a:t>Management of communicable &amp; non-communicable diseases per Standard Treatment Guidelines (STG)</a:t>
            </a:r>
          </a:p>
          <a:p>
            <a:pPr lvl="1"/>
            <a:r>
              <a:rPr lang="en-US" sz="2400" dirty="0"/>
              <a:t>NCD screening (diabetes, hypertension, common cancers)</a:t>
            </a:r>
          </a:p>
          <a:p>
            <a:pPr lvl="1"/>
            <a:r>
              <a:rPr lang="en-US" sz="2400" dirty="0"/>
              <a:t>Emergency care &amp; pre-referral stabilization</a:t>
            </a:r>
          </a:p>
          <a:p>
            <a:pPr lvl="1"/>
            <a:r>
              <a:rPr lang="en-US" sz="2400" dirty="0"/>
              <a:t>Maternal &amp; child health services, immunization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0298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AF7BF-7E73-AA26-E5DA-075D7CCB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B825-F549-0483-BC47-0332E4DB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 – Roles and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145B9-1B8B-9B0D-E96B-7B7816CF4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Public Health Functions:</a:t>
            </a:r>
            <a:endParaRPr lang="en-US" sz="3200" dirty="0"/>
          </a:p>
          <a:p>
            <a:pPr lvl="1"/>
            <a:r>
              <a:rPr lang="en-US" sz="2800" dirty="0"/>
              <a:t>Population-based data collection &amp; health planning</a:t>
            </a:r>
          </a:p>
          <a:p>
            <a:pPr lvl="1"/>
            <a:r>
              <a:rPr lang="en-US" sz="2800" dirty="0"/>
              <a:t>Health promotion &amp; disease prevention activities</a:t>
            </a:r>
          </a:p>
          <a:p>
            <a:pPr lvl="1"/>
            <a:r>
              <a:rPr lang="en-US" sz="2800" dirty="0"/>
              <a:t>Community engagement through VHSNCs &amp; PRIs</a:t>
            </a:r>
          </a:p>
          <a:p>
            <a:pPr lvl="1"/>
            <a:r>
              <a:rPr lang="en-US" sz="2800" dirty="0"/>
              <a:t>Health education &amp; awareness campaigns</a:t>
            </a:r>
          </a:p>
          <a:p>
            <a:pPr lvl="1"/>
            <a:r>
              <a:rPr lang="en-US" sz="2800" dirty="0"/>
              <a:t>Disease surveillance &amp; outbreak response</a:t>
            </a:r>
          </a:p>
        </p:txBody>
      </p:sp>
    </p:spTree>
    <p:extLst>
      <p:ext uri="{BB962C8B-B14F-4D97-AF65-F5344CB8AC3E}">
        <p14:creationId xmlns:p14="http://schemas.microsoft.com/office/powerpoint/2010/main" val="2575865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3AE0-A4F4-2FA7-2E09-F1AD2097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331C-42D6-6702-9316-8C6A0CAE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 – Roles and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70318-6A58-CDFF-83CF-A04C30452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/>
              <a:t>Managerial Functions:</a:t>
            </a:r>
            <a:endParaRPr lang="en-US" sz="3200" dirty="0"/>
          </a:p>
          <a:p>
            <a:pPr lvl="1"/>
            <a:r>
              <a:rPr lang="en-US" sz="2800" b="1" dirty="0"/>
              <a:t>Leads primary care team</a:t>
            </a:r>
            <a:r>
              <a:rPr lang="en-US" sz="2800" dirty="0"/>
              <a:t> at HWC level</a:t>
            </a:r>
          </a:p>
          <a:p>
            <a:pPr lvl="1"/>
            <a:r>
              <a:rPr lang="en-US" sz="2800" dirty="0"/>
              <a:t>Supervises ANMs, ASHAs &amp; other frontline workers</a:t>
            </a:r>
          </a:p>
          <a:p>
            <a:pPr lvl="1"/>
            <a:r>
              <a:rPr lang="en-US" sz="2800" b="1" dirty="0"/>
              <a:t>Digital health records</a:t>
            </a:r>
            <a:r>
              <a:rPr lang="en-US" sz="2800" dirty="0"/>
              <a:t> maintenance &amp; reporting</a:t>
            </a:r>
          </a:p>
          <a:p>
            <a:pPr lvl="1"/>
            <a:r>
              <a:rPr lang="en-US" sz="2800" dirty="0"/>
              <a:t>Coordination with PHC Medical Officers</a:t>
            </a:r>
          </a:p>
          <a:p>
            <a:pPr lvl="1"/>
            <a:r>
              <a:rPr lang="en-US" sz="2800" b="1" dirty="0"/>
              <a:t>Untied fund utilization</a:t>
            </a:r>
            <a:r>
              <a:rPr lang="en-US" sz="2800" dirty="0"/>
              <a:t> for HWC operations</a:t>
            </a:r>
          </a:p>
          <a:p>
            <a:pPr lvl="1"/>
            <a:r>
              <a:rPr lang="en-US" sz="2800" dirty="0"/>
              <a:t>Teleconsultation facilitation with specialists</a:t>
            </a:r>
          </a:p>
        </p:txBody>
      </p:sp>
    </p:spTree>
    <p:extLst>
      <p:ext uri="{BB962C8B-B14F-4D97-AF65-F5344CB8AC3E}">
        <p14:creationId xmlns:p14="http://schemas.microsoft.com/office/powerpoint/2010/main" val="1825461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PHC as Hub in HWC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Medical Officer (PHC) responsible for all CPHC delivery via:</a:t>
            </a:r>
          </a:p>
          <a:p>
            <a:pPr lvl="1"/>
            <a:r>
              <a:rPr sz="2400" dirty="0"/>
              <a:t>The PHC itself (now HWC-PHC)</a:t>
            </a:r>
          </a:p>
          <a:p>
            <a:pPr lvl="1"/>
            <a:r>
              <a:rPr sz="2400" dirty="0"/>
              <a:t>All HWCs in the area</a:t>
            </a:r>
          </a:p>
          <a:p>
            <a:r>
              <a:rPr sz="2800" dirty="0"/>
              <a:t>Staff strength and qualifications as per Indian Public Health Standards (IPHS).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Description: Medical Officer, PHC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635" y="1668379"/>
            <a:ext cx="10691265" cy="4293509"/>
          </a:xfrm>
        </p:spPr>
        <p:txBody>
          <a:bodyPr>
            <a:normAutofit/>
          </a:bodyPr>
          <a:lstStyle/>
          <a:p>
            <a:r>
              <a:rPr dirty="0"/>
              <a:t>Captain of the health team at the PHC.</a:t>
            </a:r>
          </a:p>
          <a:p>
            <a:r>
              <a:rPr dirty="0"/>
              <a:t>Provides clinical care in the morning, supervises field work in afternoon.</a:t>
            </a:r>
          </a:p>
          <a:p>
            <a:r>
              <a:rPr dirty="0"/>
              <a:t>Plans and implements:</a:t>
            </a:r>
          </a:p>
          <a:p>
            <a:pPr lvl="1"/>
            <a:r>
              <a:rPr dirty="0"/>
              <a:t>Universal Immunization </a:t>
            </a:r>
            <a:r>
              <a:rPr dirty="0" err="1"/>
              <a:t>Programme</a:t>
            </a:r>
            <a:r>
              <a:rPr dirty="0"/>
              <a:t> (UIP) and IMNCI guidelines.</a:t>
            </a:r>
          </a:p>
          <a:p>
            <a:pPr lvl="1"/>
            <a:r>
              <a:rPr dirty="0"/>
              <a:t>MCH services and family planning</a:t>
            </a:r>
          </a:p>
          <a:p>
            <a:pPr lvl="1"/>
            <a:r>
              <a:rPr dirty="0"/>
              <a:t>School medical check-up and immunization</a:t>
            </a:r>
          </a:p>
          <a:p>
            <a:pPr lvl="1"/>
            <a:r>
              <a:rPr dirty="0"/>
              <a:t>National health </a:t>
            </a:r>
            <a:r>
              <a:rPr dirty="0" err="1"/>
              <a:t>programmes</a:t>
            </a:r>
            <a:r>
              <a:rPr dirty="0"/>
              <a:t> and family welfare camps</a:t>
            </a:r>
          </a:p>
          <a:p>
            <a:r>
              <a:rPr dirty="0"/>
              <a:t>Supervises field team, regularly visits </a:t>
            </a:r>
            <a:r>
              <a:rPr dirty="0" err="1"/>
              <a:t>subcentres</a:t>
            </a:r>
            <a:r>
              <a:rPr dirty="0"/>
              <a:t>, organizes monthly staff meetings.</a:t>
            </a:r>
          </a:p>
          <a:p>
            <a:r>
              <a:rPr dirty="0"/>
              <a:t>Ensures supply/logistics, cold chain maintenance, staff leadership.</a:t>
            </a:r>
          </a:p>
          <a:p>
            <a:r>
              <a:rPr dirty="0"/>
              <a:t>Role: planner, promoter, director, supervisor, coordinator, evaluator.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Job Description: Second Medical Officer (if posted)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Performs duties identical to the primary Medical Officer.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Job Description: Health Worker Female (ANM) at Sub-Centre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Maternal &amp; Child Health:</a:t>
            </a:r>
          </a:p>
          <a:p>
            <a:pPr lvl="1"/>
            <a:r>
              <a:rPr dirty="0"/>
              <a:t>Registration, antenatal care (4+ visits), pregnancy tracking, urine/Hb testing</a:t>
            </a:r>
          </a:p>
          <a:p>
            <a:pPr lvl="1"/>
            <a:r>
              <a:rPr dirty="0"/>
              <a:t>Conducts deliveries, postnatal visits (specific day schedule), newborn care</a:t>
            </a:r>
          </a:p>
          <a:p>
            <a:pPr lvl="1"/>
            <a:r>
              <a:rPr dirty="0"/>
              <a:t>JSY beneficiary formalities, maintains work schedules/registers</a:t>
            </a:r>
          </a:p>
          <a:p>
            <a:pPr lvl="1"/>
            <a:r>
              <a:rPr dirty="0"/>
              <a:t>Growth monitoring, early breastfeeding, exclusive breastfeeding</a:t>
            </a:r>
          </a:p>
          <a:p>
            <a:r>
              <a:rPr dirty="0"/>
              <a:t>Family Planning:</a:t>
            </a:r>
          </a:p>
          <a:p>
            <a:pPr lvl="1"/>
            <a:r>
              <a:rPr dirty="0"/>
              <a:t>Maintains eligible couple/child register</a:t>
            </a:r>
          </a:p>
          <a:p>
            <a:pPr lvl="1"/>
            <a:r>
              <a:rPr dirty="0"/>
              <a:t>Contraceptives distribution, follow-up, depot holders, female motivation</a:t>
            </a:r>
          </a:p>
          <a:p>
            <a:r>
              <a:rPr dirty="0"/>
              <a:t>MTP &amp; Nutrition:</a:t>
            </a:r>
          </a:p>
          <a:p>
            <a:pPr lvl="1"/>
            <a:r>
              <a:rPr dirty="0"/>
              <a:t>MTP referral, safe abortion education</a:t>
            </a:r>
          </a:p>
          <a:p>
            <a:pPr lvl="1"/>
            <a:r>
              <a:rPr dirty="0"/>
              <a:t>Identifies malnutrition, distributes iron/folic acid, Vitamin 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78117-B7E7-531A-0851-FCD9B471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006F-8E37-2FB3-57D4-ECF44736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Job Description: Health Worker Female (ANM) at Sub-Centre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67F14-E341-E0D9-D368-54213DB0E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Immunization:</a:t>
            </a:r>
          </a:p>
          <a:p>
            <a:pPr lvl="1"/>
            <a:r>
              <a:rPr dirty="0"/>
              <a:t>Routine and special immunizations, cold chain, AEFI reporting, work plan</a:t>
            </a:r>
          </a:p>
          <a:p>
            <a:r>
              <a:rPr dirty="0"/>
              <a:t>Communicable Disease Control:</a:t>
            </a:r>
          </a:p>
          <a:p>
            <a:pPr lvl="1"/>
            <a:r>
              <a:rPr dirty="0"/>
              <a:t>Surveillance, blood smears, </a:t>
            </a:r>
            <a:r>
              <a:rPr dirty="0" err="1"/>
              <a:t>diarrhoeal</a:t>
            </a:r>
            <a:r>
              <a:rPr dirty="0"/>
              <a:t> disease, malaria, leprosy, filariasis</a:t>
            </a:r>
          </a:p>
          <a:p>
            <a:pPr lvl="1"/>
            <a:r>
              <a:rPr dirty="0"/>
              <a:t>STI/RTI, HIV/AIDS education/referral</a:t>
            </a:r>
          </a:p>
          <a:p>
            <a:r>
              <a:rPr dirty="0"/>
              <a:t>General:</a:t>
            </a:r>
          </a:p>
          <a:p>
            <a:pPr lvl="1"/>
            <a:r>
              <a:rPr dirty="0"/>
              <a:t>Record vital events, regular reporting, treat minor ailments, attend meetings</a:t>
            </a:r>
          </a:p>
          <a:p>
            <a:pPr lvl="1"/>
            <a:r>
              <a:rPr dirty="0"/>
              <a:t>Coordinate with PRI, AWW, ASHA; participate in camps, ensure cleanliness</a:t>
            </a:r>
          </a:p>
        </p:txBody>
      </p:sp>
    </p:spTree>
    <p:extLst>
      <p:ext uri="{BB962C8B-B14F-4D97-AF65-F5344CB8AC3E}">
        <p14:creationId xmlns:p14="http://schemas.microsoft.com/office/powerpoint/2010/main" val="2408740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Job Description: Health Worker Male at Sub-Centre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sz="2800" dirty="0"/>
          </a:p>
          <a:p>
            <a:r>
              <a:rPr sz="2800" dirty="0"/>
              <a:t>National Health </a:t>
            </a:r>
            <a:r>
              <a:rPr sz="2800" dirty="0" err="1"/>
              <a:t>Programmes</a:t>
            </a:r>
            <a:r>
              <a:rPr sz="2800" dirty="0"/>
              <a:t>:</a:t>
            </a:r>
          </a:p>
          <a:p>
            <a:pPr lvl="1"/>
            <a:r>
              <a:rPr sz="2400" dirty="0"/>
              <a:t>Immunization: vaccines administration, assist in school/village campaigns</a:t>
            </a:r>
          </a:p>
          <a:p>
            <a:pPr lvl="1"/>
            <a:r>
              <a:rPr sz="2400" dirty="0"/>
              <a:t>Family Planning: couple tracking, contraception distribution and counseling</a:t>
            </a:r>
          </a:p>
          <a:p>
            <a:pPr lvl="1"/>
            <a:r>
              <a:rPr sz="2400" dirty="0"/>
              <a:t>Sanitation: community water safety, waste disposal, home/kitchen hygiene promotion</a:t>
            </a:r>
          </a:p>
          <a:p>
            <a:pPr lvl="1"/>
            <a:r>
              <a:rPr sz="2400" dirty="0"/>
              <a:t>Nutrition: identify malnutrition, counseling, coordinate supplementary feeding</a:t>
            </a:r>
          </a:p>
          <a:p>
            <a:pPr lvl="1"/>
            <a:r>
              <a:rPr sz="2400" dirty="0"/>
              <a:t>Records: vital events, family/village records, reporting</a:t>
            </a:r>
          </a:p>
          <a:p>
            <a:pPr lvl="1"/>
            <a:r>
              <a:rPr sz="2400" dirty="0"/>
              <a:t>Epidemic preparedness: outbreak response, reporting of notifiable diseases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08EC-396F-7E7F-99D0-0AD79674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BCD9-7A2A-49D5-68CF-FF72EF482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Job Description: Health Worker Male at Sub-Centre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8193-9259-2038-EB80-0290C02D5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sz="2800" dirty="0"/>
          </a:p>
          <a:p>
            <a:r>
              <a:rPr sz="2800" dirty="0"/>
              <a:t>National Health </a:t>
            </a:r>
            <a:r>
              <a:rPr sz="2800" dirty="0" err="1"/>
              <a:t>Programmes</a:t>
            </a:r>
            <a:r>
              <a:rPr sz="2800" dirty="0"/>
              <a:t>:</a:t>
            </a:r>
          </a:p>
          <a:p>
            <a:pPr lvl="1"/>
            <a:r>
              <a:rPr sz="2400" dirty="0"/>
              <a:t>Malaria: surveillance, blood slides, RDK use, radical treatment, community spray preparation</a:t>
            </a:r>
          </a:p>
          <a:p>
            <a:pPr lvl="1"/>
            <a:r>
              <a:rPr sz="2400" dirty="0"/>
              <a:t>Kala-azar, JE: case finding, referral, record keeping, community motivation</a:t>
            </a:r>
          </a:p>
          <a:p>
            <a:pPr lvl="1"/>
            <a:r>
              <a:rPr sz="2400" dirty="0"/>
              <a:t>Filaria: identification, home management, MDA coordination</a:t>
            </a:r>
          </a:p>
          <a:p>
            <a:pPr lvl="1"/>
            <a:r>
              <a:rPr sz="2400" dirty="0"/>
              <a:t>Leprosy, RNTCP: suspect identification, DOTS, follow-up</a:t>
            </a:r>
          </a:p>
          <a:p>
            <a:pPr lvl="1"/>
            <a:r>
              <a:rPr sz="2400" dirty="0"/>
              <a:t>Blindness: suspect identification, referral</a:t>
            </a:r>
          </a:p>
        </p:txBody>
      </p:sp>
    </p:spTree>
    <p:extLst>
      <p:ext uri="{BB962C8B-B14F-4D97-AF65-F5344CB8AC3E}">
        <p14:creationId xmlns:p14="http://schemas.microsoft.com/office/powerpoint/2010/main" val="619675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Job Description: Health Assistant (Female) (LHV)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/>
              <a:t>Supervision &amp; Guidance:</a:t>
            </a:r>
          </a:p>
          <a:p>
            <a:pPr lvl="1"/>
            <a:r>
              <a:rPr dirty="0"/>
              <a:t>Guides female health workers at 6 sub-</a:t>
            </a:r>
            <a:r>
              <a:rPr dirty="0" err="1"/>
              <a:t>centres</a:t>
            </a:r>
            <a:endParaRPr dirty="0"/>
          </a:p>
          <a:p>
            <a:pPr lvl="1"/>
            <a:r>
              <a:rPr dirty="0"/>
              <a:t>Weekly sub-</a:t>
            </a:r>
            <a:r>
              <a:rPr dirty="0" err="1"/>
              <a:t>centre</a:t>
            </a:r>
            <a:r>
              <a:rPr dirty="0"/>
              <a:t> visits; skill strengthening; assesses ANM work</a:t>
            </a:r>
          </a:p>
          <a:p>
            <a:r>
              <a:rPr dirty="0"/>
              <a:t>Teamwork:</a:t>
            </a:r>
          </a:p>
          <a:p>
            <a:pPr lvl="1"/>
            <a:r>
              <a:rPr dirty="0"/>
              <a:t>Coordinates with male assistant, other health workers/dais/ASHAs</a:t>
            </a:r>
          </a:p>
          <a:p>
            <a:pPr lvl="1"/>
            <a:r>
              <a:rPr dirty="0"/>
              <a:t>Attends staff meetings, helps organize community health camps</a:t>
            </a:r>
          </a:p>
          <a:p>
            <a:r>
              <a:rPr dirty="0"/>
              <a:t>Supplies, Equipment, Maintenance:</a:t>
            </a:r>
          </a:p>
          <a:p>
            <a:pPr lvl="1"/>
            <a:r>
              <a:rPr dirty="0"/>
              <a:t>Ensures proper supplies/equipment, checks drug storage and cleanliness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F9960-6C17-DFE6-5D5D-9AC690C5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9B29-CA59-22B2-02D2-5073A533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Job Description: Health Assistant (Female) (LHV)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651F8-A5A6-17F0-0D5C-FDCE176F5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r>
              <a:rPr sz="2400" dirty="0"/>
              <a:t>Records &amp; Reports:</a:t>
            </a:r>
          </a:p>
          <a:p>
            <a:pPr lvl="1"/>
            <a:r>
              <a:rPr sz="2000" dirty="0"/>
              <a:t>Scrutinizes health worker registers, collects and compiles reports</a:t>
            </a:r>
          </a:p>
          <a:p>
            <a:r>
              <a:rPr sz="2400" dirty="0" err="1"/>
              <a:t>Programme</a:t>
            </a:r>
            <a:r>
              <a:rPr sz="2400" dirty="0"/>
              <a:t> Support:</a:t>
            </a:r>
          </a:p>
          <a:p>
            <a:pPr lvl="1"/>
            <a:r>
              <a:rPr sz="2000" dirty="0"/>
              <a:t>Verifies delivery of services for Kala-azar, filariasis, JE (where relevant)</a:t>
            </a:r>
          </a:p>
          <a:p>
            <a:pPr lvl="1"/>
            <a:r>
              <a:rPr sz="2000" dirty="0"/>
              <a:t>Trains ASHA/volunteers, supports MCH clinics, handles resistors in family planning</a:t>
            </a:r>
          </a:p>
          <a:p>
            <a:r>
              <a:rPr sz="2400" dirty="0"/>
              <a:t>Direct Service:</a:t>
            </a:r>
          </a:p>
          <a:p>
            <a:pPr lvl="1"/>
            <a:r>
              <a:rPr sz="2000" dirty="0"/>
              <a:t>Conducts weekly clinics, deliveries if needed; health education, community </a:t>
            </a:r>
            <a:r>
              <a:rPr sz="2000" dirty="0" err="1"/>
              <a:t>mobilisation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29384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Job Description: Health Assistant (Male)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635" y="1572126"/>
            <a:ext cx="10691265" cy="4389762"/>
          </a:xfrm>
        </p:spPr>
        <p:txBody>
          <a:bodyPr>
            <a:normAutofit/>
          </a:bodyPr>
          <a:lstStyle/>
          <a:p>
            <a:r>
              <a:rPr sz="2400" dirty="0"/>
              <a:t>Supervision &amp; Guidance:</a:t>
            </a:r>
          </a:p>
          <a:p>
            <a:pPr lvl="1"/>
            <a:r>
              <a:rPr sz="2000" dirty="0"/>
              <a:t>Guides male health workers at 6 sub-</a:t>
            </a:r>
            <a:r>
              <a:rPr sz="2000" dirty="0" err="1"/>
              <a:t>centres</a:t>
            </a:r>
            <a:r>
              <a:rPr sz="2000" dirty="0"/>
              <a:t> in population of 30,000 (20,000 in hilly/tribal)</a:t>
            </a:r>
          </a:p>
          <a:p>
            <a:pPr lvl="1"/>
            <a:r>
              <a:rPr sz="2000" dirty="0"/>
              <a:t>Weekly visits, helps plan and organize field activities, skill improvement</a:t>
            </a:r>
          </a:p>
          <a:p>
            <a:r>
              <a:rPr sz="2400" dirty="0"/>
              <a:t>Teamwork:</a:t>
            </a:r>
          </a:p>
          <a:p>
            <a:pPr lvl="1"/>
            <a:r>
              <a:rPr sz="2000" dirty="0"/>
              <a:t>Works with LHV, dais, health guides, attends/conducts meetings, assists medical officers</a:t>
            </a:r>
          </a:p>
          <a:p>
            <a:r>
              <a:rPr sz="2400" dirty="0"/>
              <a:t>Supplies/Logistics:</a:t>
            </a:r>
          </a:p>
          <a:p>
            <a:pPr lvl="1"/>
            <a:r>
              <a:rPr sz="2000" dirty="0"/>
              <a:t>Ensures timely supplies/equipment at SCs, assists in maintenance</a:t>
            </a:r>
          </a:p>
          <a:p>
            <a:r>
              <a:rPr sz="2400" dirty="0"/>
              <a:t>Records &amp; Reports:</a:t>
            </a:r>
          </a:p>
          <a:p>
            <a:pPr lvl="1"/>
            <a:r>
              <a:rPr sz="2000" dirty="0"/>
              <a:t>Maintains records, consolidates reports from male HWs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CFD92-7F3A-BE23-79A3-EC3EBC56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8180-C70B-495B-61CD-C94D6DF8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Job Description: Health Assistant (Male)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BD681-30CB-1B67-57AB-836BF6D50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r>
              <a:rPr sz="2400" dirty="0"/>
              <a:t>Malaria/Vector-borne Disease:</a:t>
            </a:r>
          </a:p>
          <a:p>
            <a:pPr lvl="1"/>
            <a:r>
              <a:rPr sz="2000" dirty="0"/>
              <a:t>Supervises vector control, blood smear collection, spraying operations, home visits</a:t>
            </a:r>
          </a:p>
          <a:p>
            <a:r>
              <a:rPr sz="2400" dirty="0"/>
              <a:t>Specific </a:t>
            </a:r>
            <a:r>
              <a:rPr sz="2400" dirty="0" err="1"/>
              <a:t>Programme</a:t>
            </a:r>
            <a:r>
              <a:rPr sz="2400" dirty="0"/>
              <a:t> Support:</a:t>
            </a:r>
          </a:p>
          <a:p>
            <a:pPr lvl="1"/>
            <a:r>
              <a:rPr sz="2000" dirty="0"/>
              <a:t>Verification of Kala-azar/JE endemic work, ensures training/coverage, community education</a:t>
            </a:r>
          </a:p>
          <a:p>
            <a:r>
              <a:rPr sz="2400" dirty="0"/>
              <a:t>General:</a:t>
            </a:r>
          </a:p>
          <a:p>
            <a:pPr lvl="1"/>
            <a:r>
              <a:rPr sz="2000" dirty="0"/>
              <a:t>Assists in immunization, sanitation, nutrition, camp organization, village health/nutrition day</a:t>
            </a:r>
          </a:p>
        </p:txBody>
      </p:sp>
    </p:spTree>
    <p:extLst>
      <p:ext uri="{BB962C8B-B14F-4D97-AF65-F5344CB8AC3E}">
        <p14:creationId xmlns:p14="http://schemas.microsoft.com/office/powerpoint/2010/main" val="2952346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Hospital Organization &amp;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635" y="1540042"/>
            <a:ext cx="10691265" cy="4421846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Types of Government Health Facilities:</a:t>
            </a:r>
          </a:p>
          <a:p>
            <a:pPr lvl="1"/>
            <a:r>
              <a:rPr dirty="0"/>
              <a:t>Rural hospitals: Upgraded from rural dispensaries to PHCs; located at tahsil/sub-divisional headquarters</a:t>
            </a:r>
          </a:p>
          <a:p>
            <a:pPr lvl="1"/>
            <a:r>
              <a:rPr dirty="0"/>
              <a:t>Sub-divisional hospitals: Being converted to Sub-divisional Health Centers (population: 5 lakhs) with epidemiological wings</a:t>
            </a:r>
          </a:p>
          <a:p>
            <a:pPr lvl="1"/>
            <a:r>
              <a:rPr dirty="0"/>
              <a:t>District hospitals: Proposed conversion to District Health Centers with defined catchment areas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4BB47-BFF3-D2E1-D2BC-88DB195F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FF241-E19D-E9B2-8937-2A4E8DFD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Hospital Organization &amp;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526A2-9505-83C0-DF2C-5B4FD0154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40042"/>
            <a:ext cx="10691265" cy="4421846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lang="en-US" dirty="0"/>
              <a:t>Hospital vs Health Centre Differences:</a:t>
            </a:r>
          </a:p>
          <a:p>
            <a:pPr lvl="1"/>
            <a:r>
              <a:rPr lang="en-US" dirty="0"/>
              <a:t>Hospitals: Mostly curative services, no defined catchment area, patients from anywhere</a:t>
            </a:r>
          </a:p>
          <a:p>
            <a:pPr lvl="1"/>
            <a:r>
              <a:rPr lang="en-US" dirty="0"/>
              <a:t>Health </a:t>
            </a:r>
            <a:r>
              <a:rPr lang="en-US" dirty="0" err="1"/>
              <a:t>Centres</a:t>
            </a:r>
            <a:r>
              <a:rPr lang="en-US" dirty="0"/>
              <a:t>: Integrated preventive, promotive &amp; curative services, specific population responsibility</a:t>
            </a:r>
          </a:p>
          <a:p>
            <a:pPr lvl="1"/>
            <a:r>
              <a:rPr lang="en-US" dirty="0"/>
              <a:t>Team composition: Hospitals focus on curative staff; Health </a:t>
            </a:r>
            <a:r>
              <a:rPr lang="en-US" dirty="0" err="1"/>
              <a:t>centres</a:t>
            </a:r>
            <a:r>
              <a:rPr lang="en-US" dirty="0"/>
              <a:t> have optimal medical-paramedical mix</a:t>
            </a:r>
          </a:p>
          <a:p>
            <a:r>
              <a:rPr lang="en-US" dirty="0"/>
              <a:t>Proposed District Integration:</a:t>
            </a:r>
          </a:p>
          <a:p>
            <a:pPr lvl="1"/>
            <a:r>
              <a:rPr lang="en-US" dirty="0"/>
              <a:t>Chief Medical Officer with 3 Deputy CMOs</a:t>
            </a:r>
          </a:p>
          <a:p>
            <a:pPr lvl="1"/>
            <a:r>
              <a:rPr lang="en-US" dirty="0"/>
              <a:t>Each Deputy CMO covers one-third of district (health, family welfare, MCH </a:t>
            </a:r>
            <a:r>
              <a:rPr lang="en-US" dirty="0" err="1"/>
              <a:t>programmes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Pattern based on number of PHCs in the district</a:t>
            </a:r>
          </a:p>
        </p:txBody>
      </p:sp>
    </p:spTree>
    <p:extLst>
      <p:ext uri="{BB962C8B-B14F-4D97-AF65-F5344CB8AC3E}">
        <p14:creationId xmlns:p14="http://schemas.microsoft.com/office/powerpoint/2010/main" val="1976378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Insurance Schemes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endParaRPr dirty="0"/>
          </a:p>
          <a:p>
            <a:r>
              <a:rPr dirty="0"/>
              <a:t>Current Status:</a:t>
            </a:r>
          </a:p>
          <a:p>
            <a:r>
              <a:rPr dirty="0"/>
              <a:t>No universal health insurance in India</a:t>
            </a:r>
          </a:p>
          <a:p>
            <a:r>
              <a:rPr dirty="0"/>
              <a:t>Coverage limited to industrial workers and their families</a:t>
            </a:r>
          </a:p>
          <a:p>
            <a:r>
              <a:rPr dirty="0"/>
              <a:t>Central Government employees covered under "Central Govt. Health Scheme"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05CFA-A8BB-AA80-D6F4-2F13FAB2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89AB-C71E-97A8-ACB2-18AF1B25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Insurance Schemes in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DA84A-602F-718A-89D2-4F0F82CA5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b="1" dirty="0"/>
              <a:t>Ayushman Bharat - Pradhan Mantri Jan Arogya Yojana (PM-JAY):</a:t>
            </a:r>
            <a:endParaRPr lang="en-US" dirty="0"/>
          </a:p>
          <a:p>
            <a:pPr lvl="1"/>
            <a:r>
              <a:rPr lang="en-US" b="1" dirty="0"/>
              <a:t>Launch</a:t>
            </a:r>
            <a:r>
              <a:rPr lang="en-US" dirty="0"/>
              <a:t>: September 2018</a:t>
            </a:r>
          </a:p>
          <a:p>
            <a:pPr lvl="1"/>
            <a:r>
              <a:rPr lang="en-US" b="1" dirty="0"/>
              <a:t>Coverage</a:t>
            </a:r>
            <a:r>
              <a:rPr lang="en-US" dirty="0"/>
              <a:t>: 50 crore beneficiaries (bottom 40% population)</a:t>
            </a:r>
          </a:p>
          <a:p>
            <a:pPr lvl="1"/>
            <a:r>
              <a:rPr lang="en-US" b="1" dirty="0"/>
              <a:t>Benefit</a:t>
            </a:r>
            <a:r>
              <a:rPr lang="en-US" dirty="0"/>
              <a:t>: ₹5 lakh per family per year for secondary and tertiary care</a:t>
            </a:r>
          </a:p>
          <a:p>
            <a:pPr lvl="1"/>
            <a:r>
              <a:rPr lang="en-US" b="1" dirty="0"/>
              <a:t>Empaneled hospitals</a:t>
            </a:r>
            <a:r>
              <a:rPr lang="en-US" dirty="0"/>
              <a:t>: 24,000+ public and private hospitals</a:t>
            </a:r>
          </a:p>
          <a:p>
            <a:pPr lvl="1"/>
            <a:r>
              <a:rPr lang="en-US" b="1" dirty="0"/>
              <a:t>Cashless treatment</a:t>
            </a:r>
            <a:r>
              <a:rPr lang="en-US" dirty="0"/>
              <a:t>: Across India, portable coverage</a:t>
            </a:r>
          </a:p>
          <a:p>
            <a:pPr lvl="1"/>
            <a:r>
              <a:rPr lang="en-US" b="1" dirty="0"/>
              <a:t>Target</a:t>
            </a:r>
            <a:r>
              <a:rPr lang="en-US" dirty="0"/>
              <a:t>: Socio-Economic Caste Census (SECC) identified families</a:t>
            </a:r>
          </a:p>
        </p:txBody>
      </p:sp>
    </p:spTree>
    <p:extLst>
      <p:ext uri="{BB962C8B-B14F-4D97-AF65-F5344CB8AC3E}">
        <p14:creationId xmlns:p14="http://schemas.microsoft.com/office/powerpoint/2010/main" val="3418308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6376-60C5-7F07-1D7D-8635141A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41C22-2DBB-CBB5-280B-13301C2D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Insurance Schemes in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4ADC6-3BD3-E830-2B4D-0ACB9810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b="1" dirty="0"/>
              <a:t>Employees State Insurance (ESI) Scheme:</a:t>
            </a:r>
            <a:endParaRPr lang="en-US" dirty="0"/>
          </a:p>
          <a:p>
            <a:pPr lvl="1"/>
            <a:r>
              <a:rPr lang="en-US" b="1" dirty="0"/>
              <a:t>Established</a:t>
            </a:r>
            <a:r>
              <a:rPr lang="en-US" dirty="0"/>
              <a:t>: 1948 (Parliamentary Act)</a:t>
            </a:r>
          </a:p>
          <a:p>
            <a:pPr lvl="1"/>
            <a:r>
              <a:rPr lang="en-US" b="1" dirty="0"/>
              <a:t>Coverage</a:t>
            </a:r>
            <a:r>
              <a:rPr lang="en-US" dirty="0"/>
              <a:t>: Employees earning ≤₹25,000 per month (updated from ₹21,000)</a:t>
            </a:r>
          </a:p>
          <a:p>
            <a:pPr lvl="1"/>
            <a:r>
              <a:rPr lang="en-US" b="1" dirty="0"/>
              <a:t>Contribution</a:t>
            </a:r>
            <a:r>
              <a:rPr lang="en-US" dirty="0"/>
              <a:t>: Both employer and employee contribute</a:t>
            </a:r>
          </a:p>
          <a:p>
            <a:pPr lvl="1"/>
            <a:r>
              <a:rPr lang="en-US" b="1" dirty="0"/>
              <a:t>Benefits</a:t>
            </a:r>
            <a:r>
              <a:rPr lang="en-US" dirty="0"/>
              <a:t>: Medical care, sickness benefits, maternity benefits, disability pension, dependent benefits</a:t>
            </a:r>
          </a:p>
        </p:txBody>
      </p:sp>
    </p:spTree>
    <p:extLst>
      <p:ext uri="{BB962C8B-B14F-4D97-AF65-F5344CB8AC3E}">
        <p14:creationId xmlns:p14="http://schemas.microsoft.com/office/powerpoint/2010/main" val="4228155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2176C-0201-5342-1E64-CE085158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7CCD-1876-1146-DC4B-9169E6F3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Insurance Schemes in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6A4D8-59FA-0BB4-8FF1-0A3C98416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b="1" dirty="0"/>
              <a:t>Central Government Health Scheme (CGHS):</a:t>
            </a:r>
            <a:endParaRPr lang="en-US" dirty="0"/>
          </a:p>
          <a:p>
            <a:pPr lvl="1"/>
            <a:r>
              <a:rPr lang="en-US" b="1" dirty="0"/>
              <a:t>Started</a:t>
            </a:r>
            <a:r>
              <a:rPr lang="en-US" dirty="0"/>
              <a:t>: 1954 in New Delhi</a:t>
            </a:r>
          </a:p>
          <a:p>
            <a:pPr lvl="1"/>
            <a:r>
              <a:rPr lang="en-US" b="1" dirty="0"/>
              <a:t>Coverage</a:t>
            </a:r>
            <a:r>
              <a:rPr lang="en-US" dirty="0"/>
              <a:t>: Central government employees, pensioners, dependents</a:t>
            </a:r>
          </a:p>
          <a:p>
            <a:pPr lvl="1"/>
            <a:r>
              <a:rPr lang="en-US" b="1" dirty="0"/>
              <a:t>Cities covered</a:t>
            </a:r>
            <a:r>
              <a:rPr lang="en-US" dirty="0"/>
              <a:t>: 29+ cities including metros and state capitals</a:t>
            </a:r>
          </a:p>
          <a:p>
            <a:pPr lvl="1"/>
            <a:r>
              <a:rPr lang="en-US" b="1" dirty="0"/>
              <a:t>Scale</a:t>
            </a:r>
            <a:r>
              <a:rPr lang="en-US" dirty="0"/>
              <a:t>: 42.76+ lakh beneficiaries through 320+ facilities</a:t>
            </a:r>
          </a:p>
          <a:p>
            <a:pPr lvl="1"/>
            <a:r>
              <a:rPr lang="en-US" b="1" dirty="0"/>
              <a:t>Services</a:t>
            </a:r>
            <a:r>
              <a:rPr lang="en-US" dirty="0"/>
              <a:t>: OPD, IPD, specialist care, emergency treatment, domiciliary care</a:t>
            </a:r>
          </a:p>
        </p:txBody>
      </p:sp>
    </p:spTree>
    <p:extLst>
      <p:ext uri="{BB962C8B-B14F-4D97-AF65-F5344CB8AC3E}">
        <p14:creationId xmlns:p14="http://schemas.microsoft.com/office/powerpoint/2010/main" val="3412321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85783-D2F1-33DD-C122-9C3EC8F4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D3C60-311E-FC48-E992-1D919C5D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Insurance Schemes in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93C46-1CCC-DE64-C2E9-58043F58F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b="1" dirty="0"/>
              <a:t>State Health Insurance Schemes:</a:t>
            </a:r>
            <a:endParaRPr lang="en-US" dirty="0"/>
          </a:p>
          <a:p>
            <a:pPr lvl="1"/>
            <a:r>
              <a:rPr lang="en-US" dirty="0"/>
              <a:t>Various state-specific schemes (Rajiv </a:t>
            </a:r>
            <a:r>
              <a:rPr lang="en-US" dirty="0" err="1"/>
              <a:t>Aarogyasri</a:t>
            </a:r>
            <a:r>
              <a:rPr lang="en-US" dirty="0"/>
              <a:t>, Chief Minister's Comprehensive Health Insurance)</a:t>
            </a:r>
          </a:p>
          <a:p>
            <a:pPr lvl="1"/>
            <a:r>
              <a:rPr lang="en-US" dirty="0"/>
              <a:t>Integration with Ayushman Bharat in many states</a:t>
            </a:r>
          </a:p>
        </p:txBody>
      </p:sp>
    </p:spTree>
    <p:extLst>
      <p:ext uri="{BB962C8B-B14F-4D97-AF65-F5344CB8AC3E}">
        <p14:creationId xmlns:p14="http://schemas.microsoft.com/office/powerpoint/2010/main" val="1006379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DE31-71CD-B2AD-BA1E-74787F16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F1C0-B00E-AFF7-C356-A0CD7DAD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Insurance Schemes in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38D5A-CA7B-B72B-9849-87BFBFF33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b="1" dirty="0"/>
              <a:t>Private Health Insurance:</a:t>
            </a:r>
            <a:endParaRPr lang="en-US" dirty="0"/>
          </a:p>
          <a:p>
            <a:pPr lvl="1"/>
            <a:r>
              <a:rPr lang="en-US" b="1" dirty="0"/>
              <a:t>Regulatory body</a:t>
            </a:r>
            <a:r>
              <a:rPr lang="en-US" dirty="0"/>
              <a:t>: Insurance Regulatory and Development Authority of India (IRDAI)</a:t>
            </a:r>
          </a:p>
          <a:p>
            <a:pPr lvl="1"/>
            <a:r>
              <a:rPr lang="en-US" b="1" dirty="0"/>
              <a:t>Growth</a:t>
            </a:r>
            <a:r>
              <a:rPr lang="en-US" dirty="0"/>
              <a:t>: Significant expansion post-liberalization</a:t>
            </a:r>
          </a:p>
          <a:p>
            <a:pPr lvl="1"/>
            <a:r>
              <a:rPr lang="en-US" b="1" dirty="0"/>
              <a:t>Products</a:t>
            </a:r>
            <a:r>
              <a:rPr lang="en-US" dirty="0"/>
              <a:t>: Individual, family floater, group policies, critical illness covers</a:t>
            </a:r>
          </a:p>
          <a:p>
            <a:r>
              <a:rPr lang="en-US" b="1" dirty="0"/>
              <a:t>Integration &amp; Future:</a:t>
            </a:r>
            <a:endParaRPr lang="en-US" dirty="0"/>
          </a:p>
          <a:p>
            <a:pPr lvl="1"/>
            <a:r>
              <a:rPr lang="en-US" b="1" dirty="0"/>
              <a:t>Convergence</a:t>
            </a:r>
            <a:r>
              <a:rPr lang="en-US" dirty="0"/>
              <a:t>: State schemes merging with Ayushman Bharat</a:t>
            </a:r>
          </a:p>
          <a:p>
            <a:pPr lvl="1"/>
            <a:r>
              <a:rPr lang="en-US" b="1" dirty="0"/>
              <a:t>Digital health</a:t>
            </a:r>
            <a:r>
              <a:rPr lang="en-US" dirty="0"/>
              <a:t>: Integration with National Digital Health Mission</a:t>
            </a:r>
          </a:p>
          <a:p>
            <a:pPr lvl="1"/>
            <a:r>
              <a:rPr lang="en-US" b="1" dirty="0"/>
              <a:t>Coverage expansion</a:t>
            </a:r>
            <a:r>
              <a:rPr lang="en-US" dirty="0"/>
              <a:t>: Moving towards universal health coverage goal</a:t>
            </a:r>
          </a:p>
        </p:txBody>
      </p:sp>
    </p:spTree>
    <p:extLst>
      <p:ext uri="{BB962C8B-B14F-4D97-AF65-F5344CB8AC3E}">
        <p14:creationId xmlns:p14="http://schemas.microsoft.com/office/powerpoint/2010/main" val="717619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635" y="689810"/>
            <a:ext cx="10691265" cy="1307592"/>
          </a:xfrm>
        </p:spPr>
        <p:txBody>
          <a:bodyPr>
            <a:normAutofit/>
          </a:bodyPr>
          <a:lstStyle/>
          <a:p>
            <a:r>
              <a:rPr lang="en-US" b="1" dirty="0" err="1"/>
              <a:t>Defence</a:t>
            </a:r>
            <a:r>
              <a:rPr lang="en-US" b="1" dirty="0"/>
              <a:t> Healthcare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635" y="1876926"/>
            <a:ext cx="10691265" cy="4084962"/>
          </a:xfrm>
        </p:spPr>
        <p:txBody>
          <a:bodyPr numCol="1">
            <a:normAutofit/>
          </a:bodyPr>
          <a:lstStyle/>
          <a:p>
            <a:r>
              <a:rPr lang="en-US" sz="2800" b="1" dirty="0" err="1"/>
              <a:t>Defence</a:t>
            </a:r>
            <a:r>
              <a:rPr lang="en-US" sz="2800" b="1" dirty="0"/>
              <a:t> Medical Services</a:t>
            </a:r>
            <a:endParaRPr lang="en-US" sz="2800" dirty="0"/>
          </a:p>
          <a:p>
            <a:pPr lvl="1"/>
            <a:r>
              <a:rPr lang="en-US" sz="2400" dirty="0"/>
              <a:t>The </a:t>
            </a:r>
            <a:r>
              <a:rPr lang="en-US" sz="2400" b="1" dirty="0"/>
              <a:t>Armed Forces Medical Services (AFMS)</a:t>
            </a:r>
            <a:r>
              <a:rPr lang="en-US" sz="2400" dirty="0"/>
              <a:t> provide integrated and comprehensive care for all </a:t>
            </a:r>
            <a:r>
              <a:rPr lang="en-US" sz="2400" dirty="0" err="1"/>
              <a:t>defence</a:t>
            </a:r>
            <a:r>
              <a:rPr lang="en-US" sz="2400" dirty="0"/>
              <a:t> personnel and families, covering preventive, promotive, and curative services.</a:t>
            </a:r>
          </a:p>
          <a:p>
            <a:pPr lvl="1"/>
            <a:r>
              <a:rPr lang="en-US" sz="2400" dirty="0"/>
              <a:t>Modernization has led to digital recordkeeping and expanded specialist and tertiary care within military hospitals.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3A9FC-07E9-287A-9B5B-8FB5D70F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3406E-DBDD-95AE-710C-504C2E613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689810"/>
            <a:ext cx="10691265" cy="1307592"/>
          </a:xfrm>
        </p:spPr>
        <p:txBody>
          <a:bodyPr>
            <a:normAutofit/>
          </a:bodyPr>
          <a:lstStyle/>
          <a:p>
            <a:r>
              <a:rPr lang="en-US" b="1" dirty="0"/>
              <a:t>Railways Healthcare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A066-B96A-EE46-9DA8-8BECA66F7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76926"/>
            <a:ext cx="10691265" cy="4084962"/>
          </a:xfrm>
        </p:spPr>
        <p:txBody>
          <a:bodyPr numCol="1">
            <a:normAutofit fontScale="92500"/>
          </a:bodyPr>
          <a:lstStyle/>
          <a:p>
            <a:r>
              <a:rPr lang="en-US" sz="3200" b="1" dirty="0"/>
              <a:t>Railway Health Services</a:t>
            </a:r>
            <a:endParaRPr lang="en-US" sz="3200" dirty="0"/>
          </a:p>
          <a:p>
            <a:pPr lvl="1"/>
            <a:r>
              <a:rPr lang="en-US" sz="2800" b="1" dirty="0"/>
              <a:t>Comprehensive health care</a:t>
            </a:r>
            <a:r>
              <a:rPr lang="en-US" sz="2800" dirty="0"/>
              <a:t> to railway employees via Railway Hospitals, Health Units, and specialized clinics.</a:t>
            </a:r>
          </a:p>
          <a:p>
            <a:pPr lvl="1"/>
            <a:r>
              <a:rPr lang="en-US" sz="2800" dirty="0"/>
              <a:t>Health Inspectors manage environmental sanitation in major stations.</a:t>
            </a:r>
          </a:p>
          <a:p>
            <a:pPr lvl="1"/>
            <a:r>
              <a:rPr lang="en-US" sz="2800" dirty="0"/>
              <a:t>Periodic health check-ups for employees, organized MCH (maternal &amp; child health) and school health services.</a:t>
            </a:r>
          </a:p>
          <a:p>
            <a:pPr lvl="1"/>
            <a:r>
              <a:rPr lang="en-US" sz="2800" dirty="0"/>
              <a:t>Lady medical officers and specialists provide comprehensive and preventive health care across divisions.</a:t>
            </a:r>
          </a:p>
        </p:txBody>
      </p:sp>
    </p:spTree>
    <p:extLst>
      <p:ext uri="{BB962C8B-B14F-4D97-AF65-F5344CB8AC3E}">
        <p14:creationId xmlns:p14="http://schemas.microsoft.com/office/powerpoint/2010/main" val="498050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38C4-7494-318E-7F52-5B109F4C8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Private Healthcare Sector and Infrastructure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0FC67-EA1A-E4BC-04CD-0D587E15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Sector Growth and Contribution</a:t>
            </a:r>
            <a:endParaRPr lang="en-US" sz="2400" dirty="0"/>
          </a:p>
          <a:p>
            <a:pPr lvl="1"/>
            <a:r>
              <a:rPr lang="en-US" sz="2000" b="1" dirty="0"/>
              <a:t>Private sector</a:t>
            </a:r>
            <a:r>
              <a:rPr lang="en-US" sz="2000" dirty="0"/>
              <a:t> accounts for 62% of all hospitals, with over 43,000 private hospitals and 1.18 million </a:t>
            </a:r>
            <a:r>
              <a:rPr lang="en-US" sz="2000" dirty="0" err="1"/>
              <a:t>beds.</a:t>
            </a:r>
            <a:r>
              <a:rPr lang="en-US" sz="2000" dirty="0" err="1">
                <a:hlinkClick r:id="rId2"/>
              </a:rPr>
              <a:t>fortunejournals</a:t>
            </a:r>
            <a:endParaRPr lang="en-US" sz="2000" dirty="0"/>
          </a:p>
          <a:p>
            <a:pPr lvl="1"/>
            <a:r>
              <a:rPr lang="en-US" sz="2000" dirty="0"/>
              <a:t>By 2025, </a:t>
            </a:r>
            <a:r>
              <a:rPr lang="en-US" sz="2000" b="1" dirty="0"/>
              <a:t>India’s healthcare market is projected to reach $638 billion</a:t>
            </a:r>
            <a:r>
              <a:rPr lang="en-US" sz="2000" dirty="0"/>
              <a:t>; private hospitals dominate 80% of the total system.</a:t>
            </a:r>
          </a:p>
          <a:p>
            <a:pPr lvl="1"/>
            <a:r>
              <a:rPr lang="en-US" sz="2000" b="1" dirty="0"/>
              <a:t>Medical devices</a:t>
            </a:r>
            <a:r>
              <a:rPr lang="en-US" sz="2000" dirty="0"/>
              <a:t> market expected to reach $50 billion by 2025; medical tourism nearly $14.3 billion by 2029.</a:t>
            </a:r>
          </a:p>
          <a:p>
            <a:pPr lvl="1"/>
            <a:r>
              <a:rPr lang="en-US" sz="2000" dirty="0"/>
              <a:t>The sector employs </a:t>
            </a:r>
            <a:r>
              <a:rPr lang="en-US" sz="2000" b="1" dirty="0"/>
              <a:t>over 7.5 million people</a:t>
            </a:r>
            <a:r>
              <a:rPr lang="en-US" sz="2000" dirty="0"/>
              <a:t> and continues aggressive expansion (e.g., Apollo, Max Healthcare, Fortis).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6366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4062-2B4C-130A-F8A9-A0D8E4DA9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7FC3-3C64-5B4A-1AE6-F1380F1A5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Private Healthcare Sector and Infrastructure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7945F-9465-6E9A-4F23-6376339E9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Challenges</a:t>
            </a:r>
            <a:endParaRPr lang="en-US" sz="2400" dirty="0"/>
          </a:p>
          <a:p>
            <a:pPr lvl="1"/>
            <a:r>
              <a:rPr lang="en-US" sz="2000" dirty="0"/>
              <a:t>High urban concentration: About 60% of facilities located in major cities, causing rural–urban disparities.</a:t>
            </a:r>
          </a:p>
          <a:p>
            <a:pPr lvl="1"/>
            <a:r>
              <a:rPr lang="en-US" sz="2000" dirty="0"/>
              <a:t>The bed-to-population ratio is </a:t>
            </a:r>
            <a:r>
              <a:rPr lang="en-US" sz="2000" b="1" dirty="0"/>
              <a:t>1.3 per 1,000 people</a:t>
            </a:r>
            <a:r>
              <a:rPr lang="en-US" sz="2000" dirty="0"/>
              <a:t>; gap of 2.4 million beds to reach WHO norms. </a:t>
            </a:r>
            <a:r>
              <a:rPr lang="en-US" sz="2000" b="1" dirty="0"/>
              <a:t>Out-of-pocket spending</a:t>
            </a:r>
            <a:r>
              <a:rPr lang="en-US" sz="2000" dirty="0"/>
              <a:t> remains high (54.8% of health spending).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5872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BA415-2C06-F166-D474-A87C41D7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Indigenous Medicine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E29D-5B7B-F09A-B8EB-3F1F6D91A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Indigenous Systems of Medicine</a:t>
            </a:r>
            <a:endParaRPr lang="en-US" sz="2800" dirty="0"/>
          </a:p>
          <a:p>
            <a:pPr lvl="1"/>
            <a:r>
              <a:rPr lang="en-US" sz="2400" dirty="0"/>
              <a:t>Major role especially in rural areas; over 7.7 lakh registered ayurvedic practitioners, 90% in rural settings.</a:t>
            </a:r>
          </a:p>
          <a:p>
            <a:pPr lvl="1"/>
            <a:r>
              <a:rPr lang="en-US" sz="2400" dirty="0"/>
              <a:t>Supported by National Institutes and Government regulation to standardize education and quality of care.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48637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Voluntary Health Agencies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635" y="1764632"/>
            <a:ext cx="10691265" cy="4197256"/>
          </a:xfrm>
        </p:spPr>
        <p:txBody>
          <a:bodyPr numCol="1">
            <a:normAutofit/>
          </a:bodyPr>
          <a:lstStyle/>
          <a:p>
            <a:r>
              <a:rPr sz="2400" dirty="0"/>
              <a:t>Indian Red Cross Society (1920):</a:t>
            </a:r>
          </a:p>
          <a:p>
            <a:pPr lvl="1"/>
            <a:r>
              <a:rPr sz="2000" dirty="0"/>
              <a:t>400+ branches nationwide</a:t>
            </a:r>
          </a:p>
          <a:p>
            <a:pPr lvl="1"/>
            <a:r>
              <a:rPr sz="2000" dirty="0"/>
              <a:t>Activities: Disaster relief, medical supplies, armed forces care, maternal/child welfare, family planning, blood banks, first aid training</a:t>
            </a:r>
          </a:p>
          <a:p>
            <a:pPr lvl="1"/>
            <a:r>
              <a:rPr sz="2000" dirty="0"/>
              <a:t>Specialized Health Organizations:</a:t>
            </a:r>
          </a:p>
          <a:p>
            <a:r>
              <a:rPr sz="2400" dirty="0"/>
              <a:t>Hind </a:t>
            </a:r>
            <a:r>
              <a:rPr sz="2400" dirty="0" err="1"/>
              <a:t>Kusht</a:t>
            </a:r>
            <a:r>
              <a:rPr sz="2400" dirty="0"/>
              <a:t> </a:t>
            </a:r>
            <a:r>
              <a:rPr sz="2400" dirty="0" err="1"/>
              <a:t>Nivaran</a:t>
            </a:r>
            <a:r>
              <a:rPr sz="2400" dirty="0"/>
              <a:t> Sangh (1950): Leprosy control, research, training</a:t>
            </a:r>
          </a:p>
          <a:p>
            <a:r>
              <a:rPr sz="2400" dirty="0"/>
              <a:t>Tuberculosis Association of India (1939): TB Seal campaign, training, research institutions</a:t>
            </a:r>
          </a:p>
          <a:p>
            <a:r>
              <a:rPr sz="2400" dirty="0"/>
              <a:t>Indian Council for Child Welfare (1952): Child development in healthy conditions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514A1-7D1F-3B8E-4EBF-F08F91B01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4200C-ABF4-CD4F-A801-C4FC1E64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Welfare Organizations: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A81E1-389B-3577-3BDC-A4CA4DC37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57137"/>
            <a:ext cx="10691265" cy="4004751"/>
          </a:xfrm>
        </p:spPr>
        <p:txBody>
          <a:bodyPr numCol="2">
            <a:normAutofit/>
          </a:bodyPr>
          <a:lstStyle/>
          <a:p>
            <a:r>
              <a:rPr dirty="0"/>
              <a:t>Bharat Sevak Samaj (1952): Community health improvement, village sanitation</a:t>
            </a:r>
          </a:p>
          <a:p>
            <a:r>
              <a:rPr dirty="0"/>
              <a:t>Central Social Welfare Board (1953): Family &amp; child welfare, industrial cooperatives</a:t>
            </a:r>
          </a:p>
          <a:p>
            <a:r>
              <a:rPr dirty="0"/>
              <a:t>Family Planning Association of India (1949): Family planning clinics, training</a:t>
            </a:r>
          </a:p>
          <a:p>
            <a:r>
              <a:rPr dirty="0"/>
              <a:t>Professional &amp; International Bodies:</a:t>
            </a:r>
          </a:p>
          <a:p>
            <a:pPr lvl="1"/>
            <a:r>
              <a:rPr dirty="0"/>
              <a:t>Indian Medical Association, Dental Association, Nurses Association: Professional standards, research, relief camps</a:t>
            </a:r>
          </a:p>
          <a:p>
            <a:pPr lvl="1"/>
            <a:r>
              <a:rPr dirty="0"/>
              <a:t>International agencies: Rockefeller Foundation, Ford Foundation, CARE</a:t>
            </a:r>
          </a:p>
          <a:p>
            <a:r>
              <a:rPr dirty="0"/>
              <a:t>Functions of Voluntary Agencies:</a:t>
            </a:r>
          </a:p>
          <a:p>
            <a:pPr lvl="1"/>
            <a:r>
              <a:rPr dirty="0"/>
              <a:t>Supplement government work, Pioneer new approaches, Health education, Demonstration projects, Quality monitoring, Advance health legislation</a:t>
            </a:r>
          </a:p>
        </p:txBody>
      </p:sp>
    </p:spTree>
    <p:extLst>
      <p:ext uri="{BB962C8B-B14F-4D97-AF65-F5344CB8AC3E}">
        <p14:creationId xmlns:p14="http://schemas.microsoft.com/office/powerpoint/2010/main" val="904932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National Health Programmes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 lnSpcReduction="10000"/>
          </a:bodyPr>
          <a:lstStyle/>
          <a:p>
            <a:r>
              <a:rPr dirty="0" err="1"/>
              <a:t>Programme</a:t>
            </a:r>
            <a:r>
              <a:rPr dirty="0"/>
              <a:t> Categories:</a:t>
            </a:r>
          </a:p>
          <a:p>
            <a:pPr lvl="1"/>
            <a:r>
              <a:rPr dirty="0"/>
              <a:t>Communicable disease control/eradication</a:t>
            </a:r>
          </a:p>
          <a:p>
            <a:pPr lvl="1"/>
            <a:r>
              <a:rPr dirty="0"/>
              <a:t>Environmental sanitation improvement</a:t>
            </a:r>
          </a:p>
          <a:p>
            <a:pPr lvl="1"/>
            <a:r>
              <a:rPr dirty="0"/>
              <a:t>Nutrition </a:t>
            </a:r>
            <a:r>
              <a:rPr dirty="0" err="1"/>
              <a:t>programmes</a:t>
            </a:r>
            <a:endParaRPr dirty="0"/>
          </a:p>
          <a:p>
            <a:pPr lvl="1"/>
            <a:r>
              <a:rPr dirty="0"/>
              <a:t>Population control measures</a:t>
            </a:r>
          </a:p>
          <a:p>
            <a:pPr lvl="1"/>
            <a:r>
              <a:rPr dirty="0"/>
              <a:t>Rural health development</a:t>
            </a:r>
          </a:p>
          <a:p>
            <a:r>
              <a:rPr dirty="0"/>
              <a:t>International Support:</a:t>
            </a:r>
          </a:p>
          <a:p>
            <a:pPr lvl="1"/>
            <a:r>
              <a:rPr dirty="0"/>
              <a:t>UN agencies: WHO, UNICEF, UNFPA, World Bank</a:t>
            </a:r>
          </a:p>
          <a:p>
            <a:pPr lvl="1"/>
            <a:r>
              <a:rPr dirty="0"/>
              <a:t>Bilateral agencies: SIDA, DANIDA, NORAD, USAID</a:t>
            </a:r>
          </a:p>
          <a:p>
            <a:r>
              <a:rPr dirty="0"/>
              <a:t>Support types: Technical assistance, material resources, capacity building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B919-4F6E-30EC-8126-E09EFA7EA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B540-9F08-78F1-14F3-4AC4D539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National Health Programmes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4FE82-4859-8932-C2D9-709AFFB9F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dirty="0"/>
              <a:t>Implementation Structure:</a:t>
            </a:r>
          </a:p>
          <a:p>
            <a:pPr lvl="1"/>
            <a:r>
              <a:rPr dirty="0"/>
              <a:t>Central Government launch and policy framework</a:t>
            </a:r>
          </a:p>
          <a:p>
            <a:pPr lvl="1"/>
            <a:r>
              <a:rPr dirty="0"/>
              <a:t>State-level adaptation and execution</a:t>
            </a:r>
          </a:p>
          <a:p>
            <a:pPr lvl="1"/>
            <a:r>
              <a:rPr dirty="0"/>
              <a:t>District and local-level delivery</a:t>
            </a:r>
          </a:p>
          <a:p>
            <a:pPr lvl="1"/>
            <a:r>
              <a:rPr dirty="0"/>
              <a:t>Community participation through voluntary agencies</a:t>
            </a:r>
          </a:p>
          <a:p>
            <a:pPr lvl="1"/>
            <a:r>
              <a:rPr dirty="0"/>
              <a:t>Key Focus Areas:</a:t>
            </a:r>
          </a:p>
          <a:p>
            <a:pPr lvl="1"/>
            <a:r>
              <a:rPr dirty="0"/>
              <a:t>Disease surveillance and response systems</a:t>
            </a:r>
          </a:p>
          <a:p>
            <a:pPr lvl="1"/>
            <a:r>
              <a:rPr dirty="0"/>
              <a:t>Health infrastructure strengthening</a:t>
            </a:r>
          </a:p>
          <a:p>
            <a:pPr lvl="1"/>
            <a:r>
              <a:rPr dirty="0"/>
              <a:t>Human resource development</a:t>
            </a:r>
          </a:p>
          <a:p>
            <a:pPr lvl="1"/>
            <a:r>
              <a:rPr dirty="0"/>
              <a:t>Community engagement and health education</a:t>
            </a:r>
          </a:p>
          <a:p>
            <a:pPr lvl="1"/>
            <a:r>
              <a:rPr dirty="0"/>
              <a:t>Integration with broader development </a:t>
            </a:r>
            <a:r>
              <a:rPr dirty="0" err="1"/>
              <a:t>programmes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3890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Pies on a table">
            <a:extLst>
              <a:ext uri="{FF2B5EF4-FFF2-40B4-BE49-F238E27FC236}">
                <a16:creationId xmlns:a16="http://schemas.microsoft.com/office/drawing/2014/main" id="{4CB25204-7747-2868-E53C-987C4BDFA4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5BB2A-B07D-9DD2-9D6A-41BB46A3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Thanks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775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2322</Words>
  <Application>Microsoft Office PowerPoint</Application>
  <PresentationFormat>Widescreen</PresentationFormat>
  <Paragraphs>284</Paragraphs>
  <Slides>39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Times New Roman</vt:lpstr>
      <vt:lpstr>ChronicleVTI</vt:lpstr>
      <vt:lpstr>Health and Wellness centre</vt:lpstr>
      <vt:lpstr>National Health Policy Vision</vt:lpstr>
      <vt:lpstr>Principles and Structure of HWCs</vt:lpstr>
      <vt:lpstr>Expanded Service Package at HWCs</vt:lpstr>
      <vt:lpstr>Team Structure at Sub-Centre Level HWC</vt:lpstr>
      <vt:lpstr>Community Health officer</vt:lpstr>
      <vt:lpstr>Community Health officer</vt:lpstr>
      <vt:lpstr>CHO – Roles and responsibilities</vt:lpstr>
      <vt:lpstr>CHO – Roles and responsibilities</vt:lpstr>
      <vt:lpstr>CHO – Roles and responsibilities</vt:lpstr>
      <vt:lpstr>PHC as Hub in HWC System</vt:lpstr>
      <vt:lpstr>Job Description: Medical Officer, PHC</vt:lpstr>
      <vt:lpstr>Job Description: Second Medical Officer (if posted)</vt:lpstr>
      <vt:lpstr>Job Description: Health Worker Female (ANM) at Sub-Centre</vt:lpstr>
      <vt:lpstr>Job Description: Health Worker Female (ANM) at Sub-Centre</vt:lpstr>
      <vt:lpstr>Job Description: Health Worker Male at Sub-Centre</vt:lpstr>
      <vt:lpstr>Job Description: Health Worker Male at Sub-Centre</vt:lpstr>
      <vt:lpstr>Job Description: Health Assistant (Female) (LHV)</vt:lpstr>
      <vt:lpstr>Job Description: Health Assistant (Female) (LHV)</vt:lpstr>
      <vt:lpstr>Job Description: Health Assistant (Male)</vt:lpstr>
      <vt:lpstr>Job Description: Health Assistant (Male)</vt:lpstr>
      <vt:lpstr>Hospital Organization &amp; Structure</vt:lpstr>
      <vt:lpstr>Hospital Organization &amp; Structure</vt:lpstr>
      <vt:lpstr>Health Insurance Schemes in India</vt:lpstr>
      <vt:lpstr>Health Insurance Schemes in India</vt:lpstr>
      <vt:lpstr>Health Insurance Schemes in India</vt:lpstr>
      <vt:lpstr>Health Insurance Schemes in India</vt:lpstr>
      <vt:lpstr>Health Insurance Schemes in India</vt:lpstr>
      <vt:lpstr>Health Insurance Schemes in India</vt:lpstr>
      <vt:lpstr>Defence Healthcare Services</vt:lpstr>
      <vt:lpstr>Railways Healthcare Services</vt:lpstr>
      <vt:lpstr>Private Healthcare Sector and Infrastructure </vt:lpstr>
      <vt:lpstr>Private Healthcare Sector and Infrastructure </vt:lpstr>
      <vt:lpstr> Indigenous Medicine</vt:lpstr>
      <vt:lpstr>Voluntary Health Agencies in India</vt:lpstr>
      <vt:lpstr>Social Welfare Organizations:</vt:lpstr>
      <vt:lpstr>National Health Programmes Framework</vt:lpstr>
      <vt:lpstr>National Health Programmes Framework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mukul maheshwari</dc:creator>
  <cp:lastModifiedBy>mukul maheshwari</cp:lastModifiedBy>
  <cp:revision>1</cp:revision>
  <dcterms:created xsi:type="dcterms:W3CDTF">2025-08-28T00:49:13Z</dcterms:created>
  <dcterms:modified xsi:type="dcterms:W3CDTF">2025-08-28T01:37:23Z</dcterms:modified>
</cp:coreProperties>
</file>