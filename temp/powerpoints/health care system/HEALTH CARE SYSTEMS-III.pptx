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79"/>
  </p:notesMasterIdLst>
  <p:handoutMasterIdLst>
    <p:handoutMasterId r:id="rId80"/>
  </p:handoutMasterIdLst>
  <p:sldIdLst>
    <p:sldId id="325" r:id="rId5"/>
    <p:sldId id="307" r:id="rId6"/>
    <p:sldId id="324" r:id="rId7"/>
    <p:sldId id="338" r:id="rId8"/>
    <p:sldId id="343" r:id="rId9"/>
    <p:sldId id="344" r:id="rId10"/>
    <p:sldId id="312" r:id="rId11"/>
    <p:sldId id="342" r:id="rId12"/>
    <p:sldId id="345" r:id="rId13"/>
    <p:sldId id="346" r:id="rId14"/>
    <p:sldId id="347" r:id="rId15"/>
    <p:sldId id="348" r:id="rId16"/>
    <p:sldId id="349" r:id="rId17"/>
    <p:sldId id="341" r:id="rId18"/>
    <p:sldId id="350" r:id="rId19"/>
    <p:sldId id="339"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376" r:id="rId46"/>
    <p:sldId id="377" r:id="rId47"/>
    <p:sldId id="378" r:id="rId48"/>
    <p:sldId id="386" r:id="rId49"/>
    <p:sldId id="379" r:id="rId50"/>
    <p:sldId id="380" r:id="rId51"/>
    <p:sldId id="381" r:id="rId52"/>
    <p:sldId id="382" r:id="rId53"/>
    <p:sldId id="383" r:id="rId54"/>
    <p:sldId id="384" r:id="rId55"/>
    <p:sldId id="387" r:id="rId56"/>
    <p:sldId id="385" r:id="rId57"/>
    <p:sldId id="388" r:id="rId58"/>
    <p:sldId id="389" r:id="rId59"/>
    <p:sldId id="390" r:id="rId60"/>
    <p:sldId id="391" r:id="rId61"/>
    <p:sldId id="392" r:id="rId62"/>
    <p:sldId id="393" r:id="rId63"/>
    <p:sldId id="394" r:id="rId64"/>
    <p:sldId id="395" r:id="rId65"/>
    <p:sldId id="396" r:id="rId66"/>
    <p:sldId id="397" r:id="rId67"/>
    <p:sldId id="398" r:id="rId68"/>
    <p:sldId id="399" r:id="rId69"/>
    <p:sldId id="400" r:id="rId70"/>
    <p:sldId id="401" r:id="rId71"/>
    <p:sldId id="402" r:id="rId72"/>
    <p:sldId id="403" r:id="rId73"/>
    <p:sldId id="404" r:id="rId74"/>
    <p:sldId id="405" r:id="rId75"/>
    <p:sldId id="406" r:id="rId76"/>
    <p:sldId id="407" r:id="rId77"/>
    <p:sldId id="321"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D8AEEE-C672-48E4-A886-F877F8016921}" v="49" dt="2025-08-06T17:37:24.470"/>
  </p1510:revLst>
</p1510:revInfo>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94" autoAdjust="0"/>
  </p:normalViewPr>
  <p:slideViewPr>
    <p:cSldViewPr snapToGrid="0">
      <p:cViewPr varScale="1">
        <p:scale>
          <a:sx n="75" d="100"/>
          <a:sy n="75" d="100"/>
        </p:scale>
        <p:origin x="902" y="48"/>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vi Singh" userId="951164a6f91b2256" providerId="LiveId" clId="{7ED8AEEE-C672-48E4-A886-F877F8016921}"/>
    <pc:docChg chg="undo custSel addSld modSld">
      <pc:chgData name="Manvi Singh" userId="951164a6f91b2256" providerId="LiveId" clId="{7ED8AEEE-C672-48E4-A886-F877F8016921}" dt="2025-08-06T17:38:16.488" v="824" actId="478"/>
      <pc:docMkLst>
        <pc:docMk/>
      </pc:docMkLst>
      <pc:sldChg chg="addSp delSp modSp mod">
        <pc:chgData name="Manvi Singh" userId="951164a6f91b2256" providerId="LiveId" clId="{7ED8AEEE-C672-48E4-A886-F877F8016921}" dt="2025-08-06T17:38:16.488" v="824" actId="478"/>
        <pc:sldMkLst>
          <pc:docMk/>
          <pc:sldMk cId="1315345950" sldId="321"/>
        </pc:sldMkLst>
        <pc:spChg chg="del">
          <ac:chgData name="Manvi Singh" userId="951164a6f91b2256" providerId="LiveId" clId="{7ED8AEEE-C672-48E4-A886-F877F8016921}" dt="2025-08-06T17:38:16.488" v="824" actId="478"/>
          <ac:spMkLst>
            <pc:docMk/>
            <pc:sldMk cId="1315345950" sldId="321"/>
            <ac:spMk id="3" creationId="{360A4C54-B3B2-4B02-A340-C72E57FEE5FE}"/>
          </ac:spMkLst>
        </pc:spChg>
        <pc:spChg chg="add mod">
          <ac:chgData name="Manvi Singh" userId="951164a6f91b2256" providerId="LiveId" clId="{7ED8AEEE-C672-48E4-A886-F877F8016921}" dt="2025-08-06T17:38:16.488" v="824" actId="478"/>
          <ac:spMkLst>
            <pc:docMk/>
            <pc:sldMk cId="1315345950" sldId="321"/>
            <ac:spMk id="5" creationId="{A125B666-A780-2FBB-0089-6E8E66971B53}"/>
          </ac:spMkLst>
        </pc:spChg>
      </pc:sldChg>
      <pc:sldChg chg="modSp new mod">
        <pc:chgData name="Manvi Singh" userId="951164a6f91b2256" providerId="LiveId" clId="{7ED8AEEE-C672-48E4-A886-F877F8016921}" dt="2025-08-06T13:03:58.044" v="22" actId="20577"/>
        <pc:sldMkLst>
          <pc:docMk/>
          <pc:sldMk cId="2195150151" sldId="377"/>
        </pc:sldMkLst>
        <pc:spChg chg="mod">
          <ac:chgData name="Manvi Singh" userId="951164a6f91b2256" providerId="LiveId" clId="{7ED8AEEE-C672-48E4-A886-F877F8016921}" dt="2025-08-06T13:01:04.615" v="1"/>
          <ac:spMkLst>
            <pc:docMk/>
            <pc:sldMk cId="2195150151" sldId="377"/>
            <ac:spMk id="2" creationId="{E78EE17A-0449-B28A-D288-6522EAEC1E7D}"/>
          </ac:spMkLst>
        </pc:spChg>
        <pc:spChg chg="mod">
          <ac:chgData name="Manvi Singh" userId="951164a6f91b2256" providerId="LiveId" clId="{7ED8AEEE-C672-48E4-A886-F877F8016921}" dt="2025-08-06T13:03:58.044" v="22" actId="20577"/>
          <ac:spMkLst>
            <pc:docMk/>
            <pc:sldMk cId="2195150151" sldId="377"/>
            <ac:spMk id="3" creationId="{593381D3-5DC8-AFDD-AD85-AF686DE4CE77}"/>
          </ac:spMkLst>
        </pc:spChg>
      </pc:sldChg>
      <pc:sldChg chg="delSp modSp new mod">
        <pc:chgData name="Manvi Singh" userId="951164a6f91b2256" providerId="LiveId" clId="{7ED8AEEE-C672-48E4-A886-F877F8016921}" dt="2025-08-06T13:05:01.517" v="27" actId="1076"/>
        <pc:sldMkLst>
          <pc:docMk/>
          <pc:sldMk cId="928514840" sldId="378"/>
        </pc:sldMkLst>
        <pc:spChg chg="del">
          <ac:chgData name="Manvi Singh" userId="951164a6f91b2256" providerId="LiveId" clId="{7ED8AEEE-C672-48E4-A886-F877F8016921}" dt="2025-08-06T13:04:12.013" v="24" actId="478"/>
          <ac:spMkLst>
            <pc:docMk/>
            <pc:sldMk cId="928514840" sldId="378"/>
            <ac:spMk id="2" creationId="{E7C76849-8ED4-0065-2C4E-EFB8F0B39734}"/>
          </ac:spMkLst>
        </pc:spChg>
        <pc:spChg chg="mod">
          <ac:chgData name="Manvi Singh" userId="951164a6f91b2256" providerId="LiveId" clId="{7ED8AEEE-C672-48E4-A886-F877F8016921}" dt="2025-08-06T13:05:01.517" v="27" actId="1076"/>
          <ac:spMkLst>
            <pc:docMk/>
            <pc:sldMk cId="928514840" sldId="378"/>
            <ac:spMk id="3" creationId="{C14B1F7D-3258-7A1D-D0D6-3553C1D7E78F}"/>
          </ac:spMkLst>
        </pc:spChg>
      </pc:sldChg>
      <pc:sldChg chg="delSp modSp new mod">
        <pc:chgData name="Manvi Singh" userId="951164a6f91b2256" providerId="LiveId" clId="{7ED8AEEE-C672-48E4-A886-F877F8016921}" dt="2025-08-06T13:10:40.021" v="66" actId="5793"/>
        <pc:sldMkLst>
          <pc:docMk/>
          <pc:sldMk cId="1933094025" sldId="379"/>
        </pc:sldMkLst>
        <pc:spChg chg="del">
          <ac:chgData name="Manvi Singh" userId="951164a6f91b2256" providerId="LiveId" clId="{7ED8AEEE-C672-48E4-A886-F877F8016921}" dt="2025-08-06T13:08:40.552" v="29" actId="478"/>
          <ac:spMkLst>
            <pc:docMk/>
            <pc:sldMk cId="1933094025" sldId="379"/>
            <ac:spMk id="2" creationId="{22427202-BFBF-0D05-EED3-5A55706DDEDA}"/>
          </ac:spMkLst>
        </pc:spChg>
        <pc:spChg chg="mod">
          <ac:chgData name="Manvi Singh" userId="951164a6f91b2256" providerId="LiveId" clId="{7ED8AEEE-C672-48E4-A886-F877F8016921}" dt="2025-08-06T13:10:40.021" v="66" actId="5793"/>
          <ac:spMkLst>
            <pc:docMk/>
            <pc:sldMk cId="1933094025" sldId="379"/>
            <ac:spMk id="3" creationId="{7E11CDC6-1A88-88A1-5880-B3BDF69B1D57}"/>
          </ac:spMkLst>
        </pc:spChg>
      </pc:sldChg>
      <pc:sldChg chg="delSp modSp new mod">
        <pc:chgData name="Manvi Singh" userId="951164a6f91b2256" providerId="LiveId" clId="{7ED8AEEE-C672-48E4-A886-F877F8016921}" dt="2025-08-06T13:12:25.689" v="107" actId="20577"/>
        <pc:sldMkLst>
          <pc:docMk/>
          <pc:sldMk cId="1322056249" sldId="380"/>
        </pc:sldMkLst>
        <pc:spChg chg="del">
          <ac:chgData name="Manvi Singh" userId="951164a6f91b2256" providerId="LiveId" clId="{7ED8AEEE-C672-48E4-A886-F877F8016921}" dt="2025-08-06T13:10:51.059" v="68" actId="478"/>
          <ac:spMkLst>
            <pc:docMk/>
            <pc:sldMk cId="1322056249" sldId="380"/>
            <ac:spMk id="2" creationId="{040D5695-AA82-D9F0-2C67-3744F66CD537}"/>
          </ac:spMkLst>
        </pc:spChg>
        <pc:spChg chg="mod">
          <ac:chgData name="Manvi Singh" userId="951164a6f91b2256" providerId="LiveId" clId="{7ED8AEEE-C672-48E4-A886-F877F8016921}" dt="2025-08-06T13:12:25.689" v="107" actId="20577"/>
          <ac:spMkLst>
            <pc:docMk/>
            <pc:sldMk cId="1322056249" sldId="380"/>
            <ac:spMk id="3" creationId="{C4A5517F-6892-21F9-9247-79E439B31218}"/>
          </ac:spMkLst>
        </pc:spChg>
      </pc:sldChg>
      <pc:sldChg chg="delSp modSp new mod">
        <pc:chgData name="Manvi Singh" userId="951164a6f91b2256" providerId="LiveId" clId="{7ED8AEEE-C672-48E4-A886-F877F8016921}" dt="2025-08-06T13:14:58.155" v="136" actId="1076"/>
        <pc:sldMkLst>
          <pc:docMk/>
          <pc:sldMk cId="314347608" sldId="381"/>
        </pc:sldMkLst>
        <pc:spChg chg="del">
          <ac:chgData name="Manvi Singh" userId="951164a6f91b2256" providerId="LiveId" clId="{7ED8AEEE-C672-48E4-A886-F877F8016921}" dt="2025-08-06T13:12:36.414" v="109" actId="478"/>
          <ac:spMkLst>
            <pc:docMk/>
            <pc:sldMk cId="314347608" sldId="381"/>
            <ac:spMk id="2" creationId="{0AA036F6-6BC1-9DB5-9000-2C0EEA17F48D}"/>
          </ac:spMkLst>
        </pc:spChg>
        <pc:spChg chg="mod">
          <ac:chgData name="Manvi Singh" userId="951164a6f91b2256" providerId="LiveId" clId="{7ED8AEEE-C672-48E4-A886-F877F8016921}" dt="2025-08-06T13:14:58.155" v="136" actId="1076"/>
          <ac:spMkLst>
            <pc:docMk/>
            <pc:sldMk cId="314347608" sldId="381"/>
            <ac:spMk id="3" creationId="{EE8967B5-0439-0363-200F-9ABC2CAFD10C}"/>
          </ac:spMkLst>
        </pc:spChg>
      </pc:sldChg>
      <pc:sldChg chg="delSp modSp new mod">
        <pc:chgData name="Manvi Singh" userId="951164a6f91b2256" providerId="LiveId" clId="{7ED8AEEE-C672-48E4-A886-F877F8016921}" dt="2025-08-06T13:17:02.281" v="190" actId="20577"/>
        <pc:sldMkLst>
          <pc:docMk/>
          <pc:sldMk cId="1133532850" sldId="382"/>
        </pc:sldMkLst>
        <pc:spChg chg="del">
          <ac:chgData name="Manvi Singh" userId="951164a6f91b2256" providerId="LiveId" clId="{7ED8AEEE-C672-48E4-A886-F877F8016921}" dt="2025-08-06T13:15:07.650" v="138" actId="21"/>
          <ac:spMkLst>
            <pc:docMk/>
            <pc:sldMk cId="1133532850" sldId="382"/>
            <ac:spMk id="2" creationId="{91DA28B4-70BF-0110-F1DD-6651AE84069E}"/>
          </ac:spMkLst>
        </pc:spChg>
        <pc:spChg chg="mod">
          <ac:chgData name="Manvi Singh" userId="951164a6f91b2256" providerId="LiveId" clId="{7ED8AEEE-C672-48E4-A886-F877F8016921}" dt="2025-08-06T13:17:02.281" v="190" actId="20577"/>
          <ac:spMkLst>
            <pc:docMk/>
            <pc:sldMk cId="1133532850" sldId="382"/>
            <ac:spMk id="3" creationId="{DE8FF811-5F4A-4DEE-EB33-881220A4D44D}"/>
          </ac:spMkLst>
        </pc:spChg>
      </pc:sldChg>
      <pc:sldChg chg="delSp modSp new mod">
        <pc:chgData name="Manvi Singh" userId="951164a6f91b2256" providerId="LiveId" clId="{7ED8AEEE-C672-48E4-A886-F877F8016921}" dt="2025-08-06T13:18:51.605" v="214" actId="14100"/>
        <pc:sldMkLst>
          <pc:docMk/>
          <pc:sldMk cId="2062057487" sldId="383"/>
        </pc:sldMkLst>
        <pc:spChg chg="del">
          <ac:chgData name="Manvi Singh" userId="951164a6f91b2256" providerId="LiveId" clId="{7ED8AEEE-C672-48E4-A886-F877F8016921}" dt="2025-08-06T13:17:12.097" v="192" actId="478"/>
          <ac:spMkLst>
            <pc:docMk/>
            <pc:sldMk cId="2062057487" sldId="383"/>
            <ac:spMk id="2" creationId="{17D29429-A174-C428-6C15-1ACC7D61CB81}"/>
          </ac:spMkLst>
        </pc:spChg>
        <pc:spChg chg="mod">
          <ac:chgData name="Manvi Singh" userId="951164a6f91b2256" providerId="LiveId" clId="{7ED8AEEE-C672-48E4-A886-F877F8016921}" dt="2025-08-06T13:18:51.605" v="214" actId="14100"/>
          <ac:spMkLst>
            <pc:docMk/>
            <pc:sldMk cId="2062057487" sldId="383"/>
            <ac:spMk id="3" creationId="{59C916C3-296E-3CA5-473F-03838CD0B80A}"/>
          </ac:spMkLst>
        </pc:spChg>
      </pc:sldChg>
      <pc:sldChg chg="delSp modSp new mod">
        <pc:chgData name="Manvi Singh" userId="951164a6f91b2256" providerId="LiveId" clId="{7ED8AEEE-C672-48E4-A886-F877F8016921}" dt="2025-08-06T13:19:40.955" v="292" actId="1076"/>
        <pc:sldMkLst>
          <pc:docMk/>
          <pc:sldMk cId="41299392" sldId="384"/>
        </pc:sldMkLst>
        <pc:spChg chg="del">
          <ac:chgData name="Manvi Singh" userId="951164a6f91b2256" providerId="LiveId" clId="{7ED8AEEE-C672-48E4-A886-F877F8016921}" dt="2025-08-06T13:19:01.267" v="216" actId="478"/>
          <ac:spMkLst>
            <pc:docMk/>
            <pc:sldMk cId="41299392" sldId="384"/>
            <ac:spMk id="2" creationId="{4B93A9CA-786F-DBAA-A6EE-DF0E42CB24A6}"/>
          </ac:spMkLst>
        </pc:spChg>
        <pc:spChg chg="mod">
          <ac:chgData name="Manvi Singh" userId="951164a6f91b2256" providerId="LiveId" clId="{7ED8AEEE-C672-48E4-A886-F877F8016921}" dt="2025-08-06T13:19:40.955" v="292" actId="1076"/>
          <ac:spMkLst>
            <pc:docMk/>
            <pc:sldMk cId="41299392" sldId="384"/>
            <ac:spMk id="3" creationId="{BAC53FF6-0A64-3DA0-73D5-873602CE7CE1}"/>
          </ac:spMkLst>
        </pc:spChg>
      </pc:sldChg>
      <pc:sldChg chg="delSp modSp new mod">
        <pc:chgData name="Manvi Singh" userId="951164a6f91b2256" providerId="LiveId" clId="{7ED8AEEE-C672-48E4-A886-F877F8016921}" dt="2025-08-06T13:22:44.379" v="341" actId="20577"/>
        <pc:sldMkLst>
          <pc:docMk/>
          <pc:sldMk cId="2731526935" sldId="385"/>
        </pc:sldMkLst>
        <pc:spChg chg="del">
          <ac:chgData name="Manvi Singh" userId="951164a6f91b2256" providerId="LiveId" clId="{7ED8AEEE-C672-48E4-A886-F877F8016921}" dt="2025-08-06T13:20:04.684" v="294" actId="478"/>
          <ac:spMkLst>
            <pc:docMk/>
            <pc:sldMk cId="2731526935" sldId="385"/>
            <ac:spMk id="2" creationId="{5CED966F-9D61-2794-0518-0E1807883343}"/>
          </ac:spMkLst>
        </pc:spChg>
        <pc:spChg chg="mod">
          <ac:chgData name="Manvi Singh" userId="951164a6f91b2256" providerId="LiveId" clId="{7ED8AEEE-C672-48E4-A886-F877F8016921}" dt="2025-08-06T13:22:44.379" v="341" actId="20577"/>
          <ac:spMkLst>
            <pc:docMk/>
            <pc:sldMk cId="2731526935" sldId="385"/>
            <ac:spMk id="3" creationId="{084D2EB8-5653-B000-BB50-145A595D9BF9}"/>
          </ac:spMkLst>
        </pc:spChg>
      </pc:sldChg>
      <pc:sldChg chg="modSp new mod">
        <pc:chgData name="Manvi Singh" userId="951164a6f91b2256" providerId="LiveId" clId="{7ED8AEEE-C672-48E4-A886-F877F8016921}" dt="2025-08-06T13:20:46.344" v="312" actId="20577"/>
        <pc:sldMkLst>
          <pc:docMk/>
          <pc:sldMk cId="222275317" sldId="386"/>
        </pc:sldMkLst>
        <pc:spChg chg="mod">
          <ac:chgData name="Manvi Singh" userId="951164a6f91b2256" providerId="LiveId" clId="{7ED8AEEE-C672-48E4-A886-F877F8016921}" dt="2025-08-06T13:20:46.344" v="312" actId="20577"/>
          <ac:spMkLst>
            <pc:docMk/>
            <pc:sldMk cId="222275317" sldId="386"/>
            <ac:spMk id="2" creationId="{74677138-F419-083D-9A82-303AC7171914}"/>
          </ac:spMkLst>
        </pc:spChg>
      </pc:sldChg>
      <pc:sldChg chg="modSp new mod">
        <pc:chgData name="Manvi Singh" userId="951164a6f91b2256" providerId="LiveId" clId="{7ED8AEEE-C672-48E4-A886-F877F8016921}" dt="2025-08-06T13:21:03.768" v="325" actId="20577"/>
        <pc:sldMkLst>
          <pc:docMk/>
          <pc:sldMk cId="1653468076" sldId="387"/>
        </pc:sldMkLst>
        <pc:spChg chg="mod">
          <ac:chgData name="Manvi Singh" userId="951164a6f91b2256" providerId="LiveId" clId="{7ED8AEEE-C672-48E4-A886-F877F8016921}" dt="2025-08-06T13:21:03.768" v="325" actId="20577"/>
          <ac:spMkLst>
            <pc:docMk/>
            <pc:sldMk cId="1653468076" sldId="387"/>
            <ac:spMk id="2" creationId="{AF27DF15-68DD-0CC2-EF36-9118865CC645}"/>
          </ac:spMkLst>
        </pc:spChg>
      </pc:sldChg>
      <pc:sldChg chg="delSp modSp new mod">
        <pc:chgData name="Manvi Singh" userId="951164a6f91b2256" providerId="LiveId" clId="{7ED8AEEE-C672-48E4-A886-F877F8016921}" dt="2025-08-06T13:23:56.093" v="355" actId="1076"/>
        <pc:sldMkLst>
          <pc:docMk/>
          <pc:sldMk cId="2812285246" sldId="388"/>
        </pc:sldMkLst>
        <pc:spChg chg="del">
          <ac:chgData name="Manvi Singh" userId="951164a6f91b2256" providerId="LiveId" clId="{7ED8AEEE-C672-48E4-A886-F877F8016921}" dt="2025-08-06T13:23:40.422" v="351" actId="478"/>
          <ac:spMkLst>
            <pc:docMk/>
            <pc:sldMk cId="2812285246" sldId="388"/>
            <ac:spMk id="2" creationId="{345896E3-7BB8-05EE-AE7B-53E08D5FAA9E}"/>
          </ac:spMkLst>
        </pc:spChg>
        <pc:spChg chg="mod">
          <ac:chgData name="Manvi Singh" userId="951164a6f91b2256" providerId="LiveId" clId="{7ED8AEEE-C672-48E4-A886-F877F8016921}" dt="2025-08-06T13:23:56.093" v="355" actId="1076"/>
          <ac:spMkLst>
            <pc:docMk/>
            <pc:sldMk cId="2812285246" sldId="388"/>
            <ac:spMk id="3" creationId="{3E1D6013-101D-2DAC-C8B5-9E041A06BA65}"/>
          </ac:spMkLst>
        </pc:spChg>
      </pc:sldChg>
      <pc:sldChg chg="modSp new mod">
        <pc:chgData name="Manvi Singh" userId="951164a6f91b2256" providerId="LiveId" clId="{7ED8AEEE-C672-48E4-A886-F877F8016921}" dt="2025-08-06T13:26:33.832" v="384" actId="1076"/>
        <pc:sldMkLst>
          <pc:docMk/>
          <pc:sldMk cId="1789947444" sldId="389"/>
        </pc:sldMkLst>
        <pc:spChg chg="mod">
          <ac:chgData name="Manvi Singh" userId="951164a6f91b2256" providerId="LiveId" clId="{7ED8AEEE-C672-48E4-A886-F877F8016921}" dt="2025-08-06T13:26:33.832" v="384" actId="1076"/>
          <ac:spMkLst>
            <pc:docMk/>
            <pc:sldMk cId="1789947444" sldId="389"/>
            <ac:spMk id="2" creationId="{9AAB1175-B773-0D92-E89D-D10A9D464A00}"/>
          </ac:spMkLst>
        </pc:spChg>
        <pc:spChg chg="mod">
          <ac:chgData name="Manvi Singh" userId="951164a6f91b2256" providerId="LiveId" clId="{7ED8AEEE-C672-48E4-A886-F877F8016921}" dt="2025-08-06T13:26:28.295" v="383" actId="27636"/>
          <ac:spMkLst>
            <pc:docMk/>
            <pc:sldMk cId="1789947444" sldId="389"/>
            <ac:spMk id="3" creationId="{FDC4B6F5-325C-13C4-E7A9-D53EA0756529}"/>
          </ac:spMkLst>
        </pc:spChg>
      </pc:sldChg>
      <pc:sldChg chg="delSp modSp new mod">
        <pc:chgData name="Manvi Singh" userId="951164a6f91b2256" providerId="LiveId" clId="{7ED8AEEE-C672-48E4-A886-F877F8016921}" dt="2025-08-06T13:27:55.865" v="410" actId="1076"/>
        <pc:sldMkLst>
          <pc:docMk/>
          <pc:sldMk cId="2950332638" sldId="390"/>
        </pc:sldMkLst>
        <pc:spChg chg="del">
          <ac:chgData name="Manvi Singh" userId="951164a6f91b2256" providerId="LiveId" clId="{7ED8AEEE-C672-48E4-A886-F877F8016921}" dt="2025-08-06T13:26:47.435" v="386" actId="478"/>
          <ac:spMkLst>
            <pc:docMk/>
            <pc:sldMk cId="2950332638" sldId="390"/>
            <ac:spMk id="2" creationId="{520A86B9-5A7D-2CA7-6030-B1CAF2271FFD}"/>
          </ac:spMkLst>
        </pc:spChg>
        <pc:spChg chg="mod">
          <ac:chgData name="Manvi Singh" userId="951164a6f91b2256" providerId="LiveId" clId="{7ED8AEEE-C672-48E4-A886-F877F8016921}" dt="2025-08-06T13:27:55.865" v="410" actId="1076"/>
          <ac:spMkLst>
            <pc:docMk/>
            <pc:sldMk cId="2950332638" sldId="390"/>
            <ac:spMk id="3" creationId="{9DF21A5D-9CA4-3481-2781-C8327091E41D}"/>
          </ac:spMkLst>
        </pc:spChg>
      </pc:sldChg>
      <pc:sldChg chg="delSp modSp new mod">
        <pc:chgData name="Manvi Singh" userId="951164a6f91b2256" providerId="LiveId" clId="{7ED8AEEE-C672-48E4-A886-F877F8016921}" dt="2025-08-06T13:29:52.785" v="448" actId="14100"/>
        <pc:sldMkLst>
          <pc:docMk/>
          <pc:sldMk cId="1272807189" sldId="391"/>
        </pc:sldMkLst>
        <pc:spChg chg="del">
          <ac:chgData name="Manvi Singh" userId="951164a6f91b2256" providerId="LiveId" clId="{7ED8AEEE-C672-48E4-A886-F877F8016921}" dt="2025-08-06T13:28:10.296" v="412" actId="478"/>
          <ac:spMkLst>
            <pc:docMk/>
            <pc:sldMk cId="1272807189" sldId="391"/>
            <ac:spMk id="2" creationId="{C5DE30F4-F0C8-364A-8290-15CD8290C90E}"/>
          </ac:spMkLst>
        </pc:spChg>
        <pc:spChg chg="mod">
          <ac:chgData name="Manvi Singh" userId="951164a6f91b2256" providerId="LiveId" clId="{7ED8AEEE-C672-48E4-A886-F877F8016921}" dt="2025-08-06T13:29:52.785" v="448" actId="14100"/>
          <ac:spMkLst>
            <pc:docMk/>
            <pc:sldMk cId="1272807189" sldId="391"/>
            <ac:spMk id="3" creationId="{3985833C-8EA2-09A5-C020-BF8F577328BB}"/>
          </ac:spMkLst>
        </pc:spChg>
      </pc:sldChg>
      <pc:sldChg chg="delSp modSp new mod">
        <pc:chgData name="Manvi Singh" userId="951164a6f91b2256" providerId="LiveId" clId="{7ED8AEEE-C672-48E4-A886-F877F8016921}" dt="2025-08-06T13:33:50.662" v="485" actId="14100"/>
        <pc:sldMkLst>
          <pc:docMk/>
          <pc:sldMk cId="1346675530" sldId="392"/>
        </pc:sldMkLst>
        <pc:spChg chg="del">
          <ac:chgData name="Manvi Singh" userId="951164a6f91b2256" providerId="LiveId" clId="{7ED8AEEE-C672-48E4-A886-F877F8016921}" dt="2025-08-06T13:30:39.883" v="451" actId="478"/>
          <ac:spMkLst>
            <pc:docMk/>
            <pc:sldMk cId="1346675530" sldId="392"/>
            <ac:spMk id="2" creationId="{D65F5815-8434-3872-43F7-510D9FDCADA3}"/>
          </ac:spMkLst>
        </pc:spChg>
        <pc:spChg chg="mod">
          <ac:chgData name="Manvi Singh" userId="951164a6f91b2256" providerId="LiveId" clId="{7ED8AEEE-C672-48E4-A886-F877F8016921}" dt="2025-08-06T13:33:50.662" v="485" actId="14100"/>
          <ac:spMkLst>
            <pc:docMk/>
            <pc:sldMk cId="1346675530" sldId="392"/>
            <ac:spMk id="3" creationId="{448E7A80-0A03-9DBB-72F7-40CDD3D78400}"/>
          </ac:spMkLst>
        </pc:spChg>
      </pc:sldChg>
      <pc:sldChg chg="delSp modSp new mod">
        <pc:chgData name="Manvi Singh" userId="951164a6f91b2256" providerId="LiveId" clId="{7ED8AEEE-C672-48E4-A886-F877F8016921}" dt="2025-08-06T13:35:34.889" v="515" actId="20577"/>
        <pc:sldMkLst>
          <pc:docMk/>
          <pc:sldMk cId="3557211788" sldId="393"/>
        </pc:sldMkLst>
        <pc:spChg chg="del">
          <ac:chgData name="Manvi Singh" userId="951164a6f91b2256" providerId="LiveId" clId="{7ED8AEEE-C672-48E4-A886-F877F8016921}" dt="2025-08-06T13:33:59.702" v="487" actId="478"/>
          <ac:spMkLst>
            <pc:docMk/>
            <pc:sldMk cId="3557211788" sldId="393"/>
            <ac:spMk id="2" creationId="{0A6E89D4-E6B9-2038-9C69-D23B3CCBAB54}"/>
          </ac:spMkLst>
        </pc:spChg>
        <pc:spChg chg="mod">
          <ac:chgData name="Manvi Singh" userId="951164a6f91b2256" providerId="LiveId" clId="{7ED8AEEE-C672-48E4-A886-F877F8016921}" dt="2025-08-06T13:35:34.889" v="515" actId="20577"/>
          <ac:spMkLst>
            <pc:docMk/>
            <pc:sldMk cId="3557211788" sldId="393"/>
            <ac:spMk id="3" creationId="{2800501E-3ACF-D276-22C4-7FF98EC8D17D}"/>
          </ac:spMkLst>
        </pc:spChg>
      </pc:sldChg>
      <pc:sldChg chg="modSp new mod">
        <pc:chgData name="Manvi Singh" userId="951164a6f91b2256" providerId="LiveId" clId="{7ED8AEEE-C672-48E4-A886-F877F8016921}" dt="2025-08-06T17:23:15.464" v="532" actId="1076"/>
        <pc:sldMkLst>
          <pc:docMk/>
          <pc:sldMk cId="3193323634" sldId="394"/>
        </pc:sldMkLst>
        <pc:spChg chg="mod">
          <ac:chgData name="Manvi Singh" userId="951164a6f91b2256" providerId="LiveId" clId="{7ED8AEEE-C672-48E4-A886-F877F8016921}" dt="2025-08-06T17:23:15.464" v="532" actId="1076"/>
          <ac:spMkLst>
            <pc:docMk/>
            <pc:sldMk cId="3193323634" sldId="394"/>
            <ac:spMk id="2" creationId="{00B87EB8-D147-D6B4-2FCE-28A7136CCFFD}"/>
          </ac:spMkLst>
        </pc:spChg>
        <pc:spChg chg="mod">
          <ac:chgData name="Manvi Singh" userId="951164a6f91b2256" providerId="LiveId" clId="{7ED8AEEE-C672-48E4-A886-F877F8016921}" dt="2025-08-06T17:23:08.736" v="531" actId="20577"/>
          <ac:spMkLst>
            <pc:docMk/>
            <pc:sldMk cId="3193323634" sldId="394"/>
            <ac:spMk id="3" creationId="{9090116D-55DF-8999-5F27-7EE1D604A506}"/>
          </ac:spMkLst>
        </pc:spChg>
      </pc:sldChg>
      <pc:sldChg chg="modSp new mod">
        <pc:chgData name="Manvi Singh" userId="951164a6f91b2256" providerId="LiveId" clId="{7ED8AEEE-C672-48E4-A886-F877F8016921}" dt="2025-08-06T17:25:03.236" v="608" actId="14100"/>
        <pc:sldMkLst>
          <pc:docMk/>
          <pc:sldMk cId="3307555375" sldId="395"/>
        </pc:sldMkLst>
        <pc:spChg chg="mod">
          <ac:chgData name="Manvi Singh" userId="951164a6f91b2256" providerId="LiveId" clId="{7ED8AEEE-C672-48E4-A886-F877F8016921}" dt="2025-08-06T17:23:48.481" v="577" actId="20577"/>
          <ac:spMkLst>
            <pc:docMk/>
            <pc:sldMk cId="3307555375" sldId="395"/>
            <ac:spMk id="2" creationId="{4C0E6261-7D11-A125-365C-2543758660FA}"/>
          </ac:spMkLst>
        </pc:spChg>
        <pc:spChg chg="mod">
          <ac:chgData name="Manvi Singh" userId="951164a6f91b2256" providerId="LiveId" clId="{7ED8AEEE-C672-48E4-A886-F877F8016921}" dt="2025-08-06T17:25:03.236" v="608" actId="14100"/>
          <ac:spMkLst>
            <pc:docMk/>
            <pc:sldMk cId="3307555375" sldId="395"/>
            <ac:spMk id="3" creationId="{42C421D9-1821-7B12-3302-92FB9A104A62}"/>
          </ac:spMkLst>
        </pc:spChg>
      </pc:sldChg>
      <pc:sldChg chg="modSp new mod">
        <pc:chgData name="Manvi Singh" userId="951164a6f91b2256" providerId="LiveId" clId="{7ED8AEEE-C672-48E4-A886-F877F8016921}" dt="2025-08-06T17:26:06.857" v="634" actId="20577"/>
        <pc:sldMkLst>
          <pc:docMk/>
          <pc:sldMk cId="2327857923" sldId="396"/>
        </pc:sldMkLst>
        <pc:spChg chg="mod">
          <ac:chgData name="Manvi Singh" userId="951164a6f91b2256" providerId="LiveId" clId="{7ED8AEEE-C672-48E4-A886-F877F8016921}" dt="2025-08-06T17:25:41.363" v="613" actId="27636"/>
          <ac:spMkLst>
            <pc:docMk/>
            <pc:sldMk cId="2327857923" sldId="396"/>
            <ac:spMk id="2" creationId="{07FB1C9C-7AA8-53B9-D634-D7AE7E61EC9B}"/>
          </ac:spMkLst>
        </pc:spChg>
        <pc:spChg chg="mod">
          <ac:chgData name="Manvi Singh" userId="951164a6f91b2256" providerId="LiveId" clId="{7ED8AEEE-C672-48E4-A886-F877F8016921}" dt="2025-08-06T17:26:06.857" v="634" actId="20577"/>
          <ac:spMkLst>
            <pc:docMk/>
            <pc:sldMk cId="2327857923" sldId="396"/>
            <ac:spMk id="3" creationId="{AA005BA7-D146-5F75-52DA-17DB56196D9A}"/>
          </ac:spMkLst>
        </pc:spChg>
      </pc:sldChg>
      <pc:sldChg chg="modSp new mod">
        <pc:chgData name="Manvi Singh" userId="951164a6f91b2256" providerId="LiveId" clId="{7ED8AEEE-C672-48E4-A886-F877F8016921}" dt="2025-08-06T17:26:51.171" v="648" actId="20577"/>
        <pc:sldMkLst>
          <pc:docMk/>
          <pc:sldMk cId="2678310420" sldId="397"/>
        </pc:sldMkLst>
        <pc:spChg chg="mod">
          <ac:chgData name="Manvi Singh" userId="951164a6f91b2256" providerId="LiveId" clId="{7ED8AEEE-C672-48E4-A886-F877F8016921}" dt="2025-08-06T17:26:39.694" v="639" actId="27636"/>
          <ac:spMkLst>
            <pc:docMk/>
            <pc:sldMk cId="2678310420" sldId="397"/>
            <ac:spMk id="2" creationId="{C0ECB09F-19A4-904F-5E5E-DFD922EFF5C2}"/>
          </ac:spMkLst>
        </pc:spChg>
        <pc:spChg chg="mod">
          <ac:chgData name="Manvi Singh" userId="951164a6f91b2256" providerId="LiveId" clId="{7ED8AEEE-C672-48E4-A886-F877F8016921}" dt="2025-08-06T17:26:51.171" v="648" actId="20577"/>
          <ac:spMkLst>
            <pc:docMk/>
            <pc:sldMk cId="2678310420" sldId="397"/>
            <ac:spMk id="3" creationId="{56E6C6CA-49DF-A52A-B541-32805058F62E}"/>
          </ac:spMkLst>
        </pc:spChg>
      </pc:sldChg>
      <pc:sldChg chg="modSp new mod">
        <pc:chgData name="Manvi Singh" userId="951164a6f91b2256" providerId="LiveId" clId="{7ED8AEEE-C672-48E4-A886-F877F8016921}" dt="2025-08-06T17:27:44.260" v="665" actId="20577"/>
        <pc:sldMkLst>
          <pc:docMk/>
          <pc:sldMk cId="1983931538" sldId="398"/>
        </pc:sldMkLst>
        <pc:spChg chg="mod">
          <ac:chgData name="Manvi Singh" userId="951164a6f91b2256" providerId="LiveId" clId="{7ED8AEEE-C672-48E4-A886-F877F8016921}" dt="2025-08-06T17:27:16.308" v="652"/>
          <ac:spMkLst>
            <pc:docMk/>
            <pc:sldMk cId="1983931538" sldId="398"/>
            <ac:spMk id="2" creationId="{F086FC5C-9198-5963-6A5F-DF17344F2373}"/>
          </ac:spMkLst>
        </pc:spChg>
        <pc:spChg chg="mod">
          <ac:chgData name="Manvi Singh" userId="951164a6f91b2256" providerId="LiveId" clId="{7ED8AEEE-C672-48E4-A886-F877F8016921}" dt="2025-08-06T17:27:44.260" v="665" actId="20577"/>
          <ac:spMkLst>
            <pc:docMk/>
            <pc:sldMk cId="1983931538" sldId="398"/>
            <ac:spMk id="3" creationId="{3FD046E8-F047-F4DE-BDD2-3EE15B899168}"/>
          </ac:spMkLst>
        </pc:spChg>
      </pc:sldChg>
      <pc:sldChg chg="modSp new mod">
        <pc:chgData name="Manvi Singh" userId="951164a6f91b2256" providerId="LiveId" clId="{7ED8AEEE-C672-48E4-A886-F877F8016921}" dt="2025-08-06T17:28:22.692" v="673" actId="27636"/>
        <pc:sldMkLst>
          <pc:docMk/>
          <pc:sldMk cId="2731312974" sldId="399"/>
        </pc:sldMkLst>
        <pc:spChg chg="mod">
          <ac:chgData name="Manvi Singh" userId="951164a6f91b2256" providerId="LiveId" clId="{7ED8AEEE-C672-48E4-A886-F877F8016921}" dt="2025-08-06T17:28:22.692" v="673" actId="27636"/>
          <ac:spMkLst>
            <pc:docMk/>
            <pc:sldMk cId="2731312974" sldId="399"/>
            <ac:spMk id="2" creationId="{A57608E7-B822-D14B-967C-944D322847F0}"/>
          </ac:spMkLst>
        </pc:spChg>
        <pc:spChg chg="mod">
          <ac:chgData name="Manvi Singh" userId="951164a6f91b2256" providerId="LiveId" clId="{7ED8AEEE-C672-48E4-A886-F877F8016921}" dt="2025-08-06T17:28:17.448" v="671" actId="14100"/>
          <ac:spMkLst>
            <pc:docMk/>
            <pc:sldMk cId="2731312974" sldId="399"/>
            <ac:spMk id="3" creationId="{D6717634-7849-5FB0-5FC8-CA73B7C62180}"/>
          </ac:spMkLst>
        </pc:spChg>
      </pc:sldChg>
      <pc:sldChg chg="modSp new mod">
        <pc:chgData name="Manvi Singh" userId="951164a6f91b2256" providerId="LiveId" clId="{7ED8AEEE-C672-48E4-A886-F877F8016921}" dt="2025-08-06T17:29:06.666" v="681" actId="1076"/>
        <pc:sldMkLst>
          <pc:docMk/>
          <pc:sldMk cId="1246249612" sldId="400"/>
        </pc:sldMkLst>
        <pc:spChg chg="mod">
          <ac:chgData name="Manvi Singh" userId="951164a6f91b2256" providerId="LiveId" clId="{7ED8AEEE-C672-48E4-A886-F877F8016921}" dt="2025-08-06T17:29:06.666" v="681" actId="1076"/>
          <ac:spMkLst>
            <pc:docMk/>
            <pc:sldMk cId="1246249612" sldId="400"/>
            <ac:spMk id="2" creationId="{AB5F8857-031B-4F65-26D4-64A9D555DACA}"/>
          </ac:spMkLst>
        </pc:spChg>
        <pc:spChg chg="mod">
          <ac:chgData name="Manvi Singh" userId="951164a6f91b2256" providerId="LiveId" clId="{7ED8AEEE-C672-48E4-A886-F877F8016921}" dt="2025-08-06T17:29:02.895" v="680" actId="14100"/>
          <ac:spMkLst>
            <pc:docMk/>
            <pc:sldMk cId="1246249612" sldId="400"/>
            <ac:spMk id="3" creationId="{AF1615FE-B305-D537-E570-31F607C3D36B}"/>
          </ac:spMkLst>
        </pc:spChg>
      </pc:sldChg>
      <pc:sldChg chg="modSp new mod">
        <pc:chgData name="Manvi Singh" userId="951164a6f91b2256" providerId="LiveId" clId="{7ED8AEEE-C672-48E4-A886-F877F8016921}" dt="2025-08-06T17:30:09.976" v="699" actId="1076"/>
        <pc:sldMkLst>
          <pc:docMk/>
          <pc:sldMk cId="3004771719" sldId="401"/>
        </pc:sldMkLst>
        <pc:spChg chg="mod">
          <ac:chgData name="Manvi Singh" userId="951164a6f91b2256" providerId="LiveId" clId="{7ED8AEEE-C672-48E4-A886-F877F8016921}" dt="2025-08-06T17:30:09.976" v="699" actId="1076"/>
          <ac:spMkLst>
            <pc:docMk/>
            <pc:sldMk cId="3004771719" sldId="401"/>
            <ac:spMk id="2" creationId="{C9776E9B-C475-084A-EC52-90E8B14111DF}"/>
          </ac:spMkLst>
        </pc:spChg>
        <pc:spChg chg="mod">
          <ac:chgData name="Manvi Singh" userId="951164a6f91b2256" providerId="LiveId" clId="{7ED8AEEE-C672-48E4-A886-F877F8016921}" dt="2025-08-06T17:30:04.594" v="698" actId="14100"/>
          <ac:spMkLst>
            <pc:docMk/>
            <pc:sldMk cId="3004771719" sldId="401"/>
            <ac:spMk id="3" creationId="{1F10CC01-C86E-0C6E-3EAD-A38AFA463FE0}"/>
          </ac:spMkLst>
        </pc:spChg>
      </pc:sldChg>
      <pc:sldChg chg="delSp modSp new mod">
        <pc:chgData name="Manvi Singh" userId="951164a6f91b2256" providerId="LiveId" clId="{7ED8AEEE-C672-48E4-A886-F877F8016921}" dt="2025-08-06T17:31:17.744" v="731" actId="27636"/>
        <pc:sldMkLst>
          <pc:docMk/>
          <pc:sldMk cId="2074721322" sldId="402"/>
        </pc:sldMkLst>
        <pc:spChg chg="del">
          <ac:chgData name="Manvi Singh" userId="951164a6f91b2256" providerId="LiveId" clId="{7ED8AEEE-C672-48E4-A886-F877F8016921}" dt="2025-08-06T17:31:14.402" v="729" actId="478"/>
          <ac:spMkLst>
            <pc:docMk/>
            <pc:sldMk cId="2074721322" sldId="402"/>
            <ac:spMk id="2" creationId="{1DBC19E8-3D26-981F-3257-670EFC2AFFC7}"/>
          </ac:spMkLst>
        </pc:spChg>
        <pc:spChg chg="mod">
          <ac:chgData name="Manvi Singh" userId="951164a6f91b2256" providerId="LiveId" clId="{7ED8AEEE-C672-48E4-A886-F877F8016921}" dt="2025-08-06T17:31:17.744" v="731" actId="27636"/>
          <ac:spMkLst>
            <pc:docMk/>
            <pc:sldMk cId="2074721322" sldId="402"/>
            <ac:spMk id="3" creationId="{5274DFB0-F315-52FD-64AD-B2B10E19FED6}"/>
          </ac:spMkLst>
        </pc:spChg>
      </pc:sldChg>
      <pc:sldChg chg="addSp delSp modSp new mod">
        <pc:chgData name="Manvi Singh" userId="951164a6f91b2256" providerId="LiveId" clId="{7ED8AEEE-C672-48E4-A886-F877F8016921}" dt="2025-08-06T17:32:55.407" v="768" actId="20577"/>
        <pc:sldMkLst>
          <pc:docMk/>
          <pc:sldMk cId="3323922964" sldId="403"/>
        </pc:sldMkLst>
        <pc:spChg chg="add del mod">
          <ac:chgData name="Manvi Singh" userId="951164a6f91b2256" providerId="LiveId" clId="{7ED8AEEE-C672-48E4-A886-F877F8016921}" dt="2025-08-06T17:32:28.037" v="763" actId="20577"/>
          <ac:spMkLst>
            <pc:docMk/>
            <pc:sldMk cId="3323922964" sldId="403"/>
            <ac:spMk id="2" creationId="{5BC74A5B-C653-6D7E-528E-7D9FD05B5669}"/>
          </ac:spMkLst>
        </pc:spChg>
        <pc:spChg chg="mod">
          <ac:chgData name="Manvi Singh" userId="951164a6f91b2256" providerId="LiveId" clId="{7ED8AEEE-C672-48E4-A886-F877F8016921}" dt="2025-08-06T17:32:55.407" v="768" actId="20577"/>
          <ac:spMkLst>
            <pc:docMk/>
            <pc:sldMk cId="3323922964" sldId="403"/>
            <ac:spMk id="3" creationId="{17610FE3-068A-5F7D-8309-454E64197895}"/>
          </ac:spMkLst>
        </pc:spChg>
      </pc:sldChg>
      <pc:sldChg chg="delSp modSp new mod">
        <pc:chgData name="Manvi Singh" userId="951164a6f91b2256" providerId="LiveId" clId="{7ED8AEEE-C672-48E4-A886-F877F8016921}" dt="2025-08-06T17:34:19.117" v="778"/>
        <pc:sldMkLst>
          <pc:docMk/>
          <pc:sldMk cId="2844587692" sldId="404"/>
        </pc:sldMkLst>
        <pc:spChg chg="del">
          <ac:chgData name="Manvi Singh" userId="951164a6f91b2256" providerId="LiveId" clId="{7ED8AEEE-C672-48E4-A886-F877F8016921}" dt="2025-08-06T17:33:14.724" v="770" actId="478"/>
          <ac:spMkLst>
            <pc:docMk/>
            <pc:sldMk cId="2844587692" sldId="404"/>
            <ac:spMk id="2" creationId="{8BD50172-4D30-9546-3C74-FBFA1FE28FF8}"/>
          </ac:spMkLst>
        </pc:spChg>
        <pc:spChg chg="mod">
          <ac:chgData name="Manvi Singh" userId="951164a6f91b2256" providerId="LiveId" clId="{7ED8AEEE-C672-48E4-A886-F877F8016921}" dt="2025-08-06T17:34:19.117" v="778"/>
          <ac:spMkLst>
            <pc:docMk/>
            <pc:sldMk cId="2844587692" sldId="404"/>
            <ac:spMk id="3" creationId="{666E9AD7-586C-C54E-8E4F-17BBFC0354BD}"/>
          </ac:spMkLst>
        </pc:spChg>
      </pc:sldChg>
      <pc:sldChg chg="delSp modSp new mod">
        <pc:chgData name="Manvi Singh" userId="951164a6f91b2256" providerId="LiveId" clId="{7ED8AEEE-C672-48E4-A886-F877F8016921}" dt="2025-08-06T17:35:58.675" v="785" actId="14100"/>
        <pc:sldMkLst>
          <pc:docMk/>
          <pc:sldMk cId="2863748675" sldId="405"/>
        </pc:sldMkLst>
        <pc:spChg chg="del">
          <ac:chgData name="Manvi Singh" userId="951164a6f91b2256" providerId="LiveId" clId="{7ED8AEEE-C672-48E4-A886-F877F8016921}" dt="2025-08-06T17:35:20.960" v="780" actId="478"/>
          <ac:spMkLst>
            <pc:docMk/>
            <pc:sldMk cId="2863748675" sldId="405"/>
            <ac:spMk id="2" creationId="{8C46A029-FC34-4E45-65B0-4732249A4157}"/>
          </ac:spMkLst>
        </pc:spChg>
        <pc:spChg chg="mod">
          <ac:chgData name="Manvi Singh" userId="951164a6f91b2256" providerId="LiveId" clId="{7ED8AEEE-C672-48E4-A886-F877F8016921}" dt="2025-08-06T17:35:58.675" v="785" actId="14100"/>
          <ac:spMkLst>
            <pc:docMk/>
            <pc:sldMk cId="2863748675" sldId="405"/>
            <ac:spMk id="3" creationId="{A23D0D35-B6A4-614E-DD29-C5515F80FB6F}"/>
          </ac:spMkLst>
        </pc:spChg>
      </pc:sldChg>
      <pc:sldChg chg="modSp new mod">
        <pc:chgData name="Manvi Singh" userId="951164a6f91b2256" providerId="LiveId" clId="{7ED8AEEE-C672-48E4-A886-F877F8016921}" dt="2025-08-06T17:36:56.122" v="803" actId="1076"/>
        <pc:sldMkLst>
          <pc:docMk/>
          <pc:sldMk cId="1191483990" sldId="406"/>
        </pc:sldMkLst>
        <pc:spChg chg="mod">
          <ac:chgData name="Manvi Singh" userId="951164a6f91b2256" providerId="LiveId" clId="{7ED8AEEE-C672-48E4-A886-F877F8016921}" dt="2025-08-06T17:36:56.122" v="803" actId="1076"/>
          <ac:spMkLst>
            <pc:docMk/>
            <pc:sldMk cId="1191483990" sldId="406"/>
            <ac:spMk id="2" creationId="{DCEA122D-C1F7-4E65-B367-04F787A9874C}"/>
          </ac:spMkLst>
        </pc:spChg>
        <pc:spChg chg="mod">
          <ac:chgData name="Manvi Singh" userId="951164a6f91b2256" providerId="LiveId" clId="{7ED8AEEE-C672-48E4-A886-F877F8016921}" dt="2025-08-06T17:36:52.367" v="802" actId="14100"/>
          <ac:spMkLst>
            <pc:docMk/>
            <pc:sldMk cId="1191483990" sldId="406"/>
            <ac:spMk id="3" creationId="{62EE2DDC-F1EC-DB5B-A807-381ECA5F89EC}"/>
          </ac:spMkLst>
        </pc:spChg>
      </pc:sldChg>
      <pc:sldChg chg="delSp modSp new mod">
        <pc:chgData name="Manvi Singh" userId="951164a6f91b2256" providerId="LiveId" clId="{7ED8AEEE-C672-48E4-A886-F877F8016921}" dt="2025-08-06T17:38:02.649" v="823" actId="14100"/>
        <pc:sldMkLst>
          <pc:docMk/>
          <pc:sldMk cId="796021742" sldId="407"/>
        </pc:sldMkLst>
        <pc:spChg chg="del">
          <ac:chgData name="Manvi Singh" userId="951164a6f91b2256" providerId="LiveId" clId="{7ED8AEEE-C672-48E4-A886-F877F8016921}" dt="2025-08-06T17:37:03.768" v="805" actId="478"/>
          <ac:spMkLst>
            <pc:docMk/>
            <pc:sldMk cId="796021742" sldId="407"/>
            <ac:spMk id="2" creationId="{CF5FA4FF-0E25-805E-7CDE-F0689BE9760B}"/>
          </ac:spMkLst>
        </pc:spChg>
        <pc:spChg chg="mod">
          <ac:chgData name="Manvi Singh" userId="951164a6f91b2256" providerId="LiveId" clId="{7ED8AEEE-C672-48E4-A886-F877F8016921}" dt="2025-08-06T17:38:02.649" v="823" actId="14100"/>
          <ac:spMkLst>
            <pc:docMk/>
            <pc:sldMk cId="796021742" sldId="407"/>
            <ac:spMk id="3" creationId="{40D58AFA-036D-490C-337A-1AE9BB098B3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8/6/2025</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8/6/2025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a:t>
            </a:fld>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a:t>
            </a:fld>
            <a:endParaRPr lang="en-US" dirty="0"/>
          </a:p>
        </p:txBody>
      </p:sp>
    </p:spTree>
    <p:extLst>
      <p:ext uri="{BB962C8B-B14F-4D97-AF65-F5344CB8AC3E}">
        <p14:creationId xmlns:p14="http://schemas.microsoft.com/office/powerpoint/2010/main" val="152021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3495839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EB35-A750-B836-BED2-301070134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A588B-42BC-D078-3B74-727753B52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A706B9-CC4C-F814-F903-19F359481A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28D727-EC38-34D3-3BDD-4A601001CED8}"/>
              </a:ext>
            </a:extLst>
          </p:cNvPr>
          <p:cNvSpPr>
            <a:spLocks noGrp="1"/>
          </p:cNvSpPr>
          <p:nvPr>
            <p:ph type="sldNum" sz="quarter" idx="5"/>
          </p:nvPr>
        </p:nvSpPr>
        <p:spPr/>
        <p:txBody>
          <a:bodyPr/>
          <a:lstStyle/>
          <a:p>
            <a:fld id="{0DC92804-03A6-47F6-A893-4DDB8903A808}" type="slidenum">
              <a:rPr lang="en-US" smtClean="0"/>
              <a:t>5</a:t>
            </a:fld>
            <a:endParaRPr lang="en-US" dirty="0"/>
          </a:p>
        </p:txBody>
      </p:sp>
    </p:spTree>
    <p:extLst>
      <p:ext uri="{BB962C8B-B14F-4D97-AF65-F5344CB8AC3E}">
        <p14:creationId xmlns:p14="http://schemas.microsoft.com/office/powerpoint/2010/main" val="3539155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CC17B-8D49-9FFC-6302-4E0C4928C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D98D9-1CB2-1692-2526-3BCBD6B6D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7A9A1-66A6-080A-7E53-18FB07920F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B0D9B-1BB3-2929-77B1-7355CBD26C80}"/>
              </a:ext>
            </a:extLst>
          </p:cNvPr>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624391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1838977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74AB6-96B4-6ADB-4FD7-0F9E9445D2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C55C1-A222-02EC-A0A5-02FF08FBC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D642D-7A07-D344-AF7A-2F321FBCD0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1FC9F0-730C-C2B8-8000-C5290143676A}"/>
              </a:ext>
            </a:extLst>
          </p:cNvPr>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2673642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E9C5-A38A-0D99-DDA2-91AD8826B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E4DAE-2A49-8080-347B-5A69900BD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2128F-A80B-E4FA-6464-87F9B278C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59A314-AAD4-552C-A25D-BD06C6DE30C5}"/>
              </a:ext>
            </a:extLst>
          </p:cNvPr>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2127652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9BD07-3776-69E0-DB6A-F904D6099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CB18D-69DE-63D7-5546-2724F4D73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0AEF6-7C92-04C6-566E-DB33168100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885AAD-FAFA-D1AC-2461-24D8C872C235}"/>
              </a:ext>
            </a:extLst>
          </p:cNvPr>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2415748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8C602-47E9-8613-0340-EB2895661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D0326-7156-FC2E-F3A3-870F36EBF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BC6D47-AB39-33B1-FAC2-86BC5885D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AAB3D0-5216-D8C4-3257-362143B5CF81}"/>
              </a:ext>
            </a:extLst>
          </p:cNvPr>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457327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3772-AE7F-F2B1-1136-7A0B657AF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B2A56-F621-C8E8-DBDC-4D4008A9D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2B763-E067-7661-B0F5-DD49AB6D3B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C78F54-1359-1AAF-DD37-5844F7DA7F46}"/>
              </a:ext>
            </a:extLst>
          </p:cNvPr>
          <p:cNvSpPr>
            <a:spLocks noGrp="1"/>
          </p:cNvSpPr>
          <p:nvPr>
            <p:ph type="sldNum" sz="quarter" idx="5"/>
          </p:nvPr>
        </p:nvSpPr>
        <p:spPr/>
        <p:txBody>
          <a:bodyPr/>
          <a:lstStyle/>
          <a:p>
            <a:fld id="{0DC92804-03A6-47F6-A893-4DDB8903A808}" type="slidenum">
              <a:rPr lang="en-US" smtClean="0"/>
              <a:t>12</a:t>
            </a:fld>
            <a:endParaRPr lang="en-US" dirty="0"/>
          </a:p>
        </p:txBody>
      </p:sp>
    </p:spTree>
    <p:extLst>
      <p:ext uri="{BB962C8B-B14F-4D97-AF65-F5344CB8AC3E}">
        <p14:creationId xmlns:p14="http://schemas.microsoft.com/office/powerpoint/2010/main" val="3874844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CBD7F-53AA-71DF-DE0D-01BEBB8BD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67338-A875-CFDF-1E71-AAB3D4C30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80835-11C9-2FA8-22F1-EEADF22EB8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18AF4-0DE5-F99B-F0BC-B40A7D7932A5}"/>
              </a:ext>
            </a:extLst>
          </p:cNvPr>
          <p:cNvSpPr>
            <a:spLocks noGrp="1"/>
          </p:cNvSpPr>
          <p:nvPr>
            <p:ph type="sldNum" sz="quarter" idx="5"/>
          </p:nvPr>
        </p:nvSpPr>
        <p:spPr/>
        <p:txBody>
          <a:bodyPr/>
          <a:lstStyle/>
          <a:p>
            <a:fld id="{0DC92804-03A6-47F6-A893-4DDB8903A808}" type="slidenum">
              <a:rPr lang="en-US" smtClean="0"/>
              <a:t>13</a:t>
            </a:fld>
            <a:endParaRPr lang="en-US" dirty="0"/>
          </a:p>
        </p:txBody>
      </p:sp>
    </p:spTree>
    <p:extLst>
      <p:ext uri="{BB962C8B-B14F-4D97-AF65-F5344CB8AC3E}">
        <p14:creationId xmlns:p14="http://schemas.microsoft.com/office/powerpoint/2010/main" val="3891336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16</a:t>
            </a:fld>
            <a:endParaRPr lang="en-US" dirty="0"/>
          </a:p>
        </p:txBody>
      </p:sp>
    </p:spTree>
    <p:extLst>
      <p:ext uri="{BB962C8B-B14F-4D97-AF65-F5344CB8AC3E}">
        <p14:creationId xmlns:p14="http://schemas.microsoft.com/office/powerpoint/2010/main" val="3046034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04943-612F-1C62-B381-CE49008A9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07E0D-5585-3C68-8501-EC94608F5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0BA99-B8CF-0C51-D4E3-DE5B4CA6E3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DA7B0C-0EB8-1C06-40E8-7F5E7D99F616}"/>
              </a:ext>
            </a:extLst>
          </p:cNvPr>
          <p:cNvSpPr>
            <a:spLocks noGrp="1"/>
          </p:cNvSpPr>
          <p:nvPr>
            <p:ph type="sldNum" sz="quarter" idx="5"/>
          </p:nvPr>
        </p:nvSpPr>
        <p:spPr/>
        <p:txBody>
          <a:bodyPr/>
          <a:lstStyle/>
          <a:p>
            <a:fld id="{0DC92804-03A6-47F6-A893-4DDB8903A808}" type="slidenum">
              <a:rPr lang="en-US" smtClean="0"/>
              <a:t>17</a:t>
            </a:fld>
            <a:endParaRPr lang="en-US" dirty="0"/>
          </a:p>
        </p:txBody>
      </p:sp>
    </p:spTree>
    <p:extLst>
      <p:ext uri="{BB962C8B-B14F-4D97-AF65-F5344CB8AC3E}">
        <p14:creationId xmlns:p14="http://schemas.microsoft.com/office/powerpoint/2010/main" val="3964196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882AE-5D16-9C4C-C7EF-85D71FE31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918AF-55E6-00D2-3003-F8F27B196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2B109-90EC-5CA0-E484-AF7063EDFC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B22273-E751-941F-52E0-6476EE4755B0}"/>
              </a:ext>
            </a:extLst>
          </p:cNvPr>
          <p:cNvSpPr>
            <a:spLocks noGrp="1"/>
          </p:cNvSpPr>
          <p:nvPr>
            <p:ph type="sldNum" sz="quarter" idx="5"/>
          </p:nvPr>
        </p:nvSpPr>
        <p:spPr/>
        <p:txBody>
          <a:bodyPr/>
          <a:lstStyle/>
          <a:p>
            <a:fld id="{0DC92804-03A6-47F6-A893-4DDB8903A808}" type="slidenum">
              <a:rPr lang="en-US" smtClean="0"/>
              <a:t>18</a:t>
            </a:fld>
            <a:endParaRPr lang="en-US" dirty="0"/>
          </a:p>
        </p:txBody>
      </p:sp>
    </p:spTree>
    <p:extLst>
      <p:ext uri="{BB962C8B-B14F-4D97-AF65-F5344CB8AC3E}">
        <p14:creationId xmlns:p14="http://schemas.microsoft.com/office/powerpoint/2010/main" val="3006686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971C-A02D-C2EE-A442-4B60F0229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BDFC6-0EA7-F937-9175-23890A5B2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A346F-ADEE-D042-C9E3-78C41B2998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6711C-22CB-D14D-8C57-28E3DB84375A}"/>
              </a:ext>
            </a:extLst>
          </p:cNvPr>
          <p:cNvSpPr>
            <a:spLocks noGrp="1"/>
          </p:cNvSpPr>
          <p:nvPr>
            <p:ph type="sldNum" sz="quarter" idx="5"/>
          </p:nvPr>
        </p:nvSpPr>
        <p:spPr/>
        <p:txBody>
          <a:bodyPr/>
          <a:lstStyle/>
          <a:p>
            <a:fld id="{0DC92804-03A6-47F6-A893-4DDB8903A808}" type="slidenum">
              <a:rPr lang="en-US" smtClean="0"/>
              <a:t>19</a:t>
            </a:fld>
            <a:endParaRPr lang="en-US" dirty="0"/>
          </a:p>
        </p:txBody>
      </p:sp>
    </p:spTree>
    <p:extLst>
      <p:ext uri="{BB962C8B-B14F-4D97-AF65-F5344CB8AC3E}">
        <p14:creationId xmlns:p14="http://schemas.microsoft.com/office/powerpoint/2010/main" val="1928207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C92804-03A6-47F6-A893-4DDB8903A808}" type="slidenum">
              <a:rPr lang="en-US" smtClean="0"/>
              <a:t>69</a:t>
            </a:fld>
            <a:endParaRPr lang="en-US" dirty="0"/>
          </a:p>
        </p:txBody>
      </p:sp>
    </p:spTree>
    <p:extLst>
      <p:ext uri="{BB962C8B-B14F-4D97-AF65-F5344CB8AC3E}">
        <p14:creationId xmlns:p14="http://schemas.microsoft.com/office/powerpoint/2010/main" val="2392213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74</a:t>
            </a:fld>
            <a:endParaRPr lang="en-US" dirty="0"/>
          </a:p>
        </p:txBody>
      </p:sp>
    </p:spTree>
    <p:extLst>
      <p:ext uri="{BB962C8B-B14F-4D97-AF65-F5344CB8AC3E}">
        <p14:creationId xmlns:p14="http://schemas.microsoft.com/office/powerpoint/2010/main" val="4255841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3713768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Rectangle 3">
            <a:extLst>
              <a:ext uri="{FF2B5EF4-FFF2-40B4-BE49-F238E27FC236}">
                <a16:creationId xmlns:a16="http://schemas.microsoft.com/office/drawing/2014/main" id="{39415B1A-CA14-E219-0C7F-0B38B168475A}"/>
              </a:ext>
              <a:ext uri="{C183D7F6-B498-43B3-948B-1728B52AA6E4}">
                <adec:decorative xmlns:adec="http://schemas.microsoft.com/office/drawing/2017/decorative" val="1"/>
              </a:ext>
            </a:extLst>
          </p:cNvPr>
          <p:cNvSpPr/>
          <p:nvPr userDrawn="1"/>
        </p:nvSpPr>
        <p:spPr>
          <a:xfrm>
            <a:off x="6483096" y="1"/>
            <a:ext cx="5013088"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2BA35BB-6689-91C0-7D75-944092B3CDB5}"/>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1949B5-8206-3159-8E9E-E95F2A9AA4EA}"/>
              </a:ext>
              <a:ext uri="{C183D7F6-B498-43B3-948B-1728B52AA6E4}">
                <adec:decorative xmlns:adec="http://schemas.microsoft.com/office/drawing/2017/decorative" val="1"/>
              </a:ext>
            </a:extLst>
          </p:cNvPr>
          <p:cNvCxnSpPr>
            <a:cxnSpLocks/>
          </p:cNvCxnSpPr>
          <p:nvPr userDrawn="1"/>
        </p:nvCxnSpPr>
        <p:spPr>
          <a:xfrm flipV="1">
            <a:off x="6483096"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7BFBC-DA17-6BEB-A937-333E9504DD6D}"/>
              </a:ext>
              <a:ext uri="{C183D7F6-B498-43B3-948B-1728B52AA6E4}">
                <adec:decorative xmlns:adec="http://schemas.microsoft.com/office/drawing/2017/decorative" val="1"/>
              </a:ext>
            </a:extLst>
          </p:cNvPr>
          <p:cNvCxnSpPr>
            <a:cxnSpLocks/>
          </p:cNvCxnSpPr>
          <p:nvPr userDrawn="1"/>
        </p:nvCxnSpPr>
        <p:spPr>
          <a:xfrm flipV="1">
            <a:off x="6363569"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DF9A5C70-EFC4-1BAB-285F-B317FAF4744B}"/>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pic>
        <p:nvPicPr>
          <p:cNvPr id="16" name="Graphic 15">
            <a:extLst>
              <a:ext uri="{FF2B5EF4-FFF2-40B4-BE49-F238E27FC236}">
                <a16:creationId xmlns:a16="http://schemas.microsoft.com/office/drawing/2014/main" id="{C073F905-5A3E-F9EB-B095-7A3A17C1ED33}"/>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249" t="13424" r="28018" b="11087"/>
          <a:stretch/>
        </p:blipFill>
        <p:spPr>
          <a:xfrm>
            <a:off x="6472427" y="0"/>
            <a:ext cx="5023757" cy="6858000"/>
          </a:xfrm>
          <a:prstGeom prst="rect">
            <a:avLst/>
          </a:prstGeom>
        </p:spPr>
      </p:pic>
    </p:spTree>
    <p:extLst>
      <p:ext uri="{BB962C8B-B14F-4D97-AF65-F5344CB8AC3E}">
        <p14:creationId xmlns:p14="http://schemas.microsoft.com/office/powerpoint/2010/main" val="966301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77B93E-437F-D9D6-D3D1-6DE5F025A4CD}"/>
              </a:ext>
              <a:ext uri="{C183D7F6-B498-43B3-948B-1728B52AA6E4}">
                <adec:decorative xmlns:adec="http://schemas.microsoft.com/office/drawing/2017/decorative" val="1"/>
              </a:ext>
            </a:extLst>
          </p:cNvPr>
          <p:cNvSpPr/>
          <p:nvPr userDrawn="1"/>
        </p:nvSpPr>
        <p:spPr>
          <a:xfrm>
            <a:off x="10744200" y="1"/>
            <a:ext cx="75198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B74AAE1C-171A-32A3-E6FD-75252CAB875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796" t="12194" r="49125" b="12256"/>
          <a:stretch/>
        </p:blipFill>
        <p:spPr>
          <a:xfrm>
            <a:off x="10732660" y="-5609"/>
            <a:ext cx="763524" cy="6863608"/>
          </a:xfrm>
          <a:prstGeom prst="rect">
            <a:avLst/>
          </a:prstGeom>
        </p:spPr>
      </p:pic>
      <p:sp>
        <p:nvSpPr>
          <p:cNvPr id="13" name="Title 1">
            <a:extLst>
              <a:ext uri="{FF2B5EF4-FFF2-40B4-BE49-F238E27FC236}">
                <a16:creationId xmlns:a16="http://schemas.microsoft.com/office/drawing/2014/main" id="{F581E4B7-6D97-63BF-7E87-5E71F8BD8C58}"/>
              </a:ext>
            </a:extLst>
          </p:cNvPr>
          <p:cNvSpPr>
            <a:spLocks noGrp="1"/>
          </p:cNvSpPr>
          <p:nvPr>
            <p:ph type="title" hasCustomPrompt="1"/>
          </p:nvPr>
        </p:nvSpPr>
        <p:spPr>
          <a:xfrm>
            <a:off x="422178" y="365125"/>
            <a:ext cx="9733538" cy="1325563"/>
          </a:xfrm>
        </p:spPr>
        <p:txBody>
          <a:bodyPr>
            <a:normAutofit/>
          </a:bodyPr>
          <a:lstStyle>
            <a:lvl1pPr>
              <a:defRPr sz="4400"/>
            </a:lvl1pPr>
          </a:lstStyle>
          <a:p>
            <a:r>
              <a:rPr lang="en-US" dirty="0"/>
              <a:t>Click to add title</a:t>
            </a:r>
          </a:p>
        </p:txBody>
      </p:sp>
      <p:sp>
        <p:nvSpPr>
          <p:cNvPr id="9" name="Content Placeholder 2">
            <a:extLst>
              <a:ext uri="{FF2B5EF4-FFF2-40B4-BE49-F238E27FC236}">
                <a16:creationId xmlns:a16="http://schemas.microsoft.com/office/drawing/2014/main" id="{5B630934-DBD2-4535-961F-B198ABA2D05B}"/>
              </a:ext>
            </a:extLst>
          </p:cNvPr>
          <p:cNvSpPr>
            <a:spLocks noGrp="1"/>
          </p:cNvSpPr>
          <p:nvPr>
            <p:ph idx="1" hasCustomPrompt="1"/>
          </p:nvPr>
        </p:nvSpPr>
        <p:spPr>
          <a:xfrm>
            <a:off x="419106" y="2198915"/>
            <a:ext cx="9741183" cy="3345316"/>
          </a:xfrm>
        </p:spPr>
        <p:txBody>
          <a:bodyPr anchor="t" anchorCtr="0">
            <a:normAutofit/>
          </a:bodyPr>
          <a:lstStyle>
            <a:lvl1pPr marL="0" indent="0">
              <a:buNone/>
              <a:defRPr sz="1800" baseline="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020D2A6-7700-487F-AC7E-A5A2C30DC1BF}"/>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C30D6A-6415-42E1-89E9-EF806C3FE339}"/>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E05DBF26-BAB3-D5FD-5EA7-310263D4CA95}"/>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6940584B-2A03-52F7-B667-9CD1A2BD785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A3C0872-DC48-53B1-8569-7A913D92D8D1}"/>
              </a:ext>
              <a:ext uri="{C183D7F6-B498-43B3-948B-1728B52AA6E4}">
                <adec:decorative xmlns:adec="http://schemas.microsoft.com/office/drawing/2017/decorative" val="1"/>
              </a:ext>
            </a:extLst>
          </p:cNvPr>
          <p:cNvCxnSpPr>
            <a:cxnSpLocks/>
          </p:cNvCxnSpPr>
          <p:nvPr userDrawn="1"/>
        </p:nvCxnSpPr>
        <p:spPr>
          <a:xfrm flipV="1">
            <a:off x="1074420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35D700-0F05-E0E7-FB42-2FC890C26C08}"/>
              </a:ext>
              <a:ext uri="{C183D7F6-B498-43B3-948B-1728B52AA6E4}">
                <adec:decorative xmlns:adec="http://schemas.microsoft.com/office/drawing/2017/decorative" val="1"/>
              </a:ext>
            </a:extLst>
          </p:cNvPr>
          <p:cNvCxnSpPr>
            <a:cxnSpLocks/>
          </p:cNvCxnSpPr>
          <p:nvPr userDrawn="1"/>
        </p:nvCxnSpPr>
        <p:spPr>
          <a:xfrm flipV="1">
            <a:off x="1063077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5C00B3F-62BE-8535-5239-46279DF1B7E6}"/>
              </a:ext>
              <a:ext uri="{C183D7F6-B498-43B3-948B-1728B52AA6E4}">
                <adec:decorative xmlns:adec="http://schemas.microsoft.com/office/drawing/2017/decorative" val="1"/>
              </a:ext>
            </a:extLst>
          </p:cNvPr>
          <p:cNvCxnSpPr>
            <a:cxnSpLocks/>
          </p:cNvCxnSpPr>
          <p:nvPr userDrawn="1"/>
        </p:nvCxnSpPr>
        <p:spPr>
          <a:xfrm>
            <a:off x="0" y="605245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541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31406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two Content 2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7105342"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12" name="Rectangle 11">
            <a:extLst>
              <a:ext uri="{FF2B5EF4-FFF2-40B4-BE49-F238E27FC236}">
                <a16:creationId xmlns:a16="http://schemas.microsoft.com/office/drawing/2014/main" id="{100C4E27-95CA-78A5-BD7A-6109D75C8AE0}"/>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3" name="Content Placeholder 3">
            <a:extLst>
              <a:ext uri="{FF2B5EF4-FFF2-40B4-BE49-F238E27FC236}">
                <a16:creationId xmlns:a16="http://schemas.microsoft.com/office/drawing/2014/main" id="{8AE4F7BC-B724-2456-4104-1C5E254EEF37}"/>
              </a:ext>
            </a:extLst>
          </p:cNvPr>
          <p:cNvSpPr>
            <a:spLocks noGrp="1"/>
          </p:cNvSpPr>
          <p:nvPr>
            <p:ph sz="half" idx="15" hasCustomPrompt="1"/>
          </p:nvPr>
        </p:nvSpPr>
        <p:spPr>
          <a:xfrm>
            <a:off x="422178" y="2198914"/>
            <a:ext cx="6487908"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32285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hasCustomPrompt="1"/>
          </p:nvPr>
        </p:nvSpPr>
        <p:spPr>
          <a:xfrm>
            <a:off x="420623" y="365760"/>
            <a:ext cx="11067089" cy="1325880"/>
          </a:xfrm>
        </p:spPr>
        <p:txBody>
          <a:bodyPr anchor="ctr">
            <a:normAutofit/>
          </a:bodyPr>
          <a:lstStyle>
            <a:lvl1pPr>
              <a:lnSpc>
                <a:spcPts val="2800"/>
              </a:lnSpc>
              <a:spcBef>
                <a:spcPts val="1000"/>
              </a:spcBef>
              <a:defRPr sz="4400" b="0" i="0"/>
            </a:lvl1pPr>
          </a:lstStyle>
          <a:p>
            <a:r>
              <a:rPr lang="en-US" sz="4400" dirty="0"/>
              <a:t>Click to add title </a:t>
            </a:r>
            <a:endParaRPr lang="en-US" dirty="0"/>
          </a:p>
        </p:txBody>
      </p:sp>
      <p:sp>
        <p:nvSpPr>
          <p:cNvPr id="14" name="Rectangle 13">
            <a:extLst>
              <a:ext uri="{FF2B5EF4-FFF2-40B4-BE49-F238E27FC236}">
                <a16:creationId xmlns:a16="http://schemas.microsoft.com/office/drawing/2014/main" id="{CA6BF945-F985-4A89-9868-A82E90E1054D}"/>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8" name="Text Placeholder 7">
            <a:extLst>
              <a:ext uri="{FF2B5EF4-FFF2-40B4-BE49-F238E27FC236}">
                <a16:creationId xmlns:a16="http://schemas.microsoft.com/office/drawing/2014/main" id="{8A7B33CF-0773-56F3-9F3B-1619AA66673B}"/>
              </a:ext>
            </a:extLst>
          </p:cNvPr>
          <p:cNvSpPr>
            <a:spLocks noGrp="1"/>
          </p:cNvSpPr>
          <p:nvPr>
            <p:ph type="body" sz="quarter" idx="11" hasCustomPrompt="1"/>
          </p:nvPr>
        </p:nvSpPr>
        <p:spPr>
          <a:xfrm>
            <a:off x="420624" y="2189377"/>
            <a:ext cx="3568990" cy="3517679"/>
          </a:xfrm>
        </p:spPr>
        <p:txBody>
          <a:bodyPr tIns="0" bIns="0">
            <a:normAutofit/>
          </a:bodyPr>
          <a:lstStyle>
            <a:lvl1pPr>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able Placeholder 3">
            <a:extLst>
              <a:ext uri="{FF2B5EF4-FFF2-40B4-BE49-F238E27FC236}">
                <a16:creationId xmlns:a16="http://schemas.microsoft.com/office/drawing/2014/main" id="{EB4A43A1-5A81-D0D1-BD71-0485EDDD4CC8}"/>
              </a:ext>
            </a:extLst>
          </p:cNvPr>
          <p:cNvSpPr>
            <a:spLocks noGrp="1"/>
          </p:cNvSpPr>
          <p:nvPr>
            <p:ph type="tbl" sz="quarter" idx="10"/>
          </p:nvPr>
        </p:nvSpPr>
        <p:spPr>
          <a:xfrm>
            <a:off x="4501469" y="2189377"/>
            <a:ext cx="6565769" cy="3517686"/>
          </a:xfrm>
        </p:spPr>
        <p:txBody>
          <a:bodyPr/>
          <a:lstStyle>
            <a:lvl1pPr>
              <a:defRPr/>
            </a:lvl1pPr>
          </a:lstStyle>
          <a:p>
            <a:r>
              <a:rPr lang="en-US"/>
              <a:t>Click icon to add table</a:t>
            </a:r>
            <a:endParaRPr lang="en-US" dirty="0"/>
          </a:p>
        </p:txBody>
      </p:sp>
      <p:sp>
        <p:nvSpPr>
          <p:cNvPr id="7" name="Slide Number Placeholder 5">
            <a:extLst>
              <a:ext uri="{FF2B5EF4-FFF2-40B4-BE49-F238E27FC236}">
                <a16:creationId xmlns:a16="http://schemas.microsoft.com/office/drawing/2014/main" id="{E6A39699-E09B-80CC-75A3-1A20865ABB68}"/>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481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9BDEB7A-D103-487A-8C1B-9145FB24B663}"/>
              </a:ext>
            </a:extLst>
          </p:cNvPr>
          <p:cNvSpPr>
            <a:spLocks noGrp="1"/>
          </p:cNvSpPr>
          <p:nvPr>
            <p:ph type="title" hasCustomPrompt="1"/>
          </p:nvPr>
        </p:nvSpPr>
        <p:spPr>
          <a:xfrm>
            <a:off x="422897" y="539496"/>
            <a:ext cx="5228393" cy="2697190"/>
          </a:xfrm>
        </p:spPr>
        <p:txBody>
          <a:bodyPr anchor="b">
            <a:normAutofit/>
          </a:bodyPr>
          <a:lstStyle>
            <a:lvl1pPr>
              <a:defRPr sz="4400"/>
            </a:lvl1pPr>
          </a:lstStyle>
          <a:p>
            <a:r>
              <a:rPr lang="en-US" sz="4800" dirty="0"/>
              <a:t>Click to add title </a:t>
            </a:r>
          </a:p>
        </p:txBody>
      </p:sp>
      <p:sp>
        <p:nvSpPr>
          <p:cNvPr id="8" name="Content Placeholder 2">
            <a:extLst>
              <a:ext uri="{FF2B5EF4-FFF2-40B4-BE49-F238E27FC236}">
                <a16:creationId xmlns:a16="http://schemas.microsoft.com/office/drawing/2014/main" id="{F3017A3E-25F7-41D5-AABB-24D0E2673A63}"/>
              </a:ext>
            </a:extLst>
          </p:cNvPr>
          <p:cNvSpPr>
            <a:spLocks noGrp="1"/>
          </p:cNvSpPr>
          <p:nvPr>
            <p:ph idx="1" hasCustomPrompt="1"/>
          </p:nvPr>
        </p:nvSpPr>
        <p:spPr>
          <a:xfrm>
            <a:off x="422897" y="3354749"/>
            <a:ext cx="5228392" cy="258247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505C0C26-4C66-47DC-B079-5B94C22F15BD}"/>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7E30B1-7066-9D31-7A11-7B81B65DD8BA}"/>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72E672D-C862-C853-0730-15E3C4953D67}"/>
              </a:ext>
            </a:extLst>
          </p:cNvPr>
          <p:cNvSpPr/>
          <p:nvPr userDrawn="1"/>
        </p:nvSpPr>
        <p:spPr>
          <a:xfrm>
            <a:off x="9884230"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910336ED-3DCB-4524-8A3F-9FBBD0B18E8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15F86B-1A6A-ECD5-F63A-4280BADEF7C2}"/>
              </a:ext>
              <a:ext uri="{C183D7F6-B498-43B3-948B-1728B52AA6E4}">
                <adec:decorative xmlns:adec="http://schemas.microsoft.com/office/drawing/2017/decorative" val="1"/>
              </a:ext>
            </a:extLst>
          </p:cNvPr>
          <p:cNvCxnSpPr>
            <a:cxnSpLocks/>
          </p:cNvCxnSpPr>
          <p:nvPr userDrawn="1"/>
        </p:nvCxnSpPr>
        <p:spPr>
          <a:xfrm flipV="1">
            <a:off x="988423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5534F0-444E-1FA5-FC8F-F04505FC0F29}"/>
              </a:ext>
              <a:ext uri="{C183D7F6-B498-43B3-948B-1728B52AA6E4}">
                <adec:decorative xmlns:adec="http://schemas.microsoft.com/office/drawing/2017/decorative" val="1"/>
              </a:ext>
            </a:extLst>
          </p:cNvPr>
          <p:cNvCxnSpPr>
            <a:cxnSpLocks/>
          </p:cNvCxnSpPr>
          <p:nvPr userDrawn="1"/>
        </p:nvCxnSpPr>
        <p:spPr>
          <a:xfrm flipV="1">
            <a:off x="976862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119972F-DA18-8749-FF59-A83CA1E1F4A3}"/>
              </a:ext>
              <a:ext uri="{C183D7F6-B498-43B3-948B-1728B52AA6E4}">
                <adec:decorative xmlns:adec="http://schemas.microsoft.com/office/drawing/2017/decorative" val="1"/>
              </a:ext>
            </a:extLst>
          </p:cNvPr>
          <p:cNvCxnSpPr>
            <a:cxnSpLocks/>
          </p:cNvCxnSpPr>
          <p:nvPr userDrawn="1"/>
        </p:nvCxnSpPr>
        <p:spPr>
          <a:xfrm flipV="1">
            <a:off x="9372495"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67D80A1-B7E7-2F80-975E-2E87C591BB67}"/>
              </a:ext>
            </a:extLst>
          </p:cNvPr>
          <p:cNvSpPr/>
          <p:nvPr userDrawn="1"/>
        </p:nvSpPr>
        <p:spPr>
          <a:xfrm>
            <a:off x="7760541"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a:extLst>
              <a:ext uri="{FF2B5EF4-FFF2-40B4-BE49-F238E27FC236}">
                <a16:creationId xmlns:a16="http://schemas.microsoft.com/office/drawing/2014/main" id="{BE88F6AB-6890-F7DE-7C01-CE237F778605}"/>
              </a:ext>
              <a:ext uri="{C183D7F6-B498-43B3-948B-1728B52AA6E4}">
                <adec:decorative xmlns:adec="http://schemas.microsoft.com/office/drawing/2017/decorative" val="1"/>
              </a:ext>
            </a:extLst>
          </p:cNvPr>
          <p:cNvCxnSpPr>
            <a:cxnSpLocks/>
          </p:cNvCxnSpPr>
          <p:nvPr userDrawn="1"/>
        </p:nvCxnSpPr>
        <p:spPr>
          <a:xfrm flipV="1">
            <a:off x="948135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6575E3-45E3-206E-9037-D8FD562B722A}"/>
              </a:ext>
              <a:ext uri="{C183D7F6-B498-43B3-948B-1728B52AA6E4}">
                <adec:decorative xmlns:adec="http://schemas.microsoft.com/office/drawing/2017/decorative" val="1"/>
              </a:ext>
            </a:extLst>
          </p:cNvPr>
          <p:cNvCxnSpPr>
            <a:cxnSpLocks/>
          </p:cNvCxnSpPr>
          <p:nvPr userDrawn="1"/>
        </p:nvCxnSpPr>
        <p:spPr>
          <a:xfrm flipV="1">
            <a:off x="77605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BE4BC31-600E-ECD3-1E7F-FE4F6F720A6A}"/>
              </a:ext>
              <a:ext uri="{C183D7F6-B498-43B3-948B-1728B52AA6E4}">
                <adec:decorative xmlns:adec="http://schemas.microsoft.com/office/drawing/2017/decorative" val="1"/>
              </a:ext>
            </a:extLst>
          </p:cNvPr>
          <p:cNvCxnSpPr>
            <a:cxnSpLocks/>
          </p:cNvCxnSpPr>
          <p:nvPr userDrawn="1"/>
        </p:nvCxnSpPr>
        <p:spPr>
          <a:xfrm flipV="1">
            <a:off x="7644933"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3F8CA839-B327-1ECD-C35D-02164F5BBD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706" t="12194" r="49126" b="12256"/>
          <a:stretch/>
        </p:blipFill>
        <p:spPr>
          <a:xfrm>
            <a:off x="9884229" y="-5609"/>
            <a:ext cx="1611955" cy="6863608"/>
          </a:xfrm>
          <a:prstGeom prst="rect">
            <a:avLst/>
          </a:prstGeom>
        </p:spPr>
      </p:pic>
      <p:pic>
        <p:nvPicPr>
          <p:cNvPr id="35" name="Graphic 34">
            <a:extLst>
              <a:ext uri="{FF2B5EF4-FFF2-40B4-BE49-F238E27FC236}">
                <a16:creationId xmlns:a16="http://schemas.microsoft.com/office/drawing/2014/main" id="{E1A97957-D274-4D24-1862-D53BF72826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790" t="12194" r="70042" b="12256"/>
          <a:stretch/>
        </p:blipFill>
        <p:spPr>
          <a:xfrm>
            <a:off x="7753789" y="5610"/>
            <a:ext cx="1611955" cy="6863608"/>
          </a:xfrm>
          <a:prstGeom prst="rect">
            <a:avLst/>
          </a:prstGeom>
        </p:spPr>
      </p:pic>
    </p:spTree>
    <p:extLst>
      <p:ext uri="{BB962C8B-B14F-4D97-AF65-F5344CB8AC3E}">
        <p14:creationId xmlns:p14="http://schemas.microsoft.com/office/powerpoint/2010/main" val="3746701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 id="2147483900" r:id="rId17"/>
    <p:sldLayoutId id="2147483902" r:id="rId18"/>
    <p:sldLayoutId id="2147483904" r:id="rId19"/>
    <p:sldLayoutId id="2147483907" r:id="rId20"/>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dirty="0"/>
              <a:t>HEALTH CARE SYSTEMS-II</a:t>
            </a:r>
          </a:p>
        </p:txBody>
      </p:sp>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p:txBody>
          <a:bodyPr/>
          <a:lstStyle/>
          <a:p>
            <a:r>
              <a:rPr lang="en-US" dirty="0"/>
              <a:t>RESOURCES</a:t>
            </a:r>
          </a:p>
        </p:txBody>
      </p:sp>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2</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a:t>
            </a:fld>
            <a:endParaRPr lang="en-US" dirty="0"/>
          </a:p>
        </p:txBody>
      </p:sp>
      <p:sp>
        <p:nvSpPr>
          <p:cNvPr id="5" name="TextBox 4">
            <a:extLst>
              <a:ext uri="{FF2B5EF4-FFF2-40B4-BE49-F238E27FC236}">
                <a16:creationId xmlns:a16="http://schemas.microsoft.com/office/drawing/2014/main" id="{6B7853F2-20BC-6194-3121-FD3668D18144}"/>
              </a:ext>
            </a:extLst>
          </p:cNvPr>
          <p:cNvSpPr txBox="1"/>
          <p:nvPr/>
        </p:nvSpPr>
        <p:spPr>
          <a:xfrm>
            <a:off x="538480" y="2286000"/>
            <a:ext cx="10778937" cy="3970318"/>
          </a:xfrm>
          <a:prstGeom prst="rect">
            <a:avLst/>
          </a:prstGeom>
          <a:noFill/>
        </p:spPr>
        <p:txBody>
          <a:bodyPr wrap="square" rtlCol="0">
            <a:spAutoFit/>
          </a:bodyPr>
          <a:lstStyle/>
          <a:p>
            <a:r>
              <a:rPr lang="en-US" sz="2800" dirty="0"/>
              <a:t>Resources are needed to meet the vast health needs of a community. No nation, however rich, has enough resources to meet all the needs for all health care. Therefore, an assessment of the available resources, their proper allocation and efficient utilization are important considerations for providing efficient health care services. The basic resources for providing health care arc : </a:t>
            </a:r>
          </a:p>
          <a:p>
            <a:r>
              <a:rPr lang="en-US" sz="2800" dirty="0"/>
              <a:t>(</a:t>
            </a:r>
            <a:r>
              <a:rPr lang="en-US" sz="2800" dirty="0" err="1"/>
              <a:t>i</a:t>
            </a:r>
            <a:r>
              <a:rPr lang="en-US" sz="2800" dirty="0"/>
              <a:t>)    Health manpower </a:t>
            </a:r>
          </a:p>
          <a:p>
            <a:r>
              <a:rPr lang="en-US" sz="2800" dirty="0"/>
              <a:t>(ii)   Money and material</a:t>
            </a:r>
          </a:p>
          <a:p>
            <a:r>
              <a:rPr lang="en-US" sz="2800" dirty="0"/>
              <a:t>(iii) Time</a:t>
            </a:r>
            <a:endParaRPr lang="en-IN" sz="2800" dirty="0"/>
          </a:p>
        </p:txBody>
      </p:sp>
    </p:spTree>
    <p:extLst>
      <p:ext uri="{BB962C8B-B14F-4D97-AF65-F5344CB8AC3E}">
        <p14:creationId xmlns:p14="http://schemas.microsoft.com/office/powerpoint/2010/main" val="147630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38AD911-1E7F-17CB-95A2-827CEB8D9114}"/>
              </a:ext>
            </a:extLst>
          </p:cNvPr>
          <p:cNvSpPr txBox="1"/>
          <p:nvPr/>
        </p:nvSpPr>
        <p:spPr>
          <a:xfrm>
            <a:off x="589280" y="396240"/>
            <a:ext cx="11054080" cy="5632311"/>
          </a:xfrm>
          <a:prstGeom prst="rect">
            <a:avLst/>
          </a:prstGeom>
          <a:noFill/>
        </p:spPr>
        <p:txBody>
          <a:bodyPr wrap="square" rtlCol="0">
            <a:spAutoFit/>
          </a:bodyPr>
          <a:lstStyle/>
          <a:p>
            <a:r>
              <a:rPr lang="en-US" sz="4000" b="1" dirty="0"/>
              <a:t>Health manpower </a:t>
            </a:r>
          </a:p>
          <a:p>
            <a:endParaRPr lang="en-US" sz="4000" b="1" dirty="0"/>
          </a:p>
          <a:p>
            <a:pPr marL="457200" indent="-457200">
              <a:buFont typeface="Arial" panose="020B0604020202020204" pitchFamily="34" charset="0"/>
              <a:buChar char="•"/>
            </a:pPr>
            <a:r>
              <a:rPr lang="en-US" sz="2800" dirty="0"/>
              <a:t>The term “health manpower” includes both professional and auxiliary health personnel who are needed to provide the health care. An auxiliary is defined by WHO as “technical worker in a certain field with less than u professional training”. Health manpower requirements of a country are based on:</a:t>
            </a:r>
          </a:p>
          <a:p>
            <a:pPr marL="514350" indent="-514350">
              <a:buFont typeface="+mj-lt"/>
              <a:buAutoNum type="arabicPeriod"/>
            </a:pPr>
            <a:r>
              <a:rPr lang="en-US" sz="2800" dirty="0"/>
              <a:t>health needs and demands of the population</a:t>
            </a:r>
          </a:p>
          <a:p>
            <a:pPr marL="514350" indent="-514350">
              <a:buFont typeface="+mj-lt"/>
              <a:buAutoNum type="arabicPeriod"/>
            </a:pPr>
            <a:r>
              <a:rPr lang="en-US" sz="2800" dirty="0"/>
              <a:t>desired outputs. </a:t>
            </a:r>
          </a:p>
          <a:p>
            <a:pPr marL="457200" indent="-457200">
              <a:buFont typeface="Arial" panose="020B0604020202020204" pitchFamily="34" charset="0"/>
              <a:buChar char="•"/>
            </a:pPr>
            <a:r>
              <a:rPr lang="en-US" sz="2800" dirty="0"/>
              <a:t>The health needs in turn are based on the health situation and health problems and aspirations of the people. Health manpower planning is an important aspect of community health planning. </a:t>
            </a:r>
          </a:p>
        </p:txBody>
      </p:sp>
    </p:spTree>
    <p:extLst>
      <p:ext uri="{BB962C8B-B14F-4D97-AF65-F5344CB8AC3E}">
        <p14:creationId xmlns:p14="http://schemas.microsoft.com/office/powerpoint/2010/main" val="936898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4552F1CF-68AA-447B-B5B0-C65BB72A5D6D}"/>
              </a:ext>
            </a:extLst>
          </p:cNvPr>
          <p:cNvSpPr>
            <a:spLocks noGrp="1"/>
          </p:cNvSpPr>
          <p:nvPr>
            <p:ph type="body" sz="quarter" idx="10"/>
          </p:nvPr>
        </p:nvSpPr>
        <p:spPr>
          <a:xfrm>
            <a:off x="495617" y="1513840"/>
            <a:ext cx="11200765" cy="4368800"/>
          </a:xfrm>
        </p:spPr>
        <p:txBody>
          <a:bodyPr vert="horz" lIns="91440" tIns="45720" rIns="91440" bIns="45720" rtlCol="0" anchor="t">
            <a:normAutofit/>
          </a:bodyPr>
          <a:lstStyle/>
          <a:p>
            <a:pPr marL="457200" indent="-457200">
              <a:buFont typeface="Arial" panose="020B0604020202020204" pitchFamily="34" charset="0"/>
              <a:buChar char="•"/>
            </a:pPr>
            <a:r>
              <a:rPr lang="en-US" sz="2800" dirty="0"/>
              <a:t>It is based on a series of accepted ratios such as doctor-population ratio, nurse population ratio, bed-population ratio, etc. </a:t>
            </a:r>
          </a:p>
          <a:p>
            <a:pPr marL="457200" indent="-457200">
              <a:buFont typeface="Arial" panose="020B0604020202020204" pitchFamily="34" charset="0"/>
              <a:buChar char="•"/>
            </a:pPr>
            <a:r>
              <a:rPr lang="en-US" sz="2800" dirty="0"/>
              <a:t>The country is producing annually, on an average 31,298 allopathic doctors; 9,865 Ayurvedic graduates; 1525 Unani graduates; 320 Siddha graduates and 12785 Homoeopathic graduates.</a:t>
            </a:r>
            <a:endParaRPr lang="en-IN" sz="2800" dirty="0"/>
          </a:p>
          <a:p>
            <a:pPr marL="457200" indent="-457200">
              <a:buFont typeface="Arial" panose="020B0604020202020204" pitchFamily="34" charset="0"/>
              <a:buChar char="•"/>
            </a:pPr>
            <a:r>
              <a:rPr lang="en-US" sz="2800" dirty="0"/>
              <a:t>Health manpower requirements are subject to change, both qualitatively and quantitatively, as new </a:t>
            </a:r>
            <a:r>
              <a:rPr lang="en-US" sz="2800" dirty="0" err="1"/>
              <a:t>programmes</a:t>
            </a:r>
            <a:r>
              <a:rPr lang="en-US" sz="2800" dirty="0"/>
              <a:t>, projects and philosophies are introduced into the health care system. </a:t>
            </a:r>
          </a:p>
        </p:txBody>
      </p:sp>
    </p:spTree>
    <p:extLst>
      <p:ext uri="{BB962C8B-B14F-4D97-AF65-F5344CB8AC3E}">
        <p14:creationId xmlns:p14="http://schemas.microsoft.com/office/powerpoint/2010/main" val="404560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032F0-5867-BA73-18D7-D37242161E64}"/>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907FE166-9DCB-4833-1537-03D5F621759D}"/>
              </a:ext>
            </a:extLst>
          </p:cNvPr>
          <p:cNvSpPr>
            <a:spLocks noGrp="1"/>
          </p:cNvSpPr>
          <p:nvPr>
            <p:ph type="body" sz="quarter" idx="10"/>
          </p:nvPr>
        </p:nvSpPr>
        <p:spPr>
          <a:xfrm>
            <a:off x="422274" y="1493520"/>
            <a:ext cx="11200765" cy="3870960"/>
          </a:xfrm>
        </p:spPr>
        <p:txBody>
          <a:bodyPr vert="horz" lIns="91440" tIns="45720" rIns="91440" bIns="45720" rtlCol="0" anchor="t">
            <a:normAutofit/>
          </a:bodyPr>
          <a:lstStyle/>
          <a:p>
            <a:pPr marL="457200" indent="-457200">
              <a:buFont typeface="Arial" panose="020B0604020202020204" pitchFamily="34" charset="0"/>
              <a:buChar char="•"/>
            </a:pPr>
            <a:r>
              <a:rPr lang="en-US" sz="2800" dirty="0"/>
              <a:t>For example, there has been a change from </a:t>
            </a:r>
            <a:r>
              <a:rPr lang="en-US" sz="2800" dirty="0" err="1"/>
              <a:t>unipurpose</a:t>
            </a:r>
            <a:r>
              <a:rPr lang="en-US" sz="2800" dirty="0"/>
              <a:t> to multipurpose strategy. Then came the goal of Health for All. In addition, national health </a:t>
            </a:r>
            <a:r>
              <a:rPr lang="en-US" sz="2800" dirty="0" err="1"/>
              <a:t>programmes</a:t>
            </a:r>
            <a:r>
              <a:rPr lang="en-US" sz="2800" dirty="0"/>
              <a:t> such as tuberculosis control, leprosy eradication and control of blindness needed more trained workers and technicians. </a:t>
            </a:r>
          </a:p>
          <a:p>
            <a:pPr marL="457200" indent="-457200">
              <a:buFont typeface="Arial" panose="020B0604020202020204" pitchFamily="34" charset="0"/>
              <a:buChar char="•"/>
            </a:pPr>
            <a:r>
              <a:rPr lang="en-US" sz="2800" dirty="0"/>
              <a:t>Thus, during the past decade many new categories of health manpower have been introduced. They include village health guides, multipurpose workers, technicians, ophthalmic assistants, etc.</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2251275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3B200-CF9F-E058-4E6F-6BED997C42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A3513A-BC50-9334-96BA-546757128098}"/>
              </a:ext>
            </a:extLst>
          </p:cNvPr>
          <p:cNvSpPr>
            <a:spLocks noGrp="1"/>
          </p:cNvSpPr>
          <p:nvPr>
            <p:ph idx="1"/>
          </p:nvPr>
        </p:nvSpPr>
        <p:spPr>
          <a:xfrm>
            <a:off x="478793" y="820420"/>
            <a:ext cx="11234414" cy="5529580"/>
          </a:xfrm>
        </p:spPr>
        <p:txBody>
          <a:bodyPr>
            <a:normAutofit/>
          </a:bodyPr>
          <a:lstStyle/>
          <a:p>
            <a:r>
              <a:rPr lang="en-US" sz="5200" b="1" dirty="0"/>
              <a:t>Money and material </a:t>
            </a:r>
          </a:p>
          <a:p>
            <a:pPr marL="457200" indent="-457200">
              <a:buFont typeface="Arial" panose="020B0604020202020204" pitchFamily="34" charset="0"/>
              <a:buChar char="•"/>
            </a:pPr>
            <a:r>
              <a:rPr lang="en-US" sz="2800" dirty="0"/>
              <a:t>Money is an important resource for providing health services. </a:t>
            </a:r>
          </a:p>
          <a:p>
            <a:pPr marL="457200" indent="-457200">
              <a:buFont typeface="Arial" panose="020B0604020202020204" pitchFamily="34" charset="0"/>
              <a:buChar char="•"/>
            </a:pPr>
            <a:r>
              <a:rPr lang="en-US" sz="2800" dirty="0"/>
              <a:t>Scarcity of money affects all parts of the health delivery system. In most developed countries, average government expenditure for health is about 18 per cent of GNP. </a:t>
            </a:r>
          </a:p>
          <a:p>
            <a:pPr marL="457200" indent="-457200">
              <a:buFont typeface="Arial" panose="020B0604020202020204" pitchFamily="34" charset="0"/>
              <a:buChar char="•"/>
            </a:pPr>
            <a:r>
              <a:rPr lang="en-US" sz="2800" dirty="0"/>
              <a:t>In developing countries, it is less than 1 per cent of the GNP and it seldom exceeds 2 per cent of the GNP. This translates into an average of a few dollars per person per year in the underdeveloped countries as compared to several hundred dollars in developed ones. </a:t>
            </a:r>
          </a:p>
          <a:p>
            <a:endParaRPr lang="en-US" sz="3300" dirty="0"/>
          </a:p>
        </p:txBody>
      </p:sp>
      <p:sp>
        <p:nvSpPr>
          <p:cNvPr id="35" name="Slide Number Placeholder 34">
            <a:extLst>
              <a:ext uri="{FF2B5EF4-FFF2-40B4-BE49-F238E27FC236}">
                <a16:creationId xmlns:a16="http://schemas.microsoft.com/office/drawing/2014/main" id="{60F88BCA-37AE-AAED-E0F2-CD24597F1052}"/>
              </a:ext>
            </a:extLst>
          </p:cNvPr>
          <p:cNvSpPr>
            <a:spLocks noGrp="1"/>
          </p:cNvSpPr>
          <p:nvPr>
            <p:ph type="sldNum" sz="quarter" idx="4"/>
          </p:nvPr>
        </p:nvSpPr>
        <p:spPr/>
        <p:txBody>
          <a:bodyPr/>
          <a:lstStyle/>
          <a:p>
            <a:fld id="{3A4F6043-7A67-491B-98BC-F933DED7226D}" type="slidenum">
              <a:rPr lang="en-US" smtClean="0"/>
              <a:pPr/>
              <a:t>6</a:t>
            </a:fld>
            <a:endParaRPr lang="en-US" dirty="0"/>
          </a:p>
        </p:txBody>
      </p:sp>
      <p:sp>
        <p:nvSpPr>
          <p:cNvPr id="4" name="Slide Number Placeholder 5">
            <a:extLst>
              <a:ext uri="{FF2B5EF4-FFF2-40B4-BE49-F238E27FC236}">
                <a16:creationId xmlns:a16="http://schemas.microsoft.com/office/drawing/2014/main" id="{13A8BBA7-B7EC-E4A9-5260-71351356E7B2}"/>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6</a:t>
            </a:fld>
            <a:endParaRPr lang="en-US" dirty="0"/>
          </a:p>
        </p:txBody>
      </p:sp>
    </p:spTree>
    <p:extLst>
      <p:ext uri="{BB962C8B-B14F-4D97-AF65-F5344CB8AC3E}">
        <p14:creationId xmlns:p14="http://schemas.microsoft.com/office/powerpoint/2010/main" val="2598879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5403B-F6A5-4855-B204-4A9D1F5B268F}"/>
              </a:ext>
            </a:extLst>
          </p:cNvPr>
          <p:cNvSpPr>
            <a:spLocks noGrp="1"/>
          </p:cNvSpPr>
          <p:nvPr>
            <p:ph idx="1"/>
          </p:nvPr>
        </p:nvSpPr>
        <p:spPr>
          <a:xfrm>
            <a:off x="478793" y="1216660"/>
            <a:ext cx="11234414" cy="4777740"/>
          </a:xfrm>
        </p:spPr>
        <p:txBody>
          <a:bodyPr>
            <a:normAutofit/>
          </a:bodyPr>
          <a:lstStyle/>
          <a:p>
            <a:pPr marL="457200" indent="-457200">
              <a:buFont typeface="Arial" panose="020B0604020202020204" pitchFamily="34" charset="0"/>
              <a:buChar char="•"/>
            </a:pPr>
            <a:r>
              <a:rPr lang="en-US" sz="2800" dirty="0"/>
              <a:t>To make matters worse, much of the spending is for services that reach only a small fraction of the population. </a:t>
            </a:r>
          </a:p>
          <a:p>
            <a:pPr marL="457200" indent="-457200">
              <a:buFont typeface="Arial" panose="020B0604020202020204" pitchFamily="34" charset="0"/>
              <a:buChar char="•"/>
            </a:pPr>
            <a:r>
              <a:rPr lang="en-US" sz="2800" dirty="0"/>
              <a:t>To achieve Health for All, WHO has set as a goal the expenditure of 5 per cent of each country’s GNP on health care. </a:t>
            </a:r>
          </a:p>
          <a:p>
            <a:pPr marL="457200" indent="-457200">
              <a:buFont typeface="Arial" panose="020B0604020202020204" pitchFamily="34" charset="0"/>
              <a:buChar char="•"/>
            </a:pPr>
            <a:r>
              <a:rPr lang="en-US" sz="2800" dirty="0"/>
              <a:t>At present India is spending about 3 per cent of GNP on health and family welfare development. </a:t>
            </a:r>
          </a:p>
          <a:p>
            <a:pPr marL="457200" indent="-457200">
              <a:buFont typeface="Arial" panose="020B0604020202020204" pitchFamily="34" charset="0"/>
              <a:buChar char="•"/>
            </a:pPr>
            <a:r>
              <a:rPr lang="en-US" sz="2800" dirty="0"/>
              <a:t>Since money and material are always scarce resources they must be put to the most effective use, with an eye on maximum output of results for investment.</a:t>
            </a:r>
          </a:p>
          <a:p>
            <a:pPr marL="457200" indent="-457200">
              <a:buFont typeface="Arial" panose="020B0604020202020204" pitchFamily="34" charset="0"/>
              <a:buChar char="•"/>
            </a:pPr>
            <a:endParaRPr lang="en-US" sz="2800" dirty="0"/>
          </a:p>
          <a:p>
            <a:endParaRPr lang="en-US" sz="3300" dirty="0"/>
          </a:p>
        </p:txBody>
      </p:sp>
      <p:sp>
        <p:nvSpPr>
          <p:cNvPr id="35" name="Slide Number Placeholder 34">
            <a:extLst>
              <a:ext uri="{FF2B5EF4-FFF2-40B4-BE49-F238E27FC236}">
                <a16:creationId xmlns:a16="http://schemas.microsoft.com/office/drawing/2014/main" id="{253F77DE-9A00-003D-3E35-AA011DA6A27F}"/>
              </a:ext>
            </a:extLst>
          </p:cNvPr>
          <p:cNvSpPr>
            <a:spLocks noGrp="1"/>
          </p:cNvSpPr>
          <p:nvPr>
            <p:ph type="sldNum" sz="quarter" idx="4"/>
          </p:nvPr>
        </p:nvSpPr>
        <p:spPr/>
        <p:txBody>
          <a:bodyPr/>
          <a:lstStyle/>
          <a:p>
            <a:fld id="{3A4F6043-7A67-491B-98BC-F933DED7226D}" type="slidenum">
              <a:rPr lang="en-US" smtClean="0"/>
              <a:pPr/>
              <a:t>7</a:t>
            </a:fld>
            <a:endParaRPr lang="en-US" dirty="0"/>
          </a:p>
        </p:txBody>
      </p:sp>
      <p:sp>
        <p:nvSpPr>
          <p:cNvPr id="4" name="Slide Number Placeholder 5">
            <a:extLst>
              <a:ext uri="{FF2B5EF4-FFF2-40B4-BE49-F238E27FC236}">
                <a16:creationId xmlns:a16="http://schemas.microsoft.com/office/drawing/2014/main" id="{2AD73156-2390-BB42-48B5-818ECA16547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7</a:t>
            </a:fld>
            <a:endParaRPr lang="en-US" dirty="0"/>
          </a:p>
        </p:txBody>
      </p:sp>
    </p:spTree>
    <p:extLst>
      <p:ext uri="{BB962C8B-B14F-4D97-AF65-F5344CB8AC3E}">
        <p14:creationId xmlns:p14="http://schemas.microsoft.com/office/powerpoint/2010/main" val="1195628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1F5A0-9994-9B7D-B7ED-51071B18B1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FC1499-2D05-BF0A-6693-0AE89B707672}"/>
              </a:ext>
            </a:extLst>
          </p:cNvPr>
          <p:cNvSpPr>
            <a:spLocks noGrp="1"/>
          </p:cNvSpPr>
          <p:nvPr>
            <p:ph idx="1"/>
          </p:nvPr>
        </p:nvSpPr>
        <p:spPr>
          <a:xfrm>
            <a:off x="478793" y="1064260"/>
            <a:ext cx="11234414" cy="4564380"/>
          </a:xfrm>
        </p:spPr>
        <p:txBody>
          <a:bodyPr>
            <a:normAutofit/>
          </a:bodyPr>
          <a:lstStyle/>
          <a:p>
            <a:pPr marL="457200" indent="-457200">
              <a:buFont typeface="Arial" panose="020B0604020202020204" pitchFamily="34" charset="0"/>
              <a:buChar char="•"/>
            </a:pPr>
            <a:r>
              <a:rPr lang="en-US" sz="2800" dirty="0"/>
              <a:t>Since deaths from preventable diseases such as whooping cough, measles, tuberculosis, tetanus, diphtheria, malnutrition frequently occur in developing countries, the case is strong for investing resources on preventing these diseases rather than spending money on multiplying prestigious medical institutions and other establishments which absorb a large portion of the national health budget.</a:t>
            </a:r>
          </a:p>
          <a:p>
            <a:pPr marL="457200" indent="-457200">
              <a:buFont typeface="Arial" panose="020B0604020202020204" pitchFamily="34" charset="0"/>
              <a:buChar char="•"/>
            </a:pPr>
            <a:r>
              <a:rPr lang="en-US" sz="2800" dirty="0"/>
              <a:t>Management techniques such as cost-effectiveness and cost-benefit analysis are now being used for allocation of resources in the field of community health. </a:t>
            </a:r>
          </a:p>
        </p:txBody>
      </p:sp>
      <p:sp>
        <p:nvSpPr>
          <p:cNvPr id="35" name="Slide Number Placeholder 34">
            <a:extLst>
              <a:ext uri="{FF2B5EF4-FFF2-40B4-BE49-F238E27FC236}">
                <a16:creationId xmlns:a16="http://schemas.microsoft.com/office/drawing/2014/main" id="{A82D6630-E81D-24C1-C9CF-EF4B41429396}"/>
              </a:ext>
            </a:extLst>
          </p:cNvPr>
          <p:cNvSpPr>
            <a:spLocks noGrp="1"/>
          </p:cNvSpPr>
          <p:nvPr>
            <p:ph type="sldNum" sz="quarter" idx="4"/>
          </p:nvPr>
        </p:nvSpPr>
        <p:spPr/>
        <p:txBody>
          <a:bodyPr/>
          <a:lstStyle/>
          <a:p>
            <a:fld id="{3A4F6043-7A67-491B-98BC-F933DED7226D}" type="slidenum">
              <a:rPr lang="en-US" smtClean="0"/>
              <a:pPr/>
              <a:t>8</a:t>
            </a:fld>
            <a:endParaRPr lang="en-US" dirty="0"/>
          </a:p>
        </p:txBody>
      </p:sp>
      <p:sp>
        <p:nvSpPr>
          <p:cNvPr id="4" name="Slide Number Placeholder 5">
            <a:extLst>
              <a:ext uri="{FF2B5EF4-FFF2-40B4-BE49-F238E27FC236}">
                <a16:creationId xmlns:a16="http://schemas.microsoft.com/office/drawing/2014/main" id="{FA4188D4-F234-4ED5-859F-A5238A3CB8E2}"/>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8</a:t>
            </a:fld>
            <a:endParaRPr lang="en-US" dirty="0"/>
          </a:p>
        </p:txBody>
      </p:sp>
    </p:spTree>
    <p:extLst>
      <p:ext uri="{BB962C8B-B14F-4D97-AF65-F5344CB8AC3E}">
        <p14:creationId xmlns:p14="http://schemas.microsoft.com/office/powerpoint/2010/main" val="2673139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DA00-5153-85E5-0575-A3C67C0F825E}"/>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9A63EB73-138A-F88E-8D3C-B14FAE88452A}"/>
              </a:ext>
            </a:extLst>
          </p:cNvPr>
          <p:cNvSpPr>
            <a:spLocks noGrp="1"/>
          </p:cNvSpPr>
          <p:nvPr>
            <p:ph type="body" sz="quarter" idx="10"/>
          </p:nvPr>
        </p:nvSpPr>
        <p:spPr>
          <a:xfrm>
            <a:off x="495617" y="335280"/>
            <a:ext cx="11200765" cy="6085840"/>
          </a:xfrm>
        </p:spPr>
        <p:txBody>
          <a:bodyPr vert="horz" lIns="91440" tIns="45720" rIns="91440" bIns="45720" rtlCol="0" anchor="t">
            <a:normAutofit fontScale="85000" lnSpcReduction="10000"/>
          </a:bodyPr>
          <a:lstStyle/>
          <a:p>
            <a:r>
              <a:rPr lang="en-US" sz="5200" b="1" dirty="0"/>
              <a:t>Time:</a:t>
            </a:r>
          </a:p>
          <a:p>
            <a:endParaRPr lang="en-US" sz="2800" dirty="0"/>
          </a:p>
          <a:p>
            <a:pPr marL="457200" indent="-457200">
              <a:buFont typeface="Arial" panose="020B0604020202020204" pitchFamily="34" charset="0"/>
              <a:buChar char="•"/>
            </a:pPr>
            <a:r>
              <a:rPr lang="en-US" sz="3300" dirty="0"/>
              <a:t>“Time is money”, someone said. It is an important dimension of health care services. Administrative delays in sanctioning health projects imply loss of time. </a:t>
            </a:r>
          </a:p>
          <a:p>
            <a:pPr marL="457200" indent="-457200">
              <a:buFont typeface="Arial" panose="020B0604020202020204" pitchFamily="34" charset="0"/>
              <a:buChar char="•"/>
            </a:pPr>
            <a:r>
              <a:rPr lang="en-US" sz="3300" dirty="0"/>
              <a:t>Proper use of man-hours is also an important time factor. </a:t>
            </a:r>
          </a:p>
          <a:p>
            <a:pPr marL="457200" indent="-457200">
              <a:buFont typeface="Arial" panose="020B0604020202020204" pitchFamily="34" charset="0"/>
              <a:buChar char="•"/>
            </a:pPr>
            <a:r>
              <a:rPr lang="en-US" sz="3300" dirty="0"/>
              <a:t>For example, a survey by WHO has shown that an Auxiliary Nurse Midwife spends 45 per cent of her time in giving medical care; 40 per cent in travelling; 5 per cent on paper work; and only 10 per cent in performing duties for which she has been trained. </a:t>
            </a:r>
          </a:p>
          <a:p>
            <a:pPr marL="457200" indent="-457200">
              <a:buFont typeface="Arial" panose="020B0604020202020204" pitchFamily="34" charset="0"/>
              <a:buChar char="•"/>
            </a:pPr>
            <a:r>
              <a:rPr lang="en-US" sz="3300" dirty="0"/>
              <a:t>Such studies may be extended to other categories of health personnel with a view to promote better utilization of the time resource.</a:t>
            </a:r>
          </a:p>
        </p:txBody>
      </p:sp>
    </p:spTree>
    <p:extLst>
      <p:ext uri="{BB962C8B-B14F-4D97-AF65-F5344CB8AC3E}">
        <p14:creationId xmlns:p14="http://schemas.microsoft.com/office/powerpoint/2010/main" val="2756228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881C-9EB8-5388-95D4-3AA6F3C18B25}"/>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548DD29B-C8E2-2C7E-574F-908D0BAAFDC5}"/>
              </a:ext>
            </a:extLst>
          </p:cNvPr>
          <p:cNvSpPr>
            <a:spLocks noGrp="1"/>
          </p:cNvSpPr>
          <p:nvPr>
            <p:ph type="body" sz="quarter" idx="10"/>
          </p:nvPr>
        </p:nvSpPr>
        <p:spPr>
          <a:xfrm>
            <a:off x="495617" y="1859280"/>
            <a:ext cx="11200765" cy="2966720"/>
          </a:xfrm>
        </p:spPr>
        <p:txBody>
          <a:bodyPr vert="horz" lIns="91440" tIns="45720" rIns="91440" bIns="45720" rtlCol="0" anchor="t">
            <a:normAutofit/>
          </a:bodyPr>
          <a:lstStyle/>
          <a:p>
            <a:pPr marL="457200" indent="-457200">
              <a:buFont typeface="Arial" panose="020B0604020202020204" pitchFamily="34" charset="0"/>
              <a:buChar char="•"/>
            </a:pPr>
            <a:r>
              <a:rPr lang="en-US" sz="2800" dirty="0"/>
              <a:t>To summarize, resources are needed to meet the many health needs of a community. </a:t>
            </a:r>
          </a:p>
          <a:p>
            <a:pPr marL="457200" indent="-457200">
              <a:buFont typeface="Arial" panose="020B0604020202020204" pitchFamily="34" charset="0"/>
              <a:buChar char="•"/>
            </a:pPr>
            <a:r>
              <a:rPr lang="en-US" sz="2800" dirty="0"/>
              <a:t>But resources are desperately short in the health sector in all poor countries.</a:t>
            </a:r>
          </a:p>
          <a:p>
            <a:pPr marL="457200" indent="-457200">
              <a:buFont typeface="Arial" panose="020B0604020202020204" pitchFamily="34" charset="0"/>
              <a:buChar char="•"/>
            </a:pPr>
            <a:r>
              <a:rPr lang="en-US" sz="2800" dirty="0"/>
              <a:t>What is important is to employ suitable strategies to get the best out of limited resources.</a:t>
            </a:r>
          </a:p>
        </p:txBody>
      </p:sp>
    </p:spTree>
    <p:extLst>
      <p:ext uri="{BB962C8B-B14F-4D97-AF65-F5344CB8AC3E}">
        <p14:creationId xmlns:p14="http://schemas.microsoft.com/office/powerpoint/2010/main" val="3090608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179B-C328-3A4D-0433-2C58E2763E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4917C-4BFF-CC2F-F1F5-B457A0C2EEA0}"/>
              </a:ext>
            </a:extLst>
          </p:cNvPr>
          <p:cNvSpPr>
            <a:spLocks noGrp="1"/>
          </p:cNvSpPr>
          <p:nvPr>
            <p:ph idx="1"/>
          </p:nvPr>
        </p:nvSpPr>
        <p:spPr>
          <a:xfrm>
            <a:off x="478793" y="1064260"/>
            <a:ext cx="11234414" cy="4564380"/>
          </a:xfrm>
        </p:spPr>
        <p:txBody>
          <a:bodyPr>
            <a:normAutofit lnSpcReduction="10000"/>
          </a:bodyPr>
          <a:lstStyle/>
          <a:p>
            <a:r>
              <a:rPr lang="en-US" sz="4000" b="1" dirty="0"/>
              <a:t>Healthcare Services:</a:t>
            </a:r>
          </a:p>
          <a:p>
            <a:pPr marL="457200" indent="-457200">
              <a:buFont typeface="Arial" panose="020B0604020202020204" pitchFamily="34" charset="0"/>
              <a:buChar char="•"/>
            </a:pPr>
            <a:r>
              <a:rPr lang="en-US" sz="2800" dirty="0"/>
              <a:t>The purpose of health care services is to improve the health status of the population. </a:t>
            </a:r>
          </a:p>
          <a:p>
            <a:pPr marL="457200" indent="-457200">
              <a:buFont typeface="Arial" panose="020B0604020202020204" pitchFamily="34" charset="0"/>
              <a:buChar char="•"/>
            </a:pPr>
            <a:r>
              <a:rPr lang="en-US" sz="2800" dirty="0"/>
              <a:t>The goals to be achieved have been fixed in terms of mortality and morbidity reduction, increase in expectation of life, decrease in population growth rate, improvements in nutritional status, provision of basic sanitation, health manpower requirements and resources development and certain other parameters such as food production, literacy rate, reduced levels of poverty, etc. </a:t>
            </a:r>
          </a:p>
        </p:txBody>
      </p:sp>
      <p:sp>
        <p:nvSpPr>
          <p:cNvPr id="35" name="Slide Number Placeholder 34">
            <a:extLst>
              <a:ext uri="{FF2B5EF4-FFF2-40B4-BE49-F238E27FC236}">
                <a16:creationId xmlns:a16="http://schemas.microsoft.com/office/drawing/2014/main" id="{0E86D2E2-9C9C-BC8C-8080-DD4BAA28D5C3}"/>
              </a:ext>
            </a:extLst>
          </p:cNvPr>
          <p:cNvSpPr>
            <a:spLocks noGrp="1"/>
          </p:cNvSpPr>
          <p:nvPr>
            <p:ph type="sldNum" sz="quarter" idx="4"/>
          </p:nvPr>
        </p:nvSpPr>
        <p:spPr/>
        <p:txBody>
          <a:bodyPr/>
          <a:lstStyle/>
          <a:p>
            <a:fld id="{3A4F6043-7A67-491B-98BC-F933DED7226D}" type="slidenum">
              <a:rPr lang="en-US" smtClean="0"/>
              <a:pPr/>
              <a:t>11</a:t>
            </a:fld>
            <a:endParaRPr lang="en-US" dirty="0"/>
          </a:p>
        </p:txBody>
      </p:sp>
      <p:sp>
        <p:nvSpPr>
          <p:cNvPr id="4" name="Slide Number Placeholder 5">
            <a:extLst>
              <a:ext uri="{FF2B5EF4-FFF2-40B4-BE49-F238E27FC236}">
                <a16:creationId xmlns:a16="http://schemas.microsoft.com/office/drawing/2014/main" id="{39C9452F-EA05-2C8A-896D-FB650366AEBD}"/>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11</a:t>
            </a:fld>
            <a:endParaRPr lang="en-US" dirty="0"/>
          </a:p>
        </p:txBody>
      </p:sp>
    </p:spTree>
    <p:extLst>
      <p:ext uri="{BB962C8B-B14F-4D97-AF65-F5344CB8AC3E}">
        <p14:creationId xmlns:p14="http://schemas.microsoft.com/office/powerpoint/2010/main" val="1154347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1D07-4633-9B0D-6A2E-7B81169B83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6669-C903-4D64-8156-993CFC1DD3D6}"/>
              </a:ext>
            </a:extLst>
          </p:cNvPr>
          <p:cNvSpPr>
            <a:spLocks noGrp="1"/>
          </p:cNvSpPr>
          <p:nvPr>
            <p:ph idx="1"/>
          </p:nvPr>
        </p:nvSpPr>
        <p:spPr>
          <a:xfrm>
            <a:off x="478793" y="558800"/>
            <a:ext cx="11234414" cy="6228080"/>
          </a:xfrm>
        </p:spPr>
        <p:txBody>
          <a:bodyPr>
            <a:normAutofit/>
          </a:bodyPr>
          <a:lstStyle/>
          <a:p>
            <a:pPr marL="457200" indent="-457200">
              <a:buFont typeface="Arial" panose="020B0604020202020204" pitchFamily="34" charset="0"/>
              <a:buChar char="•"/>
            </a:pPr>
            <a:r>
              <a:rPr lang="en-US" sz="2800" dirty="0"/>
              <a:t>The scope of health services varies widely from country to country and influenced by general and ever changing national, state and local health problems, needs and attitudes as well as the available resources to provide these services. </a:t>
            </a:r>
          </a:p>
          <a:p>
            <a:pPr marL="457200" indent="-457200">
              <a:buFont typeface="Arial" panose="020B0604020202020204" pitchFamily="34" charset="0"/>
              <a:buChar char="•"/>
            </a:pPr>
            <a:r>
              <a:rPr lang="en-US" sz="2800" dirty="0"/>
              <a:t>There is now broad agreement that health services should be: </a:t>
            </a:r>
          </a:p>
          <a:p>
            <a:pPr marL="514350" indent="-514350">
              <a:buAutoNum type="alphaLcParenBoth"/>
            </a:pPr>
            <a:r>
              <a:rPr lang="en-US" sz="2800" dirty="0"/>
              <a:t>comprehensive </a:t>
            </a:r>
          </a:p>
          <a:p>
            <a:pPr marL="514350" indent="-514350">
              <a:buAutoNum type="alphaLcParenBoth"/>
            </a:pPr>
            <a:r>
              <a:rPr lang="en-US" sz="2800" dirty="0"/>
              <a:t>accessible </a:t>
            </a:r>
          </a:p>
          <a:p>
            <a:pPr marL="514350" indent="-514350">
              <a:buAutoNum type="alphaLcParenBoth"/>
            </a:pPr>
            <a:r>
              <a:rPr lang="en-US" sz="2800" dirty="0"/>
              <a:t>acceptable </a:t>
            </a:r>
          </a:p>
          <a:p>
            <a:pPr marL="514350" indent="-514350">
              <a:buAutoNum type="alphaLcParenBoth"/>
            </a:pPr>
            <a:r>
              <a:rPr lang="en-US" sz="2800" dirty="0"/>
              <a:t>provide scope for community participation</a:t>
            </a:r>
          </a:p>
          <a:p>
            <a:pPr marL="514350" indent="-514350">
              <a:buAutoNum type="alphaLcParenBoth"/>
            </a:pPr>
            <a:r>
              <a:rPr lang="en-US" sz="2800" dirty="0"/>
              <a:t>available at a cost the community and country can afford. </a:t>
            </a:r>
          </a:p>
        </p:txBody>
      </p:sp>
      <p:sp>
        <p:nvSpPr>
          <p:cNvPr id="35" name="Slide Number Placeholder 34">
            <a:extLst>
              <a:ext uri="{FF2B5EF4-FFF2-40B4-BE49-F238E27FC236}">
                <a16:creationId xmlns:a16="http://schemas.microsoft.com/office/drawing/2014/main" id="{EBA12C44-A5CF-A518-BE30-0B0F19B4E489}"/>
              </a:ext>
            </a:extLst>
          </p:cNvPr>
          <p:cNvSpPr>
            <a:spLocks noGrp="1"/>
          </p:cNvSpPr>
          <p:nvPr>
            <p:ph type="sldNum" sz="quarter" idx="4"/>
          </p:nvPr>
        </p:nvSpPr>
        <p:spPr/>
        <p:txBody>
          <a:bodyPr/>
          <a:lstStyle/>
          <a:p>
            <a:fld id="{3A4F6043-7A67-491B-98BC-F933DED7226D}" type="slidenum">
              <a:rPr lang="en-US" smtClean="0"/>
              <a:pPr/>
              <a:t>12</a:t>
            </a:fld>
            <a:endParaRPr lang="en-US" dirty="0"/>
          </a:p>
        </p:txBody>
      </p:sp>
      <p:sp>
        <p:nvSpPr>
          <p:cNvPr id="4" name="Slide Number Placeholder 5">
            <a:extLst>
              <a:ext uri="{FF2B5EF4-FFF2-40B4-BE49-F238E27FC236}">
                <a16:creationId xmlns:a16="http://schemas.microsoft.com/office/drawing/2014/main" id="{59109753-4AC1-05AE-B33D-BF693C202BBC}"/>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12</a:t>
            </a:fld>
            <a:endParaRPr lang="en-US" dirty="0"/>
          </a:p>
        </p:txBody>
      </p:sp>
    </p:spTree>
    <p:extLst>
      <p:ext uri="{BB962C8B-B14F-4D97-AF65-F5344CB8AC3E}">
        <p14:creationId xmlns:p14="http://schemas.microsoft.com/office/powerpoint/2010/main" val="2539572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8B6F7-DB40-5FED-E759-D88656CCAC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5A6993-BC91-F5A1-8509-DCAEBBC419F6}"/>
              </a:ext>
            </a:extLst>
          </p:cNvPr>
          <p:cNvSpPr>
            <a:spLocks noGrp="1"/>
          </p:cNvSpPr>
          <p:nvPr>
            <p:ph idx="1"/>
          </p:nvPr>
        </p:nvSpPr>
        <p:spPr>
          <a:xfrm>
            <a:off x="611638" y="1371600"/>
            <a:ext cx="11234414" cy="4480560"/>
          </a:xfrm>
        </p:spPr>
        <p:txBody>
          <a:bodyPr>
            <a:normAutofit/>
          </a:bodyPr>
          <a:lstStyle/>
          <a:p>
            <a:r>
              <a:rPr lang="en-US" sz="4000" b="1" dirty="0"/>
              <a:t>Healthcare Systems: </a:t>
            </a:r>
          </a:p>
          <a:p>
            <a:pPr marL="457200" indent="-457200">
              <a:buFont typeface="Arial" panose="020B0604020202020204" pitchFamily="34" charset="0"/>
              <a:buChar char="•"/>
            </a:pPr>
            <a:r>
              <a:rPr lang="en-US" sz="2800" dirty="0"/>
              <a:t>The health care system is intended to deliver the health care services. It constitutes the management sector and involves organizational matters. </a:t>
            </a:r>
          </a:p>
          <a:p>
            <a:pPr marL="457200" indent="-457200">
              <a:buFont typeface="Arial" panose="020B0604020202020204" pitchFamily="34" charset="0"/>
              <a:buChar char="•"/>
            </a:pPr>
            <a:r>
              <a:rPr lang="en-US" sz="2800" dirty="0"/>
              <a:t>It operates in the context of the socioeconomic and political framework of the country. </a:t>
            </a:r>
          </a:p>
          <a:p>
            <a:pPr marL="457200" indent="-457200">
              <a:buFont typeface="Arial" panose="020B0604020202020204" pitchFamily="34" charset="0"/>
              <a:buChar char="•"/>
            </a:pPr>
            <a:r>
              <a:rPr lang="en-US" sz="2800" dirty="0"/>
              <a:t>In India, it is represented by five major sectors or agencies which differ from each other by the health technology applied and by the source of funds for operation.</a:t>
            </a:r>
          </a:p>
        </p:txBody>
      </p:sp>
      <p:sp>
        <p:nvSpPr>
          <p:cNvPr id="35" name="Slide Number Placeholder 34">
            <a:extLst>
              <a:ext uri="{FF2B5EF4-FFF2-40B4-BE49-F238E27FC236}">
                <a16:creationId xmlns:a16="http://schemas.microsoft.com/office/drawing/2014/main" id="{8BB291E3-E3AD-53FC-8D64-5E42C5D384BD}"/>
              </a:ext>
            </a:extLst>
          </p:cNvPr>
          <p:cNvSpPr>
            <a:spLocks noGrp="1"/>
          </p:cNvSpPr>
          <p:nvPr>
            <p:ph type="sldNum" sz="quarter" idx="4"/>
          </p:nvPr>
        </p:nvSpPr>
        <p:spPr/>
        <p:txBody>
          <a:bodyPr/>
          <a:lstStyle/>
          <a:p>
            <a:fld id="{3A4F6043-7A67-491B-98BC-F933DED7226D}" type="slidenum">
              <a:rPr lang="en-US" smtClean="0"/>
              <a:pPr/>
              <a:t>13</a:t>
            </a:fld>
            <a:endParaRPr lang="en-US" dirty="0"/>
          </a:p>
        </p:txBody>
      </p:sp>
      <p:sp>
        <p:nvSpPr>
          <p:cNvPr id="4" name="Slide Number Placeholder 5">
            <a:extLst>
              <a:ext uri="{FF2B5EF4-FFF2-40B4-BE49-F238E27FC236}">
                <a16:creationId xmlns:a16="http://schemas.microsoft.com/office/drawing/2014/main" id="{5A2CCF11-CCF1-A9EB-3280-0D125488E14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13</a:t>
            </a:fld>
            <a:endParaRPr lang="en-US" dirty="0"/>
          </a:p>
        </p:txBody>
      </p:sp>
    </p:spTree>
    <p:extLst>
      <p:ext uri="{BB962C8B-B14F-4D97-AF65-F5344CB8AC3E}">
        <p14:creationId xmlns:p14="http://schemas.microsoft.com/office/powerpoint/2010/main" val="1722947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3A88EB-9315-82F0-3834-C57CBAC0B5D5}"/>
              </a:ext>
            </a:extLst>
          </p:cNvPr>
          <p:cNvSpPr>
            <a:spLocks noGrp="1"/>
          </p:cNvSpPr>
          <p:nvPr>
            <p:ph idx="1"/>
          </p:nvPr>
        </p:nvSpPr>
        <p:spPr>
          <a:xfrm>
            <a:off x="420624" y="335280"/>
            <a:ext cx="10515600" cy="6339839"/>
          </a:xfrm>
        </p:spPr>
        <p:txBody>
          <a:bodyPr>
            <a:normAutofit/>
          </a:bodyPr>
          <a:lstStyle/>
          <a:p>
            <a:pPr marL="0" indent="0">
              <a:buNone/>
            </a:pPr>
            <a:r>
              <a:rPr lang="en-US" sz="2800" dirty="0"/>
              <a:t>1. PUBLIC HEALTH SECTOR </a:t>
            </a:r>
          </a:p>
          <a:p>
            <a:r>
              <a:rPr lang="en-US" sz="2800" dirty="0"/>
              <a:t>(a) Primary Health Care </a:t>
            </a:r>
          </a:p>
          <a:p>
            <a:pPr marL="457200" indent="-457200">
              <a:buFont typeface="+mj-lt"/>
              <a:buAutoNum type="arabicPeriod"/>
            </a:pPr>
            <a:r>
              <a:rPr lang="en-US" sz="2800" dirty="0"/>
              <a:t>Primary health </a:t>
            </a:r>
            <a:r>
              <a:rPr lang="en-US" sz="2800" dirty="0" err="1"/>
              <a:t>centres</a:t>
            </a:r>
            <a:r>
              <a:rPr lang="en-US" sz="2800" dirty="0"/>
              <a:t> </a:t>
            </a:r>
          </a:p>
          <a:p>
            <a:pPr marL="457200" indent="-457200">
              <a:buFont typeface="+mj-lt"/>
              <a:buAutoNum type="arabicPeriod"/>
            </a:pPr>
            <a:r>
              <a:rPr lang="en-US" sz="2800" dirty="0"/>
              <a:t>Sub- </a:t>
            </a:r>
            <a:r>
              <a:rPr lang="en-US" sz="2800" dirty="0" err="1"/>
              <a:t>centres</a:t>
            </a:r>
            <a:r>
              <a:rPr lang="en-US" sz="2800" dirty="0"/>
              <a:t> </a:t>
            </a:r>
          </a:p>
          <a:p>
            <a:r>
              <a:rPr lang="en-US" sz="2800" dirty="0"/>
              <a:t>(b) Hospitals/Health </a:t>
            </a:r>
            <a:r>
              <a:rPr lang="en-US" sz="2800" dirty="0" err="1"/>
              <a:t>Centres</a:t>
            </a:r>
            <a:r>
              <a:rPr lang="en-US" sz="2800" dirty="0"/>
              <a:t> </a:t>
            </a:r>
          </a:p>
          <a:p>
            <a:pPr marL="457200" indent="-457200">
              <a:buFont typeface="+mj-lt"/>
              <a:buAutoNum type="arabicPeriod"/>
            </a:pPr>
            <a:r>
              <a:rPr lang="en-US" sz="2800" dirty="0"/>
              <a:t>Community health </a:t>
            </a:r>
            <a:r>
              <a:rPr lang="en-US" sz="2800" dirty="0" err="1"/>
              <a:t>centres</a:t>
            </a:r>
            <a:r>
              <a:rPr lang="en-US" sz="2800" dirty="0"/>
              <a:t> </a:t>
            </a:r>
          </a:p>
          <a:p>
            <a:pPr marL="457200" indent="-457200">
              <a:buFont typeface="+mj-lt"/>
              <a:buAutoNum type="arabicPeriod"/>
            </a:pPr>
            <a:r>
              <a:rPr lang="en-US" sz="2800" dirty="0"/>
              <a:t>Rural hospitals </a:t>
            </a:r>
          </a:p>
          <a:p>
            <a:pPr marL="457200" indent="-457200">
              <a:buFont typeface="+mj-lt"/>
              <a:buAutoNum type="arabicPeriod"/>
            </a:pPr>
            <a:r>
              <a:rPr lang="en-US" sz="2800" dirty="0"/>
              <a:t>District hospital/health </a:t>
            </a:r>
            <a:r>
              <a:rPr lang="en-US" sz="2800" dirty="0" err="1"/>
              <a:t>centre</a:t>
            </a:r>
            <a:r>
              <a:rPr lang="en-US" sz="2800" dirty="0"/>
              <a:t> </a:t>
            </a:r>
          </a:p>
          <a:p>
            <a:pPr marL="457200" indent="-457200">
              <a:buFont typeface="+mj-lt"/>
              <a:buAutoNum type="arabicPeriod"/>
            </a:pPr>
            <a:r>
              <a:rPr lang="en-US" sz="2800" dirty="0"/>
              <a:t>Specialist hospitals </a:t>
            </a:r>
          </a:p>
          <a:p>
            <a:pPr marL="457200" indent="-457200">
              <a:buFont typeface="+mj-lt"/>
              <a:buAutoNum type="arabicPeriod"/>
            </a:pPr>
            <a:r>
              <a:rPr lang="en-US" sz="2800" dirty="0"/>
              <a:t>Teaching hospital</a:t>
            </a:r>
            <a:endParaRPr lang="en-IN" sz="2800" dirty="0"/>
          </a:p>
        </p:txBody>
      </p:sp>
      <p:sp>
        <p:nvSpPr>
          <p:cNvPr id="4" name="Slide Number Placeholder 3">
            <a:extLst>
              <a:ext uri="{FF2B5EF4-FFF2-40B4-BE49-F238E27FC236}">
                <a16:creationId xmlns:a16="http://schemas.microsoft.com/office/drawing/2014/main" id="{DCC48CB3-5036-1282-D328-C266559C3A94}"/>
              </a:ext>
            </a:extLst>
          </p:cNvPr>
          <p:cNvSpPr>
            <a:spLocks noGrp="1"/>
          </p:cNvSpPr>
          <p:nvPr>
            <p:ph type="sldNum" sz="quarter" idx="12"/>
          </p:nvPr>
        </p:nvSpPr>
        <p:spPr/>
        <p:txBody>
          <a:bodyPr/>
          <a:lstStyle/>
          <a:p>
            <a:fld id="{3A4F6043-7A67-491B-98BC-F933DED7226D}" type="slidenum">
              <a:rPr lang="en-US" smtClean="0"/>
              <a:pPr/>
              <a:t>14</a:t>
            </a:fld>
            <a:endParaRPr lang="en-US" dirty="0"/>
          </a:p>
        </p:txBody>
      </p:sp>
    </p:spTree>
    <p:extLst>
      <p:ext uri="{BB962C8B-B14F-4D97-AF65-F5344CB8AC3E}">
        <p14:creationId xmlns:p14="http://schemas.microsoft.com/office/powerpoint/2010/main" val="4072687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6A6BF-28A2-144A-C0AD-E15A364C267C}"/>
              </a:ext>
            </a:extLst>
          </p:cNvPr>
          <p:cNvSpPr>
            <a:spLocks noGrp="1"/>
          </p:cNvSpPr>
          <p:nvPr>
            <p:ph idx="1"/>
          </p:nvPr>
        </p:nvSpPr>
        <p:spPr>
          <a:xfrm>
            <a:off x="420624" y="558801"/>
            <a:ext cx="10515600" cy="5473208"/>
          </a:xfrm>
        </p:spPr>
        <p:txBody>
          <a:bodyPr>
            <a:normAutofit/>
          </a:bodyPr>
          <a:lstStyle/>
          <a:p>
            <a:r>
              <a:rPr lang="en-US" sz="2800" dirty="0"/>
              <a:t>(c) Health Insurance Schemes </a:t>
            </a:r>
          </a:p>
          <a:p>
            <a:pPr marL="457200" indent="-457200">
              <a:buFont typeface="+mj-lt"/>
              <a:buAutoNum type="arabicPeriod"/>
            </a:pPr>
            <a:r>
              <a:rPr lang="en-US" sz="2800" dirty="0"/>
              <a:t>Employees State Insurance </a:t>
            </a:r>
          </a:p>
          <a:p>
            <a:pPr marL="457200" indent="-457200">
              <a:buFont typeface="+mj-lt"/>
              <a:buAutoNum type="arabicPeriod"/>
            </a:pPr>
            <a:r>
              <a:rPr lang="en-US" sz="2800" dirty="0"/>
              <a:t>Central Government Health Scheme </a:t>
            </a:r>
          </a:p>
          <a:p>
            <a:r>
              <a:rPr lang="en-US" sz="2800" dirty="0"/>
              <a:t>(d) Other agencies </a:t>
            </a:r>
          </a:p>
          <a:p>
            <a:pPr marL="457200" indent="-457200">
              <a:buFont typeface="+mj-lt"/>
              <a:buAutoNum type="arabicPeriod"/>
            </a:pPr>
            <a:r>
              <a:rPr lang="en-US" sz="2800" dirty="0" err="1"/>
              <a:t>Defence</a:t>
            </a:r>
            <a:r>
              <a:rPr lang="en-US" sz="2800" dirty="0"/>
              <a:t> services </a:t>
            </a:r>
          </a:p>
          <a:p>
            <a:pPr marL="457200" indent="-457200">
              <a:buFont typeface="+mj-lt"/>
              <a:buAutoNum type="arabicPeriod"/>
            </a:pPr>
            <a:r>
              <a:rPr lang="en-US" sz="2800" dirty="0"/>
              <a:t>Railways</a:t>
            </a:r>
          </a:p>
          <a:p>
            <a:pPr marL="0" indent="0">
              <a:buNone/>
            </a:pPr>
            <a:r>
              <a:rPr lang="en-US" sz="2800" dirty="0"/>
              <a:t>2. PRIVATE SECTOR </a:t>
            </a:r>
          </a:p>
          <a:p>
            <a:r>
              <a:rPr lang="en-US" sz="2800" dirty="0"/>
              <a:t>(a) Private hospitals, polyclinics, Nursing homes, and dispensaries </a:t>
            </a:r>
          </a:p>
          <a:p>
            <a:r>
              <a:rPr lang="en-US" sz="2800" dirty="0"/>
              <a:t>(b) General practitioners and clinics</a:t>
            </a:r>
            <a:endParaRPr lang="en-IN" sz="2800" dirty="0"/>
          </a:p>
        </p:txBody>
      </p:sp>
      <p:sp>
        <p:nvSpPr>
          <p:cNvPr id="4" name="Slide Number Placeholder 3">
            <a:extLst>
              <a:ext uri="{FF2B5EF4-FFF2-40B4-BE49-F238E27FC236}">
                <a16:creationId xmlns:a16="http://schemas.microsoft.com/office/drawing/2014/main" id="{413A44F8-9B58-3BDE-DAB8-B91AE40FE6D9}"/>
              </a:ext>
            </a:extLst>
          </p:cNvPr>
          <p:cNvSpPr>
            <a:spLocks noGrp="1"/>
          </p:cNvSpPr>
          <p:nvPr>
            <p:ph type="sldNum" sz="quarter" idx="12"/>
          </p:nvPr>
        </p:nvSpPr>
        <p:spPr/>
        <p:txBody>
          <a:bodyPr/>
          <a:lstStyle/>
          <a:p>
            <a:fld id="{3A4F6043-7A67-491B-98BC-F933DED7226D}" type="slidenum">
              <a:rPr lang="en-US" smtClean="0"/>
              <a:pPr/>
              <a:t>15</a:t>
            </a:fld>
            <a:endParaRPr lang="en-US" dirty="0"/>
          </a:p>
        </p:txBody>
      </p:sp>
    </p:spTree>
    <p:extLst>
      <p:ext uri="{BB962C8B-B14F-4D97-AF65-F5344CB8AC3E}">
        <p14:creationId xmlns:p14="http://schemas.microsoft.com/office/powerpoint/2010/main" val="2370637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DA6A002-1BEB-AE76-169E-13071F90919E}"/>
              </a:ext>
            </a:extLst>
          </p:cNvPr>
          <p:cNvSpPr>
            <a:spLocks noGrp="1"/>
          </p:cNvSpPr>
          <p:nvPr>
            <p:ph type="body" sz="quarter" idx="10"/>
          </p:nvPr>
        </p:nvSpPr>
        <p:spPr>
          <a:xfrm>
            <a:off x="422274" y="775018"/>
            <a:ext cx="11139806" cy="5493702"/>
          </a:xfrm>
        </p:spPr>
        <p:txBody>
          <a:bodyPr>
            <a:normAutofit/>
          </a:bodyPr>
          <a:lstStyle/>
          <a:p>
            <a:r>
              <a:rPr lang="en-IN" sz="2800" dirty="0"/>
              <a:t>3. INDIGENOUS SYSTEMS OF MEDICINE </a:t>
            </a:r>
          </a:p>
          <a:p>
            <a:pPr marL="342900" indent="-342900">
              <a:buFont typeface="Arial" panose="020B0604020202020204" pitchFamily="34" charset="0"/>
              <a:buChar char="•"/>
            </a:pPr>
            <a:r>
              <a:rPr lang="en-IN" sz="2800" dirty="0"/>
              <a:t>Ayurveda and Siddha </a:t>
            </a:r>
          </a:p>
          <a:p>
            <a:pPr marL="342900" indent="-342900">
              <a:buFont typeface="Arial" panose="020B0604020202020204" pitchFamily="34" charset="0"/>
              <a:buChar char="•"/>
            </a:pPr>
            <a:r>
              <a:rPr lang="en-IN" sz="2800" dirty="0"/>
              <a:t>Unani and </a:t>
            </a:r>
            <a:r>
              <a:rPr lang="en-IN" sz="2800" dirty="0" err="1"/>
              <a:t>Tibbi</a:t>
            </a:r>
            <a:r>
              <a:rPr lang="en-IN" sz="2800" dirty="0"/>
              <a:t> </a:t>
            </a:r>
          </a:p>
          <a:p>
            <a:pPr marL="342900" indent="-342900">
              <a:buFont typeface="Arial" panose="020B0604020202020204" pitchFamily="34" charset="0"/>
              <a:buChar char="•"/>
            </a:pPr>
            <a:r>
              <a:rPr lang="en-IN" sz="2800" dirty="0"/>
              <a:t>Homoeopathy </a:t>
            </a:r>
          </a:p>
          <a:p>
            <a:pPr marL="342900" indent="-342900">
              <a:buFont typeface="Arial" panose="020B0604020202020204" pitchFamily="34" charset="0"/>
              <a:buChar char="•"/>
            </a:pPr>
            <a:r>
              <a:rPr lang="en-IN" sz="2800" dirty="0"/>
              <a:t>Unregistered practitioners </a:t>
            </a:r>
          </a:p>
          <a:p>
            <a:r>
              <a:rPr lang="en-IN" sz="2800" dirty="0"/>
              <a:t>4. VOLUNTARY HEALTH AGENCIES </a:t>
            </a:r>
          </a:p>
          <a:p>
            <a:r>
              <a:rPr lang="en-IN" sz="2800" dirty="0"/>
              <a:t>5. NATIONAL HEALTH PROGRAMMES</a:t>
            </a:r>
            <a:endParaRPr lang="en-US" sz="2800" dirty="0"/>
          </a:p>
        </p:txBody>
      </p:sp>
    </p:spTree>
    <p:extLst>
      <p:ext uri="{BB962C8B-B14F-4D97-AF65-F5344CB8AC3E}">
        <p14:creationId xmlns:p14="http://schemas.microsoft.com/office/powerpoint/2010/main" val="3874960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82D22-5938-BC2B-1C1E-5333FF3CD06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9A8ED69-1FDB-1087-18D2-65C83C055EEC}"/>
              </a:ext>
            </a:extLst>
          </p:cNvPr>
          <p:cNvSpPr>
            <a:spLocks noGrp="1"/>
          </p:cNvSpPr>
          <p:nvPr>
            <p:ph type="body" sz="quarter" idx="10"/>
          </p:nvPr>
        </p:nvSpPr>
        <p:spPr>
          <a:xfrm>
            <a:off x="422274" y="775018"/>
            <a:ext cx="11139806" cy="5493702"/>
          </a:xfrm>
        </p:spPr>
        <p:txBody>
          <a:bodyPr>
            <a:normAutofit/>
          </a:bodyPr>
          <a:lstStyle/>
          <a:p>
            <a:r>
              <a:rPr lang="en-US" sz="4000" b="1" dirty="0"/>
              <a:t>Primary Health Care in India </a:t>
            </a:r>
          </a:p>
          <a:p>
            <a:pPr marL="457200" indent="-457200">
              <a:buFont typeface="Arial" panose="020B0604020202020204" pitchFamily="34" charset="0"/>
              <a:buChar char="•"/>
            </a:pPr>
            <a:r>
              <a:rPr lang="en-US" sz="2800" dirty="0"/>
              <a:t>In 1977, the Government of India launched a Rural Health Scheme, based on the principle of “placing people’s health in people’s hands”. </a:t>
            </a:r>
          </a:p>
          <a:p>
            <a:pPr marL="457200" indent="-457200">
              <a:buFont typeface="Arial" panose="020B0604020202020204" pitchFamily="34" charset="0"/>
              <a:buChar char="•"/>
            </a:pPr>
            <a:r>
              <a:rPr lang="en-US" sz="2800" dirty="0"/>
              <a:t>It is a three-tier system of health care delivery in rural areas based on the recommendation of the Shrivastav Committee in 1975. </a:t>
            </a:r>
          </a:p>
          <a:p>
            <a:pPr marL="457200" indent="-457200">
              <a:buFont typeface="Arial" panose="020B0604020202020204" pitchFamily="34" charset="0"/>
              <a:buChar char="•"/>
            </a:pPr>
            <a:r>
              <a:rPr lang="en-US" sz="2800" dirty="0"/>
              <a:t>Close on the heels of these recommendations an International conference at Alma-Ata in 1978, set the goal of an acceptable level of Health for All the people of the world by the year 2000 through primary health care approach. </a:t>
            </a:r>
          </a:p>
        </p:txBody>
      </p:sp>
    </p:spTree>
    <p:extLst>
      <p:ext uri="{BB962C8B-B14F-4D97-AF65-F5344CB8AC3E}">
        <p14:creationId xmlns:p14="http://schemas.microsoft.com/office/powerpoint/2010/main" val="1233911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954E5-B34A-B789-9CBF-DB6E7728C5E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6C04A77-400A-D45A-420F-5AB726FDD9D3}"/>
              </a:ext>
            </a:extLst>
          </p:cNvPr>
          <p:cNvSpPr>
            <a:spLocks noGrp="1"/>
          </p:cNvSpPr>
          <p:nvPr>
            <p:ph type="body" sz="quarter" idx="10"/>
          </p:nvPr>
        </p:nvSpPr>
        <p:spPr>
          <a:xfrm>
            <a:off x="526097" y="1384618"/>
            <a:ext cx="11139806" cy="4274502"/>
          </a:xfrm>
        </p:spPr>
        <p:txBody>
          <a:bodyPr>
            <a:normAutofit/>
          </a:bodyPr>
          <a:lstStyle/>
          <a:p>
            <a:pPr marL="457200" indent="-457200">
              <a:buFont typeface="Arial" panose="020B0604020202020204" pitchFamily="34" charset="0"/>
              <a:buChar char="•"/>
            </a:pPr>
            <a:r>
              <a:rPr lang="en-US" sz="2800" dirty="0"/>
              <a:t>As a signatory to the Alma-Ata Declaration, the Government of India was committed to achieving the goal of Health for All through primary health care approach which seeks to provide universal comprehensive health care at a cost which is affordable. </a:t>
            </a:r>
          </a:p>
          <a:p>
            <a:pPr marL="457200" indent="-457200">
              <a:buFont typeface="Arial" panose="020B0604020202020204" pitchFamily="34" charset="0"/>
              <a:buChar char="•"/>
            </a:pPr>
            <a:r>
              <a:rPr lang="en-US" sz="2800" dirty="0"/>
              <a:t>Keeping in view the WHO goal of “Health for All" by 2000 AD, the Government of India evolved a National Health Policy based on primary health care approach. </a:t>
            </a:r>
          </a:p>
          <a:p>
            <a:pPr marL="457200" indent="-457200">
              <a:buFont typeface="Arial" panose="020B0604020202020204" pitchFamily="34" charset="0"/>
              <a:buChar char="•"/>
            </a:pPr>
            <a:r>
              <a:rPr lang="en-US" sz="2800" dirty="0"/>
              <a:t>It was approved by Parliament in 1983.</a:t>
            </a:r>
          </a:p>
        </p:txBody>
      </p:sp>
    </p:spTree>
    <p:extLst>
      <p:ext uri="{BB962C8B-B14F-4D97-AF65-F5344CB8AC3E}">
        <p14:creationId xmlns:p14="http://schemas.microsoft.com/office/powerpoint/2010/main" val="1751464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38318-9C62-164D-3BEA-E2BA810C0F6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66121ED-19B5-4D70-F188-58F0E5775F5A}"/>
              </a:ext>
            </a:extLst>
          </p:cNvPr>
          <p:cNvSpPr>
            <a:spLocks noGrp="1"/>
          </p:cNvSpPr>
          <p:nvPr>
            <p:ph type="body" sz="quarter" idx="10"/>
          </p:nvPr>
        </p:nvSpPr>
        <p:spPr>
          <a:xfrm>
            <a:off x="526097" y="924560"/>
            <a:ext cx="11139806" cy="5110480"/>
          </a:xfrm>
        </p:spPr>
        <p:txBody>
          <a:bodyPr>
            <a:normAutofit/>
          </a:bodyPr>
          <a:lstStyle/>
          <a:p>
            <a:pPr marL="457200" indent="-457200">
              <a:buFont typeface="Arial" panose="020B0604020202020204" pitchFamily="34" charset="0"/>
              <a:buChar char="•"/>
            </a:pPr>
            <a:r>
              <a:rPr lang="en-US" sz="2800" dirty="0"/>
              <a:t>The National Health Policy laid down a plan of action for reorienting and shaping the existing rural health infrastructure with specific goals to be achieved by 1985, 1990 and 1995 within the framework of the Sixth (1980-85) and Seventh (1985-90) Five Year Plans and the new 20-point </a:t>
            </a:r>
            <a:r>
              <a:rPr lang="en-US" sz="2800" dirty="0" err="1"/>
              <a:t>Programme</a:t>
            </a:r>
            <a:r>
              <a:rPr lang="en-US" sz="2800" dirty="0"/>
              <a:t>. </a:t>
            </a:r>
          </a:p>
          <a:p>
            <a:pPr marL="457200" indent="-457200">
              <a:buFont typeface="Arial" panose="020B0604020202020204" pitchFamily="34" charset="0"/>
              <a:buChar char="•"/>
            </a:pPr>
            <a:r>
              <a:rPr lang="en-US" sz="2800" dirty="0"/>
              <a:t>Steps were taken to implement the National Health Policy objectives towards achieving Health for All by the year 2000. </a:t>
            </a:r>
          </a:p>
          <a:p>
            <a:pPr marL="457200" indent="-457200">
              <a:buFont typeface="Arial" panose="020B0604020202020204" pitchFamily="34" charset="0"/>
              <a:buChar char="•"/>
            </a:pPr>
            <a:r>
              <a:rPr lang="en-US" sz="2800" dirty="0"/>
              <a:t>During the last decade further development of rural health infrastructure took place in view to implement National Health Policy 2002, National Population Policy 2000 and more recently National Rural Health Mission with formulation of Indian Public Health Standards.</a:t>
            </a:r>
          </a:p>
        </p:txBody>
      </p:sp>
    </p:spTree>
    <p:extLst>
      <p:ext uri="{BB962C8B-B14F-4D97-AF65-F5344CB8AC3E}">
        <p14:creationId xmlns:p14="http://schemas.microsoft.com/office/powerpoint/2010/main" val="3384605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075DF6-8FC6-C036-C9DE-C67FDFC3AEAF}"/>
              </a:ext>
            </a:extLst>
          </p:cNvPr>
          <p:cNvSpPr>
            <a:spLocks noGrp="1"/>
          </p:cNvSpPr>
          <p:nvPr>
            <p:ph type="body" sz="quarter" idx="10"/>
          </p:nvPr>
        </p:nvSpPr>
        <p:spPr>
          <a:xfrm>
            <a:off x="422274" y="568960"/>
            <a:ext cx="11261725" cy="5638800"/>
          </a:xfrm>
        </p:spPr>
        <p:txBody>
          <a:bodyPr/>
          <a:lstStyle/>
          <a:p>
            <a:r>
              <a:rPr lang="en-US" sz="4000" b="1" dirty="0"/>
              <a:t>Village Level: </a:t>
            </a:r>
          </a:p>
          <a:p>
            <a:pPr marL="342900" indent="-342900">
              <a:buFont typeface="Arial" panose="020B0604020202020204" pitchFamily="34" charset="0"/>
              <a:buChar char="•"/>
            </a:pPr>
            <a:r>
              <a:rPr lang="en-US" dirty="0"/>
              <a:t>One of the basic tenets of primary health care is universal coverage and equitable distribution of health resources. </a:t>
            </a:r>
          </a:p>
          <a:p>
            <a:pPr marL="342900" indent="-342900">
              <a:buFont typeface="Arial" panose="020B0604020202020204" pitchFamily="34" charset="0"/>
              <a:buChar char="•"/>
            </a:pPr>
            <a:r>
              <a:rPr lang="en-US" dirty="0"/>
              <a:t>That is, health care must penetrate into the farthest reaches of rural areas, and that everyone should have access to it. </a:t>
            </a:r>
          </a:p>
          <a:p>
            <a:pPr marL="342900" indent="-342900">
              <a:buFont typeface="Arial" panose="020B0604020202020204" pitchFamily="34" charset="0"/>
              <a:buChar char="•"/>
            </a:pPr>
            <a:r>
              <a:rPr lang="en-US" dirty="0"/>
              <a:t>To implement this policy at the village level, the following schemes are in operation : </a:t>
            </a:r>
          </a:p>
          <a:p>
            <a:pPr marL="457200" indent="-457200">
              <a:buAutoNum type="alphaLcPeriod"/>
            </a:pPr>
            <a:r>
              <a:rPr lang="en-US" dirty="0"/>
              <a:t>ASHA Scheme</a:t>
            </a:r>
          </a:p>
          <a:p>
            <a:pPr marL="457200" indent="-457200">
              <a:buAutoNum type="alphaLcPeriod"/>
            </a:pPr>
            <a:r>
              <a:rPr lang="en-US" dirty="0"/>
              <a:t>b. ICDS Scheme</a:t>
            </a:r>
          </a:p>
          <a:p>
            <a:pPr marL="457200" indent="-457200">
              <a:buAutoNum type="alphaLcPeriod"/>
            </a:pPr>
            <a:r>
              <a:rPr lang="en-US" dirty="0"/>
              <a:t>c. Training of Local Dais</a:t>
            </a:r>
          </a:p>
          <a:p>
            <a:pPr marL="457200" indent="-457200">
              <a:buAutoNum type="alphaLcPeriod"/>
            </a:pPr>
            <a:r>
              <a:rPr lang="en-US" dirty="0"/>
              <a:t>ASHA</a:t>
            </a:r>
            <a:endParaRPr lang="en-IN" dirty="0"/>
          </a:p>
        </p:txBody>
      </p:sp>
    </p:spTree>
    <p:extLst>
      <p:ext uri="{BB962C8B-B14F-4D97-AF65-F5344CB8AC3E}">
        <p14:creationId xmlns:p14="http://schemas.microsoft.com/office/powerpoint/2010/main" val="1477685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45CA9A-4C68-CBC1-7308-FDBED0BC1917}"/>
              </a:ext>
            </a:extLst>
          </p:cNvPr>
          <p:cNvSpPr>
            <a:spLocks noGrp="1"/>
          </p:cNvSpPr>
          <p:nvPr>
            <p:ph type="body" sz="quarter" idx="10"/>
          </p:nvPr>
        </p:nvSpPr>
        <p:spPr>
          <a:xfrm>
            <a:off x="422274" y="1066800"/>
            <a:ext cx="11078845" cy="4610100"/>
          </a:xfrm>
        </p:spPr>
        <p:txBody>
          <a:bodyPr>
            <a:normAutofit/>
          </a:bodyPr>
          <a:lstStyle/>
          <a:p>
            <a:pPr marL="342900" indent="-342900">
              <a:buFont typeface="Arial" panose="020B0604020202020204" pitchFamily="34" charset="0"/>
              <a:buChar char="•"/>
            </a:pPr>
            <a:r>
              <a:rPr lang="en-US" sz="2800" dirty="0"/>
              <a:t>ASHA must be resident of the village - a woman (married/ widow/divorced) preferably in the age group of 25 to 45 years with formal education </a:t>
            </a:r>
            <a:r>
              <a:rPr lang="en-US" sz="2800" dirty="0" err="1"/>
              <a:t>upto</a:t>
            </a:r>
            <a:r>
              <a:rPr lang="en-US" sz="2800" dirty="0"/>
              <a:t> eight class, having communication skill and leadership qualities. </a:t>
            </a:r>
          </a:p>
          <a:p>
            <a:pPr marL="342900" indent="-342900">
              <a:buFont typeface="Arial" panose="020B0604020202020204" pitchFamily="34" charset="0"/>
              <a:buChar char="•"/>
            </a:pPr>
            <a:r>
              <a:rPr lang="en-US" sz="2800" dirty="0"/>
              <a:t>Adequate representation from the disadvantaged population group will ensure to serve such groups better. </a:t>
            </a:r>
          </a:p>
          <a:p>
            <a:pPr marL="342900" indent="-342900">
              <a:buFont typeface="Arial" panose="020B0604020202020204" pitchFamily="34" charset="0"/>
              <a:buChar char="•"/>
            </a:pPr>
            <a:r>
              <a:rPr lang="en-US" sz="2800" dirty="0"/>
              <a:t>The general norm of selection is one ASHA for 1000 population. In tribal, hilly and desert areas the norm could be relaxed to one ASHA per habitation.</a:t>
            </a:r>
            <a:endParaRPr lang="en-IN" sz="2800" dirty="0"/>
          </a:p>
        </p:txBody>
      </p:sp>
    </p:spTree>
    <p:extLst>
      <p:ext uri="{BB962C8B-B14F-4D97-AF65-F5344CB8AC3E}">
        <p14:creationId xmlns:p14="http://schemas.microsoft.com/office/powerpoint/2010/main" val="1804462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D7D7D-87BA-3E1C-4BE5-5E410F3E1779}"/>
              </a:ext>
            </a:extLst>
          </p:cNvPr>
          <p:cNvSpPr>
            <a:spLocks noGrp="1"/>
          </p:cNvSpPr>
          <p:nvPr>
            <p:ph type="title"/>
          </p:nvPr>
        </p:nvSpPr>
        <p:spPr>
          <a:xfrm>
            <a:off x="503457" y="525463"/>
            <a:ext cx="10778937" cy="1325563"/>
          </a:xfrm>
        </p:spPr>
        <p:txBody>
          <a:bodyPr>
            <a:normAutofit/>
          </a:bodyPr>
          <a:lstStyle/>
          <a:p>
            <a:r>
              <a:rPr lang="en-US" sz="4000" b="1" dirty="0"/>
              <a:t>Role and responsibilities of ASHA</a:t>
            </a:r>
            <a:endParaRPr lang="en-IN" sz="4000" b="1" dirty="0"/>
          </a:p>
        </p:txBody>
      </p:sp>
      <p:sp>
        <p:nvSpPr>
          <p:cNvPr id="4" name="Slide Number Placeholder 3">
            <a:extLst>
              <a:ext uri="{FF2B5EF4-FFF2-40B4-BE49-F238E27FC236}">
                <a16:creationId xmlns:a16="http://schemas.microsoft.com/office/drawing/2014/main" id="{EFFA2501-4C65-1963-33EA-11EB17ED9D9A}"/>
              </a:ext>
            </a:extLst>
          </p:cNvPr>
          <p:cNvSpPr>
            <a:spLocks noGrp="1"/>
          </p:cNvSpPr>
          <p:nvPr>
            <p:ph type="sldNum" sz="quarter" idx="4"/>
          </p:nvPr>
        </p:nvSpPr>
        <p:spPr/>
        <p:txBody>
          <a:bodyPr/>
          <a:lstStyle/>
          <a:p>
            <a:fld id="{3A4F6043-7A67-491B-98BC-F933DED7226D}" type="slidenum">
              <a:rPr lang="en-US" smtClean="0"/>
              <a:pPr/>
              <a:t>22</a:t>
            </a:fld>
            <a:endParaRPr lang="en-US" dirty="0"/>
          </a:p>
        </p:txBody>
      </p:sp>
      <p:sp>
        <p:nvSpPr>
          <p:cNvPr id="5" name="TextBox 4">
            <a:extLst>
              <a:ext uri="{FF2B5EF4-FFF2-40B4-BE49-F238E27FC236}">
                <a16:creationId xmlns:a16="http://schemas.microsoft.com/office/drawing/2014/main" id="{F47B918C-99E3-C374-7DE3-E5150953934A}"/>
              </a:ext>
            </a:extLst>
          </p:cNvPr>
          <p:cNvSpPr txBox="1"/>
          <p:nvPr/>
        </p:nvSpPr>
        <p:spPr>
          <a:xfrm>
            <a:off x="629920" y="1690688"/>
            <a:ext cx="10873232"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t>ASHA will take steps to create awareness and provide information to the community on determinants of health such as nutrition, basic sanitation and hygienic practices, healthy living and working conditions, information on existing health services, and the need for timely utilization of health and family welfare services. </a:t>
            </a:r>
          </a:p>
          <a:p>
            <a:pPr marL="457200" indent="-457200">
              <a:buFont typeface="Arial" panose="020B0604020202020204" pitchFamily="34" charset="0"/>
              <a:buChar char="•"/>
            </a:pPr>
            <a:r>
              <a:rPr lang="en-US" sz="2800" dirty="0"/>
              <a:t>She will counsel women on birth preparedness, importance of safe delivery, breast-feeding and complementary feeding, immunization, contraception and prevention of common infections including reproductive tract infection/sexually transmitted infection and care of the young child.</a:t>
            </a:r>
            <a:endParaRPr lang="en-IN" sz="2800" dirty="0"/>
          </a:p>
        </p:txBody>
      </p:sp>
    </p:spTree>
    <p:extLst>
      <p:ext uri="{BB962C8B-B14F-4D97-AF65-F5344CB8AC3E}">
        <p14:creationId xmlns:p14="http://schemas.microsoft.com/office/powerpoint/2010/main" val="670570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251CB5-3D1B-663F-4E5B-E58482ECAC06}"/>
              </a:ext>
            </a:extLst>
          </p:cNvPr>
          <p:cNvSpPr>
            <a:spLocks noGrp="1"/>
          </p:cNvSpPr>
          <p:nvPr>
            <p:ph type="sldNum" sz="quarter" idx="4"/>
          </p:nvPr>
        </p:nvSpPr>
        <p:spPr/>
        <p:txBody>
          <a:bodyPr/>
          <a:lstStyle/>
          <a:p>
            <a:fld id="{3A4F6043-7A67-491B-98BC-F933DED7226D}" type="slidenum">
              <a:rPr lang="en-US" smtClean="0"/>
              <a:pPr/>
              <a:t>23</a:t>
            </a:fld>
            <a:endParaRPr lang="en-US" dirty="0"/>
          </a:p>
        </p:txBody>
      </p:sp>
      <p:sp>
        <p:nvSpPr>
          <p:cNvPr id="6" name="TextBox 5">
            <a:extLst>
              <a:ext uri="{FF2B5EF4-FFF2-40B4-BE49-F238E27FC236}">
                <a16:creationId xmlns:a16="http://schemas.microsoft.com/office/drawing/2014/main" id="{E84D17D9-90D3-7837-17F1-312B4F6E24FA}"/>
              </a:ext>
            </a:extLst>
          </p:cNvPr>
          <p:cNvSpPr txBox="1"/>
          <p:nvPr/>
        </p:nvSpPr>
        <p:spPr>
          <a:xfrm>
            <a:off x="396240" y="894080"/>
            <a:ext cx="11236960"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t>ASHA will mobilize the community and facilitate them in accessing health and health related services available at the </a:t>
            </a:r>
            <a:r>
              <a:rPr lang="en-US" sz="2800" dirty="0" err="1"/>
              <a:t>anganwadi</a:t>
            </a:r>
            <a:r>
              <a:rPr lang="en-US" sz="2800" dirty="0"/>
              <a:t>/</a:t>
            </a:r>
            <a:r>
              <a:rPr lang="en-US" sz="2800" dirty="0" err="1"/>
              <a:t>subcentre</a:t>
            </a:r>
            <a:r>
              <a:rPr lang="en-US" sz="2800" dirty="0"/>
              <a:t>/primary health </a:t>
            </a:r>
            <a:r>
              <a:rPr lang="en-US" sz="2800" dirty="0" err="1"/>
              <a:t>centres</a:t>
            </a:r>
            <a:r>
              <a:rPr lang="en-US" sz="2800" dirty="0"/>
              <a:t>, such as immunization, antenatal check-up, postnatal check-up, supplementary nutrition, sanitation and other services being provided by the government. </a:t>
            </a:r>
          </a:p>
          <a:p>
            <a:pPr marL="457200" indent="-457200">
              <a:buFont typeface="Arial" panose="020B0604020202020204" pitchFamily="34" charset="0"/>
              <a:buChar char="•"/>
            </a:pPr>
            <a:r>
              <a:rPr lang="en-US" sz="2800" dirty="0"/>
              <a:t>She will work with the village health and sanitation committee of the gram panchayat to develop a comprehensive village health plan.</a:t>
            </a:r>
          </a:p>
          <a:p>
            <a:pPr marL="457200" indent="-457200">
              <a:buFont typeface="Arial" panose="020B0604020202020204" pitchFamily="34" charset="0"/>
              <a:buChar char="•"/>
            </a:pPr>
            <a:r>
              <a:rPr lang="en-US" sz="2800" dirty="0"/>
              <a:t>She will arrange escort/accompany pregnant women and children requiring treatment/admission to the nearest pre-identified health facility i.e. primary health </a:t>
            </a:r>
            <a:r>
              <a:rPr lang="en-US" sz="2800" dirty="0" err="1"/>
              <a:t>centre</a:t>
            </a:r>
            <a:r>
              <a:rPr lang="en-US" sz="2800" dirty="0"/>
              <a:t>/community health </a:t>
            </a:r>
            <a:r>
              <a:rPr lang="en-US" sz="2800" dirty="0" err="1"/>
              <a:t>centre</a:t>
            </a:r>
            <a:r>
              <a:rPr lang="en-US" sz="2800" dirty="0"/>
              <a:t>/First Referral Unit.</a:t>
            </a:r>
            <a:endParaRPr lang="en-IN" sz="2800" dirty="0"/>
          </a:p>
        </p:txBody>
      </p:sp>
    </p:spTree>
    <p:extLst>
      <p:ext uri="{BB962C8B-B14F-4D97-AF65-F5344CB8AC3E}">
        <p14:creationId xmlns:p14="http://schemas.microsoft.com/office/powerpoint/2010/main" val="3741202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912285-E1AF-9EEC-165B-40A76865988B}"/>
              </a:ext>
            </a:extLst>
          </p:cNvPr>
          <p:cNvSpPr>
            <a:spLocks noGrp="1"/>
          </p:cNvSpPr>
          <p:nvPr>
            <p:ph type="sldNum" sz="quarter" idx="4"/>
          </p:nvPr>
        </p:nvSpPr>
        <p:spPr/>
        <p:txBody>
          <a:bodyPr/>
          <a:lstStyle/>
          <a:p>
            <a:fld id="{3A4F6043-7A67-491B-98BC-F933DED7226D}" type="slidenum">
              <a:rPr lang="en-US" smtClean="0"/>
              <a:pPr/>
              <a:t>24</a:t>
            </a:fld>
            <a:endParaRPr lang="en-US" dirty="0"/>
          </a:p>
        </p:txBody>
      </p:sp>
      <p:sp>
        <p:nvSpPr>
          <p:cNvPr id="5" name="TextBox 4">
            <a:extLst>
              <a:ext uri="{FF2B5EF4-FFF2-40B4-BE49-F238E27FC236}">
                <a16:creationId xmlns:a16="http://schemas.microsoft.com/office/drawing/2014/main" id="{A42E5B07-68C6-1DA8-3AC6-A1417046790E}"/>
              </a:ext>
            </a:extLst>
          </p:cNvPr>
          <p:cNvSpPr txBox="1"/>
          <p:nvPr/>
        </p:nvSpPr>
        <p:spPr>
          <a:xfrm>
            <a:off x="650240" y="1026160"/>
            <a:ext cx="11033760"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t>ASHA will provide primary medical care for minor ailments such as </a:t>
            </a:r>
            <a:r>
              <a:rPr lang="en-US" sz="2800" dirty="0" err="1"/>
              <a:t>diarrhoea</a:t>
            </a:r>
            <a:r>
              <a:rPr lang="en-US" sz="2800" dirty="0"/>
              <a:t>, fevers, and first-aid for minor injuries. She will be a provider of directly observed treatment short-course (DOTS) under revised national tuberculosis control </a:t>
            </a:r>
            <a:r>
              <a:rPr lang="en-US" sz="2800" dirty="0" err="1"/>
              <a:t>programme</a:t>
            </a:r>
            <a:r>
              <a:rPr lang="en-US" sz="2800" dirty="0"/>
              <a:t>. </a:t>
            </a:r>
          </a:p>
          <a:p>
            <a:pPr marL="457200" indent="-457200">
              <a:buFont typeface="Arial" panose="020B0604020202020204" pitchFamily="34" charset="0"/>
              <a:buChar char="•"/>
            </a:pPr>
            <a:r>
              <a:rPr lang="en-US" sz="2800" dirty="0"/>
              <a:t>She will also act as a depot holder for essential provisions being made available to every habitation like oral rehydration therapy, iron folic acid tablet, chloroquine, disposable delivery kits, oral pills and condoms etc. A drug kit will be provided to each ASHA. Contents of the kit will be based on the recommendations of the expert/technical advisory group set up by the government of India, and include both AYUSH and allopathic formulations.</a:t>
            </a:r>
            <a:endParaRPr lang="en-IN" sz="2800" dirty="0"/>
          </a:p>
        </p:txBody>
      </p:sp>
    </p:spTree>
    <p:extLst>
      <p:ext uri="{BB962C8B-B14F-4D97-AF65-F5344CB8AC3E}">
        <p14:creationId xmlns:p14="http://schemas.microsoft.com/office/powerpoint/2010/main" val="3006454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B16EB8-0721-1D2D-EC81-1F91039059B9}"/>
              </a:ext>
            </a:extLst>
          </p:cNvPr>
          <p:cNvSpPr>
            <a:spLocks noGrp="1"/>
          </p:cNvSpPr>
          <p:nvPr>
            <p:ph type="sldNum" sz="quarter" idx="4"/>
          </p:nvPr>
        </p:nvSpPr>
        <p:spPr/>
        <p:txBody>
          <a:bodyPr/>
          <a:lstStyle/>
          <a:p>
            <a:fld id="{3A4F6043-7A67-491B-98BC-F933DED7226D}" type="slidenum">
              <a:rPr lang="en-US" smtClean="0"/>
              <a:pPr/>
              <a:t>25</a:t>
            </a:fld>
            <a:endParaRPr lang="en-US" dirty="0"/>
          </a:p>
        </p:txBody>
      </p:sp>
      <p:sp>
        <p:nvSpPr>
          <p:cNvPr id="5" name="TextBox 4">
            <a:extLst>
              <a:ext uri="{FF2B5EF4-FFF2-40B4-BE49-F238E27FC236}">
                <a16:creationId xmlns:a16="http://schemas.microsoft.com/office/drawing/2014/main" id="{0DA7ED0C-6716-9AE6-1148-CFCFB1B33CBF}"/>
              </a:ext>
            </a:extLst>
          </p:cNvPr>
          <p:cNvSpPr txBox="1"/>
          <p:nvPr/>
        </p:nvSpPr>
        <p:spPr>
          <a:xfrm>
            <a:off x="680720" y="1127760"/>
            <a:ext cx="10822432"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Her role as a provider can be enhanced subsequently. States can explore the possibility of graded training to her for providing newborn care and management of a range of common ailments, particularly childhood illnesses. </a:t>
            </a:r>
          </a:p>
          <a:p>
            <a:pPr marL="457200" indent="-457200">
              <a:buFont typeface="Arial" panose="020B0604020202020204" pitchFamily="34" charset="0"/>
              <a:buChar char="•"/>
            </a:pPr>
            <a:r>
              <a:rPr lang="en-US" sz="2800" dirty="0"/>
              <a:t>She will inform about the births and deaths in her village and any unusual health problems/disease outbreaks in the community to the sub-</a:t>
            </a:r>
            <a:r>
              <a:rPr lang="en-US" sz="2800" dirty="0" err="1"/>
              <a:t>centre</a:t>
            </a:r>
            <a:r>
              <a:rPr lang="en-US" sz="2800" dirty="0"/>
              <a:t>/primary health </a:t>
            </a:r>
            <a:r>
              <a:rPr lang="en-US" sz="2800" dirty="0" err="1"/>
              <a:t>centre</a:t>
            </a:r>
            <a:endParaRPr lang="en-US" sz="2800" dirty="0"/>
          </a:p>
          <a:p>
            <a:pPr marL="457200" indent="-457200">
              <a:buFont typeface="Arial" panose="020B0604020202020204" pitchFamily="34" charset="0"/>
              <a:buChar char="•"/>
            </a:pPr>
            <a:r>
              <a:rPr lang="en-US" sz="2800" dirty="0"/>
              <a:t>She will promote construction of household toilets under total sanitation campaign.</a:t>
            </a:r>
            <a:endParaRPr lang="en-IN" sz="2800" dirty="0"/>
          </a:p>
        </p:txBody>
      </p:sp>
    </p:spTree>
    <p:extLst>
      <p:ext uri="{BB962C8B-B14F-4D97-AF65-F5344CB8AC3E}">
        <p14:creationId xmlns:p14="http://schemas.microsoft.com/office/powerpoint/2010/main" val="3930787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CD16100-22EA-5BE9-4C70-D9DF89898BB2}"/>
              </a:ext>
            </a:extLst>
          </p:cNvPr>
          <p:cNvSpPr>
            <a:spLocks noGrp="1"/>
          </p:cNvSpPr>
          <p:nvPr>
            <p:ph type="sldNum" sz="quarter" idx="4"/>
          </p:nvPr>
        </p:nvSpPr>
        <p:spPr/>
        <p:txBody>
          <a:bodyPr/>
          <a:lstStyle/>
          <a:p>
            <a:fld id="{3A4F6043-7A67-491B-98BC-F933DED7226D}" type="slidenum">
              <a:rPr lang="en-US" smtClean="0"/>
              <a:pPr/>
              <a:t>26</a:t>
            </a:fld>
            <a:endParaRPr lang="en-US" dirty="0"/>
          </a:p>
        </p:txBody>
      </p:sp>
      <p:sp>
        <p:nvSpPr>
          <p:cNvPr id="6" name="TextBox 5">
            <a:extLst>
              <a:ext uri="{FF2B5EF4-FFF2-40B4-BE49-F238E27FC236}">
                <a16:creationId xmlns:a16="http://schemas.microsoft.com/office/drawing/2014/main" id="{9E9AF708-3D2D-0B00-2B49-59F0E23BCFC4}"/>
              </a:ext>
            </a:extLst>
          </p:cNvPr>
          <p:cNvSpPr txBox="1"/>
          <p:nvPr/>
        </p:nvSpPr>
        <p:spPr>
          <a:xfrm>
            <a:off x="802640" y="1016000"/>
            <a:ext cx="10700512" cy="5016758"/>
          </a:xfrm>
          <a:prstGeom prst="rect">
            <a:avLst/>
          </a:prstGeom>
          <a:noFill/>
        </p:spPr>
        <p:txBody>
          <a:bodyPr wrap="square" rtlCol="0">
            <a:spAutoFit/>
          </a:bodyPr>
          <a:lstStyle/>
          <a:p>
            <a:r>
              <a:rPr lang="en-US" sz="4000" b="1" dirty="0">
                <a:solidFill>
                  <a:schemeClr val="tx1">
                    <a:lumMod val="65000"/>
                    <a:lumOff val="35000"/>
                  </a:schemeClr>
                </a:solidFill>
              </a:rPr>
              <a:t>Role and integration with Anganwadi</a:t>
            </a:r>
          </a:p>
          <a:p>
            <a:r>
              <a:rPr lang="en-US" sz="2800" dirty="0">
                <a:solidFill>
                  <a:schemeClr val="tx1">
                    <a:lumMod val="65000"/>
                    <a:lumOff val="35000"/>
                  </a:schemeClr>
                </a:solidFill>
              </a:rPr>
              <a:t> </a:t>
            </a:r>
          </a:p>
          <a:p>
            <a:pPr marL="457200" indent="-457200">
              <a:buFont typeface="Arial" panose="020B0604020202020204" pitchFamily="34" charset="0"/>
              <a:buChar char="•"/>
            </a:pPr>
            <a:r>
              <a:rPr lang="en-US" sz="2800" dirty="0">
                <a:solidFill>
                  <a:schemeClr val="tx1">
                    <a:lumMod val="65000"/>
                    <a:lumOff val="35000"/>
                  </a:schemeClr>
                </a:solidFill>
              </a:rPr>
              <a:t>Anganwadi worker will guide ASHA in performing following activities : </a:t>
            </a:r>
          </a:p>
          <a:p>
            <a:pPr marL="457200" indent="-457200">
              <a:buFont typeface="Arial" panose="020B0604020202020204" pitchFamily="34" charset="0"/>
              <a:buChar char="•"/>
            </a:pPr>
            <a:endParaRPr lang="en-US" sz="2800" dirty="0">
              <a:solidFill>
                <a:schemeClr val="tx1">
                  <a:lumMod val="65000"/>
                  <a:lumOff val="35000"/>
                </a:schemeClr>
              </a:solidFill>
            </a:endParaRPr>
          </a:p>
          <a:p>
            <a:pPr marL="457200" indent="-457200">
              <a:buFont typeface="Arial" panose="020B0604020202020204" pitchFamily="34" charset="0"/>
              <a:buChar char="•"/>
            </a:pPr>
            <a:r>
              <a:rPr lang="en-US" sz="2800" dirty="0">
                <a:solidFill>
                  <a:schemeClr val="tx1">
                    <a:lumMod val="65000"/>
                    <a:lumOff val="35000"/>
                  </a:schemeClr>
                </a:solidFill>
              </a:rPr>
              <a:t>Organizing Health Day once/twice a month. On health day, the women, adolescent girls and children from the village will be mobilized for orientation on health-related issues such as importance of nutritious food, personal hygiene, care during pregnancy, importance of antenatal check-up and institutional delivery, home remedies for minor ailment and importance of immunization etc. AWWs will inform ANM to participate and guide organizing the Health Days at </a:t>
            </a:r>
            <a:r>
              <a:rPr lang="en-US" sz="2800" dirty="0" err="1">
                <a:solidFill>
                  <a:schemeClr val="tx1">
                    <a:lumMod val="65000"/>
                    <a:lumOff val="35000"/>
                  </a:schemeClr>
                </a:solidFill>
              </a:rPr>
              <a:t>anganwadi</a:t>
            </a:r>
            <a:r>
              <a:rPr lang="en-US" sz="2800" dirty="0">
                <a:solidFill>
                  <a:schemeClr val="tx1">
                    <a:lumMod val="65000"/>
                    <a:lumOff val="35000"/>
                  </a:schemeClr>
                </a:solidFill>
              </a:rPr>
              <a:t> </a:t>
            </a:r>
            <a:r>
              <a:rPr lang="en-US" sz="2800" dirty="0" err="1">
                <a:solidFill>
                  <a:schemeClr val="tx1">
                    <a:lumMod val="65000"/>
                    <a:lumOff val="35000"/>
                  </a:schemeClr>
                </a:solidFill>
              </a:rPr>
              <a:t>centre</a:t>
            </a:r>
            <a:r>
              <a:rPr lang="en-US" sz="2800" dirty="0">
                <a:solidFill>
                  <a:schemeClr val="tx1">
                    <a:lumMod val="65000"/>
                    <a:lumOff val="35000"/>
                  </a:schemeClr>
                </a:solidFill>
              </a:rPr>
              <a:t>;</a:t>
            </a:r>
            <a:endParaRPr lang="en-IN" sz="2800" dirty="0">
              <a:solidFill>
                <a:schemeClr val="tx1">
                  <a:lumMod val="65000"/>
                  <a:lumOff val="35000"/>
                </a:schemeClr>
              </a:solidFill>
            </a:endParaRPr>
          </a:p>
        </p:txBody>
      </p:sp>
    </p:spTree>
    <p:extLst>
      <p:ext uri="{BB962C8B-B14F-4D97-AF65-F5344CB8AC3E}">
        <p14:creationId xmlns:p14="http://schemas.microsoft.com/office/powerpoint/2010/main" val="3161150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FF122D-6413-7CC0-D745-8F28ADB2F462}"/>
              </a:ext>
            </a:extLst>
          </p:cNvPr>
          <p:cNvSpPr>
            <a:spLocks noGrp="1"/>
          </p:cNvSpPr>
          <p:nvPr>
            <p:ph sz="quarter" idx="4"/>
          </p:nvPr>
        </p:nvSpPr>
        <p:spPr>
          <a:xfrm>
            <a:off x="1087120" y="843280"/>
            <a:ext cx="9988440" cy="4801621"/>
          </a:xfrm>
        </p:spPr>
        <p:txBody>
          <a:bodyPr>
            <a:noAutofit/>
          </a:bodyPr>
          <a:lstStyle/>
          <a:p>
            <a:r>
              <a:rPr lang="en-US" sz="2800" dirty="0"/>
              <a:t>AWWs and ANMs will act as resource persons for the training of ASHA; </a:t>
            </a:r>
          </a:p>
          <a:p>
            <a:r>
              <a:rPr lang="en-US" sz="2800" dirty="0"/>
              <a:t>IEC activity through display of posters, folk dances etc. on these days can be undertaken to sensitize the beneficiaries on health related issues; </a:t>
            </a:r>
          </a:p>
          <a:p>
            <a:r>
              <a:rPr lang="en-US" sz="2800" dirty="0"/>
              <a:t>Anganwadi worker will be depot holder for drug kits and will be issuing it to ASHA. The replacement of the consumed drugs can also be done through AWW; </a:t>
            </a:r>
          </a:p>
        </p:txBody>
      </p:sp>
      <p:sp>
        <p:nvSpPr>
          <p:cNvPr id="4" name="Slide Number Placeholder 3">
            <a:extLst>
              <a:ext uri="{FF2B5EF4-FFF2-40B4-BE49-F238E27FC236}">
                <a16:creationId xmlns:a16="http://schemas.microsoft.com/office/drawing/2014/main" id="{1F9E5232-66B5-84BE-A763-5EEACAC18CD4}"/>
              </a:ext>
            </a:extLst>
          </p:cNvPr>
          <p:cNvSpPr>
            <a:spLocks noGrp="1"/>
          </p:cNvSpPr>
          <p:nvPr>
            <p:ph type="sldNum" sz="quarter" idx="14"/>
          </p:nvPr>
        </p:nvSpPr>
        <p:spPr/>
        <p:txBody>
          <a:bodyPr/>
          <a:lstStyle/>
          <a:p>
            <a:fld id="{3A4F6043-7A67-491B-98BC-F933DED7226D}" type="slidenum">
              <a:rPr lang="en-US" smtClean="0"/>
              <a:pPr/>
              <a:t>27</a:t>
            </a:fld>
            <a:endParaRPr lang="en-US" dirty="0"/>
          </a:p>
        </p:txBody>
      </p:sp>
    </p:spTree>
    <p:extLst>
      <p:ext uri="{BB962C8B-B14F-4D97-AF65-F5344CB8AC3E}">
        <p14:creationId xmlns:p14="http://schemas.microsoft.com/office/powerpoint/2010/main" val="2260229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0D549-3929-7583-0388-258A13D45A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FEFD7A-C1CA-050A-B553-30EDE87F4ADD}"/>
              </a:ext>
            </a:extLst>
          </p:cNvPr>
          <p:cNvSpPr>
            <a:spLocks noGrp="1"/>
          </p:cNvSpPr>
          <p:nvPr>
            <p:ph sz="quarter" idx="4"/>
          </p:nvPr>
        </p:nvSpPr>
        <p:spPr>
          <a:xfrm>
            <a:off x="812800" y="1249681"/>
            <a:ext cx="10690352" cy="3850640"/>
          </a:xfrm>
        </p:spPr>
        <p:txBody>
          <a:bodyPr>
            <a:noAutofit/>
          </a:bodyPr>
          <a:lstStyle/>
          <a:p>
            <a:r>
              <a:rPr lang="en-US" sz="2800" dirty="0"/>
              <a:t>AWW will update the list of eligible couples and also the children less than one year of age in the village with the help of ASHA; and </a:t>
            </a:r>
          </a:p>
          <a:p>
            <a:r>
              <a:rPr lang="en-US" sz="2800" dirty="0"/>
              <a:t>ASHA will support the AWW in mobilizing pregnant and lactating women and infants for nutrition supplement. She would also take initiative for bringing the beneficiaries from the village on specific days of immunization, health check-ups/health days etc. to </a:t>
            </a:r>
            <a:r>
              <a:rPr lang="en-US" sz="2800" dirty="0" err="1"/>
              <a:t>anganwadi</a:t>
            </a:r>
            <a:r>
              <a:rPr lang="en-US" sz="2800" dirty="0"/>
              <a:t> </a:t>
            </a:r>
            <a:r>
              <a:rPr lang="en-US" sz="2800" dirty="0" err="1"/>
              <a:t>centres</a:t>
            </a:r>
            <a:r>
              <a:rPr lang="en-US" sz="2800" dirty="0"/>
              <a:t>.</a:t>
            </a:r>
            <a:endParaRPr lang="en-IN" sz="2800" dirty="0"/>
          </a:p>
          <a:p>
            <a:endParaRPr lang="en-US" sz="2800" dirty="0"/>
          </a:p>
        </p:txBody>
      </p:sp>
      <p:sp>
        <p:nvSpPr>
          <p:cNvPr id="4" name="Slide Number Placeholder 3">
            <a:extLst>
              <a:ext uri="{FF2B5EF4-FFF2-40B4-BE49-F238E27FC236}">
                <a16:creationId xmlns:a16="http://schemas.microsoft.com/office/drawing/2014/main" id="{A977DE56-6D1E-7DBA-F64C-EC4E8B1AD210}"/>
              </a:ext>
            </a:extLst>
          </p:cNvPr>
          <p:cNvSpPr>
            <a:spLocks noGrp="1"/>
          </p:cNvSpPr>
          <p:nvPr>
            <p:ph type="sldNum" sz="quarter" idx="14"/>
          </p:nvPr>
        </p:nvSpPr>
        <p:spPr/>
        <p:txBody>
          <a:bodyPr/>
          <a:lstStyle/>
          <a:p>
            <a:fld id="{3A4F6043-7A67-491B-98BC-F933DED7226D}" type="slidenum">
              <a:rPr lang="en-US" smtClean="0"/>
              <a:pPr/>
              <a:t>28</a:t>
            </a:fld>
            <a:endParaRPr lang="en-US" dirty="0"/>
          </a:p>
        </p:txBody>
      </p:sp>
    </p:spTree>
    <p:extLst>
      <p:ext uri="{BB962C8B-B14F-4D97-AF65-F5344CB8AC3E}">
        <p14:creationId xmlns:p14="http://schemas.microsoft.com/office/powerpoint/2010/main" val="552230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993016-7AEB-7914-48B9-6FA4193CCED4}"/>
              </a:ext>
            </a:extLst>
          </p:cNvPr>
          <p:cNvSpPr>
            <a:spLocks noGrp="1"/>
          </p:cNvSpPr>
          <p:nvPr>
            <p:ph type="sldNum" sz="quarter" idx="14"/>
          </p:nvPr>
        </p:nvSpPr>
        <p:spPr/>
        <p:txBody>
          <a:bodyPr/>
          <a:lstStyle/>
          <a:p>
            <a:fld id="{3A4F6043-7A67-491B-98BC-F933DED7226D}" type="slidenum">
              <a:rPr lang="en-US" smtClean="0"/>
              <a:pPr/>
              <a:t>29</a:t>
            </a:fld>
            <a:endParaRPr lang="en-US" dirty="0"/>
          </a:p>
        </p:txBody>
      </p:sp>
      <p:sp>
        <p:nvSpPr>
          <p:cNvPr id="5" name="Content Placeholder 4">
            <a:extLst>
              <a:ext uri="{FF2B5EF4-FFF2-40B4-BE49-F238E27FC236}">
                <a16:creationId xmlns:a16="http://schemas.microsoft.com/office/drawing/2014/main" id="{70979FC3-A93F-275F-C8A2-0867229B64C8}"/>
              </a:ext>
            </a:extLst>
          </p:cNvPr>
          <p:cNvSpPr>
            <a:spLocks noGrp="1"/>
          </p:cNvSpPr>
          <p:nvPr>
            <p:ph sz="half" idx="15"/>
          </p:nvPr>
        </p:nvSpPr>
        <p:spPr>
          <a:xfrm>
            <a:off x="422178" y="568960"/>
            <a:ext cx="11080974" cy="5415280"/>
          </a:xfrm>
        </p:spPr>
        <p:txBody>
          <a:bodyPr>
            <a:normAutofit lnSpcReduction="10000"/>
          </a:bodyPr>
          <a:lstStyle/>
          <a:p>
            <a:r>
              <a:rPr lang="en-US" sz="4000" b="1" dirty="0"/>
              <a:t>Role and integration with ANM </a:t>
            </a:r>
          </a:p>
          <a:p>
            <a:r>
              <a:rPr lang="en-US" sz="2800" dirty="0"/>
              <a:t>Auxiliary Nurse Midwife (ANM) will guide ASHA in performing following activities : </a:t>
            </a:r>
          </a:p>
          <a:p>
            <a:pPr marL="342900" indent="-342900">
              <a:buAutoNum type="alphaLcParenBoth"/>
            </a:pPr>
            <a:r>
              <a:rPr lang="en-US" sz="2800" dirty="0"/>
              <a:t>She will hold weekly/ fortnightly meeting with ASHA and discuss the activities undertaken during the week/fortnight. She will guide her in case ASHA had encountered any problem during the performance of her activity; </a:t>
            </a:r>
          </a:p>
          <a:p>
            <a:pPr marL="342900" indent="-342900">
              <a:buAutoNum type="alphaLcParenBoth"/>
            </a:pPr>
            <a:r>
              <a:rPr lang="en-US" sz="2800" dirty="0"/>
              <a:t>AWWs and ANMs will act as resource persons for the training of ASHA; </a:t>
            </a:r>
          </a:p>
          <a:p>
            <a:pPr marL="342900" indent="-342900">
              <a:buAutoNum type="alphaLcParenBoth"/>
            </a:pPr>
            <a:r>
              <a:rPr lang="en-US" sz="2800" dirty="0"/>
              <a:t>ANMs will inform ASHA regarding date and time of the outreach session and will also guide her for bringing the beneficiary to the outreach session; </a:t>
            </a:r>
            <a:endParaRPr lang="en-IN" sz="2800" dirty="0"/>
          </a:p>
        </p:txBody>
      </p:sp>
    </p:spTree>
    <p:extLst>
      <p:ext uri="{BB962C8B-B14F-4D97-AF65-F5344CB8AC3E}">
        <p14:creationId xmlns:p14="http://schemas.microsoft.com/office/powerpoint/2010/main" val="3696701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3184-A09D-3C33-90B0-BB209F36B0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8A7219-72D3-A7BD-172C-BA364FAE9BF3}"/>
              </a:ext>
            </a:extLst>
          </p:cNvPr>
          <p:cNvSpPr>
            <a:spLocks noGrp="1"/>
          </p:cNvSpPr>
          <p:nvPr>
            <p:ph type="sldNum" sz="quarter" idx="14"/>
          </p:nvPr>
        </p:nvSpPr>
        <p:spPr/>
        <p:txBody>
          <a:bodyPr/>
          <a:lstStyle/>
          <a:p>
            <a:fld id="{3A4F6043-7A67-491B-98BC-F933DED7226D}" type="slidenum">
              <a:rPr lang="en-US" smtClean="0"/>
              <a:pPr/>
              <a:t>30</a:t>
            </a:fld>
            <a:endParaRPr lang="en-US" dirty="0"/>
          </a:p>
        </p:txBody>
      </p:sp>
      <p:sp>
        <p:nvSpPr>
          <p:cNvPr id="5" name="Content Placeholder 4">
            <a:extLst>
              <a:ext uri="{FF2B5EF4-FFF2-40B4-BE49-F238E27FC236}">
                <a16:creationId xmlns:a16="http://schemas.microsoft.com/office/drawing/2014/main" id="{350DD934-21F4-09DC-D88F-2F6E5AD3DC18}"/>
              </a:ext>
            </a:extLst>
          </p:cNvPr>
          <p:cNvSpPr>
            <a:spLocks noGrp="1"/>
          </p:cNvSpPr>
          <p:nvPr>
            <p:ph sz="half" idx="15"/>
          </p:nvPr>
        </p:nvSpPr>
        <p:spPr>
          <a:xfrm>
            <a:off x="802640" y="1026160"/>
            <a:ext cx="10700512" cy="4805680"/>
          </a:xfrm>
        </p:spPr>
        <p:txBody>
          <a:bodyPr>
            <a:normAutofit/>
          </a:bodyPr>
          <a:lstStyle/>
          <a:p>
            <a:r>
              <a:rPr lang="en-US" sz="2800" dirty="0"/>
              <a:t>(d) ANM will participate and guide in organizing the Health Days at Anganwadi-</a:t>
            </a:r>
            <a:r>
              <a:rPr lang="en-US" sz="2800" dirty="0" err="1"/>
              <a:t>centre</a:t>
            </a:r>
            <a:r>
              <a:rPr lang="en-US" sz="2800" dirty="0"/>
              <a:t>. </a:t>
            </a:r>
          </a:p>
          <a:p>
            <a:r>
              <a:rPr lang="en-US" sz="2800" dirty="0"/>
              <a:t>(e) She will take help of ASHA in updating eligible couple register of the village concerned.</a:t>
            </a:r>
          </a:p>
          <a:p>
            <a:r>
              <a:rPr lang="en-US" sz="2800" dirty="0"/>
              <a:t>(f) She will utilize ASHA in motivating the pregnant women for coming to sub-</a:t>
            </a:r>
            <a:r>
              <a:rPr lang="en-US" sz="2800" dirty="0" err="1"/>
              <a:t>centre</a:t>
            </a:r>
            <a:r>
              <a:rPr lang="en-US" sz="2800" dirty="0"/>
              <a:t> for initial check ups. She will also help ANMs in bringing married couples to sub-</a:t>
            </a:r>
            <a:r>
              <a:rPr lang="en-US" sz="2800" dirty="0" err="1"/>
              <a:t>centres</a:t>
            </a:r>
            <a:r>
              <a:rPr lang="en-US" sz="2800" dirty="0"/>
              <a:t> for adopting family planning.</a:t>
            </a:r>
          </a:p>
          <a:p>
            <a:r>
              <a:rPr lang="en-US" sz="2800" dirty="0"/>
              <a:t>(g) ANM will guide ASHA in motivating pregnant women for taking full course of iron and folic acid tablets and tetanus toxoid injections etc.</a:t>
            </a:r>
            <a:endParaRPr lang="en-IN" sz="2800" dirty="0"/>
          </a:p>
        </p:txBody>
      </p:sp>
    </p:spTree>
    <p:extLst>
      <p:ext uri="{BB962C8B-B14F-4D97-AF65-F5344CB8AC3E}">
        <p14:creationId xmlns:p14="http://schemas.microsoft.com/office/powerpoint/2010/main" val="3262629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04CE67-3697-376F-CFC6-6EC031BC3598}"/>
              </a:ext>
            </a:extLst>
          </p:cNvPr>
          <p:cNvSpPr>
            <a:spLocks noGrp="1"/>
          </p:cNvSpPr>
          <p:nvPr>
            <p:ph type="sldNum" sz="quarter" idx="14"/>
          </p:nvPr>
        </p:nvSpPr>
        <p:spPr/>
        <p:txBody>
          <a:bodyPr/>
          <a:lstStyle/>
          <a:p>
            <a:fld id="{3A4F6043-7A67-491B-98BC-F933DED7226D}" type="slidenum">
              <a:rPr lang="en-US" smtClean="0"/>
              <a:pPr/>
              <a:t>31</a:t>
            </a:fld>
            <a:endParaRPr lang="en-US" dirty="0"/>
          </a:p>
        </p:txBody>
      </p:sp>
      <p:sp>
        <p:nvSpPr>
          <p:cNvPr id="5" name="Content Placeholder 4">
            <a:extLst>
              <a:ext uri="{FF2B5EF4-FFF2-40B4-BE49-F238E27FC236}">
                <a16:creationId xmlns:a16="http://schemas.microsoft.com/office/drawing/2014/main" id="{00822D98-3FD1-C858-EB7F-4D3C7DEE58AC}"/>
              </a:ext>
            </a:extLst>
          </p:cNvPr>
          <p:cNvSpPr>
            <a:spLocks noGrp="1"/>
          </p:cNvSpPr>
          <p:nvPr>
            <p:ph sz="half" idx="15"/>
          </p:nvPr>
        </p:nvSpPr>
        <p:spPr>
          <a:xfrm>
            <a:off x="422178" y="1534161"/>
            <a:ext cx="11080974" cy="3637280"/>
          </a:xfrm>
        </p:spPr>
        <p:txBody>
          <a:bodyPr>
            <a:normAutofit/>
          </a:bodyPr>
          <a:lstStyle/>
          <a:p>
            <a:r>
              <a:rPr lang="en-US" sz="2800" dirty="0"/>
              <a:t>(h) ANMs will orient ASHA on the dose schedule and side effects of oral pills.</a:t>
            </a:r>
          </a:p>
          <a:p>
            <a:r>
              <a:rPr lang="en-US" sz="2800" dirty="0"/>
              <a:t> (</a:t>
            </a:r>
            <a:r>
              <a:rPr lang="en-US" sz="2800" dirty="0" err="1"/>
              <a:t>i</a:t>
            </a:r>
            <a:r>
              <a:rPr lang="en-US" sz="2800" dirty="0"/>
              <a:t>) ANMs will educate ASHA on danger signs of pregnancy and </a:t>
            </a:r>
            <a:r>
              <a:rPr lang="en-US" sz="2800" dirty="0" err="1"/>
              <a:t>labour</a:t>
            </a:r>
            <a:r>
              <a:rPr lang="en-US" sz="2800" dirty="0"/>
              <a:t> so that she can timely identify and help beneficiary in getting further treatment .</a:t>
            </a:r>
          </a:p>
          <a:p>
            <a:r>
              <a:rPr lang="en-US" sz="2800" dirty="0"/>
              <a:t>(j) ANMs will inform ASHA on date, time and place for initial and periodic training schedule. She will also ensure that during the training ASHA gets the compensation for performance and also TA/DA for attending the training.</a:t>
            </a:r>
            <a:endParaRPr lang="en-IN" sz="2800" dirty="0"/>
          </a:p>
        </p:txBody>
      </p:sp>
    </p:spTree>
    <p:extLst>
      <p:ext uri="{BB962C8B-B14F-4D97-AF65-F5344CB8AC3E}">
        <p14:creationId xmlns:p14="http://schemas.microsoft.com/office/powerpoint/2010/main" val="1078582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9EF46-F7A4-E247-11B3-59F67BD331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B081CC-0910-3157-B667-F9B5196EAE48}"/>
              </a:ext>
            </a:extLst>
          </p:cNvPr>
          <p:cNvSpPr>
            <a:spLocks noGrp="1"/>
          </p:cNvSpPr>
          <p:nvPr>
            <p:ph type="sldNum" sz="quarter" idx="14"/>
          </p:nvPr>
        </p:nvSpPr>
        <p:spPr/>
        <p:txBody>
          <a:bodyPr/>
          <a:lstStyle/>
          <a:p>
            <a:fld id="{3A4F6043-7A67-491B-98BC-F933DED7226D}" type="slidenum">
              <a:rPr lang="en-US" smtClean="0"/>
              <a:pPr/>
              <a:t>32</a:t>
            </a:fld>
            <a:endParaRPr lang="en-US" dirty="0"/>
          </a:p>
        </p:txBody>
      </p:sp>
      <p:sp>
        <p:nvSpPr>
          <p:cNvPr id="5" name="Content Placeholder 4">
            <a:extLst>
              <a:ext uri="{FF2B5EF4-FFF2-40B4-BE49-F238E27FC236}">
                <a16:creationId xmlns:a16="http://schemas.microsoft.com/office/drawing/2014/main" id="{ED6AFEE8-9109-54B7-8FFC-33BB1E5DBAB0}"/>
              </a:ext>
            </a:extLst>
          </p:cNvPr>
          <p:cNvSpPr>
            <a:spLocks noGrp="1"/>
          </p:cNvSpPr>
          <p:nvPr>
            <p:ph sz="half" idx="15"/>
          </p:nvPr>
        </p:nvSpPr>
        <p:spPr>
          <a:xfrm>
            <a:off x="422178" y="609600"/>
            <a:ext cx="11080974" cy="5283199"/>
          </a:xfrm>
        </p:spPr>
        <p:txBody>
          <a:bodyPr>
            <a:normAutofit lnSpcReduction="10000"/>
          </a:bodyPr>
          <a:lstStyle/>
          <a:p>
            <a:r>
              <a:rPr lang="en-US" sz="4300" b="1" dirty="0"/>
              <a:t>Anganwadi worker </a:t>
            </a:r>
          </a:p>
          <a:p>
            <a:pPr marL="457200" indent="-457200">
              <a:buFont typeface="Arial" panose="020B0604020202020204" pitchFamily="34" charset="0"/>
              <a:buChar char="•"/>
            </a:pPr>
            <a:r>
              <a:rPr lang="en-US" sz="2800" dirty="0" err="1"/>
              <a:t>Angan</a:t>
            </a:r>
            <a:r>
              <a:rPr lang="en-US" sz="2800" dirty="0"/>
              <a:t> literally means a courtyard. Under the ICDS (Integrated Child Development Services) Scheme, there is an </a:t>
            </a:r>
            <a:r>
              <a:rPr lang="en-US" sz="2800" dirty="0" err="1"/>
              <a:t>anganwadi</a:t>
            </a:r>
            <a:r>
              <a:rPr lang="en-US" sz="2800" dirty="0"/>
              <a:t> worker for a population of 400-800. </a:t>
            </a:r>
          </a:p>
          <a:p>
            <a:pPr marL="457200" indent="-457200">
              <a:buFont typeface="Arial" panose="020B0604020202020204" pitchFamily="34" charset="0"/>
              <a:buChar char="•"/>
            </a:pPr>
            <a:r>
              <a:rPr lang="en-US" sz="2800" dirty="0"/>
              <a:t>There are about 100 such workers in each ICDS Project. As of date over 7,067 ICDS blocks are functioning in the country. </a:t>
            </a:r>
          </a:p>
          <a:p>
            <a:pPr marL="457200" indent="-457200">
              <a:buFont typeface="Arial" panose="020B0604020202020204" pitchFamily="34" charset="0"/>
              <a:buChar char="•"/>
            </a:pPr>
            <a:r>
              <a:rPr lang="en-US" sz="2800" dirty="0"/>
              <a:t>The </a:t>
            </a:r>
            <a:r>
              <a:rPr lang="en-US" sz="2800" dirty="0" err="1"/>
              <a:t>anganwadi</a:t>
            </a:r>
            <a:r>
              <a:rPr lang="en-US" sz="2800" dirty="0"/>
              <a:t> worker is selected from the community she is expected to serve. </a:t>
            </a:r>
          </a:p>
          <a:p>
            <a:pPr marL="457200" indent="-457200">
              <a:buFont typeface="Arial" panose="020B0604020202020204" pitchFamily="34" charset="0"/>
              <a:buChar char="•"/>
            </a:pPr>
            <a:r>
              <a:rPr lang="en-US" sz="2800" dirty="0"/>
              <a:t>She undergoes training in various aspects of health, nutrition, and child development for 4 months. </a:t>
            </a:r>
            <a:endParaRPr lang="en-IN" sz="2800" dirty="0"/>
          </a:p>
        </p:txBody>
      </p:sp>
    </p:spTree>
    <p:extLst>
      <p:ext uri="{BB962C8B-B14F-4D97-AF65-F5344CB8AC3E}">
        <p14:creationId xmlns:p14="http://schemas.microsoft.com/office/powerpoint/2010/main" val="4084355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3813-0717-5B25-DC1E-84C1F25B8B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E946FF-4F4D-342D-9C23-0A74B35E42D7}"/>
              </a:ext>
            </a:extLst>
          </p:cNvPr>
          <p:cNvSpPr>
            <a:spLocks noGrp="1"/>
          </p:cNvSpPr>
          <p:nvPr>
            <p:ph type="sldNum" sz="quarter" idx="14"/>
          </p:nvPr>
        </p:nvSpPr>
        <p:spPr/>
        <p:txBody>
          <a:bodyPr/>
          <a:lstStyle/>
          <a:p>
            <a:fld id="{3A4F6043-7A67-491B-98BC-F933DED7226D}" type="slidenum">
              <a:rPr lang="en-US" smtClean="0"/>
              <a:pPr/>
              <a:t>33</a:t>
            </a:fld>
            <a:endParaRPr lang="en-US" dirty="0"/>
          </a:p>
        </p:txBody>
      </p:sp>
      <p:sp>
        <p:nvSpPr>
          <p:cNvPr id="5" name="Content Placeholder 4">
            <a:extLst>
              <a:ext uri="{FF2B5EF4-FFF2-40B4-BE49-F238E27FC236}">
                <a16:creationId xmlns:a16="http://schemas.microsoft.com/office/drawing/2014/main" id="{F9672BB4-0655-8FD8-AABC-E2DB215B3C2A}"/>
              </a:ext>
            </a:extLst>
          </p:cNvPr>
          <p:cNvSpPr>
            <a:spLocks noGrp="1"/>
          </p:cNvSpPr>
          <p:nvPr>
            <p:ph sz="half" idx="15"/>
          </p:nvPr>
        </p:nvSpPr>
        <p:spPr>
          <a:xfrm>
            <a:off x="422178" y="1097281"/>
            <a:ext cx="11080974" cy="5212080"/>
          </a:xfrm>
        </p:spPr>
        <p:txBody>
          <a:bodyPr>
            <a:normAutofit/>
          </a:bodyPr>
          <a:lstStyle/>
          <a:p>
            <a:pPr marL="457200" indent="-457200">
              <a:buFont typeface="Arial" panose="020B0604020202020204" pitchFamily="34" charset="0"/>
              <a:buChar char="•"/>
            </a:pPr>
            <a:r>
              <a:rPr lang="en-US" sz="2800" dirty="0"/>
              <a:t>She is a part-time worker and is paid an honorarium of Rs. 1500 per month for the services rendered, which include health check-up including maintenance of growth chart, immunization, supplementary nutrition, health education, non-formal pre-school education and referral services. </a:t>
            </a:r>
          </a:p>
          <a:p>
            <a:pPr marL="457200" indent="-457200">
              <a:buFont typeface="Arial" panose="020B0604020202020204" pitchFamily="34" charset="0"/>
              <a:buChar char="•"/>
            </a:pPr>
            <a:r>
              <a:rPr lang="en-US" sz="2800" dirty="0"/>
              <a:t>The beneficiaries are especially nursing mothers, pregnant women, other women (15-45 years), children below the age of 6 years and adolescent girls. </a:t>
            </a:r>
          </a:p>
          <a:p>
            <a:pPr marL="457200" indent="-457200">
              <a:buFont typeface="Arial" panose="020B0604020202020204" pitchFamily="34" charset="0"/>
              <a:buChar char="•"/>
            </a:pPr>
            <a:r>
              <a:rPr lang="en-US" sz="2800" dirty="0"/>
              <a:t>Along with Village Health Guides, the </a:t>
            </a:r>
            <a:r>
              <a:rPr lang="en-US" sz="2800" dirty="0" err="1"/>
              <a:t>anganwadi</a:t>
            </a:r>
            <a:r>
              <a:rPr lang="en-US" sz="2800" dirty="0"/>
              <a:t> workers are the community’s primary link with the health services and all other services for young children.</a:t>
            </a:r>
            <a:endParaRPr lang="en-IN" sz="2800" dirty="0"/>
          </a:p>
        </p:txBody>
      </p:sp>
    </p:spTree>
    <p:extLst>
      <p:ext uri="{BB962C8B-B14F-4D97-AF65-F5344CB8AC3E}">
        <p14:creationId xmlns:p14="http://schemas.microsoft.com/office/powerpoint/2010/main" val="2855846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FE9A6-0119-D497-CEDA-6E03AA434B9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2AA379-9EA3-C47F-854A-4CD8DB9AB5F6}"/>
              </a:ext>
            </a:extLst>
          </p:cNvPr>
          <p:cNvSpPr>
            <a:spLocks noGrp="1"/>
          </p:cNvSpPr>
          <p:nvPr>
            <p:ph type="sldNum" sz="quarter" idx="14"/>
          </p:nvPr>
        </p:nvSpPr>
        <p:spPr/>
        <p:txBody>
          <a:bodyPr/>
          <a:lstStyle/>
          <a:p>
            <a:fld id="{3A4F6043-7A67-491B-98BC-F933DED7226D}" type="slidenum">
              <a:rPr lang="en-US" smtClean="0"/>
              <a:pPr/>
              <a:t>34</a:t>
            </a:fld>
            <a:endParaRPr lang="en-US" dirty="0"/>
          </a:p>
        </p:txBody>
      </p:sp>
      <p:sp>
        <p:nvSpPr>
          <p:cNvPr id="5" name="Content Placeholder 4">
            <a:extLst>
              <a:ext uri="{FF2B5EF4-FFF2-40B4-BE49-F238E27FC236}">
                <a16:creationId xmlns:a16="http://schemas.microsoft.com/office/drawing/2014/main" id="{4F696CCF-CC1C-7666-2558-E58762342DDA}"/>
              </a:ext>
            </a:extLst>
          </p:cNvPr>
          <p:cNvSpPr>
            <a:spLocks noGrp="1"/>
          </p:cNvSpPr>
          <p:nvPr>
            <p:ph sz="half" idx="15"/>
          </p:nvPr>
        </p:nvSpPr>
        <p:spPr>
          <a:xfrm>
            <a:off x="422178" y="1097281"/>
            <a:ext cx="11080974" cy="4846319"/>
          </a:xfrm>
        </p:spPr>
        <p:txBody>
          <a:bodyPr>
            <a:normAutofit/>
          </a:bodyPr>
          <a:lstStyle/>
          <a:p>
            <a:r>
              <a:rPr lang="en-US" sz="4000" b="1" dirty="0"/>
              <a:t>Local dais:</a:t>
            </a:r>
          </a:p>
          <a:p>
            <a:pPr marL="457200" indent="-457200">
              <a:buFont typeface="Arial" panose="020B0604020202020204" pitchFamily="34" charset="0"/>
              <a:buChar char="•"/>
            </a:pPr>
            <a:r>
              <a:rPr lang="en-US" sz="2800" dirty="0"/>
              <a:t>A scheme for training of Dais was initiated during 2001-02. </a:t>
            </a:r>
          </a:p>
          <a:p>
            <a:pPr marL="457200" indent="-457200">
              <a:buFont typeface="Arial" panose="020B0604020202020204" pitchFamily="34" charset="0"/>
              <a:buChar char="•"/>
            </a:pPr>
            <a:r>
              <a:rPr lang="en-US" sz="2800" dirty="0"/>
              <a:t>The scheme was implemented in 156 districts in 18 states/UTs of the country. The districts selected were on the basis of the safe delivery rate being less than 30 per cent. </a:t>
            </a:r>
          </a:p>
          <a:p>
            <a:pPr marL="457200" indent="-457200">
              <a:buFont typeface="Arial" panose="020B0604020202020204" pitchFamily="34" charset="0"/>
              <a:buChar char="•"/>
            </a:pPr>
            <a:r>
              <a:rPr lang="en-US" sz="2800" dirty="0"/>
              <a:t>The scheme was extended to all the districts of EAG states. The aim was to train at least one Dai in every village with the objective of making deliveries safe.</a:t>
            </a:r>
            <a:endParaRPr lang="en-IN" sz="2800" dirty="0"/>
          </a:p>
        </p:txBody>
      </p:sp>
    </p:spTree>
    <p:extLst>
      <p:ext uri="{BB962C8B-B14F-4D97-AF65-F5344CB8AC3E}">
        <p14:creationId xmlns:p14="http://schemas.microsoft.com/office/powerpoint/2010/main" val="2803910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5BD33-5D33-1610-DEE2-4AB581EBA3E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6B2AD4-CBE4-90BD-DD5A-DF2C056812FF}"/>
              </a:ext>
            </a:extLst>
          </p:cNvPr>
          <p:cNvSpPr>
            <a:spLocks noGrp="1"/>
          </p:cNvSpPr>
          <p:nvPr>
            <p:ph type="sldNum" sz="quarter" idx="14"/>
          </p:nvPr>
        </p:nvSpPr>
        <p:spPr/>
        <p:txBody>
          <a:bodyPr/>
          <a:lstStyle/>
          <a:p>
            <a:fld id="{3A4F6043-7A67-491B-98BC-F933DED7226D}" type="slidenum">
              <a:rPr lang="en-US" smtClean="0"/>
              <a:pPr/>
              <a:t>35</a:t>
            </a:fld>
            <a:endParaRPr lang="en-US" dirty="0"/>
          </a:p>
        </p:txBody>
      </p:sp>
      <p:sp>
        <p:nvSpPr>
          <p:cNvPr id="5" name="Content Placeholder 4">
            <a:extLst>
              <a:ext uri="{FF2B5EF4-FFF2-40B4-BE49-F238E27FC236}">
                <a16:creationId xmlns:a16="http://schemas.microsoft.com/office/drawing/2014/main" id="{0450FA76-ABD2-B51F-DAD2-60CE1DAA3F2D}"/>
              </a:ext>
            </a:extLst>
          </p:cNvPr>
          <p:cNvSpPr>
            <a:spLocks noGrp="1"/>
          </p:cNvSpPr>
          <p:nvPr>
            <p:ph sz="half" idx="15"/>
          </p:nvPr>
        </p:nvSpPr>
        <p:spPr>
          <a:xfrm>
            <a:off x="422178" y="589280"/>
            <a:ext cx="11080974" cy="5831839"/>
          </a:xfrm>
        </p:spPr>
        <p:txBody>
          <a:bodyPr>
            <a:normAutofit lnSpcReduction="10000"/>
          </a:bodyPr>
          <a:lstStyle/>
          <a:p>
            <a:r>
              <a:rPr lang="en-US" sz="4300" b="1" dirty="0"/>
              <a:t>Sub-</a:t>
            </a:r>
            <a:r>
              <a:rPr lang="en-US" sz="4300" b="1" dirty="0" err="1"/>
              <a:t>centre</a:t>
            </a:r>
            <a:r>
              <a:rPr lang="en-US" sz="4300" b="1" dirty="0"/>
              <a:t> Level </a:t>
            </a:r>
          </a:p>
          <a:p>
            <a:pPr marL="457200" indent="-457200">
              <a:buFont typeface="Arial" panose="020B0604020202020204" pitchFamily="34" charset="0"/>
              <a:buChar char="•"/>
            </a:pPr>
            <a:r>
              <a:rPr lang="en-US" sz="2800" dirty="0"/>
              <a:t>The sub-</a:t>
            </a:r>
            <a:r>
              <a:rPr lang="en-US" sz="2800" dirty="0" err="1"/>
              <a:t>centre</a:t>
            </a:r>
            <a:r>
              <a:rPr lang="en-US" sz="2800" dirty="0"/>
              <a:t> is the peripheral outpost of the existing health delivery system in rural areas. </a:t>
            </a:r>
          </a:p>
          <a:p>
            <a:pPr marL="457200" indent="-457200">
              <a:buFont typeface="Arial" panose="020B0604020202020204" pitchFamily="34" charset="0"/>
              <a:buChar char="•"/>
            </a:pPr>
            <a:r>
              <a:rPr lang="en-US" sz="2800" dirty="0"/>
              <a:t>They are being established on the basis of one sub-</a:t>
            </a:r>
            <a:r>
              <a:rPr lang="en-US" sz="2800" dirty="0" err="1"/>
              <a:t>centre</a:t>
            </a:r>
            <a:r>
              <a:rPr lang="en-US" sz="2800" dirty="0"/>
              <a:t> for every 5000 population in general and one for every 3000 population in hilly, tribal and backward areas. </a:t>
            </a:r>
          </a:p>
          <a:p>
            <a:pPr marL="457200" indent="-457200">
              <a:buFont typeface="Arial" panose="020B0604020202020204" pitchFamily="34" charset="0"/>
              <a:buChar char="•"/>
            </a:pPr>
            <a:r>
              <a:rPr lang="en-US" sz="2800" dirty="0"/>
              <a:t>As of March 2017, 25,650 PHCs were working with 6 sub-</a:t>
            </a:r>
            <a:r>
              <a:rPr lang="en-US" sz="2800" dirty="0" err="1"/>
              <a:t>centres</a:t>
            </a:r>
            <a:r>
              <a:rPr lang="en-US" sz="2800" dirty="0"/>
              <a:t> under each. A sub-</a:t>
            </a:r>
            <a:r>
              <a:rPr lang="en-US" sz="2800" dirty="0" err="1"/>
              <a:t>centre</a:t>
            </a:r>
            <a:r>
              <a:rPr lang="en-US" sz="2800" dirty="0"/>
              <a:t> provides interface with the community at the grass-root level, providing all the primary health care services. </a:t>
            </a:r>
          </a:p>
          <a:p>
            <a:pPr marL="457200" indent="-457200">
              <a:buFont typeface="Arial" panose="020B0604020202020204" pitchFamily="34" charset="0"/>
              <a:buChar char="•"/>
            </a:pPr>
            <a:r>
              <a:rPr lang="en-US" sz="2800" dirty="0"/>
              <a:t>One LHV and one health assistant (male) located at PHC are entrusted with the task of supervision of six sub </a:t>
            </a:r>
            <a:r>
              <a:rPr lang="en-US" sz="2800" dirty="0" err="1"/>
              <a:t>centres</a:t>
            </a:r>
            <a:r>
              <a:rPr lang="en-US" sz="2800" dirty="0"/>
              <a:t>.</a:t>
            </a:r>
            <a:endParaRPr lang="en-IN" sz="2800" dirty="0"/>
          </a:p>
        </p:txBody>
      </p:sp>
    </p:spTree>
    <p:extLst>
      <p:ext uri="{BB962C8B-B14F-4D97-AF65-F5344CB8AC3E}">
        <p14:creationId xmlns:p14="http://schemas.microsoft.com/office/powerpoint/2010/main" val="2686420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271D-4443-2404-C2BF-DF7B2ED512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E5C136-E530-5692-7FB5-F07B06B74FEF}"/>
              </a:ext>
            </a:extLst>
          </p:cNvPr>
          <p:cNvSpPr>
            <a:spLocks noGrp="1"/>
          </p:cNvSpPr>
          <p:nvPr>
            <p:ph type="sldNum" sz="quarter" idx="14"/>
          </p:nvPr>
        </p:nvSpPr>
        <p:spPr/>
        <p:txBody>
          <a:bodyPr/>
          <a:lstStyle/>
          <a:p>
            <a:fld id="{3A4F6043-7A67-491B-98BC-F933DED7226D}" type="slidenum">
              <a:rPr lang="en-US" smtClean="0"/>
              <a:pPr/>
              <a:t>36</a:t>
            </a:fld>
            <a:endParaRPr lang="en-US" dirty="0"/>
          </a:p>
        </p:txBody>
      </p:sp>
      <p:sp>
        <p:nvSpPr>
          <p:cNvPr id="5" name="Content Placeholder 4">
            <a:extLst>
              <a:ext uri="{FF2B5EF4-FFF2-40B4-BE49-F238E27FC236}">
                <a16:creationId xmlns:a16="http://schemas.microsoft.com/office/drawing/2014/main" id="{4E02305E-C51C-DA92-884C-DD4DB803506A}"/>
              </a:ext>
            </a:extLst>
          </p:cNvPr>
          <p:cNvSpPr>
            <a:spLocks noGrp="1"/>
          </p:cNvSpPr>
          <p:nvPr>
            <p:ph sz="half" idx="15"/>
          </p:nvPr>
        </p:nvSpPr>
        <p:spPr>
          <a:xfrm>
            <a:off x="422178" y="589280"/>
            <a:ext cx="11080974" cy="5831839"/>
          </a:xfrm>
        </p:spPr>
        <p:txBody>
          <a:bodyPr>
            <a:normAutofit/>
          </a:bodyPr>
          <a:lstStyle/>
          <a:p>
            <a:r>
              <a:rPr lang="en-US" sz="4000" b="1" dirty="0"/>
              <a:t>Indian Public Health Standards for sub-</a:t>
            </a:r>
            <a:r>
              <a:rPr lang="en-US" sz="4000" b="1" dirty="0" err="1"/>
              <a:t>centres</a:t>
            </a:r>
            <a:r>
              <a:rPr lang="en-US" sz="4000" b="1" dirty="0"/>
              <a:t> </a:t>
            </a:r>
          </a:p>
          <a:p>
            <a:pPr marL="457200" indent="-457200">
              <a:buFont typeface="Arial" panose="020B0604020202020204" pitchFamily="34" charset="0"/>
              <a:buChar char="•"/>
            </a:pPr>
            <a:r>
              <a:rPr lang="en-US" sz="2800" dirty="0"/>
              <a:t>In order to provide quality care in these sub-</a:t>
            </a:r>
            <a:r>
              <a:rPr lang="en-US" sz="2800" dirty="0" err="1"/>
              <a:t>centres</a:t>
            </a:r>
            <a:r>
              <a:rPr lang="en-US" sz="2800" dirty="0"/>
              <a:t>, Indian Public Health Standards (IPHS) are being prescribed to provide basic promotive, preventive and few curative primary health care services to the community and achieve and maintain an acceptable standard of quality of care. </a:t>
            </a:r>
          </a:p>
          <a:p>
            <a:pPr marL="457200" indent="-457200">
              <a:buFont typeface="Arial" panose="020B0604020202020204" pitchFamily="34" charset="0"/>
              <a:buChar char="•"/>
            </a:pPr>
            <a:r>
              <a:rPr lang="en-US" sz="2800" dirty="0"/>
              <a:t>These standards would help monitor and improve functioning of the sub-</a:t>
            </a:r>
            <a:r>
              <a:rPr lang="en-US" sz="2800" dirty="0" err="1"/>
              <a:t>centres</a:t>
            </a:r>
            <a:r>
              <a:rPr lang="en-US" sz="2800" dirty="0"/>
              <a:t>. Currently, the IPHS for sub </a:t>
            </a:r>
            <a:r>
              <a:rPr lang="en-US" sz="2800" dirty="0" err="1"/>
              <a:t>centre</a:t>
            </a:r>
            <a:r>
              <a:rPr lang="en-US" sz="2800" dirty="0"/>
              <a:t> revised in 2012 is being followed. </a:t>
            </a:r>
          </a:p>
          <a:p>
            <a:pPr marL="457200" indent="-457200">
              <a:buFont typeface="Arial" panose="020B0604020202020204" pitchFamily="34" charset="0"/>
              <a:buChar char="•"/>
            </a:pPr>
            <a:r>
              <a:rPr lang="en-US" sz="2800" dirty="0"/>
              <a:t>The services have been classified on Essential (minimum assured services) or Desirable (that all states/UTs should aspire to achieve).</a:t>
            </a:r>
            <a:endParaRPr lang="en-IN" sz="2800" dirty="0"/>
          </a:p>
        </p:txBody>
      </p:sp>
    </p:spTree>
    <p:extLst>
      <p:ext uri="{BB962C8B-B14F-4D97-AF65-F5344CB8AC3E}">
        <p14:creationId xmlns:p14="http://schemas.microsoft.com/office/powerpoint/2010/main" val="2362875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97BAAE-F718-497F-1947-02A1DE82E090}"/>
              </a:ext>
            </a:extLst>
          </p:cNvPr>
          <p:cNvSpPr>
            <a:spLocks noGrp="1"/>
          </p:cNvSpPr>
          <p:nvPr>
            <p:ph idx="1"/>
          </p:nvPr>
        </p:nvSpPr>
        <p:spPr>
          <a:xfrm>
            <a:off x="422899" y="-375920"/>
            <a:ext cx="10778221" cy="7325360"/>
          </a:xfrm>
        </p:spPr>
        <p:txBody>
          <a:bodyPr/>
          <a:lstStyle/>
          <a:p>
            <a:r>
              <a:rPr lang="en-US" sz="4000" b="1" dirty="0"/>
              <a:t>Categorization of sub-</a:t>
            </a:r>
            <a:r>
              <a:rPr lang="en-US" sz="4000" b="1" dirty="0" err="1"/>
              <a:t>centres</a:t>
            </a:r>
            <a:r>
              <a:rPr lang="en-US" sz="4000" b="1" dirty="0"/>
              <a:t> </a:t>
            </a:r>
          </a:p>
          <a:p>
            <a:pPr marL="342900" indent="-342900" algn="just">
              <a:buFont typeface="Arial" panose="020B0604020202020204" pitchFamily="34" charset="0"/>
              <a:buChar char="•"/>
            </a:pPr>
            <a:r>
              <a:rPr lang="en-US" sz="2800" dirty="0"/>
              <a:t>In view of the current highly variable situation of sub </a:t>
            </a:r>
            <a:r>
              <a:rPr lang="en-US" sz="2800" dirty="0" err="1"/>
              <a:t>centres</a:t>
            </a:r>
            <a:r>
              <a:rPr lang="en-US" sz="2800" dirty="0"/>
              <a:t> in different parts of the country and even within the same state, they have been categorized into two types - Type A and Type B. </a:t>
            </a:r>
          </a:p>
          <a:p>
            <a:pPr marL="342900" indent="-342900" algn="just">
              <a:buFont typeface="Arial" panose="020B0604020202020204" pitchFamily="34" charset="0"/>
              <a:buChar char="•"/>
            </a:pPr>
            <a:r>
              <a:rPr lang="en-US" sz="2800" dirty="0"/>
              <a:t>Categorization has taken into consideration various factors namely catchment area, health seeking </a:t>
            </a:r>
            <a:r>
              <a:rPr lang="en-US" sz="2800" dirty="0" err="1"/>
              <a:t>behaviour</a:t>
            </a:r>
            <a:r>
              <a:rPr lang="en-US" sz="2800" dirty="0"/>
              <a:t>, case load, location of other facilities like PHC/CHC/FRU/Hospitals in the vicinity of the sub-</a:t>
            </a:r>
            <a:r>
              <a:rPr lang="en-US" sz="2800" dirty="0" err="1"/>
              <a:t>centre</a:t>
            </a:r>
            <a:r>
              <a:rPr lang="en-US" sz="2800" dirty="0"/>
              <a:t>. </a:t>
            </a:r>
          </a:p>
          <a:p>
            <a:pPr marL="342900" indent="-342900" algn="just">
              <a:buFont typeface="Arial" panose="020B0604020202020204" pitchFamily="34" charset="0"/>
              <a:buChar char="•"/>
            </a:pPr>
            <a:r>
              <a:rPr lang="en-US" sz="2800" dirty="0"/>
              <a:t>States shall be required to categorize their sub-</a:t>
            </a:r>
            <a:r>
              <a:rPr lang="en-US" sz="2800" dirty="0" err="1"/>
              <a:t>centres</a:t>
            </a:r>
            <a:r>
              <a:rPr lang="en-US" sz="2800" dirty="0"/>
              <a:t> into two types as per the guidelines given below and provide services and infrastructure accordingly. </a:t>
            </a:r>
          </a:p>
          <a:p>
            <a:pPr marL="342900" indent="-342900" algn="just">
              <a:buFont typeface="Arial" panose="020B0604020202020204" pitchFamily="34" charset="0"/>
              <a:buChar char="•"/>
            </a:pPr>
            <a:r>
              <a:rPr lang="en-US" sz="2800" dirty="0"/>
              <a:t>This shall result in optimum use of available resources</a:t>
            </a:r>
            <a:endParaRPr lang="en-IN" sz="2800" dirty="0"/>
          </a:p>
        </p:txBody>
      </p:sp>
      <p:sp>
        <p:nvSpPr>
          <p:cNvPr id="4" name="Slide Number Placeholder 3">
            <a:extLst>
              <a:ext uri="{FF2B5EF4-FFF2-40B4-BE49-F238E27FC236}">
                <a16:creationId xmlns:a16="http://schemas.microsoft.com/office/drawing/2014/main" id="{924BB0F0-C5A5-623F-193B-AD665469AF27}"/>
              </a:ext>
            </a:extLst>
          </p:cNvPr>
          <p:cNvSpPr>
            <a:spLocks noGrp="1"/>
          </p:cNvSpPr>
          <p:nvPr>
            <p:ph type="sldNum" sz="quarter" idx="4"/>
          </p:nvPr>
        </p:nvSpPr>
        <p:spPr/>
        <p:txBody>
          <a:bodyPr/>
          <a:lstStyle/>
          <a:p>
            <a:fld id="{3A4F6043-7A67-491B-98BC-F933DED7226D}" type="slidenum">
              <a:rPr lang="en-US" smtClean="0"/>
              <a:pPr/>
              <a:t>37</a:t>
            </a:fld>
            <a:endParaRPr lang="en-US" dirty="0"/>
          </a:p>
        </p:txBody>
      </p:sp>
    </p:spTree>
    <p:extLst>
      <p:ext uri="{BB962C8B-B14F-4D97-AF65-F5344CB8AC3E}">
        <p14:creationId xmlns:p14="http://schemas.microsoft.com/office/powerpoint/2010/main" val="21587424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C0784D-3AC8-B351-F968-4DB56D4BD7DB}"/>
              </a:ext>
            </a:extLst>
          </p:cNvPr>
          <p:cNvSpPr>
            <a:spLocks noGrp="1"/>
          </p:cNvSpPr>
          <p:nvPr>
            <p:ph type="sldNum" sz="quarter" idx="14"/>
          </p:nvPr>
        </p:nvSpPr>
        <p:spPr/>
        <p:txBody>
          <a:bodyPr/>
          <a:lstStyle/>
          <a:p>
            <a:fld id="{3A4F6043-7A67-491B-98BC-F933DED7226D}" type="slidenum">
              <a:rPr lang="en-US" smtClean="0"/>
              <a:pPr/>
              <a:t>38</a:t>
            </a:fld>
            <a:endParaRPr lang="en-US" dirty="0"/>
          </a:p>
        </p:txBody>
      </p:sp>
      <p:sp>
        <p:nvSpPr>
          <p:cNvPr id="5" name="Content Placeholder 4">
            <a:extLst>
              <a:ext uri="{FF2B5EF4-FFF2-40B4-BE49-F238E27FC236}">
                <a16:creationId xmlns:a16="http://schemas.microsoft.com/office/drawing/2014/main" id="{B00A038A-5BAD-5F4F-AC18-6D08D596EFDF}"/>
              </a:ext>
            </a:extLst>
          </p:cNvPr>
          <p:cNvSpPr>
            <a:spLocks noGrp="1"/>
          </p:cNvSpPr>
          <p:nvPr>
            <p:ph sz="half" idx="15"/>
          </p:nvPr>
        </p:nvSpPr>
        <p:spPr>
          <a:xfrm>
            <a:off x="422178" y="863600"/>
            <a:ext cx="11080974" cy="4791239"/>
          </a:xfrm>
        </p:spPr>
        <p:txBody>
          <a:bodyPr>
            <a:normAutofit lnSpcReduction="10000"/>
          </a:bodyPr>
          <a:lstStyle/>
          <a:p>
            <a:r>
              <a:rPr lang="en-US" sz="4000" dirty="0"/>
              <a:t>Type A </a:t>
            </a:r>
          </a:p>
          <a:p>
            <a:pPr marL="457200" indent="-457200">
              <a:buFont typeface="Arial" panose="020B0604020202020204" pitchFamily="34" charset="0"/>
              <a:buChar char="•"/>
            </a:pPr>
            <a:r>
              <a:rPr lang="en-US" sz="2800" dirty="0"/>
              <a:t>Type A sub-</a:t>
            </a:r>
            <a:r>
              <a:rPr lang="en-US" sz="2800" dirty="0" err="1"/>
              <a:t>centre</a:t>
            </a:r>
            <a:r>
              <a:rPr lang="en-US" sz="2800" dirty="0"/>
              <a:t> will provide all recommended services except that the facilities for conducting delivery will not be available here. </a:t>
            </a:r>
          </a:p>
          <a:p>
            <a:pPr marL="457200" indent="-457200">
              <a:buFont typeface="Arial" panose="020B0604020202020204" pitchFamily="34" charset="0"/>
              <a:buChar char="•"/>
            </a:pPr>
            <a:r>
              <a:rPr lang="en-US" sz="2800" dirty="0"/>
              <a:t>However, the ANMs have been trained in midwifery, they may conduct normal delivery in case of need. </a:t>
            </a:r>
          </a:p>
          <a:p>
            <a:pPr marL="457200" indent="-457200">
              <a:buFont typeface="Arial" panose="020B0604020202020204" pitchFamily="34" charset="0"/>
              <a:buChar char="•"/>
            </a:pPr>
            <a:r>
              <a:rPr lang="en-US" sz="2800" dirty="0"/>
              <a:t>If the requirement for this goes up, the sub </a:t>
            </a:r>
            <a:r>
              <a:rPr lang="en-US" sz="2800" dirty="0" err="1"/>
              <a:t>centre</a:t>
            </a:r>
            <a:r>
              <a:rPr lang="en-US" sz="2800" dirty="0"/>
              <a:t> may be considered for up gradation to Type B. </a:t>
            </a:r>
          </a:p>
          <a:p>
            <a:pPr marL="457200" indent="-457200">
              <a:buFont typeface="Arial" panose="020B0604020202020204" pitchFamily="34" charset="0"/>
              <a:buChar char="•"/>
            </a:pPr>
            <a:r>
              <a:rPr lang="en-US" sz="2800" dirty="0"/>
              <a:t>The sub-</a:t>
            </a:r>
            <a:r>
              <a:rPr lang="en-US" sz="2800" dirty="0" err="1"/>
              <a:t>centres</a:t>
            </a:r>
            <a:r>
              <a:rPr lang="en-US" sz="2800" dirty="0"/>
              <a:t> in the following situations may be included in this category.</a:t>
            </a:r>
            <a:endParaRPr lang="en-IN" sz="2800" dirty="0"/>
          </a:p>
        </p:txBody>
      </p:sp>
    </p:spTree>
    <p:extLst>
      <p:ext uri="{BB962C8B-B14F-4D97-AF65-F5344CB8AC3E}">
        <p14:creationId xmlns:p14="http://schemas.microsoft.com/office/powerpoint/2010/main" val="1173609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0635E-B109-2EE9-28C2-72EFDB3BC7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6A8A8C-B9E9-CCE0-0F75-AC18022DF80B}"/>
              </a:ext>
            </a:extLst>
          </p:cNvPr>
          <p:cNvSpPr>
            <a:spLocks noGrp="1"/>
          </p:cNvSpPr>
          <p:nvPr>
            <p:ph type="sldNum" sz="quarter" idx="14"/>
          </p:nvPr>
        </p:nvSpPr>
        <p:spPr/>
        <p:txBody>
          <a:bodyPr/>
          <a:lstStyle/>
          <a:p>
            <a:fld id="{3A4F6043-7A67-491B-98BC-F933DED7226D}" type="slidenum">
              <a:rPr lang="en-US" smtClean="0"/>
              <a:pPr/>
              <a:t>39</a:t>
            </a:fld>
            <a:endParaRPr lang="en-US" dirty="0"/>
          </a:p>
        </p:txBody>
      </p:sp>
      <p:sp>
        <p:nvSpPr>
          <p:cNvPr id="5" name="Content Placeholder 4">
            <a:extLst>
              <a:ext uri="{FF2B5EF4-FFF2-40B4-BE49-F238E27FC236}">
                <a16:creationId xmlns:a16="http://schemas.microsoft.com/office/drawing/2014/main" id="{710FDC66-8A32-CE87-087B-F664AEADD401}"/>
              </a:ext>
            </a:extLst>
          </p:cNvPr>
          <p:cNvSpPr>
            <a:spLocks noGrp="1"/>
          </p:cNvSpPr>
          <p:nvPr>
            <p:ph sz="half" idx="15"/>
          </p:nvPr>
        </p:nvSpPr>
        <p:spPr>
          <a:xfrm>
            <a:off x="422178" y="1137920"/>
            <a:ext cx="11080974" cy="4791239"/>
          </a:xfrm>
        </p:spPr>
        <p:txBody>
          <a:bodyPr>
            <a:noAutofit/>
          </a:bodyPr>
          <a:lstStyle/>
          <a:p>
            <a:pPr marL="457200" indent="-457200">
              <a:buFont typeface="Arial" panose="020B0604020202020204" pitchFamily="34" charset="0"/>
              <a:buChar char="•"/>
            </a:pPr>
            <a:r>
              <a:rPr lang="en-US" sz="2800" dirty="0"/>
              <a:t>Sub-</a:t>
            </a:r>
            <a:r>
              <a:rPr lang="en-US" sz="2800" dirty="0" err="1"/>
              <a:t>centres</a:t>
            </a:r>
            <a:r>
              <a:rPr lang="en-US" sz="2800" dirty="0"/>
              <a:t> not having adequate space and physical infrastructure for conducting deliveries, due to which providing </a:t>
            </a:r>
            <a:r>
              <a:rPr lang="en-US" sz="2800" dirty="0" err="1"/>
              <a:t>labour</a:t>
            </a:r>
            <a:r>
              <a:rPr lang="en-US" sz="2800" dirty="0"/>
              <a:t> room facilities and equipment at these sub-</a:t>
            </a:r>
            <a:r>
              <a:rPr lang="en-US" sz="2800" dirty="0" err="1"/>
              <a:t>centres</a:t>
            </a:r>
            <a:r>
              <a:rPr lang="en-US" sz="2800" dirty="0"/>
              <a:t> is not possible. </a:t>
            </a:r>
          </a:p>
          <a:p>
            <a:pPr marL="457200" indent="-457200">
              <a:buFont typeface="Arial" panose="020B0604020202020204" pitchFamily="34" charset="0"/>
              <a:buChar char="•"/>
            </a:pPr>
            <a:r>
              <a:rPr lang="en-US" sz="2800" dirty="0"/>
              <a:t>However, there may still be demand for delivery services from the community in these areas e.g., sub-</a:t>
            </a:r>
            <a:r>
              <a:rPr lang="en-US" sz="2800" dirty="0" err="1"/>
              <a:t>centres</a:t>
            </a:r>
            <a:r>
              <a:rPr lang="en-US" sz="2800" dirty="0"/>
              <a:t> located in remote, difficult, hilly, desert or tribal area. In such areas, the transport facility is likely to be poor and the population is still </a:t>
            </a:r>
            <a:r>
              <a:rPr lang="en-US" sz="2800" dirty="0" err="1"/>
              <a:t>dependant</a:t>
            </a:r>
            <a:r>
              <a:rPr lang="en-US" sz="2800" dirty="0"/>
              <a:t> on these sub-</a:t>
            </a:r>
            <a:r>
              <a:rPr lang="en-US" sz="2800" dirty="0" err="1"/>
              <a:t>centres</a:t>
            </a:r>
            <a:r>
              <a:rPr lang="en-US" sz="2800" dirty="0"/>
              <a:t> for availing delivery facilities. </a:t>
            </a:r>
          </a:p>
        </p:txBody>
      </p:sp>
    </p:spTree>
    <p:extLst>
      <p:ext uri="{BB962C8B-B14F-4D97-AF65-F5344CB8AC3E}">
        <p14:creationId xmlns:p14="http://schemas.microsoft.com/office/powerpoint/2010/main" val="1174761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E2296-6B82-00D8-FFA5-E1DBA3423B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7DD8D5-2A8E-5B91-3B41-AF9B966347C9}"/>
              </a:ext>
            </a:extLst>
          </p:cNvPr>
          <p:cNvSpPr>
            <a:spLocks noGrp="1"/>
          </p:cNvSpPr>
          <p:nvPr>
            <p:ph type="sldNum" sz="quarter" idx="14"/>
          </p:nvPr>
        </p:nvSpPr>
        <p:spPr/>
        <p:txBody>
          <a:bodyPr/>
          <a:lstStyle/>
          <a:p>
            <a:fld id="{3A4F6043-7A67-491B-98BC-F933DED7226D}" type="slidenum">
              <a:rPr lang="en-US" smtClean="0"/>
              <a:pPr/>
              <a:t>40</a:t>
            </a:fld>
            <a:endParaRPr lang="en-US" dirty="0"/>
          </a:p>
        </p:txBody>
      </p:sp>
      <p:sp>
        <p:nvSpPr>
          <p:cNvPr id="5" name="Content Placeholder 4">
            <a:extLst>
              <a:ext uri="{FF2B5EF4-FFF2-40B4-BE49-F238E27FC236}">
                <a16:creationId xmlns:a16="http://schemas.microsoft.com/office/drawing/2014/main" id="{6D789BAF-A791-3FFE-02DB-CF5BA57A5DC4}"/>
              </a:ext>
            </a:extLst>
          </p:cNvPr>
          <p:cNvSpPr>
            <a:spLocks noGrp="1"/>
          </p:cNvSpPr>
          <p:nvPr>
            <p:ph sz="half" idx="15"/>
          </p:nvPr>
        </p:nvSpPr>
        <p:spPr>
          <a:xfrm>
            <a:off x="422178" y="1137920"/>
            <a:ext cx="11080974" cy="4791239"/>
          </a:xfrm>
        </p:spPr>
        <p:txBody>
          <a:bodyPr>
            <a:noAutofit/>
          </a:bodyPr>
          <a:lstStyle/>
          <a:p>
            <a:pPr marL="457200" indent="-457200">
              <a:buFont typeface="Arial" panose="020B0604020202020204" pitchFamily="34" charset="0"/>
              <a:buChar char="•"/>
            </a:pPr>
            <a:r>
              <a:rPr lang="en-US" sz="2800" dirty="0"/>
              <a:t>In such situations, ANMs would be required to conduct deliveries at homes and ANMs of these sub </a:t>
            </a:r>
            <a:r>
              <a:rPr lang="en-US" sz="2800" dirty="0" err="1"/>
              <a:t>centres</a:t>
            </a:r>
            <a:r>
              <a:rPr lang="en-US" sz="2800" dirty="0"/>
              <a:t> should mandatorily be Skilled Birth Attendance (SBA) trained. Such sub-</a:t>
            </a:r>
            <a:r>
              <a:rPr lang="en-US" sz="2800" dirty="0" err="1"/>
              <a:t>centres</a:t>
            </a:r>
            <a:r>
              <a:rPr lang="en-US" sz="2800" dirty="0"/>
              <a:t> should be identified for infrastructure up-gradation for conversion to Type B sub </a:t>
            </a:r>
            <a:r>
              <a:rPr lang="en-US" sz="2800" dirty="0" err="1"/>
              <a:t>centres</a:t>
            </a:r>
            <a:r>
              <a:rPr lang="en-US" sz="2800" dirty="0"/>
              <a:t> on priority.</a:t>
            </a:r>
            <a:endParaRPr lang="en-IN" sz="2800" dirty="0"/>
          </a:p>
          <a:p>
            <a:pPr marL="457200" indent="-457200">
              <a:buFont typeface="Arial" panose="020B0604020202020204" pitchFamily="34" charset="0"/>
              <a:buChar char="•"/>
            </a:pPr>
            <a:r>
              <a:rPr lang="en-US" sz="2800" dirty="0"/>
              <a:t>Sub-</a:t>
            </a:r>
            <a:r>
              <a:rPr lang="en-US" sz="2800" dirty="0" err="1"/>
              <a:t>centres</a:t>
            </a:r>
            <a:r>
              <a:rPr lang="en-US" sz="2800" dirty="0"/>
              <a:t> situated in the vicinity of other higher health facilities like PHC/CHC/FRU/Hospital, where delivery facilities are available. </a:t>
            </a:r>
          </a:p>
          <a:p>
            <a:pPr marL="457200" indent="-457200">
              <a:buFont typeface="Arial" panose="020B0604020202020204" pitchFamily="34" charset="0"/>
              <a:buChar char="•"/>
            </a:pPr>
            <a:r>
              <a:rPr lang="en-US" sz="2800" dirty="0"/>
              <a:t>Sub-</a:t>
            </a:r>
            <a:r>
              <a:rPr lang="en-US" sz="2800" dirty="0" err="1"/>
              <a:t>centres</a:t>
            </a:r>
            <a:r>
              <a:rPr lang="en-US" sz="2800" dirty="0"/>
              <a:t> in headquarter area.</a:t>
            </a:r>
          </a:p>
        </p:txBody>
      </p:sp>
    </p:spTree>
    <p:extLst>
      <p:ext uri="{BB962C8B-B14F-4D97-AF65-F5344CB8AC3E}">
        <p14:creationId xmlns:p14="http://schemas.microsoft.com/office/powerpoint/2010/main" val="23052830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2E18-04CB-41B5-88D0-3866E28BE0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07081B-5AF1-7E90-5227-4613E5364C19}"/>
              </a:ext>
            </a:extLst>
          </p:cNvPr>
          <p:cNvSpPr>
            <a:spLocks noGrp="1"/>
          </p:cNvSpPr>
          <p:nvPr>
            <p:ph type="sldNum" sz="quarter" idx="14"/>
          </p:nvPr>
        </p:nvSpPr>
        <p:spPr/>
        <p:txBody>
          <a:bodyPr/>
          <a:lstStyle/>
          <a:p>
            <a:fld id="{3A4F6043-7A67-491B-98BC-F933DED7226D}" type="slidenum">
              <a:rPr lang="en-US" smtClean="0"/>
              <a:pPr/>
              <a:t>41</a:t>
            </a:fld>
            <a:endParaRPr lang="en-US" dirty="0"/>
          </a:p>
        </p:txBody>
      </p:sp>
      <p:sp>
        <p:nvSpPr>
          <p:cNvPr id="5" name="Content Placeholder 4">
            <a:extLst>
              <a:ext uri="{FF2B5EF4-FFF2-40B4-BE49-F238E27FC236}">
                <a16:creationId xmlns:a16="http://schemas.microsoft.com/office/drawing/2014/main" id="{723753A4-2131-DDAC-D874-1F4A2DB3823D}"/>
              </a:ext>
            </a:extLst>
          </p:cNvPr>
          <p:cNvSpPr>
            <a:spLocks noGrp="1"/>
          </p:cNvSpPr>
          <p:nvPr>
            <p:ph sz="half" idx="15"/>
          </p:nvPr>
        </p:nvSpPr>
        <p:spPr>
          <a:xfrm>
            <a:off x="422178" y="1137920"/>
            <a:ext cx="11080974" cy="4791239"/>
          </a:xfrm>
        </p:spPr>
        <p:txBody>
          <a:bodyPr>
            <a:noAutofit/>
          </a:bodyPr>
          <a:lstStyle/>
          <a:p>
            <a:pPr marL="457200" indent="-457200">
              <a:buFont typeface="Arial" panose="020B0604020202020204" pitchFamily="34" charset="0"/>
              <a:buChar char="•"/>
            </a:pPr>
            <a:r>
              <a:rPr lang="en-US" sz="2800" dirty="0"/>
              <a:t>In such situations, ANMs would be required to conduct deliveries at homes and ANMs of these sub </a:t>
            </a:r>
            <a:r>
              <a:rPr lang="en-US" sz="2800" dirty="0" err="1"/>
              <a:t>centres</a:t>
            </a:r>
            <a:r>
              <a:rPr lang="en-US" sz="2800" dirty="0"/>
              <a:t> should mandatorily be Skilled Birth Attendance (SBA) trained. Such sub-</a:t>
            </a:r>
            <a:r>
              <a:rPr lang="en-US" sz="2800" dirty="0" err="1"/>
              <a:t>centres</a:t>
            </a:r>
            <a:r>
              <a:rPr lang="en-US" sz="2800" dirty="0"/>
              <a:t> should be identified for infrastructure up-gradation for conversion to Type B sub </a:t>
            </a:r>
            <a:r>
              <a:rPr lang="en-US" sz="2800" dirty="0" err="1"/>
              <a:t>centres</a:t>
            </a:r>
            <a:r>
              <a:rPr lang="en-US" sz="2800" dirty="0"/>
              <a:t> on priority.</a:t>
            </a:r>
            <a:endParaRPr lang="en-IN" sz="2800" dirty="0"/>
          </a:p>
          <a:p>
            <a:pPr marL="457200" indent="-457200">
              <a:buFont typeface="Arial" panose="020B0604020202020204" pitchFamily="34" charset="0"/>
              <a:buChar char="•"/>
            </a:pPr>
            <a:r>
              <a:rPr lang="en-US" sz="2800" dirty="0"/>
              <a:t>Sub-</a:t>
            </a:r>
            <a:r>
              <a:rPr lang="en-US" sz="2800" dirty="0" err="1"/>
              <a:t>centres</a:t>
            </a:r>
            <a:r>
              <a:rPr lang="en-US" sz="2800" dirty="0"/>
              <a:t> situated in the vicinity of other higher health facilities like PHC/CHC/FRU/Hospital, where delivery facilities are available. </a:t>
            </a:r>
          </a:p>
          <a:p>
            <a:pPr marL="457200" indent="-457200">
              <a:buFont typeface="Arial" panose="020B0604020202020204" pitchFamily="34" charset="0"/>
              <a:buChar char="•"/>
            </a:pPr>
            <a:r>
              <a:rPr lang="en-US" sz="2800" dirty="0"/>
              <a:t>Sub-</a:t>
            </a:r>
            <a:r>
              <a:rPr lang="en-US" sz="2800" dirty="0" err="1"/>
              <a:t>centres</a:t>
            </a:r>
            <a:r>
              <a:rPr lang="en-US" sz="2800" dirty="0"/>
              <a:t> in headquarter area.</a:t>
            </a:r>
          </a:p>
        </p:txBody>
      </p:sp>
    </p:spTree>
    <p:extLst>
      <p:ext uri="{BB962C8B-B14F-4D97-AF65-F5344CB8AC3E}">
        <p14:creationId xmlns:p14="http://schemas.microsoft.com/office/powerpoint/2010/main" val="31519160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1860-B135-9EFB-459C-C7FC26B088E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0DD3BD-0FEA-F367-B851-48E378FF820E}"/>
              </a:ext>
            </a:extLst>
          </p:cNvPr>
          <p:cNvSpPr>
            <a:spLocks noGrp="1"/>
          </p:cNvSpPr>
          <p:nvPr>
            <p:ph type="sldNum" sz="quarter" idx="14"/>
          </p:nvPr>
        </p:nvSpPr>
        <p:spPr/>
        <p:txBody>
          <a:bodyPr/>
          <a:lstStyle/>
          <a:p>
            <a:fld id="{3A4F6043-7A67-491B-98BC-F933DED7226D}" type="slidenum">
              <a:rPr lang="en-US" smtClean="0"/>
              <a:pPr/>
              <a:t>42</a:t>
            </a:fld>
            <a:endParaRPr lang="en-US" dirty="0"/>
          </a:p>
        </p:txBody>
      </p:sp>
      <p:sp>
        <p:nvSpPr>
          <p:cNvPr id="5" name="Content Placeholder 4">
            <a:extLst>
              <a:ext uri="{FF2B5EF4-FFF2-40B4-BE49-F238E27FC236}">
                <a16:creationId xmlns:a16="http://schemas.microsoft.com/office/drawing/2014/main" id="{E4E633EA-D203-59E2-1B3A-A19EE6640A12}"/>
              </a:ext>
            </a:extLst>
          </p:cNvPr>
          <p:cNvSpPr>
            <a:spLocks noGrp="1"/>
          </p:cNvSpPr>
          <p:nvPr>
            <p:ph sz="half" idx="15"/>
          </p:nvPr>
        </p:nvSpPr>
        <p:spPr>
          <a:xfrm>
            <a:off x="422178" y="741680"/>
            <a:ext cx="11080974" cy="5374640"/>
          </a:xfrm>
        </p:spPr>
        <p:txBody>
          <a:bodyPr>
            <a:noAutofit/>
          </a:bodyPr>
          <a:lstStyle/>
          <a:p>
            <a:r>
              <a:rPr lang="en-US" sz="4000" b="1" dirty="0"/>
              <a:t>Type B (MCH sub-</a:t>
            </a:r>
            <a:r>
              <a:rPr lang="en-US" sz="4000" b="1" dirty="0" err="1"/>
              <a:t>centre</a:t>
            </a:r>
            <a:r>
              <a:rPr lang="en-US" sz="4000" b="1" dirty="0"/>
              <a:t>) </a:t>
            </a:r>
          </a:p>
          <a:p>
            <a:pPr marL="457200" indent="-457200">
              <a:buFont typeface="Arial" panose="020B0604020202020204" pitchFamily="34" charset="0"/>
              <a:buChar char="•"/>
            </a:pPr>
            <a:r>
              <a:rPr lang="en-US" sz="2800" dirty="0"/>
              <a:t>This would include following types of sub-</a:t>
            </a:r>
            <a:r>
              <a:rPr lang="en-US" sz="2800" dirty="0" err="1"/>
              <a:t>centres</a:t>
            </a:r>
            <a:r>
              <a:rPr lang="en-US" sz="2800" dirty="0"/>
              <a:t>. </a:t>
            </a:r>
          </a:p>
          <a:p>
            <a:pPr marL="457200" indent="-457200">
              <a:buFont typeface="Arial" panose="020B0604020202020204" pitchFamily="34" charset="0"/>
              <a:buChar char="•"/>
            </a:pPr>
            <a:r>
              <a:rPr lang="en-US" sz="2800" dirty="0"/>
              <a:t>Centrally or better located sub-</a:t>
            </a:r>
            <a:r>
              <a:rPr lang="en-US" sz="2800" dirty="0" err="1"/>
              <a:t>centres</a:t>
            </a:r>
            <a:r>
              <a:rPr lang="en-US" sz="2800" dirty="0"/>
              <a:t> with good connectivity to catchment areas.</a:t>
            </a:r>
          </a:p>
          <a:p>
            <a:pPr marL="457200" indent="-457200">
              <a:buFont typeface="Arial" panose="020B0604020202020204" pitchFamily="34" charset="0"/>
              <a:buChar char="•"/>
            </a:pPr>
            <a:r>
              <a:rPr lang="en-US" sz="2800" dirty="0"/>
              <a:t>They have good physical infrastructure preferable with own building, adequate space, residential accommodation and </a:t>
            </a:r>
            <a:r>
              <a:rPr lang="en-US" sz="2800" dirty="0" err="1"/>
              <a:t>labour</a:t>
            </a:r>
            <a:r>
              <a:rPr lang="en-US" sz="2800" dirty="0"/>
              <a:t> room facilities. </a:t>
            </a:r>
          </a:p>
          <a:p>
            <a:pPr marL="457200" indent="-457200">
              <a:buFont typeface="Arial" panose="020B0604020202020204" pitchFamily="34" charset="0"/>
              <a:buChar char="•"/>
            </a:pPr>
            <a:r>
              <a:rPr lang="en-US" sz="2800" dirty="0"/>
              <a:t>They already have good case load of deliveries from the catchment areas.</a:t>
            </a:r>
          </a:p>
          <a:p>
            <a:pPr marL="457200" indent="-457200">
              <a:buFont typeface="Arial" panose="020B0604020202020204" pitchFamily="34" charset="0"/>
              <a:buChar char="•"/>
            </a:pPr>
            <a:r>
              <a:rPr lang="en-US" sz="2800" dirty="0"/>
              <a:t>There are no nearby higher-level delivery facilities.</a:t>
            </a:r>
          </a:p>
        </p:txBody>
      </p:sp>
    </p:spTree>
    <p:extLst>
      <p:ext uri="{BB962C8B-B14F-4D97-AF65-F5344CB8AC3E}">
        <p14:creationId xmlns:p14="http://schemas.microsoft.com/office/powerpoint/2010/main" val="35997168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EE17A-0449-B28A-D288-6522EAEC1E7D}"/>
              </a:ext>
            </a:extLst>
          </p:cNvPr>
          <p:cNvSpPr>
            <a:spLocks noGrp="1"/>
          </p:cNvSpPr>
          <p:nvPr>
            <p:ph type="title"/>
          </p:nvPr>
        </p:nvSpPr>
        <p:spPr/>
        <p:txBody>
          <a:bodyPr/>
          <a:lstStyle/>
          <a:p>
            <a:r>
              <a:rPr lang="en-US" dirty="0"/>
              <a:t>Services to be provided in a sub-</a:t>
            </a:r>
            <a:r>
              <a:rPr lang="en-US" dirty="0" err="1"/>
              <a:t>centre</a:t>
            </a:r>
            <a:endParaRPr lang="en-IN" dirty="0"/>
          </a:p>
        </p:txBody>
      </p:sp>
      <p:sp>
        <p:nvSpPr>
          <p:cNvPr id="3" name="Content Placeholder 2">
            <a:extLst>
              <a:ext uri="{FF2B5EF4-FFF2-40B4-BE49-F238E27FC236}">
                <a16:creationId xmlns:a16="http://schemas.microsoft.com/office/drawing/2014/main" id="{593381D3-5DC8-AFDD-AD85-AF686DE4CE77}"/>
              </a:ext>
            </a:extLst>
          </p:cNvPr>
          <p:cNvSpPr>
            <a:spLocks noGrp="1"/>
          </p:cNvSpPr>
          <p:nvPr>
            <p:ph idx="1"/>
          </p:nvPr>
        </p:nvSpPr>
        <p:spPr>
          <a:xfrm>
            <a:off x="331216" y="1406209"/>
            <a:ext cx="11171936" cy="5011880"/>
          </a:xfrm>
        </p:spPr>
        <p:txBody>
          <a:bodyPr>
            <a:normAutofit/>
          </a:bodyPr>
          <a:lstStyle/>
          <a:p>
            <a:r>
              <a:rPr lang="en-US" dirty="0"/>
              <a:t>Sub-</a:t>
            </a:r>
            <a:r>
              <a:rPr lang="en-US" dirty="0" err="1"/>
              <a:t>centre</a:t>
            </a:r>
            <a:r>
              <a:rPr lang="en-US" dirty="0"/>
              <a:t> are expected to provide promotive preventive and few curative primary health care services.</a:t>
            </a:r>
          </a:p>
          <a:p>
            <a:r>
              <a:rPr lang="en-US" dirty="0"/>
              <a:t>Keeping in view the changing epidemiological situation in the country, both types of sub-</a:t>
            </a:r>
            <a:r>
              <a:rPr lang="en-US" dirty="0" err="1"/>
              <a:t>centres</a:t>
            </a:r>
            <a:r>
              <a:rPr lang="en-US" dirty="0"/>
              <a:t> should lay emphasis on non-communicable diseases related services.</a:t>
            </a:r>
          </a:p>
          <a:p>
            <a:r>
              <a:rPr lang="en-US" dirty="0"/>
              <a:t>Given the understanding of the health sub-</a:t>
            </a:r>
            <a:r>
              <a:rPr lang="en-US" dirty="0" err="1"/>
              <a:t>centre</a:t>
            </a:r>
            <a:r>
              <a:rPr lang="en-US" dirty="0"/>
              <a:t> as mainly providing outreach facilities, where most services are not delivered in the sub-</a:t>
            </a:r>
            <a:r>
              <a:rPr lang="en-US" dirty="0" err="1"/>
              <a:t>centre</a:t>
            </a:r>
            <a:r>
              <a:rPr lang="en-US" dirty="0"/>
              <a:t> building itself, the site of service delivery may be at following places:</a:t>
            </a:r>
          </a:p>
          <a:p>
            <a:r>
              <a:rPr lang="en-US" dirty="0"/>
              <a:t>a. In the village : Village Health and Nutrition Day/ Immunization session. b. During house visits. </a:t>
            </a:r>
          </a:p>
          <a:p>
            <a:r>
              <a:rPr lang="en-US" dirty="0"/>
              <a:t>c. During house-to-house surveys.</a:t>
            </a:r>
            <a:endParaRPr lang="en-IN" dirty="0"/>
          </a:p>
        </p:txBody>
      </p:sp>
      <p:sp>
        <p:nvSpPr>
          <p:cNvPr id="4" name="Slide Number Placeholder 3">
            <a:extLst>
              <a:ext uri="{FF2B5EF4-FFF2-40B4-BE49-F238E27FC236}">
                <a16:creationId xmlns:a16="http://schemas.microsoft.com/office/drawing/2014/main" id="{E5CFD494-5FDA-72A6-E621-68A0D30DD202}"/>
              </a:ext>
            </a:extLst>
          </p:cNvPr>
          <p:cNvSpPr>
            <a:spLocks noGrp="1"/>
          </p:cNvSpPr>
          <p:nvPr>
            <p:ph type="sldNum" sz="quarter" idx="12"/>
          </p:nvPr>
        </p:nvSpPr>
        <p:spPr/>
        <p:txBody>
          <a:bodyPr/>
          <a:lstStyle/>
          <a:p>
            <a:fld id="{3A4F6043-7A67-491B-98BC-F933DED7226D}" type="slidenum">
              <a:rPr lang="en-US" smtClean="0"/>
              <a:pPr/>
              <a:t>43</a:t>
            </a:fld>
            <a:endParaRPr lang="en-US" dirty="0"/>
          </a:p>
        </p:txBody>
      </p:sp>
    </p:spTree>
    <p:extLst>
      <p:ext uri="{BB962C8B-B14F-4D97-AF65-F5344CB8AC3E}">
        <p14:creationId xmlns:p14="http://schemas.microsoft.com/office/powerpoint/2010/main" val="2195150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4B1F7D-3258-7A1D-D0D6-3553C1D7E78F}"/>
              </a:ext>
            </a:extLst>
          </p:cNvPr>
          <p:cNvSpPr>
            <a:spLocks noGrp="1"/>
          </p:cNvSpPr>
          <p:nvPr>
            <p:ph idx="1"/>
          </p:nvPr>
        </p:nvSpPr>
        <p:spPr>
          <a:xfrm>
            <a:off x="573024" y="1673225"/>
            <a:ext cx="10515600" cy="4206383"/>
          </a:xfrm>
        </p:spPr>
        <p:txBody>
          <a:bodyPr/>
          <a:lstStyle/>
          <a:p>
            <a:r>
              <a:rPr lang="en-US" dirty="0"/>
              <a:t>d. During meetings and events with the community. </a:t>
            </a:r>
          </a:p>
          <a:p>
            <a:r>
              <a:rPr lang="en-US" dirty="0"/>
              <a:t>e. At the facility premises, it is desirable, that the sub-</a:t>
            </a:r>
            <a:r>
              <a:rPr lang="en-US" dirty="0" err="1"/>
              <a:t>centre</a:t>
            </a:r>
            <a:r>
              <a:rPr lang="en-US" dirty="0"/>
              <a:t> should provide minimum of six hours of routine OPD services in a day for six days in a week. Wherever two ANMs are provided, it shall be ensured that one of the ANMs is available at the sub-</a:t>
            </a:r>
            <a:r>
              <a:rPr lang="en-US" dirty="0" err="1"/>
              <a:t>centre</a:t>
            </a:r>
            <a:r>
              <a:rPr lang="en-US" dirty="0"/>
              <a:t> and the sub-</a:t>
            </a:r>
            <a:r>
              <a:rPr lang="en-US" dirty="0" err="1"/>
              <a:t>centre</a:t>
            </a:r>
            <a:r>
              <a:rPr lang="en-US" dirty="0"/>
              <a:t> remains open for providing OPD services on all working days. Only one of them may provide outreach services at a time.</a:t>
            </a:r>
            <a:endParaRPr lang="en-IN" dirty="0"/>
          </a:p>
        </p:txBody>
      </p:sp>
      <p:sp>
        <p:nvSpPr>
          <p:cNvPr id="4" name="Slide Number Placeholder 3">
            <a:extLst>
              <a:ext uri="{FF2B5EF4-FFF2-40B4-BE49-F238E27FC236}">
                <a16:creationId xmlns:a16="http://schemas.microsoft.com/office/drawing/2014/main" id="{F0190009-84D7-6B05-882B-8A721A1C9569}"/>
              </a:ext>
            </a:extLst>
          </p:cNvPr>
          <p:cNvSpPr>
            <a:spLocks noGrp="1"/>
          </p:cNvSpPr>
          <p:nvPr>
            <p:ph type="sldNum" sz="quarter" idx="12"/>
          </p:nvPr>
        </p:nvSpPr>
        <p:spPr/>
        <p:txBody>
          <a:bodyPr/>
          <a:lstStyle/>
          <a:p>
            <a:fld id="{3A4F6043-7A67-491B-98BC-F933DED7226D}" type="slidenum">
              <a:rPr lang="en-US" smtClean="0"/>
              <a:pPr/>
              <a:t>44</a:t>
            </a:fld>
            <a:endParaRPr lang="en-US" dirty="0"/>
          </a:p>
        </p:txBody>
      </p:sp>
    </p:spTree>
    <p:extLst>
      <p:ext uri="{BB962C8B-B14F-4D97-AF65-F5344CB8AC3E}">
        <p14:creationId xmlns:p14="http://schemas.microsoft.com/office/powerpoint/2010/main" val="9285148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77138-F419-083D-9A82-303AC7171914}"/>
              </a:ext>
            </a:extLst>
          </p:cNvPr>
          <p:cNvSpPr>
            <a:spLocks noGrp="1"/>
          </p:cNvSpPr>
          <p:nvPr>
            <p:ph type="title"/>
          </p:nvPr>
        </p:nvSpPr>
        <p:spPr/>
        <p:txBody>
          <a:bodyPr/>
          <a:lstStyle/>
          <a:p>
            <a:r>
              <a:rPr lang="en-US" dirty="0"/>
              <a:t>Maternal Health</a:t>
            </a:r>
            <a:endParaRPr lang="en-IN" dirty="0"/>
          </a:p>
        </p:txBody>
      </p:sp>
      <p:sp>
        <p:nvSpPr>
          <p:cNvPr id="3" name="Slide Number Placeholder 2">
            <a:extLst>
              <a:ext uri="{FF2B5EF4-FFF2-40B4-BE49-F238E27FC236}">
                <a16:creationId xmlns:a16="http://schemas.microsoft.com/office/drawing/2014/main" id="{798DF8B0-B770-2E76-6B46-27F91906D506}"/>
              </a:ext>
            </a:extLst>
          </p:cNvPr>
          <p:cNvSpPr>
            <a:spLocks noGrp="1"/>
          </p:cNvSpPr>
          <p:nvPr>
            <p:ph type="sldNum" sz="quarter" idx="12"/>
          </p:nvPr>
        </p:nvSpPr>
        <p:spPr/>
        <p:txBody>
          <a:bodyPr/>
          <a:lstStyle/>
          <a:p>
            <a:fld id="{3A4F6043-7A67-491B-98BC-F933DED7226D}" type="slidenum">
              <a:rPr lang="en-US" smtClean="0"/>
              <a:pPr/>
              <a:t>45</a:t>
            </a:fld>
            <a:endParaRPr lang="en-US" dirty="0"/>
          </a:p>
        </p:txBody>
      </p:sp>
    </p:spTree>
    <p:extLst>
      <p:ext uri="{BB962C8B-B14F-4D97-AF65-F5344CB8AC3E}">
        <p14:creationId xmlns:p14="http://schemas.microsoft.com/office/powerpoint/2010/main" val="2222753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1CDC6-1A88-88A1-5880-B3BDF69B1D57}"/>
              </a:ext>
            </a:extLst>
          </p:cNvPr>
          <p:cNvSpPr>
            <a:spLocks noGrp="1"/>
          </p:cNvSpPr>
          <p:nvPr>
            <p:ph idx="1"/>
          </p:nvPr>
        </p:nvSpPr>
        <p:spPr>
          <a:xfrm>
            <a:off x="420624" y="497841"/>
            <a:ext cx="10515600" cy="5534168"/>
          </a:xfrm>
        </p:spPr>
        <p:txBody>
          <a:bodyPr>
            <a:normAutofit lnSpcReduction="10000"/>
          </a:bodyPr>
          <a:lstStyle/>
          <a:p>
            <a:pPr marL="0" indent="0">
              <a:buNone/>
            </a:pPr>
            <a:r>
              <a:rPr lang="en-US" dirty="0"/>
              <a:t>Antenatal care:</a:t>
            </a:r>
          </a:p>
          <a:p>
            <a:r>
              <a:rPr lang="en-US" dirty="0"/>
              <a:t>Essential: </a:t>
            </a:r>
          </a:p>
          <a:p>
            <a:r>
              <a:rPr lang="en-US" dirty="0"/>
              <a:t>(1) Early registration of all pregnancies, within first trimester (before 12th week of pregnancy). However, even if a woman comes late in her pregnancy for registration, she should be registered and care given to her according to gestational age.</a:t>
            </a:r>
          </a:p>
          <a:p>
            <a:r>
              <a:rPr lang="en-US" dirty="0"/>
              <a:t>(2) Minimum 4 ANC including registration.(Suggested schedule for antenatal visits: 1st visit: within 12 weeks - preferably as soon as pregnancy is suspected - for registration, history and first antenatal check up; 2nd visit: between 14 and 26 weeks; 3rd visit: between 28 and 34 weeks; and 4th visit: between 36 weeks and term.)</a:t>
            </a:r>
          </a:p>
          <a:p>
            <a:r>
              <a:rPr lang="en-US" dirty="0"/>
              <a:t>(3) Associated services like general examination such as height, weight, B.R </a:t>
            </a:r>
            <a:r>
              <a:rPr lang="en-US" dirty="0" err="1"/>
              <a:t>anaemia</a:t>
            </a:r>
            <a:r>
              <a:rPr lang="en-US" dirty="0"/>
              <a:t>, abdominal examination, breast examination, folic acid supplementation (in first trimester), iron and folic acid supplementation from 12 weeks, injection </a:t>
            </a:r>
            <a:r>
              <a:rPr lang="en-US" dirty="0" err="1"/>
              <a:t>tetatnus</a:t>
            </a:r>
            <a:r>
              <a:rPr lang="en-US" dirty="0"/>
              <a:t> toxoid, treatment of </a:t>
            </a:r>
            <a:r>
              <a:rPr lang="en-US" dirty="0" err="1"/>
              <a:t>anaemia</a:t>
            </a:r>
            <a:r>
              <a:rPr lang="en-US" dirty="0"/>
              <a:t> etc., (as per the guidelines); </a:t>
            </a:r>
            <a:endParaRPr lang="en-IN" dirty="0"/>
          </a:p>
        </p:txBody>
      </p:sp>
      <p:sp>
        <p:nvSpPr>
          <p:cNvPr id="4" name="Slide Number Placeholder 3">
            <a:extLst>
              <a:ext uri="{FF2B5EF4-FFF2-40B4-BE49-F238E27FC236}">
                <a16:creationId xmlns:a16="http://schemas.microsoft.com/office/drawing/2014/main" id="{C9916360-F6EB-D252-CC2E-4231A5AB0300}"/>
              </a:ext>
            </a:extLst>
          </p:cNvPr>
          <p:cNvSpPr>
            <a:spLocks noGrp="1"/>
          </p:cNvSpPr>
          <p:nvPr>
            <p:ph type="sldNum" sz="quarter" idx="12"/>
          </p:nvPr>
        </p:nvSpPr>
        <p:spPr/>
        <p:txBody>
          <a:bodyPr/>
          <a:lstStyle/>
          <a:p>
            <a:fld id="{3A4F6043-7A67-491B-98BC-F933DED7226D}" type="slidenum">
              <a:rPr lang="en-US" smtClean="0"/>
              <a:pPr/>
              <a:t>46</a:t>
            </a:fld>
            <a:endParaRPr lang="en-US" dirty="0"/>
          </a:p>
        </p:txBody>
      </p:sp>
    </p:spTree>
    <p:extLst>
      <p:ext uri="{BB962C8B-B14F-4D97-AF65-F5344CB8AC3E}">
        <p14:creationId xmlns:p14="http://schemas.microsoft.com/office/powerpoint/2010/main" val="19330940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A5517F-6892-21F9-9247-79E439B31218}"/>
              </a:ext>
            </a:extLst>
          </p:cNvPr>
          <p:cNvSpPr>
            <a:spLocks noGrp="1"/>
          </p:cNvSpPr>
          <p:nvPr>
            <p:ph idx="1"/>
          </p:nvPr>
        </p:nvSpPr>
        <p:spPr>
          <a:xfrm>
            <a:off x="420624" y="518160"/>
            <a:ext cx="11182096" cy="5821679"/>
          </a:xfrm>
        </p:spPr>
        <p:txBody>
          <a:bodyPr/>
          <a:lstStyle/>
          <a:p>
            <a:r>
              <a:rPr lang="en-US" dirty="0"/>
              <a:t>(4) Recording tobacco use by all antenatal mothers.</a:t>
            </a:r>
          </a:p>
          <a:p>
            <a:r>
              <a:rPr lang="en-US" dirty="0"/>
              <a:t>(5) Minimum laboratory investigations like urine test for pregnancy confirmation, </a:t>
            </a:r>
            <a:r>
              <a:rPr lang="en-US" dirty="0" err="1"/>
              <a:t>haemoglobin</a:t>
            </a:r>
            <a:r>
              <a:rPr lang="en-US" dirty="0"/>
              <a:t> estimation, urine for albumin and sugar and linkages with PHC for other required tests.</a:t>
            </a:r>
          </a:p>
          <a:p>
            <a:r>
              <a:rPr lang="en-US" dirty="0"/>
              <a:t>(6) Name based tracking of all pregnant.</a:t>
            </a:r>
          </a:p>
          <a:p>
            <a:r>
              <a:rPr lang="en-US" dirty="0"/>
              <a:t>(7) Identification of women for assured service delivery; high risk pregnancy cases.</a:t>
            </a:r>
          </a:p>
          <a:p>
            <a:r>
              <a:rPr lang="en-US" dirty="0"/>
              <a:t>(8) Identification and management of danger signs during pregnancy.</a:t>
            </a:r>
          </a:p>
          <a:p>
            <a:r>
              <a:rPr lang="en-US" dirty="0"/>
              <a:t>(9) Malaria prophylaxis in malaria endemic zones for pregnant women as per the guidelines of NVBDCP.</a:t>
            </a:r>
          </a:p>
          <a:p>
            <a:r>
              <a:rPr lang="en-US" dirty="0"/>
              <a:t>(10) Appropriate and timely referral of such identified cases which are beyond her capacity of management.</a:t>
            </a:r>
            <a:endParaRPr lang="en-IN" dirty="0"/>
          </a:p>
        </p:txBody>
      </p:sp>
      <p:sp>
        <p:nvSpPr>
          <p:cNvPr id="4" name="Slide Number Placeholder 3">
            <a:extLst>
              <a:ext uri="{FF2B5EF4-FFF2-40B4-BE49-F238E27FC236}">
                <a16:creationId xmlns:a16="http://schemas.microsoft.com/office/drawing/2014/main" id="{FA40CF7A-E2E5-275C-7E88-6E8A12096684}"/>
              </a:ext>
            </a:extLst>
          </p:cNvPr>
          <p:cNvSpPr>
            <a:spLocks noGrp="1"/>
          </p:cNvSpPr>
          <p:nvPr>
            <p:ph type="sldNum" sz="quarter" idx="12"/>
          </p:nvPr>
        </p:nvSpPr>
        <p:spPr/>
        <p:txBody>
          <a:bodyPr/>
          <a:lstStyle/>
          <a:p>
            <a:fld id="{3A4F6043-7A67-491B-98BC-F933DED7226D}" type="slidenum">
              <a:rPr lang="en-US" smtClean="0"/>
              <a:pPr/>
              <a:t>47</a:t>
            </a:fld>
            <a:endParaRPr lang="en-US" dirty="0"/>
          </a:p>
        </p:txBody>
      </p:sp>
    </p:spTree>
    <p:extLst>
      <p:ext uri="{BB962C8B-B14F-4D97-AF65-F5344CB8AC3E}">
        <p14:creationId xmlns:p14="http://schemas.microsoft.com/office/powerpoint/2010/main" val="13220562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8967B5-0439-0363-200F-9ABC2CAFD10C}"/>
              </a:ext>
            </a:extLst>
          </p:cNvPr>
          <p:cNvSpPr>
            <a:spLocks noGrp="1"/>
          </p:cNvSpPr>
          <p:nvPr>
            <p:ph idx="1"/>
          </p:nvPr>
        </p:nvSpPr>
        <p:spPr>
          <a:xfrm>
            <a:off x="633984" y="626356"/>
            <a:ext cx="10515600" cy="5605288"/>
          </a:xfrm>
        </p:spPr>
        <p:txBody>
          <a:bodyPr/>
          <a:lstStyle/>
          <a:p>
            <a:r>
              <a:rPr lang="en-US" dirty="0"/>
              <a:t>(11) Counselling on diet, rest, tobacco cessation if the antenatal mother is a smoker or tobacco user, information about dangers of exposure to second hand smoke and minor problems during pregnancy, advice on deliveries, institutional pre-birth preparedness and complication readiness, danger signs, clean and safe delivery at home if called for. </a:t>
            </a:r>
          </a:p>
          <a:p>
            <a:r>
              <a:rPr lang="en-US" dirty="0"/>
              <a:t>(12) Provide information about provisions under current schemes and </a:t>
            </a:r>
            <a:r>
              <a:rPr lang="en-US" dirty="0" err="1"/>
              <a:t>programmes</a:t>
            </a:r>
            <a:r>
              <a:rPr lang="en-US" dirty="0"/>
              <a:t> like Janani Suraksha Yojana.</a:t>
            </a:r>
          </a:p>
          <a:p>
            <a:r>
              <a:rPr lang="en-US" dirty="0"/>
              <a:t>(13) Identify suspected RTI/STI case, provide counselling, basic management and referral services.</a:t>
            </a:r>
          </a:p>
          <a:p>
            <a:r>
              <a:rPr lang="en-US" dirty="0"/>
              <a:t>(14) Counselling and referral for HIV/AIDS; </a:t>
            </a:r>
          </a:p>
          <a:p>
            <a:r>
              <a:rPr lang="en-US" dirty="0"/>
              <a:t>(15) Name based tracking of missed and left out ANC cases.</a:t>
            </a:r>
            <a:endParaRPr lang="en-IN" dirty="0"/>
          </a:p>
        </p:txBody>
      </p:sp>
      <p:sp>
        <p:nvSpPr>
          <p:cNvPr id="4" name="Slide Number Placeholder 3">
            <a:extLst>
              <a:ext uri="{FF2B5EF4-FFF2-40B4-BE49-F238E27FC236}">
                <a16:creationId xmlns:a16="http://schemas.microsoft.com/office/drawing/2014/main" id="{DFC1CC1C-7F6C-DD81-16D3-A087EDF86A2C}"/>
              </a:ext>
            </a:extLst>
          </p:cNvPr>
          <p:cNvSpPr>
            <a:spLocks noGrp="1"/>
          </p:cNvSpPr>
          <p:nvPr>
            <p:ph type="sldNum" sz="quarter" idx="12"/>
          </p:nvPr>
        </p:nvSpPr>
        <p:spPr/>
        <p:txBody>
          <a:bodyPr/>
          <a:lstStyle/>
          <a:p>
            <a:fld id="{3A4F6043-7A67-491B-98BC-F933DED7226D}" type="slidenum">
              <a:rPr lang="en-US" smtClean="0"/>
              <a:pPr/>
              <a:t>48</a:t>
            </a:fld>
            <a:endParaRPr lang="en-US" dirty="0"/>
          </a:p>
        </p:txBody>
      </p:sp>
    </p:spTree>
    <p:extLst>
      <p:ext uri="{BB962C8B-B14F-4D97-AF65-F5344CB8AC3E}">
        <p14:creationId xmlns:p14="http://schemas.microsoft.com/office/powerpoint/2010/main" val="314347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8FF811-5F4A-4DEE-EB33-881220A4D44D}"/>
              </a:ext>
            </a:extLst>
          </p:cNvPr>
          <p:cNvSpPr>
            <a:spLocks noGrp="1"/>
          </p:cNvSpPr>
          <p:nvPr>
            <p:ph idx="1"/>
          </p:nvPr>
        </p:nvSpPr>
        <p:spPr>
          <a:xfrm>
            <a:off x="420624" y="477520"/>
            <a:ext cx="11082528" cy="5801359"/>
          </a:xfrm>
        </p:spPr>
        <p:txBody>
          <a:bodyPr>
            <a:normAutofit lnSpcReduction="10000"/>
          </a:bodyPr>
          <a:lstStyle/>
          <a:p>
            <a:pPr marL="0" indent="0">
              <a:buNone/>
            </a:pPr>
            <a:r>
              <a:rPr lang="en-US" dirty="0"/>
              <a:t>Intra-natal care: </a:t>
            </a:r>
          </a:p>
          <a:p>
            <a:pPr marL="0" indent="0">
              <a:buNone/>
            </a:pPr>
            <a:r>
              <a:rPr lang="en-US" dirty="0"/>
              <a:t>Essential: </a:t>
            </a:r>
          </a:p>
          <a:p>
            <a:pPr marL="457200" indent="-457200">
              <a:buAutoNum type="arabicParenBoth"/>
            </a:pPr>
            <a:r>
              <a:rPr lang="en-US" dirty="0"/>
              <a:t>Promotion of institutional deliveries.</a:t>
            </a:r>
          </a:p>
          <a:p>
            <a:pPr marL="457200" indent="-457200">
              <a:buAutoNum type="arabicParenBoth"/>
            </a:pPr>
            <a:r>
              <a:rPr lang="en-US" dirty="0"/>
              <a:t>Skilled attendance at home deliveries when called for.</a:t>
            </a:r>
          </a:p>
          <a:p>
            <a:pPr marL="457200" indent="-457200">
              <a:buAutoNum type="arabicParenBoth"/>
            </a:pPr>
            <a:r>
              <a:rPr lang="en-US" dirty="0"/>
              <a:t>Appropriate and timely referral of high-risk cases which are beyond her capacity of management. </a:t>
            </a:r>
          </a:p>
          <a:p>
            <a:pPr marL="0" indent="0">
              <a:buNone/>
            </a:pPr>
            <a:r>
              <a:rPr lang="en-US" dirty="0"/>
              <a:t>Essential for Type B sub-</a:t>
            </a:r>
            <a:r>
              <a:rPr lang="en-US" dirty="0" err="1"/>
              <a:t>centre</a:t>
            </a:r>
            <a:r>
              <a:rPr lang="en-US" dirty="0"/>
              <a:t> : </a:t>
            </a:r>
          </a:p>
          <a:p>
            <a:pPr marL="457200" indent="-457200">
              <a:buAutoNum type="arabicParenBoth"/>
            </a:pPr>
            <a:r>
              <a:rPr lang="en-US" dirty="0"/>
              <a:t>Managing </a:t>
            </a:r>
            <a:r>
              <a:rPr lang="en-US" dirty="0" err="1"/>
              <a:t>labour</a:t>
            </a:r>
            <a:r>
              <a:rPr lang="en-US" dirty="0"/>
              <a:t> using Partograph.</a:t>
            </a:r>
          </a:p>
          <a:p>
            <a:pPr marL="457200" indent="-457200">
              <a:buAutoNum type="arabicParenBoth"/>
            </a:pPr>
            <a:r>
              <a:rPr lang="en-US" dirty="0"/>
              <a:t>Identification and management of danger signs during </a:t>
            </a:r>
            <a:r>
              <a:rPr lang="en-US" dirty="0" err="1"/>
              <a:t>labour</a:t>
            </a:r>
            <a:r>
              <a:rPr lang="en-US" dirty="0"/>
              <a:t>. </a:t>
            </a:r>
          </a:p>
          <a:p>
            <a:pPr marL="457200" indent="-457200">
              <a:buAutoNum type="arabicParenBoth"/>
            </a:pPr>
            <a:r>
              <a:rPr lang="en-US" dirty="0"/>
              <a:t>Proficient in identification and basic first aid treatment for PPH, eclampsia, sepsis and prompt referral of such cases as per Antenatal Care and Skilled Birth Attendance at Birth or SBA Guidelines. </a:t>
            </a:r>
            <a:endParaRPr lang="en-IN" dirty="0"/>
          </a:p>
        </p:txBody>
      </p:sp>
      <p:sp>
        <p:nvSpPr>
          <p:cNvPr id="4" name="Slide Number Placeholder 3">
            <a:extLst>
              <a:ext uri="{FF2B5EF4-FFF2-40B4-BE49-F238E27FC236}">
                <a16:creationId xmlns:a16="http://schemas.microsoft.com/office/drawing/2014/main" id="{22F6390A-B182-4CD4-935D-47EC6420FE47}"/>
              </a:ext>
            </a:extLst>
          </p:cNvPr>
          <p:cNvSpPr>
            <a:spLocks noGrp="1"/>
          </p:cNvSpPr>
          <p:nvPr>
            <p:ph type="sldNum" sz="quarter" idx="12"/>
          </p:nvPr>
        </p:nvSpPr>
        <p:spPr/>
        <p:txBody>
          <a:bodyPr/>
          <a:lstStyle/>
          <a:p>
            <a:fld id="{3A4F6043-7A67-491B-98BC-F933DED7226D}" type="slidenum">
              <a:rPr lang="en-US" smtClean="0"/>
              <a:pPr/>
              <a:t>49</a:t>
            </a:fld>
            <a:endParaRPr lang="en-US" dirty="0"/>
          </a:p>
        </p:txBody>
      </p:sp>
    </p:spTree>
    <p:extLst>
      <p:ext uri="{BB962C8B-B14F-4D97-AF65-F5344CB8AC3E}">
        <p14:creationId xmlns:p14="http://schemas.microsoft.com/office/powerpoint/2010/main" val="11335328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C916C3-296E-3CA5-473F-03838CD0B80A}"/>
              </a:ext>
            </a:extLst>
          </p:cNvPr>
          <p:cNvSpPr>
            <a:spLocks noGrp="1"/>
          </p:cNvSpPr>
          <p:nvPr>
            <p:ph idx="1"/>
          </p:nvPr>
        </p:nvSpPr>
        <p:spPr>
          <a:xfrm>
            <a:off x="420624" y="1148079"/>
            <a:ext cx="10515600" cy="4883929"/>
          </a:xfrm>
        </p:spPr>
        <p:txBody>
          <a:bodyPr/>
          <a:lstStyle/>
          <a:p>
            <a:pPr marL="0" indent="0">
              <a:buNone/>
            </a:pPr>
            <a:r>
              <a:rPr lang="en-US" dirty="0"/>
              <a:t>Postnatal care: </a:t>
            </a:r>
          </a:p>
          <a:p>
            <a:r>
              <a:rPr lang="en-US" dirty="0"/>
              <a:t>Essential: </a:t>
            </a:r>
          </a:p>
          <a:p>
            <a:r>
              <a:rPr lang="en-US" dirty="0"/>
              <a:t>(1) Initiation of early breast-feeding within one hour of birth.</a:t>
            </a:r>
          </a:p>
          <a:p>
            <a:r>
              <a:rPr lang="en-US" dirty="0"/>
              <a:t>(2) Ensure post-natal home visits on 0. 3, 7 and 42nd day for deliveries at home and sub-</a:t>
            </a:r>
            <a:r>
              <a:rPr lang="en-US" dirty="0" err="1"/>
              <a:t>centre</a:t>
            </a:r>
            <a:r>
              <a:rPr lang="en-US" dirty="0"/>
              <a:t> (both for mother and baby). </a:t>
            </a:r>
          </a:p>
          <a:p>
            <a:r>
              <a:rPr lang="en-US" dirty="0"/>
              <a:t>(3) Ensure 3, 7, 42nd day visit for institutional delivery (both for mother and baby) cases. </a:t>
            </a:r>
          </a:p>
          <a:p>
            <a:r>
              <a:rPr lang="en-US" dirty="0"/>
              <a:t>(4) In case of low-birth weight baby (less than 2500 gm), additional visits are to be made on 14, 21 and 28th days.</a:t>
            </a:r>
            <a:endParaRPr lang="en-IN" dirty="0"/>
          </a:p>
        </p:txBody>
      </p:sp>
      <p:sp>
        <p:nvSpPr>
          <p:cNvPr id="4" name="Slide Number Placeholder 3">
            <a:extLst>
              <a:ext uri="{FF2B5EF4-FFF2-40B4-BE49-F238E27FC236}">
                <a16:creationId xmlns:a16="http://schemas.microsoft.com/office/drawing/2014/main" id="{4B46148B-8268-0397-804F-44393F783457}"/>
              </a:ext>
            </a:extLst>
          </p:cNvPr>
          <p:cNvSpPr>
            <a:spLocks noGrp="1"/>
          </p:cNvSpPr>
          <p:nvPr>
            <p:ph type="sldNum" sz="quarter" idx="12"/>
          </p:nvPr>
        </p:nvSpPr>
        <p:spPr/>
        <p:txBody>
          <a:bodyPr/>
          <a:lstStyle/>
          <a:p>
            <a:fld id="{3A4F6043-7A67-491B-98BC-F933DED7226D}" type="slidenum">
              <a:rPr lang="en-US" smtClean="0"/>
              <a:pPr/>
              <a:t>50</a:t>
            </a:fld>
            <a:endParaRPr lang="en-US" dirty="0"/>
          </a:p>
        </p:txBody>
      </p:sp>
    </p:spTree>
    <p:extLst>
      <p:ext uri="{BB962C8B-B14F-4D97-AF65-F5344CB8AC3E}">
        <p14:creationId xmlns:p14="http://schemas.microsoft.com/office/powerpoint/2010/main" val="20620574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C53FF6-0A64-3DA0-73D5-873602CE7CE1}"/>
              </a:ext>
            </a:extLst>
          </p:cNvPr>
          <p:cNvSpPr>
            <a:spLocks noGrp="1"/>
          </p:cNvSpPr>
          <p:nvPr>
            <p:ph idx="1"/>
          </p:nvPr>
        </p:nvSpPr>
        <p:spPr>
          <a:xfrm>
            <a:off x="664464" y="1429385"/>
            <a:ext cx="10515600" cy="4206383"/>
          </a:xfrm>
        </p:spPr>
        <p:txBody>
          <a:bodyPr/>
          <a:lstStyle/>
          <a:p>
            <a:r>
              <a:rPr lang="en-US" dirty="0"/>
              <a:t>(5) During post-natal visit, advice regarding care of the mother, and care and feeding of the newborn, and examination of the newborn for signs of sickness and congenital abnormalities as per IMNC1 guidelines and appropriate referral, if needed.</a:t>
            </a:r>
          </a:p>
          <a:p>
            <a:r>
              <a:rPr lang="en-US" dirty="0"/>
              <a:t>(6) Counselling on diet &amp; rest, hygiene, contraception, essential newborn care, immunization, infant and young child feeding, STI/RTI and HIV/AIDS.</a:t>
            </a:r>
          </a:p>
          <a:p>
            <a:r>
              <a:rPr lang="en-US" dirty="0"/>
              <a:t>(7) Name based tracking of missed and left out PNC cases.</a:t>
            </a:r>
            <a:endParaRPr lang="en-IN" dirty="0"/>
          </a:p>
        </p:txBody>
      </p:sp>
      <p:sp>
        <p:nvSpPr>
          <p:cNvPr id="4" name="Slide Number Placeholder 3">
            <a:extLst>
              <a:ext uri="{FF2B5EF4-FFF2-40B4-BE49-F238E27FC236}">
                <a16:creationId xmlns:a16="http://schemas.microsoft.com/office/drawing/2014/main" id="{909AD576-2A81-1285-A1A9-4DCFAE36C26F}"/>
              </a:ext>
            </a:extLst>
          </p:cNvPr>
          <p:cNvSpPr>
            <a:spLocks noGrp="1"/>
          </p:cNvSpPr>
          <p:nvPr>
            <p:ph type="sldNum" sz="quarter" idx="12"/>
          </p:nvPr>
        </p:nvSpPr>
        <p:spPr/>
        <p:txBody>
          <a:bodyPr/>
          <a:lstStyle/>
          <a:p>
            <a:fld id="{3A4F6043-7A67-491B-98BC-F933DED7226D}" type="slidenum">
              <a:rPr lang="en-US" smtClean="0"/>
              <a:pPr/>
              <a:t>51</a:t>
            </a:fld>
            <a:endParaRPr lang="en-US" dirty="0"/>
          </a:p>
        </p:txBody>
      </p:sp>
    </p:spTree>
    <p:extLst>
      <p:ext uri="{BB962C8B-B14F-4D97-AF65-F5344CB8AC3E}">
        <p14:creationId xmlns:p14="http://schemas.microsoft.com/office/powerpoint/2010/main" val="41299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7DF15-68DD-0CC2-EF36-9118865CC645}"/>
              </a:ext>
            </a:extLst>
          </p:cNvPr>
          <p:cNvSpPr>
            <a:spLocks noGrp="1"/>
          </p:cNvSpPr>
          <p:nvPr>
            <p:ph type="title"/>
          </p:nvPr>
        </p:nvSpPr>
        <p:spPr/>
        <p:txBody>
          <a:bodyPr/>
          <a:lstStyle/>
          <a:p>
            <a:r>
              <a:rPr lang="en-US" dirty="0"/>
              <a:t>Child Health</a:t>
            </a:r>
            <a:endParaRPr lang="en-IN" dirty="0"/>
          </a:p>
        </p:txBody>
      </p:sp>
      <p:sp>
        <p:nvSpPr>
          <p:cNvPr id="3" name="Slide Number Placeholder 2">
            <a:extLst>
              <a:ext uri="{FF2B5EF4-FFF2-40B4-BE49-F238E27FC236}">
                <a16:creationId xmlns:a16="http://schemas.microsoft.com/office/drawing/2014/main" id="{33F3E3A0-1F0D-62CE-4999-19691518C2FE}"/>
              </a:ext>
            </a:extLst>
          </p:cNvPr>
          <p:cNvSpPr>
            <a:spLocks noGrp="1"/>
          </p:cNvSpPr>
          <p:nvPr>
            <p:ph type="sldNum" sz="quarter" idx="12"/>
          </p:nvPr>
        </p:nvSpPr>
        <p:spPr/>
        <p:txBody>
          <a:bodyPr/>
          <a:lstStyle/>
          <a:p>
            <a:fld id="{3A4F6043-7A67-491B-98BC-F933DED7226D}" type="slidenum">
              <a:rPr lang="en-US" smtClean="0"/>
              <a:pPr/>
              <a:t>52</a:t>
            </a:fld>
            <a:endParaRPr lang="en-US" dirty="0"/>
          </a:p>
        </p:txBody>
      </p:sp>
    </p:spTree>
    <p:extLst>
      <p:ext uri="{BB962C8B-B14F-4D97-AF65-F5344CB8AC3E}">
        <p14:creationId xmlns:p14="http://schemas.microsoft.com/office/powerpoint/2010/main" val="16534680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4D2EB8-5653-B000-BB50-145A595D9BF9}"/>
              </a:ext>
            </a:extLst>
          </p:cNvPr>
          <p:cNvSpPr>
            <a:spLocks noGrp="1"/>
          </p:cNvSpPr>
          <p:nvPr>
            <p:ph idx="1"/>
          </p:nvPr>
        </p:nvSpPr>
        <p:spPr>
          <a:xfrm>
            <a:off x="420624" y="741681"/>
            <a:ext cx="11082528" cy="5290328"/>
          </a:xfrm>
        </p:spPr>
        <p:txBody>
          <a:bodyPr>
            <a:normAutofit fontScale="92500"/>
          </a:bodyPr>
          <a:lstStyle/>
          <a:p>
            <a:r>
              <a:rPr lang="en-US" dirty="0"/>
              <a:t>Essential:- </a:t>
            </a:r>
          </a:p>
          <a:p>
            <a:r>
              <a:rPr lang="en-US" dirty="0"/>
              <a:t>Newborn care corner in the </a:t>
            </a:r>
            <a:r>
              <a:rPr lang="en-US" dirty="0" err="1"/>
              <a:t>labour</a:t>
            </a:r>
            <a:r>
              <a:rPr lang="en-US" dirty="0"/>
              <a:t> room to provide essential newborn care: Essential if the deliveries take place at the sub-</a:t>
            </a:r>
            <a:r>
              <a:rPr lang="en-US" dirty="0" err="1"/>
              <a:t>centre</a:t>
            </a:r>
            <a:r>
              <a:rPr lang="en-US" dirty="0"/>
              <a:t> (Type B). </a:t>
            </a:r>
          </a:p>
          <a:p>
            <a:r>
              <a:rPr lang="en-US" dirty="0"/>
              <a:t>Essential newborn care (maintain the body temperature and prevent hypothermia (provision of warmth/ Kangaroo Mother Care (KMC)), maintain the airway and breathing, initiate breastfeeding within one hour, infection protection, cord care, and care of the eyes, as per the guidelines.</a:t>
            </a:r>
          </a:p>
          <a:p>
            <a:r>
              <a:rPr lang="en-US" dirty="0"/>
              <a:t>Counselling on exclusive breastfeeding for 6 months and appropriate and adequate complementary feeding from 6 months of age while continuing breastfeeding.</a:t>
            </a:r>
          </a:p>
          <a:p>
            <a:r>
              <a:rPr lang="en-US" dirty="0"/>
              <a:t>Assess the growth and development of the infants and under 5 children and make timely referral.</a:t>
            </a:r>
          </a:p>
          <a:p>
            <a:r>
              <a:rPr lang="en-US" dirty="0"/>
              <a:t>Immunization services: Full immunization of all infants and children against vaccine preventable diseases</a:t>
            </a:r>
            <a:endParaRPr lang="en-IN" dirty="0"/>
          </a:p>
        </p:txBody>
      </p:sp>
      <p:sp>
        <p:nvSpPr>
          <p:cNvPr id="4" name="Slide Number Placeholder 3">
            <a:extLst>
              <a:ext uri="{FF2B5EF4-FFF2-40B4-BE49-F238E27FC236}">
                <a16:creationId xmlns:a16="http://schemas.microsoft.com/office/drawing/2014/main" id="{423C531E-1CAE-E979-96D8-75B8C0503175}"/>
              </a:ext>
            </a:extLst>
          </p:cNvPr>
          <p:cNvSpPr>
            <a:spLocks noGrp="1"/>
          </p:cNvSpPr>
          <p:nvPr>
            <p:ph type="sldNum" sz="quarter" idx="12"/>
          </p:nvPr>
        </p:nvSpPr>
        <p:spPr/>
        <p:txBody>
          <a:bodyPr/>
          <a:lstStyle/>
          <a:p>
            <a:fld id="{3A4F6043-7A67-491B-98BC-F933DED7226D}" type="slidenum">
              <a:rPr lang="en-US" smtClean="0"/>
              <a:pPr/>
              <a:t>53</a:t>
            </a:fld>
            <a:endParaRPr lang="en-US" dirty="0"/>
          </a:p>
        </p:txBody>
      </p:sp>
    </p:spTree>
    <p:extLst>
      <p:ext uri="{BB962C8B-B14F-4D97-AF65-F5344CB8AC3E}">
        <p14:creationId xmlns:p14="http://schemas.microsoft.com/office/powerpoint/2010/main" val="27315269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1D6013-101D-2DAC-C8B5-9E041A06BA65}"/>
              </a:ext>
            </a:extLst>
          </p:cNvPr>
          <p:cNvSpPr>
            <a:spLocks noGrp="1"/>
          </p:cNvSpPr>
          <p:nvPr>
            <p:ph idx="1"/>
          </p:nvPr>
        </p:nvSpPr>
        <p:spPr>
          <a:xfrm>
            <a:off x="694944" y="1419225"/>
            <a:ext cx="10515600" cy="4206383"/>
          </a:xfrm>
        </p:spPr>
        <p:txBody>
          <a:bodyPr/>
          <a:lstStyle/>
          <a:p>
            <a:r>
              <a:rPr lang="en-US" dirty="0"/>
              <a:t>Vitamin A prophylaxis to children as per guidelines.</a:t>
            </a:r>
          </a:p>
          <a:p>
            <a:r>
              <a:rPr lang="en-US" dirty="0"/>
              <a:t>Prevention and control of childhood diseases like malnutrition, infections, ARI, </a:t>
            </a:r>
            <a:r>
              <a:rPr lang="en-US" dirty="0" err="1"/>
              <a:t>diarrhoea</a:t>
            </a:r>
            <a:r>
              <a:rPr lang="en-US" dirty="0"/>
              <a:t>, fever, anemia etc. including 1MNCI strategy.</a:t>
            </a:r>
          </a:p>
          <a:p>
            <a:r>
              <a:rPr lang="en-US" dirty="0"/>
              <a:t>Name based tracking of all infants and children to ensure full immunization coverage.</a:t>
            </a:r>
          </a:p>
          <a:p>
            <a:r>
              <a:rPr lang="en-US" dirty="0"/>
              <a:t>Identification and follow up, referral and reporting of Adverse Events Following Immunization (AEFI).</a:t>
            </a:r>
            <a:endParaRPr lang="en-IN" dirty="0"/>
          </a:p>
        </p:txBody>
      </p:sp>
      <p:sp>
        <p:nvSpPr>
          <p:cNvPr id="4" name="Slide Number Placeholder 3">
            <a:extLst>
              <a:ext uri="{FF2B5EF4-FFF2-40B4-BE49-F238E27FC236}">
                <a16:creationId xmlns:a16="http://schemas.microsoft.com/office/drawing/2014/main" id="{7A097035-FC52-491B-8759-05F95E3AE137}"/>
              </a:ext>
            </a:extLst>
          </p:cNvPr>
          <p:cNvSpPr>
            <a:spLocks noGrp="1"/>
          </p:cNvSpPr>
          <p:nvPr>
            <p:ph type="sldNum" sz="quarter" idx="12"/>
          </p:nvPr>
        </p:nvSpPr>
        <p:spPr/>
        <p:txBody>
          <a:bodyPr/>
          <a:lstStyle/>
          <a:p>
            <a:fld id="{3A4F6043-7A67-491B-98BC-F933DED7226D}" type="slidenum">
              <a:rPr lang="en-US" smtClean="0"/>
              <a:pPr/>
              <a:t>54</a:t>
            </a:fld>
            <a:endParaRPr lang="en-US" dirty="0"/>
          </a:p>
        </p:txBody>
      </p:sp>
    </p:spTree>
    <p:extLst>
      <p:ext uri="{BB962C8B-B14F-4D97-AF65-F5344CB8AC3E}">
        <p14:creationId xmlns:p14="http://schemas.microsoft.com/office/powerpoint/2010/main" val="28122852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B1175-B773-0D92-E89D-D10A9D464A00}"/>
              </a:ext>
            </a:extLst>
          </p:cNvPr>
          <p:cNvSpPr>
            <a:spLocks noGrp="1"/>
          </p:cNvSpPr>
          <p:nvPr>
            <p:ph type="title"/>
          </p:nvPr>
        </p:nvSpPr>
        <p:spPr>
          <a:xfrm>
            <a:off x="705104" y="494284"/>
            <a:ext cx="10515600" cy="1325563"/>
          </a:xfrm>
        </p:spPr>
        <p:txBody>
          <a:bodyPr/>
          <a:lstStyle/>
          <a:p>
            <a:r>
              <a:rPr lang="en-IN" dirty="0"/>
              <a:t>Family planning and contraception </a:t>
            </a:r>
          </a:p>
        </p:txBody>
      </p:sp>
      <p:sp>
        <p:nvSpPr>
          <p:cNvPr id="3" name="Content Placeholder 2">
            <a:extLst>
              <a:ext uri="{FF2B5EF4-FFF2-40B4-BE49-F238E27FC236}">
                <a16:creationId xmlns:a16="http://schemas.microsoft.com/office/drawing/2014/main" id="{FDC4B6F5-325C-13C4-E7A9-D53EA0756529}"/>
              </a:ext>
            </a:extLst>
          </p:cNvPr>
          <p:cNvSpPr>
            <a:spLocks noGrp="1"/>
          </p:cNvSpPr>
          <p:nvPr>
            <p:ph idx="1"/>
          </p:nvPr>
        </p:nvSpPr>
        <p:spPr>
          <a:xfrm>
            <a:off x="420624" y="2040572"/>
            <a:ext cx="10515600" cy="4160584"/>
          </a:xfrm>
        </p:spPr>
        <p:txBody>
          <a:bodyPr>
            <a:normAutofit/>
          </a:bodyPr>
          <a:lstStyle/>
          <a:p>
            <a:r>
              <a:rPr lang="en-US" dirty="0"/>
              <a:t>(a) Education, motivation and counselling to adopt appropriate family planning method.</a:t>
            </a:r>
          </a:p>
          <a:p>
            <a:r>
              <a:rPr lang="en-US" dirty="0"/>
              <a:t>(b) Provision of contraceptives such as condoms, oral pills, emergency contraceptives and IUD insertion (wherever ANM is trained for IUD insertion).</a:t>
            </a:r>
          </a:p>
          <a:p>
            <a:r>
              <a:rPr lang="en-US" dirty="0"/>
              <a:t>(c) Follow up services to the eligible couples adopting permanent methods of </a:t>
            </a:r>
            <a:r>
              <a:rPr lang="en-US" dirty="0" err="1"/>
              <a:t>tubcctomy</a:t>
            </a:r>
            <a:r>
              <a:rPr lang="en-US" dirty="0"/>
              <a:t> and vasectomy (essential).</a:t>
            </a:r>
          </a:p>
          <a:p>
            <a:r>
              <a:rPr lang="en-US" dirty="0"/>
              <a:t>Counselling and appropriate referral for safe abortion service (MTP) (essential). </a:t>
            </a:r>
          </a:p>
          <a:p>
            <a:r>
              <a:rPr lang="en-US" dirty="0"/>
              <a:t>Adolescent health care : Education, counselling and referral (essential).</a:t>
            </a:r>
            <a:endParaRPr lang="en-IN" dirty="0"/>
          </a:p>
        </p:txBody>
      </p:sp>
      <p:sp>
        <p:nvSpPr>
          <p:cNvPr id="4" name="Slide Number Placeholder 3">
            <a:extLst>
              <a:ext uri="{FF2B5EF4-FFF2-40B4-BE49-F238E27FC236}">
                <a16:creationId xmlns:a16="http://schemas.microsoft.com/office/drawing/2014/main" id="{C9D81CF6-67CB-346F-DA68-A31EE6B2CF03}"/>
              </a:ext>
            </a:extLst>
          </p:cNvPr>
          <p:cNvSpPr>
            <a:spLocks noGrp="1"/>
          </p:cNvSpPr>
          <p:nvPr>
            <p:ph type="sldNum" sz="quarter" idx="12"/>
          </p:nvPr>
        </p:nvSpPr>
        <p:spPr/>
        <p:txBody>
          <a:bodyPr/>
          <a:lstStyle/>
          <a:p>
            <a:fld id="{3A4F6043-7A67-491B-98BC-F933DED7226D}" type="slidenum">
              <a:rPr lang="en-US" smtClean="0"/>
              <a:pPr/>
              <a:t>55</a:t>
            </a:fld>
            <a:endParaRPr lang="en-US" dirty="0"/>
          </a:p>
        </p:txBody>
      </p:sp>
    </p:spTree>
    <p:extLst>
      <p:ext uri="{BB962C8B-B14F-4D97-AF65-F5344CB8AC3E}">
        <p14:creationId xmlns:p14="http://schemas.microsoft.com/office/powerpoint/2010/main" val="17899474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F21A5D-9CA4-3481-2781-C8327091E41D}"/>
              </a:ext>
            </a:extLst>
          </p:cNvPr>
          <p:cNvSpPr>
            <a:spLocks noGrp="1"/>
          </p:cNvSpPr>
          <p:nvPr>
            <p:ph idx="1"/>
          </p:nvPr>
        </p:nvSpPr>
        <p:spPr>
          <a:xfrm>
            <a:off x="766064" y="962153"/>
            <a:ext cx="10515600" cy="5364496"/>
          </a:xfrm>
        </p:spPr>
        <p:txBody>
          <a:bodyPr/>
          <a:lstStyle/>
          <a:p>
            <a:r>
              <a:rPr lang="en-US" dirty="0"/>
              <a:t>Assistance to school health services (essential). </a:t>
            </a:r>
          </a:p>
          <a:p>
            <a:r>
              <a:rPr lang="en-US" dirty="0"/>
              <a:t>Water quality monitoring (essential). </a:t>
            </a:r>
          </a:p>
          <a:p>
            <a:r>
              <a:rPr lang="en-US" dirty="0"/>
              <a:t>Promotion of sanitation including use of toilet and appropriate garbage disposal (essential). </a:t>
            </a:r>
          </a:p>
          <a:p>
            <a:r>
              <a:rPr lang="en-US" dirty="0"/>
              <a:t>Field visits by appropriate health workers for disease surveillance, family welfare services including STI, RTI awareness (essential). </a:t>
            </a:r>
          </a:p>
          <a:p>
            <a:r>
              <a:rPr lang="en-US" dirty="0"/>
              <a:t>Community need assessment (essential). </a:t>
            </a:r>
          </a:p>
          <a:p>
            <a:r>
              <a:rPr lang="en-US" dirty="0"/>
              <a:t>Curative services for minor ailments including fever, </a:t>
            </a:r>
            <a:r>
              <a:rPr lang="en-US" dirty="0" err="1"/>
              <a:t>diarrhoea</a:t>
            </a:r>
            <a:r>
              <a:rPr lang="en-US" dirty="0"/>
              <a:t>, worm infestation and first-aid including first- aid for animal bite and snake bite; appropriate and prompt referral if needed. To provide AYUSH treatment.</a:t>
            </a:r>
            <a:endParaRPr lang="en-IN" dirty="0"/>
          </a:p>
        </p:txBody>
      </p:sp>
      <p:sp>
        <p:nvSpPr>
          <p:cNvPr id="4" name="Slide Number Placeholder 3">
            <a:extLst>
              <a:ext uri="{FF2B5EF4-FFF2-40B4-BE49-F238E27FC236}">
                <a16:creationId xmlns:a16="http://schemas.microsoft.com/office/drawing/2014/main" id="{CE17E5A9-A078-4E60-0D88-134B03C80A78}"/>
              </a:ext>
            </a:extLst>
          </p:cNvPr>
          <p:cNvSpPr>
            <a:spLocks noGrp="1"/>
          </p:cNvSpPr>
          <p:nvPr>
            <p:ph type="sldNum" sz="quarter" idx="12"/>
          </p:nvPr>
        </p:nvSpPr>
        <p:spPr/>
        <p:txBody>
          <a:bodyPr/>
          <a:lstStyle/>
          <a:p>
            <a:fld id="{3A4F6043-7A67-491B-98BC-F933DED7226D}" type="slidenum">
              <a:rPr lang="en-US" smtClean="0"/>
              <a:pPr/>
              <a:t>56</a:t>
            </a:fld>
            <a:endParaRPr lang="en-US" dirty="0"/>
          </a:p>
        </p:txBody>
      </p:sp>
    </p:spTree>
    <p:extLst>
      <p:ext uri="{BB962C8B-B14F-4D97-AF65-F5344CB8AC3E}">
        <p14:creationId xmlns:p14="http://schemas.microsoft.com/office/powerpoint/2010/main" val="29503326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85833C-8EA2-09A5-C020-BF8F577328BB}"/>
              </a:ext>
            </a:extLst>
          </p:cNvPr>
          <p:cNvSpPr>
            <a:spLocks noGrp="1"/>
          </p:cNvSpPr>
          <p:nvPr>
            <p:ph idx="1"/>
          </p:nvPr>
        </p:nvSpPr>
        <p:spPr>
          <a:xfrm>
            <a:off x="420624" y="667512"/>
            <a:ext cx="11082528" cy="5672327"/>
          </a:xfrm>
        </p:spPr>
        <p:txBody>
          <a:bodyPr>
            <a:normAutofit/>
          </a:bodyPr>
          <a:lstStyle/>
          <a:p>
            <a:r>
              <a:rPr lang="en-US" dirty="0"/>
              <a:t>Training of Traditional Birth Attendants and ASHA/ community health volunteers (essential). 12. Co-ordinate services of </a:t>
            </a:r>
            <a:r>
              <a:rPr lang="en-US" dirty="0" err="1"/>
              <a:t>anganwadi</a:t>
            </a:r>
            <a:r>
              <a:rPr lang="en-US" dirty="0"/>
              <a:t> workers, ASHA, village health and sanitation committee etc. (essential). </a:t>
            </a:r>
          </a:p>
          <a:p>
            <a:r>
              <a:rPr lang="en-US" dirty="0"/>
              <a:t>Disease surveillance. </a:t>
            </a:r>
          </a:p>
          <a:p>
            <a:r>
              <a:rPr lang="en-US" dirty="0"/>
              <a:t>Disease Integrated Surveillance Project (IDSP): </a:t>
            </a:r>
          </a:p>
          <a:p>
            <a:r>
              <a:rPr lang="en-US" dirty="0"/>
              <a:t>(1) Surveillance about any abnormal increase in cases of </a:t>
            </a:r>
            <a:r>
              <a:rPr lang="en-US" dirty="0" err="1"/>
              <a:t>diarrhoea</a:t>
            </a:r>
            <a:r>
              <a:rPr lang="en-US" dirty="0"/>
              <a:t>/dysentery, fever with rigors, fever with rash, fever with jaundice or fever with unconsciousness, and early reporting to concerned PHC as per IDSP guidelines.</a:t>
            </a:r>
          </a:p>
          <a:p>
            <a:r>
              <a:rPr lang="en-US" dirty="0"/>
              <a:t>(2) Immediate reporting of any cluster/outbreak based in syndromic surveillance.</a:t>
            </a:r>
          </a:p>
          <a:p>
            <a:r>
              <a:rPr lang="en-US" dirty="0"/>
              <a:t>(3) High level of alertness for any unusual health event, reporting and appropriate action.</a:t>
            </a:r>
          </a:p>
          <a:p>
            <a:r>
              <a:rPr lang="en-US" dirty="0"/>
              <a:t>(4) Weekly submission of report to PHC in ‘S’ Form as per IDSP guideline (essential).</a:t>
            </a:r>
            <a:endParaRPr lang="en-IN" dirty="0"/>
          </a:p>
        </p:txBody>
      </p:sp>
      <p:sp>
        <p:nvSpPr>
          <p:cNvPr id="4" name="Slide Number Placeholder 3">
            <a:extLst>
              <a:ext uri="{FF2B5EF4-FFF2-40B4-BE49-F238E27FC236}">
                <a16:creationId xmlns:a16="http://schemas.microsoft.com/office/drawing/2014/main" id="{41CED2AA-C5E3-C15B-098A-A3EBF57D472E}"/>
              </a:ext>
            </a:extLst>
          </p:cNvPr>
          <p:cNvSpPr>
            <a:spLocks noGrp="1"/>
          </p:cNvSpPr>
          <p:nvPr>
            <p:ph type="sldNum" sz="quarter" idx="12"/>
          </p:nvPr>
        </p:nvSpPr>
        <p:spPr/>
        <p:txBody>
          <a:bodyPr/>
          <a:lstStyle/>
          <a:p>
            <a:fld id="{3A4F6043-7A67-491B-98BC-F933DED7226D}" type="slidenum">
              <a:rPr lang="en-US" smtClean="0"/>
              <a:pPr/>
              <a:t>57</a:t>
            </a:fld>
            <a:endParaRPr lang="en-US" dirty="0"/>
          </a:p>
        </p:txBody>
      </p:sp>
    </p:spTree>
    <p:extLst>
      <p:ext uri="{BB962C8B-B14F-4D97-AF65-F5344CB8AC3E}">
        <p14:creationId xmlns:p14="http://schemas.microsoft.com/office/powerpoint/2010/main" val="12728071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E7A80-0A03-9DBB-72F7-40CDD3D78400}"/>
              </a:ext>
            </a:extLst>
          </p:cNvPr>
          <p:cNvSpPr>
            <a:spLocks noGrp="1"/>
          </p:cNvSpPr>
          <p:nvPr>
            <p:ph idx="1"/>
          </p:nvPr>
        </p:nvSpPr>
        <p:spPr>
          <a:xfrm>
            <a:off x="420624" y="1097279"/>
            <a:ext cx="10938256" cy="4934729"/>
          </a:xfrm>
        </p:spPr>
        <p:txBody>
          <a:bodyPr/>
          <a:lstStyle/>
          <a:p>
            <a:r>
              <a:rPr lang="en-US" dirty="0"/>
              <a:t>National AIDS Control </a:t>
            </a:r>
            <a:r>
              <a:rPr lang="en-US" dirty="0" err="1"/>
              <a:t>Programme</a:t>
            </a:r>
            <a:r>
              <a:rPr lang="en-US" dirty="0"/>
              <a:t> : Essential: </a:t>
            </a:r>
          </a:p>
          <a:p>
            <a:r>
              <a:rPr lang="en-US" dirty="0"/>
              <a:t>(1) Condom promotion &amp; distribution of condoms to the high-risk group.</a:t>
            </a:r>
          </a:p>
          <a:p>
            <a:r>
              <a:rPr lang="en-US" dirty="0"/>
              <a:t>(2) Help and guide patients with H1V/AIDS receiving ART with focus on adherence. </a:t>
            </a:r>
          </a:p>
          <a:p>
            <a:r>
              <a:rPr lang="en-US" dirty="0"/>
              <a:t>(3) IEC activities to enhance awareness and preventive measures about STIs and HIV/A1DS, PPTCT services HIV-TB coordination.</a:t>
            </a:r>
          </a:p>
          <a:p>
            <a:r>
              <a:rPr lang="en-US" dirty="0"/>
              <a:t>Desirable: </a:t>
            </a:r>
          </a:p>
          <a:p>
            <a:r>
              <a:rPr lang="en-US" dirty="0"/>
              <a:t>(1) Linkage with microscopy </a:t>
            </a:r>
            <a:r>
              <a:rPr lang="en-US" dirty="0" err="1"/>
              <a:t>centre</a:t>
            </a:r>
            <a:r>
              <a:rPr lang="en-US" dirty="0"/>
              <a:t> for HIV-TB coordination.</a:t>
            </a:r>
          </a:p>
          <a:p>
            <a:r>
              <a:rPr lang="en-US" dirty="0"/>
              <a:t>(2) H1V/STI Counselling, screening and referral in Type B sub-</a:t>
            </a:r>
            <a:r>
              <a:rPr lang="en-US" dirty="0" err="1"/>
              <a:t>centres</a:t>
            </a:r>
            <a:r>
              <a:rPr lang="en-US" dirty="0"/>
              <a:t> (screening in districts where the prevalence of H1V/AIDS is high).</a:t>
            </a:r>
            <a:endParaRPr lang="en-IN" dirty="0"/>
          </a:p>
        </p:txBody>
      </p:sp>
      <p:sp>
        <p:nvSpPr>
          <p:cNvPr id="4" name="Slide Number Placeholder 3">
            <a:extLst>
              <a:ext uri="{FF2B5EF4-FFF2-40B4-BE49-F238E27FC236}">
                <a16:creationId xmlns:a16="http://schemas.microsoft.com/office/drawing/2014/main" id="{FDBBB93B-2560-23D4-1EA5-1AE15392C9D8}"/>
              </a:ext>
            </a:extLst>
          </p:cNvPr>
          <p:cNvSpPr>
            <a:spLocks noGrp="1"/>
          </p:cNvSpPr>
          <p:nvPr>
            <p:ph type="sldNum" sz="quarter" idx="12"/>
          </p:nvPr>
        </p:nvSpPr>
        <p:spPr/>
        <p:txBody>
          <a:bodyPr/>
          <a:lstStyle/>
          <a:p>
            <a:fld id="{3A4F6043-7A67-491B-98BC-F933DED7226D}" type="slidenum">
              <a:rPr lang="en-US" smtClean="0"/>
              <a:pPr/>
              <a:t>58</a:t>
            </a:fld>
            <a:endParaRPr lang="en-US" dirty="0"/>
          </a:p>
        </p:txBody>
      </p:sp>
    </p:spTree>
    <p:extLst>
      <p:ext uri="{BB962C8B-B14F-4D97-AF65-F5344CB8AC3E}">
        <p14:creationId xmlns:p14="http://schemas.microsoft.com/office/powerpoint/2010/main" val="13466755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00501E-3ACF-D276-22C4-7FF98EC8D17D}"/>
              </a:ext>
            </a:extLst>
          </p:cNvPr>
          <p:cNvSpPr>
            <a:spLocks noGrp="1"/>
          </p:cNvSpPr>
          <p:nvPr>
            <p:ph idx="1"/>
          </p:nvPr>
        </p:nvSpPr>
        <p:spPr>
          <a:xfrm>
            <a:off x="420624" y="667513"/>
            <a:ext cx="10515600" cy="5364496"/>
          </a:xfrm>
        </p:spPr>
        <p:txBody>
          <a:bodyPr>
            <a:normAutofit fontScale="92500" lnSpcReduction="10000"/>
          </a:bodyPr>
          <a:lstStyle/>
          <a:p>
            <a:r>
              <a:rPr lang="en-US" dirty="0"/>
              <a:t>National Vector Borne Disease Control </a:t>
            </a:r>
            <a:r>
              <a:rPr lang="en-US" dirty="0" err="1"/>
              <a:t>Programme</a:t>
            </a:r>
            <a:r>
              <a:rPr lang="en-US" dirty="0"/>
              <a:t> ; </a:t>
            </a:r>
          </a:p>
          <a:p>
            <a:r>
              <a:rPr lang="en-US" dirty="0"/>
              <a:t>Essential: (1) Collection of blood slides of fever patients; </a:t>
            </a:r>
          </a:p>
          <a:p>
            <a:r>
              <a:rPr lang="en-US" dirty="0"/>
              <a:t>(2) Rapid Diagnostic Tests (RDT) for diagnosis of </a:t>
            </a:r>
            <a:r>
              <a:rPr lang="en-US" dirty="0" err="1"/>
              <a:t>Pf</a:t>
            </a:r>
            <a:r>
              <a:rPr lang="en-US" dirty="0"/>
              <a:t> malaria in high </a:t>
            </a:r>
            <a:r>
              <a:rPr lang="en-US" dirty="0" err="1"/>
              <a:t>Pf</a:t>
            </a:r>
            <a:r>
              <a:rPr lang="en-US" dirty="0"/>
              <a:t> endemic areas; </a:t>
            </a:r>
          </a:p>
          <a:p>
            <a:r>
              <a:rPr lang="en-US" dirty="0"/>
              <a:t>(3) Appropriate anti-malarial treatment; </a:t>
            </a:r>
          </a:p>
          <a:p>
            <a:r>
              <a:rPr lang="en-US" dirty="0"/>
              <a:t>(4) Assistance for integrated vector control activities in relation to malaria, filaria, JE, dengue, Kala-Azar etc. as prevalent in specific areas. Prevention of breeding places of vectors through IEC and community mobilization. Where filaria is endemic, identification of cases of lymphoedema/</a:t>
            </a:r>
            <a:r>
              <a:rPr lang="en-US" dirty="0" err="1"/>
              <a:t>elephentiasis</a:t>
            </a:r>
            <a:r>
              <a:rPr lang="en-US" dirty="0"/>
              <a:t> and hydrocele and their referrals to PHC/CHC for appropriate management. The disease specific guidelines issued by NVBDCP are to be followed; </a:t>
            </a:r>
          </a:p>
          <a:p>
            <a:r>
              <a:rPr lang="en-US" dirty="0"/>
              <a:t>(5) Annual mass drug administration with single dose of diethyl </a:t>
            </a:r>
            <a:r>
              <a:rPr lang="en-US" dirty="0" err="1"/>
              <a:t>carbamazine</a:t>
            </a:r>
            <a:r>
              <a:rPr lang="en-US" dirty="0"/>
              <a:t> (DEC)+albendazole to all eligible population at risk of lymphatic filariasis</a:t>
            </a:r>
          </a:p>
          <a:p>
            <a:r>
              <a:rPr lang="en-US" dirty="0"/>
              <a:t>(6) Promotion of use of insecticidal treated nets wherever supplied </a:t>
            </a:r>
          </a:p>
          <a:p>
            <a:r>
              <a:rPr lang="en-US" dirty="0"/>
              <a:t>(7) Record keeping and reporting as per </a:t>
            </a:r>
            <a:r>
              <a:rPr lang="en-US" dirty="0" err="1"/>
              <a:t>programme</a:t>
            </a:r>
            <a:r>
              <a:rPr lang="en-US" dirty="0"/>
              <a:t> guidelines.</a:t>
            </a:r>
            <a:endParaRPr lang="en-IN" dirty="0"/>
          </a:p>
        </p:txBody>
      </p:sp>
      <p:sp>
        <p:nvSpPr>
          <p:cNvPr id="4" name="Slide Number Placeholder 3">
            <a:extLst>
              <a:ext uri="{FF2B5EF4-FFF2-40B4-BE49-F238E27FC236}">
                <a16:creationId xmlns:a16="http://schemas.microsoft.com/office/drawing/2014/main" id="{FA3B7667-6DED-12A1-D977-05AE37DDAA51}"/>
              </a:ext>
            </a:extLst>
          </p:cNvPr>
          <p:cNvSpPr>
            <a:spLocks noGrp="1"/>
          </p:cNvSpPr>
          <p:nvPr>
            <p:ph type="sldNum" sz="quarter" idx="12"/>
          </p:nvPr>
        </p:nvSpPr>
        <p:spPr/>
        <p:txBody>
          <a:bodyPr/>
          <a:lstStyle/>
          <a:p>
            <a:fld id="{3A4F6043-7A67-491B-98BC-F933DED7226D}" type="slidenum">
              <a:rPr lang="en-US" smtClean="0"/>
              <a:pPr/>
              <a:t>59</a:t>
            </a:fld>
            <a:endParaRPr lang="en-US" dirty="0"/>
          </a:p>
        </p:txBody>
      </p:sp>
    </p:spTree>
    <p:extLst>
      <p:ext uri="{BB962C8B-B14F-4D97-AF65-F5344CB8AC3E}">
        <p14:creationId xmlns:p14="http://schemas.microsoft.com/office/powerpoint/2010/main" val="35572117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87EB8-D147-D6B4-2FCE-28A7136CCFFD}"/>
              </a:ext>
            </a:extLst>
          </p:cNvPr>
          <p:cNvSpPr>
            <a:spLocks noGrp="1"/>
          </p:cNvSpPr>
          <p:nvPr>
            <p:ph type="title"/>
          </p:nvPr>
        </p:nvSpPr>
        <p:spPr>
          <a:xfrm>
            <a:off x="542544" y="751205"/>
            <a:ext cx="10515600" cy="1325563"/>
          </a:xfrm>
        </p:spPr>
        <p:txBody>
          <a:bodyPr>
            <a:normAutofit fontScale="90000"/>
          </a:bodyPr>
          <a:lstStyle/>
          <a:p>
            <a:r>
              <a:rPr lang="en-US" dirty="0"/>
              <a:t>National Leprosy Eradication </a:t>
            </a:r>
            <a:r>
              <a:rPr lang="en-US" dirty="0" err="1"/>
              <a:t>Programme</a:t>
            </a:r>
            <a:r>
              <a:rPr lang="en-US" dirty="0"/>
              <a:t> :</a:t>
            </a:r>
            <a:endParaRPr lang="en-IN" dirty="0"/>
          </a:p>
        </p:txBody>
      </p:sp>
      <p:sp>
        <p:nvSpPr>
          <p:cNvPr id="3" name="Content Placeholder 2">
            <a:extLst>
              <a:ext uri="{FF2B5EF4-FFF2-40B4-BE49-F238E27FC236}">
                <a16:creationId xmlns:a16="http://schemas.microsoft.com/office/drawing/2014/main" id="{9090116D-55DF-8999-5F27-7EE1D604A506}"/>
              </a:ext>
            </a:extLst>
          </p:cNvPr>
          <p:cNvSpPr>
            <a:spLocks noGrp="1"/>
          </p:cNvSpPr>
          <p:nvPr>
            <p:ph idx="1"/>
          </p:nvPr>
        </p:nvSpPr>
        <p:spPr/>
        <p:txBody>
          <a:bodyPr/>
          <a:lstStyle/>
          <a:p>
            <a:r>
              <a:rPr lang="en-US" dirty="0"/>
              <a:t>Essential: </a:t>
            </a:r>
          </a:p>
          <a:p>
            <a:r>
              <a:rPr lang="en-US" dirty="0"/>
              <a:t>(1) Health education to community regarding signs and symptoms of leprosy, its complications, curability and availability of free of cost treatment. </a:t>
            </a:r>
          </a:p>
          <a:p>
            <a:r>
              <a:rPr lang="en-US" dirty="0"/>
              <a:t>(2) Referral of suspected cases of leprosy (person with skin patch, nodule, thickened skin, impaired sensation in hands and feet with muscle weakness) and its complications to PHC. </a:t>
            </a:r>
          </a:p>
          <a:p>
            <a:r>
              <a:rPr lang="en-US" dirty="0"/>
              <a:t>(3) Provision of subsequent doses of MDT and follow up of persons under treatment for leprosy, maintain records and monitor for regularity and completion of treatment.</a:t>
            </a:r>
            <a:endParaRPr lang="en-IN" dirty="0"/>
          </a:p>
        </p:txBody>
      </p:sp>
      <p:sp>
        <p:nvSpPr>
          <p:cNvPr id="4" name="Slide Number Placeholder 3">
            <a:extLst>
              <a:ext uri="{FF2B5EF4-FFF2-40B4-BE49-F238E27FC236}">
                <a16:creationId xmlns:a16="http://schemas.microsoft.com/office/drawing/2014/main" id="{E7A0DF67-40C2-5FE2-BB54-F206D3BC6876}"/>
              </a:ext>
            </a:extLst>
          </p:cNvPr>
          <p:cNvSpPr>
            <a:spLocks noGrp="1"/>
          </p:cNvSpPr>
          <p:nvPr>
            <p:ph type="sldNum" sz="quarter" idx="12"/>
          </p:nvPr>
        </p:nvSpPr>
        <p:spPr/>
        <p:txBody>
          <a:bodyPr/>
          <a:lstStyle/>
          <a:p>
            <a:fld id="{3A4F6043-7A67-491B-98BC-F933DED7226D}" type="slidenum">
              <a:rPr lang="en-US" smtClean="0"/>
              <a:pPr/>
              <a:t>60</a:t>
            </a:fld>
            <a:endParaRPr lang="en-US" dirty="0"/>
          </a:p>
        </p:txBody>
      </p:sp>
    </p:spTree>
    <p:extLst>
      <p:ext uri="{BB962C8B-B14F-4D97-AF65-F5344CB8AC3E}">
        <p14:creationId xmlns:p14="http://schemas.microsoft.com/office/powerpoint/2010/main" val="31933236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E6261-7D11-A125-365C-2543758660FA}"/>
              </a:ext>
            </a:extLst>
          </p:cNvPr>
          <p:cNvSpPr>
            <a:spLocks noGrp="1"/>
          </p:cNvSpPr>
          <p:nvPr>
            <p:ph type="title"/>
          </p:nvPr>
        </p:nvSpPr>
        <p:spPr/>
        <p:txBody>
          <a:bodyPr>
            <a:normAutofit fontScale="90000"/>
          </a:bodyPr>
          <a:lstStyle/>
          <a:p>
            <a:r>
              <a:rPr lang="en-US" dirty="0"/>
              <a:t>National Tuberculosis Elimination </a:t>
            </a:r>
            <a:r>
              <a:rPr lang="en-US" dirty="0" err="1"/>
              <a:t>Programme</a:t>
            </a:r>
            <a:endParaRPr lang="en-IN" dirty="0"/>
          </a:p>
        </p:txBody>
      </p:sp>
      <p:sp>
        <p:nvSpPr>
          <p:cNvPr id="3" name="Content Placeholder 2">
            <a:extLst>
              <a:ext uri="{FF2B5EF4-FFF2-40B4-BE49-F238E27FC236}">
                <a16:creationId xmlns:a16="http://schemas.microsoft.com/office/drawing/2014/main" id="{42C421D9-1821-7B12-3302-92FB9A104A62}"/>
              </a:ext>
            </a:extLst>
          </p:cNvPr>
          <p:cNvSpPr>
            <a:spLocks noGrp="1"/>
          </p:cNvSpPr>
          <p:nvPr>
            <p:ph idx="1"/>
          </p:nvPr>
        </p:nvSpPr>
        <p:spPr>
          <a:xfrm>
            <a:off x="420624" y="1825625"/>
            <a:ext cx="11009376" cy="4667250"/>
          </a:xfrm>
        </p:spPr>
        <p:txBody>
          <a:bodyPr>
            <a:normAutofit/>
          </a:bodyPr>
          <a:lstStyle/>
          <a:p>
            <a:r>
              <a:rPr lang="en-US" dirty="0"/>
              <a:t>Essential: </a:t>
            </a:r>
          </a:p>
          <a:p>
            <a:r>
              <a:rPr lang="en-US" dirty="0"/>
              <a:t>(1) Referral of suspected symptomatic cases to the PHC/ Microscopy </a:t>
            </a:r>
            <a:r>
              <a:rPr lang="en-US" dirty="0" err="1"/>
              <a:t>centre</a:t>
            </a:r>
            <a:r>
              <a:rPr lang="en-US" dirty="0"/>
              <a:t>.</a:t>
            </a:r>
          </a:p>
          <a:p>
            <a:r>
              <a:rPr lang="en-US" dirty="0"/>
              <a:t>(2) Provision of DOTS at sub </a:t>
            </a:r>
            <a:r>
              <a:rPr lang="en-US" dirty="0" err="1"/>
              <a:t>centre</a:t>
            </a:r>
            <a:r>
              <a:rPr lang="en-US" dirty="0"/>
              <a:t>, proper documentation and follow-up. </a:t>
            </a:r>
          </a:p>
          <a:p>
            <a:r>
              <a:rPr lang="en-US" dirty="0"/>
              <a:t>(3) Care should be taken to ensure compliance and completion of treatment in all cases.</a:t>
            </a:r>
          </a:p>
          <a:p>
            <a:r>
              <a:rPr lang="en-US" dirty="0"/>
              <a:t>(4) Adequate drinking water should be ensured at sub-</a:t>
            </a:r>
            <a:r>
              <a:rPr lang="en-US" dirty="0" err="1"/>
              <a:t>centre</a:t>
            </a:r>
            <a:r>
              <a:rPr lang="en-US" dirty="0"/>
              <a:t> for taking the drugs.</a:t>
            </a:r>
          </a:p>
          <a:p>
            <a:r>
              <a:rPr lang="en-US" dirty="0"/>
              <a:t> Desirable: Sputum collection centers established in sub </a:t>
            </a:r>
            <a:r>
              <a:rPr lang="en-US" dirty="0" err="1"/>
              <a:t>centre</a:t>
            </a:r>
            <a:r>
              <a:rPr lang="en-US" dirty="0"/>
              <a:t> for collection and transport of sputum samples in rural, tribal, hilly &amp; difficult areas of the country where designated microscopy </a:t>
            </a:r>
            <a:r>
              <a:rPr lang="en-US" dirty="0" err="1"/>
              <a:t>centres</a:t>
            </a:r>
            <a:r>
              <a:rPr lang="en-US" dirty="0"/>
              <a:t> are not available as per the NTEP guidelines.</a:t>
            </a:r>
            <a:endParaRPr lang="en-IN" dirty="0"/>
          </a:p>
        </p:txBody>
      </p:sp>
      <p:sp>
        <p:nvSpPr>
          <p:cNvPr id="4" name="Slide Number Placeholder 3">
            <a:extLst>
              <a:ext uri="{FF2B5EF4-FFF2-40B4-BE49-F238E27FC236}">
                <a16:creationId xmlns:a16="http://schemas.microsoft.com/office/drawing/2014/main" id="{939BFD9A-94EA-138D-EB70-6475144F94DB}"/>
              </a:ext>
            </a:extLst>
          </p:cNvPr>
          <p:cNvSpPr>
            <a:spLocks noGrp="1"/>
          </p:cNvSpPr>
          <p:nvPr>
            <p:ph type="sldNum" sz="quarter" idx="12"/>
          </p:nvPr>
        </p:nvSpPr>
        <p:spPr/>
        <p:txBody>
          <a:bodyPr/>
          <a:lstStyle/>
          <a:p>
            <a:fld id="{3A4F6043-7A67-491B-98BC-F933DED7226D}" type="slidenum">
              <a:rPr lang="en-US" smtClean="0"/>
              <a:pPr/>
              <a:t>61</a:t>
            </a:fld>
            <a:endParaRPr lang="en-US" dirty="0"/>
          </a:p>
        </p:txBody>
      </p:sp>
    </p:spTree>
    <p:extLst>
      <p:ext uri="{BB962C8B-B14F-4D97-AF65-F5344CB8AC3E}">
        <p14:creationId xmlns:p14="http://schemas.microsoft.com/office/powerpoint/2010/main" val="33075553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1C9C-7AA8-53B9-D634-D7AE7E61EC9B}"/>
              </a:ext>
            </a:extLst>
          </p:cNvPr>
          <p:cNvSpPr>
            <a:spLocks noGrp="1"/>
          </p:cNvSpPr>
          <p:nvPr>
            <p:ph type="title"/>
          </p:nvPr>
        </p:nvSpPr>
        <p:spPr/>
        <p:txBody>
          <a:bodyPr>
            <a:normAutofit fontScale="90000"/>
          </a:bodyPr>
          <a:lstStyle/>
          <a:p>
            <a:r>
              <a:rPr lang="en-US" dirty="0"/>
              <a:t>National </a:t>
            </a:r>
            <a:r>
              <a:rPr lang="en-US" dirty="0" err="1"/>
              <a:t>Programme</a:t>
            </a:r>
            <a:r>
              <a:rPr lang="en-US" dirty="0"/>
              <a:t> for Control of Blindness (NPCB):</a:t>
            </a:r>
            <a:endParaRPr lang="en-IN" dirty="0"/>
          </a:p>
        </p:txBody>
      </p:sp>
      <p:sp>
        <p:nvSpPr>
          <p:cNvPr id="3" name="Content Placeholder 2">
            <a:extLst>
              <a:ext uri="{FF2B5EF4-FFF2-40B4-BE49-F238E27FC236}">
                <a16:creationId xmlns:a16="http://schemas.microsoft.com/office/drawing/2014/main" id="{AA005BA7-D146-5F75-52DA-17DB56196D9A}"/>
              </a:ext>
            </a:extLst>
          </p:cNvPr>
          <p:cNvSpPr>
            <a:spLocks noGrp="1"/>
          </p:cNvSpPr>
          <p:nvPr>
            <p:ph idx="1"/>
          </p:nvPr>
        </p:nvSpPr>
        <p:spPr/>
        <p:txBody>
          <a:bodyPr>
            <a:normAutofit fontScale="92500"/>
          </a:bodyPr>
          <a:lstStyle/>
          <a:p>
            <a:r>
              <a:rPr lang="en-US" dirty="0"/>
              <a:t>Essential: </a:t>
            </a:r>
          </a:p>
          <a:p>
            <a:r>
              <a:rPr lang="en-US" dirty="0"/>
              <a:t>(1) Detection of cases of impaired vision in house to house surveys and their appropriate referral. The cases with decreased vision will be noted in the blindness register.</a:t>
            </a:r>
          </a:p>
          <a:p>
            <a:r>
              <a:rPr lang="en-US" dirty="0"/>
              <a:t>(2) Spreading awareness regarding eye problems, early detection of decreased vision, available treatment and health care facilities for referral of such cases. IEC is the major activity to help identify cases of blindness and refer suspected cataract cases.</a:t>
            </a:r>
          </a:p>
          <a:p>
            <a:r>
              <a:rPr lang="en-US" dirty="0"/>
              <a:t> Desirable: </a:t>
            </a:r>
          </a:p>
          <a:p>
            <a:r>
              <a:rPr lang="en-US" dirty="0"/>
              <a:t>(1) The cataract cases brought to the district hospital by MPW/ANM/ and ASHAS.</a:t>
            </a:r>
          </a:p>
          <a:p>
            <a:r>
              <a:rPr lang="en-US" dirty="0"/>
              <a:t>(2) Assisting for screening of school children for diminished vision and referral.</a:t>
            </a:r>
            <a:endParaRPr lang="en-IN" dirty="0"/>
          </a:p>
        </p:txBody>
      </p:sp>
      <p:sp>
        <p:nvSpPr>
          <p:cNvPr id="4" name="Slide Number Placeholder 3">
            <a:extLst>
              <a:ext uri="{FF2B5EF4-FFF2-40B4-BE49-F238E27FC236}">
                <a16:creationId xmlns:a16="http://schemas.microsoft.com/office/drawing/2014/main" id="{544A2750-231B-04EE-92F3-90E1932ABAC2}"/>
              </a:ext>
            </a:extLst>
          </p:cNvPr>
          <p:cNvSpPr>
            <a:spLocks noGrp="1"/>
          </p:cNvSpPr>
          <p:nvPr>
            <p:ph type="sldNum" sz="quarter" idx="12"/>
          </p:nvPr>
        </p:nvSpPr>
        <p:spPr/>
        <p:txBody>
          <a:bodyPr/>
          <a:lstStyle/>
          <a:p>
            <a:fld id="{3A4F6043-7A67-491B-98BC-F933DED7226D}" type="slidenum">
              <a:rPr lang="en-US" smtClean="0"/>
              <a:pPr/>
              <a:t>62</a:t>
            </a:fld>
            <a:endParaRPr lang="en-US" dirty="0"/>
          </a:p>
        </p:txBody>
      </p:sp>
    </p:spTree>
    <p:extLst>
      <p:ext uri="{BB962C8B-B14F-4D97-AF65-F5344CB8AC3E}">
        <p14:creationId xmlns:p14="http://schemas.microsoft.com/office/powerpoint/2010/main" val="2327857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B09F-19A4-904F-5E5E-DFD922EFF5C2}"/>
              </a:ext>
            </a:extLst>
          </p:cNvPr>
          <p:cNvSpPr>
            <a:spLocks noGrp="1"/>
          </p:cNvSpPr>
          <p:nvPr>
            <p:ph type="title"/>
          </p:nvPr>
        </p:nvSpPr>
        <p:spPr/>
        <p:txBody>
          <a:bodyPr>
            <a:normAutofit fontScale="90000"/>
          </a:bodyPr>
          <a:lstStyle/>
          <a:p>
            <a:r>
              <a:rPr lang="en-US" dirty="0"/>
              <a:t>National </a:t>
            </a:r>
            <a:r>
              <a:rPr lang="en-US" dirty="0" err="1"/>
              <a:t>Programme</a:t>
            </a:r>
            <a:r>
              <a:rPr lang="en-US" dirty="0"/>
              <a:t> for Prevention and Control of Deafness:</a:t>
            </a:r>
            <a:endParaRPr lang="en-IN" dirty="0"/>
          </a:p>
        </p:txBody>
      </p:sp>
      <p:sp>
        <p:nvSpPr>
          <p:cNvPr id="3" name="Content Placeholder 2">
            <a:extLst>
              <a:ext uri="{FF2B5EF4-FFF2-40B4-BE49-F238E27FC236}">
                <a16:creationId xmlns:a16="http://schemas.microsoft.com/office/drawing/2014/main" id="{56E6C6CA-49DF-A52A-B541-32805058F62E}"/>
              </a:ext>
            </a:extLst>
          </p:cNvPr>
          <p:cNvSpPr>
            <a:spLocks noGrp="1"/>
          </p:cNvSpPr>
          <p:nvPr>
            <p:ph idx="1"/>
          </p:nvPr>
        </p:nvSpPr>
        <p:spPr/>
        <p:txBody>
          <a:bodyPr/>
          <a:lstStyle/>
          <a:p>
            <a:r>
              <a:rPr lang="en-US" dirty="0"/>
              <a:t>Essential: </a:t>
            </a:r>
          </a:p>
          <a:p>
            <a:r>
              <a:rPr lang="en-US" dirty="0"/>
              <a:t>(1) Detection of cases of hearing impairment and deafness during house to house survey and their appropriate referral.</a:t>
            </a:r>
          </a:p>
          <a:p>
            <a:r>
              <a:rPr lang="en-US" dirty="0"/>
              <a:t>(2) Awareness regarding ear problems, early detection of deafness, available treatment and health care facilities for referral of such cases.</a:t>
            </a:r>
            <a:endParaRPr lang="en-IN" dirty="0"/>
          </a:p>
        </p:txBody>
      </p:sp>
      <p:sp>
        <p:nvSpPr>
          <p:cNvPr id="4" name="Slide Number Placeholder 3">
            <a:extLst>
              <a:ext uri="{FF2B5EF4-FFF2-40B4-BE49-F238E27FC236}">
                <a16:creationId xmlns:a16="http://schemas.microsoft.com/office/drawing/2014/main" id="{42AA56EA-4268-8F87-577E-B4EAA4470128}"/>
              </a:ext>
            </a:extLst>
          </p:cNvPr>
          <p:cNvSpPr>
            <a:spLocks noGrp="1"/>
          </p:cNvSpPr>
          <p:nvPr>
            <p:ph type="sldNum" sz="quarter" idx="12"/>
          </p:nvPr>
        </p:nvSpPr>
        <p:spPr/>
        <p:txBody>
          <a:bodyPr/>
          <a:lstStyle/>
          <a:p>
            <a:fld id="{3A4F6043-7A67-491B-98BC-F933DED7226D}" type="slidenum">
              <a:rPr lang="en-US" smtClean="0"/>
              <a:pPr/>
              <a:t>63</a:t>
            </a:fld>
            <a:endParaRPr lang="en-US" dirty="0"/>
          </a:p>
        </p:txBody>
      </p:sp>
    </p:spTree>
    <p:extLst>
      <p:ext uri="{BB962C8B-B14F-4D97-AF65-F5344CB8AC3E}">
        <p14:creationId xmlns:p14="http://schemas.microsoft.com/office/powerpoint/2010/main" val="26783104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6FC5C-9198-5963-6A5F-DF17344F2373}"/>
              </a:ext>
            </a:extLst>
          </p:cNvPr>
          <p:cNvSpPr>
            <a:spLocks noGrp="1"/>
          </p:cNvSpPr>
          <p:nvPr>
            <p:ph type="title"/>
          </p:nvPr>
        </p:nvSpPr>
        <p:spPr/>
        <p:txBody>
          <a:bodyPr/>
          <a:lstStyle/>
          <a:p>
            <a:r>
              <a:rPr lang="en-US" dirty="0"/>
              <a:t>National Mental Health </a:t>
            </a:r>
            <a:r>
              <a:rPr lang="en-US" dirty="0" err="1"/>
              <a:t>Programme</a:t>
            </a:r>
            <a:r>
              <a:rPr lang="en-US" dirty="0"/>
              <a:t>:</a:t>
            </a:r>
            <a:endParaRPr lang="en-IN" dirty="0"/>
          </a:p>
        </p:txBody>
      </p:sp>
      <p:sp>
        <p:nvSpPr>
          <p:cNvPr id="3" name="Content Placeholder 2">
            <a:extLst>
              <a:ext uri="{FF2B5EF4-FFF2-40B4-BE49-F238E27FC236}">
                <a16:creationId xmlns:a16="http://schemas.microsoft.com/office/drawing/2014/main" id="{3FD046E8-F047-F4DE-BDD2-3EE15B899168}"/>
              </a:ext>
            </a:extLst>
          </p:cNvPr>
          <p:cNvSpPr>
            <a:spLocks noGrp="1"/>
          </p:cNvSpPr>
          <p:nvPr>
            <p:ph idx="1"/>
          </p:nvPr>
        </p:nvSpPr>
        <p:spPr/>
        <p:txBody>
          <a:bodyPr/>
          <a:lstStyle/>
          <a:p>
            <a:r>
              <a:rPr lang="en-US" dirty="0"/>
              <a:t>Essential: </a:t>
            </a:r>
          </a:p>
          <a:p>
            <a:r>
              <a:rPr lang="en-US" dirty="0"/>
              <a:t>(1) Identification and referral of common mental illnesses for treatment and follow them up in community.</a:t>
            </a:r>
          </a:p>
          <a:p>
            <a:r>
              <a:rPr lang="en-US" dirty="0"/>
              <a:t>(2) IEC activities for prevention and early detection of mental disorders and greater participation/role of community for primary prevention of mental disorders.</a:t>
            </a:r>
            <a:endParaRPr lang="en-IN" dirty="0"/>
          </a:p>
        </p:txBody>
      </p:sp>
      <p:sp>
        <p:nvSpPr>
          <p:cNvPr id="4" name="Slide Number Placeholder 3">
            <a:extLst>
              <a:ext uri="{FF2B5EF4-FFF2-40B4-BE49-F238E27FC236}">
                <a16:creationId xmlns:a16="http://schemas.microsoft.com/office/drawing/2014/main" id="{663B382F-41A2-326D-0278-C23C6E8C22FC}"/>
              </a:ext>
            </a:extLst>
          </p:cNvPr>
          <p:cNvSpPr>
            <a:spLocks noGrp="1"/>
          </p:cNvSpPr>
          <p:nvPr>
            <p:ph type="sldNum" sz="quarter" idx="12"/>
          </p:nvPr>
        </p:nvSpPr>
        <p:spPr/>
        <p:txBody>
          <a:bodyPr/>
          <a:lstStyle/>
          <a:p>
            <a:fld id="{3A4F6043-7A67-491B-98BC-F933DED7226D}" type="slidenum">
              <a:rPr lang="en-US" smtClean="0"/>
              <a:pPr/>
              <a:t>64</a:t>
            </a:fld>
            <a:endParaRPr lang="en-US" dirty="0"/>
          </a:p>
        </p:txBody>
      </p:sp>
    </p:spTree>
    <p:extLst>
      <p:ext uri="{BB962C8B-B14F-4D97-AF65-F5344CB8AC3E}">
        <p14:creationId xmlns:p14="http://schemas.microsoft.com/office/powerpoint/2010/main" val="19839315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608E7-B822-D14B-967C-944D322847F0}"/>
              </a:ext>
            </a:extLst>
          </p:cNvPr>
          <p:cNvSpPr>
            <a:spLocks noGrp="1"/>
          </p:cNvSpPr>
          <p:nvPr>
            <p:ph type="title"/>
          </p:nvPr>
        </p:nvSpPr>
        <p:spPr>
          <a:xfrm>
            <a:off x="420624" y="365125"/>
            <a:ext cx="10515600" cy="2479675"/>
          </a:xfrm>
        </p:spPr>
        <p:txBody>
          <a:bodyPr>
            <a:normAutofit/>
          </a:bodyPr>
          <a:lstStyle/>
          <a:p>
            <a:r>
              <a:rPr lang="en-US" dirty="0"/>
              <a:t>National </a:t>
            </a:r>
            <a:r>
              <a:rPr lang="en-US" dirty="0" err="1"/>
              <a:t>Programme</a:t>
            </a:r>
            <a:r>
              <a:rPr lang="en-US" dirty="0"/>
              <a:t> for Prevention and Control of Cancer, Diabetes, Cardiovascular Diseases and Stroke :</a:t>
            </a:r>
            <a:endParaRPr lang="en-IN" dirty="0"/>
          </a:p>
        </p:txBody>
      </p:sp>
      <p:sp>
        <p:nvSpPr>
          <p:cNvPr id="3" name="Content Placeholder 2">
            <a:extLst>
              <a:ext uri="{FF2B5EF4-FFF2-40B4-BE49-F238E27FC236}">
                <a16:creationId xmlns:a16="http://schemas.microsoft.com/office/drawing/2014/main" id="{D6717634-7849-5FB0-5FC8-CA73B7C62180}"/>
              </a:ext>
            </a:extLst>
          </p:cNvPr>
          <p:cNvSpPr>
            <a:spLocks noGrp="1"/>
          </p:cNvSpPr>
          <p:nvPr>
            <p:ph idx="1"/>
          </p:nvPr>
        </p:nvSpPr>
        <p:spPr>
          <a:xfrm>
            <a:off x="420624" y="3220720"/>
            <a:ext cx="10515600" cy="2811288"/>
          </a:xfrm>
        </p:spPr>
        <p:txBody>
          <a:bodyPr/>
          <a:lstStyle/>
          <a:p>
            <a:r>
              <a:rPr lang="en-US" dirty="0"/>
              <a:t>Essential: IEC activities to promote healthy lifestyle, sensitize the community about prevention of cancers, diabetes, CVD and strokes, early detection through awareness regarding warning signs and appropriate and prompt referral of suspect cases.</a:t>
            </a:r>
            <a:endParaRPr lang="en-IN" dirty="0"/>
          </a:p>
        </p:txBody>
      </p:sp>
      <p:sp>
        <p:nvSpPr>
          <p:cNvPr id="4" name="Slide Number Placeholder 3">
            <a:extLst>
              <a:ext uri="{FF2B5EF4-FFF2-40B4-BE49-F238E27FC236}">
                <a16:creationId xmlns:a16="http://schemas.microsoft.com/office/drawing/2014/main" id="{BB19A68A-A90A-6CCE-2568-24485B5C2D17}"/>
              </a:ext>
            </a:extLst>
          </p:cNvPr>
          <p:cNvSpPr>
            <a:spLocks noGrp="1"/>
          </p:cNvSpPr>
          <p:nvPr>
            <p:ph type="sldNum" sz="quarter" idx="12"/>
          </p:nvPr>
        </p:nvSpPr>
        <p:spPr/>
        <p:txBody>
          <a:bodyPr/>
          <a:lstStyle/>
          <a:p>
            <a:fld id="{3A4F6043-7A67-491B-98BC-F933DED7226D}" type="slidenum">
              <a:rPr lang="en-US" smtClean="0"/>
              <a:pPr/>
              <a:t>65</a:t>
            </a:fld>
            <a:endParaRPr lang="en-US" dirty="0"/>
          </a:p>
        </p:txBody>
      </p:sp>
    </p:spTree>
    <p:extLst>
      <p:ext uri="{BB962C8B-B14F-4D97-AF65-F5344CB8AC3E}">
        <p14:creationId xmlns:p14="http://schemas.microsoft.com/office/powerpoint/2010/main" val="27313129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8857-031B-4F65-26D4-64A9D555DACA}"/>
              </a:ext>
            </a:extLst>
          </p:cNvPr>
          <p:cNvSpPr>
            <a:spLocks noGrp="1"/>
          </p:cNvSpPr>
          <p:nvPr>
            <p:ph type="title"/>
          </p:nvPr>
        </p:nvSpPr>
        <p:spPr>
          <a:xfrm>
            <a:off x="613664" y="974725"/>
            <a:ext cx="10515600" cy="1325563"/>
          </a:xfrm>
        </p:spPr>
        <p:txBody>
          <a:bodyPr>
            <a:normAutofit fontScale="90000"/>
          </a:bodyPr>
          <a:lstStyle/>
          <a:p>
            <a:r>
              <a:rPr lang="en-US" dirty="0"/>
              <a:t>National Iodine Deficiency Disorders Control </a:t>
            </a:r>
            <a:r>
              <a:rPr lang="en-US" dirty="0" err="1"/>
              <a:t>Programme</a:t>
            </a:r>
            <a:r>
              <a:rPr lang="en-US" dirty="0"/>
              <a:t>:</a:t>
            </a:r>
            <a:endParaRPr lang="en-IN" dirty="0"/>
          </a:p>
        </p:txBody>
      </p:sp>
      <p:sp>
        <p:nvSpPr>
          <p:cNvPr id="3" name="Content Placeholder 2">
            <a:extLst>
              <a:ext uri="{FF2B5EF4-FFF2-40B4-BE49-F238E27FC236}">
                <a16:creationId xmlns:a16="http://schemas.microsoft.com/office/drawing/2014/main" id="{AF1615FE-B305-D537-E570-31F607C3D36B}"/>
              </a:ext>
            </a:extLst>
          </p:cNvPr>
          <p:cNvSpPr>
            <a:spLocks noGrp="1"/>
          </p:cNvSpPr>
          <p:nvPr>
            <p:ph idx="1"/>
          </p:nvPr>
        </p:nvSpPr>
        <p:spPr>
          <a:xfrm>
            <a:off x="420624" y="2885440"/>
            <a:ext cx="10515600" cy="3390408"/>
          </a:xfrm>
        </p:spPr>
        <p:txBody>
          <a:bodyPr/>
          <a:lstStyle/>
          <a:p>
            <a:r>
              <a:rPr lang="en-US" dirty="0"/>
              <a:t>IEC activities to promote consumption of iodized salt by the community. Testing of salt for presence of iodine through salt testing kits by ASH As (essential).</a:t>
            </a:r>
            <a:endParaRPr lang="en-IN" dirty="0"/>
          </a:p>
        </p:txBody>
      </p:sp>
      <p:sp>
        <p:nvSpPr>
          <p:cNvPr id="4" name="Slide Number Placeholder 3">
            <a:extLst>
              <a:ext uri="{FF2B5EF4-FFF2-40B4-BE49-F238E27FC236}">
                <a16:creationId xmlns:a16="http://schemas.microsoft.com/office/drawing/2014/main" id="{7EB20B98-E108-9608-19D8-9E613E06797D}"/>
              </a:ext>
            </a:extLst>
          </p:cNvPr>
          <p:cNvSpPr>
            <a:spLocks noGrp="1"/>
          </p:cNvSpPr>
          <p:nvPr>
            <p:ph type="sldNum" sz="quarter" idx="12"/>
          </p:nvPr>
        </p:nvSpPr>
        <p:spPr/>
        <p:txBody>
          <a:bodyPr/>
          <a:lstStyle/>
          <a:p>
            <a:fld id="{3A4F6043-7A67-491B-98BC-F933DED7226D}" type="slidenum">
              <a:rPr lang="en-US" smtClean="0"/>
              <a:pPr/>
              <a:t>66</a:t>
            </a:fld>
            <a:endParaRPr lang="en-US" dirty="0"/>
          </a:p>
        </p:txBody>
      </p:sp>
    </p:spTree>
    <p:extLst>
      <p:ext uri="{BB962C8B-B14F-4D97-AF65-F5344CB8AC3E}">
        <p14:creationId xmlns:p14="http://schemas.microsoft.com/office/powerpoint/2010/main" val="12462496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76E9B-C475-084A-EC52-90E8B14111DF}"/>
              </a:ext>
            </a:extLst>
          </p:cNvPr>
          <p:cNvSpPr>
            <a:spLocks noGrp="1"/>
          </p:cNvSpPr>
          <p:nvPr>
            <p:ph type="title"/>
          </p:nvPr>
        </p:nvSpPr>
        <p:spPr>
          <a:xfrm>
            <a:off x="420624" y="825992"/>
            <a:ext cx="10515600" cy="1325563"/>
          </a:xfrm>
        </p:spPr>
        <p:txBody>
          <a:bodyPr/>
          <a:lstStyle/>
          <a:p>
            <a:r>
              <a:rPr lang="en-US" dirty="0"/>
              <a:t>National Tobacco Control </a:t>
            </a:r>
            <a:r>
              <a:rPr lang="en-US" dirty="0" err="1"/>
              <a:t>Programme</a:t>
            </a:r>
            <a:r>
              <a:rPr lang="en-US" dirty="0"/>
              <a:t>:</a:t>
            </a:r>
            <a:endParaRPr lang="en-IN" dirty="0"/>
          </a:p>
        </p:txBody>
      </p:sp>
      <p:sp>
        <p:nvSpPr>
          <p:cNvPr id="3" name="Content Placeholder 2">
            <a:extLst>
              <a:ext uri="{FF2B5EF4-FFF2-40B4-BE49-F238E27FC236}">
                <a16:creationId xmlns:a16="http://schemas.microsoft.com/office/drawing/2014/main" id="{1F10CC01-C86E-0C6E-3EAD-A38AFA463FE0}"/>
              </a:ext>
            </a:extLst>
          </p:cNvPr>
          <p:cNvSpPr>
            <a:spLocks noGrp="1"/>
          </p:cNvSpPr>
          <p:nvPr>
            <p:ph idx="1"/>
          </p:nvPr>
        </p:nvSpPr>
        <p:spPr>
          <a:xfrm>
            <a:off x="420624" y="2489200"/>
            <a:ext cx="10515600" cy="3542808"/>
          </a:xfrm>
        </p:spPr>
        <p:txBody>
          <a:bodyPr/>
          <a:lstStyle/>
          <a:p>
            <a:r>
              <a:rPr lang="en-US" dirty="0"/>
              <a:t>Essential : </a:t>
            </a:r>
          </a:p>
          <a:p>
            <a:r>
              <a:rPr lang="en-US" dirty="0"/>
              <a:t>(1) Spread awareness and health education regarding ill effects of tobacco use especially in pregnant females, and non-communicable diseases where tobacco is a risk factor e.g. cardiovascular disease, cancers, chronic lung disease. </a:t>
            </a:r>
          </a:p>
          <a:p>
            <a:r>
              <a:rPr lang="en-US" dirty="0"/>
              <a:t>(2) Display of mandatory signage of “No Smoking” in the sub-</a:t>
            </a:r>
            <a:r>
              <a:rPr lang="en-US" dirty="0" err="1"/>
              <a:t>centre</a:t>
            </a:r>
            <a:r>
              <a:rPr lang="en-US" dirty="0"/>
              <a:t>.</a:t>
            </a:r>
            <a:endParaRPr lang="en-IN" dirty="0"/>
          </a:p>
        </p:txBody>
      </p:sp>
      <p:sp>
        <p:nvSpPr>
          <p:cNvPr id="4" name="Slide Number Placeholder 3">
            <a:extLst>
              <a:ext uri="{FF2B5EF4-FFF2-40B4-BE49-F238E27FC236}">
                <a16:creationId xmlns:a16="http://schemas.microsoft.com/office/drawing/2014/main" id="{C110CB82-20CB-73F0-6119-2B7FC973FC3E}"/>
              </a:ext>
            </a:extLst>
          </p:cNvPr>
          <p:cNvSpPr>
            <a:spLocks noGrp="1"/>
          </p:cNvSpPr>
          <p:nvPr>
            <p:ph type="sldNum" sz="quarter" idx="12"/>
          </p:nvPr>
        </p:nvSpPr>
        <p:spPr/>
        <p:txBody>
          <a:bodyPr/>
          <a:lstStyle/>
          <a:p>
            <a:fld id="{3A4F6043-7A67-491B-98BC-F933DED7226D}" type="slidenum">
              <a:rPr lang="en-US" smtClean="0"/>
              <a:pPr/>
              <a:t>67</a:t>
            </a:fld>
            <a:endParaRPr lang="en-US" dirty="0"/>
          </a:p>
        </p:txBody>
      </p:sp>
    </p:spTree>
    <p:extLst>
      <p:ext uri="{BB962C8B-B14F-4D97-AF65-F5344CB8AC3E}">
        <p14:creationId xmlns:p14="http://schemas.microsoft.com/office/powerpoint/2010/main" val="30047717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74DFB0-F315-52FD-64AD-B2B10E19FED6}"/>
              </a:ext>
            </a:extLst>
          </p:cNvPr>
          <p:cNvSpPr>
            <a:spLocks noGrp="1"/>
          </p:cNvSpPr>
          <p:nvPr>
            <p:ph idx="1"/>
          </p:nvPr>
        </p:nvSpPr>
        <p:spPr>
          <a:xfrm>
            <a:off x="420624" y="497841"/>
            <a:ext cx="10515600" cy="5534168"/>
          </a:xfrm>
        </p:spPr>
        <p:txBody>
          <a:bodyPr>
            <a:normAutofit/>
          </a:bodyPr>
          <a:lstStyle/>
          <a:p>
            <a:r>
              <a:rPr lang="en-US" dirty="0"/>
              <a:t>Desirable : </a:t>
            </a:r>
          </a:p>
          <a:p>
            <a:r>
              <a:rPr lang="en-US" dirty="0"/>
              <a:t>(1) Counselling for quitting tobacco; </a:t>
            </a:r>
          </a:p>
          <a:p>
            <a:r>
              <a:rPr lang="en-US" dirty="0"/>
              <a:t>(2) Awareness to public that smoking is banned in public places and sale of tobacco products is banned to minors (less than 18 years) as well as within 100 yards of school and educational institutions.</a:t>
            </a:r>
          </a:p>
          <a:p>
            <a:r>
              <a:rPr lang="en-US" dirty="0"/>
              <a:t>(3) Spread awareness regarding law on smoke free public places. </a:t>
            </a:r>
          </a:p>
          <a:p>
            <a:r>
              <a:rPr lang="en-US" dirty="0"/>
              <a:t>Oral health : </a:t>
            </a:r>
          </a:p>
          <a:p>
            <a:r>
              <a:rPr lang="en-US" dirty="0"/>
              <a:t>Desirable: </a:t>
            </a:r>
          </a:p>
          <a:p>
            <a:r>
              <a:rPr lang="en-US" dirty="0"/>
              <a:t>(1) Health education on oral health and hygiene especially to antenatal and lactating mothers, school and adolescent children.</a:t>
            </a:r>
          </a:p>
          <a:p>
            <a:r>
              <a:rPr lang="en-US" dirty="0"/>
              <a:t>(2) Providing first aid and referral services for cases with oral health problems.</a:t>
            </a:r>
            <a:endParaRPr lang="en-IN" dirty="0"/>
          </a:p>
        </p:txBody>
      </p:sp>
      <p:sp>
        <p:nvSpPr>
          <p:cNvPr id="4" name="Slide Number Placeholder 3">
            <a:extLst>
              <a:ext uri="{FF2B5EF4-FFF2-40B4-BE49-F238E27FC236}">
                <a16:creationId xmlns:a16="http://schemas.microsoft.com/office/drawing/2014/main" id="{7A177D73-B167-A8CC-24FA-28319A6DFFBD}"/>
              </a:ext>
            </a:extLst>
          </p:cNvPr>
          <p:cNvSpPr>
            <a:spLocks noGrp="1"/>
          </p:cNvSpPr>
          <p:nvPr>
            <p:ph type="sldNum" sz="quarter" idx="12"/>
          </p:nvPr>
        </p:nvSpPr>
        <p:spPr/>
        <p:txBody>
          <a:bodyPr/>
          <a:lstStyle/>
          <a:p>
            <a:fld id="{3A4F6043-7A67-491B-98BC-F933DED7226D}" type="slidenum">
              <a:rPr lang="en-US" smtClean="0"/>
              <a:pPr/>
              <a:t>68</a:t>
            </a:fld>
            <a:endParaRPr lang="en-US" dirty="0"/>
          </a:p>
        </p:txBody>
      </p:sp>
    </p:spTree>
    <p:extLst>
      <p:ext uri="{BB962C8B-B14F-4D97-AF65-F5344CB8AC3E}">
        <p14:creationId xmlns:p14="http://schemas.microsoft.com/office/powerpoint/2010/main" val="20747213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74A5B-C653-6D7E-528E-7D9FD05B5669}"/>
              </a:ext>
            </a:extLst>
          </p:cNvPr>
          <p:cNvSpPr>
            <a:spLocks noGrp="1"/>
          </p:cNvSpPr>
          <p:nvPr>
            <p:ph type="title"/>
          </p:nvPr>
        </p:nvSpPr>
        <p:spPr/>
        <p:txBody>
          <a:bodyPr/>
          <a:lstStyle/>
          <a:p>
            <a:r>
              <a:rPr lang="en-US" dirty="0"/>
              <a:t>PRIMARY HEALTH CENTRE LEVEL</a:t>
            </a:r>
            <a:endParaRPr lang="en-IN" dirty="0"/>
          </a:p>
        </p:txBody>
      </p:sp>
      <p:sp>
        <p:nvSpPr>
          <p:cNvPr id="3" name="Content Placeholder 2">
            <a:extLst>
              <a:ext uri="{FF2B5EF4-FFF2-40B4-BE49-F238E27FC236}">
                <a16:creationId xmlns:a16="http://schemas.microsoft.com/office/drawing/2014/main" id="{17610FE3-068A-5F7D-8309-454E64197895}"/>
              </a:ext>
            </a:extLst>
          </p:cNvPr>
          <p:cNvSpPr>
            <a:spLocks noGrp="1"/>
          </p:cNvSpPr>
          <p:nvPr>
            <p:ph idx="1"/>
          </p:nvPr>
        </p:nvSpPr>
        <p:spPr/>
        <p:txBody>
          <a:bodyPr>
            <a:normAutofit lnSpcReduction="10000"/>
          </a:bodyPr>
          <a:lstStyle/>
          <a:p>
            <a:r>
              <a:rPr lang="en-US" dirty="0"/>
              <a:t>The concept of primary health </a:t>
            </a:r>
            <a:r>
              <a:rPr lang="en-US" dirty="0" err="1"/>
              <a:t>centre</a:t>
            </a:r>
            <a:r>
              <a:rPr lang="en-US" dirty="0"/>
              <a:t> is not new to India. </a:t>
            </a:r>
          </a:p>
          <a:p>
            <a:r>
              <a:rPr lang="en-US" dirty="0"/>
              <a:t>The </a:t>
            </a:r>
            <a:r>
              <a:rPr lang="en-US" dirty="0" err="1"/>
              <a:t>Bhore</a:t>
            </a:r>
            <a:r>
              <a:rPr lang="en-US" dirty="0"/>
              <a:t> committee in 1946 gave the concept of a primary health </a:t>
            </a:r>
            <a:r>
              <a:rPr lang="en-US" dirty="0" err="1"/>
              <a:t>centre</a:t>
            </a:r>
            <a:r>
              <a:rPr lang="en-US" dirty="0"/>
              <a:t> as a basic health unit, to provide, as close to the people as possible, an integrated curative and preventive health care to the rural population with emphasis on preventive and promotive aspects of health care. </a:t>
            </a:r>
          </a:p>
          <a:p>
            <a:r>
              <a:rPr lang="en-US" dirty="0"/>
              <a:t>The health planners in India have visualized the primary health </a:t>
            </a:r>
            <a:r>
              <a:rPr lang="en-US" dirty="0" err="1"/>
              <a:t>centre</a:t>
            </a:r>
            <a:r>
              <a:rPr lang="en-US" dirty="0"/>
              <a:t> and its sub-</a:t>
            </a:r>
            <a:r>
              <a:rPr lang="en-US" dirty="0" err="1"/>
              <a:t>centres</a:t>
            </a:r>
            <a:r>
              <a:rPr lang="en-US" dirty="0"/>
              <a:t> as the proper infrastructure to provide health services to the rural population. </a:t>
            </a:r>
          </a:p>
          <a:p>
            <a:r>
              <a:rPr lang="en-US" dirty="0"/>
              <a:t>The Central Council of Health at its first meeting held in January 1953 had recommended the establishment of primary health </a:t>
            </a:r>
            <a:r>
              <a:rPr lang="en-US" dirty="0" err="1"/>
              <a:t>centres</a:t>
            </a:r>
            <a:r>
              <a:rPr lang="en-US" dirty="0"/>
              <a:t> in community development blocks to provide comprehensive health care to the rural population.</a:t>
            </a:r>
            <a:endParaRPr lang="en-IN" dirty="0"/>
          </a:p>
        </p:txBody>
      </p:sp>
      <p:sp>
        <p:nvSpPr>
          <p:cNvPr id="4" name="Slide Number Placeholder 3">
            <a:extLst>
              <a:ext uri="{FF2B5EF4-FFF2-40B4-BE49-F238E27FC236}">
                <a16:creationId xmlns:a16="http://schemas.microsoft.com/office/drawing/2014/main" id="{E04843BF-570A-E10A-57BC-54B37CAF9711}"/>
              </a:ext>
            </a:extLst>
          </p:cNvPr>
          <p:cNvSpPr>
            <a:spLocks noGrp="1"/>
          </p:cNvSpPr>
          <p:nvPr>
            <p:ph type="sldNum" sz="quarter" idx="12"/>
          </p:nvPr>
        </p:nvSpPr>
        <p:spPr/>
        <p:txBody>
          <a:bodyPr/>
          <a:lstStyle/>
          <a:p>
            <a:fld id="{3A4F6043-7A67-491B-98BC-F933DED7226D}" type="slidenum">
              <a:rPr lang="en-US" smtClean="0"/>
              <a:pPr/>
              <a:t>69</a:t>
            </a:fld>
            <a:endParaRPr lang="en-US" dirty="0"/>
          </a:p>
        </p:txBody>
      </p:sp>
    </p:spTree>
    <p:extLst>
      <p:ext uri="{BB962C8B-B14F-4D97-AF65-F5344CB8AC3E}">
        <p14:creationId xmlns:p14="http://schemas.microsoft.com/office/powerpoint/2010/main" val="33239229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6E9AD7-586C-C54E-8E4F-17BBFC0354BD}"/>
              </a:ext>
            </a:extLst>
          </p:cNvPr>
          <p:cNvSpPr>
            <a:spLocks noGrp="1"/>
          </p:cNvSpPr>
          <p:nvPr>
            <p:ph idx="1"/>
          </p:nvPr>
        </p:nvSpPr>
        <p:spPr>
          <a:xfrm>
            <a:off x="420624" y="528321"/>
            <a:ext cx="10515600" cy="5503688"/>
          </a:xfrm>
        </p:spPr>
        <p:txBody>
          <a:bodyPr/>
          <a:lstStyle/>
          <a:p>
            <a:r>
              <a:rPr lang="en-US" dirty="0"/>
              <a:t>The number of primary health </a:t>
            </a:r>
            <a:r>
              <a:rPr lang="en-US" dirty="0" err="1"/>
              <a:t>centres</a:t>
            </a:r>
            <a:r>
              <a:rPr lang="en-US" dirty="0"/>
              <a:t> established since then had increased from 725 during the First Five Year Plan to 5484 by the end of the Fifth Plan (1975-1980) - each PHC covering a population of 100,000 or more spread over some 100 villages in each community development block. </a:t>
            </a:r>
          </a:p>
          <a:p>
            <a:r>
              <a:rPr lang="en-US" dirty="0"/>
              <a:t>These </a:t>
            </a:r>
            <a:r>
              <a:rPr lang="en-US" dirty="0" err="1"/>
              <a:t>centres</a:t>
            </a:r>
            <a:r>
              <a:rPr lang="en-US" dirty="0"/>
              <a:t> were functioning as peripheral health service institutions with little or no community involvement. </a:t>
            </a:r>
          </a:p>
          <a:p>
            <a:r>
              <a:rPr lang="en-US" dirty="0"/>
              <a:t>Increasingly, these </a:t>
            </a:r>
            <a:r>
              <a:rPr lang="en-US" dirty="0" err="1"/>
              <a:t>centres</a:t>
            </a:r>
            <a:r>
              <a:rPr lang="en-US" dirty="0"/>
              <a:t> came under criticism as they were not able to provide adequate health coverage, partly because they were poorly staffed and </a:t>
            </a:r>
            <a:r>
              <a:rPr lang="en-US" dirty="0" err="1"/>
              <a:t>equipped,and</a:t>
            </a:r>
            <a:r>
              <a:rPr lang="en-US" dirty="0"/>
              <a:t> partly because they had to cover a large population of one lakh or more.</a:t>
            </a:r>
          </a:p>
          <a:p>
            <a:r>
              <a:rPr lang="en-US" dirty="0"/>
              <a:t>The Mudaliar Committee in 1962 had recommended that the existing primary health </a:t>
            </a:r>
            <a:r>
              <a:rPr lang="en-US" dirty="0" err="1"/>
              <a:t>centres</a:t>
            </a:r>
            <a:r>
              <a:rPr lang="en-US" dirty="0"/>
              <a:t> should be strengthened and the population to be served by them to be scaled down to 40,000.</a:t>
            </a:r>
            <a:endParaRPr lang="en-IN" dirty="0"/>
          </a:p>
        </p:txBody>
      </p:sp>
      <p:sp>
        <p:nvSpPr>
          <p:cNvPr id="4" name="Slide Number Placeholder 3">
            <a:extLst>
              <a:ext uri="{FF2B5EF4-FFF2-40B4-BE49-F238E27FC236}">
                <a16:creationId xmlns:a16="http://schemas.microsoft.com/office/drawing/2014/main" id="{87009DBD-FB32-CC2D-1044-B126F79F5C1B}"/>
              </a:ext>
            </a:extLst>
          </p:cNvPr>
          <p:cNvSpPr>
            <a:spLocks noGrp="1"/>
          </p:cNvSpPr>
          <p:nvPr>
            <p:ph type="sldNum" sz="quarter" idx="12"/>
          </p:nvPr>
        </p:nvSpPr>
        <p:spPr/>
        <p:txBody>
          <a:bodyPr/>
          <a:lstStyle/>
          <a:p>
            <a:fld id="{3A4F6043-7A67-491B-98BC-F933DED7226D}" type="slidenum">
              <a:rPr lang="en-US" smtClean="0"/>
              <a:pPr/>
              <a:t>70</a:t>
            </a:fld>
            <a:endParaRPr lang="en-US" dirty="0"/>
          </a:p>
        </p:txBody>
      </p:sp>
    </p:spTree>
    <p:extLst>
      <p:ext uri="{BB962C8B-B14F-4D97-AF65-F5344CB8AC3E}">
        <p14:creationId xmlns:p14="http://schemas.microsoft.com/office/powerpoint/2010/main" val="28445876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D0D35-B6A4-614E-DD29-C5515F80FB6F}"/>
              </a:ext>
            </a:extLst>
          </p:cNvPr>
          <p:cNvSpPr>
            <a:spLocks noGrp="1"/>
          </p:cNvSpPr>
          <p:nvPr>
            <p:ph idx="1"/>
          </p:nvPr>
        </p:nvSpPr>
        <p:spPr>
          <a:xfrm>
            <a:off x="420624" y="1422399"/>
            <a:ext cx="10515600" cy="4609609"/>
          </a:xfrm>
        </p:spPr>
        <p:txBody>
          <a:bodyPr/>
          <a:lstStyle/>
          <a:p>
            <a:r>
              <a:rPr lang="en-US" dirty="0"/>
              <a:t>The Declaration of Alma-Ata Conference in 1978 setting the goal of Health for All by 2000 AD has ushered in a new philosophy of equity, and a new approach, the primary health care approach. </a:t>
            </a:r>
          </a:p>
          <a:p>
            <a:r>
              <a:rPr lang="en-US" dirty="0"/>
              <a:t>The National Health Plan (1983) proposed reorganization of primary health </a:t>
            </a:r>
            <a:r>
              <a:rPr lang="en-US" dirty="0" err="1"/>
              <a:t>centres</a:t>
            </a:r>
            <a:r>
              <a:rPr lang="en-US" dirty="0"/>
              <a:t> on the basis of one PHC for every 30,000 rural population in the plains, and one PHC for every 20,000 population in hilly, tribal and backward areas for more effective coverage. </a:t>
            </a:r>
          </a:p>
          <a:p>
            <a:r>
              <a:rPr lang="en-US" dirty="0"/>
              <a:t>As on March 2017, 25,650 primary health </a:t>
            </a:r>
            <a:r>
              <a:rPr lang="en-US" dirty="0" err="1"/>
              <a:t>centres</a:t>
            </a:r>
            <a:r>
              <a:rPr lang="en-US" dirty="0"/>
              <a:t> have been established in the country.</a:t>
            </a:r>
            <a:endParaRPr lang="en-IN" dirty="0"/>
          </a:p>
        </p:txBody>
      </p:sp>
      <p:sp>
        <p:nvSpPr>
          <p:cNvPr id="4" name="Slide Number Placeholder 3">
            <a:extLst>
              <a:ext uri="{FF2B5EF4-FFF2-40B4-BE49-F238E27FC236}">
                <a16:creationId xmlns:a16="http://schemas.microsoft.com/office/drawing/2014/main" id="{C67DE174-C0ED-26AF-D117-0E2289FA1D8C}"/>
              </a:ext>
            </a:extLst>
          </p:cNvPr>
          <p:cNvSpPr>
            <a:spLocks noGrp="1"/>
          </p:cNvSpPr>
          <p:nvPr>
            <p:ph type="sldNum" sz="quarter" idx="12"/>
          </p:nvPr>
        </p:nvSpPr>
        <p:spPr/>
        <p:txBody>
          <a:bodyPr/>
          <a:lstStyle/>
          <a:p>
            <a:fld id="{3A4F6043-7A67-491B-98BC-F933DED7226D}" type="slidenum">
              <a:rPr lang="en-US" smtClean="0"/>
              <a:pPr/>
              <a:t>71</a:t>
            </a:fld>
            <a:endParaRPr lang="en-US" dirty="0"/>
          </a:p>
        </p:txBody>
      </p:sp>
    </p:spTree>
    <p:extLst>
      <p:ext uri="{BB962C8B-B14F-4D97-AF65-F5344CB8AC3E}">
        <p14:creationId xmlns:p14="http://schemas.microsoft.com/office/powerpoint/2010/main" val="28637486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A122D-C1F7-4E65-B367-04F787A9874C}"/>
              </a:ext>
            </a:extLst>
          </p:cNvPr>
          <p:cNvSpPr>
            <a:spLocks noGrp="1"/>
          </p:cNvSpPr>
          <p:nvPr>
            <p:ph type="title"/>
          </p:nvPr>
        </p:nvSpPr>
        <p:spPr>
          <a:xfrm>
            <a:off x="501904" y="584517"/>
            <a:ext cx="10515600" cy="1325563"/>
          </a:xfrm>
        </p:spPr>
        <p:txBody>
          <a:bodyPr/>
          <a:lstStyle/>
          <a:p>
            <a:r>
              <a:rPr lang="en-US" dirty="0"/>
              <a:t>Functions of the PHC</a:t>
            </a:r>
            <a:endParaRPr lang="en-IN" dirty="0"/>
          </a:p>
        </p:txBody>
      </p:sp>
      <p:sp>
        <p:nvSpPr>
          <p:cNvPr id="3" name="Content Placeholder 2">
            <a:extLst>
              <a:ext uri="{FF2B5EF4-FFF2-40B4-BE49-F238E27FC236}">
                <a16:creationId xmlns:a16="http://schemas.microsoft.com/office/drawing/2014/main" id="{62EE2DDC-F1EC-DB5B-A807-381ECA5F89EC}"/>
              </a:ext>
            </a:extLst>
          </p:cNvPr>
          <p:cNvSpPr>
            <a:spLocks noGrp="1"/>
          </p:cNvSpPr>
          <p:nvPr>
            <p:ph idx="1"/>
          </p:nvPr>
        </p:nvSpPr>
        <p:spPr>
          <a:xfrm>
            <a:off x="420624" y="1910080"/>
            <a:ext cx="10515600" cy="4121928"/>
          </a:xfrm>
        </p:spPr>
        <p:txBody>
          <a:bodyPr/>
          <a:lstStyle/>
          <a:p>
            <a:r>
              <a:rPr lang="en-US" dirty="0"/>
              <a:t>The functions of the primary health </a:t>
            </a:r>
            <a:r>
              <a:rPr lang="en-US" dirty="0" err="1"/>
              <a:t>centre</a:t>
            </a:r>
            <a:r>
              <a:rPr lang="en-US" dirty="0"/>
              <a:t> in India cover all the 8 “essential” elements of primary health care as outlined in the Alma-Ata Declaration. They are : 1. Medical care</a:t>
            </a:r>
          </a:p>
          <a:p>
            <a:r>
              <a:rPr lang="en-US" dirty="0"/>
              <a:t>2. MCH including family planning</a:t>
            </a:r>
          </a:p>
          <a:p>
            <a:r>
              <a:rPr lang="en-US" dirty="0"/>
              <a:t>3. Safe water supply and basic sanitation</a:t>
            </a:r>
          </a:p>
          <a:p>
            <a:r>
              <a:rPr lang="en-US" dirty="0"/>
              <a:t>4. Prevention and control of locally endemic diseases</a:t>
            </a:r>
          </a:p>
          <a:p>
            <a:r>
              <a:rPr lang="en-US" dirty="0"/>
              <a:t>5. Collection and reporting of vital statistics</a:t>
            </a:r>
            <a:endParaRPr lang="en-IN" dirty="0"/>
          </a:p>
        </p:txBody>
      </p:sp>
      <p:sp>
        <p:nvSpPr>
          <p:cNvPr id="4" name="Slide Number Placeholder 3">
            <a:extLst>
              <a:ext uri="{FF2B5EF4-FFF2-40B4-BE49-F238E27FC236}">
                <a16:creationId xmlns:a16="http://schemas.microsoft.com/office/drawing/2014/main" id="{BB0C5BF9-7DE4-3D61-8C3A-794E73E55ACF}"/>
              </a:ext>
            </a:extLst>
          </p:cNvPr>
          <p:cNvSpPr>
            <a:spLocks noGrp="1"/>
          </p:cNvSpPr>
          <p:nvPr>
            <p:ph type="sldNum" sz="quarter" idx="12"/>
          </p:nvPr>
        </p:nvSpPr>
        <p:spPr/>
        <p:txBody>
          <a:bodyPr/>
          <a:lstStyle/>
          <a:p>
            <a:fld id="{3A4F6043-7A67-491B-98BC-F933DED7226D}" type="slidenum">
              <a:rPr lang="en-US" smtClean="0"/>
              <a:pPr/>
              <a:t>72</a:t>
            </a:fld>
            <a:endParaRPr lang="en-US" dirty="0"/>
          </a:p>
        </p:txBody>
      </p:sp>
    </p:spTree>
    <p:extLst>
      <p:ext uri="{BB962C8B-B14F-4D97-AF65-F5344CB8AC3E}">
        <p14:creationId xmlns:p14="http://schemas.microsoft.com/office/powerpoint/2010/main" val="11914839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D58AFA-036D-490C-337A-1AE9BB098B33}"/>
              </a:ext>
            </a:extLst>
          </p:cNvPr>
          <p:cNvSpPr>
            <a:spLocks noGrp="1"/>
          </p:cNvSpPr>
          <p:nvPr>
            <p:ph idx="1"/>
          </p:nvPr>
        </p:nvSpPr>
        <p:spPr>
          <a:xfrm>
            <a:off x="420624" y="1825625"/>
            <a:ext cx="10515600" cy="2898775"/>
          </a:xfrm>
        </p:spPr>
        <p:txBody>
          <a:bodyPr/>
          <a:lstStyle/>
          <a:p>
            <a:r>
              <a:rPr lang="en-US" dirty="0"/>
              <a:t>6. Education about health</a:t>
            </a:r>
          </a:p>
          <a:p>
            <a:r>
              <a:rPr lang="en-US" dirty="0"/>
              <a:t>7. National Health </a:t>
            </a:r>
            <a:r>
              <a:rPr lang="en-US" dirty="0" err="1"/>
              <a:t>Programmes</a:t>
            </a:r>
            <a:r>
              <a:rPr lang="en-US" dirty="0"/>
              <a:t> - as relevant</a:t>
            </a:r>
          </a:p>
          <a:p>
            <a:r>
              <a:rPr lang="en-US" dirty="0"/>
              <a:t>8. Referral services</a:t>
            </a:r>
          </a:p>
          <a:p>
            <a:r>
              <a:rPr lang="en-US" dirty="0"/>
              <a:t>9. Training of health guides, health workers, local dais and health assistants</a:t>
            </a:r>
          </a:p>
          <a:p>
            <a:r>
              <a:rPr lang="en-US" dirty="0"/>
              <a:t>10. Basic laboratory services.</a:t>
            </a:r>
            <a:endParaRPr lang="en-IN" dirty="0"/>
          </a:p>
        </p:txBody>
      </p:sp>
      <p:sp>
        <p:nvSpPr>
          <p:cNvPr id="4" name="Slide Number Placeholder 3">
            <a:extLst>
              <a:ext uri="{FF2B5EF4-FFF2-40B4-BE49-F238E27FC236}">
                <a16:creationId xmlns:a16="http://schemas.microsoft.com/office/drawing/2014/main" id="{236E7380-CEAE-8EC1-5F3F-B32901BFB771}"/>
              </a:ext>
            </a:extLst>
          </p:cNvPr>
          <p:cNvSpPr>
            <a:spLocks noGrp="1"/>
          </p:cNvSpPr>
          <p:nvPr>
            <p:ph type="sldNum" sz="quarter" idx="12"/>
          </p:nvPr>
        </p:nvSpPr>
        <p:spPr/>
        <p:txBody>
          <a:bodyPr/>
          <a:lstStyle/>
          <a:p>
            <a:fld id="{3A4F6043-7A67-491B-98BC-F933DED7226D}" type="slidenum">
              <a:rPr lang="en-US" smtClean="0"/>
              <a:pPr/>
              <a:t>73</a:t>
            </a:fld>
            <a:endParaRPr lang="en-US" dirty="0"/>
          </a:p>
        </p:txBody>
      </p:sp>
    </p:spTree>
    <p:extLst>
      <p:ext uri="{BB962C8B-B14F-4D97-AF65-F5344CB8AC3E}">
        <p14:creationId xmlns:p14="http://schemas.microsoft.com/office/powerpoint/2010/main" val="7960217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1F15-46F5-4A2B-AF38-34F3B8027144}"/>
              </a:ext>
            </a:extLst>
          </p:cNvPr>
          <p:cNvSpPr>
            <a:spLocks noGrp="1"/>
          </p:cNvSpPr>
          <p:nvPr>
            <p:ph type="title"/>
          </p:nvPr>
        </p:nvSpPr>
        <p:spPr/>
        <p:txBody>
          <a:bodyPr/>
          <a:lstStyle/>
          <a:p>
            <a:r>
              <a:rPr lang="en-US" dirty="0"/>
              <a:t>Thank You</a:t>
            </a:r>
          </a:p>
        </p:txBody>
      </p:sp>
      <p:sp>
        <p:nvSpPr>
          <p:cNvPr id="5" name="Content Placeholder 4">
            <a:extLst>
              <a:ext uri="{FF2B5EF4-FFF2-40B4-BE49-F238E27FC236}">
                <a16:creationId xmlns:a16="http://schemas.microsoft.com/office/drawing/2014/main" id="{A125B666-A780-2FBB-0089-6E8E66971B5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15345950"/>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3.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366</TotalTime>
  <Words>6442</Words>
  <Application>Microsoft Office PowerPoint</Application>
  <PresentationFormat>Widescreen</PresentationFormat>
  <Paragraphs>418</Paragraphs>
  <Slides>74</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Arial</vt:lpstr>
      <vt:lpstr>Calibri</vt:lpstr>
      <vt:lpstr>Dante</vt:lpstr>
      <vt:lpstr>Dante (Headings)2</vt:lpstr>
      <vt:lpstr>Helvetica Neue Medium</vt:lpstr>
      <vt:lpstr>Wingdings 2</vt:lpstr>
      <vt:lpstr>OffsetVTI</vt:lpstr>
      <vt:lpstr>HEALTH CARE SYSTEMS-II</vt:lpstr>
      <vt:lpstr>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 and responsibilities of ASHA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Services to be provided in a sub-centre</vt:lpstr>
      <vt:lpstr>PowerPoint Presentation</vt:lpstr>
      <vt:lpstr>Maternal Health</vt:lpstr>
      <vt:lpstr>PowerPoint Presentation</vt:lpstr>
      <vt:lpstr>PowerPoint Presentation</vt:lpstr>
      <vt:lpstr>PowerPoint Presentation</vt:lpstr>
      <vt:lpstr>PowerPoint Presentation</vt:lpstr>
      <vt:lpstr>PowerPoint Presentation</vt:lpstr>
      <vt:lpstr>PowerPoint Presentation</vt:lpstr>
      <vt:lpstr>Child Health</vt:lpstr>
      <vt:lpstr>PowerPoint Presentation</vt:lpstr>
      <vt:lpstr>PowerPoint Presentation</vt:lpstr>
      <vt:lpstr>Family planning and contraception </vt:lpstr>
      <vt:lpstr>PowerPoint Presentation</vt:lpstr>
      <vt:lpstr>PowerPoint Presentation</vt:lpstr>
      <vt:lpstr>PowerPoint Presentation</vt:lpstr>
      <vt:lpstr>PowerPoint Presentation</vt:lpstr>
      <vt:lpstr>National Leprosy Eradication Programme :</vt:lpstr>
      <vt:lpstr>National Tuberculosis Elimination Programme</vt:lpstr>
      <vt:lpstr>National Programme for Control of Blindness (NPCB):</vt:lpstr>
      <vt:lpstr>National Programme for Prevention and Control of Deafness:</vt:lpstr>
      <vt:lpstr>National Mental Health Programme:</vt:lpstr>
      <vt:lpstr>National Programme for Prevention and Control of Cancer, Diabetes, Cardiovascular Diseases and Stroke :</vt:lpstr>
      <vt:lpstr>National Iodine Deficiency Disorders Control Programme:</vt:lpstr>
      <vt:lpstr>National Tobacco Control Programme:</vt:lpstr>
      <vt:lpstr>PowerPoint Presentation</vt:lpstr>
      <vt:lpstr>PRIMARY HEALTH CENTRE LEVEL</vt:lpstr>
      <vt:lpstr>PowerPoint Presentation</vt:lpstr>
      <vt:lpstr>PowerPoint Presentation</vt:lpstr>
      <vt:lpstr>Functions of the PHC</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Manvi Singh</dc:creator>
  <cp:lastModifiedBy>Manvi Singh</cp:lastModifiedBy>
  <cp:revision>1</cp:revision>
  <dcterms:created xsi:type="dcterms:W3CDTF">2025-07-15T16:51:14Z</dcterms:created>
  <dcterms:modified xsi:type="dcterms:W3CDTF">2025-08-06T17:38:22Z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